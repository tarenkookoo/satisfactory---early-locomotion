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Early Locomotion Explained" id="{D4F32A57-8A98-4866-AF5A-B883A033DBFA}">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Lst>
        </p14:section>
        <p14:section name="2. Signals and Signal Boxes" id="{70C71415-032C-4A2B-8E7B-BA5E8E625675}">
          <p14:sldIdLst>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Lst>
        </p14:section>
        <p14:section name="3. Coal, Water and Servicing" id="{ABA2C49B-BAA8-438B-9E82-0DD79E13BA9A}">
          <p14:sldIdLst>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Lst>
        </p14:section>
        <p14:section name="4. The Monorail Transition" id="{A42AE283-10F0-4159-9A56-A347E4E33ECD}">
          <p14:sldIdLst>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Lst>
        </p14:section>
        <p14:section name="5. Regions, Numbers and Fleet Identity" id="{D1722AF2-92C5-4CC6-99A9-2A58D68A911F}">
          <p14:sldIdLst>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Lst>
        </p14:section>
        <p14:section name="6. Railway Guide: Lessons and Build Menu" id="{3A2C98E4-2AC2-4E46-B5CA-12B0426E6986}">
          <p14:sldIdLst>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 id="416"/>
            <p14:sldId id="417"/>
            <p14:sldId id="418"/>
            <p14:sldId id="419"/>
          </p14:sldIdLst>
        </p14:section>
        <p14:section name="7. After Launch: Packs, Locomotives and History" id="{1060D055-D6B8-4F4B-AA23-B106B5DB7E92}">
          <p14:sldIdLst>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Lst>
        </p14:section>
        <p14:section name="8. After Launch: Late Steam, Driving and Prestige" id="{A8B1F10A-3A68-4044-B9AB-8B3677ECD862}">
          <p14:sldIdLst>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7"/>
            <p14:sldId id="468"/>
          </p14:sldIdLst>
        </p14:section>
        <p14:section name="9. How the Mod Is Balanced" id="{61F382BB-2CAE-4507-AEC1-AD046B3236FD}">
          <p14:sldIdLst>
            <p14:sldId id="469"/>
            <p14:sldId id="470"/>
            <p14:sldId id="471"/>
            <p14:sldId id="472"/>
            <p14:sldId id="473"/>
            <p14:sldId id="474"/>
            <p14:sldId id="475"/>
            <p14:sldId id="476"/>
            <p14:sldId id="477"/>
            <p14:sldId id="478"/>
            <p14:sldId id="479"/>
            <p14:sldId id="480"/>
            <p14:sldId id="481"/>
            <p14:sldId id="482"/>
            <p14:sldId id="483"/>
            <p14:sldId id="484"/>
            <p14:sldId id="485"/>
            <p14:sldId id="48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presProps" Target="presProps.xml"/><Relationship Id="rId234" Type="http://schemas.openxmlformats.org/officeDocument/2006/relationships/viewProps" Target="viewProps.xml"/><Relationship Id="rId235" Type="http://schemas.openxmlformats.org/officeDocument/2006/relationships/theme" Target="theme/theme1.xml"/><Relationship Id="rId23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E21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g"/><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jpg"/><Relationship Id="rId3" Type="http://schemas.openxmlformats.org/officeDocument/2006/relationships/image" Target="../media/image2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image" Target="../media/image1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mmons.wikimedia.org/wiki/File:Old_style_rail_clips_at_Oxenhope_-_geograph.org.uk_-_5380435.jpg" TargetMode="External"/><Relationship Id="rId3" Type="http://schemas.openxmlformats.org/officeDocument/2006/relationships/hyperlink" Target="https://commons.wikimedia.org/wiki/File:Track_at_Sheffield_Park.jpg" TargetMode="External"/><Relationship Id="rId4" Type="http://schemas.openxmlformats.org/officeDocument/2006/relationships/hyperlink" Target="https://commons.wikimedia.org/wiki/File:Valve_gear_(530245247).jpg" TargetMode="External"/><Relationship Id="rId5" Type="http://schemas.openxmlformats.org/officeDocument/2006/relationships/hyperlink" Target="https://commons.wikimedia.org/wiki/File:73082_Camelot_British_Railways_Standard_Class_5_4-6-0_-_54304789041.jpg" TargetMode="External"/><Relationship Id="rId6" Type="http://schemas.openxmlformats.org/officeDocument/2006/relationships/hyperlink" Target="https://commons.wikimedia.org/wiki/File:British_Railways_Standard_Class_4MT_2-6-4_Tank_Locomotive_No._80151_-_54303345950.jpg" TargetMode="External"/><Relationship Id="rId7" Type="http://schemas.openxmlformats.org/officeDocument/2006/relationships/hyperlink" Target="https://commons.wikimedia.org/wiki/File:Didcot_Railway_Centre_Water_(4714616590).jpg" TargetMode="External"/><Relationship Id="rId8" Type="http://schemas.openxmlformats.org/officeDocument/2006/relationships/hyperlink" Target="https://commons.wikimedia.org/wiki/File:Signal_and_Water_Tower_(3715807921).jpg" TargetMode="External"/><Relationship Id="rId9" Type="http://schemas.openxmlformats.org/officeDocument/2006/relationships/hyperlink" Target="https://commons.wikimedia.org/wiki/File:Coaling_stage,_GWS_Didcot-9940117084.jpg" TargetMode="External"/><Relationship Id="rId10" Type="http://schemas.openxmlformats.org/officeDocument/2006/relationships/hyperlink" Target="https://commons.wikimedia.org/wiki/File:Carnforth_Ash_plant,_water_tower_and_Cenotaph_coaling_tower.jpg" TargetMode="External"/><Relationship Id="rId11" Type="http://schemas.openxmlformats.org/officeDocument/2006/relationships/hyperlink" Target="https://commons.wikimedia.org/wiki/File:47406_Great_Central_Railway_(2).jpg" TargetMode="External"/><Relationship Id="rId12" Type="http://schemas.openxmlformats.org/officeDocument/2006/relationships/hyperlink" Target="https://commons.wikimedia.org/wiki/File:35005_Canadian_Pacific_at_Loughborough_1993.jpg" TargetMode="External"/><Relationship Id="rId13" Type="http://schemas.openxmlformats.org/officeDocument/2006/relationships/hyperlink" Target="https://commons.wikimedia.org/wiki/File:92203_at_Toddington_on_the_Gloucestershire_and_Warwickshire_Railway_(3).jp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mmons.wikimedia.org/wiki/File:Semaphore_distant_signal_on_the_approach_to_Henley_in_Arden._-_geograph.org.uk_-_11867.jpg" TargetMode="External"/><Relationship Id="rId3" Type="http://schemas.openxmlformats.org/officeDocument/2006/relationships/hyperlink" Target="https://commons.wikimedia.org/wiki/File:Williton_Signal_Box_-_November_2014.jpg" TargetMode="External"/><Relationship Id="rId4" Type="http://schemas.openxmlformats.org/officeDocument/2006/relationships/hyperlink" Target="https://commons.wikimedia.org/wiki/File:Signalbox_workings,_Didcot_Railway_Centre_-_geograph.org.uk_-_658545.jpg" TargetMode="External"/><Relationship Id="rId5" Type="http://schemas.openxmlformats.org/officeDocument/2006/relationships/hyperlink" Target="https://commons.wikimedia.org/wiki/File:Williton_railway_station_MMB_10.jpg" TargetMode="External"/><Relationship Id="rId6" Type="http://schemas.openxmlformats.org/officeDocument/2006/relationships/hyperlink" Target="https://commons.wikimedia.org/wiki/File:Coal_stage_and_water_tank,_Didcot_Railway_Centre,_England.jpg" TargetMode="External"/><Relationship Id="rId7" Type="http://schemas.openxmlformats.org/officeDocument/2006/relationships/hyperlink" Target="https://commons.wikimedia.org/wiki/File:Norton_Fitzwarren_-_LMS_tender.JPG" TargetMode="External"/><Relationship Id="rId8" Type="http://schemas.openxmlformats.org/officeDocument/2006/relationships/hyperlink" Target="https://commons.wikimedia.org/wiki/File:Out_in_the_open_(530236847)_(2).jpg"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jpg"/><Relationship Id="rId3" Type="http://schemas.openxmlformats.org/officeDocument/2006/relationships/image" Target="../media/image19.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jpg"/><Relationship Id="rId3" Type="http://schemas.openxmlformats.org/officeDocument/2006/relationships/image" Target="../media/image19.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mmons.wikimedia.org/wiki/File:Semaphore_distant_signal_on_the_approach_to_Henley_in_Arden._-_geograph.org.uk_-_11867.jpg" TargetMode="External"/><Relationship Id="rId3" Type="http://schemas.openxmlformats.org/officeDocument/2006/relationships/hyperlink" Target="https://commons.wikimedia.org/wiki/File:Williton_Signal_Box_-_November_2014.jpg" TargetMode="External"/><Relationship Id="rId4" Type="http://schemas.openxmlformats.org/officeDocument/2006/relationships/hyperlink" Target="https://commons.wikimedia.org/wiki/File:Signalbox_workings,_Didcot_Railway_Centre_-_geograph.org.uk_-_658545.jpg" TargetMode="External"/><Relationship Id="rId5" Type="http://schemas.openxmlformats.org/officeDocument/2006/relationships/hyperlink" Target="https://commons.wikimedia.org/wiki/File:Williton_railway_station_MMB_10.jpg"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image" Target="../media/image5.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g"/><Relationship Id="rId3" Type="http://schemas.openxmlformats.org/officeDocument/2006/relationships/image" Target="../media/image7.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g"/><Relationship Id="rId3" Type="http://schemas.openxmlformats.org/officeDocument/2006/relationships/image" Target="../media/image9.jp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mmons.wikimedia.org/wiki/File:73082_Camelot_British_Railways_Standard_Class_5_4-6-0_-_54304789041.jpg" TargetMode="External"/><Relationship Id="rId3" Type="http://schemas.openxmlformats.org/officeDocument/2006/relationships/hyperlink" Target="https://commons.wikimedia.org/wiki/File:British_Railways_Standard_Class_4MT_2-6-4_Tank_Locomotive_No._80151_-_54303345950.jpg" TargetMode="External"/><Relationship Id="rId4" Type="http://schemas.openxmlformats.org/officeDocument/2006/relationships/hyperlink" Target="https://commons.wikimedia.org/wiki/File:Didcot_Railway_Centre_Water_(4714616590).jpg" TargetMode="External"/><Relationship Id="rId5" Type="http://schemas.openxmlformats.org/officeDocument/2006/relationships/hyperlink" Target="https://commons.wikimedia.org/wiki/File:Signal_and_Water_Tower_(3715807921).jpg" TargetMode="External"/><Relationship Id="rId6" Type="http://schemas.openxmlformats.org/officeDocument/2006/relationships/hyperlink" Target="https://commons.wikimedia.org/wiki/File:Coaling_stage,_GWS_Didcot-9940117084.jpg" TargetMode="External"/><Relationship Id="rId7" Type="http://schemas.openxmlformats.org/officeDocument/2006/relationships/hyperlink" Target="https://commons.wikimedia.org/wiki/File:Carnforth_Ash_plant,_water_tower_and_Cenotaph_coaling_tower.jpg" TargetMode="External"/><Relationship Id="rId8" Type="http://schemas.openxmlformats.org/officeDocument/2006/relationships/hyperlink" Target="https://commons.wikimedia.org/wiki/File:Coal_stage_and_water_tank,_Didcot_Railway_Centre,_England.jpg" TargetMode="External"/><Relationship Id="rId9" Type="http://schemas.openxmlformats.org/officeDocument/2006/relationships/hyperlink" Target="https://commons.wikimedia.org/wiki/File:Norton_Fitzwarren_-_LMS_tender.JPG"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mmons.wikimedia.org/wiki/File:Out_in_the_open_(530236847)_(2).jpg" TargetMode="Externa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ommons.wikimedia.org/wiki/File:92203_at_Toddington_on_the_Gloucestershire_and_Warwickshire_Railway_(3).jpg" TargetMode="Externa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234440"/>
            <a:ext cx="5760720" cy="1920240"/>
          </a:xfrm>
        </p:spPr>
        <p:txBody>
          <a:bodyPr wrap="square" lIns="0" tIns="0" rIns="0" bIns="0" anchor="b">
            <a:noAutofit/>
          </a:bodyPr>
          <a:lstStyle/>
          <a:p>
            <a:pPr algn="l">
              <a:lnSpc>
                <a:spcPct val="90000"/>
              </a:lnSpc>
            </a:pPr>
            <a:r>
              <a:rPr lang="en-GB" sz="5400" b="1" i="0">
                <a:solidFill>
                  <a:srgbClr val="F2F2F2"/>
                </a:solidFill>
                <a:latin typeface="Arial"/>
              </a:rPr>
              <a:t>Early Locomotion</a:t>
            </a:r>
          </a:p>
        </p:txBody>
      </p:sp>
      <p:sp>
        <p:nvSpPr>
          <p:cNvPr id="3" name="Title rule">
            <a:extLst>
              <a:ext uri="{C183D7F6-B498-43B3-948B-1728B52AA6E4}">
                <adec:decorative xmlns:adec="http://schemas.microsoft.com/office/drawing/2017/decorative" val="1"/>
              </a:ext>
            </a:extLst>
          </p:cNvPr>
          <p:cNvSpPr/>
          <p:nvPr/>
        </p:nvSpPr>
        <p:spPr>
          <a:xfrm>
            <a:off x="548640" y="3337560"/>
            <a:ext cx="2377440" cy="91440"/>
          </a:xfrm>
          <a:prstGeom prst="rect">
            <a:avLst/>
          </a:prstGeom>
          <a:solidFill>
            <a:srgbClr val="F28C28"/>
          </a:solidFill>
          <a:ln>
            <a:noFill/>
          </a:ln>
        </p:spPr>
        <p:txBody>
          <a:bodyPr rtlCol="0" anchor="ctr"/>
          <a:lstStyle/>
          <a:p>
            <a:pPr algn="ctr"/>
            <a:endParaRPr/>
          </a:p>
        </p:txBody>
      </p:sp>
      <p:sp>
        <p:nvSpPr>
          <p:cNvPr id="4" name="Caption"/>
          <p:cNvSpPr txBox="1"/>
          <p:nvPr/>
        </p:nvSpPr>
        <p:spPr>
          <a:xfrm>
            <a:off x="548640" y="3611880"/>
            <a:ext cx="5669280" cy="1645920"/>
          </a:xfrm>
          <a:prstGeom prst="rect">
            <a:avLst/>
          </a:prstGeom>
          <a:noFill/>
        </p:spPr>
        <p:txBody>
          <a:bodyPr wrap="square" lIns="0" tIns="0" rIns="0" bIns="0" anchor="t">
            <a:noAutofit/>
          </a:bodyPr>
          <a:lstStyle/>
          <a:p>
            <a:pPr algn="l">
              <a:lnSpc>
                <a:spcPct val="105000"/>
              </a:lnSpc>
            </a:pPr>
            <a:r>
              <a:rPr lang="en-GB" sz="2400" b="0" i="0">
                <a:solidFill>
                  <a:srgbClr val="F2F2F2"/>
                </a:solidFill>
                <a:latin typeface="Arial"/>
              </a:rPr>
              <a:t>A steam railway mod for Satisfactory, explained for newcomers. Everything here is a plan, not a finished mod.</a:t>
            </a:r>
          </a:p>
        </p:txBody>
      </p:sp>
      <p:pic>
        <p:nvPicPr>
          <p:cNvPr id="5" name="Picture R01" descr="Early test model of a tank engine (a yellow 'visual probe') on a short length of track. Not final art."/>
          <p:cNvPicPr>
            <a:picLocks noChangeAspect="1"/>
          </p:cNvPicPr>
          <p:nvPr/>
        </p:nvPicPr>
        <p:blipFill>
          <a:blip r:embed="rId2"/>
          <a:srcRect l="20413" r="26413"/>
          <a:stretch>
            <a:fillRect/>
          </a:stretch>
        </p:blipFill>
        <p:spPr>
          <a:xfrm>
            <a:off x="6519672" y="548640"/>
            <a:ext cx="5120640" cy="5349240"/>
          </a:xfrm>
          <a:prstGeom prst="roundRect">
            <a:avLst>
              <a:gd name="adj" fmla="val 1429"/>
            </a:avLst>
          </a:prstGeom>
        </p:spPr>
      </p:pic>
      <p:sp>
        <p:nvSpPr>
          <p:cNvPr id="6" name="Credit"/>
          <p:cNvSpPr txBox="1"/>
          <p:nvPr/>
        </p:nvSpPr>
        <p:spPr>
          <a:xfrm>
            <a:off x="6519672" y="5925312"/>
            <a:ext cx="5120640" cy="182880"/>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Early test model. Not final art.</a:t>
            </a:r>
          </a:p>
        </p:txBody>
      </p:sp>
      <p:sp>
        <p:nvSpPr>
          <p:cNvPr id="7"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WELCOME</a:t>
            </a:r>
          </a:p>
        </p:txBody>
      </p:sp>
      <p:sp>
        <p:nvSpPr>
          <p:cNvPr id="8" name="Slide number"/>
          <p:cNvSpPr txBox="1"/>
          <p:nvPr/>
        </p:nvSpPr>
        <p:spPr>
          <a:xfrm>
            <a:off x="10728655" y="6455664"/>
            <a:ext cx="914400" cy="274320"/>
          </a:xfrm>
          <a:prstGeom prst="rect">
            <a:avLst/>
          </a:prstGeom>
          <a:noFill/>
        </p:spPr>
        <p:txBody>
          <a:bodyPr wrap="square" lIns="0" tIns="0" rIns="0" bIns="0" anchor="t">
            <a:noAutofit/>
          </a:bodyPr>
          <a:lstStyle/>
          <a:p>
            <a:pPr algn="r"/>
            <a:r>
              <a:rPr lang="en-GB" sz="1400" b="0" i="0">
                <a:solidFill>
                  <a:srgbClr val="A9B0B8"/>
                </a:solidFill>
                <a:latin typeface="Arial"/>
              </a:rPr>
              <a:t>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11094415" cy="731520"/>
          </a:xfrm>
        </p:spPr>
        <p:txBody>
          <a:bodyPr wrap="square" lIns="0" tIns="0" rIns="0" bIns="0" anchor="ctr">
            <a:noAutofit/>
          </a:bodyPr>
          <a:lstStyle/>
          <a:p>
            <a:pPr algn="l"/>
            <a:r>
              <a:rPr lang="en-GB" sz="3600" b="1" i="0">
                <a:solidFill>
                  <a:srgbClr val="F2F2F2"/>
                </a:solidFill>
                <a:latin typeface="Arial"/>
              </a:rPr>
              <a:t>How to read this guide</a:t>
            </a:r>
          </a:p>
        </p:txBody>
      </p:sp>
      <p:grpSp>
        <p:nvGrpSpPr>
          <p:cNvPr id="7" name="Tag legend" descr="Legend of the five tags used in this guide and what each means."/>
          <p:cNvGrpSpPr/>
          <p:nvPr/>
        </p:nvGrpSpPr>
        <p:grpSpPr>
          <a:xfrm>
            <a:off x="1280160" y="1463040"/>
            <a:ext cx="9628632" cy="3877056"/>
            <a:chOff x="1280160" y="1463040"/>
            <a:chExt cx="9628632" cy="3877056"/>
          </a:xfrm>
        </p:grpSpPr>
        <p:sp>
          <p:nvSpPr>
            <p:cNvPr id="8" name="Rounded Rectangle 7"/>
            <p:cNvSpPr/>
            <p:nvPr/>
          </p:nvSpPr>
          <p:spPr>
            <a:xfrm>
              <a:off x="1280160" y="1463040"/>
              <a:ext cx="9628632" cy="658368"/>
            </a:xfrm>
            <a:prstGeom prst="roundRect">
              <a:avLst>
                <a:gd name="adj" fmla="val 11111"/>
              </a:avLst>
            </a:prstGeom>
            <a:solidFill>
              <a:srgbClr val="2B2F36"/>
            </a:solidFill>
            <a:ln>
              <a:noFill/>
            </a:ln>
          </p:spPr>
          <p:txBody>
            <a:bodyPr rtlCol="0" anchor="ctr"/>
            <a:lstStyle/>
            <a:p>
              <a:pPr algn="ctr"/>
              <a:endParaRPr/>
            </a:p>
          </p:txBody>
        </p:sp>
        <p:sp>
          <p:nvSpPr>
            <p:cNvPr id="9" name="Chip Agreed"/>
            <p:cNvSpPr/>
            <p:nvPr/>
          </p:nvSpPr>
          <p:spPr>
            <a:xfrm>
              <a:off x="1508760" y="1572768"/>
              <a:ext cx="2103120" cy="438912"/>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600" b="1" i="0">
                  <a:solidFill>
                    <a:srgbClr val="101418"/>
                  </a:solidFill>
                  <a:latin typeface="Arial"/>
                </a:rPr>
                <a:t>AGREED</a:t>
              </a:r>
            </a:p>
          </p:txBody>
        </p:sp>
        <p:sp>
          <p:nvSpPr>
            <p:cNvPr id="10" name="TextBox 9"/>
            <p:cNvSpPr txBox="1"/>
            <p:nvPr/>
          </p:nvSpPr>
          <p:spPr>
            <a:xfrm>
              <a:off x="3977640" y="1463040"/>
              <a:ext cx="6766560" cy="658368"/>
            </a:xfrm>
            <a:prstGeom prst="rect">
              <a:avLst/>
            </a:prstGeom>
            <a:noFill/>
          </p:spPr>
          <p:txBody>
            <a:bodyPr wrap="square" lIns="0" tIns="0" rIns="0" bIns="0" anchor="ctr">
              <a:noAutofit/>
            </a:bodyPr>
            <a:lstStyle/>
            <a:p>
              <a:pPr algn="l"/>
              <a:r>
                <a:rPr lang="en-GB" sz="2200" b="0" i="0">
                  <a:solidFill>
                    <a:srgbClr val="F2F2F2"/>
                  </a:solidFill>
                  <a:latin typeface="Arial"/>
                </a:rPr>
                <a:t>Decided.</a:t>
              </a:r>
            </a:p>
          </p:txBody>
        </p:sp>
        <p:sp>
          <p:nvSpPr>
            <p:cNvPr id="11" name="Rounded Rectangle 10"/>
            <p:cNvSpPr/>
            <p:nvPr/>
          </p:nvSpPr>
          <p:spPr>
            <a:xfrm>
              <a:off x="1280160" y="2267712"/>
              <a:ext cx="9628632" cy="658368"/>
            </a:xfrm>
            <a:prstGeom prst="roundRect">
              <a:avLst>
                <a:gd name="adj" fmla="val 11111"/>
              </a:avLst>
            </a:prstGeom>
            <a:solidFill>
              <a:srgbClr val="2B2F36"/>
            </a:solidFill>
            <a:ln>
              <a:noFill/>
            </a:ln>
          </p:spPr>
          <p:txBody>
            <a:bodyPr rtlCol="0" anchor="ctr"/>
            <a:lstStyle/>
            <a:p>
              <a:pPr algn="ctr"/>
              <a:endParaRPr/>
            </a:p>
          </p:txBody>
        </p:sp>
        <p:sp>
          <p:nvSpPr>
            <p:cNvPr id="12" name="Chip Proposed"/>
            <p:cNvSpPr/>
            <p:nvPr/>
          </p:nvSpPr>
          <p:spPr>
            <a:xfrm>
              <a:off x="1508760" y="2377440"/>
              <a:ext cx="2103120" cy="438912"/>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600" b="1" i="0">
                  <a:solidFill>
                    <a:srgbClr val="101418"/>
                  </a:solidFill>
                  <a:latin typeface="Arial"/>
                </a:rPr>
                <a:t>PROPOSED</a:t>
              </a:r>
            </a:p>
          </p:txBody>
        </p:sp>
        <p:sp>
          <p:nvSpPr>
            <p:cNvPr id="13" name="TextBox 12"/>
            <p:cNvSpPr txBox="1"/>
            <p:nvPr/>
          </p:nvSpPr>
          <p:spPr>
            <a:xfrm>
              <a:off x="3977640" y="2267712"/>
              <a:ext cx="6766560" cy="658368"/>
            </a:xfrm>
            <a:prstGeom prst="rect">
              <a:avLst/>
            </a:prstGeom>
            <a:noFill/>
          </p:spPr>
          <p:txBody>
            <a:bodyPr wrap="square" lIns="0" tIns="0" rIns="0" bIns="0" anchor="ctr">
              <a:noAutofit/>
            </a:bodyPr>
            <a:lstStyle/>
            <a:p>
              <a:pPr algn="l"/>
              <a:r>
                <a:rPr lang="en-GB" sz="2200" b="0" i="0">
                  <a:solidFill>
                    <a:srgbClr val="F2F2F2"/>
                  </a:solidFill>
                  <a:latin typeface="Arial"/>
                </a:rPr>
                <a:t>Suggested, not confirmed.</a:t>
              </a:r>
            </a:p>
          </p:txBody>
        </p:sp>
        <p:sp>
          <p:nvSpPr>
            <p:cNvPr id="14" name="Rounded Rectangle 13"/>
            <p:cNvSpPr/>
            <p:nvPr/>
          </p:nvSpPr>
          <p:spPr>
            <a:xfrm>
              <a:off x="1280160" y="3072384"/>
              <a:ext cx="9628632" cy="658368"/>
            </a:xfrm>
            <a:prstGeom prst="roundRect">
              <a:avLst>
                <a:gd name="adj" fmla="val 11111"/>
              </a:avLst>
            </a:prstGeom>
            <a:solidFill>
              <a:srgbClr val="2B2F36"/>
            </a:solidFill>
            <a:ln>
              <a:noFill/>
            </a:ln>
          </p:spPr>
          <p:txBody>
            <a:bodyPr rtlCol="0" anchor="ctr"/>
            <a:lstStyle/>
            <a:p>
              <a:pPr algn="ctr"/>
              <a:endParaRPr/>
            </a:p>
          </p:txBody>
        </p:sp>
        <p:sp>
          <p:nvSpPr>
            <p:cNvPr id="15" name="Chip Provisional"/>
            <p:cNvSpPr/>
            <p:nvPr/>
          </p:nvSpPr>
          <p:spPr>
            <a:xfrm>
              <a:off x="1508760" y="3182112"/>
              <a:ext cx="2103120" cy="438912"/>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600" b="1" i="0">
                  <a:solidFill>
                    <a:srgbClr val="101418"/>
                  </a:solidFill>
                  <a:latin typeface="Arial"/>
                </a:rPr>
                <a:t>PROVISIONAL</a:t>
              </a:r>
            </a:p>
          </p:txBody>
        </p:sp>
        <p:sp>
          <p:nvSpPr>
            <p:cNvPr id="16" name="TextBox 15"/>
            <p:cNvSpPr txBox="1"/>
            <p:nvPr/>
          </p:nvSpPr>
          <p:spPr>
            <a:xfrm>
              <a:off x="3977640" y="3072384"/>
              <a:ext cx="6766560" cy="658368"/>
            </a:xfrm>
            <a:prstGeom prst="rect">
              <a:avLst/>
            </a:prstGeom>
            <a:noFill/>
          </p:spPr>
          <p:txBody>
            <a:bodyPr wrap="square" lIns="0" tIns="0" rIns="0" bIns="0" anchor="ctr">
              <a:noAutofit/>
            </a:bodyPr>
            <a:lstStyle/>
            <a:p>
              <a:pPr algn="l"/>
              <a:r>
                <a:rPr lang="en-GB" sz="2200" b="0" i="0">
                  <a:solidFill>
                    <a:srgbClr val="F2F2F2"/>
                  </a:solidFill>
                  <a:latin typeface="Arial"/>
                </a:rPr>
                <a:t>A test number that may change.</a:t>
              </a:r>
            </a:p>
          </p:txBody>
        </p:sp>
        <p:sp>
          <p:nvSpPr>
            <p:cNvPr id="17" name="Rounded Rectangle 16"/>
            <p:cNvSpPr/>
            <p:nvPr/>
          </p:nvSpPr>
          <p:spPr>
            <a:xfrm>
              <a:off x="1280160" y="3877056"/>
              <a:ext cx="9628632" cy="658368"/>
            </a:xfrm>
            <a:prstGeom prst="roundRect">
              <a:avLst>
                <a:gd name="adj" fmla="val 11111"/>
              </a:avLst>
            </a:prstGeom>
            <a:solidFill>
              <a:srgbClr val="2B2F36"/>
            </a:solidFill>
            <a:ln>
              <a:noFill/>
            </a:ln>
          </p:spPr>
          <p:txBody>
            <a:bodyPr rtlCol="0" anchor="ctr"/>
            <a:lstStyle/>
            <a:p>
              <a:pPr algn="ctr"/>
              <a:endParaRPr/>
            </a:p>
          </p:txBody>
        </p:sp>
        <p:sp>
          <p:nvSpPr>
            <p:cNvPr id="18" name="Chip Undecided"/>
            <p:cNvSpPr/>
            <p:nvPr/>
          </p:nvSpPr>
          <p:spPr>
            <a:xfrm>
              <a:off x="1508760" y="3986784"/>
              <a:ext cx="2103120" cy="438912"/>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600" b="1" i="0">
                  <a:solidFill>
                    <a:srgbClr val="F2F2F2"/>
                  </a:solidFill>
                  <a:latin typeface="Arial"/>
                </a:rPr>
                <a:t>UNDECIDED</a:t>
              </a:r>
            </a:p>
          </p:txBody>
        </p:sp>
        <p:sp>
          <p:nvSpPr>
            <p:cNvPr id="19" name="TextBox 18"/>
            <p:cNvSpPr txBox="1"/>
            <p:nvPr/>
          </p:nvSpPr>
          <p:spPr>
            <a:xfrm>
              <a:off x="3977640" y="3877056"/>
              <a:ext cx="6766560" cy="658368"/>
            </a:xfrm>
            <a:prstGeom prst="rect">
              <a:avLst/>
            </a:prstGeom>
            <a:noFill/>
          </p:spPr>
          <p:txBody>
            <a:bodyPr wrap="square" lIns="0" tIns="0" rIns="0" bIns="0" anchor="ctr">
              <a:noAutofit/>
            </a:bodyPr>
            <a:lstStyle/>
            <a:p>
              <a:pPr algn="l"/>
              <a:r>
                <a:rPr lang="en-GB" sz="2200" b="0" i="0">
                  <a:solidFill>
                    <a:srgbClr val="F2F2F2"/>
                  </a:solidFill>
                  <a:latin typeface="Arial"/>
                </a:rPr>
                <a:t>Still an open question.</a:t>
              </a:r>
            </a:p>
          </p:txBody>
        </p:sp>
        <p:sp>
          <p:nvSpPr>
            <p:cNvPr id="20" name="Rounded Rectangle 19"/>
            <p:cNvSpPr/>
            <p:nvPr/>
          </p:nvSpPr>
          <p:spPr>
            <a:xfrm>
              <a:off x="1280160" y="4681728"/>
              <a:ext cx="9628632" cy="658368"/>
            </a:xfrm>
            <a:prstGeom prst="roundRect">
              <a:avLst>
                <a:gd name="adj" fmla="val 11111"/>
              </a:avLst>
            </a:prstGeom>
            <a:solidFill>
              <a:srgbClr val="2B2F36"/>
            </a:solidFill>
            <a:ln>
              <a:noFill/>
            </a:ln>
          </p:spPr>
          <p:txBody>
            <a:bodyPr rtlCol="0" anchor="ctr"/>
            <a:lstStyle/>
            <a:p>
              <a:pPr algn="ctr"/>
              <a:endParaRPr/>
            </a:p>
          </p:txBody>
        </p:sp>
        <p:sp>
          <p:nvSpPr>
            <p:cNvPr id="21" name="Chip Background"/>
            <p:cNvSpPr/>
            <p:nvPr/>
          </p:nvSpPr>
          <p:spPr>
            <a:xfrm>
              <a:off x="1508760" y="4791456"/>
              <a:ext cx="2103120" cy="438912"/>
            </a:xfrm>
            <a:prstGeom prst="roundRect">
              <a:avLst>
                <a:gd name="adj" fmla="val 50000"/>
              </a:avLst>
            </a:prstGeom>
            <a:solidFill>
              <a:srgbClr val="4A515B"/>
            </a:solidFill>
            <a:ln>
              <a:noFill/>
            </a:ln>
          </p:spPr>
          <p:txBody>
            <a:bodyPr wrap="square" lIns="54864" tIns="18288" rIns="54864" bIns="18288" rtlCol="0" anchor="ctr">
              <a:noAutofit/>
            </a:bodyPr>
            <a:lstStyle/>
            <a:p>
              <a:pPr algn="ctr"/>
              <a:r>
                <a:rPr lang="en-GB" sz="1600" b="1" i="0">
                  <a:solidFill>
                    <a:srgbClr val="F2F2F2"/>
                  </a:solidFill>
                  <a:latin typeface="Arial"/>
                </a:rPr>
                <a:t>BACKGROUND</a:t>
              </a:r>
            </a:p>
          </p:txBody>
        </p:sp>
        <p:sp>
          <p:nvSpPr>
            <p:cNvPr id="22" name="TextBox 21"/>
            <p:cNvSpPr txBox="1"/>
            <p:nvPr/>
          </p:nvSpPr>
          <p:spPr>
            <a:xfrm>
              <a:off x="3977640" y="4681728"/>
              <a:ext cx="6766560" cy="658368"/>
            </a:xfrm>
            <a:prstGeom prst="rect">
              <a:avLst/>
            </a:prstGeom>
            <a:noFill/>
          </p:spPr>
          <p:txBody>
            <a:bodyPr wrap="square" lIns="0" tIns="0" rIns="0" bIns="0" anchor="ctr">
              <a:noAutofit/>
            </a:bodyPr>
            <a:lstStyle/>
            <a:p>
              <a:pPr algn="l"/>
              <a:r>
                <a:rPr lang="en-GB" sz="2200" b="0" i="0">
                  <a:solidFill>
                    <a:srgbClr val="F2F2F2"/>
                  </a:solidFill>
                  <a:latin typeface="Arial"/>
                </a:rPr>
                <a:t>A real-world fact.</a:t>
              </a:r>
            </a:p>
          </p:txBody>
        </p:sp>
      </p:grpSp>
      <p:sp>
        <p:nvSpPr>
          <p:cNvPr id="3"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Every idea carries a tag in the top-right corner.</a:t>
            </a:r>
          </a:p>
        </p:txBody>
      </p:sp>
      <p:sp>
        <p:nvSpPr>
          <p:cNvPr id="4"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5"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WELCOME</a:t>
            </a:r>
          </a:p>
        </p:txBody>
      </p:sp>
      <p:sp>
        <p:nvSpPr>
          <p:cNvPr id="6"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6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The idea in one picture</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Idea flow" descr="Four steps: cheap to build, real limits, your answers, and later the electric monorail."/>
          <p:cNvGrpSpPr/>
          <p:nvPr/>
        </p:nvGrpSpPr>
        <p:grpSpPr>
          <a:xfrm>
            <a:off x="548640" y="1783080"/>
            <a:ext cx="11091672" cy="1463040"/>
            <a:chOff x="548640" y="1783080"/>
            <a:chExt cx="11091672" cy="1463040"/>
          </a:xfrm>
        </p:grpSpPr>
        <p:sp>
          <p:nvSpPr>
            <p:cNvPr id="9" name="Rounded Rectangle 8"/>
            <p:cNvSpPr/>
            <p:nvPr/>
          </p:nvSpPr>
          <p:spPr>
            <a:xfrm>
              <a:off x="548640" y="1783080"/>
              <a:ext cx="2377440" cy="1463040"/>
            </a:xfrm>
            <a:prstGeom prst="roundRect">
              <a:avLst>
                <a:gd name="adj" fmla="val 5000"/>
              </a:avLst>
            </a:prstGeom>
            <a:solidFill>
              <a:srgbClr val="2B2F36"/>
            </a:solidFill>
            <a:ln w="25400">
              <a:solidFill>
                <a:srgbClr val="F28C28"/>
              </a:solidFill>
            </a:ln>
          </p:spPr>
          <p:txBody>
            <a:bodyPr wrap="square" lIns="137160" tIns="73152" rIns="137160" bIns="73152" rtlCol="0" anchor="ctr">
              <a:noAutofit/>
            </a:bodyPr>
            <a:lstStyle/>
            <a:p>
              <a:pPr algn="ctr"/>
              <a:r>
                <a:rPr lang="en-GB" sz="1800" b="1" i="0">
                  <a:solidFill>
                    <a:srgbClr val="F2F2F2"/>
                  </a:solidFill>
                  <a:latin typeface="Arial"/>
                </a:rPr>
                <a:t>Cheap to build</a:t>
              </a:r>
            </a:p>
          </p:txBody>
        </p:sp>
        <p:cxnSp>
          <p:nvCxnSpPr>
            <p:cNvPr id="10" name="Connector 9"/>
            <p:cNvCxnSpPr/>
            <p:nvPr/>
          </p:nvCxnSpPr>
          <p:spPr>
            <a:xfrm>
              <a:off x="2980944" y="2514600"/>
              <a:ext cx="399593" cy="0"/>
            </a:xfrm>
            <a:prstGeom prst="line">
              <a:avLst/>
            </a:prstGeom>
            <a:ln w="38100">
              <a:solidFill>
                <a:srgbClr val="F28C28"/>
              </a:solidFill>
              <a:tailEnd type="triangle" w="med" len="med"/>
            </a:ln>
          </p:spPr>
        </p:cxnSp>
        <p:sp>
          <p:nvSpPr>
            <p:cNvPr id="11" name="Rounded Rectangle 10"/>
            <p:cNvSpPr/>
            <p:nvPr/>
          </p:nvSpPr>
          <p:spPr>
            <a:xfrm>
              <a:off x="3453689" y="1783080"/>
              <a:ext cx="2377440" cy="1463040"/>
            </a:xfrm>
            <a:prstGeom prst="roundRect">
              <a:avLst>
                <a:gd name="adj" fmla="val 5000"/>
              </a:avLst>
            </a:prstGeom>
            <a:solidFill>
              <a:srgbClr val="2B2F36"/>
            </a:solidFill>
            <a:ln w="25400">
              <a:solidFill>
                <a:srgbClr val="F28C28"/>
              </a:solidFill>
            </a:ln>
          </p:spPr>
          <p:txBody>
            <a:bodyPr wrap="square" lIns="137160" tIns="73152" rIns="137160" bIns="73152" rtlCol="0" anchor="ctr">
              <a:noAutofit/>
            </a:bodyPr>
            <a:lstStyle/>
            <a:p>
              <a:pPr algn="ctr"/>
              <a:r>
                <a:rPr lang="en-GB" sz="1800" b="1" i="0">
                  <a:solidFill>
                    <a:srgbClr val="F2F2F2"/>
                  </a:solidFill>
                  <a:latin typeface="Arial"/>
                </a:rPr>
                <a:t>Real limits:</a:t>
              </a:r>
            </a:p>
            <a:p>
              <a:pPr algn="ctr"/>
              <a:r>
                <a:rPr lang="en-GB" sz="1800" b="0" i="0">
                  <a:solidFill>
                    <a:srgbClr val="F2F2F2"/>
                  </a:solidFill>
                  <a:latin typeface="Arial"/>
                </a:rPr>
                <a:t>speed, range, signals, stations</a:t>
              </a:r>
            </a:p>
          </p:txBody>
        </p:sp>
        <p:cxnSp>
          <p:nvCxnSpPr>
            <p:cNvPr id="12" name="Connector 11"/>
            <p:cNvCxnSpPr/>
            <p:nvPr/>
          </p:nvCxnSpPr>
          <p:spPr>
            <a:xfrm>
              <a:off x="5885993" y="2514600"/>
              <a:ext cx="398678" cy="0"/>
            </a:xfrm>
            <a:prstGeom prst="line">
              <a:avLst/>
            </a:prstGeom>
            <a:ln w="38100">
              <a:solidFill>
                <a:srgbClr val="F28C28"/>
              </a:solidFill>
              <a:tailEnd type="triangle" w="med" len="med"/>
            </a:ln>
          </p:spPr>
        </p:cxnSp>
        <p:sp>
          <p:nvSpPr>
            <p:cNvPr id="13" name="Rounded Rectangle 12"/>
            <p:cNvSpPr/>
            <p:nvPr/>
          </p:nvSpPr>
          <p:spPr>
            <a:xfrm>
              <a:off x="6357823" y="1783080"/>
              <a:ext cx="2377440" cy="1463040"/>
            </a:xfrm>
            <a:prstGeom prst="roundRect">
              <a:avLst>
                <a:gd name="adj" fmla="val 5000"/>
              </a:avLst>
            </a:prstGeom>
            <a:solidFill>
              <a:srgbClr val="2B2F36"/>
            </a:solidFill>
            <a:ln w="25400">
              <a:solidFill>
                <a:srgbClr val="F28C28"/>
              </a:solidFill>
            </a:ln>
          </p:spPr>
          <p:txBody>
            <a:bodyPr wrap="square" lIns="137160" tIns="73152" rIns="137160" bIns="73152" rtlCol="0" anchor="ctr">
              <a:noAutofit/>
            </a:bodyPr>
            <a:lstStyle/>
            <a:p>
              <a:pPr algn="ctr"/>
              <a:r>
                <a:rPr lang="en-GB" sz="1800" b="1" i="0">
                  <a:solidFill>
                    <a:srgbClr val="F2F2F2"/>
                  </a:solidFill>
                  <a:latin typeface="Arial"/>
                </a:rPr>
                <a:t>Your answers:</a:t>
              </a:r>
            </a:p>
            <a:p>
              <a:pPr algn="ctr"/>
              <a:r>
                <a:rPr lang="en-GB" sz="1800" b="0" i="0">
                  <a:solidFill>
                    <a:srgbClr val="F2F2F2"/>
                  </a:solidFill>
                  <a:latin typeface="Arial"/>
                </a:rPr>
                <a:t>tenders, service stops, signal boxes</a:t>
              </a:r>
            </a:p>
          </p:txBody>
        </p:sp>
        <p:cxnSp>
          <p:nvCxnSpPr>
            <p:cNvPr id="14" name="Connector 13"/>
            <p:cNvCxnSpPr/>
            <p:nvPr/>
          </p:nvCxnSpPr>
          <p:spPr>
            <a:xfrm>
              <a:off x="8790127" y="2514600"/>
              <a:ext cx="399593" cy="0"/>
            </a:xfrm>
            <a:prstGeom prst="line">
              <a:avLst/>
            </a:prstGeom>
            <a:ln w="38100">
              <a:solidFill>
                <a:srgbClr val="F28C28"/>
              </a:solidFill>
              <a:tailEnd type="triangle" w="med" len="med"/>
            </a:ln>
          </p:spPr>
        </p:cxnSp>
        <p:sp>
          <p:nvSpPr>
            <p:cNvPr id="15" name="Rounded Rectangle 14"/>
            <p:cNvSpPr/>
            <p:nvPr/>
          </p:nvSpPr>
          <p:spPr>
            <a:xfrm>
              <a:off x="9262872" y="1783080"/>
              <a:ext cx="2377440" cy="1463040"/>
            </a:xfrm>
            <a:prstGeom prst="roundRect">
              <a:avLst>
                <a:gd name="adj" fmla="val 5000"/>
              </a:avLst>
            </a:prstGeom>
            <a:solidFill>
              <a:srgbClr val="2B2F36"/>
            </a:solidFill>
            <a:ln w="25400">
              <a:solidFill>
                <a:srgbClr val="6CA0DC"/>
              </a:solidFill>
            </a:ln>
          </p:spPr>
          <p:txBody>
            <a:bodyPr wrap="square" lIns="137160" tIns="73152" rIns="137160" bIns="73152" rtlCol="0" anchor="ctr">
              <a:noAutofit/>
            </a:bodyPr>
            <a:lstStyle/>
            <a:p>
              <a:pPr algn="ctr"/>
              <a:r>
                <a:rPr lang="en-GB" sz="1800" b="1" i="0">
                  <a:solidFill>
                    <a:srgbClr val="F2F2F2"/>
                  </a:solidFill>
                  <a:latin typeface="Arial"/>
                </a:rPr>
                <a:t>Later:</a:t>
              </a:r>
            </a:p>
            <a:p>
              <a:pPr algn="ctr"/>
              <a:r>
                <a:rPr lang="en-GB" sz="1800" b="0" i="0">
                  <a:solidFill>
                    <a:srgbClr val="F2F2F2"/>
                  </a:solidFill>
                  <a:latin typeface="Arial"/>
                </a:rPr>
                <a:t>electric monorail</a:t>
              </a:r>
            </a:p>
          </p:txBody>
        </p:sp>
      </p:grpSp>
      <p:pic>
        <p:nvPicPr>
          <p:cNvPr id="16" name="Picture R01" descr="Early test model of a tank engine (a yellow 'visual probe') on a short length of track. Not final art."/>
          <p:cNvPicPr>
            <a:picLocks noChangeAspect="1"/>
          </p:cNvPicPr>
          <p:nvPr/>
        </p:nvPicPr>
        <p:blipFill>
          <a:blip r:embed="rId2"/>
          <a:srcRect r="3719"/>
          <a:stretch>
            <a:fillRect/>
          </a:stretch>
        </p:blipFill>
        <p:spPr>
          <a:xfrm>
            <a:off x="9262872" y="3977640"/>
            <a:ext cx="2377440" cy="1371600"/>
          </a:xfrm>
          <a:prstGeom prst="roundRect">
            <a:avLst>
              <a:gd name="adj" fmla="val 5333"/>
            </a:avLst>
          </a:prstGeom>
        </p:spPr>
      </p:pic>
      <p:sp>
        <p:nvSpPr>
          <p:cNvPr id="17" name="Credit"/>
          <p:cNvSpPr txBox="1"/>
          <p:nvPr/>
        </p:nvSpPr>
        <p:spPr>
          <a:xfrm>
            <a:off x="9262872" y="5376672"/>
            <a:ext cx="2377440" cy="338328"/>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Early test model, not final art.</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Cheap track and trains. Real limits. You solve them with coal, water, signals and planning.</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WELCOME</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6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9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What is Satisfactory?</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wrap="square" lIns="54864" tIns="18288" rIns="54864" bIns="18288" rtlCol="0" anchor="ctr">
            <a:noAutofit/>
          </a:bodyPr>
          <a:lstStyle/>
          <a:p>
            <a:pPr algn="ctr"/>
            <a:r>
              <a:rPr lang="en-GB" sz="1400" b="1" i="0">
                <a:solidFill>
                  <a:srgbClr val="F2F2F2"/>
                </a:solidFill>
                <a:latin typeface="Arial"/>
              </a:rPr>
              <a:t>BACKGROUND</a:t>
            </a:r>
          </a:p>
        </p:txBody>
      </p:sp>
      <p:sp>
        <p:nvSpPr>
          <p:cNvPr id="8" name="Definition"/>
          <p:cNvSpPr/>
          <p:nvPr/>
        </p:nvSpPr>
        <p:spPr>
          <a:xfrm>
            <a:off x="548640" y="1417320"/>
            <a:ext cx="4846320" cy="566928"/>
          </a:xfrm>
          <a:prstGeom prst="roundRect">
            <a:avLst>
              <a:gd name="adj" fmla="val 12903"/>
            </a:avLst>
          </a:prstGeom>
          <a:solidFill>
            <a:srgbClr val="2B2F36"/>
          </a:solidFill>
          <a:ln w="19050">
            <a:solidFill>
              <a:srgbClr val="F28C28"/>
            </a:solidFill>
          </a:ln>
        </p:spPr>
        <p:txBody>
          <a:bodyPr wrap="square" lIns="182880" tIns="27432" bIns="27432" rtlCol="0" anchor="ctr">
            <a:noAutofit/>
          </a:bodyPr>
          <a:lstStyle/>
          <a:p>
            <a:pPr algn="l"/>
            <a:r>
              <a:rPr lang="en-GB" sz="1800" b="1" i="0">
                <a:solidFill>
                  <a:srgbClr val="F28C28"/>
                </a:solidFill>
                <a:latin typeface="Arial"/>
              </a:rPr>
              <a:t>Vanilla</a:t>
            </a:r>
            <a:r>
              <a:rPr lang="en-GB" sz="1800" b="0" i="0">
                <a:solidFill>
                  <a:srgbClr val="F2F2F2"/>
                </a:solidFill>
                <a:latin typeface="Arial"/>
              </a:rPr>
              <a:t> = the game without mods.</a:t>
            </a:r>
          </a:p>
        </p:txBody>
      </p:sp>
      <p:grpSp>
        <p:nvGrpSpPr>
          <p:cNvPr id="9" name="Factory strip" descr="A simple factory line from shapes: a miner, conveyor belts, a smelter, a constructor and a storage crate, with the player standing beside it."/>
          <p:cNvGrpSpPr/>
          <p:nvPr/>
        </p:nvGrpSpPr>
        <p:grpSpPr>
          <a:xfrm>
            <a:off x="548640" y="2560320"/>
            <a:ext cx="11091672" cy="2103120"/>
            <a:chOff x="548640" y="2560320"/>
            <a:chExt cx="11091672" cy="2103120"/>
          </a:xfrm>
        </p:grpSpPr>
        <p:sp>
          <p:nvSpPr>
            <p:cNvPr id="10" name="Freeform 9"/>
            <p:cNvSpPr/>
            <p:nvPr/>
          </p:nvSpPr>
          <p:spPr>
            <a:xfrm>
              <a:off x="822960" y="4160520"/>
              <a:ext cx="1280160" cy="502920"/>
            </a:xfrm>
            <a:custGeom>
              <a:avLst/>
              <a:gdLst/>
              <a:ahLst/>
              <a:cxnLst/>
              <a:rect l="l" t="t" r="r" b="b"/>
              <a:pathLst>
                <a:path w="1280160" h="502920">
                  <a:moveTo>
                    <a:pt x="0" y="0"/>
                  </a:moveTo>
                  <a:lnTo>
                    <a:pt x="1280160" y="0"/>
                  </a:lnTo>
                  <a:lnTo>
                    <a:pt x="1097280" y="502920"/>
                  </a:lnTo>
                  <a:lnTo>
                    <a:pt x="182880" y="502920"/>
                  </a:lnTo>
                  <a:close/>
                </a:path>
              </a:pathLst>
            </a:custGeom>
            <a:solidFill>
              <a:srgbClr val="5C4A3A"/>
            </a:solidFill>
            <a:ln>
              <a:noFill/>
            </a:ln>
          </p:spPr>
          <p:txBody>
            <a:bodyPr rtlCol="0" anchor="ctr"/>
            <a:lstStyle/>
            <a:p>
              <a:pPr algn="ctr"/>
              <a:endParaRPr/>
            </a:p>
          </p:txBody>
        </p:sp>
        <p:sp>
          <p:nvSpPr>
            <p:cNvPr id="11" name="Rectangle 10"/>
            <p:cNvSpPr/>
            <p:nvPr/>
          </p:nvSpPr>
          <p:spPr>
            <a:xfrm>
              <a:off x="548640" y="4160520"/>
              <a:ext cx="11091672" cy="45720"/>
            </a:xfrm>
            <a:prstGeom prst="rect">
              <a:avLst/>
            </a:prstGeom>
            <a:solidFill>
              <a:srgbClr val="9AA0A6"/>
            </a:solidFill>
            <a:ln>
              <a:noFill/>
            </a:ln>
          </p:spPr>
          <p:txBody>
            <a:bodyPr rtlCol="0" anchor="ctr"/>
            <a:lstStyle/>
            <a:p>
              <a:pPr algn="ctr"/>
              <a:endParaRPr/>
            </a:p>
          </p:txBody>
        </p:sp>
        <p:sp>
          <p:nvSpPr>
            <p:cNvPr id="12" name="Rounded Rectangle 11"/>
            <p:cNvSpPr/>
            <p:nvPr/>
          </p:nvSpPr>
          <p:spPr>
            <a:xfrm>
              <a:off x="914400" y="3063240"/>
              <a:ext cx="1097280" cy="1097280"/>
            </a:xfrm>
            <a:prstGeom prst="roundRect">
              <a:avLst>
                <a:gd name="adj" fmla="val 5000"/>
              </a:avLst>
            </a:prstGeom>
            <a:solidFill>
              <a:srgbClr val="343A43"/>
            </a:solidFill>
            <a:ln w="19050">
              <a:solidFill>
                <a:srgbClr val="9AA0A6"/>
              </a:solidFill>
            </a:ln>
          </p:spPr>
          <p:txBody>
            <a:bodyPr rtlCol="0" anchor="ctr"/>
            <a:lstStyle/>
            <a:p>
              <a:pPr algn="ctr"/>
              <a:endParaRPr/>
            </a:p>
          </p:txBody>
        </p:sp>
        <p:sp>
          <p:nvSpPr>
            <p:cNvPr id="13" name="Freeform 12"/>
            <p:cNvSpPr/>
            <p:nvPr/>
          </p:nvSpPr>
          <p:spPr>
            <a:xfrm>
              <a:off x="1243584" y="4160520"/>
              <a:ext cx="438912" cy="411480"/>
            </a:xfrm>
            <a:custGeom>
              <a:avLst/>
              <a:gdLst/>
              <a:ahLst/>
              <a:cxnLst/>
              <a:rect l="l" t="t" r="r" b="b"/>
              <a:pathLst>
                <a:path w="438912" h="411480">
                  <a:moveTo>
                    <a:pt x="0" y="0"/>
                  </a:moveTo>
                  <a:lnTo>
                    <a:pt x="438912" y="0"/>
                  </a:lnTo>
                  <a:lnTo>
                    <a:pt x="219456" y="411480"/>
                  </a:lnTo>
                  <a:close/>
                </a:path>
              </a:pathLst>
            </a:custGeom>
            <a:solidFill>
              <a:srgbClr val="9AA0A6"/>
            </a:solidFill>
            <a:ln w="9525">
              <a:solidFill>
                <a:srgbClr val="101418"/>
              </a:solidFill>
            </a:ln>
          </p:spPr>
          <p:txBody>
            <a:bodyPr rtlCol="0" anchor="ctr"/>
            <a:lstStyle/>
            <a:p>
              <a:pPr algn="ctr"/>
              <a:endParaRPr/>
            </a:p>
          </p:txBody>
        </p:sp>
        <p:sp>
          <p:nvSpPr>
            <p:cNvPr id="14" name="Rectangle 13"/>
            <p:cNvSpPr/>
            <p:nvPr/>
          </p:nvSpPr>
          <p:spPr>
            <a:xfrm>
              <a:off x="1133856" y="3227832"/>
              <a:ext cx="658368" cy="164592"/>
            </a:xfrm>
            <a:prstGeom prst="rect">
              <a:avLst/>
            </a:prstGeom>
            <a:solidFill>
              <a:srgbClr val="F28C28"/>
            </a:solidFill>
            <a:ln>
              <a:noFill/>
            </a:ln>
          </p:spPr>
          <p:txBody>
            <a:bodyPr rtlCol="0" anchor="ctr"/>
            <a:lstStyle/>
            <a:p>
              <a:pPr algn="ctr"/>
              <a:endParaRPr/>
            </a:p>
          </p:txBody>
        </p:sp>
        <p:sp>
          <p:nvSpPr>
            <p:cNvPr id="15" name="Rectangle 14"/>
            <p:cNvSpPr/>
            <p:nvPr/>
          </p:nvSpPr>
          <p:spPr>
            <a:xfrm>
              <a:off x="2011680" y="3566160"/>
              <a:ext cx="1234440" cy="219456"/>
            </a:xfrm>
            <a:prstGeom prst="rect">
              <a:avLst/>
            </a:prstGeom>
            <a:solidFill>
              <a:srgbClr val="1B1D21"/>
            </a:solidFill>
            <a:ln w="12700">
              <a:solidFill>
                <a:srgbClr val="9AA0A6"/>
              </a:solidFill>
            </a:ln>
          </p:spPr>
          <p:txBody>
            <a:bodyPr rtlCol="0" anchor="ctr"/>
            <a:lstStyle/>
            <a:p>
              <a:pPr algn="ctr"/>
              <a:endParaRPr/>
            </a:p>
          </p:txBody>
        </p:sp>
        <p:sp>
          <p:nvSpPr>
            <p:cNvPr id="16" name="Chevron 15"/>
            <p:cNvSpPr/>
            <p:nvPr/>
          </p:nvSpPr>
          <p:spPr>
            <a:xfrm>
              <a:off x="2194560" y="3602736"/>
              <a:ext cx="128016" cy="146304"/>
            </a:xfrm>
            <a:prstGeom prst="chevron">
              <a:avLst/>
            </a:prstGeom>
            <a:solidFill>
              <a:srgbClr val="F28C28"/>
            </a:solidFill>
            <a:ln>
              <a:noFill/>
            </a:ln>
          </p:spPr>
          <p:txBody>
            <a:bodyPr rtlCol="0" anchor="ctr"/>
            <a:lstStyle/>
            <a:p>
              <a:pPr algn="ctr"/>
              <a:endParaRPr/>
            </a:p>
          </p:txBody>
        </p:sp>
        <p:sp>
          <p:nvSpPr>
            <p:cNvPr id="17" name="Chevron 16"/>
            <p:cNvSpPr/>
            <p:nvPr/>
          </p:nvSpPr>
          <p:spPr>
            <a:xfrm>
              <a:off x="2523744" y="3602736"/>
              <a:ext cx="128016" cy="146304"/>
            </a:xfrm>
            <a:prstGeom prst="chevron">
              <a:avLst/>
            </a:prstGeom>
            <a:solidFill>
              <a:srgbClr val="F28C28"/>
            </a:solidFill>
            <a:ln>
              <a:noFill/>
            </a:ln>
          </p:spPr>
          <p:txBody>
            <a:bodyPr rtlCol="0" anchor="ctr"/>
            <a:lstStyle/>
            <a:p>
              <a:pPr algn="ctr"/>
              <a:endParaRPr/>
            </a:p>
          </p:txBody>
        </p:sp>
        <p:sp>
          <p:nvSpPr>
            <p:cNvPr id="18" name="Chevron 17"/>
            <p:cNvSpPr/>
            <p:nvPr/>
          </p:nvSpPr>
          <p:spPr>
            <a:xfrm>
              <a:off x="2852928" y="3602736"/>
              <a:ext cx="128016" cy="146304"/>
            </a:xfrm>
            <a:prstGeom prst="chevron">
              <a:avLst/>
            </a:prstGeom>
            <a:solidFill>
              <a:srgbClr val="F28C28"/>
            </a:solidFill>
            <a:ln>
              <a:noFill/>
            </a:ln>
          </p:spPr>
          <p:txBody>
            <a:bodyPr rtlCol="0" anchor="ctr"/>
            <a:lstStyle/>
            <a:p>
              <a:pPr algn="ctr"/>
              <a:endParaRPr/>
            </a:p>
          </p:txBody>
        </p:sp>
        <p:sp>
          <p:nvSpPr>
            <p:cNvPr id="19" name="Rounded Rectangle 18"/>
            <p:cNvSpPr/>
            <p:nvPr/>
          </p:nvSpPr>
          <p:spPr>
            <a:xfrm>
              <a:off x="3246120" y="3063240"/>
              <a:ext cx="1325880" cy="1097280"/>
            </a:xfrm>
            <a:prstGeom prst="roundRect">
              <a:avLst>
                <a:gd name="adj" fmla="val 5000"/>
              </a:avLst>
            </a:prstGeom>
            <a:solidFill>
              <a:srgbClr val="343A43"/>
            </a:solidFill>
            <a:ln w="19050">
              <a:solidFill>
                <a:srgbClr val="9AA0A6"/>
              </a:solidFill>
            </a:ln>
          </p:spPr>
          <p:txBody>
            <a:bodyPr rtlCol="0" anchor="ctr"/>
            <a:lstStyle/>
            <a:p>
              <a:pPr algn="ctr"/>
              <a:endParaRPr/>
            </a:p>
          </p:txBody>
        </p:sp>
        <p:sp>
          <p:nvSpPr>
            <p:cNvPr id="20" name="Rectangle 19"/>
            <p:cNvSpPr/>
            <p:nvPr/>
          </p:nvSpPr>
          <p:spPr>
            <a:xfrm>
              <a:off x="4068166" y="2560320"/>
              <a:ext cx="256032" cy="502920"/>
            </a:xfrm>
            <a:prstGeom prst="rect">
              <a:avLst/>
            </a:prstGeom>
            <a:solidFill>
              <a:srgbClr val="9AA0A6"/>
            </a:solidFill>
            <a:ln>
              <a:noFill/>
            </a:ln>
          </p:spPr>
          <p:txBody>
            <a:bodyPr rtlCol="0" anchor="ctr"/>
            <a:lstStyle/>
            <a:p>
              <a:pPr algn="ctr"/>
              <a:endParaRPr/>
            </a:p>
          </p:txBody>
        </p:sp>
        <p:sp>
          <p:nvSpPr>
            <p:cNvPr id="21" name="Rounded Rectangle 20"/>
            <p:cNvSpPr/>
            <p:nvPr/>
          </p:nvSpPr>
          <p:spPr>
            <a:xfrm>
              <a:off x="3577590" y="3557016"/>
              <a:ext cx="662940" cy="329184"/>
            </a:xfrm>
            <a:prstGeom prst="roundRect">
              <a:avLst>
                <a:gd name="adj" fmla="val 13888"/>
              </a:avLst>
            </a:prstGeom>
            <a:solidFill>
              <a:srgbClr val="F28C28"/>
            </a:solidFill>
            <a:ln>
              <a:noFill/>
            </a:ln>
          </p:spPr>
          <p:txBody>
            <a:bodyPr rtlCol="0" anchor="ctr"/>
            <a:lstStyle/>
            <a:p>
              <a:pPr algn="ctr"/>
              <a:endParaRPr/>
            </a:p>
          </p:txBody>
        </p:sp>
        <p:sp>
          <p:nvSpPr>
            <p:cNvPr id="22" name="Rectangle 21"/>
            <p:cNvSpPr/>
            <p:nvPr/>
          </p:nvSpPr>
          <p:spPr>
            <a:xfrm>
              <a:off x="4572000" y="3566160"/>
              <a:ext cx="1234440" cy="219456"/>
            </a:xfrm>
            <a:prstGeom prst="rect">
              <a:avLst/>
            </a:prstGeom>
            <a:solidFill>
              <a:srgbClr val="1B1D21"/>
            </a:solidFill>
            <a:ln w="12700">
              <a:solidFill>
                <a:srgbClr val="9AA0A6"/>
              </a:solidFill>
            </a:ln>
          </p:spPr>
          <p:txBody>
            <a:bodyPr rtlCol="0" anchor="ctr"/>
            <a:lstStyle/>
            <a:p>
              <a:pPr algn="ctr"/>
              <a:endParaRPr/>
            </a:p>
          </p:txBody>
        </p:sp>
        <p:sp>
          <p:nvSpPr>
            <p:cNvPr id="23" name="Chevron 22"/>
            <p:cNvSpPr/>
            <p:nvPr/>
          </p:nvSpPr>
          <p:spPr>
            <a:xfrm>
              <a:off x="4754880" y="3602736"/>
              <a:ext cx="128016" cy="146304"/>
            </a:xfrm>
            <a:prstGeom prst="chevron">
              <a:avLst/>
            </a:prstGeom>
            <a:solidFill>
              <a:srgbClr val="F28C28"/>
            </a:solidFill>
            <a:ln>
              <a:noFill/>
            </a:ln>
          </p:spPr>
          <p:txBody>
            <a:bodyPr rtlCol="0" anchor="ctr"/>
            <a:lstStyle/>
            <a:p>
              <a:pPr algn="ctr"/>
              <a:endParaRPr/>
            </a:p>
          </p:txBody>
        </p:sp>
        <p:sp>
          <p:nvSpPr>
            <p:cNvPr id="24" name="Chevron 23"/>
            <p:cNvSpPr/>
            <p:nvPr/>
          </p:nvSpPr>
          <p:spPr>
            <a:xfrm>
              <a:off x="5084064" y="3602736"/>
              <a:ext cx="128016" cy="146304"/>
            </a:xfrm>
            <a:prstGeom prst="chevron">
              <a:avLst/>
            </a:prstGeom>
            <a:solidFill>
              <a:srgbClr val="F28C28"/>
            </a:solidFill>
            <a:ln>
              <a:noFill/>
            </a:ln>
          </p:spPr>
          <p:txBody>
            <a:bodyPr rtlCol="0" anchor="ctr"/>
            <a:lstStyle/>
            <a:p>
              <a:pPr algn="ctr"/>
              <a:endParaRPr/>
            </a:p>
          </p:txBody>
        </p:sp>
        <p:sp>
          <p:nvSpPr>
            <p:cNvPr id="25" name="Chevron 24"/>
            <p:cNvSpPr/>
            <p:nvPr/>
          </p:nvSpPr>
          <p:spPr>
            <a:xfrm>
              <a:off x="5413248" y="3602736"/>
              <a:ext cx="128016" cy="146304"/>
            </a:xfrm>
            <a:prstGeom prst="chevron">
              <a:avLst/>
            </a:prstGeom>
            <a:solidFill>
              <a:srgbClr val="F28C28"/>
            </a:solidFill>
            <a:ln>
              <a:noFill/>
            </a:ln>
          </p:spPr>
          <p:txBody>
            <a:bodyPr rtlCol="0" anchor="ctr"/>
            <a:lstStyle/>
            <a:p>
              <a:pPr algn="ctr"/>
              <a:endParaRPr/>
            </a:p>
          </p:txBody>
        </p:sp>
        <p:sp>
          <p:nvSpPr>
            <p:cNvPr id="26" name="Rounded Rectangle 25"/>
            <p:cNvSpPr/>
            <p:nvPr/>
          </p:nvSpPr>
          <p:spPr>
            <a:xfrm>
              <a:off x="5806440" y="3063240"/>
              <a:ext cx="1325880" cy="1097280"/>
            </a:xfrm>
            <a:prstGeom prst="roundRect">
              <a:avLst>
                <a:gd name="adj" fmla="val 5000"/>
              </a:avLst>
            </a:prstGeom>
            <a:solidFill>
              <a:srgbClr val="343A43"/>
            </a:solidFill>
            <a:ln w="19050">
              <a:solidFill>
                <a:srgbClr val="9AA0A6"/>
              </a:solidFill>
            </a:ln>
          </p:spPr>
          <p:txBody>
            <a:bodyPr rtlCol="0" anchor="ctr"/>
            <a:lstStyle/>
            <a:p>
              <a:pPr algn="ctr"/>
              <a:endParaRPr/>
            </a:p>
          </p:txBody>
        </p:sp>
        <p:sp>
          <p:nvSpPr>
            <p:cNvPr id="27" name="Oval 26"/>
            <p:cNvSpPr/>
            <p:nvPr/>
          </p:nvSpPr>
          <p:spPr>
            <a:xfrm>
              <a:off x="6195060" y="3337560"/>
              <a:ext cx="548640" cy="548640"/>
            </a:xfrm>
            <a:prstGeom prst="ellipse">
              <a:avLst/>
            </a:prstGeom>
            <a:noFill/>
            <a:ln w="38100">
              <a:solidFill>
                <a:srgbClr val="F28C28"/>
              </a:solidFill>
            </a:ln>
          </p:spPr>
          <p:txBody>
            <a:bodyPr rtlCol="0" anchor="ctr"/>
            <a:lstStyle/>
            <a:p>
              <a:pPr algn="ctr"/>
              <a:endParaRPr/>
            </a:p>
          </p:txBody>
        </p:sp>
        <p:sp>
          <p:nvSpPr>
            <p:cNvPr id="28" name="Oval 27"/>
            <p:cNvSpPr/>
            <p:nvPr/>
          </p:nvSpPr>
          <p:spPr>
            <a:xfrm>
              <a:off x="6381598" y="3524098"/>
              <a:ext cx="175565" cy="175565"/>
            </a:xfrm>
            <a:prstGeom prst="ellipse">
              <a:avLst/>
            </a:prstGeom>
            <a:solidFill>
              <a:srgbClr val="F28C28"/>
            </a:solidFill>
            <a:ln>
              <a:noFill/>
            </a:ln>
          </p:spPr>
          <p:txBody>
            <a:bodyPr rtlCol="0" anchor="ctr"/>
            <a:lstStyle/>
            <a:p>
              <a:pPr algn="ctr"/>
              <a:endParaRPr/>
            </a:p>
          </p:txBody>
        </p:sp>
        <p:sp>
          <p:nvSpPr>
            <p:cNvPr id="29" name="Rectangle 28"/>
            <p:cNvSpPr/>
            <p:nvPr/>
          </p:nvSpPr>
          <p:spPr>
            <a:xfrm>
              <a:off x="7132320" y="3566160"/>
              <a:ext cx="1234440" cy="219456"/>
            </a:xfrm>
            <a:prstGeom prst="rect">
              <a:avLst/>
            </a:prstGeom>
            <a:solidFill>
              <a:srgbClr val="1B1D21"/>
            </a:solidFill>
            <a:ln w="12700">
              <a:solidFill>
                <a:srgbClr val="9AA0A6"/>
              </a:solidFill>
            </a:ln>
          </p:spPr>
          <p:txBody>
            <a:bodyPr rtlCol="0" anchor="ctr"/>
            <a:lstStyle/>
            <a:p>
              <a:pPr algn="ctr"/>
              <a:endParaRPr/>
            </a:p>
          </p:txBody>
        </p:sp>
        <p:sp>
          <p:nvSpPr>
            <p:cNvPr id="30" name="Chevron 29"/>
            <p:cNvSpPr/>
            <p:nvPr/>
          </p:nvSpPr>
          <p:spPr>
            <a:xfrm>
              <a:off x="7315200" y="3602736"/>
              <a:ext cx="128016" cy="146304"/>
            </a:xfrm>
            <a:prstGeom prst="chevron">
              <a:avLst/>
            </a:prstGeom>
            <a:solidFill>
              <a:srgbClr val="F28C28"/>
            </a:solidFill>
            <a:ln>
              <a:noFill/>
            </a:ln>
          </p:spPr>
          <p:txBody>
            <a:bodyPr rtlCol="0" anchor="ctr"/>
            <a:lstStyle/>
            <a:p>
              <a:pPr algn="ctr"/>
              <a:endParaRPr/>
            </a:p>
          </p:txBody>
        </p:sp>
        <p:sp>
          <p:nvSpPr>
            <p:cNvPr id="31" name="Chevron 30"/>
            <p:cNvSpPr/>
            <p:nvPr/>
          </p:nvSpPr>
          <p:spPr>
            <a:xfrm>
              <a:off x="7644384" y="3602736"/>
              <a:ext cx="128016" cy="146304"/>
            </a:xfrm>
            <a:prstGeom prst="chevron">
              <a:avLst/>
            </a:prstGeom>
            <a:solidFill>
              <a:srgbClr val="F28C28"/>
            </a:solidFill>
            <a:ln>
              <a:noFill/>
            </a:ln>
          </p:spPr>
          <p:txBody>
            <a:bodyPr rtlCol="0" anchor="ctr"/>
            <a:lstStyle/>
            <a:p>
              <a:pPr algn="ctr"/>
              <a:endParaRPr/>
            </a:p>
          </p:txBody>
        </p:sp>
        <p:sp>
          <p:nvSpPr>
            <p:cNvPr id="32" name="Chevron 31"/>
            <p:cNvSpPr/>
            <p:nvPr/>
          </p:nvSpPr>
          <p:spPr>
            <a:xfrm>
              <a:off x="7973568" y="3602736"/>
              <a:ext cx="128016" cy="146304"/>
            </a:xfrm>
            <a:prstGeom prst="chevron">
              <a:avLst/>
            </a:prstGeom>
            <a:solidFill>
              <a:srgbClr val="F28C28"/>
            </a:solidFill>
            <a:ln>
              <a:noFill/>
            </a:ln>
          </p:spPr>
          <p:txBody>
            <a:bodyPr rtlCol="0" anchor="ctr"/>
            <a:lstStyle/>
            <a:p>
              <a:pPr algn="ctr"/>
              <a:endParaRPr/>
            </a:p>
          </p:txBody>
        </p:sp>
        <p:sp>
          <p:nvSpPr>
            <p:cNvPr id="33" name="Rounded Rectangle 32"/>
            <p:cNvSpPr/>
            <p:nvPr/>
          </p:nvSpPr>
          <p:spPr>
            <a:xfrm>
              <a:off x="8366760" y="3154680"/>
              <a:ext cx="1005840" cy="1005840"/>
            </a:xfrm>
            <a:prstGeom prst="roundRect">
              <a:avLst>
                <a:gd name="adj" fmla="val 5454"/>
              </a:avLst>
            </a:prstGeom>
            <a:solidFill>
              <a:srgbClr val="343A43"/>
            </a:solidFill>
            <a:ln w="19050">
              <a:solidFill>
                <a:srgbClr val="9AA0A6"/>
              </a:solidFill>
            </a:ln>
          </p:spPr>
          <p:txBody>
            <a:bodyPr rtlCol="0" anchor="ctr"/>
            <a:lstStyle/>
            <a:p>
              <a:pPr algn="ctr"/>
              <a:endParaRPr/>
            </a:p>
          </p:txBody>
        </p:sp>
        <p:cxnSp>
          <p:nvCxnSpPr>
            <p:cNvPr id="34" name="Connector 33"/>
            <p:cNvCxnSpPr/>
            <p:nvPr/>
          </p:nvCxnSpPr>
          <p:spPr>
            <a:xfrm>
              <a:off x="8458200" y="3246120"/>
              <a:ext cx="822960" cy="822960"/>
            </a:xfrm>
            <a:prstGeom prst="line">
              <a:avLst/>
            </a:prstGeom>
            <a:ln w="25400">
              <a:solidFill>
                <a:srgbClr val="9AA0A6"/>
              </a:solidFill>
            </a:ln>
          </p:spPr>
        </p:cxnSp>
        <p:cxnSp>
          <p:nvCxnSpPr>
            <p:cNvPr id="35" name="Connector 34"/>
            <p:cNvCxnSpPr/>
            <p:nvPr/>
          </p:nvCxnSpPr>
          <p:spPr>
            <a:xfrm flipH="1">
              <a:off x="8458200" y="3246120"/>
              <a:ext cx="822960" cy="822960"/>
            </a:xfrm>
            <a:prstGeom prst="line">
              <a:avLst/>
            </a:prstGeom>
            <a:ln w="25400">
              <a:solidFill>
                <a:srgbClr val="9AA0A6"/>
              </a:solidFill>
            </a:ln>
          </p:spPr>
        </p:cxnSp>
        <p:sp>
          <p:nvSpPr>
            <p:cNvPr id="36" name="Rectangle 35"/>
            <p:cNvSpPr/>
            <p:nvPr/>
          </p:nvSpPr>
          <p:spPr>
            <a:xfrm>
              <a:off x="9921240" y="3840480"/>
              <a:ext cx="1463040" cy="320040"/>
            </a:xfrm>
            <a:prstGeom prst="rect">
              <a:avLst/>
            </a:prstGeom>
            <a:solidFill>
              <a:srgbClr val="343A43"/>
            </a:solidFill>
            <a:ln w="12700">
              <a:solidFill>
                <a:srgbClr val="9AA0A6"/>
              </a:solidFill>
            </a:ln>
          </p:spPr>
          <p:txBody>
            <a:bodyPr rtlCol="0" anchor="ctr"/>
            <a:lstStyle/>
            <a:p>
              <a:pPr algn="ctr"/>
              <a:endParaRPr/>
            </a:p>
          </p:txBody>
        </p:sp>
        <p:sp>
          <p:nvSpPr>
            <p:cNvPr id="37" name="Oval 36"/>
            <p:cNvSpPr/>
            <p:nvPr/>
          </p:nvSpPr>
          <p:spPr>
            <a:xfrm>
              <a:off x="10506456" y="2596896"/>
              <a:ext cx="292608" cy="292608"/>
            </a:xfrm>
            <a:prstGeom prst="ellipse">
              <a:avLst/>
            </a:prstGeom>
            <a:solidFill>
              <a:srgbClr val="F28C28"/>
            </a:solidFill>
            <a:ln>
              <a:noFill/>
            </a:ln>
          </p:spPr>
          <p:txBody>
            <a:bodyPr rtlCol="0" anchor="ctr"/>
            <a:lstStyle/>
            <a:p>
              <a:pPr algn="ctr"/>
              <a:endParaRPr/>
            </a:p>
          </p:txBody>
        </p:sp>
        <p:sp>
          <p:nvSpPr>
            <p:cNvPr id="38" name="Rounded Rectangle 37"/>
            <p:cNvSpPr/>
            <p:nvPr/>
          </p:nvSpPr>
          <p:spPr>
            <a:xfrm>
              <a:off x="10469880" y="2907792"/>
              <a:ext cx="365760" cy="685800"/>
            </a:xfrm>
            <a:prstGeom prst="roundRect">
              <a:avLst>
                <a:gd name="adj" fmla="val 30000"/>
              </a:avLst>
            </a:prstGeom>
            <a:solidFill>
              <a:srgbClr val="F28C28"/>
            </a:solidFill>
            <a:ln>
              <a:noFill/>
            </a:ln>
          </p:spPr>
          <p:txBody>
            <a:bodyPr rtlCol="0" anchor="ctr"/>
            <a:lstStyle/>
            <a:p>
              <a:pPr algn="ctr"/>
              <a:endParaRPr/>
            </a:p>
          </p:txBody>
        </p:sp>
      </p:grpSp>
      <p:sp>
        <p:nvSpPr>
          <p:cNvPr id="39" name="TextBox 38"/>
          <p:cNvSpPr txBox="1"/>
          <p:nvPr/>
        </p:nvSpPr>
        <p:spPr>
          <a:xfrm>
            <a:off x="640080" y="4727448"/>
            <a:ext cx="1645920" cy="320040"/>
          </a:xfrm>
          <a:prstGeom prst="rect">
            <a:avLst/>
          </a:prstGeom>
          <a:noFill/>
        </p:spPr>
        <p:txBody>
          <a:bodyPr wrap="square" lIns="0" tIns="0" rIns="0" bIns="0" anchor="t">
            <a:noAutofit/>
          </a:bodyPr>
          <a:lstStyle/>
          <a:p>
            <a:pPr algn="ctr"/>
            <a:r>
              <a:rPr lang="en-GB" sz="1600" b="0" i="0">
                <a:solidFill>
                  <a:srgbClr val="F2F2F2"/>
                </a:solidFill>
                <a:latin typeface="Arial"/>
              </a:rPr>
              <a:t>Miner</a:t>
            </a:r>
          </a:p>
        </p:txBody>
      </p:sp>
      <p:sp>
        <p:nvSpPr>
          <p:cNvPr id="40" name="TextBox 39"/>
          <p:cNvSpPr txBox="1"/>
          <p:nvPr/>
        </p:nvSpPr>
        <p:spPr>
          <a:xfrm>
            <a:off x="2971800" y="4727448"/>
            <a:ext cx="1874520" cy="320040"/>
          </a:xfrm>
          <a:prstGeom prst="rect">
            <a:avLst/>
          </a:prstGeom>
          <a:noFill/>
        </p:spPr>
        <p:txBody>
          <a:bodyPr wrap="square" lIns="0" tIns="0" rIns="0" bIns="0" anchor="t">
            <a:noAutofit/>
          </a:bodyPr>
          <a:lstStyle/>
          <a:p>
            <a:pPr algn="ctr"/>
            <a:r>
              <a:rPr lang="en-GB" sz="1600" b="0" i="0">
                <a:solidFill>
                  <a:srgbClr val="F2F2F2"/>
                </a:solidFill>
                <a:latin typeface="Arial"/>
              </a:rPr>
              <a:t>Smelter</a:t>
            </a:r>
          </a:p>
        </p:txBody>
      </p:sp>
      <p:sp>
        <p:nvSpPr>
          <p:cNvPr id="41" name="TextBox 40"/>
          <p:cNvSpPr txBox="1"/>
          <p:nvPr/>
        </p:nvSpPr>
        <p:spPr>
          <a:xfrm>
            <a:off x="5532120" y="4727448"/>
            <a:ext cx="1874520" cy="320040"/>
          </a:xfrm>
          <a:prstGeom prst="rect">
            <a:avLst/>
          </a:prstGeom>
          <a:noFill/>
        </p:spPr>
        <p:txBody>
          <a:bodyPr wrap="square" lIns="0" tIns="0" rIns="0" bIns="0" anchor="t">
            <a:noAutofit/>
          </a:bodyPr>
          <a:lstStyle/>
          <a:p>
            <a:pPr algn="ctr"/>
            <a:r>
              <a:rPr lang="en-GB" sz="1600" b="0" i="0">
                <a:solidFill>
                  <a:srgbClr val="F2F2F2"/>
                </a:solidFill>
                <a:latin typeface="Arial"/>
              </a:rPr>
              <a:t>Constructor</a:t>
            </a:r>
          </a:p>
        </p:txBody>
      </p:sp>
      <p:sp>
        <p:nvSpPr>
          <p:cNvPr id="42" name="TextBox 41"/>
          <p:cNvSpPr txBox="1"/>
          <p:nvPr/>
        </p:nvSpPr>
        <p:spPr>
          <a:xfrm>
            <a:off x="8092440" y="4727448"/>
            <a:ext cx="1554480" cy="320040"/>
          </a:xfrm>
          <a:prstGeom prst="rect">
            <a:avLst/>
          </a:prstGeom>
          <a:noFill/>
        </p:spPr>
        <p:txBody>
          <a:bodyPr wrap="square" lIns="0" tIns="0" rIns="0" bIns="0" anchor="t">
            <a:noAutofit/>
          </a:bodyPr>
          <a:lstStyle/>
          <a:p>
            <a:pPr algn="ctr"/>
            <a:r>
              <a:rPr lang="en-GB" sz="1600" b="0" i="0">
                <a:solidFill>
                  <a:srgbClr val="F2F2F2"/>
                </a:solidFill>
                <a:latin typeface="Arial"/>
              </a:rPr>
              <a:t>Storage</a:t>
            </a:r>
          </a:p>
        </p:txBody>
      </p:sp>
      <p:sp>
        <p:nvSpPr>
          <p:cNvPr id="43" name="TextBox 42"/>
          <p:cNvSpPr txBox="1"/>
          <p:nvPr/>
        </p:nvSpPr>
        <p:spPr>
          <a:xfrm>
            <a:off x="9646920" y="4727448"/>
            <a:ext cx="2011680" cy="320040"/>
          </a:xfrm>
          <a:prstGeom prst="rect">
            <a:avLst/>
          </a:prstGeom>
          <a:noFill/>
        </p:spPr>
        <p:txBody>
          <a:bodyPr wrap="square" lIns="0" tIns="0" rIns="0" bIns="0" anchor="t">
            <a:noAutofit/>
          </a:bodyPr>
          <a:lstStyle/>
          <a:p>
            <a:pPr algn="ctr"/>
            <a:r>
              <a:rPr lang="en-GB" sz="1600" b="0" i="0">
                <a:solidFill>
                  <a:srgbClr val="F2F2F2"/>
                </a:solidFill>
                <a:latin typeface="Arial"/>
              </a:rPr>
              <a:t>You</a:t>
            </a:r>
          </a:p>
        </p:txBody>
      </p:sp>
      <p:sp>
        <p:nvSpPr>
          <p:cNvPr id="44" name="TextBox 43"/>
          <p:cNvSpPr txBox="1"/>
          <p:nvPr/>
        </p:nvSpPr>
        <p:spPr>
          <a:xfrm>
            <a:off x="2011680" y="3200400"/>
            <a:ext cx="1234440" cy="292608"/>
          </a:xfrm>
          <a:prstGeom prst="rect">
            <a:avLst/>
          </a:prstGeom>
          <a:noFill/>
        </p:spPr>
        <p:txBody>
          <a:bodyPr wrap="square" lIns="0" tIns="0" rIns="0" bIns="0" anchor="t">
            <a:noAutofit/>
          </a:bodyPr>
          <a:lstStyle/>
          <a:p>
            <a:pPr algn="ctr"/>
            <a:r>
              <a:rPr lang="en-GB" sz="1400" b="0" i="0">
                <a:solidFill>
                  <a:srgbClr val="A9B0B8"/>
                </a:solidFill>
                <a:latin typeface="Arial"/>
              </a:rPr>
              <a:t>Belt</a:t>
            </a:r>
          </a:p>
        </p:txBody>
      </p:sp>
      <p:sp>
        <p:nvSpPr>
          <p:cNvPr id="45" name="TextBox 44"/>
          <p:cNvSpPr txBox="1"/>
          <p:nvPr/>
        </p:nvSpPr>
        <p:spPr>
          <a:xfrm>
            <a:off x="548640" y="5257800"/>
            <a:ext cx="7315200" cy="292608"/>
          </a:xfrm>
          <a:prstGeom prst="rect">
            <a:avLst/>
          </a:prstGeom>
          <a:noFill/>
        </p:spPr>
        <p:txBody>
          <a:bodyPr wrap="square" lIns="0" tIns="0" rIns="0" bIns="0" anchor="t">
            <a:noAutofit/>
          </a:bodyPr>
          <a:lstStyle/>
          <a:p>
            <a:pPr algn="l"/>
            <a:r>
              <a:rPr lang="en-GB" sz="1400" b="0" i="0">
                <a:solidFill>
                  <a:srgbClr val="A9B0B8"/>
                </a:solidFill>
                <a:latin typeface="Arial"/>
              </a:rPr>
              <a:t>By Coffee Stain Studios. Full release 2024.</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 first-person game about building factories. You mine, make and move materials until it all runs itself.</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THE GAME</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4</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163"/>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326"/>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nodeType="withEffect">
                                  <p:stCondLst>
                                    <p:cond delay="489"/>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par>
                                <p:cTn id="17" presetID="10" presetClass="entr" presetSubtype="0" fill="hold" nodeType="withEffect">
                                  <p:stCondLst>
                                    <p:cond delay="652"/>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par>
                                <p:cTn id="20" presetID="10" presetClass="entr" presetSubtype="0" fill="hold" nodeType="withEffect">
                                  <p:stCondLst>
                                    <p:cond delay="815"/>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par>
                                <p:cTn id="23" presetID="10" presetClass="entr" presetSubtype="0" fill="hold" nodeType="withEffect">
                                  <p:stCondLst>
                                    <p:cond delay="978"/>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500"/>
                                        <p:tgtEl>
                                          <p:spTgt spid="43"/>
                                        </p:tgtEl>
                                      </p:cBhvr>
                                    </p:animEffect>
                                  </p:childTnLst>
                                </p:cTn>
                              </p:par>
                              <p:par>
                                <p:cTn id="26" presetID="10" presetClass="entr" presetSubtype="0" fill="hold" nodeType="withEffect">
                                  <p:stCondLst>
                                    <p:cond delay="1141"/>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500"/>
                                        <p:tgtEl>
                                          <p:spTgt spid="44"/>
                                        </p:tgtEl>
                                      </p:cBhvr>
                                    </p:animEffect>
                                  </p:childTnLst>
                                </p:cTn>
                              </p:par>
                              <p:par>
                                <p:cTn id="29" presetID="10" presetClass="entr" presetSubtype="0" fill="hold" nodeType="withEffect">
                                  <p:stCondLst>
                                    <p:cond delay="1304"/>
                                  </p:stCondLst>
                                  <p:childTnLst>
                                    <p:set>
                                      <p:cBhvr>
                                        <p:cTn id="30" dur="1" fill="hold">
                                          <p:stCondLst>
                                            <p:cond delay="0"/>
                                          </p:stCondLst>
                                        </p:cTn>
                                        <p:tgtEl>
                                          <p:spTgt spid="45"/>
                                        </p:tgtEl>
                                        <p:attrNameLst>
                                          <p:attrName>style.visibility</p:attrName>
                                        </p:attrNameLst>
                                      </p:cBhvr>
                                      <p:to>
                                        <p:strVal val="visible"/>
                                      </p:to>
                                    </p:set>
                                    <p:animEffect transition="in" filter="fade">
                                      <p:cBhvr>
                                        <p:cTn id="31" dur="500"/>
                                        <p:tgtEl>
                                          <p:spTgt spid="45"/>
                                        </p:tgtEl>
                                      </p:cBhvr>
                                    </p:animEffect>
                                  </p:childTnLst>
                                </p:cTn>
                              </p:par>
                              <p:par>
                                <p:cTn id="32" presetID="10" presetClass="entr" presetSubtype="0" fill="hold" nodeType="withEffect">
                                  <p:stCondLst>
                                    <p:cond delay="1467"/>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par>
                                <p:cTn id="35" presetID="10" presetClass="entr" presetSubtype="0" fill="hold" nodeType="withEffect">
                                  <p:stCondLst>
                                    <p:cond delay="163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Where the mod fits</a:t>
            </a:r>
          </a:p>
        </p:txBody>
      </p:sp>
      <p:sp>
        <p:nvSpPr>
          <p:cNvPr id="3" name="Status chip"/>
          <p:cNvSpPr/>
          <p:nvPr/>
        </p:nvSpPr>
        <p:spPr>
          <a:xfrm>
            <a:off x="10088575" y="457200"/>
            <a:ext cx="1554480" cy="365760"/>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grpSp>
        <p:nvGrpSpPr>
          <p:cNvPr id="8" name="Tier staircase" descr="A four-step staircase: Tier 3 early steam railways with a small engine, Tier 3 to 4 railway expansion with a medium engine, Tier 4 to 5 heavy steam with a large engine, and Tier 6 the electric monorail."/>
          <p:cNvGrpSpPr/>
          <p:nvPr/>
        </p:nvGrpSpPr>
        <p:grpSpPr>
          <a:xfrm>
            <a:off x="548640" y="1325880"/>
            <a:ext cx="11091672" cy="3429000"/>
            <a:chOff x="548640" y="1325880"/>
            <a:chExt cx="11091672" cy="3429000"/>
          </a:xfrm>
        </p:grpSpPr>
        <p:sp>
          <p:nvSpPr>
            <p:cNvPr id="9" name="Rounded Rectangle 8"/>
            <p:cNvSpPr/>
            <p:nvPr/>
          </p:nvSpPr>
          <p:spPr>
            <a:xfrm>
              <a:off x="548640" y="3886200"/>
              <a:ext cx="2697480" cy="868680"/>
            </a:xfrm>
            <a:prstGeom prst="roundRect">
              <a:avLst>
                <a:gd name="adj" fmla="val 6315"/>
              </a:avLst>
            </a:prstGeom>
            <a:solidFill>
              <a:srgbClr val="443426"/>
            </a:solidFill>
            <a:ln w="25400">
              <a:solidFill>
                <a:srgbClr val="F28C28"/>
              </a:solidFill>
            </a:ln>
          </p:spPr>
          <p:txBody>
            <a:bodyPr rtlCol="0" anchor="ctr"/>
            <a:lstStyle/>
            <a:p>
              <a:pPr algn="ctr"/>
              <a:endParaRPr/>
            </a:p>
          </p:txBody>
        </p:sp>
        <p:sp>
          <p:nvSpPr>
            <p:cNvPr id="10" name="TextBox 9"/>
            <p:cNvSpPr txBox="1"/>
            <p:nvPr/>
          </p:nvSpPr>
          <p:spPr>
            <a:xfrm>
              <a:off x="685800" y="3959352"/>
              <a:ext cx="2423160" cy="777240"/>
            </a:xfrm>
            <a:prstGeom prst="rect">
              <a:avLst/>
            </a:prstGeom>
            <a:noFill/>
          </p:spPr>
          <p:txBody>
            <a:bodyPr wrap="square" lIns="0" tIns="0" rIns="0" bIns="0" anchor="t">
              <a:noAutofit/>
            </a:bodyPr>
            <a:lstStyle/>
            <a:p>
              <a:pPr algn="l"/>
              <a:r>
                <a:rPr lang="en-GB" sz="2000" b="1" i="0">
                  <a:solidFill>
                    <a:srgbClr val="F28C28"/>
                  </a:solidFill>
                  <a:latin typeface="Arial"/>
                </a:rPr>
                <a:t>Tier 3</a:t>
              </a:r>
            </a:p>
            <a:p>
              <a:pPr algn="l"/>
              <a:r>
                <a:rPr lang="en-GB" sz="1600" b="0" i="0">
                  <a:solidFill>
                    <a:srgbClr val="F2F2F2"/>
                  </a:solidFill>
                  <a:latin typeface="Arial"/>
                </a:rPr>
                <a:t>Early Steam Railways</a:t>
              </a:r>
            </a:p>
          </p:txBody>
        </p:sp>
        <p:grpSp>
          <p:nvGrpSpPr>
            <p:cNvPr id="11" name="Small engine" descr="A steam train: an engine pulling wagons."/>
            <p:cNvGrpSpPr/>
            <p:nvPr/>
          </p:nvGrpSpPr>
          <p:grpSpPr>
            <a:xfrm>
              <a:off x="1051560" y="3126791"/>
              <a:ext cx="1461211" cy="722833"/>
              <a:chOff x="1051560" y="3126791"/>
              <a:chExt cx="1461211" cy="722833"/>
            </a:xfrm>
          </p:grpSpPr>
          <p:sp>
            <p:nvSpPr>
              <p:cNvPr id="12" name="Rectangle 11"/>
              <p:cNvSpPr/>
              <p:nvPr/>
            </p:nvSpPr>
            <p:spPr>
              <a:xfrm>
                <a:off x="1051560" y="3406597"/>
                <a:ext cx="621792" cy="349758"/>
              </a:xfrm>
              <a:prstGeom prst="rect">
                <a:avLst/>
              </a:prstGeom>
              <a:solidFill>
                <a:srgbClr val="6C7480"/>
              </a:solidFill>
              <a:ln w="9525">
                <a:solidFill>
                  <a:srgbClr val="101418"/>
                </a:solidFill>
              </a:ln>
            </p:spPr>
            <p:txBody>
              <a:bodyPr rtlCol="0" anchor="ctr"/>
              <a:lstStyle/>
              <a:p>
                <a:pPr algn="ctr"/>
                <a:endParaRPr/>
              </a:p>
            </p:txBody>
          </p:sp>
          <p:sp>
            <p:nvSpPr>
              <p:cNvPr id="13" name="Oval 12"/>
              <p:cNvSpPr/>
              <p:nvPr/>
            </p:nvSpPr>
            <p:spPr>
              <a:xfrm>
                <a:off x="1129284" y="3694176"/>
                <a:ext cx="155448" cy="155448"/>
              </a:xfrm>
              <a:prstGeom prst="ellipse">
                <a:avLst/>
              </a:prstGeom>
              <a:solidFill>
                <a:srgbClr val="1B1D21"/>
              </a:solidFill>
              <a:ln w="12700">
                <a:solidFill>
                  <a:srgbClr val="9AA0A6"/>
                </a:solidFill>
              </a:ln>
            </p:spPr>
            <p:txBody>
              <a:bodyPr rtlCol="0" anchor="ctr"/>
              <a:lstStyle/>
              <a:p>
                <a:pPr algn="ctr"/>
                <a:endParaRPr/>
              </a:p>
            </p:txBody>
          </p:sp>
          <p:sp>
            <p:nvSpPr>
              <p:cNvPr id="14" name="Oval 13"/>
              <p:cNvSpPr/>
              <p:nvPr/>
            </p:nvSpPr>
            <p:spPr>
              <a:xfrm>
                <a:off x="1440180" y="3694176"/>
                <a:ext cx="155448" cy="155448"/>
              </a:xfrm>
              <a:prstGeom prst="ellipse">
                <a:avLst/>
              </a:prstGeom>
              <a:solidFill>
                <a:srgbClr val="1B1D21"/>
              </a:solidFill>
              <a:ln w="12700">
                <a:solidFill>
                  <a:srgbClr val="9AA0A6"/>
                </a:solidFill>
              </a:ln>
            </p:spPr>
            <p:txBody>
              <a:bodyPr rtlCol="0" anchor="ctr"/>
              <a:lstStyle/>
              <a:p>
                <a:pPr algn="ctr"/>
                <a:endParaRPr/>
              </a:p>
            </p:txBody>
          </p:sp>
          <p:sp>
            <p:nvSpPr>
              <p:cNvPr id="15" name="Rectangle 14"/>
              <p:cNvSpPr/>
              <p:nvPr/>
            </p:nvSpPr>
            <p:spPr>
              <a:xfrm>
                <a:off x="1673352" y="3655314"/>
                <a:ext cx="62179" cy="38862"/>
              </a:xfrm>
              <a:prstGeom prst="rect">
                <a:avLst/>
              </a:prstGeom>
              <a:solidFill>
                <a:srgbClr val="9AA0A6"/>
              </a:solidFill>
              <a:ln>
                <a:noFill/>
              </a:ln>
            </p:spPr>
            <p:txBody>
              <a:bodyPr rtlCol="0" anchor="ctr"/>
              <a:lstStyle/>
              <a:p>
                <a:pPr algn="ctr"/>
                <a:endParaRPr/>
              </a:p>
            </p:txBody>
          </p:sp>
          <p:sp>
            <p:nvSpPr>
              <p:cNvPr id="16" name="Rectangle 15"/>
              <p:cNvSpPr/>
              <p:nvPr/>
            </p:nvSpPr>
            <p:spPr>
              <a:xfrm>
                <a:off x="1735531" y="3344418"/>
                <a:ext cx="777240" cy="427482"/>
              </a:xfrm>
              <a:prstGeom prst="rect">
                <a:avLst/>
              </a:prstGeom>
              <a:solidFill>
                <a:srgbClr val="F28C28"/>
              </a:solidFill>
              <a:ln w="9525">
                <a:solidFill>
                  <a:srgbClr val="101418"/>
                </a:solidFill>
              </a:ln>
            </p:spPr>
            <p:txBody>
              <a:bodyPr rtlCol="0" anchor="ctr"/>
              <a:lstStyle/>
              <a:p>
                <a:pPr algn="ctr"/>
                <a:endParaRPr/>
              </a:p>
            </p:txBody>
          </p:sp>
          <p:sp>
            <p:nvSpPr>
              <p:cNvPr id="17" name="Bunker"/>
              <p:cNvSpPr/>
              <p:nvPr/>
            </p:nvSpPr>
            <p:spPr>
              <a:xfrm>
                <a:off x="1758848" y="3367735"/>
                <a:ext cx="202082" cy="155448"/>
              </a:xfrm>
              <a:prstGeom prst="rect">
                <a:avLst/>
              </a:prstGeom>
              <a:solidFill>
                <a:srgbClr val="1B1D21"/>
              </a:solidFill>
              <a:ln>
                <a:noFill/>
              </a:ln>
            </p:spPr>
            <p:txBody>
              <a:bodyPr rtlCol="0" anchor="ctr"/>
              <a:lstStyle/>
              <a:p>
                <a:pPr algn="ctr"/>
                <a:endParaRPr/>
              </a:p>
            </p:txBody>
          </p:sp>
          <p:sp>
            <p:nvSpPr>
              <p:cNvPr id="18" name="Rectangle 17"/>
              <p:cNvSpPr/>
              <p:nvPr/>
            </p:nvSpPr>
            <p:spPr>
              <a:xfrm>
                <a:off x="1999793" y="3398825"/>
                <a:ext cx="108814" cy="108814"/>
              </a:xfrm>
              <a:prstGeom prst="rect">
                <a:avLst/>
              </a:prstGeom>
              <a:solidFill>
                <a:srgbClr val="2B2F36"/>
              </a:solidFill>
              <a:ln>
                <a:noFill/>
              </a:ln>
            </p:spPr>
            <p:txBody>
              <a:bodyPr rtlCol="0" anchor="ctr"/>
              <a:lstStyle/>
              <a:p>
                <a:pPr algn="ctr"/>
                <a:endParaRPr/>
              </a:p>
            </p:txBody>
          </p:sp>
          <p:sp>
            <p:nvSpPr>
              <p:cNvPr id="19" name="Chimney"/>
              <p:cNvSpPr/>
              <p:nvPr/>
            </p:nvSpPr>
            <p:spPr>
              <a:xfrm>
                <a:off x="2341778" y="3126791"/>
                <a:ext cx="116586" cy="233172"/>
              </a:xfrm>
              <a:prstGeom prst="rect">
                <a:avLst/>
              </a:prstGeom>
              <a:solidFill>
                <a:srgbClr val="1B1D21"/>
              </a:solidFill>
              <a:ln>
                <a:noFill/>
              </a:ln>
            </p:spPr>
            <p:txBody>
              <a:bodyPr rtlCol="0" anchor="ctr"/>
              <a:lstStyle/>
              <a:p>
                <a:pPr algn="ctr"/>
                <a:endParaRPr/>
              </a:p>
            </p:txBody>
          </p:sp>
          <p:sp>
            <p:nvSpPr>
              <p:cNvPr id="20" name="Oval 19"/>
              <p:cNvSpPr/>
              <p:nvPr/>
            </p:nvSpPr>
            <p:spPr>
              <a:xfrm>
                <a:off x="1813255" y="3694176"/>
                <a:ext cx="155448" cy="155448"/>
              </a:xfrm>
              <a:prstGeom prst="ellipse">
                <a:avLst/>
              </a:prstGeom>
              <a:solidFill>
                <a:srgbClr val="1B1D21"/>
              </a:solidFill>
              <a:ln w="12700">
                <a:solidFill>
                  <a:srgbClr val="9AA0A6"/>
                </a:solidFill>
              </a:ln>
            </p:spPr>
            <p:txBody>
              <a:bodyPr rtlCol="0" anchor="ctr"/>
              <a:lstStyle/>
              <a:p>
                <a:pPr algn="ctr"/>
                <a:endParaRPr/>
              </a:p>
            </p:txBody>
          </p:sp>
          <p:sp>
            <p:nvSpPr>
              <p:cNvPr id="21" name="Oval 20"/>
              <p:cNvSpPr/>
              <p:nvPr/>
            </p:nvSpPr>
            <p:spPr>
              <a:xfrm>
                <a:off x="2046427" y="3694176"/>
                <a:ext cx="155448" cy="155448"/>
              </a:xfrm>
              <a:prstGeom prst="ellipse">
                <a:avLst/>
              </a:prstGeom>
              <a:solidFill>
                <a:srgbClr val="1B1D21"/>
              </a:solidFill>
              <a:ln w="12700">
                <a:solidFill>
                  <a:srgbClr val="9AA0A6"/>
                </a:solidFill>
              </a:ln>
            </p:spPr>
            <p:txBody>
              <a:bodyPr rtlCol="0" anchor="ctr"/>
              <a:lstStyle/>
              <a:p>
                <a:pPr algn="ctr"/>
                <a:endParaRPr/>
              </a:p>
            </p:txBody>
          </p:sp>
          <p:sp>
            <p:nvSpPr>
              <p:cNvPr id="22" name="Oval 21"/>
              <p:cNvSpPr/>
              <p:nvPr/>
            </p:nvSpPr>
            <p:spPr>
              <a:xfrm>
                <a:off x="2279599" y="3694176"/>
                <a:ext cx="155448" cy="155448"/>
              </a:xfrm>
              <a:prstGeom prst="ellipse">
                <a:avLst/>
              </a:prstGeom>
              <a:solidFill>
                <a:srgbClr val="1B1D21"/>
              </a:solidFill>
              <a:ln w="12700">
                <a:solidFill>
                  <a:srgbClr val="9AA0A6"/>
                </a:solidFill>
              </a:ln>
            </p:spPr>
            <p:txBody>
              <a:bodyPr rtlCol="0" anchor="ctr"/>
              <a:lstStyle/>
              <a:p>
                <a:pPr algn="ctr"/>
                <a:endParaRPr/>
              </a:p>
            </p:txBody>
          </p:sp>
        </p:grpSp>
        <p:sp>
          <p:nvSpPr>
            <p:cNvPr id="23" name="Rounded Rectangle 22"/>
            <p:cNvSpPr/>
            <p:nvPr/>
          </p:nvSpPr>
          <p:spPr>
            <a:xfrm>
              <a:off x="3346704" y="3227832"/>
              <a:ext cx="2697480" cy="1527048"/>
            </a:xfrm>
            <a:prstGeom prst="roundRect">
              <a:avLst>
                <a:gd name="adj" fmla="val 3592"/>
              </a:avLst>
            </a:prstGeom>
            <a:solidFill>
              <a:srgbClr val="443426"/>
            </a:solidFill>
            <a:ln w="25400">
              <a:solidFill>
                <a:srgbClr val="F28C28"/>
              </a:solidFill>
            </a:ln>
          </p:spPr>
          <p:txBody>
            <a:bodyPr rtlCol="0" anchor="ctr"/>
            <a:lstStyle/>
            <a:p>
              <a:pPr algn="ctr"/>
              <a:endParaRPr/>
            </a:p>
          </p:txBody>
        </p:sp>
        <p:sp>
          <p:nvSpPr>
            <p:cNvPr id="24" name="TextBox 23"/>
            <p:cNvSpPr txBox="1"/>
            <p:nvPr/>
          </p:nvSpPr>
          <p:spPr>
            <a:xfrm>
              <a:off x="3483864" y="3300984"/>
              <a:ext cx="2423160" cy="777240"/>
            </a:xfrm>
            <a:prstGeom prst="rect">
              <a:avLst/>
            </a:prstGeom>
            <a:noFill/>
          </p:spPr>
          <p:txBody>
            <a:bodyPr wrap="square" lIns="0" tIns="0" rIns="0" bIns="0" anchor="t">
              <a:noAutofit/>
            </a:bodyPr>
            <a:lstStyle/>
            <a:p>
              <a:pPr algn="l"/>
              <a:r>
                <a:rPr lang="en-GB" sz="2000" b="1" i="0">
                  <a:solidFill>
                    <a:srgbClr val="F28C28"/>
                  </a:solidFill>
                  <a:latin typeface="Arial"/>
                </a:rPr>
                <a:t>Tier 3 to 4</a:t>
              </a:r>
            </a:p>
            <a:p>
              <a:pPr algn="l"/>
              <a:r>
                <a:rPr lang="en-GB" sz="1600" b="0" i="0">
                  <a:solidFill>
                    <a:srgbClr val="F2F2F2"/>
                  </a:solidFill>
                  <a:latin typeface="Arial"/>
                </a:rPr>
                <a:t>Railway Expansion</a:t>
              </a:r>
            </a:p>
          </p:txBody>
        </p:sp>
        <p:grpSp>
          <p:nvGrpSpPr>
            <p:cNvPr id="25" name="Medium engine" descr="A steam train: an engine pulling wagons."/>
            <p:cNvGrpSpPr/>
            <p:nvPr/>
          </p:nvGrpSpPr>
          <p:grpSpPr>
            <a:xfrm>
              <a:off x="3529584" y="2510942"/>
              <a:ext cx="1872691" cy="680314"/>
              <a:chOff x="3529584" y="2510942"/>
              <a:chExt cx="1872691" cy="680314"/>
            </a:xfrm>
          </p:grpSpPr>
          <p:sp>
            <p:nvSpPr>
              <p:cNvPr id="26" name="Rectangle 25"/>
              <p:cNvSpPr/>
              <p:nvPr/>
            </p:nvSpPr>
            <p:spPr>
              <a:xfrm>
                <a:off x="3529584" y="2774290"/>
                <a:ext cx="585216" cy="329184"/>
              </a:xfrm>
              <a:prstGeom prst="rect">
                <a:avLst/>
              </a:prstGeom>
              <a:solidFill>
                <a:srgbClr val="6C7480"/>
              </a:solidFill>
              <a:ln w="9525">
                <a:solidFill>
                  <a:srgbClr val="101418"/>
                </a:solidFill>
              </a:ln>
            </p:spPr>
            <p:txBody>
              <a:bodyPr rtlCol="0" anchor="ctr"/>
              <a:lstStyle/>
              <a:p>
                <a:pPr algn="ctr"/>
                <a:endParaRPr/>
              </a:p>
            </p:txBody>
          </p:sp>
          <p:sp>
            <p:nvSpPr>
              <p:cNvPr id="27" name="Oval 26"/>
              <p:cNvSpPr/>
              <p:nvPr/>
            </p:nvSpPr>
            <p:spPr>
              <a:xfrm>
                <a:off x="3602736" y="3044952"/>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28" name="Oval 27"/>
              <p:cNvSpPr/>
              <p:nvPr/>
            </p:nvSpPr>
            <p:spPr>
              <a:xfrm>
                <a:off x="3895344" y="3044952"/>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29" name="Rectangle 28"/>
              <p:cNvSpPr/>
              <p:nvPr/>
            </p:nvSpPr>
            <p:spPr>
              <a:xfrm>
                <a:off x="4114800" y="3008376"/>
                <a:ext cx="58522" cy="36576"/>
              </a:xfrm>
              <a:prstGeom prst="rect">
                <a:avLst/>
              </a:prstGeom>
              <a:solidFill>
                <a:srgbClr val="9AA0A6"/>
              </a:solidFill>
              <a:ln>
                <a:noFill/>
              </a:ln>
            </p:spPr>
            <p:txBody>
              <a:bodyPr rtlCol="0" anchor="ctr"/>
              <a:lstStyle/>
              <a:p>
                <a:pPr algn="ctr"/>
                <a:endParaRPr/>
              </a:p>
            </p:txBody>
          </p:sp>
          <p:sp>
            <p:nvSpPr>
              <p:cNvPr id="30" name="Rectangle 29"/>
              <p:cNvSpPr/>
              <p:nvPr/>
            </p:nvSpPr>
            <p:spPr>
              <a:xfrm>
                <a:off x="4173322" y="2752344"/>
                <a:ext cx="438912" cy="351130"/>
              </a:xfrm>
              <a:prstGeom prst="rect">
                <a:avLst/>
              </a:prstGeom>
              <a:solidFill>
                <a:srgbClr val="F28C28"/>
              </a:solidFill>
              <a:ln w="9525">
                <a:solidFill>
                  <a:srgbClr val="101418"/>
                </a:solidFill>
              </a:ln>
            </p:spPr>
            <p:txBody>
              <a:bodyPr rtlCol="0" anchor="ctr"/>
              <a:lstStyle/>
              <a:p>
                <a:pPr algn="ctr"/>
                <a:endParaRPr/>
              </a:p>
            </p:txBody>
          </p:sp>
          <p:sp>
            <p:nvSpPr>
              <p:cNvPr id="31" name="Rectangle 30"/>
              <p:cNvSpPr/>
              <p:nvPr/>
            </p:nvSpPr>
            <p:spPr>
              <a:xfrm>
                <a:off x="4209898" y="2693822"/>
                <a:ext cx="365760" cy="87782"/>
              </a:xfrm>
              <a:prstGeom prst="rect">
                <a:avLst/>
              </a:prstGeom>
              <a:solidFill>
                <a:srgbClr val="1B1D21"/>
              </a:solidFill>
              <a:ln>
                <a:noFill/>
              </a:ln>
            </p:spPr>
            <p:txBody>
              <a:bodyPr rtlCol="0" anchor="ctr"/>
              <a:lstStyle/>
              <a:p>
                <a:pPr algn="ctr"/>
                <a:endParaRPr/>
              </a:p>
            </p:txBody>
          </p:sp>
          <p:sp>
            <p:nvSpPr>
              <p:cNvPr id="32" name="Oval 31"/>
              <p:cNvSpPr/>
              <p:nvPr/>
            </p:nvSpPr>
            <p:spPr>
              <a:xfrm>
                <a:off x="4209898" y="3044952"/>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33" name="Oval 32"/>
              <p:cNvSpPr/>
              <p:nvPr/>
            </p:nvSpPr>
            <p:spPr>
              <a:xfrm>
                <a:off x="4429354" y="3044952"/>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34" name="Rectangle 33"/>
              <p:cNvSpPr/>
              <p:nvPr/>
            </p:nvSpPr>
            <p:spPr>
              <a:xfrm>
                <a:off x="4612234" y="3008376"/>
                <a:ext cx="58522" cy="36576"/>
              </a:xfrm>
              <a:prstGeom prst="rect">
                <a:avLst/>
              </a:prstGeom>
              <a:solidFill>
                <a:srgbClr val="9AA0A6"/>
              </a:solidFill>
              <a:ln>
                <a:noFill/>
              </a:ln>
            </p:spPr>
            <p:txBody>
              <a:bodyPr rtlCol="0" anchor="ctr"/>
              <a:lstStyle/>
              <a:p>
                <a:pPr algn="ctr"/>
                <a:endParaRPr/>
              </a:p>
            </p:txBody>
          </p:sp>
          <p:sp>
            <p:nvSpPr>
              <p:cNvPr id="35" name="Rectangle 34"/>
              <p:cNvSpPr/>
              <p:nvPr/>
            </p:nvSpPr>
            <p:spPr>
              <a:xfrm>
                <a:off x="4670755" y="2715768"/>
                <a:ext cx="731520" cy="402336"/>
              </a:xfrm>
              <a:prstGeom prst="rect">
                <a:avLst/>
              </a:prstGeom>
              <a:solidFill>
                <a:srgbClr val="F28C28"/>
              </a:solidFill>
              <a:ln w="9525">
                <a:solidFill>
                  <a:srgbClr val="101418"/>
                </a:solidFill>
              </a:ln>
            </p:spPr>
            <p:txBody>
              <a:bodyPr rtlCol="0" anchor="ctr"/>
              <a:lstStyle/>
              <a:p>
                <a:pPr algn="ctr"/>
                <a:endParaRPr/>
              </a:p>
            </p:txBody>
          </p:sp>
          <p:sp>
            <p:nvSpPr>
              <p:cNvPr id="36" name="Bunker"/>
              <p:cNvSpPr/>
              <p:nvPr/>
            </p:nvSpPr>
            <p:spPr>
              <a:xfrm>
                <a:off x="4692701" y="2737714"/>
                <a:ext cx="190195" cy="146304"/>
              </a:xfrm>
              <a:prstGeom prst="rect">
                <a:avLst/>
              </a:prstGeom>
              <a:solidFill>
                <a:srgbClr val="1B1D21"/>
              </a:solidFill>
              <a:ln>
                <a:noFill/>
              </a:ln>
            </p:spPr>
            <p:txBody>
              <a:bodyPr rtlCol="0" anchor="ctr"/>
              <a:lstStyle/>
              <a:p>
                <a:pPr algn="ctr"/>
                <a:endParaRPr/>
              </a:p>
            </p:txBody>
          </p:sp>
          <p:sp>
            <p:nvSpPr>
              <p:cNvPr id="37" name="Rectangle 36"/>
              <p:cNvSpPr/>
              <p:nvPr/>
            </p:nvSpPr>
            <p:spPr>
              <a:xfrm>
                <a:off x="4919472" y="2766974"/>
                <a:ext cx="102413" cy="102413"/>
              </a:xfrm>
              <a:prstGeom prst="rect">
                <a:avLst/>
              </a:prstGeom>
              <a:solidFill>
                <a:srgbClr val="2B2F36"/>
              </a:solidFill>
              <a:ln>
                <a:noFill/>
              </a:ln>
            </p:spPr>
            <p:txBody>
              <a:bodyPr rtlCol="0" anchor="ctr"/>
              <a:lstStyle/>
              <a:p>
                <a:pPr algn="ctr"/>
                <a:endParaRPr/>
              </a:p>
            </p:txBody>
          </p:sp>
          <p:sp>
            <p:nvSpPr>
              <p:cNvPr id="38" name="Chimney"/>
              <p:cNvSpPr/>
              <p:nvPr/>
            </p:nvSpPr>
            <p:spPr>
              <a:xfrm>
                <a:off x="5241341" y="2510942"/>
                <a:ext cx="109728" cy="219456"/>
              </a:xfrm>
              <a:prstGeom prst="rect">
                <a:avLst/>
              </a:prstGeom>
              <a:solidFill>
                <a:srgbClr val="1B1D21"/>
              </a:solidFill>
              <a:ln>
                <a:noFill/>
              </a:ln>
            </p:spPr>
            <p:txBody>
              <a:bodyPr rtlCol="0" anchor="ctr"/>
              <a:lstStyle/>
              <a:p>
                <a:pPr algn="ctr"/>
                <a:endParaRPr/>
              </a:p>
            </p:txBody>
          </p:sp>
          <p:sp>
            <p:nvSpPr>
              <p:cNvPr id="39" name="Oval 38"/>
              <p:cNvSpPr/>
              <p:nvPr/>
            </p:nvSpPr>
            <p:spPr>
              <a:xfrm>
                <a:off x="4743907" y="3044952"/>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40" name="Oval 39"/>
              <p:cNvSpPr/>
              <p:nvPr/>
            </p:nvSpPr>
            <p:spPr>
              <a:xfrm>
                <a:off x="4963363" y="3044952"/>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41" name="Oval 40"/>
              <p:cNvSpPr/>
              <p:nvPr/>
            </p:nvSpPr>
            <p:spPr>
              <a:xfrm>
                <a:off x="5182819" y="3044952"/>
                <a:ext cx="146304" cy="146304"/>
              </a:xfrm>
              <a:prstGeom prst="ellipse">
                <a:avLst/>
              </a:prstGeom>
              <a:solidFill>
                <a:srgbClr val="1B1D21"/>
              </a:solidFill>
              <a:ln w="12700">
                <a:solidFill>
                  <a:srgbClr val="9AA0A6"/>
                </a:solidFill>
              </a:ln>
            </p:spPr>
            <p:txBody>
              <a:bodyPr rtlCol="0" anchor="ctr"/>
              <a:lstStyle/>
              <a:p>
                <a:pPr algn="ctr"/>
                <a:endParaRPr/>
              </a:p>
            </p:txBody>
          </p:sp>
        </p:grpSp>
        <p:sp>
          <p:nvSpPr>
            <p:cNvPr id="42" name="Rounded Rectangle 41"/>
            <p:cNvSpPr/>
            <p:nvPr/>
          </p:nvSpPr>
          <p:spPr>
            <a:xfrm>
              <a:off x="6144768" y="2569464"/>
              <a:ext cx="2697480" cy="2185416"/>
            </a:xfrm>
            <a:prstGeom prst="roundRect">
              <a:avLst>
                <a:gd name="adj" fmla="val 2510"/>
              </a:avLst>
            </a:prstGeom>
            <a:solidFill>
              <a:srgbClr val="443426"/>
            </a:solidFill>
            <a:ln w="25400">
              <a:solidFill>
                <a:srgbClr val="F28C28"/>
              </a:solidFill>
            </a:ln>
          </p:spPr>
          <p:txBody>
            <a:bodyPr rtlCol="0" anchor="ctr"/>
            <a:lstStyle/>
            <a:p>
              <a:pPr algn="ctr"/>
              <a:endParaRPr/>
            </a:p>
          </p:txBody>
        </p:sp>
        <p:sp>
          <p:nvSpPr>
            <p:cNvPr id="43" name="TextBox 42"/>
            <p:cNvSpPr txBox="1"/>
            <p:nvPr/>
          </p:nvSpPr>
          <p:spPr>
            <a:xfrm>
              <a:off x="6281928" y="2642616"/>
              <a:ext cx="2423160" cy="777240"/>
            </a:xfrm>
            <a:prstGeom prst="rect">
              <a:avLst/>
            </a:prstGeom>
            <a:noFill/>
          </p:spPr>
          <p:txBody>
            <a:bodyPr wrap="square" lIns="0" tIns="0" rIns="0" bIns="0" anchor="t">
              <a:noAutofit/>
            </a:bodyPr>
            <a:lstStyle/>
            <a:p>
              <a:pPr algn="l"/>
              <a:r>
                <a:rPr lang="en-GB" sz="2000" b="1" i="0">
                  <a:solidFill>
                    <a:srgbClr val="F28C28"/>
                  </a:solidFill>
                  <a:latin typeface="Arial"/>
                </a:rPr>
                <a:t>Tier 4 to 5</a:t>
              </a:r>
            </a:p>
            <a:p>
              <a:pPr algn="l"/>
              <a:r>
                <a:rPr lang="en-GB" sz="1600" b="0" i="0">
                  <a:solidFill>
                    <a:srgbClr val="F2F2F2"/>
                  </a:solidFill>
                  <a:latin typeface="Arial"/>
                </a:rPr>
                <a:t>Heavy Steam</a:t>
              </a:r>
            </a:p>
          </p:txBody>
        </p:sp>
        <p:grpSp>
          <p:nvGrpSpPr>
            <p:cNvPr id="44" name="Large engine" descr="A steam train: an engine pulling wagons."/>
            <p:cNvGrpSpPr/>
            <p:nvPr/>
          </p:nvGrpSpPr>
          <p:grpSpPr>
            <a:xfrm>
              <a:off x="6236208" y="1725016"/>
              <a:ext cx="2223821" cy="807872"/>
              <a:chOff x="6236208" y="1725016"/>
              <a:chExt cx="2223821" cy="807872"/>
            </a:xfrm>
          </p:grpSpPr>
          <p:sp>
            <p:nvSpPr>
              <p:cNvPr id="45" name="Rectangle 44"/>
              <p:cNvSpPr/>
              <p:nvPr/>
            </p:nvSpPr>
            <p:spPr>
              <a:xfrm>
                <a:off x="6236208" y="2037740"/>
                <a:ext cx="694944" cy="390906"/>
              </a:xfrm>
              <a:prstGeom prst="rect">
                <a:avLst/>
              </a:prstGeom>
              <a:solidFill>
                <a:srgbClr val="6C7480"/>
              </a:solidFill>
              <a:ln w="9525">
                <a:solidFill>
                  <a:srgbClr val="101418"/>
                </a:solidFill>
              </a:ln>
            </p:spPr>
            <p:txBody>
              <a:bodyPr rtlCol="0" anchor="ctr"/>
              <a:lstStyle/>
              <a:p>
                <a:pPr algn="ctr"/>
                <a:endParaRPr/>
              </a:p>
            </p:txBody>
          </p:sp>
          <p:sp>
            <p:nvSpPr>
              <p:cNvPr id="46" name="Oval 45"/>
              <p:cNvSpPr/>
              <p:nvPr/>
            </p:nvSpPr>
            <p:spPr>
              <a:xfrm>
                <a:off x="6323076" y="2359152"/>
                <a:ext cx="173736" cy="173736"/>
              </a:xfrm>
              <a:prstGeom prst="ellipse">
                <a:avLst/>
              </a:prstGeom>
              <a:solidFill>
                <a:srgbClr val="1B1D21"/>
              </a:solidFill>
              <a:ln w="12700">
                <a:solidFill>
                  <a:srgbClr val="9AA0A6"/>
                </a:solidFill>
              </a:ln>
            </p:spPr>
            <p:txBody>
              <a:bodyPr rtlCol="0" anchor="ctr"/>
              <a:lstStyle/>
              <a:p>
                <a:pPr algn="ctr"/>
                <a:endParaRPr/>
              </a:p>
            </p:txBody>
          </p:sp>
          <p:sp>
            <p:nvSpPr>
              <p:cNvPr id="47" name="Oval 46"/>
              <p:cNvSpPr/>
              <p:nvPr/>
            </p:nvSpPr>
            <p:spPr>
              <a:xfrm>
                <a:off x="6670548" y="2359152"/>
                <a:ext cx="173736" cy="173736"/>
              </a:xfrm>
              <a:prstGeom prst="ellipse">
                <a:avLst/>
              </a:prstGeom>
              <a:solidFill>
                <a:srgbClr val="1B1D21"/>
              </a:solidFill>
              <a:ln w="12700">
                <a:solidFill>
                  <a:srgbClr val="9AA0A6"/>
                </a:solidFill>
              </a:ln>
            </p:spPr>
            <p:txBody>
              <a:bodyPr rtlCol="0" anchor="ctr"/>
              <a:lstStyle/>
              <a:p>
                <a:pPr algn="ctr"/>
                <a:endParaRPr/>
              </a:p>
            </p:txBody>
          </p:sp>
          <p:sp>
            <p:nvSpPr>
              <p:cNvPr id="48" name="Rectangle 47"/>
              <p:cNvSpPr/>
              <p:nvPr/>
            </p:nvSpPr>
            <p:spPr>
              <a:xfrm>
                <a:off x="6931152" y="2315718"/>
                <a:ext cx="69494" cy="43434"/>
              </a:xfrm>
              <a:prstGeom prst="rect">
                <a:avLst/>
              </a:prstGeom>
              <a:solidFill>
                <a:srgbClr val="9AA0A6"/>
              </a:solidFill>
              <a:ln>
                <a:noFill/>
              </a:ln>
            </p:spPr>
            <p:txBody>
              <a:bodyPr rtlCol="0" anchor="ctr"/>
              <a:lstStyle/>
              <a:p>
                <a:pPr algn="ctr"/>
                <a:endParaRPr/>
              </a:p>
            </p:txBody>
          </p:sp>
          <p:sp>
            <p:nvSpPr>
              <p:cNvPr id="49" name="Rectangle 48"/>
              <p:cNvSpPr/>
              <p:nvPr/>
            </p:nvSpPr>
            <p:spPr>
              <a:xfrm>
                <a:off x="7000646" y="2011680"/>
                <a:ext cx="521208" cy="416966"/>
              </a:xfrm>
              <a:prstGeom prst="rect">
                <a:avLst/>
              </a:prstGeom>
              <a:solidFill>
                <a:srgbClr val="F28C28"/>
              </a:solidFill>
              <a:ln w="9525">
                <a:solidFill>
                  <a:srgbClr val="101418"/>
                </a:solidFill>
              </a:ln>
            </p:spPr>
            <p:txBody>
              <a:bodyPr rtlCol="0" anchor="ctr"/>
              <a:lstStyle/>
              <a:p>
                <a:pPr algn="ctr"/>
                <a:endParaRPr/>
              </a:p>
            </p:txBody>
          </p:sp>
          <p:sp>
            <p:nvSpPr>
              <p:cNvPr id="50" name="Rectangle 49"/>
              <p:cNvSpPr/>
              <p:nvPr/>
            </p:nvSpPr>
            <p:spPr>
              <a:xfrm>
                <a:off x="7044080" y="1942186"/>
                <a:ext cx="434340" cy="104242"/>
              </a:xfrm>
              <a:prstGeom prst="rect">
                <a:avLst/>
              </a:prstGeom>
              <a:solidFill>
                <a:srgbClr val="1B1D21"/>
              </a:solidFill>
              <a:ln>
                <a:noFill/>
              </a:ln>
            </p:spPr>
            <p:txBody>
              <a:bodyPr rtlCol="0" anchor="ctr"/>
              <a:lstStyle/>
              <a:p>
                <a:pPr algn="ctr"/>
                <a:endParaRPr/>
              </a:p>
            </p:txBody>
          </p:sp>
          <p:sp>
            <p:nvSpPr>
              <p:cNvPr id="51" name="Oval 50"/>
              <p:cNvSpPr/>
              <p:nvPr/>
            </p:nvSpPr>
            <p:spPr>
              <a:xfrm>
                <a:off x="7044080" y="2359152"/>
                <a:ext cx="173736" cy="173736"/>
              </a:xfrm>
              <a:prstGeom prst="ellipse">
                <a:avLst/>
              </a:prstGeom>
              <a:solidFill>
                <a:srgbClr val="1B1D21"/>
              </a:solidFill>
              <a:ln w="12700">
                <a:solidFill>
                  <a:srgbClr val="9AA0A6"/>
                </a:solidFill>
              </a:ln>
            </p:spPr>
            <p:txBody>
              <a:bodyPr rtlCol="0" anchor="ctr"/>
              <a:lstStyle/>
              <a:p>
                <a:pPr algn="ctr"/>
                <a:endParaRPr/>
              </a:p>
            </p:txBody>
          </p:sp>
          <p:sp>
            <p:nvSpPr>
              <p:cNvPr id="52" name="Oval 51"/>
              <p:cNvSpPr/>
              <p:nvPr/>
            </p:nvSpPr>
            <p:spPr>
              <a:xfrm>
                <a:off x="7304684" y="2359152"/>
                <a:ext cx="173736" cy="173736"/>
              </a:xfrm>
              <a:prstGeom prst="ellipse">
                <a:avLst/>
              </a:prstGeom>
              <a:solidFill>
                <a:srgbClr val="1B1D21"/>
              </a:solidFill>
              <a:ln w="12700">
                <a:solidFill>
                  <a:srgbClr val="9AA0A6"/>
                </a:solidFill>
              </a:ln>
            </p:spPr>
            <p:txBody>
              <a:bodyPr rtlCol="0" anchor="ctr"/>
              <a:lstStyle/>
              <a:p>
                <a:pPr algn="ctr"/>
                <a:endParaRPr/>
              </a:p>
            </p:txBody>
          </p:sp>
          <p:sp>
            <p:nvSpPr>
              <p:cNvPr id="53" name="Rectangle 52"/>
              <p:cNvSpPr/>
              <p:nvPr/>
            </p:nvSpPr>
            <p:spPr>
              <a:xfrm>
                <a:off x="7521854" y="2315718"/>
                <a:ext cx="69494" cy="43434"/>
              </a:xfrm>
              <a:prstGeom prst="rect">
                <a:avLst/>
              </a:prstGeom>
              <a:solidFill>
                <a:srgbClr val="9AA0A6"/>
              </a:solidFill>
              <a:ln>
                <a:noFill/>
              </a:ln>
            </p:spPr>
            <p:txBody>
              <a:bodyPr rtlCol="0" anchor="ctr"/>
              <a:lstStyle/>
              <a:p>
                <a:pPr algn="ctr"/>
                <a:endParaRPr/>
              </a:p>
            </p:txBody>
          </p:sp>
          <p:sp>
            <p:nvSpPr>
              <p:cNvPr id="54" name="Rectangle 53"/>
              <p:cNvSpPr/>
              <p:nvPr/>
            </p:nvSpPr>
            <p:spPr>
              <a:xfrm>
                <a:off x="7591349" y="1968246"/>
                <a:ext cx="868680" cy="477774"/>
              </a:xfrm>
              <a:prstGeom prst="rect">
                <a:avLst/>
              </a:prstGeom>
              <a:solidFill>
                <a:srgbClr val="F28C28"/>
              </a:solidFill>
              <a:ln w="9525">
                <a:solidFill>
                  <a:srgbClr val="101418"/>
                </a:solidFill>
              </a:ln>
            </p:spPr>
            <p:txBody>
              <a:bodyPr rtlCol="0" anchor="ctr"/>
              <a:lstStyle/>
              <a:p>
                <a:pPr algn="ctr"/>
                <a:endParaRPr/>
              </a:p>
            </p:txBody>
          </p:sp>
          <p:sp>
            <p:nvSpPr>
              <p:cNvPr id="55" name="Bunker"/>
              <p:cNvSpPr/>
              <p:nvPr/>
            </p:nvSpPr>
            <p:spPr>
              <a:xfrm>
                <a:off x="7617409" y="1994306"/>
                <a:ext cx="225857" cy="173736"/>
              </a:xfrm>
              <a:prstGeom prst="rect">
                <a:avLst/>
              </a:prstGeom>
              <a:solidFill>
                <a:srgbClr val="1B1D21"/>
              </a:solidFill>
              <a:ln>
                <a:noFill/>
              </a:ln>
            </p:spPr>
            <p:txBody>
              <a:bodyPr rtlCol="0" anchor="ctr"/>
              <a:lstStyle/>
              <a:p>
                <a:pPr algn="ctr"/>
                <a:endParaRPr/>
              </a:p>
            </p:txBody>
          </p:sp>
          <p:sp>
            <p:nvSpPr>
              <p:cNvPr id="56" name="Rectangle 55"/>
              <p:cNvSpPr/>
              <p:nvPr/>
            </p:nvSpPr>
            <p:spPr>
              <a:xfrm>
                <a:off x="7886700" y="2029054"/>
                <a:ext cx="121615" cy="121615"/>
              </a:xfrm>
              <a:prstGeom prst="rect">
                <a:avLst/>
              </a:prstGeom>
              <a:solidFill>
                <a:srgbClr val="2B2F36"/>
              </a:solidFill>
              <a:ln>
                <a:noFill/>
              </a:ln>
            </p:spPr>
            <p:txBody>
              <a:bodyPr rtlCol="0" anchor="ctr"/>
              <a:lstStyle/>
              <a:p>
                <a:pPr algn="ctr"/>
                <a:endParaRPr/>
              </a:p>
            </p:txBody>
          </p:sp>
          <p:sp>
            <p:nvSpPr>
              <p:cNvPr id="57" name="Chimney"/>
              <p:cNvSpPr/>
              <p:nvPr/>
            </p:nvSpPr>
            <p:spPr>
              <a:xfrm>
                <a:off x="8268919" y="1725016"/>
                <a:ext cx="130302" cy="260604"/>
              </a:xfrm>
              <a:prstGeom prst="rect">
                <a:avLst/>
              </a:prstGeom>
              <a:solidFill>
                <a:srgbClr val="1B1D21"/>
              </a:solidFill>
              <a:ln>
                <a:noFill/>
              </a:ln>
            </p:spPr>
            <p:txBody>
              <a:bodyPr rtlCol="0" anchor="ctr"/>
              <a:lstStyle/>
              <a:p>
                <a:pPr algn="ctr"/>
                <a:endParaRPr/>
              </a:p>
            </p:txBody>
          </p:sp>
          <p:sp>
            <p:nvSpPr>
              <p:cNvPr id="58" name="Oval 57"/>
              <p:cNvSpPr/>
              <p:nvPr/>
            </p:nvSpPr>
            <p:spPr>
              <a:xfrm>
                <a:off x="7678217" y="2359152"/>
                <a:ext cx="173736" cy="173736"/>
              </a:xfrm>
              <a:prstGeom prst="ellipse">
                <a:avLst/>
              </a:prstGeom>
              <a:solidFill>
                <a:srgbClr val="1B1D21"/>
              </a:solidFill>
              <a:ln w="12700">
                <a:solidFill>
                  <a:srgbClr val="9AA0A6"/>
                </a:solidFill>
              </a:ln>
            </p:spPr>
            <p:txBody>
              <a:bodyPr rtlCol="0" anchor="ctr"/>
              <a:lstStyle/>
              <a:p>
                <a:pPr algn="ctr"/>
                <a:endParaRPr/>
              </a:p>
            </p:txBody>
          </p:sp>
          <p:sp>
            <p:nvSpPr>
              <p:cNvPr id="59" name="Oval 58"/>
              <p:cNvSpPr/>
              <p:nvPr/>
            </p:nvSpPr>
            <p:spPr>
              <a:xfrm>
                <a:off x="7938821" y="2359152"/>
                <a:ext cx="173736" cy="173736"/>
              </a:xfrm>
              <a:prstGeom prst="ellipse">
                <a:avLst/>
              </a:prstGeom>
              <a:solidFill>
                <a:srgbClr val="1B1D21"/>
              </a:solidFill>
              <a:ln w="12700">
                <a:solidFill>
                  <a:srgbClr val="9AA0A6"/>
                </a:solidFill>
              </a:ln>
            </p:spPr>
            <p:txBody>
              <a:bodyPr rtlCol="0" anchor="ctr"/>
              <a:lstStyle/>
              <a:p>
                <a:pPr algn="ctr"/>
                <a:endParaRPr/>
              </a:p>
            </p:txBody>
          </p:sp>
          <p:sp>
            <p:nvSpPr>
              <p:cNvPr id="60" name="Oval 59"/>
              <p:cNvSpPr/>
              <p:nvPr/>
            </p:nvSpPr>
            <p:spPr>
              <a:xfrm>
                <a:off x="8199425" y="2359152"/>
                <a:ext cx="173736" cy="173736"/>
              </a:xfrm>
              <a:prstGeom prst="ellipse">
                <a:avLst/>
              </a:prstGeom>
              <a:solidFill>
                <a:srgbClr val="1B1D21"/>
              </a:solidFill>
              <a:ln w="12700">
                <a:solidFill>
                  <a:srgbClr val="9AA0A6"/>
                </a:solidFill>
              </a:ln>
            </p:spPr>
            <p:txBody>
              <a:bodyPr rtlCol="0" anchor="ctr"/>
              <a:lstStyle/>
              <a:p>
                <a:pPr algn="ctr"/>
                <a:endParaRPr/>
              </a:p>
            </p:txBody>
          </p:sp>
        </p:grpSp>
        <p:sp>
          <p:nvSpPr>
            <p:cNvPr id="61" name="Rounded Rectangle 60"/>
            <p:cNvSpPr/>
            <p:nvPr/>
          </p:nvSpPr>
          <p:spPr>
            <a:xfrm>
              <a:off x="8942832" y="1911096"/>
              <a:ext cx="2697480" cy="2843784"/>
            </a:xfrm>
            <a:prstGeom prst="roundRect">
              <a:avLst>
                <a:gd name="adj" fmla="val 2033"/>
              </a:avLst>
            </a:prstGeom>
            <a:solidFill>
              <a:srgbClr val="2C3847"/>
            </a:solidFill>
            <a:ln w="25400">
              <a:solidFill>
                <a:srgbClr val="6CA0DC"/>
              </a:solidFill>
            </a:ln>
          </p:spPr>
          <p:txBody>
            <a:bodyPr rtlCol="0" anchor="ctr"/>
            <a:lstStyle/>
            <a:p>
              <a:pPr algn="ctr"/>
              <a:endParaRPr/>
            </a:p>
          </p:txBody>
        </p:sp>
        <p:sp>
          <p:nvSpPr>
            <p:cNvPr id="62" name="TextBox 61"/>
            <p:cNvSpPr txBox="1"/>
            <p:nvPr/>
          </p:nvSpPr>
          <p:spPr>
            <a:xfrm>
              <a:off x="9079992" y="1984248"/>
              <a:ext cx="2423160" cy="777240"/>
            </a:xfrm>
            <a:prstGeom prst="rect">
              <a:avLst/>
            </a:prstGeom>
            <a:noFill/>
          </p:spPr>
          <p:txBody>
            <a:bodyPr wrap="square" lIns="0" tIns="0" rIns="0" bIns="0" anchor="t">
              <a:noAutofit/>
            </a:bodyPr>
            <a:lstStyle/>
            <a:p>
              <a:pPr algn="l"/>
              <a:r>
                <a:rPr lang="en-GB" sz="2000" b="1" i="0">
                  <a:solidFill>
                    <a:srgbClr val="6CA0DC"/>
                  </a:solidFill>
                  <a:latin typeface="Arial"/>
                </a:rPr>
                <a:t>Tier 6</a:t>
              </a:r>
            </a:p>
            <a:p>
              <a:pPr algn="l"/>
              <a:r>
                <a:rPr lang="en-GB" sz="1600" b="0" i="0">
                  <a:solidFill>
                    <a:srgbClr val="F2F2F2"/>
                  </a:solidFill>
                  <a:latin typeface="Arial"/>
                </a:rPr>
                <a:t>Monorail: the game's electric trains</a:t>
              </a:r>
            </a:p>
          </p:txBody>
        </p:sp>
        <p:sp>
          <p:nvSpPr>
            <p:cNvPr id="63" name="Rounded Rectangle 62"/>
            <p:cNvSpPr/>
            <p:nvPr/>
          </p:nvSpPr>
          <p:spPr>
            <a:xfrm>
              <a:off x="9262872" y="1325880"/>
              <a:ext cx="932688" cy="438912"/>
            </a:xfrm>
            <a:prstGeom prst="roundRect">
              <a:avLst>
                <a:gd name="adj" fmla="val 25000"/>
              </a:avLst>
            </a:prstGeom>
            <a:solidFill>
              <a:srgbClr val="6CA0DC"/>
            </a:solidFill>
            <a:ln w="9525">
              <a:solidFill>
                <a:srgbClr val="101418"/>
              </a:solidFill>
            </a:ln>
          </p:spPr>
          <p:txBody>
            <a:bodyPr rtlCol="0" anchor="ctr"/>
            <a:lstStyle/>
            <a:p>
              <a:pPr algn="ctr"/>
              <a:endParaRPr/>
            </a:p>
          </p:txBody>
        </p:sp>
        <p:sp>
          <p:nvSpPr>
            <p:cNvPr id="64" name="Rectangle 63"/>
            <p:cNvSpPr/>
            <p:nvPr/>
          </p:nvSpPr>
          <p:spPr>
            <a:xfrm>
              <a:off x="9354312" y="1417320"/>
              <a:ext cx="749808" cy="128016"/>
            </a:xfrm>
            <a:prstGeom prst="rect">
              <a:avLst/>
            </a:prstGeom>
            <a:solidFill>
              <a:srgbClr val="2B2F36"/>
            </a:solidFill>
            <a:ln>
              <a:noFill/>
            </a:ln>
          </p:spPr>
          <p:txBody>
            <a:bodyPr rtlCol="0" anchor="ctr"/>
            <a:lstStyle/>
            <a:p>
              <a:pPr algn="ctr"/>
              <a:endParaRPr/>
            </a:p>
          </p:txBody>
        </p:sp>
        <p:sp>
          <p:nvSpPr>
            <p:cNvPr id="65" name="Rounded Rectangle 64"/>
            <p:cNvSpPr/>
            <p:nvPr/>
          </p:nvSpPr>
          <p:spPr>
            <a:xfrm>
              <a:off x="10268712" y="1325880"/>
              <a:ext cx="932688" cy="438912"/>
            </a:xfrm>
            <a:prstGeom prst="roundRect">
              <a:avLst>
                <a:gd name="adj" fmla="val 25000"/>
              </a:avLst>
            </a:prstGeom>
            <a:solidFill>
              <a:srgbClr val="6CA0DC"/>
            </a:solidFill>
            <a:ln w="9525">
              <a:solidFill>
                <a:srgbClr val="101418"/>
              </a:solidFill>
            </a:ln>
          </p:spPr>
          <p:txBody>
            <a:bodyPr rtlCol="0" anchor="ctr"/>
            <a:lstStyle/>
            <a:p>
              <a:pPr algn="ctr"/>
              <a:endParaRPr/>
            </a:p>
          </p:txBody>
        </p:sp>
        <p:sp>
          <p:nvSpPr>
            <p:cNvPr id="66" name="Rectangle 65"/>
            <p:cNvSpPr/>
            <p:nvPr/>
          </p:nvSpPr>
          <p:spPr>
            <a:xfrm>
              <a:off x="10360152" y="1417320"/>
              <a:ext cx="749808" cy="128016"/>
            </a:xfrm>
            <a:prstGeom prst="rect">
              <a:avLst/>
            </a:prstGeom>
            <a:solidFill>
              <a:srgbClr val="2B2F36"/>
            </a:solidFill>
            <a:ln>
              <a:noFill/>
            </a:ln>
          </p:spPr>
          <p:txBody>
            <a:bodyPr rtlCol="0" anchor="ctr"/>
            <a:lstStyle/>
            <a:p>
              <a:pPr algn="ctr"/>
              <a:endParaRPr/>
            </a:p>
          </p:txBody>
        </p:sp>
        <p:sp>
          <p:nvSpPr>
            <p:cNvPr id="67" name="Rectangle 66"/>
            <p:cNvSpPr/>
            <p:nvPr/>
          </p:nvSpPr>
          <p:spPr>
            <a:xfrm>
              <a:off x="9217152" y="1783080"/>
              <a:ext cx="2057400" cy="91440"/>
            </a:xfrm>
            <a:prstGeom prst="rect">
              <a:avLst/>
            </a:prstGeom>
            <a:solidFill>
              <a:srgbClr val="9AA0A6"/>
            </a:solidFill>
            <a:ln>
              <a:noFill/>
            </a:ln>
          </p:spPr>
          <p:txBody>
            <a:bodyPr rtlCol="0" anchor="ctr"/>
            <a:lstStyle/>
            <a:p>
              <a:pPr algn="ctr"/>
              <a:endParaRPr/>
            </a:p>
          </p:txBody>
        </p:sp>
      </p:grpSp>
      <p:sp>
        <p:nvSpPr>
          <p:cNvPr id="68" name="TextBox 67"/>
          <p:cNvSpPr txBox="1"/>
          <p:nvPr/>
        </p:nvSpPr>
        <p:spPr>
          <a:xfrm>
            <a:off x="548640" y="4919472"/>
            <a:ext cx="2926080" cy="329184"/>
          </a:xfrm>
          <a:prstGeom prst="rect">
            <a:avLst/>
          </a:prstGeom>
          <a:noFill/>
        </p:spPr>
        <p:txBody>
          <a:bodyPr wrap="square" lIns="0" tIns="0" rIns="0" bIns="0" anchor="ctr">
            <a:noAutofit/>
          </a:bodyPr>
          <a:lstStyle/>
          <a:p>
            <a:pPr algn="l"/>
            <a:r>
              <a:rPr lang="en-GB" sz="1600" b="0" i="0">
                <a:solidFill>
                  <a:srgbClr val="F2F2F2"/>
                </a:solidFill>
                <a:latin typeface="Arial"/>
              </a:rPr>
              <a:t>Tiers and prerequisites:</a:t>
            </a:r>
          </a:p>
        </p:txBody>
      </p:sp>
      <p:sp>
        <p:nvSpPr>
          <p:cNvPr id="69" name="Inline chip Provisional"/>
          <p:cNvSpPr/>
          <p:nvPr/>
        </p:nvSpPr>
        <p:spPr>
          <a:xfrm>
            <a:off x="2926080" y="4937760"/>
            <a:ext cx="1588135" cy="329184"/>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sp>
        <p:nvSpPr>
          <p:cNvPr id="70" name="Inline chip Undecided"/>
          <p:cNvSpPr/>
          <p:nvPr/>
        </p:nvSpPr>
        <p:spPr>
          <a:xfrm>
            <a:off x="4651375" y="4937760"/>
            <a:ext cx="20612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 (OQ01)</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Technology unlocks in tiers. The mod adds steam railways early, before the game's electric trains.</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THE GAME</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5</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500"/>
                                        <p:tgtEl>
                                          <p:spTgt spid="68"/>
                                        </p:tgtEl>
                                      </p:cBhvr>
                                    </p:animEffect>
                                  </p:childTnLst>
                                </p:cTn>
                              </p:par>
                              <p:par>
                                <p:cTn id="11" presetID="10" presetClass="entr" presetSubtype="0" fill="hold" nodeType="withEffect">
                                  <p:stCondLst>
                                    <p:cond delay="600"/>
                                  </p:stCondLst>
                                  <p:childTnLst>
                                    <p:set>
                                      <p:cBhvr>
                                        <p:cTn id="12" dur="1" fill="hold">
                                          <p:stCondLst>
                                            <p:cond delay="0"/>
                                          </p:stCondLst>
                                        </p:cTn>
                                        <p:tgtEl>
                                          <p:spTgt spid="69"/>
                                        </p:tgtEl>
                                        <p:attrNameLst>
                                          <p:attrName>style.visibility</p:attrName>
                                        </p:attrNameLst>
                                      </p:cBhvr>
                                      <p:to>
                                        <p:strVal val="visible"/>
                                      </p:to>
                                    </p:set>
                                    <p:animEffect transition="in" filter="fade">
                                      <p:cBhvr>
                                        <p:cTn id="13" dur="500"/>
                                        <p:tgtEl>
                                          <p:spTgt spid="69"/>
                                        </p:tgtEl>
                                      </p:cBhvr>
                                    </p:animEffect>
                                  </p:childTnLst>
                                </p:cTn>
                              </p:par>
                              <p:par>
                                <p:cTn id="14" presetID="10" presetClass="entr" presetSubtype="0" fill="hold" nodeType="withEffect">
                                  <p:stCondLst>
                                    <p:cond delay="900"/>
                                  </p:stCondLst>
                                  <p:childTnLst>
                                    <p:set>
                                      <p:cBhvr>
                                        <p:cTn id="15" dur="1" fill="hold">
                                          <p:stCondLst>
                                            <p:cond delay="0"/>
                                          </p:stCondLst>
                                        </p:cTn>
                                        <p:tgtEl>
                                          <p:spTgt spid="70"/>
                                        </p:tgtEl>
                                        <p:attrNameLst>
                                          <p:attrName>style.visibility</p:attrName>
                                        </p:attrNameLst>
                                      </p:cBhvr>
                                      <p:to>
                                        <p:strVal val="visible"/>
                                      </p:to>
                                    </p:set>
                                    <p:animEffect transition="in" filter="fade">
                                      <p:cBhvr>
                                        <p:cTn id="16" dur="500"/>
                                        <p:tgtEl>
                                          <p:spTgt spid="70"/>
                                        </p:tgtEl>
                                      </p:cBhvr>
                                    </p:animEffect>
                                  </p:childTnLst>
                                </p:cTn>
                              </p:par>
                              <p:par>
                                <p:cTn id="17" presetID="10" presetClass="entr" presetSubtype="0" fill="hold" nodeType="withEffect">
                                  <p:stCondLst>
                                    <p:cond delay="12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1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Track</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wrap="square" lIns="54864" tIns="18288" rIns="54864" bIns="18288" rtlCol="0" anchor="ctr">
            <a:noAutofit/>
          </a:bodyPr>
          <a:lstStyle/>
          <a:p>
            <a:pPr algn="ctr"/>
            <a:r>
              <a:rPr lang="en-GB" sz="1400" b="1" i="0">
                <a:solidFill>
                  <a:srgbClr val="F2F2F2"/>
                </a:solidFill>
                <a:latin typeface="Arial"/>
              </a:rPr>
              <a:t>BACKGROUND</a:t>
            </a:r>
          </a:p>
        </p:txBody>
      </p:sp>
      <p:pic>
        <p:nvPicPr>
          <p:cNvPr id="8" name="Picture P01" descr="Old-style chairs and clips holding rail to wooden sleepers on preserved track at Oxenhope."/>
          <p:cNvPicPr>
            <a:picLocks noChangeAspect="1"/>
          </p:cNvPicPr>
          <p:nvPr/>
        </p:nvPicPr>
        <p:blipFill>
          <a:blip r:embed="rId2"/>
          <a:srcRect t="794" b="794"/>
          <a:stretch>
            <a:fillRect/>
          </a:stretch>
        </p:blipFill>
        <p:spPr>
          <a:xfrm>
            <a:off x="548640" y="1463040"/>
            <a:ext cx="3840480" cy="2834640"/>
          </a:xfrm>
          <a:prstGeom prst="roundRect">
            <a:avLst>
              <a:gd name="adj" fmla="val 2581"/>
            </a:avLst>
          </a:prstGeom>
        </p:spPr>
      </p:pic>
      <p:sp>
        <p:nvSpPr>
          <p:cNvPr id="9" name="Credit"/>
          <p:cNvSpPr txBox="1"/>
          <p:nvPr/>
        </p:nvSpPr>
        <p:spPr>
          <a:xfrm>
            <a:off x="548640" y="4325112"/>
            <a:ext cx="3840480" cy="182880"/>
          </a:xfrm>
          <a:prstGeom prst="rect">
            <a:avLst/>
          </a:prstGeom>
          <a:noFill/>
        </p:spPr>
        <p:txBody>
          <a:bodyPr wrap="square" lIns="0" tIns="0" rIns="0" bIns="0" anchor="t">
            <a:noAutofit/>
          </a:bodyPr>
          <a:lstStyle/>
          <a:p>
            <a:pPr algn="l"/>
            <a:r>
              <a:rPr lang="en-GB" sz="1000" b="0" i="0">
                <a:solidFill>
                  <a:srgbClr val="A9B0B8"/>
                </a:solidFill>
                <a:latin typeface="Arial"/>
              </a:rPr>
              <a:t>Photo: Stephen Craven, CC BY-SA 2.0, Wikimedia Commons.</a:t>
            </a:r>
          </a:p>
        </p:txBody>
      </p:sp>
      <p:grpSp>
        <p:nvGrpSpPr>
          <p:cNvPr id="10" name="Track cross-section" descr="End-on cross-section of track: two rails on a sleeper, which sits on a bed of stone ballast. The gauge is the distance between the rails."/>
          <p:cNvGrpSpPr/>
          <p:nvPr/>
        </p:nvGrpSpPr>
        <p:grpSpPr>
          <a:xfrm>
            <a:off x="5486400" y="3017520"/>
            <a:ext cx="5029200" cy="1965960"/>
            <a:chOff x="5486400" y="3017520"/>
            <a:chExt cx="5029200" cy="1965960"/>
          </a:xfrm>
        </p:grpSpPr>
        <p:sp>
          <p:nvSpPr>
            <p:cNvPr id="11" name="Freeform 10"/>
            <p:cNvSpPr/>
            <p:nvPr/>
          </p:nvSpPr>
          <p:spPr>
            <a:xfrm>
              <a:off x="5486400" y="3977640"/>
              <a:ext cx="5029200" cy="1005840"/>
            </a:xfrm>
            <a:custGeom>
              <a:avLst/>
              <a:gdLst/>
              <a:ahLst/>
              <a:cxnLst/>
              <a:rect l="l" t="t" r="r" b="b"/>
              <a:pathLst>
                <a:path w="5029200" h="1005840">
                  <a:moveTo>
                    <a:pt x="0" y="1005840"/>
                  </a:moveTo>
                  <a:lnTo>
                    <a:pt x="5029200" y="1005840"/>
                  </a:lnTo>
                  <a:lnTo>
                    <a:pt x="4480560" y="0"/>
                  </a:lnTo>
                  <a:lnTo>
                    <a:pt x="548640" y="0"/>
                  </a:lnTo>
                  <a:close/>
                </a:path>
              </a:pathLst>
            </a:custGeom>
            <a:solidFill>
              <a:srgbClr val="7A7F86"/>
            </a:solidFill>
            <a:ln w="12700">
              <a:solidFill>
                <a:srgbClr val="9AA0A6"/>
              </a:solidFill>
            </a:ln>
          </p:spPr>
          <p:txBody>
            <a:bodyPr rtlCol="0" anchor="ctr"/>
            <a:lstStyle/>
            <a:p>
              <a:pPr algn="ctr"/>
              <a:endParaRPr/>
            </a:p>
          </p:txBody>
        </p:sp>
        <p:sp>
          <p:nvSpPr>
            <p:cNvPr id="12" name="Oval 11"/>
            <p:cNvSpPr/>
            <p:nvPr/>
          </p:nvSpPr>
          <p:spPr>
            <a:xfrm>
              <a:off x="6391490" y="4252636"/>
              <a:ext cx="120412" cy="69676"/>
            </a:xfrm>
            <a:prstGeom prst="ellipse">
              <a:avLst/>
            </a:prstGeom>
            <a:solidFill>
              <a:srgbClr val="5E636A"/>
            </a:solidFill>
            <a:ln>
              <a:noFill/>
            </a:ln>
          </p:spPr>
          <p:txBody>
            <a:bodyPr rtlCol="0" anchor="ctr"/>
            <a:lstStyle/>
            <a:p>
              <a:pPr algn="ctr"/>
              <a:endParaRPr/>
            </a:p>
          </p:txBody>
        </p:sp>
        <p:sp>
          <p:nvSpPr>
            <p:cNvPr id="13" name="Oval 12"/>
            <p:cNvSpPr/>
            <p:nvPr/>
          </p:nvSpPr>
          <p:spPr>
            <a:xfrm>
              <a:off x="7550814" y="4116814"/>
              <a:ext cx="158590" cy="93285"/>
            </a:xfrm>
            <a:prstGeom prst="ellipse">
              <a:avLst/>
            </a:prstGeom>
            <a:solidFill>
              <a:srgbClr val="5E636A"/>
            </a:solidFill>
            <a:ln>
              <a:noFill/>
            </a:ln>
          </p:spPr>
          <p:txBody>
            <a:bodyPr rtlCol="0" anchor="ctr"/>
            <a:lstStyle/>
            <a:p>
              <a:pPr algn="ctr"/>
              <a:endParaRPr/>
            </a:p>
          </p:txBody>
        </p:sp>
        <p:sp>
          <p:nvSpPr>
            <p:cNvPr id="14" name="Oval 13"/>
            <p:cNvSpPr/>
            <p:nvPr/>
          </p:nvSpPr>
          <p:spPr>
            <a:xfrm>
              <a:off x="6732599" y="4637468"/>
              <a:ext cx="130699" cy="74128"/>
            </a:xfrm>
            <a:prstGeom prst="ellipse">
              <a:avLst/>
            </a:prstGeom>
            <a:solidFill>
              <a:srgbClr val="5E636A"/>
            </a:solidFill>
            <a:ln>
              <a:noFill/>
            </a:ln>
          </p:spPr>
          <p:txBody>
            <a:bodyPr rtlCol="0" anchor="ctr"/>
            <a:lstStyle/>
            <a:p>
              <a:pPr algn="ctr"/>
              <a:endParaRPr/>
            </a:p>
          </p:txBody>
        </p:sp>
        <p:sp>
          <p:nvSpPr>
            <p:cNvPr id="15" name="Oval 14"/>
            <p:cNvSpPr/>
            <p:nvPr/>
          </p:nvSpPr>
          <p:spPr>
            <a:xfrm>
              <a:off x="6429834" y="4192142"/>
              <a:ext cx="107124" cy="97931"/>
            </a:xfrm>
            <a:prstGeom prst="ellipse">
              <a:avLst/>
            </a:prstGeom>
            <a:solidFill>
              <a:srgbClr val="5E636A"/>
            </a:solidFill>
            <a:ln>
              <a:noFill/>
            </a:ln>
          </p:spPr>
          <p:txBody>
            <a:bodyPr rtlCol="0" anchor="ctr"/>
            <a:lstStyle/>
            <a:p>
              <a:pPr algn="ctr"/>
              <a:endParaRPr/>
            </a:p>
          </p:txBody>
        </p:sp>
        <p:sp>
          <p:nvSpPr>
            <p:cNvPr id="16" name="Oval 15"/>
            <p:cNvSpPr/>
            <p:nvPr/>
          </p:nvSpPr>
          <p:spPr>
            <a:xfrm>
              <a:off x="9268308" y="4685630"/>
              <a:ext cx="149994" cy="71083"/>
            </a:xfrm>
            <a:prstGeom prst="ellipse">
              <a:avLst/>
            </a:prstGeom>
            <a:solidFill>
              <a:srgbClr val="5E636A"/>
            </a:solidFill>
            <a:ln>
              <a:noFill/>
            </a:ln>
          </p:spPr>
          <p:txBody>
            <a:bodyPr rtlCol="0" anchor="ctr"/>
            <a:lstStyle/>
            <a:p>
              <a:pPr algn="ctr"/>
              <a:endParaRPr/>
            </a:p>
          </p:txBody>
        </p:sp>
        <p:sp>
          <p:nvSpPr>
            <p:cNvPr id="17" name="Oval 16"/>
            <p:cNvSpPr/>
            <p:nvPr/>
          </p:nvSpPr>
          <p:spPr>
            <a:xfrm>
              <a:off x="8431722" y="4293828"/>
              <a:ext cx="144980" cy="95268"/>
            </a:xfrm>
            <a:prstGeom prst="ellipse">
              <a:avLst/>
            </a:prstGeom>
            <a:solidFill>
              <a:srgbClr val="5E636A"/>
            </a:solidFill>
            <a:ln>
              <a:noFill/>
            </a:ln>
          </p:spPr>
          <p:txBody>
            <a:bodyPr rtlCol="0" anchor="ctr"/>
            <a:lstStyle/>
            <a:p>
              <a:pPr algn="ctr"/>
              <a:endParaRPr/>
            </a:p>
          </p:txBody>
        </p:sp>
        <p:sp>
          <p:nvSpPr>
            <p:cNvPr id="18" name="Oval 17"/>
            <p:cNvSpPr/>
            <p:nvPr/>
          </p:nvSpPr>
          <p:spPr>
            <a:xfrm>
              <a:off x="6107205" y="4714287"/>
              <a:ext cx="135759" cy="88576"/>
            </a:xfrm>
            <a:prstGeom prst="ellipse">
              <a:avLst/>
            </a:prstGeom>
            <a:solidFill>
              <a:srgbClr val="5E636A"/>
            </a:solidFill>
            <a:ln>
              <a:noFill/>
            </a:ln>
          </p:spPr>
          <p:txBody>
            <a:bodyPr rtlCol="0" anchor="ctr"/>
            <a:lstStyle/>
            <a:p>
              <a:pPr algn="ctr"/>
              <a:endParaRPr/>
            </a:p>
          </p:txBody>
        </p:sp>
        <p:sp>
          <p:nvSpPr>
            <p:cNvPr id="19" name="Oval 18"/>
            <p:cNvSpPr/>
            <p:nvPr/>
          </p:nvSpPr>
          <p:spPr>
            <a:xfrm>
              <a:off x="6610598" y="4451277"/>
              <a:ext cx="126084" cy="67276"/>
            </a:xfrm>
            <a:prstGeom prst="ellipse">
              <a:avLst/>
            </a:prstGeom>
            <a:solidFill>
              <a:srgbClr val="5E636A"/>
            </a:solidFill>
            <a:ln>
              <a:noFill/>
            </a:ln>
          </p:spPr>
          <p:txBody>
            <a:bodyPr rtlCol="0" anchor="ctr"/>
            <a:lstStyle/>
            <a:p>
              <a:pPr algn="ctr"/>
              <a:endParaRPr/>
            </a:p>
          </p:txBody>
        </p:sp>
        <p:sp>
          <p:nvSpPr>
            <p:cNvPr id="20" name="Oval 19"/>
            <p:cNvSpPr/>
            <p:nvPr/>
          </p:nvSpPr>
          <p:spPr>
            <a:xfrm>
              <a:off x="9565898" y="4760975"/>
              <a:ext cx="131501" cy="74990"/>
            </a:xfrm>
            <a:prstGeom prst="ellipse">
              <a:avLst/>
            </a:prstGeom>
            <a:solidFill>
              <a:srgbClr val="5E636A"/>
            </a:solidFill>
            <a:ln>
              <a:noFill/>
            </a:ln>
          </p:spPr>
          <p:txBody>
            <a:bodyPr rtlCol="0" anchor="ctr"/>
            <a:lstStyle/>
            <a:p>
              <a:pPr algn="ctr"/>
              <a:endParaRPr/>
            </a:p>
          </p:txBody>
        </p:sp>
        <p:sp>
          <p:nvSpPr>
            <p:cNvPr id="21" name="Oval 20"/>
            <p:cNvSpPr/>
            <p:nvPr/>
          </p:nvSpPr>
          <p:spPr>
            <a:xfrm>
              <a:off x="8244396" y="4732144"/>
              <a:ext cx="155983" cy="95026"/>
            </a:xfrm>
            <a:prstGeom prst="ellipse">
              <a:avLst/>
            </a:prstGeom>
            <a:solidFill>
              <a:srgbClr val="5E636A"/>
            </a:solidFill>
            <a:ln>
              <a:noFill/>
            </a:ln>
          </p:spPr>
          <p:txBody>
            <a:bodyPr rtlCol="0" anchor="ctr"/>
            <a:lstStyle/>
            <a:p>
              <a:pPr algn="ctr"/>
              <a:endParaRPr/>
            </a:p>
          </p:txBody>
        </p:sp>
        <p:sp>
          <p:nvSpPr>
            <p:cNvPr id="22" name="Oval 21"/>
            <p:cNvSpPr/>
            <p:nvPr/>
          </p:nvSpPr>
          <p:spPr>
            <a:xfrm>
              <a:off x="7578704" y="4446798"/>
              <a:ext cx="135252" cy="79774"/>
            </a:xfrm>
            <a:prstGeom prst="ellipse">
              <a:avLst/>
            </a:prstGeom>
            <a:solidFill>
              <a:srgbClr val="5E636A"/>
            </a:solidFill>
            <a:ln>
              <a:noFill/>
            </a:ln>
          </p:spPr>
          <p:txBody>
            <a:bodyPr rtlCol="0" anchor="ctr"/>
            <a:lstStyle/>
            <a:p>
              <a:pPr algn="ctr"/>
              <a:endParaRPr/>
            </a:p>
          </p:txBody>
        </p:sp>
        <p:sp>
          <p:nvSpPr>
            <p:cNvPr id="23" name="Oval 22"/>
            <p:cNvSpPr/>
            <p:nvPr/>
          </p:nvSpPr>
          <p:spPr>
            <a:xfrm>
              <a:off x="7176305" y="4200015"/>
              <a:ext cx="150883" cy="65589"/>
            </a:xfrm>
            <a:prstGeom prst="ellipse">
              <a:avLst/>
            </a:prstGeom>
            <a:solidFill>
              <a:srgbClr val="5E636A"/>
            </a:solidFill>
            <a:ln>
              <a:noFill/>
            </a:ln>
          </p:spPr>
          <p:txBody>
            <a:bodyPr rtlCol="0" anchor="ctr"/>
            <a:lstStyle/>
            <a:p>
              <a:pPr algn="ctr"/>
              <a:endParaRPr/>
            </a:p>
          </p:txBody>
        </p:sp>
        <p:sp>
          <p:nvSpPr>
            <p:cNvPr id="24" name="Oval 23"/>
            <p:cNvSpPr/>
            <p:nvPr/>
          </p:nvSpPr>
          <p:spPr>
            <a:xfrm>
              <a:off x="8419186" y="4106904"/>
              <a:ext cx="111954" cy="83562"/>
            </a:xfrm>
            <a:prstGeom prst="ellipse">
              <a:avLst/>
            </a:prstGeom>
            <a:solidFill>
              <a:srgbClr val="5E636A"/>
            </a:solidFill>
            <a:ln>
              <a:noFill/>
            </a:ln>
          </p:spPr>
          <p:txBody>
            <a:bodyPr rtlCol="0" anchor="ctr"/>
            <a:lstStyle/>
            <a:p>
              <a:pPr algn="ctr"/>
              <a:endParaRPr/>
            </a:p>
          </p:txBody>
        </p:sp>
        <p:sp>
          <p:nvSpPr>
            <p:cNvPr id="25" name="Oval 24"/>
            <p:cNvSpPr/>
            <p:nvPr/>
          </p:nvSpPr>
          <p:spPr>
            <a:xfrm>
              <a:off x="7275742" y="4423941"/>
              <a:ext cx="164393" cy="71161"/>
            </a:xfrm>
            <a:prstGeom prst="ellipse">
              <a:avLst/>
            </a:prstGeom>
            <a:solidFill>
              <a:srgbClr val="5E636A"/>
            </a:solidFill>
            <a:ln>
              <a:noFill/>
            </a:ln>
          </p:spPr>
          <p:txBody>
            <a:bodyPr rtlCol="0" anchor="ctr"/>
            <a:lstStyle/>
            <a:p>
              <a:pPr algn="ctr"/>
              <a:endParaRPr/>
            </a:p>
          </p:txBody>
        </p:sp>
        <p:sp>
          <p:nvSpPr>
            <p:cNvPr id="26" name="Oval 25"/>
            <p:cNvSpPr/>
            <p:nvPr/>
          </p:nvSpPr>
          <p:spPr>
            <a:xfrm>
              <a:off x="6729380" y="4379710"/>
              <a:ext cx="137721" cy="74114"/>
            </a:xfrm>
            <a:prstGeom prst="ellipse">
              <a:avLst/>
            </a:prstGeom>
            <a:solidFill>
              <a:srgbClr val="5E636A"/>
            </a:solidFill>
            <a:ln>
              <a:noFill/>
            </a:ln>
          </p:spPr>
          <p:txBody>
            <a:bodyPr rtlCol="0" anchor="ctr"/>
            <a:lstStyle/>
            <a:p>
              <a:pPr algn="ctr"/>
              <a:endParaRPr/>
            </a:p>
          </p:txBody>
        </p:sp>
        <p:sp>
          <p:nvSpPr>
            <p:cNvPr id="27" name="Oval 26"/>
            <p:cNvSpPr/>
            <p:nvPr/>
          </p:nvSpPr>
          <p:spPr>
            <a:xfrm>
              <a:off x="8931260" y="4332879"/>
              <a:ext cx="114898" cy="84437"/>
            </a:xfrm>
            <a:prstGeom prst="ellipse">
              <a:avLst/>
            </a:prstGeom>
            <a:solidFill>
              <a:srgbClr val="5E636A"/>
            </a:solidFill>
            <a:ln>
              <a:noFill/>
            </a:ln>
          </p:spPr>
          <p:txBody>
            <a:bodyPr rtlCol="0" anchor="ctr"/>
            <a:lstStyle/>
            <a:p>
              <a:pPr algn="ctr"/>
              <a:endParaRPr/>
            </a:p>
          </p:txBody>
        </p:sp>
        <p:sp>
          <p:nvSpPr>
            <p:cNvPr id="28" name="Oval 27"/>
            <p:cNvSpPr/>
            <p:nvPr/>
          </p:nvSpPr>
          <p:spPr>
            <a:xfrm>
              <a:off x="6182392" y="4740135"/>
              <a:ext cx="95947" cy="72379"/>
            </a:xfrm>
            <a:prstGeom prst="ellipse">
              <a:avLst/>
            </a:prstGeom>
            <a:solidFill>
              <a:srgbClr val="5E636A"/>
            </a:solidFill>
            <a:ln>
              <a:noFill/>
            </a:ln>
          </p:spPr>
          <p:txBody>
            <a:bodyPr rtlCol="0" anchor="ctr"/>
            <a:lstStyle/>
            <a:p>
              <a:pPr algn="ctr"/>
              <a:endParaRPr/>
            </a:p>
          </p:txBody>
        </p:sp>
        <p:sp>
          <p:nvSpPr>
            <p:cNvPr id="29" name="Oval 28"/>
            <p:cNvSpPr/>
            <p:nvPr/>
          </p:nvSpPr>
          <p:spPr>
            <a:xfrm>
              <a:off x="8446002" y="4636473"/>
              <a:ext cx="108808" cy="76117"/>
            </a:xfrm>
            <a:prstGeom prst="ellipse">
              <a:avLst/>
            </a:prstGeom>
            <a:solidFill>
              <a:srgbClr val="5E636A"/>
            </a:solidFill>
            <a:ln>
              <a:noFill/>
            </a:ln>
          </p:spPr>
          <p:txBody>
            <a:bodyPr rtlCol="0" anchor="ctr"/>
            <a:lstStyle/>
            <a:p>
              <a:pPr algn="ctr"/>
              <a:endParaRPr/>
            </a:p>
          </p:txBody>
        </p:sp>
        <p:sp>
          <p:nvSpPr>
            <p:cNvPr id="30" name="Oval 29"/>
            <p:cNvSpPr/>
            <p:nvPr/>
          </p:nvSpPr>
          <p:spPr>
            <a:xfrm>
              <a:off x="7795630" y="4199918"/>
              <a:ext cx="94572" cy="89512"/>
            </a:xfrm>
            <a:prstGeom prst="ellipse">
              <a:avLst/>
            </a:prstGeom>
            <a:solidFill>
              <a:srgbClr val="5E636A"/>
            </a:solidFill>
            <a:ln>
              <a:noFill/>
            </a:ln>
          </p:spPr>
          <p:txBody>
            <a:bodyPr rtlCol="0" anchor="ctr"/>
            <a:lstStyle/>
            <a:p>
              <a:pPr algn="ctr"/>
              <a:endParaRPr/>
            </a:p>
          </p:txBody>
        </p:sp>
        <p:sp>
          <p:nvSpPr>
            <p:cNvPr id="31" name="Oval 30"/>
            <p:cNvSpPr/>
            <p:nvPr/>
          </p:nvSpPr>
          <p:spPr>
            <a:xfrm>
              <a:off x="9943234" y="4720631"/>
              <a:ext cx="145198" cy="99116"/>
            </a:xfrm>
            <a:prstGeom prst="ellipse">
              <a:avLst/>
            </a:prstGeom>
            <a:solidFill>
              <a:srgbClr val="5E636A"/>
            </a:solidFill>
            <a:ln>
              <a:noFill/>
            </a:ln>
          </p:spPr>
          <p:txBody>
            <a:bodyPr rtlCol="0" anchor="ctr"/>
            <a:lstStyle/>
            <a:p>
              <a:pPr algn="ctr"/>
              <a:endParaRPr/>
            </a:p>
          </p:txBody>
        </p:sp>
        <p:sp>
          <p:nvSpPr>
            <p:cNvPr id="32" name="Oval 31"/>
            <p:cNvSpPr/>
            <p:nvPr/>
          </p:nvSpPr>
          <p:spPr>
            <a:xfrm>
              <a:off x="7132840" y="4081923"/>
              <a:ext cx="162105" cy="92363"/>
            </a:xfrm>
            <a:prstGeom prst="ellipse">
              <a:avLst/>
            </a:prstGeom>
            <a:solidFill>
              <a:srgbClr val="5E636A"/>
            </a:solidFill>
            <a:ln>
              <a:noFill/>
            </a:ln>
          </p:spPr>
          <p:txBody>
            <a:bodyPr rtlCol="0" anchor="ctr"/>
            <a:lstStyle/>
            <a:p>
              <a:pPr algn="ctr"/>
              <a:endParaRPr/>
            </a:p>
          </p:txBody>
        </p:sp>
        <p:sp>
          <p:nvSpPr>
            <p:cNvPr id="33" name="Oval 32"/>
            <p:cNvSpPr/>
            <p:nvPr/>
          </p:nvSpPr>
          <p:spPr>
            <a:xfrm>
              <a:off x="9725022" y="4368074"/>
              <a:ext cx="136832" cy="93925"/>
            </a:xfrm>
            <a:prstGeom prst="ellipse">
              <a:avLst/>
            </a:prstGeom>
            <a:solidFill>
              <a:srgbClr val="5E636A"/>
            </a:solidFill>
            <a:ln>
              <a:noFill/>
            </a:ln>
          </p:spPr>
          <p:txBody>
            <a:bodyPr rtlCol="0" anchor="ctr"/>
            <a:lstStyle/>
            <a:p>
              <a:pPr algn="ctr"/>
              <a:endParaRPr/>
            </a:p>
          </p:txBody>
        </p:sp>
        <p:sp>
          <p:nvSpPr>
            <p:cNvPr id="34" name="Oval 33"/>
            <p:cNvSpPr/>
            <p:nvPr/>
          </p:nvSpPr>
          <p:spPr>
            <a:xfrm>
              <a:off x="6720145" y="4294936"/>
              <a:ext cx="123930" cy="68998"/>
            </a:xfrm>
            <a:prstGeom prst="ellipse">
              <a:avLst/>
            </a:prstGeom>
            <a:solidFill>
              <a:srgbClr val="5E636A"/>
            </a:solidFill>
            <a:ln>
              <a:noFill/>
            </a:ln>
          </p:spPr>
          <p:txBody>
            <a:bodyPr rtlCol="0" anchor="ctr"/>
            <a:lstStyle/>
            <a:p>
              <a:pPr algn="ctr"/>
              <a:endParaRPr/>
            </a:p>
          </p:txBody>
        </p:sp>
        <p:sp>
          <p:nvSpPr>
            <p:cNvPr id="35" name="Oval 34"/>
            <p:cNvSpPr/>
            <p:nvPr/>
          </p:nvSpPr>
          <p:spPr>
            <a:xfrm>
              <a:off x="9799811" y="4361798"/>
              <a:ext cx="115676" cy="64352"/>
            </a:xfrm>
            <a:prstGeom prst="ellipse">
              <a:avLst/>
            </a:prstGeom>
            <a:solidFill>
              <a:srgbClr val="5E636A"/>
            </a:solidFill>
            <a:ln>
              <a:noFill/>
            </a:ln>
          </p:spPr>
          <p:txBody>
            <a:bodyPr rtlCol="0" anchor="ctr"/>
            <a:lstStyle/>
            <a:p>
              <a:pPr algn="ctr"/>
              <a:endParaRPr/>
            </a:p>
          </p:txBody>
        </p:sp>
        <p:sp>
          <p:nvSpPr>
            <p:cNvPr id="36" name="Oval 35"/>
            <p:cNvSpPr/>
            <p:nvPr/>
          </p:nvSpPr>
          <p:spPr>
            <a:xfrm>
              <a:off x="6686982" y="4108933"/>
              <a:ext cx="148773" cy="77275"/>
            </a:xfrm>
            <a:prstGeom prst="ellipse">
              <a:avLst/>
            </a:prstGeom>
            <a:solidFill>
              <a:srgbClr val="5E636A"/>
            </a:solidFill>
            <a:ln>
              <a:noFill/>
            </a:ln>
          </p:spPr>
          <p:txBody>
            <a:bodyPr rtlCol="0" anchor="ctr"/>
            <a:lstStyle/>
            <a:p>
              <a:pPr algn="ctr"/>
              <a:endParaRPr/>
            </a:p>
          </p:txBody>
        </p:sp>
        <p:sp>
          <p:nvSpPr>
            <p:cNvPr id="37" name="Oval 36"/>
            <p:cNvSpPr/>
            <p:nvPr/>
          </p:nvSpPr>
          <p:spPr>
            <a:xfrm>
              <a:off x="6328940" y="4287428"/>
              <a:ext cx="163257" cy="79514"/>
            </a:xfrm>
            <a:prstGeom prst="ellipse">
              <a:avLst/>
            </a:prstGeom>
            <a:solidFill>
              <a:srgbClr val="5E636A"/>
            </a:solidFill>
            <a:ln>
              <a:noFill/>
            </a:ln>
          </p:spPr>
          <p:txBody>
            <a:bodyPr rtlCol="0" anchor="ctr"/>
            <a:lstStyle/>
            <a:p>
              <a:pPr algn="ctr"/>
              <a:endParaRPr/>
            </a:p>
          </p:txBody>
        </p:sp>
        <p:sp>
          <p:nvSpPr>
            <p:cNvPr id="38" name="Rectangle 37"/>
            <p:cNvSpPr/>
            <p:nvPr/>
          </p:nvSpPr>
          <p:spPr>
            <a:xfrm>
              <a:off x="6172200" y="3675888"/>
              <a:ext cx="3657600" cy="329184"/>
            </a:xfrm>
            <a:prstGeom prst="rect">
              <a:avLst/>
            </a:prstGeom>
            <a:solidFill>
              <a:srgbClr val="6B5B4B"/>
            </a:solidFill>
            <a:ln w="12700">
              <a:solidFill>
                <a:srgbClr val="4E4236"/>
              </a:solidFill>
            </a:ln>
          </p:spPr>
          <p:txBody>
            <a:bodyPr rtlCol="0" anchor="ctr"/>
            <a:lstStyle/>
            <a:p>
              <a:pPr algn="ctr"/>
              <a:endParaRPr/>
            </a:p>
          </p:txBody>
        </p:sp>
        <p:sp>
          <p:nvSpPr>
            <p:cNvPr id="39" name="Freeform 38"/>
            <p:cNvSpPr/>
            <p:nvPr/>
          </p:nvSpPr>
          <p:spPr>
            <a:xfrm>
              <a:off x="6702552" y="3218688"/>
              <a:ext cx="493776" cy="457200"/>
            </a:xfrm>
            <a:custGeom>
              <a:avLst/>
              <a:gdLst/>
              <a:ahLst/>
              <a:cxnLst/>
              <a:rect l="l" t="t" r="r" b="b"/>
              <a:pathLst>
                <a:path w="493776" h="457200">
                  <a:moveTo>
                    <a:pt x="64008" y="0"/>
                  </a:moveTo>
                  <a:lnTo>
                    <a:pt x="429768" y="0"/>
                  </a:lnTo>
                  <a:lnTo>
                    <a:pt x="429768" y="146304"/>
                  </a:lnTo>
                  <a:lnTo>
                    <a:pt x="310896" y="146304"/>
                  </a:lnTo>
                  <a:lnTo>
                    <a:pt x="310896" y="384048"/>
                  </a:lnTo>
                  <a:lnTo>
                    <a:pt x="493776" y="384048"/>
                  </a:lnTo>
                  <a:lnTo>
                    <a:pt x="493776" y="457200"/>
                  </a:lnTo>
                  <a:lnTo>
                    <a:pt x="0" y="457200"/>
                  </a:lnTo>
                  <a:lnTo>
                    <a:pt x="0" y="384048"/>
                  </a:lnTo>
                  <a:lnTo>
                    <a:pt x="182880" y="384048"/>
                  </a:lnTo>
                  <a:lnTo>
                    <a:pt x="182880" y="146304"/>
                  </a:lnTo>
                  <a:lnTo>
                    <a:pt x="64008" y="146304"/>
                  </a:lnTo>
                  <a:close/>
                </a:path>
              </a:pathLst>
            </a:custGeom>
            <a:solidFill>
              <a:srgbClr val="9AA0A6"/>
            </a:solidFill>
            <a:ln w="9525">
              <a:solidFill>
                <a:srgbClr val="101418"/>
              </a:solidFill>
            </a:ln>
          </p:spPr>
          <p:txBody>
            <a:bodyPr rtlCol="0" anchor="ctr"/>
            <a:lstStyle/>
            <a:p>
              <a:pPr algn="ctr"/>
              <a:endParaRPr/>
            </a:p>
          </p:txBody>
        </p:sp>
        <p:sp>
          <p:nvSpPr>
            <p:cNvPr id="40" name="Freeform 39"/>
            <p:cNvSpPr/>
            <p:nvPr/>
          </p:nvSpPr>
          <p:spPr>
            <a:xfrm>
              <a:off x="8805672" y="3218688"/>
              <a:ext cx="493776" cy="457200"/>
            </a:xfrm>
            <a:custGeom>
              <a:avLst/>
              <a:gdLst/>
              <a:ahLst/>
              <a:cxnLst/>
              <a:rect l="l" t="t" r="r" b="b"/>
              <a:pathLst>
                <a:path w="493776" h="457200">
                  <a:moveTo>
                    <a:pt x="64008" y="0"/>
                  </a:moveTo>
                  <a:lnTo>
                    <a:pt x="429768" y="0"/>
                  </a:lnTo>
                  <a:lnTo>
                    <a:pt x="429768" y="146304"/>
                  </a:lnTo>
                  <a:lnTo>
                    <a:pt x="310896" y="146304"/>
                  </a:lnTo>
                  <a:lnTo>
                    <a:pt x="310896" y="384048"/>
                  </a:lnTo>
                  <a:lnTo>
                    <a:pt x="493776" y="384048"/>
                  </a:lnTo>
                  <a:lnTo>
                    <a:pt x="493776" y="457200"/>
                  </a:lnTo>
                  <a:lnTo>
                    <a:pt x="0" y="457200"/>
                  </a:lnTo>
                  <a:lnTo>
                    <a:pt x="0" y="384048"/>
                  </a:lnTo>
                  <a:lnTo>
                    <a:pt x="182880" y="384048"/>
                  </a:lnTo>
                  <a:lnTo>
                    <a:pt x="182880" y="146304"/>
                  </a:lnTo>
                  <a:lnTo>
                    <a:pt x="64008" y="146304"/>
                  </a:lnTo>
                  <a:close/>
                </a:path>
              </a:pathLst>
            </a:custGeom>
            <a:solidFill>
              <a:srgbClr val="9AA0A6"/>
            </a:solidFill>
            <a:ln w="9525">
              <a:solidFill>
                <a:srgbClr val="101418"/>
              </a:solidFill>
            </a:ln>
          </p:spPr>
          <p:txBody>
            <a:bodyPr rtlCol="0" anchor="ctr"/>
            <a:lstStyle/>
            <a:p>
              <a:pPr algn="ctr"/>
              <a:endParaRPr/>
            </a:p>
          </p:txBody>
        </p:sp>
        <p:cxnSp>
          <p:nvCxnSpPr>
            <p:cNvPr id="41" name="Connector 40"/>
            <p:cNvCxnSpPr/>
            <p:nvPr/>
          </p:nvCxnSpPr>
          <p:spPr>
            <a:xfrm>
              <a:off x="7132320" y="3017520"/>
              <a:ext cx="1737360" cy="0"/>
            </a:xfrm>
            <a:prstGeom prst="line">
              <a:avLst/>
            </a:prstGeom>
            <a:ln w="28575">
              <a:solidFill>
                <a:srgbClr val="F28C28"/>
              </a:solidFill>
              <a:headEnd type="triangle" w="med" len="med"/>
              <a:tailEnd type="triangle" w="med" len="med"/>
            </a:ln>
          </p:spPr>
        </p:cxnSp>
      </p:grpSp>
      <p:sp>
        <p:nvSpPr>
          <p:cNvPr id="42" name="TextBox 41"/>
          <p:cNvSpPr txBox="1"/>
          <p:nvPr/>
        </p:nvSpPr>
        <p:spPr>
          <a:xfrm>
            <a:off x="5623560" y="2331720"/>
            <a:ext cx="4754880" cy="548640"/>
          </a:xfrm>
          <a:prstGeom prst="rect">
            <a:avLst/>
          </a:prstGeom>
          <a:noFill/>
        </p:spPr>
        <p:txBody>
          <a:bodyPr wrap="square" lIns="0" tIns="0" rIns="0" bIns="0" anchor="b">
            <a:noAutofit/>
          </a:bodyPr>
          <a:lstStyle/>
          <a:p>
            <a:pPr algn="ctr"/>
            <a:r>
              <a:rPr lang="en-GB" sz="1800" b="1" i="0">
                <a:solidFill>
                  <a:srgbClr val="F2F2F2"/>
                </a:solidFill>
                <a:latin typeface="Arial"/>
              </a:rPr>
              <a:t>Gauge:</a:t>
            </a:r>
            <a:r>
              <a:rPr lang="en-GB" sz="1800" b="0" i="0">
                <a:solidFill>
                  <a:srgbClr val="F2F2F2"/>
                </a:solidFill>
                <a:latin typeface="Arial"/>
              </a:rPr>
              <a:t> 1,435 mm on most railways</a:t>
            </a:r>
          </a:p>
        </p:txBody>
      </p:sp>
      <p:grpSp>
        <p:nvGrpSpPr>
          <p:cNvPr id="43" name="Label Rail" descr="Label: Rail"/>
          <p:cNvGrpSpPr/>
          <p:nvPr/>
        </p:nvGrpSpPr>
        <p:grpSpPr>
          <a:xfrm>
            <a:off x="9326880" y="3108960"/>
            <a:ext cx="2350008" cy="365760"/>
            <a:chOff x="9326880" y="3108960"/>
            <a:chExt cx="2350008" cy="365760"/>
          </a:xfrm>
        </p:grpSpPr>
        <p:cxnSp>
          <p:nvCxnSpPr>
            <p:cNvPr id="44" name="Connector 43"/>
            <p:cNvCxnSpPr/>
            <p:nvPr/>
          </p:nvCxnSpPr>
          <p:spPr>
            <a:xfrm>
              <a:off x="9326880" y="3291840"/>
              <a:ext cx="1417320" cy="0"/>
            </a:xfrm>
            <a:prstGeom prst="line">
              <a:avLst/>
            </a:prstGeom>
            <a:ln w="19050">
              <a:solidFill>
                <a:srgbClr val="F28C28"/>
              </a:solidFill>
            </a:ln>
          </p:spPr>
        </p:cxnSp>
        <p:sp>
          <p:nvSpPr>
            <p:cNvPr id="45" name="TextBox 44"/>
            <p:cNvSpPr txBox="1"/>
            <p:nvPr/>
          </p:nvSpPr>
          <p:spPr>
            <a:xfrm>
              <a:off x="10808208" y="3108960"/>
              <a:ext cx="868680" cy="365760"/>
            </a:xfrm>
            <a:prstGeom prst="rect">
              <a:avLst/>
            </a:prstGeom>
            <a:noFill/>
          </p:spPr>
          <p:txBody>
            <a:bodyPr wrap="square" lIns="0" tIns="0" rIns="0" bIns="0" anchor="ctr">
              <a:noAutofit/>
            </a:bodyPr>
            <a:lstStyle/>
            <a:p>
              <a:pPr algn="l"/>
              <a:r>
                <a:rPr lang="en-GB" sz="1800" b="0" i="0">
                  <a:solidFill>
                    <a:srgbClr val="F2F2F2"/>
                  </a:solidFill>
                  <a:latin typeface="Arial"/>
                </a:rPr>
                <a:t>Rail</a:t>
              </a:r>
            </a:p>
          </p:txBody>
        </p:sp>
      </p:grpSp>
      <p:grpSp>
        <p:nvGrpSpPr>
          <p:cNvPr id="46" name="Label Sleeper" descr="Label: Sleeper"/>
          <p:cNvGrpSpPr/>
          <p:nvPr/>
        </p:nvGrpSpPr>
        <p:grpSpPr>
          <a:xfrm>
            <a:off x="9875520" y="3657600"/>
            <a:ext cx="1801368" cy="365760"/>
            <a:chOff x="9875520" y="3657600"/>
            <a:chExt cx="1801368" cy="365760"/>
          </a:xfrm>
        </p:grpSpPr>
        <p:cxnSp>
          <p:nvCxnSpPr>
            <p:cNvPr id="47" name="Connector 46"/>
            <p:cNvCxnSpPr/>
            <p:nvPr/>
          </p:nvCxnSpPr>
          <p:spPr>
            <a:xfrm>
              <a:off x="9875520" y="3840480"/>
              <a:ext cx="868680" cy="0"/>
            </a:xfrm>
            <a:prstGeom prst="line">
              <a:avLst/>
            </a:prstGeom>
            <a:ln w="19050">
              <a:solidFill>
                <a:srgbClr val="F28C28"/>
              </a:solidFill>
            </a:ln>
          </p:spPr>
        </p:cxnSp>
        <p:sp>
          <p:nvSpPr>
            <p:cNvPr id="48" name="TextBox 47"/>
            <p:cNvSpPr txBox="1"/>
            <p:nvPr/>
          </p:nvSpPr>
          <p:spPr>
            <a:xfrm>
              <a:off x="10808208" y="3657600"/>
              <a:ext cx="868680" cy="365760"/>
            </a:xfrm>
            <a:prstGeom prst="rect">
              <a:avLst/>
            </a:prstGeom>
            <a:noFill/>
          </p:spPr>
          <p:txBody>
            <a:bodyPr wrap="square" lIns="0" tIns="0" rIns="0" bIns="0" anchor="ctr">
              <a:noAutofit/>
            </a:bodyPr>
            <a:lstStyle/>
            <a:p>
              <a:pPr algn="l"/>
              <a:r>
                <a:rPr lang="en-GB" sz="1800" b="0" i="0">
                  <a:solidFill>
                    <a:srgbClr val="F2F2F2"/>
                  </a:solidFill>
                  <a:latin typeface="Arial"/>
                </a:rPr>
                <a:t>Sleeper</a:t>
              </a:r>
            </a:p>
          </p:txBody>
        </p:sp>
      </p:grpSp>
      <p:grpSp>
        <p:nvGrpSpPr>
          <p:cNvPr id="49" name="Label Ballast" descr="Label: Ballast"/>
          <p:cNvGrpSpPr/>
          <p:nvPr/>
        </p:nvGrpSpPr>
        <p:grpSpPr>
          <a:xfrm>
            <a:off x="10287000" y="4343400"/>
            <a:ext cx="1389888" cy="365760"/>
            <a:chOff x="10287000" y="4343400"/>
            <a:chExt cx="1389888" cy="365760"/>
          </a:xfrm>
        </p:grpSpPr>
        <p:cxnSp>
          <p:nvCxnSpPr>
            <p:cNvPr id="50" name="Connector 49"/>
            <p:cNvCxnSpPr/>
            <p:nvPr/>
          </p:nvCxnSpPr>
          <p:spPr>
            <a:xfrm>
              <a:off x="10287000" y="4526280"/>
              <a:ext cx="457200" cy="0"/>
            </a:xfrm>
            <a:prstGeom prst="line">
              <a:avLst/>
            </a:prstGeom>
            <a:ln w="19050">
              <a:solidFill>
                <a:srgbClr val="F28C28"/>
              </a:solidFill>
            </a:ln>
          </p:spPr>
        </p:cxnSp>
        <p:sp>
          <p:nvSpPr>
            <p:cNvPr id="51" name="TextBox 50"/>
            <p:cNvSpPr txBox="1"/>
            <p:nvPr/>
          </p:nvSpPr>
          <p:spPr>
            <a:xfrm>
              <a:off x="10808208" y="4343400"/>
              <a:ext cx="868680" cy="365760"/>
            </a:xfrm>
            <a:prstGeom prst="rect">
              <a:avLst/>
            </a:prstGeom>
            <a:noFill/>
          </p:spPr>
          <p:txBody>
            <a:bodyPr wrap="square" lIns="0" tIns="0" rIns="0" bIns="0" anchor="ctr">
              <a:noAutofit/>
            </a:bodyPr>
            <a:lstStyle/>
            <a:p>
              <a:pPr algn="l"/>
              <a:r>
                <a:rPr lang="en-GB" sz="1800" b="0" i="0">
                  <a:solidFill>
                    <a:srgbClr val="F2F2F2"/>
                  </a:solidFill>
                  <a:latin typeface="Arial"/>
                </a:rPr>
                <a:t>Ballast</a:t>
              </a:r>
            </a:p>
          </p:txBody>
        </p:sp>
      </p:gr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Two steel rails sit on sleepers over stone ballast. The sleepers keep the rails the right distance apart.</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6</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25"/>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45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500"/>
                                        <p:tgtEl>
                                          <p:spTgt spid="42"/>
                                        </p:tgtEl>
                                      </p:cBhvr>
                                    </p:animEffect>
                                  </p:childTnLst>
                                </p:cTn>
                              </p:par>
                              <p:par>
                                <p:cTn id="14" presetID="10" presetClass="entr" presetSubtype="0" fill="hold" nodeType="withEffect">
                                  <p:stCondLst>
                                    <p:cond delay="675"/>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par>
                                <p:cTn id="17" presetID="10" presetClass="entr" presetSubtype="0" fill="hold" nodeType="withEffect">
                                  <p:stCondLst>
                                    <p:cond delay="90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childTnLst>
                                </p:cTn>
                              </p:par>
                              <p:par>
                                <p:cTn id="20" presetID="10" presetClass="entr" presetSubtype="0" fill="hold" nodeType="withEffect">
                                  <p:stCondLst>
                                    <p:cond delay="1125"/>
                                  </p:stCondLst>
                                  <p:childTnLst>
                                    <p:set>
                                      <p:cBhvr>
                                        <p:cTn id="21" dur="1" fill="hold">
                                          <p:stCondLst>
                                            <p:cond delay="0"/>
                                          </p:stCondLst>
                                        </p:cTn>
                                        <p:tgtEl>
                                          <p:spTgt spid="49"/>
                                        </p:tgtEl>
                                        <p:attrNameLst>
                                          <p:attrName>style.visibility</p:attrName>
                                        </p:attrNameLst>
                                      </p:cBhvr>
                                      <p:to>
                                        <p:strVal val="visible"/>
                                      </p:to>
                                    </p:set>
                                    <p:animEffect transition="in" filter="fade">
                                      <p:cBhvr>
                                        <p:cTn id="22" dur="500"/>
                                        <p:tgtEl>
                                          <p:spTgt spid="49"/>
                                        </p:tgtEl>
                                      </p:cBhvr>
                                    </p:animEffect>
                                  </p:childTnLst>
                                </p:cTn>
                              </p:par>
                              <p:par>
                                <p:cTn id="23" presetID="10" presetClass="entr" presetSubtype="0" fill="hold" nodeType="withEffect">
                                  <p:stCondLst>
                                    <p:cond delay="135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nodeType="withEffect">
                                  <p:stCondLst>
                                    <p:cond delay="1575"/>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How a steam engine works</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wrap="square" lIns="54864" tIns="18288" rIns="54864" bIns="18288" rtlCol="0" anchor="ctr">
            <a:noAutofit/>
          </a:bodyPr>
          <a:lstStyle/>
          <a:p>
            <a:pPr algn="ctr"/>
            <a:r>
              <a:rPr lang="en-GB" sz="1400" b="1" i="0">
                <a:solidFill>
                  <a:srgbClr val="F2F2F2"/>
                </a:solidFill>
                <a:latin typeface="Arial"/>
              </a:rPr>
              <a:t>BACKGROUND</a:t>
            </a:r>
          </a:p>
        </p:txBody>
      </p:sp>
      <p:grpSp>
        <p:nvGrpSpPr>
          <p:cNvPr id="8" name="Steam engine cutaway" descr="Side cutaway of a steam engine: a fire in the firebox heats water in the long boiler; steam drives a piston in the cylinder; rods turn the wheels; used steam leaves through the chimney."/>
          <p:cNvGrpSpPr/>
          <p:nvPr/>
        </p:nvGrpSpPr>
        <p:grpSpPr>
          <a:xfrm>
            <a:off x="548640" y="1217981"/>
            <a:ext cx="7406640" cy="3838651"/>
            <a:chOff x="548640" y="1217981"/>
            <a:chExt cx="7406640" cy="3838651"/>
          </a:xfrm>
        </p:grpSpPr>
        <p:sp>
          <p:nvSpPr>
            <p:cNvPr id="9" name="Rectangle 8"/>
            <p:cNvSpPr/>
            <p:nvPr/>
          </p:nvSpPr>
          <p:spPr>
            <a:xfrm>
              <a:off x="548640" y="4983480"/>
              <a:ext cx="7406640" cy="73152"/>
            </a:xfrm>
            <a:prstGeom prst="rect">
              <a:avLst/>
            </a:prstGeom>
            <a:solidFill>
              <a:srgbClr val="9AA0A6"/>
            </a:solidFill>
            <a:ln>
              <a:noFill/>
            </a:ln>
          </p:spPr>
          <p:txBody>
            <a:bodyPr rtlCol="0" anchor="ctr"/>
            <a:lstStyle/>
            <a:p>
              <a:pPr algn="ctr"/>
              <a:endParaRPr/>
            </a:p>
          </p:txBody>
        </p:sp>
        <p:sp>
          <p:nvSpPr>
            <p:cNvPr id="10" name="Rectangle 9"/>
            <p:cNvSpPr/>
            <p:nvPr/>
          </p:nvSpPr>
          <p:spPr>
            <a:xfrm>
              <a:off x="685800" y="2011680"/>
              <a:ext cx="1417320" cy="2103120"/>
            </a:xfrm>
            <a:prstGeom prst="rect">
              <a:avLst/>
            </a:prstGeom>
            <a:solidFill>
              <a:srgbClr val="343A43"/>
            </a:solidFill>
            <a:ln w="19050">
              <a:solidFill>
                <a:srgbClr val="9AA0A6"/>
              </a:solidFill>
            </a:ln>
          </p:spPr>
          <p:txBody>
            <a:bodyPr rtlCol="0" anchor="ctr"/>
            <a:lstStyle/>
            <a:p>
              <a:pPr algn="ctr"/>
              <a:endParaRPr/>
            </a:p>
          </p:txBody>
        </p:sp>
        <p:sp>
          <p:nvSpPr>
            <p:cNvPr id="11" name="Rectangle 10"/>
            <p:cNvSpPr/>
            <p:nvPr/>
          </p:nvSpPr>
          <p:spPr>
            <a:xfrm>
              <a:off x="594360" y="1920240"/>
              <a:ext cx="1600200" cy="128016"/>
            </a:xfrm>
            <a:prstGeom prst="rect">
              <a:avLst/>
            </a:prstGeom>
            <a:solidFill>
              <a:srgbClr val="9AA0A6"/>
            </a:solidFill>
            <a:ln>
              <a:noFill/>
            </a:ln>
          </p:spPr>
          <p:txBody>
            <a:bodyPr rtlCol="0" anchor="ctr"/>
            <a:lstStyle/>
            <a:p>
              <a:pPr algn="ctr"/>
              <a:endParaRPr/>
            </a:p>
          </p:txBody>
        </p:sp>
        <p:sp>
          <p:nvSpPr>
            <p:cNvPr id="12" name="Rectangle 11"/>
            <p:cNvSpPr/>
            <p:nvPr/>
          </p:nvSpPr>
          <p:spPr>
            <a:xfrm>
              <a:off x="868680" y="2240280"/>
              <a:ext cx="548640" cy="457200"/>
            </a:xfrm>
            <a:prstGeom prst="rect">
              <a:avLst/>
            </a:prstGeom>
            <a:solidFill>
              <a:srgbClr val="2B2F36"/>
            </a:solidFill>
            <a:ln w="12700">
              <a:solidFill>
                <a:srgbClr val="9AA0A6"/>
              </a:solidFill>
            </a:ln>
          </p:spPr>
          <p:txBody>
            <a:bodyPr rtlCol="0" anchor="ctr"/>
            <a:lstStyle/>
            <a:p>
              <a:pPr algn="ctr"/>
              <a:endParaRPr/>
            </a:p>
          </p:txBody>
        </p:sp>
        <p:sp>
          <p:nvSpPr>
            <p:cNvPr id="13" name="Rounded Rectangle 12"/>
            <p:cNvSpPr/>
            <p:nvPr/>
          </p:nvSpPr>
          <p:spPr>
            <a:xfrm>
              <a:off x="1143000" y="3017520"/>
              <a:ext cx="960120" cy="1051560"/>
            </a:xfrm>
            <a:prstGeom prst="roundRect">
              <a:avLst>
                <a:gd name="adj" fmla="val 7619"/>
              </a:avLst>
            </a:prstGeom>
            <a:solidFill>
              <a:srgbClr val="5A2E12"/>
            </a:solidFill>
            <a:ln w="25400">
              <a:solidFill>
                <a:srgbClr val="F28C28"/>
              </a:solidFill>
            </a:ln>
          </p:spPr>
          <p:txBody>
            <a:bodyPr rtlCol="0" anchor="ctr"/>
            <a:lstStyle/>
            <a:p>
              <a:pPr algn="ctr"/>
              <a:endParaRPr/>
            </a:p>
          </p:txBody>
        </p:sp>
        <p:sp>
          <p:nvSpPr>
            <p:cNvPr id="14" name="Freeform 13"/>
            <p:cNvSpPr/>
            <p:nvPr/>
          </p:nvSpPr>
          <p:spPr>
            <a:xfrm>
              <a:off x="1197864" y="3520440"/>
              <a:ext cx="256032" cy="502920"/>
            </a:xfrm>
            <a:custGeom>
              <a:avLst/>
              <a:gdLst/>
              <a:ahLst/>
              <a:cxnLst/>
              <a:rect l="l" t="t" r="r" b="b"/>
              <a:pathLst>
                <a:path w="256032" h="502920">
                  <a:moveTo>
                    <a:pt x="0" y="502920"/>
                  </a:moveTo>
                  <a:lnTo>
                    <a:pt x="256032" y="502920"/>
                  </a:lnTo>
                  <a:lnTo>
                    <a:pt x="128016" y="0"/>
                  </a:lnTo>
                  <a:close/>
                </a:path>
              </a:pathLst>
            </a:custGeom>
            <a:solidFill>
              <a:srgbClr val="F28C28"/>
            </a:solidFill>
            <a:ln>
              <a:noFill/>
            </a:ln>
          </p:spPr>
          <p:txBody>
            <a:bodyPr rtlCol="0" anchor="ctr"/>
            <a:lstStyle/>
            <a:p>
              <a:pPr algn="ctr"/>
              <a:endParaRPr/>
            </a:p>
          </p:txBody>
        </p:sp>
        <p:sp>
          <p:nvSpPr>
            <p:cNvPr id="15" name="Freeform 14"/>
            <p:cNvSpPr/>
            <p:nvPr/>
          </p:nvSpPr>
          <p:spPr>
            <a:xfrm>
              <a:off x="1261872" y="3746754"/>
              <a:ext cx="128016" cy="276606"/>
            </a:xfrm>
            <a:custGeom>
              <a:avLst/>
              <a:gdLst/>
              <a:ahLst/>
              <a:cxnLst/>
              <a:rect l="l" t="t" r="r" b="b"/>
              <a:pathLst>
                <a:path w="128016" h="276606">
                  <a:moveTo>
                    <a:pt x="0" y="276606"/>
                  </a:moveTo>
                  <a:lnTo>
                    <a:pt x="128016" y="276606"/>
                  </a:lnTo>
                  <a:lnTo>
                    <a:pt x="64008" y="0"/>
                  </a:lnTo>
                  <a:close/>
                </a:path>
              </a:pathLst>
            </a:custGeom>
            <a:solidFill>
              <a:srgbClr val="F2C14E"/>
            </a:solidFill>
            <a:ln>
              <a:noFill/>
            </a:ln>
          </p:spPr>
          <p:txBody>
            <a:bodyPr rtlCol="0" anchor="ctr"/>
            <a:lstStyle/>
            <a:p>
              <a:pPr algn="ctr"/>
              <a:endParaRPr/>
            </a:p>
          </p:txBody>
        </p:sp>
        <p:sp>
          <p:nvSpPr>
            <p:cNvPr id="16" name="Freeform 15"/>
            <p:cNvSpPr/>
            <p:nvPr/>
          </p:nvSpPr>
          <p:spPr>
            <a:xfrm>
              <a:off x="1444752" y="3337560"/>
              <a:ext cx="256032" cy="685800"/>
            </a:xfrm>
            <a:custGeom>
              <a:avLst/>
              <a:gdLst/>
              <a:ahLst/>
              <a:cxnLst/>
              <a:rect l="l" t="t" r="r" b="b"/>
              <a:pathLst>
                <a:path w="256032" h="685800">
                  <a:moveTo>
                    <a:pt x="0" y="685800"/>
                  </a:moveTo>
                  <a:lnTo>
                    <a:pt x="256032" y="685800"/>
                  </a:lnTo>
                  <a:lnTo>
                    <a:pt x="128016" y="0"/>
                  </a:lnTo>
                  <a:close/>
                </a:path>
              </a:pathLst>
            </a:custGeom>
            <a:solidFill>
              <a:srgbClr val="F28C28"/>
            </a:solidFill>
            <a:ln>
              <a:noFill/>
            </a:ln>
          </p:spPr>
          <p:txBody>
            <a:bodyPr rtlCol="0" anchor="ctr"/>
            <a:lstStyle/>
            <a:p>
              <a:pPr algn="ctr"/>
              <a:endParaRPr/>
            </a:p>
          </p:txBody>
        </p:sp>
        <p:sp>
          <p:nvSpPr>
            <p:cNvPr id="17" name="Freeform 16"/>
            <p:cNvSpPr/>
            <p:nvPr/>
          </p:nvSpPr>
          <p:spPr>
            <a:xfrm>
              <a:off x="1508760" y="3646170"/>
              <a:ext cx="128016" cy="377190"/>
            </a:xfrm>
            <a:custGeom>
              <a:avLst/>
              <a:gdLst/>
              <a:ahLst/>
              <a:cxnLst/>
              <a:rect l="l" t="t" r="r" b="b"/>
              <a:pathLst>
                <a:path w="128016" h="377190">
                  <a:moveTo>
                    <a:pt x="0" y="377190"/>
                  </a:moveTo>
                  <a:lnTo>
                    <a:pt x="128016" y="377190"/>
                  </a:lnTo>
                  <a:lnTo>
                    <a:pt x="64008" y="0"/>
                  </a:lnTo>
                  <a:close/>
                </a:path>
              </a:pathLst>
            </a:custGeom>
            <a:solidFill>
              <a:srgbClr val="F2C14E"/>
            </a:solidFill>
            <a:ln>
              <a:noFill/>
            </a:ln>
          </p:spPr>
          <p:txBody>
            <a:bodyPr rtlCol="0" anchor="ctr"/>
            <a:lstStyle/>
            <a:p>
              <a:pPr algn="ctr"/>
              <a:endParaRPr/>
            </a:p>
          </p:txBody>
        </p:sp>
        <p:sp>
          <p:nvSpPr>
            <p:cNvPr id="18" name="Freeform 17"/>
            <p:cNvSpPr/>
            <p:nvPr/>
          </p:nvSpPr>
          <p:spPr>
            <a:xfrm>
              <a:off x="1700784" y="3566160"/>
              <a:ext cx="256032" cy="457200"/>
            </a:xfrm>
            <a:custGeom>
              <a:avLst/>
              <a:gdLst/>
              <a:ahLst/>
              <a:cxnLst/>
              <a:rect l="l" t="t" r="r" b="b"/>
              <a:pathLst>
                <a:path w="256032" h="457200">
                  <a:moveTo>
                    <a:pt x="0" y="457200"/>
                  </a:moveTo>
                  <a:lnTo>
                    <a:pt x="256032" y="457200"/>
                  </a:lnTo>
                  <a:lnTo>
                    <a:pt x="128016" y="0"/>
                  </a:lnTo>
                  <a:close/>
                </a:path>
              </a:pathLst>
            </a:custGeom>
            <a:solidFill>
              <a:srgbClr val="F28C28"/>
            </a:solidFill>
            <a:ln>
              <a:noFill/>
            </a:ln>
          </p:spPr>
          <p:txBody>
            <a:bodyPr rtlCol="0" anchor="ctr"/>
            <a:lstStyle/>
            <a:p>
              <a:pPr algn="ctr"/>
              <a:endParaRPr/>
            </a:p>
          </p:txBody>
        </p:sp>
        <p:sp>
          <p:nvSpPr>
            <p:cNvPr id="19" name="Freeform 18"/>
            <p:cNvSpPr/>
            <p:nvPr/>
          </p:nvSpPr>
          <p:spPr>
            <a:xfrm>
              <a:off x="1764792" y="3771900"/>
              <a:ext cx="128016" cy="251460"/>
            </a:xfrm>
            <a:custGeom>
              <a:avLst/>
              <a:gdLst/>
              <a:ahLst/>
              <a:cxnLst/>
              <a:rect l="l" t="t" r="r" b="b"/>
              <a:pathLst>
                <a:path w="128016" h="251460">
                  <a:moveTo>
                    <a:pt x="0" y="251460"/>
                  </a:moveTo>
                  <a:lnTo>
                    <a:pt x="128016" y="251460"/>
                  </a:lnTo>
                  <a:lnTo>
                    <a:pt x="64008" y="0"/>
                  </a:lnTo>
                  <a:close/>
                </a:path>
              </a:pathLst>
            </a:custGeom>
            <a:solidFill>
              <a:srgbClr val="F2C14E"/>
            </a:solidFill>
            <a:ln>
              <a:noFill/>
            </a:ln>
          </p:spPr>
          <p:txBody>
            <a:bodyPr rtlCol="0" anchor="ctr"/>
            <a:lstStyle/>
            <a:p>
              <a:pPr algn="ctr"/>
              <a:endParaRPr/>
            </a:p>
          </p:txBody>
        </p:sp>
        <p:sp>
          <p:nvSpPr>
            <p:cNvPr id="20" name="Rounded Rectangle 19"/>
            <p:cNvSpPr/>
            <p:nvPr/>
          </p:nvSpPr>
          <p:spPr>
            <a:xfrm>
              <a:off x="2103120" y="2514600"/>
              <a:ext cx="4846320" cy="1463040"/>
            </a:xfrm>
            <a:prstGeom prst="roundRect">
              <a:avLst>
                <a:gd name="adj" fmla="val 18749"/>
              </a:avLst>
            </a:prstGeom>
            <a:solidFill>
              <a:srgbClr val="2B2F36"/>
            </a:solidFill>
            <a:ln w="25400">
              <a:solidFill>
                <a:srgbClr val="9AA0A6"/>
              </a:solidFill>
            </a:ln>
          </p:spPr>
          <p:txBody>
            <a:bodyPr rtlCol="0" anchor="ctr"/>
            <a:lstStyle/>
            <a:p>
              <a:pPr algn="ctr"/>
              <a:endParaRPr/>
            </a:p>
          </p:txBody>
        </p:sp>
        <p:sp>
          <p:nvSpPr>
            <p:cNvPr id="21" name="Rounded Rectangle 20"/>
            <p:cNvSpPr/>
            <p:nvPr/>
          </p:nvSpPr>
          <p:spPr>
            <a:xfrm>
              <a:off x="2212848" y="3246120"/>
              <a:ext cx="4626864" cy="621792"/>
            </a:xfrm>
            <a:prstGeom prst="roundRect">
              <a:avLst>
                <a:gd name="adj" fmla="val 17647"/>
              </a:avLst>
            </a:prstGeom>
            <a:solidFill>
              <a:srgbClr val="4DA3FF"/>
            </a:solidFill>
            <a:ln>
              <a:noFill/>
            </a:ln>
          </p:spPr>
          <p:txBody>
            <a:bodyPr rtlCol="0" anchor="ctr"/>
            <a:lstStyle/>
            <a:p>
              <a:pPr algn="ctr"/>
              <a:endParaRPr/>
            </a:p>
          </p:txBody>
        </p:sp>
        <p:sp>
          <p:nvSpPr>
            <p:cNvPr id="22" name="Oval 21"/>
            <p:cNvSpPr/>
            <p:nvPr/>
          </p:nvSpPr>
          <p:spPr>
            <a:xfrm>
              <a:off x="2606040" y="2807208"/>
              <a:ext cx="457200" cy="237744"/>
            </a:xfrm>
            <a:prstGeom prst="ellipse">
              <a:avLst/>
            </a:prstGeom>
            <a:solidFill>
              <a:srgbClr val="D4D5D6"/>
            </a:solidFill>
            <a:ln>
              <a:noFill/>
            </a:ln>
          </p:spPr>
          <p:txBody>
            <a:bodyPr rtlCol="0" anchor="ctr"/>
            <a:lstStyle/>
            <a:p>
              <a:pPr algn="ctr"/>
              <a:endParaRPr/>
            </a:p>
          </p:txBody>
        </p:sp>
        <p:sp>
          <p:nvSpPr>
            <p:cNvPr id="23" name="Oval 22"/>
            <p:cNvSpPr/>
            <p:nvPr/>
          </p:nvSpPr>
          <p:spPr>
            <a:xfrm>
              <a:off x="3429000" y="2734056"/>
              <a:ext cx="457200" cy="237744"/>
            </a:xfrm>
            <a:prstGeom prst="ellipse">
              <a:avLst/>
            </a:prstGeom>
            <a:solidFill>
              <a:srgbClr val="D4D5D6"/>
            </a:solidFill>
            <a:ln>
              <a:noFill/>
            </a:ln>
          </p:spPr>
          <p:txBody>
            <a:bodyPr rtlCol="0" anchor="ctr"/>
            <a:lstStyle/>
            <a:p>
              <a:pPr algn="ctr"/>
              <a:endParaRPr/>
            </a:p>
          </p:txBody>
        </p:sp>
        <p:sp>
          <p:nvSpPr>
            <p:cNvPr id="24" name="Oval 23"/>
            <p:cNvSpPr/>
            <p:nvPr/>
          </p:nvSpPr>
          <p:spPr>
            <a:xfrm>
              <a:off x="4251960" y="2825496"/>
              <a:ext cx="457200" cy="237744"/>
            </a:xfrm>
            <a:prstGeom prst="ellipse">
              <a:avLst/>
            </a:prstGeom>
            <a:solidFill>
              <a:srgbClr val="D4D5D6"/>
            </a:solidFill>
            <a:ln>
              <a:noFill/>
            </a:ln>
          </p:spPr>
          <p:txBody>
            <a:bodyPr rtlCol="0" anchor="ctr"/>
            <a:lstStyle/>
            <a:p>
              <a:pPr algn="ctr"/>
              <a:endParaRPr/>
            </a:p>
          </p:txBody>
        </p:sp>
        <p:sp>
          <p:nvSpPr>
            <p:cNvPr id="25" name="Oval 24"/>
            <p:cNvSpPr/>
            <p:nvPr/>
          </p:nvSpPr>
          <p:spPr>
            <a:xfrm>
              <a:off x="5074920" y="2734056"/>
              <a:ext cx="457200" cy="237744"/>
            </a:xfrm>
            <a:prstGeom prst="ellipse">
              <a:avLst/>
            </a:prstGeom>
            <a:solidFill>
              <a:srgbClr val="D4D5D6"/>
            </a:solidFill>
            <a:ln>
              <a:noFill/>
            </a:ln>
          </p:spPr>
          <p:txBody>
            <a:bodyPr rtlCol="0" anchor="ctr"/>
            <a:lstStyle/>
            <a:p>
              <a:pPr algn="ctr"/>
              <a:endParaRPr/>
            </a:p>
          </p:txBody>
        </p:sp>
        <p:sp>
          <p:nvSpPr>
            <p:cNvPr id="26" name="Oval 25"/>
            <p:cNvSpPr/>
            <p:nvPr/>
          </p:nvSpPr>
          <p:spPr>
            <a:xfrm>
              <a:off x="5897880" y="2807208"/>
              <a:ext cx="457200" cy="237744"/>
            </a:xfrm>
            <a:prstGeom prst="ellipse">
              <a:avLst/>
            </a:prstGeom>
            <a:solidFill>
              <a:srgbClr val="D4D5D6"/>
            </a:solidFill>
            <a:ln>
              <a:noFill/>
            </a:ln>
          </p:spPr>
          <p:txBody>
            <a:bodyPr rtlCol="0" anchor="ctr"/>
            <a:lstStyle/>
            <a:p>
              <a:pPr algn="ctr"/>
              <a:endParaRPr/>
            </a:p>
          </p:txBody>
        </p:sp>
        <p:sp>
          <p:nvSpPr>
            <p:cNvPr id="27" name="Rectangle 26"/>
            <p:cNvSpPr/>
            <p:nvPr/>
          </p:nvSpPr>
          <p:spPr>
            <a:xfrm>
              <a:off x="6949440" y="2514600"/>
              <a:ext cx="502920" cy="1463040"/>
            </a:xfrm>
            <a:prstGeom prst="rect">
              <a:avLst/>
            </a:prstGeom>
            <a:solidFill>
              <a:srgbClr val="1B1D21"/>
            </a:solidFill>
            <a:ln w="19050">
              <a:solidFill>
                <a:srgbClr val="9AA0A6"/>
              </a:solidFill>
            </a:ln>
          </p:spPr>
          <p:txBody>
            <a:bodyPr rtlCol="0" anchor="ctr"/>
            <a:lstStyle/>
            <a:p>
              <a:pPr algn="ctr"/>
              <a:endParaRPr/>
            </a:p>
          </p:txBody>
        </p:sp>
        <p:sp>
          <p:nvSpPr>
            <p:cNvPr id="28" name="Rectangle 27"/>
            <p:cNvSpPr/>
            <p:nvPr/>
          </p:nvSpPr>
          <p:spPr>
            <a:xfrm>
              <a:off x="6537960" y="1874520"/>
              <a:ext cx="347472" cy="658368"/>
            </a:xfrm>
            <a:prstGeom prst="rect">
              <a:avLst/>
            </a:prstGeom>
            <a:solidFill>
              <a:srgbClr val="1B1D21"/>
            </a:solidFill>
            <a:ln w="19050">
              <a:solidFill>
                <a:srgbClr val="9AA0A6"/>
              </a:solidFill>
            </a:ln>
          </p:spPr>
          <p:txBody>
            <a:bodyPr rtlCol="0" anchor="ctr"/>
            <a:lstStyle/>
            <a:p>
              <a:pPr algn="ctr"/>
              <a:endParaRPr/>
            </a:p>
          </p:txBody>
        </p:sp>
        <p:sp>
          <p:nvSpPr>
            <p:cNvPr id="29" name="Oval 28"/>
            <p:cNvSpPr/>
            <p:nvPr/>
          </p:nvSpPr>
          <p:spPr>
            <a:xfrm>
              <a:off x="6620256" y="1565453"/>
              <a:ext cx="329184" cy="197510"/>
            </a:xfrm>
            <a:prstGeom prst="ellipse">
              <a:avLst/>
            </a:prstGeom>
            <a:solidFill>
              <a:srgbClr val="D2D3D3"/>
            </a:solidFill>
            <a:ln>
              <a:noFill/>
            </a:ln>
          </p:spPr>
          <p:txBody>
            <a:bodyPr rtlCol="0" anchor="ctr"/>
            <a:lstStyle/>
            <a:p>
              <a:pPr algn="ctr"/>
              <a:endParaRPr/>
            </a:p>
          </p:txBody>
        </p:sp>
        <p:sp>
          <p:nvSpPr>
            <p:cNvPr id="30" name="Oval 29"/>
            <p:cNvSpPr/>
            <p:nvPr/>
          </p:nvSpPr>
          <p:spPr>
            <a:xfrm>
              <a:off x="6848856" y="1355141"/>
              <a:ext cx="420624" cy="252374"/>
            </a:xfrm>
            <a:prstGeom prst="ellipse">
              <a:avLst/>
            </a:prstGeom>
            <a:solidFill>
              <a:srgbClr val="D2D3D3"/>
            </a:solidFill>
            <a:ln>
              <a:noFill/>
            </a:ln>
          </p:spPr>
          <p:txBody>
            <a:bodyPr rtlCol="0" anchor="ctr"/>
            <a:lstStyle/>
            <a:p>
              <a:pPr algn="ctr"/>
              <a:endParaRPr/>
            </a:p>
          </p:txBody>
        </p:sp>
        <p:sp>
          <p:nvSpPr>
            <p:cNvPr id="31" name="Oval 30"/>
            <p:cNvSpPr/>
            <p:nvPr/>
          </p:nvSpPr>
          <p:spPr>
            <a:xfrm>
              <a:off x="7168896" y="1217981"/>
              <a:ext cx="512064" cy="307238"/>
            </a:xfrm>
            <a:prstGeom prst="ellipse">
              <a:avLst/>
            </a:prstGeom>
            <a:solidFill>
              <a:srgbClr val="D2D3D3"/>
            </a:solidFill>
            <a:ln>
              <a:noFill/>
            </a:ln>
          </p:spPr>
          <p:txBody>
            <a:bodyPr rtlCol="0" anchor="ctr"/>
            <a:lstStyle/>
            <a:p>
              <a:pPr algn="ctr"/>
              <a:endParaRPr/>
            </a:p>
          </p:txBody>
        </p:sp>
        <p:sp>
          <p:nvSpPr>
            <p:cNvPr id="32" name="Rectangle 31"/>
            <p:cNvSpPr/>
            <p:nvPr/>
          </p:nvSpPr>
          <p:spPr>
            <a:xfrm>
              <a:off x="2103120" y="4023360"/>
              <a:ext cx="5349240" cy="109728"/>
            </a:xfrm>
            <a:prstGeom prst="rect">
              <a:avLst/>
            </a:prstGeom>
            <a:solidFill>
              <a:srgbClr val="1B1D21"/>
            </a:solidFill>
            <a:ln>
              <a:noFill/>
            </a:ln>
          </p:spPr>
          <p:txBody>
            <a:bodyPr rtlCol="0" anchor="ctr"/>
            <a:lstStyle/>
            <a:p>
              <a:pPr algn="ctr"/>
              <a:endParaRPr/>
            </a:p>
          </p:txBody>
        </p:sp>
        <p:sp>
          <p:nvSpPr>
            <p:cNvPr id="33" name="Rounded Rectangle 32"/>
            <p:cNvSpPr/>
            <p:nvPr/>
          </p:nvSpPr>
          <p:spPr>
            <a:xfrm>
              <a:off x="6355080" y="4206240"/>
              <a:ext cx="1051560" cy="502920"/>
            </a:xfrm>
            <a:prstGeom prst="roundRect">
              <a:avLst>
                <a:gd name="adj" fmla="val 9090"/>
              </a:avLst>
            </a:prstGeom>
            <a:solidFill>
              <a:srgbClr val="9AA0A6"/>
            </a:solidFill>
            <a:ln w="12700">
              <a:solidFill>
                <a:srgbClr val="101418"/>
              </a:solidFill>
            </a:ln>
          </p:spPr>
          <p:txBody>
            <a:bodyPr rtlCol="0" anchor="ctr"/>
            <a:lstStyle/>
            <a:p>
              <a:pPr algn="ctr"/>
              <a:endParaRPr/>
            </a:p>
          </p:txBody>
        </p:sp>
        <p:sp>
          <p:nvSpPr>
            <p:cNvPr id="34" name="Rectangle 33"/>
            <p:cNvSpPr/>
            <p:nvPr/>
          </p:nvSpPr>
          <p:spPr>
            <a:xfrm>
              <a:off x="6629400" y="4251960"/>
              <a:ext cx="146304" cy="411480"/>
            </a:xfrm>
            <a:prstGeom prst="rect">
              <a:avLst/>
            </a:prstGeom>
            <a:solidFill>
              <a:srgbClr val="F28C28"/>
            </a:solidFill>
            <a:ln>
              <a:noFill/>
            </a:ln>
          </p:spPr>
          <p:txBody>
            <a:bodyPr rtlCol="0" anchor="ctr"/>
            <a:lstStyle/>
            <a:p>
              <a:pPr algn="ctr"/>
              <a:endParaRPr/>
            </a:p>
          </p:txBody>
        </p:sp>
        <p:cxnSp>
          <p:nvCxnSpPr>
            <p:cNvPr id="35" name="Connector 34"/>
            <p:cNvCxnSpPr/>
            <p:nvPr/>
          </p:nvCxnSpPr>
          <p:spPr>
            <a:xfrm>
              <a:off x="5852160" y="4457700"/>
              <a:ext cx="777240" cy="0"/>
            </a:xfrm>
            <a:prstGeom prst="line">
              <a:avLst/>
            </a:prstGeom>
            <a:ln w="50800">
              <a:solidFill>
                <a:srgbClr val="E8E8E8"/>
              </a:solidFill>
            </a:ln>
          </p:spPr>
        </p:cxnSp>
        <p:sp>
          <p:nvSpPr>
            <p:cNvPr id="36" name="Oval 35"/>
            <p:cNvSpPr/>
            <p:nvPr/>
          </p:nvSpPr>
          <p:spPr>
            <a:xfrm>
              <a:off x="2770632" y="4032504"/>
              <a:ext cx="950976" cy="950976"/>
            </a:xfrm>
            <a:prstGeom prst="ellipse">
              <a:avLst/>
            </a:prstGeom>
            <a:solidFill>
              <a:srgbClr val="1B1D21"/>
            </a:solidFill>
            <a:ln w="38100">
              <a:solidFill>
                <a:srgbClr val="9AA0A6"/>
              </a:solidFill>
            </a:ln>
          </p:spPr>
          <p:txBody>
            <a:bodyPr rtlCol="0" anchor="ctr"/>
            <a:lstStyle/>
            <a:p>
              <a:pPr algn="ctr"/>
              <a:endParaRPr/>
            </a:p>
          </p:txBody>
        </p:sp>
        <p:sp>
          <p:nvSpPr>
            <p:cNvPr id="37" name="Oval 36"/>
            <p:cNvSpPr/>
            <p:nvPr/>
          </p:nvSpPr>
          <p:spPr>
            <a:xfrm>
              <a:off x="3172968" y="4434840"/>
              <a:ext cx="146304" cy="146304"/>
            </a:xfrm>
            <a:prstGeom prst="ellipse">
              <a:avLst/>
            </a:prstGeom>
            <a:solidFill>
              <a:srgbClr val="9AA0A6"/>
            </a:solidFill>
            <a:ln>
              <a:noFill/>
            </a:ln>
          </p:spPr>
          <p:txBody>
            <a:bodyPr rtlCol="0" anchor="ctr"/>
            <a:lstStyle/>
            <a:p>
              <a:pPr algn="ctr"/>
              <a:endParaRPr/>
            </a:p>
          </p:txBody>
        </p:sp>
        <p:sp>
          <p:nvSpPr>
            <p:cNvPr id="38" name="Oval 37"/>
            <p:cNvSpPr/>
            <p:nvPr/>
          </p:nvSpPr>
          <p:spPr>
            <a:xfrm>
              <a:off x="3867912" y="4032504"/>
              <a:ext cx="950976" cy="950976"/>
            </a:xfrm>
            <a:prstGeom prst="ellipse">
              <a:avLst/>
            </a:prstGeom>
            <a:solidFill>
              <a:srgbClr val="1B1D21"/>
            </a:solidFill>
            <a:ln w="38100">
              <a:solidFill>
                <a:srgbClr val="9AA0A6"/>
              </a:solidFill>
            </a:ln>
          </p:spPr>
          <p:txBody>
            <a:bodyPr rtlCol="0" anchor="ctr"/>
            <a:lstStyle/>
            <a:p>
              <a:pPr algn="ctr"/>
              <a:endParaRPr/>
            </a:p>
          </p:txBody>
        </p:sp>
        <p:sp>
          <p:nvSpPr>
            <p:cNvPr id="39" name="Oval 38"/>
            <p:cNvSpPr/>
            <p:nvPr/>
          </p:nvSpPr>
          <p:spPr>
            <a:xfrm>
              <a:off x="4270248" y="4434840"/>
              <a:ext cx="146304" cy="146304"/>
            </a:xfrm>
            <a:prstGeom prst="ellipse">
              <a:avLst/>
            </a:prstGeom>
            <a:solidFill>
              <a:srgbClr val="9AA0A6"/>
            </a:solidFill>
            <a:ln>
              <a:noFill/>
            </a:ln>
          </p:spPr>
          <p:txBody>
            <a:bodyPr rtlCol="0" anchor="ctr"/>
            <a:lstStyle/>
            <a:p>
              <a:pPr algn="ctr"/>
              <a:endParaRPr/>
            </a:p>
          </p:txBody>
        </p:sp>
        <p:sp>
          <p:nvSpPr>
            <p:cNvPr id="40" name="Oval 39"/>
            <p:cNvSpPr/>
            <p:nvPr/>
          </p:nvSpPr>
          <p:spPr>
            <a:xfrm>
              <a:off x="4965192" y="4032504"/>
              <a:ext cx="950976" cy="950976"/>
            </a:xfrm>
            <a:prstGeom prst="ellipse">
              <a:avLst/>
            </a:prstGeom>
            <a:solidFill>
              <a:srgbClr val="1B1D21"/>
            </a:solidFill>
            <a:ln w="38100">
              <a:solidFill>
                <a:srgbClr val="9AA0A6"/>
              </a:solidFill>
            </a:ln>
          </p:spPr>
          <p:txBody>
            <a:bodyPr rtlCol="0" anchor="ctr"/>
            <a:lstStyle/>
            <a:p>
              <a:pPr algn="ctr"/>
              <a:endParaRPr/>
            </a:p>
          </p:txBody>
        </p:sp>
        <p:sp>
          <p:nvSpPr>
            <p:cNvPr id="41" name="Oval 40"/>
            <p:cNvSpPr/>
            <p:nvPr/>
          </p:nvSpPr>
          <p:spPr>
            <a:xfrm>
              <a:off x="5367528" y="4434840"/>
              <a:ext cx="146304" cy="146304"/>
            </a:xfrm>
            <a:prstGeom prst="ellipse">
              <a:avLst/>
            </a:prstGeom>
            <a:solidFill>
              <a:srgbClr val="9AA0A6"/>
            </a:solidFill>
            <a:ln>
              <a:noFill/>
            </a:ln>
          </p:spPr>
          <p:txBody>
            <a:bodyPr rtlCol="0" anchor="ctr"/>
            <a:lstStyle/>
            <a:p>
              <a:pPr algn="ctr"/>
              <a:endParaRPr/>
            </a:p>
          </p:txBody>
        </p:sp>
        <p:cxnSp>
          <p:nvCxnSpPr>
            <p:cNvPr id="42" name="Connector 41"/>
            <p:cNvCxnSpPr/>
            <p:nvPr/>
          </p:nvCxnSpPr>
          <p:spPr>
            <a:xfrm>
              <a:off x="3493008" y="4416552"/>
              <a:ext cx="2194560" cy="0"/>
            </a:xfrm>
            <a:prstGeom prst="line">
              <a:avLst/>
            </a:prstGeom>
            <a:ln w="76200">
              <a:solidFill>
                <a:srgbClr val="E8E8E8"/>
              </a:solidFill>
            </a:ln>
          </p:spPr>
        </p:cxnSp>
        <p:cxnSp>
          <p:nvCxnSpPr>
            <p:cNvPr id="43" name="Connector 42"/>
            <p:cNvCxnSpPr/>
            <p:nvPr/>
          </p:nvCxnSpPr>
          <p:spPr>
            <a:xfrm flipH="1" flipV="1">
              <a:off x="4590288" y="4416552"/>
              <a:ext cx="1261872" cy="41148"/>
            </a:xfrm>
            <a:prstGeom prst="line">
              <a:avLst/>
            </a:prstGeom>
            <a:ln w="76200">
              <a:solidFill>
                <a:srgbClr val="F2C14E"/>
              </a:solidFill>
            </a:ln>
          </p:spPr>
        </p:cxnSp>
        <p:sp>
          <p:nvSpPr>
            <p:cNvPr id="44" name="Oval 43"/>
            <p:cNvSpPr/>
            <p:nvPr/>
          </p:nvSpPr>
          <p:spPr>
            <a:xfrm>
              <a:off x="3438144" y="4361688"/>
              <a:ext cx="109728" cy="109728"/>
            </a:xfrm>
            <a:prstGeom prst="ellipse">
              <a:avLst/>
            </a:prstGeom>
            <a:solidFill>
              <a:srgbClr val="101418"/>
            </a:solidFill>
            <a:ln>
              <a:noFill/>
            </a:ln>
          </p:spPr>
          <p:txBody>
            <a:bodyPr rtlCol="0" anchor="ctr"/>
            <a:lstStyle/>
            <a:p>
              <a:pPr algn="ctr"/>
              <a:endParaRPr/>
            </a:p>
          </p:txBody>
        </p:sp>
        <p:sp>
          <p:nvSpPr>
            <p:cNvPr id="45" name="Oval 44"/>
            <p:cNvSpPr/>
            <p:nvPr/>
          </p:nvSpPr>
          <p:spPr>
            <a:xfrm>
              <a:off x="4535424" y="4361688"/>
              <a:ext cx="109728" cy="109728"/>
            </a:xfrm>
            <a:prstGeom prst="ellipse">
              <a:avLst/>
            </a:prstGeom>
            <a:solidFill>
              <a:srgbClr val="101418"/>
            </a:solidFill>
            <a:ln>
              <a:noFill/>
            </a:ln>
          </p:spPr>
          <p:txBody>
            <a:bodyPr rtlCol="0" anchor="ctr"/>
            <a:lstStyle/>
            <a:p>
              <a:pPr algn="ctr"/>
              <a:endParaRPr/>
            </a:p>
          </p:txBody>
        </p:sp>
        <p:sp>
          <p:nvSpPr>
            <p:cNvPr id="46" name="Oval 45"/>
            <p:cNvSpPr/>
            <p:nvPr/>
          </p:nvSpPr>
          <p:spPr>
            <a:xfrm>
              <a:off x="5632704" y="4361688"/>
              <a:ext cx="109728" cy="109728"/>
            </a:xfrm>
            <a:prstGeom prst="ellipse">
              <a:avLst/>
            </a:prstGeom>
            <a:solidFill>
              <a:srgbClr val="101418"/>
            </a:solidFill>
            <a:ln>
              <a:noFill/>
            </a:ln>
          </p:spPr>
          <p:txBody>
            <a:bodyPr rtlCol="0" anchor="ctr"/>
            <a:lstStyle/>
            <a:p>
              <a:pPr algn="ctr"/>
              <a:endParaRPr/>
            </a:p>
          </p:txBody>
        </p:sp>
        <p:sp>
          <p:nvSpPr>
            <p:cNvPr id="47" name="Freeform 46"/>
            <p:cNvSpPr/>
            <p:nvPr/>
          </p:nvSpPr>
          <p:spPr>
            <a:xfrm>
              <a:off x="7264098" y="2142067"/>
              <a:ext cx="508229" cy="2040344"/>
            </a:xfrm>
            <a:custGeom>
              <a:avLst/>
              <a:gdLst/>
              <a:ahLst/>
              <a:cxnLst/>
              <a:rect l="l" t="t" r="r" b="b"/>
              <a:pathLst>
                <a:path w="508229" h="2040344">
                  <a:moveTo>
                    <a:pt x="215861" y="2040344"/>
                  </a:moveTo>
                  <a:lnTo>
                    <a:pt x="267135" y="1974276"/>
                  </a:lnTo>
                  <a:lnTo>
                    <a:pt x="314437" y="1900436"/>
                  </a:lnTo>
                  <a:lnTo>
                    <a:pt x="357347" y="1819484"/>
                  </a:lnTo>
                  <a:lnTo>
                    <a:pt x="395480" y="1732142"/>
                  </a:lnTo>
                  <a:lnTo>
                    <a:pt x="428495" y="1639191"/>
                  </a:lnTo>
                  <a:lnTo>
                    <a:pt x="456099" y="1541460"/>
                  </a:lnTo>
                  <a:lnTo>
                    <a:pt x="478043" y="1439823"/>
                  </a:lnTo>
                  <a:lnTo>
                    <a:pt x="494134" y="1335188"/>
                  </a:lnTo>
                  <a:lnTo>
                    <a:pt x="504226" y="1228488"/>
                  </a:lnTo>
                  <a:lnTo>
                    <a:pt x="508229" y="1120677"/>
                  </a:lnTo>
                  <a:lnTo>
                    <a:pt x="506109" y="1012717"/>
                  </a:lnTo>
                  <a:lnTo>
                    <a:pt x="497883" y="905573"/>
                  </a:lnTo>
                  <a:lnTo>
                    <a:pt x="483626" y="800202"/>
                  </a:lnTo>
                  <a:lnTo>
                    <a:pt x="463464" y="697544"/>
                  </a:lnTo>
                  <a:lnTo>
                    <a:pt x="437577" y="598517"/>
                  </a:lnTo>
                  <a:lnTo>
                    <a:pt x="406198" y="504005"/>
                  </a:lnTo>
                  <a:lnTo>
                    <a:pt x="369605" y="414851"/>
                  </a:lnTo>
                  <a:lnTo>
                    <a:pt x="328127" y="331853"/>
                  </a:lnTo>
                  <a:lnTo>
                    <a:pt x="282133" y="255752"/>
                  </a:lnTo>
                  <a:lnTo>
                    <a:pt x="232033" y="187226"/>
                  </a:lnTo>
                  <a:lnTo>
                    <a:pt x="178277" y="126889"/>
                  </a:lnTo>
                  <a:lnTo>
                    <a:pt x="121343" y="75278"/>
                  </a:lnTo>
                  <a:lnTo>
                    <a:pt x="61740" y="32856"/>
                  </a:lnTo>
                  <a:lnTo>
                    <a:pt x="0" y="0"/>
                  </a:lnTo>
                </a:path>
              </a:pathLst>
            </a:custGeom>
            <a:noFill/>
            <a:ln w="31750">
              <a:solidFill>
                <a:srgbClr val="F28C28"/>
              </a:solidFill>
              <a:tailEnd type="triangle" w="lg" len="lg"/>
            </a:ln>
          </p:spPr>
          <p:txBody>
            <a:bodyPr rtlCol="0" anchor="ctr"/>
            <a:lstStyle/>
            <a:p>
              <a:pPr algn="ctr"/>
              <a:endParaRPr/>
            </a:p>
          </p:txBody>
        </p:sp>
      </p:grpSp>
      <p:sp>
        <p:nvSpPr>
          <p:cNvPr id="48" name="Badge 1"/>
          <p:cNvSpPr/>
          <p:nvPr/>
        </p:nvSpPr>
        <p:spPr>
          <a:xfrm>
            <a:off x="676656" y="4242816"/>
            <a:ext cx="384048" cy="384048"/>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1</a:t>
            </a:r>
          </a:p>
        </p:txBody>
      </p:sp>
      <p:sp>
        <p:nvSpPr>
          <p:cNvPr id="49" name="TextBox 48"/>
          <p:cNvSpPr txBox="1"/>
          <p:nvPr/>
        </p:nvSpPr>
        <p:spPr>
          <a:xfrm>
            <a:off x="1124712" y="4251960"/>
            <a:ext cx="1188720" cy="365760"/>
          </a:xfrm>
          <a:prstGeom prst="rect">
            <a:avLst/>
          </a:prstGeom>
          <a:noFill/>
        </p:spPr>
        <p:txBody>
          <a:bodyPr wrap="square" lIns="0" tIns="0" rIns="0" bIns="0" anchor="ctr">
            <a:noAutofit/>
          </a:bodyPr>
          <a:lstStyle/>
          <a:p>
            <a:pPr algn="l"/>
            <a:r>
              <a:rPr lang="en-GB" sz="1800" b="1" i="0">
                <a:solidFill>
                  <a:srgbClr val="F2F2F2"/>
                </a:solidFill>
                <a:latin typeface="Arial"/>
              </a:rPr>
              <a:t>Fire</a:t>
            </a:r>
          </a:p>
        </p:txBody>
      </p:sp>
      <p:sp>
        <p:nvSpPr>
          <p:cNvPr id="50" name="Badge 2"/>
          <p:cNvSpPr/>
          <p:nvPr/>
        </p:nvSpPr>
        <p:spPr>
          <a:xfrm>
            <a:off x="2139696" y="1865376"/>
            <a:ext cx="384048" cy="384048"/>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2</a:t>
            </a:r>
          </a:p>
        </p:txBody>
      </p:sp>
      <p:sp>
        <p:nvSpPr>
          <p:cNvPr id="51" name="TextBox 50"/>
          <p:cNvSpPr txBox="1"/>
          <p:nvPr/>
        </p:nvSpPr>
        <p:spPr>
          <a:xfrm>
            <a:off x="2587752" y="1874520"/>
            <a:ext cx="1188720" cy="365760"/>
          </a:xfrm>
          <a:prstGeom prst="rect">
            <a:avLst/>
          </a:prstGeom>
          <a:noFill/>
        </p:spPr>
        <p:txBody>
          <a:bodyPr wrap="square" lIns="0" tIns="0" rIns="0" bIns="0" anchor="ctr">
            <a:noAutofit/>
          </a:bodyPr>
          <a:lstStyle/>
          <a:p>
            <a:pPr algn="l"/>
            <a:r>
              <a:rPr lang="en-GB" sz="1800" b="1" i="0">
                <a:solidFill>
                  <a:srgbClr val="F2F2F2"/>
                </a:solidFill>
                <a:latin typeface="Arial"/>
              </a:rPr>
              <a:t>Steam</a:t>
            </a:r>
          </a:p>
        </p:txBody>
      </p:sp>
      <p:sp>
        <p:nvSpPr>
          <p:cNvPr id="52" name="Badge 3"/>
          <p:cNvSpPr/>
          <p:nvPr/>
        </p:nvSpPr>
        <p:spPr>
          <a:xfrm>
            <a:off x="6345936" y="5202936"/>
            <a:ext cx="384048" cy="384048"/>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3</a:t>
            </a:r>
          </a:p>
        </p:txBody>
      </p:sp>
      <p:sp>
        <p:nvSpPr>
          <p:cNvPr id="53" name="TextBox 52"/>
          <p:cNvSpPr txBox="1"/>
          <p:nvPr/>
        </p:nvSpPr>
        <p:spPr>
          <a:xfrm>
            <a:off x="6793992" y="5212080"/>
            <a:ext cx="1188720" cy="365760"/>
          </a:xfrm>
          <a:prstGeom prst="rect">
            <a:avLst/>
          </a:prstGeom>
          <a:noFill/>
        </p:spPr>
        <p:txBody>
          <a:bodyPr wrap="square" lIns="0" tIns="0" rIns="0" bIns="0" anchor="ctr">
            <a:noAutofit/>
          </a:bodyPr>
          <a:lstStyle/>
          <a:p>
            <a:pPr algn="l"/>
            <a:r>
              <a:rPr lang="en-GB" sz="1800" b="1" i="0">
                <a:solidFill>
                  <a:srgbClr val="F2F2F2"/>
                </a:solidFill>
                <a:latin typeface="Arial"/>
              </a:rPr>
              <a:t>Piston</a:t>
            </a:r>
          </a:p>
        </p:txBody>
      </p:sp>
      <p:sp>
        <p:nvSpPr>
          <p:cNvPr id="54" name="Badge 4"/>
          <p:cNvSpPr/>
          <p:nvPr/>
        </p:nvSpPr>
        <p:spPr>
          <a:xfrm>
            <a:off x="3877056" y="5202936"/>
            <a:ext cx="384048" cy="384048"/>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4</a:t>
            </a:r>
          </a:p>
        </p:txBody>
      </p:sp>
      <p:sp>
        <p:nvSpPr>
          <p:cNvPr id="55" name="TextBox 54"/>
          <p:cNvSpPr txBox="1"/>
          <p:nvPr/>
        </p:nvSpPr>
        <p:spPr>
          <a:xfrm>
            <a:off x="4325112" y="5212080"/>
            <a:ext cx="1188720" cy="365760"/>
          </a:xfrm>
          <a:prstGeom prst="rect">
            <a:avLst/>
          </a:prstGeom>
          <a:noFill/>
        </p:spPr>
        <p:txBody>
          <a:bodyPr wrap="square" lIns="0" tIns="0" rIns="0" bIns="0" anchor="ctr">
            <a:noAutofit/>
          </a:bodyPr>
          <a:lstStyle/>
          <a:p>
            <a:pPr algn="l"/>
            <a:r>
              <a:rPr lang="en-GB" sz="1800" b="1" i="0">
                <a:solidFill>
                  <a:srgbClr val="F2F2F2"/>
                </a:solidFill>
                <a:latin typeface="Arial"/>
              </a:rPr>
              <a:t>Wheels</a:t>
            </a:r>
          </a:p>
        </p:txBody>
      </p:sp>
      <p:sp>
        <p:nvSpPr>
          <p:cNvPr id="56" name="TextBox 55"/>
          <p:cNvSpPr txBox="1"/>
          <p:nvPr/>
        </p:nvSpPr>
        <p:spPr>
          <a:xfrm>
            <a:off x="7863840" y="2514600"/>
            <a:ext cx="1097280" cy="365760"/>
          </a:xfrm>
          <a:prstGeom prst="rect">
            <a:avLst/>
          </a:prstGeom>
          <a:noFill/>
        </p:spPr>
        <p:txBody>
          <a:bodyPr wrap="square" lIns="0" tIns="0" rIns="0" bIns="0" anchor="ctr">
            <a:noAutofit/>
          </a:bodyPr>
          <a:lstStyle/>
          <a:p>
            <a:pPr algn="l"/>
            <a:r>
              <a:rPr lang="en-GB" sz="1600" b="0" i="0">
                <a:solidFill>
                  <a:srgbClr val="F2F2F2"/>
                </a:solidFill>
                <a:latin typeface="Arial"/>
              </a:rPr>
              <a:t>Exhaust</a:t>
            </a:r>
          </a:p>
        </p:txBody>
      </p:sp>
      <p:pic>
        <p:nvPicPr>
          <p:cNvPr id="57" name="Picture P03" descr="Outside valve gear, rods and crosshead on the side of BR Standard 9F No. 92203."/>
          <p:cNvPicPr>
            <a:picLocks noChangeAspect="1"/>
          </p:cNvPicPr>
          <p:nvPr/>
        </p:nvPicPr>
        <p:blipFill>
          <a:blip r:embed="rId2"/>
          <a:srcRect l="31" r="31"/>
          <a:stretch>
            <a:fillRect/>
          </a:stretch>
        </p:blipFill>
        <p:spPr>
          <a:xfrm>
            <a:off x="8348472" y="3063240"/>
            <a:ext cx="3291840" cy="2194560"/>
          </a:xfrm>
          <a:prstGeom prst="roundRect">
            <a:avLst>
              <a:gd name="adj" fmla="val 3333"/>
            </a:avLst>
          </a:prstGeom>
        </p:spPr>
      </p:pic>
      <p:sp>
        <p:nvSpPr>
          <p:cNvPr id="58" name="Credit"/>
          <p:cNvSpPr txBox="1"/>
          <p:nvPr/>
        </p:nvSpPr>
        <p:spPr>
          <a:xfrm>
            <a:off x="8348472" y="5285232"/>
            <a:ext cx="3291840" cy="182880"/>
          </a:xfrm>
          <a:prstGeom prst="rect">
            <a:avLst/>
          </a:prstGeom>
          <a:noFill/>
        </p:spPr>
        <p:txBody>
          <a:bodyPr wrap="square" lIns="0" tIns="0" rIns="0" bIns="0" anchor="t">
            <a:noAutofit/>
          </a:bodyPr>
          <a:lstStyle/>
          <a:p>
            <a:pPr algn="l"/>
            <a:r>
              <a:rPr lang="en-GB" sz="1000" b="0" i="0">
                <a:solidFill>
                  <a:srgbClr val="A9B0B8"/>
                </a:solidFill>
                <a:latin typeface="Arial"/>
              </a:rPr>
              <a:t>Photo: Ben Salter, CC BY 2.0,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Coal heats water. Steam pushes pistons. Rods turn the wheels.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7</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138"/>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par>
                                <p:cTn id="11" presetID="10" presetClass="entr" presetSubtype="0" fill="hold" nodeType="withEffect">
                                  <p:stCondLst>
                                    <p:cond delay="276"/>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childTnLst>
                                </p:cTn>
                              </p:par>
                              <p:par>
                                <p:cTn id="14" presetID="10" presetClass="entr" presetSubtype="0" fill="hold" nodeType="withEffect">
                                  <p:stCondLst>
                                    <p:cond delay="414"/>
                                  </p:stCondLst>
                                  <p:childTnLst>
                                    <p:set>
                                      <p:cBhvr>
                                        <p:cTn id="15" dur="1" fill="hold">
                                          <p:stCondLst>
                                            <p:cond delay="0"/>
                                          </p:stCondLst>
                                        </p:cTn>
                                        <p:tgtEl>
                                          <p:spTgt spid="50"/>
                                        </p:tgtEl>
                                        <p:attrNameLst>
                                          <p:attrName>style.visibility</p:attrName>
                                        </p:attrNameLst>
                                      </p:cBhvr>
                                      <p:to>
                                        <p:strVal val="visible"/>
                                      </p:to>
                                    </p:set>
                                    <p:animEffect transition="in" filter="fade">
                                      <p:cBhvr>
                                        <p:cTn id="16" dur="500"/>
                                        <p:tgtEl>
                                          <p:spTgt spid="50"/>
                                        </p:tgtEl>
                                      </p:cBhvr>
                                    </p:animEffect>
                                  </p:childTnLst>
                                </p:cTn>
                              </p:par>
                              <p:par>
                                <p:cTn id="17" presetID="10" presetClass="entr" presetSubtype="0" fill="hold" nodeType="withEffect">
                                  <p:stCondLst>
                                    <p:cond delay="552"/>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childTnLst>
                                </p:cTn>
                              </p:par>
                              <p:par>
                                <p:cTn id="20" presetID="10" presetClass="entr" presetSubtype="0" fill="hold" nodeType="withEffect">
                                  <p:stCondLst>
                                    <p:cond delay="69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500"/>
                                        <p:tgtEl>
                                          <p:spTgt spid="52"/>
                                        </p:tgtEl>
                                      </p:cBhvr>
                                    </p:animEffect>
                                  </p:childTnLst>
                                </p:cTn>
                              </p:par>
                              <p:par>
                                <p:cTn id="23" presetID="10" presetClass="entr" presetSubtype="0" fill="hold" nodeType="withEffect">
                                  <p:stCondLst>
                                    <p:cond delay="828"/>
                                  </p:stCondLst>
                                  <p:childTnLst>
                                    <p:set>
                                      <p:cBhvr>
                                        <p:cTn id="24" dur="1" fill="hold">
                                          <p:stCondLst>
                                            <p:cond delay="0"/>
                                          </p:stCondLst>
                                        </p:cTn>
                                        <p:tgtEl>
                                          <p:spTgt spid="53"/>
                                        </p:tgtEl>
                                        <p:attrNameLst>
                                          <p:attrName>style.visibility</p:attrName>
                                        </p:attrNameLst>
                                      </p:cBhvr>
                                      <p:to>
                                        <p:strVal val="visible"/>
                                      </p:to>
                                    </p:set>
                                    <p:animEffect transition="in" filter="fade">
                                      <p:cBhvr>
                                        <p:cTn id="25" dur="500"/>
                                        <p:tgtEl>
                                          <p:spTgt spid="53"/>
                                        </p:tgtEl>
                                      </p:cBhvr>
                                    </p:animEffect>
                                  </p:childTnLst>
                                </p:cTn>
                              </p:par>
                              <p:par>
                                <p:cTn id="26" presetID="10" presetClass="entr" presetSubtype="0" fill="hold" nodeType="withEffect">
                                  <p:stCondLst>
                                    <p:cond delay="966"/>
                                  </p:stCondLst>
                                  <p:childTnLst>
                                    <p:set>
                                      <p:cBhvr>
                                        <p:cTn id="27" dur="1" fill="hold">
                                          <p:stCondLst>
                                            <p:cond delay="0"/>
                                          </p:stCondLst>
                                        </p:cTn>
                                        <p:tgtEl>
                                          <p:spTgt spid="54"/>
                                        </p:tgtEl>
                                        <p:attrNameLst>
                                          <p:attrName>style.visibility</p:attrName>
                                        </p:attrNameLst>
                                      </p:cBhvr>
                                      <p:to>
                                        <p:strVal val="visible"/>
                                      </p:to>
                                    </p:set>
                                    <p:animEffect transition="in" filter="fade">
                                      <p:cBhvr>
                                        <p:cTn id="28" dur="500"/>
                                        <p:tgtEl>
                                          <p:spTgt spid="54"/>
                                        </p:tgtEl>
                                      </p:cBhvr>
                                    </p:animEffect>
                                  </p:childTnLst>
                                </p:cTn>
                              </p:par>
                              <p:par>
                                <p:cTn id="29" presetID="10" presetClass="entr" presetSubtype="0" fill="hold" nodeType="withEffect">
                                  <p:stCondLst>
                                    <p:cond delay="1104"/>
                                  </p:stCondLst>
                                  <p:childTnLst>
                                    <p:set>
                                      <p:cBhvr>
                                        <p:cTn id="30" dur="1" fill="hold">
                                          <p:stCondLst>
                                            <p:cond delay="0"/>
                                          </p:stCondLst>
                                        </p:cTn>
                                        <p:tgtEl>
                                          <p:spTgt spid="55"/>
                                        </p:tgtEl>
                                        <p:attrNameLst>
                                          <p:attrName>style.visibility</p:attrName>
                                        </p:attrNameLst>
                                      </p:cBhvr>
                                      <p:to>
                                        <p:strVal val="visible"/>
                                      </p:to>
                                    </p:set>
                                    <p:animEffect transition="in" filter="fade">
                                      <p:cBhvr>
                                        <p:cTn id="31" dur="500"/>
                                        <p:tgtEl>
                                          <p:spTgt spid="55"/>
                                        </p:tgtEl>
                                      </p:cBhvr>
                                    </p:animEffect>
                                  </p:childTnLst>
                                </p:cTn>
                              </p:par>
                              <p:par>
                                <p:cTn id="32" presetID="10" presetClass="entr" presetSubtype="0" fill="hold" nodeType="withEffect">
                                  <p:stCondLst>
                                    <p:cond delay="1242"/>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500"/>
                                        <p:tgtEl>
                                          <p:spTgt spid="56"/>
                                        </p:tgtEl>
                                      </p:cBhvr>
                                    </p:animEffect>
                                  </p:childTnLst>
                                </p:cTn>
                              </p:par>
                              <p:par>
                                <p:cTn id="35" presetID="10" presetClass="entr" presetSubtype="0" fill="hold" nodeType="withEffect">
                                  <p:stCondLst>
                                    <p:cond delay="138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500"/>
                                        <p:tgtEl>
                                          <p:spTgt spid="57"/>
                                        </p:tgtEl>
                                      </p:cBhvr>
                                    </p:animEffect>
                                  </p:childTnLst>
                                </p:cTn>
                              </p:par>
                              <p:par>
                                <p:cTn id="38" presetID="10" presetClass="entr" presetSubtype="0" fill="hold" nodeType="withEffect">
                                  <p:stCondLst>
                                    <p:cond delay="1518"/>
                                  </p:stCondLst>
                                  <p:childTnLst>
                                    <p:set>
                                      <p:cBhvr>
                                        <p:cTn id="39" dur="1" fill="hold">
                                          <p:stCondLst>
                                            <p:cond delay="0"/>
                                          </p:stCondLst>
                                        </p:cTn>
                                        <p:tgtEl>
                                          <p:spTgt spid="4"/>
                                        </p:tgtEl>
                                        <p:attrNameLst>
                                          <p:attrName>style.visibility</p:attrName>
                                        </p:attrNameLst>
                                      </p:cBhvr>
                                      <p:to>
                                        <p:strVal val="visible"/>
                                      </p:to>
                                    </p:set>
                                    <p:animEffect transition="in" filter="fade">
                                      <p:cBhvr>
                                        <p:cTn id="40" dur="500"/>
                                        <p:tgtEl>
                                          <p:spTgt spid="4"/>
                                        </p:tgtEl>
                                      </p:cBhvr>
                                    </p:animEffect>
                                  </p:childTnLst>
                                </p:cTn>
                              </p:par>
                              <p:par>
                                <p:cTn id="41" presetID="10" presetClass="entr" presetSubtype="0" fill="hold" nodeType="withEffect">
                                  <p:stCondLst>
                                    <p:cond delay="1656"/>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Coal, water and steam</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8" name="TextBox 7"/>
          <p:cNvSpPr txBox="1"/>
          <p:nvPr/>
        </p:nvSpPr>
        <p:spPr>
          <a:xfrm>
            <a:off x="777240" y="1298448"/>
            <a:ext cx="2743200" cy="384048"/>
          </a:xfrm>
          <a:prstGeom prst="rect">
            <a:avLst/>
          </a:prstGeom>
          <a:noFill/>
        </p:spPr>
        <p:txBody>
          <a:bodyPr wrap="square" lIns="0" tIns="0" rIns="0" bIns="0" anchor="t">
            <a:noAutofit/>
          </a:bodyPr>
          <a:lstStyle/>
          <a:p>
            <a:pPr algn="l"/>
            <a:r>
              <a:rPr lang="en-GB" sz="2000" b="1" i="0">
                <a:solidFill>
                  <a:srgbClr val="F28C28"/>
                </a:solidFill>
                <a:latin typeface="Arial"/>
              </a:rPr>
              <a:t>Before</a:t>
            </a:r>
          </a:p>
        </p:txBody>
      </p:sp>
      <p:sp>
        <p:nvSpPr>
          <p:cNvPr id="9" name="TextBox 8"/>
          <p:cNvSpPr txBox="1"/>
          <p:nvPr/>
        </p:nvSpPr>
        <p:spPr>
          <a:xfrm>
            <a:off x="7178040" y="1298448"/>
            <a:ext cx="2743200" cy="384048"/>
          </a:xfrm>
          <a:prstGeom prst="rect">
            <a:avLst/>
          </a:prstGeom>
          <a:noFill/>
        </p:spPr>
        <p:txBody>
          <a:bodyPr wrap="square" lIns="0" tIns="0" rIns="0" bIns="0" anchor="t">
            <a:noAutofit/>
          </a:bodyPr>
          <a:lstStyle/>
          <a:p>
            <a:pPr algn="l"/>
            <a:r>
              <a:rPr lang="en-GB" sz="2000" b="1" i="0">
                <a:solidFill>
                  <a:srgbClr val="F28C28"/>
                </a:solidFill>
                <a:latin typeface="Arial"/>
              </a:rPr>
              <a:t>After</a:t>
            </a:r>
          </a:p>
        </p:txBody>
      </p:sp>
      <p:grpSp>
        <p:nvGrpSpPr>
          <p:cNvPr id="10" name="Coal and water run down" descr="Before a long trip the coal and water tanks are both nearly full. After it, coal is just under half full but water is almost empty, because steam leaves the chimney and is not used again."/>
          <p:cNvGrpSpPr/>
          <p:nvPr/>
        </p:nvGrpSpPr>
        <p:grpSpPr>
          <a:xfrm>
            <a:off x="548640" y="1689811"/>
            <a:ext cx="11091672" cy="3476549"/>
            <a:chOff x="548640" y="1689811"/>
            <a:chExt cx="11091672" cy="3476549"/>
          </a:xfrm>
        </p:grpSpPr>
        <p:sp>
          <p:nvSpPr>
            <p:cNvPr id="11" name="Rounded Rectangle 10"/>
            <p:cNvSpPr/>
            <p:nvPr/>
          </p:nvSpPr>
          <p:spPr>
            <a:xfrm>
              <a:off x="548640" y="1737360"/>
              <a:ext cx="4206240" cy="3429000"/>
            </a:xfrm>
            <a:prstGeom prst="roundRect">
              <a:avLst>
                <a:gd name="adj" fmla="val 2666"/>
              </a:avLst>
            </a:prstGeom>
            <a:solidFill>
              <a:srgbClr val="2B2F36"/>
            </a:solidFill>
            <a:ln>
              <a:noFill/>
            </a:ln>
          </p:spPr>
          <p:txBody>
            <a:bodyPr rtlCol="0" anchor="ctr"/>
            <a:lstStyle/>
            <a:p>
              <a:pPr algn="ctr"/>
              <a:endParaRPr/>
            </a:p>
          </p:txBody>
        </p:sp>
        <p:sp>
          <p:nvSpPr>
            <p:cNvPr id="12" name="Rounded Rectangle 11"/>
            <p:cNvSpPr/>
            <p:nvPr/>
          </p:nvSpPr>
          <p:spPr>
            <a:xfrm>
              <a:off x="6949440" y="1737360"/>
              <a:ext cx="4690872" cy="3429000"/>
            </a:xfrm>
            <a:prstGeom prst="roundRect">
              <a:avLst>
                <a:gd name="adj" fmla="val 2666"/>
              </a:avLst>
            </a:prstGeom>
            <a:solidFill>
              <a:srgbClr val="2B2F36"/>
            </a:solidFill>
            <a:ln>
              <a:noFill/>
            </a:ln>
          </p:spPr>
          <p:txBody>
            <a:bodyPr rtlCol="0" anchor="ctr"/>
            <a:lstStyle/>
            <a:p>
              <a:pPr algn="ctr"/>
              <a:endParaRPr/>
            </a:p>
          </p:txBody>
        </p:sp>
        <p:sp>
          <p:nvSpPr>
            <p:cNvPr id="13" name="Rounded Rectangle 12"/>
            <p:cNvSpPr/>
            <p:nvPr/>
          </p:nvSpPr>
          <p:spPr>
            <a:xfrm>
              <a:off x="1097280" y="2514600"/>
              <a:ext cx="1463040" cy="2103120"/>
            </a:xfrm>
            <a:prstGeom prst="roundRect">
              <a:avLst>
                <a:gd name="adj" fmla="val 5000"/>
              </a:avLst>
            </a:prstGeom>
            <a:solidFill>
              <a:srgbClr val="2B2F36"/>
            </a:solidFill>
            <a:ln w="25400">
              <a:solidFill>
                <a:srgbClr val="6B7078"/>
              </a:solidFill>
            </a:ln>
          </p:spPr>
          <p:txBody>
            <a:bodyPr rtlCol="0" anchor="ctr"/>
            <a:lstStyle/>
            <a:p>
              <a:pPr algn="ctr"/>
              <a:endParaRPr/>
            </a:p>
          </p:txBody>
        </p:sp>
        <p:sp>
          <p:nvSpPr>
            <p:cNvPr id="14" name="Rounded Rectangle 13"/>
            <p:cNvSpPr/>
            <p:nvPr/>
          </p:nvSpPr>
          <p:spPr>
            <a:xfrm>
              <a:off x="1133856" y="2957170"/>
              <a:ext cx="1389888" cy="1623974"/>
            </a:xfrm>
            <a:prstGeom prst="roundRect">
              <a:avLst>
                <a:gd name="adj" fmla="val 3289"/>
              </a:avLst>
            </a:prstGeom>
            <a:solidFill>
              <a:srgbClr val="1B1D21"/>
            </a:solidFill>
            <a:ln>
              <a:noFill/>
            </a:ln>
          </p:spPr>
          <p:txBody>
            <a:bodyPr rtlCol="0" anchor="ctr"/>
            <a:lstStyle/>
            <a:p>
              <a:pPr algn="ctr"/>
              <a:endParaRPr/>
            </a:p>
          </p:txBody>
        </p:sp>
        <p:sp>
          <p:nvSpPr>
            <p:cNvPr id="15" name="Rounded Rectangle 14"/>
            <p:cNvSpPr/>
            <p:nvPr/>
          </p:nvSpPr>
          <p:spPr>
            <a:xfrm>
              <a:off x="2834640" y="2514600"/>
              <a:ext cx="1463040" cy="2103120"/>
            </a:xfrm>
            <a:prstGeom prst="roundRect">
              <a:avLst>
                <a:gd name="adj" fmla="val 5000"/>
              </a:avLst>
            </a:prstGeom>
            <a:solidFill>
              <a:srgbClr val="2B2F36"/>
            </a:solidFill>
            <a:ln w="25400">
              <a:solidFill>
                <a:srgbClr val="F2F2F2"/>
              </a:solidFill>
            </a:ln>
          </p:spPr>
          <p:txBody>
            <a:bodyPr rtlCol="0" anchor="ctr"/>
            <a:lstStyle/>
            <a:p>
              <a:pPr algn="ctr"/>
              <a:endParaRPr/>
            </a:p>
          </p:txBody>
        </p:sp>
        <p:sp>
          <p:nvSpPr>
            <p:cNvPr id="16" name="Rounded Rectangle 15"/>
            <p:cNvSpPr/>
            <p:nvPr/>
          </p:nvSpPr>
          <p:spPr>
            <a:xfrm>
              <a:off x="2871216" y="2957170"/>
              <a:ext cx="1389888" cy="1623974"/>
            </a:xfrm>
            <a:prstGeom prst="roundRect">
              <a:avLst>
                <a:gd name="adj" fmla="val 3289"/>
              </a:avLst>
            </a:prstGeom>
            <a:solidFill>
              <a:srgbClr val="4DA3FF"/>
            </a:solidFill>
            <a:ln>
              <a:noFill/>
            </a:ln>
          </p:spPr>
          <p:txBody>
            <a:bodyPr rtlCol="0" anchor="ctr"/>
            <a:lstStyle/>
            <a:p>
              <a:pPr algn="ctr"/>
              <a:endParaRPr/>
            </a:p>
          </p:txBody>
        </p:sp>
        <p:sp>
          <p:nvSpPr>
            <p:cNvPr id="17" name="Rounded Rectangle 16"/>
            <p:cNvSpPr/>
            <p:nvPr/>
          </p:nvSpPr>
          <p:spPr>
            <a:xfrm>
              <a:off x="7360920" y="2514600"/>
              <a:ext cx="1463040" cy="2103120"/>
            </a:xfrm>
            <a:prstGeom prst="roundRect">
              <a:avLst>
                <a:gd name="adj" fmla="val 5000"/>
              </a:avLst>
            </a:prstGeom>
            <a:solidFill>
              <a:srgbClr val="2B2F36"/>
            </a:solidFill>
            <a:ln w="25400">
              <a:solidFill>
                <a:srgbClr val="6B7078"/>
              </a:solidFill>
            </a:ln>
          </p:spPr>
          <p:txBody>
            <a:bodyPr rtlCol="0" anchor="ctr"/>
            <a:lstStyle/>
            <a:p>
              <a:pPr algn="ctr"/>
              <a:endParaRPr/>
            </a:p>
          </p:txBody>
        </p:sp>
        <p:sp>
          <p:nvSpPr>
            <p:cNvPr id="18" name="Rounded Rectangle 17"/>
            <p:cNvSpPr/>
            <p:nvPr/>
          </p:nvSpPr>
          <p:spPr>
            <a:xfrm>
              <a:off x="7397496" y="3667658"/>
              <a:ext cx="1389888" cy="913486"/>
            </a:xfrm>
            <a:prstGeom prst="roundRect">
              <a:avLst>
                <a:gd name="adj" fmla="val 5005"/>
              </a:avLst>
            </a:prstGeom>
            <a:solidFill>
              <a:srgbClr val="1B1D21"/>
            </a:solidFill>
            <a:ln>
              <a:noFill/>
            </a:ln>
          </p:spPr>
          <p:txBody>
            <a:bodyPr rtlCol="0" anchor="ctr"/>
            <a:lstStyle/>
            <a:p>
              <a:pPr algn="ctr"/>
              <a:endParaRPr/>
            </a:p>
          </p:txBody>
        </p:sp>
        <p:sp>
          <p:nvSpPr>
            <p:cNvPr id="19" name="Rounded Rectangle 18"/>
            <p:cNvSpPr/>
            <p:nvPr/>
          </p:nvSpPr>
          <p:spPr>
            <a:xfrm>
              <a:off x="9098280" y="2514600"/>
              <a:ext cx="1463040" cy="2103120"/>
            </a:xfrm>
            <a:prstGeom prst="roundRect">
              <a:avLst>
                <a:gd name="adj" fmla="val 5000"/>
              </a:avLst>
            </a:prstGeom>
            <a:solidFill>
              <a:srgbClr val="2B2F36"/>
            </a:solidFill>
            <a:ln w="25400">
              <a:solidFill>
                <a:srgbClr val="F2F2F2"/>
              </a:solidFill>
            </a:ln>
          </p:spPr>
          <p:txBody>
            <a:bodyPr rtlCol="0" anchor="ctr"/>
            <a:lstStyle/>
            <a:p>
              <a:pPr algn="ctr"/>
              <a:endParaRPr/>
            </a:p>
          </p:txBody>
        </p:sp>
        <p:sp>
          <p:nvSpPr>
            <p:cNvPr id="20" name="Rounded Rectangle 19"/>
            <p:cNvSpPr/>
            <p:nvPr/>
          </p:nvSpPr>
          <p:spPr>
            <a:xfrm>
              <a:off x="9134856" y="4276649"/>
              <a:ext cx="1389888" cy="304495"/>
            </a:xfrm>
            <a:prstGeom prst="roundRect">
              <a:avLst>
                <a:gd name="adj" fmla="val 15015"/>
              </a:avLst>
            </a:prstGeom>
            <a:solidFill>
              <a:srgbClr val="4DA3FF"/>
            </a:solidFill>
            <a:ln>
              <a:noFill/>
            </a:ln>
          </p:spPr>
          <p:txBody>
            <a:bodyPr rtlCol="0" anchor="ctr"/>
            <a:lstStyle/>
            <a:p>
              <a:pPr algn="ctr"/>
              <a:endParaRPr/>
            </a:p>
          </p:txBody>
        </p:sp>
        <p:sp>
          <p:nvSpPr>
            <p:cNvPr id="21" name="TextBox 20"/>
            <p:cNvSpPr txBox="1"/>
            <p:nvPr/>
          </p:nvSpPr>
          <p:spPr>
            <a:xfrm>
              <a:off x="1097280" y="4654296"/>
              <a:ext cx="1463040" cy="320040"/>
            </a:xfrm>
            <a:prstGeom prst="rect">
              <a:avLst/>
            </a:prstGeom>
            <a:noFill/>
          </p:spPr>
          <p:txBody>
            <a:bodyPr wrap="square" lIns="0" tIns="0" rIns="0" bIns="0" anchor="t">
              <a:noAutofit/>
            </a:bodyPr>
            <a:lstStyle/>
            <a:p>
              <a:pPr algn="ctr"/>
              <a:r>
                <a:rPr lang="en-GB" sz="1600" b="0" i="0">
                  <a:solidFill>
                    <a:srgbClr val="F2F2F2"/>
                  </a:solidFill>
                  <a:latin typeface="Arial"/>
                </a:rPr>
                <a:t>Coal</a:t>
              </a:r>
            </a:p>
          </p:txBody>
        </p:sp>
        <p:sp>
          <p:nvSpPr>
            <p:cNvPr id="22" name="TextBox 21"/>
            <p:cNvSpPr txBox="1"/>
            <p:nvPr/>
          </p:nvSpPr>
          <p:spPr>
            <a:xfrm>
              <a:off x="7360920" y="4654296"/>
              <a:ext cx="1463040" cy="320040"/>
            </a:xfrm>
            <a:prstGeom prst="rect">
              <a:avLst/>
            </a:prstGeom>
            <a:noFill/>
          </p:spPr>
          <p:txBody>
            <a:bodyPr wrap="square" lIns="0" tIns="0" rIns="0" bIns="0" anchor="t">
              <a:noAutofit/>
            </a:bodyPr>
            <a:lstStyle/>
            <a:p>
              <a:pPr algn="ctr"/>
              <a:r>
                <a:rPr lang="en-GB" sz="1600" b="0" i="0">
                  <a:solidFill>
                    <a:srgbClr val="F2F2F2"/>
                  </a:solidFill>
                  <a:latin typeface="Arial"/>
                </a:rPr>
                <a:t>Coal</a:t>
              </a:r>
            </a:p>
          </p:txBody>
        </p:sp>
        <p:sp>
          <p:nvSpPr>
            <p:cNvPr id="23" name="TextBox 22"/>
            <p:cNvSpPr txBox="1"/>
            <p:nvPr/>
          </p:nvSpPr>
          <p:spPr>
            <a:xfrm>
              <a:off x="2834640" y="4654296"/>
              <a:ext cx="1463040" cy="320040"/>
            </a:xfrm>
            <a:prstGeom prst="rect">
              <a:avLst/>
            </a:prstGeom>
            <a:noFill/>
          </p:spPr>
          <p:txBody>
            <a:bodyPr wrap="square" lIns="0" tIns="0" rIns="0" bIns="0" anchor="t">
              <a:noAutofit/>
            </a:bodyPr>
            <a:lstStyle/>
            <a:p>
              <a:pPr algn="ctr"/>
              <a:r>
                <a:rPr lang="en-GB" sz="1600" b="0" i="0">
                  <a:solidFill>
                    <a:srgbClr val="F2F2F2"/>
                  </a:solidFill>
                  <a:latin typeface="Arial"/>
                </a:rPr>
                <a:t>Water</a:t>
              </a:r>
            </a:p>
          </p:txBody>
        </p:sp>
        <p:sp>
          <p:nvSpPr>
            <p:cNvPr id="24" name="TextBox 23"/>
            <p:cNvSpPr txBox="1"/>
            <p:nvPr/>
          </p:nvSpPr>
          <p:spPr>
            <a:xfrm>
              <a:off x="9098280" y="4654296"/>
              <a:ext cx="1463040" cy="320040"/>
            </a:xfrm>
            <a:prstGeom prst="rect">
              <a:avLst/>
            </a:prstGeom>
            <a:noFill/>
          </p:spPr>
          <p:txBody>
            <a:bodyPr wrap="square" lIns="0" tIns="0" rIns="0" bIns="0" anchor="t">
              <a:noAutofit/>
            </a:bodyPr>
            <a:lstStyle/>
            <a:p>
              <a:pPr algn="ctr"/>
              <a:r>
                <a:rPr lang="en-GB" sz="1600" b="0" i="0">
                  <a:solidFill>
                    <a:srgbClr val="F2F2F2"/>
                  </a:solidFill>
                  <a:latin typeface="Arial"/>
                </a:rPr>
                <a:t>Water</a:t>
              </a:r>
            </a:p>
          </p:txBody>
        </p:sp>
        <p:sp>
          <p:nvSpPr>
            <p:cNvPr id="25" name="Rounded Rectangle 24"/>
            <p:cNvSpPr/>
            <p:nvPr/>
          </p:nvSpPr>
          <p:spPr>
            <a:xfrm>
              <a:off x="9098280" y="3749040"/>
              <a:ext cx="1463040" cy="329184"/>
            </a:xfrm>
            <a:prstGeom prst="roundRect">
              <a:avLst>
                <a:gd name="adj" fmla="val 50000"/>
              </a:avLst>
            </a:prstGeom>
            <a:solidFill>
              <a:srgbClr val="B3262B"/>
            </a:solidFill>
            <a:ln>
              <a:noFill/>
            </a:ln>
          </p:spPr>
          <p:txBody>
            <a:bodyPr wrap="square" lIns="54864" tIns="18288" rIns="54864" bIns="18288" rtlCol="0" anchor="ctr">
              <a:noAutofit/>
            </a:bodyPr>
            <a:lstStyle/>
            <a:p>
              <a:pPr algn="ctr"/>
              <a:r>
                <a:rPr lang="en-GB" sz="1400" b="1" i="0">
                  <a:solidFill>
                    <a:srgbClr val="F2F2F2"/>
                  </a:solidFill>
                  <a:latin typeface="Arial"/>
                </a:rPr>
                <a:t>EMPTY FIRST</a:t>
              </a:r>
            </a:p>
          </p:txBody>
        </p:sp>
        <p:sp>
          <p:nvSpPr>
            <p:cNvPr id="26" name="Rectangle 25"/>
            <p:cNvSpPr/>
            <p:nvPr/>
          </p:nvSpPr>
          <p:spPr>
            <a:xfrm>
              <a:off x="7269480" y="2029968"/>
              <a:ext cx="274320" cy="384048"/>
            </a:xfrm>
            <a:prstGeom prst="rect">
              <a:avLst/>
            </a:prstGeom>
            <a:solidFill>
              <a:srgbClr val="1B1D21"/>
            </a:solidFill>
            <a:ln w="19050">
              <a:solidFill>
                <a:srgbClr val="9AA0A6"/>
              </a:solidFill>
            </a:ln>
          </p:spPr>
          <p:txBody>
            <a:bodyPr rtlCol="0" anchor="ctr"/>
            <a:lstStyle/>
            <a:p>
              <a:pPr algn="ctr"/>
              <a:endParaRPr/>
            </a:p>
          </p:txBody>
        </p:sp>
        <p:sp>
          <p:nvSpPr>
            <p:cNvPr id="27" name="Oval 26"/>
            <p:cNvSpPr/>
            <p:nvPr/>
          </p:nvSpPr>
          <p:spPr>
            <a:xfrm>
              <a:off x="7562088" y="1856232"/>
              <a:ext cx="274320" cy="164592"/>
            </a:xfrm>
            <a:prstGeom prst="ellipse">
              <a:avLst/>
            </a:prstGeom>
            <a:solidFill>
              <a:srgbClr val="D4D5D6"/>
            </a:solidFill>
            <a:ln>
              <a:noFill/>
            </a:ln>
          </p:spPr>
          <p:txBody>
            <a:bodyPr rtlCol="0" anchor="ctr"/>
            <a:lstStyle/>
            <a:p>
              <a:pPr algn="ctr"/>
              <a:endParaRPr/>
            </a:p>
          </p:txBody>
        </p:sp>
        <p:sp>
          <p:nvSpPr>
            <p:cNvPr id="28" name="Oval 27"/>
            <p:cNvSpPr/>
            <p:nvPr/>
          </p:nvSpPr>
          <p:spPr>
            <a:xfrm>
              <a:off x="7872984" y="1742846"/>
              <a:ext cx="347472" cy="208483"/>
            </a:xfrm>
            <a:prstGeom prst="ellipse">
              <a:avLst/>
            </a:prstGeom>
            <a:solidFill>
              <a:srgbClr val="D4D5D6"/>
            </a:solidFill>
            <a:ln>
              <a:noFill/>
            </a:ln>
          </p:spPr>
          <p:txBody>
            <a:bodyPr rtlCol="0" anchor="ctr"/>
            <a:lstStyle/>
            <a:p>
              <a:pPr algn="ctr"/>
              <a:endParaRPr/>
            </a:p>
          </p:txBody>
        </p:sp>
        <p:sp>
          <p:nvSpPr>
            <p:cNvPr id="29" name="Oval 28"/>
            <p:cNvSpPr/>
            <p:nvPr/>
          </p:nvSpPr>
          <p:spPr>
            <a:xfrm>
              <a:off x="8257032" y="1689811"/>
              <a:ext cx="402336" cy="241402"/>
            </a:xfrm>
            <a:prstGeom prst="ellipse">
              <a:avLst/>
            </a:prstGeom>
            <a:solidFill>
              <a:srgbClr val="D4D5D6"/>
            </a:solidFill>
            <a:ln>
              <a:noFill/>
            </a:ln>
          </p:spPr>
          <p:txBody>
            <a:bodyPr rtlCol="0" anchor="ctr"/>
            <a:lstStyle/>
            <a:p>
              <a:pPr algn="ctr"/>
              <a:endParaRPr/>
            </a:p>
          </p:txBody>
        </p:sp>
        <p:sp>
          <p:nvSpPr>
            <p:cNvPr id="30" name="TextBox 29"/>
            <p:cNvSpPr txBox="1"/>
            <p:nvPr/>
          </p:nvSpPr>
          <p:spPr>
            <a:xfrm>
              <a:off x="8778240" y="1828800"/>
              <a:ext cx="2743200" cy="566928"/>
            </a:xfrm>
            <a:prstGeom prst="rect">
              <a:avLst/>
            </a:prstGeom>
            <a:noFill/>
          </p:spPr>
          <p:txBody>
            <a:bodyPr wrap="square" lIns="0" tIns="0" rIns="0" bIns="0" anchor="ctr">
              <a:noAutofit/>
            </a:bodyPr>
            <a:lstStyle/>
            <a:p>
              <a:pPr algn="l"/>
              <a:r>
                <a:rPr lang="en-GB" sz="1600" b="0" i="0">
                  <a:solidFill>
                    <a:srgbClr val="F2F2F2"/>
                  </a:solidFill>
                  <a:latin typeface="Arial"/>
                </a:rPr>
                <a:t>Steam leaves the chimney. It is not used again.</a:t>
              </a:r>
            </a:p>
          </p:txBody>
        </p:sp>
        <p:sp>
          <p:nvSpPr>
            <p:cNvPr id="31" name="Right Arrow 30"/>
            <p:cNvSpPr/>
            <p:nvPr/>
          </p:nvSpPr>
          <p:spPr>
            <a:xfrm>
              <a:off x="4983480" y="3246120"/>
              <a:ext cx="1783080" cy="594360"/>
            </a:xfrm>
            <a:prstGeom prst="rightArrow">
              <a:avLst/>
            </a:prstGeom>
            <a:solidFill>
              <a:srgbClr val="F28C28"/>
            </a:solidFill>
            <a:ln>
              <a:noFill/>
            </a:ln>
          </p:spPr>
          <p:txBody>
            <a:bodyPr rtlCol="0" anchor="ctr"/>
            <a:lstStyle/>
            <a:p>
              <a:pPr algn="ctr"/>
              <a:endParaRPr/>
            </a:p>
          </p:txBody>
        </p:sp>
        <p:sp>
          <p:nvSpPr>
            <p:cNvPr id="32" name="TextBox 31"/>
            <p:cNvSpPr txBox="1"/>
            <p:nvPr/>
          </p:nvSpPr>
          <p:spPr>
            <a:xfrm>
              <a:off x="4754880" y="2697480"/>
              <a:ext cx="2240280" cy="457200"/>
            </a:xfrm>
            <a:prstGeom prst="rect">
              <a:avLst/>
            </a:prstGeom>
            <a:noFill/>
          </p:spPr>
          <p:txBody>
            <a:bodyPr wrap="square" lIns="0" tIns="0" rIns="0" bIns="0" anchor="b">
              <a:noAutofit/>
            </a:bodyPr>
            <a:lstStyle/>
            <a:p>
              <a:pPr algn="ctr"/>
              <a:r>
                <a:rPr lang="en-GB" sz="1800" b="1" i="0">
                  <a:solidFill>
                    <a:srgbClr val="F2F2F2"/>
                  </a:solidFill>
                  <a:latin typeface="Arial"/>
                </a:rPr>
                <a:t>One long trip</a:t>
              </a:r>
            </a:p>
          </p:txBody>
        </p:sp>
      </p:grpSp>
      <p:sp>
        <p:nvSpPr>
          <p:cNvPr id="33" name="TextBox 32"/>
          <p:cNvSpPr txBox="1"/>
          <p:nvPr/>
        </p:nvSpPr>
        <p:spPr>
          <a:xfrm>
            <a:off x="548640" y="5321808"/>
            <a:ext cx="6858000" cy="347472"/>
          </a:xfrm>
          <a:prstGeom prst="rect">
            <a:avLst/>
          </a:prstGeom>
          <a:noFill/>
        </p:spPr>
        <p:txBody>
          <a:bodyPr wrap="square" lIns="0" tIns="0" rIns="0" bIns="0" anchor="ctr">
            <a:noAutofit/>
          </a:bodyPr>
          <a:lstStyle/>
          <a:p>
            <a:pPr algn="l"/>
            <a:r>
              <a:rPr lang="en-GB" sz="1800" b="0" i="0">
                <a:solidFill>
                  <a:srgbClr val="F2F2F2"/>
                </a:solidFill>
                <a:latin typeface="Arial"/>
              </a:rPr>
              <a:t>In the mod, water is usually the tighter limit.</a:t>
            </a:r>
          </a:p>
        </p:txBody>
      </p:sp>
      <p:sp>
        <p:nvSpPr>
          <p:cNvPr id="34" name="Inline chip Agreed"/>
          <p:cNvSpPr/>
          <p:nvPr/>
        </p:nvSpPr>
        <p:spPr>
          <a:xfrm>
            <a:off x="5113020" y="5349240"/>
            <a:ext cx="112141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Steam is used once and lost. So water runs out first. Coal lasts longer.</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8</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57"/>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514"/>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771"/>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nodeType="withEffect">
                                  <p:stCondLst>
                                    <p:cond delay="1028"/>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par>
                                <p:cTn id="20" presetID="10" presetClass="entr" presetSubtype="0" fill="hold" nodeType="withEffect">
                                  <p:stCondLst>
                                    <p:cond delay="1285"/>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nodeType="withEffect">
                                  <p:stCondLst>
                                    <p:cond delay="1542"/>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Tender or tank?</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wrap="square" lIns="54864" tIns="18288" rIns="54864" bIns="18288" rtlCol="0" anchor="ctr">
            <a:noAutofit/>
          </a:bodyPr>
          <a:lstStyle/>
          <a:p>
            <a:pPr algn="ctr"/>
            <a:r>
              <a:rPr lang="en-GB" sz="1400" b="1" i="0">
                <a:solidFill>
                  <a:srgbClr val="F2F2F2"/>
                </a:solidFill>
                <a:latin typeface="Arial"/>
              </a:rPr>
              <a:t>BACKGROUND</a:t>
            </a:r>
          </a:p>
        </p:txBody>
      </p:sp>
      <p:sp>
        <p:nvSpPr>
          <p:cNvPr id="8" name="TextBox 7"/>
          <p:cNvSpPr txBox="1"/>
          <p:nvPr/>
        </p:nvSpPr>
        <p:spPr>
          <a:xfrm>
            <a:off x="548640" y="1298448"/>
            <a:ext cx="5303520" cy="411480"/>
          </a:xfrm>
          <a:prstGeom prst="rect">
            <a:avLst/>
          </a:prstGeom>
          <a:noFill/>
        </p:spPr>
        <p:txBody>
          <a:bodyPr wrap="square" lIns="0" tIns="0" rIns="0" bIns="0" anchor="t">
            <a:noAutofit/>
          </a:bodyPr>
          <a:lstStyle/>
          <a:p>
            <a:pPr algn="l"/>
            <a:r>
              <a:rPr lang="en-GB" sz="2000" b="1" i="0">
                <a:solidFill>
                  <a:srgbClr val="F28C28"/>
                </a:solidFill>
                <a:latin typeface="Arial"/>
              </a:rPr>
              <a:t>Tender engine</a:t>
            </a:r>
          </a:p>
        </p:txBody>
      </p:sp>
      <p:sp>
        <p:nvSpPr>
          <p:cNvPr id="9" name="TextBox 8"/>
          <p:cNvSpPr txBox="1"/>
          <p:nvPr/>
        </p:nvSpPr>
        <p:spPr>
          <a:xfrm>
            <a:off x="6336792" y="1298448"/>
            <a:ext cx="5303520" cy="411480"/>
          </a:xfrm>
          <a:prstGeom prst="rect">
            <a:avLst/>
          </a:prstGeom>
          <a:noFill/>
        </p:spPr>
        <p:txBody>
          <a:bodyPr wrap="square" lIns="0" tIns="0" rIns="0" bIns="0" anchor="t">
            <a:noAutofit/>
          </a:bodyPr>
          <a:lstStyle/>
          <a:p>
            <a:pPr algn="l"/>
            <a:r>
              <a:rPr lang="en-GB" sz="2000" b="1" i="0">
                <a:solidFill>
                  <a:srgbClr val="F28C28"/>
                </a:solidFill>
                <a:latin typeface="Arial"/>
              </a:rPr>
              <a:t>Tank engine</a:t>
            </a:r>
          </a:p>
        </p:txBody>
      </p:sp>
      <p:pic>
        <p:nvPicPr>
          <p:cNvPr id="10" name="Picture P04" descr="BR Standard Class 5 No. 73082 'Camelot', a tender engine, seen from the side."/>
          <p:cNvPicPr>
            <a:picLocks noChangeAspect="1"/>
          </p:cNvPicPr>
          <p:nvPr/>
        </p:nvPicPr>
        <p:blipFill>
          <a:blip r:embed="rId2"/>
          <a:srcRect t="2728" b="2728"/>
          <a:stretch>
            <a:fillRect/>
          </a:stretch>
        </p:blipFill>
        <p:spPr>
          <a:xfrm>
            <a:off x="548640" y="1737360"/>
            <a:ext cx="5303520" cy="3337560"/>
          </a:xfrm>
          <a:prstGeom prst="roundRect">
            <a:avLst>
              <a:gd name="adj" fmla="val 2192"/>
            </a:avLst>
          </a:prstGeom>
        </p:spPr>
      </p:pic>
      <p:sp>
        <p:nvSpPr>
          <p:cNvPr id="11" name="Credit"/>
          <p:cNvSpPr txBox="1"/>
          <p:nvPr/>
        </p:nvSpPr>
        <p:spPr>
          <a:xfrm>
            <a:off x="548640" y="5102352"/>
            <a:ext cx="5303520" cy="182880"/>
          </a:xfrm>
          <a:prstGeom prst="rect">
            <a:avLst/>
          </a:prstGeom>
          <a:noFill/>
        </p:spPr>
        <p:txBody>
          <a:bodyPr wrap="square" lIns="0" tIns="0" rIns="0" bIns="0" anchor="t">
            <a:noAutofit/>
          </a:bodyPr>
          <a:lstStyle/>
          <a:p>
            <a:pPr algn="l"/>
            <a:r>
              <a:rPr lang="en-GB" sz="1000" b="0" i="0">
                <a:solidFill>
                  <a:srgbClr val="A9B0B8"/>
                </a:solidFill>
                <a:latin typeface="Arial"/>
              </a:rPr>
              <a:t>Photo: www.mgaylard.co.uk, CC BY 2.0, Wikimedia Commons.</a:t>
            </a:r>
          </a:p>
        </p:txBody>
      </p:sp>
      <p:pic>
        <p:nvPicPr>
          <p:cNvPr id="12" name="Picture P05" descr="BR Standard Class 4 tank engine No. 80151 from the side, showing side tanks and rear bunker."/>
          <p:cNvPicPr>
            <a:picLocks noChangeAspect="1"/>
          </p:cNvPicPr>
          <p:nvPr/>
        </p:nvPicPr>
        <p:blipFill>
          <a:blip r:embed="rId3"/>
          <a:srcRect t="2728" b="2728"/>
          <a:stretch>
            <a:fillRect/>
          </a:stretch>
        </p:blipFill>
        <p:spPr>
          <a:xfrm>
            <a:off x="6336792" y="1737360"/>
            <a:ext cx="5303520" cy="3337560"/>
          </a:xfrm>
          <a:prstGeom prst="roundRect">
            <a:avLst>
              <a:gd name="adj" fmla="val 2192"/>
            </a:avLst>
          </a:prstGeom>
        </p:spPr>
      </p:pic>
      <p:sp>
        <p:nvSpPr>
          <p:cNvPr id="13" name="Credit"/>
          <p:cNvSpPr txBox="1"/>
          <p:nvPr/>
        </p:nvSpPr>
        <p:spPr>
          <a:xfrm>
            <a:off x="6336792" y="5102352"/>
            <a:ext cx="5303520" cy="182880"/>
          </a:xfrm>
          <a:prstGeom prst="rect">
            <a:avLst/>
          </a:prstGeom>
          <a:noFill/>
        </p:spPr>
        <p:txBody>
          <a:bodyPr wrap="square" lIns="0" tIns="0" rIns="0" bIns="0" anchor="t">
            <a:noAutofit/>
          </a:bodyPr>
          <a:lstStyle/>
          <a:p>
            <a:pPr algn="l"/>
            <a:r>
              <a:rPr lang="en-GB" sz="1000" b="0" i="0">
                <a:solidFill>
                  <a:srgbClr val="A9B0B8"/>
                </a:solidFill>
                <a:latin typeface="Arial"/>
              </a:rPr>
              <a:t>Photo: www.mgaylard.co.uk, CC BY 2.0, Wikimedia Commons.</a:t>
            </a:r>
          </a:p>
        </p:txBody>
      </p:sp>
      <p:grpSp>
        <p:nvGrpSpPr>
          <p:cNvPr id="14" name="Callout" descr="Label: Tender: coal and water behind the cab"/>
          <p:cNvGrpSpPr/>
          <p:nvPr/>
        </p:nvGrpSpPr>
        <p:grpSpPr>
          <a:xfrm>
            <a:off x="1380744" y="1874520"/>
            <a:ext cx="3602736" cy="1673352"/>
            <a:chOff x="1380744" y="1874520"/>
            <a:chExt cx="3602736" cy="1673352"/>
          </a:xfrm>
        </p:grpSpPr>
        <p:cxnSp>
          <p:nvCxnSpPr>
            <p:cNvPr id="15" name="Connector 14"/>
            <p:cNvCxnSpPr/>
            <p:nvPr/>
          </p:nvCxnSpPr>
          <p:spPr>
            <a:xfrm flipH="1">
              <a:off x="1453896" y="2514600"/>
              <a:ext cx="1060704" cy="960120"/>
            </a:xfrm>
            <a:prstGeom prst="line">
              <a:avLst/>
            </a:prstGeom>
            <a:ln w="28575">
              <a:solidFill>
                <a:srgbClr val="F28C28"/>
              </a:solidFill>
            </a:ln>
          </p:spPr>
        </p:cxnSp>
        <p:sp>
          <p:nvSpPr>
            <p:cNvPr id="16" name="Oval 15"/>
            <p:cNvSpPr/>
            <p:nvPr/>
          </p:nvSpPr>
          <p:spPr>
            <a:xfrm>
              <a:off x="1380744" y="3401568"/>
              <a:ext cx="146304" cy="146304"/>
            </a:xfrm>
            <a:prstGeom prst="ellipse">
              <a:avLst/>
            </a:prstGeom>
            <a:solidFill>
              <a:srgbClr val="F28C28"/>
            </a:solidFill>
            <a:ln w="12700">
              <a:solidFill>
                <a:srgbClr val="101418"/>
              </a:solidFill>
            </a:ln>
          </p:spPr>
          <p:txBody>
            <a:bodyPr rtlCol="0" anchor="ctr"/>
            <a:lstStyle/>
            <a:p>
              <a:pPr algn="ctr"/>
              <a:endParaRPr/>
            </a:p>
          </p:txBody>
        </p:sp>
        <p:sp>
          <p:nvSpPr>
            <p:cNvPr id="17" name="Rounded Rectangle 16"/>
            <p:cNvSpPr/>
            <p:nvPr/>
          </p:nvSpPr>
          <p:spPr>
            <a:xfrm>
              <a:off x="2057400" y="1874520"/>
              <a:ext cx="2926080" cy="640080"/>
            </a:xfrm>
            <a:prstGeom prst="roundRect">
              <a:avLst>
                <a:gd name="adj" fmla="val 8571"/>
              </a:avLst>
            </a:prstGeom>
            <a:solidFill>
              <a:srgbClr val="1E2126"/>
            </a:solidFill>
            <a:ln w="19050">
              <a:solidFill>
                <a:srgbClr val="F28C28"/>
              </a:solidFill>
            </a:ln>
          </p:spPr>
          <p:txBody>
            <a:bodyPr wrap="square" tIns="27432" rIns="73152" bIns="27432" rtlCol="0" anchor="ctr">
              <a:noAutofit/>
            </a:bodyPr>
            <a:lstStyle/>
            <a:p>
              <a:pPr algn="l"/>
              <a:r>
                <a:rPr lang="en-GB" sz="1600" b="0" i="0">
                  <a:solidFill>
                    <a:srgbClr val="F2F2F2"/>
                  </a:solidFill>
                  <a:latin typeface="Arial"/>
                </a:rPr>
                <a:t>Tender: coal and water behind the cab</a:t>
              </a:r>
            </a:p>
          </p:txBody>
        </p:sp>
      </p:grpSp>
      <p:grpSp>
        <p:nvGrpSpPr>
          <p:cNvPr id="18" name="Callout" descr="Label: Side tanks: water."/>
          <p:cNvGrpSpPr/>
          <p:nvPr/>
        </p:nvGrpSpPr>
        <p:grpSpPr>
          <a:xfrm>
            <a:off x="6812280" y="1874520"/>
            <a:ext cx="1965960" cy="1636776"/>
            <a:chOff x="6812280" y="1874520"/>
            <a:chExt cx="1965960" cy="1636776"/>
          </a:xfrm>
        </p:grpSpPr>
        <p:cxnSp>
          <p:nvCxnSpPr>
            <p:cNvPr id="19" name="Connector 18"/>
            <p:cNvCxnSpPr/>
            <p:nvPr/>
          </p:nvCxnSpPr>
          <p:spPr>
            <a:xfrm>
              <a:off x="8138160" y="2240280"/>
              <a:ext cx="320040" cy="1197864"/>
            </a:xfrm>
            <a:prstGeom prst="line">
              <a:avLst/>
            </a:prstGeom>
            <a:ln w="28575">
              <a:solidFill>
                <a:srgbClr val="F28C28"/>
              </a:solidFill>
            </a:ln>
          </p:spPr>
        </p:cxnSp>
        <p:sp>
          <p:nvSpPr>
            <p:cNvPr id="20" name="Oval 19"/>
            <p:cNvSpPr/>
            <p:nvPr/>
          </p:nvSpPr>
          <p:spPr>
            <a:xfrm>
              <a:off x="8385048" y="3364992"/>
              <a:ext cx="146304" cy="146304"/>
            </a:xfrm>
            <a:prstGeom prst="ellipse">
              <a:avLst/>
            </a:prstGeom>
            <a:solidFill>
              <a:srgbClr val="F28C28"/>
            </a:solidFill>
            <a:ln w="12700">
              <a:solidFill>
                <a:srgbClr val="101418"/>
              </a:solidFill>
            </a:ln>
          </p:spPr>
          <p:txBody>
            <a:bodyPr rtlCol="0" anchor="ctr"/>
            <a:lstStyle/>
            <a:p>
              <a:pPr algn="ctr"/>
              <a:endParaRPr/>
            </a:p>
          </p:txBody>
        </p:sp>
        <p:sp>
          <p:nvSpPr>
            <p:cNvPr id="21" name="Rounded Rectangle 20"/>
            <p:cNvSpPr/>
            <p:nvPr/>
          </p:nvSpPr>
          <p:spPr>
            <a:xfrm>
              <a:off x="6812280" y="1874520"/>
              <a:ext cx="1965960" cy="365760"/>
            </a:xfrm>
            <a:prstGeom prst="roundRect">
              <a:avLst>
                <a:gd name="adj" fmla="val 15000"/>
              </a:avLst>
            </a:prstGeom>
            <a:solidFill>
              <a:srgbClr val="1E2126"/>
            </a:solidFill>
            <a:ln w="19050">
              <a:solidFill>
                <a:srgbClr val="F28C28"/>
              </a:solidFill>
            </a:ln>
          </p:spPr>
          <p:txBody>
            <a:bodyPr wrap="square" tIns="27432" rIns="73152" bIns="27432" rtlCol="0" anchor="ctr">
              <a:noAutofit/>
            </a:bodyPr>
            <a:lstStyle/>
            <a:p>
              <a:pPr algn="l"/>
              <a:r>
                <a:rPr lang="en-GB" sz="1600" b="0" i="0">
                  <a:solidFill>
                    <a:srgbClr val="F2F2F2"/>
                  </a:solidFill>
                  <a:latin typeface="Arial"/>
                </a:rPr>
                <a:t>Side tanks: water.</a:t>
              </a:r>
            </a:p>
          </p:txBody>
        </p:sp>
      </p:grpSp>
      <p:grpSp>
        <p:nvGrpSpPr>
          <p:cNvPr id="22" name="Callout" descr="Label: Bunker: coal."/>
          <p:cNvGrpSpPr/>
          <p:nvPr/>
        </p:nvGrpSpPr>
        <p:grpSpPr>
          <a:xfrm>
            <a:off x="9646920" y="1874520"/>
            <a:ext cx="1508760" cy="1444752"/>
            <a:chOff x="9646920" y="1874520"/>
            <a:chExt cx="1508760" cy="1444752"/>
          </a:xfrm>
        </p:grpSpPr>
        <p:cxnSp>
          <p:nvCxnSpPr>
            <p:cNvPr id="23" name="Connector 22"/>
            <p:cNvCxnSpPr/>
            <p:nvPr/>
          </p:nvCxnSpPr>
          <p:spPr>
            <a:xfrm flipH="1">
              <a:off x="9966960" y="2240280"/>
              <a:ext cx="91440" cy="1005840"/>
            </a:xfrm>
            <a:prstGeom prst="line">
              <a:avLst/>
            </a:prstGeom>
            <a:ln w="28575">
              <a:solidFill>
                <a:srgbClr val="F28C28"/>
              </a:solidFill>
            </a:ln>
          </p:spPr>
        </p:cxnSp>
        <p:sp>
          <p:nvSpPr>
            <p:cNvPr id="24" name="Oval 23"/>
            <p:cNvSpPr/>
            <p:nvPr/>
          </p:nvSpPr>
          <p:spPr>
            <a:xfrm>
              <a:off x="9893808" y="3172968"/>
              <a:ext cx="146304" cy="146304"/>
            </a:xfrm>
            <a:prstGeom prst="ellipse">
              <a:avLst/>
            </a:prstGeom>
            <a:solidFill>
              <a:srgbClr val="F28C28"/>
            </a:solidFill>
            <a:ln w="12700">
              <a:solidFill>
                <a:srgbClr val="101418"/>
              </a:solidFill>
            </a:ln>
          </p:spPr>
          <p:txBody>
            <a:bodyPr rtlCol="0" anchor="ctr"/>
            <a:lstStyle/>
            <a:p>
              <a:pPr algn="ctr"/>
              <a:endParaRPr/>
            </a:p>
          </p:txBody>
        </p:sp>
        <p:sp>
          <p:nvSpPr>
            <p:cNvPr id="25" name="Rounded Rectangle 24"/>
            <p:cNvSpPr/>
            <p:nvPr/>
          </p:nvSpPr>
          <p:spPr>
            <a:xfrm>
              <a:off x="9646920" y="1874520"/>
              <a:ext cx="1508760" cy="365760"/>
            </a:xfrm>
            <a:prstGeom prst="roundRect">
              <a:avLst>
                <a:gd name="adj" fmla="val 15000"/>
              </a:avLst>
            </a:prstGeom>
            <a:solidFill>
              <a:srgbClr val="1E2126"/>
            </a:solidFill>
            <a:ln w="19050">
              <a:solidFill>
                <a:srgbClr val="F28C28"/>
              </a:solidFill>
            </a:ln>
          </p:spPr>
          <p:txBody>
            <a:bodyPr wrap="square" tIns="27432" rIns="73152" bIns="27432" rtlCol="0" anchor="ctr">
              <a:noAutofit/>
            </a:bodyPr>
            <a:lstStyle/>
            <a:p>
              <a:pPr algn="l"/>
              <a:r>
                <a:rPr lang="en-GB" sz="1600" b="0" i="0">
                  <a:solidFill>
                    <a:srgbClr val="F2F2F2"/>
                  </a:solidFill>
                  <a:latin typeface="Arial"/>
                </a:rPr>
                <a:t>Bunker: coal.</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 tender engine pulls a coal and water wagon. A tank engine carries both itself.</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9</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4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6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nodeType="withEffect">
                                  <p:stCondLst>
                                    <p:cond delay="8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nodeType="withEffect">
                                  <p:stCondLst>
                                    <p:cond delay="10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par>
                                <p:cTn id="23" presetID="10" presetClass="entr" presetSubtype="0" fill="hold" nodeType="withEffect">
                                  <p:stCondLst>
                                    <p:cond delay="120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nodeType="withEffect">
                                  <p:stCondLst>
                                    <p:cond delay="14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10" presetClass="entr" presetSubtype="0" fill="hold" nodeType="withEffect">
                                  <p:stCondLst>
                                    <p:cond delay="16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Taking on water</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wrap="square" lIns="54864" tIns="18288" rIns="54864" bIns="18288" rtlCol="0" anchor="ctr">
            <a:noAutofit/>
          </a:bodyPr>
          <a:lstStyle/>
          <a:p>
            <a:pPr algn="ctr"/>
            <a:r>
              <a:rPr lang="en-GB" sz="1400" b="1" i="0">
                <a:solidFill>
                  <a:srgbClr val="F2F2F2"/>
                </a:solidFill>
                <a:latin typeface="Arial"/>
              </a:rPr>
              <a:t>BACKGROUND</a:t>
            </a:r>
          </a:p>
        </p:txBody>
      </p:sp>
      <p:pic>
        <p:nvPicPr>
          <p:cNvPr id="8" name="Picture P06" descr="A water crane at Didcot Railway Centre."/>
          <p:cNvPicPr>
            <a:picLocks noChangeAspect="1"/>
          </p:cNvPicPr>
          <p:nvPr/>
        </p:nvPicPr>
        <p:blipFill>
          <a:blip r:embed="rId2"/>
          <a:srcRect t="1165" b="25165"/>
          <a:stretch>
            <a:fillRect/>
          </a:stretch>
        </p:blipFill>
        <p:spPr>
          <a:xfrm>
            <a:off x="548640" y="1371600"/>
            <a:ext cx="2926080" cy="3886200"/>
          </a:xfrm>
          <a:prstGeom prst="roundRect">
            <a:avLst>
              <a:gd name="adj" fmla="val 2500"/>
            </a:avLst>
          </a:prstGeom>
        </p:spPr>
      </p:pic>
      <p:sp>
        <p:nvSpPr>
          <p:cNvPr id="9" name="Credit"/>
          <p:cNvSpPr txBox="1"/>
          <p:nvPr/>
        </p:nvSpPr>
        <p:spPr>
          <a:xfrm>
            <a:off x="548640" y="5285232"/>
            <a:ext cx="2926080" cy="338328"/>
          </a:xfrm>
          <a:prstGeom prst="rect">
            <a:avLst/>
          </a:prstGeom>
          <a:noFill/>
        </p:spPr>
        <p:txBody>
          <a:bodyPr wrap="square" lIns="0" tIns="0" rIns="0" bIns="0" anchor="t">
            <a:noAutofit/>
          </a:bodyPr>
          <a:lstStyle/>
          <a:p>
            <a:pPr algn="l"/>
            <a:r>
              <a:rPr lang="en-GB" sz="1000" b="0" i="0">
                <a:solidFill>
                  <a:srgbClr val="A9B0B8"/>
                </a:solidFill>
                <a:latin typeface="Arial"/>
              </a:rPr>
              <a:t>Photo: Barry Skeates, CC BY 2.0, Wikimedia Commons.</a:t>
            </a:r>
          </a:p>
        </p:txBody>
      </p:sp>
      <p:grpSp>
        <p:nvGrpSpPr>
          <p:cNvPr id="10" name="Water crane diagram" descr="A water tower on legs feeds a pipe down to a water crane; the crane arm swings over the tender hatch and gravity sends the water down."/>
          <p:cNvGrpSpPr/>
          <p:nvPr/>
        </p:nvGrpSpPr>
        <p:grpSpPr>
          <a:xfrm>
            <a:off x="4206240" y="1874520"/>
            <a:ext cx="5394960" cy="3264408"/>
            <a:chOff x="4206240" y="1874520"/>
            <a:chExt cx="5394960" cy="3264408"/>
          </a:xfrm>
        </p:grpSpPr>
        <p:sp>
          <p:nvSpPr>
            <p:cNvPr id="11" name="Rectangle 10"/>
            <p:cNvSpPr/>
            <p:nvPr/>
          </p:nvSpPr>
          <p:spPr>
            <a:xfrm>
              <a:off x="4343400" y="3063240"/>
              <a:ext cx="91440" cy="2011680"/>
            </a:xfrm>
            <a:prstGeom prst="rect">
              <a:avLst/>
            </a:prstGeom>
            <a:solidFill>
              <a:srgbClr val="9AA0A6"/>
            </a:solidFill>
            <a:ln>
              <a:noFill/>
            </a:ln>
          </p:spPr>
          <p:txBody>
            <a:bodyPr rtlCol="0" anchor="ctr"/>
            <a:lstStyle/>
            <a:p>
              <a:pPr algn="ctr"/>
              <a:endParaRPr/>
            </a:p>
          </p:txBody>
        </p:sp>
        <p:sp>
          <p:nvSpPr>
            <p:cNvPr id="12" name="Rectangle 11"/>
            <p:cNvSpPr/>
            <p:nvPr/>
          </p:nvSpPr>
          <p:spPr>
            <a:xfrm>
              <a:off x="4754880" y="3063240"/>
              <a:ext cx="91440" cy="2011680"/>
            </a:xfrm>
            <a:prstGeom prst="rect">
              <a:avLst/>
            </a:prstGeom>
            <a:solidFill>
              <a:srgbClr val="9AA0A6"/>
            </a:solidFill>
            <a:ln>
              <a:noFill/>
            </a:ln>
          </p:spPr>
          <p:txBody>
            <a:bodyPr rtlCol="0" anchor="ctr"/>
            <a:lstStyle/>
            <a:p>
              <a:pPr algn="ctr"/>
              <a:endParaRPr/>
            </a:p>
          </p:txBody>
        </p:sp>
        <p:sp>
          <p:nvSpPr>
            <p:cNvPr id="13" name="Rectangle 12"/>
            <p:cNvSpPr/>
            <p:nvPr/>
          </p:nvSpPr>
          <p:spPr>
            <a:xfrm>
              <a:off x="5440680" y="3063240"/>
              <a:ext cx="91440" cy="2011680"/>
            </a:xfrm>
            <a:prstGeom prst="rect">
              <a:avLst/>
            </a:prstGeom>
            <a:solidFill>
              <a:srgbClr val="9AA0A6"/>
            </a:solidFill>
            <a:ln>
              <a:noFill/>
            </a:ln>
          </p:spPr>
          <p:txBody>
            <a:bodyPr rtlCol="0" anchor="ctr"/>
            <a:lstStyle/>
            <a:p>
              <a:pPr algn="ctr"/>
              <a:endParaRPr/>
            </a:p>
          </p:txBody>
        </p:sp>
        <p:sp>
          <p:nvSpPr>
            <p:cNvPr id="14" name="Rectangle 13"/>
            <p:cNvSpPr/>
            <p:nvPr/>
          </p:nvSpPr>
          <p:spPr>
            <a:xfrm>
              <a:off x="5852160" y="3063240"/>
              <a:ext cx="91440" cy="2011680"/>
            </a:xfrm>
            <a:prstGeom prst="rect">
              <a:avLst/>
            </a:prstGeom>
            <a:solidFill>
              <a:srgbClr val="9AA0A6"/>
            </a:solidFill>
            <a:ln>
              <a:noFill/>
            </a:ln>
          </p:spPr>
          <p:txBody>
            <a:bodyPr rtlCol="0" anchor="ctr"/>
            <a:lstStyle/>
            <a:p>
              <a:pPr algn="ctr"/>
              <a:endParaRPr/>
            </a:p>
          </p:txBody>
        </p:sp>
        <p:sp>
          <p:nvSpPr>
            <p:cNvPr id="15" name="Rounded Rectangle 14"/>
            <p:cNvSpPr/>
            <p:nvPr/>
          </p:nvSpPr>
          <p:spPr>
            <a:xfrm>
              <a:off x="4206240" y="1874520"/>
              <a:ext cx="1783080" cy="1188720"/>
            </a:xfrm>
            <a:prstGeom prst="roundRect">
              <a:avLst>
                <a:gd name="adj" fmla="val 9230"/>
              </a:avLst>
            </a:prstGeom>
            <a:solidFill>
              <a:srgbClr val="4DA3FF"/>
            </a:solidFill>
            <a:ln w="25400">
              <a:solidFill>
                <a:srgbClr val="FFFFFF"/>
              </a:solidFill>
            </a:ln>
          </p:spPr>
          <p:txBody>
            <a:bodyPr rtlCol="0" anchor="ctr"/>
            <a:lstStyle/>
            <a:p>
              <a:pPr algn="ctr"/>
              <a:endParaRPr/>
            </a:p>
          </p:txBody>
        </p:sp>
        <p:sp>
          <p:nvSpPr>
            <p:cNvPr id="16" name="Freeform 15"/>
            <p:cNvSpPr/>
            <p:nvPr/>
          </p:nvSpPr>
          <p:spPr>
            <a:xfrm>
              <a:off x="5577840" y="3063240"/>
              <a:ext cx="2880360" cy="1737360"/>
            </a:xfrm>
            <a:custGeom>
              <a:avLst/>
              <a:gdLst/>
              <a:ahLst/>
              <a:cxnLst/>
              <a:rect l="l" t="t" r="r" b="b"/>
              <a:pathLst>
                <a:path w="2880360" h="1737360">
                  <a:moveTo>
                    <a:pt x="0" y="0"/>
                  </a:moveTo>
                  <a:lnTo>
                    <a:pt x="0" y="1737360"/>
                  </a:lnTo>
                  <a:lnTo>
                    <a:pt x="1600200" y="1737360"/>
                  </a:lnTo>
                  <a:lnTo>
                    <a:pt x="1600200" y="365760"/>
                  </a:lnTo>
                  <a:lnTo>
                    <a:pt x="2880360" y="365760"/>
                  </a:lnTo>
                </a:path>
              </a:pathLst>
            </a:custGeom>
            <a:noFill/>
            <a:ln w="114300">
              <a:solidFill>
                <a:srgbClr val="4DA3FF"/>
              </a:solidFill>
            </a:ln>
          </p:spPr>
          <p:txBody>
            <a:bodyPr rtlCol="0" anchor="ctr"/>
            <a:lstStyle/>
            <a:p>
              <a:pPr algn="ctr"/>
              <a:endParaRPr/>
            </a:p>
          </p:txBody>
        </p:sp>
        <p:sp>
          <p:nvSpPr>
            <p:cNvPr id="17" name="Rectangle 16"/>
            <p:cNvSpPr/>
            <p:nvPr/>
          </p:nvSpPr>
          <p:spPr>
            <a:xfrm>
              <a:off x="7086600" y="3291840"/>
              <a:ext cx="182880" cy="1600200"/>
            </a:xfrm>
            <a:prstGeom prst="rect">
              <a:avLst/>
            </a:prstGeom>
            <a:solidFill>
              <a:srgbClr val="9AA0A6"/>
            </a:solidFill>
            <a:ln w="9525">
              <a:solidFill>
                <a:srgbClr val="101418"/>
              </a:solidFill>
            </a:ln>
          </p:spPr>
          <p:txBody>
            <a:bodyPr rtlCol="0" anchor="ctr"/>
            <a:lstStyle/>
            <a:p>
              <a:pPr algn="ctr"/>
              <a:endParaRPr/>
            </a:p>
          </p:txBody>
        </p:sp>
        <p:sp>
          <p:nvSpPr>
            <p:cNvPr id="18" name="Rectangle 17"/>
            <p:cNvSpPr/>
            <p:nvPr/>
          </p:nvSpPr>
          <p:spPr>
            <a:xfrm>
              <a:off x="7086600" y="3337560"/>
              <a:ext cx="1417320" cy="164592"/>
            </a:xfrm>
            <a:prstGeom prst="rect">
              <a:avLst/>
            </a:prstGeom>
            <a:solidFill>
              <a:srgbClr val="9AA0A6"/>
            </a:solidFill>
            <a:ln w="9525">
              <a:solidFill>
                <a:srgbClr val="101418"/>
              </a:solidFill>
            </a:ln>
          </p:spPr>
          <p:txBody>
            <a:bodyPr rtlCol="0" anchor="ctr"/>
            <a:lstStyle/>
            <a:p>
              <a:pPr algn="ctr"/>
              <a:endParaRPr/>
            </a:p>
          </p:txBody>
        </p:sp>
        <p:sp>
          <p:nvSpPr>
            <p:cNvPr id="19" name="Rectangle 18"/>
            <p:cNvSpPr/>
            <p:nvPr/>
          </p:nvSpPr>
          <p:spPr>
            <a:xfrm>
              <a:off x="8385048" y="3429000"/>
              <a:ext cx="146304" cy="411480"/>
            </a:xfrm>
            <a:prstGeom prst="rect">
              <a:avLst/>
            </a:prstGeom>
            <a:solidFill>
              <a:srgbClr val="9AA0A6"/>
            </a:solidFill>
            <a:ln w="9525">
              <a:solidFill>
                <a:srgbClr val="101418"/>
              </a:solidFill>
            </a:ln>
          </p:spPr>
          <p:txBody>
            <a:bodyPr rtlCol="0" anchor="ctr"/>
            <a:lstStyle/>
            <a:p>
              <a:pPr algn="ctr"/>
              <a:endParaRPr/>
            </a:p>
          </p:txBody>
        </p:sp>
        <p:sp>
          <p:nvSpPr>
            <p:cNvPr id="20" name="Oval 19"/>
            <p:cNvSpPr/>
            <p:nvPr/>
          </p:nvSpPr>
          <p:spPr>
            <a:xfrm>
              <a:off x="8417052" y="3904488"/>
              <a:ext cx="82296" cy="109728"/>
            </a:xfrm>
            <a:prstGeom prst="ellipse">
              <a:avLst/>
            </a:prstGeom>
            <a:solidFill>
              <a:srgbClr val="4DA3FF"/>
            </a:solidFill>
            <a:ln>
              <a:noFill/>
            </a:ln>
          </p:spPr>
          <p:txBody>
            <a:bodyPr rtlCol="0" anchor="ctr"/>
            <a:lstStyle/>
            <a:p>
              <a:pPr algn="ctr"/>
              <a:endParaRPr/>
            </a:p>
          </p:txBody>
        </p:sp>
        <p:sp>
          <p:nvSpPr>
            <p:cNvPr id="21" name="Oval 20"/>
            <p:cNvSpPr/>
            <p:nvPr/>
          </p:nvSpPr>
          <p:spPr>
            <a:xfrm>
              <a:off x="8417052" y="4059936"/>
              <a:ext cx="82296" cy="109728"/>
            </a:xfrm>
            <a:prstGeom prst="ellipse">
              <a:avLst/>
            </a:prstGeom>
            <a:solidFill>
              <a:srgbClr val="4DA3FF"/>
            </a:solidFill>
            <a:ln>
              <a:noFill/>
            </a:ln>
          </p:spPr>
          <p:txBody>
            <a:bodyPr rtlCol="0" anchor="ctr"/>
            <a:lstStyle/>
            <a:p>
              <a:pPr algn="ctr"/>
              <a:endParaRPr/>
            </a:p>
          </p:txBody>
        </p:sp>
        <p:sp>
          <p:nvSpPr>
            <p:cNvPr id="22" name="Rectangle 21"/>
            <p:cNvSpPr/>
            <p:nvPr/>
          </p:nvSpPr>
          <p:spPr>
            <a:xfrm>
              <a:off x="7269480" y="5074920"/>
              <a:ext cx="2240280" cy="64008"/>
            </a:xfrm>
            <a:prstGeom prst="rect">
              <a:avLst/>
            </a:prstGeom>
            <a:solidFill>
              <a:srgbClr val="9AA0A6"/>
            </a:solidFill>
            <a:ln>
              <a:noFill/>
            </a:ln>
          </p:spPr>
          <p:txBody>
            <a:bodyPr rtlCol="0" anchor="ctr"/>
            <a:lstStyle/>
            <a:p>
              <a:pPr algn="ctr"/>
              <a:endParaRPr/>
            </a:p>
          </p:txBody>
        </p:sp>
        <p:sp>
          <p:nvSpPr>
            <p:cNvPr id="23" name="Rounded Rectangle 22"/>
            <p:cNvSpPr/>
            <p:nvPr/>
          </p:nvSpPr>
          <p:spPr>
            <a:xfrm>
              <a:off x="7315200" y="4206240"/>
              <a:ext cx="2194560" cy="685800"/>
            </a:xfrm>
            <a:prstGeom prst="roundRect">
              <a:avLst>
                <a:gd name="adj" fmla="val 6666"/>
              </a:avLst>
            </a:prstGeom>
            <a:solidFill>
              <a:srgbClr val="6C7480"/>
            </a:solidFill>
            <a:ln w="12700">
              <a:solidFill>
                <a:srgbClr val="101418"/>
              </a:solidFill>
            </a:ln>
          </p:spPr>
          <p:txBody>
            <a:bodyPr rtlCol="0" anchor="ctr"/>
            <a:lstStyle/>
            <a:p>
              <a:pPr algn="ctr"/>
              <a:endParaRPr/>
            </a:p>
          </p:txBody>
        </p:sp>
        <p:sp>
          <p:nvSpPr>
            <p:cNvPr id="24" name="Oval 23"/>
            <p:cNvSpPr/>
            <p:nvPr/>
          </p:nvSpPr>
          <p:spPr>
            <a:xfrm>
              <a:off x="8266176" y="4142232"/>
              <a:ext cx="384048" cy="128016"/>
            </a:xfrm>
            <a:prstGeom prst="ellipse">
              <a:avLst/>
            </a:prstGeom>
            <a:solidFill>
              <a:srgbClr val="1B1D21"/>
            </a:solidFill>
            <a:ln w="19050">
              <a:solidFill>
                <a:srgbClr val="9AA0A6"/>
              </a:solidFill>
            </a:ln>
          </p:spPr>
          <p:txBody>
            <a:bodyPr rtlCol="0" anchor="ctr"/>
            <a:lstStyle/>
            <a:p>
              <a:pPr algn="ctr"/>
              <a:endParaRPr/>
            </a:p>
          </p:txBody>
        </p:sp>
        <p:sp>
          <p:nvSpPr>
            <p:cNvPr id="25" name="Oval 24"/>
            <p:cNvSpPr/>
            <p:nvPr/>
          </p:nvSpPr>
          <p:spPr>
            <a:xfrm>
              <a:off x="7671816" y="4873752"/>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26" name="Oval 25"/>
            <p:cNvSpPr/>
            <p:nvPr/>
          </p:nvSpPr>
          <p:spPr>
            <a:xfrm>
              <a:off x="9134856" y="4873752"/>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27" name="Freeform 26"/>
            <p:cNvSpPr/>
            <p:nvPr/>
          </p:nvSpPr>
          <p:spPr>
            <a:xfrm>
              <a:off x="6841880" y="2926080"/>
              <a:ext cx="1678160" cy="284649"/>
            </a:xfrm>
            <a:custGeom>
              <a:avLst/>
              <a:gdLst/>
              <a:ahLst/>
              <a:cxnLst/>
              <a:rect l="l" t="t" r="r" b="b"/>
              <a:pathLst>
                <a:path w="1678160" h="284649">
                  <a:moveTo>
                    <a:pt x="0" y="284649"/>
                  </a:moveTo>
                  <a:lnTo>
                    <a:pt x="29463" y="244854"/>
                  </a:lnTo>
                  <a:lnTo>
                    <a:pt x="68551" y="206714"/>
                  </a:lnTo>
                  <a:lnTo>
                    <a:pt x="116799" y="170682"/>
                  </a:lnTo>
                  <a:lnTo>
                    <a:pt x="173633" y="137187"/>
                  </a:lnTo>
                  <a:lnTo>
                    <a:pt x="238376" y="106626"/>
                  </a:lnTo>
                  <a:lnTo>
                    <a:pt x="310261" y="79362"/>
                  </a:lnTo>
                  <a:lnTo>
                    <a:pt x="388432" y="55721"/>
                  </a:lnTo>
                  <a:lnTo>
                    <a:pt x="471960" y="35982"/>
                  </a:lnTo>
                  <a:lnTo>
                    <a:pt x="559852" y="20381"/>
                  </a:lnTo>
                  <a:lnTo>
                    <a:pt x="651063" y="9103"/>
                  </a:lnTo>
                  <a:lnTo>
                    <a:pt x="744510" y="2283"/>
                  </a:lnTo>
                  <a:lnTo>
                    <a:pt x="839080" y="0"/>
                  </a:lnTo>
                  <a:lnTo>
                    <a:pt x="933650" y="2283"/>
                  </a:lnTo>
                  <a:lnTo>
                    <a:pt x="1027097" y="9103"/>
                  </a:lnTo>
                  <a:lnTo>
                    <a:pt x="1118308" y="20381"/>
                  </a:lnTo>
                  <a:lnTo>
                    <a:pt x="1206200" y="35982"/>
                  </a:lnTo>
                  <a:lnTo>
                    <a:pt x="1289728" y="55721"/>
                  </a:lnTo>
                  <a:lnTo>
                    <a:pt x="1367899" y="79362"/>
                  </a:lnTo>
                  <a:lnTo>
                    <a:pt x="1439784" y="106626"/>
                  </a:lnTo>
                  <a:lnTo>
                    <a:pt x="1504527" y="137187"/>
                  </a:lnTo>
                  <a:lnTo>
                    <a:pt x="1561361" y="170682"/>
                  </a:lnTo>
                  <a:lnTo>
                    <a:pt x="1609609" y="206714"/>
                  </a:lnTo>
                  <a:lnTo>
                    <a:pt x="1648697" y="244854"/>
                  </a:lnTo>
                  <a:lnTo>
                    <a:pt x="1678160" y="284649"/>
                  </a:lnTo>
                </a:path>
              </a:pathLst>
            </a:custGeom>
            <a:noFill/>
            <a:ln w="31750">
              <a:solidFill>
                <a:srgbClr val="F28C28"/>
              </a:solidFill>
              <a:tailEnd type="triangle" w="lg" len="lg"/>
            </a:ln>
          </p:spPr>
          <p:txBody>
            <a:bodyPr rtlCol="0" anchor="ctr"/>
            <a:lstStyle/>
            <a:p>
              <a:pPr algn="ctr"/>
              <a:endParaRPr/>
            </a:p>
          </p:txBody>
        </p:sp>
        <p:cxnSp>
          <p:nvCxnSpPr>
            <p:cNvPr id="28" name="Connector 27"/>
            <p:cNvCxnSpPr/>
            <p:nvPr/>
          </p:nvCxnSpPr>
          <p:spPr>
            <a:xfrm>
              <a:off x="5806440" y="3291840"/>
              <a:ext cx="0" cy="548640"/>
            </a:xfrm>
            <a:prstGeom prst="line">
              <a:avLst/>
            </a:prstGeom>
            <a:ln w="28575">
              <a:solidFill>
                <a:srgbClr val="F28C28"/>
              </a:solidFill>
              <a:tailEnd type="triangle" w="lg" len="lg"/>
            </a:ln>
          </p:spPr>
        </p:cxnSp>
        <p:cxnSp>
          <p:nvCxnSpPr>
            <p:cNvPr id="29" name="Connector 28"/>
            <p:cNvCxnSpPr/>
            <p:nvPr/>
          </p:nvCxnSpPr>
          <p:spPr>
            <a:xfrm>
              <a:off x="5806440" y="3977640"/>
              <a:ext cx="0" cy="548640"/>
            </a:xfrm>
            <a:prstGeom prst="line">
              <a:avLst/>
            </a:prstGeom>
            <a:ln w="28575">
              <a:solidFill>
                <a:srgbClr val="F28C28"/>
              </a:solidFill>
              <a:tailEnd type="triangle" w="lg" len="lg"/>
            </a:ln>
          </p:spPr>
        </p:cxnSp>
        <p:sp>
          <p:nvSpPr>
            <p:cNvPr id="30" name="TextBox 29"/>
            <p:cNvSpPr txBox="1"/>
            <p:nvPr/>
          </p:nvSpPr>
          <p:spPr>
            <a:xfrm>
              <a:off x="6492240" y="2395728"/>
              <a:ext cx="3108960" cy="457200"/>
            </a:xfrm>
            <a:prstGeom prst="rect">
              <a:avLst/>
            </a:prstGeom>
            <a:noFill/>
          </p:spPr>
          <p:txBody>
            <a:bodyPr wrap="square" lIns="0" tIns="0" rIns="0" bIns="0" anchor="b">
              <a:noAutofit/>
            </a:bodyPr>
            <a:lstStyle/>
            <a:p>
              <a:pPr algn="ctr"/>
              <a:r>
                <a:rPr lang="en-GB" sz="1600" b="0" i="0">
                  <a:solidFill>
                    <a:srgbClr val="F2F2F2"/>
                  </a:solidFill>
                  <a:latin typeface="Arial"/>
                </a:rPr>
                <a:t>Arm swings over the hatch</a:t>
              </a:r>
            </a:p>
          </p:txBody>
        </p:sp>
        <p:sp>
          <p:nvSpPr>
            <p:cNvPr id="31" name="TextBox 30"/>
            <p:cNvSpPr txBox="1"/>
            <p:nvPr/>
          </p:nvSpPr>
          <p:spPr>
            <a:xfrm>
              <a:off x="5943600" y="3611880"/>
              <a:ext cx="1005840" cy="365760"/>
            </a:xfrm>
            <a:prstGeom prst="rect">
              <a:avLst/>
            </a:prstGeom>
            <a:noFill/>
          </p:spPr>
          <p:txBody>
            <a:bodyPr wrap="square" lIns="0" tIns="0" rIns="0" bIns="0" anchor="ctr">
              <a:noAutofit/>
            </a:bodyPr>
            <a:lstStyle/>
            <a:p>
              <a:pPr algn="l"/>
              <a:r>
                <a:rPr lang="en-GB" sz="1600" b="0" i="0">
                  <a:solidFill>
                    <a:srgbClr val="F2F2F2"/>
                  </a:solidFill>
                  <a:latin typeface="Arial"/>
                </a:rPr>
                <a:t>Gravity</a:t>
              </a:r>
            </a:p>
          </p:txBody>
        </p:sp>
      </p:grpSp>
      <p:pic>
        <p:nvPicPr>
          <p:cNvPr id="32" name="Picture P07" descr="A water tower with a signal beside it."/>
          <p:cNvPicPr>
            <a:picLocks noChangeAspect="1"/>
          </p:cNvPicPr>
          <p:nvPr/>
        </p:nvPicPr>
        <p:blipFill>
          <a:blip r:embed="rId3"/>
          <a:srcRect t="8824" b="42824"/>
          <a:stretch>
            <a:fillRect/>
          </a:stretch>
        </p:blipFill>
        <p:spPr>
          <a:xfrm>
            <a:off x="9628632" y="3611880"/>
            <a:ext cx="2011680" cy="1463040"/>
          </a:xfrm>
          <a:prstGeom prst="roundRect">
            <a:avLst>
              <a:gd name="adj" fmla="val 5000"/>
            </a:avLst>
          </a:prstGeom>
        </p:spPr>
      </p:pic>
      <p:sp>
        <p:nvSpPr>
          <p:cNvPr id="33" name="Credit"/>
          <p:cNvSpPr txBox="1"/>
          <p:nvPr/>
        </p:nvSpPr>
        <p:spPr>
          <a:xfrm>
            <a:off x="9628632" y="5102352"/>
            <a:ext cx="2011680" cy="338328"/>
          </a:xfrm>
          <a:prstGeom prst="rect">
            <a:avLst/>
          </a:prstGeom>
          <a:noFill/>
        </p:spPr>
        <p:txBody>
          <a:bodyPr wrap="square" lIns="0" tIns="0" rIns="0" bIns="0" anchor="t">
            <a:noAutofit/>
          </a:bodyPr>
          <a:lstStyle/>
          <a:p>
            <a:pPr algn="l"/>
            <a:r>
              <a:rPr lang="en-GB" sz="1000" b="0" i="0">
                <a:solidFill>
                  <a:srgbClr val="A9B0B8"/>
                </a:solidFill>
                <a:latin typeface="Arial"/>
              </a:rPr>
              <a:t>Photo: David Merrett, CC BY 2.0,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 water crane swings over the engine. Water flows down from a tank above.</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10</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6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12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Taking on coal</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wrap="square" lIns="54864" tIns="18288" rIns="54864" bIns="18288" rtlCol="0" anchor="ctr">
            <a:noAutofit/>
          </a:bodyPr>
          <a:lstStyle/>
          <a:p>
            <a:pPr algn="ctr"/>
            <a:r>
              <a:rPr lang="en-GB" sz="1400" b="1" i="0">
                <a:solidFill>
                  <a:srgbClr val="F2F2F2"/>
                </a:solidFill>
                <a:latin typeface="Arial"/>
              </a:rPr>
              <a:t>BACKGROUND</a:t>
            </a:r>
          </a:p>
        </p:txBody>
      </p:sp>
      <p:pic>
        <p:nvPicPr>
          <p:cNvPr id="8" name="Picture P08" descr="A raised coaling stage at the Great Western Society site, Didcot."/>
          <p:cNvPicPr>
            <a:picLocks noChangeAspect="1"/>
          </p:cNvPicPr>
          <p:nvPr/>
        </p:nvPicPr>
        <p:blipFill>
          <a:blip r:embed="rId2"/>
          <a:stretch>
            <a:fillRect/>
          </a:stretch>
        </p:blipFill>
        <p:spPr>
          <a:xfrm>
            <a:off x="548640" y="1371600"/>
            <a:ext cx="4114800" cy="3086100"/>
          </a:xfrm>
          <a:prstGeom prst="roundRect">
            <a:avLst>
              <a:gd name="adj" fmla="val 2370"/>
            </a:avLst>
          </a:prstGeom>
        </p:spPr>
      </p:pic>
      <p:sp>
        <p:nvSpPr>
          <p:cNvPr id="9" name="Credit"/>
          <p:cNvSpPr txBox="1"/>
          <p:nvPr/>
        </p:nvSpPr>
        <p:spPr>
          <a:xfrm>
            <a:off x="548640" y="4485132"/>
            <a:ext cx="4114800" cy="182880"/>
          </a:xfrm>
          <a:prstGeom prst="rect">
            <a:avLst/>
          </a:prstGeom>
          <a:noFill/>
        </p:spPr>
        <p:txBody>
          <a:bodyPr wrap="square" lIns="0" tIns="0" rIns="0" bIns="0" anchor="t">
            <a:noAutofit/>
          </a:bodyPr>
          <a:lstStyle/>
          <a:p>
            <a:pPr algn="l"/>
            <a:r>
              <a:rPr lang="en-GB" sz="1000" b="0" i="0">
                <a:solidFill>
                  <a:srgbClr val="A9B0B8"/>
                </a:solidFill>
                <a:latin typeface="Arial"/>
              </a:rPr>
              <a:t>Photo: Gillett's Crossing, CC BY 2.0, Wikimedia Commons.</a:t>
            </a:r>
          </a:p>
        </p:txBody>
      </p:sp>
      <p:sp>
        <p:nvSpPr>
          <p:cNvPr id="10" name="TextBox 9"/>
          <p:cNvSpPr txBox="1"/>
          <p:nvPr/>
        </p:nvSpPr>
        <p:spPr>
          <a:xfrm>
            <a:off x="5120640" y="1298448"/>
            <a:ext cx="2743200" cy="365760"/>
          </a:xfrm>
          <a:prstGeom prst="rect">
            <a:avLst/>
          </a:prstGeom>
          <a:noFill/>
        </p:spPr>
        <p:txBody>
          <a:bodyPr wrap="square" lIns="0" tIns="0" rIns="0" bIns="0" anchor="t">
            <a:noAutofit/>
          </a:bodyPr>
          <a:lstStyle/>
          <a:p>
            <a:pPr algn="l"/>
            <a:r>
              <a:rPr lang="en-GB" sz="1800" b="1" i="0">
                <a:solidFill>
                  <a:srgbClr val="F28C28"/>
                </a:solidFill>
                <a:latin typeface="Arial"/>
              </a:rPr>
              <a:t>Coal stage</a:t>
            </a:r>
          </a:p>
        </p:txBody>
      </p:sp>
      <p:grpSp>
        <p:nvGrpSpPr>
          <p:cNvPr id="11" name="Coal stage diagram" descr="Coal stage: coal sits on a raised platform and slides down a chute into the tender below, by gravity."/>
          <p:cNvGrpSpPr/>
          <p:nvPr/>
        </p:nvGrpSpPr>
        <p:grpSpPr>
          <a:xfrm>
            <a:off x="5120640" y="1664208"/>
            <a:ext cx="5669280" cy="1691640"/>
            <a:chOff x="5120640" y="1664208"/>
            <a:chExt cx="5669280" cy="1691640"/>
          </a:xfrm>
        </p:grpSpPr>
        <p:sp>
          <p:nvSpPr>
            <p:cNvPr id="12" name="Rectangle 11"/>
            <p:cNvSpPr/>
            <p:nvPr/>
          </p:nvSpPr>
          <p:spPr>
            <a:xfrm>
              <a:off x="5120640" y="3291840"/>
              <a:ext cx="5669280" cy="64008"/>
            </a:xfrm>
            <a:prstGeom prst="rect">
              <a:avLst/>
            </a:prstGeom>
            <a:solidFill>
              <a:srgbClr val="9AA0A6"/>
            </a:solidFill>
            <a:ln>
              <a:noFill/>
            </a:ln>
          </p:spPr>
          <p:txBody>
            <a:bodyPr rtlCol="0" anchor="ctr"/>
            <a:lstStyle/>
            <a:p>
              <a:pPr algn="ctr"/>
              <a:endParaRPr/>
            </a:p>
          </p:txBody>
        </p:sp>
        <p:sp>
          <p:nvSpPr>
            <p:cNvPr id="13" name="Rectangle 12"/>
            <p:cNvSpPr/>
            <p:nvPr/>
          </p:nvSpPr>
          <p:spPr>
            <a:xfrm>
              <a:off x="5257800" y="2286000"/>
              <a:ext cx="91440" cy="1005840"/>
            </a:xfrm>
            <a:prstGeom prst="rect">
              <a:avLst/>
            </a:prstGeom>
            <a:solidFill>
              <a:srgbClr val="9AA0A6"/>
            </a:solidFill>
            <a:ln>
              <a:noFill/>
            </a:ln>
          </p:spPr>
          <p:txBody>
            <a:bodyPr rtlCol="0" anchor="ctr"/>
            <a:lstStyle/>
            <a:p>
              <a:pPr algn="ctr"/>
              <a:endParaRPr/>
            </a:p>
          </p:txBody>
        </p:sp>
        <p:sp>
          <p:nvSpPr>
            <p:cNvPr id="14" name="Rectangle 13"/>
            <p:cNvSpPr/>
            <p:nvPr/>
          </p:nvSpPr>
          <p:spPr>
            <a:xfrm>
              <a:off x="6172200" y="2286000"/>
              <a:ext cx="91440" cy="1005840"/>
            </a:xfrm>
            <a:prstGeom prst="rect">
              <a:avLst/>
            </a:prstGeom>
            <a:solidFill>
              <a:srgbClr val="9AA0A6"/>
            </a:solidFill>
            <a:ln>
              <a:noFill/>
            </a:ln>
          </p:spPr>
          <p:txBody>
            <a:bodyPr rtlCol="0" anchor="ctr"/>
            <a:lstStyle/>
            <a:p>
              <a:pPr algn="ctr"/>
              <a:endParaRPr/>
            </a:p>
          </p:txBody>
        </p:sp>
        <p:sp>
          <p:nvSpPr>
            <p:cNvPr id="15" name="Rectangle 14"/>
            <p:cNvSpPr/>
            <p:nvPr/>
          </p:nvSpPr>
          <p:spPr>
            <a:xfrm>
              <a:off x="7086600" y="2286000"/>
              <a:ext cx="91440" cy="1005840"/>
            </a:xfrm>
            <a:prstGeom prst="rect">
              <a:avLst/>
            </a:prstGeom>
            <a:solidFill>
              <a:srgbClr val="9AA0A6"/>
            </a:solidFill>
            <a:ln>
              <a:noFill/>
            </a:ln>
          </p:spPr>
          <p:txBody>
            <a:bodyPr rtlCol="0" anchor="ctr"/>
            <a:lstStyle/>
            <a:p>
              <a:pPr algn="ctr"/>
              <a:endParaRPr/>
            </a:p>
          </p:txBody>
        </p:sp>
        <p:sp>
          <p:nvSpPr>
            <p:cNvPr id="16" name="Rectangle 15"/>
            <p:cNvSpPr/>
            <p:nvPr/>
          </p:nvSpPr>
          <p:spPr>
            <a:xfrm>
              <a:off x="7863840" y="2286000"/>
              <a:ext cx="91440" cy="1005840"/>
            </a:xfrm>
            <a:prstGeom prst="rect">
              <a:avLst/>
            </a:prstGeom>
            <a:solidFill>
              <a:srgbClr val="9AA0A6"/>
            </a:solidFill>
            <a:ln>
              <a:noFill/>
            </a:ln>
          </p:spPr>
          <p:txBody>
            <a:bodyPr rtlCol="0" anchor="ctr"/>
            <a:lstStyle/>
            <a:p>
              <a:pPr algn="ctr"/>
              <a:endParaRPr/>
            </a:p>
          </p:txBody>
        </p:sp>
        <p:sp>
          <p:nvSpPr>
            <p:cNvPr id="17" name="Rectangle 16"/>
            <p:cNvSpPr/>
            <p:nvPr/>
          </p:nvSpPr>
          <p:spPr>
            <a:xfrm>
              <a:off x="5120640" y="2148840"/>
              <a:ext cx="2926080" cy="137160"/>
            </a:xfrm>
            <a:prstGeom prst="rect">
              <a:avLst/>
            </a:prstGeom>
            <a:solidFill>
              <a:srgbClr val="6B5B4B"/>
            </a:solidFill>
            <a:ln w="9525">
              <a:solidFill>
                <a:srgbClr val="101418"/>
              </a:solidFill>
            </a:ln>
          </p:spPr>
          <p:txBody>
            <a:bodyPr rtlCol="0" anchor="ctr"/>
            <a:lstStyle/>
            <a:p>
              <a:pPr algn="ctr"/>
              <a:endParaRPr/>
            </a:p>
          </p:txBody>
        </p:sp>
        <p:sp>
          <p:nvSpPr>
            <p:cNvPr id="18" name="Freeform 17"/>
            <p:cNvSpPr/>
            <p:nvPr/>
          </p:nvSpPr>
          <p:spPr>
            <a:xfrm>
              <a:off x="5989320" y="1737360"/>
              <a:ext cx="1371600" cy="411480"/>
            </a:xfrm>
            <a:custGeom>
              <a:avLst/>
              <a:gdLst/>
              <a:ahLst/>
              <a:cxnLst/>
              <a:rect l="l" t="t" r="r" b="b"/>
              <a:pathLst>
                <a:path w="1371600" h="411480">
                  <a:moveTo>
                    <a:pt x="0" y="411480"/>
                  </a:moveTo>
                  <a:lnTo>
                    <a:pt x="246888" y="164592"/>
                  </a:lnTo>
                  <a:lnTo>
                    <a:pt x="521208" y="61722"/>
                  </a:lnTo>
                  <a:lnTo>
                    <a:pt x="754380" y="0"/>
                  </a:lnTo>
                  <a:lnTo>
                    <a:pt x="1028700" y="123444"/>
                  </a:lnTo>
                  <a:lnTo>
                    <a:pt x="1261872" y="246888"/>
                  </a:lnTo>
                  <a:lnTo>
                    <a:pt x="1371600" y="411480"/>
                  </a:lnTo>
                  <a:close/>
                </a:path>
              </a:pathLst>
            </a:custGeom>
            <a:solidFill>
              <a:srgbClr val="1B1D21"/>
            </a:solidFill>
            <a:ln w="25400">
              <a:solidFill>
                <a:srgbClr val="6B7078"/>
              </a:solidFill>
            </a:ln>
          </p:spPr>
          <p:txBody>
            <a:bodyPr rtlCol="0" anchor="ctr"/>
            <a:lstStyle/>
            <a:p>
              <a:pPr algn="ctr"/>
              <a:endParaRPr/>
            </a:p>
          </p:txBody>
        </p:sp>
        <p:sp>
          <p:nvSpPr>
            <p:cNvPr id="19" name="Freeform 18"/>
            <p:cNvSpPr/>
            <p:nvPr/>
          </p:nvSpPr>
          <p:spPr>
            <a:xfrm>
              <a:off x="8046720" y="2148840"/>
              <a:ext cx="1143000" cy="548640"/>
            </a:xfrm>
            <a:custGeom>
              <a:avLst/>
              <a:gdLst/>
              <a:ahLst/>
              <a:cxnLst/>
              <a:rect l="l" t="t" r="r" b="b"/>
              <a:pathLst>
                <a:path w="1143000" h="548640">
                  <a:moveTo>
                    <a:pt x="0" y="0"/>
                  </a:moveTo>
                  <a:lnTo>
                    <a:pt x="0" y="182880"/>
                  </a:lnTo>
                  <a:lnTo>
                    <a:pt x="1143000" y="548640"/>
                  </a:lnTo>
                  <a:lnTo>
                    <a:pt x="1143000" y="365760"/>
                  </a:lnTo>
                  <a:close/>
                </a:path>
              </a:pathLst>
            </a:custGeom>
            <a:solidFill>
              <a:srgbClr val="9AA0A6"/>
            </a:solidFill>
            <a:ln w="9525">
              <a:solidFill>
                <a:srgbClr val="101418"/>
              </a:solidFill>
            </a:ln>
          </p:spPr>
          <p:txBody>
            <a:bodyPr rtlCol="0" anchor="ctr"/>
            <a:lstStyle/>
            <a:p>
              <a:pPr algn="ctr"/>
              <a:endParaRPr/>
            </a:p>
          </p:txBody>
        </p:sp>
        <p:sp>
          <p:nvSpPr>
            <p:cNvPr id="20" name="Rectangle 19"/>
            <p:cNvSpPr/>
            <p:nvPr/>
          </p:nvSpPr>
          <p:spPr>
            <a:xfrm>
              <a:off x="8549640" y="2606040"/>
              <a:ext cx="2011680" cy="621792"/>
            </a:xfrm>
            <a:prstGeom prst="rect">
              <a:avLst/>
            </a:prstGeom>
            <a:solidFill>
              <a:srgbClr val="6C7480"/>
            </a:solidFill>
            <a:ln w="12700">
              <a:solidFill>
                <a:srgbClr val="101418"/>
              </a:solidFill>
            </a:ln>
          </p:spPr>
          <p:txBody>
            <a:bodyPr rtlCol="0" anchor="ctr"/>
            <a:lstStyle/>
            <a:p>
              <a:pPr algn="ctr"/>
              <a:endParaRPr/>
            </a:p>
          </p:txBody>
        </p:sp>
        <p:sp>
          <p:nvSpPr>
            <p:cNvPr id="21" name="Freeform 20"/>
            <p:cNvSpPr/>
            <p:nvPr/>
          </p:nvSpPr>
          <p:spPr>
            <a:xfrm>
              <a:off x="8869680" y="2496312"/>
              <a:ext cx="548640" cy="109728"/>
            </a:xfrm>
            <a:custGeom>
              <a:avLst/>
              <a:gdLst/>
              <a:ahLst/>
              <a:cxnLst/>
              <a:rect l="l" t="t" r="r" b="b"/>
              <a:pathLst>
                <a:path w="548640" h="109728">
                  <a:moveTo>
                    <a:pt x="0" y="109728"/>
                  </a:moveTo>
                  <a:lnTo>
                    <a:pt x="98755" y="43891"/>
                  </a:lnTo>
                  <a:lnTo>
                    <a:pt x="208483" y="16459"/>
                  </a:lnTo>
                  <a:lnTo>
                    <a:pt x="301752" y="0"/>
                  </a:lnTo>
                  <a:lnTo>
                    <a:pt x="411480" y="32918"/>
                  </a:lnTo>
                  <a:lnTo>
                    <a:pt x="504749" y="65837"/>
                  </a:lnTo>
                  <a:lnTo>
                    <a:pt x="548640" y="109728"/>
                  </a:lnTo>
                  <a:close/>
                </a:path>
              </a:pathLst>
            </a:custGeom>
            <a:solidFill>
              <a:srgbClr val="1B1D21"/>
            </a:solidFill>
            <a:ln w="25400">
              <a:solidFill>
                <a:srgbClr val="6B7078"/>
              </a:solidFill>
            </a:ln>
          </p:spPr>
          <p:txBody>
            <a:bodyPr rtlCol="0" anchor="ctr"/>
            <a:lstStyle/>
            <a:p>
              <a:pPr algn="ctr"/>
              <a:endParaRPr/>
            </a:p>
          </p:txBody>
        </p:sp>
        <p:sp>
          <p:nvSpPr>
            <p:cNvPr id="22" name="Oval 21"/>
            <p:cNvSpPr/>
            <p:nvPr/>
          </p:nvSpPr>
          <p:spPr>
            <a:xfrm>
              <a:off x="8823960" y="310896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23" name="Oval 22"/>
            <p:cNvSpPr/>
            <p:nvPr/>
          </p:nvSpPr>
          <p:spPr>
            <a:xfrm>
              <a:off x="10104120" y="3108960"/>
              <a:ext cx="182880" cy="182880"/>
            </a:xfrm>
            <a:prstGeom prst="ellipse">
              <a:avLst/>
            </a:prstGeom>
            <a:solidFill>
              <a:srgbClr val="1B1D21"/>
            </a:solidFill>
            <a:ln w="12700">
              <a:solidFill>
                <a:srgbClr val="9AA0A6"/>
              </a:solidFill>
            </a:ln>
          </p:spPr>
          <p:txBody>
            <a:bodyPr rtlCol="0" anchor="ctr"/>
            <a:lstStyle/>
            <a:p>
              <a:pPr algn="ctr"/>
              <a:endParaRPr/>
            </a:p>
          </p:txBody>
        </p:sp>
        <p:cxnSp>
          <p:nvCxnSpPr>
            <p:cNvPr id="24" name="Connector 23"/>
            <p:cNvCxnSpPr/>
            <p:nvPr/>
          </p:nvCxnSpPr>
          <p:spPr>
            <a:xfrm>
              <a:off x="8183880" y="2057400"/>
              <a:ext cx="868680" cy="283464"/>
            </a:xfrm>
            <a:prstGeom prst="line">
              <a:avLst/>
            </a:prstGeom>
            <a:ln w="28575">
              <a:solidFill>
                <a:srgbClr val="F28C28"/>
              </a:solidFill>
              <a:tailEnd type="triangle" w="lg" len="lg"/>
            </a:ln>
          </p:spPr>
        </p:cxnSp>
        <p:sp>
          <p:nvSpPr>
            <p:cNvPr id="25" name="TextBox 24"/>
            <p:cNvSpPr txBox="1"/>
            <p:nvPr/>
          </p:nvSpPr>
          <p:spPr>
            <a:xfrm>
              <a:off x="8229600" y="1664208"/>
              <a:ext cx="1280160" cy="329184"/>
            </a:xfrm>
            <a:prstGeom prst="rect">
              <a:avLst/>
            </a:prstGeom>
            <a:noFill/>
          </p:spPr>
          <p:txBody>
            <a:bodyPr wrap="square" lIns="0" tIns="0" rIns="0" bIns="0" anchor="b">
              <a:noAutofit/>
            </a:bodyPr>
            <a:lstStyle/>
            <a:p>
              <a:pPr algn="l"/>
              <a:r>
                <a:rPr lang="en-GB" sz="1600" b="0" i="0">
                  <a:solidFill>
                    <a:srgbClr val="F2F2F2"/>
                  </a:solidFill>
                  <a:latin typeface="Arial"/>
                </a:rPr>
                <a:t>Gravity</a:t>
              </a:r>
            </a:p>
          </p:txBody>
        </p:sp>
      </p:grpSp>
      <p:sp>
        <p:nvSpPr>
          <p:cNvPr id="26" name="TextBox 25"/>
          <p:cNvSpPr txBox="1"/>
          <p:nvPr/>
        </p:nvSpPr>
        <p:spPr>
          <a:xfrm>
            <a:off x="5120640" y="3474720"/>
            <a:ext cx="2743200" cy="365760"/>
          </a:xfrm>
          <a:prstGeom prst="rect">
            <a:avLst/>
          </a:prstGeom>
          <a:noFill/>
        </p:spPr>
        <p:txBody>
          <a:bodyPr wrap="square" lIns="0" tIns="0" rIns="0" bIns="0" anchor="t">
            <a:noAutofit/>
          </a:bodyPr>
          <a:lstStyle/>
          <a:p>
            <a:pPr algn="l"/>
            <a:r>
              <a:rPr lang="en-GB" sz="1800" b="1" i="0">
                <a:solidFill>
                  <a:srgbClr val="F28C28"/>
                </a:solidFill>
                <a:latin typeface="Arial"/>
              </a:rPr>
              <a:t>Coaling tower</a:t>
            </a:r>
          </a:p>
        </p:txBody>
      </p:sp>
      <p:grpSp>
        <p:nvGrpSpPr>
          <p:cNvPr id="27" name="Coaling tower diagram" descr="Coaling tower: coal is lifted to the top of a tall tower and drops through a hopper into the tender."/>
          <p:cNvGrpSpPr/>
          <p:nvPr/>
        </p:nvGrpSpPr>
        <p:grpSpPr>
          <a:xfrm>
            <a:off x="5120640" y="3931920"/>
            <a:ext cx="4206240" cy="1728216"/>
            <a:chOff x="5120640" y="3931920"/>
            <a:chExt cx="4206240" cy="1728216"/>
          </a:xfrm>
        </p:grpSpPr>
        <p:sp>
          <p:nvSpPr>
            <p:cNvPr id="28" name="Rectangle 27"/>
            <p:cNvSpPr/>
            <p:nvPr/>
          </p:nvSpPr>
          <p:spPr>
            <a:xfrm>
              <a:off x="5120640" y="5596128"/>
              <a:ext cx="4206240" cy="64008"/>
            </a:xfrm>
            <a:prstGeom prst="rect">
              <a:avLst/>
            </a:prstGeom>
            <a:solidFill>
              <a:srgbClr val="9AA0A6"/>
            </a:solidFill>
            <a:ln>
              <a:noFill/>
            </a:ln>
          </p:spPr>
          <p:txBody>
            <a:bodyPr rtlCol="0" anchor="ctr"/>
            <a:lstStyle/>
            <a:p>
              <a:pPr algn="ctr"/>
              <a:endParaRPr/>
            </a:p>
          </p:txBody>
        </p:sp>
        <p:sp>
          <p:nvSpPr>
            <p:cNvPr id="29" name="Rectangle 28"/>
            <p:cNvSpPr/>
            <p:nvPr/>
          </p:nvSpPr>
          <p:spPr>
            <a:xfrm>
              <a:off x="5577840" y="3931920"/>
              <a:ext cx="914400" cy="1664208"/>
            </a:xfrm>
            <a:prstGeom prst="rect">
              <a:avLst/>
            </a:prstGeom>
            <a:solidFill>
              <a:srgbClr val="343A43"/>
            </a:solidFill>
            <a:ln w="19050">
              <a:solidFill>
                <a:srgbClr val="9AA0A6"/>
              </a:solidFill>
            </a:ln>
          </p:spPr>
          <p:txBody>
            <a:bodyPr rtlCol="0" anchor="ctr"/>
            <a:lstStyle/>
            <a:p>
              <a:pPr algn="ctr"/>
              <a:endParaRPr/>
            </a:p>
          </p:txBody>
        </p:sp>
        <p:sp>
          <p:nvSpPr>
            <p:cNvPr id="30" name="Rectangle 29"/>
            <p:cNvSpPr/>
            <p:nvPr/>
          </p:nvSpPr>
          <p:spPr>
            <a:xfrm>
              <a:off x="5650992" y="4005072"/>
              <a:ext cx="768096" cy="411480"/>
            </a:xfrm>
            <a:prstGeom prst="rect">
              <a:avLst/>
            </a:prstGeom>
            <a:solidFill>
              <a:srgbClr val="1B1D21"/>
            </a:solidFill>
            <a:ln w="19050">
              <a:solidFill>
                <a:srgbClr val="6B7078"/>
              </a:solidFill>
            </a:ln>
          </p:spPr>
          <p:txBody>
            <a:bodyPr rtlCol="0" anchor="ctr"/>
            <a:lstStyle/>
            <a:p>
              <a:pPr algn="ctr"/>
              <a:endParaRPr/>
            </a:p>
          </p:txBody>
        </p:sp>
        <p:sp>
          <p:nvSpPr>
            <p:cNvPr id="31" name="Freeform 30"/>
            <p:cNvSpPr/>
            <p:nvPr/>
          </p:nvSpPr>
          <p:spPr>
            <a:xfrm>
              <a:off x="6492240" y="4434840"/>
              <a:ext cx="777240" cy="393192"/>
            </a:xfrm>
            <a:custGeom>
              <a:avLst/>
              <a:gdLst/>
              <a:ahLst/>
              <a:cxnLst/>
              <a:rect l="l" t="t" r="r" b="b"/>
              <a:pathLst>
                <a:path w="777240" h="393192">
                  <a:moveTo>
                    <a:pt x="0" y="0"/>
                  </a:moveTo>
                  <a:lnTo>
                    <a:pt x="777240" y="0"/>
                  </a:lnTo>
                  <a:lnTo>
                    <a:pt x="502920" y="393192"/>
                  </a:lnTo>
                  <a:lnTo>
                    <a:pt x="274320" y="393192"/>
                  </a:lnTo>
                  <a:close/>
                </a:path>
              </a:pathLst>
            </a:custGeom>
            <a:solidFill>
              <a:srgbClr val="9AA0A6"/>
            </a:solidFill>
            <a:ln w="9525">
              <a:solidFill>
                <a:srgbClr val="101418"/>
              </a:solidFill>
            </a:ln>
          </p:spPr>
          <p:txBody>
            <a:bodyPr rtlCol="0" anchor="ctr"/>
            <a:lstStyle/>
            <a:p>
              <a:pPr algn="ctr"/>
              <a:endParaRPr/>
            </a:p>
          </p:txBody>
        </p:sp>
        <p:sp>
          <p:nvSpPr>
            <p:cNvPr id="32" name="Rectangle 31"/>
            <p:cNvSpPr/>
            <p:nvPr/>
          </p:nvSpPr>
          <p:spPr>
            <a:xfrm>
              <a:off x="6400800" y="4910328"/>
              <a:ext cx="2011680" cy="621792"/>
            </a:xfrm>
            <a:prstGeom prst="rect">
              <a:avLst/>
            </a:prstGeom>
            <a:solidFill>
              <a:srgbClr val="6C7480"/>
            </a:solidFill>
            <a:ln w="12700">
              <a:solidFill>
                <a:srgbClr val="101418"/>
              </a:solidFill>
            </a:ln>
          </p:spPr>
          <p:txBody>
            <a:bodyPr rtlCol="0" anchor="ctr"/>
            <a:lstStyle/>
            <a:p>
              <a:pPr algn="ctr"/>
              <a:endParaRPr/>
            </a:p>
          </p:txBody>
        </p:sp>
        <p:sp>
          <p:nvSpPr>
            <p:cNvPr id="33" name="Oval 32"/>
            <p:cNvSpPr/>
            <p:nvPr/>
          </p:nvSpPr>
          <p:spPr>
            <a:xfrm>
              <a:off x="6675120" y="5413248"/>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34" name="Oval 33"/>
            <p:cNvSpPr/>
            <p:nvPr/>
          </p:nvSpPr>
          <p:spPr>
            <a:xfrm>
              <a:off x="7955280" y="5413248"/>
              <a:ext cx="182880" cy="182880"/>
            </a:xfrm>
            <a:prstGeom prst="ellipse">
              <a:avLst/>
            </a:prstGeom>
            <a:solidFill>
              <a:srgbClr val="1B1D21"/>
            </a:solidFill>
            <a:ln w="12700">
              <a:solidFill>
                <a:srgbClr val="9AA0A6"/>
              </a:solidFill>
            </a:ln>
          </p:spPr>
          <p:txBody>
            <a:bodyPr rtlCol="0" anchor="ctr"/>
            <a:lstStyle/>
            <a:p>
              <a:pPr algn="ctr"/>
              <a:endParaRPr/>
            </a:p>
          </p:txBody>
        </p:sp>
        <p:cxnSp>
          <p:nvCxnSpPr>
            <p:cNvPr id="35" name="Connector 34"/>
            <p:cNvCxnSpPr/>
            <p:nvPr/>
          </p:nvCxnSpPr>
          <p:spPr>
            <a:xfrm>
              <a:off x="7498080" y="4343400"/>
              <a:ext cx="0" cy="502920"/>
            </a:xfrm>
            <a:prstGeom prst="line">
              <a:avLst/>
            </a:prstGeom>
            <a:ln w="28575">
              <a:solidFill>
                <a:srgbClr val="F28C28"/>
              </a:solidFill>
              <a:tailEnd type="triangle" w="lg" len="lg"/>
            </a:ln>
          </p:spPr>
        </p:cxnSp>
        <p:sp>
          <p:nvSpPr>
            <p:cNvPr id="36" name="TextBox 35"/>
            <p:cNvSpPr txBox="1"/>
            <p:nvPr/>
          </p:nvSpPr>
          <p:spPr>
            <a:xfrm>
              <a:off x="7635240" y="4370832"/>
              <a:ext cx="1280160" cy="365760"/>
            </a:xfrm>
            <a:prstGeom prst="rect">
              <a:avLst/>
            </a:prstGeom>
            <a:noFill/>
          </p:spPr>
          <p:txBody>
            <a:bodyPr wrap="square" lIns="0" tIns="0" rIns="0" bIns="0" anchor="ctr">
              <a:noAutofit/>
            </a:bodyPr>
            <a:lstStyle/>
            <a:p>
              <a:pPr algn="l"/>
              <a:r>
                <a:rPr lang="en-GB" sz="1600" b="0" i="0">
                  <a:solidFill>
                    <a:srgbClr val="F2F2F2"/>
                  </a:solidFill>
                  <a:latin typeface="Arial"/>
                </a:rPr>
                <a:t>Gravity</a:t>
              </a:r>
            </a:p>
          </p:txBody>
        </p:sp>
      </p:grpSp>
      <p:pic>
        <p:nvPicPr>
          <p:cNvPr id="37" name="Picture P09" descr="A tall coaling tower and a water tower at Carnforth."/>
          <p:cNvPicPr>
            <a:picLocks noChangeAspect="1"/>
          </p:cNvPicPr>
          <p:nvPr/>
        </p:nvPicPr>
        <p:blipFill>
          <a:blip r:embed="rId3"/>
          <a:srcRect t="617" b="617"/>
          <a:stretch>
            <a:fillRect/>
          </a:stretch>
        </p:blipFill>
        <p:spPr>
          <a:xfrm>
            <a:off x="9445752" y="4526280"/>
            <a:ext cx="2194560" cy="822960"/>
          </a:xfrm>
          <a:prstGeom prst="roundRect">
            <a:avLst>
              <a:gd name="adj" fmla="val 8889"/>
            </a:avLst>
          </a:prstGeom>
        </p:spPr>
      </p:pic>
      <p:sp>
        <p:nvSpPr>
          <p:cNvPr id="38" name="Credit"/>
          <p:cNvSpPr txBox="1"/>
          <p:nvPr/>
        </p:nvSpPr>
        <p:spPr>
          <a:xfrm>
            <a:off x="9445752" y="5376672"/>
            <a:ext cx="2194560" cy="338328"/>
          </a:xfrm>
          <a:prstGeom prst="rect">
            <a:avLst/>
          </a:prstGeom>
          <a:noFill/>
        </p:spPr>
        <p:txBody>
          <a:bodyPr wrap="square" lIns="0" tIns="0" rIns="0" bIns="0" anchor="t">
            <a:noAutofit/>
          </a:bodyPr>
          <a:lstStyle/>
          <a:p>
            <a:pPr algn="l"/>
            <a:r>
              <a:rPr lang="en-GB" sz="1000" b="0" i="0">
                <a:solidFill>
                  <a:srgbClr val="A9B0B8"/>
                </a:solidFill>
                <a:latin typeface="Arial"/>
              </a:rPr>
              <a:t>Photo: kitmasterbloke, CC BY 4.0,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Coal starts higher than the tender. A ramp or tower lets gravity fill it.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11</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25"/>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45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675"/>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nodeType="withEffect">
                                  <p:stCondLst>
                                    <p:cond delay="90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1125"/>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par>
                                <p:cTn id="23" presetID="10" presetClass="entr" presetSubtype="0" fill="hold" nodeType="withEffect">
                                  <p:stCondLst>
                                    <p:cond delay="135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nodeType="withEffect">
                                  <p:stCondLst>
                                    <p:cond delay="1575"/>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Why trains need signals</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wrap="square" lIns="54864" tIns="18288" rIns="54864" bIns="18288" rtlCol="0" anchor="ctr">
            <a:noAutofit/>
          </a:bodyPr>
          <a:lstStyle/>
          <a:p>
            <a:pPr algn="ctr"/>
            <a:r>
              <a:rPr lang="en-GB" sz="1400" b="1" i="0">
                <a:solidFill>
                  <a:srgbClr val="F2F2F2"/>
                </a:solidFill>
                <a:latin typeface="Arial"/>
              </a:rPr>
              <a:t>BACKGROUND</a:t>
            </a:r>
          </a:p>
        </p:txBody>
      </p:sp>
      <p:grpSp>
        <p:nvGrpSpPr>
          <p:cNvPr id="8" name="No signals" descr="Without signals: two trains on the same track head for each other with no warning, and crash."/>
          <p:cNvGrpSpPr/>
          <p:nvPr/>
        </p:nvGrpSpPr>
        <p:grpSpPr>
          <a:xfrm>
            <a:off x="548640" y="1325880"/>
            <a:ext cx="11091672" cy="1691640"/>
            <a:chOff x="548640" y="1325880"/>
            <a:chExt cx="11091672" cy="1691640"/>
          </a:xfrm>
        </p:grpSpPr>
        <p:sp>
          <p:nvSpPr>
            <p:cNvPr id="9" name="Rounded Rectangle 8"/>
            <p:cNvSpPr/>
            <p:nvPr/>
          </p:nvSpPr>
          <p:spPr>
            <a:xfrm>
              <a:off x="548640" y="1325880"/>
              <a:ext cx="11091672" cy="1691640"/>
            </a:xfrm>
            <a:prstGeom prst="roundRect">
              <a:avLst>
                <a:gd name="adj" fmla="val 4324"/>
              </a:avLst>
            </a:prstGeom>
            <a:solidFill>
              <a:srgbClr val="2B2F36"/>
            </a:solidFill>
            <a:ln>
              <a:noFill/>
            </a:ln>
          </p:spPr>
          <p:txBody>
            <a:bodyPr rtlCol="0" anchor="ctr"/>
            <a:lstStyle/>
            <a:p>
              <a:pPr algn="ctr"/>
              <a:endParaRPr/>
            </a:p>
          </p:txBody>
        </p:sp>
        <p:sp>
          <p:nvSpPr>
            <p:cNvPr id="10" name="Rectangle 9"/>
            <p:cNvSpPr/>
            <p:nvPr/>
          </p:nvSpPr>
          <p:spPr>
            <a:xfrm>
              <a:off x="1092708" y="2340864"/>
              <a:ext cx="54864" cy="365760"/>
            </a:xfrm>
            <a:prstGeom prst="rect">
              <a:avLst/>
            </a:prstGeom>
            <a:solidFill>
              <a:srgbClr val="6B5B4B"/>
            </a:solidFill>
            <a:ln>
              <a:noFill/>
            </a:ln>
          </p:spPr>
          <p:txBody>
            <a:bodyPr rtlCol="0" anchor="ctr"/>
            <a:lstStyle/>
            <a:p>
              <a:pPr algn="ctr"/>
              <a:endParaRPr/>
            </a:p>
          </p:txBody>
        </p:sp>
        <p:sp>
          <p:nvSpPr>
            <p:cNvPr id="11" name="Rectangle 10"/>
            <p:cNvSpPr/>
            <p:nvPr/>
          </p:nvSpPr>
          <p:spPr>
            <a:xfrm>
              <a:off x="1412748" y="2340864"/>
              <a:ext cx="54864" cy="365760"/>
            </a:xfrm>
            <a:prstGeom prst="rect">
              <a:avLst/>
            </a:prstGeom>
            <a:solidFill>
              <a:srgbClr val="6B5B4B"/>
            </a:solidFill>
            <a:ln>
              <a:noFill/>
            </a:ln>
          </p:spPr>
          <p:txBody>
            <a:bodyPr rtlCol="0" anchor="ctr"/>
            <a:lstStyle/>
            <a:p>
              <a:pPr algn="ctr"/>
              <a:endParaRPr/>
            </a:p>
          </p:txBody>
        </p:sp>
        <p:sp>
          <p:nvSpPr>
            <p:cNvPr id="12" name="Rectangle 11"/>
            <p:cNvSpPr/>
            <p:nvPr/>
          </p:nvSpPr>
          <p:spPr>
            <a:xfrm>
              <a:off x="1732788" y="2340864"/>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2052828" y="2340864"/>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2372868" y="2340864"/>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2692908" y="2340864"/>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3012948" y="2340864"/>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3332988" y="2340864"/>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3653028" y="2340864"/>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3973068" y="2340864"/>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4293108" y="2340864"/>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4613148" y="2340864"/>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4933188" y="2340864"/>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5253228" y="2340864"/>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5573268" y="2340864"/>
              <a:ext cx="54864" cy="365760"/>
            </a:xfrm>
            <a:prstGeom prst="rect">
              <a:avLst/>
            </a:prstGeom>
            <a:solidFill>
              <a:srgbClr val="6B5B4B"/>
            </a:solidFill>
            <a:ln>
              <a:noFill/>
            </a:ln>
          </p:spPr>
          <p:txBody>
            <a:bodyPr rtlCol="0" anchor="ctr"/>
            <a:lstStyle/>
            <a:p>
              <a:pPr algn="ctr"/>
              <a:endParaRPr/>
            </a:p>
          </p:txBody>
        </p:sp>
        <p:sp>
          <p:nvSpPr>
            <p:cNvPr id="25" name="Rectangle 24"/>
            <p:cNvSpPr/>
            <p:nvPr/>
          </p:nvSpPr>
          <p:spPr>
            <a:xfrm>
              <a:off x="5893308" y="2340864"/>
              <a:ext cx="54864" cy="365760"/>
            </a:xfrm>
            <a:prstGeom prst="rect">
              <a:avLst/>
            </a:prstGeom>
            <a:solidFill>
              <a:srgbClr val="6B5B4B"/>
            </a:solidFill>
            <a:ln>
              <a:noFill/>
            </a:ln>
          </p:spPr>
          <p:txBody>
            <a:bodyPr rtlCol="0" anchor="ctr"/>
            <a:lstStyle/>
            <a:p>
              <a:pPr algn="ctr"/>
              <a:endParaRPr/>
            </a:p>
          </p:txBody>
        </p:sp>
        <p:sp>
          <p:nvSpPr>
            <p:cNvPr id="26" name="Rectangle 25"/>
            <p:cNvSpPr/>
            <p:nvPr/>
          </p:nvSpPr>
          <p:spPr>
            <a:xfrm>
              <a:off x="6213348" y="2340864"/>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6533388" y="2340864"/>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6853428" y="2340864"/>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7173468" y="2340864"/>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7493508" y="2340864"/>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7813548" y="2340864"/>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8133588" y="2340864"/>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8453628" y="2340864"/>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8773668" y="2340864"/>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9093708" y="2340864"/>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9413748" y="2340864"/>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9733788" y="2340864"/>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10053828" y="2340864"/>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10373868" y="2340864"/>
              <a:ext cx="54864" cy="365760"/>
            </a:xfrm>
            <a:prstGeom prst="rect">
              <a:avLst/>
            </a:prstGeom>
            <a:solidFill>
              <a:srgbClr val="6B5B4B"/>
            </a:solidFill>
            <a:ln>
              <a:noFill/>
            </a:ln>
          </p:spPr>
          <p:txBody>
            <a:bodyPr rtlCol="0" anchor="ctr"/>
            <a:lstStyle/>
            <a:p>
              <a:pPr algn="ctr"/>
              <a:endParaRPr/>
            </a:p>
          </p:txBody>
        </p:sp>
        <p:sp>
          <p:nvSpPr>
            <p:cNvPr id="40" name="Rectangle 39"/>
            <p:cNvSpPr/>
            <p:nvPr/>
          </p:nvSpPr>
          <p:spPr>
            <a:xfrm>
              <a:off x="10693908" y="2340864"/>
              <a:ext cx="54864" cy="365760"/>
            </a:xfrm>
            <a:prstGeom prst="rect">
              <a:avLst/>
            </a:prstGeom>
            <a:solidFill>
              <a:srgbClr val="6B5B4B"/>
            </a:solidFill>
            <a:ln>
              <a:noFill/>
            </a:ln>
          </p:spPr>
          <p:txBody>
            <a:bodyPr rtlCol="0" anchor="ctr"/>
            <a:lstStyle/>
            <a:p>
              <a:pPr algn="ctr"/>
              <a:endParaRPr/>
            </a:p>
          </p:txBody>
        </p:sp>
        <p:sp>
          <p:nvSpPr>
            <p:cNvPr id="41" name="Rectangle 40"/>
            <p:cNvSpPr/>
            <p:nvPr/>
          </p:nvSpPr>
          <p:spPr>
            <a:xfrm>
              <a:off x="11013948" y="2340864"/>
              <a:ext cx="54864" cy="365760"/>
            </a:xfrm>
            <a:prstGeom prst="rect">
              <a:avLst/>
            </a:prstGeom>
            <a:solidFill>
              <a:srgbClr val="6B5B4B"/>
            </a:solidFill>
            <a:ln>
              <a:noFill/>
            </a:ln>
          </p:spPr>
          <p:txBody>
            <a:bodyPr rtlCol="0" anchor="ctr"/>
            <a:lstStyle/>
            <a:p>
              <a:pPr algn="ctr"/>
              <a:endParaRPr/>
            </a:p>
          </p:txBody>
        </p:sp>
        <p:sp>
          <p:nvSpPr>
            <p:cNvPr id="42" name="Rectangle 41"/>
            <p:cNvSpPr/>
            <p:nvPr/>
          </p:nvSpPr>
          <p:spPr>
            <a:xfrm>
              <a:off x="822960" y="2368296"/>
              <a:ext cx="10515600" cy="54864"/>
            </a:xfrm>
            <a:prstGeom prst="rect">
              <a:avLst/>
            </a:prstGeom>
            <a:solidFill>
              <a:srgbClr val="9AA0A6"/>
            </a:solidFill>
            <a:ln>
              <a:noFill/>
            </a:ln>
          </p:spPr>
          <p:txBody>
            <a:bodyPr rtlCol="0" anchor="ctr"/>
            <a:lstStyle/>
            <a:p>
              <a:pPr algn="ctr"/>
              <a:endParaRPr/>
            </a:p>
          </p:txBody>
        </p:sp>
        <p:sp>
          <p:nvSpPr>
            <p:cNvPr id="43" name="Rectangle 42"/>
            <p:cNvSpPr/>
            <p:nvPr/>
          </p:nvSpPr>
          <p:spPr>
            <a:xfrm>
              <a:off x="822960" y="2624328"/>
              <a:ext cx="10515600" cy="54864"/>
            </a:xfrm>
            <a:prstGeom prst="rect">
              <a:avLst/>
            </a:prstGeom>
            <a:solidFill>
              <a:srgbClr val="9AA0A6"/>
            </a:solidFill>
            <a:ln>
              <a:noFill/>
            </a:ln>
          </p:spPr>
          <p:txBody>
            <a:bodyPr rtlCol="0" anchor="ctr"/>
            <a:lstStyle/>
            <a:p>
              <a:pPr algn="ctr"/>
              <a:endParaRPr/>
            </a:p>
          </p:txBody>
        </p:sp>
        <p:grpSp>
          <p:nvGrpSpPr>
            <p:cNvPr id="44" name="Train A" descr="A steam train: an engine pulling wagons."/>
            <p:cNvGrpSpPr/>
            <p:nvPr/>
          </p:nvGrpSpPr>
          <p:grpSpPr>
            <a:xfrm>
              <a:off x="1920240" y="1630375"/>
              <a:ext cx="2271370" cy="765353"/>
              <a:chOff x="1920240" y="1630375"/>
              <a:chExt cx="2271370" cy="765353"/>
            </a:xfrm>
          </p:grpSpPr>
          <p:sp>
            <p:nvSpPr>
              <p:cNvPr id="45" name="Rectangle 44"/>
              <p:cNvSpPr/>
              <p:nvPr/>
            </p:nvSpPr>
            <p:spPr>
              <a:xfrm>
                <a:off x="1920240" y="1926641"/>
                <a:ext cx="658368" cy="370332"/>
              </a:xfrm>
              <a:prstGeom prst="rect">
                <a:avLst/>
              </a:prstGeom>
              <a:solidFill>
                <a:srgbClr val="6C7480"/>
              </a:solidFill>
              <a:ln w="9525">
                <a:solidFill>
                  <a:srgbClr val="101418"/>
                </a:solidFill>
              </a:ln>
            </p:spPr>
            <p:txBody>
              <a:bodyPr rtlCol="0" anchor="ctr"/>
              <a:lstStyle/>
              <a:p>
                <a:pPr algn="ctr"/>
                <a:endParaRPr/>
              </a:p>
            </p:txBody>
          </p:sp>
          <p:sp>
            <p:nvSpPr>
              <p:cNvPr id="46" name="Oval 45"/>
              <p:cNvSpPr/>
              <p:nvPr/>
            </p:nvSpPr>
            <p:spPr>
              <a:xfrm>
                <a:off x="2002536"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47" name="Oval 46"/>
              <p:cNvSpPr/>
              <p:nvPr/>
            </p:nvSpPr>
            <p:spPr>
              <a:xfrm>
                <a:off x="2331720"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48" name="Rectangle 47"/>
              <p:cNvSpPr/>
              <p:nvPr/>
            </p:nvSpPr>
            <p:spPr>
              <a:xfrm>
                <a:off x="2578608" y="2189988"/>
                <a:ext cx="65837" cy="41148"/>
              </a:xfrm>
              <a:prstGeom prst="rect">
                <a:avLst/>
              </a:prstGeom>
              <a:solidFill>
                <a:srgbClr val="9AA0A6"/>
              </a:solidFill>
              <a:ln>
                <a:noFill/>
              </a:ln>
            </p:spPr>
            <p:txBody>
              <a:bodyPr rtlCol="0" anchor="ctr"/>
              <a:lstStyle/>
              <a:p>
                <a:pPr algn="ctr"/>
                <a:endParaRPr/>
              </a:p>
            </p:txBody>
          </p:sp>
          <p:sp>
            <p:nvSpPr>
              <p:cNvPr id="49" name="Rectangle 48"/>
              <p:cNvSpPr/>
              <p:nvPr/>
            </p:nvSpPr>
            <p:spPr>
              <a:xfrm>
                <a:off x="2644445" y="1926641"/>
                <a:ext cx="658368" cy="370332"/>
              </a:xfrm>
              <a:prstGeom prst="rect">
                <a:avLst/>
              </a:prstGeom>
              <a:solidFill>
                <a:srgbClr val="6C7480"/>
              </a:solidFill>
              <a:ln w="9525">
                <a:solidFill>
                  <a:srgbClr val="101418"/>
                </a:solidFill>
              </a:ln>
            </p:spPr>
            <p:txBody>
              <a:bodyPr rtlCol="0" anchor="ctr"/>
              <a:lstStyle/>
              <a:p>
                <a:pPr algn="ctr"/>
                <a:endParaRPr/>
              </a:p>
            </p:txBody>
          </p:sp>
          <p:sp>
            <p:nvSpPr>
              <p:cNvPr id="50" name="Oval 49"/>
              <p:cNvSpPr/>
              <p:nvPr/>
            </p:nvSpPr>
            <p:spPr>
              <a:xfrm>
                <a:off x="2726741"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51" name="Oval 50"/>
              <p:cNvSpPr/>
              <p:nvPr/>
            </p:nvSpPr>
            <p:spPr>
              <a:xfrm>
                <a:off x="3055925"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52" name="Rectangle 51"/>
              <p:cNvSpPr/>
              <p:nvPr/>
            </p:nvSpPr>
            <p:spPr>
              <a:xfrm>
                <a:off x="3302813" y="2189988"/>
                <a:ext cx="65837" cy="41148"/>
              </a:xfrm>
              <a:prstGeom prst="rect">
                <a:avLst/>
              </a:prstGeom>
              <a:solidFill>
                <a:srgbClr val="9AA0A6"/>
              </a:solidFill>
              <a:ln>
                <a:noFill/>
              </a:ln>
            </p:spPr>
            <p:txBody>
              <a:bodyPr rtlCol="0" anchor="ctr"/>
              <a:lstStyle/>
              <a:p>
                <a:pPr algn="ctr"/>
                <a:endParaRPr/>
              </a:p>
            </p:txBody>
          </p:sp>
          <p:sp>
            <p:nvSpPr>
              <p:cNvPr id="53" name="Rectangle 52"/>
              <p:cNvSpPr/>
              <p:nvPr/>
            </p:nvSpPr>
            <p:spPr>
              <a:xfrm>
                <a:off x="3368650" y="1860804"/>
                <a:ext cx="822960" cy="452628"/>
              </a:xfrm>
              <a:prstGeom prst="rect">
                <a:avLst/>
              </a:prstGeom>
              <a:solidFill>
                <a:srgbClr val="F28C28"/>
              </a:solidFill>
              <a:ln w="9525">
                <a:solidFill>
                  <a:srgbClr val="101418"/>
                </a:solidFill>
              </a:ln>
            </p:spPr>
            <p:txBody>
              <a:bodyPr rtlCol="0" anchor="ctr"/>
              <a:lstStyle/>
              <a:p>
                <a:pPr algn="ctr"/>
                <a:endParaRPr/>
              </a:p>
            </p:txBody>
          </p:sp>
          <p:sp>
            <p:nvSpPr>
              <p:cNvPr id="54" name="Bunker"/>
              <p:cNvSpPr/>
              <p:nvPr/>
            </p:nvSpPr>
            <p:spPr>
              <a:xfrm>
                <a:off x="3393338" y="1885493"/>
                <a:ext cx="213970" cy="164592"/>
              </a:xfrm>
              <a:prstGeom prst="rect">
                <a:avLst/>
              </a:prstGeom>
              <a:solidFill>
                <a:srgbClr val="1B1D21"/>
              </a:solidFill>
              <a:ln>
                <a:noFill/>
              </a:ln>
            </p:spPr>
            <p:txBody>
              <a:bodyPr rtlCol="0" anchor="ctr"/>
              <a:lstStyle/>
              <a:p>
                <a:pPr algn="ctr"/>
                <a:endParaRPr/>
              </a:p>
            </p:txBody>
          </p:sp>
          <p:sp>
            <p:nvSpPr>
              <p:cNvPr id="55" name="Rectangle 54"/>
              <p:cNvSpPr/>
              <p:nvPr/>
            </p:nvSpPr>
            <p:spPr>
              <a:xfrm>
                <a:off x="3648456" y="1918411"/>
                <a:ext cx="115214" cy="115214"/>
              </a:xfrm>
              <a:prstGeom prst="rect">
                <a:avLst/>
              </a:prstGeom>
              <a:solidFill>
                <a:srgbClr val="2B2F36"/>
              </a:solidFill>
              <a:ln>
                <a:noFill/>
              </a:ln>
            </p:spPr>
            <p:txBody>
              <a:bodyPr rtlCol="0" anchor="ctr"/>
              <a:lstStyle/>
              <a:p>
                <a:pPr algn="ctr"/>
                <a:endParaRPr/>
              </a:p>
            </p:txBody>
          </p:sp>
          <p:sp>
            <p:nvSpPr>
              <p:cNvPr id="56" name="Chimney"/>
              <p:cNvSpPr/>
              <p:nvPr/>
            </p:nvSpPr>
            <p:spPr>
              <a:xfrm>
                <a:off x="4010558" y="1630375"/>
                <a:ext cx="123444" cy="246888"/>
              </a:xfrm>
              <a:prstGeom prst="rect">
                <a:avLst/>
              </a:prstGeom>
              <a:solidFill>
                <a:srgbClr val="1B1D21"/>
              </a:solidFill>
              <a:ln>
                <a:noFill/>
              </a:ln>
            </p:spPr>
            <p:txBody>
              <a:bodyPr rtlCol="0" anchor="ctr"/>
              <a:lstStyle/>
              <a:p>
                <a:pPr algn="ctr"/>
                <a:endParaRPr/>
              </a:p>
            </p:txBody>
          </p:sp>
          <p:sp>
            <p:nvSpPr>
              <p:cNvPr id="57" name="Oval 56"/>
              <p:cNvSpPr/>
              <p:nvPr/>
            </p:nvSpPr>
            <p:spPr>
              <a:xfrm>
                <a:off x="3450946"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58" name="Oval 57"/>
              <p:cNvSpPr/>
              <p:nvPr/>
            </p:nvSpPr>
            <p:spPr>
              <a:xfrm>
                <a:off x="3697834"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59" name="Oval 58"/>
              <p:cNvSpPr/>
              <p:nvPr/>
            </p:nvSpPr>
            <p:spPr>
              <a:xfrm>
                <a:off x="3944722" y="2231136"/>
                <a:ext cx="164592" cy="164592"/>
              </a:xfrm>
              <a:prstGeom prst="ellipse">
                <a:avLst/>
              </a:prstGeom>
              <a:solidFill>
                <a:srgbClr val="1B1D21"/>
              </a:solidFill>
              <a:ln w="12700">
                <a:solidFill>
                  <a:srgbClr val="9AA0A6"/>
                </a:solidFill>
              </a:ln>
            </p:spPr>
            <p:txBody>
              <a:bodyPr rtlCol="0" anchor="ctr"/>
              <a:lstStyle/>
              <a:p>
                <a:pPr algn="ctr"/>
                <a:endParaRPr/>
              </a:p>
            </p:txBody>
          </p:sp>
        </p:grpSp>
        <p:grpSp>
          <p:nvGrpSpPr>
            <p:cNvPr id="60" name="Train B" descr="A steam train: an engine pulling wagons."/>
            <p:cNvGrpSpPr/>
            <p:nvPr/>
          </p:nvGrpSpPr>
          <p:grpSpPr>
            <a:xfrm>
              <a:off x="6995160" y="1630375"/>
              <a:ext cx="2271370" cy="765353"/>
              <a:chOff x="6995160" y="1630375"/>
              <a:chExt cx="2271370" cy="765353"/>
            </a:xfrm>
          </p:grpSpPr>
          <p:sp>
            <p:nvSpPr>
              <p:cNvPr id="61" name="Rectangle 60"/>
              <p:cNvSpPr/>
              <p:nvPr/>
            </p:nvSpPr>
            <p:spPr>
              <a:xfrm>
                <a:off x="8608162" y="1926641"/>
                <a:ext cx="658368" cy="370332"/>
              </a:xfrm>
              <a:prstGeom prst="rect">
                <a:avLst/>
              </a:prstGeom>
              <a:solidFill>
                <a:srgbClr val="6C7480"/>
              </a:solidFill>
              <a:ln w="9525">
                <a:solidFill>
                  <a:srgbClr val="101418"/>
                </a:solidFill>
              </a:ln>
            </p:spPr>
            <p:txBody>
              <a:bodyPr rtlCol="0" anchor="ctr"/>
              <a:lstStyle/>
              <a:p>
                <a:pPr algn="ctr"/>
                <a:endParaRPr/>
              </a:p>
            </p:txBody>
          </p:sp>
          <p:sp>
            <p:nvSpPr>
              <p:cNvPr id="62" name="Oval 61"/>
              <p:cNvSpPr/>
              <p:nvPr/>
            </p:nvSpPr>
            <p:spPr>
              <a:xfrm>
                <a:off x="9019642"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63" name="Oval 62"/>
              <p:cNvSpPr/>
              <p:nvPr/>
            </p:nvSpPr>
            <p:spPr>
              <a:xfrm>
                <a:off x="8690458"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64" name="Rectangle 63"/>
              <p:cNvSpPr/>
              <p:nvPr/>
            </p:nvSpPr>
            <p:spPr>
              <a:xfrm>
                <a:off x="8542325" y="2189988"/>
                <a:ext cx="65837" cy="41148"/>
              </a:xfrm>
              <a:prstGeom prst="rect">
                <a:avLst/>
              </a:prstGeom>
              <a:solidFill>
                <a:srgbClr val="9AA0A6"/>
              </a:solidFill>
              <a:ln>
                <a:noFill/>
              </a:ln>
            </p:spPr>
            <p:txBody>
              <a:bodyPr rtlCol="0" anchor="ctr"/>
              <a:lstStyle/>
              <a:p>
                <a:pPr algn="ctr"/>
                <a:endParaRPr/>
              </a:p>
            </p:txBody>
          </p:sp>
          <p:sp>
            <p:nvSpPr>
              <p:cNvPr id="65" name="Rectangle 64"/>
              <p:cNvSpPr/>
              <p:nvPr/>
            </p:nvSpPr>
            <p:spPr>
              <a:xfrm>
                <a:off x="7883957" y="1926641"/>
                <a:ext cx="658368" cy="370332"/>
              </a:xfrm>
              <a:prstGeom prst="rect">
                <a:avLst/>
              </a:prstGeom>
              <a:solidFill>
                <a:srgbClr val="6C7480"/>
              </a:solidFill>
              <a:ln w="9525">
                <a:solidFill>
                  <a:srgbClr val="101418"/>
                </a:solidFill>
              </a:ln>
            </p:spPr>
            <p:txBody>
              <a:bodyPr rtlCol="0" anchor="ctr"/>
              <a:lstStyle/>
              <a:p>
                <a:pPr algn="ctr"/>
                <a:endParaRPr/>
              </a:p>
            </p:txBody>
          </p:sp>
          <p:sp>
            <p:nvSpPr>
              <p:cNvPr id="66" name="Oval 65"/>
              <p:cNvSpPr/>
              <p:nvPr/>
            </p:nvSpPr>
            <p:spPr>
              <a:xfrm>
                <a:off x="8295437"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67" name="Oval 66"/>
              <p:cNvSpPr/>
              <p:nvPr/>
            </p:nvSpPr>
            <p:spPr>
              <a:xfrm>
                <a:off x="7966253"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68" name="Rectangle 67"/>
              <p:cNvSpPr/>
              <p:nvPr/>
            </p:nvSpPr>
            <p:spPr>
              <a:xfrm>
                <a:off x="7818120" y="2189988"/>
                <a:ext cx="65837" cy="41148"/>
              </a:xfrm>
              <a:prstGeom prst="rect">
                <a:avLst/>
              </a:prstGeom>
              <a:solidFill>
                <a:srgbClr val="9AA0A6"/>
              </a:solidFill>
              <a:ln>
                <a:noFill/>
              </a:ln>
            </p:spPr>
            <p:txBody>
              <a:bodyPr rtlCol="0" anchor="ctr"/>
              <a:lstStyle/>
              <a:p>
                <a:pPr algn="ctr"/>
                <a:endParaRPr/>
              </a:p>
            </p:txBody>
          </p:sp>
          <p:sp>
            <p:nvSpPr>
              <p:cNvPr id="69" name="Rectangle 68"/>
              <p:cNvSpPr/>
              <p:nvPr/>
            </p:nvSpPr>
            <p:spPr>
              <a:xfrm>
                <a:off x="6995160" y="1860804"/>
                <a:ext cx="822960" cy="452628"/>
              </a:xfrm>
              <a:prstGeom prst="rect">
                <a:avLst/>
              </a:prstGeom>
              <a:solidFill>
                <a:srgbClr val="F28C28"/>
              </a:solidFill>
              <a:ln w="9525">
                <a:solidFill>
                  <a:srgbClr val="101418"/>
                </a:solidFill>
              </a:ln>
            </p:spPr>
            <p:txBody>
              <a:bodyPr rtlCol="0" anchor="ctr"/>
              <a:lstStyle/>
              <a:p>
                <a:pPr algn="ctr"/>
                <a:endParaRPr/>
              </a:p>
            </p:txBody>
          </p:sp>
          <p:sp>
            <p:nvSpPr>
              <p:cNvPr id="70" name="Bunker"/>
              <p:cNvSpPr/>
              <p:nvPr/>
            </p:nvSpPr>
            <p:spPr>
              <a:xfrm>
                <a:off x="7579462" y="1885493"/>
                <a:ext cx="213970" cy="164592"/>
              </a:xfrm>
              <a:prstGeom prst="rect">
                <a:avLst/>
              </a:prstGeom>
              <a:solidFill>
                <a:srgbClr val="1B1D21"/>
              </a:solidFill>
              <a:ln>
                <a:noFill/>
              </a:ln>
            </p:spPr>
            <p:txBody>
              <a:bodyPr rtlCol="0" anchor="ctr"/>
              <a:lstStyle/>
              <a:p>
                <a:pPr algn="ctr"/>
                <a:endParaRPr/>
              </a:p>
            </p:txBody>
          </p:sp>
          <p:sp>
            <p:nvSpPr>
              <p:cNvPr id="71" name="Rectangle 70"/>
              <p:cNvSpPr/>
              <p:nvPr/>
            </p:nvSpPr>
            <p:spPr>
              <a:xfrm>
                <a:off x="7423099" y="1918411"/>
                <a:ext cx="115214" cy="115214"/>
              </a:xfrm>
              <a:prstGeom prst="rect">
                <a:avLst/>
              </a:prstGeom>
              <a:solidFill>
                <a:srgbClr val="2B2F36"/>
              </a:solidFill>
              <a:ln>
                <a:noFill/>
              </a:ln>
            </p:spPr>
            <p:txBody>
              <a:bodyPr rtlCol="0" anchor="ctr"/>
              <a:lstStyle/>
              <a:p>
                <a:pPr algn="ctr"/>
                <a:endParaRPr/>
              </a:p>
            </p:txBody>
          </p:sp>
          <p:sp>
            <p:nvSpPr>
              <p:cNvPr id="72" name="Chimney"/>
              <p:cNvSpPr/>
              <p:nvPr/>
            </p:nvSpPr>
            <p:spPr>
              <a:xfrm>
                <a:off x="7052767" y="1630375"/>
                <a:ext cx="123444" cy="246888"/>
              </a:xfrm>
              <a:prstGeom prst="rect">
                <a:avLst/>
              </a:prstGeom>
              <a:solidFill>
                <a:srgbClr val="1B1D21"/>
              </a:solidFill>
              <a:ln>
                <a:noFill/>
              </a:ln>
            </p:spPr>
            <p:txBody>
              <a:bodyPr rtlCol="0" anchor="ctr"/>
              <a:lstStyle/>
              <a:p>
                <a:pPr algn="ctr"/>
                <a:endParaRPr/>
              </a:p>
            </p:txBody>
          </p:sp>
          <p:sp>
            <p:nvSpPr>
              <p:cNvPr id="73" name="Oval 72"/>
              <p:cNvSpPr/>
              <p:nvPr/>
            </p:nvSpPr>
            <p:spPr>
              <a:xfrm>
                <a:off x="7571232"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74" name="Oval 73"/>
              <p:cNvSpPr/>
              <p:nvPr/>
            </p:nvSpPr>
            <p:spPr>
              <a:xfrm>
                <a:off x="7324344" y="2231136"/>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75" name="Oval 74"/>
              <p:cNvSpPr/>
              <p:nvPr/>
            </p:nvSpPr>
            <p:spPr>
              <a:xfrm>
                <a:off x="7077456" y="2231136"/>
                <a:ext cx="164592" cy="164592"/>
              </a:xfrm>
              <a:prstGeom prst="ellipse">
                <a:avLst/>
              </a:prstGeom>
              <a:solidFill>
                <a:srgbClr val="1B1D21"/>
              </a:solidFill>
              <a:ln w="12700">
                <a:solidFill>
                  <a:srgbClr val="9AA0A6"/>
                </a:solidFill>
              </a:ln>
            </p:spPr>
            <p:txBody>
              <a:bodyPr rtlCol="0" anchor="ctr"/>
              <a:lstStyle/>
              <a:p>
                <a:pPr algn="ctr"/>
                <a:endParaRPr/>
              </a:p>
            </p:txBody>
          </p:sp>
        </p:grpSp>
        <p:sp>
          <p:nvSpPr>
            <p:cNvPr id="76" name="Multiply 75"/>
            <p:cNvSpPr/>
            <p:nvPr/>
          </p:nvSpPr>
          <p:spPr>
            <a:xfrm>
              <a:off x="5300777" y="1691640"/>
              <a:ext cx="585216" cy="585216"/>
            </a:xfrm>
            <a:prstGeom prst="mathMultiply">
              <a:avLst/>
            </a:prstGeom>
            <a:solidFill>
              <a:srgbClr val="E5484D"/>
            </a:solidFill>
            <a:ln>
              <a:noFill/>
            </a:ln>
          </p:spPr>
          <p:txBody>
            <a:bodyPr rtlCol="0" anchor="ctr"/>
            <a:lstStyle/>
            <a:p>
              <a:pPr algn="ctr"/>
              <a:endParaRPr/>
            </a:p>
          </p:txBody>
        </p:sp>
        <p:sp>
          <p:nvSpPr>
            <p:cNvPr id="77" name="Rounded Rectangle 76"/>
            <p:cNvSpPr/>
            <p:nvPr/>
          </p:nvSpPr>
          <p:spPr>
            <a:xfrm>
              <a:off x="6004865" y="1463040"/>
              <a:ext cx="2377440" cy="411480"/>
            </a:xfrm>
            <a:prstGeom prst="roundRect">
              <a:avLst>
                <a:gd name="adj" fmla="val 17777"/>
              </a:avLst>
            </a:prstGeom>
            <a:solidFill>
              <a:srgbClr val="B3262B"/>
            </a:solidFill>
            <a:ln>
              <a:noFill/>
            </a:ln>
          </p:spPr>
          <p:txBody>
            <a:bodyPr wrap="square" lIns="73152" tIns="36576" rIns="73152" bIns="36576" rtlCol="0" anchor="ctr">
              <a:noAutofit/>
            </a:bodyPr>
            <a:lstStyle/>
            <a:p>
              <a:pPr algn="ctr"/>
              <a:r>
                <a:rPr lang="en-GB" sz="1800" b="1" i="0">
                  <a:solidFill>
                    <a:srgbClr val="F2F2F2"/>
                  </a:solidFill>
                  <a:latin typeface="Arial"/>
                </a:rPr>
                <a:t>No warning: crash</a:t>
              </a:r>
            </a:p>
          </p:txBody>
        </p:sp>
      </p:grpSp>
      <p:grpSp>
        <p:nvGrpSpPr>
          <p:cNvPr id="78" name="With signals" descr="With signals: the track is split into three blocks with one train in each. The second train waits at a stop signal. The lead train needs a long distance to stop."/>
          <p:cNvGrpSpPr/>
          <p:nvPr/>
        </p:nvGrpSpPr>
        <p:grpSpPr>
          <a:xfrm>
            <a:off x="548640" y="3163824"/>
            <a:ext cx="11091672" cy="2459736"/>
            <a:chOff x="548640" y="3163824"/>
            <a:chExt cx="11091672" cy="2459736"/>
          </a:xfrm>
        </p:grpSpPr>
        <p:sp>
          <p:nvSpPr>
            <p:cNvPr id="79" name="Rounded Rectangle 78"/>
            <p:cNvSpPr/>
            <p:nvPr/>
          </p:nvSpPr>
          <p:spPr>
            <a:xfrm>
              <a:off x="548640" y="3200400"/>
              <a:ext cx="11091672" cy="2423160"/>
            </a:xfrm>
            <a:prstGeom prst="roundRect">
              <a:avLst>
                <a:gd name="adj" fmla="val 3018"/>
              </a:avLst>
            </a:prstGeom>
            <a:solidFill>
              <a:srgbClr val="2B2F36"/>
            </a:solidFill>
            <a:ln>
              <a:noFill/>
            </a:ln>
          </p:spPr>
          <p:txBody>
            <a:bodyPr rtlCol="0" anchor="ctr"/>
            <a:lstStyle/>
            <a:p>
              <a:pPr algn="ctr"/>
              <a:endParaRPr/>
            </a:p>
          </p:txBody>
        </p:sp>
        <p:sp>
          <p:nvSpPr>
            <p:cNvPr id="80" name="Rectangle 79"/>
            <p:cNvSpPr/>
            <p:nvPr/>
          </p:nvSpPr>
          <p:spPr>
            <a:xfrm>
              <a:off x="1092708" y="4151376"/>
              <a:ext cx="54864" cy="365760"/>
            </a:xfrm>
            <a:prstGeom prst="rect">
              <a:avLst/>
            </a:prstGeom>
            <a:solidFill>
              <a:srgbClr val="6B5B4B"/>
            </a:solidFill>
            <a:ln>
              <a:noFill/>
            </a:ln>
          </p:spPr>
          <p:txBody>
            <a:bodyPr rtlCol="0" anchor="ctr"/>
            <a:lstStyle/>
            <a:p>
              <a:pPr algn="ctr"/>
              <a:endParaRPr/>
            </a:p>
          </p:txBody>
        </p:sp>
        <p:sp>
          <p:nvSpPr>
            <p:cNvPr id="81" name="Rectangle 80"/>
            <p:cNvSpPr/>
            <p:nvPr/>
          </p:nvSpPr>
          <p:spPr>
            <a:xfrm>
              <a:off x="1412748" y="4151376"/>
              <a:ext cx="54864" cy="365760"/>
            </a:xfrm>
            <a:prstGeom prst="rect">
              <a:avLst/>
            </a:prstGeom>
            <a:solidFill>
              <a:srgbClr val="6B5B4B"/>
            </a:solidFill>
            <a:ln>
              <a:noFill/>
            </a:ln>
          </p:spPr>
          <p:txBody>
            <a:bodyPr rtlCol="0" anchor="ctr"/>
            <a:lstStyle/>
            <a:p>
              <a:pPr algn="ctr"/>
              <a:endParaRPr/>
            </a:p>
          </p:txBody>
        </p:sp>
        <p:sp>
          <p:nvSpPr>
            <p:cNvPr id="82" name="Rectangle 81"/>
            <p:cNvSpPr/>
            <p:nvPr/>
          </p:nvSpPr>
          <p:spPr>
            <a:xfrm>
              <a:off x="1732788" y="4151376"/>
              <a:ext cx="54864" cy="365760"/>
            </a:xfrm>
            <a:prstGeom prst="rect">
              <a:avLst/>
            </a:prstGeom>
            <a:solidFill>
              <a:srgbClr val="6B5B4B"/>
            </a:solidFill>
            <a:ln>
              <a:noFill/>
            </a:ln>
          </p:spPr>
          <p:txBody>
            <a:bodyPr rtlCol="0" anchor="ctr"/>
            <a:lstStyle/>
            <a:p>
              <a:pPr algn="ctr"/>
              <a:endParaRPr/>
            </a:p>
          </p:txBody>
        </p:sp>
        <p:sp>
          <p:nvSpPr>
            <p:cNvPr id="83" name="Rectangle 82"/>
            <p:cNvSpPr/>
            <p:nvPr/>
          </p:nvSpPr>
          <p:spPr>
            <a:xfrm>
              <a:off x="2052828" y="4151376"/>
              <a:ext cx="54864" cy="365760"/>
            </a:xfrm>
            <a:prstGeom prst="rect">
              <a:avLst/>
            </a:prstGeom>
            <a:solidFill>
              <a:srgbClr val="6B5B4B"/>
            </a:solidFill>
            <a:ln>
              <a:noFill/>
            </a:ln>
          </p:spPr>
          <p:txBody>
            <a:bodyPr rtlCol="0" anchor="ctr"/>
            <a:lstStyle/>
            <a:p>
              <a:pPr algn="ctr"/>
              <a:endParaRPr/>
            </a:p>
          </p:txBody>
        </p:sp>
        <p:sp>
          <p:nvSpPr>
            <p:cNvPr id="84" name="Rectangle 83"/>
            <p:cNvSpPr/>
            <p:nvPr/>
          </p:nvSpPr>
          <p:spPr>
            <a:xfrm>
              <a:off x="2372868" y="4151376"/>
              <a:ext cx="54864" cy="365760"/>
            </a:xfrm>
            <a:prstGeom prst="rect">
              <a:avLst/>
            </a:prstGeom>
            <a:solidFill>
              <a:srgbClr val="6B5B4B"/>
            </a:solidFill>
            <a:ln>
              <a:noFill/>
            </a:ln>
          </p:spPr>
          <p:txBody>
            <a:bodyPr rtlCol="0" anchor="ctr"/>
            <a:lstStyle/>
            <a:p>
              <a:pPr algn="ctr"/>
              <a:endParaRPr/>
            </a:p>
          </p:txBody>
        </p:sp>
        <p:sp>
          <p:nvSpPr>
            <p:cNvPr id="85" name="Rectangle 84"/>
            <p:cNvSpPr/>
            <p:nvPr/>
          </p:nvSpPr>
          <p:spPr>
            <a:xfrm>
              <a:off x="2692908" y="4151376"/>
              <a:ext cx="54864" cy="365760"/>
            </a:xfrm>
            <a:prstGeom prst="rect">
              <a:avLst/>
            </a:prstGeom>
            <a:solidFill>
              <a:srgbClr val="6B5B4B"/>
            </a:solidFill>
            <a:ln>
              <a:noFill/>
            </a:ln>
          </p:spPr>
          <p:txBody>
            <a:bodyPr rtlCol="0" anchor="ctr"/>
            <a:lstStyle/>
            <a:p>
              <a:pPr algn="ctr"/>
              <a:endParaRPr/>
            </a:p>
          </p:txBody>
        </p:sp>
        <p:sp>
          <p:nvSpPr>
            <p:cNvPr id="86" name="Rectangle 85"/>
            <p:cNvSpPr/>
            <p:nvPr/>
          </p:nvSpPr>
          <p:spPr>
            <a:xfrm>
              <a:off x="3012948" y="4151376"/>
              <a:ext cx="54864" cy="365760"/>
            </a:xfrm>
            <a:prstGeom prst="rect">
              <a:avLst/>
            </a:prstGeom>
            <a:solidFill>
              <a:srgbClr val="6B5B4B"/>
            </a:solidFill>
            <a:ln>
              <a:noFill/>
            </a:ln>
          </p:spPr>
          <p:txBody>
            <a:bodyPr rtlCol="0" anchor="ctr"/>
            <a:lstStyle/>
            <a:p>
              <a:pPr algn="ctr"/>
              <a:endParaRPr/>
            </a:p>
          </p:txBody>
        </p:sp>
        <p:sp>
          <p:nvSpPr>
            <p:cNvPr id="87" name="Rectangle 86"/>
            <p:cNvSpPr/>
            <p:nvPr/>
          </p:nvSpPr>
          <p:spPr>
            <a:xfrm>
              <a:off x="3332988" y="4151376"/>
              <a:ext cx="54864" cy="365760"/>
            </a:xfrm>
            <a:prstGeom prst="rect">
              <a:avLst/>
            </a:prstGeom>
            <a:solidFill>
              <a:srgbClr val="6B5B4B"/>
            </a:solidFill>
            <a:ln>
              <a:noFill/>
            </a:ln>
          </p:spPr>
          <p:txBody>
            <a:bodyPr rtlCol="0" anchor="ctr"/>
            <a:lstStyle/>
            <a:p>
              <a:pPr algn="ctr"/>
              <a:endParaRPr/>
            </a:p>
          </p:txBody>
        </p:sp>
        <p:sp>
          <p:nvSpPr>
            <p:cNvPr id="88" name="Rectangle 87"/>
            <p:cNvSpPr/>
            <p:nvPr/>
          </p:nvSpPr>
          <p:spPr>
            <a:xfrm>
              <a:off x="3653028" y="4151376"/>
              <a:ext cx="54864" cy="365760"/>
            </a:xfrm>
            <a:prstGeom prst="rect">
              <a:avLst/>
            </a:prstGeom>
            <a:solidFill>
              <a:srgbClr val="6B5B4B"/>
            </a:solidFill>
            <a:ln>
              <a:noFill/>
            </a:ln>
          </p:spPr>
          <p:txBody>
            <a:bodyPr rtlCol="0" anchor="ctr"/>
            <a:lstStyle/>
            <a:p>
              <a:pPr algn="ctr"/>
              <a:endParaRPr/>
            </a:p>
          </p:txBody>
        </p:sp>
        <p:sp>
          <p:nvSpPr>
            <p:cNvPr id="89" name="Rectangle 88"/>
            <p:cNvSpPr/>
            <p:nvPr/>
          </p:nvSpPr>
          <p:spPr>
            <a:xfrm>
              <a:off x="3973068" y="4151376"/>
              <a:ext cx="54864" cy="365760"/>
            </a:xfrm>
            <a:prstGeom prst="rect">
              <a:avLst/>
            </a:prstGeom>
            <a:solidFill>
              <a:srgbClr val="6B5B4B"/>
            </a:solidFill>
            <a:ln>
              <a:noFill/>
            </a:ln>
          </p:spPr>
          <p:txBody>
            <a:bodyPr rtlCol="0" anchor="ctr"/>
            <a:lstStyle/>
            <a:p>
              <a:pPr algn="ctr"/>
              <a:endParaRPr/>
            </a:p>
          </p:txBody>
        </p:sp>
        <p:sp>
          <p:nvSpPr>
            <p:cNvPr id="90" name="Rectangle 89"/>
            <p:cNvSpPr/>
            <p:nvPr/>
          </p:nvSpPr>
          <p:spPr>
            <a:xfrm>
              <a:off x="4293108" y="4151376"/>
              <a:ext cx="54864" cy="365760"/>
            </a:xfrm>
            <a:prstGeom prst="rect">
              <a:avLst/>
            </a:prstGeom>
            <a:solidFill>
              <a:srgbClr val="6B5B4B"/>
            </a:solidFill>
            <a:ln>
              <a:noFill/>
            </a:ln>
          </p:spPr>
          <p:txBody>
            <a:bodyPr rtlCol="0" anchor="ctr"/>
            <a:lstStyle/>
            <a:p>
              <a:pPr algn="ctr"/>
              <a:endParaRPr/>
            </a:p>
          </p:txBody>
        </p:sp>
        <p:sp>
          <p:nvSpPr>
            <p:cNvPr id="91" name="Rectangle 90"/>
            <p:cNvSpPr/>
            <p:nvPr/>
          </p:nvSpPr>
          <p:spPr>
            <a:xfrm>
              <a:off x="4613148" y="4151376"/>
              <a:ext cx="54864" cy="365760"/>
            </a:xfrm>
            <a:prstGeom prst="rect">
              <a:avLst/>
            </a:prstGeom>
            <a:solidFill>
              <a:srgbClr val="6B5B4B"/>
            </a:solidFill>
            <a:ln>
              <a:noFill/>
            </a:ln>
          </p:spPr>
          <p:txBody>
            <a:bodyPr rtlCol="0" anchor="ctr"/>
            <a:lstStyle/>
            <a:p>
              <a:pPr algn="ctr"/>
              <a:endParaRPr/>
            </a:p>
          </p:txBody>
        </p:sp>
        <p:sp>
          <p:nvSpPr>
            <p:cNvPr id="92" name="Rectangle 91"/>
            <p:cNvSpPr/>
            <p:nvPr/>
          </p:nvSpPr>
          <p:spPr>
            <a:xfrm>
              <a:off x="4933188" y="4151376"/>
              <a:ext cx="54864" cy="365760"/>
            </a:xfrm>
            <a:prstGeom prst="rect">
              <a:avLst/>
            </a:prstGeom>
            <a:solidFill>
              <a:srgbClr val="6B5B4B"/>
            </a:solidFill>
            <a:ln>
              <a:noFill/>
            </a:ln>
          </p:spPr>
          <p:txBody>
            <a:bodyPr rtlCol="0" anchor="ctr"/>
            <a:lstStyle/>
            <a:p>
              <a:pPr algn="ctr"/>
              <a:endParaRPr/>
            </a:p>
          </p:txBody>
        </p:sp>
        <p:sp>
          <p:nvSpPr>
            <p:cNvPr id="93" name="Rectangle 92"/>
            <p:cNvSpPr/>
            <p:nvPr/>
          </p:nvSpPr>
          <p:spPr>
            <a:xfrm>
              <a:off x="5253228" y="4151376"/>
              <a:ext cx="54864" cy="365760"/>
            </a:xfrm>
            <a:prstGeom prst="rect">
              <a:avLst/>
            </a:prstGeom>
            <a:solidFill>
              <a:srgbClr val="6B5B4B"/>
            </a:solidFill>
            <a:ln>
              <a:noFill/>
            </a:ln>
          </p:spPr>
          <p:txBody>
            <a:bodyPr rtlCol="0" anchor="ctr"/>
            <a:lstStyle/>
            <a:p>
              <a:pPr algn="ctr"/>
              <a:endParaRPr/>
            </a:p>
          </p:txBody>
        </p:sp>
        <p:sp>
          <p:nvSpPr>
            <p:cNvPr id="94" name="Rectangle 93"/>
            <p:cNvSpPr/>
            <p:nvPr/>
          </p:nvSpPr>
          <p:spPr>
            <a:xfrm>
              <a:off x="5573268" y="4151376"/>
              <a:ext cx="54864" cy="365760"/>
            </a:xfrm>
            <a:prstGeom prst="rect">
              <a:avLst/>
            </a:prstGeom>
            <a:solidFill>
              <a:srgbClr val="6B5B4B"/>
            </a:solidFill>
            <a:ln>
              <a:noFill/>
            </a:ln>
          </p:spPr>
          <p:txBody>
            <a:bodyPr rtlCol="0" anchor="ctr"/>
            <a:lstStyle/>
            <a:p>
              <a:pPr algn="ctr"/>
              <a:endParaRPr/>
            </a:p>
          </p:txBody>
        </p:sp>
        <p:sp>
          <p:nvSpPr>
            <p:cNvPr id="95" name="Rectangle 94"/>
            <p:cNvSpPr/>
            <p:nvPr/>
          </p:nvSpPr>
          <p:spPr>
            <a:xfrm>
              <a:off x="5893308" y="4151376"/>
              <a:ext cx="54864" cy="365760"/>
            </a:xfrm>
            <a:prstGeom prst="rect">
              <a:avLst/>
            </a:prstGeom>
            <a:solidFill>
              <a:srgbClr val="6B5B4B"/>
            </a:solidFill>
            <a:ln>
              <a:noFill/>
            </a:ln>
          </p:spPr>
          <p:txBody>
            <a:bodyPr rtlCol="0" anchor="ctr"/>
            <a:lstStyle/>
            <a:p>
              <a:pPr algn="ctr"/>
              <a:endParaRPr/>
            </a:p>
          </p:txBody>
        </p:sp>
        <p:sp>
          <p:nvSpPr>
            <p:cNvPr id="96" name="Rectangle 95"/>
            <p:cNvSpPr/>
            <p:nvPr/>
          </p:nvSpPr>
          <p:spPr>
            <a:xfrm>
              <a:off x="6213348" y="4151376"/>
              <a:ext cx="54864" cy="365760"/>
            </a:xfrm>
            <a:prstGeom prst="rect">
              <a:avLst/>
            </a:prstGeom>
            <a:solidFill>
              <a:srgbClr val="6B5B4B"/>
            </a:solidFill>
            <a:ln>
              <a:noFill/>
            </a:ln>
          </p:spPr>
          <p:txBody>
            <a:bodyPr rtlCol="0" anchor="ctr"/>
            <a:lstStyle/>
            <a:p>
              <a:pPr algn="ctr"/>
              <a:endParaRPr/>
            </a:p>
          </p:txBody>
        </p:sp>
        <p:sp>
          <p:nvSpPr>
            <p:cNvPr id="97" name="Rectangle 96"/>
            <p:cNvSpPr/>
            <p:nvPr/>
          </p:nvSpPr>
          <p:spPr>
            <a:xfrm>
              <a:off x="6533388" y="4151376"/>
              <a:ext cx="54864" cy="365760"/>
            </a:xfrm>
            <a:prstGeom prst="rect">
              <a:avLst/>
            </a:prstGeom>
            <a:solidFill>
              <a:srgbClr val="6B5B4B"/>
            </a:solidFill>
            <a:ln>
              <a:noFill/>
            </a:ln>
          </p:spPr>
          <p:txBody>
            <a:bodyPr rtlCol="0" anchor="ctr"/>
            <a:lstStyle/>
            <a:p>
              <a:pPr algn="ctr"/>
              <a:endParaRPr/>
            </a:p>
          </p:txBody>
        </p:sp>
        <p:sp>
          <p:nvSpPr>
            <p:cNvPr id="98" name="Rectangle 97"/>
            <p:cNvSpPr/>
            <p:nvPr/>
          </p:nvSpPr>
          <p:spPr>
            <a:xfrm>
              <a:off x="6853428" y="4151376"/>
              <a:ext cx="54864" cy="365760"/>
            </a:xfrm>
            <a:prstGeom prst="rect">
              <a:avLst/>
            </a:prstGeom>
            <a:solidFill>
              <a:srgbClr val="6B5B4B"/>
            </a:solidFill>
            <a:ln>
              <a:noFill/>
            </a:ln>
          </p:spPr>
          <p:txBody>
            <a:bodyPr rtlCol="0" anchor="ctr"/>
            <a:lstStyle/>
            <a:p>
              <a:pPr algn="ctr"/>
              <a:endParaRPr/>
            </a:p>
          </p:txBody>
        </p:sp>
        <p:sp>
          <p:nvSpPr>
            <p:cNvPr id="99" name="Rectangle 98"/>
            <p:cNvSpPr/>
            <p:nvPr/>
          </p:nvSpPr>
          <p:spPr>
            <a:xfrm>
              <a:off x="7173468" y="4151376"/>
              <a:ext cx="54864" cy="365760"/>
            </a:xfrm>
            <a:prstGeom prst="rect">
              <a:avLst/>
            </a:prstGeom>
            <a:solidFill>
              <a:srgbClr val="6B5B4B"/>
            </a:solidFill>
            <a:ln>
              <a:noFill/>
            </a:ln>
          </p:spPr>
          <p:txBody>
            <a:bodyPr rtlCol="0" anchor="ctr"/>
            <a:lstStyle/>
            <a:p>
              <a:pPr algn="ctr"/>
              <a:endParaRPr/>
            </a:p>
          </p:txBody>
        </p:sp>
        <p:sp>
          <p:nvSpPr>
            <p:cNvPr id="100" name="Rectangle 99"/>
            <p:cNvSpPr/>
            <p:nvPr/>
          </p:nvSpPr>
          <p:spPr>
            <a:xfrm>
              <a:off x="7493508" y="4151376"/>
              <a:ext cx="54864" cy="365760"/>
            </a:xfrm>
            <a:prstGeom prst="rect">
              <a:avLst/>
            </a:prstGeom>
            <a:solidFill>
              <a:srgbClr val="6B5B4B"/>
            </a:solidFill>
            <a:ln>
              <a:noFill/>
            </a:ln>
          </p:spPr>
          <p:txBody>
            <a:bodyPr rtlCol="0" anchor="ctr"/>
            <a:lstStyle/>
            <a:p>
              <a:pPr algn="ctr"/>
              <a:endParaRPr/>
            </a:p>
          </p:txBody>
        </p:sp>
        <p:sp>
          <p:nvSpPr>
            <p:cNvPr id="101" name="Rectangle 100"/>
            <p:cNvSpPr/>
            <p:nvPr/>
          </p:nvSpPr>
          <p:spPr>
            <a:xfrm>
              <a:off x="7813548" y="4151376"/>
              <a:ext cx="54864" cy="365760"/>
            </a:xfrm>
            <a:prstGeom prst="rect">
              <a:avLst/>
            </a:prstGeom>
            <a:solidFill>
              <a:srgbClr val="6B5B4B"/>
            </a:solidFill>
            <a:ln>
              <a:noFill/>
            </a:ln>
          </p:spPr>
          <p:txBody>
            <a:bodyPr rtlCol="0" anchor="ctr"/>
            <a:lstStyle/>
            <a:p>
              <a:pPr algn="ctr"/>
              <a:endParaRPr/>
            </a:p>
          </p:txBody>
        </p:sp>
        <p:sp>
          <p:nvSpPr>
            <p:cNvPr id="102" name="Rectangle 101"/>
            <p:cNvSpPr/>
            <p:nvPr/>
          </p:nvSpPr>
          <p:spPr>
            <a:xfrm>
              <a:off x="8133588" y="4151376"/>
              <a:ext cx="54864" cy="365760"/>
            </a:xfrm>
            <a:prstGeom prst="rect">
              <a:avLst/>
            </a:prstGeom>
            <a:solidFill>
              <a:srgbClr val="6B5B4B"/>
            </a:solidFill>
            <a:ln>
              <a:noFill/>
            </a:ln>
          </p:spPr>
          <p:txBody>
            <a:bodyPr rtlCol="0" anchor="ctr"/>
            <a:lstStyle/>
            <a:p>
              <a:pPr algn="ctr"/>
              <a:endParaRPr/>
            </a:p>
          </p:txBody>
        </p:sp>
        <p:sp>
          <p:nvSpPr>
            <p:cNvPr id="103" name="Rectangle 102"/>
            <p:cNvSpPr/>
            <p:nvPr/>
          </p:nvSpPr>
          <p:spPr>
            <a:xfrm>
              <a:off x="8453628" y="4151376"/>
              <a:ext cx="54864" cy="365760"/>
            </a:xfrm>
            <a:prstGeom prst="rect">
              <a:avLst/>
            </a:prstGeom>
            <a:solidFill>
              <a:srgbClr val="6B5B4B"/>
            </a:solidFill>
            <a:ln>
              <a:noFill/>
            </a:ln>
          </p:spPr>
          <p:txBody>
            <a:bodyPr rtlCol="0" anchor="ctr"/>
            <a:lstStyle/>
            <a:p>
              <a:pPr algn="ctr"/>
              <a:endParaRPr/>
            </a:p>
          </p:txBody>
        </p:sp>
        <p:sp>
          <p:nvSpPr>
            <p:cNvPr id="104" name="Rectangle 103"/>
            <p:cNvSpPr/>
            <p:nvPr/>
          </p:nvSpPr>
          <p:spPr>
            <a:xfrm>
              <a:off x="8773668" y="4151376"/>
              <a:ext cx="54864" cy="365760"/>
            </a:xfrm>
            <a:prstGeom prst="rect">
              <a:avLst/>
            </a:prstGeom>
            <a:solidFill>
              <a:srgbClr val="6B5B4B"/>
            </a:solidFill>
            <a:ln>
              <a:noFill/>
            </a:ln>
          </p:spPr>
          <p:txBody>
            <a:bodyPr rtlCol="0" anchor="ctr"/>
            <a:lstStyle/>
            <a:p>
              <a:pPr algn="ctr"/>
              <a:endParaRPr/>
            </a:p>
          </p:txBody>
        </p:sp>
        <p:sp>
          <p:nvSpPr>
            <p:cNvPr id="105" name="Rectangle 104"/>
            <p:cNvSpPr/>
            <p:nvPr/>
          </p:nvSpPr>
          <p:spPr>
            <a:xfrm>
              <a:off x="9093708" y="4151376"/>
              <a:ext cx="54864" cy="365760"/>
            </a:xfrm>
            <a:prstGeom prst="rect">
              <a:avLst/>
            </a:prstGeom>
            <a:solidFill>
              <a:srgbClr val="6B5B4B"/>
            </a:solidFill>
            <a:ln>
              <a:noFill/>
            </a:ln>
          </p:spPr>
          <p:txBody>
            <a:bodyPr rtlCol="0" anchor="ctr"/>
            <a:lstStyle/>
            <a:p>
              <a:pPr algn="ctr"/>
              <a:endParaRPr/>
            </a:p>
          </p:txBody>
        </p:sp>
        <p:sp>
          <p:nvSpPr>
            <p:cNvPr id="106" name="Rectangle 105"/>
            <p:cNvSpPr/>
            <p:nvPr/>
          </p:nvSpPr>
          <p:spPr>
            <a:xfrm>
              <a:off x="9413748" y="4151376"/>
              <a:ext cx="54864" cy="365760"/>
            </a:xfrm>
            <a:prstGeom prst="rect">
              <a:avLst/>
            </a:prstGeom>
            <a:solidFill>
              <a:srgbClr val="6B5B4B"/>
            </a:solidFill>
            <a:ln>
              <a:noFill/>
            </a:ln>
          </p:spPr>
          <p:txBody>
            <a:bodyPr rtlCol="0" anchor="ctr"/>
            <a:lstStyle/>
            <a:p>
              <a:pPr algn="ctr"/>
              <a:endParaRPr/>
            </a:p>
          </p:txBody>
        </p:sp>
        <p:sp>
          <p:nvSpPr>
            <p:cNvPr id="107" name="Rectangle 106"/>
            <p:cNvSpPr/>
            <p:nvPr/>
          </p:nvSpPr>
          <p:spPr>
            <a:xfrm>
              <a:off x="9733788" y="4151376"/>
              <a:ext cx="54864" cy="365760"/>
            </a:xfrm>
            <a:prstGeom prst="rect">
              <a:avLst/>
            </a:prstGeom>
            <a:solidFill>
              <a:srgbClr val="6B5B4B"/>
            </a:solidFill>
            <a:ln>
              <a:noFill/>
            </a:ln>
          </p:spPr>
          <p:txBody>
            <a:bodyPr rtlCol="0" anchor="ctr"/>
            <a:lstStyle/>
            <a:p>
              <a:pPr algn="ctr"/>
              <a:endParaRPr/>
            </a:p>
          </p:txBody>
        </p:sp>
        <p:sp>
          <p:nvSpPr>
            <p:cNvPr id="108" name="Rectangle 107"/>
            <p:cNvSpPr/>
            <p:nvPr/>
          </p:nvSpPr>
          <p:spPr>
            <a:xfrm>
              <a:off x="10053828" y="4151376"/>
              <a:ext cx="54864" cy="365760"/>
            </a:xfrm>
            <a:prstGeom prst="rect">
              <a:avLst/>
            </a:prstGeom>
            <a:solidFill>
              <a:srgbClr val="6B5B4B"/>
            </a:solidFill>
            <a:ln>
              <a:noFill/>
            </a:ln>
          </p:spPr>
          <p:txBody>
            <a:bodyPr rtlCol="0" anchor="ctr"/>
            <a:lstStyle/>
            <a:p>
              <a:pPr algn="ctr"/>
              <a:endParaRPr/>
            </a:p>
          </p:txBody>
        </p:sp>
        <p:sp>
          <p:nvSpPr>
            <p:cNvPr id="109" name="Rectangle 108"/>
            <p:cNvSpPr/>
            <p:nvPr/>
          </p:nvSpPr>
          <p:spPr>
            <a:xfrm>
              <a:off x="10373868" y="4151376"/>
              <a:ext cx="54864" cy="365760"/>
            </a:xfrm>
            <a:prstGeom prst="rect">
              <a:avLst/>
            </a:prstGeom>
            <a:solidFill>
              <a:srgbClr val="6B5B4B"/>
            </a:solidFill>
            <a:ln>
              <a:noFill/>
            </a:ln>
          </p:spPr>
          <p:txBody>
            <a:bodyPr rtlCol="0" anchor="ctr"/>
            <a:lstStyle/>
            <a:p>
              <a:pPr algn="ctr"/>
              <a:endParaRPr/>
            </a:p>
          </p:txBody>
        </p:sp>
        <p:sp>
          <p:nvSpPr>
            <p:cNvPr id="110" name="Rectangle 109"/>
            <p:cNvSpPr/>
            <p:nvPr/>
          </p:nvSpPr>
          <p:spPr>
            <a:xfrm>
              <a:off x="10693908" y="4151376"/>
              <a:ext cx="54864" cy="365760"/>
            </a:xfrm>
            <a:prstGeom prst="rect">
              <a:avLst/>
            </a:prstGeom>
            <a:solidFill>
              <a:srgbClr val="6B5B4B"/>
            </a:solidFill>
            <a:ln>
              <a:noFill/>
            </a:ln>
          </p:spPr>
          <p:txBody>
            <a:bodyPr rtlCol="0" anchor="ctr"/>
            <a:lstStyle/>
            <a:p>
              <a:pPr algn="ctr"/>
              <a:endParaRPr/>
            </a:p>
          </p:txBody>
        </p:sp>
        <p:sp>
          <p:nvSpPr>
            <p:cNvPr id="111" name="Rectangle 110"/>
            <p:cNvSpPr/>
            <p:nvPr/>
          </p:nvSpPr>
          <p:spPr>
            <a:xfrm>
              <a:off x="11013948" y="4151376"/>
              <a:ext cx="54864" cy="365760"/>
            </a:xfrm>
            <a:prstGeom prst="rect">
              <a:avLst/>
            </a:prstGeom>
            <a:solidFill>
              <a:srgbClr val="6B5B4B"/>
            </a:solidFill>
            <a:ln>
              <a:noFill/>
            </a:ln>
          </p:spPr>
          <p:txBody>
            <a:bodyPr rtlCol="0" anchor="ctr"/>
            <a:lstStyle/>
            <a:p>
              <a:pPr algn="ctr"/>
              <a:endParaRPr/>
            </a:p>
          </p:txBody>
        </p:sp>
        <p:sp>
          <p:nvSpPr>
            <p:cNvPr id="112" name="Rectangle 111"/>
            <p:cNvSpPr/>
            <p:nvPr/>
          </p:nvSpPr>
          <p:spPr>
            <a:xfrm>
              <a:off x="822960" y="4178808"/>
              <a:ext cx="10515600" cy="54864"/>
            </a:xfrm>
            <a:prstGeom prst="rect">
              <a:avLst/>
            </a:prstGeom>
            <a:solidFill>
              <a:srgbClr val="9AA0A6"/>
            </a:solidFill>
            <a:ln>
              <a:noFill/>
            </a:ln>
          </p:spPr>
          <p:txBody>
            <a:bodyPr rtlCol="0" anchor="ctr"/>
            <a:lstStyle/>
            <a:p>
              <a:pPr algn="ctr"/>
              <a:endParaRPr/>
            </a:p>
          </p:txBody>
        </p:sp>
        <p:sp>
          <p:nvSpPr>
            <p:cNvPr id="113" name="Rectangle 112"/>
            <p:cNvSpPr/>
            <p:nvPr/>
          </p:nvSpPr>
          <p:spPr>
            <a:xfrm>
              <a:off x="822960" y="4434840"/>
              <a:ext cx="10515600" cy="54864"/>
            </a:xfrm>
            <a:prstGeom prst="rect">
              <a:avLst/>
            </a:prstGeom>
            <a:solidFill>
              <a:srgbClr val="9AA0A6"/>
            </a:solidFill>
            <a:ln>
              <a:noFill/>
            </a:ln>
          </p:spPr>
          <p:txBody>
            <a:bodyPr rtlCol="0" anchor="ctr"/>
            <a:lstStyle/>
            <a:p>
              <a:pPr algn="ctr"/>
              <a:endParaRPr/>
            </a:p>
          </p:txBody>
        </p:sp>
        <p:grpSp>
          <p:nvGrpSpPr>
            <p:cNvPr id="114" name="Lead train" descr="A steam train: an engine pulling wagons."/>
            <p:cNvGrpSpPr/>
            <p:nvPr/>
          </p:nvGrpSpPr>
          <p:grpSpPr>
            <a:xfrm>
              <a:off x="4526280" y="3440887"/>
              <a:ext cx="2271370" cy="765353"/>
              <a:chOff x="4526280" y="3440887"/>
              <a:chExt cx="2271370" cy="765353"/>
            </a:xfrm>
          </p:grpSpPr>
          <p:sp>
            <p:nvSpPr>
              <p:cNvPr id="115" name="Rectangle 114"/>
              <p:cNvSpPr/>
              <p:nvPr/>
            </p:nvSpPr>
            <p:spPr>
              <a:xfrm>
                <a:off x="4526280" y="3737153"/>
                <a:ext cx="658368" cy="370332"/>
              </a:xfrm>
              <a:prstGeom prst="rect">
                <a:avLst/>
              </a:prstGeom>
              <a:solidFill>
                <a:srgbClr val="6C7480"/>
              </a:solidFill>
              <a:ln w="9525">
                <a:solidFill>
                  <a:srgbClr val="101418"/>
                </a:solidFill>
              </a:ln>
            </p:spPr>
            <p:txBody>
              <a:bodyPr rtlCol="0" anchor="ctr"/>
              <a:lstStyle/>
              <a:p>
                <a:pPr algn="ctr"/>
                <a:endParaRPr/>
              </a:p>
            </p:txBody>
          </p:sp>
          <p:sp>
            <p:nvSpPr>
              <p:cNvPr id="116" name="Oval 115"/>
              <p:cNvSpPr/>
              <p:nvPr/>
            </p:nvSpPr>
            <p:spPr>
              <a:xfrm>
                <a:off x="4608576" y="4041648"/>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117" name="Oval 116"/>
              <p:cNvSpPr/>
              <p:nvPr/>
            </p:nvSpPr>
            <p:spPr>
              <a:xfrm>
                <a:off x="4937760" y="4041648"/>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118" name="Rectangle 117"/>
              <p:cNvSpPr/>
              <p:nvPr/>
            </p:nvSpPr>
            <p:spPr>
              <a:xfrm>
                <a:off x="5184648" y="4000500"/>
                <a:ext cx="65837" cy="41148"/>
              </a:xfrm>
              <a:prstGeom prst="rect">
                <a:avLst/>
              </a:prstGeom>
              <a:solidFill>
                <a:srgbClr val="9AA0A6"/>
              </a:solidFill>
              <a:ln>
                <a:noFill/>
              </a:ln>
            </p:spPr>
            <p:txBody>
              <a:bodyPr rtlCol="0" anchor="ctr"/>
              <a:lstStyle/>
              <a:p>
                <a:pPr algn="ctr"/>
                <a:endParaRPr/>
              </a:p>
            </p:txBody>
          </p:sp>
          <p:sp>
            <p:nvSpPr>
              <p:cNvPr id="119" name="Rectangle 118"/>
              <p:cNvSpPr/>
              <p:nvPr/>
            </p:nvSpPr>
            <p:spPr>
              <a:xfrm>
                <a:off x="5250485" y="3737153"/>
                <a:ext cx="658368" cy="370332"/>
              </a:xfrm>
              <a:prstGeom prst="rect">
                <a:avLst/>
              </a:prstGeom>
              <a:solidFill>
                <a:srgbClr val="6C7480"/>
              </a:solidFill>
              <a:ln w="9525">
                <a:solidFill>
                  <a:srgbClr val="101418"/>
                </a:solidFill>
              </a:ln>
            </p:spPr>
            <p:txBody>
              <a:bodyPr rtlCol="0" anchor="ctr"/>
              <a:lstStyle/>
              <a:p>
                <a:pPr algn="ctr"/>
                <a:endParaRPr/>
              </a:p>
            </p:txBody>
          </p:sp>
          <p:sp>
            <p:nvSpPr>
              <p:cNvPr id="120" name="Oval 119"/>
              <p:cNvSpPr/>
              <p:nvPr/>
            </p:nvSpPr>
            <p:spPr>
              <a:xfrm>
                <a:off x="5332781" y="4041648"/>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121" name="Oval 120"/>
              <p:cNvSpPr/>
              <p:nvPr/>
            </p:nvSpPr>
            <p:spPr>
              <a:xfrm>
                <a:off x="5661965" y="4041648"/>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122" name="Rectangle 121"/>
              <p:cNvSpPr/>
              <p:nvPr/>
            </p:nvSpPr>
            <p:spPr>
              <a:xfrm>
                <a:off x="5908853" y="4000500"/>
                <a:ext cx="65837" cy="41148"/>
              </a:xfrm>
              <a:prstGeom prst="rect">
                <a:avLst/>
              </a:prstGeom>
              <a:solidFill>
                <a:srgbClr val="9AA0A6"/>
              </a:solidFill>
              <a:ln>
                <a:noFill/>
              </a:ln>
            </p:spPr>
            <p:txBody>
              <a:bodyPr rtlCol="0" anchor="ctr"/>
              <a:lstStyle/>
              <a:p>
                <a:pPr algn="ctr"/>
                <a:endParaRPr/>
              </a:p>
            </p:txBody>
          </p:sp>
          <p:sp>
            <p:nvSpPr>
              <p:cNvPr id="123" name="Rectangle 122"/>
              <p:cNvSpPr/>
              <p:nvPr/>
            </p:nvSpPr>
            <p:spPr>
              <a:xfrm>
                <a:off x="5974690" y="3671316"/>
                <a:ext cx="822960" cy="452628"/>
              </a:xfrm>
              <a:prstGeom prst="rect">
                <a:avLst/>
              </a:prstGeom>
              <a:solidFill>
                <a:srgbClr val="F28C28"/>
              </a:solidFill>
              <a:ln w="9525">
                <a:solidFill>
                  <a:srgbClr val="101418"/>
                </a:solidFill>
              </a:ln>
            </p:spPr>
            <p:txBody>
              <a:bodyPr rtlCol="0" anchor="ctr"/>
              <a:lstStyle/>
              <a:p>
                <a:pPr algn="ctr"/>
                <a:endParaRPr/>
              </a:p>
            </p:txBody>
          </p:sp>
          <p:sp>
            <p:nvSpPr>
              <p:cNvPr id="124" name="Bunker"/>
              <p:cNvSpPr/>
              <p:nvPr/>
            </p:nvSpPr>
            <p:spPr>
              <a:xfrm>
                <a:off x="5999378" y="3696005"/>
                <a:ext cx="213970" cy="164592"/>
              </a:xfrm>
              <a:prstGeom prst="rect">
                <a:avLst/>
              </a:prstGeom>
              <a:solidFill>
                <a:srgbClr val="1B1D21"/>
              </a:solidFill>
              <a:ln>
                <a:noFill/>
              </a:ln>
            </p:spPr>
            <p:txBody>
              <a:bodyPr rtlCol="0" anchor="ctr"/>
              <a:lstStyle/>
              <a:p>
                <a:pPr algn="ctr"/>
                <a:endParaRPr/>
              </a:p>
            </p:txBody>
          </p:sp>
          <p:sp>
            <p:nvSpPr>
              <p:cNvPr id="125" name="Rectangle 124"/>
              <p:cNvSpPr/>
              <p:nvPr/>
            </p:nvSpPr>
            <p:spPr>
              <a:xfrm>
                <a:off x="6254496" y="3728923"/>
                <a:ext cx="115214" cy="115214"/>
              </a:xfrm>
              <a:prstGeom prst="rect">
                <a:avLst/>
              </a:prstGeom>
              <a:solidFill>
                <a:srgbClr val="2B2F36"/>
              </a:solidFill>
              <a:ln>
                <a:noFill/>
              </a:ln>
            </p:spPr>
            <p:txBody>
              <a:bodyPr rtlCol="0" anchor="ctr"/>
              <a:lstStyle/>
              <a:p>
                <a:pPr algn="ctr"/>
                <a:endParaRPr/>
              </a:p>
            </p:txBody>
          </p:sp>
          <p:sp>
            <p:nvSpPr>
              <p:cNvPr id="126" name="Chimney"/>
              <p:cNvSpPr/>
              <p:nvPr/>
            </p:nvSpPr>
            <p:spPr>
              <a:xfrm>
                <a:off x="6616598" y="3440887"/>
                <a:ext cx="123444" cy="246888"/>
              </a:xfrm>
              <a:prstGeom prst="rect">
                <a:avLst/>
              </a:prstGeom>
              <a:solidFill>
                <a:srgbClr val="1B1D21"/>
              </a:solidFill>
              <a:ln>
                <a:noFill/>
              </a:ln>
            </p:spPr>
            <p:txBody>
              <a:bodyPr rtlCol="0" anchor="ctr"/>
              <a:lstStyle/>
              <a:p>
                <a:pPr algn="ctr"/>
                <a:endParaRPr/>
              </a:p>
            </p:txBody>
          </p:sp>
          <p:sp>
            <p:nvSpPr>
              <p:cNvPr id="127" name="Oval 126"/>
              <p:cNvSpPr/>
              <p:nvPr/>
            </p:nvSpPr>
            <p:spPr>
              <a:xfrm>
                <a:off x="6056986" y="4041648"/>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128" name="Oval 127"/>
              <p:cNvSpPr/>
              <p:nvPr/>
            </p:nvSpPr>
            <p:spPr>
              <a:xfrm>
                <a:off x="6303874" y="4041648"/>
                <a:ext cx="164592" cy="164592"/>
              </a:xfrm>
              <a:prstGeom prst="ellipse">
                <a:avLst/>
              </a:prstGeom>
              <a:solidFill>
                <a:srgbClr val="1B1D21"/>
              </a:solidFill>
              <a:ln w="12700">
                <a:solidFill>
                  <a:srgbClr val="9AA0A6"/>
                </a:solidFill>
              </a:ln>
            </p:spPr>
            <p:txBody>
              <a:bodyPr rtlCol="0" anchor="ctr"/>
              <a:lstStyle/>
              <a:p>
                <a:pPr algn="ctr"/>
                <a:endParaRPr/>
              </a:p>
            </p:txBody>
          </p:sp>
          <p:sp>
            <p:nvSpPr>
              <p:cNvPr id="129" name="Oval 128"/>
              <p:cNvSpPr/>
              <p:nvPr/>
            </p:nvSpPr>
            <p:spPr>
              <a:xfrm>
                <a:off x="6550762" y="4041648"/>
                <a:ext cx="164592" cy="164592"/>
              </a:xfrm>
              <a:prstGeom prst="ellipse">
                <a:avLst/>
              </a:prstGeom>
              <a:solidFill>
                <a:srgbClr val="1B1D21"/>
              </a:solidFill>
              <a:ln w="12700">
                <a:solidFill>
                  <a:srgbClr val="9AA0A6"/>
                </a:solidFill>
              </a:ln>
            </p:spPr>
            <p:txBody>
              <a:bodyPr rtlCol="0" anchor="ctr"/>
              <a:lstStyle/>
              <a:p>
                <a:pPr algn="ctr"/>
                <a:endParaRPr/>
              </a:p>
            </p:txBody>
          </p:sp>
        </p:grpSp>
        <p:grpSp>
          <p:nvGrpSpPr>
            <p:cNvPr id="130" name="Following train" descr="A steam train: an engine pulling wagons."/>
            <p:cNvGrpSpPr/>
            <p:nvPr/>
          </p:nvGrpSpPr>
          <p:grpSpPr>
            <a:xfrm>
              <a:off x="1417320" y="3568446"/>
              <a:ext cx="1892808" cy="637794"/>
              <a:chOff x="1417320" y="3568446"/>
              <a:chExt cx="1892808" cy="637794"/>
            </a:xfrm>
          </p:grpSpPr>
          <p:sp>
            <p:nvSpPr>
              <p:cNvPr id="131" name="Rectangle 130"/>
              <p:cNvSpPr/>
              <p:nvPr/>
            </p:nvSpPr>
            <p:spPr>
              <a:xfrm>
                <a:off x="1417320" y="3815334"/>
                <a:ext cx="548640" cy="308610"/>
              </a:xfrm>
              <a:prstGeom prst="rect">
                <a:avLst/>
              </a:prstGeom>
              <a:solidFill>
                <a:srgbClr val="6C7480"/>
              </a:solidFill>
              <a:ln w="9525">
                <a:solidFill>
                  <a:srgbClr val="101418"/>
                </a:solidFill>
              </a:ln>
            </p:spPr>
            <p:txBody>
              <a:bodyPr rtlCol="0" anchor="ctr"/>
              <a:lstStyle/>
              <a:p>
                <a:pPr algn="ctr"/>
                <a:endParaRPr/>
              </a:p>
            </p:txBody>
          </p:sp>
          <p:sp>
            <p:nvSpPr>
              <p:cNvPr id="132" name="Oval 131"/>
              <p:cNvSpPr/>
              <p:nvPr/>
            </p:nvSpPr>
            <p:spPr>
              <a:xfrm>
                <a:off x="1485900" y="4069080"/>
                <a:ext cx="137160" cy="137160"/>
              </a:xfrm>
              <a:prstGeom prst="ellipse">
                <a:avLst/>
              </a:prstGeom>
              <a:solidFill>
                <a:srgbClr val="1B1D21"/>
              </a:solidFill>
              <a:ln w="12700">
                <a:solidFill>
                  <a:srgbClr val="9AA0A6"/>
                </a:solidFill>
              </a:ln>
            </p:spPr>
            <p:txBody>
              <a:bodyPr rtlCol="0" anchor="ctr"/>
              <a:lstStyle/>
              <a:p>
                <a:pPr algn="ctr"/>
                <a:endParaRPr/>
              </a:p>
            </p:txBody>
          </p:sp>
          <p:sp>
            <p:nvSpPr>
              <p:cNvPr id="133" name="Oval 132"/>
              <p:cNvSpPr/>
              <p:nvPr/>
            </p:nvSpPr>
            <p:spPr>
              <a:xfrm>
                <a:off x="1760220" y="4069080"/>
                <a:ext cx="137160" cy="137160"/>
              </a:xfrm>
              <a:prstGeom prst="ellipse">
                <a:avLst/>
              </a:prstGeom>
              <a:solidFill>
                <a:srgbClr val="1B1D21"/>
              </a:solidFill>
              <a:ln w="12700">
                <a:solidFill>
                  <a:srgbClr val="9AA0A6"/>
                </a:solidFill>
              </a:ln>
            </p:spPr>
            <p:txBody>
              <a:bodyPr rtlCol="0" anchor="ctr"/>
              <a:lstStyle/>
              <a:p>
                <a:pPr algn="ctr"/>
                <a:endParaRPr/>
              </a:p>
            </p:txBody>
          </p:sp>
          <p:sp>
            <p:nvSpPr>
              <p:cNvPr id="134" name="Rectangle 133"/>
              <p:cNvSpPr/>
              <p:nvPr/>
            </p:nvSpPr>
            <p:spPr>
              <a:xfrm>
                <a:off x="1965960" y="4034790"/>
                <a:ext cx="54864" cy="34290"/>
              </a:xfrm>
              <a:prstGeom prst="rect">
                <a:avLst/>
              </a:prstGeom>
              <a:solidFill>
                <a:srgbClr val="9AA0A6"/>
              </a:solidFill>
              <a:ln>
                <a:noFill/>
              </a:ln>
            </p:spPr>
            <p:txBody>
              <a:bodyPr rtlCol="0" anchor="ctr"/>
              <a:lstStyle/>
              <a:p>
                <a:pPr algn="ctr"/>
                <a:endParaRPr/>
              </a:p>
            </p:txBody>
          </p:sp>
          <p:sp>
            <p:nvSpPr>
              <p:cNvPr id="135" name="Rectangle 134"/>
              <p:cNvSpPr/>
              <p:nvPr/>
            </p:nvSpPr>
            <p:spPr>
              <a:xfrm>
                <a:off x="2020824" y="3815334"/>
                <a:ext cx="548640" cy="308610"/>
              </a:xfrm>
              <a:prstGeom prst="rect">
                <a:avLst/>
              </a:prstGeom>
              <a:solidFill>
                <a:srgbClr val="6C7480"/>
              </a:solidFill>
              <a:ln w="9525">
                <a:solidFill>
                  <a:srgbClr val="101418"/>
                </a:solidFill>
              </a:ln>
            </p:spPr>
            <p:txBody>
              <a:bodyPr rtlCol="0" anchor="ctr"/>
              <a:lstStyle/>
              <a:p>
                <a:pPr algn="ctr"/>
                <a:endParaRPr/>
              </a:p>
            </p:txBody>
          </p:sp>
          <p:sp>
            <p:nvSpPr>
              <p:cNvPr id="136" name="Oval 135"/>
              <p:cNvSpPr/>
              <p:nvPr/>
            </p:nvSpPr>
            <p:spPr>
              <a:xfrm>
                <a:off x="2089404" y="4069080"/>
                <a:ext cx="137160" cy="137160"/>
              </a:xfrm>
              <a:prstGeom prst="ellipse">
                <a:avLst/>
              </a:prstGeom>
              <a:solidFill>
                <a:srgbClr val="1B1D21"/>
              </a:solidFill>
              <a:ln w="12700">
                <a:solidFill>
                  <a:srgbClr val="9AA0A6"/>
                </a:solidFill>
              </a:ln>
            </p:spPr>
            <p:txBody>
              <a:bodyPr rtlCol="0" anchor="ctr"/>
              <a:lstStyle/>
              <a:p>
                <a:pPr algn="ctr"/>
                <a:endParaRPr/>
              </a:p>
            </p:txBody>
          </p:sp>
          <p:sp>
            <p:nvSpPr>
              <p:cNvPr id="137" name="Oval 136"/>
              <p:cNvSpPr/>
              <p:nvPr/>
            </p:nvSpPr>
            <p:spPr>
              <a:xfrm>
                <a:off x="2363724" y="4069080"/>
                <a:ext cx="137160" cy="137160"/>
              </a:xfrm>
              <a:prstGeom prst="ellipse">
                <a:avLst/>
              </a:prstGeom>
              <a:solidFill>
                <a:srgbClr val="1B1D21"/>
              </a:solidFill>
              <a:ln w="12700">
                <a:solidFill>
                  <a:srgbClr val="9AA0A6"/>
                </a:solidFill>
              </a:ln>
            </p:spPr>
            <p:txBody>
              <a:bodyPr rtlCol="0" anchor="ctr"/>
              <a:lstStyle/>
              <a:p>
                <a:pPr algn="ctr"/>
                <a:endParaRPr/>
              </a:p>
            </p:txBody>
          </p:sp>
          <p:sp>
            <p:nvSpPr>
              <p:cNvPr id="138" name="Rectangle 137"/>
              <p:cNvSpPr/>
              <p:nvPr/>
            </p:nvSpPr>
            <p:spPr>
              <a:xfrm>
                <a:off x="2569464" y="4034790"/>
                <a:ext cx="54864" cy="34290"/>
              </a:xfrm>
              <a:prstGeom prst="rect">
                <a:avLst/>
              </a:prstGeom>
              <a:solidFill>
                <a:srgbClr val="9AA0A6"/>
              </a:solidFill>
              <a:ln>
                <a:noFill/>
              </a:ln>
            </p:spPr>
            <p:txBody>
              <a:bodyPr rtlCol="0" anchor="ctr"/>
              <a:lstStyle/>
              <a:p>
                <a:pPr algn="ctr"/>
                <a:endParaRPr/>
              </a:p>
            </p:txBody>
          </p:sp>
          <p:sp>
            <p:nvSpPr>
              <p:cNvPr id="139" name="Rectangle 138"/>
              <p:cNvSpPr/>
              <p:nvPr/>
            </p:nvSpPr>
            <p:spPr>
              <a:xfrm>
                <a:off x="2624328" y="3760470"/>
                <a:ext cx="685800" cy="377190"/>
              </a:xfrm>
              <a:prstGeom prst="rect">
                <a:avLst/>
              </a:prstGeom>
              <a:solidFill>
                <a:srgbClr val="F28C28"/>
              </a:solidFill>
              <a:ln w="9525">
                <a:solidFill>
                  <a:srgbClr val="101418"/>
                </a:solidFill>
              </a:ln>
            </p:spPr>
            <p:txBody>
              <a:bodyPr rtlCol="0" anchor="ctr"/>
              <a:lstStyle/>
              <a:p>
                <a:pPr algn="ctr"/>
                <a:endParaRPr/>
              </a:p>
            </p:txBody>
          </p:sp>
          <p:sp>
            <p:nvSpPr>
              <p:cNvPr id="140" name="Bunker"/>
              <p:cNvSpPr/>
              <p:nvPr/>
            </p:nvSpPr>
            <p:spPr>
              <a:xfrm>
                <a:off x="2644902" y="3781044"/>
                <a:ext cx="178308" cy="137160"/>
              </a:xfrm>
              <a:prstGeom prst="rect">
                <a:avLst/>
              </a:prstGeom>
              <a:solidFill>
                <a:srgbClr val="1B1D21"/>
              </a:solidFill>
              <a:ln>
                <a:noFill/>
              </a:ln>
            </p:spPr>
            <p:txBody>
              <a:bodyPr rtlCol="0" anchor="ctr"/>
              <a:lstStyle/>
              <a:p>
                <a:pPr algn="ctr"/>
                <a:endParaRPr/>
              </a:p>
            </p:txBody>
          </p:sp>
          <p:sp>
            <p:nvSpPr>
              <p:cNvPr id="141" name="Rectangle 140"/>
              <p:cNvSpPr/>
              <p:nvPr/>
            </p:nvSpPr>
            <p:spPr>
              <a:xfrm>
                <a:off x="2857500" y="3808476"/>
                <a:ext cx="96012" cy="96012"/>
              </a:xfrm>
              <a:prstGeom prst="rect">
                <a:avLst/>
              </a:prstGeom>
              <a:solidFill>
                <a:srgbClr val="2B2F36"/>
              </a:solidFill>
              <a:ln>
                <a:noFill/>
              </a:ln>
            </p:spPr>
            <p:txBody>
              <a:bodyPr rtlCol="0" anchor="ctr"/>
              <a:lstStyle/>
              <a:p>
                <a:pPr algn="ctr"/>
                <a:endParaRPr/>
              </a:p>
            </p:txBody>
          </p:sp>
          <p:sp>
            <p:nvSpPr>
              <p:cNvPr id="142" name="Chimney"/>
              <p:cNvSpPr/>
              <p:nvPr/>
            </p:nvSpPr>
            <p:spPr>
              <a:xfrm>
                <a:off x="3159252" y="3568446"/>
                <a:ext cx="102870" cy="205740"/>
              </a:xfrm>
              <a:prstGeom prst="rect">
                <a:avLst/>
              </a:prstGeom>
              <a:solidFill>
                <a:srgbClr val="1B1D21"/>
              </a:solidFill>
              <a:ln>
                <a:noFill/>
              </a:ln>
            </p:spPr>
            <p:txBody>
              <a:bodyPr rtlCol="0" anchor="ctr"/>
              <a:lstStyle/>
              <a:p>
                <a:pPr algn="ctr"/>
                <a:endParaRPr/>
              </a:p>
            </p:txBody>
          </p:sp>
          <p:sp>
            <p:nvSpPr>
              <p:cNvPr id="143" name="Oval 142"/>
              <p:cNvSpPr/>
              <p:nvPr/>
            </p:nvSpPr>
            <p:spPr>
              <a:xfrm>
                <a:off x="2692908" y="4069080"/>
                <a:ext cx="137160" cy="137160"/>
              </a:xfrm>
              <a:prstGeom prst="ellipse">
                <a:avLst/>
              </a:prstGeom>
              <a:solidFill>
                <a:srgbClr val="1B1D21"/>
              </a:solidFill>
              <a:ln w="12700">
                <a:solidFill>
                  <a:srgbClr val="9AA0A6"/>
                </a:solidFill>
              </a:ln>
            </p:spPr>
            <p:txBody>
              <a:bodyPr rtlCol="0" anchor="ctr"/>
              <a:lstStyle/>
              <a:p>
                <a:pPr algn="ctr"/>
                <a:endParaRPr/>
              </a:p>
            </p:txBody>
          </p:sp>
          <p:sp>
            <p:nvSpPr>
              <p:cNvPr id="144" name="Oval 143"/>
              <p:cNvSpPr/>
              <p:nvPr/>
            </p:nvSpPr>
            <p:spPr>
              <a:xfrm>
                <a:off x="2898648" y="4069080"/>
                <a:ext cx="137160" cy="137160"/>
              </a:xfrm>
              <a:prstGeom prst="ellipse">
                <a:avLst/>
              </a:prstGeom>
              <a:solidFill>
                <a:srgbClr val="1B1D21"/>
              </a:solidFill>
              <a:ln w="12700">
                <a:solidFill>
                  <a:srgbClr val="9AA0A6"/>
                </a:solidFill>
              </a:ln>
            </p:spPr>
            <p:txBody>
              <a:bodyPr rtlCol="0" anchor="ctr"/>
              <a:lstStyle/>
              <a:p>
                <a:pPr algn="ctr"/>
                <a:endParaRPr/>
              </a:p>
            </p:txBody>
          </p:sp>
          <p:sp>
            <p:nvSpPr>
              <p:cNvPr id="145" name="Oval 144"/>
              <p:cNvSpPr/>
              <p:nvPr/>
            </p:nvSpPr>
            <p:spPr>
              <a:xfrm>
                <a:off x="3104388" y="4069080"/>
                <a:ext cx="137160" cy="137160"/>
              </a:xfrm>
              <a:prstGeom prst="ellipse">
                <a:avLst/>
              </a:prstGeom>
              <a:solidFill>
                <a:srgbClr val="1B1D21"/>
              </a:solidFill>
              <a:ln w="12700">
                <a:solidFill>
                  <a:srgbClr val="9AA0A6"/>
                </a:solidFill>
              </a:ln>
            </p:spPr>
            <p:txBody>
              <a:bodyPr rtlCol="0" anchor="ctr"/>
              <a:lstStyle/>
              <a:p>
                <a:pPr algn="ctr"/>
                <a:endParaRPr/>
              </a:p>
            </p:txBody>
          </p:sp>
        </p:grpSp>
        <p:grpSp>
          <p:nvGrpSpPr>
            <p:cNvPr id="146" name="Signal stop" descr="Semaphore stop signal, arm flat: STOP."/>
            <p:cNvGrpSpPr/>
            <p:nvPr/>
          </p:nvGrpSpPr>
          <p:grpSpPr>
            <a:xfrm>
              <a:off x="3511296" y="3163824"/>
              <a:ext cx="1764792" cy="1389888"/>
              <a:chOff x="3511296" y="3163824"/>
              <a:chExt cx="1764792" cy="1389888"/>
            </a:xfrm>
          </p:grpSpPr>
          <p:sp>
            <p:nvSpPr>
              <p:cNvPr id="147" name="Rectangle 146"/>
              <p:cNvSpPr/>
              <p:nvPr/>
            </p:nvSpPr>
            <p:spPr>
              <a:xfrm>
                <a:off x="4050792" y="4489704"/>
                <a:ext cx="310896" cy="64008"/>
              </a:xfrm>
              <a:prstGeom prst="rect">
                <a:avLst/>
              </a:prstGeom>
              <a:solidFill>
                <a:srgbClr val="9AA0A6"/>
              </a:solidFill>
              <a:ln>
                <a:noFill/>
              </a:ln>
            </p:spPr>
            <p:txBody>
              <a:bodyPr rtlCol="0" anchor="ctr"/>
              <a:lstStyle/>
              <a:p>
                <a:pPr algn="ctr"/>
                <a:endParaRPr/>
              </a:p>
            </p:txBody>
          </p:sp>
          <p:sp>
            <p:nvSpPr>
              <p:cNvPr id="148" name="Rectangle 147"/>
              <p:cNvSpPr/>
              <p:nvPr/>
            </p:nvSpPr>
            <p:spPr>
              <a:xfrm>
                <a:off x="4151376" y="3547872"/>
                <a:ext cx="109728" cy="1005840"/>
              </a:xfrm>
              <a:prstGeom prst="rect">
                <a:avLst/>
              </a:prstGeom>
              <a:solidFill>
                <a:srgbClr val="E8E8E8"/>
              </a:solidFill>
              <a:ln>
                <a:noFill/>
              </a:ln>
            </p:spPr>
            <p:txBody>
              <a:bodyPr rtlCol="0" anchor="ctr"/>
              <a:lstStyle/>
              <a:p>
                <a:pPr algn="ctr"/>
                <a:endParaRPr/>
              </a:p>
            </p:txBody>
          </p:sp>
          <p:sp>
            <p:nvSpPr>
              <p:cNvPr id="149" name="Oval 148"/>
              <p:cNvSpPr/>
              <p:nvPr/>
            </p:nvSpPr>
            <p:spPr>
              <a:xfrm>
                <a:off x="4142232" y="3447288"/>
                <a:ext cx="128016" cy="128016"/>
              </a:xfrm>
              <a:prstGeom prst="ellipse">
                <a:avLst/>
              </a:prstGeom>
              <a:solidFill>
                <a:srgbClr val="E8E8E8"/>
              </a:solidFill>
              <a:ln>
                <a:noFill/>
              </a:ln>
            </p:spPr>
            <p:txBody>
              <a:bodyPr rtlCol="0" anchor="ctr"/>
              <a:lstStyle/>
              <a:p>
                <a:pPr algn="ctr"/>
                <a:endParaRPr/>
              </a:p>
            </p:txBody>
          </p:sp>
          <p:sp>
            <p:nvSpPr>
              <p:cNvPr id="150" name="Freeform 149"/>
              <p:cNvSpPr/>
              <p:nvPr/>
            </p:nvSpPr>
            <p:spPr>
              <a:xfrm>
                <a:off x="3511296" y="3694176"/>
                <a:ext cx="640080" cy="128016"/>
              </a:xfrm>
              <a:custGeom>
                <a:avLst/>
                <a:gdLst/>
                <a:ahLst/>
                <a:cxnLst/>
                <a:rect l="l" t="t" r="r" b="b"/>
                <a:pathLst>
                  <a:path w="640080" h="128016">
                    <a:moveTo>
                      <a:pt x="640080" y="0"/>
                    </a:moveTo>
                    <a:lnTo>
                      <a:pt x="0" y="0"/>
                    </a:lnTo>
                    <a:lnTo>
                      <a:pt x="0" y="128016"/>
                    </a:lnTo>
                    <a:lnTo>
                      <a:pt x="640080" y="128016"/>
                    </a:lnTo>
                    <a:close/>
                  </a:path>
                </a:pathLst>
              </a:custGeom>
              <a:solidFill>
                <a:srgbClr val="E5484D"/>
              </a:solidFill>
              <a:ln w="9525">
                <a:solidFill>
                  <a:srgbClr val="101418"/>
                </a:solidFill>
              </a:ln>
            </p:spPr>
            <p:txBody>
              <a:bodyPr rtlCol="0" anchor="ctr"/>
              <a:lstStyle/>
              <a:p>
                <a:pPr algn="ctr"/>
                <a:endParaRPr/>
              </a:p>
            </p:txBody>
          </p:sp>
          <p:sp>
            <p:nvSpPr>
              <p:cNvPr id="151" name="Freeform 150"/>
              <p:cNvSpPr/>
              <p:nvPr/>
            </p:nvSpPr>
            <p:spPr>
              <a:xfrm>
                <a:off x="3677717" y="3694176"/>
                <a:ext cx="76809" cy="128016"/>
              </a:xfrm>
              <a:custGeom>
                <a:avLst/>
                <a:gdLst/>
                <a:ahLst/>
                <a:cxnLst/>
                <a:rect l="l" t="t" r="r" b="b"/>
                <a:pathLst>
                  <a:path w="76809" h="128016">
                    <a:moveTo>
                      <a:pt x="76809" y="0"/>
                    </a:moveTo>
                    <a:lnTo>
                      <a:pt x="0" y="0"/>
                    </a:lnTo>
                    <a:lnTo>
                      <a:pt x="0" y="128016"/>
                    </a:lnTo>
                    <a:lnTo>
                      <a:pt x="76809" y="128016"/>
                    </a:lnTo>
                    <a:close/>
                  </a:path>
                </a:pathLst>
              </a:custGeom>
              <a:solidFill>
                <a:srgbClr val="FFFFFF"/>
              </a:solidFill>
              <a:ln>
                <a:noFill/>
              </a:ln>
            </p:spPr>
            <p:txBody>
              <a:bodyPr rtlCol="0" anchor="ctr"/>
              <a:lstStyle/>
              <a:p>
                <a:pPr algn="ctr"/>
                <a:endParaRPr/>
              </a:p>
            </p:txBody>
          </p:sp>
          <p:sp>
            <p:nvSpPr>
              <p:cNvPr id="152" name="Oval 151"/>
              <p:cNvSpPr/>
              <p:nvPr/>
            </p:nvSpPr>
            <p:spPr>
              <a:xfrm>
                <a:off x="4283964" y="3680460"/>
                <a:ext cx="155448" cy="155448"/>
              </a:xfrm>
              <a:prstGeom prst="ellipse">
                <a:avLst/>
              </a:prstGeom>
              <a:solidFill>
                <a:srgbClr val="E5484D"/>
              </a:solidFill>
              <a:ln w="9525">
                <a:solidFill>
                  <a:srgbClr val="101418"/>
                </a:solidFill>
              </a:ln>
            </p:spPr>
            <p:txBody>
              <a:bodyPr rtlCol="0" anchor="ctr"/>
              <a:lstStyle/>
              <a:p>
                <a:pPr algn="ctr"/>
                <a:endParaRPr/>
              </a:p>
            </p:txBody>
          </p:sp>
          <p:sp>
            <p:nvSpPr>
              <p:cNvPr id="153" name="Rounded Rectangle 152"/>
              <p:cNvSpPr/>
              <p:nvPr/>
            </p:nvSpPr>
            <p:spPr>
              <a:xfrm>
                <a:off x="4407408" y="3163824"/>
                <a:ext cx="868680" cy="329184"/>
              </a:xfrm>
              <a:prstGeom prst="roundRect">
                <a:avLst>
                  <a:gd name="adj" fmla="val 50000"/>
                </a:avLst>
              </a:prstGeom>
              <a:solidFill>
                <a:srgbClr val="B3262B"/>
              </a:solidFill>
              <a:ln>
                <a:noFill/>
              </a:ln>
            </p:spPr>
            <p:txBody>
              <a:bodyPr wrap="square" lIns="54864" tIns="18288" rIns="54864" bIns="18288" rtlCol="0" anchor="ctr">
                <a:noAutofit/>
              </a:bodyPr>
              <a:lstStyle/>
              <a:p>
                <a:pPr algn="ctr"/>
                <a:r>
                  <a:rPr lang="en-GB" sz="1400" b="1" i="0">
                    <a:solidFill>
                      <a:srgbClr val="F2F2F2"/>
                    </a:solidFill>
                    <a:latin typeface="Arial"/>
                  </a:rPr>
                  <a:t>STOP</a:t>
                </a:r>
              </a:p>
            </p:txBody>
          </p:sp>
        </p:grpSp>
        <p:grpSp>
          <p:nvGrpSpPr>
            <p:cNvPr id="154" name="Signal clear" descr="Semaphore stop signal, arm raised: CLEAR."/>
            <p:cNvGrpSpPr/>
            <p:nvPr/>
          </p:nvGrpSpPr>
          <p:grpSpPr>
            <a:xfrm>
              <a:off x="7311111" y="3163824"/>
              <a:ext cx="1622577" cy="1389888"/>
              <a:chOff x="7311111" y="3163824"/>
              <a:chExt cx="1622577" cy="1389888"/>
            </a:xfrm>
          </p:grpSpPr>
          <p:sp>
            <p:nvSpPr>
              <p:cNvPr id="155" name="Rectangle 154"/>
              <p:cNvSpPr/>
              <p:nvPr/>
            </p:nvSpPr>
            <p:spPr>
              <a:xfrm>
                <a:off x="7708392" y="4489704"/>
                <a:ext cx="310896" cy="64008"/>
              </a:xfrm>
              <a:prstGeom prst="rect">
                <a:avLst/>
              </a:prstGeom>
              <a:solidFill>
                <a:srgbClr val="9AA0A6"/>
              </a:solidFill>
              <a:ln>
                <a:noFill/>
              </a:ln>
            </p:spPr>
            <p:txBody>
              <a:bodyPr rtlCol="0" anchor="ctr"/>
              <a:lstStyle/>
              <a:p>
                <a:pPr algn="ctr"/>
                <a:endParaRPr/>
              </a:p>
            </p:txBody>
          </p:sp>
          <p:sp>
            <p:nvSpPr>
              <p:cNvPr id="156" name="Rectangle 155"/>
              <p:cNvSpPr/>
              <p:nvPr/>
            </p:nvSpPr>
            <p:spPr>
              <a:xfrm>
                <a:off x="7808976" y="3547872"/>
                <a:ext cx="109728" cy="1005840"/>
              </a:xfrm>
              <a:prstGeom prst="rect">
                <a:avLst/>
              </a:prstGeom>
              <a:solidFill>
                <a:srgbClr val="E8E8E8"/>
              </a:solidFill>
              <a:ln>
                <a:noFill/>
              </a:ln>
            </p:spPr>
            <p:txBody>
              <a:bodyPr rtlCol="0" anchor="ctr"/>
              <a:lstStyle/>
              <a:p>
                <a:pPr algn="ctr"/>
                <a:endParaRPr/>
              </a:p>
            </p:txBody>
          </p:sp>
          <p:sp>
            <p:nvSpPr>
              <p:cNvPr id="157" name="Oval 156"/>
              <p:cNvSpPr/>
              <p:nvPr/>
            </p:nvSpPr>
            <p:spPr>
              <a:xfrm>
                <a:off x="7799832" y="3447288"/>
                <a:ext cx="128016" cy="128016"/>
              </a:xfrm>
              <a:prstGeom prst="ellipse">
                <a:avLst/>
              </a:prstGeom>
              <a:solidFill>
                <a:srgbClr val="E8E8E8"/>
              </a:solidFill>
              <a:ln>
                <a:noFill/>
              </a:ln>
            </p:spPr>
            <p:txBody>
              <a:bodyPr rtlCol="0" anchor="ctr"/>
              <a:lstStyle/>
              <a:p>
                <a:pPr algn="ctr"/>
                <a:endParaRPr/>
              </a:p>
            </p:txBody>
          </p:sp>
          <p:sp>
            <p:nvSpPr>
              <p:cNvPr id="158" name="Freeform 157"/>
              <p:cNvSpPr/>
              <p:nvPr/>
            </p:nvSpPr>
            <p:spPr>
              <a:xfrm>
                <a:off x="7311111" y="3260319"/>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endParaRPr/>
              </a:p>
            </p:txBody>
          </p:sp>
          <p:sp>
            <p:nvSpPr>
              <p:cNvPr id="159" name="Freeform 158"/>
              <p:cNvSpPr/>
              <p:nvPr/>
            </p:nvSpPr>
            <p:spPr>
              <a:xfrm>
                <a:off x="7428788" y="3377996"/>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endParaRPr/>
              </a:p>
            </p:txBody>
          </p:sp>
          <p:sp>
            <p:nvSpPr>
              <p:cNvPr id="160" name="Oval 159"/>
              <p:cNvSpPr/>
              <p:nvPr/>
            </p:nvSpPr>
            <p:spPr>
              <a:xfrm>
                <a:off x="7941564" y="3680460"/>
                <a:ext cx="155448" cy="155448"/>
              </a:xfrm>
              <a:prstGeom prst="ellipse">
                <a:avLst/>
              </a:prstGeom>
              <a:solidFill>
                <a:srgbClr val="3FB950"/>
              </a:solidFill>
              <a:ln w="9525">
                <a:solidFill>
                  <a:srgbClr val="101418"/>
                </a:solidFill>
              </a:ln>
            </p:spPr>
            <p:txBody>
              <a:bodyPr rtlCol="0" anchor="ctr"/>
              <a:lstStyle/>
              <a:p>
                <a:pPr algn="ctr"/>
                <a:endParaRPr/>
              </a:p>
            </p:txBody>
          </p:sp>
          <p:sp>
            <p:nvSpPr>
              <p:cNvPr id="161" name="Rounded Rectangle 160"/>
              <p:cNvSpPr/>
              <p:nvPr/>
            </p:nvSpPr>
            <p:spPr>
              <a:xfrm>
                <a:off x="8065008" y="3163824"/>
                <a:ext cx="86868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CLEAR</a:t>
                </a:r>
              </a:p>
            </p:txBody>
          </p:sp>
        </p:grpSp>
        <p:sp>
          <p:nvSpPr>
            <p:cNvPr id="162" name="Rectangle 161"/>
            <p:cNvSpPr/>
            <p:nvPr/>
          </p:nvSpPr>
          <p:spPr>
            <a:xfrm>
              <a:off x="6797650" y="4626864"/>
              <a:ext cx="3626510" cy="164592"/>
            </a:xfrm>
            <a:prstGeom prst="rect">
              <a:avLst/>
            </a:prstGeom>
            <a:solidFill>
              <a:srgbClr val="F2C14E"/>
            </a:solidFill>
            <a:ln>
              <a:noFill/>
            </a:ln>
          </p:spPr>
          <p:txBody>
            <a:bodyPr rtlCol="0" anchor="ctr"/>
            <a:lstStyle/>
            <a:p>
              <a:pPr algn="ctr"/>
              <a:endParaRPr/>
            </a:p>
          </p:txBody>
        </p:sp>
        <p:cxnSp>
          <p:nvCxnSpPr>
            <p:cNvPr id="163" name="Connector 162"/>
            <p:cNvCxnSpPr/>
            <p:nvPr/>
          </p:nvCxnSpPr>
          <p:spPr>
            <a:xfrm>
              <a:off x="10424160" y="3749040"/>
              <a:ext cx="0" cy="1188720"/>
            </a:xfrm>
            <a:prstGeom prst="line">
              <a:avLst/>
            </a:prstGeom>
            <a:ln w="28575">
              <a:solidFill>
                <a:srgbClr val="F2C14E"/>
              </a:solidFill>
              <a:prstDash val="dash"/>
            </a:ln>
          </p:spPr>
        </p:cxnSp>
        <p:sp>
          <p:nvSpPr>
            <p:cNvPr id="164" name="TextBox 163"/>
            <p:cNvSpPr txBox="1"/>
            <p:nvPr/>
          </p:nvSpPr>
          <p:spPr>
            <a:xfrm>
              <a:off x="6889090" y="4809744"/>
              <a:ext cx="3626510" cy="320040"/>
            </a:xfrm>
            <a:prstGeom prst="rect">
              <a:avLst/>
            </a:prstGeom>
            <a:noFill/>
          </p:spPr>
          <p:txBody>
            <a:bodyPr wrap="square" lIns="0" tIns="0" rIns="0" bIns="0" anchor="t">
              <a:noAutofit/>
            </a:bodyPr>
            <a:lstStyle/>
            <a:p>
              <a:pPr algn="l"/>
              <a:r>
                <a:rPr lang="en-GB" sz="1600" b="0" i="0">
                  <a:solidFill>
                    <a:srgbClr val="F2F2F2"/>
                  </a:solidFill>
                  <a:latin typeface="Arial"/>
                </a:rPr>
                <a:t>Long stopping distance</a:t>
              </a:r>
            </a:p>
          </p:txBody>
        </p:sp>
        <p:sp>
          <p:nvSpPr>
            <p:cNvPr id="165" name="Rectangle 164"/>
            <p:cNvSpPr/>
            <p:nvPr/>
          </p:nvSpPr>
          <p:spPr>
            <a:xfrm>
              <a:off x="859536" y="5230368"/>
              <a:ext cx="3310128" cy="310896"/>
            </a:xfrm>
            <a:prstGeom prst="rect">
              <a:avLst/>
            </a:prstGeom>
            <a:solidFill>
              <a:srgbClr val="343A43"/>
            </a:solidFill>
            <a:ln w="12700">
              <a:solidFill>
                <a:srgbClr val="9AA0A6"/>
              </a:solidFill>
            </a:ln>
          </p:spPr>
          <p:txBody>
            <a:bodyPr wrap="square" lIns="73152" tIns="36576" rIns="73152" bIns="36576" rtlCol="0" anchor="ctr">
              <a:noAutofit/>
            </a:bodyPr>
            <a:lstStyle/>
            <a:p>
              <a:pPr algn="ctr"/>
              <a:r>
                <a:rPr lang="en-GB" sz="1400" b="1" i="0">
                  <a:solidFill>
                    <a:srgbClr val="F2F2F2"/>
                  </a:solidFill>
                  <a:latin typeface="Arial"/>
                </a:rPr>
                <a:t>Block 1</a:t>
              </a:r>
            </a:p>
          </p:txBody>
        </p:sp>
        <p:sp>
          <p:nvSpPr>
            <p:cNvPr id="166" name="Rectangle 165"/>
            <p:cNvSpPr/>
            <p:nvPr/>
          </p:nvSpPr>
          <p:spPr>
            <a:xfrm>
              <a:off x="4242816" y="5230368"/>
              <a:ext cx="3584448" cy="310896"/>
            </a:xfrm>
            <a:prstGeom prst="rect">
              <a:avLst/>
            </a:prstGeom>
            <a:solidFill>
              <a:srgbClr val="343A43"/>
            </a:solidFill>
            <a:ln w="12700">
              <a:solidFill>
                <a:srgbClr val="9AA0A6"/>
              </a:solidFill>
            </a:ln>
          </p:spPr>
          <p:txBody>
            <a:bodyPr wrap="square" lIns="73152" tIns="36576" rIns="73152" bIns="36576" rtlCol="0" anchor="ctr">
              <a:noAutofit/>
            </a:bodyPr>
            <a:lstStyle/>
            <a:p>
              <a:pPr algn="ctr"/>
              <a:r>
                <a:rPr lang="en-GB" sz="1400" b="1" i="0">
                  <a:solidFill>
                    <a:srgbClr val="F2F2F2"/>
                  </a:solidFill>
                  <a:latin typeface="Arial"/>
                </a:rPr>
                <a:t>Block 2</a:t>
              </a:r>
            </a:p>
          </p:txBody>
        </p:sp>
        <p:sp>
          <p:nvSpPr>
            <p:cNvPr id="167" name="Rectangle 166"/>
            <p:cNvSpPr/>
            <p:nvPr/>
          </p:nvSpPr>
          <p:spPr>
            <a:xfrm>
              <a:off x="7900416" y="5230368"/>
              <a:ext cx="3401568" cy="310896"/>
            </a:xfrm>
            <a:prstGeom prst="rect">
              <a:avLst/>
            </a:prstGeom>
            <a:solidFill>
              <a:srgbClr val="343A43"/>
            </a:solidFill>
            <a:ln w="12700">
              <a:solidFill>
                <a:srgbClr val="9AA0A6"/>
              </a:solidFill>
            </a:ln>
          </p:spPr>
          <p:txBody>
            <a:bodyPr wrap="square" lIns="73152" tIns="36576" rIns="73152" bIns="36576" rtlCol="0" anchor="ctr">
              <a:noAutofit/>
            </a:bodyPr>
            <a:lstStyle/>
            <a:p>
              <a:pPr algn="ctr"/>
              <a:r>
                <a:rPr lang="en-GB" sz="1400" b="1" i="0">
                  <a:solidFill>
                    <a:srgbClr val="F2F2F2"/>
                  </a:solidFill>
                  <a:latin typeface="Arial"/>
                </a:rPr>
                <a:t>Block 3</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Trains cannot swerve. They need a long way to stop. Signals keep them apart.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12</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78"/>
                                        </p:tgtEl>
                                        <p:attrNameLst>
                                          <p:attrName>style.visibility</p:attrName>
                                        </p:attrNameLst>
                                      </p:cBhvr>
                                      <p:to>
                                        <p:strVal val="visible"/>
                                      </p:to>
                                    </p:set>
                                    <p:animEffect transition="in" filter="fade">
                                      <p:cBhvr>
                                        <p:cTn id="10" dur="500"/>
                                        <p:tgtEl>
                                          <p:spTgt spid="78"/>
                                        </p:tgtEl>
                                      </p:cBhvr>
                                    </p:animEffect>
                                  </p:childTnLst>
                                </p:cTn>
                              </p:par>
                              <p:par>
                                <p:cTn id="11" presetID="10" presetClass="entr" presetSubtype="0" fill="hold" nodeType="withEffect">
                                  <p:stCondLst>
                                    <p:cond delay="6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9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Words you will meet</a:t>
            </a:r>
          </a:p>
        </p:txBody>
      </p:sp>
      <p:sp>
        <p:nvSpPr>
          <p:cNvPr id="3" name="Status chip"/>
          <p:cNvSpPr/>
          <p:nvPr/>
        </p:nvSpPr>
        <p:spPr>
          <a:xfrm>
            <a:off x="10088575" y="457200"/>
            <a:ext cx="1554480" cy="365760"/>
          </a:xfrm>
          <a:prstGeom prst="roundRect">
            <a:avLst>
              <a:gd name="adj" fmla="val 50000"/>
            </a:avLst>
          </a:prstGeom>
          <a:solidFill>
            <a:srgbClr val="4A515B"/>
          </a:solidFill>
          <a:ln>
            <a:noFill/>
          </a:ln>
        </p:spPr>
        <p:txBody>
          <a:bodyPr wrap="square" lIns="54864" tIns="18288" rIns="54864" bIns="18288" rtlCol="0" anchor="ctr">
            <a:noAutofit/>
          </a:bodyPr>
          <a:lstStyle/>
          <a:p>
            <a:pPr algn="ctr"/>
            <a:r>
              <a:rPr lang="en-GB" sz="1400" b="1" i="0">
                <a:solidFill>
                  <a:srgbClr val="F2F2F2"/>
                </a:solidFill>
                <a:latin typeface="Arial"/>
              </a:rPr>
              <a:t>BACKGROUND</a:t>
            </a:r>
          </a:p>
        </p:txBody>
      </p:sp>
      <p:grpSp>
        <p:nvGrpSpPr>
          <p:cNvPr id="8" name="Glossary" descr="Eight glossary cards: vanilla, tier, wagon, tender, block, semaphore, signal box and service stop, each with a short meaning."/>
          <p:cNvGrpSpPr/>
          <p:nvPr/>
        </p:nvGrpSpPr>
        <p:grpSpPr>
          <a:xfrm>
            <a:off x="548640" y="1554480"/>
            <a:ext cx="11092586" cy="3429000"/>
            <a:chOff x="548640" y="1554480"/>
            <a:chExt cx="11092586" cy="3429000"/>
          </a:xfrm>
        </p:grpSpPr>
        <p:sp>
          <p:nvSpPr>
            <p:cNvPr id="9" name="Rounded Rectangle 8"/>
            <p:cNvSpPr/>
            <p:nvPr/>
          </p:nvSpPr>
          <p:spPr>
            <a:xfrm>
              <a:off x="548640" y="1554480"/>
              <a:ext cx="2651760" cy="1600200"/>
            </a:xfrm>
            <a:prstGeom prst="roundRect">
              <a:avLst>
                <a:gd name="adj" fmla="val 4571"/>
              </a:avLst>
            </a:prstGeom>
            <a:solidFill>
              <a:srgbClr val="2B2F36"/>
            </a:solidFill>
            <a:ln>
              <a:noFill/>
            </a:ln>
          </p:spPr>
          <p:txBody>
            <a:bodyPr wrap="square" lIns="164592" tIns="137160" rIns="137160" bIns="91440" rtlCol="0" anchor="t">
              <a:noAutofit/>
            </a:bodyPr>
            <a:lstStyle/>
            <a:p>
              <a:pPr algn="l">
                <a:spcAft>
                  <a:spcPts val="400"/>
                </a:spcAft>
              </a:pPr>
              <a:r>
                <a:rPr lang="en-GB" sz="2000" b="1" i="0">
                  <a:solidFill>
                    <a:srgbClr val="F28C28"/>
                  </a:solidFill>
                  <a:latin typeface="Arial"/>
                </a:rPr>
                <a:t>Vanilla</a:t>
              </a:r>
            </a:p>
            <a:p>
              <a:pPr algn="l"/>
              <a:r>
                <a:rPr lang="en-GB" sz="1800" b="0" i="0">
                  <a:solidFill>
                    <a:srgbClr val="F2F2F2"/>
                  </a:solidFill>
                  <a:latin typeface="Arial"/>
                </a:rPr>
                <a:t>The game without mods.</a:t>
              </a:r>
            </a:p>
          </p:txBody>
        </p:sp>
        <p:sp>
          <p:nvSpPr>
            <p:cNvPr id="10" name="Rounded Rectangle 9"/>
            <p:cNvSpPr/>
            <p:nvPr/>
          </p:nvSpPr>
          <p:spPr>
            <a:xfrm>
              <a:off x="3362249" y="1554480"/>
              <a:ext cx="2651760" cy="1600200"/>
            </a:xfrm>
            <a:prstGeom prst="roundRect">
              <a:avLst>
                <a:gd name="adj" fmla="val 4571"/>
              </a:avLst>
            </a:prstGeom>
            <a:solidFill>
              <a:srgbClr val="2B2F36"/>
            </a:solidFill>
            <a:ln>
              <a:noFill/>
            </a:ln>
          </p:spPr>
          <p:txBody>
            <a:bodyPr wrap="square" lIns="164592" tIns="137160" rIns="137160" bIns="91440" rtlCol="0" anchor="t">
              <a:noAutofit/>
            </a:bodyPr>
            <a:lstStyle/>
            <a:p>
              <a:pPr algn="l">
                <a:spcAft>
                  <a:spcPts val="400"/>
                </a:spcAft>
              </a:pPr>
              <a:r>
                <a:rPr lang="en-GB" sz="2000" b="1" i="0">
                  <a:solidFill>
                    <a:srgbClr val="F28C28"/>
                  </a:solidFill>
                  <a:latin typeface="Arial"/>
                </a:rPr>
                <a:t>Tier</a:t>
              </a:r>
            </a:p>
            <a:p>
              <a:pPr algn="l"/>
              <a:r>
                <a:rPr lang="en-GB" sz="1800" b="0" i="0">
                  <a:solidFill>
                    <a:srgbClr val="F2F2F2"/>
                  </a:solidFill>
                  <a:latin typeface="Arial"/>
                </a:rPr>
                <a:t>A step of unlocks.</a:t>
              </a:r>
            </a:p>
          </p:txBody>
        </p:sp>
        <p:sp>
          <p:nvSpPr>
            <p:cNvPr id="11" name="Rounded Rectangle 10"/>
            <p:cNvSpPr/>
            <p:nvPr/>
          </p:nvSpPr>
          <p:spPr>
            <a:xfrm>
              <a:off x="6175858" y="1554480"/>
              <a:ext cx="2651760" cy="1600200"/>
            </a:xfrm>
            <a:prstGeom prst="roundRect">
              <a:avLst>
                <a:gd name="adj" fmla="val 4571"/>
              </a:avLst>
            </a:prstGeom>
            <a:solidFill>
              <a:srgbClr val="2B2F36"/>
            </a:solidFill>
            <a:ln>
              <a:noFill/>
            </a:ln>
          </p:spPr>
          <p:txBody>
            <a:bodyPr wrap="square" lIns="164592" tIns="137160" rIns="137160" bIns="91440" rtlCol="0" anchor="t">
              <a:noAutofit/>
            </a:bodyPr>
            <a:lstStyle/>
            <a:p>
              <a:pPr algn="l">
                <a:spcAft>
                  <a:spcPts val="400"/>
                </a:spcAft>
              </a:pPr>
              <a:r>
                <a:rPr lang="en-GB" sz="2000" b="1" i="0">
                  <a:solidFill>
                    <a:srgbClr val="F28C28"/>
                  </a:solidFill>
                  <a:latin typeface="Arial"/>
                </a:rPr>
                <a:t>Wagon</a:t>
              </a:r>
            </a:p>
            <a:p>
              <a:pPr algn="l"/>
              <a:r>
                <a:rPr lang="en-GB" sz="1800" b="0" i="0">
                  <a:solidFill>
                    <a:srgbClr val="F2F2F2"/>
                  </a:solidFill>
                  <a:latin typeface="Arial"/>
                </a:rPr>
                <a:t>A vehicle that carries cargo.</a:t>
              </a:r>
            </a:p>
          </p:txBody>
        </p:sp>
        <p:sp>
          <p:nvSpPr>
            <p:cNvPr id="12" name="Rounded Rectangle 11"/>
            <p:cNvSpPr/>
            <p:nvPr/>
          </p:nvSpPr>
          <p:spPr>
            <a:xfrm>
              <a:off x="8989466" y="1554480"/>
              <a:ext cx="2651760" cy="1600200"/>
            </a:xfrm>
            <a:prstGeom prst="roundRect">
              <a:avLst>
                <a:gd name="adj" fmla="val 4571"/>
              </a:avLst>
            </a:prstGeom>
            <a:solidFill>
              <a:srgbClr val="2B2F36"/>
            </a:solidFill>
            <a:ln>
              <a:noFill/>
            </a:ln>
          </p:spPr>
          <p:txBody>
            <a:bodyPr wrap="square" lIns="164592" tIns="137160" rIns="137160" bIns="91440" rtlCol="0" anchor="t">
              <a:noAutofit/>
            </a:bodyPr>
            <a:lstStyle/>
            <a:p>
              <a:pPr algn="l">
                <a:spcAft>
                  <a:spcPts val="400"/>
                </a:spcAft>
              </a:pPr>
              <a:r>
                <a:rPr lang="en-GB" sz="2000" b="1" i="0">
                  <a:solidFill>
                    <a:srgbClr val="F28C28"/>
                  </a:solidFill>
                  <a:latin typeface="Arial"/>
                </a:rPr>
                <a:t>Tender</a:t>
              </a:r>
            </a:p>
            <a:p>
              <a:pPr algn="l"/>
              <a:r>
                <a:rPr lang="en-GB" sz="1800" b="0" i="0">
                  <a:solidFill>
                    <a:srgbClr val="F2F2F2"/>
                  </a:solidFill>
                  <a:latin typeface="Arial"/>
                </a:rPr>
                <a:t>A coal and water wagon behind an engine.</a:t>
              </a:r>
            </a:p>
          </p:txBody>
        </p:sp>
        <p:sp>
          <p:nvSpPr>
            <p:cNvPr id="13" name="Rounded Rectangle 12"/>
            <p:cNvSpPr/>
            <p:nvPr/>
          </p:nvSpPr>
          <p:spPr>
            <a:xfrm>
              <a:off x="548640" y="3383280"/>
              <a:ext cx="2651760" cy="1600200"/>
            </a:xfrm>
            <a:prstGeom prst="roundRect">
              <a:avLst>
                <a:gd name="adj" fmla="val 4571"/>
              </a:avLst>
            </a:prstGeom>
            <a:solidFill>
              <a:srgbClr val="2B2F36"/>
            </a:solidFill>
            <a:ln>
              <a:noFill/>
            </a:ln>
          </p:spPr>
          <p:txBody>
            <a:bodyPr wrap="square" lIns="164592" tIns="137160" rIns="137160" bIns="91440" rtlCol="0" anchor="t">
              <a:noAutofit/>
            </a:bodyPr>
            <a:lstStyle/>
            <a:p>
              <a:pPr algn="l">
                <a:spcAft>
                  <a:spcPts val="400"/>
                </a:spcAft>
              </a:pPr>
              <a:r>
                <a:rPr lang="en-GB" sz="2000" b="1" i="0">
                  <a:solidFill>
                    <a:srgbClr val="F28C28"/>
                  </a:solidFill>
                  <a:latin typeface="Arial"/>
                </a:rPr>
                <a:t>Block</a:t>
              </a:r>
            </a:p>
            <a:p>
              <a:pPr algn="l"/>
              <a:r>
                <a:rPr lang="en-GB" sz="1800" b="0" i="0">
                  <a:solidFill>
                    <a:srgbClr val="F2F2F2"/>
                  </a:solidFill>
                  <a:latin typeface="Arial"/>
                </a:rPr>
                <a:t>A stretch of track that holds one train.</a:t>
              </a:r>
            </a:p>
          </p:txBody>
        </p:sp>
        <p:sp>
          <p:nvSpPr>
            <p:cNvPr id="14" name="Rounded Rectangle 13"/>
            <p:cNvSpPr/>
            <p:nvPr/>
          </p:nvSpPr>
          <p:spPr>
            <a:xfrm>
              <a:off x="3362249" y="3383280"/>
              <a:ext cx="2651760" cy="1600200"/>
            </a:xfrm>
            <a:prstGeom prst="roundRect">
              <a:avLst>
                <a:gd name="adj" fmla="val 4571"/>
              </a:avLst>
            </a:prstGeom>
            <a:solidFill>
              <a:srgbClr val="2B2F36"/>
            </a:solidFill>
            <a:ln>
              <a:noFill/>
            </a:ln>
          </p:spPr>
          <p:txBody>
            <a:bodyPr wrap="square" lIns="164592" tIns="137160" rIns="137160" bIns="91440" rtlCol="0" anchor="t">
              <a:noAutofit/>
            </a:bodyPr>
            <a:lstStyle/>
            <a:p>
              <a:pPr algn="l">
                <a:spcAft>
                  <a:spcPts val="400"/>
                </a:spcAft>
              </a:pPr>
              <a:r>
                <a:rPr lang="en-GB" sz="2000" b="1" i="0">
                  <a:solidFill>
                    <a:srgbClr val="F28C28"/>
                  </a:solidFill>
                  <a:latin typeface="Arial"/>
                </a:rPr>
                <a:t>Semaphore</a:t>
              </a:r>
            </a:p>
            <a:p>
              <a:pPr algn="l"/>
              <a:r>
                <a:rPr lang="en-GB" sz="1800" b="0" i="0">
                  <a:solidFill>
                    <a:srgbClr val="F2F2F2"/>
                  </a:solidFill>
                  <a:latin typeface="Arial"/>
                </a:rPr>
                <a:t>A signal with a moving arm.</a:t>
              </a:r>
            </a:p>
          </p:txBody>
        </p:sp>
        <p:sp>
          <p:nvSpPr>
            <p:cNvPr id="15" name="Rounded Rectangle 14"/>
            <p:cNvSpPr/>
            <p:nvPr/>
          </p:nvSpPr>
          <p:spPr>
            <a:xfrm>
              <a:off x="6175858" y="3383280"/>
              <a:ext cx="2651760" cy="1600200"/>
            </a:xfrm>
            <a:prstGeom prst="roundRect">
              <a:avLst>
                <a:gd name="adj" fmla="val 4571"/>
              </a:avLst>
            </a:prstGeom>
            <a:solidFill>
              <a:srgbClr val="2B2F36"/>
            </a:solidFill>
            <a:ln>
              <a:noFill/>
            </a:ln>
          </p:spPr>
          <p:txBody>
            <a:bodyPr wrap="square" lIns="164592" tIns="137160" rIns="137160" bIns="91440" rtlCol="0" anchor="t">
              <a:noAutofit/>
            </a:bodyPr>
            <a:lstStyle/>
            <a:p>
              <a:pPr algn="l">
                <a:spcAft>
                  <a:spcPts val="400"/>
                </a:spcAft>
              </a:pPr>
              <a:r>
                <a:rPr lang="en-GB" sz="2000" b="1" i="0">
                  <a:solidFill>
                    <a:srgbClr val="F28C28"/>
                  </a:solidFill>
                  <a:latin typeface="Arial"/>
                </a:rPr>
                <a:t>Signal box</a:t>
              </a:r>
            </a:p>
            <a:p>
              <a:pPr algn="l"/>
              <a:r>
                <a:rPr lang="en-GB" sz="1800" b="0" i="0">
                  <a:solidFill>
                    <a:srgbClr val="F2F2F2"/>
                  </a:solidFill>
                  <a:latin typeface="Arial"/>
                </a:rPr>
                <a:t>Where a signaller works the signals.</a:t>
              </a:r>
            </a:p>
          </p:txBody>
        </p:sp>
        <p:sp>
          <p:nvSpPr>
            <p:cNvPr id="16" name="Rounded Rectangle 15"/>
            <p:cNvSpPr/>
            <p:nvPr/>
          </p:nvSpPr>
          <p:spPr>
            <a:xfrm>
              <a:off x="8989466" y="3383280"/>
              <a:ext cx="2651760" cy="1600200"/>
            </a:xfrm>
            <a:prstGeom prst="roundRect">
              <a:avLst>
                <a:gd name="adj" fmla="val 4571"/>
              </a:avLst>
            </a:prstGeom>
            <a:solidFill>
              <a:srgbClr val="2B2F36"/>
            </a:solidFill>
            <a:ln>
              <a:noFill/>
            </a:ln>
          </p:spPr>
          <p:txBody>
            <a:bodyPr wrap="square" lIns="164592" tIns="137160" rIns="137160" bIns="91440" rtlCol="0" anchor="t">
              <a:noAutofit/>
            </a:bodyPr>
            <a:lstStyle/>
            <a:p>
              <a:pPr algn="l">
                <a:spcAft>
                  <a:spcPts val="400"/>
                </a:spcAft>
              </a:pPr>
              <a:r>
                <a:rPr lang="en-GB" sz="2000" b="1" i="0">
                  <a:solidFill>
                    <a:srgbClr val="F28C28"/>
                  </a:solidFill>
                  <a:latin typeface="Arial"/>
                </a:rPr>
                <a:t>Service stop</a:t>
              </a:r>
            </a:p>
            <a:p>
              <a:pPr algn="l"/>
              <a:r>
                <a:rPr lang="en-GB" sz="1800" b="0" i="0">
                  <a:solidFill>
                    <a:srgbClr val="F2F2F2"/>
                  </a:solidFill>
                  <a:latin typeface="Arial"/>
                </a:rPr>
                <a:t>A stop to refill coal and water.</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Short meanings for the words in this guide.</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STEAM RAILWAYS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13</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Not "trains, but earlier"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8" name="TextBox 7"/>
          <p:cNvSpPr txBox="1"/>
          <p:nvPr/>
        </p:nvSpPr>
        <p:spPr>
          <a:xfrm>
            <a:off x="548640" y="1298448"/>
            <a:ext cx="5394960" cy="411480"/>
          </a:xfrm>
          <a:prstGeom prst="rect">
            <a:avLst/>
          </a:prstGeom>
          <a:noFill/>
        </p:spPr>
        <p:txBody>
          <a:bodyPr wrap="square" lIns="0" tIns="0" rIns="0" bIns="0" anchor="t">
            <a:noAutofit/>
          </a:bodyPr>
          <a:lstStyle/>
          <a:p>
            <a:pPr algn="l"/>
            <a:r>
              <a:rPr lang="en-GB" sz="2000" b="1" i="0">
                <a:solidFill>
                  <a:srgbClr val="6CA0DC"/>
                </a:solidFill>
                <a:latin typeface="Arial"/>
              </a:rPr>
              <a:t>Vanilla electric (later)</a:t>
            </a:r>
          </a:p>
        </p:txBody>
      </p:sp>
      <p:sp>
        <p:nvSpPr>
          <p:cNvPr id="9" name="TextBox 8"/>
          <p:cNvSpPr txBox="1"/>
          <p:nvPr/>
        </p:nvSpPr>
        <p:spPr>
          <a:xfrm>
            <a:off x="6245352" y="1298448"/>
            <a:ext cx="5394960" cy="411480"/>
          </a:xfrm>
          <a:prstGeom prst="rect">
            <a:avLst/>
          </a:prstGeom>
          <a:noFill/>
        </p:spPr>
        <p:txBody>
          <a:bodyPr wrap="square" lIns="0" tIns="0" rIns="0" bIns="0" anchor="t">
            <a:noAutofit/>
          </a:bodyPr>
          <a:lstStyle/>
          <a:p>
            <a:pPr algn="l"/>
            <a:r>
              <a:rPr lang="en-GB" sz="2000" b="1" i="0">
                <a:solidFill>
                  <a:srgbClr val="F28C28"/>
                </a:solidFill>
                <a:latin typeface="Arial"/>
              </a:rPr>
              <a:t>Early steam (this mod)</a:t>
            </a:r>
          </a:p>
        </p:txBody>
      </p:sp>
      <p:grpSp>
        <p:nvGrpSpPr>
          <p:cNvPr id="10" name="Comparison" descr="Comparison in five rows. Vanilla electric: monorail beam, electricity, no refuelling, block and path signals, compact stations. Early steam: two-rail track, coal and water, service stops, semaphores and signal boxes, large stations."/>
          <p:cNvGrpSpPr/>
          <p:nvPr/>
        </p:nvGrpSpPr>
        <p:grpSpPr>
          <a:xfrm>
            <a:off x="548640" y="1810512"/>
            <a:ext cx="11091672" cy="3639312"/>
            <a:chOff x="548640" y="1810512"/>
            <a:chExt cx="11091672" cy="3639312"/>
          </a:xfrm>
        </p:grpSpPr>
        <p:sp>
          <p:nvSpPr>
            <p:cNvPr id="11" name="Rounded Rectangle 10"/>
            <p:cNvSpPr/>
            <p:nvPr/>
          </p:nvSpPr>
          <p:spPr>
            <a:xfrm>
              <a:off x="548640" y="1810512"/>
              <a:ext cx="5394960" cy="640080"/>
            </a:xfrm>
            <a:prstGeom prst="roundRect">
              <a:avLst>
                <a:gd name="adj" fmla="val 11428"/>
              </a:avLst>
            </a:prstGeom>
            <a:solidFill>
              <a:srgbClr val="2B2F36"/>
            </a:solidFill>
            <a:ln w="12700">
              <a:solidFill>
                <a:srgbClr val="6CA0DC"/>
              </a:solidFill>
            </a:ln>
          </p:spPr>
          <p:txBody>
            <a:bodyPr rtlCol="0" anchor="ctr"/>
            <a:lstStyle/>
            <a:p>
              <a:pPr algn="ctr"/>
              <a:endParaRPr/>
            </a:p>
          </p:txBody>
        </p:sp>
        <p:sp>
          <p:nvSpPr>
            <p:cNvPr id="12" name="Rectangle 11"/>
            <p:cNvSpPr/>
            <p:nvPr/>
          </p:nvSpPr>
          <p:spPr>
            <a:xfrm>
              <a:off x="713232" y="2075688"/>
              <a:ext cx="585216" cy="146304"/>
            </a:xfrm>
            <a:prstGeom prst="rect">
              <a:avLst/>
            </a:prstGeom>
            <a:solidFill>
              <a:srgbClr val="6CA0DC"/>
            </a:solidFill>
            <a:ln>
              <a:noFill/>
            </a:ln>
          </p:spPr>
          <p:txBody>
            <a:bodyPr rtlCol="0" anchor="ctr"/>
            <a:lstStyle/>
            <a:p>
              <a:pPr algn="ctr"/>
              <a:endParaRPr/>
            </a:p>
          </p:txBody>
        </p:sp>
        <p:sp>
          <p:nvSpPr>
            <p:cNvPr id="13" name="Rectangle 12"/>
            <p:cNvSpPr/>
            <p:nvPr/>
          </p:nvSpPr>
          <p:spPr>
            <a:xfrm>
              <a:off x="960120" y="2221992"/>
              <a:ext cx="91440" cy="164592"/>
            </a:xfrm>
            <a:prstGeom prst="rect">
              <a:avLst/>
            </a:prstGeom>
            <a:solidFill>
              <a:srgbClr val="6CA0DC"/>
            </a:solidFill>
            <a:ln>
              <a:noFill/>
            </a:ln>
          </p:spPr>
          <p:txBody>
            <a:bodyPr rtlCol="0" anchor="ctr"/>
            <a:lstStyle/>
            <a:p>
              <a:pPr algn="ctr"/>
              <a:endParaRPr/>
            </a:p>
          </p:txBody>
        </p:sp>
        <p:sp>
          <p:nvSpPr>
            <p:cNvPr id="14" name="TextBox 13"/>
            <p:cNvSpPr txBox="1"/>
            <p:nvPr/>
          </p:nvSpPr>
          <p:spPr>
            <a:xfrm>
              <a:off x="1508760" y="1810512"/>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Monorail beam</a:t>
              </a:r>
            </a:p>
          </p:txBody>
        </p:sp>
        <p:sp>
          <p:nvSpPr>
            <p:cNvPr id="15" name="Rounded Rectangle 14"/>
            <p:cNvSpPr/>
            <p:nvPr/>
          </p:nvSpPr>
          <p:spPr>
            <a:xfrm>
              <a:off x="6245352" y="1810512"/>
              <a:ext cx="5394960" cy="640080"/>
            </a:xfrm>
            <a:prstGeom prst="roundRect">
              <a:avLst>
                <a:gd name="adj" fmla="val 11428"/>
              </a:avLst>
            </a:prstGeom>
            <a:solidFill>
              <a:srgbClr val="2B2F36"/>
            </a:solidFill>
            <a:ln w="12700">
              <a:solidFill>
                <a:srgbClr val="F28C28"/>
              </a:solidFill>
            </a:ln>
          </p:spPr>
          <p:txBody>
            <a:bodyPr rtlCol="0" anchor="ctr"/>
            <a:lstStyle/>
            <a:p>
              <a:pPr algn="ctr"/>
              <a:endParaRPr/>
            </a:p>
          </p:txBody>
        </p:sp>
        <p:sp>
          <p:nvSpPr>
            <p:cNvPr id="16" name="Rectangle 15"/>
            <p:cNvSpPr/>
            <p:nvPr/>
          </p:nvSpPr>
          <p:spPr>
            <a:xfrm>
              <a:off x="6473952" y="1947672"/>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6675120" y="1947672"/>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6876288" y="1947672"/>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6409944" y="2029968"/>
              <a:ext cx="585216" cy="45720"/>
            </a:xfrm>
            <a:prstGeom prst="rect">
              <a:avLst/>
            </a:prstGeom>
            <a:solidFill>
              <a:srgbClr val="9AA0A6"/>
            </a:solidFill>
            <a:ln>
              <a:noFill/>
            </a:ln>
          </p:spPr>
          <p:txBody>
            <a:bodyPr rtlCol="0" anchor="ctr"/>
            <a:lstStyle/>
            <a:p>
              <a:pPr algn="ctr"/>
              <a:endParaRPr/>
            </a:p>
          </p:txBody>
        </p:sp>
        <p:sp>
          <p:nvSpPr>
            <p:cNvPr id="20" name="Rectangle 19"/>
            <p:cNvSpPr/>
            <p:nvPr/>
          </p:nvSpPr>
          <p:spPr>
            <a:xfrm>
              <a:off x="6409944" y="2194560"/>
              <a:ext cx="585216" cy="45720"/>
            </a:xfrm>
            <a:prstGeom prst="rect">
              <a:avLst/>
            </a:prstGeom>
            <a:solidFill>
              <a:srgbClr val="9AA0A6"/>
            </a:solidFill>
            <a:ln>
              <a:noFill/>
            </a:ln>
          </p:spPr>
          <p:txBody>
            <a:bodyPr rtlCol="0" anchor="ctr"/>
            <a:lstStyle/>
            <a:p>
              <a:pPr algn="ctr"/>
              <a:endParaRPr/>
            </a:p>
          </p:txBody>
        </p:sp>
        <p:sp>
          <p:nvSpPr>
            <p:cNvPr id="21" name="TextBox 20"/>
            <p:cNvSpPr txBox="1"/>
            <p:nvPr/>
          </p:nvSpPr>
          <p:spPr>
            <a:xfrm>
              <a:off x="7205472" y="1810512"/>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Two-rail track</a:t>
              </a:r>
            </a:p>
          </p:txBody>
        </p:sp>
        <p:sp>
          <p:nvSpPr>
            <p:cNvPr id="22" name="Rounded Rectangle 21"/>
            <p:cNvSpPr/>
            <p:nvPr/>
          </p:nvSpPr>
          <p:spPr>
            <a:xfrm>
              <a:off x="548640" y="2560320"/>
              <a:ext cx="5394960" cy="640080"/>
            </a:xfrm>
            <a:prstGeom prst="roundRect">
              <a:avLst>
                <a:gd name="adj" fmla="val 11428"/>
              </a:avLst>
            </a:prstGeom>
            <a:solidFill>
              <a:srgbClr val="2B2F36"/>
            </a:solidFill>
            <a:ln w="12700">
              <a:solidFill>
                <a:srgbClr val="6CA0DC"/>
              </a:solidFill>
            </a:ln>
          </p:spPr>
          <p:txBody>
            <a:bodyPr rtlCol="0" anchor="ctr"/>
            <a:lstStyle/>
            <a:p>
              <a:pPr algn="ctr"/>
              <a:endParaRPr/>
            </a:p>
          </p:txBody>
        </p:sp>
        <p:sp>
          <p:nvSpPr>
            <p:cNvPr id="23" name="Lightning Bolt 22"/>
            <p:cNvSpPr/>
            <p:nvPr/>
          </p:nvSpPr>
          <p:spPr>
            <a:xfrm>
              <a:off x="850392" y="2651760"/>
              <a:ext cx="310896" cy="457200"/>
            </a:xfrm>
            <a:prstGeom prst="lightningBolt">
              <a:avLst/>
            </a:prstGeom>
            <a:solidFill>
              <a:srgbClr val="6CA0DC"/>
            </a:solidFill>
            <a:ln>
              <a:noFill/>
            </a:ln>
          </p:spPr>
          <p:txBody>
            <a:bodyPr rtlCol="0" anchor="ctr"/>
            <a:lstStyle/>
            <a:p>
              <a:pPr algn="ctr"/>
              <a:endParaRPr/>
            </a:p>
          </p:txBody>
        </p:sp>
        <p:sp>
          <p:nvSpPr>
            <p:cNvPr id="24" name="TextBox 23"/>
            <p:cNvSpPr txBox="1"/>
            <p:nvPr/>
          </p:nvSpPr>
          <p:spPr>
            <a:xfrm>
              <a:off x="1508760" y="2560320"/>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Electricity</a:t>
              </a:r>
            </a:p>
          </p:txBody>
        </p:sp>
        <p:sp>
          <p:nvSpPr>
            <p:cNvPr id="25" name="Rounded Rectangle 24"/>
            <p:cNvSpPr/>
            <p:nvPr/>
          </p:nvSpPr>
          <p:spPr>
            <a:xfrm>
              <a:off x="6245352" y="2560320"/>
              <a:ext cx="5394960" cy="640080"/>
            </a:xfrm>
            <a:prstGeom prst="roundRect">
              <a:avLst>
                <a:gd name="adj" fmla="val 11428"/>
              </a:avLst>
            </a:prstGeom>
            <a:solidFill>
              <a:srgbClr val="2B2F36"/>
            </a:solidFill>
            <a:ln w="12700">
              <a:solidFill>
                <a:srgbClr val="F28C28"/>
              </a:solidFill>
            </a:ln>
          </p:spPr>
          <p:txBody>
            <a:bodyPr rtlCol="0" anchor="ctr"/>
            <a:lstStyle/>
            <a:p>
              <a:pPr algn="ctr"/>
              <a:endParaRPr/>
            </a:p>
          </p:txBody>
        </p:sp>
        <p:sp>
          <p:nvSpPr>
            <p:cNvPr id="26" name="Freeform 25"/>
            <p:cNvSpPr/>
            <p:nvPr/>
          </p:nvSpPr>
          <p:spPr>
            <a:xfrm>
              <a:off x="6468478" y="2724912"/>
              <a:ext cx="248692" cy="333573"/>
            </a:xfrm>
            <a:custGeom>
              <a:avLst/>
              <a:gdLst/>
              <a:ahLst/>
              <a:cxnLst/>
              <a:rect l="l" t="t" r="r" b="b"/>
              <a:pathLst>
                <a:path w="248692" h="333573">
                  <a:moveTo>
                    <a:pt x="6800" y="165700"/>
                  </a:moveTo>
                  <a:lnTo>
                    <a:pt x="0" y="194865"/>
                  </a:lnTo>
                  <a:lnTo>
                    <a:pt x="326" y="224811"/>
                  </a:lnTo>
                  <a:lnTo>
                    <a:pt x="7761" y="253821"/>
                  </a:lnTo>
                  <a:lnTo>
                    <a:pt x="21878" y="280232"/>
                  </a:lnTo>
                  <a:lnTo>
                    <a:pt x="41868" y="302531"/>
                  </a:lnTo>
                  <a:lnTo>
                    <a:pt x="66586" y="319439"/>
                  </a:lnTo>
                  <a:lnTo>
                    <a:pt x="94614" y="329988"/>
                  </a:lnTo>
                  <a:lnTo>
                    <a:pt x="124346" y="333573"/>
                  </a:lnTo>
                  <a:lnTo>
                    <a:pt x="154078" y="329988"/>
                  </a:lnTo>
                  <a:lnTo>
                    <a:pt x="182106" y="319439"/>
                  </a:lnTo>
                  <a:lnTo>
                    <a:pt x="206824" y="302531"/>
                  </a:lnTo>
                  <a:lnTo>
                    <a:pt x="226814" y="280232"/>
                  </a:lnTo>
                  <a:lnTo>
                    <a:pt x="240931" y="253821"/>
                  </a:lnTo>
                  <a:lnTo>
                    <a:pt x="248366" y="224811"/>
                  </a:lnTo>
                  <a:lnTo>
                    <a:pt x="248692" y="194865"/>
                  </a:lnTo>
                  <a:lnTo>
                    <a:pt x="241892" y="165700"/>
                  </a:lnTo>
                  <a:lnTo>
                    <a:pt x="124346" y="0"/>
                  </a:lnTo>
                  <a:close/>
                </a:path>
              </a:pathLst>
            </a:custGeom>
            <a:solidFill>
              <a:srgbClr val="4DA3FF"/>
            </a:solidFill>
            <a:ln>
              <a:noFill/>
            </a:ln>
          </p:spPr>
          <p:txBody>
            <a:bodyPr rtlCol="0" anchor="ctr"/>
            <a:lstStyle/>
            <a:p>
              <a:pPr algn="ctr"/>
              <a:endParaRPr/>
            </a:p>
          </p:txBody>
        </p:sp>
        <p:sp>
          <p:nvSpPr>
            <p:cNvPr id="27" name="Freeform 26"/>
            <p:cNvSpPr/>
            <p:nvPr/>
          </p:nvSpPr>
          <p:spPr>
            <a:xfrm>
              <a:off x="6720840" y="2770632"/>
              <a:ext cx="274320" cy="292608"/>
            </a:xfrm>
            <a:custGeom>
              <a:avLst/>
              <a:gdLst/>
              <a:ahLst/>
              <a:cxnLst/>
              <a:rect l="l" t="t" r="r" b="b"/>
              <a:pathLst>
                <a:path w="274320" h="292608">
                  <a:moveTo>
                    <a:pt x="0" y="292608"/>
                  </a:moveTo>
                  <a:lnTo>
                    <a:pt x="274320" y="292608"/>
                  </a:lnTo>
                  <a:lnTo>
                    <a:pt x="237744" y="91440"/>
                  </a:lnTo>
                  <a:lnTo>
                    <a:pt x="118872" y="0"/>
                  </a:lnTo>
                  <a:lnTo>
                    <a:pt x="27432" y="109728"/>
                  </a:lnTo>
                  <a:close/>
                </a:path>
              </a:pathLst>
            </a:custGeom>
            <a:solidFill>
              <a:srgbClr val="1B1D21"/>
            </a:solidFill>
            <a:ln w="12700">
              <a:solidFill>
                <a:srgbClr val="6B7078"/>
              </a:solidFill>
            </a:ln>
          </p:spPr>
          <p:txBody>
            <a:bodyPr rtlCol="0" anchor="ctr"/>
            <a:lstStyle/>
            <a:p>
              <a:pPr algn="ctr"/>
              <a:endParaRPr/>
            </a:p>
          </p:txBody>
        </p:sp>
        <p:sp>
          <p:nvSpPr>
            <p:cNvPr id="28" name="TextBox 27"/>
            <p:cNvSpPr txBox="1"/>
            <p:nvPr/>
          </p:nvSpPr>
          <p:spPr>
            <a:xfrm>
              <a:off x="7205472" y="2560320"/>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Coal and water</a:t>
              </a:r>
            </a:p>
          </p:txBody>
        </p:sp>
        <p:sp>
          <p:nvSpPr>
            <p:cNvPr id="29" name="Rounded Rectangle 28"/>
            <p:cNvSpPr/>
            <p:nvPr/>
          </p:nvSpPr>
          <p:spPr>
            <a:xfrm>
              <a:off x="548640" y="3310128"/>
              <a:ext cx="5394960" cy="640080"/>
            </a:xfrm>
            <a:prstGeom prst="roundRect">
              <a:avLst>
                <a:gd name="adj" fmla="val 11428"/>
              </a:avLst>
            </a:prstGeom>
            <a:solidFill>
              <a:srgbClr val="2B2F36"/>
            </a:solidFill>
            <a:ln w="12700">
              <a:solidFill>
                <a:srgbClr val="6CA0DC"/>
              </a:solidFill>
            </a:ln>
          </p:spPr>
          <p:txBody>
            <a:bodyPr rtlCol="0" anchor="ctr"/>
            <a:lstStyle/>
            <a:p>
              <a:pPr algn="ctr"/>
              <a:endParaRPr/>
            </a:p>
          </p:txBody>
        </p:sp>
        <p:sp>
          <p:nvSpPr>
            <p:cNvPr id="30" name="&quot;No&quot; Symbol 29"/>
            <p:cNvSpPr/>
            <p:nvPr/>
          </p:nvSpPr>
          <p:spPr>
            <a:xfrm>
              <a:off x="804672" y="3429000"/>
              <a:ext cx="402336" cy="402336"/>
            </a:xfrm>
            <a:prstGeom prst="noSmoking">
              <a:avLst/>
            </a:prstGeom>
            <a:solidFill>
              <a:srgbClr val="6CA0DC"/>
            </a:solidFill>
            <a:ln>
              <a:noFill/>
            </a:ln>
          </p:spPr>
          <p:txBody>
            <a:bodyPr rtlCol="0" anchor="ctr"/>
            <a:lstStyle/>
            <a:p>
              <a:pPr algn="ctr"/>
              <a:endParaRPr/>
            </a:p>
          </p:txBody>
        </p:sp>
        <p:sp>
          <p:nvSpPr>
            <p:cNvPr id="31" name="TextBox 30"/>
            <p:cNvSpPr txBox="1"/>
            <p:nvPr/>
          </p:nvSpPr>
          <p:spPr>
            <a:xfrm>
              <a:off x="1508760" y="3310128"/>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No refuelling</a:t>
              </a:r>
            </a:p>
          </p:txBody>
        </p:sp>
        <p:sp>
          <p:nvSpPr>
            <p:cNvPr id="32" name="Rounded Rectangle 31"/>
            <p:cNvSpPr/>
            <p:nvPr/>
          </p:nvSpPr>
          <p:spPr>
            <a:xfrm>
              <a:off x="6245352" y="3310128"/>
              <a:ext cx="5394960" cy="640080"/>
            </a:xfrm>
            <a:prstGeom prst="roundRect">
              <a:avLst>
                <a:gd name="adj" fmla="val 11428"/>
              </a:avLst>
            </a:prstGeom>
            <a:solidFill>
              <a:srgbClr val="2B2F36"/>
            </a:solidFill>
            <a:ln w="12700">
              <a:solidFill>
                <a:srgbClr val="F28C28"/>
              </a:solidFill>
            </a:ln>
          </p:spPr>
          <p:txBody>
            <a:bodyPr rtlCol="0" anchor="ctr"/>
            <a:lstStyle/>
            <a:p>
              <a:pPr algn="ctr"/>
              <a:endParaRPr/>
            </a:p>
          </p:txBody>
        </p:sp>
        <p:sp>
          <p:nvSpPr>
            <p:cNvPr id="33" name="Freeform 32"/>
            <p:cNvSpPr/>
            <p:nvPr/>
          </p:nvSpPr>
          <p:spPr>
            <a:xfrm>
              <a:off x="6519672" y="3447288"/>
              <a:ext cx="384048" cy="411480"/>
            </a:xfrm>
            <a:custGeom>
              <a:avLst/>
              <a:gdLst/>
              <a:ahLst/>
              <a:cxnLst/>
              <a:rect l="l" t="t" r="r" b="b"/>
              <a:pathLst>
                <a:path w="384048" h="411480">
                  <a:moveTo>
                    <a:pt x="0" y="411480"/>
                  </a:moveTo>
                  <a:lnTo>
                    <a:pt x="0" y="0"/>
                  </a:lnTo>
                  <a:lnTo>
                    <a:pt x="384048" y="0"/>
                  </a:lnTo>
                  <a:lnTo>
                    <a:pt x="384048" y="182880"/>
                  </a:lnTo>
                </a:path>
              </a:pathLst>
            </a:custGeom>
            <a:noFill/>
            <a:ln w="50800">
              <a:solidFill>
                <a:srgbClr val="F28C28"/>
              </a:solidFill>
            </a:ln>
          </p:spPr>
          <p:txBody>
            <a:bodyPr rtlCol="0" anchor="ctr"/>
            <a:lstStyle/>
            <a:p>
              <a:pPr algn="ctr"/>
              <a:endParaRPr/>
            </a:p>
          </p:txBody>
        </p:sp>
        <p:sp>
          <p:nvSpPr>
            <p:cNvPr id="34" name="Oval 33"/>
            <p:cNvSpPr/>
            <p:nvPr/>
          </p:nvSpPr>
          <p:spPr>
            <a:xfrm>
              <a:off x="6858000" y="3675888"/>
              <a:ext cx="91440" cy="128016"/>
            </a:xfrm>
            <a:prstGeom prst="ellipse">
              <a:avLst/>
            </a:prstGeom>
            <a:solidFill>
              <a:srgbClr val="4DA3FF"/>
            </a:solidFill>
            <a:ln>
              <a:noFill/>
            </a:ln>
          </p:spPr>
          <p:txBody>
            <a:bodyPr rtlCol="0" anchor="ctr"/>
            <a:lstStyle/>
            <a:p>
              <a:pPr algn="ctr"/>
              <a:endParaRPr/>
            </a:p>
          </p:txBody>
        </p:sp>
        <p:sp>
          <p:nvSpPr>
            <p:cNvPr id="35" name="TextBox 34"/>
            <p:cNvSpPr txBox="1"/>
            <p:nvPr/>
          </p:nvSpPr>
          <p:spPr>
            <a:xfrm>
              <a:off x="7205472" y="3310128"/>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Service stops</a:t>
              </a:r>
            </a:p>
          </p:txBody>
        </p:sp>
        <p:sp>
          <p:nvSpPr>
            <p:cNvPr id="36" name="Rounded Rectangle 35"/>
            <p:cNvSpPr/>
            <p:nvPr/>
          </p:nvSpPr>
          <p:spPr>
            <a:xfrm>
              <a:off x="548640" y="4059936"/>
              <a:ext cx="5394960" cy="640080"/>
            </a:xfrm>
            <a:prstGeom prst="roundRect">
              <a:avLst>
                <a:gd name="adj" fmla="val 11428"/>
              </a:avLst>
            </a:prstGeom>
            <a:solidFill>
              <a:srgbClr val="2B2F36"/>
            </a:solidFill>
            <a:ln w="12700">
              <a:solidFill>
                <a:srgbClr val="6CA0DC"/>
              </a:solidFill>
            </a:ln>
          </p:spPr>
          <p:txBody>
            <a:bodyPr rtlCol="0" anchor="ctr"/>
            <a:lstStyle/>
            <a:p>
              <a:pPr algn="ctr"/>
              <a:endParaRPr/>
            </a:p>
          </p:txBody>
        </p:sp>
        <p:sp>
          <p:nvSpPr>
            <p:cNvPr id="37" name="Rounded Rectangle 36"/>
            <p:cNvSpPr/>
            <p:nvPr/>
          </p:nvSpPr>
          <p:spPr>
            <a:xfrm>
              <a:off x="896112" y="4133088"/>
              <a:ext cx="219456" cy="493776"/>
            </a:xfrm>
            <a:prstGeom prst="roundRect">
              <a:avLst>
                <a:gd name="adj" fmla="val 33333"/>
              </a:avLst>
            </a:prstGeom>
            <a:solidFill>
              <a:srgbClr val="343A43"/>
            </a:solidFill>
            <a:ln w="19050">
              <a:solidFill>
                <a:srgbClr val="6CA0DC"/>
              </a:solidFill>
            </a:ln>
          </p:spPr>
          <p:txBody>
            <a:bodyPr rtlCol="0" anchor="ctr"/>
            <a:lstStyle/>
            <a:p>
              <a:pPr algn="ctr"/>
              <a:endParaRPr/>
            </a:p>
          </p:txBody>
        </p:sp>
        <p:sp>
          <p:nvSpPr>
            <p:cNvPr id="38" name="Oval 37"/>
            <p:cNvSpPr/>
            <p:nvPr/>
          </p:nvSpPr>
          <p:spPr>
            <a:xfrm>
              <a:off x="946404" y="4210812"/>
              <a:ext cx="118872" cy="118872"/>
            </a:xfrm>
            <a:prstGeom prst="ellipse">
              <a:avLst/>
            </a:prstGeom>
            <a:solidFill>
              <a:srgbClr val="3FB950"/>
            </a:solidFill>
            <a:ln>
              <a:noFill/>
            </a:ln>
          </p:spPr>
          <p:txBody>
            <a:bodyPr rtlCol="0" anchor="ctr"/>
            <a:lstStyle/>
            <a:p>
              <a:pPr algn="ctr"/>
              <a:endParaRPr/>
            </a:p>
          </p:txBody>
        </p:sp>
        <p:sp>
          <p:nvSpPr>
            <p:cNvPr id="39" name="Oval 38"/>
            <p:cNvSpPr/>
            <p:nvPr/>
          </p:nvSpPr>
          <p:spPr>
            <a:xfrm>
              <a:off x="946404" y="4430268"/>
              <a:ext cx="118872" cy="118872"/>
            </a:xfrm>
            <a:prstGeom prst="ellipse">
              <a:avLst/>
            </a:prstGeom>
            <a:solidFill>
              <a:srgbClr val="E5484D"/>
            </a:solidFill>
            <a:ln>
              <a:noFill/>
            </a:ln>
          </p:spPr>
          <p:txBody>
            <a:bodyPr rtlCol="0" anchor="ctr"/>
            <a:lstStyle/>
            <a:p>
              <a:pPr algn="ctr"/>
              <a:endParaRPr/>
            </a:p>
          </p:txBody>
        </p:sp>
        <p:sp>
          <p:nvSpPr>
            <p:cNvPr id="40" name="TextBox 39"/>
            <p:cNvSpPr txBox="1"/>
            <p:nvPr/>
          </p:nvSpPr>
          <p:spPr>
            <a:xfrm>
              <a:off x="1508760" y="4059936"/>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Block and path</a:t>
              </a:r>
            </a:p>
          </p:txBody>
        </p:sp>
        <p:sp>
          <p:nvSpPr>
            <p:cNvPr id="41" name="Rounded Rectangle 40"/>
            <p:cNvSpPr/>
            <p:nvPr/>
          </p:nvSpPr>
          <p:spPr>
            <a:xfrm>
              <a:off x="6245352" y="4059936"/>
              <a:ext cx="5394960" cy="640080"/>
            </a:xfrm>
            <a:prstGeom prst="roundRect">
              <a:avLst>
                <a:gd name="adj" fmla="val 11428"/>
              </a:avLst>
            </a:prstGeom>
            <a:solidFill>
              <a:srgbClr val="2B2F36"/>
            </a:solidFill>
            <a:ln w="12700">
              <a:solidFill>
                <a:srgbClr val="F28C28"/>
              </a:solidFill>
            </a:ln>
          </p:spPr>
          <p:txBody>
            <a:bodyPr rtlCol="0" anchor="ctr"/>
            <a:lstStyle/>
            <a:p>
              <a:pPr algn="ctr"/>
              <a:endParaRPr/>
            </a:p>
          </p:txBody>
        </p:sp>
        <p:sp>
          <p:nvSpPr>
            <p:cNvPr id="42" name="Rectangle 41"/>
            <p:cNvSpPr/>
            <p:nvPr/>
          </p:nvSpPr>
          <p:spPr>
            <a:xfrm>
              <a:off x="6675120" y="4133088"/>
              <a:ext cx="54864" cy="493776"/>
            </a:xfrm>
            <a:prstGeom prst="rect">
              <a:avLst/>
            </a:prstGeom>
            <a:solidFill>
              <a:srgbClr val="E8E8E8"/>
            </a:solidFill>
            <a:ln>
              <a:noFill/>
            </a:ln>
          </p:spPr>
          <p:txBody>
            <a:bodyPr rtlCol="0" anchor="ctr"/>
            <a:lstStyle/>
            <a:p>
              <a:pPr algn="ctr"/>
              <a:endParaRPr/>
            </a:p>
          </p:txBody>
        </p:sp>
        <p:sp>
          <p:nvSpPr>
            <p:cNvPr id="43" name="Rectangle 42"/>
            <p:cNvSpPr/>
            <p:nvPr/>
          </p:nvSpPr>
          <p:spPr>
            <a:xfrm>
              <a:off x="6729984" y="4178808"/>
              <a:ext cx="274320" cy="73152"/>
            </a:xfrm>
            <a:prstGeom prst="rect">
              <a:avLst/>
            </a:prstGeom>
            <a:solidFill>
              <a:srgbClr val="E5484D"/>
            </a:solidFill>
            <a:ln>
              <a:noFill/>
            </a:ln>
          </p:spPr>
          <p:txBody>
            <a:bodyPr rtlCol="0" anchor="ctr"/>
            <a:lstStyle/>
            <a:p>
              <a:pPr algn="ctr"/>
              <a:endParaRPr/>
            </a:p>
          </p:txBody>
        </p:sp>
        <p:sp>
          <p:nvSpPr>
            <p:cNvPr id="44" name="TextBox 43"/>
            <p:cNvSpPr txBox="1"/>
            <p:nvPr/>
          </p:nvSpPr>
          <p:spPr>
            <a:xfrm>
              <a:off x="7205472" y="4059936"/>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Semaphores and boxes</a:t>
              </a:r>
            </a:p>
          </p:txBody>
        </p:sp>
        <p:sp>
          <p:nvSpPr>
            <p:cNvPr id="45" name="Rounded Rectangle 44"/>
            <p:cNvSpPr/>
            <p:nvPr/>
          </p:nvSpPr>
          <p:spPr>
            <a:xfrm>
              <a:off x="548640" y="4809744"/>
              <a:ext cx="5394960" cy="640080"/>
            </a:xfrm>
            <a:prstGeom prst="roundRect">
              <a:avLst>
                <a:gd name="adj" fmla="val 11428"/>
              </a:avLst>
            </a:prstGeom>
            <a:solidFill>
              <a:srgbClr val="2B2F36"/>
            </a:solidFill>
            <a:ln w="12700">
              <a:solidFill>
                <a:srgbClr val="6CA0DC"/>
              </a:solidFill>
            </a:ln>
          </p:spPr>
          <p:txBody>
            <a:bodyPr rtlCol="0" anchor="ctr"/>
            <a:lstStyle/>
            <a:p>
              <a:pPr algn="ctr"/>
              <a:endParaRPr/>
            </a:p>
          </p:txBody>
        </p:sp>
        <p:sp>
          <p:nvSpPr>
            <p:cNvPr id="46" name="Rectangle 45"/>
            <p:cNvSpPr/>
            <p:nvPr/>
          </p:nvSpPr>
          <p:spPr>
            <a:xfrm>
              <a:off x="868680" y="5020056"/>
              <a:ext cx="274320" cy="219456"/>
            </a:xfrm>
            <a:prstGeom prst="rect">
              <a:avLst/>
            </a:prstGeom>
            <a:noFill/>
            <a:ln w="25400">
              <a:solidFill>
                <a:srgbClr val="6CA0DC"/>
              </a:solidFill>
            </a:ln>
          </p:spPr>
          <p:txBody>
            <a:bodyPr rtlCol="0" anchor="ctr"/>
            <a:lstStyle/>
            <a:p>
              <a:pPr algn="ctr"/>
              <a:endParaRPr/>
            </a:p>
          </p:txBody>
        </p:sp>
        <p:sp>
          <p:nvSpPr>
            <p:cNvPr id="47" name="TextBox 46"/>
            <p:cNvSpPr txBox="1"/>
            <p:nvPr/>
          </p:nvSpPr>
          <p:spPr>
            <a:xfrm>
              <a:off x="1508760" y="4809744"/>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Compact</a:t>
              </a:r>
            </a:p>
          </p:txBody>
        </p:sp>
        <p:sp>
          <p:nvSpPr>
            <p:cNvPr id="48" name="Rounded Rectangle 47"/>
            <p:cNvSpPr/>
            <p:nvPr/>
          </p:nvSpPr>
          <p:spPr>
            <a:xfrm>
              <a:off x="6245352" y="4809744"/>
              <a:ext cx="5394960" cy="640080"/>
            </a:xfrm>
            <a:prstGeom prst="roundRect">
              <a:avLst>
                <a:gd name="adj" fmla="val 11428"/>
              </a:avLst>
            </a:prstGeom>
            <a:solidFill>
              <a:srgbClr val="2B2F36"/>
            </a:solidFill>
            <a:ln w="12700">
              <a:solidFill>
                <a:srgbClr val="F28C28"/>
              </a:solidFill>
            </a:ln>
          </p:spPr>
          <p:txBody>
            <a:bodyPr rtlCol="0" anchor="ctr"/>
            <a:lstStyle/>
            <a:p>
              <a:pPr algn="ctr"/>
              <a:endParaRPr/>
            </a:p>
          </p:txBody>
        </p:sp>
        <p:sp>
          <p:nvSpPr>
            <p:cNvPr id="49" name="Rectangle 48"/>
            <p:cNvSpPr/>
            <p:nvPr/>
          </p:nvSpPr>
          <p:spPr>
            <a:xfrm>
              <a:off x="6400800" y="5020056"/>
              <a:ext cx="603504" cy="219456"/>
            </a:xfrm>
            <a:prstGeom prst="rect">
              <a:avLst/>
            </a:prstGeom>
            <a:noFill/>
            <a:ln w="25400">
              <a:solidFill>
                <a:srgbClr val="F28C28"/>
              </a:solidFill>
            </a:ln>
          </p:spPr>
          <p:txBody>
            <a:bodyPr rtlCol="0" anchor="ctr"/>
            <a:lstStyle/>
            <a:p>
              <a:pPr algn="ctr"/>
              <a:endParaRPr/>
            </a:p>
          </p:txBody>
        </p:sp>
        <p:sp>
          <p:nvSpPr>
            <p:cNvPr id="50" name="TextBox 49"/>
            <p:cNvSpPr txBox="1"/>
            <p:nvPr/>
          </p:nvSpPr>
          <p:spPr>
            <a:xfrm>
              <a:off x="7205472" y="4809744"/>
              <a:ext cx="4297680" cy="640080"/>
            </a:xfrm>
            <a:prstGeom prst="rect">
              <a:avLst/>
            </a:prstGeom>
            <a:noFill/>
          </p:spPr>
          <p:txBody>
            <a:bodyPr wrap="square" lIns="0" tIns="0" rIns="0" bIns="0" anchor="ctr">
              <a:noAutofit/>
            </a:bodyPr>
            <a:lstStyle/>
            <a:p>
              <a:pPr algn="l"/>
              <a:r>
                <a:rPr lang="en-GB" sz="2000" b="0" i="0">
                  <a:solidFill>
                    <a:srgbClr val="F2F2F2"/>
                  </a:solidFill>
                  <a:latin typeface="Arial"/>
                </a:rPr>
                <a:t>Large</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Steam rail is not electric trains with an early unlock. It works in its own way.</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THE MOD'S IDEA</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14</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6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12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Every limit has an answer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Limits and answers" descr="Four limits, each with arrows to its answers. Short range: auxiliary tender, service stop or bigger engine. Small loads: a suitable engine and train length. Busy line: more signals and boxes. Slow overall: convert to monorail later."/>
          <p:cNvGrpSpPr/>
          <p:nvPr/>
        </p:nvGrpSpPr>
        <p:grpSpPr>
          <a:xfrm>
            <a:off x="548640" y="1371600"/>
            <a:ext cx="8595360" cy="4023360"/>
            <a:chOff x="548640" y="1371600"/>
            <a:chExt cx="8595360" cy="4023360"/>
          </a:xfrm>
        </p:grpSpPr>
        <p:sp>
          <p:nvSpPr>
            <p:cNvPr id="9" name="Rounded Rectangle 8"/>
            <p:cNvSpPr/>
            <p:nvPr/>
          </p:nvSpPr>
          <p:spPr>
            <a:xfrm>
              <a:off x="548640" y="1874520"/>
              <a:ext cx="2560320" cy="640080"/>
            </a:xfrm>
            <a:prstGeom prst="roundRect">
              <a:avLst>
                <a:gd name="adj" fmla="val 11428"/>
              </a:avLst>
            </a:prstGeom>
            <a:solidFill>
              <a:srgbClr val="4A515B"/>
            </a:solidFill>
            <a:ln>
              <a:noFill/>
            </a:ln>
          </p:spPr>
          <p:txBody>
            <a:bodyPr wrap="square" lIns="73152" tIns="36576" rIns="73152" bIns="36576" rtlCol="0" anchor="ctr">
              <a:noAutofit/>
            </a:bodyPr>
            <a:lstStyle/>
            <a:p>
              <a:pPr algn="ctr"/>
              <a:r>
                <a:rPr lang="en-GB" sz="2000" b="1" i="0">
                  <a:solidFill>
                    <a:srgbClr val="F2F2F2"/>
                  </a:solidFill>
                  <a:latin typeface="Arial"/>
                </a:rPr>
                <a:t>Short range</a:t>
              </a:r>
            </a:p>
          </p:txBody>
        </p:sp>
        <p:sp>
          <p:nvSpPr>
            <p:cNvPr id="10" name="Rounded Rectangle 9"/>
            <p:cNvSpPr/>
            <p:nvPr/>
          </p:nvSpPr>
          <p:spPr>
            <a:xfrm>
              <a:off x="4206240" y="1371600"/>
              <a:ext cx="3291840" cy="457200"/>
            </a:xfrm>
            <a:prstGeom prst="roundRect">
              <a:avLst>
                <a:gd name="adj" fmla="val 16000"/>
              </a:avLst>
            </a:prstGeom>
            <a:solidFill>
              <a:srgbClr val="2B2F36"/>
            </a:solidFill>
            <a:ln w="25400">
              <a:solidFill>
                <a:srgbClr val="F28C28"/>
              </a:solidFill>
            </a:ln>
          </p:spPr>
          <p:txBody>
            <a:bodyPr wrap="square" lIns="73152" tIns="36576" rIns="73152" bIns="36576" rtlCol="0" anchor="ctr">
              <a:noAutofit/>
            </a:bodyPr>
            <a:lstStyle/>
            <a:p>
              <a:pPr algn="ctr"/>
              <a:r>
                <a:rPr lang="en-GB" sz="1800" b="0" i="0">
                  <a:solidFill>
                    <a:srgbClr val="F2F2F2"/>
                  </a:solidFill>
                  <a:latin typeface="Arial"/>
                </a:rPr>
                <a:t>Auxiliary tender</a:t>
              </a:r>
            </a:p>
          </p:txBody>
        </p:sp>
        <p:cxnSp>
          <p:nvCxnSpPr>
            <p:cNvPr id="11" name="Connector 10"/>
            <p:cNvCxnSpPr/>
            <p:nvPr/>
          </p:nvCxnSpPr>
          <p:spPr>
            <a:xfrm flipV="1">
              <a:off x="3154680" y="1600200"/>
              <a:ext cx="996696" cy="594360"/>
            </a:xfrm>
            <a:prstGeom prst="line">
              <a:avLst/>
            </a:prstGeom>
            <a:ln w="28575">
              <a:solidFill>
                <a:srgbClr val="F28C28"/>
              </a:solidFill>
              <a:tailEnd type="triangle" w="lg" len="lg"/>
            </a:ln>
          </p:spPr>
        </p:cxnSp>
        <p:sp>
          <p:nvSpPr>
            <p:cNvPr id="12" name="Rounded Rectangle 11"/>
            <p:cNvSpPr/>
            <p:nvPr/>
          </p:nvSpPr>
          <p:spPr>
            <a:xfrm>
              <a:off x="4206240" y="1938528"/>
              <a:ext cx="3291840" cy="457200"/>
            </a:xfrm>
            <a:prstGeom prst="roundRect">
              <a:avLst>
                <a:gd name="adj" fmla="val 16000"/>
              </a:avLst>
            </a:prstGeom>
            <a:solidFill>
              <a:srgbClr val="2B2F36"/>
            </a:solidFill>
            <a:ln w="25400">
              <a:solidFill>
                <a:srgbClr val="F28C28"/>
              </a:solidFill>
            </a:ln>
          </p:spPr>
          <p:txBody>
            <a:bodyPr wrap="square" lIns="73152" tIns="36576" rIns="73152" bIns="36576" rtlCol="0" anchor="ctr">
              <a:noAutofit/>
            </a:bodyPr>
            <a:lstStyle/>
            <a:p>
              <a:pPr algn="ctr"/>
              <a:r>
                <a:rPr lang="en-GB" sz="1800" b="0" i="0">
                  <a:solidFill>
                    <a:srgbClr val="F2F2F2"/>
                  </a:solidFill>
                  <a:latin typeface="Arial"/>
                </a:rPr>
                <a:t>Service stop</a:t>
              </a:r>
            </a:p>
          </p:txBody>
        </p:sp>
        <p:cxnSp>
          <p:nvCxnSpPr>
            <p:cNvPr id="13" name="Connector 12"/>
            <p:cNvCxnSpPr/>
            <p:nvPr/>
          </p:nvCxnSpPr>
          <p:spPr>
            <a:xfrm flipV="1">
              <a:off x="3154680" y="2167128"/>
              <a:ext cx="996696" cy="27432"/>
            </a:xfrm>
            <a:prstGeom prst="line">
              <a:avLst/>
            </a:prstGeom>
            <a:ln w="28575">
              <a:solidFill>
                <a:srgbClr val="F28C28"/>
              </a:solidFill>
              <a:tailEnd type="triangle" w="lg" len="lg"/>
            </a:ln>
          </p:spPr>
        </p:cxnSp>
        <p:sp>
          <p:nvSpPr>
            <p:cNvPr id="14" name="Rounded Rectangle 13"/>
            <p:cNvSpPr/>
            <p:nvPr/>
          </p:nvSpPr>
          <p:spPr>
            <a:xfrm>
              <a:off x="4206240" y="2505456"/>
              <a:ext cx="3291840" cy="457200"/>
            </a:xfrm>
            <a:prstGeom prst="roundRect">
              <a:avLst>
                <a:gd name="adj" fmla="val 16000"/>
              </a:avLst>
            </a:prstGeom>
            <a:solidFill>
              <a:srgbClr val="2B2F36"/>
            </a:solidFill>
            <a:ln w="25400">
              <a:solidFill>
                <a:srgbClr val="F28C28"/>
              </a:solidFill>
            </a:ln>
          </p:spPr>
          <p:txBody>
            <a:bodyPr wrap="square" lIns="73152" tIns="36576" rIns="73152" bIns="36576" rtlCol="0" anchor="ctr">
              <a:noAutofit/>
            </a:bodyPr>
            <a:lstStyle/>
            <a:p>
              <a:pPr algn="ctr"/>
              <a:r>
                <a:rPr lang="en-GB" sz="1800" b="0" i="0">
                  <a:solidFill>
                    <a:srgbClr val="F2F2F2"/>
                  </a:solidFill>
                  <a:latin typeface="Arial"/>
                </a:rPr>
                <a:t>Bigger engine</a:t>
              </a:r>
            </a:p>
          </p:txBody>
        </p:sp>
        <p:cxnSp>
          <p:nvCxnSpPr>
            <p:cNvPr id="15" name="Connector 14"/>
            <p:cNvCxnSpPr/>
            <p:nvPr/>
          </p:nvCxnSpPr>
          <p:spPr>
            <a:xfrm>
              <a:off x="3154680" y="2194560"/>
              <a:ext cx="996696" cy="539496"/>
            </a:xfrm>
            <a:prstGeom prst="line">
              <a:avLst/>
            </a:prstGeom>
            <a:ln w="28575">
              <a:solidFill>
                <a:srgbClr val="F28C28"/>
              </a:solidFill>
              <a:tailEnd type="triangle" w="lg" len="lg"/>
            </a:ln>
          </p:spPr>
        </p:cxnSp>
        <p:sp>
          <p:nvSpPr>
            <p:cNvPr id="16" name="Rounded Rectangle 15"/>
            <p:cNvSpPr/>
            <p:nvPr/>
          </p:nvSpPr>
          <p:spPr>
            <a:xfrm>
              <a:off x="548640" y="3246120"/>
              <a:ext cx="2560320" cy="594360"/>
            </a:xfrm>
            <a:prstGeom prst="roundRect">
              <a:avLst>
                <a:gd name="adj" fmla="val 12307"/>
              </a:avLst>
            </a:prstGeom>
            <a:solidFill>
              <a:srgbClr val="4A515B"/>
            </a:solidFill>
            <a:ln>
              <a:noFill/>
            </a:ln>
          </p:spPr>
          <p:txBody>
            <a:bodyPr wrap="square" lIns="73152" tIns="36576" rIns="73152" bIns="36576" rtlCol="0" anchor="ctr">
              <a:noAutofit/>
            </a:bodyPr>
            <a:lstStyle/>
            <a:p>
              <a:pPr algn="ctr"/>
              <a:r>
                <a:rPr lang="en-GB" sz="2000" b="1" i="0">
                  <a:solidFill>
                    <a:srgbClr val="F2F2F2"/>
                  </a:solidFill>
                  <a:latin typeface="Arial"/>
                </a:rPr>
                <a:t>Small loads</a:t>
              </a:r>
            </a:p>
          </p:txBody>
        </p:sp>
        <p:cxnSp>
          <p:nvCxnSpPr>
            <p:cNvPr id="17" name="Connector 16"/>
            <p:cNvCxnSpPr/>
            <p:nvPr/>
          </p:nvCxnSpPr>
          <p:spPr>
            <a:xfrm>
              <a:off x="3154680" y="3543300"/>
              <a:ext cx="996696" cy="0"/>
            </a:xfrm>
            <a:prstGeom prst="line">
              <a:avLst/>
            </a:prstGeom>
            <a:ln w="28575">
              <a:solidFill>
                <a:srgbClr val="F28C28"/>
              </a:solidFill>
              <a:tailEnd type="triangle" w="lg" len="lg"/>
            </a:ln>
          </p:spPr>
        </p:cxnSp>
        <p:sp>
          <p:nvSpPr>
            <p:cNvPr id="18" name="Rounded Rectangle 17"/>
            <p:cNvSpPr/>
            <p:nvPr/>
          </p:nvSpPr>
          <p:spPr>
            <a:xfrm>
              <a:off x="4206240" y="3246120"/>
              <a:ext cx="4937760" cy="594360"/>
            </a:xfrm>
            <a:prstGeom prst="roundRect">
              <a:avLst>
                <a:gd name="adj" fmla="val 12307"/>
              </a:avLst>
            </a:prstGeom>
            <a:solidFill>
              <a:srgbClr val="2B2F36"/>
            </a:solidFill>
            <a:ln w="25400">
              <a:solidFill>
                <a:srgbClr val="F28C28"/>
              </a:solidFill>
            </a:ln>
          </p:spPr>
          <p:txBody>
            <a:bodyPr wrap="square" lIns="73152" tIns="36576" rIns="73152" bIns="36576" rtlCol="0" anchor="ctr">
              <a:noAutofit/>
            </a:bodyPr>
            <a:lstStyle/>
            <a:p>
              <a:pPr algn="ctr"/>
              <a:r>
                <a:rPr lang="en-GB" sz="1800" b="0" i="0">
                  <a:solidFill>
                    <a:srgbClr val="F2F2F2"/>
                  </a:solidFill>
                  <a:latin typeface="Arial"/>
                </a:rPr>
                <a:t>A suitable engine and train length</a:t>
              </a:r>
            </a:p>
          </p:txBody>
        </p:sp>
        <p:sp>
          <p:nvSpPr>
            <p:cNvPr id="19" name="Rounded Rectangle 18"/>
            <p:cNvSpPr/>
            <p:nvPr/>
          </p:nvSpPr>
          <p:spPr>
            <a:xfrm>
              <a:off x="548640" y="4023360"/>
              <a:ext cx="2560320" cy="594360"/>
            </a:xfrm>
            <a:prstGeom prst="roundRect">
              <a:avLst>
                <a:gd name="adj" fmla="val 12307"/>
              </a:avLst>
            </a:prstGeom>
            <a:solidFill>
              <a:srgbClr val="4A515B"/>
            </a:solidFill>
            <a:ln>
              <a:noFill/>
            </a:ln>
          </p:spPr>
          <p:txBody>
            <a:bodyPr wrap="square" lIns="73152" tIns="36576" rIns="73152" bIns="36576" rtlCol="0" anchor="ctr">
              <a:noAutofit/>
            </a:bodyPr>
            <a:lstStyle/>
            <a:p>
              <a:pPr algn="ctr"/>
              <a:r>
                <a:rPr lang="en-GB" sz="2000" b="1" i="0">
                  <a:solidFill>
                    <a:srgbClr val="F2F2F2"/>
                  </a:solidFill>
                  <a:latin typeface="Arial"/>
                </a:rPr>
                <a:t>Busy line</a:t>
              </a:r>
            </a:p>
          </p:txBody>
        </p:sp>
        <p:cxnSp>
          <p:nvCxnSpPr>
            <p:cNvPr id="20" name="Connector 19"/>
            <p:cNvCxnSpPr/>
            <p:nvPr/>
          </p:nvCxnSpPr>
          <p:spPr>
            <a:xfrm>
              <a:off x="3154680" y="4320540"/>
              <a:ext cx="996696" cy="0"/>
            </a:xfrm>
            <a:prstGeom prst="line">
              <a:avLst/>
            </a:prstGeom>
            <a:ln w="28575">
              <a:solidFill>
                <a:srgbClr val="F28C28"/>
              </a:solidFill>
              <a:tailEnd type="triangle" w="lg" len="lg"/>
            </a:ln>
          </p:spPr>
        </p:cxnSp>
        <p:sp>
          <p:nvSpPr>
            <p:cNvPr id="21" name="Rounded Rectangle 20"/>
            <p:cNvSpPr/>
            <p:nvPr/>
          </p:nvSpPr>
          <p:spPr>
            <a:xfrm>
              <a:off x="4206240" y="4023360"/>
              <a:ext cx="3840480" cy="594360"/>
            </a:xfrm>
            <a:prstGeom prst="roundRect">
              <a:avLst>
                <a:gd name="adj" fmla="val 12307"/>
              </a:avLst>
            </a:prstGeom>
            <a:solidFill>
              <a:srgbClr val="2B2F36"/>
            </a:solidFill>
            <a:ln w="25400">
              <a:solidFill>
                <a:srgbClr val="F28C28"/>
              </a:solidFill>
            </a:ln>
          </p:spPr>
          <p:txBody>
            <a:bodyPr wrap="square" lIns="73152" tIns="36576" rIns="73152" bIns="36576" rtlCol="0" anchor="ctr">
              <a:noAutofit/>
            </a:bodyPr>
            <a:lstStyle/>
            <a:p>
              <a:pPr algn="ctr"/>
              <a:r>
                <a:rPr lang="en-GB" sz="1800" b="0" i="0">
                  <a:solidFill>
                    <a:srgbClr val="F2F2F2"/>
                  </a:solidFill>
                  <a:latin typeface="Arial"/>
                </a:rPr>
                <a:t>More signals and boxes</a:t>
              </a:r>
            </a:p>
          </p:txBody>
        </p:sp>
        <p:sp>
          <p:nvSpPr>
            <p:cNvPr id="22" name="Rounded Rectangle 21"/>
            <p:cNvSpPr/>
            <p:nvPr/>
          </p:nvSpPr>
          <p:spPr>
            <a:xfrm>
              <a:off x="548640" y="4800600"/>
              <a:ext cx="2560320" cy="594360"/>
            </a:xfrm>
            <a:prstGeom prst="roundRect">
              <a:avLst>
                <a:gd name="adj" fmla="val 12307"/>
              </a:avLst>
            </a:prstGeom>
            <a:solidFill>
              <a:srgbClr val="4A515B"/>
            </a:solidFill>
            <a:ln>
              <a:noFill/>
            </a:ln>
          </p:spPr>
          <p:txBody>
            <a:bodyPr wrap="square" lIns="73152" tIns="36576" rIns="73152" bIns="36576" rtlCol="0" anchor="ctr">
              <a:noAutofit/>
            </a:bodyPr>
            <a:lstStyle/>
            <a:p>
              <a:pPr algn="ctr"/>
              <a:r>
                <a:rPr lang="en-GB" sz="2000" b="1" i="0">
                  <a:solidFill>
                    <a:srgbClr val="F2F2F2"/>
                  </a:solidFill>
                  <a:latin typeface="Arial"/>
                </a:rPr>
                <a:t>Slow overall</a:t>
              </a:r>
            </a:p>
          </p:txBody>
        </p:sp>
        <p:cxnSp>
          <p:nvCxnSpPr>
            <p:cNvPr id="23" name="Connector 22"/>
            <p:cNvCxnSpPr/>
            <p:nvPr/>
          </p:nvCxnSpPr>
          <p:spPr>
            <a:xfrm>
              <a:off x="3154680" y="5097780"/>
              <a:ext cx="996696" cy="0"/>
            </a:xfrm>
            <a:prstGeom prst="line">
              <a:avLst/>
            </a:prstGeom>
            <a:ln w="28575">
              <a:solidFill>
                <a:srgbClr val="F28C28"/>
              </a:solidFill>
              <a:tailEnd type="triangle" w="lg" len="lg"/>
            </a:ln>
          </p:spPr>
        </p:cxnSp>
        <p:sp>
          <p:nvSpPr>
            <p:cNvPr id="24" name="Rounded Rectangle 23"/>
            <p:cNvSpPr/>
            <p:nvPr/>
          </p:nvSpPr>
          <p:spPr>
            <a:xfrm>
              <a:off x="4206240" y="4800600"/>
              <a:ext cx="3840480" cy="594360"/>
            </a:xfrm>
            <a:prstGeom prst="roundRect">
              <a:avLst>
                <a:gd name="adj" fmla="val 12307"/>
              </a:avLst>
            </a:prstGeom>
            <a:solidFill>
              <a:srgbClr val="2B2F36"/>
            </a:solidFill>
            <a:ln w="25400">
              <a:solidFill>
                <a:srgbClr val="F28C28"/>
              </a:solidFill>
            </a:ln>
          </p:spPr>
          <p:txBody>
            <a:bodyPr wrap="square" lIns="73152" tIns="36576" rIns="73152" bIns="36576" rtlCol="0" anchor="ctr">
              <a:noAutofit/>
            </a:bodyPr>
            <a:lstStyle/>
            <a:p>
              <a:pPr algn="ctr"/>
              <a:r>
                <a:rPr lang="en-GB" sz="1800" b="0" i="0">
                  <a:solidFill>
                    <a:srgbClr val="F2F2F2"/>
                  </a:solidFill>
                  <a:latin typeface="Arial"/>
                </a:rPr>
                <a:t>Convert to monorail later</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Short range, small loads, a busy line, slow trips: each has a fix.</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THE MOD'S IDEA</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15</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Why steam stays behind electric</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Steam against electric" descr="Qualitative bars, not measured: steam scores high on cheap to start; electric scores high on speed, throughput, traffic density and convenience."/>
          <p:cNvGrpSpPr/>
          <p:nvPr/>
        </p:nvGrpSpPr>
        <p:grpSpPr>
          <a:xfrm>
            <a:off x="548640" y="1463040"/>
            <a:ext cx="7680960" cy="4242816"/>
            <a:chOff x="548640" y="1463040"/>
            <a:chExt cx="7680960" cy="4242816"/>
          </a:xfrm>
        </p:grpSpPr>
        <p:sp>
          <p:nvSpPr>
            <p:cNvPr id="9" name="TextBox 8"/>
            <p:cNvSpPr txBox="1"/>
            <p:nvPr/>
          </p:nvSpPr>
          <p:spPr>
            <a:xfrm>
              <a:off x="548640" y="1463040"/>
              <a:ext cx="2148840" cy="548640"/>
            </a:xfrm>
            <a:prstGeom prst="rect">
              <a:avLst/>
            </a:prstGeom>
            <a:noFill/>
          </p:spPr>
          <p:txBody>
            <a:bodyPr wrap="square" lIns="0" tIns="0" rIns="0" bIns="0" anchor="ctr">
              <a:noAutofit/>
            </a:bodyPr>
            <a:lstStyle/>
            <a:p>
              <a:pPr algn="l"/>
              <a:r>
                <a:rPr lang="en-GB" sz="1800" b="0" i="0">
                  <a:solidFill>
                    <a:srgbClr val="F2F2F2"/>
                  </a:solidFill>
                  <a:latin typeface="Arial"/>
                </a:rPr>
                <a:t>Cheap to start</a:t>
              </a:r>
            </a:p>
          </p:txBody>
        </p:sp>
        <p:sp>
          <p:nvSpPr>
            <p:cNvPr id="10" name="Rounded Rectangle 9"/>
            <p:cNvSpPr/>
            <p:nvPr/>
          </p:nvSpPr>
          <p:spPr>
            <a:xfrm>
              <a:off x="2743200" y="1463040"/>
              <a:ext cx="5486400" cy="237744"/>
            </a:xfrm>
            <a:prstGeom prst="roundRect">
              <a:avLst>
                <a:gd name="adj" fmla="val 19230"/>
              </a:avLst>
            </a:prstGeom>
            <a:solidFill>
              <a:srgbClr val="343A43"/>
            </a:solidFill>
            <a:ln>
              <a:noFill/>
            </a:ln>
          </p:spPr>
          <p:txBody>
            <a:bodyPr rtlCol="0" anchor="ctr"/>
            <a:lstStyle/>
            <a:p>
              <a:pPr algn="ctr"/>
              <a:endParaRPr/>
            </a:p>
          </p:txBody>
        </p:sp>
        <p:sp>
          <p:nvSpPr>
            <p:cNvPr id="11" name="Rounded Rectangle 10"/>
            <p:cNvSpPr/>
            <p:nvPr/>
          </p:nvSpPr>
          <p:spPr>
            <a:xfrm>
              <a:off x="2743200" y="1463040"/>
              <a:ext cx="4663440" cy="237744"/>
            </a:xfrm>
            <a:prstGeom prst="roundRect">
              <a:avLst>
                <a:gd name="adj" fmla="val 19230"/>
              </a:avLst>
            </a:prstGeom>
            <a:solidFill>
              <a:srgbClr val="F28C28"/>
            </a:solidFill>
            <a:ln>
              <a:noFill/>
            </a:ln>
          </p:spPr>
          <p:txBody>
            <a:bodyPr rtlCol="0" anchor="ctr"/>
            <a:lstStyle/>
            <a:p>
              <a:pPr algn="ctr"/>
              <a:endParaRPr/>
            </a:p>
          </p:txBody>
        </p:sp>
        <p:sp>
          <p:nvSpPr>
            <p:cNvPr id="12" name="Rounded Rectangle 11"/>
            <p:cNvSpPr/>
            <p:nvPr/>
          </p:nvSpPr>
          <p:spPr>
            <a:xfrm>
              <a:off x="2743200" y="1764792"/>
              <a:ext cx="5486400" cy="237744"/>
            </a:xfrm>
            <a:prstGeom prst="roundRect">
              <a:avLst>
                <a:gd name="adj" fmla="val 19230"/>
              </a:avLst>
            </a:prstGeom>
            <a:solidFill>
              <a:srgbClr val="343A43"/>
            </a:solidFill>
            <a:ln>
              <a:noFill/>
            </a:ln>
          </p:spPr>
          <p:txBody>
            <a:bodyPr rtlCol="0" anchor="ctr"/>
            <a:lstStyle/>
            <a:p>
              <a:pPr algn="ctr"/>
              <a:endParaRPr/>
            </a:p>
          </p:txBody>
        </p:sp>
        <p:sp>
          <p:nvSpPr>
            <p:cNvPr id="13" name="Rounded Rectangle 12"/>
            <p:cNvSpPr/>
            <p:nvPr/>
          </p:nvSpPr>
          <p:spPr>
            <a:xfrm>
              <a:off x="2743200" y="1764792"/>
              <a:ext cx="2468880" cy="237744"/>
            </a:xfrm>
            <a:prstGeom prst="roundRect">
              <a:avLst>
                <a:gd name="adj" fmla="val 19230"/>
              </a:avLst>
            </a:prstGeom>
            <a:solidFill>
              <a:srgbClr val="6CA0DC"/>
            </a:solidFill>
            <a:ln>
              <a:noFill/>
            </a:ln>
          </p:spPr>
          <p:txBody>
            <a:bodyPr rtlCol="0" anchor="ctr"/>
            <a:lstStyle/>
            <a:p>
              <a:pPr algn="ctr"/>
              <a:endParaRPr/>
            </a:p>
          </p:txBody>
        </p:sp>
        <p:sp>
          <p:nvSpPr>
            <p:cNvPr id="14" name="TextBox 13"/>
            <p:cNvSpPr txBox="1"/>
            <p:nvPr/>
          </p:nvSpPr>
          <p:spPr>
            <a:xfrm>
              <a:off x="548640" y="2249424"/>
              <a:ext cx="2148840" cy="548640"/>
            </a:xfrm>
            <a:prstGeom prst="rect">
              <a:avLst/>
            </a:prstGeom>
            <a:noFill/>
          </p:spPr>
          <p:txBody>
            <a:bodyPr wrap="square" lIns="0" tIns="0" rIns="0" bIns="0" anchor="ctr">
              <a:noAutofit/>
            </a:bodyPr>
            <a:lstStyle/>
            <a:p>
              <a:pPr algn="l"/>
              <a:r>
                <a:rPr lang="en-GB" sz="1800" b="0" i="0">
                  <a:solidFill>
                    <a:srgbClr val="F2F2F2"/>
                  </a:solidFill>
                  <a:latin typeface="Arial"/>
                </a:rPr>
                <a:t>Speed</a:t>
              </a:r>
            </a:p>
          </p:txBody>
        </p:sp>
        <p:sp>
          <p:nvSpPr>
            <p:cNvPr id="15" name="Rounded Rectangle 14"/>
            <p:cNvSpPr/>
            <p:nvPr/>
          </p:nvSpPr>
          <p:spPr>
            <a:xfrm>
              <a:off x="2743200" y="2249424"/>
              <a:ext cx="5486400" cy="237744"/>
            </a:xfrm>
            <a:prstGeom prst="roundRect">
              <a:avLst>
                <a:gd name="adj" fmla="val 19230"/>
              </a:avLst>
            </a:prstGeom>
            <a:solidFill>
              <a:srgbClr val="343A43"/>
            </a:solidFill>
            <a:ln>
              <a:noFill/>
            </a:ln>
          </p:spPr>
          <p:txBody>
            <a:bodyPr rtlCol="0" anchor="ctr"/>
            <a:lstStyle/>
            <a:p>
              <a:pPr algn="ctr"/>
              <a:endParaRPr/>
            </a:p>
          </p:txBody>
        </p:sp>
        <p:sp>
          <p:nvSpPr>
            <p:cNvPr id="16" name="Rounded Rectangle 15"/>
            <p:cNvSpPr/>
            <p:nvPr/>
          </p:nvSpPr>
          <p:spPr>
            <a:xfrm>
              <a:off x="2743200" y="2249424"/>
              <a:ext cx="2194560" cy="237744"/>
            </a:xfrm>
            <a:prstGeom prst="roundRect">
              <a:avLst>
                <a:gd name="adj" fmla="val 19230"/>
              </a:avLst>
            </a:prstGeom>
            <a:solidFill>
              <a:srgbClr val="F28C28"/>
            </a:solidFill>
            <a:ln>
              <a:noFill/>
            </a:ln>
          </p:spPr>
          <p:txBody>
            <a:bodyPr rtlCol="0" anchor="ctr"/>
            <a:lstStyle/>
            <a:p>
              <a:pPr algn="ctr"/>
              <a:endParaRPr/>
            </a:p>
          </p:txBody>
        </p:sp>
        <p:sp>
          <p:nvSpPr>
            <p:cNvPr id="17" name="Rounded Rectangle 16"/>
            <p:cNvSpPr/>
            <p:nvPr/>
          </p:nvSpPr>
          <p:spPr>
            <a:xfrm>
              <a:off x="2743200" y="2551176"/>
              <a:ext cx="5486400" cy="237744"/>
            </a:xfrm>
            <a:prstGeom prst="roundRect">
              <a:avLst>
                <a:gd name="adj" fmla="val 19230"/>
              </a:avLst>
            </a:prstGeom>
            <a:solidFill>
              <a:srgbClr val="343A43"/>
            </a:solidFill>
            <a:ln>
              <a:noFill/>
            </a:ln>
          </p:spPr>
          <p:txBody>
            <a:bodyPr rtlCol="0" anchor="ctr"/>
            <a:lstStyle/>
            <a:p>
              <a:pPr algn="ctr"/>
              <a:endParaRPr/>
            </a:p>
          </p:txBody>
        </p:sp>
        <p:sp>
          <p:nvSpPr>
            <p:cNvPr id="18" name="Rounded Rectangle 17"/>
            <p:cNvSpPr/>
            <p:nvPr/>
          </p:nvSpPr>
          <p:spPr>
            <a:xfrm>
              <a:off x="2743200" y="2551176"/>
              <a:ext cx="4937760" cy="237744"/>
            </a:xfrm>
            <a:prstGeom prst="roundRect">
              <a:avLst>
                <a:gd name="adj" fmla="val 19230"/>
              </a:avLst>
            </a:prstGeom>
            <a:solidFill>
              <a:srgbClr val="6CA0DC"/>
            </a:solidFill>
            <a:ln>
              <a:noFill/>
            </a:ln>
          </p:spPr>
          <p:txBody>
            <a:bodyPr rtlCol="0" anchor="ctr"/>
            <a:lstStyle/>
            <a:p>
              <a:pPr algn="ctr"/>
              <a:endParaRPr/>
            </a:p>
          </p:txBody>
        </p:sp>
        <p:sp>
          <p:nvSpPr>
            <p:cNvPr id="19" name="TextBox 18"/>
            <p:cNvSpPr txBox="1"/>
            <p:nvPr/>
          </p:nvSpPr>
          <p:spPr>
            <a:xfrm>
              <a:off x="548640" y="3035808"/>
              <a:ext cx="2148840" cy="548640"/>
            </a:xfrm>
            <a:prstGeom prst="rect">
              <a:avLst/>
            </a:prstGeom>
            <a:noFill/>
          </p:spPr>
          <p:txBody>
            <a:bodyPr wrap="square" lIns="0" tIns="0" rIns="0" bIns="0" anchor="ctr">
              <a:noAutofit/>
            </a:bodyPr>
            <a:lstStyle/>
            <a:p>
              <a:pPr algn="l"/>
              <a:r>
                <a:rPr lang="en-GB" sz="1800" b="0" i="0">
                  <a:solidFill>
                    <a:srgbClr val="F2F2F2"/>
                  </a:solidFill>
                  <a:latin typeface="Arial"/>
                </a:rPr>
                <a:t>Throughput</a:t>
              </a:r>
            </a:p>
          </p:txBody>
        </p:sp>
        <p:sp>
          <p:nvSpPr>
            <p:cNvPr id="20" name="Rounded Rectangle 19"/>
            <p:cNvSpPr/>
            <p:nvPr/>
          </p:nvSpPr>
          <p:spPr>
            <a:xfrm>
              <a:off x="2743200" y="3035808"/>
              <a:ext cx="5486400" cy="237744"/>
            </a:xfrm>
            <a:prstGeom prst="roundRect">
              <a:avLst>
                <a:gd name="adj" fmla="val 19230"/>
              </a:avLst>
            </a:prstGeom>
            <a:solidFill>
              <a:srgbClr val="343A43"/>
            </a:solidFill>
            <a:ln>
              <a:noFill/>
            </a:ln>
          </p:spPr>
          <p:txBody>
            <a:bodyPr rtlCol="0" anchor="ctr"/>
            <a:lstStyle/>
            <a:p>
              <a:pPr algn="ctr"/>
              <a:endParaRPr/>
            </a:p>
          </p:txBody>
        </p:sp>
        <p:sp>
          <p:nvSpPr>
            <p:cNvPr id="21" name="Rounded Rectangle 20"/>
            <p:cNvSpPr/>
            <p:nvPr/>
          </p:nvSpPr>
          <p:spPr>
            <a:xfrm>
              <a:off x="2743200" y="3035808"/>
              <a:ext cx="1920240" cy="237744"/>
            </a:xfrm>
            <a:prstGeom prst="roundRect">
              <a:avLst>
                <a:gd name="adj" fmla="val 19230"/>
              </a:avLst>
            </a:prstGeom>
            <a:solidFill>
              <a:srgbClr val="F28C28"/>
            </a:solidFill>
            <a:ln>
              <a:noFill/>
            </a:ln>
          </p:spPr>
          <p:txBody>
            <a:bodyPr rtlCol="0" anchor="ctr"/>
            <a:lstStyle/>
            <a:p>
              <a:pPr algn="ctr"/>
              <a:endParaRPr/>
            </a:p>
          </p:txBody>
        </p:sp>
        <p:sp>
          <p:nvSpPr>
            <p:cNvPr id="22" name="Rounded Rectangle 21"/>
            <p:cNvSpPr/>
            <p:nvPr/>
          </p:nvSpPr>
          <p:spPr>
            <a:xfrm>
              <a:off x="2743200" y="3337560"/>
              <a:ext cx="5486400" cy="237744"/>
            </a:xfrm>
            <a:prstGeom prst="roundRect">
              <a:avLst>
                <a:gd name="adj" fmla="val 19230"/>
              </a:avLst>
            </a:prstGeom>
            <a:solidFill>
              <a:srgbClr val="343A43"/>
            </a:solidFill>
            <a:ln>
              <a:noFill/>
            </a:ln>
          </p:spPr>
          <p:txBody>
            <a:bodyPr rtlCol="0" anchor="ctr"/>
            <a:lstStyle/>
            <a:p>
              <a:pPr algn="ctr"/>
              <a:endParaRPr/>
            </a:p>
          </p:txBody>
        </p:sp>
        <p:sp>
          <p:nvSpPr>
            <p:cNvPr id="23" name="Rounded Rectangle 22"/>
            <p:cNvSpPr/>
            <p:nvPr/>
          </p:nvSpPr>
          <p:spPr>
            <a:xfrm>
              <a:off x="2743200" y="3337560"/>
              <a:ext cx="4937760" cy="237744"/>
            </a:xfrm>
            <a:prstGeom prst="roundRect">
              <a:avLst>
                <a:gd name="adj" fmla="val 19230"/>
              </a:avLst>
            </a:prstGeom>
            <a:solidFill>
              <a:srgbClr val="6CA0DC"/>
            </a:solidFill>
            <a:ln>
              <a:noFill/>
            </a:ln>
          </p:spPr>
          <p:txBody>
            <a:bodyPr rtlCol="0" anchor="ctr"/>
            <a:lstStyle/>
            <a:p>
              <a:pPr algn="ctr"/>
              <a:endParaRPr/>
            </a:p>
          </p:txBody>
        </p:sp>
        <p:sp>
          <p:nvSpPr>
            <p:cNvPr id="24" name="TextBox 23"/>
            <p:cNvSpPr txBox="1"/>
            <p:nvPr/>
          </p:nvSpPr>
          <p:spPr>
            <a:xfrm>
              <a:off x="548640" y="3822192"/>
              <a:ext cx="2148840" cy="548640"/>
            </a:xfrm>
            <a:prstGeom prst="rect">
              <a:avLst/>
            </a:prstGeom>
            <a:noFill/>
          </p:spPr>
          <p:txBody>
            <a:bodyPr wrap="square" lIns="0" tIns="0" rIns="0" bIns="0" anchor="ctr">
              <a:noAutofit/>
            </a:bodyPr>
            <a:lstStyle/>
            <a:p>
              <a:pPr algn="l"/>
              <a:r>
                <a:rPr lang="en-GB" sz="1800" b="0" i="0">
                  <a:solidFill>
                    <a:srgbClr val="F2F2F2"/>
                  </a:solidFill>
                  <a:latin typeface="Arial"/>
                </a:rPr>
                <a:t>Traffic density</a:t>
              </a:r>
            </a:p>
          </p:txBody>
        </p:sp>
        <p:sp>
          <p:nvSpPr>
            <p:cNvPr id="25" name="Rounded Rectangle 24"/>
            <p:cNvSpPr/>
            <p:nvPr/>
          </p:nvSpPr>
          <p:spPr>
            <a:xfrm>
              <a:off x="2743200" y="3822192"/>
              <a:ext cx="5486400" cy="237744"/>
            </a:xfrm>
            <a:prstGeom prst="roundRect">
              <a:avLst>
                <a:gd name="adj" fmla="val 19230"/>
              </a:avLst>
            </a:prstGeom>
            <a:solidFill>
              <a:srgbClr val="343A43"/>
            </a:solidFill>
            <a:ln>
              <a:noFill/>
            </a:ln>
          </p:spPr>
          <p:txBody>
            <a:bodyPr rtlCol="0" anchor="ctr"/>
            <a:lstStyle/>
            <a:p>
              <a:pPr algn="ctr"/>
              <a:endParaRPr/>
            </a:p>
          </p:txBody>
        </p:sp>
        <p:sp>
          <p:nvSpPr>
            <p:cNvPr id="26" name="Rounded Rectangle 25"/>
            <p:cNvSpPr/>
            <p:nvPr/>
          </p:nvSpPr>
          <p:spPr>
            <a:xfrm>
              <a:off x="2743200" y="3822192"/>
              <a:ext cx="1920240" cy="237744"/>
            </a:xfrm>
            <a:prstGeom prst="roundRect">
              <a:avLst>
                <a:gd name="adj" fmla="val 19230"/>
              </a:avLst>
            </a:prstGeom>
            <a:solidFill>
              <a:srgbClr val="F28C28"/>
            </a:solidFill>
            <a:ln>
              <a:noFill/>
            </a:ln>
          </p:spPr>
          <p:txBody>
            <a:bodyPr rtlCol="0" anchor="ctr"/>
            <a:lstStyle/>
            <a:p>
              <a:pPr algn="ctr"/>
              <a:endParaRPr/>
            </a:p>
          </p:txBody>
        </p:sp>
        <p:sp>
          <p:nvSpPr>
            <p:cNvPr id="27" name="Rounded Rectangle 26"/>
            <p:cNvSpPr/>
            <p:nvPr/>
          </p:nvSpPr>
          <p:spPr>
            <a:xfrm>
              <a:off x="2743200" y="4123944"/>
              <a:ext cx="5486400" cy="237744"/>
            </a:xfrm>
            <a:prstGeom prst="roundRect">
              <a:avLst>
                <a:gd name="adj" fmla="val 19230"/>
              </a:avLst>
            </a:prstGeom>
            <a:solidFill>
              <a:srgbClr val="343A43"/>
            </a:solidFill>
            <a:ln>
              <a:noFill/>
            </a:ln>
          </p:spPr>
          <p:txBody>
            <a:bodyPr rtlCol="0" anchor="ctr"/>
            <a:lstStyle/>
            <a:p>
              <a:pPr algn="ctr"/>
              <a:endParaRPr/>
            </a:p>
          </p:txBody>
        </p:sp>
        <p:sp>
          <p:nvSpPr>
            <p:cNvPr id="28" name="Rounded Rectangle 27"/>
            <p:cNvSpPr/>
            <p:nvPr/>
          </p:nvSpPr>
          <p:spPr>
            <a:xfrm>
              <a:off x="2743200" y="4123944"/>
              <a:ext cx="4937760" cy="237744"/>
            </a:xfrm>
            <a:prstGeom prst="roundRect">
              <a:avLst>
                <a:gd name="adj" fmla="val 19230"/>
              </a:avLst>
            </a:prstGeom>
            <a:solidFill>
              <a:srgbClr val="6CA0DC"/>
            </a:solidFill>
            <a:ln>
              <a:noFill/>
            </a:ln>
          </p:spPr>
          <p:txBody>
            <a:bodyPr rtlCol="0" anchor="ctr"/>
            <a:lstStyle/>
            <a:p>
              <a:pPr algn="ctr"/>
              <a:endParaRPr/>
            </a:p>
          </p:txBody>
        </p:sp>
        <p:sp>
          <p:nvSpPr>
            <p:cNvPr id="29" name="TextBox 28"/>
            <p:cNvSpPr txBox="1"/>
            <p:nvPr/>
          </p:nvSpPr>
          <p:spPr>
            <a:xfrm>
              <a:off x="548640" y="4608576"/>
              <a:ext cx="2148840" cy="548640"/>
            </a:xfrm>
            <a:prstGeom prst="rect">
              <a:avLst/>
            </a:prstGeom>
            <a:noFill/>
          </p:spPr>
          <p:txBody>
            <a:bodyPr wrap="square" lIns="0" tIns="0" rIns="0" bIns="0" anchor="ctr">
              <a:noAutofit/>
            </a:bodyPr>
            <a:lstStyle/>
            <a:p>
              <a:pPr algn="l"/>
              <a:r>
                <a:rPr lang="en-GB" sz="1800" b="0" i="0">
                  <a:solidFill>
                    <a:srgbClr val="F2F2F2"/>
                  </a:solidFill>
                  <a:latin typeface="Arial"/>
                </a:rPr>
                <a:t>Convenience</a:t>
              </a:r>
            </a:p>
          </p:txBody>
        </p:sp>
        <p:sp>
          <p:nvSpPr>
            <p:cNvPr id="30" name="Rounded Rectangle 29"/>
            <p:cNvSpPr/>
            <p:nvPr/>
          </p:nvSpPr>
          <p:spPr>
            <a:xfrm>
              <a:off x="2743200" y="4608576"/>
              <a:ext cx="5486400" cy="237744"/>
            </a:xfrm>
            <a:prstGeom prst="roundRect">
              <a:avLst>
                <a:gd name="adj" fmla="val 19230"/>
              </a:avLst>
            </a:prstGeom>
            <a:solidFill>
              <a:srgbClr val="343A43"/>
            </a:solidFill>
            <a:ln>
              <a:noFill/>
            </a:ln>
          </p:spPr>
          <p:txBody>
            <a:bodyPr rtlCol="0" anchor="ctr"/>
            <a:lstStyle/>
            <a:p>
              <a:pPr algn="ctr"/>
              <a:endParaRPr/>
            </a:p>
          </p:txBody>
        </p:sp>
        <p:sp>
          <p:nvSpPr>
            <p:cNvPr id="31" name="Rounded Rectangle 30"/>
            <p:cNvSpPr/>
            <p:nvPr/>
          </p:nvSpPr>
          <p:spPr>
            <a:xfrm>
              <a:off x="2743200" y="4608576"/>
              <a:ext cx="2468880" cy="237744"/>
            </a:xfrm>
            <a:prstGeom prst="roundRect">
              <a:avLst>
                <a:gd name="adj" fmla="val 19230"/>
              </a:avLst>
            </a:prstGeom>
            <a:solidFill>
              <a:srgbClr val="F28C28"/>
            </a:solidFill>
            <a:ln>
              <a:noFill/>
            </a:ln>
          </p:spPr>
          <p:txBody>
            <a:bodyPr rtlCol="0" anchor="ctr"/>
            <a:lstStyle/>
            <a:p>
              <a:pPr algn="ctr"/>
              <a:endParaRPr/>
            </a:p>
          </p:txBody>
        </p:sp>
        <p:sp>
          <p:nvSpPr>
            <p:cNvPr id="32" name="Rounded Rectangle 31"/>
            <p:cNvSpPr/>
            <p:nvPr/>
          </p:nvSpPr>
          <p:spPr>
            <a:xfrm>
              <a:off x="2743200" y="4910328"/>
              <a:ext cx="5486400" cy="237744"/>
            </a:xfrm>
            <a:prstGeom prst="roundRect">
              <a:avLst>
                <a:gd name="adj" fmla="val 19230"/>
              </a:avLst>
            </a:prstGeom>
            <a:solidFill>
              <a:srgbClr val="343A43"/>
            </a:solidFill>
            <a:ln>
              <a:noFill/>
            </a:ln>
          </p:spPr>
          <p:txBody>
            <a:bodyPr rtlCol="0" anchor="ctr"/>
            <a:lstStyle/>
            <a:p>
              <a:pPr algn="ctr"/>
              <a:endParaRPr/>
            </a:p>
          </p:txBody>
        </p:sp>
        <p:sp>
          <p:nvSpPr>
            <p:cNvPr id="33" name="Rounded Rectangle 32"/>
            <p:cNvSpPr/>
            <p:nvPr/>
          </p:nvSpPr>
          <p:spPr>
            <a:xfrm>
              <a:off x="2743200" y="4910328"/>
              <a:ext cx="4937760" cy="237744"/>
            </a:xfrm>
            <a:prstGeom prst="roundRect">
              <a:avLst>
                <a:gd name="adj" fmla="val 19230"/>
              </a:avLst>
            </a:prstGeom>
            <a:solidFill>
              <a:srgbClr val="6CA0DC"/>
            </a:solidFill>
            <a:ln>
              <a:noFill/>
            </a:ln>
          </p:spPr>
          <p:txBody>
            <a:bodyPr rtlCol="0" anchor="ctr"/>
            <a:lstStyle/>
            <a:p>
              <a:pPr algn="ctr"/>
              <a:endParaRPr/>
            </a:p>
          </p:txBody>
        </p:sp>
        <p:sp>
          <p:nvSpPr>
            <p:cNvPr id="34" name="TextBox 33"/>
            <p:cNvSpPr txBox="1"/>
            <p:nvPr/>
          </p:nvSpPr>
          <p:spPr>
            <a:xfrm>
              <a:off x="2743200" y="5413248"/>
              <a:ext cx="5486400" cy="292608"/>
            </a:xfrm>
            <a:prstGeom prst="rect">
              <a:avLst/>
            </a:prstGeom>
            <a:noFill/>
          </p:spPr>
          <p:txBody>
            <a:bodyPr wrap="square" lIns="0" tIns="0" rIns="0" bIns="0" anchor="t">
              <a:noAutofit/>
            </a:bodyPr>
            <a:lstStyle/>
            <a:p>
              <a:pPr algn="l"/>
              <a:r>
                <a:rPr lang="en-GB" sz="1400" b="0" i="0">
                  <a:solidFill>
                    <a:srgbClr val="A9B0B8"/>
                  </a:solidFill>
                  <a:latin typeface="Arial"/>
                </a:rPr>
                <a:t>Shape only. Not measured.</a:t>
              </a:r>
            </a:p>
          </p:txBody>
        </p:sp>
      </p:grpSp>
      <p:grpSp>
        <p:nvGrpSpPr>
          <p:cNvPr id="35" name="Legend" descr="Legend: orange is steam, blue is electric."/>
          <p:cNvGrpSpPr/>
          <p:nvPr/>
        </p:nvGrpSpPr>
        <p:grpSpPr>
          <a:xfrm>
            <a:off x="8778240" y="1444752"/>
            <a:ext cx="2743200" cy="822960"/>
            <a:chOff x="8778240" y="1444752"/>
            <a:chExt cx="2743200" cy="822960"/>
          </a:xfrm>
        </p:grpSpPr>
        <p:sp>
          <p:nvSpPr>
            <p:cNvPr id="36" name="Rounded Rectangle 35"/>
            <p:cNvSpPr/>
            <p:nvPr/>
          </p:nvSpPr>
          <p:spPr>
            <a:xfrm>
              <a:off x="8778240" y="1508760"/>
              <a:ext cx="365760" cy="237744"/>
            </a:xfrm>
            <a:prstGeom prst="roundRect">
              <a:avLst>
                <a:gd name="adj" fmla="val 19230"/>
              </a:avLst>
            </a:prstGeom>
            <a:solidFill>
              <a:srgbClr val="F28C28"/>
            </a:solidFill>
            <a:ln>
              <a:noFill/>
            </a:ln>
          </p:spPr>
          <p:txBody>
            <a:bodyPr rtlCol="0" anchor="ctr"/>
            <a:lstStyle/>
            <a:p>
              <a:pPr algn="ctr"/>
              <a:endParaRPr/>
            </a:p>
          </p:txBody>
        </p:sp>
        <p:sp>
          <p:nvSpPr>
            <p:cNvPr id="37" name="TextBox 36"/>
            <p:cNvSpPr txBox="1"/>
            <p:nvPr/>
          </p:nvSpPr>
          <p:spPr>
            <a:xfrm>
              <a:off x="9235440" y="1444752"/>
              <a:ext cx="2286000" cy="365760"/>
            </a:xfrm>
            <a:prstGeom prst="rect">
              <a:avLst/>
            </a:prstGeom>
            <a:noFill/>
          </p:spPr>
          <p:txBody>
            <a:bodyPr wrap="square" lIns="0" tIns="0" rIns="0" bIns="0" anchor="ctr">
              <a:noAutofit/>
            </a:bodyPr>
            <a:lstStyle/>
            <a:p>
              <a:pPr algn="l"/>
              <a:r>
                <a:rPr lang="en-GB" sz="1800" b="0" i="0">
                  <a:solidFill>
                    <a:srgbClr val="F2F2F2"/>
                  </a:solidFill>
                  <a:latin typeface="Arial"/>
                </a:rPr>
                <a:t>Steam</a:t>
              </a:r>
            </a:p>
          </p:txBody>
        </p:sp>
        <p:sp>
          <p:nvSpPr>
            <p:cNvPr id="38" name="Rounded Rectangle 37"/>
            <p:cNvSpPr/>
            <p:nvPr/>
          </p:nvSpPr>
          <p:spPr>
            <a:xfrm>
              <a:off x="8778240" y="1965960"/>
              <a:ext cx="365760" cy="237744"/>
            </a:xfrm>
            <a:prstGeom prst="roundRect">
              <a:avLst>
                <a:gd name="adj" fmla="val 19230"/>
              </a:avLst>
            </a:prstGeom>
            <a:solidFill>
              <a:srgbClr val="6CA0DC"/>
            </a:solidFill>
            <a:ln>
              <a:noFill/>
            </a:ln>
          </p:spPr>
          <p:txBody>
            <a:bodyPr rtlCol="0" anchor="ctr"/>
            <a:lstStyle/>
            <a:p>
              <a:pPr algn="ctr"/>
              <a:endParaRPr/>
            </a:p>
          </p:txBody>
        </p:sp>
        <p:sp>
          <p:nvSpPr>
            <p:cNvPr id="39" name="TextBox 38"/>
            <p:cNvSpPr txBox="1"/>
            <p:nvPr/>
          </p:nvSpPr>
          <p:spPr>
            <a:xfrm>
              <a:off x="9235440" y="1901952"/>
              <a:ext cx="2286000" cy="365760"/>
            </a:xfrm>
            <a:prstGeom prst="rect">
              <a:avLst/>
            </a:prstGeom>
            <a:noFill/>
          </p:spPr>
          <p:txBody>
            <a:bodyPr wrap="square" lIns="0" tIns="0" rIns="0" bIns="0" anchor="ctr">
              <a:noAutofit/>
            </a:bodyPr>
            <a:lstStyle/>
            <a:p>
              <a:pPr algn="l"/>
              <a:r>
                <a:rPr lang="en-GB" sz="1800" b="0" i="0">
                  <a:solidFill>
                    <a:srgbClr val="F2F2F2"/>
                  </a:solidFill>
                  <a:latin typeface="Arial"/>
                </a:rPr>
                <a:t>Electric</a:t>
              </a:r>
            </a:p>
          </p:txBody>
        </p:sp>
      </p:grpSp>
      <p:sp>
        <p:nvSpPr>
          <p:cNvPr id="40" name="Rounded Rectangle 39"/>
          <p:cNvSpPr/>
          <p:nvPr/>
        </p:nvSpPr>
        <p:spPr>
          <a:xfrm>
            <a:off x="8778240" y="2834640"/>
            <a:ext cx="2862072" cy="1737360"/>
          </a:xfrm>
          <a:prstGeom prst="roundRect">
            <a:avLst>
              <a:gd name="adj" fmla="val 4210"/>
            </a:avLst>
          </a:prstGeom>
          <a:solidFill>
            <a:srgbClr val="2B2F36"/>
          </a:solidFill>
          <a:ln w="19050">
            <a:solidFill>
              <a:srgbClr val="F28C28"/>
            </a:solidFill>
          </a:ln>
        </p:spPr>
        <p:txBody>
          <a:bodyPr wrap="square" lIns="182880" tIns="91440" rIns="137160" bIns="91440" rtlCol="0" anchor="ctr">
            <a:noAutofit/>
          </a:bodyPr>
          <a:lstStyle/>
          <a:p>
            <a:pPr algn="l"/>
            <a:r>
              <a:rPr lang="en-GB" sz="2000" b="0" i="0">
                <a:solidFill>
                  <a:srgbClr val="F2F2F2"/>
                </a:solidFill>
                <a:latin typeface="Arial"/>
              </a:rPr>
              <a:t>Steam gets there first. Electric wins when the network matures.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Steam is cheap and early. Electric wins on speed, throughput, traffic and convenience.</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THE MOD'S IDEA</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16</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nodeType="withEffect">
                                  <p:stCondLst>
                                    <p:cond delay="60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12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The mod's track</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pic>
        <p:nvPicPr>
          <p:cNvPr id="8" name="Picture R02" descr="High-detail render of the mod's two-rail track. Visual development only: not Unreal-tested, not production-ready."/>
          <p:cNvPicPr>
            <a:picLocks noChangeAspect="1"/>
          </p:cNvPicPr>
          <p:nvPr/>
        </p:nvPicPr>
        <p:blipFill>
          <a:blip r:embed="rId2"/>
          <a:stretch>
            <a:fillRect/>
          </a:stretch>
        </p:blipFill>
        <p:spPr>
          <a:xfrm>
            <a:off x="548640" y="1325880"/>
            <a:ext cx="5120640" cy="2880360"/>
          </a:xfrm>
          <a:prstGeom prst="roundRect">
            <a:avLst>
              <a:gd name="adj" fmla="val 2540"/>
            </a:avLst>
          </a:prstGeom>
        </p:spPr>
      </p:pic>
      <p:sp>
        <p:nvSpPr>
          <p:cNvPr id="9" name="Credit"/>
          <p:cNvSpPr txBox="1"/>
          <p:nvPr/>
        </p:nvSpPr>
        <p:spPr>
          <a:xfrm>
            <a:off x="548640" y="4233672"/>
            <a:ext cx="5120640" cy="182880"/>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Early test model, not final art.</a:t>
            </a:r>
          </a:p>
        </p:txBody>
      </p:sp>
      <p:pic>
        <p:nvPicPr>
          <p:cNvPr id="10" name="Picture R05" descr="Close-up render of the mod's track: rail seated in a chair bolted to a sleeper. Visual development only."/>
          <p:cNvPicPr>
            <a:picLocks noChangeAspect="1"/>
          </p:cNvPicPr>
          <p:nvPr/>
        </p:nvPicPr>
        <p:blipFill>
          <a:blip r:embed="rId3"/>
          <a:stretch>
            <a:fillRect/>
          </a:stretch>
        </p:blipFill>
        <p:spPr>
          <a:xfrm>
            <a:off x="5852160" y="1325880"/>
            <a:ext cx="2286000" cy="1714500"/>
          </a:xfrm>
          <a:prstGeom prst="roundRect">
            <a:avLst>
              <a:gd name="adj" fmla="val 4267"/>
            </a:avLst>
          </a:prstGeom>
        </p:spPr>
      </p:pic>
      <p:sp>
        <p:nvSpPr>
          <p:cNvPr id="11" name="Credit"/>
          <p:cNvSpPr txBox="1"/>
          <p:nvPr/>
        </p:nvSpPr>
        <p:spPr>
          <a:xfrm>
            <a:off x="5852160" y="3067812"/>
            <a:ext cx="2286000" cy="338328"/>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Early test model, not final art.</a:t>
            </a:r>
          </a:p>
        </p:txBody>
      </p:sp>
      <p:sp>
        <p:nvSpPr>
          <p:cNvPr id="12" name="TextBox 11"/>
          <p:cNvSpPr txBox="1"/>
          <p:nvPr/>
        </p:nvSpPr>
        <p:spPr>
          <a:xfrm>
            <a:off x="5852160" y="3429000"/>
            <a:ext cx="2286000" cy="594360"/>
          </a:xfrm>
          <a:prstGeom prst="rect">
            <a:avLst/>
          </a:prstGeom>
          <a:noFill/>
        </p:spPr>
        <p:txBody>
          <a:bodyPr wrap="square" lIns="0" tIns="0" rIns="0" bIns="0" anchor="t">
            <a:noAutofit/>
          </a:bodyPr>
          <a:lstStyle/>
          <a:p>
            <a:pPr algn="l"/>
            <a:r>
              <a:rPr lang="en-GB" sz="1600" b="0" i="0">
                <a:solidFill>
                  <a:srgbClr val="F2F2F2"/>
                </a:solidFill>
                <a:latin typeface="Arial"/>
              </a:rPr>
              <a:t>Close-up: chairs and rails</a:t>
            </a:r>
          </a:p>
        </p:txBody>
      </p:sp>
      <p:pic>
        <p:nvPicPr>
          <p:cNvPr id="13" name="Picture P02" descr="Full-size railway track at Sheffield Park station: rails, sleepers and ballast."/>
          <p:cNvPicPr>
            <a:picLocks noChangeAspect="1"/>
          </p:cNvPicPr>
          <p:nvPr/>
        </p:nvPicPr>
        <p:blipFill>
          <a:blip r:embed="rId4"/>
          <a:stretch>
            <a:fillRect/>
          </a:stretch>
        </p:blipFill>
        <p:spPr>
          <a:xfrm>
            <a:off x="8348472" y="1325880"/>
            <a:ext cx="3291840" cy="2468880"/>
          </a:xfrm>
          <a:prstGeom prst="roundRect">
            <a:avLst>
              <a:gd name="adj" fmla="val 2963"/>
            </a:avLst>
          </a:prstGeom>
        </p:spPr>
      </p:pic>
      <p:sp>
        <p:nvSpPr>
          <p:cNvPr id="14" name="Credit"/>
          <p:cNvSpPr txBox="1"/>
          <p:nvPr/>
        </p:nvSpPr>
        <p:spPr>
          <a:xfrm>
            <a:off x="8348472" y="3822192"/>
            <a:ext cx="3291840" cy="338328"/>
          </a:xfrm>
          <a:prstGeom prst="rect">
            <a:avLst/>
          </a:prstGeom>
          <a:noFill/>
        </p:spPr>
        <p:txBody>
          <a:bodyPr wrap="square" lIns="0" tIns="0" rIns="0" bIns="0" anchor="t">
            <a:noAutofit/>
          </a:bodyPr>
          <a:lstStyle/>
          <a:p>
            <a:pPr algn="l"/>
            <a:r>
              <a:rPr lang="en-GB" sz="1000" b="0" i="0">
                <a:solidFill>
                  <a:srgbClr val="A9B0B8"/>
                </a:solidFill>
                <a:latin typeface="Arial"/>
              </a:rPr>
              <a:t>Photo: James E. Petts, CC BY-SA 4.0, Wikimedia Commons.</a:t>
            </a:r>
          </a:p>
        </p:txBody>
      </p:sp>
      <p:sp>
        <p:nvSpPr>
          <p:cNvPr id="15" name="TextBox 14"/>
          <p:cNvSpPr txBox="1"/>
          <p:nvPr/>
        </p:nvSpPr>
        <p:spPr>
          <a:xfrm>
            <a:off x="8348472" y="4160520"/>
            <a:ext cx="3291840" cy="320040"/>
          </a:xfrm>
          <a:prstGeom prst="rect">
            <a:avLst/>
          </a:prstGeom>
          <a:noFill/>
        </p:spPr>
        <p:txBody>
          <a:bodyPr wrap="square" lIns="0" tIns="0" rIns="0" bIns="0" anchor="t">
            <a:noAutofit/>
          </a:bodyPr>
          <a:lstStyle/>
          <a:p>
            <a:pPr algn="l"/>
            <a:r>
              <a:rPr lang="en-GB" sz="1600" b="0" i="0">
                <a:solidFill>
                  <a:srgbClr val="F2F2F2"/>
                </a:solidFill>
                <a:latin typeface="Arial"/>
              </a:rPr>
              <a:t>Real railway, for comparison</a:t>
            </a:r>
          </a:p>
        </p:txBody>
      </p:sp>
      <p:sp>
        <p:nvSpPr>
          <p:cNvPr id="16" name="Speed rule"/>
          <p:cNvSpPr/>
          <p:nvPr/>
        </p:nvSpPr>
        <p:spPr>
          <a:xfrm>
            <a:off x="548640" y="4553712"/>
            <a:ext cx="11091672" cy="502920"/>
          </a:xfrm>
          <a:prstGeom prst="roundRect">
            <a:avLst>
              <a:gd name="adj" fmla="val 14545"/>
            </a:avLst>
          </a:prstGeom>
          <a:solidFill>
            <a:srgbClr val="2B2F36"/>
          </a:solidFill>
          <a:ln w="19050">
            <a:solidFill>
              <a:srgbClr val="F28C28"/>
            </a:solidFill>
          </a:ln>
        </p:spPr>
        <p:txBody>
          <a:bodyPr wrap="square" lIns="228600" tIns="18288" bIns="18288" rtlCol="0" anchor="ctr">
            <a:noAutofit/>
          </a:bodyPr>
          <a:lstStyle/>
          <a:p>
            <a:pPr algn="l"/>
            <a:r>
              <a:rPr lang="en-GB" sz="1800" b="1" i="0">
                <a:solidFill>
                  <a:srgbClr val="F2F2F2"/>
                </a:solidFill>
                <a:latin typeface="Arial"/>
              </a:rPr>
              <a:t>Speed = lowest of: track limit, signal limit, engine limit</a:t>
            </a:r>
          </a:p>
        </p:txBody>
      </p:sp>
      <p:sp>
        <p:nvSpPr>
          <p:cNvPr id="17" name="Inline chip Proposed"/>
          <p:cNvSpPr/>
          <p:nvPr/>
        </p:nvSpPr>
        <p:spPr>
          <a:xfrm>
            <a:off x="6879590" y="464058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18" name="TextBox 17"/>
          <p:cNvSpPr txBox="1"/>
          <p:nvPr/>
        </p:nvSpPr>
        <p:spPr>
          <a:xfrm>
            <a:off x="548640" y="5138928"/>
            <a:ext cx="2377440" cy="329184"/>
          </a:xfrm>
          <a:prstGeom prst="rect">
            <a:avLst/>
          </a:prstGeom>
          <a:noFill/>
        </p:spPr>
        <p:txBody>
          <a:bodyPr wrap="square" lIns="0" tIns="0" rIns="0" bIns="0" anchor="ctr">
            <a:noAutofit/>
          </a:bodyPr>
          <a:lstStyle/>
          <a:p>
            <a:pPr algn="l"/>
            <a:r>
              <a:rPr lang="en-GB" sz="1600" b="0" i="0">
                <a:solidFill>
                  <a:srgbClr val="F2F2F2"/>
                </a:solidFill>
                <a:latin typeface="Arial"/>
              </a:rPr>
              <a:t>Longest track piece:</a:t>
            </a:r>
          </a:p>
        </p:txBody>
      </p:sp>
      <p:sp>
        <p:nvSpPr>
          <p:cNvPr id="19" name="Inline chip Undecided"/>
          <p:cNvSpPr/>
          <p:nvPr/>
        </p:nvSpPr>
        <p:spPr>
          <a:xfrm>
            <a:off x="2517775" y="5138928"/>
            <a:ext cx="20612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 (OQ02)</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Two thin rails on sleepers, built from iron plates and rods. Speed is the lowest of three limits.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THE MOD'S IDEA</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17</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163"/>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326"/>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489"/>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652"/>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815"/>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nodeType="withEffect">
                                  <p:stCondLst>
                                    <p:cond delay="978"/>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1141"/>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nodeType="withEffect">
                                  <p:stCondLst>
                                    <p:cond delay="1304"/>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10" presetClass="entr" presetSubtype="0" fill="hold" nodeType="withEffect">
                                  <p:stCondLst>
                                    <p:cond delay="1467"/>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par>
                                <p:cTn id="35" presetID="10" presetClass="entr" presetSubtype="0" fill="hold" nodeType="withEffect">
                                  <p:stCondLst>
                                    <p:cond delay="163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Three roles</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Small card" descr="Small locomotive card. Qualitative bars: haul low, speed medium, range low, servicing needs low. Best for: local branches."/>
          <p:cNvGrpSpPr/>
          <p:nvPr/>
        </p:nvGrpSpPr>
        <p:grpSpPr>
          <a:xfrm>
            <a:off x="548640" y="1325880"/>
            <a:ext cx="3474720" cy="3886200"/>
            <a:chOff x="548640" y="1325880"/>
            <a:chExt cx="3474720" cy="3886200"/>
          </a:xfrm>
        </p:grpSpPr>
        <p:sp>
          <p:nvSpPr>
            <p:cNvPr id="9" name="Rounded Rectangle 8"/>
            <p:cNvSpPr/>
            <p:nvPr/>
          </p:nvSpPr>
          <p:spPr>
            <a:xfrm>
              <a:off x="548640" y="1325880"/>
              <a:ext cx="3474720" cy="3886200"/>
            </a:xfrm>
            <a:prstGeom prst="roundRect">
              <a:avLst>
                <a:gd name="adj" fmla="val 2631"/>
              </a:avLst>
            </a:prstGeom>
            <a:solidFill>
              <a:srgbClr val="2B2F36"/>
            </a:solidFill>
            <a:ln>
              <a:noFill/>
            </a:ln>
          </p:spPr>
          <p:txBody>
            <a:bodyPr rtlCol="0" anchor="ctr"/>
            <a:lstStyle/>
            <a:p>
              <a:pPr algn="ctr"/>
              <a:endParaRPr/>
            </a:p>
          </p:txBody>
        </p:sp>
        <p:sp>
          <p:nvSpPr>
            <p:cNvPr id="10" name="Rectangle 9"/>
            <p:cNvSpPr/>
            <p:nvPr/>
          </p:nvSpPr>
          <p:spPr>
            <a:xfrm>
              <a:off x="548640" y="1600200"/>
              <a:ext cx="3474720" cy="182880"/>
            </a:xfrm>
            <a:prstGeom prst="rect">
              <a:avLst/>
            </a:prstGeom>
            <a:solidFill>
              <a:srgbClr val="F28C28"/>
            </a:solidFill>
            <a:ln>
              <a:noFill/>
            </a:ln>
          </p:spPr>
          <p:txBody>
            <a:bodyPr rtlCol="0" anchor="ctr"/>
            <a:lstStyle/>
            <a:p>
              <a:pPr algn="ctr"/>
              <a:endParaRPr/>
            </a:p>
          </p:txBody>
        </p:sp>
        <p:sp>
          <p:nvSpPr>
            <p:cNvPr id="11" name="Rounded Rectangle 10"/>
            <p:cNvSpPr/>
            <p:nvPr/>
          </p:nvSpPr>
          <p:spPr>
            <a:xfrm>
              <a:off x="548640" y="1325880"/>
              <a:ext cx="3474720" cy="457200"/>
            </a:xfrm>
            <a:prstGeom prst="roundRect">
              <a:avLst>
                <a:gd name="adj" fmla="val 20000"/>
              </a:avLst>
            </a:prstGeom>
            <a:solidFill>
              <a:srgbClr val="F28C28"/>
            </a:solidFill>
            <a:ln>
              <a:noFill/>
            </a:ln>
          </p:spPr>
          <p:txBody>
            <a:bodyPr wrap="square" lIns="73152" tIns="36576" rIns="73152" bIns="36576" rtlCol="0" anchor="ctr">
              <a:noAutofit/>
            </a:bodyPr>
            <a:lstStyle/>
            <a:p>
              <a:pPr algn="ctr"/>
              <a:r>
                <a:rPr lang="en-GB" sz="2000" b="1" i="0">
                  <a:solidFill>
                    <a:srgbClr val="101418"/>
                  </a:solidFill>
                  <a:latin typeface="Arial"/>
                </a:rPr>
                <a:t>Small</a:t>
              </a:r>
            </a:p>
          </p:txBody>
        </p:sp>
        <p:grpSp>
          <p:nvGrpSpPr>
            <p:cNvPr id="12" name="Small engine" descr="Side view of the small steam engine."/>
            <p:cNvGrpSpPr/>
            <p:nvPr/>
          </p:nvGrpSpPr>
          <p:grpSpPr>
            <a:xfrm>
              <a:off x="1563624" y="1828800"/>
              <a:ext cx="1408176" cy="914400"/>
              <a:chOff x="1563624" y="1828800"/>
              <a:chExt cx="1408176" cy="914400"/>
            </a:xfrm>
          </p:grpSpPr>
          <p:sp>
            <p:nvSpPr>
              <p:cNvPr id="13" name="Rectangle 12"/>
              <p:cNvSpPr/>
              <p:nvPr/>
            </p:nvSpPr>
            <p:spPr>
              <a:xfrm>
                <a:off x="1600200" y="1920240"/>
                <a:ext cx="457200" cy="713232"/>
              </a:xfrm>
              <a:prstGeom prst="rect">
                <a:avLst/>
              </a:prstGeom>
              <a:solidFill>
                <a:srgbClr val="F28C28"/>
              </a:solidFill>
              <a:ln w="9525">
                <a:solidFill>
                  <a:srgbClr val="101418"/>
                </a:solidFill>
              </a:ln>
            </p:spPr>
            <p:txBody>
              <a:bodyPr rtlCol="0" anchor="ctr"/>
              <a:lstStyle/>
              <a:p>
                <a:pPr algn="ctr"/>
                <a:endParaRPr/>
              </a:p>
            </p:txBody>
          </p:sp>
          <p:sp>
            <p:nvSpPr>
              <p:cNvPr id="14" name="Rectangle 13"/>
              <p:cNvSpPr/>
              <p:nvPr/>
            </p:nvSpPr>
            <p:spPr>
              <a:xfrm>
                <a:off x="1691640" y="2011680"/>
                <a:ext cx="237744" cy="182880"/>
              </a:xfrm>
              <a:prstGeom prst="rect">
                <a:avLst/>
              </a:prstGeom>
              <a:solidFill>
                <a:srgbClr val="2B2F36"/>
              </a:solidFill>
              <a:ln>
                <a:noFill/>
              </a:ln>
            </p:spPr>
            <p:txBody>
              <a:bodyPr rtlCol="0" anchor="ctr"/>
              <a:lstStyle/>
              <a:p>
                <a:pPr algn="ctr"/>
                <a:endParaRPr/>
              </a:p>
            </p:txBody>
          </p:sp>
          <p:sp>
            <p:nvSpPr>
              <p:cNvPr id="15" name="Rectangle 14"/>
              <p:cNvSpPr/>
              <p:nvPr/>
            </p:nvSpPr>
            <p:spPr>
              <a:xfrm>
                <a:off x="1563624" y="1865376"/>
                <a:ext cx="530352" cy="73152"/>
              </a:xfrm>
              <a:prstGeom prst="rect">
                <a:avLst/>
              </a:prstGeom>
              <a:solidFill>
                <a:srgbClr val="1B1D21"/>
              </a:solidFill>
              <a:ln>
                <a:noFill/>
              </a:ln>
            </p:spPr>
            <p:txBody>
              <a:bodyPr rtlCol="0" anchor="ctr"/>
              <a:lstStyle/>
              <a:p>
                <a:pPr algn="ctr"/>
                <a:endParaRPr/>
              </a:p>
            </p:txBody>
          </p:sp>
          <p:sp>
            <p:nvSpPr>
              <p:cNvPr id="16" name="Rounded Rectangle 15"/>
              <p:cNvSpPr/>
              <p:nvPr/>
            </p:nvSpPr>
            <p:spPr>
              <a:xfrm>
                <a:off x="2057400" y="2066544"/>
                <a:ext cx="914400" cy="420624"/>
              </a:xfrm>
              <a:prstGeom prst="roundRect">
                <a:avLst>
                  <a:gd name="adj" fmla="val 21739"/>
                </a:avLst>
              </a:prstGeom>
              <a:solidFill>
                <a:srgbClr val="F28C28"/>
              </a:solidFill>
              <a:ln w="9525">
                <a:solidFill>
                  <a:srgbClr val="101418"/>
                </a:solidFill>
              </a:ln>
            </p:spPr>
            <p:txBody>
              <a:bodyPr rtlCol="0" anchor="ctr"/>
              <a:lstStyle/>
              <a:p>
                <a:pPr algn="ctr"/>
                <a:endParaRPr/>
              </a:p>
            </p:txBody>
          </p:sp>
          <p:sp>
            <p:nvSpPr>
              <p:cNvPr id="17" name="Rectangle 16"/>
              <p:cNvSpPr/>
              <p:nvPr/>
            </p:nvSpPr>
            <p:spPr>
              <a:xfrm>
                <a:off x="2697480" y="1828800"/>
                <a:ext cx="137160" cy="256032"/>
              </a:xfrm>
              <a:prstGeom prst="rect">
                <a:avLst/>
              </a:prstGeom>
              <a:solidFill>
                <a:srgbClr val="1B1D21"/>
              </a:solidFill>
              <a:ln>
                <a:noFill/>
              </a:ln>
            </p:spPr>
            <p:txBody>
              <a:bodyPr rtlCol="0" anchor="ctr"/>
              <a:lstStyle/>
              <a:p>
                <a:pPr algn="ctr"/>
                <a:endParaRPr/>
              </a:p>
            </p:txBody>
          </p:sp>
          <p:sp>
            <p:nvSpPr>
              <p:cNvPr id="18" name="Rectangle 17"/>
              <p:cNvSpPr/>
              <p:nvPr/>
            </p:nvSpPr>
            <p:spPr>
              <a:xfrm>
                <a:off x="1600200" y="2468880"/>
                <a:ext cx="1371600" cy="64008"/>
              </a:xfrm>
              <a:prstGeom prst="rect">
                <a:avLst/>
              </a:prstGeom>
              <a:solidFill>
                <a:srgbClr val="1B1D21"/>
              </a:solidFill>
              <a:ln>
                <a:noFill/>
              </a:ln>
            </p:spPr>
            <p:txBody>
              <a:bodyPr rtlCol="0" anchor="ctr"/>
              <a:lstStyle/>
              <a:p>
                <a:pPr algn="ctr"/>
                <a:endParaRPr/>
              </a:p>
            </p:txBody>
          </p:sp>
          <p:sp>
            <p:nvSpPr>
              <p:cNvPr id="19" name="Oval 18"/>
              <p:cNvSpPr/>
              <p:nvPr/>
            </p:nvSpPr>
            <p:spPr>
              <a:xfrm>
                <a:off x="1655064" y="2487168"/>
                <a:ext cx="256032" cy="256032"/>
              </a:xfrm>
              <a:prstGeom prst="ellipse">
                <a:avLst/>
              </a:prstGeom>
              <a:solidFill>
                <a:srgbClr val="1B1D21"/>
              </a:solidFill>
              <a:ln w="15875">
                <a:solidFill>
                  <a:srgbClr val="9AA0A6"/>
                </a:solidFill>
              </a:ln>
            </p:spPr>
            <p:txBody>
              <a:bodyPr rtlCol="0" anchor="ctr"/>
              <a:lstStyle/>
              <a:p>
                <a:pPr algn="ctr"/>
                <a:endParaRPr/>
              </a:p>
            </p:txBody>
          </p:sp>
          <p:sp>
            <p:nvSpPr>
              <p:cNvPr id="20" name="Oval 19"/>
              <p:cNvSpPr/>
              <p:nvPr/>
            </p:nvSpPr>
            <p:spPr>
              <a:xfrm>
                <a:off x="2157984" y="2487168"/>
                <a:ext cx="256032" cy="256032"/>
              </a:xfrm>
              <a:prstGeom prst="ellipse">
                <a:avLst/>
              </a:prstGeom>
              <a:solidFill>
                <a:srgbClr val="1B1D21"/>
              </a:solidFill>
              <a:ln w="15875">
                <a:solidFill>
                  <a:srgbClr val="9AA0A6"/>
                </a:solidFill>
              </a:ln>
            </p:spPr>
            <p:txBody>
              <a:bodyPr rtlCol="0" anchor="ctr"/>
              <a:lstStyle/>
              <a:p>
                <a:pPr algn="ctr"/>
                <a:endParaRPr/>
              </a:p>
            </p:txBody>
          </p:sp>
          <p:sp>
            <p:nvSpPr>
              <p:cNvPr id="21" name="Oval 20"/>
              <p:cNvSpPr/>
              <p:nvPr/>
            </p:nvSpPr>
            <p:spPr>
              <a:xfrm>
                <a:off x="2660904" y="2487168"/>
                <a:ext cx="256032" cy="256032"/>
              </a:xfrm>
              <a:prstGeom prst="ellipse">
                <a:avLst/>
              </a:prstGeom>
              <a:solidFill>
                <a:srgbClr val="1B1D21"/>
              </a:solidFill>
              <a:ln w="15875">
                <a:solidFill>
                  <a:srgbClr val="9AA0A6"/>
                </a:solidFill>
              </a:ln>
            </p:spPr>
            <p:txBody>
              <a:bodyPr rtlCol="0" anchor="ctr"/>
              <a:lstStyle/>
              <a:p>
                <a:pPr algn="ctr"/>
                <a:endParaRPr/>
              </a:p>
            </p:txBody>
          </p:sp>
        </p:grpSp>
        <p:sp>
          <p:nvSpPr>
            <p:cNvPr id="22" name="TextBox 21"/>
            <p:cNvSpPr txBox="1"/>
            <p:nvPr/>
          </p:nvSpPr>
          <p:spPr>
            <a:xfrm>
              <a:off x="777240" y="28529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Haul</a:t>
              </a:r>
            </a:p>
          </p:txBody>
        </p:sp>
        <p:sp>
          <p:nvSpPr>
            <p:cNvPr id="23" name="Rounded Rectangle 22"/>
            <p:cNvSpPr/>
            <p:nvPr/>
          </p:nvSpPr>
          <p:spPr>
            <a:xfrm>
              <a:off x="777240" y="3090672"/>
              <a:ext cx="3017520" cy="146304"/>
            </a:xfrm>
            <a:prstGeom prst="roundRect">
              <a:avLst>
                <a:gd name="adj" fmla="val 25000"/>
              </a:avLst>
            </a:prstGeom>
            <a:solidFill>
              <a:srgbClr val="343A43"/>
            </a:solidFill>
            <a:ln>
              <a:noFill/>
            </a:ln>
          </p:spPr>
          <p:txBody>
            <a:bodyPr rtlCol="0" anchor="ctr"/>
            <a:lstStyle/>
            <a:p>
              <a:pPr algn="ctr"/>
              <a:endParaRPr/>
            </a:p>
          </p:txBody>
        </p:sp>
        <p:sp>
          <p:nvSpPr>
            <p:cNvPr id="24" name="Rounded Rectangle 23"/>
            <p:cNvSpPr/>
            <p:nvPr/>
          </p:nvSpPr>
          <p:spPr>
            <a:xfrm>
              <a:off x="777240" y="3090672"/>
              <a:ext cx="754380" cy="146304"/>
            </a:xfrm>
            <a:prstGeom prst="roundRect">
              <a:avLst>
                <a:gd name="adj" fmla="val 25000"/>
              </a:avLst>
            </a:prstGeom>
            <a:solidFill>
              <a:srgbClr val="F28C28"/>
            </a:solidFill>
            <a:ln>
              <a:noFill/>
            </a:ln>
          </p:spPr>
          <p:txBody>
            <a:bodyPr rtlCol="0" anchor="ctr"/>
            <a:lstStyle/>
            <a:p>
              <a:pPr algn="ctr"/>
              <a:endParaRPr/>
            </a:p>
          </p:txBody>
        </p:sp>
        <p:sp>
          <p:nvSpPr>
            <p:cNvPr id="25" name="TextBox 24"/>
            <p:cNvSpPr txBox="1"/>
            <p:nvPr/>
          </p:nvSpPr>
          <p:spPr>
            <a:xfrm>
              <a:off x="777240" y="33101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Speed</a:t>
              </a:r>
            </a:p>
          </p:txBody>
        </p:sp>
        <p:sp>
          <p:nvSpPr>
            <p:cNvPr id="26" name="Rounded Rectangle 25"/>
            <p:cNvSpPr/>
            <p:nvPr/>
          </p:nvSpPr>
          <p:spPr>
            <a:xfrm>
              <a:off x="777240" y="3547872"/>
              <a:ext cx="3017520" cy="146304"/>
            </a:xfrm>
            <a:prstGeom prst="roundRect">
              <a:avLst>
                <a:gd name="adj" fmla="val 25000"/>
              </a:avLst>
            </a:prstGeom>
            <a:solidFill>
              <a:srgbClr val="343A43"/>
            </a:solidFill>
            <a:ln>
              <a:noFill/>
            </a:ln>
          </p:spPr>
          <p:txBody>
            <a:bodyPr rtlCol="0" anchor="ctr"/>
            <a:lstStyle/>
            <a:p>
              <a:pPr algn="ctr"/>
              <a:endParaRPr/>
            </a:p>
          </p:txBody>
        </p:sp>
        <p:sp>
          <p:nvSpPr>
            <p:cNvPr id="27" name="Rounded Rectangle 26"/>
            <p:cNvSpPr/>
            <p:nvPr/>
          </p:nvSpPr>
          <p:spPr>
            <a:xfrm>
              <a:off x="777240" y="3547872"/>
              <a:ext cx="1056132" cy="146304"/>
            </a:xfrm>
            <a:prstGeom prst="roundRect">
              <a:avLst>
                <a:gd name="adj" fmla="val 25000"/>
              </a:avLst>
            </a:prstGeom>
            <a:solidFill>
              <a:srgbClr val="F28C28"/>
            </a:solidFill>
            <a:ln>
              <a:noFill/>
            </a:ln>
          </p:spPr>
          <p:txBody>
            <a:bodyPr rtlCol="0" anchor="ctr"/>
            <a:lstStyle/>
            <a:p>
              <a:pPr algn="ctr"/>
              <a:endParaRPr/>
            </a:p>
          </p:txBody>
        </p:sp>
        <p:sp>
          <p:nvSpPr>
            <p:cNvPr id="28" name="TextBox 27"/>
            <p:cNvSpPr txBox="1"/>
            <p:nvPr/>
          </p:nvSpPr>
          <p:spPr>
            <a:xfrm>
              <a:off x="777240" y="37673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Range</a:t>
              </a:r>
            </a:p>
          </p:txBody>
        </p:sp>
        <p:sp>
          <p:nvSpPr>
            <p:cNvPr id="29" name="Rounded Rectangle 28"/>
            <p:cNvSpPr/>
            <p:nvPr/>
          </p:nvSpPr>
          <p:spPr>
            <a:xfrm>
              <a:off x="777240" y="4005072"/>
              <a:ext cx="3017520" cy="146304"/>
            </a:xfrm>
            <a:prstGeom prst="roundRect">
              <a:avLst>
                <a:gd name="adj" fmla="val 25000"/>
              </a:avLst>
            </a:prstGeom>
            <a:solidFill>
              <a:srgbClr val="343A43"/>
            </a:solidFill>
            <a:ln>
              <a:noFill/>
            </a:ln>
          </p:spPr>
          <p:txBody>
            <a:bodyPr rtlCol="0" anchor="ctr"/>
            <a:lstStyle/>
            <a:p>
              <a:pPr algn="ctr"/>
              <a:endParaRPr/>
            </a:p>
          </p:txBody>
        </p:sp>
        <p:sp>
          <p:nvSpPr>
            <p:cNvPr id="30" name="Rounded Rectangle 29"/>
            <p:cNvSpPr/>
            <p:nvPr/>
          </p:nvSpPr>
          <p:spPr>
            <a:xfrm>
              <a:off x="777240" y="4005072"/>
              <a:ext cx="754380" cy="146304"/>
            </a:xfrm>
            <a:prstGeom prst="roundRect">
              <a:avLst>
                <a:gd name="adj" fmla="val 25000"/>
              </a:avLst>
            </a:prstGeom>
            <a:solidFill>
              <a:srgbClr val="F28C28"/>
            </a:solidFill>
            <a:ln>
              <a:noFill/>
            </a:ln>
          </p:spPr>
          <p:txBody>
            <a:bodyPr rtlCol="0" anchor="ctr"/>
            <a:lstStyle/>
            <a:p>
              <a:pPr algn="ctr"/>
              <a:endParaRPr/>
            </a:p>
          </p:txBody>
        </p:sp>
        <p:sp>
          <p:nvSpPr>
            <p:cNvPr id="31" name="TextBox 30"/>
            <p:cNvSpPr txBox="1"/>
            <p:nvPr/>
          </p:nvSpPr>
          <p:spPr>
            <a:xfrm>
              <a:off x="777240" y="42245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Servicing needs</a:t>
              </a:r>
            </a:p>
          </p:txBody>
        </p:sp>
        <p:sp>
          <p:nvSpPr>
            <p:cNvPr id="32" name="Rounded Rectangle 31"/>
            <p:cNvSpPr/>
            <p:nvPr/>
          </p:nvSpPr>
          <p:spPr>
            <a:xfrm>
              <a:off x="777240" y="4462272"/>
              <a:ext cx="3017520" cy="146304"/>
            </a:xfrm>
            <a:prstGeom prst="roundRect">
              <a:avLst>
                <a:gd name="adj" fmla="val 25000"/>
              </a:avLst>
            </a:prstGeom>
            <a:solidFill>
              <a:srgbClr val="343A43"/>
            </a:solidFill>
            <a:ln>
              <a:noFill/>
            </a:ln>
          </p:spPr>
          <p:txBody>
            <a:bodyPr rtlCol="0" anchor="ctr"/>
            <a:lstStyle/>
            <a:p>
              <a:pPr algn="ctr"/>
              <a:endParaRPr/>
            </a:p>
          </p:txBody>
        </p:sp>
        <p:sp>
          <p:nvSpPr>
            <p:cNvPr id="33" name="Rounded Rectangle 32"/>
            <p:cNvSpPr/>
            <p:nvPr/>
          </p:nvSpPr>
          <p:spPr>
            <a:xfrm>
              <a:off x="777240" y="4462272"/>
              <a:ext cx="754380" cy="146304"/>
            </a:xfrm>
            <a:prstGeom prst="roundRect">
              <a:avLst>
                <a:gd name="adj" fmla="val 25000"/>
              </a:avLst>
            </a:prstGeom>
            <a:solidFill>
              <a:srgbClr val="F28C28"/>
            </a:solidFill>
            <a:ln>
              <a:noFill/>
            </a:ln>
          </p:spPr>
          <p:txBody>
            <a:bodyPr rtlCol="0" anchor="ctr"/>
            <a:lstStyle/>
            <a:p>
              <a:pPr algn="ctr"/>
              <a:endParaRPr/>
            </a:p>
          </p:txBody>
        </p:sp>
        <p:sp>
          <p:nvSpPr>
            <p:cNvPr id="34" name="TextBox 33"/>
            <p:cNvSpPr txBox="1"/>
            <p:nvPr/>
          </p:nvSpPr>
          <p:spPr>
            <a:xfrm>
              <a:off x="777240" y="4709160"/>
              <a:ext cx="3017520" cy="384048"/>
            </a:xfrm>
            <a:prstGeom prst="rect">
              <a:avLst/>
            </a:prstGeom>
            <a:noFill/>
          </p:spPr>
          <p:txBody>
            <a:bodyPr wrap="square" lIns="0" tIns="0" rIns="0" bIns="0" anchor="ctr">
              <a:noAutofit/>
            </a:bodyPr>
            <a:lstStyle/>
            <a:p>
              <a:pPr algn="l"/>
              <a:r>
                <a:rPr lang="en-GB" sz="1800" b="1" i="0">
                  <a:solidFill>
                    <a:srgbClr val="F2F2F2"/>
                  </a:solidFill>
                  <a:latin typeface="Arial"/>
                </a:rPr>
                <a:t>Local branches</a:t>
              </a:r>
            </a:p>
          </p:txBody>
        </p:sp>
      </p:grpSp>
      <p:grpSp>
        <p:nvGrpSpPr>
          <p:cNvPr id="35" name="Medium card" descr="Medium locomotive card. Qualitative bars: haul medium, speed high, range high, servicing needs medium. Best for: fast mixed freight."/>
          <p:cNvGrpSpPr/>
          <p:nvPr/>
        </p:nvGrpSpPr>
        <p:grpSpPr>
          <a:xfrm>
            <a:off x="4343400" y="1325880"/>
            <a:ext cx="3474720" cy="3886200"/>
            <a:chOff x="4343400" y="1325880"/>
            <a:chExt cx="3474720" cy="3886200"/>
          </a:xfrm>
        </p:grpSpPr>
        <p:sp>
          <p:nvSpPr>
            <p:cNvPr id="36" name="Rounded Rectangle 35"/>
            <p:cNvSpPr/>
            <p:nvPr/>
          </p:nvSpPr>
          <p:spPr>
            <a:xfrm>
              <a:off x="4343400" y="1325880"/>
              <a:ext cx="3474720" cy="3886200"/>
            </a:xfrm>
            <a:prstGeom prst="roundRect">
              <a:avLst>
                <a:gd name="adj" fmla="val 2631"/>
              </a:avLst>
            </a:prstGeom>
            <a:solidFill>
              <a:srgbClr val="2B2F36"/>
            </a:solidFill>
            <a:ln>
              <a:noFill/>
            </a:ln>
          </p:spPr>
          <p:txBody>
            <a:bodyPr rtlCol="0" anchor="ctr"/>
            <a:lstStyle/>
            <a:p>
              <a:pPr algn="ctr"/>
              <a:endParaRPr/>
            </a:p>
          </p:txBody>
        </p:sp>
        <p:sp>
          <p:nvSpPr>
            <p:cNvPr id="37" name="Rectangle 36"/>
            <p:cNvSpPr/>
            <p:nvPr/>
          </p:nvSpPr>
          <p:spPr>
            <a:xfrm>
              <a:off x="4343400" y="1600200"/>
              <a:ext cx="3474720" cy="182880"/>
            </a:xfrm>
            <a:prstGeom prst="rect">
              <a:avLst/>
            </a:prstGeom>
            <a:solidFill>
              <a:srgbClr val="F28C28"/>
            </a:solidFill>
            <a:ln>
              <a:noFill/>
            </a:ln>
          </p:spPr>
          <p:txBody>
            <a:bodyPr rtlCol="0" anchor="ctr"/>
            <a:lstStyle/>
            <a:p>
              <a:pPr algn="ctr"/>
              <a:endParaRPr/>
            </a:p>
          </p:txBody>
        </p:sp>
        <p:sp>
          <p:nvSpPr>
            <p:cNvPr id="38" name="Rounded Rectangle 37"/>
            <p:cNvSpPr/>
            <p:nvPr/>
          </p:nvSpPr>
          <p:spPr>
            <a:xfrm>
              <a:off x="4343400" y="1325880"/>
              <a:ext cx="3474720" cy="457200"/>
            </a:xfrm>
            <a:prstGeom prst="roundRect">
              <a:avLst>
                <a:gd name="adj" fmla="val 20000"/>
              </a:avLst>
            </a:prstGeom>
            <a:solidFill>
              <a:srgbClr val="F28C28"/>
            </a:solidFill>
            <a:ln>
              <a:noFill/>
            </a:ln>
          </p:spPr>
          <p:txBody>
            <a:bodyPr wrap="square" lIns="73152" tIns="36576" rIns="73152" bIns="36576" rtlCol="0" anchor="ctr">
              <a:noAutofit/>
            </a:bodyPr>
            <a:lstStyle/>
            <a:p>
              <a:pPr algn="ctr"/>
              <a:r>
                <a:rPr lang="en-GB" sz="2000" b="1" i="0">
                  <a:solidFill>
                    <a:srgbClr val="101418"/>
                  </a:solidFill>
                  <a:latin typeface="Arial"/>
                </a:rPr>
                <a:t>Medium</a:t>
              </a:r>
            </a:p>
          </p:txBody>
        </p:sp>
        <p:grpSp>
          <p:nvGrpSpPr>
            <p:cNvPr id="39" name="Medium engine" descr="Side view of the medium steam engine with its tender."/>
            <p:cNvGrpSpPr/>
            <p:nvPr/>
          </p:nvGrpSpPr>
          <p:grpSpPr>
            <a:xfrm>
              <a:off x="4837176" y="1828800"/>
              <a:ext cx="2487168" cy="914400"/>
              <a:chOff x="4837176" y="1828800"/>
              <a:chExt cx="2487168" cy="914400"/>
            </a:xfrm>
          </p:grpSpPr>
          <p:sp>
            <p:nvSpPr>
              <p:cNvPr id="40" name="Rectangle 39"/>
              <p:cNvSpPr/>
              <p:nvPr/>
            </p:nvSpPr>
            <p:spPr>
              <a:xfrm>
                <a:off x="4837176" y="2176272"/>
                <a:ext cx="685800" cy="457200"/>
              </a:xfrm>
              <a:prstGeom prst="rect">
                <a:avLst/>
              </a:prstGeom>
              <a:solidFill>
                <a:srgbClr val="F28C28"/>
              </a:solidFill>
              <a:ln w="9525">
                <a:solidFill>
                  <a:srgbClr val="101418"/>
                </a:solidFill>
              </a:ln>
            </p:spPr>
            <p:txBody>
              <a:bodyPr rtlCol="0" anchor="ctr"/>
              <a:lstStyle/>
              <a:p>
                <a:pPr algn="ctr"/>
                <a:endParaRPr/>
              </a:p>
            </p:txBody>
          </p:sp>
          <p:sp>
            <p:nvSpPr>
              <p:cNvPr id="41" name="Rectangle 40"/>
              <p:cNvSpPr/>
              <p:nvPr/>
            </p:nvSpPr>
            <p:spPr>
              <a:xfrm>
                <a:off x="4882896" y="2103120"/>
                <a:ext cx="594360" cy="91440"/>
              </a:xfrm>
              <a:prstGeom prst="rect">
                <a:avLst/>
              </a:prstGeom>
              <a:solidFill>
                <a:srgbClr val="1B1D21"/>
              </a:solidFill>
              <a:ln>
                <a:noFill/>
              </a:ln>
            </p:spPr>
            <p:txBody>
              <a:bodyPr rtlCol="0" anchor="ctr"/>
              <a:lstStyle/>
              <a:p>
                <a:pPr algn="ctr"/>
                <a:endParaRPr/>
              </a:p>
            </p:txBody>
          </p:sp>
          <p:sp>
            <p:nvSpPr>
              <p:cNvPr id="42" name="Oval 41"/>
              <p:cNvSpPr/>
              <p:nvPr/>
            </p:nvSpPr>
            <p:spPr>
              <a:xfrm>
                <a:off x="4898898" y="2523744"/>
                <a:ext cx="219456" cy="219456"/>
              </a:xfrm>
              <a:prstGeom prst="ellipse">
                <a:avLst/>
              </a:prstGeom>
              <a:solidFill>
                <a:srgbClr val="1B1D21"/>
              </a:solidFill>
              <a:ln w="12700">
                <a:solidFill>
                  <a:srgbClr val="9AA0A6"/>
                </a:solidFill>
              </a:ln>
            </p:spPr>
            <p:txBody>
              <a:bodyPr rtlCol="0" anchor="ctr"/>
              <a:lstStyle/>
              <a:p>
                <a:pPr algn="ctr"/>
                <a:endParaRPr/>
              </a:p>
            </p:txBody>
          </p:sp>
          <p:sp>
            <p:nvSpPr>
              <p:cNvPr id="43" name="Oval 42"/>
              <p:cNvSpPr/>
              <p:nvPr/>
            </p:nvSpPr>
            <p:spPr>
              <a:xfrm>
                <a:off x="5241798" y="2523744"/>
                <a:ext cx="219456" cy="219456"/>
              </a:xfrm>
              <a:prstGeom prst="ellipse">
                <a:avLst/>
              </a:prstGeom>
              <a:solidFill>
                <a:srgbClr val="1B1D21"/>
              </a:solidFill>
              <a:ln w="12700">
                <a:solidFill>
                  <a:srgbClr val="9AA0A6"/>
                </a:solidFill>
              </a:ln>
            </p:spPr>
            <p:txBody>
              <a:bodyPr rtlCol="0" anchor="ctr"/>
              <a:lstStyle/>
              <a:p>
                <a:pPr algn="ctr"/>
                <a:endParaRPr/>
              </a:p>
            </p:txBody>
          </p:sp>
          <p:sp>
            <p:nvSpPr>
              <p:cNvPr id="44" name="Rectangle 43"/>
              <p:cNvSpPr/>
              <p:nvPr/>
            </p:nvSpPr>
            <p:spPr>
              <a:xfrm>
                <a:off x="5586984" y="1920240"/>
                <a:ext cx="457200" cy="713232"/>
              </a:xfrm>
              <a:prstGeom prst="rect">
                <a:avLst/>
              </a:prstGeom>
              <a:solidFill>
                <a:srgbClr val="F28C28"/>
              </a:solidFill>
              <a:ln w="9525">
                <a:solidFill>
                  <a:srgbClr val="101418"/>
                </a:solidFill>
              </a:ln>
            </p:spPr>
            <p:txBody>
              <a:bodyPr rtlCol="0" anchor="ctr"/>
              <a:lstStyle/>
              <a:p>
                <a:pPr algn="ctr"/>
                <a:endParaRPr/>
              </a:p>
            </p:txBody>
          </p:sp>
          <p:sp>
            <p:nvSpPr>
              <p:cNvPr id="45" name="Rectangle 44"/>
              <p:cNvSpPr/>
              <p:nvPr/>
            </p:nvSpPr>
            <p:spPr>
              <a:xfrm>
                <a:off x="5678424" y="2011680"/>
                <a:ext cx="237744" cy="182880"/>
              </a:xfrm>
              <a:prstGeom prst="rect">
                <a:avLst/>
              </a:prstGeom>
              <a:solidFill>
                <a:srgbClr val="2B2F36"/>
              </a:solidFill>
              <a:ln>
                <a:noFill/>
              </a:ln>
            </p:spPr>
            <p:txBody>
              <a:bodyPr rtlCol="0" anchor="ctr"/>
              <a:lstStyle/>
              <a:p>
                <a:pPr algn="ctr"/>
                <a:endParaRPr/>
              </a:p>
            </p:txBody>
          </p:sp>
          <p:sp>
            <p:nvSpPr>
              <p:cNvPr id="46" name="Rectangle 45"/>
              <p:cNvSpPr/>
              <p:nvPr/>
            </p:nvSpPr>
            <p:spPr>
              <a:xfrm>
                <a:off x="5550408" y="1865376"/>
                <a:ext cx="530352" cy="73152"/>
              </a:xfrm>
              <a:prstGeom prst="rect">
                <a:avLst/>
              </a:prstGeom>
              <a:solidFill>
                <a:srgbClr val="1B1D21"/>
              </a:solidFill>
              <a:ln>
                <a:noFill/>
              </a:ln>
            </p:spPr>
            <p:txBody>
              <a:bodyPr rtlCol="0" anchor="ctr"/>
              <a:lstStyle/>
              <a:p>
                <a:pPr algn="ctr"/>
                <a:endParaRPr/>
              </a:p>
            </p:txBody>
          </p:sp>
          <p:sp>
            <p:nvSpPr>
              <p:cNvPr id="47" name="Rounded Rectangle 46"/>
              <p:cNvSpPr/>
              <p:nvPr/>
            </p:nvSpPr>
            <p:spPr>
              <a:xfrm>
                <a:off x="6044184" y="2066544"/>
                <a:ext cx="1280160" cy="420624"/>
              </a:xfrm>
              <a:prstGeom prst="roundRect">
                <a:avLst>
                  <a:gd name="adj" fmla="val 21739"/>
                </a:avLst>
              </a:prstGeom>
              <a:solidFill>
                <a:srgbClr val="F28C28"/>
              </a:solidFill>
              <a:ln w="9525">
                <a:solidFill>
                  <a:srgbClr val="101418"/>
                </a:solidFill>
              </a:ln>
            </p:spPr>
            <p:txBody>
              <a:bodyPr rtlCol="0" anchor="ctr"/>
              <a:lstStyle/>
              <a:p>
                <a:pPr algn="ctr"/>
                <a:endParaRPr/>
              </a:p>
            </p:txBody>
          </p:sp>
          <p:sp>
            <p:nvSpPr>
              <p:cNvPr id="48" name="Rectangle 47"/>
              <p:cNvSpPr/>
              <p:nvPr/>
            </p:nvSpPr>
            <p:spPr>
              <a:xfrm>
                <a:off x="7050024" y="1828800"/>
                <a:ext cx="137160" cy="256032"/>
              </a:xfrm>
              <a:prstGeom prst="rect">
                <a:avLst/>
              </a:prstGeom>
              <a:solidFill>
                <a:srgbClr val="1B1D21"/>
              </a:solidFill>
              <a:ln>
                <a:noFill/>
              </a:ln>
            </p:spPr>
            <p:txBody>
              <a:bodyPr rtlCol="0" anchor="ctr"/>
              <a:lstStyle/>
              <a:p>
                <a:pPr algn="ctr"/>
                <a:endParaRPr/>
              </a:p>
            </p:txBody>
          </p:sp>
          <p:sp>
            <p:nvSpPr>
              <p:cNvPr id="49" name="Rectangle 48"/>
              <p:cNvSpPr/>
              <p:nvPr/>
            </p:nvSpPr>
            <p:spPr>
              <a:xfrm>
                <a:off x="5586984" y="2468880"/>
                <a:ext cx="1737360" cy="64008"/>
              </a:xfrm>
              <a:prstGeom prst="rect">
                <a:avLst/>
              </a:prstGeom>
              <a:solidFill>
                <a:srgbClr val="1B1D21"/>
              </a:solidFill>
              <a:ln>
                <a:noFill/>
              </a:ln>
            </p:spPr>
            <p:txBody>
              <a:bodyPr rtlCol="0" anchor="ctr"/>
              <a:lstStyle/>
              <a:p>
                <a:pPr algn="ctr"/>
                <a:endParaRPr/>
              </a:p>
            </p:txBody>
          </p:sp>
          <p:sp>
            <p:nvSpPr>
              <p:cNvPr id="50" name="Oval 49"/>
              <p:cNvSpPr/>
              <p:nvPr/>
            </p:nvSpPr>
            <p:spPr>
              <a:xfrm>
                <a:off x="5641848" y="2487168"/>
                <a:ext cx="256032" cy="256032"/>
              </a:xfrm>
              <a:prstGeom prst="ellipse">
                <a:avLst/>
              </a:prstGeom>
              <a:solidFill>
                <a:srgbClr val="1B1D21"/>
              </a:solidFill>
              <a:ln w="15875">
                <a:solidFill>
                  <a:srgbClr val="9AA0A6"/>
                </a:solidFill>
              </a:ln>
            </p:spPr>
            <p:txBody>
              <a:bodyPr rtlCol="0" anchor="ctr"/>
              <a:lstStyle/>
              <a:p>
                <a:pPr algn="ctr"/>
                <a:endParaRPr/>
              </a:p>
            </p:txBody>
          </p:sp>
          <p:sp>
            <p:nvSpPr>
              <p:cNvPr id="51" name="Oval 50"/>
              <p:cNvSpPr/>
              <p:nvPr/>
            </p:nvSpPr>
            <p:spPr>
              <a:xfrm>
                <a:off x="6099048" y="2487168"/>
                <a:ext cx="256032" cy="256032"/>
              </a:xfrm>
              <a:prstGeom prst="ellipse">
                <a:avLst/>
              </a:prstGeom>
              <a:solidFill>
                <a:srgbClr val="1B1D21"/>
              </a:solidFill>
              <a:ln w="15875">
                <a:solidFill>
                  <a:srgbClr val="9AA0A6"/>
                </a:solidFill>
              </a:ln>
            </p:spPr>
            <p:txBody>
              <a:bodyPr rtlCol="0" anchor="ctr"/>
              <a:lstStyle/>
              <a:p>
                <a:pPr algn="ctr"/>
                <a:endParaRPr/>
              </a:p>
            </p:txBody>
          </p:sp>
          <p:sp>
            <p:nvSpPr>
              <p:cNvPr id="52" name="Oval 51"/>
              <p:cNvSpPr/>
              <p:nvPr/>
            </p:nvSpPr>
            <p:spPr>
              <a:xfrm>
                <a:off x="6556248" y="2487168"/>
                <a:ext cx="256032" cy="256032"/>
              </a:xfrm>
              <a:prstGeom prst="ellipse">
                <a:avLst/>
              </a:prstGeom>
              <a:solidFill>
                <a:srgbClr val="1B1D21"/>
              </a:solidFill>
              <a:ln w="15875">
                <a:solidFill>
                  <a:srgbClr val="9AA0A6"/>
                </a:solidFill>
              </a:ln>
            </p:spPr>
            <p:txBody>
              <a:bodyPr rtlCol="0" anchor="ctr"/>
              <a:lstStyle/>
              <a:p>
                <a:pPr algn="ctr"/>
                <a:endParaRPr/>
              </a:p>
            </p:txBody>
          </p:sp>
          <p:sp>
            <p:nvSpPr>
              <p:cNvPr id="53" name="Oval 52"/>
              <p:cNvSpPr/>
              <p:nvPr/>
            </p:nvSpPr>
            <p:spPr>
              <a:xfrm>
                <a:off x="7013448" y="2487168"/>
                <a:ext cx="256032" cy="256032"/>
              </a:xfrm>
              <a:prstGeom prst="ellipse">
                <a:avLst/>
              </a:prstGeom>
              <a:solidFill>
                <a:srgbClr val="1B1D21"/>
              </a:solidFill>
              <a:ln w="15875">
                <a:solidFill>
                  <a:srgbClr val="9AA0A6"/>
                </a:solidFill>
              </a:ln>
            </p:spPr>
            <p:txBody>
              <a:bodyPr rtlCol="0" anchor="ctr"/>
              <a:lstStyle/>
              <a:p>
                <a:pPr algn="ctr"/>
                <a:endParaRPr/>
              </a:p>
            </p:txBody>
          </p:sp>
        </p:grpSp>
        <p:sp>
          <p:nvSpPr>
            <p:cNvPr id="54" name="TextBox 53"/>
            <p:cNvSpPr txBox="1"/>
            <p:nvPr/>
          </p:nvSpPr>
          <p:spPr>
            <a:xfrm>
              <a:off x="4572000" y="28529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Haul</a:t>
              </a:r>
            </a:p>
          </p:txBody>
        </p:sp>
        <p:sp>
          <p:nvSpPr>
            <p:cNvPr id="55" name="Rounded Rectangle 54"/>
            <p:cNvSpPr/>
            <p:nvPr/>
          </p:nvSpPr>
          <p:spPr>
            <a:xfrm>
              <a:off x="4572000" y="3090672"/>
              <a:ext cx="3017520" cy="146304"/>
            </a:xfrm>
            <a:prstGeom prst="roundRect">
              <a:avLst>
                <a:gd name="adj" fmla="val 25000"/>
              </a:avLst>
            </a:prstGeom>
            <a:solidFill>
              <a:srgbClr val="343A43"/>
            </a:solidFill>
            <a:ln>
              <a:noFill/>
            </a:ln>
          </p:spPr>
          <p:txBody>
            <a:bodyPr rtlCol="0" anchor="ctr"/>
            <a:lstStyle/>
            <a:p>
              <a:pPr algn="ctr"/>
              <a:endParaRPr/>
            </a:p>
          </p:txBody>
        </p:sp>
        <p:sp>
          <p:nvSpPr>
            <p:cNvPr id="56" name="Rounded Rectangle 55"/>
            <p:cNvSpPr/>
            <p:nvPr/>
          </p:nvSpPr>
          <p:spPr>
            <a:xfrm>
              <a:off x="4572000" y="3090672"/>
              <a:ext cx="1659636" cy="146304"/>
            </a:xfrm>
            <a:prstGeom prst="roundRect">
              <a:avLst>
                <a:gd name="adj" fmla="val 25000"/>
              </a:avLst>
            </a:prstGeom>
            <a:solidFill>
              <a:srgbClr val="F28C28"/>
            </a:solidFill>
            <a:ln>
              <a:noFill/>
            </a:ln>
          </p:spPr>
          <p:txBody>
            <a:bodyPr rtlCol="0" anchor="ctr"/>
            <a:lstStyle/>
            <a:p>
              <a:pPr algn="ctr"/>
              <a:endParaRPr/>
            </a:p>
          </p:txBody>
        </p:sp>
        <p:sp>
          <p:nvSpPr>
            <p:cNvPr id="57" name="TextBox 56"/>
            <p:cNvSpPr txBox="1"/>
            <p:nvPr/>
          </p:nvSpPr>
          <p:spPr>
            <a:xfrm>
              <a:off x="4572000" y="33101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Speed</a:t>
              </a:r>
            </a:p>
          </p:txBody>
        </p:sp>
        <p:sp>
          <p:nvSpPr>
            <p:cNvPr id="58" name="Rounded Rectangle 57"/>
            <p:cNvSpPr/>
            <p:nvPr/>
          </p:nvSpPr>
          <p:spPr>
            <a:xfrm>
              <a:off x="4572000" y="3547872"/>
              <a:ext cx="3017520" cy="146304"/>
            </a:xfrm>
            <a:prstGeom prst="roundRect">
              <a:avLst>
                <a:gd name="adj" fmla="val 25000"/>
              </a:avLst>
            </a:prstGeom>
            <a:solidFill>
              <a:srgbClr val="343A43"/>
            </a:solidFill>
            <a:ln>
              <a:noFill/>
            </a:ln>
          </p:spPr>
          <p:txBody>
            <a:bodyPr rtlCol="0" anchor="ctr"/>
            <a:lstStyle/>
            <a:p>
              <a:pPr algn="ctr"/>
              <a:endParaRPr/>
            </a:p>
          </p:txBody>
        </p:sp>
        <p:sp>
          <p:nvSpPr>
            <p:cNvPr id="59" name="Rounded Rectangle 58"/>
            <p:cNvSpPr/>
            <p:nvPr/>
          </p:nvSpPr>
          <p:spPr>
            <a:xfrm>
              <a:off x="4572000" y="3547872"/>
              <a:ext cx="2414016" cy="146304"/>
            </a:xfrm>
            <a:prstGeom prst="roundRect">
              <a:avLst>
                <a:gd name="adj" fmla="val 25000"/>
              </a:avLst>
            </a:prstGeom>
            <a:pattFill prst="wdUpDiag">
              <a:fgClr>
                <a:srgbClr val="F28C28"/>
              </a:fgClr>
              <a:bgClr>
                <a:srgbClr val="343A43"/>
              </a:bgClr>
            </a:pattFill>
            <a:ln w="12700">
              <a:solidFill>
                <a:srgbClr val="F28C28"/>
              </a:solidFill>
            </a:ln>
          </p:spPr>
          <p:txBody>
            <a:bodyPr rtlCol="0" anchor="ctr"/>
            <a:lstStyle/>
            <a:p>
              <a:pPr algn="ctr"/>
              <a:endParaRPr/>
            </a:p>
          </p:txBody>
        </p:sp>
        <p:sp>
          <p:nvSpPr>
            <p:cNvPr id="60" name="Inline chip Undecided"/>
            <p:cNvSpPr/>
            <p:nvPr/>
          </p:nvSpPr>
          <p:spPr>
            <a:xfrm>
              <a:off x="5214134" y="3282696"/>
              <a:ext cx="2375386" cy="23774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FASTEST? UNDECIDED</a:t>
              </a:r>
            </a:p>
          </p:txBody>
        </p:sp>
        <p:sp>
          <p:nvSpPr>
            <p:cNvPr id="61" name="TextBox 60"/>
            <p:cNvSpPr txBox="1"/>
            <p:nvPr/>
          </p:nvSpPr>
          <p:spPr>
            <a:xfrm>
              <a:off x="4572000" y="37673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Range</a:t>
              </a:r>
            </a:p>
          </p:txBody>
        </p:sp>
        <p:sp>
          <p:nvSpPr>
            <p:cNvPr id="62" name="Rounded Rectangle 61"/>
            <p:cNvSpPr/>
            <p:nvPr/>
          </p:nvSpPr>
          <p:spPr>
            <a:xfrm>
              <a:off x="4572000" y="4005072"/>
              <a:ext cx="3017520" cy="146304"/>
            </a:xfrm>
            <a:prstGeom prst="roundRect">
              <a:avLst>
                <a:gd name="adj" fmla="val 25000"/>
              </a:avLst>
            </a:prstGeom>
            <a:solidFill>
              <a:srgbClr val="343A43"/>
            </a:solidFill>
            <a:ln>
              <a:noFill/>
            </a:ln>
          </p:spPr>
          <p:txBody>
            <a:bodyPr rtlCol="0" anchor="ctr"/>
            <a:lstStyle/>
            <a:p>
              <a:pPr algn="ctr"/>
              <a:endParaRPr/>
            </a:p>
          </p:txBody>
        </p:sp>
        <p:sp>
          <p:nvSpPr>
            <p:cNvPr id="63" name="Rounded Rectangle 62"/>
            <p:cNvSpPr/>
            <p:nvPr/>
          </p:nvSpPr>
          <p:spPr>
            <a:xfrm>
              <a:off x="4572000" y="4005072"/>
              <a:ext cx="2112264" cy="146304"/>
            </a:xfrm>
            <a:prstGeom prst="roundRect">
              <a:avLst>
                <a:gd name="adj" fmla="val 25000"/>
              </a:avLst>
            </a:prstGeom>
            <a:solidFill>
              <a:srgbClr val="F28C28"/>
            </a:solidFill>
            <a:ln>
              <a:noFill/>
            </a:ln>
          </p:spPr>
          <p:txBody>
            <a:bodyPr rtlCol="0" anchor="ctr"/>
            <a:lstStyle/>
            <a:p>
              <a:pPr algn="ctr"/>
              <a:endParaRPr/>
            </a:p>
          </p:txBody>
        </p:sp>
        <p:sp>
          <p:nvSpPr>
            <p:cNvPr id="64" name="TextBox 63"/>
            <p:cNvSpPr txBox="1"/>
            <p:nvPr/>
          </p:nvSpPr>
          <p:spPr>
            <a:xfrm>
              <a:off x="4572000" y="42245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Servicing needs</a:t>
              </a:r>
            </a:p>
          </p:txBody>
        </p:sp>
        <p:sp>
          <p:nvSpPr>
            <p:cNvPr id="65" name="Rounded Rectangle 64"/>
            <p:cNvSpPr/>
            <p:nvPr/>
          </p:nvSpPr>
          <p:spPr>
            <a:xfrm>
              <a:off x="4572000" y="4462272"/>
              <a:ext cx="3017520" cy="146304"/>
            </a:xfrm>
            <a:prstGeom prst="roundRect">
              <a:avLst>
                <a:gd name="adj" fmla="val 25000"/>
              </a:avLst>
            </a:prstGeom>
            <a:solidFill>
              <a:srgbClr val="343A43"/>
            </a:solidFill>
            <a:ln>
              <a:noFill/>
            </a:ln>
          </p:spPr>
          <p:txBody>
            <a:bodyPr rtlCol="0" anchor="ctr"/>
            <a:lstStyle/>
            <a:p>
              <a:pPr algn="ctr"/>
              <a:endParaRPr/>
            </a:p>
          </p:txBody>
        </p:sp>
        <p:sp>
          <p:nvSpPr>
            <p:cNvPr id="66" name="Rounded Rectangle 65"/>
            <p:cNvSpPr/>
            <p:nvPr/>
          </p:nvSpPr>
          <p:spPr>
            <a:xfrm>
              <a:off x="4572000" y="4462272"/>
              <a:ext cx="1961388" cy="146304"/>
            </a:xfrm>
            <a:prstGeom prst="roundRect">
              <a:avLst>
                <a:gd name="adj" fmla="val 25000"/>
              </a:avLst>
            </a:prstGeom>
            <a:solidFill>
              <a:srgbClr val="F28C28"/>
            </a:solidFill>
            <a:ln>
              <a:noFill/>
            </a:ln>
          </p:spPr>
          <p:txBody>
            <a:bodyPr rtlCol="0" anchor="ctr"/>
            <a:lstStyle/>
            <a:p>
              <a:pPr algn="ctr"/>
              <a:endParaRPr/>
            </a:p>
          </p:txBody>
        </p:sp>
        <p:sp>
          <p:nvSpPr>
            <p:cNvPr id="67" name="TextBox 66"/>
            <p:cNvSpPr txBox="1"/>
            <p:nvPr/>
          </p:nvSpPr>
          <p:spPr>
            <a:xfrm>
              <a:off x="4572000" y="4709160"/>
              <a:ext cx="3017520" cy="384048"/>
            </a:xfrm>
            <a:prstGeom prst="rect">
              <a:avLst/>
            </a:prstGeom>
            <a:noFill/>
          </p:spPr>
          <p:txBody>
            <a:bodyPr wrap="square" lIns="0" tIns="0" rIns="0" bIns="0" anchor="ctr">
              <a:noAutofit/>
            </a:bodyPr>
            <a:lstStyle/>
            <a:p>
              <a:pPr algn="l"/>
              <a:r>
                <a:rPr lang="en-GB" sz="1800" b="1" i="0">
                  <a:solidFill>
                    <a:srgbClr val="F2F2F2"/>
                  </a:solidFill>
                  <a:latin typeface="Arial"/>
                </a:rPr>
                <a:t>Fast mixed freight</a:t>
              </a:r>
            </a:p>
          </p:txBody>
        </p:sp>
      </p:grpSp>
      <p:grpSp>
        <p:nvGrpSpPr>
          <p:cNvPr id="68" name="Large card" descr="Large locomotive card. Qualitative bars: haul high, speed medium, range high, servicing needs high. Best for: heavy freight."/>
          <p:cNvGrpSpPr/>
          <p:nvPr/>
        </p:nvGrpSpPr>
        <p:grpSpPr>
          <a:xfrm>
            <a:off x="8138160" y="1325880"/>
            <a:ext cx="3474720" cy="3886200"/>
            <a:chOff x="8138160" y="1325880"/>
            <a:chExt cx="3474720" cy="3886200"/>
          </a:xfrm>
        </p:grpSpPr>
        <p:sp>
          <p:nvSpPr>
            <p:cNvPr id="69" name="Rounded Rectangle 68"/>
            <p:cNvSpPr/>
            <p:nvPr/>
          </p:nvSpPr>
          <p:spPr>
            <a:xfrm>
              <a:off x="8138160" y="1325880"/>
              <a:ext cx="3474720" cy="3886200"/>
            </a:xfrm>
            <a:prstGeom prst="roundRect">
              <a:avLst>
                <a:gd name="adj" fmla="val 2631"/>
              </a:avLst>
            </a:prstGeom>
            <a:solidFill>
              <a:srgbClr val="2B2F36"/>
            </a:solidFill>
            <a:ln>
              <a:noFill/>
            </a:ln>
          </p:spPr>
          <p:txBody>
            <a:bodyPr rtlCol="0" anchor="ctr"/>
            <a:lstStyle/>
            <a:p>
              <a:pPr algn="ctr"/>
              <a:endParaRPr/>
            </a:p>
          </p:txBody>
        </p:sp>
        <p:sp>
          <p:nvSpPr>
            <p:cNvPr id="70" name="Rectangle 69"/>
            <p:cNvSpPr/>
            <p:nvPr/>
          </p:nvSpPr>
          <p:spPr>
            <a:xfrm>
              <a:off x="8138160" y="1600200"/>
              <a:ext cx="3474720" cy="182880"/>
            </a:xfrm>
            <a:prstGeom prst="rect">
              <a:avLst/>
            </a:prstGeom>
            <a:solidFill>
              <a:srgbClr val="F28C28"/>
            </a:solidFill>
            <a:ln>
              <a:noFill/>
            </a:ln>
          </p:spPr>
          <p:txBody>
            <a:bodyPr rtlCol="0" anchor="ctr"/>
            <a:lstStyle/>
            <a:p>
              <a:pPr algn="ctr"/>
              <a:endParaRPr/>
            </a:p>
          </p:txBody>
        </p:sp>
        <p:sp>
          <p:nvSpPr>
            <p:cNvPr id="71" name="Rounded Rectangle 70"/>
            <p:cNvSpPr/>
            <p:nvPr/>
          </p:nvSpPr>
          <p:spPr>
            <a:xfrm>
              <a:off x="8138160" y="1325880"/>
              <a:ext cx="3474720" cy="457200"/>
            </a:xfrm>
            <a:prstGeom prst="roundRect">
              <a:avLst>
                <a:gd name="adj" fmla="val 20000"/>
              </a:avLst>
            </a:prstGeom>
            <a:solidFill>
              <a:srgbClr val="F28C28"/>
            </a:solidFill>
            <a:ln>
              <a:noFill/>
            </a:ln>
          </p:spPr>
          <p:txBody>
            <a:bodyPr wrap="square" lIns="73152" tIns="36576" rIns="73152" bIns="36576" rtlCol="0" anchor="ctr">
              <a:noAutofit/>
            </a:bodyPr>
            <a:lstStyle/>
            <a:p>
              <a:pPr algn="ctr"/>
              <a:r>
                <a:rPr lang="en-GB" sz="2000" b="1" i="0">
                  <a:solidFill>
                    <a:srgbClr val="101418"/>
                  </a:solidFill>
                  <a:latin typeface="Arial"/>
                </a:rPr>
                <a:t>Large</a:t>
              </a:r>
            </a:p>
          </p:txBody>
        </p:sp>
        <p:grpSp>
          <p:nvGrpSpPr>
            <p:cNvPr id="72" name="Large engine" descr="Side view of the large steam engine with its tender."/>
            <p:cNvGrpSpPr/>
            <p:nvPr/>
          </p:nvGrpSpPr>
          <p:grpSpPr>
            <a:xfrm>
              <a:off x="8471916" y="1828800"/>
              <a:ext cx="2807208" cy="914400"/>
              <a:chOff x="8471916" y="1828800"/>
              <a:chExt cx="2807208" cy="914400"/>
            </a:xfrm>
          </p:grpSpPr>
          <p:sp>
            <p:nvSpPr>
              <p:cNvPr id="73" name="Rectangle 72"/>
              <p:cNvSpPr/>
              <p:nvPr/>
            </p:nvSpPr>
            <p:spPr>
              <a:xfrm>
                <a:off x="8471916" y="2176272"/>
                <a:ext cx="777240" cy="457200"/>
              </a:xfrm>
              <a:prstGeom prst="rect">
                <a:avLst/>
              </a:prstGeom>
              <a:solidFill>
                <a:srgbClr val="F28C28"/>
              </a:solidFill>
              <a:ln w="9525">
                <a:solidFill>
                  <a:srgbClr val="101418"/>
                </a:solidFill>
              </a:ln>
            </p:spPr>
            <p:txBody>
              <a:bodyPr rtlCol="0" anchor="ctr"/>
              <a:lstStyle/>
              <a:p>
                <a:pPr algn="ctr"/>
                <a:endParaRPr/>
              </a:p>
            </p:txBody>
          </p:sp>
          <p:sp>
            <p:nvSpPr>
              <p:cNvPr id="74" name="Rectangle 73"/>
              <p:cNvSpPr/>
              <p:nvPr/>
            </p:nvSpPr>
            <p:spPr>
              <a:xfrm>
                <a:off x="8517636" y="2103120"/>
                <a:ext cx="685800" cy="91440"/>
              </a:xfrm>
              <a:prstGeom prst="rect">
                <a:avLst/>
              </a:prstGeom>
              <a:solidFill>
                <a:srgbClr val="1B1D21"/>
              </a:solidFill>
              <a:ln>
                <a:noFill/>
              </a:ln>
            </p:spPr>
            <p:txBody>
              <a:bodyPr rtlCol="0" anchor="ctr"/>
              <a:lstStyle/>
              <a:p>
                <a:pPr algn="ctr"/>
                <a:endParaRPr/>
              </a:p>
            </p:txBody>
          </p:sp>
          <p:sp>
            <p:nvSpPr>
              <p:cNvPr id="75" name="Oval 74"/>
              <p:cNvSpPr/>
              <p:nvPr/>
            </p:nvSpPr>
            <p:spPr>
              <a:xfrm>
                <a:off x="8556498" y="2523744"/>
                <a:ext cx="219456" cy="219456"/>
              </a:xfrm>
              <a:prstGeom prst="ellipse">
                <a:avLst/>
              </a:prstGeom>
              <a:solidFill>
                <a:srgbClr val="1B1D21"/>
              </a:solidFill>
              <a:ln w="12700">
                <a:solidFill>
                  <a:srgbClr val="9AA0A6"/>
                </a:solidFill>
              </a:ln>
            </p:spPr>
            <p:txBody>
              <a:bodyPr rtlCol="0" anchor="ctr"/>
              <a:lstStyle/>
              <a:p>
                <a:pPr algn="ctr"/>
                <a:endParaRPr/>
              </a:p>
            </p:txBody>
          </p:sp>
          <p:sp>
            <p:nvSpPr>
              <p:cNvPr id="76" name="Oval 75"/>
              <p:cNvSpPr/>
              <p:nvPr/>
            </p:nvSpPr>
            <p:spPr>
              <a:xfrm>
                <a:off x="8945118" y="2523744"/>
                <a:ext cx="219456" cy="219456"/>
              </a:xfrm>
              <a:prstGeom prst="ellipse">
                <a:avLst/>
              </a:prstGeom>
              <a:solidFill>
                <a:srgbClr val="1B1D21"/>
              </a:solidFill>
              <a:ln w="12700">
                <a:solidFill>
                  <a:srgbClr val="9AA0A6"/>
                </a:solidFill>
              </a:ln>
            </p:spPr>
            <p:txBody>
              <a:bodyPr rtlCol="0" anchor="ctr"/>
              <a:lstStyle/>
              <a:p>
                <a:pPr algn="ctr"/>
                <a:endParaRPr/>
              </a:p>
            </p:txBody>
          </p:sp>
          <p:sp>
            <p:nvSpPr>
              <p:cNvPr id="77" name="Rectangle 76"/>
              <p:cNvSpPr/>
              <p:nvPr/>
            </p:nvSpPr>
            <p:spPr>
              <a:xfrm>
                <a:off x="9313164" y="1920240"/>
                <a:ext cx="457200" cy="713232"/>
              </a:xfrm>
              <a:prstGeom prst="rect">
                <a:avLst/>
              </a:prstGeom>
              <a:solidFill>
                <a:srgbClr val="F28C28"/>
              </a:solidFill>
              <a:ln w="9525">
                <a:solidFill>
                  <a:srgbClr val="101418"/>
                </a:solidFill>
              </a:ln>
            </p:spPr>
            <p:txBody>
              <a:bodyPr rtlCol="0" anchor="ctr"/>
              <a:lstStyle/>
              <a:p>
                <a:pPr algn="ctr"/>
                <a:endParaRPr/>
              </a:p>
            </p:txBody>
          </p:sp>
          <p:sp>
            <p:nvSpPr>
              <p:cNvPr id="78" name="Rectangle 77"/>
              <p:cNvSpPr/>
              <p:nvPr/>
            </p:nvSpPr>
            <p:spPr>
              <a:xfrm>
                <a:off x="9404604" y="2011680"/>
                <a:ext cx="237744" cy="182880"/>
              </a:xfrm>
              <a:prstGeom prst="rect">
                <a:avLst/>
              </a:prstGeom>
              <a:solidFill>
                <a:srgbClr val="2B2F36"/>
              </a:solidFill>
              <a:ln>
                <a:noFill/>
              </a:ln>
            </p:spPr>
            <p:txBody>
              <a:bodyPr rtlCol="0" anchor="ctr"/>
              <a:lstStyle/>
              <a:p>
                <a:pPr algn="ctr"/>
                <a:endParaRPr/>
              </a:p>
            </p:txBody>
          </p:sp>
          <p:sp>
            <p:nvSpPr>
              <p:cNvPr id="79" name="Rectangle 78"/>
              <p:cNvSpPr/>
              <p:nvPr/>
            </p:nvSpPr>
            <p:spPr>
              <a:xfrm>
                <a:off x="9276588" y="1865376"/>
                <a:ext cx="530352" cy="73152"/>
              </a:xfrm>
              <a:prstGeom prst="rect">
                <a:avLst/>
              </a:prstGeom>
              <a:solidFill>
                <a:srgbClr val="1B1D21"/>
              </a:solidFill>
              <a:ln>
                <a:noFill/>
              </a:ln>
            </p:spPr>
            <p:txBody>
              <a:bodyPr rtlCol="0" anchor="ctr"/>
              <a:lstStyle/>
              <a:p>
                <a:pPr algn="ctr"/>
                <a:endParaRPr/>
              </a:p>
            </p:txBody>
          </p:sp>
          <p:sp>
            <p:nvSpPr>
              <p:cNvPr id="80" name="Rounded Rectangle 79"/>
              <p:cNvSpPr/>
              <p:nvPr/>
            </p:nvSpPr>
            <p:spPr>
              <a:xfrm>
                <a:off x="9770364" y="2066544"/>
                <a:ext cx="1508760" cy="420624"/>
              </a:xfrm>
              <a:prstGeom prst="roundRect">
                <a:avLst>
                  <a:gd name="adj" fmla="val 21739"/>
                </a:avLst>
              </a:prstGeom>
              <a:solidFill>
                <a:srgbClr val="F28C28"/>
              </a:solidFill>
              <a:ln w="9525">
                <a:solidFill>
                  <a:srgbClr val="101418"/>
                </a:solidFill>
              </a:ln>
            </p:spPr>
            <p:txBody>
              <a:bodyPr rtlCol="0" anchor="ctr"/>
              <a:lstStyle/>
              <a:p>
                <a:pPr algn="ctr"/>
                <a:endParaRPr/>
              </a:p>
            </p:txBody>
          </p:sp>
          <p:sp>
            <p:nvSpPr>
              <p:cNvPr id="81" name="Rectangle 80"/>
              <p:cNvSpPr/>
              <p:nvPr/>
            </p:nvSpPr>
            <p:spPr>
              <a:xfrm>
                <a:off x="11004804" y="1828800"/>
                <a:ext cx="137160" cy="256032"/>
              </a:xfrm>
              <a:prstGeom prst="rect">
                <a:avLst/>
              </a:prstGeom>
              <a:solidFill>
                <a:srgbClr val="1B1D21"/>
              </a:solidFill>
              <a:ln>
                <a:noFill/>
              </a:ln>
            </p:spPr>
            <p:txBody>
              <a:bodyPr rtlCol="0" anchor="ctr"/>
              <a:lstStyle/>
              <a:p>
                <a:pPr algn="ctr"/>
                <a:endParaRPr/>
              </a:p>
            </p:txBody>
          </p:sp>
          <p:sp>
            <p:nvSpPr>
              <p:cNvPr id="82" name="Rectangle 81"/>
              <p:cNvSpPr/>
              <p:nvPr/>
            </p:nvSpPr>
            <p:spPr>
              <a:xfrm>
                <a:off x="9313164" y="2468880"/>
                <a:ext cx="1965960" cy="64008"/>
              </a:xfrm>
              <a:prstGeom prst="rect">
                <a:avLst/>
              </a:prstGeom>
              <a:solidFill>
                <a:srgbClr val="1B1D21"/>
              </a:solidFill>
              <a:ln>
                <a:noFill/>
              </a:ln>
            </p:spPr>
            <p:txBody>
              <a:bodyPr rtlCol="0" anchor="ctr"/>
              <a:lstStyle/>
              <a:p>
                <a:pPr algn="ctr"/>
                <a:endParaRPr/>
              </a:p>
            </p:txBody>
          </p:sp>
          <p:sp>
            <p:nvSpPr>
              <p:cNvPr id="83" name="Oval 82"/>
              <p:cNvSpPr/>
              <p:nvPr/>
            </p:nvSpPr>
            <p:spPr>
              <a:xfrm>
                <a:off x="9368028" y="2487168"/>
                <a:ext cx="256032" cy="256032"/>
              </a:xfrm>
              <a:prstGeom prst="ellipse">
                <a:avLst/>
              </a:prstGeom>
              <a:solidFill>
                <a:srgbClr val="1B1D21"/>
              </a:solidFill>
              <a:ln w="15875">
                <a:solidFill>
                  <a:srgbClr val="9AA0A6"/>
                </a:solidFill>
              </a:ln>
            </p:spPr>
            <p:txBody>
              <a:bodyPr rtlCol="0" anchor="ctr"/>
              <a:lstStyle/>
              <a:p>
                <a:pPr algn="ctr"/>
                <a:endParaRPr/>
              </a:p>
            </p:txBody>
          </p:sp>
          <p:sp>
            <p:nvSpPr>
              <p:cNvPr id="84" name="Oval 83"/>
              <p:cNvSpPr/>
              <p:nvPr/>
            </p:nvSpPr>
            <p:spPr>
              <a:xfrm>
                <a:off x="9768078" y="2487168"/>
                <a:ext cx="256032" cy="256032"/>
              </a:xfrm>
              <a:prstGeom prst="ellipse">
                <a:avLst/>
              </a:prstGeom>
              <a:solidFill>
                <a:srgbClr val="1B1D21"/>
              </a:solidFill>
              <a:ln w="15875">
                <a:solidFill>
                  <a:srgbClr val="9AA0A6"/>
                </a:solidFill>
              </a:ln>
            </p:spPr>
            <p:txBody>
              <a:bodyPr rtlCol="0" anchor="ctr"/>
              <a:lstStyle/>
              <a:p>
                <a:pPr algn="ctr"/>
                <a:endParaRPr/>
              </a:p>
            </p:txBody>
          </p:sp>
          <p:sp>
            <p:nvSpPr>
              <p:cNvPr id="85" name="Oval 84"/>
              <p:cNvSpPr/>
              <p:nvPr/>
            </p:nvSpPr>
            <p:spPr>
              <a:xfrm>
                <a:off x="10168128" y="2487168"/>
                <a:ext cx="256032" cy="256032"/>
              </a:xfrm>
              <a:prstGeom prst="ellipse">
                <a:avLst/>
              </a:prstGeom>
              <a:solidFill>
                <a:srgbClr val="1B1D21"/>
              </a:solidFill>
              <a:ln w="15875">
                <a:solidFill>
                  <a:srgbClr val="9AA0A6"/>
                </a:solidFill>
              </a:ln>
            </p:spPr>
            <p:txBody>
              <a:bodyPr rtlCol="0" anchor="ctr"/>
              <a:lstStyle/>
              <a:p>
                <a:pPr algn="ctr"/>
                <a:endParaRPr/>
              </a:p>
            </p:txBody>
          </p:sp>
          <p:sp>
            <p:nvSpPr>
              <p:cNvPr id="86" name="Oval 85"/>
              <p:cNvSpPr/>
              <p:nvPr/>
            </p:nvSpPr>
            <p:spPr>
              <a:xfrm>
                <a:off x="10568178" y="2487168"/>
                <a:ext cx="256032" cy="256032"/>
              </a:xfrm>
              <a:prstGeom prst="ellipse">
                <a:avLst/>
              </a:prstGeom>
              <a:solidFill>
                <a:srgbClr val="1B1D21"/>
              </a:solidFill>
              <a:ln w="15875">
                <a:solidFill>
                  <a:srgbClr val="9AA0A6"/>
                </a:solidFill>
              </a:ln>
            </p:spPr>
            <p:txBody>
              <a:bodyPr rtlCol="0" anchor="ctr"/>
              <a:lstStyle/>
              <a:p>
                <a:pPr algn="ctr"/>
                <a:endParaRPr/>
              </a:p>
            </p:txBody>
          </p:sp>
          <p:sp>
            <p:nvSpPr>
              <p:cNvPr id="87" name="Oval 86"/>
              <p:cNvSpPr/>
              <p:nvPr/>
            </p:nvSpPr>
            <p:spPr>
              <a:xfrm>
                <a:off x="10968228" y="2487168"/>
                <a:ext cx="256032" cy="256032"/>
              </a:xfrm>
              <a:prstGeom prst="ellipse">
                <a:avLst/>
              </a:prstGeom>
              <a:solidFill>
                <a:srgbClr val="1B1D21"/>
              </a:solidFill>
              <a:ln w="15875">
                <a:solidFill>
                  <a:srgbClr val="9AA0A6"/>
                </a:solidFill>
              </a:ln>
            </p:spPr>
            <p:txBody>
              <a:bodyPr rtlCol="0" anchor="ctr"/>
              <a:lstStyle/>
              <a:p>
                <a:pPr algn="ctr"/>
                <a:endParaRPr/>
              </a:p>
            </p:txBody>
          </p:sp>
        </p:grpSp>
        <p:sp>
          <p:nvSpPr>
            <p:cNvPr id="88" name="TextBox 87"/>
            <p:cNvSpPr txBox="1"/>
            <p:nvPr/>
          </p:nvSpPr>
          <p:spPr>
            <a:xfrm>
              <a:off x="8366760" y="28529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Haul</a:t>
              </a:r>
            </a:p>
          </p:txBody>
        </p:sp>
        <p:sp>
          <p:nvSpPr>
            <p:cNvPr id="89" name="Rounded Rectangle 88"/>
            <p:cNvSpPr/>
            <p:nvPr/>
          </p:nvSpPr>
          <p:spPr>
            <a:xfrm>
              <a:off x="8366760" y="3090672"/>
              <a:ext cx="3017520" cy="146304"/>
            </a:xfrm>
            <a:prstGeom prst="roundRect">
              <a:avLst>
                <a:gd name="adj" fmla="val 25000"/>
              </a:avLst>
            </a:prstGeom>
            <a:solidFill>
              <a:srgbClr val="343A43"/>
            </a:solidFill>
            <a:ln>
              <a:noFill/>
            </a:ln>
          </p:spPr>
          <p:txBody>
            <a:bodyPr rtlCol="0" anchor="ctr"/>
            <a:lstStyle/>
            <a:p>
              <a:pPr algn="ctr"/>
              <a:endParaRPr/>
            </a:p>
          </p:txBody>
        </p:sp>
        <p:sp>
          <p:nvSpPr>
            <p:cNvPr id="90" name="Rounded Rectangle 89"/>
            <p:cNvSpPr/>
            <p:nvPr/>
          </p:nvSpPr>
          <p:spPr>
            <a:xfrm>
              <a:off x="8366760" y="3090672"/>
              <a:ext cx="2866644" cy="146304"/>
            </a:xfrm>
            <a:prstGeom prst="roundRect">
              <a:avLst>
                <a:gd name="adj" fmla="val 25000"/>
              </a:avLst>
            </a:prstGeom>
            <a:solidFill>
              <a:srgbClr val="F28C28"/>
            </a:solidFill>
            <a:ln>
              <a:noFill/>
            </a:ln>
          </p:spPr>
          <p:txBody>
            <a:bodyPr rtlCol="0" anchor="ctr"/>
            <a:lstStyle/>
            <a:p>
              <a:pPr algn="ctr"/>
              <a:endParaRPr/>
            </a:p>
          </p:txBody>
        </p:sp>
        <p:sp>
          <p:nvSpPr>
            <p:cNvPr id="91" name="TextBox 90"/>
            <p:cNvSpPr txBox="1"/>
            <p:nvPr/>
          </p:nvSpPr>
          <p:spPr>
            <a:xfrm>
              <a:off x="8366760" y="33101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Speed</a:t>
              </a:r>
            </a:p>
          </p:txBody>
        </p:sp>
        <p:sp>
          <p:nvSpPr>
            <p:cNvPr id="92" name="Rounded Rectangle 91"/>
            <p:cNvSpPr/>
            <p:nvPr/>
          </p:nvSpPr>
          <p:spPr>
            <a:xfrm>
              <a:off x="8366760" y="3547872"/>
              <a:ext cx="3017520" cy="146304"/>
            </a:xfrm>
            <a:prstGeom prst="roundRect">
              <a:avLst>
                <a:gd name="adj" fmla="val 25000"/>
              </a:avLst>
            </a:prstGeom>
            <a:solidFill>
              <a:srgbClr val="343A43"/>
            </a:solidFill>
            <a:ln>
              <a:noFill/>
            </a:ln>
          </p:spPr>
          <p:txBody>
            <a:bodyPr rtlCol="0" anchor="ctr"/>
            <a:lstStyle/>
            <a:p>
              <a:pPr algn="ctr"/>
              <a:endParaRPr/>
            </a:p>
          </p:txBody>
        </p:sp>
        <p:sp>
          <p:nvSpPr>
            <p:cNvPr id="93" name="Rounded Rectangle 92"/>
            <p:cNvSpPr/>
            <p:nvPr/>
          </p:nvSpPr>
          <p:spPr>
            <a:xfrm>
              <a:off x="8366760" y="3547872"/>
              <a:ext cx="1810512" cy="146304"/>
            </a:xfrm>
            <a:prstGeom prst="roundRect">
              <a:avLst>
                <a:gd name="adj" fmla="val 25000"/>
              </a:avLst>
            </a:prstGeom>
            <a:solidFill>
              <a:srgbClr val="F28C28"/>
            </a:solidFill>
            <a:ln>
              <a:noFill/>
            </a:ln>
          </p:spPr>
          <p:txBody>
            <a:bodyPr rtlCol="0" anchor="ctr"/>
            <a:lstStyle/>
            <a:p>
              <a:pPr algn="ctr"/>
              <a:endParaRPr/>
            </a:p>
          </p:txBody>
        </p:sp>
        <p:sp>
          <p:nvSpPr>
            <p:cNvPr id="94" name="TextBox 93"/>
            <p:cNvSpPr txBox="1"/>
            <p:nvPr/>
          </p:nvSpPr>
          <p:spPr>
            <a:xfrm>
              <a:off x="8366760" y="37673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Range</a:t>
              </a:r>
            </a:p>
          </p:txBody>
        </p:sp>
        <p:sp>
          <p:nvSpPr>
            <p:cNvPr id="95" name="Rounded Rectangle 94"/>
            <p:cNvSpPr/>
            <p:nvPr/>
          </p:nvSpPr>
          <p:spPr>
            <a:xfrm>
              <a:off x="8366760" y="4005072"/>
              <a:ext cx="3017520" cy="146304"/>
            </a:xfrm>
            <a:prstGeom prst="roundRect">
              <a:avLst>
                <a:gd name="adj" fmla="val 25000"/>
              </a:avLst>
            </a:prstGeom>
            <a:solidFill>
              <a:srgbClr val="343A43"/>
            </a:solidFill>
            <a:ln>
              <a:noFill/>
            </a:ln>
          </p:spPr>
          <p:txBody>
            <a:bodyPr rtlCol="0" anchor="ctr"/>
            <a:lstStyle/>
            <a:p>
              <a:pPr algn="ctr"/>
              <a:endParaRPr/>
            </a:p>
          </p:txBody>
        </p:sp>
        <p:sp>
          <p:nvSpPr>
            <p:cNvPr id="96" name="Rounded Rectangle 95"/>
            <p:cNvSpPr/>
            <p:nvPr/>
          </p:nvSpPr>
          <p:spPr>
            <a:xfrm>
              <a:off x="8366760" y="4005072"/>
              <a:ext cx="2715768" cy="146304"/>
            </a:xfrm>
            <a:prstGeom prst="roundRect">
              <a:avLst>
                <a:gd name="adj" fmla="val 25000"/>
              </a:avLst>
            </a:prstGeom>
            <a:solidFill>
              <a:srgbClr val="F28C28"/>
            </a:solidFill>
            <a:ln>
              <a:noFill/>
            </a:ln>
          </p:spPr>
          <p:txBody>
            <a:bodyPr rtlCol="0" anchor="ctr"/>
            <a:lstStyle/>
            <a:p>
              <a:pPr algn="ctr"/>
              <a:endParaRPr/>
            </a:p>
          </p:txBody>
        </p:sp>
        <p:sp>
          <p:nvSpPr>
            <p:cNvPr id="97" name="TextBox 96"/>
            <p:cNvSpPr txBox="1"/>
            <p:nvPr/>
          </p:nvSpPr>
          <p:spPr>
            <a:xfrm>
              <a:off x="8366760" y="4224528"/>
              <a:ext cx="1463040" cy="237744"/>
            </a:xfrm>
            <a:prstGeom prst="rect">
              <a:avLst/>
            </a:prstGeom>
            <a:noFill/>
          </p:spPr>
          <p:txBody>
            <a:bodyPr wrap="square" lIns="0" tIns="0" rIns="0" bIns="0" anchor="t">
              <a:noAutofit/>
            </a:bodyPr>
            <a:lstStyle/>
            <a:p>
              <a:pPr algn="l"/>
              <a:r>
                <a:rPr lang="en-GB" sz="1400" b="0" i="0">
                  <a:solidFill>
                    <a:srgbClr val="F2F2F2"/>
                  </a:solidFill>
                  <a:latin typeface="Arial"/>
                </a:rPr>
                <a:t>Servicing needs</a:t>
              </a:r>
            </a:p>
          </p:txBody>
        </p:sp>
        <p:sp>
          <p:nvSpPr>
            <p:cNvPr id="98" name="Rounded Rectangle 97"/>
            <p:cNvSpPr/>
            <p:nvPr/>
          </p:nvSpPr>
          <p:spPr>
            <a:xfrm>
              <a:off x="8366760" y="4462272"/>
              <a:ext cx="3017520" cy="146304"/>
            </a:xfrm>
            <a:prstGeom prst="roundRect">
              <a:avLst>
                <a:gd name="adj" fmla="val 25000"/>
              </a:avLst>
            </a:prstGeom>
            <a:solidFill>
              <a:srgbClr val="343A43"/>
            </a:solidFill>
            <a:ln>
              <a:noFill/>
            </a:ln>
          </p:spPr>
          <p:txBody>
            <a:bodyPr rtlCol="0" anchor="ctr"/>
            <a:lstStyle/>
            <a:p>
              <a:pPr algn="ctr"/>
              <a:endParaRPr/>
            </a:p>
          </p:txBody>
        </p:sp>
        <p:sp>
          <p:nvSpPr>
            <p:cNvPr id="99" name="Rounded Rectangle 98"/>
            <p:cNvSpPr/>
            <p:nvPr/>
          </p:nvSpPr>
          <p:spPr>
            <a:xfrm>
              <a:off x="8366760" y="4462272"/>
              <a:ext cx="2715768" cy="146304"/>
            </a:xfrm>
            <a:prstGeom prst="roundRect">
              <a:avLst>
                <a:gd name="adj" fmla="val 25000"/>
              </a:avLst>
            </a:prstGeom>
            <a:solidFill>
              <a:srgbClr val="F28C28"/>
            </a:solidFill>
            <a:ln>
              <a:noFill/>
            </a:ln>
          </p:spPr>
          <p:txBody>
            <a:bodyPr rtlCol="0" anchor="ctr"/>
            <a:lstStyle/>
            <a:p>
              <a:pPr algn="ctr"/>
              <a:endParaRPr/>
            </a:p>
          </p:txBody>
        </p:sp>
        <p:sp>
          <p:nvSpPr>
            <p:cNvPr id="100" name="TextBox 99"/>
            <p:cNvSpPr txBox="1"/>
            <p:nvPr/>
          </p:nvSpPr>
          <p:spPr>
            <a:xfrm>
              <a:off x="8366760" y="4709160"/>
              <a:ext cx="3017520" cy="384048"/>
            </a:xfrm>
            <a:prstGeom prst="rect">
              <a:avLst/>
            </a:prstGeom>
            <a:noFill/>
          </p:spPr>
          <p:txBody>
            <a:bodyPr wrap="square" lIns="0" tIns="0" rIns="0" bIns="0" anchor="ctr">
              <a:noAutofit/>
            </a:bodyPr>
            <a:lstStyle/>
            <a:p>
              <a:pPr algn="l"/>
              <a:r>
                <a:rPr lang="en-GB" sz="1800" b="1" i="0">
                  <a:solidFill>
                    <a:srgbClr val="F2F2F2"/>
                  </a:solidFill>
                  <a:latin typeface="Arial"/>
                </a:rPr>
                <a:t>Heavy freight</a:t>
              </a:r>
            </a:p>
          </p:txBody>
        </p:sp>
      </p:grpSp>
      <p:sp>
        <p:nvSpPr>
          <p:cNvPr id="101" name="TextBox 100"/>
          <p:cNvSpPr txBox="1"/>
          <p:nvPr/>
        </p:nvSpPr>
        <p:spPr>
          <a:xfrm>
            <a:off x="548640" y="5321808"/>
            <a:ext cx="5486400" cy="292608"/>
          </a:xfrm>
          <a:prstGeom prst="rect">
            <a:avLst/>
          </a:prstGeom>
          <a:noFill/>
        </p:spPr>
        <p:txBody>
          <a:bodyPr wrap="square" lIns="0" tIns="0" rIns="0" bIns="0" anchor="t">
            <a:noAutofit/>
          </a:bodyPr>
          <a:lstStyle/>
          <a:p>
            <a:pPr algn="l"/>
            <a:r>
              <a:rPr lang="en-GB" sz="1400" b="0" i="0">
                <a:solidFill>
                  <a:srgbClr val="A9B0B8"/>
                </a:solidFill>
                <a:latin typeface="Arial"/>
              </a:rPr>
              <a:t>Shape only. Not measured.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Small, Medium and Large each have a job. Bigger is not simply better.</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18</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nodeType="withEffect">
                                  <p:stCondLst>
                                    <p:cond delay="600"/>
                                  </p:stCondLst>
                                  <p:childTnLst>
                                    <p:set>
                                      <p:cBhvr>
                                        <p:cTn id="12" dur="1" fill="hold">
                                          <p:stCondLst>
                                            <p:cond delay="0"/>
                                          </p:stCondLst>
                                        </p:cTn>
                                        <p:tgtEl>
                                          <p:spTgt spid="68"/>
                                        </p:tgtEl>
                                        <p:attrNameLst>
                                          <p:attrName>style.visibility</p:attrName>
                                        </p:attrNameLst>
                                      </p:cBhvr>
                                      <p:to>
                                        <p:strVal val="visible"/>
                                      </p:to>
                                    </p:set>
                                    <p:animEffect transition="in" filter="fade">
                                      <p:cBhvr>
                                        <p:cTn id="13" dur="500"/>
                                        <p:tgtEl>
                                          <p:spTgt spid="68"/>
                                        </p:tgtEl>
                                      </p:cBhvr>
                                    </p:animEffect>
                                  </p:childTnLst>
                                </p:cTn>
                              </p:par>
                              <p:par>
                                <p:cTn id="14" presetID="10" presetClass="entr" presetSubtype="0" fill="hold" nodeType="withEffect">
                                  <p:stCondLst>
                                    <p:cond delay="900"/>
                                  </p:stCondLst>
                                  <p:childTnLst>
                                    <p:set>
                                      <p:cBhvr>
                                        <p:cTn id="15" dur="1" fill="hold">
                                          <p:stCondLst>
                                            <p:cond delay="0"/>
                                          </p:stCondLst>
                                        </p:cTn>
                                        <p:tgtEl>
                                          <p:spTgt spid="101"/>
                                        </p:tgtEl>
                                        <p:attrNameLst>
                                          <p:attrName>style.visibility</p:attrName>
                                        </p:attrNameLst>
                                      </p:cBhvr>
                                      <p:to>
                                        <p:strVal val="visible"/>
                                      </p:to>
                                    </p:set>
                                    <p:animEffect transition="in" filter="fade">
                                      <p:cBhvr>
                                        <p:cTn id="16" dur="500"/>
                                        <p:tgtEl>
                                          <p:spTgt spid="101"/>
                                        </p:tgtEl>
                                      </p:cBhvr>
                                    </p:animEffect>
                                  </p:childTnLst>
                                </p:cTn>
                              </p:par>
                              <p:par>
                                <p:cTn id="17" presetID="10" presetClass="entr" presetSubtype="0" fill="hold" nodeType="withEffect">
                                  <p:stCondLst>
                                    <p:cond delay="12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1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Small: the branch-line tank</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pic>
        <p:nvPicPr>
          <p:cNvPr id="8" name="Picture P10" descr="LMS Fowler Class 3F 'Jinty' tank engine No. 47406 at the Great Central Railway. A related Fowler tank engine, NOT the Dock Tank."/>
          <p:cNvPicPr>
            <a:picLocks noChangeAspect="1"/>
          </p:cNvPicPr>
          <p:nvPr/>
        </p:nvPicPr>
        <p:blipFill>
          <a:blip r:embed="rId2"/>
          <a:srcRect t="5377" b="5377"/>
          <a:stretch>
            <a:fillRect/>
          </a:stretch>
        </p:blipFill>
        <p:spPr>
          <a:xfrm>
            <a:off x="548640" y="1325880"/>
            <a:ext cx="5120640" cy="3291840"/>
          </a:xfrm>
          <a:prstGeom prst="roundRect">
            <a:avLst>
              <a:gd name="adj" fmla="val 2222"/>
            </a:avLst>
          </a:prstGeom>
        </p:spPr>
      </p:pic>
      <p:sp>
        <p:nvSpPr>
          <p:cNvPr id="9" name="Credit"/>
          <p:cNvSpPr txBox="1"/>
          <p:nvPr/>
        </p:nvSpPr>
        <p:spPr>
          <a:xfrm>
            <a:off x="548640" y="4645152"/>
            <a:ext cx="5120640" cy="182880"/>
          </a:xfrm>
          <a:prstGeom prst="rect">
            <a:avLst/>
          </a:prstGeom>
          <a:noFill/>
        </p:spPr>
        <p:txBody>
          <a:bodyPr wrap="square" lIns="0" tIns="0" rIns="0" bIns="0" anchor="t">
            <a:noAutofit/>
          </a:bodyPr>
          <a:lstStyle/>
          <a:p>
            <a:pPr algn="l"/>
            <a:r>
              <a:rPr lang="en-GB" sz="1000" b="0" i="0">
                <a:solidFill>
                  <a:srgbClr val="A9B0B8"/>
                </a:solidFill>
                <a:latin typeface="Arial"/>
              </a:rPr>
              <a:t>Photo: Duncan Harris, CC BY-SA 2.0, Wikimedia Commons.</a:t>
            </a:r>
          </a:p>
        </p:txBody>
      </p:sp>
      <p:sp>
        <p:nvSpPr>
          <p:cNvPr id="10" name="TextBox 9"/>
          <p:cNvSpPr txBox="1"/>
          <p:nvPr/>
        </p:nvSpPr>
        <p:spPr>
          <a:xfrm>
            <a:off x="548640" y="4846320"/>
            <a:ext cx="5120640" cy="640080"/>
          </a:xfrm>
          <a:prstGeom prst="rect">
            <a:avLst/>
          </a:prstGeom>
          <a:noFill/>
        </p:spPr>
        <p:txBody>
          <a:bodyPr wrap="square" lIns="0" tIns="0" rIns="0" bIns="0" anchor="t">
            <a:noAutofit/>
          </a:bodyPr>
          <a:lstStyle/>
          <a:p>
            <a:pPr algn="l"/>
            <a:r>
              <a:rPr lang="en-GB" sz="1600" b="0" i="0">
                <a:solidFill>
                  <a:srgbClr val="F2F2F2"/>
                </a:solidFill>
                <a:latin typeface="Arial"/>
              </a:rPr>
              <a:t>A related Fowler tank engine (a Jinty). The design's reference, the Dock Tank, has no survivor.</a:t>
            </a:r>
          </a:p>
        </p:txBody>
      </p:sp>
      <p:grpSp>
        <p:nvGrpSpPr>
          <p:cNvPr id="11" name="Traits" descr="Traits: No tender; Weakest hauler; Cheap to run; Struggles with long trains and hills."/>
          <p:cNvGrpSpPr/>
          <p:nvPr/>
        </p:nvGrpSpPr>
        <p:grpSpPr>
          <a:xfrm>
            <a:off x="5989320" y="1371600"/>
            <a:ext cx="5650992" cy="3438144"/>
            <a:chOff x="5989320" y="1371600"/>
            <a:chExt cx="5650992" cy="3438144"/>
          </a:xfrm>
        </p:grpSpPr>
        <p:sp>
          <p:nvSpPr>
            <p:cNvPr id="12" name="Rounded Rectangle 11"/>
            <p:cNvSpPr/>
            <p:nvPr/>
          </p:nvSpPr>
          <p:spPr>
            <a:xfrm>
              <a:off x="5989320" y="1371600"/>
              <a:ext cx="5650992" cy="749808"/>
            </a:xfrm>
            <a:prstGeom prst="roundRect">
              <a:avLst>
                <a:gd name="adj" fmla="val 9756"/>
              </a:avLst>
            </a:prstGeom>
            <a:solidFill>
              <a:srgbClr val="2B2F36"/>
            </a:solidFill>
            <a:ln>
              <a:noFill/>
            </a:ln>
          </p:spPr>
          <p:txBody>
            <a:bodyPr rtlCol="0" anchor="ctr"/>
            <a:lstStyle/>
            <a:p>
              <a:pPr algn="ctr"/>
              <a:endParaRPr/>
            </a:p>
          </p:txBody>
        </p:sp>
        <p:sp>
          <p:nvSpPr>
            <p:cNvPr id="13" name="Rectangle 12"/>
            <p:cNvSpPr/>
            <p:nvPr/>
          </p:nvSpPr>
          <p:spPr>
            <a:xfrm>
              <a:off x="6217920" y="1643634"/>
              <a:ext cx="365760" cy="251460"/>
            </a:xfrm>
            <a:prstGeom prst="rect">
              <a:avLst/>
            </a:prstGeom>
            <a:noFill/>
            <a:ln w="25400">
              <a:solidFill>
                <a:srgbClr val="F28C28"/>
              </a:solidFill>
            </a:ln>
          </p:spPr>
          <p:txBody>
            <a:bodyPr rtlCol="0" anchor="ctr"/>
            <a:lstStyle/>
            <a:p>
              <a:pPr algn="ctr"/>
              <a:endParaRPr/>
            </a:p>
          </p:txBody>
        </p:sp>
        <p:cxnSp>
          <p:nvCxnSpPr>
            <p:cNvPr id="14" name="Connector 13"/>
            <p:cNvCxnSpPr/>
            <p:nvPr/>
          </p:nvCxnSpPr>
          <p:spPr>
            <a:xfrm flipV="1">
              <a:off x="6172200" y="1586484"/>
              <a:ext cx="457200" cy="320040"/>
            </a:xfrm>
            <a:prstGeom prst="line">
              <a:avLst/>
            </a:prstGeom>
            <a:ln w="31750">
              <a:solidFill>
                <a:srgbClr val="F2F2F2"/>
              </a:solidFill>
            </a:ln>
          </p:spPr>
        </p:cxnSp>
        <p:sp>
          <p:nvSpPr>
            <p:cNvPr id="15" name="TextBox 14"/>
            <p:cNvSpPr txBox="1"/>
            <p:nvPr/>
          </p:nvSpPr>
          <p:spPr>
            <a:xfrm>
              <a:off x="6720840" y="1371600"/>
              <a:ext cx="4809744" cy="749808"/>
            </a:xfrm>
            <a:prstGeom prst="rect">
              <a:avLst/>
            </a:prstGeom>
            <a:noFill/>
          </p:spPr>
          <p:txBody>
            <a:bodyPr wrap="square" lIns="0" tIns="0" rIns="0" bIns="0" anchor="ctr">
              <a:noAutofit/>
            </a:bodyPr>
            <a:lstStyle/>
            <a:p>
              <a:pPr algn="l"/>
              <a:r>
                <a:rPr lang="en-GB" sz="2000" b="0" i="0">
                  <a:solidFill>
                    <a:srgbClr val="F2F2F2"/>
                  </a:solidFill>
                  <a:latin typeface="Arial"/>
                </a:rPr>
                <a:t>No tender</a:t>
              </a:r>
            </a:p>
          </p:txBody>
        </p:sp>
        <p:sp>
          <p:nvSpPr>
            <p:cNvPr id="16" name="Rounded Rectangle 15"/>
            <p:cNvSpPr/>
            <p:nvPr/>
          </p:nvSpPr>
          <p:spPr>
            <a:xfrm>
              <a:off x="5989320" y="2267712"/>
              <a:ext cx="5650992" cy="749808"/>
            </a:xfrm>
            <a:prstGeom prst="roundRect">
              <a:avLst>
                <a:gd name="adj" fmla="val 9756"/>
              </a:avLst>
            </a:prstGeom>
            <a:solidFill>
              <a:srgbClr val="2B2F36"/>
            </a:solidFill>
            <a:ln>
              <a:noFill/>
            </a:ln>
          </p:spPr>
          <p:txBody>
            <a:bodyPr rtlCol="0" anchor="ctr"/>
            <a:lstStyle/>
            <a:p>
              <a:pPr algn="ctr"/>
              <a:endParaRPr/>
            </a:p>
          </p:txBody>
        </p:sp>
        <p:sp>
          <p:nvSpPr>
            <p:cNvPr id="17" name="Freeform 16"/>
            <p:cNvSpPr/>
            <p:nvPr/>
          </p:nvSpPr>
          <p:spPr>
            <a:xfrm>
              <a:off x="6240780" y="2562606"/>
              <a:ext cx="320040" cy="240030"/>
            </a:xfrm>
            <a:custGeom>
              <a:avLst/>
              <a:gdLst/>
              <a:ahLst/>
              <a:cxnLst/>
              <a:rect l="l" t="t" r="r" b="b"/>
              <a:pathLst>
                <a:path w="320040" h="240030">
                  <a:moveTo>
                    <a:pt x="0" y="240030"/>
                  </a:moveTo>
                  <a:lnTo>
                    <a:pt x="320040" y="240030"/>
                  </a:lnTo>
                  <a:lnTo>
                    <a:pt x="262890" y="0"/>
                  </a:lnTo>
                  <a:lnTo>
                    <a:pt x="57150" y="0"/>
                  </a:lnTo>
                  <a:close/>
                </a:path>
              </a:pathLst>
            </a:custGeom>
            <a:solidFill>
              <a:srgbClr val="F28C28"/>
            </a:solidFill>
            <a:ln>
              <a:noFill/>
            </a:ln>
          </p:spPr>
          <p:txBody>
            <a:bodyPr rtlCol="0" anchor="ctr"/>
            <a:lstStyle/>
            <a:p>
              <a:pPr algn="ctr"/>
              <a:endParaRPr/>
            </a:p>
          </p:txBody>
        </p:sp>
        <p:sp>
          <p:nvSpPr>
            <p:cNvPr id="18" name="Oval 17"/>
            <p:cNvSpPr/>
            <p:nvPr/>
          </p:nvSpPr>
          <p:spPr>
            <a:xfrm>
              <a:off x="6336792" y="2452878"/>
              <a:ext cx="128016" cy="128016"/>
            </a:xfrm>
            <a:prstGeom prst="ellipse">
              <a:avLst/>
            </a:prstGeom>
            <a:noFill/>
            <a:ln w="25400">
              <a:solidFill>
                <a:srgbClr val="F28C28"/>
              </a:solidFill>
            </a:ln>
          </p:spPr>
          <p:txBody>
            <a:bodyPr rtlCol="0" anchor="ctr"/>
            <a:lstStyle/>
            <a:p>
              <a:pPr algn="ctr"/>
              <a:endParaRPr/>
            </a:p>
          </p:txBody>
        </p:sp>
        <p:sp>
          <p:nvSpPr>
            <p:cNvPr id="19" name="TextBox 18"/>
            <p:cNvSpPr txBox="1"/>
            <p:nvPr/>
          </p:nvSpPr>
          <p:spPr>
            <a:xfrm>
              <a:off x="6720840" y="2267712"/>
              <a:ext cx="4809744" cy="749808"/>
            </a:xfrm>
            <a:prstGeom prst="rect">
              <a:avLst/>
            </a:prstGeom>
            <a:noFill/>
          </p:spPr>
          <p:txBody>
            <a:bodyPr wrap="square" lIns="0" tIns="0" rIns="0" bIns="0" anchor="ctr">
              <a:noAutofit/>
            </a:bodyPr>
            <a:lstStyle/>
            <a:p>
              <a:pPr algn="l"/>
              <a:r>
                <a:rPr lang="en-GB" sz="2000" b="0" i="0">
                  <a:solidFill>
                    <a:srgbClr val="F2F2F2"/>
                  </a:solidFill>
                  <a:latin typeface="Arial"/>
                </a:rPr>
                <a:t>Weakest hauler</a:t>
              </a:r>
            </a:p>
          </p:txBody>
        </p:sp>
        <p:sp>
          <p:nvSpPr>
            <p:cNvPr id="20" name="Rounded Rectangle 19"/>
            <p:cNvSpPr/>
            <p:nvPr/>
          </p:nvSpPr>
          <p:spPr>
            <a:xfrm>
              <a:off x="5989320" y="3163824"/>
              <a:ext cx="5650992" cy="749808"/>
            </a:xfrm>
            <a:prstGeom prst="roundRect">
              <a:avLst>
                <a:gd name="adj" fmla="val 9756"/>
              </a:avLst>
            </a:prstGeom>
            <a:solidFill>
              <a:srgbClr val="2B2F36"/>
            </a:solidFill>
            <a:ln>
              <a:noFill/>
            </a:ln>
          </p:spPr>
          <p:txBody>
            <a:bodyPr rtlCol="0" anchor="ctr"/>
            <a:lstStyle/>
            <a:p>
              <a:pPr algn="ctr"/>
              <a:endParaRPr/>
            </a:p>
          </p:txBody>
        </p:sp>
        <p:sp>
          <p:nvSpPr>
            <p:cNvPr id="21" name="Oval 20"/>
            <p:cNvSpPr/>
            <p:nvPr/>
          </p:nvSpPr>
          <p:spPr>
            <a:xfrm>
              <a:off x="6229350" y="3550158"/>
              <a:ext cx="342900" cy="137160"/>
            </a:xfrm>
            <a:prstGeom prst="ellipse">
              <a:avLst/>
            </a:prstGeom>
            <a:solidFill>
              <a:srgbClr val="F28C28"/>
            </a:solidFill>
            <a:ln w="12700">
              <a:solidFill>
                <a:srgbClr val="1E2126"/>
              </a:solidFill>
            </a:ln>
          </p:spPr>
          <p:txBody>
            <a:bodyPr rtlCol="0" anchor="ctr"/>
            <a:lstStyle/>
            <a:p>
              <a:pPr algn="ctr"/>
              <a:endParaRPr/>
            </a:p>
          </p:txBody>
        </p:sp>
        <p:sp>
          <p:nvSpPr>
            <p:cNvPr id="22" name="Oval 21"/>
            <p:cNvSpPr/>
            <p:nvPr/>
          </p:nvSpPr>
          <p:spPr>
            <a:xfrm>
              <a:off x="6229350" y="3481578"/>
              <a:ext cx="342900" cy="137160"/>
            </a:xfrm>
            <a:prstGeom prst="ellipse">
              <a:avLst/>
            </a:prstGeom>
            <a:solidFill>
              <a:srgbClr val="F28C28"/>
            </a:solidFill>
            <a:ln w="12700">
              <a:solidFill>
                <a:srgbClr val="1E2126"/>
              </a:solidFill>
            </a:ln>
          </p:spPr>
          <p:txBody>
            <a:bodyPr rtlCol="0" anchor="ctr"/>
            <a:lstStyle/>
            <a:p>
              <a:pPr algn="ctr"/>
              <a:endParaRPr/>
            </a:p>
          </p:txBody>
        </p:sp>
        <p:sp>
          <p:nvSpPr>
            <p:cNvPr id="23" name="Oval 22"/>
            <p:cNvSpPr/>
            <p:nvPr/>
          </p:nvSpPr>
          <p:spPr>
            <a:xfrm>
              <a:off x="6229350" y="3412998"/>
              <a:ext cx="342900" cy="137160"/>
            </a:xfrm>
            <a:prstGeom prst="ellipse">
              <a:avLst/>
            </a:prstGeom>
            <a:solidFill>
              <a:srgbClr val="F28C28"/>
            </a:solidFill>
            <a:ln w="12700">
              <a:solidFill>
                <a:srgbClr val="1E2126"/>
              </a:solidFill>
            </a:ln>
          </p:spPr>
          <p:txBody>
            <a:bodyPr rtlCol="0" anchor="ctr"/>
            <a:lstStyle/>
            <a:p>
              <a:pPr algn="ctr"/>
              <a:endParaRPr/>
            </a:p>
          </p:txBody>
        </p:sp>
        <p:sp>
          <p:nvSpPr>
            <p:cNvPr id="24" name="TextBox 23"/>
            <p:cNvSpPr txBox="1"/>
            <p:nvPr/>
          </p:nvSpPr>
          <p:spPr>
            <a:xfrm>
              <a:off x="6720840" y="3163824"/>
              <a:ext cx="4809744" cy="749808"/>
            </a:xfrm>
            <a:prstGeom prst="rect">
              <a:avLst/>
            </a:prstGeom>
            <a:noFill/>
          </p:spPr>
          <p:txBody>
            <a:bodyPr wrap="square" lIns="0" tIns="0" rIns="0" bIns="0" anchor="ctr">
              <a:noAutofit/>
            </a:bodyPr>
            <a:lstStyle/>
            <a:p>
              <a:pPr algn="l"/>
              <a:r>
                <a:rPr lang="en-GB" sz="2000" b="0" i="0">
                  <a:solidFill>
                    <a:srgbClr val="F2F2F2"/>
                  </a:solidFill>
                  <a:latin typeface="Arial"/>
                </a:rPr>
                <a:t>Cheap to run</a:t>
              </a:r>
            </a:p>
          </p:txBody>
        </p:sp>
        <p:sp>
          <p:nvSpPr>
            <p:cNvPr id="25" name="Rounded Rectangle 24"/>
            <p:cNvSpPr/>
            <p:nvPr/>
          </p:nvSpPr>
          <p:spPr>
            <a:xfrm>
              <a:off x="5989320" y="4059936"/>
              <a:ext cx="5650992" cy="749808"/>
            </a:xfrm>
            <a:prstGeom prst="roundRect">
              <a:avLst>
                <a:gd name="adj" fmla="val 9756"/>
              </a:avLst>
            </a:prstGeom>
            <a:solidFill>
              <a:srgbClr val="2B2F36"/>
            </a:solidFill>
            <a:ln>
              <a:noFill/>
            </a:ln>
          </p:spPr>
          <p:txBody>
            <a:bodyPr rtlCol="0" anchor="ctr"/>
            <a:lstStyle/>
            <a:p>
              <a:pPr algn="ctr"/>
              <a:endParaRPr/>
            </a:p>
          </p:txBody>
        </p:sp>
        <p:sp>
          <p:nvSpPr>
            <p:cNvPr id="26" name="Freeform 25"/>
            <p:cNvSpPr/>
            <p:nvPr/>
          </p:nvSpPr>
          <p:spPr>
            <a:xfrm>
              <a:off x="6172200" y="4274820"/>
              <a:ext cx="457200" cy="320040"/>
            </a:xfrm>
            <a:custGeom>
              <a:avLst/>
              <a:gdLst/>
              <a:ahLst/>
              <a:cxnLst/>
              <a:rect l="l" t="t" r="r" b="b"/>
              <a:pathLst>
                <a:path w="457200" h="320040">
                  <a:moveTo>
                    <a:pt x="0" y="320040"/>
                  </a:moveTo>
                  <a:lnTo>
                    <a:pt x="457200" y="320040"/>
                  </a:lnTo>
                  <a:lnTo>
                    <a:pt x="251460" y="0"/>
                  </a:lnTo>
                  <a:close/>
                </a:path>
              </a:pathLst>
            </a:custGeom>
            <a:solidFill>
              <a:srgbClr val="F28C28"/>
            </a:solidFill>
            <a:ln>
              <a:noFill/>
            </a:ln>
          </p:spPr>
          <p:txBody>
            <a:bodyPr rtlCol="0" anchor="ctr"/>
            <a:lstStyle/>
            <a:p>
              <a:pPr algn="ctr"/>
              <a:endParaRPr/>
            </a:p>
          </p:txBody>
        </p:sp>
        <p:sp>
          <p:nvSpPr>
            <p:cNvPr id="27" name="TextBox 26"/>
            <p:cNvSpPr txBox="1"/>
            <p:nvPr/>
          </p:nvSpPr>
          <p:spPr>
            <a:xfrm>
              <a:off x="6720840" y="4059936"/>
              <a:ext cx="3349244" cy="749808"/>
            </a:xfrm>
            <a:prstGeom prst="rect">
              <a:avLst/>
            </a:prstGeom>
            <a:noFill/>
          </p:spPr>
          <p:txBody>
            <a:bodyPr wrap="square" lIns="0" tIns="0" rIns="0" bIns="0" anchor="ctr">
              <a:noAutofit/>
            </a:bodyPr>
            <a:lstStyle/>
            <a:p>
              <a:pPr algn="l"/>
              <a:r>
                <a:rPr lang="en-GB" sz="2000" b="0" i="0">
                  <a:solidFill>
                    <a:srgbClr val="F2F2F2"/>
                  </a:solidFill>
                  <a:latin typeface="Arial"/>
                </a:rPr>
                <a:t>Struggles with long trains and hills</a:t>
              </a:r>
            </a:p>
          </p:txBody>
        </p:sp>
        <p:sp>
          <p:nvSpPr>
            <p:cNvPr id="28" name="Inline chip Proposed"/>
            <p:cNvSpPr/>
            <p:nvPr/>
          </p:nvSpPr>
          <p:spPr>
            <a:xfrm>
              <a:off x="10161524" y="4270248"/>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Small carries its own coal and water. It is cheap, light and best on short branches.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19</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6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12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Medium: the long-range runner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pic>
        <p:nvPicPr>
          <p:cNvPr id="8" name="Picture P11" descr="Merchant Navy class No. 35005 'Canadian Pacific', raised front three-quarter view showing boiler and tender."/>
          <p:cNvPicPr>
            <a:picLocks noChangeAspect="1"/>
          </p:cNvPicPr>
          <p:nvPr/>
        </p:nvPicPr>
        <p:blipFill>
          <a:blip r:embed="rId2"/>
          <a:srcRect l="205" r="205"/>
          <a:stretch>
            <a:fillRect/>
          </a:stretch>
        </p:blipFill>
        <p:spPr>
          <a:xfrm>
            <a:off x="548640" y="1325880"/>
            <a:ext cx="5120640" cy="3154680"/>
          </a:xfrm>
          <a:prstGeom prst="roundRect">
            <a:avLst>
              <a:gd name="adj" fmla="val 2319"/>
            </a:avLst>
          </a:prstGeom>
        </p:spPr>
      </p:pic>
      <p:sp>
        <p:nvSpPr>
          <p:cNvPr id="9" name="Credit"/>
          <p:cNvSpPr txBox="1"/>
          <p:nvPr/>
        </p:nvSpPr>
        <p:spPr>
          <a:xfrm>
            <a:off x="548640" y="4507992"/>
            <a:ext cx="5120640" cy="182880"/>
          </a:xfrm>
          <a:prstGeom prst="rect">
            <a:avLst/>
          </a:prstGeom>
          <a:noFill/>
        </p:spPr>
        <p:txBody>
          <a:bodyPr wrap="square" lIns="0" tIns="0" rIns="0" bIns="0" anchor="t">
            <a:noAutofit/>
          </a:bodyPr>
          <a:lstStyle/>
          <a:p>
            <a:pPr algn="l"/>
            <a:r>
              <a:rPr lang="en-GB" sz="1000" b="0" i="0">
                <a:solidFill>
                  <a:srgbClr val="A9B0B8"/>
                </a:solidFill>
                <a:latin typeface="Arial"/>
              </a:rPr>
              <a:t>Photo: kitmasterbloke, CC BY 2.0, Wikimedia Commons.</a:t>
            </a:r>
          </a:p>
        </p:txBody>
      </p:sp>
      <p:sp>
        <p:nvSpPr>
          <p:cNvPr id="10" name="TextBox 9"/>
          <p:cNvSpPr txBox="1"/>
          <p:nvPr/>
        </p:nvSpPr>
        <p:spPr>
          <a:xfrm>
            <a:off x="548640" y="4709160"/>
            <a:ext cx="5120640" cy="329184"/>
          </a:xfrm>
          <a:prstGeom prst="rect">
            <a:avLst/>
          </a:prstGeom>
          <a:noFill/>
        </p:spPr>
        <p:txBody>
          <a:bodyPr wrap="square" lIns="0" tIns="0" rIns="0" bIns="0" anchor="t">
            <a:noAutofit/>
          </a:bodyPr>
          <a:lstStyle/>
          <a:p>
            <a:pPr algn="l"/>
            <a:r>
              <a:rPr lang="en-GB" sz="1600" b="0" i="0">
                <a:solidFill>
                  <a:srgbClr val="F2F2F2"/>
                </a:solidFill>
                <a:latin typeface="Arial"/>
              </a:rPr>
              <a:t>Reference: Merchant Navy class</a:t>
            </a:r>
          </a:p>
        </p:txBody>
      </p:sp>
      <p:grpSp>
        <p:nvGrpSpPr>
          <p:cNvPr id="11" name="Traits" descr="Traits: Normal tender: more coal and water; Burns more; Auxiliary tender: a practical extra; Fastest class."/>
          <p:cNvGrpSpPr/>
          <p:nvPr/>
        </p:nvGrpSpPr>
        <p:grpSpPr>
          <a:xfrm>
            <a:off x="5989320" y="1371600"/>
            <a:ext cx="5650992" cy="3621024"/>
            <a:chOff x="5989320" y="1371600"/>
            <a:chExt cx="5650992" cy="3621024"/>
          </a:xfrm>
        </p:grpSpPr>
        <p:sp>
          <p:nvSpPr>
            <p:cNvPr id="12" name="Rounded Rectangle 11"/>
            <p:cNvSpPr/>
            <p:nvPr/>
          </p:nvSpPr>
          <p:spPr>
            <a:xfrm>
              <a:off x="5989320" y="1371600"/>
              <a:ext cx="5650992" cy="749808"/>
            </a:xfrm>
            <a:prstGeom prst="roundRect">
              <a:avLst>
                <a:gd name="adj" fmla="val 9756"/>
              </a:avLst>
            </a:prstGeom>
            <a:solidFill>
              <a:srgbClr val="2B2F36"/>
            </a:solidFill>
            <a:ln>
              <a:noFill/>
            </a:ln>
          </p:spPr>
          <p:txBody>
            <a:bodyPr rtlCol="0" anchor="ctr"/>
            <a:lstStyle/>
            <a:p>
              <a:pPr algn="ctr"/>
              <a:endParaRPr/>
            </a:p>
          </p:txBody>
        </p:sp>
        <p:sp>
          <p:nvSpPr>
            <p:cNvPr id="13" name="Rectangle 12"/>
            <p:cNvSpPr/>
            <p:nvPr/>
          </p:nvSpPr>
          <p:spPr>
            <a:xfrm>
              <a:off x="6206490" y="1655064"/>
              <a:ext cx="388620" cy="274320"/>
            </a:xfrm>
            <a:prstGeom prst="rect">
              <a:avLst/>
            </a:prstGeom>
            <a:solidFill>
              <a:srgbClr val="F28C28"/>
            </a:solidFill>
            <a:ln w="9525">
              <a:solidFill>
                <a:srgbClr val="101418"/>
              </a:solidFill>
            </a:ln>
          </p:spPr>
          <p:txBody>
            <a:bodyPr rtlCol="0" anchor="ctr"/>
            <a:lstStyle/>
            <a:p>
              <a:pPr algn="ctr"/>
              <a:endParaRPr/>
            </a:p>
          </p:txBody>
        </p:sp>
        <p:sp>
          <p:nvSpPr>
            <p:cNvPr id="14" name="Rectangle 13"/>
            <p:cNvSpPr/>
            <p:nvPr/>
          </p:nvSpPr>
          <p:spPr>
            <a:xfrm>
              <a:off x="6229350" y="1620774"/>
              <a:ext cx="342900" cy="54864"/>
            </a:xfrm>
            <a:prstGeom prst="rect">
              <a:avLst/>
            </a:prstGeom>
            <a:solidFill>
              <a:srgbClr val="1B1D21"/>
            </a:solidFill>
            <a:ln>
              <a:noFill/>
            </a:ln>
          </p:spPr>
          <p:txBody>
            <a:bodyPr rtlCol="0" anchor="ctr"/>
            <a:lstStyle/>
            <a:p>
              <a:pPr algn="ctr"/>
              <a:endParaRPr/>
            </a:p>
          </p:txBody>
        </p:sp>
        <p:sp>
          <p:nvSpPr>
            <p:cNvPr id="15" name="Oval 14"/>
            <p:cNvSpPr/>
            <p:nvPr/>
          </p:nvSpPr>
          <p:spPr>
            <a:xfrm>
              <a:off x="6247638" y="1844802"/>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16" name="Oval 15"/>
            <p:cNvSpPr/>
            <p:nvPr/>
          </p:nvSpPr>
          <p:spPr>
            <a:xfrm>
              <a:off x="6453378" y="1844802"/>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17" name="TextBox 16"/>
            <p:cNvSpPr txBox="1"/>
            <p:nvPr/>
          </p:nvSpPr>
          <p:spPr>
            <a:xfrm>
              <a:off x="6720840" y="1371600"/>
              <a:ext cx="4809744" cy="749808"/>
            </a:xfrm>
            <a:prstGeom prst="rect">
              <a:avLst/>
            </a:prstGeom>
            <a:noFill/>
          </p:spPr>
          <p:txBody>
            <a:bodyPr wrap="square" lIns="0" tIns="0" rIns="0" bIns="0" anchor="ctr">
              <a:noAutofit/>
            </a:bodyPr>
            <a:lstStyle/>
            <a:p>
              <a:pPr algn="l"/>
              <a:r>
                <a:rPr lang="en-GB" sz="2000" b="0" i="0">
                  <a:solidFill>
                    <a:srgbClr val="F2F2F2"/>
                  </a:solidFill>
                  <a:latin typeface="Arial"/>
                </a:rPr>
                <a:t>Normal tender: more coal and water</a:t>
              </a:r>
            </a:p>
          </p:txBody>
        </p:sp>
        <p:sp>
          <p:nvSpPr>
            <p:cNvPr id="18" name="Rounded Rectangle 17"/>
            <p:cNvSpPr/>
            <p:nvPr/>
          </p:nvSpPr>
          <p:spPr>
            <a:xfrm>
              <a:off x="5989320" y="2267712"/>
              <a:ext cx="5650992" cy="749808"/>
            </a:xfrm>
            <a:prstGeom prst="roundRect">
              <a:avLst>
                <a:gd name="adj" fmla="val 9756"/>
              </a:avLst>
            </a:prstGeom>
            <a:solidFill>
              <a:srgbClr val="2B2F36"/>
            </a:solidFill>
            <a:ln>
              <a:noFill/>
            </a:ln>
          </p:spPr>
          <p:txBody>
            <a:bodyPr rtlCol="0" anchor="ctr"/>
            <a:lstStyle/>
            <a:p>
              <a:pPr algn="ctr"/>
              <a:endParaRPr/>
            </a:p>
          </p:txBody>
        </p:sp>
        <p:sp>
          <p:nvSpPr>
            <p:cNvPr id="19" name="Freeform 18"/>
            <p:cNvSpPr/>
            <p:nvPr/>
          </p:nvSpPr>
          <p:spPr>
            <a:xfrm>
              <a:off x="6263640" y="2436876"/>
              <a:ext cx="274320" cy="388620"/>
            </a:xfrm>
            <a:custGeom>
              <a:avLst/>
              <a:gdLst/>
              <a:ahLst/>
              <a:cxnLst/>
              <a:rect l="l" t="t" r="r" b="b"/>
              <a:pathLst>
                <a:path w="274320" h="388620">
                  <a:moveTo>
                    <a:pt x="0" y="262890"/>
                  </a:moveTo>
                  <a:lnTo>
                    <a:pt x="4674" y="295431"/>
                  </a:lnTo>
                  <a:lnTo>
                    <a:pt x="18376" y="325755"/>
                  </a:lnTo>
                  <a:lnTo>
                    <a:pt x="40173" y="351795"/>
                  </a:lnTo>
                  <a:lnTo>
                    <a:pt x="68580" y="371775"/>
                  </a:lnTo>
                  <a:lnTo>
                    <a:pt x="101660" y="384336"/>
                  </a:lnTo>
                  <a:lnTo>
                    <a:pt x="137160" y="388620"/>
                  </a:lnTo>
                  <a:lnTo>
                    <a:pt x="172660" y="384336"/>
                  </a:lnTo>
                  <a:lnTo>
                    <a:pt x="205740" y="371775"/>
                  </a:lnTo>
                  <a:lnTo>
                    <a:pt x="234147" y="351795"/>
                  </a:lnTo>
                  <a:lnTo>
                    <a:pt x="255944" y="325755"/>
                  </a:lnTo>
                  <a:lnTo>
                    <a:pt x="269646" y="295431"/>
                  </a:lnTo>
                  <a:lnTo>
                    <a:pt x="274320" y="262890"/>
                  </a:lnTo>
                  <a:lnTo>
                    <a:pt x="274320" y="262890"/>
                  </a:lnTo>
                  <a:lnTo>
                    <a:pt x="171450" y="0"/>
                  </a:lnTo>
                  <a:lnTo>
                    <a:pt x="0" y="262890"/>
                  </a:lnTo>
                  <a:close/>
                </a:path>
              </a:pathLst>
            </a:custGeom>
            <a:solidFill>
              <a:srgbClr val="F28C28"/>
            </a:solidFill>
            <a:ln>
              <a:noFill/>
            </a:ln>
          </p:spPr>
          <p:txBody>
            <a:bodyPr rtlCol="0" anchor="ctr"/>
            <a:lstStyle/>
            <a:p>
              <a:pPr algn="ctr"/>
              <a:endParaRPr/>
            </a:p>
          </p:txBody>
        </p:sp>
        <p:sp>
          <p:nvSpPr>
            <p:cNvPr id="20" name="Freeform 19"/>
            <p:cNvSpPr/>
            <p:nvPr/>
          </p:nvSpPr>
          <p:spPr>
            <a:xfrm>
              <a:off x="6343650" y="2608326"/>
              <a:ext cx="114300" cy="171450"/>
            </a:xfrm>
            <a:custGeom>
              <a:avLst/>
              <a:gdLst/>
              <a:ahLst/>
              <a:cxnLst/>
              <a:rect l="l" t="t" r="r" b="b"/>
              <a:pathLst>
                <a:path w="114300" h="171450">
                  <a:moveTo>
                    <a:pt x="0" y="171450"/>
                  </a:moveTo>
                  <a:lnTo>
                    <a:pt x="114300" y="171450"/>
                  </a:lnTo>
                  <a:lnTo>
                    <a:pt x="57150" y="0"/>
                  </a:lnTo>
                  <a:close/>
                </a:path>
              </a:pathLst>
            </a:custGeom>
            <a:solidFill>
              <a:srgbClr val="F2C14E"/>
            </a:solidFill>
            <a:ln>
              <a:noFill/>
            </a:ln>
          </p:spPr>
          <p:txBody>
            <a:bodyPr rtlCol="0" anchor="ctr"/>
            <a:lstStyle/>
            <a:p>
              <a:pPr algn="ctr"/>
              <a:endParaRPr/>
            </a:p>
          </p:txBody>
        </p:sp>
        <p:sp>
          <p:nvSpPr>
            <p:cNvPr id="21" name="TextBox 20"/>
            <p:cNvSpPr txBox="1"/>
            <p:nvPr/>
          </p:nvSpPr>
          <p:spPr>
            <a:xfrm>
              <a:off x="6720840" y="2267712"/>
              <a:ext cx="4809744" cy="749808"/>
            </a:xfrm>
            <a:prstGeom prst="rect">
              <a:avLst/>
            </a:prstGeom>
            <a:noFill/>
          </p:spPr>
          <p:txBody>
            <a:bodyPr wrap="square" lIns="0" tIns="0" rIns="0" bIns="0" anchor="ctr">
              <a:noAutofit/>
            </a:bodyPr>
            <a:lstStyle/>
            <a:p>
              <a:pPr algn="l"/>
              <a:r>
                <a:rPr lang="en-GB" sz="2000" b="0" i="0">
                  <a:solidFill>
                    <a:srgbClr val="F2F2F2"/>
                  </a:solidFill>
                  <a:latin typeface="Arial"/>
                </a:rPr>
                <a:t>Burns more</a:t>
              </a:r>
            </a:p>
          </p:txBody>
        </p:sp>
        <p:sp>
          <p:nvSpPr>
            <p:cNvPr id="22" name="Rounded Rectangle 21"/>
            <p:cNvSpPr/>
            <p:nvPr/>
          </p:nvSpPr>
          <p:spPr>
            <a:xfrm>
              <a:off x="5989320" y="3163824"/>
              <a:ext cx="5650992" cy="749808"/>
            </a:xfrm>
            <a:prstGeom prst="roundRect">
              <a:avLst>
                <a:gd name="adj" fmla="val 9756"/>
              </a:avLst>
            </a:prstGeom>
            <a:solidFill>
              <a:srgbClr val="2B2F36"/>
            </a:solidFill>
            <a:ln>
              <a:noFill/>
            </a:ln>
          </p:spPr>
          <p:txBody>
            <a:bodyPr rtlCol="0" anchor="ctr"/>
            <a:lstStyle/>
            <a:p>
              <a:pPr algn="ctr"/>
              <a:endParaRPr/>
            </a:p>
          </p:txBody>
        </p:sp>
        <p:sp>
          <p:nvSpPr>
            <p:cNvPr id="23" name="Rectangle 22"/>
            <p:cNvSpPr/>
            <p:nvPr/>
          </p:nvSpPr>
          <p:spPr>
            <a:xfrm>
              <a:off x="6206490" y="3447288"/>
              <a:ext cx="388620" cy="274320"/>
            </a:xfrm>
            <a:prstGeom prst="rect">
              <a:avLst/>
            </a:prstGeom>
            <a:pattFill prst="wdUpDiag">
              <a:fgClr>
                <a:srgbClr val="F28C28"/>
              </a:fgClr>
              <a:bgClr>
                <a:srgbClr val="2B2F36"/>
              </a:bgClr>
            </a:pattFill>
            <a:ln w="19050">
              <a:solidFill>
                <a:srgbClr val="F28C28"/>
              </a:solidFill>
            </a:ln>
          </p:spPr>
          <p:txBody>
            <a:bodyPr rtlCol="0" anchor="ctr"/>
            <a:lstStyle/>
            <a:p>
              <a:pPr algn="ctr"/>
              <a:endParaRPr/>
            </a:p>
          </p:txBody>
        </p:sp>
        <p:sp>
          <p:nvSpPr>
            <p:cNvPr id="24" name="Oval 23"/>
            <p:cNvSpPr/>
            <p:nvPr/>
          </p:nvSpPr>
          <p:spPr>
            <a:xfrm>
              <a:off x="6247638" y="3637026"/>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25" name="Oval 24"/>
            <p:cNvSpPr/>
            <p:nvPr/>
          </p:nvSpPr>
          <p:spPr>
            <a:xfrm>
              <a:off x="6453378" y="3637026"/>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26" name="TextBox 25"/>
            <p:cNvSpPr txBox="1"/>
            <p:nvPr/>
          </p:nvSpPr>
          <p:spPr>
            <a:xfrm>
              <a:off x="6720840" y="3163824"/>
              <a:ext cx="4809744" cy="749808"/>
            </a:xfrm>
            <a:prstGeom prst="rect">
              <a:avLst/>
            </a:prstGeom>
            <a:noFill/>
          </p:spPr>
          <p:txBody>
            <a:bodyPr wrap="square" lIns="0" tIns="0" rIns="0" bIns="0" anchor="ctr">
              <a:noAutofit/>
            </a:bodyPr>
            <a:lstStyle/>
            <a:p>
              <a:pPr algn="l"/>
              <a:r>
                <a:rPr lang="en-GB" sz="2000" b="0" i="0">
                  <a:solidFill>
                    <a:srgbClr val="F2F2F2"/>
                  </a:solidFill>
                  <a:latin typeface="Arial"/>
                </a:rPr>
                <a:t>Auxiliary tender: a practical extra</a:t>
              </a:r>
            </a:p>
          </p:txBody>
        </p:sp>
        <p:sp>
          <p:nvSpPr>
            <p:cNvPr id="27" name="Rounded Rectangle 26"/>
            <p:cNvSpPr/>
            <p:nvPr/>
          </p:nvSpPr>
          <p:spPr>
            <a:xfrm>
              <a:off x="5989320" y="4059936"/>
              <a:ext cx="5650992" cy="932688"/>
            </a:xfrm>
            <a:prstGeom prst="roundRect">
              <a:avLst>
                <a:gd name="adj" fmla="val 7843"/>
              </a:avLst>
            </a:prstGeom>
            <a:solidFill>
              <a:srgbClr val="2B2F36"/>
            </a:solidFill>
            <a:ln>
              <a:noFill/>
            </a:ln>
          </p:spPr>
          <p:txBody>
            <a:bodyPr rtlCol="0" anchor="ctr"/>
            <a:lstStyle/>
            <a:p>
              <a:pPr algn="ctr"/>
              <a:endParaRPr/>
            </a:p>
          </p:txBody>
        </p:sp>
        <p:sp>
          <p:nvSpPr>
            <p:cNvPr id="28" name="Chevron 27"/>
            <p:cNvSpPr/>
            <p:nvPr/>
          </p:nvSpPr>
          <p:spPr>
            <a:xfrm>
              <a:off x="6195060" y="4400550"/>
              <a:ext cx="160020" cy="251460"/>
            </a:xfrm>
            <a:prstGeom prst="chevron">
              <a:avLst/>
            </a:prstGeom>
            <a:solidFill>
              <a:srgbClr val="F28C28"/>
            </a:solidFill>
            <a:ln>
              <a:noFill/>
            </a:ln>
          </p:spPr>
          <p:txBody>
            <a:bodyPr rtlCol="0" anchor="ctr"/>
            <a:lstStyle/>
            <a:p>
              <a:pPr algn="ctr"/>
              <a:endParaRPr/>
            </a:p>
          </p:txBody>
        </p:sp>
        <p:sp>
          <p:nvSpPr>
            <p:cNvPr id="29" name="Chevron 28"/>
            <p:cNvSpPr/>
            <p:nvPr/>
          </p:nvSpPr>
          <p:spPr>
            <a:xfrm>
              <a:off x="6320790" y="4400550"/>
              <a:ext cx="160020" cy="251460"/>
            </a:xfrm>
            <a:prstGeom prst="chevron">
              <a:avLst/>
            </a:prstGeom>
            <a:solidFill>
              <a:srgbClr val="F28C28"/>
            </a:solidFill>
            <a:ln>
              <a:noFill/>
            </a:ln>
          </p:spPr>
          <p:txBody>
            <a:bodyPr rtlCol="0" anchor="ctr"/>
            <a:lstStyle/>
            <a:p>
              <a:pPr algn="ctr"/>
              <a:endParaRPr/>
            </a:p>
          </p:txBody>
        </p:sp>
        <p:sp>
          <p:nvSpPr>
            <p:cNvPr id="30" name="Chevron 29"/>
            <p:cNvSpPr/>
            <p:nvPr/>
          </p:nvSpPr>
          <p:spPr>
            <a:xfrm>
              <a:off x="6446520" y="4400550"/>
              <a:ext cx="160020" cy="251460"/>
            </a:xfrm>
            <a:prstGeom prst="chevron">
              <a:avLst/>
            </a:prstGeom>
            <a:solidFill>
              <a:srgbClr val="F28C28"/>
            </a:solidFill>
            <a:ln>
              <a:noFill/>
            </a:ln>
          </p:spPr>
          <p:txBody>
            <a:bodyPr rtlCol="0" anchor="ctr"/>
            <a:lstStyle/>
            <a:p>
              <a:pPr algn="ctr"/>
              <a:endParaRPr/>
            </a:p>
          </p:txBody>
        </p:sp>
        <p:sp>
          <p:nvSpPr>
            <p:cNvPr id="31" name="TextBox 30"/>
            <p:cNvSpPr txBox="1"/>
            <p:nvPr/>
          </p:nvSpPr>
          <p:spPr>
            <a:xfrm>
              <a:off x="6720840" y="4133088"/>
              <a:ext cx="4809744" cy="384048"/>
            </a:xfrm>
            <a:prstGeom prst="rect">
              <a:avLst/>
            </a:prstGeom>
            <a:noFill/>
          </p:spPr>
          <p:txBody>
            <a:bodyPr wrap="square" lIns="0" tIns="0" rIns="0" bIns="0" anchor="ctr">
              <a:noAutofit/>
            </a:bodyPr>
            <a:lstStyle/>
            <a:p>
              <a:pPr algn="l"/>
              <a:r>
                <a:rPr lang="en-GB" sz="2000" b="0" i="0">
                  <a:solidFill>
                    <a:srgbClr val="F2F2F2"/>
                  </a:solidFill>
                  <a:latin typeface="Arial"/>
                </a:rPr>
                <a:t>Fastest class</a:t>
              </a:r>
            </a:p>
          </p:txBody>
        </p:sp>
        <p:sp>
          <p:nvSpPr>
            <p:cNvPr id="32" name="Inline chip Proposed"/>
            <p:cNvSpPr/>
            <p:nvPr/>
          </p:nvSpPr>
          <p:spPr>
            <a:xfrm>
              <a:off x="6720840" y="457200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33" name="Inline chip Undecided"/>
            <p:cNvSpPr/>
            <p:nvPr/>
          </p:nvSpPr>
          <p:spPr>
            <a:xfrm>
              <a:off x="8199628" y="4572000"/>
              <a:ext cx="20612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 (OQ05)</a:t>
              </a:r>
            </a:p>
          </p:txBody>
        </p:sp>
      </p:gr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Medium has a tender and more range. It uses more coal and water. It may be the fastest class.</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20</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6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12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Large: the heavy hauler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pic>
        <p:nvPicPr>
          <p:cNvPr id="8" name="Picture P12" descr="BR Standard 9F No. 92203 at Toddington, front three-quarter view."/>
          <p:cNvPicPr>
            <a:picLocks noChangeAspect="1"/>
          </p:cNvPicPr>
          <p:nvPr/>
        </p:nvPicPr>
        <p:blipFill>
          <a:blip r:embed="rId2"/>
          <a:srcRect t="230" b="230"/>
          <a:stretch>
            <a:fillRect/>
          </a:stretch>
        </p:blipFill>
        <p:spPr>
          <a:xfrm>
            <a:off x="548640" y="1325880"/>
            <a:ext cx="5120640" cy="3291840"/>
          </a:xfrm>
          <a:prstGeom prst="roundRect">
            <a:avLst>
              <a:gd name="adj" fmla="val 2222"/>
            </a:avLst>
          </a:prstGeom>
        </p:spPr>
      </p:pic>
      <p:sp>
        <p:nvSpPr>
          <p:cNvPr id="9" name="Credit"/>
          <p:cNvSpPr txBox="1"/>
          <p:nvPr/>
        </p:nvSpPr>
        <p:spPr>
          <a:xfrm>
            <a:off x="548640" y="4645152"/>
            <a:ext cx="5120640" cy="182880"/>
          </a:xfrm>
          <a:prstGeom prst="rect">
            <a:avLst/>
          </a:prstGeom>
          <a:noFill/>
        </p:spPr>
        <p:txBody>
          <a:bodyPr wrap="square" lIns="0" tIns="0" rIns="0" bIns="0" anchor="t">
            <a:noAutofit/>
          </a:bodyPr>
          <a:lstStyle/>
          <a:p>
            <a:pPr algn="l"/>
            <a:r>
              <a:rPr lang="en-GB" sz="1000" b="0" i="0">
                <a:solidFill>
                  <a:srgbClr val="A9B0B8"/>
                </a:solidFill>
                <a:latin typeface="Arial"/>
              </a:rPr>
              <a:t>Photo: Tony Hisgett, CC BY 2.0, Wikimedia Commons.</a:t>
            </a:r>
          </a:p>
        </p:txBody>
      </p:sp>
      <p:sp>
        <p:nvSpPr>
          <p:cNvPr id="10" name="TextBox 9"/>
          <p:cNvSpPr txBox="1"/>
          <p:nvPr/>
        </p:nvSpPr>
        <p:spPr>
          <a:xfrm>
            <a:off x="548640" y="4846320"/>
            <a:ext cx="5120640" cy="329184"/>
          </a:xfrm>
          <a:prstGeom prst="rect">
            <a:avLst/>
          </a:prstGeom>
          <a:noFill/>
        </p:spPr>
        <p:txBody>
          <a:bodyPr wrap="square" lIns="0" tIns="0" rIns="0" bIns="0" anchor="t">
            <a:noAutofit/>
          </a:bodyPr>
          <a:lstStyle/>
          <a:p>
            <a:pPr algn="l"/>
            <a:r>
              <a:rPr lang="en-GB" sz="1600" b="0" i="0">
                <a:solidFill>
                  <a:srgbClr val="F2F2F2"/>
                </a:solidFill>
                <a:latin typeface="Arial"/>
              </a:rPr>
              <a:t>Reference: BR Standard 9F</a:t>
            </a:r>
          </a:p>
        </p:txBody>
      </p:sp>
      <p:grpSp>
        <p:nvGrpSpPr>
          <p:cNvPr id="11" name="Traits" descr="Traits: Most powerful; High coal and water demand; Auxiliary tender for very long routes; Slower to speed up."/>
          <p:cNvGrpSpPr/>
          <p:nvPr/>
        </p:nvGrpSpPr>
        <p:grpSpPr>
          <a:xfrm>
            <a:off x="5989320" y="1371600"/>
            <a:ext cx="5650992" cy="3438144"/>
            <a:chOff x="5989320" y="1371600"/>
            <a:chExt cx="5650992" cy="3438144"/>
          </a:xfrm>
        </p:grpSpPr>
        <p:sp>
          <p:nvSpPr>
            <p:cNvPr id="12" name="Rounded Rectangle 11"/>
            <p:cNvSpPr/>
            <p:nvPr/>
          </p:nvSpPr>
          <p:spPr>
            <a:xfrm>
              <a:off x="5989320" y="1371600"/>
              <a:ext cx="5650992" cy="749808"/>
            </a:xfrm>
            <a:prstGeom prst="roundRect">
              <a:avLst>
                <a:gd name="adj" fmla="val 9756"/>
              </a:avLst>
            </a:prstGeom>
            <a:solidFill>
              <a:srgbClr val="2B2F36"/>
            </a:solidFill>
            <a:ln>
              <a:noFill/>
            </a:ln>
          </p:spPr>
          <p:txBody>
            <a:bodyPr rtlCol="0" anchor="ctr"/>
            <a:lstStyle/>
            <a:p>
              <a:pPr algn="ctr"/>
              <a:endParaRPr/>
            </a:p>
          </p:txBody>
        </p:sp>
        <p:sp>
          <p:nvSpPr>
            <p:cNvPr id="13" name="Freeform 12"/>
            <p:cNvSpPr/>
            <p:nvPr/>
          </p:nvSpPr>
          <p:spPr>
            <a:xfrm>
              <a:off x="6183630" y="1700784"/>
              <a:ext cx="228600" cy="205740"/>
            </a:xfrm>
            <a:custGeom>
              <a:avLst/>
              <a:gdLst/>
              <a:ahLst/>
              <a:cxnLst/>
              <a:rect l="l" t="t" r="r" b="b"/>
              <a:pathLst>
                <a:path w="228600" h="205740">
                  <a:moveTo>
                    <a:pt x="0" y="205740"/>
                  </a:moveTo>
                  <a:lnTo>
                    <a:pt x="228600" y="205740"/>
                  </a:lnTo>
                  <a:lnTo>
                    <a:pt x="187452" y="0"/>
                  </a:lnTo>
                  <a:lnTo>
                    <a:pt x="41148" y="0"/>
                  </a:lnTo>
                  <a:close/>
                </a:path>
              </a:pathLst>
            </a:custGeom>
            <a:solidFill>
              <a:srgbClr val="F28C28"/>
            </a:solidFill>
            <a:ln>
              <a:noFill/>
            </a:ln>
          </p:spPr>
          <p:txBody>
            <a:bodyPr rtlCol="0" anchor="ctr"/>
            <a:lstStyle/>
            <a:p>
              <a:pPr algn="ctr"/>
              <a:endParaRPr/>
            </a:p>
          </p:txBody>
        </p:sp>
        <p:sp>
          <p:nvSpPr>
            <p:cNvPr id="14" name="Freeform 13"/>
            <p:cNvSpPr/>
            <p:nvPr/>
          </p:nvSpPr>
          <p:spPr>
            <a:xfrm>
              <a:off x="6389370" y="1700784"/>
              <a:ext cx="228600" cy="205740"/>
            </a:xfrm>
            <a:custGeom>
              <a:avLst/>
              <a:gdLst/>
              <a:ahLst/>
              <a:cxnLst/>
              <a:rect l="l" t="t" r="r" b="b"/>
              <a:pathLst>
                <a:path w="228600" h="205740">
                  <a:moveTo>
                    <a:pt x="0" y="205740"/>
                  </a:moveTo>
                  <a:lnTo>
                    <a:pt x="228600" y="205740"/>
                  </a:lnTo>
                  <a:lnTo>
                    <a:pt x="187452" y="0"/>
                  </a:lnTo>
                  <a:lnTo>
                    <a:pt x="41148" y="0"/>
                  </a:lnTo>
                  <a:close/>
                </a:path>
              </a:pathLst>
            </a:custGeom>
            <a:solidFill>
              <a:srgbClr val="F28C28"/>
            </a:solidFill>
            <a:ln>
              <a:noFill/>
            </a:ln>
          </p:spPr>
          <p:txBody>
            <a:bodyPr rtlCol="0" anchor="ctr"/>
            <a:lstStyle/>
            <a:p>
              <a:pPr algn="ctr"/>
              <a:endParaRPr/>
            </a:p>
          </p:txBody>
        </p:sp>
        <p:sp>
          <p:nvSpPr>
            <p:cNvPr id="15" name="Freeform 14"/>
            <p:cNvSpPr/>
            <p:nvPr/>
          </p:nvSpPr>
          <p:spPr>
            <a:xfrm>
              <a:off x="6286500" y="1563624"/>
              <a:ext cx="228600" cy="194310"/>
            </a:xfrm>
            <a:custGeom>
              <a:avLst/>
              <a:gdLst/>
              <a:ahLst/>
              <a:cxnLst/>
              <a:rect l="l" t="t" r="r" b="b"/>
              <a:pathLst>
                <a:path w="228600" h="194310">
                  <a:moveTo>
                    <a:pt x="0" y="194310"/>
                  </a:moveTo>
                  <a:lnTo>
                    <a:pt x="228600" y="194310"/>
                  </a:lnTo>
                  <a:lnTo>
                    <a:pt x="187452" y="0"/>
                  </a:lnTo>
                  <a:lnTo>
                    <a:pt x="41148" y="0"/>
                  </a:lnTo>
                  <a:close/>
                </a:path>
              </a:pathLst>
            </a:custGeom>
            <a:solidFill>
              <a:srgbClr val="F28C28"/>
            </a:solidFill>
            <a:ln w="12700">
              <a:solidFill>
                <a:srgbClr val="1E2126"/>
              </a:solidFill>
            </a:ln>
          </p:spPr>
          <p:txBody>
            <a:bodyPr rtlCol="0" anchor="ctr"/>
            <a:lstStyle/>
            <a:p>
              <a:pPr algn="ctr"/>
              <a:endParaRPr/>
            </a:p>
          </p:txBody>
        </p:sp>
        <p:sp>
          <p:nvSpPr>
            <p:cNvPr id="16" name="TextBox 15"/>
            <p:cNvSpPr txBox="1"/>
            <p:nvPr/>
          </p:nvSpPr>
          <p:spPr>
            <a:xfrm>
              <a:off x="6720840" y="1371600"/>
              <a:ext cx="4809744" cy="749808"/>
            </a:xfrm>
            <a:prstGeom prst="rect">
              <a:avLst/>
            </a:prstGeom>
            <a:noFill/>
          </p:spPr>
          <p:txBody>
            <a:bodyPr wrap="square" lIns="0" tIns="0" rIns="0" bIns="0" anchor="ctr">
              <a:noAutofit/>
            </a:bodyPr>
            <a:lstStyle/>
            <a:p>
              <a:pPr algn="l"/>
              <a:r>
                <a:rPr lang="en-GB" sz="2000" b="0" i="0">
                  <a:solidFill>
                    <a:srgbClr val="F2F2F2"/>
                  </a:solidFill>
                  <a:latin typeface="Arial"/>
                </a:rPr>
                <a:t>Most powerful</a:t>
              </a:r>
            </a:p>
          </p:txBody>
        </p:sp>
        <p:sp>
          <p:nvSpPr>
            <p:cNvPr id="17" name="Rounded Rectangle 16"/>
            <p:cNvSpPr/>
            <p:nvPr/>
          </p:nvSpPr>
          <p:spPr>
            <a:xfrm>
              <a:off x="5989320" y="2267712"/>
              <a:ext cx="5650992" cy="749808"/>
            </a:xfrm>
            <a:prstGeom prst="roundRect">
              <a:avLst>
                <a:gd name="adj" fmla="val 9756"/>
              </a:avLst>
            </a:prstGeom>
            <a:solidFill>
              <a:srgbClr val="2B2F36"/>
            </a:solidFill>
            <a:ln>
              <a:noFill/>
            </a:ln>
          </p:spPr>
          <p:txBody>
            <a:bodyPr rtlCol="0" anchor="ctr"/>
            <a:lstStyle/>
            <a:p>
              <a:pPr algn="ctr"/>
              <a:endParaRPr/>
            </a:p>
          </p:txBody>
        </p:sp>
        <p:sp>
          <p:nvSpPr>
            <p:cNvPr id="18" name="Freeform 17"/>
            <p:cNvSpPr/>
            <p:nvPr/>
          </p:nvSpPr>
          <p:spPr>
            <a:xfrm>
              <a:off x="6207919" y="2500884"/>
              <a:ext cx="202882" cy="272125"/>
            </a:xfrm>
            <a:custGeom>
              <a:avLst/>
              <a:gdLst/>
              <a:ahLst/>
              <a:cxnLst/>
              <a:rect l="l" t="t" r="r" b="b"/>
              <a:pathLst>
                <a:path w="202882" h="272125">
                  <a:moveTo>
                    <a:pt x="5548" y="135176"/>
                  </a:moveTo>
                  <a:lnTo>
                    <a:pt x="0" y="158969"/>
                  </a:lnTo>
                  <a:lnTo>
                    <a:pt x="267" y="183398"/>
                  </a:lnTo>
                  <a:lnTo>
                    <a:pt x="6332" y="207064"/>
                  </a:lnTo>
                  <a:lnTo>
                    <a:pt x="17849" y="228610"/>
                  </a:lnTo>
                  <a:lnTo>
                    <a:pt x="34157" y="246801"/>
                  </a:lnTo>
                  <a:lnTo>
                    <a:pt x="54321" y="260595"/>
                  </a:lnTo>
                  <a:lnTo>
                    <a:pt x="77186" y="269201"/>
                  </a:lnTo>
                  <a:lnTo>
                    <a:pt x="101441" y="272125"/>
                  </a:lnTo>
                  <a:lnTo>
                    <a:pt x="125696" y="269201"/>
                  </a:lnTo>
                  <a:lnTo>
                    <a:pt x="148561" y="260595"/>
                  </a:lnTo>
                  <a:lnTo>
                    <a:pt x="168725" y="246801"/>
                  </a:lnTo>
                  <a:lnTo>
                    <a:pt x="185033" y="228610"/>
                  </a:lnTo>
                  <a:lnTo>
                    <a:pt x="196550" y="207064"/>
                  </a:lnTo>
                  <a:lnTo>
                    <a:pt x="202615" y="183398"/>
                  </a:lnTo>
                  <a:lnTo>
                    <a:pt x="202882" y="158969"/>
                  </a:lnTo>
                  <a:lnTo>
                    <a:pt x="197334" y="135176"/>
                  </a:lnTo>
                  <a:lnTo>
                    <a:pt x="101441" y="0"/>
                  </a:lnTo>
                  <a:close/>
                </a:path>
              </a:pathLst>
            </a:custGeom>
            <a:solidFill>
              <a:srgbClr val="4DA3FF"/>
            </a:solidFill>
            <a:ln>
              <a:noFill/>
            </a:ln>
          </p:spPr>
          <p:txBody>
            <a:bodyPr rtlCol="0" anchor="ctr"/>
            <a:lstStyle/>
            <a:p>
              <a:pPr algn="ctr"/>
              <a:endParaRPr/>
            </a:p>
          </p:txBody>
        </p:sp>
        <p:sp>
          <p:nvSpPr>
            <p:cNvPr id="19" name="Freeform 18"/>
            <p:cNvSpPr/>
            <p:nvPr/>
          </p:nvSpPr>
          <p:spPr>
            <a:xfrm>
              <a:off x="6423660" y="2596896"/>
              <a:ext cx="194310" cy="182880"/>
            </a:xfrm>
            <a:custGeom>
              <a:avLst/>
              <a:gdLst/>
              <a:ahLst/>
              <a:cxnLst/>
              <a:rect l="l" t="t" r="r" b="b"/>
              <a:pathLst>
                <a:path w="194310" h="182880">
                  <a:moveTo>
                    <a:pt x="0" y="182880"/>
                  </a:moveTo>
                  <a:lnTo>
                    <a:pt x="194310" y="182880"/>
                  </a:lnTo>
                  <a:lnTo>
                    <a:pt x="160020" y="45720"/>
                  </a:lnTo>
                  <a:lnTo>
                    <a:pt x="80010" y="0"/>
                  </a:lnTo>
                  <a:lnTo>
                    <a:pt x="22860" y="68580"/>
                  </a:lnTo>
                  <a:close/>
                </a:path>
              </a:pathLst>
            </a:custGeom>
            <a:solidFill>
              <a:srgbClr val="1B1D21"/>
            </a:solidFill>
            <a:ln w="12700">
              <a:solidFill>
                <a:srgbClr val="6B7078"/>
              </a:solidFill>
            </a:ln>
          </p:spPr>
          <p:txBody>
            <a:bodyPr rtlCol="0" anchor="ctr"/>
            <a:lstStyle/>
            <a:p>
              <a:pPr algn="ctr"/>
              <a:endParaRPr/>
            </a:p>
          </p:txBody>
        </p:sp>
        <p:sp>
          <p:nvSpPr>
            <p:cNvPr id="20" name="TextBox 19"/>
            <p:cNvSpPr txBox="1"/>
            <p:nvPr/>
          </p:nvSpPr>
          <p:spPr>
            <a:xfrm>
              <a:off x="6720840" y="2267712"/>
              <a:ext cx="4809744" cy="749808"/>
            </a:xfrm>
            <a:prstGeom prst="rect">
              <a:avLst/>
            </a:prstGeom>
            <a:noFill/>
          </p:spPr>
          <p:txBody>
            <a:bodyPr wrap="square" lIns="0" tIns="0" rIns="0" bIns="0" anchor="ctr">
              <a:noAutofit/>
            </a:bodyPr>
            <a:lstStyle/>
            <a:p>
              <a:pPr algn="l"/>
              <a:r>
                <a:rPr lang="en-GB" sz="2000" b="0" i="0">
                  <a:solidFill>
                    <a:srgbClr val="F2F2F2"/>
                  </a:solidFill>
                  <a:latin typeface="Arial"/>
                </a:rPr>
                <a:t>High coal and water demand</a:t>
              </a:r>
            </a:p>
          </p:txBody>
        </p:sp>
        <p:sp>
          <p:nvSpPr>
            <p:cNvPr id="21" name="Rounded Rectangle 20"/>
            <p:cNvSpPr/>
            <p:nvPr/>
          </p:nvSpPr>
          <p:spPr>
            <a:xfrm>
              <a:off x="5989320" y="3163824"/>
              <a:ext cx="5650992" cy="749808"/>
            </a:xfrm>
            <a:prstGeom prst="roundRect">
              <a:avLst>
                <a:gd name="adj" fmla="val 9756"/>
              </a:avLst>
            </a:prstGeom>
            <a:solidFill>
              <a:srgbClr val="2B2F36"/>
            </a:solidFill>
            <a:ln>
              <a:noFill/>
            </a:ln>
          </p:spPr>
          <p:txBody>
            <a:bodyPr rtlCol="0" anchor="ctr"/>
            <a:lstStyle/>
            <a:p>
              <a:pPr algn="ctr"/>
              <a:endParaRPr/>
            </a:p>
          </p:txBody>
        </p:sp>
        <p:sp>
          <p:nvSpPr>
            <p:cNvPr id="22" name="Rectangle 21"/>
            <p:cNvSpPr/>
            <p:nvPr/>
          </p:nvSpPr>
          <p:spPr>
            <a:xfrm>
              <a:off x="6206490" y="3447288"/>
              <a:ext cx="388620" cy="274320"/>
            </a:xfrm>
            <a:prstGeom prst="rect">
              <a:avLst/>
            </a:prstGeom>
            <a:pattFill prst="wdUpDiag">
              <a:fgClr>
                <a:srgbClr val="F28C28"/>
              </a:fgClr>
              <a:bgClr>
                <a:srgbClr val="2B2F36"/>
              </a:bgClr>
            </a:pattFill>
            <a:ln w="19050">
              <a:solidFill>
                <a:srgbClr val="F28C28"/>
              </a:solidFill>
            </a:ln>
          </p:spPr>
          <p:txBody>
            <a:bodyPr rtlCol="0" anchor="ctr"/>
            <a:lstStyle/>
            <a:p>
              <a:pPr algn="ctr"/>
              <a:endParaRPr/>
            </a:p>
          </p:txBody>
        </p:sp>
        <p:sp>
          <p:nvSpPr>
            <p:cNvPr id="23" name="Oval 22"/>
            <p:cNvSpPr/>
            <p:nvPr/>
          </p:nvSpPr>
          <p:spPr>
            <a:xfrm>
              <a:off x="6247638" y="3637026"/>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24" name="Oval 23"/>
            <p:cNvSpPr/>
            <p:nvPr/>
          </p:nvSpPr>
          <p:spPr>
            <a:xfrm>
              <a:off x="6453378" y="3637026"/>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25" name="TextBox 24"/>
            <p:cNvSpPr txBox="1"/>
            <p:nvPr/>
          </p:nvSpPr>
          <p:spPr>
            <a:xfrm>
              <a:off x="6720840" y="3163824"/>
              <a:ext cx="4809744" cy="749808"/>
            </a:xfrm>
            <a:prstGeom prst="rect">
              <a:avLst/>
            </a:prstGeom>
            <a:noFill/>
          </p:spPr>
          <p:txBody>
            <a:bodyPr wrap="square" lIns="0" tIns="0" rIns="0" bIns="0" anchor="ctr">
              <a:noAutofit/>
            </a:bodyPr>
            <a:lstStyle/>
            <a:p>
              <a:pPr algn="l"/>
              <a:r>
                <a:rPr lang="en-GB" sz="2000" b="0" i="0">
                  <a:solidFill>
                    <a:srgbClr val="F2F2F2"/>
                  </a:solidFill>
                  <a:latin typeface="Arial"/>
                </a:rPr>
                <a:t>Auxiliary tender for very long routes</a:t>
              </a:r>
            </a:p>
          </p:txBody>
        </p:sp>
        <p:sp>
          <p:nvSpPr>
            <p:cNvPr id="26" name="Rounded Rectangle 25"/>
            <p:cNvSpPr/>
            <p:nvPr/>
          </p:nvSpPr>
          <p:spPr>
            <a:xfrm>
              <a:off x="5989320" y="4059936"/>
              <a:ext cx="5650992" cy="749808"/>
            </a:xfrm>
            <a:prstGeom prst="roundRect">
              <a:avLst>
                <a:gd name="adj" fmla="val 9756"/>
              </a:avLst>
            </a:prstGeom>
            <a:solidFill>
              <a:srgbClr val="2B2F36"/>
            </a:solidFill>
            <a:ln>
              <a:noFill/>
            </a:ln>
          </p:spPr>
          <p:txBody>
            <a:bodyPr rtlCol="0" anchor="ctr"/>
            <a:lstStyle/>
            <a:p>
              <a:pPr algn="ctr"/>
              <a:endParaRPr/>
            </a:p>
          </p:txBody>
        </p:sp>
        <p:sp>
          <p:nvSpPr>
            <p:cNvPr id="27" name="Oval 26"/>
            <p:cNvSpPr/>
            <p:nvPr/>
          </p:nvSpPr>
          <p:spPr>
            <a:xfrm>
              <a:off x="6195060" y="4229100"/>
              <a:ext cx="411480" cy="411480"/>
            </a:xfrm>
            <a:prstGeom prst="ellipse">
              <a:avLst/>
            </a:prstGeom>
            <a:noFill/>
            <a:ln w="31750">
              <a:solidFill>
                <a:srgbClr val="F28C28"/>
              </a:solidFill>
            </a:ln>
          </p:spPr>
          <p:txBody>
            <a:bodyPr rtlCol="0" anchor="ctr"/>
            <a:lstStyle/>
            <a:p>
              <a:pPr algn="ctr"/>
              <a:endParaRPr/>
            </a:p>
          </p:txBody>
        </p:sp>
        <p:cxnSp>
          <p:nvCxnSpPr>
            <p:cNvPr id="28" name="Connector 27"/>
            <p:cNvCxnSpPr/>
            <p:nvPr/>
          </p:nvCxnSpPr>
          <p:spPr>
            <a:xfrm flipH="1" flipV="1">
              <a:off x="6297930" y="4389120"/>
              <a:ext cx="102870" cy="45720"/>
            </a:xfrm>
            <a:prstGeom prst="line">
              <a:avLst/>
            </a:prstGeom>
            <a:ln w="31750">
              <a:solidFill>
                <a:srgbClr val="F2F2F2"/>
              </a:solidFill>
            </a:ln>
          </p:spPr>
        </p:cxnSp>
        <p:sp>
          <p:nvSpPr>
            <p:cNvPr id="29" name="Oval 28"/>
            <p:cNvSpPr/>
            <p:nvPr/>
          </p:nvSpPr>
          <p:spPr>
            <a:xfrm>
              <a:off x="6373368" y="4407408"/>
              <a:ext cx="54864" cy="54864"/>
            </a:xfrm>
            <a:prstGeom prst="ellipse">
              <a:avLst/>
            </a:prstGeom>
            <a:solidFill>
              <a:srgbClr val="F28C28"/>
            </a:solidFill>
            <a:ln>
              <a:noFill/>
            </a:ln>
          </p:spPr>
          <p:txBody>
            <a:bodyPr rtlCol="0" anchor="ctr"/>
            <a:lstStyle/>
            <a:p>
              <a:pPr algn="ctr"/>
              <a:endParaRPr/>
            </a:p>
          </p:txBody>
        </p:sp>
        <p:sp>
          <p:nvSpPr>
            <p:cNvPr id="30" name="TextBox 29"/>
            <p:cNvSpPr txBox="1"/>
            <p:nvPr/>
          </p:nvSpPr>
          <p:spPr>
            <a:xfrm>
              <a:off x="6720840" y="4059936"/>
              <a:ext cx="3349244" cy="749808"/>
            </a:xfrm>
            <a:prstGeom prst="rect">
              <a:avLst/>
            </a:prstGeom>
            <a:noFill/>
          </p:spPr>
          <p:txBody>
            <a:bodyPr wrap="square" lIns="0" tIns="0" rIns="0" bIns="0" anchor="ctr">
              <a:noAutofit/>
            </a:bodyPr>
            <a:lstStyle/>
            <a:p>
              <a:pPr algn="l"/>
              <a:r>
                <a:rPr lang="en-GB" sz="2000" b="0" i="0">
                  <a:solidFill>
                    <a:srgbClr val="F2F2F2"/>
                  </a:solidFill>
                  <a:latin typeface="Arial"/>
                </a:rPr>
                <a:t>Slower to speed up</a:t>
              </a:r>
            </a:p>
          </p:txBody>
        </p:sp>
        <p:sp>
          <p:nvSpPr>
            <p:cNvPr id="31" name="Inline chip Proposed"/>
            <p:cNvSpPr/>
            <p:nvPr/>
          </p:nvSpPr>
          <p:spPr>
            <a:xfrm>
              <a:off x="10161524" y="4270248"/>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Large pulls the heaviest trains. It is thirsty and slow to speed up. It suits heavy freight.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21</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6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12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Wagons</a:t>
            </a:r>
          </a:p>
        </p:txBody>
      </p:sp>
      <p:sp>
        <p:nvSpPr>
          <p:cNvPr id="3" name="Status chip"/>
          <p:cNvSpPr/>
          <p:nvPr/>
        </p:nvSpPr>
        <p:spPr>
          <a:xfrm>
            <a:off x="10088575" y="457200"/>
            <a:ext cx="1554480" cy="365760"/>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grpSp>
        <p:nvGrpSpPr>
          <p:cNvPr id="8" name="Wagon comparison" descr="Two wagons side by side. The steam wagon holds a grid of 20 squares (about 20 item stacks); the vanilla wagon holds 32."/>
          <p:cNvGrpSpPr/>
          <p:nvPr/>
        </p:nvGrpSpPr>
        <p:grpSpPr>
          <a:xfrm>
            <a:off x="640080" y="1737360"/>
            <a:ext cx="10360152" cy="1865376"/>
            <a:chOff x="640080" y="1737360"/>
            <a:chExt cx="10360152" cy="1865376"/>
          </a:xfrm>
        </p:grpSpPr>
        <p:sp>
          <p:nvSpPr>
            <p:cNvPr id="9" name="Rounded Rectangle 8"/>
            <p:cNvSpPr/>
            <p:nvPr/>
          </p:nvSpPr>
          <p:spPr>
            <a:xfrm>
              <a:off x="914400" y="1737360"/>
              <a:ext cx="4206240" cy="1463040"/>
            </a:xfrm>
            <a:prstGeom prst="roundRect">
              <a:avLst>
                <a:gd name="adj" fmla="val 3750"/>
              </a:avLst>
            </a:prstGeom>
            <a:solidFill>
              <a:srgbClr val="4D3926"/>
            </a:solidFill>
            <a:ln w="31750">
              <a:solidFill>
                <a:srgbClr val="F28C28"/>
              </a:solidFill>
            </a:ln>
          </p:spPr>
          <p:txBody>
            <a:bodyPr rtlCol="0" anchor="ctr"/>
            <a:lstStyle/>
            <a:p>
              <a:pPr algn="ctr"/>
              <a:endParaRPr/>
            </a:p>
          </p:txBody>
        </p:sp>
        <p:sp>
          <p:nvSpPr>
            <p:cNvPr id="10" name="Rounded Rectangle 9"/>
            <p:cNvSpPr/>
            <p:nvPr/>
          </p:nvSpPr>
          <p:spPr>
            <a:xfrm>
              <a:off x="2295144" y="1897380"/>
              <a:ext cx="237744" cy="237744"/>
            </a:xfrm>
            <a:prstGeom prst="roundRect">
              <a:avLst>
                <a:gd name="adj" fmla="val 11538"/>
              </a:avLst>
            </a:prstGeom>
            <a:solidFill>
              <a:srgbClr val="F28C28"/>
            </a:solidFill>
            <a:ln>
              <a:noFill/>
            </a:ln>
          </p:spPr>
          <p:txBody>
            <a:bodyPr rtlCol="0" anchor="ctr"/>
            <a:lstStyle/>
            <a:p>
              <a:pPr algn="ctr"/>
              <a:endParaRPr/>
            </a:p>
          </p:txBody>
        </p:sp>
        <p:sp>
          <p:nvSpPr>
            <p:cNvPr id="11" name="Rounded Rectangle 10"/>
            <p:cNvSpPr/>
            <p:nvPr/>
          </p:nvSpPr>
          <p:spPr>
            <a:xfrm>
              <a:off x="2596896" y="1897380"/>
              <a:ext cx="237744" cy="237744"/>
            </a:xfrm>
            <a:prstGeom prst="roundRect">
              <a:avLst>
                <a:gd name="adj" fmla="val 11538"/>
              </a:avLst>
            </a:prstGeom>
            <a:solidFill>
              <a:srgbClr val="F28C28"/>
            </a:solidFill>
            <a:ln>
              <a:noFill/>
            </a:ln>
          </p:spPr>
          <p:txBody>
            <a:bodyPr rtlCol="0" anchor="ctr"/>
            <a:lstStyle/>
            <a:p>
              <a:pPr algn="ctr"/>
              <a:endParaRPr/>
            </a:p>
          </p:txBody>
        </p:sp>
        <p:sp>
          <p:nvSpPr>
            <p:cNvPr id="12" name="Rounded Rectangle 11"/>
            <p:cNvSpPr/>
            <p:nvPr/>
          </p:nvSpPr>
          <p:spPr>
            <a:xfrm>
              <a:off x="2898648" y="1897380"/>
              <a:ext cx="237744" cy="237744"/>
            </a:xfrm>
            <a:prstGeom prst="roundRect">
              <a:avLst>
                <a:gd name="adj" fmla="val 11538"/>
              </a:avLst>
            </a:prstGeom>
            <a:solidFill>
              <a:srgbClr val="F28C28"/>
            </a:solidFill>
            <a:ln>
              <a:noFill/>
            </a:ln>
          </p:spPr>
          <p:txBody>
            <a:bodyPr rtlCol="0" anchor="ctr"/>
            <a:lstStyle/>
            <a:p>
              <a:pPr algn="ctr"/>
              <a:endParaRPr/>
            </a:p>
          </p:txBody>
        </p:sp>
        <p:sp>
          <p:nvSpPr>
            <p:cNvPr id="13" name="Rounded Rectangle 12"/>
            <p:cNvSpPr/>
            <p:nvPr/>
          </p:nvSpPr>
          <p:spPr>
            <a:xfrm>
              <a:off x="3200400" y="1897380"/>
              <a:ext cx="237744" cy="237744"/>
            </a:xfrm>
            <a:prstGeom prst="roundRect">
              <a:avLst>
                <a:gd name="adj" fmla="val 11538"/>
              </a:avLst>
            </a:prstGeom>
            <a:solidFill>
              <a:srgbClr val="F28C28"/>
            </a:solidFill>
            <a:ln>
              <a:noFill/>
            </a:ln>
          </p:spPr>
          <p:txBody>
            <a:bodyPr rtlCol="0" anchor="ctr"/>
            <a:lstStyle/>
            <a:p>
              <a:pPr algn="ctr"/>
              <a:endParaRPr/>
            </a:p>
          </p:txBody>
        </p:sp>
        <p:sp>
          <p:nvSpPr>
            <p:cNvPr id="14" name="Rounded Rectangle 13"/>
            <p:cNvSpPr/>
            <p:nvPr/>
          </p:nvSpPr>
          <p:spPr>
            <a:xfrm>
              <a:off x="3502152" y="1897380"/>
              <a:ext cx="237744" cy="237744"/>
            </a:xfrm>
            <a:prstGeom prst="roundRect">
              <a:avLst>
                <a:gd name="adj" fmla="val 11538"/>
              </a:avLst>
            </a:prstGeom>
            <a:solidFill>
              <a:srgbClr val="F28C28"/>
            </a:solidFill>
            <a:ln>
              <a:noFill/>
            </a:ln>
          </p:spPr>
          <p:txBody>
            <a:bodyPr rtlCol="0" anchor="ctr"/>
            <a:lstStyle/>
            <a:p>
              <a:pPr algn="ctr"/>
              <a:endParaRPr/>
            </a:p>
          </p:txBody>
        </p:sp>
        <p:sp>
          <p:nvSpPr>
            <p:cNvPr id="15" name="Rounded Rectangle 14"/>
            <p:cNvSpPr/>
            <p:nvPr/>
          </p:nvSpPr>
          <p:spPr>
            <a:xfrm>
              <a:off x="2295144" y="2199132"/>
              <a:ext cx="237744" cy="237744"/>
            </a:xfrm>
            <a:prstGeom prst="roundRect">
              <a:avLst>
                <a:gd name="adj" fmla="val 11538"/>
              </a:avLst>
            </a:prstGeom>
            <a:solidFill>
              <a:srgbClr val="F28C28"/>
            </a:solidFill>
            <a:ln>
              <a:noFill/>
            </a:ln>
          </p:spPr>
          <p:txBody>
            <a:bodyPr rtlCol="0" anchor="ctr"/>
            <a:lstStyle/>
            <a:p>
              <a:pPr algn="ctr"/>
              <a:endParaRPr/>
            </a:p>
          </p:txBody>
        </p:sp>
        <p:sp>
          <p:nvSpPr>
            <p:cNvPr id="16" name="Rounded Rectangle 15"/>
            <p:cNvSpPr/>
            <p:nvPr/>
          </p:nvSpPr>
          <p:spPr>
            <a:xfrm>
              <a:off x="2596896" y="2199132"/>
              <a:ext cx="237744" cy="237744"/>
            </a:xfrm>
            <a:prstGeom prst="roundRect">
              <a:avLst>
                <a:gd name="adj" fmla="val 11538"/>
              </a:avLst>
            </a:prstGeom>
            <a:solidFill>
              <a:srgbClr val="F28C28"/>
            </a:solidFill>
            <a:ln>
              <a:noFill/>
            </a:ln>
          </p:spPr>
          <p:txBody>
            <a:bodyPr rtlCol="0" anchor="ctr"/>
            <a:lstStyle/>
            <a:p>
              <a:pPr algn="ctr"/>
              <a:endParaRPr/>
            </a:p>
          </p:txBody>
        </p:sp>
        <p:sp>
          <p:nvSpPr>
            <p:cNvPr id="17" name="Rounded Rectangle 16"/>
            <p:cNvSpPr/>
            <p:nvPr/>
          </p:nvSpPr>
          <p:spPr>
            <a:xfrm>
              <a:off x="2898648" y="2199132"/>
              <a:ext cx="237744" cy="237744"/>
            </a:xfrm>
            <a:prstGeom prst="roundRect">
              <a:avLst>
                <a:gd name="adj" fmla="val 11538"/>
              </a:avLst>
            </a:prstGeom>
            <a:solidFill>
              <a:srgbClr val="F28C28"/>
            </a:solidFill>
            <a:ln>
              <a:noFill/>
            </a:ln>
          </p:spPr>
          <p:txBody>
            <a:bodyPr rtlCol="0" anchor="ctr"/>
            <a:lstStyle/>
            <a:p>
              <a:pPr algn="ctr"/>
              <a:endParaRPr/>
            </a:p>
          </p:txBody>
        </p:sp>
        <p:sp>
          <p:nvSpPr>
            <p:cNvPr id="18" name="Rounded Rectangle 17"/>
            <p:cNvSpPr/>
            <p:nvPr/>
          </p:nvSpPr>
          <p:spPr>
            <a:xfrm>
              <a:off x="3200400" y="2199132"/>
              <a:ext cx="237744" cy="237744"/>
            </a:xfrm>
            <a:prstGeom prst="roundRect">
              <a:avLst>
                <a:gd name="adj" fmla="val 11538"/>
              </a:avLst>
            </a:prstGeom>
            <a:solidFill>
              <a:srgbClr val="F28C28"/>
            </a:solidFill>
            <a:ln>
              <a:noFill/>
            </a:ln>
          </p:spPr>
          <p:txBody>
            <a:bodyPr rtlCol="0" anchor="ctr"/>
            <a:lstStyle/>
            <a:p>
              <a:pPr algn="ctr"/>
              <a:endParaRPr/>
            </a:p>
          </p:txBody>
        </p:sp>
        <p:sp>
          <p:nvSpPr>
            <p:cNvPr id="19" name="Rounded Rectangle 18"/>
            <p:cNvSpPr/>
            <p:nvPr/>
          </p:nvSpPr>
          <p:spPr>
            <a:xfrm>
              <a:off x="3502152" y="2199132"/>
              <a:ext cx="237744" cy="237744"/>
            </a:xfrm>
            <a:prstGeom prst="roundRect">
              <a:avLst>
                <a:gd name="adj" fmla="val 11538"/>
              </a:avLst>
            </a:prstGeom>
            <a:solidFill>
              <a:srgbClr val="F28C28"/>
            </a:solidFill>
            <a:ln>
              <a:noFill/>
            </a:ln>
          </p:spPr>
          <p:txBody>
            <a:bodyPr rtlCol="0" anchor="ctr"/>
            <a:lstStyle/>
            <a:p>
              <a:pPr algn="ctr"/>
              <a:endParaRPr/>
            </a:p>
          </p:txBody>
        </p:sp>
        <p:sp>
          <p:nvSpPr>
            <p:cNvPr id="20" name="Rounded Rectangle 19"/>
            <p:cNvSpPr/>
            <p:nvPr/>
          </p:nvSpPr>
          <p:spPr>
            <a:xfrm>
              <a:off x="2295144" y="2500884"/>
              <a:ext cx="237744" cy="237744"/>
            </a:xfrm>
            <a:prstGeom prst="roundRect">
              <a:avLst>
                <a:gd name="adj" fmla="val 11538"/>
              </a:avLst>
            </a:prstGeom>
            <a:solidFill>
              <a:srgbClr val="F28C28"/>
            </a:solidFill>
            <a:ln>
              <a:noFill/>
            </a:ln>
          </p:spPr>
          <p:txBody>
            <a:bodyPr rtlCol="0" anchor="ctr"/>
            <a:lstStyle/>
            <a:p>
              <a:pPr algn="ctr"/>
              <a:endParaRPr/>
            </a:p>
          </p:txBody>
        </p:sp>
        <p:sp>
          <p:nvSpPr>
            <p:cNvPr id="21" name="Rounded Rectangle 20"/>
            <p:cNvSpPr/>
            <p:nvPr/>
          </p:nvSpPr>
          <p:spPr>
            <a:xfrm>
              <a:off x="2596896" y="2500884"/>
              <a:ext cx="237744" cy="237744"/>
            </a:xfrm>
            <a:prstGeom prst="roundRect">
              <a:avLst>
                <a:gd name="adj" fmla="val 11538"/>
              </a:avLst>
            </a:prstGeom>
            <a:solidFill>
              <a:srgbClr val="F28C28"/>
            </a:solidFill>
            <a:ln>
              <a:noFill/>
            </a:ln>
          </p:spPr>
          <p:txBody>
            <a:bodyPr rtlCol="0" anchor="ctr"/>
            <a:lstStyle/>
            <a:p>
              <a:pPr algn="ctr"/>
              <a:endParaRPr/>
            </a:p>
          </p:txBody>
        </p:sp>
        <p:sp>
          <p:nvSpPr>
            <p:cNvPr id="22" name="Rounded Rectangle 21"/>
            <p:cNvSpPr/>
            <p:nvPr/>
          </p:nvSpPr>
          <p:spPr>
            <a:xfrm>
              <a:off x="2898648" y="2500884"/>
              <a:ext cx="237744" cy="237744"/>
            </a:xfrm>
            <a:prstGeom prst="roundRect">
              <a:avLst>
                <a:gd name="adj" fmla="val 11538"/>
              </a:avLst>
            </a:prstGeom>
            <a:solidFill>
              <a:srgbClr val="F28C28"/>
            </a:solidFill>
            <a:ln>
              <a:noFill/>
            </a:ln>
          </p:spPr>
          <p:txBody>
            <a:bodyPr rtlCol="0" anchor="ctr"/>
            <a:lstStyle/>
            <a:p>
              <a:pPr algn="ctr"/>
              <a:endParaRPr/>
            </a:p>
          </p:txBody>
        </p:sp>
        <p:sp>
          <p:nvSpPr>
            <p:cNvPr id="23" name="Rounded Rectangle 22"/>
            <p:cNvSpPr/>
            <p:nvPr/>
          </p:nvSpPr>
          <p:spPr>
            <a:xfrm>
              <a:off x="3200400" y="2500884"/>
              <a:ext cx="237744" cy="237744"/>
            </a:xfrm>
            <a:prstGeom prst="roundRect">
              <a:avLst>
                <a:gd name="adj" fmla="val 11538"/>
              </a:avLst>
            </a:prstGeom>
            <a:solidFill>
              <a:srgbClr val="F28C28"/>
            </a:solidFill>
            <a:ln>
              <a:noFill/>
            </a:ln>
          </p:spPr>
          <p:txBody>
            <a:bodyPr rtlCol="0" anchor="ctr"/>
            <a:lstStyle/>
            <a:p>
              <a:pPr algn="ctr"/>
              <a:endParaRPr/>
            </a:p>
          </p:txBody>
        </p:sp>
        <p:sp>
          <p:nvSpPr>
            <p:cNvPr id="24" name="Rounded Rectangle 23"/>
            <p:cNvSpPr/>
            <p:nvPr/>
          </p:nvSpPr>
          <p:spPr>
            <a:xfrm>
              <a:off x="3502152" y="2500884"/>
              <a:ext cx="237744" cy="237744"/>
            </a:xfrm>
            <a:prstGeom prst="roundRect">
              <a:avLst>
                <a:gd name="adj" fmla="val 11538"/>
              </a:avLst>
            </a:prstGeom>
            <a:solidFill>
              <a:srgbClr val="F28C28"/>
            </a:solidFill>
            <a:ln>
              <a:noFill/>
            </a:ln>
          </p:spPr>
          <p:txBody>
            <a:bodyPr rtlCol="0" anchor="ctr"/>
            <a:lstStyle/>
            <a:p>
              <a:pPr algn="ctr"/>
              <a:endParaRPr/>
            </a:p>
          </p:txBody>
        </p:sp>
        <p:sp>
          <p:nvSpPr>
            <p:cNvPr id="25" name="Rounded Rectangle 24"/>
            <p:cNvSpPr/>
            <p:nvPr/>
          </p:nvSpPr>
          <p:spPr>
            <a:xfrm>
              <a:off x="2295144" y="2802636"/>
              <a:ext cx="237744" cy="237744"/>
            </a:xfrm>
            <a:prstGeom prst="roundRect">
              <a:avLst>
                <a:gd name="adj" fmla="val 11538"/>
              </a:avLst>
            </a:prstGeom>
            <a:solidFill>
              <a:srgbClr val="F28C28"/>
            </a:solidFill>
            <a:ln>
              <a:noFill/>
            </a:ln>
          </p:spPr>
          <p:txBody>
            <a:bodyPr rtlCol="0" anchor="ctr"/>
            <a:lstStyle/>
            <a:p>
              <a:pPr algn="ctr"/>
              <a:endParaRPr/>
            </a:p>
          </p:txBody>
        </p:sp>
        <p:sp>
          <p:nvSpPr>
            <p:cNvPr id="26" name="Rounded Rectangle 25"/>
            <p:cNvSpPr/>
            <p:nvPr/>
          </p:nvSpPr>
          <p:spPr>
            <a:xfrm>
              <a:off x="2596896" y="2802636"/>
              <a:ext cx="237744" cy="237744"/>
            </a:xfrm>
            <a:prstGeom prst="roundRect">
              <a:avLst>
                <a:gd name="adj" fmla="val 11538"/>
              </a:avLst>
            </a:prstGeom>
            <a:solidFill>
              <a:srgbClr val="F28C28"/>
            </a:solidFill>
            <a:ln>
              <a:noFill/>
            </a:ln>
          </p:spPr>
          <p:txBody>
            <a:bodyPr rtlCol="0" anchor="ctr"/>
            <a:lstStyle/>
            <a:p>
              <a:pPr algn="ctr"/>
              <a:endParaRPr/>
            </a:p>
          </p:txBody>
        </p:sp>
        <p:sp>
          <p:nvSpPr>
            <p:cNvPr id="27" name="Rounded Rectangle 26"/>
            <p:cNvSpPr/>
            <p:nvPr/>
          </p:nvSpPr>
          <p:spPr>
            <a:xfrm>
              <a:off x="2898648" y="2802636"/>
              <a:ext cx="237744" cy="237744"/>
            </a:xfrm>
            <a:prstGeom prst="roundRect">
              <a:avLst>
                <a:gd name="adj" fmla="val 11538"/>
              </a:avLst>
            </a:prstGeom>
            <a:solidFill>
              <a:srgbClr val="F28C28"/>
            </a:solidFill>
            <a:ln>
              <a:noFill/>
            </a:ln>
          </p:spPr>
          <p:txBody>
            <a:bodyPr rtlCol="0" anchor="ctr"/>
            <a:lstStyle/>
            <a:p>
              <a:pPr algn="ctr"/>
              <a:endParaRPr/>
            </a:p>
          </p:txBody>
        </p:sp>
        <p:sp>
          <p:nvSpPr>
            <p:cNvPr id="28" name="Rounded Rectangle 27"/>
            <p:cNvSpPr/>
            <p:nvPr/>
          </p:nvSpPr>
          <p:spPr>
            <a:xfrm>
              <a:off x="3200400" y="2802636"/>
              <a:ext cx="237744" cy="237744"/>
            </a:xfrm>
            <a:prstGeom prst="roundRect">
              <a:avLst>
                <a:gd name="adj" fmla="val 11538"/>
              </a:avLst>
            </a:prstGeom>
            <a:solidFill>
              <a:srgbClr val="F28C28"/>
            </a:solidFill>
            <a:ln>
              <a:noFill/>
            </a:ln>
          </p:spPr>
          <p:txBody>
            <a:bodyPr rtlCol="0" anchor="ctr"/>
            <a:lstStyle/>
            <a:p>
              <a:pPr algn="ctr"/>
              <a:endParaRPr/>
            </a:p>
          </p:txBody>
        </p:sp>
        <p:sp>
          <p:nvSpPr>
            <p:cNvPr id="29" name="Rounded Rectangle 28"/>
            <p:cNvSpPr/>
            <p:nvPr/>
          </p:nvSpPr>
          <p:spPr>
            <a:xfrm>
              <a:off x="3502152" y="2802636"/>
              <a:ext cx="237744" cy="237744"/>
            </a:xfrm>
            <a:prstGeom prst="roundRect">
              <a:avLst>
                <a:gd name="adj" fmla="val 11538"/>
              </a:avLst>
            </a:prstGeom>
            <a:solidFill>
              <a:srgbClr val="F28C28"/>
            </a:solidFill>
            <a:ln>
              <a:noFill/>
            </a:ln>
          </p:spPr>
          <p:txBody>
            <a:bodyPr rtlCol="0" anchor="ctr"/>
            <a:lstStyle/>
            <a:p>
              <a:pPr algn="ctr"/>
              <a:endParaRPr/>
            </a:p>
          </p:txBody>
        </p:sp>
        <p:sp>
          <p:nvSpPr>
            <p:cNvPr id="30" name="Rectangle 29"/>
            <p:cNvSpPr/>
            <p:nvPr/>
          </p:nvSpPr>
          <p:spPr>
            <a:xfrm>
              <a:off x="822960" y="3200400"/>
              <a:ext cx="4389120" cy="73152"/>
            </a:xfrm>
            <a:prstGeom prst="rect">
              <a:avLst/>
            </a:prstGeom>
            <a:solidFill>
              <a:srgbClr val="9AA0A6"/>
            </a:solidFill>
            <a:ln>
              <a:noFill/>
            </a:ln>
          </p:spPr>
          <p:txBody>
            <a:bodyPr rtlCol="0" anchor="ctr"/>
            <a:lstStyle/>
            <a:p>
              <a:pPr algn="ctr"/>
              <a:endParaRPr/>
            </a:p>
          </p:txBody>
        </p:sp>
        <p:sp>
          <p:nvSpPr>
            <p:cNvPr id="31" name="Oval 30"/>
            <p:cNvSpPr/>
            <p:nvPr/>
          </p:nvSpPr>
          <p:spPr>
            <a:xfrm>
              <a:off x="1525219" y="3255264"/>
              <a:ext cx="292608" cy="292608"/>
            </a:xfrm>
            <a:prstGeom prst="ellipse">
              <a:avLst/>
            </a:prstGeom>
            <a:solidFill>
              <a:srgbClr val="1B1D21"/>
            </a:solidFill>
            <a:ln w="19050">
              <a:solidFill>
                <a:srgbClr val="9AA0A6"/>
              </a:solidFill>
            </a:ln>
          </p:spPr>
          <p:txBody>
            <a:bodyPr rtlCol="0" anchor="ctr"/>
            <a:lstStyle/>
            <a:p>
              <a:pPr algn="ctr"/>
              <a:endParaRPr/>
            </a:p>
          </p:txBody>
        </p:sp>
        <p:sp>
          <p:nvSpPr>
            <p:cNvPr id="32" name="Oval 31"/>
            <p:cNvSpPr/>
            <p:nvPr/>
          </p:nvSpPr>
          <p:spPr>
            <a:xfrm>
              <a:off x="4217213" y="3255264"/>
              <a:ext cx="292608" cy="292608"/>
            </a:xfrm>
            <a:prstGeom prst="ellipse">
              <a:avLst/>
            </a:prstGeom>
            <a:solidFill>
              <a:srgbClr val="1B1D21"/>
            </a:solidFill>
            <a:ln w="19050">
              <a:solidFill>
                <a:srgbClr val="9AA0A6"/>
              </a:solidFill>
            </a:ln>
          </p:spPr>
          <p:txBody>
            <a:bodyPr rtlCol="0" anchor="ctr"/>
            <a:lstStyle/>
            <a:p>
              <a:pPr algn="ctr"/>
              <a:endParaRPr/>
            </a:p>
          </p:txBody>
        </p:sp>
        <p:sp>
          <p:nvSpPr>
            <p:cNvPr id="33" name="Rectangle 32"/>
            <p:cNvSpPr/>
            <p:nvPr/>
          </p:nvSpPr>
          <p:spPr>
            <a:xfrm>
              <a:off x="640080" y="3547872"/>
              <a:ext cx="4754880" cy="54864"/>
            </a:xfrm>
            <a:prstGeom prst="rect">
              <a:avLst/>
            </a:prstGeom>
            <a:solidFill>
              <a:srgbClr val="9AA0A6"/>
            </a:solidFill>
            <a:ln>
              <a:noFill/>
            </a:ln>
          </p:spPr>
          <p:txBody>
            <a:bodyPr rtlCol="0" anchor="ctr"/>
            <a:lstStyle/>
            <a:p>
              <a:pPr algn="ctr"/>
              <a:endParaRPr/>
            </a:p>
          </p:txBody>
        </p:sp>
        <p:sp>
          <p:nvSpPr>
            <p:cNvPr id="34" name="Rounded Rectangle 33"/>
            <p:cNvSpPr/>
            <p:nvPr/>
          </p:nvSpPr>
          <p:spPr>
            <a:xfrm>
              <a:off x="6519672" y="1737360"/>
              <a:ext cx="4206240" cy="1463040"/>
            </a:xfrm>
            <a:prstGeom prst="roundRect">
              <a:avLst>
                <a:gd name="adj" fmla="val 3750"/>
              </a:avLst>
            </a:prstGeom>
            <a:solidFill>
              <a:srgbClr val="2F3D4E"/>
            </a:solidFill>
            <a:ln w="31750">
              <a:solidFill>
                <a:srgbClr val="6CA0DC"/>
              </a:solidFill>
            </a:ln>
          </p:spPr>
          <p:txBody>
            <a:bodyPr rtlCol="0" anchor="ctr"/>
            <a:lstStyle/>
            <a:p>
              <a:pPr algn="ctr"/>
              <a:endParaRPr/>
            </a:p>
          </p:txBody>
        </p:sp>
        <p:sp>
          <p:nvSpPr>
            <p:cNvPr id="35" name="Rounded Rectangle 34"/>
            <p:cNvSpPr/>
            <p:nvPr/>
          </p:nvSpPr>
          <p:spPr>
            <a:xfrm>
              <a:off x="7447788" y="1897380"/>
              <a:ext cx="237744" cy="237744"/>
            </a:xfrm>
            <a:prstGeom prst="roundRect">
              <a:avLst>
                <a:gd name="adj" fmla="val 11538"/>
              </a:avLst>
            </a:prstGeom>
            <a:solidFill>
              <a:srgbClr val="6CA0DC"/>
            </a:solidFill>
            <a:ln>
              <a:noFill/>
            </a:ln>
          </p:spPr>
          <p:txBody>
            <a:bodyPr rtlCol="0" anchor="ctr"/>
            <a:lstStyle/>
            <a:p>
              <a:pPr algn="ctr"/>
              <a:endParaRPr/>
            </a:p>
          </p:txBody>
        </p:sp>
        <p:sp>
          <p:nvSpPr>
            <p:cNvPr id="36" name="Rounded Rectangle 35"/>
            <p:cNvSpPr/>
            <p:nvPr/>
          </p:nvSpPr>
          <p:spPr>
            <a:xfrm>
              <a:off x="7749540" y="1897380"/>
              <a:ext cx="237744" cy="237744"/>
            </a:xfrm>
            <a:prstGeom prst="roundRect">
              <a:avLst>
                <a:gd name="adj" fmla="val 11538"/>
              </a:avLst>
            </a:prstGeom>
            <a:solidFill>
              <a:srgbClr val="6CA0DC"/>
            </a:solidFill>
            <a:ln>
              <a:noFill/>
            </a:ln>
          </p:spPr>
          <p:txBody>
            <a:bodyPr rtlCol="0" anchor="ctr"/>
            <a:lstStyle/>
            <a:p>
              <a:pPr algn="ctr"/>
              <a:endParaRPr/>
            </a:p>
          </p:txBody>
        </p:sp>
        <p:sp>
          <p:nvSpPr>
            <p:cNvPr id="37" name="Rounded Rectangle 36"/>
            <p:cNvSpPr/>
            <p:nvPr/>
          </p:nvSpPr>
          <p:spPr>
            <a:xfrm>
              <a:off x="8051292" y="1897380"/>
              <a:ext cx="237744" cy="237744"/>
            </a:xfrm>
            <a:prstGeom prst="roundRect">
              <a:avLst>
                <a:gd name="adj" fmla="val 11538"/>
              </a:avLst>
            </a:prstGeom>
            <a:solidFill>
              <a:srgbClr val="6CA0DC"/>
            </a:solidFill>
            <a:ln>
              <a:noFill/>
            </a:ln>
          </p:spPr>
          <p:txBody>
            <a:bodyPr rtlCol="0" anchor="ctr"/>
            <a:lstStyle/>
            <a:p>
              <a:pPr algn="ctr"/>
              <a:endParaRPr/>
            </a:p>
          </p:txBody>
        </p:sp>
        <p:sp>
          <p:nvSpPr>
            <p:cNvPr id="38" name="Rounded Rectangle 37"/>
            <p:cNvSpPr/>
            <p:nvPr/>
          </p:nvSpPr>
          <p:spPr>
            <a:xfrm>
              <a:off x="8353044" y="1897380"/>
              <a:ext cx="237744" cy="237744"/>
            </a:xfrm>
            <a:prstGeom prst="roundRect">
              <a:avLst>
                <a:gd name="adj" fmla="val 11538"/>
              </a:avLst>
            </a:prstGeom>
            <a:solidFill>
              <a:srgbClr val="6CA0DC"/>
            </a:solidFill>
            <a:ln>
              <a:noFill/>
            </a:ln>
          </p:spPr>
          <p:txBody>
            <a:bodyPr rtlCol="0" anchor="ctr"/>
            <a:lstStyle/>
            <a:p>
              <a:pPr algn="ctr"/>
              <a:endParaRPr/>
            </a:p>
          </p:txBody>
        </p:sp>
        <p:sp>
          <p:nvSpPr>
            <p:cNvPr id="39" name="Rounded Rectangle 38"/>
            <p:cNvSpPr/>
            <p:nvPr/>
          </p:nvSpPr>
          <p:spPr>
            <a:xfrm>
              <a:off x="8654796" y="1897380"/>
              <a:ext cx="237744" cy="237744"/>
            </a:xfrm>
            <a:prstGeom prst="roundRect">
              <a:avLst>
                <a:gd name="adj" fmla="val 11538"/>
              </a:avLst>
            </a:prstGeom>
            <a:solidFill>
              <a:srgbClr val="6CA0DC"/>
            </a:solidFill>
            <a:ln>
              <a:noFill/>
            </a:ln>
          </p:spPr>
          <p:txBody>
            <a:bodyPr rtlCol="0" anchor="ctr"/>
            <a:lstStyle/>
            <a:p>
              <a:pPr algn="ctr"/>
              <a:endParaRPr/>
            </a:p>
          </p:txBody>
        </p:sp>
        <p:sp>
          <p:nvSpPr>
            <p:cNvPr id="40" name="Rounded Rectangle 39"/>
            <p:cNvSpPr/>
            <p:nvPr/>
          </p:nvSpPr>
          <p:spPr>
            <a:xfrm>
              <a:off x="8956548" y="1897380"/>
              <a:ext cx="237744" cy="237744"/>
            </a:xfrm>
            <a:prstGeom prst="roundRect">
              <a:avLst>
                <a:gd name="adj" fmla="val 11538"/>
              </a:avLst>
            </a:prstGeom>
            <a:solidFill>
              <a:srgbClr val="6CA0DC"/>
            </a:solidFill>
            <a:ln>
              <a:noFill/>
            </a:ln>
          </p:spPr>
          <p:txBody>
            <a:bodyPr rtlCol="0" anchor="ctr"/>
            <a:lstStyle/>
            <a:p>
              <a:pPr algn="ctr"/>
              <a:endParaRPr/>
            </a:p>
          </p:txBody>
        </p:sp>
        <p:sp>
          <p:nvSpPr>
            <p:cNvPr id="41" name="Rounded Rectangle 40"/>
            <p:cNvSpPr/>
            <p:nvPr/>
          </p:nvSpPr>
          <p:spPr>
            <a:xfrm>
              <a:off x="9258300" y="1897380"/>
              <a:ext cx="237744" cy="237744"/>
            </a:xfrm>
            <a:prstGeom prst="roundRect">
              <a:avLst>
                <a:gd name="adj" fmla="val 11538"/>
              </a:avLst>
            </a:prstGeom>
            <a:solidFill>
              <a:srgbClr val="6CA0DC"/>
            </a:solidFill>
            <a:ln>
              <a:noFill/>
            </a:ln>
          </p:spPr>
          <p:txBody>
            <a:bodyPr rtlCol="0" anchor="ctr"/>
            <a:lstStyle/>
            <a:p>
              <a:pPr algn="ctr"/>
              <a:endParaRPr/>
            </a:p>
          </p:txBody>
        </p:sp>
        <p:sp>
          <p:nvSpPr>
            <p:cNvPr id="42" name="Rounded Rectangle 41"/>
            <p:cNvSpPr/>
            <p:nvPr/>
          </p:nvSpPr>
          <p:spPr>
            <a:xfrm>
              <a:off x="9560052" y="1897380"/>
              <a:ext cx="237744" cy="237744"/>
            </a:xfrm>
            <a:prstGeom prst="roundRect">
              <a:avLst>
                <a:gd name="adj" fmla="val 11538"/>
              </a:avLst>
            </a:prstGeom>
            <a:solidFill>
              <a:srgbClr val="6CA0DC"/>
            </a:solidFill>
            <a:ln>
              <a:noFill/>
            </a:ln>
          </p:spPr>
          <p:txBody>
            <a:bodyPr rtlCol="0" anchor="ctr"/>
            <a:lstStyle/>
            <a:p>
              <a:pPr algn="ctr"/>
              <a:endParaRPr/>
            </a:p>
          </p:txBody>
        </p:sp>
        <p:sp>
          <p:nvSpPr>
            <p:cNvPr id="43" name="Rounded Rectangle 42"/>
            <p:cNvSpPr/>
            <p:nvPr/>
          </p:nvSpPr>
          <p:spPr>
            <a:xfrm>
              <a:off x="7447788" y="2199132"/>
              <a:ext cx="237744" cy="237744"/>
            </a:xfrm>
            <a:prstGeom prst="roundRect">
              <a:avLst>
                <a:gd name="adj" fmla="val 11538"/>
              </a:avLst>
            </a:prstGeom>
            <a:solidFill>
              <a:srgbClr val="6CA0DC"/>
            </a:solidFill>
            <a:ln>
              <a:noFill/>
            </a:ln>
          </p:spPr>
          <p:txBody>
            <a:bodyPr rtlCol="0" anchor="ctr"/>
            <a:lstStyle/>
            <a:p>
              <a:pPr algn="ctr"/>
              <a:endParaRPr/>
            </a:p>
          </p:txBody>
        </p:sp>
        <p:sp>
          <p:nvSpPr>
            <p:cNvPr id="44" name="Rounded Rectangle 43"/>
            <p:cNvSpPr/>
            <p:nvPr/>
          </p:nvSpPr>
          <p:spPr>
            <a:xfrm>
              <a:off x="7749540" y="2199132"/>
              <a:ext cx="237744" cy="237744"/>
            </a:xfrm>
            <a:prstGeom prst="roundRect">
              <a:avLst>
                <a:gd name="adj" fmla="val 11538"/>
              </a:avLst>
            </a:prstGeom>
            <a:solidFill>
              <a:srgbClr val="6CA0DC"/>
            </a:solidFill>
            <a:ln>
              <a:noFill/>
            </a:ln>
          </p:spPr>
          <p:txBody>
            <a:bodyPr rtlCol="0" anchor="ctr"/>
            <a:lstStyle/>
            <a:p>
              <a:pPr algn="ctr"/>
              <a:endParaRPr/>
            </a:p>
          </p:txBody>
        </p:sp>
        <p:sp>
          <p:nvSpPr>
            <p:cNvPr id="45" name="Rounded Rectangle 44"/>
            <p:cNvSpPr/>
            <p:nvPr/>
          </p:nvSpPr>
          <p:spPr>
            <a:xfrm>
              <a:off x="8051292" y="2199132"/>
              <a:ext cx="237744" cy="237744"/>
            </a:xfrm>
            <a:prstGeom prst="roundRect">
              <a:avLst>
                <a:gd name="adj" fmla="val 11538"/>
              </a:avLst>
            </a:prstGeom>
            <a:solidFill>
              <a:srgbClr val="6CA0DC"/>
            </a:solidFill>
            <a:ln>
              <a:noFill/>
            </a:ln>
          </p:spPr>
          <p:txBody>
            <a:bodyPr rtlCol="0" anchor="ctr"/>
            <a:lstStyle/>
            <a:p>
              <a:pPr algn="ctr"/>
              <a:endParaRPr/>
            </a:p>
          </p:txBody>
        </p:sp>
        <p:sp>
          <p:nvSpPr>
            <p:cNvPr id="46" name="Rounded Rectangle 45"/>
            <p:cNvSpPr/>
            <p:nvPr/>
          </p:nvSpPr>
          <p:spPr>
            <a:xfrm>
              <a:off x="8353044" y="2199132"/>
              <a:ext cx="237744" cy="237744"/>
            </a:xfrm>
            <a:prstGeom prst="roundRect">
              <a:avLst>
                <a:gd name="adj" fmla="val 11538"/>
              </a:avLst>
            </a:prstGeom>
            <a:solidFill>
              <a:srgbClr val="6CA0DC"/>
            </a:solidFill>
            <a:ln>
              <a:noFill/>
            </a:ln>
          </p:spPr>
          <p:txBody>
            <a:bodyPr rtlCol="0" anchor="ctr"/>
            <a:lstStyle/>
            <a:p>
              <a:pPr algn="ctr"/>
              <a:endParaRPr/>
            </a:p>
          </p:txBody>
        </p:sp>
        <p:sp>
          <p:nvSpPr>
            <p:cNvPr id="47" name="Rounded Rectangle 46"/>
            <p:cNvSpPr/>
            <p:nvPr/>
          </p:nvSpPr>
          <p:spPr>
            <a:xfrm>
              <a:off x="8654796" y="2199132"/>
              <a:ext cx="237744" cy="237744"/>
            </a:xfrm>
            <a:prstGeom prst="roundRect">
              <a:avLst>
                <a:gd name="adj" fmla="val 11538"/>
              </a:avLst>
            </a:prstGeom>
            <a:solidFill>
              <a:srgbClr val="6CA0DC"/>
            </a:solidFill>
            <a:ln>
              <a:noFill/>
            </a:ln>
          </p:spPr>
          <p:txBody>
            <a:bodyPr rtlCol="0" anchor="ctr"/>
            <a:lstStyle/>
            <a:p>
              <a:pPr algn="ctr"/>
              <a:endParaRPr/>
            </a:p>
          </p:txBody>
        </p:sp>
        <p:sp>
          <p:nvSpPr>
            <p:cNvPr id="48" name="Rounded Rectangle 47"/>
            <p:cNvSpPr/>
            <p:nvPr/>
          </p:nvSpPr>
          <p:spPr>
            <a:xfrm>
              <a:off x="8956548" y="2199132"/>
              <a:ext cx="237744" cy="237744"/>
            </a:xfrm>
            <a:prstGeom prst="roundRect">
              <a:avLst>
                <a:gd name="adj" fmla="val 11538"/>
              </a:avLst>
            </a:prstGeom>
            <a:solidFill>
              <a:srgbClr val="6CA0DC"/>
            </a:solidFill>
            <a:ln>
              <a:noFill/>
            </a:ln>
          </p:spPr>
          <p:txBody>
            <a:bodyPr rtlCol="0" anchor="ctr"/>
            <a:lstStyle/>
            <a:p>
              <a:pPr algn="ctr"/>
              <a:endParaRPr/>
            </a:p>
          </p:txBody>
        </p:sp>
        <p:sp>
          <p:nvSpPr>
            <p:cNvPr id="49" name="Rounded Rectangle 48"/>
            <p:cNvSpPr/>
            <p:nvPr/>
          </p:nvSpPr>
          <p:spPr>
            <a:xfrm>
              <a:off x="9258300" y="2199132"/>
              <a:ext cx="237744" cy="237744"/>
            </a:xfrm>
            <a:prstGeom prst="roundRect">
              <a:avLst>
                <a:gd name="adj" fmla="val 11538"/>
              </a:avLst>
            </a:prstGeom>
            <a:solidFill>
              <a:srgbClr val="6CA0DC"/>
            </a:solidFill>
            <a:ln>
              <a:noFill/>
            </a:ln>
          </p:spPr>
          <p:txBody>
            <a:bodyPr rtlCol="0" anchor="ctr"/>
            <a:lstStyle/>
            <a:p>
              <a:pPr algn="ctr"/>
              <a:endParaRPr/>
            </a:p>
          </p:txBody>
        </p:sp>
        <p:sp>
          <p:nvSpPr>
            <p:cNvPr id="50" name="Rounded Rectangle 49"/>
            <p:cNvSpPr/>
            <p:nvPr/>
          </p:nvSpPr>
          <p:spPr>
            <a:xfrm>
              <a:off x="9560052" y="2199132"/>
              <a:ext cx="237744" cy="237744"/>
            </a:xfrm>
            <a:prstGeom prst="roundRect">
              <a:avLst>
                <a:gd name="adj" fmla="val 11538"/>
              </a:avLst>
            </a:prstGeom>
            <a:solidFill>
              <a:srgbClr val="6CA0DC"/>
            </a:solidFill>
            <a:ln>
              <a:noFill/>
            </a:ln>
          </p:spPr>
          <p:txBody>
            <a:bodyPr rtlCol="0" anchor="ctr"/>
            <a:lstStyle/>
            <a:p>
              <a:pPr algn="ctr"/>
              <a:endParaRPr/>
            </a:p>
          </p:txBody>
        </p:sp>
        <p:sp>
          <p:nvSpPr>
            <p:cNvPr id="51" name="Rounded Rectangle 50"/>
            <p:cNvSpPr/>
            <p:nvPr/>
          </p:nvSpPr>
          <p:spPr>
            <a:xfrm>
              <a:off x="7447788" y="2500884"/>
              <a:ext cx="237744" cy="237744"/>
            </a:xfrm>
            <a:prstGeom prst="roundRect">
              <a:avLst>
                <a:gd name="adj" fmla="val 11538"/>
              </a:avLst>
            </a:prstGeom>
            <a:solidFill>
              <a:srgbClr val="6CA0DC"/>
            </a:solidFill>
            <a:ln>
              <a:noFill/>
            </a:ln>
          </p:spPr>
          <p:txBody>
            <a:bodyPr rtlCol="0" anchor="ctr"/>
            <a:lstStyle/>
            <a:p>
              <a:pPr algn="ctr"/>
              <a:endParaRPr/>
            </a:p>
          </p:txBody>
        </p:sp>
        <p:sp>
          <p:nvSpPr>
            <p:cNvPr id="52" name="Rounded Rectangle 51"/>
            <p:cNvSpPr/>
            <p:nvPr/>
          </p:nvSpPr>
          <p:spPr>
            <a:xfrm>
              <a:off x="7749540" y="2500884"/>
              <a:ext cx="237744" cy="237744"/>
            </a:xfrm>
            <a:prstGeom prst="roundRect">
              <a:avLst>
                <a:gd name="adj" fmla="val 11538"/>
              </a:avLst>
            </a:prstGeom>
            <a:solidFill>
              <a:srgbClr val="6CA0DC"/>
            </a:solidFill>
            <a:ln>
              <a:noFill/>
            </a:ln>
          </p:spPr>
          <p:txBody>
            <a:bodyPr rtlCol="0" anchor="ctr"/>
            <a:lstStyle/>
            <a:p>
              <a:pPr algn="ctr"/>
              <a:endParaRPr/>
            </a:p>
          </p:txBody>
        </p:sp>
        <p:sp>
          <p:nvSpPr>
            <p:cNvPr id="53" name="Rounded Rectangle 52"/>
            <p:cNvSpPr/>
            <p:nvPr/>
          </p:nvSpPr>
          <p:spPr>
            <a:xfrm>
              <a:off x="8051292" y="2500884"/>
              <a:ext cx="237744" cy="237744"/>
            </a:xfrm>
            <a:prstGeom prst="roundRect">
              <a:avLst>
                <a:gd name="adj" fmla="val 11538"/>
              </a:avLst>
            </a:prstGeom>
            <a:solidFill>
              <a:srgbClr val="6CA0DC"/>
            </a:solidFill>
            <a:ln>
              <a:noFill/>
            </a:ln>
          </p:spPr>
          <p:txBody>
            <a:bodyPr rtlCol="0" anchor="ctr"/>
            <a:lstStyle/>
            <a:p>
              <a:pPr algn="ctr"/>
              <a:endParaRPr/>
            </a:p>
          </p:txBody>
        </p:sp>
        <p:sp>
          <p:nvSpPr>
            <p:cNvPr id="54" name="Rounded Rectangle 53"/>
            <p:cNvSpPr/>
            <p:nvPr/>
          </p:nvSpPr>
          <p:spPr>
            <a:xfrm>
              <a:off x="8353044" y="2500884"/>
              <a:ext cx="237744" cy="237744"/>
            </a:xfrm>
            <a:prstGeom prst="roundRect">
              <a:avLst>
                <a:gd name="adj" fmla="val 11538"/>
              </a:avLst>
            </a:prstGeom>
            <a:solidFill>
              <a:srgbClr val="6CA0DC"/>
            </a:solidFill>
            <a:ln>
              <a:noFill/>
            </a:ln>
          </p:spPr>
          <p:txBody>
            <a:bodyPr rtlCol="0" anchor="ctr"/>
            <a:lstStyle/>
            <a:p>
              <a:pPr algn="ctr"/>
              <a:endParaRPr/>
            </a:p>
          </p:txBody>
        </p:sp>
        <p:sp>
          <p:nvSpPr>
            <p:cNvPr id="55" name="Rounded Rectangle 54"/>
            <p:cNvSpPr/>
            <p:nvPr/>
          </p:nvSpPr>
          <p:spPr>
            <a:xfrm>
              <a:off x="8654796" y="2500884"/>
              <a:ext cx="237744" cy="237744"/>
            </a:xfrm>
            <a:prstGeom prst="roundRect">
              <a:avLst>
                <a:gd name="adj" fmla="val 11538"/>
              </a:avLst>
            </a:prstGeom>
            <a:solidFill>
              <a:srgbClr val="6CA0DC"/>
            </a:solidFill>
            <a:ln>
              <a:noFill/>
            </a:ln>
          </p:spPr>
          <p:txBody>
            <a:bodyPr rtlCol="0" anchor="ctr"/>
            <a:lstStyle/>
            <a:p>
              <a:pPr algn="ctr"/>
              <a:endParaRPr/>
            </a:p>
          </p:txBody>
        </p:sp>
        <p:sp>
          <p:nvSpPr>
            <p:cNvPr id="56" name="Rounded Rectangle 55"/>
            <p:cNvSpPr/>
            <p:nvPr/>
          </p:nvSpPr>
          <p:spPr>
            <a:xfrm>
              <a:off x="8956548" y="2500884"/>
              <a:ext cx="237744" cy="237744"/>
            </a:xfrm>
            <a:prstGeom prst="roundRect">
              <a:avLst>
                <a:gd name="adj" fmla="val 11538"/>
              </a:avLst>
            </a:prstGeom>
            <a:solidFill>
              <a:srgbClr val="6CA0DC"/>
            </a:solidFill>
            <a:ln>
              <a:noFill/>
            </a:ln>
          </p:spPr>
          <p:txBody>
            <a:bodyPr rtlCol="0" anchor="ctr"/>
            <a:lstStyle/>
            <a:p>
              <a:pPr algn="ctr"/>
              <a:endParaRPr/>
            </a:p>
          </p:txBody>
        </p:sp>
        <p:sp>
          <p:nvSpPr>
            <p:cNvPr id="57" name="Rounded Rectangle 56"/>
            <p:cNvSpPr/>
            <p:nvPr/>
          </p:nvSpPr>
          <p:spPr>
            <a:xfrm>
              <a:off x="9258300" y="2500884"/>
              <a:ext cx="237744" cy="237744"/>
            </a:xfrm>
            <a:prstGeom prst="roundRect">
              <a:avLst>
                <a:gd name="adj" fmla="val 11538"/>
              </a:avLst>
            </a:prstGeom>
            <a:solidFill>
              <a:srgbClr val="6CA0DC"/>
            </a:solidFill>
            <a:ln>
              <a:noFill/>
            </a:ln>
          </p:spPr>
          <p:txBody>
            <a:bodyPr rtlCol="0" anchor="ctr"/>
            <a:lstStyle/>
            <a:p>
              <a:pPr algn="ctr"/>
              <a:endParaRPr/>
            </a:p>
          </p:txBody>
        </p:sp>
        <p:sp>
          <p:nvSpPr>
            <p:cNvPr id="58" name="Rounded Rectangle 57"/>
            <p:cNvSpPr/>
            <p:nvPr/>
          </p:nvSpPr>
          <p:spPr>
            <a:xfrm>
              <a:off x="9560052" y="2500884"/>
              <a:ext cx="237744" cy="237744"/>
            </a:xfrm>
            <a:prstGeom prst="roundRect">
              <a:avLst>
                <a:gd name="adj" fmla="val 11538"/>
              </a:avLst>
            </a:prstGeom>
            <a:solidFill>
              <a:srgbClr val="6CA0DC"/>
            </a:solidFill>
            <a:ln>
              <a:noFill/>
            </a:ln>
          </p:spPr>
          <p:txBody>
            <a:bodyPr rtlCol="0" anchor="ctr"/>
            <a:lstStyle/>
            <a:p>
              <a:pPr algn="ctr"/>
              <a:endParaRPr/>
            </a:p>
          </p:txBody>
        </p:sp>
        <p:sp>
          <p:nvSpPr>
            <p:cNvPr id="59" name="Rounded Rectangle 58"/>
            <p:cNvSpPr/>
            <p:nvPr/>
          </p:nvSpPr>
          <p:spPr>
            <a:xfrm>
              <a:off x="7447788" y="2802636"/>
              <a:ext cx="237744" cy="237744"/>
            </a:xfrm>
            <a:prstGeom prst="roundRect">
              <a:avLst>
                <a:gd name="adj" fmla="val 11538"/>
              </a:avLst>
            </a:prstGeom>
            <a:solidFill>
              <a:srgbClr val="6CA0DC"/>
            </a:solidFill>
            <a:ln>
              <a:noFill/>
            </a:ln>
          </p:spPr>
          <p:txBody>
            <a:bodyPr rtlCol="0" anchor="ctr"/>
            <a:lstStyle/>
            <a:p>
              <a:pPr algn="ctr"/>
              <a:endParaRPr/>
            </a:p>
          </p:txBody>
        </p:sp>
        <p:sp>
          <p:nvSpPr>
            <p:cNvPr id="60" name="Rounded Rectangle 59"/>
            <p:cNvSpPr/>
            <p:nvPr/>
          </p:nvSpPr>
          <p:spPr>
            <a:xfrm>
              <a:off x="7749540" y="2802636"/>
              <a:ext cx="237744" cy="237744"/>
            </a:xfrm>
            <a:prstGeom prst="roundRect">
              <a:avLst>
                <a:gd name="adj" fmla="val 11538"/>
              </a:avLst>
            </a:prstGeom>
            <a:solidFill>
              <a:srgbClr val="6CA0DC"/>
            </a:solidFill>
            <a:ln>
              <a:noFill/>
            </a:ln>
          </p:spPr>
          <p:txBody>
            <a:bodyPr rtlCol="0" anchor="ctr"/>
            <a:lstStyle/>
            <a:p>
              <a:pPr algn="ctr"/>
              <a:endParaRPr/>
            </a:p>
          </p:txBody>
        </p:sp>
        <p:sp>
          <p:nvSpPr>
            <p:cNvPr id="61" name="Rounded Rectangle 60"/>
            <p:cNvSpPr/>
            <p:nvPr/>
          </p:nvSpPr>
          <p:spPr>
            <a:xfrm>
              <a:off x="8051292" y="2802636"/>
              <a:ext cx="237744" cy="237744"/>
            </a:xfrm>
            <a:prstGeom prst="roundRect">
              <a:avLst>
                <a:gd name="adj" fmla="val 11538"/>
              </a:avLst>
            </a:prstGeom>
            <a:solidFill>
              <a:srgbClr val="6CA0DC"/>
            </a:solidFill>
            <a:ln>
              <a:noFill/>
            </a:ln>
          </p:spPr>
          <p:txBody>
            <a:bodyPr rtlCol="0" anchor="ctr"/>
            <a:lstStyle/>
            <a:p>
              <a:pPr algn="ctr"/>
              <a:endParaRPr/>
            </a:p>
          </p:txBody>
        </p:sp>
        <p:sp>
          <p:nvSpPr>
            <p:cNvPr id="62" name="Rounded Rectangle 61"/>
            <p:cNvSpPr/>
            <p:nvPr/>
          </p:nvSpPr>
          <p:spPr>
            <a:xfrm>
              <a:off x="8353044" y="2802636"/>
              <a:ext cx="237744" cy="237744"/>
            </a:xfrm>
            <a:prstGeom prst="roundRect">
              <a:avLst>
                <a:gd name="adj" fmla="val 11538"/>
              </a:avLst>
            </a:prstGeom>
            <a:solidFill>
              <a:srgbClr val="6CA0DC"/>
            </a:solidFill>
            <a:ln>
              <a:noFill/>
            </a:ln>
          </p:spPr>
          <p:txBody>
            <a:bodyPr rtlCol="0" anchor="ctr"/>
            <a:lstStyle/>
            <a:p>
              <a:pPr algn="ctr"/>
              <a:endParaRPr/>
            </a:p>
          </p:txBody>
        </p:sp>
        <p:sp>
          <p:nvSpPr>
            <p:cNvPr id="63" name="Rounded Rectangle 62"/>
            <p:cNvSpPr/>
            <p:nvPr/>
          </p:nvSpPr>
          <p:spPr>
            <a:xfrm>
              <a:off x="8654796" y="2802636"/>
              <a:ext cx="237744" cy="237744"/>
            </a:xfrm>
            <a:prstGeom prst="roundRect">
              <a:avLst>
                <a:gd name="adj" fmla="val 11538"/>
              </a:avLst>
            </a:prstGeom>
            <a:solidFill>
              <a:srgbClr val="6CA0DC"/>
            </a:solidFill>
            <a:ln>
              <a:noFill/>
            </a:ln>
          </p:spPr>
          <p:txBody>
            <a:bodyPr rtlCol="0" anchor="ctr"/>
            <a:lstStyle/>
            <a:p>
              <a:pPr algn="ctr"/>
              <a:endParaRPr/>
            </a:p>
          </p:txBody>
        </p:sp>
        <p:sp>
          <p:nvSpPr>
            <p:cNvPr id="64" name="Rounded Rectangle 63"/>
            <p:cNvSpPr/>
            <p:nvPr/>
          </p:nvSpPr>
          <p:spPr>
            <a:xfrm>
              <a:off x="8956548" y="2802636"/>
              <a:ext cx="237744" cy="237744"/>
            </a:xfrm>
            <a:prstGeom prst="roundRect">
              <a:avLst>
                <a:gd name="adj" fmla="val 11538"/>
              </a:avLst>
            </a:prstGeom>
            <a:solidFill>
              <a:srgbClr val="6CA0DC"/>
            </a:solidFill>
            <a:ln>
              <a:noFill/>
            </a:ln>
          </p:spPr>
          <p:txBody>
            <a:bodyPr rtlCol="0" anchor="ctr"/>
            <a:lstStyle/>
            <a:p>
              <a:pPr algn="ctr"/>
              <a:endParaRPr/>
            </a:p>
          </p:txBody>
        </p:sp>
        <p:sp>
          <p:nvSpPr>
            <p:cNvPr id="65" name="Rounded Rectangle 64"/>
            <p:cNvSpPr/>
            <p:nvPr/>
          </p:nvSpPr>
          <p:spPr>
            <a:xfrm>
              <a:off x="9258300" y="2802636"/>
              <a:ext cx="237744" cy="237744"/>
            </a:xfrm>
            <a:prstGeom prst="roundRect">
              <a:avLst>
                <a:gd name="adj" fmla="val 11538"/>
              </a:avLst>
            </a:prstGeom>
            <a:solidFill>
              <a:srgbClr val="6CA0DC"/>
            </a:solidFill>
            <a:ln>
              <a:noFill/>
            </a:ln>
          </p:spPr>
          <p:txBody>
            <a:bodyPr rtlCol="0" anchor="ctr"/>
            <a:lstStyle/>
            <a:p>
              <a:pPr algn="ctr"/>
              <a:endParaRPr/>
            </a:p>
          </p:txBody>
        </p:sp>
        <p:sp>
          <p:nvSpPr>
            <p:cNvPr id="66" name="Rounded Rectangle 65"/>
            <p:cNvSpPr/>
            <p:nvPr/>
          </p:nvSpPr>
          <p:spPr>
            <a:xfrm>
              <a:off x="9560052" y="2802636"/>
              <a:ext cx="237744" cy="237744"/>
            </a:xfrm>
            <a:prstGeom prst="roundRect">
              <a:avLst>
                <a:gd name="adj" fmla="val 11538"/>
              </a:avLst>
            </a:prstGeom>
            <a:solidFill>
              <a:srgbClr val="6CA0DC"/>
            </a:solidFill>
            <a:ln>
              <a:noFill/>
            </a:ln>
          </p:spPr>
          <p:txBody>
            <a:bodyPr rtlCol="0" anchor="ctr"/>
            <a:lstStyle/>
            <a:p>
              <a:pPr algn="ctr"/>
              <a:endParaRPr/>
            </a:p>
          </p:txBody>
        </p:sp>
        <p:sp>
          <p:nvSpPr>
            <p:cNvPr id="67" name="Rectangle 66"/>
            <p:cNvSpPr/>
            <p:nvPr/>
          </p:nvSpPr>
          <p:spPr>
            <a:xfrm>
              <a:off x="6428232" y="3200400"/>
              <a:ext cx="4389120" cy="73152"/>
            </a:xfrm>
            <a:prstGeom prst="rect">
              <a:avLst/>
            </a:prstGeom>
            <a:solidFill>
              <a:srgbClr val="9AA0A6"/>
            </a:solidFill>
            <a:ln>
              <a:noFill/>
            </a:ln>
          </p:spPr>
          <p:txBody>
            <a:bodyPr rtlCol="0" anchor="ctr"/>
            <a:lstStyle/>
            <a:p>
              <a:pPr algn="ctr"/>
              <a:endParaRPr/>
            </a:p>
          </p:txBody>
        </p:sp>
        <p:sp>
          <p:nvSpPr>
            <p:cNvPr id="68" name="Oval 67"/>
            <p:cNvSpPr/>
            <p:nvPr/>
          </p:nvSpPr>
          <p:spPr>
            <a:xfrm>
              <a:off x="7130491" y="3255264"/>
              <a:ext cx="292608" cy="292608"/>
            </a:xfrm>
            <a:prstGeom prst="ellipse">
              <a:avLst/>
            </a:prstGeom>
            <a:solidFill>
              <a:srgbClr val="1B1D21"/>
            </a:solidFill>
            <a:ln w="19050">
              <a:solidFill>
                <a:srgbClr val="9AA0A6"/>
              </a:solidFill>
            </a:ln>
          </p:spPr>
          <p:txBody>
            <a:bodyPr rtlCol="0" anchor="ctr"/>
            <a:lstStyle/>
            <a:p>
              <a:pPr algn="ctr"/>
              <a:endParaRPr/>
            </a:p>
          </p:txBody>
        </p:sp>
        <p:sp>
          <p:nvSpPr>
            <p:cNvPr id="69" name="Oval 68"/>
            <p:cNvSpPr/>
            <p:nvPr/>
          </p:nvSpPr>
          <p:spPr>
            <a:xfrm>
              <a:off x="9822485" y="3255264"/>
              <a:ext cx="292608" cy="292608"/>
            </a:xfrm>
            <a:prstGeom prst="ellipse">
              <a:avLst/>
            </a:prstGeom>
            <a:solidFill>
              <a:srgbClr val="1B1D21"/>
            </a:solidFill>
            <a:ln w="19050">
              <a:solidFill>
                <a:srgbClr val="9AA0A6"/>
              </a:solidFill>
            </a:ln>
          </p:spPr>
          <p:txBody>
            <a:bodyPr rtlCol="0" anchor="ctr"/>
            <a:lstStyle/>
            <a:p>
              <a:pPr algn="ctr"/>
              <a:endParaRPr/>
            </a:p>
          </p:txBody>
        </p:sp>
        <p:sp>
          <p:nvSpPr>
            <p:cNvPr id="70" name="Rectangle 69"/>
            <p:cNvSpPr/>
            <p:nvPr/>
          </p:nvSpPr>
          <p:spPr>
            <a:xfrm>
              <a:off x="6245352" y="3547872"/>
              <a:ext cx="4754880" cy="54864"/>
            </a:xfrm>
            <a:prstGeom prst="rect">
              <a:avLst/>
            </a:prstGeom>
            <a:solidFill>
              <a:srgbClr val="9AA0A6"/>
            </a:solidFill>
            <a:ln>
              <a:noFill/>
            </a:ln>
          </p:spPr>
          <p:txBody>
            <a:bodyPr rtlCol="0" anchor="ctr"/>
            <a:lstStyle/>
            <a:p>
              <a:pPr algn="ctr"/>
              <a:endParaRPr/>
            </a:p>
          </p:txBody>
        </p:sp>
      </p:grpSp>
      <p:sp>
        <p:nvSpPr>
          <p:cNvPr id="71" name="TextBox 70"/>
          <p:cNvSpPr txBox="1"/>
          <p:nvPr/>
        </p:nvSpPr>
        <p:spPr>
          <a:xfrm>
            <a:off x="914400" y="3794760"/>
            <a:ext cx="4206240" cy="365760"/>
          </a:xfrm>
          <a:prstGeom prst="rect">
            <a:avLst/>
          </a:prstGeom>
          <a:noFill/>
        </p:spPr>
        <p:txBody>
          <a:bodyPr wrap="square" lIns="0" tIns="0" rIns="0" bIns="0" anchor="t">
            <a:noAutofit/>
          </a:bodyPr>
          <a:lstStyle/>
          <a:p>
            <a:pPr algn="l"/>
            <a:r>
              <a:rPr lang="en-GB" sz="2000" b="1" i="0">
                <a:solidFill>
                  <a:srgbClr val="F2F2F2"/>
                </a:solidFill>
                <a:latin typeface="Arial"/>
              </a:rPr>
              <a:t>Steam wagon: about 20 stacks</a:t>
            </a:r>
          </a:p>
        </p:txBody>
      </p:sp>
      <p:sp>
        <p:nvSpPr>
          <p:cNvPr id="72" name="Inline chip Provisional"/>
          <p:cNvSpPr/>
          <p:nvPr/>
        </p:nvSpPr>
        <p:spPr>
          <a:xfrm>
            <a:off x="914400" y="4224528"/>
            <a:ext cx="1588135" cy="329184"/>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sp>
        <p:nvSpPr>
          <p:cNvPr id="73" name="TextBox 72"/>
          <p:cNvSpPr txBox="1"/>
          <p:nvPr/>
        </p:nvSpPr>
        <p:spPr>
          <a:xfrm>
            <a:off x="6519672" y="3794760"/>
            <a:ext cx="4206240" cy="365760"/>
          </a:xfrm>
          <a:prstGeom prst="rect">
            <a:avLst/>
          </a:prstGeom>
          <a:noFill/>
        </p:spPr>
        <p:txBody>
          <a:bodyPr wrap="square" lIns="0" tIns="0" rIns="0" bIns="0" anchor="t">
            <a:noAutofit/>
          </a:bodyPr>
          <a:lstStyle/>
          <a:p>
            <a:pPr algn="l"/>
            <a:r>
              <a:rPr lang="en-GB" sz="2000" b="1" i="0">
                <a:solidFill>
                  <a:srgbClr val="F2F2F2"/>
                </a:solidFill>
                <a:latin typeface="Arial"/>
              </a:rPr>
              <a:t>Vanilla wagon: 32 stacks</a:t>
            </a:r>
          </a:p>
        </p:txBody>
      </p:sp>
      <p:grpSp>
        <p:nvGrpSpPr>
          <p:cNvPr id="74" name="Legend" descr="Legend: one square is one stack, a pile of one item."/>
          <p:cNvGrpSpPr/>
          <p:nvPr/>
        </p:nvGrpSpPr>
        <p:grpSpPr>
          <a:xfrm>
            <a:off x="914400" y="4800600"/>
            <a:ext cx="4480560" cy="384048"/>
            <a:chOff x="914400" y="4800600"/>
            <a:chExt cx="4480560" cy="384048"/>
          </a:xfrm>
        </p:grpSpPr>
        <p:sp>
          <p:nvSpPr>
            <p:cNvPr id="75" name="Rounded Rectangle 74"/>
            <p:cNvSpPr/>
            <p:nvPr/>
          </p:nvSpPr>
          <p:spPr>
            <a:xfrm>
              <a:off x="914400" y="4873752"/>
              <a:ext cx="237744" cy="237744"/>
            </a:xfrm>
            <a:prstGeom prst="roundRect">
              <a:avLst>
                <a:gd name="adj" fmla="val 11538"/>
              </a:avLst>
            </a:prstGeom>
            <a:solidFill>
              <a:srgbClr val="F28C28"/>
            </a:solidFill>
            <a:ln>
              <a:noFill/>
            </a:ln>
          </p:spPr>
          <p:txBody>
            <a:bodyPr rtlCol="0" anchor="ctr"/>
            <a:lstStyle/>
            <a:p>
              <a:pPr algn="ctr"/>
              <a:endParaRPr/>
            </a:p>
          </p:txBody>
        </p:sp>
        <p:sp>
          <p:nvSpPr>
            <p:cNvPr id="76" name="TextBox 75"/>
            <p:cNvSpPr txBox="1"/>
            <p:nvPr/>
          </p:nvSpPr>
          <p:spPr>
            <a:xfrm>
              <a:off x="1280160" y="4800600"/>
              <a:ext cx="4114800" cy="384048"/>
            </a:xfrm>
            <a:prstGeom prst="rect">
              <a:avLst/>
            </a:prstGeom>
            <a:noFill/>
          </p:spPr>
          <p:txBody>
            <a:bodyPr wrap="square" lIns="0" tIns="0" rIns="0" bIns="0" anchor="ctr">
              <a:noAutofit/>
            </a:bodyPr>
            <a:lstStyle/>
            <a:p>
              <a:pPr algn="l"/>
              <a:r>
                <a:rPr lang="en-GB" sz="1800" b="0" i="0">
                  <a:solidFill>
                    <a:srgbClr val="F2F2F2"/>
                  </a:solidFill>
                  <a:latin typeface="Arial"/>
                </a:rPr>
                <a:t>Stack = a pile of one item.</a:t>
              </a:r>
            </a:p>
          </p:txBody>
        </p:sp>
      </p:grpSp>
      <p:sp>
        <p:nvSpPr>
          <p:cNvPr id="77" name="TextBox 76"/>
          <p:cNvSpPr txBox="1"/>
          <p:nvPr/>
        </p:nvSpPr>
        <p:spPr>
          <a:xfrm>
            <a:off x="6519672" y="4800600"/>
            <a:ext cx="2377440" cy="384048"/>
          </a:xfrm>
          <a:prstGeom prst="rect">
            <a:avLst/>
          </a:prstGeom>
          <a:noFill/>
        </p:spPr>
        <p:txBody>
          <a:bodyPr wrap="square" lIns="0" tIns="0" rIns="0" bIns="0" anchor="ctr">
            <a:noAutofit/>
          </a:bodyPr>
          <a:lstStyle/>
          <a:p>
            <a:pPr algn="l"/>
            <a:r>
              <a:rPr lang="en-GB" sz="1800" b="0" i="0">
                <a:solidFill>
                  <a:srgbClr val="F2F2F2"/>
                </a:solidFill>
                <a:latin typeface="Arial"/>
              </a:rPr>
              <a:t>Wagon catalogue:</a:t>
            </a:r>
          </a:p>
        </p:txBody>
      </p:sp>
      <p:sp>
        <p:nvSpPr>
          <p:cNvPr id="78" name="Inline chip Undecided"/>
          <p:cNvSpPr/>
          <p:nvPr/>
        </p:nvSpPr>
        <p:spPr>
          <a:xfrm>
            <a:off x="8498183" y="4828032"/>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Steam wagons are cheaper and hold less. About 20 item stacks, against 32 in a vanilla wagon.</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22</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00"/>
                                  </p:stCondLst>
                                  <p:childTnLst>
                                    <p:set>
                                      <p:cBhvr>
                                        <p:cTn id="9" dur="1" fill="hold">
                                          <p:stCondLst>
                                            <p:cond delay="0"/>
                                          </p:stCondLst>
                                        </p:cTn>
                                        <p:tgtEl>
                                          <p:spTgt spid="71"/>
                                        </p:tgtEl>
                                        <p:attrNameLst>
                                          <p:attrName>style.visibility</p:attrName>
                                        </p:attrNameLst>
                                      </p:cBhvr>
                                      <p:to>
                                        <p:strVal val="visible"/>
                                      </p:to>
                                    </p:set>
                                    <p:animEffect transition="in" filter="fade">
                                      <p:cBhvr>
                                        <p:cTn id="10" dur="500"/>
                                        <p:tgtEl>
                                          <p:spTgt spid="71"/>
                                        </p:tgtEl>
                                      </p:cBhvr>
                                    </p:animEffect>
                                  </p:childTnLst>
                                </p:cTn>
                              </p:par>
                              <p:par>
                                <p:cTn id="11" presetID="10" presetClass="entr" presetSubtype="0" fill="hold" nodeType="withEffect">
                                  <p:stCondLst>
                                    <p:cond delay="400"/>
                                  </p:stCondLst>
                                  <p:childTnLst>
                                    <p:set>
                                      <p:cBhvr>
                                        <p:cTn id="12" dur="1" fill="hold">
                                          <p:stCondLst>
                                            <p:cond delay="0"/>
                                          </p:stCondLst>
                                        </p:cTn>
                                        <p:tgtEl>
                                          <p:spTgt spid="72"/>
                                        </p:tgtEl>
                                        <p:attrNameLst>
                                          <p:attrName>style.visibility</p:attrName>
                                        </p:attrNameLst>
                                      </p:cBhvr>
                                      <p:to>
                                        <p:strVal val="visible"/>
                                      </p:to>
                                    </p:set>
                                    <p:animEffect transition="in" filter="fade">
                                      <p:cBhvr>
                                        <p:cTn id="13" dur="500"/>
                                        <p:tgtEl>
                                          <p:spTgt spid="72"/>
                                        </p:tgtEl>
                                      </p:cBhvr>
                                    </p:animEffect>
                                  </p:childTnLst>
                                </p:cTn>
                              </p:par>
                              <p:par>
                                <p:cTn id="14" presetID="10" presetClass="entr" presetSubtype="0" fill="hold" nodeType="withEffect">
                                  <p:stCondLst>
                                    <p:cond delay="600"/>
                                  </p:stCondLst>
                                  <p:childTnLst>
                                    <p:set>
                                      <p:cBhvr>
                                        <p:cTn id="15" dur="1" fill="hold">
                                          <p:stCondLst>
                                            <p:cond delay="0"/>
                                          </p:stCondLst>
                                        </p:cTn>
                                        <p:tgtEl>
                                          <p:spTgt spid="73"/>
                                        </p:tgtEl>
                                        <p:attrNameLst>
                                          <p:attrName>style.visibility</p:attrName>
                                        </p:attrNameLst>
                                      </p:cBhvr>
                                      <p:to>
                                        <p:strVal val="visible"/>
                                      </p:to>
                                    </p:set>
                                    <p:animEffect transition="in" filter="fade">
                                      <p:cBhvr>
                                        <p:cTn id="16" dur="500"/>
                                        <p:tgtEl>
                                          <p:spTgt spid="73"/>
                                        </p:tgtEl>
                                      </p:cBhvr>
                                    </p:animEffect>
                                  </p:childTnLst>
                                </p:cTn>
                              </p:par>
                              <p:par>
                                <p:cTn id="17" presetID="10" presetClass="entr" presetSubtype="0" fill="hold" nodeType="withEffect">
                                  <p:stCondLst>
                                    <p:cond delay="800"/>
                                  </p:stCondLst>
                                  <p:childTnLst>
                                    <p:set>
                                      <p:cBhvr>
                                        <p:cTn id="18" dur="1" fill="hold">
                                          <p:stCondLst>
                                            <p:cond delay="0"/>
                                          </p:stCondLst>
                                        </p:cTn>
                                        <p:tgtEl>
                                          <p:spTgt spid="74"/>
                                        </p:tgtEl>
                                        <p:attrNameLst>
                                          <p:attrName>style.visibility</p:attrName>
                                        </p:attrNameLst>
                                      </p:cBhvr>
                                      <p:to>
                                        <p:strVal val="visible"/>
                                      </p:to>
                                    </p:set>
                                    <p:animEffect transition="in" filter="fade">
                                      <p:cBhvr>
                                        <p:cTn id="19" dur="500"/>
                                        <p:tgtEl>
                                          <p:spTgt spid="74"/>
                                        </p:tgtEl>
                                      </p:cBhvr>
                                    </p:animEffect>
                                  </p:childTnLst>
                                </p:cTn>
                              </p:par>
                              <p:par>
                                <p:cTn id="20" presetID="10" presetClass="entr" presetSubtype="0" fill="hold" nodeType="withEffect">
                                  <p:stCondLst>
                                    <p:cond delay="1000"/>
                                  </p:stCondLst>
                                  <p:childTnLst>
                                    <p:set>
                                      <p:cBhvr>
                                        <p:cTn id="21" dur="1" fill="hold">
                                          <p:stCondLst>
                                            <p:cond delay="0"/>
                                          </p:stCondLst>
                                        </p:cTn>
                                        <p:tgtEl>
                                          <p:spTgt spid="77"/>
                                        </p:tgtEl>
                                        <p:attrNameLst>
                                          <p:attrName>style.visibility</p:attrName>
                                        </p:attrNameLst>
                                      </p:cBhvr>
                                      <p:to>
                                        <p:strVal val="visible"/>
                                      </p:to>
                                    </p:set>
                                    <p:animEffect transition="in" filter="fade">
                                      <p:cBhvr>
                                        <p:cTn id="22" dur="500"/>
                                        <p:tgtEl>
                                          <p:spTgt spid="77"/>
                                        </p:tgtEl>
                                      </p:cBhvr>
                                    </p:animEffect>
                                  </p:childTnLst>
                                </p:cTn>
                              </p:par>
                              <p:par>
                                <p:cTn id="23" presetID="10" presetClass="entr" presetSubtype="0" fill="hold" nodeType="withEffect">
                                  <p:stCondLst>
                                    <p:cond delay="1200"/>
                                  </p:stCondLst>
                                  <p:childTnLst>
                                    <p:set>
                                      <p:cBhvr>
                                        <p:cTn id="24" dur="1" fill="hold">
                                          <p:stCondLst>
                                            <p:cond delay="0"/>
                                          </p:stCondLst>
                                        </p:cTn>
                                        <p:tgtEl>
                                          <p:spTgt spid="78"/>
                                        </p:tgtEl>
                                        <p:attrNameLst>
                                          <p:attrName>style.visibility</p:attrName>
                                        </p:attrNameLst>
                                      </p:cBhvr>
                                      <p:to>
                                        <p:strVal val="visible"/>
                                      </p:to>
                                    </p:set>
                                    <p:animEffect transition="in" filter="fade">
                                      <p:cBhvr>
                                        <p:cTn id="25" dur="500"/>
                                        <p:tgtEl>
                                          <p:spTgt spid="78"/>
                                        </p:tgtEl>
                                      </p:cBhvr>
                                    </p:animEffect>
                                  </p:childTnLst>
                                </p:cTn>
                              </p:par>
                              <p:par>
                                <p:cTn id="26" presetID="10" presetClass="entr" presetSubtype="0" fill="hold" nodeType="withEffect">
                                  <p:stCondLst>
                                    <p:cond delay="14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10" presetClass="entr" presetSubtype="0" fill="hold" nodeType="withEffect">
                                  <p:stCondLst>
                                    <p:cond delay="16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How far can an engine go?</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Engine gauges" descr="Gauges for one engine: coal about two-thirds full, water about half full, and a readout card showing range left with a dial and no number."/>
          <p:cNvGrpSpPr/>
          <p:nvPr/>
        </p:nvGrpSpPr>
        <p:grpSpPr>
          <a:xfrm>
            <a:off x="548640" y="1371600"/>
            <a:ext cx="5120640" cy="3017520"/>
            <a:chOff x="548640" y="1371600"/>
            <a:chExt cx="5120640" cy="3017520"/>
          </a:xfrm>
        </p:grpSpPr>
        <p:sp>
          <p:nvSpPr>
            <p:cNvPr id="9" name="Rounded Rectangle 8"/>
            <p:cNvSpPr/>
            <p:nvPr/>
          </p:nvSpPr>
          <p:spPr>
            <a:xfrm>
              <a:off x="548640" y="1371600"/>
              <a:ext cx="5120640" cy="3017520"/>
            </a:xfrm>
            <a:prstGeom prst="roundRect">
              <a:avLst>
                <a:gd name="adj" fmla="val 3030"/>
              </a:avLst>
            </a:prstGeom>
            <a:solidFill>
              <a:srgbClr val="2B2F36"/>
            </a:solidFill>
            <a:ln>
              <a:noFill/>
            </a:ln>
          </p:spPr>
          <p:txBody>
            <a:bodyPr rtlCol="0" anchor="ctr"/>
            <a:lstStyle/>
            <a:p>
              <a:pPr algn="ctr"/>
              <a:endParaRPr/>
            </a:p>
          </p:txBody>
        </p:sp>
        <p:sp>
          <p:nvSpPr>
            <p:cNvPr id="10" name="Rounded Rectangle 9"/>
            <p:cNvSpPr/>
            <p:nvPr/>
          </p:nvSpPr>
          <p:spPr>
            <a:xfrm>
              <a:off x="914400" y="1828800"/>
              <a:ext cx="914400" cy="2103120"/>
            </a:xfrm>
            <a:prstGeom prst="roundRect">
              <a:avLst>
                <a:gd name="adj" fmla="val 8000"/>
              </a:avLst>
            </a:prstGeom>
            <a:solidFill>
              <a:srgbClr val="2B2F36"/>
            </a:solidFill>
            <a:ln w="25400">
              <a:solidFill>
                <a:srgbClr val="6B7078"/>
              </a:solidFill>
            </a:ln>
          </p:spPr>
          <p:txBody>
            <a:bodyPr rtlCol="0" anchor="ctr"/>
            <a:lstStyle/>
            <a:p>
              <a:pPr algn="ctr"/>
              <a:endParaRPr/>
            </a:p>
          </p:txBody>
        </p:sp>
        <p:sp>
          <p:nvSpPr>
            <p:cNvPr id="11" name="Rounded Rectangle 10"/>
            <p:cNvSpPr/>
            <p:nvPr/>
          </p:nvSpPr>
          <p:spPr>
            <a:xfrm>
              <a:off x="950976" y="2575865"/>
              <a:ext cx="841248" cy="1319479"/>
            </a:xfrm>
            <a:prstGeom prst="roundRect">
              <a:avLst>
                <a:gd name="adj" fmla="val 5434"/>
              </a:avLst>
            </a:prstGeom>
            <a:solidFill>
              <a:srgbClr val="1B1D21"/>
            </a:solidFill>
            <a:ln>
              <a:noFill/>
            </a:ln>
          </p:spPr>
          <p:txBody>
            <a:bodyPr rtlCol="0" anchor="ctr"/>
            <a:lstStyle/>
            <a:p>
              <a:pPr algn="ctr"/>
              <a:endParaRPr/>
            </a:p>
          </p:txBody>
        </p:sp>
        <p:sp>
          <p:nvSpPr>
            <p:cNvPr id="12" name="Freeform 11"/>
            <p:cNvSpPr/>
            <p:nvPr/>
          </p:nvSpPr>
          <p:spPr>
            <a:xfrm>
              <a:off x="1097280" y="1490472"/>
              <a:ext cx="548640" cy="201168"/>
            </a:xfrm>
            <a:custGeom>
              <a:avLst/>
              <a:gdLst/>
              <a:ahLst/>
              <a:cxnLst/>
              <a:rect l="l" t="t" r="r" b="b"/>
              <a:pathLst>
                <a:path w="548640" h="201168">
                  <a:moveTo>
                    <a:pt x="0" y="201168"/>
                  </a:moveTo>
                  <a:lnTo>
                    <a:pt x="98755" y="80467"/>
                  </a:lnTo>
                  <a:lnTo>
                    <a:pt x="208483" y="30175"/>
                  </a:lnTo>
                  <a:lnTo>
                    <a:pt x="301752" y="0"/>
                  </a:lnTo>
                  <a:lnTo>
                    <a:pt x="411480" y="60350"/>
                  </a:lnTo>
                  <a:lnTo>
                    <a:pt x="504749" y="120701"/>
                  </a:lnTo>
                  <a:lnTo>
                    <a:pt x="548640" y="201168"/>
                  </a:lnTo>
                  <a:close/>
                </a:path>
              </a:pathLst>
            </a:custGeom>
            <a:solidFill>
              <a:srgbClr val="1B1D21"/>
            </a:solidFill>
            <a:ln w="25400">
              <a:solidFill>
                <a:srgbClr val="6B7078"/>
              </a:solidFill>
            </a:ln>
          </p:spPr>
          <p:txBody>
            <a:bodyPr rtlCol="0" anchor="ctr"/>
            <a:lstStyle/>
            <a:p>
              <a:pPr algn="ctr"/>
              <a:endParaRPr/>
            </a:p>
          </p:txBody>
        </p:sp>
        <p:sp>
          <p:nvSpPr>
            <p:cNvPr id="13" name="Rounded Rectangle 12"/>
            <p:cNvSpPr/>
            <p:nvPr/>
          </p:nvSpPr>
          <p:spPr>
            <a:xfrm>
              <a:off x="2103120" y="1828800"/>
              <a:ext cx="914400" cy="2103120"/>
            </a:xfrm>
            <a:prstGeom prst="roundRect">
              <a:avLst>
                <a:gd name="adj" fmla="val 8000"/>
              </a:avLst>
            </a:prstGeom>
            <a:solidFill>
              <a:srgbClr val="2B2F36"/>
            </a:solidFill>
            <a:ln w="25400">
              <a:solidFill>
                <a:srgbClr val="F2F2F2"/>
              </a:solidFill>
            </a:ln>
          </p:spPr>
          <p:txBody>
            <a:bodyPr rtlCol="0" anchor="ctr"/>
            <a:lstStyle/>
            <a:p>
              <a:pPr algn="ctr"/>
              <a:endParaRPr/>
            </a:p>
          </p:txBody>
        </p:sp>
        <p:sp>
          <p:nvSpPr>
            <p:cNvPr id="14" name="Rounded Rectangle 13"/>
            <p:cNvSpPr/>
            <p:nvPr/>
          </p:nvSpPr>
          <p:spPr>
            <a:xfrm>
              <a:off x="2139696" y="2880360"/>
              <a:ext cx="841248" cy="1014984"/>
            </a:xfrm>
            <a:prstGeom prst="roundRect">
              <a:avLst>
                <a:gd name="adj" fmla="val 5434"/>
              </a:avLst>
            </a:prstGeom>
            <a:solidFill>
              <a:srgbClr val="4DA3FF"/>
            </a:solidFill>
            <a:ln>
              <a:noFill/>
            </a:ln>
          </p:spPr>
          <p:txBody>
            <a:bodyPr rtlCol="0" anchor="ctr"/>
            <a:lstStyle/>
            <a:p>
              <a:pPr algn="ctr"/>
              <a:endParaRPr/>
            </a:p>
          </p:txBody>
        </p:sp>
        <p:sp>
          <p:nvSpPr>
            <p:cNvPr id="15" name="Freeform 14"/>
            <p:cNvSpPr/>
            <p:nvPr/>
          </p:nvSpPr>
          <p:spPr>
            <a:xfrm>
              <a:off x="2462152" y="1435608"/>
              <a:ext cx="196336" cy="263347"/>
            </a:xfrm>
            <a:custGeom>
              <a:avLst/>
              <a:gdLst/>
              <a:ahLst/>
              <a:cxnLst/>
              <a:rect l="l" t="t" r="r" b="b"/>
              <a:pathLst>
                <a:path w="196336" h="263347">
                  <a:moveTo>
                    <a:pt x="5368" y="130816"/>
                  </a:moveTo>
                  <a:lnTo>
                    <a:pt x="0" y="153841"/>
                  </a:lnTo>
                  <a:lnTo>
                    <a:pt x="258" y="177482"/>
                  </a:lnTo>
                  <a:lnTo>
                    <a:pt x="6127" y="200385"/>
                  </a:lnTo>
                  <a:lnTo>
                    <a:pt x="17272" y="221236"/>
                  </a:lnTo>
                  <a:lnTo>
                    <a:pt x="33054" y="238840"/>
                  </a:lnTo>
                  <a:lnTo>
                    <a:pt x="52568" y="252189"/>
                  </a:lnTo>
                  <a:lnTo>
                    <a:pt x="74695" y="260517"/>
                  </a:lnTo>
                  <a:lnTo>
                    <a:pt x="98168" y="263347"/>
                  </a:lnTo>
                  <a:lnTo>
                    <a:pt x="121641" y="260517"/>
                  </a:lnTo>
                  <a:lnTo>
                    <a:pt x="143768" y="252189"/>
                  </a:lnTo>
                  <a:lnTo>
                    <a:pt x="163282" y="238840"/>
                  </a:lnTo>
                  <a:lnTo>
                    <a:pt x="179064" y="221236"/>
                  </a:lnTo>
                  <a:lnTo>
                    <a:pt x="190209" y="200385"/>
                  </a:lnTo>
                  <a:lnTo>
                    <a:pt x="196078" y="177482"/>
                  </a:lnTo>
                  <a:lnTo>
                    <a:pt x="196336" y="153841"/>
                  </a:lnTo>
                  <a:lnTo>
                    <a:pt x="190968" y="130816"/>
                  </a:lnTo>
                  <a:lnTo>
                    <a:pt x="98168" y="0"/>
                  </a:lnTo>
                  <a:close/>
                </a:path>
              </a:pathLst>
            </a:custGeom>
            <a:solidFill>
              <a:srgbClr val="4DA3FF"/>
            </a:solidFill>
            <a:ln>
              <a:noFill/>
            </a:ln>
          </p:spPr>
          <p:txBody>
            <a:bodyPr rtlCol="0" anchor="ctr"/>
            <a:lstStyle/>
            <a:p>
              <a:pPr algn="ctr"/>
              <a:endParaRPr/>
            </a:p>
          </p:txBody>
        </p:sp>
        <p:sp>
          <p:nvSpPr>
            <p:cNvPr id="16" name="Rounded Rectangle 15"/>
            <p:cNvSpPr/>
            <p:nvPr/>
          </p:nvSpPr>
          <p:spPr>
            <a:xfrm>
              <a:off x="3337560" y="1828800"/>
              <a:ext cx="2103120" cy="2103120"/>
            </a:xfrm>
            <a:prstGeom prst="roundRect">
              <a:avLst>
                <a:gd name="adj" fmla="val 5217"/>
              </a:avLst>
            </a:prstGeom>
            <a:solidFill>
              <a:srgbClr val="1E2126"/>
            </a:solidFill>
            <a:ln w="25400">
              <a:solidFill>
                <a:srgbClr val="F28C28"/>
              </a:solidFill>
            </a:ln>
          </p:spPr>
          <p:txBody>
            <a:bodyPr rtlCol="0" anchor="ctr"/>
            <a:lstStyle/>
            <a:p>
              <a:pPr algn="ctr"/>
              <a:endParaRPr/>
            </a:p>
          </p:txBody>
        </p:sp>
        <p:sp>
          <p:nvSpPr>
            <p:cNvPr id="17" name="TextBox 16"/>
            <p:cNvSpPr txBox="1"/>
            <p:nvPr/>
          </p:nvSpPr>
          <p:spPr>
            <a:xfrm>
              <a:off x="3337560" y="1938528"/>
              <a:ext cx="2103120" cy="365760"/>
            </a:xfrm>
            <a:prstGeom prst="rect">
              <a:avLst/>
            </a:prstGeom>
            <a:noFill/>
          </p:spPr>
          <p:txBody>
            <a:bodyPr wrap="square" lIns="0" tIns="0" rIns="0" bIns="0" anchor="t">
              <a:noAutofit/>
            </a:bodyPr>
            <a:lstStyle/>
            <a:p>
              <a:pPr algn="ctr"/>
              <a:r>
                <a:rPr lang="en-GB" sz="1800" b="1" i="0">
                  <a:solidFill>
                    <a:srgbClr val="F2F2F2"/>
                  </a:solidFill>
                  <a:latin typeface="Arial"/>
                </a:rPr>
                <a:t>Range left</a:t>
              </a:r>
            </a:p>
          </p:txBody>
        </p:sp>
        <p:sp>
          <p:nvSpPr>
            <p:cNvPr id="18" name="Freeform 17"/>
            <p:cNvSpPr/>
            <p:nvPr/>
          </p:nvSpPr>
          <p:spPr>
            <a:xfrm>
              <a:off x="3703320" y="2743200"/>
              <a:ext cx="1371600" cy="685800"/>
            </a:xfrm>
            <a:custGeom>
              <a:avLst/>
              <a:gdLst/>
              <a:ahLst/>
              <a:cxnLst/>
              <a:rect l="l" t="t" r="r" b="b"/>
              <a:pathLst>
                <a:path w="1371600" h="685800">
                  <a:moveTo>
                    <a:pt x="0" y="685800"/>
                  </a:moveTo>
                  <a:lnTo>
                    <a:pt x="5867" y="596285"/>
                  </a:lnTo>
                  <a:lnTo>
                    <a:pt x="23368" y="508302"/>
                  </a:lnTo>
                  <a:lnTo>
                    <a:pt x="52203" y="423356"/>
                  </a:lnTo>
                  <a:lnTo>
                    <a:pt x="91880" y="342900"/>
                  </a:lnTo>
                  <a:lnTo>
                    <a:pt x="141718" y="268311"/>
                  </a:lnTo>
                  <a:lnTo>
                    <a:pt x="200866" y="200866"/>
                  </a:lnTo>
                  <a:lnTo>
                    <a:pt x="268311" y="141718"/>
                  </a:lnTo>
                  <a:lnTo>
                    <a:pt x="342900" y="91880"/>
                  </a:lnTo>
                  <a:lnTo>
                    <a:pt x="423356" y="52203"/>
                  </a:lnTo>
                  <a:lnTo>
                    <a:pt x="508302" y="23368"/>
                  </a:lnTo>
                  <a:lnTo>
                    <a:pt x="596285" y="5867"/>
                  </a:lnTo>
                  <a:lnTo>
                    <a:pt x="685800" y="0"/>
                  </a:lnTo>
                  <a:lnTo>
                    <a:pt x="775315" y="5867"/>
                  </a:lnTo>
                  <a:lnTo>
                    <a:pt x="863298" y="23368"/>
                  </a:lnTo>
                  <a:lnTo>
                    <a:pt x="948244" y="52203"/>
                  </a:lnTo>
                  <a:lnTo>
                    <a:pt x="1028700" y="91880"/>
                  </a:lnTo>
                  <a:lnTo>
                    <a:pt x="1103289" y="141718"/>
                  </a:lnTo>
                  <a:lnTo>
                    <a:pt x="1170734" y="200866"/>
                  </a:lnTo>
                  <a:lnTo>
                    <a:pt x="1229882" y="268311"/>
                  </a:lnTo>
                  <a:lnTo>
                    <a:pt x="1279720" y="342900"/>
                  </a:lnTo>
                  <a:lnTo>
                    <a:pt x="1319397" y="423356"/>
                  </a:lnTo>
                  <a:lnTo>
                    <a:pt x="1348232" y="508302"/>
                  </a:lnTo>
                  <a:lnTo>
                    <a:pt x="1365733" y="596285"/>
                  </a:lnTo>
                  <a:lnTo>
                    <a:pt x="1371600" y="685800"/>
                  </a:lnTo>
                </a:path>
              </a:pathLst>
            </a:custGeom>
            <a:noFill/>
            <a:ln w="101600">
              <a:solidFill>
                <a:srgbClr val="4A515B"/>
              </a:solidFill>
            </a:ln>
          </p:spPr>
          <p:txBody>
            <a:bodyPr rtlCol="0" anchor="ctr"/>
            <a:lstStyle/>
            <a:p>
              <a:pPr algn="ctr"/>
              <a:endParaRPr/>
            </a:p>
          </p:txBody>
        </p:sp>
        <p:sp>
          <p:nvSpPr>
            <p:cNvPr id="19" name="Freeform 18"/>
            <p:cNvSpPr/>
            <p:nvPr/>
          </p:nvSpPr>
          <p:spPr>
            <a:xfrm>
              <a:off x="3703320" y="2743241"/>
              <a:ext cx="920357" cy="685759"/>
            </a:xfrm>
            <a:custGeom>
              <a:avLst/>
              <a:gdLst/>
              <a:ahLst/>
              <a:cxnLst/>
              <a:rect l="l" t="t" r="r" b="b"/>
              <a:pathLst>
                <a:path w="920357" h="685759">
                  <a:moveTo>
                    <a:pt x="0" y="685759"/>
                  </a:moveTo>
                  <a:lnTo>
                    <a:pt x="4931" y="603666"/>
                  </a:lnTo>
                  <a:lnTo>
                    <a:pt x="19654" y="522754"/>
                  </a:lnTo>
                  <a:lnTo>
                    <a:pt x="43956" y="444186"/>
                  </a:lnTo>
                  <a:lnTo>
                    <a:pt x="77488" y="369092"/>
                  </a:lnTo>
                  <a:lnTo>
                    <a:pt x="119768" y="298552"/>
                  </a:lnTo>
                  <a:lnTo>
                    <a:pt x="170188" y="233580"/>
                  </a:lnTo>
                  <a:lnTo>
                    <a:pt x="228023" y="175110"/>
                  </a:lnTo>
                  <a:lnTo>
                    <a:pt x="292441" y="123985"/>
                  </a:lnTo>
                  <a:lnTo>
                    <a:pt x="362516" y="80937"/>
                  </a:lnTo>
                  <a:lnTo>
                    <a:pt x="437240" y="46588"/>
                  </a:lnTo>
                  <a:lnTo>
                    <a:pt x="515538" y="21430"/>
                  </a:lnTo>
                  <a:lnTo>
                    <a:pt x="596285" y="5826"/>
                  </a:lnTo>
                  <a:lnTo>
                    <a:pt x="678319" y="0"/>
                  </a:lnTo>
                  <a:lnTo>
                    <a:pt x="760461" y="4035"/>
                  </a:lnTo>
                  <a:lnTo>
                    <a:pt x="841529" y="17874"/>
                  </a:lnTo>
                  <a:lnTo>
                    <a:pt x="920357" y="41318"/>
                  </a:lnTo>
                </a:path>
              </a:pathLst>
            </a:custGeom>
            <a:noFill/>
            <a:ln w="101600">
              <a:solidFill>
                <a:srgbClr val="F28C28"/>
              </a:solidFill>
            </a:ln>
          </p:spPr>
          <p:txBody>
            <a:bodyPr rtlCol="0" anchor="ctr"/>
            <a:lstStyle/>
            <a:p>
              <a:pPr algn="ctr"/>
              <a:endParaRPr/>
            </a:p>
          </p:txBody>
        </p:sp>
        <p:cxnSp>
          <p:nvCxnSpPr>
            <p:cNvPr id="20" name="Connector 19"/>
            <p:cNvCxnSpPr/>
            <p:nvPr/>
          </p:nvCxnSpPr>
          <p:spPr>
            <a:xfrm flipV="1">
              <a:off x="4389120" y="2956255"/>
              <a:ext cx="171999" cy="472745"/>
            </a:xfrm>
            <a:prstGeom prst="line">
              <a:avLst/>
            </a:prstGeom>
            <a:ln w="38100">
              <a:solidFill>
                <a:srgbClr val="F2F2F2"/>
              </a:solidFill>
            </a:ln>
          </p:spPr>
        </p:cxnSp>
        <p:sp>
          <p:nvSpPr>
            <p:cNvPr id="21" name="Oval 20"/>
            <p:cNvSpPr/>
            <p:nvPr/>
          </p:nvSpPr>
          <p:spPr>
            <a:xfrm>
              <a:off x="4315968" y="3355848"/>
              <a:ext cx="146304" cy="146304"/>
            </a:xfrm>
            <a:prstGeom prst="ellipse">
              <a:avLst/>
            </a:prstGeom>
            <a:solidFill>
              <a:srgbClr val="F2F2F2"/>
            </a:solidFill>
            <a:ln>
              <a:noFill/>
            </a:ln>
          </p:spPr>
          <p:txBody>
            <a:bodyPr rtlCol="0" anchor="ctr"/>
            <a:lstStyle/>
            <a:p>
              <a:pPr algn="ctr"/>
              <a:endParaRPr/>
            </a:p>
          </p:txBody>
        </p:sp>
      </p:grpSp>
      <p:sp>
        <p:nvSpPr>
          <p:cNvPr id="22" name="Inline chip Agreed"/>
          <p:cNvSpPr/>
          <p:nvPr/>
        </p:nvSpPr>
        <p:spPr>
          <a:xfrm>
            <a:off x="3337560" y="4526280"/>
            <a:ext cx="2146935"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 DIRECTION</a:t>
            </a:r>
          </a:p>
        </p:txBody>
      </p:sp>
      <p:sp>
        <p:nvSpPr>
          <p:cNvPr id="23" name="TextBox 22"/>
          <p:cNvSpPr txBox="1"/>
          <p:nvPr/>
        </p:nvSpPr>
        <p:spPr>
          <a:xfrm>
            <a:off x="6172200" y="1325880"/>
            <a:ext cx="3291840" cy="384048"/>
          </a:xfrm>
          <a:prstGeom prst="rect">
            <a:avLst/>
          </a:prstGeom>
          <a:noFill/>
        </p:spPr>
        <p:txBody>
          <a:bodyPr wrap="square" lIns="0" tIns="0" rIns="0" bIns="0" anchor="ctr">
            <a:noAutofit/>
          </a:bodyPr>
          <a:lstStyle/>
          <a:p>
            <a:pPr algn="l"/>
            <a:r>
              <a:rPr lang="en-GB" sz="2000" b="1" i="0">
                <a:solidFill>
                  <a:srgbClr val="F2F2F2"/>
                </a:solidFill>
                <a:latin typeface="Arial"/>
              </a:rPr>
              <a:t>Route-dependent targets</a:t>
            </a:r>
          </a:p>
        </p:txBody>
      </p:sp>
      <p:sp>
        <p:nvSpPr>
          <p:cNvPr id="24" name="Inline chip Provisional"/>
          <p:cNvSpPr/>
          <p:nvPr/>
        </p:nvSpPr>
        <p:spPr>
          <a:xfrm>
            <a:off x="9380855" y="1353312"/>
            <a:ext cx="1588135" cy="329184"/>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graphicFrame>
        <p:nvGraphicFramePr>
          <p:cNvPr id="25" name="Table" descr="Table of provisional, route-dependent range targets. Small: water 2 to 3 km, coal 4 to 5 km. Medium: water 4 to 5 km, coal about 7 km. Large: water 6 to 7 km, coal about 10 km."/>
          <p:cNvGraphicFramePr>
            <a:graphicFrameLocks noGrp="1"/>
          </p:cNvGraphicFramePr>
          <p:nvPr/>
        </p:nvGraphicFramePr>
        <p:xfrm>
          <a:off x="6172200" y="1874520"/>
          <a:ext cx="5486400" cy="2267712"/>
        </p:xfrm>
        <a:graphic>
          <a:graphicData uri="http://schemas.openxmlformats.org/drawingml/2006/table">
            <a:tbl>
              <a:tblPr firstRow="1">
                <a:tableStyleId>{2D5ABB26-0587-4C30-8999-92F81FD0307C}</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66928">
                <a:tc>
                  <a:txBody>
                    <a:bodyPr/>
                    <a:lstStyle/>
                    <a:p>
                      <a:pPr algn="l"/>
                      <a:endParaRP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ctr"/>
                      <a:r>
                        <a:rPr lang="en-GB" sz="2000" b="1">
                          <a:solidFill>
                            <a:srgbClr val="F28C28"/>
                          </a:solidFill>
                          <a:latin typeface="Arial"/>
                        </a:rPr>
                        <a:t>Water (km)</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ctr"/>
                      <a:r>
                        <a:rPr lang="en-GB" sz="2000" b="1">
                          <a:solidFill>
                            <a:srgbClr val="F28C28"/>
                          </a:solidFill>
                          <a:latin typeface="Arial"/>
                        </a:rPr>
                        <a:t>Coal (km)</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extLst>
                  <a:ext uri="{0D108BD9-81ED-4DB2-BD59-A6C34878D82A}">
                    <a16:rowId xmlns:a16="http://schemas.microsoft.com/office/drawing/2014/main" val="10000"/>
                  </a:ext>
                </a:extLst>
              </a:tr>
              <a:tr h="566928">
                <a:tc>
                  <a:txBody>
                    <a:bodyPr/>
                    <a:lstStyle/>
                    <a:p>
                      <a:pPr algn="l"/>
                      <a:r>
                        <a:rPr lang="en-GB" sz="2000" b="0">
                          <a:solidFill>
                            <a:srgbClr val="F2F2F2"/>
                          </a:solidFill>
                          <a:latin typeface="Arial"/>
                        </a:rPr>
                        <a:t>Small</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ctr"/>
                      <a:r>
                        <a:rPr lang="en-GB" sz="2000" b="0">
                          <a:solidFill>
                            <a:srgbClr val="F2F2F2"/>
                          </a:solidFill>
                          <a:latin typeface="Arial"/>
                        </a:rPr>
                        <a:t>2–3</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ctr"/>
                      <a:r>
                        <a:rPr lang="en-GB" sz="2000" b="0">
                          <a:solidFill>
                            <a:srgbClr val="F2F2F2"/>
                          </a:solidFill>
                          <a:latin typeface="Arial"/>
                        </a:rPr>
                        <a:t>4–5</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1"/>
                  </a:ext>
                </a:extLst>
              </a:tr>
              <a:tr h="566928">
                <a:tc>
                  <a:txBody>
                    <a:bodyPr/>
                    <a:lstStyle/>
                    <a:p>
                      <a:pPr algn="l"/>
                      <a:r>
                        <a:rPr lang="en-GB" sz="2000" b="0">
                          <a:solidFill>
                            <a:srgbClr val="F2F2F2"/>
                          </a:solidFill>
                          <a:latin typeface="Arial"/>
                        </a:rPr>
                        <a:t>Medium</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ctr"/>
                      <a:r>
                        <a:rPr lang="en-GB" sz="2000" b="0">
                          <a:solidFill>
                            <a:srgbClr val="F2F2F2"/>
                          </a:solidFill>
                          <a:latin typeface="Arial"/>
                        </a:rPr>
                        <a:t>4–5</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ctr"/>
                      <a:r>
                        <a:rPr lang="en-GB" sz="2000" b="0">
                          <a:solidFill>
                            <a:srgbClr val="F2F2F2"/>
                          </a:solidFill>
                          <a:latin typeface="Arial"/>
                        </a:rPr>
                        <a:t>about 7</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2"/>
                  </a:ext>
                </a:extLst>
              </a:tr>
              <a:tr h="566928">
                <a:tc>
                  <a:txBody>
                    <a:bodyPr/>
                    <a:lstStyle/>
                    <a:p>
                      <a:pPr algn="l"/>
                      <a:r>
                        <a:rPr lang="en-GB" sz="2000" b="0">
                          <a:solidFill>
                            <a:srgbClr val="F2F2F2"/>
                          </a:solidFill>
                          <a:latin typeface="Arial"/>
                        </a:rPr>
                        <a:t>Large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ctr"/>
                      <a:r>
                        <a:rPr lang="en-GB" sz="2000" b="0">
                          <a:solidFill>
                            <a:srgbClr val="F2F2F2"/>
                          </a:solidFill>
                          <a:latin typeface="Arial"/>
                        </a:rPr>
                        <a:t>6–7</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ctr"/>
                      <a:r>
                        <a:rPr lang="en-GB" sz="2000" b="0">
                          <a:solidFill>
                            <a:srgbClr val="F2F2F2"/>
                          </a:solidFill>
                          <a:latin typeface="Arial"/>
                        </a:rPr>
                        <a:t>about 10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3"/>
                  </a:ext>
                </a:extLst>
              </a:tr>
            </a:tbl>
          </a:graphicData>
        </a:graphic>
      </p:graphicFrame>
      <p:sp>
        <p:nvSpPr>
          <p:cNvPr id="26" name="TextBox 25"/>
          <p:cNvSpPr txBox="1"/>
          <p:nvPr/>
        </p:nvSpPr>
        <p:spPr>
          <a:xfrm>
            <a:off x="6172200" y="4434840"/>
            <a:ext cx="4754880" cy="384048"/>
          </a:xfrm>
          <a:prstGeom prst="rect">
            <a:avLst/>
          </a:prstGeom>
          <a:noFill/>
        </p:spPr>
        <p:txBody>
          <a:bodyPr wrap="square" lIns="0" tIns="0" rIns="0" bIns="0" anchor="ctr">
            <a:noAutofit/>
          </a:bodyPr>
          <a:lstStyle/>
          <a:p>
            <a:pPr algn="l"/>
            <a:r>
              <a:rPr lang="en-GB" sz="1800" b="0" i="0">
                <a:solidFill>
                  <a:srgbClr val="F2F2F2"/>
                </a:solidFill>
                <a:latin typeface="Arial"/>
              </a:rPr>
              <a:t>Compacted Coal burns more efficiently.</a:t>
            </a:r>
          </a:p>
        </p:txBody>
      </p:sp>
      <p:sp>
        <p:nvSpPr>
          <p:cNvPr id="27" name="Inline chip Agreed"/>
          <p:cNvSpPr/>
          <p:nvPr/>
        </p:nvSpPr>
        <p:spPr>
          <a:xfrm>
            <a:off x="10355282" y="4462272"/>
            <a:ext cx="112141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Range comes from real tank sizes and real use. Hills and heavy loads use more. Coasting uses less.</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23</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0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nodeType="withEffect">
                                  <p:stCondLst>
                                    <p:cond delay="40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nodeType="withEffect">
                                  <p:stCondLst>
                                    <p:cond delay="60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nodeType="withEffect">
                                  <p:stCondLst>
                                    <p:cond delay="80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nodeType="withEffect">
                                  <p:stCondLst>
                                    <p:cond delay="100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nodeType="withEffect">
                                  <p:stCondLst>
                                    <p:cond delay="120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10" presetClass="entr" presetSubtype="0" fill="hold" nodeType="withEffect">
                                  <p:stCondLst>
                                    <p:cond delay="14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10" presetClass="entr" presetSubtype="0" fill="hold" nodeType="withEffect">
                                  <p:stCondLst>
                                    <p:cond delay="16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Tenders</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Train with tenders" descr="A train facing left: the engine and its normal tender form one vehicle; behind them a hatched auxiliary tender, a separate wagon; then three cargo wagons."/>
          <p:cNvGrpSpPr/>
          <p:nvPr/>
        </p:nvGrpSpPr>
        <p:grpSpPr>
          <a:xfrm>
            <a:off x="640080" y="1421892"/>
            <a:ext cx="7827264" cy="1330452"/>
            <a:chOff x="640080" y="1421892"/>
            <a:chExt cx="7827264" cy="1330452"/>
          </a:xfrm>
        </p:grpSpPr>
        <p:sp>
          <p:nvSpPr>
            <p:cNvPr id="9" name="Rounded Rectangle 8"/>
            <p:cNvSpPr/>
            <p:nvPr/>
          </p:nvSpPr>
          <p:spPr>
            <a:xfrm>
              <a:off x="822960" y="1805940"/>
              <a:ext cx="1371600" cy="754380"/>
            </a:xfrm>
            <a:prstGeom prst="roundRect">
              <a:avLst>
                <a:gd name="adj" fmla="val 10909"/>
              </a:avLst>
            </a:prstGeom>
            <a:solidFill>
              <a:srgbClr val="F28C28"/>
            </a:solidFill>
            <a:ln w="9525">
              <a:solidFill>
                <a:srgbClr val="101418"/>
              </a:solidFill>
            </a:ln>
          </p:spPr>
          <p:txBody>
            <a:bodyPr rtlCol="0" anchor="ctr"/>
            <a:lstStyle/>
            <a:p>
              <a:pPr algn="ctr"/>
              <a:endParaRPr/>
            </a:p>
          </p:txBody>
        </p:sp>
        <p:sp>
          <p:nvSpPr>
            <p:cNvPr id="10" name="Rectangle 9"/>
            <p:cNvSpPr/>
            <p:nvPr/>
          </p:nvSpPr>
          <p:spPr>
            <a:xfrm>
              <a:off x="918972" y="1421892"/>
              <a:ext cx="205740" cy="411480"/>
            </a:xfrm>
            <a:prstGeom prst="rect">
              <a:avLst/>
            </a:prstGeom>
            <a:solidFill>
              <a:srgbClr val="1B1D21"/>
            </a:solidFill>
            <a:ln>
              <a:noFill/>
            </a:ln>
          </p:spPr>
          <p:txBody>
            <a:bodyPr rtlCol="0" anchor="ctr"/>
            <a:lstStyle/>
            <a:p>
              <a:pPr algn="ctr"/>
              <a:endParaRPr/>
            </a:p>
          </p:txBody>
        </p:sp>
        <p:sp>
          <p:nvSpPr>
            <p:cNvPr id="11" name="Rectangle 10"/>
            <p:cNvSpPr/>
            <p:nvPr/>
          </p:nvSpPr>
          <p:spPr>
            <a:xfrm>
              <a:off x="1536192" y="1901952"/>
              <a:ext cx="192024" cy="192024"/>
            </a:xfrm>
            <a:prstGeom prst="rect">
              <a:avLst/>
            </a:prstGeom>
            <a:solidFill>
              <a:srgbClr val="2B2F36"/>
            </a:solidFill>
            <a:ln>
              <a:noFill/>
            </a:ln>
          </p:spPr>
          <p:txBody>
            <a:bodyPr rtlCol="0" anchor="ctr"/>
            <a:lstStyle/>
            <a:p>
              <a:pPr algn="ctr"/>
              <a:endParaRPr/>
            </a:p>
          </p:txBody>
        </p:sp>
        <p:sp>
          <p:nvSpPr>
            <p:cNvPr id="12" name="Oval 11"/>
            <p:cNvSpPr/>
            <p:nvPr/>
          </p:nvSpPr>
          <p:spPr>
            <a:xfrm>
              <a:off x="960120"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13" name="Oval 12"/>
            <p:cNvSpPr/>
            <p:nvPr/>
          </p:nvSpPr>
          <p:spPr>
            <a:xfrm>
              <a:off x="1371600"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14" name="Oval 13"/>
            <p:cNvSpPr/>
            <p:nvPr/>
          </p:nvSpPr>
          <p:spPr>
            <a:xfrm>
              <a:off x="1783080"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15" name="Rectangle 14"/>
            <p:cNvSpPr/>
            <p:nvPr/>
          </p:nvSpPr>
          <p:spPr>
            <a:xfrm>
              <a:off x="2194560" y="2354580"/>
              <a:ext cx="109728" cy="68580"/>
            </a:xfrm>
            <a:prstGeom prst="rect">
              <a:avLst/>
            </a:prstGeom>
            <a:solidFill>
              <a:srgbClr val="9AA0A6"/>
            </a:solidFill>
            <a:ln>
              <a:noFill/>
            </a:ln>
          </p:spPr>
          <p:txBody>
            <a:bodyPr rtlCol="0" anchor="ctr"/>
            <a:lstStyle/>
            <a:p>
              <a:pPr algn="ctr"/>
              <a:endParaRPr/>
            </a:p>
          </p:txBody>
        </p:sp>
        <p:sp>
          <p:nvSpPr>
            <p:cNvPr id="16" name="Rectangle 15"/>
            <p:cNvSpPr/>
            <p:nvPr/>
          </p:nvSpPr>
          <p:spPr>
            <a:xfrm>
              <a:off x="2304288" y="1874520"/>
              <a:ext cx="850392" cy="658368"/>
            </a:xfrm>
            <a:prstGeom prst="rect">
              <a:avLst/>
            </a:prstGeom>
            <a:solidFill>
              <a:srgbClr val="F28C28"/>
            </a:solidFill>
            <a:ln w="9525">
              <a:solidFill>
                <a:srgbClr val="101418"/>
              </a:solidFill>
            </a:ln>
          </p:spPr>
          <p:txBody>
            <a:bodyPr rtlCol="0" anchor="ctr"/>
            <a:lstStyle/>
            <a:p>
              <a:pPr algn="ctr"/>
              <a:endParaRPr/>
            </a:p>
          </p:txBody>
        </p:sp>
        <p:sp>
          <p:nvSpPr>
            <p:cNvPr id="17" name="Rectangle 16"/>
            <p:cNvSpPr/>
            <p:nvPr/>
          </p:nvSpPr>
          <p:spPr>
            <a:xfrm>
              <a:off x="2372868" y="1764792"/>
              <a:ext cx="713232" cy="164592"/>
            </a:xfrm>
            <a:prstGeom prst="rect">
              <a:avLst/>
            </a:prstGeom>
            <a:solidFill>
              <a:srgbClr val="1B1D21"/>
            </a:solidFill>
            <a:ln>
              <a:noFill/>
            </a:ln>
          </p:spPr>
          <p:txBody>
            <a:bodyPr rtlCol="0" anchor="ctr"/>
            <a:lstStyle/>
            <a:p>
              <a:pPr algn="ctr"/>
              <a:endParaRPr/>
            </a:p>
          </p:txBody>
        </p:sp>
        <p:sp>
          <p:nvSpPr>
            <p:cNvPr id="18" name="Oval 17"/>
            <p:cNvSpPr/>
            <p:nvPr/>
          </p:nvSpPr>
          <p:spPr>
            <a:xfrm>
              <a:off x="2372868"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19" name="Oval 18"/>
            <p:cNvSpPr/>
            <p:nvPr/>
          </p:nvSpPr>
          <p:spPr>
            <a:xfrm>
              <a:off x="2811780"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20" name="Rectangle 19"/>
            <p:cNvSpPr/>
            <p:nvPr/>
          </p:nvSpPr>
          <p:spPr>
            <a:xfrm>
              <a:off x="3154680" y="2354580"/>
              <a:ext cx="411480" cy="68580"/>
            </a:xfrm>
            <a:prstGeom prst="rect">
              <a:avLst/>
            </a:prstGeom>
            <a:solidFill>
              <a:srgbClr val="9AA0A6"/>
            </a:solidFill>
            <a:ln>
              <a:noFill/>
            </a:ln>
          </p:spPr>
          <p:txBody>
            <a:bodyPr rtlCol="0" anchor="ctr"/>
            <a:lstStyle/>
            <a:p>
              <a:pPr algn="ctr"/>
              <a:endParaRPr/>
            </a:p>
          </p:txBody>
        </p:sp>
        <p:sp>
          <p:nvSpPr>
            <p:cNvPr id="21" name="Rectangle 20"/>
            <p:cNvSpPr/>
            <p:nvPr/>
          </p:nvSpPr>
          <p:spPr>
            <a:xfrm>
              <a:off x="3566160" y="1915668"/>
              <a:ext cx="1097280" cy="617220"/>
            </a:xfrm>
            <a:prstGeom prst="rect">
              <a:avLst/>
            </a:prstGeom>
            <a:pattFill prst="wdUpDiag">
              <a:fgClr>
                <a:srgbClr val="F28C28"/>
              </a:fgClr>
              <a:bgClr>
                <a:srgbClr val="2B2F36"/>
              </a:bgClr>
            </a:pattFill>
            <a:ln w="25400">
              <a:solidFill>
                <a:srgbClr val="F28C28"/>
              </a:solidFill>
            </a:ln>
          </p:spPr>
          <p:txBody>
            <a:bodyPr rtlCol="0" anchor="ctr"/>
            <a:lstStyle/>
            <a:p>
              <a:pPr algn="ctr"/>
              <a:endParaRPr/>
            </a:p>
          </p:txBody>
        </p:sp>
        <p:sp>
          <p:nvSpPr>
            <p:cNvPr id="22" name="Oval 21"/>
            <p:cNvSpPr/>
            <p:nvPr/>
          </p:nvSpPr>
          <p:spPr>
            <a:xfrm>
              <a:off x="3703320"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23" name="Oval 22"/>
            <p:cNvSpPr/>
            <p:nvPr/>
          </p:nvSpPr>
          <p:spPr>
            <a:xfrm>
              <a:off x="4251960"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24" name="Rectangle 23"/>
            <p:cNvSpPr/>
            <p:nvPr/>
          </p:nvSpPr>
          <p:spPr>
            <a:xfrm>
              <a:off x="4663440" y="2354580"/>
              <a:ext cx="109728" cy="68580"/>
            </a:xfrm>
            <a:prstGeom prst="rect">
              <a:avLst/>
            </a:prstGeom>
            <a:solidFill>
              <a:srgbClr val="9AA0A6"/>
            </a:solidFill>
            <a:ln>
              <a:noFill/>
            </a:ln>
          </p:spPr>
          <p:txBody>
            <a:bodyPr rtlCol="0" anchor="ctr"/>
            <a:lstStyle/>
            <a:p>
              <a:pPr algn="ctr"/>
              <a:endParaRPr/>
            </a:p>
          </p:txBody>
        </p:sp>
        <p:sp>
          <p:nvSpPr>
            <p:cNvPr id="25" name="Rectangle 24"/>
            <p:cNvSpPr/>
            <p:nvPr/>
          </p:nvSpPr>
          <p:spPr>
            <a:xfrm>
              <a:off x="4773168" y="1915668"/>
              <a:ext cx="1097280" cy="617220"/>
            </a:xfrm>
            <a:prstGeom prst="rect">
              <a:avLst/>
            </a:prstGeom>
            <a:solidFill>
              <a:srgbClr val="6C7480"/>
            </a:solidFill>
            <a:ln w="9525">
              <a:solidFill>
                <a:srgbClr val="101418"/>
              </a:solidFill>
            </a:ln>
          </p:spPr>
          <p:txBody>
            <a:bodyPr rtlCol="0" anchor="ctr"/>
            <a:lstStyle/>
            <a:p>
              <a:pPr algn="ctr"/>
              <a:endParaRPr/>
            </a:p>
          </p:txBody>
        </p:sp>
        <p:sp>
          <p:nvSpPr>
            <p:cNvPr id="26" name="Oval 25"/>
            <p:cNvSpPr/>
            <p:nvPr/>
          </p:nvSpPr>
          <p:spPr>
            <a:xfrm>
              <a:off x="4910328"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27" name="Oval 26"/>
            <p:cNvSpPr/>
            <p:nvPr/>
          </p:nvSpPr>
          <p:spPr>
            <a:xfrm>
              <a:off x="5458968"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28" name="Rectangle 27"/>
            <p:cNvSpPr/>
            <p:nvPr/>
          </p:nvSpPr>
          <p:spPr>
            <a:xfrm>
              <a:off x="5870448" y="2354580"/>
              <a:ext cx="109728" cy="68580"/>
            </a:xfrm>
            <a:prstGeom prst="rect">
              <a:avLst/>
            </a:prstGeom>
            <a:solidFill>
              <a:srgbClr val="9AA0A6"/>
            </a:solidFill>
            <a:ln>
              <a:noFill/>
            </a:ln>
          </p:spPr>
          <p:txBody>
            <a:bodyPr rtlCol="0" anchor="ctr"/>
            <a:lstStyle/>
            <a:p>
              <a:pPr algn="ctr"/>
              <a:endParaRPr/>
            </a:p>
          </p:txBody>
        </p:sp>
        <p:sp>
          <p:nvSpPr>
            <p:cNvPr id="29" name="Rectangle 28"/>
            <p:cNvSpPr/>
            <p:nvPr/>
          </p:nvSpPr>
          <p:spPr>
            <a:xfrm>
              <a:off x="5980176" y="1915668"/>
              <a:ext cx="1097280" cy="617220"/>
            </a:xfrm>
            <a:prstGeom prst="rect">
              <a:avLst/>
            </a:prstGeom>
            <a:solidFill>
              <a:srgbClr val="6C7480"/>
            </a:solidFill>
            <a:ln w="9525">
              <a:solidFill>
                <a:srgbClr val="101418"/>
              </a:solidFill>
            </a:ln>
          </p:spPr>
          <p:txBody>
            <a:bodyPr rtlCol="0" anchor="ctr"/>
            <a:lstStyle/>
            <a:p>
              <a:pPr algn="ctr"/>
              <a:endParaRPr/>
            </a:p>
          </p:txBody>
        </p:sp>
        <p:sp>
          <p:nvSpPr>
            <p:cNvPr id="30" name="Oval 29"/>
            <p:cNvSpPr/>
            <p:nvPr/>
          </p:nvSpPr>
          <p:spPr>
            <a:xfrm>
              <a:off x="6117336"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31" name="Oval 30"/>
            <p:cNvSpPr/>
            <p:nvPr/>
          </p:nvSpPr>
          <p:spPr>
            <a:xfrm>
              <a:off x="6665976"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32" name="Rectangle 31"/>
            <p:cNvSpPr/>
            <p:nvPr/>
          </p:nvSpPr>
          <p:spPr>
            <a:xfrm>
              <a:off x="7077456" y="2354580"/>
              <a:ext cx="109728" cy="68580"/>
            </a:xfrm>
            <a:prstGeom prst="rect">
              <a:avLst/>
            </a:prstGeom>
            <a:solidFill>
              <a:srgbClr val="9AA0A6"/>
            </a:solidFill>
            <a:ln>
              <a:noFill/>
            </a:ln>
          </p:spPr>
          <p:txBody>
            <a:bodyPr rtlCol="0" anchor="ctr"/>
            <a:lstStyle/>
            <a:p>
              <a:pPr algn="ctr"/>
              <a:endParaRPr/>
            </a:p>
          </p:txBody>
        </p:sp>
        <p:sp>
          <p:nvSpPr>
            <p:cNvPr id="33" name="Rectangle 32"/>
            <p:cNvSpPr/>
            <p:nvPr/>
          </p:nvSpPr>
          <p:spPr>
            <a:xfrm>
              <a:off x="7187184" y="1915668"/>
              <a:ext cx="1097280" cy="617220"/>
            </a:xfrm>
            <a:prstGeom prst="rect">
              <a:avLst/>
            </a:prstGeom>
            <a:solidFill>
              <a:srgbClr val="6C7480"/>
            </a:solidFill>
            <a:ln w="9525">
              <a:solidFill>
                <a:srgbClr val="101418"/>
              </a:solidFill>
            </a:ln>
          </p:spPr>
          <p:txBody>
            <a:bodyPr rtlCol="0" anchor="ctr"/>
            <a:lstStyle/>
            <a:p>
              <a:pPr algn="ctr"/>
              <a:endParaRPr/>
            </a:p>
          </p:txBody>
        </p:sp>
        <p:sp>
          <p:nvSpPr>
            <p:cNvPr id="34" name="Oval 33"/>
            <p:cNvSpPr/>
            <p:nvPr/>
          </p:nvSpPr>
          <p:spPr>
            <a:xfrm>
              <a:off x="7324344"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35" name="Oval 34"/>
            <p:cNvSpPr/>
            <p:nvPr/>
          </p:nvSpPr>
          <p:spPr>
            <a:xfrm>
              <a:off x="7872984" y="2423160"/>
              <a:ext cx="274320" cy="274320"/>
            </a:xfrm>
            <a:prstGeom prst="ellipse">
              <a:avLst/>
            </a:prstGeom>
            <a:solidFill>
              <a:srgbClr val="1B1D21"/>
            </a:solidFill>
            <a:ln w="12700">
              <a:solidFill>
                <a:srgbClr val="9AA0A6"/>
              </a:solidFill>
            </a:ln>
          </p:spPr>
          <p:txBody>
            <a:bodyPr rtlCol="0" anchor="ctr"/>
            <a:lstStyle/>
            <a:p>
              <a:pPr algn="ctr"/>
              <a:endParaRPr/>
            </a:p>
          </p:txBody>
        </p:sp>
        <p:sp>
          <p:nvSpPr>
            <p:cNvPr id="36" name="Rectangle 35"/>
            <p:cNvSpPr/>
            <p:nvPr/>
          </p:nvSpPr>
          <p:spPr>
            <a:xfrm>
              <a:off x="640080" y="2697480"/>
              <a:ext cx="7827264" cy="54864"/>
            </a:xfrm>
            <a:prstGeom prst="rect">
              <a:avLst/>
            </a:prstGeom>
            <a:solidFill>
              <a:srgbClr val="9AA0A6"/>
            </a:solidFill>
            <a:ln>
              <a:noFill/>
            </a:ln>
          </p:spPr>
          <p:txBody>
            <a:bodyPr rtlCol="0" anchor="ctr"/>
            <a:lstStyle/>
            <a:p>
              <a:pPr algn="ctr"/>
              <a:endParaRPr/>
            </a:p>
          </p:txBody>
        </p:sp>
      </p:grpSp>
      <p:grpSp>
        <p:nvGrpSpPr>
          <p:cNvPr id="37" name="Brackets" descr="Brackets: one under the engine and normal tender, one under the auxiliary tender."/>
          <p:cNvGrpSpPr/>
          <p:nvPr/>
        </p:nvGrpSpPr>
        <p:grpSpPr>
          <a:xfrm>
            <a:off x="0" y="0"/>
            <a:ext cx="0" cy="0"/>
            <a:chOff x="0" y="0"/>
            <a:chExt cx="0" cy="0"/>
          </a:xfrm>
        </p:grpSpPr>
        <p:sp>
          <p:nvSpPr>
            <p:cNvPr id="38" name="Freeform 37"/>
            <p:cNvSpPr/>
            <p:nvPr/>
          </p:nvSpPr>
          <p:spPr>
            <a:xfrm>
              <a:off x="822960" y="2834640"/>
              <a:ext cx="2331720" cy="109728"/>
            </a:xfrm>
            <a:custGeom>
              <a:avLst/>
              <a:gdLst/>
              <a:ahLst/>
              <a:cxnLst/>
              <a:rect l="l" t="t" r="r" b="b"/>
              <a:pathLst>
                <a:path w="2331720" h="109728">
                  <a:moveTo>
                    <a:pt x="0" y="0"/>
                  </a:moveTo>
                  <a:lnTo>
                    <a:pt x="0" y="109728"/>
                  </a:lnTo>
                  <a:lnTo>
                    <a:pt x="2331720" y="109728"/>
                  </a:lnTo>
                  <a:lnTo>
                    <a:pt x="2331720" y="0"/>
                  </a:lnTo>
                </a:path>
              </a:pathLst>
            </a:custGeom>
            <a:noFill/>
            <a:ln w="25400">
              <a:solidFill>
                <a:srgbClr val="F28C28"/>
              </a:solidFill>
            </a:ln>
          </p:spPr>
          <p:txBody>
            <a:bodyPr rtlCol="0" anchor="ctr"/>
            <a:lstStyle/>
            <a:p>
              <a:pPr algn="ctr"/>
              <a:endParaRPr/>
            </a:p>
          </p:txBody>
        </p:sp>
        <p:sp>
          <p:nvSpPr>
            <p:cNvPr id="41" name="Freeform 40"/>
            <p:cNvSpPr/>
            <p:nvPr/>
          </p:nvSpPr>
          <p:spPr>
            <a:xfrm>
              <a:off x="3566160" y="2834640"/>
              <a:ext cx="1097280" cy="109728"/>
            </a:xfrm>
            <a:custGeom>
              <a:avLst/>
              <a:gdLst/>
              <a:ahLst/>
              <a:cxnLst/>
              <a:rect l="l" t="t" r="r" b="b"/>
              <a:pathLst>
                <a:path w="1097280" h="109728">
                  <a:moveTo>
                    <a:pt x="0" y="0"/>
                  </a:moveTo>
                  <a:lnTo>
                    <a:pt x="0" y="109728"/>
                  </a:lnTo>
                  <a:lnTo>
                    <a:pt x="1097280" y="109728"/>
                  </a:lnTo>
                  <a:lnTo>
                    <a:pt x="1097280" y="0"/>
                  </a:lnTo>
                </a:path>
              </a:pathLst>
            </a:custGeom>
            <a:noFill/>
            <a:ln w="25400">
              <a:solidFill>
                <a:srgbClr val="F28C28"/>
              </a:solidFill>
            </a:ln>
          </p:spPr>
          <p:txBody>
            <a:bodyPr rtlCol="0" anchor="ctr"/>
            <a:lstStyle/>
            <a:p>
              <a:pPr algn="ctr"/>
              <a:endParaRPr/>
            </a:p>
          </p:txBody>
        </p:sp>
      </p:grpSp>
      <p:sp>
        <p:nvSpPr>
          <p:cNvPr id="39" name="TextBox 38"/>
          <p:cNvSpPr txBox="1"/>
          <p:nvPr/>
        </p:nvSpPr>
        <p:spPr>
          <a:xfrm>
            <a:off x="822960" y="3017520"/>
            <a:ext cx="2194560" cy="365760"/>
          </a:xfrm>
          <a:prstGeom prst="rect">
            <a:avLst/>
          </a:prstGeom>
          <a:noFill/>
        </p:spPr>
        <p:txBody>
          <a:bodyPr wrap="square" lIns="0" tIns="0" rIns="0" bIns="0" anchor="ctr">
            <a:noAutofit/>
          </a:bodyPr>
          <a:lstStyle/>
          <a:p>
            <a:pPr algn="l"/>
            <a:r>
              <a:rPr lang="en-GB" sz="1800" b="1" i="0">
                <a:solidFill>
                  <a:srgbClr val="F2F2F2"/>
                </a:solidFill>
                <a:latin typeface="Arial"/>
              </a:rPr>
              <a:t>One vehicle</a:t>
            </a:r>
          </a:p>
        </p:txBody>
      </p:sp>
      <p:sp>
        <p:nvSpPr>
          <p:cNvPr id="40" name="Inline chip Proposed"/>
          <p:cNvSpPr/>
          <p:nvPr/>
        </p:nvSpPr>
        <p:spPr>
          <a:xfrm>
            <a:off x="822960" y="347472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42" name="TextBox 41"/>
          <p:cNvSpPr txBox="1"/>
          <p:nvPr/>
        </p:nvSpPr>
        <p:spPr>
          <a:xfrm>
            <a:off x="3474720" y="3017520"/>
            <a:ext cx="4572000" cy="365760"/>
          </a:xfrm>
          <a:prstGeom prst="rect">
            <a:avLst/>
          </a:prstGeom>
          <a:noFill/>
        </p:spPr>
        <p:txBody>
          <a:bodyPr wrap="square" lIns="0" tIns="0" rIns="0" bIns="0" anchor="ctr">
            <a:noAutofit/>
          </a:bodyPr>
          <a:lstStyle/>
          <a:p>
            <a:pPr algn="l"/>
            <a:r>
              <a:rPr lang="en-GB" sz="1800" b="1" i="0">
                <a:solidFill>
                  <a:srgbClr val="F2F2F2"/>
                </a:solidFill>
                <a:latin typeface="Arial"/>
              </a:rPr>
              <a:t>Auxiliary tender: a separate wagon</a:t>
            </a:r>
          </a:p>
        </p:txBody>
      </p:sp>
      <p:sp>
        <p:nvSpPr>
          <p:cNvPr id="43" name="Inline chip Proposed"/>
          <p:cNvSpPr/>
          <p:nvPr/>
        </p:nvSpPr>
        <p:spPr>
          <a:xfrm>
            <a:off x="3474720" y="3474720"/>
            <a:ext cx="155579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WATER ONLY</a:t>
            </a:r>
          </a:p>
        </p:txBody>
      </p:sp>
      <p:sp>
        <p:nvSpPr>
          <p:cNvPr id="44" name="Inline chip Proposed"/>
          <p:cNvSpPr/>
          <p:nvPr/>
        </p:nvSpPr>
        <p:spPr>
          <a:xfrm>
            <a:off x="5140238" y="3474720"/>
            <a:ext cx="1997214"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COAL AND WATER</a:t>
            </a:r>
          </a:p>
        </p:txBody>
      </p:sp>
      <p:grpSp>
        <p:nvGrpSpPr>
          <p:cNvPr id="45" name="Downsides" descr="Downsides of an auxiliary tender: it carries no freight and adds weight."/>
          <p:cNvGrpSpPr/>
          <p:nvPr/>
        </p:nvGrpSpPr>
        <p:grpSpPr>
          <a:xfrm>
            <a:off x="3474720" y="3977640"/>
            <a:ext cx="3840480" cy="1298448"/>
            <a:chOff x="3474720" y="3977640"/>
            <a:chExt cx="3840480" cy="1298448"/>
          </a:xfrm>
        </p:grpSpPr>
        <p:sp>
          <p:nvSpPr>
            <p:cNvPr id="46" name="Rounded Rectangle 45"/>
            <p:cNvSpPr/>
            <p:nvPr/>
          </p:nvSpPr>
          <p:spPr>
            <a:xfrm>
              <a:off x="3474720" y="3977640"/>
              <a:ext cx="3840480" cy="603504"/>
            </a:xfrm>
            <a:prstGeom prst="roundRect">
              <a:avLst>
                <a:gd name="adj" fmla="val 12121"/>
              </a:avLst>
            </a:prstGeom>
            <a:solidFill>
              <a:srgbClr val="2B2F36"/>
            </a:solidFill>
            <a:ln>
              <a:noFill/>
            </a:ln>
          </p:spPr>
          <p:txBody>
            <a:bodyPr rtlCol="0" anchor="ctr"/>
            <a:lstStyle/>
            <a:p>
              <a:pPr algn="ctr"/>
              <a:endParaRPr/>
            </a:p>
          </p:txBody>
        </p:sp>
        <p:sp>
          <p:nvSpPr>
            <p:cNvPr id="47" name="Rectangle 46"/>
            <p:cNvSpPr/>
            <p:nvPr/>
          </p:nvSpPr>
          <p:spPr>
            <a:xfrm>
              <a:off x="3703320" y="4176522"/>
              <a:ext cx="365760" cy="251460"/>
            </a:xfrm>
            <a:prstGeom prst="rect">
              <a:avLst/>
            </a:prstGeom>
            <a:noFill/>
            <a:ln w="25400">
              <a:solidFill>
                <a:srgbClr val="F28C28"/>
              </a:solidFill>
            </a:ln>
          </p:spPr>
          <p:txBody>
            <a:bodyPr rtlCol="0" anchor="ctr"/>
            <a:lstStyle/>
            <a:p>
              <a:pPr algn="ctr"/>
              <a:endParaRPr/>
            </a:p>
          </p:txBody>
        </p:sp>
        <p:cxnSp>
          <p:nvCxnSpPr>
            <p:cNvPr id="48" name="Connector 47"/>
            <p:cNvCxnSpPr/>
            <p:nvPr/>
          </p:nvCxnSpPr>
          <p:spPr>
            <a:xfrm flipV="1">
              <a:off x="3657600" y="4119372"/>
              <a:ext cx="457200" cy="320040"/>
            </a:xfrm>
            <a:prstGeom prst="line">
              <a:avLst/>
            </a:prstGeom>
            <a:ln w="31750">
              <a:solidFill>
                <a:srgbClr val="F2F2F2"/>
              </a:solidFill>
            </a:ln>
          </p:spPr>
        </p:cxnSp>
        <p:sp>
          <p:nvSpPr>
            <p:cNvPr id="49" name="TextBox 48"/>
            <p:cNvSpPr txBox="1"/>
            <p:nvPr/>
          </p:nvSpPr>
          <p:spPr>
            <a:xfrm>
              <a:off x="4206240" y="3977640"/>
              <a:ext cx="2999232" cy="603504"/>
            </a:xfrm>
            <a:prstGeom prst="rect">
              <a:avLst/>
            </a:prstGeom>
            <a:noFill/>
          </p:spPr>
          <p:txBody>
            <a:bodyPr wrap="square" lIns="0" tIns="0" rIns="0" bIns="0" anchor="ctr">
              <a:noAutofit/>
            </a:bodyPr>
            <a:lstStyle/>
            <a:p>
              <a:pPr algn="l"/>
              <a:r>
                <a:rPr lang="en-GB" sz="1800" b="0" i="0">
                  <a:solidFill>
                    <a:srgbClr val="F2F2F2"/>
                  </a:solidFill>
                  <a:latin typeface="Arial"/>
                </a:rPr>
                <a:t>Carries no freight</a:t>
              </a:r>
            </a:p>
          </p:txBody>
        </p:sp>
        <p:sp>
          <p:nvSpPr>
            <p:cNvPr id="50" name="Rounded Rectangle 49"/>
            <p:cNvSpPr/>
            <p:nvPr/>
          </p:nvSpPr>
          <p:spPr>
            <a:xfrm>
              <a:off x="3474720" y="4672584"/>
              <a:ext cx="3840480" cy="603504"/>
            </a:xfrm>
            <a:prstGeom prst="roundRect">
              <a:avLst>
                <a:gd name="adj" fmla="val 12121"/>
              </a:avLst>
            </a:prstGeom>
            <a:solidFill>
              <a:srgbClr val="2B2F36"/>
            </a:solidFill>
            <a:ln>
              <a:noFill/>
            </a:ln>
          </p:spPr>
          <p:txBody>
            <a:bodyPr rtlCol="0" anchor="ctr"/>
            <a:lstStyle/>
            <a:p>
              <a:pPr algn="ctr"/>
              <a:endParaRPr/>
            </a:p>
          </p:txBody>
        </p:sp>
        <p:sp>
          <p:nvSpPr>
            <p:cNvPr id="51" name="Freeform 50"/>
            <p:cNvSpPr/>
            <p:nvPr/>
          </p:nvSpPr>
          <p:spPr>
            <a:xfrm>
              <a:off x="3726180" y="4894326"/>
              <a:ext cx="320040" cy="240030"/>
            </a:xfrm>
            <a:custGeom>
              <a:avLst/>
              <a:gdLst/>
              <a:ahLst/>
              <a:cxnLst/>
              <a:rect l="l" t="t" r="r" b="b"/>
              <a:pathLst>
                <a:path w="320040" h="240030">
                  <a:moveTo>
                    <a:pt x="0" y="240030"/>
                  </a:moveTo>
                  <a:lnTo>
                    <a:pt x="320040" y="240030"/>
                  </a:lnTo>
                  <a:lnTo>
                    <a:pt x="262890" y="0"/>
                  </a:lnTo>
                  <a:lnTo>
                    <a:pt x="57150" y="0"/>
                  </a:lnTo>
                  <a:close/>
                </a:path>
              </a:pathLst>
            </a:custGeom>
            <a:solidFill>
              <a:srgbClr val="F28C28"/>
            </a:solidFill>
            <a:ln>
              <a:noFill/>
            </a:ln>
          </p:spPr>
          <p:txBody>
            <a:bodyPr rtlCol="0" anchor="ctr"/>
            <a:lstStyle/>
            <a:p>
              <a:pPr algn="ctr"/>
              <a:endParaRPr/>
            </a:p>
          </p:txBody>
        </p:sp>
        <p:sp>
          <p:nvSpPr>
            <p:cNvPr id="52" name="Oval 51"/>
            <p:cNvSpPr/>
            <p:nvPr/>
          </p:nvSpPr>
          <p:spPr>
            <a:xfrm>
              <a:off x="3822192" y="4784598"/>
              <a:ext cx="128016" cy="128016"/>
            </a:xfrm>
            <a:prstGeom prst="ellipse">
              <a:avLst/>
            </a:prstGeom>
            <a:noFill/>
            <a:ln w="25400">
              <a:solidFill>
                <a:srgbClr val="F28C28"/>
              </a:solidFill>
            </a:ln>
          </p:spPr>
          <p:txBody>
            <a:bodyPr rtlCol="0" anchor="ctr"/>
            <a:lstStyle/>
            <a:p>
              <a:pPr algn="ctr"/>
              <a:endParaRPr/>
            </a:p>
          </p:txBody>
        </p:sp>
        <p:sp>
          <p:nvSpPr>
            <p:cNvPr id="53" name="TextBox 52"/>
            <p:cNvSpPr txBox="1"/>
            <p:nvPr/>
          </p:nvSpPr>
          <p:spPr>
            <a:xfrm>
              <a:off x="4206240" y="4672584"/>
              <a:ext cx="2999232" cy="603504"/>
            </a:xfrm>
            <a:prstGeom prst="rect">
              <a:avLst/>
            </a:prstGeom>
            <a:noFill/>
          </p:spPr>
          <p:txBody>
            <a:bodyPr wrap="square" lIns="0" tIns="0" rIns="0" bIns="0" anchor="ctr">
              <a:noAutofit/>
            </a:bodyPr>
            <a:lstStyle/>
            <a:p>
              <a:pPr algn="l"/>
              <a:r>
                <a:rPr lang="en-GB" sz="1800" b="0" i="0">
                  <a:solidFill>
                    <a:srgbClr val="F2F2F2"/>
                  </a:solidFill>
                  <a:latin typeface="Arial"/>
                </a:rPr>
                <a:t>Adds weight</a:t>
              </a:r>
            </a:p>
          </p:txBody>
        </p:sp>
      </p:grpSp>
      <p:sp>
        <p:nvSpPr>
          <p:cNvPr id="54" name="TextBox 53"/>
          <p:cNvSpPr txBox="1"/>
          <p:nvPr/>
        </p:nvSpPr>
        <p:spPr>
          <a:xfrm>
            <a:off x="8531352" y="2743200"/>
            <a:ext cx="3108960" cy="310896"/>
          </a:xfrm>
          <a:prstGeom prst="rect">
            <a:avLst/>
          </a:prstGeom>
          <a:noFill/>
        </p:spPr>
        <p:txBody>
          <a:bodyPr wrap="square" lIns="0" tIns="0" rIns="0" bIns="0" anchor="t">
            <a:noAutofit/>
          </a:bodyPr>
          <a:lstStyle/>
          <a:p>
            <a:pPr algn="l"/>
            <a:r>
              <a:rPr lang="en-GB" sz="1400" b="0" i="0">
                <a:solidFill>
                  <a:srgbClr val="F2F2F2"/>
                </a:solidFill>
                <a:latin typeface="Arial"/>
              </a:rPr>
              <a:t>A real tender, for illustration</a:t>
            </a:r>
          </a:p>
        </p:txBody>
      </p:sp>
      <p:pic>
        <p:nvPicPr>
          <p:cNvPr id="55" name="Picture P18" descr="A detached LMS tender at Norton Fitzwarren. Comparison only: not any particular engine's tender."/>
          <p:cNvPicPr>
            <a:picLocks noChangeAspect="1"/>
          </p:cNvPicPr>
          <p:nvPr/>
        </p:nvPicPr>
        <p:blipFill>
          <a:blip r:embed="rId2"/>
          <a:srcRect l="73" r="73"/>
          <a:stretch>
            <a:fillRect/>
          </a:stretch>
        </p:blipFill>
        <p:spPr>
          <a:xfrm>
            <a:off x="8531352" y="3072384"/>
            <a:ext cx="3108960" cy="2075688"/>
          </a:xfrm>
          <a:prstGeom prst="roundRect">
            <a:avLst>
              <a:gd name="adj" fmla="val 3524"/>
            </a:avLst>
          </a:prstGeom>
        </p:spPr>
      </p:pic>
      <p:sp>
        <p:nvSpPr>
          <p:cNvPr id="56" name="Credit"/>
          <p:cNvSpPr txBox="1"/>
          <p:nvPr/>
        </p:nvSpPr>
        <p:spPr>
          <a:xfrm>
            <a:off x="8531352" y="5175504"/>
            <a:ext cx="3108960" cy="338328"/>
          </a:xfrm>
          <a:prstGeom prst="rect">
            <a:avLst/>
          </a:prstGeom>
          <a:noFill/>
        </p:spPr>
        <p:txBody>
          <a:bodyPr wrap="square" lIns="0" tIns="0" rIns="0" bIns="0" anchor="t">
            <a:noAutofit/>
          </a:bodyPr>
          <a:lstStyle/>
          <a:p>
            <a:pPr algn="l"/>
            <a:r>
              <a:rPr lang="en-GB" sz="1000" b="0" i="0">
                <a:solidFill>
                  <a:srgbClr val="A9B0B8"/>
                </a:solidFill>
                <a:latin typeface="Arial"/>
              </a:rPr>
              <a:t>Photo: Geof Sheppard, CC BY-SA 4.0, Wikimedia Commons.</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 normal tender belongs to the engine. An auxiliary tender is an extra wagon: more range, less pulling power.</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LOCOMOTIVES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24</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15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nodeType="withEffect">
                                  <p:stCondLst>
                                    <p:cond delay="30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nodeType="withEffect">
                                  <p:stCondLst>
                                    <p:cond delay="45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par>
                                <p:cTn id="17" presetID="10" presetClass="entr" presetSubtype="0" fill="hold" nodeType="withEffect">
                                  <p:stCondLst>
                                    <p:cond delay="60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500"/>
                                        <p:tgtEl>
                                          <p:spTgt spid="42"/>
                                        </p:tgtEl>
                                      </p:cBhvr>
                                    </p:animEffect>
                                  </p:childTnLst>
                                </p:cTn>
                              </p:par>
                              <p:par>
                                <p:cTn id="20" presetID="10" presetClass="entr" presetSubtype="0" fill="hold" nodeType="withEffect">
                                  <p:stCondLst>
                                    <p:cond delay="75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par>
                                <p:cTn id="23" presetID="10" presetClass="entr" presetSubtype="0" fill="hold" nodeType="withEffect">
                                  <p:stCondLst>
                                    <p:cond delay="90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par>
                                <p:cTn id="26" presetID="10" presetClass="entr" presetSubtype="0" fill="hold" nodeType="withEffect">
                                  <p:stCondLst>
                                    <p:cond delay="105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500"/>
                                        <p:tgtEl>
                                          <p:spTgt spid="45"/>
                                        </p:tgtEl>
                                      </p:cBhvr>
                                    </p:animEffect>
                                  </p:childTnLst>
                                </p:cTn>
                              </p:par>
                              <p:par>
                                <p:cTn id="29" presetID="10" presetClass="entr" presetSubtype="0" fill="hold" nodeType="withEffect">
                                  <p:stCondLst>
                                    <p:cond delay="120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500"/>
                                        <p:tgtEl>
                                          <p:spTgt spid="54"/>
                                        </p:tgtEl>
                                      </p:cBhvr>
                                    </p:animEffect>
                                  </p:childTnLst>
                                </p:cTn>
                              </p:par>
                              <p:par>
                                <p:cTn id="32" presetID="10" presetClass="entr" presetSubtype="0" fill="hold" nodeType="withEffect">
                                  <p:stCondLst>
                                    <p:cond delay="1350"/>
                                  </p:stCondLst>
                                  <p:childTnLst>
                                    <p:set>
                                      <p:cBhvr>
                                        <p:cTn id="33" dur="1" fill="hold">
                                          <p:stCondLst>
                                            <p:cond delay="0"/>
                                          </p:stCondLst>
                                        </p:cTn>
                                        <p:tgtEl>
                                          <p:spTgt spid="55"/>
                                        </p:tgtEl>
                                        <p:attrNameLst>
                                          <p:attrName>style.visibility</p:attrName>
                                        </p:attrNameLst>
                                      </p:cBhvr>
                                      <p:to>
                                        <p:strVal val="visible"/>
                                      </p:to>
                                    </p:set>
                                    <p:animEffect transition="in" filter="fade">
                                      <p:cBhvr>
                                        <p:cTn id="34" dur="500"/>
                                        <p:tgtEl>
                                          <p:spTgt spid="55"/>
                                        </p:tgtEl>
                                      </p:cBhvr>
                                    </p:animEffect>
                                  </p:childTnLst>
                                </p:cTn>
                              </p:par>
                              <p:par>
                                <p:cTn id="35" presetID="10" presetClass="entr" presetSubtype="0" fill="hold" nodeType="withEffect">
                                  <p:stCondLst>
                                    <p:cond delay="150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par>
                                <p:cTn id="38" presetID="10" presetClass="entr" presetSubtype="0" fill="hold" nodeType="withEffect">
                                  <p:stCondLst>
                                    <p:cond delay="165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A steam station</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Station plan" descr="Top-down plan of a steam station: main line with a docked engine, a coaling stage fed by a conveyor, a water tower fed by a pipe, a signal box and a platform for cargo. A dashed outline shows a large footprint; a small vanilla station is shown for comparison."/>
          <p:cNvGrpSpPr/>
          <p:nvPr/>
        </p:nvGrpSpPr>
        <p:grpSpPr>
          <a:xfrm>
            <a:off x="457200" y="1417320"/>
            <a:ext cx="11201400" cy="3840480"/>
            <a:chOff x="457200" y="1417320"/>
            <a:chExt cx="11201400" cy="3840480"/>
          </a:xfrm>
        </p:grpSpPr>
        <p:sp>
          <p:nvSpPr>
            <p:cNvPr id="9" name="Rounded Rectangle 8"/>
            <p:cNvSpPr/>
            <p:nvPr/>
          </p:nvSpPr>
          <p:spPr>
            <a:xfrm>
              <a:off x="640080" y="1783080"/>
              <a:ext cx="8641080" cy="3474720"/>
            </a:xfrm>
            <a:prstGeom prst="roundRect">
              <a:avLst>
                <a:gd name="adj" fmla="val 3947"/>
              </a:avLst>
            </a:prstGeom>
            <a:noFill/>
            <a:ln w="19050">
              <a:solidFill>
                <a:srgbClr val="A9B0B8"/>
              </a:solidFill>
              <a:prstDash val="dash"/>
            </a:ln>
          </p:spPr>
          <p:txBody>
            <a:bodyPr rtlCol="0" anchor="ctr"/>
            <a:lstStyle/>
            <a:p>
              <a:pPr algn="ctr"/>
              <a:endParaRPr/>
            </a:p>
          </p:txBody>
        </p:sp>
        <p:sp>
          <p:nvSpPr>
            <p:cNvPr id="10" name="Rectangle 9"/>
            <p:cNvSpPr/>
            <p:nvPr/>
          </p:nvSpPr>
          <p:spPr>
            <a:xfrm>
              <a:off x="589788" y="3602736"/>
              <a:ext cx="54864" cy="329184"/>
            </a:xfrm>
            <a:prstGeom prst="rect">
              <a:avLst/>
            </a:prstGeom>
            <a:solidFill>
              <a:srgbClr val="6B5B4B"/>
            </a:solidFill>
            <a:ln>
              <a:noFill/>
            </a:ln>
          </p:spPr>
          <p:txBody>
            <a:bodyPr rtlCol="0" anchor="ctr"/>
            <a:lstStyle/>
            <a:p>
              <a:pPr algn="ctr"/>
              <a:endParaRPr/>
            </a:p>
          </p:txBody>
        </p:sp>
        <p:sp>
          <p:nvSpPr>
            <p:cNvPr id="11" name="Rectangle 10"/>
            <p:cNvSpPr/>
            <p:nvPr/>
          </p:nvSpPr>
          <p:spPr>
            <a:xfrm>
              <a:off x="909828" y="3602736"/>
              <a:ext cx="54864" cy="329184"/>
            </a:xfrm>
            <a:prstGeom prst="rect">
              <a:avLst/>
            </a:prstGeom>
            <a:solidFill>
              <a:srgbClr val="6B5B4B"/>
            </a:solidFill>
            <a:ln>
              <a:noFill/>
            </a:ln>
          </p:spPr>
          <p:txBody>
            <a:bodyPr rtlCol="0" anchor="ctr"/>
            <a:lstStyle/>
            <a:p>
              <a:pPr algn="ctr"/>
              <a:endParaRPr/>
            </a:p>
          </p:txBody>
        </p:sp>
        <p:sp>
          <p:nvSpPr>
            <p:cNvPr id="12" name="Rectangle 11"/>
            <p:cNvSpPr/>
            <p:nvPr/>
          </p:nvSpPr>
          <p:spPr>
            <a:xfrm>
              <a:off x="1229868" y="3602736"/>
              <a:ext cx="54864" cy="329184"/>
            </a:xfrm>
            <a:prstGeom prst="rect">
              <a:avLst/>
            </a:prstGeom>
            <a:solidFill>
              <a:srgbClr val="6B5B4B"/>
            </a:solidFill>
            <a:ln>
              <a:noFill/>
            </a:ln>
          </p:spPr>
          <p:txBody>
            <a:bodyPr rtlCol="0" anchor="ctr"/>
            <a:lstStyle/>
            <a:p>
              <a:pPr algn="ctr"/>
              <a:endParaRPr/>
            </a:p>
          </p:txBody>
        </p:sp>
        <p:sp>
          <p:nvSpPr>
            <p:cNvPr id="13" name="Rectangle 12"/>
            <p:cNvSpPr/>
            <p:nvPr/>
          </p:nvSpPr>
          <p:spPr>
            <a:xfrm>
              <a:off x="1549908" y="3602736"/>
              <a:ext cx="54864" cy="329184"/>
            </a:xfrm>
            <a:prstGeom prst="rect">
              <a:avLst/>
            </a:prstGeom>
            <a:solidFill>
              <a:srgbClr val="6B5B4B"/>
            </a:solidFill>
            <a:ln>
              <a:noFill/>
            </a:ln>
          </p:spPr>
          <p:txBody>
            <a:bodyPr rtlCol="0" anchor="ctr"/>
            <a:lstStyle/>
            <a:p>
              <a:pPr algn="ctr"/>
              <a:endParaRPr/>
            </a:p>
          </p:txBody>
        </p:sp>
        <p:sp>
          <p:nvSpPr>
            <p:cNvPr id="14" name="Rectangle 13"/>
            <p:cNvSpPr/>
            <p:nvPr/>
          </p:nvSpPr>
          <p:spPr>
            <a:xfrm>
              <a:off x="1869948" y="3602736"/>
              <a:ext cx="54864" cy="329184"/>
            </a:xfrm>
            <a:prstGeom prst="rect">
              <a:avLst/>
            </a:prstGeom>
            <a:solidFill>
              <a:srgbClr val="6B5B4B"/>
            </a:solidFill>
            <a:ln>
              <a:noFill/>
            </a:ln>
          </p:spPr>
          <p:txBody>
            <a:bodyPr rtlCol="0" anchor="ctr"/>
            <a:lstStyle/>
            <a:p>
              <a:pPr algn="ctr"/>
              <a:endParaRPr/>
            </a:p>
          </p:txBody>
        </p:sp>
        <p:sp>
          <p:nvSpPr>
            <p:cNvPr id="15" name="Rectangle 14"/>
            <p:cNvSpPr/>
            <p:nvPr/>
          </p:nvSpPr>
          <p:spPr>
            <a:xfrm>
              <a:off x="2189988" y="3602736"/>
              <a:ext cx="54864" cy="329184"/>
            </a:xfrm>
            <a:prstGeom prst="rect">
              <a:avLst/>
            </a:prstGeom>
            <a:solidFill>
              <a:srgbClr val="6B5B4B"/>
            </a:solidFill>
            <a:ln>
              <a:noFill/>
            </a:ln>
          </p:spPr>
          <p:txBody>
            <a:bodyPr rtlCol="0" anchor="ctr"/>
            <a:lstStyle/>
            <a:p>
              <a:pPr algn="ctr"/>
              <a:endParaRPr/>
            </a:p>
          </p:txBody>
        </p:sp>
        <p:sp>
          <p:nvSpPr>
            <p:cNvPr id="16" name="Rectangle 15"/>
            <p:cNvSpPr/>
            <p:nvPr/>
          </p:nvSpPr>
          <p:spPr>
            <a:xfrm>
              <a:off x="2510028" y="3602736"/>
              <a:ext cx="54864" cy="329184"/>
            </a:xfrm>
            <a:prstGeom prst="rect">
              <a:avLst/>
            </a:prstGeom>
            <a:solidFill>
              <a:srgbClr val="6B5B4B"/>
            </a:solidFill>
            <a:ln>
              <a:noFill/>
            </a:ln>
          </p:spPr>
          <p:txBody>
            <a:bodyPr rtlCol="0" anchor="ctr"/>
            <a:lstStyle/>
            <a:p>
              <a:pPr algn="ctr"/>
              <a:endParaRPr/>
            </a:p>
          </p:txBody>
        </p:sp>
        <p:sp>
          <p:nvSpPr>
            <p:cNvPr id="17" name="Rectangle 16"/>
            <p:cNvSpPr/>
            <p:nvPr/>
          </p:nvSpPr>
          <p:spPr>
            <a:xfrm>
              <a:off x="2830068" y="3602736"/>
              <a:ext cx="54864" cy="329184"/>
            </a:xfrm>
            <a:prstGeom prst="rect">
              <a:avLst/>
            </a:prstGeom>
            <a:solidFill>
              <a:srgbClr val="6B5B4B"/>
            </a:solidFill>
            <a:ln>
              <a:noFill/>
            </a:ln>
          </p:spPr>
          <p:txBody>
            <a:bodyPr rtlCol="0" anchor="ctr"/>
            <a:lstStyle/>
            <a:p>
              <a:pPr algn="ctr"/>
              <a:endParaRPr/>
            </a:p>
          </p:txBody>
        </p:sp>
        <p:sp>
          <p:nvSpPr>
            <p:cNvPr id="18" name="Rectangle 17"/>
            <p:cNvSpPr/>
            <p:nvPr/>
          </p:nvSpPr>
          <p:spPr>
            <a:xfrm>
              <a:off x="3150108" y="3602736"/>
              <a:ext cx="54864" cy="329184"/>
            </a:xfrm>
            <a:prstGeom prst="rect">
              <a:avLst/>
            </a:prstGeom>
            <a:solidFill>
              <a:srgbClr val="6B5B4B"/>
            </a:solidFill>
            <a:ln>
              <a:noFill/>
            </a:ln>
          </p:spPr>
          <p:txBody>
            <a:bodyPr rtlCol="0" anchor="ctr"/>
            <a:lstStyle/>
            <a:p>
              <a:pPr algn="ctr"/>
              <a:endParaRPr/>
            </a:p>
          </p:txBody>
        </p:sp>
        <p:sp>
          <p:nvSpPr>
            <p:cNvPr id="19" name="Rectangle 18"/>
            <p:cNvSpPr/>
            <p:nvPr/>
          </p:nvSpPr>
          <p:spPr>
            <a:xfrm>
              <a:off x="3470148" y="3602736"/>
              <a:ext cx="54864" cy="329184"/>
            </a:xfrm>
            <a:prstGeom prst="rect">
              <a:avLst/>
            </a:prstGeom>
            <a:solidFill>
              <a:srgbClr val="6B5B4B"/>
            </a:solidFill>
            <a:ln>
              <a:noFill/>
            </a:ln>
          </p:spPr>
          <p:txBody>
            <a:bodyPr rtlCol="0" anchor="ctr"/>
            <a:lstStyle/>
            <a:p>
              <a:pPr algn="ctr"/>
              <a:endParaRPr/>
            </a:p>
          </p:txBody>
        </p:sp>
        <p:sp>
          <p:nvSpPr>
            <p:cNvPr id="20" name="Rectangle 19"/>
            <p:cNvSpPr/>
            <p:nvPr/>
          </p:nvSpPr>
          <p:spPr>
            <a:xfrm>
              <a:off x="3790188" y="3602736"/>
              <a:ext cx="54864" cy="329184"/>
            </a:xfrm>
            <a:prstGeom prst="rect">
              <a:avLst/>
            </a:prstGeom>
            <a:solidFill>
              <a:srgbClr val="6B5B4B"/>
            </a:solidFill>
            <a:ln>
              <a:noFill/>
            </a:ln>
          </p:spPr>
          <p:txBody>
            <a:bodyPr rtlCol="0" anchor="ctr"/>
            <a:lstStyle/>
            <a:p>
              <a:pPr algn="ctr"/>
              <a:endParaRPr/>
            </a:p>
          </p:txBody>
        </p:sp>
        <p:sp>
          <p:nvSpPr>
            <p:cNvPr id="21" name="Rectangle 20"/>
            <p:cNvSpPr/>
            <p:nvPr/>
          </p:nvSpPr>
          <p:spPr>
            <a:xfrm>
              <a:off x="4110228" y="3602736"/>
              <a:ext cx="54864" cy="329184"/>
            </a:xfrm>
            <a:prstGeom prst="rect">
              <a:avLst/>
            </a:prstGeom>
            <a:solidFill>
              <a:srgbClr val="6B5B4B"/>
            </a:solidFill>
            <a:ln>
              <a:noFill/>
            </a:ln>
          </p:spPr>
          <p:txBody>
            <a:bodyPr rtlCol="0" anchor="ctr"/>
            <a:lstStyle/>
            <a:p>
              <a:pPr algn="ctr"/>
              <a:endParaRPr/>
            </a:p>
          </p:txBody>
        </p:sp>
        <p:sp>
          <p:nvSpPr>
            <p:cNvPr id="22" name="Rectangle 21"/>
            <p:cNvSpPr/>
            <p:nvPr/>
          </p:nvSpPr>
          <p:spPr>
            <a:xfrm>
              <a:off x="4430268" y="3602736"/>
              <a:ext cx="54864" cy="329184"/>
            </a:xfrm>
            <a:prstGeom prst="rect">
              <a:avLst/>
            </a:prstGeom>
            <a:solidFill>
              <a:srgbClr val="6B5B4B"/>
            </a:solidFill>
            <a:ln>
              <a:noFill/>
            </a:ln>
          </p:spPr>
          <p:txBody>
            <a:bodyPr rtlCol="0" anchor="ctr"/>
            <a:lstStyle/>
            <a:p>
              <a:pPr algn="ctr"/>
              <a:endParaRPr/>
            </a:p>
          </p:txBody>
        </p:sp>
        <p:sp>
          <p:nvSpPr>
            <p:cNvPr id="23" name="Rectangle 22"/>
            <p:cNvSpPr/>
            <p:nvPr/>
          </p:nvSpPr>
          <p:spPr>
            <a:xfrm>
              <a:off x="4750308" y="3602736"/>
              <a:ext cx="54864" cy="329184"/>
            </a:xfrm>
            <a:prstGeom prst="rect">
              <a:avLst/>
            </a:prstGeom>
            <a:solidFill>
              <a:srgbClr val="6B5B4B"/>
            </a:solidFill>
            <a:ln>
              <a:noFill/>
            </a:ln>
          </p:spPr>
          <p:txBody>
            <a:bodyPr rtlCol="0" anchor="ctr"/>
            <a:lstStyle/>
            <a:p>
              <a:pPr algn="ctr"/>
              <a:endParaRPr/>
            </a:p>
          </p:txBody>
        </p:sp>
        <p:sp>
          <p:nvSpPr>
            <p:cNvPr id="24" name="Rectangle 23"/>
            <p:cNvSpPr/>
            <p:nvPr/>
          </p:nvSpPr>
          <p:spPr>
            <a:xfrm>
              <a:off x="5070348" y="3602736"/>
              <a:ext cx="54864" cy="329184"/>
            </a:xfrm>
            <a:prstGeom prst="rect">
              <a:avLst/>
            </a:prstGeom>
            <a:solidFill>
              <a:srgbClr val="6B5B4B"/>
            </a:solidFill>
            <a:ln>
              <a:noFill/>
            </a:ln>
          </p:spPr>
          <p:txBody>
            <a:bodyPr rtlCol="0" anchor="ctr"/>
            <a:lstStyle/>
            <a:p>
              <a:pPr algn="ctr"/>
              <a:endParaRPr/>
            </a:p>
          </p:txBody>
        </p:sp>
        <p:sp>
          <p:nvSpPr>
            <p:cNvPr id="25" name="Rectangle 24"/>
            <p:cNvSpPr/>
            <p:nvPr/>
          </p:nvSpPr>
          <p:spPr>
            <a:xfrm>
              <a:off x="5390388" y="3602736"/>
              <a:ext cx="54864" cy="329184"/>
            </a:xfrm>
            <a:prstGeom prst="rect">
              <a:avLst/>
            </a:prstGeom>
            <a:solidFill>
              <a:srgbClr val="6B5B4B"/>
            </a:solidFill>
            <a:ln>
              <a:noFill/>
            </a:ln>
          </p:spPr>
          <p:txBody>
            <a:bodyPr rtlCol="0" anchor="ctr"/>
            <a:lstStyle/>
            <a:p>
              <a:pPr algn="ctr"/>
              <a:endParaRPr/>
            </a:p>
          </p:txBody>
        </p:sp>
        <p:sp>
          <p:nvSpPr>
            <p:cNvPr id="26" name="Rectangle 25"/>
            <p:cNvSpPr/>
            <p:nvPr/>
          </p:nvSpPr>
          <p:spPr>
            <a:xfrm>
              <a:off x="5710428" y="3602736"/>
              <a:ext cx="54864" cy="329184"/>
            </a:xfrm>
            <a:prstGeom prst="rect">
              <a:avLst/>
            </a:prstGeom>
            <a:solidFill>
              <a:srgbClr val="6B5B4B"/>
            </a:solidFill>
            <a:ln>
              <a:noFill/>
            </a:ln>
          </p:spPr>
          <p:txBody>
            <a:bodyPr rtlCol="0" anchor="ctr"/>
            <a:lstStyle/>
            <a:p>
              <a:pPr algn="ctr"/>
              <a:endParaRPr/>
            </a:p>
          </p:txBody>
        </p:sp>
        <p:sp>
          <p:nvSpPr>
            <p:cNvPr id="27" name="Rectangle 26"/>
            <p:cNvSpPr/>
            <p:nvPr/>
          </p:nvSpPr>
          <p:spPr>
            <a:xfrm>
              <a:off x="6030468" y="3602736"/>
              <a:ext cx="54864" cy="329184"/>
            </a:xfrm>
            <a:prstGeom prst="rect">
              <a:avLst/>
            </a:prstGeom>
            <a:solidFill>
              <a:srgbClr val="6B5B4B"/>
            </a:solidFill>
            <a:ln>
              <a:noFill/>
            </a:ln>
          </p:spPr>
          <p:txBody>
            <a:bodyPr rtlCol="0" anchor="ctr"/>
            <a:lstStyle/>
            <a:p>
              <a:pPr algn="ctr"/>
              <a:endParaRPr/>
            </a:p>
          </p:txBody>
        </p:sp>
        <p:sp>
          <p:nvSpPr>
            <p:cNvPr id="28" name="Rectangle 27"/>
            <p:cNvSpPr/>
            <p:nvPr/>
          </p:nvSpPr>
          <p:spPr>
            <a:xfrm>
              <a:off x="6350508" y="3602736"/>
              <a:ext cx="54864" cy="329184"/>
            </a:xfrm>
            <a:prstGeom prst="rect">
              <a:avLst/>
            </a:prstGeom>
            <a:solidFill>
              <a:srgbClr val="6B5B4B"/>
            </a:solidFill>
            <a:ln>
              <a:noFill/>
            </a:ln>
          </p:spPr>
          <p:txBody>
            <a:bodyPr rtlCol="0" anchor="ctr"/>
            <a:lstStyle/>
            <a:p>
              <a:pPr algn="ctr"/>
              <a:endParaRPr/>
            </a:p>
          </p:txBody>
        </p:sp>
        <p:sp>
          <p:nvSpPr>
            <p:cNvPr id="29" name="Rectangle 28"/>
            <p:cNvSpPr/>
            <p:nvPr/>
          </p:nvSpPr>
          <p:spPr>
            <a:xfrm>
              <a:off x="6670548" y="3602736"/>
              <a:ext cx="54864" cy="329184"/>
            </a:xfrm>
            <a:prstGeom prst="rect">
              <a:avLst/>
            </a:prstGeom>
            <a:solidFill>
              <a:srgbClr val="6B5B4B"/>
            </a:solidFill>
            <a:ln>
              <a:noFill/>
            </a:ln>
          </p:spPr>
          <p:txBody>
            <a:bodyPr rtlCol="0" anchor="ctr"/>
            <a:lstStyle/>
            <a:p>
              <a:pPr algn="ctr"/>
              <a:endParaRPr/>
            </a:p>
          </p:txBody>
        </p:sp>
        <p:sp>
          <p:nvSpPr>
            <p:cNvPr id="30" name="Rectangle 29"/>
            <p:cNvSpPr/>
            <p:nvPr/>
          </p:nvSpPr>
          <p:spPr>
            <a:xfrm>
              <a:off x="6990588" y="3602736"/>
              <a:ext cx="54864" cy="329184"/>
            </a:xfrm>
            <a:prstGeom prst="rect">
              <a:avLst/>
            </a:prstGeom>
            <a:solidFill>
              <a:srgbClr val="6B5B4B"/>
            </a:solidFill>
            <a:ln>
              <a:noFill/>
            </a:ln>
          </p:spPr>
          <p:txBody>
            <a:bodyPr rtlCol="0" anchor="ctr"/>
            <a:lstStyle/>
            <a:p>
              <a:pPr algn="ctr"/>
              <a:endParaRPr/>
            </a:p>
          </p:txBody>
        </p:sp>
        <p:sp>
          <p:nvSpPr>
            <p:cNvPr id="31" name="Rectangle 30"/>
            <p:cNvSpPr/>
            <p:nvPr/>
          </p:nvSpPr>
          <p:spPr>
            <a:xfrm>
              <a:off x="7310628" y="3602736"/>
              <a:ext cx="54864" cy="329184"/>
            </a:xfrm>
            <a:prstGeom prst="rect">
              <a:avLst/>
            </a:prstGeom>
            <a:solidFill>
              <a:srgbClr val="6B5B4B"/>
            </a:solidFill>
            <a:ln>
              <a:noFill/>
            </a:ln>
          </p:spPr>
          <p:txBody>
            <a:bodyPr rtlCol="0" anchor="ctr"/>
            <a:lstStyle/>
            <a:p>
              <a:pPr algn="ctr"/>
              <a:endParaRPr/>
            </a:p>
          </p:txBody>
        </p:sp>
        <p:sp>
          <p:nvSpPr>
            <p:cNvPr id="32" name="Rectangle 31"/>
            <p:cNvSpPr/>
            <p:nvPr/>
          </p:nvSpPr>
          <p:spPr>
            <a:xfrm>
              <a:off x="7630668" y="3602736"/>
              <a:ext cx="54864" cy="329184"/>
            </a:xfrm>
            <a:prstGeom prst="rect">
              <a:avLst/>
            </a:prstGeom>
            <a:solidFill>
              <a:srgbClr val="6B5B4B"/>
            </a:solidFill>
            <a:ln>
              <a:noFill/>
            </a:ln>
          </p:spPr>
          <p:txBody>
            <a:bodyPr rtlCol="0" anchor="ctr"/>
            <a:lstStyle/>
            <a:p>
              <a:pPr algn="ctr"/>
              <a:endParaRPr/>
            </a:p>
          </p:txBody>
        </p:sp>
        <p:sp>
          <p:nvSpPr>
            <p:cNvPr id="33" name="Rectangle 32"/>
            <p:cNvSpPr/>
            <p:nvPr/>
          </p:nvSpPr>
          <p:spPr>
            <a:xfrm>
              <a:off x="7950708" y="3602736"/>
              <a:ext cx="54864" cy="329184"/>
            </a:xfrm>
            <a:prstGeom prst="rect">
              <a:avLst/>
            </a:prstGeom>
            <a:solidFill>
              <a:srgbClr val="6B5B4B"/>
            </a:solidFill>
            <a:ln>
              <a:noFill/>
            </a:ln>
          </p:spPr>
          <p:txBody>
            <a:bodyPr rtlCol="0" anchor="ctr"/>
            <a:lstStyle/>
            <a:p>
              <a:pPr algn="ctr"/>
              <a:endParaRPr/>
            </a:p>
          </p:txBody>
        </p:sp>
        <p:sp>
          <p:nvSpPr>
            <p:cNvPr id="34" name="Rectangle 33"/>
            <p:cNvSpPr/>
            <p:nvPr/>
          </p:nvSpPr>
          <p:spPr>
            <a:xfrm>
              <a:off x="8270748" y="3602736"/>
              <a:ext cx="54864" cy="329184"/>
            </a:xfrm>
            <a:prstGeom prst="rect">
              <a:avLst/>
            </a:prstGeom>
            <a:solidFill>
              <a:srgbClr val="6B5B4B"/>
            </a:solidFill>
            <a:ln>
              <a:noFill/>
            </a:ln>
          </p:spPr>
          <p:txBody>
            <a:bodyPr rtlCol="0" anchor="ctr"/>
            <a:lstStyle/>
            <a:p>
              <a:pPr algn="ctr"/>
              <a:endParaRPr/>
            </a:p>
          </p:txBody>
        </p:sp>
        <p:sp>
          <p:nvSpPr>
            <p:cNvPr id="35" name="Rectangle 34"/>
            <p:cNvSpPr/>
            <p:nvPr/>
          </p:nvSpPr>
          <p:spPr>
            <a:xfrm>
              <a:off x="8590788" y="3602736"/>
              <a:ext cx="54864" cy="329184"/>
            </a:xfrm>
            <a:prstGeom prst="rect">
              <a:avLst/>
            </a:prstGeom>
            <a:solidFill>
              <a:srgbClr val="6B5B4B"/>
            </a:solidFill>
            <a:ln>
              <a:noFill/>
            </a:ln>
          </p:spPr>
          <p:txBody>
            <a:bodyPr rtlCol="0" anchor="ctr"/>
            <a:lstStyle/>
            <a:p>
              <a:pPr algn="ctr"/>
              <a:endParaRPr/>
            </a:p>
          </p:txBody>
        </p:sp>
        <p:sp>
          <p:nvSpPr>
            <p:cNvPr id="36" name="Rectangle 35"/>
            <p:cNvSpPr/>
            <p:nvPr/>
          </p:nvSpPr>
          <p:spPr>
            <a:xfrm>
              <a:off x="8910828" y="3602736"/>
              <a:ext cx="54864" cy="329184"/>
            </a:xfrm>
            <a:prstGeom prst="rect">
              <a:avLst/>
            </a:prstGeom>
            <a:solidFill>
              <a:srgbClr val="6B5B4B"/>
            </a:solidFill>
            <a:ln>
              <a:noFill/>
            </a:ln>
          </p:spPr>
          <p:txBody>
            <a:bodyPr rtlCol="0" anchor="ctr"/>
            <a:lstStyle/>
            <a:p>
              <a:pPr algn="ctr"/>
              <a:endParaRPr/>
            </a:p>
          </p:txBody>
        </p:sp>
        <p:sp>
          <p:nvSpPr>
            <p:cNvPr id="37" name="Rectangle 36"/>
            <p:cNvSpPr/>
            <p:nvPr/>
          </p:nvSpPr>
          <p:spPr>
            <a:xfrm>
              <a:off x="9230868" y="3602736"/>
              <a:ext cx="54864" cy="329184"/>
            </a:xfrm>
            <a:prstGeom prst="rect">
              <a:avLst/>
            </a:prstGeom>
            <a:solidFill>
              <a:srgbClr val="6B5B4B"/>
            </a:solidFill>
            <a:ln>
              <a:noFill/>
            </a:ln>
          </p:spPr>
          <p:txBody>
            <a:bodyPr rtlCol="0" anchor="ctr"/>
            <a:lstStyle/>
            <a:p>
              <a:pPr algn="ctr"/>
              <a:endParaRPr/>
            </a:p>
          </p:txBody>
        </p:sp>
        <p:sp>
          <p:nvSpPr>
            <p:cNvPr id="38" name="Rectangle 37"/>
            <p:cNvSpPr/>
            <p:nvPr/>
          </p:nvSpPr>
          <p:spPr>
            <a:xfrm>
              <a:off x="9550908" y="3602736"/>
              <a:ext cx="54864" cy="329184"/>
            </a:xfrm>
            <a:prstGeom prst="rect">
              <a:avLst/>
            </a:prstGeom>
            <a:solidFill>
              <a:srgbClr val="6B5B4B"/>
            </a:solidFill>
            <a:ln>
              <a:noFill/>
            </a:ln>
          </p:spPr>
          <p:txBody>
            <a:bodyPr rtlCol="0" anchor="ctr"/>
            <a:lstStyle/>
            <a:p>
              <a:pPr algn="ctr"/>
              <a:endParaRPr/>
            </a:p>
          </p:txBody>
        </p:sp>
        <p:sp>
          <p:nvSpPr>
            <p:cNvPr id="39" name="Rectangle 38"/>
            <p:cNvSpPr/>
            <p:nvPr/>
          </p:nvSpPr>
          <p:spPr>
            <a:xfrm>
              <a:off x="9870948" y="3602736"/>
              <a:ext cx="54864" cy="329184"/>
            </a:xfrm>
            <a:prstGeom prst="rect">
              <a:avLst/>
            </a:prstGeom>
            <a:solidFill>
              <a:srgbClr val="6B5B4B"/>
            </a:solidFill>
            <a:ln>
              <a:noFill/>
            </a:ln>
          </p:spPr>
          <p:txBody>
            <a:bodyPr rtlCol="0" anchor="ctr"/>
            <a:lstStyle/>
            <a:p>
              <a:pPr algn="ctr"/>
              <a:endParaRPr/>
            </a:p>
          </p:txBody>
        </p:sp>
        <p:sp>
          <p:nvSpPr>
            <p:cNvPr id="40" name="Rectangle 39"/>
            <p:cNvSpPr/>
            <p:nvPr/>
          </p:nvSpPr>
          <p:spPr>
            <a:xfrm>
              <a:off x="10190988" y="3602736"/>
              <a:ext cx="54864" cy="329184"/>
            </a:xfrm>
            <a:prstGeom prst="rect">
              <a:avLst/>
            </a:prstGeom>
            <a:solidFill>
              <a:srgbClr val="6B5B4B"/>
            </a:solidFill>
            <a:ln>
              <a:noFill/>
            </a:ln>
          </p:spPr>
          <p:txBody>
            <a:bodyPr rtlCol="0" anchor="ctr"/>
            <a:lstStyle/>
            <a:p>
              <a:pPr algn="ctr"/>
              <a:endParaRPr/>
            </a:p>
          </p:txBody>
        </p:sp>
        <p:sp>
          <p:nvSpPr>
            <p:cNvPr id="41" name="Rectangle 40"/>
            <p:cNvSpPr/>
            <p:nvPr/>
          </p:nvSpPr>
          <p:spPr>
            <a:xfrm>
              <a:off x="10511028" y="3602736"/>
              <a:ext cx="54864" cy="329184"/>
            </a:xfrm>
            <a:prstGeom prst="rect">
              <a:avLst/>
            </a:prstGeom>
            <a:solidFill>
              <a:srgbClr val="6B5B4B"/>
            </a:solidFill>
            <a:ln>
              <a:noFill/>
            </a:ln>
          </p:spPr>
          <p:txBody>
            <a:bodyPr rtlCol="0" anchor="ctr"/>
            <a:lstStyle/>
            <a:p>
              <a:pPr algn="ctr"/>
              <a:endParaRPr/>
            </a:p>
          </p:txBody>
        </p:sp>
        <p:sp>
          <p:nvSpPr>
            <p:cNvPr id="42" name="Rectangle 41"/>
            <p:cNvSpPr/>
            <p:nvPr/>
          </p:nvSpPr>
          <p:spPr>
            <a:xfrm>
              <a:off x="10831068" y="3602736"/>
              <a:ext cx="54864" cy="329184"/>
            </a:xfrm>
            <a:prstGeom prst="rect">
              <a:avLst/>
            </a:prstGeom>
            <a:solidFill>
              <a:srgbClr val="6B5B4B"/>
            </a:solidFill>
            <a:ln>
              <a:noFill/>
            </a:ln>
          </p:spPr>
          <p:txBody>
            <a:bodyPr rtlCol="0" anchor="ctr"/>
            <a:lstStyle/>
            <a:p>
              <a:pPr algn="ctr"/>
              <a:endParaRPr/>
            </a:p>
          </p:txBody>
        </p:sp>
        <p:sp>
          <p:nvSpPr>
            <p:cNvPr id="43" name="Rectangle 42"/>
            <p:cNvSpPr/>
            <p:nvPr/>
          </p:nvSpPr>
          <p:spPr>
            <a:xfrm>
              <a:off x="11151108" y="3602736"/>
              <a:ext cx="54864" cy="329184"/>
            </a:xfrm>
            <a:prstGeom prst="rect">
              <a:avLst/>
            </a:prstGeom>
            <a:solidFill>
              <a:srgbClr val="6B5B4B"/>
            </a:solidFill>
            <a:ln>
              <a:noFill/>
            </a:ln>
          </p:spPr>
          <p:txBody>
            <a:bodyPr rtlCol="0" anchor="ctr"/>
            <a:lstStyle/>
            <a:p>
              <a:pPr algn="ctr"/>
              <a:endParaRPr/>
            </a:p>
          </p:txBody>
        </p:sp>
        <p:sp>
          <p:nvSpPr>
            <p:cNvPr id="44" name="Rectangle 43"/>
            <p:cNvSpPr/>
            <p:nvPr/>
          </p:nvSpPr>
          <p:spPr>
            <a:xfrm>
              <a:off x="11471148" y="3602736"/>
              <a:ext cx="54864" cy="329184"/>
            </a:xfrm>
            <a:prstGeom prst="rect">
              <a:avLst/>
            </a:prstGeom>
            <a:solidFill>
              <a:srgbClr val="6B5B4B"/>
            </a:solidFill>
            <a:ln>
              <a:noFill/>
            </a:ln>
          </p:spPr>
          <p:txBody>
            <a:bodyPr rtlCol="0" anchor="ctr"/>
            <a:lstStyle/>
            <a:p>
              <a:pPr algn="ctr"/>
              <a:endParaRPr/>
            </a:p>
          </p:txBody>
        </p:sp>
        <p:sp>
          <p:nvSpPr>
            <p:cNvPr id="45" name="Rectangle 44"/>
            <p:cNvSpPr/>
            <p:nvPr/>
          </p:nvSpPr>
          <p:spPr>
            <a:xfrm>
              <a:off x="457200" y="3630168"/>
              <a:ext cx="11201400" cy="54864"/>
            </a:xfrm>
            <a:prstGeom prst="rect">
              <a:avLst/>
            </a:prstGeom>
            <a:solidFill>
              <a:srgbClr val="9AA0A6"/>
            </a:solidFill>
            <a:ln>
              <a:noFill/>
            </a:ln>
          </p:spPr>
          <p:txBody>
            <a:bodyPr rtlCol="0" anchor="ctr"/>
            <a:lstStyle/>
            <a:p>
              <a:pPr algn="ctr"/>
              <a:endParaRPr/>
            </a:p>
          </p:txBody>
        </p:sp>
        <p:sp>
          <p:nvSpPr>
            <p:cNvPr id="46" name="Rectangle 45"/>
            <p:cNvSpPr/>
            <p:nvPr/>
          </p:nvSpPr>
          <p:spPr>
            <a:xfrm>
              <a:off x="457200" y="3849624"/>
              <a:ext cx="11201400" cy="54864"/>
            </a:xfrm>
            <a:prstGeom prst="rect">
              <a:avLst/>
            </a:prstGeom>
            <a:solidFill>
              <a:srgbClr val="9AA0A6"/>
            </a:solidFill>
            <a:ln>
              <a:noFill/>
            </a:ln>
          </p:spPr>
          <p:txBody>
            <a:bodyPr rtlCol="0" anchor="ctr"/>
            <a:lstStyle/>
            <a:p>
              <a:pPr algn="ctr"/>
              <a:endParaRPr/>
            </a:p>
          </p:txBody>
        </p:sp>
        <p:sp>
          <p:nvSpPr>
            <p:cNvPr id="47" name="Rectangle 46"/>
            <p:cNvSpPr/>
            <p:nvPr/>
          </p:nvSpPr>
          <p:spPr>
            <a:xfrm>
              <a:off x="4206240" y="2194560"/>
              <a:ext cx="1645920" cy="777240"/>
            </a:xfrm>
            <a:prstGeom prst="rect">
              <a:avLst/>
            </a:prstGeom>
            <a:solidFill>
              <a:srgbClr val="343A43"/>
            </a:solidFill>
            <a:ln w="19050">
              <a:solidFill>
                <a:srgbClr val="9AA0A6"/>
              </a:solidFill>
            </a:ln>
          </p:spPr>
          <p:txBody>
            <a:bodyPr rtlCol="0" anchor="ctr"/>
            <a:lstStyle/>
            <a:p>
              <a:pPr algn="ctr"/>
              <a:endParaRPr/>
            </a:p>
          </p:txBody>
        </p:sp>
        <p:sp>
          <p:nvSpPr>
            <p:cNvPr id="48" name="Freeform 47"/>
            <p:cNvSpPr/>
            <p:nvPr/>
          </p:nvSpPr>
          <p:spPr>
            <a:xfrm>
              <a:off x="4480560" y="2404872"/>
              <a:ext cx="1097280" cy="411480"/>
            </a:xfrm>
            <a:custGeom>
              <a:avLst/>
              <a:gdLst/>
              <a:ahLst/>
              <a:cxnLst/>
              <a:rect l="l" t="t" r="r" b="b"/>
              <a:pathLst>
                <a:path w="1097280" h="411480">
                  <a:moveTo>
                    <a:pt x="0" y="411480"/>
                  </a:moveTo>
                  <a:lnTo>
                    <a:pt x="197510" y="164592"/>
                  </a:lnTo>
                  <a:lnTo>
                    <a:pt x="416966" y="61722"/>
                  </a:lnTo>
                  <a:lnTo>
                    <a:pt x="603504" y="0"/>
                  </a:lnTo>
                  <a:lnTo>
                    <a:pt x="822960" y="123444"/>
                  </a:lnTo>
                  <a:lnTo>
                    <a:pt x="1009498" y="246888"/>
                  </a:lnTo>
                  <a:lnTo>
                    <a:pt x="1097280" y="411480"/>
                  </a:lnTo>
                  <a:close/>
                </a:path>
              </a:pathLst>
            </a:custGeom>
            <a:solidFill>
              <a:srgbClr val="1B1D21"/>
            </a:solidFill>
            <a:ln w="25400">
              <a:solidFill>
                <a:srgbClr val="6B7078"/>
              </a:solidFill>
            </a:ln>
          </p:spPr>
          <p:txBody>
            <a:bodyPr rtlCol="0" anchor="ctr"/>
            <a:lstStyle/>
            <a:p>
              <a:pPr algn="ctr"/>
              <a:endParaRPr/>
            </a:p>
          </p:txBody>
        </p:sp>
        <p:cxnSp>
          <p:nvCxnSpPr>
            <p:cNvPr id="49" name="Connector 48"/>
            <p:cNvCxnSpPr/>
            <p:nvPr/>
          </p:nvCxnSpPr>
          <p:spPr>
            <a:xfrm>
              <a:off x="5257800" y="2971800"/>
              <a:ext cx="0" cy="667512"/>
            </a:xfrm>
            <a:prstGeom prst="line">
              <a:avLst/>
            </a:prstGeom>
            <a:ln w="50800">
              <a:solidFill>
                <a:srgbClr val="9AA0A6"/>
              </a:solidFill>
            </a:ln>
          </p:spPr>
        </p:cxnSp>
        <p:sp>
          <p:nvSpPr>
            <p:cNvPr id="50" name="Rectangle 49"/>
            <p:cNvSpPr/>
            <p:nvPr/>
          </p:nvSpPr>
          <p:spPr>
            <a:xfrm>
              <a:off x="777240" y="2496312"/>
              <a:ext cx="3429000" cy="182880"/>
            </a:xfrm>
            <a:prstGeom prst="rect">
              <a:avLst/>
            </a:prstGeom>
            <a:solidFill>
              <a:srgbClr val="1B1D21"/>
            </a:solidFill>
            <a:ln w="12700">
              <a:solidFill>
                <a:srgbClr val="9AA0A6"/>
              </a:solidFill>
              <a:prstDash val="dash"/>
            </a:ln>
          </p:spPr>
          <p:txBody>
            <a:bodyPr rtlCol="0" anchor="ctr"/>
            <a:lstStyle/>
            <a:p>
              <a:pPr algn="ctr"/>
              <a:endParaRPr/>
            </a:p>
          </p:txBody>
        </p:sp>
        <p:sp>
          <p:nvSpPr>
            <p:cNvPr id="51" name="Chevron 50"/>
            <p:cNvSpPr/>
            <p:nvPr/>
          </p:nvSpPr>
          <p:spPr>
            <a:xfrm>
              <a:off x="960120" y="2523744"/>
              <a:ext cx="109728" cy="128016"/>
            </a:xfrm>
            <a:prstGeom prst="chevron">
              <a:avLst/>
            </a:prstGeom>
            <a:solidFill>
              <a:srgbClr val="F28C28"/>
            </a:solidFill>
            <a:ln>
              <a:noFill/>
            </a:ln>
          </p:spPr>
          <p:txBody>
            <a:bodyPr rtlCol="0" anchor="ctr"/>
            <a:lstStyle/>
            <a:p>
              <a:pPr algn="ctr"/>
              <a:endParaRPr/>
            </a:p>
          </p:txBody>
        </p:sp>
        <p:sp>
          <p:nvSpPr>
            <p:cNvPr id="52" name="Chevron 51"/>
            <p:cNvSpPr/>
            <p:nvPr/>
          </p:nvSpPr>
          <p:spPr>
            <a:xfrm>
              <a:off x="1307592" y="2523744"/>
              <a:ext cx="109728" cy="128016"/>
            </a:xfrm>
            <a:prstGeom prst="chevron">
              <a:avLst/>
            </a:prstGeom>
            <a:solidFill>
              <a:srgbClr val="F28C28"/>
            </a:solidFill>
            <a:ln>
              <a:noFill/>
            </a:ln>
          </p:spPr>
          <p:txBody>
            <a:bodyPr rtlCol="0" anchor="ctr"/>
            <a:lstStyle/>
            <a:p>
              <a:pPr algn="ctr"/>
              <a:endParaRPr/>
            </a:p>
          </p:txBody>
        </p:sp>
        <p:sp>
          <p:nvSpPr>
            <p:cNvPr id="53" name="Chevron 52"/>
            <p:cNvSpPr/>
            <p:nvPr/>
          </p:nvSpPr>
          <p:spPr>
            <a:xfrm>
              <a:off x="1655064" y="2523744"/>
              <a:ext cx="109728" cy="128016"/>
            </a:xfrm>
            <a:prstGeom prst="chevron">
              <a:avLst/>
            </a:prstGeom>
            <a:solidFill>
              <a:srgbClr val="F28C28"/>
            </a:solidFill>
            <a:ln>
              <a:noFill/>
            </a:ln>
          </p:spPr>
          <p:txBody>
            <a:bodyPr rtlCol="0" anchor="ctr"/>
            <a:lstStyle/>
            <a:p>
              <a:pPr algn="ctr"/>
              <a:endParaRPr/>
            </a:p>
          </p:txBody>
        </p:sp>
        <p:sp>
          <p:nvSpPr>
            <p:cNvPr id="54" name="Chevron 53"/>
            <p:cNvSpPr/>
            <p:nvPr/>
          </p:nvSpPr>
          <p:spPr>
            <a:xfrm>
              <a:off x="2002536" y="2523744"/>
              <a:ext cx="109728" cy="128016"/>
            </a:xfrm>
            <a:prstGeom prst="chevron">
              <a:avLst/>
            </a:prstGeom>
            <a:solidFill>
              <a:srgbClr val="F28C28"/>
            </a:solidFill>
            <a:ln>
              <a:noFill/>
            </a:ln>
          </p:spPr>
          <p:txBody>
            <a:bodyPr rtlCol="0" anchor="ctr"/>
            <a:lstStyle/>
            <a:p>
              <a:pPr algn="ctr"/>
              <a:endParaRPr/>
            </a:p>
          </p:txBody>
        </p:sp>
        <p:sp>
          <p:nvSpPr>
            <p:cNvPr id="55" name="Chevron 54"/>
            <p:cNvSpPr/>
            <p:nvPr/>
          </p:nvSpPr>
          <p:spPr>
            <a:xfrm>
              <a:off x="2350008" y="2523744"/>
              <a:ext cx="109728" cy="128016"/>
            </a:xfrm>
            <a:prstGeom prst="chevron">
              <a:avLst/>
            </a:prstGeom>
            <a:solidFill>
              <a:srgbClr val="F28C28"/>
            </a:solidFill>
            <a:ln>
              <a:noFill/>
            </a:ln>
          </p:spPr>
          <p:txBody>
            <a:bodyPr rtlCol="0" anchor="ctr"/>
            <a:lstStyle/>
            <a:p>
              <a:pPr algn="ctr"/>
              <a:endParaRPr/>
            </a:p>
          </p:txBody>
        </p:sp>
        <p:sp>
          <p:nvSpPr>
            <p:cNvPr id="56" name="Chevron 55"/>
            <p:cNvSpPr/>
            <p:nvPr/>
          </p:nvSpPr>
          <p:spPr>
            <a:xfrm>
              <a:off x="2697480" y="2523744"/>
              <a:ext cx="109728" cy="128016"/>
            </a:xfrm>
            <a:prstGeom prst="chevron">
              <a:avLst/>
            </a:prstGeom>
            <a:solidFill>
              <a:srgbClr val="F28C28"/>
            </a:solidFill>
            <a:ln>
              <a:noFill/>
            </a:ln>
          </p:spPr>
          <p:txBody>
            <a:bodyPr rtlCol="0" anchor="ctr"/>
            <a:lstStyle/>
            <a:p>
              <a:pPr algn="ctr"/>
              <a:endParaRPr/>
            </a:p>
          </p:txBody>
        </p:sp>
        <p:sp>
          <p:nvSpPr>
            <p:cNvPr id="57" name="Chevron 56"/>
            <p:cNvSpPr/>
            <p:nvPr/>
          </p:nvSpPr>
          <p:spPr>
            <a:xfrm>
              <a:off x="3044952" y="2523744"/>
              <a:ext cx="109728" cy="128016"/>
            </a:xfrm>
            <a:prstGeom prst="chevron">
              <a:avLst/>
            </a:prstGeom>
            <a:solidFill>
              <a:srgbClr val="F28C28"/>
            </a:solidFill>
            <a:ln>
              <a:noFill/>
            </a:ln>
          </p:spPr>
          <p:txBody>
            <a:bodyPr rtlCol="0" anchor="ctr"/>
            <a:lstStyle/>
            <a:p>
              <a:pPr algn="ctr"/>
              <a:endParaRPr/>
            </a:p>
          </p:txBody>
        </p:sp>
        <p:sp>
          <p:nvSpPr>
            <p:cNvPr id="58" name="Chevron 57"/>
            <p:cNvSpPr/>
            <p:nvPr/>
          </p:nvSpPr>
          <p:spPr>
            <a:xfrm>
              <a:off x="3392424" y="2523744"/>
              <a:ext cx="109728" cy="128016"/>
            </a:xfrm>
            <a:prstGeom prst="chevron">
              <a:avLst/>
            </a:prstGeom>
            <a:solidFill>
              <a:srgbClr val="F28C28"/>
            </a:solidFill>
            <a:ln>
              <a:noFill/>
            </a:ln>
          </p:spPr>
          <p:txBody>
            <a:bodyPr rtlCol="0" anchor="ctr"/>
            <a:lstStyle/>
            <a:p>
              <a:pPr algn="ctr"/>
              <a:endParaRPr/>
            </a:p>
          </p:txBody>
        </p:sp>
        <p:sp>
          <p:nvSpPr>
            <p:cNvPr id="59" name="Chevron 58"/>
            <p:cNvSpPr/>
            <p:nvPr/>
          </p:nvSpPr>
          <p:spPr>
            <a:xfrm>
              <a:off x="3739896" y="2523744"/>
              <a:ext cx="109728" cy="128016"/>
            </a:xfrm>
            <a:prstGeom prst="chevron">
              <a:avLst/>
            </a:prstGeom>
            <a:solidFill>
              <a:srgbClr val="F28C28"/>
            </a:solidFill>
            <a:ln>
              <a:noFill/>
            </a:ln>
          </p:spPr>
          <p:txBody>
            <a:bodyPr rtlCol="0" anchor="ctr"/>
            <a:lstStyle/>
            <a:p>
              <a:pPr algn="ctr"/>
              <a:endParaRPr/>
            </a:p>
          </p:txBody>
        </p:sp>
        <p:sp>
          <p:nvSpPr>
            <p:cNvPr id="60" name="Oval 59"/>
            <p:cNvSpPr/>
            <p:nvPr/>
          </p:nvSpPr>
          <p:spPr>
            <a:xfrm>
              <a:off x="6949440" y="2103120"/>
              <a:ext cx="914400" cy="914400"/>
            </a:xfrm>
            <a:prstGeom prst="ellipse">
              <a:avLst/>
            </a:prstGeom>
            <a:solidFill>
              <a:srgbClr val="4DA3FF"/>
            </a:solidFill>
            <a:ln w="25400">
              <a:solidFill>
                <a:srgbClr val="FFFFFF"/>
              </a:solidFill>
            </a:ln>
          </p:spPr>
          <p:txBody>
            <a:bodyPr rtlCol="0" anchor="ctr"/>
            <a:lstStyle/>
            <a:p>
              <a:pPr algn="ctr"/>
              <a:endParaRPr/>
            </a:p>
          </p:txBody>
        </p:sp>
        <p:sp>
          <p:nvSpPr>
            <p:cNvPr id="61" name="Freeform 60"/>
            <p:cNvSpPr/>
            <p:nvPr/>
          </p:nvSpPr>
          <p:spPr>
            <a:xfrm>
              <a:off x="7275749" y="2404872"/>
              <a:ext cx="261782" cy="351130"/>
            </a:xfrm>
            <a:custGeom>
              <a:avLst/>
              <a:gdLst/>
              <a:ahLst/>
              <a:cxnLst/>
              <a:rect l="l" t="t" r="r" b="b"/>
              <a:pathLst>
                <a:path w="261782" h="351130">
                  <a:moveTo>
                    <a:pt x="7158" y="174421"/>
                  </a:moveTo>
                  <a:lnTo>
                    <a:pt x="0" y="205121"/>
                  </a:lnTo>
                  <a:lnTo>
                    <a:pt x="344" y="236643"/>
                  </a:lnTo>
                  <a:lnTo>
                    <a:pt x="8170" y="267180"/>
                  </a:lnTo>
                  <a:lnTo>
                    <a:pt x="23030" y="294981"/>
                  </a:lnTo>
                  <a:lnTo>
                    <a:pt x="44073" y="318453"/>
                  </a:lnTo>
                  <a:lnTo>
                    <a:pt x="70091" y="336252"/>
                  </a:lnTo>
                  <a:lnTo>
                    <a:pt x="99594" y="347356"/>
                  </a:lnTo>
                  <a:lnTo>
                    <a:pt x="130891" y="351130"/>
                  </a:lnTo>
                  <a:lnTo>
                    <a:pt x="162188" y="347356"/>
                  </a:lnTo>
                  <a:lnTo>
                    <a:pt x="191691" y="336252"/>
                  </a:lnTo>
                  <a:lnTo>
                    <a:pt x="217709" y="318453"/>
                  </a:lnTo>
                  <a:lnTo>
                    <a:pt x="238752" y="294981"/>
                  </a:lnTo>
                  <a:lnTo>
                    <a:pt x="253612" y="267180"/>
                  </a:lnTo>
                  <a:lnTo>
                    <a:pt x="261438" y="236643"/>
                  </a:lnTo>
                  <a:lnTo>
                    <a:pt x="261782" y="205121"/>
                  </a:lnTo>
                  <a:lnTo>
                    <a:pt x="254624" y="174421"/>
                  </a:lnTo>
                  <a:lnTo>
                    <a:pt x="130891" y="0"/>
                  </a:lnTo>
                  <a:close/>
                </a:path>
              </a:pathLst>
            </a:custGeom>
            <a:solidFill>
              <a:srgbClr val="FFFFFF"/>
            </a:solidFill>
            <a:ln>
              <a:noFill/>
            </a:ln>
          </p:spPr>
          <p:txBody>
            <a:bodyPr rtlCol="0" anchor="ctr"/>
            <a:lstStyle/>
            <a:p>
              <a:pPr algn="ctr"/>
              <a:endParaRPr/>
            </a:p>
          </p:txBody>
        </p:sp>
        <p:cxnSp>
          <p:nvCxnSpPr>
            <p:cNvPr id="62" name="Connector 61"/>
            <p:cNvCxnSpPr/>
            <p:nvPr/>
          </p:nvCxnSpPr>
          <p:spPr>
            <a:xfrm flipH="1">
              <a:off x="6446520" y="2880360"/>
              <a:ext cx="640080" cy="758952"/>
            </a:xfrm>
            <a:prstGeom prst="line">
              <a:avLst/>
            </a:prstGeom>
            <a:ln w="50800">
              <a:solidFill>
                <a:srgbClr val="9AA0A6"/>
              </a:solidFill>
            </a:ln>
          </p:spPr>
        </p:cxnSp>
        <p:sp>
          <p:nvSpPr>
            <p:cNvPr id="63" name="Freeform 62"/>
            <p:cNvSpPr/>
            <p:nvPr/>
          </p:nvSpPr>
          <p:spPr>
            <a:xfrm>
              <a:off x="7406640" y="1417320"/>
              <a:ext cx="0" cy="685800"/>
            </a:xfrm>
            <a:custGeom>
              <a:avLst/>
              <a:gdLst/>
              <a:ahLst/>
              <a:cxnLst/>
              <a:rect l="l" t="t" r="r" b="b"/>
              <a:pathLst>
                <a:path h="685800">
                  <a:moveTo>
                    <a:pt x="0" y="0"/>
                  </a:moveTo>
                  <a:lnTo>
                    <a:pt x="0" y="685800"/>
                  </a:lnTo>
                </a:path>
              </a:pathLst>
            </a:custGeom>
            <a:noFill/>
            <a:ln w="114300">
              <a:solidFill>
                <a:srgbClr val="4DA3FF"/>
              </a:solidFill>
            </a:ln>
          </p:spPr>
          <p:txBody>
            <a:bodyPr rtlCol="0" anchor="ctr"/>
            <a:lstStyle/>
            <a:p>
              <a:pPr algn="ctr"/>
              <a:endParaRPr/>
            </a:p>
          </p:txBody>
        </p:sp>
        <p:sp>
          <p:nvSpPr>
            <p:cNvPr id="64" name="Rounded Rectangle 63"/>
            <p:cNvSpPr/>
            <p:nvPr/>
          </p:nvSpPr>
          <p:spPr>
            <a:xfrm>
              <a:off x="4754880" y="3547872"/>
              <a:ext cx="2011680" cy="438912"/>
            </a:xfrm>
            <a:prstGeom prst="roundRect">
              <a:avLst>
                <a:gd name="adj" fmla="val 20833"/>
              </a:avLst>
            </a:prstGeom>
            <a:solidFill>
              <a:srgbClr val="F28C28"/>
            </a:solidFill>
            <a:ln w="12700">
              <a:solidFill>
                <a:srgbClr val="101418"/>
              </a:solidFill>
            </a:ln>
          </p:spPr>
          <p:txBody>
            <a:bodyPr rtlCol="0" anchor="ctr"/>
            <a:lstStyle/>
            <a:p>
              <a:pPr algn="ctr"/>
              <a:endParaRPr/>
            </a:p>
          </p:txBody>
        </p:sp>
        <p:sp>
          <p:nvSpPr>
            <p:cNvPr id="65" name="Oval 64"/>
            <p:cNvSpPr/>
            <p:nvPr/>
          </p:nvSpPr>
          <p:spPr>
            <a:xfrm>
              <a:off x="5166360" y="3675888"/>
              <a:ext cx="182880" cy="182880"/>
            </a:xfrm>
            <a:prstGeom prst="ellipse">
              <a:avLst/>
            </a:prstGeom>
            <a:solidFill>
              <a:srgbClr val="1B1D21"/>
            </a:solidFill>
            <a:ln w="19050">
              <a:solidFill>
                <a:srgbClr val="F2F2F2"/>
              </a:solidFill>
            </a:ln>
          </p:spPr>
          <p:txBody>
            <a:bodyPr rtlCol="0" anchor="ctr"/>
            <a:lstStyle/>
            <a:p>
              <a:pPr algn="ctr"/>
              <a:endParaRPr/>
            </a:p>
          </p:txBody>
        </p:sp>
        <p:sp>
          <p:nvSpPr>
            <p:cNvPr id="66" name="Oval 65"/>
            <p:cNvSpPr/>
            <p:nvPr/>
          </p:nvSpPr>
          <p:spPr>
            <a:xfrm>
              <a:off x="6355080" y="3675888"/>
              <a:ext cx="182880" cy="182880"/>
            </a:xfrm>
            <a:prstGeom prst="ellipse">
              <a:avLst/>
            </a:prstGeom>
            <a:solidFill>
              <a:srgbClr val="4DA3FF"/>
            </a:solidFill>
            <a:ln w="19050">
              <a:solidFill>
                <a:srgbClr val="F2F2F2"/>
              </a:solidFill>
            </a:ln>
          </p:spPr>
          <p:txBody>
            <a:bodyPr rtlCol="0" anchor="ctr"/>
            <a:lstStyle/>
            <a:p>
              <a:pPr algn="ctr"/>
              <a:endParaRPr/>
            </a:p>
          </p:txBody>
        </p:sp>
        <p:sp>
          <p:nvSpPr>
            <p:cNvPr id="67" name="Rectangle 66"/>
            <p:cNvSpPr/>
            <p:nvPr/>
          </p:nvSpPr>
          <p:spPr>
            <a:xfrm>
              <a:off x="4114800" y="4160520"/>
              <a:ext cx="3291840" cy="502920"/>
            </a:xfrm>
            <a:prstGeom prst="rect">
              <a:avLst/>
            </a:prstGeom>
            <a:solidFill>
              <a:srgbClr val="343A43"/>
            </a:solidFill>
            <a:ln w="19050">
              <a:solidFill>
                <a:srgbClr val="9AA0A6"/>
              </a:solidFill>
            </a:ln>
          </p:spPr>
          <p:txBody>
            <a:bodyPr wrap="square" lIns="73152" tIns="36576" rIns="73152" bIns="36576" rtlCol="0" anchor="ctr">
              <a:noAutofit/>
            </a:bodyPr>
            <a:lstStyle/>
            <a:p>
              <a:pPr algn="ctr"/>
              <a:r>
                <a:rPr lang="en-GB" sz="1400" b="0" i="0">
                  <a:solidFill>
                    <a:srgbClr val="F2F2F2"/>
                  </a:solidFill>
                  <a:latin typeface="Arial"/>
                </a:rPr>
                <a:t>Platform and cargo loading</a:t>
              </a:r>
            </a:p>
          </p:txBody>
        </p:sp>
        <p:sp>
          <p:nvSpPr>
            <p:cNvPr id="68" name="Rectangle 67"/>
            <p:cNvSpPr/>
            <p:nvPr/>
          </p:nvSpPr>
          <p:spPr>
            <a:xfrm>
              <a:off x="2011680" y="4160520"/>
              <a:ext cx="1371600" cy="914400"/>
            </a:xfrm>
            <a:prstGeom prst="rect">
              <a:avLst/>
            </a:prstGeom>
            <a:solidFill>
              <a:srgbClr val="343A43"/>
            </a:solidFill>
            <a:ln w="19050">
              <a:solidFill>
                <a:srgbClr val="F28C28"/>
              </a:solidFill>
            </a:ln>
          </p:spPr>
          <p:txBody>
            <a:bodyPr rtlCol="0" anchor="ctr"/>
            <a:lstStyle/>
            <a:p>
              <a:pPr algn="ctr"/>
              <a:endParaRPr/>
            </a:p>
          </p:txBody>
        </p:sp>
        <p:cxnSp>
          <p:nvCxnSpPr>
            <p:cNvPr id="69" name="Connector 68"/>
            <p:cNvCxnSpPr/>
            <p:nvPr/>
          </p:nvCxnSpPr>
          <p:spPr>
            <a:xfrm>
              <a:off x="2011680" y="4160520"/>
              <a:ext cx="1371600" cy="914400"/>
            </a:xfrm>
            <a:prstGeom prst="line">
              <a:avLst/>
            </a:prstGeom>
            <a:ln w="19050">
              <a:solidFill>
                <a:srgbClr val="F28C28"/>
              </a:solidFill>
            </a:ln>
          </p:spPr>
        </p:cxnSp>
        <p:sp>
          <p:nvSpPr>
            <p:cNvPr id="70" name="TextBox 69"/>
            <p:cNvSpPr txBox="1"/>
            <p:nvPr/>
          </p:nvSpPr>
          <p:spPr>
            <a:xfrm>
              <a:off x="777240" y="3035808"/>
              <a:ext cx="2103120" cy="274320"/>
            </a:xfrm>
            <a:prstGeom prst="rect">
              <a:avLst/>
            </a:prstGeom>
            <a:noFill/>
          </p:spPr>
          <p:txBody>
            <a:bodyPr wrap="square" lIns="0" tIns="0" rIns="0" bIns="0" anchor="t">
              <a:noAutofit/>
            </a:bodyPr>
            <a:lstStyle/>
            <a:p>
              <a:pPr algn="l"/>
              <a:r>
                <a:rPr lang="en-GB" sz="1400" b="0" i="0">
                  <a:solidFill>
                    <a:srgbClr val="F2F2F2"/>
                  </a:solidFill>
                  <a:latin typeface="Arial"/>
                </a:rPr>
                <a:t>Conveyor: coal in</a:t>
              </a:r>
            </a:p>
          </p:txBody>
        </p:sp>
      </p:grpSp>
      <p:sp>
        <p:nvSpPr>
          <p:cNvPr id="71" name="TextBox 70"/>
          <p:cNvSpPr txBox="1"/>
          <p:nvPr/>
        </p:nvSpPr>
        <p:spPr>
          <a:xfrm>
            <a:off x="731520" y="4480560"/>
            <a:ext cx="1188720" cy="274320"/>
          </a:xfrm>
          <a:prstGeom prst="rect">
            <a:avLst/>
          </a:prstGeom>
          <a:noFill/>
        </p:spPr>
        <p:txBody>
          <a:bodyPr wrap="square" lIns="0" tIns="0" rIns="0" bIns="0" anchor="t">
            <a:noAutofit/>
          </a:bodyPr>
          <a:lstStyle/>
          <a:p>
            <a:pPr algn="r"/>
            <a:r>
              <a:rPr lang="en-GB" sz="1400" b="0" i="0">
                <a:solidFill>
                  <a:srgbClr val="F2F2F2"/>
                </a:solidFill>
                <a:latin typeface="Arial"/>
              </a:rPr>
              <a:t>Signal box</a:t>
            </a:r>
          </a:p>
        </p:txBody>
      </p:sp>
      <p:sp>
        <p:nvSpPr>
          <p:cNvPr id="72" name="TextBox 71"/>
          <p:cNvSpPr txBox="1"/>
          <p:nvPr/>
        </p:nvSpPr>
        <p:spPr>
          <a:xfrm>
            <a:off x="7543800" y="1325880"/>
            <a:ext cx="1737360" cy="292608"/>
          </a:xfrm>
          <a:prstGeom prst="rect">
            <a:avLst/>
          </a:prstGeom>
          <a:noFill/>
        </p:spPr>
        <p:txBody>
          <a:bodyPr wrap="square" lIns="0" tIns="0" rIns="0" bIns="0" anchor="ctr">
            <a:noAutofit/>
          </a:bodyPr>
          <a:lstStyle/>
          <a:p>
            <a:pPr algn="l"/>
            <a:r>
              <a:rPr lang="en-GB" sz="1400" b="0" i="0">
                <a:solidFill>
                  <a:srgbClr val="F2F2F2"/>
                </a:solidFill>
                <a:latin typeface="Arial"/>
              </a:rPr>
              <a:t>Pipe: water in</a:t>
            </a:r>
          </a:p>
        </p:txBody>
      </p:sp>
      <p:sp>
        <p:nvSpPr>
          <p:cNvPr id="73" name="TextBox 72"/>
          <p:cNvSpPr txBox="1"/>
          <p:nvPr/>
        </p:nvSpPr>
        <p:spPr>
          <a:xfrm>
            <a:off x="3657600" y="3108960"/>
            <a:ext cx="1508760" cy="274320"/>
          </a:xfrm>
          <a:prstGeom prst="rect">
            <a:avLst/>
          </a:prstGeom>
          <a:noFill/>
        </p:spPr>
        <p:txBody>
          <a:bodyPr wrap="square" lIns="0" tIns="0" rIns="0" bIns="0" anchor="t">
            <a:noAutofit/>
          </a:bodyPr>
          <a:lstStyle/>
          <a:p>
            <a:pPr algn="r"/>
            <a:r>
              <a:rPr lang="en-GB" sz="1400" b="0" i="0">
                <a:solidFill>
                  <a:srgbClr val="F2F2F2"/>
                </a:solidFill>
                <a:latin typeface="Arial"/>
              </a:rPr>
              <a:t>Coal bunker</a:t>
            </a:r>
          </a:p>
        </p:txBody>
      </p:sp>
      <p:sp>
        <p:nvSpPr>
          <p:cNvPr id="74" name="TextBox 73"/>
          <p:cNvSpPr txBox="1"/>
          <p:nvPr/>
        </p:nvSpPr>
        <p:spPr>
          <a:xfrm>
            <a:off x="7059168" y="3127248"/>
            <a:ext cx="1280160" cy="274320"/>
          </a:xfrm>
          <a:prstGeom prst="rect">
            <a:avLst/>
          </a:prstGeom>
          <a:noFill/>
        </p:spPr>
        <p:txBody>
          <a:bodyPr wrap="square" lIns="0" tIns="0" rIns="0" bIns="0" anchor="t">
            <a:noAutofit/>
          </a:bodyPr>
          <a:lstStyle/>
          <a:p>
            <a:pPr algn="l"/>
            <a:r>
              <a:rPr lang="en-GB" sz="1400" b="0" i="0">
                <a:solidFill>
                  <a:srgbClr val="F2F2F2"/>
                </a:solidFill>
                <a:latin typeface="Arial"/>
              </a:rPr>
              <a:t>Water hatch</a:t>
            </a:r>
          </a:p>
        </p:txBody>
      </p:sp>
      <p:sp>
        <p:nvSpPr>
          <p:cNvPr id="75" name="TextBox 74"/>
          <p:cNvSpPr txBox="1"/>
          <p:nvPr/>
        </p:nvSpPr>
        <p:spPr>
          <a:xfrm>
            <a:off x="4114800" y="4846320"/>
            <a:ext cx="5029200" cy="329184"/>
          </a:xfrm>
          <a:prstGeom prst="rect">
            <a:avLst/>
          </a:prstGeom>
          <a:noFill/>
        </p:spPr>
        <p:txBody>
          <a:bodyPr wrap="square" lIns="0" tIns="0" rIns="0" bIns="0" anchor="t">
            <a:noAutofit/>
          </a:bodyPr>
          <a:lstStyle/>
          <a:p>
            <a:pPr algn="l"/>
            <a:r>
              <a:rPr lang="en-GB" sz="1600" b="0" i="0">
                <a:solidFill>
                  <a:srgbClr val="F2F2F2"/>
                </a:solidFill>
                <a:latin typeface="Arial"/>
              </a:rPr>
              <a:t>Large footprint. Exact size undecided.</a:t>
            </a:r>
          </a:p>
        </p:txBody>
      </p:sp>
      <p:sp>
        <p:nvSpPr>
          <p:cNvPr id="76" name="Vanilla station"/>
          <p:cNvSpPr/>
          <p:nvPr/>
        </p:nvSpPr>
        <p:spPr>
          <a:xfrm>
            <a:off x="10149840" y="4343400"/>
            <a:ext cx="1463040" cy="685800"/>
          </a:xfrm>
          <a:prstGeom prst="rect">
            <a:avLst/>
          </a:prstGeom>
          <a:solidFill>
            <a:srgbClr val="2B2F36"/>
          </a:solidFill>
          <a:ln w="19050">
            <a:solidFill>
              <a:srgbClr val="6CA0DC"/>
            </a:solidFill>
          </a:ln>
        </p:spPr>
        <p:txBody>
          <a:bodyPr wrap="square" lIns="73152" tIns="36576" rIns="73152" bIns="36576" rtlCol="0" anchor="ctr">
            <a:noAutofit/>
          </a:bodyPr>
          <a:lstStyle/>
          <a:p>
            <a:pPr algn="ctr"/>
            <a:r>
              <a:rPr lang="en-GB" sz="1400" b="0" i="0">
                <a:solidFill>
                  <a:srgbClr val="F2F2F2"/>
                </a:solidFill>
                <a:latin typeface="Arial"/>
              </a:rPr>
              <a:t>Vanilla station (for comparison)</a:t>
            </a:r>
          </a:p>
        </p:txBody>
      </p:sp>
      <p:pic>
        <p:nvPicPr>
          <p:cNvPr id="77" name="Picture P17" descr="A coal stage and a water tank at Didcot Railway Centre."/>
          <p:cNvPicPr>
            <a:picLocks noChangeAspect="1"/>
          </p:cNvPicPr>
          <p:nvPr/>
        </p:nvPicPr>
        <p:blipFill>
          <a:blip r:embed="rId2"/>
          <a:srcRect l="1853" r="1853"/>
          <a:stretch>
            <a:fillRect/>
          </a:stretch>
        </p:blipFill>
        <p:spPr>
          <a:xfrm>
            <a:off x="9445752" y="1371600"/>
            <a:ext cx="2194560" cy="1280160"/>
          </a:xfrm>
          <a:prstGeom prst="roundRect">
            <a:avLst>
              <a:gd name="adj" fmla="val 5714"/>
            </a:avLst>
          </a:prstGeom>
        </p:spPr>
      </p:pic>
      <p:sp>
        <p:nvSpPr>
          <p:cNvPr id="78" name="Credit"/>
          <p:cNvSpPr txBox="1"/>
          <p:nvPr/>
        </p:nvSpPr>
        <p:spPr>
          <a:xfrm>
            <a:off x="9445752" y="2679192"/>
            <a:ext cx="2194560" cy="338328"/>
          </a:xfrm>
          <a:prstGeom prst="rect">
            <a:avLst/>
          </a:prstGeom>
          <a:noFill/>
        </p:spPr>
        <p:txBody>
          <a:bodyPr wrap="square" lIns="0" tIns="0" rIns="0" bIns="0" anchor="t">
            <a:noAutofit/>
          </a:bodyPr>
          <a:lstStyle/>
          <a:p>
            <a:pPr algn="l"/>
            <a:r>
              <a:rPr lang="en-GB" sz="1000" b="0" i="0">
                <a:solidFill>
                  <a:srgbClr val="A9B0B8"/>
                </a:solidFill>
                <a:latin typeface="Arial"/>
              </a:rPr>
              <a:t>Photo: Rosser1954, CC BY-SA 4.0,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 steam station is big. It has a water tower, coal loading, a signal box and a platform.</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STATIONS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25</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180"/>
                                  </p:stCondLst>
                                  <p:childTnLst>
                                    <p:set>
                                      <p:cBhvr>
                                        <p:cTn id="9" dur="1" fill="hold">
                                          <p:stCondLst>
                                            <p:cond delay="0"/>
                                          </p:stCondLst>
                                        </p:cTn>
                                        <p:tgtEl>
                                          <p:spTgt spid="71"/>
                                        </p:tgtEl>
                                        <p:attrNameLst>
                                          <p:attrName>style.visibility</p:attrName>
                                        </p:attrNameLst>
                                      </p:cBhvr>
                                      <p:to>
                                        <p:strVal val="visible"/>
                                      </p:to>
                                    </p:set>
                                    <p:animEffect transition="in" filter="fade">
                                      <p:cBhvr>
                                        <p:cTn id="10" dur="500"/>
                                        <p:tgtEl>
                                          <p:spTgt spid="71"/>
                                        </p:tgtEl>
                                      </p:cBhvr>
                                    </p:animEffect>
                                  </p:childTnLst>
                                </p:cTn>
                              </p:par>
                              <p:par>
                                <p:cTn id="11" presetID="10" presetClass="entr" presetSubtype="0" fill="hold" nodeType="withEffect">
                                  <p:stCondLst>
                                    <p:cond delay="360"/>
                                  </p:stCondLst>
                                  <p:childTnLst>
                                    <p:set>
                                      <p:cBhvr>
                                        <p:cTn id="12" dur="1" fill="hold">
                                          <p:stCondLst>
                                            <p:cond delay="0"/>
                                          </p:stCondLst>
                                        </p:cTn>
                                        <p:tgtEl>
                                          <p:spTgt spid="72"/>
                                        </p:tgtEl>
                                        <p:attrNameLst>
                                          <p:attrName>style.visibility</p:attrName>
                                        </p:attrNameLst>
                                      </p:cBhvr>
                                      <p:to>
                                        <p:strVal val="visible"/>
                                      </p:to>
                                    </p:set>
                                    <p:animEffect transition="in" filter="fade">
                                      <p:cBhvr>
                                        <p:cTn id="13" dur="500"/>
                                        <p:tgtEl>
                                          <p:spTgt spid="72"/>
                                        </p:tgtEl>
                                      </p:cBhvr>
                                    </p:animEffect>
                                  </p:childTnLst>
                                </p:cTn>
                              </p:par>
                              <p:par>
                                <p:cTn id="14" presetID="10" presetClass="entr" presetSubtype="0" fill="hold" nodeType="withEffect">
                                  <p:stCondLst>
                                    <p:cond delay="540"/>
                                  </p:stCondLst>
                                  <p:childTnLst>
                                    <p:set>
                                      <p:cBhvr>
                                        <p:cTn id="15" dur="1" fill="hold">
                                          <p:stCondLst>
                                            <p:cond delay="0"/>
                                          </p:stCondLst>
                                        </p:cTn>
                                        <p:tgtEl>
                                          <p:spTgt spid="73"/>
                                        </p:tgtEl>
                                        <p:attrNameLst>
                                          <p:attrName>style.visibility</p:attrName>
                                        </p:attrNameLst>
                                      </p:cBhvr>
                                      <p:to>
                                        <p:strVal val="visible"/>
                                      </p:to>
                                    </p:set>
                                    <p:animEffect transition="in" filter="fade">
                                      <p:cBhvr>
                                        <p:cTn id="16" dur="500"/>
                                        <p:tgtEl>
                                          <p:spTgt spid="73"/>
                                        </p:tgtEl>
                                      </p:cBhvr>
                                    </p:animEffect>
                                  </p:childTnLst>
                                </p:cTn>
                              </p:par>
                              <p:par>
                                <p:cTn id="17" presetID="10" presetClass="entr" presetSubtype="0" fill="hold" nodeType="withEffect">
                                  <p:stCondLst>
                                    <p:cond delay="720"/>
                                  </p:stCondLst>
                                  <p:childTnLst>
                                    <p:set>
                                      <p:cBhvr>
                                        <p:cTn id="18" dur="1" fill="hold">
                                          <p:stCondLst>
                                            <p:cond delay="0"/>
                                          </p:stCondLst>
                                        </p:cTn>
                                        <p:tgtEl>
                                          <p:spTgt spid="74"/>
                                        </p:tgtEl>
                                        <p:attrNameLst>
                                          <p:attrName>style.visibility</p:attrName>
                                        </p:attrNameLst>
                                      </p:cBhvr>
                                      <p:to>
                                        <p:strVal val="visible"/>
                                      </p:to>
                                    </p:set>
                                    <p:animEffect transition="in" filter="fade">
                                      <p:cBhvr>
                                        <p:cTn id="19" dur="500"/>
                                        <p:tgtEl>
                                          <p:spTgt spid="74"/>
                                        </p:tgtEl>
                                      </p:cBhvr>
                                    </p:animEffect>
                                  </p:childTnLst>
                                </p:cTn>
                              </p:par>
                              <p:par>
                                <p:cTn id="20" presetID="10" presetClass="entr" presetSubtype="0" fill="hold" nodeType="withEffect">
                                  <p:stCondLst>
                                    <p:cond delay="900"/>
                                  </p:stCondLst>
                                  <p:childTnLst>
                                    <p:set>
                                      <p:cBhvr>
                                        <p:cTn id="21" dur="1" fill="hold">
                                          <p:stCondLst>
                                            <p:cond delay="0"/>
                                          </p:stCondLst>
                                        </p:cTn>
                                        <p:tgtEl>
                                          <p:spTgt spid="75"/>
                                        </p:tgtEl>
                                        <p:attrNameLst>
                                          <p:attrName>style.visibility</p:attrName>
                                        </p:attrNameLst>
                                      </p:cBhvr>
                                      <p:to>
                                        <p:strVal val="visible"/>
                                      </p:to>
                                    </p:set>
                                    <p:animEffect transition="in" filter="fade">
                                      <p:cBhvr>
                                        <p:cTn id="22" dur="500"/>
                                        <p:tgtEl>
                                          <p:spTgt spid="75"/>
                                        </p:tgtEl>
                                      </p:cBhvr>
                                    </p:animEffect>
                                  </p:childTnLst>
                                </p:cTn>
                              </p:par>
                              <p:par>
                                <p:cTn id="23" presetID="10" presetClass="entr" presetSubtype="0" fill="hold" nodeType="withEffect">
                                  <p:stCondLst>
                                    <p:cond delay="1080"/>
                                  </p:stCondLst>
                                  <p:childTnLst>
                                    <p:set>
                                      <p:cBhvr>
                                        <p:cTn id="24" dur="1" fill="hold">
                                          <p:stCondLst>
                                            <p:cond delay="0"/>
                                          </p:stCondLst>
                                        </p:cTn>
                                        <p:tgtEl>
                                          <p:spTgt spid="76"/>
                                        </p:tgtEl>
                                        <p:attrNameLst>
                                          <p:attrName>style.visibility</p:attrName>
                                        </p:attrNameLst>
                                      </p:cBhvr>
                                      <p:to>
                                        <p:strVal val="visible"/>
                                      </p:to>
                                    </p:set>
                                    <p:animEffect transition="in" filter="fade">
                                      <p:cBhvr>
                                        <p:cTn id="25" dur="500"/>
                                        <p:tgtEl>
                                          <p:spTgt spid="76"/>
                                        </p:tgtEl>
                                      </p:cBhvr>
                                    </p:animEffect>
                                  </p:childTnLst>
                                </p:cTn>
                              </p:par>
                              <p:par>
                                <p:cTn id="26" presetID="10" presetClass="entr" presetSubtype="0" fill="hold" nodeType="withEffect">
                                  <p:stCondLst>
                                    <p:cond delay="1260"/>
                                  </p:stCondLst>
                                  <p:childTnLst>
                                    <p:set>
                                      <p:cBhvr>
                                        <p:cTn id="27" dur="1" fill="hold">
                                          <p:stCondLst>
                                            <p:cond delay="0"/>
                                          </p:stCondLst>
                                        </p:cTn>
                                        <p:tgtEl>
                                          <p:spTgt spid="77"/>
                                        </p:tgtEl>
                                        <p:attrNameLst>
                                          <p:attrName>style.visibility</p:attrName>
                                        </p:attrNameLst>
                                      </p:cBhvr>
                                      <p:to>
                                        <p:strVal val="visible"/>
                                      </p:to>
                                    </p:set>
                                    <p:animEffect transition="in" filter="fade">
                                      <p:cBhvr>
                                        <p:cTn id="28" dur="500"/>
                                        <p:tgtEl>
                                          <p:spTgt spid="77"/>
                                        </p:tgtEl>
                                      </p:cBhvr>
                                    </p:animEffect>
                                  </p:childTnLst>
                                </p:cTn>
                              </p:par>
                              <p:par>
                                <p:cTn id="29" presetID="10" presetClass="entr" presetSubtype="0" fill="hold" nodeType="withEffect">
                                  <p:stCondLst>
                                    <p:cond delay="144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par>
                                <p:cTn id="32" presetID="10" presetClass="entr" presetSubtype="0" fill="hold" nodeType="withEffect">
                                  <p:stCondLst>
                                    <p:cond delay="162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Servicing takes time</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Servicing steps" descr="Nine servicing steps: approach slowly, settle into the dock, a long hiss of steam, coal chutes in, the water arm swings round, the machinery finds the hatches, wait while it fills, the machinery folds away (proposed), depart."/>
          <p:cNvGrpSpPr/>
          <p:nvPr/>
        </p:nvGrpSpPr>
        <p:grpSpPr>
          <a:xfrm>
            <a:off x="548640" y="1325880"/>
            <a:ext cx="11082528" cy="2971800"/>
            <a:chOff x="548640" y="1325880"/>
            <a:chExt cx="11082528" cy="2971800"/>
          </a:xfrm>
        </p:grpSpPr>
        <p:sp>
          <p:nvSpPr>
            <p:cNvPr id="9" name="Rounded Rectangle 8"/>
            <p:cNvSpPr/>
            <p:nvPr/>
          </p:nvSpPr>
          <p:spPr>
            <a:xfrm>
              <a:off x="548640" y="1325880"/>
              <a:ext cx="2011680" cy="1325880"/>
            </a:xfrm>
            <a:prstGeom prst="roundRect">
              <a:avLst>
                <a:gd name="adj" fmla="val 5517"/>
              </a:avLst>
            </a:prstGeom>
            <a:solidFill>
              <a:srgbClr val="2B2F36"/>
            </a:solidFill>
            <a:ln>
              <a:noFill/>
            </a:ln>
          </p:spPr>
          <p:txBody>
            <a:bodyPr rtlCol="0" anchor="ctr"/>
            <a:lstStyle/>
            <a:p>
              <a:pPr algn="ctr"/>
              <a:endParaRPr/>
            </a:p>
          </p:txBody>
        </p:sp>
        <p:sp>
          <p:nvSpPr>
            <p:cNvPr id="10" name="Badge 1"/>
            <p:cNvSpPr/>
            <p:nvPr/>
          </p:nvSpPr>
          <p:spPr>
            <a:xfrm>
              <a:off x="640080" y="141732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1</a:t>
              </a:r>
            </a:p>
          </p:txBody>
        </p:sp>
        <p:cxnSp>
          <p:nvCxnSpPr>
            <p:cNvPr id="11" name="Connector 10"/>
            <p:cNvCxnSpPr/>
            <p:nvPr/>
          </p:nvCxnSpPr>
          <p:spPr>
            <a:xfrm>
              <a:off x="1463040" y="1709928"/>
              <a:ext cx="640080" cy="0"/>
            </a:xfrm>
            <a:prstGeom prst="line">
              <a:avLst/>
            </a:prstGeom>
            <a:ln w="38100">
              <a:solidFill>
                <a:srgbClr val="F28C28"/>
              </a:solidFill>
              <a:tailEnd type="triangle" w="lg" len="lg"/>
            </a:ln>
          </p:spPr>
        </p:cxnSp>
        <p:sp>
          <p:nvSpPr>
            <p:cNvPr id="12" name="TextBox 11"/>
            <p:cNvSpPr txBox="1"/>
            <p:nvPr/>
          </p:nvSpPr>
          <p:spPr>
            <a:xfrm>
              <a:off x="658368" y="2039112"/>
              <a:ext cx="1792224" cy="548640"/>
            </a:xfrm>
            <a:prstGeom prst="rect">
              <a:avLst/>
            </a:prstGeom>
            <a:noFill/>
          </p:spPr>
          <p:txBody>
            <a:bodyPr wrap="square" lIns="0" tIns="0" rIns="0" bIns="0" anchor="ctr">
              <a:noAutofit/>
            </a:bodyPr>
            <a:lstStyle/>
            <a:p>
              <a:pPr algn="ctr"/>
              <a:r>
                <a:rPr lang="en-GB" sz="1600" b="0" i="0">
                  <a:solidFill>
                    <a:srgbClr val="F2F2F2"/>
                  </a:solidFill>
                  <a:latin typeface="Arial"/>
                </a:rPr>
                <a:t>Approach slowly</a:t>
              </a:r>
            </a:p>
          </p:txBody>
        </p:sp>
        <p:sp>
          <p:nvSpPr>
            <p:cNvPr id="13" name="Rounded Rectangle 12"/>
            <p:cNvSpPr/>
            <p:nvPr/>
          </p:nvSpPr>
          <p:spPr>
            <a:xfrm>
              <a:off x="2816352" y="1325880"/>
              <a:ext cx="2011680" cy="1325880"/>
            </a:xfrm>
            <a:prstGeom prst="roundRect">
              <a:avLst>
                <a:gd name="adj" fmla="val 5517"/>
              </a:avLst>
            </a:prstGeom>
            <a:solidFill>
              <a:srgbClr val="2B2F36"/>
            </a:solidFill>
            <a:ln>
              <a:noFill/>
            </a:ln>
          </p:spPr>
          <p:txBody>
            <a:bodyPr rtlCol="0" anchor="ctr"/>
            <a:lstStyle/>
            <a:p>
              <a:pPr algn="ctr"/>
              <a:endParaRPr/>
            </a:p>
          </p:txBody>
        </p:sp>
        <p:sp>
          <p:nvSpPr>
            <p:cNvPr id="14" name="Badge 2"/>
            <p:cNvSpPr/>
            <p:nvPr/>
          </p:nvSpPr>
          <p:spPr>
            <a:xfrm>
              <a:off x="2907792" y="141732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2</a:t>
              </a:r>
            </a:p>
          </p:txBody>
        </p:sp>
        <p:sp>
          <p:nvSpPr>
            <p:cNvPr id="15" name="Freeform 14"/>
            <p:cNvSpPr/>
            <p:nvPr/>
          </p:nvSpPr>
          <p:spPr>
            <a:xfrm>
              <a:off x="3730752" y="1527048"/>
              <a:ext cx="640080" cy="365760"/>
            </a:xfrm>
            <a:custGeom>
              <a:avLst/>
              <a:gdLst/>
              <a:ahLst/>
              <a:cxnLst/>
              <a:rect l="l" t="t" r="r" b="b"/>
              <a:pathLst>
                <a:path w="640080" h="365760">
                  <a:moveTo>
                    <a:pt x="0" y="0"/>
                  </a:moveTo>
                  <a:lnTo>
                    <a:pt x="0" y="365760"/>
                  </a:lnTo>
                  <a:lnTo>
                    <a:pt x="640080" y="365760"/>
                  </a:lnTo>
                  <a:lnTo>
                    <a:pt x="640080" y="0"/>
                  </a:lnTo>
                </a:path>
              </a:pathLst>
            </a:custGeom>
            <a:noFill/>
            <a:ln w="38100">
              <a:solidFill>
                <a:srgbClr val="F28C28"/>
              </a:solidFill>
            </a:ln>
          </p:spPr>
          <p:txBody>
            <a:bodyPr rtlCol="0" anchor="ctr"/>
            <a:lstStyle/>
            <a:p>
              <a:pPr algn="ctr"/>
              <a:endParaRPr/>
            </a:p>
          </p:txBody>
        </p:sp>
        <p:sp>
          <p:nvSpPr>
            <p:cNvPr id="16" name="Rounded Rectangle 15"/>
            <p:cNvSpPr/>
            <p:nvPr/>
          </p:nvSpPr>
          <p:spPr>
            <a:xfrm>
              <a:off x="3849624" y="1664208"/>
              <a:ext cx="402336" cy="182880"/>
            </a:xfrm>
            <a:prstGeom prst="roundRect">
              <a:avLst>
                <a:gd name="adj" fmla="val 25000"/>
              </a:avLst>
            </a:prstGeom>
            <a:solidFill>
              <a:srgbClr val="F28C28"/>
            </a:solidFill>
            <a:ln>
              <a:noFill/>
            </a:ln>
          </p:spPr>
          <p:txBody>
            <a:bodyPr rtlCol="0" anchor="ctr"/>
            <a:lstStyle/>
            <a:p>
              <a:pPr algn="ctr"/>
              <a:endParaRPr/>
            </a:p>
          </p:txBody>
        </p:sp>
        <p:sp>
          <p:nvSpPr>
            <p:cNvPr id="17" name="TextBox 16"/>
            <p:cNvSpPr txBox="1"/>
            <p:nvPr/>
          </p:nvSpPr>
          <p:spPr>
            <a:xfrm>
              <a:off x="2926080" y="2039112"/>
              <a:ext cx="1792224" cy="548640"/>
            </a:xfrm>
            <a:prstGeom prst="rect">
              <a:avLst/>
            </a:prstGeom>
            <a:noFill/>
          </p:spPr>
          <p:txBody>
            <a:bodyPr wrap="square" lIns="0" tIns="0" rIns="0" bIns="0" anchor="ctr">
              <a:noAutofit/>
            </a:bodyPr>
            <a:lstStyle/>
            <a:p>
              <a:pPr algn="ctr"/>
              <a:r>
                <a:rPr lang="en-GB" sz="1600" b="0" i="0">
                  <a:solidFill>
                    <a:srgbClr val="F2F2F2"/>
                  </a:solidFill>
                  <a:latin typeface="Arial"/>
                </a:rPr>
                <a:t>Settle into dock</a:t>
              </a:r>
            </a:p>
          </p:txBody>
        </p:sp>
        <p:sp>
          <p:nvSpPr>
            <p:cNvPr id="18" name="Rounded Rectangle 17"/>
            <p:cNvSpPr/>
            <p:nvPr/>
          </p:nvSpPr>
          <p:spPr>
            <a:xfrm>
              <a:off x="5084064" y="1325880"/>
              <a:ext cx="2011680" cy="1325880"/>
            </a:xfrm>
            <a:prstGeom prst="roundRect">
              <a:avLst>
                <a:gd name="adj" fmla="val 5517"/>
              </a:avLst>
            </a:prstGeom>
            <a:solidFill>
              <a:srgbClr val="2B2F36"/>
            </a:solidFill>
            <a:ln>
              <a:noFill/>
            </a:ln>
          </p:spPr>
          <p:txBody>
            <a:bodyPr rtlCol="0" anchor="ctr"/>
            <a:lstStyle/>
            <a:p>
              <a:pPr algn="ctr"/>
              <a:endParaRPr/>
            </a:p>
          </p:txBody>
        </p:sp>
        <p:sp>
          <p:nvSpPr>
            <p:cNvPr id="19" name="Badge 3"/>
            <p:cNvSpPr/>
            <p:nvPr/>
          </p:nvSpPr>
          <p:spPr>
            <a:xfrm>
              <a:off x="5175504" y="141732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3</a:t>
              </a:r>
            </a:p>
          </p:txBody>
        </p:sp>
        <p:sp>
          <p:nvSpPr>
            <p:cNvPr id="20" name="Oval 19"/>
            <p:cNvSpPr/>
            <p:nvPr/>
          </p:nvSpPr>
          <p:spPr>
            <a:xfrm>
              <a:off x="5998464" y="1742389"/>
              <a:ext cx="237744" cy="154534"/>
            </a:xfrm>
            <a:prstGeom prst="ellipse">
              <a:avLst/>
            </a:prstGeom>
            <a:solidFill>
              <a:srgbClr val="D4D5D6"/>
            </a:solidFill>
            <a:ln>
              <a:noFill/>
            </a:ln>
          </p:spPr>
          <p:txBody>
            <a:bodyPr rtlCol="0" anchor="ctr"/>
            <a:lstStyle/>
            <a:p>
              <a:pPr algn="ctr"/>
              <a:endParaRPr/>
            </a:p>
          </p:txBody>
        </p:sp>
        <p:sp>
          <p:nvSpPr>
            <p:cNvPr id="21" name="Oval 20"/>
            <p:cNvSpPr/>
            <p:nvPr/>
          </p:nvSpPr>
          <p:spPr>
            <a:xfrm>
              <a:off x="6172200" y="1596542"/>
              <a:ext cx="292608" cy="190195"/>
            </a:xfrm>
            <a:prstGeom prst="ellipse">
              <a:avLst/>
            </a:prstGeom>
            <a:solidFill>
              <a:srgbClr val="D4D5D6"/>
            </a:solidFill>
            <a:ln>
              <a:noFill/>
            </a:ln>
          </p:spPr>
          <p:txBody>
            <a:bodyPr rtlCol="0" anchor="ctr"/>
            <a:lstStyle/>
            <a:p>
              <a:pPr algn="ctr"/>
              <a:endParaRPr/>
            </a:p>
          </p:txBody>
        </p:sp>
        <p:sp>
          <p:nvSpPr>
            <p:cNvPr id="22" name="Oval 21"/>
            <p:cNvSpPr/>
            <p:nvPr/>
          </p:nvSpPr>
          <p:spPr>
            <a:xfrm>
              <a:off x="6364224" y="1450696"/>
              <a:ext cx="347472" cy="225857"/>
            </a:xfrm>
            <a:prstGeom prst="ellipse">
              <a:avLst/>
            </a:prstGeom>
            <a:solidFill>
              <a:srgbClr val="D4D5D6"/>
            </a:solidFill>
            <a:ln>
              <a:noFill/>
            </a:ln>
          </p:spPr>
          <p:txBody>
            <a:bodyPr rtlCol="0" anchor="ctr"/>
            <a:lstStyle/>
            <a:p>
              <a:pPr algn="ctr"/>
              <a:endParaRPr/>
            </a:p>
          </p:txBody>
        </p:sp>
        <p:sp>
          <p:nvSpPr>
            <p:cNvPr id="23" name="TextBox 22"/>
            <p:cNvSpPr txBox="1"/>
            <p:nvPr/>
          </p:nvSpPr>
          <p:spPr>
            <a:xfrm>
              <a:off x="5193792" y="2039112"/>
              <a:ext cx="1792224" cy="548640"/>
            </a:xfrm>
            <a:prstGeom prst="rect">
              <a:avLst/>
            </a:prstGeom>
            <a:noFill/>
          </p:spPr>
          <p:txBody>
            <a:bodyPr wrap="square" lIns="0" tIns="0" rIns="0" bIns="0" anchor="ctr">
              <a:noAutofit/>
            </a:bodyPr>
            <a:lstStyle/>
            <a:p>
              <a:pPr algn="ctr"/>
              <a:r>
                <a:rPr lang="en-GB" sz="1600" b="0" i="0">
                  <a:solidFill>
                    <a:srgbClr val="F2F2F2"/>
                  </a:solidFill>
                  <a:latin typeface="Arial"/>
                </a:rPr>
                <a:t>Long steam hiss</a:t>
              </a:r>
            </a:p>
          </p:txBody>
        </p:sp>
        <p:sp>
          <p:nvSpPr>
            <p:cNvPr id="24" name="Rounded Rectangle 23"/>
            <p:cNvSpPr/>
            <p:nvPr/>
          </p:nvSpPr>
          <p:spPr>
            <a:xfrm>
              <a:off x="7351776" y="1325880"/>
              <a:ext cx="2011680" cy="1325880"/>
            </a:xfrm>
            <a:prstGeom prst="roundRect">
              <a:avLst>
                <a:gd name="adj" fmla="val 5517"/>
              </a:avLst>
            </a:prstGeom>
            <a:solidFill>
              <a:srgbClr val="2B2F36"/>
            </a:solidFill>
            <a:ln>
              <a:noFill/>
            </a:ln>
          </p:spPr>
          <p:txBody>
            <a:bodyPr rtlCol="0" anchor="ctr"/>
            <a:lstStyle/>
            <a:p>
              <a:pPr algn="ctr"/>
              <a:endParaRPr/>
            </a:p>
          </p:txBody>
        </p:sp>
        <p:sp>
          <p:nvSpPr>
            <p:cNvPr id="25" name="Badge 4"/>
            <p:cNvSpPr/>
            <p:nvPr/>
          </p:nvSpPr>
          <p:spPr>
            <a:xfrm>
              <a:off x="7443216" y="141732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4</a:t>
              </a:r>
            </a:p>
          </p:txBody>
        </p:sp>
        <p:sp>
          <p:nvSpPr>
            <p:cNvPr id="26" name="Freeform 25"/>
            <p:cNvSpPr/>
            <p:nvPr/>
          </p:nvSpPr>
          <p:spPr>
            <a:xfrm>
              <a:off x="8266176" y="1481328"/>
              <a:ext cx="594360" cy="365760"/>
            </a:xfrm>
            <a:custGeom>
              <a:avLst/>
              <a:gdLst/>
              <a:ahLst/>
              <a:cxnLst/>
              <a:rect l="l" t="t" r="r" b="b"/>
              <a:pathLst>
                <a:path w="594360" h="365760">
                  <a:moveTo>
                    <a:pt x="0" y="0"/>
                  </a:moveTo>
                  <a:lnTo>
                    <a:pt x="182880" y="0"/>
                  </a:lnTo>
                  <a:lnTo>
                    <a:pt x="594360" y="365760"/>
                  </a:lnTo>
                  <a:lnTo>
                    <a:pt x="411480" y="365760"/>
                  </a:lnTo>
                  <a:close/>
                </a:path>
              </a:pathLst>
            </a:custGeom>
            <a:solidFill>
              <a:srgbClr val="9AA0A6"/>
            </a:solidFill>
            <a:ln>
              <a:noFill/>
            </a:ln>
          </p:spPr>
          <p:txBody>
            <a:bodyPr rtlCol="0" anchor="ctr"/>
            <a:lstStyle/>
            <a:p>
              <a:pPr algn="ctr"/>
              <a:endParaRPr/>
            </a:p>
          </p:txBody>
        </p:sp>
        <p:sp>
          <p:nvSpPr>
            <p:cNvPr id="27" name="Freeform 26"/>
            <p:cNvSpPr/>
            <p:nvPr/>
          </p:nvSpPr>
          <p:spPr>
            <a:xfrm>
              <a:off x="8238744" y="1353312"/>
              <a:ext cx="329184" cy="128016"/>
            </a:xfrm>
            <a:custGeom>
              <a:avLst/>
              <a:gdLst/>
              <a:ahLst/>
              <a:cxnLst/>
              <a:rect l="l" t="t" r="r" b="b"/>
              <a:pathLst>
                <a:path w="329184" h="128016">
                  <a:moveTo>
                    <a:pt x="0" y="128016"/>
                  </a:moveTo>
                  <a:lnTo>
                    <a:pt x="59253" y="51206"/>
                  </a:lnTo>
                  <a:lnTo>
                    <a:pt x="125090" y="19202"/>
                  </a:lnTo>
                  <a:lnTo>
                    <a:pt x="181051" y="0"/>
                  </a:lnTo>
                  <a:lnTo>
                    <a:pt x="246888" y="38405"/>
                  </a:lnTo>
                  <a:lnTo>
                    <a:pt x="302849" y="76810"/>
                  </a:lnTo>
                  <a:lnTo>
                    <a:pt x="329184" y="128016"/>
                  </a:lnTo>
                  <a:close/>
                </a:path>
              </a:pathLst>
            </a:custGeom>
            <a:solidFill>
              <a:srgbClr val="1B1D21"/>
            </a:solidFill>
            <a:ln w="25400">
              <a:solidFill>
                <a:srgbClr val="6B7078"/>
              </a:solidFill>
            </a:ln>
          </p:spPr>
          <p:txBody>
            <a:bodyPr rtlCol="0" anchor="ctr"/>
            <a:lstStyle/>
            <a:p>
              <a:pPr algn="ctr"/>
              <a:endParaRPr/>
            </a:p>
          </p:txBody>
        </p:sp>
        <p:sp>
          <p:nvSpPr>
            <p:cNvPr id="28" name="TextBox 27"/>
            <p:cNvSpPr txBox="1"/>
            <p:nvPr/>
          </p:nvSpPr>
          <p:spPr>
            <a:xfrm>
              <a:off x="7461504" y="2039112"/>
              <a:ext cx="1792224" cy="548640"/>
            </a:xfrm>
            <a:prstGeom prst="rect">
              <a:avLst/>
            </a:prstGeom>
            <a:noFill/>
          </p:spPr>
          <p:txBody>
            <a:bodyPr wrap="square" lIns="0" tIns="0" rIns="0" bIns="0" anchor="ctr">
              <a:noAutofit/>
            </a:bodyPr>
            <a:lstStyle/>
            <a:p>
              <a:pPr algn="ctr"/>
              <a:r>
                <a:rPr lang="en-GB" sz="1600" b="0" i="0">
                  <a:solidFill>
                    <a:srgbClr val="F2F2F2"/>
                  </a:solidFill>
                  <a:latin typeface="Arial"/>
                </a:rPr>
                <a:t>Coal chutes in</a:t>
              </a:r>
            </a:p>
          </p:txBody>
        </p:sp>
        <p:sp>
          <p:nvSpPr>
            <p:cNvPr id="29" name="Rounded Rectangle 28"/>
            <p:cNvSpPr/>
            <p:nvPr/>
          </p:nvSpPr>
          <p:spPr>
            <a:xfrm>
              <a:off x="9619488" y="1325880"/>
              <a:ext cx="2011680" cy="1325880"/>
            </a:xfrm>
            <a:prstGeom prst="roundRect">
              <a:avLst>
                <a:gd name="adj" fmla="val 5517"/>
              </a:avLst>
            </a:prstGeom>
            <a:solidFill>
              <a:srgbClr val="2B2F36"/>
            </a:solidFill>
            <a:ln>
              <a:noFill/>
            </a:ln>
          </p:spPr>
          <p:txBody>
            <a:bodyPr rtlCol="0" anchor="ctr"/>
            <a:lstStyle/>
            <a:p>
              <a:pPr algn="ctr"/>
              <a:endParaRPr/>
            </a:p>
          </p:txBody>
        </p:sp>
        <p:sp>
          <p:nvSpPr>
            <p:cNvPr id="30" name="Badge 5"/>
            <p:cNvSpPr/>
            <p:nvPr/>
          </p:nvSpPr>
          <p:spPr>
            <a:xfrm>
              <a:off x="9710928" y="141732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5</a:t>
              </a:r>
            </a:p>
          </p:txBody>
        </p:sp>
        <p:sp>
          <p:nvSpPr>
            <p:cNvPr id="31" name="Freeform 30"/>
            <p:cNvSpPr/>
            <p:nvPr/>
          </p:nvSpPr>
          <p:spPr>
            <a:xfrm>
              <a:off x="10448005" y="1527758"/>
              <a:ext cx="640391" cy="301536"/>
            </a:xfrm>
            <a:custGeom>
              <a:avLst/>
              <a:gdLst/>
              <a:ahLst/>
              <a:cxnLst/>
              <a:rect l="l" t="t" r="r" b="b"/>
              <a:pathLst>
                <a:path w="640391" h="301536">
                  <a:moveTo>
                    <a:pt x="0" y="301536"/>
                  </a:moveTo>
                  <a:lnTo>
                    <a:pt x="14968" y="244247"/>
                  </a:lnTo>
                  <a:lnTo>
                    <a:pt x="38985" y="190124"/>
                  </a:lnTo>
                  <a:lnTo>
                    <a:pt x="71420" y="140585"/>
                  </a:lnTo>
                  <a:lnTo>
                    <a:pt x="111423" y="96929"/>
                  </a:lnTo>
                  <a:lnTo>
                    <a:pt x="157946" y="60300"/>
                  </a:lnTo>
                  <a:lnTo>
                    <a:pt x="209771" y="31658"/>
                  </a:lnTo>
                  <a:lnTo>
                    <a:pt x="265537" y="11753"/>
                  </a:lnTo>
                  <a:lnTo>
                    <a:pt x="323785" y="1108"/>
                  </a:lnTo>
                  <a:lnTo>
                    <a:pt x="382987" y="0"/>
                  </a:lnTo>
                  <a:lnTo>
                    <a:pt x="441592" y="8460"/>
                  </a:lnTo>
                  <a:lnTo>
                    <a:pt x="498064" y="26266"/>
                  </a:lnTo>
                  <a:lnTo>
                    <a:pt x="550923" y="52950"/>
                  </a:lnTo>
                  <a:lnTo>
                    <a:pt x="598784" y="87814"/>
                  </a:lnTo>
                  <a:lnTo>
                    <a:pt x="640391" y="129944"/>
                  </a:lnTo>
                </a:path>
              </a:pathLst>
            </a:custGeom>
            <a:noFill/>
            <a:ln w="38100">
              <a:solidFill>
                <a:srgbClr val="F28C28"/>
              </a:solidFill>
              <a:tailEnd type="triangle" w="lg" len="lg"/>
            </a:ln>
          </p:spPr>
          <p:txBody>
            <a:bodyPr rtlCol="0" anchor="ctr"/>
            <a:lstStyle/>
            <a:p>
              <a:pPr algn="ctr"/>
              <a:endParaRPr/>
            </a:p>
          </p:txBody>
        </p:sp>
        <p:sp>
          <p:nvSpPr>
            <p:cNvPr id="32" name="Freeform 31"/>
            <p:cNvSpPr/>
            <p:nvPr/>
          </p:nvSpPr>
          <p:spPr>
            <a:xfrm>
              <a:off x="11056258" y="1719072"/>
              <a:ext cx="143980" cy="193121"/>
            </a:xfrm>
            <a:custGeom>
              <a:avLst/>
              <a:gdLst/>
              <a:ahLst/>
              <a:cxnLst/>
              <a:rect l="l" t="t" r="r" b="b"/>
              <a:pathLst>
                <a:path w="143980" h="193121">
                  <a:moveTo>
                    <a:pt x="3937" y="95932"/>
                  </a:moveTo>
                  <a:lnTo>
                    <a:pt x="0" y="112817"/>
                  </a:lnTo>
                  <a:lnTo>
                    <a:pt x="189" y="130154"/>
                  </a:lnTo>
                  <a:lnTo>
                    <a:pt x="4494" y="146949"/>
                  </a:lnTo>
                  <a:lnTo>
                    <a:pt x="12667" y="162239"/>
                  </a:lnTo>
                  <a:lnTo>
                    <a:pt x="24240" y="175149"/>
                  </a:lnTo>
                  <a:lnTo>
                    <a:pt x="38550" y="184939"/>
                  </a:lnTo>
                  <a:lnTo>
                    <a:pt x="54777" y="191046"/>
                  </a:lnTo>
                  <a:lnTo>
                    <a:pt x="71990" y="193121"/>
                  </a:lnTo>
                  <a:lnTo>
                    <a:pt x="89203" y="191046"/>
                  </a:lnTo>
                  <a:lnTo>
                    <a:pt x="105430" y="184939"/>
                  </a:lnTo>
                  <a:lnTo>
                    <a:pt x="119740" y="175149"/>
                  </a:lnTo>
                  <a:lnTo>
                    <a:pt x="131313" y="162239"/>
                  </a:lnTo>
                  <a:lnTo>
                    <a:pt x="139486" y="146949"/>
                  </a:lnTo>
                  <a:lnTo>
                    <a:pt x="143791" y="130154"/>
                  </a:lnTo>
                  <a:lnTo>
                    <a:pt x="143980" y="112817"/>
                  </a:lnTo>
                  <a:lnTo>
                    <a:pt x="140043" y="95932"/>
                  </a:lnTo>
                  <a:lnTo>
                    <a:pt x="71990" y="0"/>
                  </a:lnTo>
                  <a:close/>
                </a:path>
              </a:pathLst>
            </a:custGeom>
            <a:solidFill>
              <a:srgbClr val="4DA3FF"/>
            </a:solidFill>
            <a:ln>
              <a:noFill/>
            </a:ln>
          </p:spPr>
          <p:txBody>
            <a:bodyPr rtlCol="0" anchor="ctr"/>
            <a:lstStyle/>
            <a:p>
              <a:pPr algn="ctr"/>
              <a:endParaRPr/>
            </a:p>
          </p:txBody>
        </p:sp>
        <p:sp>
          <p:nvSpPr>
            <p:cNvPr id="33" name="TextBox 32"/>
            <p:cNvSpPr txBox="1"/>
            <p:nvPr/>
          </p:nvSpPr>
          <p:spPr>
            <a:xfrm>
              <a:off x="9729216" y="2039112"/>
              <a:ext cx="1792224" cy="548640"/>
            </a:xfrm>
            <a:prstGeom prst="rect">
              <a:avLst/>
            </a:prstGeom>
            <a:noFill/>
          </p:spPr>
          <p:txBody>
            <a:bodyPr wrap="square" lIns="0" tIns="0" rIns="0" bIns="0" anchor="ctr">
              <a:noAutofit/>
            </a:bodyPr>
            <a:lstStyle/>
            <a:p>
              <a:pPr algn="ctr"/>
              <a:r>
                <a:rPr lang="en-GB" sz="1600" b="0" i="0">
                  <a:solidFill>
                    <a:srgbClr val="F2F2F2"/>
                  </a:solidFill>
                  <a:latin typeface="Arial"/>
                </a:rPr>
                <a:t>Water arm swings</a:t>
              </a:r>
            </a:p>
          </p:txBody>
        </p:sp>
        <p:sp>
          <p:nvSpPr>
            <p:cNvPr id="34" name="Rounded Rectangle 33"/>
            <p:cNvSpPr/>
            <p:nvPr/>
          </p:nvSpPr>
          <p:spPr>
            <a:xfrm>
              <a:off x="9619488" y="2971800"/>
              <a:ext cx="2011680" cy="1325880"/>
            </a:xfrm>
            <a:prstGeom prst="roundRect">
              <a:avLst>
                <a:gd name="adj" fmla="val 5517"/>
              </a:avLst>
            </a:prstGeom>
            <a:solidFill>
              <a:srgbClr val="2B2F36"/>
            </a:solidFill>
            <a:ln>
              <a:noFill/>
            </a:ln>
          </p:spPr>
          <p:txBody>
            <a:bodyPr rtlCol="0" anchor="ctr"/>
            <a:lstStyle/>
            <a:p>
              <a:pPr algn="ctr"/>
              <a:endParaRPr/>
            </a:p>
          </p:txBody>
        </p:sp>
        <p:sp>
          <p:nvSpPr>
            <p:cNvPr id="35" name="Badge 6"/>
            <p:cNvSpPr/>
            <p:nvPr/>
          </p:nvSpPr>
          <p:spPr>
            <a:xfrm>
              <a:off x="9710928" y="306324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6</a:t>
              </a:r>
            </a:p>
          </p:txBody>
        </p:sp>
        <p:sp>
          <p:nvSpPr>
            <p:cNvPr id="36" name="Oval 35"/>
            <p:cNvSpPr/>
            <p:nvPr/>
          </p:nvSpPr>
          <p:spPr>
            <a:xfrm>
              <a:off x="10533888" y="3218688"/>
              <a:ext cx="274320" cy="274320"/>
            </a:xfrm>
            <a:prstGeom prst="ellipse">
              <a:avLst/>
            </a:prstGeom>
            <a:noFill/>
            <a:ln w="25400">
              <a:solidFill>
                <a:srgbClr val="F28C28"/>
              </a:solidFill>
            </a:ln>
          </p:spPr>
          <p:txBody>
            <a:bodyPr rtlCol="0" anchor="ctr"/>
            <a:lstStyle/>
            <a:p>
              <a:pPr algn="ctr"/>
              <a:endParaRPr/>
            </a:p>
          </p:txBody>
        </p:sp>
        <p:cxnSp>
          <p:nvCxnSpPr>
            <p:cNvPr id="37" name="Connector 36"/>
            <p:cNvCxnSpPr/>
            <p:nvPr/>
          </p:nvCxnSpPr>
          <p:spPr>
            <a:xfrm>
              <a:off x="10488168" y="3355848"/>
              <a:ext cx="365760" cy="0"/>
            </a:xfrm>
            <a:prstGeom prst="line">
              <a:avLst/>
            </a:prstGeom>
            <a:ln w="19050">
              <a:solidFill>
                <a:srgbClr val="F28C28"/>
              </a:solidFill>
            </a:ln>
          </p:spPr>
        </p:cxnSp>
        <p:cxnSp>
          <p:nvCxnSpPr>
            <p:cNvPr id="38" name="Connector 37"/>
            <p:cNvCxnSpPr/>
            <p:nvPr/>
          </p:nvCxnSpPr>
          <p:spPr>
            <a:xfrm>
              <a:off x="10671048" y="3172968"/>
              <a:ext cx="0" cy="365760"/>
            </a:xfrm>
            <a:prstGeom prst="line">
              <a:avLst/>
            </a:prstGeom>
            <a:ln w="19050">
              <a:solidFill>
                <a:srgbClr val="F28C28"/>
              </a:solidFill>
            </a:ln>
          </p:spPr>
        </p:cxnSp>
        <p:sp>
          <p:nvSpPr>
            <p:cNvPr id="39" name="Oval 38"/>
            <p:cNvSpPr/>
            <p:nvPr/>
          </p:nvSpPr>
          <p:spPr>
            <a:xfrm>
              <a:off x="10899648" y="3218688"/>
              <a:ext cx="274320" cy="274320"/>
            </a:xfrm>
            <a:prstGeom prst="ellipse">
              <a:avLst/>
            </a:prstGeom>
            <a:noFill/>
            <a:ln w="25400">
              <a:solidFill>
                <a:srgbClr val="F28C28"/>
              </a:solidFill>
            </a:ln>
          </p:spPr>
          <p:txBody>
            <a:bodyPr rtlCol="0" anchor="ctr"/>
            <a:lstStyle/>
            <a:p>
              <a:pPr algn="ctr"/>
              <a:endParaRPr/>
            </a:p>
          </p:txBody>
        </p:sp>
        <p:cxnSp>
          <p:nvCxnSpPr>
            <p:cNvPr id="40" name="Connector 39"/>
            <p:cNvCxnSpPr/>
            <p:nvPr/>
          </p:nvCxnSpPr>
          <p:spPr>
            <a:xfrm>
              <a:off x="10853928" y="3355848"/>
              <a:ext cx="365760" cy="0"/>
            </a:xfrm>
            <a:prstGeom prst="line">
              <a:avLst/>
            </a:prstGeom>
            <a:ln w="19050">
              <a:solidFill>
                <a:srgbClr val="F28C28"/>
              </a:solidFill>
            </a:ln>
          </p:spPr>
        </p:cxnSp>
        <p:cxnSp>
          <p:nvCxnSpPr>
            <p:cNvPr id="41" name="Connector 40"/>
            <p:cNvCxnSpPr/>
            <p:nvPr/>
          </p:nvCxnSpPr>
          <p:spPr>
            <a:xfrm>
              <a:off x="11036808" y="3172968"/>
              <a:ext cx="0" cy="365760"/>
            </a:xfrm>
            <a:prstGeom prst="line">
              <a:avLst/>
            </a:prstGeom>
            <a:ln w="19050">
              <a:solidFill>
                <a:srgbClr val="F28C28"/>
              </a:solidFill>
            </a:ln>
          </p:spPr>
        </p:cxnSp>
        <p:sp>
          <p:nvSpPr>
            <p:cNvPr id="42" name="TextBox 41"/>
            <p:cNvSpPr txBox="1"/>
            <p:nvPr/>
          </p:nvSpPr>
          <p:spPr>
            <a:xfrm>
              <a:off x="9729216" y="3685032"/>
              <a:ext cx="1792224" cy="548640"/>
            </a:xfrm>
            <a:prstGeom prst="rect">
              <a:avLst/>
            </a:prstGeom>
            <a:noFill/>
          </p:spPr>
          <p:txBody>
            <a:bodyPr wrap="square" lIns="0" tIns="0" rIns="0" bIns="0" anchor="ctr">
              <a:noAutofit/>
            </a:bodyPr>
            <a:lstStyle/>
            <a:p>
              <a:pPr algn="ctr"/>
              <a:r>
                <a:rPr lang="en-GB" sz="1600" b="0" i="0">
                  <a:solidFill>
                    <a:srgbClr val="F2F2F2"/>
                  </a:solidFill>
                  <a:latin typeface="Arial"/>
                </a:rPr>
                <a:t>Finds the hatches</a:t>
              </a:r>
            </a:p>
          </p:txBody>
        </p:sp>
        <p:sp>
          <p:nvSpPr>
            <p:cNvPr id="43" name="Rounded Rectangle 42"/>
            <p:cNvSpPr/>
            <p:nvPr/>
          </p:nvSpPr>
          <p:spPr>
            <a:xfrm>
              <a:off x="7351776" y="2971800"/>
              <a:ext cx="2011680" cy="1325880"/>
            </a:xfrm>
            <a:prstGeom prst="roundRect">
              <a:avLst>
                <a:gd name="adj" fmla="val 5517"/>
              </a:avLst>
            </a:prstGeom>
            <a:solidFill>
              <a:srgbClr val="2B2F36"/>
            </a:solidFill>
            <a:ln>
              <a:noFill/>
            </a:ln>
          </p:spPr>
          <p:txBody>
            <a:bodyPr rtlCol="0" anchor="ctr"/>
            <a:lstStyle/>
            <a:p>
              <a:pPr algn="ctr"/>
              <a:endParaRPr/>
            </a:p>
          </p:txBody>
        </p:sp>
        <p:sp>
          <p:nvSpPr>
            <p:cNvPr id="44" name="Badge 7"/>
            <p:cNvSpPr/>
            <p:nvPr/>
          </p:nvSpPr>
          <p:spPr>
            <a:xfrm>
              <a:off x="7443216" y="306324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7</a:t>
              </a:r>
            </a:p>
          </p:txBody>
        </p:sp>
        <p:sp>
          <p:nvSpPr>
            <p:cNvPr id="45" name="Oval 44"/>
            <p:cNvSpPr/>
            <p:nvPr/>
          </p:nvSpPr>
          <p:spPr>
            <a:xfrm>
              <a:off x="8357616" y="3127248"/>
              <a:ext cx="457200" cy="457200"/>
            </a:xfrm>
            <a:prstGeom prst="ellipse">
              <a:avLst/>
            </a:prstGeom>
            <a:noFill/>
            <a:ln w="31750">
              <a:solidFill>
                <a:srgbClr val="F28C28"/>
              </a:solidFill>
            </a:ln>
          </p:spPr>
          <p:txBody>
            <a:bodyPr rtlCol="0" anchor="ctr"/>
            <a:lstStyle/>
            <a:p>
              <a:pPr algn="ctr"/>
              <a:endParaRPr/>
            </a:p>
          </p:txBody>
        </p:sp>
        <p:cxnSp>
          <p:nvCxnSpPr>
            <p:cNvPr id="46" name="Connector 45"/>
            <p:cNvCxnSpPr/>
            <p:nvPr/>
          </p:nvCxnSpPr>
          <p:spPr>
            <a:xfrm flipV="1">
              <a:off x="8586216" y="3200400"/>
              <a:ext cx="0" cy="155448"/>
            </a:xfrm>
            <a:prstGeom prst="line">
              <a:avLst/>
            </a:prstGeom>
            <a:ln w="31750">
              <a:solidFill>
                <a:srgbClr val="F2F2F2"/>
              </a:solidFill>
            </a:ln>
          </p:spPr>
        </p:cxnSp>
        <p:cxnSp>
          <p:nvCxnSpPr>
            <p:cNvPr id="47" name="Connector 46"/>
            <p:cNvCxnSpPr/>
            <p:nvPr/>
          </p:nvCxnSpPr>
          <p:spPr>
            <a:xfrm>
              <a:off x="8586216" y="3355848"/>
              <a:ext cx="118872" cy="54864"/>
            </a:xfrm>
            <a:prstGeom prst="line">
              <a:avLst/>
            </a:prstGeom>
            <a:ln w="31750">
              <a:solidFill>
                <a:srgbClr val="F2F2F2"/>
              </a:solidFill>
            </a:ln>
          </p:spPr>
        </p:cxnSp>
        <p:sp>
          <p:nvSpPr>
            <p:cNvPr id="48" name="TextBox 47"/>
            <p:cNvSpPr txBox="1"/>
            <p:nvPr/>
          </p:nvSpPr>
          <p:spPr>
            <a:xfrm>
              <a:off x="7461504" y="3685032"/>
              <a:ext cx="1792224" cy="548640"/>
            </a:xfrm>
            <a:prstGeom prst="rect">
              <a:avLst/>
            </a:prstGeom>
            <a:noFill/>
          </p:spPr>
          <p:txBody>
            <a:bodyPr wrap="square" lIns="0" tIns="0" rIns="0" bIns="0" anchor="ctr">
              <a:noAutofit/>
            </a:bodyPr>
            <a:lstStyle/>
            <a:p>
              <a:pPr algn="ctr"/>
              <a:r>
                <a:rPr lang="en-GB" sz="1600" b="0" i="0">
                  <a:solidFill>
                    <a:srgbClr val="F2F2F2"/>
                  </a:solidFill>
                  <a:latin typeface="Arial"/>
                </a:rPr>
                <a:t>Wait while it fills</a:t>
              </a:r>
            </a:p>
          </p:txBody>
        </p:sp>
        <p:sp>
          <p:nvSpPr>
            <p:cNvPr id="49" name="Rounded Rectangle 48"/>
            <p:cNvSpPr/>
            <p:nvPr/>
          </p:nvSpPr>
          <p:spPr>
            <a:xfrm>
              <a:off x="5084064" y="2971800"/>
              <a:ext cx="2011680" cy="1325880"/>
            </a:xfrm>
            <a:prstGeom prst="roundRect">
              <a:avLst>
                <a:gd name="adj" fmla="val 5517"/>
              </a:avLst>
            </a:prstGeom>
            <a:solidFill>
              <a:srgbClr val="2B2F36"/>
            </a:solidFill>
            <a:ln>
              <a:noFill/>
            </a:ln>
          </p:spPr>
          <p:txBody>
            <a:bodyPr rtlCol="0" anchor="ctr"/>
            <a:lstStyle/>
            <a:p>
              <a:pPr algn="ctr"/>
              <a:endParaRPr/>
            </a:p>
          </p:txBody>
        </p:sp>
        <p:sp>
          <p:nvSpPr>
            <p:cNvPr id="50" name="Badge 8"/>
            <p:cNvSpPr/>
            <p:nvPr/>
          </p:nvSpPr>
          <p:spPr>
            <a:xfrm>
              <a:off x="5175504" y="306324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8</a:t>
              </a:r>
            </a:p>
          </p:txBody>
        </p:sp>
        <p:cxnSp>
          <p:nvCxnSpPr>
            <p:cNvPr id="51" name="Connector 50"/>
            <p:cNvCxnSpPr/>
            <p:nvPr/>
          </p:nvCxnSpPr>
          <p:spPr>
            <a:xfrm flipH="1">
              <a:off x="6044184" y="3218688"/>
              <a:ext cx="548640" cy="0"/>
            </a:xfrm>
            <a:prstGeom prst="line">
              <a:avLst/>
            </a:prstGeom>
            <a:ln w="38100">
              <a:solidFill>
                <a:srgbClr val="F28C28"/>
              </a:solidFill>
              <a:tailEnd type="triangle" w="lg" len="lg"/>
            </a:ln>
          </p:spPr>
        </p:cxnSp>
        <p:sp>
          <p:nvSpPr>
            <p:cNvPr id="52" name="Rectangle 51"/>
            <p:cNvSpPr/>
            <p:nvPr/>
          </p:nvSpPr>
          <p:spPr>
            <a:xfrm>
              <a:off x="5998464" y="3374136"/>
              <a:ext cx="640080" cy="128016"/>
            </a:xfrm>
            <a:prstGeom prst="rect">
              <a:avLst/>
            </a:prstGeom>
            <a:solidFill>
              <a:srgbClr val="9AA0A6"/>
            </a:solidFill>
            <a:ln>
              <a:noFill/>
            </a:ln>
          </p:spPr>
          <p:txBody>
            <a:bodyPr rtlCol="0" anchor="ctr"/>
            <a:lstStyle/>
            <a:p>
              <a:pPr algn="ctr"/>
              <a:endParaRPr/>
            </a:p>
          </p:txBody>
        </p:sp>
        <p:sp>
          <p:nvSpPr>
            <p:cNvPr id="53" name="TextBox 52"/>
            <p:cNvSpPr txBox="1"/>
            <p:nvPr/>
          </p:nvSpPr>
          <p:spPr>
            <a:xfrm>
              <a:off x="5193792" y="3685032"/>
              <a:ext cx="1792224" cy="548640"/>
            </a:xfrm>
            <a:prstGeom prst="rect">
              <a:avLst/>
            </a:prstGeom>
            <a:noFill/>
          </p:spPr>
          <p:txBody>
            <a:bodyPr wrap="square" lIns="0" tIns="0" rIns="0" bIns="0" anchor="ctr">
              <a:noAutofit/>
            </a:bodyPr>
            <a:lstStyle/>
            <a:p>
              <a:pPr algn="ctr"/>
              <a:r>
                <a:rPr lang="en-GB" sz="1600" b="0" i="0">
                  <a:solidFill>
                    <a:srgbClr val="F2F2F2"/>
                  </a:solidFill>
                  <a:latin typeface="Arial"/>
                </a:rPr>
                <a:t>Folds away</a:t>
              </a:r>
            </a:p>
          </p:txBody>
        </p:sp>
        <p:sp>
          <p:nvSpPr>
            <p:cNvPr id="54" name="Inline chip Proposed"/>
            <p:cNvSpPr/>
            <p:nvPr/>
          </p:nvSpPr>
          <p:spPr>
            <a:xfrm>
              <a:off x="5671820" y="2807208"/>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55" name="Rounded Rectangle 54"/>
            <p:cNvSpPr/>
            <p:nvPr/>
          </p:nvSpPr>
          <p:spPr>
            <a:xfrm>
              <a:off x="2816352" y="2971800"/>
              <a:ext cx="2011680" cy="1325880"/>
            </a:xfrm>
            <a:prstGeom prst="roundRect">
              <a:avLst>
                <a:gd name="adj" fmla="val 5517"/>
              </a:avLst>
            </a:prstGeom>
            <a:solidFill>
              <a:srgbClr val="2B2F36"/>
            </a:solidFill>
            <a:ln>
              <a:noFill/>
            </a:ln>
          </p:spPr>
          <p:txBody>
            <a:bodyPr rtlCol="0" anchor="ctr"/>
            <a:lstStyle/>
            <a:p>
              <a:pPr algn="ctr"/>
              <a:endParaRPr/>
            </a:p>
          </p:txBody>
        </p:sp>
        <p:sp>
          <p:nvSpPr>
            <p:cNvPr id="56" name="Badge 9"/>
            <p:cNvSpPr/>
            <p:nvPr/>
          </p:nvSpPr>
          <p:spPr>
            <a:xfrm>
              <a:off x="2907792" y="306324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9</a:t>
              </a:r>
            </a:p>
          </p:txBody>
        </p:sp>
        <p:sp>
          <p:nvSpPr>
            <p:cNvPr id="57" name="Rounded Rectangle 56"/>
            <p:cNvSpPr/>
            <p:nvPr/>
          </p:nvSpPr>
          <p:spPr>
            <a:xfrm>
              <a:off x="3730752" y="3218688"/>
              <a:ext cx="502920" cy="274320"/>
            </a:xfrm>
            <a:prstGeom prst="roundRect">
              <a:avLst>
                <a:gd name="adj" fmla="val 16666"/>
              </a:avLst>
            </a:prstGeom>
            <a:solidFill>
              <a:srgbClr val="F28C28"/>
            </a:solidFill>
            <a:ln>
              <a:noFill/>
            </a:ln>
          </p:spPr>
          <p:txBody>
            <a:bodyPr rtlCol="0" anchor="ctr"/>
            <a:lstStyle/>
            <a:p>
              <a:pPr algn="ctr"/>
              <a:endParaRPr/>
            </a:p>
          </p:txBody>
        </p:sp>
        <p:sp>
          <p:nvSpPr>
            <p:cNvPr id="58" name="Rectangle 57"/>
            <p:cNvSpPr/>
            <p:nvPr/>
          </p:nvSpPr>
          <p:spPr>
            <a:xfrm>
              <a:off x="4096512" y="3081528"/>
              <a:ext cx="91440" cy="146304"/>
            </a:xfrm>
            <a:prstGeom prst="rect">
              <a:avLst/>
            </a:prstGeom>
            <a:solidFill>
              <a:srgbClr val="1B1D21"/>
            </a:solidFill>
            <a:ln>
              <a:noFill/>
            </a:ln>
          </p:spPr>
          <p:txBody>
            <a:bodyPr rtlCol="0" anchor="ctr"/>
            <a:lstStyle/>
            <a:p>
              <a:pPr algn="ctr"/>
              <a:endParaRPr/>
            </a:p>
          </p:txBody>
        </p:sp>
        <p:cxnSp>
          <p:nvCxnSpPr>
            <p:cNvPr id="59" name="Connector 58"/>
            <p:cNvCxnSpPr/>
            <p:nvPr/>
          </p:nvCxnSpPr>
          <p:spPr>
            <a:xfrm>
              <a:off x="4251960" y="3355848"/>
              <a:ext cx="182880" cy="0"/>
            </a:xfrm>
            <a:prstGeom prst="line">
              <a:avLst/>
            </a:prstGeom>
            <a:ln w="31750">
              <a:solidFill>
                <a:srgbClr val="F2F2F2"/>
              </a:solidFill>
              <a:tailEnd type="triangle" w="lg" len="lg"/>
            </a:ln>
          </p:spPr>
        </p:cxnSp>
        <p:sp>
          <p:nvSpPr>
            <p:cNvPr id="60" name="TextBox 59"/>
            <p:cNvSpPr txBox="1"/>
            <p:nvPr/>
          </p:nvSpPr>
          <p:spPr>
            <a:xfrm>
              <a:off x="2926080" y="3685032"/>
              <a:ext cx="1792224" cy="548640"/>
            </a:xfrm>
            <a:prstGeom prst="rect">
              <a:avLst/>
            </a:prstGeom>
            <a:noFill/>
          </p:spPr>
          <p:txBody>
            <a:bodyPr wrap="square" lIns="0" tIns="0" rIns="0" bIns="0" anchor="ctr">
              <a:noAutofit/>
            </a:bodyPr>
            <a:lstStyle/>
            <a:p>
              <a:pPr algn="ctr"/>
              <a:r>
                <a:rPr lang="en-GB" sz="1600" b="0" i="0">
                  <a:solidFill>
                    <a:srgbClr val="F2F2F2"/>
                  </a:solidFill>
                  <a:latin typeface="Arial"/>
                </a:rPr>
                <a:t>Depart</a:t>
              </a:r>
            </a:p>
          </p:txBody>
        </p:sp>
        <p:cxnSp>
          <p:nvCxnSpPr>
            <p:cNvPr id="61" name="Connector 60"/>
            <p:cNvCxnSpPr/>
            <p:nvPr/>
          </p:nvCxnSpPr>
          <p:spPr>
            <a:xfrm>
              <a:off x="2587752" y="1984248"/>
              <a:ext cx="201168" cy="0"/>
            </a:xfrm>
            <a:prstGeom prst="line">
              <a:avLst/>
            </a:prstGeom>
            <a:ln w="28575">
              <a:solidFill>
                <a:srgbClr val="F28C28"/>
              </a:solidFill>
              <a:tailEnd type="triangle" w="lg" len="lg"/>
            </a:ln>
          </p:spPr>
        </p:cxnSp>
        <p:cxnSp>
          <p:nvCxnSpPr>
            <p:cNvPr id="62" name="Connector 61"/>
            <p:cNvCxnSpPr/>
            <p:nvPr/>
          </p:nvCxnSpPr>
          <p:spPr>
            <a:xfrm>
              <a:off x="4855464" y="1984248"/>
              <a:ext cx="201168" cy="0"/>
            </a:xfrm>
            <a:prstGeom prst="line">
              <a:avLst/>
            </a:prstGeom>
            <a:ln w="28575">
              <a:solidFill>
                <a:srgbClr val="F28C28"/>
              </a:solidFill>
              <a:tailEnd type="triangle" w="lg" len="lg"/>
            </a:ln>
          </p:spPr>
        </p:cxnSp>
        <p:cxnSp>
          <p:nvCxnSpPr>
            <p:cNvPr id="63" name="Connector 62"/>
            <p:cNvCxnSpPr/>
            <p:nvPr/>
          </p:nvCxnSpPr>
          <p:spPr>
            <a:xfrm>
              <a:off x="7123176" y="1984248"/>
              <a:ext cx="201168" cy="0"/>
            </a:xfrm>
            <a:prstGeom prst="line">
              <a:avLst/>
            </a:prstGeom>
            <a:ln w="28575">
              <a:solidFill>
                <a:srgbClr val="F28C28"/>
              </a:solidFill>
              <a:tailEnd type="triangle" w="lg" len="lg"/>
            </a:ln>
          </p:spPr>
        </p:cxnSp>
        <p:cxnSp>
          <p:nvCxnSpPr>
            <p:cNvPr id="64" name="Connector 63"/>
            <p:cNvCxnSpPr/>
            <p:nvPr/>
          </p:nvCxnSpPr>
          <p:spPr>
            <a:xfrm>
              <a:off x="9390888" y="1984248"/>
              <a:ext cx="201168" cy="0"/>
            </a:xfrm>
            <a:prstGeom prst="line">
              <a:avLst/>
            </a:prstGeom>
            <a:ln w="28575">
              <a:solidFill>
                <a:srgbClr val="F28C28"/>
              </a:solidFill>
              <a:tailEnd type="triangle" w="lg" len="lg"/>
            </a:ln>
          </p:spPr>
        </p:cxnSp>
        <p:cxnSp>
          <p:nvCxnSpPr>
            <p:cNvPr id="65" name="Connector 64"/>
            <p:cNvCxnSpPr/>
            <p:nvPr/>
          </p:nvCxnSpPr>
          <p:spPr>
            <a:xfrm>
              <a:off x="10625328" y="2679192"/>
              <a:ext cx="0" cy="265176"/>
            </a:xfrm>
            <a:prstGeom prst="line">
              <a:avLst/>
            </a:prstGeom>
            <a:ln w="28575">
              <a:solidFill>
                <a:srgbClr val="F28C28"/>
              </a:solidFill>
              <a:tailEnd type="triangle" w="lg" len="lg"/>
            </a:ln>
          </p:spPr>
        </p:cxnSp>
        <p:cxnSp>
          <p:nvCxnSpPr>
            <p:cNvPr id="66" name="Connector 65"/>
            <p:cNvCxnSpPr/>
            <p:nvPr/>
          </p:nvCxnSpPr>
          <p:spPr>
            <a:xfrm flipH="1">
              <a:off x="9390888" y="3630168"/>
              <a:ext cx="201168" cy="0"/>
            </a:xfrm>
            <a:prstGeom prst="line">
              <a:avLst/>
            </a:prstGeom>
            <a:ln w="28575">
              <a:solidFill>
                <a:srgbClr val="F28C28"/>
              </a:solidFill>
              <a:tailEnd type="triangle" w="lg" len="lg"/>
            </a:ln>
          </p:spPr>
        </p:cxnSp>
        <p:cxnSp>
          <p:nvCxnSpPr>
            <p:cNvPr id="67" name="Connector 66"/>
            <p:cNvCxnSpPr/>
            <p:nvPr/>
          </p:nvCxnSpPr>
          <p:spPr>
            <a:xfrm flipH="1">
              <a:off x="7123176" y="3630168"/>
              <a:ext cx="201168" cy="0"/>
            </a:xfrm>
            <a:prstGeom prst="line">
              <a:avLst/>
            </a:prstGeom>
            <a:ln w="28575">
              <a:solidFill>
                <a:srgbClr val="F28C28"/>
              </a:solidFill>
              <a:tailEnd type="triangle" w="lg" len="lg"/>
            </a:ln>
          </p:spPr>
        </p:cxnSp>
        <p:cxnSp>
          <p:nvCxnSpPr>
            <p:cNvPr id="68" name="Connector 67"/>
            <p:cNvCxnSpPr/>
            <p:nvPr/>
          </p:nvCxnSpPr>
          <p:spPr>
            <a:xfrm flipH="1">
              <a:off x="4855464" y="3630168"/>
              <a:ext cx="201168" cy="0"/>
            </a:xfrm>
            <a:prstGeom prst="line">
              <a:avLst/>
            </a:prstGeom>
            <a:ln w="28575">
              <a:solidFill>
                <a:srgbClr val="F28C28"/>
              </a:solidFill>
              <a:tailEnd type="triangle" w="lg" len="lg"/>
            </a:ln>
          </p:spPr>
        </p:cxnSp>
      </p:grpSp>
      <p:grpSp>
        <p:nvGrpSpPr>
          <p:cNvPr id="69" name="Stop time" descr="Qualitative stop-time bars: a long stop for empty tanks, a short stop for a small top-up. Rates and times are proposed or provisional."/>
          <p:cNvGrpSpPr/>
          <p:nvPr/>
        </p:nvGrpSpPr>
        <p:grpSpPr>
          <a:xfrm>
            <a:off x="676656" y="4480560"/>
            <a:ext cx="7644384" cy="594360"/>
            <a:chOff x="676656" y="4480560"/>
            <a:chExt cx="7644384" cy="594360"/>
          </a:xfrm>
        </p:grpSpPr>
        <p:sp>
          <p:nvSpPr>
            <p:cNvPr id="70" name="Oval 69"/>
            <p:cNvSpPr/>
            <p:nvPr/>
          </p:nvSpPr>
          <p:spPr>
            <a:xfrm>
              <a:off x="676656" y="4562856"/>
              <a:ext cx="384048" cy="384048"/>
            </a:xfrm>
            <a:prstGeom prst="ellipse">
              <a:avLst/>
            </a:prstGeom>
            <a:noFill/>
            <a:ln w="31750">
              <a:solidFill>
                <a:srgbClr val="F28C28"/>
              </a:solidFill>
            </a:ln>
          </p:spPr>
          <p:txBody>
            <a:bodyPr rtlCol="0" anchor="ctr"/>
            <a:lstStyle/>
            <a:p>
              <a:pPr algn="ctr"/>
              <a:endParaRPr/>
            </a:p>
          </p:txBody>
        </p:sp>
        <p:cxnSp>
          <p:nvCxnSpPr>
            <p:cNvPr id="71" name="Connector 70"/>
            <p:cNvCxnSpPr/>
            <p:nvPr/>
          </p:nvCxnSpPr>
          <p:spPr>
            <a:xfrm flipV="1">
              <a:off x="868680" y="4626864"/>
              <a:ext cx="0" cy="128016"/>
            </a:xfrm>
            <a:prstGeom prst="line">
              <a:avLst/>
            </a:prstGeom>
            <a:ln w="25400">
              <a:solidFill>
                <a:srgbClr val="F2F2F2"/>
              </a:solidFill>
            </a:ln>
          </p:spPr>
        </p:cxnSp>
        <p:cxnSp>
          <p:nvCxnSpPr>
            <p:cNvPr id="72" name="Connector 71"/>
            <p:cNvCxnSpPr/>
            <p:nvPr/>
          </p:nvCxnSpPr>
          <p:spPr>
            <a:xfrm>
              <a:off x="868680" y="4754880"/>
              <a:ext cx="100584" cy="45720"/>
            </a:xfrm>
            <a:prstGeom prst="line">
              <a:avLst/>
            </a:prstGeom>
            <a:ln w="25400">
              <a:solidFill>
                <a:srgbClr val="F2F2F2"/>
              </a:solidFill>
            </a:ln>
          </p:spPr>
        </p:cxnSp>
        <p:sp>
          <p:nvSpPr>
            <p:cNvPr id="73" name="TextBox 72"/>
            <p:cNvSpPr txBox="1"/>
            <p:nvPr/>
          </p:nvSpPr>
          <p:spPr>
            <a:xfrm>
              <a:off x="1234440" y="4480560"/>
              <a:ext cx="1645920" cy="274320"/>
            </a:xfrm>
            <a:prstGeom prst="rect">
              <a:avLst/>
            </a:prstGeom>
            <a:noFill/>
          </p:spPr>
          <p:txBody>
            <a:bodyPr wrap="square" lIns="0" tIns="0" rIns="0" bIns="0" anchor="ctr">
              <a:noAutofit/>
            </a:bodyPr>
            <a:lstStyle/>
            <a:p>
              <a:pPr algn="l"/>
              <a:r>
                <a:rPr lang="en-GB" sz="1400" b="0" i="0">
                  <a:solidFill>
                    <a:srgbClr val="F2F2F2"/>
                  </a:solidFill>
                  <a:latin typeface="Arial"/>
                </a:rPr>
                <a:t>Empty tanks</a:t>
              </a:r>
            </a:p>
          </p:txBody>
        </p:sp>
        <p:sp>
          <p:nvSpPr>
            <p:cNvPr id="74" name="Rounded Rectangle 73"/>
            <p:cNvSpPr/>
            <p:nvPr/>
          </p:nvSpPr>
          <p:spPr>
            <a:xfrm>
              <a:off x="2834640" y="4526280"/>
              <a:ext cx="5486400" cy="182880"/>
            </a:xfrm>
            <a:prstGeom prst="roundRect">
              <a:avLst>
                <a:gd name="adj" fmla="val 20000"/>
              </a:avLst>
            </a:prstGeom>
            <a:solidFill>
              <a:srgbClr val="343A43"/>
            </a:solidFill>
            <a:ln>
              <a:noFill/>
            </a:ln>
          </p:spPr>
          <p:txBody>
            <a:bodyPr rtlCol="0" anchor="ctr"/>
            <a:lstStyle/>
            <a:p>
              <a:pPr algn="ctr"/>
              <a:endParaRPr/>
            </a:p>
          </p:txBody>
        </p:sp>
        <p:sp>
          <p:nvSpPr>
            <p:cNvPr id="75" name="Rounded Rectangle 74"/>
            <p:cNvSpPr/>
            <p:nvPr/>
          </p:nvSpPr>
          <p:spPr>
            <a:xfrm>
              <a:off x="2834640" y="4526280"/>
              <a:ext cx="4937760" cy="182880"/>
            </a:xfrm>
            <a:prstGeom prst="roundRect">
              <a:avLst>
                <a:gd name="adj" fmla="val 20000"/>
              </a:avLst>
            </a:prstGeom>
            <a:solidFill>
              <a:srgbClr val="F28C28"/>
            </a:solidFill>
            <a:ln>
              <a:noFill/>
            </a:ln>
          </p:spPr>
          <p:txBody>
            <a:bodyPr rtlCol="0" anchor="ctr"/>
            <a:lstStyle/>
            <a:p>
              <a:pPr algn="ctr"/>
              <a:endParaRPr/>
            </a:p>
          </p:txBody>
        </p:sp>
        <p:sp>
          <p:nvSpPr>
            <p:cNvPr id="76" name="TextBox 75"/>
            <p:cNvSpPr txBox="1"/>
            <p:nvPr/>
          </p:nvSpPr>
          <p:spPr>
            <a:xfrm>
              <a:off x="1234440" y="4800600"/>
              <a:ext cx="1645920" cy="274320"/>
            </a:xfrm>
            <a:prstGeom prst="rect">
              <a:avLst/>
            </a:prstGeom>
            <a:noFill/>
          </p:spPr>
          <p:txBody>
            <a:bodyPr wrap="square" lIns="0" tIns="0" rIns="0" bIns="0" anchor="ctr">
              <a:noAutofit/>
            </a:bodyPr>
            <a:lstStyle/>
            <a:p>
              <a:pPr algn="l"/>
              <a:r>
                <a:rPr lang="en-GB" sz="1400" b="0" i="0">
                  <a:solidFill>
                    <a:srgbClr val="F2F2F2"/>
                  </a:solidFill>
                  <a:latin typeface="Arial"/>
                </a:rPr>
                <a:t>Small top-up</a:t>
              </a:r>
            </a:p>
          </p:txBody>
        </p:sp>
        <p:sp>
          <p:nvSpPr>
            <p:cNvPr id="77" name="Rounded Rectangle 76"/>
            <p:cNvSpPr/>
            <p:nvPr/>
          </p:nvSpPr>
          <p:spPr>
            <a:xfrm>
              <a:off x="2834640" y="4846320"/>
              <a:ext cx="5486400" cy="182880"/>
            </a:xfrm>
            <a:prstGeom prst="roundRect">
              <a:avLst>
                <a:gd name="adj" fmla="val 20000"/>
              </a:avLst>
            </a:prstGeom>
            <a:solidFill>
              <a:srgbClr val="343A43"/>
            </a:solidFill>
            <a:ln>
              <a:noFill/>
            </a:ln>
          </p:spPr>
          <p:txBody>
            <a:bodyPr rtlCol="0" anchor="ctr"/>
            <a:lstStyle/>
            <a:p>
              <a:pPr algn="ctr"/>
              <a:endParaRPr/>
            </a:p>
          </p:txBody>
        </p:sp>
        <p:sp>
          <p:nvSpPr>
            <p:cNvPr id="78" name="Rounded Rectangle 77"/>
            <p:cNvSpPr/>
            <p:nvPr/>
          </p:nvSpPr>
          <p:spPr>
            <a:xfrm>
              <a:off x="2834640" y="4846320"/>
              <a:ext cx="1188720" cy="182880"/>
            </a:xfrm>
            <a:prstGeom prst="roundRect">
              <a:avLst>
                <a:gd name="adj" fmla="val 20000"/>
              </a:avLst>
            </a:prstGeom>
            <a:solidFill>
              <a:srgbClr val="F28C28"/>
            </a:solidFill>
            <a:ln>
              <a:noFill/>
            </a:ln>
          </p:spPr>
          <p:txBody>
            <a:bodyPr rtlCol="0" anchor="ctr"/>
            <a:lstStyle/>
            <a:p>
              <a:pPr algn="ctr"/>
              <a:endParaRPr/>
            </a:p>
          </p:txBody>
        </p:sp>
      </p:grpSp>
      <p:sp>
        <p:nvSpPr>
          <p:cNvPr id="79" name="TextBox 78"/>
          <p:cNvSpPr txBox="1"/>
          <p:nvPr/>
        </p:nvSpPr>
        <p:spPr>
          <a:xfrm>
            <a:off x="8549640" y="4462272"/>
            <a:ext cx="2011680" cy="292608"/>
          </a:xfrm>
          <a:prstGeom prst="rect">
            <a:avLst/>
          </a:prstGeom>
          <a:noFill/>
        </p:spPr>
        <p:txBody>
          <a:bodyPr wrap="square" lIns="0" tIns="0" rIns="0" bIns="0" anchor="ctr">
            <a:noAutofit/>
          </a:bodyPr>
          <a:lstStyle/>
          <a:p>
            <a:pPr algn="l"/>
            <a:r>
              <a:rPr lang="en-GB" sz="1400" b="0" i="0">
                <a:solidFill>
                  <a:srgbClr val="F2F2F2"/>
                </a:solidFill>
                <a:latin typeface="Arial"/>
              </a:rPr>
              <a:t>Rates and times:</a:t>
            </a:r>
          </a:p>
        </p:txBody>
      </p:sp>
      <p:sp>
        <p:nvSpPr>
          <p:cNvPr id="80" name="Inline chip Proposed"/>
          <p:cNvSpPr/>
          <p:nvPr/>
        </p:nvSpPr>
        <p:spPr>
          <a:xfrm>
            <a:off x="8549640" y="4773168"/>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81" name="Inline chip Provisional"/>
          <p:cNvSpPr/>
          <p:nvPr/>
        </p:nvSpPr>
        <p:spPr>
          <a:xfrm>
            <a:off x="10010140" y="4773168"/>
            <a:ext cx="1588135" cy="329184"/>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The machinery finds each engine's hatches. Servicing takes visible time. Then it folds away.</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STATIONS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26</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57"/>
                                  </p:stCondLst>
                                  <p:childTnLst>
                                    <p:set>
                                      <p:cBhvr>
                                        <p:cTn id="9" dur="1" fill="hold">
                                          <p:stCondLst>
                                            <p:cond delay="0"/>
                                          </p:stCondLst>
                                        </p:cTn>
                                        <p:tgtEl>
                                          <p:spTgt spid="69"/>
                                        </p:tgtEl>
                                        <p:attrNameLst>
                                          <p:attrName>style.visibility</p:attrName>
                                        </p:attrNameLst>
                                      </p:cBhvr>
                                      <p:to>
                                        <p:strVal val="visible"/>
                                      </p:to>
                                    </p:set>
                                    <p:animEffect transition="in" filter="fade">
                                      <p:cBhvr>
                                        <p:cTn id="10" dur="500"/>
                                        <p:tgtEl>
                                          <p:spTgt spid="69"/>
                                        </p:tgtEl>
                                      </p:cBhvr>
                                    </p:animEffect>
                                  </p:childTnLst>
                                </p:cTn>
                              </p:par>
                              <p:par>
                                <p:cTn id="11" presetID="10" presetClass="entr" presetSubtype="0" fill="hold" nodeType="withEffect">
                                  <p:stCondLst>
                                    <p:cond delay="514"/>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500"/>
                                        <p:tgtEl>
                                          <p:spTgt spid="79"/>
                                        </p:tgtEl>
                                      </p:cBhvr>
                                    </p:animEffect>
                                  </p:childTnLst>
                                </p:cTn>
                              </p:par>
                              <p:par>
                                <p:cTn id="14" presetID="10" presetClass="entr" presetSubtype="0" fill="hold" nodeType="withEffect">
                                  <p:stCondLst>
                                    <p:cond delay="771"/>
                                  </p:stCondLst>
                                  <p:childTnLst>
                                    <p:set>
                                      <p:cBhvr>
                                        <p:cTn id="15" dur="1" fill="hold">
                                          <p:stCondLst>
                                            <p:cond delay="0"/>
                                          </p:stCondLst>
                                        </p:cTn>
                                        <p:tgtEl>
                                          <p:spTgt spid="80"/>
                                        </p:tgtEl>
                                        <p:attrNameLst>
                                          <p:attrName>style.visibility</p:attrName>
                                        </p:attrNameLst>
                                      </p:cBhvr>
                                      <p:to>
                                        <p:strVal val="visible"/>
                                      </p:to>
                                    </p:set>
                                    <p:animEffect transition="in" filter="fade">
                                      <p:cBhvr>
                                        <p:cTn id="16" dur="500"/>
                                        <p:tgtEl>
                                          <p:spTgt spid="80"/>
                                        </p:tgtEl>
                                      </p:cBhvr>
                                    </p:animEffect>
                                  </p:childTnLst>
                                </p:cTn>
                              </p:par>
                              <p:par>
                                <p:cTn id="17" presetID="10" presetClass="entr" presetSubtype="0" fill="hold" nodeType="withEffect">
                                  <p:stCondLst>
                                    <p:cond delay="1028"/>
                                  </p:stCondLst>
                                  <p:childTnLst>
                                    <p:set>
                                      <p:cBhvr>
                                        <p:cTn id="18" dur="1" fill="hold">
                                          <p:stCondLst>
                                            <p:cond delay="0"/>
                                          </p:stCondLst>
                                        </p:cTn>
                                        <p:tgtEl>
                                          <p:spTgt spid="81"/>
                                        </p:tgtEl>
                                        <p:attrNameLst>
                                          <p:attrName>style.visibility</p:attrName>
                                        </p:attrNameLst>
                                      </p:cBhvr>
                                      <p:to>
                                        <p:strVal val="visible"/>
                                      </p:to>
                                    </p:set>
                                    <p:animEffect transition="in" filter="fade">
                                      <p:cBhvr>
                                        <p:cTn id="19" dur="500"/>
                                        <p:tgtEl>
                                          <p:spTgt spid="81"/>
                                        </p:tgtEl>
                                      </p:cBhvr>
                                    </p:animEffect>
                                  </p:childTnLst>
                                </p:cTn>
                              </p:par>
                              <p:par>
                                <p:cTn id="20" presetID="10" presetClass="entr" presetSubtype="0" fill="hold" nodeType="withEffect">
                                  <p:stCondLst>
                                    <p:cond delay="1285"/>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nodeType="withEffect">
                                  <p:stCondLst>
                                    <p:cond delay="1542"/>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Service points</a:t>
            </a:r>
          </a:p>
        </p:txBody>
      </p:sp>
      <p:sp>
        <p:nvSpPr>
          <p:cNvPr id="3" name="Status chip"/>
          <p:cNvSpPr/>
          <p:nvPr/>
        </p:nvSpPr>
        <p:spPr>
          <a:xfrm>
            <a:off x="10088575" y="457200"/>
            <a:ext cx="1554480" cy="365760"/>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grpSp>
        <p:nvGrpSpPr>
          <p:cNvPr id="9" name="Service point types" descr="Four proposed service point types: water tower, coaling stage, steam service point with water and coal, and full station with platform, water, coal and signal box."/>
          <p:cNvGrpSpPr/>
          <p:nvPr/>
        </p:nvGrpSpPr>
        <p:grpSpPr>
          <a:xfrm>
            <a:off x="548640" y="1371600"/>
            <a:ext cx="11091672" cy="2194560"/>
            <a:chOff x="548640" y="1371600"/>
            <a:chExt cx="11091672" cy="2194560"/>
          </a:xfrm>
        </p:grpSpPr>
        <p:sp>
          <p:nvSpPr>
            <p:cNvPr id="10" name="Rounded Rectangle 9"/>
            <p:cNvSpPr/>
            <p:nvPr/>
          </p:nvSpPr>
          <p:spPr>
            <a:xfrm>
              <a:off x="548640" y="1371600"/>
              <a:ext cx="2560320" cy="2194560"/>
            </a:xfrm>
            <a:prstGeom prst="roundRect">
              <a:avLst>
                <a:gd name="adj" fmla="val 4166"/>
              </a:avLst>
            </a:prstGeom>
            <a:solidFill>
              <a:srgbClr val="2B2F36"/>
            </a:solidFill>
            <a:ln>
              <a:noFill/>
            </a:ln>
          </p:spPr>
          <p:txBody>
            <a:bodyPr rtlCol="0" anchor="ctr"/>
            <a:lstStyle/>
            <a:p>
              <a:pPr algn="ctr"/>
              <a:endParaRPr/>
            </a:p>
          </p:txBody>
        </p:sp>
        <p:sp>
          <p:nvSpPr>
            <p:cNvPr id="11" name="Freeform 10"/>
            <p:cNvSpPr/>
            <p:nvPr/>
          </p:nvSpPr>
          <p:spPr>
            <a:xfrm>
              <a:off x="1648825" y="2080260"/>
              <a:ext cx="359950" cy="482803"/>
            </a:xfrm>
            <a:custGeom>
              <a:avLst/>
              <a:gdLst/>
              <a:ahLst/>
              <a:cxnLst/>
              <a:rect l="l" t="t" r="r" b="b"/>
              <a:pathLst>
                <a:path w="359950" h="482803">
                  <a:moveTo>
                    <a:pt x="9843" y="239829"/>
                  </a:moveTo>
                  <a:lnTo>
                    <a:pt x="0" y="282042"/>
                  </a:lnTo>
                  <a:lnTo>
                    <a:pt x="473" y="325384"/>
                  </a:lnTo>
                  <a:lnTo>
                    <a:pt x="11234" y="367372"/>
                  </a:lnTo>
                  <a:lnTo>
                    <a:pt x="31667" y="405599"/>
                  </a:lnTo>
                  <a:lnTo>
                    <a:pt x="60600" y="437873"/>
                  </a:lnTo>
                  <a:lnTo>
                    <a:pt x="96375" y="462346"/>
                  </a:lnTo>
                  <a:lnTo>
                    <a:pt x="136942" y="477615"/>
                  </a:lnTo>
                  <a:lnTo>
                    <a:pt x="179975" y="482803"/>
                  </a:lnTo>
                  <a:lnTo>
                    <a:pt x="223008" y="477615"/>
                  </a:lnTo>
                  <a:lnTo>
                    <a:pt x="263575" y="462346"/>
                  </a:lnTo>
                  <a:lnTo>
                    <a:pt x="299350" y="437873"/>
                  </a:lnTo>
                  <a:lnTo>
                    <a:pt x="328283" y="405599"/>
                  </a:lnTo>
                  <a:lnTo>
                    <a:pt x="348716" y="367372"/>
                  </a:lnTo>
                  <a:lnTo>
                    <a:pt x="359477" y="325384"/>
                  </a:lnTo>
                  <a:lnTo>
                    <a:pt x="359950" y="282042"/>
                  </a:lnTo>
                  <a:lnTo>
                    <a:pt x="350107" y="239829"/>
                  </a:lnTo>
                  <a:lnTo>
                    <a:pt x="179975" y="0"/>
                  </a:lnTo>
                  <a:close/>
                </a:path>
              </a:pathLst>
            </a:custGeom>
            <a:solidFill>
              <a:srgbClr val="4DA3FF"/>
            </a:solidFill>
            <a:ln>
              <a:noFill/>
            </a:ln>
          </p:spPr>
          <p:txBody>
            <a:bodyPr rtlCol="0" anchor="ctr"/>
            <a:lstStyle/>
            <a:p>
              <a:pPr algn="ctr"/>
              <a:endParaRPr/>
            </a:p>
          </p:txBody>
        </p:sp>
        <p:sp>
          <p:nvSpPr>
            <p:cNvPr id="12" name="TextBox 11"/>
            <p:cNvSpPr txBox="1"/>
            <p:nvPr/>
          </p:nvSpPr>
          <p:spPr>
            <a:xfrm>
              <a:off x="640080" y="2926080"/>
              <a:ext cx="2377440" cy="502920"/>
            </a:xfrm>
            <a:prstGeom prst="rect">
              <a:avLst/>
            </a:prstGeom>
            <a:noFill/>
          </p:spPr>
          <p:txBody>
            <a:bodyPr wrap="square" lIns="0" tIns="0" rIns="0" bIns="0" anchor="ctr">
              <a:noAutofit/>
            </a:bodyPr>
            <a:lstStyle/>
            <a:p>
              <a:pPr algn="ctr"/>
              <a:r>
                <a:rPr lang="en-GB" sz="1800" b="1" i="0">
                  <a:solidFill>
                    <a:srgbClr val="F2F2F2"/>
                  </a:solidFill>
                  <a:latin typeface="Arial"/>
                </a:rPr>
                <a:t>Water Tower</a:t>
              </a:r>
            </a:p>
          </p:txBody>
        </p:sp>
        <p:sp>
          <p:nvSpPr>
            <p:cNvPr id="13" name="Inline chip Proposed"/>
            <p:cNvSpPr/>
            <p:nvPr/>
          </p:nvSpPr>
          <p:spPr>
            <a:xfrm>
              <a:off x="1648460" y="146304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14" name="Rounded Rectangle 13"/>
            <p:cNvSpPr/>
            <p:nvPr/>
          </p:nvSpPr>
          <p:spPr>
            <a:xfrm>
              <a:off x="3392424" y="1371600"/>
              <a:ext cx="2560320" cy="2194560"/>
            </a:xfrm>
            <a:prstGeom prst="roundRect">
              <a:avLst>
                <a:gd name="adj" fmla="val 4166"/>
              </a:avLst>
            </a:prstGeom>
            <a:solidFill>
              <a:srgbClr val="2B2F36"/>
            </a:solidFill>
            <a:ln>
              <a:noFill/>
            </a:ln>
          </p:spPr>
          <p:txBody>
            <a:bodyPr rtlCol="0" anchor="ctr"/>
            <a:lstStyle/>
            <a:p>
              <a:pPr algn="ctr"/>
              <a:endParaRPr/>
            </a:p>
          </p:txBody>
        </p:sp>
        <p:sp>
          <p:nvSpPr>
            <p:cNvPr id="15" name="Freeform 14"/>
            <p:cNvSpPr/>
            <p:nvPr/>
          </p:nvSpPr>
          <p:spPr>
            <a:xfrm>
              <a:off x="4329684" y="2176272"/>
              <a:ext cx="685800" cy="384048"/>
            </a:xfrm>
            <a:custGeom>
              <a:avLst/>
              <a:gdLst/>
              <a:ahLst/>
              <a:cxnLst/>
              <a:rect l="l" t="t" r="r" b="b"/>
              <a:pathLst>
                <a:path w="685800" h="384048">
                  <a:moveTo>
                    <a:pt x="0" y="384048"/>
                  </a:moveTo>
                  <a:lnTo>
                    <a:pt x="123444" y="153619"/>
                  </a:lnTo>
                  <a:lnTo>
                    <a:pt x="260604" y="57607"/>
                  </a:lnTo>
                  <a:lnTo>
                    <a:pt x="377190" y="0"/>
                  </a:lnTo>
                  <a:lnTo>
                    <a:pt x="514350" y="115214"/>
                  </a:lnTo>
                  <a:lnTo>
                    <a:pt x="630936" y="230429"/>
                  </a:lnTo>
                  <a:lnTo>
                    <a:pt x="685800" y="384048"/>
                  </a:lnTo>
                  <a:close/>
                </a:path>
              </a:pathLst>
            </a:custGeom>
            <a:solidFill>
              <a:srgbClr val="1B1D21"/>
            </a:solidFill>
            <a:ln w="25400">
              <a:solidFill>
                <a:srgbClr val="6B7078"/>
              </a:solidFill>
            </a:ln>
          </p:spPr>
          <p:txBody>
            <a:bodyPr rtlCol="0" anchor="ctr"/>
            <a:lstStyle/>
            <a:p>
              <a:pPr algn="ctr"/>
              <a:endParaRPr/>
            </a:p>
          </p:txBody>
        </p:sp>
        <p:sp>
          <p:nvSpPr>
            <p:cNvPr id="16" name="TextBox 15"/>
            <p:cNvSpPr txBox="1"/>
            <p:nvPr/>
          </p:nvSpPr>
          <p:spPr>
            <a:xfrm>
              <a:off x="3483864" y="2926080"/>
              <a:ext cx="2377440" cy="502920"/>
            </a:xfrm>
            <a:prstGeom prst="rect">
              <a:avLst/>
            </a:prstGeom>
            <a:noFill/>
          </p:spPr>
          <p:txBody>
            <a:bodyPr wrap="square" lIns="0" tIns="0" rIns="0" bIns="0" anchor="ctr">
              <a:noAutofit/>
            </a:bodyPr>
            <a:lstStyle/>
            <a:p>
              <a:pPr algn="ctr"/>
              <a:r>
                <a:rPr lang="en-GB" sz="1800" b="1" i="0">
                  <a:solidFill>
                    <a:srgbClr val="F2F2F2"/>
                  </a:solidFill>
                  <a:latin typeface="Arial"/>
                </a:rPr>
                <a:t>Coaling Stage</a:t>
              </a:r>
            </a:p>
          </p:txBody>
        </p:sp>
        <p:sp>
          <p:nvSpPr>
            <p:cNvPr id="17" name="Inline chip Proposed"/>
            <p:cNvSpPr/>
            <p:nvPr/>
          </p:nvSpPr>
          <p:spPr>
            <a:xfrm>
              <a:off x="4492244" y="146304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18" name="Rounded Rectangle 17"/>
            <p:cNvSpPr/>
            <p:nvPr/>
          </p:nvSpPr>
          <p:spPr>
            <a:xfrm>
              <a:off x="6236208" y="1371600"/>
              <a:ext cx="2560320" cy="2194560"/>
            </a:xfrm>
            <a:prstGeom prst="roundRect">
              <a:avLst>
                <a:gd name="adj" fmla="val 4166"/>
              </a:avLst>
            </a:prstGeom>
            <a:solidFill>
              <a:srgbClr val="2B2F36"/>
            </a:solidFill>
            <a:ln>
              <a:noFill/>
            </a:ln>
          </p:spPr>
          <p:txBody>
            <a:bodyPr rtlCol="0" anchor="ctr"/>
            <a:lstStyle/>
            <a:p>
              <a:pPr algn="ctr"/>
              <a:endParaRPr/>
            </a:p>
          </p:txBody>
        </p:sp>
        <p:sp>
          <p:nvSpPr>
            <p:cNvPr id="19" name="Freeform 18"/>
            <p:cNvSpPr/>
            <p:nvPr/>
          </p:nvSpPr>
          <p:spPr>
            <a:xfrm>
              <a:off x="7016353" y="2080260"/>
              <a:ext cx="359950" cy="482803"/>
            </a:xfrm>
            <a:custGeom>
              <a:avLst/>
              <a:gdLst/>
              <a:ahLst/>
              <a:cxnLst/>
              <a:rect l="l" t="t" r="r" b="b"/>
              <a:pathLst>
                <a:path w="359950" h="482803">
                  <a:moveTo>
                    <a:pt x="9843" y="239829"/>
                  </a:moveTo>
                  <a:lnTo>
                    <a:pt x="0" y="282042"/>
                  </a:lnTo>
                  <a:lnTo>
                    <a:pt x="473" y="325384"/>
                  </a:lnTo>
                  <a:lnTo>
                    <a:pt x="11234" y="367372"/>
                  </a:lnTo>
                  <a:lnTo>
                    <a:pt x="31667" y="405599"/>
                  </a:lnTo>
                  <a:lnTo>
                    <a:pt x="60600" y="437873"/>
                  </a:lnTo>
                  <a:lnTo>
                    <a:pt x="96375" y="462346"/>
                  </a:lnTo>
                  <a:lnTo>
                    <a:pt x="136942" y="477615"/>
                  </a:lnTo>
                  <a:lnTo>
                    <a:pt x="179975" y="482803"/>
                  </a:lnTo>
                  <a:lnTo>
                    <a:pt x="223008" y="477615"/>
                  </a:lnTo>
                  <a:lnTo>
                    <a:pt x="263575" y="462346"/>
                  </a:lnTo>
                  <a:lnTo>
                    <a:pt x="299350" y="437873"/>
                  </a:lnTo>
                  <a:lnTo>
                    <a:pt x="328283" y="405599"/>
                  </a:lnTo>
                  <a:lnTo>
                    <a:pt x="348716" y="367372"/>
                  </a:lnTo>
                  <a:lnTo>
                    <a:pt x="359477" y="325384"/>
                  </a:lnTo>
                  <a:lnTo>
                    <a:pt x="359950" y="282042"/>
                  </a:lnTo>
                  <a:lnTo>
                    <a:pt x="350107" y="239829"/>
                  </a:lnTo>
                  <a:lnTo>
                    <a:pt x="179975" y="0"/>
                  </a:lnTo>
                  <a:close/>
                </a:path>
              </a:pathLst>
            </a:custGeom>
            <a:solidFill>
              <a:srgbClr val="4DA3FF"/>
            </a:solidFill>
            <a:ln>
              <a:noFill/>
            </a:ln>
          </p:spPr>
          <p:txBody>
            <a:bodyPr rtlCol="0" anchor="ctr"/>
            <a:lstStyle/>
            <a:p>
              <a:pPr algn="ctr"/>
              <a:endParaRPr/>
            </a:p>
          </p:txBody>
        </p:sp>
        <p:sp>
          <p:nvSpPr>
            <p:cNvPr id="20" name="Freeform 19"/>
            <p:cNvSpPr/>
            <p:nvPr/>
          </p:nvSpPr>
          <p:spPr>
            <a:xfrm>
              <a:off x="7493508" y="2176272"/>
              <a:ext cx="685800" cy="384048"/>
            </a:xfrm>
            <a:custGeom>
              <a:avLst/>
              <a:gdLst/>
              <a:ahLst/>
              <a:cxnLst/>
              <a:rect l="l" t="t" r="r" b="b"/>
              <a:pathLst>
                <a:path w="685800" h="384048">
                  <a:moveTo>
                    <a:pt x="0" y="384048"/>
                  </a:moveTo>
                  <a:lnTo>
                    <a:pt x="123444" y="153619"/>
                  </a:lnTo>
                  <a:lnTo>
                    <a:pt x="260604" y="57607"/>
                  </a:lnTo>
                  <a:lnTo>
                    <a:pt x="377190" y="0"/>
                  </a:lnTo>
                  <a:lnTo>
                    <a:pt x="514350" y="115214"/>
                  </a:lnTo>
                  <a:lnTo>
                    <a:pt x="630936" y="230429"/>
                  </a:lnTo>
                  <a:lnTo>
                    <a:pt x="685800" y="384048"/>
                  </a:lnTo>
                  <a:close/>
                </a:path>
              </a:pathLst>
            </a:custGeom>
            <a:solidFill>
              <a:srgbClr val="1B1D21"/>
            </a:solidFill>
            <a:ln w="25400">
              <a:solidFill>
                <a:srgbClr val="6B7078"/>
              </a:solidFill>
            </a:ln>
          </p:spPr>
          <p:txBody>
            <a:bodyPr rtlCol="0" anchor="ctr"/>
            <a:lstStyle/>
            <a:p>
              <a:pPr algn="ctr"/>
              <a:endParaRPr/>
            </a:p>
          </p:txBody>
        </p:sp>
        <p:sp>
          <p:nvSpPr>
            <p:cNvPr id="21" name="TextBox 20"/>
            <p:cNvSpPr txBox="1"/>
            <p:nvPr/>
          </p:nvSpPr>
          <p:spPr>
            <a:xfrm>
              <a:off x="6327648" y="2926080"/>
              <a:ext cx="2377440" cy="502920"/>
            </a:xfrm>
            <a:prstGeom prst="rect">
              <a:avLst/>
            </a:prstGeom>
            <a:noFill/>
          </p:spPr>
          <p:txBody>
            <a:bodyPr wrap="square" lIns="0" tIns="0" rIns="0" bIns="0" anchor="ctr">
              <a:noAutofit/>
            </a:bodyPr>
            <a:lstStyle/>
            <a:p>
              <a:pPr algn="ctr"/>
              <a:r>
                <a:rPr lang="en-GB" sz="1800" b="1" i="0">
                  <a:solidFill>
                    <a:srgbClr val="F2F2F2"/>
                  </a:solidFill>
                  <a:latin typeface="Arial"/>
                </a:rPr>
                <a:t>Steam Service Point</a:t>
              </a:r>
            </a:p>
          </p:txBody>
        </p:sp>
        <p:sp>
          <p:nvSpPr>
            <p:cNvPr id="22" name="Inline chip Proposed"/>
            <p:cNvSpPr/>
            <p:nvPr/>
          </p:nvSpPr>
          <p:spPr>
            <a:xfrm>
              <a:off x="7336028" y="146304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23" name="Rounded Rectangle 22"/>
            <p:cNvSpPr/>
            <p:nvPr/>
          </p:nvSpPr>
          <p:spPr>
            <a:xfrm>
              <a:off x="9079992" y="1371600"/>
              <a:ext cx="2560320" cy="2194560"/>
            </a:xfrm>
            <a:prstGeom prst="roundRect">
              <a:avLst>
                <a:gd name="adj" fmla="val 4166"/>
              </a:avLst>
            </a:prstGeom>
            <a:solidFill>
              <a:srgbClr val="2B2F36"/>
            </a:solidFill>
            <a:ln>
              <a:noFill/>
            </a:ln>
          </p:spPr>
          <p:txBody>
            <a:bodyPr rtlCol="0" anchor="ctr"/>
            <a:lstStyle/>
            <a:p>
              <a:pPr algn="ctr"/>
              <a:endParaRPr/>
            </a:p>
          </p:txBody>
        </p:sp>
        <p:sp>
          <p:nvSpPr>
            <p:cNvPr id="24" name="Freeform 23"/>
            <p:cNvSpPr/>
            <p:nvPr/>
          </p:nvSpPr>
          <p:spPr>
            <a:xfrm>
              <a:off x="9860137" y="2080260"/>
              <a:ext cx="359950" cy="482803"/>
            </a:xfrm>
            <a:custGeom>
              <a:avLst/>
              <a:gdLst/>
              <a:ahLst/>
              <a:cxnLst/>
              <a:rect l="l" t="t" r="r" b="b"/>
              <a:pathLst>
                <a:path w="359950" h="482803">
                  <a:moveTo>
                    <a:pt x="9843" y="239829"/>
                  </a:moveTo>
                  <a:lnTo>
                    <a:pt x="0" y="282042"/>
                  </a:lnTo>
                  <a:lnTo>
                    <a:pt x="473" y="325384"/>
                  </a:lnTo>
                  <a:lnTo>
                    <a:pt x="11234" y="367372"/>
                  </a:lnTo>
                  <a:lnTo>
                    <a:pt x="31667" y="405599"/>
                  </a:lnTo>
                  <a:lnTo>
                    <a:pt x="60600" y="437873"/>
                  </a:lnTo>
                  <a:lnTo>
                    <a:pt x="96375" y="462346"/>
                  </a:lnTo>
                  <a:lnTo>
                    <a:pt x="136942" y="477615"/>
                  </a:lnTo>
                  <a:lnTo>
                    <a:pt x="179975" y="482803"/>
                  </a:lnTo>
                  <a:lnTo>
                    <a:pt x="223008" y="477615"/>
                  </a:lnTo>
                  <a:lnTo>
                    <a:pt x="263575" y="462346"/>
                  </a:lnTo>
                  <a:lnTo>
                    <a:pt x="299350" y="437873"/>
                  </a:lnTo>
                  <a:lnTo>
                    <a:pt x="328283" y="405599"/>
                  </a:lnTo>
                  <a:lnTo>
                    <a:pt x="348716" y="367372"/>
                  </a:lnTo>
                  <a:lnTo>
                    <a:pt x="359477" y="325384"/>
                  </a:lnTo>
                  <a:lnTo>
                    <a:pt x="359950" y="282042"/>
                  </a:lnTo>
                  <a:lnTo>
                    <a:pt x="350107" y="239829"/>
                  </a:lnTo>
                  <a:lnTo>
                    <a:pt x="179975" y="0"/>
                  </a:lnTo>
                  <a:close/>
                </a:path>
              </a:pathLst>
            </a:custGeom>
            <a:solidFill>
              <a:srgbClr val="4DA3FF"/>
            </a:solidFill>
            <a:ln>
              <a:noFill/>
            </a:ln>
          </p:spPr>
          <p:txBody>
            <a:bodyPr rtlCol="0" anchor="ctr"/>
            <a:lstStyle/>
            <a:p>
              <a:pPr algn="ctr"/>
              <a:endParaRPr/>
            </a:p>
          </p:txBody>
        </p:sp>
        <p:sp>
          <p:nvSpPr>
            <p:cNvPr id="25" name="Freeform 24"/>
            <p:cNvSpPr/>
            <p:nvPr/>
          </p:nvSpPr>
          <p:spPr>
            <a:xfrm>
              <a:off x="10337292" y="2176272"/>
              <a:ext cx="685800" cy="384048"/>
            </a:xfrm>
            <a:custGeom>
              <a:avLst/>
              <a:gdLst/>
              <a:ahLst/>
              <a:cxnLst/>
              <a:rect l="l" t="t" r="r" b="b"/>
              <a:pathLst>
                <a:path w="685800" h="384048">
                  <a:moveTo>
                    <a:pt x="0" y="384048"/>
                  </a:moveTo>
                  <a:lnTo>
                    <a:pt x="123444" y="153619"/>
                  </a:lnTo>
                  <a:lnTo>
                    <a:pt x="260604" y="57607"/>
                  </a:lnTo>
                  <a:lnTo>
                    <a:pt x="377190" y="0"/>
                  </a:lnTo>
                  <a:lnTo>
                    <a:pt x="514350" y="115214"/>
                  </a:lnTo>
                  <a:lnTo>
                    <a:pt x="630936" y="230429"/>
                  </a:lnTo>
                  <a:lnTo>
                    <a:pt x="685800" y="384048"/>
                  </a:lnTo>
                  <a:close/>
                </a:path>
              </a:pathLst>
            </a:custGeom>
            <a:solidFill>
              <a:srgbClr val="1B1D21"/>
            </a:solidFill>
            <a:ln w="25400">
              <a:solidFill>
                <a:srgbClr val="6B7078"/>
              </a:solidFill>
            </a:ln>
          </p:spPr>
          <p:txBody>
            <a:bodyPr rtlCol="0" anchor="ctr"/>
            <a:lstStyle/>
            <a:p>
              <a:pPr algn="ctr"/>
              <a:endParaRPr/>
            </a:p>
          </p:txBody>
        </p:sp>
        <p:sp>
          <p:nvSpPr>
            <p:cNvPr id="26" name="Rectangle 25"/>
            <p:cNvSpPr/>
            <p:nvPr/>
          </p:nvSpPr>
          <p:spPr>
            <a:xfrm>
              <a:off x="9537192" y="2715768"/>
              <a:ext cx="1645920" cy="128016"/>
            </a:xfrm>
            <a:prstGeom prst="rect">
              <a:avLst/>
            </a:prstGeom>
            <a:solidFill>
              <a:srgbClr val="9AA0A6"/>
            </a:solidFill>
            <a:ln>
              <a:noFill/>
            </a:ln>
          </p:spPr>
          <p:txBody>
            <a:bodyPr rtlCol="0" anchor="ctr"/>
            <a:lstStyle/>
            <a:p>
              <a:pPr algn="ctr"/>
              <a:endParaRPr/>
            </a:p>
          </p:txBody>
        </p:sp>
        <p:sp>
          <p:nvSpPr>
            <p:cNvPr id="27" name="Freeform 26"/>
            <p:cNvSpPr/>
            <p:nvPr/>
          </p:nvSpPr>
          <p:spPr>
            <a:xfrm>
              <a:off x="10835640" y="2079346"/>
              <a:ext cx="566928" cy="115214"/>
            </a:xfrm>
            <a:custGeom>
              <a:avLst/>
              <a:gdLst/>
              <a:ahLst/>
              <a:cxnLst/>
              <a:rect l="l" t="t" r="r" b="b"/>
              <a:pathLst>
                <a:path w="566928" h="115214">
                  <a:moveTo>
                    <a:pt x="0" y="115214"/>
                  </a:moveTo>
                  <a:lnTo>
                    <a:pt x="283464" y="0"/>
                  </a:lnTo>
                  <a:lnTo>
                    <a:pt x="566928" y="115214"/>
                  </a:lnTo>
                  <a:close/>
                </a:path>
              </a:pathLst>
            </a:custGeom>
            <a:solidFill>
              <a:srgbClr val="4A515B"/>
            </a:solidFill>
            <a:ln w="19050">
              <a:solidFill>
                <a:srgbClr val="F28C28"/>
              </a:solidFill>
            </a:ln>
          </p:spPr>
          <p:txBody>
            <a:bodyPr rtlCol="0" anchor="ctr"/>
            <a:lstStyle/>
            <a:p>
              <a:pPr algn="ctr"/>
              <a:endParaRPr/>
            </a:p>
          </p:txBody>
        </p:sp>
        <p:sp>
          <p:nvSpPr>
            <p:cNvPr id="28" name="Rectangle 27"/>
            <p:cNvSpPr/>
            <p:nvPr/>
          </p:nvSpPr>
          <p:spPr>
            <a:xfrm>
              <a:off x="10927080" y="2194560"/>
              <a:ext cx="384048" cy="384048"/>
            </a:xfrm>
            <a:prstGeom prst="rect">
              <a:avLst/>
            </a:prstGeom>
            <a:solidFill>
              <a:srgbClr val="2B2F36"/>
            </a:solidFill>
            <a:ln w="19050">
              <a:solidFill>
                <a:srgbClr val="F28C28"/>
              </a:solidFill>
            </a:ln>
          </p:spPr>
          <p:txBody>
            <a:bodyPr rtlCol="0" anchor="ctr"/>
            <a:lstStyle/>
            <a:p>
              <a:pPr algn="ctr"/>
              <a:endParaRPr/>
            </a:p>
          </p:txBody>
        </p:sp>
        <p:sp>
          <p:nvSpPr>
            <p:cNvPr id="29" name="TextBox 28"/>
            <p:cNvSpPr txBox="1"/>
            <p:nvPr/>
          </p:nvSpPr>
          <p:spPr>
            <a:xfrm>
              <a:off x="9171432" y="2926080"/>
              <a:ext cx="2377440" cy="502920"/>
            </a:xfrm>
            <a:prstGeom prst="rect">
              <a:avLst/>
            </a:prstGeom>
            <a:noFill/>
          </p:spPr>
          <p:txBody>
            <a:bodyPr wrap="square" lIns="0" tIns="0" rIns="0" bIns="0" anchor="ctr">
              <a:noAutofit/>
            </a:bodyPr>
            <a:lstStyle/>
            <a:p>
              <a:pPr algn="ctr"/>
              <a:r>
                <a:rPr lang="en-GB" sz="1800" b="1" i="0">
                  <a:solidFill>
                    <a:srgbClr val="F2F2F2"/>
                  </a:solidFill>
                  <a:latin typeface="Arial"/>
                </a:rPr>
                <a:t>Full Station</a:t>
              </a:r>
            </a:p>
          </p:txBody>
        </p:sp>
        <p:sp>
          <p:nvSpPr>
            <p:cNvPr id="30" name="Inline chip Proposed"/>
            <p:cNvSpPr/>
            <p:nvPr/>
          </p:nvSpPr>
          <p:spPr>
            <a:xfrm>
              <a:off x="10179812" y="146304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grpSp>
      <p:grpSp>
        <p:nvGrpSpPr>
          <p:cNvPr id="31" name="Route" descr="A route from a mine to a factory with a water stop and a water and coal stop on the way; a train is at the water stop."/>
          <p:cNvGrpSpPr/>
          <p:nvPr/>
        </p:nvGrpSpPr>
        <p:grpSpPr>
          <a:xfrm>
            <a:off x="0" y="3702406"/>
            <a:ext cx="12115800" cy="1244498"/>
            <a:chOff x="0" y="3702406"/>
            <a:chExt cx="12115800" cy="1244498"/>
          </a:xfrm>
        </p:grpSpPr>
        <p:cxnSp>
          <p:nvCxnSpPr>
            <p:cNvPr id="32" name="Connector 31"/>
            <p:cNvCxnSpPr/>
            <p:nvPr/>
          </p:nvCxnSpPr>
          <p:spPr>
            <a:xfrm>
              <a:off x="914400" y="4343400"/>
              <a:ext cx="10332720" cy="0"/>
            </a:xfrm>
            <a:prstGeom prst="line">
              <a:avLst/>
            </a:prstGeom>
            <a:ln w="63500">
              <a:solidFill>
                <a:srgbClr val="9AA0A6"/>
              </a:solidFill>
            </a:ln>
          </p:spPr>
        </p:cxnSp>
        <p:sp>
          <p:nvSpPr>
            <p:cNvPr id="33" name="Oval 32"/>
            <p:cNvSpPr/>
            <p:nvPr/>
          </p:nvSpPr>
          <p:spPr>
            <a:xfrm>
              <a:off x="1024128" y="4178808"/>
              <a:ext cx="329184" cy="329184"/>
            </a:xfrm>
            <a:prstGeom prst="ellipse">
              <a:avLst/>
            </a:prstGeom>
            <a:solidFill>
              <a:srgbClr val="1E2126"/>
            </a:solidFill>
            <a:ln w="38100">
              <a:solidFill>
                <a:srgbClr val="F28C28"/>
              </a:solidFill>
            </a:ln>
          </p:spPr>
          <p:txBody>
            <a:bodyPr rtlCol="0" anchor="ctr"/>
            <a:lstStyle/>
            <a:p>
              <a:pPr algn="ctr"/>
              <a:endParaRPr/>
            </a:p>
          </p:txBody>
        </p:sp>
        <p:sp>
          <p:nvSpPr>
            <p:cNvPr id="34" name="TextBox 33"/>
            <p:cNvSpPr txBox="1"/>
            <p:nvPr/>
          </p:nvSpPr>
          <p:spPr>
            <a:xfrm>
              <a:off x="0" y="4617720"/>
              <a:ext cx="2377440" cy="329184"/>
            </a:xfrm>
            <a:prstGeom prst="rect">
              <a:avLst/>
            </a:prstGeom>
            <a:noFill/>
          </p:spPr>
          <p:txBody>
            <a:bodyPr wrap="square" lIns="0" tIns="0" rIns="0" bIns="0" anchor="t">
              <a:noAutofit/>
            </a:bodyPr>
            <a:lstStyle/>
            <a:p>
              <a:pPr algn="ctr"/>
              <a:r>
                <a:rPr lang="en-GB" sz="1600" b="0" i="0">
                  <a:solidFill>
                    <a:srgbClr val="F2F2F2"/>
                  </a:solidFill>
                  <a:latin typeface="Arial"/>
                </a:rPr>
                <a:t>Mine</a:t>
              </a:r>
            </a:p>
          </p:txBody>
        </p:sp>
        <p:sp>
          <p:nvSpPr>
            <p:cNvPr id="35" name="Oval 34"/>
            <p:cNvSpPr/>
            <p:nvPr/>
          </p:nvSpPr>
          <p:spPr>
            <a:xfrm>
              <a:off x="4178808" y="4178808"/>
              <a:ext cx="329184" cy="329184"/>
            </a:xfrm>
            <a:prstGeom prst="ellipse">
              <a:avLst/>
            </a:prstGeom>
            <a:solidFill>
              <a:srgbClr val="1E2126"/>
            </a:solidFill>
            <a:ln w="38100">
              <a:solidFill>
                <a:srgbClr val="F28C28"/>
              </a:solidFill>
            </a:ln>
          </p:spPr>
          <p:txBody>
            <a:bodyPr rtlCol="0" anchor="ctr"/>
            <a:lstStyle/>
            <a:p>
              <a:pPr algn="ctr"/>
              <a:endParaRPr/>
            </a:p>
          </p:txBody>
        </p:sp>
        <p:sp>
          <p:nvSpPr>
            <p:cNvPr id="36" name="TextBox 35"/>
            <p:cNvSpPr txBox="1"/>
            <p:nvPr/>
          </p:nvSpPr>
          <p:spPr>
            <a:xfrm>
              <a:off x="3154680" y="4617720"/>
              <a:ext cx="2377440" cy="329184"/>
            </a:xfrm>
            <a:prstGeom prst="rect">
              <a:avLst/>
            </a:prstGeom>
            <a:noFill/>
          </p:spPr>
          <p:txBody>
            <a:bodyPr wrap="square" lIns="0" tIns="0" rIns="0" bIns="0" anchor="t">
              <a:noAutofit/>
            </a:bodyPr>
            <a:lstStyle/>
            <a:p>
              <a:pPr algn="ctr"/>
              <a:r>
                <a:rPr lang="en-GB" sz="1600" b="0" i="0">
                  <a:solidFill>
                    <a:srgbClr val="F2F2F2"/>
                  </a:solidFill>
                  <a:latin typeface="Arial"/>
                </a:rPr>
                <a:t>Water stop</a:t>
              </a:r>
            </a:p>
          </p:txBody>
        </p:sp>
        <p:sp>
          <p:nvSpPr>
            <p:cNvPr id="37" name="Oval 36"/>
            <p:cNvSpPr/>
            <p:nvPr/>
          </p:nvSpPr>
          <p:spPr>
            <a:xfrm>
              <a:off x="7333488" y="4178808"/>
              <a:ext cx="329184" cy="329184"/>
            </a:xfrm>
            <a:prstGeom prst="ellipse">
              <a:avLst/>
            </a:prstGeom>
            <a:solidFill>
              <a:srgbClr val="1E2126"/>
            </a:solidFill>
            <a:ln w="38100">
              <a:solidFill>
                <a:srgbClr val="F28C28"/>
              </a:solidFill>
            </a:ln>
          </p:spPr>
          <p:txBody>
            <a:bodyPr rtlCol="0" anchor="ctr"/>
            <a:lstStyle/>
            <a:p>
              <a:pPr algn="ctr"/>
              <a:endParaRPr/>
            </a:p>
          </p:txBody>
        </p:sp>
        <p:sp>
          <p:nvSpPr>
            <p:cNvPr id="38" name="TextBox 37"/>
            <p:cNvSpPr txBox="1"/>
            <p:nvPr/>
          </p:nvSpPr>
          <p:spPr>
            <a:xfrm>
              <a:off x="6309360" y="4617720"/>
              <a:ext cx="2377440" cy="329184"/>
            </a:xfrm>
            <a:prstGeom prst="rect">
              <a:avLst/>
            </a:prstGeom>
            <a:noFill/>
          </p:spPr>
          <p:txBody>
            <a:bodyPr wrap="square" lIns="0" tIns="0" rIns="0" bIns="0" anchor="t">
              <a:noAutofit/>
            </a:bodyPr>
            <a:lstStyle/>
            <a:p>
              <a:pPr algn="ctr"/>
              <a:r>
                <a:rPr lang="en-GB" sz="1600" b="0" i="0">
                  <a:solidFill>
                    <a:srgbClr val="F2F2F2"/>
                  </a:solidFill>
                  <a:latin typeface="Arial"/>
                </a:rPr>
                <a:t>Water and coal stop</a:t>
              </a:r>
            </a:p>
          </p:txBody>
        </p:sp>
        <p:sp>
          <p:nvSpPr>
            <p:cNvPr id="39" name="Oval 38"/>
            <p:cNvSpPr/>
            <p:nvPr/>
          </p:nvSpPr>
          <p:spPr>
            <a:xfrm>
              <a:off x="10762488" y="4178808"/>
              <a:ext cx="329184" cy="329184"/>
            </a:xfrm>
            <a:prstGeom prst="ellipse">
              <a:avLst/>
            </a:prstGeom>
            <a:solidFill>
              <a:srgbClr val="1E2126"/>
            </a:solidFill>
            <a:ln w="38100">
              <a:solidFill>
                <a:srgbClr val="F28C28"/>
              </a:solidFill>
            </a:ln>
          </p:spPr>
          <p:txBody>
            <a:bodyPr rtlCol="0" anchor="ctr"/>
            <a:lstStyle/>
            <a:p>
              <a:pPr algn="ctr"/>
              <a:endParaRPr/>
            </a:p>
          </p:txBody>
        </p:sp>
        <p:sp>
          <p:nvSpPr>
            <p:cNvPr id="40" name="TextBox 39"/>
            <p:cNvSpPr txBox="1"/>
            <p:nvPr/>
          </p:nvSpPr>
          <p:spPr>
            <a:xfrm>
              <a:off x="9738360" y="4617720"/>
              <a:ext cx="2377440" cy="329184"/>
            </a:xfrm>
            <a:prstGeom prst="rect">
              <a:avLst/>
            </a:prstGeom>
            <a:noFill/>
          </p:spPr>
          <p:txBody>
            <a:bodyPr wrap="square" lIns="0" tIns="0" rIns="0" bIns="0" anchor="t">
              <a:noAutofit/>
            </a:bodyPr>
            <a:lstStyle/>
            <a:p>
              <a:pPr algn="ctr"/>
              <a:r>
                <a:rPr lang="en-GB" sz="1600" b="0" i="0">
                  <a:solidFill>
                    <a:srgbClr val="F2F2F2"/>
                  </a:solidFill>
                  <a:latin typeface="Arial"/>
                </a:rPr>
                <a:t>Factory</a:t>
              </a:r>
            </a:p>
          </p:txBody>
        </p:sp>
        <p:grpSp>
          <p:nvGrpSpPr>
            <p:cNvPr id="41" name="Train at water stop" descr="A steam train: an engine pulling wagons."/>
            <p:cNvGrpSpPr/>
            <p:nvPr/>
          </p:nvGrpSpPr>
          <p:grpSpPr>
            <a:xfrm>
              <a:off x="3429000" y="3702406"/>
              <a:ext cx="1203350" cy="595274"/>
              <a:chOff x="3429000" y="3702406"/>
              <a:chExt cx="1203350" cy="595274"/>
            </a:xfrm>
          </p:grpSpPr>
          <p:sp>
            <p:nvSpPr>
              <p:cNvPr id="42" name="Rectangle 41"/>
              <p:cNvSpPr/>
              <p:nvPr/>
            </p:nvSpPr>
            <p:spPr>
              <a:xfrm>
                <a:off x="3429000" y="3932834"/>
                <a:ext cx="512064" cy="288036"/>
              </a:xfrm>
              <a:prstGeom prst="rect">
                <a:avLst/>
              </a:prstGeom>
              <a:solidFill>
                <a:srgbClr val="6C7480"/>
              </a:solidFill>
              <a:ln w="9525">
                <a:solidFill>
                  <a:srgbClr val="101418"/>
                </a:solidFill>
              </a:ln>
            </p:spPr>
            <p:txBody>
              <a:bodyPr rtlCol="0" anchor="ctr"/>
              <a:lstStyle/>
              <a:p>
                <a:pPr algn="ctr"/>
                <a:endParaRPr/>
              </a:p>
            </p:txBody>
          </p:sp>
          <p:sp>
            <p:nvSpPr>
              <p:cNvPr id="43" name="Oval 42"/>
              <p:cNvSpPr/>
              <p:nvPr/>
            </p:nvSpPr>
            <p:spPr>
              <a:xfrm>
                <a:off x="3493008" y="4169664"/>
                <a:ext cx="128016" cy="128016"/>
              </a:xfrm>
              <a:prstGeom prst="ellipse">
                <a:avLst/>
              </a:prstGeom>
              <a:solidFill>
                <a:srgbClr val="1B1D21"/>
              </a:solidFill>
              <a:ln w="12700">
                <a:solidFill>
                  <a:srgbClr val="9AA0A6"/>
                </a:solidFill>
              </a:ln>
            </p:spPr>
            <p:txBody>
              <a:bodyPr rtlCol="0" anchor="ctr"/>
              <a:lstStyle/>
              <a:p>
                <a:pPr algn="ctr"/>
                <a:endParaRPr/>
              </a:p>
            </p:txBody>
          </p:sp>
          <p:sp>
            <p:nvSpPr>
              <p:cNvPr id="44" name="Oval 43"/>
              <p:cNvSpPr/>
              <p:nvPr/>
            </p:nvSpPr>
            <p:spPr>
              <a:xfrm>
                <a:off x="3749040" y="4169664"/>
                <a:ext cx="128016" cy="128016"/>
              </a:xfrm>
              <a:prstGeom prst="ellipse">
                <a:avLst/>
              </a:prstGeom>
              <a:solidFill>
                <a:srgbClr val="1B1D21"/>
              </a:solidFill>
              <a:ln w="12700">
                <a:solidFill>
                  <a:srgbClr val="9AA0A6"/>
                </a:solidFill>
              </a:ln>
            </p:spPr>
            <p:txBody>
              <a:bodyPr rtlCol="0" anchor="ctr"/>
              <a:lstStyle/>
              <a:p>
                <a:pPr algn="ctr"/>
                <a:endParaRPr/>
              </a:p>
            </p:txBody>
          </p:sp>
          <p:sp>
            <p:nvSpPr>
              <p:cNvPr id="45" name="Rectangle 44"/>
              <p:cNvSpPr/>
              <p:nvPr/>
            </p:nvSpPr>
            <p:spPr>
              <a:xfrm>
                <a:off x="3941064" y="4137660"/>
                <a:ext cx="51206" cy="32004"/>
              </a:xfrm>
              <a:prstGeom prst="rect">
                <a:avLst/>
              </a:prstGeom>
              <a:solidFill>
                <a:srgbClr val="9AA0A6"/>
              </a:solidFill>
              <a:ln>
                <a:noFill/>
              </a:ln>
            </p:spPr>
            <p:txBody>
              <a:bodyPr rtlCol="0" anchor="ctr"/>
              <a:lstStyle/>
              <a:p>
                <a:pPr algn="ctr"/>
                <a:endParaRPr/>
              </a:p>
            </p:txBody>
          </p:sp>
          <p:sp>
            <p:nvSpPr>
              <p:cNvPr id="46" name="Rectangle 45"/>
              <p:cNvSpPr/>
              <p:nvPr/>
            </p:nvSpPr>
            <p:spPr>
              <a:xfrm>
                <a:off x="3992270" y="3881628"/>
                <a:ext cx="640080" cy="352044"/>
              </a:xfrm>
              <a:prstGeom prst="rect">
                <a:avLst/>
              </a:prstGeom>
              <a:solidFill>
                <a:srgbClr val="F28C28"/>
              </a:solidFill>
              <a:ln w="9525">
                <a:solidFill>
                  <a:srgbClr val="101418"/>
                </a:solidFill>
              </a:ln>
            </p:spPr>
            <p:txBody>
              <a:bodyPr rtlCol="0" anchor="ctr"/>
              <a:lstStyle/>
              <a:p>
                <a:pPr algn="ctr"/>
                <a:endParaRPr/>
              </a:p>
            </p:txBody>
          </p:sp>
          <p:sp>
            <p:nvSpPr>
              <p:cNvPr id="47" name="Bunker"/>
              <p:cNvSpPr/>
              <p:nvPr/>
            </p:nvSpPr>
            <p:spPr>
              <a:xfrm>
                <a:off x="4011473" y="3900830"/>
                <a:ext cx="166421" cy="128016"/>
              </a:xfrm>
              <a:prstGeom prst="rect">
                <a:avLst/>
              </a:prstGeom>
              <a:solidFill>
                <a:srgbClr val="1B1D21"/>
              </a:solidFill>
              <a:ln>
                <a:noFill/>
              </a:ln>
            </p:spPr>
            <p:txBody>
              <a:bodyPr rtlCol="0" anchor="ctr"/>
              <a:lstStyle/>
              <a:p>
                <a:pPr algn="ctr"/>
                <a:endParaRPr/>
              </a:p>
            </p:txBody>
          </p:sp>
          <p:sp>
            <p:nvSpPr>
              <p:cNvPr id="48" name="Rectangle 47"/>
              <p:cNvSpPr/>
              <p:nvPr/>
            </p:nvSpPr>
            <p:spPr>
              <a:xfrm>
                <a:off x="4209898" y="3926434"/>
                <a:ext cx="89611" cy="89611"/>
              </a:xfrm>
              <a:prstGeom prst="rect">
                <a:avLst/>
              </a:prstGeom>
              <a:solidFill>
                <a:srgbClr val="2B2F36"/>
              </a:solidFill>
              <a:ln>
                <a:noFill/>
              </a:ln>
            </p:spPr>
            <p:txBody>
              <a:bodyPr rtlCol="0" anchor="ctr"/>
              <a:lstStyle/>
              <a:p>
                <a:pPr algn="ctr"/>
                <a:endParaRPr/>
              </a:p>
            </p:txBody>
          </p:sp>
          <p:sp>
            <p:nvSpPr>
              <p:cNvPr id="49" name="Chimney"/>
              <p:cNvSpPr/>
              <p:nvPr/>
            </p:nvSpPr>
            <p:spPr>
              <a:xfrm>
                <a:off x="4491533" y="3702406"/>
                <a:ext cx="96012" cy="192024"/>
              </a:xfrm>
              <a:prstGeom prst="rect">
                <a:avLst/>
              </a:prstGeom>
              <a:solidFill>
                <a:srgbClr val="1B1D21"/>
              </a:solidFill>
              <a:ln>
                <a:noFill/>
              </a:ln>
            </p:spPr>
            <p:txBody>
              <a:bodyPr rtlCol="0" anchor="ctr"/>
              <a:lstStyle/>
              <a:p>
                <a:pPr algn="ctr"/>
                <a:endParaRPr/>
              </a:p>
            </p:txBody>
          </p:sp>
          <p:sp>
            <p:nvSpPr>
              <p:cNvPr id="50" name="Oval 49"/>
              <p:cNvSpPr/>
              <p:nvPr/>
            </p:nvSpPr>
            <p:spPr>
              <a:xfrm>
                <a:off x="4056278" y="4169664"/>
                <a:ext cx="128016" cy="128016"/>
              </a:xfrm>
              <a:prstGeom prst="ellipse">
                <a:avLst/>
              </a:prstGeom>
              <a:solidFill>
                <a:srgbClr val="1B1D21"/>
              </a:solidFill>
              <a:ln w="12700">
                <a:solidFill>
                  <a:srgbClr val="9AA0A6"/>
                </a:solidFill>
              </a:ln>
            </p:spPr>
            <p:txBody>
              <a:bodyPr rtlCol="0" anchor="ctr"/>
              <a:lstStyle/>
              <a:p>
                <a:pPr algn="ctr"/>
                <a:endParaRPr/>
              </a:p>
            </p:txBody>
          </p:sp>
          <p:sp>
            <p:nvSpPr>
              <p:cNvPr id="51" name="Oval 50"/>
              <p:cNvSpPr/>
              <p:nvPr/>
            </p:nvSpPr>
            <p:spPr>
              <a:xfrm>
                <a:off x="4248302" y="4169664"/>
                <a:ext cx="128016" cy="128016"/>
              </a:xfrm>
              <a:prstGeom prst="ellipse">
                <a:avLst/>
              </a:prstGeom>
              <a:solidFill>
                <a:srgbClr val="1B1D21"/>
              </a:solidFill>
              <a:ln w="12700">
                <a:solidFill>
                  <a:srgbClr val="9AA0A6"/>
                </a:solidFill>
              </a:ln>
            </p:spPr>
            <p:txBody>
              <a:bodyPr rtlCol="0" anchor="ctr"/>
              <a:lstStyle/>
              <a:p>
                <a:pPr algn="ctr"/>
                <a:endParaRPr/>
              </a:p>
            </p:txBody>
          </p:sp>
          <p:sp>
            <p:nvSpPr>
              <p:cNvPr id="52" name="Oval 51"/>
              <p:cNvSpPr/>
              <p:nvPr/>
            </p:nvSpPr>
            <p:spPr>
              <a:xfrm>
                <a:off x="4440326" y="4169664"/>
                <a:ext cx="128016" cy="128016"/>
              </a:xfrm>
              <a:prstGeom prst="ellipse">
                <a:avLst/>
              </a:prstGeom>
              <a:solidFill>
                <a:srgbClr val="1B1D21"/>
              </a:solidFill>
              <a:ln w="12700">
                <a:solidFill>
                  <a:srgbClr val="9AA0A6"/>
                </a:solidFill>
              </a:ln>
            </p:spPr>
            <p:txBody>
              <a:bodyPr rtlCol="0" anchor="ctr"/>
              <a:lstStyle/>
              <a:p>
                <a:pPr algn="ctr"/>
                <a:endParaRPr/>
              </a:p>
            </p:txBody>
          </p:sp>
        </p:grpSp>
      </p:gr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487170" bIns="27432" rtlCol="0" anchor="ctr">
            <a:noAutofit/>
          </a:bodyPr>
          <a:lstStyle/>
          <a:p>
            <a:pPr algn="l"/>
            <a:r>
              <a:rPr lang="en-GB" sz="2000" b="0" i="0">
                <a:solidFill>
                  <a:srgbClr val="F2F2F2"/>
                </a:solidFill>
                <a:latin typeface="Arial"/>
              </a:rPr>
              <a:t>Separate coal and water stops make long routes possible. Not every stop needs a full station.</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8" name="Inline chip Agreed"/>
          <p:cNvSpPr/>
          <p:nvPr/>
        </p:nvSpPr>
        <p:spPr>
          <a:xfrm>
            <a:off x="10336022" y="5833872"/>
            <a:ext cx="112141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STATIONS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27</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3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nodeType="withEffect">
                                  <p:stCondLst>
                                    <p:cond delay="6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9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nodeType="withEffect">
                                  <p:stCondLst>
                                    <p:cond delay="1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Blocks: one train at a time</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Block diagram" descr="Track split into four blocks, A to D, by three signals. A train occupies block B, so the signal at its entrance shows STOP and a second train waits in block A. Blocks C and D are free and their signals show CLEAR."/>
          <p:cNvGrpSpPr/>
          <p:nvPr/>
        </p:nvGrpSpPr>
        <p:grpSpPr>
          <a:xfrm>
            <a:off x="731520" y="1673352"/>
            <a:ext cx="10698480" cy="2651760"/>
            <a:chOff x="731520" y="1673352"/>
            <a:chExt cx="10698480" cy="2651760"/>
          </a:xfrm>
        </p:grpSpPr>
        <p:sp>
          <p:nvSpPr>
            <p:cNvPr id="9" name="Rectangle 8"/>
            <p:cNvSpPr/>
            <p:nvPr/>
          </p:nvSpPr>
          <p:spPr>
            <a:xfrm>
              <a:off x="932688" y="3282696"/>
              <a:ext cx="54864" cy="365760"/>
            </a:xfrm>
            <a:prstGeom prst="rect">
              <a:avLst/>
            </a:prstGeom>
            <a:solidFill>
              <a:srgbClr val="6B5B4B"/>
            </a:solidFill>
            <a:ln>
              <a:noFill/>
            </a:ln>
          </p:spPr>
          <p:txBody>
            <a:bodyPr rtlCol="0" anchor="ctr"/>
            <a:lstStyle/>
            <a:p>
              <a:pPr algn="ctr"/>
              <a:endParaRPr/>
            </a:p>
          </p:txBody>
        </p:sp>
        <p:sp>
          <p:nvSpPr>
            <p:cNvPr id="10" name="Rectangle 9"/>
            <p:cNvSpPr/>
            <p:nvPr/>
          </p:nvSpPr>
          <p:spPr>
            <a:xfrm>
              <a:off x="1252728" y="3282696"/>
              <a:ext cx="54864" cy="365760"/>
            </a:xfrm>
            <a:prstGeom prst="rect">
              <a:avLst/>
            </a:prstGeom>
            <a:solidFill>
              <a:srgbClr val="6B5B4B"/>
            </a:solidFill>
            <a:ln>
              <a:noFill/>
            </a:ln>
          </p:spPr>
          <p:txBody>
            <a:bodyPr rtlCol="0" anchor="ctr"/>
            <a:lstStyle/>
            <a:p>
              <a:pPr algn="ctr"/>
              <a:endParaRPr/>
            </a:p>
          </p:txBody>
        </p:sp>
        <p:sp>
          <p:nvSpPr>
            <p:cNvPr id="11" name="Rectangle 10"/>
            <p:cNvSpPr/>
            <p:nvPr/>
          </p:nvSpPr>
          <p:spPr>
            <a:xfrm>
              <a:off x="1572768" y="3282696"/>
              <a:ext cx="54864" cy="365760"/>
            </a:xfrm>
            <a:prstGeom prst="rect">
              <a:avLst/>
            </a:prstGeom>
            <a:solidFill>
              <a:srgbClr val="6B5B4B"/>
            </a:solidFill>
            <a:ln>
              <a:noFill/>
            </a:ln>
          </p:spPr>
          <p:txBody>
            <a:bodyPr rtlCol="0" anchor="ctr"/>
            <a:lstStyle/>
            <a:p>
              <a:pPr algn="ctr"/>
              <a:endParaRPr/>
            </a:p>
          </p:txBody>
        </p:sp>
        <p:sp>
          <p:nvSpPr>
            <p:cNvPr id="12" name="Rectangle 11"/>
            <p:cNvSpPr/>
            <p:nvPr/>
          </p:nvSpPr>
          <p:spPr>
            <a:xfrm>
              <a:off x="1892808" y="3282696"/>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2212848" y="3282696"/>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2532888" y="3282696"/>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2852928" y="3282696"/>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3172968" y="3282696"/>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3493008" y="3282696"/>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3813048" y="328269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4133088" y="328269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4453128" y="328269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4773168" y="328269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5093208" y="3282696"/>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5413248" y="3282696"/>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5733288" y="3282696"/>
              <a:ext cx="54864" cy="365760"/>
            </a:xfrm>
            <a:prstGeom prst="rect">
              <a:avLst/>
            </a:prstGeom>
            <a:solidFill>
              <a:srgbClr val="6B5B4B"/>
            </a:solidFill>
            <a:ln>
              <a:noFill/>
            </a:ln>
          </p:spPr>
          <p:txBody>
            <a:bodyPr rtlCol="0" anchor="ctr"/>
            <a:lstStyle/>
            <a:p>
              <a:pPr algn="ctr"/>
              <a:endParaRPr/>
            </a:p>
          </p:txBody>
        </p:sp>
        <p:sp>
          <p:nvSpPr>
            <p:cNvPr id="25" name="Rectangle 24"/>
            <p:cNvSpPr/>
            <p:nvPr/>
          </p:nvSpPr>
          <p:spPr>
            <a:xfrm>
              <a:off x="6053328" y="3282696"/>
              <a:ext cx="54864" cy="365760"/>
            </a:xfrm>
            <a:prstGeom prst="rect">
              <a:avLst/>
            </a:prstGeom>
            <a:solidFill>
              <a:srgbClr val="6B5B4B"/>
            </a:solidFill>
            <a:ln>
              <a:noFill/>
            </a:ln>
          </p:spPr>
          <p:txBody>
            <a:bodyPr rtlCol="0" anchor="ctr"/>
            <a:lstStyle/>
            <a:p>
              <a:pPr algn="ctr"/>
              <a:endParaRPr/>
            </a:p>
          </p:txBody>
        </p:sp>
        <p:sp>
          <p:nvSpPr>
            <p:cNvPr id="26" name="Rectangle 25"/>
            <p:cNvSpPr/>
            <p:nvPr/>
          </p:nvSpPr>
          <p:spPr>
            <a:xfrm>
              <a:off x="6373368" y="3282696"/>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6693408" y="3282696"/>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7013448" y="3282696"/>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7333488" y="3282696"/>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7653528" y="3282696"/>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7973568" y="328269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8293608" y="328269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8613648" y="328269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8933688" y="328269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9253728" y="328269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9573768" y="328269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9893808" y="328269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10213848" y="328269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10533888" y="3282696"/>
              <a:ext cx="54864" cy="365760"/>
            </a:xfrm>
            <a:prstGeom prst="rect">
              <a:avLst/>
            </a:prstGeom>
            <a:solidFill>
              <a:srgbClr val="6B5B4B"/>
            </a:solidFill>
            <a:ln>
              <a:noFill/>
            </a:ln>
          </p:spPr>
          <p:txBody>
            <a:bodyPr rtlCol="0" anchor="ctr"/>
            <a:lstStyle/>
            <a:p>
              <a:pPr algn="ctr"/>
              <a:endParaRPr/>
            </a:p>
          </p:txBody>
        </p:sp>
        <p:sp>
          <p:nvSpPr>
            <p:cNvPr id="40" name="Rectangle 39"/>
            <p:cNvSpPr/>
            <p:nvPr/>
          </p:nvSpPr>
          <p:spPr>
            <a:xfrm>
              <a:off x="10853928" y="3282696"/>
              <a:ext cx="54864" cy="365760"/>
            </a:xfrm>
            <a:prstGeom prst="rect">
              <a:avLst/>
            </a:prstGeom>
            <a:solidFill>
              <a:srgbClr val="6B5B4B"/>
            </a:solidFill>
            <a:ln>
              <a:noFill/>
            </a:ln>
          </p:spPr>
          <p:txBody>
            <a:bodyPr rtlCol="0" anchor="ctr"/>
            <a:lstStyle/>
            <a:p>
              <a:pPr algn="ctr"/>
              <a:endParaRPr/>
            </a:p>
          </p:txBody>
        </p:sp>
        <p:sp>
          <p:nvSpPr>
            <p:cNvPr id="41" name="Rectangle 40"/>
            <p:cNvSpPr/>
            <p:nvPr/>
          </p:nvSpPr>
          <p:spPr>
            <a:xfrm>
              <a:off x="11173968" y="3282696"/>
              <a:ext cx="54864" cy="365760"/>
            </a:xfrm>
            <a:prstGeom prst="rect">
              <a:avLst/>
            </a:prstGeom>
            <a:solidFill>
              <a:srgbClr val="6B5B4B"/>
            </a:solidFill>
            <a:ln>
              <a:noFill/>
            </a:ln>
          </p:spPr>
          <p:txBody>
            <a:bodyPr rtlCol="0" anchor="ctr"/>
            <a:lstStyle/>
            <a:p>
              <a:pPr algn="ctr"/>
              <a:endParaRPr/>
            </a:p>
          </p:txBody>
        </p:sp>
        <p:sp>
          <p:nvSpPr>
            <p:cNvPr id="42" name="Rectangle 41"/>
            <p:cNvSpPr/>
            <p:nvPr/>
          </p:nvSpPr>
          <p:spPr>
            <a:xfrm>
              <a:off x="731520" y="3310128"/>
              <a:ext cx="10698480" cy="54864"/>
            </a:xfrm>
            <a:prstGeom prst="rect">
              <a:avLst/>
            </a:prstGeom>
            <a:solidFill>
              <a:srgbClr val="9AA0A6"/>
            </a:solidFill>
            <a:ln>
              <a:noFill/>
            </a:ln>
          </p:spPr>
          <p:txBody>
            <a:bodyPr rtlCol="0" anchor="ctr"/>
            <a:lstStyle/>
            <a:p>
              <a:pPr algn="ctr"/>
              <a:endParaRPr/>
            </a:p>
          </p:txBody>
        </p:sp>
        <p:sp>
          <p:nvSpPr>
            <p:cNvPr id="43" name="Rectangle 42"/>
            <p:cNvSpPr/>
            <p:nvPr/>
          </p:nvSpPr>
          <p:spPr>
            <a:xfrm>
              <a:off x="731520" y="3566160"/>
              <a:ext cx="10698480" cy="54864"/>
            </a:xfrm>
            <a:prstGeom prst="rect">
              <a:avLst/>
            </a:prstGeom>
            <a:solidFill>
              <a:srgbClr val="9AA0A6"/>
            </a:solidFill>
            <a:ln>
              <a:noFill/>
            </a:ln>
          </p:spPr>
          <p:txBody>
            <a:bodyPr rtlCol="0" anchor="ctr"/>
            <a:lstStyle/>
            <a:p>
              <a:pPr algn="ctr"/>
              <a:endParaRPr/>
            </a:p>
          </p:txBody>
        </p:sp>
        <p:sp>
          <p:nvSpPr>
            <p:cNvPr id="44" name="Rectangle 43"/>
            <p:cNvSpPr/>
            <p:nvPr/>
          </p:nvSpPr>
          <p:spPr>
            <a:xfrm>
              <a:off x="768096" y="3977640"/>
              <a:ext cx="2578608" cy="347472"/>
            </a:xfrm>
            <a:prstGeom prst="rect">
              <a:avLst/>
            </a:prstGeom>
            <a:solidFill>
              <a:srgbClr val="502B30"/>
            </a:solidFill>
            <a:ln w="19050">
              <a:solidFill>
                <a:srgbClr val="E5484D"/>
              </a:solidFill>
            </a:ln>
          </p:spPr>
          <p:txBody>
            <a:bodyPr wrap="square" lIns="36576" tIns="0" rIns="36576" bIns="0" rtlCol="0" anchor="ctr">
              <a:noAutofit/>
            </a:bodyPr>
            <a:lstStyle/>
            <a:p>
              <a:pPr algn="ctr"/>
              <a:r>
                <a:rPr lang="en-GB" sz="1600" b="1" i="0">
                  <a:solidFill>
                    <a:srgbClr val="F2F2F2"/>
                  </a:solidFill>
                  <a:latin typeface="Arial"/>
                </a:rPr>
                <a:t>Block A: occupied</a:t>
              </a:r>
            </a:p>
          </p:txBody>
        </p:sp>
        <p:sp>
          <p:nvSpPr>
            <p:cNvPr id="45" name="Rectangle 44"/>
            <p:cNvSpPr/>
            <p:nvPr/>
          </p:nvSpPr>
          <p:spPr>
            <a:xfrm>
              <a:off x="3419856" y="3977640"/>
              <a:ext cx="2670048" cy="347472"/>
            </a:xfrm>
            <a:prstGeom prst="rect">
              <a:avLst/>
            </a:prstGeom>
            <a:solidFill>
              <a:srgbClr val="502B30"/>
            </a:solidFill>
            <a:ln w="19050">
              <a:solidFill>
                <a:srgbClr val="E5484D"/>
              </a:solidFill>
            </a:ln>
          </p:spPr>
          <p:txBody>
            <a:bodyPr wrap="square" lIns="36576" tIns="0" rIns="36576" bIns="0" rtlCol="0" anchor="ctr">
              <a:noAutofit/>
            </a:bodyPr>
            <a:lstStyle/>
            <a:p>
              <a:pPr algn="ctr"/>
              <a:r>
                <a:rPr lang="en-GB" sz="1600" b="1" i="0">
                  <a:solidFill>
                    <a:srgbClr val="F2F2F2"/>
                  </a:solidFill>
                  <a:latin typeface="Arial"/>
                </a:rPr>
                <a:t>Block B: occupied</a:t>
              </a:r>
            </a:p>
          </p:txBody>
        </p:sp>
        <p:sp>
          <p:nvSpPr>
            <p:cNvPr id="46" name="Rectangle 45"/>
            <p:cNvSpPr/>
            <p:nvPr/>
          </p:nvSpPr>
          <p:spPr>
            <a:xfrm>
              <a:off x="6163056" y="3977640"/>
              <a:ext cx="2670048" cy="347472"/>
            </a:xfrm>
            <a:prstGeom prst="rect">
              <a:avLst/>
            </a:prstGeom>
            <a:solidFill>
              <a:srgbClr val="264730"/>
            </a:solidFill>
            <a:ln w="19050">
              <a:solidFill>
                <a:srgbClr val="3FB950"/>
              </a:solidFill>
            </a:ln>
          </p:spPr>
          <p:txBody>
            <a:bodyPr wrap="square" lIns="36576" tIns="0" rIns="36576" bIns="0" rtlCol="0" anchor="ctr">
              <a:noAutofit/>
            </a:bodyPr>
            <a:lstStyle/>
            <a:p>
              <a:pPr algn="ctr"/>
              <a:r>
                <a:rPr lang="en-GB" sz="1600" b="1" i="0">
                  <a:solidFill>
                    <a:srgbClr val="F2F2F2"/>
                  </a:solidFill>
                  <a:latin typeface="Arial"/>
                </a:rPr>
                <a:t>Block C: free</a:t>
              </a:r>
            </a:p>
          </p:txBody>
        </p:sp>
        <p:sp>
          <p:nvSpPr>
            <p:cNvPr id="47" name="Rectangle 46"/>
            <p:cNvSpPr/>
            <p:nvPr/>
          </p:nvSpPr>
          <p:spPr>
            <a:xfrm>
              <a:off x="8906256" y="3977640"/>
              <a:ext cx="2487168" cy="347472"/>
            </a:xfrm>
            <a:prstGeom prst="rect">
              <a:avLst/>
            </a:prstGeom>
            <a:solidFill>
              <a:srgbClr val="264730"/>
            </a:solidFill>
            <a:ln w="19050">
              <a:solidFill>
                <a:srgbClr val="3FB950"/>
              </a:solidFill>
            </a:ln>
          </p:spPr>
          <p:txBody>
            <a:bodyPr wrap="square" lIns="36576" tIns="0" rIns="36576" bIns="0" rtlCol="0" anchor="ctr">
              <a:noAutofit/>
            </a:bodyPr>
            <a:lstStyle/>
            <a:p>
              <a:pPr algn="ctr"/>
              <a:r>
                <a:rPr lang="en-GB" sz="1600" b="1" i="0">
                  <a:solidFill>
                    <a:srgbClr val="F2F2F2"/>
                  </a:solidFill>
                  <a:latin typeface="Arial"/>
                </a:rPr>
                <a:t>Block D: free</a:t>
              </a:r>
            </a:p>
          </p:txBody>
        </p:sp>
        <p:grpSp>
          <p:nvGrpSpPr>
            <p:cNvPr id="48" name="Train in block B" descr="A steam train: an engine pulling wagons."/>
            <p:cNvGrpSpPr/>
            <p:nvPr/>
          </p:nvGrpSpPr>
          <p:grpSpPr>
            <a:xfrm>
              <a:off x="3657600" y="2721334"/>
              <a:ext cx="1828800" cy="616226"/>
              <a:chOff x="3657600" y="2721334"/>
              <a:chExt cx="1828800" cy="616226"/>
            </a:xfrm>
          </p:grpSpPr>
          <p:sp>
            <p:nvSpPr>
              <p:cNvPr id="49" name="Rectangle 48"/>
              <p:cNvSpPr/>
              <p:nvPr/>
            </p:nvSpPr>
            <p:spPr>
              <a:xfrm>
                <a:off x="3657600" y="2959873"/>
                <a:ext cx="530087" cy="298174"/>
              </a:xfrm>
              <a:prstGeom prst="rect">
                <a:avLst/>
              </a:prstGeom>
              <a:solidFill>
                <a:srgbClr val="6C7480"/>
              </a:solidFill>
              <a:ln w="9525">
                <a:solidFill>
                  <a:srgbClr val="101418"/>
                </a:solidFill>
              </a:ln>
            </p:spPr>
            <p:txBody>
              <a:bodyPr rtlCol="0" anchor="ctr"/>
              <a:lstStyle/>
              <a:p>
                <a:pPr algn="ctr"/>
                <a:endParaRPr/>
              </a:p>
            </p:txBody>
          </p:sp>
          <p:sp>
            <p:nvSpPr>
              <p:cNvPr id="50" name="Oval 49"/>
              <p:cNvSpPr/>
              <p:nvPr/>
            </p:nvSpPr>
            <p:spPr>
              <a:xfrm>
                <a:off x="3723861" y="3205038"/>
                <a:ext cx="132522" cy="132522"/>
              </a:xfrm>
              <a:prstGeom prst="ellipse">
                <a:avLst/>
              </a:prstGeom>
              <a:solidFill>
                <a:srgbClr val="1B1D21"/>
              </a:solidFill>
              <a:ln w="12700">
                <a:solidFill>
                  <a:srgbClr val="9AA0A6"/>
                </a:solidFill>
              </a:ln>
            </p:spPr>
            <p:txBody>
              <a:bodyPr rtlCol="0" anchor="ctr"/>
              <a:lstStyle/>
              <a:p>
                <a:pPr algn="ctr"/>
                <a:endParaRPr/>
              </a:p>
            </p:txBody>
          </p:sp>
          <p:sp>
            <p:nvSpPr>
              <p:cNvPr id="51" name="Oval 50"/>
              <p:cNvSpPr/>
              <p:nvPr/>
            </p:nvSpPr>
            <p:spPr>
              <a:xfrm>
                <a:off x="3988904" y="3205038"/>
                <a:ext cx="132522" cy="132522"/>
              </a:xfrm>
              <a:prstGeom prst="ellipse">
                <a:avLst/>
              </a:prstGeom>
              <a:solidFill>
                <a:srgbClr val="1B1D21"/>
              </a:solidFill>
              <a:ln w="12700">
                <a:solidFill>
                  <a:srgbClr val="9AA0A6"/>
                </a:solidFill>
              </a:ln>
            </p:spPr>
            <p:txBody>
              <a:bodyPr rtlCol="0" anchor="ctr"/>
              <a:lstStyle/>
              <a:p>
                <a:pPr algn="ctr"/>
                <a:endParaRPr/>
              </a:p>
            </p:txBody>
          </p:sp>
          <p:sp>
            <p:nvSpPr>
              <p:cNvPr id="52" name="Rectangle 51"/>
              <p:cNvSpPr/>
              <p:nvPr/>
            </p:nvSpPr>
            <p:spPr>
              <a:xfrm>
                <a:off x="4187687" y="3171908"/>
                <a:ext cx="53009" cy="33130"/>
              </a:xfrm>
              <a:prstGeom prst="rect">
                <a:avLst/>
              </a:prstGeom>
              <a:solidFill>
                <a:srgbClr val="9AA0A6"/>
              </a:solidFill>
              <a:ln>
                <a:noFill/>
              </a:ln>
            </p:spPr>
            <p:txBody>
              <a:bodyPr rtlCol="0" anchor="ctr"/>
              <a:lstStyle/>
              <a:p>
                <a:pPr algn="ctr"/>
                <a:endParaRPr/>
              </a:p>
            </p:txBody>
          </p:sp>
          <p:sp>
            <p:nvSpPr>
              <p:cNvPr id="53" name="Rectangle 52"/>
              <p:cNvSpPr/>
              <p:nvPr/>
            </p:nvSpPr>
            <p:spPr>
              <a:xfrm>
                <a:off x="4240696" y="2959873"/>
                <a:ext cx="530087" cy="298174"/>
              </a:xfrm>
              <a:prstGeom prst="rect">
                <a:avLst/>
              </a:prstGeom>
              <a:solidFill>
                <a:srgbClr val="6C7480"/>
              </a:solidFill>
              <a:ln w="9525">
                <a:solidFill>
                  <a:srgbClr val="101418"/>
                </a:solidFill>
              </a:ln>
            </p:spPr>
            <p:txBody>
              <a:bodyPr rtlCol="0" anchor="ctr"/>
              <a:lstStyle/>
              <a:p>
                <a:pPr algn="ctr"/>
                <a:endParaRPr/>
              </a:p>
            </p:txBody>
          </p:sp>
          <p:sp>
            <p:nvSpPr>
              <p:cNvPr id="54" name="Oval 53"/>
              <p:cNvSpPr/>
              <p:nvPr/>
            </p:nvSpPr>
            <p:spPr>
              <a:xfrm>
                <a:off x="4306957" y="3205038"/>
                <a:ext cx="132522" cy="132522"/>
              </a:xfrm>
              <a:prstGeom prst="ellipse">
                <a:avLst/>
              </a:prstGeom>
              <a:solidFill>
                <a:srgbClr val="1B1D21"/>
              </a:solidFill>
              <a:ln w="12700">
                <a:solidFill>
                  <a:srgbClr val="9AA0A6"/>
                </a:solidFill>
              </a:ln>
            </p:spPr>
            <p:txBody>
              <a:bodyPr rtlCol="0" anchor="ctr"/>
              <a:lstStyle/>
              <a:p>
                <a:pPr algn="ctr"/>
                <a:endParaRPr/>
              </a:p>
            </p:txBody>
          </p:sp>
          <p:sp>
            <p:nvSpPr>
              <p:cNvPr id="55" name="Oval 54"/>
              <p:cNvSpPr/>
              <p:nvPr/>
            </p:nvSpPr>
            <p:spPr>
              <a:xfrm>
                <a:off x="4572000" y="3205038"/>
                <a:ext cx="132522" cy="132522"/>
              </a:xfrm>
              <a:prstGeom prst="ellipse">
                <a:avLst/>
              </a:prstGeom>
              <a:solidFill>
                <a:srgbClr val="1B1D21"/>
              </a:solidFill>
              <a:ln w="12700">
                <a:solidFill>
                  <a:srgbClr val="9AA0A6"/>
                </a:solidFill>
              </a:ln>
            </p:spPr>
            <p:txBody>
              <a:bodyPr rtlCol="0" anchor="ctr"/>
              <a:lstStyle/>
              <a:p>
                <a:pPr algn="ctr"/>
                <a:endParaRPr/>
              </a:p>
            </p:txBody>
          </p:sp>
          <p:sp>
            <p:nvSpPr>
              <p:cNvPr id="56" name="Rectangle 55"/>
              <p:cNvSpPr/>
              <p:nvPr/>
            </p:nvSpPr>
            <p:spPr>
              <a:xfrm>
                <a:off x="4770783" y="3171908"/>
                <a:ext cx="53009" cy="33130"/>
              </a:xfrm>
              <a:prstGeom prst="rect">
                <a:avLst/>
              </a:prstGeom>
              <a:solidFill>
                <a:srgbClr val="9AA0A6"/>
              </a:solidFill>
              <a:ln>
                <a:noFill/>
              </a:ln>
            </p:spPr>
            <p:txBody>
              <a:bodyPr rtlCol="0" anchor="ctr"/>
              <a:lstStyle/>
              <a:p>
                <a:pPr algn="ctr"/>
                <a:endParaRPr/>
              </a:p>
            </p:txBody>
          </p:sp>
          <p:sp>
            <p:nvSpPr>
              <p:cNvPr id="57" name="Rectangle 56"/>
              <p:cNvSpPr/>
              <p:nvPr/>
            </p:nvSpPr>
            <p:spPr>
              <a:xfrm>
                <a:off x="4823791" y="2906864"/>
                <a:ext cx="662609" cy="364435"/>
              </a:xfrm>
              <a:prstGeom prst="rect">
                <a:avLst/>
              </a:prstGeom>
              <a:solidFill>
                <a:srgbClr val="F28C28"/>
              </a:solidFill>
              <a:ln w="9525">
                <a:solidFill>
                  <a:srgbClr val="101418"/>
                </a:solidFill>
              </a:ln>
            </p:spPr>
            <p:txBody>
              <a:bodyPr rtlCol="0" anchor="ctr"/>
              <a:lstStyle/>
              <a:p>
                <a:pPr algn="ctr"/>
                <a:endParaRPr/>
              </a:p>
            </p:txBody>
          </p:sp>
          <p:sp>
            <p:nvSpPr>
              <p:cNvPr id="58" name="Bunker"/>
              <p:cNvSpPr/>
              <p:nvPr/>
            </p:nvSpPr>
            <p:spPr>
              <a:xfrm>
                <a:off x="4843670" y="2926743"/>
                <a:ext cx="172278" cy="132522"/>
              </a:xfrm>
              <a:prstGeom prst="rect">
                <a:avLst/>
              </a:prstGeom>
              <a:solidFill>
                <a:srgbClr val="1B1D21"/>
              </a:solidFill>
              <a:ln>
                <a:noFill/>
              </a:ln>
            </p:spPr>
            <p:txBody>
              <a:bodyPr rtlCol="0" anchor="ctr"/>
              <a:lstStyle/>
              <a:p>
                <a:pPr algn="ctr"/>
                <a:endParaRPr/>
              </a:p>
            </p:txBody>
          </p:sp>
          <p:sp>
            <p:nvSpPr>
              <p:cNvPr id="59" name="Rectangle 58"/>
              <p:cNvSpPr/>
              <p:nvPr/>
            </p:nvSpPr>
            <p:spPr>
              <a:xfrm>
                <a:off x="5049078" y="2953247"/>
                <a:ext cx="92765" cy="92765"/>
              </a:xfrm>
              <a:prstGeom prst="rect">
                <a:avLst/>
              </a:prstGeom>
              <a:solidFill>
                <a:srgbClr val="2B2F36"/>
              </a:solidFill>
              <a:ln>
                <a:noFill/>
              </a:ln>
            </p:spPr>
            <p:txBody>
              <a:bodyPr rtlCol="0" anchor="ctr"/>
              <a:lstStyle/>
              <a:p>
                <a:pPr algn="ctr"/>
                <a:endParaRPr/>
              </a:p>
            </p:txBody>
          </p:sp>
          <p:sp>
            <p:nvSpPr>
              <p:cNvPr id="60" name="Chimney"/>
              <p:cNvSpPr/>
              <p:nvPr/>
            </p:nvSpPr>
            <p:spPr>
              <a:xfrm>
                <a:off x="5340626" y="2721334"/>
                <a:ext cx="99391" cy="198783"/>
              </a:xfrm>
              <a:prstGeom prst="rect">
                <a:avLst/>
              </a:prstGeom>
              <a:solidFill>
                <a:srgbClr val="1B1D21"/>
              </a:solidFill>
              <a:ln>
                <a:noFill/>
              </a:ln>
            </p:spPr>
            <p:txBody>
              <a:bodyPr rtlCol="0" anchor="ctr"/>
              <a:lstStyle/>
              <a:p>
                <a:pPr algn="ctr"/>
                <a:endParaRPr/>
              </a:p>
            </p:txBody>
          </p:sp>
          <p:sp>
            <p:nvSpPr>
              <p:cNvPr id="61" name="Oval 60"/>
              <p:cNvSpPr/>
              <p:nvPr/>
            </p:nvSpPr>
            <p:spPr>
              <a:xfrm>
                <a:off x="4890052" y="3205038"/>
                <a:ext cx="132522" cy="132522"/>
              </a:xfrm>
              <a:prstGeom prst="ellipse">
                <a:avLst/>
              </a:prstGeom>
              <a:solidFill>
                <a:srgbClr val="1B1D21"/>
              </a:solidFill>
              <a:ln w="12700">
                <a:solidFill>
                  <a:srgbClr val="9AA0A6"/>
                </a:solidFill>
              </a:ln>
            </p:spPr>
            <p:txBody>
              <a:bodyPr rtlCol="0" anchor="ctr"/>
              <a:lstStyle/>
              <a:p>
                <a:pPr algn="ctr"/>
                <a:endParaRPr/>
              </a:p>
            </p:txBody>
          </p:sp>
          <p:sp>
            <p:nvSpPr>
              <p:cNvPr id="62" name="Oval 61"/>
              <p:cNvSpPr/>
              <p:nvPr/>
            </p:nvSpPr>
            <p:spPr>
              <a:xfrm>
                <a:off x="5088835" y="3205038"/>
                <a:ext cx="132522" cy="132522"/>
              </a:xfrm>
              <a:prstGeom prst="ellipse">
                <a:avLst/>
              </a:prstGeom>
              <a:solidFill>
                <a:srgbClr val="1B1D21"/>
              </a:solidFill>
              <a:ln w="12700">
                <a:solidFill>
                  <a:srgbClr val="9AA0A6"/>
                </a:solidFill>
              </a:ln>
            </p:spPr>
            <p:txBody>
              <a:bodyPr rtlCol="0" anchor="ctr"/>
              <a:lstStyle/>
              <a:p>
                <a:pPr algn="ctr"/>
                <a:endParaRPr/>
              </a:p>
            </p:txBody>
          </p:sp>
          <p:sp>
            <p:nvSpPr>
              <p:cNvPr id="63" name="Oval 62"/>
              <p:cNvSpPr/>
              <p:nvPr/>
            </p:nvSpPr>
            <p:spPr>
              <a:xfrm>
                <a:off x="5287617" y="3205038"/>
                <a:ext cx="132522" cy="132522"/>
              </a:xfrm>
              <a:prstGeom prst="ellipse">
                <a:avLst/>
              </a:prstGeom>
              <a:solidFill>
                <a:srgbClr val="1B1D21"/>
              </a:solidFill>
              <a:ln w="12700">
                <a:solidFill>
                  <a:srgbClr val="9AA0A6"/>
                </a:solidFill>
              </a:ln>
            </p:spPr>
            <p:txBody>
              <a:bodyPr rtlCol="0" anchor="ctr"/>
              <a:lstStyle/>
              <a:p>
                <a:pPr algn="ctr"/>
                <a:endParaRPr/>
              </a:p>
            </p:txBody>
          </p:sp>
        </p:grpSp>
        <p:grpSp>
          <p:nvGrpSpPr>
            <p:cNvPr id="64" name="Waiting train in block A" descr="A steam train: an engine pulling wagons."/>
            <p:cNvGrpSpPr/>
            <p:nvPr/>
          </p:nvGrpSpPr>
          <p:grpSpPr>
            <a:xfrm>
              <a:off x="822960" y="2810317"/>
              <a:ext cx="1564721" cy="527243"/>
              <a:chOff x="822960" y="2810317"/>
              <a:chExt cx="1564721" cy="527243"/>
            </a:xfrm>
          </p:grpSpPr>
          <p:sp>
            <p:nvSpPr>
              <p:cNvPr id="65" name="Rectangle 64"/>
              <p:cNvSpPr/>
              <p:nvPr/>
            </p:nvSpPr>
            <p:spPr>
              <a:xfrm>
                <a:off x="822960" y="3014411"/>
                <a:ext cx="453542" cy="255118"/>
              </a:xfrm>
              <a:prstGeom prst="rect">
                <a:avLst/>
              </a:prstGeom>
              <a:solidFill>
                <a:srgbClr val="6C7480"/>
              </a:solidFill>
              <a:ln w="9525">
                <a:solidFill>
                  <a:srgbClr val="101418"/>
                </a:solidFill>
              </a:ln>
            </p:spPr>
            <p:txBody>
              <a:bodyPr rtlCol="0" anchor="ctr"/>
              <a:lstStyle/>
              <a:p>
                <a:pPr algn="ctr"/>
                <a:endParaRPr/>
              </a:p>
            </p:txBody>
          </p:sp>
          <p:sp>
            <p:nvSpPr>
              <p:cNvPr id="66" name="Oval 65"/>
              <p:cNvSpPr/>
              <p:nvPr/>
            </p:nvSpPr>
            <p:spPr>
              <a:xfrm>
                <a:off x="879653" y="3224174"/>
                <a:ext cx="113386" cy="113386"/>
              </a:xfrm>
              <a:prstGeom prst="ellipse">
                <a:avLst/>
              </a:prstGeom>
              <a:solidFill>
                <a:srgbClr val="1B1D21"/>
              </a:solidFill>
              <a:ln w="12700">
                <a:solidFill>
                  <a:srgbClr val="9AA0A6"/>
                </a:solidFill>
              </a:ln>
            </p:spPr>
            <p:txBody>
              <a:bodyPr rtlCol="0" anchor="ctr"/>
              <a:lstStyle/>
              <a:p>
                <a:pPr algn="ctr"/>
                <a:endParaRPr/>
              </a:p>
            </p:txBody>
          </p:sp>
          <p:sp>
            <p:nvSpPr>
              <p:cNvPr id="67" name="Oval 66"/>
              <p:cNvSpPr/>
              <p:nvPr/>
            </p:nvSpPr>
            <p:spPr>
              <a:xfrm>
                <a:off x="1106424" y="3224174"/>
                <a:ext cx="113386" cy="113386"/>
              </a:xfrm>
              <a:prstGeom prst="ellipse">
                <a:avLst/>
              </a:prstGeom>
              <a:solidFill>
                <a:srgbClr val="1B1D21"/>
              </a:solidFill>
              <a:ln w="12700">
                <a:solidFill>
                  <a:srgbClr val="9AA0A6"/>
                </a:solidFill>
              </a:ln>
            </p:spPr>
            <p:txBody>
              <a:bodyPr rtlCol="0" anchor="ctr"/>
              <a:lstStyle/>
              <a:p>
                <a:pPr algn="ctr"/>
                <a:endParaRPr/>
              </a:p>
            </p:txBody>
          </p:sp>
          <p:sp>
            <p:nvSpPr>
              <p:cNvPr id="68" name="Rectangle 67"/>
              <p:cNvSpPr/>
              <p:nvPr/>
            </p:nvSpPr>
            <p:spPr>
              <a:xfrm>
                <a:off x="1276502" y="3195828"/>
                <a:ext cx="45354" cy="28346"/>
              </a:xfrm>
              <a:prstGeom prst="rect">
                <a:avLst/>
              </a:prstGeom>
              <a:solidFill>
                <a:srgbClr val="9AA0A6"/>
              </a:solidFill>
              <a:ln>
                <a:noFill/>
              </a:ln>
            </p:spPr>
            <p:txBody>
              <a:bodyPr rtlCol="0" anchor="ctr"/>
              <a:lstStyle/>
              <a:p>
                <a:pPr algn="ctr"/>
                <a:endParaRPr/>
              </a:p>
            </p:txBody>
          </p:sp>
          <p:sp>
            <p:nvSpPr>
              <p:cNvPr id="69" name="Rectangle 68"/>
              <p:cNvSpPr/>
              <p:nvPr/>
            </p:nvSpPr>
            <p:spPr>
              <a:xfrm>
                <a:off x="1321857" y="3014411"/>
                <a:ext cx="453542" cy="255118"/>
              </a:xfrm>
              <a:prstGeom prst="rect">
                <a:avLst/>
              </a:prstGeom>
              <a:solidFill>
                <a:srgbClr val="6C7480"/>
              </a:solidFill>
              <a:ln w="9525">
                <a:solidFill>
                  <a:srgbClr val="101418"/>
                </a:solidFill>
              </a:ln>
            </p:spPr>
            <p:txBody>
              <a:bodyPr rtlCol="0" anchor="ctr"/>
              <a:lstStyle/>
              <a:p>
                <a:pPr algn="ctr"/>
                <a:endParaRPr/>
              </a:p>
            </p:txBody>
          </p:sp>
          <p:sp>
            <p:nvSpPr>
              <p:cNvPr id="70" name="Oval 69"/>
              <p:cNvSpPr/>
              <p:nvPr/>
            </p:nvSpPr>
            <p:spPr>
              <a:xfrm>
                <a:off x="1378549" y="3224174"/>
                <a:ext cx="113386" cy="113386"/>
              </a:xfrm>
              <a:prstGeom prst="ellipse">
                <a:avLst/>
              </a:prstGeom>
              <a:solidFill>
                <a:srgbClr val="1B1D21"/>
              </a:solidFill>
              <a:ln w="12700">
                <a:solidFill>
                  <a:srgbClr val="9AA0A6"/>
                </a:solidFill>
              </a:ln>
            </p:spPr>
            <p:txBody>
              <a:bodyPr rtlCol="0" anchor="ctr"/>
              <a:lstStyle/>
              <a:p>
                <a:pPr algn="ctr"/>
                <a:endParaRPr/>
              </a:p>
            </p:txBody>
          </p:sp>
          <p:sp>
            <p:nvSpPr>
              <p:cNvPr id="71" name="Oval 70"/>
              <p:cNvSpPr/>
              <p:nvPr/>
            </p:nvSpPr>
            <p:spPr>
              <a:xfrm>
                <a:off x="1605321" y="3224174"/>
                <a:ext cx="113386" cy="113386"/>
              </a:xfrm>
              <a:prstGeom prst="ellipse">
                <a:avLst/>
              </a:prstGeom>
              <a:solidFill>
                <a:srgbClr val="1B1D21"/>
              </a:solidFill>
              <a:ln w="12700">
                <a:solidFill>
                  <a:srgbClr val="9AA0A6"/>
                </a:solidFill>
              </a:ln>
            </p:spPr>
            <p:txBody>
              <a:bodyPr rtlCol="0" anchor="ctr"/>
              <a:lstStyle/>
              <a:p>
                <a:pPr algn="ctr"/>
                <a:endParaRPr/>
              </a:p>
            </p:txBody>
          </p:sp>
          <p:sp>
            <p:nvSpPr>
              <p:cNvPr id="72" name="Rectangle 71"/>
              <p:cNvSpPr/>
              <p:nvPr/>
            </p:nvSpPr>
            <p:spPr>
              <a:xfrm>
                <a:off x="1775399" y="3195828"/>
                <a:ext cx="45354" cy="28346"/>
              </a:xfrm>
              <a:prstGeom prst="rect">
                <a:avLst/>
              </a:prstGeom>
              <a:solidFill>
                <a:srgbClr val="9AA0A6"/>
              </a:solidFill>
              <a:ln>
                <a:noFill/>
              </a:ln>
            </p:spPr>
            <p:txBody>
              <a:bodyPr rtlCol="0" anchor="ctr"/>
              <a:lstStyle/>
              <a:p>
                <a:pPr algn="ctr"/>
                <a:endParaRPr/>
              </a:p>
            </p:txBody>
          </p:sp>
          <p:sp>
            <p:nvSpPr>
              <p:cNvPr id="73" name="Rectangle 72"/>
              <p:cNvSpPr/>
              <p:nvPr/>
            </p:nvSpPr>
            <p:spPr>
              <a:xfrm>
                <a:off x="1820753" y="2969057"/>
                <a:ext cx="566928" cy="311810"/>
              </a:xfrm>
              <a:prstGeom prst="rect">
                <a:avLst/>
              </a:prstGeom>
              <a:solidFill>
                <a:srgbClr val="F28C28"/>
              </a:solidFill>
              <a:ln w="9525">
                <a:solidFill>
                  <a:srgbClr val="101418"/>
                </a:solidFill>
              </a:ln>
            </p:spPr>
            <p:txBody>
              <a:bodyPr rtlCol="0" anchor="ctr"/>
              <a:lstStyle/>
              <a:p>
                <a:pPr algn="ctr"/>
                <a:endParaRPr/>
              </a:p>
            </p:txBody>
          </p:sp>
          <p:sp>
            <p:nvSpPr>
              <p:cNvPr id="74" name="Bunker"/>
              <p:cNvSpPr/>
              <p:nvPr/>
            </p:nvSpPr>
            <p:spPr>
              <a:xfrm>
                <a:off x="1837761" y="2986065"/>
                <a:ext cx="147401" cy="113386"/>
              </a:xfrm>
              <a:prstGeom prst="rect">
                <a:avLst/>
              </a:prstGeom>
              <a:solidFill>
                <a:srgbClr val="1B1D21"/>
              </a:solidFill>
              <a:ln>
                <a:noFill/>
              </a:ln>
            </p:spPr>
            <p:txBody>
              <a:bodyPr rtlCol="0" anchor="ctr"/>
              <a:lstStyle/>
              <a:p>
                <a:pPr algn="ctr"/>
                <a:endParaRPr/>
              </a:p>
            </p:txBody>
          </p:sp>
          <p:sp>
            <p:nvSpPr>
              <p:cNvPr id="75" name="Rectangle 74"/>
              <p:cNvSpPr/>
              <p:nvPr/>
            </p:nvSpPr>
            <p:spPr>
              <a:xfrm>
                <a:off x="2013509" y="3008742"/>
                <a:ext cx="79370" cy="79370"/>
              </a:xfrm>
              <a:prstGeom prst="rect">
                <a:avLst/>
              </a:prstGeom>
              <a:solidFill>
                <a:srgbClr val="2B2F36"/>
              </a:solidFill>
              <a:ln>
                <a:noFill/>
              </a:ln>
            </p:spPr>
            <p:txBody>
              <a:bodyPr rtlCol="0" anchor="ctr"/>
              <a:lstStyle/>
              <a:p>
                <a:pPr algn="ctr"/>
                <a:endParaRPr/>
              </a:p>
            </p:txBody>
          </p:sp>
          <p:sp>
            <p:nvSpPr>
              <p:cNvPr id="76" name="Chimney"/>
              <p:cNvSpPr/>
              <p:nvPr/>
            </p:nvSpPr>
            <p:spPr>
              <a:xfrm>
                <a:off x="2262957" y="2810317"/>
                <a:ext cx="85039" cy="170078"/>
              </a:xfrm>
              <a:prstGeom prst="rect">
                <a:avLst/>
              </a:prstGeom>
              <a:solidFill>
                <a:srgbClr val="1B1D21"/>
              </a:solidFill>
              <a:ln>
                <a:noFill/>
              </a:ln>
            </p:spPr>
            <p:txBody>
              <a:bodyPr rtlCol="0" anchor="ctr"/>
              <a:lstStyle/>
              <a:p>
                <a:pPr algn="ctr"/>
                <a:endParaRPr/>
              </a:p>
            </p:txBody>
          </p:sp>
          <p:sp>
            <p:nvSpPr>
              <p:cNvPr id="77" name="Oval 76"/>
              <p:cNvSpPr/>
              <p:nvPr/>
            </p:nvSpPr>
            <p:spPr>
              <a:xfrm>
                <a:off x="1877446" y="3224174"/>
                <a:ext cx="113386" cy="113386"/>
              </a:xfrm>
              <a:prstGeom prst="ellipse">
                <a:avLst/>
              </a:prstGeom>
              <a:solidFill>
                <a:srgbClr val="1B1D21"/>
              </a:solidFill>
              <a:ln w="12700">
                <a:solidFill>
                  <a:srgbClr val="9AA0A6"/>
                </a:solidFill>
              </a:ln>
            </p:spPr>
            <p:txBody>
              <a:bodyPr rtlCol="0" anchor="ctr"/>
              <a:lstStyle/>
              <a:p>
                <a:pPr algn="ctr"/>
                <a:endParaRPr/>
              </a:p>
            </p:txBody>
          </p:sp>
          <p:sp>
            <p:nvSpPr>
              <p:cNvPr id="78" name="Oval 77"/>
              <p:cNvSpPr/>
              <p:nvPr/>
            </p:nvSpPr>
            <p:spPr>
              <a:xfrm>
                <a:off x="2047524" y="3224174"/>
                <a:ext cx="113386" cy="113386"/>
              </a:xfrm>
              <a:prstGeom prst="ellipse">
                <a:avLst/>
              </a:prstGeom>
              <a:solidFill>
                <a:srgbClr val="1B1D21"/>
              </a:solidFill>
              <a:ln w="12700">
                <a:solidFill>
                  <a:srgbClr val="9AA0A6"/>
                </a:solidFill>
              </a:ln>
            </p:spPr>
            <p:txBody>
              <a:bodyPr rtlCol="0" anchor="ctr"/>
              <a:lstStyle/>
              <a:p>
                <a:pPr algn="ctr"/>
                <a:endParaRPr/>
              </a:p>
            </p:txBody>
          </p:sp>
          <p:sp>
            <p:nvSpPr>
              <p:cNvPr id="79" name="Oval 78"/>
              <p:cNvSpPr/>
              <p:nvPr/>
            </p:nvSpPr>
            <p:spPr>
              <a:xfrm>
                <a:off x="2217603" y="3224174"/>
                <a:ext cx="113386" cy="113386"/>
              </a:xfrm>
              <a:prstGeom prst="ellipse">
                <a:avLst/>
              </a:prstGeom>
              <a:solidFill>
                <a:srgbClr val="1B1D21"/>
              </a:solidFill>
              <a:ln w="12700">
                <a:solidFill>
                  <a:srgbClr val="9AA0A6"/>
                </a:solidFill>
              </a:ln>
            </p:spPr>
            <p:txBody>
              <a:bodyPr rtlCol="0" anchor="ctr"/>
              <a:lstStyle/>
              <a:p>
                <a:pPr algn="ctr"/>
                <a:endParaRPr/>
              </a:p>
            </p:txBody>
          </p:sp>
        </p:grpSp>
        <p:grpSp>
          <p:nvGrpSpPr>
            <p:cNvPr id="80" name="Signal stop" descr="Semaphore stop signal, arm flat: STOP."/>
            <p:cNvGrpSpPr/>
            <p:nvPr/>
          </p:nvGrpSpPr>
          <p:grpSpPr>
            <a:xfrm>
              <a:off x="2688336" y="2450592"/>
              <a:ext cx="1764792" cy="1389888"/>
              <a:chOff x="2688336" y="2450592"/>
              <a:chExt cx="1764792" cy="1389888"/>
            </a:xfrm>
          </p:grpSpPr>
          <p:sp>
            <p:nvSpPr>
              <p:cNvPr id="81" name="Rectangle 80"/>
              <p:cNvSpPr/>
              <p:nvPr/>
            </p:nvSpPr>
            <p:spPr>
              <a:xfrm>
                <a:off x="3227832" y="3776472"/>
                <a:ext cx="310896" cy="64008"/>
              </a:xfrm>
              <a:prstGeom prst="rect">
                <a:avLst/>
              </a:prstGeom>
              <a:solidFill>
                <a:srgbClr val="9AA0A6"/>
              </a:solidFill>
              <a:ln>
                <a:noFill/>
              </a:ln>
            </p:spPr>
            <p:txBody>
              <a:bodyPr rtlCol="0" anchor="ctr"/>
              <a:lstStyle/>
              <a:p>
                <a:pPr algn="ctr"/>
                <a:endParaRPr/>
              </a:p>
            </p:txBody>
          </p:sp>
          <p:sp>
            <p:nvSpPr>
              <p:cNvPr id="82" name="Rectangle 81"/>
              <p:cNvSpPr/>
              <p:nvPr/>
            </p:nvSpPr>
            <p:spPr>
              <a:xfrm>
                <a:off x="3328416" y="2834640"/>
                <a:ext cx="109728" cy="1005840"/>
              </a:xfrm>
              <a:prstGeom prst="rect">
                <a:avLst/>
              </a:prstGeom>
              <a:solidFill>
                <a:srgbClr val="E8E8E8"/>
              </a:solidFill>
              <a:ln>
                <a:noFill/>
              </a:ln>
            </p:spPr>
            <p:txBody>
              <a:bodyPr rtlCol="0" anchor="ctr"/>
              <a:lstStyle/>
              <a:p>
                <a:pPr algn="ctr"/>
                <a:endParaRPr/>
              </a:p>
            </p:txBody>
          </p:sp>
          <p:sp>
            <p:nvSpPr>
              <p:cNvPr id="83" name="Oval 82"/>
              <p:cNvSpPr/>
              <p:nvPr/>
            </p:nvSpPr>
            <p:spPr>
              <a:xfrm>
                <a:off x="3319272" y="2734056"/>
                <a:ext cx="128016" cy="128016"/>
              </a:xfrm>
              <a:prstGeom prst="ellipse">
                <a:avLst/>
              </a:prstGeom>
              <a:solidFill>
                <a:srgbClr val="E8E8E8"/>
              </a:solidFill>
              <a:ln>
                <a:noFill/>
              </a:ln>
            </p:spPr>
            <p:txBody>
              <a:bodyPr rtlCol="0" anchor="ctr"/>
              <a:lstStyle/>
              <a:p>
                <a:pPr algn="ctr"/>
                <a:endParaRPr/>
              </a:p>
            </p:txBody>
          </p:sp>
          <p:sp>
            <p:nvSpPr>
              <p:cNvPr id="84" name="Freeform 83"/>
              <p:cNvSpPr/>
              <p:nvPr/>
            </p:nvSpPr>
            <p:spPr>
              <a:xfrm>
                <a:off x="2688336" y="2980944"/>
                <a:ext cx="640080" cy="128016"/>
              </a:xfrm>
              <a:custGeom>
                <a:avLst/>
                <a:gdLst/>
                <a:ahLst/>
                <a:cxnLst/>
                <a:rect l="l" t="t" r="r" b="b"/>
                <a:pathLst>
                  <a:path w="640080" h="128016">
                    <a:moveTo>
                      <a:pt x="640080" y="0"/>
                    </a:moveTo>
                    <a:lnTo>
                      <a:pt x="0" y="0"/>
                    </a:lnTo>
                    <a:lnTo>
                      <a:pt x="0" y="128016"/>
                    </a:lnTo>
                    <a:lnTo>
                      <a:pt x="640080" y="128016"/>
                    </a:lnTo>
                    <a:close/>
                  </a:path>
                </a:pathLst>
              </a:custGeom>
              <a:solidFill>
                <a:srgbClr val="E5484D"/>
              </a:solidFill>
              <a:ln w="9525">
                <a:solidFill>
                  <a:srgbClr val="101418"/>
                </a:solidFill>
              </a:ln>
            </p:spPr>
            <p:txBody>
              <a:bodyPr rtlCol="0" anchor="ctr"/>
              <a:lstStyle/>
              <a:p>
                <a:pPr algn="ctr"/>
                <a:endParaRPr/>
              </a:p>
            </p:txBody>
          </p:sp>
          <p:sp>
            <p:nvSpPr>
              <p:cNvPr id="85" name="Freeform 84"/>
              <p:cNvSpPr/>
              <p:nvPr/>
            </p:nvSpPr>
            <p:spPr>
              <a:xfrm>
                <a:off x="2854757" y="2980944"/>
                <a:ext cx="76809" cy="128016"/>
              </a:xfrm>
              <a:custGeom>
                <a:avLst/>
                <a:gdLst/>
                <a:ahLst/>
                <a:cxnLst/>
                <a:rect l="l" t="t" r="r" b="b"/>
                <a:pathLst>
                  <a:path w="76809" h="128016">
                    <a:moveTo>
                      <a:pt x="76809" y="0"/>
                    </a:moveTo>
                    <a:lnTo>
                      <a:pt x="0" y="0"/>
                    </a:lnTo>
                    <a:lnTo>
                      <a:pt x="0" y="128016"/>
                    </a:lnTo>
                    <a:lnTo>
                      <a:pt x="76809" y="128016"/>
                    </a:lnTo>
                    <a:close/>
                  </a:path>
                </a:pathLst>
              </a:custGeom>
              <a:solidFill>
                <a:srgbClr val="FFFFFF"/>
              </a:solidFill>
              <a:ln>
                <a:noFill/>
              </a:ln>
            </p:spPr>
            <p:txBody>
              <a:bodyPr rtlCol="0" anchor="ctr"/>
              <a:lstStyle/>
              <a:p>
                <a:pPr algn="ctr"/>
                <a:endParaRPr/>
              </a:p>
            </p:txBody>
          </p:sp>
          <p:sp>
            <p:nvSpPr>
              <p:cNvPr id="86" name="Oval 85"/>
              <p:cNvSpPr/>
              <p:nvPr/>
            </p:nvSpPr>
            <p:spPr>
              <a:xfrm>
                <a:off x="3461004" y="2967228"/>
                <a:ext cx="155448" cy="155448"/>
              </a:xfrm>
              <a:prstGeom prst="ellipse">
                <a:avLst/>
              </a:prstGeom>
              <a:solidFill>
                <a:srgbClr val="E5484D"/>
              </a:solidFill>
              <a:ln w="9525">
                <a:solidFill>
                  <a:srgbClr val="101418"/>
                </a:solidFill>
              </a:ln>
            </p:spPr>
            <p:txBody>
              <a:bodyPr rtlCol="0" anchor="ctr"/>
              <a:lstStyle/>
              <a:p>
                <a:pPr algn="ctr"/>
                <a:endParaRPr/>
              </a:p>
            </p:txBody>
          </p:sp>
          <p:sp>
            <p:nvSpPr>
              <p:cNvPr id="87" name="Rounded Rectangle 86"/>
              <p:cNvSpPr/>
              <p:nvPr/>
            </p:nvSpPr>
            <p:spPr>
              <a:xfrm>
                <a:off x="3584448" y="2450592"/>
                <a:ext cx="868680" cy="329184"/>
              </a:xfrm>
              <a:prstGeom prst="roundRect">
                <a:avLst>
                  <a:gd name="adj" fmla="val 50000"/>
                </a:avLst>
              </a:prstGeom>
              <a:solidFill>
                <a:srgbClr val="B3262B"/>
              </a:solidFill>
              <a:ln>
                <a:noFill/>
              </a:ln>
            </p:spPr>
            <p:txBody>
              <a:bodyPr wrap="square" lIns="54864" tIns="18288" rIns="54864" bIns="18288" rtlCol="0" anchor="ctr">
                <a:noAutofit/>
              </a:bodyPr>
              <a:lstStyle/>
              <a:p>
                <a:pPr algn="ctr"/>
                <a:r>
                  <a:rPr lang="en-GB" sz="1400" b="1" i="0">
                    <a:solidFill>
                      <a:srgbClr val="F2F2F2"/>
                    </a:solidFill>
                    <a:latin typeface="Arial"/>
                  </a:rPr>
                  <a:t>STOP</a:t>
                </a:r>
              </a:p>
            </p:txBody>
          </p:sp>
        </p:grpSp>
        <p:grpSp>
          <p:nvGrpSpPr>
            <p:cNvPr id="88" name="Signal clear" descr="Semaphore stop signal, arm raised: CLEAR."/>
            <p:cNvGrpSpPr/>
            <p:nvPr/>
          </p:nvGrpSpPr>
          <p:grpSpPr>
            <a:xfrm>
              <a:off x="5573751" y="2450592"/>
              <a:ext cx="1622577" cy="1389888"/>
              <a:chOff x="5573751" y="2450592"/>
              <a:chExt cx="1622577" cy="1389888"/>
            </a:xfrm>
          </p:grpSpPr>
          <p:sp>
            <p:nvSpPr>
              <p:cNvPr id="89" name="Rectangle 88"/>
              <p:cNvSpPr/>
              <p:nvPr/>
            </p:nvSpPr>
            <p:spPr>
              <a:xfrm>
                <a:off x="5971032" y="3776472"/>
                <a:ext cx="310896" cy="64008"/>
              </a:xfrm>
              <a:prstGeom prst="rect">
                <a:avLst/>
              </a:prstGeom>
              <a:solidFill>
                <a:srgbClr val="9AA0A6"/>
              </a:solidFill>
              <a:ln>
                <a:noFill/>
              </a:ln>
            </p:spPr>
            <p:txBody>
              <a:bodyPr rtlCol="0" anchor="ctr"/>
              <a:lstStyle/>
              <a:p>
                <a:pPr algn="ctr"/>
                <a:endParaRPr/>
              </a:p>
            </p:txBody>
          </p:sp>
          <p:sp>
            <p:nvSpPr>
              <p:cNvPr id="90" name="Rectangle 89"/>
              <p:cNvSpPr/>
              <p:nvPr/>
            </p:nvSpPr>
            <p:spPr>
              <a:xfrm>
                <a:off x="6071616" y="2834640"/>
                <a:ext cx="109728" cy="1005840"/>
              </a:xfrm>
              <a:prstGeom prst="rect">
                <a:avLst/>
              </a:prstGeom>
              <a:solidFill>
                <a:srgbClr val="E8E8E8"/>
              </a:solidFill>
              <a:ln>
                <a:noFill/>
              </a:ln>
            </p:spPr>
            <p:txBody>
              <a:bodyPr rtlCol="0" anchor="ctr"/>
              <a:lstStyle/>
              <a:p>
                <a:pPr algn="ctr"/>
                <a:endParaRPr/>
              </a:p>
            </p:txBody>
          </p:sp>
          <p:sp>
            <p:nvSpPr>
              <p:cNvPr id="91" name="Oval 90"/>
              <p:cNvSpPr/>
              <p:nvPr/>
            </p:nvSpPr>
            <p:spPr>
              <a:xfrm>
                <a:off x="6062472" y="2734056"/>
                <a:ext cx="128016" cy="128016"/>
              </a:xfrm>
              <a:prstGeom prst="ellipse">
                <a:avLst/>
              </a:prstGeom>
              <a:solidFill>
                <a:srgbClr val="E8E8E8"/>
              </a:solidFill>
              <a:ln>
                <a:noFill/>
              </a:ln>
            </p:spPr>
            <p:txBody>
              <a:bodyPr rtlCol="0" anchor="ctr"/>
              <a:lstStyle/>
              <a:p>
                <a:pPr algn="ctr"/>
                <a:endParaRPr/>
              </a:p>
            </p:txBody>
          </p:sp>
          <p:sp>
            <p:nvSpPr>
              <p:cNvPr id="92" name="Freeform 91"/>
              <p:cNvSpPr/>
              <p:nvPr/>
            </p:nvSpPr>
            <p:spPr>
              <a:xfrm>
                <a:off x="5573751" y="2547087"/>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endParaRPr/>
              </a:p>
            </p:txBody>
          </p:sp>
          <p:sp>
            <p:nvSpPr>
              <p:cNvPr id="93" name="Freeform 92"/>
              <p:cNvSpPr/>
              <p:nvPr/>
            </p:nvSpPr>
            <p:spPr>
              <a:xfrm>
                <a:off x="5691428" y="2664764"/>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endParaRPr/>
              </a:p>
            </p:txBody>
          </p:sp>
          <p:sp>
            <p:nvSpPr>
              <p:cNvPr id="94" name="Oval 93"/>
              <p:cNvSpPr/>
              <p:nvPr/>
            </p:nvSpPr>
            <p:spPr>
              <a:xfrm>
                <a:off x="6204204" y="2967228"/>
                <a:ext cx="155448" cy="155448"/>
              </a:xfrm>
              <a:prstGeom prst="ellipse">
                <a:avLst/>
              </a:prstGeom>
              <a:solidFill>
                <a:srgbClr val="3FB950"/>
              </a:solidFill>
              <a:ln w="9525">
                <a:solidFill>
                  <a:srgbClr val="101418"/>
                </a:solidFill>
              </a:ln>
            </p:spPr>
            <p:txBody>
              <a:bodyPr rtlCol="0" anchor="ctr"/>
              <a:lstStyle/>
              <a:p>
                <a:pPr algn="ctr"/>
                <a:endParaRPr/>
              </a:p>
            </p:txBody>
          </p:sp>
          <p:sp>
            <p:nvSpPr>
              <p:cNvPr id="95" name="Rounded Rectangle 94"/>
              <p:cNvSpPr/>
              <p:nvPr/>
            </p:nvSpPr>
            <p:spPr>
              <a:xfrm>
                <a:off x="6327648" y="2450592"/>
                <a:ext cx="86868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CLEAR</a:t>
                </a:r>
              </a:p>
            </p:txBody>
          </p:sp>
        </p:grpSp>
        <p:grpSp>
          <p:nvGrpSpPr>
            <p:cNvPr id="96" name="Signal clear" descr="Semaphore stop signal, arm raised: CLEAR."/>
            <p:cNvGrpSpPr/>
            <p:nvPr/>
          </p:nvGrpSpPr>
          <p:grpSpPr>
            <a:xfrm>
              <a:off x="8316951" y="2450592"/>
              <a:ext cx="1622577" cy="1389888"/>
              <a:chOff x="8316951" y="2450592"/>
              <a:chExt cx="1622577" cy="1389888"/>
            </a:xfrm>
          </p:grpSpPr>
          <p:sp>
            <p:nvSpPr>
              <p:cNvPr id="97" name="Rectangle 96"/>
              <p:cNvSpPr/>
              <p:nvPr/>
            </p:nvSpPr>
            <p:spPr>
              <a:xfrm>
                <a:off x="8714232" y="3776472"/>
                <a:ext cx="310896" cy="64008"/>
              </a:xfrm>
              <a:prstGeom prst="rect">
                <a:avLst/>
              </a:prstGeom>
              <a:solidFill>
                <a:srgbClr val="9AA0A6"/>
              </a:solidFill>
              <a:ln>
                <a:noFill/>
              </a:ln>
            </p:spPr>
            <p:txBody>
              <a:bodyPr rtlCol="0" anchor="ctr"/>
              <a:lstStyle/>
              <a:p>
                <a:pPr algn="ctr"/>
                <a:endParaRPr/>
              </a:p>
            </p:txBody>
          </p:sp>
          <p:sp>
            <p:nvSpPr>
              <p:cNvPr id="98" name="Rectangle 97"/>
              <p:cNvSpPr/>
              <p:nvPr/>
            </p:nvSpPr>
            <p:spPr>
              <a:xfrm>
                <a:off x="8814816" y="2834640"/>
                <a:ext cx="109728" cy="1005840"/>
              </a:xfrm>
              <a:prstGeom prst="rect">
                <a:avLst/>
              </a:prstGeom>
              <a:solidFill>
                <a:srgbClr val="E8E8E8"/>
              </a:solidFill>
              <a:ln>
                <a:noFill/>
              </a:ln>
            </p:spPr>
            <p:txBody>
              <a:bodyPr rtlCol="0" anchor="ctr"/>
              <a:lstStyle/>
              <a:p>
                <a:pPr algn="ctr"/>
                <a:endParaRPr/>
              </a:p>
            </p:txBody>
          </p:sp>
          <p:sp>
            <p:nvSpPr>
              <p:cNvPr id="99" name="Oval 98"/>
              <p:cNvSpPr/>
              <p:nvPr/>
            </p:nvSpPr>
            <p:spPr>
              <a:xfrm>
                <a:off x="8805672" y="2734056"/>
                <a:ext cx="128016" cy="128016"/>
              </a:xfrm>
              <a:prstGeom prst="ellipse">
                <a:avLst/>
              </a:prstGeom>
              <a:solidFill>
                <a:srgbClr val="E8E8E8"/>
              </a:solidFill>
              <a:ln>
                <a:noFill/>
              </a:ln>
            </p:spPr>
            <p:txBody>
              <a:bodyPr rtlCol="0" anchor="ctr"/>
              <a:lstStyle/>
              <a:p>
                <a:pPr algn="ctr"/>
                <a:endParaRPr/>
              </a:p>
            </p:txBody>
          </p:sp>
          <p:sp>
            <p:nvSpPr>
              <p:cNvPr id="100" name="Freeform 99"/>
              <p:cNvSpPr/>
              <p:nvPr/>
            </p:nvSpPr>
            <p:spPr>
              <a:xfrm>
                <a:off x="8316951" y="2547087"/>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endParaRPr/>
              </a:p>
            </p:txBody>
          </p:sp>
          <p:sp>
            <p:nvSpPr>
              <p:cNvPr id="101" name="Freeform 100"/>
              <p:cNvSpPr/>
              <p:nvPr/>
            </p:nvSpPr>
            <p:spPr>
              <a:xfrm>
                <a:off x="8434628" y="2664764"/>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endParaRPr/>
              </a:p>
            </p:txBody>
          </p:sp>
          <p:sp>
            <p:nvSpPr>
              <p:cNvPr id="102" name="Oval 101"/>
              <p:cNvSpPr/>
              <p:nvPr/>
            </p:nvSpPr>
            <p:spPr>
              <a:xfrm>
                <a:off x="8947404" y="2967228"/>
                <a:ext cx="155448" cy="155448"/>
              </a:xfrm>
              <a:prstGeom prst="ellipse">
                <a:avLst/>
              </a:prstGeom>
              <a:solidFill>
                <a:srgbClr val="3FB950"/>
              </a:solidFill>
              <a:ln w="9525">
                <a:solidFill>
                  <a:srgbClr val="101418"/>
                </a:solidFill>
              </a:ln>
            </p:spPr>
            <p:txBody>
              <a:bodyPr rtlCol="0" anchor="ctr"/>
              <a:lstStyle/>
              <a:p>
                <a:pPr algn="ctr"/>
                <a:endParaRPr/>
              </a:p>
            </p:txBody>
          </p:sp>
          <p:sp>
            <p:nvSpPr>
              <p:cNvPr id="103" name="Rounded Rectangle 102"/>
              <p:cNvSpPr/>
              <p:nvPr/>
            </p:nvSpPr>
            <p:spPr>
              <a:xfrm>
                <a:off x="9070848" y="2450592"/>
                <a:ext cx="86868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CLEAR</a:t>
                </a:r>
              </a:p>
            </p:txBody>
          </p:sp>
        </p:grpSp>
        <p:cxnSp>
          <p:nvCxnSpPr>
            <p:cNvPr id="104" name="Connector 103"/>
            <p:cNvCxnSpPr/>
            <p:nvPr/>
          </p:nvCxnSpPr>
          <p:spPr>
            <a:xfrm>
              <a:off x="6126480" y="2057400"/>
              <a:ext cx="2743200" cy="0"/>
            </a:xfrm>
            <a:prstGeom prst="line">
              <a:avLst/>
            </a:prstGeom>
            <a:ln w="19050">
              <a:solidFill>
                <a:srgbClr val="F2F2F2"/>
              </a:solidFill>
              <a:headEnd type="triangle" w="med" len="med"/>
              <a:tailEnd type="triangle" w="med" len="med"/>
            </a:ln>
          </p:spPr>
        </p:cxnSp>
        <p:cxnSp>
          <p:nvCxnSpPr>
            <p:cNvPr id="105" name="Connector 104"/>
            <p:cNvCxnSpPr/>
            <p:nvPr/>
          </p:nvCxnSpPr>
          <p:spPr>
            <a:xfrm>
              <a:off x="6126480" y="1920240"/>
              <a:ext cx="0" cy="274320"/>
            </a:xfrm>
            <a:prstGeom prst="line">
              <a:avLst/>
            </a:prstGeom>
            <a:ln w="19050">
              <a:solidFill>
                <a:srgbClr val="F2F2F2"/>
              </a:solidFill>
            </a:ln>
          </p:spPr>
        </p:cxnSp>
        <p:cxnSp>
          <p:nvCxnSpPr>
            <p:cNvPr id="106" name="Connector 105"/>
            <p:cNvCxnSpPr/>
            <p:nvPr/>
          </p:nvCxnSpPr>
          <p:spPr>
            <a:xfrm>
              <a:off x="8869680" y="1920240"/>
              <a:ext cx="0" cy="274320"/>
            </a:xfrm>
            <a:prstGeom prst="line">
              <a:avLst/>
            </a:prstGeom>
            <a:ln w="19050">
              <a:solidFill>
                <a:srgbClr val="F2F2F2"/>
              </a:solidFill>
            </a:ln>
          </p:spPr>
        </p:cxnSp>
        <p:sp>
          <p:nvSpPr>
            <p:cNvPr id="107" name="TextBox 106"/>
            <p:cNvSpPr txBox="1"/>
            <p:nvPr/>
          </p:nvSpPr>
          <p:spPr>
            <a:xfrm>
              <a:off x="6126480" y="1673352"/>
              <a:ext cx="2743200" cy="347472"/>
            </a:xfrm>
            <a:prstGeom prst="rect">
              <a:avLst/>
            </a:prstGeom>
            <a:noFill/>
          </p:spPr>
          <p:txBody>
            <a:bodyPr wrap="square" lIns="0" tIns="0" rIns="0" bIns="0" anchor="b">
              <a:noAutofit/>
            </a:bodyPr>
            <a:lstStyle/>
            <a:p>
              <a:pPr algn="ctr"/>
              <a:r>
                <a:rPr lang="en-GB" sz="1800" b="1" i="0">
                  <a:solidFill>
                    <a:srgbClr val="F2F2F2"/>
                  </a:solidFill>
                  <a:latin typeface="Arial"/>
                </a:rPr>
                <a:t>One block</a:t>
              </a:r>
            </a:p>
          </p:txBody>
        </p:sp>
        <p:sp>
          <p:nvSpPr>
            <p:cNvPr id="108" name="TextBox 107"/>
            <p:cNvSpPr txBox="1"/>
            <p:nvPr/>
          </p:nvSpPr>
          <p:spPr>
            <a:xfrm>
              <a:off x="822960" y="1874520"/>
              <a:ext cx="1280160" cy="365760"/>
            </a:xfrm>
            <a:prstGeom prst="rect">
              <a:avLst/>
            </a:prstGeom>
            <a:noFill/>
          </p:spPr>
          <p:txBody>
            <a:bodyPr wrap="square" lIns="0" tIns="0" rIns="0" bIns="0" anchor="ctr">
              <a:noAutofit/>
            </a:bodyPr>
            <a:lstStyle/>
            <a:p>
              <a:pPr algn="l"/>
              <a:r>
                <a:rPr lang="en-GB" sz="1800" b="1" i="0">
                  <a:solidFill>
                    <a:srgbClr val="F2F2F2"/>
                  </a:solidFill>
                  <a:latin typeface="Arial"/>
                </a:rPr>
                <a:t>Waits</a:t>
              </a:r>
            </a:p>
          </p:txBody>
        </p:sp>
        <p:cxnSp>
          <p:nvCxnSpPr>
            <p:cNvPr id="109" name="Connector 108"/>
            <p:cNvCxnSpPr/>
            <p:nvPr/>
          </p:nvCxnSpPr>
          <p:spPr>
            <a:xfrm>
              <a:off x="1554480" y="2240280"/>
              <a:ext cx="320040" cy="484632"/>
            </a:xfrm>
            <a:prstGeom prst="line">
              <a:avLst/>
            </a:prstGeom>
            <a:ln w="28575">
              <a:solidFill>
                <a:srgbClr val="F28C28"/>
              </a:solidFill>
              <a:tailEnd type="triangle" w="lg" len="lg"/>
            </a:ln>
          </p:spPr>
        </p:cxnSp>
      </p:grpSp>
      <p:grpSp>
        <p:nvGrpSpPr>
          <p:cNvPr id="110" name="Legend" descr="Legend: arm flat means stop; arm raised means go."/>
          <p:cNvGrpSpPr/>
          <p:nvPr/>
        </p:nvGrpSpPr>
        <p:grpSpPr>
          <a:xfrm>
            <a:off x="543154" y="4526280"/>
            <a:ext cx="4577486" cy="868680"/>
            <a:chOff x="543154" y="4526280"/>
            <a:chExt cx="4577486" cy="868680"/>
          </a:xfrm>
        </p:grpSpPr>
        <p:sp>
          <p:nvSpPr>
            <p:cNvPr id="111" name="Rounded Rectangle 110"/>
            <p:cNvSpPr/>
            <p:nvPr/>
          </p:nvSpPr>
          <p:spPr>
            <a:xfrm>
              <a:off x="548640" y="4526280"/>
              <a:ext cx="4572000" cy="868680"/>
            </a:xfrm>
            <a:prstGeom prst="roundRect">
              <a:avLst>
                <a:gd name="adj" fmla="val 8421"/>
              </a:avLst>
            </a:prstGeom>
            <a:solidFill>
              <a:srgbClr val="2B2F36"/>
            </a:solidFill>
            <a:ln>
              <a:noFill/>
            </a:ln>
          </p:spPr>
          <p:txBody>
            <a:bodyPr rtlCol="0" anchor="ctr"/>
            <a:lstStyle/>
            <a:p>
              <a:pPr algn="ctr"/>
              <a:endParaRPr/>
            </a:p>
          </p:txBody>
        </p:sp>
        <p:grpSp>
          <p:nvGrpSpPr>
            <p:cNvPr id="112" name="Signal stop" descr="Semaphore stop signal, arm flat: STOP."/>
            <p:cNvGrpSpPr/>
            <p:nvPr/>
          </p:nvGrpSpPr>
          <p:grpSpPr>
            <a:xfrm>
              <a:off x="543154" y="4657954"/>
              <a:ext cx="556869" cy="663854"/>
              <a:chOff x="543154" y="4657954"/>
              <a:chExt cx="556869" cy="663854"/>
            </a:xfrm>
          </p:grpSpPr>
          <p:sp>
            <p:nvSpPr>
              <p:cNvPr id="113" name="Rectangle 112"/>
              <p:cNvSpPr/>
              <p:nvPr/>
            </p:nvSpPr>
            <p:spPr>
              <a:xfrm>
                <a:off x="866851" y="5283403"/>
                <a:ext cx="186538" cy="38405"/>
              </a:xfrm>
              <a:prstGeom prst="rect">
                <a:avLst/>
              </a:prstGeom>
              <a:solidFill>
                <a:srgbClr val="9AA0A6"/>
              </a:solidFill>
              <a:ln>
                <a:noFill/>
              </a:ln>
            </p:spPr>
            <p:txBody>
              <a:bodyPr rtlCol="0" anchor="ctr"/>
              <a:lstStyle/>
              <a:p>
                <a:pPr algn="ctr"/>
                <a:endParaRPr/>
              </a:p>
            </p:txBody>
          </p:sp>
          <p:sp>
            <p:nvSpPr>
              <p:cNvPr id="114" name="Rectangle 113"/>
              <p:cNvSpPr/>
              <p:nvPr/>
            </p:nvSpPr>
            <p:spPr>
              <a:xfrm>
                <a:off x="927202" y="4718304"/>
                <a:ext cx="65837" cy="603504"/>
              </a:xfrm>
              <a:prstGeom prst="rect">
                <a:avLst/>
              </a:prstGeom>
              <a:solidFill>
                <a:srgbClr val="E8E8E8"/>
              </a:solidFill>
              <a:ln>
                <a:noFill/>
              </a:ln>
            </p:spPr>
            <p:txBody>
              <a:bodyPr rtlCol="0" anchor="ctr"/>
              <a:lstStyle/>
              <a:p>
                <a:pPr algn="ctr"/>
                <a:endParaRPr/>
              </a:p>
            </p:txBody>
          </p:sp>
          <p:sp>
            <p:nvSpPr>
              <p:cNvPr id="115" name="Oval 114"/>
              <p:cNvSpPr/>
              <p:nvPr/>
            </p:nvSpPr>
            <p:spPr>
              <a:xfrm>
                <a:off x="921715" y="4657954"/>
                <a:ext cx="76810" cy="76810"/>
              </a:xfrm>
              <a:prstGeom prst="ellipse">
                <a:avLst/>
              </a:prstGeom>
              <a:solidFill>
                <a:srgbClr val="E8E8E8"/>
              </a:solidFill>
              <a:ln>
                <a:noFill/>
              </a:ln>
            </p:spPr>
            <p:txBody>
              <a:bodyPr rtlCol="0" anchor="ctr"/>
              <a:lstStyle/>
              <a:p>
                <a:pPr algn="ctr"/>
                <a:endParaRPr/>
              </a:p>
            </p:txBody>
          </p:sp>
          <p:sp>
            <p:nvSpPr>
              <p:cNvPr id="116" name="Freeform 115"/>
              <p:cNvSpPr/>
              <p:nvPr/>
            </p:nvSpPr>
            <p:spPr>
              <a:xfrm>
                <a:off x="543154" y="4806086"/>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endParaRPr/>
              </a:p>
            </p:txBody>
          </p:sp>
          <p:sp>
            <p:nvSpPr>
              <p:cNvPr id="117" name="Freeform 116"/>
              <p:cNvSpPr/>
              <p:nvPr/>
            </p:nvSpPr>
            <p:spPr>
              <a:xfrm>
                <a:off x="643006" y="4806086"/>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endParaRPr/>
              </a:p>
            </p:txBody>
          </p:sp>
          <p:sp>
            <p:nvSpPr>
              <p:cNvPr id="118" name="Oval 117"/>
              <p:cNvSpPr/>
              <p:nvPr/>
            </p:nvSpPr>
            <p:spPr>
              <a:xfrm>
                <a:off x="1006754" y="4797857"/>
                <a:ext cx="93269" cy="93269"/>
              </a:xfrm>
              <a:prstGeom prst="ellipse">
                <a:avLst/>
              </a:prstGeom>
              <a:solidFill>
                <a:srgbClr val="E5484D"/>
              </a:solidFill>
              <a:ln w="9525">
                <a:solidFill>
                  <a:srgbClr val="101418"/>
                </a:solidFill>
              </a:ln>
            </p:spPr>
            <p:txBody>
              <a:bodyPr rtlCol="0" anchor="ctr"/>
              <a:lstStyle/>
              <a:p>
                <a:pPr algn="ctr"/>
                <a:endParaRPr/>
              </a:p>
            </p:txBody>
          </p:sp>
        </p:grpSp>
        <p:sp>
          <p:nvSpPr>
            <p:cNvPr id="119" name="TextBox 118"/>
            <p:cNvSpPr txBox="1"/>
            <p:nvPr/>
          </p:nvSpPr>
          <p:spPr>
            <a:xfrm>
              <a:off x="1508760" y="4617720"/>
              <a:ext cx="1463040" cy="685800"/>
            </a:xfrm>
            <a:prstGeom prst="rect">
              <a:avLst/>
            </a:prstGeom>
            <a:noFill/>
          </p:spPr>
          <p:txBody>
            <a:bodyPr wrap="square" lIns="0" tIns="0" rIns="0" bIns="0" anchor="ctr">
              <a:noAutofit/>
            </a:bodyPr>
            <a:lstStyle/>
            <a:p>
              <a:pPr algn="l"/>
              <a:r>
                <a:rPr lang="en-GB" sz="1600" b="0" i="0">
                  <a:solidFill>
                    <a:srgbClr val="F2F2F2"/>
                  </a:solidFill>
                  <a:latin typeface="Arial"/>
                </a:rPr>
                <a:t>Arm flat: stop</a:t>
              </a:r>
            </a:p>
          </p:txBody>
        </p:sp>
        <p:grpSp>
          <p:nvGrpSpPr>
            <p:cNvPr id="120" name="Signal clear" descr="Semaphore stop signal, arm raised: CLEAR."/>
            <p:cNvGrpSpPr/>
            <p:nvPr/>
          </p:nvGrpSpPr>
          <p:grpSpPr>
            <a:xfrm>
              <a:off x="2823042" y="4545772"/>
              <a:ext cx="471541" cy="776036"/>
              <a:chOff x="2823042" y="4545772"/>
              <a:chExt cx="471541" cy="776036"/>
            </a:xfrm>
          </p:grpSpPr>
          <p:sp>
            <p:nvSpPr>
              <p:cNvPr id="121" name="Rectangle 120"/>
              <p:cNvSpPr/>
              <p:nvPr/>
            </p:nvSpPr>
            <p:spPr>
              <a:xfrm>
                <a:off x="3061411" y="5283403"/>
                <a:ext cx="186538" cy="38405"/>
              </a:xfrm>
              <a:prstGeom prst="rect">
                <a:avLst/>
              </a:prstGeom>
              <a:solidFill>
                <a:srgbClr val="9AA0A6"/>
              </a:solidFill>
              <a:ln>
                <a:noFill/>
              </a:ln>
            </p:spPr>
            <p:txBody>
              <a:bodyPr rtlCol="0" anchor="ctr"/>
              <a:lstStyle/>
              <a:p>
                <a:pPr algn="ctr"/>
                <a:endParaRPr/>
              </a:p>
            </p:txBody>
          </p:sp>
          <p:sp>
            <p:nvSpPr>
              <p:cNvPr id="122" name="Rectangle 121"/>
              <p:cNvSpPr/>
              <p:nvPr/>
            </p:nvSpPr>
            <p:spPr>
              <a:xfrm>
                <a:off x="3121762" y="4718304"/>
                <a:ext cx="65837" cy="603504"/>
              </a:xfrm>
              <a:prstGeom prst="rect">
                <a:avLst/>
              </a:prstGeom>
              <a:solidFill>
                <a:srgbClr val="E8E8E8"/>
              </a:solidFill>
              <a:ln>
                <a:noFill/>
              </a:ln>
            </p:spPr>
            <p:txBody>
              <a:bodyPr rtlCol="0" anchor="ctr"/>
              <a:lstStyle/>
              <a:p>
                <a:pPr algn="ctr"/>
                <a:endParaRPr/>
              </a:p>
            </p:txBody>
          </p:sp>
          <p:sp>
            <p:nvSpPr>
              <p:cNvPr id="123" name="Oval 122"/>
              <p:cNvSpPr/>
              <p:nvPr/>
            </p:nvSpPr>
            <p:spPr>
              <a:xfrm>
                <a:off x="3116275" y="4657954"/>
                <a:ext cx="76810" cy="76810"/>
              </a:xfrm>
              <a:prstGeom prst="ellipse">
                <a:avLst/>
              </a:prstGeom>
              <a:solidFill>
                <a:srgbClr val="E8E8E8"/>
              </a:solidFill>
              <a:ln>
                <a:noFill/>
              </a:ln>
            </p:spPr>
            <p:txBody>
              <a:bodyPr rtlCol="0" anchor="ctr"/>
              <a:lstStyle/>
              <a:p>
                <a:pPr algn="ctr"/>
                <a:endParaRPr/>
              </a:p>
            </p:txBody>
          </p:sp>
          <p:sp>
            <p:nvSpPr>
              <p:cNvPr id="124" name="Freeform 123"/>
              <p:cNvSpPr/>
              <p:nvPr/>
            </p:nvSpPr>
            <p:spPr>
              <a:xfrm>
                <a:off x="2823042" y="4545772"/>
                <a:ext cx="325876" cy="325875"/>
              </a:xfrm>
              <a:custGeom>
                <a:avLst/>
                <a:gdLst/>
                <a:ahLst/>
                <a:cxnLst/>
                <a:rect l="l" t="t" r="r" b="b"/>
                <a:pathLst>
                  <a:path w="325876" h="325875">
                    <a:moveTo>
                      <a:pt x="325876" y="271563"/>
                    </a:moveTo>
                    <a:lnTo>
                      <a:pt x="54313" y="0"/>
                    </a:lnTo>
                    <a:lnTo>
                      <a:pt x="0" y="54313"/>
                    </a:lnTo>
                    <a:lnTo>
                      <a:pt x="271563" y="325875"/>
                    </a:lnTo>
                    <a:close/>
                  </a:path>
                </a:pathLst>
              </a:custGeom>
              <a:solidFill>
                <a:srgbClr val="E5484D"/>
              </a:solidFill>
              <a:ln w="9525">
                <a:solidFill>
                  <a:srgbClr val="101418"/>
                </a:solidFill>
              </a:ln>
            </p:spPr>
            <p:txBody>
              <a:bodyPr rtlCol="0" anchor="ctr"/>
              <a:lstStyle/>
              <a:p>
                <a:pPr algn="ctr"/>
                <a:endParaRPr/>
              </a:p>
            </p:txBody>
          </p:sp>
          <p:sp>
            <p:nvSpPr>
              <p:cNvPr id="125" name="Freeform 124"/>
              <p:cNvSpPr/>
              <p:nvPr/>
            </p:nvSpPr>
            <p:spPr>
              <a:xfrm>
                <a:off x="2893649" y="4616378"/>
                <a:ext cx="86900" cy="86900"/>
              </a:xfrm>
              <a:custGeom>
                <a:avLst/>
                <a:gdLst/>
                <a:ahLst/>
                <a:cxnLst/>
                <a:rect l="l" t="t" r="r" b="b"/>
                <a:pathLst>
                  <a:path w="86900" h="86900">
                    <a:moveTo>
                      <a:pt x="86900" y="32588"/>
                    </a:moveTo>
                    <a:lnTo>
                      <a:pt x="54312" y="0"/>
                    </a:lnTo>
                    <a:lnTo>
                      <a:pt x="0" y="54313"/>
                    </a:lnTo>
                    <a:lnTo>
                      <a:pt x="32587" y="86900"/>
                    </a:lnTo>
                    <a:close/>
                  </a:path>
                </a:pathLst>
              </a:custGeom>
              <a:solidFill>
                <a:srgbClr val="FFFFFF"/>
              </a:solidFill>
              <a:ln>
                <a:noFill/>
              </a:ln>
            </p:spPr>
            <p:txBody>
              <a:bodyPr rtlCol="0" anchor="ctr"/>
              <a:lstStyle/>
              <a:p>
                <a:pPr algn="ctr"/>
                <a:endParaRPr/>
              </a:p>
            </p:txBody>
          </p:sp>
          <p:sp>
            <p:nvSpPr>
              <p:cNvPr id="126" name="Oval 125"/>
              <p:cNvSpPr/>
              <p:nvPr/>
            </p:nvSpPr>
            <p:spPr>
              <a:xfrm>
                <a:off x="3201314" y="4797857"/>
                <a:ext cx="93269" cy="93269"/>
              </a:xfrm>
              <a:prstGeom prst="ellipse">
                <a:avLst/>
              </a:prstGeom>
              <a:solidFill>
                <a:srgbClr val="3FB950"/>
              </a:solidFill>
              <a:ln w="9525">
                <a:solidFill>
                  <a:srgbClr val="101418"/>
                </a:solidFill>
              </a:ln>
            </p:spPr>
            <p:txBody>
              <a:bodyPr rtlCol="0" anchor="ctr"/>
              <a:lstStyle/>
              <a:p>
                <a:pPr algn="ctr"/>
                <a:endParaRPr/>
              </a:p>
            </p:txBody>
          </p:sp>
        </p:grpSp>
        <p:sp>
          <p:nvSpPr>
            <p:cNvPr id="127" name="TextBox 126"/>
            <p:cNvSpPr txBox="1"/>
            <p:nvPr/>
          </p:nvSpPr>
          <p:spPr>
            <a:xfrm>
              <a:off x="3657600" y="4617720"/>
              <a:ext cx="1463040" cy="685800"/>
            </a:xfrm>
            <a:prstGeom prst="rect">
              <a:avLst/>
            </a:prstGeom>
            <a:noFill/>
          </p:spPr>
          <p:txBody>
            <a:bodyPr wrap="square" lIns="0" tIns="0" rIns="0" bIns="0" anchor="ctr">
              <a:noAutofit/>
            </a:bodyPr>
            <a:lstStyle/>
            <a:p>
              <a:pPr algn="l"/>
              <a:r>
                <a:rPr lang="en-GB" sz="1600" b="0" i="0">
                  <a:solidFill>
                    <a:srgbClr val="F2F2F2"/>
                  </a:solidFill>
                  <a:latin typeface="Arial"/>
                </a:rPr>
                <a:t>Arm raised: go</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Signals split the track into blocks. Only one train may be in a block. The next train waits.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28</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110"/>
                                        </p:tgtEl>
                                        <p:attrNameLst>
                                          <p:attrName>style.visibility</p:attrName>
                                        </p:attrNameLst>
                                      </p:cBhvr>
                                      <p:to>
                                        <p:strVal val="visible"/>
                                      </p:to>
                                    </p:set>
                                    <p:animEffect transition="in" filter="fade">
                                      <p:cBhvr>
                                        <p:cTn id="10" dur="500"/>
                                        <p:tgtEl>
                                          <p:spTgt spid="110"/>
                                        </p:tgtEl>
                                      </p:cBhvr>
                                    </p:animEffect>
                                  </p:childTnLst>
                                </p:cTn>
                              </p:par>
                              <p:par>
                                <p:cTn id="11" presetID="10" presetClass="entr" presetSubtype="0" fill="hold" nodeType="withEffect">
                                  <p:stCondLst>
                                    <p:cond delay="6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nodeType="withEffect">
                                  <p:stCondLst>
                                    <p:cond delay="9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Semaphore signals</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8" name="Inline chip Undecided"/>
          <p:cNvSpPr/>
          <p:nvPr/>
        </p:nvSpPr>
        <p:spPr>
          <a:xfrm>
            <a:off x="9096070" y="896112"/>
            <a:ext cx="2546985"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ARM STYLE: UNDECIDED</a:t>
            </a:r>
          </a:p>
        </p:txBody>
      </p:sp>
      <p:pic>
        <p:nvPicPr>
          <p:cNvPr id="9" name="Picture R03" descr="The mod's semaphore stop signal model with its arm flat (stop)."/>
          <p:cNvPicPr>
            <a:picLocks noChangeAspect="1"/>
          </p:cNvPicPr>
          <p:nvPr/>
        </p:nvPicPr>
        <p:blipFill>
          <a:blip r:embed="rId2"/>
          <a:srcRect/>
          <a:stretch>
            <a:fillRect/>
          </a:stretch>
        </p:blipFill>
        <p:spPr>
          <a:xfrm>
            <a:off x="548640" y="1325880"/>
            <a:ext cx="3749040" cy="2811780"/>
          </a:xfrm>
          <a:prstGeom prst="roundRect">
            <a:avLst>
              <a:gd name="adj" fmla="val 2602"/>
            </a:avLst>
          </a:prstGeom>
        </p:spPr>
      </p:pic>
      <p:sp>
        <p:nvSpPr>
          <p:cNvPr id="10" name="Credit"/>
          <p:cNvSpPr txBox="1"/>
          <p:nvPr/>
        </p:nvSpPr>
        <p:spPr>
          <a:xfrm>
            <a:off x="548640" y="4165092"/>
            <a:ext cx="3749040" cy="338328"/>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Early test model, not final art.</a:t>
            </a:r>
          </a:p>
          <a:p>
            <a:pPr algn="l"/>
            <a:r>
              <a:rPr lang="en-GB" sz="1000" b="0" i="0">
                <a:solidFill>
                  <a:srgbClr val="A9B0B8"/>
                </a:solidFill>
                <a:latin typeface="Arial"/>
              </a:rPr>
              <a:t>Blender model, not yet in the game.</a:t>
            </a:r>
          </a:p>
        </p:txBody>
      </p:sp>
      <p:grpSp>
        <p:nvGrpSpPr>
          <p:cNvPr id="11" name="Label STOP: arm flat" descr="Label: STOP: arm flat"/>
          <p:cNvGrpSpPr/>
          <p:nvPr/>
        </p:nvGrpSpPr>
        <p:grpSpPr>
          <a:xfrm>
            <a:off x="685800" y="1463040"/>
            <a:ext cx="2514600" cy="449085"/>
            <a:chOff x="685800" y="1463040"/>
            <a:chExt cx="2514600" cy="449085"/>
          </a:xfrm>
        </p:grpSpPr>
        <p:sp>
          <p:nvSpPr>
            <p:cNvPr id="12" name="Rounded Rectangle 11"/>
            <p:cNvSpPr/>
            <p:nvPr/>
          </p:nvSpPr>
          <p:spPr>
            <a:xfrm>
              <a:off x="685800" y="1463040"/>
              <a:ext cx="2514600" cy="411480"/>
            </a:xfrm>
            <a:prstGeom prst="roundRect">
              <a:avLst>
                <a:gd name="adj" fmla="val 17777"/>
              </a:avLst>
            </a:prstGeom>
            <a:solidFill>
              <a:srgbClr val="1E2126"/>
            </a:solidFill>
            <a:ln w="19050">
              <a:solidFill>
                <a:srgbClr val="F28C28"/>
              </a:solidFill>
            </a:ln>
          </p:spPr>
          <p:txBody>
            <a:bodyPr wrap="square" lIns="73152" tIns="36576" rIns="73152" bIns="36576" rtlCol="0" anchor="ctr">
              <a:noAutofit/>
            </a:bodyPr>
            <a:lstStyle/>
            <a:p>
              <a:pPr algn="ctr"/>
              <a:r>
                <a:rPr lang="en-GB" sz="1800" b="1" i="0">
                  <a:solidFill>
                    <a:srgbClr val="F2F2F2"/>
                  </a:solidFill>
                  <a:latin typeface="Arial"/>
                </a:rPr>
                <a:t>STOP: arm flat</a:t>
              </a:r>
            </a:p>
          </p:txBody>
        </p:sp>
        <p:cxnSp>
          <p:nvCxnSpPr>
            <p:cNvPr id="13" name="Connector 12"/>
            <p:cNvCxnSpPr/>
            <p:nvPr/>
          </p:nvCxnSpPr>
          <p:spPr>
            <a:xfrm flipH="1">
              <a:off x="2466594" y="1668780"/>
              <a:ext cx="733806" cy="243345"/>
            </a:xfrm>
            <a:prstGeom prst="line">
              <a:avLst/>
            </a:prstGeom>
            <a:ln w="25400">
              <a:solidFill>
                <a:srgbClr val="F28C28"/>
              </a:solidFill>
              <a:tailEnd type="triangle" w="lg" len="lg"/>
            </a:ln>
          </p:spPr>
        </p:cxnSp>
      </p:grpSp>
      <p:pic>
        <p:nvPicPr>
          <p:cNvPr id="14" name="Picture R04" descr="The same signal model with its arm raised (clear)."/>
          <p:cNvPicPr>
            <a:picLocks noChangeAspect="1"/>
          </p:cNvPicPr>
          <p:nvPr/>
        </p:nvPicPr>
        <p:blipFill>
          <a:blip r:embed="rId3"/>
          <a:srcRect/>
          <a:stretch>
            <a:fillRect/>
          </a:stretch>
        </p:blipFill>
        <p:spPr>
          <a:xfrm>
            <a:off x="4526280" y="1325880"/>
            <a:ext cx="3749040" cy="2811780"/>
          </a:xfrm>
          <a:prstGeom prst="roundRect">
            <a:avLst>
              <a:gd name="adj" fmla="val 2602"/>
            </a:avLst>
          </a:prstGeom>
        </p:spPr>
      </p:pic>
      <p:sp>
        <p:nvSpPr>
          <p:cNvPr id="15" name="Credit"/>
          <p:cNvSpPr txBox="1"/>
          <p:nvPr/>
        </p:nvSpPr>
        <p:spPr>
          <a:xfrm>
            <a:off x="4526280" y="4165092"/>
            <a:ext cx="3749040" cy="338328"/>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Early test model, not final art.</a:t>
            </a:r>
          </a:p>
          <a:p>
            <a:pPr algn="l"/>
            <a:r>
              <a:rPr lang="en-GB" sz="1000" b="0" i="0">
                <a:solidFill>
                  <a:srgbClr val="A9B0B8"/>
                </a:solidFill>
                <a:latin typeface="Arial"/>
              </a:rPr>
              <a:t>Blender model, not yet in the game.</a:t>
            </a:r>
          </a:p>
        </p:txBody>
      </p:sp>
      <p:grpSp>
        <p:nvGrpSpPr>
          <p:cNvPr id="16" name="Label CLEAR: arm raised" descr="Label: CLEAR: arm raised"/>
          <p:cNvGrpSpPr/>
          <p:nvPr/>
        </p:nvGrpSpPr>
        <p:grpSpPr>
          <a:xfrm>
            <a:off x="4663440" y="1463040"/>
            <a:ext cx="1986991" cy="777240"/>
            <a:chOff x="4663440" y="1463040"/>
            <a:chExt cx="1986991" cy="777240"/>
          </a:xfrm>
        </p:grpSpPr>
        <p:sp>
          <p:nvSpPr>
            <p:cNvPr id="17" name="Rounded Rectangle 16"/>
            <p:cNvSpPr/>
            <p:nvPr/>
          </p:nvSpPr>
          <p:spPr>
            <a:xfrm>
              <a:off x="4663440" y="1463040"/>
              <a:ext cx="1554480" cy="777240"/>
            </a:xfrm>
            <a:prstGeom prst="roundRect">
              <a:avLst>
                <a:gd name="adj" fmla="val 9411"/>
              </a:avLst>
            </a:prstGeom>
            <a:solidFill>
              <a:srgbClr val="1E2126"/>
            </a:solidFill>
            <a:ln w="19050">
              <a:solidFill>
                <a:srgbClr val="F28C28"/>
              </a:solidFill>
            </a:ln>
          </p:spPr>
          <p:txBody>
            <a:bodyPr wrap="square" lIns="73152" tIns="36576" rIns="73152" bIns="36576" rtlCol="0" anchor="ctr">
              <a:noAutofit/>
            </a:bodyPr>
            <a:lstStyle/>
            <a:p>
              <a:pPr algn="ctr"/>
              <a:r>
                <a:rPr lang="en-GB" sz="1800" b="1" i="0">
                  <a:solidFill>
                    <a:srgbClr val="F2F2F2"/>
                  </a:solidFill>
                  <a:latin typeface="Arial"/>
                </a:rPr>
                <a:t>CLEAR:</a:t>
              </a:r>
            </a:p>
            <a:p>
              <a:pPr algn="ctr"/>
              <a:r>
                <a:rPr lang="en-GB" sz="1800" b="1" i="0">
                  <a:solidFill>
                    <a:srgbClr val="F2F2F2"/>
                  </a:solidFill>
                  <a:latin typeface="Arial"/>
                </a:rPr>
                <a:t>arm raised</a:t>
              </a:r>
            </a:p>
          </p:txBody>
        </p:sp>
        <p:cxnSp>
          <p:nvCxnSpPr>
            <p:cNvPr id="18" name="Connector 17"/>
            <p:cNvCxnSpPr/>
            <p:nvPr/>
          </p:nvCxnSpPr>
          <p:spPr>
            <a:xfrm flipV="1">
              <a:off x="6217920" y="1757477"/>
              <a:ext cx="432511" cy="94183"/>
            </a:xfrm>
            <a:prstGeom prst="line">
              <a:avLst/>
            </a:prstGeom>
            <a:ln w="25400">
              <a:solidFill>
                <a:srgbClr val="F28C28"/>
              </a:solidFill>
              <a:tailEnd type="triangle" w="lg" len="lg"/>
            </a:ln>
          </p:spPr>
        </p:cxnSp>
      </p:grpSp>
      <p:sp>
        <p:nvSpPr>
          <p:cNvPr id="19" name="TextBox 18"/>
          <p:cNvSpPr txBox="1"/>
          <p:nvPr/>
        </p:nvSpPr>
        <p:spPr>
          <a:xfrm>
            <a:off x="8549640" y="1298448"/>
            <a:ext cx="3108960" cy="384048"/>
          </a:xfrm>
          <a:prstGeom prst="rect">
            <a:avLst/>
          </a:prstGeom>
          <a:noFill/>
        </p:spPr>
        <p:txBody>
          <a:bodyPr wrap="square" lIns="0" tIns="0" rIns="0" bIns="0" anchor="t">
            <a:noAutofit/>
          </a:bodyPr>
          <a:lstStyle/>
          <a:p>
            <a:pPr algn="l"/>
            <a:r>
              <a:rPr lang="en-GB" sz="2000" b="1" i="0">
                <a:solidFill>
                  <a:srgbClr val="F28C28"/>
                </a:solidFill>
                <a:latin typeface="Arial"/>
              </a:rPr>
              <a:t>Distant signal</a:t>
            </a:r>
          </a:p>
        </p:txBody>
      </p:sp>
      <p:grpSp>
        <p:nvGrpSpPr>
          <p:cNvPr id="20" name="Distant signal" descr="Distant signal with a yellow fishtail arm. Arm flat: be ready to stop at the next signal. Arm raised: next signal is clear."/>
          <p:cNvGrpSpPr/>
          <p:nvPr/>
        </p:nvGrpSpPr>
        <p:grpSpPr>
          <a:xfrm>
            <a:off x="8553298" y="1802740"/>
            <a:ext cx="3105302" cy="2129180"/>
            <a:chOff x="8553298" y="1802740"/>
            <a:chExt cx="3105302" cy="2129180"/>
          </a:xfrm>
        </p:grpSpPr>
        <p:grpSp>
          <p:nvGrpSpPr>
            <p:cNvPr id="21" name="Signal stop" descr="Distant signal, arm flat: be ready to stop."/>
            <p:cNvGrpSpPr/>
            <p:nvPr/>
          </p:nvGrpSpPr>
          <p:grpSpPr>
            <a:xfrm>
              <a:off x="8553298" y="1802740"/>
              <a:ext cx="788898" cy="940460"/>
              <a:chOff x="8553298" y="1802740"/>
              <a:chExt cx="788898" cy="940460"/>
            </a:xfrm>
          </p:grpSpPr>
          <p:sp>
            <p:nvSpPr>
              <p:cNvPr id="22" name="Rectangle 21"/>
              <p:cNvSpPr/>
              <p:nvPr/>
            </p:nvSpPr>
            <p:spPr>
              <a:xfrm>
                <a:off x="9011869" y="2688793"/>
                <a:ext cx="264262" cy="54407"/>
              </a:xfrm>
              <a:prstGeom prst="rect">
                <a:avLst/>
              </a:prstGeom>
              <a:solidFill>
                <a:srgbClr val="9AA0A6"/>
              </a:solidFill>
              <a:ln>
                <a:noFill/>
              </a:ln>
            </p:spPr>
            <p:txBody>
              <a:bodyPr rtlCol="0" anchor="ctr"/>
              <a:lstStyle/>
              <a:p>
                <a:pPr algn="ctr"/>
                <a:endParaRPr/>
              </a:p>
            </p:txBody>
          </p:sp>
          <p:sp>
            <p:nvSpPr>
              <p:cNvPr id="23" name="Rectangle 22"/>
              <p:cNvSpPr/>
              <p:nvPr/>
            </p:nvSpPr>
            <p:spPr>
              <a:xfrm>
                <a:off x="9097366" y="1888236"/>
                <a:ext cx="93269" cy="854964"/>
              </a:xfrm>
              <a:prstGeom prst="rect">
                <a:avLst/>
              </a:prstGeom>
              <a:solidFill>
                <a:srgbClr val="E8E8E8"/>
              </a:solidFill>
              <a:ln>
                <a:noFill/>
              </a:ln>
            </p:spPr>
            <p:txBody>
              <a:bodyPr rtlCol="0" anchor="ctr"/>
              <a:lstStyle/>
              <a:p>
                <a:pPr algn="ctr"/>
                <a:endParaRPr/>
              </a:p>
            </p:txBody>
          </p:sp>
          <p:sp>
            <p:nvSpPr>
              <p:cNvPr id="24" name="Oval 23"/>
              <p:cNvSpPr/>
              <p:nvPr/>
            </p:nvSpPr>
            <p:spPr>
              <a:xfrm>
                <a:off x="9089593" y="1802740"/>
                <a:ext cx="108814" cy="108814"/>
              </a:xfrm>
              <a:prstGeom prst="ellipse">
                <a:avLst/>
              </a:prstGeom>
              <a:solidFill>
                <a:srgbClr val="E8E8E8"/>
              </a:solidFill>
              <a:ln>
                <a:noFill/>
              </a:ln>
            </p:spPr>
            <p:txBody>
              <a:bodyPr rtlCol="0" anchor="ctr"/>
              <a:lstStyle/>
              <a:p>
                <a:pPr algn="ctr"/>
                <a:endParaRPr/>
              </a:p>
            </p:txBody>
          </p:sp>
          <p:sp>
            <p:nvSpPr>
              <p:cNvPr id="25" name="Freeform 24"/>
              <p:cNvSpPr/>
              <p:nvPr/>
            </p:nvSpPr>
            <p:spPr>
              <a:xfrm>
                <a:off x="8553298" y="2003450"/>
                <a:ext cx="544068" cy="127102"/>
              </a:xfrm>
              <a:custGeom>
                <a:avLst/>
                <a:gdLst/>
                <a:ahLst/>
                <a:cxnLst/>
                <a:rect l="l" t="t" r="r" b="b"/>
                <a:pathLst>
                  <a:path w="544068" h="127102">
                    <a:moveTo>
                      <a:pt x="544068" y="0"/>
                    </a:moveTo>
                    <a:lnTo>
                      <a:pt x="0" y="0"/>
                    </a:lnTo>
                    <a:lnTo>
                      <a:pt x="146304" y="63551"/>
                    </a:lnTo>
                    <a:lnTo>
                      <a:pt x="0" y="127102"/>
                    </a:lnTo>
                    <a:lnTo>
                      <a:pt x="544068" y="127102"/>
                    </a:lnTo>
                    <a:close/>
                  </a:path>
                </a:pathLst>
              </a:custGeom>
              <a:solidFill>
                <a:srgbClr val="F2C14E"/>
              </a:solidFill>
              <a:ln w="9525">
                <a:solidFill>
                  <a:srgbClr val="101418"/>
                </a:solidFill>
              </a:ln>
            </p:spPr>
            <p:txBody>
              <a:bodyPr rtlCol="0" anchor="ctr"/>
              <a:lstStyle/>
              <a:p>
                <a:pPr algn="ctr"/>
                <a:endParaRPr/>
              </a:p>
            </p:txBody>
          </p:sp>
          <p:sp>
            <p:nvSpPr>
              <p:cNvPr id="26" name="Freeform 25"/>
              <p:cNvSpPr/>
              <p:nvPr/>
            </p:nvSpPr>
            <p:spPr>
              <a:xfrm>
                <a:off x="8798128" y="2003450"/>
                <a:ext cx="54407" cy="127102"/>
              </a:xfrm>
              <a:custGeom>
                <a:avLst/>
                <a:gdLst/>
                <a:ahLst/>
                <a:cxnLst/>
                <a:rect l="l" t="t" r="r" b="b"/>
                <a:pathLst>
                  <a:path w="54407" h="127102">
                    <a:moveTo>
                      <a:pt x="54407" y="0"/>
                    </a:moveTo>
                    <a:lnTo>
                      <a:pt x="0" y="0"/>
                    </a:lnTo>
                    <a:lnTo>
                      <a:pt x="0" y="127102"/>
                    </a:lnTo>
                    <a:lnTo>
                      <a:pt x="54407" y="127102"/>
                    </a:lnTo>
                    <a:close/>
                  </a:path>
                </a:pathLst>
              </a:custGeom>
              <a:solidFill>
                <a:srgbClr val="101418"/>
              </a:solidFill>
              <a:ln>
                <a:noFill/>
              </a:ln>
            </p:spPr>
            <p:txBody>
              <a:bodyPr rtlCol="0" anchor="ctr"/>
              <a:lstStyle/>
              <a:p>
                <a:pPr algn="ctr"/>
                <a:endParaRPr/>
              </a:p>
            </p:txBody>
          </p:sp>
          <p:sp>
            <p:nvSpPr>
              <p:cNvPr id="27" name="Oval 26"/>
              <p:cNvSpPr/>
              <p:nvPr/>
            </p:nvSpPr>
            <p:spPr>
              <a:xfrm>
                <a:off x="9210065" y="2000936"/>
                <a:ext cx="132131" cy="132131"/>
              </a:xfrm>
              <a:prstGeom prst="ellipse">
                <a:avLst/>
              </a:prstGeom>
              <a:solidFill>
                <a:srgbClr val="F2C14E"/>
              </a:solidFill>
              <a:ln w="9525">
                <a:solidFill>
                  <a:srgbClr val="101418"/>
                </a:solidFill>
              </a:ln>
            </p:spPr>
            <p:txBody>
              <a:bodyPr rtlCol="0" anchor="ctr"/>
              <a:lstStyle/>
              <a:p>
                <a:pPr algn="ctr"/>
                <a:endParaRPr/>
              </a:p>
            </p:txBody>
          </p:sp>
        </p:grpSp>
        <p:sp>
          <p:nvSpPr>
            <p:cNvPr id="28" name="TextBox 27"/>
            <p:cNvSpPr txBox="1"/>
            <p:nvPr/>
          </p:nvSpPr>
          <p:spPr>
            <a:xfrm>
              <a:off x="9464040" y="1874520"/>
              <a:ext cx="2194560" cy="822960"/>
            </a:xfrm>
            <a:prstGeom prst="rect">
              <a:avLst/>
            </a:prstGeom>
            <a:noFill/>
          </p:spPr>
          <p:txBody>
            <a:bodyPr wrap="square" lIns="0" tIns="0" rIns="0" bIns="0" anchor="ctr">
              <a:noAutofit/>
            </a:bodyPr>
            <a:lstStyle/>
            <a:p>
              <a:pPr algn="l"/>
              <a:r>
                <a:rPr lang="en-GB" sz="1600" b="0" i="0">
                  <a:solidFill>
                    <a:srgbClr val="F2F2F2"/>
                  </a:solidFill>
                  <a:latin typeface="Arial"/>
                </a:rPr>
                <a:t>Be ready to stop at the next signal</a:t>
              </a:r>
            </a:p>
          </p:txBody>
        </p:sp>
        <p:grpSp>
          <p:nvGrpSpPr>
            <p:cNvPr id="29" name="Signal clear" descr="Distant signal, arm raised: next signal clear."/>
            <p:cNvGrpSpPr/>
            <p:nvPr/>
          </p:nvGrpSpPr>
          <p:grpSpPr>
            <a:xfrm>
              <a:off x="8667714" y="2826070"/>
              <a:ext cx="674482" cy="1105850"/>
              <a:chOff x="8667714" y="2826070"/>
              <a:chExt cx="674482" cy="1105850"/>
            </a:xfrm>
          </p:grpSpPr>
          <p:sp>
            <p:nvSpPr>
              <p:cNvPr id="30" name="Rectangle 29"/>
              <p:cNvSpPr/>
              <p:nvPr/>
            </p:nvSpPr>
            <p:spPr>
              <a:xfrm>
                <a:off x="9011869" y="3877513"/>
                <a:ext cx="264262" cy="54407"/>
              </a:xfrm>
              <a:prstGeom prst="rect">
                <a:avLst/>
              </a:prstGeom>
              <a:solidFill>
                <a:srgbClr val="9AA0A6"/>
              </a:solidFill>
              <a:ln>
                <a:noFill/>
              </a:ln>
            </p:spPr>
            <p:txBody>
              <a:bodyPr rtlCol="0" anchor="ctr"/>
              <a:lstStyle/>
              <a:p>
                <a:pPr algn="ctr"/>
                <a:endParaRPr/>
              </a:p>
            </p:txBody>
          </p:sp>
          <p:sp>
            <p:nvSpPr>
              <p:cNvPr id="31" name="Rectangle 30"/>
              <p:cNvSpPr/>
              <p:nvPr/>
            </p:nvSpPr>
            <p:spPr>
              <a:xfrm>
                <a:off x="9097366" y="3076956"/>
                <a:ext cx="93269" cy="854964"/>
              </a:xfrm>
              <a:prstGeom prst="rect">
                <a:avLst/>
              </a:prstGeom>
              <a:solidFill>
                <a:srgbClr val="E8E8E8"/>
              </a:solidFill>
              <a:ln>
                <a:noFill/>
              </a:ln>
            </p:spPr>
            <p:txBody>
              <a:bodyPr rtlCol="0" anchor="ctr"/>
              <a:lstStyle/>
              <a:p>
                <a:pPr algn="ctr"/>
                <a:endParaRPr/>
              </a:p>
            </p:txBody>
          </p:sp>
          <p:sp>
            <p:nvSpPr>
              <p:cNvPr id="32" name="Oval 31"/>
              <p:cNvSpPr/>
              <p:nvPr/>
            </p:nvSpPr>
            <p:spPr>
              <a:xfrm>
                <a:off x="9089593" y="2991460"/>
                <a:ext cx="108814" cy="108814"/>
              </a:xfrm>
              <a:prstGeom prst="ellipse">
                <a:avLst/>
              </a:prstGeom>
              <a:solidFill>
                <a:srgbClr val="E8E8E8"/>
              </a:solidFill>
              <a:ln>
                <a:noFill/>
              </a:ln>
            </p:spPr>
            <p:txBody>
              <a:bodyPr rtlCol="0" anchor="ctr"/>
              <a:lstStyle/>
              <a:p>
                <a:pPr algn="ctr"/>
                <a:endParaRPr/>
              </a:p>
            </p:txBody>
          </p:sp>
          <p:sp>
            <p:nvSpPr>
              <p:cNvPr id="33" name="Freeform 32"/>
              <p:cNvSpPr/>
              <p:nvPr/>
            </p:nvSpPr>
            <p:spPr>
              <a:xfrm>
                <a:off x="8667714" y="2826070"/>
                <a:ext cx="474589" cy="474588"/>
              </a:xfrm>
              <a:custGeom>
                <a:avLst/>
                <a:gdLst/>
                <a:ahLst/>
                <a:cxnLst/>
                <a:rect l="l" t="t" r="r" b="b"/>
                <a:pathLst>
                  <a:path w="474589" h="474588">
                    <a:moveTo>
                      <a:pt x="474589" y="384714"/>
                    </a:moveTo>
                    <a:lnTo>
                      <a:pt x="89875" y="0"/>
                    </a:lnTo>
                    <a:lnTo>
                      <a:pt x="148390" y="148390"/>
                    </a:lnTo>
                    <a:lnTo>
                      <a:pt x="0" y="89874"/>
                    </a:lnTo>
                    <a:lnTo>
                      <a:pt x="384714" y="474588"/>
                    </a:lnTo>
                    <a:close/>
                  </a:path>
                </a:pathLst>
              </a:custGeom>
              <a:solidFill>
                <a:srgbClr val="F2C14E"/>
              </a:solidFill>
              <a:ln w="9525">
                <a:solidFill>
                  <a:srgbClr val="101418"/>
                </a:solidFill>
              </a:ln>
            </p:spPr>
            <p:txBody>
              <a:bodyPr rtlCol="0" anchor="ctr"/>
              <a:lstStyle/>
              <a:p>
                <a:pPr algn="ctr"/>
                <a:endParaRPr/>
              </a:p>
            </p:txBody>
          </p:sp>
          <p:sp>
            <p:nvSpPr>
              <p:cNvPr id="34" name="Freeform 33"/>
              <p:cNvSpPr/>
              <p:nvPr/>
            </p:nvSpPr>
            <p:spPr>
              <a:xfrm>
                <a:off x="8840836" y="2999191"/>
                <a:ext cx="128345" cy="128346"/>
              </a:xfrm>
              <a:custGeom>
                <a:avLst/>
                <a:gdLst/>
                <a:ahLst/>
                <a:cxnLst/>
                <a:rect l="l" t="t" r="r" b="b"/>
                <a:pathLst>
                  <a:path w="128345" h="128346">
                    <a:moveTo>
                      <a:pt x="128345" y="38472"/>
                    </a:moveTo>
                    <a:lnTo>
                      <a:pt x="89874" y="0"/>
                    </a:lnTo>
                    <a:lnTo>
                      <a:pt x="0" y="89875"/>
                    </a:lnTo>
                    <a:lnTo>
                      <a:pt x="38471" y="128346"/>
                    </a:lnTo>
                    <a:close/>
                  </a:path>
                </a:pathLst>
              </a:custGeom>
              <a:solidFill>
                <a:srgbClr val="101418"/>
              </a:solidFill>
              <a:ln>
                <a:noFill/>
              </a:ln>
            </p:spPr>
            <p:txBody>
              <a:bodyPr rtlCol="0" anchor="ctr"/>
              <a:lstStyle/>
              <a:p>
                <a:pPr algn="ctr"/>
                <a:endParaRPr/>
              </a:p>
            </p:txBody>
          </p:sp>
          <p:sp>
            <p:nvSpPr>
              <p:cNvPr id="35" name="Oval 34"/>
              <p:cNvSpPr/>
              <p:nvPr/>
            </p:nvSpPr>
            <p:spPr>
              <a:xfrm>
                <a:off x="9210065" y="3189656"/>
                <a:ext cx="132131" cy="132131"/>
              </a:xfrm>
              <a:prstGeom prst="ellipse">
                <a:avLst/>
              </a:prstGeom>
              <a:solidFill>
                <a:srgbClr val="3FB950"/>
              </a:solidFill>
              <a:ln w="9525">
                <a:solidFill>
                  <a:srgbClr val="101418"/>
                </a:solidFill>
              </a:ln>
            </p:spPr>
            <p:txBody>
              <a:bodyPr rtlCol="0" anchor="ctr"/>
              <a:lstStyle/>
              <a:p>
                <a:pPr algn="ctr"/>
                <a:endParaRPr/>
              </a:p>
            </p:txBody>
          </p:sp>
        </p:grpSp>
        <p:sp>
          <p:nvSpPr>
            <p:cNvPr id="36" name="TextBox 35"/>
            <p:cNvSpPr txBox="1"/>
            <p:nvPr/>
          </p:nvSpPr>
          <p:spPr>
            <a:xfrm>
              <a:off x="9464040" y="3154680"/>
              <a:ext cx="2194560" cy="731520"/>
            </a:xfrm>
            <a:prstGeom prst="rect">
              <a:avLst/>
            </a:prstGeom>
            <a:noFill/>
          </p:spPr>
          <p:txBody>
            <a:bodyPr wrap="square" lIns="0" tIns="0" rIns="0" bIns="0" anchor="ctr">
              <a:noAutofit/>
            </a:bodyPr>
            <a:lstStyle/>
            <a:p>
              <a:pPr algn="l"/>
              <a:r>
                <a:rPr lang="en-GB" sz="1600" b="0" i="0">
                  <a:solidFill>
                    <a:srgbClr val="F2F2F2"/>
                  </a:solidFill>
                  <a:latin typeface="Arial"/>
                </a:rPr>
                <a:t>Next signal is clear</a:t>
              </a:r>
            </a:p>
          </p:txBody>
        </p:sp>
      </p:grpSp>
      <p:pic>
        <p:nvPicPr>
          <p:cNvPr id="37" name="Picture P13" descr="A semaphore distant signal beside the line near Henley-in-Arden, arm raised."/>
          <p:cNvPicPr>
            <a:picLocks noChangeAspect="1"/>
          </p:cNvPicPr>
          <p:nvPr/>
        </p:nvPicPr>
        <p:blipFill>
          <a:blip r:embed="rId4"/>
          <a:srcRect t="11523" b="11523"/>
          <a:stretch>
            <a:fillRect/>
          </a:stretch>
        </p:blipFill>
        <p:spPr>
          <a:xfrm>
            <a:off x="9445752" y="4069080"/>
            <a:ext cx="1828800" cy="1097280"/>
          </a:xfrm>
          <a:prstGeom prst="roundRect">
            <a:avLst>
              <a:gd name="adj" fmla="val 6667"/>
            </a:avLst>
          </a:prstGeom>
        </p:spPr>
      </p:pic>
      <p:sp>
        <p:nvSpPr>
          <p:cNvPr id="38" name="Credit"/>
          <p:cNvSpPr txBox="1"/>
          <p:nvPr/>
        </p:nvSpPr>
        <p:spPr>
          <a:xfrm>
            <a:off x="9445752" y="5193792"/>
            <a:ext cx="1828800" cy="493776"/>
          </a:xfrm>
          <a:prstGeom prst="rect">
            <a:avLst/>
          </a:prstGeom>
          <a:noFill/>
        </p:spPr>
        <p:txBody>
          <a:bodyPr wrap="square" lIns="0" tIns="0" rIns="0" bIns="0" anchor="t">
            <a:noAutofit/>
          </a:bodyPr>
          <a:lstStyle/>
          <a:p>
            <a:pPr algn="l"/>
            <a:r>
              <a:rPr lang="en-GB" sz="1000" b="0" i="0">
                <a:solidFill>
                  <a:srgbClr val="A9B0B8"/>
                </a:solidFill>
                <a:latin typeface="Arial"/>
              </a:rPr>
              <a:t>Photo: Richard Dunn, CC BY-SA 2.0, Wikimedia Commons.</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Arm flat means stop. Arm raised means go. On real railways, a broken wire drops the arm to stop.</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29</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18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36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54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72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nodeType="withEffect">
                                  <p:stCondLst>
                                    <p:cond delay="9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nodeType="withEffect">
                                  <p:stCondLst>
                                    <p:cond delay="108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par>
                                <p:cTn id="26" presetID="10" presetClass="entr" presetSubtype="0" fill="hold" nodeType="withEffect">
                                  <p:stCondLst>
                                    <p:cond delay="126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500"/>
                                        <p:tgtEl>
                                          <p:spTgt spid="37"/>
                                        </p:tgtEl>
                                      </p:cBhvr>
                                    </p:animEffect>
                                  </p:childTnLst>
                                </p:cTn>
                              </p:par>
                              <p:par>
                                <p:cTn id="29" presetID="10" presetClass="entr" presetSubtype="0" fill="hold" nodeType="withEffect">
                                  <p:stCondLst>
                                    <p:cond delay="144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par>
                                <p:cTn id="32" presetID="10" presetClass="entr" presetSubtype="0" fill="hold" nodeType="withEffect">
                                  <p:stCondLst>
                                    <p:cond delay="162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The signal box</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pic>
        <p:nvPicPr>
          <p:cNvPr id="8" name="Picture P14" descr="Williton signal box on the West Somerset Railway."/>
          <p:cNvPicPr>
            <a:picLocks noChangeAspect="1"/>
          </p:cNvPicPr>
          <p:nvPr/>
        </p:nvPicPr>
        <p:blipFill>
          <a:blip r:embed="rId2"/>
          <a:srcRect/>
          <a:stretch>
            <a:fillRect/>
          </a:stretch>
        </p:blipFill>
        <p:spPr>
          <a:xfrm>
            <a:off x="548640" y="1325880"/>
            <a:ext cx="3017520" cy="4023360"/>
          </a:xfrm>
          <a:prstGeom prst="roundRect">
            <a:avLst>
              <a:gd name="adj" fmla="val 2424"/>
            </a:avLst>
          </a:prstGeom>
        </p:spPr>
      </p:pic>
      <p:sp>
        <p:nvSpPr>
          <p:cNvPr id="9" name="Credit"/>
          <p:cNvSpPr txBox="1"/>
          <p:nvPr/>
        </p:nvSpPr>
        <p:spPr>
          <a:xfrm>
            <a:off x="548640" y="5376672"/>
            <a:ext cx="3017520" cy="338328"/>
          </a:xfrm>
          <a:prstGeom prst="rect">
            <a:avLst/>
          </a:prstGeom>
          <a:noFill/>
        </p:spPr>
        <p:txBody>
          <a:bodyPr wrap="square" lIns="0" tIns="0" rIns="0" bIns="0" anchor="t">
            <a:noAutofit/>
          </a:bodyPr>
          <a:lstStyle/>
          <a:p>
            <a:pPr algn="l"/>
            <a:r>
              <a:rPr lang="en-GB" sz="1000" b="0" i="0">
                <a:solidFill>
                  <a:srgbClr val="A9B0B8"/>
                </a:solidFill>
                <a:latin typeface="Arial"/>
              </a:rPr>
              <a:t>Photo: Reading Tom, CC BY 2.0, Wikimedia Commons.</a:t>
            </a:r>
          </a:p>
        </p:txBody>
      </p:sp>
      <p:grpSp>
        <p:nvGrpSpPr>
          <p:cNvPr id="10" name="Signal box cutaway" descr="Cutaway of a two-floor signal box. Upstairs, on the operating floor, a signaller stands at a row of eight coloured levers under a track diagram. Downstairs, in the locking room, rods leave the wall and run out to the signals and points."/>
          <p:cNvGrpSpPr/>
          <p:nvPr/>
        </p:nvGrpSpPr>
        <p:grpSpPr>
          <a:xfrm>
            <a:off x="3840480" y="1371600"/>
            <a:ext cx="5715000" cy="3758184"/>
            <a:chOff x="3840480" y="1371600"/>
            <a:chExt cx="5715000" cy="3758184"/>
          </a:xfrm>
        </p:grpSpPr>
        <p:sp>
          <p:nvSpPr>
            <p:cNvPr id="11" name="Rectangle 10"/>
            <p:cNvSpPr/>
            <p:nvPr/>
          </p:nvSpPr>
          <p:spPr>
            <a:xfrm>
              <a:off x="4800600" y="1371600"/>
              <a:ext cx="4754880" cy="3154680"/>
            </a:xfrm>
            <a:prstGeom prst="rect">
              <a:avLst/>
            </a:prstGeom>
            <a:solidFill>
              <a:srgbClr val="2B2F36"/>
            </a:solidFill>
            <a:ln w="19050">
              <a:solidFill>
                <a:srgbClr val="F28C28"/>
              </a:solidFill>
            </a:ln>
          </p:spPr>
          <p:txBody>
            <a:bodyPr rtlCol="0" anchor="ctr"/>
            <a:lstStyle/>
            <a:p>
              <a:pPr algn="ctr"/>
              <a:endParaRPr/>
            </a:p>
          </p:txBody>
        </p:sp>
        <p:cxnSp>
          <p:nvCxnSpPr>
            <p:cNvPr id="12" name="Connector 11"/>
            <p:cNvCxnSpPr/>
            <p:nvPr/>
          </p:nvCxnSpPr>
          <p:spPr>
            <a:xfrm>
              <a:off x="4800600" y="3337560"/>
              <a:ext cx="4754880" cy="0"/>
            </a:xfrm>
            <a:prstGeom prst="line">
              <a:avLst/>
            </a:prstGeom>
            <a:ln w="19050">
              <a:solidFill>
                <a:srgbClr val="F28C28"/>
              </a:solidFill>
            </a:ln>
          </p:spPr>
        </p:cxnSp>
        <p:sp>
          <p:nvSpPr>
            <p:cNvPr id="13" name="TextBox 12"/>
            <p:cNvSpPr txBox="1"/>
            <p:nvPr/>
          </p:nvSpPr>
          <p:spPr>
            <a:xfrm>
              <a:off x="4910328" y="1444752"/>
              <a:ext cx="1828800" cy="292608"/>
            </a:xfrm>
            <a:prstGeom prst="rect">
              <a:avLst/>
            </a:prstGeom>
            <a:noFill/>
          </p:spPr>
          <p:txBody>
            <a:bodyPr wrap="square" lIns="0" tIns="0" rIns="0" bIns="0" anchor="t">
              <a:noAutofit/>
            </a:bodyPr>
            <a:lstStyle/>
            <a:p>
              <a:pPr algn="l"/>
              <a:r>
                <a:rPr lang="en-GB" sz="1400" b="1" i="0">
                  <a:solidFill>
                    <a:srgbClr val="F28C28"/>
                  </a:solidFill>
                  <a:latin typeface="Arial"/>
                </a:rPr>
                <a:t>Operating floor</a:t>
              </a:r>
            </a:p>
          </p:txBody>
        </p:sp>
        <p:sp>
          <p:nvSpPr>
            <p:cNvPr id="14" name="Rectangle 13"/>
            <p:cNvSpPr/>
            <p:nvPr/>
          </p:nvSpPr>
          <p:spPr>
            <a:xfrm>
              <a:off x="6400800" y="1481328"/>
              <a:ext cx="3017520" cy="274320"/>
            </a:xfrm>
            <a:prstGeom prst="rect">
              <a:avLst/>
            </a:prstGeom>
            <a:solidFill>
              <a:srgbClr val="37587C"/>
            </a:solidFill>
            <a:ln w="9525">
              <a:solidFill>
                <a:srgbClr val="9AA0A6"/>
              </a:solidFill>
            </a:ln>
          </p:spPr>
          <p:txBody>
            <a:bodyPr rtlCol="0" anchor="ctr"/>
            <a:lstStyle/>
            <a:p>
              <a:pPr algn="ctr"/>
              <a:endParaRPr/>
            </a:p>
          </p:txBody>
        </p:sp>
        <p:sp>
          <p:nvSpPr>
            <p:cNvPr id="15" name="Rectangle 14"/>
            <p:cNvSpPr/>
            <p:nvPr/>
          </p:nvSpPr>
          <p:spPr>
            <a:xfrm>
              <a:off x="5715000" y="1874520"/>
              <a:ext cx="2377440" cy="219456"/>
            </a:xfrm>
            <a:prstGeom prst="rect">
              <a:avLst/>
            </a:prstGeom>
            <a:solidFill>
              <a:srgbClr val="F2F2F2"/>
            </a:solidFill>
            <a:ln>
              <a:noFill/>
            </a:ln>
          </p:spPr>
          <p:txBody>
            <a:bodyPr rtlCol="0" anchor="ctr"/>
            <a:lstStyle/>
            <a:p>
              <a:pPr algn="ctr"/>
              <a:endParaRPr/>
            </a:p>
          </p:txBody>
        </p:sp>
        <p:sp>
          <p:nvSpPr>
            <p:cNvPr id="16" name="Freeform 15"/>
            <p:cNvSpPr/>
            <p:nvPr/>
          </p:nvSpPr>
          <p:spPr>
            <a:xfrm>
              <a:off x="5806440" y="1920240"/>
              <a:ext cx="2194560" cy="64008"/>
            </a:xfrm>
            <a:custGeom>
              <a:avLst/>
              <a:gdLst/>
              <a:ahLst/>
              <a:cxnLst/>
              <a:rect l="l" t="t" r="r" b="b"/>
              <a:pathLst>
                <a:path w="2194560" h="64008">
                  <a:moveTo>
                    <a:pt x="0" y="64008"/>
                  </a:moveTo>
                  <a:lnTo>
                    <a:pt x="1005840" y="64008"/>
                  </a:lnTo>
                  <a:lnTo>
                    <a:pt x="1280160" y="0"/>
                  </a:lnTo>
                  <a:lnTo>
                    <a:pt x="2194560" y="0"/>
                  </a:lnTo>
                </a:path>
              </a:pathLst>
            </a:custGeom>
            <a:noFill/>
            <a:ln w="19050">
              <a:solidFill>
                <a:srgbClr val="101418"/>
              </a:solidFill>
            </a:ln>
          </p:spPr>
          <p:txBody>
            <a:bodyPr rtlCol="0" anchor="ctr"/>
            <a:lstStyle/>
            <a:p>
              <a:pPr algn="ctr"/>
              <a:endParaRPr/>
            </a:p>
          </p:txBody>
        </p:sp>
        <p:grpSp>
          <p:nvGrpSpPr>
            <p:cNvPr id="17" name="Person" descr="A signaller."/>
            <p:cNvGrpSpPr/>
            <p:nvPr/>
          </p:nvGrpSpPr>
          <p:grpSpPr>
            <a:xfrm>
              <a:off x="4943246" y="2250338"/>
              <a:ext cx="482803" cy="995782"/>
              <a:chOff x="4943246" y="2250338"/>
              <a:chExt cx="482803" cy="995782"/>
            </a:xfrm>
          </p:grpSpPr>
          <p:sp>
            <p:nvSpPr>
              <p:cNvPr id="18" name="Oval 17"/>
              <p:cNvSpPr/>
              <p:nvPr/>
            </p:nvSpPr>
            <p:spPr>
              <a:xfrm>
                <a:off x="5033772" y="2250338"/>
                <a:ext cx="301752" cy="301752"/>
              </a:xfrm>
              <a:prstGeom prst="ellipse">
                <a:avLst/>
              </a:prstGeom>
              <a:solidFill>
                <a:srgbClr val="E8E8E8"/>
              </a:solidFill>
              <a:ln>
                <a:noFill/>
              </a:ln>
            </p:spPr>
            <p:txBody>
              <a:bodyPr rtlCol="0" anchor="ctr"/>
              <a:lstStyle/>
              <a:p>
                <a:pPr algn="ctr"/>
                <a:endParaRPr/>
              </a:p>
            </p:txBody>
          </p:sp>
          <p:sp>
            <p:nvSpPr>
              <p:cNvPr id="19" name="Rounded Rectangle 18"/>
              <p:cNvSpPr/>
              <p:nvPr/>
            </p:nvSpPr>
            <p:spPr>
              <a:xfrm>
                <a:off x="4943246" y="2602382"/>
                <a:ext cx="482803" cy="643738"/>
              </a:xfrm>
              <a:prstGeom prst="roundRect">
                <a:avLst>
                  <a:gd name="adj" fmla="val 41666"/>
                </a:avLst>
              </a:prstGeom>
              <a:solidFill>
                <a:srgbClr val="E8E8E8"/>
              </a:solidFill>
              <a:ln>
                <a:noFill/>
              </a:ln>
            </p:spPr>
            <p:txBody>
              <a:bodyPr rtlCol="0" anchor="ctr"/>
              <a:lstStyle/>
              <a:p>
                <a:pPr algn="ctr"/>
                <a:endParaRPr/>
              </a:p>
            </p:txBody>
          </p:sp>
        </p:grpSp>
        <p:sp>
          <p:nvSpPr>
            <p:cNvPr id="20" name="Rounded Rectangle 19"/>
            <p:cNvSpPr/>
            <p:nvPr/>
          </p:nvSpPr>
          <p:spPr>
            <a:xfrm>
              <a:off x="5715000" y="2240280"/>
              <a:ext cx="109728" cy="777240"/>
            </a:xfrm>
            <a:prstGeom prst="roundRect">
              <a:avLst>
                <a:gd name="adj" fmla="val 25000"/>
              </a:avLst>
            </a:prstGeom>
            <a:solidFill>
              <a:srgbClr val="E5484D"/>
            </a:solidFill>
            <a:ln w="9525">
              <a:solidFill>
                <a:srgbClr val="101418"/>
              </a:solidFill>
            </a:ln>
          </p:spPr>
          <p:txBody>
            <a:bodyPr rtlCol="0" anchor="ctr"/>
            <a:lstStyle/>
            <a:p>
              <a:pPr algn="ctr"/>
              <a:endParaRPr/>
            </a:p>
          </p:txBody>
        </p:sp>
        <p:sp>
          <p:nvSpPr>
            <p:cNvPr id="21" name="Oval 20"/>
            <p:cNvSpPr/>
            <p:nvPr/>
          </p:nvSpPr>
          <p:spPr>
            <a:xfrm>
              <a:off x="5671109" y="2918765"/>
              <a:ext cx="197510" cy="197510"/>
            </a:xfrm>
            <a:prstGeom prst="ellipse">
              <a:avLst/>
            </a:prstGeom>
            <a:solidFill>
              <a:srgbClr val="9AA0A6"/>
            </a:solidFill>
            <a:ln>
              <a:noFill/>
            </a:ln>
          </p:spPr>
          <p:txBody>
            <a:bodyPr rtlCol="0" anchor="ctr"/>
            <a:lstStyle/>
            <a:p>
              <a:pPr algn="ctr"/>
              <a:endParaRPr/>
            </a:p>
          </p:txBody>
        </p:sp>
        <p:sp>
          <p:nvSpPr>
            <p:cNvPr id="22" name="Rounded Rectangle 21"/>
            <p:cNvSpPr/>
            <p:nvPr/>
          </p:nvSpPr>
          <p:spPr>
            <a:xfrm>
              <a:off x="5696712" y="2185416"/>
              <a:ext cx="146304" cy="109728"/>
            </a:xfrm>
            <a:prstGeom prst="roundRect">
              <a:avLst>
                <a:gd name="adj" fmla="val 25000"/>
              </a:avLst>
            </a:prstGeom>
            <a:solidFill>
              <a:srgbClr val="9AA0A6"/>
            </a:solidFill>
            <a:ln>
              <a:noFill/>
            </a:ln>
          </p:spPr>
          <p:txBody>
            <a:bodyPr rtlCol="0" anchor="ctr"/>
            <a:lstStyle/>
            <a:p>
              <a:pPr algn="ctr"/>
              <a:endParaRPr/>
            </a:p>
          </p:txBody>
        </p:sp>
        <p:sp>
          <p:nvSpPr>
            <p:cNvPr id="23" name="Rounded Rectangle 22"/>
            <p:cNvSpPr/>
            <p:nvPr/>
          </p:nvSpPr>
          <p:spPr>
            <a:xfrm>
              <a:off x="6117336" y="2240280"/>
              <a:ext cx="109728" cy="777240"/>
            </a:xfrm>
            <a:prstGeom prst="roundRect">
              <a:avLst>
                <a:gd name="adj" fmla="val 25000"/>
              </a:avLst>
            </a:prstGeom>
            <a:solidFill>
              <a:srgbClr val="E5484D"/>
            </a:solidFill>
            <a:ln w="9525">
              <a:solidFill>
                <a:srgbClr val="101418"/>
              </a:solidFill>
            </a:ln>
          </p:spPr>
          <p:txBody>
            <a:bodyPr rtlCol="0" anchor="ctr"/>
            <a:lstStyle/>
            <a:p>
              <a:pPr algn="ctr"/>
              <a:endParaRPr/>
            </a:p>
          </p:txBody>
        </p:sp>
        <p:sp>
          <p:nvSpPr>
            <p:cNvPr id="24" name="Oval 23"/>
            <p:cNvSpPr/>
            <p:nvPr/>
          </p:nvSpPr>
          <p:spPr>
            <a:xfrm>
              <a:off x="6073445" y="2918765"/>
              <a:ext cx="197510" cy="197510"/>
            </a:xfrm>
            <a:prstGeom prst="ellipse">
              <a:avLst/>
            </a:prstGeom>
            <a:solidFill>
              <a:srgbClr val="9AA0A6"/>
            </a:solidFill>
            <a:ln>
              <a:noFill/>
            </a:ln>
          </p:spPr>
          <p:txBody>
            <a:bodyPr rtlCol="0" anchor="ctr"/>
            <a:lstStyle/>
            <a:p>
              <a:pPr algn="ctr"/>
              <a:endParaRPr/>
            </a:p>
          </p:txBody>
        </p:sp>
        <p:sp>
          <p:nvSpPr>
            <p:cNvPr id="25" name="Rounded Rectangle 24"/>
            <p:cNvSpPr/>
            <p:nvPr/>
          </p:nvSpPr>
          <p:spPr>
            <a:xfrm>
              <a:off x="6099048" y="2185416"/>
              <a:ext cx="146304" cy="109728"/>
            </a:xfrm>
            <a:prstGeom prst="roundRect">
              <a:avLst>
                <a:gd name="adj" fmla="val 25000"/>
              </a:avLst>
            </a:prstGeom>
            <a:solidFill>
              <a:srgbClr val="9AA0A6"/>
            </a:solidFill>
            <a:ln>
              <a:noFill/>
            </a:ln>
          </p:spPr>
          <p:txBody>
            <a:bodyPr rtlCol="0" anchor="ctr"/>
            <a:lstStyle/>
            <a:p>
              <a:pPr algn="ctr"/>
              <a:endParaRPr/>
            </a:p>
          </p:txBody>
        </p:sp>
        <p:sp>
          <p:nvSpPr>
            <p:cNvPr id="26" name="Rounded Rectangle 25"/>
            <p:cNvSpPr/>
            <p:nvPr/>
          </p:nvSpPr>
          <p:spPr>
            <a:xfrm>
              <a:off x="6519672" y="2240280"/>
              <a:ext cx="109728" cy="777240"/>
            </a:xfrm>
            <a:prstGeom prst="roundRect">
              <a:avLst>
                <a:gd name="adj" fmla="val 25000"/>
              </a:avLst>
            </a:prstGeom>
            <a:solidFill>
              <a:srgbClr val="E5484D"/>
            </a:solidFill>
            <a:ln w="9525">
              <a:solidFill>
                <a:srgbClr val="101418"/>
              </a:solidFill>
            </a:ln>
          </p:spPr>
          <p:txBody>
            <a:bodyPr rtlCol="0" anchor="ctr"/>
            <a:lstStyle/>
            <a:p>
              <a:pPr algn="ctr"/>
              <a:endParaRPr/>
            </a:p>
          </p:txBody>
        </p:sp>
        <p:sp>
          <p:nvSpPr>
            <p:cNvPr id="27" name="Oval 26"/>
            <p:cNvSpPr/>
            <p:nvPr/>
          </p:nvSpPr>
          <p:spPr>
            <a:xfrm>
              <a:off x="6475781" y="2918765"/>
              <a:ext cx="197510" cy="197510"/>
            </a:xfrm>
            <a:prstGeom prst="ellipse">
              <a:avLst/>
            </a:prstGeom>
            <a:solidFill>
              <a:srgbClr val="9AA0A6"/>
            </a:solidFill>
            <a:ln>
              <a:noFill/>
            </a:ln>
          </p:spPr>
          <p:txBody>
            <a:bodyPr rtlCol="0" anchor="ctr"/>
            <a:lstStyle/>
            <a:p>
              <a:pPr algn="ctr"/>
              <a:endParaRPr/>
            </a:p>
          </p:txBody>
        </p:sp>
        <p:sp>
          <p:nvSpPr>
            <p:cNvPr id="28" name="Rounded Rectangle 27"/>
            <p:cNvSpPr/>
            <p:nvPr/>
          </p:nvSpPr>
          <p:spPr>
            <a:xfrm>
              <a:off x="6501384" y="2185416"/>
              <a:ext cx="146304" cy="109728"/>
            </a:xfrm>
            <a:prstGeom prst="roundRect">
              <a:avLst>
                <a:gd name="adj" fmla="val 25000"/>
              </a:avLst>
            </a:prstGeom>
            <a:solidFill>
              <a:srgbClr val="9AA0A6"/>
            </a:solidFill>
            <a:ln>
              <a:noFill/>
            </a:ln>
          </p:spPr>
          <p:txBody>
            <a:bodyPr rtlCol="0" anchor="ctr"/>
            <a:lstStyle/>
            <a:p>
              <a:pPr algn="ctr"/>
              <a:endParaRPr/>
            </a:p>
          </p:txBody>
        </p:sp>
        <p:sp>
          <p:nvSpPr>
            <p:cNvPr id="29" name="Rounded Rectangle 28"/>
            <p:cNvSpPr/>
            <p:nvPr/>
          </p:nvSpPr>
          <p:spPr>
            <a:xfrm>
              <a:off x="6922008" y="2240280"/>
              <a:ext cx="109728" cy="777240"/>
            </a:xfrm>
            <a:prstGeom prst="roundRect">
              <a:avLst>
                <a:gd name="adj" fmla="val 25000"/>
              </a:avLst>
            </a:prstGeom>
            <a:solidFill>
              <a:srgbClr val="F2C14E"/>
            </a:solidFill>
            <a:ln w="9525">
              <a:solidFill>
                <a:srgbClr val="101418"/>
              </a:solidFill>
            </a:ln>
          </p:spPr>
          <p:txBody>
            <a:bodyPr rtlCol="0" anchor="ctr"/>
            <a:lstStyle/>
            <a:p>
              <a:pPr algn="ctr"/>
              <a:endParaRPr/>
            </a:p>
          </p:txBody>
        </p:sp>
        <p:sp>
          <p:nvSpPr>
            <p:cNvPr id="30" name="Oval 29"/>
            <p:cNvSpPr/>
            <p:nvPr/>
          </p:nvSpPr>
          <p:spPr>
            <a:xfrm>
              <a:off x="6878117" y="2918765"/>
              <a:ext cx="197510" cy="197510"/>
            </a:xfrm>
            <a:prstGeom prst="ellipse">
              <a:avLst/>
            </a:prstGeom>
            <a:solidFill>
              <a:srgbClr val="9AA0A6"/>
            </a:solidFill>
            <a:ln>
              <a:noFill/>
            </a:ln>
          </p:spPr>
          <p:txBody>
            <a:bodyPr rtlCol="0" anchor="ctr"/>
            <a:lstStyle/>
            <a:p>
              <a:pPr algn="ctr"/>
              <a:endParaRPr/>
            </a:p>
          </p:txBody>
        </p:sp>
        <p:sp>
          <p:nvSpPr>
            <p:cNvPr id="31" name="Rounded Rectangle 30"/>
            <p:cNvSpPr/>
            <p:nvPr/>
          </p:nvSpPr>
          <p:spPr>
            <a:xfrm>
              <a:off x="6903720" y="2185416"/>
              <a:ext cx="146304" cy="109728"/>
            </a:xfrm>
            <a:prstGeom prst="roundRect">
              <a:avLst>
                <a:gd name="adj" fmla="val 25000"/>
              </a:avLst>
            </a:prstGeom>
            <a:solidFill>
              <a:srgbClr val="9AA0A6"/>
            </a:solidFill>
            <a:ln>
              <a:noFill/>
            </a:ln>
          </p:spPr>
          <p:txBody>
            <a:bodyPr rtlCol="0" anchor="ctr"/>
            <a:lstStyle/>
            <a:p>
              <a:pPr algn="ctr"/>
              <a:endParaRPr/>
            </a:p>
          </p:txBody>
        </p:sp>
        <p:sp>
          <p:nvSpPr>
            <p:cNvPr id="32" name="Rounded Rectangle 31"/>
            <p:cNvSpPr/>
            <p:nvPr/>
          </p:nvSpPr>
          <p:spPr>
            <a:xfrm>
              <a:off x="7324344" y="2240280"/>
              <a:ext cx="109728" cy="777240"/>
            </a:xfrm>
            <a:prstGeom prst="roundRect">
              <a:avLst>
                <a:gd name="adj" fmla="val 25000"/>
              </a:avLst>
            </a:prstGeom>
            <a:solidFill>
              <a:srgbClr val="F2C14E"/>
            </a:solidFill>
            <a:ln w="9525">
              <a:solidFill>
                <a:srgbClr val="101418"/>
              </a:solidFill>
            </a:ln>
          </p:spPr>
          <p:txBody>
            <a:bodyPr rtlCol="0" anchor="ctr"/>
            <a:lstStyle/>
            <a:p>
              <a:pPr algn="ctr"/>
              <a:endParaRPr/>
            </a:p>
          </p:txBody>
        </p:sp>
        <p:sp>
          <p:nvSpPr>
            <p:cNvPr id="33" name="Oval 32"/>
            <p:cNvSpPr/>
            <p:nvPr/>
          </p:nvSpPr>
          <p:spPr>
            <a:xfrm>
              <a:off x="7280453" y="2918765"/>
              <a:ext cx="197510" cy="197510"/>
            </a:xfrm>
            <a:prstGeom prst="ellipse">
              <a:avLst/>
            </a:prstGeom>
            <a:solidFill>
              <a:srgbClr val="9AA0A6"/>
            </a:solidFill>
            <a:ln>
              <a:noFill/>
            </a:ln>
          </p:spPr>
          <p:txBody>
            <a:bodyPr rtlCol="0" anchor="ctr"/>
            <a:lstStyle/>
            <a:p>
              <a:pPr algn="ctr"/>
              <a:endParaRPr/>
            </a:p>
          </p:txBody>
        </p:sp>
        <p:sp>
          <p:nvSpPr>
            <p:cNvPr id="34" name="Rounded Rectangle 33"/>
            <p:cNvSpPr/>
            <p:nvPr/>
          </p:nvSpPr>
          <p:spPr>
            <a:xfrm>
              <a:off x="7306056" y="2185416"/>
              <a:ext cx="146304" cy="109728"/>
            </a:xfrm>
            <a:prstGeom prst="roundRect">
              <a:avLst>
                <a:gd name="adj" fmla="val 25000"/>
              </a:avLst>
            </a:prstGeom>
            <a:solidFill>
              <a:srgbClr val="9AA0A6"/>
            </a:solidFill>
            <a:ln>
              <a:noFill/>
            </a:ln>
          </p:spPr>
          <p:txBody>
            <a:bodyPr rtlCol="0" anchor="ctr"/>
            <a:lstStyle/>
            <a:p>
              <a:pPr algn="ctr"/>
              <a:endParaRPr/>
            </a:p>
          </p:txBody>
        </p:sp>
        <p:sp>
          <p:nvSpPr>
            <p:cNvPr id="35" name="Rounded Rectangle 34"/>
            <p:cNvSpPr/>
            <p:nvPr/>
          </p:nvSpPr>
          <p:spPr>
            <a:xfrm>
              <a:off x="7726680" y="2240280"/>
              <a:ext cx="109728" cy="777240"/>
            </a:xfrm>
            <a:prstGeom prst="roundRect">
              <a:avLst>
                <a:gd name="adj" fmla="val 25000"/>
              </a:avLst>
            </a:prstGeom>
            <a:solidFill>
              <a:srgbClr val="5A6068"/>
            </a:solidFill>
            <a:ln w="12700">
              <a:solidFill>
                <a:srgbClr val="101418"/>
              </a:solidFill>
            </a:ln>
          </p:spPr>
          <p:txBody>
            <a:bodyPr rtlCol="0" anchor="ctr"/>
            <a:lstStyle/>
            <a:p>
              <a:pPr algn="ctr"/>
              <a:endParaRPr/>
            </a:p>
          </p:txBody>
        </p:sp>
        <p:sp>
          <p:nvSpPr>
            <p:cNvPr id="36" name="Oval 35"/>
            <p:cNvSpPr/>
            <p:nvPr/>
          </p:nvSpPr>
          <p:spPr>
            <a:xfrm>
              <a:off x="7682789" y="2918765"/>
              <a:ext cx="197510" cy="197510"/>
            </a:xfrm>
            <a:prstGeom prst="ellipse">
              <a:avLst/>
            </a:prstGeom>
            <a:solidFill>
              <a:srgbClr val="9AA0A6"/>
            </a:solidFill>
            <a:ln>
              <a:noFill/>
            </a:ln>
          </p:spPr>
          <p:txBody>
            <a:bodyPr rtlCol="0" anchor="ctr"/>
            <a:lstStyle/>
            <a:p>
              <a:pPr algn="ctr"/>
              <a:endParaRPr/>
            </a:p>
          </p:txBody>
        </p:sp>
        <p:sp>
          <p:nvSpPr>
            <p:cNvPr id="37" name="Rounded Rectangle 36"/>
            <p:cNvSpPr/>
            <p:nvPr/>
          </p:nvSpPr>
          <p:spPr>
            <a:xfrm>
              <a:off x="7708392" y="2185416"/>
              <a:ext cx="146304" cy="109728"/>
            </a:xfrm>
            <a:prstGeom prst="roundRect">
              <a:avLst>
                <a:gd name="adj" fmla="val 25000"/>
              </a:avLst>
            </a:prstGeom>
            <a:solidFill>
              <a:srgbClr val="9AA0A6"/>
            </a:solidFill>
            <a:ln>
              <a:noFill/>
            </a:ln>
          </p:spPr>
          <p:txBody>
            <a:bodyPr rtlCol="0" anchor="ctr"/>
            <a:lstStyle/>
            <a:p>
              <a:pPr algn="ctr"/>
              <a:endParaRPr/>
            </a:p>
          </p:txBody>
        </p:sp>
        <p:sp>
          <p:nvSpPr>
            <p:cNvPr id="38" name="Rounded Rectangle 37"/>
            <p:cNvSpPr/>
            <p:nvPr/>
          </p:nvSpPr>
          <p:spPr>
            <a:xfrm>
              <a:off x="8129016" y="2240280"/>
              <a:ext cx="109728" cy="777240"/>
            </a:xfrm>
            <a:prstGeom prst="roundRect">
              <a:avLst>
                <a:gd name="adj" fmla="val 25000"/>
              </a:avLst>
            </a:prstGeom>
            <a:solidFill>
              <a:srgbClr val="5A6068"/>
            </a:solidFill>
            <a:ln w="12700">
              <a:solidFill>
                <a:srgbClr val="101418"/>
              </a:solidFill>
            </a:ln>
          </p:spPr>
          <p:txBody>
            <a:bodyPr rtlCol="0" anchor="ctr"/>
            <a:lstStyle/>
            <a:p>
              <a:pPr algn="ctr"/>
              <a:endParaRPr/>
            </a:p>
          </p:txBody>
        </p:sp>
        <p:sp>
          <p:nvSpPr>
            <p:cNvPr id="39" name="Oval 38"/>
            <p:cNvSpPr/>
            <p:nvPr/>
          </p:nvSpPr>
          <p:spPr>
            <a:xfrm>
              <a:off x="8085125" y="2918765"/>
              <a:ext cx="197510" cy="197510"/>
            </a:xfrm>
            <a:prstGeom prst="ellipse">
              <a:avLst/>
            </a:prstGeom>
            <a:solidFill>
              <a:srgbClr val="9AA0A6"/>
            </a:solidFill>
            <a:ln>
              <a:noFill/>
            </a:ln>
          </p:spPr>
          <p:txBody>
            <a:bodyPr rtlCol="0" anchor="ctr"/>
            <a:lstStyle/>
            <a:p>
              <a:pPr algn="ctr"/>
              <a:endParaRPr/>
            </a:p>
          </p:txBody>
        </p:sp>
        <p:sp>
          <p:nvSpPr>
            <p:cNvPr id="40" name="Rounded Rectangle 39"/>
            <p:cNvSpPr/>
            <p:nvPr/>
          </p:nvSpPr>
          <p:spPr>
            <a:xfrm>
              <a:off x="8110728" y="2185416"/>
              <a:ext cx="146304" cy="109728"/>
            </a:xfrm>
            <a:prstGeom prst="roundRect">
              <a:avLst>
                <a:gd name="adj" fmla="val 25000"/>
              </a:avLst>
            </a:prstGeom>
            <a:solidFill>
              <a:srgbClr val="9AA0A6"/>
            </a:solidFill>
            <a:ln>
              <a:noFill/>
            </a:ln>
          </p:spPr>
          <p:txBody>
            <a:bodyPr rtlCol="0" anchor="ctr"/>
            <a:lstStyle/>
            <a:p>
              <a:pPr algn="ctr"/>
              <a:endParaRPr/>
            </a:p>
          </p:txBody>
        </p:sp>
        <p:sp>
          <p:nvSpPr>
            <p:cNvPr id="41" name="Rounded Rectangle 40"/>
            <p:cNvSpPr/>
            <p:nvPr/>
          </p:nvSpPr>
          <p:spPr>
            <a:xfrm>
              <a:off x="8531352" y="2240280"/>
              <a:ext cx="109728" cy="777240"/>
            </a:xfrm>
            <a:prstGeom prst="roundRect">
              <a:avLst>
                <a:gd name="adj" fmla="val 25000"/>
              </a:avLst>
            </a:prstGeom>
            <a:solidFill>
              <a:srgbClr val="6CA0DC"/>
            </a:solidFill>
            <a:ln w="9525">
              <a:solidFill>
                <a:srgbClr val="101418"/>
              </a:solidFill>
            </a:ln>
          </p:spPr>
          <p:txBody>
            <a:bodyPr rtlCol="0" anchor="ctr"/>
            <a:lstStyle/>
            <a:p>
              <a:pPr algn="ctr"/>
              <a:endParaRPr/>
            </a:p>
          </p:txBody>
        </p:sp>
        <p:sp>
          <p:nvSpPr>
            <p:cNvPr id="42" name="Oval 41"/>
            <p:cNvSpPr/>
            <p:nvPr/>
          </p:nvSpPr>
          <p:spPr>
            <a:xfrm>
              <a:off x="8487461" y="2918765"/>
              <a:ext cx="197510" cy="197510"/>
            </a:xfrm>
            <a:prstGeom prst="ellipse">
              <a:avLst/>
            </a:prstGeom>
            <a:solidFill>
              <a:srgbClr val="9AA0A6"/>
            </a:solidFill>
            <a:ln>
              <a:noFill/>
            </a:ln>
          </p:spPr>
          <p:txBody>
            <a:bodyPr rtlCol="0" anchor="ctr"/>
            <a:lstStyle/>
            <a:p>
              <a:pPr algn="ctr"/>
              <a:endParaRPr/>
            </a:p>
          </p:txBody>
        </p:sp>
        <p:sp>
          <p:nvSpPr>
            <p:cNvPr id="43" name="Rounded Rectangle 42"/>
            <p:cNvSpPr/>
            <p:nvPr/>
          </p:nvSpPr>
          <p:spPr>
            <a:xfrm>
              <a:off x="8513064" y="2185416"/>
              <a:ext cx="146304" cy="109728"/>
            </a:xfrm>
            <a:prstGeom prst="roundRect">
              <a:avLst>
                <a:gd name="adj" fmla="val 25000"/>
              </a:avLst>
            </a:prstGeom>
            <a:solidFill>
              <a:srgbClr val="9AA0A6"/>
            </a:solidFill>
            <a:ln>
              <a:noFill/>
            </a:ln>
          </p:spPr>
          <p:txBody>
            <a:bodyPr rtlCol="0" anchor="ctr"/>
            <a:lstStyle/>
            <a:p>
              <a:pPr algn="ctr"/>
              <a:endParaRPr/>
            </a:p>
          </p:txBody>
        </p:sp>
        <p:sp>
          <p:nvSpPr>
            <p:cNvPr id="44" name="TextBox 43"/>
            <p:cNvSpPr txBox="1"/>
            <p:nvPr/>
          </p:nvSpPr>
          <p:spPr>
            <a:xfrm>
              <a:off x="5486400" y="3090672"/>
              <a:ext cx="1371600" cy="246888"/>
            </a:xfrm>
            <a:prstGeom prst="rect">
              <a:avLst/>
            </a:prstGeom>
            <a:noFill/>
          </p:spPr>
          <p:txBody>
            <a:bodyPr wrap="square" lIns="0" tIns="0" rIns="0" bIns="0" anchor="t">
              <a:noAutofit/>
            </a:bodyPr>
            <a:lstStyle/>
            <a:p>
              <a:pPr algn="ctr"/>
              <a:r>
                <a:rPr lang="en-GB" sz="1400" b="0" i="0">
                  <a:solidFill>
                    <a:srgbClr val="F2F2F2"/>
                  </a:solidFill>
                  <a:latin typeface="Arial"/>
                </a:rPr>
                <a:t>Stop</a:t>
              </a:r>
            </a:p>
          </p:txBody>
        </p:sp>
        <p:sp>
          <p:nvSpPr>
            <p:cNvPr id="45" name="TextBox 44"/>
            <p:cNvSpPr txBox="1"/>
            <p:nvPr/>
          </p:nvSpPr>
          <p:spPr>
            <a:xfrm>
              <a:off x="6693408" y="3090672"/>
              <a:ext cx="969264" cy="246888"/>
            </a:xfrm>
            <a:prstGeom prst="rect">
              <a:avLst/>
            </a:prstGeom>
            <a:noFill/>
          </p:spPr>
          <p:txBody>
            <a:bodyPr wrap="square" lIns="0" tIns="0" rIns="0" bIns="0" anchor="t">
              <a:noAutofit/>
            </a:bodyPr>
            <a:lstStyle/>
            <a:p>
              <a:pPr algn="ctr"/>
              <a:r>
                <a:rPr lang="en-GB" sz="1400" b="0" i="0">
                  <a:solidFill>
                    <a:srgbClr val="F2F2F2"/>
                  </a:solidFill>
                  <a:latin typeface="Arial"/>
                </a:rPr>
                <a:t>Distant</a:t>
              </a:r>
            </a:p>
          </p:txBody>
        </p:sp>
        <p:sp>
          <p:nvSpPr>
            <p:cNvPr id="46" name="TextBox 45"/>
            <p:cNvSpPr txBox="1"/>
            <p:nvPr/>
          </p:nvSpPr>
          <p:spPr>
            <a:xfrm>
              <a:off x="7498080" y="3090672"/>
              <a:ext cx="969264" cy="246888"/>
            </a:xfrm>
            <a:prstGeom prst="rect">
              <a:avLst/>
            </a:prstGeom>
            <a:noFill/>
          </p:spPr>
          <p:txBody>
            <a:bodyPr wrap="square" lIns="0" tIns="0" rIns="0" bIns="0" anchor="t">
              <a:noAutofit/>
            </a:bodyPr>
            <a:lstStyle/>
            <a:p>
              <a:pPr algn="ctr"/>
              <a:r>
                <a:rPr lang="en-GB" sz="1400" b="0" i="0">
                  <a:solidFill>
                    <a:srgbClr val="F2F2F2"/>
                  </a:solidFill>
                  <a:latin typeface="Arial"/>
                </a:rPr>
                <a:t>Points</a:t>
              </a:r>
            </a:p>
          </p:txBody>
        </p:sp>
        <p:sp>
          <p:nvSpPr>
            <p:cNvPr id="47" name="TextBox 46"/>
            <p:cNvSpPr txBox="1"/>
            <p:nvPr/>
          </p:nvSpPr>
          <p:spPr>
            <a:xfrm>
              <a:off x="8302752" y="3090672"/>
              <a:ext cx="566928" cy="246888"/>
            </a:xfrm>
            <a:prstGeom prst="rect">
              <a:avLst/>
            </a:prstGeom>
            <a:noFill/>
          </p:spPr>
          <p:txBody>
            <a:bodyPr wrap="square" lIns="0" tIns="0" rIns="0" bIns="0" anchor="t">
              <a:noAutofit/>
            </a:bodyPr>
            <a:lstStyle/>
            <a:p>
              <a:pPr algn="ctr"/>
              <a:r>
                <a:rPr lang="en-GB" sz="1400" b="0" i="0">
                  <a:solidFill>
                    <a:srgbClr val="F2F2F2"/>
                  </a:solidFill>
                  <a:latin typeface="Arial"/>
                </a:rPr>
                <a:t>Lock</a:t>
              </a:r>
            </a:p>
          </p:txBody>
        </p:sp>
        <p:sp>
          <p:nvSpPr>
            <p:cNvPr id="48" name="TextBox 47"/>
            <p:cNvSpPr txBox="1"/>
            <p:nvPr/>
          </p:nvSpPr>
          <p:spPr>
            <a:xfrm>
              <a:off x="8229600" y="1719072"/>
              <a:ext cx="1280160" cy="438912"/>
            </a:xfrm>
            <a:prstGeom prst="rect">
              <a:avLst/>
            </a:prstGeom>
            <a:noFill/>
          </p:spPr>
          <p:txBody>
            <a:bodyPr wrap="square" lIns="0" tIns="0" rIns="0" bIns="0" anchor="t">
              <a:noAutofit/>
            </a:bodyPr>
            <a:lstStyle/>
            <a:p>
              <a:pPr algn="l"/>
              <a:r>
                <a:rPr lang="en-GB" sz="1400" b="0" i="0">
                  <a:solidFill>
                    <a:srgbClr val="A9B0B8"/>
                  </a:solidFill>
                  <a:latin typeface="Arial"/>
                </a:rPr>
                <a:t>Example colours only</a:t>
              </a:r>
            </a:p>
          </p:txBody>
        </p:sp>
        <p:sp>
          <p:nvSpPr>
            <p:cNvPr id="49" name="TextBox 48"/>
            <p:cNvSpPr txBox="1"/>
            <p:nvPr/>
          </p:nvSpPr>
          <p:spPr>
            <a:xfrm>
              <a:off x="4910328" y="3392424"/>
              <a:ext cx="1828800" cy="292608"/>
            </a:xfrm>
            <a:prstGeom prst="rect">
              <a:avLst/>
            </a:prstGeom>
            <a:noFill/>
          </p:spPr>
          <p:txBody>
            <a:bodyPr wrap="square" lIns="0" tIns="0" rIns="0" bIns="0" anchor="t">
              <a:noAutofit/>
            </a:bodyPr>
            <a:lstStyle/>
            <a:p>
              <a:pPr algn="l"/>
              <a:r>
                <a:rPr lang="en-GB" sz="1400" b="1" i="0">
                  <a:solidFill>
                    <a:srgbClr val="F28C28"/>
                  </a:solidFill>
                  <a:latin typeface="Arial"/>
                </a:rPr>
                <a:t>Locking room</a:t>
              </a:r>
            </a:p>
          </p:txBody>
        </p:sp>
        <p:sp>
          <p:nvSpPr>
            <p:cNvPr id="50" name="Rectangle 49"/>
            <p:cNvSpPr/>
            <p:nvPr/>
          </p:nvSpPr>
          <p:spPr>
            <a:xfrm>
              <a:off x="6263640" y="3749040"/>
              <a:ext cx="2926080" cy="54864"/>
            </a:xfrm>
            <a:prstGeom prst="rect">
              <a:avLst/>
            </a:prstGeom>
            <a:solidFill>
              <a:srgbClr val="9AA0A6"/>
            </a:solidFill>
            <a:ln>
              <a:noFill/>
            </a:ln>
          </p:spPr>
          <p:txBody>
            <a:bodyPr rtlCol="0" anchor="ctr"/>
            <a:lstStyle/>
            <a:p>
              <a:pPr algn="ctr"/>
              <a:endParaRPr/>
            </a:p>
          </p:txBody>
        </p:sp>
        <p:sp>
          <p:nvSpPr>
            <p:cNvPr id="51" name="Rectangle 50"/>
            <p:cNvSpPr/>
            <p:nvPr/>
          </p:nvSpPr>
          <p:spPr>
            <a:xfrm>
              <a:off x="6263640" y="3931920"/>
              <a:ext cx="2926080" cy="54864"/>
            </a:xfrm>
            <a:prstGeom prst="rect">
              <a:avLst/>
            </a:prstGeom>
            <a:solidFill>
              <a:srgbClr val="9AA0A6"/>
            </a:solidFill>
            <a:ln>
              <a:noFill/>
            </a:ln>
          </p:spPr>
          <p:txBody>
            <a:bodyPr rtlCol="0" anchor="ctr"/>
            <a:lstStyle/>
            <a:p>
              <a:pPr algn="ctr"/>
              <a:endParaRPr/>
            </a:p>
          </p:txBody>
        </p:sp>
        <p:sp>
          <p:nvSpPr>
            <p:cNvPr id="52" name="Rectangle 51"/>
            <p:cNvSpPr/>
            <p:nvPr/>
          </p:nvSpPr>
          <p:spPr>
            <a:xfrm>
              <a:off x="6263640" y="4114800"/>
              <a:ext cx="2926080" cy="54864"/>
            </a:xfrm>
            <a:prstGeom prst="rect">
              <a:avLst/>
            </a:prstGeom>
            <a:solidFill>
              <a:srgbClr val="9AA0A6"/>
            </a:solidFill>
            <a:ln>
              <a:noFill/>
            </a:ln>
          </p:spPr>
          <p:txBody>
            <a:bodyPr rtlCol="0" anchor="ctr"/>
            <a:lstStyle/>
            <a:p>
              <a:pPr algn="ctr"/>
              <a:endParaRPr/>
            </a:p>
          </p:txBody>
        </p:sp>
        <p:sp>
          <p:nvSpPr>
            <p:cNvPr id="53" name="Rectangle 52"/>
            <p:cNvSpPr/>
            <p:nvPr/>
          </p:nvSpPr>
          <p:spPr>
            <a:xfrm>
              <a:off x="6263640" y="4297680"/>
              <a:ext cx="2926080" cy="54864"/>
            </a:xfrm>
            <a:prstGeom prst="rect">
              <a:avLst/>
            </a:prstGeom>
            <a:solidFill>
              <a:srgbClr val="9AA0A6"/>
            </a:solidFill>
            <a:ln>
              <a:noFill/>
            </a:ln>
          </p:spPr>
          <p:txBody>
            <a:bodyPr rtlCol="0" anchor="ctr"/>
            <a:lstStyle/>
            <a:p>
              <a:pPr algn="ctr"/>
              <a:endParaRPr/>
            </a:p>
          </p:txBody>
        </p:sp>
        <p:sp>
          <p:nvSpPr>
            <p:cNvPr id="54" name="Rectangle 53"/>
            <p:cNvSpPr/>
            <p:nvPr/>
          </p:nvSpPr>
          <p:spPr>
            <a:xfrm>
              <a:off x="6400800" y="3685032"/>
              <a:ext cx="45720" cy="731520"/>
            </a:xfrm>
            <a:prstGeom prst="rect">
              <a:avLst/>
            </a:prstGeom>
            <a:solidFill>
              <a:srgbClr val="4A515B"/>
            </a:solidFill>
            <a:ln>
              <a:noFill/>
            </a:ln>
          </p:spPr>
          <p:txBody>
            <a:bodyPr rtlCol="0" anchor="ctr"/>
            <a:lstStyle/>
            <a:p>
              <a:pPr algn="ctr"/>
              <a:endParaRPr/>
            </a:p>
          </p:txBody>
        </p:sp>
        <p:sp>
          <p:nvSpPr>
            <p:cNvPr id="55" name="Rectangle 54"/>
            <p:cNvSpPr/>
            <p:nvPr/>
          </p:nvSpPr>
          <p:spPr>
            <a:xfrm>
              <a:off x="6748272" y="3685032"/>
              <a:ext cx="45720" cy="731520"/>
            </a:xfrm>
            <a:prstGeom prst="rect">
              <a:avLst/>
            </a:prstGeom>
            <a:solidFill>
              <a:srgbClr val="4A515B"/>
            </a:solidFill>
            <a:ln>
              <a:noFill/>
            </a:ln>
          </p:spPr>
          <p:txBody>
            <a:bodyPr rtlCol="0" anchor="ctr"/>
            <a:lstStyle/>
            <a:p>
              <a:pPr algn="ctr"/>
              <a:endParaRPr/>
            </a:p>
          </p:txBody>
        </p:sp>
        <p:sp>
          <p:nvSpPr>
            <p:cNvPr id="56" name="Rectangle 55"/>
            <p:cNvSpPr/>
            <p:nvPr/>
          </p:nvSpPr>
          <p:spPr>
            <a:xfrm>
              <a:off x="7095744" y="3685032"/>
              <a:ext cx="45720" cy="731520"/>
            </a:xfrm>
            <a:prstGeom prst="rect">
              <a:avLst/>
            </a:prstGeom>
            <a:solidFill>
              <a:srgbClr val="4A515B"/>
            </a:solidFill>
            <a:ln>
              <a:noFill/>
            </a:ln>
          </p:spPr>
          <p:txBody>
            <a:bodyPr rtlCol="0" anchor="ctr"/>
            <a:lstStyle/>
            <a:p>
              <a:pPr algn="ctr"/>
              <a:endParaRPr/>
            </a:p>
          </p:txBody>
        </p:sp>
        <p:sp>
          <p:nvSpPr>
            <p:cNvPr id="57" name="Rectangle 56"/>
            <p:cNvSpPr/>
            <p:nvPr/>
          </p:nvSpPr>
          <p:spPr>
            <a:xfrm>
              <a:off x="7443216" y="3685032"/>
              <a:ext cx="45720" cy="731520"/>
            </a:xfrm>
            <a:prstGeom prst="rect">
              <a:avLst/>
            </a:prstGeom>
            <a:solidFill>
              <a:srgbClr val="4A515B"/>
            </a:solidFill>
            <a:ln>
              <a:noFill/>
            </a:ln>
          </p:spPr>
          <p:txBody>
            <a:bodyPr rtlCol="0" anchor="ctr"/>
            <a:lstStyle/>
            <a:p>
              <a:pPr algn="ctr"/>
              <a:endParaRPr/>
            </a:p>
          </p:txBody>
        </p:sp>
        <p:sp>
          <p:nvSpPr>
            <p:cNvPr id="58" name="Rectangle 57"/>
            <p:cNvSpPr/>
            <p:nvPr/>
          </p:nvSpPr>
          <p:spPr>
            <a:xfrm>
              <a:off x="7790688" y="3685032"/>
              <a:ext cx="45720" cy="731520"/>
            </a:xfrm>
            <a:prstGeom prst="rect">
              <a:avLst/>
            </a:prstGeom>
            <a:solidFill>
              <a:srgbClr val="4A515B"/>
            </a:solidFill>
            <a:ln>
              <a:noFill/>
            </a:ln>
          </p:spPr>
          <p:txBody>
            <a:bodyPr rtlCol="0" anchor="ctr"/>
            <a:lstStyle/>
            <a:p>
              <a:pPr algn="ctr"/>
              <a:endParaRPr/>
            </a:p>
          </p:txBody>
        </p:sp>
        <p:sp>
          <p:nvSpPr>
            <p:cNvPr id="59" name="Rectangle 58"/>
            <p:cNvSpPr/>
            <p:nvPr/>
          </p:nvSpPr>
          <p:spPr>
            <a:xfrm>
              <a:off x="8138160" y="3685032"/>
              <a:ext cx="45720" cy="731520"/>
            </a:xfrm>
            <a:prstGeom prst="rect">
              <a:avLst/>
            </a:prstGeom>
            <a:solidFill>
              <a:srgbClr val="4A515B"/>
            </a:solidFill>
            <a:ln>
              <a:noFill/>
            </a:ln>
          </p:spPr>
          <p:txBody>
            <a:bodyPr rtlCol="0" anchor="ctr"/>
            <a:lstStyle/>
            <a:p>
              <a:pPr algn="ctr"/>
              <a:endParaRPr/>
            </a:p>
          </p:txBody>
        </p:sp>
        <p:sp>
          <p:nvSpPr>
            <p:cNvPr id="60" name="Rectangle 59"/>
            <p:cNvSpPr/>
            <p:nvPr/>
          </p:nvSpPr>
          <p:spPr>
            <a:xfrm>
              <a:off x="8485632" y="3685032"/>
              <a:ext cx="45720" cy="731520"/>
            </a:xfrm>
            <a:prstGeom prst="rect">
              <a:avLst/>
            </a:prstGeom>
            <a:solidFill>
              <a:srgbClr val="4A515B"/>
            </a:solidFill>
            <a:ln>
              <a:noFill/>
            </a:ln>
          </p:spPr>
          <p:txBody>
            <a:bodyPr rtlCol="0" anchor="ctr"/>
            <a:lstStyle/>
            <a:p>
              <a:pPr algn="ctr"/>
              <a:endParaRPr/>
            </a:p>
          </p:txBody>
        </p:sp>
        <p:sp>
          <p:nvSpPr>
            <p:cNvPr id="61" name="Rectangle 60"/>
            <p:cNvSpPr/>
            <p:nvPr/>
          </p:nvSpPr>
          <p:spPr>
            <a:xfrm>
              <a:off x="8833104" y="3685032"/>
              <a:ext cx="45720" cy="731520"/>
            </a:xfrm>
            <a:prstGeom prst="rect">
              <a:avLst/>
            </a:prstGeom>
            <a:solidFill>
              <a:srgbClr val="4A515B"/>
            </a:solidFill>
            <a:ln>
              <a:noFill/>
            </a:ln>
          </p:spPr>
          <p:txBody>
            <a:bodyPr rtlCol="0" anchor="ctr"/>
            <a:lstStyle/>
            <a:p>
              <a:pPr algn="ctr"/>
              <a:endParaRPr/>
            </a:p>
          </p:txBody>
        </p:sp>
        <p:sp>
          <p:nvSpPr>
            <p:cNvPr id="62" name="Freeform 61"/>
            <p:cNvSpPr/>
            <p:nvPr/>
          </p:nvSpPr>
          <p:spPr>
            <a:xfrm>
              <a:off x="4572000" y="3721608"/>
              <a:ext cx="1691640" cy="1353312"/>
            </a:xfrm>
            <a:custGeom>
              <a:avLst/>
              <a:gdLst/>
              <a:ahLst/>
              <a:cxnLst/>
              <a:rect l="l" t="t" r="r" b="b"/>
              <a:pathLst>
                <a:path w="1691640" h="1353312">
                  <a:moveTo>
                    <a:pt x="1691640" y="0"/>
                  </a:moveTo>
                  <a:lnTo>
                    <a:pt x="0" y="0"/>
                  </a:lnTo>
                  <a:lnTo>
                    <a:pt x="0" y="1353312"/>
                  </a:lnTo>
                </a:path>
              </a:pathLst>
            </a:custGeom>
            <a:noFill/>
            <a:ln w="15875">
              <a:solidFill>
                <a:srgbClr val="9AA0A6"/>
              </a:solidFill>
            </a:ln>
          </p:spPr>
          <p:txBody>
            <a:bodyPr rtlCol="0" anchor="ctr"/>
            <a:lstStyle/>
            <a:p>
              <a:pPr algn="ctr"/>
              <a:endParaRPr/>
            </a:p>
          </p:txBody>
        </p:sp>
        <p:sp>
          <p:nvSpPr>
            <p:cNvPr id="63" name="Freeform 62"/>
            <p:cNvSpPr/>
            <p:nvPr/>
          </p:nvSpPr>
          <p:spPr>
            <a:xfrm>
              <a:off x="4507992" y="3813048"/>
              <a:ext cx="1755648" cy="1261872"/>
            </a:xfrm>
            <a:custGeom>
              <a:avLst/>
              <a:gdLst/>
              <a:ahLst/>
              <a:cxnLst/>
              <a:rect l="l" t="t" r="r" b="b"/>
              <a:pathLst>
                <a:path w="1755648" h="1261872">
                  <a:moveTo>
                    <a:pt x="1755648" y="0"/>
                  </a:moveTo>
                  <a:lnTo>
                    <a:pt x="0" y="0"/>
                  </a:lnTo>
                  <a:lnTo>
                    <a:pt x="0" y="1261872"/>
                  </a:lnTo>
                </a:path>
              </a:pathLst>
            </a:custGeom>
            <a:noFill/>
            <a:ln w="15875">
              <a:solidFill>
                <a:srgbClr val="9AA0A6"/>
              </a:solidFill>
            </a:ln>
          </p:spPr>
          <p:txBody>
            <a:bodyPr rtlCol="0" anchor="ctr"/>
            <a:lstStyle/>
            <a:p>
              <a:pPr algn="ctr"/>
              <a:endParaRPr/>
            </a:p>
          </p:txBody>
        </p:sp>
        <p:sp>
          <p:nvSpPr>
            <p:cNvPr id="64" name="Freeform 63"/>
            <p:cNvSpPr/>
            <p:nvPr/>
          </p:nvSpPr>
          <p:spPr>
            <a:xfrm>
              <a:off x="4443984" y="3904488"/>
              <a:ext cx="1819656" cy="1170432"/>
            </a:xfrm>
            <a:custGeom>
              <a:avLst/>
              <a:gdLst/>
              <a:ahLst/>
              <a:cxnLst/>
              <a:rect l="l" t="t" r="r" b="b"/>
              <a:pathLst>
                <a:path w="1819656" h="1170432">
                  <a:moveTo>
                    <a:pt x="1819656" y="0"/>
                  </a:moveTo>
                  <a:lnTo>
                    <a:pt x="0" y="0"/>
                  </a:lnTo>
                  <a:lnTo>
                    <a:pt x="0" y="1170432"/>
                  </a:lnTo>
                </a:path>
              </a:pathLst>
            </a:custGeom>
            <a:noFill/>
            <a:ln w="15875">
              <a:solidFill>
                <a:srgbClr val="9AA0A6"/>
              </a:solidFill>
            </a:ln>
          </p:spPr>
          <p:txBody>
            <a:bodyPr rtlCol="0" anchor="ctr"/>
            <a:lstStyle/>
            <a:p>
              <a:pPr algn="ctr"/>
              <a:endParaRPr/>
            </a:p>
          </p:txBody>
        </p:sp>
        <p:sp>
          <p:nvSpPr>
            <p:cNvPr id="65" name="Freeform 64"/>
            <p:cNvSpPr/>
            <p:nvPr/>
          </p:nvSpPr>
          <p:spPr>
            <a:xfrm>
              <a:off x="4379976" y="3995928"/>
              <a:ext cx="1883664" cy="1078992"/>
            </a:xfrm>
            <a:custGeom>
              <a:avLst/>
              <a:gdLst/>
              <a:ahLst/>
              <a:cxnLst/>
              <a:rect l="l" t="t" r="r" b="b"/>
              <a:pathLst>
                <a:path w="1883664" h="1078992">
                  <a:moveTo>
                    <a:pt x="1883664" y="0"/>
                  </a:moveTo>
                  <a:lnTo>
                    <a:pt x="0" y="0"/>
                  </a:lnTo>
                  <a:lnTo>
                    <a:pt x="0" y="1078992"/>
                  </a:lnTo>
                </a:path>
              </a:pathLst>
            </a:custGeom>
            <a:noFill/>
            <a:ln w="15875">
              <a:solidFill>
                <a:srgbClr val="9AA0A6"/>
              </a:solidFill>
            </a:ln>
          </p:spPr>
          <p:txBody>
            <a:bodyPr rtlCol="0" anchor="ctr"/>
            <a:lstStyle/>
            <a:p>
              <a:pPr algn="ctr"/>
              <a:endParaRPr/>
            </a:p>
          </p:txBody>
        </p:sp>
        <p:sp>
          <p:nvSpPr>
            <p:cNvPr id="66" name="Freeform 65"/>
            <p:cNvSpPr/>
            <p:nvPr/>
          </p:nvSpPr>
          <p:spPr>
            <a:xfrm>
              <a:off x="4315968" y="4087368"/>
              <a:ext cx="1947672" cy="987552"/>
            </a:xfrm>
            <a:custGeom>
              <a:avLst/>
              <a:gdLst/>
              <a:ahLst/>
              <a:cxnLst/>
              <a:rect l="l" t="t" r="r" b="b"/>
              <a:pathLst>
                <a:path w="1947672" h="987552">
                  <a:moveTo>
                    <a:pt x="1947672" y="0"/>
                  </a:moveTo>
                  <a:lnTo>
                    <a:pt x="0" y="0"/>
                  </a:lnTo>
                  <a:lnTo>
                    <a:pt x="0" y="987552"/>
                  </a:lnTo>
                </a:path>
              </a:pathLst>
            </a:custGeom>
            <a:noFill/>
            <a:ln w="15875">
              <a:solidFill>
                <a:srgbClr val="9AA0A6"/>
              </a:solidFill>
            </a:ln>
          </p:spPr>
          <p:txBody>
            <a:bodyPr rtlCol="0" anchor="ctr"/>
            <a:lstStyle/>
            <a:p>
              <a:pPr algn="ctr"/>
              <a:endParaRPr/>
            </a:p>
          </p:txBody>
        </p:sp>
        <p:sp>
          <p:nvSpPr>
            <p:cNvPr id="67" name="Freeform 66"/>
            <p:cNvSpPr/>
            <p:nvPr/>
          </p:nvSpPr>
          <p:spPr>
            <a:xfrm>
              <a:off x="4251960" y="4178808"/>
              <a:ext cx="2011680" cy="896112"/>
            </a:xfrm>
            <a:custGeom>
              <a:avLst/>
              <a:gdLst/>
              <a:ahLst/>
              <a:cxnLst/>
              <a:rect l="l" t="t" r="r" b="b"/>
              <a:pathLst>
                <a:path w="2011680" h="896112">
                  <a:moveTo>
                    <a:pt x="2011680" y="0"/>
                  </a:moveTo>
                  <a:lnTo>
                    <a:pt x="0" y="0"/>
                  </a:lnTo>
                  <a:lnTo>
                    <a:pt x="0" y="896112"/>
                  </a:lnTo>
                </a:path>
              </a:pathLst>
            </a:custGeom>
            <a:noFill/>
            <a:ln w="15875">
              <a:solidFill>
                <a:srgbClr val="9AA0A6"/>
              </a:solidFill>
            </a:ln>
          </p:spPr>
          <p:txBody>
            <a:bodyPr rtlCol="0" anchor="ctr"/>
            <a:lstStyle/>
            <a:p>
              <a:pPr algn="ctr"/>
              <a:endParaRPr/>
            </a:p>
          </p:txBody>
        </p:sp>
        <p:sp>
          <p:nvSpPr>
            <p:cNvPr id="68" name="Freeform 67"/>
            <p:cNvSpPr/>
            <p:nvPr/>
          </p:nvSpPr>
          <p:spPr>
            <a:xfrm>
              <a:off x="4187952" y="4270248"/>
              <a:ext cx="2075688" cy="804672"/>
            </a:xfrm>
            <a:custGeom>
              <a:avLst/>
              <a:gdLst/>
              <a:ahLst/>
              <a:cxnLst/>
              <a:rect l="l" t="t" r="r" b="b"/>
              <a:pathLst>
                <a:path w="2075688" h="804672">
                  <a:moveTo>
                    <a:pt x="2075688" y="0"/>
                  </a:moveTo>
                  <a:lnTo>
                    <a:pt x="0" y="0"/>
                  </a:lnTo>
                  <a:lnTo>
                    <a:pt x="0" y="804672"/>
                  </a:lnTo>
                </a:path>
              </a:pathLst>
            </a:custGeom>
            <a:noFill/>
            <a:ln w="15875">
              <a:solidFill>
                <a:srgbClr val="9AA0A6"/>
              </a:solidFill>
            </a:ln>
          </p:spPr>
          <p:txBody>
            <a:bodyPr rtlCol="0" anchor="ctr"/>
            <a:lstStyle/>
            <a:p>
              <a:pPr algn="ctr"/>
              <a:endParaRPr/>
            </a:p>
          </p:txBody>
        </p:sp>
        <p:sp>
          <p:nvSpPr>
            <p:cNvPr id="69" name="Freeform 68"/>
            <p:cNvSpPr/>
            <p:nvPr/>
          </p:nvSpPr>
          <p:spPr>
            <a:xfrm>
              <a:off x="4123944" y="4361688"/>
              <a:ext cx="2139696" cy="713232"/>
            </a:xfrm>
            <a:custGeom>
              <a:avLst/>
              <a:gdLst/>
              <a:ahLst/>
              <a:cxnLst/>
              <a:rect l="l" t="t" r="r" b="b"/>
              <a:pathLst>
                <a:path w="2139696" h="713232">
                  <a:moveTo>
                    <a:pt x="2139696" y="0"/>
                  </a:moveTo>
                  <a:lnTo>
                    <a:pt x="0" y="0"/>
                  </a:lnTo>
                  <a:lnTo>
                    <a:pt x="0" y="713232"/>
                  </a:lnTo>
                </a:path>
              </a:pathLst>
            </a:custGeom>
            <a:noFill/>
            <a:ln w="15875">
              <a:solidFill>
                <a:srgbClr val="9AA0A6"/>
              </a:solidFill>
            </a:ln>
          </p:spPr>
          <p:txBody>
            <a:bodyPr rtlCol="0" anchor="ctr"/>
            <a:lstStyle/>
            <a:p>
              <a:pPr algn="ctr"/>
              <a:endParaRPr/>
            </a:p>
          </p:txBody>
        </p:sp>
        <p:sp>
          <p:nvSpPr>
            <p:cNvPr id="70" name="Rectangle 69"/>
            <p:cNvSpPr/>
            <p:nvPr/>
          </p:nvSpPr>
          <p:spPr>
            <a:xfrm>
              <a:off x="3840480" y="5074920"/>
              <a:ext cx="5715000" cy="54864"/>
            </a:xfrm>
            <a:prstGeom prst="rect">
              <a:avLst/>
            </a:prstGeom>
            <a:solidFill>
              <a:srgbClr val="9AA0A6"/>
            </a:solidFill>
            <a:ln>
              <a:noFill/>
            </a:ln>
          </p:spPr>
          <p:txBody>
            <a:bodyPr rtlCol="0" anchor="ctr"/>
            <a:lstStyle/>
            <a:p>
              <a:pPr algn="ctr"/>
              <a:endParaRPr/>
            </a:p>
          </p:txBody>
        </p:sp>
      </p:grpSp>
      <p:sp>
        <p:nvSpPr>
          <p:cNvPr id="71" name="TextBox 70"/>
          <p:cNvSpPr txBox="1"/>
          <p:nvPr/>
        </p:nvSpPr>
        <p:spPr>
          <a:xfrm>
            <a:off x="4800600" y="4599432"/>
            <a:ext cx="4754880" cy="329184"/>
          </a:xfrm>
          <a:prstGeom prst="rect">
            <a:avLst/>
          </a:prstGeom>
          <a:noFill/>
        </p:spPr>
        <p:txBody>
          <a:bodyPr wrap="square" lIns="0" tIns="0" rIns="0" bIns="0" anchor="t">
            <a:noAutofit/>
          </a:bodyPr>
          <a:lstStyle/>
          <a:p>
            <a:pPr algn="ctr"/>
            <a:r>
              <a:rPr lang="en-GB" sz="1400" b="0" i="0">
                <a:solidFill>
                  <a:srgbClr val="F2F2F2"/>
                </a:solidFill>
                <a:latin typeface="Arial"/>
              </a:rPr>
              <a:t>Rods and wires run out to signals and points</a:t>
            </a:r>
          </a:p>
        </p:txBody>
      </p:sp>
      <p:sp>
        <p:nvSpPr>
          <p:cNvPr id="72" name="Interlocking note"/>
          <p:cNvSpPr/>
          <p:nvPr/>
        </p:nvSpPr>
        <p:spPr>
          <a:xfrm>
            <a:off x="9784080" y="1371600"/>
            <a:ext cx="1856232" cy="1371600"/>
          </a:xfrm>
          <a:prstGeom prst="roundRect">
            <a:avLst>
              <a:gd name="adj" fmla="val 5333"/>
            </a:avLst>
          </a:prstGeom>
          <a:solidFill>
            <a:srgbClr val="1E2126"/>
          </a:solidFill>
          <a:ln w="19050">
            <a:solidFill>
              <a:srgbClr val="F28C28"/>
            </a:solidFill>
          </a:ln>
        </p:spPr>
        <p:txBody>
          <a:bodyPr wrap="square" lIns="109728" tIns="54864" rIns="73152" bIns="54864" rtlCol="0" anchor="ctr">
            <a:noAutofit/>
          </a:bodyPr>
          <a:lstStyle/>
          <a:p>
            <a:pPr algn="l"/>
            <a:r>
              <a:rPr lang="en-GB" sz="1600" b="0" i="0">
                <a:solidFill>
                  <a:srgbClr val="F2F2F2"/>
                </a:solidFill>
                <a:latin typeface="Arial"/>
              </a:rPr>
              <a:t>Levers are locked so two clashing signals cannot both be clear</a:t>
            </a:r>
          </a:p>
        </p:txBody>
      </p:sp>
      <p:pic>
        <p:nvPicPr>
          <p:cNvPr id="73" name="Picture P15" descr="Lever frame and workings inside a signal box at Didcot Railway Centre."/>
          <p:cNvPicPr>
            <a:picLocks noChangeAspect="1"/>
          </p:cNvPicPr>
          <p:nvPr/>
        </p:nvPicPr>
        <p:blipFill>
          <a:blip r:embed="rId3"/>
          <a:srcRect t="4545" b="4545"/>
          <a:stretch>
            <a:fillRect/>
          </a:stretch>
        </p:blipFill>
        <p:spPr>
          <a:xfrm>
            <a:off x="9628632" y="3703320"/>
            <a:ext cx="2011680" cy="1371600"/>
          </a:xfrm>
          <a:prstGeom prst="roundRect">
            <a:avLst>
              <a:gd name="adj" fmla="val 5333"/>
            </a:avLst>
          </a:prstGeom>
        </p:spPr>
      </p:pic>
      <p:sp>
        <p:nvSpPr>
          <p:cNvPr id="74" name="Credit"/>
          <p:cNvSpPr txBox="1"/>
          <p:nvPr/>
        </p:nvSpPr>
        <p:spPr>
          <a:xfrm>
            <a:off x="9628632" y="5102352"/>
            <a:ext cx="2011680" cy="338328"/>
          </a:xfrm>
          <a:prstGeom prst="rect">
            <a:avLst/>
          </a:prstGeom>
          <a:noFill/>
        </p:spPr>
        <p:txBody>
          <a:bodyPr wrap="square" lIns="0" tIns="0" rIns="0" bIns="0" anchor="t">
            <a:noAutofit/>
          </a:bodyPr>
          <a:lstStyle/>
          <a:p>
            <a:pPr algn="l"/>
            <a:r>
              <a:rPr lang="en-GB" sz="1000" b="0" i="0">
                <a:solidFill>
                  <a:srgbClr val="A9B0B8"/>
                </a:solidFill>
                <a:latin typeface="Arial"/>
              </a:rPr>
              <a:t>Photo: Nigel Brown, CC BY-SA 2.0, Wikimedia Commons.</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 signaller pulls levers. Rods and wires carry the movement out to the signals.</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30</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57"/>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514"/>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500"/>
                                        <p:tgtEl>
                                          <p:spTgt spid="71"/>
                                        </p:tgtEl>
                                      </p:cBhvr>
                                    </p:animEffect>
                                  </p:childTnLst>
                                </p:cTn>
                              </p:par>
                              <p:par>
                                <p:cTn id="14" presetID="10" presetClass="entr" presetSubtype="0" fill="hold" nodeType="withEffect">
                                  <p:stCondLst>
                                    <p:cond delay="771"/>
                                  </p:stCondLst>
                                  <p:childTnLst>
                                    <p:set>
                                      <p:cBhvr>
                                        <p:cTn id="15" dur="1" fill="hold">
                                          <p:stCondLst>
                                            <p:cond delay="0"/>
                                          </p:stCondLst>
                                        </p:cTn>
                                        <p:tgtEl>
                                          <p:spTgt spid="72"/>
                                        </p:tgtEl>
                                        <p:attrNameLst>
                                          <p:attrName>style.visibility</p:attrName>
                                        </p:attrNameLst>
                                      </p:cBhvr>
                                      <p:to>
                                        <p:strVal val="visible"/>
                                      </p:to>
                                    </p:set>
                                    <p:animEffect transition="in" filter="fade">
                                      <p:cBhvr>
                                        <p:cTn id="16" dur="500"/>
                                        <p:tgtEl>
                                          <p:spTgt spid="72"/>
                                        </p:tgtEl>
                                      </p:cBhvr>
                                    </p:animEffect>
                                  </p:childTnLst>
                                </p:cTn>
                              </p:par>
                              <p:par>
                                <p:cTn id="17" presetID="10" presetClass="entr" presetSubtype="0" fill="hold" nodeType="withEffect">
                                  <p:stCondLst>
                                    <p:cond delay="1028"/>
                                  </p:stCondLst>
                                  <p:childTnLst>
                                    <p:set>
                                      <p:cBhvr>
                                        <p:cTn id="18" dur="1" fill="hold">
                                          <p:stCondLst>
                                            <p:cond delay="0"/>
                                          </p:stCondLst>
                                        </p:cTn>
                                        <p:tgtEl>
                                          <p:spTgt spid="73"/>
                                        </p:tgtEl>
                                        <p:attrNameLst>
                                          <p:attrName>style.visibility</p:attrName>
                                        </p:attrNameLst>
                                      </p:cBhvr>
                                      <p:to>
                                        <p:strVal val="visible"/>
                                      </p:to>
                                    </p:set>
                                    <p:animEffect transition="in" filter="fade">
                                      <p:cBhvr>
                                        <p:cTn id="19" dur="500"/>
                                        <p:tgtEl>
                                          <p:spTgt spid="73"/>
                                        </p:tgtEl>
                                      </p:cBhvr>
                                    </p:animEffect>
                                  </p:childTnLst>
                                </p:cTn>
                              </p:par>
                              <p:par>
                                <p:cTn id="20" presetID="10" presetClass="entr" presetSubtype="0" fill="hold" nodeType="withEffect">
                                  <p:stCondLst>
                                    <p:cond delay="1285"/>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nodeType="withEffect">
                                  <p:stCondLst>
                                    <p:cond delay="1542"/>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How it works together</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Whole signalling system" descr="A signal box controls three signals through rods that run beside the track, each ending at a counterweight that returns the arm to STOP. A train is in block 2, so signal 1 is held at STOP behind it while signals 2 and 3 show CLEAR. A dotted line marks the box territory. A second box further along is linked by bell codes."/>
          <p:cNvGrpSpPr/>
          <p:nvPr/>
        </p:nvGrpSpPr>
        <p:grpSpPr>
          <a:xfrm>
            <a:off x="566928" y="1143000"/>
            <a:ext cx="11064240" cy="3813048"/>
            <a:chOff x="566928" y="1143000"/>
            <a:chExt cx="11064240" cy="3813048"/>
          </a:xfrm>
        </p:grpSpPr>
        <p:sp>
          <p:nvSpPr>
            <p:cNvPr id="9" name="Rounded Rectangle 8"/>
            <p:cNvSpPr/>
            <p:nvPr/>
          </p:nvSpPr>
          <p:spPr>
            <a:xfrm>
              <a:off x="566928" y="1572768"/>
              <a:ext cx="10058400" cy="3383280"/>
            </a:xfrm>
            <a:prstGeom prst="roundRect">
              <a:avLst>
                <a:gd name="adj" fmla="val 4054"/>
              </a:avLst>
            </a:prstGeom>
            <a:noFill/>
            <a:ln w="19050">
              <a:solidFill>
                <a:srgbClr val="F28C28"/>
              </a:solidFill>
              <a:prstDash val="sysDash"/>
            </a:ln>
          </p:spPr>
          <p:txBody>
            <a:bodyPr rtlCol="0" anchor="ctr"/>
            <a:lstStyle/>
            <a:p>
              <a:pPr algn="ctr"/>
              <a:endParaRPr/>
            </a:p>
          </p:txBody>
        </p:sp>
        <p:sp>
          <p:nvSpPr>
            <p:cNvPr id="10" name="TextBox 9"/>
            <p:cNvSpPr txBox="1"/>
            <p:nvPr/>
          </p:nvSpPr>
          <p:spPr>
            <a:xfrm>
              <a:off x="7589520" y="1645920"/>
              <a:ext cx="2926080" cy="329184"/>
            </a:xfrm>
            <a:prstGeom prst="rect">
              <a:avLst/>
            </a:prstGeom>
            <a:noFill/>
          </p:spPr>
          <p:txBody>
            <a:bodyPr wrap="square" lIns="0" tIns="0" rIns="0" bIns="0" anchor="t">
              <a:noAutofit/>
            </a:bodyPr>
            <a:lstStyle/>
            <a:p>
              <a:pPr algn="r"/>
              <a:r>
                <a:rPr lang="en-GB" sz="1600" b="1" i="0">
                  <a:solidFill>
                    <a:srgbClr val="F28C28"/>
                  </a:solidFill>
                  <a:latin typeface="Arial"/>
                </a:rPr>
                <a:t>Box territory: limited</a:t>
              </a:r>
            </a:p>
          </p:txBody>
        </p:sp>
        <p:sp>
          <p:nvSpPr>
            <p:cNvPr id="11" name="Freeform 10"/>
            <p:cNvSpPr/>
            <p:nvPr/>
          </p:nvSpPr>
          <p:spPr>
            <a:xfrm>
              <a:off x="1920240" y="1444752"/>
              <a:ext cx="9253728" cy="457200"/>
            </a:xfrm>
            <a:custGeom>
              <a:avLst/>
              <a:gdLst/>
              <a:ahLst/>
              <a:cxnLst/>
              <a:rect l="l" t="t" r="r" b="b"/>
              <a:pathLst>
                <a:path w="9253728" h="457200">
                  <a:moveTo>
                    <a:pt x="0" y="219456"/>
                  </a:moveTo>
                  <a:lnTo>
                    <a:pt x="0" y="0"/>
                  </a:lnTo>
                  <a:lnTo>
                    <a:pt x="9253728" y="0"/>
                  </a:lnTo>
                  <a:lnTo>
                    <a:pt x="9253728" y="457200"/>
                  </a:lnTo>
                </a:path>
              </a:pathLst>
            </a:custGeom>
            <a:noFill/>
            <a:ln w="25400">
              <a:solidFill>
                <a:srgbClr val="9AA0A6"/>
              </a:solidFill>
              <a:prstDash val="dash"/>
              <a:headEnd type="triangle" w="lg" len="lg"/>
              <a:tailEnd type="triangle" w="lg" len="lg"/>
            </a:ln>
          </p:spPr>
          <p:txBody>
            <a:bodyPr rtlCol="0" anchor="ctr"/>
            <a:lstStyle/>
            <a:p>
              <a:pPr algn="ctr"/>
              <a:endParaRPr/>
            </a:p>
          </p:txBody>
        </p:sp>
        <p:sp>
          <p:nvSpPr>
            <p:cNvPr id="12" name="TextBox 11"/>
            <p:cNvSpPr txBox="1"/>
            <p:nvPr/>
          </p:nvSpPr>
          <p:spPr>
            <a:xfrm>
              <a:off x="5486400" y="1143000"/>
              <a:ext cx="3291840" cy="274320"/>
            </a:xfrm>
            <a:prstGeom prst="rect">
              <a:avLst/>
            </a:prstGeom>
            <a:noFill/>
          </p:spPr>
          <p:txBody>
            <a:bodyPr wrap="square" lIns="0" tIns="0" rIns="0" bIns="0" anchor="ctr">
              <a:noAutofit/>
            </a:bodyPr>
            <a:lstStyle/>
            <a:p>
              <a:pPr algn="ctr"/>
              <a:r>
                <a:rPr lang="en-GB" sz="1600" b="0" i="0">
                  <a:solidFill>
                    <a:srgbClr val="F2F2F2"/>
                  </a:solidFill>
                  <a:latin typeface="Arial"/>
                </a:rPr>
                <a:t>Bell codes</a:t>
              </a:r>
            </a:p>
          </p:txBody>
        </p:sp>
        <p:sp>
          <p:nvSpPr>
            <p:cNvPr id="13" name="Freeform 12"/>
            <p:cNvSpPr/>
            <p:nvPr/>
          </p:nvSpPr>
          <p:spPr>
            <a:xfrm>
              <a:off x="685800" y="1659636"/>
              <a:ext cx="2468880" cy="397764"/>
            </a:xfrm>
            <a:custGeom>
              <a:avLst/>
              <a:gdLst/>
              <a:ahLst/>
              <a:cxnLst/>
              <a:rect l="l" t="t" r="r" b="b"/>
              <a:pathLst>
                <a:path w="2468880" h="397764">
                  <a:moveTo>
                    <a:pt x="0" y="397764"/>
                  </a:moveTo>
                  <a:lnTo>
                    <a:pt x="1234440" y="0"/>
                  </a:lnTo>
                  <a:lnTo>
                    <a:pt x="2468880" y="397764"/>
                  </a:lnTo>
                  <a:close/>
                </a:path>
              </a:pathLst>
            </a:custGeom>
            <a:solidFill>
              <a:srgbClr val="4A515B"/>
            </a:solidFill>
            <a:ln w="19050">
              <a:solidFill>
                <a:srgbClr val="F28C28"/>
              </a:solidFill>
            </a:ln>
          </p:spPr>
          <p:txBody>
            <a:bodyPr rtlCol="0" anchor="ctr"/>
            <a:lstStyle/>
            <a:p>
              <a:pPr algn="ctr"/>
              <a:endParaRPr/>
            </a:p>
          </p:txBody>
        </p:sp>
        <p:sp>
          <p:nvSpPr>
            <p:cNvPr id="14" name="Rectangle 13"/>
            <p:cNvSpPr/>
            <p:nvPr/>
          </p:nvSpPr>
          <p:spPr>
            <a:xfrm>
              <a:off x="777240" y="2057400"/>
              <a:ext cx="2286000" cy="1325880"/>
            </a:xfrm>
            <a:prstGeom prst="rect">
              <a:avLst/>
            </a:prstGeom>
            <a:solidFill>
              <a:srgbClr val="2B2F36"/>
            </a:solidFill>
            <a:ln w="19050">
              <a:solidFill>
                <a:srgbClr val="F28C28"/>
              </a:solidFill>
            </a:ln>
          </p:spPr>
          <p:txBody>
            <a:bodyPr rtlCol="0" anchor="ctr"/>
            <a:lstStyle/>
            <a:p>
              <a:pPr algn="ctr"/>
              <a:endParaRPr/>
            </a:p>
          </p:txBody>
        </p:sp>
        <p:sp>
          <p:nvSpPr>
            <p:cNvPr id="15" name="Rectangle 14"/>
            <p:cNvSpPr/>
            <p:nvPr/>
          </p:nvSpPr>
          <p:spPr>
            <a:xfrm>
              <a:off x="868680" y="2167128"/>
              <a:ext cx="2103120" cy="371246"/>
            </a:xfrm>
            <a:prstGeom prst="rect">
              <a:avLst/>
            </a:prstGeom>
            <a:solidFill>
              <a:srgbClr val="37587C"/>
            </a:solidFill>
            <a:ln w="9525">
              <a:solidFill>
                <a:srgbClr val="9AA0A6"/>
              </a:solidFill>
            </a:ln>
          </p:spPr>
          <p:txBody>
            <a:bodyPr rtlCol="0" anchor="ctr"/>
            <a:lstStyle/>
            <a:p>
              <a:pPr algn="ctr"/>
              <a:endParaRPr/>
            </a:p>
          </p:txBody>
        </p:sp>
        <p:grpSp>
          <p:nvGrpSpPr>
            <p:cNvPr id="16" name="Person" descr="A signaller."/>
            <p:cNvGrpSpPr/>
            <p:nvPr/>
          </p:nvGrpSpPr>
          <p:grpSpPr>
            <a:xfrm>
              <a:off x="956462" y="2522372"/>
              <a:ext cx="373075" cy="769468"/>
              <a:chOff x="956462" y="2522372"/>
              <a:chExt cx="373075" cy="769468"/>
            </a:xfrm>
          </p:grpSpPr>
          <p:sp>
            <p:nvSpPr>
              <p:cNvPr id="17" name="Oval 16"/>
              <p:cNvSpPr/>
              <p:nvPr/>
            </p:nvSpPr>
            <p:spPr>
              <a:xfrm>
                <a:off x="1026414" y="2522372"/>
                <a:ext cx="233172" cy="233172"/>
              </a:xfrm>
              <a:prstGeom prst="ellipse">
                <a:avLst/>
              </a:prstGeom>
              <a:solidFill>
                <a:srgbClr val="E8E8E8"/>
              </a:solidFill>
              <a:ln>
                <a:noFill/>
              </a:ln>
            </p:spPr>
            <p:txBody>
              <a:bodyPr rtlCol="0" anchor="ctr"/>
              <a:lstStyle/>
              <a:p>
                <a:pPr algn="ctr"/>
                <a:endParaRPr/>
              </a:p>
            </p:txBody>
          </p:sp>
          <p:sp>
            <p:nvSpPr>
              <p:cNvPr id="18" name="Rounded Rectangle 17"/>
              <p:cNvSpPr/>
              <p:nvPr/>
            </p:nvSpPr>
            <p:spPr>
              <a:xfrm>
                <a:off x="956462" y="2794406"/>
                <a:ext cx="373075" cy="497434"/>
              </a:xfrm>
              <a:prstGeom prst="roundRect">
                <a:avLst>
                  <a:gd name="adj" fmla="val 41666"/>
                </a:avLst>
              </a:prstGeom>
              <a:solidFill>
                <a:srgbClr val="E8E8E8"/>
              </a:solidFill>
              <a:ln>
                <a:noFill/>
              </a:ln>
            </p:spPr>
            <p:txBody>
              <a:bodyPr rtlCol="0" anchor="ctr"/>
              <a:lstStyle/>
              <a:p>
                <a:pPr algn="ctr"/>
                <a:endParaRPr/>
              </a:p>
            </p:txBody>
          </p:sp>
        </p:grpSp>
        <p:sp>
          <p:nvSpPr>
            <p:cNvPr id="19" name="Rounded Rectangle 18"/>
            <p:cNvSpPr/>
            <p:nvPr/>
          </p:nvSpPr>
          <p:spPr>
            <a:xfrm>
              <a:off x="1828800" y="2542032"/>
              <a:ext cx="109728" cy="640080"/>
            </a:xfrm>
            <a:prstGeom prst="roundRect">
              <a:avLst>
                <a:gd name="adj" fmla="val 25000"/>
              </a:avLst>
            </a:prstGeom>
            <a:solidFill>
              <a:srgbClr val="E5484D"/>
            </a:solidFill>
            <a:ln w="9525">
              <a:solidFill>
                <a:srgbClr val="101418"/>
              </a:solidFill>
            </a:ln>
          </p:spPr>
          <p:txBody>
            <a:bodyPr rtlCol="0" anchor="ctr"/>
            <a:lstStyle/>
            <a:p>
              <a:pPr algn="ctr"/>
              <a:endParaRPr/>
            </a:p>
          </p:txBody>
        </p:sp>
        <p:sp>
          <p:nvSpPr>
            <p:cNvPr id="20" name="Oval 19"/>
            <p:cNvSpPr/>
            <p:nvPr/>
          </p:nvSpPr>
          <p:spPr>
            <a:xfrm>
              <a:off x="1784909" y="3083357"/>
              <a:ext cx="197510" cy="197510"/>
            </a:xfrm>
            <a:prstGeom prst="ellipse">
              <a:avLst/>
            </a:prstGeom>
            <a:solidFill>
              <a:srgbClr val="9AA0A6"/>
            </a:solidFill>
            <a:ln>
              <a:noFill/>
            </a:ln>
          </p:spPr>
          <p:txBody>
            <a:bodyPr rtlCol="0" anchor="ctr"/>
            <a:lstStyle/>
            <a:p>
              <a:pPr algn="ctr"/>
              <a:endParaRPr/>
            </a:p>
          </p:txBody>
        </p:sp>
        <p:sp>
          <p:nvSpPr>
            <p:cNvPr id="21" name="Rounded Rectangle 20"/>
            <p:cNvSpPr/>
            <p:nvPr/>
          </p:nvSpPr>
          <p:spPr>
            <a:xfrm>
              <a:off x="1810512" y="2487168"/>
              <a:ext cx="146304" cy="109728"/>
            </a:xfrm>
            <a:prstGeom prst="roundRect">
              <a:avLst>
                <a:gd name="adj" fmla="val 25000"/>
              </a:avLst>
            </a:prstGeom>
            <a:solidFill>
              <a:srgbClr val="9AA0A6"/>
            </a:solidFill>
            <a:ln>
              <a:noFill/>
            </a:ln>
          </p:spPr>
          <p:txBody>
            <a:bodyPr rtlCol="0" anchor="ctr"/>
            <a:lstStyle/>
            <a:p>
              <a:pPr algn="ctr"/>
              <a:endParaRPr/>
            </a:p>
          </p:txBody>
        </p:sp>
        <p:sp>
          <p:nvSpPr>
            <p:cNvPr id="22" name="Rounded Rectangle 21"/>
            <p:cNvSpPr/>
            <p:nvPr/>
          </p:nvSpPr>
          <p:spPr>
            <a:xfrm>
              <a:off x="2139696" y="2542032"/>
              <a:ext cx="109728" cy="640080"/>
            </a:xfrm>
            <a:prstGeom prst="roundRect">
              <a:avLst>
                <a:gd name="adj" fmla="val 25000"/>
              </a:avLst>
            </a:prstGeom>
            <a:solidFill>
              <a:srgbClr val="E5484D"/>
            </a:solidFill>
            <a:ln w="9525">
              <a:solidFill>
                <a:srgbClr val="101418"/>
              </a:solidFill>
            </a:ln>
          </p:spPr>
          <p:txBody>
            <a:bodyPr rtlCol="0" anchor="ctr"/>
            <a:lstStyle/>
            <a:p>
              <a:pPr algn="ctr"/>
              <a:endParaRPr/>
            </a:p>
          </p:txBody>
        </p:sp>
        <p:sp>
          <p:nvSpPr>
            <p:cNvPr id="23" name="Oval 22"/>
            <p:cNvSpPr/>
            <p:nvPr/>
          </p:nvSpPr>
          <p:spPr>
            <a:xfrm>
              <a:off x="2095805" y="3083357"/>
              <a:ext cx="197510" cy="197510"/>
            </a:xfrm>
            <a:prstGeom prst="ellipse">
              <a:avLst/>
            </a:prstGeom>
            <a:solidFill>
              <a:srgbClr val="9AA0A6"/>
            </a:solidFill>
            <a:ln>
              <a:noFill/>
            </a:ln>
          </p:spPr>
          <p:txBody>
            <a:bodyPr rtlCol="0" anchor="ctr"/>
            <a:lstStyle/>
            <a:p>
              <a:pPr algn="ctr"/>
              <a:endParaRPr/>
            </a:p>
          </p:txBody>
        </p:sp>
        <p:sp>
          <p:nvSpPr>
            <p:cNvPr id="24" name="Rounded Rectangle 23"/>
            <p:cNvSpPr/>
            <p:nvPr/>
          </p:nvSpPr>
          <p:spPr>
            <a:xfrm>
              <a:off x="2121408" y="2487168"/>
              <a:ext cx="146304" cy="109728"/>
            </a:xfrm>
            <a:prstGeom prst="roundRect">
              <a:avLst>
                <a:gd name="adj" fmla="val 25000"/>
              </a:avLst>
            </a:prstGeom>
            <a:solidFill>
              <a:srgbClr val="9AA0A6"/>
            </a:solidFill>
            <a:ln>
              <a:noFill/>
            </a:ln>
          </p:spPr>
          <p:txBody>
            <a:bodyPr rtlCol="0" anchor="ctr"/>
            <a:lstStyle/>
            <a:p>
              <a:pPr algn="ctr"/>
              <a:endParaRPr/>
            </a:p>
          </p:txBody>
        </p:sp>
        <p:sp>
          <p:nvSpPr>
            <p:cNvPr id="25" name="Rounded Rectangle 24"/>
            <p:cNvSpPr/>
            <p:nvPr/>
          </p:nvSpPr>
          <p:spPr>
            <a:xfrm>
              <a:off x="2450592" y="2542032"/>
              <a:ext cx="109728" cy="640080"/>
            </a:xfrm>
            <a:prstGeom prst="roundRect">
              <a:avLst>
                <a:gd name="adj" fmla="val 25000"/>
              </a:avLst>
            </a:prstGeom>
            <a:solidFill>
              <a:srgbClr val="F2C14E"/>
            </a:solidFill>
            <a:ln w="9525">
              <a:solidFill>
                <a:srgbClr val="101418"/>
              </a:solidFill>
            </a:ln>
          </p:spPr>
          <p:txBody>
            <a:bodyPr rtlCol="0" anchor="ctr"/>
            <a:lstStyle/>
            <a:p>
              <a:pPr algn="ctr"/>
              <a:endParaRPr/>
            </a:p>
          </p:txBody>
        </p:sp>
        <p:sp>
          <p:nvSpPr>
            <p:cNvPr id="26" name="Oval 25"/>
            <p:cNvSpPr/>
            <p:nvPr/>
          </p:nvSpPr>
          <p:spPr>
            <a:xfrm>
              <a:off x="2406701" y="3083357"/>
              <a:ext cx="197510" cy="197510"/>
            </a:xfrm>
            <a:prstGeom prst="ellipse">
              <a:avLst/>
            </a:prstGeom>
            <a:solidFill>
              <a:srgbClr val="9AA0A6"/>
            </a:solidFill>
            <a:ln>
              <a:noFill/>
            </a:ln>
          </p:spPr>
          <p:txBody>
            <a:bodyPr rtlCol="0" anchor="ctr"/>
            <a:lstStyle/>
            <a:p>
              <a:pPr algn="ctr"/>
              <a:endParaRPr/>
            </a:p>
          </p:txBody>
        </p:sp>
        <p:sp>
          <p:nvSpPr>
            <p:cNvPr id="27" name="Rounded Rectangle 26"/>
            <p:cNvSpPr/>
            <p:nvPr/>
          </p:nvSpPr>
          <p:spPr>
            <a:xfrm>
              <a:off x="2432304" y="2487168"/>
              <a:ext cx="146304" cy="109728"/>
            </a:xfrm>
            <a:prstGeom prst="roundRect">
              <a:avLst>
                <a:gd name="adj" fmla="val 25000"/>
              </a:avLst>
            </a:prstGeom>
            <a:solidFill>
              <a:srgbClr val="9AA0A6"/>
            </a:solidFill>
            <a:ln>
              <a:noFill/>
            </a:ln>
          </p:spPr>
          <p:txBody>
            <a:bodyPr rtlCol="0" anchor="ctr"/>
            <a:lstStyle/>
            <a:p>
              <a:pPr algn="ctr"/>
              <a:endParaRPr/>
            </a:p>
          </p:txBody>
        </p:sp>
        <p:sp>
          <p:nvSpPr>
            <p:cNvPr id="28" name="Freeform 27"/>
            <p:cNvSpPr/>
            <p:nvPr/>
          </p:nvSpPr>
          <p:spPr>
            <a:xfrm>
              <a:off x="10716768" y="1911096"/>
              <a:ext cx="914400" cy="192024"/>
            </a:xfrm>
            <a:custGeom>
              <a:avLst/>
              <a:gdLst/>
              <a:ahLst/>
              <a:cxnLst/>
              <a:rect l="l" t="t" r="r" b="b"/>
              <a:pathLst>
                <a:path w="914400" h="192024">
                  <a:moveTo>
                    <a:pt x="0" y="192024"/>
                  </a:moveTo>
                  <a:lnTo>
                    <a:pt x="457200" y="0"/>
                  </a:lnTo>
                  <a:lnTo>
                    <a:pt x="914400" y="192024"/>
                  </a:lnTo>
                  <a:close/>
                </a:path>
              </a:pathLst>
            </a:custGeom>
            <a:solidFill>
              <a:srgbClr val="4A515B"/>
            </a:solidFill>
            <a:ln w="19050">
              <a:solidFill>
                <a:srgbClr val="9AA0A6"/>
              </a:solidFill>
            </a:ln>
          </p:spPr>
          <p:txBody>
            <a:bodyPr rtlCol="0" anchor="ctr"/>
            <a:lstStyle/>
            <a:p>
              <a:pPr algn="ctr"/>
              <a:endParaRPr/>
            </a:p>
          </p:txBody>
        </p:sp>
        <p:sp>
          <p:nvSpPr>
            <p:cNvPr id="29" name="Rectangle 28"/>
            <p:cNvSpPr/>
            <p:nvPr/>
          </p:nvSpPr>
          <p:spPr>
            <a:xfrm>
              <a:off x="10808208" y="2103120"/>
              <a:ext cx="731520" cy="640080"/>
            </a:xfrm>
            <a:prstGeom prst="rect">
              <a:avLst/>
            </a:prstGeom>
            <a:solidFill>
              <a:srgbClr val="2B2F36"/>
            </a:solidFill>
            <a:ln w="19050">
              <a:solidFill>
                <a:srgbClr val="9AA0A6"/>
              </a:solidFill>
            </a:ln>
          </p:spPr>
          <p:txBody>
            <a:bodyPr rtlCol="0" anchor="ctr"/>
            <a:lstStyle/>
            <a:p>
              <a:pPr algn="ctr"/>
              <a:endParaRPr/>
            </a:p>
          </p:txBody>
        </p:sp>
        <p:sp>
          <p:nvSpPr>
            <p:cNvPr id="30" name="Rectangle 29"/>
            <p:cNvSpPr/>
            <p:nvPr/>
          </p:nvSpPr>
          <p:spPr>
            <a:xfrm>
              <a:off x="10899648" y="2212848"/>
              <a:ext cx="548640" cy="179222"/>
            </a:xfrm>
            <a:prstGeom prst="rect">
              <a:avLst/>
            </a:prstGeom>
            <a:solidFill>
              <a:srgbClr val="37587C"/>
            </a:solidFill>
            <a:ln w="9525">
              <a:solidFill>
                <a:srgbClr val="9AA0A6"/>
              </a:solidFill>
            </a:ln>
          </p:spPr>
          <p:txBody>
            <a:bodyPr rtlCol="0" anchor="ctr"/>
            <a:lstStyle/>
            <a:p>
              <a:pPr algn="ctr"/>
              <a:endParaRPr/>
            </a:p>
          </p:txBody>
        </p:sp>
        <p:sp>
          <p:nvSpPr>
            <p:cNvPr id="31" name="Rectangle 30"/>
            <p:cNvSpPr/>
            <p:nvPr/>
          </p:nvSpPr>
          <p:spPr>
            <a:xfrm>
              <a:off x="932688" y="383133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1252728" y="383133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1572768" y="383133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1892808" y="383133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2212848" y="383133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2532888" y="383133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2852928" y="383133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3172968" y="383133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3493008" y="3831336"/>
              <a:ext cx="54864" cy="365760"/>
            </a:xfrm>
            <a:prstGeom prst="rect">
              <a:avLst/>
            </a:prstGeom>
            <a:solidFill>
              <a:srgbClr val="6B5B4B"/>
            </a:solidFill>
            <a:ln>
              <a:noFill/>
            </a:ln>
          </p:spPr>
          <p:txBody>
            <a:bodyPr rtlCol="0" anchor="ctr"/>
            <a:lstStyle/>
            <a:p>
              <a:pPr algn="ctr"/>
              <a:endParaRPr/>
            </a:p>
          </p:txBody>
        </p:sp>
        <p:sp>
          <p:nvSpPr>
            <p:cNvPr id="40" name="Rectangle 39"/>
            <p:cNvSpPr/>
            <p:nvPr/>
          </p:nvSpPr>
          <p:spPr>
            <a:xfrm>
              <a:off x="3813048" y="3831336"/>
              <a:ext cx="54864" cy="365760"/>
            </a:xfrm>
            <a:prstGeom prst="rect">
              <a:avLst/>
            </a:prstGeom>
            <a:solidFill>
              <a:srgbClr val="6B5B4B"/>
            </a:solidFill>
            <a:ln>
              <a:noFill/>
            </a:ln>
          </p:spPr>
          <p:txBody>
            <a:bodyPr rtlCol="0" anchor="ctr"/>
            <a:lstStyle/>
            <a:p>
              <a:pPr algn="ctr"/>
              <a:endParaRPr/>
            </a:p>
          </p:txBody>
        </p:sp>
        <p:sp>
          <p:nvSpPr>
            <p:cNvPr id="41" name="Rectangle 40"/>
            <p:cNvSpPr/>
            <p:nvPr/>
          </p:nvSpPr>
          <p:spPr>
            <a:xfrm>
              <a:off x="4133088" y="3831336"/>
              <a:ext cx="54864" cy="365760"/>
            </a:xfrm>
            <a:prstGeom prst="rect">
              <a:avLst/>
            </a:prstGeom>
            <a:solidFill>
              <a:srgbClr val="6B5B4B"/>
            </a:solidFill>
            <a:ln>
              <a:noFill/>
            </a:ln>
          </p:spPr>
          <p:txBody>
            <a:bodyPr rtlCol="0" anchor="ctr"/>
            <a:lstStyle/>
            <a:p>
              <a:pPr algn="ctr"/>
              <a:endParaRPr/>
            </a:p>
          </p:txBody>
        </p:sp>
        <p:sp>
          <p:nvSpPr>
            <p:cNvPr id="42" name="Rectangle 41"/>
            <p:cNvSpPr/>
            <p:nvPr/>
          </p:nvSpPr>
          <p:spPr>
            <a:xfrm>
              <a:off x="4453128" y="3831336"/>
              <a:ext cx="54864" cy="365760"/>
            </a:xfrm>
            <a:prstGeom prst="rect">
              <a:avLst/>
            </a:prstGeom>
            <a:solidFill>
              <a:srgbClr val="6B5B4B"/>
            </a:solidFill>
            <a:ln>
              <a:noFill/>
            </a:ln>
          </p:spPr>
          <p:txBody>
            <a:bodyPr rtlCol="0" anchor="ctr"/>
            <a:lstStyle/>
            <a:p>
              <a:pPr algn="ctr"/>
              <a:endParaRPr/>
            </a:p>
          </p:txBody>
        </p:sp>
        <p:sp>
          <p:nvSpPr>
            <p:cNvPr id="43" name="Rectangle 42"/>
            <p:cNvSpPr/>
            <p:nvPr/>
          </p:nvSpPr>
          <p:spPr>
            <a:xfrm>
              <a:off x="4773168" y="3831336"/>
              <a:ext cx="54864" cy="365760"/>
            </a:xfrm>
            <a:prstGeom prst="rect">
              <a:avLst/>
            </a:prstGeom>
            <a:solidFill>
              <a:srgbClr val="6B5B4B"/>
            </a:solidFill>
            <a:ln>
              <a:noFill/>
            </a:ln>
          </p:spPr>
          <p:txBody>
            <a:bodyPr rtlCol="0" anchor="ctr"/>
            <a:lstStyle/>
            <a:p>
              <a:pPr algn="ctr"/>
              <a:endParaRPr/>
            </a:p>
          </p:txBody>
        </p:sp>
        <p:sp>
          <p:nvSpPr>
            <p:cNvPr id="44" name="Rectangle 43"/>
            <p:cNvSpPr/>
            <p:nvPr/>
          </p:nvSpPr>
          <p:spPr>
            <a:xfrm>
              <a:off x="5093208" y="3831336"/>
              <a:ext cx="54864" cy="365760"/>
            </a:xfrm>
            <a:prstGeom prst="rect">
              <a:avLst/>
            </a:prstGeom>
            <a:solidFill>
              <a:srgbClr val="6B5B4B"/>
            </a:solidFill>
            <a:ln>
              <a:noFill/>
            </a:ln>
          </p:spPr>
          <p:txBody>
            <a:bodyPr rtlCol="0" anchor="ctr"/>
            <a:lstStyle/>
            <a:p>
              <a:pPr algn="ctr"/>
              <a:endParaRPr/>
            </a:p>
          </p:txBody>
        </p:sp>
        <p:sp>
          <p:nvSpPr>
            <p:cNvPr id="45" name="Rectangle 44"/>
            <p:cNvSpPr/>
            <p:nvPr/>
          </p:nvSpPr>
          <p:spPr>
            <a:xfrm>
              <a:off x="5413248" y="3831336"/>
              <a:ext cx="54864" cy="365760"/>
            </a:xfrm>
            <a:prstGeom prst="rect">
              <a:avLst/>
            </a:prstGeom>
            <a:solidFill>
              <a:srgbClr val="6B5B4B"/>
            </a:solidFill>
            <a:ln>
              <a:noFill/>
            </a:ln>
          </p:spPr>
          <p:txBody>
            <a:bodyPr rtlCol="0" anchor="ctr"/>
            <a:lstStyle/>
            <a:p>
              <a:pPr algn="ctr"/>
              <a:endParaRPr/>
            </a:p>
          </p:txBody>
        </p:sp>
        <p:sp>
          <p:nvSpPr>
            <p:cNvPr id="46" name="Rectangle 45"/>
            <p:cNvSpPr/>
            <p:nvPr/>
          </p:nvSpPr>
          <p:spPr>
            <a:xfrm>
              <a:off x="5733288" y="3831336"/>
              <a:ext cx="54864" cy="365760"/>
            </a:xfrm>
            <a:prstGeom prst="rect">
              <a:avLst/>
            </a:prstGeom>
            <a:solidFill>
              <a:srgbClr val="6B5B4B"/>
            </a:solidFill>
            <a:ln>
              <a:noFill/>
            </a:ln>
          </p:spPr>
          <p:txBody>
            <a:bodyPr rtlCol="0" anchor="ctr"/>
            <a:lstStyle/>
            <a:p>
              <a:pPr algn="ctr"/>
              <a:endParaRPr/>
            </a:p>
          </p:txBody>
        </p:sp>
        <p:sp>
          <p:nvSpPr>
            <p:cNvPr id="47" name="Rectangle 46"/>
            <p:cNvSpPr/>
            <p:nvPr/>
          </p:nvSpPr>
          <p:spPr>
            <a:xfrm>
              <a:off x="6053328" y="3831336"/>
              <a:ext cx="54864" cy="365760"/>
            </a:xfrm>
            <a:prstGeom prst="rect">
              <a:avLst/>
            </a:prstGeom>
            <a:solidFill>
              <a:srgbClr val="6B5B4B"/>
            </a:solidFill>
            <a:ln>
              <a:noFill/>
            </a:ln>
          </p:spPr>
          <p:txBody>
            <a:bodyPr rtlCol="0" anchor="ctr"/>
            <a:lstStyle/>
            <a:p>
              <a:pPr algn="ctr"/>
              <a:endParaRPr/>
            </a:p>
          </p:txBody>
        </p:sp>
        <p:sp>
          <p:nvSpPr>
            <p:cNvPr id="48" name="Rectangle 47"/>
            <p:cNvSpPr/>
            <p:nvPr/>
          </p:nvSpPr>
          <p:spPr>
            <a:xfrm>
              <a:off x="6373368" y="3831336"/>
              <a:ext cx="54864" cy="365760"/>
            </a:xfrm>
            <a:prstGeom prst="rect">
              <a:avLst/>
            </a:prstGeom>
            <a:solidFill>
              <a:srgbClr val="6B5B4B"/>
            </a:solidFill>
            <a:ln>
              <a:noFill/>
            </a:ln>
          </p:spPr>
          <p:txBody>
            <a:bodyPr rtlCol="0" anchor="ctr"/>
            <a:lstStyle/>
            <a:p>
              <a:pPr algn="ctr"/>
              <a:endParaRPr/>
            </a:p>
          </p:txBody>
        </p:sp>
        <p:sp>
          <p:nvSpPr>
            <p:cNvPr id="49" name="Rectangle 48"/>
            <p:cNvSpPr/>
            <p:nvPr/>
          </p:nvSpPr>
          <p:spPr>
            <a:xfrm>
              <a:off x="6693408" y="3831336"/>
              <a:ext cx="54864" cy="365760"/>
            </a:xfrm>
            <a:prstGeom prst="rect">
              <a:avLst/>
            </a:prstGeom>
            <a:solidFill>
              <a:srgbClr val="6B5B4B"/>
            </a:solidFill>
            <a:ln>
              <a:noFill/>
            </a:ln>
          </p:spPr>
          <p:txBody>
            <a:bodyPr rtlCol="0" anchor="ctr"/>
            <a:lstStyle/>
            <a:p>
              <a:pPr algn="ctr"/>
              <a:endParaRPr/>
            </a:p>
          </p:txBody>
        </p:sp>
        <p:sp>
          <p:nvSpPr>
            <p:cNvPr id="50" name="Rectangle 49"/>
            <p:cNvSpPr/>
            <p:nvPr/>
          </p:nvSpPr>
          <p:spPr>
            <a:xfrm>
              <a:off x="7013448" y="3831336"/>
              <a:ext cx="54864" cy="365760"/>
            </a:xfrm>
            <a:prstGeom prst="rect">
              <a:avLst/>
            </a:prstGeom>
            <a:solidFill>
              <a:srgbClr val="6B5B4B"/>
            </a:solidFill>
            <a:ln>
              <a:noFill/>
            </a:ln>
          </p:spPr>
          <p:txBody>
            <a:bodyPr rtlCol="0" anchor="ctr"/>
            <a:lstStyle/>
            <a:p>
              <a:pPr algn="ctr"/>
              <a:endParaRPr/>
            </a:p>
          </p:txBody>
        </p:sp>
        <p:sp>
          <p:nvSpPr>
            <p:cNvPr id="51" name="Rectangle 50"/>
            <p:cNvSpPr/>
            <p:nvPr/>
          </p:nvSpPr>
          <p:spPr>
            <a:xfrm>
              <a:off x="7333488" y="3831336"/>
              <a:ext cx="54864" cy="365760"/>
            </a:xfrm>
            <a:prstGeom prst="rect">
              <a:avLst/>
            </a:prstGeom>
            <a:solidFill>
              <a:srgbClr val="6B5B4B"/>
            </a:solidFill>
            <a:ln>
              <a:noFill/>
            </a:ln>
          </p:spPr>
          <p:txBody>
            <a:bodyPr rtlCol="0" anchor="ctr"/>
            <a:lstStyle/>
            <a:p>
              <a:pPr algn="ctr"/>
              <a:endParaRPr/>
            </a:p>
          </p:txBody>
        </p:sp>
        <p:sp>
          <p:nvSpPr>
            <p:cNvPr id="52" name="Rectangle 51"/>
            <p:cNvSpPr/>
            <p:nvPr/>
          </p:nvSpPr>
          <p:spPr>
            <a:xfrm>
              <a:off x="7653528" y="3831336"/>
              <a:ext cx="54864" cy="365760"/>
            </a:xfrm>
            <a:prstGeom prst="rect">
              <a:avLst/>
            </a:prstGeom>
            <a:solidFill>
              <a:srgbClr val="6B5B4B"/>
            </a:solidFill>
            <a:ln>
              <a:noFill/>
            </a:ln>
          </p:spPr>
          <p:txBody>
            <a:bodyPr rtlCol="0" anchor="ctr"/>
            <a:lstStyle/>
            <a:p>
              <a:pPr algn="ctr"/>
              <a:endParaRPr/>
            </a:p>
          </p:txBody>
        </p:sp>
        <p:sp>
          <p:nvSpPr>
            <p:cNvPr id="53" name="Rectangle 52"/>
            <p:cNvSpPr/>
            <p:nvPr/>
          </p:nvSpPr>
          <p:spPr>
            <a:xfrm>
              <a:off x="7973568" y="3831336"/>
              <a:ext cx="54864" cy="365760"/>
            </a:xfrm>
            <a:prstGeom prst="rect">
              <a:avLst/>
            </a:prstGeom>
            <a:solidFill>
              <a:srgbClr val="6B5B4B"/>
            </a:solidFill>
            <a:ln>
              <a:noFill/>
            </a:ln>
          </p:spPr>
          <p:txBody>
            <a:bodyPr rtlCol="0" anchor="ctr"/>
            <a:lstStyle/>
            <a:p>
              <a:pPr algn="ctr"/>
              <a:endParaRPr/>
            </a:p>
          </p:txBody>
        </p:sp>
        <p:sp>
          <p:nvSpPr>
            <p:cNvPr id="54" name="Rectangle 53"/>
            <p:cNvSpPr/>
            <p:nvPr/>
          </p:nvSpPr>
          <p:spPr>
            <a:xfrm>
              <a:off x="8293608" y="3831336"/>
              <a:ext cx="54864" cy="365760"/>
            </a:xfrm>
            <a:prstGeom prst="rect">
              <a:avLst/>
            </a:prstGeom>
            <a:solidFill>
              <a:srgbClr val="6B5B4B"/>
            </a:solidFill>
            <a:ln>
              <a:noFill/>
            </a:ln>
          </p:spPr>
          <p:txBody>
            <a:bodyPr rtlCol="0" anchor="ctr"/>
            <a:lstStyle/>
            <a:p>
              <a:pPr algn="ctr"/>
              <a:endParaRPr/>
            </a:p>
          </p:txBody>
        </p:sp>
        <p:sp>
          <p:nvSpPr>
            <p:cNvPr id="55" name="Rectangle 54"/>
            <p:cNvSpPr/>
            <p:nvPr/>
          </p:nvSpPr>
          <p:spPr>
            <a:xfrm>
              <a:off x="8613648" y="3831336"/>
              <a:ext cx="54864" cy="365760"/>
            </a:xfrm>
            <a:prstGeom prst="rect">
              <a:avLst/>
            </a:prstGeom>
            <a:solidFill>
              <a:srgbClr val="6B5B4B"/>
            </a:solidFill>
            <a:ln>
              <a:noFill/>
            </a:ln>
          </p:spPr>
          <p:txBody>
            <a:bodyPr rtlCol="0" anchor="ctr"/>
            <a:lstStyle/>
            <a:p>
              <a:pPr algn="ctr"/>
              <a:endParaRPr/>
            </a:p>
          </p:txBody>
        </p:sp>
        <p:sp>
          <p:nvSpPr>
            <p:cNvPr id="56" name="Rectangle 55"/>
            <p:cNvSpPr/>
            <p:nvPr/>
          </p:nvSpPr>
          <p:spPr>
            <a:xfrm>
              <a:off x="8933688" y="3831336"/>
              <a:ext cx="54864" cy="365760"/>
            </a:xfrm>
            <a:prstGeom prst="rect">
              <a:avLst/>
            </a:prstGeom>
            <a:solidFill>
              <a:srgbClr val="6B5B4B"/>
            </a:solidFill>
            <a:ln>
              <a:noFill/>
            </a:ln>
          </p:spPr>
          <p:txBody>
            <a:bodyPr rtlCol="0" anchor="ctr"/>
            <a:lstStyle/>
            <a:p>
              <a:pPr algn="ctr"/>
              <a:endParaRPr/>
            </a:p>
          </p:txBody>
        </p:sp>
        <p:sp>
          <p:nvSpPr>
            <p:cNvPr id="57" name="Rectangle 56"/>
            <p:cNvSpPr/>
            <p:nvPr/>
          </p:nvSpPr>
          <p:spPr>
            <a:xfrm>
              <a:off x="9253728" y="3831336"/>
              <a:ext cx="54864" cy="365760"/>
            </a:xfrm>
            <a:prstGeom prst="rect">
              <a:avLst/>
            </a:prstGeom>
            <a:solidFill>
              <a:srgbClr val="6B5B4B"/>
            </a:solidFill>
            <a:ln>
              <a:noFill/>
            </a:ln>
          </p:spPr>
          <p:txBody>
            <a:bodyPr rtlCol="0" anchor="ctr"/>
            <a:lstStyle/>
            <a:p>
              <a:pPr algn="ctr"/>
              <a:endParaRPr/>
            </a:p>
          </p:txBody>
        </p:sp>
        <p:sp>
          <p:nvSpPr>
            <p:cNvPr id="58" name="Rectangle 57"/>
            <p:cNvSpPr/>
            <p:nvPr/>
          </p:nvSpPr>
          <p:spPr>
            <a:xfrm>
              <a:off x="9573768" y="3831336"/>
              <a:ext cx="54864" cy="365760"/>
            </a:xfrm>
            <a:prstGeom prst="rect">
              <a:avLst/>
            </a:prstGeom>
            <a:solidFill>
              <a:srgbClr val="6B5B4B"/>
            </a:solidFill>
            <a:ln>
              <a:noFill/>
            </a:ln>
          </p:spPr>
          <p:txBody>
            <a:bodyPr rtlCol="0" anchor="ctr"/>
            <a:lstStyle/>
            <a:p>
              <a:pPr algn="ctr"/>
              <a:endParaRPr/>
            </a:p>
          </p:txBody>
        </p:sp>
        <p:sp>
          <p:nvSpPr>
            <p:cNvPr id="59" name="Rectangle 58"/>
            <p:cNvSpPr/>
            <p:nvPr/>
          </p:nvSpPr>
          <p:spPr>
            <a:xfrm>
              <a:off x="9893808" y="3831336"/>
              <a:ext cx="54864" cy="365760"/>
            </a:xfrm>
            <a:prstGeom prst="rect">
              <a:avLst/>
            </a:prstGeom>
            <a:solidFill>
              <a:srgbClr val="6B5B4B"/>
            </a:solidFill>
            <a:ln>
              <a:noFill/>
            </a:ln>
          </p:spPr>
          <p:txBody>
            <a:bodyPr rtlCol="0" anchor="ctr"/>
            <a:lstStyle/>
            <a:p>
              <a:pPr algn="ctr"/>
              <a:endParaRPr/>
            </a:p>
          </p:txBody>
        </p:sp>
        <p:sp>
          <p:nvSpPr>
            <p:cNvPr id="60" name="Rectangle 59"/>
            <p:cNvSpPr/>
            <p:nvPr/>
          </p:nvSpPr>
          <p:spPr>
            <a:xfrm>
              <a:off x="10213848" y="3831336"/>
              <a:ext cx="54864" cy="365760"/>
            </a:xfrm>
            <a:prstGeom prst="rect">
              <a:avLst/>
            </a:prstGeom>
            <a:solidFill>
              <a:srgbClr val="6B5B4B"/>
            </a:solidFill>
            <a:ln>
              <a:noFill/>
            </a:ln>
          </p:spPr>
          <p:txBody>
            <a:bodyPr rtlCol="0" anchor="ctr"/>
            <a:lstStyle/>
            <a:p>
              <a:pPr algn="ctr"/>
              <a:endParaRPr/>
            </a:p>
          </p:txBody>
        </p:sp>
        <p:sp>
          <p:nvSpPr>
            <p:cNvPr id="61" name="Rectangle 60"/>
            <p:cNvSpPr/>
            <p:nvPr/>
          </p:nvSpPr>
          <p:spPr>
            <a:xfrm>
              <a:off x="10533888" y="3831336"/>
              <a:ext cx="54864" cy="365760"/>
            </a:xfrm>
            <a:prstGeom prst="rect">
              <a:avLst/>
            </a:prstGeom>
            <a:solidFill>
              <a:srgbClr val="6B5B4B"/>
            </a:solidFill>
            <a:ln>
              <a:noFill/>
            </a:ln>
          </p:spPr>
          <p:txBody>
            <a:bodyPr rtlCol="0" anchor="ctr"/>
            <a:lstStyle/>
            <a:p>
              <a:pPr algn="ctr"/>
              <a:endParaRPr/>
            </a:p>
          </p:txBody>
        </p:sp>
        <p:sp>
          <p:nvSpPr>
            <p:cNvPr id="62" name="Rectangle 61"/>
            <p:cNvSpPr/>
            <p:nvPr/>
          </p:nvSpPr>
          <p:spPr>
            <a:xfrm>
              <a:off x="10853928" y="3831336"/>
              <a:ext cx="54864" cy="365760"/>
            </a:xfrm>
            <a:prstGeom prst="rect">
              <a:avLst/>
            </a:prstGeom>
            <a:solidFill>
              <a:srgbClr val="6B5B4B"/>
            </a:solidFill>
            <a:ln>
              <a:noFill/>
            </a:ln>
          </p:spPr>
          <p:txBody>
            <a:bodyPr rtlCol="0" anchor="ctr"/>
            <a:lstStyle/>
            <a:p>
              <a:pPr algn="ctr"/>
              <a:endParaRPr/>
            </a:p>
          </p:txBody>
        </p:sp>
        <p:sp>
          <p:nvSpPr>
            <p:cNvPr id="63" name="Rectangle 62"/>
            <p:cNvSpPr/>
            <p:nvPr/>
          </p:nvSpPr>
          <p:spPr>
            <a:xfrm>
              <a:off x="11173968" y="3831336"/>
              <a:ext cx="54864" cy="365760"/>
            </a:xfrm>
            <a:prstGeom prst="rect">
              <a:avLst/>
            </a:prstGeom>
            <a:solidFill>
              <a:srgbClr val="6B5B4B"/>
            </a:solidFill>
            <a:ln>
              <a:noFill/>
            </a:ln>
          </p:spPr>
          <p:txBody>
            <a:bodyPr rtlCol="0" anchor="ctr"/>
            <a:lstStyle/>
            <a:p>
              <a:pPr algn="ctr"/>
              <a:endParaRPr/>
            </a:p>
          </p:txBody>
        </p:sp>
        <p:sp>
          <p:nvSpPr>
            <p:cNvPr id="64" name="Rectangle 63"/>
            <p:cNvSpPr/>
            <p:nvPr/>
          </p:nvSpPr>
          <p:spPr>
            <a:xfrm>
              <a:off x="731520" y="3858768"/>
              <a:ext cx="10698480" cy="54864"/>
            </a:xfrm>
            <a:prstGeom prst="rect">
              <a:avLst/>
            </a:prstGeom>
            <a:solidFill>
              <a:srgbClr val="9AA0A6"/>
            </a:solidFill>
            <a:ln>
              <a:noFill/>
            </a:ln>
          </p:spPr>
          <p:txBody>
            <a:bodyPr rtlCol="0" anchor="ctr"/>
            <a:lstStyle/>
            <a:p>
              <a:pPr algn="ctr"/>
              <a:endParaRPr/>
            </a:p>
          </p:txBody>
        </p:sp>
        <p:sp>
          <p:nvSpPr>
            <p:cNvPr id="65" name="Rectangle 64"/>
            <p:cNvSpPr/>
            <p:nvPr/>
          </p:nvSpPr>
          <p:spPr>
            <a:xfrm>
              <a:off x="731520" y="4114800"/>
              <a:ext cx="10698480" cy="54864"/>
            </a:xfrm>
            <a:prstGeom prst="rect">
              <a:avLst/>
            </a:prstGeom>
            <a:solidFill>
              <a:srgbClr val="9AA0A6"/>
            </a:solidFill>
            <a:ln>
              <a:noFill/>
            </a:ln>
          </p:spPr>
          <p:txBody>
            <a:bodyPr rtlCol="0" anchor="ctr"/>
            <a:lstStyle/>
            <a:p>
              <a:pPr algn="ctr"/>
              <a:endParaRPr/>
            </a:p>
          </p:txBody>
        </p:sp>
        <p:sp>
          <p:nvSpPr>
            <p:cNvPr id="66" name="Rectangle 65"/>
            <p:cNvSpPr/>
            <p:nvPr/>
          </p:nvSpPr>
          <p:spPr>
            <a:xfrm>
              <a:off x="768096" y="4553712"/>
              <a:ext cx="3401568" cy="310896"/>
            </a:xfrm>
            <a:prstGeom prst="rect">
              <a:avLst/>
            </a:prstGeom>
            <a:solidFill>
              <a:srgbClr val="343A43"/>
            </a:solidFill>
            <a:ln w="12700">
              <a:solidFill>
                <a:srgbClr val="9AA0A6"/>
              </a:solidFill>
            </a:ln>
          </p:spPr>
          <p:txBody>
            <a:bodyPr wrap="square" lIns="73152" tIns="36576" rIns="73152" bIns="36576" rtlCol="0" anchor="ctr">
              <a:noAutofit/>
            </a:bodyPr>
            <a:lstStyle/>
            <a:p>
              <a:pPr algn="ctr"/>
              <a:r>
                <a:rPr lang="en-GB" sz="1400" b="1" i="0">
                  <a:solidFill>
                    <a:srgbClr val="F2F2F2"/>
                  </a:solidFill>
                  <a:latin typeface="Arial"/>
                </a:rPr>
                <a:t>Block 1</a:t>
              </a:r>
            </a:p>
          </p:txBody>
        </p:sp>
        <p:sp>
          <p:nvSpPr>
            <p:cNvPr id="67" name="Rectangle 66"/>
            <p:cNvSpPr/>
            <p:nvPr/>
          </p:nvSpPr>
          <p:spPr>
            <a:xfrm>
              <a:off x="4242816" y="4553712"/>
              <a:ext cx="2670048" cy="310896"/>
            </a:xfrm>
            <a:prstGeom prst="rect">
              <a:avLst/>
            </a:prstGeom>
            <a:solidFill>
              <a:srgbClr val="343A43"/>
            </a:solidFill>
            <a:ln w="12700">
              <a:solidFill>
                <a:srgbClr val="9AA0A6"/>
              </a:solidFill>
            </a:ln>
          </p:spPr>
          <p:txBody>
            <a:bodyPr wrap="square" lIns="73152" tIns="36576" rIns="73152" bIns="36576" rtlCol="0" anchor="ctr">
              <a:noAutofit/>
            </a:bodyPr>
            <a:lstStyle/>
            <a:p>
              <a:pPr algn="ctr"/>
              <a:r>
                <a:rPr lang="en-GB" sz="1400" b="1" i="0">
                  <a:solidFill>
                    <a:srgbClr val="F2F2F2"/>
                  </a:solidFill>
                  <a:latin typeface="Arial"/>
                </a:rPr>
                <a:t>Block 2</a:t>
              </a:r>
            </a:p>
          </p:txBody>
        </p:sp>
        <p:sp>
          <p:nvSpPr>
            <p:cNvPr id="68" name="Rectangle 67"/>
            <p:cNvSpPr/>
            <p:nvPr/>
          </p:nvSpPr>
          <p:spPr>
            <a:xfrm>
              <a:off x="6986016" y="4553712"/>
              <a:ext cx="2487168" cy="310896"/>
            </a:xfrm>
            <a:prstGeom prst="rect">
              <a:avLst/>
            </a:prstGeom>
            <a:solidFill>
              <a:srgbClr val="343A43"/>
            </a:solidFill>
            <a:ln w="12700">
              <a:solidFill>
                <a:srgbClr val="9AA0A6"/>
              </a:solidFill>
            </a:ln>
          </p:spPr>
          <p:txBody>
            <a:bodyPr wrap="square" lIns="73152" tIns="36576" rIns="73152" bIns="36576" rtlCol="0" anchor="ctr">
              <a:noAutofit/>
            </a:bodyPr>
            <a:lstStyle/>
            <a:p>
              <a:pPr algn="ctr"/>
              <a:r>
                <a:rPr lang="en-GB" sz="1400" b="1" i="0">
                  <a:solidFill>
                    <a:srgbClr val="F2F2F2"/>
                  </a:solidFill>
                  <a:latin typeface="Arial"/>
                </a:rPr>
                <a:t>Block 3</a:t>
              </a:r>
            </a:p>
          </p:txBody>
        </p:sp>
        <p:grpSp>
          <p:nvGrpSpPr>
            <p:cNvPr id="69" name="Train in block 2" descr="A steam train: an engine pulling wagons."/>
            <p:cNvGrpSpPr/>
            <p:nvPr/>
          </p:nvGrpSpPr>
          <p:grpSpPr>
            <a:xfrm>
              <a:off x="4389120" y="3223757"/>
              <a:ext cx="1965960" cy="662443"/>
              <a:chOff x="4389120" y="3223757"/>
              <a:chExt cx="1965960" cy="662443"/>
            </a:xfrm>
          </p:grpSpPr>
          <p:sp>
            <p:nvSpPr>
              <p:cNvPr id="70" name="Rectangle 69"/>
              <p:cNvSpPr/>
              <p:nvPr/>
            </p:nvSpPr>
            <p:spPr>
              <a:xfrm>
                <a:off x="4389120" y="3480187"/>
                <a:ext cx="569843" cy="320537"/>
              </a:xfrm>
              <a:prstGeom prst="rect">
                <a:avLst/>
              </a:prstGeom>
              <a:solidFill>
                <a:srgbClr val="6C7480"/>
              </a:solidFill>
              <a:ln w="9525">
                <a:solidFill>
                  <a:srgbClr val="101418"/>
                </a:solidFill>
              </a:ln>
            </p:spPr>
            <p:txBody>
              <a:bodyPr rtlCol="0" anchor="ctr"/>
              <a:lstStyle/>
              <a:p>
                <a:pPr algn="ctr"/>
                <a:endParaRPr/>
              </a:p>
            </p:txBody>
          </p:sp>
          <p:sp>
            <p:nvSpPr>
              <p:cNvPr id="71" name="Oval 70"/>
              <p:cNvSpPr/>
              <p:nvPr/>
            </p:nvSpPr>
            <p:spPr>
              <a:xfrm>
                <a:off x="4460350" y="3743739"/>
                <a:ext cx="142461" cy="142461"/>
              </a:xfrm>
              <a:prstGeom prst="ellipse">
                <a:avLst/>
              </a:prstGeom>
              <a:solidFill>
                <a:srgbClr val="1B1D21"/>
              </a:solidFill>
              <a:ln w="12700">
                <a:solidFill>
                  <a:srgbClr val="9AA0A6"/>
                </a:solidFill>
              </a:ln>
            </p:spPr>
            <p:txBody>
              <a:bodyPr rtlCol="0" anchor="ctr"/>
              <a:lstStyle/>
              <a:p>
                <a:pPr algn="ctr"/>
                <a:endParaRPr/>
              </a:p>
            </p:txBody>
          </p:sp>
          <p:sp>
            <p:nvSpPr>
              <p:cNvPr id="72" name="Oval 71"/>
              <p:cNvSpPr/>
              <p:nvPr/>
            </p:nvSpPr>
            <p:spPr>
              <a:xfrm>
                <a:off x="4745272" y="3743739"/>
                <a:ext cx="142461" cy="142461"/>
              </a:xfrm>
              <a:prstGeom prst="ellipse">
                <a:avLst/>
              </a:prstGeom>
              <a:solidFill>
                <a:srgbClr val="1B1D21"/>
              </a:solidFill>
              <a:ln w="12700">
                <a:solidFill>
                  <a:srgbClr val="9AA0A6"/>
                </a:solidFill>
              </a:ln>
            </p:spPr>
            <p:txBody>
              <a:bodyPr rtlCol="0" anchor="ctr"/>
              <a:lstStyle/>
              <a:p>
                <a:pPr algn="ctr"/>
                <a:endParaRPr/>
              </a:p>
            </p:txBody>
          </p:sp>
          <p:sp>
            <p:nvSpPr>
              <p:cNvPr id="73" name="Rectangle 72"/>
              <p:cNvSpPr/>
              <p:nvPr/>
            </p:nvSpPr>
            <p:spPr>
              <a:xfrm>
                <a:off x="4958963" y="3708124"/>
                <a:ext cx="56984" cy="35615"/>
              </a:xfrm>
              <a:prstGeom prst="rect">
                <a:avLst/>
              </a:prstGeom>
              <a:solidFill>
                <a:srgbClr val="9AA0A6"/>
              </a:solidFill>
              <a:ln>
                <a:noFill/>
              </a:ln>
            </p:spPr>
            <p:txBody>
              <a:bodyPr rtlCol="0" anchor="ctr"/>
              <a:lstStyle/>
              <a:p>
                <a:pPr algn="ctr"/>
                <a:endParaRPr/>
              </a:p>
            </p:txBody>
          </p:sp>
          <p:sp>
            <p:nvSpPr>
              <p:cNvPr id="74" name="Rectangle 73"/>
              <p:cNvSpPr/>
              <p:nvPr/>
            </p:nvSpPr>
            <p:spPr>
              <a:xfrm>
                <a:off x="5015948" y="3480187"/>
                <a:ext cx="569843" cy="320537"/>
              </a:xfrm>
              <a:prstGeom prst="rect">
                <a:avLst/>
              </a:prstGeom>
              <a:solidFill>
                <a:srgbClr val="6C7480"/>
              </a:solidFill>
              <a:ln w="9525">
                <a:solidFill>
                  <a:srgbClr val="101418"/>
                </a:solidFill>
              </a:ln>
            </p:spPr>
            <p:txBody>
              <a:bodyPr rtlCol="0" anchor="ctr"/>
              <a:lstStyle/>
              <a:p>
                <a:pPr algn="ctr"/>
                <a:endParaRPr/>
              </a:p>
            </p:txBody>
          </p:sp>
          <p:sp>
            <p:nvSpPr>
              <p:cNvPr id="75" name="Oval 74"/>
              <p:cNvSpPr/>
              <p:nvPr/>
            </p:nvSpPr>
            <p:spPr>
              <a:xfrm>
                <a:off x="5087178" y="3743739"/>
                <a:ext cx="142461" cy="142461"/>
              </a:xfrm>
              <a:prstGeom prst="ellipse">
                <a:avLst/>
              </a:prstGeom>
              <a:solidFill>
                <a:srgbClr val="1B1D21"/>
              </a:solidFill>
              <a:ln w="12700">
                <a:solidFill>
                  <a:srgbClr val="9AA0A6"/>
                </a:solidFill>
              </a:ln>
            </p:spPr>
            <p:txBody>
              <a:bodyPr rtlCol="0" anchor="ctr"/>
              <a:lstStyle/>
              <a:p>
                <a:pPr algn="ctr"/>
                <a:endParaRPr/>
              </a:p>
            </p:txBody>
          </p:sp>
          <p:sp>
            <p:nvSpPr>
              <p:cNvPr id="76" name="Oval 75"/>
              <p:cNvSpPr/>
              <p:nvPr/>
            </p:nvSpPr>
            <p:spPr>
              <a:xfrm>
                <a:off x="5372100" y="3743739"/>
                <a:ext cx="142461" cy="142461"/>
              </a:xfrm>
              <a:prstGeom prst="ellipse">
                <a:avLst/>
              </a:prstGeom>
              <a:solidFill>
                <a:srgbClr val="1B1D21"/>
              </a:solidFill>
              <a:ln w="12700">
                <a:solidFill>
                  <a:srgbClr val="9AA0A6"/>
                </a:solidFill>
              </a:ln>
            </p:spPr>
            <p:txBody>
              <a:bodyPr rtlCol="0" anchor="ctr"/>
              <a:lstStyle/>
              <a:p>
                <a:pPr algn="ctr"/>
                <a:endParaRPr/>
              </a:p>
            </p:txBody>
          </p:sp>
          <p:sp>
            <p:nvSpPr>
              <p:cNvPr id="77" name="Rectangle 76"/>
              <p:cNvSpPr/>
              <p:nvPr/>
            </p:nvSpPr>
            <p:spPr>
              <a:xfrm>
                <a:off x="5585791" y="3708124"/>
                <a:ext cx="56984" cy="35615"/>
              </a:xfrm>
              <a:prstGeom prst="rect">
                <a:avLst/>
              </a:prstGeom>
              <a:solidFill>
                <a:srgbClr val="9AA0A6"/>
              </a:solidFill>
              <a:ln>
                <a:noFill/>
              </a:ln>
            </p:spPr>
            <p:txBody>
              <a:bodyPr rtlCol="0" anchor="ctr"/>
              <a:lstStyle/>
              <a:p>
                <a:pPr algn="ctr"/>
                <a:endParaRPr/>
              </a:p>
            </p:txBody>
          </p:sp>
          <p:sp>
            <p:nvSpPr>
              <p:cNvPr id="78" name="Rectangle 77"/>
              <p:cNvSpPr/>
              <p:nvPr/>
            </p:nvSpPr>
            <p:spPr>
              <a:xfrm>
                <a:off x="5642776" y="3423202"/>
                <a:ext cx="712304" cy="391767"/>
              </a:xfrm>
              <a:prstGeom prst="rect">
                <a:avLst/>
              </a:prstGeom>
              <a:solidFill>
                <a:srgbClr val="F28C28"/>
              </a:solidFill>
              <a:ln w="9525">
                <a:solidFill>
                  <a:srgbClr val="101418"/>
                </a:solidFill>
              </a:ln>
            </p:spPr>
            <p:txBody>
              <a:bodyPr rtlCol="0" anchor="ctr"/>
              <a:lstStyle/>
              <a:p>
                <a:pPr algn="ctr"/>
                <a:endParaRPr/>
              </a:p>
            </p:txBody>
          </p:sp>
          <p:sp>
            <p:nvSpPr>
              <p:cNvPr id="79" name="Bunker"/>
              <p:cNvSpPr/>
              <p:nvPr/>
            </p:nvSpPr>
            <p:spPr>
              <a:xfrm>
                <a:off x="5664145" y="3444571"/>
                <a:ext cx="185199" cy="142461"/>
              </a:xfrm>
              <a:prstGeom prst="rect">
                <a:avLst/>
              </a:prstGeom>
              <a:solidFill>
                <a:srgbClr val="1B1D21"/>
              </a:solidFill>
              <a:ln>
                <a:noFill/>
              </a:ln>
            </p:spPr>
            <p:txBody>
              <a:bodyPr rtlCol="0" anchor="ctr"/>
              <a:lstStyle/>
              <a:p>
                <a:pPr algn="ctr"/>
                <a:endParaRPr/>
              </a:p>
            </p:txBody>
          </p:sp>
          <p:sp>
            <p:nvSpPr>
              <p:cNvPr id="80" name="Rectangle 79"/>
              <p:cNvSpPr/>
              <p:nvPr/>
            </p:nvSpPr>
            <p:spPr>
              <a:xfrm>
                <a:off x="5884959" y="3473063"/>
                <a:ext cx="99723" cy="99723"/>
              </a:xfrm>
              <a:prstGeom prst="rect">
                <a:avLst/>
              </a:prstGeom>
              <a:solidFill>
                <a:srgbClr val="2B2F36"/>
              </a:solidFill>
              <a:ln>
                <a:noFill/>
              </a:ln>
            </p:spPr>
            <p:txBody>
              <a:bodyPr rtlCol="0" anchor="ctr"/>
              <a:lstStyle/>
              <a:p>
                <a:pPr algn="ctr"/>
                <a:endParaRPr/>
              </a:p>
            </p:txBody>
          </p:sp>
          <p:sp>
            <p:nvSpPr>
              <p:cNvPr id="81" name="Chimney"/>
              <p:cNvSpPr/>
              <p:nvPr/>
            </p:nvSpPr>
            <p:spPr>
              <a:xfrm>
                <a:off x="6198373" y="3223757"/>
                <a:ext cx="106846" cy="213691"/>
              </a:xfrm>
              <a:prstGeom prst="rect">
                <a:avLst/>
              </a:prstGeom>
              <a:solidFill>
                <a:srgbClr val="1B1D21"/>
              </a:solidFill>
              <a:ln>
                <a:noFill/>
              </a:ln>
            </p:spPr>
            <p:txBody>
              <a:bodyPr rtlCol="0" anchor="ctr"/>
              <a:lstStyle/>
              <a:p>
                <a:pPr algn="ctr"/>
                <a:endParaRPr/>
              </a:p>
            </p:txBody>
          </p:sp>
          <p:sp>
            <p:nvSpPr>
              <p:cNvPr id="82" name="Oval 81"/>
              <p:cNvSpPr/>
              <p:nvPr/>
            </p:nvSpPr>
            <p:spPr>
              <a:xfrm>
                <a:off x="5714006" y="3743739"/>
                <a:ext cx="142461" cy="142461"/>
              </a:xfrm>
              <a:prstGeom prst="ellipse">
                <a:avLst/>
              </a:prstGeom>
              <a:solidFill>
                <a:srgbClr val="1B1D21"/>
              </a:solidFill>
              <a:ln w="12700">
                <a:solidFill>
                  <a:srgbClr val="9AA0A6"/>
                </a:solidFill>
              </a:ln>
            </p:spPr>
            <p:txBody>
              <a:bodyPr rtlCol="0" anchor="ctr"/>
              <a:lstStyle/>
              <a:p>
                <a:pPr algn="ctr"/>
                <a:endParaRPr/>
              </a:p>
            </p:txBody>
          </p:sp>
          <p:sp>
            <p:nvSpPr>
              <p:cNvPr id="83" name="Oval 82"/>
              <p:cNvSpPr/>
              <p:nvPr/>
            </p:nvSpPr>
            <p:spPr>
              <a:xfrm>
                <a:off x="5927697" y="3743739"/>
                <a:ext cx="142461" cy="142461"/>
              </a:xfrm>
              <a:prstGeom prst="ellipse">
                <a:avLst/>
              </a:prstGeom>
              <a:solidFill>
                <a:srgbClr val="1B1D21"/>
              </a:solidFill>
              <a:ln w="12700">
                <a:solidFill>
                  <a:srgbClr val="9AA0A6"/>
                </a:solidFill>
              </a:ln>
            </p:spPr>
            <p:txBody>
              <a:bodyPr rtlCol="0" anchor="ctr"/>
              <a:lstStyle/>
              <a:p>
                <a:pPr algn="ctr"/>
                <a:endParaRPr/>
              </a:p>
            </p:txBody>
          </p:sp>
          <p:sp>
            <p:nvSpPr>
              <p:cNvPr id="84" name="Oval 83"/>
              <p:cNvSpPr/>
              <p:nvPr/>
            </p:nvSpPr>
            <p:spPr>
              <a:xfrm>
                <a:off x="6141389" y="3743739"/>
                <a:ext cx="142461" cy="142461"/>
              </a:xfrm>
              <a:prstGeom prst="ellipse">
                <a:avLst/>
              </a:prstGeom>
              <a:solidFill>
                <a:srgbClr val="1B1D21"/>
              </a:solidFill>
              <a:ln w="12700">
                <a:solidFill>
                  <a:srgbClr val="9AA0A6"/>
                </a:solidFill>
              </a:ln>
            </p:spPr>
            <p:txBody>
              <a:bodyPr rtlCol="0" anchor="ctr"/>
              <a:lstStyle/>
              <a:p>
                <a:pPr algn="ctr"/>
                <a:endParaRPr/>
              </a:p>
            </p:txBody>
          </p:sp>
        </p:grpSp>
        <p:sp>
          <p:nvSpPr>
            <p:cNvPr id="85" name="Freeform 84"/>
            <p:cNvSpPr/>
            <p:nvPr/>
          </p:nvSpPr>
          <p:spPr>
            <a:xfrm>
              <a:off x="3063240" y="2697480"/>
              <a:ext cx="1033272" cy="1563624"/>
            </a:xfrm>
            <a:custGeom>
              <a:avLst/>
              <a:gdLst/>
              <a:ahLst/>
              <a:cxnLst/>
              <a:rect l="l" t="t" r="r" b="b"/>
              <a:pathLst>
                <a:path w="1033272" h="1563624">
                  <a:moveTo>
                    <a:pt x="0" y="0"/>
                  </a:moveTo>
                  <a:lnTo>
                    <a:pt x="228600" y="0"/>
                  </a:lnTo>
                  <a:lnTo>
                    <a:pt x="228600" y="1563624"/>
                  </a:lnTo>
                  <a:lnTo>
                    <a:pt x="1033272" y="1563624"/>
                  </a:lnTo>
                </a:path>
              </a:pathLst>
            </a:custGeom>
            <a:noFill/>
            <a:ln w="28575">
              <a:solidFill>
                <a:srgbClr val="F28C28"/>
              </a:solidFill>
              <a:prstDash val="dash"/>
            </a:ln>
          </p:spPr>
          <p:txBody>
            <a:bodyPr rtlCol="0" anchor="ctr"/>
            <a:lstStyle/>
            <a:p>
              <a:pPr algn="ctr"/>
              <a:endParaRPr/>
            </a:p>
          </p:txBody>
        </p:sp>
        <p:sp>
          <p:nvSpPr>
            <p:cNvPr id="86" name="Rectangle 85"/>
            <p:cNvSpPr/>
            <p:nvPr/>
          </p:nvSpPr>
          <p:spPr>
            <a:xfrm>
              <a:off x="3968496" y="4197096"/>
              <a:ext cx="128016" cy="128016"/>
            </a:xfrm>
            <a:prstGeom prst="rect">
              <a:avLst/>
            </a:prstGeom>
            <a:solidFill>
              <a:srgbClr val="9AA0A6"/>
            </a:solidFill>
            <a:ln w="9525">
              <a:solidFill>
                <a:srgbClr val="101418"/>
              </a:solidFill>
            </a:ln>
          </p:spPr>
          <p:txBody>
            <a:bodyPr rtlCol="0" anchor="ctr"/>
            <a:lstStyle/>
            <a:p>
              <a:pPr algn="ctr"/>
              <a:endParaRPr/>
            </a:p>
          </p:txBody>
        </p:sp>
        <p:grpSp>
          <p:nvGrpSpPr>
            <p:cNvPr id="87" name="Signal stop" descr="Semaphore stop signal, arm flat: STOP."/>
            <p:cNvGrpSpPr/>
            <p:nvPr/>
          </p:nvGrpSpPr>
          <p:grpSpPr>
            <a:xfrm>
              <a:off x="3511296" y="2926080"/>
              <a:ext cx="1764792" cy="1389888"/>
              <a:chOff x="3511296" y="2926080"/>
              <a:chExt cx="1764792" cy="1389888"/>
            </a:xfrm>
          </p:grpSpPr>
          <p:sp>
            <p:nvSpPr>
              <p:cNvPr id="88" name="Rectangle 87"/>
              <p:cNvSpPr/>
              <p:nvPr/>
            </p:nvSpPr>
            <p:spPr>
              <a:xfrm>
                <a:off x="4050792" y="4251960"/>
                <a:ext cx="310896" cy="64008"/>
              </a:xfrm>
              <a:prstGeom prst="rect">
                <a:avLst/>
              </a:prstGeom>
              <a:solidFill>
                <a:srgbClr val="9AA0A6"/>
              </a:solidFill>
              <a:ln>
                <a:noFill/>
              </a:ln>
            </p:spPr>
            <p:txBody>
              <a:bodyPr rtlCol="0" anchor="ctr"/>
              <a:lstStyle/>
              <a:p>
                <a:pPr algn="ctr"/>
                <a:endParaRPr/>
              </a:p>
            </p:txBody>
          </p:sp>
          <p:sp>
            <p:nvSpPr>
              <p:cNvPr id="89" name="Rectangle 88"/>
              <p:cNvSpPr/>
              <p:nvPr/>
            </p:nvSpPr>
            <p:spPr>
              <a:xfrm>
                <a:off x="4151376" y="3310128"/>
                <a:ext cx="109728" cy="1005840"/>
              </a:xfrm>
              <a:prstGeom prst="rect">
                <a:avLst/>
              </a:prstGeom>
              <a:solidFill>
                <a:srgbClr val="E8E8E8"/>
              </a:solidFill>
              <a:ln>
                <a:noFill/>
              </a:ln>
            </p:spPr>
            <p:txBody>
              <a:bodyPr rtlCol="0" anchor="ctr"/>
              <a:lstStyle/>
              <a:p>
                <a:pPr algn="ctr"/>
                <a:endParaRPr/>
              </a:p>
            </p:txBody>
          </p:sp>
          <p:sp>
            <p:nvSpPr>
              <p:cNvPr id="90" name="Oval 89"/>
              <p:cNvSpPr/>
              <p:nvPr/>
            </p:nvSpPr>
            <p:spPr>
              <a:xfrm>
                <a:off x="4142232" y="3209544"/>
                <a:ext cx="128016" cy="128016"/>
              </a:xfrm>
              <a:prstGeom prst="ellipse">
                <a:avLst/>
              </a:prstGeom>
              <a:solidFill>
                <a:srgbClr val="E8E8E8"/>
              </a:solidFill>
              <a:ln>
                <a:noFill/>
              </a:ln>
            </p:spPr>
            <p:txBody>
              <a:bodyPr rtlCol="0" anchor="ctr"/>
              <a:lstStyle/>
              <a:p>
                <a:pPr algn="ctr"/>
                <a:endParaRPr/>
              </a:p>
            </p:txBody>
          </p:sp>
          <p:sp>
            <p:nvSpPr>
              <p:cNvPr id="91" name="Freeform 90"/>
              <p:cNvSpPr/>
              <p:nvPr/>
            </p:nvSpPr>
            <p:spPr>
              <a:xfrm>
                <a:off x="3511296" y="3456432"/>
                <a:ext cx="640080" cy="128016"/>
              </a:xfrm>
              <a:custGeom>
                <a:avLst/>
                <a:gdLst/>
                <a:ahLst/>
                <a:cxnLst/>
                <a:rect l="l" t="t" r="r" b="b"/>
                <a:pathLst>
                  <a:path w="640080" h="128016">
                    <a:moveTo>
                      <a:pt x="640080" y="0"/>
                    </a:moveTo>
                    <a:lnTo>
                      <a:pt x="0" y="0"/>
                    </a:lnTo>
                    <a:lnTo>
                      <a:pt x="0" y="128016"/>
                    </a:lnTo>
                    <a:lnTo>
                      <a:pt x="640080" y="128016"/>
                    </a:lnTo>
                    <a:close/>
                  </a:path>
                </a:pathLst>
              </a:custGeom>
              <a:solidFill>
                <a:srgbClr val="E5484D"/>
              </a:solidFill>
              <a:ln w="9525">
                <a:solidFill>
                  <a:srgbClr val="101418"/>
                </a:solidFill>
              </a:ln>
            </p:spPr>
            <p:txBody>
              <a:bodyPr rtlCol="0" anchor="ctr"/>
              <a:lstStyle/>
              <a:p>
                <a:pPr algn="ctr"/>
                <a:endParaRPr/>
              </a:p>
            </p:txBody>
          </p:sp>
          <p:sp>
            <p:nvSpPr>
              <p:cNvPr id="92" name="Freeform 91"/>
              <p:cNvSpPr/>
              <p:nvPr/>
            </p:nvSpPr>
            <p:spPr>
              <a:xfrm>
                <a:off x="3677717" y="3456432"/>
                <a:ext cx="76809" cy="128016"/>
              </a:xfrm>
              <a:custGeom>
                <a:avLst/>
                <a:gdLst/>
                <a:ahLst/>
                <a:cxnLst/>
                <a:rect l="l" t="t" r="r" b="b"/>
                <a:pathLst>
                  <a:path w="76809" h="128016">
                    <a:moveTo>
                      <a:pt x="76809" y="0"/>
                    </a:moveTo>
                    <a:lnTo>
                      <a:pt x="0" y="0"/>
                    </a:lnTo>
                    <a:lnTo>
                      <a:pt x="0" y="128016"/>
                    </a:lnTo>
                    <a:lnTo>
                      <a:pt x="76809" y="128016"/>
                    </a:lnTo>
                    <a:close/>
                  </a:path>
                </a:pathLst>
              </a:custGeom>
              <a:solidFill>
                <a:srgbClr val="FFFFFF"/>
              </a:solidFill>
              <a:ln>
                <a:noFill/>
              </a:ln>
            </p:spPr>
            <p:txBody>
              <a:bodyPr rtlCol="0" anchor="ctr"/>
              <a:lstStyle/>
              <a:p>
                <a:pPr algn="ctr"/>
                <a:endParaRPr/>
              </a:p>
            </p:txBody>
          </p:sp>
          <p:sp>
            <p:nvSpPr>
              <p:cNvPr id="93" name="Oval 92"/>
              <p:cNvSpPr/>
              <p:nvPr/>
            </p:nvSpPr>
            <p:spPr>
              <a:xfrm>
                <a:off x="4283964" y="3442716"/>
                <a:ext cx="155448" cy="155448"/>
              </a:xfrm>
              <a:prstGeom prst="ellipse">
                <a:avLst/>
              </a:prstGeom>
              <a:solidFill>
                <a:srgbClr val="E5484D"/>
              </a:solidFill>
              <a:ln w="9525">
                <a:solidFill>
                  <a:srgbClr val="101418"/>
                </a:solidFill>
              </a:ln>
            </p:spPr>
            <p:txBody>
              <a:bodyPr rtlCol="0" anchor="ctr"/>
              <a:lstStyle/>
              <a:p>
                <a:pPr algn="ctr"/>
                <a:endParaRPr/>
              </a:p>
            </p:txBody>
          </p:sp>
          <p:sp>
            <p:nvSpPr>
              <p:cNvPr id="94" name="Rounded Rectangle 93"/>
              <p:cNvSpPr/>
              <p:nvPr/>
            </p:nvSpPr>
            <p:spPr>
              <a:xfrm>
                <a:off x="4407408" y="2926080"/>
                <a:ext cx="868680" cy="329184"/>
              </a:xfrm>
              <a:prstGeom prst="roundRect">
                <a:avLst>
                  <a:gd name="adj" fmla="val 50000"/>
                </a:avLst>
              </a:prstGeom>
              <a:solidFill>
                <a:srgbClr val="B3262B"/>
              </a:solidFill>
              <a:ln>
                <a:noFill/>
              </a:ln>
            </p:spPr>
            <p:txBody>
              <a:bodyPr wrap="square" lIns="54864" tIns="18288" rIns="54864" bIns="18288" rtlCol="0" anchor="ctr">
                <a:noAutofit/>
              </a:bodyPr>
              <a:lstStyle/>
              <a:p>
                <a:pPr algn="ctr"/>
                <a:r>
                  <a:rPr lang="en-GB" sz="1400" b="1" i="0">
                    <a:solidFill>
                      <a:srgbClr val="F2F2F2"/>
                    </a:solidFill>
                    <a:latin typeface="Arial"/>
                  </a:rPr>
                  <a:t>STOP</a:t>
                </a:r>
              </a:p>
            </p:txBody>
          </p:sp>
        </p:grpSp>
        <p:sp>
          <p:nvSpPr>
            <p:cNvPr id="95" name="Freeform 94"/>
            <p:cNvSpPr/>
            <p:nvPr/>
          </p:nvSpPr>
          <p:spPr>
            <a:xfrm>
              <a:off x="3063240" y="2926080"/>
              <a:ext cx="3776472" cy="1412748"/>
            </a:xfrm>
            <a:custGeom>
              <a:avLst/>
              <a:gdLst/>
              <a:ahLst/>
              <a:cxnLst/>
              <a:rect l="l" t="t" r="r" b="b"/>
              <a:pathLst>
                <a:path w="3776472" h="1412748">
                  <a:moveTo>
                    <a:pt x="0" y="0"/>
                  </a:moveTo>
                  <a:lnTo>
                    <a:pt x="338328" y="0"/>
                  </a:lnTo>
                  <a:lnTo>
                    <a:pt x="338328" y="1412748"/>
                  </a:lnTo>
                  <a:lnTo>
                    <a:pt x="3776472" y="1412748"/>
                  </a:lnTo>
                </a:path>
              </a:pathLst>
            </a:custGeom>
            <a:noFill/>
            <a:ln w="28575">
              <a:solidFill>
                <a:srgbClr val="F28C28"/>
              </a:solidFill>
              <a:prstDash val="dash"/>
            </a:ln>
          </p:spPr>
          <p:txBody>
            <a:bodyPr rtlCol="0" anchor="ctr"/>
            <a:lstStyle/>
            <a:p>
              <a:pPr algn="ctr"/>
              <a:endParaRPr/>
            </a:p>
          </p:txBody>
        </p:sp>
        <p:sp>
          <p:nvSpPr>
            <p:cNvPr id="96" name="Rectangle 95"/>
            <p:cNvSpPr/>
            <p:nvPr/>
          </p:nvSpPr>
          <p:spPr>
            <a:xfrm>
              <a:off x="6711696" y="4274820"/>
              <a:ext cx="128016" cy="128016"/>
            </a:xfrm>
            <a:prstGeom prst="rect">
              <a:avLst/>
            </a:prstGeom>
            <a:solidFill>
              <a:srgbClr val="9AA0A6"/>
            </a:solidFill>
            <a:ln w="9525">
              <a:solidFill>
                <a:srgbClr val="101418"/>
              </a:solidFill>
            </a:ln>
          </p:spPr>
          <p:txBody>
            <a:bodyPr rtlCol="0" anchor="ctr"/>
            <a:lstStyle/>
            <a:p>
              <a:pPr algn="ctr"/>
              <a:endParaRPr/>
            </a:p>
          </p:txBody>
        </p:sp>
        <p:grpSp>
          <p:nvGrpSpPr>
            <p:cNvPr id="97" name="Signal clear" descr="Semaphore stop signal, arm raised: CLEAR."/>
            <p:cNvGrpSpPr/>
            <p:nvPr/>
          </p:nvGrpSpPr>
          <p:grpSpPr>
            <a:xfrm>
              <a:off x="6396711" y="2926080"/>
              <a:ext cx="1622577" cy="1389888"/>
              <a:chOff x="6396711" y="2926080"/>
              <a:chExt cx="1622577" cy="1389888"/>
            </a:xfrm>
          </p:grpSpPr>
          <p:sp>
            <p:nvSpPr>
              <p:cNvPr id="98" name="Rectangle 97"/>
              <p:cNvSpPr/>
              <p:nvPr/>
            </p:nvSpPr>
            <p:spPr>
              <a:xfrm>
                <a:off x="6793992" y="4251960"/>
                <a:ext cx="310896" cy="64008"/>
              </a:xfrm>
              <a:prstGeom prst="rect">
                <a:avLst/>
              </a:prstGeom>
              <a:solidFill>
                <a:srgbClr val="9AA0A6"/>
              </a:solidFill>
              <a:ln>
                <a:noFill/>
              </a:ln>
            </p:spPr>
            <p:txBody>
              <a:bodyPr rtlCol="0" anchor="ctr"/>
              <a:lstStyle/>
              <a:p>
                <a:pPr algn="ctr"/>
                <a:endParaRPr/>
              </a:p>
            </p:txBody>
          </p:sp>
          <p:sp>
            <p:nvSpPr>
              <p:cNvPr id="99" name="Rectangle 98"/>
              <p:cNvSpPr/>
              <p:nvPr/>
            </p:nvSpPr>
            <p:spPr>
              <a:xfrm>
                <a:off x="6894576" y="3310128"/>
                <a:ext cx="109728" cy="1005840"/>
              </a:xfrm>
              <a:prstGeom prst="rect">
                <a:avLst/>
              </a:prstGeom>
              <a:solidFill>
                <a:srgbClr val="E8E8E8"/>
              </a:solidFill>
              <a:ln>
                <a:noFill/>
              </a:ln>
            </p:spPr>
            <p:txBody>
              <a:bodyPr rtlCol="0" anchor="ctr"/>
              <a:lstStyle/>
              <a:p>
                <a:pPr algn="ctr"/>
                <a:endParaRPr/>
              </a:p>
            </p:txBody>
          </p:sp>
          <p:sp>
            <p:nvSpPr>
              <p:cNvPr id="100" name="Oval 99"/>
              <p:cNvSpPr/>
              <p:nvPr/>
            </p:nvSpPr>
            <p:spPr>
              <a:xfrm>
                <a:off x="6885432" y="3209544"/>
                <a:ext cx="128016" cy="128016"/>
              </a:xfrm>
              <a:prstGeom prst="ellipse">
                <a:avLst/>
              </a:prstGeom>
              <a:solidFill>
                <a:srgbClr val="E8E8E8"/>
              </a:solidFill>
              <a:ln>
                <a:noFill/>
              </a:ln>
            </p:spPr>
            <p:txBody>
              <a:bodyPr rtlCol="0" anchor="ctr"/>
              <a:lstStyle/>
              <a:p>
                <a:pPr algn="ctr"/>
                <a:endParaRPr/>
              </a:p>
            </p:txBody>
          </p:sp>
          <p:sp>
            <p:nvSpPr>
              <p:cNvPr id="101" name="Freeform 100"/>
              <p:cNvSpPr/>
              <p:nvPr/>
            </p:nvSpPr>
            <p:spPr>
              <a:xfrm>
                <a:off x="6396711" y="3022575"/>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endParaRPr/>
              </a:p>
            </p:txBody>
          </p:sp>
          <p:sp>
            <p:nvSpPr>
              <p:cNvPr id="102" name="Freeform 101"/>
              <p:cNvSpPr/>
              <p:nvPr/>
            </p:nvSpPr>
            <p:spPr>
              <a:xfrm>
                <a:off x="6514388" y="3140252"/>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endParaRPr/>
              </a:p>
            </p:txBody>
          </p:sp>
          <p:sp>
            <p:nvSpPr>
              <p:cNvPr id="103" name="Oval 102"/>
              <p:cNvSpPr/>
              <p:nvPr/>
            </p:nvSpPr>
            <p:spPr>
              <a:xfrm>
                <a:off x="7027164" y="3442716"/>
                <a:ext cx="155448" cy="155448"/>
              </a:xfrm>
              <a:prstGeom prst="ellipse">
                <a:avLst/>
              </a:prstGeom>
              <a:solidFill>
                <a:srgbClr val="3FB950"/>
              </a:solidFill>
              <a:ln w="9525">
                <a:solidFill>
                  <a:srgbClr val="101418"/>
                </a:solidFill>
              </a:ln>
            </p:spPr>
            <p:txBody>
              <a:bodyPr rtlCol="0" anchor="ctr"/>
              <a:lstStyle/>
              <a:p>
                <a:pPr algn="ctr"/>
                <a:endParaRPr/>
              </a:p>
            </p:txBody>
          </p:sp>
          <p:sp>
            <p:nvSpPr>
              <p:cNvPr id="104" name="Rounded Rectangle 103"/>
              <p:cNvSpPr/>
              <p:nvPr/>
            </p:nvSpPr>
            <p:spPr>
              <a:xfrm>
                <a:off x="7150608" y="2926080"/>
                <a:ext cx="86868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CLEAR</a:t>
                </a:r>
              </a:p>
            </p:txBody>
          </p:sp>
        </p:grpSp>
        <p:sp>
          <p:nvSpPr>
            <p:cNvPr id="105" name="Freeform 104"/>
            <p:cNvSpPr/>
            <p:nvPr/>
          </p:nvSpPr>
          <p:spPr>
            <a:xfrm>
              <a:off x="3063240" y="3154680"/>
              <a:ext cx="6336792" cy="1261872"/>
            </a:xfrm>
            <a:custGeom>
              <a:avLst/>
              <a:gdLst/>
              <a:ahLst/>
              <a:cxnLst/>
              <a:rect l="l" t="t" r="r" b="b"/>
              <a:pathLst>
                <a:path w="6336792" h="1261872">
                  <a:moveTo>
                    <a:pt x="0" y="0"/>
                  </a:moveTo>
                  <a:lnTo>
                    <a:pt x="448056" y="0"/>
                  </a:lnTo>
                  <a:lnTo>
                    <a:pt x="448056" y="1261872"/>
                  </a:lnTo>
                  <a:lnTo>
                    <a:pt x="6336792" y="1261872"/>
                  </a:lnTo>
                </a:path>
              </a:pathLst>
            </a:custGeom>
            <a:noFill/>
            <a:ln w="28575">
              <a:solidFill>
                <a:srgbClr val="F28C28"/>
              </a:solidFill>
              <a:prstDash val="dash"/>
            </a:ln>
          </p:spPr>
          <p:txBody>
            <a:bodyPr rtlCol="0" anchor="ctr"/>
            <a:lstStyle/>
            <a:p>
              <a:pPr algn="ctr"/>
              <a:endParaRPr/>
            </a:p>
          </p:txBody>
        </p:sp>
        <p:sp>
          <p:nvSpPr>
            <p:cNvPr id="106" name="Rectangle 105"/>
            <p:cNvSpPr/>
            <p:nvPr/>
          </p:nvSpPr>
          <p:spPr>
            <a:xfrm>
              <a:off x="9272016" y="4352544"/>
              <a:ext cx="128016" cy="128016"/>
            </a:xfrm>
            <a:prstGeom prst="rect">
              <a:avLst/>
            </a:prstGeom>
            <a:solidFill>
              <a:srgbClr val="9AA0A6"/>
            </a:solidFill>
            <a:ln w="9525">
              <a:solidFill>
                <a:srgbClr val="101418"/>
              </a:solidFill>
            </a:ln>
          </p:spPr>
          <p:txBody>
            <a:bodyPr rtlCol="0" anchor="ctr"/>
            <a:lstStyle/>
            <a:p>
              <a:pPr algn="ctr"/>
              <a:endParaRPr/>
            </a:p>
          </p:txBody>
        </p:sp>
        <p:grpSp>
          <p:nvGrpSpPr>
            <p:cNvPr id="107" name="Signal clear" descr="Semaphore stop signal, arm raised: CLEAR."/>
            <p:cNvGrpSpPr/>
            <p:nvPr/>
          </p:nvGrpSpPr>
          <p:grpSpPr>
            <a:xfrm>
              <a:off x="8957031" y="2926080"/>
              <a:ext cx="1622577" cy="1389888"/>
              <a:chOff x="8957031" y="2926080"/>
              <a:chExt cx="1622577" cy="1389888"/>
            </a:xfrm>
          </p:grpSpPr>
          <p:sp>
            <p:nvSpPr>
              <p:cNvPr id="108" name="Rectangle 107"/>
              <p:cNvSpPr/>
              <p:nvPr/>
            </p:nvSpPr>
            <p:spPr>
              <a:xfrm>
                <a:off x="9354312" y="4251960"/>
                <a:ext cx="310896" cy="64008"/>
              </a:xfrm>
              <a:prstGeom prst="rect">
                <a:avLst/>
              </a:prstGeom>
              <a:solidFill>
                <a:srgbClr val="9AA0A6"/>
              </a:solidFill>
              <a:ln>
                <a:noFill/>
              </a:ln>
            </p:spPr>
            <p:txBody>
              <a:bodyPr rtlCol="0" anchor="ctr"/>
              <a:lstStyle/>
              <a:p>
                <a:pPr algn="ctr"/>
                <a:endParaRPr/>
              </a:p>
            </p:txBody>
          </p:sp>
          <p:sp>
            <p:nvSpPr>
              <p:cNvPr id="109" name="Rectangle 108"/>
              <p:cNvSpPr/>
              <p:nvPr/>
            </p:nvSpPr>
            <p:spPr>
              <a:xfrm>
                <a:off x="9454896" y="3310128"/>
                <a:ext cx="109728" cy="1005840"/>
              </a:xfrm>
              <a:prstGeom prst="rect">
                <a:avLst/>
              </a:prstGeom>
              <a:solidFill>
                <a:srgbClr val="E8E8E8"/>
              </a:solidFill>
              <a:ln>
                <a:noFill/>
              </a:ln>
            </p:spPr>
            <p:txBody>
              <a:bodyPr rtlCol="0" anchor="ctr"/>
              <a:lstStyle/>
              <a:p>
                <a:pPr algn="ctr"/>
                <a:endParaRPr/>
              </a:p>
            </p:txBody>
          </p:sp>
          <p:sp>
            <p:nvSpPr>
              <p:cNvPr id="110" name="Oval 109"/>
              <p:cNvSpPr/>
              <p:nvPr/>
            </p:nvSpPr>
            <p:spPr>
              <a:xfrm>
                <a:off x="9445752" y="3209544"/>
                <a:ext cx="128016" cy="128016"/>
              </a:xfrm>
              <a:prstGeom prst="ellipse">
                <a:avLst/>
              </a:prstGeom>
              <a:solidFill>
                <a:srgbClr val="E8E8E8"/>
              </a:solidFill>
              <a:ln>
                <a:noFill/>
              </a:ln>
            </p:spPr>
            <p:txBody>
              <a:bodyPr rtlCol="0" anchor="ctr"/>
              <a:lstStyle/>
              <a:p>
                <a:pPr algn="ctr"/>
                <a:endParaRPr/>
              </a:p>
            </p:txBody>
          </p:sp>
          <p:sp>
            <p:nvSpPr>
              <p:cNvPr id="111" name="Freeform 110"/>
              <p:cNvSpPr/>
              <p:nvPr/>
            </p:nvSpPr>
            <p:spPr>
              <a:xfrm>
                <a:off x="8957031" y="3022575"/>
                <a:ext cx="543125" cy="543125"/>
              </a:xfrm>
              <a:custGeom>
                <a:avLst/>
                <a:gdLst/>
                <a:ahLst/>
                <a:cxnLst/>
                <a:rect l="l" t="t" r="r" b="b"/>
                <a:pathLst>
                  <a:path w="543125" h="543125">
                    <a:moveTo>
                      <a:pt x="543125" y="452605"/>
                    </a:moveTo>
                    <a:lnTo>
                      <a:pt x="90521" y="0"/>
                    </a:lnTo>
                    <a:lnTo>
                      <a:pt x="0" y="90521"/>
                    </a:lnTo>
                    <a:lnTo>
                      <a:pt x="452605" y="543125"/>
                    </a:lnTo>
                    <a:close/>
                  </a:path>
                </a:pathLst>
              </a:custGeom>
              <a:solidFill>
                <a:srgbClr val="E5484D"/>
              </a:solidFill>
              <a:ln w="9525">
                <a:solidFill>
                  <a:srgbClr val="101418"/>
                </a:solidFill>
              </a:ln>
            </p:spPr>
            <p:txBody>
              <a:bodyPr rtlCol="0" anchor="ctr"/>
              <a:lstStyle/>
              <a:p>
                <a:pPr algn="ctr"/>
                <a:endParaRPr/>
              </a:p>
            </p:txBody>
          </p:sp>
          <p:sp>
            <p:nvSpPr>
              <p:cNvPr id="112" name="Freeform 111"/>
              <p:cNvSpPr/>
              <p:nvPr/>
            </p:nvSpPr>
            <p:spPr>
              <a:xfrm>
                <a:off x="9074708" y="3140252"/>
                <a:ext cx="144833" cy="144833"/>
              </a:xfrm>
              <a:custGeom>
                <a:avLst/>
                <a:gdLst/>
                <a:ahLst/>
                <a:cxnLst/>
                <a:rect l="l" t="t" r="r" b="b"/>
                <a:pathLst>
                  <a:path w="144833" h="144833">
                    <a:moveTo>
                      <a:pt x="144833" y="54312"/>
                    </a:moveTo>
                    <a:lnTo>
                      <a:pt x="90521" y="0"/>
                    </a:lnTo>
                    <a:lnTo>
                      <a:pt x="0" y="90521"/>
                    </a:lnTo>
                    <a:lnTo>
                      <a:pt x="54312" y="144833"/>
                    </a:lnTo>
                    <a:close/>
                  </a:path>
                </a:pathLst>
              </a:custGeom>
              <a:solidFill>
                <a:srgbClr val="FFFFFF"/>
              </a:solidFill>
              <a:ln>
                <a:noFill/>
              </a:ln>
            </p:spPr>
            <p:txBody>
              <a:bodyPr rtlCol="0" anchor="ctr"/>
              <a:lstStyle/>
              <a:p>
                <a:pPr algn="ctr"/>
                <a:endParaRPr/>
              </a:p>
            </p:txBody>
          </p:sp>
          <p:sp>
            <p:nvSpPr>
              <p:cNvPr id="113" name="Oval 112"/>
              <p:cNvSpPr/>
              <p:nvPr/>
            </p:nvSpPr>
            <p:spPr>
              <a:xfrm>
                <a:off x="9587484" y="3442716"/>
                <a:ext cx="155448" cy="155448"/>
              </a:xfrm>
              <a:prstGeom prst="ellipse">
                <a:avLst/>
              </a:prstGeom>
              <a:solidFill>
                <a:srgbClr val="3FB950"/>
              </a:solidFill>
              <a:ln w="9525">
                <a:solidFill>
                  <a:srgbClr val="101418"/>
                </a:solidFill>
              </a:ln>
            </p:spPr>
            <p:txBody>
              <a:bodyPr rtlCol="0" anchor="ctr"/>
              <a:lstStyle/>
              <a:p>
                <a:pPr algn="ctr"/>
                <a:endParaRPr/>
              </a:p>
            </p:txBody>
          </p:sp>
          <p:sp>
            <p:nvSpPr>
              <p:cNvPr id="114" name="Rounded Rectangle 113"/>
              <p:cNvSpPr/>
              <p:nvPr/>
            </p:nvSpPr>
            <p:spPr>
              <a:xfrm>
                <a:off x="9710928" y="2926080"/>
                <a:ext cx="86868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CLEAR</a:t>
                </a:r>
              </a:p>
            </p:txBody>
          </p:sp>
        </p:grpSp>
      </p:grpSp>
      <p:grpSp>
        <p:nvGrpSpPr>
          <p:cNvPr id="115" name="Steps" descr="Four steps: 1, the train is in the block. 2, the signaller keeps the signal behind it at stop. 3, the train leaves and the block is free. 4, the signaller pulls the lever and the arm lifts."/>
          <p:cNvGrpSpPr/>
          <p:nvPr/>
        </p:nvGrpSpPr>
        <p:grpSpPr>
          <a:xfrm>
            <a:off x="566928" y="4983480"/>
            <a:ext cx="11091672" cy="365760"/>
            <a:chOff x="566928" y="4983480"/>
            <a:chExt cx="11091672" cy="365760"/>
          </a:xfrm>
        </p:grpSpPr>
        <p:sp>
          <p:nvSpPr>
            <p:cNvPr id="116" name="Badge 1"/>
            <p:cNvSpPr/>
            <p:nvPr/>
          </p:nvSpPr>
          <p:spPr>
            <a:xfrm>
              <a:off x="566928" y="498348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1</a:t>
              </a:r>
            </a:p>
          </p:txBody>
        </p:sp>
        <p:sp>
          <p:nvSpPr>
            <p:cNvPr id="117" name="TextBox 116"/>
            <p:cNvSpPr txBox="1"/>
            <p:nvPr/>
          </p:nvSpPr>
          <p:spPr>
            <a:xfrm>
              <a:off x="1005840" y="4983480"/>
              <a:ext cx="2286000" cy="365760"/>
            </a:xfrm>
            <a:prstGeom prst="rect">
              <a:avLst/>
            </a:prstGeom>
            <a:noFill/>
          </p:spPr>
          <p:txBody>
            <a:bodyPr wrap="square" lIns="0" tIns="0" rIns="0" bIns="0" anchor="ctr">
              <a:noAutofit/>
            </a:bodyPr>
            <a:lstStyle/>
            <a:p>
              <a:pPr algn="l"/>
              <a:r>
                <a:rPr lang="en-GB" sz="1800" b="0" i="0">
                  <a:solidFill>
                    <a:srgbClr val="F2F2F2"/>
                  </a:solidFill>
                  <a:latin typeface="Arial"/>
                </a:rPr>
                <a:t>Train in block</a:t>
              </a:r>
            </a:p>
          </p:txBody>
        </p:sp>
        <p:sp>
          <p:nvSpPr>
            <p:cNvPr id="118" name="Badge 2"/>
            <p:cNvSpPr/>
            <p:nvPr/>
          </p:nvSpPr>
          <p:spPr>
            <a:xfrm>
              <a:off x="3355848" y="498348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2</a:t>
              </a:r>
            </a:p>
          </p:txBody>
        </p:sp>
        <p:sp>
          <p:nvSpPr>
            <p:cNvPr id="119" name="TextBox 118"/>
            <p:cNvSpPr txBox="1"/>
            <p:nvPr/>
          </p:nvSpPr>
          <p:spPr>
            <a:xfrm>
              <a:off x="3794760" y="4983480"/>
              <a:ext cx="2286000" cy="365760"/>
            </a:xfrm>
            <a:prstGeom prst="rect">
              <a:avLst/>
            </a:prstGeom>
            <a:noFill/>
          </p:spPr>
          <p:txBody>
            <a:bodyPr wrap="square" lIns="0" tIns="0" rIns="0" bIns="0" anchor="ctr">
              <a:noAutofit/>
            </a:bodyPr>
            <a:lstStyle/>
            <a:p>
              <a:pPr algn="l"/>
              <a:r>
                <a:rPr lang="en-GB" sz="1800" b="0" i="0">
                  <a:solidFill>
                    <a:srgbClr val="F2F2F2"/>
                  </a:solidFill>
                  <a:latin typeface="Arial"/>
                </a:rPr>
                <a:t>Signal at STOP</a:t>
              </a:r>
            </a:p>
          </p:txBody>
        </p:sp>
        <p:sp>
          <p:nvSpPr>
            <p:cNvPr id="120" name="Badge 3"/>
            <p:cNvSpPr/>
            <p:nvPr/>
          </p:nvSpPr>
          <p:spPr>
            <a:xfrm>
              <a:off x="6144768" y="498348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3</a:t>
              </a:r>
            </a:p>
          </p:txBody>
        </p:sp>
        <p:sp>
          <p:nvSpPr>
            <p:cNvPr id="121" name="TextBox 120"/>
            <p:cNvSpPr txBox="1"/>
            <p:nvPr/>
          </p:nvSpPr>
          <p:spPr>
            <a:xfrm>
              <a:off x="6583680" y="4983480"/>
              <a:ext cx="2286000" cy="365760"/>
            </a:xfrm>
            <a:prstGeom prst="rect">
              <a:avLst/>
            </a:prstGeom>
            <a:noFill/>
          </p:spPr>
          <p:txBody>
            <a:bodyPr wrap="square" lIns="0" tIns="0" rIns="0" bIns="0" anchor="ctr">
              <a:noAutofit/>
            </a:bodyPr>
            <a:lstStyle/>
            <a:p>
              <a:pPr algn="l"/>
              <a:r>
                <a:rPr lang="en-GB" sz="1800" b="0" i="0">
                  <a:solidFill>
                    <a:srgbClr val="F2F2F2"/>
                  </a:solidFill>
                  <a:latin typeface="Arial"/>
                </a:rPr>
                <a:t>Train leaves</a:t>
              </a:r>
            </a:p>
          </p:txBody>
        </p:sp>
        <p:sp>
          <p:nvSpPr>
            <p:cNvPr id="122" name="Badge 4"/>
            <p:cNvSpPr/>
            <p:nvPr/>
          </p:nvSpPr>
          <p:spPr>
            <a:xfrm>
              <a:off x="8933688" y="4983480"/>
              <a:ext cx="365760" cy="365760"/>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4</a:t>
              </a:r>
            </a:p>
          </p:txBody>
        </p:sp>
        <p:sp>
          <p:nvSpPr>
            <p:cNvPr id="123" name="TextBox 122"/>
            <p:cNvSpPr txBox="1"/>
            <p:nvPr/>
          </p:nvSpPr>
          <p:spPr>
            <a:xfrm>
              <a:off x="9372600" y="4983480"/>
              <a:ext cx="2286000" cy="365760"/>
            </a:xfrm>
            <a:prstGeom prst="rect">
              <a:avLst/>
            </a:prstGeom>
            <a:noFill/>
          </p:spPr>
          <p:txBody>
            <a:bodyPr wrap="square" lIns="0" tIns="0" rIns="0" bIns="0" anchor="ctr">
              <a:noAutofit/>
            </a:bodyPr>
            <a:lstStyle/>
            <a:p>
              <a:pPr algn="l"/>
              <a:r>
                <a:rPr lang="en-GB" sz="1800" b="0" i="0">
                  <a:solidFill>
                    <a:srgbClr val="F2F2F2"/>
                  </a:solidFill>
                  <a:latin typeface="Arial"/>
                </a:rPr>
                <a:t>Lever pulled: arm lifts</a:t>
              </a:r>
            </a:p>
          </p:txBody>
        </p:sp>
      </p:grpSp>
      <p:sp>
        <p:nvSpPr>
          <p:cNvPr id="124" name="In the mod"/>
          <p:cNvSpPr/>
          <p:nvPr/>
        </p:nvSpPr>
        <p:spPr>
          <a:xfrm>
            <a:off x="548640" y="5413248"/>
            <a:ext cx="11091672" cy="310896"/>
          </a:xfrm>
          <a:prstGeom prst="roundRect">
            <a:avLst>
              <a:gd name="adj" fmla="val 17647"/>
            </a:avLst>
          </a:prstGeom>
          <a:solidFill>
            <a:srgbClr val="F2C14E"/>
          </a:solidFill>
          <a:ln>
            <a:noFill/>
          </a:ln>
        </p:spPr>
        <p:txBody>
          <a:bodyPr wrap="square" lIns="182880" tIns="0" bIns="0" rtlCol="0" anchor="ctr">
            <a:noAutofit/>
          </a:bodyPr>
          <a:lstStyle/>
          <a:p>
            <a:pPr algn="l"/>
            <a:r>
              <a:rPr lang="en-GB" sz="1600" b="1" i="0">
                <a:solidFill>
                  <a:srgbClr val="101418"/>
                </a:solidFill>
                <a:latin typeface="Arial"/>
              </a:rPr>
              <a:t>In the mod: no player wiring.</a:t>
            </a:r>
          </a:p>
        </p:txBody>
      </p:sp>
      <p:sp>
        <p:nvSpPr>
          <p:cNvPr id="125" name="Inline chip Agreed"/>
          <p:cNvSpPr/>
          <p:nvPr/>
        </p:nvSpPr>
        <p:spPr>
          <a:xfrm>
            <a:off x="3780790" y="5413248"/>
            <a:ext cx="1121410" cy="310896"/>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The signaller watches the blocks, sets the signals and keeps trains apart.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31</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115"/>
                                        </p:tgtEl>
                                        <p:attrNameLst>
                                          <p:attrName>style.visibility</p:attrName>
                                        </p:attrNameLst>
                                      </p:cBhvr>
                                      <p:to>
                                        <p:strVal val="visible"/>
                                      </p:to>
                                    </p:set>
                                    <p:animEffect transition="in" filter="fade">
                                      <p:cBhvr>
                                        <p:cTn id="10" dur="500"/>
                                        <p:tgtEl>
                                          <p:spTgt spid="115"/>
                                        </p:tgtEl>
                                      </p:cBhvr>
                                    </p:animEffect>
                                  </p:childTnLst>
                                </p:cTn>
                              </p:par>
                              <p:par>
                                <p:cTn id="11" presetID="10" presetClass="entr" presetSubtype="0" fill="hold" nodeType="withEffect">
                                  <p:stCondLst>
                                    <p:cond delay="600"/>
                                  </p:stCondLst>
                                  <p:childTnLst>
                                    <p:set>
                                      <p:cBhvr>
                                        <p:cTn id="12" dur="1" fill="hold">
                                          <p:stCondLst>
                                            <p:cond delay="0"/>
                                          </p:stCondLst>
                                        </p:cTn>
                                        <p:tgtEl>
                                          <p:spTgt spid="124"/>
                                        </p:tgtEl>
                                        <p:attrNameLst>
                                          <p:attrName>style.visibility</p:attrName>
                                        </p:attrNameLst>
                                      </p:cBhvr>
                                      <p:to>
                                        <p:strVal val="visible"/>
                                      </p:to>
                                    </p:set>
                                    <p:animEffect transition="in" filter="fade">
                                      <p:cBhvr>
                                        <p:cTn id="13" dur="500"/>
                                        <p:tgtEl>
                                          <p:spTgt spid="124"/>
                                        </p:tgtEl>
                                      </p:cBhvr>
                                    </p:animEffect>
                                  </p:childTnLst>
                                </p:cTn>
                              </p:par>
                              <p:par>
                                <p:cTn id="14" presetID="10" presetClass="entr" presetSubtype="0" fill="hold" nodeType="withEffect">
                                  <p:stCondLst>
                                    <p:cond delay="900"/>
                                  </p:stCondLst>
                                  <p:childTnLst>
                                    <p:set>
                                      <p:cBhvr>
                                        <p:cTn id="15" dur="1" fill="hold">
                                          <p:stCondLst>
                                            <p:cond delay="0"/>
                                          </p:stCondLst>
                                        </p:cTn>
                                        <p:tgtEl>
                                          <p:spTgt spid="125"/>
                                        </p:tgtEl>
                                        <p:attrNameLst>
                                          <p:attrName>style.visibility</p:attrName>
                                        </p:attrNameLst>
                                      </p:cBhvr>
                                      <p:to>
                                        <p:strVal val="visible"/>
                                      </p:to>
                                    </p:set>
                                    <p:animEffect transition="in" filter="fade">
                                      <p:cBhvr>
                                        <p:cTn id="16" dur="500"/>
                                        <p:tgtEl>
                                          <p:spTgt spid="125"/>
                                        </p:tgtEl>
                                      </p:cBhvr>
                                    </p:animEffect>
                                  </p:childTnLst>
                                </p:cTn>
                              </p:par>
                              <p:par>
                                <p:cTn id="17" presetID="10" presetClass="entr" presetSubtype="0" fill="hold" nodeType="withEffect">
                                  <p:stCondLst>
                                    <p:cond delay="12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1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Early limits</a:t>
            </a:r>
          </a:p>
        </p:txBody>
      </p:sp>
      <p:sp>
        <p:nvSpPr>
          <p:cNvPr id="3" name="Status chip"/>
          <p:cNvSpPr/>
          <p:nvPr/>
        </p:nvSpPr>
        <p:spPr>
          <a:xfrm>
            <a:off x="10088575" y="457200"/>
            <a:ext cx="1554480" cy="365760"/>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grpSp>
        <p:nvGrpSpPr>
          <p:cNvPr id="8" name="Early limits tiles" descr="Four provisional limits: block length about 400 to 500 m; speed cap about 60 km/h; 6 to 8 signals for a station box and 12 to 16 for a dedicated box; box reach about 1 to 1.5 km of track."/>
          <p:cNvGrpSpPr/>
          <p:nvPr/>
        </p:nvGrpSpPr>
        <p:grpSpPr>
          <a:xfrm>
            <a:off x="548640" y="1371600"/>
            <a:ext cx="11091672" cy="2011680"/>
            <a:chOff x="548640" y="1371600"/>
            <a:chExt cx="11091672" cy="2011680"/>
          </a:xfrm>
        </p:grpSpPr>
        <p:sp>
          <p:nvSpPr>
            <p:cNvPr id="9" name="Rounded Rectangle 8"/>
            <p:cNvSpPr/>
            <p:nvPr/>
          </p:nvSpPr>
          <p:spPr>
            <a:xfrm>
              <a:off x="548640" y="1371600"/>
              <a:ext cx="2560320" cy="2011680"/>
            </a:xfrm>
            <a:prstGeom prst="roundRect">
              <a:avLst>
                <a:gd name="adj" fmla="val 4545"/>
              </a:avLst>
            </a:prstGeom>
            <a:solidFill>
              <a:srgbClr val="2B2F36"/>
            </a:solidFill>
            <a:ln>
              <a:noFill/>
            </a:ln>
          </p:spPr>
          <p:txBody>
            <a:bodyPr rtlCol="0" anchor="ctr"/>
            <a:lstStyle/>
            <a:p>
              <a:pPr algn="ctr"/>
              <a:endParaRPr/>
            </a:p>
          </p:txBody>
        </p:sp>
        <p:sp>
          <p:nvSpPr>
            <p:cNvPr id="10" name="TextBox 9"/>
            <p:cNvSpPr txBox="1"/>
            <p:nvPr/>
          </p:nvSpPr>
          <p:spPr>
            <a:xfrm>
              <a:off x="713232" y="1481328"/>
              <a:ext cx="2286000" cy="329184"/>
            </a:xfrm>
            <a:prstGeom prst="rect">
              <a:avLst/>
            </a:prstGeom>
            <a:noFill/>
          </p:spPr>
          <p:txBody>
            <a:bodyPr wrap="square" lIns="0" tIns="0" rIns="0" bIns="0" anchor="t">
              <a:noAutofit/>
            </a:bodyPr>
            <a:lstStyle/>
            <a:p>
              <a:pPr algn="l"/>
              <a:r>
                <a:rPr lang="en-GB" sz="1800" b="1" i="0">
                  <a:solidFill>
                    <a:srgbClr val="F28C28"/>
                  </a:solidFill>
                  <a:latin typeface="Arial"/>
                </a:rPr>
                <a:t>Block length</a:t>
              </a:r>
            </a:p>
          </p:txBody>
        </p:sp>
        <p:sp>
          <p:nvSpPr>
            <p:cNvPr id="11" name="TextBox 10"/>
            <p:cNvSpPr txBox="1"/>
            <p:nvPr/>
          </p:nvSpPr>
          <p:spPr>
            <a:xfrm>
              <a:off x="713232" y="1828800"/>
              <a:ext cx="2286000" cy="1005840"/>
            </a:xfrm>
            <a:prstGeom prst="rect">
              <a:avLst/>
            </a:prstGeom>
            <a:noFill/>
          </p:spPr>
          <p:txBody>
            <a:bodyPr wrap="square" lIns="0" tIns="0" rIns="0" bIns="0" anchor="t">
              <a:noAutofit/>
            </a:bodyPr>
            <a:lstStyle/>
            <a:p>
              <a:pPr algn="l"/>
              <a:r>
                <a:rPr lang="en-GB" sz="1800" b="1" i="0">
                  <a:solidFill>
                    <a:srgbClr val="F2F2F2"/>
                  </a:solidFill>
                  <a:latin typeface="Arial"/>
                </a:rPr>
                <a:t>about 400 to 500 m</a:t>
              </a:r>
            </a:p>
          </p:txBody>
        </p:sp>
        <p:sp>
          <p:nvSpPr>
            <p:cNvPr id="12" name="Inline chip Provisional"/>
            <p:cNvSpPr/>
            <p:nvPr/>
          </p:nvSpPr>
          <p:spPr>
            <a:xfrm>
              <a:off x="713232" y="2907792"/>
              <a:ext cx="1588135" cy="329184"/>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sp>
          <p:nvSpPr>
            <p:cNvPr id="13" name="Rounded Rectangle 12"/>
            <p:cNvSpPr/>
            <p:nvPr/>
          </p:nvSpPr>
          <p:spPr>
            <a:xfrm>
              <a:off x="3392424" y="1371600"/>
              <a:ext cx="2560320" cy="2011680"/>
            </a:xfrm>
            <a:prstGeom prst="roundRect">
              <a:avLst>
                <a:gd name="adj" fmla="val 4545"/>
              </a:avLst>
            </a:prstGeom>
            <a:solidFill>
              <a:srgbClr val="2B2F36"/>
            </a:solidFill>
            <a:ln>
              <a:noFill/>
            </a:ln>
          </p:spPr>
          <p:txBody>
            <a:bodyPr rtlCol="0" anchor="ctr"/>
            <a:lstStyle/>
            <a:p>
              <a:pPr algn="ctr"/>
              <a:endParaRPr/>
            </a:p>
          </p:txBody>
        </p:sp>
        <p:sp>
          <p:nvSpPr>
            <p:cNvPr id="14" name="TextBox 13"/>
            <p:cNvSpPr txBox="1"/>
            <p:nvPr/>
          </p:nvSpPr>
          <p:spPr>
            <a:xfrm>
              <a:off x="3557016" y="1481328"/>
              <a:ext cx="2286000" cy="329184"/>
            </a:xfrm>
            <a:prstGeom prst="rect">
              <a:avLst/>
            </a:prstGeom>
            <a:noFill/>
          </p:spPr>
          <p:txBody>
            <a:bodyPr wrap="square" lIns="0" tIns="0" rIns="0" bIns="0" anchor="t">
              <a:noAutofit/>
            </a:bodyPr>
            <a:lstStyle/>
            <a:p>
              <a:pPr algn="l"/>
              <a:r>
                <a:rPr lang="en-GB" sz="1800" b="1" i="0">
                  <a:solidFill>
                    <a:srgbClr val="F28C28"/>
                  </a:solidFill>
                  <a:latin typeface="Arial"/>
                </a:rPr>
                <a:t>Speed cap</a:t>
              </a:r>
            </a:p>
          </p:txBody>
        </p:sp>
        <p:sp>
          <p:nvSpPr>
            <p:cNvPr id="15" name="TextBox 14"/>
            <p:cNvSpPr txBox="1"/>
            <p:nvPr/>
          </p:nvSpPr>
          <p:spPr>
            <a:xfrm>
              <a:off x="3557016" y="1828800"/>
              <a:ext cx="2286000" cy="1005840"/>
            </a:xfrm>
            <a:prstGeom prst="rect">
              <a:avLst/>
            </a:prstGeom>
            <a:noFill/>
          </p:spPr>
          <p:txBody>
            <a:bodyPr wrap="square" lIns="0" tIns="0" rIns="0" bIns="0" anchor="t">
              <a:noAutofit/>
            </a:bodyPr>
            <a:lstStyle/>
            <a:p>
              <a:pPr algn="l"/>
              <a:r>
                <a:rPr lang="en-GB" sz="1800" b="1" i="0">
                  <a:solidFill>
                    <a:srgbClr val="F2F2F2"/>
                  </a:solidFill>
                  <a:latin typeface="Arial"/>
                </a:rPr>
                <a:t>about 60 km/h</a:t>
              </a:r>
            </a:p>
          </p:txBody>
        </p:sp>
        <p:sp>
          <p:nvSpPr>
            <p:cNvPr id="16" name="Inline chip Provisional"/>
            <p:cNvSpPr/>
            <p:nvPr/>
          </p:nvSpPr>
          <p:spPr>
            <a:xfrm>
              <a:off x="3557016" y="2907792"/>
              <a:ext cx="1588135" cy="329184"/>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sp>
          <p:nvSpPr>
            <p:cNvPr id="17" name="Rounded Rectangle 16"/>
            <p:cNvSpPr/>
            <p:nvPr/>
          </p:nvSpPr>
          <p:spPr>
            <a:xfrm>
              <a:off x="6236208" y="1371600"/>
              <a:ext cx="2560320" cy="2011680"/>
            </a:xfrm>
            <a:prstGeom prst="roundRect">
              <a:avLst>
                <a:gd name="adj" fmla="val 4545"/>
              </a:avLst>
            </a:prstGeom>
            <a:solidFill>
              <a:srgbClr val="2B2F36"/>
            </a:solidFill>
            <a:ln>
              <a:noFill/>
            </a:ln>
          </p:spPr>
          <p:txBody>
            <a:bodyPr rtlCol="0" anchor="ctr"/>
            <a:lstStyle/>
            <a:p>
              <a:pPr algn="ctr"/>
              <a:endParaRPr/>
            </a:p>
          </p:txBody>
        </p:sp>
        <p:sp>
          <p:nvSpPr>
            <p:cNvPr id="18" name="TextBox 17"/>
            <p:cNvSpPr txBox="1"/>
            <p:nvPr/>
          </p:nvSpPr>
          <p:spPr>
            <a:xfrm>
              <a:off x="6400800" y="1481328"/>
              <a:ext cx="2286000" cy="329184"/>
            </a:xfrm>
            <a:prstGeom prst="rect">
              <a:avLst/>
            </a:prstGeom>
            <a:noFill/>
          </p:spPr>
          <p:txBody>
            <a:bodyPr wrap="square" lIns="0" tIns="0" rIns="0" bIns="0" anchor="t">
              <a:noAutofit/>
            </a:bodyPr>
            <a:lstStyle/>
            <a:p>
              <a:pPr algn="l"/>
              <a:r>
                <a:rPr lang="en-GB" sz="1800" b="1" i="0">
                  <a:solidFill>
                    <a:srgbClr val="F28C28"/>
                  </a:solidFill>
                  <a:latin typeface="Arial"/>
                </a:rPr>
                <a:t>Signals per box</a:t>
              </a:r>
            </a:p>
          </p:txBody>
        </p:sp>
        <p:sp>
          <p:nvSpPr>
            <p:cNvPr id="19" name="TextBox 18"/>
            <p:cNvSpPr txBox="1"/>
            <p:nvPr/>
          </p:nvSpPr>
          <p:spPr>
            <a:xfrm>
              <a:off x="6400800" y="1828800"/>
              <a:ext cx="2286000" cy="1005840"/>
            </a:xfrm>
            <a:prstGeom prst="rect">
              <a:avLst/>
            </a:prstGeom>
            <a:noFill/>
          </p:spPr>
          <p:txBody>
            <a:bodyPr wrap="square" lIns="0" tIns="0" rIns="0" bIns="0" anchor="t">
              <a:noAutofit/>
            </a:bodyPr>
            <a:lstStyle/>
            <a:p>
              <a:pPr algn="l"/>
              <a:r>
                <a:rPr lang="en-GB" sz="1800" b="1" i="0">
                  <a:solidFill>
                    <a:srgbClr val="F2F2F2"/>
                  </a:solidFill>
                  <a:latin typeface="Arial"/>
                </a:rPr>
                <a:t>6 to 8 (station box), 12 to 16 (dedicated box)</a:t>
              </a:r>
            </a:p>
          </p:txBody>
        </p:sp>
        <p:sp>
          <p:nvSpPr>
            <p:cNvPr id="20" name="Inline chip Provisional"/>
            <p:cNvSpPr/>
            <p:nvPr/>
          </p:nvSpPr>
          <p:spPr>
            <a:xfrm>
              <a:off x="6400800" y="2907792"/>
              <a:ext cx="1588135" cy="329184"/>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sp>
          <p:nvSpPr>
            <p:cNvPr id="21" name="Rounded Rectangle 20"/>
            <p:cNvSpPr/>
            <p:nvPr/>
          </p:nvSpPr>
          <p:spPr>
            <a:xfrm>
              <a:off x="9079992" y="1371600"/>
              <a:ext cx="2560320" cy="2011680"/>
            </a:xfrm>
            <a:prstGeom prst="roundRect">
              <a:avLst>
                <a:gd name="adj" fmla="val 4545"/>
              </a:avLst>
            </a:prstGeom>
            <a:solidFill>
              <a:srgbClr val="2B2F36"/>
            </a:solidFill>
            <a:ln>
              <a:noFill/>
            </a:ln>
          </p:spPr>
          <p:txBody>
            <a:bodyPr rtlCol="0" anchor="ctr"/>
            <a:lstStyle/>
            <a:p>
              <a:pPr algn="ctr"/>
              <a:endParaRPr/>
            </a:p>
          </p:txBody>
        </p:sp>
        <p:sp>
          <p:nvSpPr>
            <p:cNvPr id="22" name="TextBox 21"/>
            <p:cNvSpPr txBox="1"/>
            <p:nvPr/>
          </p:nvSpPr>
          <p:spPr>
            <a:xfrm>
              <a:off x="9244584" y="1481328"/>
              <a:ext cx="2286000" cy="329184"/>
            </a:xfrm>
            <a:prstGeom prst="rect">
              <a:avLst/>
            </a:prstGeom>
            <a:noFill/>
          </p:spPr>
          <p:txBody>
            <a:bodyPr wrap="square" lIns="0" tIns="0" rIns="0" bIns="0" anchor="t">
              <a:noAutofit/>
            </a:bodyPr>
            <a:lstStyle/>
            <a:p>
              <a:pPr algn="l"/>
              <a:r>
                <a:rPr lang="en-GB" sz="1800" b="1" i="0">
                  <a:solidFill>
                    <a:srgbClr val="F28C28"/>
                  </a:solidFill>
                  <a:latin typeface="Arial"/>
                </a:rPr>
                <a:t>Box reach</a:t>
              </a:r>
            </a:p>
          </p:txBody>
        </p:sp>
        <p:sp>
          <p:nvSpPr>
            <p:cNvPr id="23" name="TextBox 22"/>
            <p:cNvSpPr txBox="1"/>
            <p:nvPr/>
          </p:nvSpPr>
          <p:spPr>
            <a:xfrm>
              <a:off x="9244584" y="1828800"/>
              <a:ext cx="2286000" cy="1005840"/>
            </a:xfrm>
            <a:prstGeom prst="rect">
              <a:avLst/>
            </a:prstGeom>
            <a:noFill/>
          </p:spPr>
          <p:txBody>
            <a:bodyPr wrap="square" lIns="0" tIns="0" rIns="0" bIns="0" anchor="t">
              <a:noAutofit/>
            </a:bodyPr>
            <a:lstStyle/>
            <a:p>
              <a:pPr algn="l"/>
              <a:r>
                <a:rPr lang="en-GB" sz="1800" b="1" i="0">
                  <a:solidFill>
                    <a:srgbClr val="F2F2F2"/>
                  </a:solidFill>
                  <a:latin typeface="Arial"/>
                </a:rPr>
                <a:t>about 1 to 1.5 km of track</a:t>
              </a:r>
            </a:p>
          </p:txBody>
        </p:sp>
        <p:sp>
          <p:nvSpPr>
            <p:cNvPr id="24" name="Inline chip Provisional"/>
            <p:cNvSpPr/>
            <p:nvPr/>
          </p:nvSpPr>
          <p:spPr>
            <a:xfrm>
              <a:off x="9244584" y="2907792"/>
              <a:ext cx="1588135" cy="329184"/>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grpSp>
      <p:grpSp>
        <p:nvGrpSpPr>
          <p:cNvPr id="25" name="Ruler" descr="A ruler under the track with a signal about every 450 metres, for illustration."/>
          <p:cNvGrpSpPr/>
          <p:nvPr/>
        </p:nvGrpSpPr>
        <p:grpSpPr>
          <a:xfrm>
            <a:off x="457200" y="3770986"/>
            <a:ext cx="10972800" cy="1121054"/>
            <a:chOff x="457200" y="3770986"/>
            <a:chExt cx="10972800" cy="1121054"/>
          </a:xfrm>
        </p:grpSpPr>
        <p:sp>
          <p:nvSpPr>
            <p:cNvPr id="26" name="Rectangle 25"/>
            <p:cNvSpPr/>
            <p:nvPr/>
          </p:nvSpPr>
          <p:spPr>
            <a:xfrm>
              <a:off x="1092708" y="4014216"/>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1412748" y="4014216"/>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1732788" y="4014216"/>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2052828" y="4014216"/>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2372868" y="4014216"/>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2692908" y="401421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3012948" y="401421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3332988" y="401421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3653028" y="401421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3973068" y="401421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4293108" y="401421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4613148" y="401421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4933188" y="401421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5253228" y="4014216"/>
              <a:ext cx="54864" cy="365760"/>
            </a:xfrm>
            <a:prstGeom prst="rect">
              <a:avLst/>
            </a:prstGeom>
            <a:solidFill>
              <a:srgbClr val="6B5B4B"/>
            </a:solidFill>
            <a:ln>
              <a:noFill/>
            </a:ln>
          </p:spPr>
          <p:txBody>
            <a:bodyPr rtlCol="0" anchor="ctr"/>
            <a:lstStyle/>
            <a:p>
              <a:pPr algn="ctr"/>
              <a:endParaRPr/>
            </a:p>
          </p:txBody>
        </p:sp>
        <p:sp>
          <p:nvSpPr>
            <p:cNvPr id="40" name="Rectangle 39"/>
            <p:cNvSpPr/>
            <p:nvPr/>
          </p:nvSpPr>
          <p:spPr>
            <a:xfrm>
              <a:off x="5573268" y="4014216"/>
              <a:ext cx="54864" cy="365760"/>
            </a:xfrm>
            <a:prstGeom prst="rect">
              <a:avLst/>
            </a:prstGeom>
            <a:solidFill>
              <a:srgbClr val="6B5B4B"/>
            </a:solidFill>
            <a:ln>
              <a:noFill/>
            </a:ln>
          </p:spPr>
          <p:txBody>
            <a:bodyPr rtlCol="0" anchor="ctr"/>
            <a:lstStyle/>
            <a:p>
              <a:pPr algn="ctr"/>
              <a:endParaRPr/>
            </a:p>
          </p:txBody>
        </p:sp>
        <p:sp>
          <p:nvSpPr>
            <p:cNvPr id="41" name="Rectangle 40"/>
            <p:cNvSpPr/>
            <p:nvPr/>
          </p:nvSpPr>
          <p:spPr>
            <a:xfrm>
              <a:off x="5893308" y="4014216"/>
              <a:ext cx="54864" cy="365760"/>
            </a:xfrm>
            <a:prstGeom prst="rect">
              <a:avLst/>
            </a:prstGeom>
            <a:solidFill>
              <a:srgbClr val="6B5B4B"/>
            </a:solidFill>
            <a:ln>
              <a:noFill/>
            </a:ln>
          </p:spPr>
          <p:txBody>
            <a:bodyPr rtlCol="0" anchor="ctr"/>
            <a:lstStyle/>
            <a:p>
              <a:pPr algn="ctr"/>
              <a:endParaRPr/>
            </a:p>
          </p:txBody>
        </p:sp>
        <p:sp>
          <p:nvSpPr>
            <p:cNvPr id="42" name="Rectangle 41"/>
            <p:cNvSpPr/>
            <p:nvPr/>
          </p:nvSpPr>
          <p:spPr>
            <a:xfrm>
              <a:off x="6213348" y="4014216"/>
              <a:ext cx="54864" cy="365760"/>
            </a:xfrm>
            <a:prstGeom prst="rect">
              <a:avLst/>
            </a:prstGeom>
            <a:solidFill>
              <a:srgbClr val="6B5B4B"/>
            </a:solidFill>
            <a:ln>
              <a:noFill/>
            </a:ln>
          </p:spPr>
          <p:txBody>
            <a:bodyPr rtlCol="0" anchor="ctr"/>
            <a:lstStyle/>
            <a:p>
              <a:pPr algn="ctr"/>
              <a:endParaRPr/>
            </a:p>
          </p:txBody>
        </p:sp>
        <p:sp>
          <p:nvSpPr>
            <p:cNvPr id="43" name="Rectangle 42"/>
            <p:cNvSpPr/>
            <p:nvPr/>
          </p:nvSpPr>
          <p:spPr>
            <a:xfrm>
              <a:off x="6533388" y="4014216"/>
              <a:ext cx="54864" cy="365760"/>
            </a:xfrm>
            <a:prstGeom prst="rect">
              <a:avLst/>
            </a:prstGeom>
            <a:solidFill>
              <a:srgbClr val="6B5B4B"/>
            </a:solidFill>
            <a:ln>
              <a:noFill/>
            </a:ln>
          </p:spPr>
          <p:txBody>
            <a:bodyPr rtlCol="0" anchor="ctr"/>
            <a:lstStyle/>
            <a:p>
              <a:pPr algn="ctr"/>
              <a:endParaRPr/>
            </a:p>
          </p:txBody>
        </p:sp>
        <p:sp>
          <p:nvSpPr>
            <p:cNvPr id="44" name="Rectangle 43"/>
            <p:cNvSpPr/>
            <p:nvPr/>
          </p:nvSpPr>
          <p:spPr>
            <a:xfrm>
              <a:off x="6853428" y="4014216"/>
              <a:ext cx="54864" cy="365760"/>
            </a:xfrm>
            <a:prstGeom prst="rect">
              <a:avLst/>
            </a:prstGeom>
            <a:solidFill>
              <a:srgbClr val="6B5B4B"/>
            </a:solidFill>
            <a:ln>
              <a:noFill/>
            </a:ln>
          </p:spPr>
          <p:txBody>
            <a:bodyPr rtlCol="0" anchor="ctr"/>
            <a:lstStyle/>
            <a:p>
              <a:pPr algn="ctr"/>
              <a:endParaRPr/>
            </a:p>
          </p:txBody>
        </p:sp>
        <p:sp>
          <p:nvSpPr>
            <p:cNvPr id="45" name="Rectangle 44"/>
            <p:cNvSpPr/>
            <p:nvPr/>
          </p:nvSpPr>
          <p:spPr>
            <a:xfrm>
              <a:off x="7173468" y="4014216"/>
              <a:ext cx="54864" cy="365760"/>
            </a:xfrm>
            <a:prstGeom prst="rect">
              <a:avLst/>
            </a:prstGeom>
            <a:solidFill>
              <a:srgbClr val="6B5B4B"/>
            </a:solidFill>
            <a:ln>
              <a:noFill/>
            </a:ln>
          </p:spPr>
          <p:txBody>
            <a:bodyPr rtlCol="0" anchor="ctr"/>
            <a:lstStyle/>
            <a:p>
              <a:pPr algn="ctr"/>
              <a:endParaRPr/>
            </a:p>
          </p:txBody>
        </p:sp>
        <p:sp>
          <p:nvSpPr>
            <p:cNvPr id="46" name="Rectangle 45"/>
            <p:cNvSpPr/>
            <p:nvPr/>
          </p:nvSpPr>
          <p:spPr>
            <a:xfrm>
              <a:off x="7493508" y="4014216"/>
              <a:ext cx="54864" cy="365760"/>
            </a:xfrm>
            <a:prstGeom prst="rect">
              <a:avLst/>
            </a:prstGeom>
            <a:solidFill>
              <a:srgbClr val="6B5B4B"/>
            </a:solidFill>
            <a:ln>
              <a:noFill/>
            </a:ln>
          </p:spPr>
          <p:txBody>
            <a:bodyPr rtlCol="0" anchor="ctr"/>
            <a:lstStyle/>
            <a:p>
              <a:pPr algn="ctr"/>
              <a:endParaRPr/>
            </a:p>
          </p:txBody>
        </p:sp>
        <p:sp>
          <p:nvSpPr>
            <p:cNvPr id="47" name="Rectangle 46"/>
            <p:cNvSpPr/>
            <p:nvPr/>
          </p:nvSpPr>
          <p:spPr>
            <a:xfrm>
              <a:off x="7813548" y="4014216"/>
              <a:ext cx="54864" cy="365760"/>
            </a:xfrm>
            <a:prstGeom prst="rect">
              <a:avLst/>
            </a:prstGeom>
            <a:solidFill>
              <a:srgbClr val="6B5B4B"/>
            </a:solidFill>
            <a:ln>
              <a:noFill/>
            </a:ln>
          </p:spPr>
          <p:txBody>
            <a:bodyPr rtlCol="0" anchor="ctr"/>
            <a:lstStyle/>
            <a:p>
              <a:pPr algn="ctr"/>
              <a:endParaRPr/>
            </a:p>
          </p:txBody>
        </p:sp>
        <p:sp>
          <p:nvSpPr>
            <p:cNvPr id="48" name="Rectangle 47"/>
            <p:cNvSpPr/>
            <p:nvPr/>
          </p:nvSpPr>
          <p:spPr>
            <a:xfrm>
              <a:off x="8133588" y="4014216"/>
              <a:ext cx="54864" cy="365760"/>
            </a:xfrm>
            <a:prstGeom prst="rect">
              <a:avLst/>
            </a:prstGeom>
            <a:solidFill>
              <a:srgbClr val="6B5B4B"/>
            </a:solidFill>
            <a:ln>
              <a:noFill/>
            </a:ln>
          </p:spPr>
          <p:txBody>
            <a:bodyPr rtlCol="0" anchor="ctr"/>
            <a:lstStyle/>
            <a:p>
              <a:pPr algn="ctr"/>
              <a:endParaRPr/>
            </a:p>
          </p:txBody>
        </p:sp>
        <p:sp>
          <p:nvSpPr>
            <p:cNvPr id="49" name="Rectangle 48"/>
            <p:cNvSpPr/>
            <p:nvPr/>
          </p:nvSpPr>
          <p:spPr>
            <a:xfrm>
              <a:off x="8453628" y="4014216"/>
              <a:ext cx="54864" cy="365760"/>
            </a:xfrm>
            <a:prstGeom prst="rect">
              <a:avLst/>
            </a:prstGeom>
            <a:solidFill>
              <a:srgbClr val="6B5B4B"/>
            </a:solidFill>
            <a:ln>
              <a:noFill/>
            </a:ln>
          </p:spPr>
          <p:txBody>
            <a:bodyPr rtlCol="0" anchor="ctr"/>
            <a:lstStyle/>
            <a:p>
              <a:pPr algn="ctr"/>
              <a:endParaRPr/>
            </a:p>
          </p:txBody>
        </p:sp>
        <p:sp>
          <p:nvSpPr>
            <p:cNvPr id="50" name="Rectangle 49"/>
            <p:cNvSpPr/>
            <p:nvPr/>
          </p:nvSpPr>
          <p:spPr>
            <a:xfrm>
              <a:off x="8773668" y="4014216"/>
              <a:ext cx="54864" cy="365760"/>
            </a:xfrm>
            <a:prstGeom prst="rect">
              <a:avLst/>
            </a:prstGeom>
            <a:solidFill>
              <a:srgbClr val="6B5B4B"/>
            </a:solidFill>
            <a:ln>
              <a:noFill/>
            </a:ln>
          </p:spPr>
          <p:txBody>
            <a:bodyPr rtlCol="0" anchor="ctr"/>
            <a:lstStyle/>
            <a:p>
              <a:pPr algn="ctr"/>
              <a:endParaRPr/>
            </a:p>
          </p:txBody>
        </p:sp>
        <p:sp>
          <p:nvSpPr>
            <p:cNvPr id="51" name="Rectangle 50"/>
            <p:cNvSpPr/>
            <p:nvPr/>
          </p:nvSpPr>
          <p:spPr>
            <a:xfrm>
              <a:off x="9093708" y="4014216"/>
              <a:ext cx="54864" cy="365760"/>
            </a:xfrm>
            <a:prstGeom prst="rect">
              <a:avLst/>
            </a:prstGeom>
            <a:solidFill>
              <a:srgbClr val="6B5B4B"/>
            </a:solidFill>
            <a:ln>
              <a:noFill/>
            </a:ln>
          </p:spPr>
          <p:txBody>
            <a:bodyPr rtlCol="0" anchor="ctr"/>
            <a:lstStyle/>
            <a:p>
              <a:pPr algn="ctr"/>
              <a:endParaRPr/>
            </a:p>
          </p:txBody>
        </p:sp>
        <p:sp>
          <p:nvSpPr>
            <p:cNvPr id="52" name="Rectangle 51"/>
            <p:cNvSpPr/>
            <p:nvPr/>
          </p:nvSpPr>
          <p:spPr>
            <a:xfrm>
              <a:off x="9413748" y="4014216"/>
              <a:ext cx="54864" cy="365760"/>
            </a:xfrm>
            <a:prstGeom prst="rect">
              <a:avLst/>
            </a:prstGeom>
            <a:solidFill>
              <a:srgbClr val="6B5B4B"/>
            </a:solidFill>
            <a:ln>
              <a:noFill/>
            </a:ln>
          </p:spPr>
          <p:txBody>
            <a:bodyPr rtlCol="0" anchor="ctr"/>
            <a:lstStyle/>
            <a:p>
              <a:pPr algn="ctr"/>
              <a:endParaRPr/>
            </a:p>
          </p:txBody>
        </p:sp>
        <p:sp>
          <p:nvSpPr>
            <p:cNvPr id="53" name="Rectangle 52"/>
            <p:cNvSpPr/>
            <p:nvPr/>
          </p:nvSpPr>
          <p:spPr>
            <a:xfrm>
              <a:off x="9733788" y="4014216"/>
              <a:ext cx="54864" cy="365760"/>
            </a:xfrm>
            <a:prstGeom prst="rect">
              <a:avLst/>
            </a:prstGeom>
            <a:solidFill>
              <a:srgbClr val="6B5B4B"/>
            </a:solidFill>
            <a:ln>
              <a:noFill/>
            </a:ln>
          </p:spPr>
          <p:txBody>
            <a:bodyPr rtlCol="0" anchor="ctr"/>
            <a:lstStyle/>
            <a:p>
              <a:pPr algn="ctr"/>
              <a:endParaRPr/>
            </a:p>
          </p:txBody>
        </p:sp>
        <p:sp>
          <p:nvSpPr>
            <p:cNvPr id="54" name="Rectangle 53"/>
            <p:cNvSpPr/>
            <p:nvPr/>
          </p:nvSpPr>
          <p:spPr>
            <a:xfrm>
              <a:off x="10053828" y="4014216"/>
              <a:ext cx="54864" cy="365760"/>
            </a:xfrm>
            <a:prstGeom prst="rect">
              <a:avLst/>
            </a:prstGeom>
            <a:solidFill>
              <a:srgbClr val="6B5B4B"/>
            </a:solidFill>
            <a:ln>
              <a:noFill/>
            </a:ln>
          </p:spPr>
          <p:txBody>
            <a:bodyPr rtlCol="0" anchor="ctr"/>
            <a:lstStyle/>
            <a:p>
              <a:pPr algn="ctr"/>
              <a:endParaRPr/>
            </a:p>
          </p:txBody>
        </p:sp>
        <p:sp>
          <p:nvSpPr>
            <p:cNvPr id="55" name="Rectangle 54"/>
            <p:cNvSpPr/>
            <p:nvPr/>
          </p:nvSpPr>
          <p:spPr>
            <a:xfrm>
              <a:off x="10373868" y="4014216"/>
              <a:ext cx="54864" cy="365760"/>
            </a:xfrm>
            <a:prstGeom prst="rect">
              <a:avLst/>
            </a:prstGeom>
            <a:solidFill>
              <a:srgbClr val="6B5B4B"/>
            </a:solidFill>
            <a:ln>
              <a:noFill/>
            </a:ln>
          </p:spPr>
          <p:txBody>
            <a:bodyPr rtlCol="0" anchor="ctr"/>
            <a:lstStyle/>
            <a:p>
              <a:pPr algn="ctr"/>
              <a:endParaRPr/>
            </a:p>
          </p:txBody>
        </p:sp>
        <p:sp>
          <p:nvSpPr>
            <p:cNvPr id="56" name="Rectangle 55"/>
            <p:cNvSpPr/>
            <p:nvPr/>
          </p:nvSpPr>
          <p:spPr>
            <a:xfrm>
              <a:off x="10693908" y="4014216"/>
              <a:ext cx="54864" cy="365760"/>
            </a:xfrm>
            <a:prstGeom prst="rect">
              <a:avLst/>
            </a:prstGeom>
            <a:solidFill>
              <a:srgbClr val="6B5B4B"/>
            </a:solidFill>
            <a:ln>
              <a:noFill/>
            </a:ln>
          </p:spPr>
          <p:txBody>
            <a:bodyPr rtlCol="0" anchor="ctr"/>
            <a:lstStyle/>
            <a:p>
              <a:pPr algn="ctr"/>
              <a:endParaRPr/>
            </a:p>
          </p:txBody>
        </p:sp>
        <p:sp>
          <p:nvSpPr>
            <p:cNvPr id="57" name="Rectangle 56"/>
            <p:cNvSpPr/>
            <p:nvPr/>
          </p:nvSpPr>
          <p:spPr>
            <a:xfrm>
              <a:off x="11013948" y="4014216"/>
              <a:ext cx="54864" cy="365760"/>
            </a:xfrm>
            <a:prstGeom prst="rect">
              <a:avLst/>
            </a:prstGeom>
            <a:solidFill>
              <a:srgbClr val="6B5B4B"/>
            </a:solidFill>
            <a:ln>
              <a:noFill/>
            </a:ln>
          </p:spPr>
          <p:txBody>
            <a:bodyPr rtlCol="0" anchor="ctr"/>
            <a:lstStyle/>
            <a:p>
              <a:pPr algn="ctr"/>
              <a:endParaRPr/>
            </a:p>
          </p:txBody>
        </p:sp>
        <p:sp>
          <p:nvSpPr>
            <p:cNvPr id="58" name="Rectangle 57"/>
            <p:cNvSpPr/>
            <p:nvPr/>
          </p:nvSpPr>
          <p:spPr>
            <a:xfrm>
              <a:off x="822960" y="4041648"/>
              <a:ext cx="10515600" cy="54864"/>
            </a:xfrm>
            <a:prstGeom prst="rect">
              <a:avLst/>
            </a:prstGeom>
            <a:solidFill>
              <a:srgbClr val="9AA0A6"/>
            </a:solidFill>
            <a:ln>
              <a:noFill/>
            </a:ln>
          </p:spPr>
          <p:txBody>
            <a:bodyPr rtlCol="0" anchor="ctr"/>
            <a:lstStyle/>
            <a:p>
              <a:pPr algn="ctr"/>
              <a:endParaRPr/>
            </a:p>
          </p:txBody>
        </p:sp>
        <p:sp>
          <p:nvSpPr>
            <p:cNvPr id="59" name="Rectangle 58"/>
            <p:cNvSpPr/>
            <p:nvPr/>
          </p:nvSpPr>
          <p:spPr>
            <a:xfrm>
              <a:off x="822960" y="4297680"/>
              <a:ext cx="10515600" cy="54864"/>
            </a:xfrm>
            <a:prstGeom prst="rect">
              <a:avLst/>
            </a:prstGeom>
            <a:solidFill>
              <a:srgbClr val="9AA0A6"/>
            </a:solidFill>
            <a:ln>
              <a:noFill/>
            </a:ln>
          </p:spPr>
          <p:txBody>
            <a:bodyPr rtlCol="0" anchor="ctr"/>
            <a:lstStyle/>
            <a:p>
              <a:pPr algn="ctr"/>
              <a:endParaRPr/>
            </a:p>
          </p:txBody>
        </p:sp>
        <p:grpSp>
          <p:nvGrpSpPr>
            <p:cNvPr id="60" name="Signal stop" descr="Semaphore stop signal, arm flat: STOP."/>
            <p:cNvGrpSpPr/>
            <p:nvPr/>
          </p:nvGrpSpPr>
          <p:grpSpPr>
            <a:xfrm>
              <a:off x="588874" y="3770986"/>
              <a:ext cx="556869" cy="663854"/>
              <a:chOff x="588874" y="3770986"/>
              <a:chExt cx="556869" cy="663854"/>
            </a:xfrm>
          </p:grpSpPr>
          <p:sp>
            <p:nvSpPr>
              <p:cNvPr id="61" name="Rectangle 60"/>
              <p:cNvSpPr/>
              <p:nvPr/>
            </p:nvSpPr>
            <p:spPr>
              <a:xfrm>
                <a:off x="912571" y="4396435"/>
                <a:ext cx="186538" cy="38405"/>
              </a:xfrm>
              <a:prstGeom prst="rect">
                <a:avLst/>
              </a:prstGeom>
              <a:solidFill>
                <a:srgbClr val="9AA0A6"/>
              </a:solidFill>
              <a:ln>
                <a:noFill/>
              </a:ln>
            </p:spPr>
            <p:txBody>
              <a:bodyPr rtlCol="0" anchor="ctr"/>
              <a:lstStyle/>
              <a:p>
                <a:pPr algn="ctr"/>
                <a:endParaRPr/>
              </a:p>
            </p:txBody>
          </p:sp>
          <p:sp>
            <p:nvSpPr>
              <p:cNvPr id="62" name="Rectangle 61"/>
              <p:cNvSpPr/>
              <p:nvPr/>
            </p:nvSpPr>
            <p:spPr>
              <a:xfrm>
                <a:off x="972922" y="3831336"/>
                <a:ext cx="65837" cy="603504"/>
              </a:xfrm>
              <a:prstGeom prst="rect">
                <a:avLst/>
              </a:prstGeom>
              <a:solidFill>
                <a:srgbClr val="E8E8E8"/>
              </a:solidFill>
              <a:ln>
                <a:noFill/>
              </a:ln>
            </p:spPr>
            <p:txBody>
              <a:bodyPr rtlCol="0" anchor="ctr"/>
              <a:lstStyle/>
              <a:p>
                <a:pPr algn="ctr"/>
                <a:endParaRPr/>
              </a:p>
            </p:txBody>
          </p:sp>
          <p:sp>
            <p:nvSpPr>
              <p:cNvPr id="63" name="Oval 62"/>
              <p:cNvSpPr/>
              <p:nvPr/>
            </p:nvSpPr>
            <p:spPr>
              <a:xfrm>
                <a:off x="967435" y="3770986"/>
                <a:ext cx="76810" cy="76810"/>
              </a:xfrm>
              <a:prstGeom prst="ellipse">
                <a:avLst/>
              </a:prstGeom>
              <a:solidFill>
                <a:srgbClr val="E8E8E8"/>
              </a:solidFill>
              <a:ln>
                <a:noFill/>
              </a:ln>
            </p:spPr>
            <p:txBody>
              <a:bodyPr rtlCol="0" anchor="ctr"/>
              <a:lstStyle/>
              <a:p>
                <a:pPr algn="ctr"/>
                <a:endParaRPr/>
              </a:p>
            </p:txBody>
          </p:sp>
          <p:sp>
            <p:nvSpPr>
              <p:cNvPr id="64" name="Freeform 63"/>
              <p:cNvSpPr/>
              <p:nvPr/>
            </p:nvSpPr>
            <p:spPr>
              <a:xfrm>
                <a:off x="588874"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endParaRPr/>
              </a:p>
            </p:txBody>
          </p:sp>
          <p:sp>
            <p:nvSpPr>
              <p:cNvPr id="65" name="Freeform 64"/>
              <p:cNvSpPr/>
              <p:nvPr/>
            </p:nvSpPr>
            <p:spPr>
              <a:xfrm>
                <a:off x="688726"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endParaRPr/>
              </a:p>
            </p:txBody>
          </p:sp>
          <p:sp>
            <p:nvSpPr>
              <p:cNvPr id="66" name="Oval 65"/>
              <p:cNvSpPr/>
              <p:nvPr/>
            </p:nvSpPr>
            <p:spPr>
              <a:xfrm>
                <a:off x="1052474" y="3910889"/>
                <a:ext cx="93269" cy="93269"/>
              </a:xfrm>
              <a:prstGeom prst="ellipse">
                <a:avLst/>
              </a:prstGeom>
              <a:solidFill>
                <a:srgbClr val="E5484D"/>
              </a:solidFill>
              <a:ln w="9525">
                <a:solidFill>
                  <a:srgbClr val="101418"/>
                </a:solidFill>
              </a:ln>
            </p:spPr>
            <p:txBody>
              <a:bodyPr rtlCol="0" anchor="ctr"/>
              <a:lstStyle/>
              <a:p>
                <a:pPr algn="ctr"/>
                <a:endParaRPr/>
              </a:p>
            </p:txBody>
          </p:sp>
        </p:grpSp>
        <p:cxnSp>
          <p:nvCxnSpPr>
            <p:cNvPr id="67" name="Connector 66"/>
            <p:cNvCxnSpPr/>
            <p:nvPr/>
          </p:nvCxnSpPr>
          <p:spPr>
            <a:xfrm>
              <a:off x="1005840" y="4480560"/>
              <a:ext cx="0" cy="137160"/>
            </a:xfrm>
            <a:prstGeom prst="line">
              <a:avLst/>
            </a:prstGeom>
            <a:ln w="19050">
              <a:solidFill>
                <a:srgbClr val="A9B0B8"/>
              </a:solidFill>
            </a:ln>
          </p:spPr>
        </p:cxnSp>
        <p:sp>
          <p:nvSpPr>
            <p:cNvPr id="68" name="TextBox 67"/>
            <p:cNvSpPr txBox="1"/>
            <p:nvPr/>
          </p:nvSpPr>
          <p:spPr>
            <a:xfrm>
              <a:off x="457200" y="4617720"/>
              <a:ext cx="1097280" cy="274320"/>
            </a:xfrm>
            <a:prstGeom prst="rect">
              <a:avLst/>
            </a:prstGeom>
            <a:noFill/>
          </p:spPr>
          <p:txBody>
            <a:bodyPr wrap="square" lIns="0" tIns="0" rIns="0" bIns="0" anchor="t">
              <a:noAutofit/>
            </a:bodyPr>
            <a:lstStyle/>
            <a:p>
              <a:pPr algn="ctr"/>
              <a:r>
                <a:rPr lang="en-GB" sz="1400" b="0" i="0">
                  <a:solidFill>
                    <a:srgbClr val="A9B0B8"/>
                  </a:solidFill>
                  <a:latin typeface="Arial"/>
                </a:rPr>
                <a:t>0 m</a:t>
              </a:r>
            </a:p>
          </p:txBody>
        </p:sp>
        <p:grpSp>
          <p:nvGrpSpPr>
            <p:cNvPr id="69" name="Signal stop" descr="Semaphore stop signal, arm flat: STOP."/>
            <p:cNvGrpSpPr/>
            <p:nvPr/>
          </p:nvGrpSpPr>
          <p:grpSpPr>
            <a:xfrm>
              <a:off x="2563978" y="3770986"/>
              <a:ext cx="556869" cy="663854"/>
              <a:chOff x="2563978" y="3770986"/>
              <a:chExt cx="556869" cy="663854"/>
            </a:xfrm>
          </p:grpSpPr>
          <p:sp>
            <p:nvSpPr>
              <p:cNvPr id="70" name="Rectangle 69"/>
              <p:cNvSpPr/>
              <p:nvPr/>
            </p:nvSpPr>
            <p:spPr>
              <a:xfrm>
                <a:off x="2887675" y="4396435"/>
                <a:ext cx="186538" cy="38405"/>
              </a:xfrm>
              <a:prstGeom prst="rect">
                <a:avLst/>
              </a:prstGeom>
              <a:solidFill>
                <a:srgbClr val="9AA0A6"/>
              </a:solidFill>
              <a:ln>
                <a:noFill/>
              </a:ln>
            </p:spPr>
            <p:txBody>
              <a:bodyPr rtlCol="0" anchor="ctr"/>
              <a:lstStyle/>
              <a:p>
                <a:pPr algn="ctr"/>
                <a:endParaRPr/>
              </a:p>
            </p:txBody>
          </p:sp>
          <p:sp>
            <p:nvSpPr>
              <p:cNvPr id="71" name="Rectangle 70"/>
              <p:cNvSpPr/>
              <p:nvPr/>
            </p:nvSpPr>
            <p:spPr>
              <a:xfrm>
                <a:off x="2948026" y="3831336"/>
                <a:ext cx="65837" cy="603504"/>
              </a:xfrm>
              <a:prstGeom prst="rect">
                <a:avLst/>
              </a:prstGeom>
              <a:solidFill>
                <a:srgbClr val="E8E8E8"/>
              </a:solidFill>
              <a:ln>
                <a:noFill/>
              </a:ln>
            </p:spPr>
            <p:txBody>
              <a:bodyPr rtlCol="0" anchor="ctr"/>
              <a:lstStyle/>
              <a:p>
                <a:pPr algn="ctr"/>
                <a:endParaRPr/>
              </a:p>
            </p:txBody>
          </p:sp>
          <p:sp>
            <p:nvSpPr>
              <p:cNvPr id="72" name="Oval 71"/>
              <p:cNvSpPr/>
              <p:nvPr/>
            </p:nvSpPr>
            <p:spPr>
              <a:xfrm>
                <a:off x="2942539" y="3770986"/>
                <a:ext cx="76810" cy="76810"/>
              </a:xfrm>
              <a:prstGeom prst="ellipse">
                <a:avLst/>
              </a:prstGeom>
              <a:solidFill>
                <a:srgbClr val="E8E8E8"/>
              </a:solidFill>
              <a:ln>
                <a:noFill/>
              </a:ln>
            </p:spPr>
            <p:txBody>
              <a:bodyPr rtlCol="0" anchor="ctr"/>
              <a:lstStyle/>
              <a:p>
                <a:pPr algn="ctr"/>
                <a:endParaRPr/>
              </a:p>
            </p:txBody>
          </p:sp>
          <p:sp>
            <p:nvSpPr>
              <p:cNvPr id="73" name="Freeform 72"/>
              <p:cNvSpPr/>
              <p:nvPr/>
            </p:nvSpPr>
            <p:spPr>
              <a:xfrm>
                <a:off x="2563978"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endParaRPr/>
              </a:p>
            </p:txBody>
          </p:sp>
          <p:sp>
            <p:nvSpPr>
              <p:cNvPr id="74" name="Freeform 73"/>
              <p:cNvSpPr/>
              <p:nvPr/>
            </p:nvSpPr>
            <p:spPr>
              <a:xfrm>
                <a:off x="2663830"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endParaRPr/>
              </a:p>
            </p:txBody>
          </p:sp>
          <p:sp>
            <p:nvSpPr>
              <p:cNvPr id="75" name="Oval 74"/>
              <p:cNvSpPr/>
              <p:nvPr/>
            </p:nvSpPr>
            <p:spPr>
              <a:xfrm>
                <a:off x="3027578" y="3910889"/>
                <a:ext cx="93269" cy="93269"/>
              </a:xfrm>
              <a:prstGeom prst="ellipse">
                <a:avLst/>
              </a:prstGeom>
              <a:solidFill>
                <a:srgbClr val="E5484D"/>
              </a:solidFill>
              <a:ln w="9525">
                <a:solidFill>
                  <a:srgbClr val="101418"/>
                </a:solidFill>
              </a:ln>
            </p:spPr>
            <p:txBody>
              <a:bodyPr rtlCol="0" anchor="ctr"/>
              <a:lstStyle/>
              <a:p>
                <a:pPr algn="ctr"/>
                <a:endParaRPr/>
              </a:p>
            </p:txBody>
          </p:sp>
        </p:grpSp>
        <p:cxnSp>
          <p:nvCxnSpPr>
            <p:cNvPr id="76" name="Connector 75"/>
            <p:cNvCxnSpPr/>
            <p:nvPr/>
          </p:nvCxnSpPr>
          <p:spPr>
            <a:xfrm>
              <a:off x="2980944" y="4480560"/>
              <a:ext cx="0" cy="137160"/>
            </a:xfrm>
            <a:prstGeom prst="line">
              <a:avLst/>
            </a:prstGeom>
            <a:ln w="19050">
              <a:solidFill>
                <a:srgbClr val="A9B0B8"/>
              </a:solidFill>
            </a:ln>
          </p:spPr>
        </p:cxnSp>
        <p:sp>
          <p:nvSpPr>
            <p:cNvPr id="77" name="TextBox 76"/>
            <p:cNvSpPr txBox="1"/>
            <p:nvPr/>
          </p:nvSpPr>
          <p:spPr>
            <a:xfrm>
              <a:off x="2432304" y="4617720"/>
              <a:ext cx="1097280" cy="274320"/>
            </a:xfrm>
            <a:prstGeom prst="rect">
              <a:avLst/>
            </a:prstGeom>
            <a:noFill/>
          </p:spPr>
          <p:txBody>
            <a:bodyPr wrap="square" lIns="0" tIns="0" rIns="0" bIns="0" anchor="t">
              <a:noAutofit/>
            </a:bodyPr>
            <a:lstStyle/>
            <a:p>
              <a:pPr algn="ctr"/>
              <a:r>
                <a:rPr lang="en-GB" sz="1400" b="0" i="0">
                  <a:solidFill>
                    <a:srgbClr val="A9B0B8"/>
                  </a:solidFill>
                  <a:latin typeface="Arial"/>
                </a:rPr>
                <a:t>450 m</a:t>
              </a:r>
            </a:p>
          </p:txBody>
        </p:sp>
        <p:grpSp>
          <p:nvGrpSpPr>
            <p:cNvPr id="78" name="Signal stop" descr="Semaphore stop signal, arm flat: STOP."/>
            <p:cNvGrpSpPr/>
            <p:nvPr/>
          </p:nvGrpSpPr>
          <p:grpSpPr>
            <a:xfrm>
              <a:off x="4539082" y="3770986"/>
              <a:ext cx="556869" cy="663854"/>
              <a:chOff x="4539082" y="3770986"/>
              <a:chExt cx="556869" cy="663854"/>
            </a:xfrm>
          </p:grpSpPr>
          <p:sp>
            <p:nvSpPr>
              <p:cNvPr id="79" name="Rectangle 78"/>
              <p:cNvSpPr/>
              <p:nvPr/>
            </p:nvSpPr>
            <p:spPr>
              <a:xfrm>
                <a:off x="4862779" y="4396435"/>
                <a:ext cx="186538" cy="38405"/>
              </a:xfrm>
              <a:prstGeom prst="rect">
                <a:avLst/>
              </a:prstGeom>
              <a:solidFill>
                <a:srgbClr val="9AA0A6"/>
              </a:solidFill>
              <a:ln>
                <a:noFill/>
              </a:ln>
            </p:spPr>
            <p:txBody>
              <a:bodyPr rtlCol="0" anchor="ctr"/>
              <a:lstStyle/>
              <a:p>
                <a:pPr algn="ctr"/>
                <a:endParaRPr/>
              </a:p>
            </p:txBody>
          </p:sp>
          <p:sp>
            <p:nvSpPr>
              <p:cNvPr id="80" name="Rectangle 79"/>
              <p:cNvSpPr/>
              <p:nvPr/>
            </p:nvSpPr>
            <p:spPr>
              <a:xfrm>
                <a:off x="4923130" y="3831336"/>
                <a:ext cx="65837" cy="603504"/>
              </a:xfrm>
              <a:prstGeom prst="rect">
                <a:avLst/>
              </a:prstGeom>
              <a:solidFill>
                <a:srgbClr val="E8E8E8"/>
              </a:solidFill>
              <a:ln>
                <a:noFill/>
              </a:ln>
            </p:spPr>
            <p:txBody>
              <a:bodyPr rtlCol="0" anchor="ctr"/>
              <a:lstStyle/>
              <a:p>
                <a:pPr algn="ctr"/>
                <a:endParaRPr/>
              </a:p>
            </p:txBody>
          </p:sp>
          <p:sp>
            <p:nvSpPr>
              <p:cNvPr id="81" name="Oval 80"/>
              <p:cNvSpPr/>
              <p:nvPr/>
            </p:nvSpPr>
            <p:spPr>
              <a:xfrm>
                <a:off x="4917643" y="3770986"/>
                <a:ext cx="76810" cy="76810"/>
              </a:xfrm>
              <a:prstGeom prst="ellipse">
                <a:avLst/>
              </a:prstGeom>
              <a:solidFill>
                <a:srgbClr val="E8E8E8"/>
              </a:solidFill>
              <a:ln>
                <a:noFill/>
              </a:ln>
            </p:spPr>
            <p:txBody>
              <a:bodyPr rtlCol="0" anchor="ctr"/>
              <a:lstStyle/>
              <a:p>
                <a:pPr algn="ctr"/>
                <a:endParaRPr/>
              </a:p>
            </p:txBody>
          </p:sp>
          <p:sp>
            <p:nvSpPr>
              <p:cNvPr id="82" name="Freeform 81"/>
              <p:cNvSpPr/>
              <p:nvPr/>
            </p:nvSpPr>
            <p:spPr>
              <a:xfrm>
                <a:off x="4539082"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endParaRPr/>
              </a:p>
            </p:txBody>
          </p:sp>
          <p:sp>
            <p:nvSpPr>
              <p:cNvPr id="83" name="Freeform 82"/>
              <p:cNvSpPr/>
              <p:nvPr/>
            </p:nvSpPr>
            <p:spPr>
              <a:xfrm>
                <a:off x="4638934"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endParaRPr/>
              </a:p>
            </p:txBody>
          </p:sp>
          <p:sp>
            <p:nvSpPr>
              <p:cNvPr id="84" name="Oval 83"/>
              <p:cNvSpPr/>
              <p:nvPr/>
            </p:nvSpPr>
            <p:spPr>
              <a:xfrm>
                <a:off x="5002682" y="3910889"/>
                <a:ext cx="93269" cy="93269"/>
              </a:xfrm>
              <a:prstGeom prst="ellipse">
                <a:avLst/>
              </a:prstGeom>
              <a:solidFill>
                <a:srgbClr val="E5484D"/>
              </a:solidFill>
              <a:ln w="9525">
                <a:solidFill>
                  <a:srgbClr val="101418"/>
                </a:solidFill>
              </a:ln>
            </p:spPr>
            <p:txBody>
              <a:bodyPr rtlCol="0" anchor="ctr"/>
              <a:lstStyle/>
              <a:p>
                <a:pPr algn="ctr"/>
                <a:endParaRPr/>
              </a:p>
            </p:txBody>
          </p:sp>
        </p:grpSp>
        <p:cxnSp>
          <p:nvCxnSpPr>
            <p:cNvPr id="85" name="Connector 84"/>
            <p:cNvCxnSpPr/>
            <p:nvPr/>
          </p:nvCxnSpPr>
          <p:spPr>
            <a:xfrm>
              <a:off x="4956048" y="4480560"/>
              <a:ext cx="0" cy="137160"/>
            </a:xfrm>
            <a:prstGeom prst="line">
              <a:avLst/>
            </a:prstGeom>
            <a:ln w="19050">
              <a:solidFill>
                <a:srgbClr val="A9B0B8"/>
              </a:solidFill>
            </a:ln>
          </p:spPr>
        </p:cxnSp>
        <p:sp>
          <p:nvSpPr>
            <p:cNvPr id="86" name="TextBox 85"/>
            <p:cNvSpPr txBox="1"/>
            <p:nvPr/>
          </p:nvSpPr>
          <p:spPr>
            <a:xfrm>
              <a:off x="4407408" y="4617720"/>
              <a:ext cx="1097280" cy="274320"/>
            </a:xfrm>
            <a:prstGeom prst="rect">
              <a:avLst/>
            </a:prstGeom>
            <a:noFill/>
          </p:spPr>
          <p:txBody>
            <a:bodyPr wrap="square" lIns="0" tIns="0" rIns="0" bIns="0" anchor="t">
              <a:noAutofit/>
            </a:bodyPr>
            <a:lstStyle/>
            <a:p>
              <a:pPr algn="ctr"/>
              <a:r>
                <a:rPr lang="en-GB" sz="1400" b="0" i="0">
                  <a:solidFill>
                    <a:srgbClr val="A9B0B8"/>
                  </a:solidFill>
                  <a:latin typeface="Arial"/>
                </a:rPr>
                <a:t>900 m</a:t>
              </a:r>
            </a:p>
          </p:txBody>
        </p:sp>
        <p:grpSp>
          <p:nvGrpSpPr>
            <p:cNvPr id="87" name="Signal stop" descr="Semaphore stop signal, arm flat: STOP."/>
            <p:cNvGrpSpPr/>
            <p:nvPr/>
          </p:nvGrpSpPr>
          <p:grpSpPr>
            <a:xfrm>
              <a:off x="6514186" y="3770986"/>
              <a:ext cx="556869" cy="663854"/>
              <a:chOff x="6514186" y="3770986"/>
              <a:chExt cx="556869" cy="663854"/>
            </a:xfrm>
          </p:grpSpPr>
          <p:sp>
            <p:nvSpPr>
              <p:cNvPr id="88" name="Rectangle 87"/>
              <p:cNvSpPr/>
              <p:nvPr/>
            </p:nvSpPr>
            <p:spPr>
              <a:xfrm>
                <a:off x="6837883" y="4396435"/>
                <a:ext cx="186538" cy="38405"/>
              </a:xfrm>
              <a:prstGeom prst="rect">
                <a:avLst/>
              </a:prstGeom>
              <a:solidFill>
                <a:srgbClr val="9AA0A6"/>
              </a:solidFill>
              <a:ln>
                <a:noFill/>
              </a:ln>
            </p:spPr>
            <p:txBody>
              <a:bodyPr rtlCol="0" anchor="ctr"/>
              <a:lstStyle/>
              <a:p>
                <a:pPr algn="ctr"/>
                <a:endParaRPr/>
              </a:p>
            </p:txBody>
          </p:sp>
          <p:sp>
            <p:nvSpPr>
              <p:cNvPr id="89" name="Rectangle 88"/>
              <p:cNvSpPr/>
              <p:nvPr/>
            </p:nvSpPr>
            <p:spPr>
              <a:xfrm>
                <a:off x="6898234" y="3831336"/>
                <a:ext cx="65837" cy="603504"/>
              </a:xfrm>
              <a:prstGeom prst="rect">
                <a:avLst/>
              </a:prstGeom>
              <a:solidFill>
                <a:srgbClr val="E8E8E8"/>
              </a:solidFill>
              <a:ln>
                <a:noFill/>
              </a:ln>
            </p:spPr>
            <p:txBody>
              <a:bodyPr rtlCol="0" anchor="ctr"/>
              <a:lstStyle/>
              <a:p>
                <a:pPr algn="ctr"/>
                <a:endParaRPr/>
              </a:p>
            </p:txBody>
          </p:sp>
          <p:sp>
            <p:nvSpPr>
              <p:cNvPr id="90" name="Oval 89"/>
              <p:cNvSpPr/>
              <p:nvPr/>
            </p:nvSpPr>
            <p:spPr>
              <a:xfrm>
                <a:off x="6892747" y="3770986"/>
                <a:ext cx="76810" cy="76810"/>
              </a:xfrm>
              <a:prstGeom prst="ellipse">
                <a:avLst/>
              </a:prstGeom>
              <a:solidFill>
                <a:srgbClr val="E8E8E8"/>
              </a:solidFill>
              <a:ln>
                <a:noFill/>
              </a:ln>
            </p:spPr>
            <p:txBody>
              <a:bodyPr rtlCol="0" anchor="ctr"/>
              <a:lstStyle/>
              <a:p>
                <a:pPr algn="ctr"/>
                <a:endParaRPr/>
              </a:p>
            </p:txBody>
          </p:sp>
          <p:sp>
            <p:nvSpPr>
              <p:cNvPr id="91" name="Freeform 90"/>
              <p:cNvSpPr/>
              <p:nvPr/>
            </p:nvSpPr>
            <p:spPr>
              <a:xfrm>
                <a:off x="6514186"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endParaRPr/>
              </a:p>
            </p:txBody>
          </p:sp>
          <p:sp>
            <p:nvSpPr>
              <p:cNvPr id="92" name="Freeform 91"/>
              <p:cNvSpPr/>
              <p:nvPr/>
            </p:nvSpPr>
            <p:spPr>
              <a:xfrm>
                <a:off x="6614038"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endParaRPr/>
              </a:p>
            </p:txBody>
          </p:sp>
          <p:sp>
            <p:nvSpPr>
              <p:cNvPr id="93" name="Oval 92"/>
              <p:cNvSpPr/>
              <p:nvPr/>
            </p:nvSpPr>
            <p:spPr>
              <a:xfrm>
                <a:off x="6977786" y="3910889"/>
                <a:ext cx="93269" cy="93269"/>
              </a:xfrm>
              <a:prstGeom prst="ellipse">
                <a:avLst/>
              </a:prstGeom>
              <a:solidFill>
                <a:srgbClr val="E5484D"/>
              </a:solidFill>
              <a:ln w="9525">
                <a:solidFill>
                  <a:srgbClr val="101418"/>
                </a:solidFill>
              </a:ln>
            </p:spPr>
            <p:txBody>
              <a:bodyPr rtlCol="0" anchor="ctr"/>
              <a:lstStyle/>
              <a:p>
                <a:pPr algn="ctr"/>
                <a:endParaRPr/>
              </a:p>
            </p:txBody>
          </p:sp>
        </p:grpSp>
        <p:cxnSp>
          <p:nvCxnSpPr>
            <p:cNvPr id="94" name="Connector 93"/>
            <p:cNvCxnSpPr/>
            <p:nvPr/>
          </p:nvCxnSpPr>
          <p:spPr>
            <a:xfrm>
              <a:off x="6931152" y="4480560"/>
              <a:ext cx="0" cy="137160"/>
            </a:xfrm>
            <a:prstGeom prst="line">
              <a:avLst/>
            </a:prstGeom>
            <a:ln w="19050">
              <a:solidFill>
                <a:srgbClr val="A9B0B8"/>
              </a:solidFill>
            </a:ln>
          </p:spPr>
        </p:cxnSp>
        <p:sp>
          <p:nvSpPr>
            <p:cNvPr id="95" name="TextBox 94"/>
            <p:cNvSpPr txBox="1"/>
            <p:nvPr/>
          </p:nvSpPr>
          <p:spPr>
            <a:xfrm>
              <a:off x="6382512" y="4617720"/>
              <a:ext cx="1097280" cy="274320"/>
            </a:xfrm>
            <a:prstGeom prst="rect">
              <a:avLst/>
            </a:prstGeom>
            <a:noFill/>
          </p:spPr>
          <p:txBody>
            <a:bodyPr wrap="square" lIns="0" tIns="0" rIns="0" bIns="0" anchor="t">
              <a:noAutofit/>
            </a:bodyPr>
            <a:lstStyle/>
            <a:p>
              <a:pPr algn="ctr"/>
              <a:r>
                <a:rPr lang="en-GB" sz="1400" b="0" i="0">
                  <a:solidFill>
                    <a:srgbClr val="A9B0B8"/>
                  </a:solidFill>
                  <a:latin typeface="Arial"/>
                </a:rPr>
                <a:t>1,350 m</a:t>
              </a:r>
            </a:p>
          </p:txBody>
        </p:sp>
        <p:grpSp>
          <p:nvGrpSpPr>
            <p:cNvPr id="96" name="Signal stop" descr="Semaphore stop signal, arm flat: STOP."/>
            <p:cNvGrpSpPr/>
            <p:nvPr/>
          </p:nvGrpSpPr>
          <p:grpSpPr>
            <a:xfrm>
              <a:off x="8489290" y="3770986"/>
              <a:ext cx="556869" cy="663854"/>
              <a:chOff x="8489290" y="3770986"/>
              <a:chExt cx="556869" cy="663854"/>
            </a:xfrm>
          </p:grpSpPr>
          <p:sp>
            <p:nvSpPr>
              <p:cNvPr id="97" name="Rectangle 96"/>
              <p:cNvSpPr/>
              <p:nvPr/>
            </p:nvSpPr>
            <p:spPr>
              <a:xfrm>
                <a:off x="8812987" y="4396435"/>
                <a:ext cx="186538" cy="38405"/>
              </a:xfrm>
              <a:prstGeom prst="rect">
                <a:avLst/>
              </a:prstGeom>
              <a:solidFill>
                <a:srgbClr val="9AA0A6"/>
              </a:solidFill>
              <a:ln>
                <a:noFill/>
              </a:ln>
            </p:spPr>
            <p:txBody>
              <a:bodyPr rtlCol="0" anchor="ctr"/>
              <a:lstStyle/>
              <a:p>
                <a:pPr algn="ctr"/>
                <a:endParaRPr/>
              </a:p>
            </p:txBody>
          </p:sp>
          <p:sp>
            <p:nvSpPr>
              <p:cNvPr id="98" name="Rectangle 97"/>
              <p:cNvSpPr/>
              <p:nvPr/>
            </p:nvSpPr>
            <p:spPr>
              <a:xfrm>
                <a:off x="8873338" y="3831336"/>
                <a:ext cx="65837" cy="603504"/>
              </a:xfrm>
              <a:prstGeom prst="rect">
                <a:avLst/>
              </a:prstGeom>
              <a:solidFill>
                <a:srgbClr val="E8E8E8"/>
              </a:solidFill>
              <a:ln>
                <a:noFill/>
              </a:ln>
            </p:spPr>
            <p:txBody>
              <a:bodyPr rtlCol="0" anchor="ctr"/>
              <a:lstStyle/>
              <a:p>
                <a:pPr algn="ctr"/>
                <a:endParaRPr/>
              </a:p>
            </p:txBody>
          </p:sp>
          <p:sp>
            <p:nvSpPr>
              <p:cNvPr id="99" name="Oval 98"/>
              <p:cNvSpPr/>
              <p:nvPr/>
            </p:nvSpPr>
            <p:spPr>
              <a:xfrm>
                <a:off x="8867851" y="3770986"/>
                <a:ext cx="76810" cy="76810"/>
              </a:xfrm>
              <a:prstGeom prst="ellipse">
                <a:avLst/>
              </a:prstGeom>
              <a:solidFill>
                <a:srgbClr val="E8E8E8"/>
              </a:solidFill>
              <a:ln>
                <a:noFill/>
              </a:ln>
            </p:spPr>
            <p:txBody>
              <a:bodyPr rtlCol="0" anchor="ctr"/>
              <a:lstStyle/>
              <a:p>
                <a:pPr algn="ctr"/>
                <a:endParaRPr/>
              </a:p>
            </p:txBody>
          </p:sp>
          <p:sp>
            <p:nvSpPr>
              <p:cNvPr id="100" name="Freeform 99"/>
              <p:cNvSpPr/>
              <p:nvPr/>
            </p:nvSpPr>
            <p:spPr>
              <a:xfrm>
                <a:off x="8489290"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endParaRPr/>
              </a:p>
            </p:txBody>
          </p:sp>
          <p:sp>
            <p:nvSpPr>
              <p:cNvPr id="101" name="Freeform 100"/>
              <p:cNvSpPr/>
              <p:nvPr/>
            </p:nvSpPr>
            <p:spPr>
              <a:xfrm>
                <a:off x="8589142"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endParaRPr/>
              </a:p>
            </p:txBody>
          </p:sp>
          <p:sp>
            <p:nvSpPr>
              <p:cNvPr id="102" name="Oval 101"/>
              <p:cNvSpPr/>
              <p:nvPr/>
            </p:nvSpPr>
            <p:spPr>
              <a:xfrm>
                <a:off x="8952890" y="3910889"/>
                <a:ext cx="93269" cy="93269"/>
              </a:xfrm>
              <a:prstGeom prst="ellipse">
                <a:avLst/>
              </a:prstGeom>
              <a:solidFill>
                <a:srgbClr val="E5484D"/>
              </a:solidFill>
              <a:ln w="9525">
                <a:solidFill>
                  <a:srgbClr val="101418"/>
                </a:solidFill>
              </a:ln>
            </p:spPr>
            <p:txBody>
              <a:bodyPr rtlCol="0" anchor="ctr"/>
              <a:lstStyle/>
              <a:p>
                <a:pPr algn="ctr"/>
                <a:endParaRPr/>
              </a:p>
            </p:txBody>
          </p:sp>
        </p:grpSp>
        <p:cxnSp>
          <p:nvCxnSpPr>
            <p:cNvPr id="103" name="Connector 102"/>
            <p:cNvCxnSpPr/>
            <p:nvPr/>
          </p:nvCxnSpPr>
          <p:spPr>
            <a:xfrm>
              <a:off x="8906256" y="4480560"/>
              <a:ext cx="0" cy="137160"/>
            </a:xfrm>
            <a:prstGeom prst="line">
              <a:avLst/>
            </a:prstGeom>
            <a:ln w="19050">
              <a:solidFill>
                <a:srgbClr val="A9B0B8"/>
              </a:solidFill>
            </a:ln>
          </p:spPr>
        </p:cxnSp>
        <p:sp>
          <p:nvSpPr>
            <p:cNvPr id="104" name="TextBox 103"/>
            <p:cNvSpPr txBox="1"/>
            <p:nvPr/>
          </p:nvSpPr>
          <p:spPr>
            <a:xfrm>
              <a:off x="8357616" y="4617720"/>
              <a:ext cx="1097280" cy="274320"/>
            </a:xfrm>
            <a:prstGeom prst="rect">
              <a:avLst/>
            </a:prstGeom>
            <a:noFill/>
          </p:spPr>
          <p:txBody>
            <a:bodyPr wrap="square" lIns="0" tIns="0" rIns="0" bIns="0" anchor="t">
              <a:noAutofit/>
            </a:bodyPr>
            <a:lstStyle/>
            <a:p>
              <a:pPr algn="ctr"/>
              <a:r>
                <a:rPr lang="en-GB" sz="1400" b="0" i="0">
                  <a:solidFill>
                    <a:srgbClr val="A9B0B8"/>
                  </a:solidFill>
                  <a:latin typeface="Arial"/>
                </a:rPr>
                <a:t>1,800 m</a:t>
              </a:r>
            </a:p>
          </p:txBody>
        </p:sp>
        <p:grpSp>
          <p:nvGrpSpPr>
            <p:cNvPr id="105" name="Signal stop" descr="Semaphore stop signal, arm flat: STOP."/>
            <p:cNvGrpSpPr/>
            <p:nvPr/>
          </p:nvGrpSpPr>
          <p:grpSpPr>
            <a:xfrm>
              <a:off x="10464394" y="3770986"/>
              <a:ext cx="556869" cy="663854"/>
              <a:chOff x="10464394" y="3770986"/>
              <a:chExt cx="556869" cy="663854"/>
            </a:xfrm>
          </p:grpSpPr>
          <p:sp>
            <p:nvSpPr>
              <p:cNvPr id="106" name="Rectangle 105"/>
              <p:cNvSpPr/>
              <p:nvPr/>
            </p:nvSpPr>
            <p:spPr>
              <a:xfrm>
                <a:off x="10788091" y="4396435"/>
                <a:ext cx="186538" cy="38405"/>
              </a:xfrm>
              <a:prstGeom prst="rect">
                <a:avLst/>
              </a:prstGeom>
              <a:solidFill>
                <a:srgbClr val="9AA0A6"/>
              </a:solidFill>
              <a:ln>
                <a:noFill/>
              </a:ln>
            </p:spPr>
            <p:txBody>
              <a:bodyPr rtlCol="0" anchor="ctr"/>
              <a:lstStyle/>
              <a:p>
                <a:pPr algn="ctr"/>
                <a:endParaRPr/>
              </a:p>
            </p:txBody>
          </p:sp>
          <p:sp>
            <p:nvSpPr>
              <p:cNvPr id="107" name="Rectangle 106"/>
              <p:cNvSpPr/>
              <p:nvPr/>
            </p:nvSpPr>
            <p:spPr>
              <a:xfrm>
                <a:off x="10848442" y="3831336"/>
                <a:ext cx="65837" cy="603504"/>
              </a:xfrm>
              <a:prstGeom prst="rect">
                <a:avLst/>
              </a:prstGeom>
              <a:solidFill>
                <a:srgbClr val="E8E8E8"/>
              </a:solidFill>
              <a:ln>
                <a:noFill/>
              </a:ln>
            </p:spPr>
            <p:txBody>
              <a:bodyPr rtlCol="0" anchor="ctr"/>
              <a:lstStyle/>
              <a:p>
                <a:pPr algn="ctr"/>
                <a:endParaRPr/>
              </a:p>
            </p:txBody>
          </p:sp>
          <p:sp>
            <p:nvSpPr>
              <p:cNvPr id="108" name="Oval 107"/>
              <p:cNvSpPr/>
              <p:nvPr/>
            </p:nvSpPr>
            <p:spPr>
              <a:xfrm>
                <a:off x="10842955" y="3770986"/>
                <a:ext cx="76810" cy="76810"/>
              </a:xfrm>
              <a:prstGeom prst="ellipse">
                <a:avLst/>
              </a:prstGeom>
              <a:solidFill>
                <a:srgbClr val="E8E8E8"/>
              </a:solidFill>
              <a:ln>
                <a:noFill/>
              </a:ln>
            </p:spPr>
            <p:txBody>
              <a:bodyPr rtlCol="0" anchor="ctr"/>
              <a:lstStyle/>
              <a:p>
                <a:pPr algn="ctr"/>
                <a:endParaRPr/>
              </a:p>
            </p:txBody>
          </p:sp>
          <p:sp>
            <p:nvSpPr>
              <p:cNvPr id="109" name="Freeform 108"/>
              <p:cNvSpPr/>
              <p:nvPr/>
            </p:nvSpPr>
            <p:spPr>
              <a:xfrm>
                <a:off x="10464394" y="3919118"/>
                <a:ext cx="384048" cy="76810"/>
              </a:xfrm>
              <a:custGeom>
                <a:avLst/>
                <a:gdLst/>
                <a:ahLst/>
                <a:cxnLst/>
                <a:rect l="l" t="t" r="r" b="b"/>
                <a:pathLst>
                  <a:path w="384048" h="76810">
                    <a:moveTo>
                      <a:pt x="384048" y="0"/>
                    </a:moveTo>
                    <a:lnTo>
                      <a:pt x="0" y="0"/>
                    </a:lnTo>
                    <a:lnTo>
                      <a:pt x="0" y="76810"/>
                    </a:lnTo>
                    <a:lnTo>
                      <a:pt x="384048" y="76810"/>
                    </a:lnTo>
                    <a:close/>
                  </a:path>
                </a:pathLst>
              </a:custGeom>
              <a:solidFill>
                <a:srgbClr val="E5484D"/>
              </a:solidFill>
              <a:ln w="9525">
                <a:solidFill>
                  <a:srgbClr val="101418"/>
                </a:solidFill>
              </a:ln>
            </p:spPr>
            <p:txBody>
              <a:bodyPr rtlCol="0" anchor="ctr"/>
              <a:lstStyle/>
              <a:p>
                <a:pPr algn="ctr"/>
                <a:endParaRPr/>
              </a:p>
            </p:txBody>
          </p:sp>
          <p:sp>
            <p:nvSpPr>
              <p:cNvPr id="110" name="Freeform 109"/>
              <p:cNvSpPr/>
              <p:nvPr/>
            </p:nvSpPr>
            <p:spPr>
              <a:xfrm>
                <a:off x="10564246" y="3919118"/>
                <a:ext cx="46086" cy="76810"/>
              </a:xfrm>
              <a:custGeom>
                <a:avLst/>
                <a:gdLst/>
                <a:ahLst/>
                <a:cxnLst/>
                <a:rect l="l" t="t" r="r" b="b"/>
                <a:pathLst>
                  <a:path w="46086" h="76810">
                    <a:moveTo>
                      <a:pt x="46086" y="0"/>
                    </a:moveTo>
                    <a:lnTo>
                      <a:pt x="0" y="0"/>
                    </a:lnTo>
                    <a:lnTo>
                      <a:pt x="0" y="76810"/>
                    </a:lnTo>
                    <a:lnTo>
                      <a:pt x="46086" y="76810"/>
                    </a:lnTo>
                    <a:close/>
                  </a:path>
                </a:pathLst>
              </a:custGeom>
              <a:solidFill>
                <a:srgbClr val="FFFFFF"/>
              </a:solidFill>
              <a:ln>
                <a:noFill/>
              </a:ln>
            </p:spPr>
            <p:txBody>
              <a:bodyPr rtlCol="0" anchor="ctr"/>
              <a:lstStyle/>
              <a:p>
                <a:pPr algn="ctr"/>
                <a:endParaRPr/>
              </a:p>
            </p:txBody>
          </p:sp>
          <p:sp>
            <p:nvSpPr>
              <p:cNvPr id="111" name="Oval 110"/>
              <p:cNvSpPr/>
              <p:nvPr/>
            </p:nvSpPr>
            <p:spPr>
              <a:xfrm>
                <a:off x="10927994" y="3910889"/>
                <a:ext cx="93269" cy="93269"/>
              </a:xfrm>
              <a:prstGeom prst="ellipse">
                <a:avLst/>
              </a:prstGeom>
              <a:solidFill>
                <a:srgbClr val="E5484D"/>
              </a:solidFill>
              <a:ln w="9525">
                <a:solidFill>
                  <a:srgbClr val="101418"/>
                </a:solidFill>
              </a:ln>
            </p:spPr>
            <p:txBody>
              <a:bodyPr rtlCol="0" anchor="ctr"/>
              <a:lstStyle/>
              <a:p>
                <a:pPr algn="ctr"/>
                <a:endParaRPr/>
              </a:p>
            </p:txBody>
          </p:sp>
        </p:grpSp>
        <p:cxnSp>
          <p:nvCxnSpPr>
            <p:cNvPr id="112" name="Connector 111"/>
            <p:cNvCxnSpPr/>
            <p:nvPr/>
          </p:nvCxnSpPr>
          <p:spPr>
            <a:xfrm>
              <a:off x="10881360" y="4480560"/>
              <a:ext cx="0" cy="137160"/>
            </a:xfrm>
            <a:prstGeom prst="line">
              <a:avLst/>
            </a:prstGeom>
            <a:ln w="19050">
              <a:solidFill>
                <a:srgbClr val="A9B0B8"/>
              </a:solidFill>
            </a:ln>
          </p:spPr>
        </p:cxnSp>
        <p:sp>
          <p:nvSpPr>
            <p:cNvPr id="113" name="TextBox 112"/>
            <p:cNvSpPr txBox="1"/>
            <p:nvPr/>
          </p:nvSpPr>
          <p:spPr>
            <a:xfrm>
              <a:off x="10332720" y="4617720"/>
              <a:ext cx="1097280" cy="274320"/>
            </a:xfrm>
            <a:prstGeom prst="rect">
              <a:avLst/>
            </a:prstGeom>
            <a:noFill/>
          </p:spPr>
          <p:txBody>
            <a:bodyPr wrap="square" lIns="0" tIns="0" rIns="0" bIns="0" anchor="t">
              <a:noAutofit/>
            </a:bodyPr>
            <a:lstStyle/>
            <a:p>
              <a:pPr algn="ctr"/>
              <a:r>
                <a:rPr lang="en-GB" sz="1400" b="0" i="0">
                  <a:solidFill>
                    <a:srgbClr val="A9B0B8"/>
                  </a:solidFill>
                  <a:latin typeface="Arial"/>
                </a:rPr>
                <a:t>2,250 m</a:t>
              </a:r>
            </a:p>
          </p:txBody>
        </p:sp>
      </p:grpSp>
      <p:sp>
        <p:nvSpPr>
          <p:cNvPr id="114" name="TextBox 113"/>
          <p:cNvSpPr txBox="1"/>
          <p:nvPr/>
        </p:nvSpPr>
        <p:spPr>
          <a:xfrm>
            <a:off x="548640" y="5074920"/>
            <a:ext cx="3657600" cy="329184"/>
          </a:xfrm>
          <a:prstGeom prst="rect">
            <a:avLst/>
          </a:prstGeom>
          <a:noFill/>
        </p:spPr>
        <p:txBody>
          <a:bodyPr wrap="square" lIns="0" tIns="0" rIns="0" bIns="0" anchor="ctr">
            <a:noAutofit/>
          </a:bodyPr>
          <a:lstStyle/>
          <a:p>
            <a:pPr algn="l"/>
            <a:r>
              <a:rPr lang="en-GB" sz="1600" b="0" i="0">
                <a:solidFill>
                  <a:srgbClr val="F2F2F2"/>
                </a:solidFill>
                <a:latin typeface="Arial"/>
              </a:rPr>
              <a:t>Block lengths and speed caps:</a:t>
            </a:r>
          </a:p>
        </p:txBody>
      </p:sp>
      <p:sp>
        <p:nvSpPr>
          <p:cNvPr id="115" name="Inline chip Undecided"/>
          <p:cNvSpPr/>
          <p:nvPr/>
        </p:nvSpPr>
        <p:spPr>
          <a:xfrm>
            <a:off x="3463925" y="5074920"/>
            <a:ext cx="20612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 (OQ03)</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Early signals have limits: short blocks, a speed cap and a limited number per box. Numbers are provisional.</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32</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600"/>
                                  </p:stCondLst>
                                  <p:childTnLst>
                                    <p:set>
                                      <p:cBhvr>
                                        <p:cTn id="12" dur="1" fill="hold">
                                          <p:stCondLst>
                                            <p:cond delay="0"/>
                                          </p:stCondLst>
                                        </p:cTn>
                                        <p:tgtEl>
                                          <p:spTgt spid="114"/>
                                        </p:tgtEl>
                                        <p:attrNameLst>
                                          <p:attrName>style.visibility</p:attrName>
                                        </p:attrNameLst>
                                      </p:cBhvr>
                                      <p:to>
                                        <p:strVal val="visible"/>
                                      </p:to>
                                    </p:set>
                                    <p:animEffect transition="in" filter="fade">
                                      <p:cBhvr>
                                        <p:cTn id="13" dur="500"/>
                                        <p:tgtEl>
                                          <p:spTgt spid="114"/>
                                        </p:tgtEl>
                                      </p:cBhvr>
                                    </p:animEffect>
                                  </p:childTnLst>
                                </p:cTn>
                              </p:par>
                              <p:par>
                                <p:cTn id="14" presetID="10" presetClass="entr" presetSubtype="0" fill="hold" nodeType="withEffect">
                                  <p:stCondLst>
                                    <p:cond delay="900"/>
                                  </p:stCondLst>
                                  <p:childTnLst>
                                    <p:set>
                                      <p:cBhvr>
                                        <p:cTn id="15" dur="1" fill="hold">
                                          <p:stCondLst>
                                            <p:cond delay="0"/>
                                          </p:stCondLst>
                                        </p:cTn>
                                        <p:tgtEl>
                                          <p:spTgt spid="115"/>
                                        </p:tgtEl>
                                        <p:attrNameLst>
                                          <p:attrName>style.visibility</p:attrName>
                                        </p:attrNameLst>
                                      </p:cBhvr>
                                      <p:to>
                                        <p:strVal val="visible"/>
                                      </p:to>
                                    </p:set>
                                    <p:animEffect transition="in" filter="fade">
                                      <p:cBhvr>
                                        <p:cTn id="16" dur="500"/>
                                        <p:tgtEl>
                                          <p:spTgt spid="115"/>
                                        </p:tgtEl>
                                      </p:cBhvr>
                                    </p:animEffect>
                                  </p:childTnLst>
                                </p:cTn>
                              </p:par>
                              <p:par>
                                <p:cTn id="17" presetID="10" presetClass="entr" presetSubtype="0" fill="hold" nodeType="withEffect">
                                  <p:stCondLst>
                                    <p:cond delay="12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1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No wiring for you</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8" name="Inline chip Undecided"/>
          <p:cNvSpPr/>
          <p:nvPr/>
        </p:nvSpPr>
        <p:spPr>
          <a:xfrm>
            <a:off x="7680020" y="896112"/>
            <a:ext cx="3963035"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ROD OR WIRE LOOK: UNDECIDED (OQ04)</a:t>
            </a:r>
          </a:p>
        </p:txBody>
      </p:sp>
      <p:pic>
        <p:nvPicPr>
          <p:cNvPr id="9" name="Picture P16" descr="Pulleys, rods and wires of mechanical signal linkage beside the track at Williton station."/>
          <p:cNvPicPr>
            <a:picLocks noChangeAspect="1"/>
          </p:cNvPicPr>
          <p:nvPr/>
        </p:nvPicPr>
        <p:blipFill>
          <a:blip r:embed="rId2"/>
          <a:srcRect l="68" r="68"/>
          <a:stretch>
            <a:fillRect/>
          </a:stretch>
        </p:blipFill>
        <p:spPr>
          <a:xfrm>
            <a:off x="548640" y="1371600"/>
            <a:ext cx="4754880" cy="3172968"/>
          </a:xfrm>
          <a:prstGeom prst="roundRect">
            <a:avLst>
              <a:gd name="adj" fmla="val 2305"/>
            </a:avLst>
          </a:prstGeom>
        </p:spPr>
      </p:pic>
      <p:sp>
        <p:nvSpPr>
          <p:cNvPr id="10" name="Credit"/>
          <p:cNvSpPr txBox="1"/>
          <p:nvPr/>
        </p:nvSpPr>
        <p:spPr>
          <a:xfrm>
            <a:off x="548640" y="4572000"/>
            <a:ext cx="4754880" cy="182880"/>
          </a:xfrm>
          <a:prstGeom prst="rect">
            <a:avLst/>
          </a:prstGeom>
          <a:noFill/>
        </p:spPr>
        <p:txBody>
          <a:bodyPr wrap="square" lIns="0" tIns="0" rIns="0" bIns="0" anchor="t">
            <a:noAutofit/>
          </a:bodyPr>
          <a:lstStyle/>
          <a:p>
            <a:pPr algn="l"/>
            <a:r>
              <a:rPr lang="en-GB" sz="1000" b="0" i="0">
                <a:solidFill>
                  <a:srgbClr val="A9B0B8"/>
                </a:solidFill>
                <a:latin typeface="Arial"/>
              </a:rPr>
              <a:t>Photo: mattbuck (category), CC BY-SA 3.0, Wikimedia Commons.</a:t>
            </a:r>
          </a:p>
        </p:txBody>
      </p:sp>
      <p:grpSp>
        <p:nvGrpSpPr>
          <p:cNvPr id="11" name="Steps" descr="Three steps: place a signal on connected track; a box with room takes control; rods and wires draw themselves and update."/>
          <p:cNvGrpSpPr/>
          <p:nvPr/>
        </p:nvGrpSpPr>
        <p:grpSpPr>
          <a:xfrm>
            <a:off x="5669280" y="1417320"/>
            <a:ext cx="5971032" cy="2468880"/>
            <a:chOff x="5669280" y="1417320"/>
            <a:chExt cx="5971032" cy="2468880"/>
          </a:xfrm>
        </p:grpSpPr>
        <p:sp>
          <p:nvSpPr>
            <p:cNvPr id="12" name="Rounded Rectangle 11"/>
            <p:cNvSpPr/>
            <p:nvPr/>
          </p:nvSpPr>
          <p:spPr>
            <a:xfrm>
              <a:off x="5669280" y="1417320"/>
              <a:ext cx="5971032" cy="731520"/>
            </a:xfrm>
            <a:prstGeom prst="roundRect">
              <a:avLst>
                <a:gd name="adj" fmla="val 10000"/>
              </a:avLst>
            </a:prstGeom>
            <a:solidFill>
              <a:srgbClr val="2B2F36"/>
            </a:solidFill>
            <a:ln>
              <a:noFill/>
            </a:ln>
          </p:spPr>
          <p:txBody>
            <a:bodyPr rtlCol="0" anchor="ctr"/>
            <a:lstStyle/>
            <a:p>
              <a:pPr algn="ctr"/>
              <a:endParaRPr/>
            </a:p>
          </p:txBody>
        </p:sp>
        <p:sp>
          <p:nvSpPr>
            <p:cNvPr id="13" name="Badge 1"/>
            <p:cNvSpPr/>
            <p:nvPr/>
          </p:nvSpPr>
          <p:spPr>
            <a:xfrm>
              <a:off x="5824728" y="1572768"/>
              <a:ext cx="420624" cy="420624"/>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1</a:t>
              </a:r>
            </a:p>
          </p:txBody>
        </p:sp>
        <p:sp>
          <p:nvSpPr>
            <p:cNvPr id="14" name="TextBox 13"/>
            <p:cNvSpPr txBox="1"/>
            <p:nvPr/>
          </p:nvSpPr>
          <p:spPr>
            <a:xfrm>
              <a:off x="6446520" y="1417320"/>
              <a:ext cx="5120640" cy="731520"/>
            </a:xfrm>
            <a:prstGeom prst="rect">
              <a:avLst/>
            </a:prstGeom>
            <a:noFill/>
          </p:spPr>
          <p:txBody>
            <a:bodyPr wrap="square" lIns="0" tIns="0" rIns="0" bIns="0" anchor="ctr">
              <a:noAutofit/>
            </a:bodyPr>
            <a:lstStyle/>
            <a:p>
              <a:pPr algn="l"/>
              <a:r>
                <a:rPr lang="en-GB" sz="2000" b="0" i="0">
                  <a:solidFill>
                    <a:srgbClr val="F2F2F2"/>
                  </a:solidFill>
                  <a:latin typeface="Arial"/>
                </a:rPr>
                <a:t>Place signals on connected track</a:t>
              </a:r>
            </a:p>
          </p:txBody>
        </p:sp>
        <p:sp>
          <p:nvSpPr>
            <p:cNvPr id="15" name="Rounded Rectangle 14"/>
            <p:cNvSpPr/>
            <p:nvPr/>
          </p:nvSpPr>
          <p:spPr>
            <a:xfrm>
              <a:off x="5669280" y="2286000"/>
              <a:ext cx="5971032" cy="731520"/>
            </a:xfrm>
            <a:prstGeom prst="roundRect">
              <a:avLst>
                <a:gd name="adj" fmla="val 10000"/>
              </a:avLst>
            </a:prstGeom>
            <a:solidFill>
              <a:srgbClr val="2B2F36"/>
            </a:solidFill>
            <a:ln>
              <a:noFill/>
            </a:ln>
          </p:spPr>
          <p:txBody>
            <a:bodyPr rtlCol="0" anchor="ctr"/>
            <a:lstStyle/>
            <a:p>
              <a:pPr algn="ctr"/>
              <a:endParaRPr/>
            </a:p>
          </p:txBody>
        </p:sp>
        <p:sp>
          <p:nvSpPr>
            <p:cNvPr id="16" name="Badge 2"/>
            <p:cNvSpPr/>
            <p:nvPr/>
          </p:nvSpPr>
          <p:spPr>
            <a:xfrm>
              <a:off x="5824728" y="2441448"/>
              <a:ext cx="420624" cy="420624"/>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2</a:t>
              </a:r>
            </a:p>
          </p:txBody>
        </p:sp>
        <p:sp>
          <p:nvSpPr>
            <p:cNvPr id="17" name="TextBox 16"/>
            <p:cNvSpPr txBox="1"/>
            <p:nvPr/>
          </p:nvSpPr>
          <p:spPr>
            <a:xfrm>
              <a:off x="6446520" y="2286000"/>
              <a:ext cx="5120640" cy="731520"/>
            </a:xfrm>
            <a:prstGeom prst="rect">
              <a:avLst/>
            </a:prstGeom>
            <a:noFill/>
          </p:spPr>
          <p:txBody>
            <a:bodyPr wrap="square" lIns="0" tIns="0" rIns="0" bIns="0" anchor="ctr">
              <a:noAutofit/>
            </a:bodyPr>
            <a:lstStyle/>
            <a:p>
              <a:pPr algn="l"/>
              <a:r>
                <a:rPr lang="en-GB" sz="2000" b="0" i="0">
                  <a:solidFill>
                    <a:srgbClr val="F2F2F2"/>
                  </a:solidFill>
                  <a:latin typeface="Arial"/>
                </a:rPr>
                <a:t>A box with room takes control</a:t>
              </a:r>
            </a:p>
          </p:txBody>
        </p:sp>
        <p:sp>
          <p:nvSpPr>
            <p:cNvPr id="18" name="Rounded Rectangle 17"/>
            <p:cNvSpPr/>
            <p:nvPr/>
          </p:nvSpPr>
          <p:spPr>
            <a:xfrm>
              <a:off x="5669280" y="3154680"/>
              <a:ext cx="5971032" cy="731520"/>
            </a:xfrm>
            <a:prstGeom prst="roundRect">
              <a:avLst>
                <a:gd name="adj" fmla="val 10000"/>
              </a:avLst>
            </a:prstGeom>
            <a:solidFill>
              <a:srgbClr val="2B2F36"/>
            </a:solidFill>
            <a:ln>
              <a:noFill/>
            </a:ln>
          </p:spPr>
          <p:txBody>
            <a:bodyPr rtlCol="0" anchor="ctr"/>
            <a:lstStyle/>
            <a:p>
              <a:pPr algn="ctr"/>
              <a:endParaRPr/>
            </a:p>
          </p:txBody>
        </p:sp>
        <p:sp>
          <p:nvSpPr>
            <p:cNvPr id="19" name="Badge 3"/>
            <p:cNvSpPr/>
            <p:nvPr/>
          </p:nvSpPr>
          <p:spPr>
            <a:xfrm>
              <a:off x="5824728" y="3310128"/>
              <a:ext cx="420624" cy="420624"/>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3</a:t>
              </a:r>
            </a:p>
          </p:txBody>
        </p:sp>
        <p:sp>
          <p:nvSpPr>
            <p:cNvPr id="20" name="TextBox 19"/>
            <p:cNvSpPr txBox="1"/>
            <p:nvPr/>
          </p:nvSpPr>
          <p:spPr>
            <a:xfrm>
              <a:off x="6446520" y="3154680"/>
              <a:ext cx="5120640" cy="731520"/>
            </a:xfrm>
            <a:prstGeom prst="rect">
              <a:avLst/>
            </a:prstGeom>
            <a:noFill/>
          </p:spPr>
          <p:txBody>
            <a:bodyPr wrap="square" lIns="0" tIns="0" rIns="0" bIns="0" anchor="ctr">
              <a:noAutofit/>
            </a:bodyPr>
            <a:lstStyle/>
            <a:p>
              <a:pPr algn="l"/>
              <a:r>
                <a:rPr lang="en-GB" sz="2000" b="0" i="0">
                  <a:solidFill>
                    <a:srgbClr val="F2F2F2"/>
                  </a:solidFill>
                  <a:latin typeface="Arial"/>
                </a:rPr>
                <a:t>Rods and wires draw themselves</a:t>
              </a:r>
            </a:p>
          </p:txBody>
        </p:sp>
      </p:grpSp>
      <p:grpSp>
        <p:nvGrpSpPr>
          <p:cNvPr id="21" name="Box screen" descr="The box screen lists its signals, their state, capacity and reach."/>
          <p:cNvGrpSpPr/>
          <p:nvPr/>
        </p:nvGrpSpPr>
        <p:grpSpPr>
          <a:xfrm>
            <a:off x="5760720" y="4069080"/>
            <a:ext cx="5806440" cy="612648"/>
            <a:chOff x="5760720" y="4069080"/>
            <a:chExt cx="5806440" cy="612648"/>
          </a:xfrm>
        </p:grpSpPr>
        <p:sp>
          <p:nvSpPr>
            <p:cNvPr id="22" name="Rounded Rectangle 21"/>
            <p:cNvSpPr/>
            <p:nvPr/>
          </p:nvSpPr>
          <p:spPr>
            <a:xfrm>
              <a:off x="5760720" y="4114800"/>
              <a:ext cx="685800" cy="475488"/>
            </a:xfrm>
            <a:prstGeom prst="roundRect">
              <a:avLst>
                <a:gd name="adj" fmla="val 7692"/>
              </a:avLst>
            </a:prstGeom>
            <a:solidFill>
              <a:srgbClr val="343A43"/>
            </a:solidFill>
            <a:ln w="19050">
              <a:solidFill>
                <a:srgbClr val="9AA0A6"/>
              </a:solidFill>
            </a:ln>
          </p:spPr>
          <p:txBody>
            <a:bodyPr rtlCol="0" anchor="ctr"/>
            <a:lstStyle/>
            <a:p>
              <a:pPr algn="ctr"/>
              <a:endParaRPr/>
            </a:p>
          </p:txBody>
        </p:sp>
        <p:sp>
          <p:nvSpPr>
            <p:cNvPr id="23" name="Rectangle 22"/>
            <p:cNvSpPr/>
            <p:nvPr/>
          </p:nvSpPr>
          <p:spPr>
            <a:xfrm>
              <a:off x="5852160" y="4187952"/>
              <a:ext cx="502920" cy="54864"/>
            </a:xfrm>
            <a:prstGeom prst="rect">
              <a:avLst/>
            </a:prstGeom>
            <a:solidFill>
              <a:srgbClr val="F28C28"/>
            </a:solidFill>
            <a:ln>
              <a:noFill/>
            </a:ln>
          </p:spPr>
          <p:txBody>
            <a:bodyPr rtlCol="0" anchor="ctr"/>
            <a:lstStyle/>
            <a:p>
              <a:pPr algn="ctr"/>
              <a:endParaRPr/>
            </a:p>
          </p:txBody>
        </p:sp>
        <p:sp>
          <p:nvSpPr>
            <p:cNvPr id="24" name="Rectangle 23"/>
            <p:cNvSpPr/>
            <p:nvPr/>
          </p:nvSpPr>
          <p:spPr>
            <a:xfrm>
              <a:off x="5852160" y="4306824"/>
              <a:ext cx="502920" cy="54864"/>
            </a:xfrm>
            <a:prstGeom prst="rect">
              <a:avLst/>
            </a:prstGeom>
            <a:solidFill>
              <a:srgbClr val="9AA0A6"/>
            </a:solidFill>
            <a:ln>
              <a:noFill/>
            </a:ln>
          </p:spPr>
          <p:txBody>
            <a:bodyPr rtlCol="0" anchor="ctr"/>
            <a:lstStyle/>
            <a:p>
              <a:pPr algn="ctr"/>
              <a:endParaRPr/>
            </a:p>
          </p:txBody>
        </p:sp>
        <p:sp>
          <p:nvSpPr>
            <p:cNvPr id="25" name="Rectangle 24"/>
            <p:cNvSpPr/>
            <p:nvPr/>
          </p:nvSpPr>
          <p:spPr>
            <a:xfrm>
              <a:off x="5852160" y="4425696"/>
              <a:ext cx="502920" cy="54864"/>
            </a:xfrm>
            <a:prstGeom prst="rect">
              <a:avLst/>
            </a:prstGeom>
            <a:solidFill>
              <a:srgbClr val="9AA0A6"/>
            </a:solidFill>
            <a:ln>
              <a:noFill/>
            </a:ln>
          </p:spPr>
          <p:txBody>
            <a:bodyPr rtlCol="0" anchor="ctr"/>
            <a:lstStyle/>
            <a:p>
              <a:pPr algn="ctr"/>
              <a:endParaRPr/>
            </a:p>
          </p:txBody>
        </p:sp>
        <p:sp>
          <p:nvSpPr>
            <p:cNvPr id="26" name="Rectangle 25"/>
            <p:cNvSpPr/>
            <p:nvPr/>
          </p:nvSpPr>
          <p:spPr>
            <a:xfrm>
              <a:off x="6035040" y="4590288"/>
              <a:ext cx="137160" cy="91440"/>
            </a:xfrm>
            <a:prstGeom prst="rect">
              <a:avLst/>
            </a:prstGeom>
            <a:solidFill>
              <a:srgbClr val="9AA0A6"/>
            </a:solidFill>
            <a:ln>
              <a:noFill/>
            </a:ln>
          </p:spPr>
          <p:txBody>
            <a:bodyPr rtlCol="0" anchor="ctr"/>
            <a:lstStyle/>
            <a:p>
              <a:pPr algn="ctr"/>
              <a:endParaRPr/>
            </a:p>
          </p:txBody>
        </p:sp>
        <p:sp>
          <p:nvSpPr>
            <p:cNvPr id="27" name="TextBox 26"/>
            <p:cNvSpPr txBox="1"/>
            <p:nvPr/>
          </p:nvSpPr>
          <p:spPr>
            <a:xfrm>
              <a:off x="6629400" y="4069080"/>
              <a:ext cx="4937760" cy="566928"/>
            </a:xfrm>
            <a:prstGeom prst="rect">
              <a:avLst/>
            </a:prstGeom>
            <a:noFill/>
          </p:spPr>
          <p:txBody>
            <a:bodyPr wrap="square" lIns="0" tIns="0" rIns="0" bIns="0" anchor="ctr">
              <a:noAutofit/>
            </a:bodyPr>
            <a:lstStyle/>
            <a:p>
              <a:pPr algn="l"/>
              <a:r>
                <a:rPr lang="en-GB" sz="1800" b="0" i="0">
                  <a:solidFill>
                    <a:srgbClr val="F2F2F2"/>
                  </a:solidFill>
                  <a:latin typeface="Arial"/>
                </a:rPr>
                <a:t>Box screen: signals, state, capacity, reach.</a:t>
              </a:r>
            </a:p>
          </p:txBody>
        </p:sp>
      </p:gr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Boxes take control of connected signals automatically. Rods and wires are drawn for you, as a visual layer.</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33</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6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90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12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1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Later signals and manual control</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Signal timeline" descr="Timeline: start with semaphore blocks (agreed); later, better semaphores or interlocking (proposed); mature, electronic signals like vanilla (proposed)."/>
          <p:cNvGrpSpPr/>
          <p:nvPr/>
        </p:nvGrpSpPr>
        <p:grpSpPr>
          <a:xfrm>
            <a:off x="768096" y="1554480"/>
            <a:ext cx="5907024" cy="3346704"/>
            <a:chOff x="768096" y="1554480"/>
            <a:chExt cx="5907024" cy="3346704"/>
          </a:xfrm>
        </p:grpSpPr>
        <p:cxnSp>
          <p:nvCxnSpPr>
            <p:cNvPr id="9" name="Connector 8"/>
            <p:cNvCxnSpPr/>
            <p:nvPr/>
          </p:nvCxnSpPr>
          <p:spPr>
            <a:xfrm>
              <a:off x="960120" y="1783080"/>
              <a:ext cx="0" cy="2560320"/>
            </a:xfrm>
            <a:prstGeom prst="line">
              <a:avLst/>
            </a:prstGeom>
            <a:ln w="38100">
              <a:solidFill>
                <a:srgbClr val="9AA0A6"/>
              </a:solidFill>
            </a:ln>
          </p:spPr>
        </p:cxnSp>
        <p:sp>
          <p:nvSpPr>
            <p:cNvPr id="10" name="Oval 9"/>
            <p:cNvSpPr/>
            <p:nvPr/>
          </p:nvSpPr>
          <p:spPr>
            <a:xfrm>
              <a:off x="768096" y="1591056"/>
              <a:ext cx="384048" cy="384048"/>
            </a:xfrm>
            <a:prstGeom prst="ellipse">
              <a:avLst/>
            </a:prstGeom>
            <a:solidFill>
              <a:srgbClr val="F28C28"/>
            </a:solidFill>
            <a:ln w="38100">
              <a:solidFill>
                <a:srgbClr val="F28C28"/>
              </a:solidFill>
            </a:ln>
          </p:spPr>
          <p:txBody>
            <a:bodyPr rtlCol="0" anchor="ctr"/>
            <a:lstStyle/>
            <a:p>
              <a:pPr algn="ctr"/>
              <a:endParaRPr/>
            </a:p>
          </p:txBody>
        </p:sp>
        <p:sp>
          <p:nvSpPr>
            <p:cNvPr id="11" name="TextBox 10"/>
            <p:cNvSpPr txBox="1"/>
            <p:nvPr/>
          </p:nvSpPr>
          <p:spPr>
            <a:xfrm>
              <a:off x="1371600" y="1554480"/>
              <a:ext cx="5303520" cy="411480"/>
            </a:xfrm>
            <a:prstGeom prst="rect">
              <a:avLst/>
            </a:prstGeom>
            <a:noFill/>
          </p:spPr>
          <p:txBody>
            <a:bodyPr wrap="square" lIns="0" tIns="0" rIns="0" bIns="0" anchor="ctr">
              <a:noAutofit/>
            </a:bodyPr>
            <a:lstStyle/>
            <a:p>
              <a:pPr algn="l"/>
              <a:r>
                <a:rPr lang="en-GB" sz="2000" b="0" i="0">
                  <a:solidFill>
                    <a:srgbClr val="F2F2F2"/>
                  </a:solidFill>
                  <a:latin typeface="Arial"/>
                </a:rPr>
                <a:t>Start: semaphore blocks</a:t>
              </a:r>
            </a:p>
          </p:txBody>
        </p:sp>
        <p:sp>
          <p:nvSpPr>
            <p:cNvPr id="12" name="Inline chip Agreed"/>
            <p:cNvSpPr/>
            <p:nvPr/>
          </p:nvSpPr>
          <p:spPr>
            <a:xfrm>
              <a:off x="1371600" y="2011680"/>
              <a:ext cx="112141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13" name="Oval 12"/>
            <p:cNvSpPr/>
            <p:nvPr/>
          </p:nvSpPr>
          <p:spPr>
            <a:xfrm>
              <a:off x="768096" y="2871216"/>
              <a:ext cx="384048" cy="384048"/>
            </a:xfrm>
            <a:prstGeom prst="ellipse">
              <a:avLst/>
            </a:prstGeom>
            <a:solidFill>
              <a:srgbClr val="1E2126"/>
            </a:solidFill>
            <a:ln w="38100">
              <a:solidFill>
                <a:srgbClr val="F28C28"/>
              </a:solidFill>
            </a:ln>
          </p:spPr>
          <p:txBody>
            <a:bodyPr rtlCol="0" anchor="ctr"/>
            <a:lstStyle/>
            <a:p>
              <a:pPr algn="ctr"/>
              <a:endParaRPr/>
            </a:p>
          </p:txBody>
        </p:sp>
        <p:sp>
          <p:nvSpPr>
            <p:cNvPr id="14" name="TextBox 13"/>
            <p:cNvSpPr txBox="1"/>
            <p:nvPr/>
          </p:nvSpPr>
          <p:spPr>
            <a:xfrm>
              <a:off x="1371600" y="2834640"/>
              <a:ext cx="5303520" cy="411480"/>
            </a:xfrm>
            <a:prstGeom prst="rect">
              <a:avLst/>
            </a:prstGeom>
            <a:noFill/>
          </p:spPr>
          <p:txBody>
            <a:bodyPr wrap="square" lIns="0" tIns="0" rIns="0" bIns="0" anchor="ctr">
              <a:noAutofit/>
            </a:bodyPr>
            <a:lstStyle/>
            <a:p>
              <a:pPr algn="l"/>
              <a:r>
                <a:rPr lang="en-GB" sz="2000" b="0" i="0">
                  <a:solidFill>
                    <a:srgbClr val="F2F2F2"/>
                  </a:solidFill>
                  <a:latin typeface="Arial"/>
                </a:rPr>
                <a:t>Later: better semaphore or interlocking</a:t>
              </a:r>
            </a:p>
          </p:txBody>
        </p:sp>
        <p:sp>
          <p:nvSpPr>
            <p:cNvPr id="15" name="Inline chip Proposed"/>
            <p:cNvSpPr/>
            <p:nvPr/>
          </p:nvSpPr>
          <p:spPr>
            <a:xfrm>
              <a:off x="1371600" y="329184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16" name="Oval 15"/>
            <p:cNvSpPr/>
            <p:nvPr/>
          </p:nvSpPr>
          <p:spPr>
            <a:xfrm>
              <a:off x="768096" y="4151376"/>
              <a:ext cx="384048" cy="384048"/>
            </a:xfrm>
            <a:prstGeom prst="ellipse">
              <a:avLst/>
            </a:prstGeom>
            <a:solidFill>
              <a:srgbClr val="1E2126"/>
            </a:solidFill>
            <a:ln w="38100">
              <a:solidFill>
                <a:srgbClr val="F28C28"/>
              </a:solidFill>
            </a:ln>
          </p:spPr>
          <p:txBody>
            <a:bodyPr rtlCol="0" anchor="ctr"/>
            <a:lstStyle/>
            <a:p>
              <a:pPr algn="ctr"/>
              <a:endParaRPr/>
            </a:p>
          </p:txBody>
        </p:sp>
        <p:sp>
          <p:nvSpPr>
            <p:cNvPr id="17" name="TextBox 16"/>
            <p:cNvSpPr txBox="1"/>
            <p:nvPr/>
          </p:nvSpPr>
          <p:spPr>
            <a:xfrm>
              <a:off x="1371600" y="4114800"/>
              <a:ext cx="5303520" cy="411480"/>
            </a:xfrm>
            <a:prstGeom prst="rect">
              <a:avLst/>
            </a:prstGeom>
            <a:noFill/>
          </p:spPr>
          <p:txBody>
            <a:bodyPr wrap="square" lIns="0" tIns="0" rIns="0" bIns="0" anchor="ctr">
              <a:noAutofit/>
            </a:bodyPr>
            <a:lstStyle/>
            <a:p>
              <a:pPr algn="l"/>
              <a:r>
                <a:rPr lang="en-GB" sz="2000" b="0" i="0">
                  <a:solidFill>
                    <a:srgbClr val="F2F2F2"/>
                  </a:solidFill>
                  <a:latin typeface="Arial"/>
                </a:rPr>
                <a:t>Mature: electronic signals like vanilla</a:t>
              </a:r>
            </a:p>
          </p:txBody>
        </p:sp>
        <p:sp>
          <p:nvSpPr>
            <p:cNvPr id="18" name="Inline chip Proposed"/>
            <p:cNvSpPr/>
            <p:nvPr/>
          </p:nvSpPr>
          <p:spPr>
            <a:xfrm>
              <a:off x="1371600" y="457200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grpSp>
      <p:grpSp>
        <p:nvGrpSpPr>
          <p:cNvPr id="19" name="Track diagram panel" descr="A dark track-diagram panel with mode buttons AUTO, YARD and MAINLINE. Lines and nodes show the network; the chosen route is bright orange and the other routes are grey."/>
          <p:cNvGrpSpPr/>
          <p:nvPr/>
        </p:nvGrpSpPr>
        <p:grpSpPr>
          <a:xfrm>
            <a:off x="7616952" y="1325880"/>
            <a:ext cx="4023360" cy="3017520"/>
            <a:chOff x="7616952" y="1325880"/>
            <a:chExt cx="4023360" cy="3017520"/>
          </a:xfrm>
        </p:grpSpPr>
        <p:sp>
          <p:nvSpPr>
            <p:cNvPr id="20" name="Rounded Rectangle 19"/>
            <p:cNvSpPr/>
            <p:nvPr/>
          </p:nvSpPr>
          <p:spPr>
            <a:xfrm>
              <a:off x="7616952" y="1325880"/>
              <a:ext cx="4023360" cy="3017520"/>
            </a:xfrm>
            <a:prstGeom prst="roundRect">
              <a:avLst>
                <a:gd name="adj" fmla="val 3636"/>
              </a:avLst>
            </a:prstGeom>
            <a:solidFill>
              <a:srgbClr val="1B1D21"/>
            </a:solidFill>
            <a:ln w="19050">
              <a:solidFill>
                <a:srgbClr val="9AA0A6"/>
              </a:solidFill>
            </a:ln>
          </p:spPr>
          <p:txBody>
            <a:bodyPr rtlCol="0" anchor="ctr"/>
            <a:lstStyle/>
            <a:p>
              <a:pPr algn="ctr"/>
              <a:endParaRPr/>
            </a:p>
          </p:txBody>
        </p:sp>
        <p:sp>
          <p:nvSpPr>
            <p:cNvPr id="21" name="Rounded Rectangle 20"/>
            <p:cNvSpPr/>
            <p:nvPr/>
          </p:nvSpPr>
          <p:spPr>
            <a:xfrm>
              <a:off x="7845552" y="1508760"/>
              <a:ext cx="867360" cy="329184"/>
            </a:xfrm>
            <a:prstGeom prst="roundRect">
              <a:avLst>
                <a:gd name="adj" fmla="val 50000"/>
              </a:avLst>
            </a:prstGeom>
            <a:solidFill>
              <a:srgbClr val="343A43"/>
            </a:solidFill>
            <a:ln w="19050">
              <a:solidFill>
                <a:srgbClr val="9AA0A6"/>
              </a:solidFill>
            </a:ln>
          </p:spPr>
          <p:txBody>
            <a:bodyPr wrap="square" lIns="54864" tIns="18288" rIns="54864" bIns="18288" rtlCol="0" anchor="ctr">
              <a:noAutofit/>
            </a:bodyPr>
            <a:lstStyle/>
            <a:p>
              <a:pPr algn="ctr"/>
              <a:r>
                <a:rPr lang="en-GB" sz="1400" b="1" i="0">
                  <a:solidFill>
                    <a:srgbClr val="F2F2F2"/>
                  </a:solidFill>
                  <a:latin typeface="Arial"/>
                </a:rPr>
                <a:t>AUTO</a:t>
              </a:r>
            </a:p>
          </p:txBody>
        </p:sp>
        <p:sp>
          <p:nvSpPr>
            <p:cNvPr id="22" name="Rounded Rectangle 21"/>
            <p:cNvSpPr/>
            <p:nvPr/>
          </p:nvSpPr>
          <p:spPr>
            <a:xfrm>
              <a:off x="8822640" y="1508760"/>
              <a:ext cx="863987" cy="329184"/>
            </a:xfrm>
            <a:prstGeom prst="roundRect">
              <a:avLst>
                <a:gd name="adj" fmla="val 50000"/>
              </a:avLst>
            </a:prstGeom>
            <a:solidFill>
              <a:srgbClr val="343A43"/>
            </a:solidFill>
            <a:ln w="19050">
              <a:solidFill>
                <a:srgbClr val="9AA0A6"/>
              </a:solidFill>
            </a:ln>
          </p:spPr>
          <p:txBody>
            <a:bodyPr wrap="square" lIns="54864" tIns="18288" rIns="54864" bIns="18288" rtlCol="0" anchor="ctr">
              <a:noAutofit/>
            </a:bodyPr>
            <a:lstStyle/>
            <a:p>
              <a:pPr algn="ctr"/>
              <a:r>
                <a:rPr lang="en-GB" sz="1400" b="1" i="0">
                  <a:solidFill>
                    <a:srgbClr val="F2F2F2"/>
                  </a:solidFill>
                  <a:latin typeface="Arial"/>
                </a:rPr>
                <a:t>YARD</a:t>
              </a:r>
            </a:p>
          </p:txBody>
        </p:sp>
        <p:sp>
          <p:nvSpPr>
            <p:cNvPr id="23" name="Rounded Rectangle 22"/>
            <p:cNvSpPr/>
            <p:nvPr/>
          </p:nvSpPr>
          <p:spPr>
            <a:xfrm>
              <a:off x="9796355" y="1508760"/>
              <a:ext cx="1223010" cy="329184"/>
            </a:xfrm>
            <a:prstGeom prst="roundRect">
              <a:avLst>
                <a:gd name="adj" fmla="val 50000"/>
              </a:avLst>
            </a:prstGeom>
            <a:solidFill>
              <a:srgbClr val="343A43"/>
            </a:solidFill>
            <a:ln w="19050">
              <a:solidFill>
                <a:srgbClr val="9AA0A6"/>
              </a:solidFill>
            </a:ln>
          </p:spPr>
          <p:txBody>
            <a:bodyPr wrap="square" lIns="54864" tIns="18288" rIns="54864" bIns="18288" rtlCol="0" anchor="ctr">
              <a:noAutofit/>
            </a:bodyPr>
            <a:lstStyle/>
            <a:p>
              <a:pPr algn="ctr"/>
              <a:r>
                <a:rPr lang="en-GB" sz="1400" b="1" i="0">
                  <a:solidFill>
                    <a:srgbClr val="F2F2F2"/>
                  </a:solidFill>
                  <a:latin typeface="Arial"/>
                </a:rPr>
                <a:t>MAINLINE</a:t>
              </a:r>
            </a:p>
          </p:txBody>
        </p:sp>
        <p:cxnSp>
          <p:nvCxnSpPr>
            <p:cNvPr id="24" name="Connector 23"/>
            <p:cNvCxnSpPr/>
            <p:nvPr/>
          </p:nvCxnSpPr>
          <p:spPr>
            <a:xfrm>
              <a:off x="9034272" y="3154680"/>
              <a:ext cx="1097280" cy="0"/>
            </a:xfrm>
            <a:prstGeom prst="line">
              <a:avLst/>
            </a:prstGeom>
            <a:ln w="63500">
              <a:solidFill>
                <a:srgbClr val="4A515B"/>
              </a:solidFill>
            </a:ln>
          </p:spPr>
        </p:cxnSp>
        <p:cxnSp>
          <p:nvCxnSpPr>
            <p:cNvPr id="25" name="Connector 24"/>
            <p:cNvCxnSpPr/>
            <p:nvPr/>
          </p:nvCxnSpPr>
          <p:spPr>
            <a:xfrm>
              <a:off x="10131552" y="3154680"/>
              <a:ext cx="1097280" cy="0"/>
            </a:xfrm>
            <a:prstGeom prst="line">
              <a:avLst/>
            </a:prstGeom>
            <a:ln w="63500">
              <a:solidFill>
                <a:srgbClr val="4A515B"/>
              </a:solidFill>
            </a:ln>
          </p:spPr>
        </p:cxnSp>
        <p:cxnSp>
          <p:nvCxnSpPr>
            <p:cNvPr id="26" name="Connector 25"/>
            <p:cNvCxnSpPr/>
            <p:nvPr/>
          </p:nvCxnSpPr>
          <p:spPr>
            <a:xfrm>
              <a:off x="10131552" y="3154680"/>
              <a:ext cx="1097280" cy="731520"/>
            </a:xfrm>
            <a:prstGeom prst="line">
              <a:avLst/>
            </a:prstGeom>
            <a:ln w="63500">
              <a:solidFill>
                <a:srgbClr val="4A515B"/>
              </a:solidFill>
            </a:ln>
          </p:spPr>
        </p:cxnSp>
        <p:cxnSp>
          <p:nvCxnSpPr>
            <p:cNvPr id="27" name="Connector 26"/>
            <p:cNvCxnSpPr/>
            <p:nvPr/>
          </p:nvCxnSpPr>
          <p:spPr>
            <a:xfrm>
              <a:off x="8028432" y="3154680"/>
              <a:ext cx="1005840" cy="0"/>
            </a:xfrm>
            <a:prstGeom prst="line">
              <a:avLst/>
            </a:prstGeom>
            <a:ln w="76200">
              <a:solidFill>
                <a:srgbClr val="F28C28"/>
              </a:solidFill>
            </a:ln>
          </p:spPr>
        </p:cxnSp>
        <p:cxnSp>
          <p:nvCxnSpPr>
            <p:cNvPr id="28" name="Connector 27"/>
            <p:cNvCxnSpPr/>
            <p:nvPr/>
          </p:nvCxnSpPr>
          <p:spPr>
            <a:xfrm flipV="1">
              <a:off x="9034272" y="2423160"/>
              <a:ext cx="1097280" cy="731520"/>
            </a:xfrm>
            <a:prstGeom prst="line">
              <a:avLst/>
            </a:prstGeom>
            <a:ln w="76200">
              <a:solidFill>
                <a:srgbClr val="F28C28"/>
              </a:solidFill>
            </a:ln>
          </p:spPr>
        </p:cxnSp>
        <p:cxnSp>
          <p:nvCxnSpPr>
            <p:cNvPr id="29" name="Connector 28"/>
            <p:cNvCxnSpPr/>
            <p:nvPr/>
          </p:nvCxnSpPr>
          <p:spPr>
            <a:xfrm>
              <a:off x="10131552" y="2423160"/>
              <a:ext cx="1097280" cy="0"/>
            </a:xfrm>
            <a:prstGeom prst="line">
              <a:avLst/>
            </a:prstGeom>
            <a:ln w="76200">
              <a:solidFill>
                <a:srgbClr val="F28C28"/>
              </a:solidFill>
            </a:ln>
          </p:spPr>
        </p:cxnSp>
        <p:sp>
          <p:nvSpPr>
            <p:cNvPr id="30" name="Oval 29"/>
            <p:cNvSpPr/>
            <p:nvPr/>
          </p:nvSpPr>
          <p:spPr>
            <a:xfrm>
              <a:off x="7918704" y="3044952"/>
              <a:ext cx="219456" cy="219456"/>
            </a:xfrm>
            <a:prstGeom prst="ellipse">
              <a:avLst/>
            </a:prstGeom>
            <a:solidFill>
              <a:srgbClr val="F2F2F2"/>
            </a:solidFill>
            <a:ln w="12700">
              <a:solidFill>
                <a:srgbClr val="1B1D21"/>
              </a:solidFill>
            </a:ln>
          </p:spPr>
          <p:txBody>
            <a:bodyPr rtlCol="0" anchor="ctr"/>
            <a:lstStyle/>
            <a:p>
              <a:pPr algn="ctr"/>
              <a:endParaRPr/>
            </a:p>
          </p:txBody>
        </p:sp>
        <p:sp>
          <p:nvSpPr>
            <p:cNvPr id="31" name="Oval 30"/>
            <p:cNvSpPr/>
            <p:nvPr/>
          </p:nvSpPr>
          <p:spPr>
            <a:xfrm>
              <a:off x="8924544" y="3044952"/>
              <a:ext cx="219456" cy="219456"/>
            </a:xfrm>
            <a:prstGeom prst="ellipse">
              <a:avLst/>
            </a:prstGeom>
            <a:solidFill>
              <a:srgbClr val="F2F2F2"/>
            </a:solidFill>
            <a:ln w="12700">
              <a:solidFill>
                <a:srgbClr val="1B1D21"/>
              </a:solidFill>
            </a:ln>
          </p:spPr>
          <p:txBody>
            <a:bodyPr rtlCol="0" anchor="ctr"/>
            <a:lstStyle/>
            <a:p>
              <a:pPr algn="ctr"/>
              <a:endParaRPr/>
            </a:p>
          </p:txBody>
        </p:sp>
        <p:sp>
          <p:nvSpPr>
            <p:cNvPr id="32" name="Oval 31"/>
            <p:cNvSpPr/>
            <p:nvPr/>
          </p:nvSpPr>
          <p:spPr>
            <a:xfrm>
              <a:off x="10021824" y="2313432"/>
              <a:ext cx="219456" cy="219456"/>
            </a:xfrm>
            <a:prstGeom prst="ellipse">
              <a:avLst/>
            </a:prstGeom>
            <a:solidFill>
              <a:srgbClr val="F2F2F2"/>
            </a:solidFill>
            <a:ln w="12700">
              <a:solidFill>
                <a:srgbClr val="1B1D21"/>
              </a:solidFill>
            </a:ln>
          </p:spPr>
          <p:txBody>
            <a:bodyPr rtlCol="0" anchor="ctr"/>
            <a:lstStyle/>
            <a:p>
              <a:pPr algn="ctr"/>
              <a:endParaRPr/>
            </a:p>
          </p:txBody>
        </p:sp>
        <p:sp>
          <p:nvSpPr>
            <p:cNvPr id="33" name="Oval 32"/>
            <p:cNvSpPr/>
            <p:nvPr/>
          </p:nvSpPr>
          <p:spPr>
            <a:xfrm>
              <a:off x="11119104" y="2313432"/>
              <a:ext cx="219456" cy="219456"/>
            </a:xfrm>
            <a:prstGeom prst="ellipse">
              <a:avLst/>
            </a:prstGeom>
            <a:solidFill>
              <a:srgbClr val="F2F2F2"/>
            </a:solidFill>
            <a:ln w="12700">
              <a:solidFill>
                <a:srgbClr val="1B1D21"/>
              </a:solidFill>
            </a:ln>
          </p:spPr>
          <p:txBody>
            <a:bodyPr rtlCol="0" anchor="ctr"/>
            <a:lstStyle/>
            <a:p>
              <a:pPr algn="ctr"/>
              <a:endParaRPr/>
            </a:p>
          </p:txBody>
        </p:sp>
        <p:sp>
          <p:nvSpPr>
            <p:cNvPr id="34" name="Oval 33"/>
            <p:cNvSpPr/>
            <p:nvPr/>
          </p:nvSpPr>
          <p:spPr>
            <a:xfrm>
              <a:off x="10021824" y="3044952"/>
              <a:ext cx="219456" cy="219456"/>
            </a:xfrm>
            <a:prstGeom prst="ellipse">
              <a:avLst/>
            </a:prstGeom>
            <a:solidFill>
              <a:srgbClr val="F2F2F2"/>
            </a:solidFill>
            <a:ln w="12700">
              <a:solidFill>
                <a:srgbClr val="1B1D21"/>
              </a:solidFill>
            </a:ln>
          </p:spPr>
          <p:txBody>
            <a:bodyPr rtlCol="0" anchor="ctr"/>
            <a:lstStyle/>
            <a:p>
              <a:pPr algn="ctr"/>
              <a:endParaRPr/>
            </a:p>
          </p:txBody>
        </p:sp>
        <p:sp>
          <p:nvSpPr>
            <p:cNvPr id="35" name="Oval 34"/>
            <p:cNvSpPr/>
            <p:nvPr/>
          </p:nvSpPr>
          <p:spPr>
            <a:xfrm>
              <a:off x="11119104" y="3044952"/>
              <a:ext cx="219456" cy="219456"/>
            </a:xfrm>
            <a:prstGeom prst="ellipse">
              <a:avLst/>
            </a:prstGeom>
            <a:solidFill>
              <a:srgbClr val="F2F2F2"/>
            </a:solidFill>
            <a:ln w="12700">
              <a:solidFill>
                <a:srgbClr val="1B1D21"/>
              </a:solidFill>
            </a:ln>
          </p:spPr>
          <p:txBody>
            <a:bodyPr rtlCol="0" anchor="ctr"/>
            <a:lstStyle/>
            <a:p>
              <a:pPr algn="ctr"/>
              <a:endParaRPr/>
            </a:p>
          </p:txBody>
        </p:sp>
        <p:sp>
          <p:nvSpPr>
            <p:cNvPr id="36" name="Oval 35"/>
            <p:cNvSpPr/>
            <p:nvPr/>
          </p:nvSpPr>
          <p:spPr>
            <a:xfrm>
              <a:off x="11119104" y="3776472"/>
              <a:ext cx="219456" cy="219456"/>
            </a:xfrm>
            <a:prstGeom prst="ellipse">
              <a:avLst/>
            </a:prstGeom>
            <a:solidFill>
              <a:srgbClr val="F2F2F2"/>
            </a:solidFill>
            <a:ln w="12700">
              <a:solidFill>
                <a:srgbClr val="1B1D21"/>
              </a:solidFill>
            </a:ln>
          </p:spPr>
          <p:txBody>
            <a:bodyPr rtlCol="0" anchor="ctr"/>
            <a:lstStyle/>
            <a:p>
              <a:pPr algn="ctr"/>
              <a:endParaRPr/>
            </a:p>
          </p:txBody>
        </p:sp>
        <p:sp>
          <p:nvSpPr>
            <p:cNvPr id="37" name="Freeform 36"/>
            <p:cNvSpPr/>
            <p:nvPr/>
          </p:nvSpPr>
          <p:spPr>
            <a:xfrm>
              <a:off x="7918704" y="2862072"/>
              <a:ext cx="219456" cy="146304"/>
            </a:xfrm>
            <a:custGeom>
              <a:avLst/>
              <a:gdLst/>
              <a:ahLst/>
              <a:cxnLst/>
              <a:rect l="l" t="t" r="r" b="b"/>
              <a:pathLst>
                <a:path w="219456" h="146304">
                  <a:moveTo>
                    <a:pt x="0" y="0"/>
                  </a:moveTo>
                  <a:lnTo>
                    <a:pt x="219456" y="0"/>
                  </a:lnTo>
                  <a:lnTo>
                    <a:pt x="109728" y="146304"/>
                  </a:lnTo>
                  <a:close/>
                </a:path>
              </a:pathLst>
            </a:custGeom>
            <a:solidFill>
              <a:srgbClr val="F28C28"/>
            </a:solidFill>
            <a:ln>
              <a:noFill/>
            </a:ln>
          </p:spPr>
          <p:txBody>
            <a:bodyPr rtlCol="0" anchor="ctr"/>
            <a:lstStyle/>
            <a:p>
              <a:pPr algn="ctr"/>
              <a:endParaRPr/>
            </a:p>
          </p:txBody>
        </p:sp>
      </p:grpSp>
      <p:sp>
        <p:nvSpPr>
          <p:cNvPr id="38" name="TextBox 37"/>
          <p:cNvSpPr txBox="1"/>
          <p:nvPr/>
        </p:nvSpPr>
        <p:spPr>
          <a:xfrm>
            <a:off x="7616952" y="4434840"/>
            <a:ext cx="4023360" cy="566928"/>
          </a:xfrm>
          <a:prstGeom prst="rect">
            <a:avLst/>
          </a:prstGeom>
          <a:noFill/>
        </p:spPr>
        <p:txBody>
          <a:bodyPr wrap="square" lIns="0" tIns="0" rIns="0" bIns="0" anchor="t">
            <a:noAutofit/>
          </a:bodyPr>
          <a:lstStyle/>
          <a:p>
            <a:pPr algn="l"/>
            <a:r>
              <a:rPr lang="en-GB" sz="1800" b="0" i="0">
                <a:solidFill>
                  <a:srgbClr val="F2F2F2"/>
                </a:solidFill>
                <a:latin typeface="Arial"/>
              </a:rPr>
              <a:t>Pick a destination and let the game set points:</a:t>
            </a:r>
          </a:p>
        </p:txBody>
      </p:sp>
      <p:sp>
        <p:nvSpPr>
          <p:cNvPr id="39" name="Inline chip Proposed"/>
          <p:cNvSpPr/>
          <p:nvPr/>
        </p:nvSpPr>
        <p:spPr>
          <a:xfrm>
            <a:off x="7616952" y="502920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Better signals come later. Drivers can also set points from a simple track diagram.</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SIGNALS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34</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60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nodeType="withEffect">
                                  <p:stCondLst>
                                    <p:cond delay="90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par>
                                <p:cTn id="17" presetID="10" presetClass="entr" presetSubtype="0" fill="hold" nodeType="withEffect">
                                  <p:stCondLst>
                                    <p:cond delay="12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nodeType="withEffect">
                                  <p:stCondLst>
                                    <p:cond delay="1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Upgrading to the monorail</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8" name="Right Arrow 7">
            <a:extLst>
              <a:ext uri="{C183D7F6-B498-43B3-948B-1728B52AA6E4}">
                <adec:decorative xmlns:adec="http://schemas.microsoft.com/office/drawing/2017/decorative" val="1"/>
              </a:ext>
            </a:extLst>
          </p:cNvPr>
          <p:cNvSpPr/>
          <p:nvPr/>
        </p:nvSpPr>
        <p:spPr>
          <a:xfrm>
            <a:off x="4041648" y="2743200"/>
            <a:ext cx="274320" cy="365760"/>
          </a:xfrm>
          <a:prstGeom prst="rightArrow">
            <a:avLst/>
          </a:prstGeom>
          <a:solidFill>
            <a:srgbClr val="F28C28"/>
          </a:solidFill>
          <a:ln>
            <a:noFill/>
          </a:ln>
        </p:spPr>
        <p:txBody>
          <a:bodyPr rtlCol="0" anchor="ctr"/>
          <a:lstStyle/>
          <a:p>
            <a:pPr algn="ctr"/>
            <a:endParaRPr/>
          </a:p>
        </p:txBody>
      </p:sp>
      <p:sp>
        <p:nvSpPr>
          <p:cNvPr id="9" name="Right Arrow 8">
            <a:extLst>
              <a:ext uri="{C183D7F6-B498-43B3-948B-1728B52AA6E4}">
                <adec:decorative xmlns:adec="http://schemas.microsoft.com/office/drawing/2017/decorative" val="1"/>
              </a:ext>
            </a:extLst>
          </p:cNvPr>
          <p:cNvSpPr/>
          <p:nvPr/>
        </p:nvSpPr>
        <p:spPr>
          <a:xfrm>
            <a:off x="7872984" y="2743200"/>
            <a:ext cx="274320" cy="365760"/>
          </a:xfrm>
          <a:prstGeom prst="rightArrow">
            <a:avLst/>
          </a:prstGeom>
          <a:solidFill>
            <a:srgbClr val="F28C28"/>
          </a:solidFill>
          <a:ln>
            <a:noFill/>
          </a:ln>
        </p:spPr>
        <p:txBody>
          <a:bodyPr rtlCol="0" anchor="ctr"/>
          <a:lstStyle/>
          <a:p>
            <a:pPr algn="ctr"/>
            <a:endParaRPr/>
          </a:p>
        </p:txBody>
      </p:sp>
      <p:grpSp>
        <p:nvGrpSpPr>
          <p:cNvPr id="10" name="Before" descr="Before: a steam route with a branch, all two-rail steam track, stations as circles."/>
          <p:cNvGrpSpPr/>
          <p:nvPr/>
        </p:nvGrpSpPr>
        <p:grpSpPr>
          <a:xfrm>
            <a:off x="548640" y="1371600"/>
            <a:ext cx="3429000" cy="3520440"/>
            <a:chOff x="548640" y="1371600"/>
            <a:chExt cx="3429000" cy="3520440"/>
          </a:xfrm>
        </p:grpSpPr>
        <p:sp>
          <p:nvSpPr>
            <p:cNvPr id="11" name="Rounded Rectangle 10"/>
            <p:cNvSpPr/>
            <p:nvPr/>
          </p:nvSpPr>
          <p:spPr>
            <a:xfrm>
              <a:off x="548640" y="1371600"/>
              <a:ext cx="3429000" cy="3520440"/>
            </a:xfrm>
            <a:prstGeom prst="roundRect">
              <a:avLst>
                <a:gd name="adj" fmla="val 2666"/>
              </a:avLst>
            </a:prstGeom>
            <a:solidFill>
              <a:srgbClr val="2B2F36"/>
            </a:solidFill>
            <a:ln>
              <a:noFill/>
            </a:ln>
          </p:spPr>
          <p:txBody>
            <a:bodyPr rtlCol="0" anchor="ctr"/>
            <a:lstStyle/>
            <a:p>
              <a:pPr algn="ctr"/>
              <a:endParaRPr/>
            </a:p>
          </p:txBody>
        </p:sp>
        <p:sp>
          <p:nvSpPr>
            <p:cNvPr id="12" name="TextBox 11"/>
            <p:cNvSpPr txBox="1"/>
            <p:nvPr/>
          </p:nvSpPr>
          <p:spPr>
            <a:xfrm>
              <a:off x="731520" y="1481328"/>
              <a:ext cx="2286000" cy="384048"/>
            </a:xfrm>
            <a:prstGeom prst="rect">
              <a:avLst/>
            </a:prstGeom>
            <a:noFill/>
          </p:spPr>
          <p:txBody>
            <a:bodyPr wrap="square" lIns="0" tIns="0" rIns="0" bIns="0" anchor="t">
              <a:noAutofit/>
            </a:bodyPr>
            <a:lstStyle/>
            <a:p>
              <a:pPr algn="l"/>
              <a:r>
                <a:rPr lang="en-GB" sz="2000" b="1" i="0">
                  <a:solidFill>
                    <a:srgbClr val="F2F2F2"/>
                  </a:solidFill>
                  <a:latin typeface="Arial"/>
                </a:rPr>
                <a:t>Before</a:t>
              </a:r>
            </a:p>
          </p:txBody>
        </p:sp>
        <p:cxnSp>
          <p:nvCxnSpPr>
            <p:cNvPr id="13" name="Connector 12"/>
            <p:cNvCxnSpPr/>
            <p:nvPr/>
          </p:nvCxnSpPr>
          <p:spPr>
            <a:xfrm>
              <a:off x="960120" y="2980944"/>
              <a:ext cx="1188720" cy="0"/>
            </a:xfrm>
            <a:prstGeom prst="line">
              <a:avLst/>
            </a:prstGeom>
            <a:ln w="28575">
              <a:solidFill>
                <a:srgbClr val="F28C28"/>
              </a:solidFill>
            </a:ln>
          </p:spPr>
        </p:cxnSp>
        <p:cxnSp>
          <p:nvCxnSpPr>
            <p:cNvPr id="14" name="Connector 13"/>
            <p:cNvCxnSpPr/>
            <p:nvPr/>
          </p:nvCxnSpPr>
          <p:spPr>
            <a:xfrm>
              <a:off x="960120" y="2871216"/>
              <a:ext cx="1188720" cy="0"/>
            </a:xfrm>
            <a:prstGeom prst="line">
              <a:avLst/>
            </a:prstGeom>
            <a:ln w="28575">
              <a:solidFill>
                <a:srgbClr val="F28C28"/>
              </a:solidFill>
            </a:ln>
          </p:spPr>
        </p:cxnSp>
        <p:cxnSp>
          <p:nvCxnSpPr>
            <p:cNvPr id="15" name="Connector 14"/>
            <p:cNvCxnSpPr/>
            <p:nvPr/>
          </p:nvCxnSpPr>
          <p:spPr>
            <a:xfrm>
              <a:off x="2148840" y="2980944"/>
              <a:ext cx="1417320" cy="0"/>
            </a:xfrm>
            <a:prstGeom prst="line">
              <a:avLst/>
            </a:prstGeom>
            <a:ln w="28575">
              <a:solidFill>
                <a:srgbClr val="F28C28"/>
              </a:solidFill>
            </a:ln>
          </p:spPr>
        </p:cxnSp>
        <p:cxnSp>
          <p:nvCxnSpPr>
            <p:cNvPr id="16" name="Connector 15"/>
            <p:cNvCxnSpPr/>
            <p:nvPr/>
          </p:nvCxnSpPr>
          <p:spPr>
            <a:xfrm>
              <a:off x="2148840" y="2871216"/>
              <a:ext cx="1417320" cy="0"/>
            </a:xfrm>
            <a:prstGeom prst="line">
              <a:avLst/>
            </a:prstGeom>
            <a:ln w="28575">
              <a:solidFill>
                <a:srgbClr val="F28C28"/>
              </a:solidFill>
            </a:ln>
          </p:spPr>
        </p:cxnSp>
        <p:cxnSp>
          <p:nvCxnSpPr>
            <p:cNvPr id="17" name="Connector 16"/>
            <p:cNvCxnSpPr/>
            <p:nvPr/>
          </p:nvCxnSpPr>
          <p:spPr>
            <a:xfrm>
              <a:off x="2116571" y="2970450"/>
              <a:ext cx="1005840" cy="731520"/>
            </a:xfrm>
            <a:prstGeom prst="line">
              <a:avLst/>
            </a:prstGeom>
            <a:ln w="28575">
              <a:solidFill>
                <a:srgbClr val="F28C28"/>
              </a:solidFill>
            </a:ln>
          </p:spPr>
        </p:cxnSp>
        <p:cxnSp>
          <p:nvCxnSpPr>
            <p:cNvPr id="18" name="Connector 17"/>
            <p:cNvCxnSpPr/>
            <p:nvPr/>
          </p:nvCxnSpPr>
          <p:spPr>
            <a:xfrm>
              <a:off x="2181109" y="2881710"/>
              <a:ext cx="1005840" cy="731520"/>
            </a:xfrm>
            <a:prstGeom prst="line">
              <a:avLst/>
            </a:prstGeom>
            <a:ln w="28575">
              <a:solidFill>
                <a:srgbClr val="F28C28"/>
              </a:solidFill>
            </a:ln>
          </p:spPr>
        </p:cxnSp>
        <p:sp>
          <p:nvSpPr>
            <p:cNvPr id="19" name="Oval 18"/>
            <p:cNvSpPr/>
            <p:nvPr/>
          </p:nvSpPr>
          <p:spPr>
            <a:xfrm>
              <a:off x="822960" y="278892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20" name="Oval 19"/>
            <p:cNvSpPr/>
            <p:nvPr/>
          </p:nvSpPr>
          <p:spPr>
            <a:xfrm>
              <a:off x="2011680" y="278892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21" name="Oval 20"/>
            <p:cNvSpPr/>
            <p:nvPr/>
          </p:nvSpPr>
          <p:spPr>
            <a:xfrm>
              <a:off x="3429000" y="278892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22" name="Oval 21"/>
            <p:cNvSpPr/>
            <p:nvPr/>
          </p:nvSpPr>
          <p:spPr>
            <a:xfrm>
              <a:off x="3017520" y="3520440"/>
              <a:ext cx="274320" cy="274320"/>
            </a:xfrm>
            <a:prstGeom prst="ellipse">
              <a:avLst/>
            </a:prstGeom>
            <a:solidFill>
              <a:srgbClr val="1E2126"/>
            </a:solidFill>
            <a:ln w="25400">
              <a:solidFill>
                <a:srgbClr val="F2F2F2"/>
              </a:solidFill>
            </a:ln>
          </p:spPr>
          <p:txBody>
            <a:bodyPr rtlCol="0" anchor="ctr"/>
            <a:lstStyle/>
            <a:p>
              <a:pPr algn="ctr"/>
              <a:endParaRPr/>
            </a:p>
          </p:txBody>
        </p:sp>
      </p:grpSp>
      <p:grpSp>
        <p:nvGrpSpPr>
          <p:cNvPr id="23" name="Upgrade" descr="Upgrade: one section shows a translucent blue hologram of monorail with small pylons, and an amber warning that steam trains cannot use this section (proposed)."/>
          <p:cNvGrpSpPr/>
          <p:nvPr/>
        </p:nvGrpSpPr>
        <p:grpSpPr>
          <a:xfrm>
            <a:off x="4379976" y="1371600"/>
            <a:ext cx="3429000" cy="3520440"/>
            <a:chOff x="4379976" y="1371600"/>
            <a:chExt cx="3429000" cy="3520440"/>
          </a:xfrm>
        </p:grpSpPr>
        <p:sp>
          <p:nvSpPr>
            <p:cNvPr id="24" name="Rounded Rectangle 23"/>
            <p:cNvSpPr/>
            <p:nvPr/>
          </p:nvSpPr>
          <p:spPr>
            <a:xfrm>
              <a:off x="4379976" y="1371600"/>
              <a:ext cx="3429000" cy="3520440"/>
            </a:xfrm>
            <a:prstGeom prst="roundRect">
              <a:avLst>
                <a:gd name="adj" fmla="val 2666"/>
              </a:avLst>
            </a:prstGeom>
            <a:solidFill>
              <a:srgbClr val="2B2F36"/>
            </a:solidFill>
            <a:ln>
              <a:noFill/>
            </a:ln>
          </p:spPr>
          <p:txBody>
            <a:bodyPr rtlCol="0" anchor="ctr"/>
            <a:lstStyle/>
            <a:p>
              <a:pPr algn="ctr"/>
              <a:endParaRPr/>
            </a:p>
          </p:txBody>
        </p:sp>
        <p:sp>
          <p:nvSpPr>
            <p:cNvPr id="25" name="TextBox 24"/>
            <p:cNvSpPr txBox="1"/>
            <p:nvPr/>
          </p:nvSpPr>
          <p:spPr>
            <a:xfrm>
              <a:off x="4562856" y="1481328"/>
              <a:ext cx="2286000" cy="384048"/>
            </a:xfrm>
            <a:prstGeom prst="rect">
              <a:avLst/>
            </a:prstGeom>
            <a:noFill/>
          </p:spPr>
          <p:txBody>
            <a:bodyPr wrap="square" lIns="0" tIns="0" rIns="0" bIns="0" anchor="t">
              <a:noAutofit/>
            </a:bodyPr>
            <a:lstStyle/>
            <a:p>
              <a:pPr algn="l"/>
              <a:r>
                <a:rPr lang="en-GB" sz="2000" b="1" i="0">
                  <a:solidFill>
                    <a:srgbClr val="F2F2F2"/>
                  </a:solidFill>
                  <a:latin typeface="Arial"/>
                </a:rPr>
                <a:t>Upgrade</a:t>
              </a:r>
            </a:p>
          </p:txBody>
        </p:sp>
        <p:cxnSp>
          <p:nvCxnSpPr>
            <p:cNvPr id="26" name="Connector 25"/>
            <p:cNvCxnSpPr/>
            <p:nvPr/>
          </p:nvCxnSpPr>
          <p:spPr>
            <a:xfrm>
              <a:off x="4791456" y="2980944"/>
              <a:ext cx="1188720" cy="0"/>
            </a:xfrm>
            <a:prstGeom prst="line">
              <a:avLst/>
            </a:prstGeom>
            <a:ln w="28575">
              <a:solidFill>
                <a:srgbClr val="F28C28"/>
              </a:solidFill>
            </a:ln>
          </p:spPr>
        </p:cxnSp>
        <p:cxnSp>
          <p:nvCxnSpPr>
            <p:cNvPr id="27" name="Connector 26"/>
            <p:cNvCxnSpPr/>
            <p:nvPr/>
          </p:nvCxnSpPr>
          <p:spPr>
            <a:xfrm>
              <a:off x="4791456" y="2871216"/>
              <a:ext cx="1188720" cy="0"/>
            </a:xfrm>
            <a:prstGeom prst="line">
              <a:avLst/>
            </a:prstGeom>
            <a:ln w="28575">
              <a:solidFill>
                <a:srgbClr val="F28C28"/>
              </a:solidFill>
            </a:ln>
          </p:spPr>
        </p:cxnSp>
        <p:cxnSp>
          <p:nvCxnSpPr>
            <p:cNvPr id="28" name="Connector 27"/>
            <p:cNvCxnSpPr/>
            <p:nvPr/>
          </p:nvCxnSpPr>
          <p:spPr>
            <a:xfrm>
              <a:off x="5980176" y="2980944"/>
              <a:ext cx="1417320" cy="0"/>
            </a:xfrm>
            <a:prstGeom prst="line">
              <a:avLst/>
            </a:prstGeom>
            <a:ln w="28575">
              <a:solidFill>
                <a:srgbClr val="F28C28"/>
              </a:solidFill>
            </a:ln>
          </p:spPr>
        </p:cxnSp>
        <p:cxnSp>
          <p:nvCxnSpPr>
            <p:cNvPr id="29" name="Connector 28"/>
            <p:cNvCxnSpPr/>
            <p:nvPr/>
          </p:nvCxnSpPr>
          <p:spPr>
            <a:xfrm>
              <a:off x="5980176" y="2871216"/>
              <a:ext cx="1417320" cy="0"/>
            </a:xfrm>
            <a:prstGeom prst="line">
              <a:avLst/>
            </a:prstGeom>
            <a:ln w="28575">
              <a:solidFill>
                <a:srgbClr val="F28C28"/>
              </a:solidFill>
            </a:ln>
          </p:spPr>
        </p:cxnSp>
        <p:cxnSp>
          <p:nvCxnSpPr>
            <p:cNvPr id="30" name="Connector 29"/>
            <p:cNvCxnSpPr/>
            <p:nvPr/>
          </p:nvCxnSpPr>
          <p:spPr>
            <a:xfrm>
              <a:off x="5947907" y="2970450"/>
              <a:ext cx="1005840" cy="731520"/>
            </a:xfrm>
            <a:prstGeom prst="line">
              <a:avLst/>
            </a:prstGeom>
            <a:ln w="28575">
              <a:solidFill>
                <a:srgbClr val="F28C28"/>
              </a:solidFill>
            </a:ln>
          </p:spPr>
        </p:cxnSp>
        <p:cxnSp>
          <p:nvCxnSpPr>
            <p:cNvPr id="31" name="Connector 30"/>
            <p:cNvCxnSpPr/>
            <p:nvPr/>
          </p:nvCxnSpPr>
          <p:spPr>
            <a:xfrm>
              <a:off x="6012445" y="2881710"/>
              <a:ext cx="1005840" cy="731520"/>
            </a:xfrm>
            <a:prstGeom prst="line">
              <a:avLst/>
            </a:prstGeom>
            <a:ln w="28575">
              <a:solidFill>
                <a:srgbClr val="F28C28"/>
              </a:solidFill>
            </a:ln>
          </p:spPr>
        </p:cxnSp>
        <p:sp>
          <p:nvSpPr>
            <p:cNvPr id="32" name="Rounded Rectangle 31"/>
            <p:cNvSpPr/>
            <p:nvPr/>
          </p:nvSpPr>
          <p:spPr>
            <a:xfrm>
              <a:off x="4700016" y="2770632"/>
              <a:ext cx="1371600" cy="310896"/>
            </a:xfrm>
            <a:prstGeom prst="roundRect">
              <a:avLst>
                <a:gd name="adj" fmla="val 23529"/>
              </a:avLst>
            </a:prstGeom>
            <a:solidFill>
              <a:srgbClr val="455C78"/>
            </a:solidFill>
            <a:ln w="12700">
              <a:solidFill>
                <a:srgbClr val="6CA0DC"/>
              </a:solidFill>
            </a:ln>
          </p:spPr>
          <p:txBody>
            <a:bodyPr rtlCol="0" anchor="ctr"/>
            <a:lstStyle/>
            <a:p>
              <a:pPr algn="ctr"/>
              <a:endParaRPr/>
            </a:p>
          </p:txBody>
        </p:sp>
        <p:cxnSp>
          <p:nvCxnSpPr>
            <p:cNvPr id="33" name="Connector 32"/>
            <p:cNvCxnSpPr/>
            <p:nvPr/>
          </p:nvCxnSpPr>
          <p:spPr>
            <a:xfrm flipV="1">
              <a:off x="5065776" y="2514600"/>
              <a:ext cx="0" cy="256032"/>
            </a:xfrm>
            <a:prstGeom prst="line">
              <a:avLst/>
            </a:prstGeom>
            <a:ln w="25400">
              <a:solidFill>
                <a:srgbClr val="6CA0DC"/>
              </a:solidFill>
            </a:ln>
          </p:spPr>
        </p:cxnSp>
        <p:cxnSp>
          <p:nvCxnSpPr>
            <p:cNvPr id="34" name="Connector 33"/>
            <p:cNvCxnSpPr/>
            <p:nvPr/>
          </p:nvCxnSpPr>
          <p:spPr>
            <a:xfrm>
              <a:off x="4974336" y="2514600"/>
              <a:ext cx="182880" cy="0"/>
            </a:xfrm>
            <a:prstGeom prst="line">
              <a:avLst/>
            </a:prstGeom>
            <a:ln w="25400">
              <a:solidFill>
                <a:srgbClr val="6CA0DC"/>
              </a:solidFill>
            </a:ln>
          </p:spPr>
        </p:cxnSp>
        <p:cxnSp>
          <p:nvCxnSpPr>
            <p:cNvPr id="35" name="Connector 34"/>
            <p:cNvCxnSpPr/>
            <p:nvPr/>
          </p:nvCxnSpPr>
          <p:spPr>
            <a:xfrm flipV="1">
              <a:off x="5413248" y="2514600"/>
              <a:ext cx="0" cy="256032"/>
            </a:xfrm>
            <a:prstGeom prst="line">
              <a:avLst/>
            </a:prstGeom>
            <a:ln w="25400">
              <a:solidFill>
                <a:srgbClr val="6CA0DC"/>
              </a:solidFill>
            </a:ln>
          </p:spPr>
        </p:cxnSp>
        <p:cxnSp>
          <p:nvCxnSpPr>
            <p:cNvPr id="36" name="Connector 35"/>
            <p:cNvCxnSpPr/>
            <p:nvPr/>
          </p:nvCxnSpPr>
          <p:spPr>
            <a:xfrm>
              <a:off x="5321808" y="2514600"/>
              <a:ext cx="182880" cy="0"/>
            </a:xfrm>
            <a:prstGeom prst="line">
              <a:avLst/>
            </a:prstGeom>
            <a:ln w="25400">
              <a:solidFill>
                <a:srgbClr val="6CA0DC"/>
              </a:solidFill>
            </a:ln>
          </p:spPr>
        </p:cxnSp>
        <p:cxnSp>
          <p:nvCxnSpPr>
            <p:cNvPr id="37" name="Connector 36"/>
            <p:cNvCxnSpPr/>
            <p:nvPr/>
          </p:nvCxnSpPr>
          <p:spPr>
            <a:xfrm flipV="1">
              <a:off x="5760720" y="2514600"/>
              <a:ext cx="0" cy="256032"/>
            </a:xfrm>
            <a:prstGeom prst="line">
              <a:avLst/>
            </a:prstGeom>
            <a:ln w="25400">
              <a:solidFill>
                <a:srgbClr val="6CA0DC"/>
              </a:solidFill>
            </a:ln>
          </p:spPr>
        </p:cxnSp>
        <p:cxnSp>
          <p:nvCxnSpPr>
            <p:cNvPr id="38" name="Connector 37"/>
            <p:cNvCxnSpPr/>
            <p:nvPr/>
          </p:nvCxnSpPr>
          <p:spPr>
            <a:xfrm>
              <a:off x="5669280" y="2514600"/>
              <a:ext cx="182880" cy="0"/>
            </a:xfrm>
            <a:prstGeom prst="line">
              <a:avLst/>
            </a:prstGeom>
            <a:ln w="25400">
              <a:solidFill>
                <a:srgbClr val="6CA0DC"/>
              </a:solidFill>
            </a:ln>
          </p:spPr>
        </p:cxnSp>
        <p:sp>
          <p:nvSpPr>
            <p:cNvPr id="39" name="Oval 38"/>
            <p:cNvSpPr/>
            <p:nvPr/>
          </p:nvSpPr>
          <p:spPr>
            <a:xfrm>
              <a:off x="4654296" y="278892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40" name="Oval 39"/>
            <p:cNvSpPr/>
            <p:nvPr/>
          </p:nvSpPr>
          <p:spPr>
            <a:xfrm>
              <a:off x="5843016" y="278892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41" name="Oval 40"/>
            <p:cNvSpPr/>
            <p:nvPr/>
          </p:nvSpPr>
          <p:spPr>
            <a:xfrm>
              <a:off x="7260336" y="278892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42" name="Oval 41"/>
            <p:cNvSpPr/>
            <p:nvPr/>
          </p:nvSpPr>
          <p:spPr>
            <a:xfrm>
              <a:off x="6848856" y="352044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43" name="Freeform 42"/>
            <p:cNvSpPr/>
            <p:nvPr/>
          </p:nvSpPr>
          <p:spPr>
            <a:xfrm>
              <a:off x="4608576" y="4251960"/>
              <a:ext cx="457200" cy="429768"/>
            </a:xfrm>
            <a:custGeom>
              <a:avLst/>
              <a:gdLst/>
              <a:ahLst/>
              <a:cxnLst/>
              <a:rect l="l" t="t" r="r" b="b"/>
              <a:pathLst>
                <a:path w="457200" h="429768">
                  <a:moveTo>
                    <a:pt x="0" y="429768"/>
                  </a:moveTo>
                  <a:lnTo>
                    <a:pt x="457200" y="429768"/>
                  </a:lnTo>
                  <a:lnTo>
                    <a:pt x="228600" y="0"/>
                  </a:lnTo>
                  <a:close/>
                </a:path>
              </a:pathLst>
            </a:custGeom>
            <a:solidFill>
              <a:srgbClr val="F2C14E"/>
            </a:solidFill>
            <a:ln w="12700">
              <a:solidFill>
                <a:srgbClr val="101418"/>
              </a:solidFill>
            </a:ln>
          </p:spPr>
          <p:txBody>
            <a:bodyPr rtlCol="0" anchor="ctr"/>
            <a:lstStyle/>
            <a:p>
              <a:pPr algn="ctr"/>
              <a:endParaRPr/>
            </a:p>
          </p:txBody>
        </p:sp>
        <p:sp>
          <p:nvSpPr>
            <p:cNvPr id="44" name="Rectangle 43"/>
            <p:cNvSpPr/>
            <p:nvPr/>
          </p:nvSpPr>
          <p:spPr>
            <a:xfrm>
              <a:off x="4809744" y="4389120"/>
              <a:ext cx="54864" cy="164592"/>
            </a:xfrm>
            <a:prstGeom prst="rect">
              <a:avLst/>
            </a:prstGeom>
            <a:solidFill>
              <a:srgbClr val="101418"/>
            </a:solidFill>
            <a:ln>
              <a:noFill/>
            </a:ln>
          </p:spPr>
          <p:txBody>
            <a:bodyPr rtlCol="0" anchor="ctr"/>
            <a:lstStyle/>
            <a:p>
              <a:pPr algn="ctr"/>
              <a:endParaRPr/>
            </a:p>
          </p:txBody>
        </p:sp>
        <p:sp>
          <p:nvSpPr>
            <p:cNvPr id="45" name="Oval 44"/>
            <p:cNvSpPr/>
            <p:nvPr/>
          </p:nvSpPr>
          <p:spPr>
            <a:xfrm>
              <a:off x="4809744" y="4581144"/>
              <a:ext cx="54864" cy="54864"/>
            </a:xfrm>
            <a:prstGeom prst="ellipse">
              <a:avLst/>
            </a:prstGeom>
            <a:solidFill>
              <a:srgbClr val="101418"/>
            </a:solidFill>
            <a:ln>
              <a:noFill/>
            </a:ln>
          </p:spPr>
          <p:txBody>
            <a:bodyPr rtlCol="0" anchor="ctr"/>
            <a:lstStyle/>
            <a:p>
              <a:pPr algn="ctr"/>
              <a:endParaRPr/>
            </a:p>
          </p:txBody>
        </p:sp>
        <p:sp>
          <p:nvSpPr>
            <p:cNvPr id="46" name="TextBox 45"/>
            <p:cNvSpPr txBox="1"/>
            <p:nvPr/>
          </p:nvSpPr>
          <p:spPr>
            <a:xfrm>
              <a:off x="5157216" y="4069080"/>
              <a:ext cx="2560320" cy="640080"/>
            </a:xfrm>
            <a:prstGeom prst="rect">
              <a:avLst/>
            </a:prstGeom>
            <a:noFill/>
          </p:spPr>
          <p:txBody>
            <a:bodyPr wrap="square" lIns="0" tIns="0" rIns="0" bIns="0" anchor="ctr">
              <a:noAutofit/>
            </a:bodyPr>
            <a:lstStyle/>
            <a:p>
              <a:pPr algn="l"/>
              <a:r>
                <a:rPr lang="en-GB" sz="1600" b="0" i="0">
                  <a:solidFill>
                    <a:srgbClr val="F2F2F2"/>
                  </a:solidFill>
                  <a:latin typeface="Arial"/>
                </a:rPr>
                <a:t>Steam trains cannot use this section</a:t>
              </a:r>
            </a:p>
          </p:txBody>
        </p:sp>
        <p:sp>
          <p:nvSpPr>
            <p:cNvPr id="47" name="Inline chip Proposed"/>
            <p:cNvSpPr/>
            <p:nvPr/>
          </p:nvSpPr>
          <p:spPr>
            <a:xfrm>
              <a:off x="6330188" y="150876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grpSp>
      <p:grpSp>
        <p:nvGrpSpPr>
          <p:cNvPr id="48" name="Mixed network" descr="Mixed network (proposed): an electric monorail trunk with steam branches; at the junction an interchange where cargo moves between the two. A Transfer Station is possible but undecided."/>
          <p:cNvGrpSpPr/>
          <p:nvPr/>
        </p:nvGrpSpPr>
        <p:grpSpPr>
          <a:xfrm>
            <a:off x="8211312" y="1371600"/>
            <a:ext cx="3429000" cy="3520440"/>
            <a:chOff x="8211312" y="1371600"/>
            <a:chExt cx="3429000" cy="3520440"/>
          </a:xfrm>
        </p:grpSpPr>
        <p:sp>
          <p:nvSpPr>
            <p:cNvPr id="49" name="Rounded Rectangle 48"/>
            <p:cNvSpPr/>
            <p:nvPr/>
          </p:nvSpPr>
          <p:spPr>
            <a:xfrm>
              <a:off x="8211312" y="1371600"/>
              <a:ext cx="3429000" cy="3520440"/>
            </a:xfrm>
            <a:prstGeom prst="roundRect">
              <a:avLst>
                <a:gd name="adj" fmla="val 2666"/>
              </a:avLst>
            </a:prstGeom>
            <a:solidFill>
              <a:srgbClr val="2B2F36"/>
            </a:solidFill>
            <a:ln>
              <a:noFill/>
            </a:ln>
          </p:spPr>
          <p:txBody>
            <a:bodyPr rtlCol="0" anchor="ctr"/>
            <a:lstStyle/>
            <a:p>
              <a:pPr algn="ctr"/>
              <a:endParaRPr/>
            </a:p>
          </p:txBody>
        </p:sp>
        <p:sp>
          <p:nvSpPr>
            <p:cNvPr id="50" name="TextBox 49"/>
            <p:cNvSpPr txBox="1"/>
            <p:nvPr/>
          </p:nvSpPr>
          <p:spPr>
            <a:xfrm>
              <a:off x="8394192" y="1481328"/>
              <a:ext cx="2377440" cy="384048"/>
            </a:xfrm>
            <a:prstGeom prst="rect">
              <a:avLst/>
            </a:prstGeom>
            <a:noFill/>
          </p:spPr>
          <p:txBody>
            <a:bodyPr wrap="square" lIns="0" tIns="0" rIns="0" bIns="0" anchor="t">
              <a:noAutofit/>
            </a:bodyPr>
            <a:lstStyle/>
            <a:p>
              <a:pPr algn="l"/>
              <a:r>
                <a:rPr lang="en-GB" sz="2000" b="1" i="0">
                  <a:solidFill>
                    <a:srgbClr val="F2F2F2"/>
                  </a:solidFill>
                  <a:latin typeface="Arial"/>
                </a:rPr>
                <a:t>Mixed network</a:t>
              </a:r>
            </a:p>
          </p:txBody>
        </p:sp>
        <p:sp>
          <p:nvSpPr>
            <p:cNvPr id="51" name="Inline chip Proposed"/>
            <p:cNvSpPr/>
            <p:nvPr/>
          </p:nvSpPr>
          <p:spPr>
            <a:xfrm>
              <a:off x="8394192" y="192024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cxnSp>
          <p:nvCxnSpPr>
            <p:cNvPr id="52" name="Connector 51"/>
            <p:cNvCxnSpPr/>
            <p:nvPr/>
          </p:nvCxnSpPr>
          <p:spPr>
            <a:xfrm>
              <a:off x="8622792" y="2926080"/>
              <a:ext cx="1188720" cy="0"/>
            </a:xfrm>
            <a:prstGeom prst="line">
              <a:avLst/>
            </a:prstGeom>
            <a:ln w="88900">
              <a:solidFill>
                <a:srgbClr val="6CA0DC"/>
              </a:solidFill>
            </a:ln>
          </p:spPr>
        </p:cxnSp>
        <p:cxnSp>
          <p:nvCxnSpPr>
            <p:cNvPr id="53" name="Connector 52"/>
            <p:cNvCxnSpPr/>
            <p:nvPr/>
          </p:nvCxnSpPr>
          <p:spPr>
            <a:xfrm>
              <a:off x="9811512" y="2980944"/>
              <a:ext cx="1417320" cy="0"/>
            </a:xfrm>
            <a:prstGeom prst="line">
              <a:avLst/>
            </a:prstGeom>
            <a:ln w="28575">
              <a:solidFill>
                <a:srgbClr val="F28C28"/>
              </a:solidFill>
            </a:ln>
          </p:spPr>
        </p:cxnSp>
        <p:cxnSp>
          <p:nvCxnSpPr>
            <p:cNvPr id="54" name="Connector 53"/>
            <p:cNvCxnSpPr/>
            <p:nvPr/>
          </p:nvCxnSpPr>
          <p:spPr>
            <a:xfrm>
              <a:off x="9811512" y="2871216"/>
              <a:ext cx="1417320" cy="0"/>
            </a:xfrm>
            <a:prstGeom prst="line">
              <a:avLst/>
            </a:prstGeom>
            <a:ln w="28575">
              <a:solidFill>
                <a:srgbClr val="F28C28"/>
              </a:solidFill>
            </a:ln>
          </p:spPr>
        </p:cxnSp>
        <p:cxnSp>
          <p:nvCxnSpPr>
            <p:cNvPr id="55" name="Connector 54"/>
            <p:cNvCxnSpPr/>
            <p:nvPr/>
          </p:nvCxnSpPr>
          <p:spPr>
            <a:xfrm>
              <a:off x="9779243" y="2970450"/>
              <a:ext cx="1005840" cy="731520"/>
            </a:xfrm>
            <a:prstGeom prst="line">
              <a:avLst/>
            </a:prstGeom>
            <a:ln w="28575">
              <a:solidFill>
                <a:srgbClr val="F28C28"/>
              </a:solidFill>
            </a:ln>
          </p:spPr>
        </p:cxnSp>
        <p:cxnSp>
          <p:nvCxnSpPr>
            <p:cNvPr id="56" name="Connector 55"/>
            <p:cNvCxnSpPr/>
            <p:nvPr/>
          </p:nvCxnSpPr>
          <p:spPr>
            <a:xfrm>
              <a:off x="9843781" y="2881710"/>
              <a:ext cx="1005840" cy="731520"/>
            </a:xfrm>
            <a:prstGeom prst="line">
              <a:avLst/>
            </a:prstGeom>
            <a:ln w="28575">
              <a:solidFill>
                <a:srgbClr val="F28C28"/>
              </a:solidFill>
            </a:ln>
          </p:spPr>
        </p:cxnSp>
        <p:sp>
          <p:nvSpPr>
            <p:cNvPr id="57" name="Oval 56"/>
            <p:cNvSpPr/>
            <p:nvPr/>
          </p:nvSpPr>
          <p:spPr>
            <a:xfrm>
              <a:off x="8485632" y="278892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58" name="Oval 57"/>
            <p:cNvSpPr/>
            <p:nvPr/>
          </p:nvSpPr>
          <p:spPr>
            <a:xfrm>
              <a:off x="11091672" y="278892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59" name="Oval 58"/>
            <p:cNvSpPr/>
            <p:nvPr/>
          </p:nvSpPr>
          <p:spPr>
            <a:xfrm>
              <a:off x="10680192" y="3520440"/>
              <a:ext cx="274320" cy="274320"/>
            </a:xfrm>
            <a:prstGeom prst="ellipse">
              <a:avLst/>
            </a:prstGeom>
            <a:solidFill>
              <a:srgbClr val="1E2126"/>
            </a:solidFill>
            <a:ln w="25400">
              <a:solidFill>
                <a:srgbClr val="F2F2F2"/>
              </a:solidFill>
            </a:ln>
          </p:spPr>
          <p:txBody>
            <a:bodyPr rtlCol="0" anchor="ctr"/>
            <a:lstStyle/>
            <a:p>
              <a:pPr algn="ctr"/>
              <a:endParaRPr/>
            </a:p>
          </p:txBody>
        </p:sp>
        <p:sp>
          <p:nvSpPr>
            <p:cNvPr id="60" name="Rectangle 59"/>
            <p:cNvSpPr/>
            <p:nvPr/>
          </p:nvSpPr>
          <p:spPr>
            <a:xfrm>
              <a:off x="9610344" y="2724912"/>
              <a:ext cx="402336" cy="402336"/>
            </a:xfrm>
            <a:prstGeom prst="rect">
              <a:avLst/>
            </a:prstGeom>
            <a:solidFill>
              <a:srgbClr val="343A43"/>
            </a:solidFill>
            <a:ln w="31750">
              <a:solidFill>
                <a:srgbClr val="F2C14E"/>
              </a:solidFill>
            </a:ln>
          </p:spPr>
          <p:txBody>
            <a:bodyPr rtlCol="0" anchor="ctr"/>
            <a:lstStyle/>
            <a:p>
              <a:pPr algn="ctr"/>
              <a:endParaRPr/>
            </a:p>
          </p:txBody>
        </p:sp>
        <p:sp>
          <p:nvSpPr>
            <p:cNvPr id="61" name="Rectangle 60"/>
            <p:cNvSpPr/>
            <p:nvPr/>
          </p:nvSpPr>
          <p:spPr>
            <a:xfrm>
              <a:off x="9509760" y="2240280"/>
              <a:ext cx="201168" cy="182880"/>
            </a:xfrm>
            <a:prstGeom prst="rect">
              <a:avLst/>
            </a:prstGeom>
            <a:solidFill>
              <a:srgbClr val="6B5B4B"/>
            </a:solidFill>
            <a:ln w="12700">
              <a:solidFill>
                <a:srgbClr val="F2C14E"/>
              </a:solidFill>
            </a:ln>
          </p:spPr>
          <p:txBody>
            <a:bodyPr rtlCol="0" anchor="ctr"/>
            <a:lstStyle/>
            <a:p>
              <a:pPr algn="ctr"/>
              <a:endParaRPr/>
            </a:p>
          </p:txBody>
        </p:sp>
        <p:cxnSp>
          <p:nvCxnSpPr>
            <p:cNvPr id="62" name="Connector 61"/>
            <p:cNvCxnSpPr/>
            <p:nvPr/>
          </p:nvCxnSpPr>
          <p:spPr>
            <a:xfrm>
              <a:off x="9738360" y="2331720"/>
              <a:ext cx="393192" cy="0"/>
            </a:xfrm>
            <a:prstGeom prst="line">
              <a:avLst/>
            </a:prstGeom>
            <a:ln w="25400">
              <a:solidFill>
                <a:srgbClr val="F2C14E"/>
              </a:solidFill>
              <a:tailEnd type="triangle" w="lg" len="lg"/>
            </a:ln>
          </p:spPr>
        </p:cxnSp>
        <p:sp>
          <p:nvSpPr>
            <p:cNvPr id="63" name="TextBox 62"/>
            <p:cNvSpPr txBox="1"/>
            <p:nvPr/>
          </p:nvSpPr>
          <p:spPr>
            <a:xfrm>
              <a:off x="8394192" y="3977640"/>
              <a:ext cx="3063240" cy="329184"/>
            </a:xfrm>
            <a:prstGeom prst="rect">
              <a:avLst/>
            </a:prstGeom>
            <a:noFill/>
          </p:spPr>
          <p:txBody>
            <a:bodyPr wrap="square" lIns="0" tIns="0" rIns="0" bIns="0" anchor="t">
              <a:noAutofit/>
            </a:bodyPr>
            <a:lstStyle/>
            <a:p>
              <a:pPr algn="l"/>
              <a:r>
                <a:rPr lang="en-GB" sz="1600" b="1" i="0">
                  <a:solidFill>
                    <a:srgbClr val="F2F2F2"/>
                  </a:solidFill>
                  <a:latin typeface="Arial"/>
                </a:rPr>
                <a:t>Interchange</a:t>
              </a:r>
            </a:p>
          </p:txBody>
        </p:sp>
        <p:sp>
          <p:nvSpPr>
            <p:cNvPr id="64" name="TextBox 63"/>
            <p:cNvSpPr txBox="1"/>
            <p:nvPr/>
          </p:nvSpPr>
          <p:spPr>
            <a:xfrm>
              <a:off x="8394192" y="4297680"/>
              <a:ext cx="3063240" cy="502920"/>
            </a:xfrm>
            <a:prstGeom prst="rect">
              <a:avLst/>
            </a:prstGeom>
            <a:noFill/>
          </p:spPr>
          <p:txBody>
            <a:bodyPr wrap="square" lIns="0" tIns="0" rIns="0" bIns="0" anchor="t">
              <a:noAutofit/>
            </a:bodyPr>
            <a:lstStyle/>
            <a:p>
              <a:pPr algn="l"/>
              <a:r>
                <a:rPr lang="en-GB" sz="1400" b="0" i="0">
                  <a:solidFill>
                    <a:srgbClr val="F2F2F2"/>
                  </a:solidFill>
                  <a:latin typeface="Arial"/>
                </a:rPr>
                <a:t>(possible Transfer Station: undecided)</a:t>
              </a:r>
            </a:p>
          </p:txBody>
        </p:sp>
      </p:grpSp>
      <p:sp>
        <p:nvSpPr>
          <p:cNvPr id="65" name="TextBox 64"/>
          <p:cNvSpPr txBox="1"/>
          <p:nvPr/>
        </p:nvSpPr>
        <p:spPr>
          <a:xfrm>
            <a:off x="548640" y="5029200"/>
            <a:ext cx="8686800" cy="329184"/>
          </a:xfrm>
          <a:prstGeom prst="rect">
            <a:avLst/>
          </a:prstGeom>
          <a:noFill/>
        </p:spPr>
        <p:txBody>
          <a:bodyPr wrap="square" lIns="0" tIns="0" rIns="0" bIns="0" anchor="ctr">
            <a:noAutofit/>
          </a:bodyPr>
          <a:lstStyle/>
          <a:p>
            <a:pPr algn="l"/>
            <a:r>
              <a:rPr lang="en-GB" sz="1800" b="0" i="0">
                <a:solidFill>
                  <a:srgbClr val="F2F2F2"/>
                </a:solidFill>
                <a:latin typeface="Arial"/>
              </a:rPr>
              <a:t>Steam trains cannot move directly between the two track types.</a:t>
            </a:r>
          </a:p>
        </p:txBody>
      </p:sp>
      <p:sp>
        <p:nvSpPr>
          <p:cNvPr id="66" name="Inline chip Agreed"/>
          <p:cNvSpPr/>
          <p:nvPr/>
        </p:nvSpPr>
        <p:spPr>
          <a:xfrm>
            <a:off x="7132320" y="5029200"/>
            <a:ext cx="112141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Upgrade steam track in place. The route stays. Steam trains cannot use the converted part.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LATER</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35</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4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6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nodeType="withEffect">
                                  <p:stCondLst>
                                    <p:cond delay="80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500"/>
                                        <p:tgtEl>
                                          <p:spTgt spid="48"/>
                                        </p:tgtEl>
                                      </p:cBhvr>
                                    </p:animEffect>
                                  </p:childTnLst>
                                </p:cTn>
                              </p:par>
                              <p:par>
                                <p:cTn id="20" presetID="10" presetClass="entr" presetSubtype="0" fill="hold" nodeType="withEffect">
                                  <p:stCondLst>
                                    <p:cond delay="1000"/>
                                  </p:stCondLst>
                                  <p:childTnLst>
                                    <p:set>
                                      <p:cBhvr>
                                        <p:cTn id="21" dur="1" fill="hold">
                                          <p:stCondLst>
                                            <p:cond delay="0"/>
                                          </p:stCondLst>
                                        </p:cTn>
                                        <p:tgtEl>
                                          <p:spTgt spid="65"/>
                                        </p:tgtEl>
                                        <p:attrNameLst>
                                          <p:attrName>style.visibility</p:attrName>
                                        </p:attrNameLst>
                                      </p:cBhvr>
                                      <p:to>
                                        <p:strVal val="visible"/>
                                      </p:to>
                                    </p:set>
                                    <p:animEffect transition="in" filter="fade">
                                      <p:cBhvr>
                                        <p:cTn id="22" dur="500"/>
                                        <p:tgtEl>
                                          <p:spTgt spid="65"/>
                                        </p:tgtEl>
                                      </p:cBhvr>
                                    </p:animEffect>
                                  </p:childTnLst>
                                </p:cTn>
                              </p:par>
                              <p:par>
                                <p:cTn id="23" presetID="10" presetClass="entr" presetSubtype="0" fill="hold" nodeType="withEffect">
                                  <p:stCondLst>
                                    <p:cond delay="1200"/>
                                  </p:stCondLst>
                                  <p:childTnLst>
                                    <p:set>
                                      <p:cBhvr>
                                        <p:cTn id="24" dur="1" fill="hold">
                                          <p:stCondLst>
                                            <p:cond delay="0"/>
                                          </p:stCondLst>
                                        </p:cTn>
                                        <p:tgtEl>
                                          <p:spTgt spid="66"/>
                                        </p:tgtEl>
                                        <p:attrNameLst>
                                          <p:attrName>style.visibility</p:attrName>
                                        </p:attrNameLst>
                                      </p:cBhvr>
                                      <p:to>
                                        <p:strVal val="visible"/>
                                      </p:to>
                                    </p:set>
                                    <p:animEffect transition="in" filter="fade">
                                      <p:cBhvr>
                                        <p:cTn id="25" dur="500"/>
                                        <p:tgtEl>
                                          <p:spTgt spid="66"/>
                                        </p:tgtEl>
                                      </p:cBhvr>
                                    </p:animEffect>
                                  </p:childTnLst>
                                </p:cTn>
                              </p:par>
                              <p:par>
                                <p:cTn id="26" presetID="10" presetClass="entr" presetSubtype="0" fill="hold" nodeType="withEffect">
                                  <p:stCondLst>
                                    <p:cond delay="140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par>
                                <p:cTn id="29" presetID="10" presetClass="entr" presetSubtype="0" fill="hold" nodeType="withEffect">
                                  <p:stCondLst>
                                    <p:cond delay="160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After launch</a:t>
            </a:r>
          </a:p>
        </p:txBody>
      </p:sp>
      <p:sp>
        <p:nvSpPr>
          <p:cNvPr id="3" name="Status chip"/>
          <p:cNvSpPr/>
          <p:nvPr/>
        </p:nvSpPr>
        <p:spPr>
          <a:xfrm>
            <a:off x="10088575" y="457200"/>
            <a:ext cx="1554480" cy="365760"/>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grpSp>
        <p:nvGrpSpPr>
          <p:cNvPr id="8" name="Pack stack" descr="A stack of blocks: a solid base, Core 1.0, a complete game (agreed); above it four dashed proposed blocks: regional packs, more locomotives, late-steam infrastructure and advanced manual driving (optional)."/>
          <p:cNvGrpSpPr/>
          <p:nvPr/>
        </p:nvGrpSpPr>
        <p:grpSpPr>
          <a:xfrm>
            <a:off x="548640" y="1353312"/>
            <a:ext cx="6766560" cy="3081528"/>
            <a:chOff x="548640" y="1353312"/>
            <a:chExt cx="6766560" cy="3081528"/>
          </a:xfrm>
        </p:grpSpPr>
        <p:sp>
          <p:nvSpPr>
            <p:cNvPr id="9" name="Rounded Rectangle 8"/>
            <p:cNvSpPr/>
            <p:nvPr/>
          </p:nvSpPr>
          <p:spPr>
            <a:xfrm>
              <a:off x="548640" y="3657600"/>
              <a:ext cx="6766560" cy="777240"/>
            </a:xfrm>
            <a:prstGeom prst="roundRect">
              <a:avLst>
                <a:gd name="adj" fmla="val 9411"/>
              </a:avLst>
            </a:prstGeom>
            <a:solidFill>
              <a:srgbClr val="F28C28"/>
            </a:solidFill>
            <a:ln>
              <a:noFill/>
            </a:ln>
          </p:spPr>
          <p:txBody>
            <a:bodyPr wrap="square" lIns="228600" tIns="18288" bIns="18288" rtlCol="0" anchor="ctr">
              <a:noAutofit/>
            </a:bodyPr>
            <a:lstStyle/>
            <a:p>
              <a:pPr algn="l"/>
              <a:r>
                <a:rPr lang="en-GB" sz="2200" b="1" i="0">
                  <a:solidFill>
                    <a:srgbClr val="101418"/>
                  </a:solidFill>
                  <a:latin typeface="Arial"/>
                </a:rPr>
                <a:t>Core 1.0: a complete game</a:t>
              </a:r>
            </a:p>
          </p:txBody>
        </p:sp>
        <p:sp>
          <p:nvSpPr>
            <p:cNvPr id="10" name="Inline chip Agreed"/>
            <p:cNvSpPr/>
            <p:nvPr/>
          </p:nvSpPr>
          <p:spPr>
            <a:xfrm>
              <a:off x="6010910" y="3881628"/>
              <a:ext cx="1121410" cy="329184"/>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sp>
          <p:nvSpPr>
            <p:cNvPr id="11" name="Rounded Rectangle 10"/>
            <p:cNvSpPr/>
            <p:nvPr/>
          </p:nvSpPr>
          <p:spPr>
            <a:xfrm>
              <a:off x="548640" y="2487168"/>
              <a:ext cx="3337560" cy="1042416"/>
            </a:xfrm>
            <a:prstGeom prst="roundRect">
              <a:avLst>
                <a:gd name="adj" fmla="val 7017"/>
              </a:avLst>
            </a:prstGeom>
            <a:solidFill>
              <a:srgbClr val="2B2F36"/>
            </a:solidFill>
            <a:ln w="25400">
              <a:solidFill>
                <a:srgbClr val="B084F5"/>
              </a:solidFill>
              <a:prstDash val="dash"/>
            </a:ln>
          </p:spPr>
          <p:txBody>
            <a:bodyPr rtlCol="0" anchor="ctr"/>
            <a:lstStyle/>
            <a:p>
              <a:pPr algn="ctr"/>
              <a:endParaRPr/>
            </a:p>
          </p:txBody>
        </p:sp>
        <p:sp>
          <p:nvSpPr>
            <p:cNvPr id="12" name="TextBox 11"/>
            <p:cNvSpPr txBox="1"/>
            <p:nvPr/>
          </p:nvSpPr>
          <p:spPr>
            <a:xfrm>
              <a:off x="731520" y="2944368"/>
              <a:ext cx="3017520" cy="548640"/>
            </a:xfrm>
            <a:prstGeom prst="rect">
              <a:avLst/>
            </a:prstGeom>
            <a:noFill/>
          </p:spPr>
          <p:txBody>
            <a:bodyPr wrap="square" lIns="0" tIns="0" rIns="0" bIns="0" anchor="ctr">
              <a:noAutofit/>
            </a:bodyPr>
            <a:lstStyle/>
            <a:p>
              <a:pPr algn="l"/>
              <a:r>
                <a:rPr lang="en-GB" sz="1800" b="0" i="0">
                  <a:solidFill>
                    <a:srgbClr val="F2F2F2"/>
                  </a:solidFill>
                  <a:latin typeface="Arial"/>
                </a:rPr>
                <a:t>Regional packs</a:t>
              </a:r>
            </a:p>
          </p:txBody>
        </p:sp>
        <p:sp>
          <p:nvSpPr>
            <p:cNvPr id="13" name="Inline chip Proposed"/>
            <p:cNvSpPr/>
            <p:nvPr/>
          </p:nvSpPr>
          <p:spPr>
            <a:xfrm>
              <a:off x="731520" y="2578608"/>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14" name="Rounded Rectangle 13"/>
            <p:cNvSpPr/>
            <p:nvPr/>
          </p:nvSpPr>
          <p:spPr>
            <a:xfrm>
              <a:off x="3977640" y="2487168"/>
              <a:ext cx="3337560" cy="1042416"/>
            </a:xfrm>
            <a:prstGeom prst="roundRect">
              <a:avLst>
                <a:gd name="adj" fmla="val 7017"/>
              </a:avLst>
            </a:prstGeom>
            <a:solidFill>
              <a:srgbClr val="2B2F36"/>
            </a:solidFill>
            <a:ln w="25400">
              <a:solidFill>
                <a:srgbClr val="B084F5"/>
              </a:solidFill>
              <a:prstDash val="dash"/>
            </a:ln>
          </p:spPr>
          <p:txBody>
            <a:bodyPr rtlCol="0" anchor="ctr"/>
            <a:lstStyle/>
            <a:p>
              <a:pPr algn="ctr"/>
              <a:endParaRPr/>
            </a:p>
          </p:txBody>
        </p:sp>
        <p:sp>
          <p:nvSpPr>
            <p:cNvPr id="15" name="TextBox 14"/>
            <p:cNvSpPr txBox="1"/>
            <p:nvPr/>
          </p:nvSpPr>
          <p:spPr>
            <a:xfrm>
              <a:off x="4160520" y="2944368"/>
              <a:ext cx="3017520" cy="548640"/>
            </a:xfrm>
            <a:prstGeom prst="rect">
              <a:avLst/>
            </a:prstGeom>
            <a:noFill/>
          </p:spPr>
          <p:txBody>
            <a:bodyPr wrap="square" lIns="0" tIns="0" rIns="0" bIns="0" anchor="ctr">
              <a:noAutofit/>
            </a:bodyPr>
            <a:lstStyle/>
            <a:p>
              <a:pPr algn="l"/>
              <a:r>
                <a:rPr lang="en-GB" sz="1800" b="0" i="0">
                  <a:solidFill>
                    <a:srgbClr val="F2F2F2"/>
                  </a:solidFill>
                  <a:latin typeface="Arial"/>
                </a:rPr>
                <a:t>More locomotives</a:t>
              </a:r>
            </a:p>
          </p:txBody>
        </p:sp>
        <p:sp>
          <p:nvSpPr>
            <p:cNvPr id="16" name="Inline chip Proposed"/>
            <p:cNvSpPr/>
            <p:nvPr/>
          </p:nvSpPr>
          <p:spPr>
            <a:xfrm>
              <a:off x="4160520" y="2578608"/>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17" name="Rounded Rectangle 16"/>
            <p:cNvSpPr/>
            <p:nvPr/>
          </p:nvSpPr>
          <p:spPr>
            <a:xfrm>
              <a:off x="548640" y="1353312"/>
              <a:ext cx="3337560" cy="1042416"/>
            </a:xfrm>
            <a:prstGeom prst="roundRect">
              <a:avLst>
                <a:gd name="adj" fmla="val 7017"/>
              </a:avLst>
            </a:prstGeom>
            <a:solidFill>
              <a:srgbClr val="2B2F36"/>
            </a:solidFill>
            <a:ln w="25400">
              <a:solidFill>
                <a:srgbClr val="B084F5"/>
              </a:solidFill>
              <a:prstDash val="dash"/>
            </a:ln>
          </p:spPr>
          <p:txBody>
            <a:bodyPr rtlCol="0" anchor="ctr"/>
            <a:lstStyle/>
            <a:p>
              <a:pPr algn="ctr"/>
              <a:endParaRPr/>
            </a:p>
          </p:txBody>
        </p:sp>
        <p:sp>
          <p:nvSpPr>
            <p:cNvPr id="18" name="TextBox 17"/>
            <p:cNvSpPr txBox="1"/>
            <p:nvPr/>
          </p:nvSpPr>
          <p:spPr>
            <a:xfrm>
              <a:off x="731520" y="1810512"/>
              <a:ext cx="3017520" cy="548640"/>
            </a:xfrm>
            <a:prstGeom prst="rect">
              <a:avLst/>
            </a:prstGeom>
            <a:noFill/>
          </p:spPr>
          <p:txBody>
            <a:bodyPr wrap="square" lIns="0" tIns="0" rIns="0" bIns="0" anchor="ctr">
              <a:noAutofit/>
            </a:bodyPr>
            <a:lstStyle/>
            <a:p>
              <a:pPr algn="l"/>
              <a:r>
                <a:rPr lang="en-GB" sz="1800" b="0" i="0">
                  <a:solidFill>
                    <a:srgbClr val="F2F2F2"/>
                  </a:solidFill>
                  <a:latin typeface="Arial"/>
                </a:rPr>
                <a:t>Late-steam infrastructure</a:t>
              </a:r>
            </a:p>
          </p:txBody>
        </p:sp>
        <p:sp>
          <p:nvSpPr>
            <p:cNvPr id="19" name="Inline chip Proposed"/>
            <p:cNvSpPr/>
            <p:nvPr/>
          </p:nvSpPr>
          <p:spPr>
            <a:xfrm>
              <a:off x="731520" y="1444752"/>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20" name="Rounded Rectangle 19"/>
            <p:cNvSpPr/>
            <p:nvPr/>
          </p:nvSpPr>
          <p:spPr>
            <a:xfrm>
              <a:off x="3977640" y="1353312"/>
              <a:ext cx="3337560" cy="1042416"/>
            </a:xfrm>
            <a:prstGeom prst="roundRect">
              <a:avLst>
                <a:gd name="adj" fmla="val 7017"/>
              </a:avLst>
            </a:prstGeom>
            <a:solidFill>
              <a:srgbClr val="2B2F36"/>
            </a:solidFill>
            <a:ln w="25400">
              <a:solidFill>
                <a:srgbClr val="B084F5"/>
              </a:solidFill>
              <a:prstDash val="dash"/>
            </a:ln>
          </p:spPr>
          <p:txBody>
            <a:bodyPr rtlCol="0" anchor="ctr"/>
            <a:lstStyle/>
            <a:p>
              <a:pPr algn="ctr"/>
              <a:endParaRPr/>
            </a:p>
          </p:txBody>
        </p:sp>
        <p:sp>
          <p:nvSpPr>
            <p:cNvPr id="21" name="TextBox 20"/>
            <p:cNvSpPr txBox="1"/>
            <p:nvPr/>
          </p:nvSpPr>
          <p:spPr>
            <a:xfrm>
              <a:off x="4160520" y="1810512"/>
              <a:ext cx="3017520" cy="548640"/>
            </a:xfrm>
            <a:prstGeom prst="rect">
              <a:avLst/>
            </a:prstGeom>
            <a:noFill/>
          </p:spPr>
          <p:txBody>
            <a:bodyPr wrap="square" lIns="0" tIns="0" rIns="0" bIns="0" anchor="ctr">
              <a:noAutofit/>
            </a:bodyPr>
            <a:lstStyle/>
            <a:p>
              <a:pPr algn="l"/>
              <a:r>
                <a:rPr lang="en-GB" sz="1800" b="0" i="0">
                  <a:solidFill>
                    <a:srgbClr val="F2F2F2"/>
                  </a:solidFill>
                  <a:latin typeface="Arial"/>
                </a:rPr>
                <a:t>Advanced manual driving (optional)</a:t>
              </a:r>
            </a:p>
          </p:txBody>
        </p:sp>
        <p:sp>
          <p:nvSpPr>
            <p:cNvPr id="22" name="Inline chip Proposed"/>
            <p:cNvSpPr/>
            <p:nvPr/>
          </p:nvSpPr>
          <p:spPr>
            <a:xfrm>
              <a:off x="4160520" y="1444752"/>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grpSp>
      <p:pic>
        <p:nvPicPr>
          <p:cNvPr id="23" name="Picture P19" descr="Southern Railway West Country class No. 34007, side three-quarter view."/>
          <p:cNvPicPr>
            <a:picLocks noChangeAspect="1"/>
          </p:cNvPicPr>
          <p:nvPr/>
        </p:nvPicPr>
        <p:blipFill>
          <a:blip r:embed="rId2"/>
          <a:srcRect t="35" b="35"/>
          <a:stretch>
            <a:fillRect/>
          </a:stretch>
        </p:blipFill>
        <p:spPr>
          <a:xfrm>
            <a:off x="8165592" y="1417320"/>
            <a:ext cx="3474720" cy="2313432"/>
          </a:xfrm>
          <a:prstGeom prst="roundRect">
            <a:avLst>
              <a:gd name="adj" fmla="val 3162"/>
            </a:avLst>
          </a:prstGeom>
        </p:spPr>
      </p:pic>
      <p:sp>
        <p:nvSpPr>
          <p:cNvPr id="24" name="Credit"/>
          <p:cNvSpPr txBox="1"/>
          <p:nvPr/>
        </p:nvSpPr>
        <p:spPr>
          <a:xfrm>
            <a:off x="8165592" y="3758184"/>
            <a:ext cx="3474720" cy="182880"/>
          </a:xfrm>
          <a:prstGeom prst="rect">
            <a:avLst/>
          </a:prstGeom>
          <a:noFill/>
        </p:spPr>
        <p:txBody>
          <a:bodyPr wrap="square" lIns="0" tIns="0" rIns="0" bIns="0" anchor="t">
            <a:noAutofit/>
          </a:bodyPr>
          <a:lstStyle/>
          <a:p>
            <a:pPr algn="l"/>
            <a:r>
              <a:rPr lang="en-GB" sz="1000" b="0" i="0">
                <a:solidFill>
                  <a:srgbClr val="A9B0B8"/>
                </a:solidFill>
                <a:latin typeface="Arial"/>
              </a:rPr>
              <a:t>Photo: Ben Salter, CC BY 2.0, Wikimedia Commons.</a:t>
            </a:r>
          </a:p>
        </p:txBody>
      </p:sp>
      <p:sp>
        <p:nvSpPr>
          <p:cNvPr id="25" name="TextBox 24"/>
          <p:cNvSpPr txBox="1"/>
          <p:nvPr/>
        </p:nvSpPr>
        <p:spPr>
          <a:xfrm>
            <a:off x="8165592" y="4096512"/>
            <a:ext cx="3474720" cy="566928"/>
          </a:xfrm>
          <a:prstGeom prst="rect">
            <a:avLst/>
          </a:prstGeom>
          <a:noFill/>
        </p:spPr>
        <p:txBody>
          <a:bodyPr wrap="square" lIns="0" tIns="0" rIns="0" bIns="0" anchor="t">
            <a:noAutofit/>
          </a:bodyPr>
          <a:lstStyle/>
          <a:p>
            <a:pPr algn="l"/>
            <a:r>
              <a:rPr lang="en-GB" sz="1600" b="0" i="0">
                <a:solidFill>
                  <a:srgbClr val="F2F2F2"/>
                </a:solidFill>
                <a:latin typeface="Arial"/>
              </a:rPr>
              <a:t>Real British locomotives like this could appear.</a:t>
            </a:r>
          </a:p>
        </p:txBody>
      </p:sp>
      <p:sp>
        <p:nvSpPr>
          <p:cNvPr id="26" name="TextBox 25"/>
          <p:cNvSpPr txBox="1"/>
          <p:nvPr/>
        </p:nvSpPr>
        <p:spPr>
          <a:xfrm>
            <a:off x="548640" y="4754880"/>
            <a:ext cx="2743200" cy="329184"/>
          </a:xfrm>
          <a:prstGeom prst="rect">
            <a:avLst/>
          </a:prstGeom>
          <a:noFill/>
        </p:spPr>
        <p:txBody>
          <a:bodyPr wrap="square" lIns="0" tIns="0" rIns="0" bIns="0" anchor="ctr">
            <a:noAutofit/>
          </a:bodyPr>
          <a:lstStyle/>
          <a:p>
            <a:pPr algn="l"/>
            <a:r>
              <a:rPr lang="en-GB" sz="1800" b="0" i="0">
                <a:solidFill>
                  <a:srgbClr val="F2F2F2"/>
                </a:solidFill>
                <a:latin typeface="Arial"/>
              </a:rPr>
              <a:t>Which locomotives:</a:t>
            </a:r>
          </a:p>
        </p:txBody>
      </p:sp>
      <p:sp>
        <p:nvSpPr>
          <p:cNvPr id="27" name="Inline chip Undecided"/>
          <p:cNvSpPr/>
          <p:nvPr/>
        </p:nvSpPr>
        <p:spPr>
          <a:xfrm>
            <a:off x="2654300" y="4754880"/>
            <a:ext cx="20612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 (OQ20)</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After launch, optional packs could add locomotives, regional looks and deeper driving. The core game stays complete.</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LATER</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36</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57"/>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nodeType="withEffect">
                                  <p:stCondLst>
                                    <p:cond delay="514"/>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nodeType="withEffect">
                                  <p:stCondLst>
                                    <p:cond delay="771"/>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nodeType="withEffect">
                                  <p:stCondLst>
                                    <p:cond delay="1028"/>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1285"/>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nodeType="withEffect">
                                  <p:stCondLst>
                                    <p:cond delay="1542"/>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Regions and running numbers</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Regional styles" descr="Three example regional styles: British, North American and Continental European. Examples only; launch regions are undecided."/>
          <p:cNvGrpSpPr/>
          <p:nvPr/>
        </p:nvGrpSpPr>
        <p:grpSpPr>
          <a:xfrm>
            <a:off x="548640" y="1463040"/>
            <a:ext cx="4206240" cy="1975104"/>
            <a:chOff x="548640" y="1463040"/>
            <a:chExt cx="4206240" cy="1975104"/>
          </a:xfrm>
        </p:grpSpPr>
        <p:sp>
          <p:nvSpPr>
            <p:cNvPr id="9" name="Rounded Rectangle 8"/>
            <p:cNvSpPr/>
            <p:nvPr/>
          </p:nvSpPr>
          <p:spPr>
            <a:xfrm>
              <a:off x="548640" y="1463040"/>
              <a:ext cx="4206240" cy="548640"/>
            </a:xfrm>
            <a:prstGeom prst="roundRect">
              <a:avLst>
                <a:gd name="adj" fmla="val 50000"/>
              </a:avLst>
            </a:prstGeom>
            <a:solidFill>
              <a:srgbClr val="2B2F36"/>
            </a:solidFill>
            <a:ln w="25400">
              <a:solidFill>
                <a:srgbClr val="F28C28"/>
              </a:solidFill>
            </a:ln>
          </p:spPr>
          <p:txBody>
            <a:bodyPr wrap="square" lIns="54864" tIns="18288" rIns="54864" bIns="18288" rtlCol="0" anchor="ctr">
              <a:noAutofit/>
            </a:bodyPr>
            <a:lstStyle/>
            <a:p>
              <a:pPr algn="ctr"/>
              <a:r>
                <a:rPr lang="en-GB" sz="2000" b="1" i="0">
                  <a:solidFill>
                    <a:srgbClr val="F2F2F2"/>
                  </a:solidFill>
                  <a:latin typeface="Arial"/>
                </a:rPr>
                <a:t>British</a:t>
              </a:r>
            </a:p>
          </p:txBody>
        </p:sp>
        <p:sp>
          <p:nvSpPr>
            <p:cNvPr id="10" name="Rounded Rectangle 9"/>
            <p:cNvSpPr/>
            <p:nvPr/>
          </p:nvSpPr>
          <p:spPr>
            <a:xfrm>
              <a:off x="548640" y="2176272"/>
              <a:ext cx="4206240" cy="548640"/>
            </a:xfrm>
            <a:prstGeom prst="roundRect">
              <a:avLst>
                <a:gd name="adj" fmla="val 50000"/>
              </a:avLst>
            </a:prstGeom>
            <a:solidFill>
              <a:srgbClr val="2B2F36"/>
            </a:solidFill>
            <a:ln w="25400">
              <a:solidFill>
                <a:srgbClr val="F28C28"/>
              </a:solidFill>
            </a:ln>
          </p:spPr>
          <p:txBody>
            <a:bodyPr wrap="square" lIns="54864" tIns="18288" rIns="54864" bIns="18288" rtlCol="0" anchor="ctr">
              <a:noAutofit/>
            </a:bodyPr>
            <a:lstStyle/>
            <a:p>
              <a:pPr algn="ctr"/>
              <a:r>
                <a:rPr lang="en-GB" sz="2000" b="1" i="0">
                  <a:solidFill>
                    <a:srgbClr val="F2F2F2"/>
                  </a:solidFill>
                  <a:latin typeface="Arial"/>
                </a:rPr>
                <a:t>North American</a:t>
              </a:r>
            </a:p>
          </p:txBody>
        </p:sp>
        <p:sp>
          <p:nvSpPr>
            <p:cNvPr id="11" name="Rounded Rectangle 10"/>
            <p:cNvSpPr/>
            <p:nvPr/>
          </p:nvSpPr>
          <p:spPr>
            <a:xfrm>
              <a:off x="548640" y="2889504"/>
              <a:ext cx="4206240" cy="548640"/>
            </a:xfrm>
            <a:prstGeom prst="roundRect">
              <a:avLst>
                <a:gd name="adj" fmla="val 50000"/>
              </a:avLst>
            </a:prstGeom>
            <a:solidFill>
              <a:srgbClr val="2B2F36"/>
            </a:solidFill>
            <a:ln w="25400">
              <a:solidFill>
                <a:srgbClr val="F28C28"/>
              </a:solidFill>
            </a:ln>
          </p:spPr>
          <p:txBody>
            <a:bodyPr wrap="square" lIns="54864" tIns="18288" rIns="54864" bIns="18288" rtlCol="0" anchor="ctr">
              <a:noAutofit/>
            </a:bodyPr>
            <a:lstStyle/>
            <a:p>
              <a:pPr algn="ctr"/>
              <a:r>
                <a:rPr lang="en-GB" sz="2000" b="1" i="0">
                  <a:solidFill>
                    <a:srgbClr val="F2F2F2"/>
                  </a:solidFill>
                  <a:latin typeface="Arial"/>
                </a:rPr>
                <a:t>Continental European</a:t>
              </a:r>
            </a:p>
          </p:txBody>
        </p:sp>
      </p:grpSp>
      <p:sp>
        <p:nvSpPr>
          <p:cNvPr id="12" name="TextBox 11"/>
          <p:cNvSpPr txBox="1"/>
          <p:nvPr/>
        </p:nvSpPr>
        <p:spPr>
          <a:xfrm>
            <a:off x="548640" y="3657600"/>
            <a:ext cx="3657600" cy="365760"/>
          </a:xfrm>
          <a:prstGeom prst="rect">
            <a:avLst/>
          </a:prstGeom>
          <a:noFill/>
        </p:spPr>
        <p:txBody>
          <a:bodyPr wrap="square" lIns="0" tIns="0" rIns="0" bIns="0" anchor="ctr">
            <a:noAutofit/>
          </a:bodyPr>
          <a:lstStyle/>
          <a:p>
            <a:pPr algn="l"/>
            <a:r>
              <a:rPr lang="en-GB" sz="1800" b="0" i="0">
                <a:solidFill>
                  <a:srgbClr val="F2F2F2"/>
                </a:solidFill>
                <a:latin typeface="Arial"/>
              </a:rPr>
              <a:t>Examples only. Launch regions:</a:t>
            </a:r>
          </a:p>
        </p:txBody>
      </p:sp>
      <p:sp>
        <p:nvSpPr>
          <p:cNvPr id="13" name="Inline chip Undecided"/>
          <p:cNvSpPr/>
          <p:nvPr/>
        </p:nvSpPr>
        <p:spPr>
          <a:xfrm>
            <a:off x="548640" y="4069080"/>
            <a:ext cx="20612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 (OQ06)</a:t>
            </a:r>
          </a:p>
        </p:txBody>
      </p:sp>
      <p:grpSp>
        <p:nvGrpSpPr>
          <p:cNvPr id="14" name="Number plate" descr="A locomotive number plate reading No. 1234: the visible running number, which you can change. Under it, a small hidden Fleet ID that never changes."/>
          <p:cNvGrpSpPr/>
          <p:nvPr/>
        </p:nvGrpSpPr>
        <p:grpSpPr>
          <a:xfrm>
            <a:off x="5760720" y="1417320"/>
            <a:ext cx="5879592" cy="3108960"/>
            <a:chOff x="5760720" y="1417320"/>
            <a:chExt cx="5879592" cy="3108960"/>
          </a:xfrm>
        </p:grpSpPr>
        <p:sp>
          <p:nvSpPr>
            <p:cNvPr id="15" name="Rounded Rectangle 14"/>
            <p:cNvSpPr/>
            <p:nvPr/>
          </p:nvSpPr>
          <p:spPr>
            <a:xfrm>
              <a:off x="5760720" y="1417320"/>
              <a:ext cx="5879592" cy="3108960"/>
            </a:xfrm>
            <a:prstGeom prst="roundRect">
              <a:avLst>
                <a:gd name="adj" fmla="val 3529"/>
              </a:avLst>
            </a:prstGeom>
            <a:solidFill>
              <a:srgbClr val="2B2F36"/>
            </a:solidFill>
            <a:ln>
              <a:noFill/>
            </a:ln>
          </p:spPr>
          <p:txBody>
            <a:bodyPr rtlCol="0" anchor="ctr"/>
            <a:lstStyle/>
            <a:p>
              <a:pPr algn="ctr"/>
              <a:endParaRPr/>
            </a:p>
          </p:txBody>
        </p:sp>
        <p:sp>
          <p:nvSpPr>
            <p:cNvPr id="16" name="Rounded Rectangle 15"/>
            <p:cNvSpPr/>
            <p:nvPr/>
          </p:nvSpPr>
          <p:spPr>
            <a:xfrm>
              <a:off x="6583680" y="1691640"/>
              <a:ext cx="4206240" cy="1325880"/>
            </a:xfrm>
            <a:prstGeom prst="roundRect">
              <a:avLst>
                <a:gd name="adj" fmla="val 13793"/>
              </a:avLst>
            </a:prstGeom>
            <a:solidFill>
              <a:srgbClr val="1B1D21"/>
            </a:solidFill>
            <a:ln w="50800">
              <a:solidFill>
                <a:srgbClr val="F28C28"/>
              </a:solidFill>
            </a:ln>
          </p:spPr>
          <p:txBody>
            <a:bodyPr wrap="square" lIns="73152" tIns="36576" rIns="73152" bIns="36576" rtlCol="0" anchor="ctr">
              <a:noAutofit/>
            </a:bodyPr>
            <a:lstStyle/>
            <a:p>
              <a:pPr algn="ctr"/>
              <a:r>
                <a:rPr lang="en-GB" sz="5400" b="1" i="0">
                  <a:solidFill>
                    <a:srgbClr val="F28C28"/>
                  </a:solidFill>
                  <a:latin typeface="Arial"/>
                </a:rPr>
                <a:t>No. 1234</a:t>
              </a:r>
            </a:p>
          </p:txBody>
        </p:sp>
        <p:sp>
          <p:nvSpPr>
            <p:cNvPr id="17" name="TextBox 16"/>
            <p:cNvSpPr txBox="1"/>
            <p:nvPr/>
          </p:nvSpPr>
          <p:spPr>
            <a:xfrm>
              <a:off x="6583680" y="3072384"/>
              <a:ext cx="4206240" cy="384048"/>
            </a:xfrm>
            <a:prstGeom prst="rect">
              <a:avLst/>
            </a:prstGeom>
            <a:noFill/>
          </p:spPr>
          <p:txBody>
            <a:bodyPr wrap="square" lIns="0" tIns="0" rIns="0" bIns="0" anchor="t">
              <a:noAutofit/>
            </a:bodyPr>
            <a:lstStyle/>
            <a:p>
              <a:pPr algn="ctr"/>
              <a:r>
                <a:rPr lang="en-GB" sz="1800" b="1" i="0">
                  <a:solidFill>
                    <a:srgbClr val="F2F2F2"/>
                  </a:solidFill>
                  <a:latin typeface="Arial"/>
                </a:rPr>
                <a:t>Visible number</a:t>
              </a:r>
            </a:p>
          </p:txBody>
        </p:sp>
        <p:sp>
          <p:nvSpPr>
            <p:cNvPr id="18" name="Rounded Rectangle 17"/>
            <p:cNvSpPr/>
            <p:nvPr/>
          </p:nvSpPr>
          <p:spPr>
            <a:xfrm>
              <a:off x="6583680" y="3657600"/>
              <a:ext cx="4206240" cy="502920"/>
            </a:xfrm>
            <a:prstGeom prst="roundRect">
              <a:avLst>
                <a:gd name="adj" fmla="val 14545"/>
              </a:avLst>
            </a:prstGeom>
            <a:solidFill>
              <a:srgbClr val="343A43"/>
            </a:solidFill>
            <a:ln w="12700">
              <a:solidFill>
                <a:srgbClr val="4A515B"/>
              </a:solidFill>
              <a:prstDash val="dash"/>
            </a:ln>
          </p:spPr>
          <p:txBody>
            <a:bodyPr wrap="square" lIns="73152" tIns="36576" rIns="73152" bIns="36576" rtlCol="0" anchor="ctr">
              <a:noAutofit/>
            </a:bodyPr>
            <a:lstStyle/>
            <a:p>
              <a:pPr algn="ctr"/>
              <a:r>
                <a:rPr lang="en-GB" sz="1600" b="0" i="0">
                  <a:solidFill>
                    <a:srgbClr val="F2F2F2"/>
                  </a:solidFill>
                  <a:latin typeface="Arial"/>
                </a:rPr>
                <a:t>Fleet ID: hidden, never changes</a:t>
              </a:r>
            </a:p>
          </p:txBody>
        </p:sp>
      </p:grpSp>
      <p:sp>
        <p:nvSpPr>
          <p:cNvPr id="19" name="TextBox 18"/>
          <p:cNvSpPr txBox="1"/>
          <p:nvPr/>
        </p:nvSpPr>
        <p:spPr>
          <a:xfrm>
            <a:off x="548640" y="4800600"/>
            <a:ext cx="6400800" cy="365760"/>
          </a:xfrm>
          <a:prstGeom prst="rect">
            <a:avLst/>
          </a:prstGeom>
          <a:noFill/>
        </p:spPr>
        <p:txBody>
          <a:bodyPr wrap="square" lIns="0" tIns="0" rIns="0" bIns="0" anchor="ctr">
            <a:noAutofit/>
          </a:bodyPr>
          <a:lstStyle/>
          <a:p>
            <a:pPr algn="l"/>
            <a:r>
              <a:rPr lang="en-GB" sz="1800" b="0" i="0">
                <a:solidFill>
                  <a:srgbClr val="F2F2F2"/>
                </a:solidFill>
                <a:latin typeface="Arial"/>
              </a:rPr>
              <a:t>Changing region restyles Core stock. Migration:</a:t>
            </a:r>
          </a:p>
        </p:txBody>
      </p:sp>
      <p:sp>
        <p:nvSpPr>
          <p:cNvPr id="20" name="Inline chip Undecided"/>
          <p:cNvSpPr/>
          <p:nvPr/>
        </p:nvSpPr>
        <p:spPr>
          <a:xfrm>
            <a:off x="5499100" y="4818888"/>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The world picks a regional style. Each engine has a hidden permanent ID and a number you can change.</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EXTRAS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37</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25"/>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45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675"/>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90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nodeType="withEffect">
                                  <p:stCondLst>
                                    <p:cond delay="1125"/>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par>
                                <p:cTn id="23" presetID="10" presetClass="entr" presetSubtype="0" fill="hold" nodeType="withEffect">
                                  <p:stCondLst>
                                    <p:cond delay="135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nodeType="withEffect">
                                  <p:stCondLst>
                                    <p:cond delay="1575"/>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Your railway guide</a:t>
            </a:r>
          </a:p>
        </p:txBody>
      </p:sp>
      <p:sp>
        <p:nvSpPr>
          <p:cNvPr id="3" name="Status chip"/>
          <p:cNvSpPr/>
          <p:nvPr/>
        </p:nvSpPr>
        <p:spPr>
          <a:xfrm>
            <a:off x="10088575" y="457200"/>
            <a:ext cx="1554480" cy="365760"/>
          </a:xfrm>
          <a:prstGeom prst="roundRect">
            <a:avLst>
              <a:gd name="adj" fmla="val 50000"/>
            </a:avLst>
          </a:prstGeom>
          <a:solidFill>
            <a:srgbClr val="3FB950"/>
          </a:solidFill>
          <a:ln>
            <a:noFill/>
          </a:ln>
        </p:spPr>
        <p:txBody>
          <a:bodyPr wrap="square" lIns="54864" tIns="18288" rIns="54864" bIns="18288" rtlCol="0" anchor="ctr">
            <a:noAutofit/>
          </a:bodyPr>
          <a:lstStyle/>
          <a:p>
            <a:pPr algn="ctr"/>
            <a:r>
              <a:rPr lang="en-GB" sz="1400" b="1" i="0">
                <a:solidFill>
                  <a:srgbClr val="101418"/>
                </a:solidFill>
                <a:latin typeface="Arial"/>
              </a:rPr>
              <a:t>AGREED</a:t>
            </a:r>
          </a:p>
        </p:txBody>
      </p:sp>
      <p:grpSp>
        <p:nvGrpSpPr>
          <p:cNvPr id="8" name="Lesson table" descr="A miniature lesson scene on a clean white model-railway table: an oval of track, a tiny train, a semaphore and a signal box, with a caption bubble and playback controls (pause, replay, back, next)."/>
          <p:cNvGrpSpPr/>
          <p:nvPr/>
        </p:nvGrpSpPr>
        <p:grpSpPr>
          <a:xfrm>
            <a:off x="548640" y="1371600"/>
            <a:ext cx="6949440" cy="3931920"/>
            <a:chOff x="548640" y="1371600"/>
            <a:chExt cx="6949440" cy="3931920"/>
          </a:xfrm>
        </p:grpSpPr>
        <p:sp>
          <p:nvSpPr>
            <p:cNvPr id="9" name="Rounded Rectangle 8"/>
            <p:cNvSpPr/>
            <p:nvPr/>
          </p:nvSpPr>
          <p:spPr>
            <a:xfrm>
              <a:off x="548640" y="1371600"/>
              <a:ext cx="6949440" cy="3200400"/>
            </a:xfrm>
            <a:prstGeom prst="roundRect">
              <a:avLst>
                <a:gd name="adj" fmla="val 4285"/>
              </a:avLst>
            </a:prstGeom>
            <a:solidFill>
              <a:srgbClr val="F2F2F2"/>
            </a:solidFill>
            <a:ln>
              <a:noFill/>
            </a:ln>
          </p:spPr>
          <p:txBody>
            <a:bodyPr rtlCol="0" anchor="ctr"/>
            <a:lstStyle/>
            <a:p>
              <a:pPr algn="ctr"/>
              <a:endParaRPr/>
            </a:p>
          </p:txBody>
        </p:sp>
        <p:sp>
          <p:nvSpPr>
            <p:cNvPr id="10" name="Oval 9"/>
            <p:cNvSpPr/>
            <p:nvPr/>
          </p:nvSpPr>
          <p:spPr>
            <a:xfrm>
              <a:off x="1600200" y="2034540"/>
              <a:ext cx="4846320" cy="2240280"/>
            </a:xfrm>
            <a:prstGeom prst="ellipse">
              <a:avLst/>
            </a:prstGeom>
            <a:noFill/>
            <a:ln w="38100">
              <a:solidFill>
                <a:srgbClr val="5A6068"/>
              </a:solidFill>
            </a:ln>
          </p:spPr>
          <p:txBody>
            <a:bodyPr rtlCol="0" anchor="ctr"/>
            <a:lstStyle/>
            <a:p>
              <a:pPr algn="ctr"/>
              <a:endParaRPr/>
            </a:p>
          </p:txBody>
        </p:sp>
        <p:sp>
          <p:nvSpPr>
            <p:cNvPr id="11" name="Oval 10"/>
            <p:cNvSpPr/>
            <p:nvPr/>
          </p:nvSpPr>
          <p:spPr>
            <a:xfrm>
              <a:off x="1828800" y="2263140"/>
              <a:ext cx="4389120" cy="1783080"/>
            </a:xfrm>
            <a:prstGeom prst="ellipse">
              <a:avLst/>
            </a:prstGeom>
            <a:noFill/>
            <a:ln w="38100">
              <a:solidFill>
                <a:srgbClr val="5A6068"/>
              </a:solidFill>
            </a:ln>
          </p:spPr>
          <p:txBody>
            <a:bodyPr rtlCol="0" anchor="ctr"/>
            <a:lstStyle/>
            <a:p>
              <a:pPr algn="ctr"/>
              <a:endParaRPr/>
            </a:p>
          </p:txBody>
        </p:sp>
        <p:grpSp>
          <p:nvGrpSpPr>
            <p:cNvPr id="12" name="Tiny train" descr="A steam train: an engine pulling wagons."/>
            <p:cNvGrpSpPr/>
            <p:nvPr/>
          </p:nvGrpSpPr>
          <p:grpSpPr>
            <a:xfrm>
              <a:off x="3246120" y="3756812"/>
              <a:ext cx="945490" cy="467716"/>
              <a:chOff x="3246120" y="3756812"/>
              <a:chExt cx="945490" cy="467716"/>
            </a:xfrm>
          </p:grpSpPr>
          <p:sp>
            <p:nvSpPr>
              <p:cNvPr id="13" name="Rectangle 12"/>
              <p:cNvSpPr/>
              <p:nvPr/>
            </p:nvSpPr>
            <p:spPr>
              <a:xfrm>
                <a:off x="3246120" y="3937864"/>
                <a:ext cx="402336" cy="226314"/>
              </a:xfrm>
              <a:prstGeom prst="rect">
                <a:avLst/>
              </a:prstGeom>
              <a:solidFill>
                <a:srgbClr val="6C7480"/>
              </a:solidFill>
              <a:ln w="9525">
                <a:solidFill>
                  <a:srgbClr val="101418"/>
                </a:solidFill>
              </a:ln>
            </p:spPr>
            <p:txBody>
              <a:bodyPr rtlCol="0" anchor="ctr"/>
              <a:lstStyle/>
              <a:p>
                <a:pPr algn="ctr"/>
                <a:endParaRPr/>
              </a:p>
            </p:txBody>
          </p:sp>
          <p:sp>
            <p:nvSpPr>
              <p:cNvPr id="14" name="Oval 13"/>
              <p:cNvSpPr/>
              <p:nvPr/>
            </p:nvSpPr>
            <p:spPr>
              <a:xfrm>
                <a:off x="3296412" y="4123944"/>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15" name="Oval 14"/>
              <p:cNvSpPr/>
              <p:nvPr/>
            </p:nvSpPr>
            <p:spPr>
              <a:xfrm>
                <a:off x="3497580" y="4123944"/>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16" name="Rectangle 15"/>
              <p:cNvSpPr/>
              <p:nvPr/>
            </p:nvSpPr>
            <p:spPr>
              <a:xfrm>
                <a:off x="3648456" y="4098798"/>
                <a:ext cx="40234" cy="25146"/>
              </a:xfrm>
              <a:prstGeom prst="rect">
                <a:avLst/>
              </a:prstGeom>
              <a:solidFill>
                <a:srgbClr val="9AA0A6"/>
              </a:solidFill>
              <a:ln>
                <a:noFill/>
              </a:ln>
            </p:spPr>
            <p:txBody>
              <a:bodyPr rtlCol="0" anchor="ctr"/>
              <a:lstStyle/>
              <a:p>
                <a:pPr algn="ctr"/>
                <a:endParaRPr/>
              </a:p>
            </p:txBody>
          </p:sp>
          <p:sp>
            <p:nvSpPr>
              <p:cNvPr id="17" name="Rectangle 16"/>
              <p:cNvSpPr/>
              <p:nvPr/>
            </p:nvSpPr>
            <p:spPr>
              <a:xfrm>
                <a:off x="3688690" y="3897630"/>
                <a:ext cx="502920" cy="276606"/>
              </a:xfrm>
              <a:prstGeom prst="rect">
                <a:avLst/>
              </a:prstGeom>
              <a:solidFill>
                <a:srgbClr val="F28C28"/>
              </a:solidFill>
              <a:ln w="9525">
                <a:solidFill>
                  <a:srgbClr val="101418"/>
                </a:solidFill>
              </a:ln>
            </p:spPr>
            <p:txBody>
              <a:bodyPr rtlCol="0" anchor="ctr"/>
              <a:lstStyle/>
              <a:p>
                <a:pPr algn="ctr"/>
                <a:endParaRPr/>
              </a:p>
            </p:txBody>
          </p:sp>
          <p:sp>
            <p:nvSpPr>
              <p:cNvPr id="18" name="Bunker"/>
              <p:cNvSpPr/>
              <p:nvPr/>
            </p:nvSpPr>
            <p:spPr>
              <a:xfrm>
                <a:off x="3703777" y="3912718"/>
                <a:ext cx="130759" cy="100584"/>
              </a:xfrm>
              <a:prstGeom prst="rect">
                <a:avLst/>
              </a:prstGeom>
              <a:solidFill>
                <a:srgbClr val="1B1D21"/>
              </a:solidFill>
              <a:ln>
                <a:noFill/>
              </a:ln>
            </p:spPr>
            <p:txBody>
              <a:bodyPr rtlCol="0" anchor="ctr"/>
              <a:lstStyle/>
              <a:p>
                <a:pPr algn="ctr"/>
                <a:endParaRPr/>
              </a:p>
            </p:txBody>
          </p:sp>
          <p:sp>
            <p:nvSpPr>
              <p:cNvPr id="19" name="Rectangle 18"/>
              <p:cNvSpPr/>
              <p:nvPr/>
            </p:nvSpPr>
            <p:spPr>
              <a:xfrm>
                <a:off x="3859682" y="3932834"/>
                <a:ext cx="70409" cy="70409"/>
              </a:xfrm>
              <a:prstGeom prst="rect">
                <a:avLst/>
              </a:prstGeom>
              <a:solidFill>
                <a:srgbClr val="2B2F36"/>
              </a:solidFill>
              <a:ln>
                <a:noFill/>
              </a:ln>
            </p:spPr>
            <p:txBody>
              <a:bodyPr rtlCol="0" anchor="ctr"/>
              <a:lstStyle/>
              <a:p>
                <a:pPr algn="ctr"/>
                <a:endParaRPr/>
              </a:p>
            </p:txBody>
          </p:sp>
          <p:sp>
            <p:nvSpPr>
              <p:cNvPr id="20" name="Chimney"/>
              <p:cNvSpPr/>
              <p:nvPr/>
            </p:nvSpPr>
            <p:spPr>
              <a:xfrm>
                <a:off x="4080967" y="3756812"/>
                <a:ext cx="75438" cy="150876"/>
              </a:xfrm>
              <a:prstGeom prst="rect">
                <a:avLst/>
              </a:prstGeom>
              <a:solidFill>
                <a:srgbClr val="1B1D21"/>
              </a:solidFill>
              <a:ln>
                <a:noFill/>
              </a:ln>
            </p:spPr>
            <p:txBody>
              <a:bodyPr rtlCol="0" anchor="ctr"/>
              <a:lstStyle/>
              <a:p>
                <a:pPr algn="ctr"/>
                <a:endParaRPr/>
              </a:p>
            </p:txBody>
          </p:sp>
          <p:sp>
            <p:nvSpPr>
              <p:cNvPr id="21" name="Oval 20"/>
              <p:cNvSpPr/>
              <p:nvPr/>
            </p:nvSpPr>
            <p:spPr>
              <a:xfrm>
                <a:off x="3738982" y="4123944"/>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22" name="Oval 21"/>
              <p:cNvSpPr/>
              <p:nvPr/>
            </p:nvSpPr>
            <p:spPr>
              <a:xfrm>
                <a:off x="3889858" y="4123944"/>
                <a:ext cx="100584" cy="100584"/>
              </a:xfrm>
              <a:prstGeom prst="ellipse">
                <a:avLst/>
              </a:prstGeom>
              <a:solidFill>
                <a:srgbClr val="1B1D21"/>
              </a:solidFill>
              <a:ln w="12700">
                <a:solidFill>
                  <a:srgbClr val="9AA0A6"/>
                </a:solidFill>
              </a:ln>
            </p:spPr>
            <p:txBody>
              <a:bodyPr rtlCol="0" anchor="ctr"/>
              <a:lstStyle/>
              <a:p>
                <a:pPr algn="ctr"/>
                <a:endParaRPr/>
              </a:p>
            </p:txBody>
          </p:sp>
          <p:sp>
            <p:nvSpPr>
              <p:cNvPr id="23" name="Oval 22"/>
              <p:cNvSpPr/>
              <p:nvPr/>
            </p:nvSpPr>
            <p:spPr>
              <a:xfrm>
                <a:off x="4040734" y="4123944"/>
                <a:ext cx="100584" cy="100584"/>
              </a:xfrm>
              <a:prstGeom prst="ellipse">
                <a:avLst/>
              </a:prstGeom>
              <a:solidFill>
                <a:srgbClr val="1B1D21"/>
              </a:solidFill>
              <a:ln w="12700">
                <a:solidFill>
                  <a:srgbClr val="9AA0A6"/>
                </a:solidFill>
              </a:ln>
            </p:spPr>
            <p:txBody>
              <a:bodyPr rtlCol="0" anchor="ctr"/>
              <a:lstStyle/>
              <a:p>
                <a:pPr algn="ctr"/>
                <a:endParaRPr/>
              </a:p>
            </p:txBody>
          </p:sp>
        </p:grpSp>
        <p:grpSp>
          <p:nvGrpSpPr>
            <p:cNvPr id="24" name="Signal clear" descr="Semaphore stop signal, arm raised: CLEAR."/>
            <p:cNvGrpSpPr/>
            <p:nvPr/>
          </p:nvGrpSpPr>
          <p:grpSpPr>
            <a:xfrm>
              <a:off x="6534893" y="2550395"/>
              <a:ext cx="589426" cy="970045"/>
              <a:chOff x="6534893" y="2550395"/>
              <a:chExt cx="589426" cy="970045"/>
            </a:xfrm>
          </p:grpSpPr>
          <p:sp>
            <p:nvSpPr>
              <p:cNvPr id="25" name="Rectangle 24"/>
              <p:cNvSpPr/>
              <p:nvPr/>
            </p:nvSpPr>
            <p:spPr>
              <a:xfrm>
                <a:off x="6832854" y="3472434"/>
                <a:ext cx="233172" cy="48006"/>
              </a:xfrm>
              <a:prstGeom prst="rect">
                <a:avLst/>
              </a:prstGeom>
              <a:solidFill>
                <a:srgbClr val="9AA0A6"/>
              </a:solidFill>
              <a:ln>
                <a:noFill/>
              </a:ln>
            </p:spPr>
            <p:txBody>
              <a:bodyPr rtlCol="0" anchor="ctr"/>
              <a:lstStyle/>
              <a:p>
                <a:pPr algn="ctr"/>
                <a:endParaRPr/>
              </a:p>
            </p:txBody>
          </p:sp>
          <p:sp>
            <p:nvSpPr>
              <p:cNvPr id="26" name="Rectangle 25"/>
              <p:cNvSpPr/>
              <p:nvPr/>
            </p:nvSpPr>
            <p:spPr>
              <a:xfrm>
                <a:off x="6908292" y="2766060"/>
                <a:ext cx="82296" cy="754380"/>
              </a:xfrm>
              <a:prstGeom prst="rect">
                <a:avLst/>
              </a:prstGeom>
              <a:solidFill>
                <a:srgbClr val="5A6068"/>
              </a:solidFill>
              <a:ln>
                <a:noFill/>
              </a:ln>
            </p:spPr>
            <p:txBody>
              <a:bodyPr rtlCol="0" anchor="ctr"/>
              <a:lstStyle/>
              <a:p>
                <a:pPr algn="ctr"/>
                <a:endParaRPr/>
              </a:p>
            </p:txBody>
          </p:sp>
          <p:sp>
            <p:nvSpPr>
              <p:cNvPr id="27" name="Oval 26"/>
              <p:cNvSpPr/>
              <p:nvPr/>
            </p:nvSpPr>
            <p:spPr>
              <a:xfrm>
                <a:off x="6901434" y="2690622"/>
                <a:ext cx="96012" cy="96012"/>
              </a:xfrm>
              <a:prstGeom prst="ellipse">
                <a:avLst/>
              </a:prstGeom>
              <a:solidFill>
                <a:srgbClr val="5A6068"/>
              </a:solidFill>
              <a:ln>
                <a:noFill/>
              </a:ln>
            </p:spPr>
            <p:txBody>
              <a:bodyPr rtlCol="0" anchor="ctr"/>
              <a:lstStyle/>
              <a:p>
                <a:pPr algn="ctr"/>
                <a:endParaRPr/>
              </a:p>
            </p:txBody>
          </p:sp>
          <p:sp>
            <p:nvSpPr>
              <p:cNvPr id="28" name="Freeform 27"/>
              <p:cNvSpPr/>
              <p:nvPr/>
            </p:nvSpPr>
            <p:spPr>
              <a:xfrm>
                <a:off x="6534893" y="2550395"/>
                <a:ext cx="407344" cy="407344"/>
              </a:xfrm>
              <a:custGeom>
                <a:avLst/>
                <a:gdLst/>
                <a:ahLst/>
                <a:cxnLst/>
                <a:rect l="l" t="t" r="r" b="b"/>
                <a:pathLst>
                  <a:path w="407344" h="407344">
                    <a:moveTo>
                      <a:pt x="407344" y="339454"/>
                    </a:moveTo>
                    <a:lnTo>
                      <a:pt x="67891" y="0"/>
                    </a:lnTo>
                    <a:lnTo>
                      <a:pt x="0" y="67891"/>
                    </a:lnTo>
                    <a:lnTo>
                      <a:pt x="339454" y="407344"/>
                    </a:lnTo>
                    <a:close/>
                  </a:path>
                </a:pathLst>
              </a:custGeom>
              <a:solidFill>
                <a:srgbClr val="E5484D"/>
              </a:solidFill>
              <a:ln w="9525">
                <a:solidFill>
                  <a:srgbClr val="101418"/>
                </a:solidFill>
              </a:ln>
            </p:spPr>
            <p:txBody>
              <a:bodyPr rtlCol="0" anchor="ctr"/>
              <a:lstStyle/>
              <a:p>
                <a:pPr algn="ctr"/>
                <a:endParaRPr/>
              </a:p>
            </p:txBody>
          </p:sp>
          <p:sp>
            <p:nvSpPr>
              <p:cNvPr id="29" name="Freeform 28"/>
              <p:cNvSpPr/>
              <p:nvPr/>
            </p:nvSpPr>
            <p:spPr>
              <a:xfrm>
                <a:off x="6623151" y="2638653"/>
                <a:ext cx="108625" cy="108625"/>
              </a:xfrm>
              <a:custGeom>
                <a:avLst/>
                <a:gdLst/>
                <a:ahLst/>
                <a:cxnLst/>
                <a:rect l="l" t="t" r="r" b="b"/>
                <a:pathLst>
                  <a:path w="108625" h="108625">
                    <a:moveTo>
                      <a:pt x="108625" y="40734"/>
                    </a:moveTo>
                    <a:lnTo>
                      <a:pt x="67891" y="0"/>
                    </a:lnTo>
                    <a:lnTo>
                      <a:pt x="0" y="67891"/>
                    </a:lnTo>
                    <a:lnTo>
                      <a:pt x="40734" y="108625"/>
                    </a:lnTo>
                    <a:close/>
                  </a:path>
                </a:pathLst>
              </a:custGeom>
              <a:solidFill>
                <a:srgbClr val="FFFFFF"/>
              </a:solidFill>
              <a:ln>
                <a:noFill/>
              </a:ln>
            </p:spPr>
            <p:txBody>
              <a:bodyPr rtlCol="0" anchor="ctr"/>
              <a:lstStyle/>
              <a:p>
                <a:pPr algn="ctr"/>
                <a:endParaRPr/>
              </a:p>
            </p:txBody>
          </p:sp>
          <p:sp>
            <p:nvSpPr>
              <p:cNvPr id="30" name="Oval 29"/>
              <p:cNvSpPr/>
              <p:nvPr/>
            </p:nvSpPr>
            <p:spPr>
              <a:xfrm>
                <a:off x="7007733" y="2865501"/>
                <a:ext cx="116586" cy="116586"/>
              </a:xfrm>
              <a:prstGeom prst="ellipse">
                <a:avLst/>
              </a:prstGeom>
              <a:solidFill>
                <a:srgbClr val="3FB950"/>
              </a:solidFill>
              <a:ln w="9525">
                <a:solidFill>
                  <a:srgbClr val="101418"/>
                </a:solidFill>
              </a:ln>
            </p:spPr>
            <p:txBody>
              <a:bodyPr rtlCol="0" anchor="ctr"/>
              <a:lstStyle/>
              <a:p>
                <a:pPr algn="ctr"/>
                <a:endParaRPr/>
              </a:p>
            </p:txBody>
          </p:sp>
        </p:grpSp>
        <p:sp>
          <p:nvSpPr>
            <p:cNvPr id="31" name="Freeform 30"/>
            <p:cNvSpPr/>
            <p:nvPr/>
          </p:nvSpPr>
          <p:spPr>
            <a:xfrm>
              <a:off x="960120" y="1997964"/>
              <a:ext cx="914400" cy="150876"/>
            </a:xfrm>
            <a:custGeom>
              <a:avLst/>
              <a:gdLst/>
              <a:ahLst/>
              <a:cxnLst/>
              <a:rect l="l" t="t" r="r" b="b"/>
              <a:pathLst>
                <a:path w="914400" h="150876">
                  <a:moveTo>
                    <a:pt x="0" y="150876"/>
                  </a:moveTo>
                  <a:lnTo>
                    <a:pt x="457200" y="0"/>
                  </a:lnTo>
                  <a:lnTo>
                    <a:pt x="914400" y="150876"/>
                  </a:lnTo>
                  <a:close/>
                </a:path>
              </a:pathLst>
            </a:custGeom>
            <a:solidFill>
              <a:srgbClr val="4A515B"/>
            </a:solidFill>
            <a:ln w="19050">
              <a:solidFill>
                <a:srgbClr val="F28C28"/>
              </a:solidFill>
            </a:ln>
          </p:spPr>
          <p:txBody>
            <a:bodyPr rtlCol="0" anchor="ctr"/>
            <a:lstStyle/>
            <a:p>
              <a:pPr algn="ctr"/>
              <a:endParaRPr/>
            </a:p>
          </p:txBody>
        </p:sp>
        <p:sp>
          <p:nvSpPr>
            <p:cNvPr id="32" name="Rectangle 31"/>
            <p:cNvSpPr/>
            <p:nvPr/>
          </p:nvSpPr>
          <p:spPr>
            <a:xfrm>
              <a:off x="1051560" y="2148840"/>
              <a:ext cx="731520" cy="502920"/>
            </a:xfrm>
            <a:prstGeom prst="rect">
              <a:avLst/>
            </a:prstGeom>
            <a:solidFill>
              <a:srgbClr val="2B2F36"/>
            </a:solidFill>
            <a:ln w="19050">
              <a:solidFill>
                <a:srgbClr val="F28C28"/>
              </a:solidFill>
            </a:ln>
          </p:spPr>
          <p:txBody>
            <a:bodyPr rtlCol="0" anchor="ctr"/>
            <a:lstStyle/>
            <a:p>
              <a:pPr algn="ctr"/>
              <a:endParaRPr/>
            </a:p>
          </p:txBody>
        </p:sp>
        <p:sp>
          <p:nvSpPr>
            <p:cNvPr id="33" name="Rectangle 32"/>
            <p:cNvSpPr/>
            <p:nvPr/>
          </p:nvSpPr>
          <p:spPr>
            <a:xfrm>
              <a:off x="1143000" y="2258568"/>
              <a:ext cx="548640" cy="140818"/>
            </a:xfrm>
            <a:prstGeom prst="rect">
              <a:avLst/>
            </a:prstGeom>
            <a:solidFill>
              <a:srgbClr val="37587C"/>
            </a:solidFill>
            <a:ln w="9525">
              <a:solidFill>
                <a:srgbClr val="9AA0A6"/>
              </a:solidFill>
            </a:ln>
          </p:spPr>
          <p:txBody>
            <a:bodyPr rtlCol="0" anchor="ctr"/>
            <a:lstStyle/>
            <a:p>
              <a:pPr algn="ctr"/>
              <a:endParaRPr/>
            </a:p>
          </p:txBody>
        </p:sp>
        <p:sp>
          <p:nvSpPr>
            <p:cNvPr id="34" name="Rounded Rectangular Callout 33"/>
            <p:cNvSpPr/>
            <p:nvPr/>
          </p:nvSpPr>
          <p:spPr>
            <a:xfrm>
              <a:off x="2377440" y="1572768"/>
              <a:ext cx="3291840" cy="502920"/>
            </a:xfrm>
            <a:prstGeom prst="wedgeRoundRectCallout">
              <a:avLst/>
            </a:prstGeom>
            <a:solidFill>
              <a:srgbClr val="2B2F36"/>
            </a:solidFill>
            <a:ln w="19050">
              <a:solidFill>
                <a:srgbClr val="F28C28"/>
              </a:solidFill>
            </a:ln>
          </p:spPr>
          <p:txBody>
            <a:bodyPr wrap="square" lIns="73152" tIns="36576" rIns="73152" bIns="36576" rtlCol="0" anchor="ctr">
              <a:noAutofit/>
            </a:bodyPr>
            <a:lstStyle/>
            <a:p>
              <a:pPr algn="ctr"/>
              <a:r>
                <a:rPr lang="en-GB" sz="1600" b="0" i="0">
                  <a:solidFill>
                    <a:srgbClr val="F2F2F2"/>
                  </a:solidFill>
                  <a:latin typeface="Arial"/>
                </a:rPr>
                <a:t>Short caption here</a:t>
              </a:r>
            </a:p>
          </p:txBody>
        </p:sp>
        <p:sp>
          <p:nvSpPr>
            <p:cNvPr id="35" name="Rounded Rectangle 34"/>
            <p:cNvSpPr/>
            <p:nvPr/>
          </p:nvSpPr>
          <p:spPr>
            <a:xfrm>
              <a:off x="548640" y="4681728"/>
              <a:ext cx="6949440" cy="621792"/>
            </a:xfrm>
            <a:prstGeom prst="roundRect">
              <a:avLst>
                <a:gd name="adj" fmla="val 14705"/>
              </a:avLst>
            </a:prstGeom>
            <a:solidFill>
              <a:srgbClr val="2B2F36"/>
            </a:solidFill>
            <a:ln>
              <a:noFill/>
            </a:ln>
          </p:spPr>
          <p:txBody>
            <a:bodyPr rtlCol="0" anchor="ctr"/>
            <a:lstStyle/>
            <a:p>
              <a:pPr algn="ctr"/>
              <a:endParaRPr/>
            </a:p>
          </p:txBody>
        </p:sp>
        <p:sp>
          <p:nvSpPr>
            <p:cNvPr id="36" name="Oval 35"/>
            <p:cNvSpPr/>
            <p:nvPr/>
          </p:nvSpPr>
          <p:spPr>
            <a:xfrm>
              <a:off x="1965960" y="4764024"/>
              <a:ext cx="457200" cy="457200"/>
            </a:xfrm>
            <a:prstGeom prst="ellipse">
              <a:avLst/>
            </a:prstGeom>
            <a:solidFill>
              <a:srgbClr val="343A43"/>
            </a:solidFill>
            <a:ln w="19050">
              <a:solidFill>
                <a:srgbClr val="9AA0A6"/>
              </a:solidFill>
            </a:ln>
          </p:spPr>
          <p:txBody>
            <a:bodyPr rtlCol="0" anchor="ctr"/>
            <a:lstStyle/>
            <a:p>
              <a:pPr algn="ctr"/>
              <a:endParaRPr/>
            </a:p>
          </p:txBody>
        </p:sp>
        <p:sp>
          <p:nvSpPr>
            <p:cNvPr id="37" name="Rectangle 36"/>
            <p:cNvSpPr/>
            <p:nvPr/>
          </p:nvSpPr>
          <p:spPr>
            <a:xfrm>
              <a:off x="2103120" y="4882896"/>
              <a:ext cx="64008" cy="219456"/>
            </a:xfrm>
            <a:prstGeom prst="rect">
              <a:avLst/>
            </a:prstGeom>
            <a:solidFill>
              <a:srgbClr val="F2F2F2"/>
            </a:solidFill>
            <a:ln>
              <a:noFill/>
            </a:ln>
          </p:spPr>
          <p:txBody>
            <a:bodyPr rtlCol="0" anchor="ctr"/>
            <a:lstStyle/>
            <a:p>
              <a:pPr algn="ctr"/>
              <a:endParaRPr/>
            </a:p>
          </p:txBody>
        </p:sp>
        <p:sp>
          <p:nvSpPr>
            <p:cNvPr id="38" name="Rectangle 37"/>
            <p:cNvSpPr/>
            <p:nvPr/>
          </p:nvSpPr>
          <p:spPr>
            <a:xfrm>
              <a:off x="2221992" y="4882896"/>
              <a:ext cx="64008" cy="219456"/>
            </a:xfrm>
            <a:prstGeom prst="rect">
              <a:avLst/>
            </a:prstGeom>
            <a:solidFill>
              <a:srgbClr val="F2F2F2"/>
            </a:solidFill>
            <a:ln>
              <a:noFill/>
            </a:ln>
          </p:spPr>
          <p:txBody>
            <a:bodyPr rtlCol="0" anchor="ctr"/>
            <a:lstStyle/>
            <a:p>
              <a:pPr algn="ctr"/>
              <a:endParaRPr/>
            </a:p>
          </p:txBody>
        </p:sp>
        <p:sp>
          <p:nvSpPr>
            <p:cNvPr id="39" name="Oval 38"/>
            <p:cNvSpPr/>
            <p:nvPr/>
          </p:nvSpPr>
          <p:spPr>
            <a:xfrm>
              <a:off x="3154680" y="4764024"/>
              <a:ext cx="457200" cy="457200"/>
            </a:xfrm>
            <a:prstGeom prst="ellipse">
              <a:avLst/>
            </a:prstGeom>
            <a:solidFill>
              <a:srgbClr val="343A43"/>
            </a:solidFill>
            <a:ln w="19050">
              <a:solidFill>
                <a:srgbClr val="9AA0A6"/>
              </a:solidFill>
            </a:ln>
          </p:spPr>
          <p:txBody>
            <a:bodyPr rtlCol="0" anchor="ctr"/>
            <a:lstStyle/>
            <a:p>
              <a:pPr algn="ctr"/>
              <a:endParaRPr/>
            </a:p>
          </p:txBody>
        </p:sp>
        <p:sp>
          <p:nvSpPr>
            <p:cNvPr id="40" name="Freeform 39"/>
            <p:cNvSpPr/>
            <p:nvPr/>
          </p:nvSpPr>
          <p:spPr>
            <a:xfrm>
              <a:off x="3273787" y="4897597"/>
              <a:ext cx="218986" cy="204755"/>
            </a:xfrm>
            <a:custGeom>
              <a:avLst/>
              <a:gdLst/>
              <a:ahLst/>
              <a:cxnLst/>
              <a:rect l="l" t="t" r="r" b="b"/>
              <a:pathLst>
                <a:path w="218986" h="204755">
                  <a:moveTo>
                    <a:pt x="54629" y="0"/>
                  </a:moveTo>
                  <a:lnTo>
                    <a:pt x="26995" y="22678"/>
                  </a:lnTo>
                  <a:lnTo>
                    <a:pt x="8118" y="53036"/>
                  </a:lnTo>
                  <a:lnTo>
                    <a:pt x="0" y="87850"/>
                  </a:lnTo>
                  <a:lnTo>
                    <a:pt x="3504" y="123427"/>
                  </a:lnTo>
                  <a:lnTo>
                    <a:pt x="18258" y="155989"/>
                  </a:lnTo>
                  <a:lnTo>
                    <a:pt x="42695" y="182080"/>
                  </a:lnTo>
                  <a:lnTo>
                    <a:pt x="74222" y="198932"/>
                  </a:lnTo>
                  <a:lnTo>
                    <a:pt x="109493" y="204755"/>
                  </a:lnTo>
                  <a:lnTo>
                    <a:pt x="144764" y="198932"/>
                  </a:lnTo>
                  <a:lnTo>
                    <a:pt x="176291" y="182080"/>
                  </a:lnTo>
                  <a:lnTo>
                    <a:pt x="200728" y="155989"/>
                  </a:lnTo>
                  <a:lnTo>
                    <a:pt x="215482" y="123427"/>
                  </a:lnTo>
                  <a:lnTo>
                    <a:pt x="218986" y="87850"/>
                  </a:lnTo>
                  <a:lnTo>
                    <a:pt x="210868" y="53036"/>
                  </a:lnTo>
                  <a:lnTo>
                    <a:pt x="191991" y="22678"/>
                  </a:lnTo>
                  <a:lnTo>
                    <a:pt x="164357" y="0"/>
                  </a:lnTo>
                </a:path>
              </a:pathLst>
            </a:custGeom>
            <a:noFill/>
            <a:ln w="25400">
              <a:solidFill>
                <a:srgbClr val="F2F2F2"/>
              </a:solidFill>
              <a:tailEnd type="triangle" w="med" len="med"/>
            </a:ln>
          </p:spPr>
          <p:txBody>
            <a:bodyPr rtlCol="0" anchor="ctr"/>
            <a:lstStyle/>
            <a:p>
              <a:pPr algn="ctr"/>
              <a:endParaRPr/>
            </a:p>
          </p:txBody>
        </p:sp>
        <p:sp>
          <p:nvSpPr>
            <p:cNvPr id="41" name="Oval 40"/>
            <p:cNvSpPr/>
            <p:nvPr/>
          </p:nvSpPr>
          <p:spPr>
            <a:xfrm>
              <a:off x="4343400" y="4764024"/>
              <a:ext cx="457200" cy="457200"/>
            </a:xfrm>
            <a:prstGeom prst="ellipse">
              <a:avLst/>
            </a:prstGeom>
            <a:solidFill>
              <a:srgbClr val="343A43"/>
            </a:solidFill>
            <a:ln w="19050">
              <a:solidFill>
                <a:srgbClr val="9AA0A6"/>
              </a:solidFill>
            </a:ln>
          </p:spPr>
          <p:txBody>
            <a:bodyPr rtlCol="0" anchor="ctr"/>
            <a:lstStyle/>
            <a:p>
              <a:pPr algn="ctr"/>
              <a:endParaRPr/>
            </a:p>
          </p:txBody>
        </p:sp>
        <p:sp>
          <p:nvSpPr>
            <p:cNvPr id="42" name="Rectangle 41"/>
            <p:cNvSpPr/>
            <p:nvPr/>
          </p:nvSpPr>
          <p:spPr>
            <a:xfrm>
              <a:off x="4462272" y="4892040"/>
              <a:ext cx="36576" cy="201168"/>
            </a:xfrm>
            <a:prstGeom prst="rect">
              <a:avLst/>
            </a:prstGeom>
            <a:solidFill>
              <a:srgbClr val="F2F2F2"/>
            </a:solidFill>
            <a:ln>
              <a:noFill/>
            </a:ln>
          </p:spPr>
          <p:txBody>
            <a:bodyPr rtlCol="0" anchor="ctr"/>
            <a:lstStyle/>
            <a:p>
              <a:pPr algn="ctr"/>
              <a:endParaRPr/>
            </a:p>
          </p:txBody>
        </p:sp>
        <p:sp>
          <p:nvSpPr>
            <p:cNvPr id="43" name="Freeform 42"/>
            <p:cNvSpPr/>
            <p:nvPr/>
          </p:nvSpPr>
          <p:spPr>
            <a:xfrm>
              <a:off x="4517136" y="4892040"/>
              <a:ext cx="155448" cy="201168"/>
            </a:xfrm>
            <a:custGeom>
              <a:avLst/>
              <a:gdLst/>
              <a:ahLst/>
              <a:cxnLst/>
              <a:rect l="l" t="t" r="r" b="b"/>
              <a:pathLst>
                <a:path w="155448" h="201168">
                  <a:moveTo>
                    <a:pt x="155448" y="0"/>
                  </a:moveTo>
                  <a:lnTo>
                    <a:pt x="155448" y="201168"/>
                  </a:lnTo>
                  <a:lnTo>
                    <a:pt x="0" y="100584"/>
                  </a:lnTo>
                  <a:close/>
                </a:path>
              </a:pathLst>
            </a:custGeom>
            <a:solidFill>
              <a:srgbClr val="F2F2F2"/>
            </a:solidFill>
            <a:ln>
              <a:noFill/>
            </a:ln>
          </p:spPr>
          <p:txBody>
            <a:bodyPr rtlCol="0" anchor="ctr"/>
            <a:lstStyle/>
            <a:p>
              <a:pPr algn="ctr"/>
              <a:endParaRPr/>
            </a:p>
          </p:txBody>
        </p:sp>
        <p:sp>
          <p:nvSpPr>
            <p:cNvPr id="44" name="Oval 43"/>
            <p:cNvSpPr/>
            <p:nvPr/>
          </p:nvSpPr>
          <p:spPr>
            <a:xfrm>
              <a:off x="5532120" y="4764024"/>
              <a:ext cx="457200" cy="457200"/>
            </a:xfrm>
            <a:prstGeom prst="ellipse">
              <a:avLst/>
            </a:prstGeom>
            <a:solidFill>
              <a:srgbClr val="343A43"/>
            </a:solidFill>
            <a:ln w="19050">
              <a:solidFill>
                <a:srgbClr val="9AA0A6"/>
              </a:solidFill>
            </a:ln>
          </p:spPr>
          <p:txBody>
            <a:bodyPr rtlCol="0" anchor="ctr"/>
            <a:lstStyle/>
            <a:p>
              <a:pPr algn="ctr"/>
              <a:endParaRPr/>
            </a:p>
          </p:txBody>
        </p:sp>
        <p:sp>
          <p:nvSpPr>
            <p:cNvPr id="45" name="Rectangle 44"/>
            <p:cNvSpPr/>
            <p:nvPr/>
          </p:nvSpPr>
          <p:spPr>
            <a:xfrm>
              <a:off x="5833872" y="4892040"/>
              <a:ext cx="36576" cy="201168"/>
            </a:xfrm>
            <a:prstGeom prst="rect">
              <a:avLst/>
            </a:prstGeom>
            <a:solidFill>
              <a:srgbClr val="F2F2F2"/>
            </a:solidFill>
            <a:ln>
              <a:noFill/>
            </a:ln>
          </p:spPr>
          <p:txBody>
            <a:bodyPr rtlCol="0" anchor="ctr"/>
            <a:lstStyle/>
            <a:p>
              <a:pPr algn="ctr"/>
              <a:endParaRPr/>
            </a:p>
          </p:txBody>
        </p:sp>
        <p:sp>
          <p:nvSpPr>
            <p:cNvPr id="46" name="Freeform 45"/>
            <p:cNvSpPr/>
            <p:nvPr/>
          </p:nvSpPr>
          <p:spPr>
            <a:xfrm>
              <a:off x="5660136" y="4892040"/>
              <a:ext cx="155448" cy="201168"/>
            </a:xfrm>
            <a:custGeom>
              <a:avLst/>
              <a:gdLst/>
              <a:ahLst/>
              <a:cxnLst/>
              <a:rect l="l" t="t" r="r" b="b"/>
              <a:pathLst>
                <a:path w="155448" h="201168">
                  <a:moveTo>
                    <a:pt x="0" y="0"/>
                  </a:moveTo>
                  <a:lnTo>
                    <a:pt x="0" y="201168"/>
                  </a:lnTo>
                  <a:lnTo>
                    <a:pt x="155448" y="100584"/>
                  </a:lnTo>
                  <a:close/>
                </a:path>
              </a:pathLst>
            </a:custGeom>
            <a:solidFill>
              <a:srgbClr val="F2F2F2"/>
            </a:solidFill>
            <a:ln>
              <a:noFill/>
            </a:ln>
          </p:spPr>
          <p:txBody>
            <a:bodyPr rtlCol="0" anchor="ctr"/>
            <a:lstStyle/>
            <a:p>
              <a:pPr algn="ctr"/>
              <a:endParaRPr/>
            </a:p>
          </p:txBody>
        </p:sp>
      </p:grpSp>
      <p:sp>
        <p:nvSpPr>
          <p:cNvPr id="47" name="Inline chip Proposed"/>
          <p:cNvSpPr/>
          <p:nvPr/>
        </p:nvSpPr>
        <p:spPr>
          <a:xfrm>
            <a:off x="7955280" y="1463040"/>
            <a:ext cx="1369060" cy="329184"/>
          </a:xfrm>
          <a:prstGeom prst="roundRect">
            <a:avLst>
              <a:gd name="adj" fmla="val 50000"/>
            </a:avLst>
          </a:prstGeom>
          <a:solidFill>
            <a:srgbClr val="B084F5"/>
          </a:solidFill>
          <a:ln>
            <a:noFill/>
          </a:ln>
        </p:spPr>
        <p:txBody>
          <a:bodyPr wrap="square" lIns="54864" tIns="18288" rIns="54864" bIns="18288" rtlCol="0" anchor="ctr">
            <a:noAutofit/>
          </a:bodyPr>
          <a:lstStyle/>
          <a:p>
            <a:pPr algn="ctr"/>
            <a:r>
              <a:rPr lang="en-GB" sz="1400" b="1" i="0">
                <a:solidFill>
                  <a:srgbClr val="101418"/>
                </a:solidFill>
                <a:latin typeface="Arial"/>
              </a:rPr>
              <a:t>PROPOSED</a:t>
            </a:r>
          </a:p>
        </p:txBody>
      </p:sp>
      <p:sp>
        <p:nvSpPr>
          <p:cNvPr id="48" name="TextBox 47"/>
          <p:cNvSpPr txBox="1"/>
          <p:nvPr/>
        </p:nvSpPr>
        <p:spPr>
          <a:xfrm>
            <a:off x="7955280" y="1874520"/>
            <a:ext cx="3657600" cy="822960"/>
          </a:xfrm>
          <a:prstGeom prst="rect">
            <a:avLst/>
          </a:prstGeom>
          <a:noFill/>
        </p:spPr>
        <p:txBody>
          <a:bodyPr wrap="square" lIns="0" tIns="0" rIns="0" bIns="0" anchor="t">
            <a:noAutofit/>
          </a:bodyPr>
          <a:lstStyle/>
          <a:p>
            <a:pPr algn="l"/>
            <a:r>
              <a:rPr lang="en-GB" sz="2000" b="0" i="0">
                <a:solidFill>
                  <a:srgbClr val="F2F2F2"/>
                </a:solidFill>
                <a:latin typeface="Arial"/>
              </a:rPr>
              <a:t>A playful takeover when you first unlock rail</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 friendly railway guide teaches with short animated lessons. Lessons are optional and can be replayed.</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EXTRAS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38</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60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par>
                                <p:cTn id="14" presetID="10" presetClass="entr" presetSubtype="0" fill="hold" nodeType="withEffect">
                                  <p:stCondLst>
                                    <p:cond delay="90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12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Where we are</a:t>
            </a:r>
          </a:p>
        </p:txBody>
      </p:sp>
      <p:sp>
        <p:nvSpPr>
          <p:cNvPr id="3" name="Status chip"/>
          <p:cNvSpPr/>
          <p:nvPr/>
        </p:nvSpPr>
        <p:spPr>
          <a:xfrm>
            <a:off x="10088575" y="457200"/>
            <a:ext cx="1554480" cy="365760"/>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pic>
        <p:nvPicPr>
          <p:cNvPr id="8" name="Picture R01" descr="Early test model of a tank engine (a yellow 'visual probe') on a short length of track. Not final art."/>
          <p:cNvPicPr>
            <a:picLocks noChangeAspect="1"/>
          </p:cNvPicPr>
          <p:nvPr/>
        </p:nvPicPr>
        <p:blipFill>
          <a:blip r:embed="rId2"/>
          <a:srcRect l="4272" r="10272"/>
          <a:stretch>
            <a:fillRect/>
          </a:stretch>
        </p:blipFill>
        <p:spPr>
          <a:xfrm>
            <a:off x="548640" y="1371600"/>
            <a:ext cx="1828800" cy="1188720"/>
          </a:xfrm>
          <a:prstGeom prst="roundRect">
            <a:avLst>
              <a:gd name="adj" fmla="val 6154"/>
            </a:avLst>
          </a:prstGeom>
        </p:spPr>
      </p:pic>
      <p:sp>
        <p:nvSpPr>
          <p:cNvPr id="9" name="Credit"/>
          <p:cNvSpPr txBox="1"/>
          <p:nvPr/>
        </p:nvSpPr>
        <p:spPr>
          <a:xfrm>
            <a:off x="548640" y="2587752"/>
            <a:ext cx="1828800" cy="338328"/>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Early test model, not final art.</a:t>
            </a:r>
          </a:p>
        </p:txBody>
      </p:sp>
      <p:pic>
        <p:nvPicPr>
          <p:cNvPr id="10" name="Picture R02" descr="High-detail render of the mod's two-rail track. Visual development only: not Unreal-tested, not production-ready."/>
          <p:cNvPicPr>
            <a:picLocks noChangeAspect="1"/>
          </p:cNvPicPr>
          <p:nvPr/>
        </p:nvPicPr>
        <p:blipFill>
          <a:blip r:embed="rId3"/>
          <a:srcRect l="6731" r="6731"/>
          <a:stretch>
            <a:fillRect/>
          </a:stretch>
        </p:blipFill>
        <p:spPr>
          <a:xfrm>
            <a:off x="2642616" y="1371600"/>
            <a:ext cx="1828800" cy="1188720"/>
          </a:xfrm>
          <a:prstGeom prst="roundRect">
            <a:avLst>
              <a:gd name="adj" fmla="val 6154"/>
            </a:avLst>
          </a:prstGeom>
        </p:spPr>
      </p:pic>
      <p:sp>
        <p:nvSpPr>
          <p:cNvPr id="11" name="Credit"/>
          <p:cNvSpPr txBox="1"/>
          <p:nvPr/>
        </p:nvSpPr>
        <p:spPr>
          <a:xfrm>
            <a:off x="2642616" y="2587752"/>
            <a:ext cx="1828800" cy="338328"/>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Early test model, not final art.</a:t>
            </a:r>
          </a:p>
        </p:txBody>
      </p:sp>
      <p:grpSp>
        <p:nvGrpSpPr>
          <p:cNvPr id="12" name="Roadmap" descr="Roadmap: engine and track are under way; rolling stock, stations, signals, unlocks, tutorials and Release 1.0 for singleplayer are planned; multiplayer comes later."/>
          <p:cNvGrpSpPr/>
          <p:nvPr/>
        </p:nvGrpSpPr>
        <p:grpSpPr>
          <a:xfrm>
            <a:off x="448056" y="2944368"/>
            <a:ext cx="11192256" cy="1965960"/>
            <a:chOff x="448056" y="2944368"/>
            <a:chExt cx="11192256" cy="1965960"/>
          </a:xfrm>
        </p:grpSpPr>
        <p:cxnSp>
          <p:nvCxnSpPr>
            <p:cNvPr id="13" name="Connector 12"/>
            <p:cNvCxnSpPr/>
            <p:nvPr/>
          </p:nvCxnSpPr>
          <p:spPr>
            <a:xfrm>
              <a:off x="1051560" y="3794760"/>
              <a:ext cx="8769096" cy="0"/>
            </a:xfrm>
            <a:prstGeom prst="line">
              <a:avLst/>
            </a:prstGeom>
            <a:ln w="50800">
              <a:solidFill>
                <a:srgbClr val="9AA0A6"/>
              </a:solidFill>
            </a:ln>
          </p:spPr>
        </p:cxnSp>
        <p:cxnSp>
          <p:nvCxnSpPr>
            <p:cNvPr id="14" name="Connector 13"/>
            <p:cNvCxnSpPr/>
            <p:nvPr/>
          </p:nvCxnSpPr>
          <p:spPr>
            <a:xfrm>
              <a:off x="9820656" y="3794760"/>
              <a:ext cx="1335024" cy="0"/>
            </a:xfrm>
            <a:prstGeom prst="line">
              <a:avLst/>
            </a:prstGeom>
            <a:ln w="38100">
              <a:solidFill>
                <a:srgbClr val="9AA0A6"/>
              </a:solidFill>
              <a:prstDash val="dash"/>
            </a:ln>
          </p:spPr>
        </p:cxnSp>
        <p:cxnSp>
          <p:nvCxnSpPr>
            <p:cNvPr id="15" name="Connector 14"/>
            <p:cNvCxnSpPr/>
            <p:nvPr/>
          </p:nvCxnSpPr>
          <p:spPr>
            <a:xfrm flipH="1">
              <a:off x="1051560" y="2944368"/>
              <a:ext cx="411480" cy="621792"/>
            </a:xfrm>
            <a:prstGeom prst="line">
              <a:avLst/>
            </a:prstGeom>
            <a:ln w="19050">
              <a:solidFill>
                <a:srgbClr val="F28C28"/>
              </a:solidFill>
            </a:ln>
          </p:spPr>
        </p:cxnSp>
        <p:cxnSp>
          <p:nvCxnSpPr>
            <p:cNvPr id="16" name="Connector 15"/>
            <p:cNvCxnSpPr/>
            <p:nvPr/>
          </p:nvCxnSpPr>
          <p:spPr>
            <a:xfrm>
              <a:off x="3557016" y="2944368"/>
              <a:ext cx="0" cy="621792"/>
            </a:xfrm>
            <a:prstGeom prst="line">
              <a:avLst/>
            </a:prstGeom>
            <a:ln w="19050">
              <a:solidFill>
                <a:srgbClr val="F28C28"/>
              </a:solidFill>
            </a:ln>
          </p:spPr>
        </p:cxnSp>
        <p:sp>
          <p:nvSpPr>
            <p:cNvPr id="17" name="Oval 16"/>
            <p:cNvSpPr/>
            <p:nvPr/>
          </p:nvSpPr>
          <p:spPr>
            <a:xfrm>
              <a:off x="850392" y="3593592"/>
              <a:ext cx="402336" cy="402336"/>
            </a:xfrm>
            <a:prstGeom prst="ellipse">
              <a:avLst/>
            </a:prstGeom>
            <a:solidFill>
              <a:srgbClr val="F28C28"/>
            </a:solidFill>
            <a:ln w="31750">
              <a:solidFill>
                <a:srgbClr val="F28C28"/>
              </a:solidFill>
            </a:ln>
          </p:spPr>
          <p:txBody>
            <a:bodyPr rtlCol="0" anchor="ctr"/>
            <a:lstStyle/>
            <a:p>
              <a:pPr algn="ctr"/>
              <a:endParaRPr/>
            </a:p>
          </p:txBody>
        </p:sp>
        <p:sp>
          <p:nvSpPr>
            <p:cNvPr id="18" name="TextBox 17"/>
            <p:cNvSpPr txBox="1"/>
            <p:nvPr/>
          </p:nvSpPr>
          <p:spPr>
            <a:xfrm>
              <a:off x="448056" y="4087368"/>
              <a:ext cx="1207008" cy="822960"/>
            </a:xfrm>
            <a:prstGeom prst="rect">
              <a:avLst/>
            </a:prstGeom>
            <a:noFill/>
          </p:spPr>
          <p:txBody>
            <a:bodyPr wrap="square" lIns="0" tIns="0" rIns="0" bIns="0" anchor="t">
              <a:noAutofit/>
            </a:bodyPr>
            <a:lstStyle/>
            <a:p>
              <a:pPr algn="ctr"/>
              <a:r>
                <a:rPr lang="en-GB" sz="1600" b="1" i="0">
                  <a:solidFill>
                    <a:srgbClr val="F2F2F2"/>
                  </a:solidFill>
                  <a:latin typeface="Arial"/>
                </a:rPr>
                <a:t>Engine</a:t>
              </a:r>
            </a:p>
          </p:txBody>
        </p:sp>
        <p:sp>
          <p:nvSpPr>
            <p:cNvPr id="19" name="Oval 18"/>
            <p:cNvSpPr/>
            <p:nvPr/>
          </p:nvSpPr>
          <p:spPr>
            <a:xfrm>
              <a:off x="2103120" y="3593592"/>
              <a:ext cx="402336" cy="402336"/>
            </a:xfrm>
            <a:prstGeom prst="ellipse">
              <a:avLst/>
            </a:prstGeom>
            <a:solidFill>
              <a:srgbClr val="1E2126"/>
            </a:solidFill>
            <a:ln w="31750">
              <a:solidFill>
                <a:srgbClr val="9AA0A6"/>
              </a:solidFill>
            </a:ln>
          </p:spPr>
          <p:txBody>
            <a:bodyPr rtlCol="0" anchor="ctr"/>
            <a:lstStyle/>
            <a:p>
              <a:pPr algn="ctr"/>
              <a:endParaRPr/>
            </a:p>
          </p:txBody>
        </p:sp>
        <p:sp>
          <p:nvSpPr>
            <p:cNvPr id="20" name="TextBox 19"/>
            <p:cNvSpPr txBox="1"/>
            <p:nvPr/>
          </p:nvSpPr>
          <p:spPr>
            <a:xfrm>
              <a:off x="1700784" y="4087368"/>
              <a:ext cx="1207008" cy="822960"/>
            </a:xfrm>
            <a:prstGeom prst="rect">
              <a:avLst/>
            </a:prstGeom>
            <a:noFill/>
          </p:spPr>
          <p:txBody>
            <a:bodyPr wrap="square" lIns="0" tIns="0" rIns="0" bIns="0" anchor="t">
              <a:noAutofit/>
            </a:bodyPr>
            <a:lstStyle/>
            <a:p>
              <a:pPr algn="ctr"/>
              <a:r>
                <a:rPr lang="en-GB" sz="1600" b="0" i="0">
                  <a:solidFill>
                    <a:srgbClr val="F2F2F2"/>
                  </a:solidFill>
                  <a:latin typeface="Arial"/>
                </a:rPr>
                <a:t>Rolling stock</a:t>
              </a:r>
            </a:p>
          </p:txBody>
        </p:sp>
        <p:sp>
          <p:nvSpPr>
            <p:cNvPr id="21" name="Oval 20"/>
            <p:cNvSpPr/>
            <p:nvPr/>
          </p:nvSpPr>
          <p:spPr>
            <a:xfrm>
              <a:off x="3355848" y="3593592"/>
              <a:ext cx="402336" cy="402336"/>
            </a:xfrm>
            <a:prstGeom prst="ellipse">
              <a:avLst/>
            </a:prstGeom>
            <a:solidFill>
              <a:srgbClr val="F28C28"/>
            </a:solidFill>
            <a:ln w="31750">
              <a:solidFill>
                <a:srgbClr val="F28C28"/>
              </a:solidFill>
            </a:ln>
          </p:spPr>
          <p:txBody>
            <a:bodyPr rtlCol="0" anchor="ctr"/>
            <a:lstStyle/>
            <a:p>
              <a:pPr algn="ctr"/>
              <a:endParaRPr/>
            </a:p>
          </p:txBody>
        </p:sp>
        <p:sp>
          <p:nvSpPr>
            <p:cNvPr id="22" name="TextBox 21"/>
            <p:cNvSpPr txBox="1"/>
            <p:nvPr/>
          </p:nvSpPr>
          <p:spPr>
            <a:xfrm>
              <a:off x="2953512" y="4087368"/>
              <a:ext cx="1207008" cy="822960"/>
            </a:xfrm>
            <a:prstGeom prst="rect">
              <a:avLst/>
            </a:prstGeom>
            <a:noFill/>
          </p:spPr>
          <p:txBody>
            <a:bodyPr wrap="square" lIns="0" tIns="0" rIns="0" bIns="0" anchor="t">
              <a:noAutofit/>
            </a:bodyPr>
            <a:lstStyle/>
            <a:p>
              <a:pPr algn="ctr"/>
              <a:r>
                <a:rPr lang="en-GB" sz="1600" b="1" i="0">
                  <a:solidFill>
                    <a:srgbClr val="F2F2F2"/>
                  </a:solidFill>
                  <a:latin typeface="Arial"/>
                </a:rPr>
                <a:t>Track</a:t>
              </a:r>
            </a:p>
          </p:txBody>
        </p:sp>
        <p:sp>
          <p:nvSpPr>
            <p:cNvPr id="23" name="Oval 22"/>
            <p:cNvSpPr/>
            <p:nvPr/>
          </p:nvSpPr>
          <p:spPr>
            <a:xfrm>
              <a:off x="4608576" y="3593592"/>
              <a:ext cx="402336" cy="402336"/>
            </a:xfrm>
            <a:prstGeom prst="ellipse">
              <a:avLst/>
            </a:prstGeom>
            <a:solidFill>
              <a:srgbClr val="1E2126"/>
            </a:solidFill>
            <a:ln w="31750">
              <a:solidFill>
                <a:srgbClr val="9AA0A6"/>
              </a:solidFill>
            </a:ln>
          </p:spPr>
          <p:txBody>
            <a:bodyPr rtlCol="0" anchor="ctr"/>
            <a:lstStyle/>
            <a:p>
              <a:pPr algn="ctr"/>
              <a:endParaRPr/>
            </a:p>
          </p:txBody>
        </p:sp>
        <p:sp>
          <p:nvSpPr>
            <p:cNvPr id="24" name="TextBox 23"/>
            <p:cNvSpPr txBox="1"/>
            <p:nvPr/>
          </p:nvSpPr>
          <p:spPr>
            <a:xfrm>
              <a:off x="4206240" y="4087368"/>
              <a:ext cx="1207008" cy="822960"/>
            </a:xfrm>
            <a:prstGeom prst="rect">
              <a:avLst/>
            </a:prstGeom>
            <a:noFill/>
          </p:spPr>
          <p:txBody>
            <a:bodyPr wrap="square" lIns="0" tIns="0" rIns="0" bIns="0" anchor="t">
              <a:noAutofit/>
            </a:bodyPr>
            <a:lstStyle/>
            <a:p>
              <a:pPr algn="ctr"/>
              <a:r>
                <a:rPr lang="en-GB" sz="1600" b="0" i="0">
                  <a:solidFill>
                    <a:srgbClr val="F2F2F2"/>
                  </a:solidFill>
                  <a:latin typeface="Arial"/>
                </a:rPr>
                <a:t>Stations</a:t>
              </a:r>
            </a:p>
          </p:txBody>
        </p:sp>
        <p:sp>
          <p:nvSpPr>
            <p:cNvPr id="25" name="Oval 24"/>
            <p:cNvSpPr/>
            <p:nvPr/>
          </p:nvSpPr>
          <p:spPr>
            <a:xfrm>
              <a:off x="5861304" y="3593592"/>
              <a:ext cx="402336" cy="402336"/>
            </a:xfrm>
            <a:prstGeom prst="ellipse">
              <a:avLst/>
            </a:prstGeom>
            <a:solidFill>
              <a:srgbClr val="1E2126"/>
            </a:solidFill>
            <a:ln w="31750">
              <a:solidFill>
                <a:srgbClr val="9AA0A6"/>
              </a:solidFill>
            </a:ln>
          </p:spPr>
          <p:txBody>
            <a:bodyPr rtlCol="0" anchor="ctr"/>
            <a:lstStyle/>
            <a:p>
              <a:pPr algn="ctr"/>
              <a:endParaRPr/>
            </a:p>
          </p:txBody>
        </p:sp>
        <p:sp>
          <p:nvSpPr>
            <p:cNvPr id="26" name="TextBox 25"/>
            <p:cNvSpPr txBox="1"/>
            <p:nvPr/>
          </p:nvSpPr>
          <p:spPr>
            <a:xfrm>
              <a:off x="5458968" y="4087368"/>
              <a:ext cx="1207008" cy="822960"/>
            </a:xfrm>
            <a:prstGeom prst="rect">
              <a:avLst/>
            </a:prstGeom>
            <a:noFill/>
          </p:spPr>
          <p:txBody>
            <a:bodyPr wrap="square" lIns="0" tIns="0" rIns="0" bIns="0" anchor="t">
              <a:noAutofit/>
            </a:bodyPr>
            <a:lstStyle/>
            <a:p>
              <a:pPr algn="ctr"/>
              <a:r>
                <a:rPr lang="en-GB" sz="1600" b="0" i="0">
                  <a:solidFill>
                    <a:srgbClr val="F2F2F2"/>
                  </a:solidFill>
                  <a:latin typeface="Arial"/>
                </a:rPr>
                <a:t>Signals</a:t>
              </a:r>
            </a:p>
          </p:txBody>
        </p:sp>
        <p:sp>
          <p:nvSpPr>
            <p:cNvPr id="27" name="Oval 26"/>
            <p:cNvSpPr/>
            <p:nvPr/>
          </p:nvSpPr>
          <p:spPr>
            <a:xfrm>
              <a:off x="7114032" y="3593592"/>
              <a:ext cx="402336" cy="402336"/>
            </a:xfrm>
            <a:prstGeom prst="ellipse">
              <a:avLst/>
            </a:prstGeom>
            <a:solidFill>
              <a:srgbClr val="1E2126"/>
            </a:solidFill>
            <a:ln w="31750">
              <a:solidFill>
                <a:srgbClr val="9AA0A6"/>
              </a:solidFill>
            </a:ln>
          </p:spPr>
          <p:txBody>
            <a:bodyPr rtlCol="0" anchor="ctr"/>
            <a:lstStyle/>
            <a:p>
              <a:pPr algn="ctr"/>
              <a:endParaRPr/>
            </a:p>
          </p:txBody>
        </p:sp>
        <p:sp>
          <p:nvSpPr>
            <p:cNvPr id="28" name="TextBox 27"/>
            <p:cNvSpPr txBox="1"/>
            <p:nvPr/>
          </p:nvSpPr>
          <p:spPr>
            <a:xfrm>
              <a:off x="6711696" y="4087368"/>
              <a:ext cx="1207008" cy="822960"/>
            </a:xfrm>
            <a:prstGeom prst="rect">
              <a:avLst/>
            </a:prstGeom>
            <a:noFill/>
          </p:spPr>
          <p:txBody>
            <a:bodyPr wrap="square" lIns="0" tIns="0" rIns="0" bIns="0" anchor="t">
              <a:noAutofit/>
            </a:bodyPr>
            <a:lstStyle/>
            <a:p>
              <a:pPr algn="ctr"/>
              <a:r>
                <a:rPr lang="en-GB" sz="1600" b="0" i="0">
                  <a:solidFill>
                    <a:srgbClr val="F2F2F2"/>
                  </a:solidFill>
                  <a:latin typeface="Arial"/>
                </a:rPr>
                <a:t>Unlocks</a:t>
              </a:r>
            </a:p>
          </p:txBody>
        </p:sp>
        <p:sp>
          <p:nvSpPr>
            <p:cNvPr id="29" name="Oval 28"/>
            <p:cNvSpPr/>
            <p:nvPr/>
          </p:nvSpPr>
          <p:spPr>
            <a:xfrm>
              <a:off x="8366760" y="3593592"/>
              <a:ext cx="402336" cy="402336"/>
            </a:xfrm>
            <a:prstGeom prst="ellipse">
              <a:avLst/>
            </a:prstGeom>
            <a:solidFill>
              <a:srgbClr val="1E2126"/>
            </a:solidFill>
            <a:ln w="31750">
              <a:solidFill>
                <a:srgbClr val="9AA0A6"/>
              </a:solidFill>
            </a:ln>
          </p:spPr>
          <p:txBody>
            <a:bodyPr rtlCol="0" anchor="ctr"/>
            <a:lstStyle/>
            <a:p>
              <a:pPr algn="ctr"/>
              <a:endParaRPr/>
            </a:p>
          </p:txBody>
        </p:sp>
        <p:sp>
          <p:nvSpPr>
            <p:cNvPr id="30" name="TextBox 29"/>
            <p:cNvSpPr txBox="1"/>
            <p:nvPr/>
          </p:nvSpPr>
          <p:spPr>
            <a:xfrm>
              <a:off x="7964424" y="4087368"/>
              <a:ext cx="1207008" cy="822960"/>
            </a:xfrm>
            <a:prstGeom prst="rect">
              <a:avLst/>
            </a:prstGeom>
            <a:noFill/>
          </p:spPr>
          <p:txBody>
            <a:bodyPr wrap="square" lIns="0" tIns="0" rIns="0" bIns="0" anchor="t">
              <a:noAutofit/>
            </a:bodyPr>
            <a:lstStyle/>
            <a:p>
              <a:pPr algn="ctr"/>
              <a:r>
                <a:rPr lang="en-GB" sz="1600" b="0" i="0">
                  <a:solidFill>
                    <a:srgbClr val="F2F2F2"/>
                  </a:solidFill>
                  <a:latin typeface="Arial"/>
                </a:rPr>
                <a:t>Tutorials</a:t>
              </a:r>
            </a:p>
          </p:txBody>
        </p:sp>
        <p:sp>
          <p:nvSpPr>
            <p:cNvPr id="31" name="Oval 30"/>
            <p:cNvSpPr/>
            <p:nvPr/>
          </p:nvSpPr>
          <p:spPr>
            <a:xfrm>
              <a:off x="9619488" y="3593592"/>
              <a:ext cx="402336" cy="402336"/>
            </a:xfrm>
            <a:prstGeom prst="ellipse">
              <a:avLst/>
            </a:prstGeom>
            <a:solidFill>
              <a:srgbClr val="1E2126"/>
            </a:solidFill>
            <a:ln w="31750">
              <a:solidFill>
                <a:srgbClr val="9AA0A6"/>
              </a:solidFill>
            </a:ln>
          </p:spPr>
          <p:txBody>
            <a:bodyPr rtlCol="0" anchor="ctr"/>
            <a:lstStyle/>
            <a:p>
              <a:pPr algn="ctr"/>
              <a:endParaRPr/>
            </a:p>
          </p:txBody>
        </p:sp>
        <p:sp>
          <p:nvSpPr>
            <p:cNvPr id="32" name="TextBox 31"/>
            <p:cNvSpPr txBox="1"/>
            <p:nvPr/>
          </p:nvSpPr>
          <p:spPr>
            <a:xfrm>
              <a:off x="9217152" y="4087368"/>
              <a:ext cx="1207008" cy="822960"/>
            </a:xfrm>
            <a:prstGeom prst="rect">
              <a:avLst/>
            </a:prstGeom>
            <a:noFill/>
          </p:spPr>
          <p:txBody>
            <a:bodyPr wrap="square" lIns="0" tIns="0" rIns="0" bIns="0" anchor="t">
              <a:noAutofit/>
            </a:bodyPr>
            <a:lstStyle/>
            <a:p>
              <a:pPr algn="ctr"/>
              <a:r>
                <a:rPr lang="en-GB" sz="1600" b="0" i="0">
                  <a:solidFill>
                    <a:srgbClr val="F2F2F2"/>
                  </a:solidFill>
                  <a:latin typeface="Arial"/>
                </a:rPr>
                <a:t>Release 1.0: singleplayer</a:t>
              </a:r>
            </a:p>
          </p:txBody>
        </p:sp>
        <p:sp>
          <p:nvSpPr>
            <p:cNvPr id="33" name="Oval 32"/>
            <p:cNvSpPr/>
            <p:nvPr/>
          </p:nvSpPr>
          <p:spPr>
            <a:xfrm>
              <a:off x="10954512" y="3593592"/>
              <a:ext cx="402336" cy="402336"/>
            </a:xfrm>
            <a:prstGeom prst="ellipse">
              <a:avLst/>
            </a:prstGeom>
            <a:solidFill>
              <a:srgbClr val="1E2126"/>
            </a:solidFill>
            <a:ln w="31750">
              <a:solidFill>
                <a:srgbClr val="9AA0A6"/>
              </a:solidFill>
              <a:prstDash val="dash"/>
            </a:ln>
          </p:spPr>
          <p:txBody>
            <a:bodyPr rtlCol="0" anchor="ctr"/>
            <a:lstStyle/>
            <a:p>
              <a:pPr algn="ctr"/>
              <a:endParaRPr/>
            </a:p>
          </p:txBody>
        </p:sp>
        <p:sp>
          <p:nvSpPr>
            <p:cNvPr id="34" name="TextBox 33"/>
            <p:cNvSpPr txBox="1"/>
            <p:nvPr/>
          </p:nvSpPr>
          <p:spPr>
            <a:xfrm>
              <a:off x="10607040" y="4087368"/>
              <a:ext cx="1033272" cy="822960"/>
            </a:xfrm>
            <a:prstGeom prst="rect">
              <a:avLst/>
            </a:prstGeom>
            <a:noFill/>
          </p:spPr>
          <p:txBody>
            <a:bodyPr wrap="square" lIns="0" tIns="0" rIns="0" bIns="0" anchor="t">
              <a:noAutofit/>
            </a:bodyPr>
            <a:lstStyle/>
            <a:p>
              <a:pPr algn="ctr"/>
              <a:r>
                <a:rPr lang="en-GB" sz="1600" b="0" i="0">
                  <a:solidFill>
                    <a:srgbClr val="F2F2F2"/>
                  </a:solidFill>
                  <a:latin typeface="Arial"/>
                </a:rPr>
                <a:t>Later: multiplayer</a:t>
              </a:r>
            </a:p>
          </p:txBody>
        </p:sp>
      </p:grpSp>
      <p:grpSp>
        <p:nvGrpSpPr>
          <p:cNvPr id="35" name="Legend" descr="Legend: a filled orange circle means under way; an empty grey circle means planned."/>
          <p:cNvGrpSpPr/>
          <p:nvPr/>
        </p:nvGrpSpPr>
        <p:grpSpPr>
          <a:xfrm>
            <a:off x="7927848" y="2029968"/>
            <a:ext cx="2724912" cy="822960"/>
            <a:chOff x="7927848" y="2029968"/>
            <a:chExt cx="2724912" cy="822960"/>
          </a:xfrm>
        </p:grpSpPr>
        <p:sp>
          <p:nvSpPr>
            <p:cNvPr id="36" name="Oval 35"/>
            <p:cNvSpPr/>
            <p:nvPr/>
          </p:nvSpPr>
          <p:spPr>
            <a:xfrm>
              <a:off x="7927848" y="2048256"/>
              <a:ext cx="329184" cy="329184"/>
            </a:xfrm>
            <a:prstGeom prst="ellipse">
              <a:avLst/>
            </a:prstGeom>
            <a:solidFill>
              <a:srgbClr val="F28C28"/>
            </a:solidFill>
            <a:ln w="31750">
              <a:solidFill>
                <a:srgbClr val="F28C28"/>
              </a:solidFill>
            </a:ln>
          </p:spPr>
          <p:txBody>
            <a:bodyPr rtlCol="0" anchor="ctr"/>
            <a:lstStyle/>
            <a:p>
              <a:pPr algn="ctr"/>
              <a:endParaRPr/>
            </a:p>
          </p:txBody>
        </p:sp>
        <p:sp>
          <p:nvSpPr>
            <p:cNvPr id="37" name="TextBox 36"/>
            <p:cNvSpPr txBox="1"/>
            <p:nvPr/>
          </p:nvSpPr>
          <p:spPr>
            <a:xfrm>
              <a:off x="8366760" y="2029968"/>
              <a:ext cx="2286000" cy="365760"/>
            </a:xfrm>
            <a:prstGeom prst="rect">
              <a:avLst/>
            </a:prstGeom>
            <a:noFill/>
          </p:spPr>
          <p:txBody>
            <a:bodyPr wrap="square" lIns="0" tIns="0" rIns="0" bIns="0" anchor="ctr">
              <a:noAutofit/>
            </a:bodyPr>
            <a:lstStyle/>
            <a:p>
              <a:pPr algn="l"/>
              <a:r>
                <a:rPr lang="en-GB" sz="1800" b="0" i="0">
                  <a:solidFill>
                    <a:srgbClr val="F2F2F2"/>
                  </a:solidFill>
                  <a:latin typeface="Arial"/>
                </a:rPr>
                <a:t>Under way</a:t>
              </a:r>
            </a:p>
          </p:txBody>
        </p:sp>
        <p:sp>
          <p:nvSpPr>
            <p:cNvPr id="38" name="Oval 37"/>
            <p:cNvSpPr/>
            <p:nvPr/>
          </p:nvSpPr>
          <p:spPr>
            <a:xfrm>
              <a:off x="7927848" y="2505456"/>
              <a:ext cx="329184" cy="329184"/>
            </a:xfrm>
            <a:prstGeom prst="ellipse">
              <a:avLst/>
            </a:prstGeom>
            <a:solidFill>
              <a:srgbClr val="1E2126"/>
            </a:solidFill>
            <a:ln w="31750">
              <a:solidFill>
                <a:srgbClr val="9AA0A6"/>
              </a:solidFill>
            </a:ln>
          </p:spPr>
          <p:txBody>
            <a:bodyPr rtlCol="0" anchor="ctr"/>
            <a:lstStyle/>
            <a:p>
              <a:pPr algn="ctr"/>
              <a:endParaRPr/>
            </a:p>
          </p:txBody>
        </p:sp>
        <p:sp>
          <p:nvSpPr>
            <p:cNvPr id="39" name="TextBox 38"/>
            <p:cNvSpPr txBox="1"/>
            <p:nvPr/>
          </p:nvSpPr>
          <p:spPr>
            <a:xfrm>
              <a:off x="8366760" y="2487168"/>
              <a:ext cx="2286000" cy="365760"/>
            </a:xfrm>
            <a:prstGeom prst="rect">
              <a:avLst/>
            </a:prstGeom>
            <a:noFill/>
          </p:spPr>
          <p:txBody>
            <a:bodyPr wrap="square" lIns="0" tIns="0" rIns="0" bIns="0" anchor="ctr">
              <a:noAutofit/>
            </a:bodyPr>
            <a:lstStyle/>
            <a:p>
              <a:pPr algn="l"/>
              <a:r>
                <a:rPr lang="en-GB" sz="1800" b="0" i="0">
                  <a:solidFill>
                    <a:srgbClr val="F2F2F2"/>
                  </a:solidFill>
                  <a:latin typeface="Arial"/>
                </a:rPr>
                <a:t>Planned</a:t>
              </a:r>
            </a:p>
          </p:txBody>
        </p:sp>
      </p:grpSp>
      <p:sp>
        <p:nvSpPr>
          <p:cNvPr id="40" name="TextBox 39"/>
          <p:cNvSpPr txBox="1"/>
          <p:nvPr/>
        </p:nvSpPr>
        <p:spPr>
          <a:xfrm>
            <a:off x="7909560" y="1371600"/>
            <a:ext cx="2377440" cy="365760"/>
          </a:xfrm>
          <a:prstGeom prst="rect">
            <a:avLst/>
          </a:prstGeom>
          <a:noFill/>
        </p:spPr>
        <p:txBody>
          <a:bodyPr wrap="square" lIns="0" tIns="0" rIns="0" bIns="0" anchor="ctr">
            <a:noAutofit/>
          </a:bodyPr>
          <a:lstStyle/>
          <a:p>
            <a:pPr algn="l"/>
            <a:r>
              <a:rPr lang="en-GB" sz="1800" b="0" i="0">
                <a:solidFill>
                  <a:srgbClr val="F2F2F2"/>
                </a:solidFill>
                <a:latin typeface="Arial"/>
              </a:rPr>
              <a:t>Plans can change.</a:t>
            </a:r>
          </a:p>
        </p:txBody>
      </p:sp>
      <p:sp>
        <p:nvSpPr>
          <p:cNvPr id="41" name="Inline chip Provisional"/>
          <p:cNvSpPr/>
          <p:nvPr/>
        </p:nvSpPr>
        <p:spPr>
          <a:xfrm>
            <a:off x="9926320" y="1389888"/>
            <a:ext cx="1588135" cy="329184"/>
          </a:xfrm>
          <a:prstGeom prst="roundRect">
            <a:avLst>
              <a:gd name="adj" fmla="val 50000"/>
            </a:avLst>
          </a:prstGeom>
          <a:solidFill>
            <a:srgbClr val="4DA3FF"/>
          </a:solidFill>
          <a:ln>
            <a:noFill/>
          </a:ln>
        </p:spPr>
        <p:txBody>
          <a:bodyPr wrap="square" lIns="54864" tIns="18288" rIns="54864" bIns="18288" rtlCol="0" anchor="ctr">
            <a:noAutofit/>
          </a:bodyPr>
          <a:lstStyle/>
          <a:p>
            <a:pPr algn="ctr"/>
            <a:r>
              <a:rPr lang="en-GB" sz="1400" b="1" i="0">
                <a:solidFill>
                  <a:srgbClr val="101418"/>
                </a:solidFill>
                <a:latin typeface="Arial"/>
              </a:rPr>
              <a:t>PROVISIONAL</a:t>
            </a:r>
          </a:p>
        </p:txBody>
      </p:sp>
      <p:sp>
        <p:nvSpPr>
          <p:cNvPr id="4" name="Caption"/>
          <p:cNvSpPr/>
          <p:nvPr/>
        </p:nvSpPr>
        <p:spPr>
          <a:xfrm>
            <a:off x="548640" y="5596128"/>
            <a:ext cx="11091672" cy="804672"/>
          </a:xfrm>
          <a:prstGeom prst="roundRect">
            <a:avLst>
              <a:gd name="adj" fmla="val 9090"/>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A test engine runs on the game's real rails. Next come the other railway pieces. Singleplayer first. Multiplayer after release.</a:t>
            </a:r>
          </a:p>
        </p:txBody>
      </p:sp>
      <p:sp>
        <p:nvSpPr>
          <p:cNvPr id="5" name="Caption rule">
            <a:extLst>
              <a:ext uri="{C183D7F6-B498-43B3-948B-1728B52AA6E4}">
                <adec:decorative xmlns:adec="http://schemas.microsoft.com/office/drawing/2017/decorative" val="1"/>
              </a:ext>
            </a:extLst>
          </p:cNvPr>
          <p:cNvSpPr/>
          <p:nvPr/>
        </p:nvSpPr>
        <p:spPr>
          <a:xfrm>
            <a:off x="548640" y="5596128"/>
            <a:ext cx="73152" cy="804672"/>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STATUS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39</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225"/>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45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675"/>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par>
                                <p:cTn id="17" presetID="10" presetClass="entr" presetSubtype="0" fill="hold" nodeType="withEffect">
                                  <p:stCondLst>
                                    <p:cond delay="90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par>
                                <p:cTn id="20" presetID="10" presetClass="entr" presetSubtype="0" fill="hold" nodeType="withEffect">
                                  <p:stCondLst>
                                    <p:cond delay="1125"/>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10" presetClass="entr" presetSubtype="0" fill="hold" nodeType="withEffect">
                                  <p:stCondLst>
                                    <p:cond delay="135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par>
                                <p:cTn id="26" presetID="10" presetClass="entr" presetSubtype="0" fill="hold" nodeType="withEffect">
                                  <p:stCondLst>
                                    <p:cond delay="1575"/>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311335" cy="731520"/>
          </a:xfrm>
        </p:spPr>
        <p:txBody>
          <a:bodyPr wrap="square" lIns="0" tIns="0" rIns="0" bIns="0" anchor="ctr">
            <a:noAutofit/>
          </a:bodyPr>
          <a:lstStyle/>
          <a:p>
            <a:pPr algn="l"/>
            <a:r>
              <a:rPr lang="en-GB" sz="3600" b="1" i="0">
                <a:solidFill>
                  <a:srgbClr val="F2F2F2"/>
                </a:solidFill>
                <a:latin typeface="Arial"/>
              </a:rPr>
              <a:t>Still undecided</a:t>
            </a:r>
          </a:p>
        </p:txBody>
      </p:sp>
      <p:sp>
        <p:nvSpPr>
          <p:cNvPr id="3" name="Status chip"/>
          <p:cNvSpPr/>
          <p:nvPr/>
        </p:nvSpPr>
        <p:spPr>
          <a:xfrm>
            <a:off x="10088575" y="457200"/>
            <a:ext cx="1554480" cy="365760"/>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grpSp>
        <p:nvGrpSpPr>
          <p:cNvPr id="8" name="Open questions" descr="Eight open questions, none decided: Exact unlock tiers (OQ01); Longest track piece (OQ02); Block lengths and speed caps (OQ03); How boxes measure their reach (OQ04); Is Medium the fastest? (OQ05); Which regions at launch? (OQ06); Which extra locomotives? (OQ20); Pricing and release of packs (OQ26)."/>
          <p:cNvGrpSpPr/>
          <p:nvPr/>
        </p:nvGrpSpPr>
        <p:grpSpPr>
          <a:xfrm>
            <a:off x="548640" y="1463040"/>
            <a:ext cx="11092586" cy="3383280"/>
            <a:chOff x="548640" y="1463040"/>
            <a:chExt cx="11092586" cy="3383280"/>
          </a:xfrm>
        </p:grpSpPr>
        <p:sp>
          <p:nvSpPr>
            <p:cNvPr id="9" name="Rounded Rectangle 8"/>
            <p:cNvSpPr/>
            <p:nvPr/>
          </p:nvSpPr>
          <p:spPr>
            <a:xfrm>
              <a:off x="548640" y="1463040"/>
              <a:ext cx="2651760" cy="1600200"/>
            </a:xfrm>
            <a:prstGeom prst="roundRect">
              <a:avLst>
                <a:gd name="adj" fmla="val 5714"/>
              </a:avLst>
            </a:prstGeom>
            <a:solidFill>
              <a:srgbClr val="2B2F36"/>
            </a:solidFill>
            <a:ln>
              <a:noFill/>
            </a:ln>
          </p:spPr>
          <p:txBody>
            <a:bodyPr rtlCol="0" anchor="ctr"/>
            <a:lstStyle/>
            <a:p>
              <a:pPr algn="ctr"/>
              <a:endParaRPr/>
            </a:p>
          </p:txBody>
        </p:sp>
        <p:sp>
          <p:nvSpPr>
            <p:cNvPr id="10" name="Inline chip Undecided"/>
            <p:cNvSpPr/>
            <p:nvPr/>
          </p:nvSpPr>
          <p:spPr>
            <a:xfrm>
              <a:off x="713232" y="1627632"/>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11" name="TextBox 10"/>
            <p:cNvSpPr txBox="1"/>
            <p:nvPr/>
          </p:nvSpPr>
          <p:spPr>
            <a:xfrm>
              <a:off x="713232" y="2057400"/>
              <a:ext cx="2377440" cy="914400"/>
            </a:xfrm>
            <a:prstGeom prst="rect">
              <a:avLst/>
            </a:prstGeom>
            <a:noFill/>
          </p:spPr>
          <p:txBody>
            <a:bodyPr wrap="square" lIns="0" tIns="0" rIns="0" bIns="0" anchor="t">
              <a:noAutofit/>
            </a:bodyPr>
            <a:lstStyle/>
            <a:p>
              <a:pPr algn="l"/>
              <a:r>
                <a:rPr lang="en-GB" sz="1800" b="0" i="0">
                  <a:solidFill>
                    <a:srgbClr val="F2F2F2"/>
                  </a:solidFill>
                  <a:latin typeface="Arial"/>
                </a:rPr>
                <a:t>Exact unlock tiers (OQ01)</a:t>
              </a:r>
            </a:p>
          </p:txBody>
        </p:sp>
        <p:sp>
          <p:nvSpPr>
            <p:cNvPr id="12" name="Rounded Rectangle 11"/>
            <p:cNvSpPr/>
            <p:nvPr/>
          </p:nvSpPr>
          <p:spPr>
            <a:xfrm>
              <a:off x="3362249" y="1463040"/>
              <a:ext cx="2651760" cy="1600200"/>
            </a:xfrm>
            <a:prstGeom prst="roundRect">
              <a:avLst>
                <a:gd name="adj" fmla="val 5714"/>
              </a:avLst>
            </a:prstGeom>
            <a:solidFill>
              <a:srgbClr val="2B2F36"/>
            </a:solidFill>
            <a:ln>
              <a:noFill/>
            </a:ln>
          </p:spPr>
          <p:txBody>
            <a:bodyPr rtlCol="0" anchor="ctr"/>
            <a:lstStyle/>
            <a:p>
              <a:pPr algn="ctr"/>
              <a:endParaRPr/>
            </a:p>
          </p:txBody>
        </p:sp>
        <p:sp>
          <p:nvSpPr>
            <p:cNvPr id="13" name="Inline chip Undecided"/>
            <p:cNvSpPr/>
            <p:nvPr/>
          </p:nvSpPr>
          <p:spPr>
            <a:xfrm>
              <a:off x="3526841" y="1627632"/>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14" name="TextBox 13"/>
            <p:cNvSpPr txBox="1"/>
            <p:nvPr/>
          </p:nvSpPr>
          <p:spPr>
            <a:xfrm>
              <a:off x="3526841" y="2057400"/>
              <a:ext cx="2377440" cy="914400"/>
            </a:xfrm>
            <a:prstGeom prst="rect">
              <a:avLst/>
            </a:prstGeom>
            <a:noFill/>
          </p:spPr>
          <p:txBody>
            <a:bodyPr wrap="square" lIns="0" tIns="0" rIns="0" bIns="0" anchor="t">
              <a:noAutofit/>
            </a:bodyPr>
            <a:lstStyle/>
            <a:p>
              <a:pPr algn="l"/>
              <a:r>
                <a:rPr lang="en-GB" sz="1800" b="0" i="0">
                  <a:solidFill>
                    <a:srgbClr val="F2F2F2"/>
                  </a:solidFill>
                  <a:latin typeface="Arial"/>
                </a:rPr>
                <a:t>Longest track piece (OQ02)</a:t>
              </a:r>
            </a:p>
          </p:txBody>
        </p:sp>
        <p:sp>
          <p:nvSpPr>
            <p:cNvPr id="15" name="Rounded Rectangle 14"/>
            <p:cNvSpPr/>
            <p:nvPr/>
          </p:nvSpPr>
          <p:spPr>
            <a:xfrm>
              <a:off x="6175858" y="1463040"/>
              <a:ext cx="2651760" cy="1600200"/>
            </a:xfrm>
            <a:prstGeom prst="roundRect">
              <a:avLst>
                <a:gd name="adj" fmla="val 5714"/>
              </a:avLst>
            </a:prstGeom>
            <a:solidFill>
              <a:srgbClr val="2B2F36"/>
            </a:solidFill>
            <a:ln>
              <a:noFill/>
            </a:ln>
          </p:spPr>
          <p:txBody>
            <a:bodyPr rtlCol="0" anchor="ctr"/>
            <a:lstStyle/>
            <a:p>
              <a:pPr algn="ctr"/>
              <a:endParaRPr/>
            </a:p>
          </p:txBody>
        </p:sp>
        <p:sp>
          <p:nvSpPr>
            <p:cNvPr id="16" name="Inline chip Undecided"/>
            <p:cNvSpPr/>
            <p:nvPr/>
          </p:nvSpPr>
          <p:spPr>
            <a:xfrm>
              <a:off x="6340450" y="1627632"/>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17" name="TextBox 16"/>
            <p:cNvSpPr txBox="1"/>
            <p:nvPr/>
          </p:nvSpPr>
          <p:spPr>
            <a:xfrm>
              <a:off x="6340450" y="2057400"/>
              <a:ext cx="2377440" cy="914400"/>
            </a:xfrm>
            <a:prstGeom prst="rect">
              <a:avLst/>
            </a:prstGeom>
            <a:noFill/>
          </p:spPr>
          <p:txBody>
            <a:bodyPr wrap="square" lIns="0" tIns="0" rIns="0" bIns="0" anchor="t">
              <a:noAutofit/>
            </a:bodyPr>
            <a:lstStyle/>
            <a:p>
              <a:pPr algn="l"/>
              <a:r>
                <a:rPr lang="en-GB" sz="1800" b="0" i="0">
                  <a:solidFill>
                    <a:srgbClr val="F2F2F2"/>
                  </a:solidFill>
                  <a:latin typeface="Arial"/>
                </a:rPr>
                <a:t>Block lengths and speed caps (OQ03)</a:t>
              </a:r>
            </a:p>
          </p:txBody>
        </p:sp>
        <p:sp>
          <p:nvSpPr>
            <p:cNvPr id="18" name="Rounded Rectangle 17"/>
            <p:cNvSpPr/>
            <p:nvPr/>
          </p:nvSpPr>
          <p:spPr>
            <a:xfrm>
              <a:off x="8989466" y="1463040"/>
              <a:ext cx="2651760" cy="1600200"/>
            </a:xfrm>
            <a:prstGeom prst="roundRect">
              <a:avLst>
                <a:gd name="adj" fmla="val 5714"/>
              </a:avLst>
            </a:prstGeom>
            <a:solidFill>
              <a:srgbClr val="2B2F36"/>
            </a:solidFill>
            <a:ln>
              <a:noFill/>
            </a:ln>
          </p:spPr>
          <p:txBody>
            <a:bodyPr rtlCol="0" anchor="ctr"/>
            <a:lstStyle/>
            <a:p>
              <a:pPr algn="ctr"/>
              <a:endParaRPr/>
            </a:p>
          </p:txBody>
        </p:sp>
        <p:sp>
          <p:nvSpPr>
            <p:cNvPr id="19" name="Inline chip Undecided"/>
            <p:cNvSpPr/>
            <p:nvPr/>
          </p:nvSpPr>
          <p:spPr>
            <a:xfrm>
              <a:off x="9154058" y="1627632"/>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20" name="TextBox 19"/>
            <p:cNvSpPr txBox="1"/>
            <p:nvPr/>
          </p:nvSpPr>
          <p:spPr>
            <a:xfrm>
              <a:off x="9154058" y="2057400"/>
              <a:ext cx="2377440" cy="914400"/>
            </a:xfrm>
            <a:prstGeom prst="rect">
              <a:avLst/>
            </a:prstGeom>
            <a:noFill/>
          </p:spPr>
          <p:txBody>
            <a:bodyPr wrap="square" lIns="0" tIns="0" rIns="0" bIns="0" anchor="t">
              <a:noAutofit/>
            </a:bodyPr>
            <a:lstStyle/>
            <a:p>
              <a:pPr algn="l"/>
              <a:r>
                <a:rPr lang="en-GB" sz="1800" b="0" i="0">
                  <a:solidFill>
                    <a:srgbClr val="F2F2F2"/>
                  </a:solidFill>
                  <a:latin typeface="Arial"/>
                </a:rPr>
                <a:t>How boxes measure their reach (OQ04)</a:t>
              </a:r>
            </a:p>
          </p:txBody>
        </p:sp>
        <p:sp>
          <p:nvSpPr>
            <p:cNvPr id="21" name="Rounded Rectangle 20"/>
            <p:cNvSpPr/>
            <p:nvPr/>
          </p:nvSpPr>
          <p:spPr>
            <a:xfrm>
              <a:off x="548640" y="3246120"/>
              <a:ext cx="2651760" cy="1600200"/>
            </a:xfrm>
            <a:prstGeom prst="roundRect">
              <a:avLst>
                <a:gd name="adj" fmla="val 5714"/>
              </a:avLst>
            </a:prstGeom>
            <a:solidFill>
              <a:srgbClr val="2B2F36"/>
            </a:solidFill>
            <a:ln>
              <a:noFill/>
            </a:ln>
          </p:spPr>
          <p:txBody>
            <a:bodyPr rtlCol="0" anchor="ctr"/>
            <a:lstStyle/>
            <a:p>
              <a:pPr algn="ctr"/>
              <a:endParaRPr/>
            </a:p>
          </p:txBody>
        </p:sp>
        <p:sp>
          <p:nvSpPr>
            <p:cNvPr id="22" name="Inline chip Undecided"/>
            <p:cNvSpPr/>
            <p:nvPr/>
          </p:nvSpPr>
          <p:spPr>
            <a:xfrm>
              <a:off x="713232" y="3410712"/>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23" name="TextBox 22"/>
            <p:cNvSpPr txBox="1"/>
            <p:nvPr/>
          </p:nvSpPr>
          <p:spPr>
            <a:xfrm>
              <a:off x="713232" y="3840480"/>
              <a:ext cx="2377440" cy="914400"/>
            </a:xfrm>
            <a:prstGeom prst="rect">
              <a:avLst/>
            </a:prstGeom>
            <a:noFill/>
          </p:spPr>
          <p:txBody>
            <a:bodyPr wrap="square" lIns="0" tIns="0" rIns="0" bIns="0" anchor="t">
              <a:noAutofit/>
            </a:bodyPr>
            <a:lstStyle/>
            <a:p>
              <a:pPr algn="l"/>
              <a:r>
                <a:rPr lang="en-GB" sz="1800" b="0" i="0">
                  <a:solidFill>
                    <a:srgbClr val="F2F2F2"/>
                  </a:solidFill>
                  <a:latin typeface="Arial"/>
                </a:rPr>
                <a:t>Is Medium the fastest? (OQ05)</a:t>
              </a:r>
            </a:p>
          </p:txBody>
        </p:sp>
        <p:sp>
          <p:nvSpPr>
            <p:cNvPr id="24" name="Rounded Rectangle 23"/>
            <p:cNvSpPr/>
            <p:nvPr/>
          </p:nvSpPr>
          <p:spPr>
            <a:xfrm>
              <a:off x="3362249" y="3246120"/>
              <a:ext cx="2651760" cy="1600200"/>
            </a:xfrm>
            <a:prstGeom prst="roundRect">
              <a:avLst>
                <a:gd name="adj" fmla="val 5714"/>
              </a:avLst>
            </a:prstGeom>
            <a:solidFill>
              <a:srgbClr val="2B2F36"/>
            </a:solidFill>
            <a:ln>
              <a:noFill/>
            </a:ln>
          </p:spPr>
          <p:txBody>
            <a:bodyPr rtlCol="0" anchor="ctr"/>
            <a:lstStyle/>
            <a:p>
              <a:pPr algn="ctr"/>
              <a:endParaRPr/>
            </a:p>
          </p:txBody>
        </p:sp>
        <p:sp>
          <p:nvSpPr>
            <p:cNvPr id="25" name="Inline chip Undecided"/>
            <p:cNvSpPr/>
            <p:nvPr/>
          </p:nvSpPr>
          <p:spPr>
            <a:xfrm>
              <a:off x="3526841" y="3410712"/>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26" name="TextBox 25"/>
            <p:cNvSpPr txBox="1"/>
            <p:nvPr/>
          </p:nvSpPr>
          <p:spPr>
            <a:xfrm>
              <a:off x="3526841" y="3840480"/>
              <a:ext cx="2377440" cy="914400"/>
            </a:xfrm>
            <a:prstGeom prst="rect">
              <a:avLst/>
            </a:prstGeom>
            <a:noFill/>
          </p:spPr>
          <p:txBody>
            <a:bodyPr wrap="square" lIns="0" tIns="0" rIns="0" bIns="0" anchor="t">
              <a:noAutofit/>
            </a:bodyPr>
            <a:lstStyle/>
            <a:p>
              <a:pPr algn="l"/>
              <a:r>
                <a:rPr lang="en-GB" sz="1800" b="0" i="0">
                  <a:solidFill>
                    <a:srgbClr val="F2F2F2"/>
                  </a:solidFill>
                  <a:latin typeface="Arial"/>
                </a:rPr>
                <a:t>Which regions at launch? (OQ06)</a:t>
              </a:r>
            </a:p>
          </p:txBody>
        </p:sp>
        <p:sp>
          <p:nvSpPr>
            <p:cNvPr id="27" name="Rounded Rectangle 26"/>
            <p:cNvSpPr/>
            <p:nvPr/>
          </p:nvSpPr>
          <p:spPr>
            <a:xfrm>
              <a:off x="6175858" y="3246120"/>
              <a:ext cx="2651760" cy="1600200"/>
            </a:xfrm>
            <a:prstGeom prst="roundRect">
              <a:avLst>
                <a:gd name="adj" fmla="val 5714"/>
              </a:avLst>
            </a:prstGeom>
            <a:solidFill>
              <a:srgbClr val="2B2F36"/>
            </a:solidFill>
            <a:ln>
              <a:noFill/>
            </a:ln>
          </p:spPr>
          <p:txBody>
            <a:bodyPr rtlCol="0" anchor="ctr"/>
            <a:lstStyle/>
            <a:p>
              <a:pPr algn="ctr"/>
              <a:endParaRPr/>
            </a:p>
          </p:txBody>
        </p:sp>
        <p:sp>
          <p:nvSpPr>
            <p:cNvPr id="28" name="Inline chip Undecided"/>
            <p:cNvSpPr/>
            <p:nvPr/>
          </p:nvSpPr>
          <p:spPr>
            <a:xfrm>
              <a:off x="6340450" y="3410712"/>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29" name="TextBox 28"/>
            <p:cNvSpPr txBox="1"/>
            <p:nvPr/>
          </p:nvSpPr>
          <p:spPr>
            <a:xfrm>
              <a:off x="6340450" y="3840480"/>
              <a:ext cx="2377440" cy="914400"/>
            </a:xfrm>
            <a:prstGeom prst="rect">
              <a:avLst/>
            </a:prstGeom>
            <a:noFill/>
          </p:spPr>
          <p:txBody>
            <a:bodyPr wrap="square" lIns="0" tIns="0" rIns="0" bIns="0" anchor="t">
              <a:noAutofit/>
            </a:bodyPr>
            <a:lstStyle/>
            <a:p>
              <a:pPr algn="l"/>
              <a:r>
                <a:rPr lang="en-GB" sz="1800" b="0" i="0">
                  <a:solidFill>
                    <a:srgbClr val="F2F2F2"/>
                  </a:solidFill>
                  <a:latin typeface="Arial"/>
                </a:rPr>
                <a:t>Which extra locomotives? (OQ20)</a:t>
              </a:r>
            </a:p>
          </p:txBody>
        </p:sp>
        <p:sp>
          <p:nvSpPr>
            <p:cNvPr id="30" name="Rounded Rectangle 29"/>
            <p:cNvSpPr/>
            <p:nvPr/>
          </p:nvSpPr>
          <p:spPr>
            <a:xfrm>
              <a:off x="8989466" y="3246120"/>
              <a:ext cx="2651760" cy="1600200"/>
            </a:xfrm>
            <a:prstGeom prst="roundRect">
              <a:avLst>
                <a:gd name="adj" fmla="val 5714"/>
              </a:avLst>
            </a:prstGeom>
            <a:solidFill>
              <a:srgbClr val="2B2F36"/>
            </a:solidFill>
            <a:ln>
              <a:noFill/>
            </a:ln>
          </p:spPr>
          <p:txBody>
            <a:bodyPr rtlCol="0" anchor="ctr"/>
            <a:lstStyle/>
            <a:p>
              <a:pPr algn="ctr"/>
              <a:endParaRPr/>
            </a:p>
          </p:txBody>
        </p:sp>
        <p:sp>
          <p:nvSpPr>
            <p:cNvPr id="31" name="Inline chip Undecided"/>
            <p:cNvSpPr/>
            <p:nvPr/>
          </p:nvSpPr>
          <p:spPr>
            <a:xfrm>
              <a:off x="9154058" y="3410712"/>
              <a:ext cx="1413510" cy="329184"/>
            </a:xfrm>
            <a:prstGeom prst="roundRect">
              <a:avLst>
                <a:gd name="adj" fmla="val 50000"/>
              </a:avLst>
            </a:prstGeom>
            <a:noFill/>
            <a:ln w="25400">
              <a:solidFill>
                <a:srgbClr val="A9B0B8"/>
              </a:solidFill>
            </a:ln>
          </p:spPr>
          <p:txBody>
            <a:bodyPr wrap="square" lIns="54864" tIns="18288" rIns="54864" bIns="18288" rtlCol="0" anchor="ctr">
              <a:noAutofit/>
            </a:bodyPr>
            <a:lstStyle/>
            <a:p>
              <a:pPr algn="ctr"/>
              <a:r>
                <a:rPr lang="en-GB" sz="1400" b="1" i="0">
                  <a:solidFill>
                    <a:srgbClr val="F2F2F2"/>
                  </a:solidFill>
                  <a:latin typeface="Arial"/>
                </a:rPr>
                <a:t>UNDECIDED</a:t>
              </a:r>
            </a:p>
          </p:txBody>
        </p:sp>
        <p:sp>
          <p:nvSpPr>
            <p:cNvPr id="32" name="TextBox 31"/>
            <p:cNvSpPr txBox="1"/>
            <p:nvPr/>
          </p:nvSpPr>
          <p:spPr>
            <a:xfrm>
              <a:off x="9154058" y="3840480"/>
              <a:ext cx="2377440" cy="914400"/>
            </a:xfrm>
            <a:prstGeom prst="rect">
              <a:avLst/>
            </a:prstGeom>
            <a:noFill/>
          </p:spPr>
          <p:txBody>
            <a:bodyPr wrap="square" lIns="0" tIns="0" rIns="0" bIns="0" anchor="t">
              <a:noAutofit/>
            </a:bodyPr>
            <a:lstStyle/>
            <a:p>
              <a:pPr algn="l"/>
              <a:r>
                <a:rPr lang="en-GB" sz="1800" b="0" i="0">
                  <a:solidFill>
                    <a:srgbClr val="F2F2F2"/>
                  </a:solidFill>
                  <a:latin typeface="Arial"/>
                </a:rPr>
                <a:t>Pricing and release of packs (OQ26)</a:t>
              </a:r>
            </a:p>
          </p:txBody>
        </p:sp>
      </p:grpSp>
      <p:sp>
        <p:nvSpPr>
          <p:cNvPr id="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These questions are open. Nothing here has been chosen yet.</a:t>
            </a:r>
          </a:p>
        </p:txBody>
      </p:sp>
      <p:sp>
        <p:nvSpPr>
          <p:cNvPr id="5"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STATUS</a:t>
            </a:r>
          </a:p>
        </p:txBody>
      </p:sp>
      <p:sp>
        <p:nvSpPr>
          <p:cNvPr id="7"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40</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11094415" cy="731520"/>
          </a:xfrm>
        </p:spPr>
        <p:txBody>
          <a:bodyPr wrap="square" lIns="0" tIns="0" rIns="0" bIns="0" anchor="ctr">
            <a:noAutofit/>
          </a:bodyPr>
          <a:lstStyle/>
          <a:p>
            <a:pPr algn="l"/>
            <a:r>
              <a:rPr lang="en-GB" sz="3600" b="1" i="0">
                <a:solidFill>
                  <a:srgbClr val="F2F2F2"/>
                </a:solidFill>
                <a:latin typeface="Arial"/>
              </a:rPr>
              <a:t>Image credits (1 of 2)</a:t>
            </a:r>
          </a:p>
        </p:txBody>
      </p:sp>
      <p:graphicFrame>
        <p:nvGraphicFramePr>
          <p:cNvPr id="7" name="Credit table" descr="Credit table for photographs P01 to P12: slot, slide, author, licence and a link to the source page on Wikimedia Commons."/>
          <p:cNvGraphicFramePr>
            <a:graphicFrameLocks noGrp="1"/>
          </p:cNvGraphicFramePr>
          <p:nvPr/>
        </p:nvGraphicFramePr>
        <p:xfrm>
          <a:off x="548640" y="1325880"/>
          <a:ext cx="11091672" cy="3625596"/>
        </p:xfrm>
        <a:graphic>
          <a:graphicData uri="http://schemas.openxmlformats.org/drawingml/2006/table">
            <a:tbl>
              <a:tblPr firstRow="1">
                <a:tableStyleId>{2D5ABB26-0587-4C30-8999-92F81FD0307C}</a:tableStyleId>
              </a:tblPr>
              <a:tblGrid>
                <a:gridCol w="6858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313432">
                  <a:extLst>
                    <a:ext uri="{9D8B030D-6E8A-4147-A177-3AD203B41FA5}">
                      <a16:colId xmlns:a16="http://schemas.microsoft.com/office/drawing/2014/main" val="20004"/>
                    </a:ext>
                  </a:extLst>
                </a:gridCol>
              </a:tblGrid>
              <a:tr h="278892">
                <a:tc>
                  <a:txBody>
                    <a:bodyPr/>
                    <a:lstStyle/>
                    <a:p>
                      <a:pPr algn="l"/>
                      <a:r>
                        <a:rPr lang="en-GB" sz="1100" b="1">
                          <a:solidFill>
                            <a:srgbClr val="F28C28"/>
                          </a:solidFill>
                          <a:latin typeface="Arial"/>
                        </a:rPr>
                        <a:t>Slot</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l"/>
                      <a:r>
                        <a:rPr lang="en-GB" sz="1100" b="1">
                          <a:solidFill>
                            <a:srgbClr val="F28C28"/>
                          </a:solidFill>
                          <a:latin typeface="Arial"/>
                        </a:rPr>
                        <a:t>Slide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l"/>
                      <a:r>
                        <a:rPr lang="en-GB" sz="1100" b="1">
                          <a:solidFill>
                            <a:srgbClr val="F28C28"/>
                          </a:solidFill>
                          <a:latin typeface="Arial"/>
                        </a:rPr>
                        <a:t>Author</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l"/>
                      <a:r>
                        <a:rPr lang="en-GB" sz="1100" b="1">
                          <a:solidFill>
                            <a:srgbClr val="F28C28"/>
                          </a:solidFill>
                          <a:latin typeface="Arial"/>
                        </a:rPr>
                        <a:t>Licence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l"/>
                      <a:r>
                        <a:rPr lang="en-GB" sz="1100" b="1">
                          <a:solidFill>
                            <a:srgbClr val="F28C28"/>
                          </a:solidFill>
                          <a:latin typeface="Arial"/>
                        </a:rPr>
                        <a:t>Source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extLst>
                  <a:ext uri="{0D108BD9-81ED-4DB2-BD59-A6C34878D82A}">
                    <a16:rowId xmlns:a16="http://schemas.microsoft.com/office/drawing/2014/main" val="10000"/>
                  </a:ext>
                </a:extLst>
              </a:tr>
              <a:tr h="278892">
                <a:tc>
                  <a:txBody>
                    <a:bodyPr/>
                    <a:lstStyle/>
                    <a:p>
                      <a:pPr algn="l"/>
                      <a:r>
                        <a:rPr lang="en-GB" sz="1100" b="0">
                          <a:solidFill>
                            <a:srgbClr val="F2F2F2"/>
                          </a:solidFill>
                          <a:latin typeface="Arial"/>
                        </a:rPr>
                        <a:t>P01</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6</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Stephen Craven</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BY-SA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2"/>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1"/>
                  </a:ext>
                </a:extLst>
              </a:tr>
              <a:tr h="278892">
                <a:tc>
                  <a:txBody>
                    <a:bodyPr/>
                    <a:lstStyle/>
                    <a:p>
                      <a:pPr algn="l"/>
                      <a:r>
                        <a:rPr lang="en-GB" sz="1100" b="0">
                          <a:solidFill>
                            <a:srgbClr val="F2F2F2"/>
                          </a:solidFill>
                          <a:latin typeface="Arial"/>
                        </a:rPr>
                        <a:t>P02</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17</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James E. Petts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BY-SA 4.0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3"/>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2"/>
                  </a:ext>
                </a:extLst>
              </a:tr>
              <a:tr h="278892">
                <a:tc>
                  <a:txBody>
                    <a:bodyPr/>
                    <a:lstStyle/>
                    <a:p>
                      <a:pPr algn="l"/>
                      <a:r>
                        <a:rPr lang="en-GB" sz="1100" b="0">
                          <a:solidFill>
                            <a:srgbClr val="F2F2F2"/>
                          </a:solidFill>
                          <a:latin typeface="Arial"/>
                        </a:rPr>
                        <a:t>P03</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7</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Ben Salter</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4"/>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3"/>
                  </a:ext>
                </a:extLst>
              </a:tr>
              <a:tr h="278892">
                <a:tc>
                  <a:txBody>
                    <a:bodyPr/>
                    <a:lstStyle/>
                    <a:p>
                      <a:pPr algn="l"/>
                      <a:r>
                        <a:rPr lang="en-GB" sz="1100" b="0">
                          <a:solidFill>
                            <a:srgbClr val="F2F2F2"/>
                          </a:solidFill>
                          <a:latin typeface="Arial"/>
                        </a:rPr>
                        <a:t>P04</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www.mgaylard.co.uk</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5"/>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4"/>
                  </a:ext>
                </a:extLst>
              </a:tr>
              <a:tr h="278892">
                <a:tc>
                  <a:txBody>
                    <a:bodyPr/>
                    <a:lstStyle/>
                    <a:p>
                      <a:pPr algn="l"/>
                      <a:r>
                        <a:rPr lang="en-GB" sz="1100" b="0">
                          <a:solidFill>
                            <a:srgbClr val="F2F2F2"/>
                          </a:solidFill>
                          <a:latin typeface="Arial"/>
                        </a:rPr>
                        <a:t>P05</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www.mgaylard.co.uk</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6"/>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5"/>
                  </a:ext>
                </a:extLst>
              </a:tr>
              <a:tr h="278892">
                <a:tc>
                  <a:txBody>
                    <a:bodyPr/>
                    <a:lstStyle/>
                    <a:p>
                      <a:pPr algn="l"/>
                      <a:r>
                        <a:rPr lang="en-GB" sz="1100" b="0">
                          <a:solidFill>
                            <a:srgbClr val="F2F2F2"/>
                          </a:solidFill>
                          <a:latin typeface="Arial"/>
                        </a:rPr>
                        <a:t>P06</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10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Barry Skeates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7"/>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6"/>
                  </a:ext>
                </a:extLst>
              </a:tr>
              <a:tr h="278892">
                <a:tc>
                  <a:txBody>
                    <a:bodyPr/>
                    <a:lstStyle/>
                    <a:p>
                      <a:pPr algn="l"/>
                      <a:r>
                        <a:rPr lang="en-GB" sz="1100" b="0">
                          <a:solidFill>
                            <a:srgbClr val="F2F2F2"/>
                          </a:solidFill>
                          <a:latin typeface="Arial"/>
                        </a:rPr>
                        <a:t>P07</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10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David Merrett</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8"/>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7"/>
                  </a:ext>
                </a:extLst>
              </a:tr>
              <a:tr h="278892">
                <a:tc>
                  <a:txBody>
                    <a:bodyPr/>
                    <a:lstStyle/>
                    <a:p>
                      <a:pPr algn="l"/>
                      <a:r>
                        <a:rPr lang="en-GB" sz="1100" b="0">
                          <a:solidFill>
                            <a:srgbClr val="F2F2F2"/>
                          </a:solidFill>
                          <a:latin typeface="Arial"/>
                        </a:rPr>
                        <a:t>P08</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11</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Gillett's Crossing</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9"/>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8"/>
                  </a:ext>
                </a:extLst>
              </a:tr>
              <a:tr h="278892">
                <a:tc>
                  <a:txBody>
                    <a:bodyPr/>
                    <a:lstStyle/>
                    <a:p>
                      <a:pPr algn="l"/>
                      <a:r>
                        <a:rPr lang="en-GB" sz="1100" b="0">
                          <a:solidFill>
                            <a:srgbClr val="F2F2F2"/>
                          </a:solidFill>
                          <a:latin typeface="Arial"/>
                        </a:rPr>
                        <a:t>P09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11</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kitmasterbloke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4.0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10"/>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9"/>
                  </a:ext>
                </a:extLst>
              </a:tr>
              <a:tr h="278892">
                <a:tc>
                  <a:txBody>
                    <a:bodyPr/>
                    <a:lstStyle/>
                    <a:p>
                      <a:pPr algn="l"/>
                      <a:r>
                        <a:rPr lang="en-GB" sz="1100" b="0">
                          <a:solidFill>
                            <a:srgbClr val="F2F2F2"/>
                          </a:solidFill>
                          <a:latin typeface="Arial"/>
                        </a:rPr>
                        <a:t>P10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19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Duncan Harris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BY-SA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11"/>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10"/>
                  </a:ext>
                </a:extLst>
              </a:tr>
              <a:tr h="278892">
                <a:tc>
                  <a:txBody>
                    <a:bodyPr/>
                    <a:lstStyle/>
                    <a:p>
                      <a:pPr algn="l"/>
                      <a:r>
                        <a:rPr lang="en-GB" sz="1100" b="0">
                          <a:solidFill>
                            <a:srgbClr val="F2F2F2"/>
                          </a:solidFill>
                          <a:latin typeface="Arial"/>
                        </a:rPr>
                        <a:t>P11</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kitmasterbloke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12"/>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11"/>
                  </a:ext>
                </a:extLst>
              </a:tr>
              <a:tr h="278892">
                <a:tc>
                  <a:txBody>
                    <a:bodyPr/>
                    <a:lstStyle/>
                    <a:p>
                      <a:pPr algn="l"/>
                      <a:r>
                        <a:rPr lang="en-GB" sz="1100" b="0">
                          <a:solidFill>
                            <a:srgbClr val="F2F2F2"/>
                          </a:solidFill>
                          <a:latin typeface="Arial"/>
                        </a:rPr>
                        <a:t>P12</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21</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Tony Hisgett</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13"/>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12"/>
                  </a:ext>
                </a:extLst>
              </a:tr>
            </a:tbl>
          </a:graphicData>
        </a:graphic>
      </p:graphicFrame>
      <p:sp>
        <p:nvSpPr>
          <p:cNvPr id="8" name="TextBox 7"/>
          <p:cNvSpPr txBox="1"/>
          <p:nvPr/>
        </p:nvSpPr>
        <p:spPr>
          <a:xfrm>
            <a:off x="548640" y="5061204"/>
            <a:ext cx="8229600" cy="292608"/>
          </a:xfrm>
          <a:prstGeom prst="rect">
            <a:avLst/>
          </a:prstGeom>
          <a:noFill/>
        </p:spPr>
        <p:txBody>
          <a:bodyPr wrap="square" lIns="0" tIns="0" rIns="0" bIns="0" anchor="t">
            <a:noAutofit/>
          </a:bodyPr>
          <a:lstStyle/>
          <a:p>
            <a:pPr algn="l"/>
            <a:r>
              <a:rPr lang="en-GB" sz="1400" b="0" i="0">
                <a:solidFill>
                  <a:srgbClr val="F2F2F2"/>
                </a:solidFill>
                <a:latin typeface="Arial"/>
              </a:rPr>
              <a:t>CC BY-SA photos are shown unmodified except for resizing.</a:t>
            </a:r>
          </a:p>
        </p:txBody>
      </p:sp>
      <p:sp>
        <p:nvSpPr>
          <p:cNvPr id="3"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Photographs come from Wikimedia Commons under Creative Commons licences.</a:t>
            </a:r>
          </a:p>
        </p:txBody>
      </p:sp>
      <p:sp>
        <p:nvSpPr>
          <p:cNvPr id="4"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5"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CREDITS</a:t>
            </a:r>
          </a:p>
        </p:txBody>
      </p:sp>
      <p:sp>
        <p:nvSpPr>
          <p:cNvPr id="6"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41</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6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11094415" cy="731520"/>
          </a:xfrm>
        </p:spPr>
        <p:txBody>
          <a:bodyPr wrap="square" lIns="0" tIns="0" rIns="0" bIns="0" anchor="ctr">
            <a:noAutofit/>
          </a:bodyPr>
          <a:lstStyle/>
          <a:p>
            <a:pPr algn="l"/>
            <a:r>
              <a:rPr lang="en-GB" sz="3600" b="1" i="0">
                <a:solidFill>
                  <a:srgbClr val="F2F2F2"/>
                </a:solidFill>
                <a:latin typeface="Arial"/>
              </a:rPr>
              <a:t>Image credits (2 of 2)</a:t>
            </a:r>
          </a:p>
        </p:txBody>
      </p:sp>
      <p:graphicFrame>
        <p:nvGraphicFramePr>
          <p:cNvPr id="7" name="Credit table" descr="Credit table for photographs P13 to P19 and project renders R01 to R05: slot, slide, author, licence and source."/>
          <p:cNvGraphicFramePr>
            <a:graphicFrameLocks noGrp="1"/>
          </p:cNvGraphicFramePr>
          <p:nvPr/>
        </p:nvGraphicFramePr>
        <p:xfrm>
          <a:off x="548640" y="1325880"/>
          <a:ext cx="11091672" cy="3625596"/>
        </p:xfrm>
        <a:graphic>
          <a:graphicData uri="http://schemas.openxmlformats.org/drawingml/2006/table">
            <a:tbl>
              <a:tblPr firstRow="1">
                <a:tableStyleId>{2D5ABB26-0587-4C30-8999-92F81FD0307C}</a:tableStyleId>
              </a:tblPr>
              <a:tblGrid>
                <a:gridCol w="6858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313432">
                  <a:extLst>
                    <a:ext uri="{9D8B030D-6E8A-4147-A177-3AD203B41FA5}">
                      <a16:colId xmlns:a16="http://schemas.microsoft.com/office/drawing/2014/main" val="20004"/>
                    </a:ext>
                  </a:extLst>
                </a:gridCol>
              </a:tblGrid>
              <a:tr h="278892">
                <a:tc>
                  <a:txBody>
                    <a:bodyPr/>
                    <a:lstStyle/>
                    <a:p>
                      <a:pPr algn="l"/>
                      <a:r>
                        <a:rPr lang="en-GB" sz="1100" b="1">
                          <a:solidFill>
                            <a:srgbClr val="F28C28"/>
                          </a:solidFill>
                          <a:latin typeface="Arial"/>
                        </a:rPr>
                        <a:t>Slot</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l"/>
                      <a:r>
                        <a:rPr lang="en-GB" sz="1100" b="1">
                          <a:solidFill>
                            <a:srgbClr val="F28C28"/>
                          </a:solidFill>
                          <a:latin typeface="Arial"/>
                        </a:rPr>
                        <a:t>Slide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l"/>
                      <a:r>
                        <a:rPr lang="en-GB" sz="1100" b="1">
                          <a:solidFill>
                            <a:srgbClr val="F28C28"/>
                          </a:solidFill>
                          <a:latin typeface="Arial"/>
                        </a:rPr>
                        <a:t>Author</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l"/>
                      <a:r>
                        <a:rPr lang="en-GB" sz="1100" b="1">
                          <a:solidFill>
                            <a:srgbClr val="F28C28"/>
                          </a:solidFill>
                          <a:latin typeface="Arial"/>
                        </a:rPr>
                        <a:t>Licence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pPr algn="l"/>
                      <a:r>
                        <a:rPr lang="en-GB" sz="1100" b="1">
                          <a:solidFill>
                            <a:srgbClr val="F28C28"/>
                          </a:solidFill>
                          <a:latin typeface="Arial"/>
                        </a:rPr>
                        <a:t>Source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extLst>
                  <a:ext uri="{0D108BD9-81ED-4DB2-BD59-A6C34878D82A}">
                    <a16:rowId xmlns:a16="http://schemas.microsoft.com/office/drawing/2014/main" val="10000"/>
                  </a:ext>
                </a:extLst>
              </a:tr>
              <a:tr h="278892">
                <a:tc>
                  <a:txBody>
                    <a:bodyPr/>
                    <a:lstStyle/>
                    <a:p>
                      <a:pPr algn="l"/>
                      <a:r>
                        <a:rPr lang="en-GB" sz="1100" b="0">
                          <a:solidFill>
                            <a:srgbClr val="F2F2F2"/>
                          </a:solidFill>
                          <a:latin typeface="Arial"/>
                        </a:rPr>
                        <a:t>P13</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29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Richard Dunn</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BY-SA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2"/>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1"/>
                  </a:ext>
                </a:extLst>
              </a:tr>
              <a:tr h="278892">
                <a:tc>
                  <a:txBody>
                    <a:bodyPr/>
                    <a:lstStyle/>
                    <a:p>
                      <a:pPr algn="l"/>
                      <a:r>
                        <a:rPr lang="en-GB" sz="1100" b="0">
                          <a:solidFill>
                            <a:srgbClr val="F2F2F2"/>
                          </a:solidFill>
                          <a:latin typeface="Arial"/>
                        </a:rPr>
                        <a:t>P14</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30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Reading Tom</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3"/>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2"/>
                  </a:ext>
                </a:extLst>
              </a:tr>
              <a:tr h="278892">
                <a:tc>
                  <a:txBody>
                    <a:bodyPr/>
                    <a:lstStyle/>
                    <a:p>
                      <a:pPr algn="l"/>
                      <a:r>
                        <a:rPr lang="en-GB" sz="1100" b="0">
                          <a:solidFill>
                            <a:srgbClr val="F2F2F2"/>
                          </a:solidFill>
                          <a:latin typeface="Arial"/>
                        </a:rPr>
                        <a:t>P15</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30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Nigel Brown</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BY-SA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4"/>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3"/>
                  </a:ext>
                </a:extLst>
              </a:tr>
              <a:tr h="278892">
                <a:tc>
                  <a:txBody>
                    <a:bodyPr/>
                    <a:lstStyle/>
                    <a:p>
                      <a:pPr algn="l"/>
                      <a:r>
                        <a:rPr lang="en-GB" sz="1100" b="0">
                          <a:solidFill>
                            <a:srgbClr val="F2F2F2"/>
                          </a:solidFill>
                          <a:latin typeface="Arial"/>
                        </a:rPr>
                        <a:t>P16</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33</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mattbuck (category)</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BY-SA 3.0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5"/>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4"/>
                  </a:ext>
                </a:extLst>
              </a:tr>
              <a:tr h="278892">
                <a:tc>
                  <a:txBody>
                    <a:bodyPr/>
                    <a:lstStyle/>
                    <a:p>
                      <a:pPr algn="l"/>
                      <a:r>
                        <a:rPr lang="en-GB" sz="1100" b="0">
                          <a:solidFill>
                            <a:srgbClr val="F2F2F2"/>
                          </a:solidFill>
                          <a:latin typeface="Arial"/>
                        </a:rPr>
                        <a:t>P17</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25</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Rosser1954</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BY-SA 4.0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6"/>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5"/>
                  </a:ext>
                </a:extLst>
              </a:tr>
              <a:tr h="278892">
                <a:tc>
                  <a:txBody>
                    <a:bodyPr/>
                    <a:lstStyle/>
                    <a:p>
                      <a:pPr algn="l"/>
                      <a:r>
                        <a:rPr lang="en-GB" sz="1100" b="0">
                          <a:solidFill>
                            <a:srgbClr val="F2F2F2"/>
                          </a:solidFill>
                          <a:latin typeface="Arial"/>
                        </a:rPr>
                        <a:t>P18</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24</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Geof Sheppard</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BY-SA 4.0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7"/>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6"/>
                  </a:ext>
                </a:extLst>
              </a:tr>
              <a:tr h="278892">
                <a:tc>
                  <a:txBody>
                    <a:bodyPr/>
                    <a:lstStyle/>
                    <a:p>
                      <a:pPr algn="l"/>
                      <a:r>
                        <a:rPr lang="en-GB" sz="1100" b="0">
                          <a:solidFill>
                            <a:srgbClr val="F2F2F2"/>
                          </a:solidFill>
                          <a:latin typeface="Arial"/>
                        </a:rPr>
                        <a:t>P19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36</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Ben Salter</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CC BY 2.0</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Wikimedia </a:t>
                      </a:r>
                      <a:r>
                        <a:rPr lang="en-GB" sz="1100" b="0" u="sng">
                          <a:solidFill>
                            <a:srgbClr val="7DB8FF"/>
                          </a:solidFill>
                          <a:latin typeface="Arial"/>
                          <a:hlinkClick r:id="rId8"/>
                        </a:rPr>
                        <a:t>Commons</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7"/>
                  </a:ext>
                </a:extLst>
              </a:tr>
              <a:tr h="278892">
                <a:tc>
                  <a:txBody>
                    <a:bodyPr/>
                    <a:lstStyle/>
                    <a:p>
                      <a:pPr algn="l"/>
                      <a:r>
                        <a:rPr lang="en-GB" sz="1100" b="0">
                          <a:solidFill>
                            <a:srgbClr val="F2F2F2"/>
                          </a:solidFill>
                          <a:latin typeface="Arial"/>
                        </a:rPr>
                        <a:t>R01</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1, 3, 39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Early Locomotion project (test model, not final art)</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No third-party licence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Project render</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8"/>
                  </a:ext>
                </a:extLst>
              </a:tr>
              <a:tr h="278892">
                <a:tc>
                  <a:txBody>
                    <a:bodyPr/>
                    <a:lstStyle/>
                    <a:p>
                      <a:pPr algn="l"/>
                      <a:r>
                        <a:rPr lang="en-GB" sz="1100" b="0">
                          <a:solidFill>
                            <a:srgbClr val="F2F2F2"/>
                          </a:solidFill>
                          <a:latin typeface="Arial"/>
                        </a:rPr>
                        <a:t>R02</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17, 39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Early Locomotion project (test model, not final art)</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No third-party licence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Project render</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9"/>
                  </a:ext>
                </a:extLst>
              </a:tr>
              <a:tr h="278892">
                <a:tc>
                  <a:txBody>
                    <a:bodyPr/>
                    <a:lstStyle/>
                    <a:p>
                      <a:pPr algn="l"/>
                      <a:r>
                        <a:rPr lang="en-GB" sz="1100" b="0">
                          <a:solidFill>
                            <a:srgbClr val="F2F2F2"/>
                          </a:solidFill>
                          <a:latin typeface="Arial"/>
                        </a:rPr>
                        <a:t>R03</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29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Early Locomotion project (test model, not final art)</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No third-party licence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Project render</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10"/>
                  </a:ext>
                </a:extLst>
              </a:tr>
              <a:tr h="278892">
                <a:tc>
                  <a:txBody>
                    <a:bodyPr/>
                    <a:lstStyle/>
                    <a:p>
                      <a:pPr algn="l"/>
                      <a:r>
                        <a:rPr lang="en-GB" sz="1100" b="0">
                          <a:solidFill>
                            <a:srgbClr val="F2F2F2"/>
                          </a:solidFill>
                          <a:latin typeface="Arial"/>
                        </a:rPr>
                        <a:t>R04</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29</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Early Locomotion project (test model, not final art)</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No third-party licence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Project render</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11"/>
                  </a:ext>
                </a:extLst>
              </a:tr>
              <a:tr h="278892">
                <a:tc>
                  <a:txBody>
                    <a:bodyPr/>
                    <a:lstStyle/>
                    <a:p>
                      <a:pPr algn="l"/>
                      <a:r>
                        <a:rPr lang="en-GB" sz="1100" b="0">
                          <a:solidFill>
                            <a:srgbClr val="F2F2F2"/>
                          </a:solidFill>
                          <a:latin typeface="Arial"/>
                        </a:rPr>
                        <a:t>R05</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17</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Early Locomotion project (test model, not final art)</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No third-party licence</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pPr algn="l"/>
                      <a:r>
                        <a:rPr lang="en-GB" sz="1100" b="0">
                          <a:solidFill>
                            <a:srgbClr val="F2F2F2"/>
                          </a:solidFill>
                          <a:latin typeface="Arial"/>
                        </a:rPr>
                        <a:t>Project render</a:t>
                      </a:r>
                    </a:p>
                  </a:txBody>
                  <a:tcPr marT="27432" marB="27432"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12"/>
                  </a:ext>
                </a:extLst>
              </a:tr>
            </a:tbl>
          </a:graphicData>
        </a:graphic>
      </p:graphicFrame>
      <p:sp>
        <p:nvSpPr>
          <p:cNvPr id="8" name="TextBox 7"/>
          <p:cNvSpPr txBox="1"/>
          <p:nvPr/>
        </p:nvSpPr>
        <p:spPr>
          <a:xfrm>
            <a:off x="548640" y="5061204"/>
            <a:ext cx="8229600" cy="292608"/>
          </a:xfrm>
          <a:prstGeom prst="rect">
            <a:avLst/>
          </a:prstGeom>
          <a:noFill/>
        </p:spPr>
        <p:txBody>
          <a:bodyPr wrap="square" lIns="0" tIns="0" rIns="0" bIns="0" anchor="t">
            <a:noAutofit/>
          </a:bodyPr>
          <a:lstStyle/>
          <a:p>
            <a:pPr algn="l"/>
            <a:r>
              <a:rPr lang="en-GB" sz="1400" b="0" i="0">
                <a:solidFill>
                  <a:srgbClr val="F2F2F2"/>
                </a:solidFill>
                <a:latin typeface="Arial"/>
              </a:rPr>
              <a:t>CC BY-SA photos are shown unmodified except for resizing.</a:t>
            </a:r>
          </a:p>
        </p:txBody>
      </p:sp>
      <p:sp>
        <p:nvSpPr>
          <p:cNvPr id="3"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27432" rIns="182880" bIns="27432" rtlCol="0" anchor="ctr">
            <a:noAutofit/>
          </a:bodyPr>
          <a:lstStyle/>
          <a:p>
            <a:pPr algn="l"/>
            <a:r>
              <a:rPr lang="en-GB" sz="2000" b="0" i="0">
                <a:solidFill>
                  <a:srgbClr val="F2F2F2"/>
                </a:solidFill>
                <a:latin typeface="Arial"/>
              </a:rPr>
              <a:t>Mod renders belong to the project. They show early test models.</a:t>
            </a:r>
          </a:p>
        </p:txBody>
      </p:sp>
      <p:sp>
        <p:nvSpPr>
          <p:cNvPr id="4" name="Caption rule">
            <a:extLst>
              <a:ext uri="{C183D7F6-B498-43B3-948B-1728B52AA6E4}">
                <adec:decorative xmlns:adec="http://schemas.microsoft.com/office/drawing/2017/decorative" val="1"/>
              </a:ext>
            </a:extLst>
          </p:cNvPr>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5" name="Section label"/>
          <p:cNvSpPr txBox="1"/>
          <p:nvPr/>
        </p:nvSpPr>
        <p:spPr>
          <a:xfrm>
            <a:off x="548640" y="118872"/>
            <a:ext cx="7315200" cy="274320"/>
          </a:xfrm>
          <a:prstGeom prst="rect">
            <a:avLst/>
          </a:prstGeom>
          <a:noFill/>
        </p:spPr>
        <p:txBody>
          <a:bodyPr wrap="square" lIns="0" tIns="0" rIns="0" bIns="0" anchor="t">
            <a:noAutofit/>
          </a:bodyPr>
          <a:lstStyle/>
          <a:p>
            <a:pPr algn="l"/>
            <a:r>
              <a:rPr lang="en-GB" sz="1400" b="0" i="0">
                <a:solidFill>
                  <a:srgbClr val="A9B0B8"/>
                </a:solidFill>
                <a:latin typeface="Arial"/>
              </a:rPr>
              <a:t>CREDITS</a:t>
            </a:r>
          </a:p>
        </p:txBody>
      </p:sp>
      <p:sp>
        <p:nvSpPr>
          <p:cNvPr id="6" name="Slide number"/>
          <p:cNvSpPr txBox="1"/>
          <p:nvPr/>
        </p:nvSpPr>
        <p:spPr>
          <a:xfrm>
            <a:off x="10728655" y="6455664"/>
            <a:ext cx="914400" cy="274320"/>
          </a:xfrm>
          <a:prstGeom prst="rect">
            <a:avLst/>
          </a:prstGeom>
          <a:noFill/>
        </p:spPr>
        <p:txBody>
          <a:bodyPr wrap="square" lIns="0" tIns="0" rIns="0" bIns="0" anchor="t">
            <a:noAutofit/>
          </a:bodyPr>
          <a:lstStyle/>
          <a:p>
            <a:pPr algn="r"/>
            <a:fld id="{B6F15528-21DE-4FAA-801E-634DDDAF4B2B}" type="slidenum">
              <a:rPr lang="en-GB" sz="1400" b="0" i="0">
                <a:solidFill>
                  <a:srgbClr val="A9B0B8"/>
                </a:solidFill>
                <a:latin typeface="Arial"/>
              </a:rPr>
              <a:t>42</a:t>
            </a:fld>
            <a:endParaRPr lang="en-GB" sz="1400" b="0" i="0">
              <a:solidFill>
                <a:srgbClr val="A9B0B8"/>
              </a:solidFill>
              <a:latin typeface="Aria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3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nodeType="withEffect">
                                  <p:stCondLst>
                                    <p:cond delay="6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1783080"/>
            <a:ext cx="6035040" cy="1920240"/>
          </a:xfrm>
        </p:spPr>
        <p:txBody>
          <a:bodyPr wrap="square" lIns="0" tIns="0" rIns="0" bIns="0" anchor="ctr">
            <a:noAutofit/>
          </a:bodyPr>
          <a:lstStyle/>
          <a:p>
            <a:pPr algn="l"/>
            <a:r>
              <a:rPr lang="en-GB" sz="5400" b="1">
                <a:solidFill>
                  <a:srgbClr val="F2F2F2"/>
                </a:solidFill>
                <a:latin typeface="Arial"/>
              </a:rPr>
              <a:t>Signals and Signal Boxes</a:t>
            </a:r>
          </a:p>
        </p:txBody>
      </p:sp>
      <p:sp>
        <p:nvSpPr>
          <p:cNvPr id="3" name="Series line"/>
          <p:cNvSpPr txBox="1"/>
          <p:nvPr/>
        </p:nvSpPr>
        <p:spPr>
          <a:xfrm>
            <a:off x="548640" y="1325880"/>
            <a:ext cx="5852160" cy="365760"/>
          </a:xfrm>
          <a:prstGeom prst="rect">
            <a:avLst/>
          </a:prstGeom>
          <a:noFill/>
        </p:spPr>
        <p:txBody>
          <a:bodyPr wrap="square" lIns="18288" tIns="18288" rIns="18288" bIns="18288" anchor="ctr">
            <a:noAutofit/>
          </a:bodyPr>
          <a:lstStyle/>
          <a:p>
            <a:pPr algn="l"/>
            <a:r>
              <a:rPr lang="en-GB" sz="1400" b="0" i="0">
                <a:solidFill>
                  <a:srgbClr val="A9B0B8"/>
                </a:solidFill>
                <a:latin typeface="Arial"/>
              </a:rPr>
              <a:t>Early Locomotion: a mod for Satisfactory</a:t>
            </a:r>
          </a:p>
        </p:txBody>
      </p:sp>
      <p:sp>
        <p:nvSpPr>
          <p:cNvPr id="4" name="Orange rule"/>
          <p:cNvSpPr/>
          <p:nvPr/>
        </p:nvSpPr>
        <p:spPr>
          <a:xfrm>
            <a:off x="548640" y="3840480"/>
            <a:ext cx="1463040" cy="73152"/>
          </a:xfrm>
          <a:prstGeom prst="rect">
            <a:avLst/>
          </a:prstGeom>
          <a:solidFill>
            <a:srgbClr val="F28C28"/>
          </a:solidFill>
          <a:ln>
            <a:noFill/>
          </a:ln>
        </p:spPr>
        <p:txBody>
          <a:bodyPr rtlCol="0" anchor="ctr"/>
          <a:lstStyle/>
          <a:p>
            <a:pPr algn="ctr"/>
            <a:endParaRPr/>
          </a:p>
        </p:txBody>
      </p:sp>
      <p:sp>
        <p:nvSpPr>
          <p:cNvPr id="5" name="Caption"/>
          <p:cNvSpPr txBox="1"/>
          <p:nvPr/>
        </p:nvSpPr>
        <p:spPr>
          <a:xfrm>
            <a:off x="548640" y="4114800"/>
            <a:ext cx="5669280" cy="1097280"/>
          </a:xfrm>
          <a:prstGeom prst="rect">
            <a:avLst/>
          </a:prstGeom>
          <a:noFill/>
        </p:spPr>
        <p:txBody>
          <a:bodyPr wrap="square" lIns="18288" tIns="18288" rIns="18288" bIns="18288" anchor="t">
            <a:noAutofit/>
          </a:bodyPr>
          <a:lstStyle/>
          <a:p>
            <a:pPr algn="l"/>
            <a:r>
              <a:rPr lang="en-GB" sz="2000" b="0" i="0">
                <a:solidFill>
                  <a:srgbClr val="F2F2F2"/>
                </a:solidFill>
                <a:latin typeface="Arial"/>
              </a:rPr>
              <a:t>How steam railways keep trains apart, and how the mod plans to do it.</a:t>
            </a:r>
          </a:p>
        </p:txBody>
      </p:sp>
      <p:pic>
        <p:nvPicPr>
          <p:cNvPr id="6" name="R03_semaphore_stop.jpg" descr="The mod's semaphore stop signal model with its arm flat (stop)."/>
          <p:cNvPicPr>
            <a:picLocks noChangeAspect="1"/>
          </p:cNvPicPr>
          <p:nvPr/>
        </p:nvPicPr>
        <p:blipFill>
          <a:blip r:embed="rId2"/>
          <a:srcRect l="20536" r="16802"/>
          <a:stretch>
            <a:fillRect/>
          </a:stretch>
        </p:blipFill>
        <p:spPr>
          <a:xfrm>
            <a:off x="6903720" y="411480"/>
            <a:ext cx="4736592" cy="5669280"/>
          </a:xfrm>
          <a:prstGeom prst="roundRect">
            <a:avLst>
              <a:gd name="adj" fmla="val 1544"/>
            </a:avLst>
          </a:prstGeom>
        </p:spPr>
      </p:pic>
      <p:sp>
        <p:nvSpPr>
          <p:cNvPr id="7" name="Credit"/>
          <p:cNvSpPr txBox="1"/>
          <p:nvPr/>
        </p:nvSpPr>
        <p:spPr>
          <a:xfrm>
            <a:off x="6903720" y="6144768"/>
            <a:ext cx="4736592" cy="365760"/>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Blender model, not yet in the game.</a:t>
            </a:r>
          </a:p>
        </p:txBody>
      </p:sp>
    </p:spTree>
    <p:extLst>
      <p:ext uri="{BB962C8B-B14F-4D97-AF65-F5344CB8AC3E}">
        <p14:creationId xmlns:p14="http://schemas.microsoft.com/office/powerpoint/2010/main" val="15109409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How to read this guide</a:t>
            </a:r>
          </a:p>
        </p:txBody>
      </p:sp>
      <p:grpSp>
        <p:nvGrpSpPr>
          <p:cNvPr id="3" name="Tag legend" descr="A legend of the five status tags and what each one means."/>
          <p:cNvGrpSpPr/>
          <p:nvPr/>
        </p:nvGrpSpPr>
        <p:grpSpPr>
          <a:xfrm>
            <a:off x="1463040" y="1417320"/>
            <a:ext cx="9235440" cy="4151376"/>
            <a:chOff x="1463040" y="1417320"/>
            <a:chExt cx="9235440" cy="4151376"/>
          </a:xfrm>
        </p:grpSpPr>
        <p:sp>
          <p:nvSpPr>
            <p:cNvPr id="4" name="Rounded Rectangle 3"/>
            <p:cNvSpPr/>
            <p:nvPr/>
          </p:nvSpPr>
          <p:spPr>
            <a:xfrm>
              <a:off x="1463040" y="1417320"/>
              <a:ext cx="9235440" cy="676656"/>
            </a:xfrm>
            <a:prstGeom prst="roundRect">
              <a:avLst>
                <a:gd name="adj" fmla="val 10810"/>
              </a:avLst>
            </a:prstGeom>
            <a:solidFill>
              <a:srgbClr val="2B2F36"/>
            </a:solidFill>
            <a:ln>
              <a:noFill/>
            </a:ln>
          </p:spPr>
          <p:txBody>
            <a:bodyPr rtlCol="0" anchor="ctr"/>
            <a:lstStyle/>
            <a:p>
              <a:pPr algn="ctr"/>
              <a:endParaRPr/>
            </a:p>
          </p:txBody>
        </p:sp>
        <p:sp>
          <p:nvSpPr>
            <p:cNvPr id="5" name="Chip: Agreed" descr="Status tag: Agreed"/>
            <p:cNvSpPr/>
            <p:nvPr/>
          </p:nvSpPr>
          <p:spPr>
            <a:xfrm>
              <a:off x="1737360" y="1572768"/>
              <a:ext cx="1508760" cy="365760"/>
            </a:xfrm>
            <a:prstGeom prst="roundRect">
              <a:avLst>
                <a:gd name="adj" fmla="val 20000"/>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sp>
          <p:nvSpPr>
            <p:cNvPr id="6" name="Meaning: Agreed"/>
            <p:cNvSpPr txBox="1"/>
            <p:nvPr/>
          </p:nvSpPr>
          <p:spPr>
            <a:xfrm>
              <a:off x="3474720" y="1417320"/>
              <a:ext cx="7040880" cy="676656"/>
            </a:xfrm>
            <a:prstGeom prst="rect">
              <a:avLst/>
            </a:prstGeom>
            <a:noFill/>
          </p:spPr>
          <p:txBody>
            <a:bodyPr wrap="square" lIns="18288" tIns="18288" rIns="18288" bIns="18288" anchor="ctr">
              <a:noAutofit/>
            </a:bodyPr>
            <a:lstStyle/>
            <a:p>
              <a:pPr algn="l"/>
              <a:r>
                <a:rPr lang="en-GB" sz="2000" b="0" i="0">
                  <a:solidFill>
                    <a:srgbClr val="F2F2F2"/>
                  </a:solidFill>
                  <a:latin typeface="Arial"/>
                </a:rPr>
                <a:t>Decided.</a:t>
              </a:r>
            </a:p>
          </p:txBody>
        </p:sp>
        <p:sp>
          <p:nvSpPr>
            <p:cNvPr id="7" name="Rounded Rectangle 6"/>
            <p:cNvSpPr/>
            <p:nvPr/>
          </p:nvSpPr>
          <p:spPr>
            <a:xfrm>
              <a:off x="1463040" y="2286000"/>
              <a:ext cx="9235440" cy="676656"/>
            </a:xfrm>
            <a:prstGeom prst="roundRect">
              <a:avLst>
                <a:gd name="adj" fmla="val 10810"/>
              </a:avLst>
            </a:prstGeom>
            <a:solidFill>
              <a:srgbClr val="2B2F36"/>
            </a:solidFill>
            <a:ln>
              <a:noFill/>
            </a:ln>
          </p:spPr>
          <p:txBody>
            <a:bodyPr rtlCol="0" anchor="ctr"/>
            <a:lstStyle/>
            <a:p>
              <a:pPr algn="ctr"/>
              <a:endParaRPr/>
            </a:p>
          </p:txBody>
        </p:sp>
        <p:sp>
          <p:nvSpPr>
            <p:cNvPr id="8" name="Chip: Proposed" descr="Status tag: Proposed"/>
            <p:cNvSpPr/>
            <p:nvPr/>
          </p:nvSpPr>
          <p:spPr>
            <a:xfrm>
              <a:off x="1737360" y="2441448"/>
              <a:ext cx="1508760" cy="365760"/>
            </a:xfrm>
            <a:prstGeom prst="roundRect">
              <a:avLst>
                <a:gd name="adj" fmla="val 20000"/>
              </a:avLst>
            </a:prstGeom>
            <a:solidFill>
              <a:srgbClr val="B084F5"/>
            </a:solidFill>
            <a:ln>
              <a:noFill/>
            </a:ln>
          </p:spPr>
          <p:txBody>
            <a:bodyPr wrap="none" lIns="27432" tIns="9144" rIns="27432" bIns="9144" rtlCol="0" anchor="ctr">
              <a:noAutofit/>
            </a:bodyPr>
            <a:lstStyle/>
            <a:p>
              <a:pPr algn="ctr"/>
              <a:r>
                <a:rPr lang="en-GB" sz="1400" b="1" i="0">
                  <a:solidFill>
                    <a:srgbClr val="101418"/>
                  </a:solidFill>
                  <a:latin typeface="Arial"/>
                </a:rPr>
                <a:t>PROPOSED</a:t>
              </a:r>
            </a:p>
          </p:txBody>
        </p:sp>
        <p:sp>
          <p:nvSpPr>
            <p:cNvPr id="9" name="Meaning: Proposed"/>
            <p:cNvSpPr txBox="1"/>
            <p:nvPr/>
          </p:nvSpPr>
          <p:spPr>
            <a:xfrm>
              <a:off x="3474720" y="2286000"/>
              <a:ext cx="7040880" cy="676656"/>
            </a:xfrm>
            <a:prstGeom prst="rect">
              <a:avLst/>
            </a:prstGeom>
            <a:noFill/>
          </p:spPr>
          <p:txBody>
            <a:bodyPr wrap="square" lIns="18288" tIns="18288" rIns="18288" bIns="18288" anchor="ctr">
              <a:noAutofit/>
            </a:bodyPr>
            <a:lstStyle/>
            <a:p>
              <a:pPr algn="l"/>
              <a:r>
                <a:rPr lang="en-GB" sz="2000" b="0" i="0">
                  <a:solidFill>
                    <a:srgbClr val="F2F2F2"/>
                  </a:solidFill>
                  <a:latin typeface="Arial"/>
                </a:rPr>
                <a:t>Suggested, not confirmed.</a:t>
              </a:r>
            </a:p>
          </p:txBody>
        </p:sp>
        <p:sp>
          <p:nvSpPr>
            <p:cNvPr id="10" name="Rounded Rectangle 9"/>
            <p:cNvSpPr/>
            <p:nvPr/>
          </p:nvSpPr>
          <p:spPr>
            <a:xfrm>
              <a:off x="1463040" y="3154680"/>
              <a:ext cx="9235440" cy="676656"/>
            </a:xfrm>
            <a:prstGeom prst="roundRect">
              <a:avLst>
                <a:gd name="adj" fmla="val 10810"/>
              </a:avLst>
            </a:prstGeom>
            <a:solidFill>
              <a:srgbClr val="2B2F36"/>
            </a:solidFill>
            <a:ln>
              <a:noFill/>
            </a:ln>
          </p:spPr>
          <p:txBody>
            <a:bodyPr rtlCol="0" anchor="ctr"/>
            <a:lstStyle/>
            <a:p>
              <a:pPr algn="ctr"/>
              <a:endParaRPr/>
            </a:p>
          </p:txBody>
        </p:sp>
        <p:sp>
          <p:nvSpPr>
            <p:cNvPr id="11" name="Chip: Provisional" descr="Status tag: Provisional"/>
            <p:cNvSpPr/>
            <p:nvPr/>
          </p:nvSpPr>
          <p:spPr>
            <a:xfrm>
              <a:off x="1737360" y="3310128"/>
              <a:ext cx="1508760" cy="365760"/>
            </a:xfrm>
            <a:prstGeom prst="roundRect">
              <a:avLst>
                <a:gd name="adj" fmla="val 20000"/>
              </a:avLst>
            </a:prstGeom>
            <a:solidFill>
              <a:srgbClr val="4DA3FF"/>
            </a:solidFill>
            <a:ln>
              <a:noFill/>
            </a:ln>
          </p:spPr>
          <p:txBody>
            <a:bodyPr wrap="none" lIns="27432" tIns="9144" rIns="27432" bIns="9144" rtlCol="0" anchor="ctr">
              <a:noAutofit/>
            </a:bodyPr>
            <a:lstStyle/>
            <a:p>
              <a:pPr algn="ctr"/>
              <a:r>
                <a:rPr lang="en-GB" sz="1400" b="1" i="0">
                  <a:solidFill>
                    <a:srgbClr val="101418"/>
                  </a:solidFill>
                  <a:latin typeface="Arial"/>
                </a:rPr>
                <a:t>PROVISIONAL</a:t>
              </a:r>
            </a:p>
          </p:txBody>
        </p:sp>
        <p:sp>
          <p:nvSpPr>
            <p:cNvPr id="12" name="Meaning: Provisional"/>
            <p:cNvSpPr txBox="1"/>
            <p:nvPr/>
          </p:nvSpPr>
          <p:spPr>
            <a:xfrm>
              <a:off x="3474720" y="3154680"/>
              <a:ext cx="7040880" cy="676656"/>
            </a:xfrm>
            <a:prstGeom prst="rect">
              <a:avLst/>
            </a:prstGeom>
            <a:noFill/>
          </p:spPr>
          <p:txBody>
            <a:bodyPr wrap="square" lIns="18288" tIns="18288" rIns="18288" bIns="18288" anchor="ctr">
              <a:noAutofit/>
            </a:bodyPr>
            <a:lstStyle/>
            <a:p>
              <a:pPr algn="l"/>
              <a:r>
                <a:rPr lang="en-GB" sz="2000" b="0" i="0">
                  <a:solidFill>
                    <a:srgbClr val="F2F2F2"/>
                  </a:solidFill>
                  <a:latin typeface="Arial"/>
                </a:rPr>
                <a:t>A test number that may change.</a:t>
              </a:r>
            </a:p>
          </p:txBody>
        </p:sp>
        <p:sp>
          <p:nvSpPr>
            <p:cNvPr id="13" name="Rounded Rectangle 12"/>
            <p:cNvSpPr/>
            <p:nvPr/>
          </p:nvSpPr>
          <p:spPr>
            <a:xfrm>
              <a:off x="1463040" y="4023360"/>
              <a:ext cx="9235440" cy="676656"/>
            </a:xfrm>
            <a:prstGeom prst="roundRect">
              <a:avLst>
                <a:gd name="adj" fmla="val 10810"/>
              </a:avLst>
            </a:prstGeom>
            <a:solidFill>
              <a:srgbClr val="2B2F36"/>
            </a:solidFill>
            <a:ln>
              <a:noFill/>
            </a:ln>
          </p:spPr>
          <p:txBody>
            <a:bodyPr rtlCol="0" anchor="ctr"/>
            <a:lstStyle/>
            <a:p>
              <a:pPr algn="ctr"/>
              <a:endParaRPr/>
            </a:p>
          </p:txBody>
        </p:sp>
        <p:sp>
          <p:nvSpPr>
            <p:cNvPr id="14" name="Chip: Undecided" descr="Status tag: Undecided"/>
            <p:cNvSpPr/>
            <p:nvPr/>
          </p:nvSpPr>
          <p:spPr>
            <a:xfrm>
              <a:off x="1737360" y="4178808"/>
              <a:ext cx="1508760" cy="365760"/>
            </a:xfrm>
            <a:prstGeom prst="roundRect">
              <a:avLst>
                <a:gd name="adj" fmla="val 20000"/>
              </a:avLst>
            </a:prstGeom>
            <a:noFill/>
            <a:ln w="25400">
              <a:solidFill>
                <a:srgbClr val="A9B0B8"/>
              </a:solidFill>
            </a:ln>
          </p:spPr>
          <p:txBody>
            <a:bodyPr wrap="none" lIns="27432" tIns="9144" rIns="27432" bIns="9144" rtlCol="0" anchor="ctr">
              <a:noAutofit/>
            </a:bodyPr>
            <a:lstStyle/>
            <a:p>
              <a:pPr algn="ctr"/>
              <a:r>
                <a:rPr lang="en-GB" sz="1400" b="1" i="0">
                  <a:solidFill>
                    <a:srgbClr val="F2F2F2"/>
                  </a:solidFill>
                  <a:latin typeface="Arial"/>
                </a:rPr>
                <a:t>UNDECIDED</a:t>
              </a:r>
            </a:p>
          </p:txBody>
        </p:sp>
        <p:sp>
          <p:nvSpPr>
            <p:cNvPr id="15" name="Meaning: Undecided"/>
            <p:cNvSpPr txBox="1"/>
            <p:nvPr/>
          </p:nvSpPr>
          <p:spPr>
            <a:xfrm>
              <a:off x="3474720" y="4023360"/>
              <a:ext cx="7040880" cy="676656"/>
            </a:xfrm>
            <a:prstGeom prst="rect">
              <a:avLst/>
            </a:prstGeom>
            <a:noFill/>
          </p:spPr>
          <p:txBody>
            <a:bodyPr wrap="square" lIns="18288" tIns="18288" rIns="18288" bIns="18288" anchor="ctr">
              <a:noAutofit/>
            </a:bodyPr>
            <a:lstStyle/>
            <a:p>
              <a:pPr algn="l"/>
              <a:r>
                <a:rPr lang="en-GB" sz="2000" b="0" i="0">
                  <a:solidFill>
                    <a:srgbClr val="F2F2F2"/>
                  </a:solidFill>
                  <a:latin typeface="Arial"/>
                </a:rPr>
                <a:t>Still an open question.</a:t>
              </a:r>
            </a:p>
          </p:txBody>
        </p:sp>
        <p:sp>
          <p:nvSpPr>
            <p:cNvPr id="16" name="Rounded Rectangle 15"/>
            <p:cNvSpPr/>
            <p:nvPr/>
          </p:nvSpPr>
          <p:spPr>
            <a:xfrm>
              <a:off x="1463040" y="4892040"/>
              <a:ext cx="9235440" cy="676656"/>
            </a:xfrm>
            <a:prstGeom prst="roundRect">
              <a:avLst>
                <a:gd name="adj" fmla="val 10810"/>
              </a:avLst>
            </a:prstGeom>
            <a:solidFill>
              <a:srgbClr val="2B2F36"/>
            </a:solidFill>
            <a:ln>
              <a:noFill/>
            </a:ln>
          </p:spPr>
          <p:txBody>
            <a:bodyPr rtlCol="0" anchor="ctr"/>
            <a:lstStyle/>
            <a:p>
              <a:pPr algn="ctr"/>
              <a:endParaRPr/>
            </a:p>
          </p:txBody>
        </p:sp>
        <p:sp>
          <p:nvSpPr>
            <p:cNvPr id="17" name="Chip: Background" descr="Status tag: Background"/>
            <p:cNvSpPr/>
            <p:nvPr/>
          </p:nvSpPr>
          <p:spPr>
            <a:xfrm>
              <a:off x="1737360" y="5047488"/>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sp>
          <p:nvSpPr>
            <p:cNvPr id="18" name="Meaning: Background"/>
            <p:cNvSpPr txBox="1"/>
            <p:nvPr/>
          </p:nvSpPr>
          <p:spPr>
            <a:xfrm>
              <a:off x="3474720" y="4892040"/>
              <a:ext cx="7040880" cy="676656"/>
            </a:xfrm>
            <a:prstGeom prst="rect">
              <a:avLst/>
            </a:prstGeom>
            <a:noFill/>
          </p:spPr>
          <p:txBody>
            <a:bodyPr wrap="square" lIns="18288" tIns="18288" rIns="18288" bIns="18288" anchor="ctr">
              <a:noAutofit/>
            </a:bodyPr>
            <a:lstStyle/>
            <a:p>
              <a:pPr algn="l"/>
              <a:r>
                <a:rPr lang="en-GB" sz="2000" b="0" i="0">
                  <a:solidFill>
                    <a:srgbClr val="F2F2F2"/>
                  </a:solidFill>
                  <a:latin typeface="Arial"/>
                </a:rPr>
                <a:t>A real-world fact.</a:t>
              </a:r>
            </a:p>
          </p:txBody>
        </p:sp>
      </p:grpSp>
      <p:sp>
        <p:nvSpPr>
          <p:cNvPr id="19"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Every idea carries a tag in the top-right corner.</a:t>
            </a:r>
          </a:p>
        </p:txBody>
      </p:sp>
      <p:sp>
        <p:nvSpPr>
          <p:cNvPr id="20"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21"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2</a:t>
            </a:r>
          </a:p>
        </p:txBody>
      </p:sp>
    </p:spTree>
    <p:extLst>
      <p:ext uri="{BB962C8B-B14F-4D97-AF65-F5344CB8AC3E}">
        <p14:creationId xmlns:p14="http://schemas.microsoft.com/office/powerpoint/2010/main" val="37961647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6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The problem</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Why signals exist" descr="Top: two trains head towards each other with no warning. Bottom: a train needs a long distance to stop, much more than the driver can see."/>
          <p:cNvGrpSpPr/>
          <p:nvPr/>
        </p:nvGrpSpPr>
        <p:grpSpPr>
          <a:xfrm>
            <a:off x="548640" y="1280160"/>
            <a:ext cx="11091672" cy="4434840"/>
            <a:chOff x="548640" y="1280160"/>
            <a:chExt cx="11091672" cy="4434840"/>
          </a:xfrm>
        </p:grpSpPr>
        <p:sp>
          <p:nvSpPr>
            <p:cNvPr id="5" name="Rounded Rectangle 4"/>
            <p:cNvSpPr/>
            <p:nvPr/>
          </p:nvSpPr>
          <p:spPr>
            <a:xfrm>
              <a:off x="548640" y="1280160"/>
              <a:ext cx="11091672" cy="2148840"/>
            </a:xfrm>
            <a:prstGeom prst="roundRect">
              <a:avLst>
                <a:gd name="adj" fmla="val 3404"/>
              </a:avLst>
            </a:prstGeom>
            <a:solidFill>
              <a:srgbClr val="2B2F36"/>
            </a:solidFill>
            <a:ln w="12700">
              <a:solidFill>
                <a:srgbClr val="4A515B"/>
              </a:solidFill>
            </a:ln>
          </p:spPr>
          <p:txBody>
            <a:bodyPr rtlCol="0" anchor="ctr"/>
            <a:lstStyle/>
            <a:p>
              <a:pPr algn="ctr"/>
              <a:endParaRPr/>
            </a:p>
          </p:txBody>
        </p:sp>
        <p:sp>
          <p:nvSpPr>
            <p:cNvPr id="6" name="Rounded Rectangle 5"/>
            <p:cNvSpPr/>
            <p:nvPr/>
          </p:nvSpPr>
          <p:spPr>
            <a:xfrm>
              <a:off x="548640" y="3520440"/>
              <a:ext cx="11091672" cy="2194560"/>
            </a:xfrm>
            <a:prstGeom prst="roundRect">
              <a:avLst>
                <a:gd name="adj" fmla="val 3333"/>
              </a:avLst>
            </a:prstGeom>
            <a:solidFill>
              <a:srgbClr val="2B2F36"/>
            </a:solidFill>
            <a:ln w="12700">
              <a:solidFill>
                <a:srgbClr val="4A515B"/>
              </a:solidFill>
            </a:ln>
          </p:spPr>
          <p:txBody>
            <a:bodyPr rtlCol="0" anchor="ctr"/>
            <a:lstStyle/>
            <a:p>
              <a:pPr algn="ctr"/>
              <a:endParaRPr/>
            </a:p>
          </p:txBody>
        </p:sp>
        <p:grpSp>
          <p:nvGrpSpPr>
            <p:cNvPr id="7" name="Track" descr="Two rails on sleepers."/>
            <p:cNvGrpSpPr/>
            <p:nvPr/>
          </p:nvGrpSpPr>
          <p:grpSpPr>
            <a:xfrm>
              <a:off x="731520" y="2688336"/>
              <a:ext cx="10698480" cy="365760"/>
              <a:chOff x="731520" y="2688336"/>
              <a:chExt cx="10698480" cy="365760"/>
            </a:xfrm>
          </p:grpSpPr>
          <p:sp>
            <p:nvSpPr>
              <p:cNvPr id="8" name="Rectangle 7"/>
              <p:cNvSpPr/>
              <p:nvPr/>
            </p:nvSpPr>
            <p:spPr>
              <a:xfrm>
                <a:off x="932688" y="2688336"/>
                <a:ext cx="54864" cy="365760"/>
              </a:xfrm>
              <a:prstGeom prst="rect">
                <a:avLst/>
              </a:prstGeom>
              <a:solidFill>
                <a:srgbClr val="6B5B4B"/>
              </a:solidFill>
              <a:ln>
                <a:noFill/>
              </a:ln>
            </p:spPr>
            <p:txBody>
              <a:bodyPr rtlCol="0" anchor="ctr"/>
              <a:lstStyle/>
              <a:p>
                <a:pPr algn="ctr"/>
                <a:endParaRPr/>
              </a:p>
            </p:txBody>
          </p:sp>
          <p:sp>
            <p:nvSpPr>
              <p:cNvPr id="9" name="Rectangle 8"/>
              <p:cNvSpPr/>
              <p:nvPr/>
            </p:nvSpPr>
            <p:spPr>
              <a:xfrm>
                <a:off x="1252728" y="2688336"/>
                <a:ext cx="54864" cy="365760"/>
              </a:xfrm>
              <a:prstGeom prst="rect">
                <a:avLst/>
              </a:prstGeom>
              <a:solidFill>
                <a:srgbClr val="6B5B4B"/>
              </a:solidFill>
              <a:ln>
                <a:noFill/>
              </a:ln>
            </p:spPr>
            <p:txBody>
              <a:bodyPr rtlCol="0" anchor="ctr"/>
              <a:lstStyle/>
              <a:p>
                <a:pPr algn="ctr"/>
                <a:endParaRPr/>
              </a:p>
            </p:txBody>
          </p:sp>
          <p:sp>
            <p:nvSpPr>
              <p:cNvPr id="10" name="Rectangle 9"/>
              <p:cNvSpPr/>
              <p:nvPr/>
            </p:nvSpPr>
            <p:spPr>
              <a:xfrm>
                <a:off x="1572768" y="2688336"/>
                <a:ext cx="54864" cy="365760"/>
              </a:xfrm>
              <a:prstGeom prst="rect">
                <a:avLst/>
              </a:prstGeom>
              <a:solidFill>
                <a:srgbClr val="6B5B4B"/>
              </a:solidFill>
              <a:ln>
                <a:noFill/>
              </a:ln>
            </p:spPr>
            <p:txBody>
              <a:bodyPr rtlCol="0" anchor="ctr"/>
              <a:lstStyle/>
              <a:p>
                <a:pPr algn="ctr"/>
                <a:endParaRPr/>
              </a:p>
            </p:txBody>
          </p:sp>
          <p:sp>
            <p:nvSpPr>
              <p:cNvPr id="11" name="Rectangle 10"/>
              <p:cNvSpPr/>
              <p:nvPr/>
            </p:nvSpPr>
            <p:spPr>
              <a:xfrm>
                <a:off x="1892808" y="2688336"/>
                <a:ext cx="54864" cy="365760"/>
              </a:xfrm>
              <a:prstGeom prst="rect">
                <a:avLst/>
              </a:prstGeom>
              <a:solidFill>
                <a:srgbClr val="6B5B4B"/>
              </a:solidFill>
              <a:ln>
                <a:noFill/>
              </a:ln>
            </p:spPr>
            <p:txBody>
              <a:bodyPr rtlCol="0" anchor="ctr"/>
              <a:lstStyle/>
              <a:p>
                <a:pPr algn="ctr"/>
                <a:endParaRPr/>
              </a:p>
            </p:txBody>
          </p:sp>
          <p:sp>
            <p:nvSpPr>
              <p:cNvPr id="12" name="Rectangle 11"/>
              <p:cNvSpPr/>
              <p:nvPr/>
            </p:nvSpPr>
            <p:spPr>
              <a:xfrm>
                <a:off x="2212848" y="2688336"/>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2532888" y="2688336"/>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2852928" y="2688336"/>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3172968" y="2688336"/>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3493008" y="2688336"/>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3813048" y="2688336"/>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4133088" y="268833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4453128" y="268833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4773168" y="268833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5093208" y="268833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5413248" y="2688336"/>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5733288" y="2688336"/>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6053328" y="2688336"/>
                <a:ext cx="54864" cy="365760"/>
              </a:xfrm>
              <a:prstGeom prst="rect">
                <a:avLst/>
              </a:prstGeom>
              <a:solidFill>
                <a:srgbClr val="6B5B4B"/>
              </a:solidFill>
              <a:ln>
                <a:noFill/>
              </a:ln>
            </p:spPr>
            <p:txBody>
              <a:bodyPr rtlCol="0" anchor="ctr"/>
              <a:lstStyle/>
              <a:p>
                <a:pPr algn="ctr"/>
                <a:endParaRPr/>
              </a:p>
            </p:txBody>
          </p:sp>
          <p:sp>
            <p:nvSpPr>
              <p:cNvPr id="25" name="Rectangle 24"/>
              <p:cNvSpPr/>
              <p:nvPr/>
            </p:nvSpPr>
            <p:spPr>
              <a:xfrm>
                <a:off x="6373368" y="2688336"/>
                <a:ext cx="54864" cy="365760"/>
              </a:xfrm>
              <a:prstGeom prst="rect">
                <a:avLst/>
              </a:prstGeom>
              <a:solidFill>
                <a:srgbClr val="6B5B4B"/>
              </a:solidFill>
              <a:ln>
                <a:noFill/>
              </a:ln>
            </p:spPr>
            <p:txBody>
              <a:bodyPr rtlCol="0" anchor="ctr"/>
              <a:lstStyle/>
              <a:p>
                <a:pPr algn="ctr"/>
                <a:endParaRPr/>
              </a:p>
            </p:txBody>
          </p:sp>
          <p:sp>
            <p:nvSpPr>
              <p:cNvPr id="26" name="Rectangle 25"/>
              <p:cNvSpPr/>
              <p:nvPr/>
            </p:nvSpPr>
            <p:spPr>
              <a:xfrm>
                <a:off x="6693408" y="2688336"/>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7013448" y="2688336"/>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7333488" y="2688336"/>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7653528" y="2688336"/>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7973568" y="2688336"/>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8293608" y="268833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8613648" y="268833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8933688" y="268833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9253728" y="268833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9573768" y="268833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9893808" y="268833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10213848" y="268833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10533888" y="268833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10853928" y="2688336"/>
                <a:ext cx="54864" cy="365760"/>
              </a:xfrm>
              <a:prstGeom prst="rect">
                <a:avLst/>
              </a:prstGeom>
              <a:solidFill>
                <a:srgbClr val="6B5B4B"/>
              </a:solidFill>
              <a:ln>
                <a:noFill/>
              </a:ln>
            </p:spPr>
            <p:txBody>
              <a:bodyPr rtlCol="0" anchor="ctr"/>
              <a:lstStyle/>
              <a:p>
                <a:pPr algn="ctr"/>
                <a:endParaRPr/>
              </a:p>
            </p:txBody>
          </p:sp>
          <p:sp>
            <p:nvSpPr>
              <p:cNvPr id="40" name="Rectangle 39"/>
              <p:cNvSpPr/>
              <p:nvPr/>
            </p:nvSpPr>
            <p:spPr>
              <a:xfrm>
                <a:off x="11173968" y="2688336"/>
                <a:ext cx="54864" cy="365760"/>
              </a:xfrm>
              <a:prstGeom prst="rect">
                <a:avLst/>
              </a:prstGeom>
              <a:solidFill>
                <a:srgbClr val="6B5B4B"/>
              </a:solidFill>
              <a:ln>
                <a:noFill/>
              </a:ln>
            </p:spPr>
            <p:txBody>
              <a:bodyPr rtlCol="0" anchor="ctr"/>
              <a:lstStyle/>
              <a:p>
                <a:pPr algn="ctr"/>
                <a:endParaRPr/>
              </a:p>
            </p:txBody>
          </p:sp>
          <p:sp>
            <p:nvSpPr>
              <p:cNvPr id="41" name="Rectangle 40"/>
              <p:cNvSpPr/>
              <p:nvPr/>
            </p:nvSpPr>
            <p:spPr>
              <a:xfrm>
                <a:off x="731520" y="2743200"/>
                <a:ext cx="10698480" cy="54864"/>
              </a:xfrm>
              <a:prstGeom prst="rect">
                <a:avLst/>
              </a:prstGeom>
              <a:solidFill>
                <a:srgbClr val="9AA0A6"/>
              </a:solidFill>
              <a:ln>
                <a:noFill/>
              </a:ln>
            </p:spPr>
            <p:txBody>
              <a:bodyPr rtlCol="0" anchor="ctr"/>
              <a:lstStyle/>
              <a:p>
                <a:pPr algn="ctr"/>
                <a:endParaRPr/>
              </a:p>
            </p:txBody>
          </p:sp>
          <p:sp>
            <p:nvSpPr>
              <p:cNvPr id="42" name="Rectangle 41"/>
              <p:cNvSpPr/>
              <p:nvPr/>
            </p:nvSpPr>
            <p:spPr>
              <a:xfrm>
                <a:off x="731520" y="2999232"/>
                <a:ext cx="10698480" cy="54864"/>
              </a:xfrm>
              <a:prstGeom prst="rect">
                <a:avLst/>
              </a:prstGeom>
              <a:solidFill>
                <a:srgbClr val="9AA0A6"/>
              </a:solidFill>
              <a:ln>
                <a:noFill/>
              </a:ln>
            </p:spPr>
            <p:txBody>
              <a:bodyPr rtlCol="0" anchor="ctr"/>
              <a:lstStyle/>
              <a:p>
                <a:pPr algn="ctr"/>
                <a:endParaRPr/>
              </a:p>
            </p:txBody>
          </p:sp>
        </p:grpSp>
        <p:grpSp>
          <p:nvGrpSpPr>
            <p:cNvPr id="43" name="Train" descr="A steam locomotive with wagons."/>
            <p:cNvGrpSpPr/>
            <p:nvPr/>
          </p:nvGrpSpPr>
          <p:grpSpPr>
            <a:xfrm>
              <a:off x="2651760" y="1920240"/>
              <a:ext cx="2523744" cy="923544"/>
              <a:chOff x="2651760" y="1920240"/>
              <a:chExt cx="2523744" cy="923544"/>
            </a:xfrm>
          </p:grpSpPr>
          <p:sp>
            <p:nvSpPr>
              <p:cNvPr id="44" name="Rounded Rectangle 43"/>
              <p:cNvSpPr/>
              <p:nvPr/>
            </p:nvSpPr>
            <p:spPr>
              <a:xfrm>
                <a:off x="2651760" y="2267712"/>
                <a:ext cx="731520" cy="411480"/>
              </a:xfrm>
              <a:prstGeom prst="roundRect">
                <a:avLst>
                  <a:gd name="adj" fmla="val 6666"/>
                </a:avLst>
              </a:prstGeom>
              <a:solidFill>
                <a:srgbClr val="6C7480"/>
              </a:solidFill>
              <a:ln w="12700">
                <a:solidFill>
                  <a:srgbClr val="9AA0A6"/>
                </a:solidFill>
              </a:ln>
            </p:spPr>
            <p:txBody>
              <a:bodyPr rtlCol="0" anchor="ctr"/>
              <a:lstStyle/>
              <a:p>
                <a:pPr algn="ctr"/>
                <a:endParaRPr/>
              </a:p>
            </p:txBody>
          </p:sp>
          <p:sp>
            <p:nvSpPr>
              <p:cNvPr id="45" name="Oval 44"/>
              <p:cNvSpPr/>
              <p:nvPr/>
            </p:nvSpPr>
            <p:spPr>
              <a:xfrm>
                <a:off x="2721254" y="265176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46" name="Oval 45"/>
              <p:cNvSpPr/>
              <p:nvPr/>
            </p:nvSpPr>
            <p:spPr>
              <a:xfrm>
                <a:off x="3130906" y="265176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47" name="Rounded Rectangle 46"/>
              <p:cNvSpPr/>
              <p:nvPr/>
            </p:nvSpPr>
            <p:spPr>
              <a:xfrm>
                <a:off x="3456432" y="2267712"/>
                <a:ext cx="731520" cy="411480"/>
              </a:xfrm>
              <a:prstGeom prst="roundRect">
                <a:avLst>
                  <a:gd name="adj" fmla="val 6666"/>
                </a:avLst>
              </a:prstGeom>
              <a:solidFill>
                <a:srgbClr val="6C7480"/>
              </a:solidFill>
              <a:ln w="12700">
                <a:solidFill>
                  <a:srgbClr val="9AA0A6"/>
                </a:solidFill>
              </a:ln>
            </p:spPr>
            <p:txBody>
              <a:bodyPr rtlCol="0" anchor="ctr"/>
              <a:lstStyle/>
              <a:p>
                <a:pPr algn="ctr"/>
                <a:endParaRPr/>
              </a:p>
            </p:txBody>
          </p:sp>
          <p:sp>
            <p:nvSpPr>
              <p:cNvPr id="48" name="Oval 47"/>
              <p:cNvSpPr/>
              <p:nvPr/>
            </p:nvSpPr>
            <p:spPr>
              <a:xfrm>
                <a:off x="3525926" y="265176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49" name="Oval 48"/>
              <p:cNvSpPr/>
              <p:nvPr/>
            </p:nvSpPr>
            <p:spPr>
              <a:xfrm>
                <a:off x="3935578" y="265176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50" name="Rounded Rectangle 49"/>
              <p:cNvSpPr/>
              <p:nvPr/>
            </p:nvSpPr>
            <p:spPr>
              <a:xfrm>
                <a:off x="4261104" y="2176272"/>
                <a:ext cx="914400" cy="502920"/>
              </a:xfrm>
              <a:prstGeom prst="roundRect">
                <a:avLst>
                  <a:gd name="adj" fmla="val 14545"/>
                </a:avLst>
              </a:prstGeom>
              <a:solidFill>
                <a:srgbClr val="F28C28"/>
              </a:solidFill>
              <a:ln>
                <a:noFill/>
              </a:ln>
            </p:spPr>
            <p:txBody>
              <a:bodyPr rtlCol="0" anchor="ctr"/>
              <a:lstStyle/>
              <a:p>
                <a:pPr algn="ctr"/>
                <a:endParaRPr/>
              </a:p>
            </p:txBody>
          </p:sp>
          <p:sp>
            <p:nvSpPr>
              <p:cNvPr id="51" name="Rectangle 50"/>
              <p:cNvSpPr/>
              <p:nvPr/>
            </p:nvSpPr>
            <p:spPr>
              <a:xfrm>
                <a:off x="4901184" y="1920240"/>
                <a:ext cx="137160" cy="274320"/>
              </a:xfrm>
              <a:prstGeom prst="rect">
                <a:avLst/>
              </a:prstGeom>
              <a:solidFill>
                <a:srgbClr val="1B1D21"/>
              </a:solidFill>
              <a:ln w="12700">
                <a:solidFill>
                  <a:srgbClr val="6B7078"/>
                </a:solidFill>
              </a:ln>
            </p:spPr>
            <p:txBody>
              <a:bodyPr rtlCol="0" anchor="ctr"/>
              <a:lstStyle/>
              <a:p>
                <a:pPr algn="ctr"/>
                <a:endParaRPr/>
              </a:p>
            </p:txBody>
          </p:sp>
          <p:sp>
            <p:nvSpPr>
              <p:cNvPr id="52" name="Rectangle 51"/>
              <p:cNvSpPr/>
              <p:nvPr/>
            </p:nvSpPr>
            <p:spPr>
              <a:xfrm>
                <a:off x="4306824" y="2194560"/>
                <a:ext cx="256032" cy="274320"/>
              </a:xfrm>
              <a:prstGeom prst="rect">
                <a:avLst/>
              </a:prstGeom>
              <a:solidFill>
                <a:srgbClr val="1B1D21"/>
              </a:solidFill>
              <a:ln w="12700">
                <a:solidFill>
                  <a:srgbClr val="6B7078"/>
                </a:solidFill>
              </a:ln>
            </p:spPr>
            <p:txBody>
              <a:bodyPr rtlCol="0" anchor="ctr"/>
              <a:lstStyle/>
              <a:p>
                <a:pPr algn="ctr"/>
                <a:endParaRPr/>
              </a:p>
            </p:txBody>
          </p:sp>
          <p:sp>
            <p:nvSpPr>
              <p:cNvPr id="53" name="Oval 52"/>
              <p:cNvSpPr/>
              <p:nvPr/>
            </p:nvSpPr>
            <p:spPr>
              <a:xfrm>
                <a:off x="4343400" y="264261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54" name="Oval 53"/>
              <p:cNvSpPr/>
              <p:nvPr/>
            </p:nvSpPr>
            <p:spPr>
              <a:xfrm>
                <a:off x="4617720" y="264261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55" name="Oval 54"/>
              <p:cNvSpPr/>
              <p:nvPr/>
            </p:nvSpPr>
            <p:spPr>
              <a:xfrm>
                <a:off x="4892040" y="2642616"/>
                <a:ext cx="201168" cy="201168"/>
              </a:xfrm>
              <a:prstGeom prst="ellipse">
                <a:avLst/>
              </a:prstGeom>
              <a:solidFill>
                <a:srgbClr val="1B1D21"/>
              </a:solidFill>
              <a:ln w="12700">
                <a:solidFill>
                  <a:srgbClr val="9AA0A6"/>
                </a:solidFill>
              </a:ln>
            </p:spPr>
            <p:txBody>
              <a:bodyPr rtlCol="0" anchor="ctr"/>
              <a:lstStyle/>
              <a:p>
                <a:pPr algn="ctr"/>
                <a:endParaRPr/>
              </a:p>
            </p:txBody>
          </p:sp>
        </p:grpSp>
        <p:grpSp>
          <p:nvGrpSpPr>
            <p:cNvPr id="56" name="Train" descr="A steam locomotive with wagons."/>
            <p:cNvGrpSpPr/>
            <p:nvPr/>
          </p:nvGrpSpPr>
          <p:grpSpPr>
            <a:xfrm>
              <a:off x="7013448" y="1920240"/>
              <a:ext cx="2523744" cy="923544"/>
              <a:chOff x="7013448" y="1920240"/>
              <a:chExt cx="2523744" cy="923544"/>
            </a:xfrm>
          </p:grpSpPr>
          <p:sp>
            <p:nvSpPr>
              <p:cNvPr id="57" name="Rounded Rectangle 56"/>
              <p:cNvSpPr/>
              <p:nvPr/>
            </p:nvSpPr>
            <p:spPr>
              <a:xfrm>
                <a:off x="8001000" y="2267712"/>
                <a:ext cx="731520" cy="411480"/>
              </a:xfrm>
              <a:prstGeom prst="roundRect">
                <a:avLst>
                  <a:gd name="adj" fmla="val 6666"/>
                </a:avLst>
              </a:prstGeom>
              <a:solidFill>
                <a:srgbClr val="6C7480"/>
              </a:solidFill>
              <a:ln w="12700">
                <a:solidFill>
                  <a:srgbClr val="9AA0A6"/>
                </a:solidFill>
              </a:ln>
            </p:spPr>
            <p:txBody>
              <a:bodyPr rtlCol="0" anchor="ctr"/>
              <a:lstStyle/>
              <a:p>
                <a:pPr algn="ctr"/>
                <a:endParaRPr/>
              </a:p>
            </p:txBody>
          </p:sp>
          <p:sp>
            <p:nvSpPr>
              <p:cNvPr id="58" name="Oval 57"/>
              <p:cNvSpPr/>
              <p:nvPr/>
            </p:nvSpPr>
            <p:spPr>
              <a:xfrm>
                <a:off x="8070494" y="265176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59" name="Oval 58"/>
              <p:cNvSpPr/>
              <p:nvPr/>
            </p:nvSpPr>
            <p:spPr>
              <a:xfrm>
                <a:off x="8480146" y="265176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60" name="Rounded Rectangle 59"/>
              <p:cNvSpPr/>
              <p:nvPr/>
            </p:nvSpPr>
            <p:spPr>
              <a:xfrm>
                <a:off x="8805672" y="2267712"/>
                <a:ext cx="731520" cy="411480"/>
              </a:xfrm>
              <a:prstGeom prst="roundRect">
                <a:avLst>
                  <a:gd name="adj" fmla="val 6666"/>
                </a:avLst>
              </a:prstGeom>
              <a:solidFill>
                <a:srgbClr val="6C7480"/>
              </a:solidFill>
              <a:ln w="12700">
                <a:solidFill>
                  <a:srgbClr val="9AA0A6"/>
                </a:solidFill>
              </a:ln>
            </p:spPr>
            <p:txBody>
              <a:bodyPr rtlCol="0" anchor="ctr"/>
              <a:lstStyle/>
              <a:p>
                <a:pPr algn="ctr"/>
                <a:endParaRPr/>
              </a:p>
            </p:txBody>
          </p:sp>
          <p:sp>
            <p:nvSpPr>
              <p:cNvPr id="61" name="Oval 60"/>
              <p:cNvSpPr/>
              <p:nvPr/>
            </p:nvSpPr>
            <p:spPr>
              <a:xfrm>
                <a:off x="8875166" y="265176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62" name="Oval 61"/>
              <p:cNvSpPr/>
              <p:nvPr/>
            </p:nvSpPr>
            <p:spPr>
              <a:xfrm>
                <a:off x="9284818" y="265176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63" name="Rounded Rectangle 62"/>
              <p:cNvSpPr/>
              <p:nvPr/>
            </p:nvSpPr>
            <p:spPr>
              <a:xfrm>
                <a:off x="7013448" y="2176272"/>
                <a:ext cx="914400" cy="502920"/>
              </a:xfrm>
              <a:prstGeom prst="roundRect">
                <a:avLst>
                  <a:gd name="adj" fmla="val 14545"/>
                </a:avLst>
              </a:prstGeom>
              <a:solidFill>
                <a:srgbClr val="F28C28"/>
              </a:solidFill>
              <a:ln>
                <a:noFill/>
              </a:ln>
            </p:spPr>
            <p:txBody>
              <a:bodyPr rtlCol="0" anchor="ctr"/>
              <a:lstStyle/>
              <a:p>
                <a:pPr algn="ctr"/>
                <a:endParaRPr/>
              </a:p>
            </p:txBody>
          </p:sp>
          <p:sp>
            <p:nvSpPr>
              <p:cNvPr id="64" name="Rectangle 63"/>
              <p:cNvSpPr/>
              <p:nvPr/>
            </p:nvSpPr>
            <p:spPr>
              <a:xfrm>
                <a:off x="7150608" y="1920240"/>
                <a:ext cx="137160" cy="274320"/>
              </a:xfrm>
              <a:prstGeom prst="rect">
                <a:avLst/>
              </a:prstGeom>
              <a:solidFill>
                <a:srgbClr val="1B1D21"/>
              </a:solidFill>
              <a:ln w="12700">
                <a:solidFill>
                  <a:srgbClr val="6B7078"/>
                </a:solidFill>
              </a:ln>
            </p:spPr>
            <p:txBody>
              <a:bodyPr rtlCol="0" anchor="ctr"/>
              <a:lstStyle/>
              <a:p>
                <a:pPr algn="ctr"/>
                <a:endParaRPr/>
              </a:p>
            </p:txBody>
          </p:sp>
          <p:sp>
            <p:nvSpPr>
              <p:cNvPr id="65" name="Rectangle 64"/>
              <p:cNvSpPr/>
              <p:nvPr/>
            </p:nvSpPr>
            <p:spPr>
              <a:xfrm>
                <a:off x="7626096" y="2194560"/>
                <a:ext cx="256032" cy="274320"/>
              </a:xfrm>
              <a:prstGeom prst="rect">
                <a:avLst/>
              </a:prstGeom>
              <a:solidFill>
                <a:srgbClr val="1B1D21"/>
              </a:solidFill>
              <a:ln w="12700">
                <a:solidFill>
                  <a:srgbClr val="6B7078"/>
                </a:solidFill>
              </a:ln>
            </p:spPr>
            <p:txBody>
              <a:bodyPr rtlCol="0" anchor="ctr"/>
              <a:lstStyle/>
              <a:p>
                <a:pPr algn="ctr"/>
                <a:endParaRPr/>
              </a:p>
            </p:txBody>
          </p:sp>
          <p:sp>
            <p:nvSpPr>
              <p:cNvPr id="66" name="Oval 65"/>
              <p:cNvSpPr/>
              <p:nvPr/>
            </p:nvSpPr>
            <p:spPr>
              <a:xfrm>
                <a:off x="7095744" y="264261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67" name="Oval 66"/>
              <p:cNvSpPr/>
              <p:nvPr/>
            </p:nvSpPr>
            <p:spPr>
              <a:xfrm>
                <a:off x="7370064" y="264261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68" name="Oval 67"/>
              <p:cNvSpPr/>
              <p:nvPr/>
            </p:nvSpPr>
            <p:spPr>
              <a:xfrm>
                <a:off x="7644384" y="2642616"/>
                <a:ext cx="201168" cy="201168"/>
              </a:xfrm>
              <a:prstGeom prst="ellipse">
                <a:avLst/>
              </a:prstGeom>
              <a:solidFill>
                <a:srgbClr val="1B1D21"/>
              </a:solidFill>
              <a:ln w="12700">
                <a:solidFill>
                  <a:srgbClr val="9AA0A6"/>
                </a:solidFill>
              </a:ln>
            </p:spPr>
            <p:txBody>
              <a:bodyPr rtlCol="0" anchor="ctr"/>
              <a:lstStyle/>
              <a:p>
                <a:pPr algn="ctr"/>
                <a:endParaRPr/>
              </a:p>
            </p:txBody>
          </p:sp>
        </p:grpSp>
        <p:sp>
          <p:nvSpPr>
            <p:cNvPr id="69" name="Rectangle 68"/>
            <p:cNvSpPr/>
            <p:nvPr/>
          </p:nvSpPr>
          <p:spPr>
            <a:xfrm rot="2700000">
              <a:off x="5687568" y="2331720"/>
              <a:ext cx="822960" cy="128016"/>
            </a:xfrm>
            <a:prstGeom prst="rect">
              <a:avLst/>
            </a:prstGeom>
            <a:solidFill>
              <a:srgbClr val="E5484D"/>
            </a:solidFill>
            <a:ln>
              <a:noFill/>
            </a:ln>
          </p:spPr>
          <p:txBody>
            <a:bodyPr rtlCol="0" anchor="ctr"/>
            <a:lstStyle/>
            <a:p>
              <a:pPr algn="ctr"/>
              <a:endParaRPr/>
            </a:p>
          </p:txBody>
        </p:sp>
        <p:sp>
          <p:nvSpPr>
            <p:cNvPr id="70" name="Rectangle 69"/>
            <p:cNvSpPr/>
            <p:nvPr/>
          </p:nvSpPr>
          <p:spPr>
            <a:xfrm rot="18900000">
              <a:off x="5687568" y="2331720"/>
              <a:ext cx="822960" cy="128016"/>
            </a:xfrm>
            <a:prstGeom prst="rect">
              <a:avLst/>
            </a:prstGeom>
            <a:solidFill>
              <a:srgbClr val="E5484D"/>
            </a:solidFill>
            <a:ln>
              <a:noFill/>
            </a:ln>
          </p:spPr>
          <p:txBody>
            <a:bodyPr rtlCol="0" anchor="ctr"/>
            <a:lstStyle/>
            <a:p>
              <a:pPr algn="ctr"/>
              <a:endParaRPr/>
            </a:p>
          </p:txBody>
        </p:sp>
        <p:sp>
          <p:nvSpPr>
            <p:cNvPr id="71" name="TextBox 70"/>
            <p:cNvSpPr txBox="1"/>
            <p:nvPr/>
          </p:nvSpPr>
          <p:spPr>
            <a:xfrm>
              <a:off x="4270248" y="1371600"/>
              <a:ext cx="3657600" cy="411480"/>
            </a:xfrm>
            <a:prstGeom prst="rect">
              <a:avLst/>
            </a:prstGeom>
            <a:noFill/>
          </p:spPr>
          <p:txBody>
            <a:bodyPr wrap="square" lIns="18288" tIns="18288" rIns="18288" bIns="18288" anchor="ctr">
              <a:noAutofit/>
            </a:bodyPr>
            <a:lstStyle/>
            <a:p>
              <a:pPr algn="ctr"/>
              <a:r>
                <a:rPr lang="en-GB" sz="1800" b="1" i="0">
                  <a:solidFill>
                    <a:srgbClr val="FF7A7E"/>
                  </a:solidFill>
                  <a:latin typeface="Arial"/>
                </a:rPr>
                <a:t>No warning: crash</a:t>
              </a:r>
            </a:p>
          </p:txBody>
        </p:sp>
        <p:grpSp>
          <p:nvGrpSpPr>
            <p:cNvPr id="72" name="Track" descr="Two rails on sleepers."/>
            <p:cNvGrpSpPr/>
            <p:nvPr/>
          </p:nvGrpSpPr>
          <p:grpSpPr>
            <a:xfrm>
              <a:off x="731520" y="5020056"/>
              <a:ext cx="10698480" cy="365760"/>
              <a:chOff x="731520" y="5020056"/>
              <a:chExt cx="10698480" cy="365760"/>
            </a:xfrm>
          </p:grpSpPr>
          <p:sp>
            <p:nvSpPr>
              <p:cNvPr id="73" name="Rectangle 72"/>
              <p:cNvSpPr/>
              <p:nvPr/>
            </p:nvSpPr>
            <p:spPr>
              <a:xfrm>
                <a:off x="932688" y="5020056"/>
                <a:ext cx="54864" cy="365760"/>
              </a:xfrm>
              <a:prstGeom prst="rect">
                <a:avLst/>
              </a:prstGeom>
              <a:solidFill>
                <a:srgbClr val="6B5B4B"/>
              </a:solidFill>
              <a:ln>
                <a:noFill/>
              </a:ln>
            </p:spPr>
            <p:txBody>
              <a:bodyPr rtlCol="0" anchor="ctr"/>
              <a:lstStyle/>
              <a:p>
                <a:pPr algn="ctr"/>
                <a:endParaRPr/>
              </a:p>
            </p:txBody>
          </p:sp>
          <p:sp>
            <p:nvSpPr>
              <p:cNvPr id="74" name="Rectangle 73"/>
              <p:cNvSpPr/>
              <p:nvPr/>
            </p:nvSpPr>
            <p:spPr>
              <a:xfrm>
                <a:off x="1252728" y="5020056"/>
                <a:ext cx="54864" cy="365760"/>
              </a:xfrm>
              <a:prstGeom prst="rect">
                <a:avLst/>
              </a:prstGeom>
              <a:solidFill>
                <a:srgbClr val="6B5B4B"/>
              </a:solidFill>
              <a:ln>
                <a:noFill/>
              </a:ln>
            </p:spPr>
            <p:txBody>
              <a:bodyPr rtlCol="0" anchor="ctr"/>
              <a:lstStyle/>
              <a:p>
                <a:pPr algn="ctr"/>
                <a:endParaRPr/>
              </a:p>
            </p:txBody>
          </p:sp>
          <p:sp>
            <p:nvSpPr>
              <p:cNvPr id="75" name="Rectangle 74"/>
              <p:cNvSpPr/>
              <p:nvPr/>
            </p:nvSpPr>
            <p:spPr>
              <a:xfrm>
                <a:off x="1572768" y="5020056"/>
                <a:ext cx="54864" cy="365760"/>
              </a:xfrm>
              <a:prstGeom prst="rect">
                <a:avLst/>
              </a:prstGeom>
              <a:solidFill>
                <a:srgbClr val="6B5B4B"/>
              </a:solidFill>
              <a:ln>
                <a:noFill/>
              </a:ln>
            </p:spPr>
            <p:txBody>
              <a:bodyPr rtlCol="0" anchor="ctr"/>
              <a:lstStyle/>
              <a:p>
                <a:pPr algn="ctr"/>
                <a:endParaRPr/>
              </a:p>
            </p:txBody>
          </p:sp>
          <p:sp>
            <p:nvSpPr>
              <p:cNvPr id="76" name="Rectangle 75"/>
              <p:cNvSpPr/>
              <p:nvPr/>
            </p:nvSpPr>
            <p:spPr>
              <a:xfrm>
                <a:off x="1892808" y="5020056"/>
                <a:ext cx="54864" cy="365760"/>
              </a:xfrm>
              <a:prstGeom prst="rect">
                <a:avLst/>
              </a:prstGeom>
              <a:solidFill>
                <a:srgbClr val="6B5B4B"/>
              </a:solidFill>
              <a:ln>
                <a:noFill/>
              </a:ln>
            </p:spPr>
            <p:txBody>
              <a:bodyPr rtlCol="0" anchor="ctr"/>
              <a:lstStyle/>
              <a:p>
                <a:pPr algn="ctr"/>
                <a:endParaRPr/>
              </a:p>
            </p:txBody>
          </p:sp>
          <p:sp>
            <p:nvSpPr>
              <p:cNvPr id="77" name="Rectangle 76"/>
              <p:cNvSpPr/>
              <p:nvPr/>
            </p:nvSpPr>
            <p:spPr>
              <a:xfrm>
                <a:off x="2212848" y="5020056"/>
                <a:ext cx="54864" cy="365760"/>
              </a:xfrm>
              <a:prstGeom prst="rect">
                <a:avLst/>
              </a:prstGeom>
              <a:solidFill>
                <a:srgbClr val="6B5B4B"/>
              </a:solidFill>
              <a:ln>
                <a:noFill/>
              </a:ln>
            </p:spPr>
            <p:txBody>
              <a:bodyPr rtlCol="0" anchor="ctr"/>
              <a:lstStyle/>
              <a:p>
                <a:pPr algn="ctr"/>
                <a:endParaRPr/>
              </a:p>
            </p:txBody>
          </p:sp>
          <p:sp>
            <p:nvSpPr>
              <p:cNvPr id="78" name="Rectangle 77"/>
              <p:cNvSpPr/>
              <p:nvPr/>
            </p:nvSpPr>
            <p:spPr>
              <a:xfrm>
                <a:off x="2532888" y="5020056"/>
                <a:ext cx="54864" cy="365760"/>
              </a:xfrm>
              <a:prstGeom prst="rect">
                <a:avLst/>
              </a:prstGeom>
              <a:solidFill>
                <a:srgbClr val="6B5B4B"/>
              </a:solidFill>
              <a:ln>
                <a:noFill/>
              </a:ln>
            </p:spPr>
            <p:txBody>
              <a:bodyPr rtlCol="0" anchor="ctr"/>
              <a:lstStyle/>
              <a:p>
                <a:pPr algn="ctr"/>
                <a:endParaRPr/>
              </a:p>
            </p:txBody>
          </p:sp>
          <p:sp>
            <p:nvSpPr>
              <p:cNvPr id="79" name="Rectangle 78"/>
              <p:cNvSpPr/>
              <p:nvPr/>
            </p:nvSpPr>
            <p:spPr>
              <a:xfrm>
                <a:off x="2852928" y="5020056"/>
                <a:ext cx="54864" cy="365760"/>
              </a:xfrm>
              <a:prstGeom prst="rect">
                <a:avLst/>
              </a:prstGeom>
              <a:solidFill>
                <a:srgbClr val="6B5B4B"/>
              </a:solidFill>
              <a:ln>
                <a:noFill/>
              </a:ln>
            </p:spPr>
            <p:txBody>
              <a:bodyPr rtlCol="0" anchor="ctr"/>
              <a:lstStyle/>
              <a:p>
                <a:pPr algn="ctr"/>
                <a:endParaRPr/>
              </a:p>
            </p:txBody>
          </p:sp>
          <p:sp>
            <p:nvSpPr>
              <p:cNvPr id="80" name="Rectangle 79"/>
              <p:cNvSpPr/>
              <p:nvPr/>
            </p:nvSpPr>
            <p:spPr>
              <a:xfrm>
                <a:off x="3172968" y="5020056"/>
                <a:ext cx="54864" cy="365760"/>
              </a:xfrm>
              <a:prstGeom prst="rect">
                <a:avLst/>
              </a:prstGeom>
              <a:solidFill>
                <a:srgbClr val="6B5B4B"/>
              </a:solidFill>
              <a:ln>
                <a:noFill/>
              </a:ln>
            </p:spPr>
            <p:txBody>
              <a:bodyPr rtlCol="0" anchor="ctr"/>
              <a:lstStyle/>
              <a:p>
                <a:pPr algn="ctr"/>
                <a:endParaRPr/>
              </a:p>
            </p:txBody>
          </p:sp>
          <p:sp>
            <p:nvSpPr>
              <p:cNvPr id="81" name="Rectangle 80"/>
              <p:cNvSpPr/>
              <p:nvPr/>
            </p:nvSpPr>
            <p:spPr>
              <a:xfrm>
                <a:off x="3493008" y="5020056"/>
                <a:ext cx="54864" cy="365760"/>
              </a:xfrm>
              <a:prstGeom prst="rect">
                <a:avLst/>
              </a:prstGeom>
              <a:solidFill>
                <a:srgbClr val="6B5B4B"/>
              </a:solidFill>
              <a:ln>
                <a:noFill/>
              </a:ln>
            </p:spPr>
            <p:txBody>
              <a:bodyPr rtlCol="0" anchor="ctr"/>
              <a:lstStyle/>
              <a:p>
                <a:pPr algn="ctr"/>
                <a:endParaRPr/>
              </a:p>
            </p:txBody>
          </p:sp>
          <p:sp>
            <p:nvSpPr>
              <p:cNvPr id="82" name="Rectangle 81"/>
              <p:cNvSpPr/>
              <p:nvPr/>
            </p:nvSpPr>
            <p:spPr>
              <a:xfrm>
                <a:off x="3813048" y="5020056"/>
                <a:ext cx="54864" cy="365760"/>
              </a:xfrm>
              <a:prstGeom prst="rect">
                <a:avLst/>
              </a:prstGeom>
              <a:solidFill>
                <a:srgbClr val="6B5B4B"/>
              </a:solidFill>
              <a:ln>
                <a:noFill/>
              </a:ln>
            </p:spPr>
            <p:txBody>
              <a:bodyPr rtlCol="0" anchor="ctr"/>
              <a:lstStyle/>
              <a:p>
                <a:pPr algn="ctr"/>
                <a:endParaRPr/>
              </a:p>
            </p:txBody>
          </p:sp>
          <p:sp>
            <p:nvSpPr>
              <p:cNvPr id="83" name="Rectangle 82"/>
              <p:cNvSpPr/>
              <p:nvPr/>
            </p:nvSpPr>
            <p:spPr>
              <a:xfrm>
                <a:off x="4133088" y="5020056"/>
                <a:ext cx="54864" cy="365760"/>
              </a:xfrm>
              <a:prstGeom prst="rect">
                <a:avLst/>
              </a:prstGeom>
              <a:solidFill>
                <a:srgbClr val="6B5B4B"/>
              </a:solidFill>
              <a:ln>
                <a:noFill/>
              </a:ln>
            </p:spPr>
            <p:txBody>
              <a:bodyPr rtlCol="0" anchor="ctr"/>
              <a:lstStyle/>
              <a:p>
                <a:pPr algn="ctr"/>
                <a:endParaRPr/>
              </a:p>
            </p:txBody>
          </p:sp>
          <p:sp>
            <p:nvSpPr>
              <p:cNvPr id="84" name="Rectangle 83"/>
              <p:cNvSpPr/>
              <p:nvPr/>
            </p:nvSpPr>
            <p:spPr>
              <a:xfrm>
                <a:off x="4453128" y="5020056"/>
                <a:ext cx="54864" cy="365760"/>
              </a:xfrm>
              <a:prstGeom prst="rect">
                <a:avLst/>
              </a:prstGeom>
              <a:solidFill>
                <a:srgbClr val="6B5B4B"/>
              </a:solidFill>
              <a:ln>
                <a:noFill/>
              </a:ln>
            </p:spPr>
            <p:txBody>
              <a:bodyPr rtlCol="0" anchor="ctr"/>
              <a:lstStyle/>
              <a:p>
                <a:pPr algn="ctr"/>
                <a:endParaRPr/>
              </a:p>
            </p:txBody>
          </p:sp>
          <p:sp>
            <p:nvSpPr>
              <p:cNvPr id="85" name="Rectangle 84"/>
              <p:cNvSpPr/>
              <p:nvPr/>
            </p:nvSpPr>
            <p:spPr>
              <a:xfrm>
                <a:off x="4773168" y="5020056"/>
                <a:ext cx="54864" cy="365760"/>
              </a:xfrm>
              <a:prstGeom prst="rect">
                <a:avLst/>
              </a:prstGeom>
              <a:solidFill>
                <a:srgbClr val="6B5B4B"/>
              </a:solidFill>
              <a:ln>
                <a:noFill/>
              </a:ln>
            </p:spPr>
            <p:txBody>
              <a:bodyPr rtlCol="0" anchor="ctr"/>
              <a:lstStyle/>
              <a:p>
                <a:pPr algn="ctr"/>
                <a:endParaRPr/>
              </a:p>
            </p:txBody>
          </p:sp>
          <p:sp>
            <p:nvSpPr>
              <p:cNvPr id="86" name="Rectangle 85"/>
              <p:cNvSpPr/>
              <p:nvPr/>
            </p:nvSpPr>
            <p:spPr>
              <a:xfrm>
                <a:off x="5093208" y="5020056"/>
                <a:ext cx="54864" cy="365760"/>
              </a:xfrm>
              <a:prstGeom prst="rect">
                <a:avLst/>
              </a:prstGeom>
              <a:solidFill>
                <a:srgbClr val="6B5B4B"/>
              </a:solidFill>
              <a:ln>
                <a:noFill/>
              </a:ln>
            </p:spPr>
            <p:txBody>
              <a:bodyPr rtlCol="0" anchor="ctr"/>
              <a:lstStyle/>
              <a:p>
                <a:pPr algn="ctr"/>
                <a:endParaRPr/>
              </a:p>
            </p:txBody>
          </p:sp>
          <p:sp>
            <p:nvSpPr>
              <p:cNvPr id="87" name="Rectangle 86"/>
              <p:cNvSpPr/>
              <p:nvPr/>
            </p:nvSpPr>
            <p:spPr>
              <a:xfrm>
                <a:off x="5413248" y="5020056"/>
                <a:ext cx="54864" cy="365760"/>
              </a:xfrm>
              <a:prstGeom prst="rect">
                <a:avLst/>
              </a:prstGeom>
              <a:solidFill>
                <a:srgbClr val="6B5B4B"/>
              </a:solidFill>
              <a:ln>
                <a:noFill/>
              </a:ln>
            </p:spPr>
            <p:txBody>
              <a:bodyPr rtlCol="0" anchor="ctr"/>
              <a:lstStyle/>
              <a:p>
                <a:pPr algn="ctr"/>
                <a:endParaRPr/>
              </a:p>
            </p:txBody>
          </p:sp>
          <p:sp>
            <p:nvSpPr>
              <p:cNvPr id="88" name="Rectangle 87"/>
              <p:cNvSpPr/>
              <p:nvPr/>
            </p:nvSpPr>
            <p:spPr>
              <a:xfrm>
                <a:off x="5733288" y="5020056"/>
                <a:ext cx="54864" cy="365760"/>
              </a:xfrm>
              <a:prstGeom prst="rect">
                <a:avLst/>
              </a:prstGeom>
              <a:solidFill>
                <a:srgbClr val="6B5B4B"/>
              </a:solidFill>
              <a:ln>
                <a:noFill/>
              </a:ln>
            </p:spPr>
            <p:txBody>
              <a:bodyPr rtlCol="0" anchor="ctr"/>
              <a:lstStyle/>
              <a:p>
                <a:pPr algn="ctr"/>
                <a:endParaRPr/>
              </a:p>
            </p:txBody>
          </p:sp>
          <p:sp>
            <p:nvSpPr>
              <p:cNvPr id="89" name="Rectangle 88"/>
              <p:cNvSpPr/>
              <p:nvPr/>
            </p:nvSpPr>
            <p:spPr>
              <a:xfrm>
                <a:off x="6053328" y="5020056"/>
                <a:ext cx="54864" cy="365760"/>
              </a:xfrm>
              <a:prstGeom prst="rect">
                <a:avLst/>
              </a:prstGeom>
              <a:solidFill>
                <a:srgbClr val="6B5B4B"/>
              </a:solidFill>
              <a:ln>
                <a:noFill/>
              </a:ln>
            </p:spPr>
            <p:txBody>
              <a:bodyPr rtlCol="0" anchor="ctr"/>
              <a:lstStyle/>
              <a:p>
                <a:pPr algn="ctr"/>
                <a:endParaRPr/>
              </a:p>
            </p:txBody>
          </p:sp>
          <p:sp>
            <p:nvSpPr>
              <p:cNvPr id="90" name="Rectangle 89"/>
              <p:cNvSpPr/>
              <p:nvPr/>
            </p:nvSpPr>
            <p:spPr>
              <a:xfrm>
                <a:off x="6373368" y="5020056"/>
                <a:ext cx="54864" cy="365760"/>
              </a:xfrm>
              <a:prstGeom prst="rect">
                <a:avLst/>
              </a:prstGeom>
              <a:solidFill>
                <a:srgbClr val="6B5B4B"/>
              </a:solidFill>
              <a:ln>
                <a:noFill/>
              </a:ln>
            </p:spPr>
            <p:txBody>
              <a:bodyPr rtlCol="0" anchor="ctr"/>
              <a:lstStyle/>
              <a:p>
                <a:pPr algn="ctr"/>
                <a:endParaRPr/>
              </a:p>
            </p:txBody>
          </p:sp>
          <p:sp>
            <p:nvSpPr>
              <p:cNvPr id="91" name="Rectangle 90"/>
              <p:cNvSpPr/>
              <p:nvPr/>
            </p:nvSpPr>
            <p:spPr>
              <a:xfrm>
                <a:off x="6693408" y="5020056"/>
                <a:ext cx="54864" cy="365760"/>
              </a:xfrm>
              <a:prstGeom prst="rect">
                <a:avLst/>
              </a:prstGeom>
              <a:solidFill>
                <a:srgbClr val="6B5B4B"/>
              </a:solidFill>
              <a:ln>
                <a:noFill/>
              </a:ln>
            </p:spPr>
            <p:txBody>
              <a:bodyPr rtlCol="0" anchor="ctr"/>
              <a:lstStyle/>
              <a:p>
                <a:pPr algn="ctr"/>
                <a:endParaRPr/>
              </a:p>
            </p:txBody>
          </p:sp>
          <p:sp>
            <p:nvSpPr>
              <p:cNvPr id="92" name="Rectangle 91"/>
              <p:cNvSpPr/>
              <p:nvPr/>
            </p:nvSpPr>
            <p:spPr>
              <a:xfrm>
                <a:off x="7013448" y="5020056"/>
                <a:ext cx="54864" cy="365760"/>
              </a:xfrm>
              <a:prstGeom prst="rect">
                <a:avLst/>
              </a:prstGeom>
              <a:solidFill>
                <a:srgbClr val="6B5B4B"/>
              </a:solidFill>
              <a:ln>
                <a:noFill/>
              </a:ln>
            </p:spPr>
            <p:txBody>
              <a:bodyPr rtlCol="0" anchor="ctr"/>
              <a:lstStyle/>
              <a:p>
                <a:pPr algn="ctr"/>
                <a:endParaRPr/>
              </a:p>
            </p:txBody>
          </p:sp>
          <p:sp>
            <p:nvSpPr>
              <p:cNvPr id="93" name="Rectangle 92"/>
              <p:cNvSpPr/>
              <p:nvPr/>
            </p:nvSpPr>
            <p:spPr>
              <a:xfrm>
                <a:off x="7333488" y="5020056"/>
                <a:ext cx="54864" cy="365760"/>
              </a:xfrm>
              <a:prstGeom prst="rect">
                <a:avLst/>
              </a:prstGeom>
              <a:solidFill>
                <a:srgbClr val="6B5B4B"/>
              </a:solidFill>
              <a:ln>
                <a:noFill/>
              </a:ln>
            </p:spPr>
            <p:txBody>
              <a:bodyPr rtlCol="0" anchor="ctr"/>
              <a:lstStyle/>
              <a:p>
                <a:pPr algn="ctr"/>
                <a:endParaRPr/>
              </a:p>
            </p:txBody>
          </p:sp>
          <p:sp>
            <p:nvSpPr>
              <p:cNvPr id="94" name="Rectangle 93"/>
              <p:cNvSpPr/>
              <p:nvPr/>
            </p:nvSpPr>
            <p:spPr>
              <a:xfrm>
                <a:off x="7653528" y="5020056"/>
                <a:ext cx="54864" cy="365760"/>
              </a:xfrm>
              <a:prstGeom prst="rect">
                <a:avLst/>
              </a:prstGeom>
              <a:solidFill>
                <a:srgbClr val="6B5B4B"/>
              </a:solidFill>
              <a:ln>
                <a:noFill/>
              </a:ln>
            </p:spPr>
            <p:txBody>
              <a:bodyPr rtlCol="0" anchor="ctr"/>
              <a:lstStyle/>
              <a:p>
                <a:pPr algn="ctr"/>
                <a:endParaRPr/>
              </a:p>
            </p:txBody>
          </p:sp>
          <p:sp>
            <p:nvSpPr>
              <p:cNvPr id="95" name="Rectangle 94"/>
              <p:cNvSpPr/>
              <p:nvPr/>
            </p:nvSpPr>
            <p:spPr>
              <a:xfrm>
                <a:off x="7973568" y="5020056"/>
                <a:ext cx="54864" cy="365760"/>
              </a:xfrm>
              <a:prstGeom prst="rect">
                <a:avLst/>
              </a:prstGeom>
              <a:solidFill>
                <a:srgbClr val="6B5B4B"/>
              </a:solidFill>
              <a:ln>
                <a:noFill/>
              </a:ln>
            </p:spPr>
            <p:txBody>
              <a:bodyPr rtlCol="0" anchor="ctr"/>
              <a:lstStyle/>
              <a:p>
                <a:pPr algn="ctr"/>
                <a:endParaRPr/>
              </a:p>
            </p:txBody>
          </p:sp>
          <p:sp>
            <p:nvSpPr>
              <p:cNvPr id="96" name="Rectangle 95"/>
              <p:cNvSpPr/>
              <p:nvPr/>
            </p:nvSpPr>
            <p:spPr>
              <a:xfrm>
                <a:off x="8293608" y="5020056"/>
                <a:ext cx="54864" cy="365760"/>
              </a:xfrm>
              <a:prstGeom prst="rect">
                <a:avLst/>
              </a:prstGeom>
              <a:solidFill>
                <a:srgbClr val="6B5B4B"/>
              </a:solidFill>
              <a:ln>
                <a:noFill/>
              </a:ln>
            </p:spPr>
            <p:txBody>
              <a:bodyPr rtlCol="0" anchor="ctr"/>
              <a:lstStyle/>
              <a:p>
                <a:pPr algn="ctr"/>
                <a:endParaRPr/>
              </a:p>
            </p:txBody>
          </p:sp>
          <p:sp>
            <p:nvSpPr>
              <p:cNvPr id="97" name="Rectangle 96"/>
              <p:cNvSpPr/>
              <p:nvPr/>
            </p:nvSpPr>
            <p:spPr>
              <a:xfrm>
                <a:off x="8613648" y="5020056"/>
                <a:ext cx="54864" cy="365760"/>
              </a:xfrm>
              <a:prstGeom prst="rect">
                <a:avLst/>
              </a:prstGeom>
              <a:solidFill>
                <a:srgbClr val="6B5B4B"/>
              </a:solidFill>
              <a:ln>
                <a:noFill/>
              </a:ln>
            </p:spPr>
            <p:txBody>
              <a:bodyPr rtlCol="0" anchor="ctr"/>
              <a:lstStyle/>
              <a:p>
                <a:pPr algn="ctr"/>
                <a:endParaRPr/>
              </a:p>
            </p:txBody>
          </p:sp>
          <p:sp>
            <p:nvSpPr>
              <p:cNvPr id="98" name="Rectangle 97"/>
              <p:cNvSpPr/>
              <p:nvPr/>
            </p:nvSpPr>
            <p:spPr>
              <a:xfrm>
                <a:off x="8933688" y="5020056"/>
                <a:ext cx="54864" cy="365760"/>
              </a:xfrm>
              <a:prstGeom prst="rect">
                <a:avLst/>
              </a:prstGeom>
              <a:solidFill>
                <a:srgbClr val="6B5B4B"/>
              </a:solidFill>
              <a:ln>
                <a:noFill/>
              </a:ln>
            </p:spPr>
            <p:txBody>
              <a:bodyPr rtlCol="0" anchor="ctr"/>
              <a:lstStyle/>
              <a:p>
                <a:pPr algn="ctr"/>
                <a:endParaRPr/>
              </a:p>
            </p:txBody>
          </p:sp>
          <p:sp>
            <p:nvSpPr>
              <p:cNvPr id="99" name="Rectangle 98"/>
              <p:cNvSpPr/>
              <p:nvPr/>
            </p:nvSpPr>
            <p:spPr>
              <a:xfrm>
                <a:off x="9253728" y="5020056"/>
                <a:ext cx="54864" cy="365760"/>
              </a:xfrm>
              <a:prstGeom prst="rect">
                <a:avLst/>
              </a:prstGeom>
              <a:solidFill>
                <a:srgbClr val="6B5B4B"/>
              </a:solidFill>
              <a:ln>
                <a:noFill/>
              </a:ln>
            </p:spPr>
            <p:txBody>
              <a:bodyPr rtlCol="0" anchor="ctr"/>
              <a:lstStyle/>
              <a:p>
                <a:pPr algn="ctr"/>
                <a:endParaRPr/>
              </a:p>
            </p:txBody>
          </p:sp>
          <p:sp>
            <p:nvSpPr>
              <p:cNvPr id="100" name="Rectangle 99"/>
              <p:cNvSpPr/>
              <p:nvPr/>
            </p:nvSpPr>
            <p:spPr>
              <a:xfrm>
                <a:off x="9573768" y="5020056"/>
                <a:ext cx="54864" cy="365760"/>
              </a:xfrm>
              <a:prstGeom prst="rect">
                <a:avLst/>
              </a:prstGeom>
              <a:solidFill>
                <a:srgbClr val="6B5B4B"/>
              </a:solidFill>
              <a:ln>
                <a:noFill/>
              </a:ln>
            </p:spPr>
            <p:txBody>
              <a:bodyPr rtlCol="0" anchor="ctr"/>
              <a:lstStyle/>
              <a:p>
                <a:pPr algn="ctr"/>
                <a:endParaRPr/>
              </a:p>
            </p:txBody>
          </p:sp>
          <p:sp>
            <p:nvSpPr>
              <p:cNvPr id="101" name="Rectangle 100"/>
              <p:cNvSpPr/>
              <p:nvPr/>
            </p:nvSpPr>
            <p:spPr>
              <a:xfrm>
                <a:off x="9893808" y="5020056"/>
                <a:ext cx="54864" cy="365760"/>
              </a:xfrm>
              <a:prstGeom prst="rect">
                <a:avLst/>
              </a:prstGeom>
              <a:solidFill>
                <a:srgbClr val="6B5B4B"/>
              </a:solidFill>
              <a:ln>
                <a:noFill/>
              </a:ln>
            </p:spPr>
            <p:txBody>
              <a:bodyPr rtlCol="0" anchor="ctr"/>
              <a:lstStyle/>
              <a:p>
                <a:pPr algn="ctr"/>
                <a:endParaRPr/>
              </a:p>
            </p:txBody>
          </p:sp>
          <p:sp>
            <p:nvSpPr>
              <p:cNvPr id="102" name="Rectangle 101"/>
              <p:cNvSpPr/>
              <p:nvPr/>
            </p:nvSpPr>
            <p:spPr>
              <a:xfrm>
                <a:off x="10213848" y="5020056"/>
                <a:ext cx="54864" cy="365760"/>
              </a:xfrm>
              <a:prstGeom prst="rect">
                <a:avLst/>
              </a:prstGeom>
              <a:solidFill>
                <a:srgbClr val="6B5B4B"/>
              </a:solidFill>
              <a:ln>
                <a:noFill/>
              </a:ln>
            </p:spPr>
            <p:txBody>
              <a:bodyPr rtlCol="0" anchor="ctr"/>
              <a:lstStyle/>
              <a:p>
                <a:pPr algn="ctr"/>
                <a:endParaRPr/>
              </a:p>
            </p:txBody>
          </p:sp>
          <p:sp>
            <p:nvSpPr>
              <p:cNvPr id="103" name="Rectangle 102"/>
              <p:cNvSpPr/>
              <p:nvPr/>
            </p:nvSpPr>
            <p:spPr>
              <a:xfrm>
                <a:off x="10533888" y="5020056"/>
                <a:ext cx="54864" cy="365760"/>
              </a:xfrm>
              <a:prstGeom prst="rect">
                <a:avLst/>
              </a:prstGeom>
              <a:solidFill>
                <a:srgbClr val="6B5B4B"/>
              </a:solidFill>
              <a:ln>
                <a:noFill/>
              </a:ln>
            </p:spPr>
            <p:txBody>
              <a:bodyPr rtlCol="0" anchor="ctr"/>
              <a:lstStyle/>
              <a:p>
                <a:pPr algn="ctr"/>
                <a:endParaRPr/>
              </a:p>
            </p:txBody>
          </p:sp>
          <p:sp>
            <p:nvSpPr>
              <p:cNvPr id="104" name="Rectangle 103"/>
              <p:cNvSpPr/>
              <p:nvPr/>
            </p:nvSpPr>
            <p:spPr>
              <a:xfrm>
                <a:off x="10853928" y="5020056"/>
                <a:ext cx="54864" cy="365760"/>
              </a:xfrm>
              <a:prstGeom prst="rect">
                <a:avLst/>
              </a:prstGeom>
              <a:solidFill>
                <a:srgbClr val="6B5B4B"/>
              </a:solidFill>
              <a:ln>
                <a:noFill/>
              </a:ln>
            </p:spPr>
            <p:txBody>
              <a:bodyPr rtlCol="0" anchor="ctr"/>
              <a:lstStyle/>
              <a:p>
                <a:pPr algn="ctr"/>
                <a:endParaRPr/>
              </a:p>
            </p:txBody>
          </p:sp>
          <p:sp>
            <p:nvSpPr>
              <p:cNvPr id="105" name="Rectangle 104"/>
              <p:cNvSpPr/>
              <p:nvPr/>
            </p:nvSpPr>
            <p:spPr>
              <a:xfrm>
                <a:off x="11173968" y="5020056"/>
                <a:ext cx="54864" cy="365760"/>
              </a:xfrm>
              <a:prstGeom prst="rect">
                <a:avLst/>
              </a:prstGeom>
              <a:solidFill>
                <a:srgbClr val="6B5B4B"/>
              </a:solidFill>
              <a:ln>
                <a:noFill/>
              </a:ln>
            </p:spPr>
            <p:txBody>
              <a:bodyPr rtlCol="0" anchor="ctr"/>
              <a:lstStyle/>
              <a:p>
                <a:pPr algn="ctr"/>
                <a:endParaRPr/>
              </a:p>
            </p:txBody>
          </p:sp>
          <p:sp>
            <p:nvSpPr>
              <p:cNvPr id="106" name="Rectangle 105"/>
              <p:cNvSpPr/>
              <p:nvPr/>
            </p:nvSpPr>
            <p:spPr>
              <a:xfrm>
                <a:off x="731520" y="5074920"/>
                <a:ext cx="10698480" cy="54864"/>
              </a:xfrm>
              <a:prstGeom prst="rect">
                <a:avLst/>
              </a:prstGeom>
              <a:solidFill>
                <a:srgbClr val="9AA0A6"/>
              </a:solidFill>
              <a:ln>
                <a:noFill/>
              </a:ln>
            </p:spPr>
            <p:txBody>
              <a:bodyPr rtlCol="0" anchor="ctr"/>
              <a:lstStyle/>
              <a:p>
                <a:pPr algn="ctr"/>
                <a:endParaRPr/>
              </a:p>
            </p:txBody>
          </p:sp>
          <p:sp>
            <p:nvSpPr>
              <p:cNvPr id="107" name="Rectangle 106"/>
              <p:cNvSpPr/>
              <p:nvPr/>
            </p:nvSpPr>
            <p:spPr>
              <a:xfrm>
                <a:off x="731520" y="5330952"/>
                <a:ext cx="10698480" cy="54864"/>
              </a:xfrm>
              <a:prstGeom prst="rect">
                <a:avLst/>
              </a:prstGeom>
              <a:solidFill>
                <a:srgbClr val="9AA0A6"/>
              </a:solidFill>
              <a:ln>
                <a:noFill/>
              </a:ln>
            </p:spPr>
            <p:txBody>
              <a:bodyPr rtlCol="0" anchor="ctr"/>
              <a:lstStyle/>
              <a:p>
                <a:pPr algn="ctr"/>
                <a:endParaRPr/>
              </a:p>
            </p:txBody>
          </p:sp>
        </p:grpSp>
        <p:grpSp>
          <p:nvGrpSpPr>
            <p:cNvPr id="108" name="Train" descr="A steam locomotive with wagons."/>
            <p:cNvGrpSpPr/>
            <p:nvPr/>
          </p:nvGrpSpPr>
          <p:grpSpPr>
            <a:xfrm>
              <a:off x="822960" y="4251960"/>
              <a:ext cx="2523744" cy="923544"/>
              <a:chOff x="822960" y="4251960"/>
              <a:chExt cx="2523744" cy="923544"/>
            </a:xfrm>
          </p:grpSpPr>
          <p:sp>
            <p:nvSpPr>
              <p:cNvPr id="109" name="Rounded Rectangle 108"/>
              <p:cNvSpPr/>
              <p:nvPr/>
            </p:nvSpPr>
            <p:spPr>
              <a:xfrm>
                <a:off x="822960" y="4599432"/>
                <a:ext cx="731520" cy="411480"/>
              </a:xfrm>
              <a:prstGeom prst="roundRect">
                <a:avLst>
                  <a:gd name="adj" fmla="val 6666"/>
                </a:avLst>
              </a:prstGeom>
              <a:solidFill>
                <a:srgbClr val="6C7480"/>
              </a:solidFill>
              <a:ln w="12700">
                <a:solidFill>
                  <a:srgbClr val="9AA0A6"/>
                </a:solidFill>
              </a:ln>
            </p:spPr>
            <p:txBody>
              <a:bodyPr rtlCol="0" anchor="ctr"/>
              <a:lstStyle/>
              <a:p>
                <a:pPr algn="ctr"/>
                <a:endParaRPr/>
              </a:p>
            </p:txBody>
          </p:sp>
          <p:sp>
            <p:nvSpPr>
              <p:cNvPr id="110" name="Oval 109"/>
              <p:cNvSpPr/>
              <p:nvPr/>
            </p:nvSpPr>
            <p:spPr>
              <a:xfrm>
                <a:off x="892454" y="498348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111" name="Oval 110"/>
              <p:cNvSpPr/>
              <p:nvPr/>
            </p:nvSpPr>
            <p:spPr>
              <a:xfrm>
                <a:off x="1302106" y="498348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112" name="Rounded Rectangle 111"/>
              <p:cNvSpPr/>
              <p:nvPr/>
            </p:nvSpPr>
            <p:spPr>
              <a:xfrm>
                <a:off x="1627632" y="4599432"/>
                <a:ext cx="731520" cy="411480"/>
              </a:xfrm>
              <a:prstGeom prst="roundRect">
                <a:avLst>
                  <a:gd name="adj" fmla="val 6666"/>
                </a:avLst>
              </a:prstGeom>
              <a:solidFill>
                <a:srgbClr val="6C7480"/>
              </a:solidFill>
              <a:ln w="12700">
                <a:solidFill>
                  <a:srgbClr val="9AA0A6"/>
                </a:solidFill>
              </a:ln>
            </p:spPr>
            <p:txBody>
              <a:bodyPr rtlCol="0" anchor="ctr"/>
              <a:lstStyle/>
              <a:p>
                <a:pPr algn="ctr"/>
                <a:endParaRPr/>
              </a:p>
            </p:txBody>
          </p:sp>
          <p:sp>
            <p:nvSpPr>
              <p:cNvPr id="113" name="Oval 112"/>
              <p:cNvSpPr/>
              <p:nvPr/>
            </p:nvSpPr>
            <p:spPr>
              <a:xfrm>
                <a:off x="1697126" y="498348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114" name="Oval 113"/>
              <p:cNvSpPr/>
              <p:nvPr/>
            </p:nvSpPr>
            <p:spPr>
              <a:xfrm>
                <a:off x="2106778" y="4983480"/>
                <a:ext cx="182880" cy="182880"/>
              </a:xfrm>
              <a:prstGeom prst="ellipse">
                <a:avLst/>
              </a:prstGeom>
              <a:solidFill>
                <a:srgbClr val="1B1D21"/>
              </a:solidFill>
              <a:ln w="12700">
                <a:solidFill>
                  <a:srgbClr val="9AA0A6"/>
                </a:solidFill>
              </a:ln>
            </p:spPr>
            <p:txBody>
              <a:bodyPr rtlCol="0" anchor="ctr"/>
              <a:lstStyle/>
              <a:p>
                <a:pPr algn="ctr"/>
                <a:endParaRPr/>
              </a:p>
            </p:txBody>
          </p:sp>
          <p:sp>
            <p:nvSpPr>
              <p:cNvPr id="115" name="Rounded Rectangle 114"/>
              <p:cNvSpPr/>
              <p:nvPr/>
            </p:nvSpPr>
            <p:spPr>
              <a:xfrm>
                <a:off x="2432304" y="4507992"/>
                <a:ext cx="914400" cy="502920"/>
              </a:xfrm>
              <a:prstGeom prst="roundRect">
                <a:avLst>
                  <a:gd name="adj" fmla="val 14545"/>
                </a:avLst>
              </a:prstGeom>
              <a:solidFill>
                <a:srgbClr val="F28C28"/>
              </a:solidFill>
              <a:ln>
                <a:noFill/>
              </a:ln>
            </p:spPr>
            <p:txBody>
              <a:bodyPr rtlCol="0" anchor="ctr"/>
              <a:lstStyle/>
              <a:p>
                <a:pPr algn="ctr"/>
                <a:endParaRPr/>
              </a:p>
            </p:txBody>
          </p:sp>
          <p:sp>
            <p:nvSpPr>
              <p:cNvPr id="116" name="Rectangle 115"/>
              <p:cNvSpPr/>
              <p:nvPr/>
            </p:nvSpPr>
            <p:spPr>
              <a:xfrm>
                <a:off x="3072384" y="4251960"/>
                <a:ext cx="137160" cy="274320"/>
              </a:xfrm>
              <a:prstGeom prst="rect">
                <a:avLst/>
              </a:prstGeom>
              <a:solidFill>
                <a:srgbClr val="1B1D21"/>
              </a:solidFill>
              <a:ln w="12700">
                <a:solidFill>
                  <a:srgbClr val="6B7078"/>
                </a:solidFill>
              </a:ln>
            </p:spPr>
            <p:txBody>
              <a:bodyPr rtlCol="0" anchor="ctr"/>
              <a:lstStyle/>
              <a:p>
                <a:pPr algn="ctr"/>
                <a:endParaRPr/>
              </a:p>
            </p:txBody>
          </p:sp>
          <p:sp>
            <p:nvSpPr>
              <p:cNvPr id="117" name="Rectangle 116"/>
              <p:cNvSpPr/>
              <p:nvPr/>
            </p:nvSpPr>
            <p:spPr>
              <a:xfrm>
                <a:off x="2478024" y="4526280"/>
                <a:ext cx="256032" cy="274320"/>
              </a:xfrm>
              <a:prstGeom prst="rect">
                <a:avLst/>
              </a:prstGeom>
              <a:solidFill>
                <a:srgbClr val="1B1D21"/>
              </a:solidFill>
              <a:ln w="12700">
                <a:solidFill>
                  <a:srgbClr val="6B7078"/>
                </a:solidFill>
              </a:ln>
            </p:spPr>
            <p:txBody>
              <a:bodyPr rtlCol="0" anchor="ctr"/>
              <a:lstStyle/>
              <a:p>
                <a:pPr algn="ctr"/>
                <a:endParaRPr/>
              </a:p>
            </p:txBody>
          </p:sp>
          <p:sp>
            <p:nvSpPr>
              <p:cNvPr id="118" name="Oval 117"/>
              <p:cNvSpPr/>
              <p:nvPr/>
            </p:nvSpPr>
            <p:spPr>
              <a:xfrm>
                <a:off x="2514600" y="497433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119" name="Oval 118"/>
              <p:cNvSpPr/>
              <p:nvPr/>
            </p:nvSpPr>
            <p:spPr>
              <a:xfrm>
                <a:off x="2788920" y="497433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120" name="Oval 119"/>
              <p:cNvSpPr/>
              <p:nvPr/>
            </p:nvSpPr>
            <p:spPr>
              <a:xfrm>
                <a:off x="3063240" y="4974336"/>
                <a:ext cx="201168" cy="201168"/>
              </a:xfrm>
              <a:prstGeom prst="ellipse">
                <a:avLst/>
              </a:prstGeom>
              <a:solidFill>
                <a:srgbClr val="1B1D21"/>
              </a:solidFill>
              <a:ln w="12700">
                <a:solidFill>
                  <a:srgbClr val="9AA0A6"/>
                </a:solidFill>
              </a:ln>
            </p:spPr>
            <p:txBody>
              <a:bodyPr rtlCol="0" anchor="ctr"/>
              <a:lstStyle/>
              <a:p>
                <a:pPr algn="ctr"/>
                <a:endParaRPr/>
              </a:p>
            </p:txBody>
          </p:sp>
        </p:grpSp>
        <p:sp>
          <p:nvSpPr>
            <p:cNvPr id="121" name="TextBox 120"/>
            <p:cNvSpPr txBox="1"/>
            <p:nvPr/>
          </p:nvSpPr>
          <p:spPr>
            <a:xfrm>
              <a:off x="3346704" y="3611880"/>
              <a:ext cx="6035040" cy="365760"/>
            </a:xfrm>
            <a:prstGeom prst="rect">
              <a:avLst/>
            </a:prstGeom>
            <a:noFill/>
          </p:spPr>
          <p:txBody>
            <a:bodyPr wrap="square" lIns="18288" tIns="18288" rIns="18288" bIns="18288" anchor="ctr">
              <a:noAutofit/>
            </a:bodyPr>
            <a:lstStyle/>
            <a:p>
              <a:pPr algn="l"/>
              <a:r>
                <a:rPr lang="en-GB" sz="1800" b="1" i="0">
                  <a:solidFill>
                    <a:srgbClr val="F2C14E"/>
                  </a:solidFill>
                  <a:latin typeface="Arial"/>
                </a:rPr>
                <a:t>Long stopping distance</a:t>
              </a:r>
            </a:p>
          </p:txBody>
        </p:sp>
        <p:sp>
          <p:nvSpPr>
            <p:cNvPr id="122" name="Rounded Rectangle 121"/>
            <p:cNvSpPr/>
            <p:nvPr/>
          </p:nvSpPr>
          <p:spPr>
            <a:xfrm>
              <a:off x="3346704" y="4023360"/>
              <a:ext cx="6071616" cy="164592"/>
            </a:xfrm>
            <a:prstGeom prst="roundRect">
              <a:avLst>
                <a:gd name="adj" fmla="val 27777"/>
              </a:avLst>
            </a:prstGeom>
            <a:solidFill>
              <a:srgbClr val="F2C14E"/>
            </a:solidFill>
            <a:ln>
              <a:noFill/>
            </a:ln>
          </p:spPr>
          <p:txBody>
            <a:bodyPr rtlCol="0" anchor="ctr"/>
            <a:lstStyle/>
            <a:p>
              <a:pPr algn="ctr"/>
              <a:endParaRPr/>
            </a:p>
          </p:txBody>
        </p:sp>
        <p:sp>
          <p:nvSpPr>
            <p:cNvPr id="123" name="Rounded Rectangle 122"/>
            <p:cNvSpPr/>
            <p:nvPr/>
          </p:nvSpPr>
          <p:spPr>
            <a:xfrm>
              <a:off x="3346704" y="4297680"/>
              <a:ext cx="2331720" cy="164592"/>
            </a:xfrm>
            <a:prstGeom prst="roundRect">
              <a:avLst>
                <a:gd name="adj" fmla="val 27777"/>
              </a:avLst>
            </a:prstGeom>
            <a:solidFill>
              <a:srgbClr val="6CA0DC"/>
            </a:solidFill>
            <a:ln>
              <a:noFill/>
            </a:ln>
          </p:spPr>
          <p:txBody>
            <a:bodyPr rtlCol="0" anchor="ctr"/>
            <a:lstStyle/>
            <a:p>
              <a:pPr algn="ctr"/>
              <a:endParaRPr/>
            </a:p>
          </p:txBody>
        </p:sp>
        <p:sp>
          <p:nvSpPr>
            <p:cNvPr id="124" name="TextBox 123"/>
            <p:cNvSpPr txBox="1"/>
            <p:nvPr/>
          </p:nvSpPr>
          <p:spPr>
            <a:xfrm>
              <a:off x="5815584" y="4206240"/>
              <a:ext cx="4114800" cy="347472"/>
            </a:xfrm>
            <a:prstGeom prst="rect">
              <a:avLst/>
            </a:prstGeom>
            <a:noFill/>
          </p:spPr>
          <p:txBody>
            <a:bodyPr wrap="square" lIns="18288" tIns="18288" rIns="18288" bIns="18288" anchor="ctr">
              <a:noAutofit/>
            </a:bodyPr>
            <a:lstStyle/>
            <a:p>
              <a:pPr algn="l"/>
              <a:r>
                <a:rPr lang="en-GB" sz="1800" b="1" i="0">
                  <a:solidFill>
                    <a:srgbClr val="6CA0DC"/>
                  </a:solidFill>
                  <a:latin typeface="Arial"/>
                </a:rPr>
                <a:t>How far the driver can see</a:t>
              </a:r>
            </a:p>
          </p:txBody>
        </p:sp>
        <p:cxnSp>
          <p:nvCxnSpPr>
            <p:cNvPr id="125" name="Connector 124"/>
            <p:cNvCxnSpPr/>
            <p:nvPr/>
          </p:nvCxnSpPr>
          <p:spPr>
            <a:xfrm>
              <a:off x="9418320" y="3931920"/>
              <a:ext cx="0" cy="1645920"/>
            </a:xfrm>
            <a:prstGeom prst="line">
              <a:avLst/>
            </a:prstGeom>
            <a:ln w="25400">
              <a:solidFill>
                <a:srgbClr val="F2F2F2"/>
              </a:solidFill>
              <a:prstDash val="dash"/>
            </a:ln>
          </p:spPr>
        </p:cxnSp>
      </p:grpSp>
      <p:sp>
        <p:nvSpPr>
          <p:cNvPr id="126"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Trains cannot swerve. They need a long way to stop. Signals keep them apart.</a:t>
            </a:r>
          </a:p>
        </p:txBody>
      </p:sp>
      <p:sp>
        <p:nvSpPr>
          <p:cNvPr id="127"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128"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3</a:t>
            </a:r>
          </a:p>
        </p:txBody>
      </p:sp>
    </p:spTree>
    <p:extLst>
      <p:ext uri="{BB962C8B-B14F-4D97-AF65-F5344CB8AC3E}">
        <p14:creationId xmlns:p14="http://schemas.microsoft.com/office/powerpoint/2010/main" val="2474673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26"/>
                                        </p:tgtEl>
                                        <p:attrNameLst>
                                          <p:attrName>style.visibility</p:attrName>
                                        </p:attrNameLst>
                                      </p:cBhvr>
                                      <p:to>
                                        <p:strVal val="visible"/>
                                      </p:to>
                                    </p:set>
                                    <p:animEffect transition="in" filter="fade">
                                      <p:cBhvr>
                                        <p:cTn id="10" dur="500"/>
                                        <p:tgtEl>
                                          <p:spTgt spid="126"/>
                                        </p:tgtEl>
                                      </p:cBhvr>
                                    </p:animEffect>
                                  </p:childTnLst>
                                </p:cTn>
                              </p:par>
                              <p:par>
                                <p:cTn id="11" presetID="10" presetClass="entr" presetSubtype="0" fill="hold" nodeType="withEffect">
                                  <p:stCondLst>
                                    <p:cond delay="600"/>
                                  </p:stCondLst>
                                  <p:childTnLst>
                                    <p:set>
                                      <p:cBhvr>
                                        <p:cTn id="12" dur="1" fill="hold">
                                          <p:stCondLst>
                                            <p:cond delay="0"/>
                                          </p:stCondLst>
                                        </p:cTn>
                                        <p:tgtEl>
                                          <p:spTgt spid="127"/>
                                        </p:tgtEl>
                                        <p:attrNameLst>
                                          <p:attrName>style.visibility</p:attrName>
                                        </p:attrNameLst>
                                      </p:cBhvr>
                                      <p:to>
                                        <p:strVal val="visible"/>
                                      </p:to>
                                    </p:set>
                                    <p:animEffect transition="in" filter="fade">
                                      <p:cBhvr>
                                        <p:cTn id="13"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Blocks</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Track split into blocks" descr="A straight track split into four blocks, A to D. One train sits in block B, so B is occupied and the other three are free."/>
          <p:cNvGrpSpPr/>
          <p:nvPr/>
        </p:nvGrpSpPr>
        <p:grpSpPr>
          <a:xfrm>
            <a:off x="731520" y="2267712"/>
            <a:ext cx="10698480" cy="2395728"/>
            <a:chOff x="731520" y="2267712"/>
            <a:chExt cx="10698480" cy="2395728"/>
          </a:xfrm>
        </p:grpSpPr>
        <p:grpSp>
          <p:nvGrpSpPr>
            <p:cNvPr id="5" name="Track" descr="Two rails on sleepers."/>
            <p:cNvGrpSpPr/>
            <p:nvPr/>
          </p:nvGrpSpPr>
          <p:grpSpPr>
            <a:xfrm>
              <a:off x="731520" y="3374136"/>
              <a:ext cx="10698480" cy="365760"/>
              <a:chOff x="731520" y="3374136"/>
              <a:chExt cx="10698480" cy="365760"/>
            </a:xfrm>
          </p:grpSpPr>
          <p:sp>
            <p:nvSpPr>
              <p:cNvPr id="6" name="Rectangle 5"/>
              <p:cNvSpPr/>
              <p:nvPr/>
            </p:nvSpPr>
            <p:spPr>
              <a:xfrm>
                <a:off x="932688" y="3374136"/>
                <a:ext cx="54864" cy="365760"/>
              </a:xfrm>
              <a:prstGeom prst="rect">
                <a:avLst/>
              </a:prstGeom>
              <a:solidFill>
                <a:srgbClr val="6B5B4B"/>
              </a:solidFill>
              <a:ln>
                <a:noFill/>
              </a:ln>
            </p:spPr>
            <p:txBody>
              <a:bodyPr rtlCol="0" anchor="ctr"/>
              <a:lstStyle/>
              <a:p>
                <a:pPr algn="ctr"/>
                <a:endParaRPr/>
              </a:p>
            </p:txBody>
          </p:sp>
          <p:sp>
            <p:nvSpPr>
              <p:cNvPr id="7" name="Rectangle 6"/>
              <p:cNvSpPr/>
              <p:nvPr/>
            </p:nvSpPr>
            <p:spPr>
              <a:xfrm>
                <a:off x="1252728" y="3374136"/>
                <a:ext cx="54864" cy="365760"/>
              </a:xfrm>
              <a:prstGeom prst="rect">
                <a:avLst/>
              </a:prstGeom>
              <a:solidFill>
                <a:srgbClr val="6B5B4B"/>
              </a:solidFill>
              <a:ln>
                <a:noFill/>
              </a:ln>
            </p:spPr>
            <p:txBody>
              <a:bodyPr rtlCol="0" anchor="ctr"/>
              <a:lstStyle/>
              <a:p>
                <a:pPr algn="ctr"/>
                <a:endParaRPr/>
              </a:p>
            </p:txBody>
          </p:sp>
          <p:sp>
            <p:nvSpPr>
              <p:cNvPr id="8" name="Rectangle 7"/>
              <p:cNvSpPr/>
              <p:nvPr/>
            </p:nvSpPr>
            <p:spPr>
              <a:xfrm>
                <a:off x="1572768" y="3374136"/>
                <a:ext cx="54864" cy="365760"/>
              </a:xfrm>
              <a:prstGeom prst="rect">
                <a:avLst/>
              </a:prstGeom>
              <a:solidFill>
                <a:srgbClr val="6B5B4B"/>
              </a:solidFill>
              <a:ln>
                <a:noFill/>
              </a:ln>
            </p:spPr>
            <p:txBody>
              <a:bodyPr rtlCol="0" anchor="ctr"/>
              <a:lstStyle/>
              <a:p>
                <a:pPr algn="ctr"/>
                <a:endParaRPr/>
              </a:p>
            </p:txBody>
          </p:sp>
          <p:sp>
            <p:nvSpPr>
              <p:cNvPr id="9" name="Rectangle 8"/>
              <p:cNvSpPr/>
              <p:nvPr/>
            </p:nvSpPr>
            <p:spPr>
              <a:xfrm>
                <a:off x="1892808" y="3374136"/>
                <a:ext cx="54864" cy="365760"/>
              </a:xfrm>
              <a:prstGeom prst="rect">
                <a:avLst/>
              </a:prstGeom>
              <a:solidFill>
                <a:srgbClr val="6B5B4B"/>
              </a:solidFill>
              <a:ln>
                <a:noFill/>
              </a:ln>
            </p:spPr>
            <p:txBody>
              <a:bodyPr rtlCol="0" anchor="ctr"/>
              <a:lstStyle/>
              <a:p>
                <a:pPr algn="ctr"/>
                <a:endParaRPr/>
              </a:p>
            </p:txBody>
          </p:sp>
          <p:sp>
            <p:nvSpPr>
              <p:cNvPr id="10" name="Rectangle 9"/>
              <p:cNvSpPr/>
              <p:nvPr/>
            </p:nvSpPr>
            <p:spPr>
              <a:xfrm>
                <a:off x="2212848" y="3374136"/>
                <a:ext cx="54864" cy="365760"/>
              </a:xfrm>
              <a:prstGeom prst="rect">
                <a:avLst/>
              </a:prstGeom>
              <a:solidFill>
                <a:srgbClr val="6B5B4B"/>
              </a:solidFill>
              <a:ln>
                <a:noFill/>
              </a:ln>
            </p:spPr>
            <p:txBody>
              <a:bodyPr rtlCol="0" anchor="ctr"/>
              <a:lstStyle/>
              <a:p>
                <a:pPr algn="ctr"/>
                <a:endParaRPr/>
              </a:p>
            </p:txBody>
          </p:sp>
          <p:sp>
            <p:nvSpPr>
              <p:cNvPr id="11" name="Rectangle 10"/>
              <p:cNvSpPr/>
              <p:nvPr/>
            </p:nvSpPr>
            <p:spPr>
              <a:xfrm>
                <a:off x="2532888" y="3374136"/>
                <a:ext cx="54864" cy="365760"/>
              </a:xfrm>
              <a:prstGeom prst="rect">
                <a:avLst/>
              </a:prstGeom>
              <a:solidFill>
                <a:srgbClr val="6B5B4B"/>
              </a:solidFill>
              <a:ln>
                <a:noFill/>
              </a:ln>
            </p:spPr>
            <p:txBody>
              <a:bodyPr rtlCol="0" anchor="ctr"/>
              <a:lstStyle/>
              <a:p>
                <a:pPr algn="ctr"/>
                <a:endParaRPr/>
              </a:p>
            </p:txBody>
          </p:sp>
          <p:sp>
            <p:nvSpPr>
              <p:cNvPr id="12" name="Rectangle 11"/>
              <p:cNvSpPr/>
              <p:nvPr/>
            </p:nvSpPr>
            <p:spPr>
              <a:xfrm>
                <a:off x="2852928" y="3374136"/>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3172968" y="3374136"/>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3493008" y="3374136"/>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3813048" y="3374136"/>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4133088" y="3374136"/>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4453128" y="3374136"/>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4773168" y="337413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5093208" y="337413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5413248" y="337413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5733288" y="337413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6053328" y="3374136"/>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6373368" y="3374136"/>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6693408" y="3374136"/>
                <a:ext cx="54864" cy="365760"/>
              </a:xfrm>
              <a:prstGeom prst="rect">
                <a:avLst/>
              </a:prstGeom>
              <a:solidFill>
                <a:srgbClr val="6B5B4B"/>
              </a:solidFill>
              <a:ln>
                <a:noFill/>
              </a:ln>
            </p:spPr>
            <p:txBody>
              <a:bodyPr rtlCol="0" anchor="ctr"/>
              <a:lstStyle/>
              <a:p>
                <a:pPr algn="ctr"/>
                <a:endParaRPr/>
              </a:p>
            </p:txBody>
          </p:sp>
          <p:sp>
            <p:nvSpPr>
              <p:cNvPr id="25" name="Rectangle 24"/>
              <p:cNvSpPr/>
              <p:nvPr/>
            </p:nvSpPr>
            <p:spPr>
              <a:xfrm>
                <a:off x="7013448" y="3374136"/>
                <a:ext cx="54864" cy="365760"/>
              </a:xfrm>
              <a:prstGeom prst="rect">
                <a:avLst/>
              </a:prstGeom>
              <a:solidFill>
                <a:srgbClr val="6B5B4B"/>
              </a:solidFill>
              <a:ln>
                <a:noFill/>
              </a:ln>
            </p:spPr>
            <p:txBody>
              <a:bodyPr rtlCol="0" anchor="ctr"/>
              <a:lstStyle/>
              <a:p>
                <a:pPr algn="ctr"/>
                <a:endParaRPr/>
              </a:p>
            </p:txBody>
          </p:sp>
          <p:sp>
            <p:nvSpPr>
              <p:cNvPr id="26" name="Rectangle 25"/>
              <p:cNvSpPr/>
              <p:nvPr/>
            </p:nvSpPr>
            <p:spPr>
              <a:xfrm>
                <a:off x="7333488" y="3374136"/>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7653528" y="3374136"/>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7973568" y="3374136"/>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8293608" y="3374136"/>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8613648" y="3374136"/>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8933688" y="337413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9253728" y="337413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9573768" y="337413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9893808" y="337413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10213848" y="337413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10533888" y="337413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10853928" y="337413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11173968" y="337413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731520" y="3429000"/>
                <a:ext cx="10698480" cy="54864"/>
              </a:xfrm>
              <a:prstGeom prst="rect">
                <a:avLst/>
              </a:prstGeom>
              <a:solidFill>
                <a:srgbClr val="9AA0A6"/>
              </a:solidFill>
              <a:ln>
                <a:noFill/>
              </a:ln>
            </p:spPr>
            <p:txBody>
              <a:bodyPr rtlCol="0" anchor="ctr"/>
              <a:lstStyle/>
              <a:p>
                <a:pPr algn="ctr"/>
                <a:endParaRPr/>
              </a:p>
            </p:txBody>
          </p:sp>
          <p:sp>
            <p:nvSpPr>
              <p:cNvPr id="40" name="Rectangle 39"/>
              <p:cNvSpPr/>
              <p:nvPr/>
            </p:nvSpPr>
            <p:spPr>
              <a:xfrm>
                <a:off x="731520" y="3685032"/>
                <a:ext cx="10698480" cy="54864"/>
              </a:xfrm>
              <a:prstGeom prst="rect">
                <a:avLst/>
              </a:prstGeom>
              <a:solidFill>
                <a:srgbClr val="9AA0A6"/>
              </a:solidFill>
              <a:ln>
                <a:noFill/>
              </a:ln>
            </p:spPr>
            <p:txBody>
              <a:bodyPr rtlCol="0" anchor="ctr"/>
              <a:lstStyle/>
              <a:p>
                <a:pPr algn="ctr"/>
                <a:endParaRPr/>
              </a:p>
            </p:txBody>
          </p:sp>
        </p:grpSp>
        <p:cxnSp>
          <p:nvCxnSpPr>
            <p:cNvPr id="41" name="Connector 40"/>
            <p:cNvCxnSpPr/>
            <p:nvPr/>
          </p:nvCxnSpPr>
          <p:spPr>
            <a:xfrm>
              <a:off x="3383280" y="2377440"/>
              <a:ext cx="0" cy="2286000"/>
            </a:xfrm>
            <a:prstGeom prst="line">
              <a:avLst/>
            </a:prstGeom>
            <a:ln w="19050">
              <a:solidFill>
                <a:srgbClr val="A9B0B8"/>
              </a:solidFill>
              <a:prstDash val="dash"/>
            </a:ln>
          </p:spPr>
        </p:cxnSp>
        <p:cxnSp>
          <p:nvCxnSpPr>
            <p:cNvPr id="42" name="Connector 41"/>
            <p:cNvCxnSpPr/>
            <p:nvPr/>
          </p:nvCxnSpPr>
          <p:spPr>
            <a:xfrm>
              <a:off x="6126480" y="2377440"/>
              <a:ext cx="0" cy="2286000"/>
            </a:xfrm>
            <a:prstGeom prst="line">
              <a:avLst/>
            </a:prstGeom>
            <a:ln w="19050">
              <a:solidFill>
                <a:srgbClr val="A9B0B8"/>
              </a:solidFill>
              <a:prstDash val="dash"/>
            </a:ln>
          </p:spPr>
        </p:cxnSp>
        <p:cxnSp>
          <p:nvCxnSpPr>
            <p:cNvPr id="43" name="Connector 42"/>
            <p:cNvCxnSpPr/>
            <p:nvPr/>
          </p:nvCxnSpPr>
          <p:spPr>
            <a:xfrm>
              <a:off x="8869680" y="2377440"/>
              <a:ext cx="0" cy="2286000"/>
            </a:xfrm>
            <a:prstGeom prst="line">
              <a:avLst/>
            </a:prstGeom>
            <a:ln w="19050">
              <a:solidFill>
                <a:srgbClr val="A9B0B8"/>
              </a:solidFill>
              <a:prstDash val="dash"/>
            </a:ln>
          </p:spPr>
        </p:cxnSp>
        <p:grpSp>
          <p:nvGrpSpPr>
            <p:cNvPr id="44" name="Train" descr="A steam locomotive with wagons."/>
            <p:cNvGrpSpPr/>
            <p:nvPr/>
          </p:nvGrpSpPr>
          <p:grpSpPr>
            <a:xfrm>
              <a:off x="3703320" y="2713025"/>
              <a:ext cx="2195657" cy="803483"/>
              <a:chOff x="3703320" y="2713025"/>
              <a:chExt cx="2195657" cy="803483"/>
            </a:xfrm>
          </p:grpSpPr>
          <p:sp>
            <p:nvSpPr>
              <p:cNvPr id="45" name="Rounded Rectangle 44"/>
              <p:cNvSpPr/>
              <p:nvPr/>
            </p:nvSpPr>
            <p:spPr>
              <a:xfrm>
                <a:off x="3703320" y="3015325"/>
                <a:ext cx="636422" cy="357988"/>
              </a:xfrm>
              <a:prstGeom prst="roundRect">
                <a:avLst>
                  <a:gd name="adj" fmla="val 7662"/>
                </a:avLst>
              </a:prstGeom>
              <a:solidFill>
                <a:srgbClr val="6C7480"/>
              </a:solidFill>
              <a:ln w="12700">
                <a:solidFill>
                  <a:srgbClr val="9AA0A6"/>
                </a:solidFill>
              </a:ln>
            </p:spPr>
            <p:txBody>
              <a:bodyPr rtlCol="0" anchor="ctr"/>
              <a:lstStyle/>
              <a:p>
                <a:pPr algn="ctr"/>
                <a:endParaRPr/>
              </a:p>
            </p:txBody>
          </p:sp>
          <p:sp>
            <p:nvSpPr>
              <p:cNvPr id="46" name="Oval 45"/>
              <p:cNvSpPr/>
              <p:nvPr/>
            </p:nvSpPr>
            <p:spPr>
              <a:xfrm>
                <a:off x="3763780" y="3349447"/>
                <a:ext cx="159106" cy="159106"/>
              </a:xfrm>
              <a:prstGeom prst="ellipse">
                <a:avLst/>
              </a:prstGeom>
              <a:solidFill>
                <a:srgbClr val="1B1D21"/>
              </a:solidFill>
              <a:ln w="12700">
                <a:solidFill>
                  <a:srgbClr val="9AA0A6"/>
                </a:solidFill>
              </a:ln>
            </p:spPr>
            <p:txBody>
              <a:bodyPr rtlCol="0" anchor="ctr"/>
              <a:lstStyle/>
              <a:p>
                <a:pPr algn="ctr"/>
                <a:endParaRPr/>
              </a:p>
            </p:txBody>
          </p:sp>
          <p:sp>
            <p:nvSpPr>
              <p:cNvPr id="47" name="Oval 46"/>
              <p:cNvSpPr/>
              <p:nvPr/>
            </p:nvSpPr>
            <p:spPr>
              <a:xfrm>
                <a:off x="4120177" y="3349447"/>
                <a:ext cx="159106" cy="159106"/>
              </a:xfrm>
              <a:prstGeom prst="ellipse">
                <a:avLst/>
              </a:prstGeom>
              <a:solidFill>
                <a:srgbClr val="1B1D21"/>
              </a:solidFill>
              <a:ln w="12700">
                <a:solidFill>
                  <a:srgbClr val="9AA0A6"/>
                </a:solidFill>
              </a:ln>
            </p:spPr>
            <p:txBody>
              <a:bodyPr rtlCol="0" anchor="ctr"/>
              <a:lstStyle/>
              <a:p>
                <a:pPr algn="ctr"/>
                <a:endParaRPr/>
              </a:p>
            </p:txBody>
          </p:sp>
          <p:sp>
            <p:nvSpPr>
              <p:cNvPr id="48" name="Rounded Rectangle 47"/>
              <p:cNvSpPr/>
              <p:nvPr/>
            </p:nvSpPr>
            <p:spPr>
              <a:xfrm>
                <a:off x="4403385" y="3015325"/>
                <a:ext cx="636422" cy="357988"/>
              </a:xfrm>
              <a:prstGeom prst="roundRect">
                <a:avLst>
                  <a:gd name="adj" fmla="val 7662"/>
                </a:avLst>
              </a:prstGeom>
              <a:solidFill>
                <a:srgbClr val="6C7480"/>
              </a:solidFill>
              <a:ln w="12700">
                <a:solidFill>
                  <a:srgbClr val="9AA0A6"/>
                </a:solidFill>
              </a:ln>
            </p:spPr>
            <p:txBody>
              <a:bodyPr rtlCol="0" anchor="ctr"/>
              <a:lstStyle/>
              <a:p>
                <a:pPr algn="ctr"/>
                <a:endParaRPr/>
              </a:p>
            </p:txBody>
          </p:sp>
          <p:sp>
            <p:nvSpPr>
              <p:cNvPr id="49" name="Oval 48"/>
              <p:cNvSpPr/>
              <p:nvPr/>
            </p:nvSpPr>
            <p:spPr>
              <a:xfrm>
                <a:off x="4463845" y="3349447"/>
                <a:ext cx="159106" cy="159106"/>
              </a:xfrm>
              <a:prstGeom prst="ellipse">
                <a:avLst/>
              </a:prstGeom>
              <a:solidFill>
                <a:srgbClr val="1B1D21"/>
              </a:solidFill>
              <a:ln w="12700">
                <a:solidFill>
                  <a:srgbClr val="9AA0A6"/>
                </a:solidFill>
              </a:ln>
            </p:spPr>
            <p:txBody>
              <a:bodyPr rtlCol="0" anchor="ctr"/>
              <a:lstStyle/>
              <a:p>
                <a:pPr algn="ctr"/>
                <a:endParaRPr/>
              </a:p>
            </p:txBody>
          </p:sp>
          <p:sp>
            <p:nvSpPr>
              <p:cNvPr id="50" name="Oval 49"/>
              <p:cNvSpPr/>
              <p:nvPr/>
            </p:nvSpPr>
            <p:spPr>
              <a:xfrm>
                <a:off x="4820241" y="3349447"/>
                <a:ext cx="159106" cy="159106"/>
              </a:xfrm>
              <a:prstGeom prst="ellipse">
                <a:avLst/>
              </a:prstGeom>
              <a:solidFill>
                <a:srgbClr val="1B1D21"/>
              </a:solidFill>
              <a:ln w="12700">
                <a:solidFill>
                  <a:srgbClr val="9AA0A6"/>
                </a:solidFill>
              </a:ln>
            </p:spPr>
            <p:txBody>
              <a:bodyPr rtlCol="0" anchor="ctr"/>
              <a:lstStyle/>
              <a:p>
                <a:pPr algn="ctr"/>
                <a:endParaRPr/>
              </a:p>
            </p:txBody>
          </p:sp>
          <p:sp>
            <p:nvSpPr>
              <p:cNvPr id="51" name="Rounded Rectangle 50"/>
              <p:cNvSpPr/>
              <p:nvPr/>
            </p:nvSpPr>
            <p:spPr>
              <a:xfrm>
                <a:off x="5103449" y="2935773"/>
                <a:ext cx="795528" cy="437540"/>
              </a:xfrm>
              <a:prstGeom prst="roundRect">
                <a:avLst>
                  <a:gd name="adj" fmla="val 16718"/>
                </a:avLst>
              </a:prstGeom>
              <a:solidFill>
                <a:srgbClr val="F28C28"/>
              </a:solidFill>
              <a:ln>
                <a:noFill/>
              </a:ln>
            </p:spPr>
            <p:txBody>
              <a:bodyPr rtlCol="0" anchor="ctr"/>
              <a:lstStyle/>
              <a:p>
                <a:pPr algn="ctr"/>
                <a:endParaRPr/>
              </a:p>
            </p:txBody>
          </p:sp>
          <p:sp>
            <p:nvSpPr>
              <p:cNvPr id="52" name="Rectangle 51"/>
              <p:cNvSpPr/>
              <p:nvPr/>
            </p:nvSpPr>
            <p:spPr>
              <a:xfrm>
                <a:off x="5660319" y="2713025"/>
                <a:ext cx="119329" cy="238658"/>
              </a:xfrm>
              <a:prstGeom prst="rect">
                <a:avLst/>
              </a:prstGeom>
              <a:solidFill>
                <a:srgbClr val="1B1D21"/>
              </a:solidFill>
              <a:ln w="12700">
                <a:solidFill>
                  <a:srgbClr val="6B7078"/>
                </a:solidFill>
              </a:ln>
            </p:spPr>
            <p:txBody>
              <a:bodyPr rtlCol="0" anchor="ctr"/>
              <a:lstStyle/>
              <a:p>
                <a:pPr algn="ctr"/>
                <a:endParaRPr/>
              </a:p>
            </p:txBody>
          </p:sp>
          <p:sp>
            <p:nvSpPr>
              <p:cNvPr id="53" name="Rectangle 52"/>
              <p:cNvSpPr/>
              <p:nvPr/>
            </p:nvSpPr>
            <p:spPr>
              <a:xfrm>
                <a:off x="5143226" y="2951683"/>
                <a:ext cx="222748" cy="238658"/>
              </a:xfrm>
              <a:prstGeom prst="rect">
                <a:avLst/>
              </a:prstGeom>
              <a:solidFill>
                <a:srgbClr val="1B1D21"/>
              </a:solidFill>
              <a:ln w="12700">
                <a:solidFill>
                  <a:srgbClr val="6B7078"/>
                </a:solidFill>
              </a:ln>
            </p:spPr>
            <p:txBody>
              <a:bodyPr rtlCol="0" anchor="ctr"/>
              <a:lstStyle/>
              <a:p>
                <a:pPr algn="ctr"/>
                <a:endParaRPr/>
              </a:p>
            </p:txBody>
          </p:sp>
          <p:sp>
            <p:nvSpPr>
              <p:cNvPr id="54" name="Oval 53"/>
              <p:cNvSpPr/>
              <p:nvPr/>
            </p:nvSpPr>
            <p:spPr>
              <a:xfrm>
                <a:off x="5175047" y="3341492"/>
                <a:ext cx="175016" cy="175016"/>
              </a:xfrm>
              <a:prstGeom prst="ellipse">
                <a:avLst/>
              </a:prstGeom>
              <a:solidFill>
                <a:srgbClr val="1B1D21"/>
              </a:solidFill>
              <a:ln w="12700">
                <a:solidFill>
                  <a:srgbClr val="9AA0A6"/>
                </a:solidFill>
              </a:ln>
            </p:spPr>
            <p:txBody>
              <a:bodyPr rtlCol="0" anchor="ctr"/>
              <a:lstStyle/>
              <a:p>
                <a:pPr algn="ctr"/>
                <a:endParaRPr/>
              </a:p>
            </p:txBody>
          </p:sp>
          <p:sp>
            <p:nvSpPr>
              <p:cNvPr id="55" name="Oval 54"/>
              <p:cNvSpPr/>
              <p:nvPr/>
            </p:nvSpPr>
            <p:spPr>
              <a:xfrm>
                <a:off x="5413705" y="3341492"/>
                <a:ext cx="175016" cy="175016"/>
              </a:xfrm>
              <a:prstGeom prst="ellipse">
                <a:avLst/>
              </a:prstGeom>
              <a:solidFill>
                <a:srgbClr val="1B1D21"/>
              </a:solidFill>
              <a:ln w="12700">
                <a:solidFill>
                  <a:srgbClr val="9AA0A6"/>
                </a:solidFill>
              </a:ln>
            </p:spPr>
            <p:txBody>
              <a:bodyPr rtlCol="0" anchor="ctr"/>
              <a:lstStyle/>
              <a:p>
                <a:pPr algn="ctr"/>
                <a:endParaRPr/>
              </a:p>
            </p:txBody>
          </p:sp>
          <p:sp>
            <p:nvSpPr>
              <p:cNvPr id="56" name="Oval 55"/>
              <p:cNvSpPr/>
              <p:nvPr/>
            </p:nvSpPr>
            <p:spPr>
              <a:xfrm>
                <a:off x="5652364" y="3341492"/>
                <a:ext cx="175016" cy="175016"/>
              </a:xfrm>
              <a:prstGeom prst="ellipse">
                <a:avLst/>
              </a:prstGeom>
              <a:solidFill>
                <a:srgbClr val="1B1D21"/>
              </a:solidFill>
              <a:ln w="12700">
                <a:solidFill>
                  <a:srgbClr val="9AA0A6"/>
                </a:solidFill>
              </a:ln>
            </p:spPr>
            <p:txBody>
              <a:bodyPr rtlCol="0" anchor="ctr"/>
              <a:lstStyle/>
              <a:p>
                <a:pPr algn="ctr"/>
                <a:endParaRPr/>
              </a:p>
            </p:txBody>
          </p:sp>
        </p:grpSp>
        <p:grpSp>
          <p:nvGrpSpPr>
            <p:cNvPr id="57" name="Dimension line" descr="A dimension line labelled One block."/>
            <p:cNvGrpSpPr/>
            <p:nvPr/>
          </p:nvGrpSpPr>
          <p:grpSpPr>
            <a:xfrm>
              <a:off x="6126480" y="2267712"/>
              <a:ext cx="2743200" cy="493776"/>
              <a:chOff x="6126480" y="2267712"/>
              <a:chExt cx="2743200" cy="493776"/>
            </a:xfrm>
          </p:grpSpPr>
          <p:cxnSp>
            <p:nvCxnSpPr>
              <p:cNvPr id="58" name="Connector 57"/>
              <p:cNvCxnSpPr/>
              <p:nvPr/>
            </p:nvCxnSpPr>
            <p:spPr>
              <a:xfrm>
                <a:off x="6126480" y="2651760"/>
                <a:ext cx="2743200" cy="0"/>
              </a:xfrm>
              <a:prstGeom prst="line">
                <a:avLst/>
              </a:prstGeom>
              <a:ln w="19050">
                <a:solidFill>
                  <a:srgbClr val="9AA0A6"/>
                </a:solidFill>
                <a:headEnd type="triangle" w="med" len="med"/>
                <a:tailEnd type="triangle" w="med" len="med"/>
              </a:ln>
            </p:spPr>
          </p:cxnSp>
          <p:cxnSp>
            <p:nvCxnSpPr>
              <p:cNvPr id="59" name="Connector 58"/>
              <p:cNvCxnSpPr/>
              <p:nvPr/>
            </p:nvCxnSpPr>
            <p:spPr>
              <a:xfrm>
                <a:off x="6126480" y="2542032"/>
                <a:ext cx="0" cy="219456"/>
              </a:xfrm>
              <a:prstGeom prst="line">
                <a:avLst/>
              </a:prstGeom>
              <a:ln w="19050">
                <a:solidFill>
                  <a:srgbClr val="9AA0A6"/>
                </a:solidFill>
              </a:ln>
            </p:spPr>
          </p:cxnSp>
          <p:cxnSp>
            <p:nvCxnSpPr>
              <p:cNvPr id="60" name="Connector 59"/>
              <p:cNvCxnSpPr/>
              <p:nvPr/>
            </p:nvCxnSpPr>
            <p:spPr>
              <a:xfrm>
                <a:off x="8869680" y="2542032"/>
                <a:ext cx="0" cy="219456"/>
              </a:xfrm>
              <a:prstGeom prst="line">
                <a:avLst/>
              </a:prstGeom>
              <a:ln w="19050">
                <a:solidFill>
                  <a:srgbClr val="9AA0A6"/>
                </a:solidFill>
              </a:ln>
            </p:spPr>
          </p:cxnSp>
          <p:sp>
            <p:nvSpPr>
              <p:cNvPr id="61" name="TextBox 60"/>
              <p:cNvSpPr txBox="1"/>
              <p:nvPr/>
            </p:nvSpPr>
            <p:spPr>
              <a:xfrm>
                <a:off x="6126480" y="2267712"/>
                <a:ext cx="2743200" cy="292608"/>
              </a:xfrm>
              <a:prstGeom prst="rect">
                <a:avLst/>
              </a:prstGeom>
              <a:noFill/>
            </p:spPr>
            <p:txBody>
              <a:bodyPr wrap="square" lIns="18288" tIns="18288" rIns="18288" bIns="18288" anchor="ctr">
                <a:noAutofit/>
              </a:bodyPr>
              <a:lstStyle/>
              <a:p>
                <a:pPr algn="ctr"/>
                <a:r>
                  <a:rPr lang="en-GB" sz="1600" b="1" i="0">
                    <a:solidFill>
                      <a:srgbClr val="F2F2F2"/>
                    </a:solidFill>
                    <a:latin typeface="Arial"/>
                  </a:rPr>
                  <a:t>One block</a:t>
                </a:r>
              </a:p>
            </p:txBody>
          </p:sp>
        </p:grpSp>
        <p:sp>
          <p:nvSpPr>
            <p:cNvPr id="62" name="Block band (free)"/>
            <p:cNvSpPr/>
            <p:nvPr/>
          </p:nvSpPr>
          <p:spPr>
            <a:xfrm>
              <a:off x="768096" y="4069080"/>
              <a:ext cx="257860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800" b="1" i="0">
                  <a:solidFill>
                    <a:srgbClr val="F2F2F2"/>
                  </a:solidFill>
                  <a:latin typeface="Arial"/>
                </a:rPr>
                <a:t>A: Free</a:t>
              </a:r>
            </a:p>
          </p:txBody>
        </p:sp>
        <p:sp>
          <p:nvSpPr>
            <p:cNvPr id="63" name="Block band (occupied)"/>
            <p:cNvSpPr/>
            <p:nvPr/>
          </p:nvSpPr>
          <p:spPr>
            <a:xfrm>
              <a:off x="3419856" y="4069080"/>
              <a:ext cx="2670048" cy="365760"/>
            </a:xfrm>
            <a:prstGeom prst="rect">
              <a:avLst/>
            </a:prstGeom>
            <a:solidFill>
              <a:srgbClr val="E5484D">
                <a:alpha val="25000"/>
              </a:srgbClr>
            </a:solidFill>
            <a:ln w="12700">
              <a:solidFill>
                <a:srgbClr val="E5484D"/>
              </a:solidFill>
            </a:ln>
          </p:spPr>
          <p:txBody>
            <a:bodyPr wrap="square" lIns="27432" tIns="0" rIns="27432" bIns="0" rtlCol="0" anchor="ctr">
              <a:noAutofit/>
            </a:bodyPr>
            <a:lstStyle/>
            <a:p>
              <a:pPr algn="ctr"/>
              <a:r>
                <a:rPr lang="en-GB" sz="1800" b="1" i="0">
                  <a:solidFill>
                    <a:srgbClr val="F2F2F2"/>
                  </a:solidFill>
                  <a:latin typeface="Arial"/>
                </a:rPr>
                <a:t>B: Occupied</a:t>
              </a:r>
            </a:p>
          </p:txBody>
        </p:sp>
        <p:sp>
          <p:nvSpPr>
            <p:cNvPr id="64" name="Block band (free)"/>
            <p:cNvSpPr/>
            <p:nvPr/>
          </p:nvSpPr>
          <p:spPr>
            <a:xfrm>
              <a:off x="6163056" y="4069080"/>
              <a:ext cx="267004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800" b="1" i="0">
                  <a:solidFill>
                    <a:srgbClr val="F2F2F2"/>
                  </a:solidFill>
                  <a:latin typeface="Arial"/>
                </a:rPr>
                <a:t>C: Free</a:t>
              </a:r>
            </a:p>
          </p:txBody>
        </p:sp>
        <p:sp>
          <p:nvSpPr>
            <p:cNvPr id="65" name="Block band (free)"/>
            <p:cNvSpPr/>
            <p:nvPr/>
          </p:nvSpPr>
          <p:spPr>
            <a:xfrm>
              <a:off x="8906256" y="4069080"/>
              <a:ext cx="248716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800" b="1" i="0">
                  <a:solidFill>
                    <a:srgbClr val="F2F2F2"/>
                  </a:solidFill>
                  <a:latin typeface="Arial"/>
                </a:rPr>
                <a:t>D: Free</a:t>
              </a:r>
            </a:p>
          </p:txBody>
        </p:sp>
      </p:grpSp>
      <p:sp>
        <p:nvSpPr>
          <p:cNvPr id="66"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Split the track into blocks. Keep one train in each block.</a:t>
            </a:r>
          </a:p>
        </p:txBody>
      </p:sp>
      <p:sp>
        <p:nvSpPr>
          <p:cNvPr id="67"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68"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4</a:t>
            </a:r>
          </a:p>
        </p:txBody>
      </p:sp>
    </p:spTree>
    <p:extLst>
      <p:ext uri="{BB962C8B-B14F-4D97-AF65-F5344CB8AC3E}">
        <p14:creationId xmlns:p14="http://schemas.microsoft.com/office/powerpoint/2010/main" val="906057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6"/>
                                        </p:tgtEl>
                                        <p:attrNameLst>
                                          <p:attrName>style.visibility</p:attrName>
                                        </p:attrNameLst>
                                      </p:cBhvr>
                                      <p:to>
                                        <p:strVal val="visible"/>
                                      </p:to>
                                    </p:set>
                                    <p:animEffect transition="in" filter="fade">
                                      <p:cBhvr>
                                        <p:cTn id="10" dur="500"/>
                                        <p:tgtEl>
                                          <p:spTgt spid="66"/>
                                        </p:tgtEl>
                                      </p:cBhvr>
                                    </p:animEffect>
                                  </p:childTnLst>
                                </p:cTn>
                              </p:par>
                              <p:par>
                                <p:cTn id="11" presetID="10" presetClass="entr" presetSubtype="0" fill="hold" nodeType="withEffect">
                                  <p:stCondLst>
                                    <p:cond delay="600"/>
                                  </p:stCondLst>
                                  <p:childTnLst>
                                    <p:set>
                                      <p:cBhvr>
                                        <p:cTn id="12" dur="1" fill="hold">
                                          <p:stCondLst>
                                            <p:cond delay="0"/>
                                          </p:stCondLst>
                                        </p:cTn>
                                        <p:tgtEl>
                                          <p:spTgt spid="67"/>
                                        </p:tgtEl>
                                        <p:attrNameLst>
                                          <p:attrName>style.visibility</p:attrName>
                                        </p:attrNameLst>
                                      </p:cBhvr>
                                      <p:to>
                                        <p:strVal val="visible"/>
                                      </p:to>
                                    </p:set>
                                    <p:animEffect transition="in" filter="fade">
                                      <p:cBhvr>
                                        <p:cTn id="13"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Signals guard the blocks</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Blocks and signals" descr="Four blocks, A to D, with three signals. The signal before occupied block B shows stop; the other two show clear. A second train in block A waits."/>
          <p:cNvGrpSpPr/>
          <p:nvPr/>
        </p:nvGrpSpPr>
        <p:grpSpPr>
          <a:xfrm>
            <a:off x="731520" y="1828800"/>
            <a:ext cx="10698480" cy="3657600"/>
            <a:chOff x="731520" y="1828800"/>
            <a:chExt cx="10698480" cy="3657600"/>
          </a:xfrm>
        </p:grpSpPr>
        <p:grpSp>
          <p:nvGrpSpPr>
            <p:cNvPr id="5" name="Track" descr="Two rails on sleepers."/>
            <p:cNvGrpSpPr/>
            <p:nvPr/>
          </p:nvGrpSpPr>
          <p:grpSpPr>
            <a:xfrm>
              <a:off x="731520" y="3374136"/>
              <a:ext cx="10698480" cy="365760"/>
              <a:chOff x="731520" y="3374136"/>
              <a:chExt cx="10698480" cy="365760"/>
            </a:xfrm>
          </p:grpSpPr>
          <p:sp>
            <p:nvSpPr>
              <p:cNvPr id="6" name="Rectangle 5"/>
              <p:cNvSpPr/>
              <p:nvPr/>
            </p:nvSpPr>
            <p:spPr>
              <a:xfrm>
                <a:off x="932688" y="3374136"/>
                <a:ext cx="54864" cy="365760"/>
              </a:xfrm>
              <a:prstGeom prst="rect">
                <a:avLst/>
              </a:prstGeom>
              <a:solidFill>
                <a:srgbClr val="6B5B4B"/>
              </a:solidFill>
              <a:ln>
                <a:noFill/>
              </a:ln>
            </p:spPr>
            <p:txBody>
              <a:bodyPr rtlCol="0" anchor="ctr"/>
              <a:lstStyle/>
              <a:p>
                <a:pPr algn="ctr"/>
                <a:endParaRPr/>
              </a:p>
            </p:txBody>
          </p:sp>
          <p:sp>
            <p:nvSpPr>
              <p:cNvPr id="7" name="Rectangle 6"/>
              <p:cNvSpPr/>
              <p:nvPr/>
            </p:nvSpPr>
            <p:spPr>
              <a:xfrm>
                <a:off x="1252728" y="3374136"/>
                <a:ext cx="54864" cy="365760"/>
              </a:xfrm>
              <a:prstGeom prst="rect">
                <a:avLst/>
              </a:prstGeom>
              <a:solidFill>
                <a:srgbClr val="6B5B4B"/>
              </a:solidFill>
              <a:ln>
                <a:noFill/>
              </a:ln>
            </p:spPr>
            <p:txBody>
              <a:bodyPr rtlCol="0" anchor="ctr"/>
              <a:lstStyle/>
              <a:p>
                <a:pPr algn="ctr"/>
                <a:endParaRPr/>
              </a:p>
            </p:txBody>
          </p:sp>
          <p:sp>
            <p:nvSpPr>
              <p:cNvPr id="8" name="Rectangle 7"/>
              <p:cNvSpPr/>
              <p:nvPr/>
            </p:nvSpPr>
            <p:spPr>
              <a:xfrm>
                <a:off x="1572768" y="3374136"/>
                <a:ext cx="54864" cy="365760"/>
              </a:xfrm>
              <a:prstGeom prst="rect">
                <a:avLst/>
              </a:prstGeom>
              <a:solidFill>
                <a:srgbClr val="6B5B4B"/>
              </a:solidFill>
              <a:ln>
                <a:noFill/>
              </a:ln>
            </p:spPr>
            <p:txBody>
              <a:bodyPr rtlCol="0" anchor="ctr"/>
              <a:lstStyle/>
              <a:p>
                <a:pPr algn="ctr"/>
                <a:endParaRPr/>
              </a:p>
            </p:txBody>
          </p:sp>
          <p:sp>
            <p:nvSpPr>
              <p:cNvPr id="9" name="Rectangle 8"/>
              <p:cNvSpPr/>
              <p:nvPr/>
            </p:nvSpPr>
            <p:spPr>
              <a:xfrm>
                <a:off x="1892808" y="3374136"/>
                <a:ext cx="54864" cy="365760"/>
              </a:xfrm>
              <a:prstGeom prst="rect">
                <a:avLst/>
              </a:prstGeom>
              <a:solidFill>
                <a:srgbClr val="6B5B4B"/>
              </a:solidFill>
              <a:ln>
                <a:noFill/>
              </a:ln>
            </p:spPr>
            <p:txBody>
              <a:bodyPr rtlCol="0" anchor="ctr"/>
              <a:lstStyle/>
              <a:p>
                <a:pPr algn="ctr"/>
                <a:endParaRPr/>
              </a:p>
            </p:txBody>
          </p:sp>
          <p:sp>
            <p:nvSpPr>
              <p:cNvPr id="10" name="Rectangle 9"/>
              <p:cNvSpPr/>
              <p:nvPr/>
            </p:nvSpPr>
            <p:spPr>
              <a:xfrm>
                <a:off x="2212848" y="3374136"/>
                <a:ext cx="54864" cy="365760"/>
              </a:xfrm>
              <a:prstGeom prst="rect">
                <a:avLst/>
              </a:prstGeom>
              <a:solidFill>
                <a:srgbClr val="6B5B4B"/>
              </a:solidFill>
              <a:ln>
                <a:noFill/>
              </a:ln>
            </p:spPr>
            <p:txBody>
              <a:bodyPr rtlCol="0" anchor="ctr"/>
              <a:lstStyle/>
              <a:p>
                <a:pPr algn="ctr"/>
                <a:endParaRPr/>
              </a:p>
            </p:txBody>
          </p:sp>
          <p:sp>
            <p:nvSpPr>
              <p:cNvPr id="11" name="Rectangle 10"/>
              <p:cNvSpPr/>
              <p:nvPr/>
            </p:nvSpPr>
            <p:spPr>
              <a:xfrm>
                <a:off x="2532888" y="3374136"/>
                <a:ext cx="54864" cy="365760"/>
              </a:xfrm>
              <a:prstGeom prst="rect">
                <a:avLst/>
              </a:prstGeom>
              <a:solidFill>
                <a:srgbClr val="6B5B4B"/>
              </a:solidFill>
              <a:ln>
                <a:noFill/>
              </a:ln>
            </p:spPr>
            <p:txBody>
              <a:bodyPr rtlCol="0" anchor="ctr"/>
              <a:lstStyle/>
              <a:p>
                <a:pPr algn="ctr"/>
                <a:endParaRPr/>
              </a:p>
            </p:txBody>
          </p:sp>
          <p:sp>
            <p:nvSpPr>
              <p:cNvPr id="12" name="Rectangle 11"/>
              <p:cNvSpPr/>
              <p:nvPr/>
            </p:nvSpPr>
            <p:spPr>
              <a:xfrm>
                <a:off x="2852928" y="3374136"/>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3172968" y="3374136"/>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3493008" y="3374136"/>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3813048" y="3374136"/>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4133088" y="3374136"/>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4453128" y="3374136"/>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4773168" y="337413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5093208" y="337413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5413248" y="337413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5733288" y="337413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6053328" y="3374136"/>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6373368" y="3374136"/>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6693408" y="3374136"/>
                <a:ext cx="54864" cy="365760"/>
              </a:xfrm>
              <a:prstGeom prst="rect">
                <a:avLst/>
              </a:prstGeom>
              <a:solidFill>
                <a:srgbClr val="6B5B4B"/>
              </a:solidFill>
              <a:ln>
                <a:noFill/>
              </a:ln>
            </p:spPr>
            <p:txBody>
              <a:bodyPr rtlCol="0" anchor="ctr"/>
              <a:lstStyle/>
              <a:p>
                <a:pPr algn="ctr"/>
                <a:endParaRPr/>
              </a:p>
            </p:txBody>
          </p:sp>
          <p:sp>
            <p:nvSpPr>
              <p:cNvPr id="25" name="Rectangle 24"/>
              <p:cNvSpPr/>
              <p:nvPr/>
            </p:nvSpPr>
            <p:spPr>
              <a:xfrm>
                <a:off x="7013448" y="3374136"/>
                <a:ext cx="54864" cy="365760"/>
              </a:xfrm>
              <a:prstGeom prst="rect">
                <a:avLst/>
              </a:prstGeom>
              <a:solidFill>
                <a:srgbClr val="6B5B4B"/>
              </a:solidFill>
              <a:ln>
                <a:noFill/>
              </a:ln>
            </p:spPr>
            <p:txBody>
              <a:bodyPr rtlCol="0" anchor="ctr"/>
              <a:lstStyle/>
              <a:p>
                <a:pPr algn="ctr"/>
                <a:endParaRPr/>
              </a:p>
            </p:txBody>
          </p:sp>
          <p:sp>
            <p:nvSpPr>
              <p:cNvPr id="26" name="Rectangle 25"/>
              <p:cNvSpPr/>
              <p:nvPr/>
            </p:nvSpPr>
            <p:spPr>
              <a:xfrm>
                <a:off x="7333488" y="3374136"/>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7653528" y="3374136"/>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7973568" y="3374136"/>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8293608" y="3374136"/>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8613648" y="3374136"/>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8933688" y="337413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9253728" y="337413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9573768" y="337413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9893808" y="337413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10213848" y="337413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10533888" y="337413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10853928" y="337413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11173968" y="337413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731520" y="3429000"/>
                <a:ext cx="10698480" cy="54864"/>
              </a:xfrm>
              <a:prstGeom prst="rect">
                <a:avLst/>
              </a:prstGeom>
              <a:solidFill>
                <a:srgbClr val="9AA0A6"/>
              </a:solidFill>
              <a:ln>
                <a:noFill/>
              </a:ln>
            </p:spPr>
            <p:txBody>
              <a:bodyPr rtlCol="0" anchor="ctr"/>
              <a:lstStyle/>
              <a:p>
                <a:pPr algn="ctr"/>
                <a:endParaRPr/>
              </a:p>
            </p:txBody>
          </p:sp>
          <p:sp>
            <p:nvSpPr>
              <p:cNvPr id="40" name="Rectangle 39"/>
              <p:cNvSpPr/>
              <p:nvPr/>
            </p:nvSpPr>
            <p:spPr>
              <a:xfrm>
                <a:off x="731520" y="3685032"/>
                <a:ext cx="10698480" cy="54864"/>
              </a:xfrm>
              <a:prstGeom prst="rect">
                <a:avLst/>
              </a:prstGeom>
              <a:solidFill>
                <a:srgbClr val="9AA0A6"/>
              </a:solidFill>
              <a:ln>
                <a:noFill/>
              </a:ln>
            </p:spPr>
            <p:txBody>
              <a:bodyPr rtlCol="0" anchor="ctr"/>
              <a:lstStyle/>
              <a:p>
                <a:pPr algn="ctr"/>
                <a:endParaRPr/>
              </a:p>
            </p:txBody>
          </p:sp>
        </p:grpSp>
        <p:sp>
          <p:nvSpPr>
            <p:cNvPr id="41" name="Block band (free)"/>
            <p:cNvSpPr/>
            <p:nvPr/>
          </p:nvSpPr>
          <p:spPr>
            <a:xfrm>
              <a:off x="768096" y="4069080"/>
              <a:ext cx="257860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800" b="1" i="0">
                  <a:solidFill>
                    <a:srgbClr val="F2F2F2"/>
                  </a:solidFill>
                  <a:latin typeface="Arial"/>
                </a:rPr>
                <a:t>A: Free</a:t>
              </a:r>
            </a:p>
          </p:txBody>
        </p:sp>
        <p:sp>
          <p:nvSpPr>
            <p:cNvPr id="42" name="Block band (occupied)"/>
            <p:cNvSpPr/>
            <p:nvPr/>
          </p:nvSpPr>
          <p:spPr>
            <a:xfrm>
              <a:off x="3419856" y="4069080"/>
              <a:ext cx="2670048" cy="365760"/>
            </a:xfrm>
            <a:prstGeom prst="rect">
              <a:avLst/>
            </a:prstGeom>
            <a:solidFill>
              <a:srgbClr val="E5484D">
                <a:alpha val="25000"/>
              </a:srgbClr>
            </a:solidFill>
            <a:ln w="12700">
              <a:solidFill>
                <a:srgbClr val="E5484D"/>
              </a:solidFill>
            </a:ln>
          </p:spPr>
          <p:txBody>
            <a:bodyPr wrap="square" lIns="27432" tIns="0" rIns="27432" bIns="0" rtlCol="0" anchor="ctr">
              <a:noAutofit/>
            </a:bodyPr>
            <a:lstStyle/>
            <a:p>
              <a:pPr algn="ctr"/>
              <a:r>
                <a:rPr lang="en-GB" sz="1800" b="1" i="0">
                  <a:solidFill>
                    <a:srgbClr val="F2F2F2"/>
                  </a:solidFill>
                  <a:latin typeface="Arial"/>
                </a:rPr>
                <a:t>B: Occupied</a:t>
              </a:r>
            </a:p>
          </p:txBody>
        </p:sp>
        <p:sp>
          <p:nvSpPr>
            <p:cNvPr id="43" name="Block band (free)"/>
            <p:cNvSpPr/>
            <p:nvPr/>
          </p:nvSpPr>
          <p:spPr>
            <a:xfrm>
              <a:off x="6163056" y="4069080"/>
              <a:ext cx="267004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800" b="1" i="0">
                  <a:solidFill>
                    <a:srgbClr val="F2F2F2"/>
                  </a:solidFill>
                  <a:latin typeface="Arial"/>
                </a:rPr>
                <a:t>C: Free</a:t>
              </a:r>
            </a:p>
          </p:txBody>
        </p:sp>
        <p:sp>
          <p:nvSpPr>
            <p:cNvPr id="44" name="Block band (free)"/>
            <p:cNvSpPr/>
            <p:nvPr/>
          </p:nvSpPr>
          <p:spPr>
            <a:xfrm>
              <a:off x="8906256" y="4069080"/>
              <a:ext cx="248716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800" b="1" i="0">
                  <a:solidFill>
                    <a:srgbClr val="F2F2F2"/>
                  </a:solidFill>
                  <a:latin typeface="Arial"/>
                </a:rPr>
                <a:t>D: Free</a:t>
              </a:r>
            </a:p>
          </p:txBody>
        </p:sp>
        <p:grpSp>
          <p:nvGrpSpPr>
            <p:cNvPr id="45" name="Train" descr="A steam locomotive with wagons."/>
            <p:cNvGrpSpPr/>
            <p:nvPr/>
          </p:nvGrpSpPr>
          <p:grpSpPr>
            <a:xfrm>
              <a:off x="3749040" y="2713025"/>
              <a:ext cx="2195657" cy="803483"/>
              <a:chOff x="3749040" y="2713025"/>
              <a:chExt cx="2195657" cy="803483"/>
            </a:xfrm>
          </p:grpSpPr>
          <p:sp>
            <p:nvSpPr>
              <p:cNvPr id="46" name="Rounded Rectangle 45"/>
              <p:cNvSpPr/>
              <p:nvPr/>
            </p:nvSpPr>
            <p:spPr>
              <a:xfrm>
                <a:off x="3749040" y="3015325"/>
                <a:ext cx="636422" cy="357988"/>
              </a:xfrm>
              <a:prstGeom prst="roundRect">
                <a:avLst>
                  <a:gd name="adj" fmla="val 7662"/>
                </a:avLst>
              </a:prstGeom>
              <a:solidFill>
                <a:srgbClr val="6C7480"/>
              </a:solidFill>
              <a:ln w="12700">
                <a:solidFill>
                  <a:srgbClr val="9AA0A6"/>
                </a:solidFill>
              </a:ln>
            </p:spPr>
            <p:txBody>
              <a:bodyPr rtlCol="0" anchor="ctr"/>
              <a:lstStyle/>
              <a:p>
                <a:pPr algn="ctr"/>
                <a:endParaRPr/>
              </a:p>
            </p:txBody>
          </p:sp>
          <p:sp>
            <p:nvSpPr>
              <p:cNvPr id="47" name="Oval 46"/>
              <p:cNvSpPr/>
              <p:nvPr/>
            </p:nvSpPr>
            <p:spPr>
              <a:xfrm>
                <a:off x="3809500" y="3349447"/>
                <a:ext cx="159106" cy="159106"/>
              </a:xfrm>
              <a:prstGeom prst="ellipse">
                <a:avLst/>
              </a:prstGeom>
              <a:solidFill>
                <a:srgbClr val="1B1D21"/>
              </a:solidFill>
              <a:ln w="12700">
                <a:solidFill>
                  <a:srgbClr val="9AA0A6"/>
                </a:solidFill>
              </a:ln>
            </p:spPr>
            <p:txBody>
              <a:bodyPr rtlCol="0" anchor="ctr"/>
              <a:lstStyle/>
              <a:p>
                <a:pPr algn="ctr"/>
                <a:endParaRPr/>
              </a:p>
            </p:txBody>
          </p:sp>
          <p:sp>
            <p:nvSpPr>
              <p:cNvPr id="48" name="Oval 47"/>
              <p:cNvSpPr/>
              <p:nvPr/>
            </p:nvSpPr>
            <p:spPr>
              <a:xfrm>
                <a:off x="4165897" y="3349447"/>
                <a:ext cx="159106" cy="159106"/>
              </a:xfrm>
              <a:prstGeom prst="ellipse">
                <a:avLst/>
              </a:prstGeom>
              <a:solidFill>
                <a:srgbClr val="1B1D21"/>
              </a:solidFill>
              <a:ln w="12700">
                <a:solidFill>
                  <a:srgbClr val="9AA0A6"/>
                </a:solidFill>
              </a:ln>
            </p:spPr>
            <p:txBody>
              <a:bodyPr rtlCol="0" anchor="ctr"/>
              <a:lstStyle/>
              <a:p>
                <a:pPr algn="ctr"/>
                <a:endParaRPr/>
              </a:p>
            </p:txBody>
          </p:sp>
          <p:sp>
            <p:nvSpPr>
              <p:cNvPr id="49" name="Rounded Rectangle 48"/>
              <p:cNvSpPr/>
              <p:nvPr/>
            </p:nvSpPr>
            <p:spPr>
              <a:xfrm>
                <a:off x="4449105" y="3015325"/>
                <a:ext cx="636422" cy="357988"/>
              </a:xfrm>
              <a:prstGeom prst="roundRect">
                <a:avLst>
                  <a:gd name="adj" fmla="val 7662"/>
                </a:avLst>
              </a:prstGeom>
              <a:solidFill>
                <a:srgbClr val="6C7480"/>
              </a:solidFill>
              <a:ln w="12700">
                <a:solidFill>
                  <a:srgbClr val="9AA0A6"/>
                </a:solidFill>
              </a:ln>
            </p:spPr>
            <p:txBody>
              <a:bodyPr rtlCol="0" anchor="ctr"/>
              <a:lstStyle/>
              <a:p>
                <a:pPr algn="ctr"/>
                <a:endParaRPr/>
              </a:p>
            </p:txBody>
          </p:sp>
          <p:sp>
            <p:nvSpPr>
              <p:cNvPr id="50" name="Oval 49"/>
              <p:cNvSpPr/>
              <p:nvPr/>
            </p:nvSpPr>
            <p:spPr>
              <a:xfrm>
                <a:off x="4509565" y="3349447"/>
                <a:ext cx="159106" cy="159106"/>
              </a:xfrm>
              <a:prstGeom prst="ellipse">
                <a:avLst/>
              </a:prstGeom>
              <a:solidFill>
                <a:srgbClr val="1B1D21"/>
              </a:solidFill>
              <a:ln w="12700">
                <a:solidFill>
                  <a:srgbClr val="9AA0A6"/>
                </a:solidFill>
              </a:ln>
            </p:spPr>
            <p:txBody>
              <a:bodyPr rtlCol="0" anchor="ctr"/>
              <a:lstStyle/>
              <a:p>
                <a:pPr algn="ctr"/>
                <a:endParaRPr/>
              </a:p>
            </p:txBody>
          </p:sp>
          <p:sp>
            <p:nvSpPr>
              <p:cNvPr id="51" name="Oval 50"/>
              <p:cNvSpPr/>
              <p:nvPr/>
            </p:nvSpPr>
            <p:spPr>
              <a:xfrm>
                <a:off x="4865961" y="3349447"/>
                <a:ext cx="159106" cy="159106"/>
              </a:xfrm>
              <a:prstGeom prst="ellipse">
                <a:avLst/>
              </a:prstGeom>
              <a:solidFill>
                <a:srgbClr val="1B1D21"/>
              </a:solidFill>
              <a:ln w="12700">
                <a:solidFill>
                  <a:srgbClr val="9AA0A6"/>
                </a:solidFill>
              </a:ln>
            </p:spPr>
            <p:txBody>
              <a:bodyPr rtlCol="0" anchor="ctr"/>
              <a:lstStyle/>
              <a:p>
                <a:pPr algn="ctr"/>
                <a:endParaRPr/>
              </a:p>
            </p:txBody>
          </p:sp>
          <p:sp>
            <p:nvSpPr>
              <p:cNvPr id="52" name="Rounded Rectangle 51"/>
              <p:cNvSpPr/>
              <p:nvPr/>
            </p:nvSpPr>
            <p:spPr>
              <a:xfrm>
                <a:off x="5149169" y="2935773"/>
                <a:ext cx="795528" cy="437540"/>
              </a:xfrm>
              <a:prstGeom prst="roundRect">
                <a:avLst>
                  <a:gd name="adj" fmla="val 16718"/>
                </a:avLst>
              </a:prstGeom>
              <a:solidFill>
                <a:srgbClr val="F28C28"/>
              </a:solidFill>
              <a:ln>
                <a:noFill/>
              </a:ln>
            </p:spPr>
            <p:txBody>
              <a:bodyPr rtlCol="0" anchor="ctr"/>
              <a:lstStyle/>
              <a:p>
                <a:pPr algn="ctr"/>
                <a:endParaRPr/>
              </a:p>
            </p:txBody>
          </p:sp>
          <p:sp>
            <p:nvSpPr>
              <p:cNvPr id="53" name="Rectangle 52"/>
              <p:cNvSpPr/>
              <p:nvPr/>
            </p:nvSpPr>
            <p:spPr>
              <a:xfrm>
                <a:off x="5706039" y="2713025"/>
                <a:ext cx="119329" cy="238658"/>
              </a:xfrm>
              <a:prstGeom prst="rect">
                <a:avLst/>
              </a:prstGeom>
              <a:solidFill>
                <a:srgbClr val="1B1D21"/>
              </a:solidFill>
              <a:ln w="12700">
                <a:solidFill>
                  <a:srgbClr val="6B7078"/>
                </a:solidFill>
              </a:ln>
            </p:spPr>
            <p:txBody>
              <a:bodyPr rtlCol="0" anchor="ctr"/>
              <a:lstStyle/>
              <a:p>
                <a:pPr algn="ctr"/>
                <a:endParaRPr/>
              </a:p>
            </p:txBody>
          </p:sp>
          <p:sp>
            <p:nvSpPr>
              <p:cNvPr id="54" name="Rectangle 53"/>
              <p:cNvSpPr/>
              <p:nvPr/>
            </p:nvSpPr>
            <p:spPr>
              <a:xfrm>
                <a:off x="5188946" y="2951683"/>
                <a:ext cx="222748" cy="238658"/>
              </a:xfrm>
              <a:prstGeom prst="rect">
                <a:avLst/>
              </a:prstGeom>
              <a:solidFill>
                <a:srgbClr val="1B1D21"/>
              </a:solidFill>
              <a:ln w="12700">
                <a:solidFill>
                  <a:srgbClr val="6B7078"/>
                </a:solidFill>
              </a:ln>
            </p:spPr>
            <p:txBody>
              <a:bodyPr rtlCol="0" anchor="ctr"/>
              <a:lstStyle/>
              <a:p>
                <a:pPr algn="ctr"/>
                <a:endParaRPr/>
              </a:p>
            </p:txBody>
          </p:sp>
          <p:sp>
            <p:nvSpPr>
              <p:cNvPr id="55" name="Oval 54"/>
              <p:cNvSpPr/>
              <p:nvPr/>
            </p:nvSpPr>
            <p:spPr>
              <a:xfrm>
                <a:off x="5220767" y="3341492"/>
                <a:ext cx="175016" cy="175016"/>
              </a:xfrm>
              <a:prstGeom prst="ellipse">
                <a:avLst/>
              </a:prstGeom>
              <a:solidFill>
                <a:srgbClr val="1B1D21"/>
              </a:solidFill>
              <a:ln w="12700">
                <a:solidFill>
                  <a:srgbClr val="9AA0A6"/>
                </a:solidFill>
              </a:ln>
            </p:spPr>
            <p:txBody>
              <a:bodyPr rtlCol="0" anchor="ctr"/>
              <a:lstStyle/>
              <a:p>
                <a:pPr algn="ctr"/>
                <a:endParaRPr/>
              </a:p>
            </p:txBody>
          </p:sp>
          <p:sp>
            <p:nvSpPr>
              <p:cNvPr id="56" name="Oval 55"/>
              <p:cNvSpPr/>
              <p:nvPr/>
            </p:nvSpPr>
            <p:spPr>
              <a:xfrm>
                <a:off x="5459425" y="3341492"/>
                <a:ext cx="175016" cy="175016"/>
              </a:xfrm>
              <a:prstGeom prst="ellipse">
                <a:avLst/>
              </a:prstGeom>
              <a:solidFill>
                <a:srgbClr val="1B1D21"/>
              </a:solidFill>
              <a:ln w="12700">
                <a:solidFill>
                  <a:srgbClr val="9AA0A6"/>
                </a:solidFill>
              </a:ln>
            </p:spPr>
            <p:txBody>
              <a:bodyPr rtlCol="0" anchor="ctr"/>
              <a:lstStyle/>
              <a:p>
                <a:pPr algn="ctr"/>
                <a:endParaRPr/>
              </a:p>
            </p:txBody>
          </p:sp>
          <p:sp>
            <p:nvSpPr>
              <p:cNvPr id="57" name="Oval 56"/>
              <p:cNvSpPr/>
              <p:nvPr/>
            </p:nvSpPr>
            <p:spPr>
              <a:xfrm>
                <a:off x="5698084" y="3341492"/>
                <a:ext cx="175016" cy="175016"/>
              </a:xfrm>
              <a:prstGeom prst="ellipse">
                <a:avLst/>
              </a:prstGeom>
              <a:solidFill>
                <a:srgbClr val="1B1D21"/>
              </a:solidFill>
              <a:ln w="12700">
                <a:solidFill>
                  <a:srgbClr val="9AA0A6"/>
                </a:solidFill>
              </a:ln>
            </p:spPr>
            <p:txBody>
              <a:bodyPr rtlCol="0" anchor="ctr"/>
              <a:lstStyle/>
              <a:p>
                <a:pPr algn="ctr"/>
                <a:endParaRPr/>
              </a:p>
            </p:txBody>
          </p:sp>
        </p:grpSp>
        <p:grpSp>
          <p:nvGrpSpPr>
            <p:cNvPr id="58" name="Train" descr="A steam locomotive with wagons."/>
            <p:cNvGrpSpPr/>
            <p:nvPr/>
          </p:nvGrpSpPr>
          <p:grpSpPr>
            <a:xfrm>
              <a:off x="1005840" y="2852928"/>
              <a:ext cx="1766621" cy="646481"/>
              <a:chOff x="1005840" y="2852928"/>
              <a:chExt cx="1766621" cy="646481"/>
            </a:xfrm>
          </p:grpSpPr>
          <p:sp>
            <p:nvSpPr>
              <p:cNvPr id="59" name="Rounded Rectangle 58"/>
              <p:cNvSpPr/>
              <p:nvPr/>
            </p:nvSpPr>
            <p:spPr>
              <a:xfrm>
                <a:off x="1005840" y="3096158"/>
                <a:ext cx="512064" cy="288036"/>
              </a:xfrm>
              <a:prstGeom prst="roundRect">
                <a:avLst>
                  <a:gd name="adj" fmla="val 9523"/>
                </a:avLst>
              </a:prstGeom>
              <a:solidFill>
                <a:srgbClr val="6C7480"/>
              </a:solidFill>
              <a:ln w="12700">
                <a:solidFill>
                  <a:srgbClr val="9AA0A6"/>
                </a:solidFill>
              </a:ln>
            </p:spPr>
            <p:txBody>
              <a:bodyPr rtlCol="0" anchor="ctr"/>
              <a:lstStyle/>
              <a:p>
                <a:pPr algn="ctr"/>
                <a:endParaRPr/>
              </a:p>
            </p:txBody>
          </p:sp>
          <p:sp>
            <p:nvSpPr>
              <p:cNvPr id="60" name="Oval 59"/>
              <p:cNvSpPr/>
              <p:nvPr/>
            </p:nvSpPr>
            <p:spPr>
              <a:xfrm>
                <a:off x="1054486" y="3364992"/>
                <a:ext cx="128016" cy="128016"/>
              </a:xfrm>
              <a:prstGeom prst="ellipse">
                <a:avLst/>
              </a:prstGeom>
              <a:solidFill>
                <a:srgbClr val="1B1D21"/>
              </a:solidFill>
              <a:ln w="12700">
                <a:solidFill>
                  <a:srgbClr val="9AA0A6"/>
                </a:solidFill>
              </a:ln>
            </p:spPr>
            <p:txBody>
              <a:bodyPr rtlCol="0" anchor="ctr"/>
              <a:lstStyle/>
              <a:p>
                <a:pPr algn="ctr"/>
                <a:endParaRPr/>
              </a:p>
            </p:txBody>
          </p:sp>
          <p:sp>
            <p:nvSpPr>
              <p:cNvPr id="61" name="Oval 60"/>
              <p:cNvSpPr/>
              <p:nvPr/>
            </p:nvSpPr>
            <p:spPr>
              <a:xfrm>
                <a:off x="1341242" y="3364992"/>
                <a:ext cx="128016" cy="128016"/>
              </a:xfrm>
              <a:prstGeom prst="ellipse">
                <a:avLst/>
              </a:prstGeom>
              <a:solidFill>
                <a:srgbClr val="1B1D21"/>
              </a:solidFill>
              <a:ln w="12700">
                <a:solidFill>
                  <a:srgbClr val="9AA0A6"/>
                </a:solidFill>
              </a:ln>
            </p:spPr>
            <p:txBody>
              <a:bodyPr rtlCol="0" anchor="ctr"/>
              <a:lstStyle/>
              <a:p>
                <a:pPr algn="ctr"/>
                <a:endParaRPr/>
              </a:p>
            </p:txBody>
          </p:sp>
          <p:sp>
            <p:nvSpPr>
              <p:cNvPr id="62" name="Rounded Rectangle 61"/>
              <p:cNvSpPr/>
              <p:nvPr/>
            </p:nvSpPr>
            <p:spPr>
              <a:xfrm>
                <a:off x="1569110" y="3096158"/>
                <a:ext cx="512064" cy="288036"/>
              </a:xfrm>
              <a:prstGeom prst="roundRect">
                <a:avLst>
                  <a:gd name="adj" fmla="val 9523"/>
                </a:avLst>
              </a:prstGeom>
              <a:solidFill>
                <a:srgbClr val="6C7480"/>
              </a:solidFill>
              <a:ln w="12700">
                <a:solidFill>
                  <a:srgbClr val="9AA0A6"/>
                </a:solidFill>
              </a:ln>
            </p:spPr>
            <p:txBody>
              <a:bodyPr rtlCol="0" anchor="ctr"/>
              <a:lstStyle/>
              <a:p>
                <a:pPr algn="ctr"/>
                <a:endParaRPr/>
              </a:p>
            </p:txBody>
          </p:sp>
          <p:sp>
            <p:nvSpPr>
              <p:cNvPr id="63" name="Oval 62"/>
              <p:cNvSpPr/>
              <p:nvPr/>
            </p:nvSpPr>
            <p:spPr>
              <a:xfrm>
                <a:off x="1617756" y="3364992"/>
                <a:ext cx="128016" cy="128016"/>
              </a:xfrm>
              <a:prstGeom prst="ellipse">
                <a:avLst/>
              </a:prstGeom>
              <a:solidFill>
                <a:srgbClr val="1B1D21"/>
              </a:solidFill>
              <a:ln w="12700">
                <a:solidFill>
                  <a:srgbClr val="9AA0A6"/>
                </a:solidFill>
              </a:ln>
            </p:spPr>
            <p:txBody>
              <a:bodyPr rtlCol="0" anchor="ctr"/>
              <a:lstStyle/>
              <a:p>
                <a:pPr algn="ctr"/>
                <a:endParaRPr/>
              </a:p>
            </p:txBody>
          </p:sp>
          <p:sp>
            <p:nvSpPr>
              <p:cNvPr id="64" name="Oval 63"/>
              <p:cNvSpPr/>
              <p:nvPr/>
            </p:nvSpPr>
            <p:spPr>
              <a:xfrm>
                <a:off x="1904512" y="3364992"/>
                <a:ext cx="128016" cy="128016"/>
              </a:xfrm>
              <a:prstGeom prst="ellipse">
                <a:avLst/>
              </a:prstGeom>
              <a:solidFill>
                <a:srgbClr val="1B1D21"/>
              </a:solidFill>
              <a:ln w="12700">
                <a:solidFill>
                  <a:srgbClr val="9AA0A6"/>
                </a:solidFill>
              </a:ln>
            </p:spPr>
            <p:txBody>
              <a:bodyPr rtlCol="0" anchor="ctr"/>
              <a:lstStyle/>
              <a:p>
                <a:pPr algn="ctr"/>
                <a:endParaRPr/>
              </a:p>
            </p:txBody>
          </p:sp>
          <p:sp>
            <p:nvSpPr>
              <p:cNvPr id="65" name="Rounded Rectangle 64"/>
              <p:cNvSpPr/>
              <p:nvPr/>
            </p:nvSpPr>
            <p:spPr>
              <a:xfrm>
                <a:off x="2132381" y="3032150"/>
                <a:ext cx="640080" cy="352044"/>
              </a:xfrm>
              <a:prstGeom prst="roundRect">
                <a:avLst>
                  <a:gd name="adj" fmla="val 20779"/>
                </a:avLst>
              </a:prstGeom>
              <a:solidFill>
                <a:srgbClr val="F28C28"/>
              </a:solidFill>
              <a:ln>
                <a:noFill/>
              </a:ln>
            </p:spPr>
            <p:txBody>
              <a:bodyPr rtlCol="0" anchor="ctr"/>
              <a:lstStyle/>
              <a:p>
                <a:pPr algn="ctr"/>
                <a:endParaRPr/>
              </a:p>
            </p:txBody>
          </p:sp>
          <p:sp>
            <p:nvSpPr>
              <p:cNvPr id="66" name="Rectangle 65"/>
              <p:cNvSpPr/>
              <p:nvPr/>
            </p:nvSpPr>
            <p:spPr>
              <a:xfrm>
                <a:off x="2580437" y="2852928"/>
                <a:ext cx="96012" cy="192024"/>
              </a:xfrm>
              <a:prstGeom prst="rect">
                <a:avLst/>
              </a:prstGeom>
              <a:solidFill>
                <a:srgbClr val="1B1D21"/>
              </a:solidFill>
              <a:ln w="12700">
                <a:solidFill>
                  <a:srgbClr val="6B7078"/>
                </a:solidFill>
              </a:ln>
            </p:spPr>
            <p:txBody>
              <a:bodyPr rtlCol="0" anchor="ctr"/>
              <a:lstStyle/>
              <a:p>
                <a:pPr algn="ctr"/>
                <a:endParaRPr/>
              </a:p>
            </p:txBody>
          </p:sp>
          <p:sp>
            <p:nvSpPr>
              <p:cNvPr id="67" name="Rectangle 66"/>
              <p:cNvSpPr/>
              <p:nvPr/>
            </p:nvSpPr>
            <p:spPr>
              <a:xfrm>
                <a:off x="2164385" y="3044952"/>
                <a:ext cx="179222" cy="192024"/>
              </a:xfrm>
              <a:prstGeom prst="rect">
                <a:avLst/>
              </a:prstGeom>
              <a:solidFill>
                <a:srgbClr val="1B1D21"/>
              </a:solidFill>
              <a:ln w="12700">
                <a:solidFill>
                  <a:srgbClr val="6B7078"/>
                </a:solidFill>
              </a:ln>
            </p:spPr>
            <p:txBody>
              <a:bodyPr rtlCol="0" anchor="ctr"/>
              <a:lstStyle/>
              <a:p>
                <a:pPr algn="ctr"/>
                <a:endParaRPr/>
              </a:p>
            </p:txBody>
          </p:sp>
          <p:sp>
            <p:nvSpPr>
              <p:cNvPr id="68" name="Oval 67"/>
              <p:cNvSpPr/>
              <p:nvPr/>
            </p:nvSpPr>
            <p:spPr>
              <a:xfrm>
                <a:off x="2189988" y="3358591"/>
                <a:ext cx="140818" cy="140818"/>
              </a:xfrm>
              <a:prstGeom prst="ellipse">
                <a:avLst/>
              </a:prstGeom>
              <a:solidFill>
                <a:srgbClr val="1B1D21"/>
              </a:solidFill>
              <a:ln w="12700">
                <a:solidFill>
                  <a:srgbClr val="9AA0A6"/>
                </a:solidFill>
              </a:ln>
            </p:spPr>
            <p:txBody>
              <a:bodyPr rtlCol="0" anchor="ctr"/>
              <a:lstStyle/>
              <a:p>
                <a:pPr algn="ctr"/>
                <a:endParaRPr/>
              </a:p>
            </p:txBody>
          </p:sp>
          <p:sp>
            <p:nvSpPr>
              <p:cNvPr id="69" name="Oval 68"/>
              <p:cNvSpPr/>
              <p:nvPr/>
            </p:nvSpPr>
            <p:spPr>
              <a:xfrm>
                <a:off x="2382012" y="3358591"/>
                <a:ext cx="140818" cy="140818"/>
              </a:xfrm>
              <a:prstGeom prst="ellipse">
                <a:avLst/>
              </a:prstGeom>
              <a:solidFill>
                <a:srgbClr val="1B1D21"/>
              </a:solidFill>
              <a:ln w="12700">
                <a:solidFill>
                  <a:srgbClr val="9AA0A6"/>
                </a:solidFill>
              </a:ln>
            </p:spPr>
            <p:txBody>
              <a:bodyPr rtlCol="0" anchor="ctr"/>
              <a:lstStyle/>
              <a:p>
                <a:pPr algn="ctr"/>
                <a:endParaRPr/>
              </a:p>
            </p:txBody>
          </p:sp>
          <p:sp>
            <p:nvSpPr>
              <p:cNvPr id="70" name="Oval 69"/>
              <p:cNvSpPr/>
              <p:nvPr/>
            </p:nvSpPr>
            <p:spPr>
              <a:xfrm>
                <a:off x="2574036" y="3358591"/>
                <a:ext cx="140818" cy="140818"/>
              </a:xfrm>
              <a:prstGeom prst="ellipse">
                <a:avLst/>
              </a:prstGeom>
              <a:solidFill>
                <a:srgbClr val="1B1D21"/>
              </a:solidFill>
              <a:ln w="12700">
                <a:solidFill>
                  <a:srgbClr val="9AA0A6"/>
                </a:solidFill>
              </a:ln>
            </p:spPr>
            <p:txBody>
              <a:bodyPr rtlCol="0" anchor="ctr"/>
              <a:lstStyle/>
              <a:p>
                <a:pPr algn="ctr"/>
                <a:endParaRPr/>
              </a:p>
            </p:txBody>
          </p:sp>
        </p:grpSp>
        <p:grpSp>
          <p:nvGrpSpPr>
            <p:cNvPr id="71" name="Signal (stop, stop)" descr="A semaphore signal post with its arm flat (stop)."/>
            <p:cNvGrpSpPr/>
            <p:nvPr/>
          </p:nvGrpSpPr>
          <p:grpSpPr>
            <a:xfrm>
              <a:off x="3113532" y="2734056"/>
              <a:ext cx="909828" cy="1005840"/>
              <a:chOff x="3113532" y="2734056"/>
              <a:chExt cx="909828" cy="1005840"/>
            </a:xfrm>
          </p:grpSpPr>
          <p:sp>
            <p:nvSpPr>
              <p:cNvPr id="72" name="Rectangle 71"/>
              <p:cNvSpPr/>
              <p:nvPr/>
            </p:nvSpPr>
            <p:spPr>
              <a:xfrm>
                <a:off x="3246120" y="3666744"/>
                <a:ext cx="274320" cy="73152"/>
              </a:xfrm>
              <a:prstGeom prst="rect">
                <a:avLst/>
              </a:prstGeom>
              <a:solidFill>
                <a:srgbClr val="9AA0A6"/>
              </a:solidFill>
              <a:ln>
                <a:noFill/>
              </a:ln>
            </p:spPr>
            <p:txBody>
              <a:bodyPr rtlCol="0" anchor="ctr"/>
              <a:lstStyle/>
              <a:p>
                <a:pPr algn="ctr"/>
                <a:endParaRPr/>
              </a:p>
            </p:txBody>
          </p:sp>
          <p:sp>
            <p:nvSpPr>
              <p:cNvPr id="73" name="Rectangle 72"/>
              <p:cNvSpPr/>
              <p:nvPr/>
            </p:nvSpPr>
            <p:spPr>
              <a:xfrm>
                <a:off x="3328416" y="2734056"/>
                <a:ext cx="109728" cy="932688"/>
              </a:xfrm>
              <a:prstGeom prst="rect">
                <a:avLst/>
              </a:prstGeom>
              <a:solidFill>
                <a:srgbClr val="E8E8E8"/>
              </a:solidFill>
              <a:ln>
                <a:noFill/>
              </a:ln>
            </p:spPr>
            <p:txBody>
              <a:bodyPr rtlCol="0" anchor="ctr"/>
              <a:lstStyle/>
              <a:p>
                <a:pPr algn="ctr"/>
                <a:endParaRPr/>
              </a:p>
            </p:txBody>
          </p:sp>
          <p:sp>
            <p:nvSpPr>
              <p:cNvPr id="74" name="Freeform 73"/>
              <p:cNvSpPr/>
              <p:nvPr/>
            </p:nvSpPr>
            <p:spPr>
              <a:xfrm>
                <a:off x="3383280" y="2761488"/>
                <a:ext cx="640080" cy="128016"/>
              </a:xfrm>
              <a:custGeom>
                <a:avLst/>
                <a:gdLst/>
                <a:ahLst/>
                <a:cxnLst/>
                <a:rect l="l" t="t" r="r" b="b"/>
                <a:pathLst>
                  <a:path w="640080" h="128016">
                    <a:moveTo>
                      <a:pt x="0" y="0"/>
                    </a:moveTo>
                    <a:lnTo>
                      <a:pt x="640080" y="0"/>
                    </a:lnTo>
                    <a:lnTo>
                      <a:pt x="640080" y="128016"/>
                    </a:lnTo>
                    <a:lnTo>
                      <a:pt x="0" y="128016"/>
                    </a:lnTo>
                    <a:close/>
                  </a:path>
                </a:pathLst>
              </a:custGeom>
              <a:solidFill>
                <a:srgbClr val="E5484D"/>
              </a:solidFill>
              <a:ln>
                <a:noFill/>
              </a:ln>
            </p:spPr>
            <p:txBody>
              <a:bodyPr rtlCol="0" anchor="ctr"/>
              <a:lstStyle/>
              <a:p>
                <a:pPr algn="ctr"/>
                <a:endParaRPr/>
              </a:p>
            </p:txBody>
          </p:sp>
          <p:sp>
            <p:nvSpPr>
              <p:cNvPr id="75" name="Freeform 74"/>
              <p:cNvSpPr/>
              <p:nvPr/>
            </p:nvSpPr>
            <p:spPr>
              <a:xfrm>
                <a:off x="3703320" y="2761488"/>
                <a:ext cx="100584" cy="128016"/>
              </a:xfrm>
              <a:custGeom>
                <a:avLst/>
                <a:gdLst/>
                <a:ahLst/>
                <a:cxnLst/>
                <a:rect l="l" t="t" r="r" b="b"/>
                <a:pathLst>
                  <a:path w="100584" h="128016">
                    <a:moveTo>
                      <a:pt x="0" y="0"/>
                    </a:moveTo>
                    <a:lnTo>
                      <a:pt x="100584" y="0"/>
                    </a:lnTo>
                    <a:lnTo>
                      <a:pt x="100584" y="128016"/>
                    </a:lnTo>
                    <a:lnTo>
                      <a:pt x="0" y="128016"/>
                    </a:lnTo>
                    <a:close/>
                  </a:path>
                </a:pathLst>
              </a:custGeom>
              <a:solidFill>
                <a:srgbClr val="FFFFFF"/>
              </a:solidFill>
              <a:ln>
                <a:noFill/>
              </a:ln>
            </p:spPr>
            <p:txBody>
              <a:bodyPr rtlCol="0" anchor="ctr"/>
              <a:lstStyle/>
              <a:p>
                <a:pPr algn="ctr"/>
                <a:endParaRPr/>
              </a:p>
            </p:txBody>
          </p:sp>
          <p:sp>
            <p:nvSpPr>
              <p:cNvPr id="76" name="Oval 75"/>
              <p:cNvSpPr/>
              <p:nvPr/>
            </p:nvSpPr>
            <p:spPr>
              <a:xfrm>
                <a:off x="3337560" y="2779776"/>
                <a:ext cx="91440" cy="91440"/>
              </a:xfrm>
              <a:prstGeom prst="ellipse">
                <a:avLst/>
              </a:prstGeom>
              <a:solidFill>
                <a:srgbClr val="1B1D21"/>
              </a:solidFill>
              <a:ln w="9525">
                <a:solidFill>
                  <a:srgbClr val="FFFFFF"/>
                </a:solidFill>
              </a:ln>
            </p:spPr>
            <p:txBody>
              <a:bodyPr rtlCol="0" anchor="ctr"/>
              <a:lstStyle/>
              <a:p>
                <a:pPr algn="ctr"/>
                <a:endParaRPr/>
              </a:p>
            </p:txBody>
          </p:sp>
          <p:sp>
            <p:nvSpPr>
              <p:cNvPr id="77" name="Oval 76"/>
              <p:cNvSpPr/>
              <p:nvPr/>
            </p:nvSpPr>
            <p:spPr>
              <a:xfrm>
                <a:off x="3113532" y="2738628"/>
                <a:ext cx="173736" cy="173736"/>
              </a:xfrm>
              <a:prstGeom prst="ellipse">
                <a:avLst/>
              </a:prstGeom>
              <a:solidFill>
                <a:srgbClr val="E5484D"/>
              </a:solidFill>
              <a:ln w="12700">
                <a:solidFill>
                  <a:srgbClr val="FFFFFF"/>
                </a:solidFill>
              </a:ln>
            </p:spPr>
            <p:txBody>
              <a:bodyPr rtlCol="0" anchor="ctr"/>
              <a:lstStyle/>
              <a:p>
                <a:pPr algn="ctr"/>
                <a:endParaRPr/>
              </a:p>
            </p:txBody>
          </p:sp>
        </p:grpSp>
        <p:sp>
          <p:nvSpPr>
            <p:cNvPr id="78" name="TextBox 77"/>
            <p:cNvSpPr txBox="1"/>
            <p:nvPr/>
          </p:nvSpPr>
          <p:spPr>
            <a:xfrm>
              <a:off x="2743200" y="1828800"/>
              <a:ext cx="1280160" cy="365760"/>
            </a:xfrm>
            <a:prstGeom prst="rect">
              <a:avLst/>
            </a:prstGeom>
            <a:noFill/>
          </p:spPr>
          <p:txBody>
            <a:bodyPr wrap="square" lIns="18288" tIns="18288" rIns="18288" bIns="18288" anchor="ctr">
              <a:noAutofit/>
            </a:bodyPr>
            <a:lstStyle/>
            <a:p>
              <a:pPr algn="ctr"/>
              <a:r>
                <a:rPr lang="en-GB" sz="1800" b="1" i="0">
                  <a:solidFill>
                    <a:srgbClr val="FF7A7E"/>
                  </a:solidFill>
                  <a:latin typeface="Arial"/>
                </a:rPr>
                <a:t>STOP</a:t>
              </a:r>
            </a:p>
          </p:txBody>
        </p:sp>
        <p:grpSp>
          <p:nvGrpSpPr>
            <p:cNvPr id="79" name="Signal (stop, clear)" descr="A semaphore signal post with its arm raised (clear)."/>
            <p:cNvGrpSpPr/>
            <p:nvPr/>
          </p:nvGrpSpPr>
          <p:grpSpPr>
            <a:xfrm>
              <a:off x="5856732" y="2327631"/>
              <a:ext cx="767613" cy="1412265"/>
              <a:chOff x="5856732" y="2327631"/>
              <a:chExt cx="767613" cy="1412265"/>
            </a:xfrm>
          </p:grpSpPr>
          <p:sp>
            <p:nvSpPr>
              <p:cNvPr id="80" name="Rectangle 79"/>
              <p:cNvSpPr/>
              <p:nvPr/>
            </p:nvSpPr>
            <p:spPr>
              <a:xfrm>
                <a:off x="5989320" y="3666744"/>
                <a:ext cx="274320" cy="73152"/>
              </a:xfrm>
              <a:prstGeom prst="rect">
                <a:avLst/>
              </a:prstGeom>
              <a:solidFill>
                <a:srgbClr val="9AA0A6"/>
              </a:solidFill>
              <a:ln>
                <a:noFill/>
              </a:ln>
            </p:spPr>
            <p:txBody>
              <a:bodyPr rtlCol="0" anchor="ctr"/>
              <a:lstStyle/>
              <a:p>
                <a:pPr algn="ctr"/>
                <a:endParaRPr/>
              </a:p>
            </p:txBody>
          </p:sp>
          <p:sp>
            <p:nvSpPr>
              <p:cNvPr id="81" name="Rectangle 80"/>
              <p:cNvSpPr/>
              <p:nvPr/>
            </p:nvSpPr>
            <p:spPr>
              <a:xfrm>
                <a:off x="6071616" y="2734056"/>
                <a:ext cx="109728" cy="932688"/>
              </a:xfrm>
              <a:prstGeom prst="rect">
                <a:avLst/>
              </a:prstGeom>
              <a:solidFill>
                <a:srgbClr val="E8E8E8"/>
              </a:solidFill>
              <a:ln>
                <a:noFill/>
              </a:ln>
            </p:spPr>
            <p:txBody>
              <a:bodyPr rtlCol="0" anchor="ctr"/>
              <a:lstStyle/>
              <a:p>
                <a:pPr algn="ctr"/>
                <a:endParaRPr/>
              </a:p>
            </p:txBody>
          </p:sp>
          <p:sp>
            <p:nvSpPr>
              <p:cNvPr id="82" name="Freeform 81"/>
              <p:cNvSpPr/>
              <p:nvPr/>
            </p:nvSpPr>
            <p:spPr>
              <a:xfrm>
                <a:off x="6081220" y="2327631"/>
                <a:ext cx="543125" cy="543125"/>
              </a:xfrm>
              <a:custGeom>
                <a:avLst/>
                <a:gdLst/>
                <a:ahLst/>
                <a:cxnLst/>
                <a:rect l="l" t="t" r="r" b="b"/>
                <a:pathLst>
                  <a:path w="543125" h="543125">
                    <a:moveTo>
                      <a:pt x="0" y="452605"/>
                    </a:moveTo>
                    <a:lnTo>
                      <a:pt x="452604" y="0"/>
                    </a:lnTo>
                    <a:lnTo>
                      <a:pt x="543125" y="90521"/>
                    </a:lnTo>
                    <a:lnTo>
                      <a:pt x="90520" y="543125"/>
                    </a:lnTo>
                    <a:close/>
                  </a:path>
                </a:pathLst>
              </a:custGeom>
              <a:solidFill>
                <a:srgbClr val="E5484D"/>
              </a:solidFill>
              <a:ln>
                <a:noFill/>
              </a:ln>
            </p:spPr>
            <p:txBody>
              <a:bodyPr rtlCol="0" anchor="ctr"/>
              <a:lstStyle/>
              <a:p>
                <a:pPr algn="ctr"/>
                <a:endParaRPr/>
              </a:p>
            </p:txBody>
          </p:sp>
          <p:sp>
            <p:nvSpPr>
              <p:cNvPr id="83" name="Freeform 82"/>
              <p:cNvSpPr/>
              <p:nvPr/>
            </p:nvSpPr>
            <p:spPr>
              <a:xfrm>
                <a:off x="6307522" y="2482809"/>
                <a:ext cx="161645" cy="161645"/>
              </a:xfrm>
              <a:custGeom>
                <a:avLst/>
                <a:gdLst/>
                <a:ahLst/>
                <a:cxnLst/>
                <a:rect l="l" t="t" r="r" b="b"/>
                <a:pathLst>
                  <a:path w="161645" h="161645">
                    <a:moveTo>
                      <a:pt x="0" y="71124"/>
                    </a:moveTo>
                    <a:lnTo>
                      <a:pt x="71124" y="0"/>
                    </a:lnTo>
                    <a:lnTo>
                      <a:pt x="161645" y="90521"/>
                    </a:lnTo>
                    <a:lnTo>
                      <a:pt x="90521" y="161645"/>
                    </a:lnTo>
                    <a:close/>
                  </a:path>
                </a:pathLst>
              </a:custGeom>
              <a:solidFill>
                <a:srgbClr val="FFFFFF"/>
              </a:solidFill>
              <a:ln>
                <a:noFill/>
              </a:ln>
            </p:spPr>
            <p:txBody>
              <a:bodyPr rtlCol="0" anchor="ctr"/>
              <a:lstStyle/>
              <a:p>
                <a:pPr algn="ctr"/>
                <a:endParaRPr/>
              </a:p>
            </p:txBody>
          </p:sp>
          <p:sp>
            <p:nvSpPr>
              <p:cNvPr id="84" name="Oval 83"/>
              <p:cNvSpPr/>
              <p:nvPr/>
            </p:nvSpPr>
            <p:spPr>
              <a:xfrm>
                <a:off x="6080760" y="2779776"/>
                <a:ext cx="91440" cy="91440"/>
              </a:xfrm>
              <a:prstGeom prst="ellipse">
                <a:avLst/>
              </a:prstGeom>
              <a:solidFill>
                <a:srgbClr val="1B1D21"/>
              </a:solidFill>
              <a:ln w="9525">
                <a:solidFill>
                  <a:srgbClr val="FFFFFF"/>
                </a:solidFill>
              </a:ln>
            </p:spPr>
            <p:txBody>
              <a:bodyPr rtlCol="0" anchor="ctr"/>
              <a:lstStyle/>
              <a:p>
                <a:pPr algn="ctr"/>
                <a:endParaRPr/>
              </a:p>
            </p:txBody>
          </p:sp>
          <p:sp>
            <p:nvSpPr>
              <p:cNvPr id="85" name="Oval 84"/>
              <p:cNvSpPr/>
              <p:nvPr/>
            </p:nvSpPr>
            <p:spPr>
              <a:xfrm>
                <a:off x="5856732" y="2738628"/>
                <a:ext cx="173736" cy="173736"/>
              </a:xfrm>
              <a:prstGeom prst="ellipse">
                <a:avLst/>
              </a:prstGeom>
              <a:solidFill>
                <a:srgbClr val="3FB950"/>
              </a:solidFill>
              <a:ln w="12700">
                <a:solidFill>
                  <a:srgbClr val="FFFFFF"/>
                </a:solidFill>
              </a:ln>
            </p:spPr>
            <p:txBody>
              <a:bodyPr rtlCol="0" anchor="ctr"/>
              <a:lstStyle/>
              <a:p>
                <a:pPr algn="ctr"/>
                <a:endParaRPr/>
              </a:p>
            </p:txBody>
          </p:sp>
        </p:grpSp>
        <p:sp>
          <p:nvSpPr>
            <p:cNvPr id="86" name="TextBox 85"/>
            <p:cNvSpPr txBox="1"/>
            <p:nvPr/>
          </p:nvSpPr>
          <p:spPr>
            <a:xfrm>
              <a:off x="5486400" y="1828800"/>
              <a:ext cx="1280160" cy="365760"/>
            </a:xfrm>
            <a:prstGeom prst="rect">
              <a:avLst/>
            </a:prstGeom>
            <a:noFill/>
          </p:spPr>
          <p:txBody>
            <a:bodyPr wrap="square" lIns="18288" tIns="18288" rIns="18288" bIns="18288" anchor="ctr">
              <a:noAutofit/>
            </a:bodyPr>
            <a:lstStyle/>
            <a:p>
              <a:pPr algn="ctr"/>
              <a:r>
                <a:rPr lang="en-GB" sz="1800" b="1" i="0">
                  <a:solidFill>
                    <a:srgbClr val="3FB950"/>
                  </a:solidFill>
                  <a:latin typeface="Arial"/>
                </a:rPr>
                <a:t>CLEAR</a:t>
              </a:r>
            </a:p>
          </p:txBody>
        </p:sp>
        <p:grpSp>
          <p:nvGrpSpPr>
            <p:cNvPr id="87" name="Signal (stop, clear)" descr="A semaphore signal post with its arm raised (clear)."/>
            <p:cNvGrpSpPr/>
            <p:nvPr/>
          </p:nvGrpSpPr>
          <p:grpSpPr>
            <a:xfrm>
              <a:off x="8599932" y="2327631"/>
              <a:ext cx="767613" cy="1412265"/>
              <a:chOff x="8599932" y="2327631"/>
              <a:chExt cx="767613" cy="1412265"/>
            </a:xfrm>
          </p:grpSpPr>
          <p:sp>
            <p:nvSpPr>
              <p:cNvPr id="88" name="Rectangle 87"/>
              <p:cNvSpPr/>
              <p:nvPr/>
            </p:nvSpPr>
            <p:spPr>
              <a:xfrm>
                <a:off x="8732520" y="3666744"/>
                <a:ext cx="274320" cy="73152"/>
              </a:xfrm>
              <a:prstGeom prst="rect">
                <a:avLst/>
              </a:prstGeom>
              <a:solidFill>
                <a:srgbClr val="9AA0A6"/>
              </a:solidFill>
              <a:ln>
                <a:noFill/>
              </a:ln>
            </p:spPr>
            <p:txBody>
              <a:bodyPr rtlCol="0" anchor="ctr"/>
              <a:lstStyle/>
              <a:p>
                <a:pPr algn="ctr"/>
                <a:endParaRPr/>
              </a:p>
            </p:txBody>
          </p:sp>
          <p:sp>
            <p:nvSpPr>
              <p:cNvPr id="89" name="Rectangle 88"/>
              <p:cNvSpPr/>
              <p:nvPr/>
            </p:nvSpPr>
            <p:spPr>
              <a:xfrm>
                <a:off x="8814816" y="2734056"/>
                <a:ext cx="109728" cy="932688"/>
              </a:xfrm>
              <a:prstGeom prst="rect">
                <a:avLst/>
              </a:prstGeom>
              <a:solidFill>
                <a:srgbClr val="E8E8E8"/>
              </a:solidFill>
              <a:ln>
                <a:noFill/>
              </a:ln>
            </p:spPr>
            <p:txBody>
              <a:bodyPr rtlCol="0" anchor="ctr"/>
              <a:lstStyle/>
              <a:p>
                <a:pPr algn="ctr"/>
                <a:endParaRPr/>
              </a:p>
            </p:txBody>
          </p:sp>
          <p:sp>
            <p:nvSpPr>
              <p:cNvPr id="90" name="Freeform 89"/>
              <p:cNvSpPr/>
              <p:nvPr/>
            </p:nvSpPr>
            <p:spPr>
              <a:xfrm>
                <a:off x="8824420" y="2327631"/>
                <a:ext cx="543125" cy="543125"/>
              </a:xfrm>
              <a:custGeom>
                <a:avLst/>
                <a:gdLst/>
                <a:ahLst/>
                <a:cxnLst/>
                <a:rect l="l" t="t" r="r" b="b"/>
                <a:pathLst>
                  <a:path w="543125" h="543125">
                    <a:moveTo>
                      <a:pt x="0" y="452605"/>
                    </a:moveTo>
                    <a:lnTo>
                      <a:pt x="452604" y="0"/>
                    </a:lnTo>
                    <a:lnTo>
                      <a:pt x="543125" y="90521"/>
                    </a:lnTo>
                    <a:lnTo>
                      <a:pt x="90520" y="543125"/>
                    </a:lnTo>
                    <a:close/>
                  </a:path>
                </a:pathLst>
              </a:custGeom>
              <a:solidFill>
                <a:srgbClr val="E5484D"/>
              </a:solidFill>
              <a:ln>
                <a:noFill/>
              </a:ln>
            </p:spPr>
            <p:txBody>
              <a:bodyPr rtlCol="0" anchor="ctr"/>
              <a:lstStyle/>
              <a:p>
                <a:pPr algn="ctr"/>
                <a:endParaRPr/>
              </a:p>
            </p:txBody>
          </p:sp>
          <p:sp>
            <p:nvSpPr>
              <p:cNvPr id="91" name="Freeform 90"/>
              <p:cNvSpPr/>
              <p:nvPr/>
            </p:nvSpPr>
            <p:spPr>
              <a:xfrm>
                <a:off x="9050722" y="2482809"/>
                <a:ext cx="161645" cy="161645"/>
              </a:xfrm>
              <a:custGeom>
                <a:avLst/>
                <a:gdLst/>
                <a:ahLst/>
                <a:cxnLst/>
                <a:rect l="l" t="t" r="r" b="b"/>
                <a:pathLst>
                  <a:path w="161645" h="161645">
                    <a:moveTo>
                      <a:pt x="0" y="71124"/>
                    </a:moveTo>
                    <a:lnTo>
                      <a:pt x="71124" y="0"/>
                    </a:lnTo>
                    <a:lnTo>
                      <a:pt x="161645" y="90521"/>
                    </a:lnTo>
                    <a:lnTo>
                      <a:pt x="90521" y="161645"/>
                    </a:lnTo>
                    <a:close/>
                  </a:path>
                </a:pathLst>
              </a:custGeom>
              <a:solidFill>
                <a:srgbClr val="FFFFFF"/>
              </a:solidFill>
              <a:ln>
                <a:noFill/>
              </a:ln>
            </p:spPr>
            <p:txBody>
              <a:bodyPr rtlCol="0" anchor="ctr"/>
              <a:lstStyle/>
              <a:p>
                <a:pPr algn="ctr"/>
                <a:endParaRPr/>
              </a:p>
            </p:txBody>
          </p:sp>
          <p:sp>
            <p:nvSpPr>
              <p:cNvPr id="92" name="Oval 91"/>
              <p:cNvSpPr/>
              <p:nvPr/>
            </p:nvSpPr>
            <p:spPr>
              <a:xfrm>
                <a:off x="8823960" y="2779776"/>
                <a:ext cx="91440" cy="91440"/>
              </a:xfrm>
              <a:prstGeom prst="ellipse">
                <a:avLst/>
              </a:prstGeom>
              <a:solidFill>
                <a:srgbClr val="1B1D21"/>
              </a:solidFill>
              <a:ln w="9525">
                <a:solidFill>
                  <a:srgbClr val="FFFFFF"/>
                </a:solidFill>
              </a:ln>
            </p:spPr>
            <p:txBody>
              <a:bodyPr rtlCol="0" anchor="ctr"/>
              <a:lstStyle/>
              <a:p>
                <a:pPr algn="ctr"/>
                <a:endParaRPr/>
              </a:p>
            </p:txBody>
          </p:sp>
          <p:sp>
            <p:nvSpPr>
              <p:cNvPr id="93" name="Oval 92"/>
              <p:cNvSpPr/>
              <p:nvPr/>
            </p:nvSpPr>
            <p:spPr>
              <a:xfrm>
                <a:off x="8599932" y="2738628"/>
                <a:ext cx="173736" cy="173736"/>
              </a:xfrm>
              <a:prstGeom prst="ellipse">
                <a:avLst/>
              </a:prstGeom>
              <a:solidFill>
                <a:srgbClr val="3FB950"/>
              </a:solidFill>
              <a:ln w="12700">
                <a:solidFill>
                  <a:srgbClr val="FFFFFF"/>
                </a:solidFill>
              </a:ln>
            </p:spPr>
            <p:txBody>
              <a:bodyPr rtlCol="0" anchor="ctr"/>
              <a:lstStyle/>
              <a:p>
                <a:pPr algn="ctr"/>
                <a:endParaRPr/>
              </a:p>
            </p:txBody>
          </p:sp>
        </p:grpSp>
        <p:sp>
          <p:nvSpPr>
            <p:cNvPr id="94" name="TextBox 93"/>
            <p:cNvSpPr txBox="1"/>
            <p:nvPr/>
          </p:nvSpPr>
          <p:spPr>
            <a:xfrm>
              <a:off x="8229600" y="1828800"/>
              <a:ext cx="1280160" cy="365760"/>
            </a:xfrm>
            <a:prstGeom prst="rect">
              <a:avLst/>
            </a:prstGeom>
            <a:noFill/>
          </p:spPr>
          <p:txBody>
            <a:bodyPr wrap="square" lIns="18288" tIns="18288" rIns="18288" bIns="18288" anchor="ctr">
              <a:noAutofit/>
            </a:bodyPr>
            <a:lstStyle/>
            <a:p>
              <a:pPr algn="ctr"/>
              <a:r>
                <a:rPr lang="en-GB" sz="1800" b="1" i="0">
                  <a:solidFill>
                    <a:srgbClr val="3FB950"/>
                  </a:solidFill>
                  <a:latin typeface="Arial"/>
                </a:rPr>
                <a:t>CLEAR</a:t>
              </a:r>
            </a:p>
          </p:txBody>
        </p:sp>
        <p:sp>
          <p:nvSpPr>
            <p:cNvPr id="95" name="TextBox 94"/>
            <p:cNvSpPr txBox="1"/>
            <p:nvPr/>
          </p:nvSpPr>
          <p:spPr>
            <a:xfrm>
              <a:off x="1828800" y="2286000"/>
              <a:ext cx="1280160" cy="365760"/>
            </a:xfrm>
            <a:prstGeom prst="rect">
              <a:avLst/>
            </a:prstGeom>
            <a:noFill/>
          </p:spPr>
          <p:txBody>
            <a:bodyPr wrap="square" lIns="18288" tIns="18288" rIns="18288" bIns="18288" anchor="ctr">
              <a:noAutofit/>
            </a:bodyPr>
            <a:lstStyle/>
            <a:p>
              <a:pPr algn="ctr"/>
              <a:r>
                <a:rPr lang="en-GB" sz="1800" b="1" i="0">
                  <a:solidFill>
                    <a:srgbClr val="F2C14E"/>
                  </a:solidFill>
                  <a:latin typeface="Arial"/>
                </a:rPr>
                <a:t>Waits</a:t>
              </a:r>
            </a:p>
          </p:txBody>
        </p:sp>
        <p:cxnSp>
          <p:nvCxnSpPr>
            <p:cNvPr id="96" name="Connector 95"/>
            <p:cNvCxnSpPr/>
            <p:nvPr/>
          </p:nvCxnSpPr>
          <p:spPr>
            <a:xfrm>
              <a:off x="2468880" y="2670048"/>
              <a:ext cx="0" cy="256032"/>
            </a:xfrm>
            <a:prstGeom prst="line">
              <a:avLst/>
            </a:prstGeom>
            <a:ln w="28575">
              <a:solidFill>
                <a:srgbClr val="F2C14E"/>
              </a:solidFill>
              <a:tailEnd type="triangle" w="med" len="med"/>
            </a:ln>
          </p:spPr>
        </p:cxnSp>
        <p:sp>
          <p:nvSpPr>
            <p:cNvPr id="97" name="Legend"/>
            <p:cNvSpPr/>
            <p:nvPr/>
          </p:nvSpPr>
          <p:spPr>
            <a:xfrm>
              <a:off x="731520" y="5029200"/>
              <a:ext cx="4754880" cy="457200"/>
            </a:xfrm>
            <a:prstGeom prst="roundRect">
              <a:avLst>
                <a:gd name="adj" fmla="val 16000"/>
              </a:avLst>
            </a:prstGeom>
            <a:solidFill>
              <a:srgbClr val="2B2F36"/>
            </a:solidFill>
            <a:ln w="12700">
              <a:solidFill>
                <a:srgbClr val="4A515B"/>
              </a:solidFill>
            </a:ln>
          </p:spPr>
          <p:txBody>
            <a:bodyPr wrap="square" lIns="137160" tIns="0" bIns="0" rtlCol="0" anchor="ctr">
              <a:noAutofit/>
            </a:bodyPr>
            <a:lstStyle/>
            <a:p>
              <a:pPr algn="l"/>
              <a:r>
                <a:rPr lang="en-GB" sz="1600" b="1" i="0">
                  <a:solidFill>
                    <a:srgbClr val="F2F2F2"/>
                  </a:solidFill>
                  <a:latin typeface="Arial"/>
                </a:rPr>
                <a:t>Arm flat = stop. Arm raised = go.</a:t>
              </a:r>
            </a:p>
          </p:txBody>
        </p:sp>
      </p:grpSp>
      <p:sp>
        <p:nvSpPr>
          <p:cNvPr id="98"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A signal at the start of each block says stop or go.</a:t>
            </a:r>
          </a:p>
        </p:txBody>
      </p:sp>
      <p:sp>
        <p:nvSpPr>
          <p:cNvPr id="99"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100"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5</a:t>
            </a:r>
          </a:p>
        </p:txBody>
      </p:sp>
    </p:spTree>
    <p:extLst>
      <p:ext uri="{BB962C8B-B14F-4D97-AF65-F5344CB8AC3E}">
        <p14:creationId xmlns:p14="http://schemas.microsoft.com/office/powerpoint/2010/main" val="29984417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98"/>
                                        </p:tgtEl>
                                        <p:attrNameLst>
                                          <p:attrName>style.visibility</p:attrName>
                                        </p:attrNameLst>
                                      </p:cBhvr>
                                      <p:to>
                                        <p:strVal val="visible"/>
                                      </p:to>
                                    </p:set>
                                    <p:animEffect transition="in" filter="fade">
                                      <p:cBhvr>
                                        <p:cTn id="10" dur="500"/>
                                        <p:tgtEl>
                                          <p:spTgt spid="98"/>
                                        </p:tgtEl>
                                      </p:cBhvr>
                                    </p:animEffect>
                                  </p:childTnLst>
                                </p:cTn>
                              </p:par>
                              <p:par>
                                <p:cTn id="11" presetID="10" presetClass="entr" presetSubtype="0" fill="hold" nodeType="withEffect">
                                  <p:stCondLst>
                                    <p:cond delay="600"/>
                                  </p:stCondLst>
                                  <p:childTnLst>
                                    <p:set>
                                      <p:cBhvr>
                                        <p:cTn id="12" dur="1" fill="hold">
                                          <p:stCondLst>
                                            <p:cond delay="0"/>
                                          </p:stCondLst>
                                        </p:cTn>
                                        <p:tgtEl>
                                          <p:spTgt spid="99"/>
                                        </p:tgtEl>
                                        <p:attrNameLst>
                                          <p:attrName>style.visibility</p:attrName>
                                        </p:attrNameLst>
                                      </p:cBhvr>
                                      <p:to>
                                        <p:strVal val="visible"/>
                                      </p:to>
                                    </p:set>
                                    <p:animEffect transition="in" filter="fade">
                                      <p:cBhvr>
                                        <p:cTn id="13"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A semaphore</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Semaphore parts" descr="A large semaphore signal with its arm flat. Labels point to the post, arm, pivot, lamp and wire. Two small copies show the stop and clear positions."/>
          <p:cNvGrpSpPr/>
          <p:nvPr/>
        </p:nvGrpSpPr>
        <p:grpSpPr>
          <a:xfrm>
            <a:off x="822960" y="1463040"/>
            <a:ext cx="10817352" cy="3447288"/>
            <a:chOff x="822960" y="1463040"/>
            <a:chExt cx="10817352" cy="3447288"/>
          </a:xfrm>
        </p:grpSpPr>
        <p:cxnSp>
          <p:nvCxnSpPr>
            <p:cNvPr id="5" name="Connector 4"/>
            <p:cNvCxnSpPr/>
            <p:nvPr/>
          </p:nvCxnSpPr>
          <p:spPr>
            <a:xfrm>
              <a:off x="822960" y="4910328"/>
              <a:ext cx="6766560" cy="0"/>
            </a:xfrm>
            <a:prstGeom prst="line">
              <a:avLst/>
            </a:prstGeom>
            <a:ln w="19050">
              <a:solidFill>
                <a:srgbClr val="9AA0A6"/>
              </a:solidFill>
            </a:ln>
          </p:spPr>
        </p:cxnSp>
        <p:grpSp>
          <p:nvGrpSpPr>
            <p:cNvPr id="6" name="Large signal" descr="A semaphore signal post with its arm flat (stop)."/>
            <p:cNvGrpSpPr/>
            <p:nvPr/>
          </p:nvGrpSpPr>
          <p:grpSpPr>
            <a:xfrm>
              <a:off x="2814523" y="1691640"/>
              <a:ext cx="2891333" cy="3218688"/>
              <a:chOff x="2814523" y="1691640"/>
              <a:chExt cx="2891333" cy="3218688"/>
            </a:xfrm>
          </p:grpSpPr>
          <p:sp>
            <p:nvSpPr>
              <p:cNvPr id="7" name="Rectangle 6"/>
              <p:cNvSpPr/>
              <p:nvPr/>
            </p:nvSpPr>
            <p:spPr>
              <a:xfrm>
                <a:off x="3218688" y="4676242"/>
                <a:ext cx="877824" cy="234086"/>
              </a:xfrm>
              <a:prstGeom prst="rect">
                <a:avLst/>
              </a:prstGeom>
              <a:solidFill>
                <a:srgbClr val="9AA0A6"/>
              </a:solidFill>
              <a:ln>
                <a:noFill/>
              </a:ln>
            </p:spPr>
            <p:txBody>
              <a:bodyPr rtlCol="0" anchor="ctr"/>
              <a:lstStyle/>
              <a:p>
                <a:pPr algn="ctr"/>
                <a:endParaRPr/>
              </a:p>
            </p:txBody>
          </p:sp>
          <p:sp>
            <p:nvSpPr>
              <p:cNvPr id="8" name="Rectangle 7"/>
              <p:cNvSpPr/>
              <p:nvPr/>
            </p:nvSpPr>
            <p:spPr>
              <a:xfrm>
                <a:off x="3482035" y="1691640"/>
                <a:ext cx="351130" cy="2984602"/>
              </a:xfrm>
              <a:prstGeom prst="rect">
                <a:avLst/>
              </a:prstGeom>
              <a:solidFill>
                <a:srgbClr val="E8E8E8"/>
              </a:solidFill>
              <a:ln>
                <a:noFill/>
              </a:ln>
            </p:spPr>
            <p:txBody>
              <a:bodyPr rtlCol="0" anchor="ctr"/>
              <a:lstStyle/>
              <a:p>
                <a:pPr algn="ctr"/>
                <a:endParaRPr/>
              </a:p>
            </p:txBody>
          </p:sp>
          <p:sp>
            <p:nvSpPr>
              <p:cNvPr id="9" name="Freeform 8"/>
              <p:cNvSpPr/>
              <p:nvPr/>
            </p:nvSpPr>
            <p:spPr>
              <a:xfrm>
                <a:off x="3657600" y="1779422"/>
                <a:ext cx="2048256" cy="409652"/>
              </a:xfrm>
              <a:custGeom>
                <a:avLst/>
                <a:gdLst/>
                <a:ahLst/>
                <a:cxnLst/>
                <a:rect l="l" t="t" r="r" b="b"/>
                <a:pathLst>
                  <a:path w="2048256" h="409652">
                    <a:moveTo>
                      <a:pt x="0" y="0"/>
                    </a:moveTo>
                    <a:lnTo>
                      <a:pt x="2048256" y="0"/>
                    </a:lnTo>
                    <a:lnTo>
                      <a:pt x="2048256" y="409652"/>
                    </a:lnTo>
                    <a:lnTo>
                      <a:pt x="0" y="409652"/>
                    </a:lnTo>
                    <a:close/>
                  </a:path>
                </a:pathLst>
              </a:custGeom>
              <a:solidFill>
                <a:srgbClr val="E5484D"/>
              </a:solidFill>
              <a:ln>
                <a:noFill/>
              </a:ln>
            </p:spPr>
            <p:txBody>
              <a:bodyPr rtlCol="0" anchor="ctr"/>
              <a:lstStyle/>
              <a:p>
                <a:pPr algn="ctr"/>
                <a:endParaRPr/>
              </a:p>
            </p:txBody>
          </p:sp>
          <p:sp>
            <p:nvSpPr>
              <p:cNvPr id="10" name="Freeform 9"/>
              <p:cNvSpPr/>
              <p:nvPr/>
            </p:nvSpPr>
            <p:spPr>
              <a:xfrm>
                <a:off x="4681728" y="1779422"/>
                <a:ext cx="321869" cy="409652"/>
              </a:xfrm>
              <a:custGeom>
                <a:avLst/>
                <a:gdLst/>
                <a:ahLst/>
                <a:cxnLst/>
                <a:rect l="l" t="t" r="r" b="b"/>
                <a:pathLst>
                  <a:path w="321869" h="409652">
                    <a:moveTo>
                      <a:pt x="0" y="0"/>
                    </a:moveTo>
                    <a:lnTo>
                      <a:pt x="321869" y="0"/>
                    </a:lnTo>
                    <a:lnTo>
                      <a:pt x="321869" y="409652"/>
                    </a:lnTo>
                    <a:lnTo>
                      <a:pt x="0" y="409652"/>
                    </a:lnTo>
                    <a:close/>
                  </a:path>
                </a:pathLst>
              </a:custGeom>
              <a:solidFill>
                <a:srgbClr val="FFFFFF"/>
              </a:solidFill>
              <a:ln>
                <a:noFill/>
              </a:ln>
            </p:spPr>
            <p:txBody>
              <a:bodyPr rtlCol="0" anchor="ctr"/>
              <a:lstStyle/>
              <a:p>
                <a:pPr algn="ctr"/>
                <a:endParaRPr/>
              </a:p>
            </p:txBody>
          </p:sp>
          <p:sp>
            <p:nvSpPr>
              <p:cNvPr id="11" name="Oval 10"/>
              <p:cNvSpPr/>
              <p:nvPr/>
            </p:nvSpPr>
            <p:spPr>
              <a:xfrm>
                <a:off x="3541471" y="1868119"/>
                <a:ext cx="232258" cy="232258"/>
              </a:xfrm>
              <a:prstGeom prst="ellipse">
                <a:avLst/>
              </a:prstGeom>
              <a:solidFill>
                <a:srgbClr val="1B1D21"/>
              </a:solidFill>
              <a:ln w="9525">
                <a:solidFill>
                  <a:srgbClr val="FFFFFF"/>
                </a:solidFill>
              </a:ln>
            </p:spPr>
            <p:txBody>
              <a:bodyPr rtlCol="0" anchor="ctr"/>
              <a:lstStyle/>
              <a:p>
                <a:pPr algn="ctr"/>
                <a:endParaRPr/>
              </a:p>
            </p:txBody>
          </p:sp>
          <p:sp>
            <p:nvSpPr>
              <p:cNvPr id="12" name="Oval 11"/>
              <p:cNvSpPr/>
              <p:nvPr/>
            </p:nvSpPr>
            <p:spPr>
              <a:xfrm>
                <a:off x="2814523" y="1726387"/>
                <a:ext cx="515722" cy="515722"/>
              </a:xfrm>
              <a:prstGeom prst="ellipse">
                <a:avLst/>
              </a:prstGeom>
              <a:solidFill>
                <a:srgbClr val="E5484D"/>
              </a:solidFill>
              <a:ln w="12700">
                <a:solidFill>
                  <a:srgbClr val="FFFFFF"/>
                </a:solidFill>
              </a:ln>
            </p:spPr>
            <p:txBody>
              <a:bodyPr rtlCol="0" anchor="ctr"/>
              <a:lstStyle/>
              <a:p>
                <a:pPr algn="ctr"/>
                <a:endParaRPr/>
              </a:p>
            </p:txBody>
          </p:sp>
        </p:grpSp>
        <p:sp>
          <p:nvSpPr>
            <p:cNvPr id="13" name="Wire"/>
            <p:cNvSpPr/>
            <p:nvPr/>
          </p:nvSpPr>
          <p:spPr>
            <a:xfrm>
              <a:off x="5120640" y="2189074"/>
              <a:ext cx="2377440" cy="2565806"/>
            </a:xfrm>
            <a:custGeom>
              <a:avLst/>
              <a:gdLst/>
              <a:ahLst/>
              <a:cxnLst/>
              <a:rect l="l" t="t" r="r" b="b"/>
              <a:pathLst>
                <a:path w="2377440" h="2565806">
                  <a:moveTo>
                    <a:pt x="0" y="0"/>
                  </a:moveTo>
                  <a:lnTo>
                    <a:pt x="0" y="2565806"/>
                  </a:lnTo>
                  <a:lnTo>
                    <a:pt x="2377440" y="2565806"/>
                  </a:lnTo>
                </a:path>
              </a:pathLst>
            </a:custGeom>
            <a:noFill/>
            <a:ln w="28575">
              <a:solidFill>
                <a:srgbClr val="F28C28"/>
              </a:solidFill>
              <a:prstDash val="dash"/>
            </a:ln>
          </p:spPr>
          <p:txBody>
            <a:bodyPr rtlCol="0" anchor="ctr"/>
            <a:lstStyle/>
            <a:p>
              <a:pPr algn="ctr"/>
              <a:endParaRPr/>
            </a:p>
          </p:txBody>
        </p:sp>
        <p:grpSp>
          <p:nvGrpSpPr>
            <p:cNvPr id="14" name="Callout: Lamp" descr="A label, Lamp, with a leader line to the part it names."/>
            <p:cNvGrpSpPr/>
            <p:nvPr/>
          </p:nvGrpSpPr>
          <p:grpSpPr>
            <a:xfrm>
              <a:off x="914400" y="1801368"/>
              <a:ext cx="1956816" cy="365760"/>
              <a:chOff x="914400" y="1801368"/>
              <a:chExt cx="1956816" cy="365760"/>
            </a:xfrm>
          </p:grpSpPr>
          <p:sp>
            <p:nvSpPr>
              <p:cNvPr id="15" name="TextBox 14"/>
              <p:cNvSpPr txBox="1"/>
              <p:nvPr/>
            </p:nvSpPr>
            <p:spPr>
              <a:xfrm>
                <a:off x="914400" y="1801368"/>
                <a:ext cx="1188720" cy="365760"/>
              </a:xfrm>
              <a:prstGeom prst="rect">
                <a:avLst/>
              </a:prstGeom>
              <a:noFill/>
            </p:spPr>
            <p:txBody>
              <a:bodyPr wrap="square" lIns="18288" tIns="18288" rIns="18288" bIns="18288" anchor="ctr">
                <a:noAutofit/>
              </a:bodyPr>
              <a:lstStyle/>
              <a:p>
                <a:pPr algn="r"/>
                <a:r>
                  <a:rPr lang="en-GB" sz="1800" b="1" i="0">
                    <a:solidFill>
                      <a:srgbClr val="F2F2F2"/>
                    </a:solidFill>
                    <a:latin typeface="Arial"/>
                  </a:rPr>
                  <a:t>Lamp</a:t>
                </a:r>
              </a:p>
            </p:txBody>
          </p:sp>
          <p:cxnSp>
            <p:nvCxnSpPr>
              <p:cNvPr id="16" name="Connector 15"/>
              <p:cNvCxnSpPr/>
              <p:nvPr/>
            </p:nvCxnSpPr>
            <p:spPr>
              <a:xfrm>
                <a:off x="2148840" y="1984248"/>
                <a:ext cx="667512" cy="0"/>
              </a:xfrm>
              <a:prstGeom prst="line">
                <a:avLst/>
              </a:prstGeom>
              <a:ln w="19050">
                <a:solidFill>
                  <a:srgbClr val="A9B0B8"/>
                </a:solidFill>
              </a:ln>
            </p:spPr>
          </p:cxnSp>
          <p:sp>
            <p:nvSpPr>
              <p:cNvPr id="17" name="Oval 16"/>
              <p:cNvSpPr/>
              <p:nvPr/>
            </p:nvSpPr>
            <p:spPr>
              <a:xfrm>
                <a:off x="2761488" y="1929384"/>
                <a:ext cx="109728" cy="109728"/>
              </a:xfrm>
              <a:prstGeom prst="ellipse">
                <a:avLst/>
              </a:prstGeom>
              <a:solidFill>
                <a:srgbClr val="F2F2F2"/>
              </a:solidFill>
              <a:ln w="9525">
                <a:solidFill>
                  <a:srgbClr val="1E2126"/>
                </a:solidFill>
              </a:ln>
            </p:spPr>
            <p:txBody>
              <a:bodyPr rtlCol="0" anchor="ctr"/>
              <a:lstStyle/>
              <a:p>
                <a:pPr algn="ctr"/>
                <a:endParaRPr/>
              </a:p>
            </p:txBody>
          </p:sp>
        </p:grpSp>
        <p:grpSp>
          <p:nvGrpSpPr>
            <p:cNvPr id="18" name="Callout: Post" descr="A label, Post, with a leader line to the part it names."/>
            <p:cNvGrpSpPr/>
            <p:nvPr/>
          </p:nvGrpSpPr>
          <p:grpSpPr>
            <a:xfrm>
              <a:off x="914400" y="3200400"/>
              <a:ext cx="2624328" cy="365760"/>
              <a:chOff x="914400" y="3200400"/>
              <a:chExt cx="2624328" cy="365760"/>
            </a:xfrm>
          </p:grpSpPr>
          <p:sp>
            <p:nvSpPr>
              <p:cNvPr id="19" name="TextBox 18"/>
              <p:cNvSpPr txBox="1"/>
              <p:nvPr/>
            </p:nvSpPr>
            <p:spPr>
              <a:xfrm>
                <a:off x="914400" y="3200400"/>
                <a:ext cx="1188720" cy="365760"/>
              </a:xfrm>
              <a:prstGeom prst="rect">
                <a:avLst/>
              </a:prstGeom>
              <a:noFill/>
            </p:spPr>
            <p:txBody>
              <a:bodyPr wrap="square" lIns="18288" tIns="18288" rIns="18288" bIns="18288" anchor="ctr">
                <a:noAutofit/>
              </a:bodyPr>
              <a:lstStyle/>
              <a:p>
                <a:pPr algn="r"/>
                <a:r>
                  <a:rPr lang="en-GB" sz="1800" b="1" i="0">
                    <a:solidFill>
                      <a:srgbClr val="F2F2F2"/>
                    </a:solidFill>
                    <a:latin typeface="Arial"/>
                  </a:rPr>
                  <a:t>Post</a:t>
                </a:r>
              </a:p>
            </p:txBody>
          </p:sp>
          <p:cxnSp>
            <p:nvCxnSpPr>
              <p:cNvPr id="20" name="Connector 19"/>
              <p:cNvCxnSpPr/>
              <p:nvPr/>
            </p:nvCxnSpPr>
            <p:spPr>
              <a:xfrm>
                <a:off x="2148840" y="3383280"/>
                <a:ext cx="1335024" cy="0"/>
              </a:xfrm>
              <a:prstGeom prst="line">
                <a:avLst/>
              </a:prstGeom>
              <a:ln w="19050">
                <a:solidFill>
                  <a:srgbClr val="A9B0B8"/>
                </a:solidFill>
              </a:ln>
            </p:spPr>
          </p:cxnSp>
          <p:sp>
            <p:nvSpPr>
              <p:cNvPr id="21" name="Oval 20"/>
              <p:cNvSpPr/>
              <p:nvPr/>
            </p:nvSpPr>
            <p:spPr>
              <a:xfrm>
                <a:off x="3429000" y="3328416"/>
                <a:ext cx="109728" cy="109728"/>
              </a:xfrm>
              <a:prstGeom prst="ellipse">
                <a:avLst/>
              </a:prstGeom>
              <a:solidFill>
                <a:srgbClr val="F2F2F2"/>
              </a:solidFill>
              <a:ln w="9525">
                <a:solidFill>
                  <a:srgbClr val="1E2126"/>
                </a:solidFill>
              </a:ln>
            </p:spPr>
            <p:txBody>
              <a:bodyPr rtlCol="0" anchor="ctr"/>
              <a:lstStyle/>
              <a:p>
                <a:pPr algn="ctr"/>
                <a:endParaRPr/>
              </a:p>
            </p:txBody>
          </p:sp>
        </p:grpSp>
        <p:grpSp>
          <p:nvGrpSpPr>
            <p:cNvPr id="22" name="Callout: Pivot" descr="A label, Pivot, with a leader line to the part it names."/>
            <p:cNvGrpSpPr/>
            <p:nvPr/>
          </p:nvGrpSpPr>
          <p:grpSpPr>
            <a:xfrm>
              <a:off x="3630168" y="1956816"/>
              <a:ext cx="1764792" cy="1243584"/>
              <a:chOff x="3630168" y="1956816"/>
              <a:chExt cx="1764792" cy="1243584"/>
            </a:xfrm>
          </p:grpSpPr>
          <p:sp>
            <p:nvSpPr>
              <p:cNvPr id="23" name="TextBox 22"/>
              <p:cNvSpPr txBox="1"/>
              <p:nvPr/>
            </p:nvSpPr>
            <p:spPr>
              <a:xfrm>
                <a:off x="4297680" y="2834640"/>
                <a:ext cx="1097280" cy="365760"/>
              </a:xfrm>
              <a:prstGeom prst="rect">
                <a:avLst/>
              </a:prstGeom>
              <a:noFill/>
            </p:spPr>
            <p:txBody>
              <a:bodyPr wrap="square" lIns="18288" tIns="18288" rIns="18288" bIns="18288" anchor="ctr">
                <a:noAutofit/>
              </a:bodyPr>
              <a:lstStyle/>
              <a:p>
                <a:pPr algn="l"/>
                <a:r>
                  <a:rPr lang="en-GB" sz="1800" b="1" i="0">
                    <a:solidFill>
                      <a:srgbClr val="F2F2F2"/>
                    </a:solidFill>
                    <a:latin typeface="Arial"/>
                  </a:rPr>
                  <a:t>Pivot</a:t>
                </a:r>
              </a:p>
            </p:txBody>
          </p:sp>
          <p:cxnSp>
            <p:nvCxnSpPr>
              <p:cNvPr id="24" name="Connector 23"/>
              <p:cNvCxnSpPr/>
              <p:nvPr/>
            </p:nvCxnSpPr>
            <p:spPr>
              <a:xfrm flipH="1" flipV="1">
                <a:off x="3685032" y="2011680"/>
                <a:ext cx="594360" cy="914400"/>
              </a:xfrm>
              <a:prstGeom prst="line">
                <a:avLst/>
              </a:prstGeom>
              <a:ln w="19050">
                <a:solidFill>
                  <a:srgbClr val="A9B0B8"/>
                </a:solidFill>
              </a:ln>
            </p:spPr>
          </p:cxnSp>
          <p:sp>
            <p:nvSpPr>
              <p:cNvPr id="25" name="Oval 24"/>
              <p:cNvSpPr/>
              <p:nvPr/>
            </p:nvSpPr>
            <p:spPr>
              <a:xfrm>
                <a:off x="3630168" y="1956816"/>
                <a:ext cx="109728" cy="109728"/>
              </a:xfrm>
              <a:prstGeom prst="ellipse">
                <a:avLst/>
              </a:prstGeom>
              <a:solidFill>
                <a:srgbClr val="F2F2F2"/>
              </a:solidFill>
              <a:ln w="9525">
                <a:solidFill>
                  <a:srgbClr val="1E2126"/>
                </a:solidFill>
              </a:ln>
            </p:spPr>
            <p:txBody>
              <a:bodyPr rtlCol="0" anchor="ctr"/>
              <a:lstStyle/>
              <a:p>
                <a:pPr algn="ctr"/>
                <a:endParaRPr/>
              </a:p>
            </p:txBody>
          </p:sp>
        </p:grpSp>
        <p:grpSp>
          <p:nvGrpSpPr>
            <p:cNvPr id="26" name="Callout: Arm" descr="A label, Arm, with a leader line to the part it names."/>
            <p:cNvGrpSpPr/>
            <p:nvPr/>
          </p:nvGrpSpPr>
          <p:grpSpPr>
            <a:xfrm>
              <a:off x="5614416" y="1801368"/>
              <a:ext cx="1335024" cy="365760"/>
              <a:chOff x="5614416" y="1801368"/>
              <a:chExt cx="1335024" cy="365760"/>
            </a:xfrm>
          </p:grpSpPr>
          <p:sp>
            <p:nvSpPr>
              <p:cNvPr id="27" name="TextBox 26"/>
              <p:cNvSpPr txBox="1"/>
              <p:nvPr/>
            </p:nvSpPr>
            <p:spPr>
              <a:xfrm>
                <a:off x="6035040" y="1801368"/>
                <a:ext cx="914400" cy="365760"/>
              </a:xfrm>
              <a:prstGeom prst="rect">
                <a:avLst/>
              </a:prstGeom>
              <a:noFill/>
            </p:spPr>
            <p:txBody>
              <a:bodyPr wrap="square" lIns="18288" tIns="18288" rIns="18288" bIns="18288" anchor="ctr">
                <a:noAutofit/>
              </a:bodyPr>
              <a:lstStyle/>
              <a:p>
                <a:pPr algn="l"/>
                <a:r>
                  <a:rPr lang="en-GB" sz="1800" b="1" i="0">
                    <a:solidFill>
                      <a:srgbClr val="F2F2F2"/>
                    </a:solidFill>
                    <a:latin typeface="Arial"/>
                  </a:rPr>
                  <a:t>Arm</a:t>
                </a:r>
              </a:p>
            </p:txBody>
          </p:sp>
          <p:cxnSp>
            <p:nvCxnSpPr>
              <p:cNvPr id="28" name="Connector 27"/>
              <p:cNvCxnSpPr/>
              <p:nvPr/>
            </p:nvCxnSpPr>
            <p:spPr>
              <a:xfrm flipH="1">
                <a:off x="5669280" y="1984248"/>
                <a:ext cx="320040" cy="0"/>
              </a:xfrm>
              <a:prstGeom prst="line">
                <a:avLst/>
              </a:prstGeom>
              <a:ln w="19050">
                <a:solidFill>
                  <a:srgbClr val="A9B0B8"/>
                </a:solidFill>
              </a:ln>
            </p:spPr>
          </p:cxnSp>
          <p:sp>
            <p:nvSpPr>
              <p:cNvPr id="29" name="Oval 28"/>
              <p:cNvSpPr/>
              <p:nvPr/>
            </p:nvSpPr>
            <p:spPr>
              <a:xfrm>
                <a:off x="5614416" y="1929384"/>
                <a:ext cx="109728" cy="109728"/>
              </a:xfrm>
              <a:prstGeom prst="ellipse">
                <a:avLst/>
              </a:prstGeom>
              <a:solidFill>
                <a:srgbClr val="F2F2F2"/>
              </a:solidFill>
              <a:ln w="9525">
                <a:solidFill>
                  <a:srgbClr val="1E2126"/>
                </a:solidFill>
              </a:ln>
            </p:spPr>
            <p:txBody>
              <a:bodyPr rtlCol="0" anchor="ctr"/>
              <a:lstStyle/>
              <a:p>
                <a:pPr algn="ctr"/>
                <a:endParaRPr/>
              </a:p>
            </p:txBody>
          </p:sp>
        </p:grpSp>
        <p:grpSp>
          <p:nvGrpSpPr>
            <p:cNvPr id="30" name="Callout: Wire" descr="A label, Wire, with a leader line to the part it names."/>
            <p:cNvGrpSpPr/>
            <p:nvPr/>
          </p:nvGrpSpPr>
          <p:grpSpPr>
            <a:xfrm>
              <a:off x="5084064" y="3246120"/>
              <a:ext cx="1179576" cy="365760"/>
              <a:chOff x="5084064" y="3246120"/>
              <a:chExt cx="1179576" cy="365760"/>
            </a:xfrm>
          </p:grpSpPr>
          <p:sp>
            <p:nvSpPr>
              <p:cNvPr id="31" name="TextBox 30"/>
              <p:cNvSpPr txBox="1"/>
              <p:nvPr/>
            </p:nvSpPr>
            <p:spPr>
              <a:xfrm>
                <a:off x="5349240" y="3246120"/>
                <a:ext cx="914400" cy="365760"/>
              </a:xfrm>
              <a:prstGeom prst="rect">
                <a:avLst/>
              </a:prstGeom>
              <a:noFill/>
            </p:spPr>
            <p:txBody>
              <a:bodyPr wrap="square" lIns="18288" tIns="18288" rIns="18288" bIns="18288" anchor="ctr">
                <a:noAutofit/>
              </a:bodyPr>
              <a:lstStyle/>
              <a:p>
                <a:pPr algn="l"/>
                <a:r>
                  <a:rPr lang="en-GB" sz="1800" b="1" i="0">
                    <a:solidFill>
                      <a:srgbClr val="F2F2F2"/>
                    </a:solidFill>
                    <a:latin typeface="Arial"/>
                  </a:rPr>
                  <a:t>Wire</a:t>
                </a:r>
              </a:p>
            </p:txBody>
          </p:sp>
          <p:cxnSp>
            <p:nvCxnSpPr>
              <p:cNvPr id="32" name="Connector 31"/>
              <p:cNvCxnSpPr/>
              <p:nvPr/>
            </p:nvCxnSpPr>
            <p:spPr>
              <a:xfrm flipH="1">
                <a:off x="5138928" y="3429000"/>
                <a:ext cx="192024" cy="0"/>
              </a:xfrm>
              <a:prstGeom prst="line">
                <a:avLst/>
              </a:prstGeom>
              <a:ln w="19050">
                <a:solidFill>
                  <a:srgbClr val="A9B0B8"/>
                </a:solidFill>
              </a:ln>
            </p:spPr>
          </p:cxnSp>
          <p:sp>
            <p:nvSpPr>
              <p:cNvPr id="33" name="Oval 32"/>
              <p:cNvSpPr/>
              <p:nvPr/>
            </p:nvSpPr>
            <p:spPr>
              <a:xfrm>
                <a:off x="5084064" y="3374136"/>
                <a:ext cx="109728" cy="109728"/>
              </a:xfrm>
              <a:prstGeom prst="ellipse">
                <a:avLst/>
              </a:prstGeom>
              <a:solidFill>
                <a:srgbClr val="F2F2F2"/>
              </a:solidFill>
              <a:ln w="9525">
                <a:solidFill>
                  <a:srgbClr val="1E2126"/>
                </a:solidFill>
              </a:ln>
            </p:spPr>
            <p:txBody>
              <a:bodyPr rtlCol="0" anchor="ctr"/>
              <a:lstStyle/>
              <a:p>
                <a:pPr algn="ctr"/>
                <a:endParaRPr/>
              </a:p>
            </p:txBody>
          </p:sp>
        </p:grpSp>
        <p:sp>
          <p:nvSpPr>
            <p:cNvPr id="34" name="Rounded Rectangle 33"/>
            <p:cNvSpPr/>
            <p:nvPr/>
          </p:nvSpPr>
          <p:spPr>
            <a:xfrm>
              <a:off x="7955280" y="1463040"/>
              <a:ext cx="3685032" cy="2926080"/>
            </a:xfrm>
            <a:prstGeom prst="roundRect">
              <a:avLst>
                <a:gd name="adj" fmla="val 2500"/>
              </a:avLst>
            </a:prstGeom>
            <a:solidFill>
              <a:srgbClr val="2B2F36"/>
            </a:solidFill>
            <a:ln w="12700">
              <a:solidFill>
                <a:srgbClr val="4A515B"/>
              </a:solidFill>
            </a:ln>
          </p:spPr>
          <p:txBody>
            <a:bodyPr rtlCol="0" anchor="ctr"/>
            <a:lstStyle/>
            <a:p>
              <a:pPr algn="ctr"/>
              <a:endParaRPr/>
            </a:p>
          </p:txBody>
        </p:sp>
        <p:grpSp>
          <p:nvGrpSpPr>
            <p:cNvPr id="35" name="Small signal: stop" descr="A semaphore signal post with its arm flat (stop)."/>
            <p:cNvGrpSpPr/>
            <p:nvPr/>
          </p:nvGrpSpPr>
          <p:grpSpPr>
            <a:xfrm>
              <a:off x="8469630" y="2148840"/>
              <a:ext cx="1360170" cy="1508760"/>
              <a:chOff x="8469630" y="2148840"/>
              <a:chExt cx="1360170" cy="1508760"/>
            </a:xfrm>
          </p:grpSpPr>
          <p:sp>
            <p:nvSpPr>
              <p:cNvPr id="36" name="Rectangle 35"/>
              <p:cNvSpPr/>
              <p:nvPr/>
            </p:nvSpPr>
            <p:spPr>
              <a:xfrm>
                <a:off x="8663940" y="3547872"/>
                <a:ext cx="411480" cy="109728"/>
              </a:xfrm>
              <a:prstGeom prst="rect">
                <a:avLst/>
              </a:prstGeom>
              <a:solidFill>
                <a:srgbClr val="9AA0A6"/>
              </a:solidFill>
              <a:ln>
                <a:noFill/>
              </a:ln>
            </p:spPr>
            <p:txBody>
              <a:bodyPr rtlCol="0" anchor="ctr"/>
              <a:lstStyle/>
              <a:p>
                <a:pPr algn="ctr"/>
                <a:endParaRPr/>
              </a:p>
            </p:txBody>
          </p:sp>
          <p:sp>
            <p:nvSpPr>
              <p:cNvPr id="37" name="Rectangle 36"/>
              <p:cNvSpPr/>
              <p:nvPr/>
            </p:nvSpPr>
            <p:spPr>
              <a:xfrm>
                <a:off x="8787384" y="2148840"/>
                <a:ext cx="164592" cy="1399032"/>
              </a:xfrm>
              <a:prstGeom prst="rect">
                <a:avLst/>
              </a:prstGeom>
              <a:solidFill>
                <a:srgbClr val="E8E8E8"/>
              </a:solidFill>
              <a:ln>
                <a:noFill/>
              </a:ln>
            </p:spPr>
            <p:txBody>
              <a:bodyPr rtlCol="0" anchor="ctr"/>
              <a:lstStyle/>
              <a:p>
                <a:pPr algn="ctr"/>
                <a:endParaRPr/>
              </a:p>
            </p:txBody>
          </p:sp>
          <p:sp>
            <p:nvSpPr>
              <p:cNvPr id="38" name="Freeform 37"/>
              <p:cNvSpPr/>
              <p:nvPr/>
            </p:nvSpPr>
            <p:spPr>
              <a:xfrm>
                <a:off x="8869680" y="2189988"/>
                <a:ext cx="960120" cy="192024"/>
              </a:xfrm>
              <a:custGeom>
                <a:avLst/>
                <a:gdLst/>
                <a:ahLst/>
                <a:cxnLst/>
                <a:rect l="l" t="t" r="r" b="b"/>
                <a:pathLst>
                  <a:path w="960120" h="192024">
                    <a:moveTo>
                      <a:pt x="0" y="0"/>
                    </a:moveTo>
                    <a:lnTo>
                      <a:pt x="960120" y="0"/>
                    </a:lnTo>
                    <a:lnTo>
                      <a:pt x="960120" y="192024"/>
                    </a:lnTo>
                    <a:lnTo>
                      <a:pt x="0" y="192024"/>
                    </a:lnTo>
                    <a:close/>
                  </a:path>
                </a:pathLst>
              </a:custGeom>
              <a:solidFill>
                <a:srgbClr val="E5484D"/>
              </a:solidFill>
              <a:ln>
                <a:noFill/>
              </a:ln>
            </p:spPr>
            <p:txBody>
              <a:bodyPr rtlCol="0" anchor="ctr"/>
              <a:lstStyle/>
              <a:p>
                <a:pPr algn="ctr"/>
                <a:endParaRPr/>
              </a:p>
            </p:txBody>
          </p:sp>
          <p:sp>
            <p:nvSpPr>
              <p:cNvPr id="39" name="Freeform 38"/>
              <p:cNvSpPr/>
              <p:nvPr/>
            </p:nvSpPr>
            <p:spPr>
              <a:xfrm>
                <a:off x="9349740" y="2189988"/>
                <a:ext cx="150876" cy="192024"/>
              </a:xfrm>
              <a:custGeom>
                <a:avLst/>
                <a:gdLst/>
                <a:ahLst/>
                <a:cxnLst/>
                <a:rect l="l" t="t" r="r" b="b"/>
                <a:pathLst>
                  <a:path w="150876" h="192024">
                    <a:moveTo>
                      <a:pt x="0" y="0"/>
                    </a:moveTo>
                    <a:lnTo>
                      <a:pt x="150876" y="0"/>
                    </a:lnTo>
                    <a:lnTo>
                      <a:pt x="150876" y="192024"/>
                    </a:lnTo>
                    <a:lnTo>
                      <a:pt x="0" y="192024"/>
                    </a:lnTo>
                    <a:close/>
                  </a:path>
                </a:pathLst>
              </a:custGeom>
              <a:solidFill>
                <a:srgbClr val="FFFFFF"/>
              </a:solidFill>
              <a:ln>
                <a:noFill/>
              </a:ln>
            </p:spPr>
            <p:txBody>
              <a:bodyPr rtlCol="0" anchor="ctr"/>
              <a:lstStyle/>
              <a:p>
                <a:pPr algn="ctr"/>
                <a:endParaRPr/>
              </a:p>
            </p:txBody>
          </p:sp>
          <p:sp>
            <p:nvSpPr>
              <p:cNvPr id="40" name="Oval 39"/>
              <p:cNvSpPr/>
              <p:nvPr/>
            </p:nvSpPr>
            <p:spPr>
              <a:xfrm>
                <a:off x="8807958" y="2224278"/>
                <a:ext cx="123444" cy="123444"/>
              </a:xfrm>
              <a:prstGeom prst="ellipse">
                <a:avLst/>
              </a:prstGeom>
              <a:solidFill>
                <a:srgbClr val="1B1D21"/>
              </a:solidFill>
              <a:ln w="9525">
                <a:solidFill>
                  <a:srgbClr val="FFFFFF"/>
                </a:solidFill>
              </a:ln>
            </p:spPr>
            <p:txBody>
              <a:bodyPr rtlCol="0" anchor="ctr"/>
              <a:lstStyle/>
              <a:p>
                <a:pPr algn="ctr"/>
                <a:endParaRPr/>
              </a:p>
            </p:txBody>
          </p:sp>
          <p:sp>
            <p:nvSpPr>
              <p:cNvPr id="41" name="Oval 40"/>
              <p:cNvSpPr/>
              <p:nvPr/>
            </p:nvSpPr>
            <p:spPr>
              <a:xfrm>
                <a:off x="8469630" y="2160270"/>
                <a:ext cx="251460" cy="251460"/>
              </a:xfrm>
              <a:prstGeom prst="ellipse">
                <a:avLst/>
              </a:prstGeom>
              <a:solidFill>
                <a:srgbClr val="E5484D"/>
              </a:solidFill>
              <a:ln w="12700">
                <a:solidFill>
                  <a:srgbClr val="FFFFFF"/>
                </a:solidFill>
              </a:ln>
            </p:spPr>
            <p:txBody>
              <a:bodyPr rtlCol="0" anchor="ctr"/>
              <a:lstStyle/>
              <a:p>
                <a:pPr algn="ctr"/>
                <a:endParaRPr/>
              </a:p>
            </p:txBody>
          </p:sp>
        </p:grpSp>
        <p:grpSp>
          <p:nvGrpSpPr>
            <p:cNvPr id="42" name="Small signal: clear" descr="A semaphore signal post with its arm raised (clear)."/>
            <p:cNvGrpSpPr/>
            <p:nvPr/>
          </p:nvGrpSpPr>
          <p:grpSpPr>
            <a:xfrm>
              <a:off x="10024110" y="1539202"/>
              <a:ext cx="1146848" cy="2118398"/>
              <a:chOff x="10024110" y="1539202"/>
              <a:chExt cx="1146848" cy="2118398"/>
            </a:xfrm>
          </p:grpSpPr>
          <p:sp>
            <p:nvSpPr>
              <p:cNvPr id="43" name="Rectangle 42"/>
              <p:cNvSpPr/>
              <p:nvPr/>
            </p:nvSpPr>
            <p:spPr>
              <a:xfrm>
                <a:off x="10218420" y="3547872"/>
                <a:ext cx="411480" cy="109728"/>
              </a:xfrm>
              <a:prstGeom prst="rect">
                <a:avLst/>
              </a:prstGeom>
              <a:solidFill>
                <a:srgbClr val="9AA0A6"/>
              </a:solidFill>
              <a:ln>
                <a:noFill/>
              </a:ln>
            </p:spPr>
            <p:txBody>
              <a:bodyPr rtlCol="0" anchor="ctr"/>
              <a:lstStyle/>
              <a:p>
                <a:pPr algn="ctr"/>
                <a:endParaRPr/>
              </a:p>
            </p:txBody>
          </p:sp>
          <p:sp>
            <p:nvSpPr>
              <p:cNvPr id="44" name="Rectangle 43"/>
              <p:cNvSpPr/>
              <p:nvPr/>
            </p:nvSpPr>
            <p:spPr>
              <a:xfrm>
                <a:off x="10341864" y="2148840"/>
                <a:ext cx="164592" cy="1399032"/>
              </a:xfrm>
              <a:prstGeom prst="rect">
                <a:avLst/>
              </a:prstGeom>
              <a:solidFill>
                <a:srgbClr val="E8E8E8"/>
              </a:solidFill>
              <a:ln>
                <a:noFill/>
              </a:ln>
            </p:spPr>
            <p:txBody>
              <a:bodyPr rtlCol="0" anchor="ctr"/>
              <a:lstStyle/>
              <a:p>
                <a:pPr algn="ctr"/>
                <a:endParaRPr/>
              </a:p>
            </p:txBody>
          </p:sp>
          <p:sp>
            <p:nvSpPr>
              <p:cNvPr id="45" name="Freeform 44"/>
              <p:cNvSpPr/>
              <p:nvPr/>
            </p:nvSpPr>
            <p:spPr>
              <a:xfrm>
                <a:off x="10356269" y="1539202"/>
                <a:ext cx="814689" cy="814689"/>
              </a:xfrm>
              <a:custGeom>
                <a:avLst/>
                <a:gdLst/>
                <a:ahLst/>
                <a:cxnLst/>
                <a:rect l="l" t="t" r="r" b="b"/>
                <a:pathLst>
                  <a:path w="814689" h="814689">
                    <a:moveTo>
                      <a:pt x="0" y="678907"/>
                    </a:moveTo>
                    <a:lnTo>
                      <a:pt x="678908" y="0"/>
                    </a:lnTo>
                    <a:lnTo>
                      <a:pt x="814689" y="135781"/>
                    </a:lnTo>
                    <a:lnTo>
                      <a:pt x="135782" y="814689"/>
                    </a:lnTo>
                    <a:close/>
                  </a:path>
                </a:pathLst>
              </a:custGeom>
              <a:solidFill>
                <a:srgbClr val="E5484D"/>
              </a:solidFill>
              <a:ln>
                <a:noFill/>
              </a:ln>
            </p:spPr>
            <p:txBody>
              <a:bodyPr rtlCol="0" anchor="ctr"/>
              <a:lstStyle/>
              <a:p>
                <a:pPr algn="ctr"/>
                <a:endParaRPr/>
              </a:p>
            </p:txBody>
          </p:sp>
          <p:sp>
            <p:nvSpPr>
              <p:cNvPr id="46" name="Freeform 45"/>
              <p:cNvSpPr/>
              <p:nvPr/>
            </p:nvSpPr>
            <p:spPr>
              <a:xfrm>
                <a:off x="10695723" y="1771970"/>
                <a:ext cx="242467" cy="242467"/>
              </a:xfrm>
              <a:custGeom>
                <a:avLst/>
                <a:gdLst/>
                <a:ahLst/>
                <a:cxnLst/>
                <a:rect l="l" t="t" r="r" b="b"/>
                <a:pathLst>
                  <a:path w="242467" h="242467">
                    <a:moveTo>
                      <a:pt x="0" y="106686"/>
                    </a:moveTo>
                    <a:lnTo>
                      <a:pt x="106685" y="0"/>
                    </a:lnTo>
                    <a:lnTo>
                      <a:pt x="242467" y="135782"/>
                    </a:lnTo>
                    <a:lnTo>
                      <a:pt x="135781" y="242467"/>
                    </a:lnTo>
                    <a:close/>
                  </a:path>
                </a:pathLst>
              </a:custGeom>
              <a:solidFill>
                <a:srgbClr val="FFFFFF"/>
              </a:solidFill>
              <a:ln>
                <a:noFill/>
              </a:ln>
            </p:spPr>
            <p:txBody>
              <a:bodyPr rtlCol="0" anchor="ctr"/>
              <a:lstStyle/>
              <a:p>
                <a:pPr algn="ctr"/>
                <a:endParaRPr/>
              </a:p>
            </p:txBody>
          </p:sp>
          <p:sp>
            <p:nvSpPr>
              <p:cNvPr id="47" name="Oval 46"/>
              <p:cNvSpPr/>
              <p:nvPr/>
            </p:nvSpPr>
            <p:spPr>
              <a:xfrm>
                <a:off x="10362438" y="2224278"/>
                <a:ext cx="123444" cy="123444"/>
              </a:xfrm>
              <a:prstGeom prst="ellipse">
                <a:avLst/>
              </a:prstGeom>
              <a:solidFill>
                <a:srgbClr val="1B1D21"/>
              </a:solidFill>
              <a:ln w="9525">
                <a:solidFill>
                  <a:srgbClr val="FFFFFF"/>
                </a:solidFill>
              </a:ln>
            </p:spPr>
            <p:txBody>
              <a:bodyPr rtlCol="0" anchor="ctr"/>
              <a:lstStyle/>
              <a:p>
                <a:pPr algn="ctr"/>
                <a:endParaRPr/>
              </a:p>
            </p:txBody>
          </p:sp>
          <p:sp>
            <p:nvSpPr>
              <p:cNvPr id="48" name="Oval 47"/>
              <p:cNvSpPr/>
              <p:nvPr/>
            </p:nvSpPr>
            <p:spPr>
              <a:xfrm>
                <a:off x="10024110" y="2160270"/>
                <a:ext cx="251460" cy="251460"/>
              </a:xfrm>
              <a:prstGeom prst="ellipse">
                <a:avLst/>
              </a:prstGeom>
              <a:solidFill>
                <a:srgbClr val="3FB950"/>
              </a:solidFill>
              <a:ln w="12700">
                <a:solidFill>
                  <a:srgbClr val="FFFFFF"/>
                </a:solidFill>
              </a:ln>
            </p:spPr>
            <p:txBody>
              <a:bodyPr rtlCol="0" anchor="ctr"/>
              <a:lstStyle/>
              <a:p>
                <a:pPr algn="ctr"/>
                <a:endParaRPr/>
              </a:p>
            </p:txBody>
          </p:sp>
        </p:grpSp>
        <p:sp>
          <p:nvSpPr>
            <p:cNvPr id="49" name="TextBox 48"/>
            <p:cNvSpPr txBox="1"/>
            <p:nvPr/>
          </p:nvSpPr>
          <p:spPr>
            <a:xfrm>
              <a:off x="8412480" y="3794760"/>
              <a:ext cx="1463040" cy="365760"/>
            </a:xfrm>
            <a:prstGeom prst="rect">
              <a:avLst/>
            </a:prstGeom>
            <a:noFill/>
          </p:spPr>
          <p:txBody>
            <a:bodyPr wrap="square" lIns="18288" tIns="18288" rIns="18288" bIns="18288" anchor="ctr">
              <a:noAutofit/>
            </a:bodyPr>
            <a:lstStyle/>
            <a:p>
              <a:pPr algn="ctr"/>
              <a:r>
                <a:rPr lang="en-GB" sz="1800" b="1" i="0">
                  <a:solidFill>
                    <a:srgbClr val="FF7A7E"/>
                  </a:solidFill>
                  <a:latin typeface="Arial"/>
                </a:rPr>
                <a:t>STOP</a:t>
              </a:r>
            </a:p>
          </p:txBody>
        </p:sp>
        <p:sp>
          <p:nvSpPr>
            <p:cNvPr id="50" name="TextBox 49"/>
            <p:cNvSpPr txBox="1"/>
            <p:nvPr/>
          </p:nvSpPr>
          <p:spPr>
            <a:xfrm>
              <a:off x="10241280" y="3794760"/>
              <a:ext cx="1280160" cy="365760"/>
            </a:xfrm>
            <a:prstGeom prst="rect">
              <a:avLst/>
            </a:prstGeom>
            <a:noFill/>
          </p:spPr>
          <p:txBody>
            <a:bodyPr wrap="square" lIns="18288" tIns="18288" rIns="18288" bIns="18288" anchor="ctr">
              <a:noAutofit/>
            </a:bodyPr>
            <a:lstStyle/>
            <a:p>
              <a:pPr algn="ctr"/>
              <a:r>
                <a:rPr lang="en-GB" sz="1800" b="1" i="0">
                  <a:solidFill>
                    <a:srgbClr val="3FB950"/>
                  </a:solidFill>
                  <a:latin typeface="Arial"/>
                </a:rPr>
                <a:t>CLEAR</a:t>
              </a:r>
            </a:p>
          </p:txBody>
        </p:sp>
      </p:grpSp>
      <p:sp>
        <p:nvSpPr>
          <p:cNvPr id="51" name="Chip: Undecided (arm style)" descr="Status tag: Undecided"/>
          <p:cNvSpPr/>
          <p:nvPr/>
        </p:nvSpPr>
        <p:spPr>
          <a:xfrm>
            <a:off x="7772400" y="4983480"/>
            <a:ext cx="3867912" cy="411480"/>
          </a:xfrm>
          <a:prstGeom prst="roundRect">
            <a:avLst>
              <a:gd name="adj" fmla="val 17777"/>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Arm style (rises or drops): undecided</a:t>
            </a:r>
          </a:p>
        </p:txBody>
      </p:sp>
      <p:sp>
        <p:nvSpPr>
          <p:cNvPr id="52"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A semaphore is a post with a moving arm. The arm is the message.</a:t>
            </a:r>
          </a:p>
        </p:txBody>
      </p:sp>
      <p:sp>
        <p:nvSpPr>
          <p:cNvPr id="53"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54"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6</a:t>
            </a:r>
          </a:p>
        </p:txBody>
      </p:sp>
    </p:spTree>
    <p:extLst>
      <p:ext uri="{BB962C8B-B14F-4D97-AF65-F5344CB8AC3E}">
        <p14:creationId xmlns:p14="http://schemas.microsoft.com/office/powerpoint/2010/main" val="28220199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nodeType="withEffect">
                                  <p:stCondLst>
                                    <p:cond delay="60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Stop arm and distant arm</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Stop arm and distant arm" descr="A red stop arm shown flat (stop) and raised (go). An amber distant arm with a notched end shown flat (be ready to stop) and raised (next signal clear). Three night lamps: red, yellow, green."/>
          <p:cNvGrpSpPr/>
          <p:nvPr/>
        </p:nvGrpSpPr>
        <p:grpSpPr>
          <a:xfrm>
            <a:off x="548640" y="1325880"/>
            <a:ext cx="11091672" cy="4160520"/>
            <a:chOff x="548640" y="1325880"/>
            <a:chExt cx="11091672" cy="4160520"/>
          </a:xfrm>
        </p:grpSpPr>
        <p:sp>
          <p:nvSpPr>
            <p:cNvPr id="5" name="TextBox 4"/>
            <p:cNvSpPr txBox="1"/>
            <p:nvPr/>
          </p:nvSpPr>
          <p:spPr>
            <a:xfrm>
              <a:off x="731520" y="1325880"/>
              <a:ext cx="2194560" cy="320040"/>
            </a:xfrm>
            <a:prstGeom prst="rect">
              <a:avLst/>
            </a:prstGeom>
            <a:noFill/>
          </p:spPr>
          <p:txBody>
            <a:bodyPr wrap="square" lIns="18288" tIns="18288" rIns="18288" bIns="18288" anchor="ctr">
              <a:noAutofit/>
            </a:bodyPr>
            <a:lstStyle/>
            <a:p>
              <a:pPr algn="l"/>
              <a:r>
                <a:rPr lang="en-GB" sz="1600" b="1" i="0">
                  <a:solidFill>
                    <a:srgbClr val="A9B0B8"/>
                  </a:solidFill>
                  <a:latin typeface="Arial"/>
                </a:rPr>
                <a:t>Stop arm</a:t>
              </a:r>
            </a:p>
          </p:txBody>
        </p:sp>
        <p:sp>
          <p:nvSpPr>
            <p:cNvPr id="6" name="TextBox 5"/>
            <p:cNvSpPr txBox="1"/>
            <p:nvPr/>
          </p:nvSpPr>
          <p:spPr>
            <a:xfrm>
              <a:off x="4023360" y="1325880"/>
              <a:ext cx="2743200" cy="320040"/>
            </a:xfrm>
            <a:prstGeom prst="rect">
              <a:avLst/>
            </a:prstGeom>
            <a:noFill/>
          </p:spPr>
          <p:txBody>
            <a:bodyPr wrap="square" lIns="18288" tIns="18288" rIns="18288" bIns="18288" anchor="ctr">
              <a:noAutofit/>
            </a:bodyPr>
            <a:lstStyle/>
            <a:p>
              <a:pPr algn="l"/>
              <a:r>
                <a:rPr lang="en-GB" sz="1600" b="1" i="0">
                  <a:solidFill>
                    <a:srgbClr val="A9B0B8"/>
                  </a:solidFill>
                  <a:latin typeface="Arial"/>
                </a:rPr>
                <a:t>Distant arm</a:t>
              </a:r>
            </a:p>
          </p:txBody>
        </p:sp>
        <p:grpSp>
          <p:nvGrpSpPr>
            <p:cNvPr id="7" name="Stop arm flat" descr="A semaphore signal post with its arm flat (stop)."/>
            <p:cNvGrpSpPr/>
            <p:nvPr/>
          </p:nvGrpSpPr>
          <p:grpSpPr>
            <a:xfrm>
              <a:off x="788670" y="2011680"/>
              <a:ext cx="1360170" cy="1508760"/>
              <a:chOff x="788670" y="2011680"/>
              <a:chExt cx="1360170" cy="1508760"/>
            </a:xfrm>
          </p:grpSpPr>
          <p:sp>
            <p:nvSpPr>
              <p:cNvPr id="8" name="Rectangle 7"/>
              <p:cNvSpPr/>
              <p:nvPr/>
            </p:nvSpPr>
            <p:spPr>
              <a:xfrm>
                <a:off x="982980" y="3410712"/>
                <a:ext cx="411480" cy="109728"/>
              </a:xfrm>
              <a:prstGeom prst="rect">
                <a:avLst/>
              </a:prstGeom>
              <a:solidFill>
                <a:srgbClr val="9AA0A6"/>
              </a:solidFill>
              <a:ln>
                <a:noFill/>
              </a:ln>
            </p:spPr>
            <p:txBody>
              <a:bodyPr rtlCol="0" anchor="ctr"/>
              <a:lstStyle/>
              <a:p>
                <a:pPr algn="ctr"/>
                <a:endParaRPr/>
              </a:p>
            </p:txBody>
          </p:sp>
          <p:sp>
            <p:nvSpPr>
              <p:cNvPr id="9" name="Rectangle 8"/>
              <p:cNvSpPr/>
              <p:nvPr/>
            </p:nvSpPr>
            <p:spPr>
              <a:xfrm>
                <a:off x="1106424" y="2011680"/>
                <a:ext cx="164592" cy="1399032"/>
              </a:xfrm>
              <a:prstGeom prst="rect">
                <a:avLst/>
              </a:prstGeom>
              <a:solidFill>
                <a:srgbClr val="E8E8E8"/>
              </a:solidFill>
              <a:ln>
                <a:noFill/>
              </a:ln>
            </p:spPr>
            <p:txBody>
              <a:bodyPr rtlCol="0" anchor="ctr"/>
              <a:lstStyle/>
              <a:p>
                <a:pPr algn="ctr"/>
                <a:endParaRPr/>
              </a:p>
            </p:txBody>
          </p:sp>
          <p:sp>
            <p:nvSpPr>
              <p:cNvPr id="10" name="Freeform 9"/>
              <p:cNvSpPr/>
              <p:nvPr/>
            </p:nvSpPr>
            <p:spPr>
              <a:xfrm>
                <a:off x="1188720" y="2052828"/>
                <a:ext cx="960120" cy="192024"/>
              </a:xfrm>
              <a:custGeom>
                <a:avLst/>
                <a:gdLst/>
                <a:ahLst/>
                <a:cxnLst/>
                <a:rect l="l" t="t" r="r" b="b"/>
                <a:pathLst>
                  <a:path w="960120" h="192024">
                    <a:moveTo>
                      <a:pt x="0" y="0"/>
                    </a:moveTo>
                    <a:lnTo>
                      <a:pt x="960120" y="0"/>
                    </a:lnTo>
                    <a:lnTo>
                      <a:pt x="960120" y="192024"/>
                    </a:lnTo>
                    <a:lnTo>
                      <a:pt x="0" y="192024"/>
                    </a:lnTo>
                    <a:close/>
                  </a:path>
                </a:pathLst>
              </a:custGeom>
              <a:solidFill>
                <a:srgbClr val="E5484D"/>
              </a:solidFill>
              <a:ln>
                <a:noFill/>
              </a:ln>
            </p:spPr>
            <p:txBody>
              <a:bodyPr rtlCol="0" anchor="ctr"/>
              <a:lstStyle/>
              <a:p>
                <a:pPr algn="ctr"/>
                <a:endParaRPr/>
              </a:p>
            </p:txBody>
          </p:sp>
          <p:sp>
            <p:nvSpPr>
              <p:cNvPr id="11" name="Freeform 10"/>
              <p:cNvSpPr/>
              <p:nvPr/>
            </p:nvSpPr>
            <p:spPr>
              <a:xfrm>
                <a:off x="1668780" y="2052828"/>
                <a:ext cx="150876" cy="192024"/>
              </a:xfrm>
              <a:custGeom>
                <a:avLst/>
                <a:gdLst/>
                <a:ahLst/>
                <a:cxnLst/>
                <a:rect l="l" t="t" r="r" b="b"/>
                <a:pathLst>
                  <a:path w="150876" h="192024">
                    <a:moveTo>
                      <a:pt x="0" y="0"/>
                    </a:moveTo>
                    <a:lnTo>
                      <a:pt x="150876" y="0"/>
                    </a:lnTo>
                    <a:lnTo>
                      <a:pt x="150876" y="192024"/>
                    </a:lnTo>
                    <a:lnTo>
                      <a:pt x="0" y="192024"/>
                    </a:lnTo>
                    <a:close/>
                  </a:path>
                </a:pathLst>
              </a:custGeom>
              <a:solidFill>
                <a:srgbClr val="FFFFFF"/>
              </a:solidFill>
              <a:ln>
                <a:noFill/>
              </a:ln>
            </p:spPr>
            <p:txBody>
              <a:bodyPr rtlCol="0" anchor="ctr"/>
              <a:lstStyle/>
              <a:p>
                <a:pPr algn="ctr"/>
                <a:endParaRPr/>
              </a:p>
            </p:txBody>
          </p:sp>
          <p:sp>
            <p:nvSpPr>
              <p:cNvPr id="12" name="Oval 11"/>
              <p:cNvSpPr/>
              <p:nvPr/>
            </p:nvSpPr>
            <p:spPr>
              <a:xfrm>
                <a:off x="1126998" y="2087118"/>
                <a:ext cx="123444" cy="123444"/>
              </a:xfrm>
              <a:prstGeom prst="ellipse">
                <a:avLst/>
              </a:prstGeom>
              <a:solidFill>
                <a:srgbClr val="1B1D21"/>
              </a:solidFill>
              <a:ln w="9525">
                <a:solidFill>
                  <a:srgbClr val="FFFFFF"/>
                </a:solidFill>
              </a:ln>
            </p:spPr>
            <p:txBody>
              <a:bodyPr rtlCol="0" anchor="ctr"/>
              <a:lstStyle/>
              <a:p>
                <a:pPr algn="ctr"/>
                <a:endParaRPr/>
              </a:p>
            </p:txBody>
          </p:sp>
          <p:sp>
            <p:nvSpPr>
              <p:cNvPr id="13" name="Oval 12"/>
              <p:cNvSpPr/>
              <p:nvPr/>
            </p:nvSpPr>
            <p:spPr>
              <a:xfrm>
                <a:off x="788670" y="2023110"/>
                <a:ext cx="251460" cy="251460"/>
              </a:xfrm>
              <a:prstGeom prst="ellipse">
                <a:avLst/>
              </a:prstGeom>
              <a:solidFill>
                <a:srgbClr val="E5484D"/>
              </a:solidFill>
              <a:ln w="12700">
                <a:solidFill>
                  <a:srgbClr val="FFFFFF"/>
                </a:solidFill>
              </a:ln>
            </p:spPr>
            <p:txBody>
              <a:bodyPr rtlCol="0" anchor="ctr"/>
              <a:lstStyle/>
              <a:p>
                <a:pPr algn="ctr"/>
                <a:endParaRPr/>
              </a:p>
            </p:txBody>
          </p:sp>
        </p:grpSp>
        <p:grpSp>
          <p:nvGrpSpPr>
            <p:cNvPr id="14" name="Stop arm raised" descr="A semaphore signal post with its arm raised (clear)."/>
            <p:cNvGrpSpPr/>
            <p:nvPr/>
          </p:nvGrpSpPr>
          <p:grpSpPr>
            <a:xfrm>
              <a:off x="2526030" y="1402042"/>
              <a:ext cx="1146848" cy="2118398"/>
              <a:chOff x="2526030" y="1402042"/>
              <a:chExt cx="1146848" cy="2118398"/>
            </a:xfrm>
          </p:grpSpPr>
          <p:sp>
            <p:nvSpPr>
              <p:cNvPr id="15" name="Rectangle 14"/>
              <p:cNvSpPr/>
              <p:nvPr/>
            </p:nvSpPr>
            <p:spPr>
              <a:xfrm>
                <a:off x="2720340" y="3410712"/>
                <a:ext cx="411480" cy="109728"/>
              </a:xfrm>
              <a:prstGeom prst="rect">
                <a:avLst/>
              </a:prstGeom>
              <a:solidFill>
                <a:srgbClr val="9AA0A6"/>
              </a:solidFill>
              <a:ln>
                <a:noFill/>
              </a:ln>
            </p:spPr>
            <p:txBody>
              <a:bodyPr rtlCol="0" anchor="ctr"/>
              <a:lstStyle/>
              <a:p>
                <a:pPr algn="ctr"/>
                <a:endParaRPr/>
              </a:p>
            </p:txBody>
          </p:sp>
          <p:sp>
            <p:nvSpPr>
              <p:cNvPr id="16" name="Rectangle 15"/>
              <p:cNvSpPr/>
              <p:nvPr/>
            </p:nvSpPr>
            <p:spPr>
              <a:xfrm>
                <a:off x="2843784" y="2011680"/>
                <a:ext cx="164592" cy="1399032"/>
              </a:xfrm>
              <a:prstGeom prst="rect">
                <a:avLst/>
              </a:prstGeom>
              <a:solidFill>
                <a:srgbClr val="E8E8E8"/>
              </a:solidFill>
              <a:ln>
                <a:noFill/>
              </a:ln>
            </p:spPr>
            <p:txBody>
              <a:bodyPr rtlCol="0" anchor="ctr"/>
              <a:lstStyle/>
              <a:p>
                <a:pPr algn="ctr"/>
                <a:endParaRPr/>
              </a:p>
            </p:txBody>
          </p:sp>
          <p:sp>
            <p:nvSpPr>
              <p:cNvPr id="17" name="Freeform 16"/>
              <p:cNvSpPr/>
              <p:nvPr/>
            </p:nvSpPr>
            <p:spPr>
              <a:xfrm>
                <a:off x="2858189" y="1402042"/>
                <a:ext cx="814689" cy="814689"/>
              </a:xfrm>
              <a:custGeom>
                <a:avLst/>
                <a:gdLst/>
                <a:ahLst/>
                <a:cxnLst/>
                <a:rect l="l" t="t" r="r" b="b"/>
                <a:pathLst>
                  <a:path w="814689" h="814689">
                    <a:moveTo>
                      <a:pt x="0" y="678907"/>
                    </a:moveTo>
                    <a:lnTo>
                      <a:pt x="678908" y="0"/>
                    </a:lnTo>
                    <a:lnTo>
                      <a:pt x="814689" y="135781"/>
                    </a:lnTo>
                    <a:lnTo>
                      <a:pt x="135782" y="814689"/>
                    </a:lnTo>
                    <a:close/>
                  </a:path>
                </a:pathLst>
              </a:custGeom>
              <a:solidFill>
                <a:srgbClr val="E5484D"/>
              </a:solidFill>
              <a:ln>
                <a:noFill/>
              </a:ln>
            </p:spPr>
            <p:txBody>
              <a:bodyPr rtlCol="0" anchor="ctr"/>
              <a:lstStyle/>
              <a:p>
                <a:pPr algn="ctr"/>
                <a:endParaRPr/>
              </a:p>
            </p:txBody>
          </p:sp>
          <p:sp>
            <p:nvSpPr>
              <p:cNvPr id="18" name="Freeform 17"/>
              <p:cNvSpPr/>
              <p:nvPr/>
            </p:nvSpPr>
            <p:spPr>
              <a:xfrm>
                <a:off x="3197643" y="1634810"/>
                <a:ext cx="242467" cy="242467"/>
              </a:xfrm>
              <a:custGeom>
                <a:avLst/>
                <a:gdLst/>
                <a:ahLst/>
                <a:cxnLst/>
                <a:rect l="l" t="t" r="r" b="b"/>
                <a:pathLst>
                  <a:path w="242467" h="242467">
                    <a:moveTo>
                      <a:pt x="0" y="106686"/>
                    </a:moveTo>
                    <a:lnTo>
                      <a:pt x="106685" y="0"/>
                    </a:lnTo>
                    <a:lnTo>
                      <a:pt x="242467" y="135782"/>
                    </a:lnTo>
                    <a:lnTo>
                      <a:pt x="135781" y="242467"/>
                    </a:lnTo>
                    <a:close/>
                  </a:path>
                </a:pathLst>
              </a:custGeom>
              <a:solidFill>
                <a:srgbClr val="FFFFFF"/>
              </a:solidFill>
              <a:ln>
                <a:noFill/>
              </a:ln>
            </p:spPr>
            <p:txBody>
              <a:bodyPr rtlCol="0" anchor="ctr"/>
              <a:lstStyle/>
              <a:p>
                <a:pPr algn="ctr"/>
                <a:endParaRPr/>
              </a:p>
            </p:txBody>
          </p:sp>
          <p:sp>
            <p:nvSpPr>
              <p:cNvPr id="19" name="Oval 18"/>
              <p:cNvSpPr/>
              <p:nvPr/>
            </p:nvSpPr>
            <p:spPr>
              <a:xfrm>
                <a:off x="2864358" y="2087118"/>
                <a:ext cx="123444" cy="123444"/>
              </a:xfrm>
              <a:prstGeom prst="ellipse">
                <a:avLst/>
              </a:prstGeom>
              <a:solidFill>
                <a:srgbClr val="1B1D21"/>
              </a:solidFill>
              <a:ln w="9525">
                <a:solidFill>
                  <a:srgbClr val="FFFFFF"/>
                </a:solidFill>
              </a:ln>
            </p:spPr>
            <p:txBody>
              <a:bodyPr rtlCol="0" anchor="ctr"/>
              <a:lstStyle/>
              <a:p>
                <a:pPr algn="ctr"/>
                <a:endParaRPr/>
              </a:p>
            </p:txBody>
          </p:sp>
          <p:sp>
            <p:nvSpPr>
              <p:cNvPr id="20" name="Oval 19"/>
              <p:cNvSpPr/>
              <p:nvPr/>
            </p:nvSpPr>
            <p:spPr>
              <a:xfrm>
                <a:off x="2526030" y="2023110"/>
                <a:ext cx="251460" cy="251460"/>
              </a:xfrm>
              <a:prstGeom prst="ellipse">
                <a:avLst/>
              </a:prstGeom>
              <a:solidFill>
                <a:srgbClr val="3FB950"/>
              </a:solidFill>
              <a:ln w="12700">
                <a:solidFill>
                  <a:srgbClr val="FFFFFF"/>
                </a:solidFill>
              </a:ln>
            </p:spPr>
            <p:txBody>
              <a:bodyPr rtlCol="0" anchor="ctr"/>
              <a:lstStyle/>
              <a:p>
                <a:pPr algn="ctr"/>
                <a:endParaRPr/>
              </a:p>
            </p:txBody>
          </p:sp>
        </p:grpSp>
        <p:sp>
          <p:nvSpPr>
            <p:cNvPr id="21" name="TextBox 20"/>
            <p:cNvSpPr txBox="1"/>
            <p:nvPr/>
          </p:nvSpPr>
          <p:spPr>
            <a:xfrm>
              <a:off x="548640" y="3630168"/>
              <a:ext cx="1371600" cy="365760"/>
            </a:xfrm>
            <a:prstGeom prst="rect">
              <a:avLst/>
            </a:prstGeom>
            <a:noFill/>
          </p:spPr>
          <p:txBody>
            <a:bodyPr wrap="square" lIns="18288" tIns="18288" rIns="18288" bIns="18288" anchor="ctr">
              <a:noAutofit/>
            </a:bodyPr>
            <a:lstStyle/>
            <a:p>
              <a:pPr algn="ctr"/>
              <a:r>
                <a:rPr lang="en-GB" sz="1800" b="1" i="0">
                  <a:solidFill>
                    <a:srgbClr val="FF7A7E"/>
                  </a:solidFill>
                  <a:latin typeface="Arial"/>
                </a:rPr>
                <a:t>STOP</a:t>
              </a:r>
            </a:p>
          </p:txBody>
        </p:sp>
        <p:sp>
          <p:nvSpPr>
            <p:cNvPr id="22" name="TextBox 21"/>
            <p:cNvSpPr txBox="1"/>
            <p:nvPr/>
          </p:nvSpPr>
          <p:spPr>
            <a:xfrm>
              <a:off x="2286000" y="3630168"/>
              <a:ext cx="1280160" cy="365760"/>
            </a:xfrm>
            <a:prstGeom prst="rect">
              <a:avLst/>
            </a:prstGeom>
            <a:noFill/>
          </p:spPr>
          <p:txBody>
            <a:bodyPr wrap="square" lIns="18288" tIns="18288" rIns="18288" bIns="18288" anchor="ctr">
              <a:noAutofit/>
            </a:bodyPr>
            <a:lstStyle/>
            <a:p>
              <a:pPr algn="ctr"/>
              <a:r>
                <a:rPr lang="en-GB" sz="1800" b="1" i="0">
                  <a:solidFill>
                    <a:srgbClr val="3FB950"/>
                  </a:solidFill>
                  <a:latin typeface="Arial"/>
                </a:rPr>
                <a:t>GO</a:t>
              </a:r>
            </a:p>
          </p:txBody>
        </p:sp>
        <p:grpSp>
          <p:nvGrpSpPr>
            <p:cNvPr id="23" name="Distant arm flat" descr="A semaphore signal post with its arm flat (stop)."/>
            <p:cNvGrpSpPr/>
            <p:nvPr/>
          </p:nvGrpSpPr>
          <p:grpSpPr>
            <a:xfrm>
              <a:off x="4446270" y="2011680"/>
              <a:ext cx="1360170" cy="1508760"/>
              <a:chOff x="4446270" y="2011680"/>
              <a:chExt cx="1360170" cy="1508760"/>
            </a:xfrm>
          </p:grpSpPr>
          <p:sp>
            <p:nvSpPr>
              <p:cNvPr id="24" name="Rectangle 23"/>
              <p:cNvSpPr/>
              <p:nvPr/>
            </p:nvSpPr>
            <p:spPr>
              <a:xfrm>
                <a:off x="4640580" y="3410712"/>
                <a:ext cx="411480" cy="109728"/>
              </a:xfrm>
              <a:prstGeom prst="rect">
                <a:avLst/>
              </a:prstGeom>
              <a:solidFill>
                <a:srgbClr val="9AA0A6"/>
              </a:solidFill>
              <a:ln>
                <a:noFill/>
              </a:ln>
            </p:spPr>
            <p:txBody>
              <a:bodyPr rtlCol="0" anchor="ctr"/>
              <a:lstStyle/>
              <a:p>
                <a:pPr algn="ctr"/>
                <a:endParaRPr/>
              </a:p>
            </p:txBody>
          </p:sp>
          <p:sp>
            <p:nvSpPr>
              <p:cNvPr id="25" name="Rectangle 24"/>
              <p:cNvSpPr/>
              <p:nvPr/>
            </p:nvSpPr>
            <p:spPr>
              <a:xfrm>
                <a:off x="4764024" y="2011680"/>
                <a:ext cx="164592" cy="1399032"/>
              </a:xfrm>
              <a:prstGeom prst="rect">
                <a:avLst/>
              </a:prstGeom>
              <a:solidFill>
                <a:srgbClr val="E8E8E8"/>
              </a:solidFill>
              <a:ln>
                <a:noFill/>
              </a:ln>
            </p:spPr>
            <p:txBody>
              <a:bodyPr rtlCol="0" anchor="ctr"/>
              <a:lstStyle/>
              <a:p>
                <a:pPr algn="ctr"/>
                <a:endParaRPr/>
              </a:p>
            </p:txBody>
          </p:sp>
          <p:sp>
            <p:nvSpPr>
              <p:cNvPr id="26" name="Freeform 25"/>
              <p:cNvSpPr/>
              <p:nvPr/>
            </p:nvSpPr>
            <p:spPr>
              <a:xfrm>
                <a:off x="4846320" y="2052828"/>
                <a:ext cx="960120" cy="192024"/>
              </a:xfrm>
              <a:custGeom>
                <a:avLst/>
                <a:gdLst/>
                <a:ahLst/>
                <a:cxnLst/>
                <a:rect l="l" t="t" r="r" b="b"/>
                <a:pathLst>
                  <a:path w="960120" h="192024">
                    <a:moveTo>
                      <a:pt x="0" y="0"/>
                    </a:moveTo>
                    <a:lnTo>
                      <a:pt x="960120" y="0"/>
                    </a:lnTo>
                    <a:lnTo>
                      <a:pt x="713232" y="96012"/>
                    </a:lnTo>
                    <a:lnTo>
                      <a:pt x="960120" y="192024"/>
                    </a:lnTo>
                    <a:lnTo>
                      <a:pt x="0" y="192024"/>
                    </a:lnTo>
                    <a:close/>
                  </a:path>
                </a:pathLst>
              </a:custGeom>
              <a:solidFill>
                <a:srgbClr val="F2C14E"/>
              </a:solidFill>
              <a:ln>
                <a:noFill/>
              </a:ln>
            </p:spPr>
            <p:txBody>
              <a:bodyPr rtlCol="0" anchor="ctr"/>
              <a:lstStyle/>
              <a:p>
                <a:pPr algn="ctr"/>
                <a:endParaRPr/>
              </a:p>
            </p:txBody>
          </p:sp>
          <p:sp>
            <p:nvSpPr>
              <p:cNvPr id="27" name="Freeform 26"/>
              <p:cNvSpPr/>
              <p:nvPr/>
            </p:nvSpPr>
            <p:spPr>
              <a:xfrm>
                <a:off x="5326380" y="2052828"/>
                <a:ext cx="109728" cy="192024"/>
              </a:xfrm>
              <a:custGeom>
                <a:avLst/>
                <a:gdLst/>
                <a:ahLst/>
                <a:cxnLst/>
                <a:rect l="l" t="t" r="r" b="b"/>
                <a:pathLst>
                  <a:path w="109728" h="192024">
                    <a:moveTo>
                      <a:pt x="0" y="0"/>
                    </a:moveTo>
                    <a:lnTo>
                      <a:pt x="109728" y="0"/>
                    </a:lnTo>
                    <a:lnTo>
                      <a:pt x="109728" y="192024"/>
                    </a:lnTo>
                    <a:lnTo>
                      <a:pt x="0" y="192024"/>
                    </a:lnTo>
                    <a:close/>
                  </a:path>
                </a:pathLst>
              </a:custGeom>
              <a:solidFill>
                <a:srgbClr val="1B1D21"/>
              </a:solidFill>
              <a:ln>
                <a:noFill/>
              </a:ln>
            </p:spPr>
            <p:txBody>
              <a:bodyPr rtlCol="0" anchor="ctr"/>
              <a:lstStyle/>
              <a:p>
                <a:pPr algn="ctr"/>
                <a:endParaRPr/>
              </a:p>
            </p:txBody>
          </p:sp>
          <p:sp>
            <p:nvSpPr>
              <p:cNvPr id="28" name="Oval 27"/>
              <p:cNvSpPr/>
              <p:nvPr/>
            </p:nvSpPr>
            <p:spPr>
              <a:xfrm>
                <a:off x="4784598" y="2087118"/>
                <a:ext cx="123444" cy="123444"/>
              </a:xfrm>
              <a:prstGeom prst="ellipse">
                <a:avLst/>
              </a:prstGeom>
              <a:solidFill>
                <a:srgbClr val="1B1D21"/>
              </a:solidFill>
              <a:ln w="9525">
                <a:solidFill>
                  <a:srgbClr val="FFFFFF"/>
                </a:solidFill>
              </a:ln>
            </p:spPr>
            <p:txBody>
              <a:bodyPr rtlCol="0" anchor="ctr"/>
              <a:lstStyle/>
              <a:p>
                <a:pPr algn="ctr"/>
                <a:endParaRPr/>
              </a:p>
            </p:txBody>
          </p:sp>
          <p:sp>
            <p:nvSpPr>
              <p:cNvPr id="29" name="Oval 28"/>
              <p:cNvSpPr/>
              <p:nvPr/>
            </p:nvSpPr>
            <p:spPr>
              <a:xfrm>
                <a:off x="4446270" y="2023110"/>
                <a:ext cx="251460" cy="251460"/>
              </a:xfrm>
              <a:prstGeom prst="ellipse">
                <a:avLst/>
              </a:prstGeom>
              <a:solidFill>
                <a:srgbClr val="F2C14E"/>
              </a:solidFill>
              <a:ln w="12700">
                <a:solidFill>
                  <a:srgbClr val="FFFFFF"/>
                </a:solidFill>
              </a:ln>
            </p:spPr>
            <p:txBody>
              <a:bodyPr rtlCol="0" anchor="ctr"/>
              <a:lstStyle/>
              <a:p>
                <a:pPr algn="ctr"/>
                <a:endParaRPr/>
              </a:p>
            </p:txBody>
          </p:sp>
        </p:grpSp>
        <p:grpSp>
          <p:nvGrpSpPr>
            <p:cNvPr id="30" name="Distant arm raised" descr="A semaphore signal post with its arm raised (clear)."/>
            <p:cNvGrpSpPr/>
            <p:nvPr/>
          </p:nvGrpSpPr>
          <p:grpSpPr>
            <a:xfrm>
              <a:off x="6457950" y="1402042"/>
              <a:ext cx="1146848" cy="2118398"/>
              <a:chOff x="6457950" y="1402042"/>
              <a:chExt cx="1146848" cy="2118398"/>
            </a:xfrm>
          </p:grpSpPr>
          <p:sp>
            <p:nvSpPr>
              <p:cNvPr id="31" name="Rectangle 30"/>
              <p:cNvSpPr/>
              <p:nvPr/>
            </p:nvSpPr>
            <p:spPr>
              <a:xfrm>
                <a:off x="6652260" y="3410712"/>
                <a:ext cx="411480" cy="109728"/>
              </a:xfrm>
              <a:prstGeom prst="rect">
                <a:avLst/>
              </a:prstGeom>
              <a:solidFill>
                <a:srgbClr val="9AA0A6"/>
              </a:solidFill>
              <a:ln>
                <a:noFill/>
              </a:ln>
            </p:spPr>
            <p:txBody>
              <a:bodyPr rtlCol="0" anchor="ctr"/>
              <a:lstStyle/>
              <a:p>
                <a:pPr algn="ctr"/>
                <a:endParaRPr/>
              </a:p>
            </p:txBody>
          </p:sp>
          <p:sp>
            <p:nvSpPr>
              <p:cNvPr id="32" name="Rectangle 31"/>
              <p:cNvSpPr/>
              <p:nvPr/>
            </p:nvSpPr>
            <p:spPr>
              <a:xfrm>
                <a:off x="6775704" y="2011680"/>
                <a:ext cx="164592" cy="1399032"/>
              </a:xfrm>
              <a:prstGeom prst="rect">
                <a:avLst/>
              </a:prstGeom>
              <a:solidFill>
                <a:srgbClr val="E8E8E8"/>
              </a:solidFill>
              <a:ln>
                <a:noFill/>
              </a:ln>
            </p:spPr>
            <p:txBody>
              <a:bodyPr rtlCol="0" anchor="ctr"/>
              <a:lstStyle/>
              <a:p>
                <a:pPr algn="ctr"/>
                <a:endParaRPr/>
              </a:p>
            </p:txBody>
          </p:sp>
          <p:sp>
            <p:nvSpPr>
              <p:cNvPr id="33" name="Freeform 32"/>
              <p:cNvSpPr/>
              <p:nvPr/>
            </p:nvSpPr>
            <p:spPr>
              <a:xfrm>
                <a:off x="6790109" y="1402042"/>
                <a:ext cx="814689" cy="814689"/>
              </a:xfrm>
              <a:custGeom>
                <a:avLst/>
                <a:gdLst/>
                <a:ahLst/>
                <a:cxnLst/>
                <a:rect l="l" t="t" r="r" b="b"/>
                <a:pathLst>
                  <a:path w="814689" h="814689">
                    <a:moveTo>
                      <a:pt x="0" y="678907"/>
                    </a:moveTo>
                    <a:lnTo>
                      <a:pt x="678908" y="0"/>
                    </a:lnTo>
                    <a:lnTo>
                      <a:pt x="572222" y="242467"/>
                    </a:lnTo>
                    <a:lnTo>
                      <a:pt x="814689" y="135781"/>
                    </a:lnTo>
                    <a:lnTo>
                      <a:pt x="135782" y="814689"/>
                    </a:lnTo>
                    <a:close/>
                  </a:path>
                </a:pathLst>
              </a:custGeom>
              <a:solidFill>
                <a:srgbClr val="F2C14E"/>
              </a:solidFill>
              <a:ln>
                <a:noFill/>
              </a:ln>
            </p:spPr>
            <p:txBody>
              <a:bodyPr rtlCol="0" anchor="ctr"/>
              <a:lstStyle/>
              <a:p>
                <a:pPr algn="ctr"/>
                <a:endParaRPr/>
              </a:p>
            </p:txBody>
          </p:sp>
          <p:sp>
            <p:nvSpPr>
              <p:cNvPr id="34" name="Freeform 33"/>
              <p:cNvSpPr/>
              <p:nvPr/>
            </p:nvSpPr>
            <p:spPr>
              <a:xfrm>
                <a:off x="7129563" y="1663906"/>
                <a:ext cx="213371" cy="213371"/>
              </a:xfrm>
              <a:custGeom>
                <a:avLst/>
                <a:gdLst/>
                <a:ahLst/>
                <a:cxnLst/>
                <a:rect l="l" t="t" r="r" b="b"/>
                <a:pathLst>
                  <a:path w="213371" h="213371">
                    <a:moveTo>
                      <a:pt x="0" y="77590"/>
                    </a:moveTo>
                    <a:lnTo>
                      <a:pt x="77589" y="0"/>
                    </a:lnTo>
                    <a:lnTo>
                      <a:pt x="213371" y="135782"/>
                    </a:lnTo>
                    <a:lnTo>
                      <a:pt x="135781" y="213371"/>
                    </a:lnTo>
                    <a:close/>
                  </a:path>
                </a:pathLst>
              </a:custGeom>
              <a:solidFill>
                <a:srgbClr val="1B1D21"/>
              </a:solidFill>
              <a:ln>
                <a:noFill/>
              </a:ln>
            </p:spPr>
            <p:txBody>
              <a:bodyPr rtlCol="0" anchor="ctr"/>
              <a:lstStyle/>
              <a:p>
                <a:pPr algn="ctr"/>
                <a:endParaRPr/>
              </a:p>
            </p:txBody>
          </p:sp>
          <p:sp>
            <p:nvSpPr>
              <p:cNvPr id="35" name="Oval 34"/>
              <p:cNvSpPr/>
              <p:nvPr/>
            </p:nvSpPr>
            <p:spPr>
              <a:xfrm>
                <a:off x="6796278" y="2087118"/>
                <a:ext cx="123444" cy="123444"/>
              </a:xfrm>
              <a:prstGeom prst="ellipse">
                <a:avLst/>
              </a:prstGeom>
              <a:solidFill>
                <a:srgbClr val="1B1D21"/>
              </a:solidFill>
              <a:ln w="9525">
                <a:solidFill>
                  <a:srgbClr val="FFFFFF"/>
                </a:solidFill>
              </a:ln>
            </p:spPr>
            <p:txBody>
              <a:bodyPr rtlCol="0" anchor="ctr"/>
              <a:lstStyle/>
              <a:p>
                <a:pPr algn="ctr"/>
                <a:endParaRPr/>
              </a:p>
            </p:txBody>
          </p:sp>
          <p:sp>
            <p:nvSpPr>
              <p:cNvPr id="36" name="Oval 35"/>
              <p:cNvSpPr/>
              <p:nvPr/>
            </p:nvSpPr>
            <p:spPr>
              <a:xfrm>
                <a:off x="6457950" y="2023110"/>
                <a:ext cx="251460" cy="251460"/>
              </a:xfrm>
              <a:prstGeom prst="ellipse">
                <a:avLst/>
              </a:prstGeom>
              <a:solidFill>
                <a:srgbClr val="3FB950"/>
              </a:solidFill>
              <a:ln w="12700">
                <a:solidFill>
                  <a:srgbClr val="FFFFFF"/>
                </a:solidFill>
              </a:ln>
            </p:spPr>
            <p:txBody>
              <a:bodyPr rtlCol="0" anchor="ctr"/>
              <a:lstStyle/>
              <a:p>
                <a:pPr algn="ctr"/>
                <a:endParaRPr/>
              </a:p>
            </p:txBody>
          </p:sp>
        </p:grpSp>
        <p:sp>
          <p:nvSpPr>
            <p:cNvPr id="37" name="TextBox 36"/>
            <p:cNvSpPr txBox="1"/>
            <p:nvPr/>
          </p:nvSpPr>
          <p:spPr>
            <a:xfrm>
              <a:off x="3977640" y="3630168"/>
              <a:ext cx="1920240" cy="731520"/>
            </a:xfrm>
            <a:prstGeom prst="rect">
              <a:avLst/>
            </a:prstGeom>
            <a:noFill/>
          </p:spPr>
          <p:txBody>
            <a:bodyPr wrap="square" lIns="18288" tIns="18288" rIns="18288" bIns="18288" anchor="t">
              <a:noAutofit/>
            </a:bodyPr>
            <a:lstStyle/>
            <a:p>
              <a:pPr algn="ctr"/>
              <a:r>
                <a:rPr lang="en-GB" sz="1400" b="1" i="0">
                  <a:solidFill>
                    <a:srgbClr val="F2C14E"/>
                  </a:solidFill>
                  <a:latin typeface="Arial"/>
                </a:rPr>
                <a:t>Be ready to stop at the next signal</a:t>
              </a:r>
            </a:p>
          </p:txBody>
        </p:sp>
        <p:sp>
          <p:nvSpPr>
            <p:cNvPr id="38" name="TextBox 37"/>
            <p:cNvSpPr txBox="1"/>
            <p:nvPr/>
          </p:nvSpPr>
          <p:spPr>
            <a:xfrm>
              <a:off x="5943600" y="3630168"/>
              <a:ext cx="1920240" cy="731520"/>
            </a:xfrm>
            <a:prstGeom prst="rect">
              <a:avLst/>
            </a:prstGeom>
            <a:noFill/>
          </p:spPr>
          <p:txBody>
            <a:bodyPr wrap="square" lIns="18288" tIns="18288" rIns="18288" bIns="18288" anchor="t">
              <a:noAutofit/>
            </a:bodyPr>
            <a:lstStyle/>
            <a:p>
              <a:pPr algn="ctr"/>
              <a:r>
                <a:rPr lang="en-GB" sz="1400" b="1" i="0">
                  <a:solidFill>
                    <a:srgbClr val="3FB950"/>
                  </a:solidFill>
                  <a:latin typeface="Arial"/>
                </a:rPr>
                <a:t>Next signal is clear</a:t>
              </a:r>
            </a:p>
          </p:txBody>
        </p:sp>
        <p:sp>
          <p:nvSpPr>
            <p:cNvPr id="39" name="Rounded Rectangle 38"/>
            <p:cNvSpPr/>
            <p:nvPr/>
          </p:nvSpPr>
          <p:spPr>
            <a:xfrm>
              <a:off x="548640" y="4663440"/>
              <a:ext cx="11091672" cy="822960"/>
            </a:xfrm>
            <a:prstGeom prst="roundRect">
              <a:avLst>
                <a:gd name="adj" fmla="val 8888"/>
              </a:avLst>
            </a:prstGeom>
            <a:solidFill>
              <a:srgbClr val="2B2F36"/>
            </a:solidFill>
            <a:ln w="12700">
              <a:solidFill>
                <a:srgbClr val="4A515B"/>
              </a:solidFill>
            </a:ln>
          </p:spPr>
          <p:txBody>
            <a:bodyPr rtlCol="0" anchor="ctr"/>
            <a:lstStyle/>
            <a:p>
              <a:pPr algn="ctr"/>
              <a:endParaRPr/>
            </a:p>
          </p:txBody>
        </p:sp>
        <p:sp>
          <p:nvSpPr>
            <p:cNvPr id="40" name="TextBox 39"/>
            <p:cNvSpPr txBox="1"/>
            <p:nvPr/>
          </p:nvSpPr>
          <p:spPr>
            <a:xfrm>
              <a:off x="777240" y="4663440"/>
              <a:ext cx="1828800" cy="822960"/>
            </a:xfrm>
            <a:prstGeom prst="rect">
              <a:avLst/>
            </a:prstGeom>
            <a:noFill/>
          </p:spPr>
          <p:txBody>
            <a:bodyPr wrap="square" lIns="18288" tIns="18288" rIns="18288" bIns="18288" anchor="ctr">
              <a:noAutofit/>
            </a:bodyPr>
            <a:lstStyle/>
            <a:p>
              <a:pPr algn="l"/>
              <a:r>
                <a:rPr lang="en-GB" sz="1600" b="1" i="0">
                  <a:solidFill>
                    <a:srgbClr val="A9B0B8"/>
                  </a:solidFill>
                  <a:latin typeface="Arial"/>
                </a:rPr>
                <a:t>Night lamps</a:t>
              </a:r>
            </a:p>
          </p:txBody>
        </p:sp>
        <p:sp>
          <p:nvSpPr>
            <p:cNvPr id="41" name="Oval 40"/>
            <p:cNvSpPr/>
            <p:nvPr/>
          </p:nvSpPr>
          <p:spPr>
            <a:xfrm>
              <a:off x="2880360" y="4846320"/>
              <a:ext cx="457200" cy="457200"/>
            </a:xfrm>
            <a:prstGeom prst="ellipse">
              <a:avLst/>
            </a:prstGeom>
            <a:solidFill>
              <a:srgbClr val="E5484D"/>
            </a:solidFill>
            <a:ln w="19050">
              <a:solidFill>
                <a:srgbClr val="FFFFFF"/>
              </a:solidFill>
            </a:ln>
          </p:spPr>
          <p:txBody>
            <a:bodyPr rtlCol="0" anchor="ctr"/>
            <a:lstStyle/>
            <a:p>
              <a:pPr algn="ctr"/>
              <a:endParaRPr/>
            </a:p>
          </p:txBody>
        </p:sp>
        <p:sp>
          <p:nvSpPr>
            <p:cNvPr id="42" name="TextBox 41"/>
            <p:cNvSpPr txBox="1"/>
            <p:nvPr/>
          </p:nvSpPr>
          <p:spPr>
            <a:xfrm>
              <a:off x="3474720" y="4846320"/>
              <a:ext cx="1371600" cy="457200"/>
            </a:xfrm>
            <a:prstGeom prst="rect">
              <a:avLst/>
            </a:prstGeom>
            <a:noFill/>
          </p:spPr>
          <p:txBody>
            <a:bodyPr wrap="square" lIns="18288" tIns="18288" rIns="18288" bIns="18288" anchor="ctr">
              <a:noAutofit/>
            </a:bodyPr>
            <a:lstStyle/>
            <a:p>
              <a:pPr algn="l"/>
              <a:r>
                <a:rPr lang="en-GB" sz="1800" b="1" i="0">
                  <a:solidFill>
                    <a:srgbClr val="F2F2F2"/>
                  </a:solidFill>
                  <a:latin typeface="Arial"/>
                </a:rPr>
                <a:t>Stop</a:t>
              </a:r>
            </a:p>
          </p:txBody>
        </p:sp>
        <p:sp>
          <p:nvSpPr>
            <p:cNvPr id="43" name="Oval 42"/>
            <p:cNvSpPr/>
            <p:nvPr/>
          </p:nvSpPr>
          <p:spPr>
            <a:xfrm>
              <a:off x="5440680" y="4846320"/>
              <a:ext cx="457200" cy="457200"/>
            </a:xfrm>
            <a:prstGeom prst="ellipse">
              <a:avLst/>
            </a:prstGeom>
            <a:solidFill>
              <a:srgbClr val="F2C14E"/>
            </a:solidFill>
            <a:ln w="19050">
              <a:solidFill>
                <a:srgbClr val="FFFFFF"/>
              </a:solidFill>
            </a:ln>
          </p:spPr>
          <p:txBody>
            <a:bodyPr rtlCol="0" anchor="ctr"/>
            <a:lstStyle/>
            <a:p>
              <a:pPr algn="ctr"/>
              <a:endParaRPr/>
            </a:p>
          </p:txBody>
        </p:sp>
        <p:sp>
          <p:nvSpPr>
            <p:cNvPr id="44" name="TextBox 43"/>
            <p:cNvSpPr txBox="1"/>
            <p:nvPr/>
          </p:nvSpPr>
          <p:spPr>
            <a:xfrm>
              <a:off x="6035040" y="4846320"/>
              <a:ext cx="2743200" cy="457200"/>
            </a:xfrm>
            <a:prstGeom prst="rect">
              <a:avLst/>
            </a:prstGeom>
            <a:noFill/>
          </p:spPr>
          <p:txBody>
            <a:bodyPr wrap="square" lIns="18288" tIns="18288" rIns="18288" bIns="18288" anchor="ctr">
              <a:noAutofit/>
            </a:bodyPr>
            <a:lstStyle/>
            <a:p>
              <a:pPr algn="l"/>
              <a:r>
                <a:rPr lang="en-GB" sz="1800" b="1" i="0">
                  <a:solidFill>
                    <a:srgbClr val="F2F2F2"/>
                  </a:solidFill>
                  <a:latin typeface="Arial"/>
                </a:rPr>
                <a:t>Distant warning</a:t>
              </a:r>
            </a:p>
          </p:txBody>
        </p:sp>
        <p:sp>
          <p:nvSpPr>
            <p:cNvPr id="45" name="Oval 44"/>
            <p:cNvSpPr/>
            <p:nvPr/>
          </p:nvSpPr>
          <p:spPr>
            <a:xfrm>
              <a:off x="9281160" y="4846320"/>
              <a:ext cx="457200" cy="457200"/>
            </a:xfrm>
            <a:prstGeom prst="ellipse">
              <a:avLst/>
            </a:prstGeom>
            <a:solidFill>
              <a:srgbClr val="3FB950"/>
            </a:solidFill>
            <a:ln w="19050">
              <a:solidFill>
                <a:srgbClr val="FFFFFF"/>
              </a:solidFill>
            </a:ln>
          </p:spPr>
          <p:txBody>
            <a:bodyPr rtlCol="0" anchor="ctr"/>
            <a:lstStyle/>
            <a:p>
              <a:pPr algn="ctr"/>
              <a:endParaRPr/>
            </a:p>
          </p:txBody>
        </p:sp>
        <p:sp>
          <p:nvSpPr>
            <p:cNvPr id="46" name="TextBox 45"/>
            <p:cNvSpPr txBox="1"/>
            <p:nvPr/>
          </p:nvSpPr>
          <p:spPr>
            <a:xfrm>
              <a:off x="9875520" y="4846320"/>
              <a:ext cx="1371600" cy="457200"/>
            </a:xfrm>
            <a:prstGeom prst="rect">
              <a:avLst/>
            </a:prstGeom>
            <a:noFill/>
          </p:spPr>
          <p:txBody>
            <a:bodyPr wrap="square" lIns="18288" tIns="18288" rIns="18288" bIns="18288" anchor="ctr">
              <a:noAutofit/>
            </a:bodyPr>
            <a:lstStyle/>
            <a:p>
              <a:pPr algn="l"/>
              <a:r>
                <a:rPr lang="en-GB" sz="1800" b="1" i="0">
                  <a:solidFill>
                    <a:srgbClr val="F2F2F2"/>
                  </a:solidFill>
                  <a:latin typeface="Arial"/>
                </a:rPr>
                <a:t>Clear</a:t>
              </a:r>
            </a:p>
          </p:txBody>
        </p:sp>
      </p:grpSp>
      <p:pic>
        <p:nvPicPr>
          <p:cNvPr id="47" name="P13_distant_signal_henley.jpg" descr="A semaphore distant signal beside the line near Henley-in-Arden, arm raised."/>
          <p:cNvPicPr>
            <a:picLocks noChangeAspect="1"/>
          </p:cNvPicPr>
          <p:nvPr/>
        </p:nvPicPr>
        <p:blipFill>
          <a:blip r:embed="rId2"/>
          <a:srcRect t="1904" b="1904"/>
          <a:stretch>
            <a:fillRect/>
          </a:stretch>
        </p:blipFill>
        <p:spPr>
          <a:xfrm>
            <a:off x="8915400" y="1325880"/>
            <a:ext cx="2560320" cy="1920240"/>
          </a:xfrm>
          <a:prstGeom prst="roundRect">
            <a:avLst>
              <a:gd name="adj" fmla="val 3809"/>
            </a:avLst>
          </a:prstGeom>
        </p:spPr>
      </p:pic>
      <p:sp>
        <p:nvSpPr>
          <p:cNvPr id="48" name="Credit"/>
          <p:cNvSpPr txBox="1"/>
          <p:nvPr/>
        </p:nvSpPr>
        <p:spPr>
          <a:xfrm>
            <a:off x="8915400" y="3291840"/>
            <a:ext cx="2560320" cy="274320"/>
          </a:xfrm>
          <a:prstGeom prst="rect">
            <a:avLst/>
          </a:prstGeom>
          <a:noFill/>
        </p:spPr>
        <p:txBody>
          <a:bodyPr wrap="square" lIns="0" tIns="0" rIns="0" bIns="0" anchor="t">
            <a:noAutofit/>
          </a:bodyPr>
          <a:lstStyle/>
          <a:p>
            <a:pPr algn="l"/>
            <a:r>
              <a:rPr lang="en-GB" sz="1000" b="0" i="0">
                <a:solidFill>
                  <a:srgbClr val="A9B0B8"/>
                </a:solidFill>
                <a:latin typeface="Arial"/>
              </a:rPr>
              <a:t>Richard Dunn, CC BY-SA 2.0. Wikimedia Commons.</a:t>
            </a:r>
          </a:p>
        </p:txBody>
      </p:sp>
      <p:sp>
        <p:nvSpPr>
          <p:cNvPr id="49" name="TextBox 48"/>
          <p:cNvSpPr txBox="1"/>
          <p:nvPr/>
        </p:nvSpPr>
        <p:spPr>
          <a:xfrm>
            <a:off x="8915400" y="3657600"/>
            <a:ext cx="2560320" cy="548640"/>
          </a:xfrm>
          <a:prstGeom prst="rect">
            <a:avLst/>
          </a:prstGeom>
          <a:noFill/>
        </p:spPr>
        <p:txBody>
          <a:bodyPr wrap="square" lIns="18288" tIns="18288" rIns="18288" bIns="18288" anchor="t">
            <a:noAutofit/>
          </a:bodyPr>
          <a:lstStyle/>
          <a:p>
            <a:pPr algn="l"/>
            <a:r>
              <a:rPr lang="en-GB" sz="1400" b="0" i="0">
                <a:solidFill>
                  <a:srgbClr val="F2F2F2"/>
                </a:solidFill>
                <a:latin typeface="Arial"/>
              </a:rPr>
              <a:t>A real distant signal, arm raised.</a:t>
            </a:r>
          </a:p>
        </p:txBody>
      </p:sp>
      <p:sp>
        <p:nvSpPr>
          <p:cNvPr id="50"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A stop arm orders a stop. A distant arm only warns you.</a:t>
            </a:r>
          </a:p>
        </p:txBody>
      </p:sp>
      <p:sp>
        <p:nvSpPr>
          <p:cNvPr id="51"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52"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7</a:t>
            </a:r>
          </a:p>
        </p:txBody>
      </p:sp>
    </p:spTree>
    <p:extLst>
      <p:ext uri="{BB962C8B-B14F-4D97-AF65-F5344CB8AC3E}">
        <p14:creationId xmlns:p14="http://schemas.microsoft.com/office/powerpoint/2010/main" val="4257463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60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childTnLst>
                                </p:cTn>
                              </p:par>
                              <p:par>
                                <p:cTn id="14" presetID="10" presetClass="entr" presetSubtype="0" fill="hold" nodeType="withEffect">
                                  <p:stCondLst>
                                    <p:cond delay="900"/>
                                  </p:stCondLst>
                                  <p:childTnLst>
                                    <p:set>
                                      <p:cBhvr>
                                        <p:cTn id="15" dur="1" fill="hold">
                                          <p:stCondLst>
                                            <p:cond delay="0"/>
                                          </p:stCondLst>
                                        </p:cTn>
                                        <p:tgtEl>
                                          <p:spTgt spid="50"/>
                                        </p:tgtEl>
                                        <p:attrNameLst>
                                          <p:attrName>style.visibility</p:attrName>
                                        </p:attrNameLst>
                                      </p:cBhvr>
                                      <p:to>
                                        <p:strVal val="visible"/>
                                      </p:to>
                                    </p:set>
                                    <p:animEffect transition="in" filter="fade">
                                      <p:cBhvr>
                                        <p:cTn id="16" dur="500"/>
                                        <p:tgtEl>
                                          <p:spTgt spid="50"/>
                                        </p:tgtEl>
                                      </p:cBhvr>
                                    </p:animEffect>
                                  </p:childTnLst>
                                </p:cTn>
                              </p:par>
                              <p:par>
                                <p:cTn id="17" presetID="10" presetClass="entr" presetSubtype="0" fill="hold" nodeType="withEffect">
                                  <p:stCondLst>
                                    <p:cond delay="120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If the wire breaks</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Wire intact and wire broken" descr="Left: a lever in a signal box pulls a wire and the arm rises. Right: the wire is broken, so a counterweight pulls the arm flat to stop."/>
          <p:cNvGrpSpPr/>
          <p:nvPr/>
        </p:nvGrpSpPr>
        <p:grpSpPr>
          <a:xfrm>
            <a:off x="548640" y="1325880"/>
            <a:ext cx="11091672" cy="3520440"/>
            <a:chOff x="548640" y="1325880"/>
            <a:chExt cx="11091672" cy="3520440"/>
          </a:xfrm>
        </p:grpSpPr>
        <p:sp>
          <p:nvSpPr>
            <p:cNvPr id="5" name="Rounded Rectangle 4"/>
            <p:cNvSpPr/>
            <p:nvPr/>
          </p:nvSpPr>
          <p:spPr>
            <a:xfrm>
              <a:off x="548640" y="1325880"/>
              <a:ext cx="5394960" cy="3520440"/>
            </a:xfrm>
            <a:prstGeom prst="roundRect">
              <a:avLst>
                <a:gd name="adj" fmla="val 2077"/>
              </a:avLst>
            </a:prstGeom>
            <a:solidFill>
              <a:srgbClr val="2B2F36"/>
            </a:solidFill>
            <a:ln w="12700">
              <a:solidFill>
                <a:srgbClr val="4A515B"/>
              </a:solidFill>
            </a:ln>
          </p:spPr>
          <p:txBody>
            <a:bodyPr rtlCol="0" anchor="ctr"/>
            <a:lstStyle/>
            <a:p>
              <a:pPr algn="ctr"/>
              <a:endParaRPr/>
            </a:p>
          </p:txBody>
        </p:sp>
        <p:sp>
          <p:nvSpPr>
            <p:cNvPr id="6" name="TextBox 5"/>
            <p:cNvSpPr txBox="1"/>
            <p:nvPr/>
          </p:nvSpPr>
          <p:spPr>
            <a:xfrm>
              <a:off x="777240" y="1389888"/>
              <a:ext cx="3200400" cy="365760"/>
            </a:xfrm>
            <a:prstGeom prst="rect">
              <a:avLst/>
            </a:prstGeom>
            <a:noFill/>
          </p:spPr>
          <p:txBody>
            <a:bodyPr wrap="square" lIns="18288" tIns="18288" rIns="18288" bIns="18288" anchor="ctr">
              <a:noAutofit/>
            </a:bodyPr>
            <a:lstStyle/>
            <a:p>
              <a:pPr algn="l"/>
              <a:r>
                <a:rPr lang="en-GB" sz="1800" b="1" i="0">
                  <a:solidFill>
                    <a:srgbClr val="F2F2F2"/>
                  </a:solidFill>
                  <a:latin typeface="Arial"/>
                </a:rPr>
                <a:t>Wire intact</a:t>
              </a:r>
            </a:p>
          </p:txBody>
        </p:sp>
        <p:grpSp>
          <p:nvGrpSpPr>
            <p:cNvPr id="7" name="Signal box (lever)" descr="A small signal box building."/>
            <p:cNvGrpSpPr/>
            <p:nvPr/>
          </p:nvGrpSpPr>
          <p:grpSpPr>
            <a:xfrm>
              <a:off x="822960" y="3175711"/>
              <a:ext cx="1463040" cy="1533449"/>
              <a:chOff x="822960" y="3175711"/>
              <a:chExt cx="1463040" cy="1533449"/>
            </a:xfrm>
          </p:grpSpPr>
          <p:sp>
            <p:nvSpPr>
              <p:cNvPr id="8" name="Rectangle 7"/>
              <p:cNvSpPr/>
              <p:nvPr/>
            </p:nvSpPr>
            <p:spPr>
              <a:xfrm>
                <a:off x="822960" y="3175711"/>
                <a:ext cx="1463040" cy="1533449"/>
              </a:xfrm>
              <a:prstGeom prst="rect">
                <a:avLst/>
              </a:prstGeom>
              <a:solidFill>
                <a:srgbClr val="343A43"/>
              </a:solidFill>
              <a:ln w="19050">
                <a:solidFill>
                  <a:srgbClr val="F28C28"/>
                </a:solidFill>
              </a:ln>
            </p:spPr>
            <p:txBody>
              <a:bodyPr rtlCol="0" anchor="ctr"/>
              <a:lstStyle/>
              <a:p>
                <a:pPr algn="ctr"/>
                <a:endParaRPr/>
              </a:p>
            </p:txBody>
          </p:sp>
          <p:sp>
            <p:nvSpPr>
              <p:cNvPr id="9" name="Freeform 8"/>
              <p:cNvSpPr/>
              <p:nvPr/>
            </p:nvSpPr>
            <p:spPr>
              <a:xfrm>
                <a:off x="749808" y="2743200"/>
                <a:ext cx="1609344" cy="471830"/>
              </a:xfrm>
              <a:custGeom>
                <a:avLst/>
                <a:gdLst/>
                <a:ahLst/>
                <a:cxnLst/>
                <a:rect l="l" t="t" r="r" b="b"/>
                <a:pathLst>
                  <a:path w="1609344" h="471830">
                    <a:moveTo>
                      <a:pt x="0" y="471830"/>
                    </a:moveTo>
                    <a:lnTo>
                      <a:pt x="804672" y="0"/>
                    </a:lnTo>
                    <a:lnTo>
                      <a:pt x="1609344" y="471830"/>
                    </a:lnTo>
                    <a:close/>
                  </a:path>
                </a:pathLst>
              </a:custGeom>
              <a:solidFill>
                <a:srgbClr val="4A515B"/>
              </a:solidFill>
              <a:ln w="19050">
                <a:solidFill>
                  <a:srgbClr val="F28C28"/>
                </a:solidFill>
              </a:ln>
            </p:spPr>
            <p:txBody>
              <a:bodyPr rtlCol="0" anchor="ctr"/>
              <a:lstStyle/>
              <a:p>
                <a:pPr algn="ctr"/>
                <a:endParaRPr/>
              </a:p>
            </p:txBody>
          </p:sp>
        </p:grpSp>
        <p:sp>
          <p:nvSpPr>
            <p:cNvPr id="10" name="Rectangle 9"/>
            <p:cNvSpPr/>
            <p:nvPr/>
          </p:nvSpPr>
          <p:spPr>
            <a:xfrm rot="1500000">
              <a:off x="1627795" y="3741872"/>
              <a:ext cx="109728" cy="822960"/>
            </a:xfrm>
            <a:prstGeom prst="rect">
              <a:avLst/>
            </a:prstGeom>
            <a:solidFill>
              <a:srgbClr val="E5484D"/>
            </a:solidFill>
            <a:ln w="9525">
              <a:solidFill>
                <a:srgbClr val="101418"/>
              </a:solidFill>
            </a:ln>
          </p:spPr>
          <p:txBody>
            <a:bodyPr rtlCol="0" anchor="ctr"/>
            <a:lstStyle/>
            <a:p>
              <a:pPr algn="ctr"/>
              <a:endParaRPr/>
            </a:p>
          </p:txBody>
        </p:sp>
        <p:sp>
          <p:nvSpPr>
            <p:cNvPr id="11" name="Oval 10"/>
            <p:cNvSpPr/>
            <p:nvPr/>
          </p:nvSpPr>
          <p:spPr>
            <a:xfrm>
              <a:off x="1417320" y="4434840"/>
              <a:ext cx="182880" cy="182880"/>
            </a:xfrm>
            <a:prstGeom prst="ellipse">
              <a:avLst/>
            </a:prstGeom>
            <a:solidFill>
              <a:srgbClr val="9AA0A6"/>
            </a:solidFill>
            <a:ln w="9525">
              <a:solidFill>
                <a:srgbClr val="101418"/>
              </a:solidFill>
            </a:ln>
          </p:spPr>
          <p:txBody>
            <a:bodyPr rtlCol="0" anchor="ctr"/>
            <a:lstStyle/>
            <a:p>
              <a:pPr algn="ctr"/>
              <a:endParaRPr/>
            </a:p>
          </p:txBody>
        </p:sp>
        <p:grpSp>
          <p:nvGrpSpPr>
            <p:cNvPr id="12" name="Signal" descr="A semaphore signal post with its arm raised (clear)."/>
            <p:cNvGrpSpPr/>
            <p:nvPr/>
          </p:nvGrpSpPr>
          <p:grpSpPr>
            <a:xfrm>
              <a:off x="3636569" y="2167082"/>
              <a:ext cx="1374389" cy="2542078"/>
              <a:chOff x="3636569" y="2167082"/>
              <a:chExt cx="1374389" cy="2542078"/>
            </a:xfrm>
          </p:grpSpPr>
          <p:sp>
            <p:nvSpPr>
              <p:cNvPr id="13" name="Rectangle 12"/>
              <p:cNvSpPr/>
              <p:nvPr/>
            </p:nvSpPr>
            <p:spPr>
              <a:xfrm>
                <a:off x="3867912" y="4577486"/>
                <a:ext cx="493776" cy="131674"/>
              </a:xfrm>
              <a:prstGeom prst="rect">
                <a:avLst/>
              </a:prstGeom>
              <a:solidFill>
                <a:srgbClr val="9AA0A6"/>
              </a:solidFill>
              <a:ln>
                <a:noFill/>
              </a:ln>
            </p:spPr>
            <p:txBody>
              <a:bodyPr rtlCol="0" anchor="ctr"/>
              <a:lstStyle/>
              <a:p>
                <a:pPr algn="ctr"/>
                <a:endParaRPr/>
              </a:p>
            </p:txBody>
          </p:sp>
          <p:sp>
            <p:nvSpPr>
              <p:cNvPr id="14" name="Rectangle 13"/>
              <p:cNvSpPr/>
              <p:nvPr/>
            </p:nvSpPr>
            <p:spPr>
              <a:xfrm>
                <a:off x="4016045" y="2898648"/>
                <a:ext cx="197510" cy="1678838"/>
              </a:xfrm>
              <a:prstGeom prst="rect">
                <a:avLst/>
              </a:prstGeom>
              <a:solidFill>
                <a:srgbClr val="E8E8E8"/>
              </a:solidFill>
              <a:ln>
                <a:noFill/>
              </a:ln>
            </p:spPr>
            <p:txBody>
              <a:bodyPr rtlCol="0" anchor="ctr"/>
              <a:lstStyle/>
              <a:p>
                <a:pPr algn="ctr"/>
                <a:endParaRPr/>
              </a:p>
            </p:txBody>
          </p:sp>
          <p:sp>
            <p:nvSpPr>
              <p:cNvPr id="15" name="Freeform 14"/>
              <p:cNvSpPr/>
              <p:nvPr/>
            </p:nvSpPr>
            <p:spPr>
              <a:xfrm>
                <a:off x="4033331" y="2167082"/>
                <a:ext cx="977627" cy="977627"/>
              </a:xfrm>
              <a:custGeom>
                <a:avLst/>
                <a:gdLst/>
                <a:ahLst/>
                <a:cxnLst/>
                <a:rect l="l" t="t" r="r" b="b"/>
                <a:pathLst>
                  <a:path w="977627" h="977627">
                    <a:moveTo>
                      <a:pt x="0" y="814689"/>
                    </a:moveTo>
                    <a:lnTo>
                      <a:pt x="814689" y="0"/>
                    </a:lnTo>
                    <a:lnTo>
                      <a:pt x="977627" y="162938"/>
                    </a:lnTo>
                    <a:lnTo>
                      <a:pt x="162938" y="977627"/>
                    </a:lnTo>
                    <a:close/>
                  </a:path>
                </a:pathLst>
              </a:custGeom>
              <a:solidFill>
                <a:srgbClr val="E5484D"/>
              </a:solidFill>
              <a:ln>
                <a:noFill/>
              </a:ln>
            </p:spPr>
            <p:txBody>
              <a:bodyPr rtlCol="0" anchor="ctr"/>
              <a:lstStyle/>
              <a:p>
                <a:pPr algn="ctr"/>
                <a:endParaRPr/>
              </a:p>
            </p:txBody>
          </p:sp>
          <p:sp>
            <p:nvSpPr>
              <p:cNvPr id="16" name="Freeform 15"/>
              <p:cNvSpPr/>
              <p:nvPr/>
            </p:nvSpPr>
            <p:spPr>
              <a:xfrm>
                <a:off x="4440676" y="2446404"/>
                <a:ext cx="290960" cy="290960"/>
              </a:xfrm>
              <a:custGeom>
                <a:avLst/>
                <a:gdLst/>
                <a:ahLst/>
                <a:cxnLst/>
                <a:rect l="l" t="t" r="r" b="b"/>
                <a:pathLst>
                  <a:path w="290960" h="290960">
                    <a:moveTo>
                      <a:pt x="0" y="128023"/>
                    </a:moveTo>
                    <a:lnTo>
                      <a:pt x="128022" y="0"/>
                    </a:lnTo>
                    <a:lnTo>
                      <a:pt x="290960" y="162938"/>
                    </a:lnTo>
                    <a:lnTo>
                      <a:pt x="162937" y="290960"/>
                    </a:lnTo>
                    <a:close/>
                  </a:path>
                </a:pathLst>
              </a:custGeom>
              <a:solidFill>
                <a:srgbClr val="FFFFFF"/>
              </a:solidFill>
              <a:ln>
                <a:noFill/>
              </a:ln>
            </p:spPr>
            <p:txBody>
              <a:bodyPr rtlCol="0" anchor="ctr"/>
              <a:lstStyle/>
              <a:p>
                <a:pPr algn="ctr"/>
                <a:endParaRPr/>
              </a:p>
            </p:txBody>
          </p:sp>
          <p:sp>
            <p:nvSpPr>
              <p:cNvPr id="17" name="Oval 16"/>
              <p:cNvSpPr/>
              <p:nvPr/>
            </p:nvSpPr>
            <p:spPr>
              <a:xfrm>
                <a:off x="4043477" y="2991917"/>
                <a:ext cx="142646" cy="142646"/>
              </a:xfrm>
              <a:prstGeom prst="ellipse">
                <a:avLst/>
              </a:prstGeom>
              <a:solidFill>
                <a:srgbClr val="1B1D21"/>
              </a:solidFill>
              <a:ln w="9525">
                <a:solidFill>
                  <a:srgbClr val="FFFFFF"/>
                </a:solidFill>
              </a:ln>
            </p:spPr>
            <p:txBody>
              <a:bodyPr rtlCol="0" anchor="ctr"/>
              <a:lstStyle/>
              <a:p>
                <a:pPr algn="ctr"/>
                <a:endParaRPr/>
              </a:p>
            </p:txBody>
          </p:sp>
          <p:sp>
            <p:nvSpPr>
              <p:cNvPr id="18" name="Oval 17"/>
              <p:cNvSpPr/>
              <p:nvPr/>
            </p:nvSpPr>
            <p:spPr>
              <a:xfrm>
                <a:off x="3636569" y="2914193"/>
                <a:ext cx="298094" cy="298094"/>
              </a:xfrm>
              <a:prstGeom prst="ellipse">
                <a:avLst/>
              </a:prstGeom>
              <a:solidFill>
                <a:srgbClr val="3FB950"/>
              </a:solidFill>
              <a:ln w="12700">
                <a:solidFill>
                  <a:srgbClr val="FFFFFF"/>
                </a:solidFill>
              </a:ln>
            </p:spPr>
            <p:txBody>
              <a:bodyPr rtlCol="0" anchor="ctr"/>
              <a:lstStyle/>
              <a:p>
                <a:pPr algn="ctr"/>
                <a:endParaRPr/>
              </a:p>
            </p:txBody>
          </p:sp>
        </p:grpSp>
        <p:cxnSp>
          <p:nvCxnSpPr>
            <p:cNvPr id="19" name="Connector 18"/>
            <p:cNvCxnSpPr/>
            <p:nvPr/>
          </p:nvCxnSpPr>
          <p:spPr>
            <a:xfrm flipH="1">
              <a:off x="3858768" y="3063240"/>
              <a:ext cx="256032" cy="256032"/>
            </a:xfrm>
            <a:prstGeom prst="line">
              <a:avLst/>
            </a:prstGeom>
            <a:ln w="50800">
              <a:solidFill>
                <a:srgbClr val="9AA0A6"/>
              </a:solidFill>
            </a:ln>
          </p:spPr>
        </p:cxnSp>
        <p:sp>
          <p:nvSpPr>
            <p:cNvPr id="20" name="Wire"/>
            <p:cNvSpPr/>
            <p:nvPr/>
          </p:nvSpPr>
          <p:spPr>
            <a:xfrm>
              <a:off x="1856232" y="3319272"/>
              <a:ext cx="2002536" cy="457200"/>
            </a:xfrm>
            <a:custGeom>
              <a:avLst/>
              <a:gdLst/>
              <a:ahLst/>
              <a:cxnLst/>
              <a:rect l="l" t="t" r="r" b="b"/>
              <a:pathLst>
                <a:path w="2002536" h="457200">
                  <a:moveTo>
                    <a:pt x="0" y="457200"/>
                  </a:moveTo>
                  <a:lnTo>
                    <a:pt x="2002536" y="457200"/>
                  </a:lnTo>
                  <a:lnTo>
                    <a:pt x="2002536" y="0"/>
                  </a:lnTo>
                </a:path>
              </a:pathLst>
            </a:custGeom>
            <a:noFill/>
            <a:ln w="28575">
              <a:solidFill>
                <a:srgbClr val="F28C28"/>
              </a:solidFill>
              <a:prstDash val="dash"/>
            </a:ln>
          </p:spPr>
          <p:txBody>
            <a:bodyPr rtlCol="0" anchor="ctr"/>
            <a:lstStyle/>
            <a:p>
              <a:pPr algn="ctr"/>
              <a:endParaRPr/>
            </a:p>
          </p:txBody>
        </p:sp>
        <p:sp>
          <p:nvSpPr>
            <p:cNvPr id="21" name="TextBox 20"/>
            <p:cNvSpPr txBox="1"/>
            <p:nvPr/>
          </p:nvSpPr>
          <p:spPr>
            <a:xfrm>
              <a:off x="4389120" y="3931920"/>
              <a:ext cx="1371600" cy="365760"/>
            </a:xfrm>
            <a:prstGeom prst="rect">
              <a:avLst/>
            </a:prstGeom>
            <a:noFill/>
          </p:spPr>
          <p:txBody>
            <a:bodyPr wrap="square" lIns="18288" tIns="18288" rIns="18288" bIns="18288" anchor="ctr">
              <a:noAutofit/>
            </a:bodyPr>
            <a:lstStyle/>
            <a:p>
              <a:pPr algn="l"/>
              <a:r>
                <a:rPr lang="en-GB" sz="1800" b="1" i="0">
                  <a:solidFill>
                    <a:srgbClr val="3FB950"/>
                  </a:solidFill>
                  <a:latin typeface="Arial"/>
                </a:rPr>
                <a:t>CLEAR</a:t>
              </a:r>
            </a:p>
          </p:txBody>
        </p:sp>
        <p:sp>
          <p:nvSpPr>
            <p:cNvPr id="22" name="Rounded Rectangle 21"/>
            <p:cNvSpPr/>
            <p:nvPr/>
          </p:nvSpPr>
          <p:spPr>
            <a:xfrm>
              <a:off x="6245352" y="1325880"/>
              <a:ext cx="5394960" cy="3520440"/>
            </a:xfrm>
            <a:prstGeom prst="roundRect">
              <a:avLst>
                <a:gd name="adj" fmla="val 2077"/>
              </a:avLst>
            </a:prstGeom>
            <a:solidFill>
              <a:srgbClr val="2B2F36"/>
            </a:solidFill>
            <a:ln w="12700">
              <a:solidFill>
                <a:srgbClr val="4A515B"/>
              </a:solidFill>
            </a:ln>
          </p:spPr>
          <p:txBody>
            <a:bodyPr rtlCol="0" anchor="ctr"/>
            <a:lstStyle/>
            <a:p>
              <a:pPr algn="ctr"/>
              <a:endParaRPr/>
            </a:p>
          </p:txBody>
        </p:sp>
        <p:sp>
          <p:nvSpPr>
            <p:cNvPr id="23" name="TextBox 22"/>
            <p:cNvSpPr txBox="1"/>
            <p:nvPr/>
          </p:nvSpPr>
          <p:spPr>
            <a:xfrm>
              <a:off x="6473952" y="1389888"/>
              <a:ext cx="3200400" cy="365760"/>
            </a:xfrm>
            <a:prstGeom prst="rect">
              <a:avLst/>
            </a:prstGeom>
            <a:noFill/>
          </p:spPr>
          <p:txBody>
            <a:bodyPr wrap="square" lIns="18288" tIns="18288" rIns="18288" bIns="18288" anchor="ctr">
              <a:noAutofit/>
            </a:bodyPr>
            <a:lstStyle/>
            <a:p>
              <a:pPr algn="l"/>
              <a:r>
                <a:rPr lang="en-GB" sz="1800" b="1" i="0">
                  <a:solidFill>
                    <a:srgbClr val="F2F2F2"/>
                  </a:solidFill>
                  <a:latin typeface="Arial"/>
                </a:rPr>
                <a:t>Wire broken</a:t>
              </a:r>
            </a:p>
          </p:txBody>
        </p:sp>
        <p:grpSp>
          <p:nvGrpSpPr>
            <p:cNvPr id="24" name="Signal box (lever)" descr="A small signal box building."/>
            <p:cNvGrpSpPr/>
            <p:nvPr/>
          </p:nvGrpSpPr>
          <p:grpSpPr>
            <a:xfrm>
              <a:off x="6519672" y="3175711"/>
              <a:ext cx="1463040" cy="1533449"/>
              <a:chOff x="6519672" y="3175711"/>
              <a:chExt cx="1463040" cy="1533449"/>
            </a:xfrm>
          </p:grpSpPr>
          <p:sp>
            <p:nvSpPr>
              <p:cNvPr id="25" name="Rectangle 24"/>
              <p:cNvSpPr/>
              <p:nvPr/>
            </p:nvSpPr>
            <p:spPr>
              <a:xfrm>
                <a:off x="6519672" y="3175711"/>
                <a:ext cx="1463040" cy="1533449"/>
              </a:xfrm>
              <a:prstGeom prst="rect">
                <a:avLst/>
              </a:prstGeom>
              <a:solidFill>
                <a:srgbClr val="343A43"/>
              </a:solidFill>
              <a:ln w="19050">
                <a:solidFill>
                  <a:srgbClr val="F28C28"/>
                </a:solidFill>
              </a:ln>
            </p:spPr>
            <p:txBody>
              <a:bodyPr rtlCol="0" anchor="ctr"/>
              <a:lstStyle/>
              <a:p>
                <a:pPr algn="ctr"/>
                <a:endParaRPr/>
              </a:p>
            </p:txBody>
          </p:sp>
          <p:sp>
            <p:nvSpPr>
              <p:cNvPr id="26" name="Freeform 25"/>
              <p:cNvSpPr/>
              <p:nvPr/>
            </p:nvSpPr>
            <p:spPr>
              <a:xfrm>
                <a:off x="6446520" y="2743200"/>
                <a:ext cx="1609344" cy="471830"/>
              </a:xfrm>
              <a:custGeom>
                <a:avLst/>
                <a:gdLst/>
                <a:ahLst/>
                <a:cxnLst/>
                <a:rect l="l" t="t" r="r" b="b"/>
                <a:pathLst>
                  <a:path w="1609344" h="471830">
                    <a:moveTo>
                      <a:pt x="0" y="471830"/>
                    </a:moveTo>
                    <a:lnTo>
                      <a:pt x="804672" y="0"/>
                    </a:lnTo>
                    <a:lnTo>
                      <a:pt x="1609344" y="471830"/>
                    </a:lnTo>
                    <a:close/>
                  </a:path>
                </a:pathLst>
              </a:custGeom>
              <a:solidFill>
                <a:srgbClr val="4A515B"/>
              </a:solidFill>
              <a:ln w="19050">
                <a:solidFill>
                  <a:srgbClr val="F28C28"/>
                </a:solidFill>
              </a:ln>
            </p:spPr>
            <p:txBody>
              <a:bodyPr rtlCol="0" anchor="ctr"/>
              <a:lstStyle/>
              <a:p>
                <a:pPr algn="ctr"/>
                <a:endParaRPr/>
              </a:p>
            </p:txBody>
          </p:sp>
        </p:grpSp>
        <p:sp>
          <p:nvSpPr>
            <p:cNvPr id="27" name="Rectangle 26"/>
            <p:cNvSpPr/>
            <p:nvPr/>
          </p:nvSpPr>
          <p:spPr>
            <a:xfrm rot="1500000">
              <a:off x="7324507" y="3741872"/>
              <a:ext cx="109728" cy="822960"/>
            </a:xfrm>
            <a:prstGeom prst="rect">
              <a:avLst/>
            </a:prstGeom>
            <a:solidFill>
              <a:srgbClr val="E5484D"/>
            </a:solidFill>
            <a:ln w="9525">
              <a:solidFill>
                <a:srgbClr val="101418"/>
              </a:solidFill>
            </a:ln>
          </p:spPr>
          <p:txBody>
            <a:bodyPr rtlCol="0" anchor="ctr"/>
            <a:lstStyle/>
            <a:p>
              <a:pPr algn="ctr"/>
              <a:endParaRPr/>
            </a:p>
          </p:txBody>
        </p:sp>
        <p:sp>
          <p:nvSpPr>
            <p:cNvPr id="28" name="Oval 27"/>
            <p:cNvSpPr/>
            <p:nvPr/>
          </p:nvSpPr>
          <p:spPr>
            <a:xfrm>
              <a:off x="7114032" y="4434840"/>
              <a:ext cx="182880" cy="182880"/>
            </a:xfrm>
            <a:prstGeom prst="ellipse">
              <a:avLst/>
            </a:prstGeom>
            <a:solidFill>
              <a:srgbClr val="9AA0A6"/>
            </a:solidFill>
            <a:ln w="9525">
              <a:solidFill>
                <a:srgbClr val="101418"/>
              </a:solidFill>
            </a:ln>
          </p:spPr>
          <p:txBody>
            <a:bodyPr rtlCol="0" anchor="ctr"/>
            <a:lstStyle/>
            <a:p>
              <a:pPr algn="ctr"/>
              <a:endParaRPr/>
            </a:p>
          </p:txBody>
        </p:sp>
        <p:grpSp>
          <p:nvGrpSpPr>
            <p:cNvPr id="29" name="Signal" descr="A semaphore signal post with its arm flat (stop)."/>
            <p:cNvGrpSpPr/>
            <p:nvPr/>
          </p:nvGrpSpPr>
          <p:grpSpPr>
            <a:xfrm>
              <a:off x="9333281" y="2898648"/>
              <a:ext cx="1630375" cy="1810512"/>
              <a:chOff x="9333281" y="2898648"/>
              <a:chExt cx="1630375" cy="1810512"/>
            </a:xfrm>
          </p:grpSpPr>
          <p:sp>
            <p:nvSpPr>
              <p:cNvPr id="30" name="Rectangle 29"/>
              <p:cNvSpPr/>
              <p:nvPr/>
            </p:nvSpPr>
            <p:spPr>
              <a:xfrm>
                <a:off x="9564624" y="4577486"/>
                <a:ext cx="493776" cy="131674"/>
              </a:xfrm>
              <a:prstGeom prst="rect">
                <a:avLst/>
              </a:prstGeom>
              <a:solidFill>
                <a:srgbClr val="9AA0A6"/>
              </a:solidFill>
              <a:ln>
                <a:noFill/>
              </a:ln>
            </p:spPr>
            <p:txBody>
              <a:bodyPr rtlCol="0" anchor="ctr"/>
              <a:lstStyle/>
              <a:p>
                <a:pPr algn="ctr"/>
                <a:endParaRPr/>
              </a:p>
            </p:txBody>
          </p:sp>
          <p:sp>
            <p:nvSpPr>
              <p:cNvPr id="31" name="Rectangle 30"/>
              <p:cNvSpPr/>
              <p:nvPr/>
            </p:nvSpPr>
            <p:spPr>
              <a:xfrm>
                <a:off x="9712757" y="2898648"/>
                <a:ext cx="197510" cy="1678838"/>
              </a:xfrm>
              <a:prstGeom prst="rect">
                <a:avLst/>
              </a:prstGeom>
              <a:solidFill>
                <a:srgbClr val="E8E8E8"/>
              </a:solidFill>
              <a:ln>
                <a:noFill/>
              </a:ln>
            </p:spPr>
            <p:txBody>
              <a:bodyPr rtlCol="0" anchor="ctr"/>
              <a:lstStyle/>
              <a:p>
                <a:pPr algn="ctr"/>
                <a:endParaRPr/>
              </a:p>
            </p:txBody>
          </p:sp>
          <p:sp>
            <p:nvSpPr>
              <p:cNvPr id="32" name="Freeform 31"/>
              <p:cNvSpPr/>
              <p:nvPr/>
            </p:nvSpPr>
            <p:spPr>
              <a:xfrm>
                <a:off x="9811512" y="2948026"/>
                <a:ext cx="1152144" cy="230428"/>
              </a:xfrm>
              <a:custGeom>
                <a:avLst/>
                <a:gdLst/>
                <a:ahLst/>
                <a:cxnLst/>
                <a:rect l="l" t="t" r="r" b="b"/>
                <a:pathLst>
                  <a:path w="1152144" h="230428">
                    <a:moveTo>
                      <a:pt x="0" y="0"/>
                    </a:moveTo>
                    <a:lnTo>
                      <a:pt x="1152144" y="0"/>
                    </a:lnTo>
                    <a:lnTo>
                      <a:pt x="1152144" y="230428"/>
                    </a:lnTo>
                    <a:lnTo>
                      <a:pt x="0" y="230428"/>
                    </a:lnTo>
                    <a:close/>
                  </a:path>
                </a:pathLst>
              </a:custGeom>
              <a:solidFill>
                <a:srgbClr val="E5484D"/>
              </a:solidFill>
              <a:ln>
                <a:noFill/>
              </a:ln>
            </p:spPr>
            <p:txBody>
              <a:bodyPr rtlCol="0" anchor="ctr"/>
              <a:lstStyle/>
              <a:p>
                <a:pPr algn="ctr"/>
                <a:endParaRPr/>
              </a:p>
            </p:txBody>
          </p:sp>
          <p:sp>
            <p:nvSpPr>
              <p:cNvPr id="33" name="Freeform 32"/>
              <p:cNvSpPr/>
              <p:nvPr/>
            </p:nvSpPr>
            <p:spPr>
              <a:xfrm>
                <a:off x="10387584" y="2948026"/>
                <a:ext cx="181051" cy="230428"/>
              </a:xfrm>
              <a:custGeom>
                <a:avLst/>
                <a:gdLst/>
                <a:ahLst/>
                <a:cxnLst/>
                <a:rect l="l" t="t" r="r" b="b"/>
                <a:pathLst>
                  <a:path w="181051" h="230428">
                    <a:moveTo>
                      <a:pt x="0" y="0"/>
                    </a:moveTo>
                    <a:lnTo>
                      <a:pt x="181051" y="0"/>
                    </a:lnTo>
                    <a:lnTo>
                      <a:pt x="181051" y="230428"/>
                    </a:lnTo>
                    <a:lnTo>
                      <a:pt x="0" y="230428"/>
                    </a:lnTo>
                    <a:close/>
                  </a:path>
                </a:pathLst>
              </a:custGeom>
              <a:solidFill>
                <a:srgbClr val="FFFFFF"/>
              </a:solidFill>
              <a:ln>
                <a:noFill/>
              </a:ln>
            </p:spPr>
            <p:txBody>
              <a:bodyPr rtlCol="0" anchor="ctr"/>
              <a:lstStyle/>
              <a:p>
                <a:pPr algn="ctr"/>
                <a:endParaRPr/>
              </a:p>
            </p:txBody>
          </p:sp>
          <p:sp>
            <p:nvSpPr>
              <p:cNvPr id="34" name="Oval 33"/>
              <p:cNvSpPr/>
              <p:nvPr/>
            </p:nvSpPr>
            <p:spPr>
              <a:xfrm>
                <a:off x="9740189" y="2991917"/>
                <a:ext cx="142646" cy="142646"/>
              </a:xfrm>
              <a:prstGeom prst="ellipse">
                <a:avLst/>
              </a:prstGeom>
              <a:solidFill>
                <a:srgbClr val="1B1D21"/>
              </a:solidFill>
              <a:ln w="9525">
                <a:solidFill>
                  <a:srgbClr val="FFFFFF"/>
                </a:solidFill>
              </a:ln>
            </p:spPr>
            <p:txBody>
              <a:bodyPr rtlCol="0" anchor="ctr"/>
              <a:lstStyle/>
              <a:p>
                <a:pPr algn="ctr"/>
                <a:endParaRPr/>
              </a:p>
            </p:txBody>
          </p:sp>
          <p:sp>
            <p:nvSpPr>
              <p:cNvPr id="35" name="Oval 34"/>
              <p:cNvSpPr/>
              <p:nvPr/>
            </p:nvSpPr>
            <p:spPr>
              <a:xfrm>
                <a:off x="9333281" y="2914193"/>
                <a:ext cx="298094" cy="298094"/>
              </a:xfrm>
              <a:prstGeom prst="ellipse">
                <a:avLst/>
              </a:prstGeom>
              <a:solidFill>
                <a:srgbClr val="E5484D"/>
              </a:solidFill>
              <a:ln w="12700">
                <a:solidFill>
                  <a:srgbClr val="FFFFFF"/>
                </a:solidFill>
              </a:ln>
            </p:spPr>
            <p:txBody>
              <a:bodyPr rtlCol="0" anchor="ctr"/>
              <a:lstStyle/>
              <a:p>
                <a:pPr algn="ctr"/>
                <a:endParaRPr/>
              </a:p>
            </p:txBody>
          </p:sp>
        </p:grpSp>
        <p:cxnSp>
          <p:nvCxnSpPr>
            <p:cNvPr id="36" name="Connector 35"/>
            <p:cNvCxnSpPr/>
            <p:nvPr/>
          </p:nvCxnSpPr>
          <p:spPr>
            <a:xfrm flipH="1">
              <a:off x="9445752" y="3063240"/>
              <a:ext cx="365760" cy="0"/>
            </a:xfrm>
            <a:prstGeom prst="line">
              <a:avLst/>
            </a:prstGeom>
            <a:ln w="50800">
              <a:solidFill>
                <a:srgbClr val="9AA0A6"/>
              </a:solidFill>
            </a:ln>
          </p:spPr>
        </p:cxnSp>
        <p:cxnSp>
          <p:nvCxnSpPr>
            <p:cNvPr id="37" name="Connector 36"/>
            <p:cNvCxnSpPr/>
            <p:nvPr/>
          </p:nvCxnSpPr>
          <p:spPr>
            <a:xfrm>
              <a:off x="7552944" y="3776472"/>
              <a:ext cx="1024128" cy="0"/>
            </a:xfrm>
            <a:prstGeom prst="line">
              <a:avLst/>
            </a:prstGeom>
            <a:ln w="28575">
              <a:solidFill>
                <a:srgbClr val="F28C28"/>
              </a:solidFill>
              <a:prstDash val="dash"/>
            </a:ln>
          </p:spPr>
        </p:cxnSp>
        <p:sp>
          <p:nvSpPr>
            <p:cNvPr id="38" name="Wire (far piece)"/>
            <p:cNvSpPr/>
            <p:nvPr/>
          </p:nvSpPr>
          <p:spPr>
            <a:xfrm>
              <a:off x="9171432" y="3063240"/>
              <a:ext cx="274320" cy="713232"/>
            </a:xfrm>
            <a:custGeom>
              <a:avLst/>
              <a:gdLst/>
              <a:ahLst/>
              <a:cxnLst/>
              <a:rect l="l" t="t" r="r" b="b"/>
              <a:pathLst>
                <a:path w="274320" h="713232">
                  <a:moveTo>
                    <a:pt x="0" y="713232"/>
                  </a:moveTo>
                  <a:lnTo>
                    <a:pt x="274320" y="713232"/>
                  </a:lnTo>
                  <a:lnTo>
                    <a:pt x="274320" y="0"/>
                  </a:lnTo>
                </a:path>
              </a:pathLst>
            </a:custGeom>
            <a:noFill/>
            <a:ln w="28575">
              <a:solidFill>
                <a:srgbClr val="F28C28"/>
              </a:solidFill>
              <a:prstDash val="dash"/>
            </a:ln>
          </p:spPr>
          <p:txBody>
            <a:bodyPr rtlCol="0" anchor="ctr"/>
            <a:lstStyle/>
            <a:p>
              <a:pPr algn="ctr"/>
              <a:endParaRPr/>
            </a:p>
          </p:txBody>
        </p:sp>
        <p:sp>
          <p:nvSpPr>
            <p:cNvPr id="39" name="Rectangle 38"/>
            <p:cNvSpPr/>
            <p:nvPr/>
          </p:nvSpPr>
          <p:spPr>
            <a:xfrm rot="2700000">
              <a:off x="8613648" y="3730752"/>
              <a:ext cx="512064" cy="91440"/>
            </a:xfrm>
            <a:prstGeom prst="rect">
              <a:avLst/>
            </a:prstGeom>
            <a:solidFill>
              <a:srgbClr val="E5484D"/>
            </a:solidFill>
            <a:ln>
              <a:noFill/>
            </a:ln>
          </p:spPr>
          <p:txBody>
            <a:bodyPr rtlCol="0" anchor="ctr"/>
            <a:lstStyle/>
            <a:p>
              <a:pPr algn="ctr"/>
              <a:endParaRPr/>
            </a:p>
          </p:txBody>
        </p:sp>
        <p:sp>
          <p:nvSpPr>
            <p:cNvPr id="40" name="Rectangle 39"/>
            <p:cNvSpPr/>
            <p:nvPr/>
          </p:nvSpPr>
          <p:spPr>
            <a:xfrm rot="18900000">
              <a:off x="8613648" y="3730752"/>
              <a:ext cx="512064" cy="91440"/>
            </a:xfrm>
            <a:prstGeom prst="rect">
              <a:avLst/>
            </a:prstGeom>
            <a:solidFill>
              <a:srgbClr val="E5484D"/>
            </a:solidFill>
            <a:ln>
              <a:noFill/>
            </a:ln>
          </p:spPr>
          <p:txBody>
            <a:bodyPr rtlCol="0" anchor="ctr"/>
            <a:lstStyle/>
            <a:p>
              <a:pPr algn="ctr"/>
              <a:endParaRPr/>
            </a:p>
          </p:txBody>
        </p:sp>
        <p:cxnSp>
          <p:nvCxnSpPr>
            <p:cNvPr id="41" name="Connector 40"/>
            <p:cNvCxnSpPr/>
            <p:nvPr/>
          </p:nvCxnSpPr>
          <p:spPr>
            <a:xfrm>
              <a:off x="10085832" y="3172968"/>
              <a:ext cx="0" cy="347472"/>
            </a:xfrm>
            <a:prstGeom prst="line">
              <a:avLst/>
            </a:prstGeom>
            <a:ln w="25400">
              <a:solidFill>
                <a:srgbClr val="9AA0A6"/>
              </a:solidFill>
            </a:ln>
          </p:spPr>
        </p:cxnSp>
        <p:sp>
          <p:nvSpPr>
            <p:cNvPr id="42" name="Counterweight"/>
            <p:cNvSpPr/>
            <p:nvPr/>
          </p:nvSpPr>
          <p:spPr>
            <a:xfrm>
              <a:off x="9948672" y="3520440"/>
              <a:ext cx="274320" cy="274320"/>
            </a:xfrm>
            <a:prstGeom prst="rect">
              <a:avLst/>
            </a:prstGeom>
            <a:solidFill>
              <a:srgbClr val="9AA0A6"/>
            </a:solidFill>
            <a:ln w="12700">
              <a:solidFill>
                <a:srgbClr val="FFFFFF"/>
              </a:solidFill>
            </a:ln>
          </p:spPr>
          <p:txBody>
            <a:bodyPr rtlCol="0" anchor="ctr"/>
            <a:lstStyle/>
            <a:p>
              <a:pPr algn="ctr"/>
              <a:endParaRPr/>
            </a:p>
          </p:txBody>
        </p:sp>
        <p:cxnSp>
          <p:nvCxnSpPr>
            <p:cNvPr id="43" name="Connector 42"/>
            <p:cNvCxnSpPr/>
            <p:nvPr/>
          </p:nvCxnSpPr>
          <p:spPr>
            <a:xfrm>
              <a:off x="10085832" y="3886200"/>
              <a:ext cx="0" cy="411480"/>
            </a:xfrm>
            <a:prstGeom prst="line">
              <a:avLst/>
            </a:prstGeom>
            <a:ln w="28575">
              <a:solidFill>
                <a:srgbClr val="F28C28"/>
              </a:solidFill>
              <a:tailEnd type="triangle" w="med" len="med"/>
            </a:ln>
          </p:spPr>
        </p:cxnSp>
        <p:sp>
          <p:nvSpPr>
            <p:cNvPr id="44" name="TextBox 43"/>
            <p:cNvSpPr txBox="1"/>
            <p:nvPr/>
          </p:nvSpPr>
          <p:spPr>
            <a:xfrm>
              <a:off x="10360152" y="3931920"/>
              <a:ext cx="1280160" cy="365760"/>
            </a:xfrm>
            <a:prstGeom prst="rect">
              <a:avLst/>
            </a:prstGeom>
            <a:noFill/>
          </p:spPr>
          <p:txBody>
            <a:bodyPr wrap="square" lIns="18288" tIns="18288" rIns="18288" bIns="18288" anchor="ctr">
              <a:noAutofit/>
            </a:bodyPr>
            <a:lstStyle/>
            <a:p>
              <a:pPr algn="l"/>
              <a:r>
                <a:rPr lang="en-GB" sz="1800" b="1" i="0">
                  <a:solidFill>
                    <a:srgbClr val="FF7A7E"/>
                  </a:solidFill>
                  <a:latin typeface="Arial"/>
                </a:rPr>
                <a:t>STOP</a:t>
              </a:r>
            </a:p>
          </p:txBody>
        </p:sp>
      </p:grpSp>
      <p:sp>
        <p:nvSpPr>
          <p:cNvPr id="45" name="Chip: Undecided (failure rule)" descr="Status tag: Undecided"/>
          <p:cNvSpPr/>
          <p:nvPr/>
        </p:nvSpPr>
        <p:spPr>
          <a:xfrm>
            <a:off x="4014216" y="5029200"/>
            <a:ext cx="4160520" cy="411480"/>
          </a:xfrm>
          <a:prstGeom prst="roundRect">
            <a:avLst>
              <a:gd name="adj" fmla="val 17777"/>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The mod's failure rule: undecided (OQ03)</a:t>
            </a:r>
          </a:p>
        </p:txBody>
      </p:sp>
      <p:sp>
        <p:nvSpPr>
          <p:cNvPr id="46"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On real railways, a broken wire drops the arm to stop.</a:t>
            </a:r>
          </a:p>
        </p:txBody>
      </p:sp>
      <p:sp>
        <p:nvSpPr>
          <p:cNvPr id="47"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48"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8</a:t>
            </a:r>
          </a:p>
        </p:txBody>
      </p:sp>
    </p:spTree>
    <p:extLst>
      <p:ext uri="{BB962C8B-B14F-4D97-AF65-F5344CB8AC3E}">
        <p14:creationId xmlns:p14="http://schemas.microsoft.com/office/powerpoint/2010/main" val="10517979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par>
                                <p:cTn id="11" presetID="10" presetClass="entr" presetSubtype="0" fill="hold" nodeType="withEffect">
                                  <p:stCondLst>
                                    <p:cond delay="60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The signal box</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pic>
        <p:nvPicPr>
          <p:cNvPr id="4" name="P14_williton_signal_box.jpg" descr="Williton signal box on the West Somerset Railway."/>
          <p:cNvPicPr>
            <a:picLocks noChangeAspect="1"/>
          </p:cNvPicPr>
          <p:nvPr/>
        </p:nvPicPr>
        <p:blipFill>
          <a:blip r:embed="rId2"/>
          <a:srcRect t="2375" b="9500"/>
          <a:stretch>
            <a:fillRect/>
          </a:stretch>
        </p:blipFill>
        <p:spPr>
          <a:xfrm>
            <a:off x="548640" y="1280160"/>
            <a:ext cx="3657600" cy="4297680"/>
          </a:xfrm>
          <a:prstGeom prst="roundRect">
            <a:avLst>
              <a:gd name="adj" fmla="val 2000"/>
            </a:avLst>
          </a:prstGeom>
        </p:spPr>
      </p:pic>
      <p:sp>
        <p:nvSpPr>
          <p:cNvPr id="5" name="Credit"/>
          <p:cNvSpPr txBox="1"/>
          <p:nvPr/>
        </p:nvSpPr>
        <p:spPr>
          <a:xfrm>
            <a:off x="548640" y="5605272"/>
            <a:ext cx="3657600" cy="182880"/>
          </a:xfrm>
          <a:prstGeom prst="rect">
            <a:avLst/>
          </a:prstGeom>
          <a:noFill/>
        </p:spPr>
        <p:txBody>
          <a:bodyPr wrap="square" lIns="0" tIns="0" rIns="0" bIns="0" anchor="t">
            <a:noAutofit/>
          </a:bodyPr>
          <a:lstStyle/>
          <a:p>
            <a:pPr algn="l"/>
            <a:r>
              <a:rPr lang="en-GB" sz="1000" b="0" i="0">
                <a:solidFill>
                  <a:srgbClr val="A9B0B8"/>
                </a:solidFill>
                <a:latin typeface="Arial"/>
              </a:rPr>
              <a:t>Reading Tom, CC BY 2.0. Wikimedia Commons.</a:t>
            </a:r>
          </a:p>
        </p:txBody>
      </p:sp>
      <p:grpSp>
        <p:nvGrpSpPr>
          <p:cNvPr id="6" name="Three parts of a signal box" descr="Three rows with icons: high windows give a good view of the track; the signaller works the levers; the lever frame is inside."/>
          <p:cNvGrpSpPr/>
          <p:nvPr/>
        </p:nvGrpSpPr>
        <p:grpSpPr>
          <a:xfrm>
            <a:off x="4663440" y="1280160"/>
            <a:ext cx="6976872" cy="4297680"/>
            <a:chOff x="4663440" y="1280160"/>
            <a:chExt cx="6976872" cy="4297680"/>
          </a:xfrm>
        </p:grpSpPr>
        <p:sp>
          <p:nvSpPr>
            <p:cNvPr id="7" name="Rounded Rectangle 6"/>
            <p:cNvSpPr/>
            <p:nvPr/>
          </p:nvSpPr>
          <p:spPr>
            <a:xfrm>
              <a:off x="4663440" y="1280160"/>
              <a:ext cx="6976872" cy="1280160"/>
            </a:xfrm>
            <a:prstGeom prst="roundRect">
              <a:avLst>
                <a:gd name="adj" fmla="val 5714"/>
              </a:avLst>
            </a:prstGeom>
            <a:solidFill>
              <a:srgbClr val="2B2F36"/>
            </a:solidFill>
            <a:ln>
              <a:noFill/>
            </a:ln>
          </p:spPr>
          <p:txBody>
            <a:bodyPr rtlCol="0" anchor="ctr"/>
            <a:lstStyle/>
            <a:p>
              <a:pPr algn="ctr"/>
              <a:endParaRPr/>
            </a:p>
          </p:txBody>
        </p:sp>
        <p:grpSp>
          <p:nvGrpSpPr>
            <p:cNvPr id="8" name="Window icon" descr="An icon of a high window with several panes."/>
            <p:cNvGrpSpPr/>
            <p:nvPr/>
          </p:nvGrpSpPr>
          <p:grpSpPr>
            <a:xfrm>
              <a:off x="4937760" y="1508760"/>
              <a:ext cx="1005840" cy="822960"/>
              <a:chOff x="4937760" y="1508760"/>
              <a:chExt cx="1005840" cy="822960"/>
            </a:xfrm>
          </p:grpSpPr>
          <p:sp>
            <p:nvSpPr>
              <p:cNvPr id="9" name="Rectangle 8"/>
              <p:cNvSpPr/>
              <p:nvPr/>
            </p:nvSpPr>
            <p:spPr>
              <a:xfrm>
                <a:off x="4937760" y="1508760"/>
                <a:ext cx="1005840" cy="822960"/>
              </a:xfrm>
              <a:prstGeom prst="rect">
                <a:avLst/>
              </a:prstGeom>
              <a:solidFill>
                <a:srgbClr val="4DA3FF">
                  <a:alpha val="40000"/>
                </a:srgbClr>
              </a:solidFill>
              <a:ln w="25400">
                <a:solidFill>
                  <a:srgbClr val="E8E8E8"/>
                </a:solidFill>
              </a:ln>
            </p:spPr>
            <p:txBody>
              <a:bodyPr rtlCol="0" anchor="ctr"/>
              <a:lstStyle/>
              <a:p>
                <a:pPr algn="ctr"/>
                <a:endParaRPr/>
              </a:p>
            </p:txBody>
          </p:sp>
          <p:cxnSp>
            <p:nvCxnSpPr>
              <p:cNvPr id="10" name="Connector 9"/>
              <p:cNvCxnSpPr/>
              <p:nvPr/>
            </p:nvCxnSpPr>
            <p:spPr>
              <a:xfrm>
                <a:off x="5273040" y="1508760"/>
                <a:ext cx="0" cy="822960"/>
              </a:xfrm>
              <a:prstGeom prst="line">
                <a:avLst/>
              </a:prstGeom>
              <a:ln w="19050">
                <a:solidFill>
                  <a:srgbClr val="E8E8E8"/>
                </a:solidFill>
              </a:ln>
            </p:spPr>
          </p:cxnSp>
          <p:cxnSp>
            <p:nvCxnSpPr>
              <p:cNvPr id="11" name="Connector 10"/>
              <p:cNvCxnSpPr/>
              <p:nvPr/>
            </p:nvCxnSpPr>
            <p:spPr>
              <a:xfrm>
                <a:off x="5608320" y="1508760"/>
                <a:ext cx="0" cy="822960"/>
              </a:xfrm>
              <a:prstGeom prst="line">
                <a:avLst/>
              </a:prstGeom>
              <a:ln w="19050">
                <a:solidFill>
                  <a:srgbClr val="E8E8E8"/>
                </a:solidFill>
              </a:ln>
            </p:spPr>
          </p:cxnSp>
          <p:cxnSp>
            <p:nvCxnSpPr>
              <p:cNvPr id="12" name="Connector 11"/>
              <p:cNvCxnSpPr/>
              <p:nvPr/>
            </p:nvCxnSpPr>
            <p:spPr>
              <a:xfrm>
                <a:off x="4937760" y="1920240"/>
                <a:ext cx="1005840" cy="0"/>
              </a:xfrm>
              <a:prstGeom prst="line">
                <a:avLst/>
              </a:prstGeom>
              <a:ln w="19050">
                <a:solidFill>
                  <a:srgbClr val="E8E8E8"/>
                </a:solidFill>
              </a:ln>
            </p:spPr>
          </p:cxnSp>
        </p:grpSp>
        <p:sp>
          <p:nvSpPr>
            <p:cNvPr id="13" name="TextBox 12"/>
            <p:cNvSpPr txBox="1"/>
            <p:nvPr/>
          </p:nvSpPr>
          <p:spPr>
            <a:xfrm>
              <a:off x="6309360" y="1280160"/>
              <a:ext cx="5120640" cy="1280160"/>
            </a:xfrm>
            <a:prstGeom prst="rect">
              <a:avLst/>
            </a:prstGeom>
            <a:noFill/>
          </p:spPr>
          <p:txBody>
            <a:bodyPr wrap="square" lIns="18288" tIns="18288" rIns="18288" bIns="18288" anchor="ctr">
              <a:noAutofit/>
            </a:bodyPr>
            <a:lstStyle/>
            <a:p>
              <a:pPr algn="l"/>
              <a:r>
                <a:rPr lang="en-GB" sz="2000" b="1" i="0">
                  <a:solidFill>
                    <a:srgbClr val="F2F2F2"/>
                  </a:solidFill>
                  <a:latin typeface="Arial"/>
                </a:rPr>
                <a:t>High windows</a:t>
              </a:r>
              <a:r>
                <a:rPr lang="en-GB" sz="2000" b="0" i="0">
                  <a:solidFill>
                    <a:srgbClr val="F2F2F2"/>
                  </a:solidFill>
                  <a:latin typeface="Arial"/>
                </a:rPr>
                <a:t>: a good view of the track</a:t>
              </a:r>
            </a:p>
          </p:txBody>
        </p:sp>
        <p:sp>
          <p:nvSpPr>
            <p:cNvPr id="14" name="Rounded Rectangle 13"/>
            <p:cNvSpPr/>
            <p:nvPr/>
          </p:nvSpPr>
          <p:spPr>
            <a:xfrm>
              <a:off x="4663440" y="2788920"/>
              <a:ext cx="6976872" cy="1280160"/>
            </a:xfrm>
            <a:prstGeom prst="roundRect">
              <a:avLst>
                <a:gd name="adj" fmla="val 5714"/>
              </a:avLst>
            </a:prstGeom>
            <a:solidFill>
              <a:srgbClr val="2B2F36"/>
            </a:solidFill>
            <a:ln>
              <a:noFill/>
            </a:ln>
          </p:spPr>
          <p:txBody>
            <a:bodyPr rtlCol="0" anchor="ctr"/>
            <a:lstStyle/>
            <a:p>
              <a:pPr algn="ctr"/>
              <a:endParaRPr/>
            </a:p>
          </p:txBody>
        </p:sp>
        <p:grpSp>
          <p:nvGrpSpPr>
            <p:cNvPr id="15" name="Signaller icon" descr="A simple icon of a person: the signaller."/>
            <p:cNvGrpSpPr/>
            <p:nvPr/>
          </p:nvGrpSpPr>
          <p:grpSpPr>
            <a:xfrm>
              <a:off x="5045659" y="2980944"/>
              <a:ext cx="790042" cy="905256"/>
              <a:chOff x="5045659" y="2980944"/>
              <a:chExt cx="790042" cy="905256"/>
            </a:xfrm>
          </p:grpSpPr>
          <p:sp>
            <p:nvSpPr>
              <p:cNvPr id="16" name="Oval 15"/>
              <p:cNvSpPr/>
              <p:nvPr/>
            </p:nvSpPr>
            <p:spPr>
              <a:xfrm>
                <a:off x="5226710" y="2980944"/>
                <a:ext cx="427939" cy="427939"/>
              </a:xfrm>
              <a:prstGeom prst="ellipse">
                <a:avLst/>
              </a:prstGeom>
              <a:solidFill>
                <a:srgbClr val="E8E8E8"/>
              </a:solidFill>
              <a:ln>
                <a:noFill/>
              </a:ln>
            </p:spPr>
            <p:txBody>
              <a:bodyPr rtlCol="0" anchor="ctr"/>
              <a:lstStyle/>
              <a:p>
                <a:pPr algn="ctr"/>
                <a:endParaRPr/>
              </a:p>
            </p:txBody>
          </p:sp>
          <p:sp>
            <p:nvSpPr>
              <p:cNvPr id="17" name="Round Same Side Corner Rectangle 16"/>
              <p:cNvSpPr/>
              <p:nvPr/>
            </p:nvSpPr>
            <p:spPr>
              <a:xfrm>
                <a:off x="5045659" y="3260750"/>
                <a:ext cx="790042" cy="625450"/>
              </a:xfrm>
              <a:prstGeom prst="round2SameRect">
                <a:avLst>
                  <a:gd name="adj1" fmla="val 45000"/>
                  <a:gd name="adj2" fmla="val 0"/>
                </a:avLst>
              </a:prstGeom>
              <a:solidFill>
                <a:srgbClr val="E8E8E8"/>
              </a:solidFill>
              <a:ln>
                <a:noFill/>
              </a:ln>
            </p:spPr>
            <p:txBody>
              <a:bodyPr rtlCol="0" anchor="ctr"/>
              <a:lstStyle/>
              <a:p>
                <a:pPr algn="ctr"/>
                <a:endParaRPr/>
              </a:p>
            </p:txBody>
          </p:sp>
        </p:grpSp>
        <p:sp>
          <p:nvSpPr>
            <p:cNvPr id="18" name="TextBox 17"/>
            <p:cNvSpPr txBox="1"/>
            <p:nvPr/>
          </p:nvSpPr>
          <p:spPr>
            <a:xfrm>
              <a:off x="6309360" y="2788920"/>
              <a:ext cx="5120640" cy="1280160"/>
            </a:xfrm>
            <a:prstGeom prst="rect">
              <a:avLst/>
            </a:prstGeom>
            <a:noFill/>
          </p:spPr>
          <p:txBody>
            <a:bodyPr wrap="square" lIns="18288" tIns="18288" rIns="18288" bIns="18288" anchor="ctr">
              <a:noAutofit/>
            </a:bodyPr>
            <a:lstStyle/>
            <a:p>
              <a:pPr algn="l"/>
              <a:r>
                <a:rPr lang="en-GB" sz="2000" b="1" i="0">
                  <a:solidFill>
                    <a:srgbClr val="F2F2F2"/>
                  </a:solidFill>
                  <a:latin typeface="Arial"/>
                </a:rPr>
                <a:t>The signaller</a:t>
              </a:r>
              <a:r>
                <a:rPr lang="en-GB" sz="2000" b="0" i="0">
                  <a:solidFill>
                    <a:srgbClr val="F2F2F2"/>
                  </a:solidFill>
                  <a:latin typeface="Arial"/>
                </a:rPr>
                <a:t>: works the levers</a:t>
              </a:r>
            </a:p>
          </p:txBody>
        </p:sp>
        <p:sp>
          <p:nvSpPr>
            <p:cNvPr id="19" name="Rounded Rectangle 18"/>
            <p:cNvSpPr/>
            <p:nvPr/>
          </p:nvSpPr>
          <p:spPr>
            <a:xfrm>
              <a:off x="4663440" y="4297680"/>
              <a:ext cx="6976872" cy="1280160"/>
            </a:xfrm>
            <a:prstGeom prst="roundRect">
              <a:avLst>
                <a:gd name="adj" fmla="val 5714"/>
              </a:avLst>
            </a:prstGeom>
            <a:solidFill>
              <a:srgbClr val="2B2F36"/>
            </a:solidFill>
            <a:ln>
              <a:noFill/>
            </a:ln>
          </p:spPr>
          <p:txBody>
            <a:bodyPr rtlCol="0" anchor="ctr"/>
            <a:lstStyle/>
            <a:p>
              <a:pPr algn="ctr"/>
              <a:endParaRPr/>
            </a:p>
          </p:txBody>
        </p:sp>
        <p:grpSp>
          <p:nvGrpSpPr>
            <p:cNvPr id="20" name="Lever frame icon" descr="An icon of a row of levers."/>
            <p:cNvGrpSpPr/>
            <p:nvPr/>
          </p:nvGrpSpPr>
          <p:grpSpPr>
            <a:xfrm>
              <a:off x="4983480" y="4617720"/>
              <a:ext cx="923544" cy="822960"/>
              <a:chOff x="4983480" y="4617720"/>
              <a:chExt cx="923544" cy="822960"/>
            </a:xfrm>
          </p:grpSpPr>
          <p:sp>
            <p:nvSpPr>
              <p:cNvPr id="21" name="Rectangle 20"/>
              <p:cNvSpPr/>
              <p:nvPr/>
            </p:nvSpPr>
            <p:spPr>
              <a:xfrm>
                <a:off x="5020056" y="4617720"/>
                <a:ext cx="109728" cy="731520"/>
              </a:xfrm>
              <a:prstGeom prst="rect">
                <a:avLst/>
              </a:prstGeom>
              <a:solidFill>
                <a:srgbClr val="E5484D"/>
              </a:solidFill>
              <a:ln w="9525">
                <a:solidFill>
                  <a:srgbClr val="101418"/>
                </a:solidFill>
              </a:ln>
            </p:spPr>
            <p:txBody>
              <a:bodyPr rtlCol="0" anchor="ctr"/>
              <a:lstStyle/>
              <a:p>
                <a:pPr algn="ctr"/>
                <a:endParaRPr/>
              </a:p>
            </p:txBody>
          </p:sp>
          <p:sp>
            <p:nvSpPr>
              <p:cNvPr id="22" name="Oval 21"/>
              <p:cNvSpPr/>
              <p:nvPr/>
            </p:nvSpPr>
            <p:spPr>
              <a:xfrm>
                <a:off x="4983480" y="5257800"/>
                <a:ext cx="182880" cy="182880"/>
              </a:xfrm>
              <a:prstGeom prst="ellipse">
                <a:avLst/>
              </a:prstGeom>
              <a:solidFill>
                <a:srgbClr val="9AA0A6"/>
              </a:solidFill>
              <a:ln w="9525">
                <a:solidFill>
                  <a:srgbClr val="101418"/>
                </a:solidFill>
              </a:ln>
            </p:spPr>
            <p:txBody>
              <a:bodyPr rtlCol="0" anchor="ctr"/>
              <a:lstStyle/>
              <a:p>
                <a:pPr algn="ctr"/>
                <a:endParaRPr/>
              </a:p>
            </p:txBody>
          </p:sp>
          <p:sp>
            <p:nvSpPr>
              <p:cNvPr id="23" name="Rectangle 22"/>
              <p:cNvSpPr/>
              <p:nvPr/>
            </p:nvSpPr>
            <p:spPr>
              <a:xfrm>
                <a:off x="5266944" y="4617720"/>
                <a:ext cx="109728" cy="731520"/>
              </a:xfrm>
              <a:prstGeom prst="rect">
                <a:avLst/>
              </a:prstGeom>
              <a:solidFill>
                <a:srgbClr val="F2C14E"/>
              </a:solidFill>
              <a:ln w="9525">
                <a:solidFill>
                  <a:srgbClr val="101418"/>
                </a:solidFill>
              </a:ln>
            </p:spPr>
            <p:txBody>
              <a:bodyPr rtlCol="0" anchor="ctr"/>
              <a:lstStyle/>
              <a:p>
                <a:pPr algn="ctr"/>
                <a:endParaRPr/>
              </a:p>
            </p:txBody>
          </p:sp>
          <p:sp>
            <p:nvSpPr>
              <p:cNvPr id="24" name="Oval 23"/>
              <p:cNvSpPr/>
              <p:nvPr/>
            </p:nvSpPr>
            <p:spPr>
              <a:xfrm>
                <a:off x="5230368" y="5257800"/>
                <a:ext cx="182880" cy="182880"/>
              </a:xfrm>
              <a:prstGeom prst="ellipse">
                <a:avLst/>
              </a:prstGeom>
              <a:solidFill>
                <a:srgbClr val="9AA0A6"/>
              </a:solidFill>
              <a:ln w="9525">
                <a:solidFill>
                  <a:srgbClr val="101418"/>
                </a:solidFill>
              </a:ln>
            </p:spPr>
            <p:txBody>
              <a:bodyPr rtlCol="0" anchor="ctr"/>
              <a:lstStyle/>
              <a:p>
                <a:pPr algn="ctr"/>
                <a:endParaRPr/>
              </a:p>
            </p:txBody>
          </p:sp>
          <p:sp>
            <p:nvSpPr>
              <p:cNvPr id="25" name="Rectangle 24"/>
              <p:cNvSpPr/>
              <p:nvPr/>
            </p:nvSpPr>
            <p:spPr>
              <a:xfrm>
                <a:off x="5513832" y="4617720"/>
                <a:ext cx="109728" cy="731520"/>
              </a:xfrm>
              <a:prstGeom prst="rect">
                <a:avLst/>
              </a:prstGeom>
              <a:solidFill>
                <a:srgbClr val="E5484D"/>
              </a:solidFill>
              <a:ln w="9525">
                <a:solidFill>
                  <a:srgbClr val="101418"/>
                </a:solidFill>
              </a:ln>
            </p:spPr>
            <p:txBody>
              <a:bodyPr rtlCol="0" anchor="ctr"/>
              <a:lstStyle/>
              <a:p>
                <a:pPr algn="ctr"/>
                <a:endParaRPr/>
              </a:p>
            </p:txBody>
          </p:sp>
          <p:sp>
            <p:nvSpPr>
              <p:cNvPr id="26" name="Oval 25"/>
              <p:cNvSpPr/>
              <p:nvPr/>
            </p:nvSpPr>
            <p:spPr>
              <a:xfrm>
                <a:off x="5477256" y="5257800"/>
                <a:ext cx="182880" cy="182880"/>
              </a:xfrm>
              <a:prstGeom prst="ellipse">
                <a:avLst/>
              </a:prstGeom>
              <a:solidFill>
                <a:srgbClr val="9AA0A6"/>
              </a:solidFill>
              <a:ln w="9525">
                <a:solidFill>
                  <a:srgbClr val="101418"/>
                </a:solidFill>
              </a:ln>
            </p:spPr>
            <p:txBody>
              <a:bodyPr rtlCol="0" anchor="ctr"/>
              <a:lstStyle/>
              <a:p>
                <a:pPr algn="ctr"/>
                <a:endParaRPr/>
              </a:p>
            </p:txBody>
          </p:sp>
          <p:sp>
            <p:nvSpPr>
              <p:cNvPr id="27" name="Rectangle 26"/>
              <p:cNvSpPr/>
              <p:nvPr/>
            </p:nvSpPr>
            <p:spPr>
              <a:xfrm>
                <a:off x="5760720" y="4617720"/>
                <a:ext cx="109728" cy="731520"/>
              </a:xfrm>
              <a:prstGeom prst="rect">
                <a:avLst/>
              </a:prstGeom>
              <a:solidFill>
                <a:srgbClr val="4DA3FF"/>
              </a:solidFill>
              <a:ln w="9525">
                <a:solidFill>
                  <a:srgbClr val="101418"/>
                </a:solidFill>
              </a:ln>
            </p:spPr>
            <p:txBody>
              <a:bodyPr rtlCol="0" anchor="ctr"/>
              <a:lstStyle/>
              <a:p>
                <a:pPr algn="ctr"/>
                <a:endParaRPr/>
              </a:p>
            </p:txBody>
          </p:sp>
          <p:sp>
            <p:nvSpPr>
              <p:cNvPr id="28" name="Oval 27"/>
              <p:cNvSpPr/>
              <p:nvPr/>
            </p:nvSpPr>
            <p:spPr>
              <a:xfrm>
                <a:off x="5724144" y="5257800"/>
                <a:ext cx="182880" cy="182880"/>
              </a:xfrm>
              <a:prstGeom prst="ellipse">
                <a:avLst/>
              </a:prstGeom>
              <a:solidFill>
                <a:srgbClr val="9AA0A6"/>
              </a:solidFill>
              <a:ln w="9525">
                <a:solidFill>
                  <a:srgbClr val="101418"/>
                </a:solidFill>
              </a:ln>
            </p:spPr>
            <p:txBody>
              <a:bodyPr rtlCol="0" anchor="ctr"/>
              <a:lstStyle/>
              <a:p>
                <a:pPr algn="ctr"/>
                <a:endParaRPr/>
              </a:p>
            </p:txBody>
          </p:sp>
        </p:grpSp>
        <p:sp>
          <p:nvSpPr>
            <p:cNvPr id="29" name="TextBox 28"/>
            <p:cNvSpPr txBox="1"/>
            <p:nvPr/>
          </p:nvSpPr>
          <p:spPr>
            <a:xfrm>
              <a:off x="6309360" y="4297680"/>
              <a:ext cx="5120640" cy="1280160"/>
            </a:xfrm>
            <a:prstGeom prst="rect">
              <a:avLst/>
            </a:prstGeom>
            <a:noFill/>
          </p:spPr>
          <p:txBody>
            <a:bodyPr wrap="square" lIns="18288" tIns="18288" rIns="18288" bIns="18288" anchor="ctr">
              <a:noAutofit/>
            </a:bodyPr>
            <a:lstStyle/>
            <a:p>
              <a:pPr algn="l"/>
              <a:r>
                <a:rPr lang="en-GB" sz="2000" b="1" i="0">
                  <a:solidFill>
                    <a:srgbClr val="F2F2F2"/>
                  </a:solidFill>
                  <a:latin typeface="Arial"/>
                </a:rPr>
                <a:t>Lever frame</a:t>
              </a:r>
              <a:r>
                <a:rPr lang="en-GB" sz="2000" b="0" i="0">
                  <a:solidFill>
                    <a:srgbClr val="F2F2F2"/>
                  </a:solidFill>
                  <a:latin typeface="Arial"/>
                </a:rPr>
                <a:t>: inside</a:t>
              </a:r>
            </a:p>
          </p:txBody>
        </p:sp>
      </p:grpSp>
      <p:sp>
        <p:nvSpPr>
          <p:cNvPr id="30"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A signal box is a small building. A signaller works the signals from it.</a:t>
            </a:r>
          </a:p>
        </p:txBody>
      </p:sp>
      <p:sp>
        <p:nvSpPr>
          <p:cNvPr id="31"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32"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9</a:t>
            </a:r>
          </a:p>
        </p:txBody>
      </p:sp>
    </p:spTree>
    <p:extLst>
      <p:ext uri="{BB962C8B-B14F-4D97-AF65-F5344CB8AC3E}">
        <p14:creationId xmlns:p14="http://schemas.microsoft.com/office/powerpoint/2010/main" val="42240155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The lever frame</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Lever frame cutaway" descr="A cutaway of a two-floor signal box. On the operating floor a signaller stands behind a row of eight colour-coded levers. On the lower floor eight thin rods leave the left wall towards the track."/>
          <p:cNvGrpSpPr/>
          <p:nvPr/>
        </p:nvGrpSpPr>
        <p:grpSpPr>
          <a:xfrm>
            <a:off x="548640" y="1325880"/>
            <a:ext cx="11091672" cy="4251960"/>
            <a:chOff x="548640" y="1325880"/>
            <a:chExt cx="11091672" cy="4251960"/>
          </a:xfrm>
        </p:grpSpPr>
        <p:sp>
          <p:nvSpPr>
            <p:cNvPr id="5" name="Rounded Rectangle 4"/>
            <p:cNvSpPr/>
            <p:nvPr/>
          </p:nvSpPr>
          <p:spPr>
            <a:xfrm>
              <a:off x="4754880" y="1325880"/>
              <a:ext cx="6885432" cy="4251960"/>
            </a:xfrm>
            <a:prstGeom prst="roundRect">
              <a:avLst>
                <a:gd name="adj" fmla="val 1720"/>
              </a:avLst>
            </a:prstGeom>
            <a:solidFill>
              <a:srgbClr val="2B2F36"/>
            </a:solidFill>
            <a:ln w="25400">
              <a:solidFill>
                <a:srgbClr val="F28C28"/>
              </a:solidFill>
            </a:ln>
          </p:spPr>
          <p:txBody>
            <a:bodyPr rtlCol="0" anchor="ctr"/>
            <a:lstStyle/>
            <a:p>
              <a:pPr algn="ctr"/>
              <a:endParaRPr/>
            </a:p>
          </p:txBody>
        </p:sp>
        <p:cxnSp>
          <p:nvCxnSpPr>
            <p:cNvPr id="6" name="Connector 5"/>
            <p:cNvCxnSpPr/>
            <p:nvPr/>
          </p:nvCxnSpPr>
          <p:spPr>
            <a:xfrm>
              <a:off x="4754880" y="3611880"/>
              <a:ext cx="6885432" cy="0"/>
            </a:xfrm>
            <a:prstGeom prst="line">
              <a:avLst/>
            </a:prstGeom>
            <a:ln w="50800">
              <a:solidFill>
                <a:srgbClr val="9AA0A6"/>
              </a:solidFill>
            </a:ln>
          </p:spPr>
        </p:cxnSp>
        <p:sp>
          <p:nvSpPr>
            <p:cNvPr id="7" name="Rectangle 6"/>
            <p:cNvSpPr/>
            <p:nvPr/>
          </p:nvSpPr>
          <p:spPr>
            <a:xfrm>
              <a:off x="6675120" y="1463040"/>
              <a:ext cx="1097280" cy="411480"/>
            </a:xfrm>
            <a:prstGeom prst="rect">
              <a:avLst/>
            </a:prstGeom>
            <a:solidFill>
              <a:srgbClr val="4DA3FF">
                <a:alpha val="40000"/>
              </a:srgbClr>
            </a:solidFill>
            <a:ln w="19050">
              <a:solidFill>
                <a:srgbClr val="E8E8E8"/>
              </a:solidFill>
            </a:ln>
          </p:spPr>
          <p:txBody>
            <a:bodyPr rtlCol="0" anchor="ctr"/>
            <a:lstStyle/>
            <a:p>
              <a:pPr algn="ctr"/>
              <a:endParaRPr/>
            </a:p>
          </p:txBody>
        </p:sp>
        <p:sp>
          <p:nvSpPr>
            <p:cNvPr id="8" name="Rectangle 7"/>
            <p:cNvSpPr/>
            <p:nvPr/>
          </p:nvSpPr>
          <p:spPr>
            <a:xfrm>
              <a:off x="7863840" y="1463040"/>
              <a:ext cx="1097280" cy="411480"/>
            </a:xfrm>
            <a:prstGeom prst="rect">
              <a:avLst/>
            </a:prstGeom>
            <a:solidFill>
              <a:srgbClr val="4DA3FF">
                <a:alpha val="40000"/>
              </a:srgbClr>
            </a:solidFill>
            <a:ln w="19050">
              <a:solidFill>
                <a:srgbClr val="E8E8E8"/>
              </a:solidFill>
            </a:ln>
          </p:spPr>
          <p:txBody>
            <a:bodyPr rtlCol="0" anchor="ctr"/>
            <a:lstStyle/>
            <a:p>
              <a:pPr algn="ctr"/>
              <a:endParaRPr/>
            </a:p>
          </p:txBody>
        </p:sp>
        <p:sp>
          <p:nvSpPr>
            <p:cNvPr id="9" name="Rectangle 8"/>
            <p:cNvSpPr/>
            <p:nvPr/>
          </p:nvSpPr>
          <p:spPr>
            <a:xfrm>
              <a:off x="9052560" y="1463040"/>
              <a:ext cx="1097280" cy="411480"/>
            </a:xfrm>
            <a:prstGeom prst="rect">
              <a:avLst/>
            </a:prstGeom>
            <a:solidFill>
              <a:srgbClr val="4DA3FF">
                <a:alpha val="40000"/>
              </a:srgbClr>
            </a:solidFill>
            <a:ln w="19050">
              <a:solidFill>
                <a:srgbClr val="E8E8E8"/>
              </a:solidFill>
            </a:ln>
          </p:spPr>
          <p:txBody>
            <a:bodyPr rtlCol="0" anchor="ctr"/>
            <a:lstStyle/>
            <a:p>
              <a:pPr algn="ctr"/>
              <a:endParaRPr/>
            </a:p>
          </p:txBody>
        </p:sp>
        <p:sp>
          <p:nvSpPr>
            <p:cNvPr id="10" name="Rectangle 9"/>
            <p:cNvSpPr/>
            <p:nvPr/>
          </p:nvSpPr>
          <p:spPr>
            <a:xfrm>
              <a:off x="10241280" y="1463040"/>
              <a:ext cx="1097280" cy="411480"/>
            </a:xfrm>
            <a:prstGeom prst="rect">
              <a:avLst/>
            </a:prstGeom>
            <a:solidFill>
              <a:srgbClr val="4DA3FF">
                <a:alpha val="40000"/>
              </a:srgbClr>
            </a:solidFill>
            <a:ln w="19050">
              <a:solidFill>
                <a:srgbClr val="E8E8E8"/>
              </a:solidFill>
            </a:ln>
          </p:spPr>
          <p:txBody>
            <a:bodyPr rtlCol="0" anchor="ctr"/>
            <a:lstStyle/>
            <a:p>
              <a:pPr algn="ctr"/>
              <a:endParaRPr/>
            </a:p>
          </p:txBody>
        </p:sp>
        <p:sp>
          <p:nvSpPr>
            <p:cNvPr id="11" name="TextBox 10"/>
            <p:cNvSpPr txBox="1"/>
            <p:nvPr/>
          </p:nvSpPr>
          <p:spPr>
            <a:xfrm>
              <a:off x="4892040" y="1417320"/>
              <a:ext cx="1737360" cy="320040"/>
            </a:xfrm>
            <a:prstGeom prst="rect">
              <a:avLst/>
            </a:prstGeom>
            <a:noFill/>
          </p:spPr>
          <p:txBody>
            <a:bodyPr wrap="square" lIns="18288" tIns="18288" rIns="18288" bIns="18288" anchor="ctr">
              <a:noAutofit/>
            </a:bodyPr>
            <a:lstStyle/>
            <a:p>
              <a:pPr algn="l"/>
              <a:r>
                <a:rPr lang="en-GB" sz="1400" b="1" i="0">
                  <a:solidFill>
                    <a:srgbClr val="A9B0B8"/>
                  </a:solidFill>
                  <a:latin typeface="Arial"/>
                </a:rPr>
                <a:t>Operating floor</a:t>
              </a:r>
            </a:p>
          </p:txBody>
        </p:sp>
        <p:sp>
          <p:nvSpPr>
            <p:cNvPr id="12" name="Rounded Rectangle 11"/>
            <p:cNvSpPr/>
            <p:nvPr/>
          </p:nvSpPr>
          <p:spPr>
            <a:xfrm>
              <a:off x="6766560" y="2011680"/>
              <a:ext cx="4069080" cy="457200"/>
            </a:xfrm>
            <a:prstGeom prst="roundRect">
              <a:avLst>
                <a:gd name="adj" fmla="val 8000"/>
              </a:avLst>
            </a:prstGeom>
            <a:solidFill>
              <a:srgbClr val="E8E8E8"/>
            </a:solidFill>
            <a:ln>
              <a:noFill/>
            </a:ln>
          </p:spPr>
          <p:txBody>
            <a:bodyPr rtlCol="0" anchor="ctr"/>
            <a:lstStyle/>
            <a:p>
              <a:pPr algn="ctr"/>
              <a:endParaRPr/>
            </a:p>
          </p:txBody>
        </p:sp>
        <p:cxnSp>
          <p:nvCxnSpPr>
            <p:cNvPr id="13" name="Connector 12"/>
            <p:cNvCxnSpPr/>
            <p:nvPr/>
          </p:nvCxnSpPr>
          <p:spPr>
            <a:xfrm>
              <a:off x="6949440" y="2304288"/>
              <a:ext cx="3703320" cy="0"/>
            </a:xfrm>
            <a:prstGeom prst="line">
              <a:avLst/>
            </a:prstGeom>
            <a:ln w="25400">
              <a:solidFill>
                <a:srgbClr val="1B1D21"/>
              </a:solidFill>
            </a:ln>
          </p:spPr>
        </p:cxnSp>
        <p:sp>
          <p:nvSpPr>
            <p:cNvPr id="14" name="Freeform 13"/>
            <p:cNvSpPr/>
            <p:nvPr/>
          </p:nvSpPr>
          <p:spPr>
            <a:xfrm>
              <a:off x="8229600" y="2139696"/>
              <a:ext cx="2011680" cy="164592"/>
            </a:xfrm>
            <a:custGeom>
              <a:avLst/>
              <a:gdLst/>
              <a:ahLst/>
              <a:cxnLst/>
              <a:rect l="l" t="t" r="r" b="b"/>
              <a:pathLst>
                <a:path w="2011680" h="164592">
                  <a:moveTo>
                    <a:pt x="0" y="164592"/>
                  </a:moveTo>
                  <a:lnTo>
                    <a:pt x="365760" y="0"/>
                  </a:lnTo>
                  <a:lnTo>
                    <a:pt x="2011680" y="0"/>
                  </a:lnTo>
                </a:path>
              </a:pathLst>
            </a:custGeom>
            <a:noFill/>
            <a:ln w="25400">
              <a:solidFill>
                <a:srgbClr val="1B1D21"/>
              </a:solidFill>
            </a:ln>
          </p:spPr>
          <p:txBody>
            <a:bodyPr rtlCol="0" anchor="ctr"/>
            <a:lstStyle/>
            <a:p>
              <a:pPr algn="ctr"/>
              <a:endParaRPr/>
            </a:p>
          </p:txBody>
        </p:sp>
        <p:grpSp>
          <p:nvGrpSpPr>
            <p:cNvPr id="15" name="Signaller icon" descr="A simple icon of a person: the signaller."/>
            <p:cNvGrpSpPr/>
            <p:nvPr/>
          </p:nvGrpSpPr>
          <p:grpSpPr>
            <a:xfrm>
              <a:off x="5296205" y="2711196"/>
              <a:ext cx="746150" cy="854964"/>
              <a:chOff x="5296205" y="2711196"/>
              <a:chExt cx="746150" cy="854964"/>
            </a:xfrm>
          </p:grpSpPr>
          <p:sp>
            <p:nvSpPr>
              <p:cNvPr id="16" name="Oval 15"/>
              <p:cNvSpPr/>
              <p:nvPr/>
            </p:nvSpPr>
            <p:spPr>
              <a:xfrm>
                <a:off x="5467198" y="2711196"/>
                <a:ext cx="404165" cy="404165"/>
              </a:xfrm>
              <a:prstGeom prst="ellipse">
                <a:avLst/>
              </a:prstGeom>
              <a:solidFill>
                <a:srgbClr val="E8E8E8"/>
              </a:solidFill>
              <a:ln>
                <a:noFill/>
              </a:ln>
            </p:spPr>
            <p:txBody>
              <a:bodyPr rtlCol="0" anchor="ctr"/>
              <a:lstStyle/>
              <a:p>
                <a:pPr algn="ctr"/>
                <a:endParaRPr/>
              </a:p>
            </p:txBody>
          </p:sp>
          <p:sp>
            <p:nvSpPr>
              <p:cNvPr id="17" name="Round Same Side Corner Rectangle 16"/>
              <p:cNvSpPr/>
              <p:nvPr/>
            </p:nvSpPr>
            <p:spPr>
              <a:xfrm>
                <a:off x="5296205" y="2975458"/>
                <a:ext cx="746150" cy="590702"/>
              </a:xfrm>
              <a:prstGeom prst="round2SameRect">
                <a:avLst>
                  <a:gd name="adj1" fmla="val 45000"/>
                  <a:gd name="adj2" fmla="val 0"/>
                </a:avLst>
              </a:prstGeom>
              <a:solidFill>
                <a:srgbClr val="E8E8E8"/>
              </a:solidFill>
              <a:ln>
                <a:noFill/>
              </a:ln>
            </p:spPr>
            <p:txBody>
              <a:bodyPr rtlCol="0" anchor="ctr"/>
              <a:lstStyle/>
              <a:p>
                <a:pPr algn="ctr"/>
                <a:endParaRPr/>
              </a:p>
            </p:txBody>
          </p:sp>
        </p:grpSp>
        <p:sp>
          <p:nvSpPr>
            <p:cNvPr id="18" name="Rectangle 17"/>
            <p:cNvSpPr/>
            <p:nvPr/>
          </p:nvSpPr>
          <p:spPr>
            <a:xfrm>
              <a:off x="6794906" y="2574036"/>
              <a:ext cx="126187" cy="946404"/>
            </a:xfrm>
            <a:prstGeom prst="rect">
              <a:avLst/>
            </a:prstGeom>
            <a:solidFill>
              <a:srgbClr val="E5484D"/>
            </a:solidFill>
            <a:ln w="9525">
              <a:solidFill>
                <a:srgbClr val="101418"/>
              </a:solidFill>
            </a:ln>
          </p:spPr>
          <p:txBody>
            <a:bodyPr rtlCol="0" anchor="ctr"/>
            <a:lstStyle/>
            <a:p>
              <a:pPr algn="ctr"/>
              <a:endParaRPr/>
            </a:p>
          </p:txBody>
        </p:sp>
        <p:sp>
          <p:nvSpPr>
            <p:cNvPr id="19" name="Oval 18"/>
            <p:cNvSpPr/>
            <p:nvPr/>
          </p:nvSpPr>
          <p:spPr>
            <a:xfrm>
              <a:off x="6752844" y="3415284"/>
              <a:ext cx="210312" cy="210312"/>
            </a:xfrm>
            <a:prstGeom prst="ellipse">
              <a:avLst/>
            </a:prstGeom>
            <a:solidFill>
              <a:srgbClr val="9AA0A6"/>
            </a:solidFill>
            <a:ln w="9525">
              <a:solidFill>
                <a:srgbClr val="101418"/>
              </a:solidFill>
            </a:ln>
          </p:spPr>
          <p:txBody>
            <a:bodyPr rtlCol="0" anchor="ctr"/>
            <a:lstStyle/>
            <a:p>
              <a:pPr algn="ctr"/>
              <a:endParaRPr/>
            </a:p>
          </p:txBody>
        </p:sp>
        <p:sp>
          <p:nvSpPr>
            <p:cNvPr id="20" name="Rectangle 19"/>
            <p:cNvSpPr/>
            <p:nvPr/>
          </p:nvSpPr>
          <p:spPr>
            <a:xfrm>
              <a:off x="7361834" y="2574036"/>
              <a:ext cx="126187" cy="946404"/>
            </a:xfrm>
            <a:prstGeom prst="rect">
              <a:avLst/>
            </a:prstGeom>
            <a:solidFill>
              <a:srgbClr val="E5484D"/>
            </a:solidFill>
            <a:ln w="9525">
              <a:solidFill>
                <a:srgbClr val="101418"/>
              </a:solidFill>
            </a:ln>
          </p:spPr>
          <p:txBody>
            <a:bodyPr rtlCol="0" anchor="ctr"/>
            <a:lstStyle/>
            <a:p>
              <a:pPr algn="ctr"/>
              <a:endParaRPr/>
            </a:p>
          </p:txBody>
        </p:sp>
        <p:sp>
          <p:nvSpPr>
            <p:cNvPr id="21" name="Oval 20"/>
            <p:cNvSpPr/>
            <p:nvPr/>
          </p:nvSpPr>
          <p:spPr>
            <a:xfrm>
              <a:off x="7319772" y="3415284"/>
              <a:ext cx="210312" cy="210312"/>
            </a:xfrm>
            <a:prstGeom prst="ellipse">
              <a:avLst/>
            </a:prstGeom>
            <a:solidFill>
              <a:srgbClr val="9AA0A6"/>
            </a:solidFill>
            <a:ln w="9525">
              <a:solidFill>
                <a:srgbClr val="101418"/>
              </a:solidFill>
            </a:ln>
          </p:spPr>
          <p:txBody>
            <a:bodyPr rtlCol="0" anchor="ctr"/>
            <a:lstStyle/>
            <a:p>
              <a:pPr algn="ctr"/>
              <a:endParaRPr/>
            </a:p>
          </p:txBody>
        </p:sp>
        <p:sp>
          <p:nvSpPr>
            <p:cNvPr id="22" name="Rectangle 21"/>
            <p:cNvSpPr/>
            <p:nvPr/>
          </p:nvSpPr>
          <p:spPr>
            <a:xfrm>
              <a:off x="7928762" y="2574036"/>
              <a:ext cx="126187" cy="946404"/>
            </a:xfrm>
            <a:prstGeom prst="rect">
              <a:avLst/>
            </a:prstGeom>
            <a:solidFill>
              <a:srgbClr val="E5484D"/>
            </a:solidFill>
            <a:ln w="9525">
              <a:solidFill>
                <a:srgbClr val="101418"/>
              </a:solidFill>
            </a:ln>
          </p:spPr>
          <p:txBody>
            <a:bodyPr rtlCol="0" anchor="ctr"/>
            <a:lstStyle/>
            <a:p>
              <a:pPr algn="ctr"/>
              <a:endParaRPr/>
            </a:p>
          </p:txBody>
        </p:sp>
        <p:sp>
          <p:nvSpPr>
            <p:cNvPr id="23" name="Oval 22"/>
            <p:cNvSpPr/>
            <p:nvPr/>
          </p:nvSpPr>
          <p:spPr>
            <a:xfrm>
              <a:off x="7886700" y="3415284"/>
              <a:ext cx="210312" cy="210312"/>
            </a:xfrm>
            <a:prstGeom prst="ellipse">
              <a:avLst/>
            </a:prstGeom>
            <a:solidFill>
              <a:srgbClr val="9AA0A6"/>
            </a:solidFill>
            <a:ln w="9525">
              <a:solidFill>
                <a:srgbClr val="101418"/>
              </a:solidFill>
            </a:ln>
          </p:spPr>
          <p:txBody>
            <a:bodyPr rtlCol="0" anchor="ctr"/>
            <a:lstStyle/>
            <a:p>
              <a:pPr algn="ctr"/>
              <a:endParaRPr/>
            </a:p>
          </p:txBody>
        </p:sp>
        <p:sp>
          <p:nvSpPr>
            <p:cNvPr id="24" name="Rectangle 23"/>
            <p:cNvSpPr/>
            <p:nvPr/>
          </p:nvSpPr>
          <p:spPr>
            <a:xfrm>
              <a:off x="8495690" y="2574036"/>
              <a:ext cx="126187" cy="946404"/>
            </a:xfrm>
            <a:prstGeom prst="rect">
              <a:avLst/>
            </a:prstGeom>
            <a:solidFill>
              <a:srgbClr val="F2C14E"/>
            </a:solidFill>
            <a:ln w="9525">
              <a:solidFill>
                <a:srgbClr val="101418"/>
              </a:solidFill>
            </a:ln>
          </p:spPr>
          <p:txBody>
            <a:bodyPr rtlCol="0" anchor="ctr"/>
            <a:lstStyle/>
            <a:p>
              <a:pPr algn="ctr"/>
              <a:endParaRPr/>
            </a:p>
          </p:txBody>
        </p:sp>
        <p:sp>
          <p:nvSpPr>
            <p:cNvPr id="25" name="Oval 24"/>
            <p:cNvSpPr/>
            <p:nvPr/>
          </p:nvSpPr>
          <p:spPr>
            <a:xfrm>
              <a:off x="8453628" y="3415284"/>
              <a:ext cx="210312" cy="210312"/>
            </a:xfrm>
            <a:prstGeom prst="ellipse">
              <a:avLst/>
            </a:prstGeom>
            <a:solidFill>
              <a:srgbClr val="9AA0A6"/>
            </a:solidFill>
            <a:ln w="9525">
              <a:solidFill>
                <a:srgbClr val="101418"/>
              </a:solidFill>
            </a:ln>
          </p:spPr>
          <p:txBody>
            <a:bodyPr rtlCol="0" anchor="ctr"/>
            <a:lstStyle/>
            <a:p>
              <a:pPr algn="ctr"/>
              <a:endParaRPr/>
            </a:p>
          </p:txBody>
        </p:sp>
        <p:sp>
          <p:nvSpPr>
            <p:cNvPr id="26" name="Rectangle 25"/>
            <p:cNvSpPr/>
            <p:nvPr/>
          </p:nvSpPr>
          <p:spPr>
            <a:xfrm>
              <a:off x="9062618" y="2574036"/>
              <a:ext cx="126187" cy="946404"/>
            </a:xfrm>
            <a:prstGeom prst="rect">
              <a:avLst/>
            </a:prstGeom>
            <a:solidFill>
              <a:srgbClr val="F2C14E"/>
            </a:solidFill>
            <a:ln w="9525">
              <a:solidFill>
                <a:srgbClr val="101418"/>
              </a:solidFill>
            </a:ln>
          </p:spPr>
          <p:txBody>
            <a:bodyPr rtlCol="0" anchor="ctr"/>
            <a:lstStyle/>
            <a:p>
              <a:pPr algn="ctr"/>
              <a:endParaRPr/>
            </a:p>
          </p:txBody>
        </p:sp>
        <p:sp>
          <p:nvSpPr>
            <p:cNvPr id="27" name="Oval 26"/>
            <p:cNvSpPr/>
            <p:nvPr/>
          </p:nvSpPr>
          <p:spPr>
            <a:xfrm>
              <a:off x="9020556" y="3415284"/>
              <a:ext cx="210312" cy="210312"/>
            </a:xfrm>
            <a:prstGeom prst="ellipse">
              <a:avLst/>
            </a:prstGeom>
            <a:solidFill>
              <a:srgbClr val="9AA0A6"/>
            </a:solidFill>
            <a:ln w="9525">
              <a:solidFill>
                <a:srgbClr val="101418"/>
              </a:solidFill>
            </a:ln>
          </p:spPr>
          <p:txBody>
            <a:bodyPr rtlCol="0" anchor="ctr"/>
            <a:lstStyle/>
            <a:p>
              <a:pPr algn="ctr"/>
              <a:endParaRPr/>
            </a:p>
          </p:txBody>
        </p:sp>
        <p:sp>
          <p:nvSpPr>
            <p:cNvPr id="28" name="Rectangle 27"/>
            <p:cNvSpPr/>
            <p:nvPr/>
          </p:nvSpPr>
          <p:spPr>
            <a:xfrm>
              <a:off x="9629546" y="2574036"/>
              <a:ext cx="126187" cy="946404"/>
            </a:xfrm>
            <a:prstGeom prst="rect">
              <a:avLst/>
            </a:prstGeom>
            <a:solidFill>
              <a:srgbClr val="B8BEC6"/>
            </a:solidFill>
            <a:ln w="9525">
              <a:solidFill>
                <a:srgbClr val="101418"/>
              </a:solidFill>
            </a:ln>
          </p:spPr>
          <p:txBody>
            <a:bodyPr rtlCol="0" anchor="ctr"/>
            <a:lstStyle/>
            <a:p>
              <a:pPr algn="ctr"/>
              <a:endParaRPr/>
            </a:p>
          </p:txBody>
        </p:sp>
        <p:sp>
          <p:nvSpPr>
            <p:cNvPr id="29" name="Oval 28"/>
            <p:cNvSpPr/>
            <p:nvPr/>
          </p:nvSpPr>
          <p:spPr>
            <a:xfrm>
              <a:off x="9587484" y="3415284"/>
              <a:ext cx="210312" cy="210312"/>
            </a:xfrm>
            <a:prstGeom prst="ellipse">
              <a:avLst/>
            </a:prstGeom>
            <a:solidFill>
              <a:srgbClr val="9AA0A6"/>
            </a:solidFill>
            <a:ln w="9525">
              <a:solidFill>
                <a:srgbClr val="101418"/>
              </a:solidFill>
            </a:ln>
          </p:spPr>
          <p:txBody>
            <a:bodyPr rtlCol="0" anchor="ctr"/>
            <a:lstStyle/>
            <a:p>
              <a:pPr algn="ctr"/>
              <a:endParaRPr/>
            </a:p>
          </p:txBody>
        </p:sp>
        <p:sp>
          <p:nvSpPr>
            <p:cNvPr id="30" name="Rectangle 29"/>
            <p:cNvSpPr/>
            <p:nvPr/>
          </p:nvSpPr>
          <p:spPr>
            <a:xfrm>
              <a:off x="10196474" y="2574036"/>
              <a:ext cx="126187" cy="946404"/>
            </a:xfrm>
            <a:prstGeom prst="rect">
              <a:avLst/>
            </a:prstGeom>
            <a:solidFill>
              <a:srgbClr val="B8BEC6"/>
            </a:solidFill>
            <a:ln w="9525">
              <a:solidFill>
                <a:srgbClr val="101418"/>
              </a:solidFill>
            </a:ln>
          </p:spPr>
          <p:txBody>
            <a:bodyPr rtlCol="0" anchor="ctr"/>
            <a:lstStyle/>
            <a:p>
              <a:pPr algn="ctr"/>
              <a:endParaRPr/>
            </a:p>
          </p:txBody>
        </p:sp>
        <p:sp>
          <p:nvSpPr>
            <p:cNvPr id="31" name="Oval 30"/>
            <p:cNvSpPr/>
            <p:nvPr/>
          </p:nvSpPr>
          <p:spPr>
            <a:xfrm>
              <a:off x="10154412" y="3415284"/>
              <a:ext cx="210312" cy="210312"/>
            </a:xfrm>
            <a:prstGeom prst="ellipse">
              <a:avLst/>
            </a:prstGeom>
            <a:solidFill>
              <a:srgbClr val="9AA0A6"/>
            </a:solidFill>
            <a:ln w="9525">
              <a:solidFill>
                <a:srgbClr val="101418"/>
              </a:solidFill>
            </a:ln>
          </p:spPr>
          <p:txBody>
            <a:bodyPr rtlCol="0" anchor="ctr"/>
            <a:lstStyle/>
            <a:p>
              <a:pPr algn="ctr"/>
              <a:endParaRPr/>
            </a:p>
          </p:txBody>
        </p:sp>
        <p:sp>
          <p:nvSpPr>
            <p:cNvPr id="32" name="Rectangle 31"/>
            <p:cNvSpPr/>
            <p:nvPr/>
          </p:nvSpPr>
          <p:spPr>
            <a:xfrm>
              <a:off x="10763402" y="2574036"/>
              <a:ext cx="126187" cy="946404"/>
            </a:xfrm>
            <a:prstGeom prst="rect">
              <a:avLst/>
            </a:prstGeom>
            <a:solidFill>
              <a:srgbClr val="4DA3FF"/>
            </a:solidFill>
            <a:ln w="9525">
              <a:solidFill>
                <a:srgbClr val="101418"/>
              </a:solidFill>
            </a:ln>
          </p:spPr>
          <p:txBody>
            <a:bodyPr rtlCol="0" anchor="ctr"/>
            <a:lstStyle/>
            <a:p>
              <a:pPr algn="ctr"/>
              <a:endParaRPr/>
            </a:p>
          </p:txBody>
        </p:sp>
        <p:sp>
          <p:nvSpPr>
            <p:cNvPr id="33" name="Oval 32"/>
            <p:cNvSpPr/>
            <p:nvPr/>
          </p:nvSpPr>
          <p:spPr>
            <a:xfrm>
              <a:off x="10721340" y="3415284"/>
              <a:ext cx="210312" cy="210312"/>
            </a:xfrm>
            <a:prstGeom prst="ellipse">
              <a:avLst/>
            </a:prstGeom>
            <a:solidFill>
              <a:srgbClr val="9AA0A6"/>
            </a:solidFill>
            <a:ln w="9525">
              <a:solidFill>
                <a:srgbClr val="101418"/>
              </a:solidFill>
            </a:ln>
          </p:spPr>
          <p:txBody>
            <a:bodyPr rtlCol="0" anchor="ctr"/>
            <a:lstStyle/>
            <a:p>
              <a:pPr algn="ctr"/>
              <a:endParaRPr/>
            </a:p>
          </p:txBody>
        </p:sp>
        <p:sp>
          <p:nvSpPr>
            <p:cNvPr id="34" name="Freeform 33"/>
            <p:cNvSpPr/>
            <p:nvPr/>
          </p:nvSpPr>
          <p:spPr>
            <a:xfrm>
              <a:off x="4480560" y="3630168"/>
              <a:ext cx="2377440" cy="256032"/>
            </a:xfrm>
            <a:custGeom>
              <a:avLst/>
              <a:gdLst/>
              <a:ahLst/>
              <a:cxnLst/>
              <a:rect l="l" t="t" r="r" b="b"/>
              <a:pathLst>
                <a:path w="2377440" h="256032">
                  <a:moveTo>
                    <a:pt x="2377440" y="0"/>
                  </a:moveTo>
                  <a:lnTo>
                    <a:pt x="2377440" y="256032"/>
                  </a:lnTo>
                  <a:lnTo>
                    <a:pt x="0" y="256032"/>
                  </a:lnTo>
                </a:path>
              </a:pathLst>
            </a:custGeom>
            <a:noFill/>
            <a:ln w="19050">
              <a:solidFill>
                <a:srgbClr val="F28C28"/>
              </a:solidFill>
            </a:ln>
          </p:spPr>
          <p:txBody>
            <a:bodyPr rtlCol="0" anchor="ctr"/>
            <a:lstStyle/>
            <a:p>
              <a:pPr algn="ctr"/>
              <a:endParaRPr/>
            </a:p>
          </p:txBody>
        </p:sp>
        <p:sp>
          <p:nvSpPr>
            <p:cNvPr id="35" name="Freeform 34"/>
            <p:cNvSpPr/>
            <p:nvPr/>
          </p:nvSpPr>
          <p:spPr>
            <a:xfrm>
              <a:off x="4480560" y="3630168"/>
              <a:ext cx="2944368" cy="438912"/>
            </a:xfrm>
            <a:custGeom>
              <a:avLst/>
              <a:gdLst/>
              <a:ahLst/>
              <a:cxnLst/>
              <a:rect l="l" t="t" r="r" b="b"/>
              <a:pathLst>
                <a:path w="2944368" h="438912">
                  <a:moveTo>
                    <a:pt x="2944368" y="0"/>
                  </a:moveTo>
                  <a:lnTo>
                    <a:pt x="2944368" y="438912"/>
                  </a:lnTo>
                  <a:lnTo>
                    <a:pt x="0" y="438912"/>
                  </a:lnTo>
                </a:path>
              </a:pathLst>
            </a:custGeom>
            <a:noFill/>
            <a:ln w="19050">
              <a:solidFill>
                <a:srgbClr val="F28C28"/>
              </a:solidFill>
            </a:ln>
          </p:spPr>
          <p:txBody>
            <a:bodyPr rtlCol="0" anchor="ctr"/>
            <a:lstStyle/>
            <a:p>
              <a:pPr algn="ctr"/>
              <a:endParaRPr/>
            </a:p>
          </p:txBody>
        </p:sp>
        <p:sp>
          <p:nvSpPr>
            <p:cNvPr id="36" name="Freeform 35"/>
            <p:cNvSpPr/>
            <p:nvPr/>
          </p:nvSpPr>
          <p:spPr>
            <a:xfrm>
              <a:off x="4480560" y="3630168"/>
              <a:ext cx="3511296" cy="621792"/>
            </a:xfrm>
            <a:custGeom>
              <a:avLst/>
              <a:gdLst/>
              <a:ahLst/>
              <a:cxnLst/>
              <a:rect l="l" t="t" r="r" b="b"/>
              <a:pathLst>
                <a:path w="3511296" h="621792">
                  <a:moveTo>
                    <a:pt x="3511296" y="0"/>
                  </a:moveTo>
                  <a:lnTo>
                    <a:pt x="3511296" y="621792"/>
                  </a:lnTo>
                  <a:lnTo>
                    <a:pt x="0" y="621792"/>
                  </a:lnTo>
                </a:path>
              </a:pathLst>
            </a:custGeom>
            <a:noFill/>
            <a:ln w="19050">
              <a:solidFill>
                <a:srgbClr val="F28C28"/>
              </a:solidFill>
            </a:ln>
          </p:spPr>
          <p:txBody>
            <a:bodyPr rtlCol="0" anchor="ctr"/>
            <a:lstStyle/>
            <a:p>
              <a:pPr algn="ctr"/>
              <a:endParaRPr/>
            </a:p>
          </p:txBody>
        </p:sp>
        <p:sp>
          <p:nvSpPr>
            <p:cNvPr id="37" name="Freeform 36"/>
            <p:cNvSpPr/>
            <p:nvPr/>
          </p:nvSpPr>
          <p:spPr>
            <a:xfrm>
              <a:off x="4480560" y="3630168"/>
              <a:ext cx="4078224" cy="804672"/>
            </a:xfrm>
            <a:custGeom>
              <a:avLst/>
              <a:gdLst/>
              <a:ahLst/>
              <a:cxnLst/>
              <a:rect l="l" t="t" r="r" b="b"/>
              <a:pathLst>
                <a:path w="4078224" h="804672">
                  <a:moveTo>
                    <a:pt x="4078224" y="0"/>
                  </a:moveTo>
                  <a:lnTo>
                    <a:pt x="4078224" y="804672"/>
                  </a:lnTo>
                  <a:lnTo>
                    <a:pt x="0" y="804672"/>
                  </a:lnTo>
                </a:path>
              </a:pathLst>
            </a:custGeom>
            <a:noFill/>
            <a:ln w="19050">
              <a:solidFill>
                <a:srgbClr val="F28C28"/>
              </a:solidFill>
            </a:ln>
          </p:spPr>
          <p:txBody>
            <a:bodyPr rtlCol="0" anchor="ctr"/>
            <a:lstStyle/>
            <a:p>
              <a:pPr algn="ctr"/>
              <a:endParaRPr/>
            </a:p>
          </p:txBody>
        </p:sp>
        <p:sp>
          <p:nvSpPr>
            <p:cNvPr id="38" name="Freeform 37"/>
            <p:cNvSpPr/>
            <p:nvPr/>
          </p:nvSpPr>
          <p:spPr>
            <a:xfrm>
              <a:off x="4480560" y="3630168"/>
              <a:ext cx="4645152" cy="987552"/>
            </a:xfrm>
            <a:custGeom>
              <a:avLst/>
              <a:gdLst/>
              <a:ahLst/>
              <a:cxnLst/>
              <a:rect l="l" t="t" r="r" b="b"/>
              <a:pathLst>
                <a:path w="4645152" h="987552">
                  <a:moveTo>
                    <a:pt x="4645152" y="0"/>
                  </a:moveTo>
                  <a:lnTo>
                    <a:pt x="4645152" y="987552"/>
                  </a:lnTo>
                  <a:lnTo>
                    <a:pt x="0" y="987552"/>
                  </a:lnTo>
                </a:path>
              </a:pathLst>
            </a:custGeom>
            <a:noFill/>
            <a:ln w="19050">
              <a:solidFill>
                <a:srgbClr val="F28C28"/>
              </a:solidFill>
            </a:ln>
          </p:spPr>
          <p:txBody>
            <a:bodyPr rtlCol="0" anchor="ctr"/>
            <a:lstStyle/>
            <a:p>
              <a:pPr algn="ctr"/>
              <a:endParaRPr/>
            </a:p>
          </p:txBody>
        </p:sp>
        <p:sp>
          <p:nvSpPr>
            <p:cNvPr id="39" name="Freeform 38"/>
            <p:cNvSpPr/>
            <p:nvPr/>
          </p:nvSpPr>
          <p:spPr>
            <a:xfrm>
              <a:off x="4480560" y="3630168"/>
              <a:ext cx="5212080" cy="1170432"/>
            </a:xfrm>
            <a:custGeom>
              <a:avLst/>
              <a:gdLst/>
              <a:ahLst/>
              <a:cxnLst/>
              <a:rect l="l" t="t" r="r" b="b"/>
              <a:pathLst>
                <a:path w="5212080" h="1170432">
                  <a:moveTo>
                    <a:pt x="5212080" y="0"/>
                  </a:moveTo>
                  <a:lnTo>
                    <a:pt x="5212080" y="1170432"/>
                  </a:lnTo>
                  <a:lnTo>
                    <a:pt x="0" y="1170432"/>
                  </a:lnTo>
                </a:path>
              </a:pathLst>
            </a:custGeom>
            <a:noFill/>
            <a:ln w="19050">
              <a:solidFill>
                <a:srgbClr val="F28C28"/>
              </a:solidFill>
            </a:ln>
          </p:spPr>
          <p:txBody>
            <a:bodyPr rtlCol="0" anchor="ctr"/>
            <a:lstStyle/>
            <a:p>
              <a:pPr algn="ctr"/>
              <a:endParaRPr/>
            </a:p>
          </p:txBody>
        </p:sp>
        <p:sp>
          <p:nvSpPr>
            <p:cNvPr id="40" name="Freeform 39"/>
            <p:cNvSpPr/>
            <p:nvPr/>
          </p:nvSpPr>
          <p:spPr>
            <a:xfrm>
              <a:off x="4480560" y="3630168"/>
              <a:ext cx="5779008" cy="1353312"/>
            </a:xfrm>
            <a:custGeom>
              <a:avLst/>
              <a:gdLst/>
              <a:ahLst/>
              <a:cxnLst/>
              <a:rect l="l" t="t" r="r" b="b"/>
              <a:pathLst>
                <a:path w="5779008" h="1353312">
                  <a:moveTo>
                    <a:pt x="5779008" y="0"/>
                  </a:moveTo>
                  <a:lnTo>
                    <a:pt x="5779008" y="1353312"/>
                  </a:lnTo>
                  <a:lnTo>
                    <a:pt x="0" y="1353312"/>
                  </a:lnTo>
                </a:path>
              </a:pathLst>
            </a:custGeom>
            <a:noFill/>
            <a:ln w="19050">
              <a:solidFill>
                <a:srgbClr val="F28C28"/>
              </a:solidFill>
            </a:ln>
          </p:spPr>
          <p:txBody>
            <a:bodyPr rtlCol="0" anchor="ctr"/>
            <a:lstStyle/>
            <a:p>
              <a:pPr algn="ctr"/>
              <a:endParaRPr/>
            </a:p>
          </p:txBody>
        </p:sp>
        <p:sp>
          <p:nvSpPr>
            <p:cNvPr id="41" name="Freeform 40"/>
            <p:cNvSpPr/>
            <p:nvPr/>
          </p:nvSpPr>
          <p:spPr>
            <a:xfrm>
              <a:off x="4480560" y="3630168"/>
              <a:ext cx="6345936" cy="1536192"/>
            </a:xfrm>
            <a:custGeom>
              <a:avLst/>
              <a:gdLst/>
              <a:ahLst/>
              <a:cxnLst/>
              <a:rect l="l" t="t" r="r" b="b"/>
              <a:pathLst>
                <a:path w="6345936" h="1536192">
                  <a:moveTo>
                    <a:pt x="6345936" y="0"/>
                  </a:moveTo>
                  <a:lnTo>
                    <a:pt x="6345936" y="1536192"/>
                  </a:lnTo>
                  <a:lnTo>
                    <a:pt x="0" y="1536192"/>
                  </a:lnTo>
                </a:path>
              </a:pathLst>
            </a:custGeom>
            <a:noFill/>
            <a:ln w="19050">
              <a:solidFill>
                <a:srgbClr val="F28C28"/>
              </a:solidFill>
            </a:ln>
          </p:spPr>
          <p:txBody>
            <a:bodyPr rtlCol="0" anchor="ctr"/>
            <a:lstStyle/>
            <a:p>
              <a:pPr algn="ctr"/>
              <a:endParaRPr/>
            </a:p>
          </p:txBody>
        </p:sp>
        <p:sp>
          <p:nvSpPr>
            <p:cNvPr id="42" name="TextBox 41"/>
            <p:cNvSpPr txBox="1"/>
            <p:nvPr/>
          </p:nvSpPr>
          <p:spPr>
            <a:xfrm>
              <a:off x="4892040" y="5230368"/>
              <a:ext cx="1737360" cy="301752"/>
            </a:xfrm>
            <a:prstGeom prst="rect">
              <a:avLst/>
            </a:prstGeom>
            <a:noFill/>
          </p:spPr>
          <p:txBody>
            <a:bodyPr wrap="square" lIns="18288" tIns="18288" rIns="18288" bIns="18288" anchor="ctr">
              <a:noAutofit/>
            </a:bodyPr>
            <a:lstStyle/>
            <a:p>
              <a:pPr algn="l"/>
              <a:r>
                <a:rPr lang="en-GB" sz="1400" b="1" i="0">
                  <a:solidFill>
                    <a:srgbClr val="A9B0B8"/>
                  </a:solidFill>
                  <a:latin typeface="Arial"/>
                </a:rPr>
                <a:t>Lower floor</a:t>
              </a:r>
            </a:p>
          </p:txBody>
        </p:sp>
        <p:sp>
          <p:nvSpPr>
            <p:cNvPr id="43" name="Rounded Rectangle 42"/>
            <p:cNvSpPr/>
            <p:nvPr/>
          </p:nvSpPr>
          <p:spPr>
            <a:xfrm>
              <a:off x="548640" y="1325880"/>
              <a:ext cx="3931920" cy="2304288"/>
            </a:xfrm>
            <a:prstGeom prst="roundRect">
              <a:avLst>
                <a:gd name="adj" fmla="val 3174"/>
              </a:avLst>
            </a:prstGeom>
            <a:solidFill>
              <a:srgbClr val="2B2F36"/>
            </a:solidFill>
            <a:ln w="12700">
              <a:solidFill>
                <a:srgbClr val="4A515B"/>
              </a:solidFill>
            </a:ln>
          </p:spPr>
          <p:txBody>
            <a:bodyPr rtlCol="0" anchor="ctr"/>
            <a:lstStyle/>
            <a:p>
              <a:pPr algn="ctr"/>
              <a:endParaRPr/>
            </a:p>
          </p:txBody>
        </p:sp>
        <p:sp>
          <p:nvSpPr>
            <p:cNvPr id="44" name="Rectangle 43"/>
            <p:cNvSpPr/>
            <p:nvPr/>
          </p:nvSpPr>
          <p:spPr>
            <a:xfrm>
              <a:off x="777240" y="1453896"/>
              <a:ext cx="146304" cy="310896"/>
            </a:xfrm>
            <a:prstGeom prst="rect">
              <a:avLst/>
            </a:prstGeom>
            <a:solidFill>
              <a:srgbClr val="E5484D"/>
            </a:solidFill>
            <a:ln w="9525">
              <a:solidFill>
                <a:srgbClr val="101418"/>
              </a:solidFill>
            </a:ln>
          </p:spPr>
          <p:txBody>
            <a:bodyPr rtlCol="0" anchor="ctr"/>
            <a:lstStyle/>
            <a:p>
              <a:pPr algn="ctr"/>
              <a:endParaRPr/>
            </a:p>
          </p:txBody>
        </p:sp>
        <p:sp>
          <p:nvSpPr>
            <p:cNvPr id="45" name="TextBox 44"/>
            <p:cNvSpPr txBox="1"/>
            <p:nvPr/>
          </p:nvSpPr>
          <p:spPr>
            <a:xfrm>
              <a:off x="1097280" y="1417320"/>
              <a:ext cx="3200400" cy="384048"/>
            </a:xfrm>
            <a:prstGeom prst="rect">
              <a:avLst/>
            </a:prstGeom>
            <a:noFill/>
          </p:spPr>
          <p:txBody>
            <a:bodyPr wrap="square" lIns="18288" tIns="18288" rIns="18288" bIns="18288" anchor="ctr">
              <a:noAutofit/>
            </a:bodyPr>
            <a:lstStyle/>
            <a:p>
              <a:pPr algn="l"/>
              <a:r>
                <a:rPr lang="en-GB" sz="1800" b="1" i="0">
                  <a:solidFill>
                    <a:srgbClr val="F2F2F2"/>
                  </a:solidFill>
                  <a:latin typeface="Arial"/>
                </a:rPr>
                <a:t>Stop signals</a:t>
              </a:r>
            </a:p>
          </p:txBody>
        </p:sp>
        <p:sp>
          <p:nvSpPr>
            <p:cNvPr id="46" name="Rectangle 45"/>
            <p:cNvSpPr/>
            <p:nvPr/>
          </p:nvSpPr>
          <p:spPr>
            <a:xfrm>
              <a:off x="777240" y="1874520"/>
              <a:ext cx="146304" cy="310896"/>
            </a:xfrm>
            <a:prstGeom prst="rect">
              <a:avLst/>
            </a:prstGeom>
            <a:solidFill>
              <a:srgbClr val="F2C14E"/>
            </a:solidFill>
            <a:ln w="9525">
              <a:solidFill>
                <a:srgbClr val="101418"/>
              </a:solidFill>
            </a:ln>
          </p:spPr>
          <p:txBody>
            <a:bodyPr rtlCol="0" anchor="ctr"/>
            <a:lstStyle/>
            <a:p>
              <a:pPr algn="ctr"/>
              <a:endParaRPr/>
            </a:p>
          </p:txBody>
        </p:sp>
        <p:sp>
          <p:nvSpPr>
            <p:cNvPr id="47" name="TextBox 46"/>
            <p:cNvSpPr txBox="1"/>
            <p:nvPr/>
          </p:nvSpPr>
          <p:spPr>
            <a:xfrm>
              <a:off x="1097280" y="1837944"/>
              <a:ext cx="3200400" cy="384048"/>
            </a:xfrm>
            <a:prstGeom prst="rect">
              <a:avLst/>
            </a:prstGeom>
            <a:noFill/>
          </p:spPr>
          <p:txBody>
            <a:bodyPr wrap="square" lIns="18288" tIns="18288" rIns="18288" bIns="18288" anchor="ctr">
              <a:noAutofit/>
            </a:bodyPr>
            <a:lstStyle/>
            <a:p>
              <a:pPr algn="l"/>
              <a:r>
                <a:rPr lang="en-GB" sz="1800" b="1" i="0">
                  <a:solidFill>
                    <a:srgbClr val="F2F2F2"/>
                  </a:solidFill>
                  <a:latin typeface="Arial"/>
                </a:rPr>
                <a:t>Distant signals</a:t>
              </a:r>
            </a:p>
          </p:txBody>
        </p:sp>
        <p:sp>
          <p:nvSpPr>
            <p:cNvPr id="48" name="Rectangle 47"/>
            <p:cNvSpPr/>
            <p:nvPr/>
          </p:nvSpPr>
          <p:spPr>
            <a:xfrm>
              <a:off x="777240" y="2295144"/>
              <a:ext cx="146304" cy="310896"/>
            </a:xfrm>
            <a:prstGeom prst="rect">
              <a:avLst/>
            </a:prstGeom>
            <a:solidFill>
              <a:srgbClr val="B8BEC6"/>
            </a:solidFill>
            <a:ln w="9525">
              <a:solidFill>
                <a:srgbClr val="101418"/>
              </a:solidFill>
            </a:ln>
          </p:spPr>
          <p:txBody>
            <a:bodyPr rtlCol="0" anchor="ctr"/>
            <a:lstStyle/>
            <a:p>
              <a:pPr algn="ctr"/>
              <a:endParaRPr/>
            </a:p>
          </p:txBody>
        </p:sp>
        <p:sp>
          <p:nvSpPr>
            <p:cNvPr id="49" name="TextBox 48"/>
            <p:cNvSpPr txBox="1"/>
            <p:nvPr/>
          </p:nvSpPr>
          <p:spPr>
            <a:xfrm>
              <a:off x="1097280" y="2258568"/>
              <a:ext cx="3200400" cy="384048"/>
            </a:xfrm>
            <a:prstGeom prst="rect">
              <a:avLst/>
            </a:prstGeom>
            <a:noFill/>
          </p:spPr>
          <p:txBody>
            <a:bodyPr wrap="square" lIns="18288" tIns="18288" rIns="18288" bIns="18288" anchor="ctr">
              <a:noAutofit/>
            </a:bodyPr>
            <a:lstStyle/>
            <a:p>
              <a:pPr algn="l"/>
              <a:r>
                <a:rPr lang="en-GB" sz="1800" b="1" i="0">
                  <a:solidFill>
                    <a:srgbClr val="F2F2F2"/>
                  </a:solidFill>
                  <a:latin typeface="Arial"/>
                </a:rPr>
                <a:t>Points</a:t>
              </a:r>
            </a:p>
          </p:txBody>
        </p:sp>
        <p:sp>
          <p:nvSpPr>
            <p:cNvPr id="50" name="Rectangle 49"/>
            <p:cNvSpPr/>
            <p:nvPr/>
          </p:nvSpPr>
          <p:spPr>
            <a:xfrm>
              <a:off x="777240" y="2715768"/>
              <a:ext cx="146304" cy="310896"/>
            </a:xfrm>
            <a:prstGeom prst="rect">
              <a:avLst/>
            </a:prstGeom>
            <a:solidFill>
              <a:srgbClr val="4DA3FF"/>
            </a:solidFill>
            <a:ln w="9525">
              <a:solidFill>
                <a:srgbClr val="101418"/>
              </a:solidFill>
            </a:ln>
          </p:spPr>
          <p:txBody>
            <a:bodyPr rtlCol="0" anchor="ctr"/>
            <a:lstStyle/>
            <a:p>
              <a:pPr algn="ctr"/>
              <a:endParaRPr/>
            </a:p>
          </p:txBody>
        </p:sp>
        <p:sp>
          <p:nvSpPr>
            <p:cNvPr id="51" name="TextBox 50"/>
            <p:cNvSpPr txBox="1"/>
            <p:nvPr/>
          </p:nvSpPr>
          <p:spPr>
            <a:xfrm>
              <a:off x="1097280" y="2679192"/>
              <a:ext cx="3200400" cy="384048"/>
            </a:xfrm>
            <a:prstGeom prst="rect">
              <a:avLst/>
            </a:prstGeom>
            <a:noFill/>
          </p:spPr>
          <p:txBody>
            <a:bodyPr wrap="square" lIns="18288" tIns="18288" rIns="18288" bIns="18288" anchor="ctr">
              <a:noAutofit/>
            </a:bodyPr>
            <a:lstStyle/>
            <a:p>
              <a:pPr algn="l"/>
              <a:r>
                <a:rPr lang="en-GB" sz="1800" b="1" i="0">
                  <a:solidFill>
                    <a:srgbClr val="F2F2F2"/>
                  </a:solidFill>
                  <a:latin typeface="Arial"/>
                </a:rPr>
                <a:t>Lock</a:t>
              </a:r>
            </a:p>
          </p:txBody>
        </p:sp>
        <p:sp>
          <p:nvSpPr>
            <p:cNvPr id="52" name="TextBox 51"/>
            <p:cNvSpPr txBox="1"/>
            <p:nvPr/>
          </p:nvSpPr>
          <p:spPr>
            <a:xfrm>
              <a:off x="777240" y="3218688"/>
              <a:ext cx="3566160" cy="320040"/>
            </a:xfrm>
            <a:prstGeom prst="rect">
              <a:avLst/>
            </a:prstGeom>
            <a:noFill/>
          </p:spPr>
          <p:txBody>
            <a:bodyPr wrap="square" lIns="18288" tIns="18288" rIns="18288" bIns="18288" anchor="ctr">
              <a:noAutofit/>
            </a:bodyPr>
            <a:lstStyle/>
            <a:p>
              <a:pPr algn="l"/>
              <a:r>
                <a:rPr lang="en-GB" sz="1400" b="1" i="0">
                  <a:solidFill>
                    <a:srgbClr val="A9B0B8"/>
                  </a:solidFill>
                  <a:latin typeface="Arial"/>
                </a:rPr>
                <a:t>Example colours; not fixed</a:t>
              </a:r>
            </a:p>
          </p:txBody>
        </p:sp>
      </p:grpSp>
      <p:pic>
        <p:nvPicPr>
          <p:cNvPr id="53" name="P15_lever_frame_didcot.jpg" descr="Lever frame and workings inside a signal box at Didcot Railway Centre."/>
          <p:cNvPicPr>
            <a:picLocks noChangeAspect="1"/>
          </p:cNvPicPr>
          <p:nvPr/>
        </p:nvPicPr>
        <p:blipFill>
          <a:blip r:embed="rId2"/>
          <a:srcRect t="3846" b="3846"/>
          <a:stretch>
            <a:fillRect/>
          </a:stretch>
        </p:blipFill>
        <p:spPr>
          <a:xfrm>
            <a:off x="1325880" y="3749040"/>
            <a:ext cx="2377440" cy="1645920"/>
          </a:xfrm>
          <a:prstGeom prst="roundRect">
            <a:avLst>
              <a:gd name="adj" fmla="val 4444"/>
            </a:avLst>
          </a:prstGeom>
        </p:spPr>
      </p:pic>
      <p:sp>
        <p:nvSpPr>
          <p:cNvPr id="54" name="Credit"/>
          <p:cNvSpPr txBox="1"/>
          <p:nvPr/>
        </p:nvSpPr>
        <p:spPr>
          <a:xfrm>
            <a:off x="1325880" y="5422392"/>
            <a:ext cx="2377440" cy="274320"/>
          </a:xfrm>
          <a:prstGeom prst="rect">
            <a:avLst/>
          </a:prstGeom>
          <a:noFill/>
        </p:spPr>
        <p:txBody>
          <a:bodyPr wrap="square" lIns="0" tIns="0" rIns="0" bIns="0" anchor="t">
            <a:noAutofit/>
          </a:bodyPr>
          <a:lstStyle/>
          <a:p>
            <a:pPr algn="l"/>
            <a:r>
              <a:rPr lang="en-GB" sz="1000" b="0" i="0">
                <a:solidFill>
                  <a:srgbClr val="A9B0B8"/>
                </a:solidFill>
                <a:latin typeface="Arial"/>
              </a:rPr>
              <a:t>Nigel Brown, CC BY-SA 2.0. Wikimedia Commons.</a:t>
            </a:r>
          </a:p>
        </p:txBody>
      </p:sp>
      <p:sp>
        <p:nvSpPr>
          <p:cNvPr id="55"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Each lever works one signal or one set of points.</a:t>
            </a:r>
          </a:p>
        </p:txBody>
      </p:sp>
      <p:sp>
        <p:nvSpPr>
          <p:cNvPr id="56"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57"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10</a:t>
            </a:r>
          </a:p>
        </p:txBody>
      </p:sp>
    </p:spTree>
    <p:extLst>
      <p:ext uri="{BB962C8B-B14F-4D97-AF65-F5344CB8AC3E}">
        <p14:creationId xmlns:p14="http://schemas.microsoft.com/office/powerpoint/2010/main" val="7395475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3"/>
                                        </p:tgtEl>
                                        <p:attrNameLst>
                                          <p:attrName>style.visibility</p:attrName>
                                        </p:attrNameLst>
                                      </p:cBhvr>
                                      <p:to>
                                        <p:strVal val="visible"/>
                                      </p:to>
                                    </p:set>
                                    <p:animEffect transition="in" filter="fade">
                                      <p:cBhvr>
                                        <p:cTn id="10" dur="500"/>
                                        <p:tgtEl>
                                          <p:spTgt spid="53"/>
                                        </p:tgtEl>
                                      </p:cBhvr>
                                    </p:animEffect>
                                  </p:childTnLst>
                                </p:cTn>
                              </p:par>
                              <p:par>
                                <p:cTn id="11" presetID="10" presetClass="entr" presetSubtype="0" fill="hold" nodeType="withEffect">
                                  <p:stCondLst>
                                    <p:cond delay="60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500"/>
                                        <p:tgtEl>
                                          <p:spTgt spid="55"/>
                                        </p:tgtEl>
                                      </p:cBhvr>
                                    </p:animEffect>
                                  </p:childTnLst>
                                </p:cTn>
                              </p:par>
                              <p:par>
                                <p:cTn id="14" presetID="10" presetClass="entr" presetSubtype="0" fill="hold" nodeType="withEffect">
                                  <p:stCondLst>
                                    <p:cond delay="900"/>
                                  </p:stCondLst>
                                  <p:childTnLst>
                                    <p:set>
                                      <p:cBhvr>
                                        <p:cTn id="15" dur="1" fill="hold">
                                          <p:stCondLst>
                                            <p:cond delay="0"/>
                                          </p:stCondLst>
                                        </p:cTn>
                                        <p:tgtEl>
                                          <p:spTgt spid="56"/>
                                        </p:tgtEl>
                                        <p:attrNameLst>
                                          <p:attrName>style.visibility</p:attrName>
                                        </p:attrNameLst>
                                      </p:cBhvr>
                                      <p:to>
                                        <p:strVal val="visible"/>
                                      </p:to>
                                    </p:set>
                                    <p:animEffect transition="in" filter="fade">
                                      <p:cBhvr>
                                        <p:cTn id="16"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Rods and wires</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pic>
        <p:nvPicPr>
          <p:cNvPr id="4" name="P16_williton_rods_wires.jpg" descr="Pulleys, rods and wires of mechanical signal linkage beside the track at Williton station."/>
          <p:cNvPicPr>
            <a:picLocks noChangeAspect="1"/>
          </p:cNvPicPr>
          <p:nvPr/>
        </p:nvPicPr>
        <p:blipFill>
          <a:blip r:embed="rId2"/>
          <a:srcRect l="496" r="496"/>
          <a:stretch>
            <a:fillRect/>
          </a:stretch>
        </p:blipFill>
        <p:spPr>
          <a:xfrm>
            <a:off x="548640" y="1371600"/>
            <a:ext cx="4754880" cy="3200400"/>
          </a:xfrm>
          <a:prstGeom prst="roundRect">
            <a:avLst>
              <a:gd name="adj" fmla="val 2285"/>
            </a:avLst>
          </a:prstGeom>
        </p:spPr>
      </p:pic>
      <p:sp>
        <p:nvSpPr>
          <p:cNvPr id="5" name="Credit"/>
          <p:cNvSpPr txBox="1"/>
          <p:nvPr/>
        </p:nvSpPr>
        <p:spPr>
          <a:xfrm>
            <a:off x="548640" y="4608576"/>
            <a:ext cx="4754880" cy="274320"/>
          </a:xfrm>
          <a:prstGeom prst="rect">
            <a:avLst/>
          </a:prstGeom>
          <a:noFill/>
        </p:spPr>
        <p:txBody>
          <a:bodyPr wrap="square" lIns="0" tIns="0" rIns="0" bIns="0" anchor="t">
            <a:noAutofit/>
          </a:bodyPr>
          <a:lstStyle/>
          <a:p>
            <a:pPr algn="l"/>
            <a:r>
              <a:rPr lang="en-GB" sz="1000" b="0" i="0">
                <a:solidFill>
                  <a:srgbClr val="A9B0B8"/>
                </a:solidFill>
                <a:latin typeface="Arial"/>
              </a:rPr>
              <a:t>mattbuck (category), CC BY-SA 3.0. Wikimedia Commons.</a:t>
            </a:r>
          </a:p>
        </p:txBody>
      </p:sp>
      <p:grpSp>
        <p:nvGrpSpPr>
          <p:cNvPr id="6" name="From lever to arm" descr="A chain from left to right: lever, rod, pulley, wire, arm. A second branch runs from the rod to the points."/>
          <p:cNvGrpSpPr/>
          <p:nvPr/>
        </p:nvGrpSpPr>
        <p:grpSpPr>
          <a:xfrm>
            <a:off x="5623560" y="2331720"/>
            <a:ext cx="6016752" cy="2194560"/>
            <a:chOff x="5623560" y="2331720"/>
            <a:chExt cx="6016752" cy="2194560"/>
          </a:xfrm>
        </p:grpSpPr>
        <p:sp>
          <p:nvSpPr>
            <p:cNvPr id="7" name="Step: Lever"/>
            <p:cNvSpPr/>
            <p:nvPr/>
          </p:nvSpPr>
          <p:spPr>
            <a:xfrm>
              <a:off x="5623560" y="2331720"/>
              <a:ext cx="1005840" cy="685800"/>
            </a:xfrm>
            <a:prstGeom prst="roundRect">
              <a:avLst>
                <a:gd name="adj" fmla="val 10666"/>
              </a:avLst>
            </a:prstGeom>
            <a:solidFill>
              <a:srgbClr val="2B2F36"/>
            </a:solidFill>
            <a:ln w="25400">
              <a:solidFill>
                <a:srgbClr val="F28C28"/>
              </a:solidFill>
            </a:ln>
          </p:spPr>
          <p:txBody>
            <a:bodyPr wrap="square" lIns="27432" tIns="18288" rIns="27432" bIns="18288" rtlCol="0" anchor="ctr">
              <a:noAutofit/>
            </a:bodyPr>
            <a:lstStyle/>
            <a:p>
              <a:pPr algn="ctr"/>
              <a:r>
                <a:rPr lang="en-GB" sz="1800" b="1" i="0">
                  <a:solidFill>
                    <a:srgbClr val="F2F2F2"/>
                  </a:solidFill>
                  <a:latin typeface="Arial"/>
                </a:rPr>
                <a:t>Lever</a:t>
              </a:r>
            </a:p>
          </p:txBody>
        </p:sp>
        <p:sp>
          <p:nvSpPr>
            <p:cNvPr id="8" name="Step: Rod"/>
            <p:cNvSpPr/>
            <p:nvPr/>
          </p:nvSpPr>
          <p:spPr>
            <a:xfrm>
              <a:off x="6876288" y="2331720"/>
              <a:ext cx="1005840" cy="685800"/>
            </a:xfrm>
            <a:prstGeom prst="roundRect">
              <a:avLst>
                <a:gd name="adj" fmla="val 10666"/>
              </a:avLst>
            </a:prstGeom>
            <a:solidFill>
              <a:srgbClr val="2B2F36"/>
            </a:solidFill>
            <a:ln w="25400">
              <a:solidFill>
                <a:srgbClr val="F28C28"/>
              </a:solidFill>
            </a:ln>
          </p:spPr>
          <p:txBody>
            <a:bodyPr wrap="square" lIns="27432" tIns="18288" rIns="27432" bIns="18288" rtlCol="0" anchor="ctr">
              <a:noAutofit/>
            </a:bodyPr>
            <a:lstStyle/>
            <a:p>
              <a:pPr algn="ctr"/>
              <a:r>
                <a:rPr lang="en-GB" sz="1800" b="1" i="0">
                  <a:solidFill>
                    <a:srgbClr val="F2F2F2"/>
                  </a:solidFill>
                  <a:latin typeface="Arial"/>
                </a:rPr>
                <a:t>Rod</a:t>
              </a:r>
            </a:p>
          </p:txBody>
        </p:sp>
        <p:sp>
          <p:nvSpPr>
            <p:cNvPr id="9" name="Step: Pulley"/>
            <p:cNvSpPr/>
            <p:nvPr/>
          </p:nvSpPr>
          <p:spPr>
            <a:xfrm>
              <a:off x="8129016" y="2331720"/>
              <a:ext cx="1005840" cy="685800"/>
            </a:xfrm>
            <a:prstGeom prst="roundRect">
              <a:avLst>
                <a:gd name="adj" fmla="val 10666"/>
              </a:avLst>
            </a:prstGeom>
            <a:solidFill>
              <a:srgbClr val="2B2F36"/>
            </a:solidFill>
            <a:ln w="25400">
              <a:solidFill>
                <a:srgbClr val="F28C28"/>
              </a:solidFill>
            </a:ln>
          </p:spPr>
          <p:txBody>
            <a:bodyPr wrap="square" lIns="27432" tIns="18288" rIns="27432" bIns="18288" rtlCol="0" anchor="ctr">
              <a:noAutofit/>
            </a:bodyPr>
            <a:lstStyle/>
            <a:p>
              <a:pPr algn="ctr"/>
              <a:r>
                <a:rPr lang="en-GB" sz="1800" b="1" i="0">
                  <a:solidFill>
                    <a:srgbClr val="F2F2F2"/>
                  </a:solidFill>
                  <a:latin typeface="Arial"/>
                </a:rPr>
                <a:t>Pulley</a:t>
              </a:r>
            </a:p>
          </p:txBody>
        </p:sp>
        <p:sp>
          <p:nvSpPr>
            <p:cNvPr id="10" name="Step: Wire"/>
            <p:cNvSpPr/>
            <p:nvPr/>
          </p:nvSpPr>
          <p:spPr>
            <a:xfrm>
              <a:off x="9381744" y="2331720"/>
              <a:ext cx="1005840" cy="685800"/>
            </a:xfrm>
            <a:prstGeom prst="roundRect">
              <a:avLst>
                <a:gd name="adj" fmla="val 10666"/>
              </a:avLst>
            </a:prstGeom>
            <a:solidFill>
              <a:srgbClr val="2B2F36"/>
            </a:solidFill>
            <a:ln w="25400">
              <a:solidFill>
                <a:srgbClr val="F28C28"/>
              </a:solidFill>
            </a:ln>
          </p:spPr>
          <p:txBody>
            <a:bodyPr wrap="square" lIns="27432" tIns="18288" rIns="27432" bIns="18288" rtlCol="0" anchor="ctr">
              <a:noAutofit/>
            </a:bodyPr>
            <a:lstStyle/>
            <a:p>
              <a:pPr algn="ctr"/>
              <a:r>
                <a:rPr lang="en-GB" sz="1800" b="1" i="0">
                  <a:solidFill>
                    <a:srgbClr val="F2F2F2"/>
                  </a:solidFill>
                  <a:latin typeface="Arial"/>
                </a:rPr>
                <a:t>Wire</a:t>
              </a:r>
            </a:p>
          </p:txBody>
        </p:sp>
        <p:sp>
          <p:nvSpPr>
            <p:cNvPr id="11" name="Step: Arm"/>
            <p:cNvSpPr/>
            <p:nvPr/>
          </p:nvSpPr>
          <p:spPr>
            <a:xfrm>
              <a:off x="10634472" y="2331720"/>
              <a:ext cx="1005840" cy="685800"/>
            </a:xfrm>
            <a:prstGeom prst="roundRect">
              <a:avLst>
                <a:gd name="adj" fmla="val 10666"/>
              </a:avLst>
            </a:prstGeom>
            <a:solidFill>
              <a:srgbClr val="2B2F36"/>
            </a:solidFill>
            <a:ln w="25400">
              <a:solidFill>
                <a:srgbClr val="F28C28"/>
              </a:solidFill>
            </a:ln>
          </p:spPr>
          <p:txBody>
            <a:bodyPr wrap="square" lIns="27432" tIns="18288" rIns="27432" bIns="18288" rtlCol="0" anchor="ctr">
              <a:noAutofit/>
            </a:bodyPr>
            <a:lstStyle/>
            <a:p>
              <a:pPr algn="ctr"/>
              <a:r>
                <a:rPr lang="en-GB" sz="1800" b="1" i="0">
                  <a:solidFill>
                    <a:srgbClr val="F2F2F2"/>
                  </a:solidFill>
                  <a:latin typeface="Arial"/>
                </a:rPr>
                <a:t>Arm</a:t>
              </a:r>
            </a:p>
          </p:txBody>
        </p:sp>
        <p:cxnSp>
          <p:nvCxnSpPr>
            <p:cNvPr id="12" name="Connector 11"/>
            <p:cNvCxnSpPr/>
            <p:nvPr/>
          </p:nvCxnSpPr>
          <p:spPr>
            <a:xfrm>
              <a:off x="6647688" y="2674620"/>
              <a:ext cx="210312" cy="0"/>
            </a:xfrm>
            <a:prstGeom prst="line">
              <a:avLst/>
            </a:prstGeom>
            <a:ln w="28575">
              <a:solidFill>
                <a:srgbClr val="F28C28"/>
              </a:solidFill>
              <a:tailEnd type="triangle" w="med" len="med"/>
            </a:ln>
          </p:spPr>
        </p:cxnSp>
        <p:cxnSp>
          <p:nvCxnSpPr>
            <p:cNvPr id="13" name="Connector 12"/>
            <p:cNvCxnSpPr/>
            <p:nvPr/>
          </p:nvCxnSpPr>
          <p:spPr>
            <a:xfrm>
              <a:off x="7900416" y="2674620"/>
              <a:ext cx="210312" cy="0"/>
            </a:xfrm>
            <a:prstGeom prst="line">
              <a:avLst/>
            </a:prstGeom>
            <a:ln w="28575">
              <a:solidFill>
                <a:srgbClr val="F28C28"/>
              </a:solidFill>
              <a:tailEnd type="triangle" w="med" len="med"/>
            </a:ln>
          </p:spPr>
        </p:cxnSp>
        <p:cxnSp>
          <p:nvCxnSpPr>
            <p:cNvPr id="14" name="Connector 13"/>
            <p:cNvCxnSpPr/>
            <p:nvPr/>
          </p:nvCxnSpPr>
          <p:spPr>
            <a:xfrm>
              <a:off x="9153144" y="2674620"/>
              <a:ext cx="210312" cy="0"/>
            </a:xfrm>
            <a:prstGeom prst="line">
              <a:avLst/>
            </a:prstGeom>
            <a:ln w="28575">
              <a:solidFill>
                <a:srgbClr val="F28C28"/>
              </a:solidFill>
              <a:tailEnd type="triangle" w="med" len="med"/>
            </a:ln>
          </p:spPr>
        </p:cxnSp>
        <p:cxnSp>
          <p:nvCxnSpPr>
            <p:cNvPr id="15" name="Connector 14"/>
            <p:cNvCxnSpPr/>
            <p:nvPr/>
          </p:nvCxnSpPr>
          <p:spPr>
            <a:xfrm>
              <a:off x="10405872" y="2674620"/>
              <a:ext cx="210312" cy="0"/>
            </a:xfrm>
            <a:prstGeom prst="line">
              <a:avLst/>
            </a:prstGeom>
            <a:ln w="28575">
              <a:solidFill>
                <a:srgbClr val="F28C28"/>
              </a:solidFill>
              <a:tailEnd type="triangle" w="med" len="med"/>
            </a:ln>
          </p:spPr>
        </p:cxnSp>
        <p:sp>
          <p:nvSpPr>
            <p:cNvPr id="16" name="Step: Points"/>
            <p:cNvSpPr/>
            <p:nvPr/>
          </p:nvSpPr>
          <p:spPr>
            <a:xfrm>
              <a:off x="6876288" y="3840480"/>
              <a:ext cx="1005840" cy="685800"/>
            </a:xfrm>
            <a:prstGeom prst="roundRect">
              <a:avLst>
                <a:gd name="adj" fmla="val 10666"/>
              </a:avLst>
            </a:prstGeom>
            <a:solidFill>
              <a:srgbClr val="2B2F36"/>
            </a:solidFill>
            <a:ln w="25400">
              <a:solidFill>
                <a:srgbClr val="F28C28"/>
              </a:solidFill>
            </a:ln>
          </p:spPr>
          <p:txBody>
            <a:bodyPr wrap="square" lIns="27432" tIns="18288" rIns="27432" bIns="18288" rtlCol="0" anchor="ctr">
              <a:noAutofit/>
            </a:bodyPr>
            <a:lstStyle/>
            <a:p>
              <a:pPr algn="ctr"/>
              <a:r>
                <a:rPr lang="en-GB" sz="1800" b="1" i="0">
                  <a:solidFill>
                    <a:srgbClr val="F2F2F2"/>
                  </a:solidFill>
                  <a:latin typeface="Arial"/>
                </a:rPr>
                <a:t>Points</a:t>
              </a:r>
            </a:p>
          </p:txBody>
        </p:sp>
        <p:cxnSp>
          <p:nvCxnSpPr>
            <p:cNvPr id="17" name="Connector 16"/>
            <p:cNvCxnSpPr/>
            <p:nvPr/>
          </p:nvCxnSpPr>
          <p:spPr>
            <a:xfrm>
              <a:off x="7379208" y="3035808"/>
              <a:ext cx="0" cy="786384"/>
            </a:xfrm>
            <a:prstGeom prst="line">
              <a:avLst/>
            </a:prstGeom>
            <a:ln w="28575">
              <a:solidFill>
                <a:srgbClr val="F28C28"/>
              </a:solidFill>
              <a:tailEnd type="triangle" w="med" len="med"/>
            </a:ln>
          </p:spPr>
        </p:cxnSp>
      </p:grpSp>
      <p:sp>
        <p:nvSpPr>
          <p:cNvPr id="18"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Rods and wires carry the movement out to the track.</a:t>
            </a:r>
          </a:p>
        </p:txBody>
      </p:sp>
      <p:sp>
        <p:nvSpPr>
          <p:cNvPr id="19"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20"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11</a:t>
            </a:r>
          </a:p>
        </p:txBody>
      </p:sp>
    </p:spTree>
    <p:extLst>
      <p:ext uri="{BB962C8B-B14F-4D97-AF65-F5344CB8AC3E}">
        <p14:creationId xmlns:p14="http://schemas.microsoft.com/office/powerpoint/2010/main" val="715012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9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Interlocking</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Locked levers" descr="Two tracks cross, each with a signal. Below, two levers are joined by a locking bar. Lever 1 is pulled so signal 1 is clear. Lever 2 is locked so signal 2 stays at stop."/>
          <p:cNvGrpSpPr/>
          <p:nvPr/>
        </p:nvGrpSpPr>
        <p:grpSpPr>
          <a:xfrm>
            <a:off x="2194560" y="1476228"/>
            <a:ext cx="7955280" cy="4266204"/>
            <a:chOff x="2194560" y="1476228"/>
            <a:chExt cx="7955280" cy="4266204"/>
          </a:xfrm>
        </p:grpSpPr>
        <p:cxnSp>
          <p:nvCxnSpPr>
            <p:cNvPr id="5" name="Connector 4"/>
            <p:cNvCxnSpPr/>
            <p:nvPr/>
          </p:nvCxnSpPr>
          <p:spPr>
            <a:xfrm>
              <a:off x="5256871" y="2359494"/>
              <a:ext cx="4206240" cy="1645920"/>
            </a:xfrm>
            <a:prstGeom prst="line">
              <a:avLst/>
            </a:prstGeom>
            <a:ln w="38100">
              <a:solidFill>
                <a:srgbClr val="9AA0A6"/>
              </a:solidFill>
            </a:ln>
          </p:spPr>
        </p:cxnSp>
        <p:cxnSp>
          <p:nvCxnSpPr>
            <p:cNvPr id="6" name="Connector 5"/>
            <p:cNvCxnSpPr/>
            <p:nvPr/>
          </p:nvCxnSpPr>
          <p:spPr>
            <a:xfrm>
              <a:off x="5350169" y="2121066"/>
              <a:ext cx="4206240" cy="1645920"/>
            </a:xfrm>
            <a:prstGeom prst="line">
              <a:avLst/>
            </a:prstGeom>
            <a:ln w="38100">
              <a:solidFill>
                <a:srgbClr val="9AA0A6"/>
              </a:solidFill>
            </a:ln>
          </p:spPr>
        </p:cxnSp>
        <p:cxnSp>
          <p:nvCxnSpPr>
            <p:cNvPr id="7" name="Connector 6"/>
            <p:cNvCxnSpPr/>
            <p:nvPr/>
          </p:nvCxnSpPr>
          <p:spPr>
            <a:xfrm flipV="1">
              <a:off x="5233547" y="2061459"/>
              <a:ext cx="139946" cy="357642"/>
            </a:xfrm>
            <a:prstGeom prst="line">
              <a:avLst/>
            </a:prstGeom>
            <a:ln w="25400">
              <a:solidFill>
                <a:srgbClr val="6B5B4B"/>
              </a:solidFill>
            </a:ln>
          </p:spPr>
        </p:cxnSp>
        <p:cxnSp>
          <p:nvCxnSpPr>
            <p:cNvPr id="8" name="Connector 7"/>
            <p:cNvCxnSpPr/>
            <p:nvPr/>
          </p:nvCxnSpPr>
          <p:spPr>
            <a:xfrm flipV="1">
              <a:off x="5496437" y="2164329"/>
              <a:ext cx="139946" cy="357642"/>
            </a:xfrm>
            <a:prstGeom prst="line">
              <a:avLst/>
            </a:prstGeom>
            <a:ln w="25400">
              <a:solidFill>
                <a:srgbClr val="6B5B4B"/>
              </a:solidFill>
            </a:ln>
          </p:spPr>
        </p:cxnSp>
        <p:cxnSp>
          <p:nvCxnSpPr>
            <p:cNvPr id="9" name="Connector 8"/>
            <p:cNvCxnSpPr/>
            <p:nvPr/>
          </p:nvCxnSpPr>
          <p:spPr>
            <a:xfrm flipV="1">
              <a:off x="5759327" y="2267199"/>
              <a:ext cx="139946" cy="357642"/>
            </a:xfrm>
            <a:prstGeom prst="line">
              <a:avLst/>
            </a:prstGeom>
            <a:ln w="25400">
              <a:solidFill>
                <a:srgbClr val="6B5B4B"/>
              </a:solidFill>
            </a:ln>
          </p:spPr>
        </p:cxnSp>
        <p:cxnSp>
          <p:nvCxnSpPr>
            <p:cNvPr id="10" name="Connector 9"/>
            <p:cNvCxnSpPr/>
            <p:nvPr/>
          </p:nvCxnSpPr>
          <p:spPr>
            <a:xfrm flipV="1">
              <a:off x="6022217" y="2370069"/>
              <a:ext cx="139946" cy="357642"/>
            </a:xfrm>
            <a:prstGeom prst="line">
              <a:avLst/>
            </a:prstGeom>
            <a:ln w="25400">
              <a:solidFill>
                <a:srgbClr val="6B5B4B"/>
              </a:solidFill>
            </a:ln>
          </p:spPr>
        </p:cxnSp>
        <p:cxnSp>
          <p:nvCxnSpPr>
            <p:cNvPr id="11" name="Connector 10"/>
            <p:cNvCxnSpPr/>
            <p:nvPr/>
          </p:nvCxnSpPr>
          <p:spPr>
            <a:xfrm flipV="1">
              <a:off x="6285107" y="2472939"/>
              <a:ext cx="139946" cy="357642"/>
            </a:xfrm>
            <a:prstGeom prst="line">
              <a:avLst/>
            </a:prstGeom>
            <a:ln w="25400">
              <a:solidFill>
                <a:srgbClr val="6B5B4B"/>
              </a:solidFill>
            </a:ln>
          </p:spPr>
        </p:cxnSp>
        <p:cxnSp>
          <p:nvCxnSpPr>
            <p:cNvPr id="12" name="Connector 11"/>
            <p:cNvCxnSpPr/>
            <p:nvPr/>
          </p:nvCxnSpPr>
          <p:spPr>
            <a:xfrm flipV="1">
              <a:off x="6547997" y="2575809"/>
              <a:ext cx="139946" cy="357642"/>
            </a:xfrm>
            <a:prstGeom prst="line">
              <a:avLst/>
            </a:prstGeom>
            <a:ln w="25400">
              <a:solidFill>
                <a:srgbClr val="6B5B4B"/>
              </a:solidFill>
            </a:ln>
          </p:spPr>
        </p:cxnSp>
        <p:cxnSp>
          <p:nvCxnSpPr>
            <p:cNvPr id="13" name="Connector 12"/>
            <p:cNvCxnSpPr/>
            <p:nvPr/>
          </p:nvCxnSpPr>
          <p:spPr>
            <a:xfrm flipV="1">
              <a:off x="6810887" y="2678679"/>
              <a:ext cx="139946" cy="357642"/>
            </a:xfrm>
            <a:prstGeom prst="line">
              <a:avLst/>
            </a:prstGeom>
            <a:ln w="25400">
              <a:solidFill>
                <a:srgbClr val="6B5B4B"/>
              </a:solidFill>
            </a:ln>
          </p:spPr>
        </p:cxnSp>
        <p:cxnSp>
          <p:nvCxnSpPr>
            <p:cNvPr id="14" name="Connector 13"/>
            <p:cNvCxnSpPr/>
            <p:nvPr/>
          </p:nvCxnSpPr>
          <p:spPr>
            <a:xfrm flipV="1">
              <a:off x="7073777" y="2781549"/>
              <a:ext cx="139946" cy="357642"/>
            </a:xfrm>
            <a:prstGeom prst="line">
              <a:avLst/>
            </a:prstGeom>
            <a:ln w="25400">
              <a:solidFill>
                <a:srgbClr val="6B5B4B"/>
              </a:solidFill>
            </a:ln>
          </p:spPr>
        </p:cxnSp>
        <p:cxnSp>
          <p:nvCxnSpPr>
            <p:cNvPr id="15" name="Connector 14"/>
            <p:cNvCxnSpPr/>
            <p:nvPr/>
          </p:nvCxnSpPr>
          <p:spPr>
            <a:xfrm flipV="1">
              <a:off x="7336667" y="2884419"/>
              <a:ext cx="139946" cy="357642"/>
            </a:xfrm>
            <a:prstGeom prst="line">
              <a:avLst/>
            </a:prstGeom>
            <a:ln w="25400">
              <a:solidFill>
                <a:srgbClr val="6B5B4B"/>
              </a:solidFill>
            </a:ln>
          </p:spPr>
        </p:cxnSp>
        <p:cxnSp>
          <p:nvCxnSpPr>
            <p:cNvPr id="16" name="Connector 15"/>
            <p:cNvCxnSpPr/>
            <p:nvPr/>
          </p:nvCxnSpPr>
          <p:spPr>
            <a:xfrm flipV="1">
              <a:off x="7599557" y="2987289"/>
              <a:ext cx="139946" cy="357642"/>
            </a:xfrm>
            <a:prstGeom prst="line">
              <a:avLst/>
            </a:prstGeom>
            <a:ln w="25400">
              <a:solidFill>
                <a:srgbClr val="6B5B4B"/>
              </a:solidFill>
            </a:ln>
          </p:spPr>
        </p:cxnSp>
        <p:cxnSp>
          <p:nvCxnSpPr>
            <p:cNvPr id="17" name="Connector 16"/>
            <p:cNvCxnSpPr/>
            <p:nvPr/>
          </p:nvCxnSpPr>
          <p:spPr>
            <a:xfrm flipV="1">
              <a:off x="7862447" y="3090159"/>
              <a:ext cx="139946" cy="357642"/>
            </a:xfrm>
            <a:prstGeom prst="line">
              <a:avLst/>
            </a:prstGeom>
            <a:ln w="25400">
              <a:solidFill>
                <a:srgbClr val="6B5B4B"/>
              </a:solidFill>
            </a:ln>
          </p:spPr>
        </p:cxnSp>
        <p:cxnSp>
          <p:nvCxnSpPr>
            <p:cNvPr id="18" name="Connector 17"/>
            <p:cNvCxnSpPr/>
            <p:nvPr/>
          </p:nvCxnSpPr>
          <p:spPr>
            <a:xfrm flipV="1">
              <a:off x="8125337" y="3193029"/>
              <a:ext cx="139946" cy="357642"/>
            </a:xfrm>
            <a:prstGeom prst="line">
              <a:avLst/>
            </a:prstGeom>
            <a:ln w="25400">
              <a:solidFill>
                <a:srgbClr val="6B5B4B"/>
              </a:solidFill>
            </a:ln>
          </p:spPr>
        </p:cxnSp>
        <p:cxnSp>
          <p:nvCxnSpPr>
            <p:cNvPr id="19" name="Connector 18"/>
            <p:cNvCxnSpPr/>
            <p:nvPr/>
          </p:nvCxnSpPr>
          <p:spPr>
            <a:xfrm flipV="1">
              <a:off x="8388227" y="3295899"/>
              <a:ext cx="139946" cy="357642"/>
            </a:xfrm>
            <a:prstGeom prst="line">
              <a:avLst/>
            </a:prstGeom>
            <a:ln w="25400">
              <a:solidFill>
                <a:srgbClr val="6B5B4B"/>
              </a:solidFill>
            </a:ln>
          </p:spPr>
        </p:cxnSp>
        <p:cxnSp>
          <p:nvCxnSpPr>
            <p:cNvPr id="20" name="Connector 19"/>
            <p:cNvCxnSpPr/>
            <p:nvPr/>
          </p:nvCxnSpPr>
          <p:spPr>
            <a:xfrm flipV="1">
              <a:off x="8651117" y="3398769"/>
              <a:ext cx="139946" cy="357642"/>
            </a:xfrm>
            <a:prstGeom prst="line">
              <a:avLst/>
            </a:prstGeom>
            <a:ln w="25400">
              <a:solidFill>
                <a:srgbClr val="6B5B4B"/>
              </a:solidFill>
            </a:ln>
          </p:spPr>
        </p:cxnSp>
        <p:cxnSp>
          <p:nvCxnSpPr>
            <p:cNvPr id="21" name="Connector 20"/>
            <p:cNvCxnSpPr/>
            <p:nvPr/>
          </p:nvCxnSpPr>
          <p:spPr>
            <a:xfrm flipV="1">
              <a:off x="8914007" y="3501639"/>
              <a:ext cx="139946" cy="357642"/>
            </a:xfrm>
            <a:prstGeom prst="line">
              <a:avLst/>
            </a:prstGeom>
            <a:ln w="25400">
              <a:solidFill>
                <a:srgbClr val="6B5B4B"/>
              </a:solidFill>
            </a:ln>
          </p:spPr>
        </p:cxnSp>
        <p:cxnSp>
          <p:nvCxnSpPr>
            <p:cNvPr id="22" name="Connector 21"/>
            <p:cNvCxnSpPr/>
            <p:nvPr/>
          </p:nvCxnSpPr>
          <p:spPr>
            <a:xfrm flipV="1">
              <a:off x="9176897" y="3604509"/>
              <a:ext cx="139946" cy="357642"/>
            </a:xfrm>
            <a:prstGeom prst="line">
              <a:avLst/>
            </a:prstGeom>
            <a:ln w="25400">
              <a:solidFill>
                <a:srgbClr val="6B5B4B"/>
              </a:solidFill>
            </a:ln>
          </p:spPr>
        </p:cxnSp>
        <p:cxnSp>
          <p:nvCxnSpPr>
            <p:cNvPr id="23" name="Connector 22"/>
            <p:cNvCxnSpPr/>
            <p:nvPr/>
          </p:nvCxnSpPr>
          <p:spPr>
            <a:xfrm flipV="1">
              <a:off x="9439787" y="3707379"/>
              <a:ext cx="139946" cy="357642"/>
            </a:xfrm>
            <a:prstGeom prst="line">
              <a:avLst/>
            </a:prstGeom>
            <a:ln w="25400">
              <a:solidFill>
                <a:srgbClr val="6B5B4B"/>
              </a:solidFill>
            </a:ln>
          </p:spPr>
        </p:cxnSp>
        <p:cxnSp>
          <p:nvCxnSpPr>
            <p:cNvPr id="24" name="Connector 23"/>
            <p:cNvCxnSpPr/>
            <p:nvPr/>
          </p:nvCxnSpPr>
          <p:spPr>
            <a:xfrm flipV="1">
              <a:off x="5350169" y="2359494"/>
              <a:ext cx="4206240" cy="1645920"/>
            </a:xfrm>
            <a:prstGeom prst="line">
              <a:avLst/>
            </a:prstGeom>
            <a:ln w="38100">
              <a:solidFill>
                <a:srgbClr val="9AA0A6"/>
              </a:solidFill>
            </a:ln>
          </p:spPr>
        </p:cxnSp>
        <p:cxnSp>
          <p:nvCxnSpPr>
            <p:cNvPr id="25" name="Connector 24"/>
            <p:cNvCxnSpPr/>
            <p:nvPr/>
          </p:nvCxnSpPr>
          <p:spPr>
            <a:xfrm flipV="1">
              <a:off x="5256871" y="2121066"/>
              <a:ext cx="4206240" cy="1645920"/>
            </a:xfrm>
            <a:prstGeom prst="line">
              <a:avLst/>
            </a:prstGeom>
            <a:ln w="38100">
              <a:solidFill>
                <a:srgbClr val="9AA0A6"/>
              </a:solidFill>
            </a:ln>
          </p:spPr>
        </p:cxnSp>
        <p:cxnSp>
          <p:nvCxnSpPr>
            <p:cNvPr id="26" name="Connector 25"/>
            <p:cNvCxnSpPr/>
            <p:nvPr/>
          </p:nvCxnSpPr>
          <p:spPr>
            <a:xfrm flipH="1" flipV="1">
              <a:off x="5233547" y="3707379"/>
              <a:ext cx="139946" cy="357642"/>
            </a:xfrm>
            <a:prstGeom prst="line">
              <a:avLst/>
            </a:prstGeom>
            <a:ln w="25400">
              <a:solidFill>
                <a:srgbClr val="6B5B4B"/>
              </a:solidFill>
            </a:ln>
          </p:spPr>
        </p:cxnSp>
        <p:cxnSp>
          <p:nvCxnSpPr>
            <p:cNvPr id="27" name="Connector 26"/>
            <p:cNvCxnSpPr/>
            <p:nvPr/>
          </p:nvCxnSpPr>
          <p:spPr>
            <a:xfrm flipH="1" flipV="1">
              <a:off x="5496437" y="3604509"/>
              <a:ext cx="139946" cy="357642"/>
            </a:xfrm>
            <a:prstGeom prst="line">
              <a:avLst/>
            </a:prstGeom>
            <a:ln w="25400">
              <a:solidFill>
                <a:srgbClr val="6B5B4B"/>
              </a:solidFill>
            </a:ln>
          </p:spPr>
        </p:cxnSp>
        <p:cxnSp>
          <p:nvCxnSpPr>
            <p:cNvPr id="28" name="Connector 27"/>
            <p:cNvCxnSpPr/>
            <p:nvPr/>
          </p:nvCxnSpPr>
          <p:spPr>
            <a:xfrm flipH="1" flipV="1">
              <a:off x="5759327" y="3501639"/>
              <a:ext cx="139946" cy="357642"/>
            </a:xfrm>
            <a:prstGeom prst="line">
              <a:avLst/>
            </a:prstGeom>
            <a:ln w="25400">
              <a:solidFill>
                <a:srgbClr val="6B5B4B"/>
              </a:solidFill>
            </a:ln>
          </p:spPr>
        </p:cxnSp>
        <p:cxnSp>
          <p:nvCxnSpPr>
            <p:cNvPr id="29" name="Connector 28"/>
            <p:cNvCxnSpPr/>
            <p:nvPr/>
          </p:nvCxnSpPr>
          <p:spPr>
            <a:xfrm flipH="1" flipV="1">
              <a:off x="6022217" y="3398769"/>
              <a:ext cx="139946" cy="357642"/>
            </a:xfrm>
            <a:prstGeom prst="line">
              <a:avLst/>
            </a:prstGeom>
            <a:ln w="25400">
              <a:solidFill>
                <a:srgbClr val="6B5B4B"/>
              </a:solidFill>
            </a:ln>
          </p:spPr>
        </p:cxnSp>
        <p:cxnSp>
          <p:nvCxnSpPr>
            <p:cNvPr id="30" name="Connector 29"/>
            <p:cNvCxnSpPr/>
            <p:nvPr/>
          </p:nvCxnSpPr>
          <p:spPr>
            <a:xfrm flipH="1" flipV="1">
              <a:off x="6285107" y="3295899"/>
              <a:ext cx="139946" cy="357642"/>
            </a:xfrm>
            <a:prstGeom prst="line">
              <a:avLst/>
            </a:prstGeom>
            <a:ln w="25400">
              <a:solidFill>
                <a:srgbClr val="6B5B4B"/>
              </a:solidFill>
            </a:ln>
          </p:spPr>
        </p:cxnSp>
        <p:cxnSp>
          <p:nvCxnSpPr>
            <p:cNvPr id="31" name="Connector 30"/>
            <p:cNvCxnSpPr/>
            <p:nvPr/>
          </p:nvCxnSpPr>
          <p:spPr>
            <a:xfrm flipH="1" flipV="1">
              <a:off x="6547997" y="3193029"/>
              <a:ext cx="139946" cy="357642"/>
            </a:xfrm>
            <a:prstGeom prst="line">
              <a:avLst/>
            </a:prstGeom>
            <a:ln w="25400">
              <a:solidFill>
                <a:srgbClr val="6B5B4B"/>
              </a:solidFill>
            </a:ln>
          </p:spPr>
        </p:cxnSp>
        <p:cxnSp>
          <p:nvCxnSpPr>
            <p:cNvPr id="32" name="Connector 31"/>
            <p:cNvCxnSpPr/>
            <p:nvPr/>
          </p:nvCxnSpPr>
          <p:spPr>
            <a:xfrm flipH="1" flipV="1">
              <a:off x="6810887" y="3090159"/>
              <a:ext cx="139946" cy="357642"/>
            </a:xfrm>
            <a:prstGeom prst="line">
              <a:avLst/>
            </a:prstGeom>
            <a:ln w="25400">
              <a:solidFill>
                <a:srgbClr val="6B5B4B"/>
              </a:solidFill>
            </a:ln>
          </p:spPr>
        </p:cxnSp>
        <p:cxnSp>
          <p:nvCxnSpPr>
            <p:cNvPr id="33" name="Connector 32"/>
            <p:cNvCxnSpPr/>
            <p:nvPr/>
          </p:nvCxnSpPr>
          <p:spPr>
            <a:xfrm flipH="1" flipV="1">
              <a:off x="7073777" y="2987289"/>
              <a:ext cx="139946" cy="357642"/>
            </a:xfrm>
            <a:prstGeom prst="line">
              <a:avLst/>
            </a:prstGeom>
            <a:ln w="25400">
              <a:solidFill>
                <a:srgbClr val="6B5B4B"/>
              </a:solidFill>
            </a:ln>
          </p:spPr>
        </p:cxnSp>
        <p:cxnSp>
          <p:nvCxnSpPr>
            <p:cNvPr id="34" name="Connector 33"/>
            <p:cNvCxnSpPr/>
            <p:nvPr/>
          </p:nvCxnSpPr>
          <p:spPr>
            <a:xfrm flipH="1" flipV="1">
              <a:off x="7336667" y="2884419"/>
              <a:ext cx="139946" cy="357642"/>
            </a:xfrm>
            <a:prstGeom prst="line">
              <a:avLst/>
            </a:prstGeom>
            <a:ln w="25400">
              <a:solidFill>
                <a:srgbClr val="6B5B4B"/>
              </a:solidFill>
            </a:ln>
          </p:spPr>
        </p:cxnSp>
        <p:cxnSp>
          <p:nvCxnSpPr>
            <p:cNvPr id="35" name="Connector 34"/>
            <p:cNvCxnSpPr/>
            <p:nvPr/>
          </p:nvCxnSpPr>
          <p:spPr>
            <a:xfrm flipH="1" flipV="1">
              <a:off x="7599557" y="2781549"/>
              <a:ext cx="139946" cy="357642"/>
            </a:xfrm>
            <a:prstGeom prst="line">
              <a:avLst/>
            </a:prstGeom>
            <a:ln w="25400">
              <a:solidFill>
                <a:srgbClr val="6B5B4B"/>
              </a:solidFill>
            </a:ln>
          </p:spPr>
        </p:cxnSp>
        <p:cxnSp>
          <p:nvCxnSpPr>
            <p:cNvPr id="36" name="Connector 35"/>
            <p:cNvCxnSpPr/>
            <p:nvPr/>
          </p:nvCxnSpPr>
          <p:spPr>
            <a:xfrm flipH="1" flipV="1">
              <a:off x="7862447" y="2678679"/>
              <a:ext cx="139946" cy="357642"/>
            </a:xfrm>
            <a:prstGeom prst="line">
              <a:avLst/>
            </a:prstGeom>
            <a:ln w="25400">
              <a:solidFill>
                <a:srgbClr val="6B5B4B"/>
              </a:solidFill>
            </a:ln>
          </p:spPr>
        </p:cxnSp>
        <p:cxnSp>
          <p:nvCxnSpPr>
            <p:cNvPr id="37" name="Connector 36"/>
            <p:cNvCxnSpPr/>
            <p:nvPr/>
          </p:nvCxnSpPr>
          <p:spPr>
            <a:xfrm flipH="1" flipV="1">
              <a:off x="8125337" y="2575809"/>
              <a:ext cx="139946" cy="357642"/>
            </a:xfrm>
            <a:prstGeom prst="line">
              <a:avLst/>
            </a:prstGeom>
            <a:ln w="25400">
              <a:solidFill>
                <a:srgbClr val="6B5B4B"/>
              </a:solidFill>
            </a:ln>
          </p:spPr>
        </p:cxnSp>
        <p:cxnSp>
          <p:nvCxnSpPr>
            <p:cNvPr id="38" name="Connector 37"/>
            <p:cNvCxnSpPr/>
            <p:nvPr/>
          </p:nvCxnSpPr>
          <p:spPr>
            <a:xfrm flipH="1" flipV="1">
              <a:off x="8388227" y="2472939"/>
              <a:ext cx="139946" cy="357642"/>
            </a:xfrm>
            <a:prstGeom prst="line">
              <a:avLst/>
            </a:prstGeom>
            <a:ln w="25400">
              <a:solidFill>
                <a:srgbClr val="6B5B4B"/>
              </a:solidFill>
            </a:ln>
          </p:spPr>
        </p:cxnSp>
        <p:cxnSp>
          <p:nvCxnSpPr>
            <p:cNvPr id="39" name="Connector 38"/>
            <p:cNvCxnSpPr/>
            <p:nvPr/>
          </p:nvCxnSpPr>
          <p:spPr>
            <a:xfrm flipH="1" flipV="1">
              <a:off x="8651117" y="2370069"/>
              <a:ext cx="139946" cy="357642"/>
            </a:xfrm>
            <a:prstGeom prst="line">
              <a:avLst/>
            </a:prstGeom>
            <a:ln w="25400">
              <a:solidFill>
                <a:srgbClr val="6B5B4B"/>
              </a:solidFill>
            </a:ln>
          </p:spPr>
        </p:cxnSp>
        <p:cxnSp>
          <p:nvCxnSpPr>
            <p:cNvPr id="40" name="Connector 39"/>
            <p:cNvCxnSpPr/>
            <p:nvPr/>
          </p:nvCxnSpPr>
          <p:spPr>
            <a:xfrm flipH="1" flipV="1">
              <a:off x="8914007" y="2267199"/>
              <a:ext cx="139946" cy="357642"/>
            </a:xfrm>
            <a:prstGeom prst="line">
              <a:avLst/>
            </a:prstGeom>
            <a:ln w="25400">
              <a:solidFill>
                <a:srgbClr val="6B5B4B"/>
              </a:solidFill>
            </a:ln>
          </p:spPr>
        </p:cxnSp>
        <p:cxnSp>
          <p:nvCxnSpPr>
            <p:cNvPr id="41" name="Connector 40"/>
            <p:cNvCxnSpPr/>
            <p:nvPr/>
          </p:nvCxnSpPr>
          <p:spPr>
            <a:xfrm flipH="1" flipV="1">
              <a:off x="9176897" y="2164329"/>
              <a:ext cx="139946" cy="357642"/>
            </a:xfrm>
            <a:prstGeom prst="line">
              <a:avLst/>
            </a:prstGeom>
            <a:ln w="25400">
              <a:solidFill>
                <a:srgbClr val="6B5B4B"/>
              </a:solidFill>
            </a:ln>
          </p:spPr>
        </p:cxnSp>
        <p:cxnSp>
          <p:nvCxnSpPr>
            <p:cNvPr id="42" name="Connector 41"/>
            <p:cNvCxnSpPr/>
            <p:nvPr/>
          </p:nvCxnSpPr>
          <p:spPr>
            <a:xfrm flipH="1" flipV="1">
              <a:off x="9439787" y="2061459"/>
              <a:ext cx="139946" cy="357642"/>
            </a:xfrm>
            <a:prstGeom prst="line">
              <a:avLst/>
            </a:prstGeom>
            <a:ln w="25400">
              <a:solidFill>
                <a:srgbClr val="6B5B4B"/>
              </a:solidFill>
            </a:ln>
          </p:spPr>
        </p:cxnSp>
        <p:grpSp>
          <p:nvGrpSpPr>
            <p:cNvPr id="43" name="Signal 1 (clear)" descr="A semaphore signal post with its arm raised (clear)."/>
            <p:cNvGrpSpPr/>
            <p:nvPr/>
          </p:nvGrpSpPr>
          <p:grpSpPr>
            <a:xfrm>
              <a:off x="4537253" y="1476228"/>
              <a:ext cx="615919" cy="1129812"/>
              <a:chOff x="4537253" y="1476228"/>
              <a:chExt cx="615919" cy="1129812"/>
            </a:xfrm>
          </p:grpSpPr>
          <p:sp>
            <p:nvSpPr>
              <p:cNvPr id="44" name="Rectangle 43"/>
              <p:cNvSpPr/>
              <p:nvPr/>
            </p:nvSpPr>
            <p:spPr>
              <a:xfrm>
                <a:off x="4645152" y="2547518"/>
                <a:ext cx="219456" cy="58522"/>
              </a:xfrm>
              <a:prstGeom prst="rect">
                <a:avLst/>
              </a:prstGeom>
              <a:solidFill>
                <a:srgbClr val="9AA0A6"/>
              </a:solidFill>
              <a:ln>
                <a:noFill/>
              </a:ln>
            </p:spPr>
            <p:txBody>
              <a:bodyPr rtlCol="0" anchor="ctr"/>
              <a:lstStyle/>
              <a:p>
                <a:pPr algn="ctr"/>
                <a:endParaRPr/>
              </a:p>
            </p:txBody>
          </p:sp>
          <p:sp>
            <p:nvSpPr>
              <p:cNvPr id="45" name="Rectangle 44"/>
              <p:cNvSpPr/>
              <p:nvPr/>
            </p:nvSpPr>
            <p:spPr>
              <a:xfrm>
                <a:off x="4710989" y="1801368"/>
                <a:ext cx="87782" cy="746150"/>
              </a:xfrm>
              <a:prstGeom prst="rect">
                <a:avLst/>
              </a:prstGeom>
              <a:solidFill>
                <a:srgbClr val="E8E8E8"/>
              </a:solidFill>
              <a:ln>
                <a:noFill/>
              </a:ln>
            </p:spPr>
            <p:txBody>
              <a:bodyPr rtlCol="0" anchor="ctr"/>
              <a:lstStyle/>
              <a:p>
                <a:pPr algn="ctr"/>
                <a:endParaRPr/>
              </a:p>
            </p:txBody>
          </p:sp>
          <p:sp>
            <p:nvSpPr>
              <p:cNvPr id="46" name="Freeform 45"/>
              <p:cNvSpPr/>
              <p:nvPr/>
            </p:nvSpPr>
            <p:spPr>
              <a:xfrm>
                <a:off x="4718672" y="1476228"/>
                <a:ext cx="434500" cy="434500"/>
              </a:xfrm>
              <a:custGeom>
                <a:avLst/>
                <a:gdLst/>
                <a:ahLst/>
                <a:cxnLst/>
                <a:rect l="l" t="t" r="r" b="b"/>
                <a:pathLst>
                  <a:path w="434500" h="434500">
                    <a:moveTo>
                      <a:pt x="0" y="362084"/>
                    </a:moveTo>
                    <a:lnTo>
                      <a:pt x="362084" y="0"/>
                    </a:lnTo>
                    <a:lnTo>
                      <a:pt x="434500" y="72416"/>
                    </a:lnTo>
                    <a:lnTo>
                      <a:pt x="72416" y="434500"/>
                    </a:lnTo>
                    <a:close/>
                  </a:path>
                </a:pathLst>
              </a:custGeom>
              <a:solidFill>
                <a:srgbClr val="E5484D"/>
              </a:solidFill>
              <a:ln>
                <a:noFill/>
              </a:ln>
            </p:spPr>
            <p:txBody>
              <a:bodyPr rtlCol="0" anchor="ctr"/>
              <a:lstStyle/>
              <a:p>
                <a:pPr algn="ctr"/>
                <a:endParaRPr/>
              </a:p>
            </p:txBody>
          </p:sp>
          <p:sp>
            <p:nvSpPr>
              <p:cNvPr id="47" name="Freeform 46"/>
              <p:cNvSpPr/>
              <p:nvPr/>
            </p:nvSpPr>
            <p:spPr>
              <a:xfrm>
                <a:off x="4899714" y="1600371"/>
                <a:ext cx="129315" cy="129315"/>
              </a:xfrm>
              <a:custGeom>
                <a:avLst/>
                <a:gdLst/>
                <a:ahLst/>
                <a:cxnLst/>
                <a:rect l="l" t="t" r="r" b="b"/>
                <a:pathLst>
                  <a:path w="129315" h="129315">
                    <a:moveTo>
                      <a:pt x="0" y="56899"/>
                    </a:moveTo>
                    <a:lnTo>
                      <a:pt x="56898" y="0"/>
                    </a:lnTo>
                    <a:lnTo>
                      <a:pt x="129315" y="72417"/>
                    </a:lnTo>
                    <a:lnTo>
                      <a:pt x="72416" y="129315"/>
                    </a:lnTo>
                    <a:close/>
                  </a:path>
                </a:pathLst>
              </a:custGeom>
              <a:solidFill>
                <a:srgbClr val="FFFFFF"/>
              </a:solidFill>
              <a:ln>
                <a:noFill/>
              </a:ln>
            </p:spPr>
            <p:txBody>
              <a:bodyPr rtlCol="0" anchor="ctr"/>
              <a:lstStyle/>
              <a:p>
                <a:pPr algn="ctr"/>
                <a:endParaRPr/>
              </a:p>
            </p:txBody>
          </p:sp>
          <p:sp>
            <p:nvSpPr>
              <p:cNvPr id="48" name="Oval 47"/>
              <p:cNvSpPr/>
              <p:nvPr/>
            </p:nvSpPr>
            <p:spPr>
              <a:xfrm>
                <a:off x="4715561" y="1835201"/>
                <a:ext cx="78638" cy="78638"/>
              </a:xfrm>
              <a:prstGeom prst="ellipse">
                <a:avLst/>
              </a:prstGeom>
              <a:solidFill>
                <a:srgbClr val="1B1D21"/>
              </a:solidFill>
              <a:ln w="9525">
                <a:solidFill>
                  <a:srgbClr val="FFFFFF"/>
                </a:solidFill>
              </a:ln>
            </p:spPr>
            <p:txBody>
              <a:bodyPr rtlCol="0" anchor="ctr"/>
              <a:lstStyle/>
              <a:p>
                <a:pPr algn="ctr"/>
                <a:endParaRPr/>
              </a:p>
            </p:txBody>
          </p:sp>
          <p:sp>
            <p:nvSpPr>
              <p:cNvPr id="49" name="Oval 48"/>
              <p:cNvSpPr/>
              <p:nvPr/>
            </p:nvSpPr>
            <p:spPr>
              <a:xfrm>
                <a:off x="4537253" y="1803197"/>
                <a:ext cx="142646" cy="142646"/>
              </a:xfrm>
              <a:prstGeom prst="ellipse">
                <a:avLst/>
              </a:prstGeom>
              <a:solidFill>
                <a:srgbClr val="3FB950"/>
              </a:solidFill>
              <a:ln w="12700">
                <a:solidFill>
                  <a:srgbClr val="FFFFFF"/>
                </a:solidFill>
              </a:ln>
            </p:spPr>
            <p:txBody>
              <a:bodyPr rtlCol="0" anchor="ctr"/>
              <a:lstStyle/>
              <a:p>
                <a:pPr algn="ctr"/>
                <a:endParaRPr/>
              </a:p>
            </p:txBody>
          </p:sp>
        </p:grpSp>
        <p:grpSp>
          <p:nvGrpSpPr>
            <p:cNvPr id="50" name="Signal 2 (stop)" descr="A semaphore signal post with its arm flat (stop)."/>
            <p:cNvGrpSpPr/>
            <p:nvPr/>
          </p:nvGrpSpPr>
          <p:grpSpPr>
            <a:xfrm>
              <a:off x="4537253" y="3493008"/>
              <a:ext cx="729691" cy="804672"/>
              <a:chOff x="4537253" y="3493008"/>
              <a:chExt cx="729691" cy="804672"/>
            </a:xfrm>
          </p:grpSpPr>
          <p:sp>
            <p:nvSpPr>
              <p:cNvPr id="51" name="Rectangle 50"/>
              <p:cNvSpPr/>
              <p:nvPr/>
            </p:nvSpPr>
            <p:spPr>
              <a:xfrm>
                <a:off x="4645152" y="4239158"/>
                <a:ext cx="219456" cy="58522"/>
              </a:xfrm>
              <a:prstGeom prst="rect">
                <a:avLst/>
              </a:prstGeom>
              <a:solidFill>
                <a:srgbClr val="9AA0A6"/>
              </a:solidFill>
              <a:ln>
                <a:noFill/>
              </a:ln>
            </p:spPr>
            <p:txBody>
              <a:bodyPr rtlCol="0" anchor="ctr"/>
              <a:lstStyle/>
              <a:p>
                <a:pPr algn="ctr"/>
                <a:endParaRPr/>
              </a:p>
            </p:txBody>
          </p:sp>
          <p:sp>
            <p:nvSpPr>
              <p:cNvPr id="52" name="Rectangle 51"/>
              <p:cNvSpPr/>
              <p:nvPr/>
            </p:nvSpPr>
            <p:spPr>
              <a:xfrm>
                <a:off x="4710989" y="3493008"/>
                <a:ext cx="87782" cy="746150"/>
              </a:xfrm>
              <a:prstGeom prst="rect">
                <a:avLst/>
              </a:prstGeom>
              <a:solidFill>
                <a:srgbClr val="E8E8E8"/>
              </a:solidFill>
              <a:ln>
                <a:noFill/>
              </a:ln>
            </p:spPr>
            <p:txBody>
              <a:bodyPr rtlCol="0" anchor="ctr"/>
              <a:lstStyle/>
              <a:p>
                <a:pPr algn="ctr"/>
                <a:endParaRPr/>
              </a:p>
            </p:txBody>
          </p:sp>
          <p:sp>
            <p:nvSpPr>
              <p:cNvPr id="53" name="Freeform 52"/>
              <p:cNvSpPr/>
              <p:nvPr/>
            </p:nvSpPr>
            <p:spPr>
              <a:xfrm>
                <a:off x="4754880" y="3514954"/>
                <a:ext cx="512064" cy="102412"/>
              </a:xfrm>
              <a:custGeom>
                <a:avLst/>
                <a:gdLst/>
                <a:ahLst/>
                <a:cxnLst/>
                <a:rect l="l" t="t" r="r" b="b"/>
                <a:pathLst>
                  <a:path w="512064" h="102412">
                    <a:moveTo>
                      <a:pt x="0" y="0"/>
                    </a:moveTo>
                    <a:lnTo>
                      <a:pt x="512064" y="0"/>
                    </a:lnTo>
                    <a:lnTo>
                      <a:pt x="512064" y="102412"/>
                    </a:lnTo>
                    <a:lnTo>
                      <a:pt x="0" y="102412"/>
                    </a:lnTo>
                    <a:close/>
                  </a:path>
                </a:pathLst>
              </a:custGeom>
              <a:solidFill>
                <a:srgbClr val="E5484D"/>
              </a:solidFill>
              <a:ln>
                <a:noFill/>
              </a:ln>
            </p:spPr>
            <p:txBody>
              <a:bodyPr rtlCol="0" anchor="ctr"/>
              <a:lstStyle/>
              <a:p>
                <a:pPr algn="ctr"/>
                <a:endParaRPr/>
              </a:p>
            </p:txBody>
          </p:sp>
          <p:sp>
            <p:nvSpPr>
              <p:cNvPr id="54" name="Freeform 53"/>
              <p:cNvSpPr/>
              <p:nvPr/>
            </p:nvSpPr>
            <p:spPr>
              <a:xfrm>
                <a:off x="5010912" y="3514954"/>
                <a:ext cx="80467" cy="102412"/>
              </a:xfrm>
              <a:custGeom>
                <a:avLst/>
                <a:gdLst/>
                <a:ahLst/>
                <a:cxnLst/>
                <a:rect l="l" t="t" r="r" b="b"/>
                <a:pathLst>
                  <a:path w="80467" h="102412">
                    <a:moveTo>
                      <a:pt x="0" y="0"/>
                    </a:moveTo>
                    <a:lnTo>
                      <a:pt x="80467" y="0"/>
                    </a:lnTo>
                    <a:lnTo>
                      <a:pt x="80467" y="102412"/>
                    </a:lnTo>
                    <a:lnTo>
                      <a:pt x="0" y="102412"/>
                    </a:lnTo>
                    <a:close/>
                  </a:path>
                </a:pathLst>
              </a:custGeom>
              <a:solidFill>
                <a:srgbClr val="FFFFFF"/>
              </a:solidFill>
              <a:ln>
                <a:noFill/>
              </a:ln>
            </p:spPr>
            <p:txBody>
              <a:bodyPr rtlCol="0" anchor="ctr"/>
              <a:lstStyle/>
              <a:p>
                <a:pPr algn="ctr"/>
                <a:endParaRPr/>
              </a:p>
            </p:txBody>
          </p:sp>
          <p:sp>
            <p:nvSpPr>
              <p:cNvPr id="55" name="Oval 54"/>
              <p:cNvSpPr/>
              <p:nvPr/>
            </p:nvSpPr>
            <p:spPr>
              <a:xfrm>
                <a:off x="4715561" y="3526841"/>
                <a:ext cx="78638" cy="78638"/>
              </a:xfrm>
              <a:prstGeom prst="ellipse">
                <a:avLst/>
              </a:prstGeom>
              <a:solidFill>
                <a:srgbClr val="1B1D21"/>
              </a:solidFill>
              <a:ln w="9525">
                <a:solidFill>
                  <a:srgbClr val="FFFFFF"/>
                </a:solidFill>
              </a:ln>
            </p:spPr>
            <p:txBody>
              <a:bodyPr rtlCol="0" anchor="ctr"/>
              <a:lstStyle/>
              <a:p>
                <a:pPr algn="ctr"/>
                <a:endParaRPr/>
              </a:p>
            </p:txBody>
          </p:sp>
          <p:sp>
            <p:nvSpPr>
              <p:cNvPr id="56" name="Oval 55"/>
              <p:cNvSpPr/>
              <p:nvPr/>
            </p:nvSpPr>
            <p:spPr>
              <a:xfrm>
                <a:off x="4537253" y="3494837"/>
                <a:ext cx="142646" cy="142646"/>
              </a:xfrm>
              <a:prstGeom prst="ellipse">
                <a:avLst/>
              </a:prstGeom>
              <a:solidFill>
                <a:srgbClr val="E5484D"/>
              </a:solidFill>
              <a:ln w="12700">
                <a:solidFill>
                  <a:srgbClr val="FFFFFF"/>
                </a:solidFill>
              </a:ln>
            </p:spPr>
            <p:txBody>
              <a:bodyPr rtlCol="0" anchor="ctr"/>
              <a:lstStyle/>
              <a:p>
                <a:pPr algn="ctr"/>
                <a:endParaRPr/>
              </a:p>
            </p:txBody>
          </p:sp>
        </p:grpSp>
        <p:sp>
          <p:nvSpPr>
            <p:cNvPr id="57" name="TextBox 56"/>
            <p:cNvSpPr txBox="1"/>
            <p:nvPr/>
          </p:nvSpPr>
          <p:spPr>
            <a:xfrm>
              <a:off x="2194560" y="1828800"/>
              <a:ext cx="2103120" cy="365760"/>
            </a:xfrm>
            <a:prstGeom prst="rect">
              <a:avLst/>
            </a:prstGeom>
            <a:noFill/>
          </p:spPr>
          <p:txBody>
            <a:bodyPr wrap="square" lIns="18288" tIns="18288" rIns="18288" bIns="18288" anchor="ctr">
              <a:noAutofit/>
            </a:bodyPr>
            <a:lstStyle/>
            <a:p>
              <a:pPr algn="r"/>
              <a:r>
                <a:rPr lang="en-GB" sz="1800" b="1" i="0">
                  <a:solidFill>
                    <a:srgbClr val="3FB950"/>
                  </a:solidFill>
                  <a:latin typeface="Arial"/>
                </a:rPr>
                <a:t>Signal 1: CLEAR</a:t>
              </a:r>
            </a:p>
          </p:txBody>
        </p:sp>
        <p:sp>
          <p:nvSpPr>
            <p:cNvPr id="58" name="TextBox 57"/>
            <p:cNvSpPr txBox="1"/>
            <p:nvPr/>
          </p:nvSpPr>
          <p:spPr>
            <a:xfrm>
              <a:off x="2194560" y="3520440"/>
              <a:ext cx="2103120" cy="365760"/>
            </a:xfrm>
            <a:prstGeom prst="rect">
              <a:avLst/>
            </a:prstGeom>
            <a:noFill/>
          </p:spPr>
          <p:txBody>
            <a:bodyPr wrap="square" lIns="18288" tIns="18288" rIns="18288" bIns="18288" anchor="ctr">
              <a:noAutofit/>
            </a:bodyPr>
            <a:lstStyle/>
            <a:p>
              <a:pPr algn="r"/>
              <a:r>
                <a:rPr lang="en-GB" sz="1800" b="1" i="0">
                  <a:solidFill>
                    <a:srgbClr val="FF7A7E"/>
                  </a:solidFill>
                  <a:latin typeface="Arial"/>
                </a:rPr>
                <a:t>Signal 2: STOP</a:t>
              </a:r>
            </a:p>
          </p:txBody>
        </p:sp>
        <p:sp>
          <p:nvSpPr>
            <p:cNvPr id="59" name="Rectangle 58"/>
            <p:cNvSpPr/>
            <p:nvPr/>
          </p:nvSpPr>
          <p:spPr>
            <a:xfrm>
              <a:off x="5303520" y="5376672"/>
              <a:ext cx="4206240" cy="91440"/>
            </a:xfrm>
            <a:prstGeom prst="rect">
              <a:avLst/>
            </a:prstGeom>
            <a:solidFill>
              <a:srgbClr val="9AA0A6"/>
            </a:solidFill>
            <a:ln>
              <a:noFill/>
            </a:ln>
          </p:spPr>
          <p:txBody>
            <a:bodyPr rtlCol="0" anchor="ctr"/>
            <a:lstStyle/>
            <a:p>
              <a:pPr algn="ctr"/>
              <a:endParaRPr/>
            </a:p>
          </p:txBody>
        </p:sp>
        <p:sp>
          <p:nvSpPr>
            <p:cNvPr id="60" name="Rectangle 59"/>
            <p:cNvSpPr/>
            <p:nvPr/>
          </p:nvSpPr>
          <p:spPr>
            <a:xfrm rot="1500000">
              <a:off x="6327294" y="4635843"/>
              <a:ext cx="109728" cy="777240"/>
            </a:xfrm>
            <a:prstGeom prst="rect">
              <a:avLst/>
            </a:prstGeom>
            <a:solidFill>
              <a:srgbClr val="E5484D"/>
            </a:solidFill>
            <a:ln w="9525">
              <a:solidFill>
                <a:srgbClr val="101418"/>
              </a:solidFill>
            </a:ln>
          </p:spPr>
          <p:txBody>
            <a:bodyPr rtlCol="0" anchor="ctr"/>
            <a:lstStyle/>
            <a:p>
              <a:pPr algn="ctr"/>
              <a:endParaRPr/>
            </a:p>
          </p:txBody>
        </p:sp>
        <p:sp>
          <p:nvSpPr>
            <p:cNvPr id="61" name="Oval 60"/>
            <p:cNvSpPr/>
            <p:nvPr/>
          </p:nvSpPr>
          <p:spPr>
            <a:xfrm>
              <a:off x="6126480" y="5285232"/>
              <a:ext cx="182880" cy="182880"/>
            </a:xfrm>
            <a:prstGeom prst="ellipse">
              <a:avLst/>
            </a:prstGeom>
            <a:solidFill>
              <a:srgbClr val="9AA0A6"/>
            </a:solidFill>
            <a:ln w="9525">
              <a:solidFill>
                <a:srgbClr val="101418"/>
              </a:solidFill>
            </a:ln>
          </p:spPr>
          <p:txBody>
            <a:bodyPr rtlCol="0" anchor="ctr"/>
            <a:lstStyle/>
            <a:p>
              <a:pPr algn="ctr"/>
              <a:endParaRPr/>
            </a:p>
          </p:txBody>
        </p:sp>
        <p:sp>
          <p:nvSpPr>
            <p:cNvPr id="62" name="Rectangle 61"/>
            <p:cNvSpPr/>
            <p:nvPr/>
          </p:nvSpPr>
          <p:spPr>
            <a:xfrm>
              <a:off x="7991856" y="4599432"/>
              <a:ext cx="109728" cy="777240"/>
            </a:xfrm>
            <a:prstGeom prst="rect">
              <a:avLst/>
            </a:prstGeom>
            <a:solidFill>
              <a:srgbClr val="E5484D"/>
            </a:solidFill>
            <a:ln w="9525">
              <a:solidFill>
                <a:srgbClr val="101418"/>
              </a:solidFill>
            </a:ln>
          </p:spPr>
          <p:txBody>
            <a:bodyPr rtlCol="0" anchor="ctr"/>
            <a:lstStyle/>
            <a:p>
              <a:pPr algn="ctr"/>
              <a:endParaRPr/>
            </a:p>
          </p:txBody>
        </p:sp>
        <p:sp>
          <p:nvSpPr>
            <p:cNvPr id="63" name="Oval 62"/>
            <p:cNvSpPr/>
            <p:nvPr/>
          </p:nvSpPr>
          <p:spPr>
            <a:xfrm>
              <a:off x="7955280" y="5285232"/>
              <a:ext cx="182880" cy="182880"/>
            </a:xfrm>
            <a:prstGeom prst="ellipse">
              <a:avLst/>
            </a:prstGeom>
            <a:solidFill>
              <a:srgbClr val="9AA0A6"/>
            </a:solidFill>
            <a:ln w="9525">
              <a:solidFill>
                <a:srgbClr val="101418"/>
              </a:solidFill>
            </a:ln>
          </p:spPr>
          <p:txBody>
            <a:bodyPr rtlCol="0" anchor="ctr"/>
            <a:lstStyle/>
            <a:p>
              <a:pPr algn="ctr"/>
              <a:endParaRPr/>
            </a:p>
          </p:txBody>
        </p:sp>
        <p:sp>
          <p:nvSpPr>
            <p:cNvPr id="64" name="Locking bar"/>
            <p:cNvSpPr/>
            <p:nvPr/>
          </p:nvSpPr>
          <p:spPr>
            <a:xfrm>
              <a:off x="6355080" y="4956048"/>
              <a:ext cx="1691640" cy="91440"/>
            </a:xfrm>
            <a:prstGeom prst="rect">
              <a:avLst/>
            </a:prstGeom>
            <a:solidFill>
              <a:srgbClr val="9AA0A6"/>
            </a:solidFill>
            <a:ln w="9525">
              <a:solidFill>
                <a:srgbClr val="101418"/>
              </a:solidFill>
            </a:ln>
          </p:spPr>
          <p:txBody>
            <a:bodyPr rtlCol="0" anchor="ctr"/>
            <a:lstStyle/>
            <a:p>
              <a:pPr algn="ctr"/>
              <a:endParaRPr/>
            </a:p>
          </p:txBody>
        </p:sp>
        <p:sp>
          <p:nvSpPr>
            <p:cNvPr id="65" name="Rectangle 64"/>
            <p:cNvSpPr/>
            <p:nvPr/>
          </p:nvSpPr>
          <p:spPr>
            <a:xfrm>
              <a:off x="7936992" y="4901184"/>
              <a:ext cx="219456" cy="201168"/>
            </a:xfrm>
            <a:prstGeom prst="rect">
              <a:avLst/>
            </a:prstGeom>
            <a:solidFill>
              <a:srgbClr val="F2C14E"/>
            </a:solidFill>
            <a:ln w="9525">
              <a:solidFill>
                <a:srgbClr val="101418"/>
              </a:solidFill>
            </a:ln>
          </p:spPr>
          <p:txBody>
            <a:bodyPr rtlCol="0" anchor="ctr"/>
            <a:lstStyle/>
            <a:p>
              <a:pPr algn="ctr"/>
              <a:endParaRPr/>
            </a:p>
          </p:txBody>
        </p:sp>
        <p:grpSp>
          <p:nvGrpSpPr>
            <p:cNvPr id="66" name="Padlock" descr="A padlock icon showing that the lever is locked."/>
            <p:cNvGrpSpPr/>
            <p:nvPr/>
          </p:nvGrpSpPr>
          <p:grpSpPr>
            <a:xfrm>
              <a:off x="8302752" y="4572000"/>
              <a:ext cx="310896" cy="402336"/>
              <a:chOff x="8302752" y="4572000"/>
              <a:chExt cx="310896" cy="402336"/>
            </a:xfrm>
          </p:grpSpPr>
          <p:sp>
            <p:nvSpPr>
              <p:cNvPr id="67" name="Rounded Rectangle 66"/>
              <p:cNvSpPr/>
              <p:nvPr/>
            </p:nvSpPr>
            <p:spPr>
              <a:xfrm>
                <a:off x="8366760" y="4572000"/>
                <a:ext cx="182880" cy="219456"/>
              </a:xfrm>
              <a:prstGeom prst="roundRect">
                <a:avLst>
                  <a:gd name="adj" fmla="val 50000"/>
                </a:avLst>
              </a:prstGeom>
              <a:noFill/>
              <a:ln w="38100">
                <a:solidFill>
                  <a:srgbClr val="F2F2F2"/>
                </a:solidFill>
              </a:ln>
            </p:spPr>
            <p:txBody>
              <a:bodyPr rtlCol="0" anchor="ctr"/>
              <a:lstStyle/>
              <a:p>
                <a:pPr algn="ctr"/>
                <a:endParaRPr/>
              </a:p>
            </p:txBody>
          </p:sp>
          <p:sp>
            <p:nvSpPr>
              <p:cNvPr id="68" name="Rounded Rectangle 67"/>
              <p:cNvSpPr/>
              <p:nvPr/>
            </p:nvSpPr>
            <p:spPr>
              <a:xfrm>
                <a:off x="8302752" y="4727448"/>
                <a:ext cx="310896" cy="246888"/>
              </a:xfrm>
              <a:prstGeom prst="roundRect">
                <a:avLst>
                  <a:gd name="adj" fmla="val 14814"/>
                </a:avLst>
              </a:prstGeom>
              <a:solidFill>
                <a:srgbClr val="F2C14E"/>
              </a:solidFill>
              <a:ln w="12700">
                <a:solidFill>
                  <a:srgbClr val="101418"/>
                </a:solidFill>
              </a:ln>
            </p:spPr>
            <p:txBody>
              <a:bodyPr rtlCol="0" anchor="ctr"/>
              <a:lstStyle/>
              <a:p>
                <a:pPr algn="ctr"/>
                <a:endParaRPr/>
              </a:p>
            </p:txBody>
          </p:sp>
        </p:grpSp>
        <p:sp>
          <p:nvSpPr>
            <p:cNvPr id="69" name="TextBox 68"/>
            <p:cNvSpPr txBox="1"/>
            <p:nvPr/>
          </p:nvSpPr>
          <p:spPr>
            <a:xfrm>
              <a:off x="8686800" y="4572000"/>
              <a:ext cx="1463040" cy="384048"/>
            </a:xfrm>
            <a:prstGeom prst="rect">
              <a:avLst/>
            </a:prstGeom>
            <a:noFill/>
          </p:spPr>
          <p:txBody>
            <a:bodyPr wrap="square" lIns="18288" tIns="18288" rIns="18288" bIns="18288" anchor="ctr">
              <a:noAutofit/>
            </a:bodyPr>
            <a:lstStyle/>
            <a:p>
              <a:pPr algn="l"/>
              <a:r>
                <a:rPr lang="en-GB" sz="1800" b="1" i="0">
                  <a:solidFill>
                    <a:srgbClr val="F2C14E"/>
                  </a:solidFill>
                  <a:latin typeface="Arial"/>
                </a:rPr>
                <a:t>Locked</a:t>
              </a:r>
            </a:p>
          </p:txBody>
        </p:sp>
        <p:sp>
          <p:nvSpPr>
            <p:cNvPr id="70" name="TextBox 69"/>
            <p:cNvSpPr txBox="1"/>
            <p:nvPr/>
          </p:nvSpPr>
          <p:spPr>
            <a:xfrm>
              <a:off x="5577840" y="5468112"/>
              <a:ext cx="1280160" cy="274320"/>
            </a:xfrm>
            <a:prstGeom prst="rect">
              <a:avLst/>
            </a:prstGeom>
            <a:noFill/>
          </p:spPr>
          <p:txBody>
            <a:bodyPr wrap="square" lIns="18288" tIns="18288" rIns="18288" bIns="18288" anchor="ctr">
              <a:noAutofit/>
            </a:bodyPr>
            <a:lstStyle/>
            <a:p>
              <a:pPr algn="ctr"/>
              <a:r>
                <a:rPr lang="en-GB" sz="1400" b="1" i="0">
                  <a:solidFill>
                    <a:srgbClr val="F2F2F2"/>
                  </a:solidFill>
                  <a:latin typeface="Arial"/>
                </a:rPr>
                <a:t>Lever 1</a:t>
              </a:r>
            </a:p>
          </p:txBody>
        </p:sp>
        <p:sp>
          <p:nvSpPr>
            <p:cNvPr id="71" name="TextBox 70"/>
            <p:cNvSpPr txBox="1"/>
            <p:nvPr/>
          </p:nvSpPr>
          <p:spPr>
            <a:xfrm>
              <a:off x="7406640" y="5468112"/>
              <a:ext cx="1280160" cy="274320"/>
            </a:xfrm>
            <a:prstGeom prst="rect">
              <a:avLst/>
            </a:prstGeom>
            <a:noFill/>
          </p:spPr>
          <p:txBody>
            <a:bodyPr wrap="square" lIns="18288" tIns="18288" rIns="18288" bIns="18288" anchor="ctr">
              <a:noAutofit/>
            </a:bodyPr>
            <a:lstStyle/>
            <a:p>
              <a:pPr algn="ctr"/>
              <a:r>
                <a:rPr lang="en-GB" sz="1400" b="1" i="0">
                  <a:solidFill>
                    <a:srgbClr val="F2F2F2"/>
                  </a:solidFill>
                  <a:latin typeface="Arial"/>
                </a:rPr>
                <a:t>Lever 2</a:t>
              </a:r>
            </a:p>
          </p:txBody>
        </p:sp>
      </p:grpSp>
      <p:sp>
        <p:nvSpPr>
          <p:cNvPr id="72"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Levers lock each other. Two clashing signals cannot both be clear.</a:t>
            </a:r>
          </a:p>
        </p:txBody>
      </p:sp>
      <p:sp>
        <p:nvSpPr>
          <p:cNvPr id="73"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74"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12</a:t>
            </a:r>
          </a:p>
        </p:txBody>
      </p:sp>
    </p:spTree>
    <p:extLst>
      <p:ext uri="{BB962C8B-B14F-4D97-AF65-F5344CB8AC3E}">
        <p14:creationId xmlns:p14="http://schemas.microsoft.com/office/powerpoint/2010/main" val="41603091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par>
                                <p:cTn id="11" presetID="10" presetClass="entr" presetSubtype="0" fill="hold" nodeType="withEffect">
                                  <p:stCondLst>
                                    <p:cond delay="600"/>
                                  </p:stCondLst>
                                  <p:childTnLst>
                                    <p:set>
                                      <p:cBhvr>
                                        <p:cTn id="12" dur="1" fill="hold">
                                          <p:stCondLst>
                                            <p:cond delay="0"/>
                                          </p:stCondLst>
                                        </p:cTn>
                                        <p:tgtEl>
                                          <p:spTgt spid="73"/>
                                        </p:tgtEl>
                                        <p:attrNameLst>
                                          <p:attrName>style.visibility</p:attrName>
                                        </p:attrNameLst>
                                      </p:cBhvr>
                                      <p:to>
                                        <p:strVal val="visible"/>
                                      </p:to>
                                    </p:set>
                                    <p:animEffect transition="in" filter="fade">
                                      <p:cBhvr>
                                        <p:cTn id="13" dur="5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Boxes talk to each other</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Two boxes exchange bell codes" descr="Two neighbouring signal boxes joined by a dashed double arrow labelled bell codes. Between them a block instrument with three positions: normal, line clear, train on line. Line clear is highlighted."/>
          <p:cNvGrpSpPr/>
          <p:nvPr/>
        </p:nvGrpSpPr>
        <p:grpSpPr>
          <a:xfrm>
            <a:off x="749808" y="1600200"/>
            <a:ext cx="10661904" cy="3429000"/>
            <a:chOff x="749808" y="1600200"/>
            <a:chExt cx="10661904" cy="3429000"/>
          </a:xfrm>
        </p:grpSpPr>
        <p:grpSp>
          <p:nvGrpSpPr>
            <p:cNvPr id="5" name="Signal box (left)" descr="A small signal box building."/>
            <p:cNvGrpSpPr/>
            <p:nvPr/>
          </p:nvGrpSpPr>
          <p:grpSpPr>
            <a:xfrm>
              <a:off x="749808" y="1600200"/>
              <a:ext cx="2249424" cy="2011680"/>
              <a:chOff x="749808" y="1600200"/>
              <a:chExt cx="2249424" cy="2011680"/>
            </a:xfrm>
          </p:grpSpPr>
          <p:sp>
            <p:nvSpPr>
              <p:cNvPr id="6" name="Rectangle 5"/>
              <p:cNvSpPr/>
              <p:nvPr/>
            </p:nvSpPr>
            <p:spPr>
              <a:xfrm>
                <a:off x="822960" y="2042770"/>
                <a:ext cx="2103120" cy="1569110"/>
              </a:xfrm>
              <a:prstGeom prst="rect">
                <a:avLst/>
              </a:prstGeom>
              <a:solidFill>
                <a:srgbClr val="343A43"/>
              </a:solidFill>
              <a:ln w="19050">
                <a:solidFill>
                  <a:srgbClr val="F28C28"/>
                </a:solidFill>
              </a:ln>
            </p:spPr>
            <p:txBody>
              <a:bodyPr rtlCol="0" anchor="ctr"/>
              <a:lstStyle/>
              <a:p>
                <a:pPr algn="ctr"/>
                <a:endParaRPr/>
              </a:p>
            </p:txBody>
          </p:sp>
          <p:sp>
            <p:nvSpPr>
              <p:cNvPr id="7" name="Freeform 6"/>
              <p:cNvSpPr/>
              <p:nvPr/>
            </p:nvSpPr>
            <p:spPr>
              <a:xfrm>
                <a:off x="749808" y="1600200"/>
                <a:ext cx="2249424" cy="482803"/>
              </a:xfrm>
              <a:custGeom>
                <a:avLst/>
                <a:gdLst/>
                <a:ahLst/>
                <a:cxnLst/>
                <a:rect l="l" t="t" r="r" b="b"/>
                <a:pathLst>
                  <a:path w="2249424" h="482803">
                    <a:moveTo>
                      <a:pt x="0" y="482803"/>
                    </a:moveTo>
                    <a:lnTo>
                      <a:pt x="1124712" y="0"/>
                    </a:lnTo>
                    <a:lnTo>
                      <a:pt x="2249424" y="482803"/>
                    </a:lnTo>
                    <a:close/>
                  </a:path>
                </a:pathLst>
              </a:custGeom>
              <a:solidFill>
                <a:srgbClr val="4A515B"/>
              </a:solidFill>
              <a:ln w="19050">
                <a:solidFill>
                  <a:srgbClr val="F28C28"/>
                </a:solidFill>
              </a:ln>
            </p:spPr>
            <p:txBody>
              <a:bodyPr rtlCol="0" anchor="ctr"/>
              <a:lstStyle/>
              <a:p>
                <a:pPr algn="ctr"/>
                <a:endParaRPr/>
              </a:p>
            </p:txBody>
          </p:sp>
          <p:sp>
            <p:nvSpPr>
              <p:cNvPr id="8" name="Rectangle 7"/>
              <p:cNvSpPr/>
              <p:nvPr/>
            </p:nvSpPr>
            <p:spPr>
              <a:xfrm>
                <a:off x="1033272" y="2324405"/>
                <a:ext cx="1682496" cy="442570"/>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9" name="Connector 8"/>
              <p:cNvCxnSpPr/>
              <p:nvPr/>
            </p:nvCxnSpPr>
            <p:spPr>
              <a:xfrm>
                <a:off x="1453896" y="2324405"/>
                <a:ext cx="0" cy="442569"/>
              </a:xfrm>
              <a:prstGeom prst="line">
                <a:avLst/>
              </a:prstGeom>
              <a:ln w="12700">
                <a:solidFill>
                  <a:srgbClr val="E8E8E8"/>
                </a:solidFill>
              </a:ln>
            </p:spPr>
          </p:cxnSp>
          <p:cxnSp>
            <p:nvCxnSpPr>
              <p:cNvPr id="10" name="Connector 9"/>
              <p:cNvCxnSpPr/>
              <p:nvPr/>
            </p:nvCxnSpPr>
            <p:spPr>
              <a:xfrm>
                <a:off x="1874520" y="2324405"/>
                <a:ext cx="0" cy="442569"/>
              </a:xfrm>
              <a:prstGeom prst="line">
                <a:avLst/>
              </a:prstGeom>
              <a:ln w="12700">
                <a:solidFill>
                  <a:srgbClr val="E8E8E8"/>
                </a:solidFill>
              </a:ln>
            </p:spPr>
          </p:cxnSp>
          <p:cxnSp>
            <p:nvCxnSpPr>
              <p:cNvPr id="11" name="Connector 10"/>
              <p:cNvCxnSpPr/>
              <p:nvPr/>
            </p:nvCxnSpPr>
            <p:spPr>
              <a:xfrm>
                <a:off x="2295144" y="2324405"/>
                <a:ext cx="0" cy="442569"/>
              </a:xfrm>
              <a:prstGeom prst="line">
                <a:avLst/>
              </a:prstGeom>
              <a:ln w="12700">
                <a:solidFill>
                  <a:srgbClr val="E8E8E8"/>
                </a:solidFill>
              </a:ln>
            </p:spPr>
          </p:cxnSp>
          <p:sp>
            <p:nvSpPr>
              <p:cNvPr id="12" name="Rectangle 11"/>
              <p:cNvSpPr/>
              <p:nvPr/>
            </p:nvSpPr>
            <p:spPr>
              <a:xfrm>
                <a:off x="1706270" y="3008376"/>
                <a:ext cx="336499" cy="603504"/>
              </a:xfrm>
              <a:prstGeom prst="rect">
                <a:avLst/>
              </a:prstGeom>
              <a:solidFill>
                <a:srgbClr val="1B1D21"/>
              </a:solidFill>
              <a:ln w="12700">
                <a:solidFill>
                  <a:srgbClr val="9AA0A6"/>
                </a:solidFill>
              </a:ln>
            </p:spPr>
            <p:txBody>
              <a:bodyPr rtlCol="0" anchor="ctr"/>
              <a:lstStyle/>
              <a:p>
                <a:pPr algn="ctr"/>
                <a:endParaRPr/>
              </a:p>
            </p:txBody>
          </p:sp>
        </p:grpSp>
        <p:grpSp>
          <p:nvGrpSpPr>
            <p:cNvPr id="13" name="Signal box (right)" descr="A small signal box building."/>
            <p:cNvGrpSpPr/>
            <p:nvPr/>
          </p:nvGrpSpPr>
          <p:grpSpPr>
            <a:xfrm>
              <a:off x="9162288" y="1600200"/>
              <a:ext cx="2249424" cy="2011680"/>
              <a:chOff x="9162288" y="1600200"/>
              <a:chExt cx="2249424" cy="2011680"/>
            </a:xfrm>
          </p:grpSpPr>
          <p:sp>
            <p:nvSpPr>
              <p:cNvPr id="14" name="Rectangle 13"/>
              <p:cNvSpPr/>
              <p:nvPr/>
            </p:nvSpPr>
            <p:spPr>
              <a:xfrm>
                <a:off x="9235440" y="2042770"/>
                <a:ext cx="2103120" cy="1569110"/>
              </a:xfrm>
              <a:prstGeom prst="rect">
                <a:avLst/>
              </a:prstGeom>
              <a:solidFill>
                <a:srgbClr val="343A43"/>
              </a:solidFill>
              <a:ln w="19050">
                <a:solidFill>
                  <a:srgbClr val="F28C28"/>
                </a:solidFill>
              </a:ln>
            </p:spPr>
            <p:txBody>
              <a:bodyPr rtlCol="0" anchor="ctr"/>
              <a:lstStyle/>
              <a:p>
                <a:pPr algn="ctr"/>
                <a:endParaRPr/>
              </a:p>
            </p:txBody>
          </p:sp>
          <p:sp>
            <p:nvSpPr>
              <p:cNvPr id="15" name="Freeform 14"/>
              <p:cNvSpPr/>
              <p:nvPr/>
            </p:nvSpPr>
            <p:spPr>
              <a:xfrm>
                <a:off x="9162288" y="1600200"/>
                <a:ext cx="2249424" cy="482803"/>
              </a:xfrm>
              <a:custGeom>
                <a:avLst/>
                <a:gdLst/>
                <a:ahLst/>
                <a:cxnLst/>
                <a:rect l="l" t="t" r="r" b="b"/>
                <a:pathLst>
                  <a:path w="2249424" h="482803">
                    <a:moveTo>
                      <a:pt x="0" y="482803"/>
                    </a:moveTo>
                    <a:lnTo>
                      <a:pt x="1124712" y="0"/>
                    </a:lnTo>
                    <a:lnTo>
                      <a:pt x="2249424" y="482803"/>
                    </a:lnTo>
                    <a:close/>
                  </a:path>
                </a:pathLst>
              </a:custGeom>
              <a:solidFill>
                <a:srgbClr val="4A515B"/>
              </a:solidFill>
              <a:ln w="19050">
                <a:solidFill>
                  <a:srgbClr val="F28C28"/>
                </a:solidFill>
              </a:ln>
            </p:spPr>
            <p:txBody>
              <a:bodyPr rtlCol="0" anchor="ctr"/>
              <a:lstStyle/>
              <a:p>
                <a:pPr algn="ctr"/>
                <a:endParaRPr/>
              </a:p>
            </p:txBody>
          </p:sp>
          <p:sp>
            <p:nvSpPr>
              <p:cNvPr id="16" name="Rectangle 15"/>
              <p:cNvSpPr/>
              <p:nvPr/>
            </p:nvSpPr>
            <p:spPr>
              <a:xfrm>
                <a:off x="9445752" y="2324405"/>
                <a:ext cx="1682496" cy="442570"/>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17" name="Connector 16"/>
              <p:cNvCxnSpPr/>
              <p:nvPr/>
            </p:nvCxnSpPr>
            <p:spPr>
              <a:xfrm>
                <a:off x="9866376" y="2324405"/>
                <a:ext cx="0" cy="442569"/>
              </a:xfrm>
              <a:prstGeom prst="line">
                <a:avLst/>
              </a:prstGeom>
              <a:ln w="12700">
                <a:solidFill>
                  <a:srgbClr val="E8E8E8"/>
                </a:solidFill>
              </a:ln>
            </p:spPr>
          </p:cxnSp>
          <p:cxnSp>
            <p:nvCxnSpPr>
              <p:cNvPr id="18" name="Connector 17"/>
              <p:cNvCxnSpPr/>
              <p:nvPr/>
            </p:nvCxnSpPr>
            <p:spPr>
              <a:xfrm>
                <a:off x="10287000" y="2324405"/>
                <a:ext cx="0" cy="442569"/>
              </a:xfrm>
              <a:prstGeom prst="line">
                <a:avLst/>
              </a:prstGeom>
              <a:ln w="12700">
                <a:solidFill>
                  <a:srgbClr val="E8E8E8"/>
                </a:solidFill>
              </a:ln>
            </p:spPr>
          </p:cxnSp>
          <p:cxnSp>
            <p:nvCxnSpPr>
              <p:cNvPr id="19" name="Connector 18"/>
              <p:cNvCxnSpPr/>
              <p:nvPr/>
            </p:nvCxnSpPr>
            <p:spPr>
              <a:xfrm>
                <a:off x="10707624" y="2324405"/>
                <a:ext cx="0" cy="442569"/>
              </a:xfrm>
              <a:prstGeom prst="line">
                <a:avLst/>
              </a:prstGeom>
              <a:ln w="12700">
                <a:solidFill>
                  <a:srgbClr val="E8E8E8"/>
                </a:solidFill>
              </a:ln>
            </p:spPr>
          </p:cxnSp>
          <p:sp>
            <p:nvSpPr>
              <p:cNvPr id="20" name="Rectangle 19"/>
              <p:cNvSpPr/>
              <p:nvPr/>
            </p:nvSpPr>
            <p:spPr>
              <a:xfrm>
                <a:off x="10118750" y="3008376"/>
                <a:ext cx="336499" cy="603504"/>
              </a:xfrm>
              <a:prstGeom prst="rect">
                <a:avLst/>
              </a:prstGeom>
              <a:solidFill>
                <a:srgbClr val="1B1D21"/>
              </a:solidFill>
              <a:ln w="12700">
                <a:solidFill>
                  <a:srgbClr val="9AA0A6"/>
                </a:solidFill>
              </a:ln>
            </p:spPr>
            <p:txBody>
              <a:bodyPr rtlCol="0" anchor="ctr"/>
              <a:lstStyle/>
              <a:p>
                <a:pPr algn="ctr"/>
                <a:endParaRPr/>
              </a:p>
            </p:txBody>
          </p:sp>
        </p:grpSp>
        <p:cxnSp>
          <p:nvCxnSpPr>
            <p:cNvPr id="21" name="Connector 20"/>
            <p:cNvCxnSpPr/>
            <p:nvPr/>
          </p:nvCxnSpPr>
          <p:spPr>
            <a:xfrm>
              <a:off x="3108960" y="2697480"/>
              <a:ext cx="5943600" cy="0"/>
            </a:xfrm>
            <a:prstGeom prst="line">
              <a:avLst/>
            </a:prstGeom>
            <a:ln w="28575">
              <a:solidFill>
                <a:srgbClr val="F28C28"/>
              </a:solidFill>
              <a:prstDash val="dash"/>
              <a:headEnd type="triangle" w="med" len="med"/>
              <a:tailEnd type="triangle" w="med" len="med"/>
            </a:ln>
          </p:spPr>
        </p:cxnSp>
        <p:sp>
          <p:nvSpPr>
            <p:cNvPr id="22" name="TextBox 21"/>
            <p:cNvSpPr txBox="1"/>
            <p:nvPr/>
          </p:nvSpPr>
          <p:spPr>
            <a:xfrm>
              <a:off x="4727448" y="2194560"/>
              <a:ext cx="2743200" cy="411480"/>
            </a:xfrm>
            <a:prstGeom prst="rect">
              <a:avLst/>
            </a:prstGeom>
            <a:noFill/>
          </p:spPr>
          <p:txBody>
            <a:bodyPr wrap="square" lIns="18288" tIns="18288" rIns="18288" bIns="18288" anchor="ctr">
              <a:noAutofit/>
            </a:bodyPr>
            <a:lstStyle/>
            <a:p>
              <a:pPr algn="ctr"/>
              <a:r>
                <a:rPr lang="en-GB" sz="1800" b="1" i="0">
                  <a:solidFill>
                    <a:srgbClr val="F28C28"/>
                  </a:solidFill>
                  <a:latin typeface="Arial"/>
                </a:rPr>
                <a:t>Bell codes</a:t>
              </a:r>
            </a:p>
          </p:txBody>
        </p:sp>
        <p:sp>
          <p:nvSpPr>
            <p:cNvPr id="23" name="Block instrument"/>
            <p:cNvSpPr/>
            <p:nvPr/>
          </p:nvSpPr>
          <p:spPr>
            <a:xfrm>
              <a:off x="3355848" y="3291840"/>
              <a:ext cx="5486400" cy="1234440"/>
            </a:xfrm>
            <a:prstGeom prst="roundRect">
              <a:avLst>
                <a:gd name="adj" fmla="val 8888"/>
              </a:avLst>
            </a:prstGeom>
            <a:solidFill>
              <a:srgbClr val="2B2F36"/>
            </a:solidFill>
            <a:ln w="25400">
              <a:solidFill>
                <a:srgbClr val="9AA0A6"/>
              </a:solidFill>
            </a:ln>
          </p:spPr>
          <p:txBody>
            <a:bodyPr rtlCol="0" anchor="ctr"/>
            <a:lstStyle/>
            <a:p>
              <a:pPr algn="ctr"/>
              <a:endParaRPr/>
            </a:p>
          </p:txBody>
        </p:sp>
        <p:sp>
          <p:nvSpPr>
            <p:cNvPr id="24" name="Position: Normal"/>
            <p:cNvSpPr/>
            <p:nvPr/>
          </p:nvSpPr>
          <p:spPr>
            <a:xfrm>
              <a:off x="3493008" y="3474720"/>
              <a:ext cx="1691640" cy="868680"/>
            </a:xfrm>
            <a:prstGeom prst="roundRect">
              <a:avLst>
                <a:gd name="adj" fmla="val 8421"/>
              </a:avLst>
            </a:prstGeom>
            <a:solidFill>
              <a:srgbClr val="343A43"/>
            </a:solidFill>
            <a:ln w="25400">
              <a:solidFill>
                <a:srgbClr val="4A515B"/>
              </a:solidFill>
            </a:ln>
          </p:spPr>
          <p:txBody>
            <a:bodyPr wrap="square" lIns="27432" tIns="0" rIns="27432" bIns="0" rtlCol="0" anchor="ctr">
              <a:noAutofit/>
            </a:bodyPr>
            <a:lstStyle/>
            <a:p>
              <a:pPr algn="ctr"/>
              <a:r>
                <a:rPr lang="en-GB" sz="1600" b="1" i="0">
                  <a:solidFill>
                    <a:srgbClr val="F2F2F2"/>
                  </a:solidFill>
                  <a:latin typeface="Arial"/>
                </a:rPr>
                <a:t>Normal</a:t>
              </a:r>
            </a:p>
          </p:txBody>
        </p:sp>
        <p:sp>
          <p:nvSpPr>
            <p:cNvPr id="25" name="Position: Line clear"/>
            <p:cNvSpPr/>
            <p:nvPr/>
          </p:nvSpPr>
          <p:spPr>
            <a:xfrm>
              <a:off x="5276088" y="3474720"/>
              <a:ext cx="1691640" cy="868680"/>
            </a:xfrm>
            <a:prstGeom prst="roundRect">
              <a:avLst>
                <a:gd name="adj" fmla="val 8421"/>
              </a:avLst>
            </a:prstGeom>
            <a:solidFill>
              <a:srgbClr val="F28C28"/>
            </a:solidFill>
            <a:ln w="25400">
              <a:solidFill>
                <a:srgbClr val="F28C28"/>
              </a:solidFill>
            </a:ln>
          </p:spPr>
          <p:txBody>
            <a:bodyPr wrap="square" lIns="27432" tIns="0" rIns="27432" bIns="0" rtlCol="0" anchor="ctr">
              <a:noAutofit/>
            </a:bodyPr>
            <a:lstStyle/>
            <a:p>
              <a:pPr algn="ctr"/>
              <a:r>
                <a:rPr lang="en-GB" sz="1600" b="1" i="0">
                  <a:solidFill>
                    <a:srgbClr val="101418"/>
                  </a:solidFill>
                  <a:latin typeface="Arial"/>
                </a:rPr>
                <a:t>Line clear</a:t>
              </a:r>
            </a:p>
          </p:txBody>
        </p:sp>
        <p:sp>
          <p:nvSpPr>
            <p:cNvPr id="26" name="Position: Train on line"/>
            <p:cNvSpPr/>
            <p:nvPr/>
          </p:nvSpPr>
          <p:spPr>
            <a:xfrm>
              <a:off x="7059168" y="3474720"/>
              <a:ext cx="1691640" cy="868680"/>
            </a:xfrm>
            <a:prstGeom prst="roundRect">
              <a:avLst>
                <a:gd name="adj" fmla="val 8421"/>
              </a:avLst>
            </a:prstGeom>
            <a:solidFill>
              <a:srgbClr val="343A43"/>
            </a:solidFill>
            <a:ln w="25400">
              <a:solidFill>
                <a:srgbClr val="4A515B"/>
              </a:solidFill>
            </a:ln>
          </p:spPr>
          <p:txBody>
            <a:bodyPr wrap="square" lIns="27432" tIns="0" rIns="27432" bIns="0" rtlCol="0" anchor="ctr">
              <a:noAutofit/>
            </a:bodyPr>
            <a:lstStyle/>
            <a:p>
              <a:pPr algn="ctr"/>
              <a:r>
                <a:rPr lang="en-GB" sz="1600" b="1" i="0">
                  <a:solidFill>
                    <a:srgbClr val="F2F2F2"/>
                  </a:solidFill>
                  <a:latin typeface="Arial"/>
                </a:rPr>
                <a:t>Train on line</a:t>
              </a:r>
            </a:p>
          </p:txBody>
        </p:sp>
        <p:sp>
          <p:nvSpPr>
            <p:cNvPr id="27" name="Freeform 26"/>
            <p:cNvSpPr/>
            <p:nvPr/>
          </p:nvSpPr>
          <p:spPr>
            <a:xfrm>
              <a:off x="5961888" y="3310128"/>
              <a:ext cx="274320" cy="164592"/>
            </a:xfrm>
            <a:custGeom>
              <a:avLst/>
              <a:gdLst/>
              <a:ahLst/>
              <a:cxnLst/>
              <a:rect l="l" t="t" r="r" b="b"/>
              <a:pathLst>
                <a:path w="274320" h="164592">
                  <a:moveTo>
                    <a:pt x="0" y="0"/>
                  </a:moveTo>
                  <a:lnTo>
                    <a:pt x="274320" y="0"/>
                  </a:lnTo>
                  <a:lnTo>
                    <a:pt x="137160" y="164592"/>
                  </a:lnTo>
                  <a:close/>
                </a:path>
              </a:pathLst>
            </a:custGeom>
            <a:solidFill>
              <a:srgbClr val="F28C28"/>
            </a:solidFill>
            <a:ln>
              <a:noFill/>
            </a:ln>
          </p:spPr>
          <p:txBody>
            <a:bodyPr rtlCol="0" anchor="ctr"/>
            <a:lstStyle/>
            <a:p>
              <a:pPr algn="ctr"/>
              <a:endParaRPr/>
            </a:p>
          </p:txBody>
        </p:sp>
        <p:sp>
          <p:nvSpPr>
            <p:cNvPr id="28" name="TextBox 27"/>
            <p:cNvSpPr txBox="1"/>
            <p:nvPr/>
          </p:nvSpPr>
          <p:spPr>
            <a:xfrm>
              <a:off x="3355848" y="4663440"/>
              <a:ext cx="5486400" cy="365760"/>
            </a:xfrm>
            <a:prstGeom prst="rect">
              <a:avLst/>
            </a:prstGeom>
            <a:noFill/>
          </p:spPr>
          <p:txBody>
            <a:bodyPr wrap="square" lIns="18288" tIns="18288" rIns="18288" bIns="18288" anchor="ctr">
              <a:noAutofit/>
            </a:bodyPr>
            <a:lstStyle/>
            <a:p>
              <a:pPr algn="ctr"/>
              <a:r>
                <a:rPr lang="en-GB" sz="1600" b="1" i="0">
                  <a:solidFill>
                    <a:srgbClr val="A9B0B8"/>
                  </a:solidFill>
                  <a:latin typeface="Arial"/>
                </a:rPr>
                <a:t>Example: British absolute block</a:t>
              </a:r>
            </a:p>
          </p:txBody>
        </p:sp>
      </p:grpSp>
      <p:sp>
        <p:nvSpPr>
          <p:cNvPr id="29"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Neighbouring boxes ask each other: is the line clear?</a:t>
            </a:r>
          </a:p>
        </p:txBody>
      </p:sp>
      <p:sp>
        <p:nvSpPr>
          <p:cNvPr id="30"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31"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13</a:t>
            </a:r>
          </a:p>
        </p:txBody>
      </p:sp>
    </p:spTree>
    <p:extLst>
      <p:ext uri="{BB962C8B-B14F-4D97-AF65-F5344CB8AC3E}">
        <p14:creationId xmlns:p14="http://schemas.microsoft.com/office/powerpoint/2010/main" val="38153695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All together on a real railway</a:t>
            </a:r>
          </a:p>
        </p:txBody>
      </p:sp>
      <p:sp>
        <p:nvSpPr>
          <p:cNvPr id="3" name="Chip: Background" descr="Status tag: Background"/>
          <p:cNvSpPr/>
          <p:nvPr/>
        </p:nvSpPr>
        <p:spPr>
          <a:xfrm>
            <a:off x="10104120" y="457200"/>
            <a:ext cx="1508760" cy="365760"/>
          </a:xfrm>
          <a:prstGeom prst="roundRect">
            <a:avLst>
              <a:gd name="adj" fmla="val 20000"/>
            </a:avLst>
          </a:prstGeom>
          <a:solidFill>
            <a:srgbClr val="4A515B"/>
          </a:solidFill>
          <a:ln>
            <a:noFill/>
          </a:ln>
        </p:spPr>
        <p:txBody>
          <a:bodyPr wrap="none" lIns="27432" tIns="9144" rIns="27432" bIns="9144" rtlCol="0" anchor="ctr">
            <a:noAutofit/>
          </a:bodyPr>
          <a:lstStyle/>
          <a:p>
            <a:pPr algn="ctr"/>
            <a:r>
              <a:rPr lang="en-GB" sz="1400" b="1" i="0">
                <a:solidFill>
                  <a:srgbClr val="F2F2F2"/>
                </a:solidFill>
                <a:latin typeface="Arial"/>
              </a:rPr>
              <a:t>BACKGROUND</a:t>
            </a:r>
          </a:p>
        </p:txBody>
      </p:sp>
      <p:grpSp>
        <p:nvGrpSpPr>
          <p:cNvPr id="4" name="A real railway with signals" descr="A track with three blocks. A signal box at the top left, with levers and a signaller, works three signals through dashed rods with counterweights. A locomotive and wagons sit in block 2, so the signal before it shows stop. A second box at the far right is joined by bell codes. Four steps below explain the order of events."/>
          <p:cNvGrpSpPr/>
          <p:nvPr/>
        </p:nvGrpSpPr>
        <p:grpSpPr>
          <a:xfrm>
            <a:off x="548640" y="1371600"/>
            <a:ext cx="11137392" cy="4297680"/>
            <a:chOff x="548640" y="1371600"/>
            <a:chExt cx="11137392" cy="4297680"/>
          </a:xfrm>
        </p:grpSpPr>
        <p:grpSp>
          <p:nvGrpSpPr>
            <p:cNvPr id="5" name="Track" descr="Two rails on sleepers."/>
            <p:cNvGrpSpPr/>
            <p:nvPr/>
          </p:nvGrpSpPr>
          <p:grpSpPr>
            <a:xfrm>
              <a:off x="731520" y="3602736"/>
              <a:ext cx="10698480" cy="365760"/>
              <a:chOff x="731520" y="3602736"/>
              <a:chExt cx="10698480" cy="365760"/>
            </a:xfrm>
          </p:grpSpPr>
          <p:sp>
            <p:nvSpPr>
              <p:cNvPr id="6" name="Rectangle 5"/>
              <p:cNvSpPr/>
              <p:nvPr/>
            </p:nvSpPr>
            <p:spPr>
              <a:xfrm>
                <a:off x="932688" y="3602736"/>
                <a:ext cx="54864" cy="365760"/>
              </a:xfrm>
              <a:prstGeom prst="rect">
                <a:avLst/>
              </a:prstGeom>
              <a:solidFill>
                <a:srgbClr val="6B5B4B"/>
              </a:solidFill>
              <a:ln>
                <a:noFill/>
              </a:ln>
            </p:spPr>
            <p:txBody>
              <a:bodyPr rtlCol="0" anchor="ctr"/>
              <a:lstStyle/>
              <a:p>
                <a:pPr algn="ctr"/>
                <a:endParaRPr/>
              </a:p>
            </p:txBody>
          </p:sp>
          <p:sp>
            <p:nvSpPr>
              <p:cNvPr id="7" name="Rectangle 6"/>
              <p:cNvSpPr/>
              <p:nvPr/>
            </p:nvSpPr>
            <p:spPr>
              <a:xfrm>
                <a:off x="1252728" y="3602736"/>
                <a:ext cx="54864" cy="365760"/>
              </a:xfrm>
              <a:prstGeom prst="rect">
                <a:avLst/>
              </a:prstGeom>
              <a:solidFill>
                <a:srgbClr val="6B5B4B"/>
              </a:solidFill>
              <a:ln>
                <a:noFill/>
              </a:ln>
            </p:spPr>
            <p:txBody>
              <a:bodyPr rtlCol="0" anchor="ctr"/>
              <a:lstStyle/>
              <a:p>
                <a:pPr algn="ctr"/>
                <a:endParaRPr/>
              </a:p>
            </p:txBody>
          </p:sp>
          <p:sp>
            <p:nvSpPr>
              <p:cNvPr id="8" name="Rectangle 7"/>
              <p:cNvSpPr/>
              <p:nvPr/>
            </p:nvSpPr>
            <p:spPr>
              <a:xfrm>
                <a:off x="1572768" y="3602736"/>
                <a:ext cx="54864" cy="365760"/>
              </a:xfrm>
              <a:prstGeom prst="rect">
                <a:avLst/>
              </a:prstGeom>
              <a:solidFill>
                <a:srgbClr val="6B5B4B"/>
              </a:solidFill>
              <a:ln>
                <a:noFill/>
              </a:ln>
            </p:spPr>
            <p:txBody>
              <a:bodyPr rtlCol="0" anchor="ctr"/>
              <a:lstStyle/>
              <a:p>
                <a:pPr algn="ctr"/>
                <a:endParaRPr/>
              </a:p>
            </p:txBody>
          </p:sp>
          <p:sp>
            <p:nvSpPr>
              <p:cNvPr id="9" name="Rectangle 8"/>
              <p:cNvSpPr/>
              <p:nvPr/>
            </p:nvSpPr>
            <p:spPr>
              <a:xfrm>
                <a:off x="1892808" y="3602736"/>
                <a:ext cx="54864" cy="365760"/>
              </a:xfrm>
              <a:prstGeom prst="rect">
                <a:avLst/>
              </a:prstGeom>
              <a:solidFill>
                <a:srgbClr val="6B5B4B"/>
              </a:solidFill>
              <a:ln>
                <a:noFill/>
              </a:ln>
            </p:spPr>
            <p:txBody>
              <a:bodyPr rtlCol="0" anchor="ctr"/>
              <a:lstStyle/>
              <a:p>
                <a:pPr algn="ctr"/>
                <a:endParaRPr/>
              </a:p>
            </p:txBody>
          </p:sp>
          <p:sp>
            <p:nvSpPr>
              <p:cNvPr id="10" name="Rectangle 9"/>
              <p:cNvSpPr/>
              <p:nvPr/>
            </p:nvSpPr>
            <p:spPr>
              <a:xfrm>
                <a:off x="2212848" y="3602736"/>
                <a:ext cx="54864" cy="365760"/>
              </a:xfrm>
              <a:prstGeom prst="rect">
                <a:avLst/>
              </a:prstGeom>
              <a:solidFill>
                <a:srgbClr val="6B5B4B"/>
              </a:solidFill>
              <a:ln>
                <a:noFill/>
              </a:ln>
            </p:spPr>
            <p:txBody>
              <a:bodyPr rtlCol="0" anchor="ctr"/>
              <a:lstStyle/>
              <a:p>
                <a:pPr algn="ctr"/>
                <a:endParaRPr/>
              </a:p>
            </p:txBody>
          </p:sp>
          <p:sp>
            <p:nvSpPr>
              <p:cNvPr id="11" name="Rectangle 10"/>
              <p:cNvSpPr/>
              <p:nvPr/>
            </p:nvSpPr>
            <p:spPr>
              <a:xfrm>
                <a:off x="2532888" y="3602736"/>
                <a:ext cx="54864" cy="365760"/>
              </a:xfrm>
              <a:prstGeom prst="rect">
                <a:avLst/>
              </a:prstGeom>
              <a:solidFill>
                <a:srgbClr val="6B5B4B"/>
              </a:solidFill>
              <a:ln>
                <a:noFill/>
              </a:ln>
            </p:spPr>
            <p:txBody>
              <a:bodyPr rtlCol="0" anchor="ctr"/>
              <a:lstStyle/>
              <a:p>
                <a:pPr algn="ctr"/>
                <a:endParaRPr/>
              </a:p>
            </p:txBody>
          </p:sp>
          <p:sp>
            <p:nvSpPr>
              <p:cNvPr id="12" name="Rectangle 11"/>
              <p:cNvSpPr/>
              <p:nvPr/>
            </p:nvSpPr>
            <p:spPr>
              <a:xfrm>
                <a:off x="2852928" y="3602736"/>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3172968" y="3602736"/>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3493008" y="3602736"/>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3813048" y="3602736"/>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4133088" y="3602736"/>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4453128" y="3602736"/>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4773168" y="360273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5093208" y="360273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5413248" y="360273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5733288" y="360273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6053328" y="3602736"/>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6373368" y="3602736"/>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6693408" y="3602736"/>
                <a:ext cx="54864" cy="365760"/>
              </a:xfrm>
              <a:prstGeom prst="rect">
                <a:avLst/>
              </a:prstGeom>
              <a:solidFill>
                <a:srgbClr val="6B5B4B"/>
              </a:solidFill>
              <a:ln>
                <a:noFill/>
              </a:ln>
            </p:spPr>
            <p:txBody>
              <a:bodyPr rtlCol="0" anchor="ctr"/>
              <a:lstStyle/>
              <a:p>
                <a:pPr algn="ctr"/>
                <a:endParaRPr/>
              </a:p>
            </p:txBody>
          </p:sp>
          <p:sp>
            <p:nvSpPr>
              <p:cNvPr id="25" name="Rectangle 24"/>
              <p:cNvSpPr/>
              <p:nvPr/>
            </p:nvSpPr>
            <p:spPr>
              <a:xfrm>
                <a:off x="7013448" y="3602736"/>
                <a:ext cx="54864" cy="365760"/>
              </a:xfrm>
              <a:prstGeom prst="rect">
                <a:avLst/>
              </a:prstGeom>
              <a:solidFill>
                <a:srgbClr val="6B5B4B"/>
              </a:solidFill>
              <a:ln>
                <a:noFill/>
              </a:ln>
            </p:spPr>
            <p:txBody>
              <a:bodyPr rtlCol="0" anchor="ctr"/>
              <a:lstStyle/>
              <a:p>
                <a:pPr algn="ctr"/>
                <a:endParaRPr/>
              </a:p>
            </p:txBody>
          </p:sp>
          <p:sp>
            <p:nvSpPr>
              <p:cNvPr id="26" name="Rectangle 25"/>
              <p:cNvSpPr/>
              <p:nvPr/>
            </p:nvSpPr>
            <p:spPr>
              <a:xfrm>
                <a:off x="7333488" y="3602736"/>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7653528" y="3602736"/>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7973568" y="3602736"/>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8293608" y="3602736"/>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8613648" y="3602736"/>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8933688" y="360273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9253728" y="360273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9573768" y="360273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9893808" y="360273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10213848" y="360273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10533888" y="360273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10853928" y="360273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11173968" y="360273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731520" y="3657600"/>
                <a:ext cx="10698480" cy="54864"/>
              </a:xfrm>
              <a:prstGeom prst="rect">
                <a:avLst/>
              </a:prstGeom>
              <a:solidFill>
                <a:srgbClr val="9AA0A6"/>
              </a:solidFill>
              <a:ln>
                <a:noFill/>
              </a:ln>
            </p:spPr>
            <p:txBody>
              <a:bodyPr rtlCol="0" anchor="ctr"/>
              <a:lstStyle/>
              <a:p>
                <a:pPr algn="ctr"/>
                <a:endParaRPr/>
              </a:p>
            </p:txBody>
          </p:sp>
          <p:sp>
            <p:nvSpPr>
              <p:cNvPr id="40" name="Rectangle 39"/>
              <p:cNvSpPr/>
              <p:nvPr/>
            </p:nvSpPr>
            <p:spPr>
              <a:xfrm>
                <a:off x="731520" y="3913632"/>
                <a:ext cx="10698480" cy="54864"/>
              </a:xfrm>
              <a:prstGeom prst="rect">
                <a:avLst/>
              </a:prstGeom>
              <a:solidFill>
                <a:srgbClr val="9AA0A6"/>
              </a:solidFill>
              <a:ln>
                <a:noFill/>
              </a:ln>
            </p:spPr>
            <p:txBody>
              <a:bodyPr rtlCol="0" anchor="ctr"/>
              <a:lstStyle/>
              <a:p>
                <a:pPr algn="ctr"/>
                <a:endParaRPr/>
              </a:p>
            </p:txBody>
          </p:sp>
        </p:grpSp>
        <p:sp>
          <p:nvSpPr>
            <p:cNvPr id="41" name="Block band (free)"/>
            <p:cNvSpPr/>
            <p:nvPr/>
          </p:nvSpPr>
          <p:spPr>
            <a:xfrm>
              <a:off x="768096" y="4187952"/>
              <a:ext cx="376732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600" b="1" i="0">
                  <a:solidFill>
                    <a:srgbClr val="F2F2F2"/>
                  </a:solidFill>
                  <a:latin typeface="Arial"/>
                </a:rPr>
                <a:t>Free</a:t>
              </a:r>
            </a:p>
          </p:txBody>
        </p:sp>
        <p:sp>
          <p:nvSpPr>
            <p:cNvPr id="42" name="Block band (occupied)"/>
            <p:cNvSpPr/>
            <p:nvPr/>
          </p:nvSpPr>
          <p:spPr>
            <a:xfrm>
              <a:off x="4608576" y="4187952"/>
              <a:ext cx="2670048" cy="365760"/>
            </a:xfrm>
            <a:prstGeom prst="rect">
              <a:avLst/>
            </a:prstGeom>
            <a:solidFill>
              <a:srgbClr val="E5484D">
                <a:alpha val="25000"/>
              </a:srgbClr>
            </a:solidFill>
            <a:ln w="12700">
              <a:solidFill>
                <a:srgbClr val="E5484D"/>
              </a:solidFill>
            </a:ln>
          </p:spPr>
          <p:txBody>
            <a:bodyPr wrap="square" lIns="27432" tIns="0" rIns="27432" bIns="0" rtlCol="0" anchor="ctr">
              <a:noAutofit/>
            </a:bodyPr>
            <a:lstStyle/>
            <a:p>
              <a:pPr algn="ctr"/>
              <a:r>
                <a:rPr lang="en-GB" sz="1600" b="1" i="0">
                  <a:solidFill>
                    <a:srgbClr val="F2F2F2"/>
                  </a:solidFill>
                  <a:latin typeface="Arial"/>
                </a:rPr>
                <a:t>Occupied</a:t>
              </a:r>
            </a:p>
          </p:txBody>
        </p:sp>
        <p:sp>
          <p:nvSpPr>
            <p:cNvPr id="43" name="Block band (free)"/>
            <p:cNvSpPr/>
            <p:nvPr/>
          </p:nvSpPr>
          <p:spPr>
            <a:xfrm>
              <a:off x="7351776" y="4187952"/>
              <a:ext cx="267004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600" b="1" i="0">
                  <a:solidFill>
                    <a:srgbClr val="F2F2F2"/>
                  </a:solidFill>
                  <a:latin typeface="Arial"/>
                </a:rPr>
                <a:t>Free</a:t>
              </a:r>
            </a:p>
          </p:txBody>
        </p:sp>
        <p:grpSp>
          <p:nvGrpSpPr>
            <p:cNvPr id="44" name="Train" descr="A steam locomotive with wagons."/>
            <p:cNvGrpSpPr/>
            <p:nvPr/>
          </p:nvGrpSpPr>
          <p:grpSpPr>
            <a:xfrm>
              <a:off x="4937760" y="2999232"/>
              <a:ext cx="2018995" cy="738835"/>
              <a:chOff x="4937760" y="2999232"/>
              <a:chExt cx="2018995" cy="738835"/>
            </a:xfrm>
          </p:grpSpPr>
          <p:sp>
            <p:nvSpPr>
              <p:cNvPr id="45" name="Rounded Rectangle 44"/>
              <p:cNvSpPr/>
              <p:nvPr/>
            </p:nvSpPr>
            <p:spPr>
              <a:xfrm>
                <a:off x="4937760" y="3277210"/>
                <a:ext cx="585216" cy="329184"/>
              </a:xfrm>
              <a:prstGeom prst="roundRect">
                <a:avLst>
                  <a:gd name="adj" fmla="val 8333"/>
                </a:avLst>
              </a:prstGeom>
              <a:solidFill>
                <a:srgbClr val="6C7480"/>
              </a:solidFill>
              <a:ln w="12700">
                <a:solidFill>
                  <a:srgbClr val="9AA0A6"/>
                </a:solidFill>
              </a:ln>
            </p:spPr>
            <p:txBody>
              <a:bodyPr rtlCol="0" anchor="ctr"/>
              <a:lstStyle/>
              <a:p>
                <a:pPr algn="ctr"/>
                <a:endParaRPr/>
              </a:p>
            </p:txBody>
          </p:sp>
          <p:sp>
            <p:nvSpPr>
              <p:cNvPr id="46" name="Oval 45"/>
              <p:cNvSpPr/>
              <p:nvPr/>
            </p:nvSpPr>
            <p:spPr>
              <a:xfrm>
                <a:off x="4993356" y="3584448"/>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47" name="Oval 46"/>
              <p:cNvSpPr/>
              <p:nvPr/>
            </p:nvSpPr>
            <p:spPr>
              <a:xfrm>
                <a:off x="5321076" y="3584448"/>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48" name="Rounded Rectangle 47"/>
              <p:cNvSpPr/>
              <p:nvPr/>
            </p:nvSpPr>
            <p:spPr>
              <a:xfrm>
                <a:off x="5581498" y="3277210"/>
                <a:ext cx="585216" cy="329184"/>
              </a:xfrm>
              <a:prstGeom prst="roundRect">
                <a:avLst>
                  <a:gd name="adj" fmla="val 8333"/>
                </a:avLst>
              </a:prstGeom>
              <a:solidFill>
                <a:srgbClr val="6C7480"/>
              </a:solidFill>
              <a:ln w="12700">
                <a:solidFill>
                  <a:srgbClr val="9AA0A6"/>
                </a:solidFill>
              </a:ln>
            </p:spPr>
            <p:txBody>
              <a:bodyPr rtlCol="0" anchor="ctr"/>
              <a:lstStyle/>
              <a:p>
                <a:pPr algn="ctr"/>
                <a:endParaRPr/>
              </a:p>
            </p:txBody>
          </p:sp>
          <p:sp>
            <p:nvSpPr>
              <p:cNvPr id="49" name="Oval 48"/>
              <p:cNvSpPr/>
              <p:nvPr/>
            </p:nvSpPr>
            <p:spPr>
              <a:xfrm>
                <a:off x="5637093" y="3584448"/>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50" name="Oval 49"/>
              <p:cNvSpPr/>
              <p:nvPr/>
            </p:nvSpPr>
            <p:spPr>
              <a:xfrm>
                <a:off x="5964814" y="3584448"/>
                <a:ext cx="146304" cy="146304"/>
              </a:xfrm>
              <a:prstGeom prst="ellipse">
                <a:avLst/>
              </a:prstGeom>
              <a:solidFill>
                <a:srgbClr val="1B1D21"/>
              </a:solidFill>
              <a:ln w="12700">
                <a:solidFill>
                  <a:srgbClr val="9AA0A6"/>
                </a:solidFill>
              </a:ln>
            </p:spPr>
            <p:txBody>
              <a:bodyPr rtlCol="0" anchor="ctr"/>
              <a:lstStyle/>
              <a:p>
                <a:pPr algn="ctr"/>
                <a:endParaRPr/>
              </a:p>
            </p:txBody>
          </p:sp>
          <p:sp>
            <p:nvSpPr>
              <p:cNvPr id="51" name="Rounded Rectangle 50"/>
              <p:cNvSpPr/>
              <p:nvPr/>
            </p:nvSpPr>
            <p:spPr>
              <a:xfrm>
                <a:off x="6225235" y="3204058"/>
                <a:ext cx="731520" cy="402336"/>
              </a:xfrm>
              <a:prstGeom prst="roundRect">
                <a:avLst>
                  <a:gd name="adj" fmla="val 18181"/>
                </a:avLst>
              </a:prstGeom>
              <a:solidFill>
                <a:srgbClr val="F28C28"/>
              </a:solidFill>
              <a:ln>
                <a:noFill/>
              </a:ln>
            </p:spPr>
            <p:txBody>
              <a:bodyPr rtlCol="0" anchor="ctr"/>
              <a:lstStyle/>
              <a:p>
                <a:pPr algn="ctr"/>
                <a:endParaRPr/>
              </a:p>
            </p:txBody>
          </p:sp>
          <p:sp>
            <p:nvSpPr>
              <p:cNvPr id="52" name="Rectangle 51"/>
              <p:cNvSpPr/>
              <p:nvPr/>
            </p:nvSpPr>
            <p:spPr>
              <a:xfrm>
                <a:off x="6737299" y="2999232"/>
                <a:ext cx="109728" cy="219456"/>
              </a:xfrm>
              <a:prstGeom prst="rect">
                <a:avLst/>
              </a:prstGeom>
              <a:solidFill>
                <a:srgbClr val="1B1D21"/>
              </a:solidFill>
              <a:ln w="12700">
                <a:solidFill>
                  <a:srgbClr val="6B7078"/>
                </a:solidFill>
              </a:ln>
            </p:spPr>
            <p:txBody>
              <a:bodyPr rtlCol="0" anchor="ctr"/>
              <a:lstStyle/>
              <a:p>
                <a:pPr algn="ctr"/>
                <a:endParaRPr/>
              </a:p>
            </p:txBody>
          </p:sp>
          <p:sp>
            <p:nvSpPr>
              <p:cNvPr id="53" name="Rectangle 52"/>
              <p:cNvSpPr/>
              <p:nvPr/>
            </p:nvSpPr>
            <p:spPr>
              <a:xfrm>
                <a:off x="6261811" y="3218688"/>
                <a:ext cx="204826" cy="219456"/>
              </a:xfrm>
              <a:prstGeom prst="rect">
                <a:avLst/>
              </a:prstGeom>
              <a:solidFill>
                <a:srgbClr val="1B1D21"/>
              </a:solidFill>
              <a:ln w="12700">
                <a:solidFill>
                  <a:srgbClr val="6B7078"/>
                </a:solidFill>
              </a:ln>
            </p:spPr>
            <p:txBody>
              <a:bodyPr rtlCol="0" anchor="ctr"/>
              <a:lstStyle/>
              <a:p>
                <a:pPr algn="ctr"/>
                <a:endParaRPr/>
              </a:p>
            </p:txBody>
          </p:sp>
          <p:sp>
            <p:nvSpPr>
              <p:cNvPr id="54" name="Oval 53"/>
              <p:cNvSpPr/>
              <p:nvPr/>
            </p:nvSpPr>
            <p:spPr>
              <a:xfrm>
                <a:off x="6291072" y="3577133"/>
                <a:ext cx="160934" cy="160934"/>
              </a:xfrm>
              <a:prstGeom prst="ellipse">
                <a:avLst/>
              </a:prstGeom>
              <a:solidFill>
                <a:srgbClr val="1B1D21"/>
              </a:solidFill>
              <a:ln w="12700">
                <a:solidFill>
                  <a:srgbClr val="9AA0A6"/>
                </a:solidFill>
              </a:ln>
            </p:spPr>
            <p:txBody>
              <a:bodyPr rtlCol="0" anchor="ctr"/>
              <a:lstStyle/>
              <a:p>
                <a:pPr algn="ctr"/>
                <a:endParaRPr/>
              </a:p>
            </p:txBody>
          </p:sp>
          <p:sp>
            <p:nvSpPr>
              <p:cNvPr id="55" name="Oval 54"/>
              <p:cNvSpPr/>
              <p:nvPr/>
            </p:nvSpPr>
            <p:spPr>
              <a:xfrm>
                <a:off x="6510528" y="3577133"/>
                <a:ext cx="160934" cy="160934"/>
              </a:xfrm>
              <a:prstGeom prst="ellipse">
                <a:avLst/>
              </a:prstGeom>
              <a:solidFill>
                <a:srgbClr val="1B1D21"/>
              </a:solidFill>
              <a:ln w="12700">
                <a:solidFill>
                  <a:srgbClr val="9AA0A6"/>
                </a:solidFill>
              </a:ln>
            </p:spPr>
            <p:txBody>
              <a:bodyPr rtlCol="0" anchor="ctr"/>
              <a:lstStyle/>
              <a:p>
                <a:pPr algn="ctr"/>
                <a:endParaRPr/>
              </a:p>
            </p:txBody>
          </p:sp>
          <p:sp>
            <p:nvSpPr>
              <p:cNvPr id="56" name="Oval 55"/>
              <p:cNvSpPr/>
              <p:nvPr/>
            </p:nvSpPr>
            <p:spPr>
              <a:xfrm>
                <a:off x="6729984" y="3577133"/>
                <a:ext cx="160934" cy="160934"/>
              </a:xfrm>
              <a:prstGeom prst="ellipse">
                <a:avLst/>
              </a:prstGeom>
              <a:solidFill>
                <a:srgbClr val="1B1D21"/>
              </a:solidFill>
              <a:ln w="12700">
                <a:solidFill>
                  <a:srgbClr val="9AA0A6"/>
                </a:solidFill>
              </a:ln>
            </p:spPr>
            <p:txBody>
              <a:bodyPr rtlCol="0" anchor="ctr"/>
              <a:lstStyle/>
              <a:p>
                <a:pPr algn="ctr"/>
                <a:endParaRPr/>
              </a:p>
            </p:txBody>
          </p:sp>
        </p:grpSp>
        <p:grpSp>
          <p:nvGrpSpPr>
            <p:cNvPr id="57" name="Signal box (main)" descr="A small signal box building."/>
            <p:cNvGrpSpPr/>
            <p:nvPr/>
          </p:nvGrpSpPr>
          <p:grpSpPr>
            <a:xfrm>
              <a:off x="658368" y="1371600"/>
              <a:ext cx="2523744" cy="1645920"/>
              <a:chOff x="658368" y="1371600"/>
              <a:chExt cx="2523744" cy="1645920"/>
            </a:xfrm>
          </p:grpSpPr>
          <p:sp>
            <p:nvSpPr>
              <p:cNvPr id="58" name="Rectangle 57"/>
              <p:cNvSpPr/>
              <p:nvPr/>
            </p:nvSpPr>
            <p:spPr>
              <a:xfrm>
                <a:off x="731520" y="1733702"/>
                <a:ext cx="2377440" cy="1283818"/>
              </a:xfrm>
              <a:prstGeom prst="rect">
                <a:avLst/>
              </a:prstGeom>
              <a:solidFill>
                <a:srgbClr val="343A43"/>
              </a:solidFill>
              <a:ln w="19050">
                <a:solidFill>
                  <a:srgbClr val="F28C28"/>
                </a:solidFill>
              </a:ln>
            </p:spPr>
            <p:txBody>
              <a:bodyPr rtlCol="0" anchor="ctr"/>
              <a:lstStyle/>
              <a:p>
                <a:pPr algn="ctr"/>
                <a:endParaRPr/>
              </a:p>
            </p:txBody>
          </p:sp>
          <p:sp>
            <p:nvSpPr>
              <p:cNvPr id="59" name="Freeform 58"/>
              <p:cNvSpPr/>
              <p:nvPr/>
            </p:nvSpPr>
            <p:spPr>
              <a:xfrm>
                <a:off x="658368" y="1371600"/>
                <a:ext cx="2523744" cy="395021"/>
              </a:xfrm>
              <a:custGeom>
                <a:avLst/>
                <a:gdLst/>
                <a:ahLst/>
                <a:cxnLst/>
                <a:rect l="l" t="t" r="r" b="b"/>
                <a:pathLst>
                  <a:path w="2523744" h="395021">
                    <a:moveTo>
                      <a:pt x="0" y="395021"/>
                    </a:moveTo>
                    <a:lnTo>
                      <a:pt x="1261872" y="0"/>
                    </a:lnTo>
                    <a:lnTo>
                      <a:pt x="2523744" y="395021"/>
                    </a:lnTo>
                    <a:close/>
                  </a:path>
                </a:pathLst>
              </a:custGeom>
              <a:solidFill>
                <a:srgbClr val="4A515B"/>
              </a:solidFill>
              <a:ln w="19050">
                <a:solidFill>
                  <a:srgbClr val="F28C28"/>
                </a:solidFill>
              </a:ln>
            </p:spPr>
            <p:txBody>
              <a:bodyPr rtlCol="0" anchor="ctr"/>
              <a:lstStyle/>
              <a:p>
                <a:pPr algn="ctr"/>
                <a:endParaRPr/>
              </a:p>
            </p:txBody>
          </p:sp>
          <p:sp>
            <p:nvSpPr>
              <p:cNvPr id="60" name="Rectangle 59"/>
              <p:cNvSpPr/>
              <p:nvPr/>
            </p:nvSpPr>
            <p:spPr>
              <a:xfrm>
                <a:off x="969264" y="1964131"/>
                <a:ext cx="1901952" cy="362102"/>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61" name="Connector 60"/>
              <p:cNvCxnSpPr/>
              <p:nvPr/>
            </p:nvCxnSpPr>
            <p:spPr>
              <a:xfrm>
                <a:off x="1444752" y="1964131"/>
                <a:ext cx="0" cy="362103"/>
              </a:xfrm>
              <a:prstGeom prst="line">
                <a:avLst/>
              </a:prstGeom>
              <a:ln w="12700">
                <a:solidFill>
                  <a:srgbClr val="E8E8E8"/>
                </a:solidFill>
              </a:ln>
            </p:spPr>
          </p:cxnSp>
          <p:cxnSp>
            <p:nvCxnSpPr>
              <p:cNvPr id="62" name="Connector 61"/>
              <p:cNvCxnSpPr/>
              <p:nvPr/>
            </p:nvCxnSpPr>
            <p:spPr>
              <a:xfrm>
                <a:off x="1920240" y="1964131"/>
                <a:ext cx="0" cy="362103"/>
              </a:xfrm>
              <a:prstGeom prst="line">
                <a:avLst/>
              </a:prstGeom>
              <a:ln w="12700">
                <a:solidFill>
                  <a:srgbClr val="E8E8E8"/>
                </a:solidFill>
              </a:ln>
            </p:spPr>
          </p:cxnSp>
          <p:cxnSp>
            <p:nvCxnSpPr>
              <p:cNvPr id="63" name="Connector 62"/>
              <p:cNvCxnSpPr/>
              <p:nvPr/>
            </p:nvCxnSpPr>
            <p:spPr>
              <a:xfrm>
                <a:off x="2395728" y="1964131"/>
                <a:ext cx="0" cy="362103"/>
              </a:xfrm>
              <a:prstGeom prst="line">
                <a:avLst/>
              </a:prstGeom>
              <a:ln w="12700">
                <a:solidFill>
                  <a:srgbClr val="E8E8E8"/>
                </a:solidFill>
              </a:ln>
            </p:spPr>
          </p:cxnSp>
        </p:grpSp>
        <p:sp>
          <p:nvSpPr>
            <p:cNvPr id="64" name="Rectangle 63"/>
            <p:cNvSpPr/>
            <p:nvPr/>
          </p:nvSpPr>
          <p:spPr>
            <a:xfrm>
              <a:off x="1047902" y="2461565"/>
              <a:ext cx="98755" cy="510235"/>
            </a:xfrm>
            <a:prstGeom prst="rect">
              <a:avLst/>
            </a:prstGeom>
            <a:solidFill>
              <a:srgbClr val="E5484D"/>
            </a:solidFill>
            <a:ln w="9525">
              <a:solidFill>
                <a:srgbClr val="101418"/>
              </a:solidFill>
            </a:ln>
          </p:spPr>
          <p:txBody>
            <a:bodyPr rtlCol="0" anchor="ctr"/>
            <a:lstStyle/>
            <a:p>
              <a:pPr algn="ctr"/>
              <a:endParaRPr/>
            </a:p>
          </p:txBody>
        </p:sp>
        <p:sp>
          <p:nvSpPr>
            <p:cNvPr id="65" name="Oval 64"/>
            <p:cNvSpPr/>
            <p:nvPr/>
          </p:nvSpPr>
          <p:spPr>
            <a:xfrm>
              <a:off x="1014984" y="2889504"/>
              <a:ext cx="164592" cy="164592"/>
            </a:xfrm>
            <a:prstGeom prst="ellipse">
              <a:avLst/>
            </a:prstGeom>
            <a:solidFill>
              <a:srgbClr val="9AA0A6"/>
            </a:solidFill>
            <a:ln w="9525">
              <a:solidFill>
                <a:srgbClr val="101418"/>
              </a:solidFill>
            </a:ln>
          </p:spPr>
          <p:txBody>
            <a:bodyPr rtlCol="0" anchor="ctr"/>
            <a:lstStyle/>
            <a:p>
              <a:pPr algn="ctr"/>
              <a:endParaRPr/>
            </a:p>
          </p:txBody>
        </p:sp>
        <p:sp>
          <p:nvSpPr>
            <p:cNvPr id="66" name="Rectangle 65"/>
            <p:cNvSpPr/>
            <p:nvPr/>
          </p:nvSpPr>
          <p:spPr>
            <a:xfrm>
              <a:off x="1367942" y="2461565"/>
              <a:ext cx="98755" cy="510235"/>
            </a:xfrm>
            <a:prstGeom prst="rect">
              <a:avLst/>
            </a:prstGeom>
            <a:solidFill>
              <a:srgbClr val="E5484D"/>
            </a:solidFill>
            <a:ln w="9525">
              <a:solidFill>
                <a:srgbClr val="101418"/>
              </a:solidFill>
            </a:ln>
          </p:spPr>
          <p:txBody>
            <a:bodyPr rtlCol="0" anchor="ctr"/>
            <a:lstStyle/>
            <a:p>
              <a:pPr algn="ctr"/>
              <a:endParaRPr/>
            </a:p>
          </p:txBody>
        </p:sp>
        <p:sp>
          <p:nvSpPr>
            <p:cNvPr id="67" name="Oval 66"/>
            <p:cNvSpPr/>
            <p:nvPr/>
          </p:nvSpPr>
          <p:spPr>
            <a:xfrm>
              <a:off x="1335024" y="2889504"/>
              <a:ext cx="164592" cy="164592"/>
            </a:xfrm>
            <a:prstGeom prst="ellipse">
              <a:avLst/>
            </a:prstGeom>
            <a:solidFill>
              <a:srgbClr val="9AA0A6"/>
            </a:solidFill>
            <a:ln w="9525">
              <a:solidFill>
                <a:srgbClr val="101418"/>
              </a:solidFill>
            </a:ln>
          </p:spPr>
          <p:txBody>
            <a:bodyPr rtlCol="0" anchor="ctr"/>
            <a:lstStyle/>
            <a:p>
              <a:pPr algn="ctr"/>
              <a:endParaRPr/>
            </a:p>
          </p:txBody>
        </p:sp>
        <p:sp>
          <p:nvSpPr>
            <p:cNvPr id="68" name="Rectangle 67"/>
            <p:cNvSpPr/>
            <p:nvPr/>
          </p:nvSpPr>
          <p:spPr>
            <a:xfrm>
              <a:off x="1687982" y="2461565"/>
              <a:ext cx="98755" cy="510235"/>
            </a:xfrm>
            <a:prstGeom prst="rect">
              <a:avLst/>
            </a:prstGeom>
            <a:solidFill>
              <a:srgbClr val="F2C14E"/>
            </a:solidFill>
            <a:ln w="9525">
              <a:solidFill>
                <a:srgbClr val="101418"/>
              </a:solidFill>
            </a:ln>
          </p:spPr>
          <p:txBody>
            <a:bodyPr rtlCol="0" anchor="ctr"/>
            <a:lstStyle/>
            <a:p>
              <a:pPr algn="ctr"/>
              <a:endParaRPr/>
            </a:p>
          </p:txBody>
        </p:sp>
        <p:sp>
          <p:nvSpPr>
            <p:cNvPr id="69" name="Oval 68"/>
            <p:cNvSpPr/>
            <p:nvPr/>
          </p:nvSpPr>
          <p:spPr>
            <a:xfrm>
              <a:off x="1655064" y="2889504"/>
              <a:ext cx="164592" cy="164592"/>
            </a:xfrm>
            <a:prstGeom prst="ellipse">
              <a:avLst/>
            </a:prstGeom>
            <a:solidFill>
              <a:srgbClr val="9AA0A6"/>
            </a:solidFill>
            <a:ln w="9525">
              <a:solidFill>
                <a:srgbClr val="101418"/>
              </a:solidFill>
            </a:ln>
          </p:spPr>
          <p:txBody>
            <a:bodyPr rtlCol="0" anchor="ctr"/>
            <a:lstStyle/>
            <a:p>
              <a:pPr algn="ctr"/>
              <a:endParaRPr/>
            </a:p>
          </p:txBody>
        </p:sp>
        <p:grpSp>
          <p:nvGrpSpPr>
            <p:cNvPr id="70" name="Signaller icon" descr="A simple icon of a person: the signaller."/>
            <p:cNvGrpSpPr/>
            <p:nvPr/>
          </p:nvGrpSpPr>
          <p:grpSpPr>
            <a:xfrm>
              <a:off x="2419502" y="2544318"/>
              <a:ext cx="373075" cy="427482"/>
              <a:chOff x="2419502" y="2544318"/>
              <a:chExt cx="373075" cy="427482"/>
            </a:xfrm>
          </p:grpSpPr>
          <p:sp>
            <p:nvSpPr>
              <p:cNvPr id="71" name="Oval 70"/>
              <p:cNvSpPr/>
              <p:nvPr/>
            </p:nvSpPr>
            <p:spPr>
              <a:xfrm>
                <a:off x="2504999" y="2544318"/>
                <a:ext cx="202082" cy="202082"/>
              </a:xfrm>
              <a:prstGeom prst="ellipse">
                <a:avLst/>
              </a:prstGeom>
              <a:solidFill>
                <a:srgbClr val="E8E8E8"/>
              </a:solidFill>
              <a:ln>
                <a:noFill/>
              </a:ln>
            </p:spPr>
            <p:txBody>
              <a:bodyPr rtlCol="0" anchor="ctr"/>
              <a:lstStyle/>
              <a:p>
                <a:pPr algn="ctr"/>
                <a:endParaRPr/>
              </a:p>
            </p:txBody>
          </p:sp>
          <p:sp>
            <p:nvSpPr>
              <p:cNvPr id="72" name="Round Same Side Corner Rectangle 71"/>
              <p:cNvSpPr/>
              <p:nvPr/>
            </p:nvSpPr>
            <p:spPr>
              <a:xfrm>
                <a:off x="2419502" y="2676449"/>
                <a:ext cx="373075" cy="295351"/>
              </a:xfrm>
              <a:prstGeom prst="round2SameRect">
                <a:avLst>
                  <a:gd name="adj1" fmla="val 45000"/>
                  <a:gd name="adj2" fmla="val 0"/>
                </a:avLst>
              </a:prstGeom>
              <a:solidFill>
                <a:srgbClr val="E8E8E8"/>
              </a:solidFill>
              <a:ln>
                <a:noFill/>
              </a:ln>
            </p:spPr>
            <p:txBody>
              <a:bodyPr rtlCol="0" anchor="ctr"/>
              <a:lstStyle/>
              <a:p>
                <a:pPr algn="ctr"/>
                <a:endParaRPr/>
              </a:p>
            </p:txBody>
          </p:sp>
        </p:grpSp>
        <p:grpSp>
          <p:nvGrpSpPr>
            <p:cNvPr id="73" name="Signal box (neighbour)" descr="A small signal box building."/>
            <p:cNvGrpSpPr/>
            <p:nvPr/>
          </p:nvGrpSpPr>
          <p:grpSpPr>
            <a:xfrm>
              <a:off x="10533888" y="1371600"/>
              <a:ext cx="1152144" cy="914400"/>
              <a:chOff x="10533888" y="1371600"/>
              <a:chExt cx="1152144" cy="914400"/>
            </a:xfrm>
          </p:grpSpPr>
          <p:sp>
            <p:nvSpPr>
              <p:cNvPr id="74" name="Rectangle 73"/>
              <p:cNvSpPr/>
              <p:nvPr/>
            </p:nvSpPr>
            <p:spPr>
              <a:xfrm>
                <a:off x="10607040" y="1572768"/>
                <a:ext cx="1005840" cy="713232"/>
              </a:xfrm>
              <a:prstGeom prst="rect">
                <a:avLst/>
              </a:prstGeom>
              <a:solidFill>
                <a:srgbClr val="2B2F36"/>
              </a:solidFill>
              <a:ln w="19050">
                <a:solidFill>
                  <a:srgbClr val="9AA0A6"/>
                </a:solidFill>
              </a:ln>
            </p:spPr>
            <p:txBody>
              <a:bodyPr rtlCol="0" anchor="ctr"/>
              <a:lstStyle/>
              <a:p>
                <a:pPr algn="ctr"/>
                <a:endParaRPr/>
              </a:p>
            </p:txBody>
          </p:sp>
          <p:sp>
            <p:nvSpPr>
              <p:cNvPr id="75" name="Freeform 74"/>
              <p:cNvSpPr/>
              <p:nvPr/>
            </p:nvSpPr>
            <p:spPr>
              <a:xfrm>
                <a:off x="10533888" y="1371600"/>
                <a:ext cx="1152144" cy="219456"/>
              </a:xfrm>
              <a:custGeom>
                <a:avLst/>
                <a:gdLst/>
                <a:ahLst/>
                <a:cxnLst/>
                <a:rect l="l" t="t" r="r" b="b"/>
                <a:pathLst>
                  <a:path w="1152144" h="219456">
                    <a:moveTo>
                      <a:pt x="0" y="219456"/>
                    </a:moveTo>
                    <a:lnTo>
                      <a:pt x="576072" y="0"/>
                    </a:lnTo>
                    <a:lnTo>
                      <a:pt x="1152144" y="219456"/>
                    </a:lnTo>
                    <a:close/>
                  </a:path>
                </a:pathLst>
              </a:custGeom>
              <a:solidFill>
                <a:srgbClr val="4A515B"/>
              </a:solidFill>
              <a:ln w="19050">
                <a:solidFill>
                  <a:srgbClr val="9AA0A6"/>
                </a:solidFill>
              </a:ln>
            </p:spPr>
            <p:txBody>
              <a:bodyPr rtlCol="0" anchor="ctr"/>
              <a:lstStyle/>
              <a:p>
                <a:pPr algn="ctr"/>
                <a:endParaRPr/>
              </a:p>
            </p:txBody>
          </p:sp>
          <p:sp>
            <p:nvSpPr>
              <p:cNvPr id="76" name="Rectangle 75"/>
              <p:cNvSpPr/>
              <p:nvPr/>
            </p:nvSpPr>
            <p:spPr>
              <a:xfrm>
                <a:off x="10707624" y="1700784"/>
                <a:ext cx="804672" cy="201168"/>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77" name="Connector 76"/>
              <p:cNvCxnSpPr/>
              <p:nvPr/>
            </p:nvCxnSpPr>
            <p:spPr>
              <a:xfrm>
                <a:off x="10908792" y="1700784"/>
                <a:ext cx="0" cy="201168"/>
              </a:xfrm>
              <a:prstGeom prst="line">
                <a:avLst/>
              </a:prstGeom>
              <a:ln w="12700">
                <a:solidFill>
                  <a:srgbClr val="E8E8E8"/>
                </a:solidFill>
              </a:ln>
            </p:spPr>
          </p:cxnSp>
          <p:cxnSp>
            <p:nvCxnSpPr>
              <p:cNvPr id="78" name="Connector 77"/>
              <p:cNvCxnSpPr/>
              <p:nvPr/>
            </p:nvCxnSpPr>
            <p:spPr>
              <a:xfrm>
                <a:off x="11109960" y="1700784"/>
                <a:ext cx="0" cy="201168"/>
              </a:xfrm>
              <a:prstGeom prst="line">
                <a:avLst/>
              </a:prstGeom>
              <a:ln w="12700">
                <a:solidFill>
                  <a:srgbClr val="E8E8E8"/>
                </a:solidFill>
              </a:ln>
            </p:spPr>
          </p:cxnSp>
          <p:cxnSp>
            <p:nvCxnSpPr>
              <p:cNvPr id="79" name="Connector 78"/>
              <p:cNvCxnSpPr/>
              <p:nvPr/>
            </p:nvCxnSpPr>
            <p:spPr>
              <a:xfrm>
                <a:off x="11311128" y="1700784"/>
                <a:ext cx="0" cy="201168"/>
              </a:xfrm>
              <a:prstGeom prst="line">
                <a:avLst/>
              </a:prstGeom>
              <a:ln w="12700">
                <a:solidFill>
                  <a:srgbClr val="E8E8E8"/>
                </a:solidFill>
              </a:ln>
            </p:spPr>
          </p:cxnSp>
        </p:grpSp>
        <p:cxnSp>
          <p:nvCxnSpPr>
            <p:cNvPr id="80" name="Connector 79"/>
            <p:cNvCxnSpPr/>
            <p:nvPr/>
          </p:nvCxnSpPr>
          <p:spPr>
            <a:xfrm>
              <a:off x="3246120" y="1828800"/>
              <a:ext cx="7223760" cy="0"/>
            </a:xfrm>
            <a:prstGeom prst="line">
              <a:avLst/>
            </a:prstGeom>
            <a:ln w="28575">
              <a:solidFill>
                <a:srgbClr val="F28C28"/>
              </a:solidFill>
              <a:prstDash val="dash"/>
              <a:headEnd type="triangle" w="med" len="med"/>
              <a:tailEnd type="triangle" w="med" len="med"/>
            </a:ln>
          </p:spPr>
        </p:cxnSp>
        <p:sp>
          <p:nvSpPr>
            <p:cNvPr id="81" name="TextBox 80"/>
            <p:cNvSpPr txBox="1"/>
            <p:nvPr/>
          </p:nvSpPr>
          <p:spPr>
            <a:xfrm>
              <a:off x="5212080" y="1371600"/>
              <a:ext cx="3108960" cy="365760"/>
            </a:xfrm>
            <a:prstGeom prst="rect">
              <a:avLst/>
            </a:prstGeom>
            <a:noFill/>
          </p:spPr>
          <p:txBody>
            <a:bodyPr wrap="square" lIns="18288" tIns="18288" rIns="18288" bIns="18288" anchor="ctr">
              <a:noAutofit/>
            </a:bodyPr>
            <a:lstStyle/>
            <a:p>
              <a:pPr algn="ctr"/>
              <a:r>
                <a:rPr lang="en-GB" sz="1600" b="1" i="0">
                  <a:solidFill>
                    <a:srgbClr val="F28C28"/>
                  </a:solidFill>
                  <a:latin typeface="Arial"/>
                </a:rPr>
                <a:t>Bell codes</a:t>
              </a:r>
            </a:p>
          </p:txBody>
        </p:sp>
        <p:grpSp>
          <p:nvGrpSpPr>
            <p:cNvPr id="82" name="Signal (stop, stop)" descr="A semaphore signal post with its arm flat (stop)."/>
            <p:cNvGrpSpPr/>
            <p:nvPr/>
          </p:nvGrpSpPr>
          <p:grpSpPr>
            <a:xfrm>
              <a:off x="4302252" y="2962656"/>
              <a:ext cx="909828" cy="1005840"/>
              <a:chOff x="4302252" y="2962656"/>
              <a:chExt cx="909828" cy="1005840"/>
            </a:xfrm>
          </p:grpSpPr>
          <p:sp>
            <p:nvSpPr>
              <p:cNvPr id="83" name="Rectangle 82"/>
              <p:cNvSpPr/>
              <p:nvPr/>
            </p:nvSpPr>
            <p:spPr>
              <a:xfrm>
                <a:off x="4434840" y="3895344"/>
                <a:ext cx="274320" cy="73152"/>
              </a:xfrm>
              <a:prstGeom prst="rect">
                <a:avLst/>
              </a:prstGeom>
              <a:solidFill>
                <a:srgbClr val="9AA0A6"/>
              </a:solidFill>
              <a:ln>
                <a:noFill/>
              </a:ln>
            </p:spPr>
            <p:txBody>
              <a:bodyPr rtlCol="0" anchor="ctr"/>
              <a:lstStyle/>
              <a:p>
                <a:pPr algn="ctr"/>
                <a:endParaRPr/>
              </a:p>
            </p:txBody>
          </p:sp>
          <p:sp>
            <p:nvSpPr>
              <p:cNvPr id="84" name="Rectangle 83"/>
              <p:cNvSpPr/>
              <p:nvPr/>
            </p:nvSpPr>
            <p:spPr>
              <a:xfrm>
                <a:off x="4517136" y="2962656"/>
                <a:ext cx="109728" cy="932688"/>
              </a:xfrm>
              <a:prstGeom prst="rect">
                <a:avLst/>
              </a:prstGeom>
              <a:solidFill>
                <a:srgbClr val="E8E8E8"/>
              </a:solidFill>
              <a:ln>
                <a:noFill/>
              </a:ln>
            </p:spPr>
            <p:txBody>
              <a:bodyPr rtlCol="0" anchor="ctr"/>
              <a:lstStyle/>
              <a:p>
                <a:pPr algn="ctr"/>
                <a:endParaRPr/>
              </a:p>
            </p:txBody>
          </p:sp>
          <p:sp>
            <p:nvSpPr>
              <p:cNvPr id="85" name="Freeform 84"/>
              <p:cNvSpPr/>
              <p:nvPr/>
            </p:nvSpPr>
            <p:spPr>
              <a:xfrm>
                <a:off x="4572000" y="2990088"/>
                <a:ext cx="640080" cy="128016"/>
              </a:xfrm>
              <a:custGeom>
                <a:avLst/>
                <a:gdLst/>
                <a:ahLst/>
                <a:cxnLst/>
                <a:rect l="l" t="t" r="r" b="b"/>
                <a:pathLst>
                  <a:path w="640080" h="128016">
                    <a:moveTo>
                      <a:pt x="0" y="0"/>
                    </a:moveTo>
                    <a:lnTo>
                      <a:pt x="640080" y="0"/>
                    </a:lnTo>
                    <a:lnTo>
                      <a:pt x="640080" y="128016"/>
                    </a:lnTo>
                    <a:lnTo>
                      <a:pt x="0" y="128016"/>
                    </a:lnTo>
                    <a:close/>
                  </a:path>
                </a:pathLst>
              </a:custGeom>
              <a:solidFill>
                <a:srgbClr val="E5484D"/>
              </a:solidFill>
              <a:ln>
                <a:noFill/>
              </a:ln>
            </p:spPr>
            <p:txBody>
              <a:bodyPr rtlCol="0" anchor="ctr"/>
              <a:lstStyle/>
              <a:p>
                <a:pPr algn="ctr"/>
                <a:endParaRPr/>
              </a:p>
            </p:txBody>
          </p:sp>
          <p:sp>
            <p:nvSpPr>
              <p:cNvPr id="86" name="Freeform 85"/>
              <p:cNvSpPr/>
              <p:nvPr/>
            </p:nvSpPr>
            <p:spPr>
              <a:xfrm>
                <a:off x="4892040" y="2990088"/>
                <a:ext cx="100584" cy="128016"/>
              </a:xfrm>
              <a:custGeom>
                <a:avLst/>
                <a:gdLst/>
                <a:ahLst/>
                <a:cxnLst/>
                <a:rect l="l" t="t" r="r" b="b"/>
                <a:pathLst>
                  <a:path w="100584" h="128016">
                    <a:moveTo>
                      <a:pt x="0" y="0"/>
                    </a:moveTo>
                    <a:lnTo>
                      <a:pt x="100584" y="0"/>
                    </a:lnTo>
                    <a:lnTo>
                      <a:pt x="100584" y="128016"/>
                    </a:lnTo>
                    <a:lnTo>
                      <a:pt x="0" y="128016"/>
                    </a:lnTo>
                    <a:close/>
                  </a:path>
                </a:pathLst>
              </a:custGeom>
              <a:solidFill>
                <a:srgbClr val="FFFFFF"/>
              </a:solidFill>
              <a:ln>
                <a:noFill/>
              </a:ln>
            </p:spPr>
            <p:txBody>
              <a:bodyPr rtlCol="0" anchor="ctr"/>
              <a:lstStyle/>
              <a:p>
                <a:pPr algn="ctr"/>
                <a:endParaRPr/>
              </a:p>
            </p:txBody>
          </p:sp>
          <p:sp>
            <p:nvSpPr>
              <p:cNvPr id="87" name="Oval 86"/>
              <p:cNvSpPr/>
              <p:nvPr/>
            </p:nvSpPr>
            <p:spPr>
              <a:xfrm>
                <a:off x="4526280" y="3008376"/>
                <a:ext cx="91440" cy="91440"/>
              </a:xfrm>
              <a:prstGeom prst="ellipse">
                <a:avLst/>
              </a:prstGeom>
              <a:solidFill>
                <a:srgbClr val="1B1D21"/>
              </a:solidFill>
              <a:ln w="9525">
                <a:solidFill>
                  <a:srgbClr val="FFFFFF"/>
                </a:solidFill>
              </a:ln>
            </p:spPr>
            <p:txBody>
              <a:bodyPr rtlCol="0" anchor="ctr"/>
              <a:lstStyle/>
              <a:p>
                <a:pPr algn="ctr"/>
                <a:endParaRPr/>
              </a:p>
            </p:txBody>
          </p:sp>
          <p:sp>
            <p:nvSpPr>
              <p:cNvPr id="88" name="Oval 87"/>
              <p:cNvSpPr/>
              <p:nvPr/>
            </p:nvSpPr>
            <p:spPr>
              <a:xfrm>
                <a:off x="4302252" y="2967228"/>
                <a:ext cx="173736" cy="173736"/>
              </a:xfrm>
              <a:prstGeom prst="ellipse">
                <a:avLst/>
              </a:prstGeom>
              <a:solidFill>
                <a:srgbClr val="E5484D"/>
              </a:solidFill>
              <a:ln w="12700">
                <a:solidFill>
                  <a:srgbClr val="FFFFFF"/>
                </a:solidFill>
              </a:ln>
            </p:spPr>
            <p:txBody>
              <a:bodyPr rtlCol="0" anchor="ctr"/>
              <a:lstStyle/>
              <a:p>
                <a:pPr algn="ctr"/>
                <a:endParaRPr/>
              </a:p>
            </p:txBody>
          </p:sp>
        </p:grpSp>
        <p:sp>
          <p:nvSpPr>
            <p:cNvPr id="89" name="Rod"/>
            <p:cNvSpPr/>
            <p:nvPr/>
          </p:nvSpPr>
          <p:spPr>
            <a:xfrm>
              <a:off x="3108960" y="2743200"/>
              <a:ext cx="1051560" cy="1207008"/>
            </a:xfrm>
            <a:custGeom>
              <a:avLst/>
              <a:gdLst/>
              <a:ahLst/>
              <a:cxnLst/>
              <a:rect l="l" t="t" r="r" b="b"/>
              <a:pathLst>
                <a:path w="1051560" h="1207008">
                  <a:moveTo>
                    <a:pt x="0" y="0"/>
                  </a:moveTo>
                  <a:lnTo>
                    <a:pt x="1051560" y="0"/>
                  </a:lnTo>
                  <a:lnTo>
                    <a:pt x="1051560" y="1207008"/>
                  </a:lnTo>
                </a:path>
              </a:pathLst>
            </a:custGeom>
            <a:noFill/>
            <a:ln w="28575">
              <a:solidFill>
                <a:srgbClr val="F28C28"/>
              </a:solidFill>
              <a:prstDash val="dash"/>
            </a:ln>
          </p:spPr>
          <p:txBody>
            <a:bodyPr rtlCol="0" anchor="ctr"/>
            <a:lstStyle/>
            <a:p>
              <a:pPr algn="ctr"/>
              <a:endParaRPr/>
            </a:p>
          </p:txBody>
        </p:sp>
        <p:sp>
          <p:nvSpPr>
            <p:cNvPr id="90" name="Counterweight"/>
            <p:cNvSpPr/>
            <p:nvPr/>
          </p:nvSpPr>
          <p:spPr>
            <a:xfrm>
              <a:off x="4087368" y="3785616"/>
              <a:ext cx="146304" cy="146304"/>
            </a:xfrm>
            <a:prstGeom prst="rect">
              <a:avLst/>
            </a:prstGeom>
            <a:solidFill>
              <a:srgbClr val="9AA0A6"/>
            </a:solidFill>
            <a:ln w="9525">
              <a:solidFill>
                <a:srgbClr val="FFFFFF"/>
              </a:solidFill>
            </a:ln>
          </p:spPr>
          <p:txBody>
            <a:bodyPr rtlCol="0" anchor="ctr"/>
            <a:lstStyle/>
            <a:p>
              <a:pPr algn="ctr"/>
              <a:endParaRPr/>
            </a:p>
          </p:txBody>
        </p:sp>
        <p:grpSp>
          <p:nvGrpSpPr>
            <p:cNvPr id="91" name="Signal (stop, clear)" descr="A semaphore signal post with its arm raised (clear)."/>
            <p:cNvGrpSpPr/>
            <p:nvPr/>
          </p:nvGrpSpPr>
          <p:grpSpPr>
            <a:xfrm>
              <a:off x="7045452" y="2556231"/>
              <a:ext cx="767613" cy="1412265"/>
              <a:chOff x="7045452" y="2556231"/>
              <a:chExt cx="767613" cy="1412265"/>
            </a:xfrm>
          </p:grpSpPr>
          <p:sp>
            <p:nvSpPr>
              <p:cNvPr id="92" name="Rectangle 91"/>
              <p:cNvSpPr/>
              <p:nvPr/>
            </p:nvSpPr>
            <p:spPr>
              <a:xfrm>
                <a:off x="7178040" y="3895344"/>
                <a:ext cx="274320" cy="73152"/>
              </a:xfrm>
              <a:prstGeom prst="rect">
                <a:avLst/>
              </a:prstGeom>
              <a:solidFill>
                <a:srgbClr val="9AA0A6"/>
              </a:solidFill>
              <a:ln>
                <a:noFill/>
              </a:ln>
            </p:spPr>
            <p:txBody>
              <a:bodyPr rtlCol="0" anchor="ctr"/>
              <a:lstStyle/>
              <a:p>
                <a:pPr algn="ctr"/>
                <a:endParaRPr/>
              </a:p>
            </p:txBody>
          </p:sp>
          <p:sp>
            <p:nvSpPr>
              <p:cNvPr id="93" name="Rectangle 92"/>
              <p:cNvSpPr/>
              <p:nvPr/>
            </p:nvSpPr>
            <p:spPr>
              <a:xfrm>
                <a:off x="7260336" y="2962656"/>
                <a:ext cx="109728" cy="932688"/>
              </a:xfrm>
              <a:prstGeom prst="rect">
                <a:avLst/>
              </a:prstGeom>
              <a:solidFill>
                <a:srgbClr val="E8E8E8"/>
              </a:solidFill>
              <a:ln>
                <a:noFill/>
              </a:ln>
            </p:spPr>
            <p:txBody>
              <a:bodyPr rtlCol="0" anchor="ctr"/>
              <a:lstStyle/>
              <a:p>
                <a:pPr algn="ctr"/>
                <a:endParaRPr/>
              </a:p>
            </p:txBody>
          </p:sp>
          <p:sp>
            <p:nvSpPr>
              <p:cNvPr id="94" name="Freeform 93"/>
              <p:cNvSpPr/>
              <p:nvPr/>
            </p:nvSpPr>
            <p:spPr>
              <a:xfrm>
                <a:off x="7269940" y="2556231"/>
                <a:ext cx="543125" cy="543125"/>
              </a:xfrm>
              <a:custGeom>
                <a:avLst/>
                <a:gdLst/>
                <a:ahLst/>
                <a:cxnLst/>
                <a:rect l="l" t="t" r="r" b="b"/>
                <a:pathLst>
                  <a:path w="543125" h="543125">
                    <a:moveTo>
                      <a:pt x="0" y="452605"/>
                    </a:moveTo>
                    <a:lnTo>
                      <a:pt x="452604" y="0"/>
                    </a:lnTo>
                    <a:lnTo>
                      <a:pt x="543125" y="90521"/>
                    </a:lnTo>
                    <a:lnTo>
                      <a:pt x="90520" y="543125"/>
                    </a:lnTo>
                    <a:close/>
                  </a:path>
                </a:pathLst>
              </a:custGeom>
              <a:solidFill>
                <a:srgbClr val="E5484D"/>
              </a:solidFill>
              <a:ln>
                <a:noFill/>
              </a:ln>
            </p:spPr>
            <p:txBody>
              <a:bodyPr rtlCol="0" anchor="ctr"/>
              <a:lstStyle/>
              <a:p>
                <a:pPr algn="ctr"/>
                <a:endParaRPr/>
              </a:p>
            </p:txBody>
          </p:sp>
          <p:sp>
            <p:nvSpPr>
              <p:cNvPr id="95" name="Freeform 94"/>
              <p:cNvSpPr/>
              <p:nvPr/>
            </p:nvSpPr>
            <p:spPr>
              <a:xfrm>
                <a:off x="7496242" y="2711409"/>
                <a:ext cx="161645" cy="161645"/>
              </a:xfrm>
              <a:custGeom>
                <a:avLst/>
                <a:gdLst/>
                <a:ahLst/>
                <a:cxnLst/>
                <a:rect l="l" t="t" r="r" b="b"/>
                <a:pathLst>
                  <a:path w="161645" h="161645">
                    <a:moveTo>
                      <a:pt x="0" y="71124"/>
                    </a:moveTo>
                    <a:lnTo>
                      <a:pt x="71124" y="0"/>
                    </a:lnTo>
                    <a:lnTo>
                      <a:pt x="161645" y="90521"/>
                    </a:lnTo>
                    <a:lnTo>
                      <a:pt x="90521" y="161645"/>
                    </a:lnTo>
                    <a:close/>
                  </a:path>
                </a:pathLst>
              </a:custGeom>
              <a:solidFill>
                <a:srgbClr val="FFFFFF"/>
              </a:solidFill>
              <a:ln>
                <a:noFill/>
              </a:ln>
            </p:spPr>
            <p:txBody>
              <a:bodyPr rtlCol="0" anchor="ctr"/>
              <a:lstStyle/>
              <a:p>
                <a:pPr algn="ctr"/>
                <a:endParaRPr/>
              </a:p>
            </p:txBody>
          </p:sp>
          <p:sp>
            <p:nvSpPr>
              <p:cNvPr id="96" name="Oval 95"/>
              <p:cNvSpPr/>
              <p:nvPr/>
            </p:nvSpPr>
            <p:spPr>
              <a:xfrm>
                <a:off x="7269480" y="3008376"/>
                <a:ext cx="91440" cy="91440"/>
              </a:xfrm>
              <a:prstGeom prst="ellipse">
                <a:avLst/>
              </a:prstGeom>
              <a:solidFill>
                <a:srgbClr val="1B1D21"/>
              </a:solidFill>
              <a:ln w="9525">
                <a:solidFill>
                  <a:srgbClr val="FFFFFF"/>
                </a:solidFill>
              </a:ln>
            </p:spPr>
            <p:txBody>
              <a:bodyPr rtlCol="0" anchor="ctr"/>
              <a:lstStyle/>
              <a:p>
                <a:pPr algn="ctr"/>
                <a:endParaRPr/>
              </a:p>
            </p:txBody>
          </p:sp>
          <p:sp>
            <p:nvSpPr>
              <p:cNvPr id="97" name="Oval 96"/>
              <p:cNvSpPr/>
              <p:nvPr/>
            </p:nvSpPr>
            <p:spPr>
              <a:xfrm>
                <a:off x="7045452" y="2967228"/>
                <a:ext cx="173736" cy="173736"/>
              </a:xfrm>
              <a:prstGeom prst="ellipse">
                <a:avLst/>
              </a:prstGeom>
              <a:solidFill>
                <a:srgbClr val="3FB950"/>
              </a:solidFill>
              <a:ln w="12700">
                <a:solidFill>
                  <a:srgbClr val="FFFFFF"/>
                </a:solidFill>
              </a:ln>
            </p:spPr>
            <p:txBody>
              <a:bodyPr rtlCol="0" anchor="ctr"/>
              <a:lstStyle/>
              <a:p>
                <a:pPr algn="ctr"/>
                <a:endParaRPr/>
              </a:p>
            </p:txBody>
          </p:sp>
        </p:grpSp>
        <p:sp>
          <p:nvSpPr>
            <p:cNvPr id="98" name="Rod"/>
            <p:cNvSpPr/>
            <p:nvPr/>
          </p:nvSpPr>
          <p:spPr>
            <a:xfrm>
              <a:off x="3108960" y="2514600"/>
              <a:ext cx="3794760" cy="1435608"/>
            </a:xfrm>
            <a:custGeom>
              <a:avLst/>
              <a:gdLst/>
              <a:ahLst/>
              <a:cxnLst/>
              <a:rect l="l" t="t" r="r" b="b"/>
              <a:pathLst>
                <a:path w="3794760" h="1435608">
                  <a:moveTo>
                    <a:pt x="0" y="0"/>
                  </a:moveTo>
                  <a:lnTo>
                    <a:pt x="3794760" y="0"/>
                  </a:lnTo>
                  <a:lnTo>
                    <a:pt x="3794760" y="1435608"/>
                  </a:lnTo>
                </a:path>
              </a:pathLst>
            </a:custGeom>
            <a:noFill/>
            <a:ln w="28575">
              <a:solidFill>
                <a:srgbClr val="F28C28"/>
              </a:solidFill>
              <a:prstDash val="dash"/>
            </a:ln>
          </p:spPr>
          <p:txBody>
            <a:bodyPr rtlCol="0" anchor="ctr"/>
            <a:lstStyle/>
            <a:p>
              <a:pPr algn="ctr"/>
              <a:endParaRPr/>
            </a:p>
          </p:txBody>
        </p:sp>
        <p:sp>
          <p:nvSpPr>
            <p:cNvPr id="99" name="Counterweight"/>
            <p:cNvSpPr/>
            <p:nvPr/>
          </p:nvSpPr>
          <p:spPr>
            <a:xfrm>
              <a:off x="6830568" y="3785616"/>
              <a:ext cx="146304" cy="146304"/>
            </a:xfrm>
            <a:prstGeom prst="rect">
              <a:avLst/>
            </a:prstGeom>
            <a:solidFill>
              <a:srgbClr val="9AA0A6"/>
            </a:solidFill>
            <a:ln w="9525">
              <a:solidFill>
                <a:srgbClr val="FFFFFF"/>
              </a:solidFill>
            </a:ln>
          </p:spPr>
          <p:txBody>
            <a:bodyPr rtlCol="0" anchor="ctr"/>
            <a:lstStyle/>
            <a:p>
              <a:pPr algn="ctr"/>
              <a:endParaRPr/>
            </a:p>
          </p:txBody>
        </p:sp>
        <p:grpSp>
          <p:nvGrpSpPr>
            <p:cNvPr id="100" name="Signal (stop, clear)" descr="A semaphore signal post with its arm raised (clear)."/>
            <p:cNvGrpSpPr/>
            <p:nvPr/>
          </p:nvGrpSpPr>
          <p:grpSpPr>
            <a:xfrm>
              <a:off x="9788652" y="2556231"/>
              <a:ext cx="767613" cy="1412265"/>
              <a:chOff x="9788652" y="2556231"/>
              <a:chExt cx="767613" cy="1412265"/>
            </a:xfrm>
          </p:grpSpPr>
          <p:sp>
            <p:nvSpPr>
              <p:cNvPr id="101" name="Rectangle 100"/>
              <p:cNvSpPr/>
              <p:nvPr/>
            </p:nvSpPr>
            <p:spPr>
              <a:xfrm>
                <a:off x="9921240" y="3895344"/>
                <a:ext cx="274320" cy="73152"/>
              </a:xfrm>
              <a:prstGeom prst="rect">
                <a:avLst/>
              </a:prstGeom>
              <a:solidFill>
                <a:srgbClr val="9AA0A6"/>
              </a:solidFill>
              <a:ln>
                <a:noFill/>
              </a:ln>
            </p:spPr>
            <p:txBody>
              <a:bodyPr rtlCol="0" anchor="ctr"/>
              <a:lstStyle/>
              <a:p>
                <a:pPr algn="ctr"/>
                <a:endParaRPr/>
              </a:p>
            </p:txBody>
          </p:sp>
          <p:sp>
            <p:nvSpPr>
              <p:cNvPr id="102" name="Rectangle 101"/>
              <p:cNvSpPr/>
              <p:nvPr/>
            </p:nvSpPr>
            <p:spPr>
              <a:xfrm>
                <a:off x="10003536" y="2962656"/>
                <a:ext cx="109728" cy="932688"/>
              </a:xfrm>
              <a:prstGeom prst="rect">
                <a:avLst/>
              </a:prstGeom>
              <a:solidFill>
                <a:srgbClr val="E8E8E8"/>
              </a:solidFill>
              <a:ln>
                <a:noFill/>
              </a:ln>
            </p:spPr>
            <p:txBody>
              <a:bodyPr rtlCol="0" anchor="ctr"/>
              <a:lstStyle/>
              <a:p>
                <a:pPr algn="ctr"/>
                <a:endParaRPr/>
              </a:p>
            </p:txBody>
          </p:sp>
          <p:sp>
            <p:nvSpPr>
              <p:cNvPr id="103" name="Freeform 102"/>
              <p:cNvSpPr/>
              <p:nvPr/>
            </p:nvSpPr>
            <p:spPr>
              <a:xfrm>
                <a:off x="10013140" y="2556231"/>
                <a:ext cx="543125" cy="543125"/>
              </a:xfrm>
              <a:custGeom>
                <a:avLst/>
                <a:gdLst/>
                <a:ahLst/>
                <a:cxnLst/>
                <a:rect l="l" t="t" r="r" b="b"/>
                <a:pathLst>
                  <a:path w="543125" h="543125">
                    <a:moveTo>
                      <a:pt x="0" y="452605"/>
                    </a:moveTo>
                    <a:lnTo>
                      <a:pt x="452604" y="0"/>
                    </a:lnTo>
                    <a:lnTo>
                      <a:pt x="543125" y="90521"/>
                    </a:lnTo>
                    <a:lnTo>
                      <a:pt x="90520" y="543125"/>
                    </a:lnTo>
                    <a:close/>
                  </a:path>
                </a:pathLst>
              </a:custGeom>
              <a:solidFill>
                <a:srgbClr val="E5484D"/>
              </a:solidFill>
              <a:ln>
                <a:noFill/>
              </a:ln>
            </p:spPr>
            <p:txBody>
              <a:bodyPr rtlCol="0" anchor="ctr"/>
              <a:lstStyle/>
              <a:p>
                <a:pPr algn="ctr"/>
                <a:endParaRPr/>
              </a:p>
            </p:txBody>
          </p:sp>
          <p:sp>
            <p:nvSpPr>
              <p:cNvPr id="104" name="Freeform 103"/>
              <p:cNvSpPr/>
              <p:nvPr/>
            </p:nvSpPr>
            <p:spPr>
              <a:xfrm>
                <a:off x="10239442" y="2711409"/>
                <a:ext cx="161645" cy="161645"/>
              </a:xfrm>
              <a:custGeom>
                <a:avLst/>
                <a:gdLst/>
                <a:ahLst/>
                <a:cxnLst/>
                <a:rect l="l" t="t" r="r" b="b"/>
                <a:pathLst>
                  <a:path w="161645" h="161645">
                    <a:moveTo>
                      <a:pt x="0" y="71124"/>
                    </a:moveTo>
                    <a:lnTo>
                      <a:pt x="71124" y="0"/>
                    </a:lnTo>
                    <a:lnTo>
                      <a:pt x="161645" y="90521"/>
                    </a:lnTo>
                    <a:lnTo>
                      <a:pt x="90521" y="161645"/>
                    </a:lnTo>
                    <a:close/>
                  </a:path>
                </a:pathLst>
              </a:custGeom>
              <a:solidFill>
                <a:srgbClr val="FFFFFF"/>
              </a:solidFill>
              <a:ln>
                <a:noFill/>
              </a:ln>
            </p:spPr>
            <p:txBody>
              <a:bodyPr rtlCol="0" anchor="ctr"/>
              <a:lstStyle/>
              <a:p>
                <a:pPr algn="ctr"/>
                <a:endParaRPr/>
              </a:p>
            </p:txBody>
          </p:sp>
          <p:sp>
            <p:nvSpPr>
              <p:cNvPr id="105" name="Oval 104"/>
              <p:cNvSpPr/>
              <p:nvPr/>
            </p:nvSpPr>
            <p:spPr>
              <a:xfrm>
                <a:off x="10012680" y="3008376"/>
                <a:ext cx="91440" cy="91440"/>
              </a:xfrm>
              <a:prstGeom prst="ellipse">
                <a:avLst/>
              </a:prstGeom>
              <a:solidFill>
                <a:srgbClr val="1B1D21"/>
              </a:solidFill>
              <a:ln w="9525">
                <a:solidFill>
                  <a:srgbClr val="FFFFFF"/>
                </a:solidFill>
              </a:ln>
            </p:spPr>
            <p:txBody>
              <a:bodyPr rtlCol="0" anchor="ctr"/>
              <a:lstStyle/>
              <a:p>
                <a:pPr algn="ctr"/>
                <a:endParaRPr/>
              </a:p>
            </p:txBody>
          </p:sp>
          <p:sp>
            <p:nvSpPr>
              <p:cNvPr id="106" name="Oval 105"/>
              <p:cNvSpPr/>
              <p:nvPr/>
            </p:nvSpPr>
            <p:spPr>
              <a:xfrm>
                <a:off x="9788652" y="2967228"/>
                <a:ext cx="173736" cy="173736"/>
              </a:xfrm>
              <a:prstGeom prst="ellipse">
                <a:avLst/>
              </a:prstGeom>
              <a:solidFill>
                <a:srgbClr val="3FB950"/>
              </a:solidFill>
              <a:ln w="12700">
                <a:solidFill>
                  <a:srgbClr val="FFFFFF"/>
                </a:solidFill>
              </a:ln>
            </p:spPr>
            <p:txBody>
              <a:bodyPr rtlCol="0" anchor="ctr"/>
              <a:lstStyle/>
              <a:p>
                <a:pPr algn="ctr"/>
                <a:endParaRPr/>
              </a:p>
            </p:txBody>
          </p:sp>
        </p:grpSp>
        <p:sp>
          <p:nvSpPr>
            <p:cNvPr id="107" name="Rod"/>
            <p:cNvSpPr/>
            <p:nvPr/>
          </p:nvSpPr>
          <p:spPr>
            <a:xfrm>
              <a:off x="3108960" y="2286000"/>
              <a:ext cx="6537960" cy="1664208"/>
            </a:xfrm>
            <a:custGeom>
              <a:avLst/>
              <a:gdLst/>
              <a:ahLst/>
              <a:cxnLst/>
              <a:rect l="l" t="t" r="r" b="b"/>
              <a:pathLst>
                <a:path w="6537960" h="1664208">
                  <a:moveTo>
                    <a:pt x="0" y="0"/>
                  </a:moveTo>
                  <a:lnTo>
                    <a:pt x="6537960" y="0"/>
                  </a:lnTo>
                  <a:lnTo>
                    <a:pt x="6537960" y="1664208"/>
                  </a:lnTo>
                </a:path>
              </a:pathLst>
            </a:custGeom>
            <a:noFill/>
            <a:ln w="28575">
              <a:solidFill>
                <a:srgbClr val="F28C28"/>
              </a:solidFill>
              <a:prstDash val="dash"/>
            </a:ln>
          </p:spPr>
          <p:txBody>
            <a:bodyPr rtlCol="0" anchor="ctr"/>
            <a:lstStyle/>
            <a:p>
              <a:pPr algn="ctr"/>
              <a:endParaRPr/>
            </a:p>
          </p:txBody>
        </p:sp>
        <p:sp>
          <p:nvSpPr>
            <p:cNvPr id="108" name="Counterweight"/>
            <p:cNvSpPr/>
            <p:nvPr/>
          </p:nvSpPr>
          <p:spPr>
            <a:xfrm>
              <a:off x="9573768" y="3785616"/>
              <a:ext cx="146304" cy="146304"/>
            </a:xfrm>
            <a:prstGeom prst="rect">
              <a:avLst/>
            </a:prstGeom>
            <a:solidFill>
              <a:srgbClr val="9AA0A6"/>
            </a:solidFill>
            <a:ln w="9525">
              <a:solidFill>
                <a:srgbClr val="FFFFFF"/>
              </a:solidFill>
            </a:ln>
          </p:spPr>
          <p:txBody>
            <a:bodyPr rtlCol="0" anchor="ctr"/>
            <a:lstStyle/>
            <a:p>
              <a:pPr algn="ctr"/>
              <a:endParaRPr/>
            </a:p>
          </p:txBody>
        </p:sp>
        <p:sp>
          <p:nvSpPr>
            <p:cNvPr id="109" name="Rounded Rectangle 108"/>
            <p:cNvSpPr/>
            <p:nvPr/>
          </p:nvSpPr>
          <p:spPr>
            <a:xfrm>
              <a:off x="548640" y="4892040"/>
              <a:ext cx="2651760" cy="777240"/>
            </a:xfrm>
            <a:prstGeom prst="roundRect">
              <a:avLst>
                <a:gd name="adj" fmla="val 9411"/>
              </a:avLst>
            </a:prstGeom>
            <a:solidFill>
              <a:srgbClr val="2B2F36"/>
            </a:solidFill>
            <a:ln w="12700">
              <a:solidFill>
                <a:srgbClr val="4A515B"/>
              </a:solidFill>
            </a:ln>
          </p:spPr>
          <p:txBody>
            <a:bodyPr rtlCol="0" anchor="ctr"/>
            <a:lstStyle/>
            <a:p>
              <a:pPr algn="ctr"/>
              <a:endParaRPr/>
            </a:p>
          </p:txBody>
        </p:sp>
        <p:sp>
          <p:nvSpPr>
            <p:cNvPr id="110" name="Oval 109"/>
            <p:cNvSpPr/>
            <p:nvPr/>
          </p:nvSpPr>
          <p:spPr>
            <a:xfrm>
              <a:off x="658368" y="5088636"/>
              <a:ext cx="384048" cy="384048"/>
            </a:xfrm>
            <a:prstGeom prst="ellipse">
              <a:avLst/>
            </a:prstGeom>
            <a:solidFill>
              <a:srgbClr val="F28C28"/>
            </a:solidFill>
            <a:ln>
              <a:noFill/>
            </a:ln>
          </p:spPr>
          <p:txBody>
            <a:bodyPr rtlCol="0" anchor="ctr"/>
            <a:lstStyle/>
            <a:p>
              <a:pPr algn="ctr"/>
              <a:endParaRPr/>
            </a:p>
          </p:txBody>
        </p:sp>
        <p:sp>
          <p:nvSpPr>
            <p:cNvPr id="111" name="Step number"/>
            <p:cNvSpPr txBox="1"/>
            <p:nvPr/>
          </p:nvSpPr>
          <p:spPr>
            <a:xfrm>
              <a:off x="658368" y="5088636"/>
              <a:ext cx="384048" cy="384048"/>
            </a:xfrm>
            <a:prstGeom prst="rect">
              <a:avLst/>
            </a:prstGeom>
            <a:noFill/>
          </p:spPr>
          <p:txBody>
            <a:bodyPr wrap="square" lIns="0" tIns="0" rIns="0" bIns="0" anchor="ctr">
              <a:noAutofit/>
            </a:bodyPr>
            <a:lstStyle/>
            <a:p>
              <a:pPr algn="ctr"/>
              <a:r>
                <a:rPr lang="en-GB" sz="1600" b="1" i="0">
                  <a:solidFill>
                    <a:srgbClr val="101418"/>
                  </a:solidFill>
                  <a:latin typeface="Arial"/>
                </a:rPr>
                <a:t>1</a:t>
              </a:r>
            </a:p>
          </p:txBody>
        </p:sp>
        <p:sp>
          <p:nvSpPr>
            <p:cNvPr id="112" name="Step text"/>
            <p:cNvSpPr txBox="1"/>
            <p:nvPr/>
          </p:nvSpPr>
          <p:spPr>
            <a:xfrm>
              <a:off x="1115568" y="4892040"/>
              <a:ext cx="2011680" cy="777240"/>
            </a:xfrm>
            <a:prstGeom prst="rect">
              <a:avLst/>
            </a:prstGeom>
            <a:noFill/>
          </p:spPr>
          <p:txBody>
            <a:bodyPr wrap="square" lIns="18288" tIns="18288" rIns="18288" bIns="18288" anchor="ctr">
              <a:noAutofit/>
            </a:bodyPr>
            <a:lstStyle/>
            <a:p>
              <a:pPr algn="l"/>
              <a:r>
                <a:rPr lang="en-GB" sz="1400" b="1" i="0">
                  <a:solidFill>
                    <a:srgbClr val="F2F2F2"/>
                  </a:solidFill>
                  <a:latin typeface="Arial"/>
                </a:rPr>
                <a:t>Train is in the block.</a:t>
              </a:r>
            </a:p>
          </p:txBody>
        </p:sp>
        <p:sp>
          <p:nvSpPr>
            <p:cNvPr id="113" name="Rounded Rectangle 112"/>
            <p:cNvSpPr/>
            <p:nvPr/>
          </p:nvSpPr>
          <p:spPr>
            <a:xfrm>
              <a:off x="3362249" y="4892040"/>
              <a:ext cx="2651760" cy="777240"/>
            </a:xfrm>
            <a:prstGeom prst="roundRect">
              <a:avLst>
                <a:gd name="adj" fmla="val 9411"/>
              </a:avLst>
            </a:prstGeom>
            <a:solidFill>
              <a:srgbClr val="2B2F36"/>
            </a:solidFill>
            <a:ln w="12700">
              <a:solidFill>
                <a:srgbClr val="4A515B"/>
              </a:solidFill>
            </a:ln>
          </p:spPr>
          <p:txBody>
            <a:bodyPr rtlCol="0" anchor="ctr"/>
            <a:lstStyle/>
            <a:p>
              <a:pPr algn="ctr"/>
              <a:endParaRPr/>
            </a:p>
          </p:txBody>
        </p:sp>
        <p:sp>
          <p:nvSpPr>
            <p:cNvPr id="114" name="Oval 113"/>
            <p:cNvSpPr/>
            <p:nvPr/>
          </p:nvSpPr>
          <p:spPr>
            <a:xfrm>
              <a:off x="3471977" y="5088636"/>
              <a:ext cx="384048" cy="384048"/>
            </a:xfrm>
            <a:prstGeom prst="ellipse">
              <a:avLst/>
            </a:prstGeom>
            <a:solidFill>
              <a:srgbClr val="F28C28"/>
            </a:solidFill>
            <a:ln>
              <a:noFill/>
            </a:ln>
          </p:spPr>
          <p:txBody>
            <a:bodyPr rtlCol="0" anchor="ctr"/>
            <a:lstStyle/>
            <a:p>
              <a:pPr algn="ctr"/>
              <a:endParaRPr/>
            </a:p>
          </p:txBody>
        </p:sp>
        <p:sp>
          <p:nvSpPr>
            <p:cNvPr id="115" name="Step number"/>
            <p:cNvSpPr txBox="1"/>
            <p:nvPr/>
          </p:nvSpPr>
          <p:spPr>
            <a:xfrm>
              <a:off x="3471977" y="5088636"/>
              <a:ext cx="384048" cy="384048"/>
            </a:xfrm>
            <a:prstGeom prst="rect">
              <a:avLst/>
            </a:prstGeom>
            <a:noFill/>
          </p:spPr>
          <p:txBody>
            <a:bodyPr wrap="square" lIns="0" tIns="0" rIns="0" bIns="0" anchor="ctr">
              <a:noAutofit/>
            </a:bodyPr>
            <a:lstStyle/>
            <a:p>
              <a:pPr algn="ctr"/>
              <a:r>
                <a:rPr lang="en-GB" sz="1600" b="1" i="0">
                  <a:solidFill>
                    <a:srgbClr val="101418"/>
                  </a:solidFill>
                  <a:latin typeface="Arial"/>
                </a:rPr>
                <a:t>2</a:t>
              </a:r>
            </a:p>
          </p:txBody>
        </p:sp>
        <p:sp>
          <p:nvSpPr>
            <p:cNvPr id="116" name="Step text"/>
            <p:cNvSpPr txBox="1"/>
            <p:nvPr/>
          </p:nvSpPr>
          <p:spPr>
            <a:xfrm>
              <a:off x="3929177" y="4892040"/>
              <a:ext cx="2011680" cy="777240"/>
            </a:xfrm>
            <a:prstGeom prst="rect">
              <a:avLst/>
            </a:prstGeom>
            <a:noFill/>
          </p:spPr>
          <p:txBody>
            <a:bodyPr wrap="square" lIns="18288" tIns="18288" rIns="18288" bIns="18288" anchor="ctr">
              <a:noAutofit/>
            </a:bodyPr>
            <a:lstStyle/>
            <a:p>
              <a:pPr algn="l"/>
              <a:r>
                <a:rPr lang="en-GB" sz="1400" b="1" i="0">
                  <a:solidFill>
                    <a:srgbClr val="F2F2F2"/>
                  </a:solidFill>
                  <a:latin typeface="Arial"/>
                </a:rPr>
                <a:t>Signaller keeps the signal at stop.</a:t>
              </a:r>
            </a:p>
          </p:txBody>
        </p:sp>
        <p:sp>
          <p:nvSpPr>
            <p:cNvPr id="117" name="Rounded Rectangle 116"/>
            <p:cNvSpPr/>
            <p:nvPr/>
          </p:nvSpPr>
          <p:spPr>
            <a:xfrm>
              <a:off x="6175858" y="4892040"/>
              <a:ext cx="2651760" cy="777240"/>
            </a:xfrm>
            <a:prstGeom prst="roundRect">
              <a:avLst>
                <a:gd name="adj" fmla="val 9411"/>
              </a:avLst>
            </a:prstGeom>
            <a:solidFill>
              <a:srgbClr val="2B2F36"/>
            </a:solidFill>
            <a:ln w="12700">
              <a:solidFill>
                <a:srgbClr val="4A515B"/>
              </a:solidFill>
            </a:ln>
          </p:spPr>
          <p:txBody>
            <a:bodyPr rtlCol="0" anchor="ctr"/>
            <a:lstStyle/>
            <a:p>
              <a:pPr algn="ctr"/>
              <a:endParaRPr/>
            </a:p>
          </p:txBody>
        </p:sp>
        <p:sp>
          <p:nvSpPr>
            <p:cNvPr id="118" name="Oval 117"/>
            <p:cNvSpPr/>
            <p:nvPr/>
          </p:nvSpPr>
          <p:spPr>
            <a:xfrm>
              <a:off x="6285586" y="5088636"/>
              <a:ext cx="384048" cy="384048"/>
            </a:xfrm>
            <a:prstGeom prst="ellipse">
              <a:avLst/>
            </a:prstGeom>
            <a:solidFill>
              <a:srgbClr val="F28C28"/>
            </a:solidFill>
            <a:ln>
              <a:noFill/>
            </a:ln>
          </p:spPr>
          <p:txBody>
            <a:bodyPr rtlCol="0" anchor="ctr"/>
            <a:lstStyle/>
            <a:p>
              <a:pPr algn="ctr"/>
              <a:endParaRPr/>
            </a:p>
          </p:txBody>
        </p:sp>
        <p:sp>
          <p:nvSpPr>
            <p:cNvPr id="119" name="Step number"/>
            <p:cNvSpPr txBox="1"/>
            <p:nvPr/>
          </p:nvSpPr>
          <p:spPr>
            <a:xfrm>
              <a:off x="6285586" y="5088636"/>
              <a:ext cx="384048" cy="384048"/>
            </a:xfrm>
            <a:prstGeom prst="rect">
              <a:avLst/>
            </a:prstGeom>
            <a:noFill/>
          </p:spPr>
          <p:txBody>
            <a:bodyPr wrap="square" lIns="0" tIns="0" rIns="0" bIns="0" anchor="ctr">
              <a:noAutofit/>
            </a:bodyPr>
            <a:lstStyle/>
            <a:p>
              <a:pPr algn="ctr"/>
              <a:r>
                <a:rPr lang="en-GB" sz="1600" b="1" i="0">
                  <a:solidFill>
                    <a:srgbClr val="101418"/>
                  </a:solidFill>
                  <a:latin typeface="Arial"/>
                </a:rPr>
                <a:t>3</a:t>
              </a:r>
            </a:p>
          </p:txBody>
        </p:sp>
        <p:sp>
          <p:nvSpPr>
            <p:cNvPr id="120" name="Step text"/>
            <p:cNvSpPr txBox="1"/>
            <p:nvPr/>
          </p:nvSpPr>
          <p:spPr>
            <a:xfrm>
              <a:off x="6742786" y="4892040"/>
              <a:ext cx="2011680" cy="777240"/>
            </a:xfrm>
            <a:prstGeom prst="rect">
              <a:avLst/>
            </a:prstGeom>
            <a:noFill/>
          </p:spPr>
          <p:txBody>
            <a:bodyPr wrap="square" lIns="18288" tIns="18288" rIns="18288" bIns="18288" anchor="ctr">
              <a:noAutofit/>
            </a:bodyPr>
            <a:lstStyle/>
            <a:p>
              <a:pPr algn="l"/>
              <a:r>
                <a:rPr lang="en-GB" sz="1400" b="1" i="0">
                  <a:solidFill>
                    <a:srgbClr val="F2F2F2"/>
                  </a:solidFill>
                  <a:latin typeface="Arial"/>
                </a:rPr>
                <a:t>Train leaves; the block is free.</a:t>
              </a:r>
            </a:p>
          </p:txBody>
        </p:sp>
        <p:sp>
          <p:nvSpPr>
            <p:cNvPr id="121" name="Rounded Rectangle 120"/>
            <p:cNvSpPr/>
            <p:nvPr/>
          </p:nvSpPr>
          <p:spPr>
            <a:xfrm>
              <a:off x="8989466" y="4892040"/>
              <a:ext cx="2651760" cy="777240"/>
            </a:xfrm>
            <a:prstGeom prst="roundRect">
              <a:avLst>
                <a:gd name="adj" fmla="val 9411"/>
              </a:avLst>
            </a:prstGeom>
            <a:solidFill>
              <a:srgbClr val="2B2F36"/>
            </a:solidFill>
            <a:ln w="12700">
              <a:solidFill>
                <a:srgbClr val="4A515B"/>
              </a:solidFill>
            </a:ln>
          </p:spPr>
          <p:txBody>
            <a:bodyPr rtlCol="0" anchor="ctr"/>
            <a:lstStyle/>
            <a:p>
              <a:pPr algn="ctr"/>
              <a:endParaRPr/>
            </a:p>
          </p:txBody>
        </p:sp>
        <p:sp>
          <p:nvSpPr>
            <p:cNvPr id="122" name="Oval 121"/>
            <p:cNvSpPr/>
            <p:nvPr/>
          </p:nvSpPr>
          <p:spPr>
            <a:xfrm>
              <a:off x="9099194" y="5088636"/>
              <a:ext cx="384048" cy="384048"/>
            </a:xfrm>
            <a:prstGeom prst="ellipse">
              <a:avLst/>
            </a:prstGeom>
            <a:solidFill>
              <a:srgbClr val="F28C28"/>
            </a:solidFill>
            <a:ln>
              <a:noFill/>
            </a:ln>
          </p:spPr>
          <p:txBody>
            <a:bodyPr rtlCol="0" anchor="ctr"/>
            <a:lstStyle/>
            <a:p>
              <a:pPr algn="ctr"/>
              <a:endParaRPr/>
            </a:p>
          </p:txBody>
        </p:sp>
        <p:sp>
          <p:nvSpPr>
            <p:cNvPr id="123" name="Step number"/>
            <p:cNvSpPr txBox="1"/>
            <p:nvPr/>
          </p:nvSpPr>
          <p:spPr>
            <a:xfrm>
              <a:off x="9099194" y="5088636"/>
              <a:ext cx="384048" cy="384048"/>
            </a:xfrm>
            <a:prstGeom prst="rect">
              <a:avLst/>
            </a:prstGeom>
            <a:noFill/>
          </p:spPr>
          <p:txBody>
            <a:bodyPr wrap="square" lIns="0" tIns="0" rIns="0" bIns="0" anchor="ctr">
              <a:noAutofit/>
            </a:bodyPr>
            <a:lstStyle/>
            <a:p>
              <a:pPr algn="ctr"/>
              <a:r>
                <a:rPr lang="en-GB" sz="1600" b="1" i="0">
                  <a:solidFill>
                    <a:srgbClr val="101418"/>
                  </a:solidFill>
                  <a:latin typeface="Arial"/>
                </a:rPr>
                <a:t>4</a:t>
              </a:r>
            </a:p>
          </p:txBody>
        </p:sp>
        <p:sp>
          <p:nvSpPr>
            <p:cNvPr id="124" name="Step text"/>
            <p:cNvSpPr txBox="1"/>
            <p:nvPr/>
          </p:nvSpPr>
          <p:spPr>
            <a:xfrm>
              <a:off x="9556394" y="4892040"/>
              <a:ext cx="2011680" cy="777240"/>
            </a:xfrm>
            <a:prstGeom prst="rect">
              <a:avLst/>
            </a:prstGeom>
            <a:noFill/>
          </p:spPr>
          <p:txBody>
            <a:bodyPr wrap="square" lIns="18288" tIns="18288" rIns="18288" bIns="18288" anchor="ctr">
              <a:noAutofit/>
            </a:bodyPr>
            <a:lstStyle/>
            <a:p>
              <a:pPr algn="l"/>
              <a:r>
                <a:rPr lang="en-GB" sz="1400" b="1" i="0">
                  <a:solidFill>
                    <a:srgbClr val="F2F2F2"/>
                  </a:solidFill>
                  <a:latin typeface="Arial"/>
                </a:rPr>
                <a:t>Signaller pulls the lever; the arm lifts.</a:t>
              </a:r>
            </a:p>
          </p:txBody>
        </p:sp>
      </p:grpSp>
      <p:sp>
        <p:nvSpPr>
          <p:cNvPr id="125"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The signaller watches the blocks, sets the signals and keeps trains apart.</a:t>
            </a:r>
          </a:p>
        </p:txBody>
      </p:sp>
      <p:sp>
        <p:nvSpPr>
          <p:cNvPr id="126"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127"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14</a:t>
            </a:r>
          </a:p>
        </p:txBody>
      </p:sp>
    </p:spTree>
    <p:extLst>
      <p:ext uri="{BB962C8B-B14F-4D97-AF65-F5344CB8AC3E}">
        <p14:creationId xmlns:p14="http://schemas.microsoft.com/office/powerpoint/2010/main" val="12274478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25"/>
                                        </p:tgtEl>
                                        <p:attrNameLst>
                                          <p:attrName>style.visibility</p:attrName>
                                        </p:attrNameLst>
                                      </p:cBhvr>
                                      <p:to>
                                        <p:strVal val="visible"/>
                                      </p:to>
                                    </p:set>
                                    <p:animEffect transition="in" filter="fade">
                                      <p:cBhvr>
                                        <p:cTn id="10" dur="500"/>
                                        <p:tgtEl>
                                          <p:spTgt spid="125"/>
                                        </p:tgtEl>
                                      </p:cBhvr>
                                    </p:animEffect>
                                  </p:childTnLst>
                                </p:cTn>
                              </p:par>
                              <p:par>
                                <p:cTn id="11" presetID="10" presetClass="entr" presetSubtype="0" fill="hold" nodeType="withEffect">
                                  <p:stCondLst>
                                    <p:cond delay="600"/>
                                  </p:stCondLst>
                                  <p:childTnLst>
                                    <p:set>
                                      <p:cBhvr>
                                        <p:cTn id="12" dur="1" fill="hold">
                                          <p:stCondLst>
                                            <p:cond delay="0"/>
                                          </p:stCondLst>
                                        </p:cTn>
                                        <p:tgtEl>
                                          <p:spTgt spid="126"/>
                                        </p:tgtEl>
                                        <p:attrNameLst>
                                          <p:attrName>style.visibility</p:attrName>
                                        </p:attrNameLst>
                                      </p:cBhvr>
                                      <p:to>
                                        <p:strVal val="visible"/>
                                      </p:to>
                                    </p:set>
                                    <p:animEffect transition="in" filter="fade">
                                      <p:cBhvr>
                                        <p:cTn id="13"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In the mod: blocks and semaphores</a:t>
            </a:r>
          </a:p>
        </p:txBody>
      </p:sp>
      <p:sp>
        <p:nvSpPr>
          <p:cNvPr id="3" name="Chip: Agreed" descr="Status tag: Agreed"/>
          <p:cNvSpPr/>
          <p:nvPr/>
        </p:nvSpPr>
        <p:spPr>
          <a:xfrm>
            <a:off x="10104120" y="457200"/>
            <a:ext cx="1508760" cy="365760"/>
          </a:xfrm>
          <a:prstGeom prst="roundRect">
            <a:avLst>
              <a:gd name="adj" fmla="val 20000"/>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grpSp>
        <p:nvGrpSpPr>
          <p:cNvPr id="4" name="Blocks and semaphores in the mod" descr="A track with three blocks and three small mechanical semaphores. A train sits in the middle block, which is occupied; the signal before it shows stop."/>
          <p:cNvGrpSpPr/>
          <p:nvPr/>
        </p:nvGrpSpPr>
        <p:grpSpPr>
          <a:xfrm>
            <a:off x="411480" y="1280160"/>
            <a:ext cx="11018520" cy="3749040"/>
            <a:chOff x="411480" y="1280160"/>
            <a:chExt cx="11018520" cy="3749040"/>
          </a:xfrm>
        </p:grpSpPr>
        <p:grpSp>
          <p:nvGrpSpPr>
            <p:cNvPr id="5" name="Track" descr="Two rails on sleepers."/>
            <p:cNvGrpSpPr/>
            <p:nvPr/>
          </p:nvGrpSpPr>
          <p:grpSpPr>
            <a:xfrm>
              <a:off x="731520" y="3785616"/>
              <a:ext cx="10698480" cy="365760"/>
              <a:chOff x="731520" y="3785616"/>
              <a:chExt cx="10698480" cy="365760"/>
            </a:xfrm>
          </p:grpSpPr>
          <p:sp>
            <p:nvSpPr>
              <p:cNvPr id="6" name="Rectangle 5"/>
              <p:cNvSpPr/>
              <p:nvPr/>
            </p:nvSpPr>
            <p:spPr>
              <a:xfrm>
                <a:off x="932688" y="3785616"/>
                <a:ext cx="54864" cy="365760"/>
              </a:xfrm>
              <a:prstGeom prst="rect">
                <a:avLst/>
              </a:prstGeom>
              <a:solidFill>
                <a:srgbClr val="6B5B4B"/>
              </a:solidFill>
              <a:ln>
                <a:noFill/>
              </a:ln>
            </p:spPr>
            <p:txBody>
              <a:bodyPr rtlCol="0" anchor="ctr"/>
              <a:lstStyle/>
              <a:p>
                <a:pPr algn="ctr"/>
                <a:endParaRPr/>
              </a:p>
            </p:txBody>
          </p:sp>
          <p:sp>
            <p:nvSpPr>
              <p:cNvPr id="7" name="Rectangle 6"/>
              <p:cNvSpPr/>
              <p:nvPr/>
            </p:nvSpPr>
            <p:spPr>
              <a:xfrm>
                <a:off x="1252728" y="3785616"/>
                <a:ext cx="54864" cy="365760"/>
              </a:xfrm>
              <a:prstGeom prst="rect">
                <a:avLst/>
              </a:prstGeom>
              <a:solidFill>
                <a:srgbClr val="6B5B4B"/>
              </a:solidFill>
              <a:ln>
                <a:noFill/>
              </a:ln>
            </p:spPr>
            <p:txBody>
              <a:bodyPr rtlCol="0" anchor="ctr"/>
              <a:lstStyle/>
              <a:p>
                <a:pPr algn="ctr"/>
                <a:endParaRPr/>
              </a:p>
            </p:txBody>
          </p:sp>
          <p:sp>
            <p:nvSpPr>
              <p:cNvPr id="8" name="Rectangle 7"/>
              <p:cNvSpPr/>
              <p:nvPr/>
            </p:nvSpPr>
            <p:spPr>
              <a:xfrm>
                <a:off x="1572768" y="3785616"/>
                <a:ext cx="54864" cy="365760"/>
              </a:xfrm>
              <a:prstGeom prst="rect">
                <a:avLst/>
              </a:prstGeom>
              <a:solidFill>
                <a:srgbClr val="6B5B4B"/>
              </a:solidFill>
              <a:ln>
                <a:noFill/>
              </a:ln>
            </p:spPr>
            <p:txBody>
              <a:bodyPr rtlCol="0" anchor="ctr"/>
              <a:lstStyle/>
              <a:p>
                <a:pPr algn="ctr"/>
                <a:endParaRPr/>
              </a:p>
            </p:txBody>
          </p:sp>
          <p:sp>
            <p:nvSpPr>
              <p:cNvPr id="9" name="Rectangle 8"/>
              <p:cNvSpPr/>
              <p:nvPr/>
            </p:nvSpPr>
            <p:spPr>
              <a:xfrm>
                <a:off x="1892808" y="3785616"/>
                <a:ext cx="54864" cy="365760"/>
              </a:xfrm>
              <a:prstGeom prst="rect">
                <a:avLst/>
              </a:prstGeom>
              <a:solidFill>
                <a:srgbClr val="6B5B4B"/>
              </a:solidFill>
              <a:ln>
                <a:noFill/>
              </a:ln>
            </p:spPr>
            <p:txBody>
              <a:bodyPr rtlCol="0" anchor="ctr"/>
              <a:lstStyle/>
              <a:p>
                <a:pPr algn="ctr"/>
                <a:endParaRPr/>
              </a:p>
            </p:txBody>
          </p:sp>
          <p:sp>
            <p:nvSpPr>
              <p:cNvPr id="10" name="Rectangle 9"/>
              <p:cNvSpPr/>
              <p:nvPr/>
            </p:nvSpPr>
            <p:spPr>
              <a:xfrm>
                <a:off x="2212848" y="3785616"/>
                <a:ext cx="54864" cy="365760"/>
              </a:xfrm>
              <a:prstGeom prst="rect">
                <a:avLst/>
              </a:prstGeom>
              <a:solidFill>
                <a:srgbClr val="6B5B4B"/>
              </a:solidFill>
              <a:ln>
                <a:noFill/>
              </a:ln>
            </p:spPr>
            <p:txBody>
              <a:bodyPr rtlCol="0" anchor="ctr"/>
              <a:lstStyle/>
              <a:p>
                <a:pPr algn="ctr"/>
                <a:endParaRPr/>
              </a:p>
            </p:txBody>
          </p:sp>
          <p:sp>
            <p:nvSpPr>
              <p:cNvPr id="11" name="Rectangle 10"/>
              <p:cNvSpPr/>
              <p:nvPr/>
            </p:nvSpPr>
            <p:spPr>
              <a:xfrm>
                <a:off x="2532888" y="3785616"/>
                <a:ext cx="54864" cy="365760"/>
              </a:xfrm>
              <a:prstGeom prst="rect">
                <a:avLst/>
              </a:prstGeom>
              <a:solidFill>
                <a:srgbClr val="6B5B4B"/>
              </a:solidFill>
              <a:ln>
                <a:noFill/>
              </a:ln>
            </p:spPr>
            <p:txBody>
              <a:bodyPr rtlCol="0" anchor="ctr"/>
              <a:lstStyle/>
              <a:p>
                <a:pPr algn="ctr"/>
                <a:endParaRPr/>
              </a:p>
            </p:txBody>
          </p:sp>
          <p:sp>
            <p:nvSpPr>
              <p:cNvPr id="12" name="Rectangle 11"/>
              <p:cNvSpPr/>
              <p:nvPr/>
            </p:nvSpPr>
            <p:spPr>
              <a:xfrm>
                <a:off x="2852928" y="3785616"/>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3172968" y="3785616"/>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3493008" y="3785616"/>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3813048" y="3785616"/>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4133088" y="3785616"/>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4453128" y="3785616"/>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4773168" y="378561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5093208" y="378561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5413248" y="378561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5733288" y="378561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6053328" y="3785616"/>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6373368" y="3785616"/>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6693408" y="3785616"/>
                <a:ext cx="54864" cy="365760"/>
              </a:xfrm>
              <a:prstGeom prst="rect">
                <a:avLst/>
              </a:prstGeom>
              <a:solidFill>
                <a:srgbClr val="6B5B4B"/>
              </a:solidFill>
              <a:ln>
                <a:noFill/>
              </a:ln>
            </p:spPr>
            <p:txBody>
              <a:bodyPr rtlCol="0" anchor="ctr"/>
              <a:lstStyle/>
              <a:p>
                <a:pPr algn="ctr"/>
                <a:endParaRPr/>
              </a:p>
            </p:txBody>
          </p:sp>
          <p:sp>
            <p:nvSpPr>
              <p:cNvPr id="25" name="Rectangle 24"/>
              <p:cNvSpPr/>
              <p:nvPr/>
            </p:nvSpPr>
            <p:spPr>
              <a:xfrm>
                <a:off x="7013448" y="3785616"/>
                <a:ext cx="54864" cy="365760"/>
              </a:xfrm>
              <a:prstGeom prst="rect">
                <a:avLst/>
              </a:prstGeom>
              <a:solidFill>
                <a:srgbClr val="6B5B4B"/>
              </a:solidFill>
              <a:ln>
                <a:noFill/>
              </a:ln>
            </p:spPr>
            <p:txBody>
              <a:bodyPr rtlCol="0" anchor="ctr"/>
              <a:lstStyle/>
              <a:p>
                <a:pPr algn="ctr"/>
                <a:endParaRPr/>
              </a:p>
            </p:txBody>
          </p:sp>
          <p:sp>
            <p:nvSpPr>
              <p:cNvPr id="26" name="Rectangle 25"/>
              <p:cNvSpPr/>
              <p:nvPr/>
            </p:nvSpPr>
            <p:spPr>
              <a:xfrm>
                <a:off x="7333488" y="3785616"/>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7653528" y="3785616"/>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7973568" y="3785616"/>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8293608" y="3785616"/>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8613648" y="3785616"/>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8933688" y="378561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9253728" y="378561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9573768" y="378561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9893808" y="378561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10213848" y="378561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10533888" y="378561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10853928" y="378561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11173968" y="378561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731520" y="3840480"/>
                <a:ext cx="10698480" cy="54864"/>
              </a:xfrm>
              <a:prstGeom prst="rect">
                <a:avLst/>
              </a:prstGeom>
              <a:solidFill>
                <a:srgbClr val="9AA0A6"/>
              </a:solidFill>
              <a:ln>
                <a:noFill/>
              </a:ln>
            </p:spPr>
            <p:txBody>
              <a:bodyPr rtlCol="0" anchor="ctr"/>
              <a:lstStyle/>
              <a:p>
                <a:pPr algn="ctr"/>
                <a:endParaRPr/>
              </a:p>
            </p:txBody>
          </p:sp>
          <p:sp>
            <p:nvSpPr>
              <p:cNvPr id="40" name="Rectangle 39"/>
              <p:cNvSpPr/>
              <p:nvPr/>
            </p:nvSpPr>
            <p:spPr>
              <a:xfrm>
                <a:off x="731520" y="4096512"/>
                <a:ext cx="10698480" cy="54864"/>
              </a:xfrm>
              <a:prstGeom prst="rect">
                <a:avLst/>
              </a:prstGeom>
              <a:solidFill>
                <a:srgbClr val="9AA0A6"/>
              </a:solidFill>
              <a:ln>
                <a:noFill/>
              </a:ln>
            </p:spPr>
            <p:txBody>
              <a:bodyPr rtlCol="0" anchor="ctr"/>
              <a:lstStyle/>
              <a:p>
                <a:pPr algn="ctr"/>
                <a:endParaRPr/>
              </a:p>
            </p:txBody>
          </p:sp>
        </p:grpSp>
        <p:sp>
          <p:nvSpPr>
            <p:cNvPr id="41" name="Block band (free)"/>
            <p:cNvSpPr/>
            <p:nvPr/>
          </p:nvSpPr>
          <p:spPr>
            <a:xfrm>
              <a:off x="768096" y="4526280"/>
              <a:ext cx="349300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800" b="1" i="0">
                  <a:solidFill>
                    <a:srgbClr val="F2F2F2"/>
                  </a:solidFill>
                  <a:latin typeface="Arial"/>
                </a:rPr>
                <a:t>Free</a:t>
              </a:r>
            </a:p>
          </p:txBody>
        </p:sp>
        <p:sp>
          <p:nvSpPr>
            <p:cNvPr id="42" name="Block band (occupied)"/>
            <p:cNvSpPr/>
            <p:nvPr/>
          </p:nvSpPr>
          <p:spPr>
            <a:xfrm>
              <a:off x="4334256" y="4526280"/>
              <a:ext cx="3493008" cy="365760"/>
            </a:xfrm>
            <a:prstGeom prst="rect">
              <a:avLst/>
            </a:prstGeom>
            <a:solidFill>
              <a:srgbClr val="E5484D">
                <a:alpha val="25000"/>
              </a:srgbClr>
            </a:solidFill>
            <a:ln w="12700">
              <a:solidFill>
                <a:srgbClr val="E5484D"/>
              </a:solidFill>
            </a:ln>
          </p:spPr>
          <p:txBody>
            <a:bodyPr wrap="square" lIns="27432" tIns="0" rIns="27432" bIns="0" rtlCol="0" anchor="ctr">
              <a:noAutofit/>
            </a:bodyPr>
            <a:lstStyle/>
            <a:p>
              <a:pPr algn="ctr"/>
              <a:r>
                <a:rPr lang="en-GB" sz="1800" b="1" i="0">
                  <a:solidFill>
                    <a:srgbClr val="F2F2F2"/>
                  </a:solidFill>
                  <a:latin typeface="Arial"/>
                </a:rPr>
                <a:t>Occupied</a:t>
              </a:r>
            </a:p>
          </p:txBody>
        </p:sp>
        <p:cxnSp>
          <p:nvCxnSpPr>
            <p:cNvPr id="43" name="Connector 42"/>
            <p:cNvCxnSpPr/>
            <p:nvPr/>
          </p:nvCxnSpPr>
          <p:spPr>
            <a:xfrm>
              <a:off x="4297680" y="2926080"/>
              <a:ext cx="0" cy="2103120"/>
            </a:xfrm>
            <a:prstGeom prst="line">
              <a:avLst/>
            </a:prstGeom>
            <a:ln w="19050">
              <a:solidFill>
                <a:srgbClr val="A9B0B8"/>
              </a:solidFill>
              <a:prstDash val="dash"/>
            </a:ln>
          </p:spPr>
        </p:cxnSp>
        <p:sp>
          <p:nvSpPr>
            <p:cNvPr id="44" name="Block band (free)"/>
            <p:cNvSpPr/>
            <p:nvPr/>
          </p:nvSpPr>
          <p:spPr>
            <a:xfrm>
              <a:off x="7900416" y="4526280"/>
              <a:ext cx="3493008" cy="365760"/>
            </a:xfrm>
            <a:prstGeom prst="rect">
              <a:avLst/>
            </a:prstGeom>
            <a:solidFill>
              <a:srgbClr val="3FB950">
                <a:alpha val="25000"/>
              </a:srgbClr>
            </a:solidFill>
            <a:ln w="12700">
              <a:solidFill>
                <a:srgbClr val="3FB950"/>
              </a:solidFill>
            </a:ln>
          </p:spPr>
          <p:txBody>
            <a:bodyPr wrap="square" lIns="27432" tIns="0" rIns="27432" bIns="0" rtlCol="0" anchor="ctr">
              <a:noAutofit/>
            </a:bodyPr>
            <a:lstStyle/>
            <a:p>
              <a:pPr algn="ctr"/>
              <a:r>
                <a:rPr lang="en-GB" sz="1800" b="1" i="0">
                  <a:solidFill>
                    <a:srgbClr val="F2F2F2"/>
                  </a:solidFill>
                  <a:latin typeface="Arial"/>
                </a:rPr>
                <a:t>Free</a:t>
              </a:r>
            </a:p>
          </p:txBody>
        </p:sp>
        <p:cxnSp>
          <p:nvCxnSpPr>
            <p:cNvPr id="45" name="Connector 44"/>
            <p:cNvCxnSpPr/>
            <p:nvPr/>
          </p:nvCxnSpPr>
          <p:spPr>
            <a:xfrm>
              <a:off x="7863840" y="2926080"/>
              <a:ext cx="0" cy="2103120"/>
            </a:xfrm>
            <a:prstGeom prst="line">
              <a:avLst/>
            </a:prstGeom>
            <a:ln w="19050">
              <a:solidFill>
                <a:srgbClr val="A9B0B8"/>
              </a:solidFill>
              <a:prstDash val="dash"/>
            </a:ln>
          </p:spPr>
        </p:cxnSp>
        <p:grpSp>
          <p:nvGrpSpPr>
            <p:cNvPr id="46" name="Train" descr="A steam locomotive with wagons."/>
            <p:cNvGrpSpPr/>
            <p:nvPr/>
          </p:nvGrpSpPr>
          <p:grpSpPr>
            <a:xfrm>
              <a:off x="4754880" y="2935224"/>
              <a:ext cx="2776118" cy="1015899"/>
              <a:chOff x="4754880" y="2935224"/>
              <a:chExt cx="2776118" cy="1015899"/>
            </a:xfrm>
          </p:grpSpPr>
          <p:sp>
            <p:nvSpPr>
              <p:cNvPr id="47" name="Rounded Rectangle 46"/>
              <p:cNvSpPr/>
              <p:nvPr/>
            </p:nvSpPr>
            <p:spPr>
              <a:xfrm>
                <a:off x="4754880" y="3317443"/>
                <a:ext cx="804672" cy="452628"/>
              </a:xfrm>
              <a:prstGeom prst="roundRect">
                <a:avLst>
                  <a:gd name="adj" fmla="val 6060"/>
                </a:avLst>
              </a:prstGeom>
              <a:solidFill>
                <a:srgbClr val="6C7480"/>
              </a:solidFill>
              <a:ln w="12700">
                <a:solidFill>
                  <a:srgbClr val="9AA0A6"/>
                </a:solidFill>
              </a:ln>
            </p:spPr>
            <p:txBody>
              <a:bodyPr rtlCol="0" anchor="ctr"/>
              <a:lstStyle/>
              <a:p>
                <a:pPr algn="ctr"/>
                <a:endParaRPr/>
              </a:p>
            </p:txBody>
          </p:sp>
          <p:sp>
            <p:nvSpPr>
              <p:cNvPr id="48" name="Oval 47"/>
              <p:cNvSpPr/>
              <p:nvPr/>
            </p:nvSpPr>
            <p:spPr>
              <a:xfrm>
                <a:off x="4831324" y="373989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49" name="Oval 48"/>
              <p:cNvSpPr/>
              <p:nvPr/>
            </p:nvSpPr>
            <p:spPr>
              <a:xfrm>
                <a:off x="5281940" y="373989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50" name="Rounded Rectangle 49"/>
              <p:cNvSpPr/>
              <p:nvPr/>
            </p:nvSpPr>
            <p:spPr>
              <a:xfrm>
                <a:off x="5640019" y="3317443"/>
                <a:ext cx="804672" cy="452628"/>
              </a:xfrm>
              <a:prstGeom prst="roundRect">
                <a:avLst>
                  <a:gd name="adj" fmla="val 6060"/>
                </a:avLst>
              </a:prstGeom>
              <a:solidFill>
                <a:srgbClr val="6C7480"/>
              </a:solidFill>
              <a:ln w="12700">
                <a:solidFill>
                  <a:srgbClr val="9AA0A6"/>
                </a:solidFill>
              </a:ln>
            </p:spPr>
            <p:txBody>
              <a:bodyPr rtlCol="0" anchor="ctr"/>
              <a:lstStyle/>
              <a:p>
                <a:pPr algn="ctr"/>
                <a:endParaRPr/>
              </a:p>
            </p:txBody>
          </p:sp>
          <p:sp>
            <p:nvSpPr>
              <p:cNvPr id="51" name="Oval 50"/>
              <p:cNvSpPr/>
              <p:nvPr/>
            </p:nvSpPr>
            <p:spPr>
              <a:xfrm>
                <a:off x="5716463" y="373989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52" name="Oval 51"/>
              <p:cNvSpPr/>
              <p:nvPr/>
            </p:nvSpPr>
            <p:spPr>
              <a:xfrm>
                <a:off x="6167079" y="3739896"/>
                <a:ext cx="201168" cy="201168"/>
              </a:xfrm>
              <a:prstGeom prst="ellipse">
                <a:avLst/>
              </a:prstGeom>
              <a:solidFill>
                <a:srgbClr val="1B1D21"/>
              </a:solidFill>
              <a:ln w="12700">
                <a:solidFill>
                  <a:srgbClr val="9AA0A6"/>
                </a:solidFill>
              </a:ln>
            </p:spPr>
            <p:txBody>
              <a:bodyPr rtlCol="0" anchor="ctr"/>
              <a:lstStyle/>
              <a:p>
                <a:pPr algn="ctr"/>
                <a:endParaRPr/>
              </a:p>
            </p:txBody>
          </p:sp>
          <p:sp>
            <p:nvSpPr>
              <p:cNvPr id="53" name="Rounded Rectangle 52"/>
              <p:cNvSpPr/>
              <p:nvPr/>
            </p:nvSpPr>
            <p:spPr>
              <a:xfrm>
                <a:off x="6525158" y="3216859"/>
                <a:ext cx="1005840" cy="553212"/>
              </a:xfrm>
              <a:prstGeom prst="roundRect">
                <a:avLst>
                  <a:gd name="adj" fmla="val 13223"/>
                </a:avLst>
              </a:prstGeom>
              <a:solidFill>
                <a:srgbClr val="F28C28"/>
              </a:solidFill>
              <a:ln>
                <a:noFill/>
              </a:ln>
            </p:spPr>
            <p:txBody>
              <a:bodyPr rtlCol="0" anchor="ctr"/>
              <a:lstStyle/>
              <a:p>
                <a:pPr algn="ctr"/>
                <a:endParaRPr/>
              </a:p>
            </p:txBody>
          </p:sp>
          <p:sp>
            <p:nvSpPr>
              <p:cNvPr id="54" name="Rectangle 53"/>
              <p:cNvSpPr/>
              <p:nvPr/>
            </p:nvSpPr>
            <p:spPr>
              <a:xfrm>
                <a:off x="7229246" y="2935224"/>
                <a:ext cx="150876" cy="301752"/>
              </a:xfrm>
              <a:prstGeom prst="rect">
                <a:avLst/>
              </a:prstGeom>
              <a:solidFill>
                <a:srgbClr val="1B1D21"/>
              </a:solidFill>
              <a:ln w="12700">
                <a:solidFill>
                  <a:srgbClr val="6B7078"/>
                </a:solidFill>
              </a:ln>
            </p:spPr>
            <p:txBody>
              <a:bodyPr rtlCol="0" anchor="ctr"/>
              <a:lstStyle/>
              <a:p>
                <a:pPr algn="ctr"/>
                <a:endParaRPr/>
              </a:p>
            </p:txBody>
          </p:sp>
          <p:sp>
            <p:nvSpPr>
              <p:cNvPr id="55" name="Rectangle 54"/>
              <p:cNvSpPr/>
              <p:nvPr/>
            </p:nvSpPr>
            <p:spPr>
              <a:xfrm>
                <a:off x="6575450" y="3236976"/>
                <a:ext cx="281635" cy="301752"/>
              </a:xfrm>
              <a:prstGeom prst="rect">
                <a:avLst/>
              </a:prstGeom>
              <a:solidFill>
                <a:srgbClr val="1B1D21"/>
              </a:solidFill>
              <a:ln w="12700">
                <a:solidFill>
                  <a:srgbClr val="6B7078"/>
                </a:solidFill>
              </a:ln>
            </p:spPr>
            <p:txBody>
              <a:bodyPr rtlCol="0" anchor="ctr"/>
              <a:lstStyle/>
              <a:p>
                <a:pPr algn="ctr"/>
                <a:endParaRPr/>
              </a:p>
            </p:txBody>
          </p:sp>
          <p:sp>
            <p:nvSpPr>
              <p:cNvPr id="56" name="Oval 55"/>
              <p:cNvSpPr/>
              <p:nvPr/>
            </p:nvSpPr>
            <p:spPr>
              <a:xfrm>
                <a:off x="6615684" y="3729838"/>
                <a:ext cx="221285" cy="221285"/>
              </a:xfrm>
              <a:prstGeom prst="ellipse">
                <a:avLst/>
              </a:prstGeom>
              <a:solidFill>
                <a:srgbClr val="1B1D21"/>
              </a:solidFill>
              <a:ln w="12700">
                <a:solidFill>
                  <a:srgbClr val="9AA0A6"/>
                </a:solidFill>
              </a:ln>
            </p:spPr>
            <p:txBody>
              <a:bodyPr rtlCol="0" anchor="ctr"/>
              <a:lstStyle/>
              <a:p>
                <a:pPr algn="ctr"/>
                <a:endParaRPr/>
              </a:p>
            </p:txBody>
          </p:sp>
          <p:sp>
            <p:nvSpPr>
              <p:cNvPr id="57" name="Oval 56"/>
              <p:cNvSpPr/>
              <p:nvPr/>
            </p:nvSpPr>
            <p:spPr>
              <a:xfrm>
                <a:off x="6917436" y="3729838"/>
                <a:ext cx="221285" cy="221285"/>
              </a:xfrm>
              <a:prstGeom prst="ellipse">
                <a:avLst/>
              </a:prstGeom>
              <a:solidFill>
                <a:srgbClr val="1B1D21"/>
              </a:solidFill>
              <a:ln w="12700">
                <a:solidFill>
                  <a:srgbClr val="9AA0A6"/>
                </a:solidFill>
              </a:ln>
            </p:spPr>
            <p:txBody>
              <a:bodyPr rtlCol="0" anchor="ctr"/>
              <a:lstStyle/>
              <a:p>
                <a:pPr algn="ctr"/>
                <a:endParaRPr/>
              </a:p>
            </p:txBody>
          </p:sp>
          <p:sp>
            <p:nvSpPr>
              <p:cNvPr id="58" name="Oval 57"/>
              <p:cNvSpPr/>
              <p:nvPr/>
            </p:nvSpPr>
            <p:spPr>
              <a:xfrm>
                <a:off x="7219188" y="3729838"/>
                <a:ext cx="221285" cy="221285"/>
              </a:xfrm>
              <a:prstGeom prst="ellipse">
                <a:avLst/>
              </a:prstGeom>
              <a:solidFill>
                <a:srgbClr val="1B1D21"/>
              </a:solidFill>
              <a:ln w="12700">
                <a:solidFill>
                  <a:srgbClr val="9AA0A6"/>
                </a:solidFill>
              </a:ln>
            </p:spPr>
            <p:txBody>
              <a:bodyPr rtlCol="0" anchor="ctr"/>
              <a:lstStyle/>
              <a:p>
                <a:pPr algn="ctr"/>
                <a:endParaRPr/>
              </a:p>
            </p:txBody>
          </p:sp>
        </p:grpSp>
        <p:grpSp>
          <p:nvGrpSpPr>
            <p:cNvPr id="59" name="Signal (stop, clear)" descr="A semaphore signal post with its arm raised (clear)."/>
            <p:cNvGrpSpPr/>
            <p:nvPr/>
          </p:nvGrpSpPr>
          <p:grpSpPr>
            <a:xfrm>
              <a:off x="651510" y="2032978"/>
              <a:ext cx="1146848" cy="2118398"/>
              <a:chOff x="651510" y="2032978"/>
              <a:chExt cx="1146848" cy="2118398"/>
            </a:xfrm>
          </p:grpSpPr>
          <p:sp>
            <p:nvSpPr>
              <p:cNvPr id="60" name="Rectangle 59"/>
              <p:cNvSpPr/>
              <p:nvPr/>
            </p:nvSpPr>
            <p:spPr>
              <a:xfrm>
                <a:off x="845820" y="4041648"/>
                <a:ext cx="411480" cy="109728"/>
              </a:xfrm>
              <a:prstGeom prst="rect">
                <a:avLst/>
              </a:prstGeom>
              <a:solidFill>
                <a:srgbClr val="9AA0A6"/>
              </a:solidFill>
              <a:ln>
                <a:noFill/>
              </a:ln>
            </p:spPr>
            <p:txBody>
              <a:bodyPr rtlCol="0" anchor="ctr"/>
              <a:lstStyle/>
              <a:p>
                <a:pPr algn="ctr"/>
                <a:endParaRPr/>
              </a:p>
            </p:txBody>
          </p:sp>
          <p:sp>
            <p:nvSpPr>
              <p:cNvPr id="61" name="Rectangle 60"/>
              <p:cNvSpPr/>
              <p:nvPr/>
            </p:nvSpPr>
            <p:spPr>
              <a:xfrm>
                <a:off x="969264" y="2642616"/>
                <a:ext cx="164592" cy="1399032"/>
              </a:xfrm>
              <a:prstGeom prst="rect">
                <a:avLst/>
              </a:prstGeom>
              <a:solidFill>
                <a:srgbClr val="E8E8E8"/>
              </a:solidFill>
              <a:ln>
                <a:noFill/>
              </a:ln>
            </p:spPr>
            <p:txBody>
              <a:bodyPr rtlCol="0" anchor="ctr"/>
              <a:lstStyle/>
              <a:p>
                <a:pPr algn="ctr"/>
                <a:endParaRPr/>
              </a:p>
            </p:txBody>
          </p:sp>
          <p:sp>
            <p:nvSpPr>
              <p:cNvPr id="62" name="Freeform 61"/>
              <p:cNvSpPr/>
              <p:nvPr/>
            </p:nvSpPr>
            <p:spPr>
              <a:xfrm>
                <a:off x="983669" y="2032978"/>
                <a:ext cx="814689" cy="814689"/>
              </a:xfrm>
              <a:custGeom>
                <a:avLst/>
                <a:gdLst/>
                <a:ahLst/>
                <a:cxnLst/>
                <a:rect l="l" t="t" r="r" b="b"/>
                <a:pathLst>
                  <a:path w="814689" h="814689">
                    <a:moveTo>
                      <a:pt x="0" y="678907"/>
                    </a:moveTo>
                    <a:lnTo>
                      <a:pt x="678908" y="0"/>
                    </a:lnTo>
                    <a:lnTo>
                      <a:pt x="814689" y="135781"/>
                    </a:lnTo>
                    <a:lnTo>
                      <a:pt x="135782" y="814689"/>
                    </a:lnTo>
                    <a:close/>
                  </a:path>
                </a:pathLst>
              </a:custGeom>
              <a:solidFill>
                <a:srgbClr val="E5484D"/>
              </a:solidFill>
              <a:ln>
                <a:noFill/>
              </a:ln>
            </p:spPr>
            <p:txBody>
              <a:bodyPr rtlCol="0" anchor="ctr"/>
              <a:lstStyle/>
              <a:p>
                <a:pPr algn="ctr"/>
                <a:endParaRPr/>
              </a:p>
            </p:txBody>
          </p:sp>
          <p:sp>
            <p:nvSpPr>
              <p:cNvPr id="63" name="Freeform 62"/>
              <p:cNvSpPr/>
              <p:nvPr/>
            </p:nvSpPr>
            <p:spPr>
              <a:xfrm>
                <a:off x="1323123" y="2265746"/>
                <a:ext cx="242467" cy="242467"/>
              </a:xfrm>
              <a:custGeom>
                <a:avLst/>
                <a:gdLst/>
                <a:ahLst/>
                <a:cxnLst/>
                <a:rect l="l" t="t" r="r" b="b"/>
                <a:pathLst>
                  <a:path w="242467" h="242467">
                    <a:moveTo>
                      <a:pt x="0" y="106686"/>
                    </a:moveTo>
                    <a:lnTo>
                      <a:pt x="106685" y="0"/>
                    </a:lnTo>
                    <a:lnTo>
                      <a:pt x="242467" y="135782"/>
                    </a:lnTo>
                    <a:lnTo>
                      <a:pt x="135781" y="242467"/>
                    </a:lnTo>
                    <a:close/>
                  </a:path>
                </a:pathLst>
              </a:custGeom>
              <a:solidFill>
                <a:srgbClr val="FFFFFF"/>
              </a:solidFill>
              <a:ln>
                <a:noFill/>
              </a:ln>
            </p:spPr>
            <p:txBody>
              <a:bodyPr rtlCol="0" anchor="ctr"/>
              <a:lstStyle/>
              <a:p>
                <a:pPr algn="ctr"/>
                <a:endParaRPr/>
              </a:p>
            </p:txBody>
          </p:sp>
          <p:sp>
            <p:nvSpPr>
              <p:cNvPr id="64" name="Oval 63"/>
              <p:cNvSpPr/>
              <p:nvPr/>
            </p:nvSpPr>
            <p:spPr>
              <a:xfrm>
                <a:off x="989838" y="2718054"/>
                <a:ext cx="123444" cy="123444"/>
              </a:xfrm>
              <a:prstGeom prst="ellipse">
                <a:avLst/>
              </a:prstGeom>
              <a:solidFill>
                <a:srgbClr val="1B1D21"/>
              </a:solidFill>
              <a:ln w="9525">
                <a:solidFill>
                  <a:srgbClr val="FFFFFF"/>
                </a:solidFill>
              </a:ln>
            </p:spPr>
            <p:txBody>
              <a:bodyPr rtlCol="0" anchor="ctr"/>
              <a:lstStyle/>
              <a:p>
                <a:pPr algn="ctr"/>
                <a:endParaRPr/>
              </a:p>
            </p:txBody>
          </p:sp>
          <p:sp>
            <p:nvSpPr>
              <p:cNvPr id="65" name="Oval 64"/>
              <p:cNvSpPr/>
              <p:nvPr/>
            </p:nvSpPr>
            <p:spPr>
              <a:xfrm>
                <a:off x="651510" y="2654046"/>
                <a:ext cx="251460" cy="251460"/>
              </a:xfrm>
              <a:prstGeom prst="ellipse">
                <a:avLst/>
              </a:prstGeom>
              <a:solidFill>
                <a:srgbClr val="3FB950"/>
              </a:solidFill>
              <a:ln w="12700">
                <a:solidFill>
                  <a:srgbClr val="FFFFFF"/>
                </a:solidFill>
              </a:ln>
            </p:spPr>
            <p:txBody>
              <a:bodyPr rtlCol="0" anchor="ctr"/>
              <a:lstStyle/>
              <a:p>
                <a:pPr algn="ctr"/>
                <a:endParaRPr/>
              </a:p>
            </p:txBody>
          </p:sp>
        </p:grpSp>
        <p:sp>
          <p:nvSpPr>
            <p:cNvPr id="66" name="TextBox 65"/>
            <p:cNvSpPr txBox="1"/>
            <p:nvPr/>
          </p:nvSpPr>
          <p:spPr>
            <a:xfrm>
              <a:off x="411480" y="1691640"/>
              <a:ext cx="1280160" cy="365760"/>
            </a:xfrm>
            <a:prstGeom prst="rect">
              <a:avLst/>
            </a:prstGeom>
            <a:noFill/>
          </p:spPr>
          <p:txBody>
            <a:bodyPr wrap="square" lIns="18288" tIns="18288" rIns="18288" bIns="18288" anchor="ctr">
              <a:noAutofit/>
            </a:bodyPr>
            <a:lstStyle/>
            <a:p>
              <a:pPr algn="ctr"/>
              <a:r>
                <a:rPr lang="en-GB" sz="1800" b="1" i="0">
                  <a:solidFill>
                    <a:srgbClr val="3FB950"/>
                  </a:solidFill>
                  <a:latin typeface="Arial"/>
                </a:rPr>
                <a:t>CLEAR</a:t>
              </a:r>
            </a:p>
          </p:txBody>
        </p:sp>
        <p:grpSp>
          <p:nvGrpSpPr>
            <p:cNvPr id="67" name="Signal (stop, stop)" descr="A semaphore signal post with its arm flat (stop)."/>
            <p:cNvGrpSpPr/>
            <p:nvPr/>
          </p:nvGrpSpPr>
          <p:grpSpPr>
            <a:xfrm>
              <a:off x="3897630" y="2642616"/>
              <a:ext cx="1360170" cy="1508760"/>
              <a:chOff x="3897630" y="2642616"/>
              <a:chExt cx="1360170" cy="1508760"/>
            </a:xfrm>
          </p:grpSpPr>
          <p:sp>
            <p:nvSpPr>
              <p:cNvPr id="68" name="Rectangle 67"/>
              <p:cNvSpPr/>
              <p:nvPr/>
            </p:nvSpPr>
            <p:spPr>
              <a:xfrm>
                <a:off x="4091940" y="4041648"/>
                <a:ext cx="411480" cy="109728"/>
              </a:xfrm>
              <a:prstGeom prst="rect">
                <a:avLst/>
              </a:prstGeom>
              <a:solidFill>
                <a:srgbClr val="9AA0A6"/>
              </a:solidFill>
              <a:ln>
                <a:noFill/>
              </a:ln>
            </p:spPr>
            <p:txBody>
              <a:bodyPr rtlCol="0" anchor="ctr"/>
              <a:lstStyle/>
              <a:p>
                <a:pPr algn="ctr"/>
                <a:endParaRPr/>
              </a:p>
            </p:txBody>
          </p:sp>
          <p:sp>
            <p:nvSpPr>
              <p:cNvPr id="69" name="Rectangle 68"/>
              <p:cNvSpPr/>
              <p:nvPr/>
            </p:nvSpPr>
            <p:spPr>
              <a:xfrm>
                <a:off x="4215384" y="2642616"/>
                <a:ext cx="164592" cy="1399032"/>
              </a:xfrm>
              <a:prstGeom prst="rect">
                <a:avLst/>
              </a:prstGeom>
              <a:solidFill>
                <a:srgbClr val="E8E8E8"/>
              </a:solidFill>
              <a:ln>
                <a:noFill/>
              </a:ln>
            </p:spPr>
            <p:txBody>
              <a:bodyPr rtlCol="0" anchor="ctr"/>
              <a:lstStyle/>
              <a:p>
                <a:pPr algn="ctr"/>
                <a:endParaRPr/>
              </a:p>
            </p:txBody>
          </p:sp>
          <p:sp>
            <p:nvSpPr>
              <p:cNvPr id="70" name="Freeform 69"/>
              <p:cNvSpPr/>
              <p:nvPr/>
            </p:nvSpPr>
            <p:spPr>
              <a:xfrm>
                <a:off x="4297680" y="2683764"/>
                <a:ext cx="960120" cy="192024"/>
              </a:xfrm>
              <a:custGeom>
                <a:avLst/>
                <a:gdLst/>
                <a:ahLst/>
                <a:cxnLst/>
                <a:rect l="l" t="t" r="r" b="b"/>
                <a:pathLst>
                  <a:path w="960120" h="192024">
                    <a:moveTo>
                      <a:pt x="0" y="0"/>
                    </a:moveTo>
                    <a:lnTo>
                      <a:pt x="960120" y="0"/>
                    </a:lnTo>
                    <a:lnTo>
                      <a:pt x="960120" y="192024"/>
                    </a:lnTo>
                    <a:lnTo>
                      <a:pt x="0" y="192024"/>
                    </a:lnTo>
                    <a:close/>
                  </a:path>
                </a:pathLst>
              </a:custGeom>
              <a:solidFill>
                <a:srgbClr val="E5484D"/>
              </a:solidFill>
              <a:ln>
                <a:noFill/>
              </a:ln>
            </p:spPr>
            <p:txBody>
              <a:bodyPr rtlCol="0" anchor="ctr"/>
              <a:lstStyle/>
              <a:p>
                <a:pPr algn="ctr"/>
                <a:endParaRPr/>
              </a:p>
            </p:txBody>
          </p:sp>
          <p:sp>
            <p:nvSpPr>
              <p:cNvPr id="71" name="Freeform 70"/>
              <p:cNvSpPr/>
              <p:nvPr/>
            </p:nvSpPr>
            <p:spPr>
              <a:xfrm>
                <a:off x="4777740" y="2683764"/>
                <a:ext cx="150876" cy="192024"/>
              </a:xfrm>
              <a:custGeom>
                <a:avLst/>
                <a:gdLst/>
                <a:ahLst/>
                <a:cxnLst/>
                <a:rect l="l" t="t" r="r" b="b"/>
                <a:pathLst>
                  <a:path w="150876" h="192024">
                    <a:moveTo>
                      <a:pt x="0" y="0"/>
                    </a:moveTo>
                    <a:lnTo>
                      <a:pt x="150876" y="0"/>
                    </a:lnTo>
                    <a:lnTo>
                      <a:pt x="150876" y="192024"/>
                    </a:lnTo>
                    <a:lnTo>
                      <a:pt x="0" y="192024"/>
                    </a:lnTo>
                    <a:close/>
                  </a:path>
                </a:pathLst>
              </a:custGeom>
              <a:solidFill>
                <a:srgbClr val="FFFFFF"/>
              </a:solidFill>
              <a:ln>
                <a:noFill/>
              </a:ln>
            </p:spPr>
            <p:txBody>
              <a:bodyPr rtlCol="0" anchor="ctr"/>
              <a:lstStyle/>
              <a:p>
                <a:pPr algn="ctr"/>
                <a:endParaRPr/>
              </a:p>
            </p:txBody>
          </p:sp>
          <p:sp>
            <p:nvSpPr>
              <p:cNvPr id="72" name="Oval 71"/>
              <p:cNvSpPr/>
              <p:nvPr/>
            </p:nvSpPr>
            <p:spPr>
              <a:xfrm>
                <a:off x="4235958" y="2718054"/>
                <a:ext cx="123444" cy="123444"/>
              </a:xfrm>
              <a:prstGeom prst="ellipse">
                <a:avLst/>
              </a:prstGeom>
              <a:solidFill>
                <a:srgbClr val="1B1D21"/>
              </a:solidFill>
              <a:ln w="9525">
                <a:solidFill>
                  <a:srgbClr val="FFFFFF"/>
                </a:solidFill>
              </a:ln>
            </p:spPr>
            <p:txBody>
              <a:bodyPr rtlCol="0" anchor="ctr"/>
              <a:lstStyle/>
              <a:p>
                <a:pPr algn="ctr"/>
                <a:endParaRPr/>
              </a:p>
            </p:txBody>
          </p:sp>
          <p:sp>
            <p:nvSpPr>
              <p:cNvPr id="73" name="Oval 72"/>
              <p:cNvSpPr/>
              <p:nvPr/>
            </p:nvSpPr>
            <p:spPr>
              <a:xfrm>
                <a:off x="3897630" y="2654046"/>
                <a:ext cx="251460" cy="251460"/>
              </a:xfrm>
              <a:prstGeom prst="ellipse">
                <a:avLst/>
              </a:prstGeom>
              <a:solidFill>
                <a:srgbClr val="E5484D"/>
              </a:solidFill>
              <a:ln w="12700">
                <a:solidFill>
                  <a:srgbClr val="FFFFFF"/>
                </a:solidFill>
              </a:ln>
            </p:spPr>
            <p:txBody>
              <a:bodyPr rtlCol="0" anchor="ctr"/>
              <a:lstStyle/>
              <a:p>
                <a:pPr algn="ctr"/>
                <a:endParaRPr/>
              </a:p>
            </p:txBody>
          </p:sp>
        </p:grpSp>
        <p:sp>
          <p:nvSpPr>
            <p:cNvPr id="74" name="TextBox 73"/>
            <p:cNvSpPr txBox="1"/>
            <p:nvPr/>
          </p:nvSpPr>
          <p:spPr>
            <a:xfrm>
              <a:off x="3657600" y="1691640"/>
              <a:ext cx="1280160" cy="365760"/>
            </a:xfrm>
            <a:prstGeom prst="rect">
              <a:avLst/>
            </a:prstGeom>
            <a:noFill/>
          </p:spPr>
          <p:txBody>
            <a:bodyPr wrap="square" lIns="18288" tIns="18288" rIns="18288" bIns="18288" anchor="ctr">
              <a:noAutofit/>
            </a:bodyPr>
            <a:lstStyle/>
            <a:p>
              <a:pPr algn="ctr"/>
              <a:r>
                <a:rPr lang="en-GB" sz="1800" b="1" i="0">
                  <a:solidFill>
                    <a:srgbClr val="FF7A7E"/>
                  </a:solidFill>
                  <a:latin typeface="Arial"/>
                </a:rPr>
                <a:t>STOP</a:t>
              </a:r>
            </a:p>
          </p:txBody>
        </p:sp>
        <p:grpSp>
          <p:nvGrpSpPr>
            <p:cNvPr id="75" name="Signal (stop, clear)" descr="A semaphore signal post with its arm raised (clear)."/>
            <p:cNvGrpSpPr/>
            <p:nvPr/>
          </p:nvGrpSpPr>
          <p:grpSpPr>
            <a:xfrm>
              <a:off x="7463790" y="2032978"/>
              <a:ext cx="1146848" cy="2118398"/>
              <a:chOff x="7463790" y="2032978"/>
              <a:chExt cx="1146848" cy="2118398"/>
            </a:xfrm>
          </p:grpSpPr>
          <p:sp>
            <p:nvSpPr>
              <p:cNvPr id="76" name="Rectangle 75"/>
              <p:cNvSpPr/>
              <p:nvPr/>
            </p:nvSpPr>
            <p:spPr>
              <a:xfrm>
                <a:off x="7658100" y="4041648"/>
                <a:ext cx="411480" cy="109728"/>
              </a:xfrm>
              <a:prstGeom prst="rect">
                <a:avLst/>
              </a:prstGeom>
              <a:solidFill>
                <a:srgbClr val="9AA0A6"/>
              </a:solidFill>
              <a:ln>
                <a:noFill/>
              </a:ln>
            </p:spPr>
            <p:txBody>
              <a:bodyPr rtlCol="0" anchor="ctr"/>
              <a:lstStyle/>
              <a:p>
                <a:pPr algn="ctr"/>
                <a:endParaRPr/>
              </a:p>
            </p:txBody>
          </p:sp>
          <p:sp>
            <p:nvSpPr>
              <p:cNvPr id="77" name="Rectangle 76"/>
              <p:cNvSpPr/>
              <p:nvPr/>
            </p:nvSpPr>
            <p:spPr>
              <a:xfrm>
                <a:off x="7781544" y="2642616"/>
                <a:ext cx="164592" cy="1399032"/>
              </a:xfrm>
              <a:prstGeom prst="rect">
                <a:avLst/>
              </a:prstGeom>
              <a:solidFill>
                <a:srgbClr val="E8E8E8"/>
              </a:solidFill>
              <a:ln>
                <a:noFill/>
              </a:ln>
            </p:spPr>
            <p:txBody>
              <a:bodyPr rtlCol="0" anchor="ctr"/>
              <a:lstStyle/>
              <a:p>
                <a:pPr algn="ctr"/>
                <a:endParaRPr/>
              </a:p>
            </p:txBody>
          </p:sp>
          <p:sp>
            <p:nvSpPr>
              <p:cNvPr id="78" name="Freeform 77"/>
              <p:cNvSpPr/>
              <p:nvPr/>
            </p:nvSpPr>
            <p:spPr>
              <a:xfrm>
                <a:off x="7795949" y="2032978"/>
                <a:ext cx="814689" cy="814689"/>
              </a:xfrm>
              <a:custGeom>
                <a:avLst/>
                <a:gdLst/>
                <a:ahLst/>
                <a:cxnLst/>
                <a:rect l="l" t="t" r="r" b="b"/>
                <a:pathLst>
                  <a:path w="814689" h="814689">
                    <a:moveTo>
                      <a:pt x="0" y="678907"/>
                    </a:moveTo>
                    <a:lnTo>
                      <a:pt x="678908" y="0"/>
                    </a:lnTo>
                    <a:lnTo>
                      <a:pt x="814689" y="135781"/>
                    </a:lnTo>
                    <a:lnTo>
                      <a:pt x="135782" y="814689"/>
                    </a:lnTo>
                    <a:close/>
                  </a:path>
                </a:pathLst>
              </a:custGeom>
              <a:solidFill>
                <a:srgbClr val="E5484D"/>
              </a:solidFill>
              <a:ln>
                <a:noFill/>
              </a:ln>
            </p:spPr>
            <p:txBody>
              <a:bodyPr rtlCol="0" anchor="ctr"/>
              <a:lstStyle/>
              <a:p>
                <a:pPr algn="ctr"/>
                <a:endParaRPr/>
              </a:p>
            </p:txBody>
          </p:sp>
          <p:sp>
            <p:nvSpPr>
              <p:cNvPr id="79" name="Freeform 78"/>
              <p:cNvSpPr/>
              <p:nvPr/>
            </p:nvSpPr>
            <p:spPr>
              <a:xfrm>
                <a:off x="8135403" y="2265746"/>
                <a:ext cx="242467" cy="242467"/>
              </a:xfrm>
              <a:custGeom>
                <a:avLst/>
                <a:gdLst/>
                <a:ahLst/>
                <a:cxnLst/>
                <a:rect l="l" t="t" r="r" b="b"/>
                <a:pathLst>
                  <a:path w="242467" h="242467">
                    <a:moveTo>
                      <a:pt x="0" y="106686"/>
                    </a:moveTo>
                    <a:lnTo>
                      <a:pt x="106685" y="0"/>
                    </a:lnTo>
                    <a:lnTo>
                      <a:pt x="242467" y="135782"/>
                    </a:lnTo>
                    <a:lnTo>
                      <a:pt x="135781" y="242467"/>
                    </a:lnTo>
                    <a:close/>
                  </a:path>
                </a:pathLst>
              </a:custGeom>
              <a:solidFill>
                <a:srgbClr val="FFFFFF"/>
              </a:solidFill>
              <a:ln>
                <a:noFill/>
              </a:ln>
            </p:spPr>
            <p:txBody>
              <a:bodyPr rtlCol="0" anchor="ctr"/>
              <a:lstStyle/>
              <a:p>
                <a:pPr algn="ctr"/>
                <a:endParaRPr/>
              </a:p>
            </p:txBody>
          </p:sp>
          <p:sp>
            <p:nvSpPr>
              <p:cNvPr id="80" name="Oval 79"/>
              <p:cNvSpPr/>
              <p:nvPr/>
            </p:nvSpPr>
            <p:spPr>
              <a:xfrm>
                <a:off x="7802118" y="2718054"/>
                <a:ext cx="123444" cy="123444"/>
              </a:xfrm>
              <a:prstGeom prst="ellipse">
                <a:avLst/>
              </a:prstGeom>
              <a:solidFill>
                <a:srgbClr val="1B1D21"/>
              </a:solidFill>
              <a:ln w="9525">
                <a:solidFill>
                  <a:srgbClr val="FFFFFF"/>
                </a:solidFill>
              </a:ln>
            </p:spPr>
            <p:txBody>
              <a:bodyPr rtlCol="0" anchor="ctr"/>
              <a:lstStyle/>
              <a:p>
                <a:pPr algn="ctr"/>
                <a:endParaRPr/>
              </a:p>
            </p:txBody>
          </p:sp>
          <p:sp>
            <p:nvSpPr>
              <p:cNvPr id="81" name="Oval 80"/>
              <p:cNvSpPr/>
              <p:nvPr/>
            </p:nvSpPr>
            <p:spPr>
              <a:xfrm>
                <a:off x="7463790" y="2654046"/>
                <a:ext cx="251460" cy="251460"/>
              </a:xfrm>
              <a:prstGeom prst="ellipse">
                <a:avLst/>
              </a:prstGeom>
              <a:solidFill>
                <a:srgbClr val="3FB950"/>
              </a:solidFill>
              <a:ln w="12700">
                <a:solidFill>
                  <a:srgbClr val="FFFFFF"/>
                </a:solidFill>
              </a:ln>
            </p:spPr>
            <p:txBody>
              <a:bodyPr rtlCol="0" anchor="ctr"/>
              <a:lstStyle/>
              <a:p>
                <a:pPr algn="ctr"/>
                <a:endParaRPr/>
              </a:p>
            </p:txBody>
          </p:sp>
        </p:grpSp>
        <p:sp>
          <p:nvSpPr>
            <p:cNvPr id="82" name="TextBox 81"/>
            <p:cNvSpPr txBox="1"/>
            <p:nvPr/>
          </p:nvSpPr>
          <p:spPr>
            <a:xfrm>
              <a:off x="7223760" y="1691640"/>
              <a:ext cx="1280160" cy="365760"/>
            </a:xfrm>
            <a:prstGeom prst="rect">
              <a:avLst/>
            </a:prstGeom>
            <a:noFill/>
          </p:spPr>
          <p:txBody>
            <a:bodyPr wrap="square" lIns="18288" tIns="18288" rIns="18288" bIns="18288" anchor="ctr">
              <a:noAutofit/>
            </a:bodyPr>
            <a:lstStyle/>
            <a:p>
              <a:pPr algn="ctr"/>
              <a:r>
                <a:rPr lang="en-GB" sz="1800" b="1" i="0">
                  <a:solidFill>
                    <a:srgbClr val="3FB950"/>
                  </a:solidFill>
                  <a:latin typeface="Arial"/>
                </a:rPr>
                <a:t>CLEAR</a:t>
              </a:r>
            </a:p>
          </p:txBody>
        </p:sp>
        <p:sp>
          <p:nvSpPr>
            <p:cNvPr id="83" name="TextBox 82"/>
            <p:cNvSpPr txBox="1"/>
            <p:nvPr/>
          </p:nvSpPr>
          <p:spPr>
            <a:xfrm>
              <a:off x="731520" y="1280160"/>
              <a:ext cx="4572000" cy="411480"/>
            </a:xfrm>
            <a:prstGeom prst="rect">
              <a:avLst/>
            </a:prstGeom>
            <a:noFill/>
          </p:spPr>
          <p:txBody>
            <a:bodyPr wrap="square" lIns="18288" tIns="18288" rIns="18288" bIns="18288" anchor="ctr">
              <a:noAutofit/>
            </a:bodyPr>
            <a:lstStyle/>
            <a:p>
              <a:pPr algn="l"/>
              <a:r>
                <a:rPr lang="en-GB" sz="2000" b="1" i="0">
                  <a:solidFill>
                    <a:srgbClr val="F28C28"/>
                  </a:solidFill>
                  <a:latin typeface="Arial"/>
                </a:rPr>
                <a:t>Mechanical semaphores</a:t>
              </a:r>
            </a:p>
          </p:txBody>
        </p:sp>
      </p:grpSp>
      <p:sp>
        <p:nvSpPr>
          <p:cNvPr id="84"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In the mod, semaphores divide the line into blocks.</a:t>
            </a:r>
          </a:p>
        </p:txBody>
      </p:sp>
      <p:sp>
        <p:nvSpPr>
          <p:cNvPr id="85"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86"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15</a:t>
            </a:r>
          </a:p>
        </p:txBody>
      </p:sp>
    </p:spTree>
    <p:extLst>
      <p:ext uri="{BB962C8B-B14F-4D97-AF65-F5344CB8AC3E}">
        <p14:creationId xmlns:p14="http://schemas.microsoft.com/office/powerpoint/2010/main" val="35088585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4"/>
                                        </p:tgtEl>
                                        <p:attrNameLst>
                                          <p:attrName>style.visibility</p:attrName>
                                        </p:attrNameLst>
                                      </p:cBhvr>
                                      <p:to>
                                        <p:strVal val="visible"/>
                                      </p:to>
                                    </p:set>
                                    <p:animEffect transition="in" filter="fade">
                                      <p:cBhvr>
                                        <p:cTn id="10" dur="500"/>
                                        <p:tgtEl>
                                          <p:spTgt spid="84"/>
                                        </p:tgtEl>
                                      </p:cBhvr>
                                    </p:animEffect>
                                  </p:childTnLst>
                                </p:cTn>
                              </p:par>
                              <p:par>
                                <p:cTn id="11" presetID="10" presetClass="entr" presetSubtype="0" fill="hold" nodeType="withEffect">
                                  <p:stCondLst>
                                    <p:cond delay="600"/>
                                  </p:stCondLst>
                                  <p:childTnLst>
                                    <p:set>
                                      <p:cBhvr>
                                        <p:cTn id="12" dur="1" fill="hold">
                                          <p:stCondLst>
                                            <p:cond delay="0"/>
                                          </p:stCondLst>
                                        </p:cTn>
                                        <p:tgtEl>
                                          <p:spTgt spid="85"/>
                                        </p:tgtEl>
                                        <p:attrNameLst>
                                          <p:attrName>style.visibility</p:attrName>
                                        </p:attrNameLst>
                                      </p:cBhvr>
                                      <p:to>
                                        <p:strVal val="visible"/>
                                      </p:to>
                                    </p:set>
                                    <p:animEffect transition="in" filter="fade">
                                      <p:cBhvr>
                                        <p:cTn id="13"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A box at every station</a:t>
            </a:r>
          </a:p>
        </p:txBody>
      </p:sp>
      <p:sp>
        <p:nvSpPr>
          <p:cNvPr id="3" name="Chip: Agreed" descr="Status tag: Agreed"/>
          <p:cNvSpPr/>
          <p:nvPr/>
        </p:nvSpPr>
        <p:spPr>
          <a:xfrm>
            <a:off x="10104120" y="457200"/>
            <a:ext cx="1508760" cy="365760"/>
          </a:xfrm>
          <a:prstGeom prst="roundRect">
            <a:avLst>
              <a:gd name="adj" fmla="val 20000"/>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grpSp>
        <p:nvGrpSpPr>
          <p:cNvPr id="4" name="Station boxes and a dedicated box" descr="A plan view of two stations, each with a platform and a signal box, joined by a long track. A free-standing dedicated box stands between them. Dotted outlines show the stretch of track each box reaches."/>
          <p:cNvGrpSpPr/>
          <p:nvPr/>
        </p:nvGrpSpPr>
        <p:grpSpPr>
          <a:xfrm>
            <a:off x="640080" y="2103120"/>
            <a:ext cx="10881360" cy="2468880"/>
            <a:chOff x="640080" y="2103120"/>
            <a:chExt cx="10881360" cy="2468880"/>
          </a:xfrm>
        </p:grpSpPr>
        <p:grpSp>
          <p:nvGrpSpPr>
            <p:cNvPr id="5" name="Track" descr="Two rails on sleepers."/>
            <p:cNvGrpSpPr/>
            <p:nvPr/>
          </p:nvGrpSpPr>
          <p:grpSpPr>
            <a:xfrm>
              <a:off x="731520" y="3739896"/>
              <a:ext cx="10698480" cy="365760"/>
              <a:chOff x="731520" y="3739896"/>
              <a:chExt cx="10698480" cy="365760"/>
            </a:xfrm>
          </p:grpSpPr>
          <p:sp>
            <p:nvSpPr>
              <p:cNvPr id="6" name="Rectangle 5"/>
              <p:cNvSpPr/>
              <p:nvPr/>
            </p:nvSpPr>
            <p:spPr>
              <a:xfrm>
                <a:off x="932688" y="3739896"/>
                <a:ext cx="54864" cy="365760"/>
              </a:xfrm>
              <a:prstGeom prst="rect">
                <a:avLst/>
              </a:prstGeom>
              <a:solidFill>
                <a:srgbClr val="6B5B4B"/>
              </a:solidFill>
              <a:ln>
                <a:noFill/>
              </a:ln>
            </p:spPr>
            <p:txBody>
              <a:bodyPr rtlCol="0" anchor="ctr"/>
              <a:lstStyle/>
              <a:p>
                <a:pPr algn="ctr"/>
                <a:endParaRPr/>
              </a:p>
            </p:txBody>
          </p:sp>
          <p:sp>
            <p:nvSpPr>
              <p:cNvPr id="7" name="Rectangle 6"/>
              <p:cNvSpPr/>
              <p:nvPr/>
            </p:nvSpPr>
            <p:spPr>
              <a:xfrm>
                <a:off x="1252728" y="3739896"/>
                <a:ext cx="54864" cy="365760"/>
              </a:xfrm>
              <a:prstGeom prst="rect">
                <a:avLst/>
              </a:prstGeom>
              <a:solidFill>
                <a:srgbClr val="6B5B4B"/>
              </a:solidFill>
              <a:ln>
                <a:noFill/>
              </a:ln>
            </p:spPr>
            <p:txBody>
              <a:bodyPr rtlCol="0" anchor="ctr"/>
              <a:lstStyle/>
              <a:p>
                <a:pPr algn="ctr"/>
                <a:endParaRPr/>
              </a:p>
            </p:txBody>
          </p:sp>
          <p:sp>
            <p:nvSpPr>
              <p:cNvPr id="8" name="Rectangle 7"/>
              <p:cNvSpPr/>
              <p:nvPr/>
            </p:nvSpPr>
            <p:spPr>
              <a:xfrm>
                <a:off x="1572768" y="3739896"/>
                <a:ext cx="54864" cy="365760"/>
              </a:xfrm>
              <a:prstGeom prst="rect">
                <a:avLst/>
              </a:prstGeom>
              <a:solidFill>
                <a:srgbClr val="6B5B4B"/>
              </a:solidFill>
              <a:ln>
                <a:noFill/>
              </a:ln>
            </p:spPr>
            <p:txBody>
              <a:bodyPr rtlCol="0" anchor="ctr"/>
              <a:lstStyle/>
              <a:p>
                <a:pPr algn="ctr"/>
                <a:endParaRPr/>
              </a:p>
            </p:txBody>
          </p:sp>
          <p:sp>
            <p:nvSpPr>
              <p:cNvPr id="9" name="Rectangle 8"/>
              <p:cNvSpPr/>
              <p:nvPr/>
            </p:nvSpPr>
            <p:spPr>
              <a:xfrm>
                <a:off x="1892808" y="3739896"/>
                <a:ext cx="54864" cy="365760"/>
              </a:xfrm>
              <a:prstGeom prst="rect">
                <a:avLst/>
              </a:prstGeom>
              <a:solidFill>
                <a:srgbClr val="6B5B4B"/>
              </a:solidFill>
              <a:ln>
                <a:noFill/>
              </a:ln>
            </p:spPr>
            <p:txBody>
              <a:bodyPr rtlCol="0" anchor="ctr"/>
              <a:lstStyle/>
              <a:p>
                <a:pPr algn="ctr"/>
                <a:endParaRPr/>
              </a:p>
            </p:txBody>
          </p:sp>
          <p:sp>
            <p:nvSpPr>
              <p:cNvPr id="10" name="Rectangle 9"/>
              <p:cNvSpPr/>
              <p:nvPr/>
            </p:nvSpPr>
            <p:spPr>
              <a:xfrm>
                <a:off x="2212848" y="3739896"/>
                <a:ext cx="54864" cy="365760"/>
              </a:xfrm>
              <a:prstGeom prst="rect">
                <a:avLst/>
              </a:prstGeom>
              <a:solidFill>
                <a:srgbClr val="6B5B4B"/>
              </a:solidFill>
              <a:ln>
                <a:noFill/>
              </a:ln>
            </p:spPr>
            <p:txBody>
              <a:bodyPr rtlCol="0" anchor="ctr"/>
              <a:lstStyle/>
              <a:p>
                <a:pPr algn="ctr"/>
                <a:endParaRPr/>
              </a:p>
            </p:txBody>
          </p:sp>
          <p:sp>
            <p:nvSpPr>
              <p:cNvPr id="11" name="Rectangle 10"/>
              <p:cNvSpPr/>
              <p:nvPr/>
            </p:nvSpPr>
            <p:spPr>
              <a:xfrm>
                <a:off x="2532888" y="3739896"/>
                <a:ext cx="54864" cy="365760"/>
              </a:xfrm>
              <a:prstGeom prst="rect">
                <a:avLst/>
              </a:prstGeom>
              <a:solidFill>
                <a:srgbClr val="6B5B4B"/>
              </a:solidFill>
              <a:ln>
                <a:noFill/>
              </a:ln>
            </p:spPr>
            <p:txBody>
              <a:bodyPr rtlCol="0" anchor="ctr"/>
              <a:lstStyle/>
              <a:p>
                <a:pPr algn="ctr"/>
                <a:endParaRPr/>
              </a:p>
            </p:txBody>
          </p:sp>
          <p:sp>
            <p:nvSpPr>
              <p:cNvPr id="12" name="Rectangle 11"/>
              <p:cNvSpPr/>
              <p:nvPr/>
            </p:nvSpPr>
            <p:spPr>
              <a:xfrm>
                <a:off x="2852928" y="3739896"/>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3172968" y="3739896"/>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3493008" y="3739896"/>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3813048" y="3739896"/>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4133088" y="3739896"/>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4453128" y="3739896"/>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4773168" y="373989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5093208" y="373989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5413248" y="373989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5733288" y="373989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6053328" y="3739896"/>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6373368" y="3739896"/>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6693408" y="3739896"/>
                <a:ext cx="54864" cy="365760"/>
              </a:xfrm>
              <a:prstGeom prst="rect">
                <a:avLst/>
              </a:prstGeom>
              <a:solidFill>
                <a:srgbClr val="6B5B4B"/>
              </a:solidFill>
              <a:ln>
                <a:noFill/>
              </a:ln>
            </p:spPr>
            <p:txBody>
              <a:bodyPr rtlCol="0" anchor="ctr"/>
              <a:lstStyle/>
              <a:p>
                <a:pPr algn="ctr"/>
                <a:endParaRPr/>
              </a:p>
            </p:txBody>
          </p:sp>
          <p:sp>
            <p:nvSpPr>
              <p:cNvPr id="25" name="Rectangle 24"/>
              <p:cNvSpPr/>
              <p:nvPr/>
            </p:nvSpPr>
            <p:spPr>
              <a:xfrm>
                <a:off x="7013448" y="3739896"/>
                <a:ext cx="54864" cy="365760"/>
              </a:xfrm>
              <a:prstGeom prst="rect">
                <a:avLst/>
              </a:prstGeom>
              <a:solidFill>
                <a:srgbClr val="6B5B4B"/>
              </a:solidFill>
              <a:ln>
                <a:noFill/>
              </a:ln>
            </p:spPr>
            <p:txBody>
              <a:bodyPr rtlCol="0" anchor="ctr"/>
              <a:lstStyle/>
              <a:p>
                <a:pPr algn="ctr"/>
                <a:endParaRPr/>
              </a:p>
            </p:txBody>
          </p:sp>
          <p:sp>
            <p:nvSpPr>
              <p:cNvPr id="26" name="Rectangle 25"/>
              <p:cNvSpPr/>
              <p:nvPr/>
            </p:nvSpPr>
            <p:spPr>
              <a:xfrm>
                <a:off x="7333488" y="3739896"/>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7653528" y="3739896"/>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7973568" y="3739896"/>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8293608" y="3739896"/>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8613648" y="3739896"/>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8933688" y="373989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9253728" y="373989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9573768" y="373989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9893808" y="373989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10213848" y="373989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10533888" y="373989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10853928" y="373989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11173968" y="373989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731520" y="3794760"/>
                <a:ext cx="10698480" cy="54864"/>
              </a:xfrm>
              <a:prstGeom prst="rect">
                <a:avLst/>
              </a:prstGeom>
              <a:solidFill>
                <a:srgbClr val="9AA0A6"/>
              </a:solidFill>
              <a:ln>
                <a:noFill/>
              </a:ln>
            </p:spPr>
            <p:txBody>
              <a:bodyPr rtlCol="0" anchor="ctr"/>
              <a:lstStyle/>
              <a:p>
                <a:pPr algn="ctr"/>
                <a:endParaRPr/>
              </a:p>
            </p:txBody>
          </p:sp>
          <p:sp>
            <p:nvSpPr>
              <p:cNvPr id="40" name="Rectangle 39"/>
              <p:cNvSpPr/>
              <p:nvPr/>
            </p:nvSpPr>
            <p:spPr>
              <a:xfrm>
                <a:off x="731520" y="4050792"/>
                <a:ext cx="10698480" cy="54864"/>
              </a:xfrm>
              <a:prstGeom prst="rect">
                <a:avLst/>
              </a:prstGeom>
              <a:solidFill>
                <a:srgbClr val="9AA0A6"/>
              </a:solidFill>
              <a:ln>
                <a:noFill/>
              </a:ln>
            </p:spPr>
            <p:txBody>
              <a:bodyPr rtlCol="0" anchor="ctr"/>
              <a:lstStyle/>
              <a:p>
                <a:pPr algn="ctr"/>
                <a:endParaRPr/>
              </a:p>
            </p:txBody>
          </p:sp>
        </p:grpSp>
        <p:sp>
          <p:nvSpPr>
            <p:cNvPr id="41" name="Box reach"/>
            <p:cNvSpPr/>
            <p:nvPr/>
          </p:nvSpPr>
          <p:spPr>
            <a:xfrm>
              <a:off x="640080" y="2103120"/>
              <a:ext cx="3383280" cy="2468880"/>
            </a:xfrm>
            <a:prstGeom prst="roundRect">
              <a:avLst>
                <a:gd name="adj" fmla="val 9259"/>
              </a:avLst>
            </a:prstGeom>
            <a:solidFill>
              <a:srgbClr val="F28C28">
                <a:alpha val="8000"/>
              </a:srgbClr>
            </a:solidFill>
            <a:ln w="25400">
              <a:solidFill>
                <a:srgbClr val="F28C28"/>
              </a:solidFill>
              <a:prstDash val="sysDot"/>
            </a:ln>
          </p:spPr>
          <p:txBody>
            <a:bodyPr rtlCol="0" anchor="ctr"/>
            <a:lstStyle/>
            <a:p>
              <a:pPr algn="ctr"/>
              <a:endParaRPr/>
            </a:p>
          </p:txBody>
        </p:sp>
        <p:sp>
          <p:nvSpPr>
            <p:cNvPr id="42" name="TextBox 41"/>
            <p:cNvSpPr txBox="1"/>
            <p:nvPr/>
          </p:nvSpPr>
          <p:spPr>
            <a:xfrm>
              <a:off x="640080" y="2194560"/>
              <a:ext cx="3383280" cy="365760"/>
            </a:xfrm>
            <a:prstGeom prst="rect">
              <a:avLst/>
            </a:prstGeom>
            <a:noFill/>
          </p:spPr>
          <p:txBody>
            <a:bodyPr wrap="square" lIns="18288" tIns="18288" rIns="18288" bIns="18288" anchor="ctr">
              <a:noAutofit/>
            </a:bodyPr>
            <a:lstStyle/>
            <a:p>
              <a:pPr algn="ctr"/>
              <a:r>
                <a:rPr lang="en-GB" sz="1800" b="1" i="0">
                  <a:solidFill>
                    <a:srgbClr val="F28C28"/>
                  </a:solidFill>
                  <a:latin typeface="Arial"/>
                </a:rPr>
                <a:t>Station box</a:t>
              </a:r>
            </a:p>
          </p:txBody>
        </p:sp>
        <p:sp>
          <p:nvSpPr>
            <p:cNvPr id="43" name="Box reach"/>
            <p:cNvSpPr/>
            <p:nvPr/>
          </p:nvSpPr>
          <p:spPr>
            <a:xfrm>
              <a:off x="4160520" y="2103120"/>
              <a:ext cx="3840480" cy="2468880"/>
            </a:xfrm>
            <a:prstGeom prst="roundRect">
              <a:avLst>
                <a:gd name="adj" fmla="val 9259"/>
              </a:avLst>
            </a:prstGeom>
            <a:solidFill>
              <a:srgbClr val="F28C28">
                <a:alpha val="8000"/>
              </a:srgbClr>
            </a:solidFill>
            <a:ln w="25400">
              <a:solidFill>
                <a:srgbClr val="F28C28"/>
              </a:solidFill>
              <a:prstDash val="sysDot"/>
            </a:ln>
          </p:spPr>
          <p:txBody>
            <a:bodyPr rtlCol="0" anchor="ctr"/>
            <a:lstStyle/>
            <a:p>
              <a:pPr algn="ctr"/>
              <a:endParaRPr/>
            </a:p>
          </p:txBody>
        </p:sp>
        <p:sp>
          <p:nvSpPr>
            <p:cNvPr id="44" name="TextBox 43"/>
            <p:cNvSpPr txBox="1"/>
            <p:nvPr/>
          </p:nvSpPr>
          <p:spPr>
            <a:xfrm>
              <a:off x="4160520" y="2194560"/>
              <a:ext cx="3840480" cy="365760"/>
            </a:xfrm>
            <a:prstGeom prst="rect">
              <a:avLst/>
            </a:prstGeom>
            <a:noFill/>
          </p:spPr>
          <p:txBody>
            <a:bodyPr wrap="square" lIns="18288" tIns="18288" rIns="18288" bIns="18288" anchor="ctr">
              <a:noAutofit/>
            </a:bodyPr>
            <a:lstStyle/>
            <a:p>
              <a:pPr algn="ctr"/>
              <a:r>
                <a:rPr lang="en-GB" sz="1800" b="1" i="0">
                  <a:solidFill>
                    <a:srgbClr val="F28C28"/>
                  </a:solidFill>
                  <a:latin typeface="Arial"/>
                </a:rPr>
                <a:t>Dedicated box</a:t>
              </a:r>
            </a:p>
          </p:txBody>
        </p:sp>
        <p:sp>
          <p:nvSpPr>
            <p:cNvPr id="45" name="Box reach"/>
            <p:cNvSpPr/>
            <p:nvPr/>
          </p:nvSpPr>
          <p:spPr>
            <a:xfrm>
              <a:off x="8138160" y="2103120"/>
              <a:ext cx="3383280" cy="2468880"/>
            </a:xfrm>
            <a:prstGeom prst="roundRect">
              <a:avLst>
                <a:gd name="adj" fmla="val 9259"/>
              </a:avLst>
            </a:prstGeom>
            <a:solidFill>
              <a:srgbClr val="F28C28">
                <a:alpha val="8000"/>
              </a:srgbClr>
            </a:solidFill>
            <a:ln w="25400">
              <a:solidFill>
                <a:srgbClr val="F28C28"/>
              </a:solidFill>
              <a:prstDash val="sysDot"/>
            </a:ln>
          </p:spPr>
          <p:txBody>
            <a:bodyPr rtlCol="0" anchor="ctr"/>
            <a:lstStyle/>
            <a:p>
              <a:pPr algn="ctr"/>
              <a:endParaRPr/>
            </a:p>
          </p:txBody>
        </p:sp>
        <p:sp>
          <p:nvSpPr>
            <p:cNvPr id="46" name="TextBox 45"/>
            <p:cNvSpPr txBox="1"/>
            <p:nvPr/>
          </p:nvSpPr>
          <p:spPr>
            <a:xfrm>
              <a:off x="8138160" y="2194560"/>
              <a:ext cx="3383280" cy="365760"/>
            </a:xfrm>
            <a:prstGeom prst="rect">
              <a:avLst/>
            </a:prstGeom>
            <a:noFill/>
          </p:spPr>
          <p:txBody>
            <a:bodyPr wrap="square" lIns="18288" tIns="18288" rIns="18288" bIns="18288" anchor="ctr">
              <a:noAutofit/>
            </a:bodyPr>
            <a:lstStyle/>
            <a:p>
              <a:pPr algn="ctr"/>
              <a:r>
                <a:rPr lang="en-GB" sz="1800" b="1" i="0">
                  <a:solidFill>
                    <a:srgbClr val="F28C28"/>
                  </a:solidFill>
                  <a:latin typeface="Arial"/>
                </a:rPr>
                <a:t>Station box</a:t>
              </a:r>
            </a:p>
          </p:txBody>
        </p:sp>
        <p:sp>
          <p:nvSpPr>
            <p:cNvPr id="47" name="Platform"/>
            <p:cNvSpPr/>
            <p:nvPr/>
          </p:nvSpPr>
          <p:spPr>
            <a:xfrm>
              <a:off x="1417320" y="3429000"/>
              <a:ext cx="1828800" cy="310896"/>
            </a:xfrm>
            <a:prstGeom prst="rect">
              <a:avLst/>
            </a:prstGeom>
            <a:solidFill>
              <a:srgbClr val="9AA0A6"/>
            </a:solidFill>
            <a:ln w="19050">
              <a:solidFill>
                <a:srgbClr val="E8E8E8"/>
              </a:solidFill>
            </a:ln>
          </p:spPr>
          <p:txBody>
            <a:bodyPr rtlCol="0" anchor="ctr"/>
            <a:lstStyle/>
            <a:p>
              <a:pPr algn="ctr"/>
              <a:endParaRPr/>
            </a:p>
          </p:txBody>
        </p:sp>
        <p:sp>
          <p:nvSpPr>
            <p:cNvPr id="48" name="Platform"/>
            <p:cNvSpPr/>
            <p:nvPr/>
          </p:nvSpPr>
          <p:spPr>
            <a:xfrm>
              <a:off x="8915400" y="3429000"/>
              <a:ext cx="1828800" cy="310896"/>
            </a:xfrm>
            <a:prstGeom prst="rect">
              <a:avLst/>
            </a:prstGeom>
            <a:solidFill>
              <a:srgbClr val="9AA0A6"/>
            </a:solidFill>
            <a:ln w="19050">
              <a:solidFill>
                <a:srgbClr val="E8E8E8"/>
              </a:solidFill>
            </a:ln>
          </p:spPr>
          <p:txBody>
            <a:bodyPr rtlCol="0" anchor="ctr"/>
            <a:lstStyle/>
            <a:p>
              <a:pPr algn="ctr"/>
              <a:endParaRPr/>
            </a:p>
          </p:txBody>
        </p:sp>
        <p:grpSp>
          <p:nvGrpSpPr>
            <p:cNvPr id="49" name="Box icon: Station box" descr="A small signal box building."/>
            <p:cNvGrpSpPr/>
            <p:nvPr/>
          </p:nvGrpSpPr>
          <p:grpSpPr>
            <a:xfrm>
              <a:off x="1664208" y="2606040"/>
              <a:ext cx="1335024" cy="1143000"/>
              <a:chOff x="1664208" y="2606040"/>
              <a:chExt cx="1335024" cy="1143000"/>
            </a:xfrm>
          </p:grpSpPr>
          <p:sp>
            <p:nvSpPr>
              <p:cNvPr id="50" name="Rectangle 49"/>
              <p:cNvSpPr/>
              <p:nvPr/>
            </p:nvSpPr>
            <p:spPr>
              <a:xfrm>
                <a:off x="1737360" y="2857500"/>
                <a:ext cx="1188720" cy="891540"/>
              </a:xfrm>
              <a:prstGeom prst="rect">
                <a:avLst/>
              </a:prstGeom>
              <a:solidFill>
                <a:srgbClr val="343A43"/>
              </a:solidFill>
              <a:ln w="19050">
                <a:solidFill>
                  <a:srgbClr val="F28C28"/>
                </a:solidFill>
              </a:ln>
            </p:spPr>
            <p:txBody>
              <a:bodyPr rtlCol="0" anchor="ctr"/>
              <a:lstStyle/>
              <a:p>
                <a:pPr algn="ctr"/>
                <a:endParaRPr/>
              </a:p>
            </p:txBody>
          </p:sp>
          <p:sp>
            <p:nvSpPr>
              <p:cNvPr id="51" name="Freeform 50"/>
              <p:cNvSpPr/>
              <p:nvPr/>
            </p:nvSpPr>
            <p:spPr>
              <a:xfrm>
                <a:off x="1664208" y="2606040"/>
                <a:ext cx="1335024" cy="274320"/>
              </a:xfrm>
              <a:custGeom>
                <a:avLst/>
                <a:gdLst/>
                <a:ahLst/>
                <a:cxnLst/>
                <a:rect l="l" t="t" r="r" b="b"/>
                <a:pathLst>
                  <a:path w="1335024" h="274320">
                    <a:moveTo>
                      <a:pt x="0" y="274320"/>
                    </a:moveTo>
                    <a:lnTo>
                      <a:pt x="667512" y="0"/>
                    </a:lnTo>
                    <a:lnTo>
                      <a:pt x="1335024" y="274320"/>
                    </a:lnTo>
                    <a:close/>
                  </a:path>
                </a:pathLst>
              </a:custGeom>
              <a:solidFill>
                <a:srgbClr val="4A515B"/>
              </a:solidFill>
              <a:ln w="19050">
                <a:solidFill>
                  <a:srgbClr val="F28C28"/>
                </a:solidFill>
              </a:ln>
            </p:spPr>
            <p:txBody>
              <a:bodyPr rtlCol="0" anchor="ctr"/>
              <a:lstStyle/>
              <a:p>
                <a:pPr algn="ctr"/>
                <a:endParaRPr/>
              </a:p>
            </p:txBody>
          </p:sp>
          <p:sp>
            <p:nvSpPr>
              <p:cNvPr id="52" name="Rectangle 51"/>
              <p:cNvSpPr/>
              <p:nvPr/>
            </p:nvSpPr>
            <p:spPr>
              <a:xfrm>
                <a:off x="1856232" y="3017520"/>
                <a:ext cx="950976" cy="251460"/>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53" name="Connector 52"/>
              <p:cNvCxnSpPr/>
              <p:nvPr/>
            </p:nvCxnSpPr>
            <p:spPr>
              <a:xfrm>
                <a:off x="2093976" y="3017520"/>
                <a:ext cx="0" cy="251460"/>
              </a:xfrm>
              <a:prstGeom prst="line">
                <a:avLst/>
              </a:prstGeom>
              <a:ln w="12700">
                <a:solidFill>
                  <a:srgbClr val="E8E8E8"/>
                </a:solidFill>
              </a:ln>
            </p:spPr>
          </p:cxnSp>
          <p:cxnSp>
            <p:nvCxnSpPr>
              <p:cNvPr id="54" name="Connector 53"/>
              <p:cNvCxnSpPr/>
              <p:nvPr/>
            </p:nvCxnSpPr>
            <p:spPr>
              <a:xfrm>
                <a:off x="2331720" y="3017520"/>
                <a:ext cx="0" cy="251460"/>
              </a:xfrm>
              <a:prstGeom prst="line">
                <a:avLst/>
              </a:prstGeom>
              <a:ln w="12700">
                <a:solidFill>
                  <a:srgbClr val="E8E8E8"/>
                </a:solidFill>
              </a:ln>
            </p:spPr>
          </p:cxnSp>
          <p:cxnSp>
            <p:nvCxnSpPr>
              <p:cNvPr id="55" name="Connector 54"/>
              <p:cNvCxnSpPr/>
              <p:nvPr/>
            </p:nvCxnSpPr>
            <p:spPr>
              <a:xfrm>
                <a:off x="2569464" y="3017520"/>
                <a:ext cx="0" cy="251460"/>
              </a:xfrm>
              <a:prstGeom prst="line">
                <a:avLst/>
              </a:prstGeom>
              <a:ln w="12700">
                <a:solidFill>
                  <a:srgbClr val="E8E8E8"/>
                </a:solidFill>
              </a:ln>
            </p:spPr>
          </p:cxnSp>
        </p:grpSp>
        <p:grpSp>
          <p:nvGrpSpPr>
            <p:cNvPr id="56" name="Box icon: Dedicated box" descr="A small signal box building."/>
            <p:cNvGrpSpPr/>
            <p:nvPr/>
          </p:nvGrpSpPr>
          <p:grpSpPr>
            <a:xfrm>
              <a:off x="5413248" y="2606040"/>
              <a:ext cx="1335024" cy="1143000"/>
              <a:chOff x="5413248" y="2606040"/>
              <a:chExt cx="1335024" cy="1143000"/>
            </a:xfrm>
          </p:grpSpPr>
          <p:sp>
            <p:nvSpPr>
              <p:cNvPr id="57" name="Rectangle 56"/>
              <p:cNvSpPr/>
              <p:nvPr/>
            </p:nvSpPr>
            <p:spPr>
              <a:xfrm>
                <a:off x="5486400" y="2857500"/>
                <a:ext cx="1188720" cy="891540"/>
              </a:xfrm>
              <a:prstGeom prst="rect">
                <a:avLst/>
              </a:prstGeom>
              <a:solidFill>
                <a:srgbClr val="343A43"/>
              </a:solidFill>
              <a:ln w="19050">
                <a:solidFill>
                  <a:srgbClr val="F28C28"/>
                </a:solidFill>
              </a:ln>
            </p:spPr>
            <p:txBody>
              <a:bodyPr rtlCol="0" anchor="ctr"/>
              <a:lstStyle/>
              <a:p>
                <a:pPr algn="ctr"/>
                <a:endParaRPr/>
              </a:p>
            </p:txBody>
          </p:sp>
          <p:sp>
            <p:nvSpPr>
              <p:cNvPr id="58" name="Freeform 57"/>
              <p:cNvSpPr/>
              <p:nvPr/>
            </p:nvSpPr>
            <p:spPr>
              <a:xfrm>
                <a:off x="5413248" y="2606040"/>
                <a:ext cx="1335024" cy="274320"/>
              </a:xfrm>
              <a:custGeom>
                <a:avLst/>
                <a:gdLst/>
                <a:ahLst/>
                <a:cxnLst/>
                <a:rect l="l" t="t" r="r" b="b"/>
                <a:pathLst>
                  <a:path w="1335024" h="274320">
                    <a:moveTo>
                      <a:pt x="0" y="274320"/>
                    </a:moveTo>
                    <a:lnTo>
                      <a:pt x="667512" y="0"/>
                    </a:lnTo>
                    <a:lnTo>
                      <a:pt x="1335024" y="274320"/>
                    </a:lnTo>
                    <a:close/>
                  </a:path>
                </a:pathLst>
              </a:custGeom>
              <a:solidFill>
                <a:srgbClr val="4A515B"/>
              </a:solidFill>
              <a:ln w="19050">
                <a:solidFill>
                  <a:srgbClr val="F28C28"/>
                </a:solidFill>
              </a:ln>
            </p:spPr>
            <p:txBody>
              <a:bodyPr rtlCol="0" anchor="ctr"/>
              <a:lstStyle/>
              <a:p>
                <a:pPr algn="ctr"/>
                <a:endParaRPr/>
              </a:p>
            </p:txBody>
          </p:sp>
          <p:sp>
            <p:nvSpPr>
              <p:cNvPr id="59" name="Rectangle 58"/>
              <p:cNvSpPr/>
              <p:nvPr/>
            </p:nvSpPr>
            <p:spPr>
              <a:xfrm>
                <a:off x="5605272" y="3017520"/>
                <a:ext cx="950976" cy="251460"/>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60" name="Connector 59"/>
              <p:cNvCxnSpPr/>
              <p:nvPr/>
            </p:nvCxnSpPr>
            <p:spPr>
              <a:xfrm>
                <a:off x="5843016" y="3017520"/>
                <a:ext cx="0" cy="251460"/>
              </a:xfrm>
              <a:prstGeom prst="line">
                <a:avLst/>
              </a:prstGeom>
              <a:ln w="12700">
                <a:solidFill>
                  <a:srgbClr val="E8E8E8"/>
                </a:solidFill>
              </a:ln>
            </p:spPr>
          </p:cxnSp>
          <p:cxnSp>
            <p:nvCxnSpPr>
              <p:cNvPr id="61" name="Connector 60"/>
              <p:cNvCxnSpPr/>
              <p:nvPr/>
            </p:nvCxnSpPr>
            <p:spPr>
              <a:xfrm>
                <a:off x="6080760" y="3017520"/>
                <a:ext cx="0" cy="251460"/>
              </a:xfrm>
              <a:prstGeom prst="line">
                <a:avLst/>
              </a:prstGeom>
              <a:ln w="12700">
                <a:solidFill>
                  <a:srgbClr val="E8E8E8"/>
                </a:solidFill>
              </a:ln>
            </p:spPr>
          </p:cxnSp>
          <p:cxnSp>
            <p:nvCxnSpPr>
              <p:cNvPr id="62" name="Connector 61"/>
              <p:cNvCxnSpPr/>
              <p:nvPr/>
            </p:nvCxnSpPr>
            <p:spPr>
              <a:xfrm>
                <a:off x="6318504" y="3017520"/>
                <a:ext cx="0" cy="251460"/>
              </a:xfrm>
              <a:prstGeom prst="line">
                <a:avLst/>
              </a:prstGeom>
              <a:ln w="12700">
                <a:solidFill>
                  <a:srgbClr val="E8E8E8"/>
                </a:solidFill>
              </a:ln>
            </p:spPr>
          </p:cxnSp>
        </p:grpSp>
        <p:grpSp>
          <p:nvGrpSpPr>
            <p:cNvPr id="63" name="Box icon: Station box" descr="A small signal box building."/>
            <p:cNvGrpSpPr/>
            <p:nvPr/>
          </p:nvGrpSpPr>
          <p:grpSpPr>
            <a:xfrm>
              <a:off x="9162288" y="2606040"/>
              <a:ext cx="1335024" cy="1143000"/>
              <a:chOff x="9162288" y="2606040"/>
              <a:chExt cx="1335024" cy="1143000"/>
            </a:xfrm>
          </p:grpSpPr>
          <p:sp>
            <p:nvSpPr>
              <p:cNvPr id="64" name="Rectangle 63"/>
              <p:cNvSpPr/>
              <p:nvPr/>
            </p:nvSpPr>
            <p:spPr>
              <a:xfrm>
                <a:off x="9235440" y="2857500"/>
                <a:ext cx="1188720" cy="891540"/>
              </a:xfrm>
              <a:prstGeom prst="rect">
                <a:avLst/>
              </a:prstGeom>
              <a:solidFill>
                <a:srgbClr val="343A43"/>
              </a:solidFill>
              <a:ln w="19050">
                <a:solidFill>
                  <a:srgbClr val="F28C28"/>
                </a:solidFill>
              </a:ln>
            </p:spPr>
            <p:txBody>
              <a:bodyPr rtlCol="0" anchor="ctr"/>
              <a:lstStyle/>
              <a:p>
                <a:pPr algn="ctr"/>
                <a:endParaRPr/>
              </a:p>
            </p:txBody>
          </p:sp>
          <p:sp>
            <p:nvSpPr>
              <p:cNvPr id="65" name="Freeform 64"/>
              <p:cNvSpPr/>
              <p:nvPr/>
            </p:nvSpPr>
            <p:spPr>
              <a:xfrm>
                <a:off x="9162288" y="2606040"/>
                <a:ext cx="1335024" cy="274320"/>
              </a:xfrm>
              <a:custGeom>
                <a:avLst/>
                <a:gdLst/>
                <a:ahLst/>
                <a:cxnLst/>
                <a:rect l="l" t="t" r="r" b="b"/>
                <a:pathLst>
                  <a:path w="1335024" h="274320">
                    <a:moveTo>
                      <a:pt x="0" y="274320"/>
                    </a:moveTo>
                    <a:lnTo>
                      <a:pt x="667512" y="0"/>
                    </a:lnTo>
                    <a:lnTo>
                      <a:pt x="1335024" y="274320"/>
                    </a:lnTo>
                    <a:close/>
                  </a:path>
                </a:pathLst>
              </a:custGeom>
              <a:solidFill>
                <a:srgbClr val="4A515B"/>
              </a:solidFill>
              <a:ln w="19050">
                <a:solidFill>
                  <a:srgbClr val="F28C28"/>
                </a:solidFill>
              </a:ln>
            </p:spPr>
            <p:txBody>
              <a:bodyPr rtlCol="0" anchor="ctr"/>
              <a:lstStyle/>
              <a:p>
                <a:pPr algn="ctr"/>
                <a:endParaRPr/>
              </a:p>
            </p:txBody>
          </p:sp>
          <p:sp>
            <p:nvSpPr>
              <p:cNvPr id="66" name="Rectangle 65"/>
              <p:cNvSpPr/>
              <p:nvPr/>
            </p:nvSpPr>
            <p:spPr>
              <a:xfrm>
                <a:off x="9354312" y="3017520"/>
                <a:ext cx="950976" cy="251460"/>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67" name="Connector 66"/>
              <p:cNvCxnSpPr/>
              <p:nvPr/>
            </p:nvCxnSpPr>
            <p:spPr>
              <a:xfrm>
                <a:off x="9592056" y="3017520"/>
                <a:ext cx="0" cy="251460"/>
              </a:xfrm>
              <a:prstGeom prst="line">
                <a:avLst/>
              </a:prstGeom>
              <a:ln w="12700">
                <a:solidFill>
                  <a:srgbClr val="E8E8E8"/>
                </a:solidFill>
              </a:ln>
            </p:spPr>
          </p:cxnSp>
          <p:cxnSp>
            <p:nvCxnSpPr>
              <p:cNvPr id="68" name="Connector 67"/>
              <p:cNvCxnSpPr/>
              <p:nvPr/>
            </p:nvCxnSpPr>
            <p:spPr>
              <a:xfrm>
                <a:off x="9829800" y="3017520"/>
                <a:ext cx="0" cy="251460"/>
              </a:xfrm>
              <a:prstGeom prst="line">
                <a:avLst/>
              </a:prstGeom>
              <a:ln w="12700">
                <a:solidFill>
                  <a:srgbClr val="E8E8E8"/>
                </a:solidFill>
              </a:ln>
            </p:spPr>
          </p:cxnSp>
          <p:cxnSp>
            <p:nvCxnSpPr>
              <p:cNvPr id="69" name="Connector 68"/>
              <p:cNvCxnSpPr/>
              <p:nvPr/>
            </p:nvCxnSpPr>
            <p:spPr>
              <a:xfrm>
                <a:off x="10067544" y="3017520"/>
                <a:ext cx="0" cy="251460"/>
              </a:xfrm>
              <a:prstGeom prst="line">
                <a:avLst/>
              </a:prstGeom>
              <a:ln w="12700">
                <a:solidFill>
                  <a:srgbClr val="E8E8E8"/>
                </a:solidFill>
              </a:ln>
            </p:spPr>
          </p:cxnSp>
        </p:grpSp>
      </p:grpSp>
      <p:sp>
        <p:nvSpPr>
          <p:cNvPr id="70"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Every steam station has a signal box. Dedicated boxes extend control along the line.</a:t>
            </a:r>
          </a:p>
        </p:txBody>
      </p:sp>
      <p:sp>
        <p:nvSpPr>
          <p:cNvPr id="71"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72"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16</a:t>
            </a:r>
          </a:p>
        </p:txBody>
      </p:sp>
    </p:spTree>
    <p:extLst>
      <p:ext uri="{BB962C8B-B14F-4D97-AF65-F5344CB8AC3E}">
        <p14:creationId xmlns:p14="http://schemas.microsoft.com/office/powerpoint/2010/main" val="26436117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0"/>
                                        </p:tgtEl>
                                        <p:attrNameLst>
                                          <p:attrName>style.visibility</p:attrName>
                                        </p:attrNameLst>
                                      </p:cBhvr>
                                      <p:to>
                                        <p:strVal val="visible"/>
                                      </p:to>
                                    </p:set>
                                    <p:animEffect transition="in" filter="fade">
                                      <p:cBhvr>
                                        <p:cTn id="10" dur="500"/>
                                        <p:tgtEl>
                                          <p:spTgt spid="70"/>
                                        </p:tgtEl>
                                      </p:cBhvr>
                                    </p:animEffect>
                                  </p:childTnLst>
                                </p:cTn>
                              </p:par>
                              <p:par>
                                <p:cTn id="11" presetID="10" presetClass="entr" presetSubtype="0" fill="hold" nodeType="withEffect">
                                  <p:stCondLst>
                                    <p:cond delay="60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Every signal needs a box</a:t>
            </a:r>
          </a:p>
        </p:txBody>
      </p:sp>
      <p:sp>
        <p:nvSpPr>
          <p:cNvPr id="3" name="Chip: Agreed" descr="Status tag: Agreed"/>
          <p:cNvSpPr/>
          <p:nvPr/>
        </p:nvSpPr>
        <p:spPr>
          <a:xfrm>
            <a:off x="10104120" y="457200"/>
            <a:ext cx="1508760" cy="365760"/>
          </a:xfrm>
          <a:prstGeom prst="roundRect">
            <a:avLst>
              <a:gd name="adj" fmla="val 20000"/>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grpSp>
        <p:nvGrpSpPr>
          <p:cNvPr id="4" name="A box has limited room" descr="One signal box with a row of eight slots. Six are filled and controlled; two are free. A signal on the right has a dashed red outline: no box is in reach, so it is not controlled."/>
          <p:cNvGrpSpPr/>
          <p:nvPr/>
        </p:nvGrpSpPr>
        <p:grpSpPr>
          <a:xfrm>
            <a:off x="731520" y="1417320"/>
            <a:ext cx="10698480" cy="3840480"/>
            <a:chOff x="731520" y="1417320"/>
            <a:chExt cx="10698480" cy="3840480"/>
          </a:xfrm>
        </p:grpSpPr>
        <p:grpSp>
          <p:nvGrpSpPr>
            <p:cNvPr id="5" name="Signal box" descr="A small signal box building."/>
            <p:cNvGrpSpPr/>
            <p:nvPr/>
          </p:nvGrpSpPr>
          <p:grpSpPr>
            <a:xfrm>
              <a:off x="1892808" y="1417320"/>
              <a:ext cx="2706624" cy="2011680"/>
              <a:chOff x="1892808" y="1417320"/>
              <a:chExt cx="2706624" cy="2011680"/>
            </a:xfrm>
          </p:grpSpPr>
          <p:sp>
            <p:nvSpPr>
              <p:cNvPr id="6" name="Rectangle 5"/>
              <p:cNvSpPr/>
              <p:nvPr/>
            </p:nvSpPr>
            <p:spPr>
              <a:xfrm>
                <a:off x="1965960" y="1859890"/>
                <a:ext cx="2560320" cy="1569110"/>
              </a:xfrm>
              <a:prstGeom prst="rect">
                <a:avLst/>
              </a:prstGeom>
              <a:solidFill>
                <a:srgbClr val="343A43"/>
              </a:solidFill>
              <a:ln w="19050">
                <a:solidFill>
                  <a:srgbClr val="F28C28"/>
                </a:solidFill>
              </a:ln>
            </p:spPr>
            <p:txBody>
              <a:bodyPr rtlCol="0" anchor="ctr"/>
              <a:lstStyle/>
              <a:p>
                <a:pPr algn="ctr"/>
                <a:endParaRPr/>
              </a:p>
            </p:txBody>
          </p:sp>
          <p:sp>
            <p:nvSpPr>
              <p:cNvPr id="7" name="Freeform 6"/>
              <p:cNvSpPr/>
              <p:nvPr/>
            </p:nvSpPr>
            <p:spPr>
              <a:xfrm>
                <a:off x="1892808" y="1417320"/>
                <a:ext cx="2706624" cy="482803"/>
              </a:xfrm>
              <a:custGeom>
                <a:avLst/>
                <a:gdLst/>
                <a:ahLst/>
                <a:cxnLst/>
                <a:rect l="l" t="t" r="r" b="b"/>
                <a:pathLst>
                  <a:path w="2706624" h="482803">
                    <a:moveTo>
                      <a:pt x="0" y="482803"/>
                    </a:moveTo>
                    <a:lnTo>
                      <a:pt x="1353312" y="0"/>
                    </a:lnTo>
                    <a:lnTo>
                      <a:pt x="2706624" y="482803"/>
                    </a:lnTo>
                    <a:close/>
                  </a:path>
                </a:pathLst>
              </a:custGeom>
              <a:solidFill>
                <a:srgbClr val="4A515B"/>
              </a:solidFill>
              <a:ln w="19050">
                <a:solidFill>
                  <a:srgbClr val="F28C28"/>
                </a:solidFill>
              </a:ln>
            </p:spPr>
            <p:txBody>
              <a:bodyPr rtlCol="0" anchor="ctr"/>
              <a:lstStyle/>
              <a:p>
                <a:pPr algn="ctr"/>
                <a:endParaRPr/>
              </a:p>
            </p:txBody>
          </p:sp>
          <p:sp>
            <p:nvSpPr>
              <p:cNvPr id="8" name="Rectangle 7"/>
              <p:cNvSpPr/>
              <p:nvPr/>
            </p:nvSpPr>
            <p:spPr>
              <a:xfrm>
                <a:off x="2221992" y="2141525"/>
                <a:ext cx="2048256" cy="442570"/>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9" name="Connector 8"/>
              <p:cNvCxnSpPr/>
              <p:nvPr/>
            </p:nvCxnSpPr>
            <p:spPr>
              <a:xfrm>
                <a:off x="2734056" y="2141525"/>
                <a:ext cx="0" cy="442569"/>
              </a:xfrm>
              <a:prstGeom prst="line">
                <a:avLst/>
              </a:prstGeom>
              <a:ln w="12700">
                <a:solidFill>
                  <a:srgbClr val="E8E8E8"/>
                </a:solidFill>
              </a:ln>
            </p:spPr>
          </p:cxnSp>
          <p:cxnSp>
            <p:nvCxnSpPr>
              <p:cNvPr id="10" name="Connector 9"/>
              <p:cNvCxnSpPr/>
              <p:nvPr/>
            </p:nvCxnSpPr>
            <p:spPr>
              <a:xfrm>
                <a:off x="3246120" y="2141525"/>
                <a:ext cx="0" cy="442569"/>
              </a:xfrm>
              <a:prstGeom prst="line">
                <a:avLst/>
              </a:prstGeom>
              <a:ln w="12700">
                <a:solidFill>
                  <a:srgbClr val="E8E8E8"/>
                </a:solidFill>
              </a:ln>
            </p:spPr>
          </p:cxnSp>
          <p:cxnSp>
            <p:nvCxnSpPr>
              <p:cNvPr id="11" name="Connector 10"/>
              <p:cNvCxnSpPr/>
              <p:nvPr/>
            </p:nvCxnSpPr>
            <p:spPr>
              <a:xfrm>
                <a:off x="3758184" y="2141525"/>
                <a:ext cx="0" cy="442569"/>
              </a:xfrm>
              <a:prstGeom prst="line">
                <a:avLst/>
              </a:prstGeom>
              <a:ln w="12700">
                <a:solidFill>
                  <a:srgbClr val="E8E8E8"/>
                </a:solidFill>
              </a:ln>
            </p:spPr>
          </p:cxnSp>
        </p:grpSp>
        <p:sp>
          <p:nvSpPr>
            <p:cNvPr id="12" name="Slot (controlled)"/>
            <p:cNvSpPr/>
            <p:nvPr/>
          </p:nvSpPr>
          <p:spPr>
            <a:xfrm>
              <a:off x="731520" y="3977640"/>
              <a:ext cx="548640" cy="548640"/>
            </a:xfrm>
            <a:prstGeom prst="roundRect">
              <a:avLst>
                <a:gd name="adj" fmla="val 10000"/>
              </a:avLst>
            </a:prstGeom>
            <a:solidFill>
              <a:srgbClr val="F28C28"/>
            </a:solidFill>
            <a:ln w="25400">
              <a:solidFill>
                <a:srgbClr val="F28C28"/>
              </a:solidFill>
            </a:ln>
          </p:spPr>
          <p:txBody>
            <a:bodyPr rtlCol="0" anchor="ctr"/>
            <a:lstStyle/>
            <a:p>
              <a:pPr algn="ctr"/>
              <a:endParaRPr/>
            </a:p>
          </p:txBody>
        </p:sp>
        <p:sp>
          <p:nvSpPr>
            <p:cNvPr id="13" name="Slot (controlled)"/>
            <p:cNvSpPr/>
            <p:nvPr/>
          </p:nvSpPr>
          <p:spPr>
            <a:xfrm>
              <a:off x="1371600" y="3977640"/>
              <a:ext cx="548640" cy="548640"/>
            </a:xfrm>
            <a:prstGeom prst="roundRect">
              <a:avLst>
                <a:gd name="adj" fmla="val 10000"/>
              </a:avLst>
            </a:prstGeom>
            <a:solidFill>
              <a:srgbClr val="F28C28"/>
            </a:solidFill>
            <a:ln w="25400">
              <a:solidFill>
                <a:srgbClr val="F28C28"/>
              </a:solidFill>
            </a:ln>
          </p:spPr>
          <p:txBody>
            <a:bodyPr rtlCol="0" anchor="ctr"/>
            <a:lstStyle/>
            <a:p>
              <a:pPr algn="ctr"/>
              <a:endParaRPr/>
            </a:p>
          </p:txBody>
        </p:sp>
        <p:sp>
          <p:nvSpPr>
            <p:cNvPr id="14" name="Slot (controlled)"/>
            <p:cNvSpPr/>
            <p:nvPr/>
          </p:nvSpPr>
          <p:spPr>
            <a:xfrm>
              <a:off x="2011680" y="3977640"/>
              <a:ext cx="548640" cy="548640"/>
            </a:xfrm>
            <a:prstGeom prst="roundRect">
              <a:avLst>
                <a:gd name="adj" fmla="val 10000"/>
              </a:avLst>
            </a:prstGeom>
            <a:solidFill>
              <a:srgbClr val="F28C28"/>
            </a:solidFill>
            <a:ln w="25400">
              <a:solidFill>
                <a:srgbClr val="F28C28"/>
              </a:solidFill>
            </a:ln>
          </p:spPr>
          <p:txBody>
            <a:bodyPr rtlCol="0" anchor="ctr"/>
            <a:lstStyle/>
            <a:p>
              <a:pPr algn="ctr"/>
              <a:endParaRPr/>
            </a:p>
          </p:txBody>
        </p:sp>
        <p:sp>
          <p:nvSpPr>
            <p:cNvPr id="15" name="Slot (controlled)"/>
            <p:cNvSpPr/>
            <p:nvPr/>
          </p:nvSpPr>
          <p:spPr>
            <a:xfrm>
              <a:off x="2651760" y="3977640"/>
              <a:ext cx="548640" cy="548640"/>
            </a:xfrm>
            <a:prstGeom prst="roundRect">
              <a:avLst>
                <a:gd name="adj" fmla="val 10000"/>
              </a:avLst>
            </a:prstGeom>
            <a:solidFill>
              <a:srgbClr val="F28C28"/>
            </a:solidFill>
            <a:ln w="25400">
              <a:solidFill>
                <a:srgbClr val="F28C28"/>
              </a:solidFill>
            </a:ln>
          </p:spPr>
          <p:txBody>
            <a:bodyPr rtlCol="0" anchor="ctr"/>
            <a:lstStyle/>
            <a:p>
              <a:pPr algn="ctr"/>
              <a:endParaRPr/>
            </a:p>
          </p:txBody>
        </p:sp>
        <p:sp>
          <p:nvSpPr>
            <p:cNvPr id="16" name="Slot (controlled)"/>
            <p:cNvSpPr/>
            <p:nvPr/>
          </p:nvSpPr>
          <p:spPr>
            <a:xfrm>
              <a:off x="3291840" y="3977640"/>
              <a:ext cx="548640" cy="548640"/>
            </a:xfrm>
            <a:prstGeom prst="roundRect">
              <a:avLst>
                <a:gd name="adj" fmla="val 10000"/>
              </a:avLst>
            </a:prstGeom>
            <a:solidFill>
              <a:srgbClr val="F28C28"/>
            </a:solidFill>
            <a:ln w="25400">
              <a:solidFill>
                <a:srgbClr val="F28C28"/>
              </a:solidFill>
            </a:ln>
          </p:spPr>
          <p:txBody>
            <a:bodyPr rtlCol="0" anchor="ctr"/>
            <a:lstStyle/>
            <a:p>
              <a:pPr algn="ctr"/>
              <a:endParaRPr/>
            </a:p>
          </p:txBody>
        </p:sp>
        <p:sp>
          <p:nvSpPr>
            <p:cNvPr id="17" name="Slot (controlled)"/>
            <p:cNvSpPr/>
            <p:nvPr/>
          </p:nvSpPr>
          <p:spPr>
            <a:xfrm>
              <a:off x="3931920" y="3977640"/>
              <a:ext cx="548640" cy="548640"/>
            </a:xfrm>
            <a:prstGeom prst="roundRect">
              <a:avLst>
                <a:gd name="adj" fmla="val 10000"/>
              </a:avLst>
            </a:prstGeom>
            <a:solidFill>
              <a:srgbClr val="F28C28"/>
            </a:solidFill>
            <a:ln w="25400">
              <a:solidFill>
                <a:srgbClr val="F28C28"/>
              </a:solidFill>
            </a:ln>
          </p:spPr>
          <p:txBody>
            <a:bodyPr rtlCol="0" anchor="ctr"/>
            <a:lstStyle/>
            <a:p>
              <a:pPr algn="ctr"/>
              <a:endParaRPr/>
            </a:p>
          </p:txBody>
        </p:sp>
        <p:sp>
          <p:nvSpPr>
            <p:cNvPr id="18" name="Slot (free)"/>
            <p:cNvSpPr/>
            <p:nvPr/>
          </p:nvSpPr>
          <p:spPr>
            <a:xfrm>
              <a:off x="4572000" y="3977640"/>
              <a:ext cx="548640" cy="548640"/>
            </a:xfrm>
            <a:prstGeom prst="roundRect">
              <a:avLst>
                <a:gd name="adj" fmla="val 10000"/>
              </a:avLst>
            </a:prstGeom>
            <a:noFill/>
            <a:ln w="25400">
              <a:solidFill>
                <a:srgbClr val="F28C28"/>
              </a:solidFill>
            </a:ln>
          </p:spPr>
          <p:txBody>
            <a:bodyPr rtlCol="0" anchor="ctr"/>
            <a:lstStyle/>
            <a:p>
              <a:pPr algn="ctr"/>
              <a:endParaRPr/>
            </a:p>
          </p:txBody>
        </p:sp>
        <p:sp>
          <p:nvSpPr>
            <p:cNvPr id="19" name="Slot (free)"/>
            <p:cNvSpPr/>
            <p:nvPr/>
          </p:nvSpPr>
          <p:spPr>
            <a:xfrm>
              <a:off x="5212080" y="3977640"/>
              <a:ext cx="548640" cy="548640"/>
            </a:xfrm>
            <a:prstGeom prst="roundRect">
              <a:avLst>
                <a:gd name="adj" fmla="val 10000"/>
              </a:avLst>
            </a:prstGeom>
            <a:noFill/>
            <a:ln w="25400">
              <a:solidFill>
                <a:srgbClr val="F28C28"/>
              </a:solidFill>
            </a:ln>
          </p:spPr>
          <p:txBody>
            <a:bodyPr rtlCol="0" anchor="ctr"/>
            <a:lstStyle/>
            <a:p>
              <a:pPr algn="ctr"/>
              <a:endParaRPr/>
            </a:p>
          </p:txBody>
        </p:sp>
        <p:sp>
          <p:nvSpPr>
            <p:cNvPr id="20" name="TextBox 19"/>
            <p:cNvSpPr txBox="1"/>
            <p:nvPr/>
          </p:nvSpPr>
          <p:spPr>
            <a:xfrm>
              <a:off x="731520" y="3584448"/>
              <a:ext cx="3749040" cy="347472"/>
            </a:xfrm>
            <a:prstGeom prst="rect">
              <a:avLst/>
            </a:prstGeom>
            <a:noFill/>
          </p:spPr>
          <p:txBody>
            <a:bodyPr wrap="square" lIns="18288" tIns="18288" rIns="18288" bIns="18288" anchor="ctr">
              <a:noAutofit/>
            </a:bodyPr>
            <a:lstStyle/>
            <a:p>
              <a:pPr algn="ctr"/>
              <a:r>
                <a:rPr lang="en-GB" sz="1600" b="1" i="0">
                  <a:solidFill>
                    <a:srgbClr val="F28C28"/>
                  </a:solidFill>
                  <a:latin typeface="Arial"/>
                </a:rPr>
                <a:t>Controlled</a:t>
              </a:r>
            </a:p>
          </p:txBody>
        </p:sp>
        <p:sp>
          <p:nvSpPr>
            <p:cNvPr id="21" name="TextBox 20"/>
            <p:cNvSpPr txBox="1"/>
            <p:nvPr/>
          </p:nvSpPr>
          <p:spPr>
            <a:xfrm>
              <a:off x="4572000" y="3584448"/>
              <a:ext cx="1188720" cy="347472"/>
            </a:xfrm>
            <a:prstGeom prst="rect">
              <a:avLst/>
            </a:prstGeom>
            <a:noFill/>
          </p:spPr>
          <p:txBody>
            <a:bodyPr wrap="square" lIns="18288" tIns="18288" rIns="18288" bIns="18288" anchor="ctr">
              <a:noAutofit/>
            </a:bodyPr>
            <a:lstStyle/>
            <a:p>
              <a:pPr algn="ctr"/>
              <a:r>
                <a:rPr lang="en-GB" sz="1600" b="1" i="0">
                  <a:solidFill>
                    <a:srgbClr val="A9B0B8"/>
                  </a:solidFill>
                  <a:latin typeface="Arial"/>
                </a:rPr>
                <a:t>Free</a:t>
              </a:r>
            </a:p>
          </p:txBody>
        </p:sp>
        <p:grpSp>
          <p:nvGrpSpPr>
            <p:cNvPr id="22" name="Signal without a box" descr="A semaphore signal that no signal box controls."/>
            <p:cNvGrpSpPr/>
            <p:nvPr/>
          </p:nvGrpSpPr>
          <p:grpSpPr>
            <a:xfrm>
              <a:off x="8348472" y="2670048"/>
              <a:ext cx="1399032" cy="1810512"/>
              <a:chOff x="8348472" y="2670048"/>
              <a:chExt cx="1399032" cy="1810512"/>
            </a:xfrm>
          </p:grpSpPr>
          <p:sp>
            <p:nvSpPr>
              <p:cNvPr id="23" name="Rectangle 22"/>
              <p:cNvSpPr/>
              <p:nvPr/>
            </p:nvSpPr>
            <p:spPr>
              <a:xfrm>
                <a:off x="8348472" y="4348886"/>
                <a:ext cx="493776" cy="131674"/>
              </a:xfrm>
              <a:prstGeom prst="rect">
                <a:avLst/>
              </a:prstGeom>
              <a:solidFill>
                <a:srgbClr val="9AA0A6"/>
              </a:solidFill>
              <a:ln>
                <a:noFill/>
              </a:ln>
            </p:spPr>
            <p:txBody>
              <a:bodyPr rtlCol="0" anchor="ctr"/>
              <a:lstStyle/>
              <a:p>
                <a:pPr algn="ctr"/>
                <a:endParaRPr/>
              </a:p>
            </p:txBody>
          </p:sp>
          <p:sp>
            <p:nvSpPr>
              <p:cNvPr id="24" name="Rectangle 23"/>
              <p:cNvSpPr/>
              <p:nvPr/>
            </p:nvSpPr>
            <p:spPr>
              <a:xfrm>
                <a:off x="8496605" y="2670048"/>
                <a:ext cx="197510" cy="1678838"/>
              </a:xfrm>
              <a:prstGeom prst="rect">
                <a:avLst/>
              </a:prstGeom>
              <a:solidFill>
                <a:srgbClr val="E8E8E8"/>
              </a:solidFill>
              <a:ln>
                <a:noFill/>
              </a:ln>
            </p:spPr>
            <p:txBody>
              <a:bodyPr rtlCol="0" anchor="ctr"/>
              <a:lstStyle/>
              <a:p>
                <a:pPr algn="ctr"/>
                <a:endParaRPr/>
              </a:p>
            </p:txBody>
          </p:sp>
          <p:sp>
            <p:nvSpPr>
              <p:cNvPr id="25" name="Freeform 24"/>
              <p:cNvSpPr/>
              <p:nvPr/>
            </p:nvSpPr>
            <p:spPr>
              <a:xfrm>
                <a:off x="8595360" y="2719426"/>
                <a:ext cx="1152144" cy="230428"/>
              </a:xfrm>
              <a:custGeom>
                <a:avLst/>
                <a:gdLst/>
                <a:ahLst/>
                <a:cxnLst/>
                <a:rect l="l" t="t" r="r" b="b"/>
                <a:pathLst>
                  <a:path w="1152144" h="230428">
                    <a:moveTo>
                      <a:pt x="0" y="0"/>
                    </a:moveTo>
                    <a:lnTo>
                      <a:pt x="1152144" y="0"/>
                    </a:lnTo>
                    <a:lnTo>
                      <a:pt x="1152144" y="230428"/>
                    </a:lnTo>
                    <a:lnTo>
                      <a:pt x="0" y="230428"/>
                    </a:lnTo>
                    <a:close/>
                  </a:path>
                </a:pathLst>
              </a:custGeom>
              <a:solidFill>
                <a:srgbClr val="E5484D"/>
              </a:solidFill>
              <a:ln>
                <a:noFill/>
              </a:ln>
            </p:spPr>
            <p:txBody>
              <a:bodyPr rtlCol="0" anchor="ctr"/>
              <a:lstStyle/>
              <a:p>
                <a:pPr algn="ctr"/>
                <a:endParaRPr/>
              </a:p>
            </p:txBody>
          </p:sp>
          <p:sp>
            <p:nvSpPr>
              <p:cNvPr id="26" name="Freeform 25"/>
              <p:cNvSpPr/>
              <p:nvPr/>
            </p:nvSpPr>
            <p:spPr>
              <a:xfrm>
                <a:off x="9171432" y="2719426"/>
                <a:ext cx="181051" cy="230428"/>
              </a:xfrm>
              <a:custGeom>
                <a:avLst/>
                <a:gdLst/>
                <a:ahLst/>
                <a:cxnLst/>
                <a:rect l="l" t="t" r="r" b="b"/>
                <a:pathLst>
                  <a:path w="181051" h="230428">
                    <a:moveTo>
                      <a:pt x="0" y="0"/>
                    </a:moveTo>
                    <a:lnTo>
                      <a:pt x="181051" y="0"/>
                    </a:lnTo>
                    <a:lnTo>
                      <a:pt x="181051" y="230428"/>
                    </a:lnTo>
                    <a:lnTo>
                      <a:pt x="0" y="230428"/>
                    </a:lnTo>
                    <a:close/>
                  </a:path>
                </a:pathLst>
              </a:custGeom>
              <a:solidFill>
                <a:srgbClr val="FFFFFF"/>
              </a:solidFill>
              <a:ln>
                <a:noFill/>
              </a:ln>
            </p:spPr>
            <p:txBody>
              <a:bodyPr rtlCol="0" anchor="ctr"/>
              <a:lstStyle/>
              <a:p>
                <a:pPr algn="ctr"/>
                <a:endParaRPr/>
              </a:p>
            </p:txBody>
          </p:sp>
          <p:sp>
            <p:nvSpPr>
              <p:cNvPr id="27" name="Oval 26"/>
              <p:cNvSpPr/>
              <p:nvPr/>
            </p:nvSpPr>
            <p:spPr>
              <a:xfrm>
                <a:off x="8524037" y="2763317"/>
                <a:ext cx="142646" cy="142646"/>
              </a:xfrm>
              <a:prstGeom prst="ellipse">
                <a:avLst/>
              </a:prstGeom>
              <a:solidFill>
                <a:srgbClr val="1B1D21"/>
              </a:solidFill>
              <a:ln w="9525">
                <a:solidFill>
                  <a:srgbClr val="FFFFFF"/>
                </a:solidFill>
              </a:ln>
            </p:spPr>
            <p:txBody>
              <a:bodyPr rtlCol="0" anchor="ctr"/>
              <a:lstStyle/>
              <a:p>
                <a:pPr algn="ctr"/>
                <a:endParaRPr/>
              </a:p>
            </p:txBody>
          </p:sp>
        </p:grpSp>
        <p:sp>
          <p:nvSpPr>
            <p:cNvPr id="28" name="Dashed red outline"/>
            <p:cNvSpPr/>
            <p:nvPr/>
          </p:nvSpPr>
          <p:spPr>
            <a:xfrm>
              <a:off x="7543800" y="2331720"/>
              <a:ext cx="2834640" cy="2423160"/>
            </a:xfrm>
            <a:prstGeom prst="roundRect">
              <a:avLst>
                <a:gd name="adj" fmla="val 3773"/>
              </a:avLst>
            </a:prstGeom>
            <a:noFill/>
            <a:ln w="28575">
              <a:solidFill>
                <a:srgbClr val="E5484D"/>
              </a:solidFill>
              <a:prstDash val="dash"/>
            </a:ln>
          </p:spPr>
          <p:txBody>
            <a:bodyPr rtlCol="0" anchor="ctr"/>
            <a:lstStyle/>
            <a:p>
              <a:pPr algn="ctr"/>
              <a:endParaRPr/>
            </a:p>
          </p:txBody>
        </p:sp>
        <p:sp>
          <p:nvSpPr>
            <p:cNvPr id="29" name="TextBox 28"/>
            <p:cNvSpPr txBox="1"/>
            <p:nvPr/>
          </p:nvSpPr>
          <p:spPr>
            <a:xfrm>
              <a:off x="6583680" y="4846320"/>
              <a:ext cx="4846320" cy="411480"/>
            </a:xfrm>
            <a:prstGeom prst="rect">
              <a:avLst/>
            </a:prstGeom>
            <a:noFill/>
          </p:spPr>
          <p:txBody>
            <a:bodyPr wrap="square" lIns="18288" tIns="18288" rIns="18288" bIns="18288" anchor="ctr">
              <a:noAutofit/>
            </a:bodyPr>
            <a:lstStyle/>
            <a:p>
              <a:pPr algn="ctr"/>
              <a:r>
                <a:rPr lang="en-GB" sz="1800" b="1" i="0">
                  <a:solidFill>
                    <a:srgbClr val="FF7A7E"/>
                  </a:solidFill>
                  <a:latin typeface="Arial"/>
                </a:rPr>
                <a:t>No box in reach: not controlled</a:t>
              </a:r>
            </a:p>
          </p:txBody>
        </p:sp>
      </p:grpSp>
      <p:sp>
        <p:nvSpPr>
          <p:cNvPr id="30"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A signal must belong to a signal box. A box can only control so much.</a:t>
            </a:r>
          </a:p>
        </p:txBody>
      </p:sp>
      <p:sp>
        <p:nvSpPr>
          <p:cNvPr id="31"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32"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17</a:t>
            </a:r>
          </a:p>
        </p:txBody>
      </p:sp>
    </p:spTree>
    <p:extLst>
      <p:ext uri="{BB962C8B-B14F-4D97-AF65-F5344CB8AC3E}">
        <p14:creationId xmlns:p14="http://schemas.microsoft.com/office/powerpoint/2010/main" val="6286511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60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Early limits</a:t>
            </a:r>
          </a:p>
        </p:txBody>
      </p:sp>
      <p:sp>
        <p:nvSpPr>
          <p:cNvPr id="3" name="Chip: Provisional" descr="Status tag: Provisional"/>
          <p:cNvSpPr/>
          <p:nvPr/>
        </p:nvSpPr>
        <p:spPr>
          <a:xfrm>
            <a:off x="10104120" y="457200"/>
            <a:ext cx="1508760" cy="365760"/>
          </a:xfrm>
          <a:prstGeom prst="roundRect">
            <a:avLst>
              <a:gd name="adj" fmla="val 20000"/>
            </a:avLst>
          </a:prstGeom>
          <a:solidFill>
            <a:srgbClr val="4DA3FF"/>
          </a:solidFill>
          <a:ln>
            <a:noFill/>
          </a:ln>
        </p:spPr>
        <p:txBody>
          <a:bodyPr wrap="none" lIns="27432" tIns="9144" rIns="27432" bIns="9144" rtlCol="0" anchor="ctr">
            <a:noAutofit/>
          </a:bodyPr>
          <a:lstStyle/>
          <a:p>
            <a:pPr algn="ctr"/>
            <a:r>
              <a:rPr lang="en-GB" sz="1400" b="1" i="0">
                <a:solidFill>
                  <a:srgbClr val="101418"/>
                </a:solidFill>
                <a:latin typeface="Arial"/>
              </a:rPr>
              <a:t>PROVISIONAL</a:t>
            </a:r>
          </a:p>
        </p:txBody>
      </p:sp>
      <p:grpSp>
        <p:nvGrpSpPr>
          <p:cNvPr id="4" name="Four provisional limits" descr="Four tiles, each marked provisional: block length about 400 to 500 metres, speed cap about 60 kilometres an hour, 6 to 8 signals per station box and 12 to 16 per dedicated box, and box reach about 1 to 1.5 kilometres. A ruler strip shows a signal every 450 metres."/>
          <p:cNvGrpSpPr/>
          <p:nvPr/>
        </p:nvGrpSpPr>
        <p:grpSpPr>
          <a:xfrm>
            <a:off x="548640" y="1371600"/>
            <a:ext cx="11091672" cy="4206240"/>
            <a:chOff x="548640" y="1371600"/>
            <a:chExt cx="11091672" cy="4206240"/>
          </a:xfrm>
        </p:grpSpPr>
        <p:sp>
          <p:nvSpPr>
            <p:cNvPr id="5" name="Rounded Rectangle 4"/>
            <p:cNvSpPr/>
            <p:nvPr/>
          </p:nvSpPr>
          <p:spPr>
            <a:xfrm>
              <a:off x="548640" y="1371600"/>
              <a:ext cx="2560320" cy="2011680"/>
            </a:xfrm>
            <a:prstGeom prst="roundRect">
              <a:avLst>
                <a:gd name="adj" fmla="val 3636"/>
              </a:avLst>
            </a:prstGeom>
            <a:solidFill>
              <a:srgbClr val="2B2F36"/>
            </a:solidFill>
            <a:ln w="12700">
              <a:solidFill>
                <a:srgbClr val="4A515B"/>
              </a:solidFill>
            </a:ln>
          </p:spPr>
          <p:txBody>
            <a:bodyPr rtlCol="0" anchor="ctr"/>
            <a:lstStyle/>
            <a:p>
              <a:pPr algn="ctr"/>
              <a:endParaRPr/>
            </a:p>
          </p:txBody>
        </p:sp>
        <p:sp>
          <p:nvSpPr>
            <p:cNvPr id="6" name="Chip: Provisional (inline)" descr="Status tag: Provisional"/>
            <p:cNvSpPr/>
            <p:nvPr/>
          </p:nvSpPr>
          <p:spPr>
            <a:xfrm>
              <a:off x="685800" y="1508760"/>
              <a:ext cx="1417320" cy="292608"/>
            </a:xfrm>
            <a:prstGeom prst="roundRect">
              <a:avLst>
                <a:gd name="adj" fmla="val 25000"/>
              </a:avLst>
            </a:prstGeom>
            <a:solidFill>
              <a:srgbClr val="4DA3FF"/>
            </a:solidFill>
            <a:ln>
              <a:noFill/>
            </a:ln>
          </p:spPr>
          <p:txBody>
            <a:bodyPr wrap="square" lIns="27432" tIns="9144" rIns="27432" bIns="9144" rtlCol="0" anchor="ctr">
              <a:noAutofit/>
            </a:bodyPr>
            <a:lstStyle/>
            <a:p>
              <a:pPr algn="ctr"/>
              <a:r>
                <a:rPr lang="en-GB" sz="1400" b="1" i="0">
                  <a:solidFill>
                    <a:srgbClr val="101418"/>
                  </a:solidFill>
                  <a:latin typeface="Arial"/>
                </a:rPr>
                <a:t>PROVISIONAL</a:t>
              </a:r>
            </a:p>
          </p:txBody>
        </p:sp>
        <p:sp>
          <p:nvSpPr>
            <p:cNvPr id="7" name="TextBox 6"/>
            <p:cNvSpPr txBox="1"/>
            <p:nvPr/>
          </p:nvSpPr>
          <p:spPr>
            <a:xfrm>
              <a:off x="685800" y="1938528"/>
              <a:ext cx="2286000" cy="1371600"/>
            </a:xfrm>
            <a:prstGeom prst="rect">
              <a:avLst/>
            </a:prstGeom>
            <a:noFill/>
          </p:spPr>
          <p:txBody>
            <a:bodyPr wrap="square" lIns="0" tIns="18288" rIns="0" bIns="0" anchor="t">
              <a:noAutofit/>
            </a:bodyPr>
            <a:lstStyle/>
            <a:p>
              <a:pPr algn="l"/>
              <a:r>
                <a:rPr lang="en-GB" sz="1600" b="1" i="0">
                  <a:solidFill>
                    <a:srgbClr val="A9B0B8"/>
                  </a:solidFill>
                  <a:latin typeface="Arial"/>
                </a:rPr>
                <a:t>Block: about</a:t>
              </a:r>
            </a:p>
            <a:p>
              <a:pPr algn="l"/>
              <a:r>
                <a:rPr lang="en-GB" sz="2200" b="1" i="0">
                  <a:solidFill>
                    <a:srgbClr val="F28C28"/>
                  </a:solidFill>
                  <a:latin typeface="Arial"/>
                </a:rPr>
                <a:t>400–500 m</a:t>
              </a:r>
            </a:p>
          </p:txBody>
        </p:sp>
        <p:sp>
          <p:nvSpPr>
            <p:cNvPr id="8" name="Rounded Rectangle 7"/>
            <p:cNvSpPr/>
            <p:nvPr/>
          </p:nvSpPr>
          <p:spPr>
            <a:xfrm>
              <a:off x="3392424" y="1371600"/>
              <a:ext cx="2560320" cy="2011680"/>
            </a:xfrm>
            <a:prstGeom prst="roundRect">
              <a:avLst>
                <a:gd name="adj" fmla="val 3636"/>
              </a:avLst>
            </a:prstGeom>
            <a:solidFill>
              <a:srgbClr val="2B2F36"/>
            </a:solidFill>
            <a:ln w="12700">
              <a:solidFill>
                <a:srgbClr val="4A515B"/>
              </a:solidFill>
            </a:ln>
          </p:spPr>
          <p:txBody>
            <a:bodyPr rtlCol="0" anchor="ctr"/>
            <a:lstStyle/>
            <a:p>
              <a:pPr algn="ctr"/>
              <a:endParaRPr/>
            </a:p>
          </p:txBody>
        </p:sp>
        <p:sp>
          <p:nvSpPr>
            <p:cNvPr id="9" name="Chip: Provisional (inline)" descr="Status tag: Provisional"/>
            <p:cNvSpPr/>
            <p:nvPr/>
          </p:nvSpPr>
          <p:spPr>
            <a:xfrm>
              <a:off x="3529584" y="1508760"/>
              <a:ext cx="1417320" cy="292608"/>
            </a:xfrm>
            <a:prstGeom prst="roundRect">
              <a:avLst>
                <a:gd name="adj" fmla="val 25000"/>
              </a:avLst>
            </a:prstGeom>
            <a:solidFill>
              <a:srgbClr val="4DA3FF"/>
            </a:solidFill>
            <a:ln>
              <a:noFill/>
            </a:ln>
          </p:spPr>
          <p:txBody>
            <a:bodyPr wrap="square" lIns="27432" tIns="9144" rIns="27432" bIns="9144" rtlCol="0" anchor="ctr">
              <a:noAutofit/>
            </a:bodyPr>
            <a:lstStyle/>
            <a:p>
              <a:pPr algn="ctr"/>
              <a:r>
                <a:rPr lang="en-GB" sz="1400" b="1" i="0">
                  <a:solidFill>
                    <a:srgbClr val="101418"/>
                  </a:solidFill>
                  <a:latin typeface="Arial"/>
                </a:rPr>
                <a:t>PROVISIONAL</a:t>
              </a:r>
            </a:p>
          </p:txBody>
        </p:sp>
        <p:sp>
          <p:nvSpPr>
            <p:cNvPr id="10" name="TextBox 9"/>
            <p:cNvSpPr txBox="1"/>
            <p:nvPr/>
          </p:nvSpPr>
          <p:spPr>
            <a:xfrm>
              <a:off x="3529584" y="1938528"/>
              <a:ext cx="2286000" cy="1371600"/>
            </a:xfrm>
            <a:prstGeom prst="rect">
              <a:avLst/>
            </a:prstGeom>
            <a:noFill/>
          </p:spPr>
          <p:txBody>
            <a:bodyPr wrap="square" lIns="0" tIns="18288" rIns="0" bIns="0" anchor="t">
              <a:noAutofit/>
            </a:bodyPr>
            <a:lstStyle/>
            <a:p>
              <a:pPr algn="l"/>
              <a:r>
                <a:rPr lang="en-GB" sz="1600" b="1" i="0">
                  <a:solidFill>
                    <a:srgbClr val="A9B0B8"/>
                  </a:solidFill>
                  <a:latin typeface="Arial"/>
                </a:rPr>
                <a:t>Speed cap: about</a:t>
              </a:r>
            </a:p>
            <a:p>
              <a:pPr algn="l"/>
              <a:r>
                <a:rPr lang="en-GB" sz="2200" b="1" i="0">
                  <a:solidFill>
                    <a:srgbClr val="F28C28"/>
                  </a:solidFill>
                  <a:latin typeface="Arial"/>
                </a:rPr>
                <a:t>60 km/h</a:t>
              </a:r>
            </a:p>
          </p:txBody>
        </p:sp>
        <p:sp>
          <p:nvSpPr>
            <p:cNvPr id="11" name="Rounded Rectangle 10"/>
            <p:cNvSpPr/>
            <p:nvPr/>
          </p:nvSpPr>
          <p:spPr>
            <a:xfrm>
              <a:off x="6236208" y="1371600"/>
              <a:ext cx="2560320" cy="2011680"/>
            </a:xfrm>
            <a:prstGeom prst="roundRect">
              <a:avLst>
                <a:gd name="adj" fmla="val 3636"/>
              </a:avLst>
            </a:prstGeom>
            <a:solidFill>
              <a:srgbClr val="2B2F36"/>
            </a:solidFill>
            <a:ln w="12700">
              <a:solidFill>
                <a:srgbClr val="4A515B"/>
              </a:solidFill>
            </a:ln>
          </p:spPr>
          <p:txBody>
            <a:bodyPr rtlCol="0" anchor="ctr"/>
            <a:lstStyle/>
            <a:p>
              <a:pPr algn="ctr"/>
              <a:endParaRPr/>
            </a:p>
          </p:txBody>
        </p:sp>
        <p:sp>
          <p:nvSpPr>
            <p:cNvPr id="12" name="Chip: Provisional (inline)" descr="Status tag: Provisional"/>
            <p:cNvSpPr/>
            <p:nvPr/>
          </p:nvSpPr>
          <p:spPr>
            <a:xfrm>
              <a:off x="6373368" y="1508760"/>
              <a:ext cx="1417320" cy="292608"/>
            </a:xfrm>
            <a:prstGeom prst="roundRect">
              <a:avLst>
                <a:gd name="adj" fmla="val 25000"/>
              </a:avLst>
            </a:prstGeom>
            <a:solidFill>
              <a:srgbClr val="4DA3FF"/>
            </a:solidFill>
            <a:ln>
              <a:noFill/>
            </a:ln>
          </p:spPr>
          <p:txBody>
            <a:bodyPr wrap="square" lIns="27432" tIns="9144" rIns="27432" bIns="9144" rtlCol="0" anchor="ctr">
              <a:noAutofit/>
            </a:bodyPr>
            <a:lstStyle/>
            <a:p>
              <a:pPr algn="ctr"/>
              <a:r>
                <a:rPr lang="en-GB" sz="1400" b="1" i="0">
                  <a:solidFill>
                    <a:srgbClr val="101418"/>
                  </a:solidFill>
                  <a:latin typeface="Arial"/>
                </a:rPr>
                <a:t>PROVISIONAL</a:t>
              </a:r>
            </a:p>
          </p:txBody>
        </p:sp>
        <p:sp>
          <p:nvSpPr>
            <p:cNvPr id="13" name="TextBox 12"/>
            <p:cNvSpPr txBox="1"/>
            <p:nvPr/>
          </p:nvSpPr>
          <p:spPr>
            <a:xfrm>
              <a:off x="6373368" y="1938528"/>
              <a:ext cx="2286000" cy="1371600"/>
            </a:xfrm>
            <a:prstGeom prst="rect">
              <a:avLst/>
            </a:prstGeom>
            <a:noFill/>
          </p:spPr>
          <p:txBody>
            <a:bodyPr wrap="square" lIns="0" tIns="18288" rIns="0" bIns="0" anchor="t">
              <a:noAutofit/>
            </a:bodyPr>
            <a:lstStyle/>
            <a:p>
              <a:pPr algn="l"/>
              <a:r>
                <a:rPr lang="en-GB" sz="1600" b="1" i="0">
                  <a:solidFill>
                    <a:srgbClr val="A9B0B8"/>
                  </a:solidFill>
                  <a:latin typeface="Arial"/>
                </a:rPr>
                <a:t>Signals per box</a:t>
              </a:r>
            </a:p>
            <a:p>
              <a:pPr algn="l"/>
              <a:r>
                <a:rPr lang="en-GB" sz="2200" b="1" i="0">
                  <a:solidFill>
                    <a:srgbClr val="F28C28"/>
                  </a:solidFill>
                  <a:latin typeface="Arial"/>
                </a:rPr>
                <a:t>6–8 station</a:t>
              </a:r>
            </a:p>
            <a:p>
              <a:pPr algn="l"/>
              <a:r>
                <a:rPr lang="en-GB" sz="2200" b="1" i="0">
                  <a:solidFill>
                    <a:srgbClr val="F28C28"/>
                  </a:solidFill>
                  <a:latin typeface="Arial"/>
                </a:rPr>
                <a:t>12–16 dedicated</a:t>
              </a:r>
            </a:p>
          </p:txBody>
        </p:sp>
        <p:sp>
          <p:nvSpPr>
            <p:cNvPr id="14" name="Rounded Rectangle 13"/>
            <p:cNvSpPr/>
            <p:nvPr/>
          </p:nvSpPr>
          <p:spPr>
            <a:xfrm>
              <a:off x="9079992" y="1371600"/>
              <a:ext cx="2560320" cy="2011680"/>
            </a:xfrm>
            <a:prstGeom prst="roundRect">
              <a:avLst>
                <a:gd name="adj" fmla="val 3636"/>
              </a:avLst>
            </a:prstGeom>
            <a:solidFill>
              <a:srgbClr val="2B2F36"/>
            </a:solidFill>
            <a:ln w="12700">
              <a:solidFill>
                <a:srgbClr val="4A515B"/>
              </a:solidFill>
            </a:ln>
          </p:spPr>
          <p:txBody>
            <a:bodyPr rtlCol="0" anchor="ctr"/>
            <a:lstStyle/>
            <a:p>
              <a:pPr algn="ctr"/>
              <a:endParaRPr/>
            </a:p>
          </p:txBody>
        </p:sp>
        <p:sp>
          <p:nvSpPr>
            <p:cNvPr id="15" name="Chip: Provisional (inline)" descr="Status tag: Provisional"/>
            <p:cNvSpPr/>
            <p:nvPr/>
          </p:nvSpPr>
          <p:spPr>
            <a:xfrm>
              <a:off x="9217152" y="1508760"/>
              <a:ext cx="1417320" cy="292608"/>
            </a:xfrm>
            <a:prstGeom prst="roundRect">
              <a:avLst>
                <a:gd name="adj" fmla="val 25000"/>
              </a:avLst>
            </a:prstGeom>
            <a:solidFill>
              <a:srgbClr val="4DA3FF"/>
            </a:solidFill>
            <a:ln>
              <a:noFill/>
            </a:ln>
          </p:spPr>
          <p:txBody>
            <a:bodyPr wrap="square" lIns="27432" tIns="9144" rIns="27432" bIns="9144" rtlCol="0" anchor="ctr">
              <a:noAutofit/>
            </a:bodyPr>
            <a:lstStyle/>
            <a:p>
              <a:pPr algn="ctr"/>
              <a:r>
                <a:rPr lang="en-GB" sz="1400" b="1" i="0">
                  <a:solidFill>
                    <a:srgbClr val="101418"/>
                  </a:solidFill>
                  <a:latin typeface="Arial"/>
                </a:rPr>
                <a:t>PROVISIONAL</a:t>
              </a:r>
            </a:p>
          </p:txBody>
        </p:sp>
        <p:sp>
          <p:nvSpPr>
            <p:cNvPr id="16" name="TextBox 15"/>
            <p:cNvSpPr txBox="1"/>
            <p:nvPr/>
          </p:nvSpPr>
          <p:spPr>
            <a:xfrm>
              <a:off x="9217152" y="1938528"/>
              <a:ext cx="2286000" cy="1371600"/>
            </a:xfrm>
            <a:prstGeom prst="rect">
              <a:avLst/>
            </a:prstGeom>
            <a:noFill/>
          </p:spPr>
          <p:txBody>
            <a:bodyPr wrap="square" lIns="0" tIns="18288" rIns="0" bIns="0" anchor="t">
              <a:noAutofit/>
            </a:bodyPr>
            <a:lstStyle/>
            <a:p>
              <a:pPr algn="l"/>
              <a:r>
                <a:rPr lang="en-GB" sz="1600" b="1" i="0">
                  <a:solidFill>
                    <a:srgbClr val="A9B0B8"/>
                  </a:solidFill>
                  <a:latin typeface="Arial"/>
                </a:rPr>
                <a:t>Reach: about</a:t>
              </a:r>
            </a:p>
            <a:p>
              <a:pPr algn="l"/>
              <a:r>
                <a:rPr lang="en-GB" sz="2200" b="1" i="0">
                  <a:solidFill>
                    <a:srgbClr val="F28C28"/>
                  </a:solidFill>
                  <a:latin typeface="Arial"/>
                </a:rPr>
                <a:t>1–1.5 km</a:t>
              </a:r>
            </a:p>
          </p:txBody>
        </p:sp>
        <p:grpSp>
          <p:nvGrpSpPr>
            <p:cNvPr id="17" name="Track" descr="Two rails on sleepers."/>
            <p:cNvGrpSpPr/>
            <p:nvPr/>
          </p:nvGrpSpPr>
          <p:grpSpPr>
            <a:xfrm>
              <a:off x="731520" y="4517136"/>
              <a:ext cx="10698480" cy="365760"/>
              <a:chOff x="731520" y="4517136"/>
              <a:chExt cx="10698480" cy="365760"/>
            </a:xfrm>
          </p:grpSpPr>
          <p:sp>
            <p:nvSpPr>
              <p:cNvPr id="18" name="Rectangle 17"/>
              <p:cNvSpPr/>
              <p:nvPr/>
            </p:nvSpPr>
            <p:spPr>
              <a:xfrm>
                <a:off x="932688" y="451713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1252728" y="451713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1572768" y="451713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1892808" y="451713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2212848" y="4517136"/>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2532888" y="4517136"/>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2852928" y="4517136"/>
                <a:ext cx="54864" cy="365760"/>
              </a:xfrm>
              <a:prstGeom prst="rect">
                <a:avLst/>
              </a:prstGeom>
              <a:solidFill>
                <a:srgbClr val="6B5B4B"/>
              </a:solidFill>
              <a:ln>
                <a:noFill/>
              </a:ln>
            </p:spPr>
            <p:txBody>
              <a:bodyPr rtlCol="0" anchor="ctr"/>
              <a:lstStyle/>
              <a:p>
                <a:pPr algn="ctr"/>
                <a:endParaRPr/>
              </a:p>
            </p:txBody>
          </p:sp>
          <p:sp>
            <p:nvSpPr>
              <p:cNvPr id="25" name="Rectangle 24"/>
              <p:cNvSpPr/>
              <p:nvPr/>
            </p:nvSpPr>
            <p:spPr>
              <a:xfrm>
                <a:off x="3172968" y="4517136"/>
                <a:ext cx="54864" cy="365760"/>
              </a:xfrm>
              <a:prstGeom prst="rect">
                <a:avLst/>
              </a:prstGeom>
              <a:solidFill>
                <a:srgbClr val="6B5B4B"/>
              </a:solidFill>
              <a:ln>
                <a:noFill/>
              </a:ln>
            </p:spPr>
            <p:txBody>
              <a:bodyPr rtlCol="0" anchor="ctr"/>
              <a:lstStyle/>
              <a:p>
                <a:pPr algn="ctr"/>
                <a:endParaRPr/>
              </a:p>
            </p:txBody>
          </p:sp>
          <p:sp>
            <p:nvSpPr>
              <p:cNvPr id="26" name="Rectangle 25"/>
              <p:cNvSpPr/>
              <p:nvPr/>
            </p:nvSpPr>
            <p:spPr>
              <a:xfrm>
                <a:off x="3493008" y="4517136"/>
                <a:ext cx="54864" cy="365760"/>
              </a:xfrm>
              <a:prstGeom prst="rect">
                <a:avLst/>
              </a:prstGeom>
              <a:solidFill>
                <a:srgbClr val="6B5B4B"/>
              </a:solidFill>
              <a:ln>
                <a:noFill/>
              </a:ln>
            </p:spPr>
            <p:txBody>
              <a:bodyPr rtlCol="0" anchor="ctr"/>
              <a:lstStyle/>
              <a:p>
                <a:pPr algn="ctr"/>
                <a:endParaRPr/>
              </a:p>
            </p:txBody>
          </p:sp>
          <p:sp>
            <p:nvSpPr>
              <p:cNvPr id="27" name="Rectangle 26"/>
              <p:cNvSpPr/>
              <p:nvPr/>
            </p:nvSpPr>
            <p:spPr>
              <a:xfrm>
                <a:off x="3813048" y="4517136"/>
                <a:ext cx="54864" cy="365760"/>
              </a:xfrm>
              <a:prstGeom prst="rect">
                <a:avLst/>
              </a:prstGeom>
              <a:solidFill>
                <a:srgbClr val="6B5B4B"/>
              </a:solidFill>
              <a:ln>
                <a:noFill/>
              </a:ln>
            </p:spPr>
            <p:txBody>
              <a:bodyPr rtlCol="0" anchor="ctr"/>
              <a:lstStyle/>
              <a:p>
                <a:pPr algn="ctr"/>
                <a:endParaRPr/>
              </a:p>
            </p:txBody>
          </p:sp>
          <p:sp>
            <p:nvSpPr>
              <p:cNvPr id="28" name="Rectangle 27"/>
              <p:cNvSpPr/>
              <p:nvPr/>
            </p:nvSpPr>
            <p:spPr>
              <a:xfrm>
                <a:off x="4133088" y="4517136"/>
                <a:ext cx="54864" cy="365760"/>
              </a:xfrm>
              <a:prstGeom prst="rect">
                <a:avLst/>
              </a:prstGeom>
              <a:solidFill>
                <a:srgbClr val="6B5B4B"/>
              </a:solidFill>
              <a:ln>
                <a:noFill/>
              </a:ln>
            </p:spPr>
            <p:txBody>
              <a:bodyPr rtlCol="0" anchor="ctr"/>
              <a:lstStyle/>
              <a:p>
                <a:pPr algn="ctr"/>
                <a:endParaRPr/>
              </a:p>
            </p:txBody>
          </p:sp>
          <p:sp>
            <p:nvSpPr>
              <p:cNvPr id="29" name="Rectangle 28"/>
              <p:cNvSpPr/>
              <p:nvPr/>
            </p:nvSpPr>
            <p:spPr>
              <a:xfrm>
                <a:off x="4453128" y="4517136"/>
                <a:ext cx="54864" cy="365760"/>
              </a:xfrm>
              <a:prstGeom prst="rect">
                <a:avLst/>
              </a:prstGeom>
              <a:solidFill>
                <a:srgbClr val="6B5B4B"/>
              </a:solidFill>
              <a:ln>
                <a:noFill/>
              </a:ln>
            </p:spPr>
            <p:txBody>
              <a:bodyPr rtlCol="0" anchor="ctr"/>
              <a:lstStyle/>
              <a:p>
                <a:pPr algn="ctr"/>
                <a:endParaRPr/>
              </a:p>
            </p:txBody>
          </p:sp>
          <p:sp>
            <p:nvSpPr>
              <p:cNvPr id="30" name="Rectangle 29"/>
              <p:cNvSpPr/>
              <p:nvPr/>
            </p:nvSpPr>
            <p:spPr>
              <a:xfrm>
                <a:off x="4773168" y="4517136"/>
                <a:ext cx="54864" cy="365760"/>
              </a:xfrm>
              <a:prstGeom prst="rect">
                <a:avLst/>
              </a:prstGeom>
              <a:solidFill>
                <a:srgbClr val="6B5B4B"/>
              </a:solidFill>
              <a:ln>
                <a:noFill/>
              </a:ln>
            </p:spPr>
            <p:txBody>
              <a:bodyPr rtlCol="0" anchor="ctr"/>
              <a:lstStyle/>
              <a:p>
                <a:pPr algn="ctr"/>
                <a:endParaRPr/>
              </a:p>
            </p:txBody>
          </p:sp>
          <p:sp>
            <p:nvSpPr>
              <p:cNvPr id="31" name="Rectangle 30"/>
              <p:cNvSpPr/>
              <p:nvPr/>
            </p:nvSpPr>
            <p:spPr>
              <a:xfrm>
                <a:off x="5093208" y="4517136"/>
                <a:ext cx="54864" cy="365760"/>
              </a:xfrm>
              <a:prstGeom prst="rect">
                <a:avLst/>
              </a:prstGeom>
              <a:solidFill>
                <a:srgbClr val="6B5B4B"/>
              </a:solidFill>
              <a:ln>
                <a:noFill/>
              </a:ln>
            </p:spPr>
            <p:txBody>
              <a:bodyPr rtlCol="0" anchor="ctr"/>
              <a:lstStyle/>
              <a:p>
                <a:pPr algn="ctr"/>
                <a:endParaRPr/>
              </a:p>
            </p:txBody>
          </p:sp>
          <p:sp>
            <p:nvSpPr>
              <p:cNvPr id="32" name="Rectangle 31"/>
              <p:cNvSpPr/>
              <p:nvPr/>
            </p:nvSpPr>
            <p:spPr>
              <a:xfrm>
                <a:off x="5413248" y="4517136"/>
                <a:ext cx="54864" cy="365760"/>
              </a:xfrm>
              <a:prstGeom prst="rect">
                <a:avLst/>
              </a:prstGeom>
              <a:solidFill>
                <a:srgbClr val="6B5B4B"/>
              </a:solidFill>
              <a:ln>
                <a:noFill/>
              </a:ln>
            </p:spPr>
            <p:txBody>
              <a:bodyPr rtlCol="0" anchor="ctr"/>
              <a:lstStyle/>
              <a:p>
                <a:pPr algn="ctr"/>
                <a:endParaRPr/>
              </a:p>
            </p:txBody>
          </p:sp>
          <p:sp>
            <p:nvSpPr>
              <p:cNvPr id="33" name="Rectangle 32"/>
              <p:cNvSpPr/>
              <p:nvPr/>
            </p:nvSpPr>
            <p:spPr>
              <a:xfrm>
                <a:off x="5733288" y="4517136"/>
                <a:ext cx="54864" cy="365760"/>
              </a:xfrm>
              <a:prstGeom prst="rect">
                <a:avLst/>
              </a:prstGeom>
              <a:solidFill>
                <a:srgbClr val="6B5B4B"/>
              </a:solidFill>
              <a:ln>
                <a:noFill/>
              </a:ln>
            </p:spPr>
            <p:txBody>
              <a:bodyPr rtlCol="0" anchor="ctr"/>
              <a:lstStyle/>
              <a:p>
                <a:pPr algn="ctr"/>
                <a:endParaRPr/>
              </a:p>
            </p:txBody>
          </p:sp>
          <p:sp>
            <p:nvSpPr>
              <p:cNvPr id="34" name="Rectangle 33"/>
              <p:cNvSpPr/>
              <p:nvPr/>
            </p:nvSpPr>
            <p:spPr>
              <a:xfrm>
                <a:off x="6053328" y="4517136"/>
                <a:ext cx="54864" cy="365760"/>
              </a:xfrm>
              <a:prstGeom prst="rect">
                <a:avLst/>
              </a:prstGeom>
              <a:solidFill>
                <a:srgbClr val="6B5B4B"/>
              </a:solidFill>
              <a:ln>
                <a:noFill/>
              </a:ln>
            </p:spPr>
            <p:txBody>
              <a:bodyPr rtlCol="0" anchor="ctr"/>
              <a:lstStyle/>
              <a:p>
                <a:pPr algn="ctr"/>
                <a:endParaRPr/>
              </a:p>
            </p:txBody>
          </p:sp>
          <p:sp>
            <p:nvSpPr>
              <p:cNvPr id="35" name="Rectangle 34"/>
              <p:cNvSpPr/>
              <p:nvPr/>
            </p:nvSpPr>
            <p:spPr>
              <a:xfrm>
                <a:off x="6373368" y="4517136"/>
                <a:ext cx="54864" cy="365760"/>
              </a:xfrm>
              <a:prstGeom prst="rect">
                <a:avLst/>
              </a:prstGeom>
              <a:solidFill>
                <a:srgbClr val="6B5B4B"/>
              </a:solidFill>
              <a:ln>
                <a:noFill/>
              </a:ln>
            </p:spPr>
            <p:txBody>
              <a:bodyPr rtlCol="0" anchor="ctr"/>
              <a:lstStyle/>
              <a:p>
                <a:pPr algn="ctr"/>
                <a:endParaRPr/>
              </a:p>
            </p:txBody>
          </p:sp>
          <p:sp>
            <p:nvSpPr>
              <p:cNvPr id="36" name="Rectangle 35"/>
              <p:cNvSpPr/>
              <p:nvPr/>
            </p:nvSpPr>
            <p:spPr>
              <a:xfrm>
                <a:off x="6693408" y="4517136"/>
                <a:ext cx="54864" cy="365760"/>
              </a:xfrm>
              <a:prstGeom prst="rect">
                <a:avLst/>
              </a:prstGeom>
              <a:solidFill>
                <a:srgbClr val="6B5B4B"/>
              </a:solidFill>
              <a:ln>
                <a:noFill/>
              </a:ln>
            </p:spPr>
            <p:txBody>
              <a:bodyPr rtlCol="0" anchor="ctr"/>
              <a:lstStyle/>
              <a:p>
                <a:pPr algn="ctr"/>
                <a:endParaRPr/>
              </a:p>
            </p:txBody>
          </p:sp>
          <p:sp>
            <p:nvSpPr>
              <p:cNvPr id="37" name="Rectangle 36"/>
              <p:cNvSpPr/>
              <p:nvPr/>
            </p:nvSpPr>
            <p:spPr>
              <a:xfrm>
                <a:off x="7013448" y="4517136"/>
                <a:ext cx="54864" cy="365760"/>
              </a:xfrm>
              <a:prstGeom prst="rect">
                <a:avLst/>
              </a:prstGeom>
              <a:solidFill>
                <a:srgbClr val="6B5B4B"/>
              </a:solidFill>
              <a:ln>
                <a:noFill/>
              </a:ln>
            </p:spPr>
            <p:txBody>
              <a:bodyPr rtlCol="0" anchor="ctr"/>
              <a:lstStyle/>
              <a:p>
                <a:pPr algn="ctr"/>
                <a:endParaRPr/>
              </a:p>
            </p:txBody>
          </p:sp>
          <p:sp>
            <p:nvSpPr>
              <p:cNvPr id="38" name="Rectangle 37"/>
              <p:cNvSpPr/>
              <p:nvPr/>
            </p:nvSpPr>
            <p:spPr>
              <a:xfrm>
                <a:off x="7333488" y="4517136"/>
                <a:ext cx="54864" cy="365760"/>
              </a:xfrm>
              <a:prstGeom prst="rect">
                <a:avLst/>
              </a:prstGeom>
              <a:solidFill>
                <a:srgbClr val="6B5B4B"/>
              </a:solidFill>
              <a:ln>
                <a:noFill/>
              </a:ln>
            </p:spPr>
            <p:txBody>
              <a:bodyPr rtlCol="0" anchor="ctr"/>
              <a:lstStyle/>
              <a:p>
                <a:pPr algn="ctr"/>
                <a:endParaRPr/>
              </a:p>
            </p:txBody>
          </p:sp>
          <p:sp>
            <p:nvSpPr>
              <p:cNvPr id="39" name="Rectangle 38"/>
              <p:cNvSpPr/>
              <p:nvPr/>
            </p:nvSpPr>
            <p:spPr>
              <a:xfrm>
                <a:off x="7653528" y="4517136"/>
                <a:ext cx="54864" cy="365760"/>
              </a:xfrm>
              <a:prstGeom prst="rect">
                <a:avLst/>
              </a:prstGeom>
              <a:solidFill>
                <a:srgbClr val="6B5B4B"/>
              </a:solidFill>
              <a:ln>
                <a:noFill/>
              </a:ln>
            </p:spPr>
            <p:txBody>
              <a:bodyPr rtlCol="0" anchor="ctr"/>
              <a:lstStyle/>
              <a:p>
                <a:pPr algn="ctr"/>
                <a:endParaRPr/>
              </a:p>
            </p:txBody>
          </p:sp>
          <p:sp>
            <p:nvSpPr>
              <p:cNvPr id="40" name="Rectangle 39"/>
              <p:cNvSpPr/>
              <p:nvPr/>
            </p:nvSpPr>
            <p:spPr>
              <a:xfrm>
                <a:off x="7973568" y="4517136"/>
                <a:ext cx="54864" cy="365760"/>
              </a:xfrm>
              <a:prstGeom prst="rect">
                <a:avLst/>
              </a:prstGeom>
              <a:solidFill>
                <a:srgbClr val="6B5B4B"/>
              </a:solidFill>
              <a:ln>
                <a:noFill/>
              </a:ln>
            </p:spPr>
            <p:txBody>
              <a:bodyPr rtlCol="0" anchor="ctr"/>
              <a:lstStyle/>
              <a:p>
                <a:pPr algn="ctr"/>
                <a:endParaRPr/>
              </a:p>
            </p:txBody>
          </p:sp>
          <p:sp>
            <p:nvSpPr>
              <p:cNvPr id="41" name="Rectangle 40"/>
              <p:cNvSpPr/>
              <p:nvPr/>
            </p:nvSpPr>
            <p:spPr>
              <a:xfrm>
                <a:off x="8293608" y="4517136"/>
                <a:ext cx="54864" cy="365760"/>
              </a:xfrm>
              <a:prstGeom prst="rect">
                <a:avLst/>
              </a:prstGeom>
              <a:solidFill>
                <a:srgbClr val="6B5B4B"/>
              </a:solidFill>
              <a:ln>
                <a:noFill/>
              </a:ln>
            </p:spPr>
            <p:txBody>
              <a:bodyPr rtlCol="0" anchor="ctr"/>
              <a:lstStyle/>
              <a:p>
                <a:pPr algn="ctr"/>
                <a:endParaRPr/>
              </a:p>
            </p:txBody>
          </p:sp>
          <p:sp>
            <p:nvSpPr>
              <p:cNvPr id="42" name="Rectangle 41"/>
              <p:cNvSpPr/>
              <p:nvPr/>
            </p:nvSpPr>
            <p:spPr>
              <a:xfrm>
                <a:off x="8613648" y="4517136"/>
                <a:ext cx="54864" cy="365760"/>
              </a:xfrm>
              <a:prstGeom prst="rect">
                <a:avLst/>
              </a:prstGeom>
              <a:solidFill>
                <a:srgbClr val="6B5B4B"/>
              </a:solidFill>
              <a:ln>
                <a:noFill/>
              </a:ln>
            </p:spPr>
            <p:txBody>
              <a:bodyPr rtlCol="0" anchor="ctr"/>
              <a:lstStyle/>
              <a:p>
                <a:pPr algn="ctr"/>
                <a:endParaRPr/>
              </a:p>
            </p:txBody>
          </p:sp>
          <p:sp>
            <p:nvSpPr>
              <p:cNvPr id="43" name="Rectangle 42"/>
              <p:cNvSpPr/>
              <p:nvPr/>
            </p:nvSpPr>
            <p:spPr>
              <a:xfrm>
                <a:off x="8933688" y="4517136"/>
                <a:ext cx="54864" cy="365760"/>
              </a:xfrm>
              <a:prstGeom prst="rect">
                <a:avLst/>
              </a:prstGeom>
              <a:solidFill>
                <a:srgbClr val="6B5B4B"/>
              </a:solidFill>
              <a:ln>
                <a:noFill/>
              </a:ln>
            </p:spPr>
            <p:txBody>
              <a:bodyPr rtlCol="0" anchor="ctr"/>
              <a:lstStyle/>
              <a:p>
                <a:pPr algn="ctr"/>
                <a:endParaRPr/>
              </a:p>
            </p:txBody>
          </p:sp>
          <p:sp>
            <p:nvSpPr>
              <p:cNvPr id="44" name="Rectangle 43"/>
              <p:cNvSpPr/>
              <p:nvPr/>
            </p:nvSpPr>
            <p:spPr>
              <a:xfrm>
                <a:off x="9253728" y="4517136"/>
                <a:ext cx="54864" cy="365760"/>
              </a:xfrm>
              <a:prstGeom prst="rect">
                <a:avLst/>
              </a:prstGeom>
              <a:solidFill>
                <a:srgbClr val="6B5B4B"/>
              </a:solidFill>
              <a:ln>
                <a:noFill/>
              </a:ln>
            </p:spPr>
            <p:txBody>
              <a:bodyPr rtlCol="0" anchor="ctr"/>
              <a:lstStyle/>
              <a:p>
                <a:pPr algn="ctr"/>
                <a:endParaRPr/>
              </a:p>
            </p:txBody>
          </p:sp>
          <p:sp>
            <p:nvSpPr>
              <p:cNvPr id="45" name="Rectangle 44"/>
              <p:cNvSpPr/>
              <p:nvPr/>
            </p:nvSpPr>
            <p:spPr>
              <a:xfrm>
                <a:off x="9573768" y="4517136"/>
                <a:ext cx="54864" cy="365760"/>
              </a:xfrm>
              <a:prstGeom prst="rect">
                <a:avLst/>
              </a:prstGeom>
              <a:solidFill>
                <a:srgbClr val="6B5B4B"/>
              </a:solidFill>
              <a:ln>
                <a:noFill/>
              </a:ln>
            </p:spPr>
            <p:txBody>
              <a:bodyPr rtlCol="0" anchor="ctr"/>
              <a:lstStyle/>
              <a:p>
                <a:pPr algn="ctr"/>
                <a:endParaRPr/>
              </a:p>
            </p:txBody>
          </p:sp>
          <p:sp>
            <p:nvSpPr>
              <p:cNvPr id="46" name="Rectangle 45"/>
              <p:cNvSpPr/>
              <p:nvPr/>
            </p:nvSpPr>
            <p:spPr>
              <a:xfrm>
                <a:off x="9893808" y="4517136"/>
                <a:ext cx="54864" cy="365760"/>
              </a:xfrm>
              <a:prstGeom prst="rect">
                <a:avLst/>
              </a:prstGeom>
              <a:solidFill>
                <a:srgbClr val="6B5B4B"/>
              </a:solidFill>
              <a:ln>
                <a:noFill/>
              </a:ln>
            </p:spPr>
            <p:txBody>
              <a:bodyPr rtlCol="0" anchor="ctr"/>
              <a:lstStyle/>
              <a:p>
                <a:pPr algn="ctr"/>
                <a:endParaRPr/>
              </a:p>
            </p:txBody>
          </p:sp>
          <p:sp>
            <p:nvSpPr>
              <p:cNvPr id="47" name="Rectangle 46"/>
              <p:cNvSpPr/>
              <p:nvPr/>
            </p:nvSpPr>
            <p:spPr>
              <a:xfrm>
                <a:off x="10213848" y="4517136"/>
                <a:ext cx="54864" cy="365760"/>
              </a:xfrm>
              <a:prstGeom prst="rect">
                <a:avLst/>
              </a:prstGeom>
              <a:solidFill>
                <a:srgbClr val="6B5B4B"/>
              </a:solidFill>
              <a:ln>
                <a:noFill/>
              </a:ln>
            </p:spPr>
            <p:txBody>
              <a:bodyPr rtlCol="0" anchor="ctr"/>
              <a:lstStyle/>
              <a:p>
                <a:pPr algn="ctr"/>
                <a:endParaRPr/>
              </a:p>
            </p:txBody>
          </p:sp>
          <p:sp>
            <p:nvSpPr>
              <p:cNvPr id="48" name="Rectangle 47"/>
              <p:cNvSpPr/>
              <p:nvPr/>
            </p:nvSpPr>
            <p:spPr>
              <a:xfrm>
                <a:off x="10533888" y="4517136"/>
                <a:ext cx="54864" cy="365760"/>
              </a:xfrm>
              <a:prstGeom prst="rect">
                <a:avLst/>
              </a:prstGeom>
              <a:solidFill>
                <a:srgbClr val="6B5B4B"/>
              </a:solidFill>
              <a:ln>
                <a:noFill/>
              </a:ln>
            </p:spPr>
            <p:txBody>
              <a:bodyPr rtlCol="0" anchor="ctr"/>
              <a:lstStyle/>
              <a:p>
                <a:pPr algn="ctr"/>
                <a:endParaRPr/>
              </a:p>
            </p:txBody>
          </p:sp>
          <p:sp>
            <p:nvSpPr>
              <p:cNvPr id="49" name="Rectangle 48"/>
              <p:cNvSpPr/>
              <p:nvPr/>
            </p:nvSpPr>
            <p:spPr>
              <a:xfrm>
                <a:off x="10853928" y="4517136"/>
                <a:ext cx="54864" cy="365760"/>
              </a:xfrm>
              <a:prstGeom prst="rect">
                <a:avLst/>
              </a:prstGeom>
              <a:solidFill>
                <a:srgbClr val="6B5B4B"/>
              </a:solidFill>
              <a:ln>
                <a:noFill/>
              </a:ln>
            </p:spPr>
            <p:txBody>
              <a:bodyPr rtlCol="0" anchor="ctr"/>
              <a:lstStyle/>
              <a:p>
                <a:pPr algn="ctr"/>
                <a:endParaRPr/>
              </a:p>
            </p:txBody>
          </p:sp>
          <p:sp>
            <p:nvSpPr>
              <p:cNvPr id="50" name="Rectangle 49"/>
              <p:cNvSpPr/>
              <p:nvPr/>
            </p:nvSpPr>
            <p:spPr>
              <a:xfrm>
                <a:off x="11173968" y="4517136"/>
                <a:ext cx="54864" cy="365760"/>
              </a:xfrm>
              <a:prstGeom prst="rect">
                <a:avLst/>
              </a:prstGeom>
              <a:solidFill>
                <a:srgbClr val="6B5B4B"/>
              </a:solidFill>
              <a:ln>
                <a:noFill/>
              </a:ln>
            </p:spPr>
            <p:txBody>
              <a:bodyPr rtlCol="0" anchor="ctr"/>
              <a:lstStyle/>
              <a:p>
                <a:pPr algn="ctr"/>
                <a:endParaRPr/>
              </a:p>
            </p:txBody>
          </p:sp>
          <p:sp>
            <p:nvSpPr>
              <p:cNvPr id="51" name="Rectangle 50"/>
              <p:cNvSpPr/>
              <p:nvPr/>
            </p:nvSpPr>
            <p:spPr>
              <a:xfrm>
                <a:off x="731520" y="4572000"/>
                <a:ext cx="10698480" cy="54864"/>
              </a:xfrm>
              <a:prstGeom prst="rect">
                <a:avLst/>
              </a:prstGeom>
              <a:solidFill>
                <a:srgbClr val="9AA0A6"/>
              </a:solidFill>
              <a:ln>
                <a:noFill/>
              </a:ln>
            </p:spPr>
            <p:txBody>
              <a:bodyPr rtlCol="0" anchor="ctr"/>
              <a:lstStyle/>
              <a:p>
                <a:pPr algn="ctr"/>
                <a:endParaRPr/>
              </a:p>
            </p:txBody>
          </p:sp>
          <p:sp>
            <p:nvSpPr>
              <p:cNvPr id="52" name="Rectangle 51"/>
              <p:cNvSpPr/>
              <p:nvPr/>
            </p:nvSpPr>
            <p:spPr>
              <a:xfrm>
                <a:off x="731520" y="4828032"/>
                <a:ext cx="10698480" cy="54864"/>
              </a:xfrm>
              <a:prstGeom prst="rect">
                <a:avLst/>
              </a:prstGeom>
              <a:solidFill>
                <a:srgbClr val="9AA0A6"/>
              </a:solidFill>
              <a:ln>
                <a:noFill/>
              </a:ln>
            </p:spPr>
            <p:txBody>
              <a:bodyPr rtlCol="0" anchor="ctr"/>
              <a:lstStyle/>
              <a:p>
                <a:pPr algn="ctr"/>
                <a:endParaRPr/>
              </a:p>
            </p:txBody>
          </p:sp>
        </p:grpSp>
        <p:grpSp>
          <p:nvGrpSpPr>
            <p:cNvPr id="53" name="Signal (stop, stop)" descr="A semaphore signal post with its arm flat (stop)."/>
            <p:cNvGrpSpPr/>
            <p:nvPr/>
          </p:nvGrpSpPr>
          <p:grpSpPr>
            <a:xfrm>
              <a:off x="1014984" y="4279392"/>
              <a:ext cx="466344" cy="603504"/>
              <a:chOff x="1014984" y="4279392"/>
              <a:chExt cx="466344" cy="603504"/>
            </a:xfrm>
          </p:grpSpPr>
          <p:sp>
            <p:nvSpPr>
              <p:cNvPr id="54" name="Rectangle 53"/>
              <p:cNvSpPr/>
              <p:nvPr/>
            </p:nvSpPr>
            <p:spPr>
              <a:xfrm>
                <a:off x="1014984" y="4839005"/>
                <a:ext cx="164592" cy="43891"/>
              </a:xfrm>
              <a:prstGeom prst="rect">
                <a:avLst/>
              </a:prstGeom>
              <a:solidFill>
                <a:srgbClr val="9AA0A6"/>
              </a:solidFill>
              <a:ln>
                <a:noFill/>
              </a:ln>
            </p:spPr>
            <p:txBody>
              <a:bodyPr rtlCol="0" anchor="ctr"/>
              <a:lstStyle/>
              <a:p>
                <a:pPr algn="ctr"/>
                <a:endParaRPr/>
              </a:p>
            </p:txBody>
          </p:sp>
          <p:sp>
            <p:nvSpPr>
              <p:cNvPr id="55" name="Rectangle 54"/>
              <p:cNvSpPr/>
              <p:nvPr/>
            </p:nvSpPr>
            <p:spPr>
              <a:xfrm>
                <a:off x="1064362" y="4279392"/>
                <a:ext cx="65837" cy="559613"/>
              </a:xfrm>
              <a:prstGeom prst="rect">
                <a:avLst/>
              </a:prstGeom>
              <a:solidFill>
                <a:srgbClr val="E8E8E8"/>
              </a:solidFill>
              <a:ln>
                <a:noFill/>
              </a:ln>
            </p:spPr>
            <p:txBody>
              <a:bodyPr rtlCol="0" anchor="ctr"/>
              <a:lstStyle/>
              <a:p>
                <a:pPr algn="ctr"/>
                <a:endParaRPr/>
              </a:p>
            </p:txBody>
          </p:sp>
          <p:sp>
            <p:nvSpPr>
              <p:cNvPr id="56" name="Freeform 55"/>
              <p:cNvSpPr/>
              <p:nvPr/>
            </p:nvSpPr>
            <p:spPr>
              <a:xfrm>
                <a:off x="1097280" y="4295851"/>
                <a:ext cx="384048" cy="76810"/>
              </a:xfrm>
              <a:custGeom>
                <a:avLst/>
                <a:gdLst/>
                <a:ahLst/>
                <a:cxnLst/>
                <a:rect l="l" t="t" r="r" b="b"/>
                <a:pathLst>
                  <a:path w="384048" h="76810">
                    <a:moveTo>
                      <a:pt x="0" y="0"/>
                    </a:moveTo>
                    <a:lnTo>
                      <a:pt x="384048" y="0"/>
                    </a:lnTo>
                    <a:lnTo>
                      <a:pt x="384048" y="76810"/>
                    </a:lnTo>
                    <a:lnTo>
                      <a:pt x="0" y="76810"/>
                    </a:lnTo>
                    <a:close/>
                  </a:path>
                </a:pathLst>
              </a:custGeom>
              <a:solidFill>
                <a:srgbClr val="E5484D"/>
              </a:solidFill>
              <a:ln>
                <a:noFill/>
              </a:ln>
            </p:spPr>
            <p:txBody>
              <a:bodyPr rtlCol="0" anchor="ctr"/>
              <a:lstStyle/>
              <a:p>
                <a:pPr algn="ctr"/>
                <a:endParaRPr/>
              </a:p>
            </p:txBody>
          </p:sp>
          <p:sp>
            <p:nvSpPr>
              <p:cNvPr id="57" name="Freeform 56"/>
              <p:cNvSpPr/>
              <p:nvPr/>
            </p:nvSpPr>
            <p:spPr>
              <a:xfrm>
                <a:off x="1289304" y="4295851"/>
                <a:ext cx="60350" cy="76810"/>
              </a:xfrm>
              <a:custGeom>
                <a:avLst/>
                <a:gdLst/>
                <a:ahLst/>
                <a:cxnLst/>
                <a:rect l="l" t="t" r="r" b="b"/>
                <a:pathLst>
                  <a:path w="60350" h="76810">
                    <a:moveTo>
                      <a:pt x="0" y="0"/>
                    </a:moveTo>
                    <a:lnTo>
                      <a:pt x="60350" y="0"/>
                    </a:lnTo>
                    <a:lnTo>
                      <a:pt x="60350" y="76810"/>
                    </a:lnTo>
                    <a:lnTo>
                      <a:pt x="0" y="76810"/>
                    </a:lnTo>
                    <a:close/>
                  </a:path>
                </a:pathLst>
              </a:custGeom>
              <a:solidFill>
                <a:srgbClr val="FFFFFF"/>
              </a:solidFill>
              <a:ln>
                <a:noFill/>
              </a:ln>
            </p:spPr>
            <p:txBody>
              <a:bodyPr rtlCol="0" anchor="ctr"/>
              <a:lstStyle/>
              <a:p>
                <a:pPr algn="ctr"/>
                <a:endParaRPr/>
              </a:p>
            </p:txBody>
          </p:sp>
          <p:sp>
            <p:nvSpPr>
              <p:cNvPr id="58" name="Oval 57"/>
              <p:cNvSpPr/>
              <p:nvPr/>
            </p:nvSpPr>
            <p:spPr>
              <a:xfrm>
                <a:off x="1064362" y="4301338"/>
                <a:ext cx="65837" cy="65837"/>
              </a:xfrm>
              <a:prstGeom prst="ellipse">
                <a:avLst/>
              </a:prstGeom>
              <a:solidFill>
                <a:srgbClr val="1B1D21"/>
              </a:solidFill>
              <a:ln w="9525">
                <a:solidFill>
                  <a:srgbClr val="FFFFFF"/>
                </a:solidFill>
              </a:ln>
            </p:spPr>
            <p:txBody>
              <a:bodyPr rtlCol="0" anchor="ctr"/>
              <a:lstStyle/>
              <a:p>
                <a:pPr algn="ctr"/>
                <a:endParaRPr/>
              </a:p>
            </p:txBody>
          </p:sp>
        </p:grpSp>
        <p:grpSp>
          <p:nvGrpSpPr>
            <p:cNvPr id="59" name="Signal (stop, stop)" descr="A semaphore signal post with its arm flat (stop)."/>
            <p:cNvGrpSpPr/>
            <p:nvPr/>
          </p:nvGrpSpPr>
          <p:grpSpPr>
            <a:xfrm>
              <a:off x="2980944" y="4279392"/>
              <a:ext cx="466344" cy="603504"/>
              <a:chOff x="2980944" y="4279392"/>
              <a:chExt cx="466344" cy="603504"/>
            </a:xfrm>
          </p:grpSpPr>
          <p:sp>
            <p:nvSpPr>
              <p:cNvPr id="60" name="Rectangle 59"/>
              <p:cNvSpPr/>
              <p:nvPr/>
            </p:nvSpPr>
            <p:spPr>
              <a:xfrm>
                <a:off x="2980944" y="4839005"/>
                <a:ext cx="164592" cy="43891"/>
              </a:xfrm>
              <a:prstGeom prst="rect">
                <a:avLst/>
              </a:prstGeom>
              <a:solidFill>
                <a:srgbClr val="9AA0A6"/>
              </a:solidFill>
              <a:ln>
                <a:noFill/>
              </a:ln>
            </p:spPr>
            <p:txBody>
              <a:bodyPr rtlCol="0" anchor="ctr"/>
              <a:lstStyle/>
              <a:p>
                <a:pPr algn="ctr"/>
                <a:endParaRPr/>
              </a:p>
            </p:txBody>
          </p:sp>
          <p:sp>
            <p:nvSpPr>
              <p:cNvPr id="61" name="Rectangle 60"/>
              <p:cNvSpPr/>
              <p:nvPr/>
            </p:nvSpPr>
            <p:spPr>
              <a:xfrm>
                <a:off x="3030322" y="4279392"/>
                <a:ext cx="65837" cy="559613"/>
              </a:xfrm>
              <a:prstGeom prst="rect">
                <a:avLst/>
              </a:prstGeom>
              <a:solidFill>
                <a:srgbClr val="E8E8E8"/>
              </a:solidFill>
              <a:ln>
                <a:noFill/>
              </a:ln>
            </p:spPr>
            <p:txBody>
              <a:bodyPr rtlCol="0" anchor="ctr"/>
              <a:lstStyle/>
              <a:p>
                <a:pPr algn="ctr"/>
                <a:endParaRPr/>
              </a:p>
            </p:txBody>
          </p:sp>
          <p:sp>
            <p:nvSpPr>
              <p:cNvPr id="62" name="Freeform 61"/>
              <p:cNvSpPr/>
              <p:nvPr/>
            </p:nvSpPr>
            <p:spPr>
              <a:xfrm>
                <a:off x="3063240" y="4295851"/>
                <a:ext cx="384048" cy="76810"/>
              </a:xfrm>
              <a:custGeom>
                <a:avLst/>
                <a:gdLst/>
                <a:ahLst/>
                <a:cxnLst/>
                <a:rect l="l" t="t" r="r" b="b"/>
                <a:pathLst>
                  <a:path w="384048" h="76810">
                    <a:moveTo>
                      <a:pt x="0" y="0"/>
                    </a:moveTo>
                    <a:lnTo>
                      <a:pt x="384048" y="0"/>
                    </a:lnTo>
                    <a:lnTo>
                      <a:pt x="384048" y="76810"/>
                    </a:lnTo>
                    <a:lnTo>
                      <a:pt x="0" y="76810"/>
                    </a:lnTo>
                    <a:close/>
                  </a:path>
                </a:pathLst>
              </a:custGeom>
              <a:solidFill>
                <a:srgbClr val="E5484D"/>
              </a:solidFill>
              <a:ln>
                <a:noFill/>
              </a:ln>
            </p:spPr>
            <p:txBody>
              <a:bodyPr rtlCol="0" anchor="ctr"/>
              <a:lstStyle/>
              <a:p>
                <a:pPr algn="ctr"/>
                <a:endParaRPr/>
              </a:p>
            </p:txBody>
          </p:sp>
          <p:sp>
            <p:nvSpPr>
              <p:cNvPr id="63" name="Freeform 62"/>
              <p:cNvSpPr/>
              <p:nvPr/>
            </p:nvSpPr>
            <p:spPr>
              <a:xfrm>
                <a:off x="3255264" y="4295851"/>
                <a:ext cx="60350" cy="76810"/>
              </a:xfrm>
              <a:custGeom>
                <a:avLst/>
                <a:gdLst/>
                <a:ahLst/>
                <a:cxnLst/>
                <a:rect l="l" t="t" r="r" b="b"/>
                <a:pathLst>
                  <a:path w="60350" h="76810">
                    <a:moveTo>
                      <a:pt x="0" y="0"/>
                    </a:moveTo>
                    <a:lnTo>
                      <a:pt x="60350" y="0"/>
                    </a:lnTo>
                    <a:lnTo>
                      <a:pt x="60350" y="76810"/>
                    </a:lnTo>
                    <a:lnTo>
                      <a:pt x="0" y="76810"/>
                    </a:lnTo>
                    <a:close/>
                  </a:path>
                </a:pathLst>
              </a:custGeom>
              <a:solidFill>
                <a:srgbClr val="FFFFFF"/>
              </a:solidFill>
              <a:ln>
                <a:noFill/>
              </a:ln>
            </p:spPr>
            <p:txBody>
              <a:bodyPr rtlCol="0" anchor="ctr"/>
              <a:lstStyle/>
              <a:p>
                <a:pPr algn="ctr"/>
                <a:endParaRPr/>
              </a:p>
            </p:txBody>
          </p:sp>
          <p:sp>
            <p:nvSpPr>
              <p:cNvPr id="64" name="Oval 63"/>
              <p:cNvSpPr/>
              <p:nvPr/>
            </p:nvSpPr>
            <p:spPr>
              <a:xfrm>
                <a:off x="3030322" y="4301338"/>
                <a:ext cx="65837" cy="65837"/>
              </a:xfrm>
              <a:prstGeom prst="ellipse">
                <a:avLst/>
              </a:prstGeom>
              <a:solidFill>
                <a:srgbClr val="1B1D21"/>
              </a:solidFill>
              <a:ln w="9525">
                <a:solidFill>
                  <a:srgbClr val="FFFFFF"/>
                </a:solidFill>
              </a:ln>
            </p:spPr>
            <p:txBody>
              <a:bodyPr rtlCol="0" anchor="ctr"/>
              <a:lstStyle/>
              <a:p>
                <a:pPr algn="ctr"/>
                <a:endParaRPr/>
              </a:p>
            </p:txBody>
          </p:sp>
        </p:grpSp>
        <p:grpSp>
          <p:nvGrpSpPr>
            <p:cNvPr id="65" name="Signal (stop, stop)" descr="A semaphore signal post with its arm flat (stop)."/>
            <p:cNvGrpSpPr/>
            <p:nvPr/>
          </p:nvGrpSpPr>
          <p:grpSpPr>
            <a:xfrm>
              <a:off x="4946904" y="4279392"/>
              <a:ext cx="466344" cy="603504"/>
              <a:chOff x="4946904" y="4279392"/>
              <a:chExt cx="466344" cy="603504"/>
            </a:xfrm>
          </p:grpSpPr>
          <p:sp>
            <p:nvSpPr>
              <p:cNvPr id="66" name="Rectangle 65"/>
              <p:cNvSpPr/>
              <p:nvPr/>
            </p:nvSpPr>
            <p:spPr>
              <a:xfrm>
                <a:off x="4946904" y="4839005"/>
                <a:ext cx="164592" cy="43891"/>
              </a:xfrm>
              <a:prstGeom prst="rect">
                <a:avLst/>
              </a:prstGeom>
              <a:solidFill>
                <a:srgbClr val="9AA0A6"/>
              </a:solidFill>
              <a:ln>
                <a:noFill/>
              </a:ln>
            </p:spPr>
            <p:txBody>
              <a:bodyPr rtlCol="0" anchor="ctr"/>
              <a:lstStyle/>
              <a:p>
                <a:pPr algn="ctr"/>
                <a:endParaRPr/>
              </a:p>
            </p:txBody>
          </p:sp>
          <p:sp>
            <p:nvSpPr>
              <p:cNvPr id="67" name="Rectangle 66"/>
              <p:cNvSpPr/>
              <p:nvPr/>
            </p:nvSpPr>
            <p:spPr>
              <a:xfrm>
                <a:off x="4996282" y="4279392"/>
                <a:ext cx="65837" cy="559613"/>
              </a:xfrm>
              <a:prstGeom prst="rect">
                <a:avLst/>
              </a:prstGeom>
              <a:solidFill>
                <a:srgbClr val="E8E8E8"/>
              </a:solidFill>
              <a:ln>
                <a:noFill/>
              </a:ln>
            </p:spPr>
            <p:txBody>
              <a:bodyPr rtlCol="0" anchor="ctr"/>
              <a:lstStyle/>
              <a:p>
                <a:pPr algn="ctr"/>
                <a:endParaRPr/>
              </a:p>
            </p:txBody>
          </p:sp>
          <p:sp>
            <p:nvSpPr>
              <p:cNvPr id="68" name="Freeform 67"/>
              <p:cNvSpPr/>
              <p:nvPr/>
            </p:nvSpPr>
            <p:spPr>
              <a:xfrm>
                <a:off x="5029200" y="4295851"/>
                <a:ext cx="384048" cy="76810"/>
              </a:xfrm>
              <a:custGeom>
                <a:avLst/>
                <a:gdLst/>
                <a:ahLst/>
                <a:cxnLst/>
                <a:rect l="l" t="t" r="r" b="b"/>
                <a:pathLst>
                  <a:path w="384048" h="76810">
                    <a:moveTo>
                      <a:pt x="0" y="0"/>
                    </a:moveTo>
                    <a:lnTo>
                      <a:pt x="384048" y="0"/>
                    </a:lnTo>
                    <a:lnTo>
                      <a:pt x="384048" y="76810"/>
                    </a:lnTo>
                    <a:lnTo>
                      <a:pt x="0" y="76810"/>
                    </a:lnTo>
                    <a:close/>
                  </a:path>
                </a:pathLst>
              </a:custGeom>
              <a:solidFill>
                <a:srgbClr val="E5484D"/>
              </a:solidFill>
              <a:ln>
                <a:noFill/>
              </a:ln>
            </p:spPr>
            <p:txBody>
              <a:bodyPr rtlCol="0" anchor="ctr"/>
              <a:lstStyle/>
              <a:p>
                <a:pPr algn="ctr"/>
                <a:endParaRPr/>
              </a:p>
            </p:txBody>
          </p:sp>
          <p:sp>
            <p:nvSpPr>
              <p:cNvPr id="69" name="Freeform 68"/>
              <p:cNvSpPr/>
              <p:nvPr/>
            </p:nvSpPr>
            <p:spPr>
              <a:xfrm>
                <a:off x="5221224" y="4295851"/>
                <a:ext cx="60350" cy="76810"/>
              </a:xfrm>
              <a:custGeom>
                <a:avLst/>
                <a:gdLst/>
                <a:ahLst/>
                <a:cxnLst/>
                <a:rect l="l" t="t" r="r" b="b"/>
                <a:pathLst>
                  <a:path w="60350" h="76810">
                    <a:moveTo>
                      <a:pt x="0" y="0"/>
                    </a:moveTo>
                    <a:lnTo>
                      <a:pt x="60350" y="0"/>
                    </a:lnTo>
                    <a:lnTo>
                      <a:pt x="60350" y="76810"/>
                    </a:lnTo>
                    <a:lnTo>
                      <a:pt x="0" y="76810"/>
                    </a:lnTo>
                    <a:close/>
                  </a:path>
                </a:pathLst>
              </a:custGeom>
              <a:solidFill>
                <a:srgbClr val="FFFFFF"/>
              </a:solidFill>
              <a:ln>
                <a:noFill/>
              </a:ln>
            </p:spPr>
            <p:txBody>
              <a:bodyPr rtlCol="0" anchor="ctr"/>
              <a:lstStyle/>
              <a:p>
                <a:pPr algn="ctr"/>
                <a:endParaRPr/>
              </a:p>
            </p:txBody>
          </p:sp>
          <p:sp>
            <p:nvSpPr>
              <p:cNvPr id="70" name="Oval 69"/>
              <p:cNvSpPr/>
              <p:nvPr/>
            </p:nvSpPr>
            <p:spPr>
              <a:xfrm>
                <a:off x="4996282" y="4301338"/>
                <a:ext cx="65837" cy="65837"/>
              </a:xfrm>
              <a:prstGeom prst="ellipse">
                <a:avLst/>
              </a:prstGeom>
              <a:solidFill>
                <a:srgbClr val="1B1D21"/>
              </a:solidFill>
              <a:ln w="9525">
                <a:solidFill>
                  <a:srgbClr val="FFFFFF"/>
                </a:solidFill>
              </a:ln>
            </p:spPr>
            <p:txBody>
              <a:bodyPr rtlCol="0" anchor="ctr"/>
              <a:lstStyle/>
              <a:p>
                <a:pPr algn="ctr"/>
                <a:endParaRPr/>
              </a:p>
            </p:txBody>
          </p:sp>
        </p:grpSp>
        <p:grpSp>
          <p:nvGrpSpPr>
            <p:cNvPr id="71" name="Signal (stop, stop)" descr="A semaphore signal post with its arm flat (stop)."/>
            <p:cNvGrpSpPr/>
            <p:nvPr/>
          </p:nvGrpSpPr>
          <p:grpSpPr>
            <a:xfrm>
              <a:off x="6912864" y="4279392"/>
              <a:ext cx="466344" cy="603504"/>
              <a:chOff x="6912864" y="4279392"/>
              <a:chExt cx="466344" cy="603504"/>
            </a:xfrm>
          </p:grpSpPr>
          <p:sp>
            <p:nvSpPr>
              <p:cNvPr id="72" name="Rectangle 71"/>
              <p:cNvSpPr/>
              <p:nvPr/>
            </p:nvSpPr>
            <p:spPr>
              <a:xfrm>
                <a:off x="6912864" y="4839005"/>
                <a:ext cx="164592" cy="43891"/>
              </a:xfrm>
              <a:prstGeom prst="rect">
                <a:avLst/>
              </a:prstGeom>
              <a:solidFill>
                <a:srgbClr val="9AA0A6"/>
              </a:solidFill>
              <a:ln>
                <a:noFill/>
              </a:ln>
            </p:spPr>
            <p:txBody>
              <a:bodyPr rtlCol="0" anchor="ctr"/>
              <a:lstStyle/>
              <a:p>
                <a:pPr algn="ctr"/>
                <a:endParaRPr/>
              </a:p>
            </p:txBody>
          </p:sp>
          <p:sp>
            <p:nvSpPr>
              <p:cNvPr id="73" name="Rectangle 72"/>
              <p:cNvSpPr/>
              <p:nvPr/>
            </p:nvSpPr>
            <p:spPr>
              <a:xfrm>
                <a:off x="6962242" y="4279392"/>
                <a:ext cx="65837" cy="559613"/>
              </a:xfrm>
              <a:prstGeom prst="rect">
                <a:avLst/>
              </a:prstGeom>
              <a:solidFill>
                <a:srgbClr val="E8E8E8"/>
              </a:solidFill>
              <a:ln>
                <a:noFill/>
              </a:ln>
            </p:spPr>
            <p:txBody>
              <a:bodyPr rtlCol="0" anchor="ctr"/>
              <a:lstStyle/>
              <a:p>
                <a:pPr algn="ctr"/>
                <a:endParaRPr/>
              </a:p>
            </p:txBody>
          </p:sp>
          <p:sp>
            <p:nvSpPr>
              <p:cNvPr id="74" name="Freeform 73"/>
              <p:cNvSpPr/>
              <p:nvPr/>
            </p:nvSpPr>
            <p:spPr>
              <a:xfrm>
                <a:off x="6995160" y="4295851"/>
                <a:ext cx="384048" cy="76810"/>
              </a:xfrm>
              <a:custGeom>
                <a:avLst/>
                <a:gdLst/>
                <a:ahLst/>
                <a:cxnLst/>
                <a:rect l="l" t="t" r="r" b="b"/>
                <a:pathLst>
                  <a:path w="384048" h="76810">
                    <a:moveTo>
                      <a:pt x="0" y="0"/>
                    </a:moveTo>
                    <a:lnTo>
                      <a:pt x="384048" y="0"/>
                    </a:lnTo>
                    <a:lnTo>
                      <a:pt x="384048" y="76810"/>
                    </a:lnTo>
                    <a:lnTo>
                      <a:pt x="0" y="76810"/>
                    </a:lnTo>
                    <a:close/>
                  </a:path>
                </a:pathLst>
              </a:custGeom>
              <a:solidFill>
                <a:srgbClr val="E5484D"/>
              </a:solidFill>
              <a:ln>
                <a:noFill/>
              </a:ln>
            </p:spPr>
            <p:txBody>
              <a:bodyPr rtlCol="0" anchor="ctr"/>
              <a:lstStyle/>
              <a:p>
                <a:pPr algn="ctr"/>
                <a:endParaRPr/>
              </a:p>
            </p:txBody>
          </p:sp>
          <p:sp>
            <p:nvSpPr>
              <p:cNvPr id="75" name="Freeform 74"/>
              <p:cNvSpPr/>
              <p:nvPr/>
            </p:nvSpPr>
            <p:spPr>
              <a:xfrm>
                <a:off x="7187184" y="4295851"/>
                <a:ext cx="60350" cy="76810"/>
              </a:xfrm>
              <a:custGeom>
                <a:avLst/>
                <a:gdLst/>
                <a:ahLst/>
                <a:cxnLst/>
                <a:rect l="l" t="t" r="r" b="b"/>
                <a:pathLst>
                  <a:path w="60350" h="76810">
                    <a:moveTo>
                      <a:pt x="0" y="0"/>
                    </a:moveTo>
                    <a:lnTo>
                      <a:pt x="60350" y="0"/>
                    </a:lnTo>
                    <a:lnTo>
                      <a:pt x="60350" y="76810"/>
                    </a:lnTo>
                    <a:lnTo>
                      <a:pt x="0" y="76810"/>
                    </a:lnTo>
                    <a:close/>
                  </a:path>
                </a:pathLst>
              </a:custGeom>
              <a:solidFill>
                <a:srgbClr val="FFFFFF"/>
              </a:solidFill>
              <a:ln>
                <a:noFill/>
              </a:ln>
            </p:spPr>
            <p:txBody>
              <a:bodyPr rtlCol="0" anchor="ctr"/>
              <a:lstStyle/>
              <a:p>
                <a:pPr algn="ctr"/>
                <a:endParaRPr/>
              </a:p>
            </p:txBody>
          </p:sp>
          <p:sp>
            <p:nvSpPr>
              <p:cNvPr id="76" name="Oval 75"/>
              <p:cNvSpPr/>
              <p:nvPr/>
            </p:nvSpPr>
            <p:spPr>
              <a:xfrm>
                <a:off x="6962242" y="4301338"/>
                <a:ext cx="65837" cy="65837"/>
              </a:xfrm>
              <a:prstGeom prst="ellipse">
                <a:avLst/>
              </a:prstGeom>
              <a:solidFill>
                <a:srgbClr val="1B1D21"/>
              </a:solidFill>
              <a:ln w="9525">
                <a:solidFill>
                  <a:srgbClr val="FFFFFF"/>
                </a:solidFill>
              </a:ln>
            </p:spPr>
            <p:txBody>
              <a:bodyPr rtlCol="0" anchor="ctr"/>
              <a:lstStyle/>
              <a:p>
                <a:pPr algn="ctr"/>
                <a:endParaRPr/>
              </a:p>
            </p:txBody>
          </p:sp>
        </p:grpSp>
        <p:grpSp>
          <p:nvGrpSpPr>
            <p:cNvPr id="77" name="Signal (stop, stop)" descr="A semaphore signal post with its arm flat (stop)."/>
            <p:cNvGrpSpPr/>
            <p:nvPr/>
          </p:nvGrpSpPr>
          <p:grpSpPr>
            <a:xfrm>
              <a:off x="8878824" y="4279392"/>
              <a:ext cx="466344" cy="603504"/>
              <a:chOff x="8878824" y="4279392"/>
              <a:chExt cx="466344" cy="603504"/>
            </a:xfrm>
          </p:grpSpPr>
          <p:sp>
            <p:nvSpPr>
              <p:cNvPr id="78" name="Rectangle 77"/>
              <p:cNvSpPr/>
              <p:nvPr/>
            </p:nvSpPr>
            <p:spPr>
              <a:xfrm>
                <a:off x="8878824" y="4839005"/>
                <a:ext cx="164592" cy="43891"/>
              </a:xfrm>
              <a:prstGeom prst="rect">
                <a:avLst/>
              </a:prstGeom>
              <a:solidFill>
                <a:srgbClr val="9AA0A6"/>
              </a:solidFill>
              <a:ln>
                <a:noFill/>
              </a:ln>
            </p:spPr>
            <p:txBody>
              <a:bodyPr rtlCol="0" anchor="ctr"/>
              <a:lstStyle/>
              <a:p>
                <a:pPr algn="ctr"/>
                <a:endParaRPr/>
              </a:p>
            </p:txBody>
          </p:sp>
          <p:sp>
            <p:nvSpPr>
              <p:cNvPr id="79" name="Rectangle 78"/>
              <p:cNvSpPr/>
              <p:nvPr/>
            </p:nvSpPr>
            <p:spPr>
              <a:xfrm>
                <a:off x="8928202" y="4279392"/>
                <a:ext cx="65837" cy="559613"/>
              </a:xfrm>
              <a:prstGeom prst="rect">
                <a:avLst/>
              </a:prstGeom>
              <a:solidFill>
                <a:srgbClr val="E8E8E8"/>
              </a:solidFill>
              <a:ln>
                <a:noFill/>
              </a:ln>
            </p:spPr>
            <p:txBody>
              <a:bodyPr rtlCol="0" anchor="ctr"/>
              <a:lstStyle/>
              <a:p>
                <a:pPr algn="ctr"/>
                <a:endParaRPr/>
              </a:p>
            </p:txBody>
          </p:sp>
          <p:sp>
            <p:nvSpPr>
              <p:cNvPr id="80" name="Freeform 79"/>
              <p:cNvSpPr/>
              <p:nvPr/>
            </p:nvSpPr>
            <p:spPr>
              <a:xfrm>
                <a:off x="8961120" y="4295851"/>
                <a:ext cx="384048" cy="76810"/>
              </a:xfrm>
              <a:custGeom>
                <a:avLst/>
                <a:gdLst/>
                <a:ahLst/>
                <a:cxnLst/>
                <a:rect l="l" t="t" r="r" b="b"/>
                <a:pathLst>
                  <a:path w="384048" h="76810">
                    <a:moveTo>
                      <a:pt x="0" y="0"/>
                    </a:moveTo>
                    <a:lnTo>
                      <a:pt x="384048" y="0"/>
                    </a:lnTo>
                    <a:lnTo>
                      <a:pt x="384048" y="76810"/>
                    </a:lnTo>
                    <a:lnTo>
                      <a:pt x="0" y="76810"/>
                    </a:lnTo>
                    <a:close/>
                  </a:path>
                </a:pathLst>
              </a:custGeom>
              <a:solidFill>
                <a:srgbClr val="E5484D"/>
              </a:solidFill>
              <a:ln>
                <a:noFill/>
              </a:ln>
            </p:spPr>
            <p:txBody>
              <a:bodyPr rtlCol="0" anchor="ctr"/>
              <a:lstStyle/>
              <a:p>
                <a:pPr algn="ctr"/>
                <a:endParaRPr/>
              </a:p>
            </p:txBody>
          </p:sp>
          <p:sp>
            <p:nvSpPr>
              <p:cNvPr id="81" name="Freeform 80"/>
              <p:cNvSpPr/>
              <p:nvPr/>
            </p:nvSpPr>
            <p:spPr>
              <a:xfrm>
                <a:off x="9153144" y="4295851"/>
                <a:ext cx="60350" cy="76810"/>
              </a:xfrm>
              <a:custGeom>
                <a:avLst/>
                <a:gdLst/>
                <a:ahLst/>
                <a:cxnLst/>
                <a:rect l="l" t="t" r="r" b="b"/>
                <a:pathLst>
                  <a:path w="60350" h="76810">
                    <a:moveTo>
                      <a:pt x="0" y="0"/>
                    </a:moveTo>
                    <a:lnTo>
                      <a:pt x="60350" y="0"/>
                    </a:lnTo>
                    <a:lnTo>
                      <a:pt x="60350" y="76810"/>
                    </a:lnTo>
                    <a:lnTo>
                      <a:pt x="0" y="76810"/>
                    </a:lnTo>
                    <a:close/>
                  </a:path>
                </a:pathLst>
              </a:custGeom>
              <a:solidFill>
                <a:srgbClr val="FFFFFF"/>
              </a:solidFill>
              <a:ln>
                <a:noFill/>
              </a:ln>
            </p:spPr>
            <p:txBody>
              <a:bodyPr rtlCol="0" anchor="ctr"/>
              <a:lstStyle/>
              <a:p>
                <a:pPr algn="ctr"/>
                <a:endParaRPr/>
              </a:p>
            </p:txBody>
          </p:sp>
          <p:sp>
            <p:nvSpPr>
              <p:cNvPr id="82" name="Oval 81"/>
              <p:cNvSpPr/>
              <p:nvPr/>
            </p:nvSpPr>
            <p:spPr>
              <a:xfrm>
                <a:off x="8928202" y="4301338"/>
                <a:ext cx="65837" cy="65837"/>
              </a:xfrm>
              <a:prstGeom prst="ellipse">
                <a:avLst/>
              </a:prstGeom>
              <a:solidFill>
                <a:srgbClr val="1B1D21"/>
              </a:solidFill>
              <a:ln w="9525">
                <a:solidFill>
                  <a:srgbClr val="FFFFFF"/>
                </a:solidFill>
              </a:ln>
            </p:spPr>
            <p:txBody>
              <a:bodyPr rtlCol="0" anchor="ctr"/>
              <a:lstStyle/>
              <a:p>
                <a:pPr algn="ctr"/>
                <a:endParaRPr/>
              </a:p>
            </p:txBody>
          </p:sp>
        </p:grpSp>
        <p:grpSp>
          <p:nvGrpSpPr>
            <p:cNvPr id="83" name="Signal (stop, stop)" descr="A semaphore signal post with its arm flat (stop)."/>
            <p:cNvGrpSpPr/>
            <p:nvPr/>
          </p:nvGrpSpPr>
          <p:grpSpPr>
            <a:xfrm>
              <a:off x="10844784" y="4279392"/>
              <a:ext cx="466344" cy="603504"/>
              <a:chOff x="10844784" y="4279392"/>
              <a:chExt cx="466344" cy="603504"/>
            </a:xfrm>
          </p:grpSpPr>
          <p:sp>
            <p:nvSpPr>
              <p:cNvPr id="84" name="Rectangle 83"/>
              <p:cNvSpPr/>
              <p:nvPr/>
            </p:nvSpPr>
            <p:spPr>
              <a:xfrm>
                <a:off x="10844784" y="4839005"/>
                <a:ext cx="164592" cy="43891"/>
              </a:xfrm>
              <a:prstGeom prst="rect">
                <a:avLst/>
              </a:prstGeom>
              <a:solidFill>
                <a:srgbClr val="9AA0A6"/>
              </a:solidFill>
              <a:ln>
                <a:noFill/>
              </a:ln>
            </p:spPr>
            <p:txBody>
              <a:bodyPr rtlCol="0" anchor="ctr"/>
              <a:lstStyle/>
              <a:p>
                <a:pPr algn="ctr"/>
                <a:endParaRPr/>
              </a:p>
            </p:txBody>
          </p:sp>
          <p:sp>
            <p:nvSpPr>
              <p:cNvPr id="85" name="Rectangle 84"/>
              <p:cNvSpPr/>
              <p:nvPr/>
            </p:nvSpPr>
            <p:spPr>
              <a:xfrm>
                <a:off x="10894162" y="4279392"/>
                <a:ext cx="65837" cy="559613"/>
              </a:xfrm>
              <a:prstGeom prst="rect">
                <a:avLst/>
              </a:prstGeom>
              <a:solidFill>
                <a:srgbClr val="E8E8E8"/>
              </a:solidFill>
              <a:ln>
                <a:noFill/>
              </a:ln>
            </p:spPr>
            <p:txBody>
              <a:bodyPr rtlCol="0" anchor="ctr"/>
              <a:lstStyle/>
              <a:p>
                <a:pPr algn="ctr"/>
                <a:endParaRPr/>
              </a:p>
            </p:txBody>
          </p:sp>
          <p:sp>
            <p:nvSpPr>
              <p:cNvPr id="86" name="Freeform 85"/>
              <p:cNvSpPr/>
              <p:nvPr/>
            </p:nvSpPr>
            <p:spPr>
              <a:xfrm>
                <a:off x="10927080" y="4295851"/>
                <a:ext cx="384048" cy="76810"/>
              </a:xfrm>
              <a:custGeom>
                <a:avLst/>
                <a:gdLst/>
                <a:ahLst/>
                <a:cxnLst/>
                <a:rect l="l" t="t" r="r" b="b"/>
                <a:pathLst>
                  <a:path w="384048" h="76810">
                    <a:moveTo>
                      <a:pt x="0" y="0"/>
                    </a:moveTo>
                    <a:lnTo>
                      <a:pt x="384048" y="0"/>
                    </a:lnTo>
                    <a:lnTo>
                      <a:pt x="384048" y="76810"/>
                    </a:lnTo>
                    <a:lnTo>
                      <a:pt x="0" y="76810"/>
                    </a:lnTo>
                    <a:close/>
                  </a:path>
                </a:pathLst>
              </a:custGeom>
              <a:solidFill>
                <a:srgbClr val="E5484D"/>
              </a:solidFill>
              <a:ln>
                <a:noFill/>
              </a:ln>
            </p:spPr>
            <p:txBody>
              <a:bodyPr rtlCol="0" anchor="ctr"/>
              <a:lstStyle/>
              <a:p>
                <a:pPr algn="ctr"/>
                <a:endParaRPr/>
              </a:p>
            </p:txBody>
          </p:sp>
          <p:sp>
            <p:nvSpPr>
              <p:cNvPr id="87" name="Freeform 86"/>
              <p:cNvSpPr/>
              <p:nvPr/>
            </p:nvSpPr>
            <p:spPr>
              <a:xfrm>
                <a:off x="11119104" y="4295851"/>
                <a:ext cx="60350" cy="76810"/>
              </a:xfrm>
              <a:custGeom>
                <a:avLst/>
                <a:gdLst/>
                <a:ahLst/>
                <a:cxnLst/>
                <a:rect l="l" t="t" r="r" b="b"/>
                <a:pathLst>
                  <a:path w="60350" h="76810">
                    <a:moveTo>
                      <a:pt x="0" y="0"/>
                    </a:moveTo>
                    <a:lnTo>
                      <a:pt x="60350" y="0"/>
                    </a:lnTo>
                    <a:lnTo>
                      <a:pt x="60350" y="76810"/>
                    </a:lnTo>
                    <a:lnTo>
                      <a:pt x="0" y="76810"/>
                    </a:lnTo>
                    <a:close/>
                  </a:path>
                </a:pathLst>
              </a:custGeom>
              <a:solidFill>
                <a:srgbClr val="FFFFFF"/>
              </a:solidFill>
              <a:ln>
                <a:noFill/>
              </a:ln>
            </p:spPr>
            <p:txBody>
              <a:bodyPr rtlCol="0" anchor="ctr"/>
              <a:lstStyle/>
              <a:p>
                <a:pPr algn="ctr"/>
                <a:endParaRPr/>
              </a:p>
            </p:txBody>
          </p:sp>
          <p:sp>
            <p:nvSpPr>
              <p:cNvPr id="88" name="Oval 87"/>
              <p:cNvSpPr/>
              <p:nvPr/>
            </p:nvSpPr>
            <p:spPr>
              <a:xfrm>
                <a:off x="10894162" y="4301338"/>
                <a:ext cx="65837" cy="65837"/>
              </a:xfrm>
              <a:prstGeom prst="ellipse">
                <a:avLst/>
              </a:prstGeom>
              <a:solidFill>
                <a:srgbClr val="1B1D21"/>
              </a:solidFill>
              <a:ln w="9525">
                <a:solidFill>
                  <a:srgbClr val="FFFFFF"/>
                </a:solidFill>
              </a:ln>
            </p:spPr>
            <p:txBody>
              <a:bodyPr rtlCol="0" anchor="ctr"/>
              <a:lstStyle/>
              <a:p>
                <a:pPr algn="ctr"/>
                <a:endParaRPr/>
              </a:p>
            </p:txBody>
          </p:sp>
        </p:grpSp>
        <p:grpSp>
          <p:nvGrpSpPr>
            <p:cNvPr id="89" name="Dimension line" descr="A dimension line labelled 450 m."/>
            <p:cNvGrpSpPr/>
            <p:nvPr/>
          </p:nvGrpSpPr>
          <p:grpSpPr>
            <a:xfrm>
              <a:off x="3063240" y="3456432"/>
              <a:ext cx="1965960" cy="493776"/>
              <a:chOff x="3063240" y="3456432"/>
              <a:chExt cx="1965960" cy="493776"/>
            </a:xfrm>
          </p:grpSpPr>
          <p:cxnSp>
            <p:nvCxnSpPr>
              <p:cNvPr id="90" name="Connector 89"/>
              <p:cNvCxnSpPr/>
              <p:nvPr/>
            </p:nvCxnSpPr>
            <p:spPr>
              <a:xfrm>
                <a:off x="3063240" y="3840480"/>
                <a:ext cx="1965960" cy="0"/>
              </a:xfrm>
              <a:prstGeom prst="line">
                <a:avLst/>
              </a:prstGeom>
              <a:ln w="19050">
                <a:solidFill>
                  <a:srgbClr val="9AA0A6"/>
                </a:solidFill>
                <a:headEnd type="triangle" w="med" len="med"/>
                <a:tailEnd type="triangle" w="med" len="med"/>
              </a:ln>
            </p:spPr>
          </p:cxnSp>
          <p:cxnSp>
            <p:nvCxnSpPr>
              <p:cNvPr id="91" name="Connector 90"/>
              <p:cNvCxnSpPr/>
              <p:nvPr/>
            </p:nvCxnSpPr>
            <p:spPr>
              <a:xfrm>
                <a:off x="3063240" y="3730752"/>
                <a:ext cx="0" cy="219456"/>
              </a:xfrm>
              <a:prstGeom prst="line">
                <a:avLst/>
              </a:prstGeom>
              <a:ln w="19050">
                <a:solidFill>
                  <a:srgbClr val="9AA0A6"/>
                </a:solidFill>
              </a:ln>
            </p:spPr>
          </p:cxnSp>
          <p:cxnSp>
            <p:nvCxnSpPr>
              <p:cNvPr id="92" name="Connector 91"/>
              <p:cNvCxnSpPr/>
              <p:nvPr/>
            </p:nvCxnSpPr>
            <p:spPr>
              <a:xfrm>
                <a:off x="5029200" y="3730752"/>
                <a:ext cx="0" cy="219456"/>
              </a:xfrm>
              <a:prstGeom prst="line">
                <a:avLst/>
              </a:prstGeom>
              <a:ln w="19050">
                <a:solidFill>
                  <a:srgbClr val="9AA0A6"/>
                </a:solidFill>
              </a:ln>
            </p:spPr>
          </p:cxnSp>
          <p:sp>
            <p:nvSpPr>
              <p:cNvPr id="93" name="TextBox 92"/>
              <p:cNvSpPr txBox="1"/>
              <p:nvPr/>
            </p:nvSpPr>
            <p:spPr>
              <a:xfrm>
                <a:off x="3063240" y="3456432"/>
                <a:ext cx="1965960" cy="292608"/>
              </a:xfrm>
              <a:prstGeom prst="rect">
                <a:avLst/>
              </a:prstGeom>
              <a:noFill/>
            </p:spPr>
            <p:txBody>
              <a:bodyPr wrap="square" lIns="18288" tIns="18288" rIns="18288" bIns="18288" anchor="ctr">
                <a:noAutofit/>
              </a:bodyPr>
              <a:lstStyle/>
              <a:p>
                <a:pPr algn="ctr"/>
                <a:r>
                  <a:rPr lang="en-GB" sz="1600" b="1" i="0">
                    <a:solidFill>
                      <a:srgbClr val="F2F2F2"/>
                    </a:solidFill>
                    <a:latin typeface="Arial"/>
                  </a:rPr>
                  <a:t>450 m</a:t>
                </a:r>
              </a:p>
            </p:txBody>
          </p:sp>
        </p:grpSp>
        <p:sp>
          <p:nvSpPr>
            <p:cNvPr id="94" name="TextBox 93"/>
            <p:cNvSpPr txBox="1"/>
            <p:nvPr/>
          </p:nvSpPr>
          <p:spPr>
            <a:xfrm>
              <a:off x="548640" y="5212080"/>
              <a:ext cx="6400800" cy="365760"/>
            </a:xfrm>
            <a:prstGeom prst="rect">
              <a:avLst/>
            </a:prstGeom>
            <a:noFill/>
          </p:spPr>
          <p:txBody>
            <a:bodyPr wrap="square" lIns="18288" tIns="18288" rIns="18288" bIns="18288" anchor="ctr">
              <a:noAutofit/>
            </a:bodyPr>
            <a:lstStyle/>
            <a:p>
              <a:pPr algn="l"/>
              <a:r>
                <a:rPr lang="en-GB" sz="1600" b="1" i="0">
                  <a:solidFill>
                    <a:srgbClr val="A9B0B8"/>
                  </a:solidFill>
                  <a:latin typeface="Arial"/>
                </a:rPr>
                <a:t>Final values: undecided (OQ03).</a:t>
              </a:r>
            </a:p>
          </p:txBody>
        </p:sp>
      </p:grpSp>
      <p:sp>
        <p:nvSpPr>
          <p:cNvPr id="95"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Early signals have limits: short blocks, a speed cap and a limited number per box. Numbers are provisional.</a:t>
            </a:r>
          </a:p>
        </p:txBody>
      </p:sp>
      <p:sp>
        <p:nvSpPr>
          <p:cNvPr id="96"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97"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18</a:t>
            </a:r>
          </a:p>
        </p:txBody>
      </p:sp>
    </p:spTree>
    <p:extLst>
      <p:ext uri="{BB962C8B-B14F-4D97-AF65-F5344CB8AC3E}">
        <p14:creationId xmlns:p14="http://schemas.microsoft.com/office/powerpoint/2010/main" val="34546428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95"/>
                                        </p:tgtEl>
                                        <p:attrNameLst>
                                          <p:attrName>style.visibility</p:attrName>
                                        </p:attrNameLst>
                                      </p:cBhvr>
                                      <p:to>
                                        <p:strVal val="visible"/>
                                      </p:to>
                                    </p:set>
                                    <p:animEffect transition="in" filter="fade">
                                      <p:cBhvr>
                                        <p:cTn id="10" dur="500"/>
                                        <p:tgtEl>
                                          <p:spTgt spid="95"/>
                                        </p:tgtEl>
                                      </p:cBhvr>
                                    </p:animEffect>
                                  </p:childTnLst>
                                </p:cTn>
                              </p:par>
                              <p:par>
                                <p:cTn id="11" presetID="10" presetClass="entr" presetSubtype="0" fill="hold" nodeType="withEffect">
                                  <p:stCondLst>
                                    <p:cond delay="600"/>
                                  </p:stCondLst>
                                  <p:childTnLst>
                                    <p:set>
                                      <p:cBhvr>
                                        <p:cTn id="12" dur="1" fill="hold">
                                          <p:stCondLst>
                                            <p:cond delay="0"/>
                                          </p:stCondLst>
                                        </p:cTn>
                                        <p:tgtEl>
                                          <p:spTgt spid="96"/>
                                        </p:tgtEl>
                                        <p:attrNameLst>
                                          <p:attrName>style.visibility</p:attrName>
                                        </p:attrNameLst>
                                      </p:cBhvr>
                                      <p:to>
                                        <p:strVal val="visible"/>
                                      </p:to>
                                    </p:set>
                                    <p:animEffect transition="in" filter="fade">
                                      <p:cBhvr>
                                        <p:cTn id="13"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No wiring for you</a:t>
            </a:r>
          </a:p>
        </p:txBody>
      </p:sp>
      <p:sp>
        <p:nvSpPr>
          <p:cNvPr id="3" name="Chip: Agreed" descr="Status tag: Agreed"/>
          <p:cNvSpPr/>
          <p:nvPr/>
        </p:nvSpPr>
        <p:spPr>
          <a:xfrm>
            <a:off x="10104120" y="457200"/>
            <a:ext cx="1508760" cy="365760"/>
          </a:xfrm>
          <a:prstGeom prst="roundRect">
            <a:avLst>
              <a:gd name="adj" fmla="val 20000"/>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grpSp>
        <p:nvGrpSpPr>
          <p:cNvPr id="4" name="Signals join a box automatically" descr="Left: a track with one new signal and a dotted line to a signal box. Right: three numbered steps. Place a signal on connected track; a box with room takes control; rods and wires draw themselves."/>
          <p:cNvGrpSpPr/>
          <p:nvPr/>
        </p:nvGrpSpPr>
        <p:grpSpPr>
          <a:xfrm>
            <a:off x="731520" y="1463040"/>
            <a:ext cx="10908792" cy="3794760"/>
            <a:chOff x="731520" y="1463040"/>
            <a:chExt cx="10908792" cy="3794760"/>
          </a:xfrm>
        </p:grpSpPr>
        <p:grpSp>
          <p:nvGrpSpPr>
            <p:cNvPr id="5" name="Track" descr="Two rails on sleepers."/>
            <p:cNvGrpSpPr/>
            <p:nvPr/>
          </p:nvGrpSpPr>
          <p:grpSpPr>
            <a:xfrm>
              <a:off x="731520" y="3877056"/>
              <a:ext cx="5212080" cy="365760"/>
              <a:chOff x="731520" y="3877056"/>
              <a:chExt cx="5212080" cy="365760"/>
            </a:xfrm>
          </p:grpSpPr>
          <p:sp>
            <p:nvSpPr>
              <p:cNvPr id="6" name="Rectangle 5"/>
              <p:cNvSpPr/>
              <p:nvPr/>
            </p:nvSpPr>
            <p:spPr>
              <a:xfrm>
                <a:off x="909828" y="3877056"/>
                <a:ext cx="54864" cy="365760"/>
              </a:xfrm>
              <a:prstGeom prst="rect">
                <a:avLst/>
              </a:prstGeom>
              <a:solidFill>
                <a:srgbClr val="6B5B4B"/>
              </a:solidFill>
              <a:ln>
                <a:noFill/>
              </a:ln>
            </p:spPr>
            <p:txBody>
              <a:bodyPr rtlCol="0" anchor="ctr"/>
              <a:lstStyle/>
              <a:p>
                <a:pPr algn="ctr"/>
                <a:endParaRPr/>
              </a:p>
            </p:txBody>
          </p:sp>
          <p:sp>
            <p:nvSpPr>
              <p:cNvPr id="7" name="Rectangle 6"/>
              <p:cNvSpPr/>
              <p:nvPr/>
            </p:nvSpPr>
            <p:spPr>
              <a:xfrm>
                <a:off x="1229868" y="3877056"/>
                <a:ext cx="54864" cy="365760"/>
              </a:xfrm>
              <a:prstGeom prst="rect">
                <a:avLst/>
              </a:prstGeom>
              <a:solidFill>
                <a:srgbClr val="6B5B4B"/>
              </a:solidFill>
              <a:ln>
                <a:noFill/>
              </a:ln>
            </p:spPr>
            <p:txBody>
              <a:bodyPr rtlCol="0" anchor="ctr"/>
              <a:lstStyle/>
              <a:p>
                <a:pPr algn="ctr"/>
                <a:endParaRPr/>
              </a:p>
            </p:txBody>
          </p:sp>
          <p:sp>
            <p:nvSpPr>
              <p:cNvPr id="8" name="Rectangle 7"/>
              <p:cNvSpPr/>
              <p:nvPr/>
            </p:nvSpPr>
            <p:spPr>
              <a:xfrm>
                <a:off x="1549908" y="3877056"/>
                <a:ext cx="54864" cy="365760"/>
              </a:xfrm>
              <a:prstGeom prst="rect">
                <a:avLst/>
              </a:prstGeom>
              <a:solidFill>
                <a:srgbClr val="6B5B4B"/>
              </a:solidFill>
              <a:ln>
                <a:noFill/>
              </a:ln>
            </p:spPr>
            <p:txBody>
              <a:bodyPr rtlCol="0" anchor="ctr"/>
              <a:lstStyle/>
              <a:p>
                <a:pPr algn="ctr"/>
                <a:endParaRPr/>
              </a:p>
            </p:txBody>
          </p:sp>
          <p:sp>
            <p:nvSpPr>
              <p:cNvPr id="9" name="Rectangle 8"/>
              <p:cNvSpPr/>
              <p:nvPr/>
            </p:nvSpPr>
            <p:spPr>
              <a:xfrm>
                <a:off x="1869948" y="3877056"/>
                <a:ext cx="54864" cy="365760"/>
              </a:xfrm>
              <a:prstGeom prst="rect">
                <a:avLst/>
              </a:prstGeom>
              <a:solidFill>
                <a:srgbClr val="6B5B4B"/>
              </a:solidFill>
              <a:ln>
                <a:noFill/>
              </a:ln>
            </p:spPr>
            <p:txBody>
              <a:bodyPr rtlCol="0" anchor="ctr"/>
              <a:lstStyle/>
              <a:p>
                <a:pPr algn="ctr"/>
                <a:endParaRPr/>
              </a:p>
            </p:txBody>
          </p:sp>
          <p:sp>
            <p:nvSpPr>
              <p:cNvPr id="10" name="Rectangle 9"/>
              <p:cNvSpPr/>
              <p:nvPr/>
            </p:nvSpPr>
            <p:spPr>
              <a:xfrm>
                <a:off x="2189988" y="3877056"/>
                <a:ext cx="54864" cy="365760"/>
              </a:xfrm>
              <a:prstGeom prst="rect">
                <a:avLst/>
              </a:prstGeom>
              <a:solidFill>
                <a:srgbClr val="6B5B4B"/>
              </a:solidFill>
              <a:ln>
                <a:noFill/>
              </a:ln>
            </p:spPr>
            <p:txBody>
              <a:bodyPr rtlCol="0" anchor="ctr"/>
              <a:lstStyle/>
              <a:p>
                <a:pPr algn="ctr"/>
                <a:endParaRPr/>
              </a:p>
            </p:txBody>
          </p:sp>
          <p:sp>
            <p:nvSpPr>
              <p:cNvPr id="11" name="Rectangle 10"/>
              <p:cNvSpPr/>
              <p:nvPr/>
            </p:nvSpPr>
            <p:spPr>
              <a:xfrm>
                <a:off x="2510028" y="3877056"/>
                <a:ext cx="54864" cy="365760"/>
              </a:xfrm>
              <a:prstGeom prst="rect">
                <a:avLst/>
              </a:prstGeom>
              <a:solidFill>
                <a:srgbClr val="6B5B4B"/>
              </a:solidFill>
              <a:ln>
                <a:noFill/>
              </a:ln>
            </p:spPr>
            <p:txBody>
              <a:bodyPr rtlCol="0" anchor="ctr"/>
              <a:lstStyle/>
              <a:p>
                <a:pPr algn="ctr"/>
                <a:endParaRPr/>
              </a:p>
            </p:txBody>
          </p:sp>
          <p:sp>
            <p:nvSpPr>
              <p:cNvPr id="12" name="Rectangle 11"/>
              <p:cNvSpPr/>
              <p:nvPr/>
            </p:nvSpPr>
            <p:spPr>
              <a:xfrm>
                <a:off x="2830068" y="3877056"/>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3150108" y="3877056"/>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3470148" y="3877056"/>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3790188" y="3877056"/>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4110228" y="3877056"/>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4430268" y="3877056"/>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4750308" y="387705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5070348" y="387705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5390388" y="387705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5710428" y="387705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731520" y="3931920"/>
                <a:ext cx="5212080" cy="54864"/>
              </a:xfrm>
              <a:prstGeom prst="rect">
                <a:avLst/>
              </a:prstGeom>
              <a:solidFill>
                <a:srgbClr val="9AA0A6"/>
              </a:solidFill>
              <a:ln>
                <a:noFill/>
              </a:ln>
            </p:spPr>
            <p:txBody>
              <a:bodyPr rtlCol="0" anchor="ctr"/>
              <a:lstStyle/>
              <a:p>
                <a:pPr algn="ctr"/>
                <a:endParaRPr/>
              </a:p>
            </p:txBody>
          </p:sp>
          <p:sp>
            <p:nvSpPr>
              <p:cNvPr id="23" name="Rectangle 22"/>
              <p:cNvSpPr/>
              <p:nvPr/>
            </p:nvSpPr>
            <p:spPr>
              <a:xfrm>
                <a:off x="731520" y="4187952"/>
                <a:ext cx="5212080" cy="54864"/>
              </a:xfrm>
              <a:prstGeom prst="rect">
                <a:avLst/>
              </a:prstGeom>
              <a:solidFill>
                <a:srgbClr val="9AA0A6"/>
              </a:solidFill>
              <a:ln>
                <a:noFill/>
              </a:ln>
            </p:spPr>
            <p:txBody>
              <a:bodyPr rtlCol="0" anchor="ctr"/>
              <a:lstStyle/>
              <a:p>
                <a:pPr algn="ctr"/>
                <a:endParaRPr/>
              </a:p>
            </p:txBody>
          </p:sp>
        </p:grpSp>
        <p:grpSp>
          <p:nvGrpSpPr>
            <p:cNvPr id="24" name="Signal box" descr="A small signal box building."/>
            <p:cNvGrpSpPr/>
            <p:nvPr/>
          </p:nvGrpSpPr>
          <p:grpSpPr>
            <a:xfrm>
              <a:off x="841248" y="1600200"/>
              <a:ext cx="1975104" cy="1737360"/>
              <a:chOff x="841248" y="1600200"/>
              <a:chExt cx="1975104" cy="1737360"/>
            </a:xfrm>
          </p:grpSpPr>
          <p:sp>
            <p:nvSpPr>
              <p:cNvPr id="25" name="Rectangle 24"/>
              <p:cNvSpPr/>
              <p:nvPr/>
            </p:nvSpPr>
            <p:spPr>
              <a:xfrm>
                <a:off x="914400" y="1982419"/>
                <a:ext cx="1828800" cy="1355141"/>
              </a:xfrm>
              <a:prstGeom prst="rect">
                <a:avLst/>
              </a:prstGeom>
              <a:solidFill>
                <a:srgbClr val="343A43"/>
              </a:solidFill>
              <a:ln w="19050">
                <a:solidFill>
                  <a:srgbClr val="F28C28"/>
                </a:solidFill>
              </a:ln>
            </p:spPr>
            <p:txBody>
              <a:bodyPr rtlCol="0" anchor="ctr"/>
              <a:lstStyle/>
              <a:p>
                <a:pPr algn="ctr"/>
                <a:endParaRPr/>
              </a:p>
            </p:txBody>
          </p:sp>
          <p:sp>
            <p:nvSpPr>
              <p:cNvPr id="26" name="Freeform 25"/>
              <p:cNvSpPr/>
              <p:nvPr/>
            </p:nvSpPr>
            <p:spPr>
              <a:xfrm>
                <a:off x="841248" y="1600200"/>
                <a:ext cx="1975104" cy="416966"/>
              </a:xfrm>
              <a:custGeom>
                <a:avLst/>
                <a:gdLst/>
                <a:ahLst/>
                <a:cxnLst/>
                <a:rect l="l" t="t" r="r" b="b"/>
                <a:pathLst>
                  <a:path w="1975104" h="416966">
                    <a:moveTo>
                      <a:pt x="0" y="416966"/>
                    </a:moveTo>
                    <a:lnTo>
                      <a:pt x="987552" y="0"/>
                    </a:lnTo>
                    <a:lnTo>
                      <a:pt x="1975104" y="416966"/>
                    </a:lnTo>
                    <a:close/>
                  </a:path>
                </a:pathLst>
              </a:custGeom>
              <a:solidFill>
                <a:srgbClr val="4A515B"/>
              </a:solidFill>
              <a:ln w="19050">
                <a:solidFill>
                  <a:srgbClr val="F28C28"/>
                </a:solidFill>
              </a:ln>
            </p:spPr>
            <p:txBody>
              <a:bodyPr rtlCol="0" anchor="ctr"/>
              <a:lstStyle/>
              <a:p>
                <a:pPr algn="ctr"/>
                <a:endParaRPr/>
              </a:p>
            </p:txBody>
          </p:sp>
          <p:sp>
            <p:nvSpPr>
              <p:cNvPr id="27" name="Rectangle 26"/>
              <p:cNvSpPr/>
              <p:nvPr/>
            </p:nvSpPr>
            <p:spPr>
              <a:xfrm>
                <a:off x="1097280" y="2225650"/>
                <a:ext cx="1463040" cy="382219"/>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28" name="Connector 27"/>
              <p:cNvCxnSpPr/>
              <p:nvPr/>
            </p:nvCxnSpPr>
            <p:spPr>
              <a:xfrm>
                <a:off x="1463040" y="2225650"/>
                <a:ext cx="0" cy="382219"/>
              </a:xfrm>
              <a:prstGeom prst="line">
                <a:avLst/>
              </a:prstGeom>
              <a:ln w="12700">
                <a:solidFill>
                  <a:srgbClr val="E8E8E8"/>
                </a:solidFill>
              </a:ln>
            </p:spPr>
          </p:cxnSp>
          <p:cxnSp>
            <p:nvCxnSpPr>
              <p:cNvPr id="29" name="Connector 28"/>
              <p:cNvCxnSpPr/>
              <p:nvPr/>
            </p:nvCxnSpPr>
            <p:spPr>
              <a:xfrm>
                <a:off x="1828800" y="2225650"/>
                <a:ext cx="0" cy="382219"/>
              </a:xfrm>
              <a:prstGeom prst="line">
                <a:avLst/>
              </a:prstGeom>
              <a:ln w="12700">
                <a:solidFill>
                  <a:srgbClr val="E8E8E8"/>
                </a:solidFill>
              </a:ln>
            </p:spPr>
          </p:cxnSp>
          <p:cxnSp>
            <p:nvCxnSpPr>
              <p:cNvPr id="30" name="Connector 29"/>
              <p:cNvCxnSpPr/>
              <p:nvPr/>
            </p:nvCxnSpPr>
            <p:spPr>
              <a:xfrm>
                <a:off x="2194560" y="2225650"/>
                <a:ext cx="0" cy="382219"/>
              </a:xfrm>
              <a:prstGeom prst="line">
                <a:avLst/>
              </a:prstGeom>
              <a:ln w="12700">
                <a:solidFill>
                  <a:srgbClr val="E8E8E8"/>
                </a:solidFill>
              </a:ln>
            </p:spPr>
          </p:cxnSp>
        </p:grpSp>
        <p:grpSp>
          <p:nvGrpSpPr>
            <p:cNvPr id="31" name="New signal" descr="A semaphore signal post with its arm flat (stop)."/>
            <p:cNvGrpSpPr/>
            <p:nvPr/>
          </p:nvGrpSpPr>
          <p:grpSpPr>
            <a:xfrm>
              <a:off x="4406951" y="2935224"/>
              <a:ext cx="1180033" cy="1307592"/>
              <a:chOff x="4406951" y="2935224"/>
              <a:chExt cx="1180033" cy="1307592"/>
            </a:xfrm>
          </p:grpSpPr>
          <p:sp>
            <p:nvSpPr>
              <p:cNvPr id="32" name="Rectangle 31"/>
              <p:cNvSpPr/>
              <p:nvPr/>
            </p:nvSpPr>
            <p:spPr>
              <a:xfrm>
                <a:off x="4576572" y="4147718"/>
                <a:ext cx="356616" cy="95098"/>
              </a:xfrm>
              <a:prstGeom prst="rect">
                <a:avLst/>
              </a:prstGeom>
              <a:solidFill>
                <a:srgbClr val="9AA0A6"/>
              </a:solidFill>
              <a:ln>
                <a:noFill/>
              </a:ln>
            </p:spPr>
            <p:txBody>
              <a:bodyPr rtlCol="0" anchor="ctr"/>
              <a:lstStyle/>
              <a:p>
                <a:pPr algn="ctr"/>
                <a:endParaRPr/>
              </a:p>
            </p:txBody>
          </p:sp>
          <p:sp>
            <p:nvSpPr>
              <p:cNvPr id="33" name="Rectangle 32"/>
              <p:cNvSpPr/>
              <p:nvPr/>
            </p:nvSpPr>
            <p:spPr>
              <a:xfrm>
                <a:off x="4683557" y="2935224"/>
                <a:ext cx="142646" cy="1212494"/>
              </a:xfrm>
              <a:prstGeom prst="rect">
                <a:avLst/>
              </a:prstGeom>
              <a:solidFill>
                <a:srgbClr val="E8E8E8"/>
              </a:solidFill>
              <a:ln>
                <a:noFill/>
              </a:ln>
            </p:spPr>
            <p:txBody>
              <a:bodyPr rtlCol="0" anchor="ctr"/>
              <a:lstStyle/>
              <a:p>
                <a:pPr algn="ctr"/>
                <a:endParaRPr/>
              </a:p>
            </p:txBody>
          </p:sp>
          <p:sp>
            <p:nvSpPr>
              <p:cNvPr id="34" name="Freeform 33"/>
              <p:cNvSpPr/>
              <p:nvPr/>
            </p:nvSpPr>
            <p:spPr>
              <a:xfrm>
                <a:off x="4754880" y="2970886"/>
                <a:ext cx="832104" cy="166420"/>
              </a:xfrm>
              <a:custGeom>
                <a:avLst/>
                <a:gdLst/>
                <a:ahLst/>
                <a:cxnLst/>
                <a:rect l="l" t="t" r="r" b="b"/>
                <a:pathLst>
                  <a:path w="832104" h="166420">
                    <a:moveTo>
                      <a:pt x="0" y="0"/>
                    </a:moveTo>
                    <a:lnTo>
                      <a:pt x="832104" y="0"/>
                    </a:lnTo>
                    <a:lnTo>
                      <a:pt x="832104" y="166420"/>
                    </a:lnTo>
                    <a:lnTo>
                      <a:pt x="0" y="166420"/>
                    </a:lnTo>
                    <a:close/>
                  </a:path>
                </a:pathLst>
              </a:custGeom>
              <a:solidFill>
                <a:srgbClr val="E5484D"/>
              </a:solidFill>
              <a:ln>
                <a:noFill/>
              </a:ln>
            </p:spPr>
            <p:txBody>
              <a:bodyPr rtlCol="0" anchor="ctr"/>
              <a:lstStyle/>
              <a:p>
                <a:pPr algn="ctr"/>
                <a:endParaRPr/>
              </a:p>
            </p:txBody>
          </p:sp>
          <p:sp>
            <p:nvSpPr>
              <p:cNvPr id="35" name="Freeform 34"/>
              <p:cNvSpPr/>
              <p:nvPr/>
            </p:nvSpPr>
            <p:spPr>
              <a:xfrm>
                <a:off x="5170932" y="2970886"/>
                <a:ext cx="130759" cy="166420"/>
              </a:xfrm>
              <a:custGeom>
                <a:avLst/>
                <a:gdLst/>
                <a:ahLst/>
                <a:cxnLst/>
                <a:rect l="l" t="t" r="r" b="b"/>
                <a:pathLst>
                  <a:path w="130759" h="166420">
                    <a:moveTo>
                      <a:pt x="0" y="0"/>
                    </a:moveTo>
                    <a:lnTo>
                      <a:pt x="130759" y="0"/>
                    </a:lnTo>
                    <a:lnTo>
                      <a:pt x="130759" y="166420"/>
                    </a:lnTo>
                    <a:lnTo>
                      <a:pt x="0" y="166420"/>
                    </a:lnTo>
                    <a:close/>
                  </a:path>
                </a:pathLst>
              </a:custGeom>
              <a:solidFill>
                <a:srgbClr val="FFFFFF"/>
              </a:solidFill>
              <a:ln>
                <a:noFill/>
              </a:ln>
            </p:spPr>
            <p:txBody>
              <a:bodyPr rtlCol="0" anchor="ctr"/>
              <a:lstStyle/>
              <a:p>
                <a:pPr algn="ctr"/>
                <a:endParaRPr/>
              </a:p>
            </p:txBody>
          </p:sp>
          <p:sp>
            <p:nvSpPr>
              <p:cNvPr id="36" name="Oval 35"/>
              <p:cNvSpPr/>
              <p:nvPr/>
            </p:nvSpPr>
            <p:spPr>
              <a:xfrm>
                <a:off x="4699559" y="2998775"/>
                <a:ext cx="110642" cy="110642"/>
              </a:xfrm>
              <a:prstGeom prst="ellipse">
                <a:avLst/>
              </a:prstGeom>
              <a:solidFill>
                <a:srgbClr val="1B1D21"/>
              </a:solidFill>
              <a:ln w="9525">
                <a:solidFill>
                  <a:srgbClr val="FFFFFF"/>
                </a:solidFill>
              </a:ln>
            </p:spPr>
            <p:txBody>
              <a:bodyPr rtlCol="0" anchor="ctr"/>
              <a:lstStyle/>
              <a:p>
                <a:pPr algn="ctr"/>
                <a:endParaRPr/>
              </a:p>
            </p:txBody>
          </p:sp>
          <p:sp>
            <p:nvSpPr>
              <p:cNvPr id="37" name="Oval 36"/>
              <p:cNvSpPr/>
              <p:nvPr/>
            </p:nvSpPr>
            <p:spPr>
              <a:xfrm>
                <a:off x="4406951" y="2943911"/>
                <a:ext cx="220370" cy="220370"/>
              </a:xfrm>
              <a:prstGeom prst="ellipse">
                <a:avLst/>
              </a:prstGeom>
              <a:solidFill>
                <a:srgbClr val="E5484D"/>
              </a:solidFill>
              <a:ln w="12700">
                <a:solidFill>
                  <a:srgbClr val="FFFFFF"/>
                </a:solidFill>
              </a:ln>
            </p:spPr>
            <p:txBody>
              <a:bodyPr rtlCol="0" anchor="ctr"/>
              <a:lstStyle/>
              <a:p>
                <a:pPr algn="ctr"/>
                <a:endParaRPr/>
              </a:p>
            </p:txBody>
          </p:sp>
        </p:grpSp>
        <p:sp>
          <p:nvSpPr>
            <p:cNvPr id="38" name="Dotted line: box takes control"/>
            <p:cNvSpPr/>
            <p:nvPr/>
          </p:nvSpPr>
          <p:spPr>
            <a:xfrm>
              <a:off x="2834640" y="2697480"/>
              <a:ext cx="1920240" cy="182880"/>
            </a:xfrm>
            <a:custGeom>
              <a:avLst/>
              <a:gdLst/>
              <a:ahLst/>
              <a:cxnLst/>
              <a:rect l="l" t="t" r="r" b="b"/>
              <a:pathLst>
                <a:path w="1920240" h="182880">
                  <a:moveTo>
                    <a:pt x="0" y="0"/>
                  </a:moveTo>
                  <a:lnTo>
                    <a:pt x="1920240" y="0"/>
                  </a:lnTo>
                  <a:lnTo>
                    <a:pt x="1920240" y="182880"/>
                  </a:lnTo>
                </a:path>
              </a:pathLst>
            </a:custGeom>
            <a:noFill/>
            <a:ln w="31750">
              <a:solidFill>
                <a:srgbClr val="F28C28"/>
              </a:solidFill>
              <a:prstDash val="sysDot"/>
              <a:tailEnd type="triangle" w="med" len="med"/>
            </a:ln>
          </p:spPr>
          <p:txBody>
            <a:bodyPr rtlCol="0" anchor="ctr"/>
            <a:lstStyle/>
            <a:p>
              <a:pPr algn="ctr"/>
              <a:endParaRPr/>
            </a:p>
          </p:txBody>
        </p:sp>
        <p:sp>
          <p:nvSpPr>
            <p:cNvPr id="39" name="Rounded Rectangle 38"/>
            <p:cNvSpPr/>
            <p:nvPr/>
          </p:nvSpPr>
          <p:spPr>
            <a:xfrm>
              <a:off x="6400800" y="1463040"/>
              <a:ext cx="5239512" cy="1143000"/>
            </a:xfrm>
            <a:prstGeom prst="roundRect">
              <a:avLst>
                <a:gd name="adj" fmla="val 6400"/>
              </a:avLst>
            </a:prstGeom>
            <a:solidFill>
              <a:srgbClr val="2B2F36"/>
            </a:solidFill>
            <a:ln w="12700">
              <a:solidFill>
                <a:srgbClr val="4A515B"/>
              </a:solidFill>
            </a:ln>
          </p:spPr>
          <p:txBody>
            <a:bodyPr rtlCol="0" anchor="ctr"/>
            <a:lstStyle/>
            <a:p>
              <a:pPr algn="ctr"/>
              <a:endParaRPr/>
            </a:p>
          </p:txBody>
        </p:sp>
        <p:sp>
          <p:nvSpPr>
            <p:cNvPr id="40" name="Oval 39"/>
            <p:cNvSpPr/>
            <p:nvPr/>
          </p:nvSpPr>
          <p:spPr>
            <a:xfrm>
              <a:off x="6606540" y="1783080"/>
              <a:ext cx="502920" cy="502920"/>
            </a:xfrm>
            <a:prstGeom prst="ellipse">
              <a:avLst/>
            </a:prstGeom>
            <a:solidFill>
              <a:srgbClr val="F28C28"/>
            </a:solidFill>
            <a:ln>
              <a:noFill/>
            </a:ln>
          </p:spPr>
          <p:txBody>
            <a:bodyPr rtlCol="0" anchor="ctr"/>
            <a:lstStyle/>
            <a:p>
              <a:pPr algn="ctr"/>
              <a:endParaRPr/>
            </a:p>
          </p:txBody>
        </p:sp>
        <p:sp>
          <p:nvSpPr>
            <p:cNvPr id="41" name="Step number"/>
            <p:cNvSpPr txBox="1"/>
            <p:nvPr/>
          </p:nvSpPr>
          <p:spPr>
            <a:xfrm>
              <a:off x="6606540" y="1805940"/>
              <a:ext cx="502920" cy="457200"/>
            </a:xfrm>
            <a:prstGeom prst="rect">
              <a:avLst/>
            </a:prstGeom>
            <a:noFill/>
          </p:spPr>
          <p:txBody>
            <a:bodyPr wrap="square" lIns="0" tIns="0" rIns="0" bIns="0" anchor="ctr">
              <a:noAutofit/>
            </a:bodyPr>
            <a:lstStyle/>
            <a:p>
              <a:pPr algn="ctr"/>
              <a:r>
                <a:rPr lang="en-GB" sz="2000" b="1" i="0">
                  <a:solidFill>
                    <a:srgbClr val="101418"/>
                  </a:solidFill>
                  <a:latin typeface="Arial"/>
                </a:rPr>
                <a:t>1</a:t>
              </a:r>
            </a:p>
          </p:txBody>
        </p:sp>
        <p:sp>
          <p:nvSpPr>
            <p:cNvPr id="42" name="Step text"/>
            <p:cNvSpPr txBox="1"/>
            <p:nvPr/>
          </p:nvSpPr>
          <p:spPr>
            <a:xfrm>
              <a:off x="7315200" y="1463040"/>
              <a:ext cx="4187952" cy="1143000"/>
            </a:xfrm>
            <a:prstGeom prst="rect">
              <a:avLst/>
            </a:prstGeom>
            <a:noFill/>
          </p:spPr>
          <p:txBody>
            <a:bodyPr wrap="square" lIns="18288" tIns="18288" rIns="18288" bIns="18288" anchor="ctr">
              <a:noAutofit/>
            </a:bodyPr>
            <a:lstStyle/>
            <a:p>
              <a:pPr algn="l"/>
              <a:r>
                <a:rPr lang="en-GB" sz="2000" b="1" i="0">
                  <a:solidFill>
                    <a:srgbClr val="F2F2F2"/>
                  </a:solidFill>
                  <a:latin typeface="Arial"/>
                </a:rPr>
                <a:t>Place a signal on connected track</a:t>
              </a:r>
            </a:p>
          </p:txBody>
        </p:sp>
        <p:sp>
          <p:nvSpPr>
            <p:cNvPr id="43" name="Rounded Rectangle 42"/>
            <p:cNvSpPr/>
            <p:nvPr/>
          </p:nvSpPr>
          <p:spPr>
            <a:xfrm>
              <a:off x="6400800" y="2788920"/>
              <a:ext cx="5239512" cy="1143000"/>
            </a:xfrm>
            <a:prstGeom prst="roundRect">
              <a:avLst>
                <a:gd name="adj" fmla="val 6400"/>
              </a:avLst>
            </a:prstGeom>
            <a:solidFill>
              <a:srgbClr val="2B2F36"/>
            </a:solidFill>
            <a:ln w="12700">
              <a:solidFill>
                <a:srgbClr val="4A515B"/>
              </a:solidFill>
            </a:ln>
          </p:spPr>
          <p:txBody>
            <a:bodyPr rtlCol="0" anchor="ctr"/>
            <a:lstStyle/>
            <a:p>
              <a:pPr algn="ctr"/>
              <a:endParaRPr/>
            </a:p>
          </p:txBody>
        </p:sp>
        <p:sp>
          <p:nvSpPr>
            <p:cNvPr id="44" name="Oval 43"/>
            <p:cNvSpPr/>
            <p:nvPr/>
          </p:nvSpPr>
          <p:spPr>
            <a:xfrm>
              <a:off x="6606540" y="3108960"/>
              <a:ext cx="502920" cy="502920"/>
            </a:xfrm>
            <a:prstGeom prst="ellipse">
              <a:avLst/>
            </a:prstGeom>
            <a:solidFill>
              <a:srgbClr val="F28C28"/>
            </a:solidFill>
            <a:ln>
              <a:noFill/>
            </a:ln>
          </p:spPr>
          <p:txBody>
            <a:bodyPr rtlCol="0" anchor="ctr"/>
            <a:lstStyle/>
            <a:p>
              <a:pPr algn="ctr"/>
              <a:endParaRPr/>
            </a:p>
          </p:txBody>
        </p:sp>
        <p:sp>
          <p:nvSpPr>
            <p:cNvPr id="45" name="Step number"/>
            <p:cNvSpPr txBox="1"/>
            <p:nvPr/>
          </p:nvSpPr>
          <p:spPr>
            <a:xfrm>
              <a:off x="6606540" y="3131820"/>
              <a:ext cx="502920" cy="457200"/>
            </a:xfrm>
            <a:prstGeom prst="rect">
              <a:avLst/>
            </a:prstGeom>
            <a:noFill/>
          </p:spPr>
          <p:txBody>
            <a:bodyPr wrap="square" lIns="0" tIns="0" rIns="0" bIns="0" anchor="ctr">
              <a:noAutofit/>
            </a:bodyPr>
            <a:lstStyle/>
            <a:p>
              <a:pPr algn="ctr"/>
              <a:r>
                <a:rPr lang="en-GB" sz="2000" b="1" i="0">
                  <a:solidFill>
                    <a:srgbClr val="101418"/>
                  </a:solidFill>
                  <a:latin typeface="Arial"/>
                </a:rPr>
                <a:t>2</a:t>
              </a:r>
            </a:p>
          </p:txBody>
        </p:sp>
        <p:sp>
          <p:nvSpPr>
            <p:cNvPr id="46" name="Step text"/>
            <p:cNvSpPr txBox="1"/>
            <p:nvPr/>
          </p:nvSpPr>
          <p:spPr>
            <a:xfrm>
              <a:off x="7315200" y="2788920"/>
              <a:ext cx="4187952" cy="1143000"/>
            </a:xfrm>
            <a:prstGeom prst="rect">
              <a:avLst/>
            </a:prstGeom>
            <a:noFill/>
          </p:spPr>
          <p:txBody>
            <a:bodyPr wrap="square" lIns="18288" tIns="18288" rIns="18288" bIns="18288" anchor="ctr">
              <a:noAutofit/>
            </a:bodyPr>
            <a:lstStyle/>
            <a:p>
              <a:pPr algn="l"/>
              <a:r>
                <a:rPr lang="en-GB" sz="2000" b="1" i="0">
                  <a:solidFill>
                    <a:srgbClr val="F2F2F2"/>
                  </a:solidFill>
                  <a:latin typeface="Arial"/>
                </a:rPr>
                <a:t>A box with room takes control</a:t>
              </a:r>
            </a:p>
          </p:txBody>
        </p:sp>
        <p:sp>
          <p:nvSpPr>
            <p:cNvPr id="47" name="Rounded Rectangle 46"/>
            <p:cNvSpPr/>
            <p:nvPr/>
          </p:nvSpPr>
          <p:spPr>
            <a:xfrm>
              <a:off x="6400800" y="4114800"/>
              <a:ext cx="5239512" cy="1143000"/>
            </a:xfrm>
            <a:prstGeom prst="roundRect">
              <a:avLst>
                <a:gd name="adj" fmla="val 6400"/>
              </a:avLst>
            </a:prstGeom>
            <a:solidFill>
              <a:srgbClr val="2B2F36"/>
            </a:solidFill>
            <a:ln w="12700">
              <a:solidFill>
                <a:srgbClr val="4A515B"/>
              </a:solidFill>
            </a:ln>
          </p:spPr>
          <p:txBody>
            <a:bodyPr rtlCol="0" anchor="ctr"/>
            <a:lstStyle/>
            <a:p>
              <a:pPr algn="ctr"/>
              <a:endParaRPr/>
            </a:p>
          </p:txBody>
        </p:sp>
        <p:sp>
          <p:nvSpPr>
            <p:cNvPr id="48" name="Oval 47"/>
            <p:cNvSpPr/>
            <p:nvPr/>
          </p:nvSpPr>
          <p:spPr>
            <a:xfrm>
              <a:off x="6606540" y="4434840"/>
              <a:ext cx="502920" cy="502920"/>
            </a:xfrm>
            <a:prstGeom prst="ellipse">
              <a:avLst/>
            </a:prstGeom>
            <a:solidFill>
              <a:srgbClr val="F28C28"/>
            </a:solidFill>
            <a:ln>
              <a:noFill/>
            </a:ln>
          </p:spPr>
          <p:txBody>
            <a:bodyPr rtlCol="0" anchor="ctr"/>
            <a:lstStyle/>
            <a:p>
              <a:pPr algn="ctr"/>
              <a:endParaRPr/>
            </a:p>
          </p:txBody>
        </p:sp>
        <p:sp>
          <p:nvSpPr>
            <p:cNvPr id="49" name="Step number"/>
            <p:cNvSpPr txBox="1"/>
            <p:nvPr/>
          </p:nvSpPr>
          <p:spPr>
            <a:xfrm>
              <a:off x="6606540" y="4457700"/>
              <a:ext cx="502920" cy="457200"/>
            </a:xfrm>
            <a:prstGeom prst="rect">
              <a:avLst/>
            </a:prstGeom>
            <a:noFill/>
          </p:spPr>
          <p:txBody>
            <a:bodyPr wrap="square" lIns="0" tIns="0" rIns="0" bIns="0" anchor="ctr">
              <a:noAutofit/>
            </a:bodyPr>
            <a:lstStyle/>
            <a:p>
              <a:pPr algn="ctr"/>
              <a:r>
                <a:rPr lang="en-GB" sz="2000" b="1" i="0">
                  <a:solidFill>
                    <a:srgbClr val="101418"/>
                  </a:solidFill>
                  <a:latin typeface="Arial"/>
                </a:rPr>
                <a:t>3</a:t>
              </a:r>
            </a:p>
          </p:txBody>
        </p:sp>
        <p:sp>
          <p:nvSpPr>
            <p:cNvPr id="50" name="Step text"/>
            <p:cNvSpPr txBox="1"/>
            <p:nvPr/>
          </p:nvSpPr>
          <p:spPr>
            <a:xfrm>
              <a:off x="7315200" y="4114800"/>
              <a:ext cx="4187952" cy="1143000"/>
            </a:xfrm>
            <a:prstGeom prst="rect">
              <a:avLst/>
            </a:prstGeom>
            <a:noFill/>
          </p:spPr>
          <p:txBody>
            <a:bodyPr wrap="square" lIns="18288" tIns="18288" rIns="18288" bIns="18288" anchor="ctr">
              <a:noAutofit/>
            </a:bodyPr>
            <a:lstStyle/>
            <a:p>
              <a:pPr algn="l"/>
              <a:r>
                <a:rPr lang="en-GB" sz="2000" b="1" i="0">
                  <a:solidFill>
                    <a:srgbClr val="F2F2F2"/>
                  </a:solidFill>
                  <a:latin typeface="Arial"/>
                </a:rPr>
                <a:t>Rods and wires draw themselves</a:t>
              </a:r>
            </a:p>
          </p:txBody>
        </p:sp>
      </p:grpSp>
      <p:sp>
        <p:nvSpPr>
          <p:cNvPr id="51"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Boxes take control of connected signals automatically. You never place wires.</a:t>
            </a:r>
          </a:p>
        </p:txBody>
      </p:sp>
      <p:sp>
        <p:nvSpPr>
          <p:cNvPr id="52"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53"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19</a:t>
            </a:r>
          </a:p>
        </p:txBody>
      </p:sp>
    </p:spTree>
    <p:extLst>
      <p:ext uri="{BB962C8B-B14F-4D97-AF65-F5344CB8AC3E}">
        <p14:creationId xmlns:p14="http://schemas.microsoft.com/office/powerpoint/2010/main" val="37670441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nodeType="withEffect">
                                  <p:stCondLst>
                                    <p:cond delay="60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Rods and wires you can see</a:t>
            </a:r>
          </a:p>
        </p:txBody>
      </p:sp>
      <p:sp>
        <p:nvSpPr>
          <p:cNvPr id="3" name="Chip: Agreed" descr="Status tag: Agreed"/>
          <p:cNvSpPr/>
          <p:nvPr/>
        </p:nvSpPr>
        <p:spPr>
          <a:xfrm>
            <a:off x="10104120" y="457200"/>
            <a:ext cx="1508760" cy="365760"/>
          </a:xfrm>
          <a:prstGeom prst="roundRect">
            <a:avLst>
              <a:gd name="adj" fmla="val 20000"/>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pic>
        <p:nvPicPr>
          <p:cNvPr id="4" name="R03_semaphore_stop.jpg" descr="The mod's semaphore stop signal model with its arm flat (stop)."/>
          <p:cNvPicPr>
            <a:picLocks noChangeAspect="1"/>
          </p:cNvPicPr>
          <p:nvPr/>
        </p:nvPicPr>
        <p:blipFill>
          <a:blip r:embed="rId2"/>
          <a:srcRect t="476" b="476"/>
          <a:stretch>
            <a:fillRect/>
          </a:stretch>
        </p:blipFill>
        <p:spPr>
          <a:xfrm>
            <a:off x="548640" y="1828800"/>
            <a:ext cx="3200400" cy="2377440"/>
          </a:xfrm>
          <a:prstGeom prst="roundRect">
            <a:avLst>
              <a:gd name="adj" fmla="val 3076"/>
            </a:avLst>
          </a:prstGeom>
        </p:spPr>
      </p:pic>
      <p:sp>
        <p:nvSpPr>
          <p:cNvPr id="5" name="Label: STOP: arm flat"/>
          <p:cNvSpPr/>
          <p:nvPr/>
        </p:nvSpPr>
        <p:spPr>
          <a:xfrm>
            <a:off x="640080" y="3749040"/>
            <a:ext cx="2286000" cy="365760"/>
          </a:xfrm>
          <a:prstGeom prst="roundRect">
            <a:avLst>
              <a:gd name="adj" fmla="val 20000"/>
            </a:avLst>
          </a:prstGeom>
          <a:solidFill>
            <a:srgbClr val="2B2F36"/>
          </a:solidFill>
          <a:ln w="12700">
            <a:solidFill>
              <a:srgbClr val="4A515B"/>
            </a:solidFill>
          </a:ln>
        </p:spPr>
        <p:txBody>
          <a:bodyPr wrap="square" lIns="45720" tIns="0" rIns="45720" bIns="0" rtlCol="0" anchor="ctr">
            <a:noAutofit/>
          </a:bodyPr>
          <a:lstStyle/>
          <a:p>
            <a:pPr algn="ctr"/>
            <a:r>
              <a:rPr lang="en-GB" sz="1600" b="1" i="0">
                <a:solidFill>
                  <a:srgbClr val="FF7A7E"/>
                </a:solidFill>
                <a:latin typeface="Arial"/>
              </a:rPr>
              <a:t>STOP: arm flat</a:t>
            </a:r>
          </a:p>
        </p:txBody>
      </p:sp>
      <p:sp>
        <p:nvSpPr>
          <p:cNvPr id="6" name="Credit"/>
          <p:cNvSpPr txBox="1"/>
          <p:nvPr/>
        </p:nvSpPr>
        <p:spPr>
          <a:xfrm>
            <a:off x="548640" y="4261104"/>
            <a:ext cx="3200400" cy="182880"/>
          </a:xfrm>
          <a:prstGeom prst="rect">
            <a:avLst/>
          </a:prstGeom>
          <a:noFill/>
        </p:spPr>
        <p:txBody>
          <a:bodyPr wrap="square" lIns="0" tIns="0" rIns="0" bIns="0" anchor="t">
            <a:noAutofit/>
          </a:bodyPr>
          <a:lstStyle/>
          <a:p>
            <a:pPr algn="l"/>
            <a:r>
              <a:rPr lang="en-GB" sz="1000" b="0" i="0">
                <a:solidFill>
                  <a:srgbClr val="A9B0B8"/>
                </a:solidFill>
                <a:latin typeface="Arial"/>
              </a:rPr>
              <a:t>Blender model, not yet in the game.</a:t>
            </a:r>
          </a:p>
        </p:txBody>
      </p:sp>
      <p:pic>
        <p:nvPicPr>
          <p:cNvPr id="7" name="R04_semaphore_clear.jpg" descr="The same signal model with its arm raised (clear)."/>
          <p:cNvPicPr>
            <a:picLocks noChangeAspect="1"/>
          </p:cNvPicPr>
          <p:nvPr/>
        </p:nvPicPr>
        <p:blipFill>
          <a:blip r:embed="rId3"/>
          <a:srcRect t="476" b="476"/>
          <a:stretch>
            <a:fillRect/>
          </a:stretch>
        </p:blipFill>
        <p:spPr>
          <a:xfrm>
            <a:off x="4023360" y="1828800"/>
            <a:ext cx="3200400" cy="2377440"/>
          </a:xfrm>
          <a:prstGeom prst="roundRect">
            <a:avLst>
              <a:gd name="adj" fmla="val 3076"/>
            </a:avLst>
          </a:prstGeom>
        </p:spPr>
      </p:pic>
      <p:sp>
        <p:nvSpPr>
          <p:cNvPr id="8" name="Label: CLEAR: arm raised"/>
          <p:cNvSpPr/>
          <p:nvPr/>
        </p:nvSpPr>
        <p:spPr>
          <a:xfrm>
            <a:off x="4114800" y="3749040"/>
            <a:ext cx="2651760" cy="365760"/>
          </a:xfrm>
          <a:prstGeom prst="roundRect">
            <a:avLst>
              <a:gd name="adj" fmla="val 20000"/>
            </a:avLst>
          </a:prstGeom>
          <a:solidFill>
            <a:srgbClr val="2B2F36"/>
          </a:solidFill>
          <a:ln w="12700">
            <a:solidFill>
              <a:srgbClr val="4A515B"/>
            </a:solidFill>
          </a:ln>
        </p:spPr>
        <p:txBody>
          <a:bodyPr wrap="square" lIns="45720" tIns="0" rIns="45720" bIns="0" rtlCol="0" anchor="ctr">
            <a:noAutofit/>
          </a:bodyPr>
          <a:lstStyle/>
          <a:p>
            <a:pPr algn="ctr"/>
            <a:r>
              <a:rPr lang="en-GB" sz="1600" b="1" i="0">
                <a:solidFill>
                  <a:srgbClr val="3FB950"/>
                </a:solidFill>
                <a:latin typeface="Arial"/>
              </a:rPr>
              <a:t>CLEAR: arm raised</a:t>
            </a:r>
          </a:p>
        </p:txBody>
      </p:sp>
      <p:sp>
        <p:nvSpPr>
          <p:cNvPr id="9" name="Credit"/>
          <p:cNvSpPr txBox="1"/>
          <p:nvPr/>
        </p:nvSpPr>
        <p:spPr>
          <a:xfrm>
            <a:off x="4023360" y="4261104"/>
            <a:ext cx="3200400" cy="182880"/>
          </a:xfrm>
          <a:prstGeom prst="rect">
            <a:avLst/>
          </a:prstGeom>
          <a:noFill/>
        </p:spPr>
        <p:txBody>
          <a:bodyPr wrap="square" lIns="0" tIns="0" rIns="0" bIns="0" anchor="t">
            <a:noAutofit/>
          </a:bodyPr>
          <a:lstStyle/>
          <a:p>
            <a:pPr algn="l"/>
            <a:r>
              <a:rPr lang="en-GB" sz="1000" b="0" i="0">
                <a:solidFill>
                  <a:srgbClr val="A9B0B8"/>
                </a:solidFill>
                <a:latin typeface="Arial"/>
              </a:rPr>
              <a:t>Blender model, not yet in the game.</a:t>
            </a:r>
          </a:p>
        </p:txBody>
      </p:sp>
      <p:grpSp>
        <p:nvGrpSpPr>
          <p:cNvPr id="10" name="Linkage drawn between a box and its signals" descr="A schematic signal box with three orange dashed lines running to three signals. The lines show which box controls which signal."/>
          <p:cNvGrpSpPr/>
          <p:nvPr/>
        </p:nvGrpSpPr>
        <p:grpSpPr>
          <a:xfrm>
            <a:off x="7424928" y="1417320"/>
            <a:ext cx="4233672" cy="2642616"/>
            <a:chOff x="7424928" y="1417320"/>
            <a:chExt cx="4233672" cy="2642616"/>
          </a:xfrm>
        </p:grpSpPr>
        <p:grpSp>
          <p:nvGrpSpPr>
            <p:cNvPr id="11" name="Track" descr="Two rails on sleepers."/>
            <p:cNvGrpSpPr/>
            <p:nvPr/>
          </p:nvGrpSpPr>
          <p:grpSpPr>
            <a:xfrm>
              <a:off x="7589520" y="3694176"/>
              <a:ext cx="4069080" cy="365760"/>
              <a:chOff x="7589520" y="3694176"/>
              <a:chExt cx="4069080" cy="365760"/>
            </a:xfrm>
          </p:grpSpPr>
          <p:sp>
            <p:nvSpPr>
              <p:cNvPr id="12" name="Rectangle 11"/>
              <p:cNvSpPr/>
              <p:nvPr/>
            </p:nvSpPr>
            <p:spPr>
              <a:xfrm>
                <a:off x="7836408" y="3694176"/>
                <a:ext cx="54864" cy="365760"/>
              </a:xfrm>
              <a:prstGeom prst="rect">
                <a:avLst/>
              </a:prstGeom>
              <a:solidFill>
                <a:srgbClr val="6B5B4B"/>
              </a:solidFill>
              <a:ln>
                <a:noFill/>
              </a:ln>
            </p:spPr>
            <p:txBody>
              <a:bodyPr rtlCol="0" anchor="ctr"/>
              <a:lstStyle/>
              <a:p>
                <a:pPr algn="ctr"/>
                <a:endParaRPr/>
              </a:p>
            </p:txBody>
          </p:sp>
          <p:sp>
            <p:nvSpPr>
              <p:cNvPr id="13" name="Rectangle 12"/>
              <p:cNvSpPr/>
              <p:nvPr/>
            </p:nvSpPr>
            <p:spPr>
              <a:xfrm>
                <a:off x="8156448" y="3694176"/>
                <a:ext cx="54864" cy="365760"/>
              </a:xfrm>
              <a:prstGeom prst="rect">
                <a:avLst/>
              </a:prstGeom>
              <a:solidFill>
                <a:srgbClr val="6B5B4B"/>
              </a:solidFill>
              <a:ln>
                <a:noFill/>
              </a:ln>
            </p:spPr>
            <p:txBody>
              <a:bodyPr rtlCol="0" anchor="ctr"/>
              <a:lstStyle/>
              <a:p>
                <a:pPr algn="ctr"/>
                <a:endParaRPr/>
              </a:p>
            </p:txBody>
          </p:sp>
          <p:sp>
            <p:nvSpPr>
              <p:cNvPr id="14" name="Rectangle 13"/>
              <p:cNvSpPr/>
              <p:nvPr/>
            </p:nvSpPr>
            <p:spPr>
              <a:xfrm>
                <a:off x="8476488" y="3694176"/>
                <a:ext cx="54864" cy="365760"/>
              </a:xfrm>
              <a:prstGeom prst="rect">
                <a:avLst/>
              </a:prstGeom>
              <a:solidFill>
                <a:srgbClr val="6B5B4B"/>
              </a:solidFill>
              <a:ln>
                <a:noFill/>
              </a:ln>
            </p:spPr>
            <p:txBody>
              <a:bodyPr rtlCol="0" anchor="ctr"/>
              <a:lstStyle/>
              <a:p>
                <a:pPr algn="ctr"/>
                <a:endParaRPr/>
              </a:p>
            </p:txBody>
          </p:sp>
          <p:sp>
            <p:nvSpPr>
              <p:cNvPr id="15" name="Rectangle 14"/>
              <p:cNvSpPr/>
              <p:nvPr/>
            </p:nvSpPr>
            <p:spPr>
              <a:xfrm>
                <a:off x="8796528" y="3694176"/>
                <a:ext cx="54864" cy="365760"/>
              </a:xfrm>
              <a:prstGeom prst="rect">
                <a:avLst/>
              </a:prstGeom>
              <a:solidFill>
                <a:srgbClr val="6B5B4B"/>
              </a:solidFill>
              <a:ln>
                <a:noFill/>
              </a:ln>
            </p:spPr>
            <p:txBody>
              <a:bodyPr rtlCol="0" anchor="ctr"/>
              <a:lstStyle/>
              <a:p>
                <a:pPr algn="ctr"/>
                <a:endParaRPr/>
              </a:p>
            </p:txBody>
          </p:sp>
          <p:sp>
            <p:nvSpPr>
              <p:cNvPr id="16" name="Rectangle 15"/>
              <p:cNvSpPr/>
              <p:nvPr/>
            </p:nvSpPr>
            <p:spPr>
              <a:xfrm>
                <a:off x="9116568" y="3694176"/>
                <a:ext cx="54864" cy="365760"/>
              </a:xfrm>
              <a:prstGeom prst="rect">
                <a:avLst/>
              </a:prstGeom>
              <a:solidFill>
                <a:srgbClr val="6B5B4B"/>
              </a:solidFill>
              <a:ln>
                <a:noFill/>
              </a:ln>
            </p:spPr>
            <p:txBody>
              <a:bodyPr rtlCol="0" anchor="ctr"/>
              <a:lstStyle/>
              <a:p>
                <a:pPr algn="ctr"/>
                <a:endParaRPr/>
              </a:p>
            </p:txBody>
          </p:sp>
          <p:sp>
            <p:nvSpPr>
              <p:cNvPr id="17" name="Rectangle 16"/>
              <p:cNvSpPr/>
              <p:nvPr/>
            </p:nvSpPr>
            <p:spPr>
              <a:xfrm>
                <a:off x="9436608" y="3694176"/>
                <a:ext cx="54864" cy="365760"/>
              </a:xfrm>
              <a:prstGeom prst="rect">
                <a:avLst/>
              </a:prstGeom>
              <a:solidFill>
                <a:srgbClr val="6B5B4B"/>
              </a:solidFill>
              <a:ln>
                <a:noFill/>
              </a:ln>
            </p:spPr>
            <p:txBody>
              <a:bodyPr rtlCol="0" anchor="ctr"/>
              <a:lstStyle/>
              <a:p>
                <a:pPr algn="ctr"/>
                <a:endParaRPr/>
              </a:p>
            </p:txBody>
          </p:sp>
          <p:sp>
            <p:nvSpPr>
              <p:cNvPr id="18" name="Rectangle 17"/>
              <p:cNvSpPr/>
              <p:nvPr/>
            </p:nvSpPr>
            <p:spPr>
              <a:xfrm>
                <a:off x="9756648" y="3694176"/>
                <a:ext cx="54864" cy="365760"/>
              </a:xfrm>
              <a:prstGeom prst="rect">
                <a:avLst/>
              </a:prstGeom>
              <a:solidFill>
                <a:srgbClr val="6B5B4B"/>
              </a:solidFill>
              <a:ln>
                <a:noFill/>
              </a:ln>
            </p:spPr>
            <p:txBody>
              <a:bodyPr rtlCol="0" anchor="ctr"/>
              <a:lstStyle/>
              <a:p>
                <a:pPr algn="ctr"/>
                <a:endParaRPr/>
              </a:p>
            </p:txBody>
          </p:sp>
          <p:sp>
            <p:nvSpPr>
              <p:cNvPr id="19" name="Rectangle 18"/>
              <p:cNvSpPr/>
              <p:nvPr/>
            </p:nvSpPr>
            <p:spPr>
              <a:xfrm>
                <a:off x="10076688" y="3694176"/>
                <a:ext cx="54864" cy="365760"/>
              </a:xfrm>
              <a:prstGeom prst="rect">
                <a:avLst/>
              </a:prstGeom>
              <a:solidFill>
                <a:srgbClr val="6B5B4B"/>
              </a:solidFill>
              <a:ln>
                <a:noFill/>
              </a:ln>
            </p:spPr>
            <p:txBody>
              <a:bodyPr rtlCol="0" anchor="ctr"/>
              <a:lstStyle/>
              <a:p>
                <a:pPr algn="ctr"/>
                <a:endParaRPr/>
              </a:p>
            </p:txBody>
          </p:sp>
          <p:sp>
            <p:nvSpPr>
              <p:cNvPr id="20" name="Rectangle 19"/>
              <p:cNvSpPr/>
              <p:nvPr/>
            </p:nvSpPr>
            <p:spPr>
              <a:xfrm>
                <a:off x="10396728" y="3694176"/>
                <a:ext cx="54864" cy="365760"/>
              </a:xfrm>
              <a:prstGeom prst="rect">
                <a:avLst/>
              </a:prstGeom>
              <a:solidFill>
                <a:srgbClr val="6B5B4B"/>
              </a:solidFill>
              <a:ln>
                <a:noFill/>
              </a:ln>
            </p:spPr>
            <p:txBody>
              <a:bodyPr rtlCol="0" anchor="ctr"/>
              <a:lstStyle/>
              <a:p>
                <a:pPr algn="ctr"/>
                <a:endParaRPr/>
              </a:p>
            </p:txBody>
          </p:sp>
          <p:sp>
            <p:nvSpPr>
              <p:cNvPr id="21" name="Rectangle 20"/>
              <p:cNvSpPr/>
              <p:nvPr/>
            </p:nvSpPr>
            <p:spPr>
              <a:xfrm>
                <a:off x="10716768" y="3694176"/>
                <a:ext cx="54864" cy="365760"/>
              </a:xfrm>
              <a:prstGeom prst="rect">
                <a:avLst/>
              </a:prstGeom>
              <a:solidFill>
                <a:srgbClr val="6B5B4B"/>
              </a:solidFill>
              <a:ln>
                <a:noFill/>
              </a:ln>
            </p:spPr>
            <p:txBody>
              <a:bodyPr rtlCol="0" anchor="ctr"/>
              <a:lstStyle/>
              <a:p>
                <a:pPr algn="ctr"/>
                <a:endParaRPr/>
              </a:p>
            </p:txBody>
          </p:sp>
          <p:sp>
            <p:nvSpPr>
              <p:cNvPr id="22" name="Rectangle 21"/>
              <p:cNvSpPr/>
              <p:nvPr/>
            </p:nvSpPr>
            <p:spPr>
              <a:xfrm>
                <a:off x="11036808" y="3694176"/>
                <a:ext cx="54864" cy="365760"/>
              </a:xfrm>
              <a:prstGeom prst="rect">
                <a:avLst/>
              </a:prstGeom>
              <a:solidFill>
                <a:srgbClr val="6B5B4B"/>
              </a:solidFill>
              <a:ln>
                <a:noFill/>
              </a:ln>
            </p:spPr>
            <p:txBody>
              <a:bodyPr rtlCol="0" anchor="ctr"/>
              <a:lstStyle/>
              <a:p>
                <a:pPr algn="ctr"/>
                <a:endParaRPr/>
              </a:p>
            </p:txBody>
          </p:sp>
          <p:sp>
            <p:nvSpPr>
              <p:cNvPr id="23" name="Rectangle 22"/>
              <p:cNvSpPr/>
              <p:nvPr/>
            </p:nvSpPr>
            <p:spPr>
              <a:xfrm>
                <a:off x="11356848" y="3694176"/>
                <a:ext cx="54864" cy="365760"/>
              </a:xfrm>
              <a:prstGeom prst="rect">
                <a:avLst/>
              </a:prstGeom>
              <a:solidFill>
                <a:srgbClr val="6B5B4B"/>
              </a:solidFill>
              <a:ln>
                <a:noFill/>
              </a:ln>
            </p:spPr>
            <p:txBody>
              <a:bodyPr rtlCol="0" anchor="ctr"/>
              <a:lstStyle/>
              <a:p>
                <a:pPr algn="ctr"/>
                <a:endParaRPr/>
              </a:p>
            </p:txBody>
          </p:sp>
          <p:sp>
            <p:nvSpPr>
              <p:cNvPr id="24" name="Rectangle 23"/>
              <p:cNvSpPr/>
              <p:nvPr/>
            </p:nvSpPr>
            <p:spPr>
              <a:xfrm>
                <a:off x="7589520" y="3749040"/>
                <a:ext cx="4069080" cy="54864"/>
              </a:xfrm>
              <a:prstGeom prst="rect">
                <a:avLst/>
              </a:prstGeom>
              <a:solidFill>
                <a:srgbClr val="9AA0A6"/>
              </a:solidFill>
              <a:ln>
                <a:noFill/>
              </a:ln>
            </p:spPr>
            <p:txBody>
              <a:bodyPr rtlCol="0" anchor="ctr"/>
              <a:lstStyle/>
              <a:p>
                <a:pPr algn="ctr"/>
                <a:endParaRPr/>
              </a:p>
            </p:txBody>
          </p:sp>
          <p:sp>
            <p:nvSpPr>
              <p:cNvPr id="25" name="Rectangle 24"/>
              <p:cNvSpPr/>
              <p:nvPr/>
            </p:nvSpPr>
            <p:spPr>
              <a:xfrm>
                <a:off x="7589520" y="4005072"/>
                <a:ext cx="4069080" cy="54864"/>
              </a:xfrm>
              <a:prstGeom prst="rect">
                <a:avLst/>
              </a:prstGeom>
              <a:solidFill>
                <a:srgbClr val="9AA0A6"/>
              </a:solidFill>
              <a:ln>
                <a:noFill/>
              </a:ln>
            </p:spPr>
            <p:txBody>
              <a:bodyPr rtlCol="0" anchor="ctr"/>
              <a:lstStyle/>
              <a:p>
                <a:pPr algn="ctr"/>
                <a:endParaRPr/>
              </a:p>
            </p:txBody>
          </p:sp>
        </p:grpSp>
        <p:grpSp>
          <p:nvGrpSpPr>
            <p:cNvPr id="26" name="Signal box" descr="A small signal box building."/>
            <p:cNvGrpSpPr/>
            <p:nvPr/>
          </p:nvGrpSpPr>
          <p:grpSpPr>
            <a:xfrm>
              <a:off x="7424928" y="1417320"/>
              <a:ext cx="1335024" cy="1325880"/>
              <a:chOff x="7424928" y="1417320"/>
              <a:chExt cx="1335024" cy="1325880"/>
            </a:xfrm>
          </p:grpSpPr>
          <p:sp>
            <p:nvSpPr>
              <p:cNvPr id="27" name="Rectangle 26"/>
              <p:cNvSpPr/>
              <p:nvPr/>
            </p:nvSpPr>
            <p:spPr>
              <a:xfrm>
                <a:off x="7498080" y="1709014"/>
                <a:ext cx="1188720" cy="1034186"/>
              </a:xfrm>
              <a:prstGeom prst="rect">
                <a:avLst/>
              </a:prstGeom>
              <a:solidFill>
                <a:srgbClr val="343A43"/>
              </a:solidFill>
              <a:ln w="19050">
                <a:solidFill>
                  <a:srgbClr val="F28C28"/>
                </a:solidFill>
              </a:ln>
            </p:spPr>
            <p:txBody>
              <a:bodyPr rtlCol="0" anchor="ctr"/>
              <a:lstStyle/>
              <a:p>
                <a:pPr algn="ctr"/>
                <a:endParaRPr/>
              </a:p>
            </p:txBody>
          </p:sp>
          <p:sp>
            <p:nvSpPr>
              <p:cNvPr id="28" name="Freeform 27"/>
              <p:cNvSpPr/>
              <p:nvPr/>
            </p:nvSpPr>
            <p:spPr>
              <a:xfrm>
                <a:off x="7424928" y="1417320"/>
                <a:ext cx="1335024" cy="318211"/>
              </a:xfrm>
              <a:custGeom>
                <a:avLst/>
                <a:gdLst/>
                <a:ahLst/>
                <a:cxnLst/>
                <a:rect l="l" t="t" r="r" b="b"/>
                <a:pathLst>
                  <a:path w="1335024" h="318211">
                    <a:moveTo>
                      <a:pt x="0" y="318211"/>
                    </a:moveTo>
                    <a:lnTo>
                      <a:pt x="667512" y="0"/>
                    </a:lnTo>
                    <a:lnTo>
                      <a:pt x="1335024" y="318211"/>
                    </a:lnTo>
                    <a:close/>
                  </a:path>
                </a:pathLst>
              </a:custGeom>
              <a:solidFill>
                <a:srgbClr val="4A515B"/>
              </a:solidFill>
              <a:ln w="19050">
                <a:solidFill>
                  <a:srgbClr val="F28C28"/>
                </a:solidFill>
              </a:ln>
            </p:spPr>
            <p:txBody>
              <a:bodyPr rtlCol="0" anchor="ctr"/>
              <a:lstStyle/>
              <a:p>
                <a:pPr algn="ctr"/>
                <a:endParaRPr/>
              </a:p>
            </p:txBody>
          </p:sp>
          <p:sp>
            <p:nvSpPr>
              <p:cNvPr id="29" name="Rectangle 28"/>
              <p:cNvSpPr/>
              <p:nvPr/>
            </p:nvSpPr>
            <p:spPr>
              <a:xfrm>
                <a:off x="7616952" y="1894637"/>
                <a:ext cx="950976" cy="291694"/>
              </a:xfrm>
              <a:prstGeom prst="rect">
                <a:avLst/>
              </a:prstGeom>
              <a:solidFill>
                <a:srgbClr val="4DA3FF">
                  <a:alpha val="55000"/>
                </a:srgbClr>
              </a:solidFill>
              <a:ln w="12700">
                <a:solidFill>
                  <a:srgbClr val="E8E8E8"/>
                </a:solidFill>
              </a:ln>
            </p:spPr>
            <p:txBody>
              <a:bodyPr rtlCol="0" anchor="ctr"/>
              <a:lstStyle/>
              <a:p>
                <a:pPr algn="ctr"/>
                <a:endParaRPr/>
              </a:p>
            </p:txBody>
          </p:sp>
          <p:cxnSp>
            <p:nvCxnSpPr>
              <p:cNvPr id="30" name="Connector 29"/>
              <p:cNvCxnSpPr/>
              <p:nvPr/>
            </p:nvCxnSpPr>
            <p:spPr>
              <a:xfrm>
                <a:off x="7854696" y="1894637"/>
                <a:ext cx="0" cy="291693"/>
              </a:xfrm>
              <a:prstGeom prst="line">
                <a:avLst/>
              </a:prstGeom>
              <a:ln w="12700">
                <a:solidFill>
                  <a:srgbClr val="E8E8E8"/>
                </a:solidFill>
              </a:ln>
            </p:spPr>
          </p:cxnSp>
          <p:cxnSp>
            <p:nvCxnSpPr>
              <p:cNvPr id="31" name="Connector 30"/>
              <p:cNvCxnSpPr/>
              <p:nvPr/>
            </p:nvCxnSpPr>
            <p:spPr>
              <a:xfrm>
                <a:off x="8092440" y="1894637"/>
                <a:ext cx="0" cy="291693"/>
              </a:xfrm>
              <a:prstGeom prst="line">
                <a:avLst/>
              </a:prstGeom>
              <a:ln w="12700">
                <a:solidFill>
                  <a:srgbClr val="E8E8E8"/>
                </a:solidFill>
              </a:ln>
            </p:spPr>
          </p:cxnSp>
          <p:cxnSp>
            <p:nvCxnSpPr>
              <p:cNvPr id="32" name="Connector 31"/>
              <p:cNvCxnSpPr/>
              <p:nvPr/>
            </p:nvCxnSpPr>
            <p:spPr>
              <a:xfrm>
                <a:off x="8330184" y="1894637"/>
                <a:ext cx="0" cy="291693"/>
              </a:xfrm>
              <a:prstGeom prst="line">
                <a:avLst/>
              </a:prstGeom>
              <a:ln w="12700">
                <a:solidFill>
                  <a:srgbClr val="E8E8E8"/>
                </a:solidFill>
              </a:ln>
            </p:spPr>
          </p:cxnSp>
        </p:grpSp>
        <p:grpSp>
          <p:nvGrpSpPr>
            <p:cNvPr id="33" name="Signal (stop, stop)" descr="A semaphore signal post with its arm flat (stop)."/>
            <p:cNvGrpSpPr/>
            <p:nvPr/>
          </p:nvGrpSpPr>
          <p:grpSpPr>
            <a:xfrm>
              <a:off x="8991752" y="3154680"/>
              <a:ext cx="819760" cy="905256"/>
              <a:chOff x="8991752" y="3154680"/>
              <a:chExt cx="819760" cy="905256"/>
            </a:xfrm>
          </p:grpSpPr>
          <p:sp>
            <p:nvSpPr>
              <p:cNvPr id="34" name="Rectangle 33"/>
              <p:cNvSpPr/>
              <p:nvPr/>
            </p:nvSpPr>
            <p:spPr>
              <a:xfrm>
                <a:off x="9111996" y="3994099"/>
                <a:ext cx="246888" cy="65837"/>
              </a:xfrm>
              <a:prstGeom prst="rect">
                <a:avLst/>
              </a:prstGeom>
              <a:solidFill>
                <a:srgbClr val="9AA0A6"/>
              </a:solidFill>
              <a:ln>
                <a:noFill/>
              </a:ln>
            </p:spPr>
            <p:txBody>
              <a:bodyPr rtlCol="0" anchor="ctr"/>
              <a:lstStyle/>
              <a:p>
                <a:pPr algn="ctr"/>
                <a:endParaRPr/>
              </a:p>
            </p:txBody>
          </p:sp>
          <p:sp>
            <p:nvSpPr>
              <p:cNvPr id="35" name="Rectangle 34"/>
              <p:cNvSpPr/>
              <p:nvPr/>
            </p:nvSpPr>
            <p:spPr>
              <a:xfrm>
                <a:off x="9186062" y="3154680"/>
                <a:ext cx="98755" cy="839419"/>
              </a:xfrm>
              <a:prstGeom prst="rect">
                <a:avLst/>
              </a:prstGeom>
              <a:solidFill>
                <a:srgbClr val="E8E8E8"/>
              </a:solidFill>
              <a:ln>
                <a:noFill/>
              </a:ln>
            </p:spPr>
            <p:txBody>
              <a:bodyPr rtlCol="0" anchor="ctr"/>
              <a:lstStyle/>
              <a:p>
                <a:pPr algn="ctr"/>
                <a:endParaRPr/>
              </a:p>
            </p:txBody>
          </p:sp>
          <p:sp>
            <p:nvSpPr>
              <p:cNvPr id="36" name="Freeform 35"/>
              <p:cNvSpPr/>
              <p:nvPr/>
            </p:nvSpPr>
            <p:spPr>
              <a:xfrm>
                <a:off x="9235440" y="3179369"/>
                <a:ext cx="576072" cy="115214"/>
              </a:xfrm>
              <a:custGeom>
                <a:avLst/>
                <a:gdLst/>
                <a:ahLst/>
                <a:cxnLst/>
                <a:rect l="l" t="t" r="r" b="b"/>
                <a:pathLst>
                  <a:path w="576072" h="115214">
                    <a:moveTo>
                      <a:pt x="0" y="0"/>
                    </a:moveTo>
                    <a:lnTo>
                      <a:pt x="576072" y="0"/>
                    </a:lnTo>
                    <a:lnTo>
                      <a:pt x="576072" y="115214"/>
                    </a:lnTo>
                    <a:lnTo>
                      <a:pt x="0" y="115214"/>
                    </a:lnTo>
                    <a:close/>
                  </a:path>
                </a:pathLst>
              </a:custGeom>
              <a:solidFill>
                <a:srgbClr val="E5484D"/>
              </a:solidFill>
              <a:ln>
                <a:noFill/>
              </a:ln>
            </p:spPr>
            <p:txBody>
              <a:bodyPr rtlCol="0" anchor="ctr"/>
              <a:lstStyle/>
              <a:p>
                <a:pPr algn="ctr"/>
                <a:endParaRPr/>
              </a:p>
            </p:txBody>
          </p:sp>
          <p:sp>
            <p:nvSpPr>
              <p:cNvPr id="37" name="Freeform 36"/>
              <p:cNvSpPr/>
              <p:nvPr/>
            </p:nvSpPr>
            <p:spPr>
              <a:xfrm>
                <a:off x="9523476" y="3179369"/>
                <a:ext cx="90526" cy="115214"/>
              </a:xfrm>
              <a:custGeom>
                <a:avLst/>
                <a:gdLst/>
                <a:ahLst/>
                <a:cxnLst/>
                <a:rect l="l" t="t" r="r" b="b"/>
                <a:pathLst>
                  <a:path w="90526" h="115214">
                    <a:moveTo>
                      <a:pt x="0" y="0"/>
                    </a:moveTo>
                    <a:lnTo>
                      <a:pt x="90526" y="0"/>
                    </a:lnTo>
                    <a:lnTo>
                      <a:pt x="90526" y="115214"/>
                    </a:lnTo>
                    <a:lnTo>
                      <a:pt x="0" y="115214"/>
                    </a:lnTo>
                    <a:close/>
                  </a:path>
                </a:pathLst>
              </a:custGeom>
              <a:solidFill>
                <a:srgbClr val="FFFFFF"/>
              </a:solidFill>
              <a:ln>
                <a:noFill/>
              </a:ln>
            </p:spPr>
            <p:txBody>
              <a:bodyPr rtlCol="0" anchor="ctr"/>
              <a:lstStyle/>
              <a:p>
                <a:pPr algn="ctr"/>
                <a:endParaRPr/>
              </a:p>
            </p:txBody>
          </p:sp>
          <p:sp>
            <p:nvSpPr>
              <p:cNvPr id="38" name="Oval 37"/>
              <p:cNvSpPr/>
              <p:nvPr/>
            </p:nvSpPr>
            <p:spPr>
              <a:xfrm>
                <a:off x="9192920" y="3194456"/>
                <a:ext cx="85039" cy="85039"/>
              </a:xfrm>
              <a:prstGeom prst="ellipse">
                <a:avLst/>
              </a:prstGeom>
              <a:solidFill>
                <a:srgbClr val="1B1D21"/>
              </a:solidFill>
              <a:ln w="9525">
                <a:solidFill>
                  <a:srgbClr val="FFFFFF"/>
                </a:solidFill>
              </a:ln>
            </p:spPr>
            <p:txBody>
              <a:bodyPr rtlCol="0" anchor="ctr"/>
              <a:lstStyle/>
              <a:p>
                <a:pPr algn="ctr"/>
                <a:endParaRPr/>
              </a:p>
            </p:txBody>
          </p:sp>
          <p:sp>
            <p:nvSpPr>
              <p:cNvPr id="39" name="Oval 38"/>
              <p:cNvSpPr/>
              <p:nvPr/>
            </p:nvSpPr>
            <p:spPr>
              <a:xfrm>
                <a:off x="8991752" y="3157880"/>
                <a:ext cx="158191" cy="158191"/>
              </a:xfrm>
              <a:prstGeom prst="ellipse">
                <a:avLst/>
              </a:prstGeom>
              <a:solidFill>
                <a:srgbClr val="E5484D"/>
              </a:solidFill>
              <a:ln w="12700">
                <a:solidFill>
                  <a:srgbClr val="FFFFFF"/>
                </a:solidFill>
              </a:ln>
            </p:spPr>
            <p:txBody>
              <a:bodyPr rtlCol="0" anchor="ctr"/>
              <a:lstStyle/>
              <a:p>
                <a:pPr algn="ctr"/>
                <a:endParaRPr/>
              </a:p>
            </p:txBody>
          </p:sp>
        </p:grpSp>
        <p:sp>
          <p:nvSpPr>
            <p:cNvPr id="40" name="Rod"/>
            <p:cNvSpPr/>
            <p:nvPr/>
          </p:nvSpPr>
          <p:spPr>
            <a:xfrm>
              <a:off x="8686800" y="2468880"/>
              <a:ext cx="228600" cy="1554480"/>
            </a:xfrm>
            <a:custGeom>
              <a:avLst/>
              <a:gdLst/>
              <a:ahLst/>
              <a:cxnLst/>
              <a:rect l="l" t="t" r="r" b="b"/>
              <a:pathLst>
                <a:path w="228600" h="1554480">
                  <a:moveTo>
                    <a:pt x="0" y="0"/>
                  </a:moveTo>
                  <a:lnTo>
                    <a:pt x="228600" y="0"/>
                  </a:lnTo>
                  <a:lnTo>
                    <a:pt x="228600" y="1554480"/>
                  </a:lnTo>
                </a:path>
              </a:pathLst>
            </a:custGeom>
            <a:noFill/>
            <a:ln w="28575">
              <a:solidFill>
                <a:srgbClr val="F28C28"/>
              </a:solidFill>
              <a:prstDash val="dash"/>
            </a:ln>
          </p:spPr>
          <p:txBody>
            <a:bodyPr rtlCol="0" anchor="ctr"/>
            <a:lstStyle/>
            <a:p>
              <a:pPr algn="ctr"/>
              <a:endParaRPr/>
            </a:p>
          </p:txBody>
        </p:sp>
        <p:grpSp>
          <p:nvGrpSpPr>
            <p:cNvPr id="41" name="Signal (stop, clear)" descr="A semaphore signal post with its arm raised (clear)."/>
            <p:cNvGrpSpPr/>
            <p:nvPr/>
          </p:nvGrpSpPr>
          <p:grpSpPr>
            <a:xfrm>
              <a:off x="9906152" y="2788897"/>
              <a:ext cx="691767" cy="1271039"/>
              <a:chOff x="9906152" y="2788897"/>
              <a:chExt cx="691767" cy="1271039"/>
            </a:xfrm>
          </p:grpSpPr>
          <p:sp>
            <p:nvSpPr>
              <p:cNvPr id="42" name="Rectangle 41"/>
              <p:cNvSpPr/>
              <p:nvPr/>
            </p:nvSpPr>
            <p:spPr>
              <a:xfrm>
                <a:off x="10026396" y="3994099"/>
                <a:ext cx="246888" cy="65837"/>
              </a:xfrm>
              <a:prstGeom prst="rect">
                <a:avLst/>
              </a:prstGeom>
              <a:solidFill>
                <a:srgbClr val="9AA0A6"/>
              </a:solidFill>
              <a:ln>
                <a:noFill/>
              </a:ln>
            </p:spPr>
            <p:txBody>
              <a:bodyPr rtlCol="0" anchor="ctr"/>
              <a:lstStyle/>
              <a:p>
                <a:pPr algn="ctr"/>
                <a:endParaRPr/>
              </a:p>
            </p:txBody>
          </p:sp>
          <p:sp>
            <p:nvSpPr>
              <p:cNvPr id="43" name="Rectangle 42"/>
              <p:cNvSpPr/>
              <p:nvPr/>
            </p:nvSpPr>
            <p:spPr>
              <a:xfrm>
                <a:off x="10100462" y="3154680"/>
                <a:ext cx="98755" cy="839419"/>
              </a:xfrm>
              <a:prstGeom prst="rect">
                <a:avLst/>
              </a:prstGeom>
              <a:solidFill>
                <a:srgbClr val="E8E8E8"/>
              </a:solidFill>
              <a:ln>
                <a:noFill/>
              </a:ln>
            </p:spPr>
            <p:txBody>
              <a:bodyPr rtlCol="0" anchor="ctr"/>
              <a:lstStyle/>
              <a:p>
                <a:pPr algn="ctr"/>
                <a:endParaRPr/>
              </a:p>
            </p:txBody>
          </p:sp>
          <p:sp>
            <p:nvSpPr>
              <p:cNvPr id="44" name="Freeform 43"/>
              <p:cNvSpPr/>
              <p:nvPr/>
            </p:nvSpPr>
            <p:spPr>
              <a:xfrm>
                <a:off x="10109106" y="2788897"/>
                <a:ext cx="488813" cy="488813"/>
              </a:xfrm>
              <a:custGeom>
                <a:avLst/>
                <a:gdLst/>
                <a:ahLst/>
                <a:cxnLst/>
                <a:rect l="l" t="t" r="r" b="b"/>
                <a:pathLst>
                  <a:path w="488813" h="488813">
                    <a:moveTo>
                      <a:pt x="0" y="407345"/>
                    </a:moveTo>
                    <a:lnTo>
                      <a:pt x="407344" y="0"/>
                    </a:lnTo>
                    <a:lnTo>
                      <a:pt x="488813" y="81469"/>
                    </a:lnTo>
                    <a:lnTo>
                      <a:pt x="81468" y="488813"/>
                    </a:lnTo>
                    <a:close/>
                  </a:path>
                </a:pathLst>
              </a:custGeom>
              <a:solidFill>
                <a:srgbClr val="E5484D"/>
              </a:solidFill>
              <a:ln>
                <a:noFill/>
              </a:ln>
            </p:spPr>
            <p:txBody>
              <a:bodyPr rtlCol="0" anchor="ctr"/>
              <a:lstStyle/>
              <a:p>
                <a:pPr algn="ctr"/>
                <a:endParaRPr/>
              </a:p>
            </p:txBody>
          </p:sp>
          <p:sp>
            <p:nvSpPr>
              <p:cNvPr id="45" name="Freeform 44"/>
              <p:cNvSpPr/>
              <p:nvPr/>
            </p:nvSpPr>
            <p:spPr>
              <a:xfrm>
                <a:off x="10312778" y="2928558"/>
                <a:ext cx="145480" cy="145480"/>
              </a:xfrm>
              <a:custGeom>
                <a:avLst/>
                <a:gdLst/>
                <a:ahLst/>
                <a:cxnLst/>
                <a:rect l="l" t="t" r="r" b="b"/>
                <a:pathLst>
                  <a:path w="145480" h="145480">
                    <a:moveTo>
                      <a:pt x="0" y="64011"/>
                    </a:moveTo>
                    <a:lnTo>
                      <a:pt x="64011" y="0"/>
                    </a:lnTo>
                    <a:lnTo>
                      <a:pt x="145480" y="81469"/>
                    </a:lnTo>
                    <a:lnTo>
                      <a:pt x="81469" y="145480"/>
                    </a:lnTo>
                    <a:close/>
                  </a:path>
                </a:pathLst>
              </a:custGeom>
              <a:solidFill>
                <a:srgbClr val="FFFFFF"/>
              </a:solidFill>
              <a:ln>
                <a:noFill/>
              </a:ln>
            </p:spPr>
            <p:txBody>
              <a:bodyPr rtlCol="0" anchor="ctr"/>
              <a:lstStyle/>
              <a:p>
                <a:pPr algn="ctr"/>
                <a:endParaRPr/>
              </a:p>
            </p:txBody>
          </p:sp>
          <p:sp>
            <p:nvSpPr>
              <p:cNvPr id="46" name="Oval 45"/>
              <p:cNvSpPr/>
              <p:nvPr/>
            </p:nvSpPr>
            <p:spPr>
              <a:xfrm>
                <a:off x="10107320" y="3194456"/>
                <a:ext cx="85039" cy="85039"/>
              </a:xfrm>
              <a:prstGeom prst="ellipse">
                <a:avLst/>
              </a:prstGeom>
              <a:solidFill>
                <a:srgbClr val="1B1D21"/>
              </a:solidFill>
              <a:ln w="9525">
                <a:solidFill>
                  <a:srgbClr val="FFFFFF"/>
                </a:solidFill>
              </a:ln>
            </p:spPr>
            <p:txBody>
              <a:bodyPr rtlCol="0" anchor="ctr"/>
              <a:lstStyle/>
              <a:p>
                <a:pPr algn="ctr"/>
                <a:endParaRPr/>
              </a:p>
            </p:txBody>
          </p:sp>
          <p:sp>
            <p:nvSpPr>
              <p:cNvPr id="47" name="Oval 46"/>
              <p:cNvSpPr/>
              <p:nvPr/>
            </p:nvSpPr>
            <p:spPr>
              <a:xfrm>
                <a:off x="9906152" y="3157880"/>
                <a:ext cx="158191" cy="158191"/>
              </a:xfrm>
              <a:prstGeom prst="ellipse">
                <a:avLst/>
              </a:prstGeom>
              <a:solidFill>
                <a:srgbClr val="3FB950"/>
              </a:solidFill>
              <a:ln w="12700">
                <a:solidFill>
                  <a:srgbClr val="FFFFFF"/>
                </a:solidFill>
              </a:ln>
            </p:spPr>
            <p:txBody>
              <a:bodyPr rtlCol="0" anchor="ctr"/>
              <a:lstStyle/>
              <a:p>
                <a:pPr algn="ctr"/>
                <a:endParaRPr/>
              </a:p>
            </p:txBody>
          </p:sp>
        </p:grpSp>
        <p:sp>
          <p:nvSpPr>
            <p:cNvPr id="48" name="Rod"/>
            <p:cNvSpPr/>
            <p:nvPr/>
          </p:nvSpPr>
          <p:spPr>
            <a:xfrm>
              <a:off x="8686800" y="2286000"/>
              <a:ext cx="1143000" cy="1737360"/>
            </a:xfrm>
            <a:custGeom>
              <a:avLst/>
              <a:gdLst/>
              <a:ahLst/>
              <a:cxnLst/>
              <a:rect l="l" t="t" r="r" b="b"/>
              <a:pathLst>
                <a:path w="1143000" h="1737360">
                  <a:moveTo>
                    <a:pt x="0" y="0"/>
                  </a:moveTo>
                  <a:lnTo>
                    <a:pt x="1143000" y="0"/>
                  </a:lnTo>
                  <a:lnTo>
                    <a:pt x="1143000" y="1737360"/>
                  </a:lnTo>
                </a:path>
              </a:pathLst>
            </a:custGeom>
            <a:noFill/>
            <a:ln w="28575">
              <a:solidFill>
                <a:srgbClr val="F28C28"/>
              </a:solidFill>
              <a:prstDash val="dash"/>
            </a:ln>
          </p:spPr>
          <p:txBody>
            <a:bodyPr rtlCol="0" anchor="ctr"/>
            <a:lstStyle/>
            <a:p>
              <a:pPr algn="ctr"/>
              <a:endParaRPr/>
            </a:p>
          </p:txBody>
        </p:sp>
        <p:grpSp>
          <p:nvGrpSpPr>
            <p:cNvPr id="49" name="Signal (stop, clear)" descr="A semaphore signal post with its arm raised (clear)."/>
            <p:cNvGrpSpPr/>
            <p:nvPr/>
          </p:nvGrpSpPr>
          <p:grpSpPr>
            <a:xfrm>
              <a:off x="10729112" y="2788897"/>
              <a:ext cx="691767" cy="1271039"/>
              <a:chOff x="10729112" y="2788897"/>
              <a:chExt cx="691767" cy="1271039"/>
            </a:xfrm>
          </p:grpSpPr>
          <p:sp>
            <p:nvSpPr>
              <p:cNvPr id="50" name="Rectangle 49"/>
              <p:cNvSpPr/>
              <p:nvPr/>
            </p:nvSpPr>
            <p:spPr>
              <a:xfrm>
                <a:off x="10849356" y="3994099"/>
                <a:ext cx="246888" cy="65837"/>
              </a:xfrm>
              <a:prstGeom prst="rect">
                <a:avLst/>
              </a:prstGeom>
              <a:solidFill>
                <a:srgbClr val="9AA0A6"/>
              </a:solidFill>
              <a:ln>
                <a:noFill/>
              </a:ln>
            </p:spPr>
            <p:txBody>
              <a:bodyPr rtlCol="0" anchor="ctr"/>
              <a:lstStyle/>
              <a:p>
                <a:pPr algn="ctr"/>
                <a:endParaRPr/>
              </a:p>
            </p:txBody>
          </p:sp>
          <p:sp>
            <p:nvSpPr>
              <p:cNvPr id="51" name="Rectangle 50"/>
              <p:cNvSpPr/>
              <p:nvPr/>
            </p:nvSpPr>
            <p:spPr>
              <a:xfrm>
                <a:off x="10923422" y="3154680"/>
                <a:ext cx="98755" cy="839419"/>
              </a:xfrm>
              <a:prstGeom prst="rect">
                <a:avLst/>
              </a:prstGeom>
              <a:solidFill>
                <a:srgbClr val="E8E8E8"/>
              </a:solidFill>
              <a:ln>
                <a:noFill/>
              </a:ln>
            </p:spPr>
            <p:txBody>
              <a:bodyPr rtlCol="0" anchor="ctr"/>
              <a:lstStyle/>
              <a:p>
                <a:pPr algn="ctr"/>
                <a:endParaRPr/>
              </a:p>
            </p:txBody>
          </p:sp>
          <p:sp>
            <p:nvSpPr>
              <p:cNvPr id="52" name="Freeform 51"/>
              <p:cNvSpPr/>
              <p:nvPr/>
            </p:nvSpPr>
            <p:spPr>
              <a:xfrm>
                <a:off x="10932066" y="2788897"/>
                <a:ext cx="488813" cy="488813"/>
              </a:xfrm>
              <a:custGeom>
                <a:avLst/>
                <a:gdLst/>
                <a:ahLst/>
                <a:cxnLst/>
                <a:rect l="l" t="t" r="r" b="b"/>
                <a:pathLst>
                  <a:path w="488813" h="488813">
                    <a:moveTo>
                      <a:pt x="0" y="407345"/>
                    </a:moveTo>
                    <a:lnTo>
                      <a:pt x="407344" y="0"/>
                    </a:lnTo>
                    <a:lnTo>
                      <a:pt x="488813" y="81469"/>
                    </a:lnTo>
                    <a:lnTo>
                      <a:pt x="81468" y="488813"/>
                    </a:lnTo>
                    <a:close/>
                  </a:path>
                </a:pathLst>
              </a:custGeom>
              <a:solidFill>
                <a:srgbClr val="E5484D"/>
              </a:solidFill>
              <a:ln>
                <a:noFill/>
              </a:ln>
            </p:spPr>
            <p:txBody>
              <a:bodyPr rtlCol="0" anchor="ctr"/>
              <a:lstStyle/>
              <a:p>
                <a:pPr algn="ctr"/>
                <a:endParaRPr/>
              </a:p>
            </p:txBody>
          </p:sp>
          <p:sp>
            <p:nvSpPr>
              <p:cNvPr id="53" name="Freeform 52"/>
              <p:cNvSpPr/>
              <p:nvPr/>
            </p:nvSpPr>
            <p:spPr>
              <a:xfrm>
                <a:off x="11135738" y="2928558"/>
                <a:ext cx="145480" cy="145480"/>
              </a:xfrm>
              <a:custGeom>
                <a:avLst/>
                <a:gdLst/>
                <a:ahLst/>
                <a:cxnLst/>
                <a:rect l="l" t="t" r="r" b="b"/>
                <a:pathLst>
                  <a:path w="145480" h="145480">
                    <a:moveTo>
                      <a:pt x="0" y="64011"/>
                    </a:moveTo>
                    <a:lnTo>
                      <a:pt x="64011" y="0"/>
                    </a:lnTo>
                    <a:lnTo>
                      <a:pt x="145480" y="81469"/>
                    </a:lnTo>
                    <a:lnTo>
                      <a:pt x="81469" y="145480"/>
                    </a:lnTo>
                    <a:close/>
                  </a:path>
                </a:pathLst>
              </a:custGeom>
              <a:solidFill>
                <a:srgbClr val="FFFFFF"/>
              </a:solidFill>
              <a:ln>
                <a:noFill/>
              </a:ln>
            </p:spPr>
            <p:txBody>
              <a:bodyPr rtlCol="0" anchor="ctr"/>
              <a:lstStyle/>
              <a:p>
                <a:pPr algn="ctr"/>
                <a:endParaRPr/>
              </a:p>
            </p:txBody>
          </p:sp>
          <p:sp>
            <p:nvSpPr>
              <p:cNvPr id="54" name="Oval 53"/>
              <p:cNvSpPr/>
              <p:nvPr/>
            </p:nvSpPr>
            <p:spPr>
              <a:xfrm>
                <a:off x="10930280" y="3194456"/>
                <a:ext cx="85039" cy="85039"/>
              </a:xfrm>
              <a:prstGeom prst="ellipse">
                <a:avLst/>
              </a:prstGeom>
              <a:solidFill>
                <a:srgbClr val="1B1D21"/>
              </a:solidFill>
              <a:ln w="9525">
                <a:solidFill>
                  <a:srgbClr val="FFFFFF"/>
                </a:solidFill>
              </a:ln>
            </p:spPr>
            <p:txBody>
              <a:bodyPr rtlCol="0" anchor="ctr"/>
              <a:lstStyle/>
              <a:p>
                <a:pPr algn="ctr"/>
                <a:endParaRPr/>
              </a:p>
            </p:txBody>
          </p:sp>
          <p:sp>
            <p:nvSpPr>
              <p:cNvPr id="55" name="Oval 54"/>
              <p:cNvSpPr/>
              <p:nvPr/>
            </p:nvSpPr>
            <p:spPr>
              <a:xfrm>
                <a:off x="10729112" y="3157880"/>
                <a:ext cx="158191" cy="158191"/>
              </a:xfrm>
              <a:prstGeom prst="ellipse">
                <a:avLst/>
              </a:prstGeom>
              <a:solidFill>
                <a:srgbClr val="3FB950"/>
              </a:solidFill>
              <a:ln w="12700">
                <a:solidFill>
                  <a:srgbClr val="FFFFFF"/>
                </a:solidFill>
              </a:ln>
            </p:spPr>
            <p:txBody>
              <a:bodyPr rtlCol="0" anchor="ctr"/>
              <a:lstStyle/>
              <a:p>
                <a:pPr algn="ctr"/>
                <a:endParaRPr/>
              </a:p>
            </p:txBody>
          </p:sp>
        </p:grpSp>
        <p:sp>
          <p:nvSpPr>
            <p:cNvPr id="56" name="Rod"/>
            <p:cNvSpPr/>
            <p:nvPr/>
          </p:nvSpPr>
          <p:spPr>
            <a:xfrm>
              <a:off x="8686800" y="2103120"/>
              <a:ext cx="1965960" cy="1920240"/>
            </a:xfrm>
            <a:custGeom>
              <a:avLst/>
              <a:gdLst/>
              <a:ahLst/>
              <a:cxnLst/>
              <a:rect l="l" t="t" r="r" b="b"/>
              <a:pathLst>
                <a:path w="1965960" h="1920240">
                  <a:moveTo>
                    <a:pt x="0" y="0"/>
                  </a:moveTo>
                  <a:lnTo>
                    <a:pt x="1965960" y="0"/>
                  </a:lnTo>
                  <a:lnTo>
                    <a:pt x="1965960" y="1920240"/>
                  </a:lnTo>
                </a:path>
              </a:pathLst>
            </a:custGeom>
            <a:noFill/>
            <a:ln w="28575">
              <a:solidFill>
                <a:srgbClr val="F28C28"/>
              </a:solidFill>
              <a:prstDash val="dash"/>
            </a:ln>
          </p:spPr>
          <p:txBody>
            <a:bodyPr rtlCol="0" anchor="ctr"/>
            <a:lstStyle/>
            <a:p>
              <a:pPr algn="ctr"/>
              <a:endParaRPr/>
            </a:p>
          </p:txBody>
        </p:sp>
      </p:grpSp>
      <p:sp>
        <p:nvSpPr>
          <p:cNvPr id="57" name="TextBox 56"/>
          <p:cNvSpPr txBox="1"/>
          <p:nvPr/>
        </p:nvSpPr>
        <p:spPr>
          <a:xfrm>
            <a:off x="7589520" y="4526280"/>
            <a:ext cx="4050792" cy="777240"/>
          </a:xfrm>
          <a:prstGeom prst="rect">
            <a:avLst/>
          </a:prstGeom>
          <a:noFill/>
        </p:spPr>
        <p:txBody>
          <a:bodyPr wrap="square" lIns="18288" tIns="18288" rIns="18288" bIns="18288" anchor="t">
            <a:noAutofit/>
          </a:bodyPr>
          <a:lstStyle/>
          <a:p>
            <a:pPr algn="l"/>
            <a:r>
              <a:rPr lang="en-GB" sz="1600" b="0" i="0">
                <a:solidFill>
                  <a:srgbClr val="F2F2F2"/>
                </a:solidFill>
                <a:latin typeface="Arial"/>
              </a:rPr>
              <a:t>Visual layer only. Parts may twitch when a signal changes.</a:t>
            </a:r>
          </a:p>
        </p:txBody>
      </p:sp>
      <p:sp>
        <p:nvSpPr>
          <p:cNvPr id="58" name="Chip: Undecided (rod or wire look)" descr="Status tag: Undecided"/>
          <p:cNvSpPr/>
          <p:nvPr/>
        </p:nvSpPr>
        <p:spPr>
          <a:xfrm>
            <a:off x="7589520" y="5321808"/>
            <a:ext cx="4050792" cy="384048"/>
          </a:xfrm>
          <a:prstGeom prst="roundRect">
            <a:avLst>
              <a:gd name="adj" fmla="val 19047"/>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Rod or wire look: undecided (OQ04)</a:t>
            </a:r>
          </a:p>
        </p:txBody>
      </p:sp>
      <p:sp>
        <p:nvSpPr>
          <p:cNvPr id="59"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Rods and wires are drawn for you. They show which box controls which signal.</a:t>
            </a:r>
          </a:p>
        </p:txBody>
      </p:sp>
      <p:sp>
        <p:nvSpPr>
          <p:cNvPr id="60"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61"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20</a:t>
            </a:r>
          </a:p>
        </p:txBody>
      </p:sp>
    </p:spTree>
    <p:extLst>
      <p:ext uri="{BB962C8B-B14F-4D97-AF65-F5344CB8AC3E}">
        <p14:creationId xmlns:p14="http://schemas.microsoft.com/office/powerpoint/2010/main" val="41376362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25"/>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nodeType="withEffect">
                                  <p:stCondLst>
                                    <p:cond delay="675"/>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9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1125"/>
                                  </p:stCondLst>
                                  <p:childTnLst>
                                    <p:set>
                                      <p:cBhvr>
                                        <p:cTn id="21" dur="1" fill="hold">
                                          <p:stCondLst>
                                            <p:cond delay="0"/>
                                          </p:stCondLst>
                                        </p:cTn>
                                        <p:tgtEl>
                                          <p:spTgt spid="57"/>
                                        </p:tgtEl>
                                        <p:attrNameLst>
                                          <p:attrName>style.visibility</p:attrName>
                                        </p:attrNameLst>
                                      </p:cBhvr>
                                      <p:to>
                                        <p:strVal val="visible"/>
                                      </p:to>
                                    </p:set>
                                    <p:animEffect transition="in" filter="fade">
                                      <p:cBhvr>
                                        <p:cTn id="22" dur="500"/>
                                        <p:tgtEl>
                                          <p:spTgt spid="57"/>
                                        </p:tgtEl>
                                      </p:cBhvr>
                                    </p:animEffect>
                                  </p:childTnLst>
                                </p:cTn>
                              </p:par>
                              <p:par>
                                <p:cTn id="23" presetID="10" presetClass="entr" presetSubtype="0" fill="hold" nodeType="withEffect">
                                  <p:stCondLst>
                                    <p:cond delay="135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par>
                                <p:cTn id="26" presetID="10" presetClass="entr" presetSubtype="0" fill="hold" nodeType="withEffect">
                                  <p:stCondLst>
                                    <p:cond delay="1575"/>
                                  </p:stCondLst>
                                  <p:childTnLst>
                                    <p:set>
                                      <p:cBhvr>
                                        <p:cTn id="27" dur="1" fill="hold">
                                          <p:stCondLst>
                                            <p:cond delay="0"/>
                                          </p:stCondLst>
                                        </p:cTn>
                                        <p:tgtEl>
                                          <p:spTgt spid="60"/>
                                        </p:tgtEl>
                                        <p:attrNameLst>
                                          <p:attrName>style.visibility</p:attrName>
                                        </p:attrNameLst>
                                      </p:cBhvr>
                                      <p:to>
                                        <p:strVal val="visible"/>
                                      </p:to>
                                    </p:set>
                                    <p:animEffect transition="in" filter="fade">
                                      <p:cBhvr>
                                        <p:cTn id="28"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The box screen</a:t>
            </a:r>
          </a:p>
        </p:txBody>
      </p:sp>
      <p:sp>
        <p:nvSpPr>
          <p:cNvPr id="3" name="Chip: Proposed" descr="Status tag: Proposed"/>
          <p:cNvSpPr/>
          <p:nvPr/>
        </p:nvSpPr>
        <p:spPr>
          <a:xfrm>
            <a:off x="10104120" y="457200"/>
            <a:ext cx="1508760" cy="365760"/>
          </a:xfrm>
          <a:prstGeom prst="roundRect">
            <a:avLst>
              <a:gd name="adj" fmla="val 20000"/>
            </a:avLst>
          </a:prstGeom>
          <a:solidFill>
            <a:srgbClr val="B084F5"/>
          </a:solidFill>
          <a:ln>
            <a:noFill/>
          </a:ln>
        </p:spPr>
        <p:txBody>
          <a:bodyPr wrap="none" lIns="27432" tIns="9144" rIns="27432" bIns="9144" rtlCol="0" anchor="ctr">
            <a:noAutofit/>
          </a:bodyPr>
          <a:lstStyle/>
          <a:p>
            <a:pPr algn="ctr"/>
            <a:r>
              <a:rPr lang="en-GB" sz="1400" b="1" i="0">
                <a:solidFill>
                  <a:srgbClr val="101418"/>
                </a:solidFill>
                <a:latin typeface="Arial"/>
              </a:rPr>
              <a:t>PROPOSED</a:t>
            </a:r>
          </a:p>
        </p:txBody>
      </p:sp>
      <p:grpSp>
        <p:nvGrpSpPr>
          <p:cNvPr id="4" name="Mock-up of a signal box screen" descr="A mock-up panel headed Signal box: Station A. Six signals, S1 to S6, each with a STOP or CLEAR label. A bar shows signals used, 6 of 8, and a line shows reach, 1,200 metres. Example numbers only."/>
          <p:cNvGrpSpPr/>
          <p:nvPr/>
        </p:nvGrpSpPr>
        <p:grpSpPr>
          <a:xfrm>
            <a:off x="3538728" y="1371600"/>
            <a:ext cx="5120640" cy="4023360"/>
            <a:chOff x="3538728" y="1371600"/>
            <a:chExt cx="5120640" cy="4023360"/>
          </a:xfrm>
        </p:grpSpPr>
        <p:sp>
          <p:nvSpPr>
            <p:cNvPr id="5" name="Screen panel"/>
            <p:cNvSpPr/>
            <p:nvPr/>
          </p:nvSpPr>
          <p:spPr>
            <a:xfrm>
              <a:off x="3538728" y="1371600"/>
              <a:ext cx="5120640" cy="4023360"/>
            </a:xfrm>
            <a:prstGeom prst="roundRect">
              <a:avLst>
                <a:gd name="adj" fmla="val 3409"/>
              </a:avLst>
            </a:prstGeom>
            <a:solidFill>
              <a:srgbClr val="14171B"/>
            </a:solidFill>
            <a:ln w="25400">
              <a:solidFill>
                <a:srgbClr val="4A515B"/>
              </a:solidFill>
            </a:ln>
          </p:spPr>
          <p:txBody>
            <a:bodyPr rtlCol="0" anchor="ctr"/>
            <a:lstStyle/>
            <a:p>
              <a:pPr algn="ctr"/>
              <a:endParaRPr/>
            </a:p>
          </p:txBody>
        </p:sp>
        <p:sp>
          <p:nvSpPr>
            <p:cNvPr id="6" name="TextBox 5"/>
            <p:cNvSpPr txBox="1"/>
            <p:nvPr/>
          </p:nvSpPr>
          <p:spPr>
            <a:xfrm>
              <a:off x="3904488" y="1508760"/>
              <a:ext cx="4389120" cy="502920"/>
            </a:xfrm>
            <a:prstGeom prst="rect">
              <a:avLst/>
            </a:prstGeom>
            <a:noFill/>
          </p:spPr>
          <p:txBody>
            <a:bodyPr wrap="square" lIns="18288" tIns="18288" rIns="18288" bIns="18288" anchor="ctr">
              <a:noAutofit/>
            </a:bodyPr>
            <a:lstStyle/>
            <a:p>
              <a:pPr algn="l"/>
              <a:r>
                <a:rPr lang="en-GB" sz="2200" b="1" i="0">
                  <a:solidFill>
                    <a:srgbClr val="F28C28"/>
                  </a:solidFill>
                  <a:latin typeface="Arial"/>
                </a:rPr>
                <a:t>Signal box: Station A</a:t>
              </a:r>
            </a:p>
          </p:txBody>
        </p:sp>
        <p:cxnSp>
          <p:nvCxnSpPr>
            <p:cNvPr id="7" name="Connector 6"/>
            <p:cNvCxnSpPr/>
            <p:nvPr/>
          </p:nvCxnSpPr>
          <p:spPr>
            <a:xfrm>
              <a:off x="3904488" y="2057400"/>
              <a:ext cx="4389120" cy="0"/>
            </a:xfrm>
            <a:prstGeom prst="line">
              <a:avLst/>
            </a:prstGeom>
            <a:ln w="19050">
              <a:solidFill>
                <a:srgbClr val="4A515B"/>
              </a:solidFill>
            </a:ln>
          </p:spPr>
        </p:cxnSp>
        <p:sp>
          <p:nvSpPr>
            <p:cNvPr id="8" name="TextBox 7"/>
            <p:cNvSpPr txBox="1"/>
            <p:nvPr/>
          </p:nvSpPr>
          <p:spPr>
            <a:xfrm>
              <a:off x="3995928" y="2194560"/>
              <a:ext cx="731520" cy="329184"/>
            </a:xfrm>
            <a:prstGeom prst="rect">
              <a:avLst/>
            </a:prstGeom>
            <a:noFill/>
          </p:spPr>
          <p:txBody>
            <a:bodyPr wrap="square" lIns="18288" tIns="18288" rIns="18288" bIns="18288" anchor="ctr">
              <a:noAutofit/>
            </a:bodyPr>
            <a:lstStyle/>
            <a:p>
              <a:pPr algn="l"/>
              <a:r>
                <a:rPr lang="en-GB" sz="1800" b="1" i="0">
                  <a:solidFill>
                    <a:srgbClr val="F2F2F2"/>
                  </a:solidFill>
                  <a:latin typeface="Arial"/>
                </a:rPr>
                <a:t>S1</a:t>
              </a:r>
            </a:p>
          </p:txBody>
        </p:sp>
        <p:sp>
          <p:nvSpPr>
            <p:cNvPr id="9" name="State pill STOP"/>
            <p:cNvSpPr/>
            <p:nvPr/>
          </p:nvSpPr>
          <p:spPr>
            <a:xfrm>
              <a:off x="4818888" y="2212848"/>
              <a:ext cx="1188720" cy="292608"/>
            </a:xfrm>
            <a:prstGeom prst="roundRect">
              <a:avLst>
                <a:gd name="adj" fmla="val 50000"/>
              </a:avLst>
            </a:prstGeom>
            <a:solidFill>
              <a:srgbClr val="E5484D"/>
            </a:solidFill>
            <a:ln>
              <a:noFill/>
            </a:ln>
          </p:spPr>
          <p:txBody>
            <a:bodyPr wrap="square" lIns="18288" tIns="0" rIns="18288" bIns="0" rtlCol="0" anchor="ctr">
              <a:noAutofit/>
            </a:bodyPr>
            <a:lstStyle/>
            <a:p>
              <a:pPr algn="ctr"/>
              <a:r>
                <a:rPr lang="en-GB" sz="1400" b="1" i="0">
                  <a:solidFill>
                    <a:srgbClr val="101418"/>
                  </a:solidFill>
                  <a:latin typeface="Arial"/>
                </a:rPr>
                <a:t>STOP</a:t>
              </a:r>
            </a:p>
          </p:txBody>
        </p:sp>
        <p:sp>
          <p:nvSpPr>
            <p:cNvPr id="10" name="TextBox 9"/>
            <p:cNvSpPr txBox="1"/>
            <p:nvPr/>
          </p:nvSpPr>
          <p:spPr>
            <a:xfrm>
              <a:off x="3995928" y="2578608"/>
              <a:ext cx="731520" cy="329184"/>
            </a:xfrm>
            <a:prstGeom prst="rect">
              <a:avLst/>
            </a:prstGeom>
            <a:noFill/>
          </p:spPr>
          <p:txBody>
            <a:bodyPr wrap="square" lIns="18288" tIns="18288" rIns="18288" bIns="18288" anchor="ctr">
              <a:noAutofit/>
            </a:bodyPr>
            <a:lstStyle/>
            <a:p>
              <a:pPr algn="l"/>
              <a:r>
                <a:rPr lang="en-GB" sz="1800" b="1" i="0">
                  <a:solidFill>
                    <a:srgbClr val="F2F2F2"/>
                  </a:solidFill>
                  <a:latin typeface="Arial"/>
                </a:rPr>
                <a:t>S2</a:t>
              </a:r>
            </a:p>
          </p:txBody>
        </p:sp>
        <p:sp>
          <p:nvSpPr>
            <p:cNvPr id="11" name="State pill CLEAR"/>
            <p:cNvSpPr/>
            <p:nvPr/>
          </p:nvSpPr>
          <p:spPr>
            <a:xfrm>
              <a:off x="4818888" y="2596896"/>
              <a:ext cx="1188720" cy="292608"/>
            </a:xfrm>
            <a:prstGeom prst="roundRect">
              <a:avLst>
                <a:gd name="adj" fmla="val 50000"/>
              </a:avLst>
            </a:prstGeom>
            <a:solidFill>
              <a:srgbClr val="3FB950"/>
            </a:solidFill>
            <a:ln>
              <a:noFill/>
            </a:ln>
          </p:spPr>
          <p:txBody>
            <a:bodyPr wrap="square" lIns="18288" tIns="0" rIns="18288" bIns="0" rtlCol="0" anchor="ctr">
              <a:noAutofit/>
            </a:bodyPr>
            <a:lstStyle/>
            <a:p>
              <a:pPr algn="ctr"/>
              <a:r>
                <a:rPr lang="en-GB" sz="1400" b="1" i="0">
                  <a:solidFill>
                    <a:srgbClr val="101418"/>
                  </a:solidFill>
                  <a:latin typeface="Arial"/>
                </a:rPr>
                <a:t>CLEAR</a:t>
              </a:r>
            </a:p>
          </p:txBody>
        </p:sp>
        <p:sp>
          <p:nvSpPr>
            <p:cNvPr id="12" name="TextBox 11"/>
            <p:cNvSpPr txBox="1"/>
            <p:nvPr/>
          </p:nvSpPr>
          <p:spPr>
            <a:xfrm>
              <a:off x="3995928" y="2962656"/>
              <a:ext cx="731520" cy="329184"/>
            </a:xfrm>
            <a:prstGeom prst="rect">
              <a:avLst/>
            </a:prstGeom>
            <a:noFill/>
          </p:spPr>
          <p:txBody>
            <a:bodyPr wrap="square" lIns="18288" tIns="18288" rIns="18288" bIns="18288" anchor="ctr">
              <a:noAutofit/>
            </a:bodyPr>
            <a:lstStyle/>
            <a:p>
              <a:pPr algn="l"/>
              <a:r>
                <a:rPr lang="en-GB" sz="1800" b="1" i="0">
                  <a:solidFill>
                    <a:srgbClr val="F2F2F2"/>
                  </a:solidFill>
                  <a:latin typeface="Arial"/>
                </a:rPr>
                <a:t>S3</a:t>
              </a:r>
            </a:p>
          </p:txBody>
        </p:sp>
        <p:sp>
          <p:nvSpPr>
            <p:cNvPr id="13" name="State pill CLEAR"/>
            <p:cNvSpPr/>
            <p:nvPr/>
          </p:nvSpPr>
          <p:spPr>
            <a:xfrm>
              <a:off x="4818888" y="2980944"/>
              <a:ext cx="1188720" cy="292608"/>
            </a:xfrm>
            <a:prstGeom prst="roundRect">
              <a:avLst>
                <a:gd name="adj" fmla="val 50000"/>
              </a:avLst>
            </a:prstGeom>
            <a:solidFill>
              <a:srgbClr val="3FB950"/>
            </a:solidFill>
            <a:ln>
              <a:noFill/>
            </a:ln>
          </p:spPr>
          <p:txBody>
            <a:bodyPr wrap="square" lIns="18288" tIns="0" rIns="18288" bIns="0" rtlCol="0" anchor="ctr">
              <a:noAutofit/>
            </a:bodyPr>
            <a:lstStyle/>
            <a:p>
              <a:pPr algn="ctr"/>
              <a:r>
                <a:rPr lang="en-GB" sz="1400" b="1" i="0">
                  <a:solidFill>
                    <a:srgbClr val="101418"/>
                  </a:solidFill>
                  <a:latin typeface="Arial"/>
                </a:rPr>
                <a:t>CLEAR</a:t>
              </a:r>
            </a:p>
          </p:txBody>
        </p:sp>
        <p:sp>
          <p:nvSpPr>
            <p:cNvPr id="14" name="TextBox 13"/>
            <p:cNvSpPr txBox="1"/>
            <p:nvPr/>
          </p:nvSpPr>
          <p:spPr>
            <a:xfrm>
              <a:off x="3995928" y="3346704"/>
              <a:ext cx="731520" cy="329184"/>
            </a:xfrm>
            <a:prstGeom prst="rect">
              <a:avLst/>
            </a:prstGeom>
            <a:noFill/>
          </p:spPr>
          <p:txBody>
            <a:bodyPr wrap="square" lIns="18288" tIns="18288" rIns="18288" bIns="18288" anchor="ctr">
              <a:noAutofit/>
            </a:bodyPr>
            <a:lstStyle/>
            <a:p>
              <a:pPr algn="l"/>
              <a:r>
                <a:rPr lang="en-GB" sz="1800" b="1" i="0">
                  <a:solidFill>
                    <a:srgbClr val="F2F2F2"/>
                  </a:solidFill>
                  <a:latin typeface="Arial"/>
                </a:rPr>
                <a:t>S4</a:t>
              </a:r>
            </a:p>
          </p:txBody>
        </p:sp>
        <p:sp>
          <p:nvSpPr>
            <p:cNvPr id="15" name="State pill STOP"/>
            <p:cNvSpPr/>
            <p:nvPr/>
          </p:nvSpPr>
          <p:spPr>
            <a:xfrm>
              <a:off x="4818888" y="3364992"/>
              <a:ext cx="1188720" cy="292608"/>
            </a:xfrm>
            <a:prstGeom prst="roundRect">
              <a:avLst>
                <a:gd name="adj" fmla="val 50000"/>
              </a:avLst>
            </a:prstGeom>
            <a:solidFill>
              <a:srgbClr val="E5484D"/>
            </a:solidFill>
            <a:ln>
              <a:noFill/>
            </a:ln>
          </p:spPr>
          <p:txBody>
            <a:bodyPr wrap="square" lIns="18288" tIns="0" rIns="18288" bIns="0" rtlCol="0" anchor="ctr">
              <a:noAutofit/>
            </a:bodyPr>
            <a:lstStyle/>
            <a:p>
              <a:pPr algn="ctr"/>
              <a:r>
                <a:rPr lang="en-GB" sz="1400" b="1" i="0">
                  <a:solidFill>
                    <a:srgbClr val="101418"/>
                  </a:solidFill>
                  <a:latin typeface="Arial"/>
                </a:rPr>
                <a:t>STOP</a:t>
              </a:r>
            </a:p>
          </p:txBody>
        </p:sp>
        <p:sp>
          <p:nvSpPr>
            <p:cNvPr id="16" name="TextBox 15"/>
            <p:cNvSpPr txBox="1"/>
            <p:nvPr/>
          </p:nvSpPr>
          <p:spPr>
            <a:xfrm>
              <a:off x="3995928" y="3730752"/>
              <a:ext cx="731520" cy="329184"/>
            </a:xfrm>
            <a:prstGeom prst="rect">
              <a:avLst/>
            </a:prstGeom>
            <a:noFill/>
          </p:spPr>
          <p:txBody>
            <a:bodyPr wrap="square" lIns="18288" tIns="18288" rIns="18288" bIns="18288" anchor="ctr">
              <a:noAutofit/>
            </a:bodyPr>
            <a:lstStyle/>
            <a:p>
              <a:pPr algn="l"/>
              <a:r>
                <a:rPr lang="en-GB" sz="1800" b="1" i="0">
                  <a:solidFill>
                    <a:srgbClr val="F2F2F2"/>
                  </a:solidFill>
                  <a:latin typeface="Arial"/>
                </a:rPr>
                <a:t>S5</a:t>
              </a:r>
            </a:p>
          </p:txBody>
        </p:sp>
        <p:sp>
          <p:nvSpPr>
            <p:cNvPr id="17" name="State pill CLEAR"/>
            <p:cNvSpPr/>
            <p:nvPr/>
          </p:nvSpPr>
          <p:spPr>
            <a:xfrm>
              <a:off x="4818888" y="3749040"/>
              <a:ext cx="1188720" cy="292608"/>
            </a:xfrm>
            <a:prstGeom prst="roundRect">
              <a:avLst>
                <a:gd name="adj" fmla="val 50000"/>
              </a:avLst>
            </a:prstGeom>
            <a:solidFill>
              <a:srgbClr val="3FB950"/>
            </a:solidFill>
            <a:ln>
              <a:noFill/>
            </a:ln>
          </p:spPr>
          <p:txBody>
            <a:bodyPr wrap="square" lIns="18288" tIns="0" rIns="18288" bIns="0" rtlCol="0" anchor="ctr">
              <a:noAutofit/>
            </a:bodyPr>
            <a:lstStyle/>
            <a:p>
              <a:pPr algn="ctr"/>
              <a:r>
                <a:rPr lang="en-GB" sz="1400" b="1" i="0">
                  <a:solidFill>
                    <a:srgbClr val="101418"/>
                  </a:solidFill>
                  <a:latin typeface="Arial"/>
                </a:rPr>
                <a:t>CLEAR</a:t>
              </a:r>
            </a:p>
          </p:txBody>
        </p:sp>
        <p:sp>
          <p:nvSpPr>
            <p:cNvPr id="18" name="TextBox 17"/>
            <p:cNvSpPr txBox="1"/>
            <p:nvPr/>
          </p:nvSpPr>
          <p:spPr>
            <a:xfrm>
              <a:off x="3995928" y="4114800"/>
              <a:ext cx="731520" cy="329184"/>
            </a:xfrm>
            <a:prstGeom prst="rect">
              <a:avLst/>
            </a:prstGeom>
            <a:noFill/>
          </p:spPr>
          <p:txBody>
            <a:bodyPr wrap="square" lIns="18288" tIns="18288" rIns="18288" bIns="18288" anchor="ctr">
              <a:noAutofit/>
            </a:bodyPr>
            <a:lstStyle/>
            <a:p>
              <a:pPr algn="l"/>
              <a:r>
                <a:rPr lang="en-GB" sz="1800" b="1" i="0">
                  <a:solidFill>
                    <a:srgbClr val="F2F2F2"/>
                  </a:solidFill>
                  <a:latin typeface="Arial"/>
                </a:rPr>
                <a:t>S6</a:t>
              </a:r>
            </a:p>
          </p:txBody>
        </p:sp>
        <p:sp>
          <p:nvSpPr>
            <p:cNvPr id="19" name="State pill CLEAR"/>
            <p:cNvSpPr/>
            <p:nvPr/>
          </p:nvSpPr>
          <p:spPr>
            <a:xfrm>
              <a:off x="4818888" y="4133088"/>
              <a:ext cx="1188720" cy="292608"/>
            </a:xfrm>
            <a:prstGeom prst="roundRect">
              <a:avLst>
                <a:gd name="adj" fmla="val 50000"/>
              </a:avLst>
            </a:prstGeom>
            <a:solidFill>
              <a:srgbClr val="3FB950"/>
            </a:solidFill>
            <a:ln>
              <a:noFill/>
            </a:ln>
          </p:spPr>
          <p:txBody>
            <a:bodyPr wrap="square" lIns="18288" tIns="0" rIns="18288" bIns="0" rtlCol="0" anchor="ctr">
              <a:noAutofit/>
            </a:bodyPr>
            <a:lstStyle/>
            <a:p>
              <a:pPr algn="ctr"/>
              <a:r>
                <a:rPr lang="en-GB" sz="1400" b="1" i="0">
                  <a:solidFill>
                    <a:srgbClr val="101418"/>
                  </a:solidFill>
                  <a:latin typeface="Arial"/>
                </a:rPr>
                <a:t>CLEAR</a:t>
              </a:r>
            </a:p>
          </p:txBody>
        </p:sp>
        <p:sp>
          <p:nvSpPr>
            <p:cNvPr id="20" name="TextBox 19"/>
            <p:cNvSpPr txBox="1"/>
            <p:nvPr/>
          </p:nvSpPr>
          <p:spPr>
            <a:xfrm>
              <a:off x="3995928" y="4599432"/>
              <a:ext cx="2377440" cy="365760"/>
            </a:xfrm>
            <a:prstGeom prst="rect">
              <a:avLst/>
            </a:prstGeom>
            <a:noFill/>
          </p:spPr>
          <p:txBody>
            <a:bodyPr wrap="square" lIns="18288" tIns="18288" rIns="18288" bIns="18288" anchor="ctr">
              <a:noAutofit/>
            </a:bodyPr>
            <a:lstStyle/>
            <a:p>
              <a:pPr algn="l"/>
              <a:r>
                <a:rPr lang="en-GB" sz="1800" b="1" i="0">
                  <a:solidFill>
                    <a:srgbClr val="F2F2F2"/>
                  </a:solidFill>
                  <a:latin typeface="Arial"/>
                </a:rPr>
                <a:t>Signals used 6 of 8</a:t>
              </a:r>
            </a:p>
          </p:txBody>
        </p:sp>
        <p:sp>
          <p:nvSpPr>
            <p:cNvPr id="21" name="Rounded Rectangle 20"/>
            <p:cNvSpPr/>
            <p:nvPr/>
          </p:nvSpPr>
          <p:spPr>
            <a:xfrm>
              <a:off x="6464808" y="4672584"/>
              <a:ext cx="1828800" cy="219456"/>
            </a:xfrm>
            <a:prstGeom prst="roundRect">
              <a:avLst>
                <a:gd name="adj" fmla="val 20833"/>
              </a:avLst>
            </a:prstGeom>
            <a:solidFill>
              <a:srgbClr val="343A43"/>
            </a:solidFill>
            <a:ln>
              <a:noFill/>
            </a:ln>
          </p:spPr>
          <p:txBody>
            <a:bodyPr rtlCol="0" anchor="ctr"/>
            <a:lstStyle/>
            <a:p>
              <a:pPr algn="ctr"/>
              <a:endParaRPr/>
            </a:p>
          </p:txBody>
        </p:sp>
        <p:sp>
          <p:nvSpPr>
            <p:cNvPr id="22" name="Used bar"/>
            <p:cNvSpPr/>
            <p:nvPr/>
          </p:nvSpPr>
          <p:spPr>
            <a:xfrm>
              <a:off x="6464808" y="4672584"/>
              <a:ext cx="1371600" cy="219456"/>
            </a:xfrm>
            <a:prstGeom prst="roundRect">
              <a:avLst>
                <a:gd name="adj" fmla="val 20833"/>
              </a:avLst>
            </a:prstGeom>
            <a:solidFill>
              <a:srgbClr val="F28C28"/>
            </a:solidFill>
            <a:ln>
              <a:noFill/>
            </a:ln>
          </p:spPr>
          <p:txBody>
            <a:bodyPr rtlCol="0" anchor="ctr"/>
            <a:lstStyle/>
            <a:p>
              <a:pPr algn="ctr"/>
              <a:endParaRPr/>
            </a:p>
          </p:txBody>
        </p:sp>
        <p:sp>
          <p:nvSpPr>
            <p:cNvPr id="23" name="TextBox 22"/>
            <p:cNvSpPr txBox="1"/>
            <p:nvPr/>
          </p:nvSpPr>
          <p:spPr>
            <a:xfrm>
              <a:off x="3995928" y="4983480"/>
              <a:ext cx="4572000" cy="365760"/>
            </a:xfrm>
            <a:prstGeom prst="rect">
              <a:avLst/>
            </a:prstGeom>
            <a:noFill/>
          </p:spPr>
          <p:txBody>
            <a:bodyPr wrap="square" lIns="18288" tIns="18288" rIns="18288" bIns="18288" anchor="ctr">
              <a:noAutofit/>
            </a:bodyPr>
            <a:lstStyle/>
            <a:p>
              <a:pPr algn="l"/>
              <a:r>
                <a:rPr lang="en-GB" sz="1800" b="1" i="0">
                  <a:solidFill>
                    <a:srgbClr val="F2F2F2"/>
                  </a:solidFill>
                  <a:latin typeface="Arial"/>
                </a:rPr>
                <a:t>Reach 1,200 m</a:t>
              </a:r>
            </a:p>
          </p:txBody>
        </p:sp>
      </p:grpSp>
      <p:sp>
        <p:nvSpPr>
          <p:cNvPr id="24" name="TextBox 23"/>
          <p:cNvSpPr txBox="1"/>
          <p:nvPr/>
        </p:nvSpPr>
        <p:spPr>
          <a:xfrm>
            <a:off x="3538728" y="5468112"/>
            <a:ext cx="5120640" cy="320040"/>
          </a:xfrm>
          <a:prstGeom prst="rect">
            <a:avLst/>
          </a:prstGeom>
          <a:noFill/>
        </p:spPr>
        <p:txBody>
          <a:bodyPr wrap="square" lIns="18288" tIns="18288" rIns="18288" bIns="18288" anchor="ctr">
            <a:noAutofit/>
          </a:bodyPr>
          <a:lstStyle/>
          <a:p>
            <a:pPr algn="ctr"/>
            <a:r>
              <a:rPr lang="en-GB" sz="1400" b="1" i="0">
                <a:solidFill>
                  <a:srgbClr val="A9B0B8"/>
                </a:solidFill>
                <a:latin typeface="Arial"/>
              </a:rPr>
              <a:t>Example numbers only</a:t>
            </a:r>
          </a:p>
        </p:txBody>
      </p:sp>
      <p:sp>
        <p:nvSpPr>
          <p:cNvPr id="25"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The box screen could list its signals, their state, capacity and reach.</a:t>
            </a:r>
          </a:p>
        </p:txBody>
      </p:sp>
      <p:sp>
        <p:nvSpPr>
          <p:cNvPr id="26"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27"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21</a:t>
            </a:r>
          </a:p>
        </p:txBody>
      </p:sp>
    </p:spTree>
    <p:extLst>
      <p:ext uri="{BB962C8B-B14F-4D97-AF65-F5344CB8AC3E}">
        <p14:creationId xmlns:p14="http://schemas.microsoft.com/office/powerpoint/2010/main" val="11234390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nodeType="withEffect">
                                  <p:stCondLst>
                                    <p:cond delay="60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nodeType="withEffect">
                                  <p:stCondLst>
                                    <p:cond delay="90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Speed has three limits</a:t>
            </a:r>
          </a:p>
        </p:txBody>
      </p:sp>
      <p:sp>
        <p:nvSpPr>
          <p:cNvPr id="3" name="Chip: Agreed" descr="Status tag: Agreed"/>
          <p:cNvSpPr/>
          <p:nvPr/>
        </p:nvSpPr>
        <p:spPr>
          <a:xfrm>
            <a:off x="10104120" y="457200"/>
            <a:ext cx="1508760" cy="365760"/>
          </a:xfrm>
          <a:prstGeom prst="roundRect">
            <a:avLst>
              <a:gd name="adj" fmla="val 20000"/>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grpSp>
        <p:nvGrpSpPr>
          <p:cNvPr id="4" name="Three speed limits" descr="Three horizontal bars of different lengths for the track, signal and engine limits. A vertical line at the end of the shortest bar, with an arrow, shows that you go only that fast."/>
          <p:cNvGrpSpPr/>
          <p:nvPr/>
        </p:nvGrpSpPr>
        <p:grpSpPr>
          <a:xfrm>
            <a:off x="548640" y="1481328"/>
            <a:ext cx="9555480" cy="3611880"/>
            <a:chOff x="548640" y="1481328"/>
            <a:chExt cx="9555480" cy="3611880"/>
          </a:xfrm>
        </p:grpSpPr>
        <p:sp>
          <p:nvSpPr>
            <p:cNvPr id="5" name="TextBox 4"/>
            <p:cNvSpPr txBox="1"/>
            <p:nvPr/>
          </p:nvSpPr>
          <p:spPr>
            <a:xfrm>
              <a:off x="548640" y="2011680"/>
              <a:ext cx="2560320" cy="502920"/>
            </a:xfrm>
            <a:prstGeom prst="rect">
              <a:avLst/>
            </a:prstGeom>
            <a:noFill/>
          </p:spPr>
          <p:txBody>
            <a:bodyPr wrap="square" lIns="18288" tIns="18288" rIns="18288" bIns="18288" anchor="ctr">
              <a:noAutofit/>
            </a:bodyPr>
            <a:lstStyle/>
            <a:p>
              <a:pPr algn="r"/>
              <a:r>
                <a:rPr lang="en-GB" sz="2000" b="1" i="0">
                  <a:solidFill>
                    <a:srgbClr val="F2F2F2"/>
                  </a:solidFill>
                  <a:latin typeface="Arial"/>
                </a:rPr>
                <a:t>Track limit</a:t>
              </a:r>
            </a:p>
          </p:txBody>
        </p:sp>
        <p:sp>
          <p:nvSpPr>
            <p:cNvPr id="6" name="Bar: Track limit"/>
            <p:cNvSpPr/>
            <p:nvPr/>
          </p:nvSpPr>
          <p:spPr>
            <a:xfrm>
              <a:off x="3200400" y="2029968"/>
              <a:ext cx="6400800" cy="457200"/>
            </a:xfrm>
            <a:prstGeom prst="roundRect">
              <a:avLst>
                <a:gd name="adj" fmla="val 12000"/>
              </a:avLst>
            </a:prstGeom>
            <a:solidFill>
              <a:srgbClr val="6CA0DC"/>
            </a:solidFill>
            <a:ln>
              <a:noFill/>
            </a:ln>
          </p:spPr>
          <p:txBody>
            <a:bodyPr rtlCol="0" anchor="ctr"/>
            <a:lstStyle/>
            <a:p>
              <a:pPr algn="ctr"/>
              <a:endParaRPr/>
            </a:p>
          </p:txBody>
        </p:sp>
        <p:sp>
          <p:nvSpPr>
            <p:cNvPr id="7" name="TextBox 6"/>
            <p:cNvSpPr txBox="1"/>
            <p:nvPr/>
          </p:nvSpPr>
          <p:spPr>
            <a:xfrm>
              <a:off x="548640" y="2880360"/>
              <a:ext cx="2560320" cy="502920"/>
            </a:xfrm>
            <a:prstGeom prst="rect">
              <a:avLst/>
            </a:prstGeom>
            <a:noFill/>
          </p:spPr>
          <p:txBody>
            <a:bodyPr wrap="square" lIns="18288" tIns="18288" rIns="18288" bIns="18288" anchor="ctr">
              <a:noAutofit/>
            </a:bodyPr>
            <a:lstStyle/>
            <a:p>
              <a:pPr algn="r"/>
              <a:r>
                <a:rPr lang="en-GB" sz="2000" b="1" i="0">
                  <a:solidFill>
                    <a:srgbClr val="F2F2F2"/>
                  </a:solidFill>
                  <a:latin typeface="Arial"/>
                </a:rPr>
                <a:t>Signal limit</a:t>
              </a:r>
            </a:p>
          </p:txBody>
        </p:sp>
        <p:sp>
          <p:nvSpPr>
            <p:cNvPr id="8" name="Bar: Signal limit"/>
            <p:cNvSpPr/>
            <p:nvPr/>
          </p:nvSpPr>
          <p:spPr>
            <a:xfrm>
              <a:off x="3200400" y="2898648"/>
              <a:ext cx="3840480" cy="457200"/>
            </a:xfrm>
            <a:prstGeom prst="roundRect">
              <a:avLst>
                <a:gd name="adj" fmla="val 12000"/>
              </a:avLst>
            </a:prstGeom>
            <a:solidFill>
              <a:srgbClr val="F2C14E"/>
            </a:solidFill>
            <a:ln>
              <a:noFill/>
            </a:ln>
          </p:spPr>
          <p:txBody>
            <a:bodyPr rtlCol="0" anchor="ctr"/>
            <a:lstStyle/>
            <a:p>
              <a:pPr algn="ctr"/>
              <a:endParaRPr/>
            </a:p>
          </p:txBody>
        </p:sp>
        <p:sp>
          <p:nvSpPr>
            <p:cNvPr id="9" name="TextBox 8"/>
            <p:cNvSpPr txBox="1"/>
            <p:nvPr/>
          </p:nvSpPr>
          <p:spPr>
            <a:xfrm>
              <a:off x="548640" y="3749040"/>
              <a:ext cx="2560320" cy="502920"/>
            </a:xfrm>
            <a:prstGeom prst="rect">
              <a:avLst/>
            </a:prstGeom>
            <a:noFill/>
          </p:spPr>
          <p:txBody>
            <a:bodyPr wrap="square" lIns="18288" tIns="18288" rIns="18288" bIns="18288" anchor="ctr">
              <a:noAutofit/>
            </a:bodyPr>
            <a:lstStyle/>
            <a:p>
              <a:pPr algn="r"/>
              <a:r>
                <a:rPr lang="en-GB" sz="2000" b="1" i="0">
                  <a:solidFill>
                    <a:srgbClr val="F2F2F2"/>
                  </a:solidFill>
                  <a:latin typeface="Arial"/>
                </a:rPr>
                <a:t>Engine limit</a:t>
              </a:r>
            </a:p>
          </p:txBody>
        </p:sp>
        <p:sp>
          <p:nvSpPr>
            <p:cNvPr id="10" name="Bar: Engine limit"/>
            <p:cNvSpPr/>
            <p:nvPr/>
          </p:nvSpPr>
          <p:spPr>
            <a:xfrm>
              <a:off x="3200400" y="3767328"/>
              <a:ext cx="5120640" cy="457200"/>
            </a:xfrm>
            <a:prstGeom prst="roundRect">
              <a:avLst>
                <a:gd name="adj" fmla="val 12000"/>
              </a:avLst>
            </a:prstGeom>
            <a:solidFill>
              <a:srgbClr val="F28C28"/>
            </a:solidFill>
            <a:ln>
              <a:noFill/>
            </a:ln>
          </p:spPr>
          <p:txBody>
            <a:bodyPr rtlCol="0" anchor="ctr"/>
            <a:lstStyle/>
            <a:p>
              <a:pPr algn="ctr"/>
              <a:endParaRPr/>
            </a:p>
          </p:txBody>
        </p:sp>
        <p:cxnSp>
          <p:nvCxnSpPr>
            <p:cNvPr id="11" name="Shortest limit"/>
            <p:cNvCxnSpPr/>
            <p:nvPr/>
          </p:nvCxnSpPr>
          <p:spPr>
            <a:xfrm>
              <a:off x="7040880" y="1600200"/>
              <a:ext cx="0" cy="2971800"/>
            </a:xfrm>
            <a:prstGeom prst="line">
              <a:avLst/>
            </a:prstGeom>
            <a:ln w="38100">
              <a:solidFill>
                <a:srgbClr val="F2F2F2"/>
              </a:solidFill>
              <a:prstDash val="dash"/>
            </a:ln>
          </p:spPr>
        </p:cxnSp>
        <p:cxnSp>
          <p:nvCxnSpPr>
            <p:cNvPr id="12" name="Arrow: you go this fast"/>
            <p:cNvCxnSpPr/>
            <p:nvPr/>
          </p:nvCxnSpPr>
          <p:spPr>
            <a:xfrm>
              <a:off x="3200400" y="4617720"/>
              <a:ext cx="3840480" cy="0"/>
            </a:xfrm>
            <a:prstGeom prst="line">
              <a:avLst/>
            </a:prstGeom>
            <a:ln w="50800">
              <a:solidFill>
                <a:srgbClr val="F28C28"/>
              </a:solidFill>
              <a:tailEnd type="triangle" w="med" len="med"/>
            </a:ln>
          </p:spPr>
        </p:cxnSp>
        <p:sp>
          <p:nvSpPr>
            <p:cNvPr id="13" name="TextBox 12"/>
            <p:cNvSpPr txBox="1"/>
            <p:nvPr/>
          </p:nvSpPr>
          <p:spPr>
            <a:xfrm>
              <a:off x="3200400" y="4681728"/>
              <a:ext cx="3840480" cy="411480"/>
            </a:xfrm>
            <a:prstGeom prst="rect">
              <a:avLst/>
            </a:prstGeom>
            <a:noFill/>
          </p:spPr>
          <p:txBody>
            <a:bodyPr wrap="square" lIns="18288" tIns="18288" rIns="18288" bIns="18288" anchor="ctr">
              <a:noAutofit/>
            </a:bodyPr>
            <a:lstStyle/>
            <a:p>
              <a:pPr algn="ctr"/>
              <a:r>
                <a:rPr lang="en-GB" sz="2000" b="1" i="0">
                  <a:solidFill>
                    <a:srgbClr val="F28C28"/>
                  </a:solidFill>
                  <a:latin typeface="Arial"/>
                </a:rPr>
                <a:t>You go this fast</a:t>
              </a:r>
            </a:p>
          </p:txBody>
        </p:sp>
        <p:sp>
          <p:nvSpPr>
            <p:cNvPr id="14" name="Chip: Proposed (rule)" descr="Status tag: Proposed"/>
            <p:cNvSpPr/>
            <p:nvPr/>
          </p:nvSpPr>
          <p:spPr>
            <a:xfrm>
              <a:off x="7269480" y="1481328"/>
              <a:ext cx="2834640" cy="365760"/>
            </a:xfrm>
            <a:prstGeom prst="roundRect">
              <a:avLst>
                <a:gd name="adj" fmla="val 20000"/>
              </a:avLst>
            </a:prstGeom>
            <a:solidFill>
              <a:srgbClr val="B084F5"/>
            </a:solidFill>
            <a:ln>
              <a:noFill/>
            </a:ln>
          </p:spPr>
          <p:txBody>
            <a:bodyPr wrap="square" lIns="27432" tIns="9144" rIns="27432" bIns="9144" rtlCol="0" anchor="ctr">
              <a:noAutofit/>
            </a:bodyPr>
            <a:lstStyle/>
            <a:p>
              <a:pPr algn="ctr"/>
              <a:r>
                <a:rPr lang="en-GB" sz="1400" b="1" i="0">
                  <a:solidFill>
                    <a:srgbClr val="101418"/>
                  </a:solidFill>
                  <a:latin typeface="Arial"/>
                </a:rPr>
                <a:t>Lowest of three: Proposed</a:t>
              </a:r>
            </a:p>
          </p:txBody>
        </p:sp>
      </p:grpSp>
      <p:sp>
        <p:nvSpPr>
          <p:cNvPr id="15" name="TextBox 14"/>
          <p:cNvSpPr txBox="1"/>
          <p:nvPr/>
        </p:nvSpPr>
        <p:spPr>
          <a:xfrm>
            <a:off x="548640" y="5303520"/>
            <a:ext cx="7315200" cy="365760"/>
          </a:xfrm>
          <a:prstGeom prst="rect">
            <a:avLst/>
          </a:prstGeom>
          <a:noFill/>
        </p:spPr>
        <p:txBody>
          <a:bodyPr wrap="square" lIns="18288" tIns="18288" rIns="18288" bIns="18288" anchor="ctr">
            <a:noAutofit/>
          </a:bodyPr>
          <a:lstStyle/>
          <a:p>
            <a:pPr algn="l"/>
            <a:r>
              <a:rPr lang="en-GB" sz="1600" b="1" i="0">
                <a:solidFill>
                  <a:srgbClr val="A9B0B8"/>
                </a:solidFill>
                <a:latin typeface="Arial"/>
              </a:rPr>
              <a:t>Hills and loading can slow trains further.</a:t>
            </a:r>
          </a:p>
        </p:txBody>
      </p:sp>
      <p:sp>
        <p:nvSpPr>
          <p:cNvPr id="16" name="TextBox 15"/>
          <p:cNvSpPr txBox="1"/>
          <p:nvPr/>
        </p:nvSpPr>
        <p:spPr>
          <a:xfrm>
            <a:off x="9144000" y="5303520"/>
            <a:ext cx="2496312" cy="365760"/>
          </a:xfrm>
          <a:prstGeom prst="rect">
            <a:avLst/>
          </a:prstGeom>
          <a:noFill/>
        </p:spPr>
        <p:txBody>
          <a:bodyPr wrap="square" lIns="18288" tIns="18288" rIns="18288" bIns="18288" anchor="ctr">
            <a:noAutofit/>
          </a:bodyPr>
          <a:lstStyle/>
          <a:p>
            <a:pPr algn="r"/>
            <a:r>
              <a:rPr lang="en-GB" sz="1400" b="1" i="0">
                <a:solidFill>
                  <a:srgbClr val="A9B0B8"/>
                </a:solidFill>
                <a:latin typeface="Arial"/>
              </a:rPr>
              <a:t>Not to scale</a:t>
            </a:r>
          </a:p>
        </p:txBody>
      </p:sp>
      <p:sp>
        <p:nvSpPr>
          <p:cNvPr id="17"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Speed is the lowest of three limits: track, signals and engine.</a:t>
            </a:r>
          </a:p>
        </p:txBody>
      </p:sp>
      <p:sp>
        <p:nvSpPr>
          <p:cNvPr id="18"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19"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22</a:t>
            </a:r>
          </a:p>
        </p:txBody>
      </p:sp>
    </p:spTree>
    <p:extLst>
      <p:ext uri="{BB962C8B-B14F-4D97-AF65-F5344CB8AC3E}">
        <p14:creationId xmlns:p14="http://schemas.microsoft.com/office/powerpoint/2010/main" val="12142135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6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90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tgtEl>
                                          <p:spTgt spid="17"/>
                                        </p:tgtEl>
                                      </p:cBhvr>
                                    </p:animEffect>
                                  </p:childTnLst>
                                </p:cTn>
                              </p:par>
                              <p:par>
                                <p:cTn id="17" presetID="10" presetClass="entr" presetSubtype="0" fill="hold" nodeType="withEffect">
                                  <p:stCondLst>
                                    <p:cond delay="12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Later signals</a:t>
            </a:r>
          </a:p>
        </p:txBody>
      </p:sp>
      <p:sp>
        <p:nvSpPr>
          <p:cNvPr id="3" name="Chip: Agreed" descr="Status tag: Agreed"/>
          <p:cNvSpPr/>
          <p:nvPr/>
        </p:nvSpPr>
        <p:spPr>
          <a:xfrm>
            <a:off x="10104120" y="457200"/>
            <a:ext cx="1508760" cy="365760"/>
          </a:xfrm>
          <a:prstGeom prst="roundRect">
            <a:avLst>
              <a:gd name="adj" fmla="val 20000"/>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grpSp>
        <p:nvGrpSpPr>
          <p:cNvPr id="4" name="Signals over time" descr="A timeline of three stages. Start: semaphore blocks (agreed). Later: improved semaphores or interlocking (proposed), for example 90 km/h and 800 m blocks (provisional). Mature: electronic signals like vanilla (proposed). Below, complex junctions stay slower than electric rail on purpose."/>
          <p:cNvGrpSpPr/>
          <p:nvPr/>
        </p:nvGrpSpPr>
        <p:grpSpPr>
          <a:xfrm>
            <a:off x="548640" y="1463040"/>
            <a:ext cx="11091672" cy="4114800"/>
            <a:chOff x="548640" y="1463040"/>
            <a:chExt cx="11091672" cy="4114800"/>
          </a:xfrm>
        </p:grpSpPr>
        <p:cxnSp>
          <p:nvCxnSpPr>
            <p:cNvPr id="5" name="Timeline"/>
            <p:cNvCxnSpPr/>
            <p:nvPr/>
          </p:nvCxnSpPr>
          <p:spPr>
            <a:xfrm>
              <a:off x="822960" y="2331720"/>
              <a:ext cx="10515600" cy="0"/>
            </a:xfrm>
            <a:prstGeom prst="line">
              <a:avLst/>
            </a:prstGeom>
            <a:ln w="38100">
              <a:solidFill>
                <a:srgbClr val="9AA0A6"/>
              </a:solidFill>
              <a:tailEnd type="triangle" w="med" len="med"/>
            </a:ln>
          </p:spPr>
        </p:cxnSp>
        <p:sp>
          <p:nvSpPr>
            <p:cNvPr id="6" name="Chip: Agreed" descr="Status tag: Agreed"/>
            <p:cNvSpPr/>
            <p:nvPr/>
          </p:nvSpPr>
          <p:spPr>
            <a:xfrm>
              <a:off x="1481328" y="1463040"/>
              <a:ext cx="1426464" cy="310896"/>
            </a:xfrm>
            <a:prstGeom prst="roundRect">
              <a:avLst>
                <a:gd name="adj" fmla="val 23529"/>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sp>
          <p:nvSpPr>
            <p:cNvPr id="7" name="Oval 6"/>
            <p:cNvSpPr/>
            <p:nvPr/>
          </p:nvSpPr>
          <p:spPr>
            <a:xfrm>
              <a:off x="1965960" y="2103120"/>
              <a:ext cx="457200" cy="457200"/>
            </a:xfrm>
            <a:prstGeom prst="ellipse">
              <a:avLst/>
            </a:prstGeom>
            <a:solidFill>
              <a:srgbClr val="F28C28"/>
            </a:solidFill>
            <a:ln w="38100">
              <a:solidFill>
                <a:srgbClr val="1E2126"/>
              </a:solidFill>
            </a:ln>
          </p:spPr>
          <p:txBody>
            <a:bodyPr rtlCol="0" anchor="ctr"/>
            <a:lstStyle/>
            <a:p>
              <a:pPr algn="ctr"/>
              <a:endParaRPr/>
            </a:p>
          </p:txBody>
        </p:sp>
        <p:sp>
          <p:nvSpPr>
            <p:cNvPr id="8" name="Rounded Rectangle 7"/>
            <p:cNvSpPr/>
            <p:nvPr/>
          </p:nvSpPr>
          <p:spPr>
            <a:xfrm>
              <a:off x="548640" y="2743200"/>
              <a:ext cx="3291840" cy="1051560"/>
            </a:xfrm>
            <a:prstGeom prst="roundRect">
              <a:avLst>
                <a:gd name="adj" fmla="val 6956"/>
              </a:avLst>
            </a:prstGeom>
            <a:solidFill>
              <a:srgbClr val="2B2F36"/>
            </a:solidFill>
            <a:ln w="12700">
              <a:solidFill>
                <a:srgbClr val="4A515B"/>
              </a:solidFill>
            </a:ln>
          </p:spPr>
          <p:txBody>
            <a:bodyPr rtlCol="0" anchor="ctr"/>
            <a:lstStyle/>
            <a:p>
              <a:pPr algn="ctr"/>
              <a:endParaRPr/>
            </a:p>
          </p:txBody>
        </p:sp>
        <p:sp>
          <p:nvSpPr>
            <p:cNvPr id="9" name="TextBox 8"/>
            <p:cNvSpPr txBox="1"/>
            <p:nvPr/>
          </p:nvSpPr>
          <p:spPr>
            <a:xfrm>
              <a:off x="685800" y="2743200"/>
              <a:ext cx="3017520" cy="1051560"/>
            </a:xfrm>
            <a:prstGeom prst="rect">
              <a:avLst/>
            </a:prstGeom>
            <a:noFill/>
          </p:spPr>
          <p:txBody>
            <a:bodyPr wrap="square" lIns="18288" tIns="18288" rIns="18288" bIns="18288" anchor="ctr">
              <a:noAutofit/>
            </a:bodyPr>
            <a:lstStyle/>
            <a:p>
              <a:pPr algn="ctr"/>
              <a:r>
                <a:rPr lang="en-GB" sz="1800" b="1" i="0">
                  <a:solidFill>
                    <a:srgbClr val="F2F2F2"/>
                  </a:solidFill>
                  <a:latin typeface="Arial"/>
                </a:rPr>
                <a:t>Start: semaphore blocks</a:t>
              </a:r>
            </a:p>
          </p:txBody>
        </p:sp>
        <p:sp>
          <p:nvSpPr>
            <p:cNvPr id="10" name="Chip: Proposed" descr="Status tag: Proposed"/>
            <p:cNvSpPr/>
            <p:nvPr/>
          </p:nvSpPr>
          <p:spPr>
            <a:xfrm>
              <a:off x="5385816" y="1463040"/>
              <a:ext cx="1426464" cy="310896"/>
            </a:xfrm>
            <a:prstGeom prst="roundRect">
              <a:avLst>
                <a:gd name="adj" fmla="val 23529"/>
              </a:avLst>
            </a:prstGeom>
            <a:solidFill>
              <a:srgbClr val="B084F5"/>
            </a:solidFill>
            <a:ln>
              <a:noFill/>
            </a:ln>
          </p:spPr>
          <p:txBody>
            <a:bodyPr wrap="none" lIns="27432" tIns="9144" rIns="27432" bIns="9144" rtlCol="0" anchor="ctr">
              <a:noAutofit/>
            </a:bodyPr>
            <a:lstStyle/>
            <a:p>
              <a:pPr algn="ctr"/>
              <a:r>
                <a:rPr lang="en-GB" sz="1400" b="1" i="0">
                  <a:solidFill>
                    <a:srgbClr val="101418"/>
                  </a:solidFill>
                  <a:latin typeface="Arial"/>
                </a:rPr>
                <a:t>PROPOSED</a:t>
              </a:r>
            </a:p>
          </p:txBody>
        </p:sp>
        <p:sp>
          <p:nvSpPr>
            <p:cNvPr id="11" name="Oval 10"/>
            <p:cNvSpPr/>
            <p:nvPr/>
          </p:nvSpPr>
          <p:spPr>
            <a:xfrm>
              <a:off x="5870448" y="2103120"/>
              <a:ext cx="457200" cy="457200"/>
            </a:xfrm>
            <a:prstGeom prst="ellipse">
              <a:avLst/>
            </a:prstGeom>
            <a:solidFill>
              <a:srgbClr val="F28C28"/>
            </a:solidFill>
            <a:ln w="38100">
              <a:solidFill>
                <a:srgbClr val="1E2126"/>
              </a:solidFill>
            </a:ln>
          </p:spPr>
          <p:txBody>
            <a:bodyPr rtlCol="0" anchor="ctr"/>
            <a:lstStyle/>
            <a:p>
              <a:pPr algn="ctr"/>
              <a:endParaRPr/>
            </a:p>
          </p:txBody>
        </p:sp>
        <p:sp>
          <p:nvSpPr>
            <p:cNvPr id="12" name="Rounded Rectangle 11"/>
            <p:cNvSpPr/>
            <p:nvPr/>
          </p:nvSpPr>
          <p:spPr>
            <a:xfrm>
              <a:off x="4453128" y="2743200"/>
              <a:ext cx="3291840" cy="1051560"/>
            </a:xfrm>
            <a:prstGeom prst="roundRect">
              <a:avLst>
                <a:gd name="adj" fmla="val 6956"/>
              </a:avLst>
            </a:prstGeom>
            <a:solidFill>
              <a:srgbClr val="2B2F36"/>
            </a:solidFill>
            <a:ln w="12700">
              <a:solidFill>
                <a:srgbClr val="4A515B"/>
              </a:solidFill>
            </a:ln>
          </p:spPr>
          <p:txBody>
            <a:bodyPr rtlCol="0" anchor="ctr"/>
            <a:lstStyle/>
            <a:p>
              <a:pPr algn="ctr"/>
              <a:endParaRPr/>
            </a:p>
          </p:txBody>
        </p:sp>
        <p:sp>
          <p:nvSpPr>
            <p:cNvPr id="13" name="TextBox 12"/>
            <p:cNvSpPr txBox="1"/>
            <p:nvPr/>
          </p:nvSpPr>
          <p:spPr>
            <a:xfrm>
              <a:off x="4590288" y="2743200"/>
              <a:ext cx="3017520" cy="1051560"/>
            </a:xfrm>
            <a:prstGeom prst="rect">
              <a:avLst/>
            </a:prstGeom>
            <a:noFill/>
          </p:spPr>
          <p:txBody>
            <a:bodyPr wrap="square" lIns="18288" tIns="18288" rIns="18288" bIns="18288" anchor="ctr">
              <a:noAutofit/>
            </a:bodyPr>
            <a:lstStyle/>
            <a:p>
              <a:pPr algn="ctr"/>
              <a:r>
                <a:rPr lang="en-GB" sz="1800" b="1" i="0">
                  <a:solidFill>
                    <a:srgbClr val="F2F2F2"/>
                  </a:solidFill>
                  <a:latin typeface="Arial"/>
                </a:rPr>
                <a:t>Later: improved semaphores or interlocking</a:t>
              </a:r>
            </a:p>
          </p:txBody>
        </p:sp>
        <p:sp>
          <p:nvSpPr>
            <p:cNvPr id="14" name="Chip: Proposed" descr="Status tag: Proposed"/>
            <p:cNvSpPr/>
            <p:nvPr/>
          </p:nvSpPr>
          <p:spPr>
            <a:xfrm>
              <a:off x="9281160" y="1463040"/>
              <a:ext cx="1426464" cy="310896"/>
            </a:xfrm>
            <a:prstGeom prst="roundRect">
              <a:avLst>
                <a:gd name="adj" fmla="val 23529"/>
              </a:avLst>
            </a:prstGeom>
            <a:solidFill>
              <a:srgbClr val="B084F5"/>
            </a:solidFill>
            <a:ln>
              <a:noFill/>
            </a:ln>
          </p:spPr>
          <p:txBody>
            <a:bodyPr wrap="none" lIns="27432" tIns="9144" rIns="27432" bIns="9144" rtlCol="0" anchor="ctr">
              <a:noAutofit/>
            </a:bodyPr>
            <a:lstStyle/>
            <a:p>
              <a:pPr algn="ctr"/>
              <a:r>
                <a:rPr lang="en-GB" sz="1400" b="1" i="0">
                  <a:solidFill>
                    <a:srgbClr val="101418"/>
                  </a:solidFill>
                  <a:latin typeface="Arial"/>
                </a:rPr>
                <a:t>PROPOSED</a:t>
              </a:r>
            </a:p>
          </p:txBody>
        </p:sp>
        <p:sp>
          <p:nvSpPr>
            <p:cNvPr id="15" name="Oval 14"/>
            <p:cNvSpPr/>
            <p:nvPr/>
          </p:nvSpPr>
          <p:spPr>
            <a:xfrm>
              <a:off x="9765792" y="2103120"/>
              <a:ext cx="457200" cy="457200"/>
            </a:xfrm>
            <a:prstGeom prst="ellipse">
              <a:avLst/>
            </a:prstGeom>
            <a:solidFill>
              <a:srgbClr val="F28C28"/>
            </a:solidFill>
            <a:ln w="38100">
              <a:solidFill>
                <a:srgbClr val="1E2126"/>
              </a:solidFill>
            </a:ln>
          </p:spPr>
          <p:txBody>
            <a:bodyPr rtlCol="0" anchor="ctr"/>
            <a:lstStyle/>
            <a:p>
              <a:pPr algn="ctr"/>
              <a:endParaRPr/>
            </a:p>
          </p:txBody>
        </p:sp>
        <p:sp>
          <p:nvSpPr>
            <p:cNvPr id="16" name="Rounded Rectangle 15"/>
            <p:cNvSpPr/>
            <p:nvPr/>
          </p:nvSpPr>
          <p:spPr>
            <a:xfrm>
              <a:off x="8348472" y="2743200"/>
              <a:ext cx="3291840" cy="1051560"/>
            </a:xfrm>
            <a:prstGeom prst="roundRect">
              <a:avLst>
                <a:gd name="adj" fmla="val 6956"/>
              </a:avLst>
            </a:prstGeom>
            <a:solidFill>
              <a:srgbClr val="2B2F36"/>
            </a:solidFill>
            <a:ln w="12700">
              <a:solidFill>
                <a:srgbClr val="4A515B"/>
              </a:solidFill>
            </a:ln>
          </p:spPr>
          <p:txBody>
            <a:bodyPr rtlCol="0" anchor="ctr"/>
            <a:lstStyle/>
            <a:p>
              <a:pPr algn="ctr"/>
              <a:endParaRPr/>
            </a:p>
          </p:txBody>
        </p:sp>
        <p:sp>
          <p:nvSpPr>
            <p:cNvPr id="17" name="TextBox 16"/>
            <p:cNvSpPr txBox="1"/>
            <p:nvPr/>
          </p:nvSpPr>
          <p:spPr>
            <a:xfrm>
              <a:off x="8485632" y="2743200"/>
              <a:ext cx="3017520" cy="1051560"/>
            </a:xfrm>
            <a:prstGeom prst="rect">
              <a:avLst/>
            </a:prstGeom>
            <a:noFill/>
          </p:spPr>
          <p:txBody>
            <a:bodyPr wrap="square" lIns="18288" tIns="18288" rIns="18288" bIns="18288" anchor="ctr">
              <a:noAutofit/>
            </a:bodyPr>
            <a:lstStyle/>
            <a:p>
              <a:pPr algn="ctr"/>
              <a:r>
                <a:rPr lang="en-GB" sz="1800" b="1" i="0">
                  <a:solidFill>
                    <a:srgbClr val="F2F2F2"/>
                  </a:solidFill>
                  <a:latin typeface="Arial"/>
                </a:rPr>
                <a:t>Mature: electronic signals like vanilla</a:t>
              </a:r>
            </a:p>
          </p:txBody>
        </p:sp>
        <p:sp>
          <p:nvSpPr>
            <p:cNvPr id="18" name="TextBox 17"/>
            <p:cNvSpPr txBox="1"/>
            <p:nvPr/>
          </p:nvSpPr>
          <p:spPr>
            <a:xfrm>
              <a:off x="4453128" y="3931920"/>
              <a:ext cx="3291840" cy="365760"/>
            </a:xfrm>
            <a:prstGeom prst="rect">
              <a:avLst/>
            </a:prstGeom>
            <a:noFill/>
          </p:spPr>
          <p:txBody>
            <a:bodyPr wrap="square" lIns="18288" tIns="18288" rIns="18288" bIns="18288" anchor="ctr">
              <a:noAutofit/>
            </a:bodyPr>
            <a:lstStyle/>
            <a:p>
              <a:pPr algn="ctr"/>
              <a:r>
                <a:rPr lang="en-GB" sz="1600" b="1" i="0">
                  <a:solidFill>
                    <a:srgbClr val="F2F2F2"/>
                  </a:solidFill>
                  <a:latin typeface="Arial"/>
                </a:rPr>
                <a:t>Example: 90 km/h, 800 m blocks</a:t>
              </a:r>
            </a:p>
          </p:txBody>
        </p:sp>
        <p:sp>
          <p:nvSpPr>
            <p:cNvPr id="19" name="Chip: Provisional" descr="Status tag: Provisional"/>
            <p:cNvSpPr/>
            <p:nvPr/>
          </p:nvSpPr>
          <p:spPr>
            <a:xfrm>
              <a:off x="5385816" y="4343400"/>
              <a:ext cx="1426464" cy="310896"/>
            </a:xfrm>
            <a:prstGeom prst="roundRect">
              <a:avLst>
                <a:gd name="adj" fmla="val 23529"/>
              </a:avLst>
            </a:prstGeom>
            <a:solidFill>
              <a:srgbClr val="4DA3FF"/>
            </a:solidFill>
            <a:ln>
              <a:noFill/>
            </a:ln>
          </p:spPr>
          <p:txBody>
            <a:bodyPr wrap="none" lIns="27432" tIns="9144" rIns="27432" bIns="9144" rtlCol="0" anchor="ctr">
              <a:noAutofit/>
            </a:bodyPr>
            <a:lstStyle/>
            <a:p>
              <a:pPr algn="ctr"/>
              <a:r>
                <a:rPr lang="en-GB" sz="1400" b="1" i="0">
                  <a:solidFill>
                    <a:srgbClr val="101418"/>
                  </a:solidFill>
                  <a:latin typeface="Arial"/>
                </a:rPr>
                <a:t>PROVISIONAL</a:t>
              </a:r>
            </a:p>
          </p:txBody>
        </p:sp>
        <p:cxnSp>
          <p:nvCxnSpPr>
            <p:cNvPr id="20" name="Connector 19"/>
            <p:cNvCxnSpPr/>
            <p:nvPr/>
          </p:nvCxnSpPr>
          <p:spPr>
            <a:xfrm>
              <a:off x="822960" y="5257800"/>
              <a:ext cx="1554480" cy="0"/>
            </a:xfrm>
            <a:prstGeom prst="line">
              <a:avLst/>
            </a:prstGeom>
            <a:ln w="50800">
              <a:solidFill>
                <a:srgbClr val="9AA0A6"/>
              </a:solidFill>
            </a:ln>
          </p:spPr>
        </p:cxnSp>
        <p:cxnSp>
          <p:nvCxnSpPr>
            <p:cNvPr id="21" name="Connector 20"/>
            <p:cNvCxnSpPr/>
            <p:nvPr/>
          </p:nvCxnSpPr>
          <p:spPr>
            <a:xfrm flipV="1">
              <a:off x="1188720" y="4892040"/>
              <a:ext cx="1005840" cy="365760"/>
            </a:xfrm>
            <a:prstGeom prst="line">
              <a:avLst/>
            </a:prstGeom>
            <a:ln w="50800">
              <a:solidFill>
                <a:srgbClr val="9AA0A6"/>
              </a:solidFill>
            </a:ln>
          </p:spPr>
        </p:cxnSp>
        <p:cxnSp>
          <p:nvCxnSpPr>
            <p:cNvPr id="22" name="Connector 21"/>
            <p:cNvCxnSpPr/>
            <p:nvPr/>
          </p:nvCxnSpPr>
          <p:spPr>
            <a:xfrm>
              <a:off x="2194560" y="4892040"/>
              <a:ext cx="457200" cy="0"/>
            </a:xfrm>
            <a:prstGeom prst="line">
              <a:avLst/>
            </a:prstGeom>
            <a:ln w="50800">
              <a:solidFill>
                <a:srgbClr val="9AA0A6"/>
              </a:solidFill>
            </a:ln>
          </p:spPr>
        </p:cxnSp>
        <p:sp>
          <p:nvSpPr>
            <p:cNvPr id="23" name="TextBox 22"/>
            <p:cNvSpPr txBox="1"/>
            <p:nvPr/>
          </p:nvSpPr>
          <p:spPr>
            <a:xfrm>
              <a:off x="2926080" y="4937760"/>
              <a:ext cx="8412480" cy="640080"/>
            </a:xfrm>
            <a:prstGeom prst="rect">
              <a:avLst/>
            </a:prstGeom>
            <a:noFill/>
          </p:spPr>
          <p:txBody>
            <a:bodyPr wrap="square" lIns="18288" tIns="18288" rIns="18288" bIns="18288" anchor="ctr">
              <a:noAutofit/>
            </a:bodyPr>
            <a:lstStyle/>
            <a:p>
              <a:pPr algn="l"/>
              <a:r>
                <a:rPr lang="en-GB" sz="2000" b="1" i="0">
                  <a:solidFill>
                    <a:srgbClr val="F2F2F2"/>
                  </a:solidFill>
                  <a:latin typeface="Arial"/>
                </a:rPr>
                <a:t>Complex junctions: slower than electric (deliberate)</a:t>
              </a:r>
            </a:p>
          </p:txBody>
        </p:sp>
      </p:grpSp>
      <p:sp>
        <p:nvSpPr>
          <p:cNvPr id="24"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Better signals come later. Busy junctions stay slower than mature electric rail.</a:t>
            </a:r>
          </a:p>
        </p:txBody>
      </p:sp>
      <p:sp>
        <p:nvSpPr>
          <p:cNvPr id="25"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26"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23</a:t>
            </a:r>
          </a:p>
        </p:txBody>
      </p:sp>
    </p:spTree>
    <p:extLst>
      <p:ext uri="{BB962C8B-B14F-4D97-AF65-F5344CB8AC3E}">
        <p14:creationId xmlns:p14="http://schemas.microsoft.com/office/powerpoint/2010/main" val="40429370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nodeType="withEffect">
                                  <p:stCondLst>
                                    <p:cond delay="60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Driving by hand</a:t>
            </a:r>
          </a:p>
        </p:txBody>
      </p:sp>
      <p:sp>
        <p:nvSpPr>
          <p:cNvPr id="3" name="Chip: Agreed" descr="Status tag: Agreed"/>
          <p:cNvSpPr/>
          <p:nvPr/>
        </p:nvSpPr>
        <p:spPr>
          <a:xfrm>
            <a:off x="10104120" y="457200"/>
            <a:ext cx="1508760" cy="365760"/>
          </a:xfrm>
          <a:prstGeom prst="roundRect">
            <a:avLst>
              <a:gd name="adj" fmla="val 20000"/>
            </a:avLst>
          </a:prstGeom>
          <a:solidFill>
            <a:srgbClr val="3FB950"/>
          </a:solidFill>
          <a:ln>
            <a:noFill/>
          </a:ln>
        </p:spPr>
        <p:txBody>
          <a:bodyPr wrap="none" lIns="27432" tIns="9144" rIns="27432" bIns="9144" rtlCol="0" anchor="ctr">
            <a:noAutofit/>
          </a:bodyPr>
          <a:lstStyle/>
          <a:p>
            <a:pPr algn="ctr"/>
            <a:r>
              <a:rPr lang="en-GB" sz="1400" b="1" i="0">
                <a:solidFill>
                  <a:srgbClr val="101418"/>
                </a:solidFill>
                <a:latin typeface="Arial"/>
              </a:rPr>
              <a:t>AGREED</a:t>
            </a:r>
          </a:p>
        </p:txBody>
      </p:sp>
      <p:grpSp>
        <p:nvGrpSpPr>
          <p:cNvPr id="4" name="Manual railway operations diagram" descr="A mock-up of a simple track diagram panel: circles joined by lines, with the active route in bright orange and alternatives in grey. Three mode buttons across the top: AUTO, YARD and MAINLINE."/>
          <p:cNvGrpSpPr/>
          <p:nvPr/>
        </p:nvGrpSpPr>
        <p:grpSpPr>
          <a:xfrm>
            <a:off x="3904488" y="1371600"/>
            <a:ext cx="4389120" cy="3474720"/>
            <a:chOff x="3904488" y="1371600"/>
            <a:chExt cx="4389120" cy="3474720"/>
          </a:xfrm>
        </p:grpSpPr>
        <p:sp>
          <p:nvSpPr>
            <p:cNvPr id="5" name="Diagram panel"/>
            <p:cNvSpPr/>
            <p:nvPr/>
          </p:nvSpPr>
          <p:spPr>
            <a:xfrm>
              <a:off x="3904488" y="1371600"/>
              <a:ext cx="4389120" cy="3474720"/>
            </a:xfrm>
            <a:prstGeom prst="roundRect">
              <a:avLst>
                <a:gd name="adj" fmla="val 4736"/>
              </a:avLst>
            </a:prstGeom>
            <a:solidFill>
              <a:srgbClr val="14171B"/>
            </a:solidFill>
            <a:ln w="25400">
              <a:solidFill>
                <a:srgbClr val="4A515B"/>
              </a:solidFill>
            </a:ln>
          </p:spPr>
          <p:txBody>
            <a:bodyPr rtlCol="0" anchor="ctr"/>
            <a:lstStyle/>
            <a:p>
              <a:pPr algn="ctr"/>
              <a:endParaRPr/>
            </a:p>
          </p:txBody>
        </p:sp>
        <p:sp>
          <p:nvSpPr>
            <p:cNvPr id="6" name="Mode pill AUTO"/>
            <p:cNvSpPr/>
            <p:nvPr/>
          </p:nvSpPr>
          <p:spPr>
            <a:xfrm>
              <a:off x="4087368" y="1527048"/>
              <a:ext cx="1280160" cy="365760"/>
            </a:xfrm>
            <a:prstGeom prst="roundRect">
              <a:avLst>
                <a:gd name="adj" fmla="val 50000"/>
              </a:avLst>
            </a:prstGeom>
            <a:solidFill>
              <a:srgbClr val="343A43"/>
            </a:solidFill>
            <a:ln w="19050">
              <a:solidFill>
                <a:srgbClr val="4A515B"/>
              </a:solidFill>
            </a:ln>
          </p:spPr>
          <p:txBody>
            <a:bodyPr wrap="square" lIns="18288" tIns="0" rIns="18288" bIns="0" rtlCol="0" anchor="ctr">
              <a:noAutofit/>
            </a:bodyPr>
            <a:lstStyle/>
            <a:p>
              <a:pPr algn="ctr"/>
              <a:r>
                <a:rPr lang="en-GB" sz="1400" b="1" i="0">
                  <a:solidFill>
                    <a:srgbClr val="F2F2F2"/>
                  </a:solidFill>
                  <a:latin typeface="Arial"/>
                </a:rPr>
                <a:t>AUTO</a:t>
              </a:r>
            </a:p>
          </p:txBody>
        </p:sp>
        <p:sp>
          <p:nvSpPr>
            <p:cNvPr id="7" name="Mode pill YARD"/>
            <p:cNvSpPr/>
            <p:nvPr/>
          </p:nvSpPr>
          <p:spPr>
            <a:xfrm>
              <a:off x="5458968" y="1527048"/>
              <a:ext cx="1280160" cy="365760"/>
            </a:xfrm>
            <a:prstGeom prst="roundRect">
              <a:avLst>
                <a:gd name="adj" fmla="val 50000"/>
              </a:avLst>
            </a:prstGeom>
            <a:solidFill>
              <a:srgbClr val="F28C28"/>
            </a:solidFill>
            <a:ln w="19050">
              <a:solidFill>
                <a:srgbClr val="F28C28"/>
              </a:solidFill>
            </a:ln>
          </p:spPr>
          <p:txBody>
            <a:bodyPr wrap="square" lIns="18288" tIns="0" rIns="18288" bIns="0" rtlCol="0" anchor="ctr">
              <a:noAutofit/>
            </a:bodyPr>
            <a:lstStyle/>
            <a:p>
              <a:pPr algn="ctr"/>
              <a:r>
                <a:rPr lang="en-GB" sz="1400" b="1" i="0">
                  <a:solidFill>
                    <a:srgbClr val="101418"/>
                  </a:solidFill>
                  <a:latin typeface="Arial"/>
                </a:rPr>
                <a:t>YARD</a:t>
              </a:r>
            </a:p>
          </p:txBody>
        </p:sp>
        <p:sp>
          <p:nvSpPr>
            <p:cNvPr id="8" name="Mode pill MAINLINE"/>
            <p:cNvSpPr/>
            <p:nvPr/>
          </p:nvSpPr>
          <p:spPr>
            <a:xfrm>
              <a:off x="6830568" y="1527048"/>
              <a:ext cx="1280160" cy="365760"/>
            </a:xfrm>
            <a:prstGeom prst="roundRect">
              <a:avLst>
                <a:gd name="adj" fmla="val 50000"/>
              </a:avLst>
            </a:prstGeom>
            <a:solidFill>
              <a:srgbClr val="343A43"/>
            </a:solidFill>
            <a:ln w="19050">
              <a:solidFill>
                <a:srgbClr val="4A515B"/>
              </a:solidFill>
            </a:ln>
          </p:spPr>
          <p:txBody>
            <a:bodyPr wrap="square" lIns="18288" tIns="0" rIns="18288" bIns="0" rtlCol="0" anchor="ctr">
              <a:noAutofit/>
            </a:bodyPr>
            <a:lstStyle/>
            <a:p>
              <a:pPr algn="ctr"/>
              <a:r>
                <a:rPr lang="en-GB" sz="1400" b="1" i="0">
                  <a:solidFill>
                    <a:srgbClr val="F2F2F2"/>
                  </a:solidFill>
                  <a:latin typeface="Arial"/>
                </a:rPr>
                <a:t>MAINLINE</a:t>
              </a:r>
            </a:p>
          </p:txBody>
        </p:sp>
        <p:cxnSp>
          <p:nvCxnSpPr>
            <p:cNvPr id="9" name="Connector 8"/>
            <p:cNvCxnSpPr/>
            <p:nvPr/>
          </p:nvCxnSpPr>
          <p:spPr>
            <a:xfrm flipV="1">
              <a:off x="5257800" y="2926080"/>
              <a:ext cx="685800" cy="1417320"/>
            </a:xfrm>
            <a:prstGeom prst="line">
              <a:avLst/>
            </a:prstGeom>
            <a:ln w="38100">
              <a:solidFill>
                <a:srgbClr val="6C7480"/>
              </a:solidFill>
            </a:ln>
          </p:spPr>
        </p:cxnSp>
        <p:cxnSp>
          <p:nvCxnSpPr>
            <p:cNvPr id="10" name="Connector 9"/>
            <p:cNvCxnSpPr/>
            <p:nvPr/>
          </p:nvCxnSpPr>
          <p:spPr>
            <a:xfrm flipV="1">
              <a:off x="5943600" y="2514600"/>
              <a:ext cx="914400" cy="411480"/>
            </a:xfrm>
            <a:prstGeom prst="line">
              <a:avLst/>
            </a:prstGeom>
            <a:ln w="38100">
              <a:solidFill>
                <a:srgbClr val="6C7480"/>
              </a:solidFill>
            </a:ln>
          </p:spPr>
        </p:cxnSp>
        <p:cxnSp>
          <p:nvCxnSpPr>
            <p:cNvPr id="11" name="Connector 10"/>
            <p:cNvCxnSpPr/>
            <p:nvPr/>
          </p:nvCxnSpPr>
          <p:spPr>
            <a:xfrm>
              <a:off x="6126480" y="4343400"/>
              <a:ext cx="868680" cy="0"/>
            </a:xfrm>
            <a:prstGeom prst="line">
              <a:avLst/>
            </a:prstGeom>
            <a:ln w="38100">
              <a:solidFill>
                <a:srgbClr val="6C7480"/>
              </a:solidFill>
            </a:ln>
          </p:spPr>
        </p:cxnSp>
        <p:cxnSp>
          <p:nvCxnSpPr>
            <p:cNvPr id="12" name="Connector 11"/>
            <p:cNvCxnSpPr/>
            <p:nvPr/>
          </p:nvCxnSpPr>
          <p:spPr>
            <a:xfrm>
              <a:off x="6995160" y="4343400"/>
              <a:ext cx="914400" cy="0"/>
            </a:xfrm>
            <a:prstGeom prst="line">
              <a:avLst/>
            </a:prstGeom>
            <a:ln w="38100">
              <a:solidFill>
                <a:srgbClr val="6C7480"/>
              </a:solidFill>
            </a:ln>
          </p:spPr>
        </p:cxnSp>
        <p:cxnSp>
          <p:nvCxnSpPr>
            <p:cNvPr id="13" name="Connector 12"/>
            <p:cNvCxnSpPr/>
            <p:nvPr/>
          </p:nvCxnSpPr>
          <p:spPr>
            <a:xfrm>
              <a:off x="4389120" y="4343400"/>
              <a:ext cx="868680" cy="0"/>
            </a:xfrm>
            <a:prstGeom prst="line">
              <a:avLst/>
            </a:prstGeom>
            <a:ln w="63500">
              <a:solidFill>
                <a:srgbClr val="F28C28"/>
              </a:solidFill>
            </a:ln>
          </p:spPr>
        </p:cxnSp>
        <p:cxnSp>
          <p:nvCxnSpPr>
            <p:cNvPr id="14" name="Connector 13"/>
            <p:cNvCxnSpPr/>
            <p:nvPr/>
          </p:nvCxnSpPr>
          <p:spPr>
            <a:xfrm>
              <a:off x="5257800" y="4343400"/>
              <a:ext cx="868680" cy="0"/>
            </a:xfrm>
            <a:prstGeom prst="line">
              <a:avLst/>
            </a:prstGeom>
            <a:ln w="63500">
              <a:solidFill>
                <a:srgbClr val="F28C28"/>
              </a:solidFill>
            </a:ln>
          </p:spPr>
        </p:cxnSp>
        <p:cxnSp>
          <p:nvCxnSpPr>
            <p:cNvPr id="15" name="Connector 14"/>
            <p:cNvCxnSpPr/>
            <p:nvPr/>
          </p:nvCxnSpPr>
          <p:spPr>
            <a:xfrm flipV="1">
              <a:off x="6126480" y="3611880"/>
              <a:ext cx="868680" cy="731520"/>
            </a:xfrm>
            <a:prstGeom prst="line">
              <a:avLst/>
            </a:prstGeom>
            <a:ln w="63500">
              <a:solidFill>
                <a:srgbClr val="F28C28"/>
              </a:solidFill>
            </a:ln>
          </p:spPr>
        </p:cxnSp>
        <p:cxnSp>
          <p:nvCxnSpPr>
            <p:cNvPr id="16" name="Connector 15"/>
            <p:cNvCxnSpPr/>
            <p:nvPr/>
          </p:nvCxnSpPr>
          <p:spPr>
            <a:xfrm>
              <a:off x="6995160" y="3611880"/>
              <a:ext cx="914400" cy="0"/>
            </a:xfrm>
            <a:prstGeom prst="line">
              <a:avLst/>
            </a:prstGeom>
            <a:ln w="63500">
              <a:solidFill>
                <a:srgbClr val="F28C28"/>
              </a:solidFill>
            </a:ln>
          </p:spPr>
        </p:cxnSp>
        <p:sp>
          <p:nvSpPr>
            <p:cNvPr id="17" name="Oval 16"/>
            <p:cNvSpPr/>
            <p:nvPr/>
          </p:nvSpPr>
          <p:spPr>
            <a:xfrm>
              <a:off x="4224528" y="4178808"/>
              <a:ext cx="329184" cy="329184"/>
            </a:xfrm>
            <a:prstGeom prst="ellipse">
              <a:avLst/>
            </a:prstGeom>
            <a:solidFill>
              <a:srgbClr val="F28C28"/>
            </a:solidFill>
            <a:ln w="25400">
              <a:solidFill>
                <a:srgbClr val="F2F2F2"/>
              </a:solidFill>
            </a:ln>
          </p:spPr>
          <p:txBody>
            <a:bodyPr rtlCol="0" anchor="ctr"/>
            <a:lstStyle/>
            <a:p>
              <a:pPr algn="ctr"/>
              <a:endParaRPr/>
            </a:p>
          </p:txBody>
        </p:sp>
        <p:sp>
          <p:nvSpPr>
            <p:cNvPr id="18" name="Oval 17"/>
            <p:cNvSpPr/>
            <p:nvPr/>
          </p:nvSpPr>
          <p:spPr>
            <a:xfrm>
              <a:off x="5093208" y="4178808"/>
              <a:ext cx="329184" cy="329184"/>
            </a:xfrm>
            <a:prstGeom prst="ellipse">
              <a:avLst/>
            </a:prstGeom>
            <a:solidFill>
              <a:srgbClr val="F28C28"/>
            </a:solidFill>
            <a:ln w="25400">
              <a:solidFill>
                <a:srgbClr val="F2F2F2"/>
              </a:solidFill>
            </a:ln>
          </p:spPr>
          <p:txBody>
            <a:bodyPr rtlCol="0" anchor="ctr"/>
            <a:lstStyle/>
            <a:p>
              <a:pPr algn="ctr"/>
              <a:endParaRPr/>
            </a:p>
          </p:txBody>
        </p:sp>
        <p:sp>
          <p:nvSpPr>
            <p:cNvPr id="19" name="Oval 18"/>
            <p:cNvSpPr/>
            <p:nvPr/>
          </p:nvSpPr>
          <p:spPr>
            <a:xfrm>
              <a:off x="5961888" y="4178808"/>
              <a:ext cx="329184" cy="329184"/>
            </a:xfrm>
            <a:prstGeom prst="ellipse">
              <a:avLst/>
            </a:prstGeom>
            <a:solidFill>
              <a:srgbClr val="F28C28"/>
            </a:solidFill>
            <a:ln w="25400">
              <a:solidFill>
                <a:srgbClr val="F2F2F2"/>
              </a:solidFill>
            </a:ln>
          </p:spPr>
          <p:txBody>
            <a:bodyPr rtlCol="0" anchor="ctr"/>
            <a:lstStyle/>
            <a:p>
              <a:pPr algn="ctr"/>
              <a:endParaRPr/>
            </a:p>
          </p:txBody>
        </p:sp>
        <p:sp>
          <p:nvSpPr>
            <p:cNvPr id="20" name="Oval 19"/>
            <p:cNvSpPr/>
            <p:nvPr/>
          </p:nvSpPr>
          <p:spPr>
            <a:xfrm>
              <a:off x="6830568" y="3447288"/>
              <a:ext cx="329184" cy="329184"/>
            </a:xfrm>
            <a:prstGeom prst="ellipse">
              <a:avLst/>
            </a:prstGeom>
            <a:solidFill>
              <a:srgbClr val="F28C28"/>
            </a:solidFill>
            <a:ln w="25400">
              <a:solidFill>
                <a:srgbClr val="F2F2F2"/>
              </a:solidFill>
            </a:ln>
          </p:spPr>
          <p:txBody>
            <a:bodyPr rtlCol="0" anchor="ctr"/>
            <a:lstStyle/>
            <a:p>
              <a:pPr algn="ctr"/>
              <a:endParaRPr/>
            </a:p>
          </p:txBody>
        </p:sp>
        <p:sp>
          <p:nvSpPr>
            <p:cNvPr id="21" name="Oval 20"/>
            <p:cNvSpPr/>
            <p:nvPr/>
          </p:nvSpPr>
          <p:spPr>
            <a:xfrm>
              <a:off x="7744968" y="3447288"/>
              <a:ext cx="329184" cy="329184"/>
            </a:xfrm>
            <a:prstGeom prst="ellipse">
              <a:avLst/>
            </a:prstGeom>
            <a:solidFill>
              <a:srgbClr val="F28C28"/>
            </a:solidFill>
            <a:ln w="25400">
              <a:solidFill>
                <a:srgbClr val="F2F2F2"/>
              </a:solidFill>
            </a:ln>
          </p:spPr>
          <p:txBody>
            <a:bodyPr rtlCol="0" anchor="ctr"/>
            <a:lstStyle/>
            <a:p>
              <a:pPr algn="ctr"/>
              <a:endParaRPr/>
            </a:p>
          </p:txBody>
        </p:sp>
        <p:sp>
          <p:nvSpPr>
            <p:cNvPr id="22" name="Oval 21"/>
            <p:cNvSpPr/>
            <p:nvPr/>
          </p:nvSpPr>
          <p:spPr>
            <a:xfrm>
              <a:off x="6830568" y="4178808"/>
              <a:ext cx="329184" cy="329184"/>
            </a:xfrm>
            <a:prstGeom prst="ellipse">
              <a:avLst/>
            </a:prstGeom>
            <a:solidFill>
              <a:srgbClr val="2B2F36"/>
            </a:solidFill>
            <a:ln w="25400">
              <a:solidFill>
                <a:srgbClr val="6C7480"/>
              </a:solidFill>
            </a:ln>
          </p:spPr>
          <p:txBody>
            <a:bodyPr rtlCol="0" anchor="ctr"/>
            <a:lstStyle/>
            <a:p>
              <a:pPr algn="ctr"/>
              <a:endParaRPr/>
            </a:p>
          </p:txBody>
        </p:sp>
        <p:sp>
          <p:nvSpPr>
            <p:cNvPr id="23" name="Oval 22"/>
            <p:cNvSpPr/>
            <p:nvPr/>
          </p:nvSpPr>
          <p:spPr>
            <a:xfrm>
              <a:off x="7744968" y="4178808"/>
              <a:ext cx="329184" cy="329184"/>
            </a:xfrm>
            <a:prstGeom prst="ellipse">
              <a:avLst/>
            </a:prstGeom>
            <a:solidFill>
              <a:srgbClr val="2B2F36"/>
            </a:solidFill>
            <a:ln w="25400">
              <a:solidFill>
                <a:srgbClr val="6C7480"/>
              </a:solidFill>
            </a:ln>
          </p:spPr>
          <p:txBody>
            <a:bodyPr rtlCol="0" anchor="ctr"/>
            <a:lstStyle/>
            <a:p>
              <a:pPr algn="ctr"/>
              <a:endParaRPr/>
            </a:p>
          </p:txBody>
        </p:sp>
        <p:sp>
          <p:nvSpPr>
            <p:cNvPr id="24" name="Oval 23"/>
            <p:cNvSpPr/>
            <p:nvPr/>
          </p:nvSpPr>
          <p:spPr>
            <a:xfrm>
              <a:off x="5779008" y="2761488"/>
              <a:ext cx="329184" cy="329184"/>
            </a:xfrm>
            <a:prstGeom prst="ellipse">
              <a:avLst/>
            </a:prstGeom>
            <a:solidFill>
              <a:srgbClr val="2B2F36"/>
            </a:solidFill>
            <a:ln w="25400">
              <a:solidFill>
                <a:srgbClr val="6C7480"/>
              </a:solidFill>
            </a:ln>
          </p:spPr>
          <p:txBody>
            <a:bodyPr rtlCol="0" anchor="ctr"/>
            <a:lstStyle/>
            <a:p>
              <a:pPr algn="ctr"/>
              <a:endParaRPr/>
            </a:p>
          </p:txBody>
        </p:sp>
        <p:sp>
          <p:nvSpPr>
            <p:cNvPr id="25" name="Oval 24"/>
            <p:cNvSpPr/>
            <p:nvPr/>
          </p:nvSpPr>
          <p:spPr>
            <a:xfrm>
              <a:off x="6693408" y="2350008"/>
              <a:ext cx="329184" cy="329184"/>
            </a:xfrm>
            <a:prstGeom prst="ellipse">
              <a:avLst/>
            </a:prstGeom>
            <a:solidFill>
              <a:srgbClr val="2B2F36"/>
            </a:solidFill>
            <a:ln w="25400">
              <a:solidFill>
                <a:srgbClr val="6C7480"/>
              </a:solidFill>
            </a:ln>
          </p:spPr>
          <p:txBody>
            <a:bodyPr rtlCol="0" anchor="ctr"/>
            <a:lstStyle/>
            <a:p>
              <a:pPr algn="ctr"/>
              <a:endParaRPr/>
            </a:p>
          </p:txBody>
        </p:sp>
      </p:grpSp>
      <p:sp>
        <p:nvSpPr>
          <p:cNvPr id="26" name="TextBox 25"/>
          <p:cNvSpPr txBox="1"/>
          <p:nvPr/>
        </p:nvSpPr>
        <p:spPr>
          <a:xfrm>
            <a:off x="8503920" y="1417320"/>
            <a:ext cx="3136392" cy="731520"/>
          </a:xfrm>
          <a:prstGeom prst="rect">
            <a:avLst/>
          </a:prstGeom>
          <a:noFill/>
        </p:spPr>
        <p:txBody>
          <a:bodyPr wrap="square" lIns="18288" tIns="18288" rIns="18288" bIns="18288" anchor="t">
            <a:noAutofit/>
          </a:bodyPr>
          <a:lstStyle/>
          <a:p>
            <a:pPr algn="l"/>
            <a:r>
              <a:rPr lang="en-GB" sz="1800" b="1" i="0">
                <a:solidFill>
                  <a:srgbClr val="F2F2F2"/>
                </a:solidFill>
                <a:latin typeface="Arial"/>
              </a:rPr>
              <a:t>YARD: you set points one by one</a:t>
            </a:r>
          </a:p>
        </p:txBody>
      </p:sp>
      <p:sp>
        <p:nvSpPr>
          <p:cNvPr id="27" name="Mainline text"/>
          <p:cNvSpPr txBox="1"/>
          <p:nvPr/>
        </p:nvSpPr>
        <p:spPr>
          <a:xfrm>
            <a:off x="1143000" y="5029200"/>
            <a:ext cx="7498080" cy="411480"/>
          </a:xfrm>
          <a:prstGeom prst="rect">
            <a:avLst/>
          </a:prstGeom>
          <a:noFill/>
        </p:spPr>
        <p:txBody>
          <a:bodyPr wrap="square" lIns="18288" tIns="18288" rIns="18288" bIns="18288" anchor="ctr">
            <a:noAutofit/>
          </a:bodyPr>
          <a:lstStyle/>
          <a:p>
            <a:pPr algn="r"/>
            <a:r>
              <a:rPr lang="en-GB" sz="1800" b="1" i="0">
                <a:solidFill>
                  <a:srgbClr val="F2F2F2"/>
                </a:solidFill>
                <a:latin typeface="Arial"/>
              </a:rPr>
              <a:t>MAINLINE: pick a destination and let the game set points</a:t>
            </a:r>
          </a:p>
        </p:txBody>
      </p:sp>
      <p:sp>
        <p:nvSpPr>
          <p:cNvPr id="28" name="Chip: Proposed" descr="Status tag: Proposed"/>
          <p:cNvSpPr/>
          <p:nvPr/>
        </p:nvSpPr>
        <p:spPr>
          <a:xfrm>
            <a:off x="8778240" y="5047488"/>
            <a:ext cx="1508760" cy="365760"/>
          </a:xfrm>
          <a:prstGeom prst="roundRect">
            <a:avLst>
              <a:gd name="adj" fmla="val 20000"/>
            </a:avLst>
          </a:prstGeom>
          <a:solidFill>
            <a:srgbClr val="B084F5"/>
          </a:solidFill>
          <a:ln>
            <a:noFill/>
          </a:ln>
        </p:spPr>
        <p:txBody>
          <a:bodyPr wrap="none" lIns="27432" tIns="9144" rIns="27432" bIns="9144" rtlCol="0" anchor="ctr">
            <a:noAutofit/>
          </a:bodyPr>
          <a:lstStyle/>
          <a:p>
            <a:pPr algn="ctr"/>
            <a:r>
              <a:rPr lang="en-GB" sz="1400" b="1" i="0">
                <a:solidFill>
                  <a:srgbClr val="101418"/>
                </a:solidFill>
                <a:latin typeface="Arial"/>
              </a:rPr>
              <a:t>PROPOSED</a:t>
            </a:r>
          </a:p>
        </p:txBody>
      </p:sp>
      <p:sp>
        <p:nvSpPr>
          <p:cNvPr id="29"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Drivers can set nearby points from a simple track diagram. Signal boxes keep control.</a:t>
            </a:r>
          </a:p>
        </p:txBody>
      </p:sp>
      <p:sp>
        <p:nvSpPr>
          <p:cNvPr id="30"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31"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24</a:t>
            </a:r>
          </a:p>
        </p:txBody>
      </p:sp>
    </p:spTree>
    <p:extLst>
      <p:ext uri="{BB962C8B-B14F-4D97-AF65-F5344CB8AC3E}">
        <p14:creationId xmlns:p14="http://schemas.microsoft.com/office/powerpoint/2010/main" val="26230524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6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nodeType="withEffect">
                                  <p:stCondLst>
                                    <p:cond delay="90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nodeType="withEffect">
                                  <p:stCondLst>
                                    <p:cond delay="12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Where this stands</a:t>
            </a:r>
          </a:p>
        </p:txBody>
      </p:sp>
      <p:sp>
        <p:nvSpPr>
          <p:cNvPr id="3" name="Chip: Provisional" descr="Status tag: Provisional"/>
          <p:cNvSpPr/>
          <p:nvPr/>
        </p:nvSpPr>
        <p:spPr>
          <a:xfrm>
            <a:off x="10104120" y="457200"/>
            <a:ext cx="1508760" cy="365760"/>
          </a:xfrm>
          <a:prstGeom prst="roundRect">
            <a:avLst>
              <a:gd name="adj" fmla="val 20000"/>
            </a:avLst>
          </a:prstGeom>
          <a:solidFill>
            <a:srgbClr val="4DA3FF"/>
          </a:solidFill>
          <a:ln>
            <a:noFill/>
          </a:ln>
        </p:spPr>
        <p:txBody>
          <a:bodyPr wrap="none" lIns="27432" tIns="9144" rIns="27432" bIns="9144" rtlCol="0" anchor="ctr">
            <a:noAutofit/>
          </a:bodyPr>
          <a:lstStyle/>
          <a:p>
            <a:pPr algn="ctr"/>
            <a:r>
              <a:rPr lang="en-GB" sz="1400" b="1" i="0">
                <a:solidFill>
                  <a:srgbClr val="101418"/>
                </a:solidFill>
                <a:latin typeface="Arial"/>
              </a:rPr>
              <a:t>PROVISIONAL</a:t>
            </a:r>
          </a:p>
        </p:txBody>
      </p:sp>
      <p:pic>
        <p:nvPicPr>
          <p:cNvPr id="4" name="R03_semaphore_stop.jpg" descr="The mod's semaphore stop signal model with its arm flat (stop)."/>
          <p:cNvPicPr>
            <a:picLocks noChangeAspect="1"/>
          </p:cNvPicPr>
          <p:nvPr/>
        </p:nvPicPr>
        <p:blipFill>
          <a:blip r:embed="rId2"/>
          <a:srcRect/>
          <a:stretch>
            <a:fillRect/>
          </a:stretch>
        </p:blipFill>
        <p:spPr>
          <a:xfrm>
            <a:off x="548640" y="2103120"/>
            <a:ext cx="2377440" cy="1783080"/>
          </a:xfrm>
          <a:prstGeom prst="roundRect">
            <a:avLst>
              <a:gd name="adj" fmla="val 4102"/>
            </a:avLst>
          </a:prstGeom>
        </p:spPr>
      </p:pic>
      <p:sp>
        <p:nvSpPr>
          <p:cNvPr id="5" name="Credit"/>
          <p:cNvSpPr txBox="1"/>
          <p:nvPr/>
        </p:nvSpPr>
        <p:spPr>
          <a:xfrm>
            <a:off x="548640" y="3931920"/>
            <a:ext cx="2377440" cy="320040"/>
          </a:xfrm>
          <a:prstGeom prst="rect">
            <a:avLst/>
          </a:prstGeom>
          <a:noFill/>
        </p:spPr>
        <p:txBody>
          <a:bodyPr wrap="square" lIns="0" tIns="0" rIns="0" bIns="0" anchor="t">
            <a:noAutofit/>
          </a:bodyPr>
          <a:lstStyle/>
          <a:p>
            <a:pPr algn="l"/>
            <a:r>
              <a:rPr lang="en-GB" sz="1000" b="0" i="0">
                <a:solidFill>
                  <a:srgbClr val="A9B0B8"/>
                </a:solidFill>
                <a:latin typeface="Arial"/>
              </a:rPr>
              <a:t>Blender model, not yet in the game.</a:t>
            </a:r>
          </a:p>
        </p:txBody>
      </p:sp>
      <p:pic>
        <p:nvPicPr>
          <p:cNvPr id="6" name="R04_semaphore_clear.jpg" descr="The same signal model with its arm raised (clear)."/>
          <p:cNvPicPr>
            <a:picLocks noChangeAspect="1"/>
          </p:cNvPicPr>
          <p:nvPr/>
        </p:nvPicPr>
        <p:blipFill>
          <a:blip r:embed="rId3"/>
          <a:srcRect/>
          <a:stretch>
            <a:fillRect/>
          </a:stretch>
        </p:blipFill>
        <p:spPr>
          <a:xfrm>
            <a:off x="3154680" y="2103120"/>
            <a:ext cx="2377440" cy="1783080"/>
          </a:xfrm>
          <a:prstGeom prst="roundRect">
            <a:avLst>
              <a:gd name="adj" fmla="val 4102"/>
            </a:avLst>
          </a:prstGeom>
        </p:spPr>
      </p:pic>
      <p:sp>
        <p:nvSpPr>
          <p:cNvPr id="7" name="Credit"/>
          <p:cNvSpPr txBox="1"/>
          <p:nvPr/>
        </p:nvSpPr>
        <p:spPr>
          <a:xfrm>
            <a:off x="3154680" y="3931920"/>
            <a:ext cx="2377440" cy="320040"/>
          </a:xfrm>
          <a:prstGeom prst="rect">
            <a:avLst/>
          </a:prstGeom>
          <a:noFill/>
        </p:spPr>
        <p:txBody>
          <a:bodyPr wrap="square" lIns="0" tIns="0" rIns="0" bIns="0" anchor="t">
            <a:noAutofit/>
          </a:bodyPr>
          <a:lstStyle/>
          <a:p>
            <a:pPr algn="l"/>
            <a:r>
              <a:rPr lang="en-GB" sz="1000" b="0" i="0">
                <a:solidFill>
                  <a:srgbClr val="A9B0B8"/>
                </a:solidFill>
                <a:latin typeface="Arial"/>
              </a:rPr>
              <a:t>Blender model, not yet in the game.</a:t>
            </a:r>
          </a:p>
        </p:txBody>
      </p:sp>
      <p:grpSp>
        <p:nvGrpSpPr>
          <p:cNvPr id="8" name="Where the signalling work stands" descr="Four stages in a row. The semaphore model is built in Blender and is under way. In the game, signal boxes, and rods and wires are all planned."/>
          <p:cNvGrpSpPr/>
          <p:nvPr/>
        </p:nvGrpSpPr>
        <p:grpSpPr>
          <a:xfrm>
            <a:off x="5897880" y="2039112"/>
            <a:ext cx="5742432" cy="2441448"/>
            <a:chOff x="5897880" y="2039112"/>
            <a:chExt cx="5742432" cy="2441448"/>
          </a:xfrm>
        </p:grpSpPr>
        <p:cxnSp>
          <p:nvCxnSpPr>
            <p:cNvPr id="9" name="Connector 8"/>
            <p:cNvCxnSpPr/>
            <p:nvPr/>
          </p:nvCxnSpPr>
          <p:spPr>
            <a:xfrm>
              <a:off x="6556248" y="2194560"/>
              <a:ext cx="4416552" cy="0"/>
            </a:xfrm>
            <a:prstGeom prst="line">
              <a:avLst/>
            </a:prstGeom>
            <a:ln w="38100">
              <a:solidFill>
                <a:srgbClr val="9AA0A6"/>
              </a:solidFill>
            </a:ln>
          </p:spPr>
        </p:cxnSp>
        <p:sp>
          <p:nvSpPr>
            <p:cNvPr id="10" name="Oval 9"/>
            <p:cNvSpPr/>
            <p:nvPr/>
          </p:nvSpPr>
          <p:spPr>
            <a:xfrm>
              <a:off x="6405372" y="2039112"/>
              <a:ext cx="310896" cy="310896"/>
            </a:xfrm>
            <a:prstGeom prst="ellipse">
              <a:avLst/>
            </a:prstGeom>
            <a:solidFill>
              <a:srgbClr val="F28C28"/>
            </a:solidFill>
            <a:ln w="38100">
              <a:solidFill>
                <a:srgbClr val="F28C28"/>
              </a:solidFill>
            </a:ln>
          </p:spPr>
          <p:txBody>
            <a:bodyPr rtlCol="0" anchor="ctr"/>
            <a:lstStyle/>
            <a:p>
              <a:pPr algn="ctr"/>
              <a:endParaRPr/>
            </a:p>
          </p:txBody>
        </p:sp>
        <p:sp>
          <p:nvSpPr>
            <p:cNvPr id="11" name="Stage: Semaphore model: built in Blender"/>
            <p:cNvSpPr/>
            <p:nvPr/>
          </p:nvSpPr>
          <p:spPr>
            <a:xfrm>
              <a:off x="5897880" y="2606040"/>
              <a:ext cx="1325880" cy="1874520"/>
            </a:xfrm>
            <a:prstGeom prst="roundRect">
              <a:avLst>
                <a:gd name="adj" fmla="val 5517"/>
              </a:avLst>
            </a:prstGeom>
            <a:solidFill>
              <a:srgbClr val="2B2F36"/>
            </a:solidFill>
            <a:ln w="25400">
              <a:solidFill>
                <a:srgbClr val="F28C28"/>
              </a:solidFill>
            </a:ln>
          </p:spPr>
          <p:txBody>
            <a:bodyPr wrap="square" lIns="73152" tIns="109728" rIns="73152" rtlCol="0" anchor="t">
              <a:noAutofit/>
            </a:bodyPr>
            <a:lstStyle/>
            <a:p>
              <a:pPr algn="ctr"/>
              <a:r>
                <a:rPr lang="en-GB" sz="1600" b="1" i="0">
                  <a:solidFill>
                    <a:srgbClr val="F2F2F2"/>
                  </a:solidFill>
                  <a:latin typeface="Arial"/>
                </a:rPr>
                <a:t>Semaphore model: built in Blender</a:t>
              </a:r>
            </a:p>
          </p:txBody>
        </p:sp>
        <p:sp>
          <p:nvSpPr>
            <p:cNvPr id="12" name="State: Under way"/>
            <p:cNvSpPr/>
            <p:nvPr/>
          </p:nvSpPr>
          <p:spPr>
            <a:xfrm>
              <a:off x="6007608" y="3977640"/>
              <a:ext cx="1106424" cy="347472"/>
            </a:xfrm>
            <a:prstGeom prst="roundRect">
              <a:avLst>
                <a:gd name="adj" fmla="val 50000"/>
              </a:avLst>
            </a:prstGeom>
            <a:solidFill>
              <a:srgbClr val="F28C28"/>
            </a:solidFill>
            <a:ln>
              <a:noFill/>
            </a:ln>
          </p:spPr>
          <p:txBody>
            <a:bodyPr wrap="square" lIns="18288" tIns="0" rIns="18288" bIns="0" rtlCol="0" anchor="ctr">
              <a:noAutofit/>
            </a:bodyPr>
            <a:lstStyle/>
            <a:p>
              <a:pPr algn="ctr"/>
              <a:r>
                <a:rPr lang="en-GB" sz="1400" b="1" i="0">
                  <a:solidFill>
                    <a:srgbClr val="101418"/>
                  </a:solidFill>
                  <a:latin typeface="Arial"/>
                </a:rPr>
                <a:t>Under way</a:t>
              </a:r>
            </a:p>
          </p:txBody>
        </p:sp>
        <p:sp>
          <p:nvSpPr>
            <p:cNvPr id="13" name="Oval 12"/>
            <p:cNvSpPr/>
            <p:nvPr/>
          </p:nvSpPr>
          <p:spPr>
            <a:xfrm>
              <a:off x="7877556" y="2039112"/>
              <a:ext cx="310896" cy="310896"/>
            </a:xfrm>
            <a:prstGeom prst="ellipse">
              <a:avLst/>
            </a:prstGeom>
            <a:solidFill>
              <a:srgbClr val="1E2126"/>
            </a:solidFill>
            <a:ln w="38100">
              <a:solidFill>
                <a:srgbClr val="9AA0A6"/>
              </a:solidFill>
            </a:ln>
          </p:spPr>
          <p:txBody>
            <a:bodyPr rtlCol="0" anchor="ctr"/>
            <a:lstStyle/>
            <a:p>
              <a:pPr algn="ctr"/>
              <a:endParaRPr/>
            </a:p>
          </p:txBody>
        </p:sp>
        <p:sp>
          <p:nvSpPr>
            <p:cNvPr id="14" name="Stage: In the game: planned"/>
            <p:cNvSpPr/>
            <p:nvPr/>
          </p:nvSpPr>
          <p:spPr>
            <a:xfrm>
              <a:off x="7370064" y="2606040"/>
              <a:ext cx="1325880" cy="1874520"/>
            </a:xfrm>
            <a:prstGeom prst="roundRect">
              <a:avLst>
                <a:gd name="adj" fmla="val 5517"/>
              </a:avLst>
            </a:prstGeom>
            <a:solidFill>
              <a:srgbClr val="2B2F36"/>
            </a:solidFill>
            <a:ln w="25400">
              <a:solidFill>
                <a:srgbClr val="9AA0A6"/>
              </a:solidFill>
              <a:prstDash val="dash"/>
            </a:ln>
          </p:spPr>
          <p:txBody>
            <a:bodyPr wrap="square" lIns="73152" tIns="109728" rIns="73152" rtlCol="0" anchor="t">
              <a:noAutofit/>
            </a:bodyPr>
            <a:lstStyle/>
            <a:p>
              <a:pPr algn="ctr"/>
              <a:r>
                <a:rPr lang="en-GB" sz="1600" b="1" i="0">
                  <a:solidFill>
                    <a:srgbClr val="F2F2F2"/>
                  </a:solidFill>
                  <a:latin typeface="Arial"/>
                </a:rPr>
                <a:t>In the game: planned</a:t>
              </a:r>
            </a:p>
          </p:txBody>
        </p:sp>
        <p:sp>
          <p:nvSpPr>
            <p:cNvPr id="15" name="Oval 14"/>
            <p:cNvSpPr/>
            <p:nvPr/>
          </p:nvSpPr>
          <p:spPr>
            <a:xfrm>
              <a:off x="9349740" y="2039112"/>
              <a:ext cx="310896" cy="310896"/>
            </a:xfrm>
            <a:prstGeom prst="ellipse">
              <a:avLst/>
            </a:prstGeom>
            <a:solidFill>
              <a:srgbClr val="1E2126"/>
            </a:solidFill>
            <a:ln w="38100">
              <a:solidFill>
                <a:srgbClr val="9AA0A6"/>
              </a:solidFill>
            </a:ln>
          </p:spPr>
          <p:txBody>
            <a:bodyPr rtlCol="0" anchor="ctr"/>
            <a:lstStyle/>
            <a:p>
              <a:pPr algn="ctr"/>
              <a:endParaRPr/>
            </a:p>
          </p:txBody>
        </p:sp>
        <p:sp>
          <p:nvSpPr>
            <p:cNvPr id="16" name="Stage: Signal boxes: planned"/>
            <p:cNvSpPr/>
            <p:nvPr/>
          </p:nvSpPr>
          <p:spPr>
            <a:xfrm>
              <a:off x="8842248" y="2606040"/>
              <a:ext cx="1325880" cy="1874520"/>
            </a:xfrm>
            <a:prstGeom prst="roundRect">
              <a:avLst>
                <a:gd name="adj" fmla="val 5517"/>
              </a:avLst>
            </a:prstGeom>
            <a:solidFill>
              <a:srgbClr val="2B2F36"/>
            </a:solidFill>
            <a:ln w="25400">
              <a:solidFill>
                <a:srgbClr val="9AA0A6"/>
              </a:solidFill>
              <a:prstDash val="dash"/>
            </a:ln>
          </p:spPr>
          <p:txBody>
            <a:bodyPr wrap="square" lIns="73152" tIns="109728" rIns="73152" rtlCol="0" anchor="t">
              <a:noAutofit/>
            </a:bodyPr>
            <a:lstStyle/>
            <a:p>
              <a:pPr algn="ctr"/>
              <a:r>
                <a:rPr lang="en-GB" sz="1600" b="1" i="0">
                  <a:solidFill>
                    <a:srgbClr val="F2F2F2"/>
                  </a:solidFill>
                  <a:latin typeface="Arial"/>
                </a:rPr>
                <a:t>Signal boxes: planned</a:t>
              </a:r>
            </a:p>
          </p:txBody>
        </p:sp>
        <p:sp>
          <p:nvSpPr>
            <p:cNvPr id="17" name="Oval 16"/>
            <p:cNvSpPr/>
            <p:nvPr/>
          </p:nvSpPr>
          <p:spPr>
            <a:xfrm>
              <a:off x="10821924" y="2039112"/>
              <a:ext cx="310896" cy="310896"/>
            </a:xfrm>
            <a:prstGeom prst="ellipse">
              <a:avLst/>
            </a:prstGeom>
            <a:solidFill>
              <a:srgbClr val="1E2126"/>
            </a:solidFill>
            <a:ln w="38100">
              <a:solidFill>
                <a:srgbClr val="9AA0A6"/>
              </a:solidFill>
            </a:ln>
          </p:spPr>
          <p:txBody>
            <a:bodyPr rtlCol="0" anchor="ctr"/>
            <a:lstStyle/>
            <a:p>
              <a:pPr algn="ctr"/>
              <a:endParaRPr/>
            </a:p>
          </p:txBody>
        </p:sp>
        <p:sp>
          <p:nvSpPr>
            <p:cNvPr id="18" name="Stage: Rods and wires: planned"/>
            <p:cNvSpPr/>
            <p:nvPr/>
          </p:nvSpPr>
          <p:spPr>
            <a:xfrm>
              <a:off x="10314432" y="2606040"/>
              <a:ext cx="1325880" cy="1874520"/>
            </a:xfrm>
            <a:prstGeom prst="roundRect">
              <a:avLst>
                <a:gd name="adj" fmla="val 5517"/>
              </a:avLst>
            </a:prstGeom>
            <a:solidFill>
              <a:srgbClr val="2B2F36"/>
            </a:solidFill>
            <a:ln w="25400">
              <a:solidFill>
                <a:srgbClr val="9AA0A6"/>
              </a:solidFill>
              <a:prstDash val="dash"/>
            </a:ln>
          </p:spPr>
          <p:txBody>
            <a:bodyPr wrap="square" lIns="73152" tIns="109728" rIns="73152" rtlCol="0" anchor="t">
              <a:noAutofit/>
            </a:bodyPr>
            <a:lstStyle/>
            <a:p>
              <a:pPr algn="ctr"/>
              <a:r>
                <a:rPr lang="en-GB" sz="1600" b="1" i="0">
                  <a:solidFill>
                    <a:srgbClr val="F2F2F2"/>
                  </a:solidFill>
                  <a:latin typeface="Arial"/>
                </a:rPr>
                <a:t>Rods and wires: planned</a:t>
              </a:r>
            </a:p>
          </p:txBody>
        </p:sp>
      </p:grpSp>
      <p:sp>
        <p:nvSpPr>
          <p:cNvPr id="19" name="Chip: Provisional (plans)" descr="Status tag: Provisional"/>
          <p:cNvSpPr/>
          <p:nvPr/>
        </p:nvSpPr>
        <p:spPr>
          <a:xfrm>
            <a:off x="5897880" y="4754880"/>
            <a:ext cx="2743200" cy="384048"/>
          </a:xfrm>
          <a:prstGeom prst="roundRect">
            <a:avLst>
              <a:gd name="adj" fmla="val 19047"/>
            </a:avLst>
          </a:prstGeom>
          <a:solidFill>
            <a:srgbClr val="4DA3FF"/>
          </a:solidFill>
          <a:ln>
            <a:noFill/>
          </a:ln>
        </p:spPr>
        <p:txBody>
          <a:bodyPr wrap="square" lIns="27432" tIns="9144" rIns="27432" bIns="9144" rtlCol="0" anchor="ctr">
            <a:noAutofit/>
          </a:bodyPr>
          <a:lstStyle/>
          <a:p>
            <a:pPr algn="ctr"/>
            <a:r>
              <a:rPr lang="en-GB" sz="1400" b="1" i="0">
                <a:solidFill>
                  <a:srgbClr val="101418"/>
                </a:solidFill>
                <a:latin typeface="Arial"/>
              </a:rPr>
              <a:t>Plans can change.</a:t>
            </a:r>
          </a:p>
        </p:txBody>
      </p:sp>
      <p:sp>
        <p:nvSpPr>
          <p:cNvPr id="20"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The semaphore model exists in Blender only. It is not in the game yet.</a:t>
            </a:r>
          </a:p>
        </p:txBody>
      </p:sp>
      <p:sp>
        <p:nvSpPr>
          <p:cNvPr id="21"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22"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25</a:t>
            </a:r>
          </a:p>
        </p:txBody>
      </p:sp>
    </p:spTree>
    <p:extLst>
      <p:ext uri="{BB962C8B-B14F-4D97-AF65-F5344CB8AC3E}">
        <p14:creationId xmlns:p14="http://schemas.microsoft.com/office/powerpoint/2010/main" val="38924345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90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12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Still undecided</a:t>
            </a:r>
          </a:p>
        </p:txBody>
      </p:sp>
      <p:sp>
        <p:nvSpPr>
          <p:cNvPr id="3" name="Chip: Undecided" descr="Status tag: Undecided"/>
          <p:cNvSpPr/>
          <p:nvPr/>
        </p:nvSpPr>
        <p:spPr>
          <a:xfrm>
            <a:off x="10104120" y="457200"/>
            <a:ext cx="1508760" cy="365760"/>
          </a:xfrm>
          <a:prstGeom prst="roundRect">
            <a:avLst>
              <a:gd name="adj" fmla="val 20000"/>
            </a:avLst>
          </a:prstGeom>
          <a:noFill/>
          <a:ln w="25400">
            <a:solidFill>
              <a:srgbClr val="A9B0B8"/>
            </a:solidFill>
          </a:ln>
        </p:spPr>
        <p:txBody>
          <a:bodyPr wrap="none" lIns="27432" tIns="9144" rIns="27432" bIns="9144" rtlCol="0" anchor="ctr">
            <a:noAutofit/>
          </a:bodyPr>
          <a:lstStyle/>
          <a:p>
            <a:pPr algn="ctr"/>
            <a:r>
              <a:rPr lang="en-GB" sz="1400" b="1" i="0">
                <a:solidFill>
                  <a:srgbClr val="F2F2F2"/>
                </a:solidFill>
                <a:latin typeface="Arial"/>
              </a:rPr>
              <a:t>UNDECIDED</a:t>
            </a:r>
          </a:p>
        </p:txBody>
      </p:sp>
      <p:grpSp>
        <p:nvGrpSpPr>
          <p:cNvPr id="4" name="Open questions" descr="Eight cards, each marked undecided, each a question that is still open. Nothing has been chosen."/>
          <p:cNvGrpSpPr/>
          <p:nvPr/>
        </p:nvGrpSpPr>
        <p:grpSpPr>
          <a:xfrm>
            <a:off x="548640" y="1508760"/>
            <a:ext cx="11092586" cy="3749040"/>
            <a:chOff x="548640" y="1508760"/>
            <a:chExt cx="11092586" cy="3749040"/>
          </a:xfrm>
        </p:grpSpPr>
        <p:sp>
          <p:nvSpPr>
            <p:cNvPr id="5" name="Rounded Rectangle 4"/>
            <p:cNvSpPr/>
            <p:nvPr/>
          </p:nvSpPr>
          <p:spPr>
            <a:xfrm>
              <a:off x="548640" y="1508760"/>
              <a:ext cx="2651760" cy="1783080"/>
            </a:xfrm>
            <a:prstGeom prst="roundRect">
              <a:avLst>
                <a:gd name="adj" fmla="val 4102"/>
              </a:avLst>
            </a:prstGeom>
            <a:solidFill>
              <a:srgbClr val="2B2F36"/>
            </a:solidFill>
            <a:ln w="12700">
              <a:solidFill>
                <a:srgbClr val="4A515B"/>
              </a:solidFill>
            </a:ln>
          </p:spPr>
          <p:txBody>
            <a:bodyPr rtlCol="0" anchor="ctr"/>
            <a:lstStyle/>
            <a:p>
              <a:pPr algn="ctr"/>
              <a:endParaRPr/>
            </a:p>
          </p:txBody>
        </p:sp>
        <p:sp>
          <p:nvSpPr>
            <p:cNvPr id="6" name="Chip: Undecided (card)" descr="Status tag: Undecided"/>
            <p:cNvSpPr/>
            <p:nvPr/>
          </p:nvSpPr>
          <p:spPr>
            <a:xfrm>
              <a:off x="685800" y="1645920"/>
              <a:ext cx="2103120" cy="310896"/>
            </a:xfrm>
            <a:prstGeom prst="roundRect">
              <a:avLst>
                <a:gd name="adj" fmla="val 23529"/>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UNDECIDED · OQ03</a:t>
              </a:r>
            </a:p>
          </p:txBody>
        </p:sp>
        <p:sp>
          <p:nvSpPr>
            <p:cNvPr id="7" name="TextBox 6"/>
            <p:cNvSpPr txBox="1"/>
            <p:nvPr/>
          </p:nvSpPr>
          <p:spPr>
            <a:xfrm>
              <a:off x="685800" y="2057400"/>
              <a:ext cx="2377440" cy="1143000"/>
            </a:xfrm>
            <a:prstGeom prst="rect">
              <a:avLst/>
            </a:prstGeom>
            <a:noFill/>
          </p:spPr>
          <p:txBody>
            <a:bodyPr wrap="square" lIns="0" tIns="18288" rIns="0" bIns="0" anchor="t">
              <a:noAutofit/>
            </a:bodyPr>
            <a:lstStyle/>
            <a:p>
              <a:pPr algn="l"/>
              <a:r>
                <a:rPr lang="en-GB" sz="2000" b="1" i="0">
                  <a:solidFill>
                    <a:srgbClr val="F2F2F2"/>
                  </a:solidFill>
                  <a:latin typeface="Arial"/>
                </a:rPr>
                <a:t>Block lengths, speed caps</a:t>
              </a:r>
            </a:p>
          </p:txBody>
        </p:sp>
        <p:sp>
          <p:nvSpPr>
            <p:cNvPr id="8" name="Rounded Rectangle 7"/>
            <p:cNvSpPr/>
            <p:nvPr/>
          </p:nvSpPr>
          <p:spPr>
            <a:xfrm>
              <a:off x="3362249" y="1508760"/>
              <a:ext cx="2651760" cy="1783080"/>
            </a:xfrm>
            <a:prstGeom prst="roundRect">
              <a:avLst>
                <a:gd name="adj" fmla="val 4102"/>
              </a:avLst>
            </a:prstGeom>
            <a:solidFill>
              <a:srgbClr val="2B2F36"/>
            </a:solidFill>
            <a:ln w="12700">
              <a:solidFill>
                <a:srgbClr val="4A515B"/>
              </a:solidFill>
            </a:ln>
          </p:spPr>
          <p:txBody>
            <a:bodyPr rtlCol="0" anchor="ctr"/>
            <a:lstStyle/>
            <a:p>
              <a:pPr algn="ctr"/>
              <a:endParaRPr/>
            </a:p>
          </p:txBody>
        </p:sp>
        <p:sp>
          <p:nvSpPr>
            <p:cNvPr id="9" name="Chip: Undecided (card)" descr="Status tag: Undecided"/>
            <p:cNvSpPr/>
            <p:nvPr/>
          </p:nvSpPr>
          <p:spPr>
            <a:xfrm>
              <a:off x="3499409" y="1645920"/>
              <a:ext cx="2103120" cy="310896"/>
            </a:xfrm>
            <a:prstGeom prst="roundRect">
              <a:avLst>
                <a:gd name="adj" fmla="val 23529"/>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UNDECIDED · OQ03</a:t>
              </a:r>
            </a:p>
          </p:txBody>
        </p:sp>
        <p:sp>
          <p:nvSpPr>
            <p:cNvPr id="10" name="TextBox 9"/>
            <p:cNvSpPr txBox="1"/>
            <p:nvPr/>
          </p:nvSpPr>
          <p:spPr>
            <a:xfrm>
              <a:off x="3499409" y="2057400"/>
              <a:ext cx="2377440" cy="1143000"/>
            </a:xfrm>
            <a:prstGeom prst="rect">
              <a:avLst/>
            </a:prstGeom>
            <a:noFill/>
          </p:spPr>
          <p:txBody>
            <a:bodyPr wrap="square" lIns="0" tIns="18288" rIns="0" bIns="0" anchor="t">
              <a:noAutofit/>
            </a:bodyPr>
            <a:lstStyle/>
            <a:p>
              <a:pPr algn="l"/>
              <a:r>
                <a:rPr lang="en-GB" sz="2000" b="1" i="0">
                  <a:solidFill>
                    <a:srgbClr val="F2F2F2"/>
                  </a:solidFill>
                  <a:latin typeface="Arial"/>
                </a:rPr>
                <a:t>If a signal fails?</a:t>
              </a:r>
            </a:p>
          </p:txBody>
        </p:sp>
        <p:sp>
          <p:nvSpPr>
            <p:cNvPr id="11" name="Rounded Rectangle 10"/>
            <p:cNvSpPr/>
            <p:nvPr/>
          </p:nvSpPr>
          <p:spPr>
            <a:xfrm>
              <a:off x="6175858" y="1508760"/>
              <a:ext cx="2651760" cy="1783080"/>
            </a:xfrm>
            <a:prstGeom prst="roundRect">
              <a:avLst>
                <a:gd name="adj" fmla="val 4102"/>
              </a:avLst>
            </a:prstGeom>
            <a:solidFill>
              <a:srgbClr val="2B2F36"/>
            </a:solidFill>
            <a:ln w="12700">
              <a:solidFill>
                <a:srgbClr val="4A515B"/>
              </a:solidFill>
            </a:ln>
          </p:spPr>
          <p:txBody>
            <a:bodyPr rtlCol="0" anchor="ctr"/>
            <a:lstStyle/>
            <a:p>
              <a:pPr algn="ctr"/>
              <a:endParaRPr/>
            </a:p>
          </p:txBody>
        </p:sp>
        <p:sp>
          <p:nvSpPr>
            <p:cNvPr id="12" name="Chip: Undecided (card)" descr="Status tag: Undecided"/>
            <p:cNvSpPr/>
            <p:nvPr/>
          </p:nvSpPr>
          <p:spPr>
            <a:xfrm>
              <a:off x="6313018" y="1645920"/>
              <a:ext cx="2103120" cy="310896"/>
            </a:xfrm>
            <a:prstGeom prst="roundRect">
              <a:avLst>
                <a:gd name="adj" fmla="val 23529"/>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UNDECIDED · OQ03</a:t>
              </a:r>
            </a:p>
          </p:txBody>
        </p:sp>
        <p:sp>
          <p:nvSpPr>
            <p:cNvPr id="13" name="TextBox 12"/>
            <p:cNvSpPr txBox="1"/>
            <p:nvPr/>
          </p:nvSpPr>
          <p:spPr>
            <a:xfrm>
              <a:off x="6313018" y="2057400"/>
              <a:ext cx="2377440" cy="1143000"/>
            </a:xfrm>
            <a:prstGeom prst="rect">
              <a:avLst/>
            </a:prstGeom>
            <a:noFill/>
          </p:spPr>
          <p:txBody>
            <a:bodyPr wrap="square" lIns="0" tIns="18288" rIns="0" bIns="0" anchor="t">
              <a:noAutofit/>
            </a:bodyPr>
            <a:lstStyle/>
            <a:p>
              <a:pPr algn="l"/>
              <a:r>
                <a:rPr lang="en-GB" sz="2000" b="1" i="0">
                  <a:solidFill>
                    <a:srgbClr val="F2F2F2"/>
                  </a:solidFill>
                  <a:latin typeface="Arial"/>
                </a:rPr>
                <a:t>Which later signals first?</a:t>
              </a:r>
            </a:p>
          </p:txBody>
        </p:sp>
        <p:sp>
          <p:nvSpPr>
            <p:cNvPr id="14" name="Rounded Rectangle 13"/>
            <p:cNvSpPr/>
            <p:nvPr/>
          </p:nvSpPr>
          <p:spPr>
            <a:xfrm>
              <a:off x="8989466" y="1508760"/>
              <a:ext cx="2651760" cy="1783080"/>
            </a:xfrm>
            <a:prstGeom prst="roundRect">
              <a:avLst>
                <a:gd name="adj" fmla="val 4102"/>
              </a:avLst>
            </a:prstGeom>
            <a:solidFill>
              <a:srgbClr val="2B2F36"/>
            </a:solidFill>
            <a:ln w="12700">
              <a:solidFill>
                <a:srgbClr val="4A515B"/>
              </a:solidFill>
            </a:ln>
          </p:spPr>
          <p:txBody>
            <a:bodyPr rtlCol="0" anchor="ctr"/>
            <a:lstStyle/>
            <a:p>
              <a:pPr algn="ctr"/>
              <a:endParaRPr/>
            </a:p>
          </p:txBody>
        </p:sp>
        <p:sp>
          <p:nvSpPr>
            <p:cNvPr id="15" name="Chip: Undecided (card)" descr="Status tag: Undecided"/>
            <p:cNvSpPr/>
            <p:nvPr/>
          </p:nvSpPr>
          <p:spPr>
            <a:xfrm>
              <a:off x="9126626" y="1645920"/>
              <a:ext cx="2103120" cy="310896"/>
            </a:xfrm>
            <a:prstGeom prst="roundRect">
              <a:avLst>
                <a:gd name="adj" fmla="val 23529"/>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UNDECIDED · OQ04</a:t>
              </a:r>
            </a:p>
          </p:txBody>
        </p:sp>
        <p:sp>
          <p:nvSpPr>
            <p:cNvPr id="16" name="TextBox 15"/>
            <p:cNvSpPr txBox="1"/>
            <p:nvPr/>
          </p:nvSpPr>
          <p:spPr>
            <a:xfrm>
              <a:off x="9126626" y="2057400"/>
              <a:ext cx="2377440" cy="1143000"/>
            </a:xfrm>
            <a:prstGeom prst="rect">
              <a:avLst/>
            </a:prstGeom>
            <a:noFill/>
          </p:spPr>
          <p:txBody>
            <a:bodyPr wrap="square" lIns="0" tIns="18288" rIns="0" bIns="0" anchor="t">
              <a:noAutofit/>
            </a:bodyPr>
            <a:lstStyle/>
            <a:p>
              <a:pPr algn="l"/>
              <a:r>
                <a:rPr lang="en-GB" sz="2000" b="1" i="0">
                  <a:solidFill>
                    <a:srgbClr val="F2F2F2"/>
                  </a:solidFill>
                  <a:latin typeface="Arial"/>
                </a:rPr>
                <a:t>Measuring a box's reach</a:t>
              </a:r>
            </a:p>
          </p:txBody>
        </p:sp>
        <p:sp>
          <p:nvSpPr>
            <p:cNvPr id="17" name="Rounded Rectangle 16"/>
            <p:cNvSpPr/>
            <p:nvPr/>
          </p:nvSpPr>
          <p:spPr>
            <a:xfrm>
              <a:off x="548640" y="3474720"/>
              <a:ext cx="2651760" cy="1783080"/>
            </a:xfrm>
            <a:prstGeom prst="roundRect">
              <a:avLst>
                <a:gd name="adj" fmla="val 4102"/>
              </a:avLst>
            </a:prstGeom>
            <a:solidFill>
              <a:srgbClr val="2B2F36"/>
            </a:solidFill>
            <a:ln w="12700">
              <a:solidFill>
                <a:srgbClr val="4A515B"/>
              </a:solidFill>
            </a:ln>
          </p:spPr>
          <p:txBody>
            <a:bodyPr rtlCol="0" anchor="ctr"/>
            <a:lstStyle/>
            <a:p>
              <a:pPr algn="ctr"/>
              <a:endParaRPr/>
            </a:p>
          </p:txBody>
        </p:sp>
        <p:sp>
          <p:nvSpPr>
            <p:cNvPr id="18" name="Chip: Undecided (card)" descr="Status tag: Undecided"/>
            <p:cNvSpPr/>
            <p:nvPr/>
          </p:nvSpPr>
          <p:spPr>
            <a:xfrm>
              <a:off x="685800" y="3611880"/>
              <a:ext cx="2103120" cy="310896"/>
            </a:xfrm>
            <a:prstGeom prst="roundRect">
              <a:avLst>
                <a:gd name="adj" fmla="val 23529"/>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UNDECIDED · OQ04</a:t>
              </a:r>
            </a:p>
          </p:txBody>
        </p:sp>
        <p:sp>
          <p:nvSpPr>
            <p:cNvPr id="19" name="TextBox 18"/>
            <p:cNvSpPr txBox="1"/>
            <p:nvPr/>
          </p:nvSpPr>
          <p:spPr>
            <a:xfrm>
              <a:off x="685800" y="4023360"/>
              <a:ext cx="2377440" cy="1143000"/>
            </a:xfrm>
            <a:prstGeom prst="rect">
              <a:avLst/>
            </a:prstGeom>
            <a:noFill/>
          </p:spPr>
          <p:txBody>
            <a:bodyPr wrap="square" lIns="0" tIns="18288" rIns="0" bIns="0" anchor="t">
              <a:noAutofit/>
            </a:bodyPr>
            <a:lstStyle/>
            <a:p>
              <a:pPr algn="l"/>
              <a:r>
                <a:rPr lang="en-GB" sz="2000" b="1" i="0">
                  <a:solidFill>
                    <a:srgbClr val="F2F2F2"/>
                  </a:solidFill>
                  <a:latin typeface="Arial"/>
                </a:rPr>
                <a:t>Which box wins an overlap?</a:t>
              </a:r>
            </a:p>
          </p:txBody>
        </p:sp>
        <p:sp>
          <p:nvSpPr>
            <p:cNvPr id="20" name="Rounded Rectangle 19"/>
            <p:cNvSpPr/>
            <p:nvPr/>
          </p:nvSpPr>
          <p:spPr>
            <a:xfrm>
              <a:off x="3362249" y="3474720"/>
              <a:ext cx="2651760" cy="1783080"/>
            </a:xfrm>
            <a:prstGeom prst="roundRect">
              <a:avLst>
                <a:gd name="adj" fmla="val 4102"/>
              </a:avLst>
            </a:prstGeom>
            <a:solidFill>
              <a:srgbClr val="2B2F36"/>
            </a:solidFill>
            <a:ln w="12700">
              <a:solidFill>
                <a:srgbClr val="4A515B"/>
              </a:solidFill>
            </a:ln>
          </p:spPr>
          <p:txBody>
            <a:bodyPr rtlCol="0" anchor="ctr"/>
            <a:lstStyle/>
            <a:p>
              <a:pPr algn="ctr"/>
              <a:endParaRPr/>
            </a:p>
          </p:txBody>
        </p:sp>
        <p:sp>
          <p:nvSpPr>
            <p:cNvPr id="21" name="Chip: Undecided (card)" descr="Status tag: Undecided"/>
            <p:cNvSpPr/>
            <p:nvPr/>
          </p:nvSpPr>
          <p:spPr>
            <a:xfrm>
              <a:off x="3499409" y="3611880"/>
              <a:ext cx="2103120" cy="310896"/>
            </a:xfrm>
            <a:prstGeom prst="roundRect">
              <a:avLst>
                <a:gd name="adj" fmla="val 23529"/>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UNDECIDED · OQ04</a:t>
              </a:r>
            </a:p>
          </p:txBody>
        </p:sp>
        <p:sp>
          <p:nvSpPr>
            <p:cNvPr id="22" name="TextBox 21"/>
            <p:cNvSpPr txBox="1"/>
            <p:nvPr/>
          </p:nvSpPr>
          <p:spPr>
            <a:xfrm>
              <a:off x="3499409" y="4023360"/>
              <a:ext cx="2377440" cy="1143000"/>
            </a:xfrm>
            <a:prstGeom prst="rect">
              <a:avLst/>
            </a:prstGeom>
            <a:noFill/>
          </p:spPr>
          <p:txBody>
            <a:bodyPr wrap="square" lIns="0" tIns="18288" rIns="0" bIns="0" anchor="t">
              <a:noAutofit/>
            </a:bodyPr>
            <a:lstStyle/>
            <a:p>
              <a:pPr algn="l"/>
              <a:r>
                <a:rPr lang="en-GB" sz="2000" b="1" i="0">
                  <a:solidFill>
                    <a:srgbClr val="F2F2F2"/>
                  </a:solidFill>
                  <a:latin typeface="Arial"/>
                </a:rPr>
                <a:t>Rod or wire look</a:t>
              </a:r>
            </a:p>
          </p:txBody>
        </p:sp>
        <p:sp>
          <p:nvSpPr>
            <p:cNvPr id="23" name="Rounded Rectangle 22"/>
            <p:cNvSpPr/>
            <p:nvPr/>
          </p:nvSpPr>
          <p:spPr>
            <a:xfrm>
              <a:off x="6175858" y="3474720"/>
              <a:ext cx="2651760" cy="1783080"/>
            </a:xfrm>
            <a:prstGeom prst="roundRect">
              <a:avLst>
                <a:gd name="adj" fmla="val 4102"/>
              </a:avLst>
            </a:prstGeom>
            <a:solidFill>
              <a:srgbClr val="2B2F36"/>
            </a:solidFill>
            <a:ln w="12700">
              <a:solidFill>
                <a:srgbClr val="4A515B"/>
              </a:solidFill>
            </a:ln>
          </p:spPr>
          <p:txBody>
            <a:bodyPr rtlCol="0" anchor="ctr"/>
            <a:lstStyle/>
            <a:p>
              <a:pPr algn="ctr"/>
              <a:endParaRPr/>
            </a:p>
          </p:txBody>
        </p:sp>
        <p:sp>
          <p:nvSpPr>
            <p:cNvPr id="24" name="Chip: Undecided (card)" descr="Status tag: Undecided"/>
            <p:cNvSpPr/>
            <p:nvPr/>
          </p:nvSpPr>
          <p:spPr>
            <a:xfrm>
              <a:off x="6313018" y="3611880"/>
              <a:ext cx="2103120" cy="310896"/>
            </a:xfrm>
            <a:prstGeom prst="roundRect">
              <a:avLst>
                <a:gd name="adj" fmla="val 23529"/>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UNDECIDED</a:t>
              </a:r>
            </a:p>
          </p:txBody>
        </p:sp>
        <p:sp>
          <p:nvSpPr>
            <p:cNvPr id="25" name="TextBox 24"/>
            <p:cNvSpPr txBox="1"/>
            <p:nvPr/>
          </p:nvSpPr>
          <p:spPr>
            <a:xfrm>
              <a:off x="6313018" y="4023360"/>
              <a:ext cx="2377440" cy="1143000"/>
            </a:xfrm>
            <a:prstGeom prst="rect">
              <a:avLst/>
            </a:prstGeom>
            <a:noFill/>
          </p:spPr>
          <p:txBody>
            <a:bodyPr wrap="square" lIns="0" tIns="18288" rIns="0" bIns="0" anchor="t">
              <a:noAutofit/>
            </a:bodyPr>
            <a:lstStyle/>
            <a:p>
              <a:pPr algn="l"/>
              <a:r>
                <a:rPr lang="en-GB" sz="2000" b="1" i="0">
                  <a:solidFill>
                    <a:srgbClr val="F2F2F2"/>
                  </a:solidFill>
                  <a:latin typeface="Arial"/>
                </a:rPr>
                <a:t>Arm: rises or drops?</a:t>
              </a:r>
            </a:p>
          </p:txBody>
        </p:sp>
        <p:sp>
          <p:nvSpPr>
            <p:cNvPr id="26" name="Rounded Rectangle 25"/>
            <p:cNvSpPr/>
            <p:nvPr/>
          </p:nvSpPr>
          <p:spPr>
            <a:xfrm>
              <a:off x="8989466" y="3474720"/>
              <a:ext cx="2651760" cy="1783080"/>
            </a:xfrm>
            <a:prstGeom prst="roundRect">
              <a:avLst>
                <a:gd name="adj" fmla="val 4102"/>
              </a:avLst>
            </a:prstGeom>
            <a:solidFill>
              <a:srgbClr val="2B2F36"/>
            </a:solidFill>
            <a:ln w="12700">
              <a:solidFill>
                <a:srgbClr val="4A515B"/>
              </a:solidFill>
            </a:ln>
          </p:spPr>
          <p:txBody>
            <a:bodyPr rtlCol="0" anchor="ctr"/>
            <a:lstStyle/>
            <a:p>
              <a:pPr algn="ctr"/>
              <a:endParaRPr/>
            </a:p>
          </p:txBody>
        </p:sp>
        <p:sp>
          <p:nvSpPr>
            <p:cNvPr id="27" name="Chip: Undecided (card)" descr="Status tag: Undecided"/>
            <p:cNvSpPr/>
            <p:nvPr/>
          </p:nvSpPr>
          <p:spPr>
            <a:xfrm>
              <a:off x="9126626" y="3611880"/>
              <a:ext cx="2103120" cy="310896"/>
            </a:xfrm>
            <a:prstGeom prst="roundRect">
              <a:avLst>
                <a:gd name="adj" fmla="val 23529"/>
              </a:avLst>
            </a:prstGeom>
            <a:noFill/>
            <a:ln w="25400">
              <a:solidFill>
                <a:srgbClr val="A9B0B8"/>
              </a:solidFill>
            </a:ln>
          </p:spPr>
          <p:txBody>
            <a:bodyPr wrap="square" lIns="27432" tIns="9144" rIns="27432" bIns="9144" rtlCol="0" anchor="ctr">
              <a:noAutofit/>
            </a:bodyPr>
            <a:lstStyle/>
            <a:p>
              <a:pPr algn="ctr"/>
              <a:r>
                <a:rPr lang="en-GB" sz="1400" b="1" i="0">
                  <a:solidFill>
                    <a:srgbClr val="F2F2F2"/>
                  </a:solidFill>
                  <a:latin typeface="Arial"/>
                </a:rPr>
                <a:t>UNDECIDED</a:t>
              </a:r>
            </a:p>
          </p:txBody>
        </p:sp>
        <p:sp>
          <p:nvSpPr>
            <p:cNvPr id="28" name="TextBox 27"/>
            <p:cNvSpPr txBox="1"/>
            <p:nvPr/>
          </p:nvSpPr>
          <p:spPr>
            <a:xfrm>
              <a:off x="9126626" y="4023360"/>
              <a:ext cx="2377440" cy="1143000"/>
            </a:xfrm>
            <a:prstGeom prst="rect">
              <a:avLst/>
            </a:prstGeom>
            <a:noFill/>
          </p:spPr>
          <p:txBody>
            <a:bodyPr wrap="square" lIns="0" tIns="18288" rIns="0" bIns="0" anchor="t">
              <a:noAutofit/>
            </a:bodyPr>
            <a:lstStyle/>
            <a:p>
              <a:pPr algn="l"/>
              <a:r>
                <a:rPr lang="en-GB" sz="2000" b="1" i="0">
                  <a:solidFill>
                    <a:srgbClr val="F2F2F2"/>
                  </a:solidFill>
                  <a:latin typeface="Arial"/>
                </a:rPr>
                <a:t>Who sets points near signals?</a:t>
              </a:r>
            </a:p>
          </p:txBody>
        </p:sp>
      </p:grpSp>
      <p:sp>
        <p:nvSpPr>
          <p:cNvPr id="29"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These questions are open. Nothing here has been chosen yet.</a:t>
            </a:r>
          </a:p>
        </p:txBody>
      </p:sp>
      <p:sp>
        <p:nvSpPr>
          <p:cNvPr id="30"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31"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26</a:t>
            </a:r>
          </a:p>
        </p:txBody>
      </p:sp>
    </p:spTree>
    <p:extLst>
      <p:ext uri="{BB962C8B-B14F-4D97-AF65-F5344CB8AC3E}">
        <p14:creationId xmlns:p14="http://schemas.microsoft.com/office/powerpoint/2010/main" val="19353927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a:solidFill>
                  <a:srgbClr val="F2F2F2"/>
                </a:solidFill>
                <a:latin typeface="Arial"/>
              </a:rPr>
              <a:t>Image credits</a:t>
            </a:r>
          </a:p>
        </p:txBody>
      </p:sp>
      <p:graphicFrame>
        <p:nvGraphicFramePr>
          <p:cNvPr id="3" name="Image credits table" descr="Table of image credits: slot, slide, author and licence, and a source link for each picture."/>
          <p:cNvGraphicFramePr>
            <a:graphicFrameLocks noGrp="1"/>
          </p:cNvGraphicFramePr>
          <p:nvPr/>
        </p:nvGraphicFramePr>
        <p:xfrm>
          <a:off x="548640" y="1371600"/>
          <a:ext cx="11091672" cy="2688336"/>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603504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384048">
                <a:tc>
                  <a:txBody>
                    <a:bodyPr/>
                    <a:lstStyle/>
                    <a:p>
                      <a:r>
                        <a:rPr lang="en-GB" sz="1100" b="1">
                          <a:solidFill>
                            <a:srgbClr val="F2F2F2"/>
                          </a:solidFill>
                          <a:latin typeface="Arial"/>
                        </a:rPr>
                        <a:t>Slot</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4A515B"/>
                    </a:solidFill>
                  </a:tcPr>
                </a:tc>
                <a:tc>
                  <a:txBody>
                    <a:bodyPr/>
                    <a:lstStyle/>
                    <a:p>
                      <a:r>
                        <a:rPr lang="en-GB" sz="1100" b="1">
                          <a:solidFill>
                            <a:srgbClr val="F2F2F2"/>
                          </a:solidFill>
                          <a:latin typeface="Arial"/>
                        </a:rPr>
                        <a:t>Slide</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4A515B"/>
                    </a:solidFill>
                  </a:tcPr>
                </a:tc>
                <a:tc>
                  <a:txBody>
                    <a:bodyPr/>
                    <a:lstStyle/>
                    <a:p>
                      <a:r>
                        <a:rPr lang="en-GB" sz="1100" b="1">
                          <a:solidFill>
                            <a:srgbClr val="F2F2F2"/>
                          </a:solidFill>
                          <a:latin typeface="Arial"/>
                        </a:rPr>
                        <a:t>Author and licence</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4A515B"/>
                    </a:solidFill>
                  </a:tcPr>
                </a:tc>
                <a:tc>
                  <a:txBody>
                    <a:bodyPr/>
                    <a:lstStyle/>
                    <a:p>
                      <a:r>
                        <a:rPr lang="en-GB" sz="1100" b="1">
                          <a:solidFill>
                            <a:srgbClr val="F2F2F2"/>
                          </a:solidFill>
                          <a:latin typeface="Arial"/>
                        </a:rPr>
                        <a:t>Source link</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4A515B"/>
                    </a:solidFill>
                  </a:tcPr>
                </a:tc>
                <a:extLst>
                  <a:ext uri="{0D108BD9-81ED-4DB2-BD59-A6C34878D82A}">
                    <a16:rowId xmlns:a16="http://schemas.microsoft.com/office/drawing/2014/main" val="10000"/>
                  </a:ext>
                </a:extLst>
              </a:tr>
              <a:tr h="384048">
                <a:tc>
                  <a:txBody>
                    <a:bodyPr/>
                    <a:lstStyle/>
                    <a:p>
                      <a:r>
                        <a:rPr lang="en-GB" sz="1100" b="1">
                          <a:solidFill>
                            <a:srgbClr val="F2F2F2"/>
                          </a:solidFill>
                          <a:latin typeface="Arial"/>
                        </a:rPr>
                        <a:t>P13</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a:solidFill>
                            <a:srgbClr val="F2F2F2"/>
                          </a:solidFill>
                          <a:latin typeface="Arial"/>
                        </a:rPr>
                        <a:t>7</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a:solidFill>
                            <a:srgbClr val="F2F2F2"/>
                          </a:solidFill>
                          <a:latin typeface="Arial"/>
                        </a:rPr>
                        <a:t>Richard Dunn, CC BY-SA 2.0</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u="sng">
                          <a:solidFill>
                            <a:srgbClr val="F2F2F2"/>
                          </a:solidFill>
                          <a:latin typeface="Arial"/>
                          <a:hlinkClick r:id="rId2"/>
                        </a:rPr>
                        <a:t>Commons</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extLst>
                  <a:ext uri="{0D108BD9-81ED-4DB2-BD59-A6C34878D82A}">
                    <a16:rowId xmlns:a16="http://schemas.microsoft.com/office/drawing/2014/main" val="10001"/>
                  </a:ext>
                </a:extLst>
              </a:tr>
              <a:tr h="384048">
                <a:tc>
                  <a:txBody>
                    <a:bodyPr/>
                    <a:lstStyle/>
                    <a:p>
                      <a:r>
                        <a:rPr lang="en-GB" sz="1100" b="1">
                          <a:solidFill>
                            <a:srgbClr val="F2F2F2"/>
                          </a:solidFill>
                          <a:latin typeface="Arial"/>
                        </a:rPr>
                        <a:t>P14</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0">
                          <a:solidFill>
                            <a:srgbClr val="F2F2F2"/>
                          </a:solidFill>
                          <a:latin typeface="Arial"/>
                        </a:rPr>
                        <a:t>9</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0">
                          <a:solidFill>
                            <a:srgbClr val="F2F2F2"/>
                          </a:solidFill>
                          <a:latin typeface="Arial"/>
                        </a:rPr>
                        <a:t>Reading Tom, CC BY 2.0</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0" u="sng">
                          <a:solidFill>
                            <a:srgbClr val="F2F2F2"/>
                          </a:solidFill>
                          <a:latin typeface="Arial"/>
                          <a:hlinkClick r:id="rId3"/>
                        </a:rPr>
                        <a:t>Commons</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extLst>
                  <a:ext uri="{0D108BD9-81ED-4DB2-BD59-A6C34878D82A}">
                    <a16:rowId xmlns:a16="http://schemas.microsoft.com/office/drawing/2014/main" val="10002"/>
                  </a:ext>
                </a:extLst>
              </a:tr>
              <a:tr h="384048">
                <a:tc>
                  <a:txBody>
                    <a:bodyPr/>
                    <a:lstStyle/>
                    <a:p>
                      <a:r>
                        <a:rPr lang="en-GB" sz="1100" b="1">
                          <a:solidFill>
                            <a:srgbClr val="F2F2F2"/>
                          </a:solidFill>
                          <a:latin typeface="Arial"/>
                        </a:rPr>
                        <a:t>P15</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a:solidFill>
                            <a:srgbClr val="F2F2F2"/>
                          </a:solidFill>
                          <a:latin typeface="Arial"/>
                        </a:rPr>
                        <a:t>10</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a:solidFill>
                            <a:srgbClr val="F2F2F2"/>
                          </a:solidFill>
                          <a:latin typeface="Arial"/>
                        </a:rPr>
                        <a:t>Nigel Brown, CC BY-SA 2.0</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u="sng">
                          <a:solidFill>
                            <a:srgbClr val="F2F2F2"/>
                          </a:solidFill>
                          <a:latin typeface="Arial"/>
                          <a:hlinkClick r:id="rId4"/>
                        </a:rPr>
                        <a:t>Commons</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extLst>
                  <a:ext uri="{0D108BD9-81ED-4DB2-BD59-A6C34878D82A}">
                    <a16:rowId xmlns:a16="http://schemas.microsoft.com/office/drawing/2014/main" val="10003"/>
                  </a:ext>
                </a:extLst>
              </a:tr>
              <a:tr h="384048">
                <a:tc>
                  <a:txBody>
                    <a:bodyPr/>
                    <a:lstStyle/>
                    <a:p>
                      <a:r>
                        <a:rPr lang="en-GB" sz="1100" b="1">
                          <a:solidFill>
                            <a:srgbClr val="F2F2F2"/>
                          </a:solidFill>
                          <a:latin typeface="Arial"/>
                        </a:rPr>
                        <a:t>P16</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0">
                          <a:solidFill>
                            <a:srgbClr val="F2F2F2"/>
                          </a:solidFill>
                          <a:latin typeface="Arial"/>
                        </a:rPr>
                        <a:t>11</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0">
                          <a:solidFill>
                            <a:srgbClr val="F2F2F2"/>
                          </a:solidFill>
                          <a:latin typeface="Arial"/>
                        </a:rPr>
                        <a:t>mattbuck (category), CC BY-SA 3.0</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0" u="sng">
                          <a:solidFill>
                            <a:srgbClr val="F2F2F2"/>
                          </a:solidFill>
                          <a:latin typeface="Arial"/>
                          <a:hlinkClick r:id="rId5"/>
                        </a:rPr>
                        <a:t>Commons</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extLst>
                  <a:ext uri="{0D108BD9-81ED-4DB2-BD59-A6C34878D82A}">
                    <a16:rowId xmlns:a16="http://schemas.microsoft.com/office/drawing/2014/main" val="10004"/>
                  </a:ext>
                </a:extLst>
              </a:tr>
              <a:tr h="384048">
                <a:tc>
                  <a:txBody>
                    <a:bodyPr/>
                    <a:lstStyle/>
                    <a:p>
                      <a:r>
                        <a:rPr lang="en-GB" sz="1100" b="1">
                          <a:solidFill>
                            <a:srgbClr val="F2F2F2"/>
                          </a:solidFill>
                          <a:latin typeface="Arial"/>
                        </a:rPr>
                        <a:t>R03</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a:solidFill>
                            <a:srgbClr val="F2F2F2"/>
                          </a:solidFill>
                          <a:latin typeface="Arial"/>
                        </a:rPr>
                        <a:t>1, 20, 25</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a:solidFill>
                            <a:srgbClr val="F2F2F2"/>
                          </a:solidFill>
                          <a:latin typeface="Arial"/>
                        </a:rPr>
                        <a:t>Early Locomotion project (test model, not final art)</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a:solidFill>
                            <a:srgbClr val="F2F2F2"/>
                          </a:solidFill>
                          <a:latin typeface="Arial"/>
                        </a:rPr>
                        <a:t>Project render (no link)</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extLst>
                  <a:ext uri="{0D108BD9-81ED-4DB2-BD59-A6C34878D82A}">
                    <a16:rowId xmlns:a16="http://schemas.microsoft.com/office/drawing/2014/main" val="10005"/>
                  </a:ext>
                </a:extLst>
              </a:tr>
              <a:tr h="384048">
                <a:tc>
                  <a:txBody>
                    <a:bodyPr/>
                    <a:lstStyle/>
                    <a:p>
                      <a:r>
                        <a:rPr lang="en-GB" sz="1100" b="1">
                          <a:solidFill>
                            <a:srgbClr val="F2F2F2"/>
                          </a:solidFill>
                          <a:latin typeface="Arial"/>
                        </a:rPr>
                        <a:t>R04</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0">
                          <a:solidFill>
                            <a:srgbClr val="F2F2F2"/>
                          </a:solidFill>
                          <a:latin typeface="Arial"/>
                        </a:rPr>
                        <a:t>20, 25</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0">
                          <a:solidFill>
                            <a:srgbClr val="F2F2F2"/>
                          </a:solidFill>
                          <a:latin typeface="Arial"/>
                        </a:rPr>
                        <a:t>Early Locomotion project (test model, not final art)</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0">
                          <a:solidFill>
                            <a:srgbClr val="F2F2F2"/>
                          </a:solidFill>
                          <a:latin typeface="Arial"/>
                        </a:rPr>
                        <a:t>Project render (no link)</a:t>
                      </a:r>
                    </a:p>
                  </a:txBody>
                  <a:tcPr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extLst>
                  <a:ext uri="{0D108BD9-81ED-4DB2-BD59-A6C34878D82A}">
                    <a16:rowId xmlns:a16="http://schemas.microsoft.com/office/drawing/2014/main" val="10006"/>
                  </a:ext>
                </a:extLst>
              </a:tr>
            </a:tbl>
          </a:graphicData>
        </a:graphic>
      </p:graphicFrame>
      <p:sp>
        <p:nvSpPr>
          <p:cNvPr id="4" name="TextBox 3"/>
          <p:cNvSpPr txBox="1"/>
          <p:nvPr/>
        </p:nvSpPr>
        <p:spPr>
          <a:xfrm>
            <a:off x="548640" y="4572000"/>
            <a:ext cx="11091672" cy="365760"/>
          </a:xfrm>
          <a:prstGeom prst="rect">
            <a:avLst/>
          </a:prstGeom>
          <a:noFill/>
        </p:spPr>
        <p:txBody>
          <a:bodyPr wrap="square" lIns="18288" tIns="18288" rIns="18288" bIns="18288" anchor="ctr">
            <a:noAutofit/>
          </a:bodyPr>
          <a:lstStyle/>
          <a:p>
            <a:pPr algn="l"/>
            <a:r>
              <a:rPr lang="en-GB" sz="1400" b="1" i="0">
                <a:solidFill>
                  <a:srgbClr val="F2F2F2"/>
                </a:solidFill>
                <a:latin typeface="Arial"/>
              </a:rPr>
              <a:t>CC BY-SA photos are shown unmodified except for resizing.</a:t>
            </a:r>
          </a:p>
        </p:txBody>
      </p:sp>
      <p:sp>
        <p:nvSpPr>
          <p:cNvPr id="5" name="Caption"/>
          <p:cNvSpPr/>
          <p:nvPr/>
        </p:nvSpPr>
        <p:spPr>
          <a:xfrm>
            <a:off x="548640" y="5806440"/>
            <a:ext cx="11091672" cy="640080"/>
          </a:xfrm>
          <a:prstGeom prst="rect">
            <a:avLst/>
          </a:prstGeom>
          <a:solidFill>
            <a:srgbClr val="2B2F36"/>
          </a:solidFill>
          <a:ln>
            <a:noFill/>
          </a:ln>
        </p:spPr>
        <p:txBody>
          <a:bodyPr wrap="square" lIns="256032" tIns="18288" rIns="137160" bIns="18288" rtlCol="0" anchor="ctr">
            <a:noAutofit/>
          </a:bodyPr>
          <a:lstStyle/>
          <a:p>
            <a:pPr algn="l"/>
            <a:r>
              <a:rPr lang="en-GB" sz="2000" b="0" i="0">
                <a:solidFill>
                  <a:srgbClr val="F2F2F2"/>
                </a:solidFill>
                <a:latin typeface="Arial"/>
              </a:rPr>
              <a:t>Photographs come from Wikimedia Commons under Creative Commons licences.</a:t>
            </a:r>
          </a:p>
        </p:txBody>
      </p:sp>
      <p:sp>
        <p:nvSpPr>
          <p:cNvPr id="6" name="Caption rule"/>
          <p:cNvSpPr/>
          <p:nvPr/>
        </p:nvSpPr>
        <p:spPr>
          <a:xfrm>
            <a:off x="548640" y="5806440"/>
            <a:ext cx="73152" cy="640080"/>
          </a:xfrm>
          <a:prstGeom prst="rect">
            <a:avLst/>
          </a:prstGeom>
          <a:solidFill>
            <a:srgbClr val="F28C28"/>
          </a:solidFill>
          <a:ln>
            <a:noFill/>
          </a:ln>
        </p:spPr>
        <p:txBody>
          <a:bodyPr rtlCol="0" anchor="ctr"/>
          <a:lstStyle/>
          <a:p>
            <a:pPr algn="ctr"/>
            <a:endParaRPr/>
          </a:p>
        </p:txBody>
      </p:sp>
      <p:sp>
        <p:nvSpPr>
          <p:cNvPr id="7" name="Slide number"/>
          <p:cNvSpPr txBox="1"/>
          <p:nvPr/>
        </p:nvSpPr>
        <p:spPr>
          <a:xfrm>
            <a:off x="10698480" y="6492240"/>
            <a:ext cx="941832" cy="274320"/>
          </a:xfrm>
          <a:prstGeom prst="rect">
            <a:avLst/>
          </a:prstGeom>
          <a:noFill/>
        </p:spPr>
        <p:txBody>
          <a:bodyPr wrap="square" lIns="18288" tIns="18288" rIns="18288" bIns="18288" anchor="ctr">
            <a:noAutofit/>
          </a:bodyPr>
          <a:lstStyle/>
          <a:p>
            <a:pPr algn="r"/>
            <a:r>
              <a:rPr lang="en-GB" sz="1400" b="0" i="0">
                <a:solidFill>
                  <a:srgbClr val="A9B0B8"/>
                </a:solidFill>
                <a:latin typeface="Arial"/>
              </a:rPr>
              <a:t>27</a:t>
            </a:r>
          </a:p>
        </p:txBody>
      </p:sp>
    </p:spTree>
    <p:extLst>
      <p:ext uri="{BB962C8B-B14F-4D97-AF65-F5344CB8AC3E}">
        <p14:creationId xmlns:p14="http://schemas.microsoft.com/office/powerpoint/2010/main" val="10019832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1417320"/>
            <a:ext cx="6035040" cy="1828800"/>
          </a:xfrm>
        </p:spPr>
        <p:txBody>
          <a:bodyPr wrap="square" lIns="0" tIns="0" rIns="0" bIns="0" anchor="b">
            <a:noAutofit/>
          </a:bodyPr>
          <a:lstStyle/>
          <a:p>
            <a:pPr algn="l"/>
            <a:r>
              <a:rPr lang="en-GB" sz="5400" b="1" i="0">
                <a:solidFill>
                  <a:srgbClr val="F2F2F2"/>
                </a:solidFill>
                <a:latin typeface="Arial"/>
              </a:rPr>
              <a:t>Coal, Water and Servicing</a:t>
            </a:r>
          </a:p>
        </p:txBody>
      </p:sp>
      <p:pic>
        <p:nvPicPr>
          <p:cNvPr id="3" name="P17_coal_stage_water_tank_didcot" descr="A coal stage and a water tank at Didcot Railway Centre."/>
          <p:cNvPicPr>
            <a:picLocks noChangeAspect="1"/>
          </p:cNvPicPr>
          <p:nvPr/>
        </p:nvPicPr>
        <p:blipFill>
          <a:blip r:embed="rId2"/>
          <a:srcRect l="33812" r="20724"/>
          <a:stretch>
            <a:fillRect/>
          </a:stretch>
        </p:blipFill>
        <p:spPr>
          <a:xfrm>
            <a:off x="6903720" y="457200"/>
            <a:ext cx="4736592" cy="5852160"/>
          </a:xfrm>
          <a:prstGeom prst="roundRect">
            <a:avLst>
              <a:gd name="adj" fmla="val 1544"/>
            </a:avLst>
          </a:prstGeom>
        </p:spPr>
      </p:pic>
      <p:sp>
        <p:nvSpPr>
          <p:cNvPr id="4" name="CREDIT"/>
          <p:cNvSpPr txBox="1"/>
          <p:nvPr/>
        </p:nvSpPr>
        <p:spPr>
          <a:xfrm>
            <a:off x="6903720" y="6364224"/>
            <a:ext cx="4736592" cy="201168"/>
          </a:xfrm>
          <a:prstGeom prst="rect">
            <a:avLst/>
          </a:prstGeom>
          <a:noFill/>
        </p:spPr>
        <p:txBody>
          <a:bodyPr wrap="square" lIns="0" tIns="0" rIns="0" bIns="0" anchor="t">
            <a:noAutofit/>
          </a:bodyPr>
          <a:lstStyle/>
          <a:p>
            <a:pPr algn="l"/>
            <a:r>
              <a:rPr lang="en-GB" sz="1000" b="0" i="0">
                <a:solidFill>
                  <a:srgbClr val="A9B0B8"/>
                </a:solidFill>
                <a:latin typeface="Arial"/>
              </a:rPr>
              <a:t>Rosser1954, CC BY-SA 4.0. Coal stage and water tank, Didcot.</a:t>
            </a:r>
          </a:p>
        </p:txBody>
      </p:sp>
      <p:sp>
        <p:nvSpPr>
          <p:cNvPr id="5" name="orange rule"/>
          <p:cNvSpPr/>
          <p:nvPr/>
        </p:nvSpPr>
        <p:spPr>
          <a:xfrm>
            <a:off x="548640" y="3429000"/>
            <a:ext cx="1645920" cy="73152"/>
          </a:xfrm>
          <a:prstGeom prst="rect">
            <a:avLst/>
          </a:prstGeom>
          <a:solidFill>
            <a:srgbClr val="F28C28"/>
          </a:solidFill>
          <a:ln>
            <a:noFill/>
          </a:ln>
        </p:spPr>
        <p:txBody>
          <a:bodyPr rtlCol="0" anchor="ctr"/>
          <a:lstStyle/>
          <a:p>
            <a:pPr algn="ctr"/>
            <a:endParaRPr/>
          </a:p>
        </p:txBody>
      </p:sp>
      <p:sp>
        <p:nvSpPr>
          <p:cNvPr id="6" name="CAPTION"/>
          <p:cNvSpPr txBox="1"/>
          <p:nvPr/>
        </p:nvSpPr>
        <p:spPr>
          <a:xfrm>
            <a:off x="548640" y="3703320"/>
            <a:ext cx="5943600" cy="1188720"/>
          </a:xfrm>
          <a:prstGeom prst="rect">
            <a:avLst/>
          </a:prstGeom>
          <a:noFill/>
        </p:spPr>
        <p:txBody>
          <a:bodyPr wrap="square" lIns="0" tIns="0" rIns="0" bIns="0" anchor="t">
            <a:noAutofit/>
          </a:bodyPr>
          <a:lstStyle/>
          <a:p>
            <a:pPr algn="l"/>
            <a:r>
              <a:rPr lang="en-GB" sz="2000" b="0" i="0">
                <a:solidFill>
                  <a:srgbClr val="F2F2F2"/>
                </a:solidFill>
                <a:latin typeface="Arial"/>
              </a:rPr>
              <a:t>How steam locomotives eat, drink and get serviced, and how the mod plans to do it.</a:t>
            </a:r>
          </a:p>
        </p:txBody>
      </p:sp>
    </p:spTree>
    <p:extLst>
      <p:ext uri="{BB962C8B-B14F-4D97-AF65-F5344CB8AC3E}">
        <p14:creationId xmlns:p14="http://schemas.microsoft.com/office/powerpoint/2010/main" val="30039781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How to read this guide</a:t>
            </a:r>
          </a:p>
        </p:txBody>
      </p:sp>
      <p:grpSp>
        <p:nvGrpSpPr>
          <p:cNvPr id="3" name="Tag legend" descr="Legend: five tags and what each means. Agreed is decided, Proposed is suggested, Provisional is a test number, Undecided is an open question, Background is a real-world fact."/>
          <p:cNvGrpSpPr/>
          <p:nvPr/>
        </p:nvGrpSpPr>
        <p:grpSpPr>
          <a:xfrm>
            <a:off x="548640" y="1371600"/>
            <a:ext cx="7315200" cy="4206240"/>
            <a:chOff x="548640" y="1371600"/>
            <a:chExt cx="7315200" cy="4206240"/>
          </a:xfrm>
        </p:grpSpPr>
        <p:sp>
          <p:nvSpPr>
            <p:cNvPr id="4" name="legend panel"/>
            <p:cNvSpPr/>
            <p:nvPr/>
          </p:nvSpPr>
          <p:spPr>
            <a:xfrm>
              <a:off x="548640" y="1371600"/>
              <a:ext cx="7315200" cy="4206240"/>
            </a:xfrm>
            <a:prstGeom prst="roundRect">
              <a:avLst>
                <a:gd name="adj" fmla="val 1739"/>
              </a:avLst>
            </a:prstGeom>
            <a:solidFill>
              <a:srgbClr val="2B2F36"/>
            </a:solidFill>
            <a:ln>
              <a:noFill/>
            </a:ln>
          </p:spPr>
          <p:txBody>
            <a:bodyPr rtlCol="0" anchor="ctr"/>
            <a:lstStyle/>
            <a:p>
              <a:pPr algn="ctr"/>
              <a:endParaRPr/>
            </a:p>
          </p:txBody>
        </p:sp>
        <p:sp>
          <p:nvSpPr>
            <p:cNvPr id="5" name="CHIP LEGEND"/>
            <p:cNvSpPr/>
            <p:nvPr/>
          </p:nvSpPr>
          <p:spPr>
            <a:xfrm>
              <a:off x="868680" y="1572768"/>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sp>
          <p:nvSpPr>
            <p:cNvPr id="6" name="LEGEND TEXT"/>
            <p:cNvSpPr txBox="1"/>
            <p:nvPr/>
          </p:nvSpPr>
          <p:spPr>
            <a:xfrm>
              <a:off x="2743200" y="1481328"/>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Decided.</a:t>
              </a:r>
            </a:p>
          </p:txBody>
        </p:sp>
        <p:sp>
          <p:nvSpPr>
            <p:cNvPr id="7" name="CHIP LEGEND"/>
            <p:cNvSpPr/>
            <p:nvPr/>
          </p:nvSpPr>
          <p:spPr>
            <a:xfrm>
              <a:off x="868680" y="23591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8" name="LEGEND TEXT"/>
            <p:cNvSpPr txBox="1"/>
            <p:nvPr/>
          </p:nvSpPr>
          <p:spPr>
            <a:xfrm>
              <a:off x="2743200" y="2267712"/>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Suggested, not confirmed.</a:t>
              </a:r>
            </a:p>
          </p:txBody>
        </p:sp>
        <p:sp>
          <p:nvSpPr>
            <p:cNvPr id="9" name="CHIP LEGEND"/>
            <p:cNvSpPr/>
            <p:nvPr/>
          </p:nvSpPr>
          <p:spPr>
            <a:xfrm>
              <a:off x="868680" y="3145536"/>
              <a:ext cx="1554480" cy="365760"/>
            </a:xfrm>
            <a:prstGeom prst="roundRect">
              <a:avLst>
                <a:gd name="adj" fmla="val 300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sp>
          <p:nvSpPr>
            <p:cNvPr id="10" name="LEGEND TEXT"/>
            <p:cNvSpPr txBox="1"/>
            <p:nvPr/>
          </p:nvSpPr>
          <p:spPr>
            <a:xfrm>
              <a:off x="2743200" y="3054096"/>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A test number that may change.</a:t>
              </a:r>
            </a:p>
          </p:txBody>
        </p:sp>
        <p:sp>
          <p:nvSpPr>
            <p:cNvPr id="11" name="CHIP LEGEND"/>
            <p:cNvSpPr/>
            <p:nvPr/>
          </p:nvSpPr>
          <p:spPr>
            <a:xfrm>
              <a:off x="868680" y="3931920"/>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12" name="LEGEND TEXT"/>
            <p:cNvSpPr txBox="1"/>
            <p:nvPr/>
          </p:nvSpPr>
          <p:spPr>
            <a:xfrm>
              <a:off x="2743200" y="3840480"/>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Still an open question.</a:t>
              </a:r>
            </a:p>
          </p:txBody>
        </p:sp>
        <p:sp>
          <p:nvSpPr>
            <p:cNvPr id="13" name="CHIP LEGEND"/>
            <p:cNvSpPr/>
            <p:nvPr/>
          </p:nvSpPr>
          <p:spPr>
            <a:xfrm>
              <a:off x="868680" y="4718304"/>
              <a:ext cx="1554480" cy="365760"/>
            </a:xfrm>
            <a:prstGeom prst="roundRect">
              <a:avLst>
                <a:gd name="adj" fmla="val 30000"/>
              </a:avLst>
            </a:prstGeom>
            <a:solidFill>
              <a:srgbClr val="4A515B"/>
            </a:solidFill>
            <a:ln>
              <a:noFill/>
            </a:ln>
          </p:spPr>
          <p:txBody>
            <a:bodyPr wrap="square" lIns="54864" tIns="0" rIns="54864" bIns="0" rtlCol="0" anchor="ctr">
              <a:noAutofit/>
            </a:bodyPr>
            <a:lstStyle/>
            <a:p>
              <a:pPr algn="ctr"/>
              <a:r>
                <a:rPr lang="en-GB" sz="1400" b="1" i="0">
                  <a:solidFill>
                    <a:srgbClr val="F2F2F2"/>
                  </a:solidFill>
                  <a:latin typeface="Arial"/>
                </a:rPr>
                <a:t>BACKGROUND</a:t>
              </a:r>
            </a:p>
          </p:txBody>
        </p:sp>
        <p:sp>
          <p:nvSpPr>
            <p:cNvPr id="14" name="LEGEND TEXT"/>
            <p:cNvSpPr txBox="1"/>
            <p:nvPr/>
          </p:nvSpPr>
          <p:spPr>
            <a:xfrm>
              <a:off x="2743200" y="4626864"/>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A real-world fact.</a:t>
              </a:r>
            </a:p>
          </p:txBody>
        </p:sp>
      </p:grpSp>
      <p:grpSp>
        <p:nvGrpSpPr>
          <p:cNvPr id="15" name="Corner sketch" descr="Sketch of a slide with a tag in its top-right corner."/>
          <p:cNvGrpSpPr/>
          <p:nvPr/>
        </p:nvGrpSpPr>
        <p:grpSpPr>
          <a:xfrm>
            <a:off x="8412480" y="1737360"/>
            <a:ext cx="3200400" cy="1801368"/>
            <a:chOff x="8412480" y="1737360"/>
            <a:chExt cx="3200400" cy="1801368"/>
          </a:xfrm>
        </p:grpSpPr>
        <p:sp>
          <p:nvSpPr>
            <p:cNvPr id="16" name="slide sketch"/>
            <p:cNvSpPr/>
            <p:nvPr/>
          </p:nvSpPr>
          <p:spPr>
            <a:xfrm>
              <a:off x="8412480" y="1737360"/>
              <a:ext cx="3200400" cy="1801368"/>
            </a:xfrm>
            <a:prstGeom prst="roundRect">
              <a:avLst>
                <a:gd name="adj" fmla="val 4060"/>
              </a:avLst>
            </a:prstGeom>
            <a:solidFill>
              <a:srgbClr val="1E2126"/>
            </a:solidFill>
            <a:ln w="25400">
              <a:solidFill>
                <a:srgbClr val="9AA0A6"/>
              </a:solidFill>
            </a:ln>
          </p:spPr>
          <p:txBody>
            <a:bodyPr rtlCol="0" anchor="ctr"/>
            <a:lstStyle/>
            <a:p>
              <a:pPr algn="ctr"/>
              <a:endParaRPr/>
            </a:p>
          </p:txBody>
        </p:sp>
        <p:sp>
          <p:nvSpPr>
            <p:cNvPr id="17" name="title line"/>
            <p:cNvSpPr/>
            <p:nvPr/>
          </p:nvSpPr>
          <p:spPr>
            <a:xfrm>
              <a:off x="8641080" y="1965960"/>
              <a:ext cx="1371600" cy="109728"/>
            </a:xfrm>
            <a:prstGeom prst="rect">
              <a:avLst/>
            </a:prstGeom>
            <a:solidFill>
              <a:srgbClr val="4A515B"/>
            </a:solidFill>
            <a:ln>
              <a:noFill/>
            </a:ln>
          </p:spPr>
          <p:txBody>
            <a:bodyPr rtlCol="0" anchor="ctr"/>
            <a:lstStyle/>
            <a:p>
              <a:pPr algn="ctr"/>
              <a:endParaRPr/>
            </a:p>
          </p:txBody>
        </p:sp>
        <p:sp>
          <p:nvSpPr>
            <p:cNvPr id="18" name="body line"/>
            <p:cNvSpPr/>
            <p:nvPr/>
          </p:nvSpPr>
          <p:spPr>
            <a:xfrm>
              <a:off x="8641080" y="2286000"/>
              <a:ext cx="2011680" cy="73152"/>
            </a:xfrm>
            <a:prstGeom prst="rect">
              <a:avLst/>
            </a:prstGeom>
            <a:solidFill>
              <a:srgbClr val="4A515B"/>
            </a:solidFill>
            <a:ln>
              <a:noFill/>
            </a:ln>
          </p:spPr>
          <p:txBody>
            <a:bodyPr rtlCol="0" anchor="ctr"/>
            <a:lstStyle/>
            <a:p>
              <a:pPr algn="ctr"/>
              <a:endParaRPr/>
            </a:p>
          </p:txBody>
        </p:sp>
        <p:sp>
          <p:nvSpPr>
            <p:cNvPr id="19" name="body line"/>
            <p:cNvSpPr/>
            <p:nvPr/>
          </p:nvSpPr>
          <p:spPr>
            <a:xfrm>
              <a:off x="8641080" y="2468880"/>
              <a:ext cx="1645920" cy="73152"/>
            </a:xfrm>
            <a:prstGeom prst="rect">
              <a:avLst/>
            </a:prstGeom>
            <a:solidFill>
              <a:srgbClr val="4A515B"/>
            </a:solidFill>
            <a:ln>
              <a:noFill/>
            </a:ln>
          </p:spPr>
          <p:txBody>
            <a:bodyPr rtlCol="0" anchor="ctr"/>
            <a:lstStyle/>
            <a:p>
              <a:pPr algn="ctr"/>
              <a:endParaRPr/>
            </a:p>
          </p:txBody>
        </p:sp>
        <p:sp>
          <p:nvSpPr>
            <p:cNvPr id="20" name="tag sketch"/>
            <p:cNvSpPr/>
            <p:nvPr/>
          </p:nvSpPr>
          <p:spPr>
            <a:xfrm>
              <a:off x="10698480" y="1920240"/>
              <a:ext cx="731520" cy="237744"/>
            </a:xfrm>
            <a:prstGeom prst="roundRect">
              <a:avLst>
                <a:gd name="adj" fmla="val 30769"/>
              </a:avLst>
            </a:prstGeom>
            <a:solidFill>
              <a:srgbClr val="3FB950"/>
            </a:solidFill>
            <a:ln>
              <a:noFill/>
            </a:ln>
          </p:spPr>
          <p:txBody>
            <a:bodyPr rtlCol="0" anchor="ctr"/>
            <a:lstStyle/>
            <a:p>
              <a:pPr algn="ctr"/>
              <a:endParaRPr/>
            </a:p>
          </p:txBody>
        </p:sp>
        <p:cxnSp>
          <p:nvCxnSpPr>
            <p:cNvPr id="21" name="pointer"/>
            <p:cNvCxnSpPr/>
            <p:nvPr/>
          </p:nvCxnSpPr>
          <p:spPr>
            <a:xfrm flipV="1">
              <a:off x="10058400" y="2194560"/>
              <a:ext cx="822960" cy="548640"/>
            </a:xfrm>
            <a:prstGeom prst="line">
              <a:avLst/>
            </a:prstGeom>
            <a:ln w="28575">
              <a:solidFill>
                <a:srgbClr val="F28C28"/>
              </a:solidFill>
              <a:tailEnd type="triangle" w="med" len="med"/>
            </a:ln>
          </p:spPr>
        </p:cxnSp>
      </p:grpSp>
      <p:sp>
        <p:nvSpPr>
          <p:cNvPr id="2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3"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4"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Every idea carries a tag in the top-right corner.</a:t>
            </a:r>
          </a:p>
        </p:txBody>
      </p:sp>
      <p:sp>
        <p:nvSpPr>
          <p:cNvPr id="25"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a:t>
            </a:r>
          </a:p>
        </p:txBody>
      </p:sp>
    </p:spTree>
    <p:extLst>
      <p:ext uri="{BB962C8B-B14F-4D97-AF65-F5344CB8AC3E}">
        <p14:creationId xmlns:p14="http://schemas.microsoft.com/office/powerpoint/2010/main" val="12222256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60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9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nodeType="withEffect">
                                  <p:stCondLst>
                                    <p:cond delay="12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What an engine needs</a:t>
            </a:r>
          </a:p>
        </p:txBody>
      </p:sp>
      <p:sp>
        <p:nvSpPr>
          <p:cNvPr id="3" name="CHIP"/>
          <p:cNvSpPr/>
          <p:nvPr/>
        </p:nvSpPr>
        <p:spPr>
          <a:xfrm>
            <a:off x="10088575" y="530352"/>
            <a:ext cx="1554480" cy="365760"/>
          </a:xfrm>
          <a:prstGeom prst="roundRect">
            <a:avLst>
              <a:gd name="adj" fmla="val 30000"/>
            </a:avLst>
          </a:prstGeom>
          <a:solidFill>
            <a:srgbClr val="4A515B"/>
          </a:solidFill>
          <a:ln>
            <a:noFill/>
          </a:ln>
        </p:spPr>
        <p:txBody>
          <a:bodyPr wrap="square" lIns="54864" tIns="0" rIns="54864" bIns="0" rtlCol="0" anchor="ctr">
            <a:noAutofit/>
          </a:bodyPr>
          <a:lstStyle/>
          <a:p>
            <a:pPr algn="ctr"/>
            <a:r>
              <a:rPr lang="en-GB" sz="1400" b="1" i="0">
                <a:solidFill>
                  <a:srgbClr val="F2F2F2"/>
                </a:solidFill>
                <a:latin typeface="Arial"/>
              </a:rPr>
              <a:t>BACKGROUND</a:t>
            </a:r>
          </a:p>
        </p:txBody>
      </p:sp>
      <p:grpSp>
        <p:nvGrpSpPr>
          <p:cNvPr id="4" name="Engine cutaway" descr="Side cutaway of a steam engine. Coal burns in the firebox and heats water in the boiler. Steam drives a piston and rods turn the wheels. Water is fed into the boiler."/>
          <p:cNvGrpSpPr/>
          <p:nvPr/>
        </p:nvGrpSpPr>
        <p:grpSpPr>
          <a:xfrm>
            <a:off x="1097280" y="850392"/>
            <a:ext cx="9509760" cy="4590288"/>
            <a:chOff x="1097280" y="850392"/>
            <a:chExt cx="9509760" cy="4590288"/>
          </a:xfrm>
        </p:grpSpPr>
        <p:sp>
          <p:nvSpPr>
            <p:cNvPr id="5" name="rail"/>
            <p:cNvSpPr/>
            <p:nvPr/>
          </p:nvSpPr>
          <p:spPr>
            <a:xfrm>
              <a:off x="1097280" y="5285232"/>
              <a:ext cx="9144000" cy="64008"/>
            </a:xfrm>
            <a:prstGeom prst="rect">
              <a:avLst/>
            </a:prstGeom>
            <a:solidFill>
              <a:srgbClr val="9AA0A6"/>
            </a:solidFill>
            <a:ln>
              <a:noFill/>
            </a:ln>
          </p:spPr>
          <p:txBody>
            <a:bodyPr rtlCol="0" anchor="ctr"/>
            <a:lstStyle/>
            <a:p>
              <a:pPr algn="ctr"/>
              <a:endParaRPr/>
            </a:p>
          </p:txBody>
        </p:sp>
        <p:sp>
          <p:nvSpPr>
            <p:cNvPr id="6" name="sleeper"/>
            <p:cNvSpPr/>
            <p:nvPr/>
          </p:nvSpPr>
          <p:spPr>
            <a:xfrm>
              <a:off x="1188720" y="5349240"/>
              <a:ext cx="109728" cy="91440"/>
            </a:xfrm>
            <a:prstGeom prst="rect">
              <a:avLst/>
            </a:prstGeom>
            <a:solidFill>
              <a:srgbClr val="6B5B4B"/>
            </a:solidFill>
            <a:ln>
              <a:noFill/>
            </a:ln>
          </p:spPr>
          <p:txBody>
            <a:bodyPr rtlCol="0" anchor="ctr"/>
            <a:lstStyle/>
            <a:p>
              <a:pPr algn="ctr"/>
              <a:endParaRPr/>
            </a:p>
          </p:txBody>
        </p:sp>
        <p:sp>
          <p:nvSpPr>
            <p:cNvPr id="7" name="sleeper"/>
            <p:cNvSpPr/>
            <p:nvPr/>
          </p:nvSpPr>
          <p:spPr>
            <a:xfrm>
              <a:off x="1554480" y="5349240"/>
              <a:ext cx="109728" cy="91440"/>
            </a:xfrm>
            <a:prstGeom prst="rect">
              <a:avLst/>
            </a:prstGeom>
            <a:solidFill>
              <a:srgbClr val="6B5B4B"/>
            </a:solidFill>
            <a:ln>
              <a:noFill/>
            </a:ln>
          </p:spPr>
          <p:txBody>
            <a:bodyPr rtlCol="0" anchor="ctr"/>
            <a:lstStyle/>
            <a:p>
              <a:pPr algn="ctr"/>
              <a:endParaRPr/>
            </a:p>
          </p:txBody>
        </p:sp>
        <p:sp>
          <p:nvSpPr>
            <p:cNvPr id="8" name="sleeper"/>
            <p:cNvSpPr/>
            <p:nvPr/>
          </p:nvSpPr>
          <p:spPr>
            <a:xfrm>
              <a:off x="1920240" y="5349240"/>
              <a:ext cx="109728" cy="91440"/>
            </a:xfrm>
            <a:prstGeom prst="rect">
              <a:avLst/>
            </a:prstGeom>
            <a:solidFill>
              <a:srgbClr val="6B5B4B"/>
            </a:solidFill>
            <a:ln>
              <a:noFill/>
            </a:ln>
          </p:spPr>
          <p:txBody>
            <a:bodyPr rtlCol="0" anchor="ctr"/>
            <a:lstStyle/>
            <a:p>
              <a:pPr algn="ctr"/>
              <a:endParaRPr/>
            </a:p>
          </p:txBody>
        </p:sp>
        <p:sp>
          <p:nvSpPr>
            <p:cNvPr id="9" name="sleeper"/>
            <p:cNvSpPr/>
            <p:nvPr/>
          </p:nvSpPr>
          <p:spPr>
            <a:xfrm>
              <a:off x="2286000" y="5349240"/>
              <a:ext cx="109728" cy="91440"/>
            </a:xfrm>
            <a:prstGeom prst="rect">
              <a:avLst/>
            </a:prstGeom>
            <a:solidFill>
              <a:srgbClr val="6B5B4B"/>
            </a:solidFill>
            <a:ln>
              <a:noFill/>
            </a:ln>
          </p:spPr>
          <p:txBody>
            <a:bodyPr rtlCol="0" anchor="ctr"/>
            <a:lstStyle/>
            <a:p>
              <a:pPr algn="ctr"/>
              <a:endParaRPr/>
            </a:p>
          </p:txBody>
        </p:sp>
        <p:sp>
          <p:nvSpPr>
            <p:cNvPr id="10" name="sleeper"/>
            <p:cNvSpPr/>
            <p:nvPr/>
          </p:nvSpPr>
          <p:spPr>
            <a:xfrm>
              <a:off x="2651760" y="5349240"/>
              <a:ext cx="109728" cy="91440"/>
            </a:xfrm>
            <a:prstGeom prst="rect">
              <a:avLst/>
            </a:prstGeom>
            <a:solidFill>
              <a:srgbClr val="6B5B4B"/>
            </a:solidFill>
            <a:ln>
              <a:noFill/>
            </a:ln>
          </p:spPr>
          <p:txBody>
            <a:bodyPr rtlCol="0" anchor="ctr"/>
            <a:lstStyle/>
            <a:p>
              <a:pPr algn="ctr"/>
              <a:endParaRPr/>
            </a:p>
          </p:txBody>
        </p:sp>
        <p:sp>
          <p:nvSpPr>
            <p:cNvPr id="11" name="sleeper"/>
            <p:cNvSpPr/>
            <p:nvPr/>
          </p:nvSpPr>
          <p:spPr>
            <a:xfrm>
              <a:off x="3017520" y="5349240"/>
              <a:ext cx="109728" cy="91440"/>
            </a:xfrm>
            <a:prstGeom prst="rect">
              <a:avLst/>
            </a:prstGeom>
            <a:solidFill>
              <a:srgbClr val="6B5B4B"/>
            </a:solidFill>
            <a:ln>
              <a:noFill/>
            </a:ln>
          </p:spPr>
          <p:txBody>
            <a:bodyPr rtlCol="0" anchor="ctr"/>
            <a:lstStyle/>
            <a:p>
              <a:pPr algn="ctr"/>
              <a:endParaRPr/>
            </a:p>
          </p:txBody>
        </p:sp>
        <p:sp>
          <p:nvSpPr>
            <p:cNvPr id="12" name="sleeper"/>
            <p:cNvSpPr/>
            <p:nvPr/>
          </p:nvSpPr>
          <p:spPr>
            <a:xfrm>
              <a:off x="3383280" y="5349240"/>
              <a:ext cx="109728" cy="91440"/>
            </a:xfrm>
            <a:prstGeom prst="rect">
              <a:avLst/>
            </a:prstGeom>
            <a:solidFill>
              <a:srgbClr val="6B5B4B"/>
            </a:solidFill>
            <a:ln>
              <a:noFill/>
            </a:ln>
          </p:spPr>
          <p:txBody>
            <a:bodyPr rtlCol="0" anchor="ctr"/>
            <a:lstStyle/>
            <a:p>
              <a:pPr algn="ctr"/>
              <a:endParaRPr/>
            </a:p>
          </p:txBody>
        </p:sp>
        <p:sp>
          <p:nvSpPr>
            <p:cNvPr id="13" name="sleeper"/>
            <p:cNvSpPr/>
            <p:nvPr/>
          </p:nvSpPr>
          <p:spPr>
            <a:xfrm>
              <a:off x="3749040" y="5349240"/>
              <a:ext cx="109728" cy="91440"/>
            </a:xfrm>
            <a:prstGeom prst="rect">
              <a:avLst/>
            </a:prstGeom>
            <a:solidFill>
              <a:srgbClr val="6B5B4B"/>
            </a:solidFill>
            <a:ln>
              <a:noFill/>
            </a:ln>
          </p:spPr>
          <p:txBody>
            <a:bodyPr rtlCol="0" anchor="ctr"/>
            <a:lstStyle/>
            <a:p>
              <a:pPr algn="ctr"/>
              <a:endParaRPr/>
            </a:p>
          </p:txBody>
        </p:sp>
        <p:sp>
          <p:nvSpPr>
            <p:cNvPr id="14" name="sleeper"/>
            <p:cNvSpPr/>
            <p:nvPr/>
          </p:nvSpPr>
          <p:spPr>
            <a:xfrm>
              <a:off x="4114800" y="5349240"/>
              <a:ext cx="109728" cy="91440"/>
            </a:xfrm>
            <a:prstGeom prst="rect">
              <a:avLst/>
            </a:prstGeom>
            <a:solidFill>
              <a:srgbClr val="6B5B4B"/>
            </a:solidFill>
            <a:ln>
              <a:noFill/>
            </a:ln>
          </p:spPr>
          <p:txBody>
            <a:bodyPr rtlCol="0" anchor="ctr"/>
            <a:lstStyle/>
            <a:p>
              <a:pPr algn="ctr"/>
              <a:endParaRPr/>
            </a:p>
          </p:txBody>
        </p:sp>
        <p:sp>
          <p:nvSpPr>
            <p:cNvPr id="15" name="sleeper"/>
            <p:cNvSpPr/>
            <p:nvPr/>
          </p:nvSpPr>
          <p:spPr>
            <a:xfrm>
              <a:off x="4480560" y="5349240"/>
              <a:ext cx="109728" cy="91440"/>
            </a:xfrm>
            <a:prstGeom prst="rect">
              <a:avLst/>
            </a:prstGeom>
            <a:solidFill>
              <a:srgbClr val="6B5B4B"/>
            </a:solidFill>
            <a:ln>
              <a:noFill/>
            </a:ln>
          </p:spPr>
          <p:txBody>
            <a:bodyPr rtlCol="0" anchor="ctr"/>
            <a:lstStyle/>
            <a:p>
              <a:pPr algn="ctr"/>
              <a:endParaRPr/>
            </a:p>
          </p:txBody>
        </p:sp>
        <p:sp>
          <p:nvSpPr>
            <p:cNvPr id="16" name="sleeper"/>
            <p:cNvSpPr/>
            <p:nvPr/>
          </p:nvSpPr>
          <p:spPr>
            <a:xfrm>
              <a:off x="4846320" y="5349240"/>
              <a:ext cx="109728" cy="91440"/>
            </a:xfrm>
            <a:prstGeom prst="rect">
              <a:avLst/>
            </a:prstGeom>
            <a:solidFill>
              <a:srgbClr val="6B5B4B"/>
            </a:solidFill>
            <a:ln>
              <a:noFill/>
            </a:ln>
          </p:spPr>
          <p:txBody>
            <a:bodyPr rtlCol="0" anchor="ctr"/>
            <a:lstStyle/>
            <a:p>
              <a:pPr algn="ctr"/>
              <a:endParaRPr/>
            </a:p>
          </p:txBody>
        </p:sp>
        <p:sp>
          <p:nvSpPr>
            <p:cNvPr id="17" name="sleeper"/>
            <p:cNvSpPr/>
            <p:nvPr/>
          </p:nvSpPr>
          <p:spPr>
            <a:xfrm>
              <a:off x="5212080" y="5349240"/>
              <a:ext cx="109728" cy="91440"/>
            </a:xfrm>
            <a:prstGeom prst="rect">
              <a:avLst/>
            </a:prstGeom>
            <a:solidFill>
              <a:srgbClr val="6B5B4B"/>
            </a:solidFill>
            <a:ln>
              <a:noFill/>
            </a:ln>
          </p:spPr>
          <p:txBody>
            <a:bodyPr rtlCol="0" anchor="ctr"/>
            <a:lstStyle/>
            <a:p>
              <a:pPr algn="ctr"/>
              <a:endParaRPr/>
            </a:p>
          </p:txBody>
        </p:sp>
        <p:sp>
          <p:nvSpPr>
            <p:cNvPr id="18" name="sleeper"/>
            <p:cNvSpPr/>
            <p:nvPr/>
          </p:nvSpPr>
          <p:spPr>
            <a:xfrm>
              <a:off x="5577840" y="5349240"/>
              <a:ext cx="109728" cy="91440"/>
            </a:xfrm>
            <a:prstGeom prst="rect">
              <a:avLst/>
            </a:prstGeom>
            <a:solidFill>
              <a:srgbClr val="6B5B4B"/>
            </a:solidFill>
            <a:ln>
              <a:noFill/>
            </a:ln>
          </p:spPr>
          <p:txBody>
            <a:bodyPr rtlCol="0" anchor="ctr"/>
            <a:lstStyle/>
            <a:p>
              <a:pPr algn="ctr"/>
              <a:endParaRPr/>
            </a:p>
          </p:txBody>
        </p:sp>
        <p:sp>
          <p:nvSpPr>
            <p:cNvPr id="19" name="sleeper"/>
            <p:cNvSpPr/>
            <p:nvPr/>
          </p:nvSpPr>
          <p:spPr>
            <a:xfrm>
              <a:off x="5943600" y="5349240"/>
              <a:ext cx="109728" cy="91440"/>
            </a:xfrm>
            <a:prstGeom prst="rect">
              <a:avLst/>
            </a:prstGeom>
            <a:solidFill>
              <a:srgbClr val="6B5B4B"/>
            </a:solidFill>
            <a:ln>
              <a:noFill/>
            </a:ln>
          </p:spPr>
          <p:txBody>
            <a:bodyPr rtlCol="0" anchor="ctr"/>
            <a:lstStyle/>
            <a:p>
              <a:pPr algn="ctr"/>
              <a:endParaRPr/>
            </a:p>
          </p:txBody>
        </p:sp>
        <p:sp>
          <p:nvSpPr>
            <p:cNvPr id="20" name="sleeper"/>
            <p:cNvSpPr/>
            <p:nvPr/>
          </p:nvSpPr>
          <p:spPr>
            <a:xfrm>
              <a:off x="6309360" y="5349240"/>
              <a:ext cx="109728" cy="91440"/>
            </a:xfrm>
            <a:prstGeom prst="rect">
              <a:avLst/>
            </a:prstGeom>
            <a:solidFill>
              <a:srgbClr val="6B5B4B"/>
            </a:solidFill>
            <a:ln>
              <a:noFill/>
            </a:ln>
          </p:spPr>
          <p:txBody>
            <a:bodyPr rtlCol="0" anchor="ctr"/>
            <a:lstStyle/>
            <a:p>
              <a:pPr algn="ctr"/>
              <a:endParaRPr/>
            </a:p>
          </p:txBody>
        </p:sp>
        <p:sp>
          <p:nvSpPr>
            <p:cNvPr id="21" name="sleeper"/>
            <p:cNvSpPr/>
            <p:nvPr/>
          </p:nvSpPr>
          <p:spPr>
            <a:xfrm>
              <a:off x="6675120" y="5349240"/>
              <a:ext cx="109728" cy="91440"/>
            </a:xfrm>
            <a:prstGeom prst="rect">
              <a:avLst/>
            </a:prstGeom>
            <a:solidFill>
              <a:srgbClr val="6B5B4B"/>
            </a:solidFill>
            <a:ln>
              <a:noFill/>
            </a:ln>
          </p:spPr>
          <p:txBody>
            <a:bodyPr rtlCol="0" anchor="ctr"/>
            <a:lstStyle/>
            <a:p>
              <a:pPr algn="ctr"/>
              <a:endParaRPr/>
            </a:p>
          </p:txBody>
        </p:sp>
        <p:sp>
          <p:nvSpPr>
            <p:cNvPr id="22" name="sleeper"/>
            <p:cNvSpPr/>
            <p:nvPr/>
          </p:nvSpPr>
          <p:spPr>
            <a:xfrm>
              <a:off x="7040880" y="5349240"/>
              <a:ext cx="109728" cy="91440"/>
            </a:xfrm>
            <a:prstGeom prst="rect">
              <a:avLst/>
            </a:prstGeom>
            <a:solidFill>
              <a:srgbClr val="6B5B4B"/>
            </a:solidFill>
            <a:ln>
              <a:noFill/>
            </a:ln>
          </p:spPr>
          <p:txBody>
            <a:bodyPr rtlCol="0" anchor="ctr"/>
            <a:lstStyle/>
            <a:p>
              <a:pPr algn="ctr"/>
              <a:endParaRPr/>
            </a:p>
          </p:txBody>
        </p:sp>
        <p:sp>
          <p:nvSpPr>
            <p:cNvPr id="23" name="sleeper"/>
            <p:cNvSpPr/>
            <p:nvPr/>
          </p:nvSpPr>
          <p:spPr>
            <a:xfrm>
              <a:off x="7406640" y="5349240"/>
              <a:ext cx="109728" cy="91440"/>
            </a:xfrm>
            <a:prstGeom prst="rect">
              <a:avLst/>
            </a:prstGeom>
            <a:solidFill>
              <a:srgbClr val="6B5B4B"/>
            </a:solidFill>
            <a:ln>
              <a:noFill/>
            </a:ln>
          </p:spPr>
          <p:txBody>
            <a:bodyPr rtlCol="0" anchor="ctr"/>
            <a:lstStyle/>
            <a:p>
              <a:pPr algn="ctr"/>
              <a:endParaRPr/>
            </a:p>
          </p:txBody>
        </p:sp>
        <p:sp>
          <p:nvSpPr>
            <p:cNvPr id="24" name="sleeper"/>
            <p:cNvSpPr/>
            <p:nvPr/>
          </p:nvSpPr>
          <p:spPr>
            <a:xfrm>
              <a:off x="7772400" y="5349240"/>
              <a:ext cx="109728" cy="91440"/>
            </a:xfrm>
            <a:prstGeom prst="rect">
              <a:avLst/>
            </a:prstGeom>
            <a:solidFill>
              <a:srgbClr val="6B5B4B"/>
            </a:solidFill>
            <a:ln>
              <a:noFill/>
            </a:ln>
          </p:spPr>
          <p:txBody>
            <a:bodyPr rtlCol="0" anchor="ctr"/>
            <a:lstStyle/>
            <a:p>
              <a:pPr algn="ctr"/>
              <a:endParaRPr/>
            </a:p>
          </p:txBody>
        </p:sp>
        <p:sp>
          <p:nvSpPr>
            <p:cNvPr id="25" name="sleeper"/>
            <p:cNvSpPr/>
            <p:nvPr/>
          </p:nvSpPr>
          <p:spPr>
            <a:xfrm>
              <a:off x="8138160" y="5349240"/>
              <a:ext cx="109728" cy="91440"/>
            </a:xfrm>
            <a:prstGeom prst="rect">
              <a:avLst/>
            </a:prstGeom>
            <a:solidFill>
              <a:srgbClr val="6B5B4B"/>
            </a:solidFill>
            <a:ln>
              <a:noFill/>
            </a:ln>
          </p:spPr>
          <p:txBody>
            <a:bodyPr rtlCol="0" anchor="ctr"/>
            <a:lstStyle/>
            <a:p>
              <a:pPr algn="ctr"/>
              <a:endParaRPr/>
            </a:p>
          </p:txBody>
        </p:sp>
        <p:sp>
          <p:nvSpPr>
            <p:cNvPr id="26" name="sleeper"/>
            <p:cNvSpPr/>
            <p:nvPr/>
          </p:nvSpPr>
          <p:spPr>
            <a:xfrm>
              <a:off x="8503920" y="5349240"/>
              <a:ext cx="109728" cy="91440"/>
            </a:xfrm>
            <a:prstGeom prst="rect">
              <a:avLst/>
            </a:prstGeom>
            <a:solidFill>
              <a:srgbClr val="6B5B4B"/>
            </a:solidFill>
            <a:ln>
              <a:noFill/>
            </a:ln>
          </p:spPr>
          <p:txBody>
            <a:bodyPr rtlCol="0" anchor="ctr"/>
            <a:lstStyle/>
            <a:p>
              <a:pPr algn="ctr"/>
              <a:endParaRPr/>
            </a:p>
          </p:txBody>
        </p:sp>
        <p:sp>
          <p:nvSpPr>
            <p:cNvPr id="27" name="sleeper"/>
            <p:cNvSpPr/>
            <p:nvPr/>
          </p:nvSpPr>
          <p:spPr>
            <a:xfrm>
              <a:off x="8869680" y="5349240"/>
              <a:ext cx="109728" cy="91440"/>
            </a:xfrm>
            <a:prstGeom prst="rect">
              <a:avLst/>
            </a:prstGeom>
            <a:solidFill>
              <a:srgbClr val="6B5B4B"/>
            </a:solidFill>
            <a:ln>
              <a:noFill/>
            </a:ln>
          </p:spPr>
          <p:txBody>
            <a:bodyPr rtlCol="0" anchor="ctr"/>
            <a:lstStyle/>
            <a:p>
              <a:pPr algn="ctr"/>
              <a:endParaRPr/>
            </a:p>
          </p:txBody>
        </p:sp>
        <p:sp>
          <p:nvSpPr>
            <p:cNvPr id="28" name="sleeper"/>
            <p:cNvSpPr/>
            <p:nvPr/>
          </p:nvSpPr>
          <p:spPr>
            <a:xfrm>
              <a:off x="9235440" y="5349240"/>
              <a:ext cx="109728" cy="91440"/>
            </a:xfrm>
            <a:prstGeom prst="rect">
              <a:avLst/>
            </a:prstGeom>
            <a:solidFill>
              <a:srgbClr val="6B5B4B"/>
            </a:solidFill>
            <a:ln>
              <a:noFill/>
            </a:ln>
          </p:spPr>
          <p:txBody>
            <a:bodyPr rtlCol="0" anchor="ctr"/>
            <a:lstStyle/>
            <a:p>
              <a:pPr algn="ctr"/>
              <a:endParaRPr/>
            </a:p>
          </p:txBody>
        </p:sp>
        <p:sp>
          <p:nvSpPr>
            <p:cNvPr id="29" name="sleeper"/>
            <p:cNvSpPr/>
            <p:nvPr/>
          </p:nvSpPr>
          <p:spPr>
            <a:xfrm>
              <a:off x="9601200" y="5349240"/>
              <a:ext cx="109728" cy="91440"/>
            </a:xfrm>
            <a:prstGeom prst="rect">
              <a:avLst/>
            </a:prstGeom>
            <a:solidFill>
              <a:srgbClr val="6B5B4B"/>
            </a:solidFill>
            <a:ln>
              <a:noFill/>
            </a:ln>
          </p:spPr>
          <p:txBody>
            <a:bodyPr rtlCol="0" anchor="ctr"/>
            <a:lstStyle/>
            <a:p>
              <a:pPr algn="ctr"/>
              <a:endParaRPr/>
            </a:p>
          </p:txBody>
        </p:sp>
        <p:sp>
          <p:nvSpPr>
            <p:cNvPr id="30" name="sleeper"/>
            <p:cNvSpPr/>
            <p:nvPr/>
          </p:nvSpPr>
          <p:spPr>
            <a:xfrm>
              <a:off x="9966960" y="5349240"/>
              <a:ext cx="109728" cy="91440"/>
            </a:xfrm>
            <a:prstGeom prst="rect">
              <a:avLst/>
            </a:prstGeom>
            <a:solidFill>
              <a:srgbClr val="6B5B4B"/>
            </a:solidFill>
            <a:ln>
              <a:noFill/>
            </a:ln>
          </p:spPr>
          <p:txBody>
            <a:bodyPr rtlCol="0" anchor="ctr"/>
            <a:lstStyle/>
            <a:p>
              <a:pPr algn="ctr"/>
              <a:endParaRPr/>
            </a:p>
          </p:txBody>
        </p:sp>
        <p:sp>
          <p:nvSpPr>
            <p:cNvPr id="31" name="cab"/>
            <p:cNvSpPr/>
            <p:nvPr/>
          </p:nvSpPr>
          <p:spPr>
            <a:xfrm>
              <a:off x="1371600" y="1993391"/>
              <a:ext cx="1371600" cy="1737360"/>
            </a:xfrm>
            <a:prstGeom prst="rect">
              <a:avLst/>
            </a:prstGeom>
            <a:solidFill>
              <a:srgbClr val="343A43"/>
            </a:solidFill>
            <a:ln w="25400">
              <a:solidFill>
                <a:srgbClr val="9AA0A6"/>
              </a:solidFill>
            </a:ln>
          </p:spPr>
          <p:txBody>
            <a:bodyPr rtlCol="0" anchor="ctr"/>
            <a:lstStyle/>
            <a:p>
              <a:pPr algn="ctr"/>
              <a:endParaRPr/>
            </a:p>
          </p:txBody>
        </p:sp>
        <p:sp>
          <p:nvSpPr>
            <p:cNvPr id="32" name="cab roof"/>
            <p:cNvSpPr/>
            <p:nvPr/>
          </p:nvSpPr>
          <p:spPr>
            <a:xfrm>
              <a:off x="1261872" y="1883664"/>
              <a:ext cx="1591056" cy="128016"/>
            </a:xfrm>
            <a:prstGeom prst="rect">
              <a:avLst/>
            </a:prstGeom>
            <a:solidFill>
              <a:srgbClr val="9AA0A6"/>
            </a:solidFill>
            <a:ln>
              <a:noFill/>
            </a:ln>
          </p:spPr>
          <p:txBody>
            <a:bodyPr rtlCol="0" anchor="ctr"/>
            <a:lstStyle/>
            <a:p>
              <a:pPr algn="ctr"/>
              <a:endParaRPr/>
            </a:p>
          </p:txBody>
        </p:sp>
        <p:sp>
          <p:nvSpPr>
            <p:cNvPr id="33" name="cab window"/>
            <p:cNvSpPr/>
            <p:nvPr/>
          </p:nvSpPr>
          <p:spPr>
            <a:xfrm>
              <a:off x="1600200" y="2267712"/>
              <a:ext cx="502920" cy="502920"/>
            </a:xfrm>
            <a:prstGeom prst="rect">
              <a:avLst/>
            </a:prstGeom>
            <a:solidFill>
              <a:srgbClr val="1B1D21"/>
            </a:solidFill>
            <a:ln w="12700">
              <a:solidFill>
                <a:srgbClr val="6B7078"/>
              </a:solidFill>
            </a:ln>
          </p:spPr>
          <p:txBody>
            <a:bodyPr rtlCol="0" anchor="ctr"/>
            <a:lstStyle/>
            <a:p>
              <a:pPr algn="ctr"/>
              <a:endParaRPr/>
            </a:p>
          </p:txBody>
        </p:sp>
        <p:sp>
          <p:nvSpPr>
            <p:cNvPr id="34" name="boiler shell"/>
            <p:cNvSpPr/>
            <p:nvPr/>
          </p:nvSpPr>
          <p:spPr>
            <a:xfrm>
              <a:off x="2743200" y="2450591"/>
              <a:ext cx="6035040" cy="1280160"/>
            </a:xfrm>
            <a:prstGeom prst="roundRect">
              <a:avLst>
                <a:gd name="adj" fmla="val 17857"/>
              </a:avLst>
            </a:prstGeom>
            <a:solidFill>
              <a:srgbClr val="4F5762"/>
            </a:solidFill>
            <a:ln w="31750">
              <a:solidFill>
                <a:srgbClr val="9AA0A6"/>
              </a:solidFill>
            </a:ln>
          </p:spPr>
          <p:txBody>
            <a:bodyPr rtlCol="0" anchor="ctr"/>
            <a:lstStyle/>
            <a:p>
              <a:pPr algn="ctr"/>
              <a:endParaRPr/>
            </a:p>
          </p:txBody>
        </p:sp>
        <p:sp>
          <p:nvSpPr>
            <p:cNvPr id="35" name="water"/>
            <p:cNvSpPr/>
            <p:nvPr/>
          </p:nvSpPr>
          <p:spPr>
            <a:xfrm>
              <a:off x="3291840" y="2999232"/>
              <a:ext cx="5394960" cy="640080"/>
            </a:xfrm>
            <a:prstGeom prst="roundRect">
              <a:avLst>
                <a:gd name="adj" fmla="val 21428"/>
              </a:avLst>
            </a:prstGeom>
            <a:solidFill>
              <a:srgbClr val="4DA3FF"/>
            </a:solidFill>
            <a:ln>
              <a:noFill/>
            </a:ln>
          </p:spPr>
          <p:txBody>
            <a:bodyPr rtlCol="0" anchor="ctr"/>
            <a:lstStyle/>
            <a:p>
              <a:pPr algn="ctr"/>
              <a:endParaRPr/>
            </a:p>
          </p:txBody>
        </p:sp>
        <p:sp>
          <p:nvSpPr>
            <p:cNvPr id="36" name="smokebox"/>
            <p:cNvSpPr/>
            <p:nvPr/>
          </p:nvSpPr>
          <p:spPr>
            <a:xfrm>
              <a:off x="8686800" y="2450591"/>
              <a:ext cx="822960" cy="1280160"/>
            </a:xfrm>
            <a:prstGeom prst="roundRect">
              <a:avLst>
                <a:gd name="adj" fmla="val 13333"/>
              </a:avLst>
            </a:prstGeom>
            <a:solidFill>
              <a:srgbClr val="6B7078"/>
            </a:solidFill>
            <a:ln w="25400">
              <a:solidFill>
                <a:srgbClr val="9AA0A6"/>
              </a:solidFill>
            </a:ln>
          </p:spPr>
          <p:txBody>
            <a:bodyPr rtlCol="0" anchor="ctr"/>
            <a:lstStyle/>
            <a:p>
              <a:pPr algn="ctr"/>
              <a:endParaRPr/>
            </a:p>
          </p:txBody>
        </p:sp>
        <p:sp>
          <p:nvSpPr>
            <p:cNvPr id="37" name="chimney"/>
            <p:cNvSpPr/>
            <p:nvPr/>
          </p:nvSpPr>
          <p:spPr>
            <a:xfrm>
              <a:off x="8732520" y="1581912"/>
              <a:ext cx="731520" cy="868679"/>
            </a:xfrm>
            <a:custGeom>
              <a:avLst/>
              <a:gdLst/>
              <a:ahLst/>
              <a:cxnLst/>
              <a:rect l="l" t="t" r="r" b="b"/>
              <a:pathLst>
                <a:path w="731520" h="868679">
                  <a:moveTo>
                    <a:pt x="137160" y="868679"/>
                  </a:moveTo>
                  <a:lnTo>
                    <a:pt x="137160" y="274320"/>
                  </a:lnTo>
                  <a:lnTo>
                    <a:pt x="0" y="0"/>
                  </a:lnTo>
                  <a:lnTo>
                    <a:pt x="731520" y="0"/>
                  </a:lnTo>
                  <a:lnTo>
                    <a:pt x="594360" y="274320"/>
                  </a:lnTo>
                  <a:lnTo>
                    <a:pt x="594360" y="868679"/>
                  </a:lnTo>
                  <a:close/>
                </a:path>
              </a:pathLst>
            </a:custGeom>
            <a:solidFill>
              <a:srgbClr val="3A3F47"/>
            </a:solidFill>
            <a:ln w="25400">
              <a:solidFill>
                <a:srgbClr val="9AA0A6"/>
              </a:solidFill>
            </a:ln>
          </p:spPr>
          <p:txBody>
            <a:bodyPr rtlCol="0" anchor="ctr"/>
            <a:lstStyle/>
            <a:p>
              <a:pPr algn="ctr"/>
              <a:endParaRPr/>
            </a:p>
          </p:txBody>
        </p:sp>
        <p:sp>
          <p:nvSpPr>
            <p:cNvPr id="38" name="dome"/>
            <p:cNvSpPr/>
            <p:nvPr/>
          </p:nvSpPr>
          <p:spPr>
            <a:xfrm>
              <a:off x="4937760" y="2249424"/>
              <a:ext cx="822960" cy="237744"/>
            </a:xfrm>
            <a:prstGeom prst="roundRect">
              <a:avLst>
                <a:gd name="adj" fmla="val 38461"/>
              </a:avLst>
            </a:prstGeom>
            <a:solidFill>
              <a:srgbClr val="9AA0A6"/>
            </a:solidFill>
            <a:ln>
              <a:noFill/>
            </a:ln>
          </p:spPr>
          <p:txBody>
            <a:bodyPr rtlCol="0" anchor="ctr"/>
            <a:lstStyle/>
            <a:p>
              <a:pPr algn="ctr"/>
              <a:endParaRPr/>
            </a:p>
          </p:txBody>
        </p:sp>
        <p:sp>
          <p:nvSpPr>
            <p:cNvPr id="39" name="puff"/>
            <p:cNvSpPr/>
            <p:nvPr/>
          </p:nvSpPr>
          <p:spPr>
            <a:xfrm>
              <a:off x="8961120" y="1216152"/>
              <a:ext cx="502920" cy="274320"/>
            </a:xfrm>
            <a:prstGeom prst="ellipse">
              <a:avLst/>
            </a:prstGeom>
            <a:solidFill>
              <a:srgbClr val="F2F2F2">
                <a:alpha val="85000"/>
              </a:srgbClr>
            </a:solidFill>
            <a:ln>
              <a:noFill/>
            </a:ln>
          </p:spPr>
          <p:txBody>
            <a:bodyPr rtlCol="0" anchor="ctr"/>
            <a:lstStyle/>
            <a:p>
              <a:pPr algn="ctr"/>
              <a:endParaRPr/>
            </a:p>
          </p:txBody>
        </p:sp>
        <p:sp>
          <p:nvSpPr>
            <p:cNvPr id="40" name="puff"/>
            <p:cNvSpPr/>
            <p:nvPr/>
          </p:nvSpPr>
          <p:spPr>
            <a:xfrm>
              <a:off x="9189720" y="850392"/>
              <a:ext cx="685800" cy="347472"/>
            </a:xfrm>
            <a:prstGeom prst="ellipse">
              <a:avLst/>
            </a:prstGeom>
            <a:solidFill>
              <a:srgbClr val="F2F2F2">
                <a:alpha val="85000"/>
              </a:srgbClr>
            </a:solidFill>
            <a:ln>
              <a:noFill/>
            </a:ln>
          </p:spPr>
          <p:txBody>
            <a:bodyPr rtlCol="0" anchor="ctr"/>
            <a:lstStyle/>
            <a:p>
              <a:pPr algn="ctr"/>
              <a:endParaRPr/>
            </a:p>
          </p:txBody>
        </p:sp>
        <p:sp>
          <p:nvSpPr>
            <p:cNvPr id="41" name="firebox"/>
            <p:cNvSpPr/>
            <p:nvPr/>
          </p:nvSpPr>
          <p:spPr>
            <a:xfrm>
              <a:off x="1554480" y="2724912"/>
              <a:ext cx="1645920" cy="1005840"/>
            </a:xfrm>
            <a:prstGeom prst="roundRect">
              <a:avLst>
                <a:gd name="adj" fmla="val 7272"/>
              </a:avLst>
            </a:prstGeom>
            <a:solidFill>
              <a:srgbClr val="F28C28"/>
            </a:solidFill>
            <a:ln>
              <a:noFill/>
            </a:ln>
          </p:spPr>
          <p:txBody>
            <a:bodyPr rtlCol="0" anchor="ctr"/>
            <a:lstStyle/>
            <a:p>
              <a:pPr algn="ctr"/>
              <a:endParaRPr/>
            </a:p>
          </p:txBody>
        </p:sp>
        <p:sp>
          <p:nvSpPr>
            <p:cNvPr id="42" name="coal on grate"/>
            <p:cNvSpPr/>
            <p:nvPr/>
          </p:nvSpPr>
          <p:spPr>
            <a:xfrm>
              <a:off x="1737360" y="3328415"/>
              <a:ext cx="1325880" cy="402337"/>
            </a:xfrm>
            <a:custGeom>
              <a:avLst/>
              <a:gdLst/>
              <a:ahLst/>
              <a:cxnLst/>
              <a:rect l="l" t="t" r="r" b="b"/>
              <a:pathLst>
                <a:path w="1325880" h="402337">
                  <a:moveTo>
                    <a:pt x="0" y="402337"/>
                  </a:moveTo>
                  <a:lnTo>
                    <a:pt x="228600" y="109729"/>
                  </a:lnTo>
                  <a:lnTo>
                    <a:pt x="502920" y="0"/>
                  </a:lnTo>
                  <a:lnTo>
                    <a:pt x="777240" y="109729"/>
                  </a:lnTo>
                  <a:lnTo>
                    <a:pt x="1051560" y="54865"/>
                  </a:lnTo>
                  <a:lnTo>
                    <a:pt x="1325880" y="402337"/>
                  </a:lnTo>
                  <a:close/>
                </a:path>
              </a:pathLst>
            </a:custGeom>
            <a:solidFill>
              <a:srgbClr val="1B1D21"/>
            </a:solidFill>
            <a:ln w="15875">
              <a:solidFill>
                <a:srgbClr val="6B7078"/>
              </a:solidFill>
            </a:ln>
          </p:spPr>
          <p:txBody>
            <a:bodyPr rtlCol="0" anchor="ctr"/>
            <a:lstStyle/>
            <a:p>
              <a:pPr algn="ctr"/>
              <a:endParaRPr/>
            </a:p>
          </p:txBody>
        </p:sp>
        <p:sp>
          <p:nvSpPr>
            <p:cNvPr id="43" name="steam path"/>
            <p:cNvSpPr/>
            <p:nvPr/>
          </p:nvSpPr>
          <p:spPr>
            <a:xfrm>
              <a:off x="5943600" y="2724912"/>
              <a:ext cx="3154680" cy="1188720"/>
            </a:xfrm>
            <a:custGeom>
              <a:avLst/>
              <a:gdLst/>
              <a:ahLst/>
              <a:cxnLst/>
              <a:rect l="l" t="t" r="r" b="b"/>
              <a:pathLst>
                <a:path w="3154680" h="1188720">
                  <a:moveTo>
                    <a:pt x="0" y="0"/>
                  </a:moveTo>
                  <a:lnTo>
                    <a:pt x="3154680" y="0"/>
                  </a:lnTo>
                  <a:lnTo>
                    <a:pt x="3154680" y="1188720"/>
                  </a:lnTo>
                </a:path>
              </a:pathLst>
            </a:custGeom>
            <a:noFill/>
            <a:ln w="38100">
              <a:solidFill>
                <a:srgbClr val="F2F2F2"/>
              </a:solidFill>
              <a:tailEnd type="triangle" w="med" len="med"/>
            </a:ln>
          </p:spPr>
          <p:txBody>
            <a:bodyPr rtlCol="0" anchor="ctr"/>
            <a:lstStyle/>
            <a:p>
              <a:pPr algn="ctr"/>
              <a:endParaRPr/>
            </a:p>
          </p:txBody>
        </p:sp>
        <p:sp>
          <p:nvSpPr>
            <p:cNvPr id="44" name="cylinder"/>
            <p:cNvSpPr/>
            <p:nvPr/>
          </p:nvSpPr>
          <p:spPr>
            <a:xfrm>
              <a:off x="8503920" y="3959352"/>
              <a:ext cx="1005840" cy="502920"/>
            </a:xfrm>
            <a:prstGeom prst="roundRect">
              <a:avLst>
                <a:gd name="adj" fmla="val 18181"/>
              </a:avLst>
            </a:prstGeom>
            <a:solidFill>
              <a:srgbClr val="9AA0A6"/>
            </a:solidFill>
            <a:ln>
              <a:noFill/>
            </a:ln>
          </p:spPr>
          <p:txBody>
            <a:bodyPr rtlCol="0" anchor="ctr"/>
            <a:lstStyle/>
            <a:p>
              <a:pPr algn="ctr"/>
              <a:endParaRPr/>
            </a:p>
          </p:txBody>
        </p:sp>
        <p:sp>
          <p:nvSpPr>
            <p:cNvPr id="45" name="piston head"/>
            <p:cNvSpPr/>
            <p:nvPr/>
          </p:nvSpPr>
          <p:spPr>
            <a:xfrm>
              <a:off x="8686800" y="4023360"/>
              <a:ext cx="128016" cy="374904"/>
            </a:xfrm>
            <a:prstGeom prst="rect">
              <a:avLst/>
            </a:prstGeom>
            <a:solidFill>
              <a:srgbClr val="F2F2F2"/>
            </a:solidFill>
            <a:ln>
              <a:noFill/>
            </a:ln>
          </p:spPr>
          <p:txBody>
            <a:bodyPr rtlCol="0" anchor="ctr"/>
            <a:lstStyle/>
            <a:p>
              <a:pPr algn="ctr"/>
              <a:endParaRPr/>
            </a:p>
          </p:txBody>
        </p:sp>
        <p:sp>
          <p:nvSpPr>
            <p:cNvPr id="46" name="piston rod"/>
            <p:cNvSpPr/>
            <p:nvPr/>
          </p:nvSpPr>
          <p:spPr>
            <a:xfrm>
              <a:off x="7589520" y="4187952"/>
              <a:ext cx="1097280" cy="91440"/>
            </a:xfrm>
            <a:prstGeom prst="rect">
              <a:avLst/>
            </a:prstGeom>
            <a:solidFill>
              <a:srgbClr val="D0D4D8"/>
            </a:solidFill>
            <a:ln>
              <a:noFill/>
            </a:ln>
          </p:spPr>
          <p:txBody>
            <a:bodyPr rtlCol="0" anchor="ctr"/>
            <a:lstStyle/>
            <a:p>
              <a:pPr algn="ctr"/>
              <a:endParaRPr/>
            </a:p>
          </p:txBody>
        </p:sp>
        <p:sp>
          <p:nvSpPr>
            <p:cNvPr id="47" name="crosshead"/>
            <p:cNvSpPr/>
            <p:nvPr/>
          </p:nvSpPr>
          <p:spPr>
            <a:xfrm>
              <a:off x="7516367" y="4096512"/>
              <a:ext cx="146304" cy="274320"/>
            </a:xfrm>
            <a:prstGeom prst="rect">
              <a:avLst/>
            </a:prstGeom>
            <a:solidFill>
              <a:srgbClr val="9AA0A6"/>
            </a:solidFill>
            <a:ln>
              <a:noFill/>
            </a:ln>
          </p:spPr>
          <p:txBody>
            <a:bodyPr rtlCol="0" anchor="ctr"/>
            <a:lstStyle/>
            <a:p>
              <a:pPr algn="ctr"/>
              <a:endParaRPr/>
            </a:p>
          </p:txBody>
        </p:sp>
        <p:sp>
          <p:nvSpPr>
            <p:cNvPr id="48" name="wheel"/>
            <p:cNvSpPr/>
            <p:nvPr/>
          </p:nvSpPr>
          <p:spPr>
            <a:xfrm>
              <a:off x="2971800" y="4279392"/>
              <a:ext cx="1005840" cy="1005840"/>
            </a:xfrm>
            <a:prstGeom prst="ellipse">
              <a:avLst/>
            </a:prstGeom>
            <a:solidFill>
              <a:srgbClr val="1B1D21"/>
            </a:solidFill>
            <a:ln w="38100">
              <a:solidFill>
                <a:srgbClr val="9AA0A6"/>
              </a:solidFill>
            </a:ln>
          </p:spPr>
          <p:txBody>
            <a:bodyPr rtlCol="0" anchor="ctr"/>
            <a:lstStyle/>
            <a:p>
              <a:pPr algn="ctr"/>
              <a:endParaRPr/>
            </a:p>
          </p:txBody>
        </p:sp>
        <p:sp>
          <p:nvSpPr>
            <p:cNvPr id="49" name="hub"/>
            <p:cNvSpPr/>
            <p:nvPr/>
          </p:nvSpPr>
          <p:spPr>
            <a:xfrm>
              <a:off x="3383279" y="4690872"/>
              <a:ext cx="182880" cy="182880"/>
            </a:xfrm>
            <a:prstGeom prst="ellipse">
              <a:avLst/>
            </a:prstGeom>
            <a:solidFill>
              <a:srgbClr val="9AA0A6"/>
            </a:solidFill>
            <a:ln>
              <a:noFill/>
            </a:ln>
          </p:spPr>
          <p:txBody>
            <a:bodyPr rtlCol="0" anchor="ctr"/>
            <a:lstStyle/>
            <a:p>
              <a:pPr algn="ctr"/>
              <a:endParaRPr/>
            </a:p>
          </p:txBody>
        </p:sp>
        <p:sp>
          <p:nvSpPr>
            <p:cNvPr id="50" name="wheel"/>
            <p:cNvSpPr/>
            <p:nvPr/>
          </p:nvSpPr>
          <p:spPr>
            <a:xfrm>
              <a:off x="4343400" y="4279392"/>
              <a:ext cx="1005840" cy="1005840"/>
            </a:xfrm>
            <a:prstGeom prst="ellipse">
              <a:avLst/>
            </a:prstGeom>
            <a:solidFill>
              <a:srgbClr val="1B1D21"/>
            </a:solidFill>
            <a:ln w="38100">
              <a:solidFill>
                <a:srgbClr val="9AA0A6"/>
              </a:solidFill>
            </a:ln>
          </p:spPr>
          <p:txBody>
            <a:bodyPr rtlCol="0" anchor="ctr"/>
            <a:lstStyle/>
            <a:p>
              <a:pPr algn="ctr"/>
              <a:endParaRPr/>
            </a:p>
          </p:txBody>
        </p:sp>
        <p:sp>
          <p:nvSpPr>
            <p:cNvPr id="51" name="hub"/>
            <p:cNvSpPr/>
            <p:nvPr/>
          </p:nvSpPr>
          <p:spPr>
            <a:xfrm>
              <a:off x="4754880" y="4690872"/>
              <a:ext cx="182880" cy="182880"/>
            </a:xfrm>
            <a:prstGeom prst="ellipse">
              <a:avLst/>
            </a:prstGeom>
            <a:solidFill>
              <a:srgbClr val="9AA0A6"/>
            </a:solidFill>
            <a:ln>
              <a:noFill/>
            </a:ln>
          </p:spPr>
          <p:txBody>
            <a:bodyPr rtlCol="0" anchor="ctr"/>
            <a:lstStyle/>
            <a:p>
              <a:pPr algn="ctr"/>
              <a:endParaRPr/>
            </a:p>
          </p:txBody>
        </p:sp>
        <p:sp>
          <p:nvSpPr>
            <p:cNvPr id="52" name="wheel"/>
            <p:cNvSpPr/>
            <p:nvPr/>
          </p:nvSpPr>
          <p:spPr>
            <a:xfrm>
              <a:off x="5715000" y="4279392"/>
              <a:ext cx="1005840" cy="1005840"/>
            </a:xfrm>
            <a:prstGeom prst="ellipse">
              <a:avLst/>
            </a:prstGeom>
            <a:solidFill>
              <a:srgbClr val="1B1D21"/>
            </a:solidFill>
            <a:ln w="38100">
              <a:solidFill>
                <a:srgbClr val="9AA0A6"/>
              </a:solidFill>
            </a:ln>
          </p:spPr>
          <p:txBody>
            <a:bodyPr rtlCol="0" anchor="ctr"/>
            <a:lstStyle/>
            <a:p>
              <a:pPr algn="ctr"/>
              <a:endParaRPr/>
            </a:p>
          </p:txBody>
        </p:sp>
        <p:sp>
          <p:nvSpPr>
            <p:cNvPr id="53" name="hub"/>
            <p:cNvSpPr/>
            <p:nvPr/>
          </p:nvSpPr>
          <p:spPr>
            <a:xfrm>
              <a:off x="6126480" y="4690872"/>
              <a:ext cx="182880" cy="182880"/>
            </a:xfrm>
            <a:prstGeom prst="ellipse">
              <a:avLst/>
            </a:prstGeom>
            <a:solidFill>
              <a:srgbClr val="9AA0A6"/>
            </a:solidFill>
            <a:ln>
              <a:noFill/>
            </a:ln>
          </p:spPr>
          <p:txBody>
            <a:bodyPr rtlCol="0" anchor="ctr"/>
            <a:lstStyle/>
            <a:p>
              <a:pPr algn="ctr"/>
              <a:endParaRPr/>
            </a:p>
          </p:txBody>
        </p:sp>
        <p:sp>
          <p:nvSpPr>
            <p:cNvPr id="54" name="coupling rod"/>
            <p:cNvSpPr/>
            <p:nvPr/>
          </p:nvSpPr>
          <p:spPr>
            <a:xfrm>
              <a:off x="3474720" y="4407408"/>
              <a:ext cx="2743200" cy="91440"/>
            </a:xfrm>
            <a:prstGeom prst="rect">
              <a:avLst/>
            </a:prstGeom>
            <a:solidFill>
              <a:srgbClr val="D0D4D8"/>
            </a:solidFill>
            <a:ln>
              <a:noFill/>
            </a:ln>
          </p:spPr>
          <p:txBody>
            <a:bodyPr rtlCol="0" anchor="ctr"/>
            <a:lstStyle/>
            <a:p>
              <a:pPr algn="ctr"/>
              <a:endParaRPr/>
            </a:p>
          </p:txBody>
        </p:sp>
        <p:cxnSp>
          <p:nvCxnSpPr>
            <p:cNvPr id="55" name="connecting rod"/>
            <p:cNvCxnSpPr/>
            <p:nvPr/>
          </p:nvCxnSpPr>
          <p:spPr>
            <a:xfrm flipH="1">
              <a:off x="6217920" y="4233672"/>
              <a:ext cx="1371600" cy="219456"/>
            </a:xfrm>
            <a:prstGeom prst="line">
              <a:avLst/>
            </a:prstGeom>
            <a:ln w="76200">
              <a:solidFill>
                <a:srgbClr val="D0D4D8"/>
              </a:solidFill>
            </a:ln>
          </p:spPr>
        </p:cxnSp>
        <p:sp>
          <p:nvSpPr>
            <p:cNvPr id="56" name="crank pin"/>
            <p:cNvSpPr/>
            <p:nvPr/>
          </p:nvSpPr>
          <p:spPr>
            <a:xfrm>
              <a:off x="3392424" y="4370832"/>
              <a:ext cx="164592" cy="164592"/>
            </a:xfrm>
            <a:prstGeom prst="ellipse">
              <a:avLst/>
            </a:prstGeom>
            <a:solidFill>
              <a:srgbClr val="F28C28"/>
            </a:solidFill>
            <a:ln>
              <a:noFill/>
            </a:ln>
          </p:spPr>
          <p:txBody>
            <a:bodyPr rtlCol="0" anchor="ctr"/>
            <a:lstStyle/>
            <a:p>
              <a:pPr algn="ctr"/>
              <a:endParaRPr/>
            </a:p>
          </p:txBody>
        </p:sp>
        <p:sp>
          <p:nvSpPr>
            <p:cNvPr id="57" name="crank pin"/>
            <p:cNvSpPr/>
            <p:nvPr/>
          </p:nvSpPr>
          <p:spPr>
            <a:xfrm>
              <a:off x="4764024" y="4370832"/>
              <a:ext cx="164592" cy="164592"/>
            </a:xfrm>
            <a:prstGeom prst="ellipse">
              <a:avLst/>
            </a:prstGeom>
            <a:solidFill>
              <a:srgbClr val="F28C28"/>
            </a:solidFill>
            <a:ln>
              <a:noFill/>
            </a:ln>
          </p:spPr>
          <p:txBody>
            <a:bodyPr rtlCol="0" anchor="ctr"/>
            <a:lstStyle/>
            <a:p>
              <a:pPr algn="ctr"/>
              <a:endParaRPr/>
            </a:p>
          </p:txBody>
        </p:sp>
        <p:sp>
          <p:nvSpPr>
            <p:cNvPr id="58" name="crank pin"/>
            <p:cNvSpPr/>
            <p:nvPr/>
          </p:nvSpPr>
          <p:spPr>
            <a:xfrm>
              <a:off x="6135624" y="4370832"/>
              <a:ext cx="164592" cy="164592"/>
            </a:xfrm>
            <a:prstGeom prst="ellipse">
              <a:avLst/>
            </a:prstGeom>
            <a:solidFill>
              <a:srgbClr val="F28C28"/>
            </a:solidFill>
            <a:ln>
              <a:noFill/>
            </a:ln>
          </p:spPr>
          <p:txBody>
            <a:bodyPr rtlCol="0" anchor="ctr"/>
            <a:lstStyle/>
            <a:p>
              <a:pPr algn="ctr"/>
              <a:endParaRPr/>
            </a:p>
          </p:txBody>
        </p:sp>
        <p:cxnSp>
          <p:nvCxnSpPr>
            <p:cNvPr id="59" name="water arrow"/>
            <p:cNvCxnSpPr/>
            <p:nvPr/>
          </p:nvCxnSpPr>
          <p:spPr>
            <a:xfrm>
              <a:off x="5029200" y="1261872"/>
              <a:ext cx="0" cy="1143000"/>
            </a:xfrm>
            <a:prstGeom prst="line">
              <a:avLst/>
            </a:prstGeom>
            <a:ln w="57150">
              <a:solidFill>
                <a:srgbClr val="4DA3FF"/>
              </a:solidFill>
              <a:tailEnd type="triangle" w="med" len="med"/>
            </a:ln>
          </p:spPr>
        </p:cxnSp>
        <p:sp>
          <p:nvSpPr>
            <p:cNvPr id="60" name="water label"/>
            <p:cNvSpPr txBox="1"/>
            <p:nvPr/>
          </p:nvSpPr>
          <p:spPr>
            <a:xfrm>
              <a:off x="3383280" y="1216152"/>
              <a:ext cx="1508760" cy="365760"/>
            </a:xfrm>
            <a:prstGeom prst="rect">
              <a:avLst/>
            </a:prstGeom>
            <a:noFill/>
          </p:spPr>
          <p:txBody>
            <a:bodyPr wrap="square" lIns="18288" tIns="9144" rIns="18288" bIns="9144" anchor="ctr">
              <a:noAutofit/>
            </a:bodyPr>
            <a:lstStyle/>
            <a:p>
              <a:pPr algn="r"/>
              <a:r>
                <a:rPr lang="en-GB" sz="1800" b="1" i="0">
                  <a:solidFill>
                    <a:srgbClr val="4DA3FF"/>
                  </a:solidFill>
                  <a:latin typeface="Arial"/>
                </a:rPr>
                <a:t>Water</a:t>
              </a:r>
            </a:p>
          </p:txBody>
        </p:sp>
        <p:sp>
          <p:nvSpPr>
            <p:cNvPr id="61" name="badge"/>
            <p:cNvSpPr/>
            <p:nvPr/>
          </p:nvSpPr>
          <p:spPr>
            <a:xfrm>
              <a:off x="1668779" y="4210812"/>
              <a:ext cx="411480" cy="41148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1</a:t>
              </a:r>
            </a:p>
          </p:txBody>
        </p:sp>
        <p:cxnSp>
          <p:nvCxnSpPr>
            <p:cNvPr id="62" name="leader"/>
            <p:cNvCxnSpPr/>
            <p:nvPr/>
          </p:nvCxnSpPr>
          <p:spPr>
            <a:xfrm flipV="1">
              <a:off x="1874519" y="3547872"/>
              <a:ext cx="320041" cy="667512"/>
            </a:xfrm>
            <a:prstGeom prst="line">
              <a:avLst/>
            </a:prstGeom>
            <a:ln w="25400">
              <a:solidFill>
                <a:srgbClr val="F28C28"/>
              </a:solidFill>
            </a:ln>
          </p:spPr>
        </p:cxnSp>
        <p:sp>
          <p:nvSpPr>
            <p:cNvPr id="63" name="badge label"/>
            <p:cNvSpPr txBox="1"/>
            <p:nvPr/>
          </p:nvSpPr>
          <p:spPr>
            <a:xfrm>
              <a:off x="2148840" y="4206240"/>
              <a:ext cx="914400" cy="411480"/>
            </a:xfrm>
            <a:prstGeom prst="rect">
              <a:avLst/>
            </a:prstGeom>
            <a:noFill/>
          </p:spPr>
          <p:txBody>
            <a:bodyPr wrap="square" lIns="18288" tIns="9144" rIns="18288" bIns="9144" anchor="ctr">
              <a:noAutofit/>
            </a:bodyPr>
            <a:lstStyle/>
            <a:p>
              <a:pPr algn="l"/>
              <a:r>
                <a:rPr lang="en-GB" sz="1800" b="1" i="0">
                  <a:solidFill>
                    <a:srgbClr val="F2F2F2"/>
                  </a:solidFill>
                  <a:latin typeface="Arial"/>
                </a:rPr>
                <a:t>Coal</a:t>
              </a:r>
            </a:p>
          </p:txBody>
        </p:sp>
        <p:sp>
          <p:nvSpPr>
            <p:cNvPr id="64" name="badge"/>
            <p:cNvSpPr/>
            <p:nvPr/>
          </p:nvSpPr>
          <p:spPr>
            <a:xfrm>
              <a:off x="6560820" y="1604772"/>
              <a:ext cx="411480" cy="41148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2</a:t>
              </a:r>
            </a:p>
          </p:txBody>
        </p:sp>
        <p:cxnSp>
          <p:nvCxnSpPr>
            <p:cNvPr id="65" name="leader"/>
            <p:cNvCxnSpPr/>
            <p:nvPr/>
          </p:nvCxnSpPr>
          <p:spPr>
            <a:xfrm>
              <a:off x="6766560" y="2020824"/>
              <a:ext cx="0" cy="658367"/>
            </a:xfrm>
            <a:prstGeom prst="line">
              <a:avLst/>
            </a:prstGeom>
            <a:ln w="25400">
              <a:solidFill>
                <a:srgbClr val="F28C28"/>
              </a:solidFill>
            </a:ln>
          </p:spPr>
        </p:cxnSp>
        <p:sp>
          <p:nvSpPr>
            <p:cNvPr id="66" name="badge label"/>
            <p:cNvSpPr txBox="1"/>
            <p:nvPr/>
          </p:nvSpPr>
          <p:spPr>
            <a:xfrm>
              <a:off x="7040880" y="1609344"/>
              <a:ext cx="1097280" cy="411480"/>
            </a:xfrm>
            <a:prstGeom prst="rect">
              <a:avLst/>
            </a:prstGeom>
            <a:noFill/>
          </p:spPr>
          <p:txBody>
            <a:bodyPr wrap="square" lIns="18288" tIns="9144" rIns="18288" bIns="9144" anchor="ctr">
              <a:noAutofit/>
            </a:bodyPr>
            <a:lstStyle/>
            <a:p>
              <a:pPr algn="l"/>
              <a:r>
                <a:rPr lang="en-GB" sz="1800" b="1" i="0">
                  <a:solidFill>
                    <a:srgbClr val="F2F2F2"/>
                  </a:solidFill>
                  <a:latin typeface="Arial"/>
                </a:rPr>
                <a:t>Steam</a:t>
              </a:r>
            </a:p>
          </p:txBody>
        </p:sp>
        <p:sp>
          <p:nvSpPr>
            <p:cNvPr id="67" name="badge"/>
            <p:cNvSpPr/>
            <p:nvPr/>
          </p:nvSpPr>
          <p:spPr>
            <a:xfrm>
              <a:off x="9029700" y="4713732"/>
              <a:ext cx="411480" cy="41148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3</a:t>
              </a:r>
            </a:p>
          </p:txBody>
        </p:sp>
        <p:cxnSp>
          <p:nvCxnSpPr>
            <p:cNvPr id="68" name="leader"/>
            <p:cNvCxnSpPr/>
            <p:nvPr/>
          </p:nvCxnSpPr>
          <p:spPr>
            <a:xfrm flipV="1">
              <a:off x="9235440" y="4462272"/>
              <a:ext cx="0" cy="256032"/>
            </a:xfrm>
            <a:prstGeom prst="line">
              <a:avLst/>
            </a:prstGeom>
            <a:ln w="25400">
              <a:solidFill>
                <a:srgbClr val="F28C28"/>
              </a:solidFill>
            </a:ln>
          </p:spPr>
        </p:cxnSp>
        <p:sp>
          <p:nvSpPr>
            <p:cNvPr id="69" name="badge label"/>
            <p:cNvSpPr txBox="1"/>
            <p:nvPr/>
          </p:nvSpPr>
          <p:spPr>
            <a:xfrm>
              <a:off x="9509760" y="4709160"/>
              <a:ext cx="1097280" cy="411480"/>
            </a:xfrm>
            <a:prstGeom prst="rect">
              <a:avLst/>
            </a:prstGeom>
            <a:noFill/>
          </p:spPr>
          <p:txBody>
            <a:bodyPr wrap="square" lIns="18288" tIns="9144" rIns="18288" bIns="9144" anchor="ctr">
              <a:noAutofit/>
            </a:bodyPr>
            <a:lstStyle/>
            <a:p>
              <a:pPr algn="l"/>
              <a:r>
                <a:rPr lang="en-GB" sz="1800" b="1" i="0">
                  <a:solidFill>
                    <a:srgbClr val="F2F2F2"/>
                  </a:solidFill>
                  <a:latin typeface="Arial"/>
                </a:rPr>
                <a:t>Piston</a:t>
              </a:r>
            </a:p>
          </p:txBody>
        </p:sp>
        <p:sp>
          <p:nvSpPr>
            <p:cNvPr id="70" name="badge"/>
            <p:cNvSpPr/>
            <p:nvPr/>
          </p:nvSpPr>
          <p:spPr>
            <a:xfrm>
              <a:off x="7338060" y="4713732"/>
              <a:ext cx="411480" cy="41148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4</a:t>
              </a:r>
            </a:p>
          </p:txBody>
        </p:sp>
        <p:cxnSp>
          <p:nvCxnSpPr>
            <p:cNvPr id="71" name="leader"/>
            <p:cNvCxnSpPr/>
            <p:nvPr/>
          </p:nvCxnSpPr>
          <p:spPr>
            <a:xfrm flipH="1">
              <a:off x="6766560" y="4919472"/>
              <a:ext cx="576072" cy="0"/>
            </a:xfrm>
            <a:prstGeom prst="line">
              <a:avLst/>
            </a:prstGeom>
            <a:ln w="25400">
              <a:solidFill>
                <a:srgbClr val="F28C28"/>
              </a:solidFill>
            </a:ln>
          </p:spPr>
        </p:cxnSp>
        <p:sp>
          <p:nvSpPr>
            <p:cNvPr id="72" name="badge label"/>
            <p:cNvSpPr txBox="1"/>
            <p:nvPr/>
          </p:nvSpPr>
          <p:spPr>
            <a:xfrm>
              <a:off x="7818120" y="4709160"/>
              <a:ext cx="1097280" cy="411480"/>
            </a:xfrm>
            <a:prstGeom prst="rect">
              <a:avLst/>
            </a:prstGeom>
            <a:noFill/>
          </p:spPr>
          <p:txBody>
            <a:bodyPr wrap="square" lIns="18288" tIns="9144" rIns="18288" bIns="9144" anchor="ctr">
              <a:noAutofit/>
            </a:bodyPr>
            <a:lstStyle/>
            <a:p>
              <a:pPr algn="l"/>
              <a:r>
                <a:rPr lang="en-GB" sz="1800" b="1" i="0">
                  <a:solidFill>
                    <a:srgbClr val="F2F2F2"/>
                  </a:solidFill>
                  <a:latin typeface="Arial"/>
                </a:rPr>
                <a:t>Wheels</a:t>
              </a:r>
            </a:p>
          </p:txBody>
        </p:sp>
      </p:grpSp>
      <p:sp>
        <p:nvSpPr>
          <p:cNvPr id="7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7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75"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Coal heats water. Steam pushes pistons. The engine needs both coal and water.</a:t>
            </a:r>
          </a:p>
        </p:txBody>
      </p:sp>
      <p:sp>
        <p:nvSpPr>
          <p:cNvPr id="7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3</a:t>
            </a:r>
          </a:p>
        </p:txBody>
      </p:sp>
    </p:spTree>
    <p:extLst>
      <p:ext uri="{BB962C8B-B14F-4D97-AF65-F5344CB8AC3E}">
        <p14:creationId xmlns:p14="http://schemas.microsoft.com/office/powerpoint/2010/main" val="31862246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par>
                                <p:cTn id="11" presetID="10" presetClass="entr" presetSubtype="0" fill="hold" nodeType="withEffect">
                                  <p:stCondLst>
                                    <p:cond delay="600"/>
                                  </p:stCondLst>
                                  <p:childTnLst>
                                    <p:set>
                                      <p:cBhvr>
                                        <p:cTn id="12" dur="1" fill="hold">
                                          <p:stCondLst>
                                            <p:cond delay="0"/>
                                          </p:stCondLst>
                                        </p:cTn>
                                        <p:tgtEl>
                                          <p:spTgt spid="74"/>
                                        </p:tgtEl>
                                        <p:attrNameLst>
                                          <p:attrName>style.visibility</p:attrName>
                                        </p:attrNameLst>
                                      </p:cBhvr>
                                      <p:to>
                                        <p:strVal val="visible"/>
                                      </p:to>
                                    </p:set>
                                    <p:animEffect transition="in" filter="fade">
                                      <p:cBhvr>
                                        <p:cTn id="13" dur="500"/>
                                        <p:tgtEl>
                                          <p:spTgt spid="74"/>
                                        </p:tgtEl>
                                      </p:cBhvr>
                                    </p:animEffect>
                                  </p:childTnLst>
                                </p:cTn>
                              </p:par>
                              <p:par>
                                <p:cTn id="14" presetID="10" presetClass="entr" presetSubtype="0" fill="hold" nodeType="withEffect">
                                  <p:stCondLst>
                                    <p:cond delay="900"/>
                                  </p:stCondLst>
                                  <p:childTnLst>
                                    <p:set>
                                      <p:cBhvr>
                                        <p:cTn id="15" dur="1" fill="hold">
                                          <p:stCondLst>
                                            <p:cond delay="0"/>
                                          </p:stCondLst>
                                        </p:cTn>
                                        <p:tgtEl>
                                          <p:spTgt spid="75"/>
                                        </p:tgtEl>
                                        <p:attrNameLst>
                                          <p:attrName>style.visibility</p:attrName>
                                        </p:attrNameLst>
                                      </p:cBhvr>
                                      <p:to>
                                        <p:strVal val="visible"/>
                                      </p:to>
                                    </p:set>
                                    <p:animEffect transition="in" filter="fade">
                                      <p:cBhvr>
                                        <p:cTn id="16"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Steam is used once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anks before and after" descr="Before a long trip the coal tank and water tank are both nearly full. After it, coal is about half full and water is almost empty. Steam leaves the chimney and is not used again."/>
          <p:cNvGrpSpPr/>
          <p:nvPr/>
        </p:nvGrpSpPr>
        <p:grpSpPr>
          <a:xfrm>
            <a:off x="822960" y="1371600"/>
            <a:ext cx="10835640" cy="4114800"/>
            <a:chOff x="822960" y="1371600"/>
            <a:chExt cx="10835640" cy="4114800"/>
          </a:xfrm>
        </p:grpSpPr>
        <p:sp>
          <p:nvSpPr>
            <p:cNvPr id="5" name="state label"/>
            <p:cNvSpPr txBox="1"/>
            <p:nvPr/>
          </p:nvSpPr>
          <p:spPr>
            <a:xfrm>
              <a:off x="822960" y="1371600"/>
              <a:ext cx="3383280" cy="365760"/>
            </a:xfrm>
            <a:prstGeom prst="rect">
              <a:avLst/>
            </a:prstGeom>
            <a:noFill/>
          </p:spPr>
          <p:txBody>
            <a:bodyPr wrap="square" lIns="18288" tIns="9144" rIns="18288" bIns="9144" anchor="ctr">
              <a:noAutofit/>
            </a:bodyPr>
            <a:lstStyle/>
            <a:p>
              <a:pPr algn="ctr"/>
              <a:r>
                <a:rPr lang="en-GB" sz="1400" b="1" i="0">
                  <a:solidFill>
                    <a:srgbClr val="A9B0B8"/>
                  </a:solidFill>
                  <a:latin typeface="Arial"/>
                </a:rPr>
                <a:t>Before</a:t>
              </a:r>
            </a:p>
          </p:txBody>
        </p:sp>
        <p:sp>
          <p:nvSpPr>
            <p:cNvPr id="6" name="state label"/>
            <p:cNvSpPr txBox="1"/>
            <p:nvPr/>
          </p:nvSpPr>
          <p:spPr>
            <a:xfrm>
              <a:off x="6400800" y="1371600"/>
              <a:ext cx="3383280" cy="365760"/>
            </a:xfrm>
            <a:prstGeom prst="rect">
              <a:avLst/>
            </a:prstGeom>
            <a:noFill/>
          </p:spPr>
          <p:txBody>
            <a:bodyPr wrap="square" lIns="18288" tIns="9144" rIns="18288" bIns="9144" anchor="ctr">
              <a:noAutofit/>
            </a:bodyPr>
            <a:lstStyle/>
            <a:p>
              <a:pPr algn="ctr"/>
              <a:r>
                <a:rPr lang="en-GB" sz="1400" b="1" i="0">
                  <a:solidFill>
                    <a:srgbClr val="A9B0B8"/>
                  </a:solidFill>
                  <a:latin typeface="Arial"/>
                </a:rPr>
                <a:t>After</a:t>
              </a:r>
            </a:p>
          </p:txBody>
        </p:sp>
        <p:sp>
          <p:nvSpPr>
            <p:cNvPr id="7" name="coal tank before"/>
            <p:cNvSpPr/>
            <p:nvPr/>
          </p:nvSpPr>
          <p:spPr>
            <a:xfrm>
              <a:off x="822960" y="1828800"/>
              <a:ext cx="1463040" cy="2377440"/>
            </a:xfrm>
            <a:prstGeom prst="roundRect">
              <a:avLst>
                <a:gd name="adj" fmla="val 6250"/>
              </a:avLst>
            </a:prstGeom>
            <a:solidFill>
              <a:srgbClr val="2B2F36"/>
            </a:solidFill>
            <a:ln w="28575">
              <a:solidFill>
                <a:srgbClr val="9AA0A6"/>
              </a:solidFill>
            </a:ln>
          </p:spPr>
          <p:txBody>
            <a:bodyPr rtlCol="0" anchor="ctr"/>
            <a:lstStyle/>
            <a:p>
              <a:pPr algn="ctr"/>
              <a:endParaRPr/>
            </a:p>
          </p:txBody>
        </p:sp>
        <p:sp>
          <p:nvSpPr>
            <p:cNvPr id="8" name="coal tank before fill"/>
            <p:cNvSpPr/>
            <p:nvPr/>
          </p:nvSpPr>
          <p:spPr>
            <a:xfrm>
              <a:off x="877824" y="2337206"/>
              <a:ext cx="1353312" cy="1814169"/>
            </a:xfrm>
            <a:prstGeom prst="rect">
              <a:avLst/>
            </a:prstGeom>
            <a:solidFill>
              <a:srgbClr val="1B1D21"/>
            </a:solidFill>
            <a:ln w="15875">
              <a:solidFill>
                <a:srgbClr val="8A9099"/>
              </a:solidFill>
            </a:ln>
          </p:spPr>
          <p:txBody>
            <a:bodyPr rtlCol="0" anchor="ctr"/>
            <a:lstStyle/>
            <a:p>
              <a:pPr algn="ctr"/>
              <a:endParaRPr/>
            </a:p>
          </p:txBody>
        </p:sp>
        <p:sp>
          <p:nvSpPr>
            <p:cNvPr id="9" name="water tank before"/>
            <p:cNvSpPr/>
            <p:nvPr/>
          </p:nvSpPr>
          <p:spPr>
            <a:xfrm>
              <a:off x="2743200" y="1828800"/>
              <a:ext cx="1463040" cy="2377440"/>
            </a:xfrm>
            <a:prstGeom prst="roundRect">
              <a:avLst>
                <a:gd name="adj" fmla="val 6250"/>
              </a:avLst>
            </a:prstGeom>
            <a:solidFill>
              <a:srgbClr val="2B2F36"/>
            </a:solidFill>
            <a:ln w="28575">
              <a:solidFill>
                <a:srgbClr val="9AA0A6"/>
              </a:solidFill>
            </a:ln>
          </p:spPr>
          <p:txBody>
            <a:bodyPr rtlCol="0" anchor="ctr"/>
            <a:lstStyle/>
            <a:p>
              <a:pPr algn="ctr"/>
              <a:endParaRPr/>
            </a:p>
          </p:txBody>
        </p:sp>
        <p:sp>
          <p:nvSpPr>
            <p:cNvPr id="10" name="water tank before fill"/>
            <p:cNvSpPr/>
            <p:nvPr/>
          </p:nvSpPr>
          <p:spPr>
            <a:xfrm>
              <a:off x="2798064" y="2337206"/>
              <a:ext cx="1353312" cy="1814169"/>
            </a:xfrm>
            <a:prstGeom prst="rect">
              <a:avLst/>
            </a:prstGeom>
            <a:solidFill>
              <a:srgbClr val="4DA3FF"/>
            </a:solidFill>
            <a:ln>
              <a:noFill/>
            </a:ln>
          </p:spPr>
          <p:txBody>
            <a:bodyPr rtlCol="0" anchor="ctr"/>
            <a:lstStyle/>
            <a:p>
              <a:pPr algn="ctr"/>
              <a:endParaRPr/>
            </a:p>
          </p:txBody>
        </p:sp>
        <p:sp>
          <p:nvSpPr>
            <p:cNvPr id="11" name="tank label"/>
            <p:cNvSpPr txBox="1"/>
            <p:nvPr/>
          </p:nvSpPr>
          <p:spPr>
            <a:xfrm>
              <a:off x="822960" y="4251959"/>
              <a:ext cx="14630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Coal</a:t>
              </a:r>
            </a:p>
          </p:txBody>
        </p:sp>
        <p:sp>
          <p:nvSpPr>
            <p:cNvPr id="12" name="tank label"/>
            <p:cNvSpPr txBox="1"/>
            <p:nvPr/>
          </p:nvSpPr>
          <p:spPr>
            <a:xfrm>
              <a:off x="2743200" y="4251959"/>
              <a:ext cx="14630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Water</a:t>
              </a:r>
            </a:p>
          </p:txBody>
        </p:sp>
        <p:cxnSp>
          <p:nvCxnSpPr>
            <p:cNvPr id="13" name="trip arrow"/>
            <p:cNvCxnSpPr/>
            <p:nvPr/>
          </p:nvCxnSpPr>
          <p:spPr>
            <a:xfrm>
              <a:off x="4526280" y="3017520"/>
              <a:ext cx="1600200" cy="0"/>
            </a:xfrm>
            <a:prstGeom prst="line">
              <a:avLst/>
            </a:prstGeom>
            <a:ln w="57150">
              <a:solidFill>
                <a:srgbClr val="F28C28"/>
              </a:solidFill>
              <a:tailEnd type="triangle" w="med" len="med"/>
            </a:ln>
          </p:spPr>
        </p:cxnSp>
        <p:sp>
          <p:nvSpPr>
            <p:cNvPr id="14" name="trip label"/>
            <p:cNvSpPr txBox="1"/>
            <p:nvPr/>
          </p:nvSpPr>
          <p:spPr>
            <a:xfrm>
              <a:off x="4389120" y="2514600"/>
              <a:ext cx="1874519" cy="411480"/>
            </a:xfrm>
            <a:prstGeom prst="rect">
              <a:avLst/>
            </a:prstGeom>
            <a:noFill/>
          </p:spPr>
          <p:txBody>
            <a:bodyPr wrap="square" lIns="18288" tIns="9144" rIns="18288" bIns="9144" anchor="ctr">
              <a:noAutofit/>
            </a:bodyPr>
            <a:lstStyle/>
            <a:p>
              <a:pPr algn="ctr"/>
              <a:r>
                <a:rPr lang="en-GB" sz="1800" b="1" i="0">
                  <a:solidFill>
                    <a:srgbClr val="F28C28"/>
                  </a:solidFill>
                  <a:latin typeface="Arial"/>
                </a:rPr>
                <a:t>One long trip</a:t>
              </a:r>
            </a:p>
          </p:txBody>
        </p:sp>
        <p:sp>
          <p:nvSpPr>
            <p:cNvPr id="15" name="coal tank after"/>
            <p:cNvSpPr/>
            <p:nvPr/>
          </p:nvSpPr>
          <p:spPr>
            <a:xfrm>
              <a:off x="6400800" y="1828800"/>
              <a:ext cx="1463040" cy="2377440"/>
            </a:xfrm>
            <a:prstGeom prst="roundRect">
              <a:avLst>
                <a:gd name="adj" fmla="val 6250"/>
              </a:avLst>
            </a:prstGeom>
            <a:solidFill>
              <a:srgbClr val="2B2F36"/>
            </a:solidFill>
            <a:ln w="28575">
              <a:solidFill>
                <a:srgbClr val="9AA0A6"/>
              </a:solidFill>
            </a:ln>
          </p:spPr>
          <p:txBody>
            <a:bodyPr rtlCol="0" anchor="ctr"/>
            <a:lstStyle/>
            <a:p>
              <a:pPr algn="ctr"/>
              <a:endParaRPr/>
            </a:p>
          </p:txBody>
        </p:sp>
        <p:sp>
          <p:nvSpPr>
            <p:cNvPr id="16" name="coal tank after fill"/>
            <p:cNvSpPr/>
            <p:nvPr/>
          </p:nvSpPr>
          <p:spPr>
            <a:xfrm>
              <a:off x="6455664" y="3130905"/>
              <a:ext cx="1353312" cy="1020470"/>
            </a:xfrm>
            <a:prstGeom prst="rect">
              <a:avLst/>
            </a:prstGeom>
            <a:solidFill>
              <a:srgbClr val="1B1D21"/>
            </a:solidFill>
            <a:ln w="15875">
              <a:solidFill>
                <a:srgbClr val="8A9099"/>
              </a:solidFill>
            </a:ln>
          </p:spPr>
          <p:txBody>
            <a:bodyPr rtlCol="0" anchor="ctr"/>
            <a:lstStyle/>
            <a:p>
              <a:pPr algn="ctr"/>
              <a:endParaRPr/>
            </a:p>
          </p:txBody>
        </p:sp>
        <p:sp>
          <p:nvSpPr>
            <p:cNvPr id="17" name="water tank after"/>
            <p:cNvSpPr/>
            <p:nvPr/>
          </p:nvSpPr>
          <p:spPr>
            <a:xfrm>
              <a:off x="8321040" y="1828800"/>
              <a:ext cx="1463040" cy="2377440"/>
            </a:xfrm>
            <a:prstGeom prst="roundRect">
              <a:avLst>
                <a:gd name="adj" fmla="val 6250"/>
              </a:avLst>
            </a:prstGeom>
            <a:solidFill>
              <a:srgbClr val="2B2F36"/>
            </a:solidFill>
            <a:ln w="28575">
              <a:solidFill>
                <a:srgbClr val="9AA0A6"/>
              </a:solidFill>
            </a:ln>
          </p:spPr>
          <p:txBody>
            <a:bodyPr rtlCol="0" anchor="ctr"/>
            <a:lstStyle/>
            <a:p>
              <a:pPr algn="ctr"/>
              <a:endParaRPr/>
            </a:p>
          </p:txBody>
        </p:sp>
        <p:sp>
          <p:nvSpPr>
            <p:cNvPr id="18" name="water tank after fill"/>
            <p:cNvSpPr/>
            <p:nvPr/>
          </p:nvSpPr>
          <p:spPr>
            <a:xfrm>
              <a:off x="8375904" y="3811219"/>
              <a:ext cx="1353312" cy="340156"/>
            </a:xfrm>
            <a:prstGeom prst="rect">
              <a:avLst/>
            </a:prstGeom>
            <a:solidFill>
              <a:srgbClr val="4DA3FF"/>
            </a:solidFill>
            <a:ln>
              <a:noFill/>
            </a:ln>
          </p:spPr>
          <p:txBody>
            <a:bodyPr rtlCol="0" anchor="ctr"/>
            <a:lstStyle/>
            <a:p>
              <a:pPr algn="ctr"/>
              <a:endParaRPr/>
            </a:p>
          </p:txBody>
        </p:sp>
        <p:sp>
          <p:nvSpPr>
            <p:cNvPr id="19" name="tank label"/>
            <p:cNvSpPr txBox="1"/>
            <p:nvPr/>
          </p:nvSpPr>
          <p:spPr>
            <a:xfrm>
              <a:off x="6400800" y="4251959"/>
              <a:ext cx="14630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Coal</a:t>
              </a:r>
            </a:p>
          </p:txBody>
        </p:sp>
        <p:sp>
          <p:nvSpPr>
            <p:cNvPr id="20" name="tank label"/>
            <p:cNvSpPr txBox="1"/>
            <p:nvPr/>
          </p:nvSpPr>
          <p:spPr>
            <a:xfrm>
              <a:off x="8321040" y="4251959"/>
              <a:ext cx="14630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Water</a:t>
              </a:r>
            </a:p>
          </p:txBody>
        </p:sp>
        <p:sp>
          <p:nvSpPr>
            <p:cNvPr id="21" name="empty tag"/>
            <p:cNvSpPr/>
            <p:nvPr/>
          </p:nvSpPr>
          <p:spPr>
            <a:xfrm>
              <a:off x="8458200" y="2103120"/>
              <a:ext cx="1188720" cy="365760"/>
            </a:xfrm>
            <a:prstGeom prst="roundRect">
              <a:avLst>
                <a:gd name="adj" fmla="val 25000"/>
              </a:avLst>
            </a:prstGeom>
            <a:solidFill>
              <a:srgbClr val="E5484D"/>
            </a:solidFill>
            <a:ln>
              <a:noFill/>
            </a:ln>
          </p:spPr>
          <p:txBody>
            <a:bodyPr wrap="square" lIns="54864" tIns="27432" rIns="54864" bIns="27432" rtlCol="0" anchor="ctr">
              <a:noAutofit/>
            </a:bodyPr>
            <a:lstStyle/>
            <a:p>
              <a:pPr algn="ctr"/>
              <a:r>
                <a:rPr lang="en-GB" sz="1400" b="1" i="0">
                  <a:solidFill>
                    <a:srgbClr val="101418"/>
                  </a:solidFill>
                  <a:latin typeface="Arial"/>
                </a:rPr>
                <a:t>Empty first</a:t>
              </a:r>
            </a:p>
          </p:txBody>
        </p:sp>
        <p:cxnSp>
          <p:nvCxnSpPr>
            <p:cNvPr id="22" name="tag pointer"/>
            <p:cNvCxnSpPr/>
            <p:nvPr/>
          </p:nvCxnSpPr>
          <p:spPr>
            <a:xfrm>
              <a:off x="9052560" y="2487168"/>
              <a:ext cx="0" cy="1124712"/>
            </a:xfrm>
            <a:prstGeom prst="line">
              <a:avLst/>
            </a:prstGeom>
            <a:ln w="28575">
              <a:solidFill>
                <a:srgbClr val="E5484D"/>
              </a:solidFill>
              <a:tailEnd type="triangle" w="med" len="med"/>
            </a:ln>
          </p:spPr>
        </p:cxnSp>
        <p:sp>
          <p:nvSpPr>
            <p:cNvPr id="23" name="chimney"/>
            <p:cNvSpPr/>
            <p:nvPr/>
          </p:nvSpPr>
          <p:spPr>
            <a:xfrm>
              <a:off x="10561320" y="3246120"/>
              <a:ext cx="457200" cy="960120"/>
            </a:xfrm>
            <a:prstGeom prst="rect">
              <a:avLst/>
            </a:prstGeom>
            <a:solidFill>
              <a:srgbClr val="9AA0A6"/>
            </a:solidFill>
            <a:ln>
              <a:noFill/>
            </a:ln>
          </p:spPr>
          <p:txBody>
            <a:bodyPr rtlCol="0" anchor="ctr"/>
            <a:lstStyle/>
            <a:p>
              <a:pPr algn="ctr"/>
              <a:endParaRPr/>
            </a:p>
          </p:txBody>
        </p:sp>
        <p:sp>
          <p:nvSpPr>
            <p:cNvPr id="24" name="chimney lip"/>
            <p:cNvSpPr/>
            <p:nvPr/>
          </p:nvSpPr>
          <p:spPr>
            <a:xfrm>
              <a:off x="10424160" y="3154680"/>
              <a:ext cx="731520" cy="128016"/>
            </a:xfrm>
            <a:prstGeom prst="rect">
              <a:avLst/>
            </a:prstGeom>
            <a:solidFill>
              <a:srgbClr val="9AA0A6"/>
            </a:solidFill>
            <a:ln>
              <a:noFill/>
            </a:ln>
          </p:spPr>
          <p:txBody>
            <a:bodyPr rtlCol="0" anchor="ctr"/>
            <a:lstStyle/>
            <a:p>
              <a:pPr algn="ctr"/>
              <a:endParaRPr/>
            </a:p>
          </p:txBody>
        </p:sp>
        <p:sp>
          <p:nvSpPr>
            <p:cNvPr id="25" name="steam"/>
            <p:cNvSpPr/>
            <p:nvPr/>
          </p:nvSpPr>
          <p:spPr>
            <a:xfrm>
              <a:off x="10561320" y="2743200"/>
              <a:ext cx="457200" cy="256032"/>
            </a:xfrm>
            <a:prstGeom prst="ellipse">
              <a:avLst/>
            </a:prstGeom>
            <a:solidFill>
              <a:srgbClr val="F2F2F2">
                <a:alpha val="85000"/>
              </a:srgbClr>
            </a:solidFill>
            <a:ln>
              <a:noFill/>
            </a:ln>
          </p:spPr>
          <p:txBody>
            <a:bodyPr rtlCol="0" anchor="ctr"/>
            <a:lstStyle/>
            <a:p>
              <a:pPr algn="ctr"/>
              <a:endParaRPr/>
            </a:p>
          </p:txBody>
        </p:sp>
        <p:sp>
          <p:nvSpPr>
            <p:cNvPr id="26" name="steam"/>
            <p:cNvSpPr/>
            <p:nvPr/>
          </p:nvSpPr>
          <p:spPr>
            <a:xfrm>
              <a:off x="10652760" y="2331720"/>
              <a:ext cx="640080" cy="329184"/>
            </a:xfrm>
            <a:prstGeom prst="ellipse">
              <a:avLst/>
            </a:prstGeom>
            <a:solidFill>
              <a:srgbClr val="F2F2F2">
                <a:alpha val="85000"/>
              </a:srgbClr>
            </a:solidFill>
            <a:ln>
              <a:noFill/>
            </a:ln>
          </p:spPr>
          <p:txBody>
            <a:bodyPr rtlCol="0" anchor="ctr"/>
            <a:lstStyle/>
            <a:p>
              <a:pPr algn="ctr"/>
              <a:endParaRPr/>
            </a:p>
          </p:txBody>
        </p:sp>
        <p:sp>
          <p:nvSpPr>
            <p:cNvPr id="27" name="steam"/>
            <p:cNvSpPr/>
            <p:nvPr/>
          </p:nvSpPr>
          <p:spPr>
            <a:xfrm>
              <a:off x="10744200" y="1828800"/>
              <a:ext cx="822960" cy="420624"/>
            </a:xfrm>
            <a:prstGeom prst="ellipse">
              <a:avLst/>
            </a:prstGeom>
            <a:solidFill>
              <a:srgbClr val="F2F2F2">
                <a:alpha val="85000"/>
              </a:srgbClr>
            </a:solidFill>
            <a:ln>
              <a:noFill/>
            </a:ln>
          </p:spPr>
          <p:txBody>
            <a:bodyPr rtlCol="0" anchor="ctr"/>
            <a:lstStyle/>
            <a:p>
              <a:pPr algn="ctr"/>
              <a:endParaRPr/>
            </a:p>
          </p:txBody>
        </p:sp>
        <p:sp>
          <p:nvSpPr>
            <p:cNvPr id="28" name="steam label"/>
            <p:cNvSpPr txBox="1"/>
            <p:nvPr/>
          </p:nvSpPr>
          <p:spPr>
            <a:xfrm>
              <a:off x="9966960" y="4279392"/>
              <a:ext cx="1691640" cy="1005840"/>
            </a:xfrm>
            <a:prstGeom prst="rect">
              <a:avLst/>
            </a:prstGeom>
            <a:noFill/>
          </p:spPr>
          <p:txBody>
            <a:bodyPr wrap="square" lIns="18288" tIns="9144" rIns="18288" bIns="9144" anchor="t">
              <a:noAutofit/>
            </a:bodyPr>
            <a:lstStyle/>
            <a:p>
              <a:pPr algn="ctr"/>
              <a:r>
                <a:rPr lang="en-GB" sz="1400" b="0" i="0">
                  <a:solidFill>
                    <a:srgbClr val="F2F2F2"/>
                  </a:solidFill>
                  <a:latin typeface="Arial"/>
                </a:rPr>
                <a:t>Steam leaves the chimney. It is not used again.</a:t>
              </a:r>
            </a:p>
          </p:txBody>
        </p:sp>
        <p:sp>
          <p:nvSpPr>
            <p:cNvPr id="29" name="note"/>
            <p:cNvSpPr/>
            <p:nvPr/>
          </p:nvSpPr>
          <p:spPr>
            <a:xfrm>
              <a:off x="1371600" y="4983480"/>
              <a:ext cx="7132320" cy="502920"/>
            </a:xfrm>
            <a:prstGeom prst="roundRect">
              <a:avLst>
                <a:gd name="adj" fmla="val 18181"/>
              </a:avLst>
            </a:prstGeom>
            <a:solidFill>
              <a:srgbClr val="2B2F36"/>
            </a:solidFill>
            <a:ln w="19050">
              <a:solidFill>
                <a:srgbClr val="F28C28"/>
              </a:solidFill>
            </a:ln>
          </p:spPr>
          <p:txBody>
            <a:bodyPr wrap="square" lIns="54864" tIns="27432" rIns="54864" bIns="27432" rtlCol="0" anchor="ctr">
              <a:noAutofit/>
            </a:bodyPr>
            <a:lstStyle/>
            <a:p>
              <a:pPr algn="ctr"/>
              <a:r>
                <a:rPr lang="en-GB" sz="1800" b="0" i="0">
                  <a:solidFill>
                    <a:srgbClr val="F2F2F2"/>
                  </a:solidFill>
                  <a:latin typeface="Arial"/>
                </a:rPr>
                <a:t>In the mod, water is usually the tighter limit.</a:t>
              </a:r>
            </a:p>
          </p:txBody>
        </p:sp>
      </p:grpSp>
      <p:sp>
        <p:nvSpPr>
          <p:cNvPr id="3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1"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2"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Steam is used once and lost. So water runs out first. Coal lasts longer.</a:t>
            </a:r>
          </a:p>
        </p:txBody>
      </p:sp>
      <p:sp>
        <p:nvSpPr>
          <p:cNvPr id="33"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4</a:t>
            </a:r>
          </a:p>
        </p:txBody>
      </p:sp>
    </p:spTree>
    <p:extLst>
      <p:ext uri="{BB962C8B-B14F-4D97-AF65-F5344CB8AC3E}">
        <p14:creationId xmlns:p14="http://schemas.microsoft.com/office/powerpoint/2010/main" val="35694585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60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nodeType="withEffect">
                                  <p:stCondLst>
                                    <p:cond delay="90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Tender or tank?</a:t>
            </a:r>
          </a:p>
        </p:txBody>
      </p:sp>
      <p:sp>
        <p:nvSpPr>
          <p:cNvPr id="3" name="CHIP"/>
          <p:cNvSpPr/>
          <p:nvPr/>
        </p:nvSpPr>
        <p:spPr>
          <a:xfrm>
            <a:off x="10088575" y="530352"/>
            <a:ext cx="1554480" cy="365760"/>
          </a:xfrm>
          <a:prstGeom prst="roundRect">
            <a:avLst>
              <a:gd name="adj" fmla="val 30000"/>
            </a:avLst>
          </a:prstGeom>
          <a:solidFill>
            <a:srgbClr val="4A515B"/>
          </a:solidFill>
          <a:ln>
            <a:noFill/>
          </a:ln>
        </p:spPr>
        <p:txBody>
          <a:bodyPr wrap="square" lIns="54864" tIns="0" rIns="54864" bIns="0" rtlCol="0" anchor="ctr">
            <a:noAutofit/>
          </a:bodyPr>
          <a:lstStyle/>
          <a:p>
            <a:pPr algn="ctr"/>
            <a:r>
              <a:rPr lang="en-GB" sz="1400" b="1" i="0">
                <a:solidFill>
                  <a:srgbClr val="F2F2F2"/>
                </a:solidFill>
                <a:latin typeface="Arial"/>
              </a:rPr>
              <a:t>BACKGROUND</a:t>
            </a:r>
          </a:p>
        </p:txBody>
      </p:sp>
      <p:pic>
        <p:nvPicPr>
          <p:cNvPr id="4" name="P04_tender_engine_73082" descr="BR Standard Class 5 No. 73082 'Camelot', a tender engine, seen from the side."/>
          <p:cNvPicPr>
            <a:picLocks noChangeAspect="1"/>
          </p:cNvPicPr>
          <p:nvPr/>
        </p:nvPicPr>
        <p:blipFill>
          <a:blip r:embed="rId2"/>
          <a:srcRect l="505" r="505"/>
          <a:stretch>
            <a:fillRect/>
          </a:stretch>
        </p:blipFill>
        <p:spPr>
          <a:xfrm>
            <a:off x="548640" y="1325880"/>
            <a:ext cx="5303520" cy="3566160"/>
          </a:xfrm>
          <a:prstGeom prst="roundRect">
            <a:avLst>
              <a:gd name="adj" fmla="val 2051"/>
            </a:avLst>
          </a:prstGeom>
        </p:spPr>
      </p:pic>
      <p:pic>
        <p:nvPicPr>
          <p:cNvPr id="5" name="P05_tank_engine_80151" descr="BR Standard Class 4 tank engine No. 80151 from the side, showing side tanks and rear bunker."/>
          <p:cNvPicPr>
            <a:picLocks noChangeAspect="1"/>
          </p:cNvPicPr>
          <p:nvPr/>
        </p:nvPicPr>
        <p:blipFill>
          <a:blip r:embed="rId3"/>
          <a:srcRect l="505" r="505"/>
          <a:stretch>
            <a:fillRect/>
          </a:stretch>
        </p:blipFill>
        <p:spPr>
          <a:xfrm>
            <a:off x="6336792" y="1325880"/>
            <a:ext cx="5303520" cy="3566160"/>
          </a:xfrm>
          <a:prstGeom prst="roundRect">
            <a:avLst>
              <a:gd name="adj" fmla="val 2051"/>
            </a:avLst>
          </a:prstGeom>
        </p:spPr>
      </p:pic>
      <p:grpSp>
        <p:nvGrpSpPr>
          <p:cNvPr id="6" name="Photo labels" descr="Labels pointing at the tender behind the cab, and at the side tanks and bunker."/>
          <p:cNvGrpSpPr/>
          <p:nvPr/>
        </p:nvGrpSpPr>
        <p:grpSpPr>
          <a:xfrm>
            <a:off x="731520" y="1463039"/>
            <a:ext cx="9418320" cy="3291841"/>
            <a:chOff x="731520" y="1463039"/>
            <a:chExt cx="9418320" cy="3291841"/>
          </a:xfrm>
        </p:grpSpPr>
        <p:sp>
          <p:nvSpPr>
            <p:cNvPr id="7" name="card name"/>
            <p:cNvSpPr/>
            <p:nvPr/>
          </p:nvSpPr>
          <p:spPr>
            <a:xfrm>
              <a:off x="731520" y="1463039"/>
              <a:ext cx="2194560" cy="411480"/>
            </a:xfrm>
            <a:prstGeom prst="roundRect">
              <a:avLst>
                <a:gd name="adj" fmla="val 17777"/>
              </a:avLst>
            </a:prstGeom>
            <a:solidFill>
              <a:srgbClr val="2B2F36"/>
            </a:solidFill>
            <a:ln w="25400">
              <a:solidFill>
                <a:srgbClr val="F28C28"/>
              </a:solidFill>
            </a:ln>
          </p:spPr>
          <p:txBody>
            <a:bodyPr wrap="square" lIns="54864" tIns="27432" rIns="54864" bIns="27432" rtlCol="0" anchor="ctr">
              <a:noAutofit/>
            </a:bodyPr>
            <a:lstStyle/>
            <a:p>
              <a:pPr algn="ctr"/>
              <a:r>
                <a:rPr lang="en-GB" sz="1800" b="1" i="0">
                  <a:solidFill>
                    <a:srgbClr val="F2F2F2"/>
                  </a:solidFill>
                  <a:latin typeface="Arial"/>
                </a:rPr>
                <a:t>Tender engine</a:t>
              </a:r>
            </a:p>
          </p:txBody>
        </p:sp>
        <p:sp>
          <p:nvSpPr>
            <p:cNvPr id="8" name="card name"/>
            <p:cNvSpPr/>
            <p:nvPr/>
          </p:nvSpPr>
          <p:spPr>
            <a:xfrm>
              <a:off x="6519672" y="1463039"/>
              <a:ext cx="2011680" cy="411480"/>
            </a:xfrm>
            <a:prstGeom prst="roundRect">
              <a:avLst>
                <a:gd name="adj" fmla="val 17777"/>
              </a:avLst>
            </a:prstGeom>
            <a:solidFill>
              <a:srgbClr val="2B2F36"/>
            </a:solidFill>
            <a:ln w="25400">
              <a:solidFill>
                <a:srgbClr val="F28C28"/>
              </a:solidFill>
            </a:ln>
          </p:spPr>
          <p:txBody>
            <a:bodyPr wrap="square" lIns="54864" tIns="27432" rIns="54864" bIns="27432" rtlCol="0" anchor="ctr">
              <a:noAutofit/>
            </a:bodyPr>
            <a:lstStyle/>
            <a:p>
              <a:pPr algn="ctr"/>
              <a:r>
                <a:rPr lang="en-GB" sz="1800" b="1" i="0">
                  <a:solidFill>
                    <a:srgbClr val="F2F2F2"/>
                  </a:solidFill>
                  <a:latin typeface="Arial"/>
                </a:rPr>
                <a:t>Tank engine</a:t>
              </a:r>
            </a:p>
          </p:txBody>
        </p:sp>
        <p:sp>
          <p:nvSpPr>
            <p:cNvPr id="9" name="callout"/>
            <p:cNvSpPr/>
            <p:nvPr/>
          </p:nvSpPr>
          <p:spPr>
            <a:xfrm>
              <a:off x="777240" y="4069080"/>
              <a:ext cx="2834640" cy="685800"/>
            </a:xfrm>
            <a:prstGeom prst="roundRect">
              <a:avLst>
                <a:gd name="adj" fmla="val 10666"/>
              </a:avLst>
            </a:prstGeom>
            <a:solidFill>
              <a:srgbClr val="2B2F36"/>
            </a:solidFill>
            <a:ln w="25400">
              <a:solidFill>
                <a:srgbClr val="F28C28"/>
              </a:solidFill>
            </a:ln>
          </p:spPr>
          <p:txBody>
            <a:bodyPr wrap="square" lIns="54864" tIns="27432" rIns="54864" bIns="27432" rtlCol="0" anchor="ctr">
              <a:noAutofit/>
            </a:bodyPr>
            <a:lstStyle/>
            <a:p>
              <a:pPr algn="ctr"/>
              <a:r>
                <a:rPr lang="en-GB" sz="1600" b="0" i="0">
                  <a:solidFill>
                    <a:srgbClr val="F2F2F2"/>
                  </a:solidFill>
                  <a:latin typeface="Arial"/>
                </a:rPr>
                <a:t>Tender: coal and water behind the cab</a:t>
              </a:r>
            </a:p>
          </p:txBody>
        </p:sp>
        <p:cxnSp>
          <p:nvCxnSpPr>
            <p:cNvPr id="10" name="leader"/>
            <p:cNvCxnSpPr/>
            <p:nvPr/>
          </p:nvCxnSpPr>
          <p:spPr>
            <a:xfrm flipH="1" flipV="1">
              <a:off x="1417320" y="3246120"/>
              <a:ext cx="320040" cy="822960"/>
            </a:xfrm>
            <a:prstGeom prst="line">
              <a:avLst/>
            </a:prstGeom>
            <a:ln w="28575">
              <a:solidFill>
                <a:srgbClr val="F28C28"/>
              </a:solidFill>
            </a:ln>
          </p:spPr>
        </p:cxnSp>
        <p:sp>
          <p:nvSpPr>
            <p:cNvPr id="11" name="leader dot"/>
            <p:cNvSpPr/>
            <p:nvPr/>
          </p:nvSpPr>
          <p:spPr>
            <a:xfrm>
              <a:off x="1344168" y="3172968"/>
              <a:ext cx="146304" cy="146304"/>
            </a:xfrm>
            <a:prstGeom prst="ellipse">
              <a:avLst/>
            </a:prstGeom>
            <a:solidFill>
              <a:srgbClr val="F28C28"/>
            </a:solidFill>
            <a:ln>
              <a:noFill/>
            </a:ln>
          </p:spPr>
          <p:txBody>
            <a:bodyPr rtlCol="0" anchor="ctr"/>
            <a:lstStyle/>
            <a:p>
              <a:pPr algn="ctr"/>
              <a:endParaRPr/>
            </a:p>
          </p:txBody>
        </p:sp>
        <p:sp>
          <p:nvSpPr>
            <p:cNvPr id="12" name="callout"/>
            <p:cNvSpPr/>
            <p:nvPr/>
          </p:nvSpPr>
          <p:spPr>
            <a:xfrm>
              <a:off x="6492240" y="4069080"/>
              <a:ext cx="3657600" cy="685800"/>
            </a:xfrm>
            <a:prstGeom prst="roundRect">
              <a:avLst>
                <a:gd name="adj" fmla="val 10666"/>
              </a:avLst>
            </a:prstGeom>
            <a:solidFill>
              <a:srgbClr val="2B2F36"/>
            </a:solidFill>
            <a:ln w="25400">
              <a:solidFill>
                <a:srgbClr val="F28C28"/>
              </a:solidFill>
            </a:ln>
          </p:spPr>
          <p:txBody>
            <a:bodyPr wrap="square" lIns="54864" tIns="27432" rIns="54864" bIns="27432" rtlCol="0" anchor="ctr">
              <a:noAutofit/>
            </a:bodyPr>
            <a:lstStyle/>
            <a:p>
              <a:pPr algn="ctr"/>
              <a:r>
                <a:rPr lang="en-GB" sz="1600" b="0" i="0">
                  <a:solidFill>
                    <a:srgbClr val="F2F2F2"/>
                  </a:solidFill>
                  <a:latin typeface="Arial"/>
                </a:rPr>
                <a:t>Side tanks: water. Bunker: coal.</a:t>
              </a:r>
            </a:p>
          </p:txBody>
        </p:sp>
        <p:cxnSp>
          <p:nvCxnSpPr>
            <p:cNvPr id="13" name="leader"/>
            <p:cNvCxnSpPr/>
            <p:nvPr/>
          </p:nvCxnSpPr>
          <p:spPr>
            <a:xfrm flipV="1">
              <a:off x="7680960" y="3200400"/>
              <a:ext cx="822960" cy="868680"/>
            </a:xfrm>
            <a:prstGeom prst="line">
              <a:avLst/>
            </a:prstGeom>
            <a:ln w="28575">
              <a:solidFill>
                <a:srgbClr val="F28C28"/>
              </a:solidFill>
            </a:ln>
          </p:spPr>
        </p:cxnSp>
        <p:sp>
          <p:nvSpPr>
            <p:cNvPr id="14" name="leader dot"/>
            <p:cNvSpPr/>
            <p:nvPr/>
          </p:nvSpPr>
          <p:spPr>
            <a:xfrm>
              <a:off x="8430768" y="3127248"/>
              <a:ext cx="146304" cy="146304"/>
            </a:xfrm>
            <a:prstGeom prst="ellipse">
              <a:avLst/>
            </a:prstGeom>
            <a:solidFill>
              <a:srgbClr val="F28C28"/>
            </a:solidFill>
            <a:ln>
              <a:noFill/>
            </a:ln>
          </p:spPr>
          <p:txBody>
            <a:bodyPr rtlCol="0" anchor="ctr"/>
            <a:lstStyle/>
            <a:p>
              <a:pPr algn="ctr"/>
              <a:endParaRPr/>
            </a:p>
          </p:txBody>
        </p:sp>
        <p:cxnSp>
          <p:nvCxnSpPr>
            <p:cNvPr id="15" name="leader"/>
            <p:cNvCxnSpPr/>
            <p:nvPr/>
          </p:nvCxnSpPr>
          <p:spPr>
            <a:xfrm flipV="1">
              <a:off x="9509760" y="3200400"/>
              <a:ext cx="502920" cy="868680"/>
            </a:xfrm>
            <a:prstGeom prst="line">
              <a:avLst/>
            </a:prstGeom>
            <a:ln w="28575">
              <a:solidFill>
                <a:srgbClr val="F28C28"/>
              </a:solidFill>
            </a:ln>
          </p:spPr>
        </p:cxnSp>
        <p:sp>
          <p:nvSpPr>
            <p:cNvPr id="16" name="leader dot"/>
            <p:cNvSpPr/>
            <p:nvPr/>
          </p:nvSpPr>
          <p:spPr>
            <a:xfrm>
              <a:off x="9939528" y="3127248"/>
              <a:ext cx="146304" cy="146304"/>
            </a:xfrm>
            <a:prstGeom prst="ellipse">
              <a:avLst/>
            </a:prstGeom>
            <a:solidFill>
              <a:srgbClr val="F28C28"/>
            </a:solidFill>
            <a:ln>
              <a:noFill/>
            </a:ln>
          </p:spPr>
          <p:txBody>
            <a:bodyPr rtlCol="0" anchor="ctr"/>
            <a:lstStyle/>
            <a:p>
              <a:pPr algn="ctr"/>
              <a:endParaRPr/>
            </a:p>
          </p:txBody>
        </p:sp>
      </p:grpSp>
      <p:sp>
        <p:nvSpPr>
          <p:cNvPr id="17" name="CREDIT"/>
          <p:cNvSpPr txBox="1"/>
          <p:nvPr/>
        </p:nvSpPr>
        <p:spPr>
          <a:xfrm>
            <a:off x="548640" y="4937759"/>
            <a:ext cx="5303520" cy="219456"/>
          </a:xfrm>
          <a:prstGeom prst="rect">
            <a:avLst/>
          </a:prstGeom>
          <a:noFill/>
        </p:spPr>
        <p:txBody>
          <a:bodyPr wrap="square" lIns="0" tIns="0" rIns="0" bIns="0" anchor="t">
            <a:noAutofit/>
          </a:bodyPr>
          <a:lstStyle/>
          <a:p>
            <a:pPr algn="l"/>
            <a:r>
              <a:rPr lang="en-GB" sz="1000" b="0" i="0">
                <a:solidFill>
                  <a:srgbClr val="A9B0B8"/>
                </a:solidFill>
                <a:latin typeface="Arial"/>
              </a:rPr>
              <a:t>www.mgaylard.co.uk, CC BY 2.0. BR Standard Class 5 No. 73082.</a:t>
            </a:r>
          </a:p>
        </p:txBody>
      </p:sp>
      <p:sp>
        <p:nvSpPr>
          <p:cNvPr id="18" name="CREDIT"/>
          <p:cNvSpPr txBox="1"/>
          <p:nvPr/>
        </p:nvSpPr>
        <p:spPr>
          <a:xfrm>
            <a:off x="6336792" y="4937759"/>
            <a:ext cx="5303520" cy="219456"/>
          </a:xfrm>
          <a:prstGeom prst="rect">
            <a:avLst/>
          </a:prstGeom>
          <a:noFill/>
        </p:spPr>
        <p:txBody>
          <a:bodyPr wrap="square" lIns="0" tIns="0" rIns="0" bIns="0" anchor="t">
            <a:noAutofit/>
          </a:bodyPr>
          <a:lstStyle/>
          <a:p>
            <a:pPr algn="l"/>
            <a:r>
              <a:rPr lang="en-GB" sz="1000" b="0" i="0">
                <a:solidFill>
                  <a:srgbClr val="A9B0B8"/>
                </a:solidFill>
                <a:latin typeface="Arial"/>
              </a:rPr>
              <a:t>www.mgaylard.co.uk, CC BY 2.0. BR Standard Class 4 No. 80151.</a:t>
            </a:r>
          </a:p>
        </p:txBody>
      </p:sp>
      <p:sp>
        <p:nvSpPr>
          <p:cNvPr id="1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1"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 tender engine pulls a coal and water wagon. A tank engine carries both itself.</a:t>
            </a:r>
          </a:p>
        </p:txBody>
      </p:sp>
      <p:sp>
        <p:nvSpPr>
          <p:cNvPr id="22"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5</a:t>
            </a:r>
          </a:p>
        </p:txBody>
      </p:sp>
    </p:spTree>
    <p:extLst>
      <p:ext uri="{BB962C8B-B14F-4D97-AF65-F5344CB8AC3E}">
        <p14:creationId xmlns:p14="http://schemas.microsoft.com/office/powerpoint/2010/main" val="15176658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9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nodeType="withEffect">
                                  <p:stCondLst>
                                    <p:cond delay="12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15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Taking on water</a:t>
            </a:r>
          </a:p>
        </p:txBody>
      </p:sp>
      <p:sp>
        <p:nvSpPr>
          <p:cNvPr id="3" name="CHIP"/>
          <p:cNvSpPr/>
          <p:nvPr/>
        </p:nvSpPr>
        <p:spPr>
          <a:xfrm>
            <a:off x="10088575" y="530352"/>
            <a:ext cx="1554480" cy="365760"/>
          </a:xfrm>
          <a:prstGeom prst="roundRect">
            <a:avLst>
              <a:gd name="adj" fmla="val 30000"/>
            </a:avLst>
          </a:prstGeom>
          <a:solidFill>
            <a:srgbClr val="4A515B"/>
          </a:solidFill>
          <a:ln>
            <a:noFill/>
          </a:ln>
        </p:spPr>
        <p:txBody>
          <a:bodyPr wrap="square" lIns="54864" tIns="0" rIns="54864" bIns="0" rtlCol="0" anchor="ctr">
            <a:noAutofit/>
          </a:bodyPr>
          <a:lstStyle/>
          <a:p>
            <a:pPr algn="ctr"/>
            <a:r>
              <a:rPr lang="en-GB" sz="1400" b="1" i="0">
                <a:solidFill>
                  <a:srgbClr val="F2F2F2"/>
                </a:solidFill>
                <a:latin typeface="Arial"/>
              </a:rPr>
              <a:t>BACKGROUND</a:t>
            </a:r>
          </a:p>
        </p:txBody>
      </p:sp>
      <p:pic>
        <p:nvPicPr>
          <p:cNvPr id="4" name="P06_water_crane_didcot" descr="A water crane at Didcot Railway Centre."/>
          <p:cNvPicPr>
            <a:picLocks noChangeAspect="1"/>
          </p:cNvPicPr>
          <p:nvPr/>
        </p:nvPicPr>
        <p:blipFill>
          <a:blip r:embed="rId2"/>
          <a:srcRect b="34037"/>
          <a:stretch>
            <a:fillRect/>
          </a:stretch>
        </p:blipFill>
        <p:spPr>
          <a:xfrm>
            <a:off x="548640" y="1325880"/>
            <a:ext cx="3383280" cy="4023360"/>
          </a:xfrm>
          <a:prstGeom prst="roundRect">
            <a:avLst>
              <a:gd name="adj" fmla="val 2162"/>
            </a:avLst>
          </a:prstGeom>
        </p:spPr>
      </p:pic>
      <p:sp>
        <p:nvSpPr>
          <p:cNvPr id="5" name="CREDIT"/>
          <p:cNvSpPr txBox="1"/>
          <p:nvPr/>
        </p:nvSpPr>
        <p:spPr>
          <a:xfrm>
            <a:off x="548640" y="5394960"/>
            <a:ext cx="3383280" cy="219456"/>
          </a:xfrm>
          <a:prstGeom prst="rect">
            <a:avLst/>
          </a:prstGeom>
          <a:noFill/>
        </p:spPr>
        <p:txBody>
          <a:bodyPr wrap="square" lIns="0" tIns="0" rIns="0" bIns="0" anchor="t">
            <a:noAutofit/>
          </a:bodyPr>
          <a:lstStyle/>
          <a:p>
            <a:pPr algn="l"/>
            <a:r>
              <a:rPr lang="en-GB" sz="1000" b="0" i="0">
                <a:solidFill>
                  <a:srgbClr val="A9B0B8"/>
                </a:solidFill>
                <a:latin typeface="Arial"/>
              </a:rPr>
              <a:t>Barry Skeates, CC BY 2.0. A water crane, Didcot.</a:t>
            </a:r>
          </a:p>
        </p:txBody>
      </p:sp>
      <p:grpSp>
        <p:nvGrpSpPr>
          <p:cNvPr id="6" name="Water tower and crane" descr="A water tank on legs feeds a pipe down to a crane. The crane arm swings over the tender hatch and water flows down by gravity."/>
          <p:cNvGrpSpPr/>
          <p:nvPr/>
        </p:nvGrpSpPr>
        <p:grpSpPr>
          <a:xfrm>
            <a:off x="4480560" y="1325880"/>
            <a:ext cx="5303520" cy="3447288"/>
            <a:chOff x="4480560" y="1325880"/>
            <a:chExt cx="5303520" cy="3447288"/>
          </a:xfrm>
        </p:grpSpPr>
        <p:sp>
          <p:nvSpPr>
            <p:cNvPr id="7" name="tank"/>
            <p:cNvSpPr/>
            <p:nvPr/>
          </p:nvSpPr>
          <p:spPr>
            <a:xfrm>
              <a:off x="4480560" y="1554480"/>
              <a:ext cx="1737360" cy="1097280"/>
            </a:xfrm>
            <a:prstGeom prst="roundRect">
              <a:avLst>
                <a:gd name="adj" fmla="val 10000"/>
              </a:avLst>
            </a:prstGeom>
            <a:solidFill>
              <a:srgbClr val="4DA3FF"/>
            </a:solidFill>
            <a:ln w="25400">
              <a:solidFill>
                <a:srgbClr val="FFFFFF"/>
              </a:solidFill>
            </a:ln>
          </p:spPr>
          <p:txBody>
            <a:bodyPr wrap="square" lIns="54864" tIns="27432" rIns="54864" bIns="27432" rtlCol="0" anchor="ctr">
              <a:noAutofit/>
            </a:bodyPr>
            <a:lstStyle/>
            <a:p>
              <a:pPr algn="ctr"/>
              <a:r>
                <a:rPr lang="en-GB" sz="1400" b="1" i="0">
                  <a:solidFill>
                    <a:srgbClr val="101418"/>
                  </a:solidFill>
                  <a:latin typeface="Arial"/>
                </a:rPr>
                <a:t>Water tank</a:t>
              </a:r>
            </a:p>
          </p:txBody>
        </p:sp>
        <p:sp>
          <p:nvSpPr>
            <p:cNvPr id="8" name="leg"/>
            <p:cNvSpPr/>
            <p:nvPr/>
          </p:nvSpPr>
          <p:spPr>
            <a:xfrm>
              <a:off x="4572000" y="2651760"/>
              <a:ext cx="91440" cy="1463040"/>
            </a:xfrm>
            <a:prstGeom prst="rect">
              <a:avLst/>
            </a:prstGeom>
            <a:solidFill>
              <a:srgbClr val="9AA0A6"/>
            </a:solidFill>
            <a:ln>
              <a:noFill/>
            </a:ln>
          </p:spPr>
          <p:txBody>
            <a:bodyPr rtlCol="0" anchor="ctr"/>
            <a:lstStyle/>
            <a:p>
              <a:pPr algn="ctr"/>
              <a:endParaRPr/>
            </a:p>
          </p:txBody>
        </p:sp>
        <p:sp>
          <p:nvSpPr>
            <p:cNvPr id="9" name="leg"/>
            <p:cNvSpPr/>
            <p:nvPr/>
          </p:nvSpPr>
          <p:spPr>
            <a:xfrm>
              <a:off x="4937760" y="2651760"/>
              <a:ext cx="91440" cy="1463040"/>
            </a:xfrm>
            <a:prstGeom prst="rect">
              <a:avLst/>
            </a:prstGeom>
            <a:solidFill>
              <a:srgbClr val="9AA0A6"/>
            </a:solidFill>
            <a:ln>
              <a:noFill/>
            </a:ln>
          </p:spPr>
          <p:txBody>
            <a:bodyPr rtlCol="0" anchor="ctr"/>
            <a:lstStyle/>
            <a:p>
              <a:pPr algn="ctr"/>
              <a:endParaRPr/>
            </a:p>
          </p:txBody>
        </p:sp>
        <p:sp>
          <p:nvSpPr>
            <p:cNvPr id="10" name="leg"/>
            <p:cNvSpPr/>
            <p:nvPr/>
          </p:nvSpPr>
          <p:spPr>
            <a:xfrm>
              <a:off x="5669280" y="2651760"/>
              <a:ext cx="91440" cy="1463040"/>
            </a:xfrm>
            <a:prstGeom prst="rect">
              <a:avLst/>
            </a:prstGeom>
            <a:solidFill>
              <a:srgbClr val="9AA0A6"/>
            </a:solidFill>
            <a:ln>
              <a:noFill/>
            </a:ln>
          </p:spPr>
          <p:txBody>
            <a:bodyPr rtlCol="0" anchor="ctr"/>
            <a:lstStyle/>
            <a:p>
              <a:pPr algn="ctr"/>
              <a:endParaRPr/>
            </a:p>
          </p:txBody>
        </p:sp>
        <p:sp>
          <p:nvSpPr>
            <p:cNvPr id="11" name="leg"/>
            <p:cNvSpPr/>
            <p:nvPr/>
          </p:nvSpPr>
          <p:spPr>
            <a:xfrm>
              <a:off x="6035040" y="2651760"/>
              <a:ext cx="91440" cy="1463040"/>
            </a:xfrm>
            <a:prstGeom prst="rect">
              <a:avLst/>
            </a:prstGeom>
            <a:solidFill>
              <a:srgbClr val="9AA0A6"/>
            </a:solidFill>
            <a:ln>
              <a:noFill/>
            </a:ln>
          </p:spPr>
          <p:txBody>
            <a:bodyPr rtlCol="0" anchor="ctr"/>
            <a:lstStyle/>
            <a:p>
              <a:pPr algn="ctr"/>
              <a:endParaRPr/>
            </a:p>
          </p:txBody>
        </p:sp>
        <p:cxnSp>
          <p:nvCxnSpPr>
            <p:cNvPr id="12" name="brace"/>
            <p:cNvCxnSpPr/>
            <p:nvPr/>
          </p:nvCxnSpPr>
          <p:spPr>
            <a:xfrm>
              <a:off x="4617720" y="2743200"/>
              <a:ext cx="1463040" cy="1280160"/>
            </a:xfrm>
            <a:prstGeom prst="line">
              <a:avLst/>
            </a:prstGeom>
            <a:ln w="19050">
              <a:solidFill>
                <a:srgbClr val="9AA0A6"/>
              </a:solidFill>
            </a:ln>
          </p:spPr>
        </p:cxnSp>
        <p:cxnSp>
          <p:nvCxnSpPr>
            <p:cNvPr id="13" name="brace"/>
            <p:cNvCxnSpPr/>
            <p:nvPr/>
          </p:nvCxnSpPr>
          <p:spPr>
            <a:xfrm flipH="1">
              <a:off x="4617720" y="2743200"/>
              <a:ext cx="1463040" cy="1280160"/>
            </a:xfrm>
            <a:prstGeom prst="line">
              <a:avLst/>
            </a:prstGeom>
            <a:ln w="19050">
              <a:solidFill>
                <a:srgbClr val="9AA0A6"/>
              </a:solidFill>
            </a:ln>
          </p:spPr>
        </p:cxnSp>
        <p:sp>
          <p:nvSpPr>
            <p:cNvPr id="14" name="pipe"/>
            <p:cNvSpPr/>
            <p:nvPr/>
          </p:nvSpPr>
          <p:spPr>
            <a:xfrm>
              <a:off x="6217920" y="2359152"/>
              <a:ext cx="822960" cy="109728"/>
            </a:xfrm>
            <a:prstGeom prst="rect">
              <a:avLst/>
            </a:prstGeom>
            <a:solidFill>
              <a:srgbClr val="4DA3FF"/>
            </a:solidFill>
            <a:ln>
              <a:noFill/>
            </a:ln>
          </p:spPr>
          <p:txBody>
            <a:bodyPr rtlCol="0" anchor="ctr"/>
            <a:lstStyle/>
            <a:p>
              <a:pPr algn="ctr"/>
              <a:endParaRPr/>
            </a:p>
          </p:txBody>
        </p:sp>
        <p:sp>
          <p:nvSpPr>
            <p:cNvPr id="15" name="crane column"/>
            <p:cNvSpPr/>
            <p:nvPr/>
          </p:nvSpPr>
          <p:spPr>
            <a:xfrm>
              <a:off x="6903720" y="2359152"/>
              <a:ext cx="137160" cy="2331720"/>
            </a:xfrm>
            <a:prstGeom prst="rect">
              <a:avLst/>
            </a:prstGeom>
            <a:solidFill>
              <a:srgbClr val="4DA3FF"/>
            </a:solidFill>
            <a:ln>
              <a:noFill/>
            </a:ln>
          </p:spPr>
          <p:txBody>
            <a:bodyPr rtlCol="0" anchor="ctr"/>
            <a:lstStyle/>
            <a:p>
              <a:pPr algn="ctr"/>
              <a:endParaRPr/>
            </a:p>
          </p:txBody>
        </p:sp>
        <p:sp>
          <p:nvSpPr>
            <p:cNvPr id="16" name="swing arm"/>
            <p:cNvSpPr/>
            <p:nvPr/>
          </p:nvSpPr>
          <p:spPr>
            <a:xfrm>
              <a:off x="6903720" y="2743200"/>
              <a:ext cx="1463040" cy="128016"/>
            </a:xfrm>
            <a:prstGeom prst="rect">
              <a:avLst/>
            </a:prstGeom>
            <a:solidFill>
              <a:srgbClr val="4DA3FF"/>
            </a:solidFill>
            <a:ln>
              <a:noFill/>
            </a:ln>
          </p:spPr>
          <p:txBody>
            <a:bodyPr rtlCol="0" anchor="ctr"/>
            <a:lstStyle/>
            <a:p>
              <a:pPr algn="ctr"/>
              <a:endParaRPr/>
            </a:p>
          </p:txBody>
        </p:sp>
        <p:sp>
          <p:nvSpPr>
            <p:cNvPr id="17" name="spout"/>
            <p:cNvSpPr/>
            <p:nvPr/>
          </p:nvSpPr>
          <p:spPr>
            <a:xfrm>
              <a:off x="8275320" y="2743200"/>
              <a:ext cx="109728" cy="566928"/>
            </a:xfrm>
            <a:prstGeom prst="rect">
              <a:avLst/>
            </a:prstGeom>
            <a:solidFill>
              <a:srgbClr val="4DA3FF"/>
            </a:solidFill>
            <a:ln>
              <a:noFill/>
            </a:ln>
          </p:spPr>
          <p:txBody>
            <a:bodyPr rtlCol="0" anchor="ctr"/>
            <a:lstStyle/>
            <a:p>
              <a:pPr algn="ctr"/>
              <a:endParaRPr/>
            </a:p>
          </p:txBody>
        </p:sp>
        <p:sp>
          <p:nvSpPr>
            <p:cNvPr id="18" name="tender"/>
            <p:cNvSpPr/>
            <p:nvPr/>
          </p:nvSpPr>
          <p:spPr>
            <a:xfrm>
              <a:off x="7269480" y="3611880"/>
              <a:ext cx="2194560" cy="731520"/>
            </a:xfrm>
            <a:prstGeom prst="roundRect">
              <a:avLst>
                <a:gd name="adj" fmla="val 5000"/>
              </a:avLst>
            </a:prstGeom>
            <a:solidFill>
              <a:srgbClr val="9AA0A6"/>
            </a:solidFill>
            <a:ln>
              <a:noFill/>
            </a:ln>
          </p:spPr>
          <p:txBody>
            <a:bodyPr rtlCol="0" anchor="ctr"/>
            <a:lstStyle/>
            <a:p>
              <a:pPr algn="ctr"/>
              <a:endParaRPr/>
            </a:p>
          </p:txBody>
        </p:sp>
        <p:sp>
          <p:nvSpPr>
            <p:cNvPr id="19" name="tender label"/>
            <p:cNvSpPr txBox="1"/>
            <p:nvPr/>
          </p:nvSpPr>
          <p:spPr>
            <a:xfrm>
              <a:off x="7269480" y="3977639"/>
              <a:ext cx="914400" cy="320040"/>
            </a:xfrm>
            <a:prstGeom prst="rect">
              <a:avLst/>
            </a:prstGeom>
            <a:noFill/>
          </p:spPr>
          <p:txBody>
            <a:bodyPr wrap="square" lIns="18288" tIns="9144" rIns="18288" bIns="9144" anchor="ctr">
              <a:noAutofit/>
            </a:bodyPr>
            <a:lstStyle/>
            <a:p>
              <a:pPr algn="ctr"/>
              <a:r>
                <a:rPr lang="en-GB" sz="1400" b="1" i="0">
                  <a:solidFill>
                    <a:srgbClr val="101418"/>
                  </a:solidFill>
                  <a:latin typeface="Arial"/>
                </a:rPr>
                <a:t>Tender</a:t>
              </a:r>
            </a:p>
          </p:txBody>
        </p:sp>
        <p:sp>
          <p:nvSpPr>
            <p:cNvPr id="20" name="hatch"/>
            <p:cNvSpPr/>
            <p:nvPr/>
          </p:nvSpPr>
          <p:spPr>
            <a:xfrm>
              <a:off x="8129016" y="3456432"/>
              <a:ext cx="320040" cy="320040"/>
            </a:xfrm>
            <a:prstGeom prst="ellipse">
              <a:avLst/>
            </a:prstGeom>
            <a:solidFill>
              <a:srgbClr val="1B1D21"/>
            </a:solidFill>
            <a:ln w="25400">
              <a:solidFill>
                <a:srgbClr val="F2F2F2"/>
              </a:solidFill>
            </a:ln>
          </p:spPr>
          <p:txBody>
            <a:bodyPr rtlCol="0" anchor="ctr"/>
            <a:lstStyle/>
            <a:p>
              <a:pPr algn="ctr"/>
              <a:endParaRPr/>
            </a:p>
          </p:txBody>
        </p:sp>
        <p:sp>
          <p:nvSpPr>
            <p:cNvPr id="21" name="rail"/>
            <p:cNvSpPr/>
            <p:nvPr/>
          </p:nvSpPr>
          <p:spPr>
            <a:xfrm>
              <a:off x="7040880" y="4709160"/>
              <a:ext cx="2743200" cy="64008"/>
            </a:xfrm>
            <a:prstGeom prst="rect">
              <a:avLst/>
            </a:prstGeom>
            <a:solidFill>
              <a:srgbClr val="9AA0A6"/>
            </a:solidFill>
            <a:ln>
              <a:noFill/>
            </a:ln>
          </p:spPr>
          <p:txBody>
            <a:bodyPr rtlCol="0" anchor="ctr"/>
            <a:lstStyle/>
            <a:p>
              <a:pPr algn="ctr"/>
              <a:endParaRPr/>
            </a:p>
          </p:txBody>
        </p:sp>
        <p:sp>
          <p:nvSpPr>
            <p:cNvPr id="22" name="wheel"/>
            <p:cNvSpPr/>
            <p:nvPr/>
          </p:nvSpPr>
          <p:spPr>
            <a:xfrm>
              <a:off x="7589520" y="4343400"/>
              <a:ext cx="365760" cy="365760"/>
            </a:xfrm>
            <a:prstGeom prst="ellipse">
              <a:avLst/>
            </a:prstGeom>
            <a:solidFill>
              <a:srgbClr val="1B1D21"/>
            </a:solidFill>
            <a:ln w="25400">
              <a:solidFill>
                <a:srgbClr val="9AA0A6"/>
              </a:solidFill>
            </a:ln>
          </p:spPr>
          <p:txBody>
            <a:bodyPr rtlCol="0" anchor="ctr"/>
            <a:lstStyle/>
            <a:p>
              <a:pPr algn="ctr"/>
              <a:endParaRPr/>
            </a:p>
          </p:txBody>
        </p:sp>
        <p:sp>
          <p:nvSpPr>
            <p:cNvPr id="23" name="wheel"/>
            <p:cNvSpPr/>
            <p:nvPr/>
          </p:nvSpPr>
          <p:spPr>
            <a:xfrm>
              <a:off x="8778240" y="4343400"/>
              <a:ext cx="365760" cy="365760"/>
            </a:xfrm>
            <a:prstGeom prst="ellipse">
              <a:avLst/>
            </a:prstGeom>
            <a:solidFill>
              <a:srgbClr val="1B1D21"/>
            </a:solidFill>
            <a:ln w="25400">
              <a:solidFill>
                <a:srgbClr val="9AA0A6"/>
              </a:solidFill>
            </a:ln>
          </p:spPr>
          <p:txBody>
            <a:bodyPr rtlCol="0" anchor="ctr"/>
            <a:lstStyle/>
            <a:p>
              <a:pPr algn="ctr"/>
              <a:endParaRPr/>
            </a:p>
          </p:txBody>
        </p:sp>
        <p:cxnSp>
          <p:nvCxnSpPr>
            <p:cNvPr id="24" name="gravity arrow"/>
            <p:cNvCxnSpPr/>
            <p:nvPr/>
          </p:nvCxnSpPr>
          <p:spPr>
            <a:xfrm>
              <a:off x="6629400" y="2926080"/>
              <a:ext cx="0" cy="685800"/>
            </a:xfrm>
            <a:prstGeom prst="line">
              <a:avLst/>
            </a:prstGeom>
            <a:ln w="28575">
              <a:solidFill>
                <a:srgbClr val="F2F2F2"/>
              </a:solidFill>
              <a:tailEnd type="triangle" w="med" len="med"/>
            </a:ln>
          </p:spPr>
        </p:cxnSp>
        <p:cxnSp>
          <p:nvCxnSpPr>
            <p:cNvPr id="25" name="gravity arrow"/>
            <p:cNvCxnSpPr/>
            <p:nvPr/>
          </p:nvCxnSpPr>
          <p:spPr>
            <a:xfrm>
              <a:off x="6766560" y="2926080"/>
              <a:ext cx="0" cy="685800"/>
            </a:xfrm>
            <a:prstGeom prst="line">
              <a:avLst/>
            </a:prstGeom>
            <a:ln w="28575">
              <a:solidFill>
                <a:srgbClr val="F2F2F2"/>
              </a:solidFill>
              <a:tailEnd type="triangle" w="med" len="med"/>
            </a:ln>
          </p:spPr>
        </p:cxnSp>
        <p:sp>
          <p:nvSpPr>
            <p:cNvPr id="26" name="gravity label"/>
            <p:cNvSpPr txBox="1"/>
            <p:nvPr/>
          </p:nvSpPr>
          <p:spPr>
            <a:xfrm>
              <a:off x="5852160" y="3703320"/>
              <a:ext cx="1280160" cy="320040"/>
            </a:xfrm>
            <a:prstGeom prst="rect">
              <a:avLst/>
            </a:prstGeom>
            <a:noFill/>
          </p:spPr>
          <p:txBody>
            <a:bodyPr wrap="square" lIns="18288" tIns="9144" rIns="18288" bIns="9144" anchor="ctr">
              <a:noAutofit/>
            </a:bodyPr>
            <a:lstStyle/>
            <a:p>
              <a:pPr algn="ctr"/>
              <a:r>
                <a:rPr lang="en-GB" sz="1400" b="1" i="0">
                  <a:solidFill>
                    <a:srgbClr val="F2F2F2"/>
                  </a:solidFill>
                  <a:latin typeface="Arial"/>
                </a:rPr>
                <a:t>Gravity</a:t>
              </a:r>
            </a:p>
          </p:txBody>
        </p:sp>
        <p:sp>
          <p:nvSpPr>
            <p:cNvPr id="27" name="swing arrow"/>
            <p:cNvSpPr/>
            <p:nvPr/>
          </p:nvSpPr>
          <p:spPr>
            <a:xfrm>
              <a:off x="6858000" y="1783080"/>
              <a:ext cx="1554480" cy="411480"/>
            </a:xfrm>
            <a:custGeom>
              <a:avLst/>
              <a:gdLst/>
              <a:ahLst/>
              <a:cxnLst/>
              <a:rect l="l" t="t" r="r" b="b"/>
              <a:pathLst>
                <a:path w="1554480" h="411480">
                  <a:moveTo>
                    <a:pt x="0" y="411480"/>
                  </a:moveTo>
                  <a:lnTo>
                    <a:pt x="55517" y="354796"/>
                  </a:lnTo>
                  <a:lnTo>
                    <a:pt x="111034" y="302311"/>
                  </a:lnTo>
                  <a:lnTo>
                    <a:pt x="166551" y="254025"/>
                  </a:lnTo>
                  <a:lnTo>
                    <a:pt x="222068" y="209938"/>
                  </a:lnTo>
                  <a:lnTo>
                    <a:pt x="277585" y="170050"/>
                  </a:lnTo>
                  <a:lnTo>
                    <a:pt x="333102" y="134360"/>
                  </a:lnTo>
                  <a:lnTo>
                    <a:pt x="388620" y="102870"/>
                  </a:lnTo>
                  <a:lnTo>
                    <a:pt x="444137" y="75577"/>
                  </a:lnTo>
                  <a:lnTo>
                    <a:pt x="499654" y="52484"/>
                  </a:lnTo>
                  <a:lnTo>
                    <a:pt x="555171" y="33590"/>
                  </a:lnTo>
                  <a:lnTo>
                    <a:pt x="610688" y="18894"/>
                  </a:lnTo>
                  <a:lnTo>
                    <a:pt x="666205" y="8397"/>
                  </a:lnTo>
                  <a:lnTo>
                    <a:pt x="721722" y="2099"/>
                  </a:lnTo>
                  <a:lnTo>
                    <a:pt x="777240" y="0"/>
                  </a:lnTo>
                  <a:lnTo>
                    <a:pt x="832757" y="2099"/>
                  </a:lnTo>
                  <a:lnTo>
                    <a:pt x="888274" y="8397"/>
                  </a:lnTo>
                  <a:lnTo>
                    <a:pt x="943791" y="18894"/>
                  </a:lnTo>
                  <a:lnTo>
                    <a:pt x="999308" y="33590"/>
                  </a:lnTo>
                  <a:lnTo>
                    <a:pt x="1054825" y="52484"/>
                  </a:lnTo>
                  <a:lnTo>
                    <a:pt x="1110342" y="75577"/>
                  </a:lnTo>
                  <a:lnTo>
                    <a:pt x="1165859" y="102870"/>
                  </a:lnTo>
                  <a:lnTo>
                    <a:pt x="1221377" y="134360"/>
                  </a:lnTo>
                  <a:lnTo>
                    <a:pt x="1276894" y="170050"/>
                  </a:lnTo>
                  <a:lnTo>
                    <a:pt x="1332411" y="209938"/>
                  </a:lnTo>
                  <a:lnTo>
                    <a:pt x="1387928" y="254025"/>
                  </a:lnTo>
                  <a:lnTo>
                    <a:pt x="1443445" y="302311"/>
                  </a:lnTo>
                  <a:lnTo>
                    <a:pt x="1498962" y="354796"/>
                  </a:lnTo>
                  <a:lnTo>
                    <a:pt x="1554480" y="411480"/>
                  </a:lnTo>
                </a:path>
              </a:pathLst>
            </a:custGeom>
            <a:noFill/>
            <a:ln w="31750">
              <a:solidFill>
                <a:srgbClr val="F28C28"/>
              </a:solidFill>
              <a:tailEnd type="triangle" w="med" len="med"/>
            </a:ln>
          </p:spPr>
          <p:txBody>
            <a:bodyPr rtlCol="0" anchor="ctr"/>
            <a:lstStyle/>
            <a:p>
              <a:pPr algn="ctr"/>
              <a:endParaRPr/>
            </a:p>
          </p:txBody>
        </p:sp>
        <p:sp>
          <p:nvSpPr>
            <p:cNvPr id="28" name="swing label"/>
            <p:cNvSpPr txBox="1"/>
            <p:nvPr/>
          </p:nvSpPr>
          <p:spPr>
            <a:xfrm>
              <a:off x="6583680" y="1325880"/>
              <a:ext cx="3017520" cy="365760"/>
            </a:xfrm>
            <a:prstGeom prst="rect">
              <a:avLst/>
            </a:prstGeom>
            <a:noFill/>
          </p:spPr>
          <p:txBody>
            <a:bodyPr wrap="square" lIns="18288" tIns="9144" rIns="18288" bIns="9144" anchor="ctr">
              <a:noAutofit/>
            </a:bodyPr>
            <a:lstStyle/>
            <a:p>
              <a:pPr algn="ctr"/>
              <a:r>
                <a:rPr lang="en-GB" sz="1400" b="1" i="0">
                  <a:solidFill>
                    <a:srgbClr val="F28C28"/>
                  </a:solidFill>
                  <a:latin typeface="Arial"/>
                </a:rPr>
                <a:t>Arm swings over the hatch</a:t>
              </a:r>
            </a:p>
          </p:txBody>
        </p:sp>
      </p:grpSp>
      <p:pic>
        <p:nvPicPr>
          <p:cNvPr id="29" name="P07_water_tower_signal" descr="A water tower with a signal beside it."/>
          <p:cNvPicPr>
            <a:picLocks noChangeAspect="1"/>
          </p:cNvPicPr>
          <p:nvPr/>
        </p:nvPicPr>
        <p:blipFill>
          <a:blip r:embed="rId3"/>
          <a:srcRect t="17258" b="35040"/>
          <a:stretch>
            <a:fillRect/>
          </a:stretch>
        </p:blipFill>
        <p:spPr>
          <a:xfrm>
            <a:off x="9601200" y="3566160"/>
            <a:ext cx="2039112" cy="1463040"/>
          </a:xfrm>
          <a:prstGeom prst="roundRect">
            <a:avLst>
              <a:gd name="adj" fmla="val 5000"/>
            </a:avLst>
          </a:prstGeom>
        </p:spPr>
      </p:pic>
      <p:sp>
        <p:nvSpPr>
          <p:cNvPr id="30" name="CREDIT"/>
          <p:cNvSpPr txBox="1"/>
          <p:nvPr/>
        </p:nvSpPr>
        <p:spPr>
          <a:xfrm>
            <a:off x="9601200" y="5056632"/>
            <a:ext cx="2039112" cy="219456"/>
          </a:xfrm>
          <a:prstGeom prst="rect">
            <a:avLst/>
          </a:prstGeom>
          <a:noFill/>
        </p:spPr>
        <p:txBody>
          <a:bodyPr wrap="square" lIns="0" tIns="0" rIns="0" bIns="0" anchor="t">
            <a:noAutofit/>
          </a:bodyPr>
          <a:lstStyle/>
          <a:p>
            <a:pPr algn="l"/>
            <a:r>
              <a:rPr lang="en-GB" sz="1000" b="0" i="0">
                <a:solidFill>
                  <a:srgbClr val="A9B0B8"/>
                </a:solidFill>
                <a:latin typeface="Arial"/>
              </a:rPr>
              <a:t>David Merrett, CC BY 2.0</a:t>
            </a:r>
          </a:p>
        </p:txBody>
      </p:sp>
      <p:sp>
        <p:nvSpPr>
          <p:cNvPr id="3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2"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3"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 water crane swings over the engine. Water flows down from a tank above.</a:t>
            </a:r>
          </a:p>
        </p:txBody>
      </p:sp>
      <p:sp>
        <p:nvSpPr>
          <p:cNvPr id="34"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6</a:t>
            </a:r>
          </a:p>
        </p:txBody>
      </p:sp>
    </p:spTree>
    <p:extLst>
      <p:ext uri="{BB962C8B-B14F-4D97-AF65-F5344CB8AC3E}">
        <p14:creationId xmlns:p14="http://schemas.microsoft.com/office/powerpoint/2010/main" val="35410266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nodeType="withEffect">
                                  <p:stCondLst>
                                    <p:cond delay="120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nodeType="withEffect">
                                  <p:stCondLst>
                                    <p:cond delay="150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Taking on coal</a:t>
            </a:r>
          </a:p>
        </p:txBody>
      </p:sp>
      <p:sp>
        <p:nvSpPr>
          <p:cNvPr id="3" name="CHIP"/>
          <p:cNvSpPr/>
          <p:nvPr/>
        </p:nvSpPr>
        <p:spPr>
          <a:xfrm>
            <a:off x="10088575" y="530352"/>
            <a:ext cx="1554480" cy="365760"/>
          </a:xfrm>
          <a:prstGeom prst="roundRect">
            <a:avLst>
              <a:gd name="adj" fmla="val 30000"/>
            </a:avLst>
          </a:prstGeom>
          <a:solidFill>
            <a:srgbClr val="4A515B"/>
          </a:solidFill>
          <a:ln>
            <a:noFill/>
          </a:ln>
        </p:spPr>
        <p:txBody>
          <a:bodyPr wrap="square" lIns="54864" tIns="0" rIns="54864" bIns="0" rtlCol="0" anchor="ctr">
            <a:noAutofit/>
          </a:bodyPr>
          <a:lstStyle/>
          <a:p>
            <a:pPr algn="ctr"/>
            <a:r>
              <a:rPr lang="en-GB" sz="1400" b="1" i="0">
                <a:solidFill>
                  <a:srgbClr val="F2F2F2"/>
                </a:solidFill>
                <a:latin typeface="Arial"/>
              </a:rPr>
              <a:t>BACKGROUND</a:t>
            </a:r>
          </a:p>
        </p:txBody>
      </p:sp>
      <p:pic>
        <p:nvPicPr>
          <p:cNvPr id="4" name="P08_coaling_stage_didcot" descr="A raised coaling stage at the Great Western Society site, Didcot."/>
          <p:cNvPicPr>
            <a:picLocks noChangeAspect="1"/>
          </p:cNvPicPr>
          <p:nvPr/>
        </p:nvPicPr>
        <p:blipFill>
          <a:blip r:embed="rId2"/>
          <a:srcRect l="8636" r="12955"/>
          <a:stretch>
            <a:fillRect/>
          </a:stretch>
        </p:blipFill>
        <p:spPr>
          <a:xfrm>
            <a:off x="548640" y="1325880"/>
            <a:ext cx="4206240" cy="4023360"/>
          </a:xfrm>
          <a:prstGeom prst="roundRect">
            <a:avLst>
              <a:gd name="adj" fmla="val 1818"/>
            </a:avLst>
          </a:prstGeom>
        </p:spPr>
      </p:pic>
      <p:sp>
        <p:nvSpPr>
          <p:cNvPr id="5" name="CREDIT"/>
          <p:cNvSpPr txBox="1"/>
          <p:nvPr/>
        </p:nvSpPr>
        <p:spPr>
          <a:xfrm>
            <a:off x="548640" y="5394960"/>
            <a:ext cx="4206240" cy="219456"/>
          </a:xfrm>
          <a:prstGeom prst="rect">
            <a:avLst/>
          </a:prstGeom>
          <a:noFill/>
        </p:spPr>
        <p:txBody>
          <a:bodyPr wrap="square" lIns="0" tIns="0" rIns="0" bIns="0" anchor="t">
            <a:noAutofit/>
          </a:bodyPr>
          <a:lstStyle/>
          <a:p>
            <a:pPr algn="l"/>
            <a:r>
              <a:rPr lang="en-GB" sz="1000" b="0" i="0">
                <a:solidFill>
                  <a:srgbClr val="A9B0B8"/>
                </a:solidFill>
                <a:latin typeface="Arial"/>
              </a:rPr>
              <a:t>Gillett's Crossing, CC BY 2.0. A coaling stage, Didcot.</a:t>
            </a:r>
          </a:p>
        </p:txBody>
      </p:sp>
      <p:grpSp>
        <p:nvGrpSpPr>
          <p:cNvPr id="6" name="Coal stage and coaling tower" descr="Two ways to fill a tender with coal. A coal stage is a raised platform with a chute. A coaling tower has a hopper above the tender. Gravity does the work."/>
          <p:cNvGrpSpPr/>
          <p:nvPr/>
        </p:nvGrpSpPr>
        <p:grpSpPr>
          <a:xfrm>
            <a:off x="5029200" y="1280160"/>
            <a:ext cx="6583680" cy="4297680"/>
            <a:chOff x="5029200" y="1280160"/>
            <a:chExt cx="6583680" cy="4297680"/>
          </a:xfrm>
        </p:grpSpPr>
        <p:sp>
          <p:nvSpPr>
            <p:cNvPr id="7" name="diagram title"/>
            <p:cNvSpPr txBox="1"/>
            <p:nvPr/>
          </p:nvSpPr>
          <p:spPr>
            <a:xfrm>
              <a:off x="5029200" y="1280160"/>
              <a:ext cx="2743200" cy="320040"/>
            </a:xfrm>
            <a:prstGeom prst="rect">
              <a:avLst/>
            </a:prstGeom>
            <a:noFill/>
          </p:spPr>
          <p:txBody>
            <a:bodyPr wrap="square" lIns="18288" tIns="9144" rIns="18288" bIns="9144" anchor="ctr">
              <a:noAutofit/>
            </a:bodyPr>
            <a:lstStyle/>
            <a:p>
              <a:pPr algn="l"/>
              <a:r>
                <a:rPr lang="en-GB" sz="1800" b="1" i="0">
                  <a:solidFill>
                    <a:srgbClr val="F28C28"/>
                  </a:solidFill>
                  <a:latin typeface="Arial"/>
                </a:rPr>
                <a:t>Coal stage</a:t>
              </a:r>
            </a:p>
          </p:txBody>
        </p:sp>
        <p:sp>
          <p:nvSpPr>
            <p:cNvPr id="8" name="rail"/>
            <p:cNvSpPr/>
            <p:nvPr/>
          </p:nvSpPr>
          <p:spPr>
            <a:xfrm>
              <a:off x="5029200" y="2971800"/>
              <a:ext cx="6583680" cy="64008"/>
            </a:xfrm>
            <a:prstGeom prst="rect">
              <a:avLst/>
            </a:prstGeom>
            <a:solidFill>
              <a:srgbClr val="9AA0A6"/>
            </a:solidFill>
            <a:ln>
              <a:noFill/>
            </a:ln>
          </p:spPr>
          <p:txBody>
            <a:bodyPr rtlCol="0" anchor="ctr"/>
            <a:lstStyle/>
            <a:p>
              <a:pPr algn="ctr"/>
              <a:endParaRPr/>
            </a:p>
          </p:txBody>
        </p:sp>
        <p:sp>
          <p:nvSpPr>
            <p:cNvPr id="9" name="coal heap"/>
            <p:cNvSpPr/>
            <p:nvPr/>
          </p:nvSpPr>
          <p:spPr>
            <a:xfrm>
              <a:off x="5486400" y="1645920"/>
              <a:ext cx="1920240" cy="365760"/>
            </a:xfrm>
            <a:custGeom>
              <a:avLst/>
              <a:gdLst/>
              <a:ahLst/>
              <a:cxnLst/>
              <a:rect l="l" t="t" r="r" b="b"/>
              <a:pathLst>
                <a:path w="1920240" h="365760">
                  <a:moveTo>
                    <a:pt x="0" y="365760"/>
                  </a:moveTo>
                  <a:lnTo>
                    <a:pt x="457200" y="137160"/>
                  </a:lnTo>
                  <a:lnTo>
                    <a:pt x="822960" y="0"/>
                  </a:lnTo>
                  <a:lnTo>
                    <a:pt x="1188720" y="91440"/>
                  </a:lnTo>
                  <a:lnTo>
                    <a:pt x="1554480" y="45720"/>
                  </a:lnTo>
                  <a:lnTo>
                    <a:pt x="1920240" y="365760"/>
                  </a:lnTo>
                  <a:close/>
                </a:path>
              </a:pathLst>
            </a:custGeom>
            <a:solidFill>
              <a:srgbClr val="1B1D21"/>
            </a:solidFill>
            <a:ln w="25400">
              <a:solidFill>
                <a:srgbClr val="B5BBC2"/>
              </a:solidFill>
            </a:ln>
          </p:spPr>
          <p:txBody>
            <a:bodyPr rtlCol="0" anchor="ctr"/>
            <a:lstStyle/>
            <a:p>
              <a:pPr algn="ctr"/>
              <a:endParaRPr/>
            </a:p>
          </p:txBody>
        </p:sp>
        <p:sp>
          <p:nvSpPr>
            <p:cNvPr id="10" name="platform"/>
            <p:cNvSpPr/>
            <p:nvPr/>
          </p:nvSpPr>
          <p:spPr>
            <a:xfrm>
              <a:off x="5120640" y="2011680"/>
              <a:ext cx="2926080" cy="128016"/>
            </a:xfrm>
            <a:prstGeom prst="rect">
              <a:avLst/>
            </a:prstGeom>
            <a:solidFill>
              <a:srgbClr val="9AA0A6"/>
            </a:solidFill>
            <a:ln>
              <a:noFill/>
            </a:ln>
          </p:spPr>
          <p:txBody>
            <a:bodyPr rtlCol="0" anchor="ctr"/>
            <a:lstStyle/>
            <a:p>
              <a:pPr algn="ctr"/>
              <a:endParaRPr/>
            </a:p>
          </p:txBody>
        </p:sp>
        <p:sp>
          <p:nvSpPr>
            <p:cNvPr id="11" name="post"/>
            <p:cNvSpPr/>
            <p:nvPr/>
          </p:nvSpPr>
          <p:spPr>
            <a:xfrm>
              <a:off x="5212080" y="2139696"/>
              <a:ext cx="91440" cy="832104"/>
            </a:xfrm>
            <a:prstGeom prst="rect">
              <a:avLst/>
            </a:prstGeom>
            <a:solidFill>
              <a:srgbClr val="9AA0A6"/>
            </a:solidFill>
            <a:ln>
              <a:noFill/>
            </a:ln>
          </p:spPr>
          <p:txBody>
            <a:bodyPr rtlCol="0" anchor="ctr"/>
            <a:lstStyle/>
            <a:p>
              <a:pPr algn="ctr"/>
              <a:endParaRPr/>
            </a:p>
          </p:txBody>
        </p:sp>
        <p:sp>
          <p:nvSpPr>
            <p:cNvPr id="12" name="post"/>
            <p:cNvSpPr/>
            <p:nvPr/>
          </p:nvSpPr>
          <p:spPr>
            <a:xfrm>
              <a:off x="6126480" y="2139696"/>
              <a:ext cx="91440" cy="832104"/>
            </a:xfrm>
            <a:prstGeom prst="rect">
              <a:avLst/>
            </a:prstGeom>
            <a:solidFill>
              <a:srgbClr val="9AA0A6"/>
            </a:solidFill>
            <a:ln>
              <a:noFill/>
            </a:ln>
          </p:spPr>
          <p:txBody>
            <a:bodyPr rtlCol="0" anchor="ctr"/>
            <a:lstStyle/>
            <a:p>
              <a:pPr algn="ctr"/>
              <a:endParaRPr/>
            </a:p>
          </p:txBody>
        </p:sp>
        <p:sp>
          <p:nvSpPr>
            <p:cNvPr id="13" name="post"/>
            <p:cNvSpPr/>
            <p:nvPr/>
          </p:nvSpPr>
          <p:spPr>
            <a:xfrm>
              <a:off x="7040880" y="2139696"/>
              <a:ext cx="91440" cy="832104"/>
            </a:xfrm>
            <a:prstGeom prst="rect">
              <a:avLst/>
            </a:prstGeom>
            <a:solidFill>
              <a:srgbClr val="9AA0A6"/>
            </a:solidFill>
            <a:ln>
              <a:noFill/>
            </a:ln>
          </p:spPr>
          <p:txBody>
            <a:bodyPr rtlCol="0" anchor="ctr"/>
            <a:lstStyle/>
            <a:p>
              <a:pPr algn="ctr"/>
              <a:endParaRPr/>
            </a:p>
          </p:txBody>
        </p:sp>
        <p:sp>
          <p:nvSpPr>
            <p:cNvPr id="14" name="post"/>
            <p:cNvSpPr/>
            <p:nvPr/>
          </p:nvSpPr>
          <p:spPr>
            <a:xfrm>
              <a:off x="7863840" y="2139696"/>
              <a:ext cx="91440" cy="832104"/>
            </a:xfrm>
            <a:prstGeom prst="rect">
              <a:avLst/>
            </a:prstGeom>
            <a:solidFill>
              <a:srgbClr val="9AA0A6"/>
            </a:solidFill>
            <a:ln>
              <a:noFill/>
            </a:ln>
          </p:spPr>
          <p:txBody>
            <a:bodyPr rtlCol="0" anchor="ctr"/>
            <a:lstStyle/>
            <a:p>
              <a:pPr algn="ctr"/>
              <a:endParaRPr/>
            </a:p>
          </p:txBody>
        </p:sp>
        <p:sp>
          <p:nvSpPr>
            <p:cNvPr id="15" name="chute"/>
            <p:cNvSpPr/>
            <p:nvPr/>
          </p:nvSpPr>
          <p:spPr>
            <a:xfrm>
              <a:off x="8046720" y="2011680"/>
              <a:ext cx="1280160" cy="493776"/>
            </a:xfrm>
            <a:custGeom>
              <a:avLst/>
              <a:gdLst/>
              <a:ahLst/>
              <a:cxnLst/>
              <a:rect l="l" t="t" r="r" b="b"/>
              <a:pathLst>
                <a:path w="1280160" h="493776">
                  <a:moveTo>
                    <a:pt x="0" y="0"/>
                  </a:moveTo>
                  <a:lnTo>
                    <a:pt x="1280160" y="365760"/>
                  </a:lnTo>
                  <a:lnTo>
                    <a:pt x="1280160" y="493776"/>
                  </a:lnTo>
                  <a:lnTo>
                    <a:pt x="0" y="128016"/>
                  </a:lnTo>
                  <a:close/>
                </a:path>
              </a:pathLst>
            </a:custGeom>
            <a:solidFill>
              <a:srgbClr val="6C7480"/>
            </a:solidFill>
            <a:ln w="19050">
              <a:solidFill>
                <a:srgbClr val="9AA0A6"/>
              </a:solidFill>
            </a:ln>
          </p:spPr>
          <p:txBody>
            <a:bodyPr rtlCol="0" anchor="ctr"/>
            <a:lstStyle/>
            <a:p>
              <a:pPr algn="ctr"/>
              <a:endParaRPr/>
            </a:p>
          </p:txBody>
        </p:sp>
        <p:sp>
          <p:nvSpPr>
            <p:cNvPr id="16" name="tender"/>
            <p:cNvSpPr/>
            <p:nvPr/>
          </p:nvSpPr>
          <p:spPr>
            <a:xfrm>
              <a:off x="8412480" y="2560320"/>
              <a:ext cx="2011680" cy="411480"/>
            </a:xfrm>
            <a:prstGeom prst="roundRect">
              <a:avLst>
                <a:gd name="adj" fmla="val 8888"/>
              </a:avLst>
            </a:prstGeom>
            <a:solidFill>
              <a:srgbClr val="9AA0A6"/>
            </a:solidFill>
            <a:ln>
              <a:noFill/>
            </a:ln>
          </p:spPr>
          <p:txBody>
            <a:bodyPr rtlCol="0" anchor="ctr"/>
            <a:lstStyle/>
            <a:p>
              <a:pPr algn="ctr"/>
              <a:endParaRPr/>
            </a:p>
          </p:txBody>
        </p:sp>
        <p:sp>
          <p:nvSpPr>
            <p:cNvPr id="17" name="coal in tender"/>
            <p:cNvSpPr/>
            <p:nvPr/>
          </p:nvSpPr>
          <p:spPr>
            <a:xfrm>
              <a:off x="8503920" y="2514600"/>
              <a:ext cx="1828800" cy="73152"/>
            </a:xfrm>
            <a:prstGeom prst="rect">
              <a:avLst/>
            </a:prstGeom>
            <a:solidFill>
              <a:srgbClr val="1B1D21"/>
            </a:solidFill>
            <a:ln w="12700">
              <a:solidFill>
                <a:srgbClr val="6B7078"/>
              </a:solidFill>
            </a:ln>
          </p:spPr>
          <p:txBody>
            <a:bodyPr rtlCol="0" anchor="ctr"/>
            <a:lstStyle/>
            <a:p>
              <a:pPr algn="ctr"/>
              <a:endParaRPr/>
            </a:p>
          </p:txBody>
        </p:sp>
        <p:sp>
          <p:nvSpPr>
            <p:cNvPr id="18" name="wheel"/>
            <p:cNvSpPr/>
            <p:nvPr/>
          </p:nvSpPr>
          <p:spPr>
            <a:xfrm>
              <a:off x="8631936" y="2834640"/>
              <a:ext cx="292608" cy="292608"/>
            </a:xfrm>
            <a:prstGeom prst="ellipse">
              <a:avLst/>
            </a:prstGeom>
            <a:solidFill>
              <a:srgbClr val="1B1D21"/>
            </a:solidFill>
            <a:ln w="19050">
              <a:solidFill>
                <a:srgbClr val="9AA0A6"/>
              </a:solidFill>
            </a:ln>
          </p:spPr>
          <p:txBody>
            <a:bodyPr rtlCol="0" anchor="ctr"/>
            <a:lstStyle/>
            <a:p>
              <a:pPr algn="ctr"/>
              <a:endParaRPr/>
            </a:p>
          </p:txBody>
        </p:sp>
        <p:sp>
          <p:nvSpPr>
            <p:cNvPr id="19" name="wheel"/>
            <p:cNvSpPr/>
            <p:nvPr/>
          </p:nvSpPr>
          <p:spPr>
            <a:xfrm>
              <a:off x="9912096" y="2834640"/>
              <a:ext cx="292608" cy="292608"/>
            </a:xfrm>
            <a:prstGeom prst="ellipse">
              <a:avLst/>
            </a:prstGeom>
            <a:solidFill>
              <a:srgbClr val="1B1D21"/>
            </a:solidFill>
            <a:ln w="19050">
              <a:solidFill>
                <a:srgbClr val="9AA0A6"/>
              </a:solidFill>
            </a:ln>
          </p:spPr>
          <p:txBody>
            <a:bodyPr rtlCol="0" anchor="ctr"/>
            <a:lstStyle/>
            <a:p>
              <a:pPr algn="ctr"/>
              <a:endParaRPr/>
            </a:p>
          </p:txBody>
        </p:sp>
        <p:cxnSp>
          <p:nvCxnSpPr>
            <p:cNvPr id="20" name="gravity arrow"/>
            <p:cNvCxnSpPr/>
            <p:nvPr/>
          </p:nvCxnSpPr>
          <p:spPr>
            <a:xfrm>
              <a:off x="8366760" y="1828800"/>
              <a:ext cx="685800" cy="201168"/>
            </a:xfrm>
            <a:prstGeom prst="line">
              <a:avLst/>
            </a:prstGeom>
            <a:ln w="28575">
              <a:solidFill>
                <a:srgbClr val="F2F2F2"/>
              </a:solidFill>
              <a:tailEnd type="triangle" w="med" len="med"/>
            </a:ln>
          </p:spPr>
        </p:cxnSp>
        <p:sp>
          <p:nvSpPr>
            <p:cNvPr id="21" name="gravity label"/>
            <p:cNvSpPr txBox="1"/>
            <p:nvPr/>
          </p:nvSpPr>
          <p:spPr>
            <a:xfrm>
              <a:off x="7863840" y="1371600"/>
              <a:ext cx="1463040" cy="365760"/>
            </a:xfrm>
            <a:prstGeom prst="rect">
              <a:avLst/>
            </a:prstGeom>
            <a:noFill/>
          </p:spPr>
          <p:txBody>
            <a:bodyPr wrap="square" lIns="18288" tIns="9144" rIns="18288" bIns="9144" anchor="ctr">
              <a:noAutofit/>
            </a:bodyPr>
            <a:lstStyle/>
            <a:p>
              <a:pPr algn="ctr"/>
              <a:r>
                <a:rPr lang="en-GB" sz="1400" b="1" i="0">
                  <a:solidFill>
                    <a:srgbClr val="F2F2F2"/>
                  </a:solidFill>
                  <a:latin typeface="Arial"/>
                </a:rPr>
                <a:t>Gravity</a:t>
              </a:r>
            </a:p>
          </p:txBody>
        </p:sp>
        <p:sp>
          <p:nvSpPr>
            <p:cNvPr id="22" name="diagram title"/>
            <p:cNvSpPr txBox="1"/>
            <p:nvPr/>
          </p:nvSpPr>
          <p:spPr>
            <a:xfrm>
              <a:off x="5029200" y="3200400"/>
              <a:ext cx="2743200" cy="320040"/>
            </a:xfrm>
            <a:prstGeom prst="rect">
              <a:avLst/>
            </a:prstGeom>
            <a:noFill/>
          </p:spPr>
          <p:txBody>
            <a:bodyPr wrap="square" lIns="18288" tIns="9144" rIns="18288" bIns="9144" anchor="ctr">
              <a:noAutofit/>
            </a:bodyPr>
            <a:lstStyle/>
            <a:p>
              <a:pPr algn="l"/>
              <a:r>
                <a:rPr lang="en-GB" sz="1800" b="1" i="0">
                  <a:solidFill>
                    <a:srgbClr val="F28C28"/>
                  </a:solidFill>
                  <a:latin typeface="Arial"/>
                </a:rPr>
                <a:t>Coaling tower</a:t>
              </a:r>
            </a:p>
          </p:txBody>
        </p:sp>
        <p:sp>
          <p:nvSpPr>
            <p:cNvPr id="23" name="rail"/>
            <p:cNvSpPr/>
            <p:nvPr/>
          </p:nvSpPr>
          <p:spPr>
            <a:xfrm>
              <a:off x="5029200" y="5468112"/>
              <a:ext cx="3840480" cy="64008"/>
            </a:xfrm>
            <a:prstGeom prst="rect">
              <a:avLst/>
            </a:prstGeom>
            <a:solidFill>
              <a:srgbClr val="9AA0A6"/>
            </a:solidFill>
            <a:ln>
              <a:noFill/>
            </a:ln>
          </p:spPr>
          <p:txBody>
            <a:bodyPr rtlCol="0" anchor="ctr"/>
            <a:lstStyle/>
            <a:p>
              <a:pPr algn="ctr"/>
              <a:endParaRPr/>
            </a:p>
          </p:txBody>
        </p:sp>
        <p:sp>
          <p:nvSpPr>
            <p:cNvPr id="24" name="tower"/>
            <p:cNvSpPr/>
            <p:nvPr/>
          </p:nvSpPr>
          <p:spPr>
            <a:xfrm>
              <a:off x="5806440" y="3566160"/>
              <a:ext cx="914400" cy="1188720"/>
            </a:xfrm>
            <a:prstGeom prst="rect">
              <a:avLst/>
            </a:prstGeom>
            <a:solidFill>
              <a:srgbClr val="9AA0A6"/>
            </a:solidFill>
            <a:ln>
              <a:noFill/>
            </a:ln>
          </p:spPr>
          <p:txBody>
            <a:bodyPr rtlCol="0" anchor="ctr"/>
            <a:lstStyle/>
            <a:p>
              <a:pPr algn="ctr"/>
              <a:endParaRPr/>
            </a:p>
          </p:txBody>
        </p:sp>
        <p:sp>
          <p:nvSpPr>
            <p:cNvPr id="25" name="tower cap"/>
            <p:cNvSpPr/>
            <p:nvPr/>
          </p:nvSpPr>
          <p:spPr>
            <a:xfrm>
              <a:off x="5897880" y="3474720"/>
              <a:ext cx="731520" cy="109728"/>
            </a:xfrm>
            <a:prstGeom prst="rect">
              <a:avLst/>
            </a:prstGeom>
            <a:solidFill>
              <a:srgbClr val="6B7078"/>
            </a:solidFill>
            <a:ln>
              <a:noFill/>
            </a:ln>
          </p:spPr>
          <p:txBody>
            <a:bodyPr rtlCol="0" anchor="ctr"/>
            <a:lstStyle/>
            <a:p>
              <a:pPr algn="ctr"/>
              <a:endParaRPr/>
            </a:p>
          </p:txBody>
        </p:sp>
        <p:sp>
          <p:nvSpPr>
            <p:cNvPr id="26" name="tower window"/>
            <p:cNvSpPr/>
            <p:nvPr/>
          </p:nvSpPr>
          <p:spPr>
            <a:xfrm>
              <a:off x="5989320" y="3749039"/>
              <a:ext cx="228600" cy="274320"/>
            </a:xfrm>
            <a:prstGeom prst="rect">
              <a:avLst/>
            </a:prstGeom>
            <a:solidFill>
              <a:srgbClr val="1B1D21"/>
            </a:solidFill>
            <a:ln w="12700">
              <a:solidFill>
                <a:srgbClr val="6B7078"/>
              </a:solidFill>
            </a:ln>
          </p:spPr>
          <p:txBody>
            <a:bodyPr rtlCol="0" anchor="ctr"/>
            <a:lstStyle/>
            <a:p>
              <a:pPr algn="ctr"/>
              <a:endParaRPr/>
            </a:p>
          </p:txBody>
        </p:sp>
        <p:sp>
          <p:nvSpPr>
            <p:cNvPr id="27" name="hopper"/>
            <p:cNvSpPr/>
            <p:nvPr/>
          </p:nvSpPr>
          <p:spPr>
            <a:xfrm>
              <a:off x="5806440" y="4754880"/>
              <a:ext cx="914400" cy="320040"/>
            </a:xfrm>
            <a:custGeom>
              <a:avLst/>
              <a:gdLst/>
              <a:ahLst/>
              <a:cxnLst/>
              <a:rect l="l" t="t" r="r" b="b"/>
              <a:pathLst>
                <a:path w="914400" h="320040">
                  <a:moveTo>
                    <a:pt x="0" y="0"/>
                  </a:moveTo>
                  <a:lnTo>
                    <a:pt x="914400" y="0"/>
                  </a:lnTo>
                  <a:lnTo>
                    <a:pt x="594360" y="320040"/>
                  </a:lnTo>
                  <a:lnTo>
                    <a:pt x="320040" y="320040"/>
                  </a:lnTo>
                  <a:close/>
                </a:path>
              </a:pathLst>
            </a:custGeom>
            <a:solidFill>
              <a:srgbClr val="6B7078"/>
            </a:solidFill>
            <a:ln w="19050">
              <a:solidFill>
                <a:srgbClr val="9AA0A6"/>
              </a:solidFill>
            </a:ln>
          </p:spPr>
          <p:txBody>
            <a:bodyPr rtlCol="0" anchor="ctr"/>
            <a:lstStyle/>
            <a:p>
              <a:pPr algn="ctr"/>
              <a:endParaRPr/>
            </a:p>
          </p:txBody>
        </p:sp>
        <p:sp>
          <p:nvSpPr>
            <p:cNvPr id="28" name="tender"/>
            <p:cNvSpPr/>
            <p:nvPr/>
          </p:nvSpPr>
          <p:spPr>
            <a:xfrm>
              <a:off x="5257800" y="5120640"/>
              <a:ext cx="2011680" cy="347472"/>
            </a:xfrm>
            <a:prstGeom prst="roundRect">
              <a:avLst>
                <a:gd name="adj" fmla="val 10526"/>
              </a:avLst>
            </a:prstGeom>
            <a:solidFill>
              <a:srgbClr val="9AA0A6"/>
            </a:solidFill>
            <a:ln>
              <a:noFill/>
            </a:ln>
          </p:spPr>
          <p:txBody>
            <a:bodyPr rtlCol="0" anchor="ctr"/>
            <a:lstStyle/>
            <a:p>
              <a:pPr algn="ctr"/>
              <a:endParaRPr/>
            </a:p>
          </p:txBody>
        </p:sp>
        <p:sp>
          <p:nvSpPr>
            <p:cNvPr id="29" name="coal in tender"/>
            <p:cNvSpPr/>
            <p:nvPr/>
          </p:nvSpPr>
          <p:spPr>
            <a:xfrm>
              <a:off x="5349240" y="5074920"/>
              <a:ext cx="1828800" cy="64008"/>
            </a:xfrm>
            <a:prstGeom prst="rect">
              <a:avLst/>
            </a:prstGeom>
            <a:solidFill>
              <a:srgbClr val="1B1D21"/>
            </a:solidFill>
            <a:ln w="12700">
              <a:solidFill>
                <a:srgbClr val="6B7078"/>
              </a:solidFill>
            </a:ln>
          </p:spPr>
          <p:txBody>
            <a:bodyPr rtlCol="0" anchor="ctr"/>
            <a:lstStyle/>
            <a:p>
              <a:pPr algn="ctr"/>
              <a:endParaRPr/>
            </a:p>
          </p:txBody>
        </p:sp>
        <p:sp>
          <p:nvSpPr>
            <p:cNvPr id="30" name="wheel"/>
            <p:cNvSpPr/>
            <p:nvPr/>
          </p:nvSpPr>
          <p:spPr>
            <a:xfrm>
              <a:off x="5449824" y="5321808"/>
              <a:ext cx="256032" cy="256032"/>
            </a:xfrm>
            <a:prstGeom prst="ellipse">
              <a:avLst/>
            </a:prstGeom>
            <a:solidFill>
              <a:srgbClr val="1B1D21"/>
            </a:solidFill>
            <a:ln w="19050">
              <a:solidFill>
                <a:srgbClr val="9AA0A6"/>
              </a:solidFill>
            </a:ln>
          </p:spPr>
          <p:txBody>
            <a:bodyPr rtlCol="0" anchor="ctr"/>
            <a:lstStyle/>
            <a:p>
              <a:pPr algn="ctr"/>
              <a:endParaRPr/>
            </a:p>
          </p:txBody>
        </p:sp>
        <p:sp>
          <p:nvSpPr>
            <p:cNvPr id="31" name="wheel"/>
            <p:cNvSpPr/>
            <p:nvPr/>
          </p:nvSpPr>
          <p:spPr>
            <a:xfrm>
              <a:off x="6775704" y="5321808"/>
              <a:ext cx="256032" cy="256032"/>
            </a:xfrm>
            <a:prstGeom prst="ellipse">
              <a:avLst/>
            </a:prstGeom>
            <a:solidFill>
              <a:srgbClr val="1B1D21"/>
            </a:solidFill>
            <a:ln w="19050">
              <a:solidFill>
                <a:srgbClr val="9AA0A6"/>
              </a:solidFill>
            </a:ln>
          </p:spPr>
          <p:txBody>
            <a:bodyPr rtlCol="0" anchor="ctr"/>
            <a:lstStyle/>
            <a:p>
              <a:pPr algn="ctr"/>
              <a:endParaRPr/>
            </a:p>
          </p:txBody>
        </p:sp>
      </p:grpSp>
      <p:pic>
        <p:nvPicPr>
          <p:cNvPr id="32" name="P09_coaling_tower_carnforth" descr="A tall coaling tower and a water tower at Carnforth."/>
          <p:cNvPicPr>
            <a:picLocks noChangeAspect="1"/>
          </p:cNvPicPr>
          <p:nvPr/>
        </p:nvPicPr>
        <p:blipFill>
          <a:blip r:embed="rId3"/>
          <a:srcRect t="143" b="143"/>
          <a:stretch>
            <a:fillRect/>
          </a:stretch>
        </p:blipFill>
        <p:spPr>
          <a:xfrm>
            <a:off x="9418320" y="4343400"/>
            <a:ext cx="2221992" cy="841248"/>
          </a:xfrm>
          <a:prstGeom prst="roundRect">
            <a:avLst>
              <a:gd name="adj" fmla="val 8695"/>
            </a:avLst>
          </a:prstGeom>
        </p:spPr>
      </p:pic>
      <p:sp>
        <p:nvSpPr>
          <p:cNvPr id="33" name="CREDIT"/>
          <p:cNvSpPr txBox="1"/>
          <p:nvPr/>
        </p:nvSpPr>
        <p:spPr>
          <a:xfrm>
            <a:off x="9418320" y="5212080"/>
            <a:ext cx="2221992" cy="219456"/>
          </a:xfrm>
          <a:prstGeom prst="rect">
            <a:avLst/>
          </a:prstGeom>
          <a:noFill/>
        </p:spPr>
        <p:txBody>
          <a:bodyPr wrap="square" lIns="0" tIns="0" rIns="0" bIns="0" anchor="t">
            <a:noAutofit/>
          </a:bodyPr>
          <a:lstStyle/>
          <a:p>
            <a:pPr algn="l"/>
            <a:r>
              <a:rPr lang="en-GB" sz="1000" b="0" i="0">
                <a:solidFill>
                  <a:srgbClr val="A9B0B8"/>
                </a:solidFill>
                <a:latin typeface="Arial"/>
              </a:rPr>
              <a:t>kitmasterbloke, CC BY 4.0</a:t>
            </a:r>
          </a:p>
        </p:txBody>
      </p:sp>
      <p:sp>
        <p:nvSpPr>
          <p:cNvPr id="34"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5"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6"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Coal starts higher than the tender. A ramp or tower lets gravity fill it.</a:t>
            </a:r>
          </a:p>
        </p:txBody>
      </p:sp>
      <p:sp>
        <p:nvSpPr>
          <p:cNvPr id="37"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7</a:t>
            </a:r>
          </a:p>
        </p:txBody>
      </p:sp>
    </p:spTree>
    <p:extLst>
      <p:ext uri="{BB962C8B-B14F-4D97-AF65-F5344CB8AC3E}">
        <p14:creationId xmlns:p14="http://schemas.microsoft.com/office/powerpoint/2010/main" val="2362515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9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par>
                                <p:cTn id="17" presetID="10" presetClass="entr" presetSubtype="0" fill="hold" nodeType="withEffect">
                                  <p:stCondLst>
                                    <p:cond delay="120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10" presetClass="entr" presetSubtype="0" fill="hold" nodeType="withEffect">
                                  <p:stCondLst>
                                    <p:cond delay="150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How far can an engine go?</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Gauges and range card" descr="A coal gauge and a water gauge for one engine feed a card called Range left, shown as a dial with no number."/>
          <p:cNvGrpSpPr/>
          <p:nvPr/>
        </p:nvGrpSpPr>
        <p:grpSpPr>
          <a:xfrm>
            <a:off x="1097280" y="1554480"/>
            <a:ext cx="10332720" cy="3566160"/>
            <a:chOff x="1097280" y="1554480"/>
            <a:chExt cx="10332720" cy="3566160"/>
          </a:xfrm>
        </p:grpSpPr>
        <p:sp>
          <p:nvSpPr>
            <p:cNvPr id="5" name="coal gauge"/>
            <p:cNvSpPr/>
            <p:nvPr/>
          </p:nvSpPr>
          <p:spPr>
            <a:xfrm>
              <a:off x="1097280" y="1554480"/>
              <a:ext cx="1371600" cy="2834640"/>
            </a:xfrm>
            <a:prstGeom prst="roundRect">
              <a:avLst>
                <a:gd name="adj" fmla="val 6666"/>
              </a:avLst>
            </a:prstGeom>
            <a:solidFill>
              <a:srgbClr val="2B2F36"/>
            </a:solidFill>
            <a:ln w="28575">
              <a:solidFill>
                <a:srgbClr val="9AA0A6"/>
              </a:solidFill>
            </a:ln>
          </p:spPr>
          <p:txBody>
            <a:bodyPr rtlCol="0" anchor="ctr"/>
            <a:lstStyle/>
            <a:p>
              <a:pPr algn="ctr"/>
              <a:endParaRPr/>
            </a:p>
          </p:txBody>
        </p:sp>
        <p:sp>
          <p:nvSpPr>
            <p:cNvPr id="6" name="coal gauge fill"/>
            <p:cNvSpPr/>
            <p:nvPr/>
          </p:nvSpPr>
          <p:spPr>
            <a:xfrm>
              <a:off x="1152144" y="2699308"/>
              <a:ext cx="1261872" cy="1634947"/>
            </a:xfrm>
            <a:prstGeom prst="rect">
              <a:avLst/>
            </a:prstGeom>
            <a:solidFill>
              <a:srgbClr val="1B1D21"/>
            </a:solidFill>
            <a:ln w="15875">
              <a:solidFill>
                <a:srgbClr val="8A9099"/>
              </a:solidFill>
            </a:ln>
          </p:spPr>
          <p:txBody>
            <a:bodyPr rtlCol="0" anchor="ctr"/>
            <a:lstStyle/>
            <a:p>
              <a:pPr algn="ctr"/>
              <a:endParaRPr/>
            </a:p>
          </p:txBody>
        </p:sp>
        <p:sp>
          <p:nvSpPr>
            <p:cNvPr id="7" name="water gauge"/>
            <p:cNvSpPr/>
            <p:nvPr/>
          </p:nvSpPr>
          <p:spPr>
            <a:xfrm>
              <a:off x="3108960" y="1554480"/>
              <a:ext cx="1371600" cy="2834640"/>
            </a:xfrm>
            <a:prstGeom prst="roundRect">
              <a:avLst>
                <a:gd name="adj" fmla="val 6666"/>
              </a:avLst>
            </a:prstGeom>
            <a:solidFill>
              <a:srgbClr val="2B2F36"/>
            </a:solidFill>
            <a:ln w="28575">
              <a:solidFill>
                <a:srgbClr val="9AA0A6"/>
              </a:solidFill>
            </a:ln>
          </p:spPr>
          <p:txBody>
            <a:bodyPr rtlCol="0" anchor="ctr"/>
            <a:lstStyle/>
            <a:p>
              <a:pPr algn="ctr"/>
              <a:endParaRPr/>
            </a:p>
          </p:txBody>
        </p:sp>
        <p:sp>
          <p:nvSpPr>
            <p:cNvPr id="8" name="water gauge fill"/>
            <p:cNvSpPr/>
            <p:nvPr/>
          </p:nvSpPr>
          <p:spPr>
            <a:xfrm>
              <a:off x="3163824" y="3244291"/>
              <a:ext cx="1261872" cy="1089964"/>
            </a:xfrm>
            <a:prstGeom prst="rect">
              <a:avLst/>
            </a:prstGeom>
            <a:solidFill>
              <a:srgbClr val="4DA3FF"/>
            </a:solidFill>
            <a:ln>
              <a:noFill/>
            </a:ln>
          </p:spPr>
          <p:txBody>
            <a:bodyPr rtlCol="0" anchor="ctr"/>
            <a:lstStyle/>
            <a:p>
              <a:pPr algn="ctr"/>
              <a:endParaRPr/>
            </a:p>
          </p:txBody>
        </p:sp>
        <p:sp>
          <p:nvSpPr>
            <p:cNvPr id="9" name="gauge label"/>
            <p:cNvSpPr txBox="1"/>
            <p:nvPr/>
          </p:nvSpPr>
          <p:spPr>
            <a:xfrm>
              <a:off x="1097280" y="4462272"/>
              <a:ext cx="137160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Coal</a:t>
              </a:r>
            </a:p>
          </p:txBody>
        </p:sp>
        <p:sp>
          <p:nvSpPr>
            <p:cNvPr id="10" name="gauge label"/>
            <p:cNvSpPr txBox="1"/>
            <p:nvPr/>
          </p:nvSpPr>
          <p:spPr>
            <a:xfrm>
              <a:off x="3108960" y="4462272"/>
              <a:ext cx="137160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Water</a:t>
              </a:r>
            </a:p>
          </p:txBody>
        </p:sp>
        <p:cxnSp>
          <p:nvCxnSpPr>
            <p:cNvPr id="11" name="flow arrow"/>
            <p:cNvCxnSpPr/>
            <p:nvPr/>
          </p:nvCxnSpPr>
          <p:spPr>
            <a:xfrm>
              <a:off x="4800600" y="2971800"/>
              <a:ext cx="1188720" cy="0"/>
            </a:xfrm>
            <a:prstGeom prst="line">
              <a:avLst/>
            </a:prstGeom>
            <a:ln w="57150">
              <a:solidFill>
                <a:srgbClr val="F28C28"/>
              </a:solidFill>
              <a:tailEnd type="triangle" w="med" len="med"/>
            </a:ln>
          </p:spPr>
        </p:cxnSp>
        <p:sp>
          <p:nvSpPr>
            <p:cNvPr id="12" name="card"/>
            <p:cNvSpPr/>
            <p:nvPr/>
          </p:nvSpPr>
          <p:spPr>
            <a:xfrm>
              <a:off x="6217920" y="1554480"/>
              <a:ext cx="5212080" cy="3566160"/>
            </a:xfrm>
            <a:prstGeom prst="roundRect">
              <a:avLst>
                <a:gd name="adj" fmla="val 2564"/>
              </a:avLst>
            </a:prstGeom>
            <a:solidFill>
              <a:srgbClr val="2B2F36"/>
            </a:solidFill>
            <a:ln w="25400">
              <a:solidFill>
                <a:srgbClr val="F28C28"/>
              </a:solidFill>
            </a:ln>
          </p:spPr>
          <p:txBody>
            <a:bodyPr rtlCol="0" anchor="ctr"/>
            <a:lstStyle/>
            <a:p>
              <a:pPr algn="ctr"/>
              <a:endParaRPr/>
            </a:p>
          </p:txBody>
        </p:sp>
        <p:sp>
          <p:nvSpPr>
            <p:cNvPr id="13" name="card title"/>
            <p:cNvSpPr txBox="1"/>
            <p:nvPr/>
          </p:nvSpPr>
          <p:spPr>
            <a:xfrm>
              <a:off x="6492240" y="1691640"/>
              <a:ext cx="4663440" cy="502920"/>
            </a:xfrm>
            <a:prstGeom prst="rect">
              <a:avLst/>
            </a:prstGeom>
            <a:noFill/>
          </p:spPr>
          <p:txBody>
            <a:bodyPr wrap="square" lIns="18288" tIns="9144" rIns="18288" bIns="9144" anchor="ctr">
              <a:noAutofit/>
            </a:bodyPr>
            <a:lstStyle/>
            <a:p>
              <a:pPr algn="l"/>
              <a:r>
                <a:rPr lang="en-GB" sz="2400" b="1" i="0">
                  <a:solidFill>
                    <a:srgbClr val="F2F2F2"/>
                  </a:solidFill>
                  <a:latin typeface="Arial"/>
                </a:rPr>
                <a:t>Range left</a:t>
              </a:r>
            </a:p>
          </p:txBody>
        </p:sp>
        <p:sp>
          <p:nvSpPr>
            <p:cNvPr id="14" name="dial ring"/>
            <p:cNvSpPr/>
            <p:nvPr/>
          </p:nvSpPr>
          <p:spPr>
            <a:xfrm>
              <a:off x="7406640" y="2377440"/>
              <a:ext cx="2834640" cy="1417320"/>
            </a:xfrm>
            <a:custGeom>
              <a:avLst/>
              <a:gdLst/>
              <a:ahLst/>
              <a:cxnLst/>
              <a:rect l="l" t="t" r="r" b="b"/>
              <a:pathLst>
                <a:path w="2834640" h="1417320">
                  <a:moveTo>
                    <a:pt x="2834640" y="1417320"/>
                  </a:moveTo>
                  <a:lnTo>
                    <a:pt x="2822514" y="1232322"/>
                  </a:lnTo>
                  <a:lnTo>
                    <a:pt x="2786345" y="1050490"/>
                  </a:lnTo>
                  <a:lnTo>
                    <a:pt x="2726752" y="874935"/>
                  </a:lnTo>
                  <a:lnTo>
                    <a:pt x="2644755" y="708660"/>
                  </a:lnTo>
                  <a:lnTo>
                    <a:pt x="2541755" y="554510"/>
                  </a:lnTo>
                  <a:lnTo>
                    <a:pt x="2419516" y="415123"/>
                  </a:lnTo>
                  <a:lnTo>
                    <a:pt x="2280129" y="292884"/>
                  </a:lnTo>
                  <a:lnTo>
                    <a:pt x="2125980" y="189884"/>
                  </a:lnTo>
                  <a:lnTo>
                    <a:pt x="1959704" y="107887"/>
                  </a:lnTo>
                  <a:lnTo>
                    <a:pt x="1784149" y="48294"/>
                  </a:lnTo>
                  <a:lnTo>
                    <a:pt x="1602317" y="12125"/>
                  </a:lnTo>
                  <a:lnTo>
                    <a:pt x="1417320" y="0"/>
                  </a:lnTo>
                  <a:lnTo>
                    <a:pt x="1232322" y="12125"/>
                  </a:lnTo>
                  <a:lnTo>
                    <a:pt x="1050490" y="48294"/>
                  </a:lnTo>
                  <a:lnTo>
                    <a:pt x="874935" y="107887"/>
                  </a:lnTo>
                  <a:lnTo>
                    <a:pt x="708660" y="189884"/>
                  </a:lnTo>
                  <a:lnTo>
                    <a:pt x="554510" y="292884"/>
                  </a:lnTo>
                  <a:lnTo>
                    <a:pt x="415123" y="415123"/>
                  </a:lnTo>
                  <a:lnTo>
                    <a:pt x="292884" y="554510"/>
                  </a:lnTo>
                  <a:lnTo>
                    <a:pt x="189884" y="708660"/>
                  </a:lnTo>
                  <a:lnTo>
                    <a:pt x="107887" y="874935"/>
                  </a:lnTo>
                  <a:lnTo>
                    <a:pt x="48294" y="1050490"/>
                  </a:lnTo>
                  <a:lnTo>
                    <a:pt x="12125" y="1232322"/>
                  </a:lnTo>
                  <a:lnTo>
                    <a:pt x="0" y="1417320"/>
                  </a:lnTo>
                  <a:lnTo>
                    <a:pt x="320040" y="1417320"/>
                  </a:lnTo>
                  <a:lnTo>
                    <a:pt x="329427" y="1274096"/>
                  </a:lnTo>
                  <a:lnTo>
                    <a:pt x="357428" y="1133323"/>
                  </a:lnTo>
                  <a:lnTo>
                    <a:pt x="403565" y="997409"/>
                  </a:lnTo>
                  <a:lnTo>
                    <a:pt x="467047" y="868680"/>
                  </a:lnTo>
                  <a:lnTo>
                    <a:pt x="546789" y="749338"/>
                  </a:lnTo>
                  <a:lnTo>
                    <a:pt x="641425" y="641425"/>
                  </a:lnTo>
                  <a:lnTo>
                    <a:pt x="749338" y="546789"/>
                  </a:lnTo>
                  <a:lnTo>
                    <a:pt x="868680" y="467047"/>
                  </a:lnTo>
                  <a:lnTo>
                    <a:pt x="997409" y="403565"/>
                  </a:lnTo>
                  <a:lnTo>
                    <a:pt x="1133323" y="357428"/>
                  </a:lnTo>
                  <a:lnTo>
                    <a:pt x="1274096" y="329427"/>
                  </a:lnTo>
                  <a:lnTo>
                    <a:pt x="1417320" y="320040"/>
                  </a:lnTo>
                  <a:lnTo>
                    <a:pt x="1560543" y="329427"/>
                  </a:lnTo>
                  <a:lnTo>
                    <a:pt x="1701316" y="357428"/>
                  </a:lnTo>
                  <a:lnTo>
                    <a:pt x="1837230" y="403565"/>
                  </a:lnTo>
                  <a:lnTo>
                    <a:pt x="1965960" y="467047"/>
                  </a:lnTo>
                  <a:lnTo>
                    <a:pt x="2085301" y="546789"/>
                  </a:lnTo>
                  <a:lnTo>
                    <a:pt x="2193214" y="641425"/>
                  </a:lnTo>
                  <a:lnTo>
                    <a:pt x="2287850" y="749338"/>
                  </a:lnTo>
                  <a:lnTo>
                    <a:pt x="2367592" y="868680"/>
                  </a:lnTo>
                  <a:lnTo>
                    <a:pt x="2431074" y="997409"/>
                  </a:lnTo>
                  <a:lnTo>
                    <a:pt x="2477211" y="1133323"/>
                  </a:lnTo>
                  <a:lnTo>
                    <a:pt x="2505212" y="1274096"/>
                  </a:lnTo>
                  <a:lnTo>
                    <a:pt x="2514600" y="1417320"/>
                  </a:lnTo>
                  <a:close/>
                </a:path>
              </a:pathLst>
            </a:custGeom>
            <a:solidFill>
              <a:srgbClr val="9AA0A6"/>
            </a:solidFill>
            <a:ln>
              <a:noFill/>
            </a:ln>
          </p:spPr>
          <p:txBody>
            <a:bodyPr rtlCol="0" anchor="ctr"/>
            <a:lstStyle/>
            <a:p>
              <a:pPr algn="ctr"/>
              <a:endParaRPr/>
            </a:p>
          </p:txBody>
        </p:sp>
        <p:cxnSp>
          <p:nvCxnSpPr>
            <p:cNvPr id="15" name="tick"/>
            <p:cNvCxnSpPr/>
            <p:nvPr/>
          </p:nvCxnSpPr>
          <p:spPr>
            <a:xfrm flipH="1">
              <a:off x="7744968" y="3794760"/>
              <a:ext cx="146304" cy="0"/>
            </a:xfrm>
            <a:prstGeom prst="line">
              <a:avLst/>
            </a:prstGeom>
            <a:ln w="31750">
              <a:solidFill>
                <a:srgbClr val="F2F2F2"/>
              </a:solidFill>
            </a:ln>
          </p:spPr>
        </p:cxnSp>
        <p:cxnSp>
          <p:nvCxnSpPr>
            <p:cNvPr id="16" name="tick"/>
            <p:cNvCxnSpPr/>
            <p:nvPr/>
          </p:nvCxnSpPr>
          <p:spPr>
            <a:xfrm flipH="1" flipV="1">
              <a:off x="8060997" y="3031797"/>
              <a:ext cx="103452" cy="103452"/>
            </a:xfrm>
            <a:prstGeom prst="line">
              <a:avLst/>
            </a:prstGeom>
            <a:ln w="31750">
              <a:solidFill>
                <a:srgbClr val="F2F2F2"/>
              </a:solidFill>
            </a:ln>
          </p:spPr>
        </p:cxnSp>
        <p:cxnSp>
          <p:nvCxnSpPr>
            <p:cNvPr id="17" name="tick"/>
            <p:cNvCxnSpPr/>
            <p:nvPr/>
          </p:nvCxnSpPr>
          <p:spPr>
            <a:xfrm flipV="1">
              <a:off x="8823960" y="2715768"/>
              <a:ext cx="0" cy="146304"/>
            </a:xfrm>
            <a:prstGeom prst="line">
              <a:avLst/>
            </a:prstGeom>
            <a:ln w="31750">
              <a:solidFill>
                <a:srgbClr val="F2F2F2"/>
              </a:solidFill>
            </a:ln>
          </p:spPr>
        </p:cxnSp>
        <p:cxnSp>
          <p:nvCxnSpPr>
            <p:cNvPr id="18" name="tick"/>
            <p:cNvCxnSpPr/>
            <p:nvPr/>
          </p:nvCxnSpPr>
          <p:spPr>
            <a:xfrm flipV="1">
              <a:off x="9483470" y="3031797"/>
              <a:ext cx="103452" cy="103452"/>
            </a:xfrm>
            <a:prstGeom prst="line">
              <a:avLst/>
            </a:prstGeom>
            <a:ln w="31750">
              <a:solidFill>
                <a:srgbClr val="F2F2F2"/>
              </a:solidFill>
            </a:ln>
          </p:spPr>
        </p:cxnSp>
        <p:cxnSp>
          <p:nvCxnSpPr>
            <p:cNvPr id="19" name="tick"/>
            <p:cNvCxnSpPr/>
            <p:nvPr/>
          </p:nvCxnSpPr>
          <p:spPr>
            <a:xfrm>
              <a:off x="9756648" y="3794760"/>
              <a:ext cx="146304" cy="0"/>
            </a:xfrm>
            <a:prstGeom prst="line">
              <a:avLst/>
            </a:prstGeom>
            <a:ln w="31750">
              <a:solidFill>
                <a:srgbClr val="F2F2F2"/>
              </a:solidFill>
            </a:ln>
          </p:spPr>
        </p:cxnSp>
        <p:cxnSp>
          <p:nvCxnSpPr>
            <p:cNvPr id="20" name="needle"/>
            <p:cNvCxnSpPr/>
            <p:nvPr/>
          </p:nvCxnSpPr>
          <p:spPr>
            <a:xfrm flipV="1">
              <a:off x="8823960" y="3002866"/>
              <a:ext cx="457200" cy="791894"/>
            </a:xfrm>
            <a:prstGeom prst="line">
              <a:avLst/>
            </a:prstGeom>
            <a:ln w="63500">
              <a:solidFill>
                <a:srgbClr val="F28C28"/>
              </a:solidFill>
            </a:ln>
          </p:spPr>
        </p:cxnSp>
        <p:sp>
          <p:nvSpPr>
            <p:cNvPr id="21" name="hub"/>
            <p:cNvSpPr/>
            <p:nvPr/>
          </p:nvSpPr>
          <p:spPr>
            <a:xfrm>
              <a:off x="8695944" y="3666744"/>
              <a:ext cx="256032" cy="256032"/>
            </a:xfrm>
            <a:prstGeom prst="ellipse">
              <a:avLst/>
            </a:prstGeom>
            <a:solidFill>
              <a:srgbClr val="F28C28"/>
            </a:solidFill>
            <a:ln>
              <a:noFill/>
            </a:ln>
          </p:spPr>
          <p:txBody>
            <a:bodyPr rtlCol="0" anchor="ctr"/>
            <a:lstStyle/>
            <a:p>
              <a:pPr algn="ctr"/>
              <a:endParaRPr/>
            </a:p>
          </p:txBody>
        </p:sp>
        <p:sp>
          <p:nvSpPr>
            <p:cNvPr id="22" name="ICHIP"/>
            <p:cNvSpPr/>
            <p:nvPr/>
          </p:nvSpPr>
          <p:spPr>
            <a:xfrm>
              <a:off x="6720840" y="4434840"/>
              <a:ext cx="420624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Range estimate: Agreed direction</a:t>
              </a:r>
            </a:p>
          </p:txBody>
        </p:sp>
      </p:grpSp>
      <p:sp>
        <p:nvSpPr>
          <p:cNvPr id="2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5"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Range comes from real tank sizes and real use, not a distance countdown.</a:t>
            </a:r>
          </a:p>
        </p:txBody>
      </p:sp>
      <p:sp>
        <p:nvSpPr>
          <p:cNvPr id="2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8</a:t>
            </a:r>
          </a:p>
        </p:txBody>
      </p:sp>
    </p:spTree>
    <p:extLst>
      <p:ext uri="{BB962C8B-B14F-4D97-AF65-F5344CB8AC3E}">
        <p14:creationId xmlns:p14="http://schemas.microsoft.com/office/powerpoint/2010/main" val="7378368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nodeType="withEffect">
                                  <p:stCondLst>
                                    <p:cond delay="60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90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What makes an engine burn more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Hill profile and fuel use" descr="A hill with an engine climbing, running flat and rolling downhill. Under each, a bar shows fuel use: high while climbing, medium when steady, low when coasting."/>
          <p:cNvGrpSpPr/>
          <p:nvPr/>
        </p:nvGrpSpPr>
        <p:grpSpPr>
          <a:xfrm>
            <a:off x="640080" y="1484376"/>
            <a:ext cx="10881360" cy="3910584"/>
            <a:chOff x="640080" y="1484376"/>
            <a:chExt cx="10881360" cy="3910584"/>
          </a:xfrm>
        </p:grpSpPr>
        <p:sp>
          <p:nvSpPr>
            <p:cNvPr id="5" name="hill ground"/>
            <p:cNvSpPr/>
            <p:nvPr/>
          </p:nvSpPr>
          <p:spPr>
            <a:xfrm>
              <a:off x="640080" y="2148840"/>
              <a:ext cx="10881360" cy="1691640"/>
            </a:xfrm>
            <a:custGeom>
              <a:avLst/>
              <a:gdLst/>
              <a:ahLst/>
              <a:cxnLst/>
              <a:rect l="l" t="t" r="r" b="b"/>
              <a:pathLst>
                <a:path w="10881360" h="1691640">
                  <a:moveTo>
                    <a:pt x="0" y="1280160"/>
                  </a:moveTo>
                  <a:lnTo>
                    <a:pt x="1188720" y="1280160"/>
                  </a:lnTo>
                  <a:lnTo>
                    <a:pt x="3931920" y="0"/>
                  </a:lnTo>
                  <a:lnTo>
                    <a:pt x="6857999" y="0"/>
                  </a:lnTo>
                  <a:lnTo>
                    <a:pt x="9601200" y="1280160"/>
                  </a:lnTo>
                  <a:lnTo>
                    <a:pt x="10881360" y="1280160"/>
                  </a:lnTo>
                  <a:lnTo>
                    <a:pt x="10881360" y="1691640"/>
                  </a:lnTo>
                  <a:lnTo>
                    <a:pt x="0" y="1691640"/>
                  </a:lnTo>
                  <a:close/>
                </a:path>
              </a:pathLst>
            </a:custGeom>
            <a:solidFill>
              <a:srgbClr val="2B2F36"/>
            </a:solidFill>
            <a:ln>
              <a:noFill/>
            </a:ln>
          </p:spPr>
          <p:txBody>
            <a:bodyPr rtlCol="0" anchor="ctr"/>
            <a:lstStyle/>
            <a:p>
              <a:pPr algn="ctr"/>
              <a:endParaRPr/>
            </a:p>
          </p:txBody>
        </p:sp>
        <p:sp>
          <p:nvSpPr>
            <p:cNvPr id="6" name="hill line"/>
            <p:cNvSpPr/>
            <p:nvPr/>
          </p:nvSpPr>
          <p:spPr>
            <a:xfrm>
              <a:off x="640080" y="2148840"/>
              <a:ext cx="10881360" cy="1280160"/>
            </a:xfrm>
            <a:custGeom>
              <a:avLst/>
              <a:gdLst/>
              <a:ahLst/>
              <a:cxnLst/>
              <a:rect l="l" t="t" r="r" b="b"/>
              <a:pathLst>
                <a:path w="10881360" h="1280160">
                  <a:moveTo>
                    <a:pt x="0" y="1280160"/>
                  </a:moveTo>
                  <a:lnTo>
                    <a:pt x="1188720" y="1280160"/>
                  </a:lnTo>
                  <a:lnTo>
                    <a:pt x="3931920" y="0"/>
                  </a:lnTo>
                  <a:lnTo>
                    <a:pt x="6857999" y="0"/>
                  </a:lnTo>
                  <a:lnTo>
                    <a:pt x="9601200" y="1280160"/>
                  </a:lnTo>
                  <a:lnTo>
                    <a:pt x="10881360" y="1280160"/>
                  </a:lnTo>
                </a:path>
              </a:pathLst>
            </a:custGeom>
            <a:noFill/>
            <a:ln w="38100">
              <a:solidFill>
                <a:srgbClr val="9AA0A6"/>
              </a:solidFill>
            </a:ln>
          </p:spPr>
          <p:txBody>
            <a:bodyPr rtlCol="0" anchor="ctr"/>
            <a:lstStyle/>
            <a:p>
              <a:pPr algn="ctr"/>
              <a:endParaRPr/>
            </a:p>
          </p:txBody>
        </p:sp>
        <p:grpSp>
          <p:nvGrpSpPr>
            <p:cNvPr id="7" name="engine icon" descr="Small drawing of a steam engine with its tender."/>
            <p:cNvGrpSpPr/>
            <p:nvPr/>
          </p:nvGrpSpPr>
          <p:grpSpPr>
            <a:xfrm rot="20098986">
              <a:off x="2185423" y="2156911"/>
              <a:ext cx="1737360" cy="637032"/>
              <a:chOff x="2185423" y="2156911"/>
              <a:chExt cx="1737360" cy="637032"/>
            </a:xfrm>
          </p:grpSpPr>
          <p:sp>
            <p:nvSpPr>
              <p:cNvPr id="8" name="tender body"/>
              <p:cNvSpPr/>
              <p:nvPr/>
            </p:nvSpPr>
            <p:spPr>
              <a:xfrm>
                <a:off x="2185423" y="2345125"/>
                <a:ext cx="550163" cy="275081"/>
              </a:xfrm>
              <a:prstGeom prst="roundRect">
                <a:avLst>
                  <a:gd name="adj" fmla="val 2631"/>
                </a:avLst>
              </a:prstGeom>
              <a:solidFill>
                <a:srgbClr val="6C7480"/>
              </a:solidFill>
              <a:ln>
                <a:noFill/>
              </a:ln>
            </p:spPr>
            <p:txBody>
              <a:bodyPr rtlCol="0" anchor="ctr"/>
              <a:lstStyle/>
              <a:p>
                <a:pPr algn="ctr"/>
                <a:endParaRPr/>
              </a:p>
            </p:txBody>
          </p:sp>
          <p:sp>
            <p:nvSpPr>
              <p:cNvPr id="9" name="tender coal"/>
              <p:cNvSpPr/>
              <p:nvPr/>
            </p:nvSpPr>
            <p:spPr>
              <a:xfrm>
                <a:off x="2228857" y="2294452"/>
                <a:ext cx="463296" cy="65150"/>
              </a:xfrm>
              <a:prstGeom prst="rect">
                <a:avLst/>
              </a:prstGeom>
              <a:solidFill>
                <a:srgbClr val="1B1D21"/>
              </a:solidFill>
              <a:ln w="12700">
                <a:solidFill>
                  <a:srgbClr val="9AA0A6"/>
                </a:solidFill>
              </a:ln>
            </p:spPr>
            <p:txBody>
              <a:bodyPr rtlCol="0" anchor="ctr"/>
              <a:lstStyle/>
              <a:p>
                <a:pPr algn="ctr"/>
                <a:endParaRPr/>
              </a:p>
            </p:txBody>
          </p:sp>
          <p:sp>
            <p:nvSpPr>
              <p:cNvPr id="10" name="tender frame"/>
              <p:cNvSpPr/>
              <p:nvPr/>
            </p:nvSpPr>
            <p:spPr>
              <a:xfrm>
                <a:off x="2185423" y="2620207"/>
                <a:ext cx="550163" cy="43433"/>
              </a:xfrm>
              <a:prstGeom prst="rect">
                <a:avLst/>
              </a:prstGeom>
              <a:solidFill>
                <a:srgbClr val="3A3F47"/>
              </a:solidFill>
              <a:ln w="9525">
                <a:solidFill>
                  <a:srgbClr val="9AA0A6"/>
                </a:solidFill>
              </a:ln>
            </p:spPr>
            <p:txBody>
              <a:bodyPr rtlCol="0" anchor="ctr"/>
              <a:lstStyle/>
              <a:p>
                <a:pPr algn="ctr"/>
                <a:endParaRPr/>
              </a:p>
            </p:txBody>
          </p:sp>
          <p:sp>
            <p:nvSpPr>
              <p:cNvPr id="11" name="coupling"/>
              <p:cNvSpPr/>
              <p:nvPr/>
            </p:nvSpPr>
            <p:spPr>
              <a:xfrm>
                <a:off x="2735587" y="2533339"/>
                <a:ext cx="57912" cy="28956"/>
              </a:xfrm>
              <a:prstGeom prst="rect">
                <a:avLst/>
              </a:prstGeom>
              <a:solidFill>
                <a:srgbClr val="9AA0A6"/>
              </a:solidFill>
              <a:ln>
                <a:noFill/>
              </a:ln>
            </p:spPr>
            <p:txBody>
              <a:bodyPr rtlCol="0" anchor="ctr"/>
              <a:lstStyle/>
              <a:p>
                <a:pPr algn="ctr"/>
                <a:endParaRPr/>
              </a:p>
            </p:txBody>
          </p:sp>
          <p:sp>
            <p:nvSpPr>
              <p:cNvPr id="12" name="wheel"/>
              <p:cNvSpPr/>
              <p:nvPr/>
            </p:nvSpPr>
            <p:spPr>
              <a:xfrm>
                <a:off x="2207140"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13" name="hub"/>
              <p:cNvSpPr/>
              <p:nvPr/>
            </p:nvSpPr>
            <p:spPr>
              <a:xfrm>
                <a:off x="2289665" y="2659298"/>
                <a:ext cx="52120" cy="52120"/>
              </a:xfrm>
              <a:prstGeom prst="ellipse">
                <a:avLst/>
              </a:prstGeom>
              <a:solidFill>
                <a:srgbClr val="9AA0A6"/>
              </a:solidFill>
              <a:ln>
                <a:noFill/>
              </a:ln>
            </p:spPr>
            <p:txBody>
              <a:bodyPr rtlCol="0" anchor="ctr"/>
              <a:lstStyle/>
              <a:p>
                <a:pPr algn="ctr"/>
                <a:endParaRPr/>
              </a:p>
            </p:txBody>
          </p:sp>
          <p:sp>
            <p:nvSpPr>
              <p:cNvPr id="14" name="wheel"/>
              <p:cNvSpPr/>
              <p:nvPr/>
            </p:nvSpPr>
            <p:spPr>
              <a:xfrm>
                <a:off x="2496700"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15" name="hub"/>
              <p:cNvSpPr/>
              <p:nvPr/>
            </p:nvSpPr>
            <p:spPr>
              <a:xfrm>
                <a:off x="2579225" y="2659298"/>
                <a:ext cx="52120" cy="52120"/>
              </a:xfrm>
              <a:prstGeom prst="ellipse">
                <a:avLst/>
              </a:prstGeom>
              <a:solidFill>
                <a:srgbClr val="9AA0A6"/>
              </a:solidFill>
              <a:ln>
                <a:noFill/>
              </a:ln>
            </p:spPr>
            <p:txBody>
              <a:bodyPr rtlCol="0" anchor="ctr"/>
              <a:lstStyle/>
              <a:p>
                <a:pPr algn="ctr"/>
                <a:endParaRPr/>
              </a:p>
            </p:txBody>
          </p:sp>
          <p:sp>
            <p:nvSpPr>
              <p:cNvPr id="16" name="cab"/>
              <p:cNvSpPr/>
              <p:nvPr/>
            </p:nvSpPr>
            <p:spPr>
              <a:xfrm>
                <a:off x="2764543" y="2214823"/>
                <a:ext cx="289560" cy="405384"/>
              </a:xfrm>
              <a:prstGeom prst="roundRect">
                <a:avLst>
                  <a:gd name="adj" fmla="val 2500"/>
                </a:avLst>
              </a:prstGeom>
              <a:solidFill>
                <a:srgbClr val="F28C28"/>
              </a:solidFill>
              <a:ln>
                <a:noFill/>
              </a:ln>
            </p:spPr>
            <p:txBody>
              <a:bodyPr rtlCol="0" anchor="ctr"/>
              <a:lstStyle/>
              <a:p>
                <a:pPr algn="ctr"/>
                <a:endParaRPr/>
              </a:p>
            </p:txBody>
          </p:sp>
          <p:sp>
            <p:nvSpPr>
              <p:cNvPr id="17" name="cab roof"/>
              <p:cNvSpPr/>
              <p:nvPr/>
            </p:nvSpPr>
            <p:spPr>
              <a:xfrm>
                <a:off x="2750065" y="2193106"/>
                <a:ext cx="318516" cy="31851"/>
              </a:xfrm>
              <a:prstGeom prst="rect">
                <a:avLst/>
              </a:prstGeom>
              <a:solidFill>
                <a:srgbClr val="3A3F47"/>
              </a:solidFill>
              <a:ln w="9525">
                <a:solidFill>
                  <a:srgbClr val="9AA0A6"/>
                </a:solidFill>
              </a:ln>
            </p:spPr>
            <p:txBody>
              <a:bodyPr rtlCol="0" anchor="ctr"/>
              <a:lstStyle/>
              <a:p>
                <a:pPr algn="ctr"/>
                <a:endParaRPr/>
              </a:p>
            </p:txBody>
          </p:sp>
          <p:sp>
            <p:nvSpPr>
              <p:cNvPr id="18" name="cab window"/>
              <p:cNvSpPr/>
              <p:nvPr/>
            </p:nvSpPr>
            <p:spPr>
              <a:xfrm>
                <a:off x="2822455" y="2294452"/>
                <a:ext cx="173735" cy="130301"/>
              </a:xfrm>
              <a:prstGeom prst="rect">
                <a:avLst/>
              </a:prstGeom>
              <a:solidFill>
                <a:srgbClr val="1B1D21"/>
              </a:solidFill>
              <a:ln>
                <a:noFill/>
              </a:ln>
            </p:spPr>
            <p:txBody>
              <a:bodyPr rtlCol="0" anchor="ctr"/>
              <a:lstStyle/>
              <a:p>
                <a:pPr algn="ctr"/>
                <a:endParaRPr/>
              </a:p>
            </p:txBody>
          </p:sp>
          <p:sp>
            <p:nvSpPr>
              <p:cNvPr id="19" name="boiler"/>
              <p:cNvSpPr/>
              <p:nvPr/>
            </p:nvSpPr>
            <p:spPr>
              <a:xfrm>
                <a:off x="3054103" y="2301691"/>
                <a:ext cx="868680" cy="318516"/>
              </a:xfrm>
              <a:prstGeom prst="roundRect">
                <a:avLst>
                  <a:gd name="adj" fmla="val 27272"/>
                </a:avLst>
              </a:prstGeom>
              <a:solidFill>
                <a:srgbClr val="F28C28"/>
              </a:solidFill>
              <a:ln>
                <a:noFill/>
              </a:ln>
            </p:spPr>
            <p:txBody>
              <a:bodyPr rtlCol="0" anchor="ctr"/>
              <a:lstStyle/>
              <a:p>
                <a:pPr algn="ctr"/>
                <a:endParaRPr/>
              </a:p>
            </p:txBody>
          </p:sp>
          <p:sp>
            <p:nvSpPr>
              <p:cNvPr id="20" name="chimney"/>
              <p:cNvSpPr/>
              <p:nvPr/>
            </p:nvSpPr>
            <p:spPr>
              <a:xfrm>
                <a:off x="3734569" y="2171389"/>
                <a:ext cx="101346" cy="137540"/>
              </a:xfrm>
              <a:prstGeom prst="rect">
                <a:avLst/>
              </a:prstGeom>
              <a:solidFill>
                <a:srgbClr val="3A3F47"/>
              </a:solidFill>
              <a:ln w="9525">
                <a:solidFill>
                  <a:srgbClr val="9AA0A6"/>
                </a:solidFill>
              </a:ln>
            </p:spPr>
            <p:txBody>
              <a:bodyPr rtlCol="0" anchor="ctr"/>
              <a:lstStyle/>
              <a:p>
                <a:pPr algn="ctr"/>
                <a:endParaRPr/>
              </a:p>
            </p:txBody>
          </p:sp>
          <p:sp>
            <p:nvSpPr>
              <p:cNvPr id="21" name="chimney lip"/>
              <p:cNvSpPr/>
              <p:nvPr/>
            </p:nvSpPr>
            <p:spPr>
              <a:xfrm>
                <a:off x="3712852" y="2156911"/>
                <a:ext cx="144780" cy="28956"/>
              </a:xfrm>
              <a:prstGeom prst="rect">
                <a:avLst/>
              </a:prstGeom>
              <a:solidFill>
                <a:srgbClr val="3A3F47"/>
              </a:solidFill>
              <a:ln w="9525">
                <a:solidFill>
                  <a:srgbClr val="9AA0A6"/>
                </a:solidFill>
              </a:ln>
            </p:spPr>
            <p:txBody>
              <a:bodyPr rtlCol="0" anchor="ctr"/>
              <a:lstStyle/>
              <a:p>
                <a:pPr algn="ctr"/>
                <a:endParaRPr/>
              </a:p>
            </p:txBody>
          </p:sp>
          <p:sp>
            <p:nvSpPr>
              <p:cNvPr id="22" name="dome"/>
              <p:cNvSpPr/>
              <p:nvPr/>
            </p:nvSpPr>
            <p:spPr>
              <a:xfrm>
                <a:off x="3300229" y="2236540"/>
                <a:ext cx="144780" cy="72390"/>
              </a:xfrm>
              <a:prstGeom prst="roundRect">
                <a:avLst>
                  <a:gd name="adj" fmla="val 40000"/>
                </a:avLst>
              </a:prstGeom>
              <a:solidFill>
                <a:srgbClr val="F28C28"/>
              </a:solidFill>
              <a:ln>
                <a:noFill/>
              </a:ln>
            </p:spPr>
            <p:txBody>
              <a:bodyPr rtlCol="0" anchor="ctr"/>
              <a:lstStyle/>
              <a:p>
                <a:pPr algn="ctr"/>
                <a:endParaRPr/>
              </a:p>
            </p:txBody>
          </p:sp>
          <p:sp>
            <p:nvSpPr>
              <p:cNvPr id="23" name="frame"/>
              <p:cNvSpPr/>
              <p:nvPr/>
            </p:nvSpPr>
            <p:spPr>
              <a:xfrm>
                <a:off x="2764543" y="2620207"/>
                <a:ext cx="1158240" cy="43433"/>
              </a:xfrm>
              <a:prstGeom prst="rect">
                <a:avLst/>
              </a:prstGeom>
              <a:solidFill>
                <a:srgbClr val="3A3F47"/>
              </a:solidFill>
              <a:ln w="9525">
                <a:solidFill>
                  <a:srgbClr val="9AA0A6"/>
                </a:solidFill>
              </a:ln>
            </p:spPr>
            <p:txBody>
              <a:bodyPr rtlCol="0" anchor="ctr"/>
              <a:lstStyle/>
              <a:p>
                <a:pPr algn="ctr"/>
                <a:endParaRPr/>
              </a:p>
            </p:txBody>
          </p:sp>
          <p:sp>
            <p:nvSpPr>
              <p:cNvPr id="24" name="wheel"/>
              <p:cNvSpPr/>
              <p:nvPr/>
            </p:nvSpPr>
            <p:spPr>
              <a:xfrm>
                <a:off x="2974474"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25" name="hub"/>
              <p:cNvSpPr/>
              <p:nvPr/>
            </p:nvSpPr>
            <p:spPr>
              <a:xfrm>
                <a:off x="3056999" y="2659298"/>
                <a:ext cx="52120" cy="52120"/>
              </a:xfrm>
              <a:prstGeom prst="ellipse">
                <a:avLst/>
              </a:prstGeom>
              <a:solidFill>
                <a:srgbClr val="9AA0A6"/>
              </a:solidFill>
              <a:ln>
                <a:noFill/>
              </a:ln>
            </p:spPr>
            <p:txBody>
              <a:bodyPr rtlCol="0" anchor="ctr"/>
              <a:lstStyle/>
              <a:p>
                <a:pPr algn="ctr"/>
                <a:endParaRPr/>
              </a:p>
            </p:txBody>
          </p:sp>
          <p:sp>
            <p:nvSpPr>
              <p:cNvPr id="26" name="wheel"/>
              <p:cNvSpPr/>
              <p:nvPr/>
            </p:nvSpPr>
            <p:spPr>
              <a:xfrm>
                <a:off x="3264034"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27" name="hub"/>
              <p:cNvSpPr/>
              <p:nvPr/>
            </p:nvSpPr>
            <p:spPr>
              <a:xfrm>
                <a:off x="3346559" y="2659298"/>
                <a:ext cx="52120" cy="52120"/>
              </a:xfrm>
              <a:prstGeom prst="ellipse">
                <a:avLst/>
              </a:prstGeom>
              <a:solidFill>
                <a:srgbClr val="9AA0A6"/>
              </a:solidFill>
              <a:ln>
                <a:noFill/>
              </a:ln>
            </p:spPr>
            <p:txBody>
              <a:bodyPr rtlCol="0" anchor="ctr"/>
              <a:lstStyle/>
              <a:p>
                <a:pPr algn="ctr"/>
                <a:endParaRPr/>
              </a:p>
            </p:txBody>
          </p:sp>
          <p:sp>
            <p:nvSpPr>
              <p:cNvPr id="28" name="wheel"/>
              <p:cNvSpPr/>
              <p:nvPr/>
            </p:nvSpPr>
            <p:spPr>
              <a:xfrm>
                <a:off x="3553594"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29" name="hub"/>
              <p:cNvSpPr/>
              <p:nvPr/>
            </p:nvSpPr>
            <p:spPr>
              <a:xfrm>
                <a:off x="3636119" y="2659298"/>
                <a:ext cx="52120" cy="52120"/>
              </a:xfrm>
              <a:prstGeom prst="ellipse">
                <a:avLst/>
              </a:prstGeom>
              <a:solidFill>
                <a:srgbClr val="9AA0A6"/>
              </a:solidFill>
              <a:ln>
                <a:noFill/>
              </a:ln>
            </p:spPr>
            <p:txBody>
              <a:bodyPr rtlCol="0" anchor="ctr"/>
              <a:lstStyle/>
              <a:p>
                <a:pPr algn="ctr"/>
                <a:endParaRPr/>
              </a:p>
            </p:txBody>
          </p:sp>
        </p:grpSp>
        <p:grpSp>
          <p:nvGrpSpPr>
            <p:cNvPr id="30" name="engine icon" descr="Small drawing of a steam engine with its tender."/>
            <p:cNvGrpSpPr/>
            <p:nvPr/>
          </p:nvGrpSpPr>
          <p:grpSpPr>
            <a:xfrm>
              <a:off x="5166359" y="1484376"/>
              <a:ext cx="1737361" cy="637032"/>
              <a:chOff x="5166359" y="1484376"/>
              <a:chExt cx="1737361" cy="637032"/>
            </a:xfrm>
          </p:grpSpPr>
          <p:sp>
            <p:nvSpPr>
              <p:cNvPr id="31" name="tender body"/>
              <p:cNvSpPr/>
              <p:nvPr/>
            </p:nvSpPr>
            <p:spPr>
              <a:xfrm>
                <a:off x="5166359" y="1672590"/>
                <a:ext cx="550163" cy="275081"/>
              </a:xfrm>
              <a:prstGeom prst="roundRect">
                <a:avLst>
                  <a:gd name="adj" fmla="val 2631"/>
                </a:avLst>
              </a:prstGeom>
              <a:solidFill>
                <a:srgbClr val="6C7480"/>
              </a:solidFill>
              <a:ln>
                <a:noFill/>
              </a:ln>
            </p:spPr>
            <p:txBody>
              <a:bodyPr rtlCol="0" anchor="ctr"/>
              <a:lstStyle/>
              <a:p>
                <a:pPr algn="ctr"/>
                <a:endParaRPr/>
              </a:p>
            </p:txBody>
          </p:sp>
          <p:sp>
            <p:nvSpPr>
              <p:cNvPr id="32" name="tender coal"/>
              <p:cNvSpPr/>
              <p:nvPr/>
            </p:nvSpPr>
            <p:spPr>
              <a:xfrm>
                <a:off x="5209794" y="1621917"/>
                <a:ext cx="463296" cy="65150"/>
              </a:xfrm>
              <a:prstGeom prst="rect">
                <a:avLst/>
              </a:prstGeom>
              <a:solidFill>
                <a:srgbClr val="1B1D21"/>
              </a:solidFill>
              <a:ln w="12700">
                <a:solidFill>
                  <a:srgbClr val="9AA0A6"/>
                </a:solidFill>
              </a:ln>
            </p:spPr>
            <p:txBody>
              <a:bodyPr rtlCol="0" anchor="ctr"/>
              <a:lstStyle/>
              <a:p>
                <a:pPr algn="ctr"/>
                <a:endParaRPr/>
              </a:p>
            </p:txBody>
          </p:sp>
          <p:sp>
            <p:nvSpPr>
              <p:cNvPr id="33" name="tender frame"/>
              <p:cNvSpPr/>
              <p:nvPr/>
            </p:nvSpPr>
            <p:spPr>
              <a:xfrm>
                <a:off x="5166359" y="1947672"/>
                <a:ext cx="550163" cy="43433"/>
              </a:xfrm>
              <a:prstGeom prst="rect">
                <a:avLst/>
              </a:prstGeom>
              <a:solidFill>
                <a:srgbClr val="3A3F47"/>
              </a:solidFill>
              <a:ln w="9525">
                <a:solidFill>
                  <a:srgbClr val="9AA0A6"/>
                </a:solidFill>
              </a:ln>
            </p:spPr>
            <p:txBody>
              <a:bodyPr rtlCol="0" anchor="ctr"/>
              <a:lstStyle/>
              <a:p>
                <a:pPr algn="ctr"/>
                <a:endParaRPr/>
              </a:p>
            </p:txBody>
          </p:sp>
          <p:sp>
            <p:nvSpPr>
              <p:cNvPr id="34" name="coupling"/>
              <p:cNvSpPr/>
              <p:nvPr/>
            </p:nvSpPr>
            <p:spPr>
              <a:xfrm>
                <a:off x="5716523" y="1860804"/>
                <a:ext cx="57912" cy="28956"/>
              </a:xfrm>
              <a:prstGeom prst="rect">
                <a:avLst/>
              </a:prstGeom>
              <a:solidFill>
                <a:srgbClr val="9AA0A6"/>
              </a:solidFill>
              <a:ln>
                <a:noFill/>
              </a:ln>
            </p:spPr>
            <p:txBody>
              <a:bodyPr rtlCol="0" anchor="ctr"/>
              <a:lstStyle/>
              <a:p>
                <a:pPr algn="ctr"/>
                <a:endParaRPr/>
              </a:p>
            </p:txBody>
          </p:sp>
          <p:sp>
            <p:nvSpPr>
              <p:cNvPr id="35" name="wheel"/>
              <p:cNvSpPr/>
              <p:nvPr/>
            </p:nvSpPr>
            <p:spPr>
              <a:xfrm>
                <a:off x="5188076" y="1904238"/>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36" name="hub"/>
              <p:cNvSpPr/>
              <p:nvPr/>
            </p:nvSpPr>
            <p:spPr>
              <a:xfrm>
                <a:off x="5270601" y="1986762"/>
                <a:ext cx="52120" cy="52120"/>
              </a:xfrm>
              <a:prstGeom prst="ellipse">
                <a:avLst/>
              </a:prstGeom>
              <a:solidFill>
                <a:srgbClr val="9AA0A6"/>
              </a:solidFill>
              <a:ln>
                <a:noFill/>
              </a:ln>
            </p:spPr>
            <p:txBody>
              <a:bodyPr rtlCol="0" anchor="ctr"/>
              <a:lstStyle/>
              <a:p>
                <a:pPr algn="ctr"/>
                <a:endParaRPr/>
              </a:p>
            </p:txBody>
          </p:sp>
          <p:sp>
            <p:nvSpPr>
              <p:cNvPr id="37" name="wheel"/>
              <p:cNvSpPr/>
              <p:nvPr/>
            </p:nvSpPr>
            <p:spPr>
              <a:xfrm>
                <a:off x="5477636" y="1904238"/>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38" name="hub"/>
              <p:cNvSpPr/>
              <p:nvPr/>
            </p:nvSpPr>
            <p:spPr>
              <a:xfrm>
                <a:off x="5560161" y="1986762"/>
                <a:ext cx="52120" cy="52120"/>
              </a:xfrm>
              <a:prstGeom prst="ellipse">
                <a:avLst/>
              </a:prstGeom>
              <a:solidFill>
                <a:srgbClr val="9AA0A6"/>
              </a:solidFill>
              <a:ln>
                <a:noFill/>
              </a:ln>
            </p:spPr>
            <p:txBody>
              <a:bodyPr rtlCol="0" anchor="ctr"/>
              <a:lstStyle/>
              <a:p>
                <a:pPr algn="ctr"/>
                <a:endParaRPr/>
              </a:p>
            </p:txBody>
          </p:sp>
          <p:sp>
            <p:nvSpPr>
              <p:cNvPr id="39" name="cab"/>
              <p:cNvSpPr/>
              <p:nvPr/>
            </p:nvSpPr>
            <p:spPr>
              <a:xfrm>
                <a:off x="5745480" y="1542287"/>
                <a:ext cx="289560" cy="405384"/>
              </a:xfrm>
              <a:prstGeom prst="roundRect">
                <a:avLst>
                  <a:gd name="adj" fmla="val 2500"/>
                </a:avLst>
              </a:prstGeom>
              <a:solidFill>
                <a:srgbClr val="F28C28"/>
              </a:solidFill>
              <a:ln>
                <a:noFill/>
              </a:ln>
            </p:spPr>
            <p:txBody>
              <a:bodyPr rtlCol="0" anchor="ctr"/>
              <a:lstStyle/>
              <a:p>
                <a:pPr algn="ctr"/>
                <a:endParaRPr/>
              </a:p>
            </p:txBody>
          </p:sp>
          <p:sp>
            <p:nvSpPr>
              <p:cNvPr id="40" name="cab roof"/>
              <p:cNvSpPr/>
              <p:nvPr/>
            </p:nvSpPr>
            <p:spPr>
              <a:xfrm>
                <a:off x="5731001" y="1520571"/>
                <a:ext cx="318516" cy="31851"/>
              </a:xfrm>
              <a:prstGeom prst="rect">
                <a:avLst/>
              </a:prstGeom>
              <a:solidFill>
                <a:srgbClr val="3A3F47"/>
              </a:solidFill>
              <a:ln w="9525">
                <a:solidFill>
                  <a:srgbClr val="9AA0A6"/>
                </a:solidFill>
              </a:ln>
            </p:spPr>
            <p:txBody>
              <a:bodyPr rtlCol="0" anchor="ctr"/>
              <a:lstStyle/>
              <a:p>
                <a:pPr algn="ctr"/>
                <a:endParaRPr/>
              </a:p>
            </p:txBody>
          </p:sp>
          <p:sp>
            <p:nvSpPr>
              <p:cNvPr id="41" name="cab window"/>
              <p:cNvSpPr/>
              <p:nvPr/>
            </p:nvSpPr>
            <p:spPr>
              <a:xfrm>
                <a:off x="5803391" y="1621917"/>
                <a:ext cx="173735" cy="130301"/>
              </a:xfrm>
              <a:prstGeom prst="rect">
                <a:avLst/>
              </a:prstGeom>
              <a:solidFill>
                <a:srgbClr val="1B1D21"/>
              </a:solidFill>
              <a:ln>
                <a:noFill/>
              </a:ln>
            </p:spPr>
            <p:txBody>
              <a:bodyPr rtlCol="0" anchor="ctr"/>
              <a:lstStyle/>
              <a:p>
                <a:pPr algn="ctr"/>
                <a:endParaRPr/>
              </a:p>
            </p:txBody>
          </p:sp>
          <p:sp>
            <p:nvSpPr>
              <p:cNvPr id="42" name="boiler"/>
              <p:cNvSpPr/>
              <p:nvPr/>
            </p:nvSpPr>
            <p:spPr>
              <a:xfrm>
                <a:off x="6035040" y="1629156"/>
                <a:ext cx="868680" cy="318516"/>
              </a:xfrm>
              <a:prstGeom prst="roundRect">
                <a:avLst>
                  <a:gd name="adj" fmla="val 27272"/>
                </a:avLst>
              </a:prstGeom>
              <a:solidFill>
                <a:srgbClr val="F28C28"/>
              </a:solidFill>
              <a:ln>
                <a:noFill/>
              </a:ln>
            </p:spPr>
            <p:txBody>
              <a:bodyPr rtlCol="0" anchor="ctr"/>
              <a:lstStyle/>
              <a:p>
                <a:pPr algn="ctr"/>
                <a:endParaRPr/>
              </a:p>
            </p:txBody>
          </p:sp>
          <p:sp>
            <p:nvSpPr>
              <p:cNvPr id="43" name="chimney"/>
              <p:cNvSpPr/>
              <p:nvPr/>
            </p:nvSpPr>
            <p:spPr>
              <a:xfrm>
                <a:off x="6715506" y="1498854"/>
                <a:ext cx="101346" cy="137540"/>
              </a:xfrm>
              <a:prstGeom prst="rect">
                <a:avLst/>
              </a:prstGeom>
              <a:solidFill>
                <a:srgbClr val="3A3F47"/>
              </a:solidFill>
              <a:ln w="9525">
                <a:solidFill>
                  <a:srgbClr val="9AA0A6"/>
                </a:solidFill>
              </a:ln>
            </p:spPr>
            <p:txBody>
              <a:bodyPr rtlCol="0" anchor="ctr"/>
              <a:lstStyle/>
              <a:p>
                <a:pPr algn="ctr"/>
                <a:endParaRPr/>
              </a:p>
            </p:txBody>
          </p:sp>
          <p:sp>
            <p:nvSpPr>
              <p:cNvPr id="44" name="chimney lip"/>
              <p:cNvSpPr/>
              <p:nvPr/>
            </p:nvSpPr>
            <p:spPr>
              <a:xfrm>
                <a:off x="6693789" y="1484376"/>
                <a:ext cx="144780" cy="28956"/>
              </a:xfrm>
              <a:prstGeom prst="rect">
                <a:avLst/>
              </a:prstGeom>
              <a:solidFill>
                <a:srgbClr val="3A3F47"/>
              </a:solidFill>
              <a:ln w="9525">
                <a:solidFill>
                  <a:srgbClr val="9AA0A6"/>
                </a:solidFill>
              </a:ln>
            </p:spPr>
            <p:txBody>
              <a:bodyPr rtlCol="0" anchor="ctr"/>
              <a:lstStyle/>
              <a:p>
                <a:pPr algn="ctr"/>
                <a:endParaRPr/>
              </a:p>
            </p:txBody>
          </p:sp>
          <p:sp>
            <p:nvSpPr>
              <p:cNvPr id="45" name="dome"/>
              <p:cNvSpPr/>
              <p:nvPr/>
            </p:nvSpPr>
            <p:spPr>
              <a:xfrm>
                <a:off x="6281166" y="1564005"/>
                <a:ext cx="144780" cy="72390"/>
              </a:xfrm>
              <a:prstGeom prst="roundRect">
                <a:avLst>
                  <a:gd name="adj" fmla="val 40000"/>
                </a:avLst>
              </a:prstGeom>
              <a:solidFill>
                <a:srgbClr val="F28C28"/>
              </a:solidFill>
              <a:ln>
                <a:noFill/>
              </a:ln>
            </p:spPr>
            <p:txBody>
              <a:bodyPr rtlCol="0" anchor="ctr"/>
              <a:lstStyle/>
              <a:p>
                <a:pPr algn="ctr"/>
                <a:endParaRPr/>
              </a:p>
            </p:txBody>
          </p:sp>
          <p:sp>
            <p:nvSpPr>
              <p:cNvPr id="46" name="frame"/>
              <p:cNvSpPr/>
              <p:nvPr/>
            </p:nvSpPr>
            <p:spPr>
              <a:xfrm>
                <a:off x="5745480" y="1947672"/>
                <a:ext cx="1158240" cy="43433"/>
              </a:xfrm>
              <a:prstGeom prst="rect">
                <a:avLst/>
              </a:prstGeom>
              <a:solidFill>
                <a:srgbClr val="3A3F47"/>
              </a:solidFill>
              <a:ln w="9525">
                <a:solidFill>
                  <a:srgbClr val="9AA0A6"/>
                </a:solidFill>
              </a:ln>
            </p:spPr>
            <p:txBody>
              <a:bodyPr rtlCol="0" anchor="ctr"/>
              <a:lstStyle/>
              <a:p>
                <a:pPr algn="ctr"/>
                <a:endParaRPr/>
              </a:p>
            </p:txBody>
          </p:sp>
          <p:sp>
            <p:nvSpPr>
              <p:cNvPr id="47" name="wheel"/>
              <p:cNvSpPr/>
              <p:nvPr/>
            </p:nvSpPr>
            <p:spPr>
              <a:xfrm>
                <a:off x="5955410" y="1904238"/>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48" name="hub"/>
              <p:cNvSpPr/>
              <p:nvPr/>
            </p:nvSpPr>
            <p:spPr>
              <a:xfrm>
                <a:off x="6037935" y="1986762"/>
                <a:ext cx="52120" cy="52120"/>
              </a:xfrm>
              <a:prstGeom prst="ellipse">
                <a:avLst/>
              </a:prstGeom>
              <a:solidFill>
                <a:srgbClr val="9AA0A6"/>
              </a:solidFill>
              <a:ln>
                <a:noFill/>
              </a:ln>
            </p:spPr>
            <p:txBody>
              <a:bodyPr rtlCol="0" anchor="ctr"/>
              <a:lstStyle/>
              <a:p>
                <a:pPr algn="ctr"/>
                <a:endParaRPr/>
              </a:p>
            </p:txBody>
          </p:sp>
          <p:sp>
            <p:nvSpPr>
              <p:cNvPr id="49" name="wheel"/>
              <p:cNvSpPr/>
              <p:nvPr/>
            </p:nvSpPr>
            <p:spPr>
              <a:xfrm>
                <a:off x="6244970" y="1904238"/>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50" name="hub"/>
              <p:cNvSpPr/>
              <p:nvPr/>
            </p:nvSpPr>
            <p:spPr>
              <a:xfrm>
                <a:off x="6327495" y="1986762"/>
                <a:ext cx="52120" cy="52120"/>
              </a:xfrm>
              <a:prstGeom prst="ellipse">
                <a:avLst/>
              </a:prstGeom>
              <a:solidFill>
                <a:srgbClr val="9AA0A6"/>
              </a:solidFill>
              <a:ln>
                <a:noFill/>
              </a:ln>
            </p:spPr>
            <p:txBody>
              <a:bodyPr rtlCol="0" anchor="ctr"/>
              <a:lstStyle/>
              <a:p>
                <a:pPr algn="ctr"/>
                <a:endParaRPr/>
              </a:p>
            </p:txBody>
          </p:sp>
          <p:sp>
            <p:nvSpPr>
              <p:cNvPr id="51" name="wheel"/>
              <p:cNvSpPr/>
              <p:nvPr/>
            </p:nvSpPr>
            <p:spPr>
              <a:xfrm>
                <a:off x="6534530" y="1904238"/>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52" name="hub"/>
              <p:cNvSpPr/>
              <p:nvPr/>
            </p:nvSpPr>
            <p:spPr>
              <a:xfrm>
                <a:off x="6617055" y="1986762"/>
                <a:ext cx="52120" cy="52120"/>
              </a:xfrm>
              <a:prstGeom prst="ellipse">
                <a:avLst/>
              </a:prstGeom>
              <a:solidFill>
                <a:srgbClr val="9AA0A6"/>
              </a:solidFill>
              <a:ln>
                <a:noFill/>
              </a:ln>
            </p:spPr>
            <p:txBody>
              <a:bodyPr rtlCol="0" anchor="ctr"/>
              <a:lstStyle/>
              <a:p>
                <a:pPr algn="ctr"/>
                <a:endParaRPr/>
              </a:p>
            </p:txBody>
          </p:sp>
        </p:grpSp>
        <p:grpSp>
          <p:nvGrpSpPr>
            <p:cNvPr id="53" name="engine icon" descr="Small drawing of a steam engine with its tender."/>
            <p:cNvGrpSpPr/>
            <p:nvPr/>
          </p:nvGrpSpPr>
          <p:grpSpPr>
            <a:xfrm rot="1501014">
              <a:off x="8147296" y="2156911"/>
              <a:ext cx="1737360" cy="637032"/>
              <a:chOff x="8147296" y="2156911"/>
              <a:chExt cx="1737360" cy="637032"/>
            </a:xfrm>
          </p:grpSpPr>
          <p:sp>
            <p:nvSpPr>
              <p:cNvPr id="54" name="tender body"/>
              <p:cNvSpPr/>
              <p:nvPr/>
            </p:nvSpPr>
            <p:spPr>
              <a:xfrm>
                <a:off x="8147296" y="2345125"/>
                <a:ext cx="550163" cy="275081"/>
              </a:xfrm>
              <a:prstGeom prst="roundRect">
                <a:avLst>
                  <a:gd name="adj" fmla="val 2631"/>
                </a:avLst>
              </a:prstGeom>
              <a:solidFill>
                <a:srgbClr val="6C7480"/>
              </a:solidFill>
              <a:ln>
                <a:noFill/>
              </a:ln>
            </p:spPr>
            <p:txBody>
              <a:bodyPr rtlCol="0" anchor="ctr"/>
              <a:lstStyle/>
              <a:p>
                <a:pPr algn="ctr"/>
                <a:endParaRPr/>
              </a:p>
            </p:txBody>
          </p:sp>
          <p:sp>
            <p:nvSpPr>
              <p:cNvPr id="55" name="tender coal"/>
              <p:cNvSpPr/>
              <p:nvPr/>
            </p:nvSpPr>
            <p:spPr>
              <a:xfrm>
                <a:off x="8190730" y="2294452"/>
                <a:ext cx="463296" cy="65150"/>
              </a:xfrm>
              <a:prstGeom prst="rect">
                <a:avLst/>
              </a:prstGeom>
              <a:solidFill>
                <a:srgbClr val="1B1D21"/>
              </a:solidFill>
              <a:ln w="12700">
                <a:solidFill>
                  <a:srgbClr val="9AA0A6"/>
                </a:solidFill>
              </a:ln>
            </p:spPr>
            <p:txBody>
              <a:bodyPr rtlCol="0" anchor="ctr"/>
              <a:lstStyle/>
              <a:p>
                <a:pPr algn="ctr"/>
                <a:endParaRPr/>
              </a:p>
            </p:txBody>
          </p:sp>
          <p:sp>
            <p:nvSpPr>
              <p:cNvPr id="56" name="tender frame"/>
              <p:cNvSpPr/>
              <p:nvPr/>
            </p:nvSpPr>
            <p:spPr>
              <a:xfrm>
                <a:off x="8147296" y="2620207"/>
                <a:ext cx="550163" cy="43433"/>
              </a:xfrm>
              <a:prstGeom prst="rect">
                <a:avLst/>
              </a:prstGeom>
              <a:solidFill>
                <a:srgbClr val="3A3F47"/>
              </a:solidFill>
              <a:ln w="9525">
                <a:solidFill>
                  <a:srgbClr val="9AA0A6"/>
                </a:solidFill>
              </a:ln>
            </p:spPr>
            <p:txBody>
              <a:bodyPr rtlCol="0" anchor="ctr"/>
              <a:lstStyle/>
              <a:p>
                <a:pPr algn="ctr"/>
                <a:endParaRPr/>
              </a:p>
            </p:txBody>
          </p:sp>
          <p:sp>
            <p:nvSpPr>
              <p:cNvPr id="57" name="coupling"/>
              <p:cNvSpPr/>
              <p:nvPr/>
            </p:nvSpPr>
            <p:spPr>
              <a:xfrm>
                <a:off x="8697460" y="2533339"/>
                <a:ext cx="57912" cy="28956"/>
              </a:xfrm>
              <a:prstGeom prst="rect">
                <a:avLst/>
              </a:prstGeom>
              <a:solidFill>
                <a:srgbClr val="9AA0A6"/>
              </a:solidFill>
              <a:ln>
                <a:noFill/>
              </a:ln>
            </p:spPr>
            <p:txBody>
              <a:bodyPr rtlCol="0" anchor="ctr"/>
              <a:lstStyle/>
              <a:p>
                <a:pPr algn="ctr"/>
                <a:endParaRPr/>
              </a:p>
            </p:txBody>
          </p:sp>
          <p:sp>
            <p:nvSpPr>
              <p:cNvPr id="58" name="wheel"/>
              <p:cNvSpPr/>
              <p:nvPr/>
            </p:nvSpPr>
            <p:spPr>
              <a:xfrm>
                <a:off x="8169013"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59" name="hub"/>
              <p:cNvSpPr/>
              <p:nvPr/>
            </p:nvSpPr>
            <p:spPr>
              <a:xfrm>
                <a:off x="8251537" y="2659298"/>
                <a:ext cx="52120" cy="52120"/>
              </a:xfrm>
              <a:prstGeom prst="ellipse">
                <a:avLst/>
              </a:prstGeom>
              <a:solidFill>
                <a:srgbClr val="9AA0A6"/>
              </a:solidFill>
              <a:ln>
                <a:noFill/>
              </a:ln>
            </p:spPr>
            <p:txBody>
              <a:bodyPr rtlCol="0" anchor="ctr"/>
              <a:lstStyle/>
              <a:p>
                <a:pPr algn="ctr"/>
                <a:endParaRPr/>
              </a:p>
            </p:txBody>
          </p:sp>
          <p:sp>
            <p:nvSpPr>
              <p:cNvPr id="60" name="wheel"/>
              <p:cNvSpPr/>
              <p:nvPr/>
            </p:nvSpPr>
            <p:spPr>
              <a:xfrm>
                <a:off x="8458573"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61" name="hub"/>
              <p:cNvSpPr/>
              <p:nvPr/>
            </p:nvSpPr>
            <p:spPr>
              <a:xfrm>
                <a:off x="8541097" y="2659298"/>
                <a:ext cx="52120" cy="52120"/>
              </a:xfrm>
              <a:prstGeom prst="ellipse">
                <a:avLst/>
              </a:prstGeom>
              <a:solidFill>
                <a:srgbClr val="9AA0A6"/>
              </a:solidFill>
              <a:ln>
                <a:noFill/>
              </a:ln>
            </p:spPr>
            <p:txBody>
              <a:bodyPr rtlCol="0" anchor="ctr"/>
              <a:lstStyle/>
              <a:p>
                <a:pPr algn="ctr"/>
                <a:endParaRPr/>
              </a:p>
            </p:txBody>
          </p:sp>
          <p:sp>
            <p:nvSpPr>
              <p:cNvPr id="62" name="cab"/>
              <p:cNvSpPr/>
              <p:nvPr/>
            </p:nvSpPr>
            <p:spPr>
              <a:xfrm>
                <a:off x="8726416" y="2214823"/>
                <a:ext cx="289560" cy="405384"/>
              </a:xfrm>
              <a:prstGeom prst="roundRect">
                <a:avLst>
                  <a:gd name="adj" fmla="val 2500"/>
                </a:avLst>
              </a:prstGeom>
              <a:solidFill>
                <a:srgbClr val="F28C28"/>
              </a:solidFill>
              <a:ln>
                <a:noFill/>
              </a:ln>
            </p:spPr>
            <p:txBody>
              <a:bodyPr rtlCol="0" anchor="ctr"/>
              <a:lstStyle/>
              <a:p>
                <a:pPr algn="ctr"/>
                <a:endParaRPr/>
              </a:p>
            </p:txBody>
          </p:sp>
          <p:sp>
            <p:nvSpPr>
              <p:cNvPr id="63" name="cab roof"/>
              <p:cNvSpPr/>
              <p:nvPr/>
            </p:nvSpPr>
            <p:spPr>
              <a:xfrm>
                <a:off x="8711938" y="2193106"/>
                <a:ext cx="318516" cy="31851"/>
              </a:xfrm>
              <a:prstGeom prst="rect">
                <a:avLst/>
              </a:prstGeom>
              <a:solidFill>
                <a:srgbClr val="3A3F47"/>
              </a:solidFill>
              <a:ln w="9525">
                <a:solidFill>
                  <a:srgbClr val="9AA0A6"/>
                </a:solidFill>
              </a:ln>
            </p:spPr>
            <p:txBody>
              <a:bodyPr rtlCol="0" anchor="ctr"/>
              <a:lstStyle/>
              <a:p>
                <a:pPr algn="ctr"/>
                <a:endParaRPr/>
              </a:p>
            </p:txBody>
          </p:sp>
          <p:sp>
            <p:nvSpPr>
              <p:cNvPr id="64" name="cab window"/>
              <p:cNvSpPr/>
              <p:nvPr/>
            </p:nvSpPr>
            <p:spPr>
              <a:xfrm>
                <a:off x="8784328" y="2294452"/>
                <a:ext cx="173735" cy="130301"/>
              </a:xfrm>
              <a:prstGeom prst="rect">
                <a:avLst/>
              </a:prstGeom>
              <a:solidFill>
                <a:srgbClr val="1B1D21"/>
              </a:solidFill>
              <a:ln>
                <a:noFill/>
              </a:ln>
            </p:spPr>
            <p:txBody>
              <a:bodyPr rtlCol="0" anchor="ctr"/>
              <a:lstStyle/>
              <a:p>
                <a:pPr algn="ctr"/>
                <a:endParaRPr/>
              </a:p>
            </p:txBody>
          </p:sp>
          <p:sp>
            <p:nvSpPr>
              <p:cNvPr id="65" name="boiler"/>
              <p:cNvSpPr/>
              <p:nvPr/>
            </p:nvSpPr>
            <p:spPr>
              <a:xfrm>
                <a:off x="9015976" y="2301691"/>
                <a:ext cx="868680" cy="318516"/>
              </a:xfrm>
              <a:prstGeom prst="roundRect">
                <a:avLst>
                  <a:gd name="adj" fmla="val 27272"/>
                </a:avLst>
              </a:prstGeom>
              <a:solidFill>
                <a:srgbClr val="F28C28"/>
              </a:solidFill>
              <a:ln>
                <a:noFill/>
              </a:ln>
            </p:spPr>
            <p:txBody>
              <a:bodyPr rtlCol="0" anchor="ctr"/>
              <a:lstStyle/>
              <a:p>
                <a:pPr algn="ctr"/>
                <a:endParaRPr/>
              </a:p>
            </p:txBody>
          </p:sp>
          <p:sp>
            <p:nvSpPr>
              <p:cNvPr id="66" name="chimney"/>
              <p:cNvSpPr/>
              <p:nvPr/>
            </p:nvSpPr>
            <p:spPr>
              <a:xfrm>
                <a:off x="9696442" y="2171389"/>
                <a:ext cx="101346" cy="137540"/>
              </a:xfrm>
              <a:prstGeom prst="rect">
                <a:avLst/>
              </a:prstGeom>
              <a:solidFill>
                <a:srgbClr val="3A3F47"/>
              </a:solidFill>
              <a:ln w="9525">
                <a:solidFill>
                  <a:srgbClr val="9AA0A6"/>
                </a:solidFill>
              </a:ln>
            </p:spPr>
            <p:txBody>
              <a:bodyPr rtlCol="0" anchor="ctr"/>
              <a:lstStyle/>
              <a:p>
                <a:pPr algn="ctr"/>
                <a:endParaRPr/>
              </a:p>
            </p:txBody>
          </p:sp>
          <p:sp>
            <p:nvSpPr>
              <p:cNvPr id="67" name="chimney lip"/>
              <p:cNvSpPr/>
              <p:nvPr/>
            </p:nvSpPr>
            <p:spPr>
              <a:xfrm>
                <a:off x="9674725" y="2156911"/>
                <a:ext cx="144780" cy="28956"/>
              </a:xfrm>
              <a:prstGeom prst="rect">
                <a:avLst/>
              </a:prstGeom>
              <a:solidFill>
                <a:srgbClr val="3A3F47"/>
              </a:solidFill>
              <a:ln w="9525">
                <a:solidFill>
                  <a:srgbClr val="9AA0A6"/>
                </a:solidFill>
              </a:ln>
            </p:spPr>
            <p:txBody>
              <a:bodyPr rtlCol="0" anchor="ctr"/>
              <a:lstStyle/>
              <a:p>
                <a:pPr algn="ctr"/>
                <a:endParaRPr/>
              </a:p>
            </p:txBody>
          </p:sp>
          <p:sp>
            <p:nvSpPr>
              <p:cNvPr id="68" name="dome"/>
              <p:cNvSpPr/>
              <p:nvPr/>
            </p:nvSpPr>
            <p:spPr>
              <a:xfrm>
                <a:off x="9262102" y="2236540"/>
                <a:ext cx="144780" cy="72390"/>
              </a:xfrm>
              <a:prstGeom prst="roundRect">
                <a:avLst>
                  <a:gd name="adj" fmla="val 40000"/>
                </a:avLst>
              </a:prstGeom>
              <a:solidFill>
                <a:srgbClr val="F28C28"/>
              </a:solidFill>
              <a:ln>
                <a:noFill/>
              </a:ln>
            </p:spPr>
            <p:txBody>
              <a:bodyPr rtlCol="0" anchor="ctr"/>
              <a:lstStyle/>
              <a:p>
                <a:pPr algn="ctr"/>
                <a:endParaRPr/>
              </a:p>
            </p:txBody>
          </p:sp>
          <p:sp>
            <p:nvSpPr>
              <p:cNvPr id="69" name="frame"/>
              <p:cNvSpPr/>
              <p:nvPr/>
            </p:nvSpPr>
            <p:spPr>
              <a:xfrm>
                <a:off x="8726416" y="2620207"/>
                <a:ext cx="1158240" cy="43433"/>
              </a:xfrm>
              <a:prstGeom prst="rect">
                <a:avLst/>
              </a:prstGeom>
              <a:solidFill>
                <a:srgbClr val="3A3F47"/>
              </a:solidFill>
              <a:ln w="9525">
                <a:solidFill>
                  <a:srgbClr val="9AA0A6"/>
                </a:solidFill>
              </a:ln>
            </p:spPr>
            <p:txBody>
              <a:bodyPr rtlCol="0" anchor="ctr"/>
              <a:lstStyle/>
              <a:p>
                <a:pPr algn="ctr"/>
                <a:endParaRPr/>
              </a:p>
            </p:txBody>
          </p:sp>
          <p:sp>
            <p:nvSpPr>
              <p:cNvPr id="70" name="wheel"/>
              <p:cNvSpPr/>
              <p:nvPr/>
            </p:nvSpPr>
            <p:spPr>
              <a:xfrm>
                <a:off x="8936347"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71" name="hub"/>
              <p:cNvSpPr/>
              <p:nvPr/>
            </p:nvSpPr>
            <p:spPr>
              <a:xfrm>
                <a:off x="9018871" y="2659298"/>
                <a:ext cx="52120" cy="52120"/>
              </a:xfrm>
              <a:prstGeom prst="ellipse">
                <a:avLst/>
              </a:prstGeom>
              <a:solidFill>
                <a:srgbClr val="9AA0A6"/>
              </a:solidFill>
              <a:ln>
                <a:noFill/>
              </a:ln>
            </p:spPr>
            <p:txBody>
              <a:bodyPr rtlCol="0" anchor="ctr"/>
              <a:lstStyle/>
              <a:p>
                <a:pPr algn="ctr"/>
                <a:endParaRPr/>
              </a:p>
            </p:txBody>
          </p:sp>
          <p:sp>
            <p:nvSpPr>
              <p:cNvPr id="72" name="wheel"/>
              <p:cNvSpPr/>
              <p:nvPr/>
            </p:nvSpPr>
            <p:spPr>
              <a:xfrm>
                <a:off x="9225907"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73" name="hub"/>
              <p:cNvSpPr/>
              <p:nvPr/>
            </p:nvSpPr>
            <p:spPr>
              <a:xfrm>
                <a:off x="9308431" y="2659298"/>
                <a:ext cx="52120" cy="52120"/>
              </a:xfrm>
              <a:prstGeom prst="ellipse">
                <a:avLst/>
              </a:prstGeom>
              <a:solidFill>
                <a:srgbClr val="9AA0A6"/>
              </a:solidFill>
              <a:ln>
                <a:noFill/>
              </a:ln>
            </p:spPr>
            <p:txBody>
              <a:bodyPr rtlCol="0" anchor="ctr"/>
              <a:lstStyle/>
              <a:p>
                <a:pPr algn="ctr"/>
                <a:endParaRPr/>
              </a:p>
            </p:txBody>
          </p:sp>
          <p:sp>
            <p:nvSpPr>
              <p:cNvPr id="74" name="wheel"/>
              <p:cNvSpPr/>
              <p:nvPr/>
            </p:nvSpPr>
            <p:spPr>
              <a:xfrm>
                <a:off x="9515467" y="2576773"/>
                <a:ext cx="217170" cy="217170"/>
              </a:xfrm>
              <a:prstGeom prst="ellipse">
                <a:avLst/>
              </a:prstGeom>
              <a:solidFill>
                <a:srgbClr val="1B1D21"/>
              </a:solidFill>
              <a:ln w="19050">
                <a:solidFill>
                  <a:srgbClr val="9AA0A6"/>
                </a:solidFill>
              </a:ln>
            </p:spPr>
            <p:txBody>
              <a:bodyPr rtlCol="0" anchor="ctr"/>
              <a:lstStyle/>
              <a:p>
                <a:pPr algn="ctr"/>
                <a:endParaRPr/>
              </a:p>
            </p:txBody>
          </p:sp>
          <p:sp>
            <p:nvSpPr>
              <p:cNvPr id="75" name="hub"/>
              <p:cNvSpPr/>
              <p:nvPr/>
            </p:nvSpPr>
            <p:spPr>
              <a:xfrm>
                <a:off x="9597991" y="2659298"/>
                <a:ext cx="52120" cy="52120"/>
              </a:xfrm>
              <a:prstGeom prst="ellipse">
                <a:avLst/>
              </a:prstGeom>
              <a:solidFill>
                <a:srgbClr val="9AA0A6"/>
              </a:solidFill>
              <a:ln>
                <a:noFill/>
              </a:ln>
            </p:spPr>
            <p:txBody>
              <a:bodyPr rtlCol="0" anchor="ctr"/>
              <a:lstStyle/>
              <a:p>
                <a:pPr algn="ctr"/>
                <a:endParaRPr/>
              </a:p>
            </p:txBody>
          </p:sp>
        </p:grpSp>
        <p:sp>
          <p:nvSpPr>
            <p:cNvPr id="76" name="fuel label"/>
            <p:cNvSpPr txBox="1"/>
            <p:nvPr/>
          </p:nvSpPr>
          <p:spPr>
            <a:xfrm>
              <a:off x="1828800" y="4023360"/>
              <a:ext cx="2743200" cy="384048"/>
            </a:xfrm>
            <a:prstGeom prst="rect">
              <a:avLst/>
            </a:prstGeom>
            <a:noFill/>
          </p:spPr>
          <p:txBody>
            <a:bodyPr wrap="square" lIns="18288" tIns="9144" rIns="18288" bIns="9144" anchor="ctr">
              <a:noAutofit/>
            </a:bodyPr>
            <a:lstStyle/>
            <a:p>
              <a:pPr algn="ctr"/>
              <a:r>
                <a:rPr lang="en-GB" sz="1800" b="1" i="0">
                  <a:solidFill>
                    <a:srgbClr val="F2F2F2"/>
                  </a:solidFill>
                  <a:latin typeface="Arial"/>
                </a:rPr>
                <a:t>Climbing: high</a:t>
              </a:r>
            </a:p>
          </p:txBody>
        </p:sp>
        <p:sp>
          <p:nvSpPr>
            <p:cNvPr id="77" name="fuel track"/>
            <p:cNvSpPr/>
            <p:nvPr/>
          </p:nvSpPr>
          <p:spPr>
            <a:xfrm>
              <a:off x="2011680" y="4498848"/>
              <a:ext cx="2377440" cy="274320"/>
            </a:xfrm>
            <a:prstGeom prst="roundRect">
              <a:avLst>
                <a:gd name="adj" fmla="val 16666"/>
              </a:avLst>
            </a:prstGeom>
            <a:solidFill>
              <a:srgbClr val="343A43"/>
            </a:solidFill>
            <a:ln w="12700">
              <a:solidFill>
                <a:srgbClr val="4A515B"/>
              </a:solidFill>
            </a:ln>
          </p:spPr>
          <p:txBody>
            <a:bodyPr rtlCol="0" anchor="ctr"/>
            <a:lstStyle/>
            <a:p>
              <a:pPr algn="ctr"/>
              <a:endParaRPr/>
            </a:p>
          </p:txBody>
        </p:sp>
        <p:sp>
          <p:nvSpPr>
            <p:cNvPr id="78" name="fuel fill"/>
            <p:cNvSpPr/>
            <p:nvPr/>
          </p:nvSpPr>
          <p:spPr>
            <a:xfrm>
              <a:off x="2011680" y="4498848"/>
              <a:ext cx="2139696" cy="274320"/>
            </a:xfrm>
            <a:prstGeom prst="roundRect">
              <a:avLst>
                <a:gd name="adj" fmla="val 16666"/>
              </a:avLst>
            </a:prstGeom>
            <a:solidFill>
              <a:srgbClr val="F28C28"/>
            </a:solidFill>
            <a:ln>
              <a:noFill/>
            </a:ln>
          </p:spPr>
          <p:txBody>
            <a:bodyPr rtlCol="0" anchor="ctr"/>
            <a:lstStyle/>
            <a:p>
              <a:pPr algn="ctr"/>
              <a:endParaRPr/>
            </a:p>
          </p:txBody>
        </p:sp>
        <p:sp>
          <p:nvSpPr>
            <p:cNvPr id="79" name="fuel label"/>
            <p:cNvSpPr txBox="1"/>
            <p:nvPr/>
          </p:nvSpPr>
          <p:spPr>
            <a:xfrm>
              <a:off x="4663440" y="4023360"/>
              <a:ext cx="2743200" cy="384048"/>
            </a:xfrm>
            <a:prstGeom prst="rect">
              <a:avLst/>
            </a:prstGeom>
            <a:noFill/>
          </p:spPr>
          <p:txBody>
            <a:bodyPr wrap="square" lIns="18288" tIns="9144" rIns="18288" bIns="9144" anchor="ctr">
              <a:noAutofit/>
            </a:bodyPr>
            <a:lstStyle/>
            <a:p>
              <a:pPr algn="ctr"/>
              <a:r>
                <a:rPr lang="en-GB" sz="1800" b="1" i="0">
                  <a:solidFill>
                    <a:srgbClr val="F2F2F2"/>
                  </a:solidFill>
                  <a:latin typeface="Arial"/>
                </a:rPr>
                <a:t>Steady: medium</a:t>
              </a:r>
            </a:p>
          </p:txBody>
        </p:sp>
        <p:sp>
          <p:nvSpPr>
            <p:cNvPr id="80" name="fuel track"/>
            <p:cNvSpPr/>
            <p:nvPr/>
          </p:nvSpPr>
          <p:spPr>
            <a:xfrm>
              <a:off x="4846320" y="4498848"/>
              <a:ext cx="2377440" cy="274320"/>
            </a:xfrm>
            <a:prstGeom prst="roundRect">
              <a:avLst>
                <a:gd name="adj" fmla="val 16666"/>
              </a:avLst>
            </a:prstGeom>
            <a:solidFill>
              <a:srgbClr val="343A43"/>
            </a:solidFill>
            <a:ln w="12700">
              <a:solidFill>
                <a:srgbClr val="4A515B"/>
              </a:solidFill>
            </a:ln>
          </p:spPr>
          <p:txBody>
            <a:bodyPr rtlCol="0" anchor="ctr"/>
            <a:lstStyle/>
            <a:p>
              <a:pPr algn="ctr"/>
              <a:endParaRPr/>
            </a:p>
          </p:txBody>
        </p:sp>
        <p:sp>
          <p:nvSpPr>
            <p:cNvPr id="81" name="fuel fill"/>
            <p:cNvSpPr/>
            <p:nvPr/>
          </p:nvSpPr>
          <p:spPr>
            <a:xfrm>
              <a:off x="4846320" y="4498848"/>
              <a:ext cx="1307592" cy="274320"/>
            </a:xfrm>
            <a:prstGeom prst="roundRect">
              <a:avLst>
                <a:gd name="adj" fmla="val 16666"/>
              </a:avLst>
            </a:prstGeom>
            <a:solidFill>
              <a:srgbClr val="F28C28"/>
            </a:solidFill>
            <a:ln>
              <a:noFill/>
            </a:ln>
          </p:spPr>
          <p:txBody>
            <a:bodyPr rtlCol="0" anchor="ctr"/>
            <a:lstStyle/>
            <a:p>
              <a:pPr algn="ctr"/>
              <a:endParaRPr/>
            </a:p>
          </p:txBody>
        </p:sp>
        <p:sp>
          <p:nvSpPr>
            <p:cNvPr id="82" name="fuel label"/>
            <p:cNvSpPr txBox="1"/>
            <p:nvPr/>
          </p:nvSpPr>
          <p:spPr>
            <a:xfrm>
              <a:off x="7498079" y="4023360"/>
              <a:ext cx="2743200" cy="384048"/>
            </a:xfrm>
            <a:prstGeom prst="rect">
              <a:avLst/>
            </a:prstGeom>
            <a:noFill/>
          </p:spPr>
          <p:txBody>
            <a:bodyPr wrap="square" lIns="18288" tIns="9144" rIns="18288" bIns="9144" anchor="ctr">
              <a:noAutofit/>
            </a:bodyPr>
            <a:lstStyle/>
            <a:p>
              <a:pPr algn="ctr"/>
              <a:r>
                <a:rPr lang="en-GB" sz="1800" b="1" i="0">
                  <a:solidFill>
                    <a:srgbClr val="F2F2F2"/>
                  </a:solidFill>
                  <a:latin typeface="Arial"/>
                </a:rPr>
                <a:t>Coasting: low</a:t>
              </a:r>
            </a:p>
          </p:txBody>
        </p:sp>
        <p:sp>
          <p:nvSpPr>
            <p:cNvPr id="83" name="fuel track"/>
            <p:cNvSpPr/>
            <p:nvPr/>
          </p:nvSpPr>
          <p:spPr>
            <a:xfrm>
              <a:off x="7680959" y="4498848"/>
              <a:ext cx="2377440" cy="274320"/>
            </a:xfrm>
            <a:prstGeom prst="roundRect">
              <a:avLst>
                <a:gd name="adj" fmla="val 16666"/>
              </a:avLst>
            </a:prstGeom>
            <a:solidFill>
              <a:srgbClr val="343A43"/>
            </a:solidFill>
            <a:ln w="12700">
              <a:solidFill>
                <a:srgbClr val="4A515B"/>
              </a:solidFill>
            </a:ln>
          </p:spPr>
          <p:txBody>
            <a:bodyPr rtlCol="0" anchor="ctr"/>
            <a:lstStyle/>
            <a:p>
              <a:pPr algn="ctr"/>
              <a:endParaRPr/>
            </a:p>
          </p:txBody>
        </p:sp>
        <p:sp>
          <p:nvSpPr>
            <p:cNvPr id="84" name="fuel fill"/>
            <p:cNvSpPr/>
            <p:nvPr/>
          </p:nvSpPr>
          <p:spPr>
            <a:xfrm>
              <a:off x="7680959" y="4498848"/>
              <a:ext cx="523036" cy="274320"/>
            </a:xfrm>
            <a:prstGeom prst="roundRect">
              <a:avLst>
                <a:gd name="adj" fmla="val 16666"/>
              </a:avLst>
            </a:prstGeom>
            <a:solidFill>
              <a:srgbClr val="F28C28"/>
            </a:solidFill>
            <a:ln>
              <a:noFill/>
            </a:ln>
          </p:spPr>
          <p:txBody>
            <a:bodyPr rtlCol="0" anchor="ctr"/>
            <a:lstStyle/>
            <a:p>
              <a:pPr algn="ctr"/>
              <a:endParaRPr/>
            </a:p>
          </p:txBody>
        </p:sp>
        <p:sp>
          <p:nvSpPr>
            <p:cNvPr id="85" name="note"/>
            <p:cNvSpPr txBox="1"/>
            <p:nvPr/>
          </p:nvSpPr>
          <p:spPr>
            <a:xfrm>
              <a:off x="640080" y="5074920"/>
              <a:ext cx="4572000" cy="320040"/>
            </a:xfrm>
            <a:prstGeom prst="rect">
              <a:avLst/>
            </a:prstGeom>
            <a:noFill/>
          </p:spPr>
          <p:txBody>
            <a:bodyPr wrap="square" lIns="18288" tIns="9144" rIns="18288" bIns="9144" anchor="ctr">
              <a:noAutofit/>
            </a:bodyPr>
            <a:lstStyle/>
            <a:p>
              <a:pPr algn="l"/>
              <a:r>
                <a:rPr lang="en-GB" sz="1400" b="0" i="0">
                  <a:solidFill>
                    <a:srgbClr val="A9B0B8"/>
                  </a:solidFill>
                  <a:latin typeface="Arial"/>
                </a:rPr>
                <a:t>Shape only. Not measured.</a:t>
              </a:r>
            </a:p>
          </p:txBody>
        </p:sp>
      </p:grpSp>
      <p:sp>
        <p:nvSpPr>
          <p:cNvPr id="8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8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88"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Heavy loads, acceleration and hills use more. Coasting uses less.</a:t>
            </a:r>
          </a:p>
        </p:txBody>
      </p:sp>
      <p:sp>
        <p:nvSpPr>
          <p:cNvPr id="89"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9</a:t>
            </a:r>
          </a:p>
        </p:txBody>
      </p:sp>
    </p:spTree>
    <p:extLst>
      <p:ext uri="{BB962C8B-B14F-4D97-AF65-F5344CB8AC3E}">
        <p14:creationId xmlns:p14="http://schemas.microsoft.com/office/powerpoint/2010/main" val="2588552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6"/>
                                        </p:tgtEl>
                                        <p:attrNameLst>
                                          <p:attrName>style.visibility</p:attrName>
                                        </p:attrNameLst>
                                      </p:cBhvr>
                                      <p:to>
                                        <p:strVal val="visible"/>
                                      </p:to>
                                    </p:set>
                                    <p:animEffect transition="in" filter="fade">
                                      <p:cBhvr>
                                        <p:cTn id="10" dur="500"/>
                                        <p:tgtEl>
                                          <p:spTgt spid="86"/>
                                        </p:tgtEl>
                                      </p:cBhvr>
                                    </p:animEffect>
                                  </p:childTnLst>
                                </p:cTn>
                              </p:par>
                              <p:par>
                                <p:cTn id="11" presetID="10" presetClass="entr" presetSubtype="0" fill="hold" nodeType="withEffect">
                                  <p:stCondLst>
                                    <p:cond delay="600"/>
                                  </p:stCondLst>
                                  <p:childTnLst>
                                    <p:set>
                                      <p:cBhvr>
                                        <p:cTn id="12" dur="1" fill="hold">
                                          <p:stCondLst>
                                            <p:cond delay="0"/>
                                          </p:stCondLst>
                                        </p:cTn>
                                        <p:tgtEl>
                                          <p:spTgt spid="87"/>
                                        </p:tgtEl>
                                        <p:attrNameLst>
                                          <p:attrName>style.visibility</p:attrName>
                                        </p:attrNameLst>
                                      </p:cBhvr>
                                      <p:to>
                                        <p:strVal val="visible"/>
                                      </p:to>
                                    </p:set>
                                    <p:animEffect transition="in" filter="fade">
                                      <p:cBhvr>
                                        <p:cTn id="13" dur="500"/>
                                        <p:tgtEl>
                                          <p:spTgt spid="87"/>
                                        </p:tgtEl>
                                      </p:cBhvr>
                                    </p:animEffect>
                                  </p:childTnLst>
                                </p:cTn>
                              </p:par>
                              <p:par>
                                <p:cTn id="14" presetID="10" presetClass="entr" presetSubtype="0" fill="hold" nodeType="withEffect">
                                  <p:stCondLst>
                                    <p:cond delay="900"/>
                                  </p:stCondLst>
                                  <p:childTnLst>
                                    <p:set>
                                      <p:cBhvr>
                                        <p:cTn id="15" dur="1" fill="hold">
                                          <p:stCondLst>
                                            <p:cond delay="0"/>
                                          </p:stCondLst>
                                        </p:cTn>
                                        <p:tgtEl>
                                          <p:spTgt spid="88"/>
                                        </p:tgtEl>
                                        <p:attrNameLst>
                                          <p:attrName>style.visibility</p:attrName>
                                        </p:attrNameLst>
                                      </p:cBhvr>
                                      <p:to>
                                        <p:strVal val="visible"/>
                                      </p:to>
                                    </p:set>
                                    <p:animEffect transition="in" filter="fade">
                                      <p:cBhvr>
                                        <p:cTn id="16"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Test targets for range</a:t>
            </a:r>
          </a:p>
        </p:txBody>
      </p:sp>
      <p:sp>
        <p:nvSpPr>
          <p:cNvPr id="3" name="CHIP"/>
          <p:cNvSpPr/>
          <p:nvPr/>
        </p:nvSpPr>
        <p:spPr>
          <a:xfrm>
            <a:off x="10088575" y="530352"/>
            <a:ext cx="1554480" cy="365760"/>
          </a:xfrm>
          <a:prstGeom prst="roundRect">
            <a:avLst>
              <a:gd name="adj" fmla="val 300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graphicFrame>
        <p:nvGraphicFramePr>
          <p:cNvPr id="4" name="TABLE" descr="Table of provisional range targets per tank for Small, Medium and Large engines. Small: water 2 to 3 kilometres, coal 4 to 5. Medium: water 4 to 5, coal about 7. Large: water 6 to 7, coal about 10."/>
          <p:cNvGraphicFramePr>
            <a:graphicFrameLocks noGrp="1"/>
          </p:cNvGraphicFramePr>
          <p:nvPr/>
        </p:nvGraphicFramePr>
        <p:xfrm>
          <a:off x="2167128" y="1691640"/>
          <a:ext cx="7863840" cy="3017520"/>
        </p:xfrm>
        <a:graphic>
          <a:graphicData uri="http://schemas.openxmlformats.org/drawingml/2006/table">
            <a:tbl>
              <a:tblPr first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94360">
                <a:tc gridSpan="3">
                  <a:txBody>
                    <a:bodyPr/>
                    <a:lstStyle/>
                    <a:p>
                      <a:pPr algn="l"/>
                      <a:r>
                        <a:rPr lang="en-GB" sz="2000" b="1" i="0">
                          <a:solidFill>
                            <a:srgbClr val="F2F2F2"/>
                          </a:solidFill>
                          <a:latin typeface="Arial"/>
                        </a:rPr>
                        <a:t>Route-dependent targets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502920">
                <a:tc>
                  <a:txBody>
                    <a:bodyPr/>
                    <a:lstStyle/>
                    <a:p>
                      <a:pPr algn="l"/>
                      <a:endParaRP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ctr"/>
                      <a:r>
                        <a:rPr lang="en-GB" sz="2000" b="1" i="0">
                          <a:solidFill>
                            <a:srgbClr val="4DA3FF"/>
                          </a:solidFill>
                          <a:latin typeface="Arial"/>
                        </a:rPr>
                        <a:t>Water</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ctr"/>
                      <a:r>
                        <a:rPr lang="en-GB" sz="2000" b="1" i="0">
                          <a:solidFill>
                            <a:srgbClr val="F2F2F2"/>
                          </a:solidFill>
                          <a:latin typeface="Arial"/>
                        </a:rPr>
                        <a:t>Coal</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1"/>
                  </a:ext>
                </a:extLst>
              </a:tr>
              <a:tr h="640080">
                <a:tc>
                  <a:txBody>
                    <a:bodyPr/>
                    <a:lstStyle/>
                    <a:p>
                      <a:pPr algn="l"/>
                      <a:r>
                        <a:rPr lang="en-GB" sz="2000" b="1" i="0">
                          <a:solidFill>
                            <a:srgbClr val="F28C28"/>
                          </a:solidFill>
                          <a:latin typeface="Arial"/>
                        </a:rPr>
                        <a:t>Small</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ctr"/>
                      <a:r>
                        <a:rPr lang="en-GB" sz="2000" b="0" i="0">
                          <a:solidFill>
                            <a:srgbClr val="F2F2F2"/>
                          </a:solidFill>
                          <a:latin typeface="Arial"/>
                        </a:rPr>
                        <a:t>2–3 km</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ctr"/>
                      <a:r>
                        <a:rPr lang="en-GB" sz="2000" b="0" i="0">
                          <a:solidFill>
                            <a:srgbClr val="F2F2F2"/>
                          </a:solidFill>
                          <a:latin typeface="Arial"/>
                        </a:rPr>
                        <a:t>4–5 km</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2"/>
                  </a:ext>
                </a:extLst>
              </a:tr>
              <a:tr h="640080">
                <a:tc>
                  <a:txBody>
                    <a:bodyPr/>
                    <a:lstStyle/>
                    <a:p>
                      <a:pPr algn="l"/>
                      <a:r>
                        <a:rPr lang="en-GB" sz="2000" b="1" i="0">
                          <a:solidFill>
                            <a:srgbClr val="F28C28"/>
                          </a:solidFill>
                          <a:latin typeface="Arial"/>
                        </a:rPr>
                        <a:t>Medium</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ctr"/>
                      <a:r>
                        <a:rPr lang="en-GB" sz="2000" b="0" i="0">
                          <a:solidFill>
                            <a:srgbClr val="F2F2F2"/>
                          </a:solidFill>
                          <a:latin typeface="Arial"/>
                        </a:rPr>
                        <a:t>4–5 km</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ctr"/>
                      <a:r>
                        <a:rPr lang="en-GB" sz="2000" b="0" i="0">
                          <a:solidFill>
                            <a:srgbClr val="F2F2F2"/>
                          </a:solidFill>
                          <a:latin typeface="Arial"/>
                        </a:rPr>
                        <a:t>about 7 km</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3"/>
                  </a:ext>
                </a:extLst>
              </a:tr>
              <a:tr h="640080">
                <a:tc>
                  <a:txBody>
                    <a:bodyPr/>
                    <a:lstStyle/>
                    <a:p>
                      <a:pPr algn="l"/>
                      <a:r>
                        <a:rPr lang="en-GB" sz="2000" b="1" i="0">
                          <a:solidFill>
                            <a:srgbClr val="F28C28"/>
                          </a:solidFill>
                          <a:latin typeface="Arial"/>
                        </a:rPr>
                        <a:t>Large</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ctr"/>
                      <a:r>
                        <a:rPr lang="en-GB" sz="2000" b="0" i="0">
                          <a:solidFill>
                            <a:srgbClr val="F2F2F2"/>
                          </a:solidFill>
                          <a:latin typeface="Arial"/>
                        </a:rPr>
                        <a:t>6–7 km</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ctr"/>
                      <a:r>
                        <a:rPr lang="en-GB" sz="2000" b="0" i="0">
                          <a:solidFill>
                            <a:srgbClr val="F2F2F2"/>
                          </a:solidFill>
                          <a:latin typeface="Arial"/>
                        </a:rPr>
                        <a:t>about 10 km</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4"/>
                  </a:ext>
                </a:extLst>
              </a:tr>
            </a:tbl>
          </a:graphicData>
        </a:graphic>
      </p:graphicFrame>
      <p:sp>
        <p:nvSpPr>
          <p:cNvPr id="5" name="ICHIP"/>
          <p:cNvSpPr/>
          <p:nvPr/>
        </p:nvSpPr>
        <p:spPr>
          <a:xfrm>
            <a:off x="8430767" y="1847088"/>
            <a:ext cx="1463040" cy="292608"/>
          </a:xfrm>
          <a:prstGeom prst="roundRect">
            <a:avLst>
              <a:gd name="adj" fmla="val 375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sp>
        <p:nvSpPr>
          <p:cNvPr id="6" name="footer"/>
          <p:cNvSpPr txBox="1"/>
          <p:nvPr/>
        </p:nvSpPr>
        <p:spPr>
          <a:xfrm>
            <a:off x="2167128" y="4754880"/>
            <a:ext cx="7863840" cy="411480"/>
          </a:xfrm>
          <a:prstGeom prst="rect">
            <a:avLst/>
          </a:prstGeom>
          <a:noFill/>
        </p:spPr>
        <p:txBody>
          <a:bodyPr wrap="square" lIns="18288" tIns="9144" rIns="18288" bIns="9144" anchor="ctr">
            <a:noAutofit/>
          </a:bodyPr>
          <a:lstStyle/>
          <a:p>
            <a:pPr algn="ctr"/>
            <a:r>
              <a:rPr lang="en-GB" sz="1800" b="0" i="0">
                <a:solidFill>
                  <a:srgbClr val="A9B0B8"/>
                </a:solidFill>
                <a:latin typeface="Arial"/>
              </a:rPr>
              <a:t>Not guaranteed distances or tank sizes.</a:t>
            </a:r>
          </a:p>
        </p:txBody>
      </p:sp>
      <p:sp>
        <p:nvSpPr>
          <p:cNvPr id="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8"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9"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Test targets for range per tank. They depend on the route and may change.</a:t>
            </a:r>
          </a:p>
        </p:txBody>
      </p:sp>
      <p:sp>
        <p:nvSpPr>
          <p:cNvPr id="10"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10</a:t>
            </a:r>
          </a:p>
        </p:txBody>
      </p:sp>
    </p:spTree>
    <p:extLst>
      <p:ext uri="{BB962C8B-B14F-4D97-AF65-F5344CB8AC3E}">
        <p14:creationId xmlns:p14="http://schemas.microsoft.com/office/powerpoint/2010/main" val="1528405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9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1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15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better fuel</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wo fuels and a water question" descr="Coal and Compacted Coal side by side, each with a bar for burn time. The Compacted Coal bar is longer. A water drop with a question mark shows that water saving is not established."/>
          <p:cNvGrpSpPr/>
          <p:nvPr/>
        </p:nvGrpSpPr>
        <p:grpSpPr>
          <a:xfrm>
            <a:off x="548640" y="1417320"/>
            <a:ext cx="11091672" cy="3657600"/>
            <a:chOff x="548640" y="1417320"/>
            <a:chExt cx="11091672" cy="3657600"/>
          </a:xfrm>
        </p:grpSpPr>
        <p:sp>
          <p:nvSpPr>
            <p:cNvPr id="5" name="fuel card"/>
            <p:cNvSpPr/>
            <p:nvPr/>
          </p:nvSpPr>
          <p:spPr>
            <a:xfrm>
              <a:off x="548640" y="1417320"/>
              <a:ext cx="3383280" cy="3200400"/>
            </a:xfrm>
            <a:prstGeom prst="roundRect">
              <a:avLst>
                <a:gd name="adj" fmla="val 2857"/>
              </a:avLst>
            </a:prstGeom>
            <a:solidFill>
              <a:srgbClr val="2B2F36"/>
            </a:solidFill>
            <a:ln>
              <a:noFill/>
            </a:ln>
          </p:spPr>
          <p:txBody>
            <a:bodyPr rtlCol="0" anchor="ctr"/>
            <a:lstStyle/>
            <a:p>
              <a:pPr algn="ctr"/>
              <a:endParaRPr/>
            </a:p>
          </p:txBody>
        </p:sp>
        <p:sp>
          <p:nvSpPr>
            <p:cNvPr id="6" name="coal lump"/>
            <p:cNvSpPr/>
            <p:nvPr/>
          </p:nvSpPr>
          <p:spPr>
            <a:xfrm>
              <a:off x="1371600" y="1645920"/>
              <a:ext cx="1737360" cy="1234440"/>
            </a:xfrm>
            <a:custGeom>
              <a:avLst/>
              <a:gdLst/>
              <a:ahLst/>
              <a:cxnLst/>
              <a:rect l="l" t="t" r="r" b="b"/>
              <a:pathLst>
                <a:path w="1737360" h="1234440">
                  <a:moveTo>
                    <a:pt x="137160" y="1143000"/>
                  </a:moveTo>
                  <a:lnTo>
                    <a:pt x="0" y="594360"/>
                  </a:lnTo>
                  <a:lnTo>
                    <a:pt x="365760" y="137160"/>
                  </a:lnTo>
                  <a:lnTo>
                    <a:pt x="868680" y="0"/>
                  </a:lnTo>
                  <a:lnTo>
                    <a:pt x="1417320" y="182880"/>
                  </a:lnTo>
                  <a:lnTo>
                    <a:pt x="1737360" y="640080"/>
                  </a:lnTo>
                  <a:lnTo>
                    <a:pt x="1554480" y="1143000"/>
                  </a:lnTo>
                  <a:lnTo>
                    <a:pt x="914400" y="1234440"/>
                  </a:lnTo>
                  <a:close/>
                </a:path>
              </a:pathLst>
            </a:custGeom>
            <a:solidFill>
              <a:srgbClr val="101215"/>
            </a:solidFill>
            <a:ln w="25400">
              <a:solidFill>
                <a:srgbClr val="B5BBC2"/>
              </a:solidFill>
            </a:ln>
          </p:spPr>
          <p:txBody>
            <a:bodyPr rtlCol="0" anchor="ctr"/>
            <a:lstStyle/>
            <a:p>
              <a:pPr algn="ctr"/>
              <a:endParaRPr/>
            </a:p>
          </p:txBody>
        </p:sp>
        <p:cxnSp>
          <p:nvCxnSpPr>
            <p:cNvPr id="7" name="facet"/>
            <p:cNvCxnSpPr/>
            <p:nvPr/>
          </p:nvCxnSpPr>
          <p:spPr>
            <a:xfrm>
              <a:off x="1737360" y="1783080"/>
              <a:ext cx="502920" cy="548640"/>
            </a:xfrm>
            <a:prstGeom prst="line">
              <a:avLst/>
            </a:prstGeom>
            <a:ln w="19050">
              <a:solidFill>
                <a:srgbClr val="5A616B"/>
              </a:solidFill>
            </a:ln>
          </p:spPr>
        </p:cxnSp>
        <p:cxnSp>
          <p:nvCxnSpPr>
            <p:cNvPr id="8" name="facet"/>
            <p:cNvCxnSpPr/>
            <p:nvPr/>
          </p:nvCxnSpPr>
          <p:spPr>
            <a:xfrm flipV="1">
              <a:off x="2240280" y="2286000"/>
              <a:ext cx="868680" cy="45720"/>
            </a:xfrm>
            <a:prstGeom prst="line">
              <a:avLst/>
            </a:prstGeom>
            <a:ln w="19050">
              <a:solidFill>
                <a:srgbClr val="5A616B"/>
              </a:solidFill>
            </a:ln>
          </p:spPr>
        </p:cxnSp>
        <p:cxnSp>
          <p:nvCxnSpPr>
            <p:cNvPr id="9" name="facet"/>
            <p:cNvCxnSpPr/>
            <p:nvPr/>
          </p:nvCxnSpPr>
          <p:spPr>
            <a:xfrm>
              <a:off x="2240280" y="2331720"/>
              <a:ext cx="45720" cy="548640"/>
            </a:xfrm>
            <a:prstGeom prst="line">
              <a:avLst/>
            </a:prstGeom>
            <a:ln w="19050">
              <a:solidFill>
                <a:srgbClr val="5A616B"/>
              </a:solidFill>
            </a:ln>
          </p:spPr>
        </p:cxnSp>
        <p:sp>
          <p:nvSpPr>
            <p:cNvPr id="10" name="fuel name"/>
            <p:cNvSpPr txBox="1"/>
            <p:nvPr/>
          </p:nvSpPr>
          <p:spPr>
            <a:xfrm>
              <a:off x="731520" y="3017520"/>
              <a:ext cx="3017520" cy="411480"/>
            </a:xfrm>
            <a:prstGeom prst="rect">
              <a:avLst/>
            </a:prstGeom>
            <a:noFill/>
          </p:spPr>
          <p:txBody>
            <a:bodyPr wrap="square" lIns="18288" tIns="9144" rIns="18288" bIns="9144" anchor="ctr">
              <a:noAutofit/>
            </a:bodyPr>
            <a:lstStyle/>
            <a:p>
              <a:pPr algn="ctr"/>
              <a:r>
                <a:rPr lang="en-GB" sz="2000" b="1" i="0">
                  <a:solidFill>
                    <a:srgbClr val="F2F2F2"/>
                  </a:solidFill>
                  <a:latin typeface="Arial"/>
                </a:rPr>
                <a:t>Coal</a:t>
              </a:r>
            </a:p>
          </p:txBody>
        </p:sp>
        <p:sp>
          <p:nvSpPr>
            <p:cNvPr id="11" name="bar caption"/>
            <p:cNvSpPr txBox="1"/>
            <p:nvPr/>
          </p:nvSpPr>
          <p:spPr>
            <a:xfrm>
              <a:off x="777240" y="3520440"/>
              <a:ext cx="2926080" cy="274320"/>
            </a:xfrm>
            <a:prstGeom prst="rect">
              <a:avLst/>
            </a:prstGeom>
            <a:noFill/>
          </p:spPr>
          <p:txBody>
            <a:bodyPr wrap="square" lIns="18288" tIns="9144" rIns="18288" bIns="9144" anchor="ctr">
              <a:noAutofit/>
            </a:bodyPr>
            <a:lstStyle/>
            <a:p>
              <a:pPr algn="l"/>
              <a:r>
                <a:rPr lang="en-GB" sz="1400" b="0" i="0">
                  <a:solidFill>
                    <a:srgbClr val="A9B0B8"/>
                  </a:solidFill>
                  <a:latin typeface="Arial"/>
                </a:rPr>
                <a:t>Burn time</a:t>
              </a:r>
            </a:p>
          </p:txBody>
        </p:sp>
        <p:sp>
          <p:nvSpPr>
            <p:cNvPr id="12" name="burn track"/>
            <p:cNvSpPr/>
            <p:nvPr/>
          </p:nvSpPr>
          <p:spPr>
            <a:xfrm>
              <a:off x="777240" y="3840480"/>
              <a:ext cx="2926080" cy="310896"/>
            </a:xfrm>
            <a:prstGeom prst="roundRect">
              <a:avLst>
                <a:gd name="adj" fmla="val 17647"/>
              </a:avLst>
            </a:prstGeom>
            <a:solidFill>
              <a:srgbClr val="343A43"/>
            </a:solidFill>
            <a:ln w="12700">
              <a:solidFill>
                <a:srgbClr val="4A515B"/>
              </a:solidFill>
            </a:ln>
          </p:spPr>
          <p:txBody>
            <a:bodyPr rtlCol="0" anchor="ctr"/>
            <a:lstStyle/>
            <a:p>
              <a:pPr algn="ctr"/>
              <a:endParaRPr/>
            </a:p>
          </p:txBody>
        </p:sp>
        <p:sp>
          <p:nvSpPr>
            <p:cNvPr id="13" name="burn fill"/>
            <p:cNvSpPr/>
            <p:nvPr/>
          </p:nvSpPr>
          <p:spPr>
            <a:xfrm>
              <a:off x="777240" y="3840480"/>
              <a:ext cx="1609344" cy="310896"/>
            </a:xfrm>
            <a:prstGeom prst="roundRect">
              <a:avLst>
                <a:gd name="adj" fmla="val 17647"/>
              </a:avLst>
            </a:prstGeom>
            <a:solidFill>
              <a:srgbClr val="F28C28"/>
            </a:solidFill>
            <a:ln>
              <a:noFill/>
            </a:ln>
          </p:spPr>
          <p:txBody>
            <a:bodyPr rtlCol="0" anchor="ctr"/>
            <a:lstStyle/>
            <a:p>
              <a:pPr algn="ctr"/>
              <a:endParaRPr/>
            </a:p>
          </p:txBody>
        </p:sp>
        <p:sp>
          <p:nvSpPr>
            <p:cNvPr id="14" name="fuel card"/>
            <p:cNvSpPr/>
            <p:nvPr/>
          </p:nvSpPr>
          <p:spPr>
            <a:xfrm>
              <a:off x="4114800" y="1417320"/>
              <a:ext cx="3383280" cy="3200400"/>
            </a:xfrm>
            <a:prstGeom prst="roundRect">
              <a:avLst>
                <a:gd name="adj" fmla="val 2857"/>
              </a:avLst>
            </a:prstGeom>
            <a:solidFill>
              <a:srgbClr val="2B2F36"/>
            </a:solidFill>
            <a:ln>
              <a:noFill/>
            </a:ln>
          </p:spPr>
          <p:txBody>
            <a:bodyPr rtlCol="0" anchor="ctr"/>
            <a:lstStyle/>
            <a:p>
              <a:pPr algn="ctr"/>
              <a:endParaRPr/>
            </a:p>
          </p:txBody>
        </p:sp>
        <p:sp>
          <p:nvSpPr>
            <p:cNvPr id="15" name="compacted block"/>
            <p:cNvSpPr/>
            <p:nvPr/>
          </p:nvSpPr>
          <p:spPr>
            <a:xfrm>
              <a:off x="4892040" y="1783080"/>
              <a:ext cx="1828800" cy="1005840"/>
            </a:xfrm>
            <a:prstGeom prst="roundRect">
              <a:avLst>
                <a:gd name="adj" fmla="val 10909"/>
              </a:avLst>
            </a:prstGeom>
            <a:solidFill>
              <a:srgbClr val="101215"/>
            </a:solidFill>
            <a:ln w="25400">
              <a:solidFill>
                <a:srgbClr val="B5BBC2"/>
              </a:solidFill>
            </a:ln>
          </p:spPr>
          <p:txBody>
            <a:bodyPr rtlCol="0" anchor="ctr"/>
            <a:lstStyle/>
            <a:p>
              <a:pPr algn="ctr"/>
              <a:endParaRPr/>
            </a:p>
          </p:txBody>
        </p:sp>
        <p:cxnSp>
          <p:nvCxnSpPr>
            <p:cNvPr id="16" name="groove"/>
            <p:cNvCxnSpPr/>
            <p:nvPr/>
          </p:nvCxnSpPr>
          <p:spPr>
            <a:xfrm>
              <a:off x="5501944" y="1828800"/>
              <a:ext cx="0" cy="914400"/>
            </a:xfrm>
            <a:prstGeom prst="line">
              <a:avLst/>
            </a:prstGeom>
            <a:ln w="25400">
              <a:solidFill>
                <a:srgbClr val="5A616B"/>
              </a:solidFill>
            </a:ln>
          </p:spPr>
        </p:cxnSp>
        <p:cxnSp>
          <p:nvCxnSpPr>
            <p:cNvPr id="17" name="groove"/>
            <p:cNvCxnSpPr/>
            <p:nvPr/>
          </p:nvCxnSpPr>
          <p:spPr>
            <a:xfrm>
              <a:off x="6111849" y="1828800"/>
              <a:ext cx="0" cy="914400"/>
            </a:xfrm>
            <a:prstGeom prst="line">
              <a:avLst/>
            </a:prstGeom>
            <a:ln w="25400">
              <a:solidFill>
                <a:srgbClr val="5A616B"/>
              </a:solidFill>
            </a:ln>
          </p:spPr>
        </p:cxnSp>
        <p:sp>
          <p:nvSpPr>
            <p:cNvPr id="18" name="fuel name"/>
            <p:cNvSpPr txBox="1"/>
            <p:nvPr/>
          </p:nvSpPr>
          <p:spPr>
            <a:xfrm>
              <a:off x="4297680" y="3017520"/>
              <a:ext cx="3017520" cy="411480"/>
            </a:xfrm>
            <a:prstGeom prst="rect">
              <a:avLst/>
            </a:prstGeom>
            <a:noFill/>
          </p:spPr>
          <p:txBody>
            <a:bodyPr wrap="square" lIns="18288" tIns="9144" rIns="18288" bIns="9144" anchor="ctr">
              <a:noAutofit/>
            </a:bodyPr>
            <a:lstStyle/>
            <a:p>
              <a:pPr algn="ctr"/>
              <a:r>
                <a:rPr lang="en-GB" sz="2000" b="1" i="0">
                  <a:solidFill>
                    <a:srgbClr val="F2F2F2"/>
                  </a:solidFill>
                  <a:latin typeface="Arial"/>
                </a:rPr>
                <a:t>Compacted Coal</a:t>
              </a:r>
            </a:p>
          </p:txBody>
        </p:sp>
        <p:sp>
          <p:nvSpPr>
            <p:cNvPr id="19" name="bar caption"/>
            <p:cNvSpPr txBox="1"/>
            <p:nvPr/>
          </p:nvSpPr>
          <p:spPr>
            <a:xfrm>
              <a:off x="4343400" y="3520440"/>
              <a:ext cx="2926080" cy="274320"/>
            </a:xfrm>
            <a:prstGeom prst="rect">
              <a:avLst/>
            </a:prstGeom>
            <a:noFill/>
          </p:spPr>
          <p:txBody>
            <a:bodyPr wrap="square" lIns="18288" tIns="9144" rIns="18288" bIns="9144" anchor="ctr">
              <a:noAutofit/>
            </a:bodyPr>
            <a:lstStyle/>
            <a:p>
              <a:pPr algn="l"/>
              <a:r>
                <a:rPr lang="en-GB" sz="1400" b="0" i="0">
                  <a:solidFill>
                    <a:srgbClr val="A9B0B8"/>
                  </a:solidFill>
                  <a:latin typeface="Arial"/>
                </a:rPr>
                <a:t>Burn time</a:t>
              </a:r>
            </a:p>
          </p:txBody>
        </p:sp>
        <p:sp>
          <p:nvSpPr>
            <p:cNvPr id="20" name="burn track"/>
            <p:cNvSpPr/>
            <p:nvPr/>
          </p:nvSpPr>
          <p:spPr>
            <a:xfrm>
              <a:off x="4343400" y="3840480"/>
              <a:ext cx="2926080" cy="310896"/>
            </a:xfrm>
            <a:prstGeom prst="roundRect">
              <a:avLst>
                <a:gd name="adj" fmla="val 17647"/>
              </a:avLst>
            </a:prstGeom>
            <a:solidFill>
              <a:srgbClr val="343A43"/>
            </a:solidFill>
            <a:ln w="12700">
              <a:solidFill>
                <a:srgbClr val="4A515B"/>
              </a:solidFill>
            </a:ln>
          </p:spPr>
          <p:txBody>
            <a:bodyPr rtlCol="0" anchor="ctr"/>
            <a:lstStyle/>
            <a:p>
              <a:pPr algn="ctr"/>
              <a:endParaRPr/>
            </a:p>
          </p:txBody>
        </p:sp>
        <p:sp>
          <p:nvSpPr>
            <p:cNvPr id="21" name="burn fill"/>
            <p:cNvSpPr/>
            <p:nvPr/>
          </p:nvSpPr>
          <p:spPr>
            <a:xfrm>
              <a:off x="4343400" y="3840480"/>
              <a:ext cx="2691993" cy="310896"/>
            </a:xfrm>
            <a:prstGeom prst="roundRect">
              <a:avLst>
                <a:gd name="adj" fmla="val 17647"/>
              </a:avLst>
            </a:prstGeom>
            <a:solidFill>
              <a:srgbClr val="F28C28"/>
            </a:solidFill>
            <a:ln>
              <a:noFill/>
            </a:ln>
          </p:spPr>
          <p:txBody>
            <a:bodyPr rtlCol="0" anchor="ctr"/>
            <a:lstStyle/>
            <a:p>
              <a:pPr algn="ctr"/>
              <a:endParaRPr/>
            </a:p>
          </p:txBody>
        </p:sp>
        <p:sp>
          <p:nvSpPr>
            <p:cNvPr id="22" name="scale note"/>
            <p:cNvSpPr txBox="1"/>
            <p:nvPr/>
          </p:nvSpPr>
          <p:spPr>
            <a:xfrm>
              <a:off x="548640" y="4754880"/>
              <a:ext cx="6949440" cy="320040"/>
            </a:xfrm>
            <a:prstGeom prst="rect">
              <a:avLst/>
            </a:prstGeom>
            <a:noFill/>
          </p:spPr>
          <p:txBody>
            <a:bodyPr wrap="square" lIns="18288" tIns="9144" rIns="18288" bIns="9144" anchor="ctr">
              <a:noAutofit/>
            </a:bodyPr>
            <a:lstStyle/>
            <a:p>
              <a:pPr algn="ctr"/>
              <a:r>
                <a:rPr lang="en-GB" sz="1400" b="0" i="0">
                  <a:solidFill>
                    <a:srgbClr val="A9B0B8"/>
                  </a:solidFill>
                  <a:latin typeface="Arial"/>
                </a:rPr>
                <a:t>Not to scale</a:t>
              </a:r>
            </a:p>
          </p:txBody>
        </p:sp>
        <p:sp>
          <p:nvSpPr>
            <p:cNvPr id="23" name="water card"/>
            <p:cNvSpPr/>
            <p:nvPr/>
          </p:nvSpPr>
          <p:spPr>
            <a:xfrm>
              <a:off x="7863840" y="1417320"/>
              <a:ext cx="3776472" cy="3200400"/>
            </a:xfrm>
            <a:prstGeom prst="roundRect">
              <a:avLst>
                <a:gd name="adj" fmla="val 2857"/>
              </a:avLst>
            </a:prstGeom>
            <a:solidFill>
              <a:srgbClr val="2B2F36"/>
            </a:solidFill>
            <a:ln w="19050">
              <a:solidFill>
                <a:srgbClr val="4A515B"/>
              </a:solidFill>
            </a:ln>
          </p:spPr>
          <p:txBody>
            <a:bodyPr rtlCol="0" anchor="ctr"/>
            <a:lstStyle/>
            <a:p>
              <a:pPr algn="ctr"/>
              <a:endParaRPr/>
            </a:p>
          </p:txBody>
        </p:sp>
        <p:sp>
          <p:nvSpPr>
            <p:cNvPr id="24" name="water drop"/>
            <p:cNvSpPr/>
            <p:nvPr/>
          </p:nvSpPr>
          <p:spPr>
            <a:xfrm>
              <a:off x="9130331" y="1645920"/>
              <a:ext cx="1243489" cy="1803196"/>
            </a:xfrm>
            <a:custGeom>
              <a:avLst/>
              <a:gdLst/>
              <a:ahLst/>
              <a:cxnLst/>
              <a:rect l="l" t="t" r="r" b="b"/>
              <a:pathLst>
                <a:path w="1243489" h="1803196">
                  <a:moveTo>
                    <a:pt x="621745" y="0"/>
                  </a:moveTo>
                  <a:lnTo>
                    <a:pt x="1150448" y="854145"/>
                  </a:lnTo>
                  <a:lnTo>
                    <a:pt x="1191359" y="932075"/>
                  </a:lnTo>
                  <a:lnTo>
                    <a:pt x="1220857" y="1015001"/>
                  </a:lnTo>
                  <a:lnTo>
                    <a:pt x="1238350" y="1101261"/>
                  </a:lnTo>
                  <a:lnTo>
                    <a:pt x="1243489" y="1189127"/>
                  </a:lnTo>
                  <a:lnTo>
                    <a:pt x="1236169" y="1276838"/>
                  </a:lnTo>
                  <a:lnTo>
                    <a:pt x="1216539" y="1362637"/>
                  </a:lnTo>
                  <a:lnTo>
                    <a:pt x="1184990" y="1444804"/>
                  </a:lnTo>
                  <a:lnTo>
                    <a:pt x="1142156" y="1521694"/>
                  </a:lnTo>
                  <a:lnTo>
                    <a:pt x="1088894" y="1591766"/>
                  </a:lnTo>
                  <a:lnTo>
                    <a:pt x="1026272" y="1653615"/>
                  </a:lnTo>
                  <a:lnTo>
                    <a:pt x="955545" y="1706002"/>
                  </a:lnTo>
                  <a:lnTo>
                    <a:pt x="878129" y="1747878"/>
                  </a:lnTo>
                  <a:lnTo>
                    <a:pt x="795576" y="1778403"/>
                  </a:lnTo>
                  <a:lnTo>
                    <a:pt x="709540" y="1796967"/>
                  </a:lnTo>
                  <a:lnTo>
                    <a:pt x="621745" y="1803196"/>
                  </a:lnTo>
                  <a:lnTo>
                    <a:pt x="533949" y="1796967"/>
                  </a:lnTo>
                  <a:lnTo>
                    <a:pt x="447913" y="1778403"/>
                  </a:lnTo>
                  <a:lnTo>
                    <a:pt x="365360" y="1747878"/>
                  </a:lnTo>
                  <a:lnTo>
                    <a:pt x="287944" y="1706002"/>
                  </a:lnTo>
                  <a:lnTo>
                    <a:pt x="217217" y="1653615"/>
                  </a:lnTo>
                  <a:lnTo>
                    <a:pt x="154595" y="1591766"/>
                  </a:lnTo>
                  <a:lnTo>
                    <a:pt x="101333" y="1521694"/>
                  </a:lnTo>
                  <a:lnTo>
                    <a:pt x="58499" y="1444804"/>
                  </a:lnTo>
                  <a:lnTo>
                    <a:pt x="26950" y="1362637"/>
                  </a:lnTo>
                  <a:lnTo>
                    <a:pt x="7320" y="1276838"/>
                  </a:lnTo>
                  <a:lnTo>
                    <a:pt x="0" y="1189127"/>
                  </a:lnTo>
                  <a:lnTo>
                    <a:pt x="5139" y="1101261"/>
                  </a:lnTo>
                  <a:lnTo>
                    <a:pt x="22632" y="1015001"/>
                  </a:lnTo>
                  <a:lnTo>
                    <a:pt x="52130" y="932075"/>
                  </a:lnTo>
                  <a:lnTo>
                    <a:pt x="93041" y="854145"/>
                  </a:lnTo>
                  <a:close/>
                </a:path>
              </a:pathLst>
            </a:custGeom>
            <a:solidFill>
              <a:srgbClr val="4DA3FF"/>
            </a:solidFill>
            <a:ln>
              <a:noFill/>
            </a:ln>
          </p:spPr>
          <p:txBody>
            <a:bodyPr rtlCol="0" anchor="ctr"/>
            <a:lstStyle/>
            <a:p>
              <a:pPr algn="ctr"/>
              <a:endParaRPr/>
            </a:p>
          </p:txBody>
        </p:sp>
        <p:sp>
          <p:nvSpPr>
            <p:cNvPr id="25" name="question mark"/>
            <p:cNvSpPr txBox="1"/>
            <p:nvPr/>
          </p:nvSpPr>
          <p:spPr>
            <a:xfrm>
              <a:off x="9203436" y="2331720"/>
              <a:ext cx="1097280" cy="914400"/>
            </a:xfrm>
            <a:prstGeom prst="rect">
              <a:avLst/>
            </a:prstGeom>
            <a:noFill/>
          </p:spPr>
          <p:txBody>
            <a:bodyPr wrap="square" lIns="18288" tIns="9144" rIns="18288" bIns="9144" anchor="ctr">
              <a:noAutofit/>
            </a:bodyPr>
            <a:lstStyle/>
            <a:p>
              <a:pPr algn="ctr"/>
              <a:r>
                <a:rPr lang="en-GB" sz="5400" b="1" i="0">
                  <a:solidFill>
                    <a:srgbClr val="101418"/>
                  </a:solidFill>
                  <a:latin typeface="Arial"/>
                </a:rPr>
                <a:t>?</a:t>
              </a:r>
            </a:p>
          </p:txBody>
        </p:sp>
        <p:sp>
          <p:nvSpPr>
            <p:cNvPr id="26" name="ICHIP TEXT"/>
            <p:cNvSpPr/>
            <p:nvPr/>
          </p:nvSpPr>
          <p:spPr>
            <a:xfrm>
              <a:off x="8092440" y="3886200"/>
              <a:ext cx="3319272" cy="457200"/>
            </a:xfrm>
            <a:prstGeom prst="roundRect">
              <a:avLst>
                <a:gd name="adj" fmla="val 24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Water saving: not established</a:t>
              </a:r>
            </a:p>
          </p:txBody>
        </p:sp>
      </p:grpSp>
      <p:sp>
        <p:nvSpPr>
          <p:cNvPr id="2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8"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9"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Compacted Coal burns more efficiently. Water saving is not assumed.</a:t>
            </a:r>
          </a:p>
        </p:txBody>
      </p:sp>
      <p:sp>
        <p:nvSpPr>
          <p:cNvPr id="30"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11</a:t>
            </a:r>
          </a:p>
        </p:txBody>
      </p:sp>
    </p:spTree>
    <p:extLst>
      <p:ext uri="{BB962C8B-B14F-4D97-AF65-F5344CB8AC3E}">
        <p14:creationId xmlns:p14="http://schemas.microsoft.com/office/powerpoint/2010/main" val="13014084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60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90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steam station</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Steam station plan" descr="Top-down plan of a steam station. A coal conveyor feeds a coal stage and a pipe feeds a water tower. A locomotive stands on the track beside a platform and a signal box. A dashed line marks a large footprint with an exact size that is undecided."/>
          <p:cNvGrpSpPr/>
          <p:nvPr/>
        </p:nvGrpSpPr>
        <p:grpSpPr>
          <a:xfrm>
            <a:off x="685800" y="1783080"/>
            <a:ext cx="10927080" cy="3703320"/>
            <a:chOff x="685800" y="1783080"/>
            <a:chExt cx="10927080" cy="3703320"/>
          </a:xfrm>
        </p:grpSpPr>
        <p:sp>
          <p:nvSpPr>
            <p:cNvPr id="5" name="footprint"/>
            <p:cNvSpPr/>
            <p:nvPr/>
          </p:nvSpPr>
          <p:spPr>
            <a:xfrm>
              <a:off x="685800" y="1783080"/>
              <a:ext cx="8732520" cy="3611880"/>
            </a:xfrm>
            <a:prstGeom prst="roundRect">
              <a:avLst>
                <a:gd name="adj" fmla="val 3797"/>
              </a:avLst>
            </a:prstGeom>
            <a:noFill/>
            <a:ln w="25400">
              <a:solidFill>
                <a:srgbClr val="F28C28"/>
              </a:solidFill>
              <a:prstDash val="dash"/>
            </a:ln>
          </p:spPr>
          <p:txBody>
            <a:bodyPr rtlCol="0" anchor="ctr"/>
            <a:lstStyle/>
            <a:p>
              <a:pPr algn="ctr"/>
              <a:endParaRPr/>
            </a:p>
          </p:txBody>
        </p:sp>
        <p:sp>
          <p:nvSpPr>
            <p:cNvPr id="6" name="footprint label"/>
            <p:cNvSpPr txBox="1"/>
            <p:nvPr/>
          </p:nvSpPr>
          <p:spPr>
            <a:xfrm>
              <a:off x="4206240" y="4864608"/>
              <a:ext cx="5120640" cy="457200"/>
            </a:xfrm>
            <a:prstGeom prst="rect">
              <a:avLst/>
            </a:prstGeom>
            <a:noFill/>
          </p:spPr>
          <p:txBody>
            <a:bodyPr wrap="square" lIns="18288" tIns="9144" rIns="18288" bIns="9144" anchor="ctr">
              <a:noAutofit/>
            </a:bodyPr>
            <a:lstStyle/>
            <a:p>
              <a:pPr algn="r"/>
              <a:r>
                <a:rPr lang="en-GB" sz="1400" b="1" i="0">
                  <a:solidFill>
                    <a:srgbClr val="F28C28"/>
                  </a:solidFill>
                  <a:latin typeface="Arial"/>
                </a:rPr>
                <a:t>Large footprint. Exact size undecided.</a:t>
              </a:r>
            </a:p>
          </p:txBody>
        </p:sp>
        <p:sp>
          <p:nvSpPr>
            <p:cNvPr id="7" name="rail"/>
            <p:cNvSpPr/>
            <p:nvPr/>
          </p:nvSpPr>
          <p:spPr>
            <a:xfrm>
              <a:off x="822960" y="3520440"/>
              <a:ext cx="10607040" cy="64008"/>
            </a:xfrm>
            <a:prstGeom prst="rect">
              <a:avLst/>
            </a:prstGeom>
            <a:solidFill>
              <a:srgbClr val="9AA0A6"/>
            </a:solidFill>
            <a:ln>
              <a:noFill/>
            </a:ln>
          </p:spPr>
          <p:txBody>
            <a:bodyPr rtlCol="0" anchor="ctr"/>
            <a:lstStyle/>
            <a:p>
              <a:pPr algn="ctr"/>
              <a:endParaRPr/>
            </a:p>
          </p:txBody>
        </p:sp>
        <p:sp>
          <p:nvSpPr>
            <p:cNvPr id="8" name="rail"/>
            <p:cNvSpPr/>
            <p:nvPr/>
          </p:nvSpPr>
          <p:spPr>
            <a:xfrm>
              <a:off x="822960" y="3749039"/>
              <a:ext cx="10607040" cy="64008"/>
            </a:xfrm>
            <a:prstGeom prst="rect">
              <a:avLst/>
            </a:prstGeom>
            <a:solidFill>
              <a:srgbClr val="9AA0A6"/>
            </a:solidFill>
            <a:ln>
              <a:noFill/>
            </a:ln>
          </p:spPr>
          <p:txBody>
            <a:bodyPr rtlCol="0" anchor="ctr"/>
            <a:lstStyle/>
            <a:p>
              <a:pPr algn="ctr"/>
              <a:endParaRPr/>
            </a:p>
          </p:txBody>
        </p:sp>
        <p:sp>
          <p:nvSpPr>
            <p:cNvPr id="9" name="sleeper"/>
            <p:cNvSpPr/>
            <p:nvPr/>
          </p:nvSpPr>
          <p:spPr>
            <a:xfrm>
              <a:off x="914400" y="3474720"/>
              <a:ext cx="91440" cy="384048"/>
            </a:xfrm>
            <a:prstGeom prst="rect">
              <a:avLst/>
            </a:prstGeom>
            <a:solidFill>
              <a:srgbClr val="6B5B4B"/>
            </a:solidFill>
            <a:ln>
              <a:noFill/>
            </a:ln>
          </p:spPr>
          <p:txBody>
            <a:bodyPr rtlCol="0" anchor="ctr"/>
            <a:lstStyle/>
            <a:p>
              <a:pPr algn="ctr"/>
              <a:endParaRPr/>
            </a:p>
          </p:txBody>
        </p:sp>
        <p:sp>
          <p:nvSpPr>
            <p:cNvPr id="10" name="sleeper"/>
            <p:cNvSpPr/>
            <p:nvPr/>
          </p:nvSpPr>
          <p:spPr>
            <a:xfrm>
              <a:off x="1271016" y="3474720"/>
              <a:ext cx="91440" cy="384048"/>
            </a:xfrm>
            <a:prstGeom prst="rect">
              <a:avLst/>
            </a:prstGeom>
            <a:solidFill>
              <a:srgbClr val="6B5B4B"/>
            </a:solidFill>
            <a:ln>
              <a:noFill/>
            </a:ln>
          </p:spPr>
          <p:txBody>
            <a:bodyPr rtlCol="0" anchor="ctr"/>
            <a:lstStyle/>
            <a:p>
              <a:pPr algn="ctr"/>
              <a:endParaRPr/>
            </a:p>
          </p:txBody>
        </p:sp>
        <p:sp>
          <p:nvSpPr>
            <p:cNvPr id="11" name="sleeper"/>
            <p:cNvSpPr/>
            <p:nvPr/>
          </p:nvSpPr>
          <p:spPr>
            <a:xfrm>
              <a:off x="1627632" y="3474720"/>
              <a:ext cx="91440" cy="384048"/>
            </a:xfrm>
            <a:prstGeom prst="rect">
              <a:avLst/>
            </a:prstGeom>
            <a:solidFill>
              <a:srgbClr val="6B5B4B"/>
            </a:solidFill>
            <a:ln>
              <a:noFill/>
            </a:ln>
          </p:spPr>
          <p:txBody>
            <a:bodyPr rtlCol="0" anchor="ctr"/>
            <a:lstStyle/>
            <a:p>
              <a:pPr algn="ctr"/>
              <a:endParaRPr/>
            </a:p>
          </p:txBody>
        </p:sp>
        <p:sp>
          <p:nvSpPr>
            <p:cNvPr id="12" name="sleeper"/>
            <p:cNvSpPr/>
            <p:nvPr/>
          </p:nvSpPr>
          <p:spPr>
            <a:xfrm>
              <a:off x="1984248" y="3474720"/>
              <a:ext cx="91440" cy="384048"/>
            </a:xfrm>
            <a:prstGeom prst="rect">
              <a:avLst/>
            </a:prstGeom>
            <a:solidFill>
              <a:srgbClr val="6B5B4B"/>
            </a:solidFill>
            <a:ln>
              <a:noFill/>
            </a:ln>
          </p:spPr>
          <p:txBody>
            <a:bodyPr rtlCol="0" anchor="ctr"/>
            <a:lstStyle/>
            <a:p>
              <a:pPr algn="ctr"/>
              <a:endParaRPr/>
            </a:p>
          </p:txBody>
        </p:sp>
        <p:sp>
          <p:nvSpPr>
            <p:cNvPr id="13" name="sleeper"/>
            <p:cNvSpPr/>
            <p:nvPr/>
          </p:nvSpPr>
          <p:spPr>
            <a:xfrm>
              <a:off x="2340864" y="3474720"/>
              <a:ext cx="91440" cy="384048"/>
            </a:xfrm>
            <a:prstGeom prst="rect">
              <a:avLst/>
            </a:prstGeom>
            <a:solidFill>
              <a:srgbClr val="6B5B4B"/>
            </a:solidFill>
            <a:ln>
              <a:noFill/>
            </a:ln>
          </p:spPr>
          <p:txBody>
            <a:bodyPr rtlCol="0" anchor="ctr"/>
            <a:lstStyle/>
            <a:p>
              <a:pPr algn="ctr"/>
              <a:endParaRPr/>
            </a:p>
          </p:txBody>
        </p:sp>
        <p:sp>
          <p:nvSpPr>
            <p:cNvPr id="14" name="sleeper"/>
            <p:cNvSpPr/>
            <p:nvPr/>
          </p:nvSpPr>
          <p:spPr>
            <a:xfrm>
              <a:off x="2697480" y="3474720"/>
              <a:ext cx="91440" cy="384048"/>
            </a:xfrm>
            <a:prstGeom prst="rect">
              <a:avLst/>
            </a:prstGeom>
            <a:solidFill>
              <a:srgbClr val="6B5B4B"/>
            </a:solidFill>
            <a:ln>
              <a:noFill/>
            </a:ln>
          </p:spPr>
          <p:txBody>
            <a:bodyPr rtlCol="0" anchor="ctr"/>
            <a:lstStyle/>
            <a:p>
              <a:pPr algn="ctr"/>
              <a:endParaRPr/>
            </a:p>
          </p:txBody>
        </p:sp>
        <p:sp>
          <p:nvSpPr>
            <p:cNvPr id="15" name="sleeper"/>
            <p:cNvSpPr/>
            <p:nvPr/>
          </p:nvSpPr>
          <p:spPr>
            <a:xfrm>
              <a:off x="3054096" y="3474720"/>
              <a:ext cx="91440" cy="384048"/>
            </a:xfrm>
            <a:prstGeom prst="rect">
              <a:avLst/>
            </a:prstGeom>
            <a:solidFill>
              <a:srgbClr val="6B5B4B"/>
            </a:solidFill>
            <a:ln>
              <a:noFill/>
            </a:ln>
          </p:spPr>
          <p:txBody>
            <a:bodyPr rtlCol="0" anchor="ctr"/>
            <a:lstStyle/>
            <a:p>
              <a:pPr algn="ctr"/>
              <a:endParaRPr/>
            </a:p>
          </p:txBody>
        </p:sp>
        <p:sp>
          <p:nvSpPr>
            <p:cNvPr id="16" name="sleeper"/>
            <p:cNvSpPr/>
            <p:nvPr/>
          </p:nvSpPr>
          <p:spPr>
            <a:xfrm>
              <a:off x="3410712" y="3474720"/>
              <a:ext cx="91440" cy="384048"/>
            </a:xfrm>
            <a:prstGeom prst="rect">
              <a:avLst/>
            </a:prstGeom>
            <a:solidFill>
              <a:srgbClr val="6B5B4B"/>
            </a:solidFill>
            <a:ln>
              <a:noFill/>
            </a:ln>
          </p:spPr>
          <p:txBody>
            <a:bodyPr rtlCol="0" anchor="ctr"/>
            <a:lstStyle/>
            <a:p>
              <a:pPr algn="ctr"/>
              <a:endParaRPr/>
            </a:p>
          </p:txBody>
        </p:sp>
        <p:sp>
          <p:nvSpPr>
            <p:cNvPr id="17" name="sleeper"/>
            <p:cNvSpPr/>
            <p:nvPr/>
          </p:nvSpPr>
          <p:spPr>
            <a:xfrm>
              <a:off x="3767328" y="3474720"/>
              <a:ext cx="91440" cy="384048"/>
            </a:xfrm>
            <a:prstGeom prst="rect">
              <a:avLst/>
            </a:prstGeom>
            <a:solidFill>
              <a:srgbClr val="6B5B4B"/>
            </a:solidFill>
            <a:ln>
              <a:noFill/>
            </a:ln>
          </p:spPr>
          <p:txBody>
            <a:bodyPr rtlCol="0" anchor="ctr"/>
            <a:lstStyle/>
            <a:p>
              <a:pPr algn="ctr"/>
              <a:endParaRPr/>
            </a:p>
          </p:txBody>
        </p:sp>
        <p:sp>
          <p:nvSpPr>
            <p:cNvPr id="18" name="sleeper"/>
            <p:cNvSpPr/>
            <p:nvPr/>
          </p:nvSpPr>
          <p:spPr>
            <a:xfrm>
              <a:off x="4123944" y="3474720"/>
              <a:ext cx="91440" cy="384048"/>
            </a:xfrm>
            <a:prstGeom prst="rect">
              <a:avLst/>
            </a:prstGeom>
            <a:solidFill>
              <a:srgbClr val="6B5B4B"/>
            </a:solidFill>
            <a:ln>
              <a:noFill/>
            </a:ln>
          </p:spPr>
          <p:txBody>
            <a:bodyPr rtlCol="0" anchor="ctr"/>
            <a:lstStyle/>
            <a:p>
              <a:pPr algn="ctr"/>
              <a:endParaRPr/>
            </a:p>
          </p:txBody>
        </p:sp>
        <p:sp>
          <p:nvSpPr>
            <p:cNvPr id="19" name="sleeper"/>
            <p:cNvSpPr/>
            <p:nvPr/>
          </p:nvSpPr>
          <p:spPr>
            <a:xfrm>
              <a:off x="4480560" y="3474720"/>
              <a:ext cx="91440" cy="384048"/>
            </a:xfrm>
            <a:prstGeom prst="rect">
              <a:avLst/>
            </a:prstGeom>
            <a:solidFill>
              <a:srgbClr val="6B5B4B"/>
            </a:solidFill>
            <a:ln>
              <a:noFill/>
            </a:ln>
          </p:spPr>
          <p:txBody>
            <a:bodyPr rtlCol="0" anchor="ctr"/>
            <a:lstStyle/>
            <a:p>
              <a:pPr algn="ctr"/>
              <a:endParaRPr/>
            </a:p>
          </p:txBody>
        </p:sp>
        <p:sp>
          <p:nvSpPr>
            <p:cNvPr id="20" name="sleeper"/>
            <p:cNvSpPr/>
            <p:nvPr/>
          </p:nvSpPr>
          <p:spPr>
            <a:xfrm>
              <a:off x="4837176" y="3474720"/>
              <a:ext cx="91440" cy="384048"/>
            </a:xfrm>
            <a:prstGeom prst="rect">
              <a:avLst/>
            </a:prstGeom>
            <a:solidFill>
              <a:srgbClr val="6B5B4B"/>
            </a:solidFill>
            <a:ln>
              <a:noFill/>
            </a:ln>
          </p:spPr>
          <p:txBody>
            <a:bodyPr rtlCol="0" anchor="ctr"/>
            <a:lstStyle/>
            <a:p>
              <a:pPr algn="ctr"/>
              <a:endParaRPr/>
            </a:p>
          </p:txBody>
        </p:sp>
        <p:sp>
          <p:nvSpPr>
            <p:cNvPr id="21" name="sleeper"/>
            <p:cNvSpPr/>
            <p:nvPr/>
          </p:nvSpPr>
          <p:spPr>
            <a:xfrm>
              <a:off x="5193792" y="3474720"/>
              <a:ext cx="91440" cy="384048"/>
            </a:xfrm>
            <a:prstGeom prst="rect">
              <a:avLst/>
            </a:prstGeom>
            <a:solidFill>
              <a:srgbClr val="6B5B4B"/>
            </a:solidFill>
            <a:ln>
              <a:noFill/>
            </a:ln>
          </p:spPr>
          <p:txBody>
            <a:bodyPr rtlCol="0" anchor="ctr"/>
            <a:lstStyle/>
            <a:p>
              <a:pPr algn="ctr"/>
              <a:endParaRPr/>
            </a:p>
          </p:txBody>
        </p:sp>
        <p:sp>
          <p:nvSpPr>
            <p:cNvPr id="22" name="sleeper"/>
            <p:cNvSpPr/>
            <p:nvPr/>
          </p:nvSpPr>
          <p:spPr>
            <a:xfrm>
              <a:off x="5550408" y="3474720"/>
              <a:ext cx="91440" cy="384048"/>
            </a:xfrm>
            <a:prstGeom prst="rect">
              <a:avLst/>
            </a:prstGeom>
            <a:solidFill>
              <a:srgbClr val="6B5B4B"/>
            </a:solidFill>
            <a:ln>
              <a:noFill/>
            </a:ln>
          </p:spPr>
          <p:txBody>
            <a:bodyPr rtlCol="0" anchor="ctr"/>
            <a:lstStyle/>
            <a:p>
              <a:pPr algn="ctr"/>
              <a:endParaRPr/>
            </a:p>
          </p:txBody>
        </p:sp>
        <p:sp>
          <p:nvSpPr>
            <p:cNvPr id="23" name="sleeper"/>
            <p:cNvSpPr/>
            <p:nvPr/>
          </p:nvSpPr>
          <p:spPr>
            <a:xfrm>
              <a:off x="5907024" y="3474720"/>
              <a:ext cx="91440" cy="384048"/>
            </a:xfrm>
            <a:prstGeom prst="rect">
              <a:avLst/>
            </a:prstGeom>
            <a:solidFill>
              <a:srgbClr val="6B5B4B"/>
            </a:solidFill>
            <a:ln>
              <a:noFill/>
            </a:ln>
          </p:spPr>
          <p:txBody>
            <a:bodyPr rtlCol="0" anchor="ctr"/>
            <a:lstStyle/>
            <a:p>
              <a:pPr algn="ctr"/>
              <a:endParaRPr/>
            </a:p>
          </p:txBody>
        </p:sp>
        <p:sp>
          <p:nvSpPr>
            <p:cNvPr id="24" name="sleeper"/>
            <p:cNvSpPr/>
            <p:nvPr/>
          </p:nvSpPr>
          <p:spPr>
            <a:xfrm>
              <a:off x="6263640" y="3474720"/>
              <a:ext cx="91440" cy="384048"/>
            </a:xfrm>
            <a:prstGeom prst="rect">
              <a:avLst/>
            </a:prstGeom>
            <a:solidFill>
              <a:srgbClr val="6B5B4B"/>
            </a:solidFill>
            <a:ln>
              <a:noFill/>
            </a:ln>
          </p:spPr>
          <p:txBody>
            <a:bodyPr rtlCol="0" anchor="ctr"/>
            <a:lstStyle/>
            <a:p>
              <a:pPr algn="ctr"/>
              <a:endParaRPr/>
            </a:p>
          </p:txBody>
        </p:sp>
        <p:sp>
          <p:nvSpPr>
            <p:cNvPr id="25" name="sleeper"/>
            <p:cNvSpPr/>
            <p:nvPr/>
          </p:nvSpPr>
          <p:spPr>
            <a:xfrm>
              <a:off x="6620256" y="3474720"/>
              <a:ext cx="91440" cy="384048"/>
            </a:xfrm>
            <a:prstGeom prst="rect">
              <a:avLst/>
            </a:prstGeom>
            <a:solidFill>
              <a:srgbClr val="6B5B4B"/>
            </a:solidFill>
            <a:ln>
              <a:noFill/>
            </a:ln>
          </p:spPr>
          <p:txBody>
            <a:bodyPr rtlCol="0" anchor="ctr"/>
            <a:lstStyle/>
            <a:p>
              <a:pPr algn="ctr"/>
              <a:endParaRPr/>
            </a:p>
          </p:txBody>
        </p:sp>
        <p:sp>
          <p:nvSpPr>
            <p:cNvPr id="26" name="sleeper"/>
            <p:cNvSpPr/>
            <p:nvPr/>
          </p:nvSpPr>
          <p:spPr>
            <a:xfrm>
              <a:off x="6976872" y="3474720"/>
              <a:ext cx="91440" cy="384048"/>
            </a:xfrm>
            <a:prstGeom prst="rect">
              <a:avLst/>
            </a:prstGeom>
            <a:solidFill>
              <a:srgbClr val="6B5B4B"/>
            </a:solidFill>
            <a:ln>
              <a:noFill/>
            </a:ln>
          </p:spPr>
          <p:txBody>
            <a:bodyPr rtlCol="0" anchor="ctr"/>
            <a:lstStyle/>
            <a:p>
              <a:pPr algn="ctr"/>
              <a:endParaRPr/>
            </a:p>
          </p:txBody>
        </p:sp>
        <p:sp>
          <p:nvSpPr>
            <p:cNvPr id="27" name="sleeper"/>
            <p:cNvSpPr/>
            <p:nvPr/>
          </p:nvSpPr>
          <p:spPr>
            <a:xfrm>
              <a:off x="7333488" y="3474720"/>
              <a:ext cx="91440" cy="384048"/>
            </a:xfrm>
            <a:prstGeom prst="rect">
              <a:avLst/>
            </a:prstGeom>
            <a:solidFill>
              <a:srgbClr val="6B5B4B"/>
            </a:solidFill>
            <a:ln>
              <a:noFill/>
            </a:ln>
          </p:spPr>
          <p:txBody>
            <a:bodyPr rtlCol="0" anchor="ctr"/>
            <a:lstStyle/>
            <a:p>
              <a:pPr algn="ctr"/>
              <a:endParaRPr/>
            </a:p>
          </p:txBody>
        </p:sp>
        <p:sp>
          <p:nvSpPr>
            <p:cNvPr id="28" name="sleeper"/>
            <p:cNvSpPr/>
            <p:nvPr/>
          </p:nvSpPr>
          <p:spPr>
            <a:xfrm>
              <a:off x="7690104" y="3474720"/>
              <a:ext cx="91440" cy="384048"/>
            </a:xfrm>
            <a:prstGeom prst="rect">
              <a:avLst/>
            </a:prstGeom>
            <a:solidFill>
              <a:srgbClr val="6B5B4B"/>
            </a:solidFill>
            <a:ln>
              <a:noFill/>
            </a:ln>
          </p:spPr>
          <p:txBody>
            <a:bodyPr rtlCol="0" anchor="ctr"/>
            <a:lstStyle/>
            <a:p>
              <a:pPr algn="ctr"/>
              <a:endParaRPr/>
            </a:p>
          </p:txBody>
        </p:sp>
        <p:sp>
          <p:nvSpPr>
            <p:cNvPr id="29" name="sleeper"/>
            <p:cNvSpPr/>
            <p:nvPr/>
          </p:nvSpPr>
          <p:spPr>
            <a:xfrm>
              <a:off x="8046720" y="3474720"/>
              <a:ext cx="91440" cy="384048"/>
            </a:xfrm>
            <a:prstGeom prst="rect">
              <a:avLst/>
            </a:prstGeom>
            <a:solidFill>
              <a:srgbClr val="6B5B4B"/>
            </a:solidFill>
            <a:ln>
              <a:noFill/>
            </a:ln>
          </p:spPr>
          <p:txBody>
            <a:bodyPr rtlCol="0" anchor="ctr"/>
            <a:lstStyle/>
            <a:p>
              <a:pPr algn="ctr"/>
              <a:endParaRPr/>
            </a:p>
          </p:txBody>
        </p:sp>
        <p:sp>
          <p:nvSpPr>
            <p:cNvPr id="30" name="sleeper"/>
            <p:cNvSpPr/>
            <p:nvPr/>
          </p:nvSpPr>
          <p:spPr>
            <a:xfrm>
              <a:off x="8403336" y="3474720"/>
              <a:ext cx="91440" cy="384048"/>
            </a:xfrm>
            <a:prstGeom prst="rect">
              <a:avLst/>
            </a:prstGeom>
            <a:solidFill>
              <a:srgbClr val="6B5B4B"/>
            </a:solidFill>
            <a:ln>
              <a:noFill/>
            </a:ln>
          </p:spPr>
          <p:txBody>
            <a:bodyPr rtlCol="0" anchor="ctr"/>
            <a:lstStyle/>
            <a:p>
              <a:pPr algn="ctr"/>
              <a:endParaRPr/>
            </a:p>
          </p:txBody>
        </p:sp>
        <p:sp>
          <p:nvSpPr>
            <p:cNvPr id="31" name="sleeper"/>
            <p:cNvSpPr/>
            <p:nvPr/>
          </p:nvSpPr>
          <p:spPr>
            <a:xfrm>
              <a:off x="8759952" y="3474720"/>
              <a:ext cx="91440" cy="384048"/>
            </a:xfrm>
            <a:prstGeom prst="rect">
              <a:avLst/>
            </a:prstGeom>
            <a:solidFill>
              <a:srgbClr val="6B5B4B"/>
            </a:solidFill>
            <a:ln>
              <a:noFill/>
            </a:ln>
          </p:spPr>
          <p:txBody>
            <a:bodyPr rtlCol="0" anchor="ctr"/>
            <a:lstStyle/>
            <a:p>
              <a:pPr algn="ctr"/>
              <a:endParaRPr/>
            </a:p>
          </p:txBody>
        </p:sp>
        <p:sp>
          <p:nvSpPr>
            <p:cNvPr id="32" name="sleeper"/>
            <p:cNvSpPr/>
            <p:nvPr/>
          </p:nvSpPr>
          <p:spPr>
            <a:xfrm>
              <a:off x="9116568" y="3474720"/>
              <a:ext cx="91440" cy="384048"/>
            </a:xfrm>
            <a:prstGeom prst="rect">
              <a:avLst/>
            </a:prstGeom>
            <a:solidFill>
              <a:srgbClr val="6B5B4B"/>
            </a:solidFill>
            <a:ln>
              <a:noFill/>
            </a:ln>
          </p:spPr>
          <p:txBody>
            <a:bodyPr rtlCol="0" anchor="ctr"/>
            <a:lstStyle/>
            <a:p>
              <a:pPr algn="ctr"/>
              <a:endParaRPr/>
            </a:p>
          </p:txBody>
        </p:sp>
        <p:sp>
          <p:nvSpPr>
            <p:cNvPr id="33" name="sleeper"/>
            <p:cNvSpPr/>
            <p:nvPr/>
          </p:nvSpPr>
          <p:spPr>
            <a:xfrm>
              <a:off x="9473184" y="3474720"/>
              <a:ext cx="91440" cy="384048"/>
            </a:xfrm>
            <a:prstGeom prst="rect">
              <a:avLst/>
            </a:prstGeom>
            <a:solidFill>
              <a:srgbClr val="6B5B4B"/>
            </a:solidFill>
            <a:ln>
              <a:noFill/>
            </a:ln>
          </p:spPr>
          <p:txBody>
            <a:bodyPr rtlCol="0" anchor="ctr"/>
            <a:lstStyle/>
            <a:p>
              <a:pPr algn="ctr"/>
              <a:endParaRPr/>
            </a:p>
          </p:txBody>
        </p:sp>
        <p:sp>
          <p:nvSpPr>
            <p:cNvPr id="34" name="sleeper"/>
            <p:cNvSpPr/>
            <p:nvPr/>
          </p:nvSpPr>
          <p:spPr>
            <a:xfrm>
              <a:off x="9829800" y="3474720"/>
              <a:ext cx="91440" cy="384048"/>
            </a:xfrm>
            <a:prstGeom prst="rect">
              <a:avLst/>
            </a:prstGeom>
            <a:solidFill>
              <a:srgbClr val="6B5B4B"/>
            </a:solidFill>
            <a:ln>
              <a:noFill/>
            </a:ln>
          </p:spPr>
          <p:txBody>
            <a:bodyPr rtlCol="0" anchor="ctr"/>
            <a:lstStyle/>
            <a:p>
              <a:pPr algn="ctr"/>
              <a:endParaRPr/>
            </a:p>
          </p:txBody>
        </p:sp>
        <p:sp>
          <p:nvSpPr>
            <p:cNvPr id="35" name="sleeper"/>
            <p:cNvSpPr/>
            <p:nvPr/>
          </p:nvSpPr>
          <p:spPr>
            <a:xfrm>
              <a:off x="10186416" y="3474720"/>
              <a:ext cx="91440" cy="384048"/>
            </a:xfrm>
            <a:prstGeom prst="rect">
              <a:avLst/>
            </a:prstGeom>
            <a:solidFill>
              <a:srgbClr val="6B5B4B"/>
            </a:solidFill>
            <a:ln>
              <a:noFill/>
            </a:ln>
          </p:spPr>
          <p:txBody>
            <a:bodyPr rtlCol="0" anchor="ctr"/>
            <a:lstStyle/>
            <a:p>
              <a:pPr algn="ctr"/>
              <a:endParaRPr/>
            </a:p>
          </p:txBody>
        </p:sp>
        <p:sp>
          <p:nvSpPr>
            <p:cNvPr id="36" name="sleeper"/>
            <p:cNvSpPr/>
            <p:nvPr/>
          </p:nvSpPr>
          <p:spPr>
            <a:xfrm>
              <a:off x="10543032" y="3474720"/>
              <a:ext cx="91440" cy="384048"/>
            </a:xfrm>
            <a:prstGeom prst="rect">
              <a:avLst/>
            </a:prstGeom>
            <a:solidFill>
              <a:srgbClr val="6B5B4B"/>
            </a:solidFill>
            <a:ln>
              <a:noFill/>
            </a:ln>
          </p:spPr>
          <p:txBody>
            <a:bodyPr rtlCol="0" anchor="ctr"/>
            <a:lstStyle/>
            <a:p>
              <a:pPr algn="ctr"/>
              <a:endParaRPr/>
            </a:p>
          </p:txBody>
        </p:sp>
        <p:sp>
          <p:nvSpPr>
            <p:cNvPr id="37" name="sleeper"/>
            <p:cNvSpPr/>
            <p:nvPr/>
          </p:nvSpPr>
          <p:spPr>
            <a:xfrm>
              <a:off x="10899648" y="3474720"/>
              <a:ext cx="91440" cy="384048"/>
            </a:xfrm>
            <a:prstGeom prst="rect">
              <a:avLst/>
            </a:prstGeom>
            <a:solidFill>
              <a:srgbClr val="6B5B4B"/>
            </a:solidFill>
            <a:ln>
              <a:noFill/>
            </a:ln>
          </p:spPr>
          <p:txBody>
            <a:bodyPr rtlCol="0" anchor="ctr"/>
            <a:lstStyle/>
            <a:p>
              <a:pPr algn="ctr"/>
              <a:endParaRPr/>
            </a:p>
          </p:txBody>
        </p:sp>
        <p:sp>
          <p:nvSpPr>
            <p:cNvPr id="38" name="sleeper"/>
            <p:cNvSpPr/>
            <p:nvPr/>
          </p:nvSpPr>
          <p:spPr>
            <a:xfrm>
              <a:off x="11256264" y="3474720"/>
              <a:ext cx="91440" cy="384048"/>
            </a:xfrm>
            <a:prstGeom prst="rect">
              <a:avLst/>
            </a:prstGeom>
            <a:solidFill>
              <a:srgbClr val="6B5B4B"/>
            </a:solidFill>
            <a:ln>
              <a:noFill/>
            </a:ln>
          </p:spPr>
          <p:txBody>
            <a:bodyPr rtlCol="0" anchor="ctr"/>
            <a:lstStyle/>
            <a:p>
              <a:pPr algn="ctr"/>
              <a:endParaRPr/>
            </a:p>
          </p:txBody>
        </p:sp>
        <p:sp>
          <p:nvSpPr>
            <p:cNvPr id="39" name="platform"/>
            <p:cNvSpPr/>
            <p:nvPr/>
          </p:nvSpPr>
          <p:spPr>
            <a:xfrm>
              <a:off x="4114800" y="3977639"/>
              <a:ext cx="3291840" cy="457200"/>
            </a:xfrm>
            <a:prstGeom prst="rect">
              <a:avLst/>
            </a:prstGeom>
            <a:solidFill>
              <a:srgbClr val="343A43"/>
            </a:solidFill>
            <a:ln w="19050">
              <a:solidFill>
                <a:srgbClr val="9AA0A6"/>
              </a:solidFill>
            </a:ln>
          </p:spPr>
          <p:txBody>
            <a:bodyPr wrap="square" lIns="54864" tIns="27432" rIns="54864" bIns="27432" rtlCol="0" anchor="ctr">
              <a:noAutofit/>
            </a:bodyPr>
            <a:lstStyle/>
            <a:p>
              <a:pPr algn="ctr"/>
              <a:r>
                <a:rPr lang="en-GB" sz="1400" b="0" i="0">
                  <a:solidFill>
                    <a:srgbClr val="F2F2F2"/>
                  </a:solidFill>
                  <a:latin typeface="Arial"/>
                </a:rPr>
                <a:t>Platform and cargo loading</a:t>
              </a:r>
            </a:p>
          </p:txBody>
        </p:sp>
        <p:sp>
          <p:nvSpPr>
            <p:cNvPr id="40" name="signal box"/>
            <p:cNvSpPr/>
            <p:nvPr/>
          </p:nvSpPr>
          <p:spPr>
            <a:xfrm>
              <a:off x="2011680" y="4160520"/>
              <a:ext cx="1371600" cy="1005840"/>
            </a:xfrm>
            <a:prstGeom prst="rect">
              <a:avLst/>
            </a:prstGeom>
            <a:solidFill>
              <a:srgbClr val="343A43"/>
            </a:solidFill>
            <a:ln w="19050">
              <a:solidFill>
                <a:srgbClr val="9AA0A6"/>
              </a:solidFill>
            </a:ln>
          </p:spPr>
          <p:txBody>
            <a:bodyPr wrap="square" lIns="54864" tIns="27432" rIns="54864" bIns="27432" rtlCol="0" anchor="ctr">
              <a:noAutofit/>
            </a:bodyPr>
            <a:lstStyle/>
            <a:p>
              <a:pPr algn="ctr"/>
              <a:r>
                <a:rPr lang="en-GB" sz="1400" b="0" i="0">
                  <a:solidFill>
                    <a:srgbClr val="F2F2F2"/>
                  </a:solidFill>
                  <a:latin typeface="Arial"/>
                </a:rPr>
                <a:t>Signal box</a:t>
              </a:r>
            </a:p>
          </p:txBody>
        </p:sp>
        <p:cxnSp>
          <p:nvCxnSpPr>
            <p:cNvPr id="41" name="roof line"/>
            <p:cNvCxnSpPr/>
            <p:nvPr/>
          </p:nvCxnSpPr>
          <p:spPr>
            <a:xfrm flipV="1">
              <a:off x="2011680" y="4160520"/>
              <a:ext cx="1371600" cy="228600"/>
            </a:xfrm>
            <a:prstGeom prst="line">
              <a:avLst/>
            </a:prstGeom>
            <a:ln w="19050">
              <a:solidFill>
                <a:srgbClr val="9AA0A6"/>
              </a:solidFill>
            </a:ln>
          </p:spPr>
        </p:cxnSp>
        <p:sp>
          <p:nvSpPr>
            <p:cNvPr id="42" name="coal stage"/>
            <p:cNvSpPr/>
            <p:nvPr/>
          </p:nvSpPr>
          <p:spPr>
            <a:xfrm>
              <a:off x="5120640" y="2148840"/>
              <a:ext cx="1645920" cy="822960"/>
            </a:xfrm>
            <a:prstGeom prst="rect">
              <a:avLst/>
            </a:prstGeom>
            <a:solidFill>
              <a:srgbClr val="343A43"/>
            </a:solidFill>
            <a:ln w="19050">
              <a:solidFill>
                <a:srgbClr val="9AA0A6"/>
              </a:solidFill>
            </a:ln>
          </p:spPr>
          <p:txBody>
            <a:bodyPr wrap="square" lIns="54864" tIns="27432" rIns="54864" bIns="27432" rtlCol="0" anchor="ctr">
              <a:noAutofit/>
            </a:bodyPr>
            <a:lstStyle/>
            <a:p>
              <a:pPr algn="ctr"/>
              <a:r>
                <a:rPr lang="en-GB" sz="1400" b="0" i="0">
                  <a:solidFill>
                    <a:srgbClr val="F2F2F2"/>
                  </a:solidFill>
                  <a:latin typeface="Arial"/>
                </a:rPr>
                <a:t>Coal stage</a:t>
              </a:r>
            </a:p>
          </p:txBody>
        </p:sp>
        <p:cxnSp>
          <p:nvCxnSpPr>
            <p:cNvPr id="43" name="conveyor"/>
            <p:cNvCxnSpPr/>
            <p:nvPr/>
          </p:nvCxnSpPr>
          <p:spPr>
            <a:xfrm>
              <a:off x="914400" y="2560320"/>
              <a:ext cx="4206240" cy="0"/>
            </a:xfrm>
            <a:prstGeom prst="line">
              <a:avLst/>
            </a:prstGeom>
            <a:ln w="38100">
              <a:solidFill>
                <a:srgbClr val="9AA0A6"/>
              </a:solidFill>
              <a:prstDash val="dash"/>
              <a:tailEnd type="triangle" w="med" len="med"/>
            </a:ln>
          </p:spPr>
        </p:cxnSp>
        <p:sp>
          <p:nvSpPr>
            <p:cNvPr id="44" name="conveyor label"/>
            <p:cNvSpPr txBox="1"/>
            <p:nvPr/>
          </p:nvSpPr>
          <p:spPr>
            <a:xfrm>
              <a:off x="914400" y="2176272"/>
              <a:ext cx="3108960" cy="320040"/>
            </a:xfrm>
            <a:prstGeom prst="rect">
              <a:avLst/>
            </a:prstGeom>
            <a:noFill/>
          </p:spPr>
          <p:txBody>
            <a:bodyPr wrap="square" lIns="18288" tIns="9144" rIns="18288" bIns="9144" anchor="ctr">
              <a:noAutofit/>
            </a:bodyPr>
            <a:lstStyle/>
            <a:p>
              <a:pPr algn="l"/>
              <a:r>
                <a:rPr lang="en-GB" sz="1400" b="1" i="0">
                  <a:solidFill>
                    <a:srgbClr val="F2F2F2"/>
                  </a:solidFill>
                  <a:latin typeface="Arial"/>
                </a:rPr>
                <a:t>Conveyor: coal in</a:t>
              </a:r>
            </a:p>
          </p:txBody>
        </p:sp>
        <p:cxnSp>
          <p:nvCxnSpPr>
            <p:cNvPr id="45" name="chute"/>
            <p:cNvCxnSpPr/>
            <p:nvPr/>
          </p:nvCxnSpPr>
          <p:spPr>
            <a:xfrm>
              <a:off x="5943600" y="2971800"/>
              <a:ext cx="0" cy="521208"/>
            </a:xfrm>
            <a:prstGeom prst="line">
              <a:avLst/>
            </a:prstGeom>
            <a:ln w="38100">
              <a:solidFill>
                <a:srgbClr val="9AA0A6"/>
              </a:solidFill>
            </a:ln>
          </p:spPr>
        </p:cxnSp>
        <p:sp>
          <p:nvSpPr>
            <p:cNvPr id="46" name="water tower"/>
            <p:cNvSpPr/>
            <p:nvPr/>
          </p:nvSpPr>
          <p:spPr>
            <a:xfrm>
              <a:off x="7863840" y="2103120"/>
              <a:ext cx="914400" cy="914400"/>
            </a:xfrm>
            <a:prstGeom prst="ellipse">
              <a:avLst/>
            </a:prstGeom>
            <a:solidFill>
              <a:srgbClr val="4DA3FF"/>
            </a:solidFill>
            <a:ln w="19050">
              <a:solidFill>
                <a:srgbClr val="F2F2F2"/>
              </a:solidFill>
            </a:ln>
          </p:spPr>
          <p:txBody>
            <a:bodyPr wrap="square" lIns="0" tIns="0" rIns="0" bIns="0" rtlCol="0" anchor="ctr">
              <a:noAutofit/>
            </a:bodyPr>
            <a:lstStyle/>
            <a:p>
              <a:pPr algn="ctr"/>
              <a:r>
                <a:rPr lang="en-GB" sz="1400" b="1" i="0">
                  <a:solidFill>
                    <a:srgbClr val="101418"/>
                  </a:solidFill>
                  <a:latin typeface="Arial"/>
                </a:rPr>
                <a:t>Water tower</a:t>
              </a:r>
            </a:p>
          </p:txBody>
        </p:sp>
        <p:cxnSp>
          <p:nvCxnSpPr>
            <p:cNvPr id="47" name="crane"/>
            <p:cNvCxnSpPr/>
            <p:nvPr/>
          </p:nvCxnSpPr>
          <p:spPr>
            <a:xfrm flipH="1">
              <a:off x="7040880" y="3017520"/>
              <a:ext cx="1280160" cy="475488"/>
            </a:xfrm>
            <a:prstGeom prst="line">
              <a:avLst/>
            </a:prstGeom>
            <a:ln w="38100">
              <a:solidFill>
                <a:srgbClr val="4DA3FF"/>
              </a:solidFill>
            </a:ln>
          </p:spPr>
        </p:cxnSp>
        <p:cxnSp>
          <p:nvCxnSpPr>
            <p:cNvPr id="48" name="water pipe"/>
            <p:cNvCxnSpPr/>
            <p:nvPr/>
          </p:nvCxnSpPr>
          <p:spPr>
            <a:xfrm flipH="1">
              <a:off x="8778240" y="2880360"/>
              <a:ext cx="2651760" cy="0"/>
            </a:xfrm>
            <a:prstGeom prst="line">
              <a:avLst/>
            </a:prstGeom>
            <a:ln w="63500">
              <a:solidFill>
                <a:srgbClr val="4DA3FF"/>
              </a:solidFill>
            </a:ln>
          </p:spPr>
        </p:cxnSp>
        <p:sp>
          <p:nvSpPr>
            <p:cNvPr id="49" name="pipe label"/>
            <p:cNvSpPr txBox="1"/>
            <p:nvPr/>
          </p:nvSpPr>
          <p:spPr>
            <a:xfrm>
              <a:off x="9509760" y="2926080"/>
              <a:ext cx="1920240" cy="320040"/>
            </a:xfrm>
            <a:prstGeom prst="rect">
              <a:avLst/>
            </a:prstGeom>
            <a:noFill/>
          </p:spPr>
          <p:txBody>
            <a:bodyPr wrap="square" lIns="18288" tIns="9144" rIns="18288" bIns="9144" anchor="ctr">
              <a:noAutofit/>
            </a:bodyPr>
            <a:lstStyle/>
            <a:p>
              <a:pPr algn="r"/>
              <a:r>
                <a:rPr lang="en-GB" sz="1400" b="1" i="0">
                  <a:solidFill>
                    <a:srgbClr val="F2F2F2"/>
                  </a:solidFill>
                  <a:latin typeface="Arial"/>
                </a:rPr>
                <a:t>Pipe: water in</a:t>
              </a:r>
            </a:p>
          </p:txBody>
        </p:sp>
        <p:sp>
          <p:nvSpPr>
            <p:cNvPr id="50" name="locomotive"/>
            <p:cNvSpPr/>
            <p:nvPr/>
          </p:nvSpPr>
          <p:spPr>
            <a:xfrm>
              <a:off x="5394960" y="3511296"/>
              <a:ext cx="2194560" cy="320040"/>
            </a:xfrm>
            <a:prstGeom prst="roundRect">
              <a:avLst>
                <a:gd name="adj" fmla="val 28571"/>
              </a:avLst>
            </a:prstGeom>
            <a:solidFill>
              <a:srgbClr val="F28C28"/>
            </a:solidFill>
            <a:ln>
              <a:noFill/>
            </a:ln>
          </p:spPr>
          <p:txBody>
            <a:bodyPr rtlCol="0" anchor="ctr"/>
            <a:lstStyle/>
            <a:p>
              <a:pPr algn="ctr"/>
              <a:endParaRPr/>
            </a:p>
          </p:txBody>
        </p:sp>
        <p:sp>
          <p:nvSpPr>
            <p:cNvPr id="51" name="coal bunker mark"/>
            <p:cNvSpPr/>
            <p:nvPr/>
          </p:nvSpPr>
          <p:spPr>
            <a:xfrm>
              <a:off x="5852160" y="3566160"/>
              <a:ext cx="201168" cy="201168"/>
            </a:xfrm>
            <a:prstGeom prst="ellipse">
              <a:avLst/>
            </a:prstGeom>
            <a:solidFill>
              <a:srgbClr val="1B1D21"/>
            </a:solidFill>
            <a:ln w="19050">
              <a:solidFill>
                <a:srgbClr val="F2F2F2"/>
              </a:solidFill>
            </a:ln>
          </p:spPr>
          <p:txBody>
            <a:bodyPr rtlCol="0" anchor="ctr"/>
            <a:lstStyle/>
            <a:p>
              <a:pPr algn="ctr"/>
              <a:endParaRPr/>
            </a:p>
          </p:txBody>
        </p:sp>
        <p:sp>
          <p:nvSpPr>
            <p:cNvPr id="52" name="water hatch mark"/>
            <p:cNvSpPr/>
            <p:nvPr/>
          </p:nvSpPr>
          <p:spPr>
            <a:xfrm>
              <a:off x="6949440" y="3566160"/>
              <a:ext cx="201168" cy="201168"/>
            </a:xfrm>
            <a:prstGeom prst="ellipse">
              <a:avLst/>
            </a:prstGeom>
            <a:solidFill>
              <a:srgbClr val="4DA3FF"/>
            </a:solidFill>
            <a:ln w="19050">
              <a:solidFill>
                <a:srgbClr val="F2F2F2"/>
              </a:solidFill>
            </a:ln>
          </p:spPr>
          <p:txBody>
            <a:bodyPr rtlCol="0" anchor="ctr"/>
            <a:lstStyle/>
            <a:p>
              <a:pPr algn="ctr"/>
              <a:endParaRPr/>
            </a:p>
          </p:txBody>
        </p:sp>
        <p:sp>
          <p:nvSpPr>
            <p:cNvPr id="53" name="vanilla station"/>
            <p:cNvSpPr/>
            <p:nvPr/>
          </p:nvSpPr>
          <p:spPr>
            <a:xfrm>
              <a:off x="9646920" y="4617720"/>
              <a:ext cx="1965960" cy="868680"/>
            </a:xfrm>
            <a:prstGeom prst="rect">
              <a:avLst/>
            </a:prstGeom>
            <a:solidFill>
              <a:srgbClr val="343A43"/>
            </a:solidFill>
            <a:ln w="19050">
              <a:solidFill>
                <a:srgbClr val="9AA0A6"/>
              </a:solidFill>
            </a:ln>
          </p:spPr>
          <p:txBody>
            <a:bodyPr wrap="square" lIns="54864" tIns="27432" rIns="54864" bIns="27432" rtlCol="0" anchor="ctr">
              <a:noAutofit/>
            </a:bodyPr>
            <a:lstStyle/>
            <a:p>
              <a:pPr algn="ctr"/>
              <a:r>
                <a:rPr lang="en-GB" sz="1400" b="0" i="0">
                  <a:solidFill>
                    <a:srgbClr val="F2F2F2"/>
                  </a:solidFill>
                  <a:latin typeface="Arial"/>
                </a:rPr>
                <a:t>Vanilla station (for comparison)</a:t>
              </a:r>
            </a:p>
          </p:txBody>
        </p:sp>
      </p:grpSp>
      <p:pic>
        <p:nvPicPr>
          <p:cNvPr id="54" name="P17_coal_stage_water_tank_didcot" descr="A coal stage and a water tank at Didcot Railway Centre."/>
          <p:cNvPicPr>
            <a:picLocks noChangeAspect="1"/>
          </p:cNvPicPr>
          <p:nvPr/>
        </p:nvPicPr>
        <p:blipFill>
          <a:blip r:embed="rId2"/>
          <a:srcRect l="222" r="222"/>
          <a:stretch>
            <a:fillRect/>
          </a:stretch>
        </p:blipFill>
        <p:spPr>
          <a:xfrm>
            <a:off x="9646920" y="1325880"/>
            <a:ext cx="1993392" cy="1124712"/>
          </a:xfrm>
          <a:prstGeom prst="roundRect">
            <a:avLst>
              <a:gd name="adj" fmla="val 6504"/>
            </a:avLst>
          </a:prstGeom>
        </p:spPr>
      </p:pic>
      <p:sp>
        <p:nvSpPr>
          <p:cNvPr id="55" name="CREDIT"/>
          <p:cNvSpPr txBox="1"/>
          <p:nvPr/>
        </p:nvSpPr>
        <p:spPr>
          <a:xfrm>
            <a:off x="9646920" y="2468880"/>
            <a:ext cx="1993392" cy="219456"/>
          </a:xfrm>
          <a:prstGeom prst="rect">
            <a:avLst/>
          </a:prstGeom>
          <a:noFill/>
        </p:spPr>
        <p:txBody>
          <a:bodyPr wrap="square" lIns="0" tIns="0" rIns="0" bIns="0" anchor="t">
            <a:noAutofit/>
          </a:bodyPr>
          <a:lstStyle/>
          <a:p>
            <a:pPr algn="l"/>
            <a:r>
              <a:rPr lang="en-GB" sz="1000" b="0" i="0">
                <a:solidFill>
                  <a:srgbClr val="A9B0B8"/>
                </a:solidFill>
                <a:latin typeface="Arial"/>
              </a:rPr>
              <a:t>Rosser1954, CC BY-SA 4.0</a:t>
            </a:r>
          </a:p>
        </p:txBody>
      </p:sp>
      <p:sp>
        <p:nvSpPr>
          <p:cNvPr id="5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5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58"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 steam station is big. It has a water tower, coal loading, a signal box and a platform.</a:t>
            </a:r>
          </a:p>
        </p:txBody>
      </p:sp>
      <p:sp>
        <p:nvSpPr>
          <p:cNvPr id="59"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12</a:t>
            </a:r>
          </a:p>
        </p:txBody>
      </p:sp>
    </p:spTree>
    <p:extLst>
      <p:ext uri="{BB962C8B-B14F-4D97-AF65-F5344CB8AC3E}">
        <p14:creationId xmlns:p14="http://schemas.microsoft.com/office/powerpoint/2010/main" val="42457475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par>
                                <p:cTn id="11" presetID="10" presetClass="entr" presetSubtype="0" fill="hold" nodeType="withEffect">
                                  <p:stCondLst>
                                    <p:cond delay="60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500"/>
                                        <p:tgtEl>
                                          <p:spTgt spid="56"/>
                                        </p:tgtEl>
                                      </p:cBhvr>
                                    </p:animEffect>
                                  </p:childTnLst>
                                </p:cTn>
                              </p:par>
                              <p:par>
                                <p:cTn id="14" presetID="10" presetClass="entr" presetSubtype="0" fill="hold" nodeType="withEffect">
                                  <p:stCondLst>
                                    <p:cond delay="900"/>
                                  </p:stCondLst>
                                  <p:childTnLst>
                                    <p:set>
                                      <p:cBhvr>
                                        <p:cTn id="15" dur="1" fill="hold">
                                          <p:stCondLst>
                                            <p:cond delay="0"/>
                                          </p:stCondLst>
                                        </p:cTn>
                                        <p:tgtEl>
                                          <p:spTgt spid="57"/>
                                        </p:tgtEl>
                                        <p:attrNameLst>
                                          <p:attrName>style.visibility</p:attrName>
                                        </p:attrNameLst>
                                      </p:cBhvr>
                                      <p:to>
                                        <p:strVal val="visible"/>
                                      </p:to>
                                    </p:set>
                                    <p:animEffect transition="in" filter="fade">
                                      <p:cBhvr>
                                        <p:cTn id="16" dur="500"/>
                                        <p:tgtEl>
                                          <p:spTgt spid="57"/>
                                        </p:tgtEl>
                                      </p:cBhvr>
                                    </p:animEffect>
                                  </p:childTnLst>
                                </p:cTn>
                              </p:par>
                              <p:par>
                                <p:cTn id="17" presetID="10" presetClass="entr" presetSubtype="0" fill="hold" nodeType="withEffect">
                                  <p:stCondLst>
                                    <p:cond delay="120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Big on purpose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wo station footprints" descr="A large dashed footprint for a steam station holds four blocks: water, coal, signal box and platform. Beside it a much smaller solid rectangle shows a vanilla station."/>
          <p:cNvGrpSpPr/>
          <p:nvPr/>
        </p:nvGrpSpPr>
        <p:grpSpPr>
          <a:xfrm>
            <a:off x="731520" y="1463040"/>
            <a:ext cx="10515600" cy="4114800"/>
            <a:chOff x="731520" y="1463040"/>
            <a:chExt cx="10515600" cy="4114800"/>
          </a:xfrm>
        </p:grpSpPr>
        <p:sp>
          <p:nvSpPr>
            <p:cNvPr id="5" name="steam footprint"/>
            <p:cNvSpPr/>
            <p:nvPr/>
          </p:nvSpPr>
          <p:spPr>
            <a:xfrm>
              <a:off x="731520" y="1463040"/>
              <a:ext cx="7589520" cy="3657600"/>
            </a:xfrm>
            <a:prstGeom prst="roundRect">
              <a:avLst>
                <a:gd name="adj" fmla="val 3750"/>
              </a:avLst>
            </a:prstGeom>
            <a:noFill/>
            <a:ln w="31750">
              <a:solidFill>
                <a:srgbClr val="F28C28"/>
              </a:solidFill>
              <a:prstDash val="dash"/>
            </a:ln>
          </p:spPr>
          <p:txBody>
            <a:bodyPr rtlCol="0" anchor="ctr"/>
            <a:lstStyle/>
            <a:p>
              <a:pPr algn="ctr"/>
              <a:endParaRPr/>
            </a:p>
          </p:txBody>
        </p:sp>
        <p:sp>
          <p:nvSpPr>
            <p:cNvPr id="6" name="footprint title"/>
            <p:cNvSpPr txBox="1"/>
            <p:nvPr/>
          </p:nvSpPr>
          <p:spPr>
            <a:xfrm>
              <a:off x="914400" y="1536192"/>
              <a:ext cx="3657600" cy="411480"/>
            </a:xfrm>
            <a:prstGeom prst="rect">
              <a:avLst/>
            </a:prstGeom>
            <a:noFill/>
          </p:spPr>
          <p:txBody>
            <a:bodyPr wrap="square" lIns="18288" tIns="9144" rIns="18288" bIns="9144" anchor="ctr">
              <a:noAutofit/>
            </a:bodyPr>
            <a:lstStyle/>
            <a:p>
              <a:pPr algn="l"/>
              <a:r>
                <a:rPr lang="en-GB" sz="1800" b="1" i="0">
                  <a:solidFill>
                    <a:srgbClr val="F28C28"/>
                  </a:solidFill>
                  <a:latin typeface="Arial"/>
                </a:rPr>
                <a:t>Steam station</a:t>
              </a:r>
            </a:p>
          </p:txBody>
        </p:sp>
        <p:sp>
          <p:nvSpPr>
            <p:cNvPr id="7" name="block"/>
            <p:cNvSpPr/>
            <p:nvPr/>
          </p:nvSpPr>
          <p:spPr>
            <a:xfrm>
              <a:off x="1051560" y="2103120"/>
              <a:ext cx="3383280" cy="1234440"/>
            </a:xfrm>
            <a:prstGeom prst="roundRect">
              <a:avLst>
                <a:gd name="adj" fmla="val 5925"/>
              </a:avLst>
            </a:prstGeom>
            <a:solidFill>
              <a:srgbClr val="4DA3FF"/>
            </a:solidFill>
            <a:ln w="19050">
              <a:solidFill>
                <a:srgbClr val="F2F2F2"/>
              </a:solidFill>
            </a:ln>
          </p:spPr>
          <p:txBody>
            <a:bodyPr wrap="square" lIns="54864" tIns="27432" rIns="54864" bIns="27432" rtlCol="0" anchor="ctr">
              <a:noAutofit/>
            </a:bodyPr>
            <a:lstStyle/>
            <a:p>
              <a:pPr algn="ctr"/>
              <a:r>
                <a:rPr lang="en-GB" sz="1800" b="1" i="0">
                  <a:solidFill>
                    <a:srgbClr val="101418"/>
                  </a:solidFill>
                  <a:latin typeface="Arial"/>
                </a:rPr>
                <a:t>Water</a:t>
              </a:r>
            </a:p>
          </p:txBody>
        </p:sp>
        <p:sp>
          <p:nvSpPr>
            <p:cNvPr id="8" name="block"/>
            <p:cNvSpPr/>
            <p:nvPr/>
          </p:nvSpPr>
          <p:spPr>
            <a:xfrm>
              <a:off x="4709160" y="2103120"/>
              <a:ext cx="3383280" cy="1234440"/>
            </a:xfrm>
            <a:prstGeom prst="roundRect">
              <a:avLst>
                <a:gd name="adj" fmla="val 5925"/>
              </a:avLst>
            </a:prstGeom>
            <a:solidFill>
              <a:srgbClr val="1B1D21"/>
            </a:solidFill>
            <a:ln w="19050">
              <a:solidFill>
                <a:srgbClr val="9AA0A6"/>
              </a:solidFill>
            </a:ln>
          </p:spPr>
          <p:txBody>
            <a:bodyPr wrap="square" lIns="54864" tIns="27432" rIns="54864" bIns="27432" rtlCol="0" anchor="ctr">
              <a:noAutofit/>
            </a:bodyPr>
            <a:lstStyle/>
            <a:p>
              <a:pPr algn="ctr"/>
              <a:r>
                <a:rPr lang="en-GB" sz="1800" b="1" i="0">
                  <a:solidFill>
                    <a:srgbClr val="F2F2F2"/>
                  </a:solidFill>
                  <a:latin typeface="Arial"/>
                </a:rPr>
                <a:t>Coal</a:t>
              </a:r>
            </a:p>
          </p:txBody>
        </p:sp>
        <p:sp>
          <p:nvSpPr>
            <p:cNvPr id="9" name="block"/>
            <p:cNvSpPr/>
            <p:nvPr/>
          </p:nvSpPr>
          <p:spPr>
            <a:xfrm>
              <a:off x="1051560" y="3566160"/>
              <a:ext cx="3383280" cy="1234440"/>
            </a:xfrm>
            <a:prstGeom prst="roundRect">
              <a:avLst>
                <a:gd name="adj" fmla="val 5925"/>
              </a:avLst>
            </a:prstGeom>
            <a:solidFill>
              <a:srgbClr val="343A43"/>
            </a:solidFill>
            <a:ln w="19050">
              <a:solidFill>
                <a:srgbClr val="9AA0A6"/>
              </a:solidFill>
            </a:ln>
          </p:spPr>
          <p:txBody>
            <a:bodyPr wrap="square" lIns="54864" tIns="27432" rIns="54864" bIns="27432" rtlCol="0" anchor="ctr">
              <a:noAutofit/>
            </a:bodyPr>
            <a:lstStyle/>
            <a:p>
              <a:pPr algn="ctr"/>
              <a:r>
                <a:rPr lang="en-GB" sz="1800" b="1" i="0">
                  <a:solidFill>
                    <a:srgbClr val="F2F2F2"/>
                  </a:solidFill>
                  <a:latin typeface="Arial"/>
                </a:rPr>
                <a:t>Signal box</a:t>
              </a:r>
            </a:p>
          </p:txBody>
        </p:sp>
        <p:sp>
          <p:nvSpPr>
            <p:cNvPr id="10" name="block"/>
            <p:cNvSpPr/>
            <p:nvPr/>
          </p:nvSpPr>
          <p:spPr>
            <a:xfrm>
              <a:off x="4709160" y="3566160"/>
              <a:ext cx="3383280" cy="1234440"/>
            </a:xfrm>
            <a:prstGeom prst="roundRect">
              <a:avLst>
                <a:gd name="adj" fmla="val 5925"/>
              </a:avLst>
            </a:prstGeom>
            <a:solidFill>
              <a:srgbClr val="343A43"/>
            </a:solidFill>
            <a:ln w="19050">
              <a:solidFill>
                <a:srgbClr val="9AA0A6"/>
              </a:solidFill>
            </a:ln>
          </p:spPr>
          <p:txBody>
            <a:bodyPr wrap="square" lIns="54864" tIns="27432" rIns="54864" bIns="27432" rtlCol="0" anchor="ctr">
              <a:noAutofit/>
            </a:bodyPr>
            <a:lstStyle/>
            <a:p>
              <a:pPr algn="ctr"/>
              <a:r>
                <a:rPr lang="en-GB" sz="1800" b="1" i="0">
                  <a:solidFill>
                    <a:srgbClr val="F2F2F2"/>
                  </a:solidFill>
                  <a:latin typeface="Arial"/>
                </a:rPr>
                <a:t>Platform</a:t>
              </a:r>
            </a:p>
          </p:txBody>
        </p:sp>
        <p:sp>
          <p:nvSpPr>
            <p:cNvPr id="11" name="vanilla footprint"/>
            <p:cNvSpPr/>
            <p:nvPr/>
          </p:nvSpPr>
          <p:spPr>
            <a:xfrm>
              <a:off x="9144000" y="3840480"/>
              <a:ext cx="2103120" cy="1280160"/>
            </a:xfrm>
            <a:prstGeom prst="rect">
              <a:avLst/>
            </a:prstGeom>
            <a:solidFill>
              <a:srgbClr val="343A43"/>
            </a:solidFill>
            <a:ln w="25400">
              <a:solidFill>
                <a:srgbClr val="9AA0A6"/>
              </a:solidFill>
            </a:ln>
          </p:spPr>
          <p:txBody>
            <a:bodyPr wrap="square" lIns="54864" tIns="27432" rIns="54864" bIns="27432" rtlCol="0" anchor="ctr">
              <a:noAutofit/>
            </a:bodyPr>
            <a:lstStyle/>
            <a:p>
              <a:pPr algn="ctr"/>
              <a:r>
                <a:rPr lang="en-GB" sz="1600" b="1" i="0">
                  <a:solidFill>
                    <a:srgbClr val="F2F2F2"/>
                  </a:solidFill>
                  <a:latin typeface="Arial"/>
                </a:rPr>
                <a:t>Vanilla station</a:t>
              </a:r>
            </a:p>
          </p:txBody>
        </p:sp>
        <p:sp>
          <p:nvSpPr>
            <p:cNvPr id="12" name="size note"/>
            <p:cNvSpPr txBox="1"/>
            <p:nvPr/>
          </p:nvSpPr>
          <p:spPr>
            <a:xfrm>
              <a:off x="731520" y="5212080"/>
              <a:ext cx="7589520" cy="365760"/>
            </a:xfrm>
            <a:prstGeom prst="rect">
              <a:avLst/>
            </a:prstGeom>
            <a:noFill/>
          </p:spPr>
          <p:txBody>
            <a:bodyPr wrap="square" lIns="18288" tIns="9144" rIns="18288" bIns="9144" anchor="ctr">
              <a:noAutofit/>
            </a:bodyPr>
            <a:lstStyle/>
            <a:p>
              <a:pPr algn="ctr"/>
              <a:r>
                <a:rPr lang="en-GB" sz="1800" b="0" i="0">
                  <a:solidFill>
                    <a:srgbClr val="A9B0B8"/>
                  </a:solidFill>
                  <a:latin typeface="Arial"/>
                </a:rPr>
                <a:t>Exact sizes: undecided (OQ09)</a:t>
              </a:r>
            </a:p>
          </p:txBody>
        </p:sp>
      </p:grpSp>
      <p:sp>
        <p:nvSpPr>
          <p:cNvPr id="1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5"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Steam technology is cheap in materials but costs land and buildings. That is the price.</a:t>
            </a:r>
          </a:p>
        </p:txBody>
      </p:sp>
      <p:sp>
        <p:nvSpPr>
          <p:cNvPr id="1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13</a:t>
            </a:r>
          </a:p>
        </p:txBody>
      </p:sp>
    </p:spTree>
    <p:extLst>
      <p:ext uri="{BB962C8B-B14F-4D97-AF65-F5344CB8AC3E}">
        <p14:creationId xmlns:p14="http://schemas.microsoft.com/office/powerpoint/2010/main" val="22484926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6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9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Servicing takes time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Servicing steps" descr="Nine steps in two rows: approach slowly, settle in, long steam hiss, coal chutes, water arm swings, find the hatches, tanks fill, machinery folds away, depart. Below, a long bar for empty tanks and a short bar for a small top-up."/>
          <p:cNvGrpSpPr/>
          <p:nvPr/>
        </p:nvGrpSpPr>
        <p:grpSpPr>
          <a:xfrm>
            <a:off x="548640" y="1325880"/>
            <a:ext cx="11109960" cy="4389120"/>
            <a:chOff x="548640" y="1325880"/>
            <a:chExt cx="11109960" cy="4389120"/>
          </a:xfrm>
        </p:grpSpPr>
        <p:sp>
          <p:nvSpPr>
            <p:cNvPr id="5" name="step card"/>
            <p:cNvSpPr/>
            <p:nvPr/>
          </p:nvSpPr>
          <p:spPr>
            <a:xfrm>
              <a:off x="548640" y="1325880"/>
              <a:ext cx="2011680"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cxnSp>
          <p:nvCxnSpPr>
            <p:cNvPr id="6" name="icon approach"/>
            <p:cNvCxnSpPr/>
            <p:nvPr/>
          </p:nvCxnSpPr>
          <p:spPr>
            <a:xfrm>
              <a:off x="1371600" y="1783080"/>
              <a:ext cx="640080" cy="0"/>
            </a:xfrm>
            <a:prstGeom prst="line">
              <a:avLst/>
            </a:prstGeom>
            <a:ln w="50800">
              <a:solidFill>
                <a:srgbClr val="F28C28"/>
              </a:solidFill>
              <a:tailEnd type="triangle" w="med" len="med"/>
            </a:ln>
          </p:spPr>
        </p:cxnSp>
        <p:sp>
          <p:nvSpPr>
            <p:cNvPr id="7" name="badge"/>
            <p:cNvSpPr/>
            <p:nvPr/>
          </p:nvSpPr>
          <p:spPr>
            <a:xfrm>
              <a:off x="658368" y="1435608"/>
              <a:ext cx="365760" cy="36576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1</a:t>
              </a:r>
            </a:p>
          </p:txBody>
        </p:sp>
        <p:sp>
          <p:nvSpPr>
            <p:cNvPr id="8" name="step label"/>
            <p:cNvSpPr txBox="1"/>
            <p:nvPr/>
          </p:nvSpPr>
          <p:spPr>
            <a:xfrm>
              <a:off x="621792" y="2103120"/>
              <a:ext cx="1865376" cy="548640"/>
            </a:xfrm>
            <a:prstGeom prst="rect">
              <a:avLst/>
            </a:prstGeom>
            <a:noFill/>
          </p:spPr>
          <p:txBody>
            <a:bodyPr wrap="square" lIns="18288" tIns="9144" rIns="18288" bIns="9144" anchor="ctr">
              <a:noAutofit/>
            </a:bodyPr>
            <a:lstStyle/>
            <a:p>
              <a:pPr algn="ctr"/>
              <a:r>
                <a:rPr lang="en-GB" sz="1400" b="1" i="0">
                  <a:solidFill>
                    <a:srgbClr val="F2F2F2"/>
                  </a:solidFill>
                  <a:latin typeface="Arial"/>
                </a:rPr>
                <a:t>Approach slowly</a:t>
              </a:r>
            </a:p>
          </p:txBody>
        </p:sp>
        <p:sp>
          <p:nvSpPr>
            <p:cNvPr id="9" name="step card"/>
            <p:cNvSpPr/>
            <p:nvPr/>
          </p:nvSpPr>
          <p:spPr>
            <a:xfrm>
              <a:off x="2816352" y="1325880"/>
              <a:ext cx="2011680"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cxnSp>
          <p:nvCxnSpPr>
            <p:cNvPr id="10" name="icon dock"/>
            <p:cNvCxnSpPr/>
            <p:nvPr/>
          </p:nvCxnSpPr>
          <p:spPr>
            <a:xfrm>
              <a:off x="3639312" y="1581912"/>
              <a:ext cx="0" cy="402336"/>
            </a:xfrm>
            <a:prstGeom prst="line">
              <a:avLst/>
            </a:prstGeom>
            <a:ln w="38100">
              <a:solidFill>
                <a:srgbClr val="9AA0A6"/>
              </a:solidFill>
            </a:ln>
          </p:spPr>
        </p:cxnSp>
        <p:cxnSp>
          <p:nvCxnSpPr>
            <p:cNvPr id="11" name="icon dock"/>
            <p:cNvCxnSpPr/>
            <p:nvPr/>
          </p:nvCxnSpPr>
          <p:spPr>
            <a:xfrm>
              <a:off x="3639312" y="1984248"/>
              <a:ext cx="640080" cy="0"/>
            </a:xfrm>
            <a:prstGeom prst="line">
              <a:avLst/>
            </a:prstGeom>
            <a:ln w="38100">
              <a:solidFill>
                <a:srgbClr val="9AA0A6"/>
              </a:solidFill>
            </a:ln>
          </p:spPr>
        </p:cxnSp>
        <p:cxnSp>
          <p:nvCxnSpPr>
            <p:cNvPr id="12" name="icon dock"/>
            <p:cNvCxnSpPr/>
            <p:nvPr/>
          </p:nvCxnSpPr>
          <p:spPr>
            <a:xfrm flipV="1">
              <a:off x="4279392" y="1581912"/>
              <a:ext cx="0" cy="402336"/>
            </a:xfrm>
            <a:prstGeom prst="line">
              <a:avLst/>
            </a:prstGeom>
            <a:ln w="38100">
              <a:solidFill>
                <a:srgbClr val="9AA0A6"/>
              </a:solidFill>
            </a:ln>
          </p:spPr>
        </p:cxnSp>
        <p:sp>
          <p:nvSpPr>
            <p:cNvPr id="13" name="icon engine"/>
            <p:cNvSpPr/>
            <p:nvPr/>
          </p:nvSpPr>
          <p:spPr>
            <a:xfrm>
              <a:off x="3776472" y="1737360"/>
              <a:ext cx="365760" cy="201168"/>
            </a:xfrm>
            <a:prstGeom prst="roundRect">
              <a:avLst>
                <a:gd name="adj" fmla="val 22727"/>
              </a:avLst>
            </a:prstGeom>
            <a:solidFill>
              <a:srgbClr val="F28C28"/>
            </a:solidFill>
            <a:ln>
              <a:noFill/>
            </a:ln>
          </p:spPr>
          <p:txBody>
            <a:bodyPr rtlCol="0" anchor="ctr"/>
            <a:lstStyle/>
            <a:p>
              <a:pPr algn="ctr"/>
              <a:endParaRPr/>
            </a:p>
          </p:txBody>
        </p:sp>
        <p:sp>
          <p:nvSpPr>
            <p:cNvPr id="14" name="badge"/>
            <p:cNvSpPr/>
            <p:nvPr/>
          </p:nvSpPr>
          <p:spPr>
            <a:xfrm>
              <a:off x="2926079" y="1435608"/>
              <a:ext cx="365760" cy="36576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2</a:t>
              </a:r>
            </a:p>
          </p:txBody>
        </p:sp>
        <p:sp>
          <p:nvSpPr>
            <p:cNvPr id="15" name="step label"/>
            <p:cNvSpPr txBox="1"/>
            <p:nvPr/>
          </p:nvSpPr>
          <p:spPr>
            <a:xfrm>
              <a:off x="2889504" y="2103120"/>
              <a:ext cx="1865376" cy="548640"/>
            </a:xfrm>
            <a:prstGeom prst="rect">
              <a:avLst/>
            </a:prstGeom>
            <a:noFill/>
          </p:spPr>
          <p:txBody>
            <a:bodyPr wrap="square" lIns="18288" tIns="9144" rIns="18288" bIns="9144" anchor="ctr">
              <a:noAutofit/>
            </a:bodyPr>
            <a:lstStyle/>
            <a:p>
              <a:pPr algn="ctr"/>
              <a:r>
                <a:rPr lang="en-GB" sz="1400" b="1" i="0">
                  <a:solidFill>
                    <a:srgbClr val="F2F2F2"/>
                  </a:solidFill>
                  <a:latin typeface="Arial"/>
                </a:rPr>
                <a:t>Settle in</a:t>
              </a:r>
            </a:p>
          </p:txBody>
        </p:sp>
        <p:sp>
          <p:nvSpPr>
            <p:cNvPr id="16" name="step card"/>
            <p:cNvSpPr/>
            <p:nvPr/>
          </p:nvSpPr>
          <p:spPr>
            <a:xfrm>
              <a:off x="5084064" y="1325880"/>
              <a:ext cx="2011680"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sp>
          <p:nvSpPr>
            <p:cNvPr id="17" name="icon steam"/>
            <p:cNvSpPr/>
            <p:nvPr/>
          </p:nvSpPr>
          <p:spPr>
            <a:xfrm>
              <a:off x="5907024" y="1810511"/>
              <a:ext cx="237744" cy="164592"/>
            </a:xfrm>
            <a:prstGeom prst="ellipse">
              <a:avLst/>
            </a:prstGeom>
            <a:solidFill>
              <a:srgbClr val="F2F2F2">
                <a:alpha val="85000"/>
              </a:srgbClr>
            </a:solidFill>
            <a:ln>
              <a:noFill/>
            </a:ln>
          </p:spPr>
          <p:txBody>
            <a:bodyPr rtlCol="0" anchor="ctr"/>
            <a:lstStyle/>
            <a:p>
              <a:pPr algn="ctr"/>
              <a:endParaRPr/>
            </a:p>
          </p:txBody>
        </p:sp>
        <p:sp>
          <p:nvSpPr>
            <p:cNvPr id="18" name="icon steam"/>
            <p:cNvSpPr/>
            <p:nvPr/>
          </p:nvSpPr>
          <p:spPr>
            <a:xfrm>
              <a:off x="6071616" y="1682495"/>
              <a:ext cx="310896" cy="164592"/>
            </a:xfrm>
            <a:prstGeom prst="ellipse">
              <a:avLst/>
            </a:prstGeom>
            <a:solidFill>
              <a:srgbClr val="F2F2F2">
                <a:alpha val="85000"/>
              </a:srgbClr>
            </a:solidFill>
            <a:ln>
              <a:noFill/>
            </a:ln>
          </p:spPr>
          <p:txBody>
            <a:bodyPr rtlCol="0" anchor="ctr"/>
            <a:lstStyle/>
            <a:p>
              <a:pPr algn="ctr"/>
              <a:endParaRPr/>
            </a:p>
          </p:txBody>
        </p:sp>
        <p:sp>
          <p:nvSpPr>
            <p:cNvPr id="19" name="icon steam"/>
            <p:cNvSpPr/>
            <p:nvPr/>
          </p:nvSpPr>
          <p:spPr>
            <a:xfrm>
              <a:off x="6236207" y="1554480"/>
              <a:ext cx="384048" cy="164592"/>
            </a:xfrm>
            <a:prstGeom prst="ellipse">
              <a:avLst/>
            </a:prstGeom>
            <a:solidFill>
              <a:srgbClr val="F2F2F2">
                <a:alpha val="85000"/>
              </a:srgbClr>
            </a:solidFill>
            <a:ln>
              <a:noFill/>
            </a:ln>
          </p:spPr>
          <p:txBody>
            <a:bodyPr rtlCol="0" anchor="ctr"/>
            <a:lstStyle/>
            <a:p>
              <a:pPr algn="ctr"/>
              <a:endParaRPr/>
            </a:p>
          </p:txBody>
        </p:sp>
        <p:sp>
          <p:nvSpPr>
            <p:cNvPr id="20" name="badge"/>
            <p:cNvSpPr/>
            <p:nvPr/>
          </p:nvSpPr>
          <p:spPr>
            <a:xfrm>
              <a:off x="5193792" y="1435608"/>
              <a:ext cx="365760" cy="36576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3</a:t>
              </a:r>
            </a:p>
          </p:txBody>
        </p:sp>
        <p:sp>
          <p:nvSpPr>
            <p:cNvPr id="21" name="step label"/>
            <p:cNvSpPr txBox="1"/>
            <p:nvPr/>
          </p:nvSpPr>
          <p:spPr>
            <a:xfrm>
              <a:off x="5157216" y="2103120"/>
              <a:ext cx="1865376" cy="548640"/>
            </a:xfrm>
            <a:prstGeom prst="rect">
              <a:avLst/>
            </a:prstGeom>
            <a:noFill/>
          </p:spPr>
          <p:txBody>
            <a:bodyPr wrap="square" lIns="18288" tIns="9144" rIns="18288" bIns="9144" anchor="ctr">
              <a:noAutofit/>
            </a:bodyPr>
            <a:lstStyle/>
            <a:p>
              <a:pPr algn="ctr"/>
              <a:r>
                <a:rPr lang="en-GB" sz="1400" b="1" i="0">
                  <a:solidFill>
                    <a:srgbClr val="F2F2F2"/>
                  </a:solidFill>
                  <a:latin typeface="Arial"/>
                </a:rPr>
                <a:t>Long steam hiss</a:t>
              </a:r>
            </a:p>
          </p:txBody>
        </p:sp>
        <p:sp>
          <p:nvSpPr>
            <p:cNvPr id="22" name="step card"/>
            <p:cNvSpPr/>
            <p:nvPr/>
          </p:nvSpPr>
          <p:spPr>
            <a:xfrm>
              <a:off x="7351775" y="1325880"/>
              <a:ext cx="2011680"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sp>
          <p:nvSpPr>
            <p:cNvPr id="23" name="icon chute"/>
            <p:cNvSpPr/>
            <p:nvPr/>
          </p:nvSpPr>
          <p:spPr>
            <a:xfrm>
              <a:off x="8174736" y="1554480"/>
              <a:ext cx="411479" cy="411480"/>
            </a:xfrm>
            <a:custGeom>
              <a:avLst/>
              <a:gdLst/>
              <a:ahLst/>
              <a:cxnLst/>
              <a:rect l="l" t="t" r="r" b="b"/>
              <a:pathLst>
                <a:path w="411479" h="411480">
                  <a:moveTo>
                    <a:pt x="0" y="0"/>
                  </a:moveTo>
                  <a:lnTo>
                    <a:pt x="411479" y="320039"/>
                  </a:lnTo>
                  <a:lnTo>
                    <a:pt x="411479" y="411480"/>
                  </a:lnTo>
                  <a:lnTo>
                    <a:pt x="0" y="91440"/>
                  </a:lnTo>
                  <a:close/>
                </a:path>
              </a:pathLst>
            </a:custGeom>
            <a:solidFill>
              <a:srgbClr val="9AA0A6"/>
            </a:solidFill>
            <a:ln>
              <a:noFill/>
            </a:ln>
          </p:spPr>
          <p:txBody>
            <a:bodyPr rtlCol="0" anchor="ctr"/>
            <a:lstStyle/>
            <a:p>
              <a:pPr algn="ctr"/>
              <a:endParaRPr/>
            </a:p>
          </p:txBody>
        </p:sp>
        <p:sp>
          <p:nvSpPr>
            <p:cNvPr id="24" name="icon coal"/>
            <p:cNvSpPr/>
            <p:nvPr/>
          </p:nvSpPr>
          <p:spPr>
            <a:xfrm>
              <a:off x="8540496" y="1892807"/>
              <a:ext cx="301752" cy="146305"/>
            </a:xfrm>
            <a:custGeom>
              <a:avLst/>
              <a:gdLst/>
              <a:ahLst/>
              <a:cxnLst/>
              <a:rect l="l" t="t" r="r" b="b"/>
              <a:pathLst>
                <a:path w="301752" h="146305">
                  <a:moveTo>
                    <a:pt x="0" y="146305"/>
                  </a:moveTo>
                  <a:lnTo>
                    <a:pt x="91440" y="0"/>
                  </a:lnTo>
                  <a:lnTo>
                    <a:pt x="228600" y="18288"/>
                  </a:lnTo>
                  <a:lnTo>
                    <a:pt x="301752" y="146305"/>
                  </a:lnTo>
                  <a:close/>
                </a:path>
              </a:pathLst>
            </a:custGeom>
            <a:solidFill>
              <a:srgbClr val="1B1D21"/>
            </a:solidFill>
            <a:ln w="19050">
              <a:solidFill>
                <a:srgbClr val="B5BBC2"/>
              </a:solidFill>
            </a:ln>
          </p:spPr>
          <p:txBody>
            <a:bodyPr rtlCol="0" anchor="ctr"/>
            <a:lstStyle/>
            <a:p>
              <a:pPr algn="ctr"/>
              <a:endParaRPr/>
            </a:p>
          </p:txBody>
        </p:sp>
        <p:sp>
          <p:nvSpPr>
            <p:cNvPr id="25" name="badge"/>
            <p:cNvSpPr/>
            <p:nvPr/>
          </p:nvSpPr>
          <p:spPr>
            <a:xfrm>
              <a:off x="7461504" y="1435608"/>
              <a:ext cx="365760" cy="36576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4</a:t>
              </a:r>
            </a:p>
          </p:txBody>
        </p:sp>
        <p:sp>
          <p:nvSpPr>
            <p:cNvPr id="26" name="step label"/>
            <p:cNvSpPr txBox="1"/>
            <p:nvPr/>
          </p:nvSpPr>
          <p:spPr>
            <a:xfrm>
              <a:off x="7424927" y="2103120"/>
              <a:ext cx="1865376" cy="548640"/>
            </a:xfrm>
            <a:prstGeom prst="rect">
              <a:avLst/>
            </a:prstGeom>
            <a:noFill/>
          </p:spPr>
          <p:txBody>
            <a:bodyPr wrap="square" lIns="18288" tIns="9144" rIns="18288" bIns="9144" anchor="ctr">
              <a:noAutofit/>
            </a:bodyPr>
            <a:lstStyle/>
            <a:p>
              <a:pPr algn="ctr"/>
              <a:r>
                <a:rPr lang="en-GB" sz="1400" b="1" i="0">
                  <a:solidFill>
                    <a:srgbClr val="F2F2F2"/>
                  </a:solidFill>
                  <a:latin typeface="Arial"/>
                </a:rPr>
                <a:t>Coal chutes</a:t>
              </a:r>
            </a:p>
          </p:txBody>
        </p:sp>
        <p:sp>
          <p:nvSpPr>
            <p:cNvPr id="27" name="step card"/>
            <p:cNvSpPr/>
            <p:nvPr/>
          </p:nvSpPr>
          <p:spPr>
            <a:xfrm>
              <a:off x="9619488" y="1325880"/>
              <a:ext cx="2011680"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sp>
          <p:nvSpPr>
            <p:cNvPr id="28" name="icon crane"/>
            <p:cNvSpPr/>
            <p:nvPr/>
          </p:nvSpPr>
          <p:spPr>
            <a:xfrm>
              <a:off x="10442448" y="1668780"/>
              <a:ext cx="640080" cy="297180"/>
            </a:xfrm>
            <a:custGeom>
              <a:avLst/>
              <a:gdLst/>
              <a:ahLst/>
              <a:cxnLst/>
              <a:rect l="l" t="t" r="r" b="b"/>
              <a:pathLst>
                <a:path w="640080" h="297180">
                  <a:moveTo>
                    <a:pt x="0" y="297180"/>
                  </a:moveTo>
                  <a:lnTo>
                    <a:pt x="22860" y="256241"/>
                  </a:lnTo>
                  <a:lnTo>
                    <a:pt x="45719" y="218336"/>
                  </a:lnTo>
                  <a:lnTo>
                    <a:pt x="68580" y="183463"/>
                  </a:lnTo>
                  <a:lnTo>
                    <a:pt x="91440" y="151622"/>
                  </a:lnTo>
                  <a:lnTo>
                    <a:pt x="114299" y="122814"/>
                  </a:lnTo>
                  <a:lnTo>
                    <a:pt x="137160" y="97038"/>
                  </a:lnTo>
                  <a:lnTo>
                    <a:pt x="160020" y="74294"/>
                  </a:lnTo>
                  <a:lnTo>
                    <a:pt x="182880" y="54584"/>
                  </a:lnTo>
                  <a:lnTo>
                    <a:pt x="205740" y="37905"/>
                  </a:lnTo>
                  <a:lnTo>
                    <a:pt x="228599" y="24259"/>
                  </a:lnTo>
                  <a:lnTo>
                    <a:pt x="251460" y="13646"/>
                  </a:lnTo>
                  <a:lnTo>
                    <a:pt x="274319" y="6064"/>
                  </a:lnTo>
                  <a:lnTo>
                    <a:pt x="297180" y="1516"/>
                  </a:lnTo>
                  <a:lnTo>
                    <a:pt x="320040" y="0"/>
                  </a:lnTo>
                  <a:lnTo>
                    <a:pt x="342900" y="1516"/>
                  </a:lnTo>
                  <a:lnTo>
                    <a:pt x="365760" y="6064"/>
                  </a:lnTo>
                  <a:lnTo>
                    <a:pt x="388619" y="13646"/>
                  </a:lnTo>
                  <a:lnTo>
                    <a:pt x="411480" y="24259"/>
                  </a:lnTo>
                  <a:lnTo>
                    <a:pt x="434340" y="37905"/>
                  </a:lnTo>
                  <a:lnTo>
                    <a:pt x="457200" y="54584"/>
                  </a:lnTo>
                  <a:lnTo>
                    <a:pt x="480060" y="74295"/>
                  </a:lnTo>
                  <a:lnTo>
                    <a:pt x="502919" y="97038"/>
                  </a:lnTo>
                  <a:lnTo>
                    <a:pt x="525779" y="122814"/>
                  </a:lnTo>
                  <a:lnTo>
                    <a:pt x="548640" y="151622"/>
                  </a:lnTo>
                  <a:lnTo>
                    <a:pt x="571500" y="183463"/>
                  </a:lnTo>
                  <a:lnTo>
                    <a:pt x="594359" y="218336"/>
                  </a:lnTo>
                  <a:lnTo>
                    <a:pt x="617219" y="256241"/>
                  </a:lnTo>
                  <a:lnTo>
                    <a:pt x="640080" y="297180"/>
                  </a:lnTo>
                </a:path>
              </a:pathLst>
            </a:custGeom>
            <a:noFill/>
            <a:ln w="44450">
              <a:solidFill>
                <a:srgbClr val="4DA3FF"/>
              </a:solidFill>
              <a:tailEnd type="triangle" w="med" len="med"/>
            </a:ln>
          </p:spPr>
          <p:txBody>
            <a:bodyPr rtlCol="0" anchor="ctr"/>
            <a:lstStyle/>
            <a:p>
              <a:pPr algn="ctr"/>
              <a:endParaRPr/>
            </a:p>
          </p:txBody>
        </p:sp>
        <p:sp>
          <p:nvSpPr>
            <p:cNvPr id="29" name="badge"/>
            <p:cNvSpPr/>
            <p:nvPr/>
          </p:nvSpPr>
          <p:spPr>
            <a:xfrm>
              <a:off x="9729216" y="1435608"/>
              <a:ext cx="365760" cy="36576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5</a:t>
              </a:r>
            </a:p>
          </p:txBody>
        </p:sp>
        <p:sp>
          <p:nvSpPr>
            <p:cNvPr id="30" name="step label"/>
            <p:cNvSpPr txBox="1"/>
            <p:nvPr/>
          </p:nvSpPr>
          <p:spPr>
            <a:xfrm>
              <a:off x="9692640" y="2103120"/>
              <a:ext cx="1865376" cy="548640"/>
            </a:xfrm>
            <a:prstGeom prst="rect">
              <a:avLst/>
            </a:prstGeom>
            <a:noFill/>
          </p:spPr>
          <p:txBody>
            <a:bodyPr wrap="square" lIns="18288" tIns="9144" rIns="18288" bIns="9144" anchor="ctr">
              <a:noAutofit/>
            </a:bodyPr>
            <a:lstStyle/>
            <a:p>
              <a:pPr algn="ctr"/>
              <a:r>
                <a:rPr lang="en-GB" sz="1400" b="1" i="0">
                  <a:solidFill>
                    <a:srgbClr val="F2F2F2"/>
                  </a:solidFill>
                  <a:latin typeface="Arial"/>
                </a:rPr>
                <a:t>Water arm swings</a:t>
              </a:r>
            </a:p>
          </p:txBody>
        </p:sp>
        <p:sp>
          <p:nvSpPr>
            <p:cNvPr id="31" name="step card"/>
            <p:cNvSpPr/>
            <p:nvPr/>
          </p:nvSpPr>
          <p:spPr>
            <a:xfrm>
              <a:off x="548640" y="3017520"/>
              <a:ext cx="2011680"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sp>
          <p:nvSpPr>
            <p:cNvPr id="32" name="crosshair ring"/>
            <p:cNvSpPr/>
            <p:nvPr/>
          </p:nvSpPr>
          <p:spPr>
            <a:xfrm>
              <a:off x="1399032" y="3364991"/>
              <a:ext cx="219456" cy="219456"/>
            </a:xfrm>
            <a:prstGeom prst="ellipse">
              <a:avLst/>
            </a:prstGeom>
            <a:noFill/>
            <a:ln w="76200">
              <a:solidFill>
                <a:srgbClr val="101418"/>
              </a:solidFill>
            </a:ln>
          </p:spPr>
          <p:txBody>
            <a:bodyPr rtlCol="0" anchor="ctr"/>
            <a:lstStyle/>
            <a:p>
              <a:pPr algn="ctr"/>
              <a:endParaRPr/>
            </a:p>
          </p:txBody>
        </p:sp>
        <p:cxnSp>
          <p:nvCxnSpPr>
            <p:cNvPr id="33" name="crosshair"/>
            <p:cNvCxnSpPr/>
            <p:nvPr/>
          </p:nvCxnSpPr>
          <p:spPr>
            <a:xfrm>
              <a:off x="1333195" y="3474720"/>
              <a:ext cx="351129" cy="0"/>
            </a:xfrm>
            <a:prstGeom prst="line">
              <a:avLst/>
            </a:prstGeom>
            <a:ln w="60960">
              <a:solidFill>
                <a:srgbClr val="101418"/>
              </a:solidFill>
            </a:ln>
          </p:spPr>
        </p:cxnSp>
        <p:cxnSp>
          <p:nvCxnSpPr>
            <p:cNvPr id="34" name="crosshair"/>
            <p:cNvCxnSpPr/>
            <p:nvPr/>
          </p:nvCxnSpPr>
          <p:spPr>
            <a:xfrm>
              <a:off x="1508760" y="3299155"/>
              <a:ext cx="0" cy="351129"/>
            </a:xfrm>
            <a:prstGeom prst="line">
              <a:avLst/>
            </a:prstGeom>
            <a:ln w="60960">
              <a:solidFill>
                <a:srgbClr val="101418"/>
              </a:solidFill>
            </a:ln>
          </p:spPr>
        </p:cxnSp>
        <p:sp>
          <p:nvSpPr>
            <p:cNvPr id="35" name="crosshair ring"/>
            <p:cNvSpPr/>
            <p:nvPr/>
          </p:nvSpPr>
          <p:spPr>
            <a:xfrm>
              <a:off x="1399032" y="3364991"/>
              <a:ext cx="219456" cy="219456"/>
            </a:xfrm>
            <a:prstGeom prst="ellipse">
              <a:avLst/>
            </a:prstGeom>
            <a:noFill/>
            <a:ln w="31750">
              <a:solidFill>
                <a:srgbClr val="F2F2F2"/>
              </a:solidFill>
            </a:ln>
          </p:spPr>
          <p:txBody>
            <a:bodyPr rtlCol="0" anchor="ctr"/>
            <a:lstStyle/>
            <a:p>
              <a:pPr algn="ctr"/>
              <a:endParaRPr/>
            </a:p>
          </p:txBody>
        </p:sp>
        <p:cxnSp>
          <p:nvCxnSpPr>
            <p:cNvPr id="36" name="crosshair"/>
            <p:cNvCxnSpPr/>
            <p:nvPr/>
          </p:nvCxnSpPr>
          <p:spPr>
            <a:xfrm>
              <a:off x="1333195" y="3474720"/>
              <a:ext cx="351129" cy="0"/>
            </a:xfrm>
            <a:prstGeom prst="line">
              <a:avLst/>
            </a:prstGeom>
            <a:ln w="25400">
              <a:solidFill>
                <a:srgbClr val="F2F2F2"/>
              </a:solidFill>
            </a:ln>
          </p:spPr>
        </p:cxnSp>
        <p:cxnSp>
          <p:nvCxnSpPr>
            <p:cNvPr id="37" name="crosshair"/>
            <p:cNvCxnSpPr/>
            <p:nvPr/>
          </p:nvCxnSpPr>
          <p:spPr>
            <a:xfrm>
              <a:off x="1508760" y="3299155"/>
              <a:ext cx="0" cy="351129"/>
            </a:xfrm>
            <a:prstGeom prst="line">
              <a:avLst/>
            </a:prstGeom>
            <a:ln w="25400">
              <a:solidFill>
                <a:srgbClr val="F2F2F2"/>
              </a:solidFill>
            </a:ln>
          </p:spPr>
        </p:cxnSp>
        <p:sp>
          <p:nvSpPr>
            <p:cNvPr id="38" name="crosshair ring"/>
            <p:cNvSpPr/>
            <p:nvPr/>
          </p:nvSpPr>
          <p:spPr>
            <a:xfrm>
              <a:off x="1783080" y="3364991"/>
              <a:ext cx="219456" cy="219456"/>
            </a:xfrm>
            <a:prstGeom prst="ellipse">
              <a:avLst/>
            </a:prstGeom>
            <a:noFill/>
            <a:ln w="76200">
              <a:solidFill>
                <a:srgbClr val="101418"/>
              </a:solidFill>
            </a:ln>
          </p:spPr>
          <p:txBody>
            <a:bodyPr rtlCol="0" anchor="ctr"/>
            <a:lstStyle/>
            <a:p>
              <a:pPr algn="ctr"/>
              <a:endParaRPr/>
            </a:p>
          </p:txBody>
        </p:sp>
        <p:cxnSp>
          <p:nvCxnSpPr>
            <p:cNvPr id="39" name="crosshair"/>
            <p:cNvCxnSpPr/>
            <p:nvPr/>
          </p:nvCxnSpPr>
          <p:spPr>
            <a:xfrm>
              <a:off x="1717243" y="3474720"/>
              <a:ext cx="351129" cy="0"/>
            </a:xfrm>
            <a:prstGeom prst="line">
              <a:avLst/>
            </a:prstGeom>
            <a:ln w="60960">
              <a:solidFill>
                <a:srgbClr val="101418"/>
              </a:solidFill>
            </a:ln>
          </p:spPr>
        </p:cxnSp>
        <p:cxnSp>
          <p:nvCxnSpPr>
            <p:cNvPr id="40" name="crosshair"/>
            <p:cNvCxnSpPr/>
            <p:nvPr/>
          </p:nvCxnSpPr>
          <p:spPr>
            <a:xfrm>
              <a:off x="1892808" y="3299155"/>
              <a:ext cx="0" cy="351129"/>
            </a:xfrm>
            <a:prstGeom prst="line">
              <a:avLst/>
            </a:prstGeom>
            <a:ln w="60960">
              <a:solidFill>
                <a:srgbClr val="101418"/>
              </a:solidFill>
            </a:ln>
          </p:spPr>
        </p:cxnSp>
        <p:sp>
          <p:nvSpPr>
            <p:cNvPr id="41" name="crosshair ring"/>
            <p:cNvSpPr/>
            <p:nvPr/>
          </p:nvSpPr>
          <p:spPr>
            <a:xfrm>
              <a:off x="1783080" y="3364991"/>
              <a:ext cx="219456" cy="219456"/>
            </a:xfrm>
            <a:prstGeom prst="ellipse">
              <a:avLst/>
            </a:prstGeom>
            <a:noFill/>
            <a:ln w="31750">
              <a:solidFill>
                <a:srgbClr val="F2F2F2"/>
              </a:solidFill>
            </a:ln>
          </p:spPr>
          <p:txBody>
            <a:bodyPr rtlCol="0" anchor="ctr"/>
            <a:lstStyle/>
            <a:p>
              <a:pPr algn="ctr"/>
              <a:endParaRPr/>
            </a:p>
          </p:txBody>
        </p:sp>
        <p:cxnSp>
          <p:nvCxnSpPr>
            <p:cNvPr id="42" name="crosshair"/>
            <p:cNvCxnSpPr/>
            <p:nvPr/>
          </p:nvCxnSpPr>
          <p:spPr>
            <a:xfrm>
              <a:off x="1717243" y="3474720"/>
              <a:ext cx="351129" cy="0"/>
            </a:xfrm>
            <a:prstGeom prst="line">
              <a:avLst/>
            </a:prstGeom>
            <a:ln w="25400">
              <a:solidFill>
                <a:srgbClr val="F2F2F2"/>
              </a:solidFill>
            </a:ln>
          </p:spPr>
        </p:cxnSp>
        <p:cxnSp>
          <p:nvCxnSpPr>
            <p:cNvPr id="43" name="crosshair"/>
            <p:cNvCxnSpPr/>
            <p:nvPr/>
          </p:nvCxnSpPr>
          <p:spPr>
            <a:xfrm>
              <a:off x="1892808" y="3299155"/>
              <a:ext cx="0" cy="351129"/>
            </a:xfrm>
            <a:prstGeom prst="line">
              <a:avLst/>
            </a:prstGeom>
            <a:ln w="25400">
              <a:solidFill>
                <a:srgbClr val="F2F2F2"/>
              </a:solidFill>
            </a:ln>
          </p:spPr>
        </p:cxnSp>
        <p:sp>
          <p:nvSpPr>
            <p:cNvPr id="44" name="badge"/>
            <p:cNvSpPr/>
            <p:nvPr/>
          </p:nvSpPr>
          <p:spPr>
            <a:xfrm>
              <a:off x="658368" y="3127247"/>
              <a:ext cx="365760" cy="36576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6</a:t>
              </a:r>
            </a:p>
          </p:txBody>
        </p:sp>
        <p:sp>
          <p:nvSpPr>
            <p:cNvPr id="45" name="step label"/>
            <p:cNvSpPr txBox="1"/>
            <p:nvPr/>
          </p:nvSpPr>
          <p:spPr>
            <a:xfrm>
              <a:off x="621792" y="3794759"/>
              <a:ext cx="1865376" cy="548640"/>
            </a:xfrm>
            <a:prstGeom prst="rect">
              <a:avLst/>
            </a:prstGeom>
            <a:noFill/>
          </p:spPr>
          <p:txBody>
            <a:bodyPr wrap="square" lIns="18288" tIns="9144" rIns="18288" bIns="9144" anchor="ctr">
              <a:noAutofit/>
            </a:bodyPr>
            <a:lstStyle/>
            <a:p>
              <a:pPr algn="ctr"/>
              <a:r>
                <a:rPr lang="en-GB" sz="1400" b="1" i="0">
                  <a:solidFill>
                    <a:srgbClr val="F2F2F2"/>
                  </a:solidFill>
                  <a:latin typeface="Arial"/>
                </a:rPr>
                <a:t>Find the hatches</a:t>
              </a:r>
            </a:p>
          </p:txBody>
        </p:sp>
        <p:sp>
          <p:nvSpPr>
            <p:cNvPr id="46" name="step card"/>
            <p:cNvSpPr/>
            <p:nvPr/>
          </p:nvSpPr>
          <p:spPr>
            <a:xfrm>
              <a:off x="2816352" y="3017520"/>
              <a:ext cx="2011680"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sp>
          <p:nvSpPr>
            <p:cNvPr id="47" name="icon clock"/>
            <p:cNvSpPr/>
            <p:nvPr/>
          </p:nvSpPr>
          <p:spPr>
            <a:xfrm>
              <a:off x="3730752" y="3246120"/>
              <a:ext cx="457200" cy="457200"/>
            </a:xfrm>
            <a:prstGeom prst="ellipse">
              <a:avLst/>
            </a:prstGeom>
            <a:noFill/>
            <a:ln w="31750">
              <a:solidFill>
                <a:srgbClr val="F2F2F2"/>
              </a:solidFill>
            </a:ln>
          </p:spPr>
          <p:txBody>
            <a:bodyPr rtlCol="0" anchor="ctr"/>
            <a:lstStyle/>
            <a:p>
              <a:pPr algn="ctr"/>
              <a:endParaRPr/>
            </a:p>
          </p:txBody>
        </p:sp>
        <p:cxnSp>
          <p:nvCxnSpPr>
            <p:cNvPr id="48" name="icon hand"/>
            <p:cNvCxnSpPr/>
            <p:nvPr/>
          </p:nvCxnSpPr>
          <p:spPr>
            <a:xfrm flipV="1">
              <a:off x="3959352" y="3328415"/>
              <a:ext cx="0" cy="146305"/>
            </a:xfrm>
            <a:prstGeom prst="line">
              <a:avLst/>
            </a:prstGeom>
            <a:ln w="31750">
              <a:solidFill>
                <a:srgbClr val="F2F2F2"/>
              </a:solidFill>
            </a:ln>
          </p:spPr>
        </p:cxnSp>
        <p:cxnSp>
          <p:nvCxnSpPr>
            <p:cNvPr id="49" name="icon hand"/>
            <p:cNvCxnSpPr/>
            <p:nvPr/>
          </p:nvCxnSpPr>
          <p:spPr>
            <a:xfrm>
              <a:off x="3959352" y="3474720"/>
              <a:ext cx="109728" cy="36576"/>
            </a:xfrm>
            <a:prstGeom prst="line">
              <a:avLst/>
            </a:prstGeom>
            <a:ln w="31750">
              <a:solidFill>
                <a:srgbClr val="F2F2F2"/>
              </a:solidFill>
            </a:ln>
          </p:spPr>
        </p:cxnSp>
        <p:sp>
          <p:nvSpPr>
            <p:cNvPr id="50" name="badge"/>
            <p:cNvSpPr/>
            <p:nvPr/>
          </p:nvSpPr>
          <p:spPr>
            <a:xfrm>
              <a:off x="2926079" y="3127247"/>
              <a:ext cx="365760" cy="36576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7</a:t>
              </a:r>
            </a:p>
          </p:txBody>
        </p:sp>
        <p:sp>
          <p:nvSpPr>
            <p:cNvPr id="51" name="step label"/>
            <p:cNvSpPr txBox="1"/>
            <p:nvPr/>
          </p:nvSpPr>
          <p:spPr>
            <a:xfrm>
              <a:off x="2889504" y="3794759"/>
              <a:ext cx="1865376" cy="548640"/>
            </a:xfrm>
            <a:prstGeom prst="rect">
              <a:avLst/>
            </a:prstGeom>
            <a:noFill/>
          </p:spPr>
          <p:txBody>
            <a:bodyPr wrap="square" lIns="18288" tIns="9144" rIns="18288" bIns="9144" anchor="ctr">
              <a:noAutofit/>
            </a:bodyPr>
            <a:lstStyle/>
            <a:p>
              <a:pPr algn="ctr"/>
              <a:r>
                <a:rPr lang="en-GB" sz="1400" b="1" i="0">
                  <a:solidFill>
                    <a:srgbClr val="F2F2F2"/>
                  </a:solidFill>
                  <a:latin typeface="Arial"/>
                </a:rPr>
                <a:t>Tanks fill</a:t>
              </a:r>
            </a:p>
          </p:txBody>
        </p:sp>
        <p:sp>
          <p:nvSpPr>
            <p:cNvPr id="52" name="step card"/>
            <p:cNvSpPr/>
            <p:nvPr/>
          </p:nvSpPr>
          <p:spPr>
            <a:xfrm>
              <a:off x="5084064" y="3017520"/>
              <a:ext cx="2011680"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cxnSp>
          <p:nvCxnSpPr>
            <p:cNvPr id="53" name="icon retract"/>
            <p:cNvCxnSpPr/>
            <p:nvPr/>
          </p:nvCxnSpPr>
          <p:spPr>
            <a:xfrm flipH="1">
              <a:off x="5998464" y="3474720"/>
              <a:ext cx="548639" cy="0"/>
            </a:xfrm>
            <a:prstGeom prst="line">
              <a:avLst/>
            </a:prstGeom>
            <a:ln w="50800">
              <a:solidFill>
                <a:srgbClr val="B084F5"/>
              </a:solidFill>
              <a:tailEnd type="triangle" w="med" len="med"/>
            </a:ln>
          </p:spPr>
        </p:cxnSp>
        <p:cxnSp>
          <p:nvCxnSpPr>
            <p:cNvPr id="54" name="icon stop"/>
            <p:cNvCxnSpPr/>
            <p:nvPr/>
          </p:nvCxnSpPr>
          <p:spPr>
            <a:xfrm>
              <a:off x="5952744" y="3291839"/>
              <a:ext cx="0" cy="365761"/>
            </a:xfrm>
            <a:prstGeom prst="line">
              <a:avLst/>
            </a:prstGeom>
            <a:ln w="50800">
              <a:solidFill>
                <a:srgbClr val="B084F5"/>
              </a:solidFill>
            </a:ln>
          </p:spPr>
        </p:cxnSp>
        <p:sp>
          <p:nvSpPr>
            <p:cNvPr id="55" name="badge"/>
            <p:cNvSpPr/>
            <p:nvPr/>
          </p:nvSpPr>
          <p:spPr>
            <a:xfrm>
              <a:off x="5193792" y="3127247"/>
              <a:ext cx="365760" cy="36576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8</a:t>
              </a:r>
            </a:p>
          </p:txBody>
        </p:sp>
        <p:sp>
          <p:nvSpPr>
            <p:cNvPr id="56" name="step label"/>
            <p:cNvSpPr txBox="1"/>
            <p:nvPr/>
          </p:nvSpPr>
          <p:spPr>
            <a:xfrm>
              <a:off x="5157216" y="3794759"/>
              <a:ext cx="1865376" cy="548640"/>
            </a:xfrm>
            <a:prstGeom prst="rect">
              <a:avLst/>
            </a:prstGeom>
            <a:noFill/>
          </p:spPr>
          <p:txBody>
            <a:bodyPr wrap="square" lIns="18288" tIns="9144" rIns="18288" bIns="9144" anchor="ctr">
              <a:noAutofit/>
            </a:bodyPr>
            <a:lstStyle/>
            <a:p>
              <a:pPr algn="ctr"/>
              <a:r>
                <a:rPr lang="en-GB" sz="1400" b="1" i="0">
                  <a:solidFill>
                    <a:srgbClr val="F2F2F2"/>
                  </a:solidFill>
                  <a:latin typeface="Arial"/>
                </a:rPr>
                <a:t>Machinery folds away</a:t>
              </a:r>
            </a:p>
          </p:txBody>
        </p:sp>
        <p:sp>
          <p:nvSpPr>
            <p:cNvPr id="57" name="step card"/>
            <p:cNvSpPr/>
            <p:nvPr/>
          </p:nvSpPr>
          <p:spPr>
            <a:xfrm>
              <a:off x="7351775" y="3017520"/>
              <a:ext cx="2011680"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sp>
          <p:nvSpPr>
            <p:cNvPr id="58" name="icon engine"/>
            <p:cNvSpPr/>
            <p:nvPr/>
          </p:nvSpPr>
          <p:spPr>
            <a:xfrm>
              <a:off x="8220455" y="3383279"/>
              <a:ext cx="457200" cy="228600"/>
            </a:xfrm>
            <a:prstGeom prst="roundRect">
              <a:avLst>
                <a:gd name="adj" fmla="val 20000"/>
              </a:avLst>
            </a:prstGeom>
            <a:solidFill>
              <a:srgbClr val="F28C28"/>
            </a:solidFill>
            <a:ln>
              <a:noFill/>
            </a:ln>
          </p:spPr>
          <p:txBody>
            <a:bodyPr rtlCol="0" anchor="ctr"/>
            <a:lstStyle/>
            <a:p>
              <a:pPr algn="ctr"/>
              <a:endParaRPr/>
            </a:p>
          </p:txBody>
        </p:sp>
        <p:cxnSp>
          <p:nvCxnSpPr>
            <p:cNvPr id="59" name="icon depart"/>
            <p:cNvCxnSpPr/>
            <p:nvPr/>
          </p:nvCxnSpPr>
          <p:spPr>
            <a:xfrm>
              <a:off x="8695944" y="3493008"/>
              <a:ext cx="182880" cy="0"/>
            </a:xfrm>
            <a:prstGeom prst="line">
              <a:avLst/>
            </a:prstGeom>
            <a:ln w="38100">
              <a:solidFill>
                <a:srgbClr val="F28C28"/>
              </a:solidFill>
              <a:tailEnd type="triangle" w="med" len="med"/>
            </a:ln>
          </p:spPr>
        </p:cxnSp>
        <p:sp>
          <p:nvSpPr>
            <p:cNvPr id="60" name="badge"/>
            <p:cNvSpPr/>
            <p:nvPr/>
          </p:nvSpPr>
          <p:spPr>
            <a:xfrm>
              <a:off x="7461504" y="3127247"/>
              <a:ext cx="365760" cy="36576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9</a:t>
              </a:r>
            </a:p>
          </p:txBody>
        </p:sp>
        <p:sp>
          <p:nvSpPr>
            <p:cNvPr id="61" name="step label"/>
            <p:cNvSpPr txBox="1"/>
            <p:nvPr/>
          </p:nvSpPr>
          <p:spPr>
            <a:xfrm>
              <a:off x="7424927" y="3794759"/>
              <a:ext cx="1865376" cy="548640"/>
            </a:xfrm>
            <a:prstGeom prst="rect">
              <a:avLst/>
            </a:prstGeom>
            <a:noFill/>
          </p:spPr>
          <p:txBody>
            <a:bodyPr wrap="square" lIns="18288" tIns="9144" rIns="18288" bIns="9144" anchor="ctr">
              <a:noAutofit/>
            </a:bodyPr>
            <a:lstStyle/>
            <a:p>
              <a:pPr algn="ctr"/>
              <a:r>
                <a:rPr lang="en-GB" sz="1400" b="1" i="0">
                  <a:solidFill>
                    <a:srgbClr val="F2F2F2"/>
                  </a:solidFill>
                  <a:latin typeface="Arial"/>
                </a:rPr>
                <a:t>Depart</a:t>
              </a:r>
            </a:p>
          </p:txBody>
        </p:sp>
        <p:cxnSp>
          <p:nvCxnSpPr>
            <p:cNvPr id="62" name="step arrow"/>
            <p:cNvCxnSpPr/>
            <p:nvPr/>
          </p:nvCxnSpPr>
          <p:spPr>
            <a:xfrm>
              <a:off x="2578608" y="2011680"/>
              <a:ext cx="219456" cy="0"/>
            </a:xfrm>
            <a:prstGeom prst="line">
              <a:avLst/>
            </a:prstGeom>
            <a:ln w="28575">
              <a:solidFill>
                <a:srgbClr val="F28C28"/>
              </a:solidFill>
              <a:tailEnd type="triangle" w="med" len="med"/>
            </a:ln>
          </p:spPr>
        </p:cxnSp>
        <p:cxnSp>
          <p:nvCxnSpPr>
            <p:cNvPr id="63" name="step arrow"/>
            <p:cNvCxnSpPr/>
            <p:nvPr/>
          </p:nvCxnSpPr>
          <p:spPr>
            <a:xfrm>
              <a:off x="4846320" y="2011680"/>
              <a:ext cx="219456" cy="0"/>
            </a:xfrm>
            <a:prstGeom prst="line">
              <a:avLst/>
            </a:prstGeom>
            <a:ln w="28575">
              <a:solidFill>
                <a:srgbClr val="F28C28"/>
              </a:solidFill>
              <a:tailEnd type="triangle" w="med" len="med"/>
            </a:ln>
          </p:spPr>
        </p:cxnSp>
        <p:cxnSp>
          <p:nvCxnSpPr>
            <p:cNvPr id="64" name="step arrow"/>
            <p:cNvCxnSpPr/>
            <p:nvPr/>
          </p:nvCxnSpPr>
          <p:spPr>
            <a:xfrm>
              <a:off x="7114031" y="2011680"/>
              <a:ext cx="219457" cy="0"/>
            </a:xfrm>
            <a:prstGeom prst="line">
              <a:avLst/>
            </a:prstGeom>
            <a:ln w="28575">
              <a:solidFill>
                <a:srgbClr val="F28C28"/>
              </a:solidFill>
              <a:tailEnd type="triangle" w="med" len="med"/>
            </a:ln>
          </p:spPr>
        </p:cxnSp>
        <p:cxnSp>
          <p:nvCxnSpPr>
            <p:cNvPr id="65" name="step arrow"/>
            <p:cNvCxnSpPr/>
            <p:nvPr/>
          </p:nvCxnSpPr>
          <p:spPr>
            <a:xfrm>
              <a:off x="9381743" y="2011680"/>
              <a:ext cx="219457" cy="0"/>
            </a:xfrm>
            <a:prstGeom prst="line">
              <a:avLst/>
            </a:prstGeom>
            <a:ln w="28575">
              <a:solidFill>
                <a:srgbClr val="F28C28"/>
              </a:solidFill>
              <a:tailEnd type="triangle" w="med" len="med"/>
            </a:ln>
          </p:spPr>
        </p:cxnSp>
        <p:cxnSp>
          <p:nvCxnSpPr>
            <p:cNvPr id="66" name="step arrow"/>
            <p:cNvCxnSpPr/>
            <p:nvPr/>
          </p:nvCxnSpPr>
          <p:spPr>
            <a:xfrm>
              <a:off x="2578608" y="3703320"/>
              <a:ext cx="219456" cy="0"/>
            </a:xfrm>
            <a:prstGeom prst="line">
              <a:avLst/>
            </a:prstGeom>
            <a:ln w="28575">
              <a:solidFill>
                <a:srgbClr val="F28C28"/>
              </a:solidFill>
              <a:tailEnd type="triangle" w="med" len="med"/>
            </a:ln>
          </p:spPr>
        </p:cxnSp>
        <p:cxnSp>
          <p:nvCxnSpPr>
            <p:cNvPr id="67" name="step arrow"/>
            <p:cNvCxnSpPr/>
            <p:nvPr/>
          </p:nvCxnSpPr>
          <p:spPr>
            <a:xfrm>
              <a:off x="4846320" y="3703320"/>
              <a:ext cx="219456" cy="0"/>
            </a:xfrm>
            <a:prstGeom prst="line">
              <a:avLst/>
            </a:prstGeom>
            <a:ln w="28575">
              <a:solidFill>
                <a:srgbClr val="F28C28"/>
              </a:solidFill>
              <a:tailEnd type="triangle" w="med" len="med"/>
            </a:ln>
          </p:spPr>
        </p:cxnSp>
        <p:cxnSp>
          <p:nvCxnSpPr>
            <p:cNvPr id="68" name="step arrow"/>
            <p:cNvCxnSpPr/>
            <p:nvPr/>
          </p:nvCxnSpPr>
          <p:spPr>
            <a:xfrm>
              <a:off x="7114031" y="3703320"/>
              <a:ext cx="219457" cy="0"/>
            </a:xfrm>
            <a:prstGeom prst="line">
              <a:avLst/>
            </a:prstGeom>
            <a:ln w="28575">
              <a:solidFill>
                <a:srgbClr val="F28C28"/>
              </a:solidFill>
              <a:tailEnd type="triangle" w="med" len="med"/>
            </a:ln>
          </p:spPr>
        </p:cxnSp>
        <p:sp>
          <p:nvSpPr>
            <p:cNvPr id="69" name="row link"/>
            <p:cNvSpPr/>
            <p:nvPr/>
          </p:nvSpPr>
          <p:spPr>
            <a:xfrm>
              <a:off x="1554480" y="2697480"/>
              <a:ext cx="9070848" cy="301752"/>
            </a:xfrm>
            <a:custGeom>
              <a:avLst/>
              <a:gdLst/>
              <a:ahLst/>
              <a:cxnLst/>
              <a:rect l="l" t="t" r="r" b="b"/>
              <a:pathLst>
                <a:path w="9070848" h="301752">
                  <a:moveTo>
                    <a:pt x="9070848" y="0"/>
                  </a:moveTo>
                  <a:lnTo>
                    <a:pt x="9070848" y="155448"/>
                  </a:lnTo>
                  <a:lnTo>
                    <a:pt x="0" y="155448"/>
                  </a:lnTo>
                  <a:lnTo>
                    <a:pt x="0" y="301752"/>
                  </a:lnTo>
                </a:path>
              </a:pathLst>
            </a:custGeom>
            <a:noFill/>
            <a:ln w="28575">
              <a:solidFill>
                <a:srgbClr val="F28C28"/>
              </a:solidFill>
              <a:tailEnd type="triangle" w="med" len="med"/>
            </a:ln>
          </p:spPr>
          <p:txBody>
            <a:bodyPr rtlCol="0" anchor="ctr"/>
            <a:lstStyle/>
            <a:p>
              <a:pPr algn="ctr"/>
              <a:endParaRPr/>
            </a:p>
          </p:txBody>
        </p:sp>
        <p:sp>
          <p:nvSpPr>
            <p:cNvPr id="70" name="ICHIP"/>
            <p:cNvSpPr/>
            <p:nvPr/>
          </p:nvSpPr>
          <p:spPr>
            <a:xfrm>
              <a:off x="5769864" y="2862072"/>
              <a:ext cx="128016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71" name="time track"/>
            <p:cNvSpPr/>
            <p:nvPr/>
          </p:nvSpPr>
          <p:spPr>
            <a:xfrm>
              <a:off x="548640" y="4709160"/>
              <a:ext cx="8778240" cy="274320"/>
            </a:xfrm>
            <a:prstGeom prst="roundRect">
              <a:avLst>
                <a:gd name="adj" fmla="val 20000"/>
              </a:avLst>
            </a:prstGeom>
            <a:solidFill>
              <a:srgbClr val="343A43"/>
            </a:solidFill>
            <a:ln w="12700">
              <a:solidFill>
                <a:srgbClr val="4A515B"/>
              </a:solidFill>
            </a:ln>
          </p:spPr>
          <p:txBody>
            <a:bodyPr rtlCol="0" anchor="ctr"/>
            <a:lstStyle/>
            <a:p>
              <a:pPr algn="ctr"/>
              <a:endParaRPr/>
            </a:p>
          </p:txBody>
        </p:sp>
        <p:sp>
          <p:nvSpPr>
            <p:cNvPr id="72" name="time fill"/>
            <p:cNvSpPr/>
            <p:nvPr/>
          </p:nvSpPr>
          <p:spPr>
            <a:xfrm>
              <a:off x="548640" y="4709160"/>
              <a:ext cx="2282342" cy="274320"/>
            </a:xfrm>
            <a:prstGeom prst="roundRect">
              <a:avLst>
                <a:gd name="adj" fmla="val 20000"/>
              </a:avLst>
            </a:prstGeom>
            <a:solidFill>
              <a:srgbClr val="F28C28"/>
            </a:solidFill>
            <a:ln>
              <a:noFill/>
            </a:ln>
          </p:spPr>
          <p:txBody>
            <a:bodyPr rtlCol="0" anchor="ctr"/>
            <a:lstStyle/>
            <a:p>
              <a:pPr algn="ctr"/>
              <a:endParaRPr/>
            </a:p>
          </p:txBody>
        </p:sp>
        <p:sp>
          <p:nvSpPr>
            <p:cNvPr id="73" name="time track"/>
            <p:cNvSpPr/>
            <p:nvPr/>
          </p:nvSpPr>
          <p:spPr>
            <a:xfrm>
              <a:off x="548640" y="5093208"/>
              <a:ext cx="8778240" cy="274320"/>
            </a:xfrm>
            <a:prstGeom prst="roundRect">
              <a:avLst>
                <a:gd name="adj" fmla="val 20000"/>
              </a:avLst>
            </a:prstGeom>
            <a:solidFill>
              <a:srgbClr val="343A43"/>
            </a:solidFill>
            <a:ln w="12700">
              <a:solidFill>
                <a:srgbClr val="4A515B"/>
              </a:solidFill>
            </a:ln>
          </p:spPr>
          <p:txBody>
            <a:bodyPr rtlCol="0" anchor="ctr"/>
            <a:lstStyle/>
            <a:p>
              <a:pPr algn="ctr"/>
              <a:endParaRPr/>
            </a:p>
          </p:txBody>
        </p:sp>
        <p:sp>
          <p:nvSpPr>
            <p:cNvPr id="74" name="time fill"/>
            <p:cNvSpPr/>
            <p:nvPr/>
          </p:nvSpPr>
          <p:spPr>
            <a:xfrm>
              <a:off x="548640" y="5093208"/>
              <a:ext cx="8251545" cy="274320"/>
            </a:xfrm>
            <a:prstGeom prst="roundRect">
              <a:avLst>
                <a:gd name="adj" fmla="val 20000"/>
              </a:avLst>
            </a:prstGeom>
            <a:solidFill>
              <a:srgbClr val="F28C28"/>
            </a:solidFill>
            <a:ln>
              <a:noFill/>
            </a:ln>
          </p:spPr>
          <p:txBody>
            <a:bodyPr rtlCol="0" anchor="ctr"/>
            <a:lstStyle/>
            <a:p>
              <a:pPr algn="ctr"/>
              <a:endParaRPr/>
            </a:p>
          </p:txBody>
        </p:sp>
        <p:sp>
          <p:nvSpPr>
            <p:cNvPr id="75" name="bar label"/>
            <p:cNvSpPr txBox="1"/>
            <p:nvPr/>
          </p:nvSpPr>
          <p:spPr>
            <a:xfrm>
              <a:off x="9464040" y="4663440"/>
              <a:ext cx="2194560" cy="365760"/>
            </a:xfrm>
            <a:prstGeom prst="rect">
              <a:avLst/>
            </a:prstGeom>
            <a:noFill/>
          </p:spPr>
          <p:txBody>
            <a:bodyPr wrap="square" lIns="18288" tIns="9144" rIns="18288" bIns="9144" anchor="ctr">
              <a:noAutofit/>
            </a:bodyPr>
            <a:lstStyle/>
            <a:p>
              <a:pPr algn="l"/>
              <a:r>
                <a:rPr lang="en-GB" sz="1400" b="1" i="0">
                  <a:solidFill>
                    <a:srgbClr val="F2F2F2"/>
                  </a:solidFill>
                  <a:latin typeface="Arial"/>
                </a:rPr>
                <a:t>Small top-up</a:t>
              </a:r>
            </a:p>
          </p:txBody>
        </p:sp>
        <p:sp>
          <p:nvSpPr>
            <p:cNvPr id="76" name="bar label"/>
            <p:cNvSpPr txBox="1"/>
            <p:nvPr/>
          </p:nvSpPr>
          <p:spPr>
            <a:xfrm>
              <a:off x="9464040" y="5047488"/>
              <a:ext cx="2194560" cy="365760"/>
            </a:xfrm>
            <a:prstGeom prst="rect">
              <a:avLst/>
            </a:prstGeom>
            <a:noFill/>
          </p:spPr>
          <p:txBody>
            <a:bodyPr wrap="square" lIns="18288" tIns="9144" rIns="18288" bIns="9144" anchor="ctr">
              <a:noAutofit/>
            </a:bodyPr>
            <a:lstStyle/>
            <a:p>
              <a:pPr algn="l"/>
              <a:r>
                <a:rPr lang="en-GB" sz="1400" b="1" i="0">
                  <a:solidFill>
                    <a:srgbClr val="F2F2F2"/>
                  </a:solidFill>
                  <a:latin typeface="Arial"/>
                </a:rPr>
                <a:t>Empty tanks</a:t>
              </a:r>
            </a:p>
          </p:txBody>
        </p:sp>
        <p:sp>
          <p:nvSpPr>
            <p:cNvPr id="77" name="note"/>
            <p:cNvSpPr txBox="1"/>
            <p:nvPr/>
          </p:nvSpPr>
          <p:spPr>
            <a:xfrm>
              <a:off x="548640" y="5422392"/>
              <a:ext cx="8778240" cy="292608"/>
            </a:xfrm>
            <a:prstGeom prst="rect">
              <a:avLst/>
            </a:prstGeom>
            <a:noFill/>
          </p:spPr>
          <p:txBody>
            <a:bodyPr wrap="square" lIns="18288" tIns="9144" rIns="18288" bIns="9144" anchor="ctr">
              <a:noAutofit/>
            </a:bodyPr>
            <a:lstStyle/>
            <a:p>
              <a:pPr algn="l"/>
              <a:r>
                <a:rPr lang="en-GB" sz="1400" b="0" i="0">
                  <a:solidFill>
                    <a:srgbClr val="A9B0B8"/>
                  </a:solidFill>
                  <a:latin typeface="Arial"/>
                </a:rPr>
                <a:t>Rates and times: Proposed or provisional</a:t>
              </a:r>
            </a:p>
          </p:txBody>
        </p:sp>
      </p:grpSp>
      <p:sp>
        <p:nvSpPr>
          <p:cNvPr id="78"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79"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80"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 machinery finds each engine's hatches. Servicing takes visible time. Then it folds away.</a:t>
            </a:r>
          </a:p>
        </p:txBody>
      </p:sp>
      <p:sp>
        <p:nvSpPr>
          <p:cNvPr id="81"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14</a:t>
            </a:r>
          </a:p>
        </p:txBody>
      </p:sp>
    </p:spTree>
    <p:extLst>
      <p:ext uri="{BB962C8B-B14F-4D97-AF65-F5344CB8AC3E}">
        <p14:creationId xmlns:p14="http://schemas.microsoft.com/office/powerpoint/2010/main" val="30322516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8"/>
                                        </p:tgtEl>
                                        <p:attrNameLst>
                                          <p:attrName>style.visibility</p:attrName>
                                        </p:attrNameLst>
                                      </p:cBhvr>
                                      <p:to>
                                        <p:strVal val="visible"/>
                                      </p:to>
                                    </p:set>
                                    <p:animEffect transition="in" filter="fade">
                                      <p:cBhvr>
                                        <p:cTn id="10" dur="500"/>
                                        <p:tgtEl>
                                          <p:spTgt spid="78"/>
                                        </p:tgtEl>
                                      </p:cBhvr>
                                    </p:animEffect>
                                  </p:childTnLst>
                                </p:cTn>
                              </p:par>
                              <p:par>
                                <p:cTn id="11" presetID="10" presetClass="entr" presetSubtype="0" fill="hold" nodeType="withEffect">
                                  <p:stCondLst>
                                    <p:cond delay="60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500"/>
                                        <p:tgtEl>
                                          <p:spTgt spid="79"/>
                                        </p:tgtEl>
                                      </p:cBhvr>
                                    </p:animEffect>
                                  </p:childTnLst>
                                </p:cTn>
                              </p:par>
                              <p:par>
                                <p:cTn id="14" presetID="10" presetClass="entr" presetSubtype="0" fill="hold" nodeType="withEffect">
                                  <p:stCondLst>
                                    <p:cond delay="900"/>
                                  </p:stCondLst>
                                  <p:childTnLst>
                                    <p:set>
                                      <p:cBhvr>
                                        <p:cTn id="15" dur="1" fill="hold">
                                          <p:stCondLst>
                                            <p:cond delay="0"/>
                                          </p:stCondLst>
                                        </p:cTn>
                                        <p:tgtEl>
                                          <p:spTgt spid="80"/>
                                        </p:tgtEl>
                                        <p:attrNameLst>
                                          <p:attrName>style.visibility</p:attrName>
                                        </p:attrNameLst>
                                      </p:cBhvr>
                                      <p:to>
                                        <p:strVal val="visible"/>
                                      </p:to>
                                    </p:set>
                                    <p:animEffect transition="in" filter="fade">
                                      <p:cBhvr>
                                        <p:cTn id="16"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Finding the hatches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wo engines and machinery arms" descr="A tender engine and a tank engine, each with its water hatch and coal point in a different place. A machinery arm reaches to a crosshair on each point."/>
          <p:cNvGrpSpPr/>
          <p:nvPr/>
        </p:nvGrpSpPr>
        <p:grpSpPr>
          <a:xfrm>
            <a:off x="518160" y="1874519"/>
            <a:ext cx="11094720" cy="3767329"/>
            <a:chOff x="518160" y="1874519"/>
            <a:chExt cx="11094720" cy="3767329"/>
          </a:xfrm>
        </p:grpSpPr>
        <p:sp>
          <p:nvSpPr>
            <p:cNvPr id="5" name="rail"/>
            <p:cNvSpPr/>
            <p:nvPr/>
          </p:nvSpPr>
          <p:spPr>
            <a:xfrm>
              <a:off x="548640" y="4434840"/>
              <a:ext cx="11064240" cy="64008"/>
            </a:xfrm>
            <a:prstGeom prst="rect">
              <a:avLst/>
            </a:prstGeom>
            <a:solidFill>
              <a:srgbClr val="9AA0A6"/>
            </a:solidFill>
            <a:ln>
              <a:noFill/>
            </a:ln>
          </p:spPr>
          <p:txBody>
            <a:bodyPr rtlCol="0" anchor="ctr"/>
            <a:lstStyle/>
            <a:p>
              <a:pPr algn="ctr"/>
              <a:endParaRPr/>
            </a:p>
          </p:txBody>
        </p:sp>
        <p:sp>
          <p:nvSpPr>
            <p:cNvPr id="6" name="tender body"/>
            <p:cNvSpPr/>
            <p:nvPr/>
          </p:nvSpPr>
          <p:spPr>
            <a:xfrm>
              <a:off x="1554480" y="3253740"/>
              <a:ext cx="1447800" cy="723900"/>
            </a:xfrm>
            <a:prstGeom prst="roundRect">
              <a:avLst>
                <a:gd name="adj" fmla="val 2631"/>
              </a:avLst>
            </a:prstGeom>
            <a:solidFill>
              <a:srgbClr val="6C7480"/>
            </a:solidFill>
            <a:ln>
              <a:noFill/>
            </a:ln>
          </p:spPr>
          <p:txBody>
            <a:bodyPr rtlCol="0" anchor="ctr"/>
            <a:lstStyle/>
            <a:p>
              <a:pPr algn="ctr"/>
              <a:endParaRPr/>
            </a:p>
          </p:txBody>
        </p:sp>
        <p:sp>
          <p:nvSpPr>
            <p:cNvPr id="7" name="tender coal"/>
            <p:cNvSpPr/>
            <p:nvPr/>
          </p:nvSpPr>
          <p:spPr>
            <a:xfrm>
              <a:off x="1668780" y="3120390"/>
              <a:ext cx="1219200" cy="171450"/>
            </a:xfrm>
            <a:prstGeom prst="rect">
              <a:avLst/>
            </a:prstGeom>
            <a:solidFill>
              <a:srgbClr val="1B1D21"/>
            </a:solidFill>
            <a:ln w="12700">
              <a:solidFill>
                <a:srgbClr val="9AA0A6"/>
              </a:solidFill>
            </a:ln>
          </p:spPr>
          <p:txBody>
            <a:bodyPr rtlCol="0" anchor="ctr"/>
            <a:lstStyle/>
            <a:p>
              <a:pPr algn="ctr"/>
              <a:endParaRPr/>
            </a:p>
          </p:txBody>
        </p:sp>
        <p:sp>
          <p:nvSpPr>
            <p:cNvPr id="8" name="tender frame"/>
            <p:cNvSpPr/>
            <p:nvPr/>
          </p:nvSpPr>
          <p:spPr>
            <a:xfrm>
              <a:off x="1554480" y="3977639"/>
              <a:ext cx="1447800" cy="114300"/>
            </a:xfrm>
            <a:prstGeom prst="rect">
              <a:avLst/>
            </a:prstGeom>
            <a:solidFill>
              <a:srgbClr val="3A3F47"/>
            </a:solidFill>
            <a:ln w="9525">
              <a:solidFill>
                <a:srgbClr val="9AA0A6"/>
              </a:solidFill>
            </a:ln>
          </p:spPr>
          <p:txBody>
            <a:bodyPr rtlCol="0" anchor="ctr"/>
            <a:lstStyle/>
            <a:p>
              <a:pPr algn="ctr"/>
              <a:endParaRPr/>
            </a:p>
          </p:txBody>
        </p:sp>
        <p:sp>
          <p:nvSpPr>
            <p:cNvPr id="9" name="coupling"/>
            <p:cNvSpPr/>
            <p:nvPr/>
          </p:nvSpPr>
          <p:spPr>
            <a:xfrm>
              <a:off x="3002280" y="3749039"/>
              <a:ext cx="152400" cy="76200"/>
            </a:xfrm>
            <a:prstGeom prst="rect">
              <a:avLst/>
            </a:prstGeom>
            <a:solidFill>
              <a:srgbClr val="9AA0A6"/>
            </a:solidFill>
            <a:ln>
              <a:noFill/>
            </a:ln>
          </p:spPr>
          <p:txBody>
            <a:bodyPr rtlCol="0" anchor="ctr"/>
            <a:lstStyle/>
            <a:p>
              <a:pPr algn="ctr"/>
              <a:endParaRPr/>
            </a:p>
          </p:txBody>
        </p:sp>
        <p:sp>
          <p:nvSpPr>
            <p:cNvPr id="10" name="wheel"/>
            <p:cNvSpPr/>
            <p:nvPr/>
          </p:nvSpPr>
          <p:spPr>
            <a:xfrm>
              <a:off x="1611630" y="3863339"/>
              <a:ext cx="571500" cy="571500"/>
            </a:xfrm>
            <a:prstGeom prst="ellipse">
              <a:avLst/>
            </a:prstGeom>
            <a:solidFill>
              <a:srgbClr val="1B1D21"/>
            </a:solidFill>
            <a:ln w="19050">
              <a:solidFill>
                <a:srgbClr val="9AA0A6"/>
              </a:solidFill>
            </a:ln>
          </p:spPr>
          <p:txBody>
            <a:bodyPr rtlCol="0" anchor="ctr"/>
            <a:lstStyle/>
            <a:p>
              <a:pPr algn="ctr"/>
              <a:endParaRPr/>
            </a:p>
          </p:txBody>
        </p:sp>
        <p:sp>
          <p:nvSpPr>
            <p:cNvPr id="11" name="hub"/>
            <p:cNvSpPr/>
            <p:nvPr/>
          </p:nvSpPr>
          <p:spPr>
            <a:xfrm>
              <a:off x="1828800" y="4080509"/>
              <a:ext cx="137160" cy="137160"/>
            </a:xfrm>
            <a:prstGeom prst="ellipse">
              <a:avLst/>
            </a:prstGeom>
            <a:solidFill>
              <a:srgbClr val="9AA0A6"/>
            </a:solidFill>
            <a:ln>
              <a:noFill/>
            </a:ln>
          </p:spPr>
          <p:txBody>
            <a:bodyPr rtlCol="0" anchor="ctr"/>
            <a:lstStyle/>
            <a:p>
              <a:pPr algn="ctr"/>
              <a:endParaRPr/>
            </a:p>
          </p:txBody>
        </p:sp>
        <p:sp>
          <p:nvSpPr>
            <p:cNvPr id="12" name="wheel"/>
            <p:cNvSpPr/>
            <p:nvPr/>
          </p:nvSpPr>
          <p:spPr>
            <a:xfrm>
              <a:off x="2373630" y="3863339"/>
              <a:ext cx="571500" cy="571500"/>
            </a:xfrm>
            <a:prstGeom prst="ellipse">
              <a:avLst/>
            </a:prstGeom>
            <a:solidFill>
              <a:srgbClr val="1B1D21"/>
            </a:solidFill>
            <a:ln w="19050">
              <a:solidFill>
                <a:srgbClr val="9AA0A6"/>
              </a:solidFill>
            </a:ln>
          </p:spPr>
          <p:txBody>
            <a:bodyPr rtlCol="0" anchor="ctr"/>
            <a:lstStyle/>
            <a:p>
              <a:pPr algn="ctr"/>
              <a:endParaRPr/>
            </a:p>
          </p:txBody>
        </p:sp>
        <p:sp>
          <p:nvSpPr>
            <p:cNvPr id="13" name="hub"/>
            <p:cNvSpPr/>
            <p:nvPr/>
          </p:nvSpPr>
          <p:spPr>
            <a:xfrm>
              <a:off x="2590799" y="4080509"/>
              <a:ext cx="137160" cy="137160"/>
            </a:xfrm>
            <a:prstGeom prst="ellipse">
              <a:avLst/>
            </a:prstGeom>
            <a:solidFill>
              <a:srgbClr val="9AA0A6"/>
            </a:solidFill>
            <a:ln>
              <a:noFill/>
            </a:ln>
          </p:spPr>
          <p:txBody>
            <a:bodyPr rtlCol="0" anchor="ctr"/>
            <a:lstStyle/>
            <a:p>
              <a:pPr algn="ctr"/>
              <a:endParaRPr/>
            </a:p>
          </p:txBody>
        </p:sp>
        <p:sp>
          <p:nvSpPr>
            <p:cNvPr id="14" name="cab"/>
            <p:cNvSpPr/>
            <p:nvPr/>
          </p:nvSpPr>
          <p:spPr>
            <a:xfrm>
              <a:off x="3078480" y="2910840"/>
              <a:ext cx="762000" cy="1066800"/>
            </a:xfrm>
            <a:prstGeom prst="roundRect">
              <a:avLst>
                <a:gd name="adj" fmla="val 2500"/>
              </a:avLst>
            </a:prstGeom>
            <a:solidFill>
              <a:srgbClr val="F28C28"/>
            </a:solidFill>
            <a:ln>
              <a:noFill/>
            </a:ln>
          </p:spPr>
          <p:txBody>
            <a:bodyPr rtlCol="0" anchor="ctr"/>
            <a:lstStyle/>
            <a:p>
              <a:pPr algn="ctr"/>
              <a:endParaRPr/>
            </a:p>
          </p:txBody>
        </p:sp>
        <p:sp>
          <p:nvSpPr>
            <p:cNvPr id="15" name="cab roof"/>
            <p:cNvSpPr/>
            <p:nvPr/>
          </p:nvSpPr>
          <p:spPr>
            <a:xfrm>
              <a:off x="3040380" y="2853690"/>
              <a:ext cx="838200" cy="83820"/>
            </a:xfrm>
            <a:prstGeom prst="rect">
              <a:avLst/>
            </a:prstGeom>
            <a:solidFill>
              <a:srgbClr val="3A3F47"/>
            </a:solidFill>
            <a:ln w="9525">
              <a:solidFill>
                <a:srgbClr val="9AA0A6"/>
              </a:solidFill>
            </a:ln>
          </p:spPr>
          <p:txBody>
            <a:bodyPr rtlCol="0" anchor="ctr"/>
            <a:lstStyle/>
            <a:p>
              <a:pPr algn="ctr"/>
              <a:endParaRPr/>
            </a:p>
          </p:txBody>
        </p:sp>
        <p:sp>
          <p:nvSpPr>
            <p:cNvPr id="16" name="cab window"/>
            <p:cNvSpPr/>
            <p:nvPr/>
          </p:nvSpPr>
          <p:spPr>
            <a:xfrm>
              <a:off x="3230880" y="3120390"/>
              <a:ext cx="457200" cy="342900"/>
            </a:xfrm>
            <a:prstGeom prst="rect">
              <a:avLst/>
            </a:prstGeom>
            <a:solidFill>
              <a:srgbClr val="1B1D21"/>
            </a:solidFill>
            <a:ln>
              <a:noFill/>
            </a:ln>
          </p:spPr>
          <p:txBody>
            <a:bodyPr rtlCol="0" anchor="ctr"/>
            <a:lstStyle/>
            <a:p>
              <a:pPr algn="ctr"/>
              <a:endParaRPr/>
            </a:p>
          </p:txBody>
        </p:sp>
        <p:sp>
          <p:nvSpPr>
            <p:cNvPr id="17" name="boiler"/>
            <p:cNvSpPr/>
            <p:nvPr/>
          </p:nvSpPr>
          <p:spPr>
            <a:xfrm>
              <a:off x="3840480" y="3139440"/>
              <a:ext cx="2286000" cy="838200"/>
            </a:xfrm>
            <a:prstGeom prst="roundRect">
              <a:avLst>
                <a:gd name="adj" fmla="val 27272"/>
              </a:avLst>
            </a:prstGeom>
            <a:solidFill>
              <a:srgbClr val="F28C28"/>
            </a:solidFill>
            <a:ln>
              <a:noFill/>
            </a:ln>
          </p:spPr>
          <p:txBody>
            <a:bodyPr rtlCol="0" anchor="ctr"/>
            <a:lstStyle/>
            <a:p>
              <a:pPr algn="ctr"/>
              <a:endParaRPr/>
            </a:p>
          </p:txBody>
        </p:sp>
        <p:sp>
          <p:nvSpPr>
            <p:cNvPr id="18" name="chimney"/>
            <p:cNvSpPr/>
            <p:nvPr/>
          </p:nvSpPr>
          <p:spPr>
            <a:xfrm>
              <a:off x="5631180" y="2796540"/>
              <a:ext cx="266700" cy="361950"/>
            </a:xfrm>
            <a:prstGeom prst="rect">
              <a:avLst/>
            </a:prstGeom>
            <a:solidFill>
              <a:srgbClr val="3A3F47"/>
            </a:solidFill>
            <a:ln w="9525">
              <a:solidFill>
                <a:srgbClr val="9AA0A6"/>
              </a:solidFill>
            </a:ln>
          </p:spPr>
          <p:txBody>
            <a:bodyPr rtlCol="0" anchor="ctr"/>
            <a:lstStyle/>
            <a:p>
              <a:pPr algn="ctr"/>
              <a:endParaRPr/>
            </a:p>
          </p:txBody>
        </p:sp>
        <p:sp>
          <p:nvSpPr>
            <p:cNvPr id="19" name="chimney lip"/>
            <p:cNvSpPr/>
            <p:nvPr/>
          </p:nvSpPr>
          <p:spPr>
            <a:xfrm>
              <a:off x="5574030" y="2758440"/>
              <a:ext cx="381000" cy="76200"/>
            </a:xfrm>
            <a:prstGeom prst="rect">
              <a:avLst/>
            </a:prstGeom>
            <a:solidFill>
              <a:srgbClr val="3A3F47"/>
            </a:solidFill>
            <a:ln w="9525">
              <a:solidFill>
                <a:srgbClr val="9AA0A6"/>
              </a:solidFill>
            </a:ln>
          </p:spPr>
          <p:txBody>
            <a:bodyPr rtlCol="0" anchor="ctr"/>
            <a:lstStyle/>
            <a:p>
              <a:pPr algn="ctr"/>
              <a:endParaRPr/>
            </a:p>
          </p:txBody>
        </p:sp>
        <p:sp>
          <p:nvSpPr>
            <p:cNvPr id="20" name="dome"/>
            <p:cNvSpPr/>
            <p:nvPr/>
          </p:nvSpPr>
          <p:spPr>
            <a:xfrm>
              <a:off x="4488180" y="2967990"/>
              <a:ext cx="381000" cy="190500"/>
            </a:xfrm>
            <a:prstGeom prst="roundRect">
              <a:avLst>
                <a:gd name="adj" fmla="val 40000"/>
              </a:avLst>
            </a:prstGeom>
            <a:solidFill>
              <a:srgbClr val="F28C28"/>
            </a:solidFill>
            <a:ln>
              <a:noFill/>
            </a:ln>
          </p:spPr>
          <p:txBody>
            <a:bodyPr rtlCol="0" anchor="ctr"/>
            <a:lstStyle/>
            <a:p>
              <a:pPr algn="ctr"/>
              <a:endParaRPr/>
            </a:p>
          </p:txBody>
        </p:sp>
        <p:sp>
          <p:nvSpPr>
            <p:cNvPr id="21" name="frame"/>
            <p:cNvSpPr/>
            <p:nvPr/>
          </p:nvSpPr>
          <p:spPr>
            <a:xfrm>
              <a:off x="3078480" y="3977639"/>
              <a:ext cx="3048000" cy="114300"/>
            </a:xfrm>
            <a:prstGeom prst="rect">
              <a:avLst/>
            </a:prstGeom>
            <a:solidFill>
              <a:srgbClr val="3A3F47"/>
            </a:solidFill>
            <a:ln w="9525">
              <a:solidFill>
                <a:srgbClr val="9AA0A6"/>
              </a:solidFill>
            </a:ln>
          </p:spPr>
          <p:txBody>
            <a:bodyPr rtlCol="0" anchor="ctr"/>
            <a:lstStyle/>
            <a:p>
              <a:pPr algn="ctr"/>
              <a:endParaRPr/>
            </a:p>
          </p:txBody>
        </p:sp>
        <p:sp>
          <p:nvSpPr>
            <p:cNvPr id="22" name="wheel"/>
            <p:cNvSpPr/>
            <p:nvPr/>
          </p:nvSpPr>
          <p:spPr>
            <a:xfrm>
              <a:off x="3630930" y="3863339"/>
              <a:ext cx="571500" cy="571500"/>
            </a:xfrm>
            <a:prstGeom prst="ellipse">
              <a:avLst/>
            </a:prstGeom>
            <a:solidFill>
              <a:srgbClr val="1B1D21"/>
            </a:solidFill>
            <a:ln w="19050">
              <a:solidFill>
                <a:srgbClr val="9AA0A6"/>
              </a:solidFill>
            </a:ln>
          </p:spPr>
          <p:txBody>
            <a:bodyPr rtlCol="0" anchor="ctr"/>
            <a:lstStyle/>
            <a:p>
              <a:pPr algn="ctr"/>
              <a:endParaRPr/>
            </a:p>
          </p:txBody>
        </p:sp>
        <p:sp>
          <p:nvSpPr>
            <p:cNvPr id="23" name="hub"/>
            <p:cNvSpPr/>
            <p:nvPr/>
          </p:nvSpPr>
          <p:spPr>
            <a:xfrm>
              <a:off x="3848099" y="4080509"/>
              <a:ext cx="137160" cy="137160"/>
            </a:xfrm>
            <a:prstGeom prst="ellipse">
              <a:avLst/>
            </a:prstGeom>
            <a:solidFill>
              <a:srgbClr val="9AA0A6"/>
            </a:solidFill>
            <a:ln>
              <a:noFill/>
            </a:ln>
          </p:spPr>
          <p:txBody>
            <a:bodyPr rtlCol="0" anchor="ctr"/>
            <a:lstStyle/>
            <a:p>
              <a:pPr algn="ctr"/>
              <a:endParaRPr/>
            </a:p>
          </p:txBody>
        </p:sp>
        <p:sp>
          <p:nvSpPr>
            <p:cNvPr id="24" name="wheel"/>
            <p:cNvSpPr/>
            <p:nvPr/>
          </p:nvSpPr>
          <p:spPr>
            <a:xfrm>
              <a:off x="4392930" y="3863339"/>
              <a:ext cx="571500" cy="571500"/>
            </a:xfrm>
            <a:prstGeom prst="ellipse">
              <a:avLst/>
            </a:prstGeom>
            <a:solidFill>
              <a:srgbClr val="1B1D21"/>
            </a:solidFill>
            <a:ln w="19050">
              <a:solidFill>
                <a:srgbClr val="9AA0A6"/>
              </a:solidFill>
            </a:ln>
          </p:spPr>
          <p:txBody>
            <a:bodyPr rtlCol="0" anchor="ctr"/>
            <a:lstStyle/>
            <a:p>
              <a:pPr algn="ctr"/>
              <a:endParaRPr/>
            </a:p>
          </p:txBody>
        </p:sp>
        <p:sp>
          <p:nvSpPr>
            <p:cNvPr id="25" name="hub"/>
            <p:cNvSpPr/>
            <p:nvPr/>
          </p:nvSpPr>
          <p:spPr>
            <a:xfrm>
              <a:off x="4610099" y="4080509"/>
              <a:ext cx="137160" cy="137160"/>
            </a:xfrm>
            <a:prstGeom prst="ellipse">
              <a:avLst/>
            </a:prstGeom>
            <a:solidFill>
              <a:srgbClr val="9AA0A6"/>
            </a:solidFill>
            <a:ln>
              <a:noFill/>
            </a:ln>
          </p:spPr>
          <p:txBody>
            <a:bodyPr rtlCol="0" anchor="ctr"/>
            <a:lstStyle/>
            <a:p>
              <a:pPr algn="ctr"/>
              <a:endParaRPr/>
            </a:p>
          </p:txBody>
        </p:sp>
        <p:sp>
          <p:nvSpPr>
            <p:cNvPr id="26" name="wheel"/>
            <p:cNvSpPr/>
            <p:nvPr/>
          </p:nvSpPr>
          <p:spPr>
            <a:xfrm>
              <a:off x="5154930" y="3863339"/>
              <a:ext cx="571500" cy="571500"/>
            </a:xfrm>
            <a:prstGeom prst="ellipse">
              <a:avLst/>
            </a:prstGeom>
            <a:solidFill>
              <a:srgbClr val="1B1D21"/>
            </a:solidFill>
            <a:ln w="19050">
              <a:solidFill>
                <a:srgbClr val="9AA0A6"/>
              </a:solidFill>
            </a:ln>
          </p:spPr>
          <p:txBody>
            <a:bodyPr rtlCol="0" anchor="ctr"/>
            <a:lstStyle/>
            <a:p>
              <a:pPr algn="ctr"/>
              <a:endParaRPr/>
            </a:p>
          </p:txBody>
        </p:sp>
        <p:sp>
          <p:nvSpPr>
            <p:cNvPr id="27" name="hub"/>
            <p:cNvSpPr/>
            <p:nvPr/>
          </p:nvSpPr>
          <p:spPr>
            <a:xfrm>
              <a:off x="5372100" y="4080509"/>
              <a:ext cx="137160" cy="137160"/>
            </a:xfrm>
            <a:prstGeom prst="ellipse">
              <a:avLst/>
            </a:prstGeom>
            <a:solidFill>
              <a:srgbClr val="9AA0A6"/>
            </a:solidFill>
            <a:ln>
              <a:noFill/>
            </a:ln>
          </p:spPr>
          <p:txBody>
            <a:bodyPr rtlCol="0" anchor="ctr"/>
            <a:lstStyle/>
            <a:p>
              <a:pPr algn="ctr"/>
              <a:endParaRPr/>
            </a:p>
          </p:txBody>
        </p:sp>
        <p:sp>
          <p:nvSpPr>
            <p:cNvPr id="28" name="bunker"/>
            <p:cNvSpPr/>
            <p:nvPr/>
          </p:nvSpPr>
          <p:spPr>
            <a:xfrm>
              <a:off x="6858000" y="3215944"/>
              <a:ext cx="747064" cy="747064"/>
            </a:xfrm>
            <a:prstGeom prst="roundRect">
              <a:avLst>
                <a:gd name="adj" fmla="val 2631"/>
              </a:avLst>
            </a:prstGeom>
            <a:solidFill>
              <a:srgbClr val="F28C28"/>
            </a:solidFill>
            <a:ln>
              <a:noFill/>
            </a:ln>
          </p:spPr>
          <p:txBody>
            <a:bodyPr rtlCol="0" anchor="ctr"/>
            <a:lstStyle/>
            <a:p>
              <a:pPr algn="ctr"/>
              <a:endParaRPr/>
            </a:p>
          </p:txBody>
        </p:sp>
        <p:sp>
          <p:nvSpPr>
            <p:cNvPr id="29" name="bunker coal"/>
            <p:cNvSpPr/>
            <p:nvPr/>
          </p:nvSpPr>
          <p:spPr>
            <a:xfrm>
              <a:off x="6936638" y="3078327"/>
              <a:ext cx="589788" cy="176936"/>
            </a:xfrm>
            <a:prstGeom prst="rect">
              <a:avLst/>
            </a:prstGeom>
            <a:solidFill>
              <a:srgbClr val="1B1D21"/>
            </a:solidFill>
            <a:ln w="12700">
              <a:solidFill>
                <a:srgbClr val="9AA0A6"/>
              </a:solidFill>
            </a:ln>
          </p:spPr>
          <p:txBody>
            <a:bodyPr rtlCol="0" anchor="ctr"/>
            <a:lstStyle/>
            <a:p>
              <a:pPr algn="ctr"/>
              <a:endParaRPr/>
            </a:p>
          </p:txBody>
        </p:sp>
        <p:sp>
          <p:nvSpPr>
            <p:cNvPr id="30" name="cab"/>
            <p:cNvSpPr/>
            <p:nvPr/>
          </p:nvSpPr>
          <p:spPr>
            <a:xfrm>
              <a:off x="7565745" y="2862071"/>
              <a:ext cx="786384" cy="1100937"/>
            </a:xfrm>
            <a:prstGeom prst="roundRect">
              <a:avLst>
                <a:gd name="adj" fmla="val 2500"/>
              </a:avLst>
            </a:prstGeom>
            <a:solidFill>
              <a:srgbClr val="F28C28"/>
            </a:solidFill>
            <a:ln>
              <a:noFill/>
            </a:ln>
          </p:spPr>
          <p:txBody>
            <a:bodyPr rtlCol="0" anchor="ctr"/>
            <a:lstStyle/>
            <a:p>
              <a:pPr algn="ctr"/>
              <a:endParaRPr/>
            </a:p>
          </p:txBody>
        </p:sp>
        <p:sp>
          <p:nvSpPr>
            <p:cNvPr id="31" name="cab roof"/>
            <p:cNvSpPr/>
            <p:nvPr/>
          </p:nvSpPr>
          <p:spPr>
            <a:xfrm>
              <a:off x="7526426" y="2803093"/>
              <a:ext cx="865022" cy="86502"/>
            </a:xfrm>
            <a:prstGeom prst="rect">
              <a:avLst/>
            </a:prstGeom>
            <a:solidFill>
              <a:srgbClr val="3A3F47"/>
            </a:solidFill>
            <a:ln w="9525">
              <a:solidFill>
                <a:srgbClr val="9AA0A6"/>
              </a:solidFill>
            </a:ln>
          </p:spPr>
          <p:txBody>
            <a:bodyPr rtlCol="0" anchor="ctr"/>
            <a:lstStyle/>
            <a:p>
              <a:pPr algn="ctr"/>
              <a:endParaRPr/>
            </a:p>
          </p:txBody>
        </p:sp>
        <p:sp>
          <p:nvSpPr>
            <p:cNvPr id="32" name="cab window"/>
            <p:cNvSpPr/>
            <p:nvPr/>
          </p:nvSpPr>
          <p:spPr>
            <a:xfrm>
              <a:off x="7723022" y="3078327"/>
              <a:ext cx="471830" cy="353872"/>
            </a:xfrm>
            <a:prstGeom prst="rect">
              <a:avLst/>
            </a:prstGeom>
            <a:solidFill>
              <a:srgbClr val="1B1D21"/>
            </a:solidFill>
            <a:ln>
              <a:noFill/>
            </a:ln>
          </p:spPr>
          <p:txBody>
            <a:bodyPr rtlCol="0" anchor="ctr"/>
            <a:lstStyle/>
            <a:p>
              <a:pPr algn="ctr"/>
              <a:endParaRPr/>
            </a:p>
          </p:txBody>
        </p:sp>
        <p:sp>
          <p:nvSpPr>
            <p:cNvPr id="33" name="boiler"/>
            <p:cNvSpPr/>
            <p:nvPr/>
          </p:nvSpPr>
          <p:spPr>
            <a:xfrm>
              <a:off x="8352129" y="3097987"/>
              <a:ext cx="2359152" cy="865022"/>
            </a:xfrm>
            <a:prstGeom prst="roundRect">
              <a:avLst>
                <a:gd name="adj" fmla="val 27272"/>
              </a:avLst>
            </a:prstGeom>
            <a:solidFill>
              <a:srgbClr val="F28C28"/>
            </a:solidFill>
            <a:ln>
              <a:noFill/>
            </a:ln>
          </p:spPr>
          <p:txBody>
            <a:bodyPr rtlCol="0" anchor="ctr"/>
            <a:lstStyle/>
            <a:p>
              <a:pPr algn="ctr"/>
              <a:endParaRPr/>
            </a:p>
          </p:txBody>
        </p:sp>
        <p:sp>
          <p:nvSpPr>
            <p:cNvPr id="34" name="side tank"/>
            <p:cNvSpPr/>
            <p:nvPr/>
          </p:nvSpPr>
          <p:spPr>
            <a:xfrm>
              <a:off x="8391448" y="3373221"/>
              <a:ext cx="1808683" cy="589788"/>
            </a:xfrm>
            <a:prstGeom prst="roundRect">
              <a:avLst>
                <a:gd name="adj" fmla="val 13333"/>
              </a:avLst>
            </a:prstGeom>
            <a:solidFill>
              <a:srgbClr val="C96F1B"/>
            </a:solidFill>
            <a:ln>
              <a:noFill/>
            </a:ln>
          </p:spPr>
          <p:txBody>
            <a:bodyPr rtlCol="0" anchor="ctr"/>
            <a:lstStyle/>
            <a:p>
              <a:pPr algn="ctr"/>
              <a:endParaRPr/>
            </a:p>
          </p:txBody>
        </p:sp>
        <p:sp>
          <p:nvSpPr>
            <p:cNvPr id="35" name="chimney"/>
            <p:cNvSpPr/>
            <p:nvPr/>
          </p:nvSpPr>
          <p:spPr>
            <a:xfrm>
              <a:off x="10200132" y="2744114"/>
              <a:ext cx="275234" cy="373532"/>
            </a:xfrm>
            <a:prstGeom prst="rect">
              <a:avLst/>
            </a:prstGeom>
            <a:solidFill>
              <a:srgbClr val="3A3F47"/>
            </a:solidFill>
            <a:ln w="9525">
              <a:solidFill>
                <a:srgbClr val="9AA0A6"/>
              </a:solidFill>
            </a:ln>
          </p:spPr>
          <p:txBody>
            <a:bodyPr rtlCol="0" anchor="ctr"/>
            <a:lstStyle/>
            <a:p>
              <a:pPr algn="ctr"/>
              <a:endParaRPr/>
            </a:p>
          </p:txBody>
        </p:sp>
        <p:sp>
          <p:nvSpPr>
            <p:cNvPr id="36" name="chimney lip"/>
            <p:cNvSpPr/>
            <p:nvPr/>
          </p:nvSpPr>
          <p:spPr>
            <a:xfrm>
              <a:off x="10141153" y="2704795"/>
              <a:ext cx="393192" cy="78638"/>
            </a:xfrm>
            <a:prstGeom prst="rect">
              <a:avLst/>
            </a:prstGeom>
            <a:solidFill>
              <a:srgbClr val="3A3F47"/>
            </a:solidFill>
            <a:ln w="9525">
              <a:solidFill>
                <a:srgbClr val="9AA0A6"/>
              </a:solidFill>
            </a:ln>
          </p:spPr>
          <p:txBody>
            <a:bodyPr rtlCol="0" anchor="ctr"/>
            <a:lstStyle/>
            <a:p>
              <a:pPr algn="ctr"/>
              <a:endParaRPr/>
            </a:p>
          </p:txBody>
        </p:sp>
        <p:sp>
          <p:nvSpPr>
            <p:cNvPr id="37" name="dome"/>
            <p:cNvSpPr/>
            <p:nvPr/>
          </p:nvSpPr>
          <p:spPr>
            <a:xfrm>
              <a:off x="10278770" y="3019348"/>
              <a:ext cx="393192" cy="98298"/>
            </a:xfrm>
            <a:prstGeom prst="roundRect">
              <a:avLst>
                <a:gd name="adj" fmla="val 50000"/>
              </a:avLst>
            </a:prstGeom>
            <a:solidFill>
              <a:srgbClr val="F28C28"/>
            </a:solidFill>
            <a:ln>
              <a:noFill/>
            </a:ln>
          </p:spPr>
          <p:txBody>
            <a:bodyPr rtlCol="0" anchor="ctr"/>
            <a:lstStyle/>
            <a:p>
              <a:pPr algn="ctr"/>
              <a:endParaRPr/>
            </a:p>
          </p:txBody>
        </p:sp>
        <p:sp>
          <p:nvSpPr>
            <p:cNvPr id="38" name="frame"/>
            <p:cNvSpPr/>
            <p:nvPr/>
          </p:nvSpPr>
          <p:spPr>
            <a:xfrm>
              <a:off x="7565745" y="3963009"/>
              <a:ext cx="3145536" cy="117957"/>
            </a:xfrm>
            <a:prstGeom prst="rect">
              <a:avLst/>
            </a:prstGeom>
            <a:solidFill>
              <a:srgbClr val="3A3F47"/>
            </a:solidFill>
            <a:ln w="9525">
              <a:solidFill>
                <a:srgbClr val="9AA0A6"/>
              </a:solidFill>
            </a:ln>
          </p:spPr>
          <p:txBody>
            <a:bodyPr rtlCol="0" anchor="ctr"/>
            <a:lstStyle/>
            <a:p>
              <a:pPr algn="ctr"/>
              <a:endParaRPr/>
            </a:p>
          </p:txBody>
        </p:sp>
        <p:sp>
          <p:nvSpPr>
            <p:cNvPr id="39" name="wheel"/>
            <p:cNvSpPr/>
            <p:nvPr/>
          </p:nvSpPr>
          <p:spPr>
            <a:xfrm>
              <a:off x="8057235" y="3845051"/>
              <a:ext cx="589788" cy="589788"/>
            </a:xfrm>
            <a:prstGeom prst="ellipse">
              <a:avLst/>
            </a:prstGeom>
            <a:solidFill>
              <a:srgbClr val="1B1D21"/>
            </a:solidFill>
            <a:ln w="19050">
              <a:solidFill>
                <a:srgbClr val="9AA0A6"/>
              </a:solidFill>
            </a:ln>
          </p:spPr>
          <p:txBody>
            <a:bodyPr rtlCol="0" anchor="ctr"/>
            <a:lstStyle/>
            <a:p>
              <a:pPr algn="ctr"/>
              <a:endParaRPr/>
            </a:p>
          </p:txBody>
        </p:sp>
        <p:sp>
          <p:nvSpPr>
            <p:cNvPr id="40" name="hub"/>
            <p:cNvSpPr/>
            <p:nvPr/>
          </p:nvSpPr>
          <p:spPr>
            <a:xfrm>
              <a:off x="8281355" y="4069171"/>
              <a:ext cx="141549" cy="141549"/>
            </a:xfrm>
            <a:prstGeom prst="ellipse">
              <a:avLst/>
            </a:prstGeom>
            <a:solidFill>
              <a:srgbClr val="9AA0A6"/>
            </a:solidFill>
            <a:ln>
              <a:noFill/>
            </a:ln>
          </p:spPr>
          <p:txBody>
            <a:bodyPr rtlCol="0" anchor="ctr"/>
            <a:lstStyle/>
            <a:p>
              <a:pPr algn="ctr"/>
              <a:endParaRPr/>
            </a:p>
          </p:txBody>
        </p:sp>
        <p:sp>
          <p:nvSpPr>
            <p:cNvPr id="41" name="wheel"/>
            <p:cNvSpPr/>
            <p:nvPr/>
          </p:nvSpPr>
          <p:spPr>
            <a:xfrm>
              <a:off x="8843619" y="3845051"/>
              <a:ext cx="589788" cy="589788"/>
            </a:xfrm>
            <a:prstGeom prst="ellipse">
              <a:avLst/>
            </a:prstGeom>
            <a:solidFill>
              <a:srgbClr val="1B1D21"/>
            </a:solidFill>
            <a:ln w="19050">
              <a:solidFill>
                <a:srgbClr val="9AA0A6"/>
              </a:solidFill>
            </a:ln>
          </p:spPr>
          <p:txBody>
            <a:bodyPr rtlCol="0" anchor="ctr"/>
            <a:lstStyle/>
            <a:p>
              <a:pPr algn="ctr"/>
              <a:endParaRPr/>
            </a:p>
          </p:txBody>
        </p:sp>
        <p:sp>
          <p:nvSpPr>
            <p:cNvPr id="42" name="hub"/>
            <p:cNvSpPr/>
            <p:nvPr/>
          </p:nvSpPr>
          <p:spPr>
            <a:xfrm>
              <a:off x="9067739" y="4069171"/>
              <a:ext cx="141549" cy="141549"/>
            </a:xfrm>
            <a:prstGeom prst="ellipse">
              <a:avLst/>
            </a:prstGeom>
            <a:solidFill>
              <a:srgbClr val="9AA0A6"/>
            </a:solidFill>
            <a:ln>
              <a:noFill/>
            </a:ln>
          </p:spPr>
          <p:txBody>
            <a:bodyPr rtlCol="0" anchor="ctr"/>
            <a:lstStyle/>
            <a:p>
              <a:pPr algn="ctr"/>
              <a:endParaRPr/>
            </a:p>
          </p:txBody>
        </p:sp>
        <p:sp>
          <p:nvSpPr>
            <p:cNvPr id="43" name="wheel"/>
            <p:cNvSpPr/>
            <p:nvPr/>
          </p:nvSpPr>
          <p:spPr>
            <a:xfrm>
              <a:off x="9630003" y="3845051"/>
              <a:ext cx="589788" cy="589788"/>
            </a:xfrm>
            <a:prstGeom prst="ellipse">
              <a:avLst/>
            </a:prstGeom>
            <a:solidFill>
              <a:srgbClr val="1B1D21"/>
            </a:solidFill>
            <a:ln w="19050">
              <a:solidFill>
                <a:srgbClr val="9AA0A6"/>
              </a:solidFill>
            </a:ln>
          </p:spPr>
          <p:txBody>
            <a:bodyPr rtlCol="0" anchor="ctr"/>
            <a:lstStyle/>
            <a:p>
              <a:pPr algn="ctr"/>
              <a:endParaRPr/>
            </a:p>
          </p:txBody>
        </p:sp>
        <p:sp>
          <p:nvSpPr>
            <p:cNvPr id="44" name="hub"/>
            <p:cNvSpPr/>
            <p:nvPr/>
          </p:nvSpPr>
          <p:spPr>
            <a:xfrm>
              <a:off x="9854123" y="4069171"/>
              <a:ext cx="141549" cy="141549"/>
            </a:xfrm>
            <a:prstGeom prst="ellipse">
              <a:avLst/>
            </a:prstGeom>
            <a:solidFill>
              <a:srgbClr val="9AA0A6"/>
            </a:solidFill>
            <a:ln>
              <a:noFill/>
            </a:ln>
          </p:spPr>
          <p:txBody>
            <a:bodyPr rtlCol="0" anchor="ctr"/>
            <a:lstStyle/>
            <a:p>
              <a:pPr algn="ctr"/>
              <a:endParaRPr/>
            </a:p>
          </p:txBody>
        </p:sp>
        <p:cxnSp>
          <p:nvCxnSpPr>
            <p:cNvPr id="45" name="gantry post"/>
            <p:cNvCxnSpPr/>
            <p:nvPr/>
          </p:nvCxnSpPr>
          <p:spPr>
            <a:xfrm>
              <a:off x="914400" y="2331720"/>
              <a:ext cx="0" cy="2103120"/>
            </a:xfrm>
            <a:prstGeom prst="line">
              <a:avLst/>
            </a:prstGeom>
            <a:ln w="76200">
              <a:solidFill>
                <a:srgbClr val="9AA0A6"/>
              </a:solidFill>
            </a:ln>
          </p:spPr>
        </p:cxnSp>
        <p:cxnSp>
          <p:nvCxnSpPr>
            <p:cNvPr id="46" name="gantry beam"/>
            <p:cNvCxnSpPr/>
            <p:nvPr/>
          </p:nvCxnSpPr>
          <p:spPr>
            <a:xfrm>
              <a:off x="914400" y="2331720"/>
              <a:ext cx="2560320" cy="0"/>
            </a:xfrm>
            <a:prstGeom prst="line">
              <a:avLst/>
            </a:prstGeom>
            <a:ln w="76200">
              <a:solidFill>
                <a:srgbClr val="9AA0A6"/>
              </a:solidFill>
            </a:ln>
          </p:spPr>
        </p:cxnSp>
        <p:cxnSp>
          <p:nvCxnSpPr>
            <p:cNvPr id="47" name="machinery arm"/>
            <p:cNvCxnSpPr/>
            <p:nvPr/>
          </p:nvCxnSpPr>
          <p:spPr>
            <a:xfrm>
              <a:off x="1935480" y="2331720"/>
              <a:ext cx="0" cy="766572"/>
            </a:xfrm>
            <a:prstGeom prst="line">
              <a:avLst/>
            </a:prstGeom>
            <a:ln w="63500">
              <a:solidFill>
                <a:srgbClr val="9AA0A6"/>
              </a:solidFill>
            </a:ln>
          </p:spPr>
        </p:cxnSp>
        <p:sp>
          <p:nvSpPr>
            <p:cNvPr id="48" name="crosshair ring"/>
            <p:cNvSpPr/>
            <p:nvPr/>
          </p:nvSpPr>
          <p:spPr>
            <a:xfrm>
              <a:off x="1780032" y="3098292"/>
              <a:ext cx="310896" cy="310896"/>
            </a:xfrm>
            <a:prstGeom prst="ellipse">
              <a:avLst/>
            </a:prstGeom>
            <a:noFill/>
            <a:ln w="76200">
              <a:solidFill>
                <a:srgbClr val="101418"/>
              </a:solidFill>
            </a:ln>
          </p:spPr>
          <p:txBody>
            <a:bodyPr rtlCol="0" anchor="ctr"/>
            <a:lstStyle/>
            <a:p>
              <a:pPr algn="ctr"/>
              <a:endParaRPr/>
            </a:p>
          </p:txBody>
        </p:sp>
        <p:cxnSp>
          <p:nvCxnSpPr>
            <p:cNvPr id="49" name="crosshair"/>
            <p:cNvCxnSpPr/>
            <p:nvPr/>
          </p:nvCxnSpPr>
          <p:spPr>
            <a:xfrm>
              <a:off x="1686763" y="3253740"/>
              <a:ext cx="497433" cy="0"/>
            </a:xfrm>
            <a:prstGeom prst="line">
              <a:avLst/>
            </a:prstGeom>
            <a:ln w="60960">
              <a:solidFill>
                <a:srgbClr val="101418"/>
              </a:solidFill>
            </a:ln>
          </p:spPr>
        </p:cxnSp>
        <p:cxnSp>
          <p:nvCxnSpPr>
            <p:cNvPr id="50" name="crosshair"/>
            <p:cNvCxnSpPr/>
            <p:nvPr/>
          </p:nvCxnSpPr>
          <p:spPr>
            <a:xfrm>
              <a:off x="1935480" y="3005023"/>
              <a:ext cx="0" cy="497433"/>
            </a:xfrm>
            <a:prstGeom prst="line">
              <a:avLst/>
            </a:prstGeom>
            <a:ln w="60960">
              <a:solidFill>
                <a:srgbClr val="101418"/>
              </a:solidFill>
            </a:ln>
          </p:spPr>
        </p:cxnSp>
        <p:sp>
          <p:nvSpPr>
            <p:cNvPr id="51" name="crosshair ring"/>
            <p:cNvSpPr/>
            <p:nvPr/>
          </p:nvSpPr>
          <p:spPr>
            <a:xfrm>
              <a:off x="1780032" y="3098292"/>
              <a:ext cx="310896" cy="310896"/>
            </a:xfrm>
            <a:prstGeom prst="ellipse">
              <a:avLst/>
            </a:prstGeom>
            <a:noFill/>
            <a:ln w="31750">
              <a:solidFill>
                <a:srgbClr val="F2F2F2"/>
              </a:solidFill>
            </a:ln>
          </p:spPr>
          <p:txBody>
            <a:bodyPr rtlCol="0" anchor="ctr"/>
            <a:lstStyle/>
            <a:p>
              <a:pPr algn="ctr"/>
              <a:endParaRPr/>
            </a:p>
          </p:txBody>
        </p:sp>
        <p:cxnSp>
          <p:nvCxnSpPr>
            <p:cNvPr id="52" name="crosshair"/>
            <p:cNvCxnSpPr/>
            <p:nvPr/>
          </p:nvCxnSpPr>
          <p:spPr>
            <a:xfrm>
              <a:off x="1686763" y="3253740"/>
              <a:ext cx="497433" cy="0"/>
            </a:xfrm>
            <a:prstGeom prst="line">
              <a:avLst/>
            </a:prstGeom>
            <a:ln w="25400">
              <a:solidFill>
                <a:srgbClr val="F2F2F2"/>
              </a:solidFill>
            </a:ln>
          </p:spPr>
        </p:cxnSp>
        <p:cxnSp>
          <p:nvCxnSpPr>
            <p:cNvPr id="53" name="crosshair"/>
            <p:cNvCxnSpPr/>
            <p:nvPr/>
          </p:nvCxnSpPr>
          <p:spPr>
            <a:xfrm>
              <a:off x="1935480" y="3005023"/>
              <a:ext cx="0" cy="497433"/>
            </a:xfrm>
            <a:prstGeom prst="line">
              <a:avLst/>
            </a:prstGeom>
            <a:ln w="25400">
              <a:solidFill>
                <a:srgbClr val="F2F2F2"/>
              </a:solidFill>
            </a:ln>
          </p:spPr>
        </p:cxnSp>
        <p:cxnSp>
          <p:nvCxnSpPr>
            <p:cNvPr id="54" name="machinery arm"/>
            <p:cNvCxnSpPr/>
            <p:nvPr/>
          </p:nvCxnSpPr>
          <p:spPr>
            <a:xfrm>
              <a:off x="2468880" y="2331720"/>
              <a:ext cx="0" cy="633222"/>
            </a:xfrm>
            <a:prstGeom prst="line">
              <a:avLst/>
            </a:prstGeom>
            <a:ln w="63500">
              <a:solidFill>
                <a:srgbClr val="9AA0A6"/>
              </a:solidFill>
            </a:ln>
          </p:spPr>
        </p:cxnSp>
        <p:sp>
          <p:nvSpPr>
            <p:cNvPr id="55" name="crosshair ring"/>
            <p:cNvSpPr/>
            <p:nvPr/>
          </p:nvSpPr>
          <p:spPr>
            <a:xfrm>
              <a:off x="2313432" y="2964942"/>
              <a:ext cx="310896" cy="310896"/>
            </a:xfrm>
            <a:prstGeom prst="ellipse">
              <a:avLst/>
            </a:prstGeom>
            <a:noFill/>
            <a:ln w="76200">
              <a:solidFill>
                <a:srgbClr val="101418"/>
              </a:solidFill>
            </a:ln>
          </p:spPr>
          <p:txBody>
            <a:bodyPr rtlCol="0" anchor="ctr"/>
            <a:lstStyle/>
            <a:p>
              <a:pPr algn="ctr"/>
              <a:endParaRPr/>
            </a:p>
          </p:txBody>
        </p:sp>
        <p:cxnSp>
          <p:nvCxnSpPr>
            <p:cNvPr id="56" name="crosshair"/>
            <p:cNvCxnSpPr/>
            <p:nvPr/>
          </p:nvCxnSpPr>
          <p:spPr>
            <a:xfrm>
              <a:off x="2220163" y="3120390"/>
              <a:ext cx="497433" cy="0"/>
            </a:xfrm>
            <a:prstGeom prst="line">
              <a:avLst/>
            </a:prstGeom>
            <a:ln w="60960">
              <a:solidFill>
                <a:srgbClr val="101418"/>
              </a:solidFill>
            </a:ln>
          </p:spPr>
        </p:cxnSp>
        <p:cxnSp>
          <p:nvCxnSpPr>
            <p:cNvPr id="57" name="crosshair"/>
            <p:cNvCxnSpPr/>
            <p:nvPr/>
          </p:nvCxnSpPr>
          <p:spPr>
            <a:xfrm>
              <a:off x="2468880" y="2871673"/>
              <a:ext cx="0" cy="497433"/>
            </a:xfrm>
            <a:prstGeom prst="line">
              <a:avLst/>
            </a:prstGeom>
            <a:ln w="60960">
              <a:solidFill>
                <a:srgbClr val="101418"/>
              </a:solidFill>
            </a:ln>
          </p:spPr>
        </p:cxnSp>
        <p:sp>
          <p:nvSpPr>
            <p:cNvPr id="58" name="crosshair ring"/>
            <p:cNvSpPr/>
            <p:nvPr/>
          </p:nvSpPr>
          <p:spPr>
            <a:xfrm>
              <a:off x="2313432" y="2964942"/>
              <a:ext cx="310896" cy="310896"/>
            </a:xfrm>
            <a:prstGeom prst="ellipse">
              <a:avLst/>
            </a:prstGeom>
            <a:noFill/>
            <a:ln w="31750">
              <a:solidFill>
                <a:srgbClr val="F2F2F2"/>
              </a:solidFill>
            </a:ln>
          </p:spPr>
          <p:txBody>
            <a:bodyPr rtlCol="0" anchor="ctr"/>
            <a:lstStyle/>
            <a:p>
              <a:pPr algn="ctr"/>
              <a:endParaRPr/>
            </a:p>
          </p:txBody>
        </p:sp>
        <p:cxnSp>
          <p:nvCxnSpPr>
            <p:cNvPr id="59" name="crosshair"/>
            <p:cNvCxnSpPr/>
            <p:nvPr/>
          </p:nvCxnSpPr>
          <p:spPr>
            <a:xfrm>
              <a:off x="2220163" y="3120390"/>
              <a:ext cx="497433" cy="0"/>
            </a:xfrm>
            <a:prstGeom prst="line">
              <a:avLst/>
            </a:prstGeom>
            <a:ln w="25400">
              <a:solidFill>
                <a:srgbClr val="F2F2F2"/>
              </a:solidFill>
            </a:ln>
          </p:spPr>
        </p:cxnSp>
        <p:cxnSp>
          <p:nvCxnSpPr>
            <p:cNvPr id="60" name="crosshair"/>
            <p:cNvCxnSpPr/>
            <p:nvPr/>
          </p:nvCxnSpPr>
          <p:spPr>
            <a:xfrm>
              <a:off x="2468880" y="2871673"/>
              <a:ext cx="0" cy="497433"/>
            </a:xfrm>
            <a:prstGeom prst="line">
              <a:avLst/>
            </a:prstGeom>
            <a:ln w="25400">
              <a:solidFill>
                <a:srgbClr val="F2F2F2"/>
              </a:solidFill>
            </a:ln>
          </p:spPr>
        </p:cxnSp>
        <p:cxnSp>
          <p:nvCxnSpPr>
            <p:cNvPr id="61" name="gantry post"/>
            <p:cNvCxnSpPr/>
            <p:nvPr/>
          </p:nvCxnSpPr>
          <p:spPr>
            <a:xfrm>
              <a:off x="6400800" y="2331720"/>
              <a:ext cx="0" cy="2103120"/>
            </a:xfrm>
            <a:prstGeom prst="line">
              <a:avLst/>
            </a:prstGeom>
            <a:ln w="76200">
              <a:solidFill>
                <a:srgbClr val="9AA0A6"/>
              </a:solidFill>
            </a:ln>
          </p:spPr>
        </p:cxnSp>
        <p:cxnSp>
          <p:nvCxnSpPr>
            <p:cNvPr id="62" name="gantry beam"/>
            <p:cNvCxnSpPr/>
            <p:nvPr/>
          </p:nvCxnSpPr>
          <p:spPr>
            <a:xfrm>
              <a:off x="6400800" y="2331720"/>
              <a:ext cx="3108960" cy="0"/>
            </a:xfrm>
            <a:prstGeom prst="line">
              <a:avLst/>
            </a:prstGeom>
            <a:ln w="76200">
              <a:solidFill>
                <a:srgbClr val="9AA0A6"/>
              </a:solidFill>
            </a:ln>
          </p:spPr>
        </p:cxnSp>
        <p:cxnSp>
          <p:nvCxnSpPr>
            <p:cNvPr id="63" name="machinery arm"/>
            <p:cNvCxnSpPr/>
            <p:nvPr/>
          </p:nvCxnSpPr>
          <p:spPr>
            <a:xfrm>
              <a:off x="8981236" y="2331720"/>
              <a:ext cx="0" cy="886053"/>
            </a:xfrm>
            <a:prstGeom prst="line">
              <a:avLst/>
            </a:prstGeom>
            <a:ln w="63500">
              <a:solidFill>
                <a:srgbClr val="9AA0A6"/>
              </a:solidFill>
            </a:ln>
          </p:spPr>
        </p:cxnSp>
        <p:sp>
          <p:nvSpPr>
            <p:cNvPr id="64" name="crosshair ring"/>
            <p:cNvSpPr/>
            <p:nvPr/>
          </p:nvSpPr>
          <p:spPr>
            <a:xfrm>
              <a:off x="8825788" y="3217773"/>
              <a:ext cx="310896" cy="310896"/>
            </a:xfrm>
            <a:prstGeom prst="ellipse">
              <a:avLst/>
            </a:prstGeom>
            <a:noFill/>
            <a:ln w="76200">
              <a:solidFill>
                <a:srgbClr val="101418"/>
              </a:solidFill>
            </a:ln>
          </p:spPr>
          <p:txBody>
            <a:bodyPr rtlCol="0" anchor="ctr"/>
            <a:lstStyle/>
            <a:p>
              <a:pPr algn="ctr"/>
              <a:endParaRPr/>
            </a:p>
          </p:txBody>
        </p:sp>
        <p:cxnSp>
          <p:nvCxnSpPr>
            <p:cNvPr id="65" name="crosshair"/>
            <p:cNvCxnSpPr/>
            <p:nvPr/>
          </p:nvCxnSpPr>
          <p:spPr>
            <a:xfrm>
              <a:off x="8732519" y="3373221"/>
              <a:ext cx="497434" cy="0"/>
            </a:xfrm>
            <a:prstGeom prst="line">
              <a:avLst/>
            </a:prstGeom>
            <a:ln w="60960">
              <a:solidFill>
                <a:srgbClr val="101418"/>
              </a:solidFill>
            </a:ln>
          </p:spPr>
        </p:cxnSp>
        <p:cxnSp>
          <p:nvCxnSpPr>
            <p:cNvPr id="66" name="crosshair"/>
            <p:cNvCxnSpPr/>
            <p:nvPr/>
          </p:nvCxnSpPr>
          <p:spPr>
            <a:xfrm>
              <a:off x="8981236" y="3124504"/>
              <a:ext cx="0" cy="497434"/>
            </a:xfrm>
            <a:prstGeom prst="line">
              <a:avLst/>
            </a:prstGeom>
            <a:ln w="60960">
              <a:solidFill>
                <a:srgbClr val="101418"/>
              </a:solidFill>
            </a:ln>
          </p:spPr>
        </p:cxnSp>
        <p:sp>
          <p:nvSpPr>
            <p:cNvPr id="67" name="crosshair ring"/>
            <p:cNvSpPr/>
            <p:nvPr/>
          </p:nvSpPr>
          <p:spPr>
            <a:xfrm>
              <a:off x="8825788" y="3217773"/>
              <a:ext cx="310896" cy="310896"/>
            </a:xfrm>
            <a:prstGeom prst="ellipse">
              <a:avLst/>
            </a:prstGeom>
            <a:noFill/>
            <a:ln w="31750">
              <a:solidFill>
                <a:srgbClr val="F2F2F2"/>
              </a:solidFill>
            </a:ln>
          </p:spPr>
          <p:txBody>
            <a:bodyPr rtlCol="0" anchor="ctr"/>
            <a:lstStyle/>
            <a:p>
              <a:pPr algn="ctr"/>
              <a:endParaRPr/>
            </a:p>
          </p:txBody>
        </p:sp>
        <p:cxnSp>
          <p:nvCxnSpPr>
            <p:cNvPr id="68" name="crosshair"/>
            <p:cNvCxnSpPr/>
            <p:nvPr/>
          </p:nvCxnSpPr>
          <p:spPr>
            <a:xfrm>
              <a:off x="8732519" y="3373221"/>
              <a:ext cx="497434" cy="0"/>
            </a:xfrm>
            <a:prstGeom prst="line">
              <a:avLst/>
            </a:prstGeom>
            <a:ln w="25400">
              <a:solidFill>
                <a:srgbClr val="F2F2F2"/>
              </a:solidFill>
            </a:ln>
          </p:spPr>
        </p:cxnSp>
        <p:cxnSp>
          <p:nvCxnSpPr>
            <p:cNvPr id="69" name="crosshair"/>
            <p:cNvCxnSpPr/>
            <p:nvPr/>
          </p:nvCxnSpPr>
          <p:spPr>
            <a:xfrm>
              <a:off x="8981236" y="3124504"/>
              <a:ext cx="0" cy="497434"/>
            </a:xfrm>
            <a:prstGeom prst="line">
              <a:avLst/>
            </a:prstGeom>
            <a:ln w="25400">
              <a:solidFill>
                <a:srgbClr val="F2F2F2"/>
              </a:solidFill>
            </a:ln>
          </p:spPr>
        </p:cxnSp>
        <p:cxnSp>
          <p:nvCxnSpPr>
            <p:cNvPr id="70" name="machinery arm"/>
            <p:cNvCxnSpPr/>
            <p:nvPr/>
          </p:nvCxnSpPr>
          <p:spPr>
            <a:xfrm>
              <a:off x="7231532" y="2331720"/>
              <a:ext cx="0" cy="591159"/>
            </a:xfrm>
            <a:prstGeom prst="line">
              <a:avLst/>
            </a:prstGeom>
            <a:ln w="63500">
              <a:solidFill>
                <a:srgbClr val="9AA0A6"/>
              </a:solidFill>
            </a:ln>
          </p:spPr>
        </p:cxnSp>
        <p:sp>
          <p:nvSpPr>
            <p:cNvPr id="71" name="crosshair ring"/>
            <p:cNvSpPr/>
            <p:nvPr/>
          </p:nvSpPr>
          <p:spPr>
            <a:xfrm>
              <a:off x="7076084" y="2922879"/>
              <a:ext cx="310896" cy="310896"/>
            </a:xfrm>
            <a:prstGeom prst="ellipse">
              <a:avLst/>
            </a:prstGeom>
            <a:noFill/>
            <a:ln w="76200">
              <a:solidFill>
                <a:srgbClr val="101418"/>
              </a:solidFill>
            </a:ln>
          </p:spPr>
          <p:txBody>
            <a:bodyPr rtlCol="0" anchor="ctr"/>
            <a:lstStyle/>
            <a:p>
              <a:pPr algn="ctr"/>
              <a:endParaRPr/>
            </a:p>
          </p:txBody>
        </p:sp>
        <p:cxnSp>
          <p:nvCxnSpPr>
            <p:cNvPr id="72" name="crosshair"/>
            <p:cNvCxnSpPr/>
            <p:nvPr/>
          </p:nvCxnSpPr>
          <p:spPr>
            <a:xfrm>
              <a:off x="6982815" y="3078327"/>
              <a:ext cx="497434" cy="0"/>
            </a:xfrm>
            <a:prstGeom prst="line">
              <a:avLst/>
            </a:prstGeom>
            <a:ln w="60960">
              <a:solidFill>
                <a:srgbClr val="101418"/>
              </a:solidFill>
            </a:ln>
          </p:spPr>
        </p:cxnSp>
        <p:cxnSp>
          <p:nvCxnSpPr>
            <p:cNvPr id="73" name="crosshair"/>
            <p:cNvCxnSpPr/>
            <p:nvPr/>
          </p:nvCxnSpPr>
          <p:spPr>
            <a:xfrm>
              <a:off x="7231532" y="2829610"/>
              <a:ext cx="0" cy="497434"/>
            </a:xfrm>
            <a:prstGeom prst="line">
              <a:avLst/>
            </a:prstGeom>
            <a:ln w="60960">
              <a:solidFill>
                <a:srgbClr val="101418"/>
              </a:solidFill>
            </a:ln>
          </p:spPr>
        </p:cxnSp>
        <p:sp>
          <p:nvSpPr>
            <p:cNvPr id="74" name="crosshair ring"/>
            <p:cNvSpPr/>
            <p:nvPr/>
          </p:nvSpPr>
          <p:spPr>
            <a:xfrm>
              <a:off x="7076084" y="2922879"/>
              <a:ext cx="310896" cy="310896"/>
            </a:xfrm>
            <a:prstGeom prst="ellipse">
              <a:avLst/>
            </a:prstGeom>
            <a:noFill/>
            <a:ln w="31750">
              <a:solidFill>
                <a:srgbClr val="F2F2F2"/>
              </a:solidFill>
            </a:ln>
          </p:spPr>
          <p:txBody>
            <a:bodyPr rtlCol="0" anchor="ctr"/>
            <a:lstStyle/>
            <a:p>
              <a:pPr algn="ctr"/>
              <a:endParaRPr/>
            </a:p>
          </p:txBody>
        </p:sp>
        <p:cxnSp>
          <p:nvCxnSpPr>
            <p:cNvPr id="75" name="crosshair"/>
            <p:cNvCxnSpPr/>
            <p:nvPr/>
          </p:nvCxnSpPr>
          <p:spPr>
            <a:xfrm>
              <a:off x="6982815" y="3078327"/>
              <a:ext cx="497434" cy="0"/>
            </a:xfrm>
            <a:prstGeom prst="line">
              <a:avLst/>
            </a:prstGeom>
            <a:ln w="25400">
              <a:solidFill>
                <a:srgbClr val="F2F2F2"/>
              </a:solidFill>
            </a:ln>
          </p:spPr>
        </p:cxnSp>
        <p:cxnSp>
          <p:nvCxnSpPr>
            <p:cNvPr id="76" name="crosshair"/>
            <p:cNvCxnSpPr/>
            <p:nvPr/>
          </p:nvCxnSpPr>
          <p:spPr>
            <a:xfrm>
              <a:off x="7231532" y="2829610"/>
              <a:ext cx="0" cy="497434"/>
            </a:xfrm>
            <a:prstGeom prst="line">
              <a:avLst/>
            </a:prstGeom>
            <a:ln w="25400">
              <a:solidFill>
                <a:srgbClr val="F2F2F2"/>
              </a:solidFill>
            </a:ln>
          </p:spPr>
        </p:cxnSp>
        <p:sp>
          <p:nvSpPr>
            <p:cNvPr id="77" name="target label"/>
            <p:cNvSpPr txBox="1"/>
            <p:nvPr/>
          </p:nvSpPr>
          <p:spPr>
            <a:xfrm>
              <a:off x="518160" y="1874519"/>
              <a:ext cx="1417320" cy="365760"/>
            </a:xfrm>
            <a:prstGeom prst="rect">
              <a:avLst/>
            </a:prstGeom>
            <a:noFill/>
          </p:spPr>
          <p:txBody>
            <a:bodyPr wrap="square" lIns="18288" tIns="9144" rIns="18288" bIns="9144" anchor="ctr">
              <a:noAutofit/>
            </a:bodyPr>
            <a:lstStyle/>
            <a:p>
              <a:pPr algn="r"/>
              <a:r>
                <a:rPr lang="en-GB" sz="1400" b="1" i="0">
                  <a:solidFill>
                    <a:srgbClr val="F28C28"/>
                  </a:solidFill>
                  <a:latin typeface="Arial"/>
                </a:rPr>
                <a:t>Water hatch</a:t>
              </a:r>
            </a:p>
          </p:txBody>
        </p:sp>
        <p:sp>
          <p:nvSpPr>
            <p:cNvPr id="78" name="target label"/>
            <p:cNvSpPr txBox="1"/>
            <p:nvPr/>
          </p:nvSpPr>
          <p:spPr>
            <a:xfrm>
              <a:off x="2560320" y="1874519"/>
              <a:ext cx="1371600" cy="365760"/>
            </a:xfrm>
            <a:prstGeom prst="rect">
              <a:avLst/>
            </a:prstGeom>
            <a:noFill/>
          </p:spPr>
          <p:txBody>
            <a:bodyPr wrap="square" lIns="18288" tIns="9144" rIns="18288" bIns="9144" anchor="ctr">
              <a:noAutofit/>
            </a:bodyPr>
            <a:lstStyle/>
            <a:p>
              <a:pPr algn="l"/>
              <a:r>
                <a:rPr lang="en-GB" sz="1400" b="1" i="0">
                  <a:solidFill>
                    <a:srgbClr val="F28C28"/>
                  </a:solidFill>
                  <a:latin typeface="Arial"/>
                </a:rPr>
                <a:t>Coal point</a:t>
              </a:r>
            </a:p>
          </p:txBody>
        </p:sp>
        <p:sp>
          <p:nvSpPr>
            <p:cNvPr id="79" name="target label"/>
            <p:cNvSpPr txBox="1"/>
            <p:nvPr/>
          </p:nvSpPr>
          <p:spPr>
            <a:xfrm>
              <a:off x="6545732" y="1874519"/>
              <a:ext cx="1371600" cy="365760"/>
            </a:xfrm>
            <a:prstGeom prst="rect">
              <a:avLst/>
            </a:prstGeom>
            <a:noFill/>
          </p:spPr>
          <p:txBody>
            <a:bodyPr wrap="square" lIns="18288" tIns="9144" rIns="18288" bIns="9144" anchor="ctr">
              <a:noAutofit/>
            </a:bodyPr>
            <a:lstStyle/>
            <a:p>
              <a:pPr algn="ctr"/>
              <a:r>
                <a:rPr lang="en-GB" sz="1400" b="1" i="0">
                  <a:solidFill>
                    <a:srgbClr val="F28C28"/>
                  </a:solidFill>
                  <a:latin typeface="Arial"/>
                </a:rPr>
                <a:t>Coal point</a:t>
              </a:r>
            </a:p>
          </p:txBody>
        </p:sp>
        <p:sp>
          <p:nvSpPr>
            <p:cNvPr id="80" name="target label"/>
            <p:cNvSpPr txBox="1"/>
            <p:nvPr/>
          </p:nvSpPr>
          <p:spPr>
            <a:xfrm>
              <a:off x="8295436" y="1874519"/>
              <a:ext cx="1371600" cy="365760"/>
            </a:xfrm>
            <a:prstGeom prst="rect">
              <a:avLst/>
            </a:prstGeom>
            <a:noFill/>
          </p:spPr>
          <p:txBody>
            <a:bodyPr wrap="square" lIns="18288" tIns="9144" rIns="18288" bIns="9144" anchor="ctr">
              <a:noAutofit/>
            </a:bodyPr>
            <a:lstStyle/>
            <a:p>
              <a:pPr algn="ctr"/>
              <a:r>
                <a:rPr lang="en-GB" sz="1400" b="1" i="0">
                  <a:solidFill>
                    <a:srgbClr val="F28C28"/>
                  </a:solidFill>
                  <a:latin typeface="Arial"/>
                </a:rPr>
                <a:t>Water hatch</a:t>
              </a:r>
            </a:p>
          </p:txBody>
        </p:sp>
        <p:sp>
          <p:nvSpPr>
            <p:cNvPr id="81" name="engine label"/>
            <p:cNvSpPr txBox="1"/>
            <p:nvPr/>
          </p:nvSpPr>
          <p:spPr>
            <a:xfrm>
              <a:off x="1554480" y="4507992"/>
              <a:ext cx="4572000" cy="320040"/>
            </a:xfrm>
            <a:prstGeom prst="rect">
              <a:avLst/>
            </a:prstGeom>
            <a:noFill/>
          </p:spPr>
          <p:txBody>
            <a:bodyPr wrap="square" lIns="18288" tIns="9144" rIns="18288" bIns="9144" anchor="ctr">
              <a:noAutofit/>
            </a:bodyPr>
            <a:lstStyle/>
            <a:p>
              <a:pPr algn="ctr"/>
              <a:r>
                <a:rPr lang="en-GB" sz="1400" b="1" i="0">
                  <a:solidFill>
                    <a:srgbClr val="F2F2F2"/>
                  </a:solidFill>
                  <a:latin typeface="Arial"/>
                </a:rPr>
                <a:t>Tender engine</a:t>
              </a:r>
            </a:p>
          </p:txBody>
        </p:sp>
        <p:sp>
          <p:nvSpPr>
            <p:cNvPr id="82" name="engine label"/>
            <p:cNvSpPr txBox="1"/>
            <p:nvPr/>
          </p:nvSpPr>
          <p:spPr>
            <a:xfrm>
              <a:off x="6858000" y="4507992"/>
              <a:ext cx="3931920" cy="320040"/>
            </a:xfrm>
            <a:prstGeom prst="rect">
              <a:avLst/>
            </a:prstGeom>
            <a:noFill/>
          </p:spPr>
          <p:txBody>
            <a:bodyPr wrap="square" lIns="18288" tIns="9144" rIns="18288" bIns="9144" anchor="ctr">
              <a:noAutofit/>
            </a:bodyPr>
            <a:lstStyle/>
            <a:p>
              <a:pPr algn="ctr"/>
              <a:r>
                <a:rPr lang="en-GB" sz="1400" b="1" i="0">
                  <a:solidFill>
                    <a:srgbClr val="F2F2F2"/>
                  </a:solidFill>
                  <a:latin typeface="Arial"/>
                </a:rPr>
                <a:t>Tank engine</a:t>
              </a:r>
            </a:p>
          </p:txBody>
        </p:sp>
        <p:sp>
          <p:nvSpPr>
            <p:cNvPr id="83" name="ICHIP"/>
            <p:cNvSpPr/>
            <p:nvPr/>
          </p:nvSpPr>
          <p:spPr>
            <a:xfrm>
              <a:off x="548640" y="5074920"/>
              <a:ext cx="128016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84" name="target list"/>
            <p:cNvSpPr txBox="1"/>
            <p:nvPr/>
          </p:nvSpPr>
          <p:spPr>
            <a:xfrm>
              <a:off x="1965960" y="4956048"/>
              <a:ext cx="9646920" cy="685800"/>
            </a:xfrm>
            <a:prstGeom prst="rect">
              <a:avLst/>
            </a:prstGeom>
            <a:noFill/>
          </p:spPr>
          <p:txBody>
            <a:bodyPr wrap="square" lIns="18288" tIns="9144" rIns="18288" bIns="9144" anchor="ctr">
              <a:noAutofit/>
            </a:bodyPr>
            <a:lstStyle/>
            <a:p>
              <a:pPr algn="l"/>
              <a:r>
                <a:rPr lang="en-GB" sz="1600" b="0" i="0">
                  <a:solidFill>
                    <a:srgbClr val="F2F2F2"/>
                  </a:solidFill>
                  <a:latin typeface="Arial"/>
                </a:rPr>
                <a:t>Target points: water, coal, exhaust, front coupler, rear coupler, cab. Names are suggestions.</a:t>
              </a:r>
            </a:p>
          </p:txBody>
        </p:sp>
      </p:grpSp>
      <p:sp>
        <p:nvSpPr>
          <p:cNvPr id="8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8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87"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Every engine model has its own hatches. The machinery finds them.</a:t>
            </a:r>
          </a:p>
        </p:txBody>
      </p:sp>
      <p:sp>
        <p:nvSpPr>
          <p:cNvPr id="88"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15</a:t>
            </a:r>
          </a:p>
        </p:txBody>
      </p:sp>
    </p:spTree>
    <p:extLst>
      <p:ext uri="{BB962C8B-B14F-4D97-AF65-F5344CB8AC3E}">
        <p14:creationId xmlns:p14="http://schemas.microsoft.com/office/powerpoint/2010/main" val="12137136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5"/>
                                        </p:tgtEl>
                                        <p:attrNameLst>
                                          <p:attrName>style.visibility</p:attrName>
                                        </p:attrNameLst>
                                      </p:cBhvr>
                                      <p:to>
                                        <p:strVal val="visible"/>
                                      </p:to>
                                    </p:set>
                                    <p:animEffect transition="in" filter="fade">
                                      <p:cBhvr>
                                        <p:cTn id="10" dur="500"/>
                                        <p:tgtEl>
                                          <p:spTgt spid="85"/>
                                        </p:tgtEl>
                                      </p:cBhvr>
                                    </p:animEffect>
                                  </p:childTnLst>
                                </p:cTn>
                              </p:par>
                              <p:par>
                                <p:cTn id="11" presetID="10" presetClass="entr" presetSubtype="0" fill="hold" nodeType="withEffect">
                                  <p:stCondLst>
                                    <p:cond delay="600"/>
                                  </p:stCondLst>
                                  <p:childTnLst>
                                    <p:set>
                                      <p:cBhvr>
                                        <p:cTn id="12" dur="1" fill="hold">
                                          <p:stCondLst>
                                            <p:cond delay="0"/>
                                          </p:stCondLst>
                                        </p:cTn>
                                        <p:tgtEl>
                                          <p:spTgt spid="86"/>
                                        </p:tgtEl>
                                        <p:attrNameLst>
                                          <p:attrName>style.visibility</p:attrName>
                                        </p:attrNameLst>
                                      </p:cBhvr>
                                      <p:to>
                                        <p:strVal val="visible"/>
                                      </p:to>
                                    </p:set>
                                    <p:animEffect transition="in" filter="fade">
                                      <p:cBhvr>
                                        <p:cTn id="13" dur="500"/>
                                        <p:tgtEl>
                                          <p:spTgt spid="86"/>
                                        </p:tgtEl>
                                      </p:cBhvr>
                                    </p:animEffect>
                                  </p:childTnLst>
                                </p:cTn>
                              </p:par>
                              <p:par>
                                <p:cTn id="14" presetID="10" presetClass="entr" presetSubtype="0" fill="hold" nodeType="withEffect">
                                  <p:stCondLst>
                                    <p:cond delay="900"/>
                                  </p:stCondLst>
                                  <p:childTnLst>
                                    <p:set>
                                      <p:cBhvr>
                                        <p:cTn id="15" dur="1" fill="hold">
                                          <p:stCondLst>
                                            <p:cond delay="0"/>
                                          </p:stCondLst>
                                        </p:cTn>
                                        <p:tgtEl>
                                          <p:spTgt spid="87"/>
                                        </p:tgtEl>
                                        <p:attrNameLst>
                                          <p:attrName>style.visibility</p:attrName>
                                        </p:attrNameLst>
                                      </p:cBhvr>
                                      <p:to>
                                        <p:strVal val="visible"/>
                                      </p:to>
                                    </p:set>
                                    <p:animEffect transition="in" filter="fade">
                                      <p:cBhvr>
                                        <p:cTn id="16"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How long does it take?</a:t>
            </a:r>
          </a:p>
        </p:txBody>
      </p:sp>
      <p:sp>
        <p:nvSpPr>
          <p:cNvPr id="3" name="CHIP"/>
          <p:cNvSpPr/>
          <p:nvPr/>
        </p:nvSpPr>
        <p:spPr>
          <a:xfrm>
            <a:off x="10088575" y="530352"/>
            <a:ext cx="1554480" cy="365760"/>
          </a:xfrm>
          <a:prstGeom prst="roundRect">
            <a:avLst>
              <a:gd name="adj" fmla="val 300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grpSp>
        <p:nvGrpSpPr>
          <p:cNvPr id="4" name="Two time bars" descr="A short bar for a small top-up and a long bar for refilling empty tanks."/>
          <p:cNvGrpSpPr/>
          <p:nvPr/>
        </p:nvGrpSpPr>
        <p:grpSpPr>
          <a:xfrm>
            <a:off x="548640" y="1371600"/>
            <a:ext cx="11091672" cy="3977640"/>
            <a:chOff x="548640" y="1371600"/>
            <a:chExt cx="11091672" cy="3977640"/>
          </a:xfrm>
        </p:grpSpPr>
        <p:sp>
          <p:nvSpPr>
            <p:cNvPr id="5" name="clock"/>
            <p:cNvSpPr/>
            <p:nvPr/>
          </p:nvSpPr>
          <p:spPr>
            <a:xfrm>
              <a:off x="548640" y="2121408"/>
              <a:ext cx="365760" cy="365760"/>
            </a:xfrm>
            <a:prstGeom prst="ellipse">
              <a:avLst/>
            </a:prstGeom>
            <a:noFill/>
            <a:ln w="25400">
              <a:solidFill>
                <a:srgbClr val="A9B0B8"/>
              </a:solidFill>
            </a:ln>
          </p:spPr>
          <p:txBody>
            <a:bodyPr rtlCol="0" anchor="ctr"/>
            <a:lstStyle/>
            <a:p>
              <a:pPr algn="ctr"/>
              <a:endParaRPr/>
            </a:p>
          </p:txBody>
        </p:sp>
        <p:cxnSp>
          <p:nvCxnSpPr>
            <p:cNvPr id="6" name="hand"/>
            <p:cNvCxnSpPr/>
            <p:nvPr/>
          </p:nvCxnSpPr>
          <p:spPr>
            <a:xfrm flipV="1">
              <a:off x="731520" y="2185415"/>
              <a:ext cx="0" cy="118873"/>
            </a:xfrm>
            <a:prstGeom prst="line">
              <a:avLst/>
            </a:prstGeom>
            <a:ln w="25400">
              <a:solidFill>
                <a:srgbClr val="A9B0B8"/>
              </a:solidFill>
            </a:ln>
          </p:spPr>
        </p:cxnSp>
        <p:cxnSp>
          <p:nvCxnSpPr>
            <p:cNvPr id="7" name="hand"/>
            <p:cNvCxnSpPr/>
            <p:nvPr/>
          </p:nvCxnSpPr>
          <p:spPr>
            <a:xfrm>
              <a:off x="731520" y="2304288"/>
              <a:ext cx="91440" cy="27432"/>
            </a:xfrm>
            <a:prstGeom prst="line">
              <a:avLst/>
            </a:prstGeom>
            <a:ln w="25400">
              <a:solidFill>
                <a:srgbClr val="A9B0B8"/>
              </a:solidFill>
            </a:ln>
          </p:spPr>
        </p:cxnSp>
        <p:sp>
          <p:nvSpPr>
            <p:cNvPr id="8" name="clock"/>
            <p:cNvSpPr/>
            <p:nvPr/>
          </p:nvSpPr>
          <p:spPr>
            <a:xfrm>
              <a:off x="548640" y="3950207"/>
              <a:ext cx="365760" cy="365760"/>
            </a:xfrm>
            <a:prstGeom prst="ellipse">
              <a:avLst/>
            </a:prstGeom>
            <a:noFill/>
            <a:ln w="25400">
              <a:solidFill>
                <a:srgbClr val="A9B0B8"/>
              </a:solidFill>
            </a:ln>
          </p:spPr>
          <p:txBody>
            <a:bodyPr rtlCol="0" anchor="ctr"/>
            <a:lstStyle/>
            <a:p>
              <a:pPr algn="ctr"/>
              <a:endParaRPr/>
            </a:p>
          </p:txBody>
        </p:sp>
        <p:cxnSp>
          <p:nvCxnSpPr>
            <p:cNvPr id="9" name="hand"/>
            <p:cNvCxnSpPr/>
            <p:nvPr/>
          </p:nvCxnSpPr>
          <p:spPr>
            <a:xfrm flipV="1">
              <a:off x="731520" y="4014215"/>
              <a:ext cx="0" cy="118872"/>
            </a:xfrm>
            <a:prstGeom prst="line">
              <a:avLst/>
            </a:prstGeom>
            <a:ln w="25400">
              <a:solidFill>
                <a:srgbClr val="A9B0B8"/>
              </a:solidFill>
            </a:ln>
          </p:spPr>
        </p:cxnSp>
        <p:cxnSp>
          <p:nvCxnSpPr>
            <p:cNvPr id="10" name="hand"/>
            <p:cNvCxnSpPr/>
            <p:nvPr/>
          </p:nvCxnSpPr>
          <p:spPr>
            <a:xfrm>
              <a:off x="731520" y="4133087"/>
              <a:ext cx="91440" cy="27433"/>
            </a:xfrm>
            <a:prstGeom prst="line">
              <a:avLst/>
            </a:prstGeom>
            <a:ln w="25400">
              <a:solidFill>
                <a:srgbClr val="A9B0B8"/>
              </a:solidFill>
            </a:ln>
          </p:spPr>
        </p:cxnSp>
        <p:sp>
          <p:nvSpPr>
            <p:cNvPr id="11" name="bar label"/>
            <p:cNvSpPr txBox="1"/>
            <p:nvPr/>
          </p:nvSpPr>
          <p:spPr>
            <a:xfrm>
              <a:off x="1097280" y="1600199"/>
              <a:ext cx="5120640" cy="411480"/>
            </a:xfrm>
            <a:prstGeom prst="rect">
              <a:avLst/>
            </a:prstGeom>
            <a:noFill/>
          </p:spPr>
          <p:txBody>
            <a:bodyPr wrap="square" lIns="18288" tIns="9144" rIns="18288" bIns="9144" anchor="ctr">
              <a:noAutofit/>
            </a:bodyPr>
            <a:lstStyle/>
            <a:p>
              <a:pPr algn="l"/>
              <a:r>
                <a:rPr lang="en-GB" sz="2000" b="1" i="0">
                  <a:solidFill>
                    <a:srgbClr val="F2F2F2"/>
                  </a:solidFill>
                  <a:latin typeface="Arial"/>
                </a:rPr>
                <a:t>Small top-up</a:t>
              </a:r>
            </a:p>
          </p:txBody>
        </p:sp>
        <p:sp>
          <p:nvSpPr>
            <p:cNvPr id="12" name="time track"/>
            <p:cNvSpPr/>
            <p:nvPr/>
          </p:nvSpPr>
          <p:spPr>
            <a:xfrm>
              <a:off x="1097280" y="2103120"/>
              <a:ext cx="5120640" cy="457200"/>
            </a:xfrm>
            <a:prstGeom prst="roundRect">
              <a:avLst>
                <a:gd name="adj" fmla="val 12000"/>
              </a:avLst>
            </a:prstGeom>
            <a:solidFill>
              <a:srgbClr val="343A43"/>
            </a:solidFill>
            <a:ln w="12700">
              <a:solidFill>
                <a:srgbClr val="4A515B"/>
              </a:solidFill>
            </a:ln>
          </p:spPr>
          <p:txBody>
            <a:bodyPr rtlCol="0" anchor="ctr"/>
            <a:lstStyle/>
            <a:p>
              <a:pPr algn="ctr"/>
              <a:endParaRPr/>
            </a:p>
          </p:txBody>
        </p:sp>
        <p:sp>
          <p:nvSpPr>
            <p:cNvPr id="13" name="time fill"/>
            <p:cNvSpPr/>
            <p:nvPr/>
          </p:nvSpPr>
          <p:spPr>
            <a:xfrm>
              <a:off x="1097280" y="2103120"/>
              <a:ext cx="1331366" cy="457200"/>
            </a:xfrm>
            <a:prstGeom prst="roundRect">
              <a:avLst>
                <a:gd name="adj" fmla="val 12000"/>
              </a:avLst>
            </a:prstGeom>
            <a:solidFill>
              <a:srgbClr val="F28C28"/>
            </a:solidFill>
            <a:ln>
              <a:noFill/>
            </a:ln>
          </p:spPr>
          <p:txBody>
            <a:bodyPr rtlCol="0" anchor="ctr"/>
            <a:lstStyle/>
            <a:p>
              <a:pPr algn="ctr"/>
              <a:endParaRPr/>
            </a:p>
          </p:txBody>
        </p:sp>
        <p:sp>
          <p:nvSpPr>
            <p:cNvPr id="14" name="bar label"/>
            <p:cNvSpPr txBox="1"/>
            <p:nvPr/>
          </p:nvSpPr>
          <p:spPr>
            <a:xfrm>
              <a:off x="1097280" y="3429000"/>
              <a:ext cx="5120640" cy="411480"/>
            </a:xfrm>
            <a:prstGeom prst="rect">
              <a:avLst/>
            </a:prstGeom>
            <a:noFill/>
          </p:spPr>
          <p:txBody>
            <a:bodyPr wrap="square" lIns="18288" tIns="9144" rIns="18288" bIns="9144" anchor="ctr">
              <a:noAutofit/>
            </a:bodyPr>
            <a:lstStyle/>
            <a:p>
              <a:pPr algn="l"/>
              <a:r>
                <a:rPr lang="en-GB" sz="2000" b="1" i="0">
                  <a:solidFill>
                    <a:srgbClr val="F2F2F2"/>
                  </a:solidFill>
                  <a:latin typeface="Arial"/>
                </a:rPr>
                <a:t>Empty tanks</a:t>
              </a:r>
            </a:p>
          </p:txBody>
        </p:sp>
        <p:sp>
          <p:nvSpPr>
            <p:cNvPr id="15" name="time track"/>
            <p:cNvSpPr/>
            <p:nvPr/>
          </p:nvSpPr>
          <p:spPr>
            <a:xfrm>
              <a:off x="1097280" y="3931920"/>
              <a:ext cx="5120640" cy="457200"/>
            </a:xfrm>
            <a:prstGeom prst="roundRect">
              <a:avLst>
                <a:gd name="adj" fmla="val 12000"/>
              </a:avLst>
            </a:prstGeom>
            <a:solidFill>
              <a:srgbClr val="343A43"/>
            </a:solidFill>
            <a:ln w="12700">
              <a:solidFill>
                <a:srgbClr val="4A515B"/>
              </a:solidFill>
            </a:ln>
          </p:spPr>
          <p:txBody>
            <a:bodyPr rtlCol="0" anchor="ctr"/>
            <a:lstStyle/>
            <a:p>
              <a:pPr algn="ctr"/>
              <a:endParaRPr/>
            </a:p>
          </p:txBody>
        </p:sp>
        <p:sp>
          <p:nvSpPr>
            <p:cNvPr id="16" name="time fill"/>
            <p:cNvSpPr/>
            <p:nvPr/>
          </p:nvSpPr>
          <p:spPr>
            <a:xfrm>
              <a:off x="1097280" y="3931920"/>
              <a:ext cx="4864607" cy="457200"/>
            </a:xfrm>
            <a:prstGeom prst="roundRect">
              <a:avLst>
                <a:gd name="adj" fmla="val 12000"/>
              </a:avLst>
            </a:prstGeom>
            <a:solidFill>
              <a:srgbClr val="F28C28"/>
            </a:solidFill>
            <a:ln>
              <a:noFill/>
            </a:ln>
          </p:spPr>
          <p:txBody>
            <a:bodyPr rtlCol="0" anchor="ctr"/>
            <a:lstStyle/>
            <a:p>
              <a:pPr algn="ctr"/>
              <a:endParaRPr/>
            </a:p>
          </p:txBody>
        </p:sp>
        <p:sp>
          <p:nvSpPr>
            <p:cNvPr id="17" name="note card"/>
            <p:cNvSpPr/>
            <p:nvPr/>
          </p:nvSpPr>
          <p:spPr>
            <a:xfrm>
              <a:off x="6766560" y="1371600"/>
              <a:ext cx="4873752" cy="1234440"/>
            </a:xfrm>
            <a:prstGeom prst="roundRect">
              <a:avLst>
                <a:gd name="adj" fmla="val 7407"/>
              </a:avLst>
            </a:prstGeom>
            <a:solidFill>
              <a:srgbClr val="2B2F36"/>
            </a:solidFill>
            <a:ln w="12700">
              <a:solidFill>
                <a:srgbClr val="4A515B"/>
              </a:solidFill>
            </a:ln>
          </p:spPr>
          <p:txBody>
            <a:bodyPr rtlCol="0" anchor="ctr"/>
            <a:lstStyle/>
            <a:p>
              <a:pPr algn="ctr"/>
              <a:endParaRPr/>
            </a:p>
          </p:txBody>
        </p:sp>
        <p:sp>
          <p:nvSpPr>
            <p:cNvPr id="18" name="ICHIP"/>
            <p:cNvSpPr/>
            <p:nvPr/>
          </p:nvSpPr>
          <p:spPr>
            <a:xfrm>
              <a:off x="6949440" y="1508760"/>
              <a:ext cx="1554480" cy="292608"/>
            </a:xfrm>
            <a:prstGeom prst="roundRect">
              <a:avLst>
                <a:gd name="adj" fmla="val 375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sp>
          <p:nvSpPr>
            <p:cNvPr id="19" name="note text"/>
            <p:cNvSpPr txBox="1"/>
            <p:nvPr/>
          </p:nvSpPr>
          <p:spPr>
            <a:xfrm>
              <a:off x="6949440" y="1874519"/>
              <a:ext cx="4526280" cy="640080"/>
            </a:xfrm>
            <a:prstGeom prst="rect">
              <a:avLst/>
            </a:prstGeom>
            <a:noFill/>
          </p:spPr>
          <p:txBody>
            <a:bodyPr wrap="square" lIns="18288" tIns="9144" rIns="18288" bIns="9144" anchor="t">
              <a:noAutofit/>
            </a:bodyPr>
            <a:lstStyle/>
            <a:p>
              <a:pPr algn="l"/>
              <a:r>
                <a:rPr lang="en-GB" sz="1800" b="0" i="0">
                  <a:solidFill>
                    <a:srgbClr val="F2F2F2"/>
                  </a:solidFill>
                  <a:latin typeface="Arial"/>
                </a:rPr>
                <a:t>First example: 5 to 15 extra seconds</a:t>
              </a:r>
            </a:p>
          </p:txBody>
        </p:sp>
        <p:sp>
          <p:nvSpPr>
            <p:cNvPr id="20" name="note card"/>
            <p:cNvSpPr/>
            <p:nvPr/>
          </p:nvSpPr>
          <p:spPr>
            <a:xfrm>
              <a:off x="6766560" y="2743200"/>
              <a:ext cx="4873752" cy="1234440"/>
            </a:xfrm>
            <a:prstGeom prst="roundRect">
              <a:avLst>
                <a:gd name="adj" fmla="val 7407"/>
              </a:avLst>
            </a:prstGeom>
            <a:solidFill>
              <a:srgbClr val="2B2F36"/>
            </a:solidFill>
            <a:ln w="12700">
              <a:solidFill>
                <a:srgbClr val="4A515B"/>
              </a:solidFill>
            </a:ln>
          </p:spPr>
          <p:txBody>
            <a:bodyPr rtlCol="0" anchor="ctr"/>
            <a:lstStyle/>
            <a:p>
              <a:pPr algn="ctr"/>
              <a:endParaRPr/>
            </a:p>
          </p:txBody>
        </p:sp>
        <p:sp>
          <p:nvSpPr>
            <p:cNvPr id="21" name="ICHIP"/>
            <p:cNvSpPr/>
            <p:nvPr/>
          </p:nvSpPr>
          <p:spPr>
            <a:xfrm>
              <a:off x="6949440" y="2880360"/>
              <a:ext cx="155448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22" name="note text"/>
            <p:cNvSpPr txBox="1"/>
            <p:nvPr/>
          </p:nvSpPr>
          <p:spPr>
            <a:xfrm>
              <a:off x="6949440" y="3246120"/>
              <a:ext cx="4526280" cy="640080"/>
            </a:xfrm>
            <a:prstGeom prst="rect">
              <a:avLst/>
            </a:prstGeom>
            <a:noFill/>
          </p:spPr>
          <p:txBody>
            <a:bodyPr wrap="square" lIns="18288" tIns="9144" rIns="18288" bIns="9144" anchor="t">
              <a:noAutofit/>
            </a:bodyPr>
            <a:lstStyle/>
            <a:p>
              <a:pPr algn="l"/>
              <a:r>
                <a:rPr lang="en-GB" sz="1800" b="0" i="0">
                  <a:solidFill>
                    <a:srgbClr val="F2F2F2"/>
                  </a:solidFill>
                  <a:latin typeface="Arial"/>
                </a:rPr>
                <a:t>Later idea: real transfer rates</a:t>
              </a:r>
            </a:p>
          </p:txBody>
        </p:sp>
        <p:sp>
          <p:nvSpPr>
            <p:cNvPr id="23" name="note card"/>
            <p:cNvSpPr/>
            <p:nvPr/>
          </p:nvSpPr>
          <p:spPr>
            <a:xfrm>
              <a:off x="6766560" y="4114800"/>
              <a:ext cx="4873752" cy="1234440"/>
            </a:xfrm>
            <a:prstGeom prst="roundRect">
              <a:avLst>
                <a:gd name="adj" fmla="val 7407"/>
              </a:avLst>
            </a:prstGeom>
            <a:solidFill>
              <a:srgbClr val="2B2F36"/>
            </a:solidFill>
            <a:ln w="12700">
              <a:solidFill>
                <a:srgbClr val="4A515B"/>
              </a:solidFill>
            </a:ln>
          </p:spPr>
          <p:txBody>
            <a:bodyPr rtlCol="0" anchor="ctr"/>
            <a:lstStyle/>
            <a:p>
              <a:pPr algn="ctr"/>
              <a:endParaRPr/>
            </a:p>
          </p:txBody>
        </p:sp>
        <p:sp>
          <p:nvSpPr>
            <p:cNvPr id="24" name="ICHIP"/>
            <p:cNvSpPr/>
            <p:nvPr/>
          </p:nvSpPr>
          <p:spPr>
            <a:xfrm>
              <a:off x="6949440" y="4251960"/>
              <a:ext cx="1554480" cy="292608"/>
            </a:xfrm>
            <a:prstGeom prst="roundRect">
              <a:avLst>
                <a:gd name="adj" fmla="val 375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25" name="note text"/>
            <p:cNvSpPr txBox="1"/>
            <p:nvPr/>
          </p:nvSpPr>
          <p:spPr>
            <a:xfrm>
              <a:off x="6949440" y="4617720"/>
              <a:ext cx="4526280" cy="640080"/>
            </a:xfrm>
            <a:prstGeom prst="rect">
              <a:avLst/>
            </a:prstGeom>
            <a:noFill/>
          </p:spPr>
          <p:txBody>
            <a:bodyPr wrap="square" lIns="18288" tIns="9144" rIns="18288" bIns="9144" anchor="t">
              <a:noAutofit/>
            </a:bodyPr>
            <a:lstStyle/>
            <a:p>
              <a:pPr algn="l"/>
              <a:r>
                <a:rPr lang="en-GB" sz="1800" b="0" i="0">
                  <a:solidFill>
                    <a:srgbClr val="F2F2F2"/>
                  </a:solidFill>
                  <a:latin typeface="Arial"/>
                </a:rPr>
                <a:t>Rates and buffers: undecided (OQ08)</a:t>
              </a:r>
            </a:p>
          </p:txBody>
        </p:sp>
      </p:grpSp>
      <p:sp>
        <p:nvSpPr>
          <p:cNvPr id="2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8"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 small top-up should be quick. An empty refill takes longer.</a:t>
            </a:r>
          </a:p>
        </p:txBody>
      </p:sp>
      <p:sp>
        <p:nvSpPr>
          <p:cNvPr id="29"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16</a:t>
            </a:r>
          </a:p>
        </p:txBody>
      </p:sp>
    </p:spTree>
    <p:extLst>
      <p:ext uri="{BB962C8B-B14F-4D97-AF65-F5344CB8AC3E}">
        <p14:creationId xmlns:p14="http://schemas.microsoft.com/office/powerpoint/2010/main" val="14393505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6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nodeType="withEffect">
                                  <p:stCondLst>
                                    <p:cond delay="90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Service points</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Facilities and route" descr="Four proposed facilities: Water Tower, Coaling Stage, Steam Service Point and Full Station. Below, a route from a mine to a factory with a water stop, then a water and coal stop, and a train at the water stop."/>
          <p:cNvGrpSpPr/>
          <p:nvPr/>
        </p:nvGrpSpPr>
        <p:grpSpPr>
          <a:xfrm>
            <a:off x="274320" y="1371600"/>
            <a:ext cx="11430000" cy="3840480"/>
            <a:chOff x="274320" y="1371600"/>
            <a:chExt cx="11430000" cy="3840480"/>
          </a:xfrm>
        </p:grpSpPr>
        <p:sp>
          <p:nvSpPr>
            <p:cNvPr id="5" name="tile"/>
            <p:cNvSpPr/>
            <p:nvPr/>
          </p:nvSpPr>
          <p:spPr>
            <a:xfrm>
              <a:off x="548640" y="1371600"/>
              <a:ext cx="2560320" cy="2194560"/>
            </a:xfrm>
            <a:prstGeom prst="roundRect">
              <a:avLst>
                <a:gd name="adj" fmla="val 4166"/>
              </a:avLst>
            </a:prstGeom>
            <a:solidFill>
              <a:srgbClr val="2B2F36"/>
            </a:solidFill>
            <a:ln w="19050">
              <a:solidFill>
                <a:srgbClr val="4A515B"/>
              </a:solidFill>
            </a:ln>
          </p:spPr>
          <p:txBody>
            <a:bodyPr rtlCol="0" anchor="ctr"/>
            <a:lstStyle/>
            <a:p>
              <a:pPr algn="ctr"/>
              <a:endParaRPr/>
            </a:p>
          </p:txBody>
        </p:sp>
        <p:sp>
          <p:nvSpPr>
            <p:cNvPr id="6" name="icon tank"/>
            <p:cNvSpPr/>
            <p:nvPr/>
          </p:nvSpPr>
          <p:spPr>
            <a:xfrm>
              <a:off x="1440180" y="1714499"/>
              <a:ext cx="777240" cy="466344"/>
            </a:xfrm>
            <a:prstGeom prst="roundRect">
              <a:avLst>
                <a:gd name="adj" fmla="val 11764"/>
              </a:avLst>
            </a:prstGeom>
            <a:solidFill>
              <a:srgbClr val="4DA3FF"/>
            </a:solidFill>
            <a:ln w="19050">
              <a:solidFill>
                <a:srgbClr val="F2F2F2"/>
              </a:solidFill>
            </a:ln>
          </p:spPr>
          <p:txBody>
            <a:bodyPr rtlCol="0" anchor="ctr"/>
            <a:lstStyle/>
            <a:p>
              <a:pPr algn="ctr"/>
              <a:endParaRPr/>
            </a:p>
          </p:txBody>
        </p:sp>
        <p:sp>
          <p:nvSpPr>
            <p:cNvPr id="7" name="icon leg"/>
            <p:cNvSpPr/>
            <p:nvPr/>
          </p:nvSpPr>
          <p:spPr>
            <a:xfrm>
              <a:off x="1495044" y="2180844"/>
              <a:ext cx="45720" cy="427482"/>
            </a:xfrm>
            <a:prstGeom prst="rect">
              <a:avLst/>
            </a:prstGeom>
            <a:solidFill>
              <a:srgbClr val="9AA0A6"/>
            </a:solidFill>
            <a:ln>
              <a:noFill/>
            </a:ln>
          </p:spPr>
          <p:txBody>
            <a:bodyPr rtlCol="0" anchor="ctr"/>
            <a:lstStyle/>
            <a:p>
              <a:pPr algn="ctr"/>
              <a:endParaRPr/>
            </a:p>
          </p:txBody>
        </p:sp>
        <p:sp>
          <p:nvSpPr>
            <p:cNvPr id="8" name="icon leg"/>
            <p:cNvSpPr/>
            <p:nvPr/>
          </p:nvSpPr>
          <p:spPr>
            <a:xfrm>
              <a:off x="1689354" y="2180844"/>
              <a:ext cx="45720" cy="427482"/>
            </a:xfrm>
            <a:prstGeom prst="rect">
              <a:avLst/>
            </a:prstGeom>
            <a:solidFill>
              <a:srgbClr val="9AA0A6"/>
            </a:solidFill>
            <a:ln>
              <a:noFill/>
            </a:ln>
          </p:spPr>
          <p:txBody>
            <a:bodyPr rtlCol="0" anchor="ctr"/>
            <a:lstStyle/>
            <a:p>
              <a:pPr algn="ctr"/>
              <a:endParaRPr/>
            </a:p>
          </p:txBody>
        </p:sp>
        <p:sp>
          <p:nvSpPr>
            <p:cNvPr id="9" name="icon leg"/>
            <p:cNvSpPr/>
            <p:nvPr/>
          </p:nvSpPr>
          <p:spPr>
            <a:xfrm>
              <a:off x="1922526" y="2180844"/>
              <a:ext cx="45720" cy="427482"/>
            </a:xfrm>
            <a:prstGeom prst="rect">
              <a:avLst/>
            </a:prstGeom>
            <a:solidFill>
              <a:srgbClr val="9AA0A6"/>
            </a:solidFill>
            <a:ln>
              <a:noFill/>
            </a:ln>
          </p:spPr>
          <p:txBody>
            <a:bodyPr rtlCol="0" anchor="ctr"/>
            <a:lstStyle/>
            <a:p>
              <a:pPr algn="ctr"/>
              <a:endParaRPr/>
            </a:p>
          </p:txBody>
        </p:sp>
        <p:sp>
          <p:nvSpPr>
            <p:cNvPr id="10" name="icon leg"/>
            <p:cNvSpPr/>
            <p:nvPr/>
          </p:nvSpPr>
          <p:spPr>
            <a:xfrm>
              <a:off x="2116836" y="2180844"/>
              <a:ext cx="45720" cy="427482"/>
            </a:xfrm>
            <a:prstGeom prst="rect">
              <a:avLst/>
            </a:prstGeom>
            <a:solidFill>
              <a:srgbClr val="9AA0A6"/>
            </a:solidFill>
            <a:ln>
              <a:noFill/>
            </a:ln>
          </p:spPr>
          <p:txBody>
            <a:bodyPr rtlCol="0" anchor="ctr"/>
            <a:lstStyle/>
            <a:p>
              <a:pPr algn="ctr"/>
              <a:endParaRPr/>
            </a:p>
          </p:txBody>
        </p:sp>
        <p:sp>
          <p:nvSpPr>
            <p:cNvPr id="11" name="tile name"/>
            <p:cNvSpPr txBox="1"/>
            <p:nvPr/>
          </p:nvSpPr>
          <p:spPr>
            <a:xfrm>
              <a:off x="640080" y="2743200"/>
              <a:ext cx="23774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Water Tower</a:t>
              </a:r>
            </a:p>
          </p:txBody>
        </p:sp>
        <p:sp>
          <p:nvSpPr>
            <p:cNvPr id="12" name="ICHIP"/>
            <p:cNvSpPr/>
            <p:nvPr/>
          </p:nvSpPr>
          <p:spPr>
            <a:xfrm>
              <a:off x="1188719" y="3154680"/>
              <a:ext cx="128016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13" name="tile"/>
            <p:cNvSpPr/>
            <p:nvPr/>
          </p:nvSpPr>
          <p:spPr>
            <a:xfrm>
              <a:off x="3392424" y="1371600"/>
              <a:ext cx="2560320" cy="2194560"/>
            </a:xfrm>
            <a:prstGeom prst="roundRect">
              <a:avLst>
                <a:gd name="adj" fmla="val 4166"/>
              </a:avLst>
            </a:prstGeom>
            <a:solidFill>
              <a:srgbClr val="2B2F36"/>
            </a:solidFill>
            <a:ln w="19050">
              <a:solidFill>
                <a:srgbClr val="4A515B"/>
              </a:solidFill>
            </a:ln>
          </p:spPr>
          <p:txBody>
            <a:bodyPr rtlCol="0" anchor="ctr"/>
            <a:lstStyle/>
            <a:p>
              <a:pPr algn="ctr"/>
              <a:endParaRPr/>
            </a:p>
          </p:txBody>
        </p:sp>
        <p:sp>
          <p:nvSpPr>
            <p:cNvPr id="14" name="icon heap"/>
            <p:cNvSpPr/>
            <p:nvPr/>
          </p:nvSpPr>
          <p:spPr>
            <a:xfrm>
              <a:off x="4306823" y="1764792"/>
              <a:ext cx="731521" cy="402336"/>
            </a:xfrm>
            <a:custGeom>
              <a:avLst/>
              <a:gdLst/>
              <a:ahLst/>
              <a:cxnLst/>
              <a:rect l="l" t="t" r="r" b="b"/>
              <a:pathLst>
                <a:path w="731521" h="402336">
                  <a:moveTo>
                    <a:pt x="0" y="402336"/>
                  </a:moveTo>
                  <a:lnTo>
                    <a:pt x="160935" y="160934"/>
                  </a:lnTo>
                  <a:lnTo>
                    <a:pt x="329184" y="0"/>
                  </a:lnTo>
                  <a:lnTo>
                    <a:pt x="512065" y="120700"/>
                  </a:lnTo>
                  <a:lnTo>
                    <a:pt x="731521" y="402336"/>
                  </a:lnTo>
                  <a:close/>
                </a:path>
              </a:pathLst>
            </a:custGeom>
            <a:solidFill>
              <a:srgbClr val="1B1D21"/>
            </a:solidFill>
            <a:ln w="25400">
              <a:solidFill>
                <a:srgbClr val="B5BBC2"/>
              </a:solidFill>
            </a:ln>
          </p:spPr>
          <p:txBody>
            <a:bodyPr rtlCol="0" anchor="ctr"/>
            <a:lstStyle/>
            <a:p>
              <a:pPr algn="ctr"/>
              <a:endParaRPr/>
            </a:p>
          </p:txBody>
        </p:sp>
        <p:sp>
          <p:nvSpPr>
            <p:cNvPr id="15" name="icon platform"/>
            <p:cNvSpPr/>
            <p:nvPr/>
          </p:nvSpPr>
          <p:spPr>
            <a:xfrm>
              <a:off x="4215383" y="2148840"/>
              <a:ext cx="914400" cy="73152"/>
            </a:xfrm>
            <a:prstGeom prst="rect">
              <a:avLst/>
            </a:prstGeom>
            <a:solidFill>
              <a:srgbClr val="9AA0A6"/>
            </a:solidFill>
            <a:ln>
              <a:noFill/>
            </a:ln>
          </p:spPr>
          <p:txBody>
            <a:bodyPr rtlCol="0" anchor="ctr"/>
            <a:lstStyle/>
            <a:p>
              <a:pPr algn="ctr"/>
              <a:endParaRPr/>
            </a:p>
          </p:txBody>
        </p:sp>
        <p:sp>
          <p:nvSpPr>
            <p:cNvPr id="16" name="icon post"/>
            <p:cNvSpPr/>
            <p:nvPr/>
          </p:nvSpPr>
          <p:spPr>
            <a:xfrm>
              <a:off x="4283963" y="2221992"/>
              <a:ext cx="45720" cy="411480"/>
            </a:xfrm>
            <a:prstGeom prst="rect">
              <a:avLst/>
            </a:prstGeom>
            <a:solidFill>
              <a:srgbClr val="9AA0A6"/>
            </a:solidFill>
            <a:ln>
              <a:noFill/>
            </a:ln>
          </p:spPr>
          <p:txBody>
            <a:bodyPr rtlCol="0" anchor="ctr"/>
            <a:lstStyle/>
            <a:p>
              <a:pPr algn="ctr"/>
              <a:endParaRPr/>
            </a:p>
          </p:txBody>
        </p:sp>
        <p:sp>
          <p:nvSpPr>
            <p:cNvPr id="17" name="icon post"/>
            <p:cNvSpPr/>
            <p:nvPr/>
          </p:nvSpPr>
          <p:spPr>
            <a:xfrm>
              <a:off x="5015483" y="2221992"/>
              <a:ext cx="45720" cy="411480"/>
            </a:xfrm>
            <a:prstGeom prst="rect">
              <a:avLst/>
            </a:prstGeom>
            <a:solidFill>
              <a:srgbClr val="9AA0A6"/>
            </a:solidFill>
            <a:ln>
              <a:noFill/>
            </a:ln>
          </p:spPr>
          <p:txBody>
            <a:bodyPr rtlCol="0" anchor="ctr"/>
            <a:lstStyle/>
            <a:p>
              <a:pPr algn="ctr"/>
              <a:endParaRPr/>
            </a:p>
          </p:txBody>
        </p:sp>
        <p:sp>
          <p:nvSpPr>
            <p:cNvPr id="18" name="tile name"/>
            <p:cNvSpPr txBox="1"/>
            <p:nvPr/>
          </p:nvSpPr>
          <p:spPr>
            <a:xfrm>
              <a:off x="3483864" y="2743200"/>
              <a:ext cx="23774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Coaling Stage</a:t>
              </a:r>
            </a:p>
          </p:txBody>
        </p:sp>
        <p:sp>
          <p:nvSpPr>
            <p:cNvPr id="19" name="ICHIP"/>
            <p:cNvSpPr/>
            <p:nvPr/>
          </p:nvSpPr>
          <p:spPr>
            <a:xfrm>
              <a:off x="4032504" y="3154680"/>
              <a:ext cx="128016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20" name="tile"/>
            <p:cNvSpPr/>
            <p:nvPr/>
          </p:nvSpPr>
          <p:spPr>
            <a:xfrm>
              <a:off x="6236207" y="1371600"/>
              <a:ext cx="2560320" cy="2194560"/>
            </a:xfrm>
            <a:prstGeom prst="roundRect">
              <a:avLst>
                <a:gd name="adj" fmla="val 4166"/>
              </a:avLst>
            </a:prstGeom>
            <a:solidFill>
              <a:srgbClr val="2B2F36"/>
            </a:solidFill>
            <a:ln w="19050">
              <a:solidFill>
                <a:srgbClr val="4A515B"/>
              </a:solidFill>
            </a:ln>
          </p:spPr>
          <p:txBody>
            <a:bodyPr rtlCol="0" anchor="ctr"/>
            <a:lstStyle/>
            <a:p>
              <a:pPr algn="ctr"/>
              <a:endParaRPr/>
            </a:p>
          </p:txBody>
        </p:sp>
        <p:sp>
          <p:nvSpPr>
            <p:cNvPr id="21" name="icon drop"/>
            <p:cNvSpPr/>
            <p:nvPr/>
          </p:nvSpPr>
          <p:spPr>
            <a:xfrm>
              <a:off x="6928952" y="1828800"/>
              <a:ext cx="443311" cy="642850"/>
            </a:xfrm>
            <a:custGeom>
              <a:avLst/>
              <a:gdLst/>
              <a:ahLst/>
              <a:cxnLst/>
              <a:rect l="l" t="t" r="r" b="b"/>
              <a:pathLst>
                <a:path w="443311" h="642850">
                  <a:moveTo>
                    <a:pt x="221655" y="0"/>
                  </a:moveTo>
                  <a:lnTo>
                    <a:pt x="410141" y="304508"/>
                  </a:lnTo>
                  <a:lnTo>
                    <a:pt x="424727" y="332290"/>
                  </a:lnTo>
                  <a:lnTo>
                    <a:pt x="435243" y="361854"/>
                  </a:lnTo>
                  <a:lnTo>
                    <a:pt x="441479" y="392606"/>
                  </a:lnTo>
                  <a:lnTo>
                    <a:pt x="443311" y="423931"/>
                  </a:lnTo>
                  <a:lnTo>
                    <a:pt x="440702" y="455200"/>
                  </a:lnTo>
                  <a:lnTo>
                    <a:pt x="433703" y="485788"/>
                  </a:lnTo>
                  <a:lnTo>
                    <a:pt x="422456" y="515081"/>
                  </a:lnTo>
                  <a:lnTo>
                    <a:pt x="407185" y="542493"/>
                  </a:lnTo>
                  <a:lnTo>
                    <a:pt x="388197" y="567474"/>
                  </a:lnTo>
                  <a:lnTo>
                    <a:pt x="365872" y="589524"/>
                  </a:lnTo>
                  <a:lnTo>
                    <a:pt x="340657" y="608200"/>
                  </a:lnTo>
                  <a:lnTo>
                    <a:pt x="313058" y="623129"/>
                  </a:lnTo>
                  <a:lnTo>
                    <a:pt x="283627" y="634012"/>
                  </a:lnTo>
                  <a:lnTo>
                    <a:pt x="252955" y="640630"/>
                  </a:lnTo>
                  <a:lnTo>
                    <a:pt x="221655" y="642850"/>
                  </a:lnTo>
                  <a:lnTo>
                    <a:pt x="190356" y="640630"/>
                  </a:lnTo>
                  <a:lnTo>
                    <a:pt x="159684" y="634012"/>
                  </a:lnTo>
                  <a:lnTo>
                    <a:pt x="130253" y="623129"/>
                  </a:lnTo>
                  <a:lnTo>
                    <a:pt x="102654" y="608200"/>
                  </a:lnTo>
                  <a:lnTo>
                    <a:pt x="77439" y="589524"/>
                  </a:lnTo>
                  <a:lnTo>
                    <a:pt x="55114" y="567474"/>
                  </a:lnTo>
                  <a:lnTo>
                    <a:pt x="36126" y="542493"/>
                  </a:lnTo>
                  <a:lnTo>
                    <a:pt x="20855" y="515081"/>
                  </a:lnTo>
                  <a:lnTo>
                    <a:pt x="9608" y="485788"/>
                  </a:lnTo>
                  <a:lnTo>
                    <a:pt x="2609" y="455200"/>
                  </a:lnTo>
                  <a:lnTo>
                    <a:pt x="0" y="423931"/>
                  </a:lnTo>
                  <a:lnTo>
                    <a:pt x="1832" y="392606"/>
                  </a:lnTo>
                  <a:lnTo>
                    <a:pt x="8068" y="361854"/>
                  </a:lnTo>
                  <a:lnTo>
                    <a:pt x="18584" y="332290"/>
                  </a:lnTo>
                  <a:lnTo>
                    <a:pt x="33170" y="304508"/>
                  </a:lnTo>
                  <a:close/>
                </a:path>
              </a:pathLst>
            </a:custGeom>
            <a:solidFill>
              <a:srgbClr val="4DA3FF"/>
            </a:solidFill>
            <a:ln>
              <a:noFill/>
            </a:ln>
          </p:spPr>
          <p:txBody>
            <a:bodyPr rtlCol="0" anchor="ctr"/>
            <a:lstStyle/>
            <a:p>
              <a:pPr algn="ctr"/>
              <a:endParaRPr/>
            </a:p>
          </p:txBody>
        </p:sp>
        <p:sp>
          <p:nvSpPr>
            <p:cNvPr id="22" name="icon heap"/>
            <p:cNvSpPr/>
            <p:nvPr/>
          </p:nvSpPr>
          <p:spPr>
            <a:xfrm>
              <a:off x="7539227" y="2117978"/>
              <a:ext cx="777240" cy="427483"/>
            </a:xfrm>
            <a:custGeom>
              <a:avLst/>
              <a:gdLst/>
              <a:ahLst/>
              <a:cxnLst/>
              <a:rect l="l" t="t" r="r" b="b"/>
              <a:pathLst>
                <a:path w="777240" h="427483">
                  <a:moveTo>
                    <a:pt x="0" y="427483"/>
                  </a:moveTo>
                  <a:lnTo>
                    <a:pt x="170993" y="170993"/>
                  </a:lnTo>
                  <a:lnTo>
                    <a:pt x="349758" y="0"/>
                  </a:lnTo>
                  <a:lnTo>
                    <a:pt x="544068" y="128245"/>
                  </a:lnTo>
                  <a:lnTo>
                    <a:pt x="777240" y="427483"/>
                  </a:lnTo>
                  <a:close/>
                </a:path>
              </a:pathLst>
            </a:custGeom>
            <a:solidFill>
              <a:srgbClr val="1B1D21"/>
            </a:solidFill>
            <a:ln w="25400">
              <a:solidFill>
                <a:srgbClr val="B5BBC2"/>
              </a:solidFill>
            </a:ln>
          </p:spPr>
          <p:txBody>
            <a:bodyPr rtlCol="0" anchor="ctr"/>
            <a:lstStyle/>
            <a:p>
              <a:pPr algn="ctr"/>
              <a:endParaRPr/>
            </a:p>
          </p:txBody>
        </p:sp>
        <p:sp>
          <p:nvSpPr>
            <p:cNvPr id="23" name="tile name"/>
            <p:cNvSpPr txBox="1"/>
            <p:nvPr/>
          </p:nvSpPr>
          <p:spPr>
            <a:xfrm>
              <a:off x="6327647" y="2743200"/>
              <a:ext cx="23774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Steam Service Point</a:t>
              </a:r>
            </a:p>
          </p:txBody>
        </p:sp>
        <p:sp>
          <p:nvSpPr>
            <p:cNvPr id="24" name="ICHIP"/>
            <p:cNvSpPr/>
            <p:nvPr/>
          </p:nvSpPr>
          <p:spPr>
            <a:xfrm>
              <a:off x="6876288" y="3154680"/>
              <a:ext cx="128016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25" name="tile"/>
            <p:cNvSpPr/>
            <p:nvPr/>
          </p:nvSpPr>
          <p:spPr>
            <a:xfrm>
              <a:off x="9079992" y="1371600"/>
              <a:ext cx="2560320" cy="2194560"/>
            </a:xfrm>
            <a:prstGeom prst="roundRect">
              <a:avLst>
                <a:gd name="adj" fmla="val 4166"/>
              </a:avLst>
            </a:prstGeom>
            <a:solidFill>
              <a:srgbClr val="2B2F36"/>
            </a:solidFill>
            <a:ln w="19050">
              <a:solidFill>
                <a:srgbClr val="4A515B"/>
              </a:solidFill>
            </a:ln>
          </p:spPr>
          <p:txBody>
            <a:bodyPr rtlCol="0" anchor="ctr"/>
            <a:lstStyle/>
            <a:p>
              <a:pPr algn="ctr"/>
              <a:endParaRPr/>
            </a:p>
          </p:txBody>
        </p:sp>
        <p:sp>
          <p:nvSpPr>
            <p:cNvPr id="26" name="icon platform"/>
            <p:cNvSpPr/>
            <p:nvPr/>
          </p:nvSpPr>
          <p:spPr>
            <a:xfrm>
              <a:off x="9354312" y="2377440"/>
              <a:ext cx="2011680" cy="164592"/>
            </a:xfrm>
            <a:prstGeom prst="rect">
              <a:avLst/>
            </a:prstGeom>
            <a:solidFill>
              <a:srgbClr val="343A43"/>
            </a:solidFill>
            <a:ln w="19050">
              <a:solidFill>
                <a:srgbClr val="9AA0A6"/>
              </a:solidFill>
            </a:ln>
          </p:spPr>
          <p:txBody>
            <a:bodyPr rtlCol="0" anchor="ctr"/>
            <a:lstStyle/>
            <a:p>
              <a:pPr algn="ctr"/>
              <a:endParaRPr/>
            </a:p>
          </p:txBody>
        </p:sp>
        <p:sp>
          <p:nvSpPr>
            <p:cNvPr id="27" name="icon drop"/>
            <p:cNvSpPr/>
            <p:nvPr/>
          </p:nvSpPr>
          <p:spPr>
            <a:xfrm>
              <a:off x="9599550" y="1828799"/>
              <a:ext cx="332483" cy="482139"/>
            </a:xfrm>
            <a:custGeom>
              <a:avLst/>
              <a:gdLst/>
              <a:ahLst/>
              <a:cxnLst/>
              <a:rect l="l" t="t" r="r" b="b"/>
              <a:pathLst>
                <a:path w="332483" h="482139">
                  <a:moveTo>
                    <a:pt x="166242" y="0"/>
                  </a:moveTo>
                  <a:lnTo>
                    <a:pt x="307606" y="228382"/>
                  </a:lnTo>
                  <a:lnTo>
                    <a:pt x="318545" y="249219"/>
                  </a:lnTo>
                  <a:lnTo>
                    <a:pt x="326432" y="271391"/>
                  </a:lnTo>
                  <a:lnTo>
                    <a:pt x="331109" y="294455"/>
                  </a:lnTo>
                  <a:lnTo>
                    <a:pt x="332483" y="317949"/>
                  </a:lnTo>
                  <a:lnTo>
                    <a:pt x="330526" y="341401"/>
                  </a:lnTo>
                  <a:lnTo>
                    <a:pt x="325277" y="364342"/>
                  </a:lnTo>
                  <a:lnTo>
                    <a:pt x="316842" y="386312"/>
                  </a:lnTo>
                  <a:lnTo>
                    <a:pt x="305389" y="406871"/>
                  </a:lnTo>
                  <a:lnTo>
                    <a:pt x="291148" y="425606"/>
                  </a:lnTo>
                  <a:lnTo>
                    <a:pt x="274404" y="442144"/>
                  </a:lnTo>
                  <a:lnTo>
                    <a:pt x="255493" y="456151"/>
                  </a:lnTo>
                  <a:lnTo>
                    <a:pt x="234793" y="467348"/>
                  </a:lnTo>
                  <a:lnTo>
                    <a:pt x="212720" y="475510"/>
                  </a:lnTo>
                  <a:lnTo>
                    <a:pt x="189716" y="480473"/>
                  </a:lnTo>
                  <a:lnTo>
                    <a:pt x="166242" y="482139"/>
                  </a:lnTo>
                  <a:lnTo>
                    <a:pt x="142767" y="480473"/>
                  </a:lnTo>
                  <a:lnTo>
                    <a:pt x="119763" y="475510"/>
                  </a:lnTo>
                  <a:lnTo>
                    <a:pt x="97690" y="467348"/>
                  </a:lnTo>
                  <a:lnTo>
                    <a:pt x="76990" y="456151"/>
                  </a:lnTo>
                  <a:lnTo>
                    <a:pt x="58079" y="442144"/>
                  </a:lnTo>
                  <a:lnTo>
                    <a:pt x="41335" y="425606"/>
                  </a:lnTo>
                  <a:lnTo>
                    <a:pt x="27094" y="406871"/>
                  </a:lnTo>
                  <a:lnTo>
                    <a:pt x="15641" y="386312"/>
                  </a:lnTo>
                  <a:lnTo>
                    <a:pt x="7206" y="364342"/>
                  </a:lnTo>
                  <a:lnTo>
                    <a:pt x="1957" y="341401"/>
                  </a:lnTo>
                  <a:lnTo>
                    <a:pt x="0" y="317949"/>
                  </a:lnTo>
                  <a:lnTo>
                    <a:pt x="1374" y="294455"/>
                  </a:lnTo>
                  <a:lnTo>
                    <a:pt x="6051" y="271391"/>
                  </a:lnTo>
                  <a:lnTo>
                    <a:pt x="13938" y="249219"/>
                  </a:lnTo>
                  <a:lnTo>
                    <a:pt x="24877" y="228382"/>
                  </a:lnTo>
                  <a:close/>
                </a:path>
              </a:pathLst>
            </a:custGeom>
            <a:solidFill>
              <a:srgbClr val="4DA3FF"/>
            </a:solidFill>
            <a:ln>
              <a:noFill/>
            </a:ln>
          </p:spPr>
          <p:txBody>
            <a:bodyPr rtlCol="0" anchor="ctr"/>
            <a:lstStyle/>
            <a:p>
              <a:pPr algn="ctr"/>
              <a:endParaRPr/>
            </a:p>
          </p:txBody>
        </p:sp>
        <p:sp>
          <p:nvSpPr>
            <p:cNvPr id="28" name="icon heap"/>
            <p:cNvSpPr/>
            <p:nvPr/>
          </p:nvSpPr>
          <p:spPr>
            <a:xfrm>
              <a:off x="10131551" y="2089403"/>
              <a:ext cx="548641" cy="301753"/>
            </a:xfrm>
            <a:custGeom>
              <a:avLst/>
              <a:gdLst/>
              <a:ahLst/>
              <a:cxnLst/>
              <a:rect l="l" t="t" r="r" b="b"/>
              <a:pathLst>
                <a:path w="548641" h="301753">
                  <a:moveTo>
                    <a:pt x="0" y="301753"/>
                  </a:moveTo>
                  <a:lnTo>
                    <a:pt x="120701" y="120701"/>
                  </a:lnTo>
                  <a:lnTo>
                    <a:pt x="246889" y="0"/>
                  </a:lnTo>
                  <a:lnTo>
                    <a:pt x="384048" y="90526"/>
                  </a:lnTo>
                  <a:lnTo>
                    <a:pt x="548641" y="301753"/>
                  </a:lnTo>
                  <a:close/>
                </a:path>
              </a:pathLst>
            </a:custGeom>
            <a:solidFill>
              <a:srgbClr val="1B1D21"/>
            </a:solidFill>
            <a:ln w="25400">
              <a:solidFill>
                <a:srgbClr val="B5BBC2"/>
              </a:solidFill>
            </a:ln>
          </p:spPr>
          <p:txBody>
            <a:bodyPr rtlCol="0" anchor="ctr"/>
            <a:lstStyle/>
            <a:p>
              <a:pPr algn="ctr"/>
              <a:endParaRPr/>
            </a:p>
          </p:txBody>
        </p:sp>
        <p:sp>
          <p:nvSpPr>
            <p:cNvPr id="29" name="icon box"/>
            <p:cNvSpPr/>
            <p:nvPr/>
          </p:nvSpPr>
          <p:spPr>
            <a:xfrm>
              <a:off x="10817352" y="2057400"/>
              <a:ext cx="411480" cy="320040"/>
            </a:xfrm>
            <a:prstGeom prst="rect">
              <a:avLst/>
            </a:prstGeom>
            <a:solidFill>
              <a:srgbClr val="343A43"/>
            </a:solidFill>
            <a:ln w="19050">
              <a:solidFill>
                <a:srgbClr val="9AA0A6"/>
              </a:solidFill>
            </a:ln>
          </p:spPr>
          <p:txBody>
            <a:bodyPr rtlCol="0" anchor="ctr"/>
            <a:lstStyle/>
            <a:p>
              <a:pPr algn="ctr"/>
              <a:endParaRPr/>
            </a:p>
          </p:txBody>
        </p:sp>
        <p:sp>
          <p:nvSpPr>
            <p:cNvPr id="30" name="tile name"/>
            <p:cNvSpPr txBox="1"/>
            <p:nvPr/>
          </p:nvSpPr>
          <p:spPr>
            <a:xfrm>
              <a:off x="9171432" y="2743200"/>
              <a:ext cx="23774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Full Station</a:t>
              </a:r>
            </a:p>
          </p:txBody>
        </p:sp>
        <p:sp>
          <p:nvSpPr>
            <p:cNvPr id="31" name="ICHIP"/>
            <p:cNvSpPr/>
            <p:nvPr/>
          </p:nvSpPr>
          <p:spPr>
            <a:xfrm>
              <a:off x="9720072" y="3154680"/>
              <a:ext cx="128016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cxnSp>
          <p:nvCxnSpPr>
            <p:cNvPr id="32" name="route"/>
            <p:cNvCxnSpPr/>
            <p:nvPr/>
          </p:nvCxnSpPr>
          <p:spPr>
            <a:xfrm>
              <a:off x="1664208" y="4572000"/>
              <a:ext cx="2505455" cy="0"/>
            </a:xfrm>
            <a:prstGeom prst="line">
              <a:avLst/>
            </a:prstGeom>
            <a:ln w="44450">
              <a:solidFill>
                <a:srgbClr val="F28C28"/>
              </a:solidFill>
              <a:tailEnd type="triangle" w="med" len="med"/>
            </a:ln>
          </p:spPr>
        </p:cxnSp>
        <p:cxnSp>
          <p:nvCxnSpPr>
            <p:cNvPr id="33" name="route"/>
            <p:cNvCxnSpPr/>
            <p:nvPr/>
          </p:nvCxnSpPr>
          <p:spPr>
            <a:xfrm>
              <a:off x="4590288" y="4572000"/>
              <a:ext cx="2688335" cy="0"/>
            </a:xfrm>
            <a:prstGeom prst="line">
              <a:avLst/>
            </a:prstGeom>
            <a:ln w="44450">
              <a:solidFill>
                <a:srgbClr val="F28C28"/>
              </a:solidFill>
              <a:tailEnd type="triangle" w="med" len="med"/>
            </a:ln>
          </p:spPr>
        </p:cxnSp>
        <p:cxnSp>
          <p:nvCxnSpPr>
            <p:cNvPr id="34" name="route"/>
            <p:cNvCxnSpPr/>
            <p:nvPr/>
          </p:nvCxnSpPr>
          <p:spPr>
            <a:xfrm>
              <a:off x="7699248" y="4572000"/>
              <a:ext cx="2596896" cy="0"/>
            </a:xfrm>
            <a:prstGeom prst="line">
              <a:avLst/>
            </a:prstGeom>
            <a:ln w="44450">
              <a:solidFill>
                <a:srgbClr val="F28C28"/>
              </a:solidFill>
              <a:tailEnd type="triangle" w="med" len="med"/>
            </a:ln>
          </p:spPr>
        </p:cxnSp>
        <p:sp>
          <p:nvSpPr>
            <p:cNvPr id="35" name="stop"/>
            <p:cNvSpPr/>
            <p:nvPr/>
          </p:nvSpPr>
          <p:spPr>
            <a:xfrm>
              <a:off x="1280160" y="4389120"/>
              <a:ext cx="365760" cy="365760"/>
            </a:xfrm>
            <a:prstGeom prst="ellipse">
              <a:avLst/>
            </a:prstGeom>
            <a:solidFill>
              <a:srgbClr val="9AA0A6"/>
            </a:solidFill>
            <a:ln w="25400">
              <a:solidFill>
                <a:srgbClr val="101418"/>
              </a:solidFill>
            </a:ln>
          </p:spPr>
          <p:txBody>
            <a:bodyPr rtlCol="0" anchor="ctr"/>
            <a:lstStyle/>
            <a:p>
              <a:pPr algn="ctr"/>
              <a:endParaRPr/>
            </a:p>
          </p:txBody>
        </p:sp>
        <p:sp>
          <p:nvSpPr>
            <p:cNvPr id="36" name="stop label"/>
            <p:cNvSpPr txBox="1"/>
            <p:nvPr/>
          </p:nvSpPr>
          <p:spPr>
            <a:xfrm>
              <a:off x="274320" y="4846320"/>
              <a:ext cx="23774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Mine</a:t>
              </a:r>
            </a:p>
          </p:txBody>
        </p:sp>
        <p:sp>
          <p:nvSpPr>
            <p:cNvPr id="37" name="stop"/>
            <p:cNvSpPr/>
            <p:nvPr/>
          </p:nvSpPr>
          <p:spPr>
            <a:xfrm>
              <a:off x="4206240" y="4389120"/>
              <a:ext cx="365760" cy="365760"/>
            </a:xfrm>
            <a:prstGeom prst="ellipse">
              <a:avLst/>
            </a:prstGeom>
            <a:solidFill>
              <a:srgbClr val="4DA3FF"/>
            </a:solidFill>
            <a:ln w="25400">
              <a:solidFill>
                <a:srgbClr val="101418"/>
              </a:solidFill>
            </a:ln>
          </p:spPr>
          <p:txBody>
            <a:bodyPr rtlCol="0" anchor="ctr"/>
            <a:lstStyle/>
            <a:p>
              <a:pPr algn="ctr"/>
              <a:endParaRPr/>
            </a:p>
          </p:txBody>
        </p:sp>
        <p:sp>
          <p:nvSpPr>
            <p:cNvPr id="38" name="stop label"/>
            <p:cNvSpPr txBox="1"/>
            <p:nvPr/>
          </p:nvSpPr>
          <p:spPr>
            <a:xfrm>
              <a:off x="3200400" y="4846320"/>
              <a:ext cx="23774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Water stop</a:t>
              </a:r>
            </a:p>
          </p:txBody>
        </p:sp>
        <p:sp>
          <p:nvSpPr>
            <p:cNvPr id="39" name="stop"/>
            <p:cNvSpPr/>
            <p:nvPr/>
          </p:nvSpPr>
          <p:spPr>
            <a:xfrm>
              <a:off x="7315199" y="4389120"/>
              <a:ext cx="365760" cy="365760"/>
            </a:xfrm>
            <a:prstGeom prst="ellipse">
              <a:avLst/>
            </a:prstGeom>
            <a:solidFill>
              <a:srgbClr val="F28C28"/>
            </a:solidFill>
            <a:ln w="25400">
              <a:solidFill>
                <a:srgbClr val="101418"/>
              </a:solidFill>
            </a:ln>
          </p:spPr>
          <p:txBody>
            <a:bodyPr rtlCol="0" anchor="ctr"/>
            <a:lstStyle/>
            <a:p>
              <a:pPr algn="ctr"/>
              <a:endParaRPr/>
            </a:p>
          </p:txBody>
        </p:sp>
        <p:sp>
          <p:nvSpPr>
            <p:cNvPr id="40" name="stop label"/>
            <p:cNvSpPr txBox="1"/>
            <p:nvPr/>
          </p:nvSpPr>
          <p:spPr>
            <a:xfrm>
              <a:off x="6309359" y="4846320"/>
              <a:ext cx="23774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Water and coal stop</a:t>
              </a:r>
            </a:p>
          </p:txBody>
        </p:sp>
        <p:sp>
          <p:nvSpPr>
            <p:cNvPr id="41" name="stop"/>
            <p:cNvSpPr/>
            <p:nvPr/>
          </p:nvSpPr>
          <p:spPr>
            <a:xfrm>
              <a:off x="10332720" y="4389120"/>
              <a:ext cx="365760" cy="365760"/>
            </a:xfrm>
            <a:prstGeom prst="ellipse">
              <a:avLst/>
            </a:prstGeom>
            <a:solidFill>
              <a:srgbClr val="9AA0A6"/>
            </a:solidFill>
            <a:ln w="25400">
              <a:solidFill>
                <a:srgbClr val="101418"/>
              </a:solidFill>
            </a:ln>
          </p:spPr>
          <p:txBody>
            <a:bodyPr rtlCol="0" anchor="ctr"/>
            <a:lstStyle/>
            <a:p>
              <a:pPr algn="ctr"/>
              <a:endParaRPr/>
            </a:p>
          </p:txBody>
        </p:sp>
        <p:sp>
          <p:nvSpPr>
            <p:cNvPr id="42" name="stop label"/>
            <p:cNvSpPr txBox="1"/>
            <p:nvPr/>
          </p:nvSpPr>
          <p:spPr>
            <a:xfrm>
              <a:off x="9326880" y="4846320"/>
              <a:ext cx="237744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Factory</a:t>
              </a:r>
            </a:p>
          </p:txBody>
        </p:sp>
        <p:sp>
          <p:nvSpPr>
            <p:cNvPr id="43" name="tender body"/>
            <p:cNvSpPr/>
            <p:nvPr/>
          </p:nvSpPr>
          <p:spPr>
            <a:xfrm>
              <a:off x="3611879" y="3896106"/>
              <a:ext cx="492252" cy="246126"/>
            </a:xfrm>
            <a:prstGeom prst="roundRect">
              <a:avLst>
                <a:gd name="adj" fmla="val 2631"/>
              </a:avLst>
            </a:prstGeom>
            <a:solidFill>
              <a:srgbClr val="6C7480"/>
            </a:solidFill>
            <a:ln>
              <a:noFill/>
            </a:ln>
          </p:spPr>
          <p:txBody>
            <a:bodyPr rtlCol="0" anchor="ctr"/>
            <a:lstStyle/>
            <a:p>
              <a:pPr algn="ctr"/>
              <a:endParaRPr/>
            </a:p>
          </p:txBody>
        </p:sp>
        <p:sp>
          <p:nvSpPr>
            <p:cNvPr id="44" name="tender coal"/>
            <p:cNvSpPr/>
            <p:nvPr/>
          </p:nvSpPr>
          <p:spPr>
            <a:xfrm>
              <a:off x="3650741" y="3850767"/>
              <a:ext cx="414528" cy="58293"/>
            </a:xfrm>
            <a:prstGeom prst="rect">
              <a:avLst/>
            </a:prstGeom>
            <a:solidFill>
              <a:srgbClr val="1B1D21"/>
            </a:solidFill>
            <a:ln w="12700">
              <a:solidFill>
                <a:srgbClr val="9AA0A6"/>
              </a:solidFill>
            </a:ln>
          </p:spPr>
          <p:txBody>
            <a:bodyPr rtlCol="0" anchor="ctr"/>
            <a:lstStyle/>
            <a:p>
              <a:pPr algn="ctr"/>
              <a:endParaRPr/>
            </a:p>
          </p:txBody>
        </p:sp>
        <p:sp>
          <p:nvSpPr>
            <p:cNvPr id="45" name="tender frame"/>
            <p:cNvSpPr/>
            <p:nvPr/>
          </p:nvSpPr>
          <p:spPr>
            <a:xfrm>
              <a:off x="3611879" y="4142232"/>
              <a:ext cx="492252" cy="38862"/>
            </a:xfrm>
            <a:prstGeom prst="rect">
              <a:avLst/>
            </a:prstGeom>
            <a:solidFill>
              <a:srgbClr val="3A3F47"/>
            </a:solidFill>
            <a:ln w="9525">
              <a:solidFill>
                <a:srgbClr val="9AA0A6"/>
              </a:solidFill>
            </a:ln>
          </p:spPr>
          <p:txBody>
            <a:bodyPr rtlCol="0" anchor="ctr"/>
            <a:lstStyle/>
            <a:p>
              <a:pPr algn="ctr"/>
              <a:endParaRPr/>
            </a:p>
          </p:txBody>
        </p:sp>
        <p:sp>
          <p:nvSpPr>
            <p:cNvPr id="46" name="coupling"/>
            <p:cNvSpPr/>
            <p:nvPr/>
          </p:nvSpPr>
          <p:spPr>
            <a:xfrm>
              <a:off x="4104132" y="4064508"/>
              <a:ext cx="51816" cy="25908"/>
            </a:xfrm>
            <a:prstGeom prst="rect">
              <a:avLst/>
            </a:prstGeom>
            <a:solidFill>
              <a:srgbClr val="9AA0A6"/>
            </a:solidFill>
            <a:ln>
              <a:noFill/>
            </a:ln>
          </p:spPr>
          <p:txBody>
            <a:bodyPr rtlCol="0" anchor="ctr"/>
            <a:lstStyle/>
            <a:p>
              <a:pPr algn="ctr"/>
              <a:endParaRPr/>
            </a:p>
          </p:txBody>
        </p:sp>
        <p:sp>
          <p:nvSpPr>
            <p:cNvPr id="47" name="wheel"/>
            <p:cNvSpPr/>
            <p:nvPr/>
          </p:nvSpPr>
          <p:spPr>
            <a:xfrm>
              <a:off x="3631310" y="4103370"/>
              <a:ext cx="194310" cy="194310"/>
            </a:xfrm>
            <a:prstGeom prst="ellipse">
              <a:avLst/>
            </a:prstGeom>
            <a:solidFill>
              <a:srgbClr val="1B1D21"/>
            </a:solidFill>
            <a:ln w="19050">
              <a:solidFill>
                <a:srgbClr val="9AA0A6"/>
              </a:solidFill>
            </a:ln>
          </p:spPr>
          <p:txBody>
            <a:bodyPr rtlCol="0" anchor="ctr"/>
            <a:lstStyle/>
            <a:p>
              <a:pPr algn="ctr"/>
              <a:endParaRPr/>
            </a:p>
          </p:txBody>
        </p:sp>
        <p:sp>
          <p:nvSpPr>
            <p:cNvPr id="48" name="hub"/>
            <p:cNvSpPr/>
            <p:nvPr/>
          </p:nvSpPr>
          <p:spPr>
            <a:xfrm>
              <a:off x="3705148" y="4177207"/>
              <a:ext cx="46634" cy="46634"/>
            </a:xfrm>
            <a:prstGeom prst="ellipse">
              <a:avLst/>
            </a:prstGeom>
            <a:solidFill>
              <a:srgbClr val="9AA0A6"/>
            </a:solidFill>
            <a:ln>
              <a:noFill/>
            </a:ln>
          </p:spPr>
          <p:txBody>
            <a:bodyPr rtlCol="0" anchor="ctr"/>
            <a:lstStyle/>
            <a:p>
              <a:pPr algn="ctr"/>
              <a:endParaRPr/>
            </a:p>
          </p:txBody>
        </p:sp>
        <p:sp>
          <p:nvSpPr>
            <p:cNvPr id="49" name="wheel"/>
            <p:cNvSpPr/>
            <p:nvPr/>
          </p:nvSpPr>
          <p:spPr>
            <a:xfrm>
              <a:off x="3890390" y="4103370"/>
              <a:ext cx="194310" cy="194310"/>
            </a:xfrm>
            <a:prstGeom prst="ellipse">
              <a:avLst/>
            </a:prstGeom>
            <a:solidFill>
              <a:srgbClr val="1B1D21"/>
            </a:solidFill>
            <a:ln w="19050">
              <a:solidFill>
                <a:srgbClr val="9AA0A6"/>
              </a:solidFill>
            </a:ln>
          </p:spPr>
          <p:txBody>
            <a:bodyPr rtlCol="0" anchor="ctr"/>
            <a:lstStyle/>
            <a:p>
              <a:pPr algn="ctr"/>
              <a:endParaRPr/>
            </a:p>
          </p:txBody>
        </p:sp>
        <p:sp>
          <p:nvSpPr>
            <p:cNvPr id="50" name="hub"/>
            <p:cNvSpPr/>
            <p:nvPr/>
          </p:nvSpPr>
          <p:spPr>
            <a:xfrm>
              <a:off x="3964228" y="4177207"/>
              <a:ext cx="46634" cy="46634"/>
            </a:xfrm>
            <a:prstGeom prst="ellipse">
              <a:avLst/>
            </a:prstGeom>
            <a:solidFill>
              <a:srgbClr val="9AA0A6"/>
            </a:solidFill>
            <a:ln>
              <a:noFill/>
            </a:ln>
          </p:spPr>
          <p:txBody>
            <a:bodyPr rtlCol="0" anchor="ctr"/>
            <a:lstStyle/>
            <a:p>
              <a:pPr algn="ctr"/>
              <a:endParaRPr/>
            </a:p>
          </p:txBody>
        </p:sp>
        <p:sp>
          <p:nvSpPr>
            <p:cNvPr id="51" name="cab"/>
            <p:cNvSpPr/>
            <p:nvPr/>
          </p:nvSpPr>
          <p:spPr>
            <a:xfrm>
              <a:off x="4130040" y="3779520"/>
              <a:ext cx="259080" cy="362711"/>
            </a:xfrm>
            <a:prstGeom prst="roundRect">
              <a:avLst>
                <a:gd name="adj" fmla="val 2500"/>
              </a:avLst>
            </a:prstGeom>
            <a:solidFill>
              <a:srgbClr val="F28C28"/>
            </a:solidFill>
            <a:ln>
              <a:noFill/>
            </a:ln>
          </p:spPr>
          <p:txBody>
            <a:bodyPr rtlCol="0" anchor="ctr"/>
            <a:lstStyle/>
            <a:p>
              <a:pPr algn="ctr"/>
              <a:endParaRPr/>
            </a:p>
          </p:txBody>
        </p:sp>
        <p:sp>
          <p:nvSpPr>
            <p:cNvPr id="52" name="cab roof"/>
            <p:cNvSpPr/>
            <p:nvPr/>
          </p:nvSpPr>
          <p:spPr>
            <a:xfrm>
              <a:off x="4117085" y="3760089"/>
              <a:ext cx="284988" cy="28498"/>
            </a:xfrm>
            <a:prstGeom prst="rect">
              <a:avLst/>
            </a:prstGeom>
            <a:solidFill>
              <a:srgbClr val="3A3F47"/>
            </a:solidFill>
            <a:ln w="9525">
              <a:solidFill>
                <a:srgbClr val="9AA0A6"/>
              </a:solidFill>
            </a:ln>
          </p:spPr>
          <p:txBody>
            <a:bodyPr rtlCol="0" anchor="ctr"/>
            <a:lstStyle/>
            <a:p>
              <a:pPr algn="ctr"/>
              <a:endParaRPr/>
            </a:p>
          </p:txBody>
        </p:sp>
        <p:sp>
          <p:nvSpPr>
            <p:cNvPr id="53" name="cab window"/>
            <p:cNvSpPr/>
            <p:nvPr/>
          </p:nvSpPr>
          <p:spPr>
            <a:xfrm>
              <a:off x="4181856" y="3850767"/>
              <a:ext cx="155448" cy="116586"/>
            </a:xfrm>
            <a:prstGeom prst="rect">
              <a:avLst/>
            </a:prstGeom>
            <a:solidFill>
              <a:srgbClr val="1B1D21"/>
            </a:solidFill>
            <a:ln>
              <a:noFill/>
            </a:ln>
          </p:spPr>
          <p:txBody>
            <a:bodyPr rtlCol="0" anchor="ctr"/>
            <a:lstStyle/>
            <a:p>
              <a:pPr algn="ctr"/>
              <a:endParaRPr/>
            </a:p>
          </p:txBody>
        </p:sp>
        <p:sp>
          <p:nvSpPr>
            <p:cNvPr id="54" name="boiler"/>
            <p:cNvSpPr/>
            <p:nvPr/>
          </p:nvSpPr>
          <p:spPr>
            <a:xfrm>
              <a:off x="4389120" y="3857244"/>
              <a:ext cx="777240" cy="284988"/>
            </a:xfrm>
            <a:prstGeom prst="roundRect">
              <a:avLst>
                <a:gd name="adj" fmla="val 27272"/>
              </a:avLst>
            </a:prstGeom>
            <a:solidFill>
              <a:srgbClr val="F28C28"/>
            </a:solidFill>
            <a:ln>
              <a:noFill/>
            </a:ln>
          </p:spPr>
          <p:txBody>
            <a:bodyPr rtlCol="0" anchor="ctr"/>
            <a:lstStyle/>
            <a:p>
              <a:pPr algn="ctr"/>
              <a:endParaRPr/>
            </a:p>
          </p:txBody>
        </p:sp>
        <p:sp>
          <p:nvSpPr>
            <p:cNvPr id="55" name="chimney"/>
            <p:cNvSpPr/>
            <p:nvPr/>
          </p:nvSpPr>
          <p:spPr>
            <a:xfrm>
              <a:off x="4997957" y="3740658"/>
              <a:ext cx="90677" cy="123063"/>
            </a:xfrm>
            <a:prstGeom prst="rect">
              <a:avLst/>
            </a:prstGeom>
            <a:solidFill>
              <a:srgbClr val="3A3F47"/>
            </a:solidFill>
            <a:ln w="9525">
              <a:solidFill>
                <a:srgbClr val="9AA0A6"/>
              </a:solidFill>
            </a:ln>
          </p:spPr>
          <p:txBody>
            <a:bodyPr rtlCol="0" anchor="ctr"/>
            <a:lstStyle/>
            <a:p>
              <a:pPr algn="ctr"/>
              <a:endParaRPr/>
            </a:p>
          </p:txBody>
        </p:sp>
        <p:sp>
          <p:nvSpPr>
            <p:cNvPr id="56" name="chimney lip"/>
            <p:cNvSpPr/>
            <p:nvPr/>
          </p:nvSpPr>
          <p:spPr>
            <a:xfrm>
              <a:off x="4978527" y="3727704"/>
              <a:ext cx="129540" cy="25908"/>
            </a:xfrm>
            <a:prstGeom prst="rect">
              <a:avLst/>
            </a:prstGeom>
            <a:solidFill>
              <a:srgbClr val="3A3F47"/>
            </a:solidFill>
            <a:ln w="9525">
              <a:solidFill>
                <a:srgbClr val="9AA0A6"/>
              </a:solidFill>
            </a:ln>
          </p:spPr>
          <p:txBody>
            <a:bodyPr rtlCol="0" anchor="ctr"/>
            <a:lstStyle/>
            <a:p>
              <a:pPr algn="ctr"/>
              <a:endParaRPr/>
            </a:p>
          </p:txBody>
        </p:sp>
        <p:sp>
          <p:nvSpPr>
            <p:cNvPr id="57" name="dome"/>
            <p:cNvSpPr/>
            <p:nvPr/>
          </p:nvSpPr>
          <p:spPr>
            <a:xfrm>
              <a:off x="4609338" y="3798951"/>
              <a:ext cx="129540" cy="64770"/>
            </a:xfrm>
            <a:prstGeom prst="roundRect">
              <a:avLst>
                <a:gd name="adj" fmla="val 40000"/>
              </a:avLst>
            </a:prstGeom>
            <a:solidFill>
              <a:srgbClr val="F28C28"/>
            </a:solidFill>
            <a:ln>
              <a:noFill/>
            </a:ln>
          </p:spPr>
          <p:txBody>
            <a:bodyPr rtlCol="0" anchor="ctr"/>
            <a:lstStyle/>
            <a:p>
              <a:pPr algn="ctr"/>
              <a:endParaRPr/>
            </a:p>
          </p:txBody>
        </p:sp>
        <p:sp>
          <p:nvSpPr>
            <p:cNvPr id="58" name="frame"/>
            <p:cNvSpPr/>
            <p:nvPr/>
          </p:nvSpPr>
          <p:spPr>
            <a:xfrm>
              <a:off x="4130040" y="4142232"/>
              <a:ext cx="1036320" cy="38862"/>
            </a:xfrm>
            <a:prstGeom prst="rect">
              <a:avLst/>
            </a:prstGeom>
            <a:solidFill>
              <a:srgbClr val="3A3F47"/>
            </a:solidFill>
            <a:ln w="9525">
              <a:solidFill>
                <a:srgbClr val="9AA0A6"/>
              </a:solidFill>
            </a:ln>
          </p:spPr>
          <p:txBody>
            <a:bodyPr rtlCol="0" anchor="ctr"/>
            <a:lstStyle/>
            <a:p>
              <a:pPr algn="ctr"/>
              <a:endParaRPr/>
            </a:p>
          </p:txBody>
        </p:sp>
        <p:sp>
          <p:nvSpPr>
            <p:cNvPr id="59" name="wheel"/>
            <p:cNvSpPr/>
            <p:nvPr/>
          </p:nvSpPr>
          <p:spPr>
            <a:xfrm>
              <a:off x="4317873" y="4103370"/>
              <a:ext cx="194310" cy="194310"/>
            </a:xfrm>
            <a:prstGeom prst="ellipse">
              <a:avLst/>
            </a:prstGeom>
            <a:solidFill>
              <a:srgbClr val="1B1D21"/>
            </a:solidFill>
            <a:ln w="19050">
              <a:solidFill>
                <a:srgbClr val="9AA0A6"/>
              </a:solidFill>
            </a:ln>
          </p:spPr>
          <p:txBody>
            <a:bodyPr rtlCol="0" anchor="ctr"/>
            <a:lstStyle/>
            <a:p>
              <a:pPr algn="ctr"/>
              <a:endParaRPr/>
            </a:p>
          </p:txBody>
        </p:sp>
        <p:sp>
          <p:nvSpPr>
            <p:cNvPr id="60" name="hub"/>
            <p:cNvSpPr/>
            <p:nvPr/>
          </p:nvSpPr>
          <p:spPr>
            <a:xfrm>
              <a:off x="4391710" y="4177207"/>
              <a:ext cx="46634" cy="46634"/>
            </a:xfrm>
            <a:prstGeom prst="ellipse">
              <a:avLst/>
            </a:prstGeom>
            <a:solidFill>
              <a:srgbClr val="9AA0A6"/>
            </a:solidFill>
            <a:ln>
              <a:noFill/>
            </a:ln>
          </p:spPr>
          <p:txBody>
            <a:bodyPr rtlCol="0" anchor="ctr"/>
            <a:lstStyle/>
            <a:p>
              <a:pPr algn="ctr"/>
              <a:endParaRPr/>
            </a:p>
          </p:txBody>
        </p:sp>
        <p:sp>
          <p:nvSpPr>
            <p:cNvPr id="61" name="wheel"/>
            <p:cNvSpPr/>
            <p:nvPr/>
          </p:nvSpPr>
          <p:spPr>
            <a:xfrm>
              <a:off x="4576953" y="4103370"/>
              <a:ext cx="194310" cy="194310"/>
            </a:xfrm>
            <a:prstGeom prst="ellipse">
              <a:avLst/>
            </a:prstGeom>
            <a:solidFill>
              <a:srgbClr val="1B1D21"/>
            </a:solidFill>
            <a:ln w="19050">
              <a:solidFill>
                <a:srgbClr val="9AA0A6"/>
              </a:solidFill>
            </a:ln>
          </p:spPr>
          <p:txBody>
            <a:bodyPr rtlCol="0" anchor="ctr"/>
            <a:lstStyle/>
            <a:p>
              <a:pPr algn="ctr"/>
              <a:endParaRPr/>
            </a:p>
          </p:txBody>
        </p:sp>
        <p:sp>
          <p:nvSpPr>
            <p:cNvPr id="62" name="hub"/>
            <p:cNvSpPr/>
            <p:nvPr/>
          </p:nvSpPr>
          <p:spPr>
            <a:xfrm>
              <a:off x="4650790" y="4177207"/>
              <a:ext cx="46634" cy="46634"/>
            </a:xfrm>
            <a:prstGeom prst="ellipse">
              <a:avLst/>
            </a:prstGeom>
            <a:solidFill>
              <a:srgbClr val="9AA0A6"/>
            </a:solidFill>
            <a:ln>
              <a:noFill/>
            </a:ln>
          </p:spPr>
          <p:txBody>
            <a:bodyPr rtlCol="0" anchor="ctr"/>
            <a:lstStyle/>
            <a:p>
              <a:pPr algn="ctr"/>
              <a:endParaRPr/>
            </a:p>
          </p:txBody>
        </p:sp>
        <p:sp>
          <p:nvSpPr>
            <p:cNvPr id="63" name="wheel"/>
            <p:cNvSpPr/>
            <p:nvPr/>
          </p:nvSpPr>
          <p:spPr>
            <a:xfrm>
              <a:off x="4836032" y="4103370"/>
              <a:ext cx="194310" cy="194310"/>
            </a:xfrm>
            <a:prstGeom prst="ellipse">
              <a:avLst/>
            </a:prstGeom>
            <a:solidFill>
              <a:srgbClr val="1B1D21"/>
            </a:solidFill>
            <a:ln w="19050">
              <a:solidFill>
                <a:srgbClr val="9AA0A6"/>
              </a:solidFill>
            </a:ln>
          </p:spPr>
          <p:txBody>
            <a:bodyPr rtlCol="0" anchor="ctr"/>
            <a:lstStyle/>
            <a:p>
              <a:pPr algn="ctr"/>
              <a:endParaRPr/>
            </a:p>
          </p:txBody>
        </p:sp>
        <p:sp>
          <p:nvSpPr>
            <p:cNvPr id="64" name="hub"/>
            <p:cNvSpPr/>
            <p:nvPr/>
          </p:nvSpPr>
          <p:spPr>
            <a:xfrm>
              <a:off x="4909870" y="4177207"/>
              <a:ext cx="46634" cy="46634"/>
            </a:xfrm>
            <a:prstGeom prst="ellipse">
              <a:avLst/>
            </a:prstGeom>
            <a:solidFill>
              <a:srgbClr val="9AA0A6"/>
            </a:solidFill>
            <a:ln>
              <a:noFill/>
            </a:ln>
          </p:spPr>
          <p:txBody>
            <a:bodyPr rtlCol="0" anchor="ctr"/>
            <a:lstStyle/>
            <a:p>
              <a:pPr algn="ctr"/>
              <a:endParaRPr/>
            </a:p>
          </p:txBody>
        </p:sp>
      </p:grpSp>
      <p:sp>
        <p:nvSpPr>
          <p:cNvPr id="6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6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67" name="CAPTION"/>
          <p:cNvSpPr txBox="1"/>
          <p:nvPr/>
        </p:nvSpPr>
        <p:spPr>
          <a:xfrm>
            <a:off x="777240" y="5760720"/>
            <a:ext cx="909828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Separate coal and water stops make long routes possible. Not every stop needs a full station.</a:t>
            </a:r>
          </a:p>
        </p:txBody>
      </p:sp>
      <p:sp>
        <p:nvSpPr>
          <p:cNvPr id="68" name="ICHIP"/>
          <p:cNvSpPr/>
          <p:nvPr/>
        </p:nvSpPr>
        <p:spPr>
          <a:xfrm>
            <a:off x="10012680" y="5980176"/>
            <a:ext cx="1463040" cy="292608"/>
          </a:xfrm>
          <a:prstGeom prst="roundRect">
            <a:avLst>
              <a:gd name="adj" fmla="val 375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sp>
        <p:nvSpPr>
          <p:cNvPr id="69"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17</a:t>
            </a:r>
          </a:p>
        </p:txBody>
      </p:sp>
    </p:spTree>
    <p:extLst>
      <p:ext uri="{BB962C8B-B14F-4D97-AF65-F5344CB8AC3E}">
        <p14:creationId xmlns:p14="http://schemas.microsoft.com/office/powerpoint/2010/main" val="3187993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5"/>
                                        </p:tgtEl>
                                        <p:attrNameLst>
                                          <p:attrName>style.visibility</p:attrName>
                                        </p:attrNameLst>
                                      </p:cBhvr>
                                      <p:to>
                                        <p:strVal val="visible"/>
                                      </p:to>
                                    </p:set>
                                    <p:animEffect transition="in" filter="fade">
                                      <p:cBhvr>
                                        <p:cTn id="10" dur="500"/>
                                        <p:tgtEl>
                                          <p:spTgt spid="65"/>
                                        </p:tgtEl>
                                      </p:cBhvr>
                                    </p:animEffect>
                                  </p:childTnLst>
                                </p:cTn>
                              </p:par>
                              <p:par>
                                <p:cTn id="11" presetID="10" presetClass="entr" presetSubtype="0" fill="hold" nodeType="withEffect">
                                  <p:stCondLst>
                                    <p:cond delay="600"/>
                                  </p:stCondLst>
                                  <p:childTnLst>
                                    <p:set>
                                      <p:cBhvr>
                                        <p:cTn id="12" dur="1" fill="hold">
                                          <p:stCondLst>
                                            <p:cond delay="0"/>
                                          </p:stCondLst>
                                        </p:cTn>
                                        <p:tgtEl>
                                          <p:spTgt spid="66"/>
                                        </p:tgtEl>
                                        <p:attrNameLst>
                                          <p:attrName>style.visibility</p:attrName>
                                        </p:attrNameLst>
                                      </p:cBhvr>
                                      <p:to>
                                        <p:strVal val="visible"/>
                                      </p:to>
                                    </p:set>
                                    <p:animEffect transition="in" filter="fade">
                                      <p:cBhvr>
                                        <p:cTn id="13" dur="500"/>
                                        <p:tgtEl>
                                          <p:spTgt spid="66"/>
                                        </p:tgtEl>
                                      </p:cBhvr>
                                    </p:animEffect>
                                  </p:childTnLst>
                                </p:cTn>
                              </p:par>
                              <p:par>
                                <p:cTn id="14" presetID="10" presetClass="entr" presetSubtype="0" fill="hold" nodeType="withEffect">
                                  <p:stCondLst>
                                    <p:cond delay="900"/>
                                  </p:stCondLst>
                                  <p:childTnLst>
                                    <p:set>
                                      <p:cBhvr>
                                        <p:cTn id="15" dur="1" fill="hold">
                                          <p:stCondLst>
                                            <p:cond delay="0"/>
                                          </p:stCondLst>
                                        </p:cTn>
                                        <p:tgtEl>
                                          <p:spTgt spid="67"/>
                                        </p:tgtEl>
                                        <p:attrNameLst>
                                          <p:attrName>style.visibility</p:attrName>
                                        </p:attrNameLst>
                                      </p:cBhvr>
                                      <p:to>
                                        <p:strVal val="visible"/>
                                      </p:to>
                                    </p:set>
                                    <p:animEffect transition="in" filter="fade">
                                      <p:cBhvr>
                                        <p:cTn id="16" dur="500"/>
                                        <p:tgtEl>
                                          <p:spTgt spid="67"/>
                                        </p:tgtEl>
                                      </p:cBhvr>
                                    </p:animEffect>
                                  </p:childTnLst>
                                </p:cTn>
                              </p:par>
                              <p:par>
                                <p:cTn id="17" presetID="10" presetClass="entr" presetSubtype="0" fill="hold" nodeType="withEffect">
                                  <p:stCondLst>
                                    <p:cond delay="1200"/>
                                  </p:stCondLst>
                                  <p:childTnLst>
                                    <p:set>
                                      <p:cBhvr>
                                        <p:cTn id="18" dur="1" fill="hold">
                                          <p:stCondLst>
                                            <p:cond delay="0"/>
                                          </p:stCondLst>
                                        </p:cTn>
                                        <p:tgtEl>
                                          <p:spTgt spid="68"/>
                                        </p:tgtEl>
                                        <p:attrNameLst>
                                          <p:attrName>style.visibility</p:attrName>
                                        </p:attrNameLst>
                                      </p:cBhvr>
                                      <p:to>
                                        <p:strVal val="visible"/>
                                      </p:to>
                                    </p:set>
                                    <p:animEffect transition="in" filter="fade">
                                      <p:cBhvr>
                                        <p:cTn id="19"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Service stops in the timetable</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Timetable card" descr="A timetable with three lines: mine, load; water tower, water only and leave when full; factory, unload. A side note says automatic servicing at any stop was mentioned but not chosen."/>
          <p:cNvGrpSpPr/>
          <p:nvPr/>
        </p:nvGrpSpPr>
        <p:grpSpPr>
          <a:xfrm>
            <a:off x="548640" y="1417320"/>
            <a:ext cx="11091672" cy="3840480"/>
            <a:chOff x="548640" y="1417320"/>
            <a:chExt cx="11091672" cy="3840480"/>
          </a:xfrm>
        </p:grpSpPr>
        <p:sp>
          <p:nvSpPr>
            <p:cNvPr id="5" name="timetable card"/>
            <p:cNvSpPr/>
            <p:nvPr/>
          </p:nvSpPr>
          <p:spPr>
            <a:xfrm>
              <a:off x="548640" y="1417320"/>
              <a:ext cx="6675120" cy="3840480"/>
            </a:xfrm>
            <a:prstGeom prst="roundRect">
              <a:avLst>
                <a:gd name="adj" fmla="val 2380"/>
              </a:avLst>
            </a:prstGeom>
            <a:solidFill>
              <a:srgbClr val="2B2F36"/>
            </a:solidFill>
            <a:ln w="19050">
              <a:solidFill>
                <a:srgbClr val="4A515B"/>
              </a:solidFill>
            </a:ln>
          </p:spPr>
          <p:txBody>
            <a:bodyPr rtlCol="0" anchor="ctr"/>
            <a:lstStyle/>
            <a:p>
              <a:pPr algn="ctr"/>
              <a:endParaRPr/>
            </a:p>
          </p:txBody>
        </p:sp>
        <p:sp>
          <p:nvSpPr>
            <p:cNvPr id="6" name="card title"/>
            <p:cNvSpPr txBox="1"/>
            <p:nvPr/>
          </p:nvSpPr>
          <p:spPr>
            <a:xfrm>
              <a:off x="822960" y="1554480"/>
              <a:ext cx="2743200" cy="457200"/>
            </a:xfrm>
            <a:prstGeom prst="rect">
              <a:avLst/>
            </a:prstGeom>
            <a:noFill/>
          </p:spPr>
          <p:txBody>
            <a:bodyPr wrap="square" lIns="18288" tIns="9144" rIns="18288" bIns="9144" anchor="ctr">
              <a:noAutofit/>
            </a:bodyPr>
            <a:lstStyle/>
            <a:p>
              <a:pPr algn="l"/>
              <a:r>
                <a:rPr lang="en-GB" sz="2000" b="1" i="0">
                  <a:solidFill>
                    <a:srgbClr val="A9B0B8"/>
                  </a:solidFill>
                  <a:latin typeface="Arial"/>
                </a:rPr>
                <a:t>Timetable</a:t>
              </a:r>
            </a:p>
          </p:txBody>
        </p:sp>
        <p:sp>
          <p:nvSpPr>
            <p:cNvPr id="7" name="ICHIP"/>
            <p:cNvSpPr/>
            <p:nvPr/>
          </p:nvSpPr>
          <p:spPr>
            <a:xfrm>
              <a:off x="5760720" y="1627632"/>
              <a:ext cx="1280160" cy="310896"/>
            </a:xfrm>
            <a:prstGeom prst="roundRect">
              <a:avLst>
                <a:gd name="adj" fmla="val 35294"/>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8" name="timetable row"/>
            <p:cNvSpPr/>
            <p:nvPr/>
          </p:nvSpPr>
          <p:spPr>
            <a:xfrm>
              <a:off x="822960" y="2240280"/>
              <a:ext cx="6126480" cy="777240"/>
            </a:xfrm>
            <a:prstGeom prst="roundRect">
              <a:avLst>
                <a:gd name="adj" fmla="val 9411"/>
              </a:avLst>
            </a:prstGeom>
            <a:solidFill>
              <a:srgbClr val="343A43"/>
            </a:solidFill>
            <a:ln>
              <a:noFill/>
            </a:ln>
          </p:spPr>
          <p:txBody>
            <a:bodyPr rtlCol="0" anchor="ctr"/>
            <a:lstStyle/>
            <a:p>
              <a:pPr algn="ctr"/>
              <a:endParaRPr/>
            </a:p>
          </p:txBody>
        </p:sp>
        <p:sp>
          <p:nvSpPr>
            <p:cNvPr id="9" name="badge"/>
            <p:cNvSpPr/>
            <p:nvPr/>
          </p:nvSpPr>
          <p:spPr>
            <a:xfrm>
              <a:off x="960120" y="2400300"/>
              <a:ext cx="457200" cy="45720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1</a:t>
              </a:r>
            </a:p>
          </p:txBody>
        </p:sp>
        <p:sp>
          <p:nvSpPr>
            <p:cNvPr id="10" name="timetable text"/>
            <p:cNvSpPr txBox="1"/>
            <p:nvPr/>
          </p:nvSpPr>
          <p:spPr>
            <a:xfrm>
              <a:off x="1554480" y="2240280"/>
              <a:ext cx="5303520" cy="777240"/>
            </a:xfrm>
            <a:prstGeom prst="rect">
              <a:avLst/>
            </a:prstGeom>
            <a:noFill/>
          </p:spPr>
          <p:txBody>
            <a:bodyPr wrap="square" lIns="18288" tIns="9144" rIns="18288" bIns="9144" anchor="ctr">
              <a:noAutofit/>
            </a:bodyPr>
            <a:lstStyle/>
            <a:p>
              <a:pPr algn="l"/>
              <a:r>
                <a:rPr lang="en-GB" sz="2000" b="0" i="0">
                  <a:solidFill>
                    <a:srgbClr val="F2F2F2"/>
                  </a:solidFill>
                  <a:latin typeface="Arial"/>
                </a:rPr>
                <a:t>Mine: load</a:t>
              </a:r>
            </a:p>
          </p:txBody>
        </p:sp>
        <p:sp>
          <p:nvSpPr>
            <p:cNvPr id="11" name="timetable row"/>
            <p:cNvSpPr/>
            <p:nvPr/>
          </p:nvSpPr>
          <p:spPr>
            <a:xfrm>
              <a:off x="822960" y="3200400"/>
              <a:ext cx="6126480" cy="777240"/>
            </a:xfrm>
            <a:prstGeom prst="roundRect">
              <a:avLst>
                <a:gd name="adj" fmla="val 9411"/>
              </a:avLst>
            </a:prstGeom>
            <a:solidFill>
              <a:srgbClr val="343A43"/>
            </a:solidFill>
            <a:ln w="28575">
              <a:solidFill>
                <a:srgbClr val="F28C28"/>
              </a:solidFill>
            </a:ln>
          </p:spPr>
          <p:txBody>
            <a:bodyPr rtlCol="0" anchor="ctr"/>
            <a:lstStyle/>
            <a:p>
              <a:pPr algn="ctr"/>
              <a:endParaRPr/>
            </a:p>
          </p:txBody>
        </p:sp>
        <p:sp>
          <p:nvSpPr>
            <p:cNvPr id="12" name="badge"/>
            <p:cNvSpPr/>
            <p:nvPr/>
          </p:nvSpPr>
          <p:spPr>
            <a:xfrm>
              <a:off x="960120" y="3360420"/>
              <a:ext cx="457200" cy="45720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2</a:t>
              </a:r>
            </a:p>
          </p:txBody>
        </p:sp>
        <p:sp>
          <p:nvSpPr>
            <p:cNvPr id="13" name="timetable text"/>
            <p:cNvSpPr txBox="1"/>
            <p:nvPr/>
          </p:nvSpPr>
          <p:spPr>
            <a:xfrm>
              <a:off x="1554480" y="3200400"/>
              <a:ext cx="5303520" cy="777240"/>
            </a:xfrm>
            <a:prstGeom prst="rect">
              <a:avLst/>
            </a:prstGeom>
            <a:noFill/>
          </p:spPr>
          <p:txBody>
            <a:bodyPr wrap="square" lIns="18288" tIns="9144" rIns="18288" bIns="9144" anchor="ctr">
              <a:noAutofit/>
            </a:bodyPr>
            <a:lstStyle/>
            <a:p>
              <a:pPr algn="l"/>
              <a:r>
                <a:rPr lang="en-GB" sz="2000" b="1" i="0">
                  <a:solidFill>
                    <a:srgbClr val="F2F2F2"/>
                  </a:solidFill>
                  <a:latin typeface="Arial"/>
                </a:rPr>
                <a:t>Water Tower: water only, leave when full</a:t>
              </a:r>
            </a:p>
          </p:txBody>
        </p:sp>
        <p:sp>
          <p:nvSpPr>
            <p:cNvPr id="14" name="timetable row"/>
            <p:cNvSpPr/>
            <p:nvPr/>
          </p:nvSpPr>
          <p:spPr>
            <a:xfrm>
              <a:off x="822960" y="4160520"/>
              <a:ext cx="6126480" cy="777240"/>
            </a:xfrm>
            <a:prstGeom prst="roundRect">
              <a:avLst>
                <a:gd name="adj" fmla="val 9411"/>
              </a:avLst>
            </a:prstGeom>
            <a:solidFill>
              <a:srgbClr val="343A43"/>
            </a:solidFill>
            <a:ln>
              <a:noFill/>
            </a:ln>
          </p:spPr>
          <p:txBody>
            <a:bodyPr rtlCol="0" anchor="ctr"/>
            <a:lstStyle/>
            <a:p>
              <a:pPr algn="ctr"/>
              <a:endParaRPr/>
            </a:p>
          </p:txBody>
        </p:sp>
        <p:sp>
          <p:nvSpPr>
            <p:cNvPr id="15" name="badge"/>
            <p:cNvSpPr/>
            <p:nvPr/>
          </p:nvSpPr>
          <p:spPr>
            <a:xfrm>
              <a:off x="960120" y="4320540"/>
              <a:ext cx="457200" cy="45720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3</a:t>
              </a:r>
            </a:p>
          </p:txBody>
        </p:sp>
        <p:sp>
          <p:nvSpPr>
            <p:cNvPr id="16" name="timetable text"/>
            <p:cNvSpPr txBox="1"/>
            <p:nvPr/>
          </p:nvSpPr>
          <p:spPr>
            <a:xfrm>
              <a:off x="1554480" y="4160520"/>
              <a:ext cx="5303520" cy="777240"/>
            </a:xfrm>
            <a:prstGeom prst="rect">
              <a:avLst/>
            </a:prstGeom>
            <a:noFill/>
          </p:spPr>
          <p:txBody>
            <a:bodyPr wrap="square" lIns="18288" tIns="9144" rIns="18288" bIns="9144" anchor="ctr">
              <a:noAutofit/>
            </a:bodyPr>
            <a:lstStyle/>
            <a:p>
              <a:pPr algn="l"/>
              <a:r>
                <a:rPr lang="en-GB" sz="2000" b="0" i="0">
                  <a:solidFill>
                    <a:srgbClr val="F2F2F2"/>
                  </a:solidFill>
                  <a:latin typeface="Arial"/>
                </a:rPr>
                <a:t>Factory: unload</a:t>
              </a:r>
            </a:p>
          </p:txBody>
        </p:sp>
        <p:sp>
          <p:nvSpPr>
            <p:cNvPr id="17" name="side note card"/>
            <p:cNvSpPr/>
            <p:nvPr/>
          </p:nvSpPr>
          <p:spPr>
            <a:xfrm>
              <a:off x="7680960" y="2148840"/>
              <a:ext cx="3959352" cy="2194560"/>
            </a:xfrm>
            <a:prstGeom prst="roundRect">
              <a:avLst>
                <a:gd name="adj" fmla="val 4166"/>
              </a:avLst>
            </a:prstGeom>
            <a:solidFill>
              <a:srgbClr val="2B2F36"/>
            </a:solidFill>
            <a:ln w="19050">
              <a:solidFill>
                <a:srgbClr val="4A515B"/>
              </a:solidFill>
            </a:ln>
          </p:spPr>
          <p:txBody>
            <a:bodyPr rtlCol="0" anchor="ctr"/>
            <a:lstStyle/>
            <a:p>
              <a:pPr algn="ctr"/>
              <a:endParaRPr/>
            </a:p>
          </p:txBody>
        </p:sp>
        <p:sp>
          <p:nvSpPr>
            <p:cNvPr id="18" name="side note"/>
            <p:cNvSpPr txBox="1"/>
            <p:nvPr/>
          </p:nvSpPr>
          <p:spPr>
            <a:xfrm>
              <a:off x="7909560" y="2286000"/>
              <a:ext cx="3520440" cy="1097280"/>
            </a:xfrm>
            <a:prstGeom prst="rect">
              <a:avLst/>
            </a:prstGeom>
            <a:noFill/>
          </p:spPr>
          <p:txBody>
            <a:bodyPr wrap="square" lIns="18288" tIns="9144" rIns="18288" bIns="9144" anchor="t">
              <a:noAutofit/>
            </a:bodyPr>
            <a:lstStyle/>
            <a:p>
              <a:pPr algn="l"/>
              <a:r>
                <a:rPr lang="en-GB" sz="1800" b="0" i="0">
                  <a:solidFill>
                    <a:srgbClr val="F2F2F2"/>
                  </a:solidFill>
                  <a:latin typeface="Arial"/>
                </a:rPr>
                <a:t>Servicing at any stop, automatically: mentioned, not chosen</a:t>
              </a:r>
            </a:p>
          </p:txBody>
        </p:sp>
        <p:sp>
          <p:nvSpPr>
            <p:cNvPr id="19" name="ICHIP"/>
            <p:cNvSpPr/>
            <p:nvPr/>
          </p:nvSpPr>
          <p:spPr>
            <a:xfrm>
              <a:off x="7909560" y="3611880"/>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grpSp>
      <p:sp>
        <p:nvSpPr>
          <p:cNvPr id="2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1"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2"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 timetable can include a water-only stop. The train leaves when full.</a:t>
            </a:r>
          </a:p>
        </p:txBody>
      </p:sp>
      <p:sp>
        <p:nvSpPr>
          <p:cNvPr id="23"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18</a:t>
            </a:r>
          </a:p>
        </p:txBody>
      </p:sp>
    </p:spTree>
    <p:extLst>
      <p:ext uri="{BB962C8B-B14F-4D97-AF65-F5344CB8AC3E}">
        <p14:creationId xmlns:p14="http://schemas.microsoft.com/office/powerpoint/2010/main" val="40581431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6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9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Tenders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pic>
        <p:nvPicPr>
          <p:cNvPr id="4" name="P18_lms_tender" descr="A detached LMS tender at Norton Fitzwarren. Comparison only: not any particular engine's tender."/>
          <p:cNvPicPr>
            <a:picLocks noChangeAspect="1"/>
          </p:cNvPicPr>
          <p:nvPr/>
        </p:nvPicPr>
        <p:blipFill>
          <a:blip r:embed="rId2"/>
          <a:srcRect t="12941" b="12941"/>
          <a:stretch>
            <a:fillRect/>
          </a:stretch>
        </p:blipFill>
        <p:spPr>
          <a:xfrm>
            <a:off x="548640" y="3767328"/>
            <a:ext cx="3108960" cy="1536192"/>
          </a:xfrm>
          <a:prstGeom prst="roundRect">
            <a:avLst>
              <a:gd name="adj" fmla="val 4761"/>
            </a:avLst>
          </a:prstGeom>
        </p:spPr>
      </p:pic>
      <p:sp>
        <p:nvSpPr>
          <p:cNvPr id="5" name="CREDIT"/>
          <p:cNvSpPr txBox="1"/>
          <p:nvPr/>
        </p:nvSpPr>
        <p:spPr>
          <a:xfrm>
            <a:off x="548640" y="5340096"/>
            <a:ext cx="3108960" cy="310896"/>
          </a:xfrm>
          <a:prstGeom prst="rect">
            <a:avLst/>
          </a:prstGeom>
          <a:noFill/>
        </p:spPr>
        <p:txBody>
          <a:bodyPr wrap="square" lIns="0" tIns="0" rIns="0" bIns="0" anchor="t">
            <a:noAutofit/>
          </a:bodyPr>
          <a:lstStyle/>
          <a:p>
            <a:pPr algn="l"/>
            <a:r>
              <a:rPr lang="en-GB" sz="1000" b="0" i="0">
                <a:solidFill>
                  <a:srgbClr val="A9B0B8"/>
                </a:solidFill>
                <a:latin typeface="Arial"/>
              </a:rPr>
              <a:t>A real tender, for illustration. Geof Sheppard, CC BY-SA 4.0.</a:t>
            </a:r>
          </a:p>
        </p:txBody>
      </p:sp>
      <p:grpSp>
        <p:nvGrpSpPr>
          <p:cNvPr id="6" name="Train strip" descr="A train strip. An engine and its normal tender are joined as one vehicle. Next comes a hatched auxiliary tender, which is a separate wagon, then three cargo wagons. The auxiliary tender carries no freight and adds weight."/>
          <p:cNvGrpSpPr/>
          <p:nvPr/>
        </p:nvGrpSpPr>
        <p:grpSpPr>
          <a:xfrm>
            <a:off x="548640" y="1371600"/>
            <a:ext cx="11091672" cy="3840480"/>
            <a:chOff x="548640" y="1371600"/>
            <a:chExt cx="11091672" cy="3840480"/>
          </a:xfrm>
        </p:grpSpPr>
        <p:sp>
          <p:nvSpPr>
            <p:cNvPr id="7" name="rail"/>
            <p:cNvSpPr/>
            <p:nvPr/>
          </p:nvSpPr>
          <p:spPr>
            <a:xfrm>
              <a:off x="548640" y="3631996"/>
              <a:ext cx="11091672" cy="64008"/>
            </a:xfrm>
            <a:prstGeom prst="rect">
              <a:avLst/>
            </a:prstGeom>
            <a:solidFill>
              <a:srgbClr val="9AA0A6"/>
            </a:solidFill>
            <a:ln>
              <a:noFill/>
            </a:ln>
          </p:spPr>
          <p:txBody>
            <a:bodyPr rtlCol="0" anchor="ctr"/>
            <a:lstStyle/>
            <a:p>
              <a:pPr algn="ctr"/>
              <a:endParaRPr/>
            </a:p>
          </p:txBody>
        </p:sp>
        <p:sp>
          <p:nvSpPr>
            <p:cNvPr id="8" name="tender body"/>
            <p:cNvSpPr/>
            <p:nvPr/>
          </p:nvSpPr>
          <p:spPr>
            <a:xfrm>
              <a:off x="640080" y="2554833"/>
              <a:ext cx="1320393" cy="660196"/>
            </a:xfrm>
            <a:prstGeom prst="roundRect">
              <a:avLst>
                <a:gd name="adj" fmla="val 2631"/>
              </a:avLst>
            </a:prstGeom>
            <a:solidFill>
              <a:srgbClr val="6C7480"/>
            </a:solidFill>
            <a:ln>
              <a:noFill/>
            </a:ln>
          </p:spPr>
          <p:txBody>
            <a:bodyPr rtlCol="0" anchor="ctr"/>
            <a:lstStyle/>
            <a:p>
              <a:pPr algn="ctr"/>
              <a:endParaRPr/>
            </a:p>
          </p:txBody>
        </p:sp>
        <p:sp>
          <p:nvSpPr>
            <p:cNvPr id="9" name="tender coal"/>
            <p:cNvSpPr/>
            <p:nvPr/>
          </p:nvSpPr>
          <p:spPr>
            <a:xfrm>
              <a:off x="744321" y="2433218"/>
              <a:ext cx="1111910" cy="156362"/>
            </a:xfrm>
            <a:prstGeom prst="rect">
              <a:avLst/>
            </a:prstGeom>
            <a:solidFill>
              <a:srgbClr val="1B1D21"/>
            </a:solidFill>
            <a:ln w="12700">
              <a:solidFill>
                <a:srgbClr val="9AA0A6"/>
              </a:solidFill>
            </a:ln>
          </p:spPr>
          <p:txBody>
            <a:bodyPr rtlCol="0" anchor="ctr"/>
            <a:lstStyle/>
            <a:p>
              <a:pPr algn="ctr"/>
              <a:endParaRPr/>
            </a:p>
          </p:txBody>
        </p:sp>
        <p:sp>
          <p:nvSpPr>
            <p:cNvPr id="10" name="tender frame"/>
            <p:cNvSpPr/>
            <p:nvPr/>
          </p:nvSpPr>
          <p:spPr>
            <a:xfrm>
              <a:off x="640080" y="3215030"/>
              <a:ext cx="1320393" cy="104241"/>
            </a:xfrm>
            <a:prstGeom prst="rect">
              <a:avLst/>
            </a:prstGeom>
            <a:solidFill>
              <a:srgbClr val="3A3F47"/>
            </a:solidFill>
            <a:ln w="9525">
              <a:solidFill>
                <a:srgbClr val="9AA0A6"/>
              </a:solidFill>
            </a:ln>
          </p:spPr>
          <p:txBody>
            <a:bodyPr rtlCol="0" anchor="ctr"/>
            <a:lstStyle/>
            <a:p>
              <a:pPr algn="ctr"/>
              <a:endParaRPr/>
            </a:p>
          </p:txBody>
        </p:sp>
        <p:sp>
          <p:nvSpPr>
            <p:cNvPr id="11" name="coupling"/>
            <p:cNvSpPr/>
            <p:nvPr/>
          </p:nvSpPr>
          <p:spPr>
            <a:xfrm>
              <a:off x="1960473" y="3006547"/>
              <a:ext cx="138988" cy="69494"/>
            </a:xfrm>
            <a:prstGeom prst="rect">
              <a:avLst/>
            </a:prstGeom>
            <a:solidFill>
              <a:srgbClr val="9AA0A6"/>
            </a:solidFill>
            <a:ln>
              <a:noFill/>
            </a:ln>
          </p:spPr>
          <p:txBody>
            <a:bodyPr rtlCol="0" anchor="ctr"/>
            <a:lstStyle/>
            <a:p>
              <a:pPr algn="ctr"/>
              <a:endParaRPr/>
            </a:p>
          </p:txBody>
        </p:sp>
        <p:sp>
          <p:nvSpPr>
            <p:cNvPr id="12" name="wheel"/>
            <p:cNvSpPr/>
            <p:nvPr/>
          </p:nvSpPr>
          <p:spPr>
            <a:xfrm>
              <a:off x="692200"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13" name="hub"/>
            <p:cNvSpPr/>
            <p:nvPr/>
          </p:nvSpPr>
          <p:spPr>
            <a:xfrm>
              <a:off x="890259" y="3308847"/>
              <a:ext cx="125089" cy="125089"/>
            </a:xfrm>
            <a:prstGeom prst="ellipse">
              <a:avLst/>
            </a:prstGeom>
            <a:solidFill>
              <a:srgbClr val="9AA0A6"/>
            </a:solidFill>
            <a:ln>
              <a:noFill/>
            </a:ln>
          </p:spPr>
          <p:txBody>
            <a:bodyPr rtlCol="0" anchor="ctr"/>
            <a:lstStyle/>
            <a:p>
              <a:pPr algn="ctr"/>
              <a:endParaRPr/>
            </a:p>
          </p:txBody>
        </p:sp>
        <p:sp>
          <p:nvSpPr>
            <p:cNvPr id="14" name="wheel"/>
            <p:cNvSpPr/>
            <p:nvPr/>
          </p:nvSpPr>
          <p:spPr>
            <a:xfrm>
              <a:off x="1387144"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15" name="hub"/>
            <p:cNvSpPr/>
            <p:nvPr/>
          </p:nvSpPr>
          <p:spPr>
            <a:xfrm>
              <a:off x="1585203" y="3308847"/>
              <a:ext cx="125089" cy="125089"/>
            </a:xfrm>
            <a:prstGeom prst="ellipse">
              <a:avLst/>
            </a:prstGeom>
            <a:solidFill>
              <a:srgbClr val="9AA0A6"/>
            </a:solidFill>
            <a:ln>
              <a:noFill/>
            </a:ln>
          </p:spPr>
          <p:txBody>
            <a:bodyPr rtlCol="0" anchor="ctr"/>
            <a:lstStyle/>
            <a:p>
              <a:pPr algn="ctr"/>
              <a:endParaRPr/>
            </a:p>
          </p:txBody>
        </p:sp>
        <p:sp>
          <p:nvSpPr>
            <p:cNvPr id="16" name="cab"/>
            <p:cNvSpPr/>
            <p:nvPr/>
          </p:nvSpPr>
          <p:spPr>
            <a:xfrm>
              <a:off x="2029968" y="2242108"/>
              <a:ext cx="694944" cy="972921"/>
            </a:xfrm>
            <a:prstGeom prst="roundRect">
              <a:avLst>
                <a:gd name="adj" fmla="val 2500"/>
              </a:avLst>
            </a:prstGeom>
            <a:solidFill>
              <a:srgbClr val="F28C28"/>
            </a:solidFill>
            <a:ln>
              <a:noFill/>
            </a:ln>
          </p:spPr>
          <p:txBody>
            <a:bodyPr rtlCol="0" anchor="ctr"/>
            <a:lstStyle/>
            <a:p>
              <a:pPr algn="ctr"/>
              <a:endParaRPr/>
            </a:p>
          </p:txBody>
        </p:sp>
        <p:sp>
          <p:nvSpPr>
            <p:cNvPr id="17" name="cab roof"/>
            <p:cNvSpPr/>
            <p:nvPr/>
          </p:nvSpPr>
          <p:spPr>
            <a:xfrm>
              <a:off x="1995220" y="2189988"/>
              <a:ext cx="764438" cy="76443"/>
            </a:xfrm>
            <a:prstGeom prst="rect">
              <a:avLst/>
            </a:prstGeom>
            <a:solidFill>
              <a:srgbClr val="3A3F47"/>
            </a:solidFill>
            <a:ln w="9525">
              <a:solidFill>
                <a:srgbClr val="9AA0A6"/>
              </a:solidFill>
            </a:ln>
          </p:spPr>
          <p:txBody>
            <a:bodyPr rtlCol="0" anchor="ctr"/>
            <a:lstStyle/>
            <a:p>
              <a:pPr algn="ctr"/>
              <a:endParaRPr/>
            </a:p>
          </p:txBody>
        </p:sp>
        <p:sp>
          <p:nvSpPr>
            <p:cNvPr id="18" name="cab window"/>
            <p:cNvSpPr/>
            <p:nvPr/>
          </p:nvSpPr>
          <p:spPr>
            <a:xfrm>
              <a:off x="2168956" y="2433218"/>
              <a:ext cx="416966" cy="312724"/>
            </a:xfrm>
            <a:prstGeom prst="rect">
              <a:avLst/>
            </a:prstGeom>
            <a:solidFill>
              <a:srgbClr val="1B1D21"/>
            </a:solidFill>
            <a:ln>
              <a:noFill/>
            </a:ln>
          </p:spPr>
          <p:txBody>
            <a:bodyPr rtlCol="0" anchor="ctr"/>
            <a:lstStyle/>
            <a:p>
              <a:pPr algn="ctr"/>
              <a:endParaRPr/>
            </a:p>
          </p:txBody>
        </p:sp>
        <p:sp>
          <p:nvSpPr>
            <p:cNvPr id="19" name="boiler"/>
            <p:cNvSpPr/>
            <p:nvPr/>
          </p:nvSpPr>
          <p:spPr>
            <a:xfrm>
              <a:off x="2724912" y="2450591"/>
              <a:ext cx="2084832" cy="764438"/>
            </a:xfrm>
            <a:prstGeom prst="roundRect">
              <a:avLst>
                <a:gd name="adj" fmla="val 27272"/>
              </a:avLst>
            </a:prstGeom>
            <a:solidFill>
              <a:srgbClr val="F28C28"/>
            </a:solidFill>
            <a:ln>
              <a:noFill/>
            </a:ln>
          </p:spPr>
          <p:txBody>
            <a:bodyPr rtlCol="0" anchor="ctr"/>
            <a:lstStyle/>
            <a:p>
              <a:pPr algn="ctr"/>
              <a:endParaRPr/>
            </a:p>
          </p:txBody>
        </p:sp>
        <p:sp>
          <p:nvSpPr>
            <p:cNvPr id="20" name="chimney"/>
            <p:cNvSpPr/>
            <p:nvPr/>
          </p:nvSpPr>
          <p:spPr>
            <a:xfrm>
              <a:off x="4358030" y="2137867"/>
              <a:ext cx="243230" cy="330098"/>
            </a:xfrm>
            <a:prstGeom prst="rect">
              <a:avLst/>
            </a:prstGeom>
            <a:solidFill>
              <a:srgbClr val="3A3F47"/>
            </a:solidFill>
            <a:ln w="9525">
              <a:solidFill>
                <a:srgbClr val="9AA0A6"/>
              </a:solidFill>
            </a:ln>
          </p:spPr>
          <p:txBody>
            <a:bodyPr rtlCol="0" anchor="ctr"/>
            <a:lstStyle/>
            <a:p>
              <a:pPr algn="ctr"/>
              <a:endParaRPr/>
            </a:p>
          </p:txBody>
        </p:sp>
        <p:sp>
          <p:nvSpPr>
            <p:cNvPr id="21" name="chimney lip"/>
            <p:cNvSpPr/>
            <p:nvPr/>
          </p:nvSpPr>
          <p:spPr>
            <a:xfrm>
              <a:off x="4305909" y="2103120"/>
              <a:ext cx="347472" cy="69494"/>
            </a:xfrm>
            <a:prstGeom prst="rect">
              <a:avLst/>
            </a:prstGeom>
            <a:solidFill>
              <a:srgbClr val="3A3F47"/>
            </a:solidFill>
            <a:ln w="9525">
              <a:solidFill>
                <a:srgbClr val="9AA0A6"/>
              </a:solidFill>
            </a:ln>
          </p:spPr>
          <p:txBody>
            <a:bodyPr rtlCol="0" anchor="ctr"/>
            <a:lstStyle/>
            <a:p>
              <a:pPr algn="ctr"/>
              <a:endParaRPr/>
            </a:p>
          </p:txBody>
        </p:sp>
        <p:sp>
          <p:nvSpPr>
            <p:cNvPr id="22" name="dome"/>
            <p:cNvSpPr/>
            <p:nvPr/>
          </p:nvSpPr>
          <p:spPr>
            <a:xfrm>
              <a:off x="3315614" y="2294229"/>
              <a:ext cx="347472" cy="173736"/>
            </a:xfrm>
            <a:prstGeom prst="roundRect">
              <a:avLst>
                <a:gd name="adj" fmla="val 40000"/>
              </a:avLst>
            </a:prstGeom>
            <a:solidFill>
              <a:srgbClr val="F28C28"/>
            </a:solidFill>
            <a:ln>
              <a:noFill/>
            </a:ln>
          </p:spPr>
          <p:txBody>
            <a:bodyPr rtlCol="0" anchor="ctr"/>
            <a:lstStyle/>
            <a:p>
              <a:pPr algn="ctr"/>
              <a:endParaRPr/>
            </a:p>
          </p:txBody>
        </p:sp>
        <p:sp>
          <p:nvSpPr>
            <p:cNvPr id="23" name="frame"/>
            <p:cNvSpPr/>
            <p:nvPr/>
          </p:nvSpPr>
          <p:spPr>
            <a:xfrm>
              <a:off x="2029968" y="3215030"/>
              <a:ext cx="2779776" cy="104241"/>
            </a:xfrm>
            <a:prstGeom prst="rect">
              <a:avLst/>
            </a:prstGeom>
            <a:solidFill>
              <a:srgbClr val="3A3F47"/>
            </a:solidFill>
            <a:ln w="9525">
              <a:solidFill>
                <a:srgbClr val="9AA0A6"/>
              </a:solidFill>
            </a:ln>
          </p:spPr>
          <p:txBody>
            <a:bodyPr rtlCol="0" anchor="ctr"/>
            <a:lstStyle/>
            <a:p>
              <a:pPr algn="ctr"/>
              <a:endParaRPr/>
            </a:p>
          </p:txBody>
        </p:sp>
        <p:sp>
          <p:nvSpPr>
            <p:cNvPr id="24" name="wheel"/>
            <p:cNvSpPr/>
            <p:nvPr/>
          </p:nvSpPr>
          <p:spPr>
            <a:xfrm>
              <a:off x="2533802"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25" name="hub"/>
            <p:cNvSpPr/>
            <p:nvPr/>
          </p:nvSpPr>
          <p:spPr>
            <a:xfrm>
              <a:off x="2731861" y="3308847"/>
              <a:ext cx="125089" cy="125089"/>
            </a:xfrm>
            <a:prstGeom prst="ellipse">
              <a:avLst/>
            </a:prstGeom>
            <a:solidFill>
              <a:srgbClr val="9AA0A6"/>
            </a:solidFill>
            <a:ln>
              <a:noFill/>
            </a:ln>
          </p:spPr>
          <p:txBody>
            <a:bodyPr rtlCol="0" anchor="ctr"/>
            <a:lstStyle/>
            <a:p>
              <a:pPr algn="ctr"/>
              <a:endParaRPr/>
            </a:p>
          </p:txBody>
        </p:sp>
        <p:sp>
          <p:nvSpPr>
            <p:cNvPr id="26" name="wheel"/>
            <p:cNvSpPr/>
            <p:nvPr/>
          </p:nvSpPr>
          <p:spPr>
            <a:xfrm>
              <a:off x="3228746"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27" name="hub"/>
            <p:cNvSpPr/>
            <p:nvPr/>
          </p:nvSpPr>
          <p:spPr>
            <a:xfrm>
              <a:off x="3426805" y="3308847"/>
              <a:ext cx="125089" cy="125089"/>
            </a:xfrm>
            <a:prstGeom prst="ellipse">
              <a:avLst/>
            </a:prstGeom>
            <a:solidFill>
              <a:srgbClr val="9AA0A6"/>
            </a:solidFill>
            <a:ln>
              <a:noFill/>
            </a:ln>
          </p:spPr>
          <p:txBody>
            <a:bodyPr rtlCol="0" anchor="ctr"/>
            <a:lstStyle/>
            <a:p>
              <a:pPr algn="ctr"/>
              <a:endParaRPr/>
            </a:p>
          </p:txBody>
        </p:sp>
        <p:sp>
          <p:nvSpPr>
            <p:cNvPr id="28" name="wheel"/>
            <p:cNvSpPr/>
            <p:nvPr/>
          </p:nvSpPr>
          <p:spPr>
            <a:xfrm>
              <a:off x="3923690"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29" name="hub"/>
            <p:cNvSpPr/>
            <p:nvPr/>
          </p:nvSpPr>
          <p:spPr>
            <a:xfrm>
              <a:off x="4121749" y="3308847"/>
              <a:ext cx="125089" cy="125089"/>
            </a:xfrm>
            <a:prstGeom prst="ellipse">
              <a:avLst/>
            </a:prstGeom>
            <a:solidFill>
              <a:srgbClr val="9AA0A6"/>
            </a:solidFill>
            <a:ln>
              <a:noFill/>
            </a:ln>
          </p:spPr>
          <p:txBody>
            <a:bodyPr rtlCol="0" anchor="ctr"/>
            <a:lstStyle/>
            <a:p>
              <a:pPr algn="ctr"/>
              <a:endParaRPr/>
            </a:p>
          </p:txBody>
        </p:sp>
        <p:sp>
          <p:nvSpPr>
            <p:cNvPr id="30" name="aux tender"/>
            <p:cNvSpPr/>
            <p:nvPr/>
          </p:nvSpPr>
          <p:spPr>
            <a:xfrm>
              <a:off x="5084064" y="2554833"/>
              <a:ext cx="1737360" cy="660196"/>
            </a:xfrm>
            <a:prstGeom prst="rect">
              <a:avLst/>
            </a:prstGeom>
            <a:pattFill prst="wdUpDiag">
              <a:fgClr>
                <a:srgbClr val="C9CED3"/>
              </a:fgClr>
              <a:bgClr>
                <a:srgbClr val="2B2F36"/>
              </a:bgClr>
            </a:pattFill>
            <a:ln w="25400">
              <a:solidFill>
                <a:srgbClr val="C9CED3"/>
              </a:solidFill>
            </a:ln>
          </p:spPr>
          <p:txBody>
            <a:bodyPr rtlCol="0" anchor="ctr"/>
            <a:lstStyle/>
            <a:p>
              <a:pPr algn="ctr"/>
              <a:endParaRPr/>
            </a:p>
          </p:txBody>
        </p:sp>
        <p:sp>
          <p:nvSpPr>
            <p:cNvPr id="31" name="tender hatch"/>
            <p:cNvSpPr/>
            <p:nvPr/>
          </p:nvSpPr>
          <p:spPr>
            <a:xfrm>
              <a:off x="5223052" y="2450591"/>
              <a:ext cx="243230" cy="243230"/>
            </a:xfrm>
            <a:prstGeom prst="ellipse">
              <a:avLst/>
            </a:prstGeom>
            <a:solidFill>
              <a:srgbClr val="1B1D21"/>
            </a:solidFill>
            <a:ln w="19050">
              <a:solidFill>
                <a:srgbClr val="F2F2F2"/>
              </a:solidFill>
            </a:ln>
          </p:spPr>
          <p:txBody>
            <a:bodyPr rtlCol="0" anchor="ctr"/>
            <a:lstStyle/>
            <a:p>
              <a:pPr algn="ctr"/>
              <a:endParaRPr/>
            </a:p>
          </p:txBody>
        </p:sp>
        <p:sp>
          <p:nvSpPr>
            <p:cNvPr id="32" name="wagon frame"/>
            <p:cNvSpPr/>
            <p:nvPr/>
          </p:nvSpPr>
          <p:spPr>
            <a:xfrm>
              <a:off x="5084064" y="3215030"/>
              <a:ext cx="1737360" cy="104241"/>
            </a:xfrm>
            <a:prstGeom prst="rect">
              <a:avLst/>
            </a:prstGeom>
            <a:solidFill>
              <a:srgbClr val="3A3F47"/>
            </a:solidFill>
            <a:ln w="9525">
              <a:solidFill>
                <a:srgbClr val="9AA0A6"/>
              </a:solidFill>
            </a:ln>
          </p:spPr>
          <p:txBody>
            <a:bodyPr rtlCol="0" anchor="ctr"/>
            <a:lstStyle/>
            <a:p>
              <a:pPr algn="ctr"/>
              <a:endParaRPr/>
            </a:p>
          </p:txBody>
        </p:sp>
        <p:sp>
          <p:nvSpPr>
            <p:cNvPr id="33" name="wheel"/>
            <p:cNvSpPr/>
            <p:nvPr/>
          </p:nvSpPr>
          <p:spPr>
            <a:xfrm>
              <a:off x="5136184"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34" name="hub"/>
            <p:cNvSpPr/>
            <p:nvPr/>
          </p:nvSpPr>
          <p:spPr>
            <a:xfrm>
              <a:off x="5334243" y="3308847"/>
              <a:ext cx="125089" cy="125089"/>
            </a:xfrm>
            <a:prstGeom prst="ellipse">
              <a:avLst/>
            </a:prstGeom>
            <a:solidFill>
              <a:srgbClr val="9AA0A6"/>
            </a:solidFill>
            <a:ln>
              <a:noFill/>
            </a:ln>
          </p:spPr>
          <p:txBody>
            <a:bodyPr rtlCol="0" anchor="ctr"/>
            <a:lstStyle/>
            <a:p>
              <a:pPr algn="ctr"/>
              <a:endParaRPr/>
            </a:p>
          </p:txBody>
        </p:sp>
        <p:sp>
          <p:nvSpPr>
            <p:cNvPr id="35" name="wheel"/>
            <p:cNvSpPr/>
            <p:nvPr/>
          </p:nvSpPr>
          <p:spPr>
            <a:xfrm>
              <a:off x="6248095"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36" name="hub"/>
            <p:cNvSpPr/>
            <p:nvPr/>
          </p:nvSpPr>
          <p:spPr>
            <a:xfrm>
              <a:off x="6446154" y="3308847"/>
              <a:ext cx="125089" cy="125089"/>
            </a:xfrm>
            <a:prstGeom prst="ellipse">
              <a:avLst/>
            </a:prstGeom>
            <a:solidFill>
              <a:srgbClr val="9AA0A6"/>
            </a:solidFill>
            <a:ln>
              <a:noFill/>
            </a:ln>
          </p:spPr>
          <p:txBody>
            <a:bodyPr rtlCol="0" anchor="ctr"/>
            <a:lstStyle/>
            <a:p>
              <a:pPr algn="ctr"/>
              <a:endParaRPr/>
            </a:p>
          </p:txBody>
        </p:sp>
        <p:sp>
          <p:nvSpPr>
            <p:cNvPr id="37" name="wagon body"/>
            <p:cNvSpPr/>
            <p:nvPr/>
          </p:nvSpPr>
          <p:spPr>
            <a:xfrm>
              <a:off x="6958584" y="2450591"/>
              <a:ext cx="1320393" cy="764438"/>
            </a:xfrm>
            <a:prstGeom prst="roundRect">
              <a:avLst>
                <a:gd name="adj" fmla="val 2272"/>
              </a:avLst>
            </a:prstGeom>
            <a:solidFill>
              <a:srgbClr val="6C7480"/>
            </a:solidFill>
            <a:ln>
              <a:noFill/>
            </a:ln>
          </p:spPr>
          <p:txBody>
            <a:bodyPr rtlCol="0" anchor="ctr"/>
            <a:lstStyle/>
            <a:p>
              <a:pPr algn="ctr"/>
              <a:endParaRPr/>
            </a:p>
          </p:txBody>
        </p:sp>
        <p:sp>
          <p:nvSpPr>
            <p:cNvPr id="38" name="plank"/>
            <p:cNvSpPr/>
            <p:nvPr/>
          </p:nvSpPr>
          <p:spPr>
            <a:xfrm>
              <a:off x="7281732" y="2485339"/>
              <a:ext cx="13898" cy="694944"/>
            </a:xfrm>
            <a:prstGeom prst="rect">
              <a:avLst/>
            </a:prstGeom>
            <a:solidFill>
              <a:srgbClr val="4A515B"/>
            </a:solidFill>
            <a:ln>
              <a:noFill/>
            </a:ln>
          </p:spPr>
          <p:txBody>
            <a:bodyPr rtlCol="0" anchor="ctr"/>
            <a:lstStyle/>
            <a:p>
              <a:pPr algn="ctr"/>
              <a:endParaRPr/>
            </a:p>
          </p:txBody>
        </p:sp>
        <p:sp>
          <p:nvSpPr>
            <p:cNvPr id="39" name="plank"/>
            <p:cNvSpPr/>
            <p:nvPr/>
          </p:nvSpPr>
          <p:spPr>
            <a:xfrm>
              <a:off x="7611831" y="2485339"/>
              <a:ext cx="13898" cy="694944"/>
            </a:xfrm>
            <a:prstGeom prst="rect">
              <a:avLst/>
            </a:prstGeom>
            <a:solidFill>
              <a:srgbClr val="4A515B"/>
            </a:solidFill>
            <a:ln>
              <a:noFill/>
            </a:ln>
          </p:spPr>
          <p:txBody>
            <a:bodyPr rtlCol="0" anchor="ctr"/>
            <a:lstStyle/>
            <a:p>
              <a:pPr algn="ctr"/>
              <a:endParaRPr/>
            </a:p>
          </p:txBody>
        </p:sp>
        <p:sp>
          <p:nvSpPr>
            <p:cNvPr id="40" name="plank"/>
            <p:cNvSpPr/>
            <p:nvPr/>
          </p:nvSpPr>
          <p:spPr>
            <a:xfrm>
              <a:off x="7941929" y="2485339"/>
              <a:ext cx="13898" cy="694944"/>
            </a:xfrm>
            <a:prstGeom prst="rect">
              <a:avLst/>
            </a:prstGeom>
            <a:solidFill>
              <a:srgbClr val="4A515B"/>
            </a:solidFill>
            <a:ln>
              <a:noFill/>
            </a:ln>
          </p:spPr>
          <p:txBody>
            <a:bodyPr rtlCol="0" anchor="ctr"/>
            <a:lstStyle/>
            <a:p>
              <a:pPr algn="ctr"/>
              <a:endParaRPr/>
            </a:p>
          </p:txBody>
        </p:sp>
        <p:sp>
          <p:nvSpPr>
            <p:cNvPr id="41" name="wagon frame"/>
            <p:cNvSpPr/>
            <p:nvPr/>
          </p:nvSpPr>
          <p:spPr>
            <a:xfrm>
              <a:off x="6958584" y="3215030"/>
              <a:ext cx="1320393" cy="104241"/>
            </a:xfrm>
            <a:prstGeom prst="rect">
              <a:avLst/>
            </a:prstGeom>
            <a:solidFill>
              <a:srgbClr val="3A3F47"/>
            </a:solidFill>
            <a:ln w="9525">
              <a:solidFill>
                <a:srgbClr val="9AA0A6"/>
              </a:solidFill>
            </a:ln>
          </p:spPr>
          <p:txBody>
            <a:bodyPr rtlCol="0" anchor="ctr"/>
            <a:lstStyle/>
            <a:p>
              <a:pPr algn="ctr"/>
              <a:endParaRPr/>
            </a:p>
          </p:txBody>
        </p:sp>
        <p:sp>
          <p:nvSpPr>
            <p:cNvPr id="42" name="wheel"/>
            <p:cNvSpPr/>
            <p:nvPr/>
          </p:nvSpPr>
          <p:spPr>
            <a:xfrm>
              <a:off x="7010704"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43" name="hub"/>
            <p:cNvSpPr/>
            <p:nvPr/>
          </p:nvSpPr>
          <p:spPr>
            <a:xfrm>
              <a:off x="7208763" y="3308847"/>
              <a:ext cx="125089" cy="125089"/>
            </a:xfrm>
            <a:prstGeom prst="ellipse">
              <a:avLst/>
            </a:prstGeom>
            <a:solidFill>
              <a:srgbClr val="9AA0A6"/>
            </a:solidFill>
            <a:ln>
              <a:noFill/>
            </a:ln>
          </p:spPr>
          <p:txBody>
            <a:bodyPr rtlCol="0" anchor="ctr"/>
            <a:lstStyle/>
            <a:p>
              <a:pPr algn="ctr"/>
              <a:endParaRPr/>
            </a:p>
          </p:txBody>
        </p:sp>
        <p:sp>
          <p:nvSpPr>
            <p:cNvPr id="44" name="wheel"/>
            <p:cNvSpPr/>
            <p:nvPr/>
          </p:nvSpPr>
          <p:spPr>
            <a:xfrm>
              <a:off x="7705648"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45" name="hub"/>
            <p:cNvSpPr/>
            <p:nvPr/>
          </p:nvSpPr>
          <p:spPr>
            <a:xfrm>
              <a:off x="7903707" y="3308847"/>
              <a:ext cx="125089" cy="125089"/>
            </a:xfrm>
            <a:prstGeom prst="ellipse">
              <a:avLst/>
            </a:prstGeom>
            <a:solidFill>
              <a:srgbClr val="9AA0A6"/>
            </a:solidFill>
            <a:ln>
              <a:noFill/>
            </a:ln>
          </p:spPr>
          <p:txBody>
            <a:bodyPr rtlCol="0" anchor="ctr"/>
            <a:lstStyle/>
            <a:p>
              <a:pPr algn="ctr"/>
              <a:endParaRPr/>
            </a:p>
          </p:txBody>
        </p:sp>
        <p:sp>
          <p:nvSpPr>
            <p:cNvPr id="46" name="wagon body"/>
            <p:cNvSpPr/>
            <p:nvPr/>
          </p:nvSpPr>
          <p:spPr>
            <a:xfrm>
              <a:off x="8370417" y="2450591"/>
              <a:ext cx="1320393" cy="764438"/>
            </a:xfrm>
            <a:prstGeom prst="roundRect">
              <a:avLst>
                <a:gd name="adj" fmla="val 2272"/>
              </a:avLst>
            </a:prstGeom>
            <a:solidFill>
              <a:srgbClr val="6C7480"/>
            </a:solidFill>
            <a:ln>
              <a:noFill/>
            </a:ln>
          </p:spPr>
          <p:txBody>
            <a:bodyPr rtlCol="0" anchor="ctr"/>
            <a:lstStyle/>
            <a:p>
              <a:pPr algn="ctr"/>
              <a:endParaRPr/>
            </a:p>
          </p:txBody>
        </p:sp>
        <p:sp>
          <p:nvSpPr>
            <p:cNvPr id="47" name="plank"/>
            <p:cNvSpPr/>
            <p:nvPr/>
          </p:nvSpPr>
          <p:spPr>
            <a:xfrm>
              <a:off x="8693566" y="2485339"/>
              <a:ext cx="13898" cy="694944"/>
            </a:xfrm>
            <a:prstGeom prst="rect">
              <a:avLst/>
            </a:prstGeom>
            <a:solidFill>
              <a:srgbClr val="4A515B"/>
            </a:solidFill>
            <a:ln>
              <a:noFill/>
            </a:ln>
          </p:spPr>
          <p:txBody>
            <a:bodyPr rtlCol="0" anchor="ctr"/>
            <a:lstStyle/>
            <a:p>
              <a:pPr algn="ctr"/>
              <a:endParaRPr/>
            </a:p>
          </p:txBody>
        </p:sp>
        <p:sp>
          <p:nvSpPr>
            <p:cNvPr id="48" name="plank"/>
            <p:cNvSpPr/>
            <p:nvPr/>
          </p:nvSpPr>
          <p:spPr>
            <a:xfrm>
              <a:off x="9023664" y="2485339"/>
              <a:ext cx="13898" cy="694944"/>
            </a:xfrm>
            <a:prstGeom prst="rect">
              <a:avLst/>
            </a:prstGeom>
            <a:solidFill>
              <a:srgbClr val="4A515B"/>
            </a:solidFill>
            <a:ln>
              <a:noFill/>
            </a:ln>
          </p:spPr>
          <p:txBody>
            <a:bodyPr rtlCol="0" anchor="ctr"/>
            <a:lstStyle/>
            <a:p>
              <a:pPr algn="ctr"/>
              <a:endParaRPr/>
            </a:p>
          </p:txBody>
        </p:sp>
        <p:sp>
          <p:nvSpPr>
            <p:cNvPr id="49" name="plank"/>
            <p:cNvSpPr/>
            <p:nvPr/>
          </p:nvSpPr>
          <p:spPr>
            <a:xfrm>
              <a:off x="9353763" y="2485339"/>
              <a:ext cx="13898" cy="694944"/>
            </a:xfrm>
            <a:prstGeom prst="rect">
              <a:avLst/>
            </a:prstGeom>
            <a:solidFill>
              <a:srgbClr val="4A515B"/>
            </a:solidFill>
            <a:ln>
              <a:noFill/>
            </a:ln>
          </p:spPr>
          <p:txBody>
            <a:bodyPr rtlCol="0" anchor="ctr"/>
            <a:lstStyle/>
            <a:p>
              <a:pPr algn="ctr"/>
              <a:endParaRPr/>
            </a:p>
          </p:txBody>
        </p:sp>
        <p:sp>
          <p:nvSpPr>
            <p:cNvPr id="50" name="wagon frame"/>
            <p:cNvSpPr/>
            <p:nvPr/>
          </p:nvSpPr>
          <p:spPr>
            <a:xfrm>
              <a:off x="8370417" y="3215030"/>
              <a:ext cx="1320393" cy="104241"/>
            </a:xfrm>
            <a:prstGeom prst="rect">
              <a:avLst/>
            </a:prstGeom>
            <a:solidFill>
              <a:srgbClr val="3A3F47"/>
            </a:solidFill>
            <a:ln w="9525">
              <a:solidFill>
                <a:srgbClr val="9AA0A6"/>
              </a:solidFill>
            </a:ln>
          </p:spPr>
          <p:txBody>
            <a:bodyPr rtlCol="0" anchor="ctr"/>
            <a:lstStyle/>
            <a:p>
              <a:pPr algn="ctr"/>
              <a:endParaRPr/>
            </a:p>
          </p:txBody>
        </p:sp>
        <p:sp>
          <p:nvSpPr>
            <p:cNvPr id="51" name="wheel"/>
            <p:cNvSpPr/>
            <p:nvPr/>
          </p:nvSpPr>
          <p:spPr>
            <a:xfrm>
              <a:off x="8422538"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52" name="hub"/>
            <p:cNvSpPr/>
            <p:nvPr/>
          </p:nvSpPr>
          <p:spPr>
            <a:xfrm>
              <a:off x="8620597" y="3308847"/>
              <a:ext cx="125089" cy="125089"/>
            </a:xfrm>
            <a:prstGeom prst="ellipse">
              <a:avLst/>
            </a:prstGeom>
            <a:solidFill>
              <a:srgbClr val="9AA0A6"/>
            </a:solidFill>
            <a:ln>
              <a:noFill/>
            </a:ln>
          </p:spPr>
          <p:txBody>
            <a:bodyPr rtlCol="0" anchor="ctr"/>
            <a:lstStyle/>
            <a:p>
              <a:pPr algn="ctr"/>
              <a:endParaRPr/>
            </a:p>
          </p:txBody>
        </p:sp>
        <p:sp>
          <p:nvSpPr>
            <p:cNvPr id="53" name="wheel"/>
            <p:cNvSpPr/>
            <p:nvPr/>
          </p:nvSpPr>
          <p:spPr>
            <a:xfrm>
              <a:off x="9117482"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54" name="hub"/>
            <p:cNvSpPr/>
            <p:nvPr/>
          </p:nvSpPr>
          <p:spPr>
            <a:xfrm>
              <a:off x="9315541" y="3308847"/>
              <a:ext cx="125089" cy="125089"/>
            </a:xfrm>
            <a:prstGeom prst="ellipse">
              <a:avLst/>
            </a:prstGeom>
            <a:solidFill>
              <a:srgbClr val="9AA0A6"/>
            </a:solidFill>
            <a:ln>
              <a:noFill/>
            </a:ln>
          </p:spPr>
          <p:txBody>
            <a:bodyPr rtlCol="0" anchor="ctr"/>
            <a:lstStyle/>
            <a:p>
              <a:pPr algn="ctr"/>
              <a:endParaRPr/>
            </a:p>
          </p:txBody>
        </p:sp>
        <p:sp>
          <p:nvSpPr>
            <p:cNvPr id="55" name="wagon body"/>
            <p:cNvSpPr/>
            <p:nvPr/>
          </p:nvSpPr>
          <p:spPr>
            <a:xfrm>
              <a:off x="9782251" y="2450591"/>
              <a:ext cx="1320393" cy="764438"/>
            </a:xfrm>
            <a:prstGeom prst="roundRect">
              <a:avLst>
                <a:gd name="adj" fmla="val 2272"/>
              </a:avLst>
            </a:prstGeom>
            <a:solidFill>
              <a:srgbClr val="6C7480"/>
            </a:solidFill>
            <a:ln>
              <a:noFill/>
            </a:ln>
          </p:spPr>
          <p:txBody>
            <a:bodyPr rtlCol="0" anchor="ctr"/>
            <a:lstStyle/>
            <a:p>
              <a:pPr algn="ctr"/>
              <a:endParaRPr/>
            </a:p>
          </p:txBody>
        </p:sp>
        <p:sp>
          <p:nvSpPr>
            <p:cNvPr id="56" name="plank"/>
            <p:cNvSpPr/>
            <p:nvPr/>
          </p:nvSpPr>
          <p:spPr>
            <a:xfrm>
              <a:off x="10105400" y="2485339"/>
              <a:ext cx="13898" cy="694944"/>
            </a:xfrm>
            <a:prstGeom prst="rect">
              <a:avLst/>
            </a:prstGeom>
            <a:solidFill>
              <a:srgbClr val="4A515B"/>
            </a:solidFill>
            <a:ln>
              <a:noFill/>
            </a:ln>
          </p:spPr>
          <p:txBody>
            <a:bodyPr rtlCol="0" anchor="ctr"/>
            <a:lstStyle/>
            <a:p>
              <a:pPr algn="ctr"/>
              <a:endParaRPr/>
            </a:p>
          </p:txBody>
        </p:sp>
        <p:sp>
          <p:nvSpPr>
            <p:cNvPr id="57" name="plank"/>
            <p:cNvSpPr/>
            <p:nvPr/>
          </p:nvSpPr>
          <p:spPr>
            <a:xfrm>
              <a:off x="10435498" y="2485339"/>
              <a:ext cx="13898" cy="694944"/>
            </a:xfrm>
            <a:prstGeom prst="rect">
              <a:avLst/>
            </a:prstGeom>
            <a:solidFill>
              <a:srgbClr val="4A515B"/>
            </a:solidFill>
            <a:ln>
              <a:noFill/>
            </a:ln>
          </p:spPr>
          <p:txBody>
            <a:bodyPr rtlCol="0" anchor="ctr"/>
            <a:lstStyle/>
            <a:p>
              <a:pPr algn="ctr"/>
              <a:endParaRPr/>
            </a:p>
          </p:txBody>
        </p:sp>
        <p:sp>
          <p:nvSpPr>
            <p:cNvPr id="58" name="plank"/>
            <p:cNvSpPr/>
            <p:nvPr/>
          </p:nvSpPr>
          <p:spPr>
            <a:xfrm>
              <a:off x="10765596" y="2485339"/>
              <a:ext cx="13898" cy="694944"/>
            </a:xfrm>
            <a:prstGeom prst="rect">
              <a:avLst/>
            </a:prstGeom>
            <a:solidFill>
              <a:srgbClr val="4A515B"/>
            </a:solidFill>
            <a:ln>
              <a:noFill/>
            </a:ln>
          </p:spPr>
          <p:txBody>
            <a:bodyPr rtlCol="0" anchor="ctr"/>
            <a:lstStyle/>
            <a:p>
              <a:pPr algn="ctr"/>
              <a:endParaRPr/>
            </a:p>
          </p:txBody>
        </p:sp>
        <p:sp>
          <p:nvSpPr>
            <p:cNvPr id="59" name="wagon frame"/>
            <p:cNvSpPr/>
            <p:nvPr/>
          </p:nvSpPr>
          <p:spPr>
            <a:xfrm>
              <a:off x="9782251" y="3215030"/>
              <a:ext cx="1320393" cy="104241"/>
            </a:xfrm>
            <a:prstGeom prst="rect">
              <a:avLst/>
            </a:prstGeom>
            <a:solidFill>
              <a:srgbClr val="3A3F47"/>
            </a:solidFill>
            <a:ln w="9525">
              <a:solidFill>
                <a:srgbClr val="9AA0A6"/>
              </a:solidFill>
            </a:ln>
          </p:spPr>
          <p:txBody>
            <a:bodyPr rtlCol="0" anchor="ctr"/>
            <a:lstStyle/>
            <a:p>
              <a:pPr algn="ctr"/>
              <a:endParaRPr/>
            </a:p>
          </p:txBody>
        </p:sp>
        <p:sp>
          <p:nvSpPr>
            <p:cNvPr id="60" name="wheel"/>
            <p:cNvSpPr/>
            <p:nvPr/>
          </p:nvSpPr>
          <p:spPr>
            <a:xfrm>
              <a:off x="9834372"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61" name="hub"/>
            <p:cNvSpPr/>
            <p:nvPr/>
          </p:nvSpPr>
          <p:spPr>
            <a:xfrm>
              <a:off x="10032431" y="3308847"/>
              <a:ext cx="125089" cy="125089"/>
            </a:xfrm>
            <a:prstGeom prst="ellipse">
              <a:avLst/>
            </a:prstGeom>
            <a:solidFill>
              <a:srgbClr val="9AA0A6"/>
            </a:solidFill>
            <a:ln>
              <a:noFill/>
            </a:ln>
          </p:spPr>
          <p:txBody>
            <a:bodyPr rtlCol="0" anchor="ctr"/>
            <a:lstStyle/>
            <a:p>
              <a:pPr algn="ctr"/>
              <a:endParaRPr/>
            </a:p>
          </p:txBody>
        </p:sp>
        <p:sp>
          <p:nvSpPr>
            <p:cNvPr id="62" name="wheel"/>
            <p:cNvSpPr/>
            <p:nvPr/>
          </p:nvSpPr>
          <p:spPr>
            <a:xfrm>
              <a:off x="10529316" y="3110788"/>
              <a:ext cx="521208" cy="521208"/>
            </a:xfrm>
            <a:prstGeom prst="ellipse">
              <a:avLst/>
            </a:prstGeom>
            <a:solidFill>
              <a:srgbClr val="1B1D21"/>
            </a:solidFill>
            <a:ln w="19050">
              <a:solidFill>
                <a:srgbClr val="9AA0A6"/>
              </a:solidFill>
            </a:ln>
          </p:spPr>
          <p:txBody>
            <a:bodyPr rtlCol="0" anchor="ctr"/>
            <a:lstStyle/>
            <a:p>
              <a:pPr algn="ctr"/>
              <a:endParaRPr/>
            </a:p>
          </p:txBody>
        </p:sp>
        <p:sp>
          <p:nvSpPr>
            <p:cNvPr id="63" name="hub"/>
            <p:cNvSpPr/>
            <p:nvPr/>
          </p:nvSpPr>
          <p:spPr>
            <a:xfrm>
              <a:off x="10727375" y="3308847"/>
              <a:ext cx="125089" cy="125089"/>
            </a:xfrm>
            <a:prstGeom prst="ellipse">
              <a:avLst/>
            </a:prstGeom>
            <a:solidFill>
              <a:srgbClr val="9AA0A6"/>
            </a:solidFill>
            <a:ln>
              <a:noFill/>
            </a:ln>
          </p:spPr>
          <p:txBody>
            <a:bodyPr rtlCol="0" anchor="ctr"/>
            <a:lstStyle/>
            <a:p>
              <a:pPr algn="ctr"/>
              <a:endParaRPr/>
            </a:p>
          </p:txBody>
        </p:sp>
        <p:sp>
          <p:nvSpPr>
            <p:cNvPr id="64" name="bracket"/>
            <p:cNvSpPr/>
            <p:nvPr/>
          </p:nvSpPr>
          <p:spPr>
            <a:xfrm>
              <a:off x="640080" y="1874519"/>
              <a:ext cx="4169664" cy="137161"/>
            </a:xfrm>
            <a:custGeom>
              <a:avLst/>
              <a:gdLst/>
              <a:ahLst/>
              <a:cxnLst/>
              <a:rect l="l" t="t" r="r" b="b"/>
              <a:pathLst>
                <a:path w="4169664" h="137161">
                  <a:moveTo>
                    <a:pt x="0" y="137161"/>
                  </a:moveTo>
                  <a:lnTo>
                    <a:pt x="0" y="0"/>
                  </a:lnTo>
                  <a:lnTo>
                    <a:pt x="4169664" y="0"/>
                  </a:lnTo>
                  <a:lnTo>
                    <a:pt x="4169664" y="137161"/>
                  </a:lnTo>
                </a:path>
              </a:pathLst>
            </a:custGeom>
            <a:noFill/>
            <a:ln w="28575">
              <a:solidFill>
                <a:srgbClr val="9AA0A6"/>
              </a:solidFill>
            </a:ln>
          </p:spPr>
          <p:txBody>
            <a:bodyPr rtlCol="0" anchor="ctr"/>
            <a:lstStyle/>
            <a:p>
              <a:pPr algn="ctr"/>
              <a:endParaRPr/>
            </a:p>
          </p:txBody>
        </p:sp>
        <p:sp>
          <p:nvSpPr>
            <p:cNvPr id="65" name="bracket label"/>
            <p:cNvSpPr txBox="1"/>
            <p:nvPr/>
          </p:nvSpPr>
          <p:spPr>
            <a:xfrm>
              <a:off x="1737360" y="1371600"/>
              <a:ext cx="1645920" cy="411480"/>
            </a:xfrm>
            <a:prstGeom prst="rect">
              <a:avLst/>
            </a:prstGeom>
            <a:noFill/>
          </p:spPr>
          <p:txBody>
            <a:bodyPr wrap="square" lIns="18288" tIns="9144" rIns="18288" bIns="9144" anchor="ctr">
              <a:noAutofit/>
            </a:bodyPr>
            <a:lstStyle/>
            <a:p>
              <a:pPr algn="ctr"/>
              <a:r>
                <a:rPr lang="en-GB" sz="1800" b="1" i="0">
                  <a:solidFill>
                    <a:srgbClr val="F2F2F2"/>
                  </a:solidFill>
                  <a:latin typeface="Arial"/>
                </a:rPr>
                <a:t>One vehicle</a:t>
              </a:r>
            </a:p>
          </p:txBody>
        </p:sp>
        <p:sp>
          <p:nvSpPr>
            <p:cNvPr id="66" name="ICHIP"/>
            <p:cNvSpPr/>
            <p:nvPr/>
          </p:nvSpPr>
          <p:spPr>
            <a:xfrm>
              <a:off x="3429000" y="1426464"/>
              <a:ext cx="128016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67" name="aux label"/>
            <p:cNvSpPr txBox="1"/>
            <p:nvPr/>
          </p:nvSpPr>
          <p:spPr>
            <a:xfrm>
              <a:off x="4398264" y="3796588"/>
              <a:ext cx="3108960" cy="640080"/>
            </a:xfrm>
            <a:prstGeom prst="rect">
              <a:avLst/>
            </a:prstGeom>
            <a:noFill/>
          </p:spPr>
          <p:txBody>
            <a:bodyPr wrap="square" lIns="18288" tIns="9144" rIns="18288" bIns="9144" anchor="ctr">
              <a:noAutofit/>
            </a:bodyPr>
            <a:lstStyle/>
            <a:p>
              <a:pPr algn="ctr"/>
              <a:r>
                <a:rPr lang="en-GB" sz="1600" b="1" i="0">
                  <a:solidFill>
                    <a:srgbClr val="F2F2F2"/>
                  </a:solidFill>
                  <a:latin typeface="Arial"/>
                </a:rPr>
                <a:t>Auxiliary tender: a separate wagon</a:t>
              </a:r>
            </a:p>
          </p:txBody>
        </p:sp>
        <p:sp>
          <p:nvSpPr>
            <p:cNvPr id="68" name="ICHIP TEXT"/>
            <p:cNvSpPr/>
            <p:nvPr/>
          </p:nvSpPr>
          <p:spPr>
            <a:xfrm>
              <a:off x="4398264" y="4528108"/>
              <a:ext cx="141732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Water only</a:t>
              </a:r>
            </a:p>
          </p:txBody>
        </p:sp>
        <p:sp>
          <p:nvSpPr>
            <p:cNvPr id="69" name="ICHIP TEXT"/>
            <p:cNvSpPr/>
            <p:nvPr/>
          </p:nvSpPr>
          <p:spPr>
            <a:xfrm>
              <a:off x="5907024" y="4528108"/>
              <a:ext cx="1600200" cy="292608"/>
            </a:xfrm>
            <a:prstGeom prst="roundRect">
              <a:avLst>
                <a:gd name="adj" fmla="val 375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Coal and water</a:t>
              </a:r>
            </a:p>
          </p:txBody>
        </p:sp>
        <p:sp>
          <p:nvSpPr>
            <p:cNvPr id="70" name="crate"/>
            <p:cNvSpPr/>
            <p:nvPr/>
          </p:nvSpPr>
          <p:spPr>
            <a:xfrm>
              <a:off x="8229600" y="3977639"/>
              <a:ext cx="548640" cy="457200"/>
            </a:xfrm>
            <a:prstGeom prst="rect">
              <a:avLst/>
            </a:prstGeom>
            <a:solidFill>
              <a:srgbClr val="343A43"/>
            </a:solidFill>
            <a:ln w="25400">
              <a:solidFill>
                <a:srgbClr val="9AA0A6"/>
              </a:solidFill>
            </a:ln>
          </p:spPr>
          <p:txBody>
            <a:bodyPr rtlCol="0" anchor="ctr"/>
            <a:lstStyle/>
            <a:p>
              <a:pPr algn="ctr"/>
              <a:endParaRPr/>
            </a:p>
          </p:txBody>
        </p:sp>
        <p:cxnSp>
          <p:nvCxnSpPr>
            <p:cNvPr id="71" name="strike"/>
            <p:cNvCxnSpPr/>
            <p:nvPr/>
          </p:nvCxnSpPr>
          <p:spPr>
            <a:xfrm flipV="1">
              <a:off x="8229600" y="3977639"/>
              <a:ext cx="548640" cy="457201"/>
            </a:xfrm>
            <a:prstGeom prst="line">
              <a:avLst/>
            </a:prstGeom>
            <a:ln w="44450">
              <a:solidFill>
                <a:srgbClr val="E5484D"/>
              </a:solidFill>
            </a:ln>
          </p:spPr>
        </p:cxnSp>
        <p:sp>
          <p:nvSpPr>
            <p:cNvPr id="72" name="weight"/>
            <p:cNvSpPr/>
            <p:nvPr/>
          </p:nvSpPr>
          <p:spPr>
            <a:xfrm>
              <a:off x="10378440" y="4114800"/>
              <a:ext cx="548640" cy="320040"/>
            </a:xfrm>
            <a:custGeom>
              <a:avLst/>
              <a:gdLst/>
              <a:ahLst/>
              <a:cxnLst/>
              <a:rect l="l" t="t" r="r" b="b"/>
              <a:pathLst>
                <a:path w="548640" h="320040">
                  <a:moveTo>
                    <a:pt x="0" y="320040"/>
                  </a:moveTo>
                  <a:lnTo>
                    <a:pt x="91440" y="0"/>
                  </a:lnTo>
                  <a:lnTo>
                    <a:pt x="457200" y="0"/>
                  </a:lnTo>
                  <a:lnTo>
                    <a:pt x="548640" y="320040"/>
                  </a:lnTo>
                  <a:close/>
                </a:path>
              </a:pathLst>
            </a:custGeom>
            <a:solidFill>
              <a:srgbClr val="9AA0A6"/>
            </a:solidFill>
            <a:ln>
              <a:noFill/>
            </a:ln>
          </p:spPr>
          <p:txBody>
            <a:bodyPr rtlCol="0" anchor="ctr"/>
            <a:lstStyle/>
            <a:p>
              <a:pPr algn="ctr"/>
              <a:endParaRPr/>
            </a:p>
          </p:txBody>
        </p:sp>
        <p:sp>
          <p:nvSpPr>
            <p:cNvPr id="73" name="weight ring"/>
            <p:cNvSpPr/>
            <p:nvPr/>
          </p:nvSpPr>
          <p:spPr>
            <a:xfrm>
              <a:off x="10533888" y="3968496"/>
              <a:ext cx="237744" cy="237744"/>
            </a:xfrm>
            <a:prstGeom prst="ellipse">
              <a:avLst/>
            </a:prstGeom>
            <a:noFill/>
            <a:ln w="38100">
              <a:solidFill>
                <a:srgbClr val="9AA0A6"/>
              </a:solidFill>
            </a:ln>
          </p:spPr>
          <p:txBody>
            <a:bodyPr rtlCol="0" anchor="ctr"/>
            <a:lstStyle/>
            <a:p>
              <a:pPr algn="ctr"/>
              <a:endParaRPr/>
            </a:p>
          </p:txBody>
        </p:sp>
        <p:sp>
          <p:nvSpPr>
            <p:cNvPr id="74" name="downside label"/>
            <p:cNvSpPr txBox="1"/>
            <p:nvPr/>
          </p:nvSpPr>
          <p:spPr>
            <a:xfrm>
              <a:off x="7726679" y="4572000"/>
              <a:ext cx="1554480" cy="640080"/>
            </a:xfrm>
            <a:prstGeom prst="rect">
              <a:avLst/>
            </a:prstGeom>
            <a:noFill/>
          </p:spPr>
          <p:txBody>
            <a:bodyPr wrap="square" lIns="18288" tIns="9144" rIns="18288" bIns="9144" anchor="ctr">
              <a:noAutofit/>
            </a:bodyPr>
            <a:lstStyle/>
            <a:p>
              <a:pPr algn="ctr"/>
              <a:r>
                <a:rPr lang="en-GB" sz="1600" b="1" i="0">
                  <a:solidFill>
                    <a:srgbClr val="F2F2F2"/>
                  </a:solidFill>
                  <a:latin typeface="Arial"/>
                </a:rPr>
                <a:t>Carries no freight</a:t>
              </a:r>
            </a:p>
          </p:txBody>
        </p:sp>
        <p:sp>
          <p:nvSpPr>
            <p:cNvPr id="75" name="downside label"/>
            <p:cNvSpPr txBox="1"/>
            <p:nvPr/>
          </p:nvSpPr>
          <p:spPr>
            <a:xfrm>
              <a:off x="9875520" y="4572000"/>
              <a:ext cx="1554480" cy="640080"/>
            </a:xfrm>
            <a:prstGeom prst="rect">
              <a:avLst/>
            </a:prstGeom>
            <a:noFill/>
          </p:spPr>
          <p:txBody>
            <a:bodyPr wrap="square" lIns="18288" tIns="9144" rIns="18288" bIns="9144" anchor="ctr">
              <a:noAutofit/>
            </a:bodyPr>
            <a:lstStyle/>
            <a:p>
              <a:pPr algn="ctr"/>
              <a:r>
                <a:rPr lang="en-GB" sz="1600" b="1" i="0">
                  <a:solidFill>
                    <a:srgbClr val="F2F2F2"/>
                  </a:solidFill>
                  <a:latin typeface="Arial"/>
                </a:rPr>
                <a:t>Adds weight</a:t>
              </a:r>
            </a:p>
          </p:txBody>
        </p:sp>
      </p:grpSp>
      <p:sp>
        <p:nvSpPr>
          <p:cNvPr id="7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7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78"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 normal tender belongs to the engine. An auxiliary tender is an extra wagon: more range, less pulling power.</a:t>
            </a:r>
          </a:p>
        </p:txBody>
      </p:sp>
      <p:sp>
        <p:nvSpPr>
          <p:cNvPr id="79"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19</a:t>
            </a:r>
          </a:p>
        </p:txBody>
      </p:sp>
    </p:spTree>
    <p:extLst>
      <p:ext uri="{BB962C8B-B14F-4D97-AF65-F5344CB8AC3E}">
        <p14:creationId xmlns:p14="http://schemas.microsoft.com/office/powerpoint/2010/main" val="33937836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76"/>
                                        </p:tgtEl>
                                        <p:attrNameLst>
                                          <p:attrName>style.visibility</p:attrName>
                                        </p:attrNameLst>
                                      </p:cBhvr>
                                      <p:to>
                                        <p:strVal val="visible"/>
                                      </p:to>
                                    </p:set>
                                    <p:animEffect transition="in" filter="fade">
                                      <p:cBhvr>
                                        <p:cTn id="13" dur="500"/>
                                        <p:tgtEl>
                                          <p:spTgt spid="76"/>
                                        </p:tgtEl>
                                      </p:cBhvr>
                                    </p:animEffect>
                                  </p:childTnLst>
                                </p:cTn>
                              </p:par>
                              <p:par>
                                <p:cTn id="14" presetID="10" presetClass="entr" presetSubtype="0" fill="hold" nodeType="withEffect">
                                  <p:stCondLst>
                                    <p:cond delay="900"/>
                                  </p:stCondLst>
                                  <p:childTnLst>
                                    <p:set>
                                      <p:cBhvr>
                                        <p:cTn id="15" dur="1" fill="hold">
                                          <p:stCondLst>
                                            <p:cond delay="0"/>
                                          </p:stCondLst>
                                        </p:cTn>
                                        <p:tgtEl>
                                          <p:spTgt spid="77"/>
                                        </p:tgtEl>
                                        <p:attrNameLst>
                                          <p:attrName>style.visibility</p:attrName>
                                        </p:attrNameLst>
                                      </p:cBhvr>
                                      <p:to>
                                        <p:strVal val="visible"/>
                                      </p:to>
                                    </p:set>
                                    <p:animEffect transition="in" filter="fade">
                                      <p:cBhvr>
                                        <p:cTn id="16" dur="500"/>
                                        <p:tgtEl>
                                          <p:spTgt spid="77"/>
                                        </p:tgtEl>
                                      </p:cBhvr>
                                    </p:animEffect>
                                  </p:childTnLst>
                                </p:cTn>
                              </p:par>
                              <p:par>
                                <p:cTn id="17" presetID="10" presetClass="entr" presetSubtype="0" fill="hold" nodeType="withEffect">
                                  <p:stCondLst>
                                    <p:cond delay="1200"/>
                                  </p:stCondLst>
                                  <p:childTnLst>
                                    <p:set>
                                      <p:cBhvr>
                                        <p:cTn id="18" dur="1" fill="hold">
                                          <p:stCondLst>
                                            <p:cond delay="0"/>
                                          </p:stCondLst>
                                        </p:cTn>
                                        <p:tgtEl>
                                          <p:spTgt spid="78"/>
                                        </p:tgtEl>
                                        <p:attrNameLst>
                                          <p:attrName>style.visibility</p:attrName>
                                        </p:attrNameLst>
                                      </p:cBhvr>
                                      <p:to>
                                        <p:strVal val="visible"/>
                                      </p:to>
                                    </p:set>
                                    <p:animEffect transition="in" filter="fade">
                                      <p:cBhvr>
                                        <p:cTn id="19"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Who gains from a tender?</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hree class cards" descr="Three cards for Small, Medium and Large. Each shows a locomotive with a hatched auxiliary tender behind it, and a one-line verdict."/>
          <p:cNvGrpSpPr/>
          <p:nvPr/>
        </p:nvGrpSpPr>
        <p:grpSpPr>
          <a:xfrm>
            <a:off x="548640" y="1417320"/>
            <a:ext cx="11091672" cy="3931920"/>
            <a:chOff x="548640" y="1417320"/>
            <a:chExt cx="11091672" cy="3931920"/>
          </a:xfrm>
        </p:grpSpPr>
        <p:sp>
          <p:nvSpPr>
            <p:cNvPr id="5" name="class card"/>
            <p:cNvSpPr/>
            <p:nvPr/>
          </p:nvSpPr>
          <p:spPr>
            <a:xfrm>
              <a:off x="548640" y="1417320"/>
              <a:ext cx="3474720" cy="3246120"/>
            </a:xfrm>
            <a:prstGeom prst="roundRect">
              <a:avLst>
                <a:gd name="adj" fmla="val 2816"/>
              </a:avLst>
            </a:prstGeom>
            <a:solidFill>
              <a:srgbClr val="2B2F36"/>
            </a:solidFill>
            <a:ln w="19050">
              <a:solidFill>
                <a:srgbClr val="4A515B"/>
              </a:solidFill>
            </a:ln>
          </p:spPr>
          <p:txBody>
            <a:bodyPr rtlCol="0" anchor="ctr"/>
            <a:lstStyle/>
            <a:p>
              <a:pPr algn="ctr"/>
              <a:endParaRPr/>
            </a:p>
          </p:txBody>
        </p:sp>
        <p:sp>
          <p:nvSpPr>
            <p:cNvPr id="6" name="card header"/>
            <p:cNvSpPr/>
            <p:nvPr/>
          </p:nvSpPr>
          <p:spPr>
            <a:xfrm>
              <a:off x="548640" y="1417320"/>
              <a:ext cx="3474720" cy="548640"/>
            </a:xfrm>
            <a:prstGeom prst="roundRect">
              <a:avLst>
                <a:gd name="adj" fmla="val 16666"/>
              </a:avLst>
            </a:prstGeom>
            <a:solidFill>
              <a:srgbClr val="343A43"/>
            </a:solidFill>
            <a:ln>
              <a:noFill/>
            </a:ln>
          </p:spPr>
          <p:txBody>
            <a:bodyPr rtlCol="0" anchor="ctr"/>
            <a:lstStyle/>
            <a:p>
              <a:pPr algn="ctr"/>
              <a:endParaRPr/>
            </a:p>
          </p:txBody>
        </p:sp>
        <p:sp>
          <p:nvSpPr>
            <p:cNvPr id="7" name="class name"/>
            <p:cNvSpPr txBox="1"/>
            <p:nvPr/>
          </p:nvSpPr>
          <p:spPr>
            <a:xfrm>
              <a:off x="731520" y="1417320"/>
              <a:ext cx="3108960" cy="548640"/>
            </a:xfrm>
            <a:prstGeom prst="rect">
              <a:avLst/>
            </a:prstGeom>
            <a:noFill/>
          </p:spPr>
          <p:txBody>
            <a:bodyPr wrap="square" lIns="18288" tIns="9144" rIns="18288" bIns="9144" anchor="ctr">
              <a:noAutofit/>
            </a:bodyPr>
            <a:lstStyle/>
            <a:p>
              <a:pPr algn="l"/>
              <a:r>
                <a:rPr lang="en-GB" sz="2200" b="1" i="0">
                  <a:solidFill>
                    <a:srgbClr val="F28C28"/>
                  </a:solidFill>
                  <a:latin typeface="Arial"/>
                </a:rPr>
                <a:t>Small</a:t>
              </a:r>
            </a:p>
          </p:txBody>
        </p:sp>
        <p:sp>
          <p:nvSpPr>
            <p:cNvPr id="8" name="bunker"/>
            <p:cNvSpPr/>
            <p:nvPr/>
          </p:nvSpPr>
          <p:spPr>
            <a:xfrm>
              <a:off x="731520" y="2660904"/>
              <a:ext cx="347472" cy="347472"/>
            </a:xfrm>
            <a:prstGeom prst="roundRect">
              <a:avLst>
                <a:gd name="adj" fmla="val 2631"/>
              </a:avLst>
            </a:prstGeom>
            <a:solidFill>
              <a:srgbClr val="F28C28"/>
            </a:solidFill>
            <a:ln>
              <a:noFill/>
            </a:ln>
          </p:spPr>
          <p:txBody>
            <a:bodyPr rtlCol="0" anchor="ctr"/>
            <a:lstStyle/>
            <a:p>
              <a:pPr algn="ctr"/>
              <a:endParaRPr/>
            </a:p>
          </p:txBody>
        </p:sp>
        <p:sp>
          <p:nvSpPr>
            <p:cNvPr id="9" name="bunker coal"/>
            <p:cNvSpPr/>
            <p:nvPr/>
          </p:nvSpPr>
          <p:spPr>
            <a:xfrm>
              <a:off x="768096" y="2596896"/>
              <a:ext cx="274320" cy="82296"/>
            </a:xfrm>
            <a:prstGeom prst="rect">
              <a:avLst/>
            </a:prstGeom>
            <a:solidFill>
              <a:srgbClr val="1B1D21"/>
            </a:solidFill>
            <a:ln w="12700">
              <a:solidFill>
                <a:srgbClr val="9AA0A6"/>
              </a:solidFill>
            </a:ln>
          </p:spPr>
          <p:txBody>
            <a:bodyPr rtlCol="0" anchor="ctr"/>
            <a:lstStyle/>
            <a:p>
              <a:pPr algn="ctr"/>
              <a:endParaRPr/>
            </a:p>
          </p:txBody>
        </p:sp>
        <p:sp>
          <p:nvSpPr>
            <p:cNvPr id="10" name="cab"/>
            <p:cNvSpPr/>
            <p:nvPr/>
          </p:nvSpPr>
          <p:spPr>
            <a:xfrm>
              <a:off x="1060704" y="2496312"/>
              <a:ext cx="365760" cy="512063"/>
            </a:xfrm>
            <a:prstGeom prst="roundRect">
              <a:avLst>
                <a:gd name="adj" fmla="val 2500"/>
              </a:avLst>
            </a:prstGeom>
            <a:solidFill>
              <a:srgbClr val="F28C28"/>
            </a:solidFill>
            <a:ln>
              <a:noFill/>
            </a:ln>
          </p:spPr>
          <p:txBody>
            <a:bodyPr rtlCol="0" anchor="ctr"/>
            <a:lstStyle/>
            <a:p>
              <a:pPr algn="ctr"/>
              <a:endParaRPr/>
            </a:p>
          </p:txBody>
        </p:sp>
        <p:sp>
          <p:nvSpPr>
            <p:cNvPr id="11" name="cab roof"/>
            <p:cNvSpPr/>
            <p:nvPr/>
          </p:nvSpPr>
          <p:spPr>
            <a:xfrm>
              <a:off x="1042416" y="2468879"/>
              <a:ext cx="402336" cy="40233"/>
            </a:xfrm>
            <a:prstGeom prst="rect">
              <a:avLst/>
            </a:prstGeom>
            <a:solidFill>
              <a:srgbClr val="3A3F47"/>
            </a:solidFill>
            <a:ln w="9525">
              <a:solidFill>
                <a:srgbClr val="9AA0A6"/>
              </a:solidFill>
            </a:ln>
          </p:spPr>
          <p:txBody>
            <a:bodyPr rtlCol="0" anchor="ctr"/>
            <a:lstStyle/>
            <a:p>
              <a:pPr algn="ctr"/>
              <a:endParaRPr/>
            </a:p>
          </p:txBody>
        </p:sp>
        <p:sp>
          <p:nvSpPr>
            <p:cNvPr id="12" name="cab window"/>
            <p:cNvSpPr/>
            <p:nvPr/>
          </p:nvSpPr>
          <p:spPr>
            <a:xfrm>
              <a:off x="1133856" y="2596896"/>
              <a:ext cx="219456" cy="164592"/>
            </a:xfrm>
            <a:prstGeom prst="rect">
              <a:avLst/>
            </a:prstGeom>
            <a:solidFill>
              <a:srgbClr val="1B1D21"/>
            </a:solidFill>
            <a:ln>
              <a:noFill/>
            </a:ln>
          </p:spPr>
          <p:txBody>
            <a:bodyPr rtlCol="0" anchor="ctr"/>
            <a:lstStyle/>
            <a:p>
              <a:pPr algn="ctr"/>
              <a:endParaRPr/>
            </a:p>
          </p:txBody>
        </p:sp>
        <p:sp>
          <p:nvSpPr>
            <p:cNvPr id="13" name="boiler"/>
            <p:cNvSpPr/>
            <p:nvPr/>
          </p:nvSpPr>
          <p:spPr>
            <a:xfrm>
              <a:off x="1426464" y="2606040"/>
              <a:ext cx="1097280" cy="402336"/>
            </a:xfrm>
            <a:prstGeom prst="roundRect">
              <a:avLst>
                <a:gd name="adj" fmla="val 27272"/>
              </a:avLst>
            </a:prstGeom>
            <a:solidFill>
              <a:srgbClr val="F28C28"/>
            </a:solidFill>
            <a:ln>
              <a:noFill/>
            </a:ln>
          </p:spPr>
          <p:txBody>
            <a:bodyPr rtlCol="0" anchor="ctr"/>
            <a:lstStyle/>
            <a:p>
              <a:pPr algn="ctr"/>
              <a:endParaRPr/>
            </a:p>
          </p:txBody>
        </p:sp>
        <p:sp>
          <p:nvSpPr>
            <p:cNvPr id="14" name="side tank"/>
            <p:cNvSpPr/>
            <p:nvPr/>
          </p:nvSpPr>
          <p:spPr>
            <a:xfrm>
              <a:off x="1444752" y="2734056"/>
              <a:ext cx="841247" cy="274320"/>
            </a:xfrm>
            <a:prstGeom prst="roundRect">
              <a:avLst>
                <a:gd name="adj" fmla="val 13333"/>
              </a:avLst>
            </a:prstGeom>
            <a:solidFill>
              <a:srgbClr val="C96F1B"/>
            </a:solidFill>
            <a:ln>
              <a:noFill/>
            </a:ln>
          </p:spPr>
          <p:txBody>
            <a:bodyPr rtlCol="0" anchor="ctr"/>
            <a:lstStyle/>
            <a:p>
              <a:pPr algn="ctr"/>
              <a:endParaRPr/>
            </a:p>
          </p:txBody>
        </p:sp>
        <p:sp>
          <p:nvSpPr>
            <p:cNvPr id="15" name="chimney"/>
            <p:cNvSpPr/>
            <p:nvPr/>
          </p:nvSpPr>
          <p:spPr>
            <a:xfrm>
              <a:off x="2286000" y="2441448"/>
              <a:ext cx="128015" cy="173736"/>
            </a:xfrm>
            <a:prstGeom prst="rect">
              <a:avLst/>
            </a:prstGeom>
            <a:solidFill>
              <a:srgbClr val="3A3F47"/>
            </a:solidFill>
            <a:ln w="9525">
              <a:solidFill>
                <a:srgbClr val="9AA0A6"/>
              </a:solidFill>
            </a:ln>
          </p:spPr>
          <p:txBody>
            <a:bodyPr rtlCol="0" anchor="ctr"/>
            <a:lstStyle/>
            <a:p>
              <a:pPr algn="ctr"/>
              <a:endParaRPr/>
            </a:p>
          </p:txBody>
        </p:sp>
        <p:sp>
          <p:nvSpPr>
            <p:cNvPr id="16" name="chimney lip"/>
            <p:cNvSpPr/>
            <p:nvPr/>
          </p:nvSpPr>
          <p:spPr>
            <a:xfrm>
              <a:off x="2258568" y="2423160"/>
              <a:ext cx="182880" cy="36576"/>
            </a:xfrm>
            <a:prstGeom prst="rect">
              <a:avLst/>
            </a:prstGeom>
            <a:solidFill>
              <a:srgbClr val="3A3F47"/>
            </a:solidFill>
            <a:ln w="9525">
              <a:solidFill>
                <a:srgbClr val="9AA0A6"/>
              </a:solidFill>
            </a:ln>
          </p:spPr>
          <p:txBody>
            <a:bodyPr rtlCol="0" anchor="ctr"/>
            <a:lstStyle/>
            <a:p>
              <a:pPr algn="ctr"/>
              <a:endParaRPr/>
            </a:p>
          </p:txBody>
        </p:sp>
        <p:sp>
          <p:nvSpPr>
            <p:cNvPr id="17" name="dome"/>
            <p:cNvSpPr/>
            <p:nvPr/>
          </p:nvSpPr>
          <p:spPr>
            <a:xfrm>
              <a:off x="2322576" y="2569464"/>
              <a:ext cx="182880" cy="45720"/>
            </a:xfrm>
            <a:prstGeom prst="roundRect">
              <a:avLst>
                <a:gd name="adj" fmla="val 50000"/>
              </a:avLst>
            </a:prstGeom>
            <a:solidFill>
              <a:srgbClr val="F28C28"/>
            </a:solidFill>
            <a:ln>
              <a:noFill/>
            </a:ln>
          </p:spPr>
          <p:txBody>
            <a:bodyPr rtlCol="0" anchor="ctr"/>
            <a:lstStyle/>
            <a:p>
              <a:pPr algn="ctr"/>
              <a:endParaRPr/>
            </a:p>
          </p:txBody>
        </p:sp>
        <p:sp>
          <p:nvSpPr>
            <p:cNvPr id="18" name="frame"/>
            <p:cNvSpPr/>
            <p:nvPr/>
          </p:nvSpPr>
          <p:spPr>
            <a:xfrm>
              <a:off x="1060704" y="3008376"/>
              <a:ext cx="1463040" cy="54864"/>
            </a:xfrm>
            <a:prstGeom prst="rect">
              <a:avLst/>
            </a:prstGeom>
            <a:solidFill>
              <a:srgbClr val="3A3F47"/>
            </a:solidFill>
            <a:ln w="9525">
              <a:solidFill>
                <a:srgbClr val="9AA0A6"/>
              </a:solidFill>
            </a:ln>
          </p:spPr>
          <p:txBody>
            <a:bodyPr rtlCol="0" anchor="ctr"/>
            <a:lstStyle/>
            <a:p>
              <a:pPr algn="ctr"/>
              <a:endParaRPr/>
            </a:p>
          </p:txBody>
        </p:sp>
        <p:sp>
          <p:nvSpPr>
            <p:cNvPr id="19" name="wheel"/>
            <p:cNvSpPr/>
            <p:nvPr/>
          </p:nvSpPr>
          <p:spPr>
            <a:xfrm>
              <a:off x="1289304"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20" name="hub"/>
            <p:cNvSpPr/>
            <p:nvPr/>
          </p:nvSpPr>
          <p:spPr>
            <a:xfrm>
              <a:off x="1393545" y="3057753"/>
              <a:ext cx="65836" cy="65836"/>
            </a:xfrm>
            <a:prstGeom prst="ellipse">
              <a:avLst/>
            </a:prstGeom>
            <a:solidFill>
              <a:srgbClr val="9AA0A6"/>
            </a:solidFill>
            <a:ln>
              <a:noFill/>
            </a:ln>
          </p:spPr>
          <p:txBody>
            <a:bodyPr rtlCol="0" anchor="ctr"/>
            <a:lstStyle/>
            <a:p>
              <a:pPr algn="ctr"/>
              <a:endParaRPr/>
            </a:p>
          </p:txBody>
        </p:sp>
        <p:sp>
          <p:nvSpPr>
            <p:cNvPr id="21" name="wheel"/>
            <p:cNvSpPr/>
            <p:nvPr/>
          </p:nvSpPr>
          <p:spPr>
            <a:xfrm>
              <a:off x="1655064"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22" name="hub"/>
            <p:cNvSpPr/>
            <p:nvPr/>
          </p:nvSpPr>
          <p:spPr>
            <a:xfrm>
              <a:off x="1759305" y="3057753"/>
              <a:ext cx="65836" cy="65836"/>
            </a:xfrm>
            <a:prstGeom prst="ellipse">
              <a:avLst/>
            </a:prstGeom>
            <a:solidFill>
              <a:srgbClr val="9AA0A6"/>
            </a:solidFill>
            <a:ln>
              <a:noFill/>
            </a:ln>
          </p:spPr>
          <p:txBody>
            <a:bodyPr rtlCol="0" anchor="ctr"/>
            <a:lstStyle/>
            <a:p>
              <a:pPr algn="ctr"/>
              <a:endParaRPr/>
            </a:p>
          </p:txBody>
        </p:sp>
        <p:sp>
          <p:nvSpPr>
            <p:cNvPr id="23" name="wheel"/>
            <p:cNvSpPr/>
            <p:nvPr/>
          </p:nvSpPr>
          <p:spPr>
            <a:xfrm>
              <a:off x="2020824"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24" name="hub"/>
            <p:cNvSpPr/>
            <p:nvPr/>
          </p:nvSpPr>
          <p:spPr>
            <a:xfrm>
              <a:off x="2125065" y="3057753"/>
              <a:ext cx="65836" cy="65836"/>
            </a:xfrm>
            <a:prstGeom prst="ellipse">
              <a:avLst/>
            </a:prstGeom>
            <a:solidFill>
              <a:srgbClr val="9AA0A6"/>
            </a:solidFill>
            <a:ln>
              <a:noFill/>
            </a:ln>
          </p:spPr>
          <p:txBody>
            <a:bodyPr rtlCol="0" anchor="ctr"/>
            <a:lstStyle/>
            <a:p>
              <a:pPr algn="ctr"/>
              <a:endParaRPr/>
            </a:p>
          </p:txBody>
        </p:sp>
        <p:sp>
          <p:nvSpPr>
            <p:cNvPr id="25" name="aux tender"/>
            <p:cNvSpPr/>
            <p:nvPr/>
          </p:nvSpPr>
          <p:spPr>
            <a:xfrm>
              <a:off x="2633472" y="2660904"/>
              <a:ext cx="914400" cy="347472"/>
            </a:xfrm>
            <a:prstGeom prst="rect">
              <a:avLst/>
            </a:prstGeom>
            <a:pattFill prst="wdUpDiag">
              <a:fgClr>
                <a:srgbClr val="C9CED3"/>
              </a:fgClr>
              <a:bgClr>
                <a:srgbClr val="2B2F36"/>
              </a:bgClr>
            </a:pattFill>
            <a:ln w="25400">
              <a:solidFill>
                <a:srgbClr val="C9CED3"/>
              </a:solidFill>
            </a:ln>
          </p:spPr>
          <p:txBody>
            <a:bodyPr rtlCol="0" anchor="ctr"/>
            <a:lstStyle/>
            <a:p>
              <a:pPr algn="ctr"/>
              <a:endParaRPr/>
            </a:p>
          </p:txBody>
        </p:sp>
        <p:sp>
          <p:nvSpPr>
            <p:cNvPr id="26" name="tender hatch"/>
            <p:cNvSpPr/>
            <p:nvPr/>
          </p:nvSpPr>
          <p:spPr>
            <a:xfrm>
              <a:off x="2706624" y="2606040"/>
              <a:ext cx="128015" cy="128015"/>
            </a:xfrm>
            <a:prstGeom prst="ellipse">
              <a:avLst/>
            </a:prstGeom>
            <a:solidFill>
              <a:srgbClr val="1B1D21"/>
            </a:solidFill>
            <a:ln w="19050">
              <a:solidFill>
                <a:srgbClr val="F2F2F2"/>
              </a:solidFill>
            </a:ln>
          </p:spPr>
          <p:txBody>
            <a:bodyPr rtlCol="0" anchor="ctr"/>
            <a:lstStyle/>
            <a:p>
              <a:pPr algn="ctr"/>
              <a:endParaRPr/>
            </a:p>
          </p:txBody>
        </p:sp>
        <p:sp>
          <p:nvSpPr>
            <p:cNvPr id="27" name="wagon frame"/>
            <p:cNvSpPr/>
            <p:nvPr/>
          </p:nvSpPr>
          <p:spPr>
            <a:xfrm>
              <a:off x="2633472" y="3008376"/>
              <a:ext cx="914400" cy="54864"/>
            </a:xfrm>
            <a:prstGeom prst="rect">
              <a:avLst/>
            </a:prstGeom>
            <a:solidFill>
              <a:srgbClr val="3A3F47"/>
            </a:solidFill>
            <a:ln w="9525">
              <a:solidFill>
                <a:srgbClr val="9AA0A6"/>
              </a:solidFill>
            </a:ln>
          </p:spPr>
          <p:txBody>
            <a:bodyPr rtlCol="0" anchor="ctr"/>
            <a:lstStyle/>
            <a:p>
              <a:pPr algn="ctr"/>
              <a:endParaRPr/>
            </a:p>
          </p:txBody>
        </p:sp>
        <p:sp>
          <p:nvSpPr>
            <p:cNvPr id="28" name="wheel"/>
            <p:cNvSpPr/>
            <p:nvPr/>
          </p:nvSpPr>
          <p:spPr>
            <a:xfrm>
              <a:off x="2660904"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29" name="hub"/>
            <p:cNvSpPr/>
            <p:nvPr/>
          </p:nvSpPr>
          <p:spPr>
            <a:xfrm>
              <a:off x="2765145" y="3057753"/>
              <a:ext cx="65836" cy="65836"/>
            </a:xfrm>
            <a:prstGeom prst="ellipse">
              <a:avLst/>
            </a:prstGeom>
            <a:solidFill>
              <a:srgbClr val="9AA0A6"/>
            </a:solidFill>
            <a:ln>
              <a:noFill/>
            </a:ln>
          </p:spPr>
          <p:txBody>
            <a:bodyPr rtlCol="0" anchor="ctr"/>
            <a:lstStyle/>
            <a:p>
              <a:pPr algn="ctr"/>
              <a:endParaRPr/>
            </a:p>
          </p:txBody>
        </p:sp>
        <p:sp>
          <p:nvSpPr>
            <p:cNvPr id="30" name="wheel"/>
            <p:cNvSpPr/>
            <p:nvPr/>
          </p:nvSpPr>
          <p:spPr>
            <a:xfrm>
              <a:off x="3246120"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31" name="hub"/>
            <p:cNvSpPr/>
            <p:nvPr/>
          </p:nvSpPr>
          <p:spPr>
            <a:xfrm>
              <a:off x="3350361" y="3057753"/>
              <a:ext cx="65836" cy="65836"/>
            </a:xfrm>
            <a:prstGeom prst="ellipse">
              <a:avLst/>
            </a:prstGeom>
            <a:solidFill>
              <a:srgbClr val="9AA0A6"/>
            </a:solidFill>
            <a:ln>
              <a:noFill/>
            </a:ln>
          </p:spPr>
          <p:txBody>
            <a:bodyPr rtlCol="0" anchor="ctr"/>
            <a:lstStyle/>
            <a:p>
              <a:pPr algn="ctr"/>
              <a:endParaRPr/>
            </a:p>
          </p:txBody>
        </p:sp>
        <p:sp>
          <p:nvSpPr>
            <p:cNvPr id="32" name="rail"/>
            <p:cNvSpPr/>
            <p:nvPr/>
          </p:nvSpPr>
          <p:spPr>
            <a:xfrm>
              <a:off x="640080" y="3227832"/>
              <a:ext cx="3291840" cy="54864"/>
            </a:xfrm>
            <a:prstGeom prst="rect">
              <a:avLst/>
            </a:prstGeom>
            <a:solidFill>
              <a:srgbClr val="9AA0A6"/>
            </a:solidFill>
            <a:ln>
              <a:noFill/>
            </a:ln>
          </p:spPr>
          <p:txBody>
            <a:bodyPr rtlCol="0" anchor="ctr"/>
            <a:lstStyle/>
            <a:p>
              <a:pPr algn="ctr"/>
              <a:endParaRPr/>
            </a:p>
          </p:txBody>
        </p:sp>
        <p:sp>
          <p:nvSpPr>
            <p:cNvPr id="33" name="verdict"/>
            <p:cNvSpPr txBox="1"/>
            <p:nvPr/>
          </p:nvSpPr>
          <p:spPr>
            <a:xfrm>
              <a:off x="731520" y="3520440"/>
              <a:ext cx="3108960" cy="1051560"/>
            </a:xfrm>
            <a:prstGeom prst="rect">
              <a:avLst/>
            </a:prstGeom>
            <a:noFill/>
          </p:spPr>
          <p:txBody>
            <a:bodyPr wrap="square" lIns="18288" tIns="9144" rIns="18288" bIns="9144" anchor="t">
              <a:noAutofit/>
            </a:bodyPr>
            <a:lstStyle/>
            <a:p>
              <a:pPr algn="l"/>
              <a:r>
                <a:rPr lang="en-GB" sz="2000" b="0" i="0">
                  <a:solidFill>
                    <a:srgbClr val="F2F2F2"/>
                  </a:solidFill>
                  <a:latin typeface="Arial"/>
                </a:rPr>
                <a:t>Extra weight worsens its main weakness</a:t>
              </a:r>
            </a:p>
          </p:txBody>
        </p:sp>
        <p:sp>
          <p:nvSpPr>
            <p:cNvPr id="34" name="class card"/>
            <p:cNvSpPr/>
            <p:nvPr/>
          </p:nvSpPr>
          <p:spPr>
            <a:xfrm>
              <a:off x="4357116" y="1417320"/>
              <a:ext cx="3474720" cy="3246120"/>
            </a:xfrm>
            <a:prstGeom prst="roundRect">
              <a:avLst>
                <a:gd name="adj" fmla="val 2816"/>
              </a:avLst>
            </a:prstGeom>
            <a:solidFill>
              <a:srgbClr val="2B2F36"/>
            </a:solidFill>
            <a:ln w="19050">
              <a:solidFill>
                <a:srgbClr val="4A515B"/>
              </a:solidFill>
            </a:ln>
          </p:spPr>
          <p:txBody>
            <a:bodyPr rtlCol="0" anchor="ctr"/>
            <a:lstStyle/>
            <a:p>
              <a:pPr algn="ctr"/>
              <a:endParaRPr/>
            </a:p>
          </p:txBody>
        </p:sp>
        <p:sp>
          <p:nvSpPr>
            <p:cNvPr id="35" name="card header"/>
            <p:cNvSpPr/>
            <p:nvPr/>
          </p:nvSpPr>
          <p:spPr>
            <a:xfrm>
              <a:off x="4357116" y="1417320"/>
              <a:ext cx="3474720" cy="548640"/>
            </a:xfrm>
            <a:prstGeom prst="roundRect">
              <a:avLst>
                <a:gd name="adj" fmla="val 16666"/>
              </a:avLst>
            </a:prstGeom>
            <a:solidFill>
              <a:srgbClr val="343A43"/>
            </a:solidFill>
            <a:ln>
              <a:noFill/>
            </a:ln>
          </p:spPr>
          <p:txBody>
            <a:bodyPr rtlCol="0" anchor="ctr"/>
            <a:lstStyle/>
            <a:p>
              <a:pPr algn="ctr"/>
              <a:endParaRPr/>
            </a:p>
          </p:txBody>
        </p:sp>
        <p:sp>
          <p:nvSpPr>
            <p:cNvPr id="36" name="class name"/>
            <p:cNvSpPr txBox="1"/>
            <p:nvPr/>
          </p:nvSpPr>
          <p:spPr>
            <a:xfrm>
              <a:off x="4539996" y="1417320"/>
              <a:ext cx="3108960" cy="548640"/>
            </a:xfrm>
            <a:prstGeom prst="rect">
              <a:avLst/>
            </a:prstGeom>
            <a:noFill/>
          </p:spPr>
          <p:txBody>
            <a:bodyPr wrap="square" lIns="18288" tIns="9144" rIns="18288" bIns="9144" anchor="ctr">
              <a:noAutofit/>
            </a:bodyPr>
            <a:lstStyle/>
            <a:p>
              <a:pPr algn="l"/>
              <a:r>
                <a:rPr lang="en-GB" sz="2200" b="1" i="0">
                  <a:solidFill>
                    <a:srgbClr val="F28C28"/>
                  </a:solidFill>
                  <a:latin typeface="Arial"/>
                </a:rPr>
                <a:t>Medium</a:t>
              </a:r>
            </a:p>
          </p:txBody>
        </p:sp>
        <p:sp>
          <p:nvSpPr>
            <p:cNvPr id="37" name="tender body"/>
            <p:cNvSpPr/>
            <p:nvPr/>
          </p:nvSpPr>
          <p:spPr>
            <a:xfrm>
              <a:off x="4539996" y="2660904"/>
              <a:ext cx="694944" cy="347472"/>
            </a:xfrm>
            <a:prstGeom prst="roundRect">
              <a:avLst>
                <a:gd name="adj" fmla="val 2631"/>
              </a:avLst>
            </a:prstGeom>
            <a:solidFill>
              <a:srgbClr val="6C7480"/>
            </a:solidFill>
            <a:ln>
              <a:noFill/>
            </a:ln>
          </p:spPr>
          <p:txBody>
            <a:bodyPr rtlCol="0" anchor="ctr"/>
            <a:lstStyle/>
            <a:p>
              <a:pPr algn="ctr"/>
              <a:endParaRPr/>
            </a:p>
          </p:txBody>
        </p:sp>
        <p:sp>
          <p:nvSpPr>
            <p:cNvPr id="38" name="tender coal"/>
            <p:cNvSpPr/>
            <p:nvPr/>
          </p:nvSpPr>
          <p:spPr>
            <a:xfrm>
              <a:off x="4594859" y="2596896"/>
              <a:ext cx="585216" cy="82296"/>
            </a:xfrm>
            <a:prstGeom prst="rect">
              <a:avLst/>
            </a:prstGeom>
            <a:solidFill>
              <a:srgbClr val="1B1D21"/>
            </a:solidFill>
            <a:ln w="12700">
              <a:solidFill>
                <a:srgbClr val="9AA0A6"/>
              </a:solidFill>
            </a:ln>
          </p:spPr>
          <p:txBody>
            <a:bodyPr rtlCol="0" anchor="ctr"/>
            <a:lstStyle/>
            <a:p>
              <a:pPr algn="ctr"/>
              <a:endParaRPr/>
            </a:p>
          </p:txBody>
        </p:sp>
        <p:sp>
          <p:nvSpPr>
            <p:cNvPr id="39" name="tender frame"/>
            <p:cNvSpPr/>
            <p:nvPr/>
          </p:nvSpPr>
          <p:spPr>
            <a:xfrm>
              <a:off x="4539996" y="3008376"/>
              <a:ext cx="694944" cy="54864"/>
            </a:xfrm>
            <a:prstGeom prst="rect">
              <a:avLst/>
            </a:prstGeom>
            <a:solidFill>
              <a:srgbClr val="3A3F47"/>
            </a:solidFill>
            <a:ln w="9525">
              <a:solidFill>
                <a:srgbClr val="9AA0A6"/>
              </a:solidFill>
            </a:ln>
          </p:spPr>
          <p:txBody>
            <a:bodyPr rtlCol="0" anchor="ctr"/>
            <a:lstStyle/>
            <a:p>
              <a:pPr algn="ctr"/>
              <a:endParaRPr/>
            </a:p>
          </p:txBody>
        </p:sp>
        <p:sp>
          <p:nvSpPr>
            <p:cNvPr id="40" name="coupling"/>
            <p:cNvSpPr/>
            <p:nvPr/>
          </p:nvSpPr>
          <p:spPr>
            <a:xfrm>
              <a:off x="5234940" y="2898648"/>
              <a:ext cx="73152" cy="36576"/>
            </a:xfrm>
            <a:prstGeom prst="rect">
              <a:avLst/>
            </a:prstGeom>
            <a:solidFill>
              <a:srgbClr val="9AA0A6"/>
            </a:solidFill>
            <a:ln>
              <a:noFill/>
            </a:ln>
          </p:spPr>
          <p:txBody>
            <a:bodyPr rtlCol="0" anchor="ctr"/>
            <a:lstStyle/>
            <a:p>
              <a:pPr algn="ctr"/>
              <a:endParaRPr/>
            </a:p>
          </p:txBody>
        </p:sp>
        <p:sp>
          <p:nvSpPr>
            <p:cNvPr id="41" name="wheel"/>
            <p:cNvSpPr/>
            <p:nvPr/>
          </p:nvSpPr>
          <p:spPr>
            <a:xfrm>
              <a:off x="4567427"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42" name="hub"/>
            <p:cNvSpPr/>
            <p:nvPr/>
          </p:nvSpPr>
          <p:spPr>
            <a:xfrm>
              <a:off x="4671669" y="3057753"/>
              <a:ext cx="65836" cy="65836"/>
            </a:xfrm>
            <a:prstGeom prst="ellipse">
              <a:avLst/>
            </a:prstGeom>
            <a:solidFill>
              <a:srgbClr val="9AA0A6"/>
            </a:solidFill>
            <a:ln>
              <a:noFill/>
            </a:ln>
          </p:spPr>
          <p:txBody>
            <a:bodyPr rtlCol="0" anchor="ctr"/>
            <a:lstStyle/>
            <a:p>
              <a:pPr algn="ctr"/>
              <a:endParaRPr/>
            </a:p>
          </p:txBody>
        </p:sp>
        <p:sp>
          <p:nvSpPr>
            <p:cNvPr id="43" name="wheel"/>
            <p:cNvSpPr/>
            <p:nvPr/>
          </p:nvSpPr>
          <p:spPr>
            <a:xfrm>
              <a:off x="4933188"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44" name="hub"/>
            <p:cNvSpPr/>
            <p:nvPr/>
          </p:nvSpPr>
          <p:spPr>
            <a:xfrm>
              <a:off x="5037429" y="3057753"/>
              <a:ext cx="65836" cy="65836"/>
            </a:xfrm>
            <a:prstGeom prst="ellipse">
              <a:avLst/>
            </a:prstGeom>
            <a:solidFill>
              <a:srgbClr val="9AA0A6"/>
            </a:solidFill>
            <a:ln>
              <a:noFill/>
            </a:ln>
          </p:spPr>
          <p:txBody>
            <a:bodyPr rtlCol="0" anchor="ctr"/>
            <a:lstStyle/>
            <a:p>
              <a:pPr algn="ctr"/>
              <a:endParaRPr/>
            </a:p>
          </p:txBody>
        </p:sp>
        <p:sp>
          <p:nvSpPr>
            <p:cNvPr id="45" name="cab"/>
            <p:cNvSpPr/>
            <p:nvPr/>
          </p:nvSpPr>
          <p:spPr>
            <a:xfrm>
              <a:off x="5271516" y="2496312"/>
              <a:ext cx="365760" cy="512064"/>
            </a:xfrm>
            <a:prstGeom prst="roundRect">
              <a:avLst>
                <a:gd name="adj" fmla="val 2500"/>
              </a:avLst>
            </a:prstGeom>
            <a:solidFill>
              <a:srgbClr val="F28C28"/>
            </a:solidFill>
            <a:ln>
              <a:noFill/>
            </a:ln>
          </p:spPr>
          <p:txBody>
            <a:bodyPr rtlCol="0" anchor="ctr"/>
            <a:lstStyle/>
            <a:p>
              <a:pPr algn="ctr"/>
              <a:endParaRPr/>
            </a:p>
          </p:txBody>
        </p:sp>
        <p:sp>
          <p:nvSpPr>
            <p:cNvPr id="46" name="cab roof"/>
            <p:cNvSpPr/>
            <p:nvPr/>
          </p:nvSpPr>
          <p:spPr>
            <a:xfrm>
              <a:off x="5253228" y="2468879"/>
              <a:ext cx="402336" cy="40233"/>
            </a:xfrm>
            <a:prstGeom prst="rect">
              <a:avLst/>
            </a:prstGeom>
            <a:solidFill>
              <a:srgbClr val="3A3F47"/>
            </a:solidFill>
            <a:ln w="9525">
              <a:solidFill>
                <a:srgbClr val="9AA0A6"/>
              </a:solidFill>
            </a:ln>
          </p:spPr>
          <p:txBody>
            <a:bodyPr rtlCol="0" anchor="ctr"/>
            <a:lstStyle/>
            <a:p>
              <a:pPr algn="ctr"/>
              <a:endParaRPr/>
            </a:p>
          </p:txBody>
        </p:sp>
        <p:sp>
          <p:nvSpPr>
            <p:cNvPr id="47" name="cab window"/>
            <p:cNvSpPr/>
            <p:nvPr/>
          </p:nvSpPr>
          <p:spPr>
            <a:xfrm>
              <a:off x="5344668" y="2596896"/>
              <a:ext cx="219456" cy="164592"/>
            </a:xfrm>
            <a:prstGeom prst="rect">
              <a:avLst/>
            </a:prstGeom>
            <a:solidFill>
              <a:srgbClr val="1B1D21"/>
            </a:solidFill>
            <a:ln>
              <a:noFill/>
            </a:ln>
          </p:spPr>
          <p:txBody>
            <a:bodyPr rtlCol="0" anchor="ctr"/>
            <a:lstStyle/>
            <a:p>
              <a:pPr algn="ctr"/>
              <a:endParaRPr/>
            </a:p>
          </p:txBody>
        </p:sp>
        <p:sp>
          <p:nvSpPr>
            <p:cNvPr id="48" name="boiler"/>
            <p:cNvSpPr/>
            <p:nvPr/>
          </p:nvSpPr>
          <p:spPr>
            <a:xfrm>
              <a:off x="5637276" y="2606040"/>
              <a:ext cx="1097280" cy="402336"/>
            </a:xfrm>
            <a:prstGeom prst="roundRect">
              <a:avLst>
                <a:gd name="adj" fmla="val 27272"/>
              </a:avLst>
            </a:prstGeom>
            <a:solidFill>
              <a:srgbClr val="F28C28"/>
            </a:solidFill>
            <a:ln>
              <a:noFill/>
            </a:ln>
          </p:spPr>
          <p:txBody>
            <a:bodyPr rtlCol="0" anchor="ctr"/>
            <a:lstStyle/>
            <a:p>
              <a:pPr algn="ctr"/>
              <a:endParaRPr/>
            </a:p>
          </p:txBody>
        </p:sp>
        <p:sp>
          <p:nvSpPr>
            <p:cNvPr id="49" name="chimney"/>
            <p:cNvSpPr/>
            <p:nvPr/>
          </p:nvSpPr>
          <p:spPr>
            <a:xfrm>
              <a:off x="6496812" y="2441448"/>
              <a:ext cx="128016" cy="173736"/>
            </a:xfrm>
            <a:prstGeom prst="rect">
              <a:avLst/>
            </a:prstGeom>
            <a:solidFill>
              <a:srgbClr val="3A3F47"/>
            </a:solidFill>
            <a:ln w="9525">
              <a:solidFill>
                <a:srgbClr val="9AA0A6"/>
              </a:solidFill>
            </a:ln>
          </p:spPr>
          <p:txBody>
            <a:bodyPr rtlCol="0" anchor="ctr"/>
            <a:lstStyle/>
            <a:p>
              <a:pPr algn="ctr"/>
              <a:endParaRPr/>
            </a:p>
          </p:txBody>
        </p:sp>
        <p:sp>
          <p:nvSpPr>
            <p:cNvPr id="50" name="chimney lip"/>
            <p:cNvSpPr/>
            <p:nvPr/>
          </p:nvSpPr>
          <p:spPr>
            <a:xfrm>
              <a:off x="6469380" y="2423160"/>
              <a:ext cx="182880" cy="36576"/>
            </a:xfrm>
            <a:prstGeom prst="rect">
              <a:avLst/>
            </a:prstGeom>
            <a:solidFill>
              <a:srgbClr val="3A3F47"/>
            </a:solidFill>
            <a:ln w="9525">
              <a:solidFill>
                <a:srgbClr val="9AA0A6"/>
              </a:solidFill>
            </a:ln>
          </p:spPr>
          <p:txBody>
            <a:bodyPr rtlCol="0" anchor="ctr"/>
            <a:lstStyle/>
            <a:p>
              <a:pPr algn="ctr"/>
              <a:endParaRPr/>
            </a:p>
          </p:txBody>
        </p:sp>
        <p:sp>
          <p:nvSpPr>
            <p:cNvPr id="51" name="dome"/>
            <p:cNvSpPr/>
            <p:nvPr/>
          </p:nvSpPr>
          <p:spPr>
            <a:xfrm>
              <a:off x="5948172" y="2523744"/>
              <a:ext cx="182880" cy="91440"/>
            </a:xfrm>
            <a:prstGeom prst="roundRect">
              <a:avLst>
                <a:gd name="adj" fmla="val 40000"/>
              </a:avLst>
            </a:prstGeom>
            <a:solidFill>
              <a:srgbClr val="F28C28"/>
            </a:solidFill>
            <a:ln>
              <a:noFill/>
            </a:ln>
          </p:spPr>
          <p:txBody>
            <a:bodyPr rtlCol="0" anchor="ctr"/>
            <a:lstStyle/>
            <a:p>
              <a:pPr algn="ctr"/>
              <a:endParaRPr/>
            </a:p>
          </p:txBody>
        </p:sp>
        <p:sp>
          <p:nvSpPr>
            <p:cNvPr id="52" name="frame"/>
            <p:cNvSpPr/>
            <p:nvPr/>
          </p:nvSpPr>
          <p:spPr>
            <a:xfrm>
              <a:off x="5271516" y="3008376"/>
              <a:ext cx="1463040" cy="54864"/>
            </a:xfrm>
            <a:prstGeom prst="rect">
              <a:avLst/>
            </a:prstGeom>
            <a:solidFill>
              <a:srgbClr val="3A3F47"/>
            </a:solidFill>
            <a:ln w="9525">
              <a:solidFill>
                <a:srgbClr val="9AA0A6"/>
              </a:solidFill>
            </a:ln>
          </p:spPr>
          <p:txBody>
            <a:bodyPr rtlCol="0" anchor="ctr"/>
            <a:lstStyle/>
            <a:p>
              <a:pPr algn="ctr"/>
              <a:endParaRPr/>
            </a:p>
          </p:txBody>
        </p:sp>
        <p:sp>
          <p:nvSpPr>
            <p:cNvPr id="53" name="wheel"/>
            <p:cNvSpPr/>
            <p:nvPr/>
          </p:nvSpPr>
          <p:spPr>
            <a:xfrm>
              <a:off x="5536692"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54" name="hub"/>
            <p:cNvSpPr/>
            <p:nvPr/>
          </p:nvSpPr>
          <p:spPr>
            <a:xfrm>
              <a:off x="5640933" y="3057753"/>
              <a:ext cx="65836" cy="65836"/>
            </a:xfrm>
            <a:prstGeom prst="ellipse">
              <a:avLst/>
            </a:prstGeom>
            <a:solidFill>
              <a:srgbClr val="9AA0A6"/>
            </a:solidFill>
            <a:ln>
              <a:noFill/>
            </a:ln>
          </p:spPr>
          <p:txBody>
            <a:bodyPr rtlCol="0" anchor="ctr"/>
            <a:lstStyle/>
            <a:p>
              <a:pPr algn="ctr"/>
              <a:endParaRPr/>
            </a:p>
          </p:txBody>
        </p:sp>
        <p:sp>
          <p:nvSpPr>
            <p:cNvPr id="55" name="wheel"/>
            <p:cNvSpPr/>
            <p:nvPr/>
          </p:nvSpPr>
          <p:spPr>
            <a:xfrm>
              <a:off x="5902452"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56" name="hub"/>
            <p:cNvSpPr/>
            <p:nvPr/>
          </p:nvSpPr>
          <p:spPr>
            <a:xfrm>
              <a:off x="6006693" y="3057753"/>
              <a:ext cx="65836" cy="65836"/>
            </a:xfrm>
            <a:prstGeom prst="ellipse">
              <a:avLst/>
            </a:prstGeom>
            <a:solidFill>
              <a:srgbClr val="9AA0A6"/>
            </a:solidFill>
            <a:ln>
              <a:noFill/>
            </a:ln>
          </p:spPr>
          <p:txBody>
            <a:bodyPr rtlCol="0" anchor="ctr"/>
            <a:lstStyle/>
            <a:p>
              <a:pPr algn="ctr"/>
              <a:endParaRPr/>
            </a:p>
          </p:txBody>
        </p:sp>
        <p:sp>
          <p:nvSpPr>
            <p:cNvPr id="57" name="wheel"/>
            <p:cNvSpPr/>
            <p:nvPr/>
          </p:nvSpPr>
          <p:spPr>
            <a:xfrm>
              <a:off x="6268212"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58" name="hub"/>
            <p:cNvSpPr/>
            <p:nvPr/>
          </p:nvSpPr>
          <p:spPr>
            <a:xfrm>
              <a:off x="6372453" y="3057753"/>
              <a:ext cx="65836" cy="65836"/>
            </a:xfrm>
            <a:prstGeom prst="ellipse">
              <a:avLst/>
            </a:prstGeom>
            <a:solidFill>
              <a:srgbClr val="9AA0A6"/>
            </a:solidFill>
            <a:ln>
              <a:noFill/>
            </a:ln>
          </p:spPr>
          <p:txBody>
            <a:bodyPr rtlCol="0" anchor="ctr"/>
            <a:lstStyle/>
            <a:p>
              <a:pPr algn="ctr"/>
              <a:endParaRPr/>
            </a:p>
          </p:txBody>
        </p:sp>
        <p:sp>
          <p:nvSpPr>
            <p:cNvPr id="59" name="aux tender"/>
            <p:cNvSpPr/>
            <p:nvPr/>
          </p:nvSpPr>
          <p:spPr>
            <a:xfrm>
              <a:off x="6807708" y="2660904"/>
              <a:ext cx="914400" cy="347472"/>
            </a:xfrm>
            <a:prstGeom prst="rect">
              <a:avLst/>
            </a:prstGeom>
            <a:pattFill prst="wdUpDiag">
              <a:fgClr>
                <a:srgbClr val="C9CED3"/>
              </a:fgClr>
              <a:bgClr>
                <a:srgbClr val="2B2F36"/>
              </a:bgClr>
            </a:pattFill>
            <a:ln w="25400">
              <a:solidFill>
                <a:srgbClr val="C9CED3"/>
              </a:solidFill>
            </a:ln>
          </p:spPr>
          <p:txBody>
            <a:bodyPr rtlCol="0" anchor="ctr"/>
            <a:lstStyle/>
            <a:p>
              <a:pPr algn="ctr"/>
              <a:endParaRPr/>
            </a:p>
          </p:txBody>
        </p:sp>
        <p:sp>
          <p:nvSpPr>
            <p:cNvPr id="60" name="tender hatch"/>
            <p:cNvSpPr/>
            <p:nvPr/>
          </p:nvSpPr>
          <p:spPr>
            <a:xfrm>
              <a:off x="6880860" y="2606040"/>
              <a:ext cx="128015" cy="128015"/>
            </a:xfrm>
            <a:prstGeom prst="ellipse">
              <a:avLst/>
            </a:prstGeom>
            <a:solidFill>
              <a:srgbClr val="1B1D21"/>
            </a:solidFill>
            <a:ln w="19050">
              <a:solidFill>
                <a:srgbClr val="F2F2F2"/>
              </a:solidFill>
            </a:ln>
          </p:spPr>
          <p:txBody>
            <a:bodyPr rtlCol="0" anchor="ctr"/>
            <a:lstStyle/>
            <a:p>
              <a:pPr algn="ctr"/>
              <a:endParaRPr/>
            </a:p>
          </p:txBody>
        </p:sp>
        <p:sp>
          <p:nvSpPr>
            <p:cNvPr id="61" name="wagon frame"/>
            <p:cNvSpPr/>
            <p:nvPr/>
          </p:nvSpPr>
          <p:spPr>
            <a:xfrm>
              <a:off x="6807708" y="3008376"/>
              <a:ext cx="914400" cy="54864"/>
            </a:xfrm>
            <a:prstGeom prst="rect">
              <a:avLst/>
            </a:prstGeom>
            <a:solidFill>
              <a:srgbClr val="3A3F47"/>
            </a:solidFill>
            <a:ln w="9525">
              <a:solidFill>
                <a:srgbClr val="9AA0A6"/>
              </a:solidFill>
            </a:ln>
          </p:spPr>
          <p:txBody>
            <a:bodyPr rtlCol="0" anchor="ctr"/>
            <a:lstStyle/>
            <a:p>
              <a:pPr algn="ctr"/>
              <a:endParaRPr/>
            </a:p>
          </p:txBody>
        </p:sp>
        <p:sp>
          <p:nvSpPr>
            <p:cNvPr id="62" name="wheel"/>
            <p:cNvSpPr/>
            <p:nvPr/>
          </p:nvSpPr>
          <p:spPr>
            <a:xfrm>
              <a:off x="6835140"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63" name="hub"/>
            <p:cNvSpPr/>
            <p:nvPr/>
          </p:nvSpPr>
          <p:spPr>
            <a:xfrm>
              <a:off x="6939381" y="3057753"/>
              <a:ext cx="65836" cy="65836"/>
            </a:xfrm>
            <a:prstGeom prst="ellipse">
              <a:avLst/>
            </a:prstGeom>
            <a:solidFill>
              <a:srgbClr val="9AA0A6"/>
            </a:solidFill>
            <a:ln>
              <a:noFill/>
            </a:ln>
          </p:spPr>
          <p:txBody>
            <a:bodyPr rtlCol="0" anchor="ctr"/>
            <a:lstStyle/>
            <a:p>
              <a:pPr algn="ctr"/>
              <a:endParaRPr/>
            </a:p>
          </p:txBody>
        </p:sp>
        <p:sp>
          <p:nvSpPr>
            <p:cNvPr id="64" name="wheel"/>
            <p:cNvSpPr/>
            <p:nvPr/>
          </p:nvSpPr>
          <p:spPr>
            <a:xfrm>
              <a:off x="7420356"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65" name="hub"/>
            <p:cNvSpPr/>
            <p:nvPr/>
          </p:nvSpPr>
          <p:spPr>
            <a:xfrm>
              <a:off x="7524597" y="3057753"/>
              <a:ext cx="65836" cy="65836"/>
            </a:xfrm>
            <a:prstGeom prst="ellipse">
              <a:avLst/>
            </a:prstGeom>
            <a:solidFill>
              <a:srgbClr val="9AA0A6"/>
            </a:solidFill>
            <a:ln>
              <a:noFill/>
            </a:ln>
          </p:spPr>
          <p:txBody>
            <a:bodyPr rtlCol="0" anchor="ctr"/>
            <a:lstStyle/>
            <a:p>
              <a:pPr algn="ctr"/>
              <a:endParaRPr/>
            </a:p>
          </p:txBody>
        </p:sp>
        <p:sp>
          <p:nvSpPr>
            <p:cNvPr id="66" name="rail"/>
            <p:cNvSpPr/>
            <p:nvPr/>
          </p:nvSpPr>
          <p:spPr>
            <a:xfrm>
              <a:off x="4448555" y="3227832"/>
              <a:ext cx="3291840" cy="54864"/>
            </a:xfrm>
            <a:prstGeom prst="rect">
              <a:avLst/>
            </a:prstGeom>
            <a:solidFill>
              <a:srgbClr val="9AA0A6"/>
            </a:solidFill>
            <a:ln>
              <a:noFill/>
            </a:ln>
          </p:spPr>
          <p:txBody>
            <a:bodyPr rtlCol="0" anchor="ctr"/>
            <a:lstStyle/>
            <a:p>
              <a:pPr algn="ctr"/>
              <a:endParaRPr/>
            </a:p>
          </p:txBody>
        </p:sp>
        <p:sp>
          <p:nvSpPr>
            <p:cNvPr id="67" name="verdict"/>
            <p:cNvSpPr txBox="1"/>
            <p:nvPr/>
          </p:nvSpPr>
          <p:spPr>
            <a:xfrm>
              <a:off x="4539996" y="3520440"/>
              <a:ext cx="3108960" cy="1051560"/>
            </a:xfrm>
            <a:prstGeom prst="rect">
              <a:avLst/>
            </a:prstGeom>
            <a:noFill/>
          </p:spPr>
          <p:txBody>
            <a:bodyPr wrap="square" lIns="18288" tIns="9144" rIns="18288" bIns="9144" anchor="t">
              <a:noAutofit/>
            </a:bodyPr>
            <a:lstStyle/>
            <a:p>
              <a:pPr algn="l"/>
              <a:r>
                <a:rPr lang="en-GB" sz="2000" b="0" i="0">
                  <a:solidFill>
                    <a:srgbClr val="F2F2F2"/>
                  </a:solidFill>
                  <a:latin typeface="Arial"/>
                </a:rPr>
                <a:t>Attractive on longer work</a:t>
              </a:r>
            </a:p>
          </p:txBody>
        </p:sp>
        <p:sp>
          <p:nvSpPr>
            <p:cNvPr id="68" name="class card"/>
            <p:cNvSpPr/>
            <p:nvPr/>
          </p:nvSpPr>
          <p:spPr>
            <a:xfrm>
              <a:off x="8165592" y="1417320"/>
              <a:ext cx="3474720" cy="3246120"/>
            </a:xfrm>
            <a:prstGeom prst="roundRect">
              <a:avLst>
                <a:gd name="adj" fmla="val 2816"/>
              </a:avLst>
            </a:prstGeom>
            <a:solidFill>
              <a:srgbClr val="2B2F36"/>
            </a:solidFill>
            <a:ln w="19050">
              <a:solidFill>
                <a:srgbClr val="4A515B"/>
              </a:solidFill>
            </a:ln>
          </p:spPr>
          <p:txBody>
            <a:bodyPr rtlCol="0" anchor="ctr"/>
            <a:lstStyle/>
            <a:p>
              <a:pPr algn="ctr"/>
              <a:endParaRPr/>
            </a:p>
          </p:txBody>
        </p:sp>
        <p:sp>
          <p:nvSpPr>
            <p:cNvPr id="69" name="card header"/>
            <p:cNvSpPr/>
            <p:nvPr/>
          </p:nvSpPr>
          <p:spPr>
            <a:xfrm>
              <a:off x="8165592" y="1417320"/>
              <a:ext cx="3474720" cy="548640"/>
            </a:xfrm>
            <a:prstGeom prst="roundRect">
              <a:avLst>
                <a:gd name="adj" fmla="val 16666"/>
              </a:avLst>
            </a:prstGeom>
            <a:solidFill>
              <a:srgbClr val="343A43"/>
            </a:solidFill>
            <a:ln>
              <a:noFill/>
            </a:ln>
          </p:spPr>
          <p:txBody>
            <a:bodyPr rtlCol="0" anchor="ctr"/>
            <a:lstStyle/>
            <a:p>
              <a:pPr algn="ctr"/>
              <a:endParaRPr/>
            </a:p>
          </p:txBody>
        </p:sp>
        <p:sp>
          <p:nvSpPr>
            <p:cNvPr id="70" name="class name"/>
            <p:cNvSpPr txBox="1"/>
            <p:nvPr/>
          </p:nvSpPr>
          <p:spPr>
            <a:xfrm>
              <a:off x="8348471" y="1417320"/>
              <a:ext cx="3108960" cy="548640"/>
            </a:xfrm>
            <a:prstGeom prst="rect">
              <a:avLst/>
            </a:prstGeom>
            <a:noFill/>
          </p:spPr>
          <p:txBody>
            <a:bodyPr wrap="square" lIns="18288" tIns="9144" rIns="18288" bIns="9144" anchor="ctr">
              <a:noAutofit/>
            </a:bodyPr>
            <a:lstStyle/>
            <a:p>
              <a:pPr algn="l"/>
              <a:r>
                <a:rPr lang="en-GB" sz="2200" b="1" i="0">
                  <a:solidFill>
                    <a:srgbClr val="F28C28"/>
                  </a:solidFill>
                  <a:latin typeface="Arial"/>
                </a:rPr>
                <a:t>Large</a:t>
              </a:r>
            </a:p>
          </p:txBody>
        </p:sp>
        <p:sp>
          <p:nvSpPr>
            <p:cNvPr id="71" name="tender body"/>
            <p:cNvSpPr/>
            <p:nvPr/>
          </p:nvSpPr>
          <p:spPr>
            <a:xfrm>
              <a:off x="8348471" y="2660904"/>
              <a:ext cx="694944" cy="347472"/>
            </a:xfrm>
            <a:prstGeom prst="roundRect">
              <a:avLst>
                <a:gd name="adj" fmla="val 2631"/>
              </a:avLst>
            </a:prstGeom>
            <a:solidFill>
              <a:srgbClr val="6C7480"/>
            </a:solidFill>
            <a:ln>
              <a:noFill/>
            </a:ln>
          </p:spPr>
          <p:txBody>
            <a:bodyPr rtlCol="0" anchor="ctr"/>
            <a:lstStyle/>
            <a:p>
              <a:pPr algn="ctr"/>
              <a:endParaRPr/>
            </a:p>
          </p:txBody>
        </p:sp>
        <p:sp>
          <p:nvSpPr>
            <p:cNvPr id="72" name="tender coal"/>
            <p:cNvSpPr/>
            <p:nvPr/>
          </p:nvSpPr>
          <p:spPr>
            <a:xfrm>
              <a:off x="8403336" y="2596896"/>
              <a:ext cx="585216" cy="82296"/>
            </a:xfrm>
            <a:prstGeom prst="rect">
              <a:avLst/>
            </a:prstGeom>
            <a:solidFill>
              <a:srgbClr val="1B1D21"/>
            </a:solidFill>
            <a:ln w="12700">
              <a:solidFill>
                <a:srgbClr val="9AA0A6"/>
              </a:solidFill>
            </a:ln>
          </p:spPr>
          <p:txBody>
            <a:bodyPr rtlCol="0" anchor="ctr"/>
            <a:lstStyle/>
            <a:p>
              <a:pPr algn="ctr"/>
              <a:endParaRPr/>
            </a:p>
          </p:txBody>
        </p:sp>
        <p:sp>
          <p:nvSpPr>
            <p:cNvPr id="73" name="tender frame"/>
            <p:cNvSpPr/>
            <p:nvPr/>
          </p:nvSpPr>
          <p:spPr>
            <a:xfrm>
              <a:off x="8348471" y="3008376"/>
              <a:ext cx="694944" cy="54864"/>
            </a:xfrm>
            <a:prstGeom prst="rect">
              <a:avLst/>
            </a:prstGeom>
            <a:solidFill>
              <a:srgbClr val="3A3F47"/>
            </a:solidFill>
            <a:ln w="9525">
              <a:solidFill>
                <a:srgbClr val="9AA0A6"/>
              </a:solidFill>
            </a:ln>
          </p:spPr>
          <p:txBody>
            <a:bodyPr rtlCol="0" anchor="ctr"/>
            <a:lstStyle/>
            <a:p>
              <a:pPr algn="ctr"/>
              <a:endParaRPr/>
            </a:p>
          </p:txBody>
        </p:sp>
        <p:sp>
          <p:nvSpPr>
            <p:cNvPr id="74" name="coupling"/>
            <p:cNvSpPr/>
            <p:nvPr/>
          </p:nvSpPr>
          <p:spPr>
            <a:xfrm>
              <a:off x="9043415" y="2898648"/>
              <a:ext cx="73152" cy="36576"/>
            </a:xfrm>
            <a:prstGeom prst="rect">
              <a:avLst/>
            </a:prstGeom>
            <a:solidFill>
              <a:srgbClr val="9AA0A6"/>
            </a:solidFill>
            <a:ln>
              <a:noFill/>
            </a:ln>
          </p:spPr>
          <p:txBody>
            <a:bodyPr rtlCol="0" anchor="ctr"/>
            <a:lstStyle/>
            <a:p>
              <a:pPr algn="ctr"/>
              <a:endParaRPr/>
            </a:p>
          </p:txBody>
        </p:sp>
        <p:sp>
          <p:nvSpPr>
            <p:cNvPr id="75" name="wheel"/>
            <p:cNvSpPr/>
            <p:nvPr/>
          </p:nvSpPr>
          <p:spPr>
            <a:xfrm>
              <a:off x="8375903"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76" name="hub"/>
            <p:cNvSpPr/>
            <p:nvPr/>
          </p:nvSpPr>
          <p:spPr>
            <a:xfrm>
              <a:off x="8480145" y="3057753"/>
              <a:ext cx="65836" cy="65836"/>
            </a:xfrm>
            <a:prstGeom prst="ellipse">
              <a:avLst/>
            </a:prstGeom>
            <a:solidFill>
              <a:srgbClr val="9AA0A6"/>
            </a:solidFill>
            <a:ln>
              <a:noFill/>
            </a:ln>
          </p:spPr>
          <p:txBody>
            <a:bodyPr rtlCol="0" anchor="ctr"/>
            <a:lstStyle/>
            <a:p>
              <a:pPr algn="ctr"/>
              <a:endParaRPr/>
            </a:p>
          </p:txBody>
        </p:sp>
        <p:sp>
          <p:nvSpPr>
            <p:cNvPr id="77" name="wheel"/>
            <p:cNvSpPr/>
            <p:nvPr/>
          </p:nvSpPr>
          <p:spPr>
            <a:xfrm>
              <a:off x="8741663"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78" name="hub"/>
            <p:cNvSpPr/>
            <p:nvPr/>
          </p:nvSpPr>
          <p:spPr>
            <a:xfrm>
              <a:off x="8845905" y="3057753"/>
              <a:ext cx="65836" cy="65836"/>
            </a:xfrm>
            <a:prstGeom prst="ellipse">
              <a:avLst/>
            </a:prstGeom>
            <a:solidFill>
              <a:srgbClr val="9AA0A6"/>
            </a:solidFill>
            <a:ln>
              <a:noFill/>
            </a:ln>
          </p:spPr>
          <p:txBody>
            <a:bodyPr rtlCol="0" anchor="ctr"/>
            <a:lstStyle/>
            <a:p>
              <a:pPr algn="ctr"/>
              <a:endParaRPr/>
            </a:p>
          </p:txBody>
        </p:sp>
        <p:sp>
          <p:nvSpPr>
            <p:cNvPr id="79" name="cab"/>
            <p:cNvSpPr/>
            <p:nvPr/>
          </p:nvSpPr>
          <p:spPr>
            <a:xfrm>
              <a:off x="9079992" y="2496312"/>
              <a:ext cx="365760" cy="512064"/>
            </a:xfrm>
            <a:prstGeom prst="roundRect">
              <a:avLst>
                <a:gd name="adj" fmla="val 2500"/>
              </a:avLst>
            </a:prstGeom>
            <a:solidFill>
              <a:srgbClr val="F28C28"/>
            </a:solidFill>
            <a:ln>
              <a:noFill/>
            </a:ln>
          </p:spPr>
          <p:txBody>
            <a:bodyPr rtlCol="0" anchor="ctr"/>
            <a:lstStyle/>
            <a:p>
              <a:pPr algn="ctr"/>
              <a:endParaRPr/>
            </a:p>
          </p:txBody>
        </p:sp>
        <p:sp>
          <p:nvSpPr>
            <p:cNvPr id="80" name="cab roof"/>
            <p:cNvSpPr/>
            <p:nvPr/>
          </p:nvSpPr>
          <p:spPr>
            <a:xfrm>
              <a:off x="9061703" y="2468879"/>
              <a:ext cx="402336" cy="40233"/>
            </a:xfrm>
            <a:prstGeom prst="rect">
              <a:avLst/>
            </a:prstGeom>
            <a:solidFill>
              <a:srgbClr val="3A3F47"/>
            </a:solidFill>
            <a:ln w="9525">
              <a:solidFill>
                <a:srgbClr val="9AA0A6"/>
              </a:solidFill>
            </a:ln>
          </p:spPr>
          <p:txBody>
            <a:bodyPr rtlCol="0" anchor="ctr"/>
            <a:lstStyle/>
            <a:p>
              <a:pPr algn="ctr"/>
              <a:endParaRPr/>
            </a:p>
          </p:txBody>
        </p:sp>
        <p:sp>
          <p:nvSpPr>
            <p:cNvPr id="81" name="cab window"/>
            <p:cNvSpPr/>
            <p:nvPr/>
          </p:nvSpPr>
          <p:spPr>
            <a:xfrm>
              <a:off x="9153144" y="2596896"/>
              <a:ext cx="219456" cy="164592"/>
            </a:xfrm>
            <a:prstGeom prst="rect">
              <a:avLst/>
            </a:prstGeom>
            <a:solidFill>
              <a:srgbClr val="1B1D21"/>
            </a:solidFill>
            <a:ln>
              <a:noFill/>
            </a:ln>
          </p:spPr>
          <p:txBody>
            <a:bodyPr rtlCol="0" anchor="ctr"/>
            <a:lstStyle/>
            <a:p>
              <a:pPr algn="ctr"/>
              <a:endParaRPr/>
            </a:p>
          </p:txBody>
        </p:sp>
        <p:sp>
          <p:nvSpPr>
            <p:cNvPr id="82" name="boiler"/>
            <p:cNvSpPr/>
            <p:nvPr/>
          </p:nvSpPr>
          <p:spPr>
            <a:xfrm>
              <a:off x="9445751" y="2606040"/>
              <a:ext cx="1097280" cy="402336"/>
            </a:xfrm>
            <a:prstGeom prst="roundRect">
              <a:avLst>
                <a:gd name="adj" fmla="val 27272"/>
              </a:avLst>
            </a:prstGeom>
            <a:solidFill>
              <a:srgbClr val="F28C28"/>
            </a:solidFill>
            <a:ln>
              <a:noFill/>
            </a:ln>
          </p:spPr>
          <p:txBody>
            <a:bodyPr rtlCol="0" anchor="ctr"/>
            <a:lstStyle/>
            <a:p>
              <a:pPr algn="ctr"/>
              <a:endParaRPr/>
            </a:p>
          </p:txBody>
        </p:sp>
        <p:sp>
          <p:nvSpPr>
            <p:cNvPr id="83" name="chimney"/>
            <p:cNvSpPr/>
            <p:nvPr/>
          </p:nvSpPr>
          <p:spPr>
            <a:xfrm>
              <a:off x="10305288" y="2441448"/>
              <a:ext cx="128016" cy="173736"/>
            </a:xfrm>
            <a:prstGeom prst="rect">
              <a:avLst/>
            </a:prstGeom>
            <a:solidFill>
              <a:srgbClr val="3A3F47"/>
            </a:solidFill>
            <a:ln w="9525">
              <a:solidFill>
                <a:srgbClr val="9AA0A6"/>
              </a:solidFill>
            </a:ln>
          </p:spPr>
          <p:txBody>
            <a:bodyPr rtlCol="0" anchor="ctr"/>
            <a:lstStyle/>
            <a:p>
              <a:pPr algn="ctr"/>
              <a:endParaRPr/>
            </a:p>
          </p:txBody>
        </p:sp>
        <p:sp>
          <p:nvSpPr>
            <p:cNvPr id="84" name="chimney lip"/>
            <p:cNvSpPr/>
            <p:nvPr/>
          </p:nvSpPr>
          <p:spPr>
            <a:xfrm>
              <a:off x="10277856" y="2423160"/>
              <a:ext cx="182880" cy="36576"/>
            </a:xfrm>
            <a:prstGeom prst="rect">
              <a:avLst/>
            </a:prstGeom>
            <a:solidFill>
              <a:srgbClr val="3A3F47"/>
            </a:solidFill>
            <a:ln w="9525">
              <a:solidFill>
                <a:srgbClr val="9AA0A6"/>
              </a:solidFill>
            </a:ln>
          </p:spPr>
          <p:txBody>
            <a:bodyPr rtlCol="0" anchor="ctr"/>
            <a:lstStyle/>
            <a:p>
              <a:pPr algn="ctr"/>
              <a:endParaRPr/>
            </a:p>
          </p:txBody>
        </p:sp>
        <p:sp>
          <p:nvSpPr>
            <p:cNvPr id="85" name="dome"/>
            <p:cNvSpPr/>
            <p:nvPr/>
          </p:nvSpPr>
          <p:spPr>
            <a:xfrm>
              <a:off x="9756648" y="2523744"/>
              <a:ext cx="182880" cy="91440"/>
            </a:xfrm>
            <a:prstGeom prst="roundRect">
              <a:avLst>
                <a:gd name="adj" fmla="val 40000"/>
              </a:avLst>
            </a:prstGeom>
            <a:solidFill>
              <a:srgbClr val="F28C28"/>
            </a:solidFill>
            <a:ln>
              <a:noFill/>
            </a:ln>
          </p:spPr>
          <p:txBody>
            <a:bodyPr rtlCol="0" anchor="ctr"/>
            <a:lstStyle/>
            <a:p>
              <a:pPr algn="ctr"/>
              <a:endParaRPr/>
            </a:p>
          </p:txBody>
        </p:sp>
        <p:sp>
          <p:nvSpPr>
            <p:cNvPr id="86" name="frame"/>
            <p:cNvSpPr/>
            <p:nvPr/>
          </p:nvSpPr>
          <p:spPr>
            <a:xfrm>
              <a:off x="9079992" y="3008376"/>
              <a:ext cx="1463040" cy="54864"/>
            </a:xfrm>
            <a:prstGeom prst="rect">
              <a:avLst/>
            </a:prstGeom>
            <a:solidFill>
              <a:srgbClr val="3A3F47"/>
            </a:solidFill>
            <a:ln w="9525">
              <a:solidFill>
                <a:srgbClr val="9AA0A6"/>
              </a:solidFill>
            </a:ln>
          </p:spPr>
          <p:txBody>
            <a:bodyPr rtlCol="0" anchor="ctr"/>
            <a:lstStyle/>
            <a:p>
              <a:pPr algn="ctr"/>
              <a:endParaRPr/>
            </a:p>
          </p:txBody>
        </p:sp>
        <p:sp>
          <p:nvSpPr>
            <p:cNvPr id="87" name="wheel"/>
            <p:cNvSpPr/>
            <p:nvPr/>
          </p:nvSpPr>
          <p:spPr>
            <a:xfrm>
              <a:off x="9345167"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88" name="hub"/>
            <p:cNvSpPr/>
            <p:nvPr/>
          </p:nvSpPr>
          <p:spPr>
            <a:xfrm>
              <a:off x="9449409" y="3057753"/>
              <a:ext cx="65836" cy="65836"/>
            </a:xfrm>
            <a:prstGeom prst="ellipse">
              <a:avLst/>
            </a:prstGeom>
            <a:solidFill>
              <a:srgbClr val="9AA0A6"/>
            </a:solidFill>
            <a:ln>
              <a:noFill/>
            </a:ln>
          </p:spPr>
          <p:txBody>
            <a:bodyPr rtlCol="0" anchor="ctr"/>
            <a:lstStyle/>
            <a:p>
              <a:pPr algn="ctr"/>
              <a:endParaRPr/>
            </a:p>
          </p:txBody>
        </p:sp>
        <p:sp>
          <p:nvSpPr>
            <p:cNvPr id="89" name="wheel"/>
            <p:cNvSpPr/>
            <p:nvPr/>
          </p:nvSpPr>
          <p:spPr>
            <a:xfrm>
              <a:off x="9710928"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90" name="hub"/>
            <p:cNvSpPr/>
            <p:nvPr/>
          </p:nvSpPr>
          <p:spPr>
            <a:xfrm>
              <a:off x="9815169" y="3057753"/>
              <a:ext cx="65836" cy="65836"/>
            </a:xfrm>
            <a:prstGeom prst="ellipse">
              <a:avLst/>
            </a:prstGeom>
            <a:solidFill>
              <a:srgbClr val="9AA0A6"/>
            </a:solidFill>
            <a:ln>
              <a:noFill/>
            </a:ln>
          </p:spPr>
          <p:txBody>
            <a:bodyPr rtlCol="0" anchor="ctr"/>
            <a:lstStyle/>
            <a:p>
              <a:pPr algn="ctr"/>
              <a:endParaRPr/>
            </a:p>
          </p:txBody>
        </p:sp>
        <p:sp>
          <p:nvSpPr>
            <p:cNvPr id="91" name="wheel"/>
            <p:cNvSpPr/>
            <p:nvPr/>
          </p:nvSpPr>
          <p:spPr>
            <a:xfrm>
              <a:off x="10076687"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92" name="hub"/>
            <p:cNvSpPr/>
            <p:nvPr/>
          </p:nvSpPr>
          <p:spPr>
            <a:xfrm>
              <a:off x="10180929" y="3057753"/>
              <a:ext cx="65836" cy="65836"/>
            </a:xfrm>
            <a:prstGeom prst="ellipse">
              <a:avLst/>
            </a:prstGeom>
            <a:solidFill>
              <a:srgbClr val="9AA0A6"/>
            </a:solidFill>
            <a:ln>
              <a:noFill/>
            </a:ln>
          </p:spPr>
          <p:txBody>
            <a:bodyPr rtlCol="0" anchor="ctr"/>
            <a:lstStyle/>
            <a:p>
              <a:pPr algn="ctr"/>
              <a:endParaRPr/>
            </a:p>
          </p:txBody>
        </p:sp>
        <p:sp>
          <p:nvSpPr>
            <p:cNvPr id="93" name="aux tender"/>
            <p:cNvSpPr/>
            <p:nvPr/>
          </p:nvSpPr>
          <p:spPr>
            <a:xfrm>
              <a:off x="10616184" y="2660904"/>
              <a:ext cx="914400" cy="347472"/>
            </a:xfrm>
            <a:prstGeom prst="rect">
              <a:avLst/>
            </a:prstGeom>
            <a:pattFill prst="wdUpDiag">
              <a:fgClr>
                <a:srgbClr val="C9CED3"/>
              </a:fgClr>
              <a:bgClr>
                <a:srgbClr val="2B2F36"/>
              </a:bgClr>
            </a:pattFill>
            <a:ln w="25400">
              <a:solidFill>
                <a:srgbClr val="C9CED3"/>
              </a:solidFill>
            </a:ln>
          </p:spPr>
          <p:txBody>
            <a:bodyPr rtlCol="0" anchor="ctr"/>
            <a:lstStyle/>
            <a:p>
              <a:pPr algn="ctr"/>
              <a:endParaRPr/>
            </a:p>
          </p:txBody>
        </p:sp>
        <p:sp>
          <p:nvSpPr>
            <p:cNvPr id="94" name="tender hatch"/>
            <p:cNvSpPr/>
            <p:nvPr/>
          </p:nvSpPr>
          <p:spPr>
            <a:xfrm>
              <a:off x="10689336" y="2606040"/>
              <a:ext cx="128015" cy="128015"/>
            </a:xfrm>
            <a:prstGeom prst="ellipse">
              <a:avLst/>
            </a:prstGeom>
            <a:solidFill>
              <a:srgbClr val="1B1D21"/>
            </a:solidFill>
            <a:ln w="19050">
              <a:solidFill>
                <a:srgbClr val="F2F2F2"/>
              </a:solidFill>
            </a:ln>
          </p:spPr>
          <p:txBody>
            <a:bodyPr rtlCol="0" anchor="ctr"/>
            <a:lstStyle/>
            <a:p>
              <a:pPr algn="ctr"/>
              <a:endParaRPr/>
            </a:p>
          </p:txBody>
        </p:sp>
        <p:sp>
          <p:nvSpPr>
            <p:cNvPr id="95" name="wagon frame"/>
            <p:cNvSpPr/>
            <p:nvPr/>
          </p:nvSpPr>
          <p:spPr>
            <a:xfrm>
              <a:off x="10616184" y="3008376"/>
              <a:ext cx="914400" cy="54864"/>
            </a:xfrm>
            <a:prstGeom prst="rect">
              <a:avLst/>
            </a:prstGeom>
            <a:solidFill>
              <a:srgbClr val="3A3F47"/>
            </a:solidFill>
            <a:ln w="9525">
              <a:solidFill>
                <a:srgbClr val="9AA0A6"/>
              </a:solidFill>
            </a:ln>
          </p:spPr>
          <p:txBody>
            <a:bodyPr rtlCol="0" anchor="ctr"/>
            <a:lstStyle/>
            <a:p>
              <a:pPr algn="ctr"/>
              <a:endParaRPr/>
            </a:p>
          </p:txBody>
        </p:sp>
        <p:sp>
          <p:nvSpPr>
            <p:cNvPr id="96" name="wheel"/>
            <p:cNvSpPr/>
            <p:nvPr/>
          </p:nvSpPr>
          <p:spPr>
            <a:xfrm>
              <a:off x="10643615"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97" name="hub"/>
            <p:cNvSpPr/>
            <p:nvPr/>
          </p:nvSpPr>
          <p:spPr>
            <a:xfrm>
              <a:off x="10747857" y="3057753"/>
              <a:ext cx="65836" cy="65836"/>
            </a:xfrm>
            <a:prstGeom prst="ellipse">
              <a:avLst/>
            </a:prstGeom>
            <a:solidFill>
              <a:srgbClr val="9AA0A6"/>
            </a:solidFill>
            <a:ln>
              <a:noFill/>
            </a:ln>
          </p:spPr>
          <p:txBody>
            <a:bodyPr rtlCol="0" anchor="ctr"/>
            <a:lstStyle/>
            <a:p>
              <a:pPr algn="ctr"/>
              <a:endParaRPr/>
            </a:p>
          </p:txBody>
        </p:sp>
        <p:sp>
          <p:nvSpPr>
            <p:cNvPr id="98" name="wheel"/>
            <p:cNvSpPr/>
            <p:nvPr/>
          </p:nvSpPr>
          <p:spPr>
            <a:xfrm>
              <a:off x="11228832" y="2953512"/>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99" name="hub"/>
            <p:cNvSpPr/>
            <p:nvPr/>
          </p:nvSpPr>
          <p:spPr>
            <a:xfrm>
              <a:off x="11333073" y="3057753"/>
              <a:ext cx="65836" cy="65836"/>
            </a:xfrm>
            <a:prstGeom prst="ellipse">
              <a:avLst/>
            </a:prstGeom>
            <a:solidFill>
              <a:srgbClr val="9AA0A6"/>
            </a:solidFill>
            <a:ln>
              <a:noFill/>
            </a:ln>
          </p:spPr>
          <p:txBody>
            <a:bodyPr rtlCol="0" anchor="ctr"/>
            <a:lstStyle/>
            <a:p>
              <a:pPr algn="ctr"/>
              <a:endParaRPr/>
            </a:p>
          </p:txBody>
        </p:sp>
        <p:sp>
          <p:nvSpPr>
            <p:cNvPr id="100" name="rail"/>
            <p:cNvSpPr/>
            <p:nvPr/>
          </p:nvSpPr>
          <p:spPr>
            <a:xfrm>
              <a:off x="8257031" y="3227832"/>
              <a:ext cx="3291840" cy="54864"/>
            </a:xfrm>
            <a:prstGeom prst="rect">
              <a:avLst/>
            </a:prstGeom>
            <a:solidFill>
              <a:srgbClr val="9AA0A6"/>
            </a:solidFill>
            <a:ln>
              <a:noFill/>
            </a:ln>
          </p:spPr>
          <p:txBody>
            <a:bodyPr rtlCol="0" anchor="ctr"/>
            <a:lstStyle/>
            <a:p>
              <a:pPr algn="ctr"/>
              <a:endParaRPr/>
            </a:p>
          </p:txBody>
        </p:sp>
        <p:sp>
          <p:nvSpPr>
            <p:cNvPr id="101" name="verdict"/>
            <p:cNvSpPr txBox="1"/>
            <p:nvPr/>
          </p:nvSpPr>
          <p:spPr>
            <a:xfrm>
              <a:off x="8348471" y="3520440"/>
              <a:ext cx="3108960" cy="1051560"/>
            </a:xfrm>
            <a:prstGeom prst="rect">
              <a:avLst/>
            </a:prstGeom>
            <a:noFill/>
          </p:spPr>
          <p:txBody>
            <a:bodyPr wrap="square" lIns="18288" tIns="9144" rIns="18288" bIns="9144" anchor="t">
              <a:noAutofit/>
            </a:bodyPr>
            <a:lstStyle/>
            <a:p>
              <a:pPr algn="l"/>
              <a:r>
                <a:rPr lang="en-GB" sz="2000" b="0" i="0">
                  <a:solidFill>
                    <a:srgbClr val="F2F2F2"/>
                  </a:solidFill>
                  <a:latin typeface="Arial"/>
                </a:rPr>
                <a:t>For especially long journeys</a:t>
              </a:r>
            </a:p>
          </p:txBody>
        </p:sp>
        <p:sp>
          <p:nvSpPr>
            <p:cNvPr id="102" name="footer"/>
            <p:cNvSpPr txBox="1"/>
            <p:nvPr/>
          </p:nvSpPr>
          <p:spPr>
            <a:xfrm>
              <a:off x="548640" y="4937760"/>
              <a:ext cx="11091672" cy="411480"/>
            </a:xfrm>
            <a:prstGeom prst="rect">
              <a:avLst/>
            </a:prstGeom>
            <a:noFill/>
          </p:spPr>
          <p:txBody>
            <a:bodyPr wrap="square" lIns="18288" tIns="9144" rIns="18288" bIns="9144" anchor="ctr">
              <a:noAutofit/>
            </a:bodyPr>
            <a:lstStyle/>
            <a:p>
              <a:pPr algn="ctr"/>
              <a:r>
                <a:rPr lang="en-GB" sz="1800" b="0" i="0">
                  <a:solidFill>
                    <a:srgbClr val="A9B0B8"/>
                  </a:solidFill>
                  <a:latin typeface="Arial"/>
                </a:rPr>
                <a:t>Which types at launch: undecided (OQ10).</a:t>
              </a:r>
            </a:p>
          </p:txBody>
        </p:sp>
      </p:grpSp>
      <p:sp>
        <p:nvSpPr>
          <p:cNvPr id="10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0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05"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Small can take one, but the weight hurts. Medium gains most. Large uses one for very long trips.</a:t>
            </a:r>
          </a:p>
        </p:txBody>
      </p:sp>
      <p:sp>
        <p:nvSpPr>
          <p:cNvPr id="10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20</a:t>
            </a:r>
          </a:p>
        </p:txBody>
      </p:sp>
    </p:spTree>
    <p:extLst>
      <p:ext uri="{BB962C8B-B14F-4D97-AF65-F5344CB8AC3E}">
        <p14:creationId xmlns:p14="http://schemas.microsoft.com/office/powerpoint/2010/main" val="34283827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03"/>
                                        </p:tgtEl>
                                        <p:attrNameLst>
                                          <p:attrName>style.visibility</p:attrName>
                                        </p:attrNameLst>
                                      </p:cBhvr>
                                      <p:to>
                                        <p:strVal val="visible"/>
                                      </p:to>
                                    </p:set>
                                    <p:animEffect transition="in" filter="fade">
                                      <p:cBhvr>
                                        <p:cTn id="10" dur="500"/>
                                        <p:tgtEl>
                                          <p:spTgt spid="103"/>
                                        </p:tgtEl>
                                      </p:cBhvr>
                                    </p:animEffect>
                                  </p:childTnLst>
                                </p:cTn>
                              </p:par>
                              <p:par>
                                <p:cTn id="11" presetID="10" presetClass="entr" presetSubtype="0" fill="hold" nodeType="withEffect">
                                  <p:stCondLst>
                                    <p:cond delay="600"/>
                                  </p:stCondLst>
                                  <p:childTnLst>
                                    <p:set>
                                      <p:cBhvr>
                                        <p:cTn id="12" dur="1" fill="hold">
                                          <p:stCondLst>
                                            <p:cond delay="0"/>
                                          </p:stCondLst>
                                        </p:cTn>
                                        <p:tgtEl>
                                          <p:spTgt spid="104"/>
                                        </p:tgtEl>
                                        <p:attrNameLst>
                                          <p:attrName>style.visibility</p:attrName>
                                        </p:attrNameLst>
                                      </p:cBhvr>
                                      <p:to>
                                        <p:strVal val="visible"/>
                                      </p:to>
                                    </p:set>
                                    <p:animEffect transition="in" filter="fade">
                                      <p:cBhvr>
                                        <p:cTn id="13" dur="500"/>
                                        <p:tgtEl>
                                          <p:spTgt spid="104"/>
                                        </p:tgtEl>
                                      </p:cBhvr>
                                    </p:animEffect>
                                  </p:childTnLst>
                                </p:cTn>
                              </p:par>
                              <p:par>
                                <p:cTn id="14" presetID="10" presetClass="entr" presetSubtype="0" fill="hold" nodeType="withEffect">
                                  <p:stCondLst>
                                    <p:cond delay="900"/>
                                  </p:stCondLst>
                                  <p:childTnLst>
                                    <p:set>
                                      <p:cBhvr>
                                        <p:cTn id="15" dur="1" fill="hold">
                                          <p:stCondLst>
                                            <p:cond delay="0"/>
                                          </p:stCondLst>
                                        </p:cTn>
                                        <p:tgtEl>
                                          <p:spTgt spid="105"/>
                                        </p:tgtEl>
                                        <p:attrNameLst>
                                          <p:attrName>style.visibility</p:attrName>
                                        </p:attrNameLst>
                                      </p:cBhvr>
                                      <p:to>
                                        <p:strVal val="visible"/>
                                      </p:to>
                                    </p:set>
                                    <p:animEffect transition="in" filter="fade">
                                      <p:cBhvr>
                                        <p:cTn id="16"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Four ways to go further</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Route and four answers" descr="A route that is too long for one engine's range, shown with a red dashed gap. Below, four answers: add an auxiliary tender, add a water stop, build a service point, or pick a bigger engine."/>
          <p:cNvGrpSpPr/>
          <p:nvPr/>
        </p:nvGrpSpPr>
        <p:grpSpPr>
          <a:xfrm>
            <a:off x="548640" y="1901952"/>
            <a:ext cx="11091672" cy="3355848"/>
            <a:chOff x="548640" y="1901952"/>
            <a:chExt cx="11091672" cy="3355848"/>
          </a:xfrm>
        </p:grpSpPr>
        <p:cxnSp>
          <p:nvCxnSpPr>
            <p:cNvPr id="5" name="route in range"/>
            <p:cNvCxnSpPr/>
            <p:nvPr/>
          </p:nvCxnSpPr>
          <p:spPr>
            <a:xfrm>
              <a:off x="1463040" y="2514600"/>
              <a:ext cx="3749040" cy="0"/>
            </a:xfrm>
            <a:prstGeom prst="line">
              <a:avLst/>
            </a:prstGeom>
            <a:ln w="63500">
              <a:solidFill>
                <a:srgbClr val="F28C28"/>
              </a:solidFill>
              <a:tailEnd type="triangle" w="med" len="med"/>
            </a:ln>
          </p:spPr>
        </p:cxnSp>
        <p:cxnSp>
          <p:nvCxnSpPr>
            <p:cNvPr id="6" name="route gap"/>
            <p:cNvCxnSpPr/>
            <p:nvPr/>
          </p:nvCxnSpPr>
          <p:spPr>
            <a:xfrm>
              <a:off x="5212080" y="2514600"/>
              <a:ext cx="5669280" cy="0"/>
            </a:xfrm>
            <a:prstGeom prst="line">
              <a:avLst/>
            </a:prstGeom>
            <a:ln w="63500">
              <a:solidFill>
                <a:srgbClr val="E5484D"/>
              </a:solidFill>
              <a:prstDash val="dash"/>
            </a:ln>
          </p:spPr>
        </p:cxnSp>
        <p:cxnSp>
          <p:nvCxnSpPr>
            <p:cNvPr id="7" name="range end"/>
            <p:cNvCxnSpPr/>
            <p:nvPr/>
          </p:nvCxnSpPr>
          <p:spPr>
            <a:xfrm>
              <a:off x="5212080" y="2286000"/>
              <a:ext cx="0" cy="457200"/>
            </a:xfrm>
            <a:prstGeom prst="line">
              <a:avLst/>
            </a:prstGeom>
            <a:ln w="50800">
              <a:solidFill>
                <a:srgbClr val="F28C28"/>
              </a:solidFill>
            </a:ln>
          </p:spPr>
        </p:cxnSp>
        <p:sp>
          <p:nvSpPr>
            <p:cNvPr id="8" name="destination"/>
            <p:cNvSpPr/>
            <p:nvPr/>
          </p:nvSpPr>
          <p:spPr>
            <a:xfrm>
              <a:off x="10881360" y="2313432"/>
              <a:ext cx="402336" cy="402336"/>
            </a:xfrm>
            <a:prstGeom prst="ellipse">
              <a:avLst/>
            </a:prstGeom>
            <a:solidFill>
              <a:srgbClr val="9AA0A6"/>
            </a:solidFill>
            <a:ln w="25400">
              <a:solidFill>
                <a:srgbClr val="101418"/>
              </a:solidFill>
            </a:ln>
          </p:spPr>
          <p:txBody>
            <a:bodyPr rtlCol="0" anchor="ctr"/>
            <a:lstStyle/>
            <a:p>
              <a:pPr algn="ctr"/>
              <a:endParaRPr/>
            </a:p>
          </p:txBody>
        </p:sp>
        <p:sp>
          <p:nvSpPr>
            <p:cNvPr id="9" name="tender body"/>
            <p:cNvSpPr/>
            <p:nvPr/>
          </p:nvSpPr>
          <p:spPr>
            <a:xfrm>
              <a:off x="731520" y="2050542"/>
              <a:ext cx="434340" cy="217170"/>
            </a:xfrm>
            <a:prstGeom prst="roundRect">
              <a:avLst>
                <a:gd name="adj" fmla="val 2631"/>
              </a:avLst>
            </a:prstGeom>
            <a:solidFill>
              <a:srgbClr val="6C7480"/>
            </a:solidFill>
            <a:ln>
              <a:noFill/>
            </a:ln>
          </p:spPr>
          <p:txBody>
            <a:bodyPr rtlCol="0" anchor="ctr"/>
            <a:lstStyle/>
            <a:p>
              <a:pPr algn="ctr"/>
              <a:endParaRPr/>
            </a:p>
          </p:txBody>
        </p:sp>
        <p:sp>
          <p:nvSpPr>
            <p:cNvPr id="10" name="tender coal"/>
            <p:cNvSpPr/>
            <p:nvPr/>
          </p:nvSpPr>
          <p:spPr>
            <a:xfrm>
              <a:off x="765810" y="2010537"/>
              <a:ext cx="365760" cy="51435"/>
            </a:xfrm>
            <a:prstGeom prst="rect">
              <a:avLst/>
            </a:prstGeom>
            <a:solidFill>
              <a:srgbClr val="1B1D21"/>
            </a:solidFill>
            <a:ln w="12700">
              <a:solidFill>
                <a:srgbClr val="9AA0A6"/>
              </a:solidFill>
            </a:ln>
          </p:spPr>
          <p:txBody>
            <a:bodyPr rtlCol="0" anchor="ctr"/>
            <a:lstStyle/>
            <a:p>
              <a:pPr algn="ctr"/>
              <a:endParaRPr/>
            </a:p>
          </p:txBody>
        </p:sp>
        <p:sp>
          <p:nvSpPr>
            <p:cNvPr id="11" name="tender frame"/>
            <p:cNvSpPr/>
            <p:nvPr/>
          </p:nvSpPr>
          <p:spPr>
            <a:xfrm>
              <a:off x="731520" y="2267712"/>
              <a:ext cx="434340" cy="34290"/>
            </a:xfrm>
            <a:prstGeom prst="rect">
              <a:avLst/>
            </a:prstGeom>
            <a:solidFill>
              <a:srgbClr val="3A3F47"/>
            </a:solidFill>
            <a:ln w="9525">
              <a:solidFill>
                <a:srgbClr val="9AA0A6"/>
              </a:solidFill>
            </a:ln>
          </p:spPr>
          <p:txBody>
            <a:bodyPr rtlCol="0" anchor="ctr"/>
            <a:lstStyle/>
            <a:p>
              <a:pPr algn="ctr"/>
              <a:endParaRPr/>
            </a:p>
          </p:txBody>
        </p:sp>
        <p:sp>
          <p:nvSpPr>
            <p:cNvPr id="12" name="coupling"/>
            <p:cNvSpPr/>
            <p:nvPr/>
          </p:nvSpPr>
          <p:spPr>
            <a:xfrm>
              <a:off x="1165860" y="2199132"/>
              <a:ext cx="45720" cy="22860"/>
            </a:xfrm>
            <a:prstGeom prst="rect">
              <a:avLst/>
            </a:prstGeom>
            <a:solidFill>
              <a:srgbClr val="9AA0A6"/>
            </a:solidFill>
            <a:ln>
              <a:noFill/>
            </a:ln>
          </p:spPr>
          <p:txBody>
            <a:bodyPr rtlCol="0" anchor="ctr"/>
            <a:lstStyle/>
            <a:p>
              <a:pPr algn="ctr"/>
              <a:endParaRPr/>
            </a:p>
          </p:txBody>
        </p:sp>
        <p:sp>
          <p:nvSpPr>
            <p:cNvPr id="13" name="wheel"/>
            <p:cNvSpPr/>
            <p:nvPr/>
          </p:nvSpPr>
          <p:spPr>
            <a:xfrm>
              <a:off x="748665" y="2233422"/>
              <a:ext cx="171450" cy="171450"/>
            </a:xfrm>
            <a:prstGeom prst="ellipse">
              <a:avLst/>
            </a:prstGeom>
            <a:solidFill>
              <a:srgbClr val="1B1D21"/>
            </a:solidFill>
            <a:ln w="19050">
              <a:solidFill>
                <a:srgbClr val="9AA0A6"/>
              </a:solidFill>
            </a:ln>
          </p:spPr>
          <p:txBody>
            <a:bodyPr rtlCol="0" anchor="ctr"/>
            <a:lstStyle/>
            <a:p>
              <a:pPr algn="ctr"/>
              <a:endParaRPr/>
            </a:p>
          </p:txBody>
        </p:sp>
        <p:sp>
          <p:nvSpPr>
            <p:cNvPr id="14" name="hub"/>
            <p:cNvSpPr/>
            <p:nvPr/>
          </p:nvSpPr>
          <p:spPr>
            <a:xfrm>
              <a:off x="813816" y="2298573"/>
              <a:ext cx="41148" cy="41148"/>
            </a:xfrm>
            <a:prstGeom prst="ellipse">
              <a:avLst/>
            </a:prstGeom>
            <a:solidFill>
              <a:srgbClr val="9AA0A6"/>
            </a:solidFill>
            <a:ln>
              <a:noFill/>
            </a:ln>
          </p:spPr>
          <p:txBody>
            <a:bodyPr rtlCol="0" anchor="ctr"/>
            <a:lstStyle/>
            <a:p>
              <a:pPr algn="ctr"/>
              <a:endParaRPr/>
            </a:p>
          </p:txBody>
        </p:sp>
        <p:sp>
          <p:nvSpPr>
            <p:cNvPr id="15" name="wheel"/>
            <p:cNvSpPr/>
            <p:nvPr/>
          </p:nvSpPr>
          <p:spPr>
            <a:xfrm>
              <a:off x="977265" y="2233422"/>
              <a:ext cx="171450" cy="171450"/>
            </a:xfrm>
            <a:prstGeom prst="ellipse">
              <a:avLst/>
            </a:prstGeom>
            <a:solidFill>
              <a:srgbClr val="1B1D21"/>
            </a:solidFill>
            <a:ln w="19050">
              <a:solidFill>
                <a:srgbClr val="9AA0A6"/>
              </a:solidFill>
            </a:ln>
          </p:spPr>
          <p:txBody>
            <a:bodyPr rtlCol="0" anchor="ctr"/>
            <a:lstStyle/>
            <a:p>
              <a:pPr algn="ctr"/>
              <a:endParaRPr/>
            </a:p>
          </p:txBody>
        </p:sp>
        <p:sp>
          <p:nvSpPr>
            <p:cNvPr id="16" name="hub"/>
            <p:cNvSpPr/>
            <p:nvPr/>
          </p:nvSpPr>
          <p:spPr>
            <a:xfrm>
              <a:off x="1042416" y="2298573"/>
              <a:ext cx="41148" cy="41148"/>
            </a:xfrm>
            <a:prstGeom prst="ellipse">
              <a:avLst/>
            </a:prstGeom>
            <a:solidFill>
              <a:srgbClr val="9AA0A6"/>
            </a:solidFill>
            <a:ln>
              <a:noFill/>
            </a:ln>
          </p:spPr>
          <p:txBody>
            <a:bodyPr rtlCol="0" anchor="ctr"/>
            <a:lstStyle/>
            <a:p>
              <a:pPr algn="ctr"/>
              <a:endParaRPr/>
            </a:p>
          </p:txBody>
        </p:sp>
        <p:sp>
          <p:nvSpPr>
            <p:cNvPr id="17" name="cab"/>
            <p:cNvSpPr/>
            <p:nvPr/>
          </p:nvSpPr>
          <p:spPr>
            <a:xfrm>
              <a:off x="1188720" y="1947672"/>
              <a:ext cx="228600" cy="320040"/>
            </a:xfrm>
            <a:prstGeom prst="roundRect">
              <a:avLst>
                <a:gd name="adj" fmla="val 2500"/>
              </a:avLst>
            </a:prstGeom>
            <a:solidFill>
              <a:srgbClr val="F28C28"/>
            </a:solidFill>
            <a:ln>
              <a:noFill/>
            </a:ln>
          </p:spPr>
          <p:txBody>
            <a:bodyPr rtlCol="0" anchor="ctr"/>
            <a:lstStyle/>
            <a:p>
              <a:pPr algn="ctr"/>
              <a:endParaRPr/>
            </a:p>
          </p:txBody>
        </p:sp>
        <p:sp>
          <p:nvSpPr>
            <p:cNvPr id="18" name="cab roof"/>
            <p:cNvSpPr/>
            <p:nvPr/>
          </p:nvSpPr>
          <p:spPr>
            <a:xfrm>
              <a:off x="1177290" y="1930527"/>
              <a:ext cx="251460" cy="25146"/>
            </a:xfrm>
            <a:prstGeom prst="rect">
              <a:avLst/>
            </a:prstGeom>
            <a:solidFill>
              <a:srgbClr val="3A3F47"/>
            </a:solidFill>
            <a:ln w="9525">
              <a:solidFill>
                <a:srgbClr val="9AA0A6"/>
              </a:solidFill>
            </a:ln>
          </p:spPr>
          <p:txBody>
            <a:bodyPr rtlCol="0" anchor="ctr"/>
            <a:lstStyle/>
            <a:p>
              <a:pPr algn="ctr"/>
              <a:endParaRPr/>
            </a:p>
          </p:txBody>
        </p:sp>
        <p:sp>
          <p:nvSpPr>
            <p:cNvPr id="19" name="cab window"/>
            <p:cNvSpPr/>
            <p:nvPr/>
          </p:nvSpPr>
          <p:spPr>
            <a:xfrm>
              <a:off x="1234440" y="2010537"/>
              <a:ext cx="137160" cy="102870"/>
            </a:xfrm>
            <a:prstGeom prst="rect">
              <a:avLst/>
            </a:prstGeom>
            <a:solidFill>
              <a:srgbClr val="1B1D21"/>
            </a:solidFill>
            <a:ln>
              <a:noFill/>
            </a:ln>
          </p:spPr>
          <p:txBody>
            <a:bodyPr rtlCol="0" anchor="ctr"/>
            <a:lstStyle/>
            <a:p>
              <a:pPr algn="ctr"/>
              <a:endParaRPr/>
            </a:p>
          </p:txBody>
        </p:sp>
        <p:sp>
          <p:nvSpPr>
            <p:cNvPr id="20" name="boiler"/>
            <p:cNvSpPr/>
            <p:nvPr/>
          </p:nvSpPr>
          <p:spPr>
            <a:xfrm>
              <a:off x="1417320" y="2016252"/>
              <a:ext cx="685800" cy="251460"/>
            </a:xfrm>
            <a:prstGeom prst="roundRect">
              <a:avLst>
                <a:gd name="adj" fmla="val 27272"/>
              </a:avLst>
            </a:prstGeom>
            <a:solidFill>
              <a:srgbClr val="F28C28"/>
            </a:solidFill>
            <a:ln>
              <a:noFill/>
            </a:ln>
          </p:spPr>
          <p:txBody>
            <a:bodyPr rtlCol="0" anchor="ctr"/>
            <a:lstStyle/>
            <a:p>
              <a:pPr algn="ctr"/>
              <a:endParaRPr/>
            </a:p>
          </p:txBody>
        </p:sp>
        <p:sp>
          <p:nvSpPr>
            <p:cNvPr id="21" name="chimney"/>
            <p:cNvSpPr/>
            <p:nvPr/>
          </p:nvSpPr>
          <p:spPr>
            <a:xfrm>
              <a:off x="1954530" y="1913382"/>
              <a:ext cx="80010" cy="108585"/>
            </a:xfrm>
            <a:prstGeom prst="rect">
              <a:avLst/>
            </a:prstGeom>
            <a:solidFill>
              <a:srgbClr val="3A3F47"/>
            </a:solidFill>
            <a:ln w="9525">
              <a:solidFill>
                <a:srgbClr val="9AA0A6"/>
              </a:solidFill>
            </a:ln>
          </p:spPr>
          <p:txBody>
            <a:bodyPr rtlCol="0" anchor="ctr"/>
            <a:lstStyle/>
            <a:p>
              <a:pPr algn="ctr"/>
              <a:endParaRPr/>
            </a:p>
          </p:txBody>
        </p:sp>
        <p:sp>
          <p:nvSpPr>
            <p:cNvPr id="22" name="chimney lip"/>
            <p:cNvSpPr/>
            <p:nvPr/>
          </p:nvSpPr>
          <p:spPr>
            <a:xfrm>
              <a:off x="1937385" y="1901952"/>
              <a:ext cx="114300" cy="22860"/>
            </a:xfrm>
            <a:prstGeom prst="rect">
              <a:avLst/>
            </a:prstGeom>
            <a:solidFill>
              <a:srgbClr val="3A3F47"/>
            </a:solidFill>
            <a:ln w="9525">
              <a:solidFill>
                <a:srgbClr val="9AA0A6"/>
              </a:solidFill>
            </a:ln>
          </p:spPr>
          <p:txBody>
            <a:bodyPr rtlCol="0" anchor="ctr"/>
            <a:lstStyle/>
            <a:p>
              <a:pPr algn="ctr"/>
              <a:endParaRPr/>
            </a:p>
          </p:txBody>
        </p:sp>
        <p:sp>
          <p:nvSpPr>
            <p:cNvPr id="23" name="dome"/>
            <p:cNvSpPr/>
            <p:nvPr/>
          </p:nvSpPr>
          <p:spPr>
            <a:xfrm>
              <a:off x="1611630" y="1964817"/>
              <a:ext cx="114300" cy="57150"/>
            </a:xfrm>
            <a:prstGeom prst="roundRect">
              <a:avLst>
                <a:gd name="adj" fmla="val 40000"/>
              </a:avLst>
            </a:prstGeom>
            <a:solidFill>
              <a:srgbClr val="F28C28"/>
            </a:solidFill>
            <a:ln>
              <a:noFill/>
            </a:ln>
          </p:spPr>
          <p:txBody>
            <a:bodyPr rtlCol="0" anchor="ctr"/>
            <a:lstStyle/>
            <a:p>
              <a:pPr algn="ctr"/>
              <a:endParaRPr/>
            </a:p>
          </p:txBody>
        </p:sp>
        <p:sp>
          <p:nvSpPr>
            <p:cNvPr id="24" name="frame"/>
            <p:cNvSpPr/>
            <p:nvPr/>
          </p:nvSpPr>
          <p:spPr>
            <a:xfrm>
              <a:off x="1188720" y="2267712"/>
              <a:ext cx="914400" cy="34290"/>
            </a:xfrm>
            <a:prstGeom prst="rect">
              <a:avLst/>
            </a:prstGeom>
            <a:solidFill>
              <a:srgbClr val="3A3F47"/>
            </a:solidFill>
            <a:ln w="9525">
              <a:solidFill>
                <a:srgbClr val="9AA0A6"/>
              </a:solidFill>
            </a:ln>
          </p:spPr>
          <p:txBody>
            <a:bodyPr rtlCol="0" anchor="ctr"/>
            <a:lstStyle/>
            <a:p>
              <a:pPr algn="ctr"/>
              <a:endParaRPr/>
            </a:p>
          </p:txBody>
        </p:sp>
        <p:sp>
          <p:nvSpPr>
            <p:cNvPr id="25" name="wheel"/>
            <p:cNvSpPr/>
            <p:nvPr/>
          </p:nvSpPr>
          <p:spPr>
            <a:xfrm>
              <a:off x="1354455" y="2233422"/>
              <a:ext cx="171450" cy="171450"/>
            </a:xfrm>
            <a:prstGeom prst="ellipse">
              <a:avLst/>
            </a:prstGeom>
            <a:solidFill>
              <a:srgbClr val="1B1D21"/>
            </a:solidFill>
            <a:ln w="19050">
              <a:solidFill>
                <a:srgbClr val="9AA0A6"/>
              </a:solidFill>
            </a:ln>
          </p:spPr>
          <p:txBody>
            <a:bodyPr rtlCol="0" anchor="ctr"/>
            <a:lstStyle/>
            <a:p>
              <a:pPr algn="ctr"/>
              <a:endParaRPr/>
            </a:p>
          </p:txBody>
        </p:sp>
        <p:sp>
          <p:nvSpPr>
            <p:cNvPr id="26" name="hub"/>
            <p:cNvSpPr/>
            <p:nvPr/>
          </p:nvSpPr>
          <p:spPr>
            <a:xfrm>
              <a:off x="1419606" y="2298573"/>
              <a:ext cx="41148" cy="41148"/>
            </a:xfrm>
            <a:prstGeom prst="ellipse">
              <a:avLst/>
            </a:prstGeom>
            <a:solidFill>
              <a:srgbClr val="9AA0A6"/>
            </a:solidFill>
            <a:ln>
              <a:noFill/>
            </a:ln>
          </p:spPr>
          <p:txBody>
            <a:bodyPr rtlCol="0" anchor="ctr"/>
            <a:lstStyle/>
            <a:p>
              <a:pPr algn="ctr"/>
              <a:endParaRPr/>
            </a:p>
          </p:txBody>
        </p:sp>
        <p:sp>
          <p:nvSpPr>
            <p:cNvPr id="27" name="wheel"/>
            <p:cNvSpPr/>
            <p:nvPr/>
          </p:nvSpPr>
          <p:spPr>
            <a:xfrm>
              <a:off x="1583055" y="2233422"/>
              <a:ext cx="171450" cy="171450"/>
            </a:xfrm>
            <a:prstGeom prst="ellipse">
              <a:avLst/>
            </a:prstGeom>
            <a:solidFill>
              <a:srgbClr val="1B1D21"/>
            </a:solidFill>
            <a:ln w="19050">
              <a:solidFill>
                <a:srgbClr val="9AA0A6"/>
              </a:solidFill>
            </a:ln>
          </p:spPr>
          <p:txBody>
            <a:bodyPr rtlCol="0" anchor="ctr"/>
            <a:lstStyle/>
            <a:p>
              <a:pPr algn="ctr"/>
              <a:endParaRPr/>
            </a:p>
          </p:txBody>
        </p:sp>
        <p:sp>
          <p:nvSpPr>
            <p:cNvPr id="28" name="hub"/>
            <p:cNvSpPr/>
            <p:nvPr/>
          </p:nvSpPr>
          <p:spPr>
            <a:xfrm>
              <a:off x="1648206" y="2298573"/>
              <a:ext cx="41148" cy="41148"/>
            </a:xfrm>
            <a:prstGeom prst="ellipse">
              <a:avLst/>
            </a:prstGeom>
            <a:solidFill>
              <a:srgbClr val="9AA0A6"/>
            </a:solidFill>
            <a:ln>
              <a:noFill/>
            </a:ln>
          </p:spPr>
          <p:txBody>
            <a:bodyPr rtlCol="0" anchor="ctr"/>
            <a:lstStyle/>
            <a:p>
              <a:pPr algn="ctr"/>
              <a:endParaRPr/>
            </a:p>
          </p:txBody>
        </p:sp>
        <p:sp>
          <p:nvSpPr>
            <p:cNvPr id="29" name="wheel"/>
            <p:cNvSpPr/>
            <p:nvPr/>
          </p:nvSpPr>
          <p:spPr>
            <a:xfrm>
              <a:off x="1811655" y="2233422"/>
              <a:ext cx="171450" cy="171450"/>
            </a:xfrm>
            <a:prstGeom prst="ellipse">
              <a:avLst/>
            </a:prstGeom>
            <a:solidFill>
              <a:srgbClr val="1B1D21"/>
            </a:solidFill>
            <a:ln w="19050">
              <a:solidFill>
                <a:srgbClr val="9AA0A6"/>
              </a:solidFill>
            </a:ln>
          </p:spPr>
          <p:txBody>
            <a:bodyPr rtlCol="0" anchor="ctr"/>
            <a:lstStyle/>
            <a:p>
              <a:pPr algn="ctr"/>
              <a:endParaRPr/>
            </a:p>
          </p:txBody>
        </p:sp>
        <p:sp>
          <p:nvSpPr>
            <p:cNvPr id="30" name="hub"/>
            <p:cNvSpPr/>
            <p:nvPr/>
          </p:nvSpPr>
          <p:spPr>
            <a:xfrm>
              <a:off x="1876806" y="2298573"/>
              <a:ext cx="41148" cy="41148"/>
            </a:xfrm>
            <a:prstGeom prst="ellipse">
              <a:avLst/>
            </a:prstGeom>
            <a:solidFill>
              <a:srgbClr val="9AA0A6"/>
            </a:solidFill>
            <a:ln>
              <a:noFill/>
            </a:ln>
          </p:spPr>
          <p:txBody>
            <a:bodyPr rtlCol="0" anchor="ctr"/>
            <a:lstStyle/>
            <a:p>
              <a:pPr algn="ctr"/>
              <a:endParaRPr/>
            </a:p>
          </p:txBody>
        </p:sp>
        <p:sp>
          <p:nvSpPr>
            <p:cNvPr id="31" name="gap tag"/>
            <p:cNvSpPr/>
            <p:nvPr/>
          </p:nvSpPr>
          <p:spPr>
            <a:xfrm>
              <a:off x="6583680" y="1947672"/>
              <a:ext cx="1554480" cy="365760"/>
            </a:xfrm>
            <a:prstGeom prst="roundRect">
              <a:avLst>
                <a:gd name="adj" fmla="val 25000"/>
              </a:avLst>
            </a:prstGeom>
            <a:solidFill>
              <a:srgbClr val="E5484D"/>
            </a:solidFill>
            <a:ln>
              <a:noFill/>
            </a:ln>
          </p:spPr>
          <p:txBody>
            <a:bodyPr wrap="square" lIns="54864" tIns="27432" rIns="54864" bIns="27432" rtlCol="0" anchor="ctr">
              <a:noAutofit/>
            </a:bodyPr>
            <a:lstStyle/>
            <a:p>
              <a:pPr algn="ctr"/>
              <a:r>
                <a:rPr lang="en-GB" sz="1800" b="1" i="0">
                  <a:solidFill>
                    <a:srgbClr val="101418"/>
                  </a:solidFill>
                  <a:latin typeface="Arial"/>
                </a:rPr>
                <a:t>Too far</a:t>
              </a:r>
            </a:p>
          </p:txBody>
        </p:sp>
        <p:sp>
          <p:nvSpPr>
            <p:cNvPr id="32" name="answer card"/>
            <p:cNvSpPr/>
            <p:nvPr/>
          </p:nvSpPr>
          <p:spPr>
            <a:xfrm>
              <a:off x="548640" y="3246120"/>
              <a:ext cx="2560320" cy="2011680"/>
            </a:xfrm>
            <a:prstGeom prst="roundRect">
              <a:avLst>
                <a:gd name="adj" fmla="val 4545"/>
              </a:avLst>
            </a:prstGeom>
            <a:solidFill>
              <a:srgbClr val="F28C28"/>
            </a:solidFill>
            <a:ln>
              <a:noFill/>
            </a:ln>
          </p:spPr>
          <p:txBody>
            <a:bodyPr rtlCol="0" anchor="ctr"/>
            <a:lstStyle/>
            <a:p>
              <a:pPr algn="ctr"/>
              <a:endParaRPr/>
            </a:p>
          </p:txBody>
        </p:sp>
        <p:sp>
          <p:nvSpPr>
            <p:cNvPr id="33" name="icon aux tender"/>
            <p:cNvSpPr/>
            <p:nvPr/>
          </p:nvSpPr>
          <p:spPr>
            <a:xfrm>
              <a:off x="1097280" y="3749040"/>
              <a:ext cx="1463040" cy="548640"/>
            </a:xfrm>
            <a:prstGeom prst="rect">
              <a:avLst/>
            </a:prstGeom>
            <a:pattFill prst="wdUpDiag">
              <a:fgClr>
                <a:srgbClr val="101418"/>
              </a:fgClr>
              <a:bgClr>
                <a:srgbClr val="F28C28"/>
              </a:bgClr>
            </a:pattFill>
            <a:ln w="25400">
              <a:solidFill>
                <a:srgbClr val="101418"/>
              </a:solidFill>
            </a:ln>
          </p:spPr>
          <p:txBody>
            <a:bodyPr rtlCol="0" anchor="ctr"/>
            <a:lstStyle/>
            <a:p>
              <a:pPr algn="ctr"/>
              <a:endParaRPr/>
            </a:p>
          </p:txBody>
        </p:sp>
        <p:sp>
          <p:nvSpPr>
            <p:cNvPr id="34" name="answer label"/>
            <p:cNvSpPr txBox="1"/>
            <p:nvPr/>
          </p:nvSpPr>
          <p:spPr>
            <a:xfrm>
              <a:off x="640080" y="4572000"/>
              <a:ext cx="2377440" cy="457200"/>
            </a:xfrm>
            <a:prstGeom prst="rect">
              <a:avLst/>
            </a:prstGeom>
            <a:noFill/>
          </p:spPr>
          <p:txBody>
            <a:bodyPr wrap="square" lIns="18288" tIns="9144" rIns="18288" bIns="9144" anchor="ctr">
              <a:noAutofit/>
            </a:bodyPr>
            <a:lstStyle/>
            <a:p>
              <a:pPr algn="ctr"/>
              <a:r>
                <a:rPr lang="en-GB" sz="2000" b="1" i="0">
                  <a:solidFill>
                    <a:srgbClr val="101418"/>
                  </a:solidFill>
                  <a:latin typeface="Arial"/>
                </a:rPr>
                <a:t>Auxiliary tender</a:t>
              </a:r>
            </a:p>
          </p:txBody>
        </p:sp>
        <p:sp>
          <p:nvSpPr>
            <p:cNvPr id="35" name="answer card"/>
            <p:cNvSpPr/>
            <p:nvPr/>
          </p:nvSpPr>
          <p:spPr>
            <a:xfrm>
              <a:off x="3392424" y="3246120"/>
              <a:ext cx="2560320" cy="2011680"/>
            </a:xfrm>
            <a:prstGeom prst="roundRect">
              <a:avLst>
                <a:gd name="adj" fmla="val 4545"/>
              </a:avLst>
            </a:prstGeom>
            <a:solidFill>
              <a:srgbClr val="F28C28"/>
            </a:solidFill>
            <a:ln>
              <a:noFill/>
            </a:ln>
          </p:spPr>
          <p:txBody>
            <a:bodyPr rtlCol="0" anchor="ctr"/>
            <a:lstStyle/>
            <a:p>
              <a:pPr algn="ctr"/>
              <a:endParaRPr/>
            </a:p>
          </p:txBody>
        </p:sp>
        <p:sp>
          <p:nvSpPr>
            <p:cNvPr id="36" name="icon drop"/>
            <p:cNvSpPr/>
            <p:nvPr/>
          </p:nvSpPr>
          <p:spPr>
            <a:xfrm>
              <a:off x="4423221" y="3611880"/>
              <a:ext cx="498725" cy="723207"/>
            </a:xfrm>
            <a:custGeom>
              <a:avLst/>
              <a:gdLst/>
              <a:ahLst/>
              <a:cxnLst/>
              <a:rect l="l" t="t" r="r" b="b"/>
              <a:pathLst>
                <a:path w="498725" h="723207">
                  <a:moveTo>
                    <a:pt x="249362" y="0"/>
                  </a:moveTo>
                  <a:lnTo>
                    <a:pt x="461409" y="342571"/>
                  </a:lnTo>
                  <a:lnTo>
                    <a:pt x="477817" y="373827"/>
                  </a:lnTo>
                  <a:lnTo>
                    <a:pt x="489648" y="407086"/>
                  </a:lnTo>
                  <a:lnTo>
                    <a:pt x="496664" y="441682"/>
                  </a:lnTo>
                  <a:lnTo>
                    <a:pt x="498725" y="476922"/>
                  </a:lnTo>
                  <a:lnTo>
                    <a:pt x="495790" y="512101"/>
                  </a:lnTo>
                  <a:lnTo>
                    <a:pt x="487916" y="546512"/>
                  </a:lnTo>
                  <a:lnTo>
                    <a:pt x="475263" y="579467"/>
                  </a:lnTo>
                  <a:lnTo>
                    <a:pt x="458084" y="610305"/>
                  </a:lnTo>
                  <a:lnTo>
                    <a:pt x="436722" y="638408"/>
                  </a:lnTo>
                  <a:lnTo>
                    <a:pt x="411606" y="663214"/>
                  </a:lnTo>
                  <a:lnTo>
                    <a:pt x="383240" y="684225"/>
                  </a:lnTo>
                  <a:lnTo>
                    <a:pt x="352190" y="701020"/>
                  </a:lnTo>
                  <a:lnTo>
                    <a:pt x="319081" y="713263"/>
                  </a:lnTo>
                  <a:lnTo>
                    <a:pt x="284574" y="720708"/>
                  </a:lnTo>
                  <a:lnTo>
                    <a:pt x="249362" y="723207"/>
                  </a:lnTo>
                  <a:lnTo>
                    <a:pt x="214151" y="720708"/>
                  </a:lnTo>
                  <a:lnTo>
                    <a:pt x="179644" y="713263"/>
                  </a:lnTo>
                  <a:lnTo>
                    <a:pt x="146535" y="701020"/>
                  </a:lnTo>
                  <a:lnTo>
                    <a:pt x="115485" y="684225"/>
                  </a:lnTo>
                  <a:lnTo>
                    <a:pt x="87119" y="663214"/>
                  </a:lnTo>
                  <a:lnTo>
                    <a:pt x="62003" y="638408"/>
                  </a:lnTo>
                  <a:lnTo>
                    <a:pt x="40641" y="610305"/>
                  </a:lnTo>
                  <a:lnTo>
                    <a:pt x="23462" y="579467"/>
                  </a:lnTo>
                  <a:lnTo>
                    <a:pt x="10809" y="546512"/>
                  </a:lnTo>
                  <a:lnTo>
                    <a:pt x="2935" y="512101"/>
                  </a:lnTo>
                  <a:lnTo>
                    <a:pt x="0" y="476922"/>
                  </a:lnTo>
                  <a:lnTo>
                    <a:pt x="2061" y="441682"/>
                  </a:lnTo>
                  <a:lnTo>
                    <a:pt x="9077" y="407086"/>
                  </a:lnTo>
                  <a:lnTo>
                    <a:pt x="20908" y="373827"/>
                  </a:lnTo>
                  <a:lnTo>
                    <a:pt x="37316" y="342571"/>
                  </a:lnTo>
                  <a:close/>
                </a:path>
              </a:pathLst>
            </a:custGeom>
            <a:solidFill>
              <a:srgbClr val="101418"/>
            </a:solidFill>
            <a:ln>
              <a:noFill/>
            </a:ln>
          </p:spPr>
          <p:txBody>
            <a:bodyPr rtlCol="0" anchor="ctr"/>
            <a:lstStyle/>
            <a:p>
              <a:pPr algn="ctr"/>
              <a:endParaRPr/>
            </a:p>
          </p:txBody>
        </p:sp>
        <p:sp>
          <p:nvSpPr>
            <p:cNvPr id="37" name="answer label"/>
            <p:cNvSpPr txBox="1"/>
            <p:nvPr/>
          </p:nvSpPr>
          <p:spPr>
            <a:xfrm>
              <a:off x="3483864" y="4572000"/>
              <a:ext cx="2377440" cy="457200"/>
            </a:xfrm>
            <a:prstGeom prst="rect">
              <a:avLst/>
            </a:prstGeom>
            <a:noFill/>
          </p:spPr>
          <p:txBody>
            <a:bodyPr wrap="square" lIns="18288" tIns="9144" rIns="18288" bIns="9144" anchor="ctr">
              <a:noAutofit/>
            </a:bodyPr>
            <a:lstStyle/>
            <a:p>
              <a:pPr algn="ctr"/>
              <a:r>
                <a:rPr lang="en-GB" sz="2000" b="1" i="0">
                  <a:solidFill>
                    <a:srgbClr val="101418"/>
                  </a:solidFill>
                  <a:latin typeface="Arial"/>
                </a:rPr>
                <a:t>Water stop</a:t>
              </a:r>
            </a:p>
          </p:txBody>
        </p:sp>
        <p:sp>
          <p:nvSpPr>
            <p:cNvPr id="38" name="answer card"/>
            <p:cNvSpPr/>
            <p:nvPr/>
          </p:nvSpPr>
          <p:spPr>
            <a:xfrm>
              <a:off x="6236207" y="3246120"/>
              <a:ext cx="2560320" cy="2011680"/>
            </a:xfrm>
            <a:prstGeom prst="roundRect">
              <a:avLst>
                <a:gd name="adj" fmla="val 4545"/>
              </a:avLst>
            </a:prstGeom>
            <a:solidFill>
              <a:srgbClr val="F28C28"/>
            </a:solidFill>
            <a:ln>
              <a:noFill/>
            </a:ln>
          </p:spPr>
          <p:txBody>
            <a:bodyPr rtlCol="0" anchor="ctr"/>
            <a:lstStyle/>
            <a:p>
              <a:pPr algn="ctr"/>
              <a:endParaRPr/>
            </a:p>
          </p:txBody>
        </p:sp>
        <p:sp>
          <p:nvSpPr>
            <p:cNvPr id="39" name="icon drop"/>
            <p:cNvSpPr/>
            <p:nvPr/>
          </p:nvSpPr>
          <p:spPr>
            <a:xfrm>
              <a:off x="6928952" y="3657600"/>
              <a:ext cx="443311" cy="642850"/>
            </a:xfrm>
            <a:custGeom>
              <a:avLst/>
              <a:gdLst/>
              <a:ahLst/>
              <a:cxnLst/>
              <a:rect l="l" t="t" r="r" b="b"/>
              <a:pathLst>
                <a:path w="443311" h="642850">
                  <a:moveTo>
                    <a:pt x="221655" y="0"/>
                  </a:moveTo>
                  <a:lnTo>
                    <a:pt x="410141" y="304508"/>
                  </a:lnTo>
                  <a:lnTo>
                    <a:pt x="424727" y="332290"/>
                  </a:lnTo>
                  <a:lnTo>
                    <a:pt x="435243" y="361854"/>
                  </a:lnTo>
                  <a:lnTo>
                    <a:pt x="441479" y="392606"/>
                  </a:lnTo>
                  <a:lnTo>
                    <a:pt x="443311" y="423931"/>
                  </a:lnTo>
                  <a:lnTo>
                    <a:pt x="440702" y="455200"/>
                  </a:lnTo>
                  <a:lnTo>
                    <a:pt x="433703" y="485788"/>
                  </a:lnTo>
                  <a:lnTo>
                    <a:pt x="422456" y="515081"/>
                  </a:lnTo>
                  <a:lnTo>
                    <a:pt x="407185" y="542493"/>
                  </a:lnTo>
                  <a:lnTo>
                    <a:pt x="388197" y="567474"/>
                  </a:lnTo>
                  <a:lnTo>
                    <a:pt x="365872" y="589524"/>
                  </a:lnTo>
                  <a:lnTo>
                    <a:pt x="340657" y="608200"/>
                  </a:lnTo>
                  <a:lnTo>
                    <a:pt x="313058" y="623129"/>
                  </a:lnTo>
                  <a:lnTo>
                    <a:pt x="283627" y="634012"/>
                  </a:lnTo>
                  <a:lnTo>
                    <a:pt x="252955" y="640630"/>
                  </a:lnTo>
                  <a:lnTo>
                    <a:pt x="221655" y="642850"/>
                  </a:lnTo>
                  <a:lnTo>
                    <a:pt x="190356" y="640630"/>
                  </a:lnTo>
                  <a:lnTo>
                    <a:pt x="159684" y="634012"/>
                  </a:lnTo>
                  <a:lnTo>
                    <a:pt x="130253" y="623129"/>
                  </a:lnTo>
                  <a:lnTo>
                    <a:pt x="102654" y="608200"/>
                  </a:lnTo>
                  <a:lnTo>
                    <a:pt x="77439" y="589524"/>
                  </a:lnTo>
                  <a:lnTo>
                    <a:pt x="55114" y="567474"/>
                  </a:lnTo>
                  <a:lnTo>
                    <a:pt x="36126" y="542493"/>
                  </a:lnTo>
                  <a:lnTo>
                    <a:pt x="20855" y="515081"/>
                  </a:lnTo>
                  <a:lnTo>
                    <a:pt x="9608" y="485788"/>
                  </a:lnTo>
                  <a:lnTo>
                    <a:pt x="2609" y="455200"/>
                  </a:lnTo>
                  <a:lnTo>
                    <a:pt x="0" y="423931"/>
                  </a:lnTo>
                  <a:lnTo>
                    <a:pt x="1832" y="392606"/>
                  </a:lnTo>
                  <a:lnTo>
                    <a:pt x="8068" y="361854"/>
                  </a:lnTo>
                  <a:lnTo>
                    <a:pt x="18584" y="332290"/>
                  </a:lnTo>
                  <a:lnTo>
                    <a:pt x="33170" y="304508"/>
                  </a:lnTo>
                  <a:close/>
                </a:path>
              </a:pathLst>
            </a:custGeom>
            <a:solidFill>
              <a:srgbClr val="101418"/>
            </a:solidFill>
            <a:ln>
              <a:noFill/>
            </a:ln>
          </p:spPr>
          <p:txBody>
            <a:bodyPr rtlCol="0" anchor="ctr"/>
            <a:lstStyle/>
            <a:p>
              <a:pPr algn="ctr"/>
              <a:endParaRPr/>
            </a:p>
          </p:txBody>
        </p:sp>
        <p:sp>
          <p:nvSpPr>
            <p:cNvPr id="40" name="icon heap"/>
            <p:cNvSpPr/>
            <p:nvPr/>
          </p:nvSpPr>
          <p:spPr>
            <a:xfrm>
              <a:off x="7539227" y="3946779"/>
              <a:ext cx="777240" cy="427482"/>
            </a:xfrm>
            <a:custGeom>
              <a:avLst/>
              <a:gdLst/>
              <a:ahLst/>
              <a:cxnLst/>
              <a:rect l="l" t="t" r="r" b="b"/>
              <a:pathLst>
                <a:path w="777240" h="427482">
                  <a:moveTo>
                    <a:pt x="0" y="427482"/>
                  </a:moveTo>
                  <a:lnTo>
                    <a:pt x="170993" y="170992"/>
                  </a:lnTo>
                  <a:lnTo>
                    <a:pt x="349758" y="0"/>
                  </a:lnTo>
                  <a:lnTo>
                    <a:pt x="544068" y="128244"/>
                  </a:lnTo>
                  <a:lnTo>
                    <a:pt x="777240" y="427482"/>
                  </a:lnTo>
                  <a:close/>
                </a:path>
              </a:pathLst>
            </a:custGeom>
            <a:solidFill>
              <a:srgbClr val="101418"/>
            </a:solidFill>
            <a:ln w="25400">
              <a:solidFill>
                <a:srgbClr val="101418"/>
              </a:solidFill>
            </a:ln>
          </p:spPr>
          <p:txBody>
            <a:bodyPr rtlCol="0" anchor="ctr"/>
            <a:lstStyle/>
            <a:p>
              <a:pPr algn="ctr"/>
              <a:endParaRPr/>
            </a:p>
          </p:txBody>
        </p:sp>
        <p:sp>
          <p:nvSpPr>
            <p:cNvPr id="41" name="answer label"/>
            <p:cNvSpPr txBox="1"/>
            <p:nvPr/>
          </p:nvSpPr>
          <p:spPr>
            <a:xfrm>
              <a:off x="6327647" y="4572000"/>
              <a:ext cx="2377440" cy="457200"/>
            </a:xfrm>
            <a:prstGeom prst="rect">
              <a:avLst/>
            </a:prstGeom>
            <a:noFill/>
          </p:spPr>
          <p:txBody>
            <a:bodyPr wrap="square" lIns="18288" tIns="9144" rIns="18288" bIns="9144" anchor="ctr">
              <a:noAutofit/>
            </a:bodyPr>
            <a:lstStyle/>
            <a:p>
              <a:pPr algn="ctr"/>
              <a:r>
                <a:rPr lang="en-GB" sz="2000" b="1" i="0">
                  <a:solidFill>
                    <a:srgbClr val="101418"/>
                  </a:solidFill>
                  <a:latin typeface="Arial"/>
                </a:rPr>
                <a:t>Service point</a:t>
              </a:r>
            </a:p>
          </p:txBody>
        </p:sp>
        <p:sp>
          <p:nvSpPr>
            <p:cNvPr id="42" name="answer card"/>
            <p:cNvSpPr/>
            <p:nvPr/>
          </p:nvSpPr>
          <p:spPr>
            <a:xfrm>
              <a:off x="9079992" y="3246120"/>
              <a:ext cx="2560320" cy="2011680"/>
            </a:xfrm>
            <a:prstGeom prst="roundRect">
              <a:avLst>
                <a:gd name="adj" fmla="val 4545"/>
              </a:avLst>
            </a:prstGeom>
            <a:solidFill>
              <a:srgbClr val="F28C28"/>
            </a:solidFill>
            <a:ln>
              <a:noFill/>
            </a:ln>
          </p:spPr>
          <p:txBody>
            <a:bodyPr rtlCol="0" anchor="ctr"/>
            <a:lstStyle/>
            <a:p>
              <a:pPr algn="ctr"/>
              <a:endParaRPr/>
            </a:p>
          </p:txBody>
        </p:sp>
        <p:sp>
          <p:nvSpPr>
            <p:cNvPr id="43" name="bunker"/>
            <p:cNvSpPr/>
            <p:nvPr/>
          </p:nvSpPr>
          <p:spPr>
            <a:xfrm>
              <a:off x="9308592" y="4070908"/>
              <a:ext cx="138988" cy="138988"/>
            </a:xfrm>
            <a:prstGeom prst="roundRect">
              <a:avLst>
                <a:gd name="adj" fmla="val 2631"/>
              </a:avLst>
            </a:prstGeom>
            <a:solidFill>
              <a:srgbClr val="101418"/>
            </a:solidFill>
            <a:ln>
              <a:noFill/>
            </a:ln>
          </p:spPr>
          <p:txBody>
            <a:bodyPr rtlCol="0" anchor="ctr"/>
            <a:lstStyle/>
            <a:p>
              <a:pPr algn="ctr"/>
              <a:endParaRPr/>
            </a:p>
          </p:txBody>
        </p:sp>
        <p:sp>
          <p:nvSpPr>
            <p:cNvPr id="44" name="bunker coal"/>
            <p:cNvSpPr/>
            <p:nvPr/>
          </p:nvSpPr>
          <p:spPr>
            <a:xfrm>
              <a:off x="9323222" y="4045305"/>
              <a:ext cx="109728" cy="32918"/>
            </a:xfrm>
            <a:prstGeom prst="rect">
              <a:avLst/>
            </a:prstGeom>
            <a:solidFill>
              <a:srgbClr val="1B1D21"/>
            </a:solidFill>
            <a:ln w="12700">
              <a:solidFill>
                <a:srgbClr val="9AA0A6"/>
              </a:solidFill>
            </a:ln>
          </p:spPr>
          <p:txBody>
            <a:bodyPr rtlCol="0" anchor="ctr"/>
            <a:lstStyle/>
            <a:p>
              <a:pPr algn="ctr"/>
              <a:endParaRPr/>
            </a:p>
          </p:txBody>
        </p:sp>
        <p:sp>
          <p:nvSpPr>
            <p:cNvPr id="45" name="cab"/>
            <p:cNvSpPr/>
            <p:nvPr/>
          </p:nvSpPr>
          <p:spPr>
            <a:xfrm>
              <a:off x="9440265" y="4005072"/>
              <a:ext cx="146304" cy="204825"/>
            </a:xfrm>
            <a:prstGeom prst="roundRect">
              <a:avLst>
                <a:gd name="adj" fmla="val 2500"/>
              </a:avLst>
            </a:prstGeom>
            <a:solidFill>
              <a:srgbClr val="101418"/>
            </a:solidFill>
            <a:ln>
              <a:noFill/>
            </a:ln>
          </p:spPr>
          <p:txBody>
            <a:bodyPr rtlCol="0" anchor="ctr"/>
            <a:lstStyle/>
            <a:p>
              <a:pPr algn="ctr"/>
              <a:endParaRPr/>
            </a:p>
          </p:txBody>
        </p:sp>
        <p:sp>
          <p:nvSpPr>
            <p:cNvPr id="46" name="cab roof"/>
            <p:cNvSpPr/>
            <p:nvPr/>
          </p:nvSpPr>
          <p:spPr>
            <a:xfrm>
              <a:off x="9432950" y="3994099"/>
              <a:ext cx="160934" cy="16093"/>
            </a:xfrm>
            <a:prstGeom prst="rect">
              <a:avLst/>
            </a:prstGeom>
            <a:solidFill>
              <a:srgbClr val="3A3F47"/>
            </a:solidFill>
            <a:ln w="9525">
              <a:solidFill>
                <a:srgbClr val="9AA0A6"/>
              </a:solidFill>
            </a:ln>
          </p:spPr>
          <p:txBody>
            <a:bodyPr rtlCol="0" anchor="ctr"/>
            <a:lstStyle/>
            <a:p>
              <a:pPr algn="ctr"/>
              <a:endParaRPr/>
            </a:p>
          </p:txBody>
        </p:sp>
        <p:sp>
          <p:nvSpPr>
            <p:cNvPr id="47" name="cab window"/>
            <p:cNvSpPr/>
            <p:nvPr/>
          </p:nvSpPr>
          <p:spPr>
            <a:xfrm>
              <a:off x="9469526" y="4045305"/>
              <a:ext cx="87782" cy="65836"/>
            </a:xfrm>
            <a:prstGeom prst="rect">
              <a:avLst/>
            </a:prstGeom>
            <a:solidFill>
              <a:srgbClr val="1B1D21"/>
            </a:solidFill>
            <a:ln>
              <a:noFill/>
            </a:ln>
          </p:spPr>
          <p:txBody>
            <a:bodyPr rtlCol="0" anchor="ctr"/>
            <a:lstStyle/>
            <a:p>
              <a:pPr algn="ctr"/>
              <a:endParaRPr/>
            </a:p>
          </p:txBody>
        </p:sp>
        <p:sp>
          <p:nvSpPr>
            <p:cNvPr id="48" name="boiler"/>
            <p:cNvSpPr/>
            <p:nvPr/>
          </p:nvSpPr>
          <p:spPr>
            <a:xfrm>
              <a:off x="9586569" y="4048963"/>
              <a:ext cx="438912" cy="160934"/>
            </a:xfrm>
            <a:prstGeom prst="roundRect">
              <a:avLst>
                <a:gd name="adj" fmla="val 27272"/>
              </a:avLst>
            </a:prstGeom>
            <a:solidFill>
              <a:srgbClr val="101418"/>
            </a:solidFill>
            <a:ln>
              <a:noFill/>
            </a:ln>
          </p:spPr>
          <p:txBody>
            <a:bodyPr rtlCol="0" anchor="ctr"/>
            <a:lstStyle/>
            <a:p>
              <a:pPr algn="ctr"/>
              <a:endParaRPr/>
            </a:p>
          </p:txBody>
        </p:sp>
        <p:sp>
          <p:nvSpPr>
            <p:cNvPr id="49" name="side tank"/>
            <p:cNvSpPr/>
            <p:nvPr/>
          </p:nvSpPr>
          <p:spPr>
            <a:xfrm>
              <a:off x="9593884" y="4100169"/>
              <a:ext cx="336499" cy="109728"/>
            </a:xfrm>
            <a:prstGeom prst="roundRect">
              <a:avLst>
                <a:gd name="adj" fmla="val 13333"/>
              </a:avLst>
            </a:prstGeom>
            <a:solidFill>
              <a:srgbClr val="C96F1B"/>
            </a:solidFill>
            <a:ln>
              <a:noFill/>
            </a:ln>
          </p:spPr>
          <p:txBody>
            <a:bodyPr rtlCol="0" anchor="ctr"/>
            <a:lstStyle/>
            <a:p>
              <a:pPr algn="ctr"/>
              <a:endParaRPr/>
            </a:p>
          </p:txBody>
        </p:sp>
        <p:sp>
          <p:nvSpPr>
            <p:cNvPr id="50" name="chimney"/>
            <p:cNvSpPr/>
            <p:nvPr/>
          </p:nvSpPr>
          <p:spPr>
            <a:xfrm>
              <a:off x="9930384" y="3983126"/>
              <a:ext cx="51206" cy="69494"/>
            </a:xfrm>
            <a:prstGeom prst="rect">
              <a:avLst/>
            </a:prstGeom>
            <a:solidFill>
              <a:srgbClr val="3A3F47"/>
            </a:solidFill>
            <a:ln w="9525">
              <a:solidFill>
                <a:srgbClr val="9AA0A6"/>
              </a:solidFill>
            </a:ln>
          </p:spPr>
          <p:txBody>
            <a:bodyPr rtlCol="0" anchor="ctr"/>
            <a:lstStyle/>
            <a:p>
              <a:pPr algn="ctr"/>
              <a:endParaRPr/>
            </a:p>
          </p:txBody>
        </p:sp>
        <p:sp>
          <p:nvSpPr>
            <p:cNvPr id="51" name="chimney lip"/>
            <p:cNvSpPr/>
            <p:nvPr/>
          </p:nvSpPr>
          <p:spPr>
            <a:xfrm>
              <a:off x="9919411" y="3975811"/>
              <a:ext cx="73152" cy="14630"/>
            </a:xfrm>
            <a:prstGeom prst="rect">
              <a:avLst/>
            </a:prstGeom>
            <a:solidFill>
              <a:srgbClr val="3A3F47"/>
            </a:solidFill>
            <a:ln w="9525">
              <a:solidFill>
                <a:srgbClr val="9AA0A6"/>
              </a:solidFill>
            </a:ln>
          </p:spPr>
          <p:txBody>
            <a:bodyPr rtlCol="0" anchor="ctr"/>
            <a:lstStyle/>
            <a:p>
              <a:pPr algn="ctr"/>
              <a:endParaRPr/>
            </a:p>
          </p:txBody>
        </p:sp>
        <p:sp>
          <p:nvSpPr>
            <p:cNvPr id="52" name="dome"/>
            <p:cNvSpPr/>
            <p:nvPr/>
          </p:nvSpPr>
          <p:spPr>
            <a:xfrm>
              <a:off x="9945014" y="4034332"/>
              <a:ext cx="73152" cy="18288"/>
            </a:xfrm>
            <a:prstGeom prst="roundRect">
              <a:avLst>
                <a:gd name="adj" fmla="val 50000"/>
              </a:avLst>
            </a:prstGeom>
            <a:solidFill>
              <a:srgbClr val="101418"/>
            </a:solidFill>
            <a:ln>
              <a:noFill/>
            </a:ln>
          </p:spPr>
          <p:txBody>
            <a:bodyPr rtlCol="0" anchor="ctr"/>
            <a:lstStyle/>
            <a:p>
              <a:pPr algn="ctr"/>
              <a:endParaRPr/>
            </a:p>
          </p:txBody>
        </p:sp>
        <p:sp>
          <p:nvSpPr>
            <p:cNvPr id="53" name="frame"/>
            <p:cNvSpPr/>
            <p:nvPr/>
          </p:nvSpPr>
          <p:spPr>
            <a:xfrm>
              <a:off x="9440265" y="4209897"/>
              <a:ext cx="585216" cy="21945"/>
            </a:xfrm>
            <a:prstGeom prst="rect">
              <a:avLst/>
            </a:prstGeom>
            <a:solidFill>
              <a:srgbClr val="3A3F47"/>
            </a:solidFill>
            <a:ln w="9525">
              <a:solidFill>
                <a:srgbClr val="9AA0A6"/>
              </a:solidFill>
            </a:ln>
          </p:spPr>
          <p:txBody>
            <a:bodyPr rtlCol="0" anchor="ctr"/>
            <a:lstStyle/>
            <a:p>
              <a:pPr algn="ctr"/>
              <a:endParaRPr/>
            </a:p>
          </p:txBody>
        </p:sp>
        <p:sp>
          <p:nvSpPr>
            <p:cNvPr id="54" name="wheel"/>
            <p:cNvSpPr/>
            <p:nvPr/>
          </p:nvSpPr>
          <p:spPr>
            <a:xfrm>
              <a:off x="9531705" y="4187952"/>
              <a:ext cx="109728" cy="109728"/>
            </a:xfrm>
            <a:prstGeom prst="ellipse">
              <a:avLst/>
            </a:prstGeom>
            <a:solidFill>
              <a:srgbClr val="1B1D21"/>
            </a:solidFill>
            <a:ln w="19050">
              <a:solidFill>
                <a:srgbClr val="9AA0A6"/>
              </a:solidFill>
            </a:ln>
          </p:spPr>
          <p:txBody>
            <a:bodyPr rtlCol="0" anchor="ctr"/>
            <a:lstStyle/>
            <a:p>
              <a:pPr algn="ctr"/>
              <a:endParaRPr/>
            </a:p>
          </p:txBody>
        </p:sp>
        <p:sp>
          <p:nvSpPr>
            <p:cNvPr id="55" name="hub"/>
            <p:cNvSpPr/>
            <p:nvPr/>
          </p:nvSpPr>
          <p:spPr>
            <a:xfrm>
              <a:off x="9573402" y="4229648"/>
              <a:ext cx="26334" cy="26334"/>
            </a:xfrm>
            <a:prstGeom prst="ellipse">
              <a:avLst/>
            </a:prstGeom>
            <a:solidFill>
              <a:srgbClr val="9AA0A6"/>
            </a:solidFill>
            <a:ln>
              <a:noFill/>
            </a:ln>
          </p:spPr>
          <p:txBody>
            <a:bodyPr rtlCol="0" anchor="ctr"/>
            <a:lstStyle/>
            <a:p>
              <a:pPr algn="ctr"/>
              <a:endParaRPr/>
            </a:p>
          </p:txBody>
        </p:sp>
        <p:sp>
          <p:nvSpPr>
            <p:cNvPr id="56" name="wheel"/>
            <p:cNvSpPr/>
            <p:nvPr/>
          </p:nvSpPr>
          <p:spPr>
            <a:xfrm>
              <a:off x="9678009" y="4187952"/>
              <a:ext cx="109728" cy="109728"/>
            </a:xfrm>
            <a:prstGeom prst="ellipse">
              <a:avLst/>
            </a:prstGeom>
            <a:solidFill>
              <a:srgbClr val="1B1D21"/>
            </a:solidFill>
            <a:ln w="19050">
              <a:solidFill>
                <a:srgbClr val="9AA0A6"/>
              </a:solidFill>
            </a:ln>
          </p:spPr>
          <p:txBody>
            <a:bodyPr rtlCol="0" anchor="ctr"/>
            <a:lstStyle/>
            <a:p>
              <a:pPr algn="ctr"/>
              <a:endParaRPr/>
            </a:p>
          </p:txBody>
        </p:sp>
        <p:sp>
          <p:nvSpPr>
            <p:cNvPr id="57" name="hub"/>
            <p:cNvSpPr/>
            <p:nvPr/>
          </p:nvSpPr>
          <p:spPr>
            <a:xfrm>
              <a:off x="9719706" y="4229648"/>
              <a:ext cx="26334" cy="26334"/>
            </a:xfrm>
            <a:prstGeom prst="ellipse">
              <a:avLst/>
            </a:prstGeom>
            <a:solidFill>
              <a:srgbClr val="9AA0A6"/>
            </a:solidFill>
            <a:ln>
              <a:noFill/>
            </a:ln>
          </p:spPr>
          <p:txBody>
            <a:bodyPr rtlCol="0" anchor="ctr"/>
            <a:lstStyle/>
            <a:p>
              <a:pPr algn="ctr"/>
              <a:endParaRPr/>
            </a:p>
          </p:txBody>
        </p:sp>
        <p:sp>
          <p:nvSpPr>
            <p:cNvPr id="58" name="wheel"/>
            <p:cNvSpPr/>
            <p:nvPr/>
          </p:nvSpPr>
          <p:spPr>
            <a:xfrm>
              <a:off x="9824313" y="4187952"/>
              <a:ext cx="109728" cy="109728"/>
            </a:xfrm>
            <a:prstGeom prst="ellipse">
              <a:avLst/>
            </a:prstGeom>
            <a:solidFill>
              <a:srgbClr val="1B1D21"/>
            </a:solidFill>
            <a:ln w="19050">
              <a:solidFill>
                <a:srgbClr val="9AA0A6"/>
              </a:solidFill>
            </a:ln>
          </p:spPr>
          <p:txBody>
            <a:bodyPr rtlCol="0" anchor="ctr"/>
            <a:lstStyle/>
            <a:p>
              <a:pPr algn="ctr"/>
              <a:endParaRPr/>
            </a:p>
          </p:txBody>
        </p:sp>
        <p:sp>
          <p:nvSpPr>
            <p:cNvPr id="59" name="hub"/>
            <p:cNvSpPr/>
            <p:nvPr/>
          </p:nvSpPr>
          <p:spPr>
            <a:xfrm>
              <a:off x="9866010" y="4229648"/>
              <a:ext cx="26334" cy="26334"/>
            </a:xfrm>
            <a:prstGeom prst="ellipse">
              <a:avLst/>
            </a:prstGeom>
            <a:solidFill>
              <a:srgbClr val="9AA0A6"/>
            </a:solidFill>
            <a:ln>
              <a:noFill/>
            </a:ln>
          </p:spPr>
          <p:txBody>
            <a:bodyPr rtlCol="0" anchor="ctr"/>
            <a:lstStyle/>
            <a:p>
              <a:pPr algn="ctr"/>
              <a:endParaRPr/>
            </a:p>
          </p:txBody>
        </p:sp>
        <p:sp>
          <p:nvSpPr>
            <p:cNvPr id="60" name="tender body"/>
            <p:cNvSpPr/>
            <p:nvPr/>
          </p:nvSpPr>
          <p:spPr>
            <a:xfrm>
              <a:off x="10177272" y="3978783"/>
              <a:ext cx="390906" cy="195453"/>
            </a:xfrm>
            <a:prstGeom prst="roundRect">
              <a:avLst>
                <a:gd name="adj" fmla="val 2631"/>
              </a:avLst>
            </a:prstGeom>
            <a:solidFill>
              <a:srgbClr val="6C7480"/>
            </a:solidFill>
            <a:ln>
              <a:noFill/>
            </a:ln>
          </p:spPr>
          <p:txBody>
            <a:bodyPr rtlCol="0" anchor="ctr"/>
            <a:lstStyle/>
            <a:p>
              <a:pPr algn="ctr"/>
              <a:endParaRPr/>
            </a:p>
          </p:txBody>
        </p:sp>
        <p:sp>
          <p:nvSpPr>
            <p:cNvPr id="61" name="tender coal"/>
            <p:cNvSpPr/>
            <p:nvPr/>
          </p:nvSpPr>
          <p:spPr>
            <a:xfrm>
              <a:off x="10208133" y="3942778"/>
              <a:ext cx="329184" cy="46291"/>
            </a:xfrm>
            <a:prstGeom prst="rect">
              <a:avLst/>
            </a:prstGeom>
            <a:solidFill>
              <a:srgbClr val="1B1D21"/>
            </a:solidFill>
            <a:ln w="12700">
              <a:solidFill>
                <a:srgbClr val="9AA0A6"/>
              </a:solidFill>
            </a:ln>
          </p:spPr>
          <p:txBody>
            <a:bodyPr rtlCol="0" anchor="ctr"/>
            <a:lstStyle/>
            <a:p>
              <a:pPr algn="ctr"/>
              <a:endParaRPr/>
            </a:p>
          </p:txBody>
        </p:sp>
        <p:sp>
          <p:nvSpPr>
            <p:cNvPr id="62" name="tender frame"/>
            <p:cNvSpPr/>
            <p:nvPr/>
          </p:nvSpPr>
          <p:spPr>
            <a:xfrm>
              <a:off x="10177272" y="4174236"/>
              <a:ext cx="390906" cy="30861"/>
            </a:xfrm>
            <a:prstGeom prst="rect">
              <a:avLst/>
            </a:prstGeom>
            <a:solidFill>
              <a:srgbClr val="3A3F47"/>
            </a:solidFill>
            <a:ln w="9525">
              <a:solidFill>
                <a:srgbClr val="9AA0A6"/>
              </a:solidFill>
            </a:ln>
          </p:spPr>
          <p:txBody>
            <a:bodyPr rtlCol="0" anchor="ctr"/>
            <a:lstStyle/>
            <a:p>
              <a:pPr algn="ctr"/>
              <a:endParaRPr/>
            </a:p>
          </p:txBody>
        </p:sp>
        <p:sp>
          <p:nvSpPr>
            <p:cNvPr id="63" name="coupling"/>
            <p:cNvSpPr/>
            <p:nvPr/>
          </p:nvSpPr>
          <p:spPr>
            <a:xfrm>
              <a:off x="10568178" y="4112514"/>
              <a:ext cx="41148" cy="20574"/>
            </a:xfrm>
            <a:prstGeom prst="rect">
              <a:avLst/>
            </a:prstGeom>
            <a:solidFill>
              <a:srgbClr val="9AA0A6"/>
            </a:solidFill>
            <a:ln>
              <a:noFill/>
            </a:ln>
          </p:spPr>
          <p:txBody>
            <a:bodyPr rtlCol="0" anchor="ctr"/>
            <a:lstStyle/>
            <a:p>
              <a:pPr algn="ctr"/>
              <a:endParaRPr/>
            </a:p>
          </p:txBody>
        </p:sp>
        <p:sp>
          <p:nvSpPr>
            <p:cNvPr id="64" name="wheel"/>
            <p:cNvSpPr/>
            <p:nvPr/>
          </p:nvSpPr>
          <p:spPr>
            <a:xfrm>
              <a:off x="10192702" y="4143375"/>
              <a:ext cx="154305" cy="154305"/>
            </a:xfrm>
            <a:prstGeom prst="ellipse">
              <a:avLst/>
            </a:prstGeom>
            <a:solidFill>
              <a:srgbClr val="1B1D21"/>
            </a:solidFill>
            <a:ln w="19050">
              <a:solidFill>
                <a:srgbClr val="9AA0A6"/>
              </a:solidFill>
            </a:ln>
          </p:spPr>
          <p:txBody>
            <a:bodyPr rtlCol="0" anchor="ctr"/>
            <a:lstStyle/>
            <a:p>
              <a:pPr algn="ctr"/>
              <a:endParaRPr/>
            </a:p>
          </p:txBody>
        </p:sp>
        <p:sp>
          <p:nvSpPr>
            <p:cNvPr id="65" name="hub"/>
            <p:cNvSpPr/>
            <p:nvPr/>
          </p:nvSpPr>
          <p:spPr>
            <a:xfrm>
              <a:off x="10251338" y="4202010"/>
              <a:ext cx="37033" cy="37033"/>
            </a:xfrm>
            <a:prstGeom prst="ellipse">
              <a:avLst/>
            </a:prstGeom>
            <a:solidFill>
              <a:srgbClr val="9AA0A6"/>
            </a:solidFill>
            <a:ln>
              <a:noFill/>
            </a:ln>
          </p:spPr>
          <p:txBody>
            <a:bodyPr rtlCol="0" anchor="ctr"/>
            <a:lstStyle/>
            <a:p>
              <a:pPr algn="ctr"/>
              <a:endParaRPr/>
            </a:p>
          </p:txBody>
        </p:sp>
        <p:sp>
          <p:nvSpPr>
            <p:cNvPr id="66" name="wheel"/>
            <p:cNvSpPr/>
            <p:nvPr/>
          </p:nvSpPr>
          <p:spPr>
            <a:xfrm>
              <a:off x="10398442" y="4143375"/>
              <a:ext cx="154305" cy="154305"/>
            </a:xfrm>
            <a:prstGeom prst="ellipse">
              <a:avLst/>
            </a:prstGeom>
            <a:solidFill>
              <a:srgbClr val="1B1D21"/>
            </a:solidFill>
            <a:ln w="19050">
              <a:solidFill>
                <a:srgbClr val="9AA0A6"/>
              </a:solidFill>
            </a:ln>
          </p:spPr>
          <p:txBody>
            <a:bodyPr rtlCol="0" anchor="ctr"/>
            <a:lstStyle/>
            <a:p>
              <a:pPr algn="ctr"/>
              <a:endParaRPr/>
            </a:p>
          </p:txBody>
        </p:sp>
        <p:sp>
          <p:nvSpPr>
            <p:cNvPr id="67" name="hub"/>
            <p:cNvSpPr/>
            <p:nvPr/>
          </p:nvSpPr>
          <p:spPr>
            <a:xfrm>
              <a:off x="10457078" y="4202010"/>
              <a:ext cx="37033" cy="37033"/>
            </a:xfrm>
            <a:prstGeom prst="ellipse">
              <a:avLst/>
            </a:prstGeom>
            <a:solidFill>
              <a:srgbClr val="9AA0A6"/>
            </a:solidFill>
            <a:ln>
              <a:noFill/>
            </a:ln>
          </p:spPr>
          <p:txBody>
            <a:bodyPr rtlCol="0" anchor="ctr"/>
            <a:lstStyle/>
            <a:p>
              <a:pPr algn="ctr"/>
              <a:endParaRPr/>
            </a:p>
          </p:txBody>
        </p:sp>
        <p:sp>
          <p:nvSpPr>
            <p:cNvPr id="68" name="cab"/>
            <p:cNvSpPr/>
            <p:nvPr/>
          </p:nvSpPr>
          <p:spPr>
            <a:xfrm>
              <a:off x="10588752" y="3886200"/>
              <a:ext cx="205740" cy="288036"/>
            </a:xfrm>
            <a:prstGeom prst="roundRect">
              <a:avLst>
                <a:gd name="adj" fmla="val 2500"/>
              </a:avLst>
            </a:prstGeom>
            <a:solidFill>
              <a:srgbClr val="101418"/>
            </a:solidFill>
            <a:ln>
              <a:noFill/>
            </a:ln>
          </p:spPr>
          <p:txBody>
            <a:bodyPr rtlCol="0" anchor="ctr"/>
            <a:lstStyle/>
            <a:p>
              <a:pPr algn="ctr"/>
              <a:endParaRPr/>
            </a:p>
          </p:txBody>
        </p:sp>
        <p:sp>
          <p:nvSpPr>
            <p:cNvPr id="69" name="cab roof"/>
            <p:cNvSpPr/>
            <p:nvPr/>
          </p:nvSpPr>
          <p:spPr>
            <a:xfrm>
              <a:off x="10578465" y="3870769"/>
              <a:ext cx="226314" cy="22631"/>
            </a:xfrm>
            <a:prstGeom prst="rect">
              <a:avLst/>
            </a:prstGeom>
            <a:solidFill>
              <a:srgbClr val="3A3F47"/>
            </a:solidFill>
            <a:ln w="9525">
              <a:solidFill>
                <a:srgbClr val="9AA0A6"/>
              </a:solidFill>
            </a:ln>
          </p:spPr>
          <p:txBody>
            <a:bodyPr rtlCol="0" anchor="ctr"/>
            <a:lstStyle/>
            <a:p>
              <a:pPr algn="ctr"/>
              <a:endParaRPr/>
            </a:p>
          </p:txBody>
        </p:sp>
        <p:sp>
          <p:nvSpPr>
            <p:cNvPr id="70" name="cab window"/>
            <p:cNvSpPr/>
            <p:nvPr/>
          </p:nvSpPr>
          <p:spPr>
            <a:xfrm>
              <a:off x="10629900" y="3942778"/>
              <a:ext cx="123444" cy="92583"/>
            </a:xfrm>
            <a:prstGeom prst="rect">
              <a:avLst/>
            </a:prstGeom>
            <a:solidFill>
              <a:srgbClr val="1B1D21"/>
            </a:solidFill>
            <a:ln>
              <a:noFill/>
            </a:ln>
          </p:spPr>
          <p:txBody>
            <a:bodyPr rtlCol="0" anchor="ctr"/>
            <a:lstStyle/>
            <a:p>
              <a:pPr algn="ctr"/>
              <a:endParaRPr/>
            </a:p>
          </p:txBody>
        </p:sp>
        <p:sp>
          <p:nvSpPr>
            <p:cNvPr id="71" name="boiler"/>
            <p:cNvSpPr/>
            <p:nvPr/>
          </p:nvSpPr>
          <p:spPr>
            <a:xfrm>
              <a:off x="10794492" y="3947922"/>
              <a:ext cx="617220" cy="226314"/>
            </a:xfrm>
            <a:prstGeom prst="roundRect">
              <a:avLst>
                <a:gd name="adj" fmla="val 27272"/>
              </a:avLst>
            </a:prstGeom>
            <a:solidFill>
              <a:srgbClr val="101418"/>
            </a:solidFill>
            <a:ln>
              <a:noFill/>
            </a:ln>
          </p:spPr>
          <p:txBody>
            <a:bodyPr rtlCol="0" anchor="ctr"/>
            <a:lstStyle/>
            <a:p>
              <a:pPr algn="ctr"/>
              <a:endParaRPr/>
            </a:p>
          </p:txBody>
        </p:sp>
        <p:sp>
          <p:nvSpPr>
            <p:cNvPr id="72" name="chimney"/>
            <p:cNvSpPr/>
            <p:nvPr/>
          </p:nvSpPr>
          <p:spPr>
            <a:xfrm>
              <a:off x="11277981" y="3855339"/>
              <a:ext cx="72009" cy="97726"/>
            </a:xfrm>
            <a:prstGeom prst="rect">
              <a:avLst/>
            </a:prstGeom>
            <a:solidFill>
              <a:srgbClr val="3A3F47"/>
            </a:solidFill>
            <a:ln w="9525">
              <a:solidFill>
                <a:srgbClr val="9AA0A6"/>
              </a:solidFill>
            </a:ln>
          </p:spPr>
          <p:txBody>
            <a:bodyPr rtlCol="0" anchor="ctr"/>
            <a:lstStyle/>
            <a:p>
              <a:pPr algn="ctr"/>
              <a:endParaRPr/>
            </a:p>
          </p:txBody>
        </p:sp>
        <p:sp>
          <p:nvSpPr>
            <p:cNvPr id="73" name="chimney lip"/>
            <p:cNvSpPr/>
            <p:nvPr/>
          </p:nvSpPr>
          <p:spPr>
            <a:xfrm>
              <a:off x="11262550" y="3845052"/>
              <a:ext cx="102870" cy="20574"/>
            </a:xfrm>
            <a:prstGeom prst="rect">
              <a:avLst/>
            </a:prstGeom>
            <a:solidFill>
              <a:srgbClr val="3A3F47"/>
            </a:solidFill>
            <a:ln w="9525">
              <a:solidFill>
                <a:srgbClr val="9AA0A6"/>
              </a:solidFill>
            </a:ln>
          </p:spPr>
          <p:txBody>
            <a:bodyPr rtlCol="0" anchor="ctr"/>
            <a:lstStyle/>
            <a:p>
              <a:pPr algn="ctr"/>
              <a:endParaRPr/>
            </a:p>
          </p:txBody>
        </p:sp>
        <p:sp>
          <p:nvSpPr>
            <p:cNvPr id="74" name="dome"/>
            <p:cNvSpPr/>
            <p:nvPr/>
          </p:nvSpPr>
          <p:spPr>
            <a:xfrm>
              <a:off x="10969371" y="3901630"/>
              <a:ext cx="102870" cy="51435"/>
            </a:xfrm>
            <a:prstGeom prst="roundRect">
              <a:avLst>
                <a:gd name="adj" fmla="val 40000"/>
              </a:avLst>
            </a:prstGeom>
            <a:solidFill>
              <a:srgbClr val="101418"/>
            </a:solidFill>
            <a:ln>
              <a:noFill/>
            </a:ln>
          </p:spPr>
          <p:txBody>
            <a:bodyPr rtlCol="0" anchor="ctr"/>
            <a:lstStyle/>
            <a:p>
              <a:pPr algn="ctr"/>
              <a:endParaRPr/>
            </a:p>
          </p:txBody>
        </p:sp>
        <p:sp>
          <p:nvSpPr>
            <p:cNvPr id="75" name="frame"/>
            <p:cNvSpPr/>
            <p:nvPr/>
          </p:nvSpPr>
          <p:spPr>
            <a:xfrm>
              <a:off x="10588752" y="4174236"/>
              <a:ext cx="822960" cy="30861"/>
            </a:xfrm>
            <a:prstGeom prst="rect">
              <a:avLst/>
            </a:prstGeom>
            <a:solidFill>
              <a:srgbClr val="3A3F47"/>
            </a:solidFill>
            <a:ln w="9525">
              <a:solidFill>
                <a:srgbClr val="9AA0A6"/>
              </a:solidFill>
            </a:ln>
          </p:spPr>
          <p:txBody>
            <a:bodyPr rtlCol="0" anchor="ctr"/>
            <a:lstStyle/>
            <a:p>
              <a:pPr algn="ctr"/>
              <a:endParaRPr/>
            </a:p>
          </p:txBody>
        </p:sp>
        <p:sp>
          <p:nvSpPr>
            <p:cNvPr id="76" name="wheel"/>
            <p:cNvSpPr/>
            <p:nvPr/>
          </p:nvSpPr>
          <p:spPr>
            <a:xfrm>
              <a:off x="10737913" y="4143375"/>
              <a:ext cx="154305" cy="154305"/>
            </a:xfrm>
            <a:prstGeom prst="ellipse">
              <a:avLst/>
            </a:prstGeom>
            <a:solidFill>
              <a:srgbClr val="1B1D21"/>
            </a:solidFill>
            <a:ln w="19050">
              <a:solidFill>
                <a:srgbClr val="9AA0A6"/>
              </a:solidFill>
            </a:ln>
          </p:spPr>
          <p:txBody>
            <a:bodyPr rtlCol="0" anchor="ctr"/>
            <a:lstStyle/>
            <a:p>
              <a:pPr algn="ctr"/>
              <a:endParaRPr/>
            </a:p>
          </p:txBody>
        </p:sp>
        <p:sp>
          <p:nvSpPr>
            <p:cNvPr id="77" name="hub"/>
            <p:cNvSpPr/>
            <p:nvPr/>
          </p:nvSpPr>
          <p:spPr>
            <a:xfrm>
              <a:off x="10796549" y="4202010"/>
              <a:ext cx="37033" cy="37033"/>
            </a:xfrm>
            <a:prstGeom prst="ellipse">
              <a:avLst/>
            </a:prstGeom>
            <a:solidFill>
              <a:srgbClr val="9AA0A6"/>
            </a:solidFill>
            <a:ln>
              <a:noFill/>
            </a:ln>
          </p:spPr>
          <p:txBody>
            <a:bodyPr rtlCol="0" anchor="ctr"/>
            <a:lstStyle/>
            <a:p>
              <a:pPr algn="ctr"/>
              <a:endParaRPr/>
            </a:p>
          </p:txBody>
        </p:sp>
        <p:sp>
          <p:nvSpPr>
            <p:cNvPr id="78" name="wheel"/>
            <p:cNvSpPr/>
            <p:nvPr/>
          </p:nvSpPr>
          <p:spPr>
            <a:xfrm>
              <a:off x="10943653" y="4143375"/>
              <a:ext cx="154305" cy="154305"/>
            </a:xfrm>
            <a:prstGeom prst="ellipse">
              <a:avLst/>
            </a:prstGeom>
            <a:solidFill>
              <a:srgbClr val="1B1D21"/>
            </a:solidFill>
            <a:ln w="19050">
              <a:solidFill>
                <a:srgbClr val="9AA0A6"/>
              </a:solidFill>
            </a:ln>
          </p:spPr>
          <p:txBody>
            <a:bodyPr rtlCol="0" anchor="ctr"/>
            <a:lstStyle/>
            <a:p>
              <a:pPr algn="ctr"/>
              <a:endParaRPr/>
            </a:p>
          </p:txBody>
        </p:sp>
        <p:sp>
          <p:nvSpPr>
            <p:cNvPr id="79" name="hub"/>
            <p:cNvSpPr/>
            <p:nvPr/>
          </p:nvSpPr>
          <p:spPr>
            <a:xfrm>
              <a:off x="11002289" y="4202010"/>
              <a:ext cx="37033" cy="37033"/>
            </a:xfrm>
            <a:prstGeom prst="ellipse">
              <a:avLst/>
            </a:prstGeom>
            <a:solidFill>
              <a:srgbClr val="9AA0A6"/>
            </a:solidFill>
            <a:ln>
              <a:noFill/>
            </a:ln>
          </p:spPr>
          <p:txBody>
            <a:bodyPr rtlCol="0" anchor="ctr"/>
            <a:lstStyle/>
            <a:p>
              <a:pPr algn="ctr"/>
              <a:endParaRPr/>
            </a:p>
          </p:txBody>
        </p:sp>
        <p:sp>
          <p:nvSpPr>
            <p:cNvPr id="80" name="wheel"/>
            <p:cNvSpPr/>
            <p:nvPr/>
          </p:nvSpPr>
          <p:spPr>
            <a:xfrm>
              <a:off x="11149393" y="4143375"/>
              <a:ext cx="154305" cy="154305"/>
            </a:xfrm>
            <a:prstGeom prst="ellipse">
              <a:avLst/>
            </a:prstGeom>
            <a:solidFill>
              <a:srgbClr val="1B1D21"/>
            </a:solidFill>
            <a:ln w="19050">
              <a:solidFill>
                <a:srgbClr val="9AA0A6"/>
              </a:solidFill>
            </a:ln>
          </p:spPr>
          <p:txBody>
            <a:bodyPr rtlCol="0" anchor="ctr"/>
            <a:lstStyle/>
            <a:p>
              <a:pPr algn="ctr"/>
              <a:endParaRPr/>
            </a:p>
          </p:txBody>
        </p:sp>
        <p:sp>
          <p:nvSpPr>
            <p:cNvPr id="81" name="hub"/>
            <p:cNvSpPr/>
            <p:nvPr/>
          </p:nvSpPr>
          <p:spPr>
            <a:xfrm>
              <a:off x="11208029" y="4202010"/>
              <a:ext cx="37033" cy="37033"/>
            </a:xfrm>
            <a:prstGeom prst="ellipse">
              <a:avLst/>
            </a:prstGeom>
            <a:solidFill>
              <a:srgbClr val="9AA0A6"/>
            </a:solidFill>
            <a:ln>
              <a:noFill/>
            </a:ln>
          </p:spPr>
          <p:txBody>
            <a:bodyPr rtlCol="0" anchor="ctr"/>
            <a:lstStyle/>
            <a:p>
              <a:pPr algn="ctr"/>
              <a:endParaRPr/>
            </a:p>
          </p:txBody>
        </p:sp>
        <p:sp>
          <p:nvSpPr>
            <p:cNvPr id="82" name="answer label"/>
            <p:cNvSpPr txBox="1"/>
            <p:nvPr/>
          </p:nvSpPr>
          <p:spPr>
            <a:xfrm>
              <a:off x="9171432" y="4572000"/>
              <a:ext cx="2377440" cy="457200"/>
            </a:xfrm>
            <a:prstGeom prst="rect">
              <a:avLst/>
            </a:prstGeom>
            <a:noFill/>
          </p:spPr>
          <p:txBody>
            <a:bodyPr wrap="square" lIns="18288" tIns="9144" rIns="18288" bIns="9144" anchor="ctr">
              <a:noAutofit/>
            </a:bodyPr>
            <a:lstStyle/>
            <a:p>
              <a:pPr algn="ctr"/>
              <a:r>
                <a:rPr lang="en-GB" sz="2000" b="1" i="0">
                  <a:solidFill>
                    <a:srgbClr val="101418"/>
                  </a:solidFill>
                  <a:latin typeface="Arial"/>
                </a:rPr>
                <a:t>Bigger engine</a:t>
              </a:r>
            </a:p>
          </p:txBody>
        </p:sp>
      </p:grpSp>
      <p:sp>
        <p:nvSpPr>
          <p:cNvPr id="8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8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85"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Add a tender. Add a water stop. Build a service point. Or pick a bigger engine.</a:t>
            </a:r>
          </a:p>
        </p:txBody>
      </p:sp>
      <p:sp>
        <p:nvSpPr>
          <p:cNvPr id="8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21</a:t>
            </a:r>
          </a:p>
        </p:txBody>
      </p:sp>
    </p:spTree>
    <p:extLst>
      <p:ext uri="{BB962C8B-B14F-4D97-AF65-F5344CB8AC3E}">
        <p14:creationId xmlns:p14="http://schemas.microsoft.com/office/powerpoint/2010/main" val="26968054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3"/>
                                        </p:tgtEl>
                                        <p:attrNameLst>
                                          <p:attrName>style.visibility</p:attrName>
                                        </p:attrNameLst>
                                      </p:cBhvr>
                                      <p:to>
                                        <p:strVal val="visible"/>
                                      </p:to>
                                    </p:set>
                                    <p:animEffect transition="in" filter="fade">
                                      <p:cBhvr>
                                        <p:cTn id="10" dur="500"/>
                                        <p:tgtEl>
                                          <p:spTgt spid="83"/>
                                        </p:tgtEl>
                                      </p:cBhvr>
                                    </p:animEffect>
                                  </p:childTnLst>
                                </p:cTn>
                              </p:par>
                              <p:par>
                                <p:cTn id="11" presetID="10" presetClass="entr" presetSubtype="0" fill="hold" nodeType="withEffect">
                                  <p:stCondLst>
                                    <p:cond delay="600"/>
                                  </p:stCondLst>
                                  <p:childTnLst>
                                    <p:set>
                                      <p:cBhvr>
                                        <p:cTn id="12" dur="1" fill="hold">
                                          <p:stCondLst>
                                            <p:cond delay="0"/>
                                          </p:stCondLst>
                                        </p:cTn>
                                        <p:tgtEl>
                                          <p:spTgt spid="84"/>
                                        </p:tgtEl>
                                        <p:attrNameLst>
                                          <p:attrName>style.visibility</p:attrName>
                                        </p:attrNameLst>
                                      </p:cBhvr>
                                      <p:to>
                                        <p:strVal val="visible"/>
                                      </p:to>
                                    </p:set>
                                    <p:animEffect transition="in" filter="fade">
                                      <p:cBhvr>
                                        <p:cTn id="13" dur="500"/>
                                        <p:tgtEl>
                                          <p:spTgt spid="84"/>
                                        </p:tgtEl>
                                      </p:cBhvr>
                                    </p:animEffect>
                                  </p:childTnLst>
                                </p:cTn>
                              </p:par>
                              <p:par>
                                <p:cTn id="14" presetID="10" presetClass="entr" presetSubtype="0" fill="hold" nodeType="withEffect">
                                  <p:stCondLst>
                                    <p:cond delay="900"/>
                                  </p:stCondLst>
                                  <p:childTnLst>
                                    <p:set>
                                      <p:cBhvr>
                                        <p:cTn id="15" dur="1" fill="hold">
                                          <p:stCondLst>
                                            <p:cond delay="0"/>
                                          </p:stCondLst>
                                        </p:cTn>
                                        <p:tgtEl>
                                          <p:spTgt spid="85"/>
                                        </p:tgtEl>
                                        <p:attrNameLst>
                                          <p:attrName>style.visibility</p:attrName>
                                        </p:attrNameLst>
                                      </p:cBhvr>
                                      <p:to>
                                        <p:strVal val="visible"/>
                                      </p:to>
                                    </p:set>
                                    <p:animEffect transition="in" filter="fade">
                                      <p:cBhvr>
                                        <p:cTn id="16"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Where this stands</a:t>
            </a:r>
          </a:p>
        </p:txBody>
      </p:sp>
      <p:sp>
        <p:nvSpPr>
          <p:cNvPr id="3" name="CHIP"/>
          <p:cNvSpPr/>
          <p:nvPr/>
        </p:nvSpPr>
        <p:spPr>
          <a:xfrm>
            <a:off x="10088575" y="530352"/>
            <a:ext cx="1554480" cy="365760"/>
          </a:xfrm>
          <a:prstGeom prst="roundRect">
            <a:avLst>
              <a:gd name="adj" fmla="val 300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pic>
        <p:nvPicPr>
          <p:cNvPr id="4" name="R01_pannier_visual_probe_v004" descr="Early test model of a tank engine (a yellow 'visual probe') on a short length of track. Not final art."/>
          <p:cNvPicPr>
            <a:picLocks noChangeAspect="1"/>
          </p:cNvPicPr>
          <p:nvPr/>
        </p:nvPicPr>
        <p:blipFill>
          <a:blip r:embed="rId2"/>
          <a:srcRect l="625" r="625"/>
          <a:stretch>
            <a:fillRect/>
          </a:stretch>
        </p:blipFill>
        <p:spPr>
          <a:xfrm>
            <a:off x="548640" y="1371600"/>
            <a:ext cx="2194560" cy="1234440"/>
          </a:xfrm>
          <a:prstGeom prst="roundRect">
            <a:avLst>
              <a:gd name="adj" fmla="val 5925"/>
            </a:avLst>
          </a:prstGeom>
        </p:spPr>
      </p:pic>
      <p:sp>
        <p:nvSpPr>
          <p:cNvPr id="5" name="CREDIT"/>
          <p:cNvSpPr txBox="1"/>
          <p:nvPr/>
        </p:nvSpPr>
        <p:spPr>
          <a:xfrm>
            <a:off x="548640" y="2633472"/>
            <a:ext cx="2377440" cy="219456"/>
          </a:xfrm>
          <a:prstGeom prst="rect">
            <a:avLst/>
          </a:prstGeom>
          <a:noFill/>
        </p:spPr>
        <p:txBody>
          <a:bodyPr wrap="square" lIns="0" tIns="0" rIns="0" bIns="0" anchor="t">
            <a:noAutofit/>
          </a:bodyPr>
          <a:lstStyle/>
          <a:p>
            <a:pPr algn="l"/>
            <a:r>
              <a:rPr lang="en-GB" sz="1000" b="0" i="0">
                <a:solidFill>
                  <a:srgbClr val="A9B0B8"/>
                </a:solidFill>
                <a:latin typeface="Arial"/>
              </a:rPr>
              <a:t>Early test model, not final art.</a:t>
            </a:r>
          </a:p>
        </p:txBody>
      </p:sp>
      <p:grpSp>
        <p:nvGrpSpPr>
          <p:cNvPr id="6" name="Five steps" descr="Five steps in a row. Test engine on the game's rails is under way. Coal and water, station servicing, service points and tenders are planned."/>
          <p:cNvGrpSpPr/>
          <p:nvPr/>
        </p:nvGrpSpPr>
        <p:grpSpPr>
          <a:xfrm>
            <a:off x="548640" y="1783080"/>
            <a:ext cx="11091672" cy="3246120"/>
            <a:chOff x="548640" y="1783080"/>
            <a:chExt cx="11091672" cy="3246120"/>
          </a:xfrm>
        </p:grpSpPr>
        <p:cxnSp>
          <p:nvCxnSpPr>
            <p:cNvPr id="7" name="step line"/>
            <p:cNvCxnSpPr/>
            <p:nvPr/>
          </p:nvCxnSpPr>
          <p:spPr>
            <a:xfrm>
              <a:off x="1595628" y="3154680"/>
              <a:ext cx="8997696" cy="0"/>
            </a:xfrm>
            <a:prstGeom prst="line">
              <a:avLst/>
            </a:prstGeom>
            <a:ln w="38100">
              <a:solidFill>
                <a:srgbClr val="4A515B"/>
              </a:solidFill>
            </a:ln>
          </p:spPr>
        </p:cxnSp>
        <p:sp>
          <p:nvSpPr>
            <p:cNvPr id="8" name="step marker"/>
            <p:cNvSpPr/>
            <p:nvPr/>
          </p:nvSpPr>
          <p:spPr>
            <a:xfrm>
              <a:off x="1367028" y="2926080"/>
              <a:ext cx="457200" cy="457200"/>
            </a:xfrm>
            <a:prstGeom prst="ellipse">
              <a:avLst/>
            </a:prstGeom>
            <a:solidFill>
              <a:srgbClr val="F28C28"/>
            </a:solidFill>
            <a:ln w="31750">
              <a:solidFill>
                <a:srgbClr val="F28C28"/>
              </a:solidFill>
            </a:ln>
          </p:spPr>
          <p:txBody>
            <a:bodyPr rtlCol="0" anchor="ctr"/>
            <a:lstStyle/>
            <a:p>
              <a:pPr algn="ctr"/>
              <a:endParaRPr/>
            </a:p>
          </p:txBody>
        </p:sp>
        <p:sp>
          <p:nvSpPr>
            <p:cNvPr id="9" name="step card"/>
            <p:cNvSpPr/>
            <p:nvPr/>
          </p:nvSpPr>
          <p:spPr>
            <a:xfrm>
              <a:off x="548640" y="3566160"/>
              <a:ext cx="2093976" cy="1463040"/>
            </a:xfrm>
            <a:prstGeom prst="roundRect">
              <a:avLst>
                <a:gd name="adj" fmla="val 6250"/>
              </a:avLst>
            </a:prstGeom>
            <a:solidFill>
              <a:srgbClr val="2B2F36"/>
            </a:solidFill>
            <a:ln w="25400">
              <a:solidFill>
                <a:srgbClr val="F28C28"/>
              </a:solidFill>
            </a:ln>
          </p:spPr>
          <p:txBody>
            <a:bodyPr wrap="square" lIns="137160" tIns="137160" bIns="91440" rtlCol="0" anchor="t">
              <a:noAutofit/>
            </a:bodyPr>
            <a:lstStyle/>
            <a:p>
              <a:pPr algn="l"/>
              <a:r>
                <a:rPr lang="en-GB" sz="1800" b="0" i="0">
                  <a:solidFill>
                    <a:srgbClr val="F2F2F2"/>
                  </a:solidFill>
                  <a:latin typeface="Arial"/>
                </a:rPr>
                <a:t>Test engine on the game's rails</a:t>
              </a:r>
            </a:p>
            <a:p>
              <a:pPr algn="l"/>
              <a:r>
                <a:rPr lang="en-GB" sz="1800" b="1" i="0">
                  <a:solidFill>
                    <a:srgbClr val="F28C28"/>
                  </a:solidFill>
                  <a:latin typeface="Arial"/>
                </a:rPr>
                <a:t>Under way</a:t>
              </a:r>
            </a:p>
          </p:txBody>
        </p:sp>
        <p:sp>
          <p:nvSpPr>
            <p:cNvPr id="10" name="step marker"/>
            <p:cNvSpPr/>
            <p:nvPr/>
          </p:nvSpPr>
          <p:spPr>
            <a:xfrm>
              <a:off x="3616452" y="2926080"/>
              <a:ext cx="457200" cy="457200"/>
            </a:xfrm>
            <a:prstGeom prst="ellipse">
              <a:avLst/>
            </a:prstGeom>
            <a:solidFill>
              <a:srgbClr val="1E2126"/>
            </a:solidFill>
            <a:ln w="31750">
              <a:solidFill>
                <a:srgbClr val="A9B0B8"/>
              </a:solidFill>
            </a:ln>
          </p:spPr>
          <p:txBody>
            <a:bodyPr rtlCol="0" anchor="ctr"/>
            <a:lstStyle/>
            <a:p>
              <a:pPr algn="ctr"/>
              <a:endParaRPr/>
            </a:p>
          </p:txBody>
        </p:sp>
        <p:sp>
          <p:nvSpPr>
            <p:cNvPr id="11" name="step card"/>
            <p:cNvSpPr/>
            <p:nvPr/>
          </p:nvSpPr>
          <p:spPr>
            <a:xfrm>
              <a:off x="2798064" y="3566160"/>
              <a:ext cx="2093976" cy="1463040"/>
            </a:xfrm>
            <a:prstGeom prst="roundRect">
              <a:avLst>
                <a:gd name="adj" fmla="val 6250"/>
              </a:avLst>
            </a:prstGeom>
            <a:solidFill>
              <a:srgbClr val="2B2F36"/>
            </a:solidFill>
            <a:ln w="12700">
              <a:solidFill>
                <a:srgbClr val="4A515B"/>
              </a:solidFill>
            </a:ln>
          </p:spPr>
          <p:txBody>
            <a:bodyPr wrap="square" lIns="137160" tIns="137160" bIns="91440" rtlCol="0" anchor="t">
              <a:noAutofit/>
            </a:bodyPr>
            <a:lstStyle/>
            <a:p>
              <a:pPr algn="l"/>
              <a:r>
                <a:rPr lang="en-GB" sz="1800" b="0" i="0">
                  <a:solidFill>
                    <a:srgbClr val="F2F2F2"/>
                  </a:solidFill>
                  <a:latin typeface="Arial"/>
                </a:rPr>
                <a:t>Coal and water</a:t>
              </a:r>
            </a:p>
            <a:p>
              <a:pPr algn="l"/>
              <a:r>
                <a:rPr lang="en-GB" sz="1800" b="1" i="0">
                  <a:solidFill>
                    <a:srgbClr val="A9B0B8"/>
                  </a:solidFill>
                  <a:latin typeface="Arial"/>
                </a:rPr>
                <a:t>Planned</a:t>
              </a:r>
            </a:p>
          </p:txBody>
        </p:sp>
        <p:sp>
          <p:nvSpPr>
            <p:cNvPr id="12" name="step marker"/>
            <p:cNvSpPr/>
            <p:nvPr/>
          </p:nvSpPr>
          <p:spPr>
            <a:xfrm>
              <a:off x="5865875" y="2926080"/>
              <a:ext cx="457200" cy="457200"/>
            </a:xfrm>
            <a:prstGeom prst="ellipse">
              <a:avLst/>
            </a:prstGeom>
            <a:solidFill>
              <a:srgbClr val="1E2126"/>
            </a:solidFill>
            <a:ln w="31750">
              <a:solidFill>
                <a:srgbClr val="A9B0B8"/>
              </a:solidFill>
            </a:ln>
          </p:spPr>
          <p:txBody>
            <a:bodyPr rtlCol="0" anchor="ctr"/>
            <a:lstStyle/>
            <a:p>
              <a:pPr algn="ctr"/>
              <a:endParaRPr/>
            </a:p>
          </p:txBody>
        </p:sp>
        <p:sp>
          <p:nvSpPr>
            <p:cNvPr id="13" name="step card"/>
            <p:cNvSpPr/>
            <p:nvPr/>
          </p:nvSpPr>
          <p:spPr>
            <a:xfrm>
              <a:off x="5047488" y="3566160"/>
              <a:ext cx="2093976" cy="1463040"/>
            </a:xfrm>
            <a:prstGeom prst="roundRect">
              <a:avLst>
                <a:gd name="adj" fmla="val 6250"/>
              </a:avLst>
            </a:prstGeom>
            <a:solidFill>
              <a:srgbClr val="2B2F36"/>
            </a:solidFill>
            <a:ln w="12700">
              <a:solidFill>
                <a:srgbClr val="4A515B"/>
              </a:solidFill>
            </a:ln>
          </p:spPr>
          <p:txBody>
            <a:bodyPr wrap="square" lIns="137160" tIns="137160" bIns="91440" rtlCol="0" anchor="t">
              <a:noAutofit/>
            </a:bodyPr>
            <a:lstStyle/>
            <a:p>
              <a:pPr algn="l"/>
              <a:r>
                <a:rPr lang="en-GB" sz="1800" b="0" i="0">
                  <a:solidFill>
                    <a:srgbClr val="F2F2F2"/>
                  </a:solidFill>
                  <a:latin typeface="Arial"/>
                </a:rPr>
                <a:t>Station servicing</a:t>
              </a:r>
            </a:p>
            <a:p>
              <a:pPr algn="l"/>
              <a:r>
                <a:rPr lang="en-GB" sz="1800" b="1" i="0">
                  <a:solidFill>
                    <a:srgbClr val="A9B0B8"/>
                  </a:solidFill>
                  <a:latin typeface="Arial"/>
                </a:rPr>
                <a:t>Planned</a:t>
              </a:r>
            </a:p>
          </p:txBody>
        </p:sp>
        <p:sp>
          <p:nvSpPr>
            <p:cNvPr id="14" name="step marker"/>
            <p:cNvSpPr/>
            <p:nvPr/>
          </p:nvSpPr>
          <p:spPr>
            <a:xfrm>
              <a:off x="8115300" y="2926080"/>
              <a:ext cx="457200" cy="457200"/>
            </a:xfrm>
            <a:prstGeom prst="ellipse">
              <a:avLst/>
            </a:prstGeom>
            <a:solidFill>
              <a:srgbClr val="1E2126"/>
            </a:solidFill>
            <a:ln w="31750">
              <a:solidFill>
                <a:srgbClr val="A9B0B8"/>
              </a:solidFill>
            </a:ln>
          </p:spPr>
          <p:txBody>
            <a:bodyPr rtlCol="0" anchor="ctr"/>
            <a:lstStyle/>
            <a:p>
              <a:pPr algn="ctr"/>
              <a:endParaRPr/>
            </a:p>
          </p:txBody>
        </p:sp>
        <p:sp>
          <p:nvSpPr>
            <p:cNvPr id="15" name="step card"/>
            <p:cNvSpPr/>
            <p:nvPr/>
          </p:nvSpPr>
          <p:spPr>
            <a:xfrm>
              <a:off x="7296912" y="3566160"/>
              <a:ext cx="2093976" cy="1463040"/>
            </a:xfrm>
            <a:prstGeom prst="roundRect">
              <a:avLst>
                <a:gd name="adj" fmla="val 6250"/>
              </a:avLst>
            </a:prstGeom>
            <a:solidFill>
              <a:srgbClr val="2B2F36"/>
            </a:solidFill>
            <a:ln w="12700">
              <a:solidFill>
                <a:srgbClr val="4A515B"/>
              </a:solidFill>
            </a:ln>
          </p:spPr>
          <p:txBody>
            <a:bodyPr wrap="square" lIns="137160" tIns="137160" bIns="91440" rtlCol="0" anchor="t">
              <a:noAutofit/>
            </a:bodyPr>
            <a:lstStyle/>
            <a:p>
              <a:pPr algn="l"/>
              <a:r>
                <a:rPr lang="en-GB" sz="1800" b="0" i="0">
                  <a:solidFill>
                    <a:srgbClr val="F2F2F2"/>
                  </a:solidFill>
                  <a:latin typeface="Arial"/>
                </a:rPr>
                <a:t>Service points</a:t>
              </a:r>
            </a:p>
            <a:p>
              <a:pPr algn="l"/>
              <a:r>
                <a:rPr lang="en-GB" sz="1800" b="1" i="0">
                  <a:solidFill>
                    <a:srgbClr val="A9B0B8"/>
                  </a:solidFill>
                  <a:latin typeface="Arial"/>
                </a:rPr>
                <a:t>Planned</a:t>
              </a:r>
            </a:p>
          </p:txBody>
        </p:sp>
        <p:sp>
          <p:nvSpPr>
            <p:cNvPr id="16" name="step marker"/>
            <p:cNvSpPr/>
            <p:nvPr/>
          </p:nvSpPr>
          <p:spPr>
            <a:xfrm>
              <a:off x="10364724" y="2926080"/>
              <a:ext cx="457200" cy="457200"/>
            </a:xfrm>
            <a:prstGeom prst="ellipse">
              <a:avLst/>
            </a:prstGeom>
            <a:solidFill>
              <a:srgbClr val="1E2126"/>
            </a:solidFill>
            <a:ln w="31750">
              <a:solidFill>
                <a:srgbClr val="A9B0B8"/>
              </a:solidFill>
            </a:ln>
          </p:spPr>
          <p:txBody>
            <a:bodyPr rtlCol="0" anchor="ctr"/>
            <a:lstStyle/>
            <a:p>
              <a:pPr algn="ctr"/>
              <a:endParaRPr/>
            </a:p>
          </p:txBody>
        </p:sp>
        <p:sp>
          <p:nvSpPr>
            <p:cNvPr id="17" name="step card"/>
            <p:cNvSpPr/>
            <p:nvPr/>
          </p:nvSpPr>
          <p:spPr>
            <a:xfrm>
              <a:off x="9546336" y="3566160"/>
              <a:ext cx="2093976" cy="1463040"/>
            </a:xfrm>
            <a:prstGeom prst="roundRect">
              <a:avLst>
                <a:gd name="adj" fmla="val 6250"/>
              </a:avLst>
            </a:prstGeom>
            <a:solidFill>
              <a:srgbClr val="2B2F36"/>
            </a:solidFill>
            <a:ln w="12700">
              <a:solidFill>
                <a:srgbClr val="4A515B"/>
              </a:solidFill>
            </a:ln>
          </p:spPr>
          <p:txBody>
            <a:bodyPr wrap="square" lIns="137160" tIns="137160" bIns="91440" rtlCol="0" anchor="t">
              <a:noAutofit/>
            </a:bodyPr>
            <a:lstStyle/>
            <a:p>
              <a:pPr algn="l"/>
              <a:r>
                <a:rPr lang="en-GB" sz="1800" b="0" i="0">
                  <a:solidFill>
                    <a:srgbClr val="F2F2F2"/>
                  </a:solidFill>
                  <a:latin typeface="Arial"/>
                </a:rPr>
                <a:t>Tenders</a:t>
              </a:r>
            </a:p>
            <a:p>
              <a:pPr algn="l"/>
              <a:r>
                <a:rPr lang="en-GB" sz="1800" b="1" i="0">
                  <a:solidFill>
                    <a:srgbClr val="A9B0B8"/>
                  </a:solidFill>
                  <a:latin typeface="Arial"/>
                </a:rPr>
                <a:t>Planned</a:t>
              </a:r>
            </a:p>
          </p:txBody>
        </p:sp>
        <p:sp>
          <p:nvSpPr>
            <p:cNvPr id="18" name="ICHIP TEXT"/>
            <p:cNvSpPr/>
            <p:nvPr/>
          </p:nvSpPr>
          <p:spPr>
            <a:xfrm>
              <a:off x="9235440" y="1783080"/>
              <a:ext cx="2377440" cy="411480"/>
            </a:xfrm>
            <a:prstGeom prst="roundRect">
              <a:avLst>
                <a:gd name="adj" fmla="val 26666"/>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Plans can change.</a:t>
              </a:r>
            </a:p>
          </p:txBody>
        </p:sp>
      </p:grpSp>
      <p:sp>
        <p:nvSpPr>
          <p:cNvPr id="1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1"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Coal, water and servicing are planned. They are not built yet.</a:t>
            </a:r>
          </a:p>
        </p:txBody>
      </p:sp>
      <p:sp>
        <p:nvSpPr>
          <p:cNvPr id="22"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22</a:t>
            </a:r>
          </a:p>
        </p:txBody>
      </p:sp>
    </p:spTree>
    <p:extLst>
      <p:ext uri="{BB962C8B-B14F-4D97-AF65-F5344CB8AC3E}">
        <p14:creationId xmlns:p14="http://schemas.microsoft.com/office/powerpoint/2010/main" val="32680172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90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nodeType="withEffect">
                                  <p:stCondLst>
                                    <p:cond delay="12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Still undecided</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grpSp>
        <p:nvGrpSpPr>
          <p:cNvPr id="4" name="Eight open questions" descr="Eight cards, each marked undecided, with an open question and its open-question number. No answers are given."/>
          <p:cNvGrpSpPr/>
          <p:nvPr/>
        </p:nvGrpSpPr>
        <p:grpSpPr>
          <a:xfrm>
            <a:off x="548640" y="1508760"/>
            <a:ext cx="11100816" cy="3474719"/>
            <a:chOff x="548640" y="1508760"/>
            <a:chExt cx="11100816" cy="3474719"/>
          </a:xfrm>
        </p:grpSpPr>
        <p:sp>
          <p:nvSpPr>
            <p:cNvPr id="5" name="question card"/>
            <p:cNvSpPr/>
            <p:nvPr/>
          </p:nvSpPr>
          <p:spPr>
            <a:xfrm>
              <a:off x="548640" y="1508760"/>
              <a:ext cx="2651760" cy="1600200"/>
            </a:xfrm>
            <a:prstGeom prst="roundRect">
              <a:avLst>
                <a:gd name="adj" fmla="val 5714"/>
              </a:avLst>
            </a:prstGeom>
            <a:solidFill>
              <a:srgbClr val="2B2F36"/>
            </a:solidFill>
            <a:ln w="12700">
              <a:solidFill>
                <a:srgbClr val="4A515B"/>
              </a:solidFill>
            </a:ln>
          </p:spPr>
          <p:txBody>
            <a:bodyPr rtlCol="0" anchor="ctr"/>
            <a:lstStyle/>
            <a:p>
              <a:pPr algn="ctr"/>
              <a:endParaRPr/>
            </a:p>
          </p:txBody>
        </p:sp>
        <p:sp>
          <p:nvSpPr>
            <p:cNvPr id="6" name="ICHIP"/>
            <p:cNvSpPr/>
            <p:nvPr/>
          </p:nvSpPr>
          <p:spPr>
            <a:xfrm>
              <a:off x="685800" y="1645919"/>
              <a:ext cx="228600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OQ08</a:t>
              </a:r>
            </a:p>
          </p:txBody>
        </p:sp>
        <p:sp>
          <p:nvSpPr>
            <p:cNvPr id="7" name="question"/>
            <p:cNvSpPr txBox="1"/>
            <p:nvPr/>
          </p:nvSpPr>
          <p:spPr>
            <a:xfrm>
              <a:off x="685800" y="2057400"/>
              <a:ext cx="2377440" cy="960120"/>
            </a:xfrm>
            <a:prstGeom prst="rect">
              <a:avLst/>
            </a:prstGeom>
            <a:noFill/>
          </p:spPr>
          <p:txBody>
            <a:bodyPr wrap="square" lIns="18288" tIns="9144" rIns="18288" bIns="9144" anchor="t">
              <a:noAutofit/>
            </a:bodyPr>
            <a:lstStyle/>
            <a:p>
              <a:pPr algn="l"/>
              <a:r>
                <a:rPr lang="en-GB" sz="1800" b="0" i="0">
                  <a:solidFill>
                    <a:srgbClr val="F2F2F2"/>
                  </a:solidFill>
                  <a:latin typeface="Arial"/>
                </a:rPr>
                <a:t>Which fuels work?</a:t>
              </a:r>
            </a:p>
          </p:txBody>
        </p:sp>
        <p:sp>
          <p:nvSpPr>
            <p:cNvPr id="8" name="question card"/>
            <p:cNvSpPr/>
            <p:nvPr/>
          </p:nvSpPr>
          <p:spPr>
            <a:xfrm>
              <a:off x="3364992" y="1508760"/>
              <a:ext cx="2651760" cy="1600200"/>
            </a:xfrm>
            <a:prstGeom prst="roundRect">
              <a:avLst>
                <a:gd name="adj" fmla="val 5714"/>
              </a:avLst>
            </a:prstGeom>
            <a:solidFill>
              <a:srgbClr val="2B2F36"/>
            </a:solidFill>
            <a:ln w="12700">
              <a:solidFill>
                <a:srgbClr val="4A515B"/>
              </a:solidFill>
            </a:ln>
          </p:spPr>
          <p:txBody>
            <a:bodyPr rtlCol="0" anchor="ctr"/>
            <a:lstStyle/>
            <a:p>
              <a:pPr algn="ctr"/>
              <a:endParaRPr/>
            </a:p>
          </p:txBody>
        </p:sp>
        <p:sp>
          <p:nvSpPr>
            <p:cNvPr id="9" name="ICHIP"/>
            <p:cNvSpPr/>
            <p:nvPr/>
          </p:nvSpPr>
          <p:spPr>
            <a:xfrm>
              <a:off x="3502152" y="1645919"/>
              <a:ext cx="228600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OQ08</a:t>
              </a:r>
            </a:p>
          </p:txBody>
        </p:sp>
        <p:sp>
          <p:nvSpPr>
            <p:cNvPr id="10" name="question"/>
            <p:cNvSpPr txBox="1"/>
            <p:nvPr/>
          </p:nvSpPr>
          <p:spPr>
            <a:xfrm>
              <a:off x="3502152" y="2057400"/>
              <a:ext cx="2377440" cy="960120"/>
            </a:xfrm>
            <a:prstGeom prst="rect">
              <a:avLst/>
            </a:prstGeom>
            <a:noFill/>
          </p:spPr>
          <p:txBody>
            <a:bodyPr wrap="square" lIns="18288" tIns="9144" rIns="18288" bIns="9144" anchor="t">
              <a:noAutofit/>
            </a:bodyPr>
            <a:lstStyle/>
            <a:p>
              <a:pPr algn="l"/>
              <a:r>
                <a:rPr lang="en-GB" sz="1800" b="0" i="0">
                  <a:solidFill>
                    <a:srgbClr val="F2F2F2"/>
                  </a:solidFill>
                  <a:latin typeface="Arial"/>
                </a:rPr>
                <a:t>What happens when supplies run out?</a:t>
              </a:r>
            </a:p>
          </p:txBody>
        </p:sp>
        <p:sp>
          <p:nvSpPr>
            <p:cNvPr id="11" name="question card"/>
            <p:cNvSpPr/>
            <p:nvPr/>
          </p:nvSpPr>
          <p:spPr>
            <a:xfrm>
              <a:off x="6181344" y="1508760"/>
              <a:ext cx="2651760" cy="1600200"/>
            </a:xfrm>
            <a:prstGeom prst="roundRect">
              <a:avLst>
                <a:gd name="adj" fmla="val 5714"/>
              </a:avLst>
            </a:prstGeom>
            <a:solidFill>
              <a:srgbClr val="2B2F36"/>
            </a:solidFill>
            <a:ln w="12700">
              <a:solidFill>
                <a:srgbClr val="4A515B"/>
              </a:solidFill>
            </a:ln>
          </p:spPr>
          <p:txBody>
            <a:bodyPr rtlCol="0" anchor="ctr"/>
            <a:lstStyle/>
            <a:p>
              <a:pPr algn="ctr"/>
              <a:endParaRPr/>
            </a:p>
          </p:txBody>
        </p:sp>
        <p:sp>
          <p:nvSpPr>
            <p:cNvPr id="12" name="ICHIP"/>
            <p:cNvSpPr/>
            <p:nvPr/>
          </p:nvSpPr>
          <p:spPr>
            <a:xfrm>
              <a:off x="6318504" y="1645919"/>
              <a:ext cx="228600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OQ08</a:t>
              </a:r>
            </a:p>
          </p:txBody>
        </p:sp>
        <p:sp>
          <p:nvSpPr>
            <p:cNvPr id="13" name="question"/>
            <p:cNvSpPr txBox="1"/>
            <p:nvPr/>
          </p:nvSpPr>
          <p:spPr>
            <a:xfrm>
              <a:off x="6318504" y="2057400"/>
              <a:ext cx="2377440" cy="960120"/>
            </a:xfrm>
            <a:prstGeom prst="rect">
              <a:avLst/>
            </a:prstGeom>
            <a:noFill/>
          </p:spPr>
          <p:txBody>
            <a:bodyPr wrap="square" lIns="18288" tIns="9144" rIns="18288" bIns="9144" anchor="t">
              <a:noAutofit/>
            </a:bodyPr>
            <a:lstStyle/>
            <a:p>
              <a:pPr algn="l"/>
              <a:r>
                <a:rPr lang="en-GB" sz="1800" b="0" i="0">
                  <a:solidFill>
                    <a:srgbClr val="F2F2F2"/>
                  </a:solidFill>
                  <a:latin typeface="Arial"/>
                </a:rPr>
                <a:t>Station buffers and transfer rates</a:t>
              </a:r>
            </a:p>
          </p:txBody>
        </p:sp>
        <p:sp>
          <p:nvSpPr>
            <p:cNvPr id="14" name="question card"/>
            <p:cNvSpPr/>
            <p:nvPr/>
          </p:nvSpPr>
          <p:spPr>
            <a:xfrm>
              <a:off x="8997696" y="1508760"/>
              <a:ext cx="2651760" cy="1600200"/>
            </a:xfrm>
            <a:prstGeom prst="roundRect">
              <a:avLst>
                <a:gd name="adj" fmla="val 5714"/>
              </a:avLst>
            </a:prstGeom>
            <a:solidFill>
              <a:srgbClr val="2B2F36"/>
            </a:solidFill>
            <a:ln w="12700">
              <a:solidFill>
                <a:srgbClr val="4A515B"/>
              </a:solidFill>
            </a:ln>
          </p:spPr>
          <p:txBody>
            <a:bodyPr rtlCol="0" anchor="ctr"/>
            <a:lstStyle/>
            <a:p>
              <a:pPr algn="ctr"/>
              <a:endParaRPr/>
            </a:p>
          </p:txBody>
        </p:sp>
        <p:sp>
          <p:nvSpPr>
            <p:cNvPr id="15" name="ICHIP"/>
            <p:cNvSpPr/>
            <p:nvPr/>
          </p:nvSpPr>
          <p:spPr>
            <a:xfrm>
              <a:off x="9134856" y="1645919"/>
              <a:ext cx="228600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OQ09</a:t>
              </a:r>
            </a:p>
          </p:txBody>
        </p:sp>
        <p:sp>
          <p:nvSpPr>
            <p:cNvPr id="16" name="question"/>
            <p:cNvSpPr txBox="1"/>
            <p:nvPr/>
          </p:nvSpPr>
          <p:spPr>
            <a:xfrm>
              <a:off x="9134856" y="2057400"/>
              <a:ext cx="2377440" cy="960120"/>
            </a:xfrm>
            <a:prstGeom prst="rect">
              <a:avLst/>
            </a:prstGeom>
            <a:noFill/>
          </p:spPr>
          <p:txBody>
            <a:bodyPr wrap="square" lIns="18288" tIns="9144" rIns="18288" bIns="9144" anchor="t">
              <a:noAutofit/>
            </a:bodyPr>
            <a:lstStyle/>
            <a:p>
              <a:pPr algn="l"/>
              <a:r>
                <a:rPr lang="en-GB" sz="1800" b="0" i="0">
                  <a:solidFill>
                    <a:srgbClr val="F2F2F2"/>
                  </a:solidFill>
                  <a:latin typeface="Arial"/>
                </a:rPr>
                <a:t>Station size and reach</a:t>
              </a:r>
            </a:p>
          </p:txBody>
        </p:sp>
        <p:sp>
          <p:nvSpPr>
            <p:cNvPr id="17" name="question card"/>
            <p:cNvSpPr/>
            <p:nvPr/>
          </p:nvSpPr>
          <p:spPr>
            <a:xfrm>
              <a:off x="548640" y="3383279"/>
              <a:ext cx="2651760" cy="1600200"/>
            </a:xfrm>
            <a:prstGeom prst="roundRect">
              <a:avLst>
                <a:gd name="adj" fmla="val 5714"/>
              </a:avLst>
            </a:prstGeom>
            <a:solidFill>
              <a:srgbClr val="2B2F36"/>
            </a:solidFill>
            <a:ln w="12700">
              <a:solidFill>
                <a:srgbClr val="4A515B"/>
              </a:solidFill>
            </a:ln>
          </p:spPr>
          <p:txBody>
            <a:bodyPr rtlCol="0" anchor="ctr"/>
            <a:lstStyle/>
            <a:p>
              <a:pPr algn="ctr"/>
              <a:endParaRPr/>
            </a:p>
          </p:txBody>
        </p:sp>
        <p:sp>
          <p:nvSpPr>
            <p:cNvPr id="18" name="ICHIP"/>
            <p:cNvSpPr/>
            <p:nvPr/>
          </p:nvSpPr>
          <p:spPr>
            <a:xfrm>
              <a:off x="685800" y="3520439"/>
              <a:ext cx="228600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OQ09</a:t>
              </a:r>
            </a:p>
          </p:txBody>
        </p:sp>
        <p:sp>
          <p:nvSpPr>
            <p:cNvPr id="19" name="question"/>
            <p:cNvSpPr txBox="1"/>
            <p:nvPr/>
          </p:nvSpPr>
          <p:spPr>
            <a:xfrm>
              <a:off x="685800" y="3931920"/>
              <a:ext cx="2377440" cy="960120"/>
            </a:xfrm>
            <a:prstGeom prst="rect">
              <a:avLst/>
            </a:prstGeom>
            <a:noFill/>
          </p:spPr>
          <p:txBody>
            <a:bodyPr wrap="square" lIns="18288" tIns="9144" rIns="18288" bIns="9144" anchor="t">
              <a:noAutofit/>
            </a:bodyPr>
            <a:lstStyle/>
            <a:p>
              <a:pPr algn="l"/>
              <a:r>
                <a:rPr lang="en-GB" sz="1800" b="0" i="0">
                  <a:solidFill>
                    <a:srgbClr val="F2F2F2"/>
                  </a:solidFill>
                  <a:latin typeface="Arial"/>
                </a:rPr>
                <a:t>Two engines at one station</a:t>
              </a:r>
            </a:p>
          </p:txBody>
        </p:sp>
        <p:sp>
          <p:nvSpPr>
            <p:cNvPr id="20" name="question card"/>
            <p:cNvSpPr/>
            <p:nvPr/>
          </p:nvSpPr>
          <p:spPr>
            <a:xfrm>
              <a:off x="3364992" y="3383279"/>
              <a:ext cx="2651760" cy="1600200"/>
            </a:xfrm>
            <a:prstGeom prst="roundRect">
              <a:avLst>
                <a:gd name="adj" fmla="val 5714"/>
              </a:avLst>
            </a:prstGeom>
            <a:solidFill>
              <a:srgbClr val="2B2F36"/>
            </a:solidFill>
            <a:ln w="12700">
              <a:solidFill>
                <a:srgbClr val="4A515B"/>
              </a:solidFill>
            </a:ln>
          </p:spPr>
          <p:txBody>
            <a:bodyPr rtlCol="0" anchor="ctr"/>
            <a:lstStyle/>
            <a:p>
              <a:pPr algn="ctr"/>
              <a:endParaRPr/>
            </a:p>
          </p:txBody>
        </p:sp>
        <p:sp>
          <p:nvSpPr>
            <p:cNvPr id="21" name="ICHIP"/>
            <p:cNvSpPr/>
            <p:nvPr/>
          </p:nvSpPr>
          <p:spPr>
            <a:xfrm>
              <a:off x="3502152" y="3520439"/>
              <a:ext cx="228600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OQ10</a:t>
              </a:r>
            </a:p>
          </p:txBody>
        </p:sp>
        <p:sp>
          <p:nvSpPr>
            <p:cNvPr id="22" name="question"/>
            <p:cNvSpPr txBox="1"/>
            <p:nvPr/>
          </p:nvSpPr>
          <p:spPr>
            <a:xfrm>
              <a:off x="3502152" y="3931920"/>
              <a:ext cx="2377440" cy="960120"/>
            </a:xfrm>
            <a:prstGeom prst="rect">
              <a:avLst/>
            </a:prstGeom>
            <a:noFill/>
          </p:spPr>
          <p:txBody>
            <a:bodyPr wrap="square" lIns="18288" tIns="9144" rIns="18288" bIns="9144" anchor="t">
              <a:noAutofit/>
            </a:bodyPr>
            <a:lstStyle/>
            <a:p>
              <a:pPr algn="l"/>
              <a:r>
                <a:rPr lang="en-GB" sz="1800" b="0" i="0">
                  <a:solidFill>
                    <a:srgbClr val="F2F2F2"/>
                  </a:solidFill>
                  <a:latin typeface="Arial"/>
                </a:rPr>
                <a:t>Tender types and rules</a:t>
              </a:r>
            </a:p>
          </p:txBody>
        </p:sp>
        <p:sp>
          <p:nvSpPr>
            <p:cNvPr id="23" name="question card"/>
            <p:cNvSpPr/>
            <p:nvPr/>
          </p:nvSpPr>
          <p:spPr>
            <a:xfrm>
              <a:off x="6181344" y="3383279"/>
              <a:ext cx="2651760" cy="1600200"/>
            </a:xfrm>
            <a:prstGeom prst="roundRect">
              <a:avLst>
                <a:gd name="adj" fmla="val 5714"/>
              </a:avLst>
            </a:prstGeom>
            <a:solidFill>
              <a:srgbClr val="2B2F36"/>
            </a:solidFill>
            <a:ln w="12700">
              <a:solidFill>
                <a:srgbClr val="4A515B"/>
              </a:solidFill>
            </a:ln>
          </p:spPr>
          <p:txBody>
            <a:bodyPr rtlCol="0" anchor="ctr"/>
            <a:lstStyle/>
            <a:p>
              <a:pPr algn="ctr"/>
              <a:endParaRPr/>
            </a:p>
          </p:txBody>
        </p:sp>
        <p:sp>
          <p:nvSpPr>
            <p:cNvPr id="24" name="ICHIP"/>
            <p:cNvSpPr/>
            <p:nvPr/>
          </p:nvSpPr>
          <p:spPr>
            <a:xfrm>
              <a:off x="6318504" y="3520439"/>
              <a:ext cx="228600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OQ11</a:t>
              </a:r>
            </a:p>
          </p:txBody>
        </p:sp>
        <p:sp>
          <p:nvSpPr>
            <p:cNvPr id="25" name="question"/>
            <p:cNvSpPr txBox="1"/>
            <p:nvPr/>
          </p:nvSpPr>
          <p:spPr>
            <a:xfrm>
              <a:off x="6318504" y="3931920"/>
              <a:ext cx="2377440" cy="960120"/>
            </a:xfrm>
            <a:prstGeom prst="rect">
              <a:avLst/>
            </a:prstGeom>
            <a:noFill/>
          </p:spPr>
          <p:txBody>
            <a:bodyPr wrap="square" lIns="18288" tIns="9144" rIns="18288" bIns="9144" anchor="t">
              <a:noAutofit/>
            </a:bodyPr>
            <a:lstStyle/>
            <a:p>
              <a:pPr algn="l"/>
              <a:r>
                <a:rPr lang="en-GB" sz="1800" b="0" i="0">
                  <a:solidFill>
                    <a:srgbClr val="F2F2F2"/>
                  </a:solidFill>
                  <a:latin typeface="Arial"/>
                </a:rPr>
                <a:t>Which service buildings?</a:t>
              </a:r>
            </a:p>
          </p:txBody>
        </p:sp>
        <p:sp>
          <p:nvSpPr>
            <p:cNvPr id="26" name="question card"/>
            <p:cNvSpPr/>
            <p:nvPr/>
          </p:nvSpPr>
          <p:spPr>
            <a:xfrm>
              <a:off x="8997696" y="3383279"/>
              <a:ext cx="2651760" cy="1600200"/>
            </a:xfrm>
            <a:prstGeom prst="roundRect">
              <a:avLst>
                <a:gd name="adj" fmla="val 5714"/>
              </a:avLst>
            </a:prstGeom>
            <a:solidFill>
              <a:srgbClr val="2B2F36"/>
            </a:solidFill>
            <a:ln w="12700">
              <a:solidFill>
                <a:srgbClr val="4A515B"/>
              </a:solidFill>
            </a:ln>
          </p:spPr>
          <p:txBody>
            <a:bodyPr rtlCol="0" anchor="ctr"/>
            <a:lstStyle/>
            <a:p>
              <a:pPr algn="ctr"/>
              <a:endParaRPr/>
            </a:p>
          </p:txBody>
        </p:sp>
        <p:sp>
          <p:nvSpPr>
            <p:cNvPr id="27" name="ICHIP"/>
            <p:cNvSpPr/>
            <p:nvPr/>
          </p:nvSpPr>
          <p:spPr>
            <a:xfrm>
              <a:off x="9134856" y="3520439"/>
              <a:ext cx="228600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OQ11</a:t>
              </a:r>
            </a:p>
          </p:txBody>
        </p:sp>
        <p:sp>
          <p:nvSpPr>
            <p:cNvPr id="28" name="question"/>
            <p:cNvSpPr txBox="1"/>
            <p:nvPr/>
          </p:nvSpPr>
          <p:spPr>
            <a:xfrm>
              <a:off x="9134856" y="3931920"/>
              <a:ext cx="2377440" cy="960120"/>
            </a:xfrm>
            <a:prstGeom prst="rect">
              <a:avLst/>
            </a:prstGeom>
            <a:noFill/>
          </p:spPr>
          <p:txBody>
            <a:bodyPr wrap="square" lIns="18288" tIns="9144" rIns="18288" bIns="9144" anchor="t">
              <a:noAutofit/>
            </a:bodyPr>
            <a:lstStyle/>
            <a:p>
              <a:pPr algn="l"/>
              <a:r>
                <a:rPr lang="en-GB" sz="1800" b="0" i="0">
                  <a:solidFill>
                    <a:srgbClr val="F2F2F2"/>
                  </a:solidFill>
                  <a:latin typeface="Arial"/>
                </a:rPr>
                <a:t>Timetable controls for service stops</a:t>
              </a:r>
            </a:p>
          </p:txBody>
        </p:sp>
      </p:grpSp>
      <p:sp>
        <p:nvSpPr>
          <p:cNvPr id="2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1"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These questions are open. Nothing here has been chosen yet.</a:t>
            </a:r>
          </a:p>
        </p:txBody>
      </p:sp>
      <p:sp>
        <p:nvSpPr>
          <p:cNvPr id="32"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23</a:t>
            </a:r>
          </a:p>
        </p:txBody>
      </p:sp>
    </p:spTree>
    <p:extLst>
      <p:ext uri="{BB962C8B-B14F-4D97-AF65-F5344CB8AC3E}">
        <p14:creationId xmlns:p14="http://schemas.microsoft.com/office/powerpoint/2010/main" val="39838528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Image credits</a:t>
            </a:r>
          </a:p>
        </p:txBody>
      </p:sp>
      <p:graphicFrame>
        <p:nvGraphicFramePr>
          <p:cNvPr id="3" name="TABLE" descr="Table of image credits: slot, slide, author and licence, and a link to the source on Wikimedia Commons. The final row credits the mod render on slide 22."/>
          <p:cNvGraphicFramePr>
            <a:graphicFrameLocks noGrp="1"/>
          </p:cNvGraphicFramePr>
          <p:nvPr/>
        </p:nvGraphicFramePr>
        <p:xfrm>
          <a:off x="548640" y="1325880"/>
          <a:ext cx="11091672" cy="3474720"/>
        </p:xfrm>
        <a:graphic>
          <a:graphicData uri="http://schemas.openxmlformats.org/drawingml/2006/table">
            <a:tbl>
              <a:tblPr firstRow="1">
                <a:tableStyleId>{5C22544A-7EE6-4342-B048-85BDC9FD1C3A}</a:tableStyleId>
              </a:tblPr>
              <a:tblGrid>
                <a:gridCol w="9144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676656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347472">
                <a:tc>
                  <a:txBody>
                    <a:bodyPr/>
                    <a:lstStyle/>
                    <a:p>
                      <a:pPr algn="l"/>
                      <a:r>
                        <a:rPr lang="en-GB" sz="1100" b="1" i="0">
                          <a:solidFill>
                            <a:srgbClr val="F2F2F2"/>
                          </a:solidFill>
                          <a:latin typeface="Arial"/>
                        </a:rPr>
                        <a:t>Slot</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a:lstStyle/>
                    <a:p>
                      <a:pPr algn="l"/>
                      <a:r>
                        <a:rPr lang="en-GB" sz="1100" b="1" i="0">
                          <a:solidFill>
                            <a:srgbClr val="F2F2F2"/>
                          </a:solidFill>
                          <a:latin typeface="Arial"/>
                        </a:rPr>
                        <a:t>Slide</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a:lstStyle/>
                    <a:p>
                      <a:pPr algn="l"/>
                      <a:r>
                        <a:rPr lang="en-GB" sz="1100" b="1" i="0">
                          <a:solidFill>
                            <a:srgbClr val="F2F2F2"/>
                          </a:solidFill>
                          <a:latin typeface="Arial"/>
                        </a:rPr>
                        <a:t>Author and licence</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a:lstStyle/>
                    <a:p>
                      <a:pPr algn="l"/>
                      <a:r>
                        <a:rPr lang="en-GB" sz="1100" b="1" i="0">
                          <a:solidFill>
                            <a:srgbClr val="F2F2F2"/>
                          </a:solidFill>
                          <a:latin typeface="Arial"/>
                        </a:rPr>
                        <a:t>Source link</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extLst>
                  <a:ext uri="{0D108BD9-81ED-4DB2-BD59-A6C34878D82A}">
                    <a16:rowId xmlns:a16="http://schemas.microsoft.com/office/drawing/2014/main" val="10000"/>
                  </a:ext>
                </a:extLst>
              </a:tr>
              <a:tr h="347472">
                <a:tc>
                  <a:txBody>
                    <a:bodyPr/>
                    <a:lstStyle/>
                    <a:p>
                      <a:pPr algn="l"/>
                      <a:r>
                        <a:rPr lang="en-GB" sz="1100" b="1" i="0">
                          <a:solidFill>
                            <a:srgbClr val="F28C28"/>
                          </a:solidFill>
                          <a:latin typeface="Arial"/>
                        </a:rPr>
                        <a:t>P04</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5</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www.mgaylard.co.uk, CC BY 2.0</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8FC7FF"/>
                          </a:solidFill>
                          <a:latin typeface="Arial"/>
                          <a:hlinkClick r:id="rId2"/>
                        </a:rPr>
                        <a:t>Commons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1"/>
                  </a:ext>
                </a:extLst>
              </a:tr>
              <a:tr h="347472">
                <a:tc>
                  <a:txBody>
                    <a:bodyPr/>
                    <a:lstStyle/>
                    <a:p>
                      <a:pPr algn="l"/>
                      <a:r>
                        <a:rPr lang="en-GB" sz="1100" b="1" i="0">
                          <a:solidFill>
                            <a:srgbClr val="F28C28"/>
                          </a:solidFill>
                          <a:latin typeface="Arial"/>
                        </a:rPr>
                        <a:t>P05</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F2F2F2"/>
                          </a:solidFill>
                          <a:latin typeface="Arial"/>
                        </a:rPr>
                        <a:t>5</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F2F2F2"/>
                          </a:solidFill>
                          <a:latin typeface="Arial"/>
                        </a:rPr>
                        <a:t>www.mgaylard.co.uk, CC BY 2.0</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8FC7FF"/>
                          </a:solidFill>
                          <a:latin typeface="Arial"/>
                          <a:hlinkClick r:id="rId3"/>
                        </a:rPr>
                        <a:t>Commons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extLst>
                  <a:ext uri="{0D108BD9-81ED-4DB2-BD59-A6C34878D82A}">
                    <a16:rowId xmlns:a16="http://schemas.microsoft.com/office/drawing/2014/main" val="10002"/>
                  </a:ext>
                </a:extLst>
              </a:tr>
              <a:tr h="347472">
                <a:tc>
                  <a:txBody>
                    <a:bodyPr/>
                    <a:lstStyle/>
                    <a:p>
                      <a:pPr algn="l"/>
                      <a:r>
                        <a:rPr lang="en-GB" sz="1100" b="1" i="0">
                          <a:solidFill>
                            <a:srgbClr val="F28C28"/>
                          </a:solidFill>
                          <a:latin typeface="Arial"/>
                        </a:rPr>
                        <a:t>P06</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6</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Barry Skeates, CC BY 2.0</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8FC7FF"/>
                          </a:solidFill>
                          <a:latin typeface="Arial"/>
                          <a:hlinkClick r:id="rId4"/>
                        </a:rPr>
                        <a:t>Commons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3"/>
                  </a:ext>
                </a:extLst>
              </a:tr>
              <a:tr h="347472">
                <a:tc>
                  <a:txBody>
                    <a:bodyPr/>
                    <a:lstStyle/>
                    <a:p>
                      <a:pPr algn="l"/>
                      <a:r>
                        <a:rPr lang="en-GB" sz="1100" b="1" i="0">
                          <a:solidFill>
                            <a:srgbClr val="F28C28"/>
                          </a:solidFill>
                          <a:latin typeface="Arial"/>
                        </a:rPr>
                        <a:t>P07</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F2F2F2"/>
                          </a:solidFill>
                          <a:latin typeface="Arial"/>
                        </a:rPr>
                        <a:t>6</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F2F2F2"/>
                          </a:solidFill>
                          <a:latin typeface="Arial"/>
                        </a:rPr>
                        <a:t>David Merrett, CC BY 2.0</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8FC7FF"/>
                          </a:solidFill>
                          <a:latin typeface="Arial"/>
                          <a:hlinkClick r:id="rId5"/>
                        </a:rPr>
                        <a:t>Commons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extLst>
                  <a:ext uri="{0D108BD9-81ED-4DB2-BD59-A6C34878D82A}">
                    <a16:rowId xmlns:a16="http://schemas.microsoft.com/office/drawing/2014/main" val="10004"/>
                  </a:ext>
                </a:extLst>
              </a:tr>
              <a:tr h="347472">
                <a:tc>
                  <a:txBody>
                    <a:bodyPr/>
                    <a:lstStyle/>
                    <a:p>
                      <a:pPr algn="l"/>
                      <a:r>
                        <a:rPr lang="en-GB" sz="1100" b="1" i="0">
                          <a:solidFill>
                            <a:srgbClr val="F28C28"/>
                          </a:solidFill>
                          <a:latin typeface="Arial"/>
                        </a:rPr>
                        <a:t>P08</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7</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Gillett's Crossing, CC BY 2.0</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8FC7FF"/>
                          </a:solidFill>
                          <a:latin typeface="Arial"/>
                          <a:hlinkClick r:id="rId6"/>
                        </a:rPr>
                        <a:t>Commons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5"/>
                  </a:ext>
                </a:extLst>
              </a:tr>
              <a:tr h="347472">
                <a:tc>
                  <a:txBody>
                    <a:bodyPr/>
                    <a:lstStyle/>
                    <a:p>
                      <a:pPr algn="l"/>
                      <a:r>
                        <a:rPr lang="en-GB" sz="1100" b="1" i="0">
                          <a:solidFill>
                            <a:srgbClr val="F28C28"/>
                          </a:solidFill>
                          <a:latin typeface="Arial"/>
                        </a:rPr>
                        <a:t>P09</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F2F2F2"/>
                          </a:solidFill>
                          <a:latin typeface="Arial"/>
                        </a:rPr>
                        <a:t>7</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F2F2F2"/>
                          </a:solidFill>
                          <a:latin typeface="Arial"/>
                        </a:rPr>
                        <a:t>kitmasterbloke, CC BY 4.0</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8FC7FF"/>
                          </a:solidFill>
                          <a:latin typeface="Arial"/>
                          <a:hlinkClick r:id="rId7"/>
                        </a:rPr>
                        <a:t>Commons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extLst>
                  <a:ext uri="{0D108BD9-81ED-4DB2-BD59-A6C34878D82A}">
                    <a16:rowId xmlns:a16="http://schemas.microsoft.com/office/drawing/2014/main" val="10006"/>
                  </a:ext>
                </a:extLst>
              </a:tr>
              <a:tr h="347472">
                <a:tc>
                  <a:txBody>
                    <a:bodyPr/>
                    <a:lstStyle/>
                    <a:p>
                      <a:pPr algn="l"/>
                      <a:r>
                        <a:rPr lang="en-GB" sz="1100" b="1" i="0">
                          <a:solidFill>
                            <a:srgbClr val="F28C28"/>
                          </a:solidFill>
                          <a:latin typeface="Arial"/>
                        </a:rPr>
                        <a:t>P17</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1, 12</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Rosser1954, CC BY-SA 4.0</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8FC7FF"/>
                          </a:solidFill>
                          <a:latin typeface="Arial"/>
                          <a:hlinkClick r:id="rId8"/>
                        </a:rPr>
                        <a:t>Commons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7"/>
                  </a:ext>
                </a:extLst>
              </a:tr>
              <a:tr h="347472">
                <a:tc>
                  <a:txBody>
                    <a:bodyPr/>
                    <a:lstStyle/>
                    <a:p>
                      <a:pPr algn="l"/>
                      <a:r>
                        <a:rPr lang="en-GB" sz="1100" b="1" i="0">
                          <a:solidFill>
                            <a:srgbClr val="F28C28"/>
                          </a:solidFill>
                          <a:latin typeface="Arial"/>
                        </a:rPr>
                        <a:t>P18</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F2F2F2"/>
                          </a:solidFill>
                          <a:latin typeface="Arial"/>
                        </a:rPr>
                        <a:t>19</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F2F2F2"/>
                          </a:solidFill>
                          <a:latin typeface="Arial"/>
                        </a:rPr>
                        <a:t>Geof Sheppard, CC BY-SA 4.0</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tc>
                  <a:txBody>
                    <a:bodyPr/>
                    <a:lstStyle/>
                    <a:p>
                      <a:pPr algn="l"/>
                      <a:r>
                        <a:rPr lang="en-GB" sz="1100" b="0" i="0">
                          <a:solidFill>
                            <a:srgbClr val="8FC7FF"/>
                          </a:solidFill>
                          <a:latin typeface="Arial"/>
                          <a:hlinkClick r:id="rId9"/>
                        </a:rPr>
                        <a:t>Commons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1E2126"/>
                    </a:solidFill>
                  </a:tcPr>
                </a:tc>
                <a:extLst>
                  <a:ext uri="{0D108BD9-81ED-4DB2-BD59-A6C34878D82A}">
                    <a16:rowId xmlns:a16="http://schemas.microsoft.com/office/drawing/2014/main" val="10008"/>
                  </a:ext>
                </a:extLst>
              </a:tr>
              <a:tr h="347472">
                <a:tc>
                  <a:txBody>
                    <a:bodyPr/>
                    <a:lstStyle/>
                    <a:p>
                      <a:pPr algn="l"/>
                      <a:r>
                        <a:rPr lang="en-GB" sz="1100" b="1" i="0">
                          <a:solidFill>
                            <a:srgbClr val="F28C28"/>
                          </a:solidFill>
                          <a:latin typeface="Arial"/>
                        </a:rPr>
                        <a:t>R01</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22</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Early Locomotion project (test model, not final art).</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Project render</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9"/>
                  </a:ext>
                </a:extLst>
              </a:tr>
            </a:tbl>
          </a:graphicData>
        </a:graphic>
      </p:graphicFrame>
      <p:sp>
        <p:nvSpPr>
          <p:cNvPr id="4" name="credit note"/>
          <p:cNvSpPr txBox="1"/>
          <p:nvPr/>
        </p:nvSpPr>
        <p:spPr>
          <a:xfrm>
            <a:off x="548640" y="4983480"/>
            <a:ext cx="11091672" cy="365760"/>
          </a:xfrm>
          <a:prstGeom prst="rect">
            <a:avLst/>
          </a:prstGeom>
          <a:noFill/>
        </p:spPr>
        <p:txBody>
          <a:bodyPr wrap="square" lIns="18288" tIns="9144" rIns="18288" bIns="9144" anchor="ctr">
            <a:noAutofit/>
          </a:bodyPr>
          <a:lstStyle/>
          <a:p>
            <a:pPr algn="l"/>
            <a:r>
              <a:rPr lang="en-GB" sz="1400" b="0" i="0">
                <a:solidFill>
                  <a:srgbClr val="A9B0B8"/>
                </a:solidFill>
                <a:latin typeface="Arial"/>
              </a:rPr>
              <a:t>CC BY-SA photos are shown unmodified except for resizing.</a:t>
            </a:r>
          </a:p>
        </p:txBody>
      </p:sp>
      <p:sp>
        <p:nvSpPr>
          <p:cNvPr id="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7"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Photographs come from Wikimedia Commons under Creative Commons licences.</a:t>
            </a:r>
          </a:p>
        </p:txBody>
      </p:sp>
      <p:sp>
        <p:nvSpPr>
          <p:cNvPr id="8"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24</a:t>
            </a:r>
          </a:p>
        </p:txBody>
      </p:sp>
    </p:spTree>
    <p:extLst>
      <p:ext uri="{BB962C8B-B14F-4D97-AF65-F5344CB8AC3E}">
        <p14:creationId xmlns:p14="http://schemas.microsoft.com/office/powerpoint/2010/main" val="39342858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9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1554480"/>
            <a:ext cx="6126480" cy="1828800"/>
          </a:xfrm>
        </p:spPr>
        <p:txBody>
          <a:bodyPr wrap="square" lIns="0" tIns="0" rIns="0" bIns="0" anchor="b">
            <a:noAutofit/>
          </a:bodyPr>
          <a:lstStyle/>
          <a:p>
            <a:pPr algn="l">
              <a:lnSpc>
                <a:spcPct val="95000"/>
              </a:lnSpc>
            </a:pPr>
            <a:r>
              <a:rPr lang="en-GB" sz="5400" b="1" i="0">
                <a:solidFill>
                  <a:srgbClr val="F2F2F2"/>
                </a:solidFill>
                <a:latin typeface="Arial"/>
              </a:rPr>
              <a:t>The Monorail Transition</a:t>
            </a:r>
          </a:p>
        </p:txBody>
      </p:sp>
      <p:pic>
        <p:nvPicPr>
          <p:cNvPr id="3" name="PICTURE R02" descr="High-detail render of the mod's two-rail track. Visual development only: not Unreal-tested, not production-ready."/>
          <p:cNvPicPr>
            <a:picLocks noChangeAspect="1"/>
          </p:cNvPicPr>
          <p:nvPr/>
        </p:nvPicPr>
        <p:blipFill>
          <a:blip r:embed="rId2"/>
          <a:srcRect l="20409" r="34409"/>
          <a:stretch>
            <a:fillRect/>
          </a:stretch>
        </p:blipFill>
        <p:spPr>
          <a:xfrm>
            <a:off x="7086600" y="411480"/>
            <a:ext cx="4553712" cy="5669280"/>
          </a:xfrm>
          <a:prstGeom prst="roundRect">
            <a:avLst>
              <a:gd name="adj" fmla="val 1606"/>
            </a:avLst>
          </a:prstGeom>
        </p:spPr>
      </p:pic>
      <p:sp>
        <p:nvSpPr>
          <p:cNvPr id="4" name="CREDIT"/>
          <p:cNvSpPr txBox="1"/>
          <p:nvPr/>
        </p:nvSpPr>
        <p:spPr>
          <a:xfrm>
            <a:off x="7086600" y="6163056"/>
            <a:ext cx="4553712" cy="201168"/>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(visual development, not final art).</a:t>
            </a:r>
          </a:p>
        </p:txBody>
      </p:sp>
      <p:sp>
        <p:nvSpPr>
          <p:cNvPr id="5" name="TITLE RULE"/>
          <p:cNvSpPr/>
          <p:nvPr/>
        </p:nvSpPr>
        <p:spPr>
          <a:xfrm>
            <a:off x="548640" y="3566160"/>
            <a:ext cx="2194560" cy="73152"/>
          </a:xfrm>
          <a:prstGeom prst="rect">
            <a:avLst/>
          </a:prstGeom>
          <a:solidFill>
            <a:srgbClr val="F28C28"/>
          </a:solidFill>
          <a:ln>
            <a:noFill/>
          </a:ln>
        </p:spPr>
        <p:txBody>
          <a:bodyPr rtlCol="0" anchor="ctr"/>
          <a:lstStyle/>
          <a:p>
            <a:pPr algn="ctr"/>
            <a:endParaRPr/>
          </a:p>
        </p:txBody>
      </p:sp>
      <p:sp>
        <p:nvSpPr>
          <p:cNvPr id="6" name="CAPTION"/>
          <p:cNvSpPr txBox="1"/>
          <p:nvPr/>
        </p:nvSpPr>
        <p:spPr>
          <a:xfrm>
            <a:off x="548640" y="3840480"/>
            <a:ext cx="5852160" cy="1463040"/>
          </a:xfrm>
          <a:prstGeom prst="rect">
            <a:avLst/>
          </a:prstGeom>
          <a:noFill/>
        </p:spPr>
        <p:txBody>
          <a:bodyPr wrap="square" lIns="0" tIns="0" rIns="0" bIns="0" anchor="t">
            <a:noAutofit/>
          </a:bodyPr>
          <a:lstStyle/>
          <a:p>
            <a:pPr algn="l"/>
            <a:r>
              <a:rPr lang="en-GB" sz="2000" b="0" i="0">
                <a:solidFill>
                  <a:srgbClr val="F2F2F2"/>
                </a:solidFill>
                <a:latin typeface="Arial"/>
              </a:rPr>
              <a:t>What happens when the game's electric trains arrive, and how the mod plans to handle it.</a:t>
            </a:r>
          </a:p>
        </p:txBody>
      </p:sp>
    </p:spTree>
    <p:extLst>
      <p:ext uri="{BB962C8B-B14F-4D97-AF65-F5344CB8AC3E}">
        <p14:creationId xmlns:p14="http://schemas.microsoft.com/office/powerpoint/2010/main" val="34460403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How to read this guide</a:t>
            </a:r>
          </a:p>
        </p:txBody>
      </p:sp>
      <p:grpSp>
        <p:nvGrpSpPr>
          <p:cNvPr id="3" name="LEGEND" descr="Legend: five tag chips, each with its plain meaning."/>
          <p:cNvGrpSpPr/>
          <p:nvPr/>
        </p:nvGrpSpPr>
        <p:grpSpPr>
          <a:xfrm>
            <a:off x="548640" y="1371600"/>
            <a:ext cx="6949440" cy="3840480"/>
            <a:chOff x="548640" y="1371600"/>
            <a:chExt cx="6949440" cy="3840480"/>
          </a:xfrm>
        </p:grpSpPr>
        <p:sp>
          <p:nvSpPr>
            <p:cNvPr id="4" name="Rounded Rectangle 3"/>
            <p:cNvSpPr/>
            <p:nvPr/>
          </p:nvSpPr>
          <p:spPr>
            <a:xfrm>
              <a:off x="548640" y="1371600"/>
              <a:ext cx="6949440" cy="548640"/>
            </a:xfrm>
            <a:prstGeom prst="roundRect">
              <a:avLst>
                <a:gd name="adj" fmla="val 13333"/>
              </a:avLst>
            </a:prstGeom>
            <a:solidFill>
              <a:srgbClr val="2B2F36"/>
            </a:solidFill>
            <a:ln>
              <a:noFill/>
            </a:ln>
          </p:spPr>
          <p:txBody>
            <a:bodyPr rtlCol="0" anchor="ctr"/>
            <a:lstStyle/>
            <a:p>
              <a:pPr algn="ctr"/>
              <a:endParaRPr/>
            </a:p>
          </p:txBody>
        </p:sp>
        <p:sp>
          <p:nvSpPr>
            <p:cNvPr id="5" name="LEGEND CHIP"/>
            <p:cNvSpPr/>
            <p:nvPr/>
          </p:nvSpPr>
          <p:spPr>
            <a:xfrm>
              <a:off x="731520" y="1463040"/>
              <a:ext cx="1554480" cy="365760"/>
            </a:xfrm>
            <a:prstGeom prst="roundRect">
              <a:avLst>
                <a:gd name="adj" fmla="val 50000"/>
              </a:avLst>
            </a:prstGeom>
            <a:solidFill>
              <a:srgbClr val="3FB950"/>
            </a:solidFill>
            <a:ln>
              <a:noFill/>
            </a:ln>
          </p:spPr>
          <p:txBody>
            <a:bodyPr wrap="square" lIns="36576" tIns="0" rIns="36576" bIns="0" rtlCol="0" anchor="ctr">
              <a:noAutofit/>
            </a:bodyPr>
            <a:lstStyle/>
            <a:p>
              <a:pPr algn="ctr"/>
              <a:r>
                <a:rPr lang="en-GB" sz="1400" b="1" i="0">
                  <a:solidFill>
                    <a:srgbClr val="101418"/>
                  </a:solidFill>
                  <a:latin typeface="Arial"/>
                </a:rPr>
                <a:t>AGREED</a:t>
              </a:r>
            </a:p>
          </p:txBody>
        </p:sp>
        <p:sp>
          <p:nvSpPr>
            <p:cNvPr id="6" name="TextBox 5"/>
            <p:cNvSpPr txBox="1"/>
            <p:nvPr/>
          </p:nvSpPr>
          <p:spPr>
            <a:xfrm>
              <a:off x="2560320" y="1371600"/>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Decided.</a:t>
              </a:r>
            </a:p>
          </p:txBody>
        </p:sp>
        <p:sp>
          <p:nvSpPr>
            <p:cNvPr id="7" name="Rounded Rectangle 6"/>
            <p:cNvSpPr/>
            <p:nvPr/>
          </p:nvSpPr>
          <p:spPr>
            <a:xfrm>
              <a:off x="548640" y="2194560"/>
              <a:ext cx="6949440" cy="548640"/>
            </a:xfrm>
            <a:prstGeom prst="roundRect">
              <a:avLst>
                <a:gd name="adj" fmla="val 13333"/>
              </a:avLst>
            </a:prstGeom>
            <a:solidFill>
              <a:srgbClr val="2B2F36"/>
            </a:solidFill>
            <a:ln>
              <a:noFill/>
            </a:ln>
          </p:spPr>
          <p:txBody>
            <a:bodyPr rtlCol="0" anchor="ctr"/>
            <a:lstStyle/>
            <a:p>
              <a:pPr algn="ctr"/>
              <a:endParaRPr/>
            </a:p>
          </p:txBody>
        </p:sp>
        <p:sp>
          <p:nvSpPr>
            <p:cNvPr id="8" name="LEGEND CHIP"/>
            <p:cNvSpPr/>
            <p:nvPr/>
          </p:nvSpPr>
          <p:spPr>
            <a:xfrm>
              <a:off x="731520" y="2286000"/>
              <a:ext cx="1554480" cy="365760"/>
            </a:xfrm>
            <a:prstGeom prst="roundRect">
              <a:avLst>
                <a:gd name="adj" fmla="val 50000"/>
              </a:avLst>
            </a:prstGeom>
            <a:solidFill>
              <a:srgbClr val="B084F5"/>
            </a:solidFill>
            <a:ln>
              <a:noFill/>
            </a:ln>
          </p:spPr>
          <p:txBody>
            <a:bodyPr wrap="square" lIns="36576" tIns="0" rIns="36576" bIns="0" rtlCol="0" anchor="ctr">
              <a:noAutofit/>
            </a:bodyPr>
            <a:lstStyle/>
            <a:p>
              <a:pPr algn="ctr"/>
              <a:r>
                <a:rPr lang="en-GB" sz="1400" b="1" i="0">
                  <a:solidFill>
                    <a:srgbClr val="101418"/>
                  </a:solidFill>
                  <a:latin typeface="Arial"/>
                </a:rPr>
                <a:t>PROPOSED</a:t>
              </a:r>
            </a:p>
          </p:txBody>
        </p:sp>
        <p:sp>
          <p:nvSpPr>
            <p:cNvPr id="9" name="TextBox 8"/>
            <p:cNvSpPr txBox="1"/>
            <p:nvPr/>
          </p:nvSpPr>
          <p:spPr>
            <a:xfrm>
              <a:off x="2560320" y="2194560"/>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Suggested, not confirmed.</a:t>
              </a:r>
            </a:p>
          </p:txBody>
        </p:sp>
        <p:sp>
          <p:nvSpPr>
            <p:cNvPr id="10" name="Rounded Rectangle 9"/>
            <p:cNvSpPr/>
            <p:nvPr/>
          </p:nvSpPr>
          <p:spPr>
            <a:xfrm>
              <a:off x="548640" y="3017520"/>
              <a:ext cx="6949440" cy="548640"/>
            </a:xfrm>
            <a:prstGeom prst="roundRect">
              <a:avLst>
                <a:gd name="adj" fmla="val 13333"/>
              </a:avLst>
            </a:prstGeom>
            <a:solidFill>
              <a:srgbClr val="2B2F36"/>
            </a:solidFill>
            <a:ln>
              <a:noFill/>
            </a:ln>
          </p:spPr>
          <p:txBody>
            <a:bodyPr rtlCol="0" anchor="ctr"/>
            <a:lstStyle/>
            <a:p>
              <a:pPr algn="ctr"/>
              <a:endParaRPr/>
            </a:p>
          </p:txBody>
        </p:sp>
        <p:sp>
          <p:nvSpPr>
            <p:cNvPr id="11" name="LEGEND CHIP"/>
            <p:cNvSpPr/>
            <p:nvPr/>
          </p:nvSpPr>
          <p:spPr>
            <a:xfrm>
              <a:off x="731520" y="3108960"/>
              <a:ext cx="1554480" cy="365760"/>
            </a:xfrm>
            <a:prstGeom prst="roundRect">
              <a:avLst>
                <a:gd name="adj" fmla="val 50000"/>
              </a:avLst>
            </a:prstGeom>
            <a:solidFill>
              <a:srgbClr val="4DA3FF"/>
            </a:solidFill>
            <a:ln>
              <a:noFill/>
            </a:ln>
          </p:spPr>
          <p:txBody>
            <a:bodyPr wrap="square" lIns="36576" tIns="0" rIns="36576" bIns="0" rtlCol="0" anchor="ctr">
              <a:noAutofit/>
            </a:bodyPr>
            <a:lstStyle/>
            <a:p>
              <a:pPr algn="ctr"/>
              <a:r>
                <a:rPr lang="en-GB" sz="1400" b="1" i="0">
                  <a:solidFill>
                    <a:srgbClr val="101418"/>
                  </a:solidFill>
                  <a:latin typeface="Arial"/>
                </a:rPr>
                <a:t>PROVISIONAL</a:t>
              </a:r>
            </a:p>
          </p:txBody>
        </p:sp>
        <p:sp>
          <p:nvSpPr>
            <p:cNvPr id="12" name="TextBox 11"/>
            <p:cNvSpPr txBox="1"/>
            <p:nvPr/>
          </p:nvSpPr>
          <p:spPr>
            <a:xfrm>
              <a:off x="2560320" y="3017520"/>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A test number that may change.</a:t>
              </a:r>
            </a:p>
          </p:txBody>
        </p:sp>
        <p:sp>
          <p:nvSpPr>
            <p:cNvPr id="13" name="Rounded Rectangle 12"/>
            <p:cNvSpPr/>
            <p:nvPr/>
          </p:nvSpPr>
          <p:spPr>
            <a:xfrm>
              <a:off x="548640" y="3840480"/>
              <a:ext cx="6949440" cy="548640"/>
            </a:xfrm>
            <a:prstGeom prst="roundRect">
              <a:avLst>
                <a:gd name="adj" fmla="val 13333"/>
              </a:avLst>
            </a:prstGeom>
            <a:solidFill>
              <a:srgbClr val="2B2F36"/>
            </a:solidFill>
            <a:ln>
              <a:noFill/>
            </a:ln>
          </p:spPr>
          <p:txBody>
            <a:bodyPr rtlCol="0" anchor="ctr"/>
            <a:lstStyle/>
            <a:p>
              <a:pPr algn="ctr"/>
              <a:endParaRPr/>
            </a:p>
          </p:txBody>
        </p:sp>
        <p:sp>
          <p:nvSpPr>
            <p:cNvPr id="14" name="LEGEND CHIP"/>
            <p:cNvSpPr/>
            <p:nvPr/>
          </p:nvSpPr>
          <p:spPr>
            <a:xfrm>
              <a:off x="731520" y="3931920"/>
              <a:ext cx="1554480" cy="365760"/>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a:t>
              </a:r>
            </a:p>
          </p:txBody>
        </p:sp>
        <p:sp>
          <p:nvSpPr>
            <p:cNvPr id="15" name="TextBox 14"/>
            <p:cNvSpPr txBox="1"/>
            <p:nvPr/>
          </p:nvSpPr>
          <p:spPr>
            <a:xfrm>
              <a:off x="2560320" y="3840480"/>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Still an open question.</a:t>
              </a:r>
            </a:p>
          </p:txBody>
        </p:sp>
        <p:sp>
          <p:nvSpPr>
            <p:cNvPr id="16" name="Rounded Rectangle 15"/>
            <p:cNvSpPr/>
            <p:nvPr/>
          </p:nvSpPr>
          <p:spPr>
            <a:xfrm>
              <a:off x="548640" y="4663440"/>
              <a:ext cx="6949440" cy="548640"/>
            </a:xfrm>
            <a:prstGeom prst="roundRect">
              <a:avLst>
                <a:gd name="adj" fmla="val 13333"/>
              </a:avLst>
            </a:prstGeom>
            <a:solidFill>
              <a:srgbClr val="2B2F36"/>
            </a:solidFill>
            <a:ln>
              <a:noFill/>
            </a:ln>
          </p:spPr>
          <p:txBody>
            <a:bodyPr rtlCol="0" anchor="ctr"/>
            <a:lstStyle/>
            <a:p>
              <a:pPr algn="ctr"/>
              <a:endParaRPr/>
            </a:p>
          </p:txBody>
        </p:sp>
        <p:sp>
          <p:nvSpPr>
            <p:cNvPr id="17" name="LEGEND CHIP"/>
            <p:cNvSpPr/>
            <p:nvPr/>
          </p:nvSpPr>
          <p:spPr>
            <a:xfrm>
              <a:off x="731520" y="4754880"/>
              <a:ext cx="1554480" cy="365760"/>
            </a:xfrm>
            <a:prstGeom prst="roundRect">
              <a:avLst>
                <a:gd name="adj" fmla="val 50000"/>
              </a:avLst>
            </a:prstGeom>
            <a:solidFill>
              <a:srgbClr val="4A515B"/>
            </a:solidFill>
            <a:ln>
              <a:noFill/>
            </a:ln>
          </p:spPr>
          <p:txBody>
            <a:bodyPr wrap="square" lIns="36576" tIns="0" rIns="36576" bIns="0" rtlCol="0" anchor="ctr">
              <a:noAutofit/>
            </a:bodyPr>
            <a:lstStyle/>
            <a:p>
              <a:pPr algn="ctr"/>
              <a:r>
                <a:rPr lang="en-GB" sz="1400" b="1" i="0">
                  <a:solidFill>
                    <a:srgbClr val="F2F2F2"/>
                  </a:solidFill>
                  <a:latin typeface="Arial"/>
                </a:rPr>
                <a:t>BACKGROUND</a:t>
              </a:r>
            </a:p>
          </p:txBody>
        </p:sp>
        <p:sp>
          <p:nvSpPr>
            <p:cNvPr id="18" name="TextBox 17"/>
            <p:cNvSpPr txBox="1"/>
            <p:nvPr/>
          </p:nvSpPr>
          <p:spPr>
            <a:xfrm>
              <a:off x="2560320" y="4663440"/>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A real-world fact.</a:t>
              </a:r>
            </a:p>
          </p:txBody>
        </p:sp>
      </p:grpSp>
      <p:grpSp>
        <p:nvGrpSpPr>
          <p:cNvPr id="19" name="SKETCH" descr="Sketch of a slide with a tag in its top-right corner."/>
          <p:cNvGrpSpPr/>
          <p:nvPr/>
        </p:nvGrpSpPr>
        <p:grpSpPr>
          <a:xfrm>
            <a:off x="8229600" y="1554480"/>
            <a:ext cx="3383280" cy="2194560"/>
            <a:chOff x="8229600" y="1554480"/>
            <a:chExt cx="3383280" cy="2194560"/>
          </a:xfrm>
        </p:grpSpPr>
        <p:sp>
          <p:nvSpPr>
            <p:cNvPr id="20" name="Rounded Rectangle 19"/>
            <p:cNvSpPr/>
            <p:nvPr/>
          </p:nvSpPr>
          <p:spPr>
            <a:xfrm>
              <a:off x="8229600" y="1554480"/>
              <a:ext cx="3383280" cy="2194560"/>
            </a:xfrm>
            <a:prstGeom prst="roundRect">
              <a:avLst>
                <a:gd name="adj" fmla="val 3333"/>
              </a:avLst>
            </a:prstGeom>
            <a:solidFill>
              <a:srgbClr val="2B2F36"/>
            </a:solidFill>
            <a:ln w="19050">
              <a:solidFill>
                <a:srgbClr val="4A515B"/>
              </a:solidFill>
            </a:ln>
          </p:spPr>
          <p:txBody>
            <a:bodyPr rtlCol="0" anchor="ctr"/>
            <a:lstStyle/>
            <a:p>
              <a:pPr algn="ctr"/>
              <a:endParaRPr/>
            </a:p>
          </p:txBody>
        </p:sp>
        <p:sp>
          <p:nvSpPr>
            <p:cNvPr id="21" name="Rounded Rectangle 20"/>
            <p:cNvSpPr/>
            <p:nvPr/>
          </p:nvSpPr>
          <p:spPr>
            <a:xfrm>
              <a:off x="8458200" y="1783080"/>
              <a:ext cx="1280160" cy="146304"/>
            </a:xfrm>
            <a:prstGeom prst="roundRect">
              <a:avLst>
                <a:gd name="adj" fmla="val 25000"/>
              </a:avLst>
            </a:prstGeom>
            <a:solidFill>
              <a:srgbClr val="4A515B"/>
            </a:solidFill>
            <a:ln>
              <a:noFill/>
            </a:ln>
          </p:spPr>
          <p:txBody>
            <a:bodyPr rtlCol="0" anchor="ctr"/>
            <a:lstStyle/>
            <a:p>
              <a:pPr algn="ctr"/>
              <a:endParaRPr/>
            </a:p>
          </p:txBody>
        </p:sp>
        <p:sp>
          <p:nvSpPr>
            <p:cNvPr id="22" name="Rounded Rectangle 21"/>
            <p:cNvSpPr/>
            <p:nvPr/>
          </p:nvSpPr>
          <p:spPr>
            <a:xfrm>
              <a:off x="8458200" y="2194560"/>
              <a:ext cx="2377440" cy="109728"/>
            </a:xfrm>
            <a:prstGeom prst="roundRect">
              <a:avLst>
                <a:gd name="adj" fmla="val 25000"/>
              </a:avLst>
            </a:prstGeom>
            <a:solidFill>
              <a:srgbClr val="4A515B"/>
            </a:solidFill>
            <a:ln>
              <a:noFill/>
            </a:ln>
          </p:spPr>
          <p:txBody>
            <a:bodyPr rtlCol="0" anchor="ctr"/>
            <a:lstStyle/>
            <a:p>
              <a:pPr algn="ctr"/>
              <a:endParaRPr/>
            </a:p>
          </p:txBody>
        </p:sp>
        <p:sp>
          <p:nvSpPr>
            <p:cNvPr id="23" name="Rounded Rectangle 22"/>
            <p:cNvSpPr/>
            <p:nvPr/>
          </p:nvSpPr>
          <p:spPr>
            <a:xfrm>
              <a:off x="8458200" y="2423160"/>
              <a:ext cx="2011680" cy="109728"/>
            </a:xfrm>
            <a:prstGeom prst="roundRect">
              <a:avLst>
                <a:gd name="adj" fmla="val 25000"/>
              </a:avLst>
            </a:prstGeom>
            <a:solidFill>
              <a:srgbClr val="4A515B"/>
            </a:solidFill>
            <a:ln>
              <a:noFill/>
            </a:ln>
          </p:spPr>
          <p:txBody>
            <a:bodyPr rtlCol="0" anchor="ctr"/>
            <a:lstStyle/>
            <a:p>
              <a:pPr algn="ctr"/>
              <a:endParaRPr/>
            </a:p>
          </p:txBody>
        </p:sp>
        <p:sp>
          <p:nvSpPr>
            <p:cNvPr id="24" name="Rounded Rectangle 23"/>
            <p:cNvSpPr/>
            <p:nvPr/>
          </p:nvSpPr>
          <p:spPr>
            <a:xfrm>
              <a:off x="8458200" y="2743200"/>
              <a:ext cx="2926080" cy="640080"/>
            </a:xfrm>
            <a:prstGeom prst="roundRect">
              <a:avLst>
                <a:gd name="adj" fmla="val 7142"/>
              </a:avLst>
            </a:prstGeom>
            <a:solidFill>
              <a:srgbClr val="343A43"/>
            </a:solidFill>
            <a:ln>
              <a:noFill/>
            </a:ln>
          </p:spPr>
          <p:txBody>
            <a:bodyPr rtlCol="0" anchor="ctr"/>
            <a:lstStyle/>
            <a:p>
              <a:pPr algn="ctr"/>
              <a:endParaRPr/>
            </a:p>
          </p:txBody>
        </p:sp>
        <p:sp>
          <p:nvSpPr>
            <p:cNvPr id="25" name="Rounded Rectangle 24"/>
            <p:cNvSpPr/>
            <p:nvPr/>
          </p:nvSpPr>
          <p:spPr>
            <a:xfrm>
              <a:off x="10561320" y="1737360"/>
              <a:ext cx="868680" cy="237744"/>
            </a:xfrm>
            <a:prstGeom prst="roundRect">
              <a:avLst>
                <a:gd name="adj" fmla="val 50000"/>
              </a:avLst>
            </a:prstGeom>
            <a:solidFill>
              <a:srgbClr val="3FB950"/>
            </a:solidFill>
            <a:ln>
              <a:noFill/>
            </a:ln>
          </p:spPr>
          <p:txBody>
            <a:bodyPr rtlCol="0" anchor="ctr"/>
            <a:lstStyle/>
            <a:p>
              <a:pPr algn="ctr"/>
              <a:endParaRPr/>
            </a:p>
          </p:txBody>
        </p:sp>
      </p:grpSp>
      <p:sp>
        <p:nvSpPr>
          <p:cNvPr id="2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8"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Every idea carries a tag in the top-right corner.</a:t>
            </a:r>
          </a:p>
        </p:txBody>
      </p:sp>
      <p:sp>
        <p:nvSpPr>
          <p:cNvPr id="29"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a:t>
            </a:r>
          </a:p>
        </p:txBody>
      </p:sp>
    </p:spTree>
    <p:extLst>
      <p:ext uri="{BB962C8B-B14F-4D97-AF65-F5344CB8AC3E}">
        <p14:creationId xmlns:p14="http://schemas.microsoft.com/office/powerpoint/2010/main" val="36182994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6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nodeType="withEffect">
                                  <p:stCondLst>
                                    <p:cond delay="90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nodeType="withEffect">
                                  <p:stCondLst>
                                    <p:cond delay="120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Two kinds of railway</a:t>
            </a:r>
          </a:p>
        </p:txBody>
      </p:sp>
      <p:sp>
        <p:nvSpPr>
          <p:cNvPr id="3" name="CHIP"/>
          <p:cNvSpPr/>
          <p:nvPr/>
        </p:nvSpPr>
        <p:spPr>
          <a:xfrm>
            <a:off x="10088575" y="548640"/>
            <a:ext cx="1554480" cy="365760"/>
          </a:xfrm>
          <a:prstGeom prst="roundRect">
            <a:avLst>
              <a:gd name="adj" fmla="val 50000"/>
            </a:avLst>
          </a:prstGeom>
          <a:solidFill>
            <a:srgbClr val="3FB950"/>
          </a:solidFill>
          <a:ln>
            <a:noFill/>
          </a:ln>
        </p:spPr>
        <p:txBody>
          <a:bodyPr wrap="square" lIns="36576" tIns="0" rIns="36576" bIns="0" rtlCol="0" anchor="ctr">
            <a:noAutofit/>
          </a:bodyPr>
          <a:lstStyle/>
          <a:p>
            <a:pPr algn="ctr"/>
            <a:r>
              <a:rPr lang="en-GB" sz="1400" b="1" i="0">
                <a:solidFill>
                  <a:srgbClr val="101418"/>
                </a:solidFill>
                <a:latin typeface="Arial"/>
              </a:rPr>
              <a:t>AGREED</a:t>
            </a:r>
          </a:p>
        </p:txBody>
      </p:sp>
      <p:grpSp>
        <p:nvGrpSpPr>
          <p:cNvPr id="4" name="DIAGRAM steam track" descr="End-on view of conventional track: two steel rails fixed to a sleeper, which rests on ballast."/>
          <p:cNvGrpSpPr/>
          <p:nvPr/>
        </p:nvGrpSpPr>
        <p:grpSpPr>
          <a:xfrm>
            <a:off x="548640" y="1325880"/>
            <a:ext cx="5394960" cy="4297680"/>
            <a:chOff x="548640" y="1325880"/>
            <a:chExt cx="5394960" cy="4297680"/>
          </a:xfrm>
        </p:grpSpPr>
        <p:sp>
          <p:nvSpPr>
            <p:cNvPr id="5" name="Rounded Rectangle 4"/>
            <p:cNvSpPr/>
            <p:nvPr/>
          </p:nvSpPr>
          <p:spPr>
            <a:xfrm>
              <a:off x="548640" y="1325880"/>
              <a:ext cx="5394960" cy="4297680"/>
            </a:xfrm>
            <a:prstGeom prst="roundRect">
              <a:avLst>
                <a:gd name="adj" fmla="val 1702"/>
              </a:avLst>
            </a:prstGeom>
            <a:solidFill>
              <a:srgbClr val="2B2F36"/>
            </a:solidFill>
            <a:ln>
              <a:noFill/>
            </a:ln>
          </p:spPr>
          <p:txBody>
            <a:bodyPr rtlCol="0" anchor="ctr"/>
            <a:lstStyle/>
            <a:p>
              <a:pPr algn="ctr"/>
              <a:endParaRPr/>
            </a:p>
          </p:txBody>
        </p:sp>
        <p:sp>
          <p:nvSpPr>
            <p:cNvPr id="6" name="Freeform 5"/>
            <p:cNvSpPr/>
            <p:nvPr/>
          </p:nvSpPr>
          <p:spPr>
            <a:xfrm>
              <a:off x="731519" y="3657600"/>
              <a:ext cx="5029201" cy="777240"/>
            </a:xfrm>
            <a:custGeom>
              <a:avLst/>
              <a:gdLst/>
              <a:ahLst/>
              <a:cxnLst/>
              <a:rect l="l" t="t" r="r" b="b"/>
              <a:pathLst>
                <a:path w="5029201" h="777240">
                  <a:moveTo>
                    <a:pt x="594360" y="0"/>
                  </a:moveTo>
                  <a:lnTo>
                    <a:pt x="4434841" y="0"/>
                  </a:lnTo>
                  <a:lnTo>
                    <a:pt x="5029201" y="777240"/>
                  </a:lnTo>
                  <a:lnTo>
                    <a:pt x="0" y="777240"/>
                  </a:lnTo>
                  <a:close/>
                </a:path>
              </a:pathLst>
            </a:custGeom>
            <a:solidFill>
              <a:srgbClr val="5B6068"/>
            </a:solidFill>
            <a:ln>
              <a:noFill/>
            </a:ln>
          </p:spPr>
          <p:txBody>
            <a:bodyPr rtlCol="0" anchor="ctr"/>
            <a:lstStyle/>
            <a:p>
              <a:pPr algn="ctr"/>
              <a:endParaRPr/>
            </a:p>
          </p:txBody>
        </p:sp>
        <p:sp>
          <p:nvSpPr>
            <p:cNvPr id="7" name="Rectangle 6"/>
            <p:cNvSpPr/>
            <p:nvPr/>
          </p:nvSpPr>
          <p:spPr>
            <a:xfrm>
              <a:off x="1508760" y="3364992"/>
              <a:ext cx="3474720" cy="292608"/>
            </a:xfrm>
            <a:prstGeom prst="rect">
              <a:avLst/>
            </a:prstGeom>
            <a:solidFill>
              <a:srgbClr val="6B5B4B"/>
            </a:solidFill>
            <a:ln>
              <a:noFill/>
            </a:ln>
          </p:spPr>
          <p:txBody>
            <a:bodyPr rtlCol="0" anchor="ctr"/>
            <a:lstStyle/>
            <a:p>
              <a:pPr algn="ctr"/>
              <a:endParaRPr/>
            </a:p>
          </p:txBody>
        </p:sp>
        <p:sp>
          <p:nvSpPr>
            <p:cNvPr id="8" name="Rounded Rectangle 7"/>
            <p:cNvSpPr/>
            <p:nvPr/>
          </p:nvSpPr>
          <p:spPr>
            <a:xfrm>
              <a:off x="1965959" y="2377440"/>
              <a:ext cx="365760" cy="201168"/>
            </a:xfrm>
            <a:prstGeom prst="roundRect">
              <a:avLst>
                <a:gd name="adj" fmla="val 27272"/>
              </a:avLst>
            </a:prstGeom>
            <a:solidFill>
              <a:srgbClr val="9AA0A6"/>
            </a:solidFill>
            <a:ln>
              <a:noFill/>
            </a:ln>
          </p:spPr>
          <p:txBody>
            <a:bodyPr rtlCol="0" anchor="ctr"/>
            <a:lstStyle/>
            <a:p>
              <a:pPr algn="ctr"/>
              <a:endParaRPr/>
            </a:p>
          </p:txBody>
        </p:sp>
        <p:sp>
          <p:nvSpPr>
            <p:cNvPr id="9" name="Rectangle 8"/>
            <p:cNvSpPr/>
            <p:nvPr/>
          </p:nvSpPr>
          <p:spPr>
            <a:xfrm>
              <a:off x="2084831" y="2578608"/>
              <a:ext cx="128016" cy="713232"/>
            </a:xfrm>
            <a:prstGeom prst="rect">
              <a:avLst/>
            </a:prstGeom>
            <a:solidFill>
              <a:srgbClr val="9AA0A6"/>
            </a:solidFill>
            <a:ln>
              <a:noFill/>
            </a:ln>
          </p:spPr>
          <p:txBody>
            <a:bodyPr rtlCol="0" anchor="ctr"/>
            <a:lstStyle/>
            <a:p>
              <a:pPr algn="ctr"/>
              <a:endParaRPr/>
            </a:p>
          </p:txBody>
        </p:sp>
        <p:sp>
          <p:nvSpPr>
            <p:cNvPr id="10" name="Rectangle 9"/>
            <p:cNvSpPr/>
            <p:nvPr/>
          </p:nvSpPr>
          <p:spPr>
            <a:xfrm>
              <a:off x="1837943" y="3291840"/>
              <a:ext cx="621792" cy="91440"/>
            </a:xfrm>
            <a:prstGeom prst="rect">
              <a:avLst/>
            </a:prstGeom>
            <a:solidFill>
              <a:srgbClr val="9AA0A6"/>
            </a:solidFill>
            <a:ln>
              <a:noFill/>
            </a:ln>
          </p:spPr>
          <p:txBody>
            <a:bodyPr rtlCol="0" anchor="ctr"/>
            <a:lstStyle/>
            <a:p>
              <a:pPr algn="ctr"/>
              <a:endParaRPr/>
            </a:p>
          </p:txBody>
        </p:sp>
        <p:sp>
          <p:nvSpPr>
            <p:cNvPr id="11" name="Rounded Rectangle 10"/>
            <p:cNvSpPr/>
            <p:nvPr/>
          </p:nvSpPr>
          <p:spPr>
            <a:xfrm>
              <a:off x="4160520" y="2377440"/>
              <a:ext cx="365760" cy="201168"/>
            </a:xfrm>
            <a:prstGeom prst="roundRect">
              <a:avLst>
                <a:gd name="adj" fmla="val 27272"/>
              </a:avLst>
            </a:prstGeom>
            <a:solidFill>
              <a:srgbClr val="9AA0A6"/>
            </a:solidFill>
            <a:ln>
              <a:noFill/>
            </a:ln>
          </p:spPr>
          <p:txBody>
            <a:bodyPr rtlCol="0" anchor="ctr"/>
            <a:lstStyle/>
            <a:p>
              <a:pPr algn="ctr"/>
              <a:endParaRPr/>
            </a:p>
          </p:txBody>
        </p:sp>
        <p:sp>
          <p:nvSpPr>
            <p:cNvPr id="12" name="Rectangle 11"/>
            <p:cNvSpPr/>
            <p:nvPr/>
          </p:nvSpPr>
          <p:spPr>
            <a:xfrm>
              <a:off x="4279392" y="2578608"/>
              <a:ext cx="128016" cy="713232"/>
            </a:xfrm>
            <a:prstGeom prst="rect">
              <a:avLst/>
            </a:prstGeom>
            <a:solidFill>
              <a:srgbClr val="9AA0A6"/>
            </a:solidFill>
            <a:ln>
              <a:noFill/>
            </a:ln>
          </p:spPr>
          <p:txBody>
            <a:bodyPr rtlCol="0" anchor="ctr"/>
            <a:lstStyle/>
            <a:p>
              <a:pPr algn="ctr"/>
              <a:endParaRPr/>
            </a:p>
          </p:txBody>
        </p:sp>
        <p:sp>
          <p:nvSpPr>
            <p:cNvPr id="13" name="Rectangle 12"/>
            <p:cNvSpPr/>
            <p:nvPr/>
          </p:nvSpPr>
          <p:spPr>
            <a:xfrm>
              <a:off x="4032504" y="3291840"/>
              <a:ext cx="621792" cy="91440"/>
            </a:xfrm>
            <a:prstGeom prst="rect">
              <a:avLst/>
            </a:prstGeom>
            <a:solidFill>
              <a:srgbClr val="9AA0A6"/>
            </a:solidFill>
            <a:ln>
              <a:noFill/>
            </a:ln>
          </p:spPr>
          <p:txBody>
            <a:bodyPr rtlCol="0" anchor="ctr"/>
            <a:lstStyle/>
            <a:p>
              <a:pPr algn="ctr"/>
              <a:endParaRPr/>
            </a:p>
          </p:txBody>
        </p:sp>
        <p:sp>
          <p:nvSpPr>
            <p:cNvPr id="14" name="TextBox 13"/>
            <p:cNvSpPr txBox="1"/>
            <p:nvPr/>
          </p:nvSpPr>
          <p:spPr>
            <a:xfrm>
              <a:off x="731520" y="4572000"/>
              <a:ext cx="5029200" cy="822960"/>
            </a:xfrm>
            <a:prstGeom prst="rect">
              <a:avLst/>
            </a:prstGeom>
            <a:noFill/>
          </p:spPr>
          <p:txBody>
            <a:bodyPr wrap="square" lIns="18288" tIns="9144" rIns="18288" bIns="9144" anchor="ctr">
              <a:noAutofit/>
            </a:bodyPr>
            <a:lstStyle/>
            <a:p>
              <a:pPr algn="ctr"/>
              <a:r>
                <a:rPr lang="en-GB" sz="2400" b="1" i="0">
                  <a:solidFill>
                    <a:srgbClr val="F28C28"/>
                  </a:solidFill>
                  <a:latin typeface="Arial"/>
                </a:rPr>
                <a:t>Steam: two rails</a:t>
              </a:r>
            </a:p>
          </p:txBody>
        </p:sp>
      </p:grpSp>
      <p:grpSp>
        <p:nvGrpSpPr>
          <p:cNvPr id="15" name="DIAGRAM monorail" descr="End-on view of an electric carriage wrapped around a single raised beam on a pillar."/>
          <p:cNvGrpSpPr/>
          <p:nvPr/>
        </p:nvGrpSpPr>
        <p:grpSpPr>
          <a:xfrm>
            <a:off x="6245352" y="1325880"/>
            <a:ext cx="5394960" cy="4297680"/>
            <a:chOff x="6245352" y="1325880"/>
            <a:chExt cx="5394960" cy="4297680"/>
          </a:xfrm>
        </p:grpSpPr>
        <p:sp>
          <p:nvSpPr>
            <p:cNvPr id="16" name="Rounded Rectangle 15"/>
            <p:cNvSpPr/>
            <p:nvPr/>
          </p:nvSpPr>
          <p:spPr>
            <a:xfrm>
              <a:off x="6245352" y="1325880"/>
              <a:ext cx="5394960" cy="4297680"/>
            </a:xfrm>
            <a:prstGeom prst="roundRect">
              <a:avLst>
                <a:gd name="adj" fmla="val 1702"/>
              </a:avLst>
            </a:prstGeom>
            <a:solidFill>
              <a:srgbClr val="2B2F36"/>
            </a:solidFill>
            <a:ln>
              <a:noFill/>
            </a:ln>
          </p:spPr>
          <p:txBody>
            <a:bodyPr rtlCol="0" anchor="ctr"/>
            <a:lstStyle/>
            <a:p>
              <a:pPr algn="ctr"/>
              <a:endParaRPr/>
            </a:p>
          </p:txBody>
        </p:sp>
        <p:sp>
          <p:nvSpPr>
            <p:cNvPr id="17" name="Rectangle 16"/>
            <p:cNvSpPr/>
            <p:nvPr/>
          </p:nvSpPr>
          <p:spPr>
            <a:xfrm>
              <a:off x="6565392" y="4343400"/>
              <a:ext cx="4754880" cy="91440"/>
            </a:xfrm>
            <a:prstGeom prst="rect">
              <a:avLst/>
            </a:prstGeom>
            <a:solidFill>
              <a:srgbClr val="5B6068"/>
            </a:solidFill>
            <a:ln>
              <a:noFill/>
            </a:ln>
          </p:spPr>
          <p:txBody>
            <a:bodyPr rtlCol="0" anchor="ctr"/>
            <a:lstStyle/>
            <a:p>
              <a:pPr algn="ctr"/>
              <a:endParaRPr/>
            </a:p>
          </p:txBody>
        </p:sp>
        <p:sp>
          <p:nvSpPr>
            <p:cNvPr id="18" name="Rectangle 17"/>
            <p:cNvSpPr/>
            <p:nvPr/>
          </p:nvSpPr>
          <p:spPr>
            <a:xfrm>
              <a:off x="8485632" y="4251960"/>
              <a:ext cx="914400" cy="109728"/>
            </a:xfrm>
            <a:prstGeom prst="rect">
              <a:avLst/>
            </a:prstGeom>
            <a:solidFill>
              <a:srgbClr val="5B6068"/>
            </a:solidFill>
            <a:ln>
              <a:noFill/>
            </a:ln>
          </p:spPr>
          <p:txBody>
            <a:bodyPr rtlCol="0" anchor="ctr"/>
            <a:lstStyle/>
            <a:p>
              <a:pPr algn="ctr"/>
              <a:endParaRPr/>
            </a:p>
          </p:txBody>
        </p:sp>
        <p:sp>
          <p:nvSpPr>
            <p:cNvPr id="19" name="Rectangle 18"/>
            <p:cNvSpPr/>
            <p:nvPr/>
          </p:nvSpPr>
          <p:spPr>
            <a:xfrm>
              <a:off x="8787384" y="2926080"/>
              <a:ext cx="310896" cy="1371600"/>
            </a:xfrm>
            <a:prstGeom prst="rect">
              <a:avLst/>
            </a:prstGeom>
            <a:solidFill>
              <a:srgbClr val="9AA0A6"/>
            </a:solidFill>
            <a:ln>
              <a:noFill/>
            </a:ln>
          </p:spPr>
          <p:txBody>
            <a:bodyPr rtlCol="0" anchor="ctr"/>
            <a:lstStyle/>
            <a:p>
              <a:pPr algn="ctr"/>
              <a:endParaRPr/>
            </a:p>
          </p:txBody>
        </p:sp>
        <p:sp>
          <p:nvSpPr>
            <p:cNvPr id="20" name="Rectangle 19"/>
            <p:cNvSpPr/>
            <p:nvPr/>
          </p:nvSpPr>
          <p:spPr>
            <a:xfrm>
              <a:off x="8558784" y="2560320"/>
              <a:ext cx="768096" cy="384048"/>
            </a:xfrm>
            <a:prstGeom prst="rect">
              <a:avLst/>
            </a:prstGeom>
            <a:solidFill>
              <a:srgbClr val="E8E8E8"/>
            </a:solidFill>
            <a:ln>
              <a:noFill/>
            </a:ln>
          </p:spPr>
          <p:txBody>
            <a:bodyPr rtlCol="0" anchor="ctr"/>
            <a:lstStyle/>
            <a:p>
              <a:pPr algn="ctr"/>
              <a:endParaRPr/>
            </a:p>
          </p:txBody>
        </p:sp>
        <p:sp>
          <p:nvSpPr>
            <p:cNvPr id="21" name="Freeform 20"/>
            <p:cNvSpPr/>
            <p:nvPr/>
          </p:nvSpPr>
          <p:spPr>
            <a:xfrm>
              <a:off x="7754111" y="1691640"/>
              <a:ext cx="2377441" cy="1417320"/>
            </a:xfrm>
            <a:custGeom>
              <a:avLst/>
              <a:gdLst/>
              <a:ahLst/>
              <a:cxnLst/>
              <a:rect l="l" t="t" r="r" b="b"/>
              <a:pathLst>
                <a:path w="2377441" h="1417320">
                  <a:moveTo>
                    <a:pt x="0" y="0"/>
                  </a:moveTo>
                  <a:lnTo>
                    <a:pt x="2377441" y="0"/>
                  </a:lnTo>
                  <a:lnTo>
                    <a:pt x="2377441" y="1417320"/>
                  </a:lnTo>
                  <a:lnTo>
                    <a:pt x="1719073" y="1417320"/>
                  </a:lnTo>
                  <a:lnTo>
                    <a:pt x="1719073" y="731520"/>
                  </a:lnTo>
                  <a:lnTo>
                    <a:pt x="658369" y="731520"/>
                  </a:lnTo>
                  <a:lnTo>
                    <a:pt x="658369" y="1417320"/>
                  </a:lnTo>
                  <a:lnTo>
                    <a:pt x="0" y="1417320"/>
                  </a:lnTo>
                  <a:close/>
                </a:path>
              </a:pathLst>
            </a:custGeom>
            <a:solidFill>
              <a:srgbClr val="6CA0DC"/>
            </a:solidFill>
            <a:ln>
              <a:noFill/>
            </a:ln>
          </p:spPr>
          <p:txBody>
            <a:bodyPr rtlCol="0" anchor="ctr"/>
            <a:lstStyle/>
            <a:p>
              <a:pPr algn="ctr"/>
              <a:endParaRPr/>
            </a:p>
          </p:txBody>
        </p:sp>
        <p:sp>
          <p:nvSpPr>
            <p:cNvPr id="22" name="Rounded Rectangle 21"/>
            <p:cNvSpPr/>
            <p:nvPr/>
          </p:nvSpPr>
          <p:spPr>
            <a:xfrm>
              <a:off x="7936992" y="1828800"/>
              <a:ext cx="548640" cy="329184"/>
            </a:xfrm>
            <a:prstGeom prst="roundRect">
              <a:avLst>
                <a:gd name="adj" fmla="val 13888"/>
              </a:avLst>
            </a:prstGeom>
            <a:solidFill>
              <a:srgbClr val="1E2126"/>
            </a:solidFill>
            <a:ln>
              <a:noFill/>
            </a:ln>
          </p:spPr>
          <p:txBody>
            <a:bodyPr rtlCol="0" anchor="ctr"/>
            <a:lstStyle/>
            <a:p>
              <a:pPr algn="ctr"/>
              <a:endParaRPr/>
            </a:p>
          </p:txBody>
        </p:sp>
        <p:sp>
          <p:nvSpPr>
            <p:cNvPr id="23" name="Rounded Rectangle 22"/>
            <p:cNvSpPr/>
            <p:nvPr/>
          </p:nvSpPr>
          <p:spPr>
            <a:xfrm>
              <a:off x="8622792" y="1828800"/>
              <a:ext cx="548640" cy="329184"/>
            </a:xfrm>
            <a:prstGeom prst="roundRect">
              <a:avLst>
                <a:gd name="adj" fmla="val 13888"/>
              </a:avLst>
            </a:prstGeom>
            <a:solidFill>
              <a:srgbClr val="1E2126"/>
            </a:solidFill>
            <a:ln>
              <a:noFill/>
            </a:ln>
          </p:spPr>
          <p:txBody>
            <a:bodyPr rtlCol="0" anchor="ctr"/>
            <a:lstStyle/>
            <a:p>
              <a:pPr algn="ctr"/>
              <a:endParaRPr/>
            </a:p>
          </p:txBody>
        </p:sp>
        <p:sp>
          <p:nvSpPr>
            <p:cNvPr id="24" name="Rounded Rectangle 23"/>
            <p:cNvSpPr/>
            <p:nvPr/>
          </p:nvSpPr>
          <p:spPr>
            <a:xfrm>
              <a:off x="9308592" y="1828800"/>
              <a:ext cx="548640" cy="329184"/>
            </a:xfrm>
            <a:prstGeom prst="roundRect">
              <a:avLst>
                <a:gd name="adj" fmla="val 13888"/>
              </a:avLst>
            </a:prstGeom>
            <a:solidFill>
              <a:srgbClr val="1E2126"/>
            </a:solidFill>
            <a:ln>
              <a:noFill/>
            </a:ln>
          </p:spPr>
          <p:txBody>
            <a:bodyPr rtlCol="0" anchor="ctr"/>
            <a:lstStyle/>
            <a:p>
              <a:pPr algn="ctr"/>
              <a:endParaRPr/>
            </a:p>
          </p:txBody>
        </p:sp>
        <p:sp>
          <p:nvSpPr>
            <p:cNvPr id="25" name="TextBox 24"/>
            <p:cNvSpPr txBox="1"/>
            <p:nvPr/>
          </p:nvSpPr>
          <p:spPr>
            <a:xfrm>
              <a:off x="6428232" y="4498848"/>
              <a:ext cx="5029200" cy="1005840"/>
            </a:xfrm>
            <a:prstGeom prst="rect">
              <a:avLst/>
            </a:prstGeom>
            <a:noFill/>
          </p:spPr>
          <p:txBody>
            <a:bodyPr wrap="square" lIns="18288" tIns="9144" rIns="18288" bIns="9144" anchor="ctr">
              <a:noAutofit/>
            </a:bodyPr>
            <a:lstStyle/>
            <a:p>
              <a:pPr algn="ctr"/>
              <a:r>
                <a:rPr lang="en-GB" sz="2400" b="1" i="0">
                  <a:solidFill>
                    <a:srgbClr val="6CA0DC"/>
                  </a:solidFill>
                  <a:latin typeface="Arial"/>
                </a:rPr>
                <a:t>Monorail: one beam</a:t>
              </a:r>
            </a:p>
            <a:p>
              <a:pPr algn="ctr"/>
              <a:r>
                <a:rPr lang="en-GB" sz="1800" b="0" i="0">
                  <a:solidFill>
                    <a:srgbClr val="F2F2F2"/>
                  </a:solidFill>
                  <a:latin typeface="Arial"/>
                </a:rPr>
                <a:t>(the game's electric trains)</a:t>
              </a:r>
            </a:p>
          </p:txBody>
        </p:sp>
      </p:grpSp>
      <p:sp>
        <p:nvSpPr>
          <p:cNvPr id="2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8"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Steam runs on two rails. The game's later trains hug a single beam.</a:t>
            </a:r>
          </a:p>
        </p:txBody>
      </p:sp>
      <p:sp>
        <p:nvSpPr>
          <p:cNvPr id="29"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3</a:t>
            </a:r>
          </a:p>
        </p:txBody>
      </p:sp>
    </p:spTree>
    <p:extLst>
      <p:ext uri="{BB962C8B-B14F-4D97-AF65-F5344CB8AC3E}">
        <p14:creationId xmlns:p14="http://schemas.microsoft.com/office/powerpoint/2010/main" val="18076375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60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nodeType="withEffect">
                                  <p:stCondLst>
                                    <p:cond delay="90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nodeType="withEffect">
                                  <p:stCondLst>
                                    <p:cond delay="120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They cannot swap</a:t>
            </a:r>
          </a:p>
        </p:txBody>
      </p:sp>
      <p:sp>
        <p:nvSpPr>
          <p:cNvPr id="3" name="CHIP"/>
          <p:cNvSpPr/>
          <p:nvPr/>
        </p:nvSpPr>
        <p:spPr>
          <a:xfrm>
            <a:off x="10088575" y="548640"/>
            <a:ext cx="1554480" cy="365760"/>
          </a:xfrm>
          <a:prstGeom prst="roundRect">
            <a:avLst>
              <a:gd name="adj" fmla="val 50000"/>
            </a:avLst>
          </a:prstGeom>
          <a:solidFill>
            <a:srgbClr val="3FB950"/>
          </a:solidFill>
          <a:ln>
            <a:noFill/>
          </a:ln>
        </p:spPr>
        <p:txBody>
          <a:bodyPr wrap="square" lIns="36576" tIns="0" rIns="36576" bIns="0" rtlCol="0" anchor="ctr">
            <a:noAutofit/>
          </a:bodyPr>
          <a:lstStyle/>
          <a:p>
            <a:pPr algn="ctr"/>
            <a:r>
              <a:rPr lang="en-GB" sz="1400" b="1" i="0">
                <a:solidFill>
                  <a:srgbClr val="101418"/>
                </a:solidFill>
                <a:latin typeface="Arial"/>
              </a:rPr>
              <a:t>AGREED</a:t>
            </a:r>
          </a:p>
        </p:txBody>
      </p:sp>
      <p:grpSp>
        <p:nvGrpSpPr>
          <p:cNvPr id="4" name="DIAGRAM steam wheel" descr="A steam wheel resting on a rail, with a green tick: it works on its own track."/>
          <p:cNvGrpSpPr/>
          <p:nvPr/>
        </p:nvGrpSpPr>
        <p:grpSpPr>
          <a:xfrm>
            <a:off x="548640" y="1325880"/>
            <a:ext cx="4389120" cy="4251960"/>
            <a:chOff x="548640" y="1325880"/>
            <a:chExt cx="4389120" cy="4251960"/>
          </a:xfrm>
        </p:grpSpPr>
        <p:sp>
          <p:nvSpPr>
            <p:cNvPr id="5" name="Rounded Rectangle 4"/>
            <p:cNvSpPr/>
            <p:nvPr/>
          </p:nvSpPr>
          <p:spPr>
            <a:xfrm>
              <a:off x="548640" y="1325880"/>
              <a:ext cx="4389120" cy="4251960"/>
            </a:xfrm>
            <a:prstGeom prst="roundRect">
              <a:avLst>
                <a:gd name="adj" fmla="val 1720"/>
              </a:avLst>
            </a:prstGeom>
            <a:solidFill>
              <a:srgbClr val="2B2F36"/>
            </a:solidFill>
            <a:ln>
              <a:noFill/>
            </a:ln>
          </p:spPr>
          <p:txBody>
            <a:bodyPr rtlCol="0" anchor="ctr"/>
            <a:lstStyle/>
            <a:p>
              <a:pPr algn="ctr"/>
              <a:endParaRPr/>
            </a:p>
          </p:txBody>
        </p:sp>
        <p:sp>
          <p:nvSpPr>
            <p:cNvPr id="6" name="Oval 5"/>
            <p:cNvSpPr/>
            <p:nvPr/>
          </p:nvSpPr>
          <p:spPr>
            <a:xfrm>
              <a:off x="1783080" y="1828799"/>
              <a:ext cx="1920240" cy="1920240"/>
            </a:xfrm>
            <a:prstGeom prst="ellipse">
              <a:avLst/>
            </a:prstGeom>
            <a:noFill/>
            <a:ln w="114300">
              <a:solidFill>
                <a:srgbClr val="F28C28"/>
              </a:solidFill>
            </a:ln>
          </p:spPr>
          <p:txBody>
            <a:bodyPr rtlCol="0" anchor="ctr"/>
            <a:lstStyle/>
            <a:p>
              <a:pPr algn="ctr"/>
              <a:endParaRPr/>
            </a:p>
          </p:txBody>
        </p:sp>
        <p:cxnSp>
          <p:nvCxnSpPr>
            <p:cNvPr id="7" name="Connector 6"/>
            <p:cNvCxnSpPr/>
            <p:nvPr/>
          </p:nvCxnSpPr>
          <p:spPr>
            <a:xfrm>
              <a:off x="1879091" y="2788920"/>
              <a:ext cx="1728217" cy="0"/>
            </a:xfrm>
            <a:prstGeom prst="line">
              <a:avLst/>
            </a:prstGeom>
            <a:ln w="40005">
              <a:solidFill>
                <a:srgbClr val="F28C28"/>
              </a:solidFill>
            </a:ln>
          </p:spPr>
        </p:cxnSp>
        <p:cxnSp>
          <p:nvCxnSpPr>
            <p:cNvPr id="8" name="Connector 7"/>
            <p:cNvCxnSpPr/>
            <p:nvPr/>
          </p:nvCxnSpPr>
          <p:spPr>
            <a:xfrm>
              <a:off x="1944868" y="2458240"/>
              <a:ext cx="1596663" cy="661359"/>
            </a:xfrm>
            <a:prstGeom prst="line">
              <a:avLst/>
            </a:prstGeom>
            <a:ln w="40005">
              <a:solidFill>
                <a:srgbClr val="F28C28"/>
              </a:solidFill>
            </a:ln>
          </p:spPr>
        </p:cxnSp>
        <p:cxnSp>
          <p:nvCxnSpPr>
            <p:cNvPr id="9" name="Connector 8"/>
            <p:cNvCxnSpPr/>
            <p:nvPr/>
          </p:nvCxnSpPr>
          <p:spPr>
            <a:xfrm>
              <a:off x="2132183" y="2177903"/>
              <a:ext cx="1222033" cy="1222033"/>
            </a:xfrm>
            <a:prstGeom prst="line">
              <a:avLst/>
            </a:prstGeom>
            <a:ln w="40005">
              <a:solidFill>
                <a:srgbClr val="F28C28"/>
              </a:solidFill>
            </a:ln>
          </p:spPr>
        </p:cxnSp>
        <p:cxnSp>
          <p:nvCxnSpPr>
            <p:cNvPr id="10" name="Connector 9"/>
            <p:cNvCxnSpPr/>
            <p:nvPr/>
          </p:nvCxnSpPr>
          <p:spPr>
            <a:xfrm>
              <a:off x="2412520" y="1990588"/>
              <a:ext cx="661359" cy="1596663"/>
            </a:xfrm>
            <a:prstGeom prst="line">
              <a:avLst/>
            </a:prstGeom>
            <a:ln w="40005">
              <a:solidFill>
                <a:srgbClr val="F28C28"/>
              </a:solidFill>
            </a:ln>
          </p:spPr>
        </p:cxnSp>
        <p:cxnSp>
          <p:nvCxnSpPr>
            <p:cNvPr id="11" name="Connector 10"/>
            <p:cNvCxnSpPr/>
            <p:nvPr/>
          </p:nvCxnSpPr>
          <p:spPr>
            <a:xfrm>
              <a:off x="2743200" y="1924811"/>
              <a:ext cx="0" cy="1728217"/>
            </a:xfrm>
            <a:prstGeom prst="line">
              <a:avLst/>
            </a:prstGeom>
            <a:ln w="40005">
              <a:solidFill>
                <a:srgbClr val="F28C28"/>
              </a:solidFill>
            </a:ln>
          </p:spPr>
        </p:cxnSp>
        <p:cxnSp>
          <p:nvCxnSpPr>
            <p:cNvPr id="12" name="Connector 11"/>
            <p:cNvCxnSpPr/>
            <p:nvPr/>
          </p:nvCxnSpPr>
          <p:spPr>
            <a:xfrm flipH="1">
              <a:off x="2412520" y="1990588"/>
              <a:ext cx="661359" cy="1596663"/>
            </a:xfrm>
            <a:prstGeom prst="line">
              <a:avLst/>
            </a:prstGeom>
            <a:ln w="40005">
              <a:solidFill>
                <a:srgbClr val="F28C28"/>
              </a:solidFill>
            </a:ln>
          </p:spPr>
        </p:cxnSp>
        <p:cxnSp>
          <p:nvCxnSpPr>
            <p:cNvPr id="13" name="Connector 12"/>
            <p:cNvCxnSpPr/>
            <p:nvPr/>
          </p:nvCxnSpPr>
          <p:spPr>
            <a:xfrm flipH="1">
              <a:off x="2132183" y="2177903"/>
              <a:ext cx="1222033" cy="1222033"/>
            </a:xfrm>
            <a:prstGeom prst="line">
              <a:avLst/>
            </a:prstGeom>
            <a:ln w="40005">
              <a:solidFill>
                <a:srgbClr val="F28C28"/>
              </a:solidFill>
            </a:ln>
          </p:spPr>
        </p:cxnSp>
        <p:cxnSp>
          <p:nvCxnSpPr>
            <p:cNvPr id="14" name="Connector 13"/>
            <p:cNvCxnSpPr/>
            <p:nvPr/>
          </p:nvCxnSpPr>
          <p:spPr>
            <a:xfrm flipH="1">
              <a:off x="1944868" y="2458240"/>
              <a:ext cx="1596663" cy="661359"/>
            </a:xfrm>
            <a:prstGeom prst="line">
              <a:avLst/>
            </a:prstGeom>
            <a:ln w="40005">
              <a:solidFill>
                <a:srgbClr val="F28C28"/>
              </a:solidFill>
            </a:ln>
          </p:spPr>
        </p:cxnSp>
        <p:sp>
          <p:nvSpPr>
            <p:cNvPr id="15" name="Oval 14"/>
            <p:cNvSpPr/>
            <p:nvPr/>
          </p:nvSpPr>
          <p:spPr>
            <a:xfrm>
              <a:off x="2531973" y="2577693"/>
              <a:ext cx="422452" cy="422452"/>
            </a:xfrm>
            <a:prstGeom prst="ellipse">
              <a:avLst/>
            </a:prstGeom>
            <a:solidFill>
              <a:srgbClr val="F28C28"/>
            </a:solidFill>
            <a:ln>
              <a:noFill/>
            </a:ln>
          </p:spPr>
          <p:txBody>
            <a:bodyPr rtlCol="0" anchor="ctr"/>
            <a:lstStyle/>
            <a:p>
              <a:pPr algn="ctr"/>
              <a:endParaRPr/>
            </a:p>
          </p:txBody>
        </p:sp>
        <p:sp>
          <p:nvSpPr>
            <p:cNvPr id="16" name="Rectangle 15"/>
            <p:cNvSpPr/>
            <p:nvPr/>
          </p:nvSpPr>
          <p:spPr>
            <a:xfrm>
              <a:off x="868680" y="3749039"/>
              <a:ext cx="3749039" cy="128016"/>
            </a:xfrm>
            <a:prstGeom prst="rect">
              <a:avLst/>
            </a:prstGeom>
            <a:solidFill>
              <a:srgbClr val="9AA0A6"/>
            </a:solidFill>
            <a:ln>
              <a:noFill/>
            </a:ln>
          </p:spPr>
          <p:txBody>
            <a:bodyPr rtlCol="0" anchor="ctr"/>
            <a:lstStyle/>
            <a:p>
              <a:pPr algn="ctr"/>
              <a:endParaRPr/>
            </a:p>
          </p:txBody>
        </p:sp>
        <p:sp>
          <p:nvSpPr>
            <p:cNvPr id="17" name="Rectangle 16"/>
            <p:cNvSpPr/>
            <p:nvPr/>
          </p:nvSpPr>
          <p:spPr>
            <a:xfrm>
              <a:off x="1051560" y="3877055"/>
              <a:ext cx="365760" cy="274320"/>
            </a:xfrm>
            <a:prstGeom prst="rect">
              <a:avLst/>
            </a:prstGeom>
            <a:solidFill>
              <a:srgbClr val="6B5B4B"/>
            </a:solidFill>
            <a:ln>
              <a:noFill/>
            </a:ln>
          </p:spPr>
          <p:txBody>
            <a:bodyPr rtlCol="0" anchor="ctr"/>
            <a:lstStyle/>
            <a:p>
              <a:pPr algn="ctr"/>
              <a:endParaRPr/>
            </a:p>
          </p:txBody>
        </p:sp>
        <p:sp>
          <p:nvSpPr>
            <p:cNvPr id="18" name="Rectangle 17"/>
            <p:cNvSpPr/>
            <p:nvPr/>
          </p:nvSpPr>
          <p:spPr>
            <a:xfrm>
              <a:off x="1965960" y="3877055"/>
              <a:ext cx="365760" cy="274320"/>
            </a:xfrm>
            <a:prstGeom prst="rect">
              <a:avLst/>
            </a:prstGeom>
            <a:solidFill>
              <a:srgbClr val="6B5B4B"/>
            </a:solidFill>
            <a:ln>
              <a:noFill/>
            </a:ln>
          </p:spPr>
          <p:txBody>
            <a:bodyPr rtlCol="0" anchor="ctr"/>
            <a:lstStyle/>
            <a:p>
              <a:pPr algn="ctr"/>
              <a:endParaRPr/>
            </a:p>
          </p:txBody>
        </p:sp>
        <p:sp>
          <p:nvSpPr>
            <p:cNvPr id="19" name="Rectangle 18"/>
            <p:cNvSpPr/>
            <p:nvPr/>
          </p:nvSpPr>
          <p:spPr>
            <a:xfrm>
              <a:off x="2880360" y="3877055"/>
              <a:ext cx="365760" cy="274320"/>
            </a:xfrm>
            <a:prstGeom prst="rect">
              <a:avLst/>
            </a:prstGeom>
            <a:solidFill>
              <a:srgbClr val="6B5B4B"/>
            </a:solidFill>
            <a:ln>
              <a:noFill/>
            </a:ln>
          </p:spPr>
          <p:txBody>
            <a:bodyPr rtlCol="0" anchor="ctr"/>
            <a:lstStyle/>
            <a:p>
              <a:pPr algn="ctr"/>
              <a:endParaRPr/>
            </a:p>
          </p:txBody>
        </p:sp>
        <p:sp>
          <p:nvSpPr>
            <p:cNvPr id="20" name="Rectangle 19"/>
            <p:cNvSpPr/>
            <p:nvPr/>
          </p:nvSpPr>
          <p:spPr>
            <a:xfrm>
              <a:off x="3794760" y="3877055"/>
              <a:ext cx="365760" cy="274320"/>
            </a:xfrm>
            <a:prstGeom prst="rect">
              <a:avLst/>
            </a:prstGeom>
            <a:solidFill>
              <a:srgbClr val="6B5B4B"/>
            </a:solidFill>
            <a:ln>
              <a:noFill/>
            </a:ln>
          </p:spPr>
          <p:txBody>
            <a:bodyPr rtlCol="0" anchor="ctr"/>
            <a:lstStyle/>
            <a:p>
              <a:pPr algn="ctr"/>
              <a:endParaRPr/>
            </a:p>
          </p:txBody>
        </p:sp>
        <p:sp>
          <p:nvSpPr>
            <p:cNvPr id="21" name="Rectangle 20"/>
            <p:cNvSpPr/>
            <p:nvPr/>
          </p:nvSpPr>
          <p:spPr>
            <a:xfrm>
              <a:off x="822960" y="4151376"/>
              <a:ext cx="3840480" cy="91440"/>
            </a:xfrm>
            <a:prstGeom prst="rect">
              <a:avLst/>
            </a:prstGeom>
            <a:solidFill>
              <a:srgbClr val="5B6068"/>
            </a:solidFill>
            <a:ln>
              <a:noFill/>
            </a:ln>
          </p:spPr>
          <p:txBody>
            <a:bodyPr rtlCol="0" anchor="ctr"/>
            <a:lstStyle/>
            <a:p>
              <a:pPr algn="ctr"/>
              <a:endParaRPr/>
            </a:p>
          </p:txBody>
        </p:sp>
        <p:grpSp>
          <p:nvGrpSpPr>
            <p:cNvPr id="22" name="TICK" descr="Green tick"/>
            <p:cNvGrpSpPr/>
            <p:nvPr/>
          </p:nvGrpSpPr>
          <p:grpSpPr>
            <a:xfrm>
              <a:off x="4274820" y="1531619"/>
              <a:ext cx="502920" cy="502920"/>
              <a:chOff x="4274820" y="1531619"/>
              <a:chExt cx="502920" cy="502920"/>
            </a:xfrm>
          </p:grpSpPr>
          <p:sp>
            <p:nvSpPr>
              <p:cNvPr id="23" name="Oval 22"/>
              <p:cNvSpPr/>
              <p:nvPr/>
            </p:nvSpPr>
            <p:spPr>
              <a:xfrm>
                <a:off x="4274820" y="1531619"/>
                <a:ext cx="502920" cy="502920"/>
              </a:xfrm>
              <a:prstGeom prst="ellipse">
                <a:avLst/>
              </a:prstGeom>
              <a:solidFill>
                <a:srgbClr val="3FB950"/>
              </a:solidFill>
              <a:ln>
                <a:noFill/>
              </a:ln>
            </p:spPr>
            <p:txBody>
              <a:bodyPr rtlCol="0" anchor="ctr"/>
              <a:lstStyle/>
              <a:p>
                <a:pPr algn="ctr"/>
                <a:endParaRPr/>
              </a:p>
            </p:txBody>
          </p:sp>
          <p:sp>
            <p:nvSpPr>
              <p:cNvPr id="24" name="Freeform 23"/>
              <p:cNvSpPr/>
              <p:nvPr/>
            </p:nvSpPr>
            <p:spPr>
              <a:xfrm>
                <a:off x="4405579" y="1692554"/>
                <a:ext cx="251460" cy="191110"/>
              </a:xfrm>
              <a:custGeom>
                <a:avLst/>
                <a:gdLst/>
                <a:ahLst/>
                <a:cxnLst/>
                <a:rect l="l" t="t" r="r" b="b"/>
                <a:pathLst>
                  <a:path w="251460" h="191110">
                    <a:moveTo>
                      <a:pt x="0" y="90526"/>
                    </a:moveTo>
                    <a:lnTo>
                      <a:pt x="85496" y="191110"/>
                    </a:lnTo>
                    <a:lnTo>
                      <a:pt x="251460" y="0"/>
                    </a:lnTo>
                  </a:path>
                </a:pathLst>
              </a:custGeom>
              <a:noFill/>
              <a:ln w="44450">
                <a:solidFill>
                  <a:srgbClr val="101418"/>
                </a:solidFill>
              </a:ln>
            </p:spPr>
            <p:txBody>
              <a:bodyPr rtlCol="0" anchor="ctr"/>
              <a:lstStyle/>
              <a:p>
                <a:pPr algn="ctr"/>
                <a:endParaRPr/>
              </a:p>
            </p:txBody>
          </p:sp>
        </p:grpSp>
        <p:sp>
          <p:nvSpPr>
            <p:cNvPr id="25" name="TextBox 24"/>
            <p:cNvSpPr txBox="1"/>
            <p:nvPr/>
          </p:nvSpPr>
          <p:spPr>
            <a:xfrm>
              <a:off x="731520" y="4572000"/>
              <a:ext cx="4023360" cy="731520"/>
            </a:xfrm>
            <a:prstGeom prst="rect">
              <a:avLst/>
            </a:prstGeom>
            <a:noFill/>
          </p:spPr>
          <p:txBody>
            <a:bodyPr wrap="square" lIns="18288" tIns="9144" rIns="18288" bIns="9144" anchor="ctr">
              <a:noAutofit/>
            </a:bodyPr>
            <a:lstStyle/>
            <a:p>
              <a:pPr algn="ctr"/>
              <a:r>
                <a:rPr lang="en-GB" sz="2000" b="1" i="0">
                  <a:solidFill>
                    <a:srgbClr val="F2F2F2"/>
                  </a:solidFill>
                  <a:latin typeface="Arial"/>
                </a:rPr>
                <a:t>Steam wheel</a:t>
              </a:r>
            </a:p>
          </p:txBody>
        </p:sp>
      </p:grpSp>
      <p:grpSp>
        <p:nvGrpSpPr>
          <p:cNvPr id="26" name="DIAGRAM clamp wheel" descr="Clamp wheels gripping a beam from above and both sides, with a green tick: it works on its own track."/>
          <p:cNvGrpSpPr/>
          <p:nvPr/>
        </p:nvGrpSpPr>
        <p:grpSpPr>
          <a:xfrm>
            <a:off x="7251192" y="1325880"/>
            <a:ext cx="4389120" cy="4251960"/>
            <a:chOff x="7251192" y="1325880"/>
            <a:chExt cx="4389120" cy="4251960"/>
          </a:xfrm>
        </p:grpSpPr>
        <p:sp>
          <p:nvSpPr>
            <p:cNvPr id="27" name="Rounded Rectangle 26"/>
            <p:cNvSpPr/>
            <p:nvPr/>
          </p:nvSpPr>
          <p:spPr>
            <a:xfrm>
              <a:off x="7251192" y="1325880"/>
              <a:ext cx="4389120" cy="4251960"/>
            </a:xfrm>
            <a:prstGeom prst="roundRect">
              <a:avLst>
                <a:gd name="adj" fmla="val 1720"/>
              </a:avLst>
            </a:prstGeom>
            <a:solidFill>
              <a:srgbClr val="2B2F36"/>
            </a:solidFill>
            <a:ln>
              <a:noFill/>
            </a:ln>
          </p:spPr>
          <p:txBody>
            <a:bodyPr rtlCol="0" anchor="ctr"/>
            <a:lstStyle/>
            <a:p>
              <a:pPr algn="ctr"/>
              <a:endParaRPr/>
            </a:p>
          </p:txBody>
        </p:sp>
        <p:sp>
          <p:nvSpPr>
            <p:cNvPr id="28" name="Rectangle 27"/>
            <p:cNvSpPr/>
            <p:nvPr/>
          </p:nvSpPr>
          <p:spPr>
            <a:xfrm>
              <a:off x="9262872" y="3566160"/>
              <a:ext cx="365760" cy="822960"/>
            </a:xfrm>
            <a:prstGeom prst="rect">
              <a:avLst/>
            </a:prstGeom>
            <a:solidFill>
              <a:srgbClr val="9AA0A6"/>
            </a:solidFill>
            <a:ln>
              <a:noFill/>
            </a:ln>
          </p:spPr>
          <p:txBody>
            <a:bodyPr rtlCol="0" anchor="ctr"/>
            <a:lstStyle/>
            <a:p>
              <a:pPr algn="ctr"/>
              <a:endParaRPr/>
            </a:p>
          </p:txBody>
        </p:sp>
        <p:sp>
          <p:nvSpPr>
            <p:cNvPr id="29" name="Rectangle 28"/>
            <p:cNvSpPr/>
            <p:nvPr/>
          </p:nvSpPr>
          <p:spPr>
            <a:xfrm>
              <a:off x="8805672" y="4343400"/>
              <a:ext cx="1280160" cy="91440"/>
            </a:xfrm>
            <a:prstGeom prst="rect">
              <a:avLst/>
            </a:prstGeom>
            <a:solidFill>
              <a:srgbClr val="5B6068"/>
            </a:solidFill>
            <a:ln>
              <a:noFill/>
            </a:ln>
          </p:spPr>
          <p:txBody>
            <a:bodyPr rtlCol="0" anchor="ctr"/>
            <a:lstStyle/>
            <a:p>
              <a:pPr algn="ctr"/>
              <a:endParaRPr/>
            </a:p>
          </p:txBody>
        </p:sp>
        <p:sp>
          <p:nvSpPr>
            <p:cNvPr id="30" name="Rectangle 29"/>
            <p:cNvSpPr/>
            <p:nvPr/>
          </p:nvSpPr>
          <p:spPr>
            <a:xfrm>
              <a:off x="8897112" y="2377440"/>
              <a:ext cx="1097280" cy="1188720"/>
            </a:xfrm>
            <a:prstGeom prst="rect">
              <a:avLst/>
            </a:prstGeom>
            <a:solidFill>
              <a:srgbClr val="E8E8E8"/>
            </a:solidFill>
            <a:ln>
              <a:noFill/>
            </a:ln>
          </p:spPr>
          <p:txBody>
            <a:bodyPr rtlCol="0" anchor="ctr"/>
            <a:lstStyle/>
            <a:p>
              <a:pPr algn="ctr"/>
              <a:endParaRPr/>
            </a:p>
          </p:txBody>
        </p:sp>
        <p:sp>
          <p:nvSpPr>
            <p:cNvPr id="31" name="Freeform 30"/>
            <p:cNvSpPr/>
            <p:nvPr/>
          </p:nvSpPr>
          <p:spPr>
            <a:xfrm>
              <a:off x="8366760" y="1828800"/>
              <a:ext cx="2157984" cy="1783080"/>
            </a:xfrm>
            <a:custGeom>
              <a:avLst/>
              <a:gdLst/>
              <a:ahLst/>
              <a:cxnLst/>
              <a:rect l="l" t="t" r="r" b="b"/>
              <a:pathLst>
                <a:path w="2157984" h="1783080">
                  <a:moveTo>
                    <a:pt x="0" y="1783080"/>
                  </a:moveTo>
                  <a:lnTo>
                    <a:pt x="0" y="0"/>
                  </a:lnTo>
                  <a:lnTo>
                    <a:pt x="2157984" y="0"/>
                  </a:lnTo>
                  <a:lnTo>
                    <a:pt x="2157984" y="1783080"/>
                  </a:lnTo>
                </a:path>
              </a:pathLst>
            </a:custGeom>
            <a:noFill/>
            <a:ln w="50800">
              <a:solidFill>
                <a:srgbClr val="6CA0DC"/>
              </a:solidFill>
            </a:ln>
          </p:spPr>
          <p:txBody>
            <a:bodyPr rtlCol="0" anchor="ctr"/>
            <a:lstStyle/>
            <a:p>
              <a:pPr algn="ctr"/>
              <a:endParaRPr/>
            </a:p>
          </p:txBody>
        </p:sp>
        <p:sp>
          <p:nvSpPr>
            <p:cNvPr id="32" name="Rounded Rectangle 31"/>
            <p:cNvSpPr/>
            <p:nvPr/>
          </p:nvSpPr>
          <p:spPr>
            <a:xfrm>
              <a:off x="8750808" y="2011680"/>
              <a:ext cx="1389888" cy="310896"/>
            </a:xfrm>
            <a:prstGeom prst="roundRect">
              <a:avLst>
                <a:gd name="adj" fmla="val 29411"/>
              </a:avLst>
            </a:prstGeom>
            <a:solidFill>
              <a:srgbClr val="6CA0DC"/>
            </a:solidFill>
            <a:ln>
              <a:noFill/>
            </a:ln>
          </p:spPr>
          <p:txBody>
            <a:bodyPr rtlCol="0" anchor="ctr"/>
            <a:lstStyle/>
            <a:p>
              <a:pPr algn="ctr"/>
              <a:endParaRPr/>
            </a:p>
          </p:txBody>
        </p:sp>
        <p:sp>
          <p:nvSpPr>
            <p:cNvPr id="33" name="Rounded Rectangle 32"/>
            <p:cNvSpPr/>
            <p:nvPr/>
          </p:nvSpPr>
          <p:spPr>
            <a:xfrm>
              <a:off x="8531352" y="2395728"/>
              <a:ext cx="310896" cy="1005840"/>
            </a:xfrm>
            <a:prstGeom prst="roundRect">
              <a:avLst>
                <a:gd name="adj" fmla="val 29411"/>
              </a:avLst>
            </a:prstGeom>
            <a:solidFill>
              <a:srgbClr val="6CA0DC"/>
            </a:solidFill>
            <a:ln>
              <a:noFill/>
            </a:ln>
          </p:spPr>
          <p:txBody>
            <a:bodyPr rtlCol="0" anchor="ctr"/>
            <a:lstStyle/>
            <a:p>
              <a:pPr algn="ctr"/>
              <a:endParaRPr/>
            </a:p>
          </p:txBody>
        </p:sp>
        <p:sp>
          <p:nvSpPr>
            <p:cNvPr id="34" name="Rounded Rectangle 33"/>
            <p:cNvSpPr/>
            <p:nvPr/>
          </p:nvSpPr>
          <p:spPr>
            <a:xfrm>
              <a:off x="10049256" y="2395728"/>
              <a:ext cx="310896" cy="1005840"/>
            </a:xfrm>
            <a:prstGeom prst="roundRect">
              <a:avLst>
                <a:gd name="adj" fmla="val 29411"/>
              </a:avLst>
            </a:prstGeom>
            <a:solidFill>
              <a:srgbClr val="6CA0DC"/>
            </a:solidFill>
            <a:ln>
              <a:noFill/>
            </a:ln>
          </p:spPr>
          <p:txBody>
            <a:bodyPr rtlCol="0" anchor="ctr"/>
            <a:lstStyle/>
            <a:p>
              <a:pPr algn="ctr"/>
              <a:endParaRPr/>
            </a:p>
          </p:txBody>
        </p:sp>
        <p:grpSp>
          <p:nvGrpSpPr>
            <p:cNvPr id="35" name="TICK" descr="Green tick"/>
            <p:cNvGrpSpPr/>
            <p:nvPr/>
          </p:nvGrpSpPr>
          <p:grpSpPr>
            <a:xfrm>
              <a:off x="10949940" y="1531619"/>
              <a:ext cx="502920" cy="502920"/>
              <a:chOff x="10949940" y="1531619"/>
              <a:chExt cx="502920" cy="502920"/>
            </a:xfrm>
          </p:grpSpPr>
          <p:sp>
            <p:nvSpPr>
              <p:cNvPr id="36" name="Oval 35"/>
              <p:cNvSpPr/>
              <p:nvPr/>
            </p:nvSpPr>
            <p:spPr>
              <a:xfrm>
                <a:off x="10949940" y="1531619"/>
                <a:ext cx="502920" cy="502920"/>
              </a:xfrm>
              <a:prstGeom prst="ellipse">
                <a:avLst/>
              </a:prstGeom>
              <a:solidFill>
                <a:srgbClr val="3FB950"/>
              </a:solidFill>
              <a:ln>
                <a:noFill/>
              </a:ln>
            </p:spPr>
            <p:txBody>
              <a:bodyPr rtlCol="0" anchor="ctr"/>
              <a:lstStyle/>
              <a:p>
                <a:pPr algn="ctr"/>
                <a:endParaRPr/>
              </a:p>
            </p:txBody>
          </p:sp>
          <p:sp>
            <p:nvSpPr>
              <p:cNvPr id="37" name="Freeform 36"/>
              <p:cNvSpPr/>
              <p:nvPr/>
            </p:nvSpPr>
            <p:spPr>
              <a:xfrm>
                <a:off x="11080699" y="1692554"/>
                <a:ext cx="251460" cy="191110"/>
              </a:xfrm>
              <a:custGeom>
                <a:avLst/>
                <a:gdLst/>
                <a:ahLst/>
                <a:cxnLst/>
                <a:rect l="l" t="t" r="r" b="b"/>
                <a:pathLst>
                  <a:path w="251460" h="191110">
                    <a:moveTo>
                      <a:pt x="0" y="90526"/>
                    </a:moveTo>
                    <a:lnTo>
                      <a:pt x="85496" y="191110"/>
                    </a:lnTo>
                    <a:lnTo>
                      <a:pt x="251460" y="0"/>
                    </a:lnTo>
                  </a:path>
                </a:pathLst>
              </a:custGeom>
              <a:noFill/>
              <a:ln w="44450">
                <a:solidFill>
                  <a:srgbClr val="101418"/>
                </a:solidFill>
              </a:ln>
            </p:spPr>
            <p:txBody>
              <a:bodyPr rtlCol="0" anchor="ctr"/>
              <a:lstStyle/>
              <a:p>
                <a:pPr algn="ctr"/>
                <a:endParaRPr/>
              </a:p>
            </p:txBody>
          </p:sp>
        </p:grpSp>
        <p:sp>
          <p:nvSpPr>
            <p:cNvPr id="38" name="TextBox 37"/>
            <p:cNvSpPr txBox="1"/>
            <p:nvPr/>
          </p:nvSpPr>
          <p:spPr>
            <a:xfrm>
              <a:off x="7434072" y="4572000"/>
              <a:ext cx="4023360" cy="731520"/>
            </a:xfrm>
            <a:prstGeom prst="rect">
              <a:avLst/>
            </a:prstGeom>
            <a:noFill/>
          </p:spPr>
          <p:txBody>
            <a:bodyPr wrap="square" lIns="18288" tIns="9144" rIns="18288" bIns="9144" anchor="ctr">
              <a:noAutofit/>
            </a:bodyPr>
            <a:lstStyle/>
            <a:p>
              <a:pPr algn="ctr"/>
              <a:r>
                <a:rPr lang="en-GB" sz="2000" b="1" i="0">
                  <a:solidFill>
                    <a:srgbClr val="F2F2F2"/>
                  </a:solidFill>
                  <a:latin typeface="Arial"/>
                </a:rPr>
                <a:t>Clamp wheel</a:t>
              </a:r>
            </a:p>
          </p:txBody>
        </p:sp>
      </p:grpSp>
      <p:grpSp>
        <p:nvGrpSpPr>
          <p:cNvPr id="39" name="DIAGRAM cannot swap" descr="A double arrow between the two wheels, crossed out in red: they cannot swap."/>
          <p:cNvGrpSpPr/>
          <p:nvPr/>
        </p:nvGrpSpPr>
        <p:grpSpPr>
          <a:xfrm>
            <a:off x="5029200" y="2560320"/>
            <a:ext cx="2130552" cy="1417320"/>
            <a:chOff x="5029200" y="2560320"/>
            <a:chExt cx="2130552" cy="1417320"/>
          </a:xfrm>
        </p:grpSpPr>
        <p:cxnSp>
          <p:nvCxnSpPr>
            <p:cNvPr id="40" name="Connector 39"/>
            <p:cNvCxnSpPr/>
            <p:nvPr/>
          </p:nvCxnSpPr>
          <p:spPr>
            <a:xfrm>
              <a:off x="5120640" y="2926080"/>
              <a:ext cx="1947672" cy="0"/>
            </a:xfrm>
            <a:prstGeom prst="line">
              <a:avLst/>
            </a:prstGeom>
            <a:ln w="44450">
              <a:solidFill>
                <a:srgbClr val="E8E8E8"/>
              </a:solidFill>
              <a:headEnd type="triangle" w="med" len="med"/>
              <a:tailEnd type="triangle" w="med" len="med"/>
            </a:ln>
          </p:spPr>
        </p:cxnSp>
        <p:grpSp>
          <p:nvGrpSpPr>
            <p:cNvPr id="41" name="CROSS" descr="Red cross"/>
            <p:cNvGrpSpPr/>
            <p:nvPr/>
          </p:nvGrpSpPr>
          <p:grpSpPr>
            <a:xfrm>
              <a:off x="5728716" y="2560320"/>
              <a:ext cx="731520" cy="731520"/>
              <a:chOff x="5728716" y="2560320"/>
              <a:chExt cx="731520" cy="731520"/>
            </a:xfrm>
          </p:grpSpPr>
          <p:cxnSp>
            <p:nvCxnSpPr>
              <p:cNvPr id="42" name="Connector 41"/>
              <p:cNvCxnSpPr/>
              <p:nvPr/>
            </p:nvCxnSpPr>
            <p:spPr>
              <a:xfrm>
                <a:off x="5728716" y="2560320"/>
                <a:ext cx="731520" cy="731520"/>
              </a:xfrm>
              <a:prstGeom prst="line">
                <a:avLst/>
              </a:prstGeom>
              <a:ln w="76200">
                <a:solidFill>
                  <a:srgbClr val="E5484D"/>
                </a:solidFill>
              </a:ln>
            </p:spPr>
          </p:cxnSp>
          <p:cxnSp>
            <p:nvCxnSpPr>
              <p:cNvPr id="43" name="Connector 42"/>
              <p:cNvCxnSpPr/>
              <p:nvPr/>
            </p:nvCxnSpPr>
            <p:spPr>
              <a:xfrm flipV="1">
                <a:off x="5728716" y="2560320"/>
                <a:ext cx="731520" cy="731520"/>
              </a:xfrm>
              <a:prstGeom prst="line">
                <a:avLst/>
              </a:prstGeom>
              <a:ln w="76200">
                <a:solidFill>
                  <a:srgbClr val="E5484D"/>
                </a:solidFill>
              </a:ln>
            </p:spPr>
          </p:cxnSp>
        </p:grpSp>
        <p:sp>
          <p:nvSpPr>
            <p:cNvPr id="44" name="TextBox 43"/>
            <p:cNvSpPr txBox="1"/>
            <p:nvPr/>
          </p:nvSpPr>
          <p:spPr>
            <a:xfrm>
              <a:off x="5029200" y="3520440"/>
              <a:ext cx="2130552"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Cannot swap</a:t>
              </a:r>
            </a:p>
          </p:txBody>
        </p:sp>
      </p:grpSp>
      <p:sp>
        <p:nvSpPr>
          <p:cNvPr id="4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4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47"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Steam wheels sit on rails. Monorail trains grip a beam. Neither can use the other's track.</a:t>
            </a:r>
          </a:p>
        </p:txBody>
      </p:sp>
      <p:sp>
        <p:nvSpPr>
          <p:cNvPr id="48"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4</a:t>
            </a:r>
          </a:p>
        </p:txBody>
      </p:sp>
    </p:spTree>
    <p:extLst>
      <p:ext uri="{BB962C8B-B14F-4D97-AF65-F5344CB8AC3E}">
        <p14:creationId xmlns:p14="http://schemas.microsoft.com/office/powerpoint/2010/main" val="11732721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60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nodeType="withEffect">
                                  <p:stCondLst>
                                    <p:cond delay="900"/>
                                  </p:stCondLst>
                                  <p:childTnLst>
                                    <p:set>
                                      <p:cBhvr>
                                        <p:cTn id="15" dur="1" fill="hold">
                                          <p:stCondLst>
                                            <p:cond delay="0"/>
                                          </p:stCondLst>
                                        </p:cTn>
                                        <p:tgtEl>
                                          <p:spTgt spid="45"/>
                                        </p:tgtEl>
                                        <p:attrNameLst>
                                          <p:attrName>style.visibility</p:attrName>
                                        </p:attrNameLst>
                                      </p:cBhvr>
                                      <p:to>
                                        <p:strVal val="visible"/>
                                      </p:to>
                                    </p:set>
                                    <p:animEffect transition="in" filter="fade">
                                      <p:cBhvr>
                                        <p:cTn id="16" dur="500"/>
                                        <p:tgtEl>
                                          <p:spTgt spid="45"/>
                                        </p:tgtEl>
                                      </p:cBhvr>
                                    </p:animEffect>
                                  </p:childTnLst>
                                </p:cTn>
                              </p:par>
                              <p:par>
                                <p:cTn id="17" presetID="10" presetClass="entr" presetSubtype="0" fill="hold" nodeType="withEffect">
                                  <p:stCondLst>
                                    <p:cond delay="120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500"/>
                                        <p:tgtEl>
                                          <p:spTgt spid="46"/>
                                        </p:tgtEl>
                                      </p:cBhvr>
                                    </p:animEffect>
                                  </p:childTnLst>
                                </p:cTn>
                              </p:par>
                              <p:par>
                                <p:cTn id="20" presetID="10" presetClass="entr" presetSubtype="0" fill="hold" nodeType="withEffect">
                                  <p:stCondLst>
                                    <p:cond delay="1500"/>
                                  </p:stCondLst>
                                  <p:childTnLst>
                                    <p:set>
                                      <p:cBhvr>
                                        <p:cTn id="21" dur="1" fill="hold">
                                          <p:stCondLst>
                                            <p:cond delay="0"/>
                                          </p:stCondLst>
                                        </p:cTn>
                                        <p:tgtEl>
                                          <p:spTgt spid="47"/>
                                        </p:tgtEl>
                                        <p:attrNameLst>
                                          <p:attrName>style.visibility</p:attrName>
                                        </p:attrNameLst>
                                      </p:cBhvr>
                                      <p:to>
                                        <p:strVal val="visible"/>
                                      </p:to>
                                    </p:set>
                                    <p:animEffect transition="in" filter="fade">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Why electric wins in the end</a:t>
            </a:r>
          </a:p>
        </p:txBody>
      </p:sp>
      <p:sp>
        <p:nvSpPr>
          <p:cNvPr id="3" name="CHIP"/>
          <p:cNvSpPr/>
          <p:nvPr/>
        </p:nvSpPr>
        <p:spPr>
          <a:xfrm>
            <a:off x="10088575" y="548640"/>
            <a:ext cx="1554480" cy="365760"/>
          </a:xfrm>
          <a:prstGeom prst="roundRect">
            <a:avLst>
              <a:gd name="adj" fmla="val 50000"/>
            </a:avLst>
          </a:prstGeom>
          <a:solidFill>
            <a:srgbClr val="3FB950"/>
          </a:solidFill>
          <a:ln>
            <a:noFill/>
          </a:ln>
        </p:spPr>
        <p:txBody>
          <a:bodyPr wrap="square" lIns="36576" tIns="0" rIns="36576" bIns="0" rtlCol="0" anchor="ctr">
            <a:noAutofit/>
          </a:bodyPr>
          <a:lstStyle/>
          <a:p>
            <a:pPr algn="ctr"/>
            <a:r>
              <a:rPr lang="en-GB" sz="1400" b="1" i="0">
                <a:solidFill>
                  <a:srgbClr val="101418"/>
                </a:solidFill>
                <a:latin typeface="Arial"/>
              </a:rPr>
              <a:t>AGREED</a:t>
            </a:r>
          </a:p>
        </p:txBody>
      </p:sp>
      <p:grpSp>
        <p:nvGrpSpPr>
          <p:cNvPr id="4" name="DIAGRAM paired bars" descr="Paired bars for steam and electric. Steam is longer for cheap to start; electric is longer for speed, throughput, traffic density and convenience. Shape only, not measured."/>
          <p:cNvGrpSpPr/>
          <p:nvPr/>
        </p:nvGrpSpPr>
        <p:grpSpPr>
          <a:xfrm>
            <a:off x="548640" y="1463040"/>
            <a:ext cx="11091671" cy="3968496"/>
            <a:chOff x="548640" y="1463040"/>
            <a:chExt cx="11091671" cy="3968496"/>
          </a:xfrm>
        </p:grpSpPr>
        <p:sp>
          <p:nvSpPr>
            <p:cNvPr id="5" name="TextBox 4"/>
            <p:cNvSpPr txBox="1"/>
            <p:nvPr/>
          </p:nvSpPr>
          <p:spPr>
            <a:xfrm>
              <a:off x="548640" y="1463040"/>
              <a:ext cx="2926080" cy="676656"/>
            </a:xfrm>
            <a:prstGeom prst="rect">
              <a:avLst/>
            </a:prstGeom>
            <a:noFill/>
          </p:spPr>
          <p:txBody>
            <a:bodyPr wrap="square" lIns="18288" tIns="9144" rIns="18288" bIns="9144" anchor="ctr">
              <a:noAutofit/>
            </a:bodyPr>
            <a:lstStyle/>
            <a:p>
              <a:pPr algn="l"/>
              <a:r>
                <a:rPr lang="en-GB" sz="2000" b="1" i="0">
                  <a:solidFill>
                    <a:srgbClr val="F2F2F2"/>
                  </a:solidFill>
                  <a:latin typeface="Arial"/>
                </a:rPr>
                <a:t>Cheap to start</a:t>
              </a:r>
            </a:p>
          </p:txBody>
        </p:sp>
        <p:sp>
          <p:nvSpPr>
            <p:cNvPr id="6" name="Rectangle 5"/>
            <p:cNvSpPr/>
            <p:nvPr/>
          </p:nvSpPr>
          <p:spPr>
            <a:xfrm>
              <a:off x="3566160" y="1463040"/>
              <a:ext cx="5486400" cy="310896"/>
            </a:xfrm>
            <a:prstGeom prst="rect">
              <a:avLst/>
            </a:prstGeom>
            <a:solidFill>
              <a:srgbClr val="343A43"/>
            </a:solidFill>
            <a:ln>
              <a:noFill/>
            </a:ln>
          </p:spPr>
          <p:txBody>
            <a:bodyPr rtlCol="0" anchor="ctr"/>
            <a:lstStyle/>
            <a:p>
              <a:pPr algn="ctr"/>
              <a:endParaRPr/>
            </a:p>
          </p:txBody>
        </p:sp>
        <p:sp>
          <p:nvSpPr>
            <p:cNvPr id="7" name="Rectangle 6"/>
            <p:cNvSpPr/>
            <p:nvPr/>
          </p:nvSpPr>
          <p:spPr>
            <a:xfrm>
              <a:off x="3566160" y="1463040"/>
              <a:ext cx="4663440" cy="310896"/>
            </a:xfrm>
            <a:prstGeom prst="rect">
              <a:avLst/>
            </a:prstGeom>
            <a:solidFill>
              <a:srgbClr val="F28C28"/>
            </a:solidFill>
            <a:ln>
              <a:noFill/>
            </a:ln>
          </p:spPr>
          <p:txBody>
            <a:bodyPr rtlCol="0" anchor="ctr"/>
            <a:lstStyle/>
            <a:p>
              <a:pPr algn="ctr"/>
              <a:endParaRPr/>
            </a:p>
          </p:txBody>
        </p:sp>
        <p:sp>
          <p:nvSpPr>
            <p:cNvPr id="8" name="Rectangle 7"/>
            <p:cNvSpPr/>
            <p:nvPr/>
          </p:nvSpPr>
          <p:spPr>
            <a:xfrm>
              <a:off x="3566160" y="1828800"/>
              <a:ext cx="5486400" cy="310896"/>
            </a:xfrm>
            <a:prstGeom prst="rect">
              <a:avLst/>
            </a:prstGeom>
            <a:solidFill>
              <a:srgbClr val="343A43"/>
            </a:solidFill>
            <a:ln>
              <a:noFill/>
            </a:ln>
          </p:spPr>
          <p:txBody>
            <a:bodyPr rtlCol="0" anchor="ctr"/>
            <a:lstStyle/>
            <a:p>
              <a:pPr algn="ctr"/>
              <a:endParaRPr/>
            </a:p>
          </p:txBody>
        </p:sp>
        <p:sp>
          <p:nvSpPr>
            <p:cNvPr id="9" name="Rectangle 8"/>
            <p:cNvSpPr/>
            <p:nvPr/>
          </p:nvSpPr>
          <p:spPr>
            <a:xfrm>
              <a:off x="3566160" y="1828800"/>
              <a:ext cx="2468880" cy="310896"/>
            </a:xfrm>
            <a:prstGeom prst="rect">
              <a:avLst/>
            </a:prstGeom>
            <a:solidFill>
              <a:srgbClr val="6CA0DC"/>
            </a:solidFill>
            <a:ln>
              <a:noFill/>
            </a:ln>
          </p:spPr>
          <p:txBody>
            <a:bodyPr rtlCol="0" anchor="ctr"/>
            <a:lstStyle/>
            <a:p>
              <a:pPr algn="ctr"/>
              <a:endParaRPr/>
            </a:p>
          </p:txBody>
        </p:sp>
        <p:sp>
          <p:nvSpPr>
            <p:cNvPr id="10" name="TextBox 9"/>
            <p:cNvSpPr txBox="1"/>
            <p:nvPr/>
          </p:nvSpPr>
          <p:spPr>
            <a:xfrm>
              <a:off x="548640" y="2286000"/>
              <a:ext cx="2926080" cy="676656"/>
            </a:xfrm>
            <a:prstGeom prst="rect">
              <a:avLst/>
            </a:prstGeom>
            <a:noFill/>
          </p:spPr>
          <p:txBody>
            <a:bodyPr wrap="square" lIns="18288" tIns="9144" rIns="18288" bIns="9144" anchor="ctr">
              <a:noAutofit/>
            </a:bodyPr>
            <a:lstStyle/>
            <a:p>
              <a:pPr algn="l"/>
              <a:r>
                <a:rPr lang="en-GB" sz="2000" b="1" i="0">
                  <a:solidFill>
                    <a:srgbClr val="F2F2F2"/>
                  </a:solidFill>
                  <a:latin typeface="Arial"/>
                </a:rPr>
                <a:t>Speed</a:t>
              </a:r>
            </a:p>
          </p:txBody>
        </p:sp>
        <p:sp>
          <p:nvSpPr>
            <p:cNvPr id="11" name="Rectangle 10"/>
            <p:cNvSpPr/>
            <p:nvPr/>
          </p:nvSpPr>
          <p:spPr>
            <a:xfrm>
              <a:off x="3566160" y="2286000"/>
              <a:ext cx="5486400" cy="310896"/>
            </a:xfrm>
            <a:prstGeom prst="rect">
              <a:avLst/>
            </a:prstGeom>
            <a:solidFill>
              <a:srgbClr val="343A43"/>
            </a:solidFill>
            <a:ln>
              <a:noFill/>
            </a:ln>
          </p:spPr>
          <p:txBody>
            <a:bodyPr rtlCol="0" anchor="ctr"/>
            <a:lstStyle/>
            <a:p>
              <a:pPr algn="ctr"/>
              <a:endParaRPr/>
            </a:p>
          </p:txBody>
        </p:sp>
        <p:sp>
          <p:nvSpPr>
            <p:cNvPr id="12" name="Rectangle 11"/>
            <p:cNvSpPr/>
            <p:nvPr/>
          </p:nvSpPr>
          <p:spPr>
            <a:xfrm>
              <a:off x="3566160" y="2286000"/>
              <a:ext cx="2194560" cy="310896"/>
            </a:xfrm>
            <a:prstGeom prst="rect">
              <a:avLst/>
            </a:prstGeom>
            <a:solidFill>
              <a:srgbClr val="F28C28"/>
            </a:solidFill>
            <a:ln>
              <a:noFill/>
            </a:ln>
          </p:spPr>
          <p:txBody>
            <a:bodyPr rtlCol="0" anchor="ctr"/>
            <a:lstStyle/>
            <a:p>
              <a:pPr algn="ctr"/>
              <a:endParaRPr/>
            </a:p>
          </p:txBody>
        </p:sp>
        <p:sp>
          <p:nvSpPr>
            <p:cNvPr id="13" name="Rectangle 12"/>
            <p:cNvSpPr/>
            <p:nvPr/>
          </p:nvSpPr>
          <p:spPr>
            <a:xfrm>
              <a:off x="3566160" y="2651760"/>
              <a:ext cx="5486400" cy="310896"/>
            </a:xfrm>
            <a:prstGeom prst="rect">
              <a:avLst/>
            </a:prstGeom>
            <a:solidFill>
              <a:srgbClr val="343A43"/>
            </a:solidFill>
            <a:ln>
              <a:noFill/>
            </a:ln>
          </p:spPr>
          <p:txBody>
            <a:bodyPr rtlCol="0" anchor="ctr"/>
            <a:lstStyle/>
            <a:p>
              <a:pPr algn="ctr"/>
              <a:endParaRPr/>
            </a:p>
          </p:txBody>
        </p:sp>
        <p:sp>
          <p:nvSpPr>
            <p:cNvPr id="14" name="Rectangle 13"/>
            <p:cNvSpPr/>
            <p:nvPr/>
          </p:nvSpPr>
          <p:spPr>
            <a:xfrm>
              <a:off x="3566160" y="2651760"/>
              <a:ext cx="4937760" cy="310896"/>
            </a:xfrm>
            <a:prstGeom prst="rect">
              <a:avLst/>
            </a:prstGeom>
            <a:solidFill>
              <a:srgbClr val="6CA0DC"/>
            </a:solidFill>
            <a:ln>
              <a:noFill/>
            </a:ln>
          </p:spPr>
          <p:txBody>
            <a:bodyPr rtlCol="0" anchor="ctr"/>
            <a:lstStyle/>
            <a:p>
              <a:pPr algn="ctr"/>
              <a:endParaRPr/>
            </a:p>
          </p:txBody>
        </p:sp>
        <p:sp>
          <p:nvSpPr>
            <p:cNvPr id="15" name="TextBox 14"/>
            <p:cNvSpPr txBox="1"/>
            <p:nvPr/>
          </p:nvSpPr>
          <p:spPr>
            <a:xfrm>
              <a:off x="548640" y="3108960"/>
              <a:ext cx="2926080" cy="676656"/>
            </a:xfrm>
            <a:prstGeom prst="rect">
              <a:avLst/>
            </a:prstGeom>
            <a:noFill/>
          </p:spPr>
          <p:txBody>
            <a:bodyPr wrap="square" lIns="18288" tIns="9144" rIns="18288" bIns="9144" anchor="ctr">
              <a:noAutofit/>
            </a:bodyPr>
            <a:lstStyle/>
            <a:p>
              <a:pPr algn="l"/>
              <a:r>
                <a:rPr lang="en-GB" sz="2000" b="1" i="0">
                  <a:solidFill>
                    <a:srgbClr val="F2F2F2"/>
                  </a:solidFill>
                  <a:latin typeface="Arial"/>
                </a:rPr>
                <a:t>Throughput</a:t>
              </a:r>
            </a:p>
          </p:txBody>
        </p:sp>
        <p:sp>
          <p:nvSpPr>
            <p:cNvPr id="16" name="Rectangle 15"/>
            <p:cNvSpPr/>
            <p:nvPr/>
          </p:nvSpPr>
          <p:spPr>
            <a:xfrm>
              <a:off x="3566160" y="3108960"/>
              <a:ext cx="5486400" cy="310896"/>
            </a:xfrm>
            <a:prstGeom prst="rect">
              <a:avLst/>
            </a:prstGeom>
            <a:solidFill>
              <a:srgbClr val="343A43"/>
            </a:solidFill>
            <a:ln>
              <a:noFill/>
            </a:ln>
          </p:spPr>
          <p:txBody>
            <a:bodyPr rtlCol="0" anchor="ctr"/>
            <a:lstStyle/>
            <a:p>
              <a:pPr algn="ctr"/>
              <a:endParaRPr/>
            </a:p>
          </p:txBody>
        </p:sp>
        <p:sp>
          <p:nvSpPr>
            <p:cNvPr id="17" name="Rectangle 16"/>
            <p:cNvSpPr/>
            <p:nvPr/>
          </p:nvSpPr>
          <p:spPr>
            <a:xfrm>
              <a:off x="3566160" y="3108960"/>
              <a:ext cx="1920240" cy="310896"/>
            </a:xfrm>
            <a:prstGeom prst="rect">
              <a:avLst/>
            </a:prstGeom>
            <a:solidFill>
              <a:srgbClr val="F28C28"/>
            </a:solidFill>
            <a:ln>
              <a:noFill/>
            </a:ln>
          </p:spPr>
          <p:txBody>
            <a:bodyPr rtlCol="0" anchor="ctr"/>
            <a:lstStyle/>
            <a:p>
              <a:pPr algn="ctr"/>
              <a:endParaRPr/>
            </a:p>
          </p:txBody>
        </p:sp>
        <p:sp>
          <p:nvSpPr>
            <p:cNvPr id="18" name="Rectangle 17"/>
            <p:cNvSpPr/>
            <p:nvPr/>
          </p:nvSpPr>
          <p:spPr>
            <a:xfrm>
              <a:off x="3566160" y="3474720"/>
              <a:ext cx="5486400" cy="310896"/>
            </a:xfrm>
            <a:prstGeom prst="rect">
              <a:avLst/>
            </a:prstGeom>
            <a:solidFill>
              <a:srgbClr val="343A43"/>
            </a:solidFill>
            <a:ln>
              <a:noFill/>
            </a:ln>
          </p:spPr>
          <p:txBody>
            <a:bodyPr rtlCol="0" anchor="ctr"/>
            <a:lstStyle/>
            <a:p>
              <a:pPr algn="ctr"/>
              <a:endParaRPr/>
            </a:p>
          </p:txBody>
        </p:sp>
        <p:sp>
          <p:nvSpPr>
            <p:cNvPr id="19" name="Rectangle 18"/>
            <p:cNvSpPr/>
            <p:nvPr/>
          </p:nvSpPr>
          <p:spPr>
            <a:xfrm>
              <a:off x="3566160" y="3474720"/>
              <a:ext cx="4937760" cy="310896"/>
            </a:xfrm>
            <a:prstGeom prst="rect">
              <a:avLst/>
            </a:prstGeom>
            <a:solidFill>
              <a:srgbClr val="6CA0DC"/>
            </a:solidFill>
            <a:ln>
              <a:noFill/>
            </a:ln>
          </p:spPr>
          <p:txBody>
            <a:bodyPr rtlCol="0" anchor="ctr"/>
            <a:lstStyle/>
            <a:p>
              <a:pPr algn="ctr"/>
              <a:endParaRPr/>
            </a:p>
          </p:txBody>
        </p:sp>
        <p:sp>
          <p:nvSpPr>
            <p:cNvPr id="20" name="TextBox 19"/>
            <p:cNvSpPr txBox="1"/>
            <p:nvPr/>
          </p:nvSpPr>
          <p:spPr>
            <a:xfrm>
              <a:off x="548640" y="3931920"/>
              <a:ext cx="2926080" cy="676656"/>
            </a:xfrm>
            <a:prstGeom prst="rect">
              <a:avLst/>
            </a:prstGeom>
            <a:noFill/>
          </p:spPr>
          <p:txBody>
            <a:bodyPr wrap="square" lIns="18288" tIns="9144" rIns="18288" bIns="9144" anchor="ctr">
              <a:noAutofit/>
            </a:bodyPr>
            <a:lstStyle/>
            <a:p>
              <a:pPr algn="l"/>
              <a:r>
                <a:rPr lang="en-GB" sz="2000" b="1" i="0">
                  <a:solidFill>
                    <a:srgbClr val="F2F2F2"/>
                  </a:solidFill>
                  <a:latin typeface="Arial"/>
                </a:rPr>
                <a:t>Traffic density</a:t>
              </a:r>
            </a:p>
          </p:txBody>
        </p:sp>
        <p:sp>
          <p:nvSpPr>
            <p:cNvPr id="21" name="Rectangle 20"/>
            <p:cNvSpPr/>
            <p:nvPr/>
          </p:nvSpPr>
          <p:spPr>
            <a:xfrm>
              <a:off x="3566160" y="3931920"/>
              <a:ext cx="5486400" cy="310896"/>
            </a:xfrm>
            <a:prstGeom prst="rect">
              <a:avLst/>
            </a:prstGeom>
            <a:solidFill>
              <a:srgbClr val="343A43"/>
            </a:solidFill>
            <a:ln>
              <a:noFill/>
            </a:ln>
          </p:spPr>
          <p:txBody>
            <a:bodyPr rtlCol="0" anchor="ctr"/>
            <a:lstStyle/>
            <a:p>
              <a:pPr algn="ctr"/>
              <a:endParaRPr/>
            </a:p>
          </p:txBody>
        </p:sp>
        <p:sp>
          <p:nvSpPr>
            <p:cNvPr id="22" name="Rectangle 21"/>
            <p:cNvSpPr/>
            <p:nvPr/>
          </p:nvSpPr>
          <p:spPr>
            <a:xfrm>
              <a:off x="3566160" y="3931920"/>
              <a:ext cx="1920240" cy="310896"/>
            </a:xfrm>
            <a:prstGeom prst="rect">
              <a:avLst/>
            </a:prstGeom>
            <a:solidFill>
              <a:srgbClr val="F28C28"/>
            </a:solidFill>
            <a:ln>
              <a:noFill/>
            </a:ln>
          </p:spPr>
          <p:txBody>
            <a:bodyPr rtlCol="0" anchor="ctr"/>
            <a:lstStyle/>
            <a:p>
              <a:pPr algn="ctr"/>
              <a:endParaRPr/>
            </a:p>
          </p:txBody>
        </p:sp>
        <p:sp>
          <p:nvSpPr>
            <p:cNvPr id="23" name="Rectangle 22"/>
            <p:cNvSpPr/>
            <p:nvPr/>
          </p:nvSpPr>
          <p:spPr>
            <a:xfrm>
              <a:off x="3566160" y="4297680"/>
              <a:ext cx="5486400" cy="310896"/>
            </a:xfrm>
            <a:prstGeom prst="rect">
              <a:avLst/>
            </a:prstGeom>
            <a:solidFill>
              <a:srgbClr val="343A43"/>
            </a:solidFill>
            <a:ln>
              <a:noFill/>
            </a:ln>
          </p:spPr>
          <p:txBody>
            <a:bodyPr rtlCol="0" anchor="ctr"/>
            <a:lstStyle/>
            <a:p>
              <a:pPr algn="ctr"/>
              <a:endParaRPr/>
            </a:p>
          </p:txBody>
        </p:sp>
        <p:sp>
          <p:nvSpPr>
            <p:cNvPr id="24" name="Rectangle 23"/>
            <p:cNvSpPr/>
            <p:nvPr/>
          </p:nvSpPr>
          <p:spPr>
            <a:xfrm>
              <a:off x="3566160" y="4297680"/>
              <a:ext cx="4937760" cy="310896"/>
            </a:xfrm>
            <a:prstGeom prst="rect">
              <a:avLst/>
            </a:prstGeom>
            <a:solidFill>
              <a:srgbClr val="6CA0DC"/>
            </a:solidFill>
            <a:ln>
              <a:noFill/>
            </a:ln>
          </p:spPr>
          <p:txBody>
            <a:bodyPr rtlCol="0" anchor="ctr"/>
            <a:lstStyle/>
            <a:p>
              <a:pPr algn="ctr"/>
              <a:endParaRPr/>
            </a:p>
          </p:txBody>
        </p:sp>
        <p:sp>
          <p:nvSpPr>
            <p:cNvPr id="25" name="TextBox 24"/>
            <p:cNvSpPr txBox="1"/>
            <p:nvPr/>
          </p:nvSpPr>
          <p:spPr>
            <a:xfrm>
              <a:off x="548640" y="4754880"/>
              <a:ext cx="2926080" cy="676656"/>
            </a:xfrm>
            <a:prstGeom prst="rect">
              <a:avLst/>
            </a:prstGeom>
            <a:noFill/>
          </p:spPr>
          <p:txBody>
            <a:bodyPr wrap="square" lIns="18288" tIns="9144" rIns="18288" bIns="9144" anchor="ctr">
              <a:noAutofit/>
            </a:bodyPr>
            <a:lstStyle/>
            <a:p>
              <a:pPr algn="l"/>
              <a:r>
                <a:rPr lang="en-GB" sz="2000" b="1" i="0">
                  <a:solidFill>
                    <a:srgbClr val="F2F2F2"/>
                  </a:solidFill>
                  <a:latin typeface="Arial"/>
                </a:rPr>
                <a:t>Convenience</a:t>
              </a:r>
            </a:p>
          </p:txBody>
        </p:sp>
        <p:sp>
          <p:nvSpPr>
            <p:cNvPr id="26" name="Rectangle 25"/>
            <p:cNvSpPr/>
            <p:nvPr/>
          </p:nvSpPr>
          <p:spPr>
            <a:xfrm>
              <a:off x="3566160" y="4754880"/>
              <a:ext cx="5486400" cy="310896"/>
            </a:xfrm>
            <a:prstGeom prst="rect">
              <a:avLst/>
            </a:prstGeom>
            <a:solidFill>
              <a:srgbClr val="343A43"/>
            </a:solidFill>
            <a:ln>
              <a:noFill/>
            </a:ln>
          </p:spPr>
          <p:txBody>
            <a:bodyPr rtlCol="0" anchor="ctr"/>
            <a:lstStyle/>
            <a:p>
              <a:pPr algn="ctr"/>
              <a:endParaRPr/>
            </a:p>
          </p:txBody>
        </p:sp>
        <p:sp>
          <p:nvSpPr>
            <p:cNvPr id="27" name="Rectangle 26"/>
            <p:cNvSpPr/>
            <p:nvPr/>
          </p:nvSpPr>
          <p:spPr>
            <a:xfrm>
              <a:off x="3566160" y="4754880"/>
              <a:ext cx="2468880" cy="310896"/>
            </a:xfrm>
            <a:prstGeom prst="rect">
              <a:avLst/>
            </a:prstGeom>
            <a:solidFill>
              <a:srgbClr val="F28C28"/>
            </a:solidFill>
            <a:ln>
              <a:noFill/>
            </a:ln>
          </p:spPr>
          <p:txBody>
            <a:bodyPr rtlCol="0" anchor="ctr"/>
            <a:lstStyle/>
            <a:p>
              <a:pPr algn="ctr"/>
              <a:endParaRPr/>
            </a:p>
          </p:txBody>
        </p:sp>
        <p:sp>
          <p:nvSpPr>
            <p:cNvPr id="28" name="Rectangle 27"/>
            <p:cNvSpPr/>
            <p:nvPr/>
          </p:nvSpPr>
          <p:spPr>
            <a:xfrm>
              <a:off x="3566160" y="5120640"/>
              <a:ext cx="5486400" cy="310896"/>
            </a:xfrm>
            <a:prstGeom prst="rect">
              <a:avLst/>
            </a:prstGeom>
            <a:solidFill>
              <a:srgbClr val="343A43"/>
            </a:solidFill>
            <a:ln>
              <a:noFill/>
            </a:ln>
          </p:spPr>
          <p:txBody>
            <a:bodyPr rtlCol="0" anchor="ctr"/>
            <a:lstStyle/>
            <a:p>
              <a:pPr algn="ctr"/>
              <a:endParaRPr/>
            </a:p>
          </p:txBody>
        </p:sp>
        <p:sp>
          <p:nvSpPr>
            <p:cNvPr id="29" name="Rectangle 28"/>
            <p:cNvSpPr/>
            <p:nvPr/>
          </p:nvSpPr>
          <p:spPr>
            <a:xfrm>
              <a:off x="3566160" y="5120640"/>
              <a:ext cx="4937760" cy="310896"/>
            </a:xfrm>
            <a:prstGeom prst="rect">
              <a:avLst/>
            </a:prstGeom>
            <a:solidFill>
              <a:srgbClr val="6CA0DC"/>
            </a:solidFill>
            <a:ln>
              <a:noFill/>
            </a:ln>
          </p:spPr>
          <p:txBody>
            <a:bodyPr rtlCol="0" anchor="ctr"/>
            <a:lstStyle/>
            <a:p>
              <a:pPr algn="ctr"/>
              <a:endParaRPr/>
            </a:p>
          </p:txBody>
        </p:sp>
        <p:sp>
          <p:nvSpPr>
            <p:cNvPr id="30" name="Rounded Rectangle 29"/>
            <p:cNvSpPr/>
            <p:nvPr/>
          </p:nvSpPr>
          <p:spPr>
            <a:xfrm>
              <a:off x="9555480" y="1554480"/>
              <a:ext cx="2084831" cy="1188720"/>
            </a:xfrm>
            <a:prstGeom prst="roundRect">
              <a:avLst>
                <a:gd name="adj" fmla="val 6153"/>
              </a:avLst>
            </a:prstGeom>
            <a:solidFill>
              <a:srgbClr val="2B2F36"/>
            </a:solidFill>
            <a:ln>
              <a:noFill/>
            </a:ln>
          </p:spPr>
          <p:txBody>
            <a:bodyPr rtlCol="0" anchor="ctr"/>
            <a:lstStyle/>
            <a:p>
              <a:pPr algn="ctr"/>
              <a:endParaRPr/>
            </a:p>
          </p:txBody>
        </p:sp>
        <p:sp>
          <p:nvSpPr>
            <p:cNvPr id="31" name="Rectangle 30"/>
            <p:cNvSpPr/>
            <p:nvPr/>
          </p:nvSpPr>
          <p:spPr>
            <a:xfrm>
              <a:off x="9738360" y="1737360"/>
              <a:ext cx="274320" cy="274320"/>
            </a:xfrm>
            <a:prstGeom prst="rect">
              <a:avLst/>
            </a:prstGeom>
            <a:solidFill>
              <a:srgbClr val="F28C28"/>
            </a:solidFill>
            <a:ln>
              <a:noFill/>
            </a:ln>
          </p:spPr>
          <p:txBody>
            <a:bodyPr rtlCol="0" anchor="ctr"/>
            <a:lstStyle/>
            <a:p>
              <a:pPr algn="ctr"/>
              <a:endParaRPr/>
            </a:p>
          </p:txBody>
        </p:sp>
        <p:sp>
          <p:nvSpPr>
            <p:cNvPr id="32" name="TextBox 31"/>
            <p:cNvSpPr txBox="1"/>
            <p:nvPr/>
          </p:nvSpPr>
          <p:spPr>
            <a:xfrm>
              <a:off x="10104120" y="1691640"/>
              <a:ext cx="1463040" cy="365760"/>
            </a:xfrm>
            <a:prstGeom prst="rect">
              <a:avLst/>
            </a:prstGeom>
            <a:noFill/>
          </p:spPr>
          <p:txBody>
            <a:bodyPr wrap="square" lIns="18288" tIns="9144" rIns="18288" bIns="9144" anchor="ctr">
              <a:noAutofit/>
            </a:bodyPr>
            <a:lstStyle/>
            <a:p>
              <a:pPr algn="l"/>
              <a:r>
                <a:rPr lang="en-GB" sz="1800" b="0" i="0">
                  <a:solidFill>
                    <a:srgbClr val="F2F2F2"/>
                  </a:solidFill>
                  <a:latin typeface="Arial"/>
                </a:rPr>
                <a:t>Steam</a:t>
              </a:r>
            </a:p>
          </p:txBody>
        </p:sp>
        <p:sp>
          <p:nvSpPr>
            <p:cNvPr id="33" name="Rectangle 32"/>
            <p:cNvSpPr/>
            <p:nvPr/>
          </p:nvSpPr>
          <p:spPr>
            <a:xfrm>
              <a:off x="9738360" y="2240280"/>
              <a:ext cx="274320" cy="274320"/>
            </a:xfrm>
            <a:prstGeom prst="rect">
              <a:avLst/>
            </a:prstGeom>
            <a:solidFill>
              <a:srgbClr val="6CA0DC"/>
            </a:solidFill>
            <a:ln>
              <a:noFill/>
            </a:ln>
          </p:spPr>
          <p:txBody>
            <a:bodyPr rtlCol="0" anchor="ctr"/>
            <a:lstStyle/>
            <a:p>
              <a:pPr algn="ctr"/>
              <a:endParaRPr/>
            </a:p>
          </p:txBody>
        </p:sp>
        <p:sp>
          <p:nvSpPr>
            <p:cNvPr id="34" name="TextBox 33"/>
            <p:cNvSpPr txBox="1"/>
            <p:nvPr/>
          </p:nvSpPr>
          <p:spPr>
            <a:xfrm>
              <a:off x="10104120" y="2194560"/>
              <a:ext cx="1463040" cy="365760"/>
            </a:xfrm>
            <a:prstGeom prst="rect">
              <a:avLst/>
            </a:prstGeom>
            <a:noFill/>
          </p:spPr>
          <p:txBody>
            <a:bodyPr wrap="square" lIns="18288" tIns="9144" rIns="18288" bIns="9144" anchor="ctr">
              <a:noAutofit/>
            </a:bodyPr>
            <a:lstStyle/>
            <a:p>
              <a:pPr algn="l"/>
              <a:r>
                <a:rPr lang="en-GB" sz="1800" b="0" i="0">
                  <a:solidFill>
                    <a:srgbClr val="F2F2F2"/>
                  </a:solidFill>
                  <a:latin typeface="Arial"/>
                </a:rPr>
                <a:t>Electric</a:t>
              </a:r>
            </a:p>
          </p:txBody>
        </p:sp>
        <p:sp>
          <p:nvSpPr>
            <p:cNvPr id="35" name="TextBox 34"/>
            <p:cNvSpPr txBox="1"/>
            <p:nvPr/>
          </p:nvSpPr>
          <p:spPr>
            <a:xfrm>
              <a:off x="9555480" y="2971800"/>
              <a:ext cx="2084831" cy="731520"/>
            </a:xfrm>
            <a:prstGeom prst="rect">
              <a:avLst/>
            </a:prstGeom>
            <a:noFill/>
          </p:spPr>
          <p:txBody>
            <a:bodyPr wrap="square" lIns="18288" tIns="9144" rIns="18288" bIns="9144" anchor="t">
              <a:noAutofit/>
            </a:bodyPr>
            <a:lstStyle/>
            <a:p>
              <a:pPr algn="l"/>
              <a:r>
                <a:rPr lang="en-GB" sz="1600" b="0" i="0">
                  <a:solidFill>
                    <a:srgbClr val="A9B0B8"/>
                  </a:solidFill>
                  <a:latin typeface="Arial"/>
                </a:rPr>
                <a:t>Shape only. Not measured.</a:t>
              </a:r>
            </a:p>
          </p:txBody>
        </p:sp>
      </p:grpSp>
      <p:sp>
        <p:nvSpPr>
          <p:cNvPr id="3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8"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Electric rail wins on speed, throughput, traffic and convenience once a factory matures.</a:t>
            </a:r>
          </a:p>
        </p:txBody>
      </p:sp>
      <p:sp>
        <p:nvSpPr>
          <p:cNvPr id="39"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5</a:t>
            </a:r>
          </a:p>
        </p:txBody>
      </p:sp>
    </p:spTree>
    <p:extLst>
      <p:ext uri="{BB962C8B-B14F-4D97-AF65-F5344CB8AC3E}">
        <p14:creationId xmlns:p14="http://schemas.microsoft.com/office/powerpoint/2010/main" val="40028870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nodeType="withEffect">
                                  <p:stCondLst>
                                    <p:cond delay="60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nodeType="withEffect">
                                  <p:stCondLst>
                                    <p:cond delay="900"/>
                                  </p:stCondLst>
                                  <p:childTnLst>
                                    <p:set>
                                      <p:cBhvr>
                                        <p:cTn id="15" dur="1" fill="hold">
                                          <p:stCondLst>
                                            <p:cond delay="0"/>
                                          </p:stCondLst>
                                        </p:cTn>
                                        <p:tgtEl>
                                          <p:spTgt spid="38"/>
                                        </p:tgtEl>
                                        <p:attrNameLst>
                                          <p:attrName>style.visibility</p:attrName>
                                        </p:attrNameLst>
                                      </p:cBhvr>
                                      <p:to>
                                        <p:strVal val="visible"/>
                                      </p:to>
                                    </p:set>
                                    <p:animEffect transition="in" filter="fade">
                                      <p:cBhvr>
                                        <p:cTn id="1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Upgrade in place</a:t>
            </a:r>
          </a:p>
        </p:txBody>
      </p:sp>
      <p:sp>
        <p:nvSpPr>
          <p:cNvPr id="3" name="CHIP"/>
          <p:cNvSpPr/>
          <p:nvPr/>
        </p:nvSpPr>
        <p:spPr>
          <a:xfrm>
            <a:off x="10088575" y="548640"/>
            <a:ext cx="1554480" cy="365760"/>
          </a:xfrm>
          <a:prstGeom prst="roundRect">
            <a:avLst>
              <a:gd name="adj" fmla="val 50000"/>
            </a:avLst>
          </a:prstGeom>
          <a:solidFill>
            <a:srgbClr val="3FB950"/>
          </a:solidFill>
          <a:ln>
            <a:noFill/>
          </a:ln>
        </p:spPr>
        <p:txBody>
          <a:bodyPr wrap="square" lIns="36576" tIns="0" rIns="36576" bIns="0" rtlCol="0" anchor="ctr">
            <a:noAutofit/>
          </a:bodyPr>
          <a:lstStyle/>
          <a:p>
            <a:pPr algn="ctr"/>
            <a:r>
              <a:rPr lang="en-GB" sz="1400" b="1" i="0">
                <a:solidFill>
                  <a:srgbClr val="101418"/>
                </a:solidFill>
                <a:latin typeface="Arial"/>
              </a:rPr>
              <a:t>AGREED</a:t>
            </a:r>
          </a:p>
        </p:txBody>
      </p:sp>
      <p:grpSp>
        <p:nvGrpSpPr>
          <p:cNvPr id="4" name="PANEL 1" descr="Panel 1: a build menu card showing the electric beam, with a mouse pointer choosing it."/>
          <p:cNvGrpSpPr/>
          <p:nvPr/>
        </p:nvGrpSpPr>
        <p:grpSpPr>
          <a:xfrm>
            <a:off x="548640" y="1417320"/>
            <a:ext cx="3383280" cy="4023360"/>
            <a:chOff x="548640" y="1417320"/>
            <a:chExt cx="3383280" cy="4023360"/>
          </a:xfrm>
        </p:grpSpPr>
        <p:sp>
          <p:nvSpPr>
            <p:cNvPr id="5" name="Rounded Rectangle 4"/>
            <p:cNvSpPr/>
            <p:nvPr/>
          </p:nvSpPr>
          <p:spPr>
            <a:xfrm>
              <a:off x="548640" y="1417320"/>
              <a:ext cx="3383280" cy="4023360"/>
            </a:xfrm>
            <a:prstGeom prst="roundRect">
              <a:avLst>
                <a:gd name="adj" fmla="val 2162"/>
              </a:avLst>
            </a:prstGeom>
            <a:solidFill>
              <a:srgbClr val="2B2F36"/>
            </a:solidFill>
            <a:ln>
              <a:noFill/>
            </a:ln>
          </p:spPr>
          <p:txBody>
            <a:bodyPr rtlCol="0" anchor="ctr"/>
            <a:lstStyle/>
            <a:p>
              <a:pPr algn="ctr"/>
              <a:endParaRPr/>
            </a:p>
          </p:txBody>
        </p:sp>
        <p:sp>
          <p:nvSpPr>
            <p:cNvPr id="6" name="BADGE"/>
            <p:cNvSpPr/>
            <p:nvPr/>
          </p:nvSpPr>
          <p:spPr>
            <a:xfrm>
              <a:off x="704088" y="1572768"/>
              <a:ext cx="420624" cy="420624"/>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1</a:t>
              </a:r>
            </a:p>
          </p:txBody>
        </p:sp>
        <p:sp>
          <p:nvSpPr>
            <p:cNvPr id="7" name="TextBox 6"/>
            <p:cNvSpPr txBox="1"/>
            <p:nvPr/>
          </p:nvSpPr>
          <p:spPr>
            <a:xfrm>
              <a:off x="685800" y="4251960"/>
              <a:ext cx="3108960" cy="1005840"/>
            </a:xfrm>
            <a:prstGeom prst="rect">
              <a:avLst/>
            </a:prstGeom>
            <a:noFill/>
          </p:spPr>
          <p:txBody>
            <a:bodyPr wrap="square" lIns="18288" tIns="9144" rIns="18288" bIns="9144" anchor="ctr">
              <a:noAutofit/>
            </a:bodyPr>
            <a:lstStyle/>
            <a:p>
              <a:pPr algn="ctr"/>
              <a:r>
                <a:rPr lang="en-GB" sz="2000" b="1" i="0">
                  <a:solidFill>
                    <a:srgbClr val="F2F2F2"/>
                  </a:solidFill>
                  <a:latin typeface="Arial"/>
                </a:rPr>
                <a:t>Choose the electric track</a:t>
              </a:r>
            </a:p>
          </p:txBody>
        </p:sp>
        <p:sp>
          <p:nvSpPr>
            <p:cNvPr id="8" name="Rounded Rectangle 7"/>
            <p:cNvSpPr/>
            <p:nvPr/>
          </p:nvSpPr>
          <p:spPr>
            <a:xfrm>
              <a:off x="1188719" y="2286000"/>
              <a:ext cx="2103120" cy="1280160"/>
            </a:xfrm>
            <a:prstGeom prst="roundRect">
              <a:avLst>
                <a:gd name="adj" fmla="val 5714"/>
              </a:avLst>
            </a:prstGeom>
            <a:solidFill>
              <a:srgbClr val="343A43"/>
            </a:solidFill>
            <a:ln w="19050">
              <a:solidFill>
                <a:srgbClr val="4A515B"/>
              </a:solidFill>
            </a:ln>
          </p:spPr>
          <p:txBody>
            <a:bodyPr rtlCol="0" anchor="ctr"/>
            <a:lstStyle/>
            <a:p>
              <a:pPr algn="ctr"/>
              <a:endParaRPr/>
            </a:p>
          </p:txBody>
        </p:sp>
        <p:sp>
          <p:nvSpPr>
            <p:cNvPr id="9" name="Rounded Rectangle 8"/>
            <p:cNvSpPr/>
            <p:nvPr/>
          </p:nvSpPr>
          <p:spPr>
            <a:xfrm>
              <a:off x="1417319" y="2606040"/>
              <a:ext cx="1645920" cy="365760"/>
            </a:xfrm>
            <a:prstGeom prst="roundRect">
              <a:avLst>
                <a:gd name="adj" fmla="val 25000"/>
              </a:avLst>
            </a:prstGeom>
            <a:solidFill>
              <a:srgbClr val="6CA0DC"/>
            </a:solidFill>
            <a:ln>
              <a:noFill/>
            </a:ln>
          </p:spPr>
          <p:txBody>
            <a:bodyPr rtlCol="0" anchor="ctr"/>
            <a:lstStyle/>
            <a:p>
              <a:pPr algn="ctr"/>
              <a:endParaRPr/>
            </a:p>
          </p:txBody>
        </p:sp>
        <p:sp>
          <p:nvSpPr>
            <p:cNvPr id="10" name="Rectangle 9"/>
            <p:cNvSpPr/>
            <p:nvPr/>
          </p:nvSpPr>
          <p:spPr>
            <a:xfrm>
              <a:off x="2103120" y="2971800"/>
              <a:ext cx="274320" cy="365760"/>
            </a:xfrm>
            <a:prstGeom prst="rect">
              <a:avLst/>
            </a:prstGeom>
            <a:solidFill>
              <a:srgbClr val="9AA0A6"/>
            </a:solidFill>
            <a:ln>
              <a:noFill/>
            </a:ln>
          </p:spPr>
          <p:txBody>
            <a:bodyPr rtlCol="0" anchor="ctr"/>
            <a:lstStyle/>
            <a:p>
              <a:pPr algn="ctr"/>
              <a:endParaRPr/>
            </a:p>
          </p:txBody>
        </p:sp>
        <p:sp>
          <p:nvSpPr>
            <p:cNvPr id="11" name="Rectangle 10"/>
            <p:cNvSpPr/>
            <p:nvPr/>
          </p:nvSpPr>
          <p:spPr>
            <a:xfrm>
              <a:off x="1691640" y="3291839"/>
              <a:ext cx="1097280" cy="73152"/>
            </a:xfrm>
            <a:prstGeom prst="rect">
              <a:avLst/>
            </a:prstGeom>
            <a:solidFill>
              <a:srgbClr val="6CA0DC"/>
            </a:solidFill>
            <a:ln>
              <a:noFill/>
            </a:ln>
          </p:spPr>
          <p:txBody>
            <a:bodyPr rtlCol="0" anchor="ctr"/>
            <a:lstStyle/>
            <a:p>
              <a:pPr algn="ctr"/>
              <a:endParaRPr/>
            </a:p>
          </p:txBody>
        </p:sp>
        <p:sp>
          <p:nvSpPr>
            <p:cNvPr id="12" name="CURSOR"/>
            <p:cNvSpPr/>
            <p:nvPr/>
          </p:nvSpPr>
          <p:spPr>
            <a:xfrm>
              <a:off x="2697480" y="2971800"/>
              <a:ext cx="512064" cy="841248"/>
            </a:xfrm>
            <a:custGeom>
              <a:avLst/>
              <a:gdLst/>
              <a:ahLst/>
              <a:cxnLst/>
              <a:rect l="l" t="t" r="r" b="b"/>
              <a:pathLst>
                <a:path w="512064" h="841248">
                  <a:moveTo>
                    <a:pt x="0" y="0"/>
                  </a:moveTo>
                  <a:lnTo>
                    <a:pt x="0" y="713232"/>
                  </a:lnTo>
                  <a:lnTo>
                    <a:pt x="173736" y="566928"/>
                  </a:lnTo>
                  <a:lnTo>
                    <a:pt x="292608" y="841248"/>
                  </a:lnTo>
                  <a:lnTo>
                    <a:pt x="402336" y="795528"/>
                  </a:lnTo>
                  <a:lnTo>
                    <a:pt x="292608" y="530352"/>
                  </a:lnTo>
                  <a:lnTo>
                    <a:pt x="512064" y="530352"/>
                  </a:lnTo>
                  <a:close/>
                </a:path>
              </a:pathLst>
            </a:custGeom>
            <a:solidFill>
              <a:srgbClr val="F2F2F2"/>
            </a:solidFill>
            <a:ln w="19050">
              <a:solidFill>
                <a:srgbClr val="101418"/>
              </a:solidFill>
            </a:ln>
          </p:spPr>
          <p:txBody>
            <a:bodyPr rtlCol="0" anchor="ctr"/>
            <a:lstStyle/>
            <a:p>
              <a:pPr algn="ctr"/>
              <a:endParaRPr/>
            </a:p>
          </p:txBody>
        </p:sp>
      </p:grpSp>
      <p:cxnSp>
        <p:nvCxnSpPr>
          <p:cNvPr id="13" name="Connector 12"/>
          <p:cNvCxnSpPr/>
          <p:nvPr/>
        </p:nvCxnSpPr>
        <p:spPr>
          <a:xfrm>
            <a:off x="3995928" y="3429000"/>
            <a:ext cx="347472" cy="0"/>
          </a:xfrm>
          <a:prstGeom prst="line">
            <a:avLst/>
          </a:prstGeom>
          <a:ln w="38100">
            <a:solidFill>
              <a:srgbClr val="F28C28"/>
            </a:solidFill>
            <a:tailEnd type="triangle" w="med" len="med"/>
          </a:ln>
        </p:spPr>
      </p:cxnSp>
      <p:grpSp>
        <p:nvGrpSpPr>
          <p:cNvPr id="14" name="PANEL 2" descr="Panel 2: the pointer aims at the steam track, which is highlighted."/>
          <p:cNvGrpSpPr/>
          <p:nvPr/>
        </p:nvGrpSpPr>
        <p:grpSpPr>
          <a:xfrm>
            <a:off x="4407408" y="1417320"/>
            <a:ext cx="3383280" cy="4023360"/>
            <a:chOff x="4407408" y="1417320"/>
            <a:chExt cx="3383280" cy="4023360"/>
          </a:xfrm>
        </p:grpSpPr>
        <p:sp>
          <p:nvSpPr>
            <p:cNvPr id="15" name="Rounded Rectangle 14"/>
            <p:cNvSpPr/>
            <p:nvPr/>
          </p:nvSpPr>
          <p:spPr>
            <a:xfrm>
              <a:off x="4407408" y="1417320"/>
              <a:ext cx="3383280" cy="4023360"/>
            </a:xfrm>
            <a:prstGeom prst="roundRect">
              <a:avLst>
                <a:gd name="adj" fmla="val 2162"/>
              </a:avLst>
            </a:prstGeom>
            <a:solidFill>
              <a:srgbClr val="2B2F36"/>
            </a:solidFill>
            <a:ln>
              <a:noFill/>
            </a:ln>
          </p:spPr>
          <p:txBody>
            <a:bodyPr rtlCol="0" anchor="ctr"/>
            <a:lstStyle/>
            <a:p>
              <a:pPr algn="ctr"/>
              <a:endParaRPr/>
            </a:p>
          </p:txBody>
        </p:sp>
        <p:sp>
          <p:nvSpPr>
            <p:cNvPr id="16" name="BADGE"/>
            <p:cNvSpPr/>
            <p:nvPr/>
          </p:nvSpPr>
          <p:spPr>
            <a:xfrm>
              <a:off x="4562856" y="1572768"/>
              <a:ext cx="420624" cy="420624"/>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2</a:t>
              </a:r>
            </a:p>
          </p:txBody>
        </p:sp>
        <p:sp>
          <p:nvSpPr>
            <p:cNvPr id="17" name="TextBox 16"/>
            <p:cNvSpPr txBox="1"/>
            <p:nvPr/>
          </p:nvSpPr>
          <p:spPr>
            <a:xfrm>
              <a:off x="4544568" y="4251960"/>
              <a:ext cx="3108960" cy="1005840"/>
            </a:xfrm>
            <a:prstGeom prst="rect">
              <a:avLst/>
            </a:prstGeom>
            <a:noFill/>
          </p:spPr>
          <p:txBody>
            <a:bodyPr wrap="square" lIns="18288" tIns="9144" rIns="18288" bIns="9144" anchor="ctr">
              <a:noAutofit/>
            </a:bodyPr>
            <a:lstStyle/>
            <a:p>
              <a:pPr algn="ctr"/>
              <a:r>
                <a:rPr lang="en-GB" sz="2000" b="1" i="0">
                  <a:solidFill>
                    <a:srgbClr val="F2F2F2"/>
                  </a:solidFill>
                  <a:latin typeface="Arial"/>
                </a:rPr>
                <a:t>Point at your steam track</a:t>
              </a:r>
            </a:p>
          </p:txBody>
        </p:sp>
        <p:sp>
          <p:nvSpPr>
            <p:cNvPr id="18" name="Rounded Rectangle 17"/>
            <p:cNvSpPr/>
            <p:nvPr/>
          </p:nvSpPr>
          <p:spPr>
            <a:xfrm>
              <a:off x="4681728" y="2468880"/>
              <a:ext cx="2834640" cy="1143000"/>
            </a:xfrm>
            <a:prstGeom prst="roundRect">
              <a:avLst>
                <a:gd name="adj" fmla="val 8000"/>
              </a:avLst>
            </a:prstGeom>
            <a:solidFill>
              <a:srgbClr val="6CA0DC">
                <a:alpha val="18000"/>
              </a:srgbClr>
            </a:solidFill>
            <a:ln w="31750">
              <a:solidFill>
                <a:srgbClr val="4DA3FF"/>
              </a:solidFill>
              <a:prstDash val="dash"/>
            </a:ln>
          </p:spPr>
          <p:txBody>
            <a:bodyPr rtlCol="0" anchor="ctr"/>
            <a:lstStyle/>
            <a:p>
              <a:pPr algn="ctr"/>
              <a:endParaRPr/>
            </a:p>
          </p:txBody>
        </p:sp>
        <p:sp>
          <p:nvSpPr>
            <p:cNvPr id="19" name="Rectangle 18"/>
            <p:cNvSpPr/>
            <p:nvPr/>
          </p:nvSpPr>
          <p:spPr>
            <a:xfrm>
              <a:off x="4910328" y="2770632"/>
              <a:ext cx="54864" cy="502920"/>
            </a:xfrm>
            <a:prstGeom prst="rect">
              <a:avLst/>
            </a:prstGeom>
            <a:solidFill>
              <a:srgbClr val="6B5B4B"/>
            </a:solidFill>
            <a:ln>
              <a:noFill/>
            </a:ln>
          </p:spPr>
          <p:txBody>
            <a:bodyPr rtlCol="0" anchor="ctr"/>
            <a:lstStyle/>
            <a:p>
              <a:pPr algn="ctr"/>
              <a:endParaRPr/>
            </a:p>
          </p:txBody>
        </p:sp>
        <p:sp>
          <p:nvSpPr>
            <p:cNvPr id="20" name="Rectangle 19"/>
            <p:cNvSpPr/>
            <p:nvPr/>
          </p:nvSpPr>
          <p:spPr>
            <a:xfrm>
              <a:off x="5276088" y="2770632"/>
              <a:ext cx="54864" cy="502920"/>
            </a:xfrm>
            <a:prstGeom prst="rect">
              <a:avLst/>
            </a:prstGeom>
            <a:solidFill>
              <a:srgbClr val="6B5B4B"/>
            </a:solidFill>
            <a:ln>
              <a:noFill/>
            </a:ln>
          </p:spPr>
          <p:txBody>
            <a:bodyPr rtlCol="0" anchor="ctr"/>
            <a:lstStyle/>
            <a:p>
              <a:pPr algn="ctr"/>
              <a:endParaRPr/>
            </a:p>
          </p:txBody>
        </p:sp>
        <p:sp>
          <p:nvSpPr>
            <p:cNvPr id="21" name="Rectangle 20"/>
            <p:cNvSpPr/>
            <p:nvPr/>
          </p:nvSpPr>
          <p:spPr>
            <a:xfrm>
              <a:off x="5641848" y="2770632"/>
              <a:ext cx="54864" cy="502920"/>
            </a:xfrm>
            <a:prstGeom prst="rect">
              <a:avLst/>
            </a:prstGeom>
            <a:solidFill>
              <a:srgbClr val="6B5B4B"/>
            </a:solidFill>
            <a:ln>
              <a:noFill/>
            </a:ln>
          </p:spPr>
          <p:txBody>
            <a:bodyPr rtlCol="0" anchor="ctr"/>
            <a:lstStyle/>
            <a:p>
              <a:pPr algn="ctr"/>
              <a:endParaRPr/>
            </a:p>
          </p:txBody>
        </p:sp>
        <p:sp>
          <p:nvSpPr>
            <p:cNvPr id="22" name="Rectangle 21"/>
            <p:cNvSpPr/>
            <p:nvPr/>
          </p:nvSpPr>
          <p:spPr>
            <a:xfrm>
              <a:off x="6007608" y="2770632"/>
              <a:ext cx="54864" cy="502920"/>
            </a:xfrm>
            <a:prstGeom prst="rect">
              <a:avLst/>
            </a:prstGeom>
            <a:solidFill>
              <a:srgbClr val="6B5B4B"/>
            </a:solidFill>
            <a:ln>
              <a:noFill/>
            </a:ln>
          </p:spPr>
          <p:txBody>
            <a:bodyPr rtlCol="0" anchor="ctr"/>
            <a:lstStyle/>
            <a:p>
              <a:pPr algn="ctr"/>
              <a:endParaRPr/>
            </a:p>
          </p:txBody>
        </p:sp>
        <p:sp>
          <p:nvSpPr>
            <p:cNvPr id="23" name="Rectangle 22"/>
            <p:cNvSpPr/>
            <p:nvPr/>
          </p:nvSpPr>
          <p:spPr>
            <a:xfrm>
              <a:off x="6373368" y="2770632"/>
              <a:ext cx="54864" cy="502920"/>
            </a:xfrm>
            <a:prstGeom prst="rect">
              <a:avLst/>
            </a:prstGeom>
            <a:solidFill>
              <a:srgbClr val="6B5B4B"/>
            </a:solidFill>
            <a:ln>
              <a:noFill/>
            </a:ln>
          </p:spPr>
          <p:txBody>
            <a:bodyPr rtlCol="0" anchor="ctr"/>
            <a:lstStyle/>
            <a:p>
              <a:pPr algn="ctr"/>
              <a:endParaRPr/>
            </a:p>
          </p:txBody>
        </p:sp>
        <p:sp>
          <p:nvSpPr>
            <p:cNvPr id="24" name="Rectangle 23"/>
            <p:cNvSpPr/>
            <p:nvPr/>
          </p:nvSpPr>
          <p:spPr>
            <a:xfrm>
              <a:off x="6739128" y="2770632"/>
              <a:ext cx="54864" cy="502920"/>
            </a:xfrm>
            <a:prstGeom prst="rect">
              <a:avLst/>
            </a:prstGeom>
            <a:solidFill>
              <a:srgbClr val="6B5B4B"/>
            </a:solidFill>
            <a:ln>
              <a:noFill/>
            </a:ln>
          </p:spPr>
          <p:txBody>
            <a:bodyPr rtlCol="0" anchor="ctr"/>
            <a:lstStyle/>
            <a:p>
              <a:pPr algn="ctr"/>
              <a:endParaRPr/>
            </a:p>
          </p:txBody>
        </p:sp>
        <p:sp>
          <p:nvSpPr>
            <p:cNvPr id="25" name="Rectangle 24"/>
            <p:cNvSpPr/>
            <p:nvPr/>
          </p:nvSpPr>
          <p:spPr>
            <a:xfrm>
              <a:off x="7104888" y="2770632"/>
              <a:ext cx="54864" cy="502920"/>
            </a:xfrm>
            <a:prstGeom prst="rect">
              <a:avLst/>
            </a:prstGeom>
            <a:solidFill>
              <a:srgbClr val="6B5B4B"/>
            </a:solidFill>
            <a:ln>
              <a:noFill/>
            </a:ln>
          </p:spPr>
          <p:txBody>
            <a:bodyPr rtlCol="0" anchor="ctr"/>
            <a:lstStyle/>
            <a:p>
              <a:pPr algn="ctr"/>
              <a:endParaRPr/>
            </a:p>
          </p:txBody>
        </p:sp>
        <p:sp>
          <p:nvSpPr>
            <p:cNvPr id="26" name="Rectangle 25"/>
            <p:cNvSpPr/>
            <p:nvPr/>
          </p:nvSpPr>
          <p:spPr>
            <a:xfrm>
              <a:off x="4818888" y="2834640"/>
              <a:ext cx="2560320" cy="64008"/>
            </a:xfrm>
            <a:prstGeom prst="rect">
              <a:avLst/>
            </a:prstGeom>
            <a:solidFill>
              <a:srgbClr val="F28C28"/>
            </a:solidFill>
            <a:ln>
              <a:noFill/>
            </a:ln>
          </p:spPr>
          <p:txBody>
            <a:bodyPr rtlCol="0" anchor="ctr"/>
            <a:lstStyle/>
            <a:p>
              <a:pPr algn="ctr"/>
              <a:endParaRPr/>
            </a:p>
          </p:txBody>
        </p:sp>
        <p:sp>
          <p:nvSpPr>
            <p:cNvPr id="27" name="Rectangle 26"/>
            <p:cNvSpPr/>
            <p:nvPr/>
          </p:nvSpPr>
          <p:spPr>
            <a:xfrm>
              <a:off x="4818888" y="3145536"/>
              <a:ext cx="2560320" cy="64008"/>
            </a:xfrm>
            <a:prstGeom prst="rect">
              <a:avLst/>
            </a:prstGeom>
            <a:solidFill>
              <a:srgbClr val="F28C28"/>
            </a:solidFill>
            <a:ln>
              <a:noFill/>
            </a:ln>
          </p:spPr>
          <p:txBody>
            <a:bodyPr rtlCol="0" anchor="ctr"/>
            <a:lstStyle/>
            <a:p>
              <a:pPr algn="ctr"/>
              <a:endParaRPr/>
            </a:p>
          </p:txBody>
        </p:sp>
        <p:sp>
          <p:nvSpPr>
            <p:cNvPr id="28" name="CURSOR"/>
            <p:cNvSpPr/>
            <p:nvPr/>
          </p:nvSpPr>
          <p:spPr>
            <a:xfrm>
              <a:off x="6601968" y="3200400"/>
              <a:ext cx="512064" cy="841248"/>
            </a:xfrm>
            <a:custGeom>
              <a:avLst/>
              <a:gdLst/>
              <a:ahLst/>
              <a:cxnLst/>
              <a:rect l="l" t="t" r="r" b="b"/>
              <a:pathLst>
                <a:path w="512064" h="841248">
                  <a:moveTo>
                    <a:pt x="0" y="0"/>
                  </a:moveTo>
                  <a:lnTo>
                    <a:pt x="0" y="713232"/>
                  </a:lnTo>
                  <a:lnTo>
                    <a:pt x="173736" y="566928"/>
                  </a:lnTo>
                  <a:lnTo>
                    <a:pt x="292608" y="841248"/>
                  </a:lnTo>
                  <a:lnTo>
                    <a:pt x="402336" y="795528"/>
                  </a:lnTo>
                  <a:lnTo>
                    <a:pt x="292608" y="530352"/>
                  </a:lnTo>
                  <a:lnTo>
                    <a:pt x="512064" y="530352"/>
                  </a:lnTo>
                  <a:close/>
                </a:path>
              </a:pathLst>
            </a:custGeom>
            <a:solidFill>
              <a:srgbClr val="F2F2F2"/>
            </a:solidFill>
            <a:ln w="19050">
              <a:solidFill>
                <a:srgbClr val="101418"/>
              </a:solidFill>
            </a:ln>
          </p:spPr>
          <p:txBody>
            <a:bodyPr rtlCol="0" anchor="ctr"/>
            <a:lstStyle/>
            <a:p>
              <a:pPr algn="ctr"/>
              <a:endParaRPr/>
            </a:p>
          </p:txBody>
        </p:sp>
      </p:grpSp>
      <p:cxnSp>
        <p:nvCxnSpPr>
          <p:cNvPr id="29" name="Connector 28"/>
          <p:cNvCxnSpPr/>
          <p:nvPr/>
        </p:nvCxnSpPr>
        <p:spPr>
          <a:xfrm>
            <a:off x="7854696" y="3429000"/>
            <a:ext cx="338327" cy="0"/>
          </a:xfrm>
          <a:prstGeom prst="line">
            <a:avLst/>
          </a:prstGeom>
          <a:ln w="38100">
            <a:solidFill>
              <a:srgbClr val="F28C28"/>
            </a:solidFill>
            <a:tailEnd type="triangle" w="med" len="med"/>
          </a:ln>
        </p:spPr>
      </p:cxnSp>
      <p:grpSp>
        <p:nvGrpSpPr>
          <p:cNvPr id="30" name="PANEL 3" descr="Panel 3: a blue beam now sits where the rails were."/>
          <p:cNvGrpSpPr/>
          <p:nvPr/>
        </p:nvGrpSpPr>
        <p:grpSpPr>
          <a:xfrm>
            <a:off x="8257031" y="1417320"/>
            <a:ext cx="3383280" cy="4023360"/>
            <a:chOff x="8257031" y="1417320"/>
            <a:chExt cx="3383280" cy="4023360"/>
          </a:xfrm>
        </p:grpSpPr>
        <p:sp>
          <p:nvSpPr>
            <p:cNvPr id="31" name="Rounded Rectangle 30"/>
            <p:cNvSpPr/>
            <p:nvPr/>
          </p:nvSpPr>
          <p:spPr>
            <a:xfrm>
              <a:off x="8257031" y="1417320"/>
              <a:ext cx="3383280" cy="4023360"/>
            </a:xfrm>
            <a:prstGeom prst="roundRect">
              <a:avLst>
                <a:gd name="adj" fmla="val 2162"/>
              </a:avLst>
            </a:prstGeom>
            <a:solidFill>
              <a:srgbClr val="2B2F36"/>
            </a:solidFill>
            <a:ln>
              <a:noFill/>
            </a:ln>
          </p:spPr>
          <p:txBody>
            <a:bodyPr rtlCol="0" anchor="ctr"/>
            <a:lstStyle/>
            <a:p>
              <a:pPr algn="ctr"/>
              <a:endParaRPr/>
            </a:p>
          </p:txBody>
        </p:sp>
        <p:sp>
          <p:nvSpPr>
            <p:cNvPr id="32" name="BADGE"/>
            <p:cNvSpPr/>
            <p:nvPr/>
          </p:nvSpPr>
          <p:spPr>
            <a:xfrm>
              <a:off x="8412480" y="1572768"/>
              <a:ext cx="420624" cy="420624"/>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3</a:t>
              </a:r>
            </a:p>
          </p:txBody>
        </p:sp>
        <p:sp>
          <p:nvSpPr>
            <p:cNvPr id="33" name="TextBox 32"/>
            <p:cNvSpPr txBox="1"/>
            <p:nvPr/>
          </p:nvSpPr>
          <p:spPr>
            <a:xfrm>
              <a:off x="8394192" y="4251960"/>
              <a:ext cx="3108960" cy="1005840"/>
            </a:xfrm>
            <a:prstGeom prst="rect">
              <a:avLst/>
            </a:prstGeom>
            <a:noFill/>
          </p:spPr>
          <p:txBody>
            <a:bodyPr wrap="square" lIns="18288" tIns="9144" rIns="18288" bIns="9144" anchor="ctr">
              <a:noAutofit/>
            </a:bodyPr>
            <a:lstStyle/>
            <a:p>
              <a:pPr algn="ctr"/>
              <a:r>
                <a:rPr lang="en-GB" sz="2000" b="1" i="0">
                  <a:solidFill>
                    <a:srgbClr val="F2F2F2"/>
                  </a:solidFill>
                  <a:latin typeface="Arial"/>
                </a:rPr>
                <a:t>It is replaced</a:t>
              </a:r>
            </a:p>
          </p:txBody>
        </p:sp>
        <p:sp>
          <p:nvSpPr>
            <p:cNvPr id="34" name="Rectangle 33"/>
            <p:cNvSpPr/>
            <p:nvPr/>
          </p:nvSpPr>
          <p:spPr>
            <a:xfrm>
              <a:off x="8897112" y="3017520"/>
              <a:ext cx="182880" cy="640080"/>
            </a:xfrm>
            <a:prstGeom prst="rect">
              <a:avLst/>
            </a:prstGeom>
            <a:solidFill>
              <a:srgbClr val="9AA0A6"/>
            </a:solidFill>
            <a:ln>
              <a:noFill/>
            </a:ln>
          </p:spPr>
          <p:txBody>
            <a:bodyPr rtlCol="0" anchor="ctr"/>
            <a:lstStyle/>
            <a:p>
              <a:pPr algn="ctr"/>
              <a:endParaRPr/>
            </a:p>
          </p:txBody>
        </p:sp>
        <p:sp>
          <p:nvSpPr>
            <p:cNvPr id="35" name="Rectangle 34"/>
            <p:cNvSpPr/>
            <p:nvPr/>
          </p:nvSpPr>
          <p:spPr>
            <a:xfrm>
              <a:off x="9857232" y="3017520"/>
              <a:ext cx="182880" cy="640080"/>
            </a:xfrm>
            <a:prstGeom prst="rect">
              <a:avLst/>
            </a:prstGeom>
            <a:solidFill>
              <a:srgbClr val="9AA0A6"/>
            </a:solidFill>
            <a:ln>
              <a:noFill/>
            </a:ln>
          </p:spPr>
          <p:txBody>
            <a:bodyPr rtlCol="0" anchor="ctr"/>
            <a:lstStyle/>
            <a:p>
              <a:pPr algn="ctr"/>
              <a:endParaRPr/>
            </a:p>
          </p:txBody>
        </p:sp>
        <p:sp>
          <p:nvSpPr>
            <p:cNvPr id="36" name="Rectangle 35"/>
            <p:cNvSpPr/>
            <p:nvPr/>
          </p:nvSpPr>
          <p:spPr>
            <a:xfrm>
              <a:off x="10817352" y="3017520"/>
              <a:ext cx="182880" cy="640080"/>
            </a:xfrm>
            <a:prstGeom prst="rect">
              <a:avLst/>
            </a:prstGeom>
            <a:solidFill>
              <a:srgbClr val="9AA0A6"/>
            </a:solidFill>
            <a:ln>
              <a:noFill/>
            </a:ln>
          </p:spPr>
          <p:txBody>
            <a:bodyPr rtlCol="0" anchor="ctr"/>
            <a:lstStyle/>
            <a:p>
              <a:pPr algn="ctr"/>
              <a:endParaRPr/>
            </a:p>
          </p:txBody>
        </p:sp>
        <p:sp>
          <p:nvSpPr>
            <p:cNvPr id="37" name="Rounded Rectangle 36"/>
            <p:cNvSpPr/>
            <p:nvPr/>
          </p:nvSpPr>
          <p:spPr>
            <a:xfrm>
              <a:off x="8577072" y="2697480"/>
              <a:ext cx="2743200" cy="384048"/>
            </a:xfrm>
            <a:prstGeom prst="roundRect">
              <a:avLst>
                <a:gd name="adj" fmla="val 23809"/>
              </a:avLst>
            </a:prstGeom>
            <a:solidFill>
              <a:srgbClr val="6CA0DC"/>
            </a:solidFill>
            <a:ln>
              <a:noFill/>
            </a:ln>
          </p:spPr>
          <p:txBody>
            <a:bodyPr rtlCol="0" anchor="ctr"/>
            <a:lstStyle/>
            <a:p>
              <a:pPr algn="ctr"/>
              <a:endParaRPr/>
            </a:p>
          </p:txBody>
        </p:sp>
        <p:sp>
          <p:nvSpPr>
            <p:cNvPr id="38" name="Rectangle 37"/>
            <p:cNvSpPr/>
            <p:nvPr/>
          </p:nvSpPr>
          <p:spPr>
            <a:xfrm>
              <a:off x="8531352" y="3639312"/>
              <a:ext cx="2834640" cy="64008"/>
            </a:xfrm>
            <a:prstGeom prst="rect">
              <a:avLst/>
            </a:prstGeom>
            <a:solidFill>
              <a:srgbClr val="5B6068"/>
            </a:solidFill>
            <a:ln>
              <a:noFill/>
            </a:ln>
          </p:spPr>
          <p:txBody>
            <a:bodyPr rtlCol="0" anchor="ctr"/>
            <a:lstStyle/>
            <a:p>
              <a:pPr algn="ctr"/>
              <a:endParaRPr/>
            </a:p>
          </p:txBody>
        </p:sp>
      </p:grpSp>
      <p:sp>
        <p:nvSpPr>
          <p:cNvPr id="3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4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41"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Point the upgrade at your old track. It swaps in place, like upgrading a belt.</a:t>
            </a:r>
          </a:p>
        </p:txBody>
      </p:sp>
      <p:sp>
        <p:nvSpPr>
          <p:cNvPr id="42"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6</a:t>
            </a:r>
          </a:p>
        </p:txBody>
      </p:sp>
    </p:spTree>
    <p:extLst>
      <p:ext uri="{BB962C8B-B14F-4D97-AF65-F5344CB8AC3E}">
        <p14:creationId xmlns:p14="http://schemas.microsoft.com/office/powerpoint/2010/main" val="2499633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25"/>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4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675"/>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nodeType="withEffect">
                                  <p:stCondLst>
                                    <p:cond delay="9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nodeType="withEffect">
                                  <p:stCondLst>
                                    <p:cond delay="1125"/>
                                  </p:stCondLst>
                                  <p:childTnLst>
                                    <p:set>
                                      <p:cBhvr>
                                        <p:cTn id="21" dur="1" fill="hold">
                                          <p:stCondLst>
                                            <p:cond delay="0"/>
                                          </p:stCondLst>
                                        </p:cTn>
                                        <p:tgtEl>
                                          <p:spTgt spid="39"/>
                                        </p:tgtEl>
                                        <p:attrNameLst>
                                          <p:attrName>style.visibility</p:attrName>
                                        </p:attrNameLst>
                                      </p:cBhvr>
                                      <p:to>
                                        <p:strVal val="visible"/>
                                      </p:to>
                                    </p:set>
                                    <p:animEffect transition="in" filter="fade">
                                      <p:cBhvr>
                                        <p:cTn id="22" dur="500"/>
                                        <p:tgtEl>
                                          <p:spTgt spid="39"/>
                                        </p:tgtEl>
                                      </p:cBhvr>
                                    </p:animEffect>
                                  </p:childTnLst>
                                </p:cTn>
                              </p:par>
                              <p:par>
                                <p:cTn id="23" presetID="10" presetClass="entr" presetSubtype="0" fill="hold" nodeType="withEffect">
                                  <p:stCondLst>
                                    <p:cond delay="135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par>
                                <p:cTn id="26" presetID="10" presetClass="entr" presetSubtype="0" fill="hold" nodeType="withEffect">
                                  <p:stCondLst>
                                    <p:cond delay="1575"/>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Your route stays</a:t>
            </a:r>
          </a:p>
        </p:txBody>
      </p:sp>
      <p:sp>
        <p:nvSpPr>
          <p:cNvPr id="3" name="CHIP"/>
          <p:cNvSpPr/>
          <p:nvPr/>
        </p:nvSpPr>
        <p:spPr>
          <a:xfrm>
            <a:off x="10088575" y="548640"/>
            <a:ext cx="1554480" cy="365760"/>
          </a:xfrm>
          <a:prstGeom prst="roundRect">
            <a:avLst>
              <a:gd name="adj" fmla="val 50000"/>
            </a:avLst>
          </a:prstGeom>
          <a:solidFill>
            <a:srgbClr val="3FB950"/>
          </a:solidFill>
          <a:ln>
            <a:noFill/>
          </a:ln>
        </p:spPr>
        <p:txBody>
          <a:bodyPr wrap="square" lIns="36576" tIns="0" rIns="36576" bIns="0" rtlCol="0" anchor="ctr">
            <a:noAutofit/>
          </a:bodyPr>
          <a:lstStyle/>
          <a:p>
            <a:pPr algn="ctr"/>
            <a:r>
              <a:rPr lang="en-GB" sz="1400" b="1" i="0">
                <a:solidFill>
                  <a:srgbClr val="101418"/>
                </a:solidFill>
                <a:latin typeface="Arial"/>
              </a:rPr>
              <a:t>AGREED</a:t>
            </a:r>
          </a:p>
        </p:txBody>
      </p:sp>
      <p:grpSp>
        <p:nvGrpSpPr>
          <p:cNvPr id="4" name="DIAGRAM steam route" descr="A curved route between two stations drawn as orange steam track on sleepers."/>
          <p:cNvGrpSpPr/>
          <p:nvPr/>
        </p:nvGrpSpPr>
        <p:grpSpPr>
          <a:xfrm>
            <a:off x="1335024" y="1280160"/>
            <a:ext cx="9491472" cy="1407163"/>
            <a:chOff x="1335024" y="1280160"/>
            <a:chExt cx="9491472" cy="1407163"/>
          </a:xfrm>
        </p:grpSpPr>
        <p:cxnSp>
          <p:nvCxnSpPr>
            <p:cNvPr id="5" name="Connector 4"/>
            <p:cNvCxnSpPr/>
            <p:nvPr/>
          </p:nvCxnSpPr>
          <p:spPr>
            <a:xfrm flipH="1">
              <a:off x="1516842" y="2024949"/>
              <a:ext cx="75275" cy="339221"/>
            </a:xfrm>
            <a:prstGeom prst="line">
              <a:avLst/>
            </a:prstGeom>
            <a:ln w="44450">
              <a:solidFill>
                <a:srgbClr val="6B5B4B"/>
              </a:solidFill>
            </a:ln>
          </p:spPr>
        </p:cxnSp>
        <p:cxnSp>
          <p:nvCxnSpPr>
            <p:cNvPr id="6" name="Connector 5"/>
            <p:cNvCxnSpPr/>
            <p:nvPr/>
          </p:nvCxnSpPr>
          <p:spPr>
            <a:xfrm flipH="1">
              <a:off x="1857306" y="2099444"/>
              <a:ext cx="73289" cy="339655"/>
            </a:xfrm>
            <a:prstGeom prst="line">
              <a:avLst/>
            </a:prstGeom>
            <a:ln w="44450">
              <a:solidFill>
                <a:srgbClr val="6B5B4B"/>
              </a:solidFill>
            </a:ln>
          </p:spPr>
        </p:cxnSp>
        <p:cxnSp>
          <p:nvCxnSpPr>
            <p:cNvPr id="7" name="Connector 6"/>
            <p:cNvCxnSpPr/>
            <p:nvPr/>
          </p:nvCxnSpPr>
          <p:spPr>
            <a:xfrm flipH="1">
              <a:off x="2199723" y="2169418"/>
              <a:ext cx="67397" cy="340873"/>
            </a:xfrm>
            <a:prstGeom prst="line">
              <a:avLst/>
            </a:prstGeom>
            <a:ln w="44450">
              <a:solidFill>
                <a:srgbClr val="6B5B4B"/>
              </a:solidFill>
            </a:ln>
          </p:spPr>
        </p:cxnSp>
        <p:cxnSp>
          <p:nvCxnSpPr>
            <p:cNvPr id="8" name="Connector 7"/>
            <p:cNvCxnSpPr/>
            <p:nvPr/>
          </p:nvCxnSpPr>
          <p:spPr>
            <a:xfrm flipH="1">
              <a:off x="2543985" y="2231095"/>
              <a:ext cx="57815" cy="342628"/>
            </a:xfrm>
            <a:prstGeom prst="line">
              <a:avLst/>
            </a:prstGeom>
            <a:ln w="44450">
              <a:solidFill>
                <a:srgbClr val="6B5B4B"/>
              </a:solidFill>
            </a:ln>
          </p:spPr>
        </p:cxnSp>
        <p:cxnSp>
          <p:nvCxnSpPr>
            <p:cNvPr id="9" name="Connector 8"/>
            <p:cNvCxnSpPr/>
            <p:nvPr/>
          </p:nvCxnSpPr>
          <p:spPr>
            <a:xfrm flipH="1">
              <a:off x="2889893" y="2281201"/>
              <a:ext cx="44941" cy="344553"/>
            </a:xfrm>
            <a:prstGeom prst="line">
              <a:avLst/>
            </a:prstGeom>
            <a:ln w="44450">
              <a:solidFill>
                <a:srgbClr val="6B5B4B"/>
              </a:solidFill>
            </a:ln>
          </p:spPr>
        </p:cxnSp>
        <p:cxnSp>
          <p:nvCxnSpPr>
            <p:cNvPr id="10" name="Connector 9"/>
            <p:cNvCxnSpPr/>
            <p:nvPr/>
          </p:nvCxnSpPr>
          <p:spPr>
            <a:xfrm flipH="1">
              <a:off x="3237134" y="2317125"/>
              <a:ext cx="29401" cy="346226"/>
            </a:xfrm>
            <a:prstGeom prst="line">
              <a:avLst/>
            </a:prstGeom>
            <a:ln w="44450">
              <a:solidFill>
                <a:srgbClr val="6B5B4B"/>
              </a:solidFill>
            </a:ln>
          </p:spPr>
        </p:cxnSp>
        <p:cxnSp>
          <p:nvCxnSpPr>
            <p:cNvPr id="11" name="Connector 10"/>
            <p:cNvCxnSpPr/>
            <p:nvPr/>
          </p:nvCxnSpPr>
          <p:spPr>
            <a:xfrm flipH="1">
              <a:off x="3585278" y="2337028"/>
              <a:ext cx="12055" cy="347263"/>
            </a:xfrm>
            <a:prstGeom prst="line">
              <a:avLst/>
            </a:prstGeom>
            <a:ln w="44450">
              <a:solidFill>
                <a:srgbClr val="6B5B4B"/>
              </a:solidFill>
            </a:ln>
          </p:spPr>
        </p:cxnSp>
        <p:cxnSp>
          <p:nvCxnSpPr>
            <p:cNvPr id="12" name="Connector 11"/>
            <p:cNvCxnSpPr/>
            <p:nvPr/>
          </p:nvCxnSpPr>
          <p:spPr>
            <a:xfrm>
              <a:off x="3927752" y="2339903"/>
              <a:ext cx="6049" cy="347420"/>
            </a:xfrm>
            <a:prstGeom prst="line">
              <a:avLst/>
            </a:prstGeom>
            <a:ln w="44450">
              <a:solidFill>
                <a:srgbClr val="6B5B4B"/>
              </a:solidFill>
            </a:ln>
          </p:spPr>
        </p:cxnSp>
        <p:cxnSp>
          <p:nvCxnSpPr>
            <p:cNvPr id="13" name="Connector 12"/>
            <p:cNvCxnSpPr/>
            <p:nvPr/>
          </p:nvCxnSpPr>
          <p:spPr>
            <a:xfrm>
              <a:off x="4258362" y="2325607"/>
              <a:ext cx="23771" cy="346658"/>
            </a:xfrm>
            <a:prstGeom prst="line">
              <a:avLst/>
            </a:prstGeom>
            <a:ln w="44450">
              <a:solidFill>
                <a:srgbClr val="6B5B4B"/>
              </a:solidFill>
            </a:ln>
          </p:spPr>
        </p:cxnSp>
        <p:cxnSp>
          <p:nvCxnSpPr>
            <p:cNvPr id="14" name="Connector 13"/>
            <p:cNvCxnSpPr/>
            <p:nvPr/>
          </p:nvCxnSpPr>
          <p:spPr>
            <a:xfrm>
              <a:off x="4589709" y="2294859"/>
              <a:ext cx="40019" cy="345159"/>
            </a:xfrm>
            <a:prstGeom prst="line">
              <a:avLst/>
            </a:prstGeom>
            <a:ln w="44450">
              <a:solidFill>
                <a:srgbClr val="6B5B4B"/>
              </a:solidFill>
            </a:ln>
          </p:spPr>
        </p:cxnSp>
        <p:cxnSp>
          <p:nvCxnSpPr>
            <p:cNvPr id="15" name="Connector 14"/>
            <p:cNvCxnSpPr/>
            <p:nvPr/>
          </p:nvCxnSpPr>
          <p:spPr>
            <a:xfrm>
              <a:off x="4922258" y="2249226"/>
              <a:ext cx="53863" cy="343272"/>
            </a:xfrm>
            <a:prstGeom prst="line">
              <a:avLst/>
            </a:prstGeom>
            <a:ln w="44450">
              <a:solidFill>
                <a:srgbClr val="6B5B4B"/>
              </a:solidFill>
            </a:ln>
          </p:spPr>
        </p:cxnSp>
        <p:cxnSp>
          <p:nvCxnSpPr>
            <p:cNvPr id="16" name="Connector 15"/>
            <p:cNvCxnSpPr/>
            <p:nvPr/>
          </p:nvCxnSpPr>
          <p:spPr>
            <a:xfrm>
              <a:off x="5256362" y="2191073"/>
              <a:ext cx="64597" cy="341414"/>
            </a:xfrm>
            <a:prstGeom prst="line">
              <a:avLst/>
            </a:prstGeom>
            <a:ln w="44450">
              <a:solidFill>
                <a:srgbClr val="6B5B4B"/>
              </a:solidFill>
            </a:ln>
          </p:spPr>
        </p:cxnSp>
        <p:cxnSp>
          <p:nvCxnSpPr>
            <p:cNvPr id="17" name="Connector 16"/>
            <p:cNvCxnSpPr/>
            <p:nvPr/>
          </p:nvCxnSpPr>
          <p:spPr>
            <a:xfrm>
              <a:off x="5592256" y="2123466"/>
              <a:ext cx="71751" cy="339983"/>
            </a:xfrm>
            <a:prstGeom prst="line">
              <a:avLst/>
            </a:prstGeom>
            <a:ln w="44450">
              <a:solidFill>
                <a:srgbClr val="6B5B4B"/>
              </a:solidFill>
            </a:ln>
          </p:spPr>
        </p:cxnSp>
        <p:cxnSp>
          <p:nvCxnSpPr>
            <p:cNvPr id="18" name="Connector 17"/>
            <p:cNvCxnSpPr/>
            <p:nvPr/>
          </p:nvCxnSpPr>
          <p:spPr>
            <a:xfrm>
              <a:off x="5930076" y="2050035"/>
              <a:ext cx="75053" cy="339269"/>
            </a:xfrm>
            <a:prstGeom prst="line">
              <a:avLst/>
            </a:prstGeom>
            <a:ln w="44450">
              <a:solidFill>
                <a:srgbClr val="6B5B4B"/>
              </a:solidFill>
            </a:ln>
          </p:spPr>
        </p:cxnSp>
        <p:cxnSp>
          <p:nvCxnSpPr>
            <p:cNvPr id="19" name="Connector 18"/>
            <p:cNvCxnSpPr/>
            <p:nvPr/>
          </p:nvCxnSpPr>
          <p:spPr>
            <a:xfrm>
              <a:off x="6269878" y="1974786"/>
              <a:ext cx="74391" cy="339416"/>
            </a:xfrm>
            <a:prstGeom prst="line">
              <a:avLst/>
            </a:prstGeom>
            <a:ln w="44450">
              <a:solidFill>
                <a:srgbClr val="6B5B4B"/>
              </a:solidFill>
            </a:ln>
          </p:spPr>
        </p:cxnSp>
        <p:cxnSp>
          <p:nvCxnSpPr>
            <p:cNvPr id="20" name="Connector 19"/>
            <p:cNvCxnSpPr/>
            <p:nvPr/>
          </p:nvCxnSpPr>
          <p:spPr>
            <a:xfrm>
              <a:off x="6611652" y="1901889"/>
              <a:ext cx="69785" cy="340393"/>
            </a:xfrm>
            <a:prstGeom prst="line">
              <a:avLst/>
            </a:prstGeom>
            <a:ln w="44450">
              <a:solidFill>
                <a:srgbClr val="6B5B4B"/>
              </a:solidFill>
            </a:ln>
          </p:spPr>
        </p:cxnSp>
        <p:cxnSp>
          <p:nvCxnSpPr>
            <p:cNvPr id="21" name="Connector 20"/>
            <p:cNvCxnSpPr/>
            <p:nvPr/>
          </p:nvCxnSpPr>
          <p:spPr>
            <a:xfrm>
              <a:off x="6955316" y="1835442"/>
              <a:ext cx="61399" cy="342005"/>
            </a:xfrm>
            <a:prstGeom prst="line">
              <a:avLst/>
            </a:prstGeom>
            <a:ln w="44450">
              <a:solidFill>
                <a:srgbClr val="6B5B4B"/>
              </a:solidFill>
            </a:ln>
          </p:spPr>
        </p:cxnSp>
        <p:cxnSp>
          <p:nvCxnSpPr>
            <p:cNvPr id="22" name="Connector 21"/>
            <p:cNvCxnSpPr/>
            <p:nvPr/>
          </p:nvCxnSpPr>
          <p:spPr>
            <a:xfrm>
              <a:off x="7300704" y="1779240"/>
              <a:ext cx="49565" cy="343919"/>
            </a:xfrm>
            <a:prstGeom prst="line">
              <a:avLst/>
            </a:prstGeom>
            <a:ln w="44450">
              <a:solidFill>
                <a:srgbClr val="6B5B4B"/>
              </a:solidFill>
            </a:ln>
          </p:spPr>
        </p:cxnSp>
        <p:cxnSp>
          <p:nvCxnSpPr>
            <p:cNvPr id="23" name="Connector 22"/>
            <p:cNvCxnSpPr/>
            <p:nvPr/>
          </p:nvCxnSpPr>
          <p:spPr>
            <a:xfrm>
              <a:off x="7647543" y="1736541"/>
              <a:ext cx="34829" cy="345722"/>
            </a:xfrm>
            <a:prstGeom prst="line">
              <a:avLst/>
            </a:prstGeom>
            <a:ln w="44450">
              <a:solidFill>
                <a:srgbClr val="6B5B4B"/>
              </a:solidFill>
            </a:ln>
          </p:spPr>
        </p:cxnSp>
        <p:cxnSp>
          <p:nvCxnSpPr>
            <p:cNvPr id="24" name="Connector 23"/>
            <p:cNvCxnSpPr/>
            <p:nvPr/>
          </p:nvCxnSpPr>
          <p:spPr>
            <a:xfrm>
              <a:off x="7995441" y="1709859"/>
              <a:ext cx="17975" cy="347007"/>
            </a:xfrm>
            <a:prstGeom prst="line">
              <a:avLst/>
            </a:prstGeom>
            <a:ln w="44450">
              <a:solidFill>
                <a:srgbClr val="6B5B4B"/>
              </a:solidFill>
            </a:ln>
          </p:spPr>
        </p:cxnSp>
        <p:cxnSp>
          <p:nvCxnSpPr>
            <p:cNvPr id="25" name="Connector 24"/>
            <p:cNvCxnSpPr/>
            <p:nvPr/>
          </p:nvCxnSpPr>
          <p:spPr>
            <a:xfrm>
              <a:off x="8343900" y="1700784"/>
              <a:ext cx="0" cy="347471"/>
            </a:xfrm>
            <a:prstGeom prst="line">
              <a:avLst/>
            </a:prstGeom>
            <a:ln w="44450">
              <a:solidFill>
                <a:srgbClr val="6B5B4B"/>
              </a:solidFill>
            </a:ln>
          </p:spPr>
        </p:cxnSp>
        <p:cxnSp>
          <p:nvCxnSpPr>
            <p:cNvPr id="26" name="Connector 25"/>
            <p:cNvCxnSpPr/>
            <p:nvPr/>
          </p:nvCxnSpPr>
          <p:spPr>
            <a:xfrm flipH="1">
              <a:off x="8674383" y="1709859"/>
              <a:ext cx="17975" cy="347007"/>
            </a:xfrm>
            <a:prstGeom prst="line">
              <a:avLst/>
            </a:prstGeom>
            <a:ln w="44450">
              <a:solidFill>
                <a:srgbClr val="6B5B4B"/>
              </a:solidFill>
            </a:ln>
          </p:spPr>
        </p:cxnSp>
        <p:cxnSp>
          <p:nvCxnSpPr>
            <p:cNvPr id="27" name="Connector 26"/>
            <p:cNvCxnSpPr/>
            <p:nvPr/>
          </p:nvCxnSpPr>
          <p:spPr>
            <a:xfrm flipH="1">
              <a:off x="9005427" y="1736541"/>
              <a:ext cx="34829" cy="345722"/>
            </a:xfrm>
            <a:prstGeom prst="line">
              <a:avLst/>
            </a:prstGeom>
            <a:ln w="44450">
              <a:solidFill>
                <a:srgbClr val="6B5B4B"/>
              </a:solidFill>
            </a:ln>
          </p:spPr>
        </p:cxnSp>
        <p:cxnSp>
          <p:nvCxnSpPr>
            <p:cNvPr id="28" name="Connector 27"/>
            <p:cNvCxnSpPr/>
            <p:nvPr/>
          </p:nvCxnSpPr>
          <p:spPr>
            <a:xfrm flipH="1">
              <a:off x="9337530" y="1779240"/>
              <a:ext cx="49565" cy="343919"/>
            </a:xfrm>
            <a:prstGeom prst="line">
              <a:avLst/>
            </a:prstGeom>
            <a:ln w="44450">
              <a:solidFill>
                <a:srgbClr val="6B5B4B"/>
              </a:solidFill>
            </a:ln>
          </p:spPr>
        </p:cxnSp>
        <p:cxnSp>
          <p:nvCxnSpPr>
            <p:cNvPr id="29" name="Connector 28"/>
            <p:cNvCxnSpPr/>
            <p:nvPr/>
          </p:nvCxnSpPr>
          <p:spPr>
            <a:xfrm flipH="1">
              <a:off x="9671084" y="1835442"/>
              <a:ext cx="61399" cy="342005"/>
            </a:xfrm>
            <a:prstGeom prst="line">
              <a:avLst/>
            </a:prstGeom>
            <a:ln w="44450">
              <a:solidFill>
                <a:srgbClr val="6B5B4B"/>
              </a:solidFill>
            </a:ln>
          </p:spPr>
        </p:cxnSp>
        <p:cxnSp>
          <p:nvCxnSpPr>
            <p:cNvPr id="30" name="Connector 29"/>
            <p:cNvCxnSpPr/>
            <p:nvPr/>
          </p:nvCxnSpPr>
          <p:spPr>
            <a:xfrm flipH="1">
              <a:off x="10006362" y="1901889"/>
              <a:ext cx="69785" cy="340393"/>
            </a:xfrm>
            <a:prstGeom prst="line">
              <a:avLst/>
            </a:prstGeom>
            <a:ln w="44450">
              <a:solidFill>
                <a:srgbClr val="6B5B4B"/>
              </a:solidFill>
            </a:ln>
          </p:spPr>
        </p:cxnSp>
        <p:cxnSp>
          <p:nvCxnSpPr>
            <p:cNvPr id="31" name="Connector 30"/>
            <p:cNvCxnSpPr/>
            <p:nvPr/>
          </p:nvCxnSpPr>
          <p:spPr>
            <a:xfrm flipH="1">
              <a:off x="10343530" y="1974786"/>
              <a:ext cx="74391" cy="339416"/>
            </a:xfrm>
            <a:prstGeom prst="line">
              <a:avLst/>
            </a:prstGeom>
            <a:ln w="44450">
              <a:solidFill>
                <a:srgbClr val="6B5B4B"/>
              </a:solidFill>
            </a:ln>
          </p:spPr>
        </p:cxnSp>
        <p:sp>
          <p:nvSpPr>
            <p:cNvPr id="32" name="Freeform 31"/>
            <p:cNvSpPr/>
            <p:nvPr/>
          </p:nvSpPr>
          <p:spPr>
            <a:xfrm>
              <a:off x="1572308" y="1792223"/>
              <a:ext cx="9052560" cy="640081"/>
            </a:xfrm>
            <a:custGeom>
              <a:avLst/>
              <a:gdLst/>
              <a:ahLst/>
              <a:cxnLst/>
              <a:rect l="l" t="t" r="r" b="b"/>
              <a:pathLst>
                <a:path w="9052560" h="640081">
                  <a:moveTo>
                    <a:pt x="0" y="321995"/>
                  </a:moveTo>
                  <a:lnTo>
                    <a:pt x="113104" y="347093"/>
                  </a:lnTo>
                  <a:lnTo>
                    <a:pt x="226104" y="372014"/>
                  </a:lnTo>
                  <a:lnTo>
                    <a:pt x="339000" y="396604"/>
                  </a:lnTo>
                  <a:lnTo>
                    <a:pt x="451793" y="420712"/>
                  </a:lnTo>
                  <a:lnTo>
                    <a:pt x="564484" y="444191"/>
                  </a:lnTo>
                  <a:lnTo>
                    <a:pt x="677076" y="466899"/>
                  </a:lnTo>
                  <a:lnTo>
                    <a:pt x="789570" y="488696"/>
                  </a:lnTo>
                  <a:lnTo>
                    <a:pt x="901969" y="509450"/>
                  </a:lnTo>
                  <a:lnTo>
                    <a:pt x="1014277" y="529037"/>
                  </a:lnTo>
                  <a:lnTo>
                    <a:pt x="1126498" y="547338"/>
                  </a:lnTo>
                  <a:lnTo>
                    <a:pt x="1238637" y="564242"/>
                  </a:lnTo>
                  <a:lnTo>
                    <a:pt x="1350699" y="579650"/>
                  </a:lnTo>
                  <a:lnTo>
                    <a:pt x="1462691" y="593467"/>
                  </a:lnTo>
                  <a:lnTo>
                    <a:pt x="1574618" y="605613"/>
                  </a:lnTo>
                  <a:lnTo>
                    <a:pt x="1686490" y="616014"/>
                  </a:lnTo>
                  <a:lnTo>
                    <a:pt x="1798314" y="624609"/>
                  </a:lnTo>
                  <a:lnTo>
                    <a:pt x="1910098" y="631348"/>
                  </a:lnTo>
                  <a:lnTo>
                    <a:pt x="2021853" y="636190"/>
                  </a:lnTo>
                  <a:lnTo>
                    <a:pt x="2133587" y="639106"/>
                  </a:lnTo>
                  <a:lnTo>
                    <a:pt x="2245312" y="640081"/>
                  </a:lnTo>
                  <a:lnTo>
                    <a:pt x="2357036" y="639106"/>
                  </a:lnTo>
                  <a:lnTo>
                    <a:pt x="2468770" y="636190"/>
                  </a:lnTo>
                  <a:lnTo>
                    <a:pt x="2580525" y="631348"/>
                  </a:lnTo>
                  <a:lnTo>
                    <a:pt x="2692309" y="624609"/>
                  </a:lnTo>
                  <a:lnTo>
                    <a:pt x="2804133" y="616014"/>
                  </a:lnTo>
                  <a:lnTo>
                    <a:pt x="2916005" y="605613"/>
                  </a:lnTo>
                  <a:lnTo>
                    <a:pt x="3027932" y="593467"/>
                  </a:lnTo>
                  <a:lnTo>
                    <a:pt x="3139924" y="579650"/>
                  </a:lnTo>
                  <a:lnTo>
                    <a:pt x="3251986" y="564242"/>
                  </a:lnTo>
                  <a:lnTo>
                    <a:pt x="3364125" y="547338"/>
                  </a:lnTo>
                  <a:lnTo>
                    <a:pt x="3476346" y="529037"/>
                  </a:lnTo>
                  <a:lnTo>
                    <a:pt x="3588654" y="509450"/>
                  </a:lnTo>
                  <a:lnTo>
                    <a:pt x="3701053" y="488696"/>
                  </a:lnTo>
                  <a:lnTo>
                    <a:pt x="3813547" y="466899"/>
                  </a:lnTo>
                  <a:lnTo>
                    <a:pt x="3926139" y="444191"/>
                  </a:lnTo>
                  <a:lnTo>
                    <a:pt x="4038830" y="420712"/>
                  </a:lnTo>
                  <a:lnTo>
                    <a:pt x="4151623" y="396604"/>
                  </a:lnTo>
                  <a:lnTo>
                    <a:pt x="4264519" y="372014"/>
                  </a:lnTo>
                  <a:lnTo>
                    <a:pt x="4377519" y="347093"/>
                  </a:lnTo>
                  <a:lnTo>
                    <a:pt x="4490623" y="321995"/>
                  </a:lnTo>
                  <a:lnTo>
                    <a:pt x="4603833" y="296873"/>
                  </a:lnTo>
                  <a:lnTo>
                    <a:pt x="4717147" y="271883"/>
                  </a:lnTo>
                  <a:lnTo>
                    <a:pt x="4830565" y="247180"/>
                  </a:lnTo>
                  <a:lnTo>
                    <a:pt x="4944086" y="222916"/>
                  </a:lnTo>
                  <a:lnTo>
                    <a:pt x="5057709" y="199243"/>
                  </a:lnTo>
                  <a:lnTo>
                    <a:pt x="5171431" y="176308"/>
                  </a:lnTo>
                  <a:lnTo>
                    <a:pt x="5285251" y="154255"/>
                  </a:lnTo>
                  <a:lnTo>
                    <a:pt x="5399166" y="133221"/>
                  </a:lnTo>
                  <a:lnTo>
                    <a:pt x="5513172" y="113338"/>
                  </a:lnTo>
                  <a:lnTo>
                    <a:pt x="5627265" y="94733"/>
                  </a:lnTo>
                  <a:lnTo>
                    <a:pt x="5741440" y="77522"/>
                  </a:lnTo>
                  <a:lnTo>
                    <a:pt x="5855692" y="61814"/>
                  </a:lnTo>
                  <a:lnTo>
                    <a:pt x="5970014" y="47709"/>
                  </a:lnTo>
                  <a:lnTo>
                    <a:pt x="6084401" y="35297"/>
                  </a:lnTo>
                  <a:lnTo>
                    <a:pt x="6198843" y="24657"/>
                  </a:lnTo>
                  <a:lnTo>
                    <a:pt x="6313333" y="15857"/>
                  </a:lnTo>
                  <a:lnTo>
                    <a:pt x="6427863" y="8953"/>
                  </a:lnTo>
                  <a:lnTo>
                    <a:pt x="6542422" y="3990"/>
                  </a:lnTo>
                  <a:lnTo>
                    <a:pt x="6657002" y="1000"/>
                  </a:lnTo>
                  <a:lnTo>
                    <a:pt x="6771592" y="0"/>
                  </a:lnTo>
                  <a:lnTo>
                    <a:pt x="6886181" y="1000"/>
                  </a:lnTo>
                  <a:lnTo>
                    <a:pt x="7000761" y="3990"/>
                  </a:lnTo>
                  <a:lnTo>
                    <a:pt x="7115320" y="8953"/>
                  </a:lnTo>
                  <a:lnTo>
                    <a:pt x="7229850" y="15857"/>
                  </a:lnTo>
                  <a:lnTo>
                    <a:pt x="7344340" y="24657"/>
                  </a:lnTo>
                  <a:lnTo>
                    <a:pt x="7458782" y="35297"/>
                  </a:lnTo>
                  <a:lnTo>
                    <a:pt x="7573169" y="47709"/>
                  </a:lnTo>
                  <a:lnTo>
                    <a:pt x="7687491" y="61814"/>
                  </a:lnTo>
                  <a:lnTo>
                    <a:pt x="7801743" y="77522"/>
                  </a:lnTo>
                  <a:lnTo>
                    <a:pt x="7915918" y="94733"/>
                  </a:lnTo>
                  <a:lnTo>
                    <a:pt x="8030011" y="113338"/>
                  </a:lnTo>
                  <a:lnTo>
                    <a:pt x="8144017" y="133221"/>
                  </a:lnTo>
                  <a:lnTo>
                    <a:pt x="8257932" y="154255"/>
                  </a:lnTo>
                  <a:lnTo>
                    <a:pt x="8371752" y="176308"/>
                  </a:lnTo>
                  <a:lnTo>
                    <a:pt x="8485474" y="199243"/>
                  </a:lnTo>
                  <a:lnTo>
                    <a:pt x="8599097" y="222916"/>
                  </a:lnTo>
                  <a:lnTo>
                    <a:pt x="8712618" y="247180"/>
                  </a:lnTo>
                  <a:lnTo>
                    <a:pt x="8826036" y="271883"/>
                  </a:lnTo>
                  <a:lnTo>
                    <a:pt x="8939350" y="296873"/>
                  </a:lnTo>
                  <a:lnTo>
                    <a:pt x="9052560" y="321995"/>
                  </a:lnTo>
                </a:path>
              </a:pathLst>
            </a:custGeom>
            <a:noFill/>
            <a:ln w="38100">
              <a:solidFill>
                <a:srgbClr val="F28C28"/>
              </a:solidFill>
            </a:ln>
          </p:spPr>
          <p:txBody>
            <a:bodyPr rtlCol="0" anchor="ctr"/>
            <a:lstStyle/>
            <a:p>
              <a:pPr algn="ctr"/>
              <a:endParaRPr/>
            </a:p>
          </p:txBody>
        </p:sp>
        <p:sp>
          <p:nvSpPr>
            <p:cNvPr id="33" name="Freeform 32"/>
            <p:cNvSpPr/>
            <p:nvPr/>
          </p:nvSpPr>
          <p:spPr>
            <a:xfrm>
              <a:off x="1536651" y="1956815"/>
              <a:ext cx="9052560" cy="640081"/>
            </a:xfrm>
            <a:custGeom>
              <a:avLst/>
              <a:gdLst/>
              <a:ahLst/>
              <a:cxnLst/>
              <a:rect l="l" t="t" r="r" b="b"/>
              <a:pathLst>
                <a:path w="9052560" h="640081">
                  <a:moveTo>
                    <a:pt x="0" y="318086"/>
                  </a:moveTo>
                  <a:lnTo>
                    <a:pt x="113210" y="343208"/>
                  </a:lnTo>
                  <a:lnTo>
                    <a:pt x="226524" y="368198"/>
                  </a:lnTo>
                  <a:lnTo>
                    <a:pt x="339942" y="392901"/>
                  </a:lnTo>
                  <a:lnTo>
                    <a:pt x="453463" y="417165"/>
                  </a:lnTo>
                  <a:lnTo>
                    <a:pt x="567086" y="440838"/>
                  </a:lnTo>
                  <a:lnTo>
                    <a:pt x="680808" y="463773"/>
                  </a:lnTo>
                  <a:lnTo>
                    <a:pt x="794628" y="485826"/>
                  </a:lnTo>
                  <a:lnTo>
                    <a:pt x="908543" y="506860"/>
                  </a:lnTo>
                  <a:lnTo>
                    <a:pt x="1022549" y="526743"/>
                  </a:lnTo>
                  <a:lnTo>
                    <a:pt x="1136642" y="545348"/>
                  </a:lnTo>
                  <a:lnTo>
                    <a:pt x="1250817" y="562559"/>
                  </a:lnTo>
                  <a:lnTo>
                    <a:pt x="1365069" y="578267"/>
                  </a:lnTo>
                  <a:lnTo>
                    <a:pt x="1479391" y="592372"/>
                  </a:lnTo>
                  <a:lnTo>
                    <a:pt x="1593778" y="604784"/>
                  </a:lnTo>
                  <a:lnTo>
                    <a:pt x="1708220" y="615424"/>
                  </a:lnTo>
                  <a:lnTo>
                    <a:pt x="1822710" y="624224"/>
                  </a:lnTo>
                  <a:lnTo>
                    <a:pt x="1937240" y="631128"/>
                  </a:lnTo>
                  <a:lnTo>
                    <a:pt x="2051799" y="636091"/>
                  </a:lnTo>
                  <a:lnTo>
                    <a:pt x="2166379" y="639081"/>
                  </a:lnTo>
                  <a:lnTo>
                    <a:pt x="2280969" y="640081"/>
                  </a:lnTo>
                  <a:lnTo>
                    <a:pt x="2395558" y="639081"/>
                  </a:lnTo>
                  <a:lnTo>
                    <a:pt x="2510138" y="636091"/>
                  </a:lnTo>
                  <a:lnTo>
                    <a:pt x="2624697" y="631128"/>
                  </a:lnTo>
                  <a:lnTo>
                    <a:pt x="2739227" y="624224"/>
                  </a:lnTo>
                  <a:lnTo>
                    <a:pt x="2853717" y="615424"/>
                  </a:lnTo>
                  <a:lnTo>
                    <a:pt x="2968159" y="604784"/>
                  </a:lnTo>
                  <a:lnTo>
                    <a:pt x="3082546" y="592372"/>
                  </a:lnTo>
                  <a:lnTo>
                    <a:pt x="3196868" y="578267"/>
                  </a:lnTo>
                  <a:lnTo>
                    <a:pt x="3311120" y="562559"/>
                  </a:lnTo>
                  <a:lnTo>
                    <a:pt x="3425295" y="545348"/>
                  </a:lnTo>
                  <a:lnTo>
                    <a:pt x="3539388" y="526743"/>
                  </a:lnTo>
                  <a:lnTo>
                    <a:pt x="3653394" y="506860"/>
                  </a:lnTo>
                  <a:lnTo>
                    <a:pt x="3767309" y="485826"/>
                  </a:lnTo>
                  <a:lnTo>
                    <a:pt x="3881129" y="463773"/>
                  </a:lnTo>
                  <a:lnTo>
                    <a:pt x="3994851" y="440838"/>
                  </a:lnTo>
                  <a:lnTo>
                    <a:pt x="4108474" y="417165"/>
                  </a:lnTo>
                  <a:lnTo>
                    <a:pt x="4221995" y="392901"/>
                  </a:lnTo>
                  <a:lnTo>
                    <a:pt x="4335413" y="368198"/>
                  </a:lnTo>
                  <a:lnTo>
                    <a:pt x="4448727" y="343208"/>
                  </a:lnTo>
                  <a:lnTo>
                    <a:pt x="4561937" y="318086"/>
                  </a:lnTo>
                  <a:lnTo>
                    <a:pt x="4675041" y="292988"/>
                  </a:lnTo>
                  <a:lnTo>
                    <a:pt x="4788041" y="268067"/>
                  </a:lnTo>
                  <a:lnTo>
                    <a:pt x="4900937" y="243477"/>
                  </a:lnTo>
                  <a:lnTo>
                    <a:pt x="5013730" y="219369"/>
                  </a:lnTo>
                  <a:lnTo>
                    <a:pt x="5126421" y="195890"/>
                  </a:lnTo>
                  <a:lnTo>
                    <a:pt x="5239013" y="173182"/>
                  </a:lnTo>
                  <a:lnTo>
                    <a:pt x="5351507" y="151385"/>
                  </a:lnTo>
                  <a:lnTo>
                    <a:pt x="5463906" y="130631"/>
                  </a:lnTo>
                  <a:lnTo>
                    <a:pt x="5576214" y="111044"/>
                  </a:lnTo>
                  <a:lnTo>
                    <a:pt x="5688435" y="92743"/>
                  </a:lnTo>
                  <a:lnTo>
                    <a:pt x="5800574" y="75839"/>
                  </a:lnTo>
                  <a:lnTo>
                    <a:pt x="5912636" y="60431"/>
                  </a:lnTo>
                  <a:lnTo>
                    <a:pt x="6024628" y="46614"/>
                  </a:lnTo>
                  <a:lnTo>
                    <a:pt x="6136555" y="34468"/>
                  </a:lnTo>
                  <a:lnTo>
                    <a:pt x="6248427" y="24067"/>
                  </a:lnTo>
                  <a:lnTo>
                    <a:pt x="6360251" y="15472"/>
                  </a:lnTo>
                  <a:lnTo>
                    <a:pt x="6472035" y="8733"/>
                  </a:lnTo>
                  <a:lnTo>
                    <a:pt x="6583790" y="3891"/>
                  </a:lnTo>
                  <a:lnTo>
                    <a:pt x="6695524" y="975"/>
                  </a:lnTo>
                  <a:lnTo>
                    <a:pt x="6807249" y="0"/>
                  </a:lnTo>
                  <a:lnTo>
                    <a:pt x="6918973" y="975"/>
                  </a:lnTo>
                  <a:lnTo>
                    <a:pt x="7030707" y="3891"/>
                  </a:lnTo>
                  <a:lnTo>
                    <a:pt x="7142462" y="8733"/>
                  </a:lnTo>
                  <a:lnTo>
                    <a:pt x="7254246" y="15472"/>
                  </a:lnTo>
                  <a:lnTo>
                    <a:pt x="7366070" y="24067"/>
                  </a:lnTo>
                  <a:lnTo>
                    <a:pt x="7477942" y="34468"/>
                  </a:lnTo>
                  <a:lnTo>
                    <a:pt x="7589869" y="46614"/>
                  </a:lnTo>
                  <a:lnTo>
                    <a:pt x="7701861" y="60431"/>
                  </a:lnTo>
                  <a:lnTo>
                    <a:pt x="7813923" y="75839"/>
                  </a:lnTo>
                  <a:lnTo>
                    <a:pt x="7926062" y="92743"/>
                  </a:lnTo>
                  <a:lnTo>
                    <a:pt x="8038283" y="111044"/>
                  </a:lnTo>
                  <a:lnTo>
                    <a:pt x="8150591" y="130631"/>
                  </a:lnTo>
                  <a:lnTo>
                    <a:pt x="8262990" y="151385"/>
                  </a:lnTo>
                  <a:lnTo>
                    <a:pt x="8375484" y="173182"/>
                  </a:lnTo>
                  <a:lnTo>
                    <a:pt x="8488076" y="195890"/>
                  </a:lnTo>
                  <a:lnTo>
                    <a:pt x="8600767" y="219369"/>
                  </a:lnTo>
                  <a:lnTo>
                    <a:pt x="8713560" y="243477"/>
                  </a:lnTo>
                  <a:lnTo>
                    <a:pt x="8826456" y="268067"/>
                  </a:lnTo>
                  <a:lnTo>
                    <a:pt x="8939456" y="292988"/>
                  </a:lnTo>
                  <a:lnTo>
                    <a:pt x="9052560" y="318086"/>
                  </a:lnTo>
                </a:path>
              </a:pathLst>
            </a:custGeom>
            <a:noFill/>
            <a:ln w="38100">
              <a:solidFill>
                <a:srgbClr val="F28C28"/>
              </a:solidFill>
            </a:ln>
          </p:spPr>
          <p:txBody>
            <a:bodyPr rtlCol="0" anchor="ctr"/>
            <a:lstStyle/>
            <a:p>
              <a:pPr algn="ctr"/>
              <a:endParaRPr/>
            </a:p>
          </p:txBody>
        </p:sp>
        <p:sp>
          <p:nvSpPr>
            <p:cNvPr id="34" name="Oval 33"/>
            <p:cNvSpPr/>
            <p:nvPr/>
          </p:nvSpPr>
          <p:spPr>
            <a:xfrm>
              <a:off x="1335024" y="1975104"/>
              <a:ext cx="438912" cy="438912"/>
            </a:xfrm>
            <a:prstGeom prst="ellipse">
              <a:avLst/>
            </a:prstGeom>
            <a:solidFill>
              <a:srgbClr val="E8E8E8"/>
            </a:solidFill>
            <a:ln w="38100">
              <a:solidFill>
                <a:srgbClr val="101418"/>
              </a:solidFill>
            </a:ln>
          </p:spPr>
          <p:txBody>
            <a:bodyPr rtlCol="0" anchor="ctr"/>
            <a:lstStyle/>
            <a:p>
              <a:pPr algn="ctr"/>
              <a:endParaRPr/>
            </a:p>
          </p:txBody>
        </p:sp>
        <p:sp>
          <p:nvSpPr>
            <p:cNvPr id="35" name="Oval 34"/>
            <p:cNvSpPr/>
            <p:nvPr/>
          </p:nvSpPr>
          <p:spPr>
            <a:xfrm>
              <a:off x="10387584" y="1975104"/>
              <a:ext cx="438912" cy="438912"/>
            </a:xfrm>
            <a:prstGeom prst="ellipse">
              <a:avLst/>
            </a:prstGeom>
            <a:solidFill>
              <a:srgbClr val="E8E8E8"/>
            </a:solidFill>
            <a:ln w="38100">
              <a:solidFill>
                <a:srgbClr val="101418"/>
              </a:solidFill>
            </a:ln>
          </p:spPr>
          <p:txBody>
            <a:bodyPr rtlCol="0" anchor="ctr"/>
            <a:lstStyle/>
            <a:p>
              <a:pPr algn="ctr"/>
              <a:endParaRPr/>
            </a:p>
          </p:txBody>
        </p:sp>
        <p:sp>
          <p:nvSpPr>
            <p:cNvPr id="36" name="TextBox 35"/>
            <p:cNvSpPr txBox="1"/>
            <p:nvPr/>
          </p:nvSpPr>
          <p:spPr>
            <a:xfrm>
              <a:off x="7955279" y="1280160"/>
              <a:ext cx="2194560" cy="365760"/>
            </a:xfrm>
            <a:prstGeom prst="rect">
              <a:avLst/>
            </a:prstGeom>
            <a:noFill/>
          </p:spPr>
          <p:txBody>
            <a:bodyPr wrap="square" lIns="18288" tIns="9144" rIns="18288" bIns="9144" anchor="ctr">
              <a:noAutofit/>
            </a:bodyPr>
            <a:lstStyle/>
            <a:p>
              <a:pPr algn="l"/>
              <a:r>
                <a:rPr lang="en-GB" sz="1800" b="1" i="0">
                  <a:solidFill>
                    <a:srgbClr val="F28C28"/>
                  </a:solidFill>
                  <a:latin typeface="Arial"/>
                </a:rPr>
                <a:t>Steam track</a:t>
              </a:r>
            </a:p>
          </p:txBody>
        </p:sp>
      </p:grpSp>
      <p:grpSp>
        <p:nvGrpSpPr>
          <p:cNvPr id="37" name="DIAGRAM electric route" descr="The same curved route between the same two stations, now drawn as a blue beam on supports."/>
          <p:cNvGrpSpPr/>
          <p:nvPr/>
        </p:nvGrpSpPr>
        <p:grpSpPr>
          <a:xfrm>
            <a:off x="1335024" y="3474720"/>
            <a:ext cx="9491472" cy="1207008"/>
            <a:chOff x="1335024" y="3474720"/>
            <a:chExt cx="9491472" cy="1207008"/>
          </a:xfrm>
        </p:grpSpPr>
        <p:sp>
          <p:nvSpPr>
            <p:cNvPr id="38" name="Rectangle 37"/>
            <p:cNvSpPr/>
            <p:nvPr/>
          </p:nvSpPr>
          <p:spPr>
            <a:xfrm>
              <a:off x="1716786" y="3844825"/>
              <a:ext cx="128016" cy="457200"/>
            </a:xfrm>
            <a:prstGeom prst="rect">
              <a:avLst/>
            </a:prstGeom>
            <a:solidFill>
              <a:srgbClr val="9AA0A6"/>
            </a:solidFill>
            <a:ln>
              <a:noFill/>
            </a:ln>
          </p:spPr>
          <p:txBody>
            <a:bodyPr rtlCol="0" anchor="ctr"/>
            <a:lstStyle/>
            <a:p>
              <a:pPr algn="ctr"/>
              <a:endParaRPr/>
            </a:p>
          </p:txBody>
        </p:sp>
        <p:sp>
          <p:nvSpPr>
            <p:cNvPr id="39" name="Rectangle 38"/>
            <p:cNvSpPr/>
            <p:nvPr/>
          </p:nvSpPr>
          <p:spPr>
            <a:xfrm>
              <a:off x="2622042" y="4021062"/>
              <a:ext cx="128016" cy="457200"/>
            </a:xfrm>
            <a:prstGeom prst="rect">
              <a:avLst/>
            </a:prstGeom>
            <a:solidFill>
              <a:srgbClr val="9AA0A6"/>
            </a:solidFill>
            <a:ln>
              <a:noFill/>
            </a:ln>
          </p:spPr>
          <p:txBody>
            <a:bodyPr rtlCol="0" anchor="ctr"/>
            <a:lstStyle/>
            <a:p>
              <a:pPr algn="ctr"/>
              <a:endParaRPr/>
            </a:p>
          </p:txBody>
        </p:sp>
        <p:sp>
          <p:nvSpPr>
            <p:cNvPr id="40" name="Rectangle 39"/>
            <p:cNvSpPr/>
            <p:nvPr/>
          </p:nvSpPr>
          <p:spPr>
            <a:xfrm>
              <a:off x="3527298" y="4110859"/>
              <a:ext cx="128016" cy="457200"/>
            </a:xfrm>
            <a:prstGeom prst="rect">
              <a:avLst/>
            </a:prstGeom>
            <a:solidFill>
              <a:srgbClr val="9AA0A6"/>
            </a:solidFill>
            <a:ln>
              <a:noFill/>
            </a:ln>
          </p:spPr>
          <p:txBody>
            <a:bodyPr rtlCol="0" anchor="ctr"/>
            <a:lstStyle/>
            <a:p>
              <a:pPr algn="ctr"/>
              <a:endParaRPr/>
            </a:p>
          </p:txBody>
        </p:sp>
        <p:sp>
          <p:nvSpPr>
            <p:cNvPr id="41" name="Rectangle 40"/>
            <p:cNvSpPr/>
            <p:nvPr/>
          </p:nvSpPr>
          <p:spPr>
            <a:xfrm>
              <a:off x="4432554" y="4079917"/>
              <a:ext cx="128016" cy="457200"/>
            </a:xfrm>
            <a:prstGeom prst="rect">
              <a:avLst/>
            </a:prstGeom>
            <a:solidFill>
              <a:srgbClr val="9AA0A6"/>
            </a:solidFill>
            <a:ln>
              <a:noFill/>
            </a:ln>
          </p:spPr>
          <p:txBody>
            <a:bodyPr rtlCol="0" anchor="ctr"/>
            <a:lstStyle/>
            <a:p>
              <a:pPr algn="ctr"/>
              <a:endParaRPr/>
            </a:p>
          </p:txBody>
        </p:sp>
        <p:sp>
          <p:nvSpPr>
            <p:cNvPr id="42" name="Rectangle 41"/>
            <p:cNvSpPr/>
            <p:nvPr/>
          </p:nvSpPr>
          <p:spPr>
            <a:xfrm>
              <a:off x="5337810" y="3940055"/>
              <a:ext cx="128016" cy="457200"/>
            </a:xfrm>
            <a:prstGeom prst="rect">
              <a:avLst/>
            </a:prstGeom>
            <a:solidFill>
              <a:srgbClr val="9AA0A6"/>
            </a:solidFill>
            <a:ln>
              <a:noFill/>
            </a:ln>
          </p:spPr>
          <p:txBody>
            <a:bodyPr rtlCol="0" anchor="ctr"/>
            <a:lstStyle/>
            <a:p>
              <a:pPr algn="ctr"/>
              <a:endParaRPr/>
            </a:p>
          </p:txBody>
        </p:sp>
        <p:sp>
          <p:nvSpPr>
            <p:cNvPr id="43" name="Rectangle 42"/>
            <p:cNvSpPr/>
            <p:nvPr/>
          </p:nvSpPr>
          <p:spPr>
            <a:xfrm>
              <a:off x="6243066" y="3744694"/>
              <a:ext cx="128016" cy="457200"/>
            </a:xfrm>
            <a:prstGeom prst="rect">
              <a:avLst/>
            </a:prstGeom>
            <a:solidFill>
              <a:srgbClr val="9AA0A6"/>
            </a:solidFill>
            <a:ln>
              <a:noFill/>
            </a:ln>
          </p:spPr>
          <p:txBody>
            <a:bodyPr rtlCol="0" anchor="ctr"/>
            <a:lstStyle/>
            <a:p>
              <a:pPr algn="ctr"/>
              <a:endParaRPr/>
            </a:p>
          </p:txBody>
        </p:sp>
        <p:sp>
          <p:nvSpPr>
            <p:cNvPr id="44" name="Rectangle 43"/>
            <p:cNvSpPr/>
            <p:nvPr/>
          </p:nvSpPr>
          <p:spPr>
            <a:xfrm>
              <a:off x="7148322" y="3568457"/>
              <a:ext cx="128016" cy="457200"/>
            </a:xfrm>
            <a:prstGeom prst="rect">
              <a:avLst/>
            </a:prstGeom>
            <a:solidFill>
              <a:srgbClr val="9AA0A6"/>
            </a:solidFill>
            <a:ln>
              <a:noFill/>
            </a:ln>
          </p:spPr>
          <p:txBody>
            <a:bodyPr rtlCol="0" anchor="ctr"/>
            <a:lstStyle/>
            <a:p>
              <a:pPr algn="ctr"/>
              <a:endParaRPr/>
            </a:p>
          </p:txBody>
        </p:sp>
        <p:sp>
          <p:nvSpPr>
            <p:cNvPr id="45" name="Rectangle 44"/>
            <p:cNvSpPr/>
            <p:nvPr/>
          </p:nvSpPr>
          <p:spPr>
            <a:xfrm>
              <a:off x="8053577" y="3478660"/>
              <a:ext cx="128016" cy="457200"/>
            </a:xfrm>
            <a:prstGeom prst="rect">
              <a:avLst/>
            </a:prstGeom>
            <a:solidFill>
              <a:srgbClr val="9AA0A6"/>
            </a:solidFill>
            <a:ln>
              <a:noFill/>
            </a:ln>
          </p:spPr>
          <p:txBody>
            <a:bodyPr rtlCol="0" anchor="ctr"/>
            <a:lstStyle/>
            <a:p>
              <a:pPr algn="ctr"/>
              <a:endParaRPr/>
            </a:p>
          </p:txBody>
        </p:sp>
        <p:sp>
          <p:nvSpPr>
            <p:cNvPr id="46" name="Rectangle 45"/>
            <p:cNvSpPr/>
            <p:nvPr/>
          </p:nvSpPr>
          <p:spPr>
            <a:xfrm>
              <a:off x="8958834" y="3509602"/>
              <a:ext cx="128016" cy="457200"/>
            </a:xfrm>
            <a:prstGeom prst="rect">
              <a:avLst/>
            </a:prstGeom>
            <a:solidFill>
              <a:srgbClr val="9AA0A6"/>
            </a:solidFill>
            <a:ln>
              <a:noFill/>
            </a:ln>
          </p:spPr>
          <p:txBody>
            <a:bodyPr rtlCol="0" anchor="ctr"/>
            <a:lstStyle/>
            <a:p>
              <a:pPr algn="ctr"/>
              <a:endParaRPr/>
            </a:p>
          </p:txBody>
        </p:sp>
        <p:sp>
          <p:nvSpPr>
            <p:cNvPr id="47" name="Rectangle 46"/>
            <p:cNvSpPr/>
            <p:nvPr/>
          </p:nvSpPr>
          <p:spPr>
            <a:xfrm>
              <a:off x="9864090" y="3649464"/>
              <a:ext cx="128016" cy="457200"/>
            </a:xfrm>
            <a:prstGeom prst="rect">
              <a:avLst/>
            </a:prstGeom>
            <a:solidFill>
              <a:srgbClr val="9AA0A6"/>
            </a:solidFill>
            <a:ln>
              <a:noFill/>
            </a:ln>
          </p:spPr>
          <p:txBody>
            <a:bodyPr rtlCol="0" anchor="ctr"/>
            <a:lstStyle/>
            <a:p>
              <a:pPr algn="ctr"/>
              <a:endParaRPr/>
            </a:p>
          </p:txBody>
        </p:sp>
        <p:sp>
          <p:nvSpPr>
            <p:cNvPr id="48" name="Freeform 47"/>
            <p:cNvSpPr/>
            <p:nvPr/>
          </p:nvSpPr>
          <p:spPr>
            <a:xfrm>
              <a:off x="1554480" y="3474720"/>
              <a:ext cx="9052560" cy="640080"/>
            </a:xfrm>
            <a:custGeom>
              <a:avLst/>
              <a:gdLst/>
              <a:ahLst/>
              <a:cxnLst/>
              <a:rect l="l" t="t" r="r" b="b"/>
              <a:pathLst>
                <a:path w="9052560" h="640080">
                  <a:moveTo>
                    <a:pt x="0" y="320040"/>
                  </a:moveTo>
                  <a:lnTo>
                    <a:pt x="113157" y="345150"/>
                  </a:lnTo>
                  <a:lnTo>
                    <a:pt x="226314" y="370105"/>
                  </a:lnTo>
                  <a:lnTo>
                    <a:pt x="339471" y="394751"/>
                  </a:lnTo>
                  <a:lnTo>
                    <a:pt x="452627" y="418937"/>
                  </a:lnTo>
                  <a:lnTo>
                    <a:pt x="565785" y="442514"/>
                  </a:lnTo>
                  <a:lnTo>
                    <a:pt x="678942" y="465335"/>
                  </a:lnTo>
                  <a:lnTo>
                    <a:pt x="792099" y="487260"/>
                  </a:lnTo>
                  <a:lnTo>
                    <a:pt x="905256" y="508154"/>
                  </a:lnTo>
                  <a:lnTo>
                    <a:pt x="1018413" y="527889"/>
                  </a:lnTo>
                  <a:lnTo>
                    <a:pt x="1131570" y="546342"/>
                  </a:lnTo>
                  <a:lnTo>
                    <a:pt x="1244727" y="563400"/>
                  </a:lnTo>
                  <a:lnTo>
                    <a:pt x="1357884" y="578957"/>
                  </a:lnTo>
                  <a:lnTo>
                    <a:pt x="1471041" y="592918"/>
                  </a:lnTo>
                  <a:lnTo>
                    <a:pt x="1584198" y="605197"/>
                  </a:lnTo>
                  <a:lnTo>
                    <a:pt x="1697355" y="615718"/>
                  </a:lnTo>
                  <a:lnTo>
                    <a:pt x="1810511" y="624416"/>
                  </a:lnTo>
                  <a:lnTo>
                    <a:pt x="1923669" y="631237"/>
                  </a:lnTo>
                  <a:lnTo>
                    <a:pt x="2036826" y="636139"/>
                  </a:lnTo>
                  <a:lnTo>
                    <a:pt x="2149982" y="639093"/>
                  </a:lnTo>
                  <a:lnTo>
                    <a:pt x="2263140" y="640080"/>
                  </a:lnTo>
                  <a:lnTo>
                    <a:pt x="2376297" y="639093"/>
                  </a:lnTo>
                  <a:lnTo>
                    <a:pt x="2489454" y="636139"/>
                  </a:lnTo>
                  <a:lnTo>
                    <a:pt x="2602611" y="631237"/>
                  </a:lnTo>
                  <a:lnTo>
                    <a:pt x="2715768" y="624416"/>
                  </a:lnTo>
                  <a:lnTo>
                    <a:pt x="2828925" y="615718"/>
                  </a:lnTo>
                  <a:lnTo>
                    <a:pt x="2942082" y="605197"/>
                  </a:lnTo>
                  <a:lnTo>
                    <a:pt x="3055239" y="592918"/>
                  </a:lnTo>
                  <a:lnTo>
                    <a:pt x="3168396" y="578957"/>
                  </a:lnTo>
                  <a:lnTo>
                    <a:pt x="3281553" y="563400"/>
                  </a:lnTo>
                  <a:lnTo>
                    <a:pt x="3394710" y="546342"/>
                  </a:lnTo>
                  <a:lnTo>
                    <a:pt x="3507867" y="527889"/>
                  </a:lnTo>
                  <a:lnTo>
                    <a:pt x="3621024" y="508154"/>
                  </a:lnTo>
                  <a:lnTo>
                    <a:pt x="3734181" y="487260"/>
                  </a:lnTo>
                  <a:lnTo>
                    <a:pt x="3847338" y="465335"/>
                  </a:lnTo>
                  <a:lnTo>
                    <a:pt x="3960495" y="442514"/>
                  </a:lnTo>
                  <a:lnTo>
                    <a:pt x="4073652" y="418937"/>
                  </a:lnTo>
                  <a:lnTo>
                    <a:pt x="4186809" y="394751"/>
                  </a:lnTo>
                  <a:lnTo>
                    <a:pt x="4299966" y="370105"/>
                  </a:lnTo>
                  <a:lnTo>
                    <a:pt x="4413123" y="345150"/>
                  </a:lnTo>
                  <a:lnTo>
                    <a:pt x="4526280" y="320040"/>
                  </a:lnTo>
                  <a:lnTo>
                    <a:pt x="4639437" y="294929"/>
                  </a:lnTo>
                  <a:lnTo>
                    <a:pt x="4752594" y="269974"/>
                  </a:lnTo>
                  <a:lnTo>
                    <a:pt x="4865751" y="245328"/>
                  </a:lnTo>
                  <a:lnTo>
                    <a:pt x="4978908" y="221142"/>
                  </a:lnTo>
                  <a:lnTo>
                    <a:pt x="5092065" y="197565"/>
                  </a:lnTo>
                  <a:lnTo>
                    <a:pt x="5205222" y="174744"/>
                  </a:lnTo>
                  <a:lnTo>
                    <a:pt x="5318379" y="152819"/>
                  </a:lnTo>
                  <a:lnTo>
                    <a:pt x="5431536" y="131925"/>
                  </a:lnTo>
                  <a:lnTo>
                    <a:pt x="5544693" y="112190"/>
                  </a:lnTo>
                  <a:lnTo>
                    <a:pt x="5657850" y="93737"/>
                  </a:lnTo>
                  <a:lnTo>
                    <a:pt x="5771007" y="76679"/>
                  </a:lnTo>
                  <a:lnTo>
                    <a:pt x="5884164" y="61122"/>
                  </a:lnTo>
                  <a:lnTo>
                    <a:pt x="5997321" y="47161"/>
                  </a:lnTo>
                  <a:lnTo>
                    <a:pt x="6110478" y="34882"/>
                  </a:lnTo>
                  <a:lnTo>
                    <a:pt x="6223635" y="24361"/>
                  </a:lnTo>
                  <a:lnTo>
                    <a:pt x="6336791" y="15663"/>
                  </a:lnTo>
                  <a:lnTo>
                    <a:pt x="6449949" y="8842"/>
                  </a:lnTo>
                  <a:lnTo>
                    <a:pt x="6563106" y="3940"/>
                  </a:lnTo>
                  <a:lnTo>
                    <a:pt x="6676263" y="986"/>
                  </a:lnTo>
                  <a:lnTo>
                    <a:pt x="6789420" y="0"/>
                  </a:lnTo>
                  <a:lnTo>
                    <a:pt x="6902577" y="986"/>
                  </a:lnTo>
                  <a:lnTo>
                    <a:pt x="7015734" y="3940"/>
                  </a:lnTo>
                  <a:lnTo>
                    <a:pt x="7128891" y="8842"/>
                  </a:lnTo>
                  <a:lnTo>
                    <a:pt x="7242048" y="15663"/>
                  </a:lnTo>
                  <a:lnTo>
                    <a:pt x="7355204" y="24361"/>
                  </a:lnTo>
                  <a:lnTo>
                    <a:pt x="7468362" y="34882"/>
                  </a:lnTo>
                  <a:lnTo>
                    <a:pt x="7581519" y="47161"/>
                  </a:lnTo>
                  <a:lnTo>
                    <a:pt x="7694676" y="61122"/>
                  </a:lnTo>
                  <a:lnTo>
                    <a:pt x="7807833" y="76679"/>
                  </a:lnTo>
                  <a:lnTo>
                    <a:pt x="7920989" y="93737"/>
                  </a:lnTo>
                  <a:lnTo>
                    <a:pt x="8034146" y="112190"/>
                  </a:lnTo>
                  <a:lnTo>
                    <a:pt x="8147304" y="131925"/>
                  </a:lnTo>
                  <a:lnTo>
                    <a:pt x="8260461" y="152819"/>
                  </a:lnTo>
                  <a:lnTo>
                    <a:pt x="8373618" y="174744"/>
                  </a:lnTo>
                  <a:lnTo>
                    <a:pt x="8486775" y="197565"/>
                  </a:lnTo>
                  <a:lnTo>
                    <a:pt x="8599931" y="221142"/>
                  </a:lnTo>
                  <a:lnTo>
                    <a:pt x="8713089" y="245328"/>
                  </a:lnTo>
                  <a:lnTo>
                    <a:pt x="8826246" y="269974"/>
                  </a:lnTo>
                  <a:lnTo>
                    <a:pt x="8939403" y="294929"/>
                  </a:lnTo>
                  <a:lnTo>
                    <a:pt x="9052560" y="320040"/>
                  </a:lnTo>
                </a:path>
              </a:pathLst>
            </a:custGeom>
            <a:noFill/>
            <a:ln w="165100">
              <a:solidFill>
                <a:srgbClr val="6CA0DC"/>
              </a:solidFill>
            </a:ln>
          </p:spPr>
          <p:txBody>
            <a:bodyPr rtlCol="0" anchor="ctr"/>
            <a:lstStyle/>
            <a:p>
              <a:pPr algn="ctr"/>
              <a:endParaRPr/>
            </a:p>
          </p:txBody>
        </p:sp>
        <p:sp>
          <p:nvSpPr>
            <p:cNvPr id="49" name="Oval 48"/>
            <p:cNvSpPr/>
            <p:nvPr/>
          </p:nvSpPr>
          <p:spPr>
            <a:xfrm>
              <a:off x="1335024" y="3575304"/>
              <a:ext cx="438912" cy="438912"/>
            </a:xfrm>
            <a:prstGeom prst="ellipse">
              <a:avLst/>
            </a:prstGeom>
            <a:solidFill>
              <a:srgbClr val="E8E8E8"/>
            </a:solidFill>
            <a:ln w="38100">
              <a:solidFill>
                <a:srgbClr val="101418"/>
              </a:solidFill>
            </a:ln>
          </p:spPr>
          <p:txBody>
            <a:bodyPr rtlCol="0" anchor="ctr"/>
            <a:lstStyle/>
            <a:p>
              <a:pPr algn="ctr"/>
              <a:endParaRPr/>
            </a:p>
          </p:txBody>
        </p:sp>
        <p:sp>
          <p:nvSpPr>
            <p:cNvPr id="50" name="Oval 49"/>
            <p:cNvSpPr/>
            <p:nvPr/>
          </p:nvSpPr>
          <p:spPr>
            <a:xfrm>
              <a:off x="10387584" y="3575304"/>
              <a:ext cx="438912" cy="438912"/>
            </a:xfrm>
            <a:prstGeom prst="ellipse">
              <a:avLst/>
            </a:prstGeom>
            <a:solidFill>
              <a:srgbClr val="E8E8E8"/>
            </a:solidFill>
            <a:ln w="38100">
              <a:solidFill>
                <a:srgbClr val="101418"/>
              </a:solidFill>
            </a:ln>
          </p:spPr>
          <p:txBody>
            <a:bodyPr rtlCol="0" anchor="ctr"/>
            <a:lstStyle/>
            <a:p>
              <a:pPr algn="ctr"/>
              <a:endParaRPr/>
            </a:p>
          </p:txBody>
        </p:sp>
        <p:sp>
          <p:nvSpPr>
            <p:cNvPr id="51" name="TextBox 50"/>
            <p:cNvSpPr txBox="1"/>
            <p:nvPr/>
          </p:nvSpPr>
          <p:spPr>
            <a:xfrm>
              <a:off x="7955279" y="4315968"/>
              <a:ext cx="2377440" cy="365760"/>
            </a:xfrm>
            <a:prstGeom prst="rect">
              <a:avLst/>
            </a:prstGeom>
            <a:noFill/>
          </p:spPr>
          <p:txBody>
            <a:bodyPr wrap="square" lIns="18288" tIns="9144" rIns="18288" bIns="9144" anchor="ctr">
              <a:noAutofit/>
            </a:bodyPr>
            <a:lstStyle/>
            <a:p>
              <a:pPr algn="l"/>
              <a:r>
                <a:rPr lang="en-GB" sz="1800" b="1" i="0">
                  <a:solidFill>
                    <a:srgbClr val="6CA0DC"/>
                  </a:solidFill>
                  <a:latin typeface="Arial"/>
                </a:rPr>
                <a:t>Monorail beam</a:t>
              </a:r>
            </a:p>
          </p:txBody>
        </p:sp>
      </p:grpSp>
      <p:grpSp>
        <p:nvGrpSpPr>
          <p:cNvPr id="52" name="DIAGRAM same path" descr="Dashed lines join the two copies: the path is the same."/>
          <p:cNvGrpSpPr/>
          <p:nvPr/>
        </p:nvGrpSpPr>
        <p:grpSpPr>
          <a:xfrm>
            <a:off x="1554480" y="2283157"/>
            <a:ext cx="9052560" cy="1423005"/>
            <a:chOff x="1554480" y="2283157"/>
            <a:chExt cx="9052560" cy="1423005"/>
          </a:xfrm>
        </p:grpSpPr>
        <p:cxnSp>
          <p:nvCxnSpPr>
            <p:cNvPr id="53" name="Connector 52"/>
            <p:cNvCxnSpPr/>
            <p:nvPr/>
          </p:nvCxnSpPr>
          <p:spPr>
            <a:xfrm>
              <a:off x="1554480" y="2468879"/>
              <a:ext cx="0" cy="1051561"/>
            </a:xfrm>
            <a:prstGeom prst="line">
              <a:avLst/>
            </a:prstGeom>
            <a:ln w="25400">
              <a:solidFill>
                <a:srgbClr val="A9B0B8"/>
              </a:solidFill>
              <a:prstDash val="dash"/>
            </a:ln>
          </p:spPr>
        </p:cxnSp>
        <p:cxnSp>
          <p:nvCxnSpPr>
            <p:cNvPr id="54" name="Connector 53"/>
            <p:cNvCxnSpPr/>
            <p:nvPr/>
          </p:nvCxnSpPr>
          <p:spPr>
            <a:xfrm>
              <a:off x="10607040" y="2468879"/>
              <a:ext cx="0" cy="1051561"/>
            </a:xfrm>
            <a:prstGeom prst="line">
              <a:avLst/>
            </a:prstGeom>
            <a:ln w="25400">
              <a:solidFill>
                <a:srgbClr val="A9B0B8"/>
              </a:solidFill>
              <a:prstDash val="dash"/>
            </a:ln>
          </p:spPr>
        </p:cxnSp>
        <p:cxnSp>
          <p:nvCxnSpPr>
            <p:cNvPr id="55" name="Connector 54"/>
            <p:cNvCxnSpPr/>
            <p:nvPr/>
          </p:nvCxnSpPr>
          <p:spPr>
            <a:xfrm>
              <a:off x="4572000" y="2837482"/>
              <a:ext cx="0" cy="868680"/>
            </a:xfrm>
            <a:prstGeom prst="line">
              <a:avLst/>
            </a:prstGeom>
            <a:ln w="28575">
              <a:solidFill>
                <a:srgbClr val="A9B0B8"/>
              </a:solidFill>
              <a:prstDash val="dash"/>
              <a:tailEnd type="triangle" w="med" len="med"/>
            </a:ln>
          </p:spPr>
        </p:cxnSp>
        <p:cxnSp>
          <p:nvCxnSpPr>
            <p:cNvPr id="56" name="Connector 55"/>
            <p:cNvCxnSpPr/>
            <p:nvPr/>
          </p:nvCxnSpPr>
          <p:spPr>
            <a:xfrm>
              <a:off x="7589520" y="2283157"/>
              <a:ext cx="0" cy="868680"/>
            </a:xfrm>
            <a:prstGeom prst="line">
              <a:avLst/>
            </a:prstGeom>
            <a:ln w="28575">
              <a:solidFill>
                <a:srgbClr val="A9B0B8"/>
              </a:solidFill>
              <a:prstDash val="dash"/>
              <a:tailEnd type="triangle" w="med" len="med"/>
            </a:ln>
          </p:spPr>
        </p:cxnSp>
        <p:sp>
          <p:nvSpPr>
            <p:cNvPr id="57" name="TextBox 56"/>
            <p:cNvSpPr txBox="1"/>
            <p:nvPr/>
          </p:nvSpPr>
          <p:spPr>
            <a:xfrm>
              <a:off x="5029200" y="2834640"/>
              <a:ext cx="2103120" cy="411480"/>
            </a:xfrm>
            <a:prstGeom prst="rect">
              <a:avLst/>
            </a:prstGeom>
            <a:noFill/>
          </p:spPr>
          <p:txBody>
            <a:bodyPr wrap="square" lIns="18288" tIns="9144" rIns="18288" bIns="9144" anchor="ctr">
              <a:noAutofit/>
            </a:bodyPr>
            <a:lstStyle/>
            <a:p>
              <a:pPr algn="ctr"/>
              <a:r>
                <a:rPr lang="en-GB" sz="2000" b="1" i="0">
                  <a:solidFill>
                    <a:srgbClr val="F2F2F2"/>
                  </a:solidFill>
                  <a:latin typeface="Arial"/>
                </a:rPr>
                <a:t>Same path</a:t>
              </a:r>
            </a:p>
          </p:txBody>
        </p:sp>
      </p:grpSp>
      <p:grpSp>
        <p:nvGrpSpPr>
          <p:cNvPr id="58" name="NOTE proposed" descr="Note: supports and junction shapes kept where possible. Proposed."/>
          <p:cNvGrpSpPr/>
          <p:nvPr/>
        </p:nvGrpSpPr>
        <p:grpSpPr>
          <a:xfrm>
            <a:off x="548640" y="4892040"/>
            <a:ext cx="11091672" cy="594360"/>
            <a:chOff x="548640" y="4892040"/>
            <a:chExt cx="11091672" cy="594360"/>
          </a:xfrm>
        </p:grpSpPr>
        <p:sp>
          <p:nvSpPr>
            <p:cNvPr id="59" name="Rounded Rectangle 58"/>
            <p:cNvSpPr/>
            <p:nvPr/>
          </p:nvSpPr>
          <p:spPr>
            <a:xfrm>
              <a:off x="548640" y="4892040"/>
              <a:ext cx="11091672" cy="594360"/>
            </a:xfrm>
            <a:prstGeom prst="roundRect">
              <a:avLst>
                <a:gd name="adj" fmla="val 12307"/>
              </a:avLst>
            </a:prstGeom>
            <a:solidFill>
              <a:srgbClr val="2B2F36"/>
            </a:solidFill>
            <a:ln>
              <a:noFill/>
            </a:ln>
          </p:spPr>
          <p:txBody>
            <a:bodyPr rtlCol="0" anchor="ctr"/>
            <a:lstStyle/>
            <a:p>
              <a:pPr algn="ctr"/>
              <a:endParaRPr/>
            </a:p>
          </p:txBody>
        </p:sp>
        <p:sp>
          <p:nvSpPr>
            <p:cNvPr id="60" name="ICHIP"/>
            <p:cNvSpPr/>
            <p:nvPr/>
          </p:nvSpPr>
          <p:spPr>
            <a:xfrm>
              <a:off x="777240" y="5029200"/>
              <a:ext cx="1464992" cy="310896"/>
            </a:xfrm>
            <a:prstGeom prst="roundRect">
              <a:avLst>
                <a:gd name="adj" fmla="val 50000"/>
              </a:avLst>
            </a:prstGeom>
            <a:solidFill>
              <a:srgbClr val="B084F5"/>
            </a:solidFill>
            <a:ln>
              <a:noFill/>
            </a:ln>
          </p:spPr>
          <p:txBody>
            <a:bodyPr wrap="square" lIns="36576" tIns="0" rIns="36576" bIns="0" rtlCol="0" anchor="ctr">
              <a:noAutofit/>
            </a:bodyPr>
            <a:lstStyle/>
            <a:p>
              <a:pPr algn="ctr"/>
              <a:r>
                <a:rPr lang="en-GB" sz="1400" b="1" i="0">
                  <a:solidFill>
                    <a:srgbClr val="101418"/>
                  </a:solidFill>
                  <a:latin typeface="Arial"/>
                </a:rPr>
                <a:t>PROPOSED</a:t>
              </a:r>
            </a:p>
          </p:txBody>
        </p:sp>
        <p:sp>
          <p:nvSpPr>
            <p:cNvPr id="61" name="TextBox 60"/>
            <p:cNvSpPr txBox="1"/>
            <p:nvPr/>
          </p:nvSpPr>
          <p:spPr>
            <a:xfrm>
              <a:off x="2470832" y="4892040"/>
              <a:ext cx="8686800" cy="594360"/>
            </a:xfrm>
            <a:prstGeom prst="rect">
              <a:avLst/>
            </a:prstGeom>
            <a:noFill/>
          </p:spPr>
          <p:txBody>
            <a:bodyPr wrap="square" lIns="18288" tIns="9144" rIns="18288" bIns="9144" anchor="ctr">
              <a:noAutofit/>
            </a:bodyPr>
            <a:lstStyle/>
            <a:p>
              <a:pPr algn="l"/>
              <a:r>
                <a:rPr lang="en-GB" sz="2000" b="0" i="0">
                  <a:solidFill>
                    <a:srgbClr val="F2F2F2"/>
                  </a:solidFill>
                  <a:latin typeface="Arial"/>
                </a:rPr>
                <a:t>Supports and junction shapes kept where possible</a:t>
              </a:r>
            </a:p>
          </p:txBody>
        </p:sp>
      </p:grpSp>
      <p:sp>
        <p:nvSpPr>
          <p:cNvPr id="6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63"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64"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The route you planned is kept. You do not start again.</a:t>
            </a:r>
          </a:p>
        </p:txBody>
      </p:sp>
      <p:sp>
        <p:nvSpPr>
          <p:cNvPr id="65"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7</a:t>
            </a:r>
          </a:p>
        </p:txBody>
      </p:sp>
    </p:spTree>
    <p:extLst>
      <p:ext uri="{BB962C8B-B14F-4D97-AF65-F5344CB8AC3E}">
        <p14:creationId xmlns:p14="http://schemas.microsoft.com/office/powerpoint/2010/main" val="31377544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57"/>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nodeType="withEffect">
                                  <p:stCondLst>
                                    <p:cond delay="514"/>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par>
                                <p:cTn id="14" presetID="10" presetClass="entr" presetSubtype="0" fill="hold" nodeType="withEffect">
                                  <p:stCondLst>
                                    <p:cond delay="771"/>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500"/>
                                        <p:tgtEl>
                                          <p:spTgt spid="58"/>
                                        </p:tgtEl>
                                      </p:cBhvr>
                                    </p:animEffect>
                                  </p:childTnLst>
                                </p:cTn>
                              </p:par>
                              <p:par>
                                <p:cTn id="17" presetID="10" presetClass="entr" presetSubtype="0" fill="hold" nodeType="withEffect">
                                  <p:stCondLst>
                                    <p:cond delay="1028"/>
                                  </p:stCondLst>
                                  <p:childTnLst>
                                    <p:set>
                                      <p:cBhvr>
                                        <p:cTn id="18" dur="1" fill="hold">
                                          <p:stCondLst>
                                            <p:cond delay="0"/>
                                          </p:stCondLst>
                                        </p:cTn>
                                        <p:tgtEl>
                                          <p:spTgt spid="62"/>
                                        </p:tgtEl>
                                        <p:attrNameLst>
                                          <p:attrName>style.visibility</p:attrName>
                                        </p:attrNameLst>
                                      </p:cBhvr>
                                      <p:to>
                                        <p:strVal val="visible"/>
                                      </p:to>
                                    </p:set>
                                    <p:animEffect transition="in" filter="fade">
                                      <p:cBhvr>
                                        <p:cTn id="19" dur="500"/>
                                        <p:tgtEl>
                                          <p:spTgt spid="62"/>
                                        </p:tgtEl>
                                      </p:cBhvr>
                                    </p:animEffect>
                                  </p:childTnLst>
                                </p:cTn>
                              </p:par>
                              <p:par>
                                <p:cTn id="20" presetID="10" presetClass="entr" presetSubtype="0" fill="hold" nodeType="withEffect">
                                  <p:stCondLst>
                                    <p:cond delay="1285"/>
                                  </p:stCondLst>
                                  <p:childTnLst>
                                    <p:set>
                                      <p:cBhvr>
                                        <p:cTn id="21" dur="1" fill="hold">
                                          <p:stCondLst>
                                            <p:cond delay="0"/>
                                          </p:stCondLst>
                                        </p:cTn>
                                        <p:tgtEl>
                                          <p:spTgt spid="63"/>
                                        </p:tgtEl>
                                        <p:attrNameLst>
                                          <p:attrName>style.visibility</p:attrName>
                                        </p:attrNameLst>
                                      </p:cBhvr>
                                      <p:to>
                                        <p:strVal val="visible"/>
                                      </p:to>
                                    </p:set>
                                    <p:animEffect transition="in" filter="fade">
                                      <p:cBhvr>
                                        <p:cTn id="22" dur="500"/>
                                        <p:tgtEl>
                                          <p:spTgt spid="63"/>
                                        </p:tgtEl>
                                      </p:cBhvr>
                                    </p:animEffect>
                                  </p:childTnLst>
                                </p:cTn>
                              </p:par>
                              <p:par>
                                <p:cTn id="23" presetID="10" presetClass="entr" presetSubtype="0" fill="hold" nodeType="withEffect">
                                  <p:stCondLst>
                                    <p:cond delay="1542"/>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warning first</a:t>
            </a:r>
          </a:p>
        </p:txBody>
      </p:sp>
      <p:sp>
        <p:nvSpPr>
          <p:cNvPr id="3" name="CHIP"/>
          <p:cNvSpPr/>
          <p:nvPr/>
        </p:nvSpPr>
        <p:spPr>
          <a:xfrm>
            <a:off x="10088575" y="548640"/>
            <a:ext cx="1554480" cy="365760"/>
          </a:xfrm>
          <a:prstGeom prst="roundRect">
            <a:avLst>
              <a:gd name="adj" fmla="val 50000"/>
            </a:avLst>
          </a:prstGeom>
          <a:solidFill>
            <a:srgbClr val="B084F5"/>
          </a:solidFill>
          <a:ln>
            <a:noFill/>
          </a:ln>
        </p:spPr>
        <p:txBody>
          <a:bodyPr wrap="square" lIns="36576" tIns="0" rIns="36576" bIns="0" rtlCol="0" anchor="ctr">
            <a:noAutofit/>
          </a:bodyPr>
          <a:lstStyle/>
          <a:p>
            <a:pPr algn="ctr"/>
            <a:r>
              <a:rPr lang="en-GB" sz="1400" b="1" i="0">
                <a:solidFill>
                  <a:srgbClr val="101418"/>
                </a:solidFill>
                <a:latin typeface="Arial"/>
              </a:rPr>
              <a:t>PROPOSED</a:t>
            </a:r>
          </a:p>
        </p:txBody>
      </p:sp>
      <p:grpSp>
        <p:nvGrpSpPr>
          <p:cNvPr id="4" name="DIAGRAM hologram" descr="A mock build preview: a ghost blue beam hologram laid over orange steam track."/>
          <p:cNvGrpSpPr/>
          <p:nvPr/>
        </p:nvGrpSpPr>
        <p:grpSpPr>
          <a:xfrm>
            <a:off x="548640" y="1371600"/>
            <a:ext cx="6309360" cy="4023360"/>
            <a:chOff x="548640" y="1371600"/>
            <a:chExt cx="6309360" cy="4023360"/>
          </a:xfrm>
        </p:grpSpPr>
        <p:sp>
          <p:nvSpPr>
            <p:cNvPr id="5" name="Rounded Rectangle 4"/>
            <p:cNvSpPr/>
            <p:nvPr/>
          </p:nvSpPr>
          <p:spPr>
            <a:xfrm>
              <a:off x="548640" y="1371600"/>
              <a:ext cx="6309360" cy="4023360"/>
            </a:xfrm>
            <a:prstGeom prst="roundRect">
              <a:avLst>
                <a:gd name="adj" fmla="val 1818"/>
              </a:avLst>
            </a:prstGeom>
            <a:solidFill>
              <a:srgbClr val="2B2F36"/>
            </a:solidFill>
            <a:ln>
              <a:noFill/>
            </a:ln>
          </p:spPr>
          <p:txBody>
            <a:bodyPr rtlCol="0" anchor="ctr"/>
            <a:lstStyle/>
            <a:p>
              <a:pPr algn="ctr"/>
              <a:endParaRPr/>
            </a:p>
          </p:txBody>
        </p:sp>
        <p:sp>
          <p:nvSpPr>
            <p:cNvPr id="6" name="Rectangle 5"/>
            <p:cNvSpPr/>
            <p:nvPr/>
          </p:nvSpPr>
          <p:spPr>
            <a:xfrm>
              <a:off x="822960" y="4892040"/>
              <a:ext cx="5760720" cy="73152"/>
            </a:xfrm>
            <a:prstGeom prst="rect">
              <a:avLst/>
            </a:prstGeom>
            <a:solidFill>
              <a:srgbClr val="5B6068"/>
            </a:solidFill>
            <a:ln>
              <a:noFill/>
            </a:ln>
          </p:spPr>
          <p:txBody>
            <a:bodyPr rtlCol="0" anchor="ctr"/>
            <a:lstStyle/>
            <a:p>
              <a:pPr algn="ctr"/>
              <a:endParaRPr/>
            </a:p>
          </p:txBody>
        </p:sp>
        <p:sp>
          <p:nvSpPr>
            <p:cNvPr id="7" name="Rectangle 6"/>
            <p:cNvSpPr/>
            <p:nvPr/>
          </p:nvSpPr>
          <p:spPr>
            <a:xfrm>
              <a:off x="1371600" y="3886200"/>
              <a:ext cx="219456" cy="1005839"/>
            </a:xfrm>
            <a:prstGeom prst="rect">
              <a:avLst/>
            </a:prstGeom>
            <a:noFill/>
            <a:ln w="25400">
              <a:solidFill>
                <a:srgbClr val="6CA0DC"/>
              </a:solidFill>
              <a:prstDash val="dash"/>
            </a:ln>
          </p:spPr>
          <p:txBody>
            <a:bodyPr rtlCol="0" anchor="ctr"/>
            <a:lstStyle/>
            <a:p>
              <a:pPr algn="ctr"/>
              <a:endParaRPr/>
            </a:p>
          </p:txBody>
        </p:sp>
        <p:sp>
          <p:nvSpPr>
            <p:cNvPr id="8" name="Rectangle 7"/>
            <p:cNvSpPr/>
            <p:nvPr/>
          </p:nvSpPr>
          <p:spPr>
            <a:xfrm>
              <a:off x="3337560" y="3886200"/>
              <a:ext cx="219456" cy="1005839"/>
            </a:xfrm>
            <a:prstGeom prst="rect">
              <a:avLst/>
            </a:prstGeom>
            <a:noFill/>
            <a:ln w="25400">
              <a:solidFill>
                <a:srgbClr val="6CA0DC"/>
              </a:solidFill>
              <a:prstDash val="dash"/>
            </a:ln>
          </p:spPr>
          <p:txBody>
            <a:bodyPr rtlCol="0" anchor="ctr"/>
            <a:lstStyle/>
            <a:p>
              <a:pPr algn="ctr"/>
              <a:endParaRPr/>
            </a:p>
          </p:txBody>
        </p:sp>
        <p:sp>
          <p:nvSpPr>
            <p:cNvPr id="9" name="Rectangle 8"/>
            <p:cNvSpPr/>
            <p:nvPr/>
          </p:nvSpPr>
          <p:spPr>
            <a:xfrm>
              <a:off x="5303520" y="3886200"/>
              <a:ext cx="219456" cy="1005839"/>
            </a:xfrm>
            <a:prstGeom prst="rect">
              <a:avLst/>
            </a:prstGeom>
            <a:noFill/>
            <a:ln w="25400">
              <a:solidFill>
                <a:srgbClr val="6CA0DC"/>
              </a:solidFill>
              <a:prstDash val="dash"/>
            </a:ln>
          </p:spPr>
          <p:txBody>
            <a:bodyPr rtlCol="0" anchor="ctr"/>
            <a:lstStyle/>
            <a:p>
              <a:pPr algn="ctr"/>
              <a:endParaRPr/>
            </a:p>
          </p:txBody>
        </p:sp>
        <p:sp>
          <p:nvSpPr>
            <p:cNvPr id="10" name="Rectangle 9"/>
            <p:cNvSpPr/>
            <p:nvPr/>
          </p:nvSpPr>
          <p:spPr>
            <a:xfrm>
              <a:off x="1005840" y="3246120"/>
              <a:ext cx="54864" cy="512064"/>
            </a:xfrm>
            <a:prstGeom prst="rect">
              <a:avLst/>
            </a:prstGeom>
            <a:solidFill>
              <a:srgbClr val="6B5B4B"/>
            </a:solidFill>
            <a:ln>
              <a:noFill/>
            </a:ln>
          </p:spPr>
          <p:txBody>
            <a:bodyPr rtlCol="0" anchor="ctr"/>
            <a:lstStyle/>
            <a:p>
              <a:pPr algn="ctr"/>
              <a:endParaRPr/>
            </a:p>
          </p:txBody>
        </p:sp>
        <p:sp>
          <p:nvSpPr>
            <p:cNvPr id="11" name="Rectangle 10"/>
            <p:cNvSpPr/>
            <p:nvPr/>
          </p:nvSpPr>
          <p:spPr>
            <a:xfrm>
              <a:off x="1371600" y="3246120"/>
              <a:ext cx="54864" cy="512064"/>
            </a:xfrm>
            <a:prstGeom prst="rect">
              <a:avLst/>
            </a:prstGeom>
            <a:solidFill>
              <a:srgbClr val="6B5B4B"/>
            </a:solidFill>
            <a:ln>
              <a:noFill/>
            </a:ln>
          </p:spPr>
          <p:txBody>
            <a:bodyPr rtlCol="0" anchor="ctr"/>
            <a:lstStyle/>
            <a:p>
              <a:pPr algn="ctr"/>
              <a:endParaRPr/>
            </a:p>
          </p:txBody>
        </p:sp>
        <p:sp>
          <p:nvSpPr>
            <p:cNvPr id="12" name="Rectangle 11"/>
            <p:cNvSpPr/>
            <p:nvPr/>
          </p:nvSpPr>
          <p:spPr>
            <a:xfrm>
              <a:off x="1737360" y="3246120"/>
              <a:ext cx="54864" cy="512064"/>
            </a:xfrm>
            <a:prstGeom prst="rect">
              <a:avLst/>
            </a:prstGeom>
            <a:solidFill>
              <a:srgbClr val="6B5B4B"/>
            </a:solidFill>
            <a:ln>
              <a:noFill/>
            </a:ln>
          </p:spPr>
          <p:txBody>
            <a:bodyPr rtlCol="0" anchor="ctr"/>
            <a:lstStyle/>
            <a:p>
              <a:pPr algn="ctr"/>
              <a:endParaRPr/>
            </a:p>
          </p:txBody>
        </p:sp>
        <p:sp>
          <p:nvSpPr>
            <p:cNvPr id="13" name="Rectangle 12"/>
            <p:cNvSpPr/>
            <p:nvPr/>
          </p:nvSpPr>
          <p:spPr>
            <a:xfrm>
              <a:off x="2103120" y="3246120"/>
              <a:ext cx="54864" cy="512064"/>
            </a:xfrm>
            <a:prstGeom prst="rect">
              <a:avLst/>
            </a:prstGeom>
            <a:solidFill>
              <a:srgbClr val="6B5B4B"/>
            </a:solidFill>
            <a:ln>
              <a:noFill/>
            </a:ln>
          </p:spPr>
          <p:txBody>
            <a:bodyPr rtlCol="0" anchor="ctr"/>
            <a:lstStyle/>
            <a:p>
              <a:pPr algn="ctr"/>
              <a:endParaRPr/>
            </a:p>
          </p:txBody>
        </p:sp>
        <p:sp>
          <p:nvSpPr>
            <p:cNvPr id="14" name="Rectangle 13"/>
            <p:cNvSpPr/>
            <p:nvPr/>
          </p:nvSpPr>
          <p:spPr>
            <a:xfrm>
              <a:off x="2468879" y="3246120"/>
              <a:ext cx="54864" cy="512064"/>
            </a:xfrm>
            <a:prstGeom prst="rect">
              <a:avLst/>
            </a:prstGeom>
            <a:solidFill>
              <a:srgbClr val="6B5B4B"/>
            </a:solidFill>
            <a:ln>
              <a:noFill/>
            </a:ln>
          </p:spPr>
          <p:txBody>
            <a:bodyPr rtlCol="0" anchor="ctr"/>
            <a:lstStyle/>
            <a:p>
              <a:pPr algn="ctr"/>
              <a:endParaRPr/>
            </a:p>
          </p:txBody>
        </p:sp>
        <p:sp>
          <p:nvSpPr>
            <p:cNvPr id="15" name="Rectangle 14"/>
            <p:cNvSpPr/>
            <p:nvPr/>
          </p:nvSpPr>
          <p:spPr>
            <a:xfrm>
              <a:off x="2834639" y="3246120"/>
              <a:ext cx="54864" cy="512064"/>
            </a:xfrm>
            <a:prstGeom prst="rect">
              <a:avLst/>
            </a:prstGeom>
            <a:solidFill>
              <a:srgbClr val="6B5B4B"/>
            </a:solidFill>
            <a:ln>
              <a:noFill/>
            </a:ln>
          </p:spPr>
          <p:txBody>
            <a:bodyPr rtlCol="0" anchor="ctr"/>
            <a:lstStyle/>
            <a:p>
              <a:pPr algn="ctr"/>
              <a:endParaRPr/>
            </a:p>
          </p:txBody>
        </p:sp>
        <p:sp>
          <p:nvSpPr>
            <p:cNvPr id="16" name="Rectangle 15"/>
            <p:cNvSpPr/>
            <p:nvPr/>
          </p:nvSpPr>
          <p:spPr>
            <a:xfrm>
              <a:off x="3200399" y="3246120"/>
              <a:ext cx="54864" cy="512064"/>
            </a:xfrm>
            <a:prstGeom prst="rect">
              <a:avLst/>
            </a:prstGeom>
            <a:solidFill>
              <a:srgbClr val="6B5B4B"/>
            </a:solidFill>
            <a:ln>
              <a:noFill/>
            </a:ln>
          </p:spPr>
          <p:txBody>
            <a:bodyPr rtlCol="0" anchor="ctr"/>
            <a:lstStyle/>
            <a:p>
              <a:pPr algn="ctr"/>
              <a:endParaRPr/>
            </a:p>
          </p:txBody>
        </p:sp>
        <p:sp>
          <p:nvSpPr>
            <p:cNvPr id="17" name="Rectangle 16"/>
            <p:cNvSpPr/>
            <p:nvPr/>
          </p:nvSpPr>
          <p:spPr>
            <a:xfrm>
              <a:off x="3566159" y="3246120"/>
              <a:ext cx="54864" cy="512064"/>
            </a:xfrm>
            <a:prstGeom prst="rect">
              <a:avLst/>
            </a:prstGeom>
            <a:solidFill>
              <a:srgbClr val="6B5B4B"/>
            </a:solidFill>
            <a:ln>
              <a:noFill/>
            </a:ln>
          </p:spPr>
          <p:txBody>
            <a:bodyPr rtlCol="0" anchor="ctr"/>
            <a:lstStyle/>
            <a:p>
              <a:pPr algn="ctr"/>
              <a:endParaRPr/>
            </a:p>
          </p:txBody>
        </p:sp>
        <p:sp>
          <p:nvSpPr>
            <p:cNvPr id="18" name="Rectangle 17"/>
            <p:cNvSpPr/>
            <p:nvPr/>
          </p:nvSpPr>
          <p:spPr>
            <a:xfrm>
              <a:off x="3931920" y="3246120"/>
              <a:ext cx="54864" cy="512064"/>
            </a:xfrm>
            <a:prstGeom prst="rect">
              <a:avLst/>
            </a:prstGeom>
            <a:solidFill>
              <a:srgbClr val="6B5B4B"/>
            </a:solidFill>
            <a:ln>
              <a:noFill/>
            </a:ln>
          </p:spPr>
          <p:txBody>
            <a:bodyPr rtlCol="0" anchor="ctr"/>
            <a:lstStyle/>
            <a:p>
              <a:pPr algn="ctr"/>
              <a:endParaRPr/>
            </a:p>
          </p:txBody>
        </p:sp>
        <p:sp>
          <p:nvSpPr>
            <p:cNvPr id="19" name="Rectangle 18"/>
            <p:cNvSpPr/>
            <p:nvPr/>
          </p:nvSpPr>
          <p:spPr>
            <a:xfrm>
              <a:off x="4297680" y="3246120"/>
              <a:ext cx="54864" cy="512064"/>
            </a:xfrm>
            <a:prstGeom prst="rect">
              <a:avLst/>
            </a:prstGeom>
            <a:solidFill>
              <a:srgbClr val="6B5B4B"/>
            </a:solidFill>
            <a:ln>
              <a:noFill/>
            </a:ln>
          </p:spPr>
          <p:txBody>
            <a:bodyPr rtlCol="0" anchor="ctr"/>
            <a:lstStyle/>
            <a:p>
              <a:pPr algn="ctr"/>
              <a:endParaRPr/>
            </a:p>
          </p:txBody>
        </p:sp>
        <p:sp>
          <p:nvSpPr>
            <p:cNvPr id="20" name="Rectangle 19"/>
            <p:cNvSpPr/>
            <p:nvPr/>
          </p:nvSpPr>
          <p:spPr>
            <a:xfrm>
              <a:off x="4663440" y="3246120"/>
              <a:ext cx="54864" cy="512064"/>
            </a:xfrm>
            <a:prstGeom prst="rect">
              <a:avLst/>
            </a:prstGeom>
            <a:solidFill>
              <a:srgbClr val="6B5B4B"/>
            </a:solidFill>
            <a:ln>
              <a:noFill/>
            </a:ln>
          </p:spPr>
          <p:txBody>
            <a:bodyPr rtlCol="0" anchor="ctr"/>
            <a:lstStyle/>
            <a:p>
              <a:pPr algn="ctr"/>
              <a:endParaRPr/>
            </a:p>
          </p:txBody>
        </p:sp>
        <p:sp>
          <p:nvSpPr>
            <p:cNvPr id="21" name="Rectangle 20"/>
            <p:cNvSpPr/>
            <p:nvPr/>
          </p:nvSpPr>
          <p:spPr>
            <a:xfrm>
              <a:off x="5029200" y="3246120"/>
              <a:ext cx="54864" cy="512064"/>
            </a:xfrm>
            <a:prstGeom prst="rect">
              <a:avLst/>
            </a:prstGeom>
            <a:solidFill>
              <a:srgbClr val="6B5B4B"/>
            </a:solidFill>
            <a:ln>
              <a:noFill/>
            </a:ln>
          </p:spPr>
          <p:txBody>
            <a:bodyPr rtlCol="0" anchor="ctr"/>
            <a:lstStyle/>
            <a:p>
              <a:pPr algn="ctr"/>
              <a:endParaRPr/>
            </a:p>
          </p:txBody>
        </p:sp>
        <p:sp>
          <p:nvSpPr>
            <p:cNvPr id="22" name="Rectangle 21"/>
            <p:cNvSpPr/>
            <p:nvPr/>
          </p:nvSpPr>
          <p:spPr>
            <a:xfrm>
              <a:off x="5394960" y="3246120"/>
              <a:ext cx="54864" cy="512064"/>
            </a:xfrm>
            <a:prstGeom prst="rect">
              <a:avLst/>
            </a:prstGeom>
            <a:solidFill>
              <a:srgbClr val="6B5B4B"/>
            </a:solidFill>
            <a:ln>
              <a:noFill/>
            </a:ln>
          </p:spPr>
          <p:txBody>
            <a:bodyPr rtlCol="0" anchor="ctr"/>
            <a:lstStyle/>
            <a:p>
              <a:pPr algn="ctr"/>
              <a:endParaRPr/>
            </a:p>
          </p:txBody>
        </p:sp>
        <p:sp>
          <p:nvSpPr>
            <p:cNvPr id="23" name="Rectangle 22"/>
            <p:cNvSpPr/>
            <p:nvPr/>
          </p:nvSpPr>
          <p:spPr>
            <a:xfrm>
              <a:off x="5760720" y="3246120"/>
              <a:ext cx="54864" cy="512064"/>
            </a:xfrm>
            <a:prstGeom prst="rect">
              <a:avLst/>
            </a:prstGeom>
            <a:solidFill>
              <a:srgbClr val="6B5B4B"/>
            </a:solidFill>
            <a:ln>
              <a:noFill/>
            </a:ln>
          </p:spPr>
          <p:txBody>
            <a:bodyPr rtlCol="0" anchor="ctr"/>
            <a:lstStyle/>
            <a:p>
              <a:pPr algn="ctr"/>
              <a:endParaRPr/>
            </a:p>
          </p:txBody>
        </p:sp>
        <p:sp>
          <p:nvSpPr>
            <p:cNvPr id="24" name="Rectangle 23"/>
            <p:cNvSpPr/>
            <p:nvPr/>
          </p:nvSpPr>
          <p:spPr>
            <a:xfrm>
              <a:off x="6126480" y="3246120"/>
              <a:ext cx="54864" cy="512064"/>
            </a:xfrm>
            <a:prstGeom prst="rect">
              <a:avLst/>
            </a:prstGeom>
            <a:solidFill>
              <a:srgbClr val="6B5B4B"/>
            </a:solidFill>
            <a:ln>
              <a:noFill/>
            </a:ln>
          </p:spPr>
          <p:txBody>
            <a:bodyPr rtlCol="0" anchor="ctr"/>
            <a:lstStyle/>
            <a:p>
              <a:pPr algn="ctr"/>
              <a:endParaRPr/>
            </a:p>
          </p:txBody>
        </p:sp>
        <p:sp>
          <p:nvSpPr>
            <p:cNvPr id="25" name="Rectangle 24"/>
            <p:cNvSpPr/>
            <p:nvPr/>
          </p:nvSpPr>
          <p:spPr>
            <a:xfrm>
              <a:off x="914400" y="3310128"/>
              <a:ext cx="5577840" cy="73152"/>
            </a:xfrm>
            <a:prstGeom prst="rect">
              <a:avLst/>
            </a:prstGeom>
            <a:solidFill>
              <a:srgbClr val="F28C28"/>
            </a:solidFill>
            <a:ln>
              <a:noFill/>
            </a:ln>
          </p:spPr>
          <p:txBody>
            <a:bodyPr rtlCol="0" anchor="ctr"/>
            <a:lstStyle/>
            <a:p>
              <a:pPr algn="ctr"/>
              <a:endParaRPr/>
            </a:p>
          </p:txBody>
        </p:sp>
        <p:sp>
          <p:nvSpPr>
            <p:cNvPr id="26" name="Rectangle 25"/>
            <p:cNvSpPr/>
            <p:nvPr/>
          </p:nvSpPr>
          <p:spPr>
            <a:xfrm>
              <a:off x="914400" y="3621024"/>
              <a:ext cx="5577840" cy="73152"/>
            </a:xfrm>
            <a:prstGeom prst="rect">
              <a:avLst/>
            </a:prstGeom>
            <a:solidFill>
              <a:srgbClr val="F28C28"/>
            </a:solidFill>
            <a:ln>
              <a:noFill/>
            </a:ln>
          </p:spPr>
          <p:txBody>
            <a:bodyPr rtlCol="0" anchor="ctr"/>
            <a:lstStyle/>
            <a:p>
              <a:pPr algn="ctr"/>
              <a:endParaRPr/>
            </a:p>
          </p:txBody>
        </p:sp>
        <p:sp>
          <p:nvSpPr>
            <p:cNvPr id="27" name="Rounded Rectangle 26"/>
            <p:cNvSpPr/>
            <p:nvPr/>
          </p:nvSpPr>
          <p:spPr>
            <a:xfrm>
              <a:off x="822960" y="3017520"/>
              <a:ext cx="5760720" cy="868680"/>
            </a:xfrm>
            <a:prstGeom prst="roundRect">
              <a:avLst>
                <a:gd name="adj" fmla="val 10526"/>
              </a:avLst>
            </a:prstGeom>
            <a:solidFill>
              <a:srgbClr val="6CA0DC">
                <a:alpha val="35000"/>
              </a:srgbClr>
            </a:solidFill>
            <a:ln w="31750">
              <a:solidFill>
                <a:srgbClr val="6CA0DC"/>
              </a:solidFill>
              <a:prstDash val="dash"/>
            </a:ln>
          </p:spPr>
          <p:txBody>
            <a:bodyPr rtlCol="0" anchor="ctr"/>
            <a:lstStyle/>
            <a:p>
              <a:pPr algn="ctr"/>
              <a:endParaRPr/>
            </a:p>
          </p:txBody>
        </p:sp>
        <p:sp>
          <p:nvSpPr>
            <p:cNvPr id="28" name="TextBox 27"/>
            <p:cNvSpPr txBox="1"/>
            <p:nvPr/>
          </p:nvSpPr>
          <p:spPr>
            <a:xfrm>
              <a:off x="822960" y="1645920"/>
              <a:ext cx="2377440" cy="411480"/>
            </a:xfrm>
            <a:prstGeom prst="rect">
              <a:avLst/>
            </a:prstGeom>
            <a:noFill/>
          </p:spPr>
          <p:txBody>
            <a:bodyPr wrap="square" lIns="18288" tIns="9144" rIns="18288" bIns="9144" anchor="ctr">
              <a:noAutofit/>
            </a:bodyPr>
            <a:lstStyle/>
            <a:p>
              <a:pPr algn="l"/>
              <a:r>
                <a:rPr lang="en-GB" sz="1800" b="1" i="0">
                  <a:solidFill>
                    <a:srgbClr val="6CA0DC"/>
                  </a:solidFill>
                  <a:latin typeface="Arial"/>
                </a:rPr>
                <a:t>Hologram preview</a:t>
              </a:r>
            </a:p>
          </p:txBody>
        </p:sp>
        <p:cxnSp>
          <p:nvCxnSpPr>
            <p:cNvPr id="29" name="Connector 28"/>
            <p:cNvCxnSpPr/>
            <p:nvPr/>
          </p:nvCxnSpPr>
          <p:spPr>
            <a:xfrm>
              <a:off x="2011680" y="2103120"/>
              <a:ext cx="0" cy="822960"/>
            </a:xfrm>
            <a:prstGeom prst="line">
              <a:avLst/>
            </a:prstGeom>
            <a:ln w="28575">
              <a:solidFill>
                <a:srgbClr val="6CA0DC"/>
              </a:solidFill>
              <a:tailEnd type="triangle" w="med" len="med"/>
            </a:ln>
          </p:spPr>
        </p:cxnSp>
      </p:grpSp>
      <p:grpSp>
        <p:nvGrpSpPr>
          <p:cNvPr id="30" name="DIAGRAM warning dialog" descr="A warning dialog: Steam trains cannot use this section. Two buttons, Confirm and Cancel."/>
          <p:cNvGrpSpPr/>
          <p:nvPr/>
        </p:nvGrpSpPr>
        <p:grpSpPr>
          <a:xfrm>
            <a:off x="7178040" y="1371600"/>
            <a:ext cx="4462272" cy="4023360"/>
            <a:chOff x="7178040" y="1371600"/>
            <a:chExt cx="4462272" cy="4023360"/>
          </a:xfrm>
        </p:grpSpPr>
        <p:sp>
          <p:nvSpPr>
            <p:cNvPr id="31" name="Rounded Rectangle 30"/>
            <p:cNvSpPr/>
            <p:nvPr/>
          </p:nvSpPr>
          <p:spPr>
            <a:xfrm>
              <a:off x="7178040" y="1371600"/>
              <a:ext cx="4462272" cy="4023360"/>
            </a:xfrm>
            <a:prstGeom prst="roundRect">
              <a:avLst>
                <a:gd name="adj" fmla="val 1818"/>
              </a:avLst>
            </a:prstGeom>
            <a:solidFill>
              <a:srgbClr val="343A43"/>
            </a:solidFill>
            <a:ln>
              <a:noFill/>
            </a:ln>
          </p:spPr>
          <p:txBody>
            <a:bodyPr rtlCol="0" anchor="ctr"/>
            <a:lstStyle/>
            <a:p>
              <a:pPr algn="ctr"/>
              <a:endParaRPr/>
            </a:p>
          </p:txBody>
        </p:sp>
        <p:sp>
          <p:nvSpPr>
            <p:cNvPr id="32" name="Rounded Rectangle 31"/>
            <p:cNvSpPr/>
            <p:nvPr/>
          </p:nvSpPr>
          <p:spPr>
            <a:xfrm>
              <a:off x="7452360" y="1691640"/>
              <a:ext cx="3913632" cy="2103120"/>
            </a:xfrm>
            <a:prstGeom prst="roundRect">
              <a:avLst>
                <a:gd name="adj" fmla="val 3478"/>
              </a:avLst>
            </a:prstGeom>
            <a:solidFill>
              <a:srgbClr val="F2C14E"/>
            </a:solidFill>
            <a:ln>
              <a:noFill/>
            </a:ln>
          </p:spPr>
          <p:txBody>
            <a:bodyPr rtlCol="0" anchor="ctr"/>
            <a:lstStyle/>
            <a:p>
              <a:pPr algn="ctr"/>
              <a:endParaRPr/>
            </a:p>
          </p:txBody>
        </p:sp>
        <p:grpSp>
          <p:nvGrpSpPr>
            <p:cNvPr id="33" name="WARNING" descr="Warning triangle"/>
            <p:cNvGrpSpPr/>
            <p:nvPr/>
          </p:nvGrpSpPr>
          <p:grpSpPr>
            <a:xfrm>
              <a:off x="7680960" y="2450592"/>
              <a:ext cx="658368" cy="585216"/>
              <a:chOff x="7680960" y="2450592"/>
              <a:chExt cx="658368" cy="585216"/>
            </a:xfrm>
          </p:grpSpPr>
          <p:sp>
            <p:nvSpPr>
              <p:cNvPr id="34" name="Freeform 33"/>
              <p:cNvSpPr/>
              <p:nvPr/>
            </p:nvSpPr>
            <p:spPr>
              <a:xfrm>
                <a:off x="7680960" y="2450592"/>
                <a:ext cx="658368" cy="585216"/>
              </a:xfrm>
              <a:custGeom>
                <a:avLst/>
                <a:gdLst/>
                <a:ahLst/>
                <a:cxnLst/>
                <a:rect l="l" t="t" r="r" b="b"/>
                <a:pathLst>
                  <a:path w="658368" h="585216">
                    <a:moveTo>
                      <a:pt x="329184" y="0"/>
                    </a:moveTo>
                    <a:lnTo>
                      <a:pt x="658368" y="585216"/>
                    </a:lnTo>
                    <a:lnTo>
                      <a:pt x="0" y="585216"/>
                    </a:lnTo>
                    <a:close/>
                  </a:path>
                </a:pathLst>
              </a:custGeom>
              <a:solidFill>
                <a:srgbClr val="101418"/>
              </a:solidFill>
              <a:ln w="25400">
                <a:solidFill>
                  <a:srgbClr val="101418"/>
                </a:solidFill>
              </a:ln>
            </p:spPr>
            <p:txBody>
              <a:bodyPr rtlCol="0" anchor="ctr"/>
              <a:lstStyle/>
              <a:p>
                <a:pPr algn="ctr"/>
                <a:endParaRPr/>
              </a:p>
            </p:txBody>
          </p:sp>
          <p:sp>
            <p:nvSpPr>
              <p:cNvPr id="35" name="TextBox 34"/>
              <p:cNvSpPr txBox="1"/>
              <p:nvPr/>
            </p:nvSpPr>
            <p:spPr>
              <a:xfrm>
                <a:off x="7680960" y="2626156"/>
                <a:ext cx="658368" cy="409651"/>
              </a:xfrm>
              <a:prstGeom prst="rect">
                <a:avLst/>
              </a:prstGeom>
              <a:noFill/>
            </p:spPr>
            <p:txBody>
              <a:bodyPr wrap="square" lIns="0" tIns="0" rIns="0" bIns="0" anchor="ctr">
                <a:noAutofit/>
              </a:bodyPr>
              <a:lstStyle/>
              <a:p>
                <a:pPr algn="ctr"/>
                <a:r>
                  <a:rPr lang="en-GB" sz="2600" b="1" i="0">
                    <a:solidFill>
                      <a:srgbClr val="F2C14E"/>
                    </a:solidFill>
                    <a:latin typeface="Arial"/>
                  </a:rPr>
                  <a:t>!</a:t>
                </a:r>
              </a:p>
            </p:txBody>
          </p:sp>
        </p:grpSp>
        <p:sp>
          <p:nvSpPr>
            <p:cNvPr id="36" name="TextBox 35"/>
            <p:cNvSpPr txBox="1"/>
            <p:nvPr/>
          </p:nvSpPr>
          <p:spPr>
            <a:xfrm>
              <a:off x="8503920" y="1828800"/>
              <a:ext cx="2743200" cy="1828800"/>
            </a:xfrm>
            <a:prstGeom prst="rect">
              <a:avLst/>
            </a:prstGeom>
            <a:noFill/>
          </p:spPr>
          <p:txBody>
            <a:bodyPr wrap="square" lIns="18288" tIns="9144" rIns="18288" bIns="9144" anchor="ctr">
              <a:noAutofit/>
            </a:bodyPr>
            <a:lstStyle/>
            <a:p>
              <a:pPr algn="l"/>
              <a:r>
                <a:rPr lang="en-GB" sz="2000" b="1" i="0">
                  <a:solidFill>
                    <a:srgbClr val="101418"/>
                  </a:solidFill>
                  <a:latin typeface="Arial"/>
                </a:rPr>
                <a:t>Steam trains cannot use this section.</a:t>
              </a:r>
            </a:p>
          </p:txBody>
        </p:sp>
        <p:sp>
          <p:nvSpPr>
            <p:cNvPr id="37" name="Rounded Rectangle 36"/>
            <p:cNvSpPr/>
            <p:nvPr/>
          </p:nvSpPr>
          <p:spPr>
            <a:xfrm>
              <a:off x="7452360" y="4343400"/>
              <a:ext cx="1828800" cy="640080"/>
            </a:xfrm>
            <a:prstGeom prst="roundRect">
              <a:avLst>
                <a:gd name="adj" fmla="val 14285"/>
              </a:avLst>
            </a:prstGeom>
            <a:solidFill>
              <a:srgbClr val="F28C28"/>
            </a:solidFill>
            <a:ln>
              <a:noFill/>
            </a:ln>
          </p:spPr>
          <p:txBody>
            <a:bodyPr wrap="square" lIns="54864" tIns="27432" rIns="54864" bIns="27432" rtlCol="0" anchor="ctr">
              <a:noAutofit/>
            </a:bodyPr>
            <a:lstStyle/>
            <a:p>
              <a:pPr algn="ctr"/>
              <a:r>
                <a:rPr lang="en-GB" sz="2000" b="1" i="0">
                  <a:solidFill>
                    <a:srgbClr val="101418"/>
                  </a:solidFill>
                  <a:latin typeface="Arial"/>
                </a:rPr>
                <a:t>Confirm</a:t>
              </a:r>
            </a:p>
          </p:txBody>
        </p:sp>
        <p:sp>
          <p:nvSpPr>
            <p:cNvPr id="38" name="Rounded Rectangle 37"/>
            <p:cNvSpPr/>
            <p:nvPr/>
          </p:nvSpPr>
          <p:spPr>
            <a:xfrm>
              <a:off x="9537192" y="4343400"/>
              <a:ext cx="1828800" cy="640080"/>
            </a:xfrm>
            <a:prstGeom prst="roundRect">
              <a:avLst>
                <a:gd name="adj" fmla="val 14285"/>
              </a:avLst>
            </a:prstGeom>
            <a:noFill/>
            <a:ln w="25400">
              <a:solidFill>
                <a:srgbClr val="F2F2F2"/>
              </a:solidFill>
            </a:ln>
          </p:spPr>
          <p:txBody>
            <a:bodyPr wrap="square" lIns="54864" tIns="27432" rIns="54864" bIns="27432" rtlCol="0" anchor="ctr">
              <a:noAutofit/>
            </a:bodyPr>
            <a:lstStyle/>
            <a:p>
              <a:pPr algn="ctr"/>
              <a:r>
                <a:rPr lang="en-GB" sz="2000" b="1" i="0">
                  <a:solidFill>
                    <a:srgbClr val="F2F2F2"/>
                  </a:solidFill>
                  <a:latin typeface="Arial"/>
                </a:rPr>
                <a:t>Cancel</a:t>
              </a:r>
            </a:p>
          </p:txBody>
        </p:sp>
      </p:grpSp>
      <p:sp>
        <p:nvSpPr>
          <p:cNvPr id="3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4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41"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Before you confirm, the game warns you. Steam trains cannot use the new track.</a:t>
            </a:r>
          </a:p>
        </p:txBody>
      </p:sp>
      <p:sp>
        <p:nvSpPr>
          <p:cNvPr id="42"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8</a:t>
            </a:r>
          </a:p>
        </p:txBody>
      </p:sp>
    </p:spTree>
    <p:extLst>
      <p:ext uri="{BB962C8B-B14F-4D97-AF65-F5344CB8AC3E}">
        <p14:creationId xmlns:p14="http://schemas.microsoft.com/office/powerpoint/2010/main" val="1505531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60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nodeType="withEffect">
                                  <p:stCondLst>
                                    <p:cond delay="90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par>
                                <p:cTn id="17" presetID="10" presetClass="entr" presetSubtype="0" fill="hold" nodeType="withEffect">
                                  <p:stCondLst>
                                    <p:cond delay="120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Will every shape fit?</a:t>
            </a:r>
          </a:p>
        </p:txBody>
      </p:sp>
      <p:sp>
        <p:nvSpPr>
          <p:cNvPr id="3" name="CHIP"/>
          <p:cNvSpPr/>
          <p:nvPr/>
        </p:nvSpPr>
        <p:spPr>
          <a:xfrm>
            <a:off x="10088575" y="548640"/>
            <a:ext cx="1554480" cy="365760"/>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a:t>
            </a:r>
          </a:p>
        </p:txBody>
      </p:sp>
      <p:grpSp>
        <p:nvGrpSpPr>
          <p:cNvPr id="4" name="DIAGRAM sloping track" descr="A curved, sloping piece of track on rising ground, with five markers pointing at the places that need checking."/>
          <p:cNvGrpSpPr/>
          <p:nvPr/>
        </p:nvGrpSpPr>
        <p:grpSpPr>
          <a:xfrm>
            <a:off x="548640" y="1325880"/>
            <a:ext cx="11091672" cy="2606040"/>
            <a:chOff x="548640" y="1325880"/>
            <a:chExt cx="11091672" cy="2606040"/>
          </a:xfrm>
        </p:grpSpPr>
        <p:sp>
          <p:nvSpPr>
            <p:cNvPr id="5" name="Rounded Rectangle 4"/>
            <p:cNvSpPr/>
            <p:nvPr/>
          </p:nvSpPr>
          <p:spPr>
            <a:xfrm>
              <a:off x="548640" y="1325880"/>
              <a:ext cx="11091672" cy="2331720"/>
            </a:xfrm>
            <a:prstGeom prst="roundRect">
              <a:avLst>
                <a:gd name="adj" fmla="val 3137"/>
              </a:avLst>
            </a:prstGeom>
            <a:solidFill>
              <a:srgbClr val="2B2F36"/>
            </a:solidFill>
            <a:ln>
              <a:noFill/>
            </a:ln>
          </p:spPr>
          <p:txBody>
            <a:bodyPr rtlCol="0" anchor="ctr"/>
            <a:lstStyle/>
            <a:p>
              <a:pPr algn="ctr"/>
              <a:endParaRPr/>
            </a:p>
          </p:txBody>
        </p:sp>
        <p:sp>
          <p:nvSpPr>
            <p:cNvPr id="6" name="Freeform 5"/>
            <p:cNvSpPr/>
            <p:nvPr/>
          </p:nvSpPr>
          <p:spPr>
            <a:xfrm>
              <a:off x="914400" y="1880186"/>
              <a:ext cx="10332720" cy="1685974"/>
            </a:xfrm>
            <a:custGeom>
              <a:avLst/>
              <a:gdLst/>
              <a:ahLst/>
              <a:cxnLst/>
              <a:rect l="l" t="t" r="r" b="b"/>
              <a:pathLst>
                <a:path w="10332720" h="1685974">
                  <a:moveTo>
                    <a:pt x="0" y="1228774"/>
                  </a:moveTo>
                  <a:lnTo>
                    <a:pt x="129159" y="1271038"/>
                  </a:lnTo>
                  <a:lnTo>
                    <a:pt x="258318" y="1311929"/>
                  </a:lnTo>
                  <a:lnTo>
                    <a:pt x="387477" y="1350105"/>
                  </a:lnTo>
                  <a:lnTo>
                    <a:pt x="516636" y="1384294"/>
                  </a:lnTo>
                  <a:lnTo>
                    <a:pt x="645795" y="1413325"/>
                  </a:lnTo>
                  <a:lnTo>
                    <a:pt x="774954" y="1436155"/>
                  </a:lnTo>
                  <a:lnTo>
                    <a:pt x="904113" y="1451896"/>
                  </a:lnTo>
                  <a:lnTo>
                    <a:pt x="1033272" y="1459839"/>
                  </a:lnTo>
                  <a:lnTo>
                    <a:pt x="1162431" y="1459469"/>
                  </a:lnTo>
                  <a:lnTo>
                    <a:pt x="1291590" y="1450481"/>
                  </a:lnTo>
                  <a:lnTo>
                    <a:pt x="1420749" y="1432785"/>
                  </a:lnTo>
                  <a:lnTo>
                    <a:pt x="1549908" y="1406509"/>
                  </a:lnTo>
                  <a:lnTo>
                    <a:pt x="1679067" y="1371997"/>
                  </a:lnTo>
                  <a:lnTo>
                    <a:pt x="1808226" y="1329798"/>
                  </a:lnTo>
                  <a:lnTo>
                    <a:pt x="1937385" y="1280655"/>
                  </a:lnTo>
                  <a:lnTo>
                    <a:pt x="2066544" y="1225485"/>
                  </a:lnTo>
                  <a:lnTo>
                    <a:pt x="2195703" y="1165356"/>
                  </a:lnTo>
                  <a:lnTo>
                    <a:pt x="2324862" y="1101458"/>
                  </a:lnTo>
                  <a:lnTo>
                    <a:pt x="2454021" y="1035080"/>
                  </a:lnTo>
                  <a:lnTo>
                    <a:pt x="2583180" y="967568"/>
                  </a:lnTo>
                  <a:lnTo>
                    <a:pt x="2712339" y="900301"/>
                  </a:lnTo>
                  <a:lnTo>
                    <a:pt x="2841498" y="834649"/>
                  </a:lnTo>
                  <a:lnTo>
                    <a:pt x="2970657" y="771942"/>
                  </a:lnTo>
                  <a:lnTo>
                    <a:pt x="3099816" y="713438"/>
                  </a:lnTo>
                  <a:lnTo>
                    <a:pt x="3228975" y="660287"/>
                  </a:lnTo>
                  <a:lnTo>
                    <a:pt x="3358134" y="613506"/>
                  </a:lnTo>
                  <a:lnTo>
                    <a:pt x="3487293" y="573953"/>
                  </a:lnTo>
                  <a:lnTo>
                    <a:pt x="3616452" y="542303"/>
                  </a:lnTo>
                  <a:lnTo>
                    <a:pt x="3745611" y="519036"/>
                  </a:lnTo>
                  <a:lnTo>
                    <a:pt x="3874770" y="504419"/>
                  </a:lnTo>
                  <a:lnTo>
                    <a:pt x="4003929" y="498503"/>
                  </a:lnTo>
                  <a:lnTo>
                    <a:pt x="4133088" y="501122"/>
                  </a:lnTo>
                  <a:lnTo>
                    <a:pt x="4262247" y="511895"/>
                  </a:lnTo>
                  <a:lnTo>
                    <a:pt x="4391406" y="530236"/>
                  </a:lnTo>
                  <a:lnTo>
                    <a:pt x="4520565" y="555371"/>
                  </a:lnTo>
                  <a:lnTo>
                    <a:pt x="4649724" y="586354"/>
                  </a:lnTo>
                  <a:lnTo>
                    <a:pt x="4778883" y="622095"/>
                  </a:lnTo>
                  <a:lnTo>
                    <a:pt x="4908042" y="661381"/>
                  </a:lnTo>
                  <a:lnTo>
                    <a:pt x="5037201" y="702914"/>
                  </a:lnTo>
                  <a:lnTo>
                    <a:pt x="5166360" y="745336"/>
                  </a:lnTo>
                  <a:lnTo>
                    <a:pt x="5295519" y="787271"/>
                  </a:lnTo>
                  <a:lnTo>
                    <a:pt x="5424678" y="827351"/>
                  </a:lnTo>
                  <a:lnTo>
                    <a:pt x="5553837" y="864257"/>
                  </a:lnTo>
                  <a:lnTo>
                    <a:pt x="5682996" y="896748"/>
                  </a:lnTo>
                  <a:lnTo>
                    <a:pt x="5812155" y="923696"/>
                  </a:lnTo>
                  <a:lnTo>
                    <a:pt x="5941314" y="944109"/>
                  </a:lnTo>
                  <a:lnTo>
                    <a:pt x="6070473" y="957161"/>
                  </a:lnTo>
                  <a:lnTo>
                    <a:pt x="6199632" y="962209"/>
                  </a:lnTo>
                  <a:lnTo>
                    <a:pt x="6328791" y="958813"/>
                  </a:lnTo>
                  <a:lnTo>
                    <a:pt x="6457950" y="946742"/>
                  </a:lnTo>
                  <a:lnTo>
                    <a:pt x="6587109" y="925982"/>
                  </a:lnTo>
                  <a:lnTo>
                    <a:pt x="6716268" y="896741"/>
                  </a:lnTo>
                  <a:lnTo>
                    <a:pt x="6845427" y="859434"/>
                  </a:lnTo>
                  <a:lnTo>
                    <a:pt x="6974586" y="814683"/>
                  </a:lnTo>
                  <a:lnTo>
                    <a:pt x="7103745" y="763294"/>
                  </a:lnTo>
                  <a:lnTo>
                    <a:pt x="7232904" y="706239"/>
                  </a:lnTo>
                  <a:lnTo>
                    <a:pt x="7362063" y="644634"/>
                  </a:lnTo>
                  <a:lnTo>
                    <a:pt x="7491222" y="579707"/>
                  </a:lnTo>
                  <a:lnTo>
                    <a:pt x="7620381" y="512771"/>
                  </a:lnTo>
                  <a:lnTo>
                    <a:pt x="7749540" y="445188"/>
                  </a:lnTo>
                  <a:lnTo>
                    <a:pt x="7878699" y="378337"/>
                  </a:lnTo>
                  <a:lnTo>
                    <a:pt x="8007858" y="313579"/>
                  </a:lnTo>
                  <a:lnTo>
                    <a:pt x="8137017" y="252221"/>
                  </a:lnTo>
                  <a:lnTo>
                    <a:pt x="8266176" y="195486"/>
                  </a:lnTo>
                  <a:lnTo>
                    <a:pt x="8395335" y="144481"/>
                  </a:lnTo>
                  <a:lnTo>
                    <a:pt x="8524494" y="100170"/>
                  </a:lnTo>
                  <a:lnTo>
                    <a:pt x="8653653" y="63347"/>
                  </a:lnTo>
                  <a:lnTo>
                    <a:pt x="8782812" y="34621"/>
                  </a:lnTo>
                  <a:lnTo>
                    <a:pt x="8911971" y="14396"/>
                  </a:lnTo>
                  <a:lnTo>
                    <a:pt x="9041130" y="2865"/>
                  </a:lnTo>
                  <a:lnTo>
                    <a:pt x="9170289" y="0"/>
                  </a:lnTo>
                  <a:lnTo>
                    <a:pt x="9299448" y="5560"/>
                  </a:lnTo>
                  <a:lnTo>
                    <a:pt x="9428607" y="19088"/>
                  </a:lnTo>
                  <a:lnTo>
                    <a:pt x="9557766" y="39932"/>
                  </a:lnTo>
                  <a:lnTo>
                    <a:pt x="9686925" y="67254"/>
                  </a:lnTo>
                  <a:lnTo>
                    <a:pt x="9816084" y="100053"/>
                  </a:lnTo>
                  <a:lnTo>
                    <a:pt x="9945243" y="137192"/>
                  </a:lnTo>
                  <a:lnTo>
                    <a:pt x="10074402" y="177426"/>
                  </a:lnTo>
                  <a:lnTo>
                    <a:pt x="10203561" y="219430"/>
                  </a:lnTo>
                  <a:lnTo>
                    <a:pt x="10332720" y="261838"/>
                  </a:lnTo>
                  <a:lnTo>
                    <a:pt x="10332720" y="1685974"/>
                  </a:lnTo>
                  <a:lnTo>
                    <a:pt x="0" y="1685974"/>
                  </a:lnTo>
                  <a:close/>
                </a:path>
              </a:pathLst>
            </a:custGeom>
            <a:solidFill>
              <a:srgbClr val="343A43"/>
            </a:solidFill>
            <a:ln>
              <a:noFill/>
            </a:ln>
          </p:spPr>
          <p:txBody>
            <a:bodyPr rtlCol="0" anchor="ctr"/>
            <a:lstStyle/>
            <a:p>
              <a:pPr algn="ctr"/>
              <a:endParaRPr/>
            </a:p>
          </p:txBody>
        </p:sp>
        <p:cxnSp>
          <p:nvCxnSpPr>
            <p:cNvPr id="7" name="Connector 6"/>
            <p:cNvCxnSpPr/>
            <p:nvPr/>
          </p:nvCxnSpPr>
          <p:spPr>
            <a:xfrm flipH="1">
              <a:off x="857523" y="2935149"/>
              <a:ext cx="113753" cy="347621"/>
            </a:xfrm>
            <a:prstGeom prst="line">
              <a:avLst/>
            </a:prstGeom>
            <a:ln w="44450">
              <a:solidFill>
                <a:srgbClr val="6B5B4B"/>
              </a:solidFill>
            </a:ln>
          </p:spPr>
        </p:cxnSp>
        <p:cxnSp>
          <p:nvCxnSpPr>
            <p:cNvPr id="8" name="Connector 7"/>
            <p:cNvCxnSpPr/>
            <p:nvPr/>
          </p:nvCxnSpPr>
          <p:spPr>
            <a:xfrm flipH="1">
              <a:off x="1119192" y="3017243"/>
              <a:ext cx="107051" cy="349744"/>
            </a:xfrm>
            <a:prstGeom prst="line">
              <a:avLst/>
            </a:prstGeom>
            <a:ln w="44450">
              <a:solidFill>
                <a:srgbClr val="6B5B4B"/>
              </a:solidFill>
            </a:ln>
          </p:spPr>
        </p:cxnSp>
        <p:cxnSp>
          <p:nvCxnSpPr>
            <p:cNvPr id="9" name="Connector 8"/>
            <p:cNvCxnSpPr/>
            <p:nvPr/>
          </p:nvCxnSpPr>
          <p:spPr>
            <a:xfrm flipH="1">
              <a:off x="1387561" y="3086843"/>
              <a:ext cx="86949" cy="355275"/>
            </a:xfrm>
            <a:prstGeom prst="line">
              <a:avLst/>
            </a:prstGeom>
            <a:ln w="44450">
              <a:solidFill>
                <a:srgbClr val="6B5B4B"/>
              </a:solidFill>
            </a:ln>
          </p:spPr>
        </p:cxnSp>
        <p:cxnSp>
          <p:nvCxnSpPr>
            <p:cNvPr id="10" name="Connector 9"/>
            <p:cNvCxnSpPr/>
            <p:nvPr/>
          </p:nvCxnSpPr>
          <p:spPr>
            <a:xfrm flipH="1">
              <a:off x="1662346" y="3135466"/>
              <a:ext cx="54015" cy="361750"/>
            </a:xfrm>
            <a:prstGeom prst="line">
              <a:avLst/>
            </a:prstGeom>
            <a:ln w="44450">
              <a:solidFill>
                <a:srgbClr val="6B5B4B"/>
              </a:solidFill>
            </a:ln>
          </p:spPr>
        </p:cxnSp>
        <p:cxnSp>
          <p:nvCxnSpPr>
            <p:cNvPr id="11" name="Connector 10"/>
            <p:cNvCxnSpPr/>
            <p:nvPr/>
          </p:nvCxnSpPr>
          <p:spPr>
            <a:xfrm flipH="1">
              <a:off x="1942312" y="3157223"/>
              <a:ext cx="10719" cy="365603"/>
            </a:xfrm>
            <a:prstGeom prst="line">
              <a:avLst/>
            </a:prstGeom>
            <a:ln w="44450">
              <a:solidFill>
                <a:srgbClr val="6B5B4B"/>
              </a:solidFill>
            </a:ln>
          </p:spPr>
        </p:cxnSp>
        <p:cxnSp>
          <p:nvCxnSpPr>
            <p:cNvPr id="12" name="Connector 11"/>
            <p:cNvCxnSpPr/>
            <p:nvPr/>
          </p:nvCxnSpPr>
          <p:spPr>
            <a:xfrm>
              <a:off x="2187198" y="3148755"/>
              <a:ext cx="37583" cy="363824"/>
            </a:xfrm>
            <a:prstGeom prst="line">
              <a:avLst/>
            </a:prstGeom>
            <a:ln w="44450">
              <a:solidFill>
                <a:srgbClr val="6B5B4B"/>
              </a:solidFill>
            </a:ln>
          </p:spPr>
        </p:cxnSp>
        <p:cxnSp>
          <p:nvCxnSpPr>
            <p:cNvPr id="13" name="Connector 12"/>
            <p:cNvCxnSpPr/>
            <p:nvPr/>
          </p:nvCxnSpPr>
          <p:spPr>
            <a:xfrm>
              <a:off x="2422416" y="3108678"/>
              <a:ext cx="83783" cy="356035"/>
            </a:xfrm>
            <a:prstGeom prst="line">
              <a:avLst/>
            </a:prstGeom>
            <a:ln w="44450">
              <a:solidFill>
                <a:srgbClr val="6B5B4B"/>
              </a:solidFill>
            </a:ln>
          </p:spPr>
        </p:cxnSp>
        <p:cxnSp>
          <p:nvCxnSpPr>
            <p:cNvPr id="14" name="Connector 13"/>
            <p:cNvCxnSpPr/>
            <p:nvPr/>
          </p:nvCxnSpPr>
          <p:spPr>
            <a:xfrm>
              <a:off x="2661658" y="3037566"/>
              <a:ext cx="121935" cy="344836"/>
            </a:xfrm>
            <a:prstGeom prst="line">
              <a:avLst/>
            </a:prstGeom>
            <a:ln w="44450">
              <a:solidFill>
                <a:srgbClr val="6B5B4B"/>
              </a:solidFill>
            </a:ln>
          </p:spPr>
        </p:cxnSp>
        <p:cxnSp>
          <p:nvCxnSpPr>
            <p:cNvPr id="15" name="Connector 14"/>
            <p:cNvCxnSpPr/>
            <p:nvPr/>
          </p:nvCxnSpPr>
          <p:spPr>
            <a:xfrm>
              <a:off x="2906404" y="2938672"/>
              <a:ext cx="149079" cy="333999"/>
            </a:xfrm>
            <a:prstGeom prst="line">
              <a:avLst/>
            </a:prstGeom>
            <a:ln w="44450">
              <a:solidFill>
                <a:srgbClr val="6B5B4B"/>
              </a:solidFill>
            </a:ln>
          </p:spPr>
        </p:cxnSp>
        <p:cxnSp>
          <p:nvCxnSpPr>
            <p:cNvPr id="16" name="Connector 15"/>
            <p:cNvCxnSpPr/>
            <p:nvPr/>
          </p:nvCxnSpPr>
          <p:spPr>
            <a:xfrm>
              <a:off x="3156911" y="2818355"/>
              <a:ext cx="164701" cy="326579"/>
            </a:xfrm>
            <a:prstGeom prst="line">
              <a:avLst/>
            </a:prstGeom>
            <a:ln w="44450">
              <a:solidFill>
                <a:srgbClr val="6B5B4B"/>
              </a:solidFill>
            </a:ln>
          </p:spPr>
        </p:cxnSp>
        <p:cxnSp>
          <p:nvCxnSpPr>
            <p:cNvPr id="17" name="Connector 16"/>
            <p:cNvCxnSpPr/>
            <p:nvPr/>
          </p:nvCxnSpPr>
          <p:spPr>
            <a:xfrm>
              <a:off x="3412983" y="2685617"/>
              <a:ext cx="169193" cy="324275"/>
            </a:xfrm>
            <a:prstGeom prst="line">
              <a:avLst/>
            </a:prstGeom>
            <a:ln w="44450">
              <a:solidFill>
                <a:srgbClr val="6B5B4B"/>
              </a:solidFill>
            </a:ln>
          </p:spPr>
        </p:cxnSp>
        <p:cxnSp>
          <p:nvCxnSpPr>
            <p:cNvPr id="18" name="Connector 17"/>
            <p:cNvCxnSpPr/>
            <p:nvPr/>
          </p:nvCxnSpPr>
          <p:spPr>
            <a:xfrm>
              <a:off x="3674517" y="2551060"/>
              <a:ext cx="162761" cy="327550"/>
            </a:xfrm>
            <a:prstGeom prst="line">
              <a:avLst/>
            </a:prstGeom>
            <a:ln w="44450">
              <a:solidFill>
                <a:srgbClr val="6B5B4B"/>
              </a:solidFill>
            </a:ln>
          </p:spPr>
        </p:cxnSp>
        <p:cxnSp>
          <p:nvCxnSpPr>
            <p:cNvPr id="19" name="Connector 18"/>
            <p:cNvCxnSpPr/>
            <p:nvPr/>
          </p:nvCxnSpPr>
          <p:spPr>
            <a:xfrm>
              <a:off x="3941655" y="2425755"/>
              <a:ext cx="145121" cy="335738"/>
            </a:xfrm>
            <a:prstGeom prst="line">
              <a:avLst/>
            </a:prstGeom>
            <a:ln w="44450">
              <a:solidFill>
                <a:srgbClr val="6B5B4B"/>
              </a:solidFill>
            </a:ln>
          </p:spPr>
        </p:cxnSp>
        <p:cxnSp>
          <p:nvCxnSpPr>
            <p:cNvPr id="20" name="Connector 19"/>
            <p:cNvCxnSpPr/>
            <p:nvPr/>
          </p:nvCxnSpPr>
          <p:spPr>
            <a:xfrm>
              <a:off x="4214564" y="2320243"/>
              <a:ext cx="115939" cy="346898"/>
            </a:xfrm>
            <a:prstGeom prst="line">
              <a:avLst/>
            </a:prstGeom>
            <a:ln w="44450">
              <a:solidFill>
                <a:srgbClr val="6B5B4B"/>
              </a:solidFill>
            </a:ln>
          </p:spPr>
        </p:cxnSp>
        <p:cxnSp>
          <p:nvCxnSpPr>
            <p:cNvPr id="21" name="Connector 20"/>
            <p:cNvCxnSpPr/>
            <p:nvPr/>
          </p:nvCxnSpPr>
          <p:spPr>
            <a:xfrm>
              <a:off x="4492822" y="2243607"/>
              <a:ext cx="76059" cy="357765"/>
            </a:xfrm>
            <a:prstGeom prst="line">
              <a:avLst/>
            </a:prstGeom>
            <a:ln w="44450">
              <a:solidFill>
                <a:srgbClr val="6B5B4B"/>
              </a:solidFill>
            </a:ln>
          </p:spPr>
        </p:cxnSp>
        <p:cxnSp>
          <p:nvCxnSpPr>
            <p:cNvPr id="22" name="Connector 21"/>
            <p:cNvCxnSpPr/>
            <p:nvPr/>
          </p:nvCxnSpPr>
          <p:spPr>
            <a:xfrm>
              <a:off x="4774679" y="2202300"/>
              <a:ext cx="28981" cy="364610"/>
            </a:xfrm>
            <a:prstGeom prst="line">
              <a:avLst/>
            </a:prstGeom>
            <a:ln w="44450">
              <a:solidFill>
                <a:srgbClr val="6B5B4B"/>
              </a:solidFill>
            </a:ln>
          </p:spPr>
        </p:cxnSp>
        <p:cxnSp>
          <p:nvCxnSpPr>
            <p:cNvPr id="23" name="Connector 22"/>
            <p:cNvCxnSpPr/>
            <p:nvPr/>
          </p:nvCxnSpPr>
          <p:spPr>
            <a:xfrm flipH="1">
              <a:off x="5038020" y="2198673"/>
              <a:ext cx="18935" cy="365270"/>
            </a:xfrm>
            <a:prstGeom prst="line">
              <a:avLst/>
            </a:prstGeom>
            <a:ln w="44450">
              <a:solidFill>
                <a:srgbClr val="6B5B4B"/>
              </a:solidFill>
            </a:ln>
          </p:spPr>
        </p:cxnSp>
        <p:cxnSp>
          <p:nvCxnSpPr>
            <p:cNvPr id="24" name="Connector 23"/>
            <p:cNvCxnSpPr/>
            <p:nvPr/>
          </p:nvCxnSpPr>
          <p:spPr>
            <a:xfrm flipH="1">
              <a:off x="5275453" y="2230078"/>
              <a:ext cx="60705" cy="360687"/>
            </a:xfrm>
            <a:prstGeom prst="line">
              <a:avLst/>
            </a:prstGeom>
            <a:ln w="44450">
              <a:solidFill>
                <a:srgbClr val="6B5B4B"/>
              </a:solidFill>
            </a:ln>
          </p:spPr>
        </p:cxnSp>
        <p:cxnSp>
          <p:nvCxnSpPr>
            <p:cNvPr id="25" name="Connector 24"/>
            <p:cNvCxnSpPr/>
            <p:nvPr/>
          </p:nvCxnSpPr>
          <p:spPr>
            <a:xfrm flipH="1">
              <a:off x="5518386" y="2289472"/>
              <a:ext cx="91475" cy="354136"/>
            </a:xfrm>
            <a:prstGeom prst="line">
              <a:avLst/>
            </a:prstGeom>
            <a:ln w="44450">
              <a:solidFill>
                <a:srgbClr val="6B5B4B"/>
              </a:solidFill>
            </a:ln>
          </p:spPr>
        </p:cxnSp>
        <p:cxnSp>
          <p:nvCxnSpPr>
            <p:cNvPr id="26" name="Connector 25"/>
            <p:cNvCxnSpPr/>
            <p:nvPr/>
          </p:nvCxnSpPr>
          <p:spPr>
            <a:xfrm flipH="1">
              <a:off x="5767835" y="2367030"/>
              <a:ext cx="109213" cy="349074"/>
            </a:xfrm>
            <a:prstGeom prst="line">
              <a:avLst/>
            </a:prstGeom>
            <a:ln w="44450">
              <a:solidFill>
                <a:srgbClr val="6B5B4B"/>
              </a:solidFill>
            </a:ln>
          </p:spPr>
        </p:cxnSp>
        <p:cxnSp>
          <p:nvCxnSpPr>
            <p:cNvPr id="27" name="Connector 26"/>
            <p:cNvCxnSpPr/>
            <p:nvPr/>
          </p:nvCxnSpPr>
          <p:spPr>
            <a:xfrm flipH="1">
              <a:off x="6023988" y="2451677"/>
              <a:ext cx="113543" cy="347690"/>
            </a:xfrm>
            <a:prstGeom prst="line">
              <a:avLst/>
            </a:prstGeom>
            <a:ln w="44450">
              <a:solidFill>
                <a:srgbClr val="6B5B4B"/>
              </a:solidFill>
            </a:ln>
          </p:spPr>
        </p:cxnSp>
        <p:cxnSp>
          <p:nvCxnSpPr>
            <p:cNvPr id="28" name="Connector 27"/>
            <p:cNvCxnSpPr/>
            <p:nvPr/>
          </p:nvCxnSpPr>
          <p:spPr>
            <a:xfrm flipH="1">
              <a:off x="6286845" y="2532275"/>
              <a:ext cx="104465" cy="350524"/>
            </a:xfrm>
            <a:prstGeom prst="line">
              <a:avLst/>
            </a:prstGeom>
            <a:ln w="44450">
              <a:solidFill>
                <a:srgbClr val="6B5B4B"/>
              </a:solidFill>
            </a:ln>
          </p:spPr>
        </p:cxnSp>
        <p:cxnSp>
          <p:nvCxnSpPr>
            <p:cNvPr id="29" name="Connector 28"/>
            <p:cNvCxnSpPr/>
            <p:nvPr/>
          </p:nvCxnSpPr>
          <p:spPr>
            <a:xfrm flipH="1">
              <a:off x="6556386" y="2598711"/>
              <a:ext cx="82019" cy="356446"/>
            </a:xfrm>
            <a:prstGeom prst="line">
              <a:avLst/>
            </a:prstGeom>
            <a:ln w="44450">
              <a:solidFill>
                <a:srgbClr val="6B5B4B"/>
              </a:solidFill>
            </a:ln>
          </p:spPr>
        </p:cxnSp>
        <p:cxnSp>
          <p:nvCxnSpPr>
            <p:cNvPr id="30" name="Connector 29"/>
            <p:cNvCxnSpPr/>
            <p:nvPr/>
          </p:nvCxnSpPr>
          <p:spPr>
            <a:xfrm flipH="1">
              <a:off x="6832218" y="2642930"/>
              <a:ext cx="46991" cy="362729"/>
            </a:xfrm>
            <a:prstGeom prst="line">
              <a:avLst/>
            </a:prstGeom>
            <a:ln w="44450">
              <a:solidFill>
                <a:srgbClr val="6B5B4B"/>
              </a:solidFill>
            </a:ln>
          </p:spPr>
        </p:cxnSp>
        <p:cxnSp>
          <p:nvCxnSpPr>
            <p:cNvPr id="31" name="Connector 30"/>
            <p:cNvCxnSpPr/>
            <p:nvPr/>
          </p:nvCxnSpPr>
          <p:spPr>
            <a:xfrm flipH="1">
              <a:off x="7112862" y="2659519"/>
              <a:ext cx="2339" cy="365753"/>
            </a:xfrm>
            <a:prstGeom prst="line">
              <a:avLst/>
            </a:prstGeom>
            <a:ln w="44450">
              <a:solidFill>
                <a:srgbClr val="6B5B4B"/>
              </a:solidFill>
            </a:ln>
          </p:spPr>
        </p:cxnSp>
        <p:cxnSp>
          <p:nvCxnSpPr>
            <p:cNvPr id="32" name="Connector 31"/>
            <p:cNvCxnSpPr/>
            <p:nvPr/>
          </p:nvCxnSpPr>
          <p:spPr>
            <a:xfrm>
              <a:off x="7349292" y="2645507"/>
              <a:ext cx="46115" cy="362841"/>
            </a:xfrm>
            <a:prstGeom prst="line">
              <a:avLst/>
            </a:prstGeom>
            <a:ln w="44450">
              <a:solidFill>
                <a:srgbClr val="6B5B4B"/>
              </a:solidFill>
            </a:ln>
          </p:spPr>
        </p:cxnSp>
        <p:cxnSp>
          <p:nvCxnSpPr>
            <p:cNvPr id="33" name="Connector 32"/>
            <p:cNvCxnSpPr/>
            <p:nvPr/>
          </p:nvCxnSpPr>
          <p:spPr>
            <a:xfrm>
              <a:off x="7585044" y="2599829"/>
              <a:ext cx="91247" cy="354195"/>
            </a:xfrm>
            <a:prstGeom prst="line">
              <a:avLst/>
            </a:prstGeom>
            <a:ln w="44450">
              <a:solidFill>
                <a:srgbClr val="6B5B4B"/>
              </a:solidFill>
            </a:ln>
          </p:spPr>
        </p:cxnSp>
        <p:cxnSp>
          <p:nvCxnSpPr>
            <p:cNvPr id="34" name="Connector 33"/>
            <p:cNvCxnSpPr/>
            <p:nvPr/>
          </p:nvCxnSpPr>
          <p:spPr>
            <a:xfrm>
              <a:off x="7825196" y="2523475"/>
              <a:ext cx="127579" cy="342789"/>
            </a:xfrm>
            <a:prstGeom prst="line">
              <a:avLst/>
            </a:prstGeom>
            <a:ln w="44450">
              <a:solidFill>
                <a:srgbClr val="6B5B4B"/>
              </a:solidFill>
            </a:ln>
          </p:spPr>
        </p:cxnSp>
        <p:cxnSp>
          <p:nvCxnSpPr>
            <p:cNvPr id="35" name="Connector 34"/>
            <p:cNvCxnSpPr/>
            <p:nvPr/>
          </p:nvCxnSpPr>
          <p:spPr>
            <a:xfrm>
              <a:off x="8070965" y="2420240"/>
              <a:ext cx="152677" cy="332370"/>
            </a:xfrm>
            <a:prstGeom prst="line">
              <a:avLst/>
            </a:prstGeom>
            <a:ln w="44450">
              <a:solidFill>
                <a:srgbClr val="6B5B4B"/>
              </a:solidFill>
            </a:ln>
          </p:spPr>
        </p:cxnSp>
        <p:cxnSp>
          <p:nvCxnSpPr>
            <p:cNvPr id="36" name="Connector 35"/>
            <p:cNvCxnSpPr/>
            <p:nvPr/>
          </p:nvCxnSpPr>
          <p:spPr>
            <a:xfrm>
              <a:off x="8322474" y="2297008"/>
              <a:ext cx="166295" cy="325770"/>
            </a:xfrm>
            <a:prstGeom prst="line">
              <a:avLst/>
            </a:prstGeom>
            <a:ln w="44450">
              <a:solidFill>
                <a:srgbClr val="6B5B4B"/>
              </a:solidFill>
            </a:ln>
          </p:spPr>
        </p:cxnSp>
        <p:cxnSp>
          <p:nvCxnSpPr>
            <p:cNvPr id="37" name="Connector 36"/>
            <p:cNvCxnSpPr/>
            <p:nvPr/>
          </p:nvCxnSpPr>
          <p:spPr>
            <a:xfrm>
              <a:off x="8579514" y="2163148"/>
              <a:ext cx="168851" cy="324453"/>
            </a:xfrm>
            <a:prstGeom prst="line">
              <a:avLst/>
            </a:prstGeom>
            <a:ln w="44450">
              <a:solidFill>
                <a:srgbClr val="6B5B4B"/>
              </a:solidFill>
            </a:ln>
          </p:spPr>
        </p:cxnSp>
        <p:cxnSp>
          <p:nvCxnSpPr>
            <p:cNvPr id="38" name="Connector 37"/>
            <p:cNvCxnSpPr/>
            <p:nvPr/>
          </p:nvCxnSpPr>
          <p:spPr>
            <a:xfrm>
              <a:off x="8842023" y="2029425"/>
              <a:ext cx="160469" cy="328680"/>
            </a:xfrm>
            <a:prstGeom prst="line">
              <a:avLst/>
            </a:prstGeom>
            <a:ln w="44450">
              <a:solidFill>
                <a:srgbClr val="6B5B4B"/>
              </a:solidFill>
            </a:ln>
          </p:spPr>
        </p:cxnSp>
        <p:cxnSp>
          <p:nvCxnSpPr>
            <p:cNvPr id="39" name="Connector 38"/>
            <p:cNvCxnSpPr/>
            <p:nvPr/>
          </p:nvCxnSpPr>
          <p:spPr>
            <a:xfrm>
              <a:off x="9110177" y="1906885"/>
              <a:ext cx="140797" cy="337575"/>
            </a:xfrm>
            <a:prstGeom prst="line">
              <a:avLst/>
            </a:prstGeom>
            <a:ln w="44450">
              <a:solidFill>
                <a:srgbClr val="6B5B4B"/>
              </a:solidFill>
            </a:ln>
          </p:spPr>
        </p:cxnSp>
        <p:cxnSp>
          <p:nvCxnSpPr>
            <p:cNvPr id="40" name="Connector 39"/>
            <p:cNvCxnSpPr/>
            <p:nvPr/>
          </p:nvCxnSpPr>
          <p:spPr>
            <a:xfrm>
              <a:off x="9384093" y="1805880"/>
              <a:ext cx="109601" cy="348952"/>
            </a:xfrm>
            <a:prstGeom prst="line">
              <a:avLst/>
            </a:prstGeom>
            <a:ln w="44450">
              <a:solidFill>
                <a:srgbClr val="6B5B4B"/>
              </a:solidFill>
            </a:ln>
          </p:spPr>
        </p:cxnSp>
        <p:cxnSp>
          <p:nvCxnSpPr>
            <p:cNvPr id="41" name="Connector 40"/>
            <p:cNvCxnSpPr/>
            <p:nvPr/>
          </p:nvCxnSpPr>
          <p:spPr>
            <a:xfrm>
              <a:off x="9663162" y="1735125"/>
              <a:ext cx="68099" cy="359364"/>
            </a:xfrm>
            <a:prstGeom prst="line">
              <a:avLst/>
            </a:prstGeom>
            <a:ln w="44450">
              <a:solidFill>
                <a:srgbClr val="6B5B4B"/>
              </a:solidFill>
            </a:ln>
          </p:spPr>
        </p:cxnSp>
        <p:cxnSp>
          <p:nvCxnSpPr>
            <p:cNvPr id="42" name="Connector 41"/>
            <p:cNvCxnSpPr/>
            <p:nvPr/>
          </p:nvCxnSpPr>
          <p:spPr>
            <a:xfrm>
              <a:off x="9945354" y="1700454"/>
              <a:ext cx="20351" cy="365193"/>
            </a:xfrm>
            <a:prstGeom prst="line">
              <a:avLst/>
            </a:prstGeom>
            <a:ln w="44450">
              <a:solidFill>
                <a:srgbClr val="6B5B4B"/>
              </a:solidFill>
            </a:ln>
          </p:spPr>
        </p:cxnSp>
        <p:cxnSp>
          <p:nvCxnSpPr>
            <p:cNvPr id="43" name="Connector 42"/>
            <p:cNvCxnSpPr/>
            <p:nvPr/>
          </p:nvCxnSpPr>
          <p:spPr>
            <a:xfrm flipH="1">
              <a:off x="10200371" y="1703363"/>
              <a:ext cx="26953" cy="364765"/>
            </a:xfrm>
            <a:prstGeom prst="line">
              <a:avLst/>
            </a:prstGeom>
            <a:ln w="44450">
              <a:solidFill>
                <a:srgbClr val="6B5B4B"/>
              </a:solidFill>
            </a:ln>
          </p:spPr>
        </p:cxnSp>
        <p:cxnSp>
          <p:nvCxnSpPr>
            <p:cNvPr id="44" name="Connector 43"/>
            <p:cNvCxnSpPr/>
            <p:nvPr/>
          </p:nvCxnSpPr>
          <p:spPr>
            <a:xfrm flipH="1">
              <a:off x="10438644" y="1740337"/>
              <a:ext cx="67043" cy="359563"/>
            </a:xfrm>
            <a:prstGeom prst="line">
              <a:avLst/>
            </a:prstGeom>
            <a:ln w="44450">
              <a:solidFill>
                <a:srgbClr val="6B5B4B"/>
              </a:solidFill>
            </a:ln>
          </p:spPr>
        </p:cxnSp>
        <p:cxnSp>
          <p:nvCxnSpPr>
            <p:cNvPr id="45" name="Connector 44"/>
            <p:cNvCxnSpPr/>
            <p:nvPr/>
          </p:nvCxnSpPr>
          <p:spPr>
            <a:xfrm flipH="1">
              <a:off x="10682690" y="1803714"/>
              <a:ext cx="95587" cy="353049"/>
            </a:xfrm>
            <a:prstGeom prst="line">
              <a:avLst/>
            </a:prstGeom>
            <a:ln w="44450">
              <a:solidFill>
                <a:srgbClr val="6B5B4B"/>
              </a:solidFill>
            </a:ln>
          </p:spPr>
        </p:cxnSp>
        <p:cxnSp>
          <p:nvCxnSpPr>
            <p:cNvPr id="46" name="Connector 45"/>
            <p:cNvCxnSpPr/>
            <p:nvPr/>
          </p:nvCxnSpPr>
          <p:spPr>
            <a:xfrm flipH="1">
              <a:off x="10933323" y="1883350"/>
              <a:ext cx="110957" cy="348524"/>
            </a:xfrm>
            <a:prstGeom prst="line">
              <a:avLst/>
            </a:prstGeom>
            <a:ln w="44450">
              <a:solidFill>
                <a:srgbClr val="6B5B4B"/>
              </a:solidFill>
            </a:ln>
          </p:spPr>
        </p:cxnSp>
        <p:cxnSp>
          <p:nvCxnSpPr>
            <p:cNvPr id="47" name="Connector 46"/>
            <p:cNvCxnSpPr/>
            <p:nvPr/>
          </p:nvCxnSpPr>
          <p:spPr>
            <a:xfrm flipH="1">
              <a:off x="11190070" y="1968270"/>
              <a:ext cx="114099" cy="347508"/>
            </a:xfrm>
            <a:prstGeom prst="line">
              <a:avLst/>
            </a:prstGeom>
            <a:ln w="44450">
              <a:solidFill>
                <a:srgbClr val="6B5B4B"/>
              </a:solidFill>
            </a:ln>
          </p:spPr>
        </p:cxnSp>
        <p:sp>
          <p:nvSpPr>
            <p:cNvPr id="48" name="Freeform 47"/>
            <p:cNvSpPr/>
            <p:nvPr/>
          </p:nvSpPr>
          <p:spPr>
            <a:xfrm>
              <a:off x="942838" y="1788751"/>
              <a:ext cx="10332806" cy="1459873"/>
            </a:xfrm>
            <a:custGeom>
              <a:avLst/>
              <a:gdLst/>
              <a:ahLst/>
              <a:cxnLst/>
              <a:rect l="l" t="t" r="r" b="b"/>
              <a:pathLst>
                <a:path w="10332806" h="1459873">
                  <a:moveTo>
                    <a:pt x="0" y="1233303"/>
                  </a:moveTo>
                  <a:lnTo>
                    <a:pt x="128740" y="1275432"/>
                  </a:lnTo>
                  <a:lnTo>
                    <a:pt x="256642" y="1315928"/>
                  </a:lnTo>
                  <a:lnTo>
                    <a:pt x="383705" y="1353490"/>
                  </a:lnTo>
                  <a:lnTo>
                    <a:pt x="509935" y="1386911"/>
                  </a:lnTo>
                  <a:lnTo>
                    <a:pt x="635355" y="1415109"/>
                  </a:lnTo>
                  <a:lnTo>
                    <a:pt x="760019" y="1437153"/>
                  </a:lnTo>
                  <a:lnTo>
                    <a:pt x="884023" y="1452273"/>
                  </a:lnTo>
                  <a:lnTo>
                    <a:pt x="1007513" y="1459873"/>
                  </a:lnTo>
                  <a:lnTo>
                    <a:pt x="1130682" y="1459524"/>
                  </a:lnTo>
                  <a:lnTo>
                    <a:pt x="1253756" y="1450960"/>
                  </a:lnTo>
                  <a:lnTo>
                    <a:pt x="1376966" y="1434077"/>
                  </a:lnTo>
                  <a:lnTo>
                    <a:pt x="1500524" y="1408935"/>
                  </a:lnTo>
                  <a:lnTo>
                    <a:pt x="1624598" y="1375775"/>
                  </a:lnTo>
                  <a:lnTo>
                    <a:pt x="1749304" y="1335024"/>
                  </a:lnTo>
                  <a:lnTo>
                    <a:pt x="1874708" y="1287303"/>
                  </a:lnTo>
                  <a:lnTo>
                    <a:pt x="2000836" y="1233421"/>
                  </a:lnTo>
                  <a:lnTo>
                    <a:pt x="2127687" y="1174360"/>
                  </a:lnTo>
                  <a:lnTo>
                    <a:pt x="2255248" y="1111249"/>
                  </a:lnTo>
                  <a:lnTo>
                    <a:pt x="2383504" y="1045332"/>
                  </a:lnTo>
                  <a:lnTo>
                    <a:pt x="2512443" y="977934"/>
                  </a:lnTo>
                  <a:lnTo>
                    <a:pt x="2642063" y="910429"/>
                  </a:lnTo>
                  <a:lnTo>
                    <a:pt x="2772369" y="844196"/>
                  </a:lnTo>
                  <a:lnTo>
                    <a:pt x="2903376" y="780598"/>
                  </a:lnTo>
                  <a:lnTo>
                    <a:pt x="3035097" y="720938"/>
                  </a:lnTo>
                  <a:lnTo>
                    <a:pt x="3167545" y="666441"/>
                  </a:lnTo>
                  <a:lnTo>
                    <a:pt x="3300711" y="618216"/>
                  </a:lnTo>
                  <a:lnTo>
                    <a:pt x="3434556" y="577235"/>
                  </a:lnTo>
                  <a:lnTo>
                    <a:pt x="3568999" y="544297"/>
                  </a:lnTo>
                  <a:lnTo>
                    <a:pt x="3703904" y="519999"/>
                  </a:lnTo>
                  <a:lnTo>
                    <a:pt x="3839086" y="504702"/>
                  </a:lnTo>
                  <a:lnTo>
                    <a:pt x="3974324" y="498506"/>
                  </a:lnTo>
                  <a:lnTo>
                    <a:pt x="4109383" y="501240"/>
                  </a:lnTo>
                  <a:lnTo>
                    <a:pt x="4244049" y="512465"/>
                  </a:lnTo>
                  <a:lnTo>
                    <a:pt x="4378144" y="531499"/>
                  </a:lnTo>
                  <a:lnTo>
                    <a:pt x="4511539" y="557450"/>
                  </a:lnTo>
                  <a:lnTo>
                    <a:pt x="4644154" y="589255"/>
                  </a:lnTo>
                  <a:lnTo>
                    <a:pt x="4775949" y="625718"/>
                  </a:lnTo>
                  <a:lnTo>
                    <a:pt x="4906907" y="665547"/>
                  </a:lnTo>
                  <a:lnTo>
                    <a:pt x="5037026" y="707386"/>
                  </a:lnTo>
                  <a:lnTo>
                    <a:pt x="5166307" y="749849"/>
                  </a:lnTo>
                  <a:lnTo>
                    <a:pt x="5294751" y="791553"/>
                  </a:lnTo>
                  <a:lnTo>
                    <a:pt x="5422356" y="831155"/>
                  </a:lnTo>
                  <a:lnTo>
                    <a:pt x="5549123" y="867383"/>
                  </a:lnTo>
                  <a:lnTo>
                    <a:pt x="5675062" y="899072"/>
                  </a:lnTo>
                  <a:lnTo>
                    <a:pt x="5800207" y="925190"/>
                  </a:lnTo>
                  <a:lnTo>
                    <a:pt x="5924623" y="944862"/>
                  </a:lnTo>
                  <a:lnTo>
                    <a:pt x="6048426" y="957379"/>
                  </a:lnTo>
                  <a:lnTo>
                    <a:pt x="6171778" y="962206"/>
                  </a:lnTo>
                  <a:lnTo>
                    <a:pt x="6294887" y="958972"/>
                  </a:lnTo>
                  <a:lnTo>
                    <a:pt x="6417983" y="947466"/>
                  </a:lnTo>
                  <a:lnTo>
                    <a:pt x="6541294" y="927644"/>
                  </a:lnTo>
                  <a:lnTo>
                    <a:pt x="6665018" y="899627"/>
                  </a:lnTo>
                  <a:lnTo>
                    <a:pt x="6789305" y="863721"/>
                  </a:lnTo>
                  <a:lnTo>
                    <a:pt x="6914253" y="820421"/>
                  </a:lnTo>
                  <a:lnTo>
                    <a:pt x="7039912" y="770417"/>
                  </a:lnTo>
                  <a:lnTo>
                    <a:pt x="7166296" y="714581"/>
                  </a:lnTo>
                  <a:lnTo>
                    <a:pt x="7293401" y="653951"/>
                  </a:lnTo>
                  <a:lnTo>
                    <a:pt x="7421210" y="589700"/>
                  </a:lnTo>
                  <a:lnTo>
                    <a:pt x="7549709" y="523104"/>
                  </a:lnTo>
                  <a:lnTo>
                    <a:pt x="7678889" y="455510"/>
                  </a:lnTo>
                  <a:lnTo>
                    <a:pt x="7808750" y="388298"/>
                  </a:lnTo>
                  <a:lnTo>
                    <a:pt x="7939302" y="322844"/>
                  </a:lnTo>
                  <a:lnTo>
                    <a:pt x="8070560" y="260494"/>
                  </a:lnTo>
                  <a:lnTo>
                    <a:pt x="8202538" y="202527"/>
                  </a:lnTo>
                  <a:lnTo>
                    <a:pt x="8335242" y="150130"/>
                  </a:lnTo>
                  <a:lnTo>
                    <a:pt x="8468655" y="104367"/>
                  </a:lnTo>
                  <a:lnTo>
                    <a:pt x="8602724" y="66151"/>
                  </a:lnTo>
                  <a:lnTo>
                    <a:pt x="8737349" y="36215"/>
                  </a:lnTo>
                  <a:lnTo>
                    <a:pt x="8872375" y="15074"/>
                  </a:lnTo>
                  <a:lnTo>
                    <a:pt x="9007604" y="3001"/>
                  </a:lnTo>
                  <a:lnTo>
                    <a:pt x="9142804" y="0"/>
                  </a:lnTo>
                  <a:lnTo>
                    <a:pt x="9277748" y="5803"/>
                  </a:lnTo>
                  <a:lnTo>
                    <a:pt x="9412229" y="19882"/>
                  </a:lnTo>
                  <a:lnTo>
                    <a:pt x="9546088" y="41476"/>
                  </a:lnTo>
                  <a:lnTo>
                    <a:pt x="9679214" y="69629"/>
                  </a:lnTo>
                  <a:lnTo>
                    <a:pt x="9811542" y="103225"/>
                  </a:lnTo>
                  <a:lnTo>
                    <a:pt x="9943042" y="141032"/>
                  </a:lnTo>
                  <a:lnTo>
                    <a:pt x="10073703" y="181730"/>
                  </a:lnTo>
                  <a:lnTo>
                    <a:pt x="10203525" y="223948"/>
                  </a:lnTo>
                  <a:lnTo>
                    <a:pt x="10332806" y="266396"/>
                  </a:lnTo>
                </a:path>
              </a:pathLst>
            </a:custGeom>
            <a:noFill/>
            <a:ln w="44450">
              <a:solidFill>
                <a:srgbClr val="F28C28"/>
              </a:solidFill>
            </a:ln>
          </p:spPr>
          <p:txBody>
            <a:bodyPr rtlCol="0" anchor="ctr"/>
            <a:lstStyle/>
            <a:p>
              <a:pPr algn="ctr"/>
              <a:endParaRPr/>
            </a:p>
          </p:txBody>
        </p:sp>
        <p:sp>
          <p:nvSpPr>
            <p:cNvPr id="49" name="Freeform 48"/>
            <p:cNvSpPr/>
            <p:nvPr/>
          </p:nvSpPr>
          <p:spPr>
            <a:xfrm>
              <a:off x="885961" y="1971621"/>
              <a:ext cx="10332634" cy="1459805"/>
            </a:xfrm>
            <a:custGeom>
              <a:avLst/>
              <a:gdLst/>
              <a:ahLst/>
              <a:cxnLst/>
              <a:rect l="l" t="t" r="r" b="b"/>
              <a:pathLst>
                <a:path w="10332634" h="1459805">
                  <a:moveTo>
                    <a:pt x="0" y="1224244"/>
                  </a:moveTo>
                  <a:lnTo>
                    <a:pt x="129578" y="1266645"/>
                  </a:lnTo>
                  <a:lnTo>
                    <a:pt x="259994" y="1307930"/>
                  </a:lnTo>
                  <a:lnTo>
                    <a:pt x="391249" y="1346720"/>
                  </a:lnTo>
                  <a:lnTo>
                    <a:pt x="523337" y="1381678"/>
                  </a:lnTo>
                  <a:lnTo>
                    <a:pt x="656235" y="1411541"/>
                  </a:lnTo>
                  <a:lnTo>
                    <a:pt x="789889" y="1435157"/>
                  </a:lnTo>
                  <a:lnTo>
                    <a:pt x="924203" y="1451519"/>
                  </a:lnTo>
                  <a:lnTo>
                    <a:pt x="1059031" y="1459805"/>
                  </a:lnTo>
                  <a:lnTo>
                    <a:pt x="1194180" y="1459414"/>
                  </a:lnTo>
                  <a:lnTo>
                    <a:pt x="1329424" y="1450002"/>
                  </a:lnTo>
                  <a:lnTo>
                    <a:pt x="1464532" y="1431493"/>
                  </a:lnTo>
                  <a:lnTo>
                    <a:pt x="1599292" y="1404083"/>
                  </a:lnTo>
                  <a:lnTo>
                    <a:pt x="1733536" y="1368218"/>
                  </a:lnTo>
                  <a:lnTo>
                    <a:pt x="1867148" y="1324572"/>
                  </a:lnTo>
                  <a:lnTo>
                    <a:pt x="2000062" y="1274008"/>
                  </a:lnTo>
                  <a:lnTo>
                    <a:pt x="2132252" y="1217550"/>
                  </a:lnTo>
                  <a:lnTo>
                    <a:pt x="2263719" y="1156352"/>
                  </a:lnTo>
                  <a:lnTo>
                    <a:pt x="2394476" y="1091668"/>
                  </a:lnTo>
                  <a:lnTo>
                    <a:pt x="2524538" y="1024828"/>
                  </a:lnTo>
                  <a:lnTo>
                    <a:pt x="2653917" y="957202"/>
                  </a:lnTo>
                  <a:lnTo>
                    <a:pt x="2782615" y="890174"/>
                  </a:lnTo>
                  <a:lnTo>
                    <a:pt x="2910627" y="825102"/>
                  </a:lnTo>
                  <a:lnTo>
                    <a:pt x="3037938" y="763287"/>
                  </a:lnTo>
                  <a:lnTo>
                    <a:pt x="3164535" y="705938"/>
                  </a:lnTo>
                  <a:lnTo>
                    <a:pt x="3290405" y="654133"/>
                  </a:lnTo>
                  <a:lnTo>
                    <a:pt x="3415557" y="608795"/>
                  </a:lnTo>
                  <a:lnTo>
                    <a:pt x="3540030" y="570670"/>
                  </a:lnTo>
                  <a:lnTo>
                    <a:pt x="3663905" y="540309"/>
                  </a:lnTo>
                  <a:lnTo>
                    <a:pt x="3787318" y="518073"/>
                  </a:lnTo>
                  <a:lnTo>
                    <a:pt x="3910454" y="504137"/>
                  </a:lnTo>
                  <a:lnTo>
                    <a:pt x="4033534" y="498501"/>
                  </a:lnTo>
                  <a:lnTo>
                    <a:pt x="4156793" y="501004"/>
                  </a:lnTo>
                  <a:lnTo>
                    <a:pt x="4280445" y="511324"/>
                  </a:lnTo>
                  <a:lnTo>
                    <a:pt x="4404668" y="528973"/>
                  </a:lnTo>
                  <a:lnTo>
                    <a:pt x="4529591" y="553291"/>
                  </a:lnTo>
                  <a:lnTo>
                    <a:pt x="4655294" y="583453"/>
                  </a:lnTo>
                  <a:lnTo>
                    <a:pt x="4781817" y="618471"/>
                  </a:lnTo>
                  <a:lnTo>
                    <a:pt x="4909177" y="657215"/>
                  </a:lnTo>
                  <a:lnTo>
                    <a:pt x="5037376" y="698441"/>
                  </a:lnTo>
                  <a:lnTo>
                    <a:pt x="5166413" y="740824"/>
                  </a:lnTo>
                  <a:lnTo>
                    <a:pt x="5296287" y="782989"/>
                  </a:lnTo>
                  <a:lnTo>
                    <a:pt x="5427000" y="823547"/>
                  </a:lnTo>
                  <a:lnTo>
                    <a:pt x="5558551" y="861130"/>
                  </a:lnTo>
                  <a:lnTo>
                    <a:pt x="5690930" y="894424"/>
                  </a:lnTo>
                  <a:lnTo>
                    <a:pt x="5824103" y="922201"/>
                  </a:lnTo>
                  <a:lnTo>
                    <a:pt x="5958005" y="943356"/>
                  </a:lnTo>
                  <a:lnTo>
                    <a:pt x="6092520" y="956942"/>
                  </a:lnTo>
                  <a:lnTo>
                    <a:pt x="6227486" y="962213"/>
                  </a:lnTo>
                  <a:lnTo>
                    <a:pt x="6362695" y="958655"/>
                  </a:lnTo>
                  <a:lnTo>
                    <a:pt x="6497917" y="946017"/>
                  </a:lnTo>
                  <a:lnTo>
                    <a:pt x="6632924" y="924321"/>
                  </a:lnTo>
                  <a:lnTo>
                    <a:pt x="6767518" y="893854"/>
                  </a:lnTo>
                  <a:lnTo>
                    <a:pt x="6901549" y="855148"/>
                  </a:lnTo>
                  <a:lnTo>
                    <a:pt x="7034919" y="808945"/>
                  </a:lnTo>
                  <a:lnTo>
                    <a:pt x="7167578" y="756171"/>
                  </a:lnTo>
                  <a:lnTo>
                    <a:pt x="7299512" y="697897"/>
                  </a:lnTo>
                  <a:lnTo>
                    <a:pt x="7430725" y="635317"/>
                  </a:lnTo>
                  <a:lnTo>
                    <a:pt x="7561234" y="569715"/>
                  </a:lnTo>
                  <a:lnTo>
                    <a:pt x="7691053" y="502438"/>
                  </a:lnTo>
                  <a:lnTo>
                    <a:pt x="7820191" y="434866"/>
                  </a:lnTo>
                  <a:lnTo>
                    <a:pt x="7948648" y="368377"/>
                  </a:lnTo>
                  <a:lnTo>
                    <a:pt x="8076414" y="304314"/>
                  </a:lnTo>
                  <a:lnTo>
                    <a:pt x="8203474" y="243948"/>
                  </a:lnTo>
                  <a:lnTo>
                    <a:pt x="8329814" y="188445"/>
                  </a:lnTo>
                  <a:lnTo>
                    <a:pt x="8455428" y="138833"/>
                  </a:lnTo>
                  <a:lnTo>
                    <a:pt x="8580333" y="95973"/>
                  </a:lnTo>
                  <a:lnTo>
                    <a:pt x="8704582" y="60543"/>
                  </a:lnTo>
                  <a:lnTo>
                    <a:pt x="8828275" y="33027"/>
                  </a:lnTo>
                  <a:lnTo>
                    <a:pt x="8951567" y="13718"/>
                  </a:lnTo>
                  <a:lnTo>
                    <a:pt x="9074656" y="2728"/>
                  </a:lnTo>
                  <a:lnTo>
                    <a:pt x="9197774" y="0"/>
                  </a:lnTo>
                  <a:lnTo>
                    <a:pt x="9321148" y="5316"/>
                  </a:lnTo>
                  <a:lnTo>
                    <a:pt x="9444985" y="18294"/>
                  </a:lnTo>
                  <a:lnTo>
                    <a:pt x="9569444" y="38388"/>
                  </a:lnTo>
                  <a:lnTo>
                    <a:pt x="9694636" y="64878"/>
                  </a:lnTo>
                  <a:lnTo>
                    <a:pt x="9820626" y="96880"/>
                  </a:lnTo>
                  <a:lnTo>
                    <a:pt x="9947444" y="133352"/>
                  </a:lnTo>
                  <a:lnTo>
                    <a:pt x="10075101" y="173122"/>
                  </a:lnTo>
                  <a:lnTo>
                    <a:pt x="10203597" y="214912"/>
                  </a:lnTo>
                  <a:lnTo>
                    <a:pt x="10332634" y="257280"/>
                  </a:lnTo>
                </a:path>
              </a:pathLst>
            </a:custGeom>
            <a:noFill/>
            <a:ln w="44450">
              <a:solidFill>
                <a:srgbClr val="F28C28"/>
              </a:solidFill>
            </a:ln>
          </p:spPr>
          <p:txBody>
            <a:bodyPr rtlCol="0" anchor="ctr"/>
            <a:lstStyle/>
            <a:p>
              <a:pPr algn="ctr"/>
              <a:endParaRPr/>
            </a:p>
          </p:txBody>
        </p:sp>
        <p:cxnSp>
          <p:nvCxnSpPr>
            <p:cNvPr id="50" name="Connector 49"/>
            <p:cNvCxnSpPr/>
            <p:nvPr/>
          </p:nvCxnSpPr>
          <p:spPr>
            <a:xfrm>
              <a:off x="1595628" y="3428448"/>
              <a:ext cx="0" cy="503472"/>
            </a:xfrm>
            <a:prstGeom prst="line">
              <a:avLst/>
            </a:prstGeom>
            <a:ln w="25400">
              <a:solidFill>
                <a:srgbClr val="A9B0B8"/>
              </a:solidFill>
              <a:prstDash val="dash"/>
            </a:ln>
          </p:spPr>
        </p:cxnSp>
        <p:sp>
          <p:nvSpPr>
            <p:cNvPr id="51" name="Oval 50"/>
            <p:cNvSpPr/>
            <p:nvPr/>
          </p:nvSpPr>
          <p:spPr>
            <a:xfrm>
              <a:off x="1476756" y="3181560"/>
              <a:ext cx="237744" cy="237744"/>
            </a:xfrm>
            <a:prstGeom prst="ellipse">
              <a:avLst/>
            </a:prstGeom>
            <a:solidFill>
              <a:srgbClr val="E8E8E8"/>
            </a:solidFill>
            <a:ln w="38100">
              <a:solidFill>
                <a:srgbClr val="F28C28"/>
              </a:solidFill>
            </a:ln>
          </p:spPr>
          <p:txBody>
            <a:bodyPr rtlCol="0" anchor="ctr"/>
            <a:lstStyle/>
            <a:p>
              <a:pPr algn="ctr"/>
              <a:endParaRPr/>
            </a:p>
          </p:txBody>
        </p:sp>
        <p:cxnSp>
          <p:nvCxnSpPr>
            <p:cNvPr id="52" name="Connector 51"/>
            <p:cNvCxnSpPr/>
            <p:nvPr/>
          </p:nvCxnSpPr>
          <p:spPr>
            <a:xfrm>
              <a:off x="3845052" y="2799174"/>
              <a:ext cx="0" cy="1132746"/>
            </a:xfrm>
            <a:prstGeom prst="line">
              <a:avLst/>
            </a:prstGeom>
            <a:ln w="25400">
              <a:solidFill>
                <a:srgbClr val="A9B0B8"/>
              </a:solidFill>
              <a:prstDash val="dash"/>
            </a:ln>
          </p:spPr>
        </p:cxnSp>
        <p:sp>
          <p:nvSpPr>
            <p:cNvPr id="53" name="Oval 52"/>
            <p:cNvSpPr/>
            <p:nvPr/>
          </p:nvSpPr>
          <p:spPr>
            <a:xfrm>
              <a:off x="3726180" y="2552286"/>
              <a:ext cx="237744" cy="237744"/>
            </a:xfrm>
            <a:prstGeom prst="ellipse">
              <a:avLst/>
            </a:prstGeom>
            <a:solidFill>
              <a:srgbClr val="E8E8E8"/>
            </a:solidFill>
            <a:ln w="38100">
              <a:solidFill>
                <a:srgbClr val="F28C28"/>
              </a:solidFill>
            </a:ln>
          </p:spPr>
          <p:txBody>
            <a:bodyPr rtlCol="0" anchor="ctr"/>
            <a:lstStyle/>
            <a:p>
              <a:pPr algn="ctr"/>
              <a:endParaRPr/>
            </a:p>
          </p:txBody>
        </p:sp>
        <p:cxnSp>
          <p:nvCxnSpPr>
            <p:cNvPr id="54" name="Connector 53"/>
            <p:cNvCxnSpPr/>
            <p:nvPr/>
          </p:nvCxnSpPr>
          <p:spPr>
            <a:xfrm>
              <a:off x="6094475" y="2758039"/>
              <a:ext cx="0" cy="1173881"/>
            </a:xfrm>
            <a:prstGeom prst="line">
              <a:avLst/>
            </a:prstGeom>
            <a:ln w="25400">
              <a:solidFill>
                <a:srgbClr val="A9B0B8"/>
              </a:solidFill>
              <a:prstDash val="dash"/>
            </a:ln>
          </p:spPr>
        </p:cxnSp>
        <p:sp>
          <p:nvSpPr>
            <p:cNvPr id="55" name="Oval 54"/>
            <p:cNvSpPr/>
            <p:nvPr/>
          </p:nvSpPr>
          <p:spPr>
            <a:xfrm>
              <a:off x="5975603" y="2511151"/>
              <a:ext cx="237744" cy="237744"/>
            </a:xfrm>
            <a:prstGeom prst="ellipse">
              <a:avLst/>
            </a:prstGeom>
            <a:solidFill>
              <a:srgbClr val="E8E8E8"/>
            </a:solidFill>
            <a:ln w="38100">
              <a:solidFill>
                <a:srgbClr val="F28C28"/>
              </a:solidFill>
            </a:ln>
          </p:spPr>
          <p:txBody>
            <a:bodyPr rtlCol="0" anchor="ctr"/>
            <a:lstStyle/>
            <a:p>
              <a:pPr algn="ctr"/>
              <a:endParaRPr/>
            </a:p>
          </p:txBody>
        </p:sp>
        <p:cxnSp>
          <p:nvCxnSpPr>
            <p:cNvPr id="56" name="Connector 55"/>
            <p:cNvCxnSpPr/>
            <p:nvPr/>
          </p:nvCxnSpPr>
          <p:spPr>
            <a:xfrm>
              <a:off x="8343900" y="2619269"/>
              <a:ext cx="0" cy="1312651"/>
            </a:xfrm>
            <a:prstGeom prst="line">
              <a:avLst/>
            </a:prstGeom>
            <a:ln w="25400">
              <a:solidFill>
                <a:srgbClr val="A9B0B8"/>
              </a:solidFill>
              <a:prstDash val="dash"/>
            </a:ln>
          </p:spPr>
        </p:cxnSp>
        <p:sp>
          <p:nvSpPr>
            <p:cNvPr id="57" name="Oval 56"/>
            <p:cNvSpPr/>
            <p:nvPr/>
          </p:nvSpPr>
          <p:spPr>
            <a:xfrm>
              <a:off x="8225027" y="2372381"/>
              <a:ext cx="237744" cy="237744"/>
            </a:xfrm>
            <a:prstGeom prst="ellipse">
              <a:avLst/>
            </a:prstGeom>
            <a:solidFill>
              <a:srgbClr val="E8E8E8"/>
            </a:solidFill>
            <a:ln w="38100">
              <a:solidFill>
                <a:srgbClr val="F28C28"/>
              </a:solidFill>
            </a:ln>
          </p:spPr>
          <p:txBody>
            <a:bodyPr rtlCol="0" anchor="ctr"/>
            <a:lstStyle/>
            <a:p>
              <a:pPr algn="ctr"/>
              <a:endParaRPr/>
            </a:p>
          </p:txBody>
        </p:sp>
        <p:cxnSp>
          <p:nvCxnSpPr>
            <p:cNvPr id="58" name="Connector 57"/>
            <p:cNvCxnSpPr/>
            <p:nvPr/>
          </p:nvCxnSpPr>
          <p:spPr>
            <a:xfrm>
              <a:off x="10593324" y="2073593"/>
              <a:ext cx="0" cy="1858327"/>
            </a:xfrm>
            <a:prstGeom prst="line">
              <a:avLst/>
            </a:prstGeom>
            <a:ln w="25400">
              <a:solidFill>
                <a:srgbClr val="A9B0B8"/>
              </a:solidFill>
              <a:prstDash val="dash"/>
            </a:ln>
          </p:spPr>
        </p:cxnSp>
        <p:sp>
          <p:nvSpPr>
            <p:cNvPr id="59" name="Oval 58"/>
            <p:cNvSpPr/>
            <p:nvPr/>
          </p:nvSpPr>
          <p:spPr>
            <a:xfrm>
              <a:off x="10474451" y="1826705"/>
              <a:ext cx="237744" cy="237744"/>
            </a:xfrm>
            <a:prstGeom prst="ellipse">
              <a:avLst/>
            </a:prstGeom>
            <a:solidFill>
              <a:srgbClr val="E8E8E8"/>
            </a:solidFill>
            <a:ln w="38100">
              <a:solidFill>
                <a:srgbClr val="F28C28"/>
              </a:solidFill>
            </a:ln>
          </p:spPr>
          <p:txBody>
            <a:bodyPr rtlCol="0" anchor="ctr"/>
            <a:lstStyle/>
            <a:p>
              <a:pPr algn="ctr"/>
              <a:endParaRPr/>
            </a:p>
          </p:txBody>
        </p:sp>
      </p:grpSp>
      <p:grpSp>
        <p:nvGrpSpPr>
          <p:cNvPr id="60" name="CARDS checks" descr="Five check cards, each marked with a question mark: curves, slopes, clearances, piece lengths, connections."/>
          <p:cNvGrpSpPr/>
          <p:nvPr/>
        </p:nvGrpSpPr>
        <p:grpSpPr>
          <a:xfrm>
            <a:off x="548640" y="3931920"/>
            <a:ext cx="11091672" cy="1325880"/>
            <a:chOff x="548640" y="3931920"/>
            <a:chExt cx="11091672" cy="1325880"/>
          </a:xfrm>
        </p:grpSpPr>
        <p:sp>
          <p:nvSpPr>
            <p:cNvPr id="61" name="Rounded Rectangle 60"/>
            <p:cNvSpPr/>
            <p:nvPr/>
          </p:nvSpPr>
          <p:spPr>
            <a:xfrm>
              <a:off x="548640" y="3931920"/>
              <a:ext cx="2093976" cy="1325880"/>
            </a:xfrm>
            <a:prstGeom prst="roundRect">
              <a:avLst>
                <a:gd name="adj" fmla="val 5517"/>
              </a:avLst>
            </a:prstGeom>
            <a:solidFill>
              <a:srgbClr val="2B2F36"/>
            </a:solidFill>
            <a:ln>
              <a:noFill/>
            </a:ln>
          </p:spPr>
          <p:txBody>
            <a:bodyPr rtlCol="0" anchor="ctr"/>
            <a:lstStyle/>
            <a:p>
              <a:pPr algn="ctr"/>
              <a:endParaRPr/>
            </a:p>
          </p:txBody>
        </p:sp>
        <p:sp>
          <p:nvSpPr>
            <p:cNvPr id="62" name="TextBox 61"/>
            <p:cNvSpPr txBox="1"/>
            <p:nvPr/>
          </p:nvSpPr>
          <p:spPr>
            <a:xfrm>
              <a:off x="594360" y="4041648"/>
              <a:ext cx="2002536"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Curves</a:t>
              </a:r>
            </a:p>
          </p:txBody>
        </p:sp>
        <p:sp>
          <p:nvSpPr>
            <p:cNvPr id="63" name="QBADGE"/>
            <p:cNvSpPr/>
            <p:nvPr/>
          </p:nvSpPr>
          <p:spPr>
            <a:xfrm>
              <a:off x="1367028" y="4599432"/>
              <a:ext cx="457200" cy="457200"/>
            </a:xfrm>
            <a:prstGeom prst="ellipse">
              <a:avLst/>
            </a:prstGeom>
            <a:noFill/>
            <a:ln w="25400">
              <a:solidFill>
                <a:srgbClr val="A9B0B8"/>
              </a:solidFill>
            </a:ln>
          </p:spPr>
          <p:txBody>
            <a:bodyPr wrap="square" lIns="0" tIns="0" rIns="0" bIns="0" rtlCol="0" anchor="ctr">
              <a:noAutofit/>
            </a:bodyPr>
            <a:lstStyle/>
            <a:p>
              <a:pPr algn="ctr"/>
              <a:r>
                <a:rPr lang="en-GB" sz="2200" b="1" i="0">
                  <a:solidFill>
                    <a:srgbClr val="F2F2F2"/>
                  </a:solidFill>
                  <a:latin typeface="Arial"/>
                </a:rPr>
                <a:t>?</a:t>
              </a:r>
            </a:p>
          </p:txBody>
        </p:sp>
        <p:sp>
          <p:nvSpPr>
            <p:cNvPr id="64" name="Rounded Rectangle 63"/>
            <p:cNvSpPr/>
            <p:nvPr/>
          </p:nvSpPr>
          <p:spPr>
            <a:xfrm>
              <a:off x="2798064" y="3931920"/>
              <a:ext cx="2093976" cy="1325880"/>
            </a:xfrm>
            <a:prstGeom prst="roundRect">
              <a:avLst>
                <a:gd name="adj" fmla="val 5517"/>
              </a:avLst>
            </a:prstGeom>
            <a:solidFill>
              <a:srgbClr val="2B2F36"/>
            </a:solidFill>
            <a:ln>
              <a:noFill/>
            </a:ln>
          </p:spPr>
          <p:txBody>
            <a:bodyPr rtlCol="0" anchor="ctr"/>
            <a:lstStyle/>
            <a:p>
              <a:pPr algn="ctr"/>
              <a:endParaRPr/>
            </a:p>
          </p:txBody>
        </p:sp>
        <p:sp>
          <p:nvSpPr>
            <p:cNvPr id="65" name="TextBox 64"/>
            <p:cNvSpPr txBox="1"/>
            <p:nvPr/>
          </p:nvSpPr>
          <p:spPr>
            <a:xfrm>
              <a:off x="2843784" y="4041648"/>
              <a:ext cx="2002536"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Slopes</a:t>
              </a:r>
            </a:p>
          </p:txBody>
        </p:sp>
        <p:sp>
          <p:nvSpPr>
            <p:cNvPr id="66" name="QBADGE"/>
            <p:cNvSpPr/>
            <p:nvPr/>
          </p:nvSpPr>
          <p:spPr>
            <a:xfrm>
              <a:off x="3616452" y="4599432"/>
              <a:ext cx="457200" cy="457200"/>
            </a:xfrm>
            <a:prstGeom prst="ellipse">
              <a:avLst/>
            </a:prstGeom>
            <a:noFill/>
            <a:ln w="25400">
              <a:solidFill>
                <a:srgbClr val="A9B0B8"/>
              </a:solidFill>
            </a:ln>
          </p:spPr>
          <p:txBody>
            <a:bodyPr wrap="square" lIns="0" tIns="0" rIns="0" bIns="0" rtlCol="0" anchor="ctr">
              <a:noAutofit/>
            </a:bodyPr>
            <a:lstStyle/>
            <a:p>
              <a:pPr algn="ctr"/>
              <a:r>
                <a:rPr lang="en-GB" sz="2200" b="1" i="0">
                  <a:solidFill>
                    <a:srgbClr val="F2F2F2"/>
                  </a:solidFill>
                  <a:latin typeface="Arial"/>
                </a:rPr>
                <a:t>?</a:t>
              </a:r>
            </a:p>
          </p:txBody>
        </p:sp>
        <p:sp>
          <p:nvSpPr>
            <p:cNvPr id="67" name="Rounded Rectangle 66"/>
            <p:cNvSpPr/>
            <p:nvPr/>
          </p:nvSpPr>
          <p:spPr>
            <a:xfrm>
              <a:off x="5047488" y="3931920"/>
              <a:ext cx="2093976" cy="1325880"/>
            </a:xfrm>
            <a:prstGeom prst="roundRect">
              <a:avLst>
                <a:gd name="adj" fmla="val 5517"/>
              </a:avLst>
            </a:prstGeom>
            <a:solidFill>
              <a:srgbClr val="2B2F36"/>
            </a:solidFill>
            <a:ln>
              <a:noFill/>
            </a:ln>
          </p:spPr>
          <p:txBody>
            <a:bodyPr rtlCol="0" anchor="ctr"/>
            <a:lstStyle/>
            <a:p>
              <a:pPr algn="ctr"/>
              <a:endParaRPr/>
            </a:p>
          </p:txBody>
        </p:sp>
        <p:sp>
          <p:nvSpPr>
            <p:cNvPr id="68" name="TextBox 67"/>
            <p:cNvSpPr txBox="1"/>
            <p:nvPr/>
          </p:nvSpPr>
          <p:spPr>
            <a:xfrm>
              <a:off x="5093207" y="4041648"/>
              <a:ext cx="2002536"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Clearances</a:t>
              </a:r>
            </a:p>
          </p:txBody>
        </p:sp>
        <p:sp>
          <p:nvSpPr>
            <p:cNvPr id="69" name="QBADGE"/>
            <p:cNvSpPr/>
            <p:nvPr/>
          </p:nvSpPr>
          <p:spPr>
            <a:xfrm>
              <a:off x="5865875" y="4599432"/>
              <a:ext cx="457200" cy="457200"/>
            </a:xfrm>
            <a:prstGeom prst="ellipse">
              <a:avLst/>
            </a:prstGeom>
            <a:noFill/>
            <a:ln w="25400">
              <a:solidFill>
                <a:srgbClr val="A9B0B8"/>
              </a:solidFill>
            </a:ln>
          </p:spPr>
          <p:txBody>
            <a:bodyPr wrap="square" lIns="0" tIns="0" rIns="0" bIns="0" rtlCol="0" anchor="ctr">
              <a:noAutofit/>
            </a:bodyPr>
            <a:lstStyle/>
            <a:p>
              <a:pPr algn="ctr"/>
              <a:r>
                <a:rPr lang="en-GB" sz="2200" b="1" i="0">
                  <a:solidFill>
                    <a:srgbClr val="F2F2F2"/>
                  </a:solidFill>
                  <a:latin typeface="Arial"/>
                </a:rPr>
                <a:t>?</a:t>
              </a:r>
            </a:p>
          </p:txBody>
        </p:sp>
        <p:sp>
          <p:nvSpPr>
            <p:cNvPr id="70" name="Rounded Rectangle 69"/>
            <p:cNvSpPr/>
            <p:nvPr/>
          </p:nvSpPr>
          <p:spPr>
            <a:xfrm>
              <a:off x="7296912" y="3931920"/>
              <a:ext cx="2093976" cy="1325880"/>
            </a:xfrm>
            <a:prstGeom prst="roundRect">
              <a:avLst>
                <a:gd name="adj" fmla="val 5517"/>
              </a:avLst>
            </a:prstGeom>
            <a:solidFill>
              <a:srgbClr val="2B2F36"/>
            </a:solidFill>
            <a:ln>
              <a:noFill/>
            </a:ln>
          </p:spPr>
          <p:txBody>
            <a:bodyPr rtlCol="0" anchor="ctr"/>
            <a:lstStyle/>
            <a:p>
              <a:pPr algn="ctr"/>
              <a:endParaRPr/>
            </a:p>
          </p:txBody>
        </p:sp>
        <p:sp>
          <p:nvSpPr>
            <p:cNvPr id="71" name="TextBox 70"/>
            <p:cNvSpPr txBox="1"/>
            <p:nvPr/>
          </p:nvSpPr>
          <p:spPr>
            <a:xfrm>
              <a:off x="7342631" y="4041648"/>
              <a:ext cx="2002536"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Piece lengths</a:t>
              </a:r>
            </a:p>
          </p:txBody>
        </p:sp>
        <p:sp>
          <p:nvSpPr>
            <p:cNvPr id="72" name="QBADGE"/>
            <p:cNvSpPr/>
            <p:nvPr/>
          </p:nvSpPr>
          <p:spPr>
            <a:xfrm>
              <a:off x="8115300" y="4599432"/>
              <a:ext cx="457200" cy="457200"/>
            </a:xfrm>
            <a:prstGeom prst="ellipse">
              <a:avLst/>
            </a:prstGeom>
            <a:noFill/>
            <a:ln w="25400">
              <a:solidFill>
                <a:srgbClr val="A9B0B8"/>
              </a:solidFill>
            </a:ln>
          </p:spPr>
          <p:txBody>
            <a:bodyPr wrap="square" lIns="0" tIns="0" rIns="0" bIns="0" rtlCol="0" anchor="ctr">
              <a:noAutofit/>
            </a:bodyPr>
            <a:lstStyle/>
            <a:p>
              <a:pPr algn="ctr"/>
              <a:r>
                <a:rPr lang="en-GB" sz="2200" b="1" i="0">
                  <a:solidFill>
                    <a:srgbClr val="F2F2F2"/>
                  </a:solidFill>
                  <a:latin typeface="Arial"/>
                </a:rPr>
                <a:t>?</a:t>
              </a:r>
            </a:p>
          </p:txBody>
        </p:sp>
        <p:sp>
          <p:nvSpPr>
            <p:cNvPr id="73" name="Rounded Rectangle 72"/>
            <p:cNvSpPr/>
            <p:nvPr/>
          </p:nvSpPr>
          <p:spPr>
            <a:xfrm>
              <a:off x="9546336" y="3931920"/>
              <a:ext cx="2093976" cy="1325880"/>
            </a:xfrm>
            <a:prstGeom prst="roundRect">
              <a:avLst>
                <a:gd name="adj" fmla="val 5517"/>
              </a:avLst>
            </a:prstGeom>
            <a:solidFill>
              <a:srgbClr val="2B2F36"/>
            </a:solidFill>
            <a:ln>
              <a:noFill/>
            </a:ln>
          </p:spPr>
          <p:txBody>
            <a:bodyPr rtlCol="0" anchor="ctr"/>
            <a:lstStyle/>
            <a:p>
              <a:pPr algn="ctr"/>
              <a:endParaRPr/>
            </a:p>
          </p:txBody>
        </p:sp>
        <p:sp>
          <p:nvSpPr>
            <p:cNvPr id="74" name="TextBox 73"/>
            <p:cNvSpPr txBox="1"/>
            <p:nvPr/>
          </p:nvSpPr>
          <p:spPr>
            <a:xfrm>
              <a:off x="9592056" y="4041648"/>
              <a:ext cx="2002536"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Connections</a:t>
              </a:r>
            </a:p>
          </p:txBody>
        </p:sp>
        <p:sp>
          <p:nvSpPr>
            <p:cNvPr id="75" name="QBADGE"/>
            <p:cNvSpPr/>
            <p:nvPr/>
          </p:nvSpPr>
          <p:spPr>
            <a:xfrm>
              <a:off x="10364724" y="4599432"/>
              <a:ext cx="457200" cy="457200"/>
            </a:xfrm>
            <a:prstGeom prst="ellipse">
              <a:avLst/>
            </a:prstGeom>
            <a:noFill/>
            <a:ln w="25400">
              <a:solidFill>
                <a:srgbClr val="A9B0B8"/>
              </a:solidFill>
            </a:ln>
          </p:spPr>
          <p:txBody>
            <a:bodyPr wrap="square" lIns="0" tIns="0" rIns="0" bIns="0" rtlCol="0" anchor="ctr">
              <a:noAutofit/>
            </a:bodyPr>
            <a:lstStyle/>
            <a:p>
              <a:pPr algn="ctr"/>
              <a:r>
                <a:rPr lang="en-GB" sz="2200" b="1" i="0">
                  <a:solidFill>
                    <a:srgbClr val="F2F2F2"/>
                  </a:solidFill>
                  <a:latin typeface="Arial"/>
                </a:rPr>
                <a:t>?</a:t>
              </a:r>
            </a:p>
          </p:txBody>
        </p:sp>
      </p:grpSp>
      <p:sp>
        <p:nvSpPr>
          <p:cNvPr id="76" name="FOOTER"/>
          <p:cNvSpPr txBox="1"/>
          <p:nvPr/>
        </p:nvSpPr>
        <p:spPr>
          <a:xfrm>
            <a:off x="9784080" y="5349240"/>
            <a:ext cx="1856231"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OQ12</a:t>
            </a:r>
          </a:p>
        </p:txBody>
      </p:sp>
      <p:sp>
        <p:nvSpPr>
          <p:cNvPr id="7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78"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79"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Not every shape may convert. Exact copies are not promised yet.</a:t>
            </a:r>
          </a:p>
        </p:txBody>
      </p:sp>
      <p:sp>
        <p:nvSpPr>
          <p:cNvPr id="80"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9</a:t>
            </a:r>
          </a:p>
        </p:txBody>
      </p:sp>
    </p:spTree>
    <p:extLst>
      <p:ext uri="{BB962C8B-B14F-4D97-AF65-F5344CB8AC3E}">
        <p14:creationId xmlns:p14="http://schemas.microsoft.com/office/powerpoint/2010/main" val="35974927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0"/>
                                        </p:tgtEl>
                                        <p:attrNameLst>
                                          <p:attrName>style.visibility</p:attrName>
                                        </p:attrNameLst>
                                      </p:cBhvr>
                                      <p:to>
                                        <p:strVal val="visible"/>
                                      </p:to>
                                    </p:set>
                                    <p:animEffect transition="in" filter="fade">
                                      <p:cBhvr>
                                        <p:cTn id="10" dur="500"/>
                                        <p:tgtEl>
                                          <p:spTgt spid="60"/>
                                        </p:tgtEl>
                                      </p:cBhvr>
                                    </p:animEffect>
                                  </p:childTnLst>
                                </p:cTn>
                              </p:par>
                              <p:par>
                                <p:cTn id="11" presetID="10" presetClass="entr" presetSubtype="0" fill="hold" nodeType="withEffect">
                                  <p:stCondLst>
                                    <p:cond delay="600"/>
                                  </p:stCondLst>
                                  <p:childTnLst>
                                    <p:set>
                                      <p:cBhvr>
                                        <p:cTn id="12" dur="1" fill="hold">
                                          <p:stCondLst>
                                            <p:cond delay="0"/>
                                          </p:stCondLst>
                                        </p:cTn>
                                        <p:tgtEl>
                                          <p:spTgt spid="76"/>
                                        </p:tgtEl>
                                        <p:attrNameLst>
                                          <p:attrName>style.visibility</p:attrName>
                                        </p:attrNameLst>
                                      </p:cBhvr>
                                      <p:to>
                                        <p:strVal val="visible"/>
                                      </p:to>
                                    </p:set>
                                    <p:animEffect transition="in" filter="fade">
                                      <p:cBhvr>
                                        <p:cTn id="13" dur="500"/>
                                        <p:tgtEl>
                                          <p:spTgt spid="76"/>
                                        </p:tgtEl>
                                      </p:cBhvr>
                                    </p:animEffect>
                                  </p:childTnLst>
                                </p:cTn>
                              </p:par>
                              <p:par>
                                <p:cTn id="14" presetID="10" presetClass="entr" presetSubtype="0" fill="hold" nodeType="withEffect">
                                  <p:stCondLst>
                                    <p:cond delay="900"/>
                                  </p:stCondLst>
                                  <p:childTnLst>
                                    <p:set>
                                      <p:cBhvr>
                                        <p:cTn id="15" dur="1" fill="hold">
                                          <p:stCondLst>
                                            <p:cond delay="0"/>
                                          </p:stCondLst>
                                        </p:cTn>
                                        <p:tgtEl>
                                          <p:spTgt spid="77"/>
                                        </p:tgtEl>
                                        <p:attrNameLst>
                                          <p:attrName>style.visibility</p:attrName>
                                        </p:attrNameLst>
                                      </p:cBhvr>
                                      <p:to>
                                        <p:strVal val="visible"/>
                                      </p:to>
                                    </p:set>
                                    <p:animEffect transition="in" filter="fade">
                                      <p:cBhvr>
                                        <p:cTn id="16" dur="500"/>
                                        <p:tgtEl>
                                          <p:spTgt spid="77"/>
                                        </p:tgtEl>
                                      </p:cBhvr>
                                    </p:animEffect>
                                  </p:childTnLst>
                                </p:cTn>
                              </p:par>
                              <p:par>
                                <p:cTn id="17" presetID="10" presetClass="entr" presetSubtype="0" fill="hold" nodeType="withEffect">
                                  <p:stCondLst>
                                    <p:cond delay="1200"/>
                                  </p:stCondLst>
                                  <p:childTnLst>
                                    <p:set>
                                      <p:cBhvr>
                                        <p:cTn id="18" dur="1" fill="hold">
                                          <p:stCondLst>
                                            <p:cond delay="0"/>
                                          </p:stCondLst>
                                        </p:cTn>
                                        <p:tgtEl>
                                          <p:spTgt spid="78"/>
                                        </p:tgtEl>
                                        <p:attrNameLst>
                                          <p:attrName>style.visibility</p:attrName>
                                        </p:attrNameLst>
                                      </p:cBhvr>
                                      <p:to>
                                        <p:strVal val="visible"/>
                                      </p:to>
                                    </p:set>
                                    <p:animEffect transition="in" filter="fade">
                                      <p:cBhvr>
                                        <p:cTn id="19" dur="500"/>
                                        <p:tgtEl>
                                          <p:spTgt spid="78"/>
                                        </p:tgtEl>
                                      </p:cBhvr>
                                    </p:animEffect>
                                  </p:childTnLst>
                                </p:cTn>
                              </p:par>
                              <p:par>
                                <p:cTn id="20" presetID="10" presetClass="entr" presetSubtype="0" fill="hold" nodeType="withEffect">
                                  <p:stCondLst>
                                    <p:cond delay="1500"/>
                                  </p:stCondLst>
                                  <p:childTnLst>
                                    <p:set>
                                      <p:cBhvr>
                                        <p:cTn id="21" dur="1" fill="hold">
                                          <p:stCondLst>
                                            <p:cond delay="0"/>
                                          </p:stCondLst>
                                        </p:cTn>
                                        <p:tgtEl>
                                          <p:spTgt spid="79"/>
                                        </p:tgtEl>
                                        <p:attrNameLst>
                                          <p:attrName>style.visibility</p:attrName>
                                        </p:attrNameLst>
                                      </p:cBhvr>
                                      <p:to>
                                        <p:strVal val="visible"/>
                                      </p:to>
                                    </p:set>
                                    <p:animEffect transition="in" filter="fade">
                                      <p:cBhvr>
                                        <p:cTn id="22"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Stations change too</a:t>
            </a:r>
          </a:p>
        </p:txBody>
      </p:sp>
      <p:sp>
        <p:nvSpPr>
          <p:cNvPr id="3" name="CHIP"/>
          <p:cNvSpPr/>
          <p:nvPr/>
        </p:nvSpPr>
        <p:spPr>
          <a:xfrm>
            <a:off x="10088575" y="548640"/>
            <a:ext cx="1554480" cy="365760"/>
          </a:xfrm>
          <a:prstGeom prst="roundRect">
            <a:avLst>
              <a:gd name="adj" fmla="val 50000"/>
            </a:avLst>
          </a:prstGeom>
          <a:solidFill>
            <a:srgbClr val="B084F5"/>
          </a:solidFill>
          <a:ln>
            <a:noFill/>
          </a:ln>
        </p:spPr>
        <p:txBody>
          <a:bodyPr wrap="square" lIns="36576" tIns="0" rIns="36576" bIns="0" rtlCol="0" anchor="ctr">
            <a:noAutofit/>
          </a:bodyPr>
          <a:lstStyle/>
          <a:p>
            <a:pPr algn="ctr"/>
            <a:r>
              <a:rPr lang="en-GB" sz="1400" b="1" i="0">
                <a:solidFill>
                  <a:srgbClr val="101418"/>
                </a:solidFill>
                <a:latin typeface="Arial"/>
              </a:rPr>
              <a:t>PROPOSED</a:t>
            </a:r>
          </a:p>
        </p:txBody>
      </p:sp>
      <p:grpSp>
        <p:nvGrpSpPr>
          <p:cNvPr id="4" name="DIAGRAM station replacement" descr="Plan view: a large dashed steam station with water tower, coal stage, signal box and platform blocks, replaced by a small solid electric station on the same track."/>
          <p:cNvGrpSpPr/>
          <p:nvPr/>
        </p:nvGrpSpPr>
        <p:grpSpPr>
          <a:xfrm>
            <a:off x="731520" y="1508760"/>
            <a:ext cx="10881360" cy="3703320"/>
            <a:chOff x="731520" y="1508760"/>
            <a:chExt cx="10881360" cy="3703320"/>
          </a:xfrm>
        </p:grpSpPr>
        <p:sp>
          <p:nvSpPr>
            <p:cNvPr id="5" name="Rectangle 4"/>
            <p:cNvSpPr/>
            <p:nvPr/>
          </p:nvSpPr>
          <p:spPr>
            <a:xfrm>
              <a:off x="822960" y="3547872"/>
              <a:ext cx="54864" cy="420624"/>
            </a:xfrm>
            <a:prstGeom prst="rect">
              <a:avLst/>
            </a:prstGeom>
            <a:solidFill>
              <a:srgbClr val="6B5B4B"/>
            </a:solidFill>
            <a:ln>
              <a:noFill/>
            </a:ln>
          </p:spPr>
          <p:txBody>
            <a:bodyPr rtlCol="0" anchor="ctr"/>
            <a:lstStyle/>
            <a:p>
              <a:pPr algn="ctr"/>
              <a:endParaRPr/>
            </a:p>
          </p:txBody>
        </p:sp>
        <p:sp>
          <p:nvSpPr>
            <p:cNvPr id="6" name="Rectangle 5"/>
            <p:cNvSpPr/>
            <p:nvPr/>
          </p:nvSpPr>
          <p:spPr>
            <a:xfrm>
              <a:off x="1188720" y="3547872"/>
              <a:ext cx="54864" cy="420624"/>
            </a:xfrm>
            <a:prstGeom prst="rect">
              <a:avLst/>
            </a:prstGeom>
            <a:solidFill>
              <a:srgbClr val="6B5B4B"/>
            </a:solidFill>
            <a:ln>
              <a:noFill/>
            </a:ln>
          </p:spPr>
          <p:txBody>
            <a:bodyPr rtlCol="0" anchor="ctr"/>
            <a:lstStyle/>
            <a:p>
              <a:pPr algn="ctr"/>
              <a:endParaRPr/>
            </a:p>
          </p:txBody>
        </p:sp>
        <p:sp>
          <p:nvSpPr>
            <p:cNvPr id="7" name="Rectangle 6"/>
            <p:cNvSpPr/>
            <p:nvPr/>
          </p:nvSpPr>
          <p:spPr>
            <a:xfrm>
              <a:off x="1554480" y="3547872"/>
              <a:ext cx="54864" cy="420624"/>
            </a:xfrm>
            <a:prstGeom prst="rect">
              <a:avLst/>
            </a:prstGeom>
            <a:solidFill>
              <a:srgbClr val="6B5B4B"/>
            </a:solidFill>
            <a:ln>
              <a:noFill/>
            </a:ln>
          </p:spPr>
          <p:txBody>
            <a:bodyPr rtlCol="0" anchor="ctr"/>
            <a:lstStyle/>
            <a:p>
              <a:pPr algn="ctr"/>
              <a:endParaRPr/>
            </a:p>
          </p:txBody>
        </p:sp>
        <p:sp>
          <p:nvSpPr>
            <p:cNvPr id="8" name="Rectangle 7"/>
            <p:cNvSpPr/>
            <p:nvPr/>
          </p:nvSpPr>
          <p:spPr>
            <a:xfrm>
              <a:off x="1920240" y="3547872"/>
              <a:ext cx="54864" cy="420624"/>
            </a:xfrm>
            <a:prstGeom prst="rect">
              <a:avLst/>
            </a:prstGeom>
            <a:solidFill>
              <a:srgbClr val="6B5B4B"/>
            </a:solidFill>
            <a:ln>
              <a:noFill/>
            </a:ln>
          </p:spPr>
          <p:txBody>
            <a:bodyPr rtlCol="0" anchor="ctr"/>
            <a:lstStyle/>
            <a:p>
              <a:pPr algn="ctr"/>
              <a:endParaRPr/>
            </a:p>
          </p:txBody>
        </p:sp>
        <p:sp>
          <p:nvSpPr>
            <p:cNvPr id="9" name="Rectangle 8"/>
            <p:cNvSpPr/>
            <p:nvPr/>
          </p:nvSpPr>
          <p:spPr>
            <a:xfrm>
              <a:off x="2286000" y="3547872"/>
              <a:ext cx="54864" cy="420624"/>
            </a:xfrm>
            <a:prstGeom prst="rect">
              <a:avLst/>
            </a:prstGeom>
            <a:solidFill>
              <a:srgbClr val="6B5B4B"/>
            </a:solidFill>
            <a:ln>
              <a:noFill/>
            </a:ln>
          </p:spPr>
          <p:txBody>
            <a:bodyPr rtlCol="0" anchor="ctr"/>
            <a:lstStyle/>
            <a:p>
              <a:pPr algn="ctr"/>
              <a:endParaRPr/>
            </a:p>
          </p:txBody>
        </p:sp>
        <p:sp>
          <p:nvSpPr>
            <p:cNvPr id="10" name="Rectangle 9"/>
            <p:cNvSpPr/>
            <p:nvPr/>
          </p:nvSpPr>
          <p:spPr>
            <a:xfrm>
              <a:off x="2651760" y="3547872"/>
              <a:ext cx="54864" cy="420624"/>
            </a:xfrm>
            <a:prstGeom prst="rect">
              <a:avLst/>
            </a:prstGeom>
            <a:solidFill>
              <a:srgbClr val="6B5B4B"/>
            </a:solidFill>
            <a:ln>
              <a:noFill/>
            </a:ln>
          </p:spPr>
          <p:txBody>
            <a:bodyPr rtlCol="0" anchor="ctr"/>
            <a:lstStyle/>
            <a:p>
              <a:pPr algn="ctr"/>
              <a:endParaRPr/>
            </a:p>
          </p:txBody>
        </p:sp>
        <p:sp>
          <p:nvSpPr>
            <p:cNvPr id="11" name="Rectangle 10"/>
            <p:cNvSpPr/>
            <p:nvPr/>
          </p:nvSpPr>
          <p:spPr>
            <a:xfrm>
              <a:off x="3017520" y="3547872"/>
              <a:ext cx="54864" cy="420624"/>
            </a:xfrm>
            <a:prstGeom prst="rect">
              <a:avLst/>
            </a:prstGeom>
            <a:solidFill>
              <a:srgbClr val="6B5B4B"/>
            </a:solidFill>
            <a:ln>
              <a:noFill/>
            </a:ln>
          </p:spPr>
          <p:txBody>
            <a:bodyPr rtlCol="0" anchor="ctr"/>
            <a:lstStyle/>
            <a:p>
              <a:pPr algn="ctr"/>
              <a:endParaRPr/>
            </a:p>
          </p:txBody>
        </p:sp>
        <p:sp>
          <p:nvSpPr>
            <p:cNvPr id="12" name="Rectangle 11"/>
            <p:cNvSpPr/>
            <p:nvPr/>
          </p:nvSpPr>
          <p:spPr>
            <a:xfrm>
              <a:off x="3383279" y="3547872"/>
              <a:ext cx="54864" cy="420624"/>
            </a:xfrm>
            <a:prstGeom prst="rect">
              <a:avLst/>
            </a:prstGeom>
            <a:solidFill>
              <a:srgbClr val="6B5B4B"/>
            </a:solidFill>
            <a:ln>
              <a:noFill/>
            </a:ln>
          </p:spPr>
          <p:txBody>
            <a:bodyPr rtlCol="0" anchor="ctr"/>
            <a:lstStyle/>
            <a:p>
              <a:pPr algn="ctr"/>
              <a:endParaRPr/>
            </a:p>
          </p:txBody>
        </p:sp>
        <p:sp>
          <p:nvSpPr>
            <p:cNvPr id="13" name="Rectangle 12"/>
            <p:cNvSpPr/>
            <p:nvPr/>
          </p:nvSpPr>
          <p:spPr>
            <a:xfrm>
              <a:off x="3749039" y="3547872"/>
              <a:ext cx="54864" cy="420624"/>
            </a:xfrm>
            <a:prstGeom prst="rect">
              <a:avLst/>
            </a:prstGeom>
            <a:solidFill>
              <a:srgbClr val="6B5B4B"/>
            </a:solidFill>
            <a:ln>
              <a:noFill/>
            </a:ln>
          </p:spPr>
          <p:txBody>
            <a:bodyPr rtlCol="0" anchor="ctr"/>
            <a:lstStyle/>
            <a:p>
              <a:pPr algn="ctr"/>
              <a:endParaRPr/>
            </a:p>
          </p:txBody>
        </p:sp>
        <p:sp>
          <p:nvSpPr>
            <p:cNvPr id="14" name="Rectangle 13"/>
            <p:cNvSpPr/>
            <p:nvPr/>
          </p:nvSpPr>
          <p:spPr>
            <a:xfrm>
              <a:off x="4114800" y="3547872"/>
              <a:ext cx="54864" cy="420624"/>
            </a:xfrm>
            <a:prstGeom prst="rect">
              <a:avLst/>
            </a:prstGeom>
            <a:solidFill>
              <a:srgbClr val="6B5B4B"/>
            </a:solidFill>
            <a:ln>
              <a:noFill/>
            </a:ln>
          </p:spPr>
          <p:txBody>
            <a:bodyPr rtlCol="0" anchor="ctr"/>
            <a:lstStyle/>
            <a:p>
              <a:pPr algn="ctr"/>
              <a:endParaRPr/>
            </a:p>
          </p:txBody>
        </p:sp>
        <p:sp>
          <p:nvSpPr>
            <p:cNvPr id="15" name="Rectangle 14"/>
            <p:cNvSpPr/>
            <p:nvPr/>
          </p:nvSpPr>
          <p:spPr>
            <a:xfrm>
              <a:off x="4480560" y="3547872"/>
              <a:ext cx="54864" cy="420624"/>
            </a:xfrm>
            <a:prstGeom prst="rect">
              <a:avLst/>
            </a:prstGeom>
            <a:solidFill>
              <a:srgbClr val="6B5B4B"/>
            </a:solidFill>
            <a:ln>
              <a:noFill/>
            </a:ln>
          </p:spPr>
          <p:txBody>
            <a:bodyPr rtlCol="0" anchor="ctr"/>
            <a:lstStyle/>
            <a:p>
              <a:pPr algn="ctr"/>
              <a:endParaRPr/>
            </a:p>
          </p:txBody>
        </p:sp>
        <p:sp>
          <p:nvSpPr>
            <p:cNvPr id="16" name="Rectangle 15"/>
            <p:cNvSpPr/>
            <p:nvPr/>
          </p:nvSpPr>
          <p:spPr>
            <a:xfrm>
              <a:off x="4846320" y="3547872"/>
              <a:ext cx="54864" cy="420624"/>
            </a:xfrm>
            <a:prstGeom prst="rect">
              <a:avLst/>
            </a:prstGeom>
            <a:solidFill>
              <a:srgbClr val="6B5B4B"/>
            </a:solidFill>
            <a:ln>
              <a:noFill/>
            </a:ln>
          </p:spPr>
          <p:txBody>
            <a:bodyPr rtlCol="0" anchor="ctr"/>
            <a:lstStyle/>
            <a:p>
              <a:pPr algn="ctr"/>
              <a:endParaRPr/>
            </a:p>
          </p:txBody>
        </p:sp>
        <p:sp>
          <p:nvSpPr>
            <p:cNvPr id="17" name="Rectangle 16"/>
            <p:cNvSpPr/>
            <p:nvPr/>
          </p:nvSpPr>
          <p:spPr>
            <a:xfrm>
              <a:off x="5212080" y="3547872"/>
              <a:ext cx="54864" cy="420624"/>
            </a:xfrm>
            <a:prstGeom prst="rect">
              <a:avLst/>
            </a:prstGeom>
            <a:solidFill>
              <a:srgbClr val="6B5B4B"/>
            </a:solidFill>
            <a:ln>
              <a:noFill/>
            </a:ln>
          </p:spPr>
          <p:txBody>
            <a:bodyPr rtlCol="0" anchor="ctr"/>
            <a:lstStyle/>
            <a:p>
              <a:pPr algn="ctr"/>
              <a:endParaRPr/>
            </a:p>
          </p:txBody>
        </p:sp>
        <p:sp>
          <p:nvSpPr>
            <p:cNvPr id="18" name="Rectangle 17"/>
            <p:cNvSpPr/>
            <p:nvPr/>
          </p:nvSpPr>
          <p:spPr>
            <a:xfrm>
              <a:off x="5577840" y="3547872"/>
              <a:ext cx="54864" cy="420624"/>
            </a:xfrm>
            <a:prstGeom prst="rect">
              <a:avLst/>
            </a:prstGeom>
            <a:solidFill>
              <a:srgbClr val="6B5B4B"/>
            </a:solidFill>
            <a:ln>
              <a:noFill/>
            </a:ln>
          </p:spPr>
          <p:txBody>
            <a:bodyPr rtlCol="0" anchor="ctr"/>
            <a:lstStyle/>
            <a:p>
              <a:pPr algn="ctr"/>
              <a:endParaRPr/>
            </a:p>
          </p:txBody>
        </p:sp>
        <p:sp>
          <p:nvSpPr>
            <p:cNvPr id="19" name="Rectangle 18"/>
            <p:cNvSpPr/>
            <p:nvPr/>
          </p:nvSpPr>
          <p:spPr>
            <a:xfrm>
              <a:off x="5943600" y="3547872"/>
              <a:ext cx="54864" cy="420624"/>
            </a:xfrm>
            <a:prstGeom prst="rect">
              <a:avLst/>
            </a:prstGeom>
            <a:solidFill>
              <a:srgbClr val="6B5B4B"/>
            </a:solidFill>
            <a:ln>
              <a:noFill/>
            </a:ln>
          </p:spPr>
          <p:txBody>
            <a:bodyPr rtlCol="0" anchor="ctr"/>
            <a:lstStyle/>
            <a:p>
              <a:pPr algn="ctr"/>
              <a:endParaRPr/>
            </a:p>
          </p:txBody>
        </p:sp>
        <p:sp>
          <p:nvSpPr>
            <p:cNvPr id="20" name="Rectangle 19"/>
            <p:cNvSpPr/>
            <p:nvPr/>
          </p:nvSpPr>
          <p:spPr>
            <a:xfrm>
              <a:off x="6309360" y="3547872"/>
              <a:ext cx="54864" cy="420624"/>
            </a:xfrm>
            <a:prstGeom prst="rect">
              <a:avLst/>
            </a:prstGeom>
            <a:solidFill>
              <a:srgbClr val="6B5B4B"/>
            </a:solidFill>
            <a:ln>
              <a:noFill/>
            </a:ln>
          </p:spPr>
          <p:txBody>
            <a:bodyPr rtlCol="0" anchor="ctr"/>
            <a:lstStyle/>
            <a:p>
              <a:pPr algn="ctr"/>
              <a:endParaRPr/>
            </a:p>
          </p:txBody>
        </p:sp>
        <p:sp>
          <p:nvSpPr>
            <p:cNvPr id="21" name="Rectangle 20"/>
            <p:cNvSpPr/>
            <p:nvPr/>
          </p:nvSpPr>
          <p:spPr>
            <a:xfrm>
              <a:off x="6675120" y="3547872"/>
              <a:ext cx="54864" cy="420624"/>
            </a:xfrm>
            <a:prstGeom prst="rect">
              <a:avLst/>
            </a:prstGeom>
            <a:solidFill>
              <a:srgbClr val="6B5B4B"/>
            </a:solidFill>
            <a:ln>
              <a:noFill/>
            </a:ln>
          </p:spPr>
          <p:txBody>
            <a:bodyPr rtlCol="0" anchor="ctr"/>
            <a:lstStyle/>
            <a:p>
              <a:pPr algn="ctr"/>
              <a:endParaRPr/>
            </a:p>
          </p:txBody>
        </p:sp>
        <p:sp>
          <p:nvSpPr>
            <p:cNvPr id="22" name="Rectangle 21"/>
            <p:cNvSpPr/>
            <p:nvPr/>
          </p:nvSpPr>
          <p:spPr>
            <a:xfrm>
              <a:off x="7040880" y="3547872"/>
              <a:ext cx="54864" cy="420624"/>
            </a:xfrm>
            <a:prstGeom prst="rect">
              <a:avLst/>
            </a:prstGeom>
            <a:solidFill>
              <a:srgbClr val="6B5B4B"/>
            </a:solidFill>
            <a:ln>
              <a:noFill/>
            </a:ln>
          </p:spPr>
          <p:txBody>
            <a:bodyPr rtlCol="0" anchor="ctr"/>
            <a:lstStyle/>
            <a:p>
              <a:pPr algn="ctr"/>
              <a:endParaRPr/>
            </a:p>
          </p:txBody>
        </p:sp>
        <p:sp>
          <p:nvSpPr>
            <p:cNvPr id="23" name="Rectangle 22"/>
            <p:cNvSpPr/>
            <p:nvPr/>
          </p:nvSpPr>
          <p:spPr>
            <a:xfrm>
              <a:off x="7406640" y="3547872"/>
              <a:ext cx="54864" cy="420624"/>
            </a:xfrm>
            <a:prstGeom prst="rect">
              <a:avLst/>
            </a:prstGeom>
            <a:solidFill>
              <a:srgbClr val="6B5B4B"/>
            </a:solidFill>
            <a:ln>
              <a:noFill/>
            </a:ln>
          </p:spPr>
          <p:txBody>
            <a:bodyPr rtlCol="0" anchor="ctr"/>
            <a:lstStyle/>
            <a:p>
              <a:pPr algn="ctr"/>
              <a:endParaRPr/>
            </a:p>
          </p:txBody>
        </p:sp>
        <p:sp>
          <p:nvSpPr>
            <p:cNvPr id="24" name="Rectangle 23"/>
            <p:cNvSpPr/>
            <p:nvPr/>
          </p:nvSpPr>
          <p:spPr>
            <a:xfrm>
              <a:off x="7772400" y="3547872"/>
              <a:ext cx="54864" cy="420624"/>
            </a:xfrm>
            <a:prstGeom prst="rect">
              <a:avLst/>
            </a:prstGeom>
            <a:solidFill>
              <a:srgbClr val="6B5B4B"/>
            </a:solidFill>
            <a:ln>
              <a:noFill/>
            </a:ln>
          </p:spPr>
          <p:txBody>
            <a:bodyPr rtlCol="0" anchor="ctr"/>
            <a:lstStyle/>
            <a:p>
              <a:pPr algn="ctr"/>
              <a:endParaRPr/>
            </a:p>
          </p:txBody>
        </p:sp>
        <p:sp>
          <p:nvSpPr>
            <p:cNvPr id="25" name="Rectangle 24"/>
            <p:cNvSpPr/>
            <p:nvPr/>
          </p:nvSpPr>
          <p:spPr>
            <a:xfrm>
              <a:off x="8138160" y="3547872"/>
              <a:ext cx="54864" cy="420624"/>
            </a:xfrm>
            <a:prstGeom prst="rect">
              <a:avLst/>
            </a:prstGeom>
            <a:solidFill>
              <a:srgbClr val="6B5B4B"/>
            </a:solidFill>
            <a:ln>
              <a:noFill/>
            </a:ln>
          </p:spPr>
          <p:txBody>
            <a:bodyPr rtlCol="0" anchor="ctr"/>
            <a:lstStyle/>
            <a:p>
              <a:pPr algn="ctr"/>
              <a:endParaRPr/>
            </a:p>
          </p:txBody>
        </p:sp>
        <p:sp>
          <p:nvSpPr>
            <p:cNvPr id="26" name="Rectangle 25"/>
            <p:cNvSpPr/>
            <p:nvPr/>
          </p:nvSpPr>
          <p:spPr>
            <a:xfrm>
              <a:off x="8503920" y="3547872"/>
              <a:ext cx="54864" cy="420624"/>
            </a:xfrm>
            <a:prstGeom prst="rect">
              <a:avLst/>
            </a:prstGeom>
            <a:solidFill>
              <a:srgbClr val="6B5B4B"/>
            </a:solidFill>
            <a:ln>
              <a:noFill/>
            </a:ln>
          </p:spPr>
          <p:txBody>
            <a:bodyPr rtlCol="0" anchor="ctr"/>
            <a:lstStyle/>
            <a:p>
              <a:pPr algn="ctr"/>
              <a:endParaRPr/>
            </a:p>
          </p:txBody>
        </p:sp>
        <p:sp>
          <p:nvSpPr>
            <p:cNvPr id="27" name="Rectangle 26"/>
            <p:cNvSpPr/>
            <p:nvPr/>
          </p:nvSpPr>
          <p:spPr>
            <a:xfrm>
              <a:off x="8869680" y="3547872"/>
              <a:ext cx="54864" cy="420624"/>
            </a:xfrm>
            <a:prstGeom prst="rect">
              <a:avLst/>
            </a:prstGeom>
            <a:solidFill>
              <a:srgbClr val="6B5B4B"/>
            </a:solidFill>
            <a:ln>
              <a:noFill/>
            </a:ln>
          </p:spPr>
          <p:txBody>
            <a:bodyPr rtlCol="0" anchor="ctr"/>
            <a:lstStyle/>
            <a:p>
              <a:pPr algn="ctr"/>
              <a:endParaRPr/>
            </a:p>
          </p:txBody>
        </p:sp>
        <p:sp>
          <p:nvSpPr>
            <p:cNvPr id="28" name="Rectangle 27"/>
            <p:cNvSpPr/>
            <p:nvPr/>
          </p:nvSpPr>
          <p:spPr>
            <a:xfrm>
              <a:off x="9235440" y="3547872"/>
              <a:ext cx="54864" cy="420624"/>
            </a:xfrm>
            <a:prstGeom prst="rect">
              <a:avLst/>
            </a:prstGeom>
            <a:solidFill>
              <a:srgbClr val="6B5B4B"/>
            </a:solidFill>
            <a:ln>
              <a:noFill/>
            </a:ln>
          </p:spPr>
          <p:txBody>
            <a:bodyPr rtlCol="0" anchor="ctr"/>
            <a:lstStyle/>
            <a:p>
              <a:pPr algn="ctr"/>
              <a:endParaRPr/>
            </a:p>
          </p:txBody>
        </p:sp>
        <p:sp>
          <p:nvSpPr>
            <p:cNvPr id="29" name="Rectangle 28"/>
            <p:cNvSpPr/>
            <p:nvPr/>
          </p:nvSpPr>
          <p:spPr>
            <a:xfrm>
              <a:off x="9601200" y="3547872"/>
              <a:ext cx="54864" cy="420624"/>
            </a:xfrm>
            <a:prstGeom prst="rect">
              <a:avLst/>
            </a:prstGeom>
            <a:solidFill>
              <a:srgbClr val="6B5B4B"/>
            </a:solidFill>
            <a:ln>
              <a:noFill/>
            </a:ln>
          </p:spPr>
          <p:txBody>
            <a:bodyPr rtlCol="0" anchor="ctr"/>
            <a:lstStyle/>
            <a:p>
              <a:pPr algn="ctr"/>
              <a:endParaRPr/>
            </a:p>
          </p:txBody>
        </p:sp>
        <p:sp>
          <p:nvSpPr>
            <p:cNvPr id="30" name="Rectangle 29"/>
            <p:cNvSpPr/>
            <p:nvPr/>
          </p:nvSpPr>
          <p:spPr>
            <a:xfrm>
              <a:off x="9966960" y="3547872"/>
              <a:ext cx="54864" cy="420624"/>
            </a:xfrm>
            <a:prstGeom prst="rect">
              <a:avLst/>
            </a:prstGeom>
            <a:solidFill>
              <a:srgbClr val="6B5B4B"/>
            </a:solidFill>
            <a:ln>
              <a:noFill/>
            </a:ln>
          </p:spPr>
          <p:txBody>
            <a:bodyPr rtlCol="0" anchor="ctr"/>
            <a:lstStyle/>
            <a:p>
              <a:pPr algn="ctr"/>
              <a:endParaRPr/>
            </a:p>
          </p:txBody>
        </p:sp>
        <p:sp>
          <p:nvSpPr>
            <p:cNvPr id="31" name="Rectangle 30"/>
            <p:cNvSpPr/>
            <p:nvPr/>
          </p:nvSpPr>
          <p:spPr>
            <a:xfrm>
              <a:off x="10332720" y="3547872"/>
              <a:ext cx="54864" cy="420624"/>
            </a:xfrm>
            <a:prstGeom prst="rect">
              <a:avLst/>
            </a:prstGeom>
            <a:solidFill>
              <a:srgbClr val="6B5B4B"/>
            </a:solidFill>
            <a:ln>
              <a:noFill/>
            </a:ln>
          </p:spPr>
          <p:txBody>
            <a:bodyPr rtlCol="0" anchor="ctr"/>
            <a:lstStyle/>
            <a:p>
              <a:pPr algn="ctr"/>
              <a:endParaRPr/>
            </a:p>
          </p:txBody>
        </p:sp>
        <p:sp>
          <p:nvSpPr>
            <p:cNvPr id="32" name="Rectangle 31"/>
            <p:cNvSpPr/>
            <p:nvPr/>
          </p:nvSpPr>
          <p:spPr>
            <a:xfrm>
              <a:off x="10698480" y="3547872"/>
              <a:ext cx="54864" cy="420624"/>
            </a:xfrm>
            <a:prstGeom prst="rect">
              <a:avLst/>
            </a:prstGeom>
            <a:solidFill>
              <a:srgbClr val="6B5B4B"/>
            </a:solidFill>
            <a:ln>
              <a:noFill/>
            </a:ln>
          </p:spPr>
          <p:txBody>
            <a:bodyPr rtlCol="0" anchor="ctr"/>
            <a:lstStyle/>
            <a:p>
              <a:pPr algn="ctr"/>
              <a:endParaRPr/>
            </a:p>
          </p:txBody>
        </p:sp>
        <p:sp>
          <p:nvSpPr>
            <p:cNvPr id="33" name="Rectangle 32"/>
            <p:cNvSpPr/>
            <p:nvPr/>
          </p:nvSpPr>
          <p:spPr>
            <a:xfrm>
              <a:off x="11064240" y="3547872"/>
              <a:ext cx="54864" cy="420624"/>
            </a:xfrm>
            <a:prstGeom prst="rect">
              <a:avLst/>
            </a:prstGeom>
            <a:solidFill>
              <a:srgbClr val="6B5B4B"/>
            </a:solidFill>
            <a:ln>
              <a:noFill/>
            </a:ln>
          </p:spPr>
          <p:txBody>
            <a:bodyPr rtlCol="0" anchor="ctr"/>
            <a:lstStyle/>
            <a:p>
              <a:pPr algn="ctr"/>
              <a:endParaRPr/>
            </a:p>
          </p:txBody>
        </p:sp>
        <p:sp>
          <p:nvSpPr>
            <p:cNvPr id="34" name="Rectangle 33"/>
            <p:cNvSpPr/>
            <p:nvPr/>
          </p:nvSpPr>
          <p:spPr>
            <a:xfrm>
              <a:off x="11430000" y="3547872"/>
              <a:ext cx="54864" cy="420624"/>
            </a:xfrm>
            <a:prstGeom prst="rect">
              <a:avLst/>
            </a:prstGeom>
            <a:solidFill>
              <a:srgbClr val="6B5B4B"/>
            </a:solidFill>
            <a:ln>
              <a:noFill/>
            </a:ln>
          </p:spPr>
          <p:txBody>
            <a:bodyPr rtlCol="0" anchor="ctr"/>
            <a:lstStyle/>
            <a:p>
              <a:pPr algn="ctr"/>
              <a:endParaRPr/>
            </a:p>
          </p:txBody>
        </p:sp>
        <p:sp>
          <p:nvSpPr>
            <p:cNvPr id="35" name="Rectangle 34"/>
            <p:cNvSpPr/>
            <p:nvPr/>
          </p:nvSpPr>
          <p:spPr>
            <a:xfrm>
              <a:off x="731520" y="3611880"/>
              <a:ext cx="10881360" cy="54864"/>
            </a:xfrm>
            <a:prstGeom prst="rect">
              <a:avLst/>
            </a:prstGeom>
            <a:solidFill>
              <a:srgbClr val="9AA0A6"/>
            </a:solidFill>
            <a:ln>
              <a:noFill/>
            </a:ln>
          </p:spPr>
          <p:txBody>
            <a:bodyPr rtlCol="0" anchor="ctr"/>
            <a:lstStyle/>
            <a:p>
              <a:pPr algn="ctr"/>
              <a:endParaRPr/>
            </a:p>
          </p:txBody>
        </p:sp>
        <p:sp>
          <p:nvSpPr>
            <p:cNvPr id="36" name="Rectangle 35"/>
            <p:cNvSpPr/>
            <p:nvPr/>
          </p:nvSpPr>
          <p:spPr>
            <a:xfrm>
              <a:off x="731520" y="3849624"/>
              <a:ext cx="10881360" cy="54864"/>
            </a:xfrm>
            <a:prstGeom prst="rect">
              <a:avLst/>
            </a:prstGeom>
            <a:solidFill>
              <a:srgbClr val="9AA0A6"/>
            </a:solidFill>
            <a:ln>
              <a:noFill/>
            </a:ln>
          </p:spPr>
          <p:txBody>
            <a:bodyPr rtlCol="0" anchor="ctr"/>
            <a:lstStyle/>
            <a:p>
              <a:pPr algn="ctr"/>
              <a:endParaRPr/>
            </a:p>
          </p:txBody>
        </p:sp>
        <p:sp>
          <p:nvSpPr>
            <p:cNvPr id="37" name="Rounded Rectangle 36"/>
            <p:cNvSpPr/>
            <p:nvPr/>
          </p:nvSpPr>
          <p:spPr>
            <a:xfrm>
              <a:off x="731520" y="1508760"/>
              <a:ext cx="5852160" cy="3703320"/>
            </a:xfrm>
            <a:prstGeom prst="roundRect">
              <a:avLst>
                <a:gd name="adj" fmla="val 2469"/>
              </a:avLst>
            </a:prstGeom>
            <a:noFill/>
            <a:ln w="31750">
              <a:solidFill>
                <a:srgbClr val="F28C28"/>
              </a:solidFill>
              <a:prstDash val="dash"/>
            </a:ln>
          </p:spPr>
          <p:txBody>
            <a:bodyPr rtlCol="0" anchor="ctr"/>
            <a:lstStyle/>
            <a:p>
              <a:pPr algn="ctr"/>
              <a:endParaRPr/>
            </a:p>
          </p:txBody>
        </p:sp>
        <p:sp>
          <p:nvSpPr>
            <p:cNvPr id="38" name="TextBox 37"/>
            <p:cNvSpPr txBox="1"/>
            <p:nvPr/>
          </p:nvSpPr>
          <p:spPr>
            <a:xfrm>
              <a:off x="914400" y="1572768"/>
              <a:ext cx="2743200" cy="365760"/>
            </a:xfrm>
            <a:prstGeom prst="rect">
              <a:avLst/>
            </a:prstGeom>
            <a:noFill/>
          </p:spPr>
          <p:txBody>
            <a:bodyPr wrap="square" lIns="18288" tIns="9144" rIns="18288" bIns="9144" anchor="ctr">
              <a:noAutofit/>
            </a:bodyPr>
            <a:lstStyle/>
            <a:p>
              <a:pPr algn="l"/>
              <a:r>
                <a:rPr lang="en-GB" sz="1800" b="1" i="0">
                  <a:solidFill>
                    <a:srgbClr val="F28C28"/>
                  </a:solidFill>
                  <a:latin typeface="Arial"/>
                </a:rPr>
                <a:t>Steam station</a:t>
              </a:r>
            </a:p>
          </p:txBody>
        </p:sp>
        <p:sp>
          <p:nvSpPr>
            <p:cNvPr id="39" name="Rounded Rectangle 38"/>
            <p:cNvSpPr/>
            <p:nvPr/>
          </p:nvSpPr>
          <p:spPr>
            <a:xfrm>
              <a:off x="1005840" y="2240280"/>
              <a:ext cx="1554480" cy="731520"/>
            </a:xfrm>
            <a:prstGeom prst="roundRect">
              <a:avLst>
                <a:gd name="adj" fmla="val 6250"/>
              </a:avLst>
            </a:prstGeom>
            <a:solidFill>
              <a:srgbClr val="4A515B"/>
            </a:solidFill>
            <a:ln>
              <a:noFill/>
            </a:ln>
          </p:spPr>
          <p:txBody>
            <a:bodyPr wrap="square" lIns="54864" tIns="27432" rIns="54864" bIns="27432" rtlCol="0" anchor="ctr">
              <a:noAutofit/>
            </a:bodyPr>
            <a:lstStyle/>
            <a:p>
              <a:pPr algn="ctr"/>
              <a:r>
                <a:rPr lang="en-GB" sz="1400" b="1" i="0">
                  <a:solidFill>
                    <a:srgbClr val="F2F2F2"/>
                  </a:solidFill>
                  <a:latin typeface="Arial"/>
                </a:rPr>
                <a:t>Coal stage</a:t>
              </a:r>
            </a:p>
          </p:txBody>
        </p:sp>
        <p:cxnSp>
          <p:nvCxnSpPr>
            <p:cNvPr id="40" name="Connector 39"/>
            <p:cNvCxnSpPr/>
            <p:nvPr/>
          </p:nvCxnSpPr>
          <p:spPr>
            <a:xfrm>
              <a:off x="1783080" y="2971800"/>
              <a:ext cx="0" cy="594360"/>
            </a:xfrm>
            <a:prstGeom prst="line">
              <a:avLst/>
            </a:prstGeom>
            <a:ln w="38100">
              <a:solidFill>
                <a:srgbClr val="9AA0A6"/>
              </a:solidFill>
            </a:ln>
          </p:spPr>
        </p:cxnSp>
        <p:sp>
          <p:nvSpPr>
            <p:cNvPr id="41" name="Oval 40"/>
            <p:cNvSpPr/>
            <p:nvPr/>
          </p:nvSpPr>
          <p:spPr>
            <a:xfrm>
              <a:off x="3611880" y="2057400"/>
              <a:ext cx="1051560" cy="1051560"/>
            </a:xfrm>
            <a:prstGeom prst="ellipse">
              <a:avLst/>
            </a:prstGeom>
            <a:solidFill>
              <a:srgbClr val="2F5A86"/>
            </a:solidFill>
            <a:ln w="31750">
              <a:solidFill>
                <a:srgbClr val="4DA3FF"/>
              </a:solidFill>
            </a:ln>
          </p:spPr>
          <p:txBody>
            <a:bodyPr wrap="square" lIns="0" tIns="0" rIns="0" bIns="0" rtlCol="0" anchor="ctr">
              <a:noAutofit/>
            </a:bodyPr>
            <a:lstStyle/>
            <a:p>
              <a:pPr algn="ctr"/>
              <a:r>
                <a:rPr lang="en-GB" sz="1400" b="1" i="0">
                  <a:solidFill>
                    <a:srgbClr val="F2F2F2"/>
                  </a:solidFill>
                  <a:latin typeface="Arial"/>
                </a:rPr>
                <a:t>Water tower</a:t>
              </a:r>
            </a:p>
          </p:txBody>
        </p:sp>
        <p:cxnSp>
          <p:nvCxnSpPr>
            <p:cNvPr id="42" name="Connector 41"/>
            <p:cNvCxnSpPr/>
            <p:nvPr/>
          </p:nvCxnSpPr>
          <p:spPr>
            <a:xfrm>
              <a:off x="4133087" y="3108960"/>
              <a:ext cx="0" cy="457200"/>
            </a:xfrm>
            <a:prstGeom prst="line">
              <a:avLst/>
            </a:prstGeom>
            <a:ln w="38100">
              <a:solidFill>
                <a:srgbClr val="4DA3FF"/>
              </a:solidFill>
            </a:ln>
          </p:spPr>
        </p:cxnSp>
        <p:sp>
          <p:nvSpPr>
            <p:cNvPr id="43" name="Rectangle 42"/>
            <p:cNvSpPr/>
            <p:nvPr/>
          </p:nvSpPr>
          <p:spPr>
            <a:xfrm>
              <a:off x="1737360" y="4114800"/>
              <a:ext cx="1115568" cy="457200"/>
            </a:xfrm>
            <a:prstGeom prst="rect">
              <a:avLst/>
            </a:prstGeom>
            <a:solidFill>
              <a:srgbClr val="4A515B"/>
            </a:solidFill>
            <a:ln>
              <a:noFill/>
            </a:ln>
          </p:spPr>
          <p:txBody>
            <a:bodyPr wrap="square" lIns="54864" tIns="27432" rIns="54864" bIns="27432" rtlCol="0" anchor="ctr">
              <a:noAutofit/>
            </a:bodyPr>
            <a:lstStyle/>
            <a:p>
              <a:pPr algn="ctr"/>
              <a:endParaRPr/>
            </a:p>
          </p:txBody>
        </p:sp>
        <p:sp>
          <p:nvSpPr>
            <p:cNvPr id="44" name="Rectangle 43"/>
            <p:cNvSpPr/>
            <p:nvPr/>
          </p:nvSpPr>
          <p:spPr>
            <a:xfrm>
              <a:off x="2926080" y="4114800"/>
              <a:ext cx="1115568" cy="457200"/>
            </a:xfrm>
            <a:prstGeom prst="rect">
              <a:avLst/>
            </a:prstGeom>
            <a:solidFill>
              <a:srgbClr val="4A515B"/>
            </a:solidFill>
            <a:ln>
              <a:noFill/>
            </a:ln>
          </p:spPr>
          <p:txBody>
            <a:bodyPr wrap="square" lIns="54864" tIns="27432" rIns="54864" bIns="27432" rtlCol="0" anchor="ctr">
              <a:noAutofit/>
            </a:bodyPr>
            <a:lstStyle/>
            <a:p>
              <a:pPr algn="ctr"/>
              <a:r>
                <a:rPr lang="en-GB" sz="1400" b="1" i="0">
                  <a:solidFill>
                    <a:srgbClr val="F2F2F2"/>
                  </a:solidFill>
                  <a:latin typeface="Arial"/>
                </a:rPr>
                <a:t>Platform</a:t>
              </a:r>
            </a:p>
          </p:txBody>
        </p:sp>
        <p:sp>
          <p:nvSpPr>
            <p:cNvPr id="45" name="Rectangle 44"/>
            <p:cNvSpPr/>
            <p:nvPr/>
          </p:nvSpPr>
          <p:spPr>
            <a:xfrm>
              <a:off x="4114800" y="4114800"/>
              <a:ext cx="1115568" cy="457200"/>
            </a:xfrm>
            <a:prstGeom prst="rect">
              <a:avLst/>
            </a:prstGeom>
            <a:solidFill>
              <a:srgbClr val="4A515B"/>
            </a:solidFill>
            <a:ln>
              <a:noFill/>
            </a:ln>
          </p:spPr>
          <p:txBody>
            <a:bodyPr wrap="square" lIns="54864" tIns="27432" rIns="54864" bIns="27432" rtlCol="0" anchor="ctr">
              <a:noAutofit/>
            </a:bodyPr>
            <a:lstStyle/>
            <a:p>
              <a:pPr algn="ctr"/>
              <a:endParaRPr/>
            </a:p>
          </p:txBody>
        </p:sp>
        <p:sp>
          <p:nvSpPr>
            <p:cNvPr id="46" name="Rectangle 45"/>
            <p:cNvSpPr/>
            <p:nvPr/>
          </p:nvSpPr>
          <p:spPr>
            <a:xfrm>
              <a:off x="5440680" y="4297680"/>
              <a:ext cx="777240" cy="457200"/>
            </a:xfrm>
            <a:prstGeom prst="rect">
              <a:avLst/>
            </a:prstGeom>
            <a:solidFill>
              <a:srgbClr val="4A515B"/>
            </a:solidFill>
            <a:ln>
              <a:noFill/>
            </a:ln>
          </p:spPr>
          <p:txBody>
            <a:bodyPr rtlCol="0" anchor="ctr"/>
            <a:lstStyle/>
            <a:p>
              <a:pPr algn="ctr"/>
              <a:endParaRPr/>
            </a:p>
          </p:txBody>
        </p:sp>
        <p:sp>
          <p:nvSpPr>
            <p:cNvPr id="47" name="Freeform 46"/>
            <p:cNvSpPr/>
            <p:nvPr/>
          </p:nvSpPr>
          <p:spPr>
            <a:xfrm>
              <a:off x="5349240" y="4005072"/>
              <a:ext cx="960120" cy="292608"/>
            </a:xfrm>
            <a:custGeom>
              <a:avLst/>
              <a:gdLst/>
              <a:ahLst/>
              <a:cxnLst/>
              <a:rect l="l" t="t" r="r" b="b"/>
              <a:pathLst>
                <a:path w="960120" h="292608">
                  <a:moveTo>
                    <a:pt x="0" y="292608"/>
                  </a:moveTo>
                  <a:lnTo>
                    <a:pt x="480060" y="0"/>
                  </a:lnTo>
                  <a:lnTo>
                    <a:pt x="960120" y="292608"/>
                  </a:lnTo>
                  <a:close/>
                </a:path>
              </a:pathLst>
            </a:custGeom>
            <a:solidFill>
              <a:srgbClr val="59616C"/>
            </a:solidFill>
            <a:ln>
              <a:noFill/>
            </a:ln>
          </p:spPr>
          <p:txBody>
            <a:bodyPr rtlCol="0" anchor="ctr"/>
            <a:lstStyle/>
            <a:p>
              <a:pPr algn="ctr"/>
              <a:endParaRPr/>
            </a:p>
          </p:txBody>
        </p:sp>
        <p:sp>
          <p:nvSpPr>
            <p:cNvPr id="48" name="TextBox 47"/>
            <p:cNvSpPr txBox="1"/>
            <p:nvPr/>
          </p:nvSpPr>
          <p:spPr>
            <a:xfrm>
              <a:off x="5212080" y="4800600"/>
              <a:ext cx="1280160" cy="320040"/>
            </a:xfrm>
            <a:prstGeom prst="rect">
              <a:avLst/>
            </a:prstGeom>
            <a:noFill/>
          </p:spPr>
          <p:txBody>
            <a:bodyPr wrap="square" lIns="18288" tIns="9144" rIns="18288" bIns="9144" anchor="ctr">
              <a:noAutofit/>
            </a:bodyPr>
            <a:lstStyle/>
            <a:p>
              <a:pPr algn="ctr"/>
              <a:r>
                <a:rPr lang="en-GB" sz="1400" b="1" i="0">
                  <a:solidFill>
                    <a:srgbClr val="F2F2F2"/>
                  </a:solidFill>
                  <a:latin typeface="Arial"/>
                </a:rPr>
                <a:t>Signal box</a:t>
              </a:r>
            </a:p>
          </p:txBody>
        </p:sp>
        <p:cxnSp>
          <p:nvCxnSpPr>
            <p:cNvPr id="49" name="Connector 48"/>
            <p:cNvCxnSpPr/>
            <p:nvPr/>
          </p:nvCxnSpPr>
          <p:spPr>
            <a:xfrm>
              <a:off x="6766560" y="2468880"/>
              <a:ext cx="1920240" cy="0"/>
            </a:xfrm>
            <a:prstGeom prst="line">
              <a:avLst/>
            </a:prstGeom>
            <a:ln w="50800">
              <a:solidFill>
                <a:srgbClr val="F28C28"/>
              </a:solidFill>
              <a:tailEnd type="triangle" w="med" len="med"/>
            </a:ln>
          </p:spPr>
        </p:cxnSp>
        <p:sp>
          <p:nvSpPr>
            <p:cNvPr id="50" name="TextBox 49"/>
            <p:cNvSpPr txBox="1"/>
            <p:nvPr/>
          </p:nvSpPr>
          <p:spPr>
            <a:xfrm>
              <a:off x="6675120" y="2578608"/>
              <a:ext cx="2103120" cy="640080"/>
            </a:xfrm>
            <a:prstGeom prst="rect">
              <a:avLst/>
            </a:prstGeom>
            <a:noFill/>
          </p:spPr>
          <p:txBody>
            <a:bodyPr wrap="square" lIns="18288" tIns="9144" rIns="18288" bIns="9144" anchor="ctr">
              <a:noAutofit/>
            </a:bodyPr>
            <a:lstStyle/>
            <a:p>
              <a:pPr algn="ctr"/>
              <a:r>
                <a:rPr lang="en-GB" sz="1400" b="1" i="0">
                  <a:solidFill>
                    <a:srgbClr val="F2F2F2"/>
                  </a:solidFill>
                  <a:latin typeface="Arial"/>
                </a:rPr>
                <a:t>Aligned replacement, not a morph</a:t>
              </a:r>
            </a:p>
          </p:txBody>
        </p:sp>
        <p:sp>
          <p:nvSpPr>
            <p:cNvPr id="51" name="TextBox 50"/>
            <p:cNvSpPr txBox="1"/>
            <p:nvPr/>
          </p:nvSpPr>
          <p:spPr>
            <a:xfrm>
              <a:off x="9144000" y="1572768"/>
              <a:ext cx="2468880" cy="365760"/>
            </a:xfrm>
            <a:prstGeom prst="rect">
              <a:avLst/>
            </a:prstGeom>
            <a:noFill/>
          </p:spPr>
          <p:txBody>
            <a:bodyPr wrap="square" lIns="18288" tIns="9144" rIns="18288" bIns="9144" anchor="ctr">
              <a:noAutofit/>
            </a:bodyPr>
            <a:lstStyle/>
            <a:p>
              <a:pPr algn="l"/>
              <a:r>
                <a:rPr lang="en-GB" sz="1800" b="1" i="0">
                  <a:solidFill>
                    <a:srgbClr val="6CA0DC"/>
                  </a:solidFill>
                  <a:latin typeface="Arial"/>
                </a:rPr>
                <a:t>Electric station</a:t>
              </a:r>
            </a:p>
          </p:txBody>
        </p:sp>
        <p:sp>
          <p:nvSpPr>
            <p:cNvPr id="52" name="Rounded Rectangle 51"/>
            <p:cNvSpPr/>
            <p:nvPr/>
          </p:nvSpPr>
          <p:spPr>
            <a:xfrm>
              <a:off x="9464040" y="2606040"/>
              <a:ext cx="1371600" cy="777240"/>
            </a:xfrm>
            <a:prstGeom prst="roundRect">
              <a:avLst>
                <a:gd name="adj" fmla="val 5882"/>
              </a:avLst>
            </a:prstGeom>
            <a:solidFill>
              <a:srgbClr val="6CA0DC"/>
            </a:solidFill>
            <a:ln>
              <a:noFill/>
            </a:ln>
          </p:spPr>
          <p:txBody>
            <a:bodyPr rtlCol="0" anchor="ctr"/>
            <a:lstStyle/>
            <a:p>
              <a:pPr algn="ctr"/>
              <a:endParaRPr/>
            </a:p>
          </p:txBody>
        </p:sp>
        <p:sp>
          <p:nvSpPr>
            <p:cNvPr id="53" name="Rectangle 52"/>
            <p:cNvSpPr/>
            <p:nvPr/>
          </p:nvSpPr>
          <p:spPr>
            <a:xfrm>
              <a:off x="9646920" y="2788920"/>
              <a:ext cx="411480" cy="320040"/>
            </a:xfrm>
            <a:prstGeom prst="rect">
              <a:avLst/>
            </a:prstGeom>
            <a:solidFill>
              <a:srgbClr val="1E2126"/>
            </a:solidFill>
            <a:ln>
              <a:noFill/>
            </a:ln>
          </p:spPr>
          <p:txBody>
            <a:bodyPr rtlCol="0" anchor="ctr"/>
            <a:lstStyle/>
            <a:p>
              <a:pPr algn="ctr"/>
              <a:endParaRPr/>
            </a:p>
          </p:txBody>
        </p:sp>
        <p:sp>
          <p:nvSpPr>
            <p:cNvPr id="54" name="Rectangle 53"/>
            <p:cNvSpPr/>
            <p:nvPr/>
          </p:nvSpPr>
          <p:spPr>
            <a:xfrm>
              <a:off x="10241280" y="2788920"/>
              <a:ext cx="411480" cy="320040"/>
            </a:xfrm>
            <a:prstGeom prst="rect">
              <a:avLst/>
            </a:prstGeom>
            <a:solidFill>
              <a:srgbClr val="1E2126"/>
            </a:solidFill>
            <a:ln>
              <a:noFill/>
            </a:ln>
          </p:spPr>
          <p:txBody>
            <a:bodyPr rtlCol="0" anchor="ctr"/>
            <a:lstStyle/>
            <a:p>
              <a:pPr algn="ctr"/>
              <a:endParaRPr/>
            </a:p>
          </p:txBody>
        </p:sp>
        <p:sp>
          <p:nvSpPr>
            <p:cNvPr id="55" name="Rectangle 54"/>
            <p:cNvSpPr/>
            <p:nvPr/>
          </p:nvSpPr>
          <p:spPr>
            <a:xfrm>
              <a:off x="9235440" y="4114800"/>
              <a:ext cx="2011680" cy="411480"/>
            </a:xfrm>
            <a:prstGeom prst="rect">
              <a:avLst/>
            </a:prstGeom>
            <a:solidFill>
              <a:srgbClr val="343A43"/>
            </a:solidFill>
            <a:ln w="31750">
              <a:solidFill>
                <a:srgbClr val="6CA0DC"/>
              </a:solidFill>
            </a:ln>
          </p:spPr>
          <p:txBody>
            <a:bodyPr rtlCol="0" anchor="ctr"/>
            <a:lstStyle/>
            <a:p>
              <a:pPr algn="ctr"/>
              <a:endParaRPr/>
            </a:p>
          </p:txBody>
        </p:sp>
      </p:grpSp>
      <p:sp>
        <p:nvSpPr>
          <p:cNvPr id="5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5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58"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A big steam station is replaced by a compact electric one on the same line.</a:t>
            </a:r>
          </a:p>
        </p:txBody>
      </p:sp>
      <p:sp>
        <p:nvSpPr>
          <p:cNvPr id="59"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10</a:t>
            </a:r>
          </a:p>
        </p:txBody>
      </p:sp>
    </p:spTree>
    <p:extLst>
      <p:ext uri="{BB962C8B-B14F-4D97-AF65-F5344CB8AC3E}">
        <p14:creationId xmlns:p14="http://schemas.microsoft.com/office/powerpoint/2010/main" val="7353719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6"/>
                                        </p:tgtEl>
                                        <p:attrNameLst>
                                          <p:attrName>style.visibility</p:attrName>
                                        </p:attrNameLst>
                                      </p:cBhvr>
                                      <p:to>
                                        <p:strVal val="visible"/>
                                      </p:to>
                                    </p:set>
                                    <p:animEffect transition="in" filter="fade">
                                      <p:cBhvr>
                                        <p:cTn id="10" dur="500"/>
                                        <p:tgtEl>
                                          <p:spTgt spid="56"/>
                                        </p:tgtEl>
                                      </p:cBhvr>
                                    </p:animEffect>
                                  </p:childTnLst>
                                </p:cTn>
                              </p:par>
                              <p:par>
                                <p:cTn id="11" presetID="10" presetClass="entr" presetSubtype="0" fill="hold" nodeType="withEffect">
                                  <p:stCondLst>
                                    <p:cond delay="60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500"/>
                                        <p:tgtEl>
                                          <p:spTgt spid="57"/>
                                        </p:tgtEl>
                                      </p:cBhvr>
                                    </p:animEffect>
                                  </p:childTnLst>
                                </p:cTn>
                              </p:par>
                              <p:par>
                                <p:cTn id="14" presetID="10" presetClass="entr" presetSubtype="0" fill="hold" nodeType="withEffect">
                                  <p:stCondLst>
                                    <p:cond delay="900"/>
                                  </p:stCondLst>
                                  <p:childTnLst>
                                    <p:set>
                                      <p:cBhvr>
                                        <p:cTn id="15" dur="1" fill="hold">
                                          <p:stCondLst>
                                            <p:cond delay="0"/>
                                          </p:stCondLst>
                                        </p:cTn>
                                        <p:tgtEl>
                                          <p:spTgt spid="58"/>
                                        </p:tgtEl>
                                        <p:attrNameLst>
                                          <p:attrName>style.visibility</p:attrName>
                                        </p:attrNameLst>
                                      </p:cBhvr>
                                      <p:to>
                                        <p:strVal val="visible"/>
                                      </p:to>
                                    </p:set>
                                    <p:animEffect transition="in" filter="fade">
                                      <p:cBhvr>
                                        <p:cTn id="1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Names and timetables</a:t>
            </a:r>
          </a:p>
        </p:txBody>
      </p:sp>
      <p:sp>
        <p:nvSpPr>
          <p:cNvPr id="3" name="CHIP"/>
          <p:cNvSpPr/>
          <p:nvPr/>
        </p:nvSpPr>
        <p:spPr>
          <a:xfrm>
            <a:off x="10088575" y="548640"/>
            <a:ext cx="1554480" cy="365760"/>
          </a:xfrm>
          <a:prstGeom prst="roundRect">
            <a:avLst>
              <a:gd name="adj" fmla="val 50000"/>
            </a:avLst>
          </a:prstGeom>
          <a:solidFill>
            <a:srgbClr val="B084F5"/>
          </a:solidFill>
          <a:ln>
            <a:noFill/>
          </a:ln>
        </p:spPr>
        <p:txBody>
          <a:bodyPr wrap="square" lIns="36576" tIns="0" rIns="36576" bIns="0" rtlCol="0" anchor="ctr">
            <a:noAutofit/>
          </a:bodyPr>
          <a:lstStyle/>
          <a:p>
            <a:pPr algn="ctr"/>
            <a:r>
              <a:rPr lang="en-GB" sz="1400" b="1" i="0">
                <a:solidFill>
                  <a:srgbClr val="101418"/>
                </a:solidFill>
                <a:latin typeface="Arial"/>
              </a:rPr>
              <a:t>PROPOSED</a:t>
            </a:r>
          </a:p>
        </p:txBody>
      </p:sp>
      <p:grpSp>
        <p:nvGrpSpPr>
          <p:cNvPr id="4" name="DIAGRAM station card" descr="A station card with a name bar and a timetable list, each ticked as kept where possible."/>
          <p:cNvGrpSpPr/>
          <p:nvPr/>
        </p:nvGrpSpPr>
        <p:grpSpPr>
          <a:xfrm>
            <a:off x="548640" y="1371600"/>
            <a:ext cx="5577840" cy="3886200"/>
            <a:chOff x="548640" y="1371600"/>
            <a:chExt cx="5577840" cy="3886200"/>
          </a:xfrm>
        </p:grpSpPr>
        <p:sp>
          <p:nvSpPr>
            <p:cNvPr id="5" name="Rounded Rectangle 4"/>
            <p:cNvSpPr/>
            <p:nvPr/>
          </p:nvSpPr>
          <p:spPr>
            <a:xfrm>
              <a:off x="548640" y="1371600"/>
              <a:ext cx="5577840" cy="3886200"/>
            </a:xfrm>
            <a:prstGeom prst="roundRect">
              <a:avLst>
                <a:gd name="adj" fmla="val 1882"/>
              </a:avLst>
            </a:prstGeom>
            <a:solidFill>
              <a:srgbClr val="2B2F36"/>
            </a:solidFill>
            <a:ln>
              <a:noFill/>
            </a:ln>
          </p:spPr>
          <p:txBody>
            <a:bodyPr rtlCol="0" anchor="ctr"/>
            <a:lstStyle/>
            <a:p>
              <a:pPr algn="ctr"/>
              <a:endParaRPr/>
            </a:p>
          </p:txBody>
        </p:sp>
        <p:sp>
          <p:nvSpPr>
            <p:cNvPr id="6" name="Rounded Rectangle 5"/>
            <p:cNvSpPr/>
            <p:nvPr/>
          </p:nvSpPr>
          <p:spPr>
            <a:xfrm>
              <a:off x="777240" y="1600200"/>
              <a:ext cx="5120640" cy="685800"/>
            </a:xfrm>
            <a:prstGeom prst="roundRect">
              <a:avLst>
                <a:gd name="adj" fmla="val 8000"/>
              </a:avLst>
            </a:prstGeom>
            <a:solidFill>
              <a:srgbClr val="343A43"/>
            </a:solidFill>
            <a:ln>
              <a:noFill/>
            </a:ln>
          </p:spPr>
          <p:txBody>
            <a:bodyPr rtlCol="0" anchor="ctr"/>
            <a:lstStyle/>
            <a:p>
              <a:pPr algn="ctr"/>
              <a:endParaRPr/>
            </a:p>
          </p:txBody>
        </p:sp>
        <p:sp>
          <p:nvSpPr>
            <p:cNvPr id="7" name="TextBox 6"/>
            <p:cNvSpPr txBox="1"/>
            <p:nvPr/>
          </p:nvSpPr>
          <p:spPr>
            <a:xfrm>
              <a:off x="960120" y="1600200"/>
              <a:ext cx="3474720" cy="685800"/>
            </a:xfrm>
            <a:prstGeom prst="rect">
              <a:avLst/>
            </a:prstGeom>
            <a:noFill/>
          </p:spPr>
          <p:txBody>
            <a:bodyPr wrap="square" lIns="18288" tIns="9144" rIns="18288" bIns="9144" anchor="ctr">
              <a:noAutofit/>
            </a:bodyPr>
            <a:lstStyle/>
            <a:p>
              <a:pPr algn="l"/>
              <a:r>
                <a:rPr lang="en-GB" sz="2000" b="1" i="0">
                  <a:solidFill>
                    <a:srgbClr val="F2F2F2"/>
                  </a:solidFill>
                  <a:latin typeface="Arial"/>
                </a:rPr>
                <a:t>Station name</a:t>
              </a:r>
            </a:p>
          </p:txBody>
        </p:sp>
        <p:grpSp>
          <p:nvGrpSpPr>
            <p:cNvPr id="8" name="TICK" descr="Green tick"/>
            <p:cNvGrpSpPr/>
            <p:nvPr/>
          </p:nvGrpSpPr>
          <p:grpSpPr>
            <a:xfrm>
              <a:off x="5303520" y="1714500"/>
              <a:ext cx="457200" cy="457200"/>
              <a:chOff x="5303520" y="1714500"/>
              <a:chExt cx="457200" cy="457200"/>
            </a:xfrm>
          </p:grpSpPr>
          <p:sp>
            <p:nvSpPr>
              <p:cNvPr id="9" name="Oval 8"/>
              <p:cNvSpPr/>
              <p:nvPr/>
            </p:nvSpPr>
            <p:spPr>
              <a:xfrm>
                <a:off x="5303520" y="1714500"/>
                <a:ext cx="457200" cy="457200"/>
              </a:xfrm>
              <a:prstGeom prst="ellipse">
                <a:avLst/>
              </a:prstGeom>
              <a:solidFill>
                <a:srgbClr val="3FB950"/>
              </a:solidFill>
              <a:ln>
                <a:noFill/>
              </a:ln>
            </p:spPr>
            <p:txBody>
              <a:bodyPr rtlCol="0" anchor="ctr"/>
              <a:lstStyle/>
              <a:p>
                <a:pPr algn="ctr"/>
                <a:endParaRPr/>
              </a:p>
            </p:txBody>
          </p:sp>
          <p:sp>
            <p:nvSpPr>
              <p:cNvPr id="10" name="Freeform 9"/>
              <p:cNvSpPr/>
              <p:nvPr/>
            </p:nvSpPr>
            <p:spPr>
              <a:xfrm>
                <a:off x="5422392" y="1860804"/>
                <a:ext cx="228600" cy="173736"/>
              </a:xfrm>
              <a:custGeom>
                <a:avLst/>
                <a:gdLst/>
                <a:ahLst/>
                <a:cxnLst/>
                <a:rect l="l" t="t" r="r" b="b"/>
                <a:pathLst>
                  <a:path w="228600" h="173736">
                    <a:moveTo>
                      <a:pt x="0" y="82296"/>
                    </a:moveTo>
                    <a:lnTo>
                      <a:pt x="77724" y="173736"/>
                    </a:lnTo>
                    <a:lnTo>
                      <a:pt x="228600" y="0"/>
                    </a:lnTo>
                  </a:path>
                </a:pathLst>
              </a:custGeom>
              <a:noFill/>
              <a:ln w="44450">
                <a:solidFill>
                  <a:srgbClr val="101418"/>
                </a:solidFill>
              </a:ln>
            </p:spPr>
            <p:txBody>
              <a:bodyPr rtlCol="0" anchor="ctr"/>
              <a:lstStyle/>
              <a:p>
                <a:pPr algn="ctr"/>
                <a:endParaRPr/>
              </a:p>
            </p:txBody>
          </p:sp>
        </p:grpSp>
        <p:sp>
          <p:nvSpPr>
            <p:cNvPr id="11" name="TextBox 10"/>
            <p:cNvSpPr txBox="1"/>
            <p:nvPr/>
          </p:nvSpPr>
          <p:spPr>
            <a:xfrm>
              <a:off x="777240" y="2423160"/>
              <a:ext cx="2743200" cy="320040"/>
            </a:xfrm>
            <a:prstGeom prst="rect">
              <a:avLst/>
            </a:prstGeom>
            <a:noFill/>
          </p:spPr>
          <p:txBody>
            <a:bodyPr wrap="square" lIns="18288" tIns="9144" rIns="18288" bIns="9144" anchor="ctr">
              <a:noAutofit/>
            </a:bodyPr>
            <a:lstStyle/>
            <a:p>
              <a:pPr algn="l"/>
              <a:r>
                <a:rPr lang="en-GB" sz="1400" b="1" i="0">
                  <a:solidFill>
                    <a:srgbClr val="A9B0B8"/>
                  </a:solidFill>
                  <a:latin typeface="Arial"/>
                </a:rPr>
                <a:t>Timetable</a:t>
              </a:r>
            </a:p>
          </p:txBody>
        </p:sp>
        <p:sp>
          <p:nvSpPr>
            <p:cNvPr id="12" name="Rounded Rectangle 11"/>
            <p:cNvSpPr/>
            <p:nvPr/>
          </p:nvSpPr>
          <p:spPr>
            <a:xfrm>
              <a:off x="777240" y="2788920"/>
              <a:ext cx="5120640" cy="438912"/>
            </a:xfrm>
            <a:prstGeom prst="roundRect">
              <a:avLst>
                <a:gd name="adj" fmla="val 12500"/>
              </a:avLst>
            </a:prstGeom>
            <a:solidFill>
              <a:srgbClr val="343A43"/>
            </a:solidFill>
            <a:ln>
              <a:noFill/>
            </a:ln>
          </p:spPr>
          <p:txBody>
            <a:bodyPr rtlCol="0" anchor="ctr"/>
            <a:lstStyle/>
            <a:p>
              <a:pPr algn="ctr"/>
              <a:endParaRPr/>
            </a:p>
          </p:txBody>
        </p:sp>
        <p:sp>
          <p:nvSpPr>
            <p:cNvPr id="13" name="Oval 12"/>
            <p:cNvSpPr/>
            <p:nvPr/>
          </p:nvSpPr>
          <p:spPr>
            <a:xfrm>
              <a:off x="960120" y="2889503"/>
              <a:ext cx="237744" cy="237744"/>
            </a:xfrm>
            <a:prstGeom prst="ellipse">
              <a:avLst/>
            </a:prstGeom>
            <a:noFill/>
            <a:ln w="25400">
              <a:solidFill>
                <a:srgbClr val="A9B0B8"/>
              </a:solidFill>
            </a:ln>
          </p:spPr>
          <p:txBody>
            <a:bodyPr rtlCol="0" anchor="ctr"/>
            <a:lstStyle/>
            <a:p>
              <a:pPr algn="ctr"/>
              <a:endParaRPr/>
            </a:p>
          </p:txBody>
        </p:sp>
        <p:sp>
          <p:nvSpPr>
            <p:cNvPr id="14" name="Rounded Rectangle 13"/>
            <p:cNvSpPr/>
            <p:nvPr/>
          </p:nvSpPr>
          <p:spPr>
            <a:xfrm>
              <a:off x="1417320" y="2935224"/>
              <a:ext cx="2377440" cy="146304"/>
            </a:xfrm>
            <a:prstGeom prst="roundRect">
              <a:avLst>
                <a:gd name="adj" fmla="val 25000"/>
              </a:avLst>
            </a:prstGeom>
            <a:solidFill>
              <a:srgbClr val="59616C"/>
            </a:solidFill>
            <a:ln>
              <a:noFill/>
            </a:ln>
          </p:spPr>
          <p:txBody>
            <a:bodyPr rtlCol="0" anchor="ctr"/>
            <a:lstStyle/>
            <a:p>
              <a:pPr algn="ctr"/>
              <a:endParaRPr/>
            </a:p>
          </p:txBody>
        </p:sp>
        <p:grpSp>
          <p:nvGrpSpPr>
            <p:cNvPr id="15" name="TICK" descr="Green tick"/>
            <p:cNvGrpSpPr/>
            <p:nvPr/>
          </p:nvGrpSpPr>
          <p:grpSpPr>
            <a:xfrm>
              <a:off x="5358383" y="2834640"/>
              <a:ext cx="347472" cy="347472"/>
              <a:chOff x="5358383" y="2834640"/>
              <a:chExt cx="347472" cy="347472"/>
            </a:xfrm>
          </p:grpSpPr>
          <p:sp>
            <p:nvSpPr>
              <p:cNvPr id="16" name="Oval 15"/>
              <p:cNvSpPr/>
              <p:nvPr/>
            </p:nvSpPr>
            <p:spPr>
              <a:xfrm>
                <a:off x="5358383" y="2834640"/>
                <a:ext cx="347472" cy="347472"/>
              </a:xfrm>
              <a:prstGeom prst="ellipse">
                <a:avLst/>
              </a:prstGeom>
              <a:solidFill>
                <a:srgbClr val="3FB950"/>
              </a:solidFill>
              <a:ln>
                <a:noFill/>
              </a:ln>
            </p:spPr>
            <p:txBody>
              <a:bodyPr rtlCol="0" anchor="ctr"/>
              <a:lstStyle/>
              <a:p>
                <a:pPr algn="ctr"/>
                <a:endParaRPr/>
              </a:p>
            </p:txBody>
          </p:sp>
          <p:sp>
            <p:nvSpPr>
              <p:cNvPr id="17" name="Freeform 16"/>
              <p:cNvSpPr/>
              <p:nvPr/>
            </p:nvSpPr>
            <p:spPr>
              <a:xfrm>
                <a:off x="5448726" y="2945831"/>
                <a:ext cx="173736" cy="132039"/>
              </a:xfrm>
              <a:custGeom>
                <a:avLst/>
                <a:gdLst/>
                <a:ahLst/>
                <a:cxnLst/>
                <a:rect l="l" t="t" r="r" b="b"/>
                <a:pathLst>
                  <a:path w="173736" h="132039">
                    <a:moveTo>
                      <a:pt x="0" y="62545"/>
                    </a:moveTo>
                    <a:lnTo>
                      <a:pt x="59070" y="132039"/>
                    </a:lnTo>
                    <a:lnTo>
                      <a:pt x="173736" y="0"/>
                    </a:lnTo>
                  </a:path>
                </a:pathLst>
              </a:custGeom>
              <a:noFill/>
              <a:ln w="44450">
                <a:solidFill>
                  <a:srgbClr val="101418"/>
                </a:solidFill>
              </a:ln>
            </p:spPr>
            <p:txBody>
              <a:bodyPr rtlCol="0" anchor="ctr"/>
              <a:lstStyle/>
              <a:p>
                <a:pPr algn="ctr"/>
                <a:endParaRPr/>
              </a:p>
            </p:txBody>
          </p:sp>
        </p:grpSp>
        <p:sp>
          <p:nvSpPr>
            <p:cNvPr id="18" name="Rounded Rectangle 17"/>
            <p:cNvSpPr/>
            <p:nvPr/>
          </p:nvSpPr>
          <p:spPr>
            <a:xfrm>
              <a:off x="777240" y="3319272"/>
              <a:ext cx="5120640" cy="438912"/>
            </a:xfrm>
            <a:prstGeom prst="roundRect">
              <a:avLst>
                <a:gd name="adj" fmla="val 12500"/>
              </a:avLst>
            </a:prstGeom>
            <a:solidFill>
              <a:srgbClr val="343A43"/>
            </a:solidFill>
            <a:ln>
              <a:noFill/>
            </a:ln>
          </p:spPr>
          <p:txBody>
            <a:bodyPr rtlCol="0" anchor="ctr"/>
            <a:lstStyle/>
            <a:p>
              <a:pPr algn="ctr"/>
              <a:endParaRPr/>
            </a:p>
          </p:txBody>
        </p:sp>
        <p:sp>
          <p:nvSpPr>
            <p:cNvPr id="19" name="Oval 18"/>
            <p:cNvSpPr/>
            <p:nvPr/>
          </p:nvSpPr>
          <p:spPr>
            <a:xfrm>
              <a:off x="960120" y="3419856"/>
              <a:ext cx="237744" cy="237744"/>
            </a:xfrm>
            <a:prstGeom prst="ellipse">
              <a:avLst/>
            </a:prstGeom>
            <a:noFill/>
            <a:ln w="25400">
              <a:solidFill>
                <a:srgbClr val="A9B0B8"/>
              </a:solidFill>
            </a:ln>
          </p:spPr>
          <p:txBody>
            <a:bodyPr rtlCol="0" anchor="ctr"/>
            <a:lstStyle/>
            <a:p>
              <a:pPr algn="ctr"/>
              <a:endParaRPr/>
            </a:p>
          </p:txBody>
        </p:sp>
        <p:sp>
          <p:nvSpPr>
            <p:cNvPr id="20" name="Rounded Rectangle 19"/>
            <p:cNvSpPr/>
            <p:nvPr/>
          </p:nvSpPr>
          <p:spPr>
            <a:xfrm>
              <a:off x="1417320" y="3465576"/>
              <a:ext cx="2926080" cy="146304"/>
            </a:xfrm>
            <a:prstGeom prst="roundRect">
              <a:avLst>
                <a:gd name="adj" fmla="val 25000"/>
              </a:avLst>
            </a:prstGeom>
            <a:solidFill>
              <a:srgbClr val="59616C"/>
            </a:solidFill>
            <a:ln>
              <a:noFill/>
            </a:ln>
          </p:spPr>
          <p:txBody>
            <a:bodyPr rtlCol="0" anchor="ctr"/>
            <a:lstStyle/>
            <a:p>
              <a:pPr algn="ctr"/>
              <a:endParaRPr/>
            </a:p>
          </p:txBody>
        </p:sp>
        <p:grpSp>
          <p:nvGrpSpPr>
            <p:cNvPr id="21" name="TICK" descr="Green tick"/>
            <p:cNvGrpSpPr/>
            <p:nvPr/>
          </p:nvGrpSpPr>
          <p:grpSpPr>
            <a:xfrm>
              <a:off x="5358383" y="3364992"/>
              <a:ext cx="347472" cy="347472"/>
              <a:chOff x="5358383" y="3364992"/>
              <a:chExt cx="347472" cy="347472"/>
            </a:xfrm>
          </p:grpSpPr>
          <p:sp>
            <p:nvSpPr>
              <p:cNvPr id="22" name="Oval 21"/>
              <p:cNvSpPr/>
              <p:nvPr/>
            </p:nvSpPr>
            <p:spPr>
              <a:xfrm>
                <a:off x="5358383" y="3364992"/>
                <a:ext cx="347472" cy="347472"/>
              </a:xfrm>
              <a:prstGeom prst="ellipse">
                <a:avLst/>
              </a:prstGeom>
              <a:solidFill>
                <a:srgbClr val="3FB950"/>
              </a:solidFill>
              <a:ln>
                <a:noFill/>
              </a:ln>
            </p:spPr>
            <p:txBody>
              <a:bodyPr rtlCol="0" anchor="ctr"/>
              <a:lstStyle/>
              <a:p>
                <a:pPr algn="ctr"/>
                <a:endParaRPr/>
              </a:p>
            </p:txBody>
          </p:sp>
          <p:sp>
            <p:nvSpPr>
              <p:cNvPr id="23" name="Freeform 22"/>
              <p:cNvSpPr/>
              <p:nvPr/>
            </p:nvSpPr>
            <p:spPr>
              <a:xfrm>
                <a:off x="5448726" y="3476183"/>
                <a:ext cx="173736" cy="132039"/>
              </a:xfrm>
              <a:custGeom>
                <a:avLst/>
                <a:gdLst/>
                <a:ahLst/>
                <a:cxnLst/>
                <a:rect l="l" t="t" r="r" b="b"/>
                <a:pathLst>
                  <a:path w="173736" h="132039">
                    <a:moveTo>
                      <a:pt x="0" y="62545"/>
                    </a:moveTo>
                    <a:lnTo>
                      <a:pt x="59070" y="132039"/>
                    </a:lnTo>
                    <a:lnTo>
                      <a:pt x="173736" y="0"/>
                    </a:lnTo>
                  </a:path>
                </a:pathLst>
              </a:custGeom>
              <a:noFill/>
              <a:ln w="44450">
                <a:solidFill>
                  <a:srgbClr val="101418"/>
                </a:solidFill>
              </a:ln>
            </p:spPr>
            <p:txBody>
              <a:bodyPr rtlCol="0" anchor="ctr"/>
              <a:lstStyle/>
              <a:p>
                <a:pPr algn="ctr"/>
                <a:endParaRPr/>
              </a:p>
            </p:txBody>
          </p:sp>
        </p:grpSp>
        <p:sp>
          <p:nvSpPr>
            <p:cNvPr id="24" name="Rounded Rectangle 23"/>
            <p:cNvSpPr/>
            <p:nvPr/>
          </p:nvSpPr>
          <p:spPr>
            <a:xfrm>
              <a:off x="777240" y="3849624"/>
              <a:ext cx="5120640" cy="438912"/>
            </a:xfrm>
            <a:prstGeom prst="roundRect">
              <a:avLst>
                <a:gd name="adj" fmla="val 12500"/>
              </a:avLst>
            </a:prstGeom>
            <a:solidFill>
              <a:srgbClr val="343A43"/>
            </a:solidFill>
            <a:ln>
              <a:noFill/>
            </a:ln>
          </p:spPr>
          <p:txBody>
            <a:bodyPr rtlCol="0" anchor="ctr"/>
            <a:lstStyle/>
            <a:p>
              <a:pPr algn="ctr"/>
              <a:endParaRPr/>
            </a:p>
          </p:txBody>
        </p:sp>
        <p:sp>
          <p:nvSpPr>
            <p:cNvPr id="25" name="Oval 24"/>
            <p:cNvSpPr/>
            <p:nvPr/>
          </p:nvSpPr>
          <p:spPr>
            <a:xfrm>
              <a:off x="960120" y="3950208"/>
              <a:ext cx="237744" cy="237744"/>
            </a:xfrm>
            <a:prstGeom prst="ellipse">
              <a:avLst/>
            </a:prstGeom>
            <a:noFill/>
            <a:ln w="25400">
              <a:solidFill>
                <a:srgbClr val="A9B0B8"/>
              </a:solidFill>
            </a:ln>
          </p:spPr>
          <p:txBody>
            <a:bodyPr rtlCol="0" anchor="ctr"/>
            <a:lstStyle/>
            <a:p>
              <a:pPr algn="ctr"/>
              <a:endParaRPr/>
            </a:p>
          </p:txBody>
        </p:sp>
        <p:sp>
          <p:nvSpPr>
            <p:cNvPr id="26" name="Rounded Rectangle 25"/>
            <p:cNvSpPr/>
            <p:nvPr/>
          </p:nvSpPr>
          <p:spPr>
            <a:xfrm>
              <a:off x="1417320" y="3995928"/>
              <a:ext cx="1828800" cy="146304"/>
            </a:xfrm>
            <a:prstGeom prst="roundRect">
              <a:avLst>
                <a:gd name="adj" fmla="val 25000"/>
              </a:avLst>
            </a:prstGeom>
            <a:solidFill>
              <a:srgbClr val="59616C"/>
            </a:solidFill>
            <a:ln>
              <a:noFill/>
            </a:ln>
          </p:spPr>
          <p:txBody>
            <a:bodyPr rtlCol="0" anchor="ctr"/>
            <a:lstStyle/>
            <a:p>
              <a:pPr algn="ctr"/>
              <a:endParaRPr/>
            </a:p>
          </p:txBody>
        </p:sp>
        <p:grpSp>
          <p:nvGrpSpPr>
            <p:cNvPr id="27" name="TICK" descr="Green tick"/>
            <p:cNvGrpSpPr/>
            <p:nvPr/>
          </p:nvGrpSpPr>
          <p:grpSpPr>
            <a:xfrm>
              <a:off x="5358383" y="3895344"/>
              <a:ext cx="347472" cy="347472"/>
              <a:chOff x="5358383" y="3895344"/>
              <a:chExt cx="347472" cy="347472"/>
            </a:xfrm>
          </p:grpSpPr>
          <p:sp>
            <p:nvSpPr>
              <p:cNvPr id="28" name="Oval 27"/>
              <p:cNvSpPr/>
              <p:nvPr/>
            </p:nvSpPr>
            <p:spPr>
              <a:xfrm>
                <a:off x="5358383" y="3895344"/>
                <a:ext cx="347472" cy="347472"/>
              </a:xfrm>
              <a:prstGeom prst="ellipse">
                <a:avLst/>
              </a:prstGeom>
              <a:solidFill>
                <a:srgbClr val="3FB950"/>
              </a:solidFill>
              <a:ln>
                <a:noFill/>
              </a:ln>
            </p:spPr>
            <p:txBody>
              <a:bodyPr rtlCol="0" anchor="ctr"/>
              <a:lstStyle/>
              <a:p>
                <a:pPr algn="ctr"/>
                <a:endParaRPr/>
              </a:p>
            </p:txBody>
          </p:sp>
          <p:sp>
            <p:nvSpPr>
              <p:cNvPr id="29" name="Freeform 28"/>
              <p:cNvSpPr/>
              <p:nvPr/>
            </p:nvSpPr>
            <p:spPr>
              <a:xfrm>
                <a:off x="5448726" y="4006535"/>
                <a:ext cx="173736" cy="132039"/>
              </a:xfrm>
              <a:custGeom>
                <a:avLst/>
                <a:gdLst/>
                <a:ahLst/>
                <a:cxnLst/>
                <a:rect l="l" t="t" r="r" b="b"/>
                <a:pathLst>
                  <a:path w="173736" h="132039">
                    <a:moveTo>
                      <a:pt x="0" y="62545"/>
                    </a:moveTo>
                    <a:lnTo>
                      <a:pt x="59070" y="132039"/>
                    </a:lnTo>
                    <a:lnTo>
                      <a:pt x="173736" y="0"/>
                    </a:lnTo>
                  </a:path>
                </a:pathLst>
              </a:custGeom>
              <a:noFill/>
              <a:ln w="44450">
                <a:solidFill>
                  <a:srgbClr val="101418"/>
                </a:solidFill>
              </a:ln>
            </p:spPr>
            <p:txBody>
              <a:bodyPr rtlCol="0" anchor="ctr"/>
              <a:lstStyle/>
              <a:p>
                <a:pPr algn="ctr"/>
                <a:endParaRPr/>
              </a:p>
            </p:txBody>
          </p:sp>
        </p:grpSp>
        <p:sp>
          <p:nvSpPr>
            <p:cNvPr id="30" name="Rounded Rectangle 29"/>
            <p:cNvSpPr/>
            <p:nvPr/>
          </p:nvSpPr>
          <p:spPr>
            <a:xfrm>
              <a:off x="1371600" y="4526280"/>
              <a:ext cx="3657600" cy="502920"/>
            </a:xfrm>
            <a:prstGeom prst="roundRect">
              <a:avLst>
                <a:gd name="adj" fmla="val 49090"/>
              </a:avLst>
            </a:prstGeom>
            <a:noFill/>
            <a:ln w="31750">
              <a:solidFill>
                <a:srgbClr val="3FB950"/>
              </a:solidFill>
            </a:ln>
          </p:spPr>
          <p:txBody>
            <a:bodyPr wrap="square" lIns="54864" tIns="27432" rIns="54864" bIns="27432" rtlCol="0" anchor="ctr">
              <a:noAutofit/>
            </a:bodyPr>
            <a:lstStyle/>
            <a:p>
              <a:pPr algn="ctr"/>
              <a:r>
                <a:rPr lang="en-GB" sz="1800" b="1" i="0">
                  <a:solidFill>
                    <a:srgbClr val="F2F2F2"/>
                  </a:solidFill>
                  <a:latin typeface="Arial"/>
                </a:rPr>
                <a:t>Kept where possible</a:t>
              </a:r>
            </a:p>
          </p:txBody>
        </p:sp>
      </p:grpSp>
      <p:grpSp>
        <p:nvGrpSpPr>
          <p:cNvPr id="31" name="DIAGRAM removed gear" descr="A coal stage and a water tower drawn hatched and faded, labelled Removed: the old coal and water gear goes."/>
          <p:cNvGrpSpPr/>
          <p:nvPr/>
        </p:nvGrpSpPr>
        <p:grpSpPr>
          <a:xfrm>
            <a:off x="6766560" y="1417320"/>
            <a:ext cx="4846320" cy="3200400"/>
            <a:chOff x="6766560" y="1417320"/>
            <a:chExt cx="4846320" cy="3200400"/>
          </a:xfrm>
        </p:grpSpPr>
        <p:sp>
          <p:nvSpPr>
            <p:cNvPr id="32" name="TextBox 31"/>
            <p:cNvSpPr txBox="1"/>
            <p:nvPr/>
          </p:nvSpPr>
          <p:spPr>
            <a:xfrm>
              <a:off x="6766560" y="1417320"/>
              <a:ext cx="4846320" cy="548640"/>
            </a:xfrm>
            <a:prstGeom prst="rect">
              <a:avLst/>
            </a:prstGeom>
            <a:noFill/>
          </p:spPr>
          <p:txBody>
            <a:bodyPr wrap="square" lIns="18288" tIns="9144" rIns="18288" bIns="9144" anchor="ctr">
              <a:noAutofit/>
            </a:bodyPr>
            <a:lstStyle/>
            <a:p>
              <a:pPr algn="ctr"/>
              <a:r>
                <a:rPr lang="en-GB" sz="2800" b="1" i="0">
                  <a:solidFill>
                    <a:srgbClr val="F2F2F2"/>
                  </a:solidFill>
                  <a:latin typeface="Arial"/>
                </a:rPr>
                <a:t>Removed</a:t>
              </a:r>
            </a:p>
          </p:txBody>
        </p:sp>
        <p:cxnSp>
          <p:nvCxnSpPr>
            <p:cNvPr id="33" name="Connector 32"/>
            <p:cNvCxnSpPr/>
            <p:nvPr/>
          </p:nvCxnSpPr>
          <p:spPr>
            <a:xfrm>
              <a:off x="6949440" y="4160520"/>
              <a:ext cx="4572000" cy="0"/>
            </a:xfrm>
            <a:prstGeom prst="line">
              <a:avLst/>
            </a:prstGeom>
            <a:ln w="25400">
              <a:solidFill>
                <a:srgbClr val="59616C"/>
              </a:solidFill>
              <a:prstDash val="dash"/>
            </a:ln>
          </p:spPr>
        </p:cxnSp>
        <p:sp>
          <p:nvSpPr>
            <p:cNvPr id="34" name="Rectangle 33"/>
            <p:cNvSpPr/>
            <p:nvPr/>
          </p:nvSpPr>
          <p:spPr>
            <a:xfrm>
              <a:off x="7360920" y="3246120"/>
              <a:ext cx="109728" cy="914400"/>
            </a:xfrm>
            <a:prstGeom prst="rect">
              <a:avLst/>
            </a:prstGeom>
            <a:pattFill prst="wdUpDiag">
              <a:fgClr>
                <a:srgbClr val="6A727D"/>
              </a:fgClr>
              <a:bgClr>
                <a:srgbClr val="1E2126"/>
              </a:bgClr>
            </a:pattFill>
            <a:ln w="19050">
              <a:solidFill>
                <a:srgbClr val="59616C"/>
              </a:solidFill>
              <a:prstDash val="dash"/>
            </a:ln>
          </p:spPr>
          <p:txBody>
            <a:bodyPr rtlCol="0" anchor="ctr"/>
            <a:lstStyle/>
            <a:p>
              <a:pPr algn="ctr"/>
              <a:endParaRPr/>
            </a:p>
          </p:txBody>
        </p:sp>
        <p:sp>
          <p:nvSpPr>
            <p:cNvPr id="35" name="Rectangle 34"/>
            <p:cNvSpPr/>
            <p:nvPr/>
          </p:nvSpPr>
          <p:spPr>
            <a:xfrm>
              <a:off x="8092440" y="3246120"/>
              <a:ext cx="109728" cy="914400"/>
            </a:xfrm>
            <a:prstGeom prst="rect">
              <a:avLst/>
            </a:prstGeom>
            <a:pattFill prst="wdUpDiag">
              <a:fgClr>
                <a:srgbClr val="6A727D"/>
              </a:fgClr>
              <a:bgClr>
                <a:srgbClr val="1E2126"/>
              </a:bgClr>
            </a:pattFill>
            <a:ln w="19050">
              <a:solidFill>
                <a:srgbClr val="59616C"/>
              </a:solidFill>
              <a:prstDash val="dash"/>
            </a:ln>
          </p:spPr>
          <p:txBody>
            <a:bodyPr rtlCol="0" anchor="ctr"/>
            <a:lstStyle/>
            <a:p>
              <a:pPr algn="ctr"/>
              <a:endParaRPr/>
            </a:p>
          </p:txBody>
        </p:sp>
        <p:sp>
          <p:nvSpPr>
            <p:cNvPr id="36" name="Rectangle 35"/>
            <p:cNvSpPr/>
            <p:nvPr/>
          </p:nvSpPr>
          <p:spPr>
            <a:xfrm>
              <a:off x="8823960" y="3246120"/>
              <a:ext cx="109728" cy="914400"/>
            </a:xfrm>
            <a:prstGeom prst="rect">
              <a:avLst/>
            </a:prstGeom>
            <a:pattFill prst="wdUpDiag">
              <a:fgClr>
                <a:srgbClr val="6A727D"/>
              </a:fgClr>
              <a:bgClr>
                <a:srgbClr val="1E2126"/>
              </a:bgClr>
            </a:pattFill>
            <a:ln w="19050">
              <a:solidFill>
                <a:srgbClr val="59616C"/>
              </a:solidFill>
              <a:prstDash val="dash"/>
            </a:ln>
          </p:spPr>
          <p:txBody>
            <a:bodyPr rtlCol="0" anchor="ctr"/>
            <a:lstStyle/>
            <a:p>
              <a:pPr algn="ctr"/>
              <a:endParaRPr/>
            </a:p>
          </p:txBody>
        </p:sp>
        <p:sp>
          <p:nvSpPr>
            <p:cNvPr id="37" name="Rectangle 36"/>
            <p:cNvSpPr/>
            <p:nvPr/>
          </p:nvSpPr>
          <p:spPr>
            <a:xfrm>
              <a:off x="7178040" y="3063240"/>
              <a:ext cx="1828800" cy="182880"/>
            </a:xfrm>
            <a:prstGeom prst="rect">
              <a:avLst/>
            </a:prstGeom>
            <a:pattFill prst="wdUpDiag">
              <a:fgClr>
                <a:srgbClr val="6A727D"/>
              </a:fgClr>
              <a:bgClr>
                <a:srgbClr val="1E2126"/>
              </a:bgClr>
            </a:pattFill>
            <a:ln w="19050">
              <a:solidFill>
                <a:srgbClr val="59616C"/>
              </a:solidFill>
              <a:prstDash val="dash"/>
            </a:ln>
          </p:spPr>
          <p:txBody>
            <a:bodyPr rtlCol="0" anchor="ctr"/>
            <a:lstStyle/>
            <a:p>
              <a:pPr algn="ctr"/>
              <a:endParaRPr/>
            </a:p>
          </p:txBody>
        </p:sp>
        <p:sp>
          <p:nvSpPr>
            <p:cNvPr id="38" name="Freeform 37"/>
            <p:cNvSpPr/>
            <p:nvPr/>
          </p:nvSpPr>
          <p:spPr>
            <a:xfrm>
              <a:off x="7406640" y="2423160"/>
              <a:ext cx="1371600" cy="640080"/>
            </a:xfrm>
            <a:custGeom>
              <a:avLst/>
              <a:gdLst/>
              <a:ahLst/>
              <a:cxnLst/>
              <a:rect l="l" t="t" r="r" b="b"/>
              <a:pathLst>
                <a:path w="1371600" h="640080">
                  <a:moveTo>
                    <a:pt x="0" y="640080"/>
                  </a:moveTo>
                  <a:lnTo>
                    <a:pt x="365760" y="137160"/>
                  </a:lnTo>
                  <a:lnTo>
                    <a:pt x="914400" y="0"/>
                  </a:lnTo>
                  <a:lnTo>
                    <a:pt x="1371600" y="640080"/>
                  </a:lnTo>
                  <a:close/>
                </a:path>
              </a:pathLst>
            </a:custGeom>
            <a:noFill/>
            <a:ln w="25400">
              <a:solidFill>
                <a:srgbClr val="59616C"/>
              </a:solidFill>
              <a:prstDash val="dash"/>
            </a:ln>
          </p:spPr>
          <p:txBody>
            <a:bodyPr rtlCol="0" anchor="ctr"/>
            <a:lstStyle/>
            <a:p>
              <a:pPr algn="ctr"/>
              <a:endParaRPr/>
            </a:p>
          </p:txBody>
        </p:sp>
        <p:sp>
          <p:nvSpPr>
            <p:cNvPr id="39" name="Freeform 38"/>
            <p:cNvSpPr/>
            <p:nvPr/>
          </p:nvSpPr>
          <p:spPr>
            <a:xfrm>
              <a:off x="9006840" y="3108960"/>
              <a:ext cx="594360" cy="640079"/>
            </a:xfrm>
            <a:custGeom>
              <a:avLst/>
              <a:gdLst/>
              <a:ahLst/>
              <a:cxnLst/>
              <a:rect l="l" t="t" r="r" b="b"/>
              <a:pathLst>
                <a:path w="594360" h="640079">
                  <a:moveTo>
                    <a:pt x="0" y="0"/>
                  </a:moveTo>
                  <a:lnTo>
                    <a:pt x="457200" y="640079"/>
                  </a:lnTo>
                  <a:lnTo>
                    <a:pt x="594360" y="640079"/>
                  </a:lnTo>
                  <a:lnTo>
                    <a:pt x="182880" y="0"/>
                  </a:lnTo>
                  <a:close/>
                </a:path>
              </a:pathLst>
            </a:custGeom>
            <a:noFill/>
            <a:ln w="25400">
              <a:solidFill>
                <a:srgbClr val="59616C"/>
              </a:solidFill>
              <a:prstDash val="dash"/>
            </a:ln>
          </p:spPr>
          <p:txBody>
            <a:bodyPr rtlCol="0" anchor="ctr"/>
            <a:lstStyle/>
            <a:p>
              <a:pPr algn="ctr"/>
              <a:endParaRPr/>
            </a:p>
          </p:txBody>
        </p:sp>
        <p:sp>
          <p:nvSpPr>
            <p:cNvPr id="40" name="Rectangle 39"/>
            <p:cNvSpPr/>
            <p:nvPr/>
          </p:nvSpPr>
          <p:spPr>
            <a:xfrm>
              <a:off x="10195560" y="3383280"/>
              <a:ext cx="109728" cy="777239"/>
            </a:xfrm>
            <a:prstGeom prst="rect">
              <a:avLst/>
            </a:prstGeom>
            <a:pattFill prst="wdUpDiag">
              <a:fgClr>
                <a:srgbClr val="6A727D"/>
              </a:fgClr>
              <a:bgClr>
                <a:srgbClr val="1E2126"/>
              </a:bgClr>
            </a:pattFill>
            <a:ln w="19050">
              <a:solidFill>
                <a:srgbClr val="59616C"/>
              </a:solidFill>
              <a:prstDash val="dash"/>
            </a:ln>
          </p:spPr>
          <p:txBody>
            <a:bodyPr rtlCol="0" anchor="ctr"/>
            <a:lstStyle/>
            <a:p>
              <a:pPr algn="ctr"/>
              <a:endParaRPr/>
            </a:p>
          </p:txBody>
        </p:sp>
        <p:sp>
          <p:nvSpPr>
            <p:cNvPr id="41" name="Rectangle 40"/>
            <p:cNvSpPr/>
            <p:nvPr/>
          </p:nvSpPr>
          <p:spPr>
            <a:xfrm>
              <a:off x="10972800" y="3383280"/>
              <a:ext cx="109728" cy="777239"/>
            </a:xfrm>
            <a:prstGeom prst="rect">
              <a:avLst/>
            </a:prstGeom>
            <a:pattFill prst="wdUpDiag">
              <a:fgClr>
                <a:srgbClr val="6A727D"/>
              </a:fgClr>
              <a:bgClr>
                <a:srgbClr val="1E2126"/>
              </a:bgClr>
            </a:pattFill>
            <a:ln w="19050">
              <a:solidFill>
                <a:srgbClr val="59616C"/>
              </a:solidFill>
              <a:prstDash val="dash"/>
            </a:ln>
          </p:spPr>
          <p:txBody>
            <a:bodyPr rtlCol="0" anchor="ctr"/>
            <a:lstStyle/>
            <a:p>
              <a:pPr algn="ctr"/>
              <a:endParaRPr/>
            </a:p>
          </p:txBody>
        </p:sp>
        <p:sp>
          <p:nvSpPr>
            <p:cNvPr id="42" name="Rounded Rectangle 41"/>
            <p:cNvSpPr/>
            <p:nvPr/>
          </p:nvSpPr>
          <p:spPr>
            <a:xfrm>
              <a:off x="10012680" y="2331720"/>
              <a:ext cx="1280160" cy="1005840"/>
            </a:xfrm>
            <a:prstGeom prst="roundRect">
              <a:avLst>
                <a:gd name="adj" fmla="val 10909"/>
              </a:avLst>
            </a:prstGeom>
            <a:pattFill prst="wdUpDiag">
              <a:fgClr>
                <a:srgbClr val="6A727D"/>
              </a:fgClr>
              <a:bgClr>
                <a:srgbClr val="1E2126"/>
              </a:bgClr>
            </a:pattFill>
            <a:ln w="19050">
              <a:solidFill>
                <a:srgbClr val="59616C"/>
              </a:solidFill>
              <a:prstDash val="dash"/>
            </a:ln>
          </p:spPr>
          <p:txBody>
            <a:bodyPr rtlCol="0" anchor="ctr"/>
            <a:lstStyle/>
            <a:p>
              <a:pPr algn="ctr"/>
              <a:endParaRPr/>
            </a:p>
          </p:txBody>
        </p:sp>
        <p:sp>
          <p:nvSpPr>
            <p:cNvPr id="43" name="TextBox 42"/>
            <p:cNvSpPr txBox="1"/>
            <p:nvPr/>
          </p:nvSpPr>
          <p:spPr>
            <a:xfrm>
              <a:off x="7040880" y="4297680"/>
              <a:ext cx="2468880" cy="320040"/>
            </a:xfrm>
            <a:prstGeom prst="rect">
              <a:avLst/>
            </a:prstGeom>
            <a:noFill/>
          </p:spPr>
          <p:txBody>
            <a:bodyPr wrap="square" lIns="18288" tIns="9144" rIns="18288" bIns="9144" anchor="ctr">
              <a:noAutofit/>
            </a:bodyPr>
            <a:lstStyle/>
            <a:p>
              <a:pPr algn="ctr"/>
              <a:r>
                <a:rPr lang="en-GB" sz="1400" b="1" i="0">
                  <a:solidFill>
                    <a:srgbClr val="A9B0B8"/>
                  </a:solidFill>
                  <a:latin typeface="Arial"/>
                </a:rPr>
                <a:t>Coal stage</a:t>
              </a:r>
            </a:p>
          </p:txBody>
        </p:sp>
        <p:sp>
          <p:nvSpPr>
            <p:cNvPr id="44" name="TextBox 43"/>
            <p:cNvSpPr txBox="1"/>
            <p:nvPr/>
          </p:nvSpPr>
          <p:spPr>
            <a:xfrm>
              <a:off x="9692640" y="4297680"/>
              <a:ext cx="1920240" cy="320040"/>
            </a:xfrm>
            <a:prstGeom prst="rect">
              <a:avLst/>
            </a:prstGeom>
            <a:noFill/>
          </p:spPr>
          <p:txBody>
            <a:bodyPr wrap="square" lIns="18288" tIns="9144" rIns="18288" bIns="9144" anchor="ctr">
              <a:noAutofit/>
            </a:bodyPr>
            <a:lstStyle/>
            <a:p>
              <a:pPr algn="ctr"/>
              <a:r>
                <a:rPr lang="en-GB" sz="1400" b="1" i="0">
                  <a:solidFill>
                    <a:srgbClr val="A9B0B8"/>
                  </a:solidFill>
                  <a:latin typeface="Arial"/>
                </a:rPr>
                <a:t>Water tower</a:t>
              </a:r>
            </a:p>
          </p:txBody>
        </p:sp>
      </p:grpSp>
      <p:sp>
        <p:nvSpPr>
          <p:cNvPr id="4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4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47"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Your station name and timetable could carry over. Old coal and water gear is removed.</a:t>
            </a:r>
          </a:p>
        </p:txBody>
      </p:sp>
      <p:sp>
        <p:nvSpPr>
          <p:cNvPr id="48"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11</a:t>
            </a:r>
          </a:p>
        </p:txBody>
      </p:sp>
    </p:spTree>
    <p:extLst>
      <p:ext uri="{BB962C8B-B14F-4D97-AF65-F5344CB8AC3E}">
        <p14:creationId xmlns:p14="http://schemas.microsoft.com/office/powerpoint/2010/main" val="31683013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nodeType="withEffect">
                                  <p:stCondLst>
                                    <p:cond delay="60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90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par>
                                <p:cTn id="17" presetID="10" presetClass="entr" presetSubtype="0" fill="hold" nodeType="withEffect">
                                  <p:stCondLst>
                                    <p:cond delay="120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Signals change</a:t>
            </a:r>
          </a:p>
        </p:txBody>
      </p:sp>
      <p:sp>
        <p:nvSpPr>
          <p:cNvPr id="3" name="CHIP"/>
          <p:cNvSpPr/>
          <p:nvPr/>
        </p:nvSpPr>
        <p:spPr>
          <a:xfrm>
            <a:off x="10088575" y="548640"/>
            <a:ext cx="1554480" cy="365760"/>
          </a:xfrm>
          <a:prstGeom prst="roundRect">
            <a:avLst>
              <a:gd name="adj" fmla="val 50000"/>
            </a:avLst>
          </a:prstGeom>
          <a:solidFill>
            <a:srgbClr val="B084F5"/>
          </a:solidFill>
          <a:ln>
            <a:noFill/>
          </a:ln>
        </p:spPr>
        <p:txBody>
          <a:bodyPr wrap="square" lIns="36576" tIns="0" rIns="36576" bIns="0" rtlCol="0" anchor="ctr">
            <a:noAutofit/>
          </a:bodyPr>
          <a:lstStyle/>
          <a:p>
            <a:pPr algn="ctr"/>
            <a:r>
              <a:rPr lang="en-GB" sz="1400" b="1" i="0">
                <a:solidFill>
                  <a:srgbClr val="101418"/>
                </a:solidFill>
                <a:latin typeface="Arial"/>
              </a:rPr>
              <a:t>PROPOSED</a:t>
            </a:r>
          </a:p>
        </p:txBody>
      </p:sp>
      <p:grpSp>
        <p:nvGrpSpPr>
          <p:cNvPr id="4" name="DIAGRAM semaphore" descr="Silhouette of a mechanical semaphore signal with a flat arm."/>
          <p:cNvGrpSpPr/>
          <p:nvPr/>
        </p:nvGrpSpPr>
        <p:grpSpPr>
          <a:xfrm>
            <a:off x="548640" y="1371600"/>
            <a:ext cx="4023360" cy="4023360"/>
            <a:chOff x="548640" y="1371600"/>
            <a:chExt cx="4023360" cy="4023360"/>
          </a:xfrm>
        </p:grpSpPr>
        <p:sp>
          <p:nvSpPr>
            <p:cNvPr id="5" name="Rounded Rectangle 4"/>
            <p:cNvSpPr/>
            <p:nvPr/>
          </p:nvSpPr>
          <p:spPr>
            <a:xfrm>
              <a:off x="548640" y="1371600"/>
              <a:ext cx="4023360" cy="4023360"/>
            </a:xfrm>
            <a:prstGeom prst="roundRect">
              <a:avLst>
                <a:gd name="adj" fmla="val 1818"/>
              </a:avLst>
            </a:prstGeom>
            <a:solidFill>
              <a:srgbClr val="2B2F36"/>
            </a:solidFill>
            <a:ln>
              <a:noFill/>
            </a:ln>
          </p:spPr>
          <p:txBody>
            <a:bodyPr rtlCol="0" anchor="ctr"/>
            <a:lstStyle/>
            <a:p>
              <a:pPr algn="ctr"/>
              <a:endParaRPr/>
            </a:p>
          </p:txBody>
        </p:sp>
        <p:sp>
          <p:nvSpPr>
            <p:cNvPr id="6" name="Rectangle 5"/>
            <p:cNvSpPr/>
            <p:nvPr/>
          </p:nvSpPr>
          <p:spPr>
            <a:xfrm>
              <a:off x="2432304" y="1965960"/>
              <a:ext cx="164592" cy="2514600"/>
            </a:xfrm>
            <a:prstGeom prst="rect">
              <a:avLst/>
            </a:prstGeom>
            <a:solidFill>
              <a:srgbClr val="C9CED4"/>
            </a:solidFill>
            <a:ln>
              <a:noFill/>
            </a:ln>
          </p:spPr>
          <p:txBody>
            <a:bodyPr rtlCol="0" anchor="ctr"/>
            <a:lstStyle/>
            <a:p>
              <a:pPr algn="ctr"/>
              <a:endParaRPr/>
            </a:p>
          </p:txBody>
        </p:sp>
        <p:sp>
          <p:nvSpPr>
            <p:cNvPr id="7" name="Rectangle 6"/>
            <p:cNvSpPr/>
            <p:nvPr/>
          </p:nvSpPr>
          <p:spPr>
            <a:xfrm>
              <a:off x="2194560" y="4389120"/>
              <a:ext cx="640080" cy="128016"/>
            </a:xfrm>
            <a:prstGeom prst="rect">
              <a:avLst/>
            </a:prstGeom>
            <a:solidFill>
              <a:srgbClr val="C9CED4"/>
            </a:solidFill>
            <a:ln>
              <a:noFill/>
            </a:ln>
          </p:spPr>
          <p:txBody>
            <a:bodyPr rtlCol="0" anchor="ctr"/>
            <a:lstStyle/>
            <a:p>
              <a:pPr algn="ctr"/>
              <a:endParaRPr/>
            </a:p>
          </p:txBody>
        </p:sp>
        <p:sp>
          <p:nvSpPr>
            <p:cNvPr id="8" name="Rectangle 7"/>
            <p:cNvSpPr/>
            <p:nvPr/>
          </p:nvSpPr>
          <p:spPr>
            <a:xfrm>
              <a:off x="2468880" y="2103120"/>
              <a:ext cx="1143000" cy="201168"/>
            </a:xfrm>
            <a:prstGeom prst="rect">
              <a:avLst/>
            </a:prstGeom>
            <a:solidFill>
              <a:srgbClr val="C9CED4"/>
            </a:solidFill>
            <a:ln>
              <a:noFill/>
            </a:ln>
          </p:spPr>
          <p:txBody>
            <a:bodyPr rtlCol="0" anchor="ctr"/>
            <a:lstStyle/>
            <a:p>
              <a:pPr algn="ctr"/>
              <a:endParaRPr/>
            </a:p>
          </p:txBody>
        </p:sp>
        <p:sp>
          <p:nvSpPr>
            <p:cNvPr id="9" name="Oval 8"/>
            <p:cNvSpPr/>
            <p:nvPr/>
          </p:nvSpPr>
          <p:spPr>
            <a:xfrm>
              <a:off x="2057400" y="1993392"/>
              <a:ext cx="310896" cy="310896"/>
            </a:xfrm>
            <a:prstGeom prst="ellipse">
              <a:avLst/>
            </a:prstGeom>
            <a:noFill/>
            <a:ln w="38100">
              <a:solidFill>
                <a:srgbClr val="C9CED4"/>
              </a:solidFill>
            </a:ln>
          </p:spPr>
          <p:txBody>
            <a:bodyPr rtlCol="0" anchor="ctr"/>
            <a:lstStyle/>
            <a:p>
              <a:pPr algn="ctr"/>
              <a:endParaRPr/>
            </a:p>
          </p:txBody>
        </p:sp>
        <p:sp>
          <p:nvSpPr>
            <p:cNvPr id="10" name="TextBox 9"/>
            <p:cNvSpPr txBox="1"/>
            <p:nvPr/>
          </p:nvSpPr>
          <p:spPr>
            <a:xfrm>
              <a:off x="731520" y="4617720"/>
              <a:ext cx="3657600" cy="640080"/>
            </a:xfrm>
            <a:prstGeom prst="rect">
              <a:avLst/>
            </a:prstGeom>
            <a:noFill/>
          </p:spPr>
          <p:txBody>
            <a:bodyPr wrap="square" lIns="18288" tIns="9144" rIns="18288" bIns="9144" anchor="ctr">
              <a:noAutofit/>
            </a:bodyPr>
            <a:lstStyle/>
            <a:p>
              <a:pPr algn="ctr"/>
              <a:r>
                <a:rPr lang="en-GB" sz="2000" b="1" i="0">
                  <a:solidFill>
                    <a:srgbClr val="F2F2F2"/>
                  </a:solidFill>
                  <a:latin typeface="Arial"/>
                </a:rPr>
                <a:t>Semaphore</a:t>
              </a:r>
            </a:p>
          </p:txBody>
        </p:sp>
      </p:grpSp>
      <p:grpSp>
        <p:nvGrpSpPr>
          <p:cNvPr id="11" name="DIAGRAM electronic signal" descr="Silhouette of an electronic signal with three lamps on a post."/>
          <p:cNvGrpSpPr/>
          <p:nvPr/>
        </p:nvGrpSpPr>
        <p:grpSpPr>
          <a:xfrm>
            <a:off x="7616952" y="1371600"/>
            <a:ext cx="4023360" cy="4023360"/>
            <a:chOff x="7616952" y="1371600"/>
            <a:chExt cx="4023360" cy="4023360"/>
          </a:xfrm>
        </p:grpSpPr>
        <p:sp>
          <p:nvSpPr>
            <p:cNvPr id="12" name="Rounded Rectangle 11"/>
            <p:cNvSpPr/>
            <p:nvPr/>
          </p:nvSpPr>
          <p:spPr>
            <a:xfrm>
              <a:off x="7616952" y="1371600"/>
              <a:ext cx="4023360" cy="4023360"/>
            </a:xfrm>
            <a:prstGeom prst="roundRect">
              <a:avLst>
                <a:gd name="adj" fmla="val 1818"/>
              </a:avLst>
            </a:prstGeom>
            <a:solidFill>
              <a:srgbClr val="2B2F36"/>
            </a:solidFill>
            <a:ln>
              <a:noFill/>
            </a:ln>
          </p:spPr>
          <p:txBody>
            <a:bodyPr rtlCol="0" anchor="ctr"/>
            <a:lstStyle/>
            <a:p>
              <a:pPr algn="ctr"/>
              <a:endParaRPr/>
            </a:p>
          </p:txBody>
        </p:sp>
        <p:sp>
          <p:nvSpPr>
            <p:cNvPr id="13" name="Rectangle 12"/>
            <p:cNvSpPr/>
            <p:nvPr/>
          </p:nvSpPr>
          <p:spPr>
            <a:xfrm>
              <a:off x="9546336" y="3291840"/>
              <a:ext cx="164592" cy="1188720"/>
            </a:xfrm>
            <a:prstGeom prst="rect">
              <a:avLst/>
            </a:prstGeom>
            <a:solidFill>
              <a:srgbClr val="C9CED4"/>
            </a:solidFill>
            <a:ln>
              <a:noFill/>
            </a:ln>
          </p:spPr>
          <p:txBody>
            <a:bodyPr rtlCol="0" anchor="ctr"/>
            <a:lstStyle/>
            <a:p>
              <a:pPr algn="ctr"/>
              <a:endParaRPr/>
            </a:p>
          </p:txBody>
        </p:sp>
        <p:sp>
          <p:nvSpPr>
            <p:cNvPr id="14" name="Rectangle 13"/>
            <p:cNvSpPr/>
            <p:nvPr/>
          </p:nvSpPr>
          <p:spPr>
            <a:xfrm>
              <a:off x="9308592" y="4389120"/>
              <a:ext cx="640080" cy="128016"/>
            </a:xfrm>
            <a:prstGeom prst="rect">
              <a:avLst/>
            </a:prstGeom>
            <a:solidFill>
              <a:srgbClr val="C9CED4"/>
            </a:solidFill>
            <a:ln>
              <a:noFill/>
            </a:ln>
          </p:spPr>
          <p:txBody>
            <a:bodyPr rtlCol="0" anchor="ctr"/>
            <a:lstStyle/>
            <a:p>
              <a:pPr algn="ctr"/>
              <a:endParaRPr/>
            </a:p>
          </p:txBody>
        </p:sp>
        <p:sp>
          <p:nvSpPr>
            <p:cNvPr id="15" name="Rounded Rectangle 14"/>
            <p:cNvSpPr/>
            <p:nvPr/>
          </p:nvSpPr>
          <p:spPr>
            <a:xfrm>
              <a:off x="9244584" y="1828800"/>
              <a:ext cx="768096" cy="1554480"/>
            </a:xfrm>
            <a:prstGeom prst="roundRect">
              <a:avLst>
                <a:gd name="adj" fmla="val 14285"/>
              </a:avLst>
            </a:prstGeom>
            <a:solidFill>
              <a:srgbClr val="101418"/>
            </a:solidFill>
            <a:ln w="38100">
              <a:solidFill>
                <a:srgbClr val="C9CED4"/>
              </a:solidFill>
            </a:ln>
          </p:spPr>
          <p:txBody>
            <a:bodyPr rtlCol="0" anchor="ctr"/>
            <a:lstStyle/>
            <a:p>
              <a:pPr algn="ctr"/>
              <a:endParaRPr/>
            </a:p>
          </p:txBody>
        </p:sp>
        <p:sp>
          <p:nvSpPr>
            <p:cNvPr id="16" name="Oval 15"/>
            <p:cNvSpPr/>
            <p:nvPr/>
          </p:nvSpPr>
          <p:spPr>
            <a:xfrm>
              <a:off x="9436607" y="1938528"/>
              <a:ext cx="384048" cy="384048"/>
            </a:xfrm>
            <a:prstGeom prst="ellipse">
              <a:avLst/>
            </a:prstGeom>
            <a:solidFill>
              <a:srgbClr val="5A2A2D"/>
            </a:solidFill>
            <a:ln w="31750">
              <a:solidFill>
                <a:srgbClr val="E5484D"/>
              </a:solidFill>
            </a:ln>
          </p:spPr>
          <p:txBody>
            <a:bodyPr rtlCol="0" anchor="ctr"/>
            <a:lstStyle/>
            <a:p>
              <a:pPr algn="ctr"/>
              <a:endParaRPr/>
            </a:p>
          </p:txBody>
        </p:sp>
        <p:sp>
          <p:nvSpPr>
            <p:cNvPr id="17" name="Oval 16"/>
            <p:cNvSpPr/>
            <p:nvPr/>
          </p:nvSpPr>
          <p:spPr>
            <a:xfrm>
              <a:off x="9436607" y="2395728"/>
              <a:ext cx="384048" cy="384048"/>
            </a:xfrm>
            <a:prstGeom prst="ellipse">
              <a:avLst/>
            </a:prstGeom>
            <a:solidFill>
              <a:srgbClr val="5A4C27"/>
            </a:solidFill>
            <a:ln w="31750">
              <a:solidFill>
                <a:srgbClr val="F2C14E"/>
              </a:solidFill>
            </a:ln>
          </p:spPr>
          <p:txBody>
            <a:bodyPr rtlCol="0" anchor="ctr"/>
            <a:lstStyle/>
            <a:p>
              <a:pPr algn="ctr"/>
              <a:endParaRPr/>
            </a:p>
          </p:txBody>
        </p:sp>
        <p:sp>
          <p:nvSpPr>
            <p:cNvPr id="18" name="Oval 17"/>
            <p:cNvSpPr/>
            <p:nvPr/>
          </p:nvSpPr>
          <p:spPr>
            <a:xfrm>
              <a:off x="9436607" y="2852928"/>
              <a:ext cx="384048" cy="384048"/>
            </a:xfrm>
            <a:prstGeom prst="ellipse">
              <a:avLst/>
            </a:prstGeom>
            <a:solidFill>
              <a:srgbClr val="1F4A2A"/>
            </a:solidFill>
            <a:ln w="31750">
              <a:solidFill>
                <a:srgbClr val="3FB950"/>
              </a:solidFill>
            </a:ln>
          </p:spPr>
          <p:txBody>
            <a:bodyPr rtlCol="0" anchor="ctr"/>
            <a:lstStyle/>
            <a:p>
              <a:pPr algn="ctr"/>
              <a:endParaRPr/>
            </a:p>
          </p:txBody>
        </p:sp>
        <p:sp>
          <p:nvSpPr>
            <p:cNvPr id="19" name="TextBox 18"/>
            <p:cNvSpPr txBox="1"/>
            <p:nvPr/>
          </p:nvSpPr>
          <p:spPr>
            <a:xfrm>
              <a:off x="7799831" y="4617720"/>
              <a:ext cx="3657600" cy="640080"/>
            </a:xfrm>
            <a:prstGeom prst="rect">
              <a:avLst/>
            </a:prstGeom>
            <a:noFill/>
          </p:spPr>
          <p:txBody>
            <a:bodyPr wrap="square" lIns="18288" tIns="9144" rIns="18288" bIns="9144" anchor="ctr">
              <a:noAutofit/>
            </a:bodyPr>
            <a:lstStyle/>
            <a:p>
              <a:pPr algn="ctr"/>
              <a:r>
                <a:rPr lang="en-GB" sz="2000" b="1" i="0">
                  <a:solidFill>
                    <a:srgbClr val="F2F2F2"/>
                  </a:solidFill>
                  <a:latin typeface="Arial"/>
                </a:rPr>
                <a:t>Electronic signal</a:t>
              </a:r>
            </a:p>
          </p:txBody>
        </p:sp>
      </p:grpSp>
      <p:grpSp>
        <p:nvGrpSpPr>
          <p:cNvPr id="20" name="DIAGRAM arrow" descr="An arrow from the semaphore to the electronic signal, marked not yet specified."/>
          <p:cNvGrpSpPr/>
          <p:nvPr/>
        </p:nvGrpSpPr>
        <p:grpSpPr>
          <a:xfrm>
            <a:off x="4754880" y="3200400"/>
            <a:ext cx="2743200" cy="640080"/>
            <a:chOff x="4754880" y="3200400"/>
            <a:chExt cx="2743200" cy="640080"/>
          </a:xfrm>
        </p:grpSpPr>
        <p:cxnSp>
          <p:nvCxnSpPr>
            <p:cNvPr id="21" name="Connector 20"/>
            <p:cNvCxnSpPr/>
            <p:nvPr/>
          </p:nvCxnSpPr>
          <p:spPr>
            <a:xfrm>
              <a:off x="4846320" y="3200400"/>
              <a:ext cx="2560320" cy="0"/>
            </a:xfrm>
            <a:prstGeom prst="line">
              <a:avLst/>
            </a:prstGeom>
            <a:ln w="57150">
              <a:solidFill>
                <a:srgbClr val="F28C28"/>
              </a:solidFill>
              <a:tailEnd type="triangle" w="med" len="med"/>
            </a:ln>
          </p:spPr>
        </p:cxnSp>
        <p:sp>
          <p:nvSpPr>
            <p:cNvPr id="22" name="TextBox 21"/>
            <p:cNvSpPr txBox="1"/>
            <p:nvPr/>
          </p:nvSpPr>
          <p:spPr>
            <a:xfrm>
              <a:off x="4754880" y="3383280"/>
              <a:ext cx="2743200"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Not yet specified</a:t>
              </a:r>
            </a:p>
          </p:txBody>
        </p:sp>
      </p:grpSp>
      <p:sp>
        <p:nvSpPr>
          <p:cNvPr id="2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5"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Mechanical signals may give way to electronic ones. The details are not set.</a:t>
            </a:r>
          </a:p>
        </p:txBody>
      </p:sp>
      <p:sp>
        <p:nvSpPr>
          <p:cNvPr id="26"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12</a:t>
            </a:r>
          </a:p>
        </p:txBody>
      </p:sp>
    </p:spTree>
    <p:extLst>
      <p:ext uri="{BB962C8B-B14F-4D97-AF65-F5344CB8AC3E}">
        <p14:creationId xmlns:p14="http://schemas.microsoft.com/office/powerpoint/2010/main" val="3329898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6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9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nodeType="withEffect">
                                  <p:stCondLst>
                                    <p:cond delay="12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nodeType="withEffect">
                                  <p:stCondLst>
                                    <p:cond delay="150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Mixed networks</a:t>
            </a:r>
          </a:p>
        </p:txBody>
      </p:sp>
      <p:sp>
        <p:nvSpPr>
          <p:cNvPr id="3" name="CHIP"/>
          <p:cNvSpPr/>
          <p:nvPr/>
        </p:nvSpPr>
        <p:spPr>
          <a:xfrm>
            <a:off x="10088575" y="548640"/>
            <a:ext cx="1554480" cy="365760"/>
          </a:xfrm>
          <a:prstGeom prst="roundRect">
            <a:avLst>
              <a:gd name="adj" fmla="val 50000"/>
            </a:avLst>
          </a:prstGeom>
          <a:solidFill>
            <a:srgbClr val="B084F5"/>
          </a:solidFill>
          <a:ln>
            <a:noFill/>
          </a:ln>
        </p:spPr>
        <p:txBody>
          <a:bodyPr wrap="square" lIns="36576" tIns="0" rIns="36576" bIns="0" rtlCol="0" anchor="ctr">
            <a:noAutofit/>
          </a:bodyPr>
          <a:lstStyle/>
          <a:p>
            <a:pPr algn="ctr"/>
            <a:r>
              <a:rPr lang="en-GB" sz="1400" b="1" i="0">
                <a:solidFill>
                  <a:srgbClr val="101418"/>
                </a:solidFill>
                <a:latin typeface="Arial"/>
              </a:rPr>
              <a:t>PROPOSED</a:t>
            </a:r>
          </a:p>
        </p:txBody>
      </p:sp>
      <p:grpSp>
        <p:nvGrpSpPr>
          <p:cNvPr id="4" name="DIAGRAM mixed network" descr="A blue electric main line with orange steam branches joining it at three squares labelled Interchange."/>
          <p:cNvGrpSpPr/>
          <p:nvPr/>
        </p:nvGrpSpPr>
        <p:grpSpPr>
          <a:xfrm>
            <a:off x="822960" y="1874519"/>
            <a:ext cx="10515600" cy="3108961"/>
            <a:chOff x="822960" y="1874519"/>
            <a:chExt cx="10515600" cy="3108961"/>
          </a:xfrm>
        </p:grpSpPr>
        <p:sp>
          <p:nvSpPr>
            <p:cNvPr id="5" name="Rounded Rectangle 4"/>
            <p:cNvSpPr/>
            <p:nvPr/>
          </p:nvSpPr>
          <p:spPr>
            <a:xfrm>
              <a:off x="822960" y="3520439"/>
              <a:ext cx="10515600" cy="182880"/>
            </a:xfrm>
            <a:prstGeom prst="roundRect">
              <a:avLst>
                <a:gd name="adj" fmla="val 25000"/>
              </a:avLst>
            </a:prstGeom>
            <a:solidFill>
              <a:srgbClr val="6CA0DC"/>
            </a:solidFill>
            <a:ln>
              <a:noFill/>
            </a:ln>
          </p:spPr>
          <p:txBody>
            <a:bodyPr rtlCol="0" anchor="ctr"/>
            <a:lstStyle/>
            <a:p>
              <a:pPr algn="ctr"/>
              <a:endParaRPr/>
            </a:p>
          </p:txBody>
        </p:sp>
        <p:sp>
          <p:nvSpPr>
            <p:cNvPr id="6" name="Freeform 5"/>
            <p:cNvSpPr/>
            <p:nvPr/>
          </p:nvSpPr>
          <p:spPr>
            <a:xfrm>
              <a:off x="1554480" y="2377439"/>
              <a:ext cx="1554480" cy="1234440"/>
            </a:xfrm>
            <a:custGeom>
              <a:avLst/>
              <a:gdLst/>
              <a:ahLst/>
              <a:cxnLst/>
              <a:rect l="l" t="t" r="r" b="b"/>
              <a:pathLst>
                <a:path w="1554480" h="1234440">
                  <a:moveTo>
                    <a:pt x="1554480" y="1234440"/>
                  </a:moveTo>
                  <a:lnTo>
                    <a:pt x="1554480" y="0"/>
                  </a:lnTo>
                  <a:lnTo>
                    <a:pt x="0" y="0"/>
                  </a:lnTo>
                </a:path>
              </a:pathLst>
            </a:custGeom>
            <a:noFill/>
            <a:ln w="76200">
              <a:solidFill>
                <a:srgbClr val="F28C28"/>
              </a:solidFill>
            </a:ln>
          </p:spPr>
          <p:txBody>
            <a:bodyPr rtlCol="0" anchor="ctr"/>
            <a:lstStyle/>
            <a:p>
              <a:pPr algn="ctr"/>
              <a:endParaRPr/>
            </a:p>
          </p:txBody>
        </p:sp>
        <p:sp>
          <p:nvSpPr>
            <p:cNvPr id="7" name="Freeform 6"/>
            <p:cNvSpPr/>
            <p:nvPr/>
          </p:nvSpPr>
          <p:spPr>
            <a:xfrm>
              <a:off x="6217920" y="3611879"/>
              <a:ext cx="1554480" cy="1188721"/>
            </a:xfrm>
            <a:custGeom>
              <a:avLst/>
              <a:gdLst/>
              <a:ahLst/>
              <a:cxnLst/>
              <a:rect l="l" t="t" r="r" b="b"/>
              <a:pathLst>
                <a:path w="1554480" h="1188721">
                  <a:moveTo>
                    <a:pt x="0" y="0"/>
                  </a:moveTo>
                  <a:lnTo>
                    <a:pt x="0" y="1188721"/>
                  </a:lnTo>
                  <a:lnTo>
                    <a:pt x="1554480" y="1188721"/>
                  </a:lnTo>
                </a:path>
              </a:pathLst>
            </a:custGeom>
            <a:noFill/>
            <a:ln w="76200">
              <a:solidFill>
                <a:srgbClr val="F28C28"/>
              </a:solidFill>
            </a:ln>
          </p:spPr>
          <p:txBody>
            <a:bodyPr rtlCol="0" anchor="ctr"/>
            <a:lstStyle/>
            <a:p>
              <a:pPr algn="ctr"/>
              <a:endParaRPr/>
            </a:p>
          </p:txBody>
        </p:sp>
        <p:sp>
          <p:nvSpPr>
            <p:cNvPr id="8" name="Freeform 7"/>
            <p:cNvSpPr/>
            <p:nvPr/>
          </p:nvSpPr>
          <p:spPr>
            <a:xfrm>
              <a:off x="9326880" y="2377439"/>
              <a:ext cx="1554480" cy="1234440"/>
            </a:xfrm>
            <a:custGeom>
              <a:avLst/>
              <a:gdLst/>
              <a:ahLst/>
              <a:cxnLst/>
              <a:rect l="l" t="t" r="r" b="b"/>
              <a:pathLst>
                <a:path w="1554480" h="1234440">
                  <a:moveTo>
                    <a:pt x="0" y="1234440"/>
                  </a:moveTo>
                  <a:lnTo>
                    <a:pt x="0" y="0"/>
                  </a:lnTo>
                  <a:lnTo>
                    <a:pt x="1554480" y="0"/>
                  </a:lnTo>
                </a:path>
              </a:pathLst>
            </a:custGeom>
            <a:noFill/>
            <a:ln w="76200">
              <a:solidFill>
                <a:srgbClr val="F28C28"/>
              </a:solidFill>
            </a:ln>
          </p:spPr>
          <p:txBody>
            <a:bodyPr rtlCol="0" anchor="ctr"/>
            <a:lstStyle/>
            <a:p>
              <a:pPr algn="ctr"/>
              <a:endParaRPr/>
            </a:p>
          </p:txBody>
        </p:sp>
        <p:sp>
          <p:nvSpPr>
            <p:cNvPr id="9" name="Oval 8"/>
            <p:cNvSpPr/>
            <p:nvPr/>
          </p:nvSpPr>
          <p:spPr>
            <a:xfrm>
              <a:off x="1234440" y="2194559"/>
              <a:ext cx="365760" cy="365760"/>
            </a:xfrm>
            <a:prstGeom prst="ellipse">
              <a:avLst/>
            </a:prstGeom>
            <a:solidFill>
              <a:srgbClr val="F28C28"/>
            </a:solidFill>
            <a:ln w="31750">
              <a:solidFill>
                <a:srgbClr val="E8E8E8"/>
              </a:solidFill>
            </a:ln>
          </p:spPr>
          <p:txBody>
            <a:bodyPr rtlCol="0" anchor="ctr"/>
            <a:lstStyle/>
            <a:p>
              <a:pPr algn="ctr"/>
              <a:endParaRPr/>
            </a:p>
          </p:txBody>
        </p:sp>
        <p:sp>
          <p:nvSpPr>
            <p:cNvPr id="10" name="Oval 9"/>
            <p:cNvSpPr/>
            <p:nvPr/>
          </p:nvSpPr>
          <p:spPr>
            <a:xfrm>
              <a:off x="7726680" y="4617720"/>
              <a:ext cx="365760" cy="365760"/>
            </a:xfrm>
            <a:prstGeom prst="ellipse">
              <a:avLst/>
            </a:prstGeom>
            <a:solidFill>
              <a:srgbClr val="F28C28"/>
            </a:solidFill>
            <a:ln w="31750">
              <a:solidFill>
                <a:srgbClr val="E8E8E8"/>
              </a:solidFill>
            </a:ln>
          </p:spPr>
          <p:txBody>
            <a:bodyPr rtlCol="0" anchor="ctr"/>
            <a:lstStyle/>
            <a:p>
              <a:pPr algn="ctr"/>
              <a:endParaRPr/>
            </a:p>
          </p:txBody>
        </p:sp>
        <p:sp>
          <p:nvSpPr>
            <p:cNvPr id="11" name="Oval 10"/>
            <p:cNvSpPr/>
            <p:nvPr/>
          </p:nvSpPr>
          <p:spPr>
            <a:xfrm>
              <a:off x="10835640" y="2194559"/>
              <a:ext cx="365760" cy="365760"/>
            </a:xfrm>
            <a:prstGeom prst="ellipse">
              <a:avLst/>
            </a:prstGeom>
            <a:solidFill>
              <a:srgbClr val="F28C28"/>
            </a:solidFill>
            <a:ln w="31750">
              <a:solidFill>
                <a:srgbClr val="E8E8E8"/>
              </a:solidFill>
            </a:ln>
          </p:spPr>
          <p:txBody>
            <a:bodyPr rtlCol="0" anchor="ctr"/>
            <a:lstStyle/>
            <a:p>
              <a:pPr algn="ctr"/>
              <a:endParaRPr/>
            </a:p>
          </p:txBody>
        </p:sp>
        <p:sp>
          <p:nvSpPr>
            <p:cNvPr id="12" name="Rectangle 11"/>
            <p:cNvSpPr/>
            <p:nvPr/>
          </p:nvSpPr>
          <p:spPr>
            <a:xfrm>
              <a:off x="2926079" y="3428999"/>
              <a:ext cx="365760" cy="365760"/>
            </a:xfrm>
            <a:prstGeom prst="rect">
              <a:avLst/>
            </a:prstGeom>
            <a:solidFill>
              <a:srgbClr val="E8E8E8"/>
            </a:solidFill>
            <a:ln w="31750">
              <a:solidFill>
                <a:srgbClr val="101418"/>
              </a:solidFill>
            </a:ln>
          </p:spPr>
          <p:txBody>
            <a:bodyPr rtlCol="0" anchor="ctr"/>
            <a:lstStyle/>
            <a:p>
              <a:pPr algn="ctr"/>
              <a:endParaRPr/>
            </a:p>
          </p:txBody>
        </p:sp>
        <p:sp>
          <p:nvSpPr>
            <p:cNvPr id="13" name="TextBox 12"/>
            <p:cNvSpPr txBox="1"/>
            <p:nvPr/>
          </p:nvSpPr>
          <p:spPr>
            <a:xfrm>
              <a:off x="2286000" y="3886200"/>
              <a:ext cx="1645920" cy="347472"/>
            </a:xfrm>
            <a:prstGeom prst="rect">
              <a:avLst/>
            </a:prstGeom>
            <a:noFill/>
          </p:spPr>
          <p:txBody>
            <a:bodyPr wrap="square" lIns="18288" tIns="9144" rIns="18288" bIns="9144" anchor="ctr">
              <a:noAutofit/>
            </a:bodyPr>
            <a:lstStyle/>
            <a:p>
              <a:pPr algn="ctr"/>
              <a:r>
                <a:rPr lang="en-GB" sz="1600" b="1" i="0">
                  <a:solidFill>
                    <a:srgbClr val="F2F2F2"/>
                  </a:solidFill>
                  <a:latin typeface="Arial"/>
                </a:rPr>
                <a:t>Interchange</a:t>
              </a:r>
            </a:p>
          </p:txBody>
        </p:sp>
        <p:sp>
          <p:nvSpPr>
            <p:cNvPr id="14" name="Rectangle 13"/>
            <p:cNvSpPr/>
            <p:nvPr/>
          </p:nvSpPr>
          <p:spPr>
            <a:xfrm>
              <a:off x="6035040" y="3428999"/>
              <a:ext cx="365760" cy="365760"/>
            </a:xfrm>
            <a:prstGeom prst="rect">
              <a:avLst/>
            </a:prstGeom>
            <a:solidFill>
              <a:srgbClr val="E8E8E8"/>
            </a:solidFill>
            <a:ln w="31750">
              <a:solidFill>
                <a:srgbClr val="101418"/>
              </a:solidFill>
            </a:ln>
          </p:spPr>
          <p:txBody>
            <a:bodyPr rtlCol="0" anchor="ctr"/>
            <a:lstStyle/>
            <a:p>
              <a:pPr algn="ctr"/>
              <a:endParaRPr/>
            </a:p>
          </p:txBody>
        </p:sp>
        <p:sp>
          <p:nvSpPr>
            <p:cNvPr id="15" name="TextBox 14"/>
            <p:cNvSpPr txBox="1"/>
            <p:nvPr/>
          </p:nvSpPr>
          <p:spPr>
            <a:xfrm>
              <a:off x="5394959" y="2990087"/>
              <a:ext cx="1645920" cy="347472"/>
            </a:xfrm>
            <a:prstGeom prst="rect">
              <a:avLst/>
            </a:prstGeom>
            <a:noFill/>
          </p:spPr>
          <p:txBody>
            <a:bodyPr wrap="square" lIns="18288" tIns="9144" rIns="18288" bIns="9144" anchor="ctr">
              <a:noAutofit/>
            </a:bodyPr>
            <a:lstStyle/>
            <a:p>
              <a:pPr algn="ctr"/>
              <a:r>
                <a:rPr lang="en-GB" sz="1600" b="1" i="0">
                  <a:solidFill>
                    <a:srgbClr val="F2F2F2"/>
                  </a:solidFill>
                  <a:latin typeface="Arial"/>
                </a:rPr>
                <a:t>Interchange</a:t>
              </a:r>
            </a:p>
          </p:txBody>
        </p:sp>
        <p:sp>
          <p:nvSpPr>
            <p:cNvPr id="16" name="Rectangle 15"/>
            <p:cNvSpPr/>
            <p:nvPr/>
          </p:nvSpPr>
          <p:spPr>
            <a:xfrm>
              <a:off x="9144000" y="3428999"/>
              <a:ext cx="365760" cy="365760"/>
            </a:xfrm>
            <a:prstGeom prst="rect">
              <a:avLst/>
            </a:prstGeom>
            <a:solidFill>
              <a:srgbClr val="E8E8E8"/>
            </a:solidFill>
            <a:ln w="31750">
              <a:solidFill>
                <a:srgbClr val="101418"/>
              </a:solidFill>
            </a:ln>
          </p:spPr>
          <p:txBody>
            <a:bodyPr rtlCol="0" anchor="ctr"/>
            <a:lstStyle/>
            <a:p>
              <a:pPr algn="ctr"/>
              <a:endParaRPr/>
            </a:p>
          </p:txBody>
        </p:sp>
        <p:sp>
          <p:nvSpPr>
            <p:cNvPr id="17" name="TextBox 16"/>
            <p:cNvSpPr txBox="1"/>
            <p:nvPr/>
          </p:nvSpPr>
          <p:spPr>
            <a:xfrm>
              <a:off x="8503919" y="3886200"/>
              <a:ext cx="1645920" cy="347472"/>
            </a:xfrm>
            <a:prstGeom prst="rect">
              <a:avLst/>
            </a:prstGeom>
            <a:noFill/>
          </p:spPr>
          <p:txBody>
            <a:bodyPr wrap="square" lIns="18288" tIns="9144" rIns="18288" bIns="9144" anchor="ctr">
              <a:noAutofit/>
            </a:bodyPr>
            <a:lstStyle/>
            <a:p>
              <a:pPr algn="ctr"/>
              <a:r>
                <a:rPr lang="en-GB" sz="1600" b="1" i="0">
                  <a:solidFill>
                    <a:srgbClr val="F2F2F2"/>
                  </a:solidFill>
                  <a:latin typeface="Arial"/>
                </a:rPr>
                <a:t>Interchange</a:t>
              </a:r>
            </a:p>
          </p:txBody>
        </p:sp>
        <p:sp>
          <p:nvSpPr>
            <p:cNvPr id="18" name="TextBox 17"/>
            <p:cNvSpPr txBox="1"/>
            <p:nvPr/>
          </p:nvSpPr>
          <p:spPr>
            <a:xfrm>
              <a:off x="822960" y="2971800"/>
              <a:ext cx="2194560" cy="365760"/>
            </a:xfrm>
            <a:prstGeom prst="rect">
              <a:avLst/>
            </a:prstGeom>
            <a:noFill/>
          </p:spPr>
          <p:txBody>
            <a:bodyPr wrap="square" lIns="18288" tIns="9144" rIns="18288" bIns="9144" anchor="ctr">
              <a:noAutofit/>
            </a:bodyPr>
            <a:lstStyle/>
            <a:p>
              <a:pPr algn="l"/>
              <a:r>
                <a:rPr lang="en-GB" sz="1800" b="1" i="0">
                  <a:solidFill>
                    <a:srgbClr val="6CA0DC"/>
                  </a:solidFill>
                  <a:latin typeface="Arial"/>
                </a:rPr>
                <a:t>Electric main line</a:t>
              </a:r>
            </a:p>
          </p:txBody>
        </p:sp>
        <p:sp>
          <p:nvSpPr>
            <p:cNvPr id="19" name="TextBox 18"/>
            <p:cNvSpPr txBox="1"/>
            <p:nvPr/>
          </p:nvSpPr>
          <p:spPr>
            <a:xfrm>
              <a:off x="1554480" y="1874519"/>
              <a:ext cx="2560320" cy="365760"/>
            </a:xfrm>
            <a:prstGeom prst="rect">
              <a:avLst/>
            </a:prstGeom>
            <a:noFill/>
          </p:spPr>
          <p:txBody>
            <a:bodyPr wrap="square" lIns="18288" tIns="9144" rIns="18288" bIns="9144" anchor="ctr">
              <a:noAutofit/>
            </a:bodyPr>
            <a:lstStyle/>
            <a:p>
              <a:pPr algn="l"/>
              <a:r>
                <a:rPr lang="en-GB" sz="1800" b="1" i="0">
                  <a:solidFill>
                    <a:srgbClr val="F28C28"/>
                  </a:solidFill>
                  <a:latin typeface="Arial"/>
                </a:rPr>
                <a:t>Steam branches</a:t>
              </a:r>
            </a:p>
          </p:txBody>
        </p:sp>
      </p:grpSp>
      <p:sp>
        <p:nvSpPr>
          <p:cNvPr id="2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1"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2"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Steam branches could live beside an electric main line.</a:t>
            </a:r>
          </a:p>
        </p:txBody>
      </p:sp>
      <p:sp>
        <p:nvSpPr>
          <p:cNvPr id="23"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13</a:t>
            </a:r>
          </a:p>
        </p:txBody>
      </p:sp>
    </p:spTree>
    <p:extLst>
      <p:ext uri="{BB962C8B-B14F-4D97-AF65-F5344CB8AC3E}">
        <p14:creationId xmlns:p14="http://schemas.microsoft.com/office/powerpoint/2010/main" val="278130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6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9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Cargo crosses, trains do not</a:t>
            </a:r>
          </a:p>
        </p:txBody>
      </p:sp>
      <p:sp>
        <p:nvSpPr>
          <p:cNvPr id="3" name="CHIP"/>
          <p:cNvSpPr/>
          <p:nvPr/>
        </p:nvSpPr>
        <p:spPr>
          <a:xfrm>
            <a:off x="10088575" y="548640"/>
            <a:ext cx="1554480" cy="365760"/>
          </a:xfrm>
          <a:prstGeom prst="roundRect">
            <a:avLst>
              <a:gd name="adj" fmla="val 50000"/>
            </a:avLst>
          </a:prstGeom>
          <a:solidFill>
            <a:srgbClr val="B084F5"/>
          </a:solidFill>
          <a:ln>
            <a:noFill/>
          </a:ln>
        </p:spPr>
        <p:txBody>
          <a:bodyPr wrap="square" lIns="36576" tIns="0" rIns="36576" bIns="0" rtlCol="0" anchor="ctr">
            <a:noAutofit/>
          </a:bodyPr>
          <a:lstStyle/>
          <a:p>
            <a:pPr algn="ctr"/>
            <a:r>
              <a:rPr lang="en-GB" sz="1400" b="1" i="0">
                <a:solidFill>
                  <a:srgbClr val="101418"/>
                </a:solidFill>
                <a:latin typeface="Arial"/>
              </a:rPr>
              <a:t>PROPOSED</a:t>
            </a:r>
          </a:p>
        </p:txBody>
      </p:sp>
      <p:grpSp>
        <p:nvGrpSpPr>
          <p:cNvPr id="4" name="DIAGRAM steam side" descr="A steam train stopped at a buffer at the end of its own track."/>
          <p:cNvGrpSpPr/>
          <p:nvPr/>
        </p:nvGrpSpPr>
        <p:grpSpPr>
          <a:xfrm>
            <a:off x="640080" y="2980944"/>
            <a:ext cx="3438144" cy="1362456"/>
            <a:chOff x="640080" y="2980944"/>
            <a:chExt cx="3438144" cy="1362456"/>
          </a:xfrm>
        </p:grpSpPr>
        <p:sp>
          <p:nvSpPr>
            <p:cNvPr id="5" name="Rectangle 4"/>
            <p:cNvSpPr/>
            <p:nvPr/>
          </p:nvSpPr>
          <p:spPr>
            <a:xfrm>
              <a:off x="640080" y="3840480"/>
              <a:ext cx="3429000" cy="73152"/>
            </a:xfrm>
            <a:prstGeom prst="rect">
              <a:avLst/>
            </a:prstGeom>
            <a:solidFill>
              <a:srgbClr val="9AA0A6"/>
            </a:solidFill>
            <a:ln>
              <a:noFill/>
            </a:ln>
          </p:spPr>
          <p:txBody>
            <a:bodyPr rtlCol="0" anchor="ctr"/>
            <a:lstStyle/>
            <a:p>
              <a:pPr algn="ctr"/>
              <a:endParaRPr/>
            </a:p>
          </p:txBody>
        </p:sp>
        <p:sp>
          <p:nvSpPr>
            <p:cNvPr id="6" name="Rounded Rectangle 5"/>
            <p:cNvSpPr/>
            <p:nvPr/>
          </p:nvSpPr>
          <p:spPr>
            <a:xfrm>
              <a:off x="822960" y="3291840"/>
              <a:ext cx="1188720" cy="365760"/>
            </a:xfrm>
            <a:prstGeom prst="roundRect">
              <a:avLst>
                <a:gd name="adj" fmla="val 10000"/>
              </a:avLst>
            </a:prstGeom>
            <a:solidFill>
              <a:srgbClr val="6C7480"/>
            </a:solidFill>
            <a:ln>
              <a:noFill/>
            </a:ln>
          </p:spPr>
          <p:txBody>
            <a:bodyPr rtlCol="0" anchor="ctr"/>
            <a:lstStyle/>
            <a:p>
              <a:pPr algn="ctr"/>
              <a:endParaRPr/>
            </a:p>
          </p:txBody>
        </p:sp>
        <p:sp>
          <p:nvSpPr>
            <p:cNvPr id="7" name="Rectangle 6"/>
            <p:cNvSpPr/>
            <p:nvPr/>
          </p:nvSpPr>
          <p:spPr>
            <a:xfrm>
              <a:off x="795528" y="3657600"/>
              <a:ext cx="1243584" cy="54864"/>
            </a:xfrm>
            <a:prstGeom prst="rect">
              <a:avLst/>
            </a:prstGeom>
            <a:solidFill>
              <a:srgbClr val="1B1D21"/>
            </a:solidFill>
            <a:ln>
              <a:noFill/>
            </a:ln>
          </p:spPr>
          <p:txBody>
            <a:bodyPr rtlCol="0" anchor="ctr"/>
            <a:lstStyle/>
            <a:p>
              <a:pPr algn="ctr"/>
              <a:endParaRPr/>
            </a:p>
          </p:txBody>
        </p:sp>
        <p:sp>
          <p:nvSpPr>
            <p:cNvPr id="8" name="Oval 7"/>
            <p:cNvSpPr/>
            <p:nvPr/>
          </p:nvSpPr>
          <p:spPr>
            <a:xfrm>
              <a:off x="1005840" y="3611880"/>
              <a:ext cx="228600" cy="228600"/>
            </a:xfrm>
            <a:prstGeom prst="ellipse">
              <a:avLst/>
            </a:prstGeom>
            <a:solidFill>
              <a:srgbClr val="101418"/>
            </a:solidFill>
            <a:ln w="19050">
              <a:solidFill>
                <a:srgbClr val="9AA0A6"/>
              </a:solidFill>
            </a:ln>
          </p:spPr>
          <p:txBody>
            <a:bodyPr rtlCol="0" anchor="ctr"/>
            <a:lstStyle/>
            <a:p>
              <a:pPr algn="ctr"/>
              <a:endParaRPr/>
            </a:p>
          </p:txBody>
        </p:sp>
        <p:sp>
          <p:nvSpPr>
            <p:cNvPr id="9" name="Oval 8"/>
            <p:cNvSpPr/>
            <p:nvPr/>
          </p:nvSpPr>
          <p:spPr>
            <a:xfrm>
              <a:off x="1600200" y="3611880"/>
              <a:ext cx="228600" cy="228600"/>
            </a:xfrm>
            <a:prstGeom prst="ellipse">
              <a:avLst/>
            </a:prstGeom>
            <a:solidFill>
              <a:srgbClr val="101418"/>
            </a:solidFill>
            <a:ln w="19050">
              <a:solidFill>
                <a:srgbClr val="9AA0A6"/>
              </a:solidFill>
            </a:ln>
          </p:spPr>
          <p:txBody>
            <a:bodyPr rtlCol="0" anchor="ctr"/>
            <a:lstStyle/>
            <a:p>
              <a:pPr algn="ctr"/>
              <a:endParaRPr/>
            </a:p>
          </p:txBody>
        </p:sp>
        <p:sp>
          <p:nvSpPr>
            <p:cNvPr id="10" name="Rounded Rectangle 9"/>
            <p:cNvSpPr/>
            <p:nvPr/>
          </p:nvSpPr>
          <p:spPr>
            <a:xfrm>
              <a:off x="2651760" y="3264408"/>
              <a:ext cx="960120" cy="411480"/>
            </a:xfrm>
            <a:prstGeom prst="roundRect">
              <a:avLst>
                <a:gd name="adj" fmla="val 17777"/>
              </a:avLst>
            </a:prstGeom>
            <a:solidFill>
              <a:srgbClr val="F28C28"/>
            </a:solidFill>
            <a:ln>
              <a:noFill/>
            </a:ln>
          </p:spPr>
          <p:txBody>
            <a:bodyPr rtlCol="0" anchor="ctr"/>
            <a:lstStyle/>
            <a:p>
              <a:pPr algn="ctr"/>
              <a:endParaRPr/>
            </a:p>
          </p:txBody>
        </p:sp>
        <p:sp>
          <p:nvSpPr>
            <p:cNvPr id="11" name="Rounded Rectangle 10"/>
            <p:cNvSpPr/>
            <p:nvPr/>
          </p:nvSpPr>
          <p:spPr>
            <a:xfrm>
              <a:off x="2148840" y="2980944"/>
              <a:ext cx="457200" cy="713232"/>
            </a:xfrm>
            <a:prstGeom prst="roundRect">
              <a:avLst>
                <a:gd name="adj" fmla="val 10000"/>
              </a:avLst>
            </a:prstGeom>
            <a:solidFill>
              <a:srgbClr val="F28C28"/>
            </a:solidFill>
            <a:ln>
              <a:noFill/>
            </a:ln>
          </p:spPr>
          <p:txBody>
            <a:bodyPr rtlCol="0" anchor="ctr"/>
            <a:lstStyle/>
            <a:p>
              <a:pPr algn="ctr"/>
              <a:endParaRPr/>
            </a:p>
          </p:txBody>
        </p:sp>
        <p:sp>
          <p:nvSpPr>
            <p:cNvPr id="12" name="Rectangle 11"/>
            <p:cNvSpPr/>
            <p:nvPr/>
          </p:nvSpPr>
          <p:spPr>
            <a:xfrm>
              <a:off x="2221992" y="3072384"/>
              <a:ext cx="274320" cy="237744"/>
            </a:xfrm>
            <a:prstGeom prst="rect">
              <a:avLst/>
            </a:prstGeom>
            <a:solidFill>
              <a:srgbClr val="1B1D21"/>
            </a:solidFill>
            <a:ln>
              <a:noFill/>
            </a:ln>
          </p:spPr>
          <p:txBody>
            <a:bodyPr rtlCol="0" anchor="ctr"/>
            <a:lstStyle/>
            <a:p>
              <a:pPr algn="ctr"/>
              <a:endParaRPr/>
            </a:p>
          </p:txBody>
        </p:sp>
        <p:sp>
          <p:nvSpPr>
            <p:cNvPr id="13" name="Rectangle 12"/>
            <p:cNvSpPr/>
            <p:nvPr/>
          </p:nvSpPr>
          <p:spPr>
            <a:xfrm>
              <a:off x="3429000" y="2980944"/>
              <a:ext cx="146304" cy="310896"/>
            </a:xfrm>
            <a:prstGeom prst="rect">
              <a:avLst/>
            </a:prstGeom>
            <a:solidFill>
              <a:srgbClr val="1B1D21"/>
            </a:solidFill>
            <a:ln>
              <a:noFill/>
            </a:ln>
          </p:spPr>
          <p:txBody>
            <a:bodyPr rtlCol="0" anchor="ctr"/>
            <a:lstStyle/>
            <a:p>
              <a:pPr algn="ctr"/>
              <a:endParaRPr/>
            </a:p>
          </p:txBody>
        </p:sp>
        <p:sp>
          <p:nvSpPr>
            <p:cNvPr id="14" name="Oval 13"/>
            <p:cNvSpPr/>
            <p:nvPr/>
          </p:nvSpPr>
          <p:spPr>
            <a:xfrm>
              <a:off x="2926080" y="3163824"/>
              <a:ext cx="237744" cy="182880"/>
            </a:xfrm>
            <a:prstGeom prst="ellipse">
              <a:avLst/>
            </a:prstGeom>
            <a:solidFill>
              <a:srgbClr val="F28C28"/>
            </a:solidFill>
            <a:ln>
              <a:noFill/>
            </a:ln>
          </p:spPr>
          <p:txBody>
            <a:bodyPr rtlCol="0" anchor="ctr"/>
            <a:lstStyle/>
            <a:p>
              <a:pPr algn="ctr"/>
              <a:endParaRPr/>
            </a:p>
          </p:txBody>
        </p:sp>
        <p:sp>
          <p:nvSpPr>
            <p:cNvPr id="15" name="Rectangle 14"/>
            <p:cNvSpPr/>
            <p:nvPr/>
          </p:nvSpPr>
          <p:spPr>
            <a:xfrm>
              <a:off x="2148840" y="3621024"/>
              <a:ext cx="1554480" cy="82296"/>
            </a:xfrm>
            <a:prstGeom prst="rect">
              <a:avLst/>
            </a:prstGeom>
            <a:solidFill>
              <a:srgbClr val="1B1D21"/>
            </a:solidFill>
            <a:ln>
              <a:noFill/>
            </a:ln>
          </p:spPr>
          <p:txBody>
            <a:bodyPr rtlCol="0" anchor="ctr"/>
            <a:lstStyle/>
            <a:p>
              <a:pPr algn="ctr"/>
              <a:endParaRPr/>
            </a:p>
          </p:txBody>
        </p:sp>
        <p:sp>
          <p:nvSpPr>
            <p:cNvPr id="16" name="Oval 15"/>
            <p:cNvSpPr/>
            <p:nvPr/>
          </p:nvSpPr>
          <p:spPr>
            <a:xfrm>
              <a:off x="2496312" y="3529584"/>
              <a:ext cx="310896" cy="310896"/>
            </a:xfrm>
            <a:prstGeom prst="ellipse">
              <a:avLst/>
            </a:prstGeom>
            <a:solidFill>
              <a:srgbClr val="101418"/>
            </a:solidFill>
            <a:ln w="19050">
              <a:solidFill>
                <a:srgbClr val="9AA0A6"/>
              </a:solidFill>
            </a:ln>
          </p:spPr>
          <p:txBody>
            <a:bodyPr rtlCol="0" anchor="ctr"/>
            <a:lstStyle/>
            <a:p>
              <a:pPr algn="ctr"/>
              <a:endParaRPr/>
            </a:p>
          </p:txBody>
        </p:sp>
        <p:sp>
          <p:nvSpPr>
            <p:cNvPr id="17" name="Oval 16"/>
            <p:cNvSpPr/>
            <p:nvPr/>
          </p:nvSpPr>
          <p:spPr>
            <a:xfrm>
              <a:off x="2862072" y="3529584"/>
              <a:ext cx="310896" cy="310896"/>
            </a:xfrm>
            <a:prstGeom prst="ellipse">
              <a:avLst/>
            </a:prstGeom>
            <a:solidFill>
              <a:srgbClr val="101418"/>
            </a:solidFill>
            <a:ln w="19050">
              <a:solidFill>
                <a:srgbClr val="9AA0A6"/>
              </a:solidFill>
            </a:ln>
          </p:spPr>
          <p:txBody>
            <a:bodyPr rtlCol="0" anchor="ctr"/>
            <a:lstStyle/>
            <a:p>
              <a:pPr algn="ctr"/>
              <a:endParaRPr/>
            </a:p>
          </p:txBody>
        </p:sp>
        <p:sp>
          <p:nvSpPr>
            <p:cNvPr id="18" name="Oval 17"/>
            <p:cNvSpPr/>
            <p:nvPr/>
          </p:nvSpPr>
          <p:spPr>
            <a:xfrm>
              <a:off x="3227832" y="3529584"/>
              <a:ext cx="310896" cy="310896"/>
            </a:xfrm>
            <a:prstGeom prst="ellipse">
              <a:avLst/>
            </a:prstGeom>
            <a:solidFill>
              <a:srgbClr val="101418"/>
            </a:solidFill>
            <a:ln w="19050">
              <a:solidFill>
                <a:srgbClr val="9AA0A6"/>
              </a:solidFill>
            </a:ln>
          </p:spPr>
          <p:txBody>
            <a:bodyPr rtlCol="0" anchor="ctr"/>
            <a:lstStyle/>
            <a:p>
              <a:pPr algn="ctr"/>
              <a:endParaRPr/>
            </a:p>
          </p:txBody>
        </p:sp>
        <p:sp>
          <p:nvSpPr>
            <p:cNvPr id="19" name="Rectangle 18"/>
            <p:cNvSpPr/>
            <p:nvPr/>
          </p:nvSpPr>
          <p:spPr>
            <a:xfrm>
              <a:off x="3931920" y="3337560"/>
              <a:ext cx="146304" cy="548640"/>
            </a:xfrm>
            <a:prstGeom prst="rect">
              <a:avLst/>
            </a:prstGeom>
            <a:solidFill>
              <a:srgbClr val="E5484D"/>
            </a:solidFill>
            <a:ln>
              <a:noFill/>
            </a:ln>
          </p:spPr>
          <p:txBody>
            <a:bodyPr rtlCol="0" anchor="ctr"/>
            <a:lstStyle/>
            <a:p>
              <a:pPr algn="ctr"/>
              <a:endParaRPr/>
            </a:p>
          </p:txBody>
        </p:sp>
        <p:sp>
          <p:nvSpPr>
            <p:cNvPr id="20" name="TextBox 19"/>
            <p:cNvSpPr txBox="1"/>
            <p:nvPr/>
          </p:nvSpPr>
          <p:spPr>
            <a:xfrm>
              <a:off x="640080" y="4023360"/>
              <a:ext cx="3383280" cy="320040"/>
            </a:xfrm>
            <a:prstGeom prst="rect">
              <a:avLst/>
            </a:prstGeom>
            <a:noFill/>
          </p:spPr>
          <p:txBody>
            <a:bodyPr wrap="square" lIns="18288" tIns="9144" rIns="18288" bIns="9144" anchor="ctr">
              <a:noAutofit/>
            </a:bodyPr>
            <a:lstStyle/>
            <a:p>
              <a:pPr algn="ctr"/>
              <a:r>
                <a:rPr lang="en-GB" sz="1600" b="1" i="0">
                  <a:solidFill>
                    <a:srgbClr val="F28C28"/>
                  </a:solidFill>
                  <a:latin typeface="Arial"/>
                </a:rPr>
                <a:t>Steam network</a:t>
              </a:r>
            </a:p>
          </p:txBody>
        </p:sp>
      </p:grpSp>
      <p:grpSp>
        <p:nvGrpSpPr>
          <p:cNvPr id="21" name="DIAGRAM transfer yard" descr="A grey transfer yard called Interchange: a crane lifts crates and arrows carry them across."/>
          <p:cNvGrpSpPr/>
          <p:nvPr/>
        </p:nvGrpSpPr>
        <p:grpSpPr>
          <a:xfrm>
            <a:off x="4343400" y="1417320"/>
            <a:ext cx="3566160" cy="3017520"/>
            <a:chOff x="4343400" y="1417320"/>
            <a:chExt cx="3566160" cy="3017520"/>
          </a:xfrm>
        </p:grpSpPr>
        <p:sp>
          <p:nvSpPr>
            <p:cNvPr id="22" name="Rounded Rectangle 21"/>
            <p:cNvSpPr/>
            <p:nvPr/>
          </p:nvSpPr>
          <p:spPr>
            <a:xfrm>
              <a:off x="4343400" y="1417320"/>
              <a:ext cx="3566160" cy="3017520"/>
            </a:xfrm>
            <a:prstGeom prst="roundRect">
              <a:avLst>
                <a:gd name="adj" fmla="val 3030"/>
              </a:avLst>
            </a:prstGeom>
            <a:solidFill>
              <a:srgbClr val="4A515B"/>
            </a:solidFill>
            <a:ln>
              <a:noFill/>
            </a:ln>
          </p:spPr>
          <p:txBody>
            <a:bodyPr rtlCol="0" anchor="ctr"/>
            <a:lstStyle/>
            <a:p>
              <a:pPr algn="ctr"/>
              <a:endParaRPr/>
            </a:p>
          </p:txBody>
        </p:sp>
        <p:sp>
          <p:nvSpPr>
            <p:cNvPr id="23" name="TextBox 22"/>
            <p:cNvSpPr txBox="1"/>
            <p:nvPr/>
          </p:nvSpPr>
          <p:spPr>
            <a:xfrm>
              <a:off x="4343400" y="1490472"/>
              <a:ext cx="3566160" cy="411480"/>
            </a:xfrm>
            <a:prstGeom prst="rect">
              <a:avLst/>
            </a:prstGeom>
            <a:noFill/>
          </p:spPr>
          <p:txBody>
            <a:bodyPr wrap="square" lIns="18288" tIns="9144" rIns="18288" bIns="9144" anchor="ctr">
              <a:noAutofit/>
            </a:bodyPr>
            <a:lstStyle/>
            <a:p>
              <a:pPr algn="ctr"/>
              <a:r>
                <a:rPr lang="en-GB" sz="1800" b="1" i="0">
                  <a:solidFill>
                    <a:srgbClr val="F2F2F2"/>
                  </a:solidFill>
                  <a:latin typeface="Arial"/>
                </a:rPr>
                <a:t>Interchange</a:t>
              </a:r>
            </a:p>
          </p:txBody>
        </p:sp>
        <p:sp>
          <p:nvSpPr>
            <p:cNvPr id="24" name="Rectangle 23"/>
            <p:cNvSpPr/>
            <p:nvPr/>
          </p:nvSpPr>
          <p:spPr>
            <a:xfrm>
              <a:off x="4617720" y="2560320"/>
              <a:ext cx="128016" cy="1783080"/>
            </a:xfrm>
            <a:prstGeom prst="rect">
              <a:avLst/>
            </a:prstGeom>
            <a:solidFill>
              <a:srgbClr val="F2C14E"/>
            </a:solidFill>
            <a:ln>
              <a:noFill/>
            </a:ln>
          </p:spPr>
          <p:txBody>
            <a:bodyPr rtlCol="0" anchor="ctr"/>
            <a:lstStyle/>
            <a:p>
              <a:pPr algn="ctr"/>
              <a:endParaRPr/>
            </a:p>
          </p:txBody>
        </p:sp>
        <p:sp>
          <p:nvSpPr>
            <p:cNvPr id="25" name="Rectangle 24"/>
            <p:cNvSpPr/>
            <p:nvPr/>
          </p:nvSpPr>
          <p:spPr>
            <a:xfrm>
              <a:off x="7498079" y="2560320"/>
              <a:ext cx="128016" cy="1783080"/>
            </a:xfrm>
            <a:prstGeom prst="rect">
              <a:avLst/>
            </a:prstGeom>
            <a:solidFill>
              <a:srgbClr val="F2C14E"/>
            </a:solidFill>
            <a:ln>
              <a:noFill/>
            </a:ln>
          </p:spPr>
          <p:txBody>
            <a:bodyPr rtlCol="0" anchor="ctr"/>
            <a:lstStyle/>
            <a:p>
              <a:pPr algn="ctr"/>
              <a:endParaRPr/>
            </a:p>
          </p:txBody>
        </p:sp>
        <p:sp>
          <p:nvSpPr>
            <p:cNvPr id="26" name="Rectangle 25"/>
            <p:cNvSpPr/>
            <p:nvPr/>
          </p:nvSpPr>
          <p:spPr>
            <a:xfrm>
              <a:off x="4526280" y="2377440"/>
              <a:ext cx="3191256" cy="182880"/>
            </a:xfrm>
            <a:prstGeom prst="rect">
              <a:avLst/>
            </a:prstGeom>
            <a:solidFill>
              <a:srgbClr val="F2C14E"/>
            </a:solidFill>
            <a:ln>
              <a:noFill/>
            </a:ln>
          </p:spPr>
          <p:txBody>
            <a:bodyPr rtlCol="0" anchor="ctr"/>
            <a:lstStyle/>
            <a:p>
              <a:pPr algn="ctr"/>
              <a:endParaRPr/>
            </a:p>
          </p:txBody>
        </p:sp>
        <p:sp>
          <p:nvSpPr>
            <p:cNvPr id="27" name="Rectangle 26"/>
            <p:cNvSpPr/>
            <p:nvPr/>
          </p:nvSpPr>
          <p:spPr>
            <a:xfrm>
              <a:off x="5916168" y="2560320"/>
              <a:ext cx="457200" cy="256032"/>
            </a:xfrm>
            <a:prstGeom prst="rect">
              <a:avLst/>
            </a:prstGeom>
            <a:solidFill>
              <a:srgbClr val="F28C28"/>
            </a:solidFill>
            <a:ln>
              <a:noFill/>
            </a:ln>
          </p:spPr>
          <p:txBody>
            <a:bodyPr rtlCol="0" anchor="ctr"/>
            <a:lstStyle/>
            <a:p>
              <a:pPr algn="ctr"/>
              <a:endParaRPr/>
            </a:p>
          </p:txBody>
        </p:sp>
        <p:cxnSp>
          <p:nvCxnSpPr>
            <p:cNvPr id="28" name="Connector 27"/>
            <p:cNvCxnSpPr/>
            <p:nvPr/>
          </p:nvCxnSpPr>
          <p:spPr>
            <a:xfrm>
              <a:off x="6144768" y="2816352"/>
              <a:ext cx="0" cy="292608"/>
            </a:xfrm>
            <a:prstGeom prst="line">
              <a:avLst/>
            </a:prstGeom>
            <a:ln w="31750">
              <a:solidFill>
                <a:srgbClr val="101418"/>
              </a:solidFill>
            </a:ln>
          </p:spPr>
        </p:cxnSp>
        <p:sp>
          <p:nvSpPr>
            <p:cNvPr id="29" name="Rectangle 28"/>
            <p:cNvSpPr/>
            <p:nvPr/>
          </p:nvSpPr>
          <p:spPr>
            <a:xfrm>
              <a:off x="5961888" y="3108960"/>
              <a:ext cx="365760" cy="365760"/>
            </a:xfrm>
            <a:prstGeom prst="rect">
              <a:avLst/>
            </a:prstGeom>
            <a:solidFill>
              <a:srgbClr val="E8E8E8"/>
            </a:solidFill>
            <a:ln w="19050">
              <a:solidFill>
                <a:srgbClr val="101418"/>
              </a:solidFill>
            </a:ln>
          </p:spPr>
          <p:txBody>
            <a:bodyPr rtlCol="0" anchor="ctr"/>
            <a:lstStyle/>
            <a:p>
              <a:pPr algn="ctr"/>
              <a:endParaRPr/>
            </a:p>
          </p:txBody>
        </p:sp>
        <p:cxnSp>
          <p:nvCxnSpPr>
            <p:cNvPr id="30" name="Connector 29"/>
            <p:cNvCxnSpPr/>
            <p:nvPr/>
          </p:nvCxnSpPr>
          <p:spPr>
            <a:xfrm>
              <a:off x="5120640" y="2075688"/>
              <a:ext cx="2103120" cy="0"/>
            </a:xfrm>
            <a:prstGeom prst="line">
              <a:avLst/>
            </a:prstGeom>
            <a:ln w="44450">
              <a:solidFill>
                <a:srgbClr val="F28C28"/>
              </a:solidFill>
              <a:tailEnd type="triangle" w="med" len="med"/>
            </a:ln>
          </p:spPr>
        </p:cxnSp>
        <p:sp>
          <p:nvSpPr>
            <p:cNvPr id="31" name="Rectangle 30"/>
            <p:cNvSpPr/>
            <p:nvPr/>
          </p:nvSpPr>
          <p:spPr>
            <a:xfrm>
              <a:off x="4892040" y="3931920"/>
              <a:ext cx="365760" cy="365760"/>
            </a:xfrm>
            <a:prstGeom prst="rect">
              <a:avLst/>
            </a:prstGeom>
            <a:solidFill>
              <a:srgbClr val="E8E8E8"/>
            </a:solidFill>
            <a:ln w="19050">
              <a:solidFill>
                <a:srgbClr val="101418"/>
              </a:solidFill>
            </a:ln>
          </p:spPr>
          <p:txBody>
            <a:bodyPr rtlCol="0" anchor="ctr"/>
            <a:lstStyle/>
            <a:p>
              <a:pPr algn="ctr"/>
              <a:endParaRPr/>
            </a:p>
          </p:txBody>
        </p:sp>
        <p:sp>
          <p:nvSpPr>
            <p:cNvPr id="32" name="Rectangle 31"/>
            <p:cNvSpPr/>
            <p:nvPr/>
          </p:nvSpPr>
          <p:spPr>
            <a:xfrm>
              <a:off x="5303520" y="3931920"/>
              <a:ext cx="365760" cy="365760"/>
            </a:xfrm>
            <a:prstGeom prst="rect">
              <a:avLst/>
            </a:prstGeom>
            <a:solidFill>
              <a:srgbClr val="E8E8E8"/>
            </a:solidFill>
            <a:ln w="19050">
              <a:solidFill>
                <a:srgbClr val="101418"/>
              </a:solidFill>
            </a:ln>
          </p:spPr>
          <p:txBody>
            <a:bodyPr rtlCol="0" anchor="ctr"/>
            <a:lstStyle/>
            <a:p>
              <a:pPr algn="ctr"/>
              <a:endParaRPr/>
            </a:p>
          </p:txBody>
        </p:sp>
        <p:sp>
          <p:nvSpPr>
            <p:cNvPr id="33" name="Rectangle 32"/>
            <p:cNvSpPr/>
            <p:nvPr/>
          </p:nvSpPr>
          <p:spPr>
            <a:xfrm>
              <a:off x="6675120" y="3931920"/>
              <a:ext cx="365760" cy="365760"/>
            </a:xfrm>
            <a:prstGeom prst="rect">
              <a:avLst/>
            </a:prstGeom>
            <a:solidFill>
              <a:srgbClr val="E8E8E8"/>
            </a:solidFill>
            <a:ln w="19050">
              <a:solidFill>
                <a:srgbClr val="101418"/>
              </a:solidFill>
            </a:ln>
          </p:spPr>
          <p:txBody>
            <a:bodyPr rtlCol="0" anchor="ctr"/>
            <a:lstStyle/>
            <a:p>
              <a:pPr algn="ctr"/>
              <a:endParaRPr/>
            </a:p>
          </p:txBody>
        </p:sp>
        <p:sp>
          <p:nvSpPr>
            <p:cNvPr id="34" name="Rectangle 33"/>
            <p:cNvSpPr/>
            <p:nvPr/>
          </p:nvSpPr>
          <p:spPr>
            <a:xfrm>
              <a:off x="7086600" y="3931920"/>
              <a:ext cx="365760" cy="365760"/>
            </a:xfrm>
            <a:prstGeom prst="rect">
              <a:avLst/>
            </a:prstGeom>
            <a:solidFill>
              <a:srgbClr val="E8E8E8"/>
            </a:solidFill>
            <a:ln w="19050">
              <a:solidFill>
                <a:srgbClr val="101418"/>
              </a:solidFill>
            </a:ln>
          </p:spPr>
          <p:txBody>
            <a:bodyPr rtlCol="0" anchor="ctr"/>
            <a:lstStyle/>
            <a:p>
              <a:pPr algn="ctr"/>
              <a:endParaRPr/>
            </a:p>
          </p:txBody>
        </p:sp>
        <p:cxnSp>
          <p:nvCxnSpPr>
            <p:cNvPr id="35" name="Connector 34"/>
            <p:cNvCxnSpPr/>
            <p:nvPr/>
          </p:nvCxnSpPr>
          <p:spPr>
            <a:xfrm>
              <a:off x="5852160" y="4114800"/>
              <a:ext cx="685800" cy="0"/>
            </a:xfrm>
            <a:prstGeom prst="line">
              <a:avLst/>
            </a:prstGeom>
            <a:ln w="44450">
              <a:solidFill>
                <a:srgbClr val="F28C28"/>
              </a:solidFill>
              <a:tailEnd type="triangle" w="med" len="med"/>
            </a:ln>
          </p:spPr>
        </p:cxnSp>
      </p:grpSp>
      <p:grpSp>
        <p:nvGrpSpPr>
          <p:cNvPr id="36" name="DIAGRAM electric side" descr="An electric train on a raised beam, on the right."/>
          <p:cNvGrpSpPr/>
          <p:nvPr/>
        </p:nvGrpSpPr>
        <p:grpSpPr>
          <a:xfrm>
            <a:off x="8229600" y="3255264"/>
            <a:ext cx="3410712" cy="1591056"/>
            <a:chOff x="8229600" y="3255264"/>
            <a:chExt cx="3410712" cy="1591056"/>
          </a:xfrm>
        </p:grpSpPr>
        <p:sp>
          <p:nvSpPr>
            <p:cNvPr id="37" name="Rectangle 36"/>
            <p:cNvSpPr/>
            <p:nvPr/>
          </p:nvSpPr>
          <p:spPr>
            <a:xfrm>
              <a:off x="8229600" y="3822192"/>
              <a:ext cx="3410712" cy="182880"/>
            </a:xfrm>
            <a:prstGeom prst="rect">
              <a:avLst/>
            </a:prstGeom>
            <a:solidFill>
              <a:srgbClr val="E8E8E8"/>
            </a:solidFill>
            <a:ln>
              <a:noFill/>
            </a:ln>
          </p:spPr>
          <p:txBody>
            <a:bodyPr rtlCol="0" anchor="ctr"/>
            <a:lstStyle/>
            <a:p>
              <a:pPr algn="ctr"/>
              <a:endParaRPr/>
            </a:p>
          </p:txBody>
        </p:sp>
        <p:sp>
          <p:nvSpPr>
            <p:cNvPr id="38" name="Rectangle 37"/>
            <p:cNvSpPr/>
            <p:nvPr/>
          </p:nvSpPr>
          <p:spPr>
            <a:xfrm>
              <a:off x="8686800" y="4005072"/>
              <a:ext cx="146304" cy="457200"/>
            </a:xfrm>
            <a:prstGeom prst="rect">
              <a:avLst/>
            </a:prstGeom>
            <a:solidFill>
              <a:srgbClr val="9AA0A6"/>
            </a:solidFill>
            <a:ln>
              <a:noFill/>
            </a:ln>
          </p:spPr>
          <p:txBody>
            <a:bodyPr rtlCol="0" anchor="ctr"/>
            <a:lstStyle/>
            <a:p>
              <a:pPr algn="ctr"/>
              <a:endParaRPr/>
            </a:p>
          </p:txBody>
        </p:sp>
        <p:sp>
          <p:nvSpPr>
            <p:cNvPr id="39" name="Rectangle 38"/>
            <p:cNvSpPr/>
            <p:nvPr/>
          </p:nvSpPr>
          <p:spPr>
            <a:xfrm>
              <a:off x="10058400" y="4005072"/>
              <a:ext cx="146304" cy="457200"/>
            </a:xfrm>
            <a:prstGeom prst="rect">
              <a:avLst/>
            </a:prstGeom>
            <a:solidFill>
              <a:srgbClr val="9AA0A6"/>
            </a:solidFill>
            <a:ln>
              <a:noFill/>
            </a:ln>
          </p:spPr>
          <p:txBody>
            <a:bodyPr rtlCol="0" anchor="ctr"/>
            <a:lstStyle/>
            <a:p>
              <a:pPr algn="ctr"/>
              <a:endParaRPr/>
            </a:p>
          </p:txBody>
        </p:sp>
        <p:sp>
          <p:nvSpPr>
            <p:cNvPr id="40" name="Rectangle 39"/>
            <p:cNvSpPr/>
            <p:nvPr/>
          </p:nvSpPr>
          <p:spPr>
            <a:xfrm>
              <a:off x="11247120" y="4005072"/>
              <a:ext cx="146304" cy="457200"/>
            </a:xfrm>
            <a:prstGeom prst="rect">
              <a:avLst/>
            </a:prstGeom>
            <a:solidFill>
              <a:srgbClr val="9AA0A6"/>
            </a:solidFill>
            <a:ln>
              <a:noFill/>
            </a:ln>
          </p:spPr>
          <p:txBody>
            <a:bodyPr rtlCol="0" anchor="ctr"/>
            <a:lstStyle/>
            <a:p>
              <a:pPr algn="ctr"/>
              <a:endParaRPr/>
            </a:p>
          </p:txBody>
        </p:sp>
        <p:sp>
          <p:nvSpPr>
            <p:cNvPr id="41" name="Rounded Rectangle 40"/>
            <p:cNvSpPr/>
            <p:nvPr/>
          </p:nvSpPr>
          <p:spPr>
            <a:xfrm>
              <a:off x="8412480" y="3255264"/>
              <a:ext cx="1737360" cy="566928"/>
            </a:xfrm>
            <a:prstGeom prst="roundRect">
              <a:avLst>
                <a:gd name="adj" fmla="val 25806"/>
              </a:avLst>
            </a:prstGeom>
            <a:solidFill>
              <a:srgbClr val="6CA0DC"/>
            </a:solidFill>
            <a:ln>
              <a:noFill/>
            </a:ln>
          </p:spPr>
          <p:txBody>
            <a:bodyPr rtlCol="0" anchor="ctr"/>
            <a:lstStyle/>
            <a:p>
              <a:pPr algn="ctr"/>
              <a:endParaRPr/>
            </a:p>
          </p:txBody>
        </p:sp>
        <p:sp>
          <p:nvSpPr>
            <p:cNvPr id="42" name="Rounded Rectangle 41"/>
            <p:cNvSpPr/>
            <p:nvPr/>
          </p:nvSpPr>
          <p:spPr>
            <a:xfrm>
              <a:off x="8586215" y="3364992"/>
              <a:ext cx="292607" cy="201168"/>
            </a:xfrm>
            <a:prstGeom prst="roundRect">
              <a:avLst>
                <a:gd name="adj" fmla="val 18181"/>
              </a:avLst>
            </a:prstGeom>
            <a:solidFill>
              <a:srgbClr val="1E2126"/>
            </a:solidFill>
            <a:ln>
              <a:noFill/>
            </a:ln>
          </p:spPr>
          <p:txBody>
            <a:bodyPr rtlCol="0" anchor="ctr"/>
            <a:lstStyle/>
            <a:p>
              <a:pPr algn="ctr"/>
              <a:endParaRPr/>
            </a:p>
          </p:txBody>
        </p:sp>
        <p:sp>
          <p:nvSpPr>
            <p:cNvPr id="43" name="Rounded Rectangle 42"/>
            <p:cNvSpPr/>
            <p:nvPr/>
          </p:nvSpPr>
          <p:spPr>
            <a:xfrm>
              <a:off x="8951976" y="3364992"/>
              <a:ext cx="292607" cy="201168"/>
            </a:xfrm>
            <a:prstGeom prst="roundRect">
              <a:avLst>
                <a:gd name="adj" fmla="val 18181"/>
              </a:avLst>
            </a:prstGeom>
            <a:solidFill>
              <a:srgbClr val="1E2126"/>
            </a:solidFill>
            <a:ln>
              <a:noFill/>
            </a:ln>
          </p:spPr>
          <p:txBody>
            <a:bodyPr rtlCol="0" anchor="ctr"/>
            <a:lstStyle/>
            <a:p>
              <a:pPr algn="ctr"/>
              <a:endParaRPr/>
            </a:p>
          </p:txBody>
        </p:sp>
        <p:sp>
          <p:nvSpPr>
            <p:cNvPr id="44" name="Rounded Rectangle 43"/>
            <p:cNvSpPr/>
            <p:nvPr/>
          </p:nvSpPr>
          <p:spPr>
            <a:xfrm>
              <a:off x="9317736" y="3364992"/>
              <a:ext cx="292607" cy="201168"/>
            </a:xfrm>
            <a:prstGeom prst="roundRect">
              <a:avLst>
                <a:gd name="adj" fmla="val 18181"/>
              </a:avLst>
            </a:prstGeom>
            <a:solidFill>
              <a:srgbClr val="1E2126"/>
            </a:solidFill>
            <a:ln>
              <a:noFill/>
            </a:ln>
          </p:spPr>
          <p:txBody>
            <a:bodyPr rtlCol="0" anchor="ctr"/>
            <a:lstStyle/>
            <a:p>
              <a:pPr algn="ctr"/>
              <a:endParaRPr/>
            </a:p>
          </p:txBody>
        </p:sp>
        <p:sp>
          <p:nvSpPr>
            <p:cNvPr id="45" name="Rounded Rectangle 44"/>
            <p:cNvSpPr/>
            <p:nvPr/>
          </p:nvSpPr>
          <p:spPr>
            <a:xfrm>
              <a:off x="9683495" y="3364992"/>
              <a:ext cx="292607" cy="201168"/>
            </a:xfrm>
            <a:prstGeom prst="roundRect">
              <a:avLst>
                <a:gd name="adj" fmla="val 18181"/>
              </a:avLst>
            </a:prstGeom>
            <a:solidFill>
              <a:srgbClr val="1E2126"/>
            </a:solidFill>
            <a:ln>
              <a:noFill/>
            </a:ln>
          </p:spPr>
          <p:txBody>
            <a:bodyPr rtlCol="0" anchor="ctr"/>
            <a:lstStyle/>
            <a:p>
              <a:pPr algn="ctr"/>
              <a:endParaRPr/>
            </a:p>
          </p:txBody>
        </p:sp>
        <p:sp>
          <p:nvSpPr>
            <p:cNvPr id="46" name="Rounded Rectangle 45"/>
            <p:cNvSpPr/>
            <p:nvPr/>
          </p:nvSpPr>
          <p:spPr>
            <a:xfrm>
              <a:off x="10241280" y="3255264"/>
              <a:ext cx="1371600" cy="566928"/>
            </a:xfrm>
            <a:prstGeom prst="roundRect">
              <a:avLst>
                <a:gd name="adj" fmla="val 25806"/>
              </a:avLst>
            </a:prstGeom>
            <a:solidFill>
              <a:srgbClr val="6CA0DC"/>
            </a:solidFill>
            <a:ln>
              <a:noFill/>
            </a:ln>
          </p:spPr>
          <p:txBody>
            <a:bodyPr rtlCol="0" anchor="ctr"/>
            <a:lstStyle/>
            <a:p>
              <a:pPr algn="ctr"/>
              <a:endParaRPr/>
            </a:p>
          </p:txBody>
        </p:sp>
        <p:sp>
          <p:nvSpPr>
            <p:cNvPr id="47" name="Rounded Rectangle 46"/>
            <p:cNvSpPr/>
            <p:nvPr/>
          </p:nvSpPr>
          <p:spPr>
            <a:xfrm>
              <a:off x="10415015" y="3364992"/>
              <a:ext cx="201167" cy="201168"/>
            </a:xfrm>
            <a:prstGeom prst="roundRect">
              <a:avLst>
                <a:gd name="adj" fmla="val 18181"/>
              </a:avLst>
            </a:prstGeom>
            <a:solidFill>
              <a:srgbClr val="1E2126"/>
            </a:solidFill>
            <a:ln>
              <a:noFill/>
            </a:ln>
          </p:spPr>
          <p:txBody>
            <a:bodyPr rtlCol="0" anchor="ctr"/>
            <a:lstStyle/>
            <a:p>
              <a:pPr algn="ctr"/>
              <a:endParaRPr/>
            </a:p>
          </p:txBody>
        </p:sp>
        <p:sp>
          <p:nvSpPr>
            <p:cNvPr id="48" name="Rounded Rectangle 47"/>
            <p:cNvSpPr/>
            <p:nvPr/>
          </p:nvSpPr>
          <p:spPr>
            <a:xfrm>
              <a:off x="10689336" y="3364992"/>
              <a:ext cx="201167" cy="201168"/>
            </a:xfrm>
            <a:prstGeom prst="roundRect">
              <a:avLst>
                <a:gd name="adj" fmla="val 18181"/>
              </a:avLst>
            </a:prstGeom>
            <a:solidFill>
              <a:srgbClr val="1E2126"/>
            </a:solidFill>
            <a:ln>
              <a:noFill/>
            </a:ln>
          </p:spPr>
          <p:txBody>
            <a:bodyPr rtlCol="0" anchor="ctr"/>
            <a:lstStyle/>
            <a:p>
              <a:pPr algn="ctr"/>
              <a:endParaRPr/>
            </a:p>
          </p:txBody>
        </p:sp>
        <p:sp>
          <p:nvSpPr>
            <p:cNvPr id="49" name="Rounded Rectangle 48"/>
            <p:cNvSpPr/>
            <p:nvPr/>
          </p:nvSpPr>
          <p:spPr>
            <a:xfrm>
              <a:off x="10963655" y="3364992"/>
              <a:ext cx="201167" cy="201168"/>
            </a:xfrm>
            <a:prstGeom prst="roundRect">
              <a:avLst>
                <a:gd name="adj" fmla="val 18181"/>
              </a:avLst>
            </a:prstGeom>
            <a:solidFill>
              <a:srgbClr val="1E2126"/>
            </a:solidFill>
            <a:ln>
              <a:noFill/>
            </a:ln>
          </p:spPr>
          <p:txBody>
            <a:bodyPr rtlCol="0" anchor="ctr"/>
            <a:lstStyle/>
            <a:p>
              <a:pPr algn="ctr"/>
              <a:endParaRPr/>
            </a:p>
          </p:txBody>
        </p:sp>
        <p:sp>
          <p:nvSpPr>
            <p:cNvPr id="50" name="Rounded Rectangle 49"/>
            <p:cNvSpPr/>
            <p:nvPr/>
          </p:nvSpPr>
          <p:spPr>
            <a:xfrm>
              <a:off x="11237976" y="3364992"/>
              <a:ext cx="201167" cy="201168"/>
            </a:xfrm>
            <a:prstGeom prst="roundRect">
              <a:avLst>
                <a:gd name="adj" fmla="val 18181"/>
              </a:avLst>
            </a:prstGeom>
            <a:solidFill>
              <a:srgbClr val="1E2126"/>
            </a:solidFill>
            <a:ln>
              <a:noFill/>
            </a:ln>
          </p:spPr>
          <p:txBody>
            <a:bodyPr rtlCol="0" anchor="ctr"/>
            <a:lstStyle/>
            <a:p>
              <a:pPr algn="ctr"/>
              <a:endParaRPr/>
            </a:p>
          </p:txBody>
        </p:sp>
        <p:sp>
          <p:nvSpPr>
            <p:cNvPr id="51" name="TextBox 50"/>
            <p:cNvSpPr txBox="1"/>
            <p:nvPr/>
          </p:nvSpPr>
          <p:spPr>
            <a:xfrm>
              <a:off x="8229600" y="4526280"/>
              <a:ext cx="3383280" cy="320040"/>
            </a:xfrm>
            <a:prstGeom prst="rect">
              <a:avLst/>
            </a:prstGeom>
            <a:noFill/>
          </p:spPr>
          <p:txBody>
            <a:bodyPr wrap="square" lIns="18288" tIns="9144" rIns="18288" bIns="9144" anchor="ctr">
              <a:noAutofit/>
            </a:bodyPr>
            <a:lstStyle/>
            <a:p>
              <a:pPr algn="ctr"/>
              <a:r>
                <a:rPr lang="en-GB" sz="1600" b="1" i="0">
                  <a:solidFill>
                    <a:srgbClr val="6CA0DC"/>
                  </a:solidFill>
                  <a:latin typeface="Arial"/>
                </a:rPr>
                <a:t>Electric network</a:t>
              </a:r>
            </a:p>
          </p:txBody>
        </p:sp>
      </p:grpSp>
      <p:grpSp>
        <p:nvGrpSpPr>
          <p:cNvPr id="52" name="NOTE" descr="Note: Steam trains cannot cross over (Agreed)."/>
          <p:cNvGrpSpPr/>
          <p:nvPr/>
        </p:nvGrpSpPr>
        <p:grpSpPr>
          <a:xfrm>
            <a:off x="548640" y="5029200"/>
            <a:ext cx="11091672" cy="594360"/>
            <a:chOff x="548640" y="5029200"/>
            <a:chExt cx="11091672" cy="594360"/>
          </a:xfrm>
        </p:grpSpPr>
        <p:sp>
          <p:nvSpPr>
            <p:cNvPr id="53" name="Rounded Rectangle 52"/>
            <p:cNvSpPr/>
            <p:nvPr/>
          </p:nvSpPr>
          <p:spPr>
            <a:xfrm>
              <a:off x="548640" y="5029200"/>
              <a:ext cx="11091672" cy="594360"/>
            </a:xfrm>
            <a:prstGeom prst="roundRect">
              <a:avLst>
                <a:gd name="adj" fmla="val 12307"/>
              </a:avLst>
            </a:prstGeom>
            <a:solidFill>
              <a:srgbClr val="2B2F36"/>
            </a:solidFill>
            <a:ln>
              <a:noFill/>
            </a:ln>
          </p:spPr>
          <p:txBody>
            <a:bodyPr rtlCol="0" anchor="ctr"/>
            <a:lstStyle/>
            <a:p>
              <a:pPr algn="ctr"/>
              <a:endParaRPr/>
            </a:p>
          </p:txBody>
        </p:sp>
        <p:sp>
          <p:nvSpPr>
            <p:cNvPr id="54" name="ICHIP"/>
            <p:cNvSpPr/>
            <p:nvPr/>
          </p:nvSpPr>
          <p:spPr>
            <a:xfrm>
              <a:off x="777240" y="5170932"/>
              <a:ext cx="1217906" cy="310896"/>
            </a:xfrm>
            <a:prstGeom prst="roundRect">
              <a:avLst>
                <a:gd name="adj" fmla="val 50000"/>
              </a:avLst>
            </a:prstGeom>
            <a:solidFill>
              <a:srgbClr val="3FB950"/>
            </a:solidFill>
            <a:ln>
              <a:noFill/>
            </a:ln>
          </p:spPr>
          <p:txBody>
            <a:bodyPr wrap="square" lIns="36576" tIns="0" rIns="36576" bIns="0" rtlCol="0" anchor="ctr">
              <a:noAutofit/>
            </a:bodyPr>
            <a:lstStyle/>
            <a:p>
              <a:pPr algn="ctr"/>
              <a:r>
                <a:rPr lang="en-GB" sz="1400" b="1" i="0">
                  <a:solidFill>
                    <a:srgbClr val="101418"/>
                  </a:solidFill>
                  <a:latin typeface="Arial"/>
                </a:rPr>
                <a:t>AGREED</a:t>
              </a:r>
            </a:p>
          </p:txBody>
        </p:sp>
        <p:sp>
          <p:nvSpPr>
            <p:cNvPr id="55" name="TextBox 54"/>
            <p:cNvSpPr txBox="1"/>
            <p:nvPr/>
          </p:nvSpPr>
          <p:spPr>
            <a:xfrm>
              <a:off x="2223746" y="5029200"/>
              <a:ext cx="9050805" cy="594360"/>
            </a:xfrm>
            <a:prstGeom prst="rect">
              <a:avLst/>
            </a:prstGeom>
            <a:noFill/>
          </p:spPr>
          <p:txBody>
            <a:bodyPr wrap="square" lIns="18288" tIns="9144" rIns="18288" bIns="9144" anchor="ctr">
              <a:noAutofit/>
            </a:bodyPr>
            <a:lstStyle/>
            <a:p>
              <a:pPr algn="l"/>
              <a:r>
                <a:rPr lang="en-GB" sz="2000" b="0" i="0">
                  <a:solidFill>
                    <a:srgbClr val="F2F2F2"/>
                  </a:solidFill>
                  <a:latin typeface="Arial"/>
                </a:rPr>
                <a:t>Steam trains cannot cross over</a:t>
              </a:r>
            </a:p>
          </p:txBody>
        </p:sp>
      </p:grpSp>
      <p:sp>
        <p:nvSpPr>
          <p:cNvPr id="5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5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58"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Freight moves between the two networks at an interchange. Steam trains cannot cross over.</a:t>
            </a:r>
          </a:p>
        </p:txBody>
      </p:sp>
      <p:sp>
        <p:nvSpPr>
          <p:cNvPr id="59"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14</a:t>
            </a:r>
          </a:p>
        </p:txBody>
      </p:sp>
    </p:spTree>
    <p:extLst>
      <p:ext uri="{BB962C8B-B14F-4D97-AF65-F5344CB8AC3E}">
        <p14:creationId xmlns:p14="http://schemas.microsoft.com/office/powerpoint/2010/main" val="19660561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57"/>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514"/>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nodeType="withEffect">
                                  <p:stCondLst>
                                    <p:cond delay="771"/>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par>
                                <p:cTn id="17" presetID="10" presetClass="entr" presetSubtype="0" fill="hold" nodeType="withEffect">
                                  <p:stCondLst>
                                    <p:cond delay="1028"/>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500"/>
                                        <p:tgtEl>
                                          <p:spTgt spid="56"/>
                                        </p:tgtEl>
                                      </p:cBhvr>
                                    </p:animEffect>
                                  </p:childTnLst>
                                </p:cTn>
                              </p:par>
                              <p:par>
                                <p:cTn id="20" presetID="10" presetClass="entr" presetSubtype="0" fill="hold" nodeType="withEffect">
                                  <p:stCondLst>
                                    <p:cond delay="1285"/>
                                  </p:stCondLst>
                                  <p:childTnLst>
                                    <p:set>
                                      <p:cBhvr>
                                        <p:cTn id="21" dur="1" fill="hold">
                                          <p:stCondLst>
                                            <p:cond delay="0"/>
                                          </p:stCondLst>
                                        </p:cTn>
                                        <p:tgtEl>
                                          <p:spTgt spid="57"/>
                                        </p:tgtEl>
                                        <p:attrNameLst>
                                          <p:attrName>style.visibility</p:attrName>
                                        </p:attrNameLst>
                                      </p:cBhvr>
                                      <p:to>
                                        <p:strVal val="visible"/>
                                      </p:to>
                                    </p:set>
                                    <p:animEffect transition="in" filter="fade">
                                      <p:cBhvr>
                                        <p:cTn id="22" dur="500"/>
                                        <p:tgtEl>
                                          <p:spTgt spid="57"/>
                                        </p:tgtEl>
                                      </p:cBhvr>
                                    </p:animEffect>
                                  </p:childTnLst>
                                </p:cTn>
                              </p:par>
                              <p:par>
                                <p:cTn id="23" presetID="10" presetClass="entr" presetSubtype="0" fill="hold" nodeType="withEffect">
                                  <p:stCondLst>
                                    <p:cond delay="1542"/>
                                  </p:stCondLst>
                                  <p:childTnLst>
                                    <p:set>
                                      <p:cBhvr>
                                        <p:cTn id="24" dur="1" fill="hold">
                                          <p:stCondLst>
                                            <p:cond delay="0"/>
                                          </p:stCondLst>
                                        </p:cTn>
                                        <p:tgtEl>
                                          <p:spTgt spid="58"/>
                                        </p:tgtEl>
                                        <p:attrNameLst>
                                          <p:attrName>style.visibility</p:attrName>
                                        </p:attrNameLst>
                                      </p:cBhvr>
                                      <p:to>
                                        <p:strVal val="visible"/>
                                      </p:to>
                                    </p:set>
                                    <p:animEffect transition="in" filter="fade">
                                      <p:cBhvr>
                                        <p:cTn id="25"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Transfer Station?</a:t>
            </a:r>
          </a:p>
        </p:txBody>
      </p:sp>
      <p:sp>
        <p:nvSpPr>
          <p:cNvPr id="3" name="CHIP"/>
          <p:cNvSpPr/>
          <p:nvPr/>
        </p:nvSpPr>
        <p:spPr>
          <a:xfrm>
            <a:off x="10088575" y="548640"/>
            <a:ext cx="1554480" cy="365760"/>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a:t>
            </a:r>
          </a:p>
        </p:txBody>
      </p:sp>
      <p:grpSp>
        <p:nvGrpSpPr>
          <p:cNvPr id="4" name="DIAGRAM transfer station idea" descr="A dashed outline card showing a building silhouette with a large question mark, labelled Transfer Station."/>
          <p:cNvGrpSpPr/>
          <p:nvPr/>
        </p:nvGrpSpPr>
        <p:grpSpPr>
          <a:xfrm>
            <a:off x="3355848" y="1371600"/>
            <a:ext cx="5486400" cy="4023360"/>
            <a:chOff x="3355848" y="1371600"/>
            <a:chExt cx="5486400" cy="4023360"/>
          </a:xfrm>
        </p:grpSpPr>
        <p:sp>
          <p:nvSpPr>
            <p:cNvPr id="5" name="Rounded Rectangle 4"/>
            <p:cNvSpPr/>
            <p:nvPr/>
          </p:nvSpPr>
          <p:spPr>
            <a:xfrm>
              <a:off x="3355848" y="1371600"/>
              <a:ext cx="5486400" cy="4023360"/>
            </a:xfrm>
            <a:prstGeom prst="roundRect">
              <a:avLst>
                <a:gd name="adj" fmla="val 2272"/>
              </a:avLst>
            </a:prstGeom>
            <a:solidFill>
              <a:srgbClr val="2B2F36"/>
            </a:solidFill>
            <a:ln w="38100">
              <a:solidFill>
                <a:srgbClr val="A9B0B8"/>
              </a:solidFill>
              <a:prstDash val="dash"/>
            </a:ln>
          </p:spPr>
          <p:txBody>
            <a:bodyPr rtlCol="0" anchor="ctr"/>
            <a:lstStyle/>
            <a:p>
              <a:pPr algn="ctr"/>
              <a:endParaRPr/>
            </a:p>
          </p:txBody>
        </p:sp>
        <p:sp>
          <p:nvSpPr>
            <p:cNvPr id="6" name="Freeform 5"/>
            <p:cNvSpPr/>
            <p:nvPr/>
          </p:nvSpPr>
          <p:spPr>
            <a:xfrm>
              <a:off x="4480560" y="1691640"/>
              <a:ext cx="3246119" cy="1005840"/>
            </a:xfrm>
            <a:custGeom>
              <a:avLst/>
              <a:gdLst/>
              <a:ahLst/>
              <a:cxnLst/>
              <a:rect l="l" t="t" r="r" b="b"/>
              <a:pathLst>
                <a:path w="3246119" h="1005840">
                  <a:moveTo>
                    <a:pt x="0" y="1005840"/>
                  </a:moveTo>
                  <a:lnTo>
                    <a:pt x="1618488" y="0"/>
                  </a:lnTo>
                  <a:lnTo>
                    <a:pt x="3246119" y="1005840"/>
                  </a:lnTo>
                  <a:close/>
                </a:path>
              </a:pathLst>
            </a:custGeom>
            <a:solidFill>
              <a:srgbClr val="3A4049"/>
            </a:solidFill>
            <a:ln>
              <a:noFill/>
            </a:ln>
          </p:spPr>
          <p:txBody>
            <a:bodyPr rtlCol="0" anchor="ctr"/>
            <a:lstStyle/>
            <a:p>
              <a:pPr algn="ctr"/>
              <a:endParaRPr/>
            </a:p>
          </p:txBody>
        </p:sp>
        <p:sp>
          <p:nvSpPr>
            <p:cNvPr id="7" name="Rectangle 6"/>
            <p:cNvSpPr/>
            <p:nvPr/>
          </p:nvSpPr>
          <p:spPr>
            <a:xfrm>
              <a:off x="4572000" y="2697480"/>
              <a:ext cx="3063240" cy="1691640"/>
            </a:xfrm>
            <a:prstGeom prst="rect">
              <a:avLst/>
            </a:prstGeom>
            <a:solidFill>
              <a:srgbClr val="3A4049"/>
            </a:solidFill>
            <a:ln>
              <a:noFill/>
            </a:ln>
          </p:spPr>
          <p:txBody>
            <a:bodyPr rtlCol="0" anchor="ctr"/>
            <a:lstStyle/>
            <a:p>
              <a:pPr algn="ctr"/>
              <a:endParaRPr/>
            </a:p>
          </p:txBody>
        </p:sp>
        <p:sp>
          <p:nvSpPr>
            <p:cNvPr id="8" name="TextBox 7"/>
            <p:cNvSpPr txBox="1"/>
            <p:nvPr/>
          </p:nvSpPr>
          <p:spPr>
            <a:xfrm>
              <a:off x="4572000" y="2651760"/>
              <a:ext cx="3063240" cy="1737360"/>
            </a:xfrm>
            <a:prstGeom prst="rect">
              <a:avLst/>
            </a:prstGeom>
            <a:noFill/>
          </p:spPr>
          <p:txBody>
            <a:bodyPr wrap="square" lIns="18288" tIns="9144" rIns="18288" bIns="9144" anchor="ctr">
              <a:noAutofit/>
            </a:bodyPr>
            <a:lstStyle/>
            <a:p>
              <a:pPr algn="ctr"/>
              <a:r>
                <a:rPr lang="en-GB" sz="9600" b="1" i="0">
                  <a:solidFill>
                    <a:srgbClr val="F2F2F2"/>
                  </a:solidFill>
                  <a:latin typeface="Arial"/>
                </a:rPr>
                <a:t>?</a:t>
              </a:r>
            </a:p>
          </p:txBody>
        </p:sp>
        <p:sp>
          <p:nvSpPr>
            <p:cNvPr id="9" name="TextBox 8"/>
            <p:cNvSpPr txBox="1"/>
            <p:nvPr/>
          </p:nvSpPr>
          <p:spPr>
            <a:xfrm>
              <a:off x="3355848" y="4572000"/>
              <a:ext cx="5486400" cy="640080"/>
            </a:xfrm>
            <a:prstGeom prst="rect">
              <a:avLst/>
            </a:prstGeom>
            <a:noFill/>
          </p:spPr>
          <p:txBody>
            <a:bodyPr wrap="square" lIns="18288" tIns="9144" rIns="18288" bIns="9144" anchor="ctr">
              <a:noAutofit/>
            </a:bodyPr>
            <a:lstStyle/>
            <a:p>
              <a:pPr algn="ctr"/>
              <a:r>
                <a:rPr lang="en-GB" sz="2800" b="1" i="0">
                  <a:solidFill>
                    <a:srgbClr val="F2F2F2"/>
                  </a:solidFill>
                  <a:latin typeface="Arial"/>
                </a:rPr>
                <a:t>Transfer Station</a:t>
              </a:r>
            </a:p>
          </p:txBody>
        </p:sp>
      </p:grpSp>
      <p:sp>
        <p:nvSpPr>
          <p:cNvPr id="1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1"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2"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A special transfer building is only an idea. It is not promised.</a:t>
            </a:r>
          </a:p>
        </p:txBody>
      </p:sp>
      <p:sp>
        <p:nvSpPr>
          <p:cNvPr id="13"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15</a:t>
            </a:r>
          </a:p>
        </p:txBody>
      </p:sp>
    </p:spTree>
    <p:extLst>
      <p:ext uri="{BB962C8B-B14F-4D97-AF65-F5344CB8AC3E}">
        <p14:creationId xmlns:p14="http://schemas.microsoft.com/office/powerpoint/2010/main" val="27547599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6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90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What could go wrong?</a:t>
            </a:r>
          </a:p>
        </p:txBody>
      </p:sp>
      <p:sp>
        <p:nvSpPr>
          <p:cNvPr id="3" name="CHIP"/>
          <p:cNvSpPr/>
          <p:nvPr/>
        </p:nvSpPr>
        <p:spPr>
          <a:xfrm>
            <a:off x="10088575" y="548640"/>
            <a:ext cx="1554480" cy="365760"/>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a:t>
            </a:r>
          </a:p>
        </p:txBody>
      </p:sp>
      <p:grpSp>
        <p:nvGrpSpPr>
          <p:cNvPr id="4" name="SCENARIO 1" descr="A steam train on a section of track where a blue beam preview overlaps it. Marked with a question mark."/>
          <p:cNvGrpSpPr/>
          <p:nvPr/>
        </p:nvGrpSpPr>
        <p:grpSpPr>
          <a:xfrm>
            <a:off x="548640" y="1371600"/>
            <a:ext cx="2656332" cy="3520440"/>
            <a:chOff x="548640" y="1371600"/>
            <a:chExt cx="2656332" cy="3520440"/>
          </a:xfrm>
        </p:grpSpPr>
        <p:sp>
          <p:nvSpPr>
            <p:cNvPr id="5" name="Rounded Rectangle 4"/>
            <p:cNvSpPr/>
            <p:nvPr/>
          </p:nvSpPr>
          <p:spPr>
            <a:xfrm>
              <a:off x="548640" y="1371600"/>
              <a:ext cx="2656332" cy="3520440"/>
            </a:xfrm>
            <a:prstGeom prst="roundRect">
              <a:avLst>
                <a:gd name="adj" fmla="val 2753"/>
              </a:avLst>
            </a:prstGeom>
            <a:solidFill>
              <a:srgbClr val="2B2F36"/>
            </a:solidFill>
            <a:ln>
              <a:noFill/>
            </a:ln>
          </p:spPr>
          <p:txBody>
            <a:bodyPr rtlCol="0" anchor="ctr"/>
            <a:lstStyle/>
            <a:p>
              <a:pPr algn="ctr"/>
              <a:endParaRPr/>
            </a:p>
          </p:txBody>
        </p:sp>
        <p:sp>
          <p:nvSpPr>
            <p:cNvPr id="6" name="Rounded Rectangle 5"/>
            <p:cNvSpPr/>
            <p:nvPr/>
          </p:nvSpPr>
          <p:spPr>
            <a:xfrm>
              <a:off x="658368" y="1965960"/>
              <a:ext cx="2436876" cy="2011680"/>
            </a:xfrm>
            <a:prstGeom prst="roundRect">
              <a:avLst>
                <a:gd name="adj" fmla="val 2727"/>
              </a:avLst>
            </a:prstGeom>
            <a:solidFill>
              <a:srgbClr val="1E2126"/>
            </a:solidFill>
            <a:ln>
              <a:noFill/>
            </a:ln>
          </p:spPr>
          <p:txBody>
            <a:bodyPr rtlCol="0" anchor="ctr"/>
            <a:lstStyle/>
            <a:p>
              <a:pPr algn="ctr"/>
              <a:endParaRPr/>
            </a:p>
          </p:txBody>
        </p:sp>
        <p:sp>
          <p:nvSpPr>
            <p:cNvPr id="7" name="QBADGE"/>
            <p:cNvSpPr/>
            <p:nvPr/>
          </p:nvSpPr>
          <p:spPr>
            <a:xfrm>
              <a:off x="2564891" y="1490472"/>
              <a:ext cx="457200" cy="457200"/>
            </a:xfrm>
            <a:prstGeom prst="ellipse">
              <a:avLst/>
            </a:prstGeom>
            <a:noFill/>
            <a:ln w="25400">
              <a:solidFill>
                <a:srgbClr val="A9B0B8"/>
              </a:solidFill>
            </a:ln>
          </p:spPr>
          <p:txBody>
            <a:bodyPr wrap="square" lIns="0" tIns="0" rIns="0" bIns="0" rtlCol="0" anchor="ctr">
              <a:noAutofit/>
            </a:bodyPr>
            <a:lstStyle/>
            <a:p>
              <a:pPr algn="ctr"/>
              <a:r>
                <a:rPr lang="en-GB" sz="2200" b="1" i="0">
                  <a:solidFill>
                    <a:srgbClr val="F2F2F2"/>
                  </a:solidFill>
                  <a:latin typeface="Arial"/>
                </a:rPr>
                <a:t>?</a:t>
              </a:r>
            </a:p>
          </p:txBody>
        </p:sp>
        <p:sp>
          <p:nvSpPr>
            <p:cNvPr id="8" name="TextBox 7"/>
            <p:cNvSpPr txBox="1"/>
            <p:nvPr/>
          </p:nvSpPr>
          <p:spPr>
            <a:xfrm>
              <a:off x="640080" y="4069080"/>
              <a:ext cx="2473451" cy="685800"/>
            </a:xfrm>
            <a:prstGeom prst="rect">
              <a:avLst/>
            </a:prstGeom>
            <a:noFill/>
          </p:spPr>
          <p:txBody>
            <a:bodyPr wrap="square" lIns="18288" tIns="9144" rIns="18288" bIns="9144" anchor="ctr">
              <a:noAutofit/>
            </a:bodyPr>
            <a:lstStyle/>
            <a:p>
              <a:pPr algn="ctr"/>
              <a:r>
                <a:rPr lang="en-GB" sz="2000" b="1" i="0">
                  <a:solidFill>
                    <a:srgbClr val="F2F2F2"/>
                  </a:solidFill>
                  <a:latin typeface="Arial"/>
                </a:rPr>
                <a:t>Train on the track</a:t>
              </a:r>
            </a:p>
          </p:txBody>
        </p:sp>
        <p:sp>
          <p:nvSpPr>
            <p:cNvPr id="9" name="Rectangle 8"/>
            <p:cNvSpPr/>
            <p:nvPr/>
          </p:nvSpPr>
          <p:spPr>
            <a:xfrm>
              <a:off x="914399" y="2752344"/>
              <a:ext cx="54864" cy="493776"/>
            </a:xfrm>
            <a:prstGeom prst="rect">
              <a:avLst/>
            </a:prstGeom>
            <a:solidFill>
              <a:srgbClr val="6B5B4B"/>
            </a:solidFill>
            <a:ln>
              <a:noFill/>
            </a:ln>
          </p:spPr>
          <p:txBody>
            <a:bodyPr rtlCol="0" anchor="ctr"/>
            <a:lstStyle/>
            <a:p>
              <a:pPr algn="ctr"/>
              <a:endParaRPr/>
            </a:p>
          </p:txBody>
        </p:sp>
        <p:sp>
          <p:nvSpPr>
            <p:cNvPr id="10" name="Rectangle 9"/>
            <p:cNvSpPr/>
            <p:nvPr/>
          </p:nvSpPr>
          <p:spPr>
            <a:xfrm>
              <a:off x="1188719" y="2752344"/>
              <a:ext cx="54864" cy="493776"/>
            </a:xfrm>
            <a:prstGeom prst="rect">
              <a:avLst/>
            </a:prstGeom>
            <a:solidFill>
              <a:srgbClr val="6B5B4B"/>
            </a:solidFill>
            <a:ln>
              <a:noFill/>
            </a:ln>
          </p:spPr>
          <p:txBody>
            <a:bodyPr rtlCol="0" anchor="ctr"/>
            <a:lstStyle/>
            <a:p>
              <a:pPr algn="ctr"/>
              <a:endParaRPr/>
            </a:p>
          </p:txBody>
        </p:sp>
        <p:sp>
          <p:nvSpPr>
            <p:cNvPr id="11" name="Rectangle 10"/>
            <p:cNvSpPr/>
            <p:nvPr/>
          </p:nvSpPr>
          <p:spPr>
            <a:xfrm>
              <a:off x="1463039" y="2752344"/>
              <a:ext cx="54864" cy="493776"/>
            </a:xfrm>
            <a:prstGeom prst="rect">
              <a:avLst/>
            </a:prstGeom>
            <a:solidFill>
              <a:srgbClr val="6B5B4B"/>
            </a:solidFill>
            <a:ln>
              <a:noFill/>
            </a:ln>
          </p:spPr>
          <p:txBody>
            <a:bodyPr rtlCol="0" anchor="ctr"/>
            <a:lstStyle/>
            <a:p>
              <a:pPr algn="ctr"/>
              <a:endParaRPr/>
            </a:p>
          </p:txBody>
        </p:sp>
        <p:sp>
          <p:nvSpPr>
            <p:cNvPr id="12" name="Rectangle 11"/>
            <p:cNvSpPr/>
            <p:nvPr/>
          </p:nvSpPr>
          <p:spPr>
            <a:xfrm>
              <a:off x="1737360" y="2752344"/>
              <a:ext cx="54864" cy="493776"/>
            </a:xfrm>
            <a:prstGeom prst="rect">
              <a:avLst/>
            </a:prstGeom>
            <a:solidFill>
              <a:srgbClr val="6B5B4B"/>
            </a:solidFill>
            <a:ln>
              <a:noFill/>
            </a:ln>
          </p:spPr>
          <p:txBody>
            <a:bodyPr rtlCol="0" anchor="ctr"/>
            <a:lstStyle/>
            <a:p>
              <a:pPr algn="ctr"/>
              <a:endParaRPr/>
            </a:p>
          </p:txBody>
        </p:sp>
        <p:sp>
          <p:nvSpPr>
            <p:cNvPr id="13" name="Rectangle 12"/>
            <p:cNvSpPr/>
            <p:nvPr/>
          </p:nvSpPr>
          <p:spPr>
            <a:xfrm>
              <a:off x="2011679" y="2752344"/>
              <a:ext cx="54864" cy="493776"/>
            </a:xfrm>
            <a:prstGeom prst="rect">
              <a:avLst/>
            </a:prstGeom>
            <a:solidFill>
              <a:srgbClr val="6B5B4B"/>
            </a:solidFill>
            <a:ln>
              <a:noFill/>
            </a:ln>
          </p:spPr>
          <p:txBody>
            <a:bodyPr rtlCol="0" anchor="ctr"/>
            <a:lstStyle/>
            <a:p>
              <a:pPr algn="ctr"/>
              <a:endParaRPr/>
            </a:p>
          </p:txBody>
        </p:sp>
        <p:sp>
          <p:nvSpPr>
            <p:cNvPr id="14" name="Rectangle 13"/>
            <p:cNvSpPr/>
            <p:nvPr/>
          </p:nvSpPr>
          <p:spPr>
            <a:xfrm>
              <a:off x="2285999" y="2752344"/>
              <a:ext cx="54864" cy="493776"/>
            </a:xfrm>
            <a:prstGeom prst="rect">
              <a:avLst/>
            </a:prstGeom>
            <a:solidFill>
              <a:srgbClr val="6B5B4B"/>
            </a:solidFill>
            <a:ln>
              <a:noFill/>
            </a:ln>
          </p:spPr>
          <p:txBody>
            <a:bodyPr rtlCol="0" anchor="ctr"/>
            <a:lstStyle/>
            <a:p>
              <a:pPr algn="ctr"/>
              <a:endParaRPr/>
            </a:p>
          </p:txBody>
        </p:sp>
        <p:sp>
          <p:nvSpPr>
            <p:cNvPr id="15" name="Rectangle 14"/>
            <p:cNvSpPr/>
            <p:nvPr/>
          </p:nvSpPr>
          <p:spPr>
            <a:xfrm>
              <a:off x="2560319" y="2752344"/>
              <a:ext cx="54864" cy="493776"/>
            </a:xfrm>
            <a:prstGeom prst="rect">
              <a:avLst/>
            </a:prstGeom>
            <a:solidFill>
              <a:srgbClr val="6B5B4B"/>
            </a:solidFill>
            <a:ln>
              <a:noFill/>
            </a:ln>
          </p:spPr>
          <p:txBody>
            <a:bodyPr rtlCol="0" anchor="ctr"/>
            <a:lstStyle/>
            <a:p>
              <a:pPr algn="ctr"/>
              <a:endParaRPr/>
            </a:p>
          </p:txBody>
        </p:sp>
        <p:sp>
          <p:nvSpPr>
            <p:cNvPr id="16" name="Rectangle 15"/>
            <p:cNvSpPr/>
            <p:nvPr/>
          </p:nvSpPr>
          <p:spPr>
            <a:xfrm>
              <a:off x="2834639" y="2752344"/>
              <a:ext cx="54864" cy="493776"/>
            </a:xfrm>
            <a:prstGeom prst="rect">
              <a:avLst/>
            </a:prstGeom>
            <a:solidFill>
              <a:srgbClr val="6B5B4B"/>
            </a:solidFill>
            <a:ln>
              <a:noFill/>
            </a:ln>
          </p:spPr>
          <p:txBody>
            <a:bodyPr rtlCol="0" anchor="ctr"/>
            <a:lstStyle/>
            <a:p>
              <a:pPr algn="ctr"/>
              <a:endParaRPr/>
            </a:p>
          </p:txBody>
        </p:sp>
        <p:sp>
          <p:nvSpPr>
            <p:cNvPr id="17" name="Rectangle 16"/>
            <p:cNvSpPr/>
            <p:nvPr/>
          </p:nvSpPr>
          <p:spPr>
            <a:xfrm>
              <a:off x="822959" y="2816352"/>
              <a:ext cx="2107691" cy="54864"/>
            </a:xfrm>
            <a:prstGeom prst="rect">
              <a:avLst/>
            </a:prstGeom>
            <a:solidFill>
              <a:srgbClr val="F28C28"/>
            </a:solidFill>
            <a:ln>
              <a:noFill/>
            </a:ln>
          </p:spPr>
          <p:txBody>
            <a:bodyPr rtlCol="0" anchor="ctr"/>
            <a:lstStyle/>
            <a:p>
              <a:pPr algn="ctr"/>
              <a:endParaRPr/>
            </a:p>
          </p:txBody>
        </p:sp>
        <p:sp>
          <p:nvSpPr>
            <p:cNvPr id="18" name="Rectangle 17"/>
            <p:cNvSpPr/>
            <p:nvPr/>
          </p:nvSpPr>
          <p:spPr>
            <a:xfrm>
              <a:off x="822959" y="3127248"/>
              <a:ext cx="2107691" cy="54864"/>
            </a:xfrm>
            <a:prstGeom prst="rect">
              <a:avLst/>
            </a:prstGeom>
            <a:solidFill>
              <a:srgbClr val="F28C28"/>
            </a:solidFill>
            <a:ln>
              <a:noFill/>
            </a:ln>
          </p:spPr>
          <p:txBody>
            <a:bodyPr rtlCol="0" anchor="ctr"/>
            <a:lstStyle/>
            <a:p>
              <a:pPr algn="ctr"/>
              <a:endParaRPr/>
            </a:p>
          </p:txBody>
        </p:sp>
        <p:sp>
          <p:nvSpPr>
            <p:cNvPr id="19" name="Rounded Rectangle 18"/>
            <p:cNvSpPr/>
            <p:nvPr/>
          </p:nvSpPr>
          <p:spPr>
            <a:xfrm>
              <a:off x="1005839" y="2752344"/>
              <a:ext cx="822960" cy="438912"/>
            </a:xfrm>
            <a:prstGeom prst="roundRect">
              <a:avLst>
                <a:gd name="adj" fmla="val 16666"/>
              </a:avLst>
            </a:prstGeom>
            <a:solidFill>
              <a:srgbClr val="F28C28"/>
            </a:solidFill>
            <a:ln>
              <a:noFill/>
            </a:ln>
          </p:spPr>
          <p:txBody>
            <a:bodyPr rtlCol="0" anchor="ctr"/>
            <a:lstStyle/>
            <a:p>
              <a:pPr algn="ctr"/>
              <a:endParaRPr/>
            </a:p>
          </p:txBody>
        </p:sp>
        <p:sp>
          <p:nvSpPr>
            <p:cNvPr id="20" name="Oval 19"/>
            <p:cNvSpPr/>
            <p:nvPr/>
          </p:nvSpPr>
          <p:spPr>
            <a:xfrm>
              <a:off x="1691639" y="2889504"/>
              <a:ext cx="164592" cy="164592"/>
            </a:xfrm>
            <a:prstGeom prst="ellipse">
              <a:avLst/>
            </a:prstGeom>
            <a:solidFill>
              <a:srgbClr val="1B1D21"/>
            </a:solidFill>
            <a:ln>
              <a:noFill/>
            </a:ln>
          </p:spPr>
          <p:txBody>
            <a:bodyPr rtlCol="0" anchor="ctr"/>
            <a:lstStyle/>
            <a:p>
              <a:pPr algn="ctr"/>
              <a:endParaRPr/>
            </a:p>
          </p:txBody>
        </p:sp>
        <p:sp>
          <p:nvSpPr>
            <p:cNvPr id="21" name="Rounded Rectangle 20"/>
            <p:cNvSpPr/>
            <p:nvPr/>
          </p:nvSpPr>
          <p:spPr>
            <a:xfrm>
              <a:off x="1920239" y="2788920"/>
              <a:ext cx="822960" cy="365760"/>
            </a:xfrm>
            <a:prstGeom prst="roundRect">
              <a:avLst>
                <a:gd name="adj" fmla="val 12500"/>
              </a:avLst>
            </a:prstGeom>
            <a:solidFill>
              <a:srgbClr val="6C7480"/>
            </a:solidFill>
            <a:ln>
              <a:noFill/>
            </a:ln>
          </p:spPr>
          <p:txBody>
            <a:bodyPr rtlCol="0" anchor="ctr"/>
            <a:lstStyle/>
            <a:p>
              <a:pPr algn="ctr"/>
              <a:endParaRPr/>
            </a:p>
          </p:txBody>
        </p:sp>
        <p:sp>
          <p:nvSpPr>
            <p:cNvPr id="22" name="Rounded Rectangle 21"/>
            <p:cNvSpPr/>
            <p:nvPr/>
          </p:nvSpPr>
          <p:spPr>
            <a:xfrm>
              <a:off x="777239" y="2560320"/>
              <a:ext cx="2199132" cy="822960"/>
            </a:xfrm>
            <a:prstGeom prst="roundRect">
              <a:avLst>
                <a:gd name="adj" fmla="val 11111"/>
              </a:avLst>
            </a:prstGeom>
            <a:solidFill>
              <a:srgbClr val="6CA0DC">
                <a:alpha val="30000"/>
              </a:srgbClr>
            </a:solidFill>
            <a:ln w="31750">
              <a:solidFill>
                <a:srgbClr val="6CA0DC"/>
              </a:solidFill>
              <a:prstDash val="dash"/>
            </a:ln>
          </p:spPr>
          <p:txBody>
            <a:bodyPr rtlCol="0" anchor="ctr"/>
            <a:lstStyle/>
            <a:p>
              <a:pPr algn="ctr"/>
              <a:endParaRPr/>
            </a:p>
          </p:txBody>
        </p:sp>
      </p:grpSp>
      <p:grpSp>
        <p:nvGrpSpPr>
          <p:cNvPr id="23" name="SCENARIO 2" descr="A steam train sitting on a section that is already a blue beam. Marked with a question mark."/>
          <p:cNvGrpSpPr/>
          <p:nvPr/>
        </p:nvGrpSpPr>
        <p:grpSpPr>
          <a:xfrm>
            <a:off x="3360420" y="1371600"/>
            <a:ext cx="2656332" cy="3520440"/>
            <a:chOff x="3360420" y="1371600"/>
            <a:chExt cx="2656332" cy="3520440"/>
          </a:xfrm>
        </p:grpSpPr>
        <p:sp>
          <p:nvSpPr>
            <p:cNvPr id="24" name="Rounded Rectangle 23"/>
            <p:cNvSpPr/>
            <p:nvPr/>
          </p:nvSpPr>
          <p:spPr>
            <a:xfrm>
              <a:off x="3360420" y="1371600"/>
              <a:ext cx="2656332" cy="3520440"/>
            </a:xfrm>
            <a:prstGeom prst="roundRect">
              <a:avLst>
                <a:gd name="adj" fmla="val 2753"/>
              </a:avLst>
            </a:prstGeom>
            <a:solidFill>
              <a:srgbClr val="2B2F36"/>
            </a:solidFill>
            <a:ln>
              <a:noFill/>
            </a:ln>
          </p:spPr>
          <p:txBody>
            <a:bodyPr rtlCol="0" anchor="ctr"/>
            <a:lstStyle/>
            <a:p>
              <a:pPr algn="ctr"/>
              <a:endParaRPr/>
            </a:p>
          </p:txBody>
        </p:sp>
        <p:sp>
          <p:nvSpPr>
            <p:cNvPr id="25" name="Rounded Rectangle 24"/>
            <p:cNvSpPr/>
            <p:nvPr/>
          </p:nvSpPr>
          <p:spPr>
            <a:xfrm>
              <a:off x="3470148" y="1965960"/>
              <a:ext cx="2436876" cy="2011680"/>
            </a:xfrm>
            <a:prstGeom prst="roundRect">
              <a:avLst>
                <a:gd name="adj" fmla="val 2727"/>
              </a:avLst>
            </a:prstGeom>
            <a:solidFill>
              <a:srgbClr val="1E2126"/>
            </a:solidFill>
            <a:ln>
              <a:noFill/>
            </a:ln>
          </p:spPr>
          <p:txBody>
            <a:bodyPr rtlCol="0" anchor="ctr"/>
            <a:lstStyle/>
            <a:p>
              <a:pPr algn="ctr"/>
              <a:endParaRPr/>
            </a:p>
          </p:txBody>
        </p:sp>
        <p:sp>
          <p:nvSpPr>
            <p:cNvPr id="26" name="QBADGE"/>
            <p:cNvSpPr/>
            <p:nvPr/>
          </p:nvSpPr>
          <p:spPr>
            <a:xfrm>
              <a:off x="5376672" y="1490472"/>
              <a:ext cx="457200" cy="457200"/>
            </a:xfrm>
            <a:prstGeom prst="ellipse">
              <a:avLst/>
            </a:prstGeom>
            <a:noFill/>
            <a:ln w="25400">
              <a:solidFill>
                <a:srgbClr val="A9B0B8"/>
              </a:solidFill>
            </a:ln>
          </p:spPr>
          <p:txBody>
            <a:bodyPr wrap="square" lIns="0" tIns="0" rIns="0" bIns="0" rtlCol="0" anchor="ctr">
              <a:noAutofit/>
            </a:bodyPr>
            <a:lstStyle/>
            <a:p>
              <a:pPr algn="ctr"/>
              <a:r>
                <a:rPr lang="en-GB" sz="2200" b="1" i="0">
                  <a:solidFill>
                    <a:srgbClr val="F2F2F2"/>
                  </a:solidFill>
                  <a:latin typeface="Arial"/>
                </a:rPr>
                <a:t>?</a:t>
              </a:r>
            </a:p>
          </p:txBody>
        </p:sp>
        <p:sp>
          <p:nvSpPr>
            <p:cNvPr id="27" name="TextBox 26"/>
            <p:cNvSpPr txBox="1"/>
            <p:nvPr/>
          </p:nvSpPr>
          <p:spPr>
            <a:xfrm>
              <a:off x="3451860" y="4069080"/>
              <a:ext cx="2473451" cy="685800"/>
            </a:xfrm>
            <a:prstGeom prst="rect">
              <a:avLst/>
            </a:prstGeom>
            <a:noFill/>
          </p:spPr>
          <p:txBody>
            <a:bodyPr wrap="square" lIns="18288" tIns="9144" rIns="18288" bIns="9144" anchor="ctr">
              <a:noAutofit/>
            </a:bodyPr>
            <a:lstStyle/>
            <a:p>
              <a:pPr algn="ctr"/>
              <a:r>
                <a:rPr lang="en-GB" sz="2000" b="1" i="0">
                  <a:solidFill>
                    <a:srgbClr val="F2F2F2"/>
                  </a:solidFill>
                  <a:latin typeface="Arial"/>
                </a:rPr>
                <a:t>Steam train stranded</a:t>
              </a:r>
            </a:p>
          </p:txBody>
        </p:sp>
        <p:sp>
          <p:nvSpPr>
            <p:cNvPr id="28" name="Rectangle 27"/>
            <p:cNvSpPr/>
            <p:nvPr/>
          </p:nvSpPr>
          <p:spPr>
            <a:xfrm>
              <a:off x="3726179" y="2752344"/>
              <a:ext cx="54864" cy="493776"/>
            </a:xfrm>
            <a:prstGeom prst="rect">
              <a:avLst/>
            </a:prstGeom>
            <a:solidFill>
              <a:srgbClr val="6B5B4B"/>
            </a:solidFill>
            <a:ln>
              <a:noFill/>
            </a:ln>
          </p:spPr>
          <p:txBody>
            <a:bodyPr rtlCol="0" anchor="ctr"/>
            <a:lstStyle/>
            <a:p>
              <a:pPr algn="ctr"/>
              <a:endParaRPr/>
            </a:p>
          </p:txBody>
        </p:sp>
        <p:sp>
          <p:nvSpPr>
            <p:cNvPr id="29" name="Rectangle 28"/>
            <p:cNvSpPr/>
            <p:nvPr/>
          </p:nvSpPr>
          <p:spPr>
            <a:xfrm>
              <a:off x="4000499" y="2752344"/>
              <a:ext cx="54864" cy="493776"/>
            </a:xfrm>
            <a:prstGeom prst="rect">
              <a:avLst/>
            </a:prstGeom>
            <a:solidFill>
              <a:srgbClr val="6B5B4B"/>
            </a:solidFill>
            <a:ln>
              <a:noFill/>
            </a:ln>
          </p:spPr>
          <p:txBody>
            <a:bodyPr rtlCol="0" anchor="ctr"/>
            <a:lstStyle/>
            <a:p>
              <a:pPr algn="ctr"/>
              <a:endParaRPr/>
            </a:p>
          </p:txBody>
        </p:sp>
        <p:sp>
          <p:nvSpPr>
            <p:cNvPr id="30" name="Rectangle 29"/>
            <p:cNvSpPr/>
            <p:nvPr/>
          </p:nvSpPr>
          <p:spPr>
            <a:xfrm>
              <a:off x="4274819" y="2752344"/>
              <a:ext cx="54864" cy="493776"/>
            </a:xfrm>
            <a:prstGeom prst="rect">
              <a:avLst/>
            </a:prstGeom>
            <a:solidFill>
              <a:srgbClr val="6B5B4B"/>
            </a:solidFill>
            <a:ln>
              <a:noFill/>
            </a:ln>
          </p:spPr>
          <p:txBody>
            <a:bodyPr rtlCol="0" anchor="ctr"/>
            <a:lstStyle/>
            <a:p>
              <a:pPr algn="ctr"/>
              <a:endParaRPr/>
            </a:p>
          </p:txBody>
        </p:sp>
        <p:sp>
          <p:nvSpPr>
            <p:cNvPr id="31" name="Rectangle 30"/>
            <p:cNvSpPr/>
            <p:nvPr/>
          </p:nvSpPr>
          <p:spPr>
            <a:xfrm>
              <a:off x="3634739" y="2816352"/>
              <a:ext cx="777240" cy="54864"/>
            </a:xfrm>
            <a:prstGeom prst="rect">
              <a:avLst/>
            </a:prstGeom>
            <a:solidFill>
              <a:srgbClr val="F28C28"/>
            </a:solidFill>
            <a:ln>
              <a:noFill/>
            </a:ln>
          </p:spPr>
          <p:txBody>
            <a:bodyPr rtlCol="0" anchor="ctr"/>
            <a:lstStyle/>
            <a:p>
              <a:pPr algn="ctr"/>
              <a:endParaRPr/>
            </a:p>
          </p:txBody>
        </p:sp>
        <p:sp>
          <p:nvSpPr>
            <p:cNvPr id="32" name="Rectangle 31"/>
            <p:cNvSpPr/>
            <p:nvPr/>
          </p:nvSpPr>
          <p:spPr>
            <a:xfrm>
              <a:off x="3634739" y="3127248"/>
              <a:ext cx="777240" cy="54864"/>
            </a:xfrm>
            <a:prstGeom prst="rect">
              <a:avLst/>
            </a:prstGeom>
            <a:solidFill>
              <a:srgbClr val="F28C28"/>
            </a:solidFill>
            <a:ln>
              <a:noFill/>
            </a:ln>
          </p:spPr>
          <p:txBody>
            <a:bodyPr rtlCol="0" anchor="ctr"/>
            <a:lstStyle/>
            <a:p>
              <a:pPr algn="ctr"/>
              <a:endParaRPr/>
            </a:p>
          </p:txBody>
        </p:sp>
        <p:sp>
          <p:nvSpPr>
            <p:cNvPr id="33" name="Rounded Rectangle 32"/>
            <p:cNvSpPr/>
            <p:nvPr/>
          </p:nvSpPr>
          <p:spPr>
            <a:xfrm>
              <a:off x="4503420" y="2852928"/>
              <a:ext cx="1239011" cy="237744"/>
            </a:xfrm>
            <a:prstGeom prst="roundRect">
              <a:avLst>
                <a:gd name="adj" fmla="val 23076"/>
              </a:avLst>
            </a:prstGeom>
            <a:solidFill>
              <a:srgbClr val="6CA0DC"/>
            </a:solidFill>
            <a:ln>
              <a:noFill/>
            </a:ln>
          </p:spPr>
          <p:txBody>
            <a:bodyPr rtlCol="0" anchor="ctr"/>
            <a:lstStyle/>
            <a:p>
              <a:pPr algn="ctr"/>
              <a:endParaRPr/>
            </a:p>
          </p:txBody>
        </p:sp>
        <p:sp>
          <p:nvSpPr>
            <p:cNvPr id="34" name="Rounded Rectangle 33"/>
            <p:cNvSpPr/>
            <p:nvPr/>
          </p:nvSpPr>
          <p:spPr>
            <a:xfrm>
              <a:off x="4594859" y="2697480"/>
              <a:ext cx="1005840" cy="457200"/>
            </a:xfrm>
            <a:prstGeom prst="roundRect">
              <a:avLst>
                <a:gd name="adj" fmla="val 16000"/>
              </a:avLst>
            </a:prstGeom>
            <a:solidFill>
              <a:srgbClr val="F28C28"/>
            </a:solidFill>
            <a:ln>
              <a:noFill/>
            </a:ln>
          </p:spPr>
          <p:txBody>
            <a:bodyPr rtlCol="0" anchor="ctr"/>
            <a:lstStyle/>
            <a:p>
              <a:pPr algn="ctr"/>
              <a:endParaRPr/>
            </a:p>
          </p:txBody>
        </p:sp>
        <p:sp>
          <p:nvSpPr>
            <p:cNvPr id="35" name="Oval 34"/>
            <p:cNvSpPr/>
            <p:nvPr/>
          </p:nvSpPr>
          <p:spPr>
            <a:xfrm>
              <a:off x="5372100" y="2843784"/>
              <a:ext cx="164592" cy="164592"/>
            </a:xfrm>
            <a:prstGeom prst="ellipse">
              <a:avLst/>
            </a:prstGeom>
            <a:solidFill>
              <a:srgbClr val="1B1D21"/>
            </a:solidFill>
            <a:ln>
              <a:noFill/>
            </a:ln>
          </p:spPr>
          <p:txBody>
            <a:bodyPr rtlCol="0" anchor="ctr"/>
            <a:lstStyle/>
            <a:p>
              <a:pPr algn="ctr"/>
              <a:endParaRPr/>
            </a:p>
          </p:txBody>
        </p:sp>
      </p:grpSp>
      <p:grpSp>
        <p:nvGrpSpPr>
          <p:cNvPr id="36" name="SCENARIO 3" descr="A line with orange steam track on the left and a blue beam on the right. Marked with a question mark."/>
          <p:cNvGrpSpPr/>
          <p:nvPr/>
        </p:nvGrpSpPr>
        <p:grpSpPr>
          <a:xfrm>
            <a:off x="6172199" y="1371600"/>
            <a:ext cx="2656332" cy="3520440"/>
            <a:chOff x="6172199" y="1371600"/>
            <a:chExt cx="2656332" cy="3520440"/>
          </a:xfrm>
        </p:grpSpPr>
        <p:sp>
          <p:nvSpPr>
            <p:cNvPr id="37" name="Rounded Rectangle 36"/>
            <p:cNvSpPr/>
            <p:nvPr/>
          </p:nvSpPr>
          <p:spPr>
            <a:xfrm>
              <a:off x="6172199" y="1371600"/>
              <a:ext cx="2656332" cy="3520440"/>
            </a:xfrm>
            <a:prstGeom prst="roundRect">
              <a:avLst>
                <a:gd name="adj" fmla="val 2753"/>
              </a:avLst>
            </a:prstGeom>
            <a:solidFill>
              <a:srgbClr val="2B2F36"/>
            </a:solidFill>
            <a:ln>
              <a:noFill/>
            </a:ln>
          </p:spPr>
          <p:txBody>
            <a:bodyPr rtlCol="0" anchor="ctr"/>
            <a:lstStyle/>
            <a:p>
              <a:pPr algn="ctr"/>
              <a:endParaRPr/>
            </a:p>
          </p:txBody>
        </p:sp>
        <p:sp>
          <p:nvSpPr>
            <p:cNvPr id="38" name="Rounded Rectangle 37"/>
            <p:cNvSpPr/>
            <p:nvPr/>
          </p:nvSpPr>
          <p:spPr>
            <a:xfrm>
              <a:off x="6281927" y="1965960"/>
              <a:ext cx="2436876" cy="2011680"/>
            </a:xfrm>
            <a:prstGeom prst="roundRect">
              <a:avLst>
                <a:gd name="adj" fmla="val 2727"/>
              </a:avLst>
            </a:prstGeom>
            <a:solidFill>
              <a:srgbClr val="1E2126"/>
            </a:solidFill>
            <a:ln>
              <a:noFill/>
            </a:ln>
          </p:spPr>
          <p:txBody>
            <a:bodyPr rtlCol="0" anchor="ctr"/>
            <a:lstStyle/>
            <a:p>
              <a:pPr algn="ctr"/>
              <a:endParaRPr/>
            </a:p>
          </p:txBody>
        </p:sp>
        <p:sp>
          <p:nvSpPr>
            <p:cNvPr id="39" name="QBADGE"/>
            <p:cNvSpPr/>
            <p:nvPr/>
          </p:nvSpPr>
          <p:spPr>
            <a:xfrm>
              <a:off x="8188452" y="1490472"/>
              <a:ext cx="457200" cy="457200"/>
            </a:xfrm>
            <a:prstGeom prst="ellipse">
              <a:avLst/>
            </a:prstGeom>
            <a:noFill/>
            <a:ln w="25400">
              <a:solidFill>
                <a:srgbClr val="A9B0B8"/>
              </a:solidFill>
            </a:ln>
          </p:spPr>
          <p:txBody>
            <a:bodyPr wrap="square" lIns="0" tIns="0" rIns="0" bIns="0" rtlCol="0" anchor="ctr">
              <a:noAutofit/>
            </a:bodyPr>
            <a:lstStyle/>
            <a:p>
              <a:pPr algn="ctr"/>
              <a:r>
                <a:rPr lang="en-GB" sz="2200" b="1" i="0">
                  <a:solidFill>
                    <a:srgbClr val="F2F2F2"/>
                  </a:solidFill>
                  <a:latin typeface="Arial"/>
                </a:rPr>
                <a:t>?</a:t>
              </a:r>
            </a:p>
          </p:txBody>
        </p:sp>
        <p:sp>
          <p:nvSpPr>
            <p:cNvPr id="40" name="TextBox 39"/>
            <p:cNvSpPr txBox="1"/>
            <p:nvPr/>
          </p:nvSpPr>
          <p:spPr>
            <a:xfrm>
              <a:off x="6263639" y="4069080"/>
              <a:ext cx="2473451" cy="685800"/>
            </a:xfrm>
            <a:prstGeom prst="rect">
              <a:avLst/>
            </a:prstGeom>
            <a:noFill/>
          </p:spPr>
          <p:txBody>
            <a:bodyPr wrap="square" lIns="18288" tIns="9144" rIns="18288" bIns="9144" anchor="ctr">
              <a:noAutofit/>
            </a:bodyPr>
            <a:lstStyle/>
            <a:p>
              <a:pPr algn="ctr"/>
              <a:r>
                <a:rPr lang="en-GB" sz="2000" b="1" i="0">
                  <a:solidFill>
                    <a:srgbClr val="F2F2F2"/>
                  </a:solidFill>
                  <a:latin typeface="Arial"/>
                </a:rPr>
                <a:t>Half-upgraded line</a:t>
              </a:r>
            </a:p>
          </p:txBody>
        </p:sp>
        <p:sp>
          <p:nvSpPr>
            <p:cNvPr id="41" name="Rectangle 40"/>
            <p:cNvSpPr/>
            <p:nvPr/>
          </p:nvSpPr>
          <p:spPr>
            <a:xfrm>
              <a:off x="6537959" y="2752344"/>
              <a:ext cx="54864" cy="493776"/>
            </a:xfrm>
            <a:prstGeom prst="rect">
              <a:avLst/>
            </a:prstGeom>
            <a:solidFill>
              <a:srgbClr val="6B5B4B"/>
            </a:solidFill>
            <a:ln>
              <a:noFill/>
            </a:ln>
          </p:spPr>
          <p:txBody>
            <a:bodyPr rtlCol="0" anchor="ctr"/>
            <a:lstStyle/>
            <a:p>
              <a:pPr algn="ctr"/>
              <a:endParaRPr/>
            </a:p>
          </p:txBody>
        </p:sp>
        <p:sp>
          <p:nvSpPr>
            <p:cNvPr id="42" name="Rectangle 41"/>
            <p:cNvSpPr/>
            <p:nvPr/>
          </p:nvSpPr>
          <p:spPr>
            <a:xfrm>
              <a:off x="6812279" y="2752344"/>
              <a:ext cx="54864" cy="493776"/>
            </a:xfrm>
            <a:prstGeom prst="rect">
              <a:avLst/>
            </a:prstGeom>
            <a:solidFill>
              <a:srgbClr val="6B5B4B"/>
            </a:solidFill>
            <a:ln>
              <a:noFill/>
            </a:ln>
          </p:spPr>
          <p:txBody>
            <a:bodyPr rtlCol="0" anchor="ctr"/>
            <a:lstStyle/>
            <a:p>
              <a:pPr algn="ctr"/>
              <a:endParaRPr/>
            </a:p>
          </p:txBody>
        </p:sp>
        <p:sp>
          <p:nvSpPr>
            <p:cNvPr id="43" name="Rectangle 42"/>
            <p:cNvSpPr/>
            <p:nvPr/>
          </p:nvSpPr>
          <p:spPr>
            <a:xfrm>
              <a:off x="7086599" y="2752344"/>
              <a:ext cx="54864" cy="493776"/>
            </a:xfrm>
            <a:prstGeom prst="rect">
              <a:avLst/>
            </a:prstGeom>
            <a:solidFill>
              <a:srgbClr val="6B5B4B"/>
            </a:solidFill>
            <a:ln>
              <a:noFill/>
            </a:ln>
          </p:spPr>
          <p:txBody>
            <a:bodyPr rtlCol="0" anchor="ctr"/>
            <a:lstStyle/>
            <a:p>
              <a:pPr algn="ctr"/>
              <a:endParaRPr/>
            </a:p>
          </p:txBody>
        </p:sp>
        <p:sp>
          <p:nvSpPr>
            <p:cNvPr id="44" name="Rectangle 43"/>
            <p:cNvSpPr/>
            <p:nvPr/>
          </p:nvSpPr>
          <p:spPr>
            <a:xfrm>
              <a:off x="7360919" y="2752344"/>
              <a:ext cx="54864" cy="493776"/>
            </a:xfrm>
            <a:prstGeom prst="rect">
              <a:avLst/>
            </a:prstGeom>
            <a:solidFill>
              <a:srgbClr val="6B5B4B"/>
            </a:solidFill>
            <a:ln>
              <a:noFill/>
            </a:ln>
          </p:spPr>
          <p:txBody>
            <a:bodyPr rtlCol="0" anchor="ctr"/>
            <a:lstStyle/>
            <a:p>
              <a:pPr algn="ctr"/>
              <a:endParaRPr/>
            </a:p>
          </p:txBody>
        </p:sp>
        <p:sp>
          <p:nvSpPr>
            <p:cNvPr id="45" name="Rectangle 44"/>
            <p:cNvSpPr/>
            <p:nvPr/>
          </p:nvSpPr>
          <p:spPr>
            <a:xfrm>
              <a:off x="6446519" y="2816352"/>
              <a:ext cx="1005840" cy="54864"/>
            </a:xfrm>
            <a:prstGeom prst="rect">
              <a:avLst/>
            </a:prstGeom>
            <a:solidFill>
              <a:srgbClr val="F28C28"/>
            </a:solidFill>
            <a:ln>
              <a:noFill/>
            </a:ln>
          </p:spPr>
          <p:txBody>
            <a:bodyPr rtlCol="0" anchor="ctr"/>
            <a:lstStyle/>
            <a:p>
              <a:pPr algn="ctr"/>
              <a:endParaRPr/>
            </a:p>
          </p:txBody>
        </p:sp>
        <p:sp>
          <p:nvSpPr>
            <p:cNvPr id="46" name="Rectangle 45"/>
            <p:cNvSpPr/>
            <p:nvPr/>
          </p:nvSpPr>
          <p:spPr>
            <a:xfrm>
              <a:off x="6446519" y="3127248"/>
              <a:ext cx="1005840" cy="54864"/>
            </a:xfrm>
            <a:prstGeom prst="rect">
              <a:avLst/>
            </a:prstGeom>
            <a:solidFill>
              <a:srgbClr val="F28C28"/>
            </a:solidFill>
            <a:ln>
              <a:noFill/>
            </a:ln>
          </p:spPr>
          <p:txBody>
            <a:bodyPr rtlCol="0" anchor="ctr"/>
            <a:lstStyle/>
            <a:p>
              <a:pPr algn="ctr"/>
              <a:endParaRPr/>
            </a:p>
          </p:txBody>
        </p:sp>
        <p:sp>
          <p:nvSpPr>
            <p:cNvPr id="47" name="Rounded Rectangle 46"/>
            <p:cNvSpPr/>
            <p:nvPr/>
          </p:nvSpPr>
          <p:spPr>
            <a:xfrm>
              <a:off x="7543799" y="2852928"/>
              <a:ext cx="1010411" cy="237744"/>
            </a:xfrm>
            <a:prstGeom prst="roundRect">
              <a:avLst>
                <a:gd name="adj" fmla="val 23076"/>
              </a:avLst>
            </a:prstGeom>
            <a:solidFill>
              <a:srgbClr val="6CA0DC"/>
            </a:solidFill>
            <a:ln>
              <a:noFill/>
            </a:ln>
          </p:spPr>
          <p:txBody>
            <a:bodyPr rtlCol="0" anchor="ctr"/>
            <a:lstStyle/>
            <a:p>
              <a:pPr algn="ctr"/>
              <a:endParaRPr/>
            </a:p>
          </p:txBody>
        </p:sp>
        <p:cxnSp>
          <p:nvCxnSpPr>
            <p:cNvPr id="48" name="Connector 47"/>
            <p:cNvCxnSpPr/>
            <p:nvPr/>
          </p:nvCxnSpPr>
          <p:spPr>
            <a:xfrm>
              <a:off x="7498079" y="2423160"/>
              <a:ext cx="0" cy="1097280"/>
            </a:xfrm>
            <a:prstGeom prst="line">
              <a:avLst/>
            </a:prstGeom>
            <a:ln w="31750">
              <a:solidFill>
                <a:srgbClr val="A9B0B8"/>
              </a:solidFill>
              <a:prstDash val="dash"/>
            </a:ln>
          </p:spPr>
        </p:cxnSp>
      </p:grpSp>
      <p:grpSp>
        <p:nvGrpSpPr>
          <p:cNvPr id="49" name="SCENARIO 4" descr="A junction where the line splits, with a dashed boundary and blue beams beyond it. Marked with a question mark."/>
          <p:cNvGrpSpPr/>
          <p:nvPr/>
        </p:nvGrpSpPr>
        <p:grpSpPr>
          <a:xfrm>
            <a:off x="8983980" y="1371600"/>
            <a:ext cx="2656332" cy="3520440"/>
            <a:chOff x="8983980" y="1371600"/>
            <a:chExt cx="2656332" cy="3520440"/>
          </a:xfrm>
        </p:grpSpPr>
        <p:sp>
          <p:nvSpPr>
            <p:cNvPr id="50" name="Rounded Rectangle 49"/>
            <p:cNvSpPr/>
            <p:nvPr/>
          </p:nvSpPr>
          <p:spPr>
            <a:xfrm>
              <a:off x="8983980" y="1371600"/>
              <a:ext cx="2656332" cy="3520440"/>
            </a:xfrm>
            <a:prstGeom prst="roundRect">
              <a:avLst>
                <a:gd name="adj" fmla="val 2753"/>
              </a:avLst>
            </a:prstGeom>
            <a:solidFill>
              <a:srgbClr val="2B2F36"/>
            </a:solidFill>
            <a:ln>
              <a:noFill/>
            </a:ln>
          </p:spPr>
          <p:txBody>
            <a:bodyPr rtlCol="0" anchor="ctr"/>
            <a:lstStyle/>
            <a:p>
              <a:pPr algn="ctr"/>
              <a:endParaRPr/>
            </a:p>
          </p:txBody>
        </p:sp>
        <p:sp>
          <p:nvSpPr>
            <p:cNvPr id="51" name="Rounded Rectangle 50"/>
            <p:cNvSpPr/>
            <p:nvPr/>
          </p:nvSpPr>
          <p:spPr>
            <a:xfrm>
              <a:off x="9093707" y="1965960"/>
              <a:ext cx="2436876" cy="2011680"/>
            </a:xfrm>
            <a:prstGeom prst="roundRect">
              <a:avLst>
                <a:gd name="adj" fmla="val 2727"/>
              </a:avLst>
            </a:prstGeom>
            <a:solidFill>
              <a:srgbClr val="1E2126"/>
            </a:solidFill>
            <a:ln>
              <a:noFill/>
            </a:ln>
          </p:spPr>
          <p:txBody>
            <a:bodyPr rtlCol="0" anchor="ctr"/>
            <a:lstStyle/>
            <a:p>
              <a:pPr algn="ctr"/>
              <a:endParaRPr/>
            </a:p>
          </p:txBody>
        </p:sp>
        <p:sp>
          <p:nvSpPr>
            <p:cNvPr id="52" name="QBADGE"/>
            <p:cNvSpPr/>
            <p:nvPr/>
          </p:nvSpPr>
          <p:spPr>
            <a:xfrm>
              <a:off x="11000232" y="1490472"/>
              <a:ext cx="457200" cy="457200"/>
            </a:xfrm>
            <a:prstGeom prst="ellipse">
              <a:avLst/>
            </a:prstGeom>
            <a:noFill/>
            <a:ln w="25400">
              <a:solidFill>
                <a:srgbClr val="A9B0B8"/>
              </a:solidFill>
            </a:ln>
          </p:spPr>
          <p:txBody>
            <a:bodyPr wrap="square" lIns="0" tIns="0" rIns="0" bIns="0" rtlCol="0" anchor="ctr">
              <a:noAutofit/>
            </a:bodyPr>
            <a:lstStyle/>
            <a:p>
              <a:pPr algn="ctr"/>
              <a:r>
                <a:rPr lang="en-GB" sz="2200" b="1" i="0">
                  <a:solidFill>
                    <a:srgbClr val="F2F2F2"/>
                  </a:solidFill>
                  <a:latin typeface="Arial"/>
                </a:rPr>
                <a:t>?</a:t>
              </a:r>
            </a:p>
          </p:txBody>
        </p:sp>
        <p:sp>
          <p:nvSpPr>
            <p:cNvPr id="53" name="TextBox 52"/>
            <p:cNvSpPr txBox="1"/>
            <p:nvPr/>
          </p:nvSpPr>
          <p:spPr>
            <a:xfrm>
              <a:off x="9075419" y="4069080"/>
              <a:ext cx="2473451" cy="685800"/>
            </a:xfrm>
            <a:prstGeom prst="rect">
              <a:avLst/>
            </a:prstGeom>
            <a:noFill/>
          </p:spPr>
          <p:txBody>
            <a:bodyPr wrap="square" lIns="18288" tIns="9144" rIns="18288" bIns="9144" anchor="ctr">
              <a:noAutofit/>
            </a:bodyPr>
            <a:lstStyle/>
            <a:p>
              <a:pPr algn="ctr"/>
              <a:r>
                <a:rPr lang="en-GB" sz="2000" b="1" i="0">
                  <a:solidFill>
                    <a:srgbClr val="F2F2F2"/>
                  </a:solidFill>
                  <a:latin typeface="Arial"/>
                </a:rPr>
                <a:t>Junction boundary</a:t>
              </a:r>
            </a:p>
          </p:txBody>
        </p:sp>
        <p:sp>
          <p:nvSpPr>
            <p:cNvPr id="54" name="Freeform 53"/>
            <p:cNvSpPr/>
            <p:nvPr/>
          </p:nvSpPr>
          <p:spPr>
            <a:xfrm>
              <a:off x="9258300" y="2971800"/>
              <a:ext cx="868680" cy="0"/>
            </a:xfrm>
            <a:custGeom>
              <a:avLst/>
              <a:gdLst/>
              <a:ahLst/>
              <a:cxnLst/>
              <a:rect l="l" t="t" r="r" b="b"/>
              <a:pathLst>
                <a:path w="868680">
                  <a:moveTo>
                    <a:pt x="0" y="0"/>
                  </a:moveTo>
                  <a:lnTo>
                    <a:pt x="868680" y="0"/>
                  </a:lnTo>
                </a:path>
              </a:pathLst>
            </a:custGeom>
            <a:noFill/>
            <a:ln w="88900">
              <a:solidFill>
                <a:srgbClr val="F28C28"/>
              </a:solidFill>
            </a:ln>
          </p:spPr>
          <p:txBody>
            <a:bodyPr rtlCol="0" anchor="ctr"/>
            <a:lstStyle/>
            <a:p>
              <a:pPr algn="ctr"/>
              <a:endParaRPr/>
            </a:p>
          </p:txBody>
        </p:sp>
        <p:sp>
          <p:nvSpPr>
            <p:cNvPr id="55" name="Freeform 54"/>
            <p:cNvSpPr/>
            <p:nvPr/>
          </p:nvSpPr>
          <p:spPr>
            <a:xfrm>
              <a:off x="10126980" y="2514600"/>
              <a:ext cx="1239012" cy="457200"/>
            </a:xfrm>
            <a:custGeom>
              <a:avLst/>
              <a:gdLst/>
              <a:ahLst/>
              <a:cxnLst/>
              <a:rect l="l" t="t" r="r" b="b"/>
              <a:pathLst>
                <a:path w="1239012" h="457200">
                  <a:moveTo>
                    <a:pt x="0" y="457200"/>
                  </a:moveTo>
                  <a:lnTo>
                    <a:pt x="457200" y="0"/>
                  </a:lnTo>
                  <a:lnTo>
                    <a:pt x="1239012" y="0"/>
                  </a:lnTo>
                </a:path>
              </a:pathLst>
            </a:custGeom>
            <a:noFill/>
            <a:ln w="88900">
              <a:solidFill>
                <a:srgbClr val="6CA0DC"/>
              </a:solidFill>
            </a:ln>
          </p:spPr>
          <p:txBody>
            <a:bodyPr rtlCol="0" anchor="ctr"/>
            <a:lstStyle/>
            <a:p>
              <a:pPr algn="ctr"/>
              <a:endParaRPr/>
            </a:p>
          </p:txBody>
        </p:sp>
        <p:sp>
          <p:nvSpPr>
            <p:cNvPr id="56" name="Freeform 55"/>
            <p:cNvSpPr/>
            <p:nvPr/>
          </p:nvSpPr>
          <p:spPr>
            <a:xfrm>
              <a:off x="10126980" y="2971800"/>
              <a:ext cx="1239012" cy="457200"/>
            </a:xfrm>
            <a:custGeom>
              <a:avLst/>
              <a:gdLst/>
              <a:ahLst/>
              <a:cxnLst/>
              <a:rect l="l" t="t" r="r" b="b"/>
              <a:pathLst>
                <a:path w="1239012" h="457200">
                  <a:moveTo>
                    <a:pt x="0" y="0"/>
                  </a:moveTo>
                  <a:lnTo>
                    <a:pt x="457200" y="457200"/>
                  </a:lnTo>
                  <a:lnTo>
                    <a:pt x="1239012" y="457200"/>
                  </a:lnTo>
                </a:path>
              </a:pathLst>
            </a:custGeom>
            <a:noFill/>
            <a:ln w="88900">
              <a:solidFill>
                <a:srgbClr val="6CA0DC"/>
              </a:solidFill>
            </a:ln>
          </p:spPr>
          <p:txBody>
            <a:bodyPr rtlCol="0" anchor="ctr"/>
            <a:lstStyle/>
            <a:p>
              <a:pPr algn="ctr"/>
              <a:endParaRPr/>
            </a:p>
          </p:txBody>
        </p:sp>
        <p:cxnSp>
          <p:nvCxnSpPr>
            <p:cNvPr id="57" name="Connector 56"/>
            <p:cNvCxnSpPr/>
            <p:nvPr/>
          </p:nvCxnSpPr>
          <p:spPr>
            <a:xfrm>
              <a:off x="10291572" y="2194560"/>
              <a:ext cx="0" cy="1554479"/>
            </a:xfrm>
            <a:prstGeom prst="line">
              <a:avLst/>
            </a:prstGeom>
            <a:ln w="31750">
              <a:solidFill>
                <a:srgbClr val="A9B0B8"/>
              </a:solidFill>
              <a:prstDash val="dash"/>
            </a:ln>
          </p:spPr>
        </p:cxnSp>
      </p:grpSp>
      <p:sp>
        <p:nvSpPr>
          <p:cNvPr id="58" name="FOOTER"/>
          <p:cNvSpPr txBox="1"/>
          <p:nvPr/>
        </p:nvSpPr>
        <p:spPr>
          <a:xfrm>
            <a:off x="9784080" y="5074920"/>
            <a:ext cx="1856231"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OQ12</a:t>
            </a:r>
          </a:p>
        </p:txBody>
      </p:sp>
      <p:sp>
        <p:nvSpPr>
          <p:cNvPr id="5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6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61"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Some cases still need answers: busy track, stranded trains, half-converted lines.</a:t>
            </a:r>
          </a:p>
        </p:txBody>
      </p:sp>
      <p:sp>
        <p:nvSpPr>
          <p:cNvPr id="62"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16</a:t>
            </a:r>
          </a:p>
        </p:txBody>
      </p:sp>
    </p:spTree>
    <p:extLst>
      <p:ext uri="{BB962C8B-B14F-4D97-AF65-F5344CB8AC3E}">
        <p14:creationId xmlns:p14="http://schemas.microsoft.com/office/powerpoint/2010/main" val="28244552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25"/>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nodeType="withEffect">
                                  <p:stCondLst>
                                    <p:cond delay="45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nodeType="withEffect">
                                  <p:stCondLst>
                                    <p:cond delay="675"/>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par>
                                <p:cTn id="17" presetID="10" presetClass="entr" presetSubtype="0" fill="hold" nodeType="withEffect">
                                  <p:stCondLst>
                                    <p:cond delay="900"/>
                                  </p:stCondLst>
                                  <p:childTnLst>
                                    <p:set>
                                      <p:cBhvr>
                                        <p:cTn id="18" dur="1" fill="hold">
                                          <p:stCondLst>
                                            <p:cond delay="0"/>
                                          </p:stCondLst>
                                        </p:cTn>
                                        <p:tgtEl>
                                          <p:spTgt spid="58"/>
                                        </p:tgtEl>
                                        <p:attrNameLst>
                                          <p:attrName>style.visibility</p:attrName>
                                        </p:attrNameLst>
                                      </p:cBhvr>
                                      <p:to>
                                        <p:strVal val="visible"/>
                                      </p:to>
                                    </p:set>
                                    <p:animEffect transition="in" filter="fade">
                                      <p:cBhvr>
                                        <p:cTn id="19" dur="500"/>
                                        <p:tgtEl>
                                          <p:spTgt spid="58"/>
                                        </p:tgtEl>
                                      </p:cBhvr>
                                    </p:animEffect>
                                  </p:childTnLst>
                                </p:cTn>
                              </p:par>
                              <p:par>
                                <p:cTn id="20" presetID="10" presetClass="entr" presetSubtype="0" fill="hold" nodeType="withEffect">
                                  <p:stCondLst>
                                    <p:cond delay="1125"/>
                                  </p:stCondLst>
                                  <p:childTnLst>
                                    <p:set>
                                      <p:cBhvr>
                                        <p:cTn id="21" dur="1" fill="hold">
                                          <p:stCondLst>
                                            <p:cond delay="0"/>
                                          </p:stCondLst>
                                        </p:cTn>
                                        <p:tgtEl>
                                          <p:spTgt spid="59"/>
                                        </p:tgtEl>
                                        <p:attrNameLst>
                                          <p:attrName>style.visibility</p:attrName>
                                        </p:attrNameLst>
                                      </p:cBhvr>
                                      <p:to>
                                        <p:strVal val="visible"/>
                                      </p:to>
                                    </p:set>
                                    <p:animEffect transition="in" filter="fade">
                                      <p:cBhvr>
                                        <p:cTn id="22" dur="500"/>
                                        <p:tgtEl>
                                          <p:spTgt spid="59"/>
                                        </p:tgtEl>
                                      </p:cBhvr>
                                    </p:animEffect>
                                  </p:childTnLst>
                                </p:cTn>
                              </p:par>
                              <p:par>
                                <p:cTn id="23" presetID="10" presetClass="entr" presetSubtype="0" fill="hold" nodeType="withEffect">
                                  <p:stCondLst>
                                    <p:cond delay="1350"/>
                                  </p:stCondLst>
                                  <p:childTnLst>
                                    <p:set>
                                      <p:cBhvr>
                                        <p:cTn id="24" dur="1" fill="hold">
                                          <p:stCondLst>
                                            <p:cond delay="0"/>
                                          </p:stCondLst>
                                        </p:cTn>
                                        <p:tgtEl>
                                          <p:spTgt spid="60"/>
                                        </p:tgtEl>
                                        <p:attrNameLst>
                                          <p:attrName>style.visibility</p:attrName>
                                        </p:attrNameLst>
                                      </p:cBhvr>
                                      <p:to>
                                        <p:strVal val="visible"/>
                                      </p:to>
                                    </p:set>
                                    <p:animEffect transition="in" filter="fade">
                                      <p:cBhvr>
                                        <p:cTn id="25" dur="500"/>
                                        <p:tgtEl>
                                          <p:spTgt spid="60"/>
                                        </p:tgtEl>
                                      </p:cBhvr>
                                    </p:animEffect>
                                  </p:childTnLst>
                                </p:cTn>
                              </p:par>
                              <p:par>
                                <p:cTn id="26" presetID="10" presetClass="entr" presetSubtype="0" fill="hold" nodeType="withEffect">
                                  <p:stCondLst>
                                    <p:cond delay="1575"/>
                                  </p:stCondLst>
                                  <p:childTnLst>
                                    <p:set>
                                      <p:cBhvr>
                                        <p:cTn id="27" dur="1" fill="hold">
                                          <p:stCondLst>
                                            <p:cond delay="0"/>
                                          </p:stCondLst>
                                        </p:cTn>
                                        <p:tgtEl>
                                          <p:spTgt spid="61"/>
                                        </p:tgtEl>
                                        <p:attrNameLst>
                                          <p:attrName>style.visibility</p:attrName>
                                        </p:attrNameLst>
                                      </p:cBhvr>
                                      <p:to>
                                        <p:strVal val="visible"/>
                                      </p:to>
                                    </p:set>
                                    <p:animEffect transition="in" filter="fade">
                                      <p:cBhvr>
                                        <p:cTn id="28"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Costs, refunds and undo</a:t>
            </a:r>
          </a:p>
        </p:txBody>
      </p:sp>
      <p:sp>
        <p:nvSpPr>
          <p:cNvPr id="3" name="CHIP"/>
          <p:cNvSpPr/>
          <p:nvPr/>
        </p:nvSpPr>
        <p:spPr>
          <a:xfrm>
            <a:off x="10088575" y="548640"/>
            <a:ext cx="1554480" cy="365760"/>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a:t>
            </a:r>
          </a:p>
        </p:txBody>
      </p:sp>
      <p:grpSp>
        <p:nvGrpSpPr>
          <p:cNvPr id="4" name="QUESTION 1" descr="Question card: cost and refund. Two small stacks of plates with arrows both ways."/>
          <p:cNvGrpSpPr/>
          <p:nvPr/>
        </p:nvGrpSpPr>
        <p:grpSpPr>
          <a:xfrm>
            <a:off x="548640" y="1417320"/>
            <a:ext cx="3545128" cy="3566160"/>
            <a:chOff x="548640" y="1417320"/>
            <a:chExt cx="3545128" cy="3566160"/>
          </a:xfrm>
        </p:grpSpPr>
        <p:sp>
          <p:nvSpPr>
            <p:cNvPr id="5" name="Rounded Rectangle 4"/>
            <p:cNvSpPr/>
            <p:nvPr/>
          </p:nvSpPr>
          <p:spPr>
            <a:xfrm>
              <a:off x="548640" y="1417320"/>
              <a:ext cx="3545128" cy="3566160"/>
            </a:xfrm>
            <a:prstGeom prst="roundRect">
              <a:avLst>
                <a:gd name="adj" fmla="val 2063"/>
              </a:avLst>
            </a:prstGeom>
            <a:solidFill>
              <a:srgbClr val="2B2F36"/>
            </a:solidFill>
            <a:ln>
              <a:noFill/>
            </a:ln>
          </p:spPr>
          <p:txBody>
            <a:bodyPr rtlCol="0" anchor="ctr"/>
            <a:lstStyle/>
            <a:p>
              <a:pPr algn="ctr"/>
              <a:endParaRPr/>
            </a:p>
          </p:txBody>
        </p:sp>
        <p:sp>
          <p:nvSpPr>
            <p:cNvPr id="6" name="TextBox 5"/>
            <p:cNvSpPr txBox="1"/>
            <p:nvPr/>
          </p:nvSpPr>
          <p:spPr>
            <a:xfrm>
              <a:off x="685800" y="3886200"/>
              <a:ext cx="3270808" cy="822960"/>
            </a:xfrm>
            <a:prstGeom prst="rect">
              <a:avLst/>
            </a:prstGeom>
            <a:noFill/>
          </p:spPr>
          <p:txBody>
            <a:bodyPr wrap="square" lIns="18288" tIns="9144" rIns="18288" bIns="9144" anchor="ctr">
              <a:noAutofit/>
            </a:bodyPr>
            <a:lstStyle/>
            <a:p>
              <a:pPr algn="ctr"/>
              <a:r>
                <a:rPr lang="en-GB" sz="2600" b="1" i="0">
                  <a:solidFill>
                    <a:srgbClr val="F2F2F2"/>
                  </a:solidFill>
                  <a:latin typeface="Arial"/>
                </a:rPr>
                <a:t>Cost and refund?</a:t>
              </a:r>
            </a:p>
          </p:txBody>
        </p:sp>
        <p:sp>
          <p:nvSpPr>
            <p:cNvPr id="7" name="Rounded Rectangle 6"/>
            <p:cNvSpPr/>
            <p:nvPr/>
          </p:nvSpPr>
          <p:spPr>
            <a:xfrm>
              <a:off x="812444" y="3063240"/>
              <a:ext cx="1005840" cy="237744"/>
            </a:xfrm>
            <a:prstGeom prst="roundRect">
              <a:avLst>
                <a:gd name="adj" fmla="val 19230"/>
              </a:avLst>
            </a:prstGeom>
            <a:solidFill>
              <a:srgbClr val="9AA0A6"/>
            </a:solidFill>
            <a:ln>
              <a:noFill/>
            </a:ln>
          </p:spPr>
          <p:txBody>
            <a:bodyPr rtlCol="0" anchor="ctr"/>
            <a:lstStyle/>
            <a:p>
              <a:pPr algn="ctr"/>
              <a:endParaRPr/>
            </a:p>
          </p:txBody>
        </p:sp>
        <p:sp>
          <p:nvSpPr>
            <p:cNvPr id="8" name="Rounded Rectangle 7"/>
            <p:cNvSpPr/>
            <p:nvPr/>
          </p:nvSpPr>
          <p:spPr>
            <a:xfrm>
              <a:off x="2824124" y="3063240"/>
              <a:ext cx="1005840" cy="237744"/>
            </a:xfrm>
            <a:prstGeom prst="roundRect">
              <a:avLst>
                <a:gd name="adj" fmla="val 19230"/>
              </a:avLst>
            </a:prstGeom>
            <a:solidFill>
              <a:srgbClr val="9AA0A6"/>
            </a:solidFill>
            <a:ln>
              <a:noFill/>
            </a:ln>
          </p:spPr>
          <p:txBody>
            <a:bodyPr rtlCol="0" anchor="ctr"/>
            <a:lstStyle/>
            <a:p>
              <a:pPr algn="ctr"/>
              <a:endParaRPr/>
            </a:p>
          </p:txBody>
        </p:sp>
        <p:sp>
          <p:nvSpPr>
            <p:cNvPr id="9" name="Rounded Rectangle 8"/>
            <p:cNvSpPr/>
            <p:nvPr/>
          </p:nvSpPr>
          <p:spPr>
            <a:xfrm>
              <a:off x="812444" y="2770632"/>
              <a:ext cx="1005840" cy="237744"/>
            </a:xfrm>
            <a:prstGeom prst="roundRect">
              <a:avLst>
                <a:gd name="adj" fmla="val 19230"/>
              </a:avLst>
            </a:prstGeom>
            <a:solidFill>
              <a:srgbClr val="9AA0A6"/>
            </a:solidFill>
            <a:ln>
              <a:noFill/>
            </a:ln>
          </p:spPr>
          <p:txBody>
            <a:bodyPr rtlCol="0" anchor="ctr"/>
            <a:lstStyle/>
            <a:p>
              <a:pPr algn="ctr"/>
              <a:endParaRPr/>
            </a:p>
          </p:txBody>
        </p:sp>
        <p:sp>
          <p:nvSpPr>
            <p:cNvPr id="10" name="Rounded Rectangle 9"/>
            <p:cNvSpPr/>
            <p:nvPr/>
          </p:nvSpPr>
          <p:spPr>
            <a:xfrm>
              <a:off x="2824124" y="2770632"/>
              <a:ext cx="1005840" cy="237744"/>
            </a:xfrm>
            <a:prstGeom prst="roundRect">
              <a:avLst>
                <a:gd name="adj" fmla="val 19230"/>
              </a:avLst>
            </a:prstGeom>
            <a:solidFill>
              <a:srgbClr val="9AA0A6"/>
            </a:solidFill>
            <a:ln>
              <a:noFill/>
            </a:ln>
          </p:spPr>
          <p:txBody>
            <a:bodyPr rtlCol="0" anchor="ctr"/>
            <a:lstStyle/>
            <a:p>
              <a:pPr algn="ctr"/>
              <a:endParaRPr/>
            </a:p>
          </p:txBody>
        </p:sp>
        <p:sp>
          <p:nvSpPr>
            <p:cNvPr id="11" name="Rounded Rectangle 10"/>
            <p:cNvSpPr/>
            <p:nvPr/>
          </p:nvSpPr>
          <p:spPr>
            <a:xfrm>
              <a:off x="812444" y="2478024"/>
              <a:ext cx="1005840" cy="237744"/>
            </a:xfrm>
            <a:prstGeom prst="roundRect">
              <a:avLst>
                <a:gd name="adj" fmla="val 19230"/>
              </a:avLst>
            </a:prstGeom>
            <a:solidFill>
              <a:srgbClr val="9AA0A6"/>
            </a:solidFill>
            <a:ln>
              <a:noFill/>
            </a:ln>
          </p:spPr>
          <p:txBody>
            <a:bodyPr rtlCol="0" anchor="ctr"/>
            <a:lstStyle/>
            <a:p>
              <a:pPr algn="ctr"/>
              <a:endParaRPr/>
            </a:p>
          </p:txBody>
        </p:sp>
        <p:sp>
          <p:nvSpPr>
            <p:cNvPr id="12" name="Rounded Rectangle 11"/>
            <p:cNvSpPr/>
            <p:nvPr/>
          </p:nvSpPr>
          <p:spPr>
            <a:xfrm>
              <a:off x="2824124" y="2478024"/>
              <a:ext cx="1005840" cy="237744"/>
            </a:xfrm>
            <a:prstGeom prst="roundRect">
              <a:avLst>
                <a:gd name="adj" fmla="val 19230"/>
              </a:avLst>
            </a:prstGeom>
            <a:solidFill>
              <a:srgbClr val="9AA0A6"/>
            </a:solidFill>
            <a:ln>
              <a:noFill/>
            </a:ln>
          </p:spPr>
          <p:txBody>
            <a:bodyPr rtlCol="0" anchor="ctr"/>
            <a:lstStyle/>
            <a:p>
              <a:pPr algn="ctr"/>
              <a:endParaRPr/>
            </a:p>
          </p:txBody>
        </p:sp>
        <p:cxnSp>
          <p:nvCxnSpPr>
            <p:cNvPr id="13" name="Connector 12"/>
            <p:cNvCxnSpPr/>
            <p:nvPr/>
          </p:nvCxnSpPr>
          <p:spPr>
            <a:xfrm>
              <a:off x="1955444" y="2560320"/>
              <a:ext cx="731520" cy="0"/>
            </a:xfrm>
            <a:prstGeom prst="line">
              <a:avLst/>
            </a:prstGeom>
            <a:ln w="50800">
              <a:solidFill>
                <a:srgbClr val="F28C28"/>
              </a:solidFill>
              <a:tailEnd type="triangle" w="med" len="med"/>
            </a:ln>
          </p:spPr>
        </p:cxnSp>
        <p:cxnSp>
          <p:nvCxnSpPr>
            <p:cNvPr id="14" name="Connector 13"/>
            <p:cNvCxnSpPr/>
            <p:nvPr/>
          </p:nvCxnSpPr>
          <p:spPr>
            <a:xfrm flipH="1">
              <a:off x="1955444" y="3017520"/>
              <a:ext cx="731520" cy="0"/>
            </a:xfrm>
            <a:prstGeom prst="line">
              <a:avLst/>
            </a:prstGeom>
            <a:ln w="50800">
              <a:solidFill>
                <a:srgbClr val="F28C28"/>
              </a:solidFill>
              <a:tailEnd type="triangle" w="med" len="med"/>
            </a:ln>
          </p:spPr>
        </p:cxnSp>
      </p:grpSp>
      <p:grpSp>
        <p:nvGrpSpPr>
          <p:cNvPr id="15" name="QUESTION 2" descr="Question card: undo or recovery. A circular undo arrow."/>
          <p:cNvGrpSpPr/>
          <p:nvPr/>
        </p:nvGrpSpPr>
        <p:grpSpPr>
          <a:xfrm>
            <a:off x="4322368" y="1417320"/>
            <a:ext cx="3545128" cy="3566160"/>
            <a:chOff x="4322368" y="1417320"/>
            <a:chExt cx="3545128" cy="3566160"/>
          </a:xfrm>
        </p:grpSpPr>
        <p:sp>
          <p:nvSpPr>
            <p:cNvPr id="16" name="Rounded Rectangle 15"/>
            <p:cNvSpPr/>
            <p:nvPr/>
          </p:nvSpPr>
          <p:spPr>
            <a:xfrm>
              <a:off x="4322368" y="1417320"/>
              <a:ext cx="3545128" cy="3566160"/>
            </a:xfrm>
            <a:prstGeom prst="roundRect">
              <a:avLst>
                <a:gd name="adj" fmla="val 2063"/>
              </a:avLst>
            </a:prstGeom>
            <a:solidFill>
              <a:srgbClr val="2B2F36"/>
            </a:solidFill>
            <a:ln>
              <a:noFill/>
            </a:ln>
          </p:spPr>
          <p:txBody>
            <a:bodyPr rtlCol="0" anchor="ctr"/>
            <a:lstStyle/>
            <a:p>
              <a:pPr algn="ctr"/>
              <a:endParaRPr/>
            </a:p>
          </p:txBody>
        </p:sp>
        <p:sp>
          <p:nvSpPr>
            <p:cNvPr id="17" name="TextBox 16"/>
            <p:cNvSpPr txBox="1"/>
            <p:nvPr/>
          </p:nvSpPr>
          <p:spPr>
            <a:xfrm>
              <a:off x="4459528" y="3886200"/>
              <a:ext cx="3270808" cy="822960"/>
            </a:xfrm>
            <a:prstGeom prst="rect">
              <a:avLst/>
            </a:prstGeom>
            <a:noFill/>
          </p:spPr>
          <p:txBody>
            <a:bodyPr wrap="square" lIns="18288" tIns="9144" rIns="18288" bIns="9144" anchor="ctr">
              <a:noAutofit/>
            </a:bodyPr>
            <a:lstStyle/>
            <a:p>
              <a:pPr algn="ctr"/>
              <a:r>
                <a:rPr lang="en-GB" sz="2600" b="1" i="0">
                  <a:solidFill>
                    <a:srgbClr val="F2F2F2"/>
                  </a:solidFill>
                  <a:latin typeface="Arial"/>
                </a:rPr>
                <a:t>Undo or recovery?</a:t>
              </a:r>
            </a:p>
          </p:txBody>
        </p:sp>
        <p:sp>
          <p:nvSpPr>
            <p:cNvPr id="18" name="Freeform 17"/>
            <p:cNvSpPr/>
            <p:nvPr/>
          </p:nvSpPr>
          <p:spPr>
            <a:xfrm>
              <a:off x="5363963" y="2013246"/>
              <a:ext cx="1393952" cy="1461439"/>
            </a:xfrm>
            <a:custGeom>
              <a:avLst/>
              <a:gdLst/>
              <a:ahLst/>
              <a:cxnLst/>
              <a:rect l="l" t="t" r="r" b="b"/>
              <a:pathLst>
                <a:path w="1393952" h="1461439">
                  <a:moveTo>
                    <a:pt x="1393952" y="420800"/>
                  </a:moveTo>
                  <a:lnTo>
                    <a:pt x="1346973" y="335414"/>
                  </a:lnTo>
                  <a:lnTo>
                    <a:pt x="1289060" y="257030"/>
                  </a:lnTo>
                  <a:lnTo>
                    <a:pt x="1221242" y="187041"/>
                  </a:lnTo>
                  <a:lnTo>
                    <a:pt x="1144722" y="126687"/>
                  </a:lnTo>
                  <a:lnTo>
                    <a:pt x="1060859" y="77041"/>
                  </a:lnTo>
                  <a:lnTo>
                    <a:pt x="971140" y="38983"/>
                  </a:lnTo>
                  <a:lnTo>
                    <a:pt x="877159" y="13190"/>
                  </a:lnTo>
                  <a:lnTo>
                    <a:pt x="780583" y="118"/>
                  </a:lnTo>
                  <a:lnTo>
                    <a:pt x="683126" y="0"/>
                  </a:lnTo>
                  <a:lnTo>
                    <a:pt x="586518" y="12838"/>
                  </a:lnTo>
                  <a:lnTo>
                    <a:pt x="492475" y="38403"/>
                  </a:lnTo>
                  <a:lnTo>
                    <a:pt x="402664" y="76243"/>
                  </a:lnTo>
                  <a:lnTo>
                    <a:pt x="318681" y="125686"/>
                  </a:lnTo>
                  <a:lnTo>
                    <a:pt x="242015" y="185854"/>
                  </a:lnTo>
                  <a:lnTo>
                    <a:pt x="174027" y="255679"/>
                  </a:lnTo>
                  <a:lnTo>
                    <a:pt x="115925" y="333922"/>
                  </a:lnTo>
                  <a:lnTo>
                    <a:pt x="68739" y="419194"/>
                  </a:lnTo>
                  <a:lnTo>
                    <a:pt x="33307" y="509981"/>
                  </a:lnTo>
                  <a:lnTo>
                    <a:pt x="10257" y="604673"/>
                  </a:lnTo>
                  <a:lnTo>
                    <a:pt x="0" y="701589"/>
                  </a:lnTo>
                  <a:lnTo>
                    <a:pt x="2716" y="799007"/>
                  </a:lnTo>
                  <a:lnTo>
                    <a:pt x="18358" y="895201"/>
                  </a:lnTo>
                  <a:lnTo>
                    <a:pt x="46649" y="988461"/>
                  </a:lnTo>
                  <a:lnTo>
                    <a:pt x="87085" y="1077133"/>
                  </a:lnTo>
                  <a:lnTo>
                    <a:pt x="138949" y="1159643"/>
                  </a:lnTo>
                  <a:lnTo>
                    <a:pt x="201321" y="1234527"/>
                  </a:lnTo>
                  <a:lnTo>
                    <a:pt x="273094" y="1300455"/>
                  </a:lnTo>
                  <a:lnTo>
                    <a:pt x="352994" y="1356257"/>
                  </a:lnTo>
                  <a:lnTo>
                    <a:pt x="439602" y="1400943"/>
                  </a:lnTo>
                  <a:lnTo>
                    <a:pt x="531382" y="1433719"/>
                  </a:lnTo>
                  <a:lnTo>
                    <a:pt x="626704" y="1454005"/>
                  </a:lnTo>
                  <a:lnTo>
                    <a:pt x="723877" y="1461439"/>
                  </a:lnTo>
                  <a:lnTo>
                    <a:pt x="821175" y="1455890"/>
                  </a:lnTo>
                  <a:lnTo>
                    <a:pt x="916873" y="1437457"/>
                  </a:lnTo>
                  <a:lnTo>
                    <a:pt x="1009271" y="1406466"/>
                  </a:lnTo>
                  <a:lnTo>
                    <a:pt x="1096730" y="1363468"/>
                  </a:lnTo>
                </a:path>
              </a:pathLst>
            </a:custGeom>
            <a:noFill/>
            <a:ln w="76200">
              <a:solidFill>
                <a:srgbClr val="F28C28"/>
              </a:solidFill>
              <a:tailEnd type="triangle" w="med" len="med"/>
            </a:ln>
          </p:spPr>
          <p:txBody>
            <a:bodyPr rtlCol="0" anchor="ctr"/>
            <a:lstStyle/>
            <a:p>
              <a:pPr algn="ctr"/>
              <a:endParaRPr/>
            </a:p>
          </p:txBody>
        </p:sp>
      </p:grpSp>
      <p:grpSp>
        <p:nvGrpSpPr>
          <p:cNvPr id="19" name="QUESTION 3" descr="Question card: longest piece. A short piece of track with a measuring line."/>
          <p:cNvGrpSpPr/>
          <p:nvPr/>
        </p:nvGrpSpPr>
        <p:grpSpPr>
          <a:xfrm>
            <a:off x="8096097" y="1417320"/>
            <a:ext cx="3545128" cy="3566160"/>
            <a:chOff x="8096097" y="1417320"/>
            <a:chExt cx="3545128" cy="3566160"/>
          </a:xfrm>
        </p:grpSpPr>
        <p:sp>
          <p:nvSpPr>
            <p:cNvPr id="20" name="Rounded Rectangle 19"/>
            <p:cNvSpPr/>
            <p:nvPr/>
          </p:nvSpPr>
          <p:spPr>
            <a:xfrm>
              <a:off x="8096097" y="1417320"/>
              <a:ext cx="3545128" cy="3566160"/>
            </a:xfrm>
            <a:prstGeom prst="roundRect">
              <a:avLst>
                <a:gd name="adj" fmla="val 2063"/>
              </a:avLst>
            </a:prstGeom>
            <a:solidFill>
              <a:srgbClr val="2B2F36"/>
            </a:solidFill>
            <a:ln>
              <a:noFill/>
            </a:ln>
          </p:spPr>
          <p:txBody>
            <a:bodyPr rtlCol="0" anchor="ctr"/>
            <a:lstStyle/>
            <a:p>
              <a:pPr algn="ctr"/>
              <a:endParaRPr/>
            </a:p>
          </p:txBody>
        </p:sp>
        <p:sp>
          <p:nvSpPr>
            <p:cNvPr id="21" name="TextBox 20"/>
            <p:cNvSpPr txBox="1"/>
            <p:nvPr/>
          </p:nvSpPr>
          <p:spPr>
            <a:xfrm>
              <a:off x="8233257" y="3886200"/>
              <a:ext cx="3270808" cy="822960"/>
            </a:xfrm>
            <a:prstGeom prst="rect">
              <a:avLst/>
            </a:prstGeom>
            <a:noFill/>
          </p:spPr>
          <p:txBody>
            <a:bodyPr wrap="square" lIns="18288" tIns="9144" rIns="18288" bIns="9144" anchor="ctr">
              <a:noAutofit/>
            </a:bodyPr>
            <a:lstStyle/>
            <a:p>
              <a:pPr algn="ctr"/>
              <a:r>
                <a:rPr lang="en-GB" sz="2600" b="1" i="0">
                  <a:solidFill>
                    <a:srgbClr val="F2F2F2"/>
                  </a:solidFill>
                  <a:latin typeface="Arial"/>
                </a:rPr>
                <a:t>Longest piece?</a:t>
              </a:r>
            </a:p>
          </p:txBody>
        </p:sp>
        <p:sp>
          <p:nvSpPr>
            <p:cNvPr id="22" name="Rectangle 21"/>
            <p:cNvSpPr/>
            <p:nvPr/>
          </p:nvSpPr>
          <p:spPr>
            <a:xfrm>
              <a:off x="8497061" y="2313432"/>
              <a:ext cx="54864" cy="530352"/>
            </a:xfrm>
            <a:prstGeom prst="rect">
              <a:avLst/>
            </a:prstGeom>
            <a:solidFill>
              <a:srgbClr val="6B5B4B"/>
            </a:solidFill>
            <a:ln>
              <a:noFill/>
            </a:ln>
          </p:spPr>
          <p:txBody>
            <a:bodyPr rtlCol="0" anchor="ctr"/>
            <a:lstStyle/>
            <a:p>
              <a:pPr algn="ctr"/>
              <a:endParaRPr/>
            </a:p>
          </p:txBody>
        </p:sp>
        <p:sp>
          <p:nvSpPr>
            <p:cNvPr id="23" name="Rectangle 22"/>
            <p:cNvSpPr/>
            <p:nvPr/>
          </p:nvSpPr>
          <p:spPr>
            <a:xfrm>
              <a:off x="8862822" y="2313432"/>
              <a:ext cx="54864" cy="530352"/>
            </a:xfrm>
            <a:prstGeom prst="rect">
              <a:avLst/>
            </a:prstGeom>
            <a:solidFill>
              <a:srgbClr val="6B5B4B"/>
            </a:solidFill>
            <a:ln>
              <a:noFill/>
            </a:ln>
          </p:spPr>
          <p:txBody>
            <a:bodyPr rtlCol="0" anchor="ctr"/>
            <a:lstStyle/>
            <a:p>
              <a:pPr algn="ctr"/>
              <a:endParaRPr/>
            </a:p>
          </p:txBody>
        </p:sp>
        <p:sp>
          <p:nvSpPr>
            <p:cNvPr id="24" name="Rectangle 23"/>
            <p:cNvSpPr/>
            <p:nvPr/>
          </p:nvSpPr>
          <p:spPr>
            <a:xfrm>
              <a:off x="9228582" y="2313432"/>
              <a:ext cx="54864" cy="530352"/>
            </a:xfrm>
            <a:prstGeom prst="rect">
              <a:avLst/>
            </a:prstGeom>
            <a:solidFill>
              <a:srgbClr val="6B5B4B"/>
            </a:solidFill>
            <a:ln>
              <a:noFill/>
            </a:ln>
          </p:spPr>
          <p:txBody>
            <a:bodyPr rtlCol="0" anchor="ctr"/>
            <a:lstStyle/>
            <a:p>
              <a:pPr algn="ctr"/>
              <a:endParaRPr/>
            </a:p>
          </p:txBody>
        </p:sp>
        <p:sp>
          <p:nvSpPr>
            <p:cNvPr id="25" name="Rectangle 24"/>
            <p:cNvSpPr/>
            <p:nvPr/>
          </p:nvSpPr>
          <p:spPr>
            <a:xfrm>
              <a:off x="9594342" y="2313432"/>
              <a:ext cx="54864" cy="530352"/>
            </a:xfrm>
            <a:prstGeom prst="rect">
              <a:avLst/>
            </a:prstGeom>
            <a:solidFill>
              <a:srgbClr val="6B5B4B"/>
            </a:solidFill>
            <a:ln>
              <a:noFill/>
            </a:ln>
          </p:spPr>
          <p:txBody>
            <a:bodyPr rtlCol="0" anchor="ctr"/>
            <a:lstStyle/>
            <a:p>
              <a:pPr algn="ctr"/>
              <a:endParaRPr/>
            </a:p>
          </p:txBody>
        </p:sp>
        <p:sp>
          <p:nvSpPr>
            <p:cNvPr id="26" name="Rectangle 25"/>
            <p:cNvSpPr/>
            <p:nvPr/>
          </p:nvSpPr>
          <p:spPr>
            <a:xfrm>
              <a:off x="9960102" y="2313432"/>
              <a:ext cx="54864" cy="530352"/>
            </a:xfrm>
            <a:prstGeom prst="rect">
              <a:avLst/>
            </a:prstGeom>
            <a:solidFill>
              <a:srgbClr val="6B5B4B"/>
            </a:solidFill>
            <a:ln>
              <a:noFill/>
            </a:ln>
          </p:spPr>
          <p:txBody>
            <a:bodyPr rtlCol="0" anchor="ctr"/>
            <a:lstStyle/>
            <a:p>
              <a:pPr algn="ctr"/>
              <a:endParaRPr/>
            </a:p>
          </p:txBody>
        </p:sp>
        <p:sp>
          <p:nvSpPr>
            <p:cNvPr id="27" name="Rectangle 26"/>
            <p:cNvSpPr/>
            <p:nvPr/>
          </p:nvSpPr>
          <p:spPr>
            <a:xfrm>
              <a:off x="10325862" y="2313432"/>
              <a:ext cx="54864" cy="530352"/>
            </a:xfrm>
            <a:prstGeom prst="rect">
              <a:avLst/>
            </a:prstGeom>
            <a:solidFill>
              <a:srgbClr val="6B5B4B"/>
            </a:solidFill>
            <a:ln>
              <a:noFill/>
            </a:ln>
          </p:spPr>
          <p:txBody>
            <a:bodyPr rtlCol="0" anchor="ctr"/>
            <a:lstStyle/>
            <a:p>
              <a:pPr algn="ctr"/>
              <a:endParaRPr/>
            </a:p>
          </p:txBody>
        </p:sp>
        <p:sp>
          <p:nvSpPr>
            <p:cNvPr id="28" name="Rectangle 27"/>
            <p:cNvSpPr/>
            <p:nvPr/>
          </p:nvSpPr>
          <p:spPr>
            <a:xfrm>
              <a:off x="10691622" y="2313432"/>
              <a:ext cx="54864" cy="530352"/>
            </a:xfrm>
            <a:prstGeom prst="rect">
              <a:avLst/>
            </a:prstGeom>
            <a:solidFill>
              <a:srgbClr val="6B5B4B"/>
            </a:solidFill>
            <a:ln>
              <a:noFill/>
            </a:ln>
          </p:spPr>
          <p:txBody>
            <a:bodyPr rtlCol="0" anchor="ctr"/>
            <a:lstStyle/>
            <a:p>
              <a:pPr algn="ctr"/>
              <a:endParaRPr/>
            </a:p>
          </p:txBody>
        </p:sp>
        <p:sp>
          <p:nvSpPr>
            <p:cNvPr id="29" name="Rectangle 28"/>
            <p:cNvSpPr/>
            <p:nvPr/>
          </p:nvSpPr>
          <p:spPr>
            <a:xfrm>
              <a:off x="11057382" y="2313432"/>
              <a:ext cx="54864" cy="530352"/>
            </a:xfrm>
            <a:prstGeom prst="rect">
              <a:avLst/>
            </a:prstGeom>
            <a:solidFill>
              <a:srgbClr val="6B5B4B"/>
            </a:solidFill>
            <a:ln>
              <a:noFill/>
            </a:ln>
          </p:spPr>
          <p:txBody>
            <a:bodyPr rtlCol="0" anchor="ctr"/>
            <a:lstStyle/>
            <a:p>
              <a:pPr algn="ctr"/>
              <a:endParaRPr/>
            </a:p>
          </p:txBody>
        </p:sp>
        <p:sp>
          <p:nvSpPr>
            <p:cNvPr id="30" name="Rectangle 29"/>
            <p:cNvSpPr/>
            <p:nvPr/>
          </p:nvSpPr>
          <p:spPr>
            <a:xfrm>
              <a:off x="8405622" y="2377440"/>
              <a:ext cx="2926080" cy="73152"/>
            </a:xfrm>
            <a:prstGeom prst="rect">
              <a:avLst/>
            </a:prstGeom>
            <a:solidFill>
              <a:srgbClr val="9AA0A6"/>
            </a:solidFill>
            <a:ln>
              <a:noFill/>
            </a:ln>
          </p:spPr>
          <p:txBody>
            <a:bodyPr rtlCol="0" anchor="ctr"/>
            <a:lstStyle/>
            <a:p>
              <a:pPr algn="ctr"/>
              <a:endParaRPr/>
            </a:p>
          </p:txBody>
        </p:sp>
        <p:sp>
          <p:nvSpPr>
            <p:cNvPr id="31" name="Rectangle 30"/>
            <p:cNvSpPr/>
            <p:nvPr/>
          </p:nvSpPr>
          <p:spPr>
            <a:xfrm>
              <a:off x="8405622" y="2706624"/>
              <a:ext cx="2926080" cy="73152"/>
            </a:xfrm>
            <a:prstGeom prst="rect">
              <a:avLst/>
            </a:prstGeom>
            <a:solidFill>
              <a:srgbClr val="9AA0A6"/>
            </a:solidFill>
            <a:ln>
              <a:noFill/>
            </a:ln>
          </p:spPr>
          <p:txBody>
            <a:bodyPr rtlCol="0" anchor="ctr"/>
            <a:lstStyle/>
            <a:p>
              <a:pPr algn="ctr"/>
              <a:endParaRPr/>
            </a:p>
          </p:txBody>
        </p:sp>
        <p:cxnSp>
          <p:nvCxnSpPr>
            <p:cNvPr id="32" name="Connector 31"/>
            <p:cNvCxnSpPr/>
            <p:nvPr/>
          </p:nvCxnSpPr>
          <p:spPr>
            <a:xfrm>
              <a:off x="8405622" y="3200400"/>
              <a:ext cx="2926079" cy="0"/>
            </a:xfrm>
            <a:prstGeom prst="line">
              <a:avLst/>
            </a:prstGeom>
            <a:ln w="44450">
              <a:solidFill>
                <a:srgbClr val="F28C28"/>
              </a:solidFill>
              <a:headEnd type="triangle" w="med" len="med"/>
              <a:tailEnd type="triangle" w="med" len="med"/>
            </a:ln>
          </p:spPr>
        </p:cxnSp>
        <p:cxnSp>
          <p:nvCxnSpPr>
            <p:cNvPr id="33" name="Connector 32"/>
            <p:cNvCxnSpPr/>
            <p:nvPr/>
          </p:nvCxnSpPr>
          <p:spPr>
            <a:xfrm>
              <a:off x="8405622" y="3035808"/>
              <a:ext cx="0" cy="329184"/>
            </a:xfrm>
            <a:prstGeom prst="line">
              <a:avLst/>
            </a:prstGeom>
            <a:ln w="44450">
              <a:solidFill>
                <a:srgbClr val="F28C28"/>
              </a:solidFill>
            </a:ln>
          </p:spPr>
        </p:cxnSp>
        <p:cxnSp>
          <p:nvCxnSpPr>
            <p:cNvPr id="34" name="Connector 33"/>
            <p:cNvCxnSpPr/>
            <p:nvPr/>
          </p:nvCxnSpPr>
          <p:spPr>
            <a:xfrm>
              <a:off x="11331701" y="3035808"/>
              <a:ext cx="0" cy="329184"/>
            </a:xfrm>
            <a:prstGeom prst="line">
              <a:avLst/>
            </a:prstGeom>
            <a:ln w="44450">
              <a:solidFill>
                <a:srgbClr val="F28C28"/>
              </a:solidFill>
            </a:ln>
          </p:spPr>
        </p:cxnSp>
      </p:grpSp>
      <p:sp>
        <p:nvSpPr>
          <p:cNvPr id="35" name="FOOTER"/>
          <p:cNvSpPr txBox="1"/>
          <p:nvPr/>
        </p:nvSpPr>
        <p:spPr>
          <a:xfrm>
            <a:off x="9784080" y="5120640"/>
            <a:ext cx="1856231"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OQ12</a:t>
            </a:r>
          </a:p>
        </p:txBody>
      </p:sp>
      <p:sp>
        <p:nvSpPr>
          <p:cNvPr id="3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8"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Upgrade costs, refunds and an undo are not decided. Nor is the longest piece the game accepts.</a:t>
            </a:r>
          </a:p>
        </p:txBody>
      </p:sp>
      <p:sp>
        <p:nvSpPr>
          <p:cNvPr id="39"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17</a:t>
            </a:r>
          </a:p>
        </p:txBody>
      </p:sp>
    </p:spTree>
    <p:extLst>
      <p:ext uri="{BB962C8B-B14F-4D97-AF65-F5344CB8AC3E}">
        <p14:creationId xmlns:p14="http://schemas.microsoft.com/office/powerpoint/2010/main" val="29410960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57"/>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514"/>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771"/>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par>
                                <p:cTn id="17" presetID="10" presetClass="entr" presetSubtype="0" fill="hold" nodeType="withEffect">
                                  <p:stCondLst>
                                    <p:cond delay="1028"/>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par>
                                <p:cTn id="20" presetID="10" presetClass="entr" presetSubtype="0" fill="hold" nodeType="withEffect">
                                  <p:stCondLst>
                                    <p:cond delay="1285"/>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par>
                                <p:cTn id="23" presetID="10" presetClass="entr" presetSubtype="0" fill="hold" nodeType="withEffect">
                                  <p:stCondLst>
                                    <p:cond delay="1542"/>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The road to electric</a:t>
            </a:r>
          </a:p>
        </p:txBody>
      </p:sp>
      <p:sp>
        <p:nvSpPr>
          <p:cNvPr id="3" name="CHIP"/>
          <p:cNvSpPr/>
          <p:nvPr/>
        </p:nvSpPr>
        <p:spPr>
          <a:xfrm>
            <a:off x="10088575" y="548640"/>
            <a:ext cx="1554480" cy="365760"/>
          </a:xfrm>
          <a:prstGeom prst="roundRect">
            <a:avLst>
              <a:gd name="adj" fmla="val 50000"/>
            </a:avLst>
          </a:prstGeom>
          <a:solidFill>
            <a:srgbClr val="4DA3FF"/>
          </a:solidFill>
          <a:ln>
            <a:noFill/>
          </a:ln>
        </p:spPr>
        <p:txBody>
          <a:bodyPr wrap="square" lIns="36576" tIns="0" rIns="36576" bIns="0" rtlCol="0" anchor="ctr">
            <a:noAutofit/>
          </a:bodyPr>
          <a:lstStyle/>
          <a:p>
            <a:pPr algn="ctr"/>
            <a:r>
              <a:rPr lang="en-GB" sz="1400" b="1" i="0">
                <a:solidFill>
                  <a:srgbClr val="101418"/>
                </a:solidFill>
                <a:latin typeface="Arial"/>
              </a:rPr>
              <a:t>PROVISIONAL</a:t>
            </a:r>
          </a:p>
        </p:txBody>
      </p:sp>
      <p:grpSp>
        <p:nvGrpSpPr>
          <p:cNvPr id="4" name="DIAGRAM tier timeline" descr="A timeline of four tiers: Early Steam Railways, Railway Expansion, Heavy Steam, then the Monorail in blue."/>
          <p:cNvGrpSpPr/>
          <p:nvPr/>
        </p:nvGrpSpPr>
        <p:grpSpPr>
          <a:xfrm>
            <a:off x="548640" y="1691640"/>
            <a:ext cx="11091672" cy="2478024"/>
            <a:chOff x="548640" y="1691640"/>
            <a:chExt cx="11091672" cy="2478024"/>
          </a:xfrm>
        </p:grpSpPr>
        <p:sp>
          <p:nvSpPr>
            <p:cNvPr id="5" name="Rounded Rectangle 4"/>
            <p:cNvSpPr/>
            <p:nvPr/>
          </p:nvSpPr>
          <p:spPr>
            <a:xfrm>
              <a:off x="548640" y="1691640"/>
              <a:ext cx="2514600" cy="1920240"/>
            </a:xfrm>
            <a:prstGeom prst="roundRect">
              <a:avLst>
                <a:gd name="adj" fmla="val 3809"/>
              </a:avLst>
            </a:prstGeom>
            <a:solidFill>
              <a:srgbClr val="2B2F36"/>
            </a:solidFill>
            <a:ln>
              <a:noFill/>
            </a:ln>
          </p:spPr>
          <p:txBody>
            <a:bodyPr rtlCol="0" anchor="ctr"/>
            <a:lstStyle/>
            <a:p>
              <a:pPr algn="ctr"/>
              <a:endParaRPr/>
            </a:p>
          </p:txBody>
        </p:sp>
        <p:sp>
          <p:nvSpPr>
            <p:cNvPr id="6" name="Rounded Rectangle 5"/>
            <p:cNvSpPr/>
            <p:nvPr/>
          </p:nvSpPr>
          <p:spPr>
            <a:xfrm>
              <a:off x="548640" y="1691640"/>
              <a:ext cx="2514600" cy="128016"/>
            </a:xfrm>
            <a:prstGeom prst="roundRect">
              <a:avLst>
                <a:gd name="adj" fmla="val 35714"/>
              </a:avLst>
            </a:prstGeom>
            <a:solidFill>
              <a:srgbClr val="F28C28"/>
            </a:solidFill>
            <a:ln>
              <a:noFill/>
            </a:ln>
          </p:spPr>
          <p:txBody>
            <a:bodyPr rtlCol="0" anchor="ctr"/>
            <a:lstStyle/>
            <a:p>
              <a:pPr algn="ctr"/>
              <a:endParaRPr/>
            </a:p>
          </p:txBody>
        </p:sp>
        <p:sp>
          <p:nvSpPr>
            <p:cNvPr id="7" name="TextBox 6"/>
            <p:cNvSpPr txBox="1"/>
            <p:nvPr/>
          </p:nvSpPr>
          <p:spPr>
            <a:xfrm>
              <a:off x="685800" y="2011680"/>
              <a:ext cx="2240280" cy="502920"/>
            </a:xfrm>
            <a:prstGeom prst="rect">
              <a:avLst/>
            </a:prstGeom>
            <a:noFill/>
          </p:spPr>
          <p:txBody>
            <a:bodyPr wrap="square" lIns="18288" tIns="9144" rIns="18288" bIns="9144" anchor="ctr">
              <a:noAutofit/>
            </a:bodyPr>
            <a:lstStyle/>
            <a:p>
              <a:pPr algn="l"/>
              <a:r>
                <a:rPr lang="en-GB" sz="2400" b="1" i="0">
                  <a:solidFill>
                    <a:srgbClr val="F28C28"/>
                  </a:solidFill>
                  <a:latin typeface="Arial"/>
                </a:rPr>
                <a:t>Tier 3:</a:t>
              </a:r>
            </a:p>
          </p:txBody>
        </p:sp>
        <p:sp>
          <p:nvSpPr>
            <p:cNvPr id="8" name="TextBox 7"/>
            <p:cNvSpPr txBox="1"/>
            <p:nvPr/>
          </p:nvSpPr>
          <p:spPr>
            <a:xfrm>
              <a:off x="685800" y="2560320"/>
              <a:ext cx="224028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Early Steam Railways</a:t>
              </a:r>
            </a:p>
          </p:txBody>
        </p:sp>
        <p:cxnSp>
          <p:nvCxnSpPr>
            <p:cNvPr id="9" name="Connector 8"/>
            <p:cNvCxnSpPr/>
            <p:nvPr/>
          </p:nvCxnSpPr>
          <p:spPr>
            <a:xfrm>
              <a:off x="3099816" y="2651760"/>
              <a:ext cx="271272" cy="0"/>
            </a:xfrm>
            <a:prstGeom prst="line">
              <a:avLst/>
            </a:prstGeom>
            <a:ln w="38100">
              <a:solidFill>
                <a:srgbClr val="F28C28"/>
              </a:solidFill>
              <a:tailEnd type="triangle" w="med" len="med"/>
            </a:ln>
          </p:spPr>
        </p:cxnSp>
        <p:sp>
          <p:nvSpPr>
            <p:cNvPr id="10" name="Oval 9"/>
            <p:cNvSpPr/>
            <p:nvPr/>
          </p:nvSpPr>
          <p:spPr>
            <a:xfrm>
              <a:off x="1687068" y="3931920"/>
              <a:ext cx="237744" cy="237744"/>
            </a:xfrm>
            <a:prstGeom prst="ellipse">
              <a:avLst/>
            </a:prstGeom>
            <a:solidFill>
              <a:srgbClr val="F28C28"/>
            </a:solidFill>
            <a:ln>
              <a:noFill/>
            </a:ln>
          </p:spPr>
          <p:txBody>
            <a:bodyPr rtlCol="0" anchor="ctr"/>
            <a:lstStyle/>
            <a:p>
              <a:pPr algn="ctr"/>
              <a:endParaRPr/>
            </a:p>
          </p:txBody>
        </p:sp>
        <p:sp>
          <p:nvSpPr>
            <p:cNvPr id="11" name="Rounded Rectangle 10"/>
            <p:cNvSpPr/>
            <p:nvPr/>
          </p:nvSpPr>
          <p:spPr>
            <a:xfrm>
              <a:off x="3407664" y="1691640"/>
              <a:ext cx="2514600" cy="1920240"/>
            </a:xfrm>
            <a:prstGeom prst="roundRect">
              <a:avLst>
                <a:gd name="adj" fmla="val 3809"/>
              </a:avLst>
            </a:prstGeom>
            <a:solidFill>
              <a:srgbClr val="2B2F36"/>
            </a:solidFill>
            <a:ln>
              <a:noFill/>
            </a:ln>
          </p:spPr>
          <p:txBody>
            <a:bodyPr rtlCol="0" anchor="ctr"/>
            <a:lstStyle/>
            <a:p>
              <a:pPr algn="ctr"/>
              <a:endParaRPr/>
            </a:p>
          </p:txBody>
        </p:sp>
        <p:sp>
          <p:nvSpPr>
            <p:cNvPr id="12" name="Rounded Rectangle 11"/>
            <p:cNvSpPr/>
            <p:nvPr/>
          </p:nvSpPr>
          <p:spPr>
            <a:xfrm>
              <a:off x="3407664" y="1691640"/>
              <a:ext cx="2514600" cy="128016"/>
            </a:xfrm>
            <a:prstGeom prst="roundRect">
              <a:avLst>
                <a:gd name="adj" fmla="val 35714"/>
              </a:avLst>
            </a:prstGeom>
            <a:solidFill>
              <a:srgbClr val="F28C28"/>
            </a:solidFill>
            <a:ln>
              <a:noFill/>
            </a:ln>
          </p:spPr>
          <p:txBody>
            <a:bodyPr rtlCol="0" anchor="ctr"/>
            <a:lstStyle/>
            <a:p>
              <a:pPr algn="ctr"/>
              <a:endParaRPr/>
            </a:p>
          </p:txBody>
        </p:sp>
        <p:sp>
          <p:nvSpPr>
            <p:cNvPr id="13" name="TextBox 12"/>
            <p:cNvSpPr txBox="1"/>
            <p:nvPr/>
          </p:nvSpPr>
          <p:spPr>
            <a:xfrm>
              <a:off x="3544824" y="2011680"/>
              <a:ext cx="2240280" cy="502920"/>
            </a:xfrm>
            <a:prstGeom prst="rect">
              <a:avLst/>
            </a:prstGeom>
            <a:noFill/>
          </p:spPr>
          <p:txBody>
            <a:bodyPr wrap="square" lIns="18288" tIns="9144" rIns="18288" bIns="9144" anchor="ctr">
              <a:noAutofit/>
            </a:bodyPr>
            <a:lstStyle/>
            <a:p>
              <a:pPr algn="l"/>
              <a:r>
                <a:rPr lang="en-GB" sz="2400" b="1" i="0">
                  <a:solidFill>
                    <a:srgbClr val="F28C28"/>
                  </a:solidFill>
                  <a:latin typeface="Arial"/>
                </a:rPr>
                <a:t>Tier 3 to 4:</a:t>
              </a:r>
            </a:p>
          </p:txBody>
        </p:sp>
        <p:sp>
          <p:nvSpPr>
            <p:cNvPr id="14" name="TextBox 13"/>
            <p:cNvSpPr txBox="1"/>
            <p:nvPr/>
          </p:nvSpPr>
          <p:spPr>
            <a:xfrm>
              <a:off x="3544824" y="2560320"/>
              <a:ext cx="224028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Railway Expansion</a:t>
              </a:r>
            </a:p>
          </p:txBody>
        </p:sp>
        <p:cxnSp>
          <p:nvCxnSpPr>
            <p:cNvPr id="15" name="Connector 14"/>
            <p:cNvCxnSpPr/>
            <p:nvPr/>
          </p:nvCxnSpPr>
          <p:spPr>
            <a:xfrm>
              <a:off x="5958840" y="2651760"/>
              <a:ext cx="271272" cy="0"/>
            </a:xfrm>
            <a:prstGeom prst="line">
              <a:avLst/>
            </a:prstGeom>
            <a:ln w="38100">
              <a:solidFill>
                <a:srgbClr val="F28C28"/>
              </a:solidFill>
              <a:tailEnd type="triangle" w="med" len="med"/>
            </a:ln>
          </p:spPr>
        </p:cxnSp>
        <p:sp>
          <p:nvSpPr>
            <p:cNvPr id="16" name="Oval 15"/>
            <p:cNvSpPr/>
            <p:nvPr/>
          </p:nvSpPr>
          <p:spPr>
            <a:xfrm>
              <a:off x="4546092" y="3931920"/>
              <a:ext cx="237744" cy="237744"/>
            </a:xfrm>
            <a:prstGeom prst="ellipse">
              <a:avLst/>
            </a:prstGeom>
            <a:solidFill>
              <a:srgbClr val="F28C28"/>
            </a:solidFill>
            <a:ln>
              <a:noFill/>
            </a:ln>
          </p:spPr>
          <p:txBody>
            <a:bodyPr rtlCol="0" anchor="ctr"/>
            <a:lstStyle/>
            <a:p>
              <a:pPr algn="ctr"/>
              <a:endParaRPr/>
            </a:p>
          </p:txBody>
        </p:sp>
        <p:sp>
          <p:nvSpPr>
            <p:cNvPr id="17" name="Rounded Rectangle 16"/>
            <p:cNvSpPr/>
            <p:nvPr/>
          </p:nvSpPr>
          <p:spPr>
            <a:xfrm>
              <a:off x="6266688" y="1691640"/>
              <a:ext cx="2514600" cy="1920240"/>
            </a:xfrm>
            <a:prstGeom prst="roundRect">
              <a:avLst>
                <a:gd name="adj" fmla="val 3809"/>
              </a:avLst>
            </a:prstGeom>
            <a:solidFill>
              <a:srgbClr val="2B2F36"/>
            </a:solidFill>
            <a:ln>
              <a:noFill/>
            </a:ln>
          </p:spPr>
          <p:txBody>
            <a:bodyPr rtlCol="0" anchor="ctr"/>
            <a:lstStyle/>
            <a:p>
              <a:pPr algn="ctr"/>
              <a:endParaRPr/>
            </a:p>
          </p:txBody>
        </p:sp>
        <p:sp>
          <p:nvSpPr>
            <p:cNvPr id="18" name="Rounded Rectangle 17"/>
            <p:cNvSpPr/>
            <p:nvPr/>
          </p:nvSpPr>
          <p:spPr>
            <a:xfrm>
              <a:off x="6266688" y="1691640"/>
              <a:ext cx="2514600" cy="128016"/>
            </a:xfrm>
            <a:prstGeom prst="roundRect">
              <a:avLst>
                <a:gd name="adj" fmla="val 35714"/>
              </a:avLst>
            </a:prstGeom>
            <a:solidFill>
              <a:srgbClr val="F28C28"/>
            </a:solidFill>
            <a:ln>
              <a:noFill/>
            </a:ln>
          </p:spPr>
          <p:txBody>
            <a:bodyPr rtlCol="0" anchor="ctr"/>
            <a:lstStyle/>
            <a:p>
              <a:pPr algn="ctr"/>
              <a:endParaRPr/>
            </a:p>
          </p:txBody>
        </p:sp>
        <p:sp>
          <p:nvSpPr>
            <p:cNvPr id="19" name="TextBox 18"/>
            <p:cNvSpPr txBox="1"/>
            <p:nvPr/>
          </p:nvSpPr>
          <p:spPr>
            <a:xfrm>
              <a:off x="6403848" y="2011680"/>
              <a:ext cx="2240280" cy="502920"/>
            </a:xfrm>
            <a:prstGeom prst="rect">
              <a:avLst/>
            </a:prstGeom>
            <a:noFill/>
          </p:spPr>
          <p:txBody>
            <a:bodyPr wrap="square" lIns="18288" tIns="9144" rIns="18288" bIns="9144" anchor="ctr">
              <a:noAutofit/>
            </a:bodyPr>
            <a:lstStyle/>
            <a:p>
              <a:pPr algn="l"/>
              <a:r>
                <a:rPr lang="en-GB" sz="2400" b="1" i="0">
                  <a:solidFill>
                    <a:srgbClr val="F28C28"/>
                  </a:solidFill>
                  <a:latin typeface="Arial"/>
                </a:rPr>
                <a:t>Tier 4 to 5:</a:t>
              </a:r>
            </a:p>
          </p:txBody>
        </p:sp>
        <p:sp>
          <p:nvSpPr>
            <p:cNvPr id="20" name="TextBox 19"/>
            <p:cNvSpPr txBox="1"/>
            <p:nvPr/>
          </p:nvSpPr>
          <p:spPr>
            <a:xfrm>
              <a:off x="6403848" y="2560320"/>
              <a:ext cx="224028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Heavy Steam</a:t>
              </a:r>
            </a:p>
          </p:txBody>
        </p:sp>
        <p:cxnSp>
          <p:nvCxnSpPr>
            <p:cNvPr id="21" name="Connector 20"/>
            <p:cNvCxnSpPr/>
            <p:nvPr/>
          </p:nvCxnSpPr>
          <p:spPr>
            <a:xfrm>
              <a:off x="8817864" y="2651760"/>
              <a:ext cx="271272" cy="0"/>
            </a:xfrm>
            <a:prstGeom prst="line">
              <a:avLst/>
            </a:prstGeom>
            <a:ln w="38100">
              <a:solidFill>
                <a:srgbClr val="F28C28"/>
              </a:solidFill>
              <a:tailEnd type="triangle" w="med" len="med"/>
            </a:ln>
          </p:spPr>
        </p:cxnSp>
        <p:sp>
          <p:nvSpPr>
            <p:cNvPr id="22" name="Oval 21"/>
            <p:cNvSpPr/>
            <p:nvPr/>
          </p:nvSpPr>
          <p:spPr>
            <a:xfrm>
              <a:off x="7405115" y="3931920"/>
              <a:ext cx="237744" cy="237744"/>
            </a:xfrm>
            <a:prstGeom prst="ellipse">
              <a:avLst/>
            </a:prstGeom>
            <a:solidFill>
              <a:srgbClr val="F28C28"/>
            </a:solidFill>
            <a:ln>
              <a:noFill/>
            </a:ln>
          </p:spPr>
          <p:txBody>
            <a:bodyPr rtlCol="0" anchor="ctr"/>
            <a:lstStyle/>
            <a:p>
              <a:pPr algn="ctr"/>
              <a:endParaRPr/>
            </a:p>
          </p:txBody>
        </p:sp>
        <p:sp>
          <p:nvSpPr>
            <p:cNvPr id="23" name="Rounded Rectangle 22"/>
            <p:cNvSpPr/>
            <p:nvPr/>
          </p:nvSpPr>
          <p:spPr>
            <a:xfrm>
              <a:off x="9125712" y="1691640"/>
              <a:ext cx="2514600" cy="1920240"/>
            </a:xfrm>
            <a:prstGeom prst="roundRect">
              <a:avLst>
                <a:gd name="adj" fmla="val 3809"/>
              </a:avLst>
            </a:prstGeom>
            <a:solidFill>
              <a:srgbClr val="2B2F36"/>
            </a:solidFill>
            <a:ln w="31750">
              <a:solidFill>
                <a:srgbClr val="6CA0DC"/>
              </a:solidFill>
            </a:ln>
          </p:spPr>
          <p:txBody>
            <a:bodyPr rtlCol="0" anchor="ctr"/>
            <a:lstStyle/>
            <a:p>
              <a:pPr algn="ctr"/>
              <a:endParaRPr/>
            </a:p>
          </p:txBody>
        </p:sp>
        <p:sp>
          <p:nvSpPr>
            <p:cNvPr id="24" name="Rounded Rectangle 23"/>
            <p:cNvSpPr/>
            <p:nvPr/>
          </p:nvSpPr>
          <p:spPr>
            <a:xfrm>
              <a:off x="9125712" y="1691640"/>
              <a:ext cx="2514600" cy="128016"/>
            </a:xfrm>
            <a:prstGeom prst="roundRect">
              <a:avLst>
                <a:gd name="adj" fmla="val 35714"/>
              </a:avLst>
            </a:prstGeom>
            <a:solidFill>
              <a:srgbClr val="6CA0DC"/>
            </a:solidFill>
            <a:ln>
              <a:noFill/>
            </a:ln>
          </p:spPr>
          <p:txBody>
            <a:bodyPr rtlCol="0" anchor="ctr"/>
            <a:lstStyle/>
            <a:p>
              <a:pPr algn="ctr"/>
              <a:endParaRPr/>
            </a:p>
          </p:txBody>
        </p:sp>
        <p:sp>
          <p:nvSpPr>
            <p:cNvPr id="25" name="TextBox 24"/>
            <p:cNvSpPr txBox="1"/>
            <p:nvPr/>
          </p:nvSpPr>
          <p:spPr>
            <a:xfrm>
              <a:off x="9262872" y="2011680"/>
              <a:ext cx="2240280" cy="502920"/>
            </a:xfrm>
            <a:prstGeom prst="rect">
              <a:avLst/>
            </a:prstGeom>
            <a:noFill/>
          </p:spPr>
          <p:txBody>
            <a:bodyPr wrap="square" lIns="18288" tIns="9144" rIns="18288" bIns="9144" anchor="ctr">
              <a:noAutofit/>
            </a:bodyPr>
            <a:lstStyle/>
            <a:p>
              <a:pPr algn="l"/>
              <a:r>
                <a:rPr lang="en-GB" sz="2400" b="1" i="0">
                  <a:solidFill>
                    <a:srgbClr val="6CA0DC"/>
                  </a:solidFill>
                  <a:latin typeface="Arial"/>
                </a:rPr>
                <a:t>Tier 6:</a:t>
              </a:r>
            </a:p>
          </p:txBody>
        </p:sp>
        <p:sp>
          <p:nvSpPr>
            <p:cNvPr id="26" name="TextBox 25"/>
            <p:cNvSpPr txBox="1"/>
            <p:nvPr/>
          </p:nvSpPr>
          <p:spPr>
            <a:xfrm>
              <a:off x="9262872" y="2560320"/>
              <a:ext cx="224028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Monorail</a:t>
              </a:r>
            </a:p>
          </p:txBody>
        </p:sp>
        <p:sp>
          <p:nvSpPr>
            <p:cNvPr id="27" name="Oval 26"/>
            <p:cNvSpPr/>
            <p:nvPr/>
          </p:nvSpPr>
          <p:spPr>
            <a:xfrm>
              <a:off x="10264140" y="3931920"/>
              <a:ext cx="237744" cy="237744"/>
            </a:xfrm>
            <a:prstGeom prst="ellipse">
              <a:avLst/>
            </a:prstGeom>
            <a:solidFill>
              <a:srgbClr val="6CA0DC"/>
            </a:solidFill>
            <a:ln>
              <a:noFill/>
            </a:ln>
          </p:spPr>
          <p:txBody>
            <a:bodyPr rtlCol="0" anchor="ctr"/>
            <a:lstStyle/>
            <a:p>
              <a:pPr algn="ctr"/>
              <a:endParaRPr/>
            </a:p>
          </p:txBody>
        </p:sp>
        <p:cxnSp>
          <p:nvCxnSpPr>
            <p:cNvPr id="28" name="Connector 27"/>
            <p:cNvCxnSpPr/>
            <p:nvPr/>
          </p:nvCxnSpPr>
          <p:spPr>
            <a:xfrm>
              <a:off x="1805940" y="4050791"/>
              <a:ext cx="8439912" cy="0"/>
            </a:xfrm>
            <a:prstGeom prst="line">
              <a:avLst/>
            </a:prstGeom>
            <a:ln w="38100">
              <a:solidFill>
                <a:srgbClr val="4A515B"/>
              </a:solidFill>
            </a:ln>
          </p:spPr>
        </p:cxnSp>
      </p:grpSp>
      <p:grpSp>
        <p:nvGrpSpPr>
          <p:cNvPr id="29" name="NOTE" descr="Note: Tiers and prerequisites: provisional and undecided (OQ01) (Undecided)."/>
          <p:cNvGrpSpPr/>
          <p:nvPr/>
        </p:nvGrpSpPr>
        <p:grpSpPr>
          <a:xfrm>
            <a:off x="548640" y="4663440"/>
            <a:ext cx="11091672" cy="594360"/>
            <a:chOff x="548640" y="4663440"/>
            <a:chExt cx="11091672" cy="594360"/>
          </a:xfrm>
        </p:grpSpPr>
        <p:sp>
          <p:nvSpPr>
            <p:cNvPr id="30" name="Rounded Rectangle 29"/>
            <p:cNvSpPr/>
            <p:nvPr/>
          </p:nvSpPr>
          <p:spPr>
            <a:xfrm>
              <a:off x="548640" y="4663440"/>
              <a:ext cx="11091672" cy="594360"/>
            </a:xfrm>
            <a:prstGeom prst="roundRect">
              <a:avLst>
                <a:gd name="adj" fmla="val 12307"/>
              </a:avLst>
            </a:prstGeom>
            <a:solidFill>
              <a:srgbClr val="2B2F36"/>
            </a:solidFill>
            <a:ln>
              <a:noFill/>
            </a:ln>
          </p:spPr>
          <p:txBody>
            <a:bodyPr rtlCol="0" anchor="ctr"/>
            <a:lstStyle/>
            <a:p>
              <a:pPr algn="ctr"/>
              <a:endParaRPr/>
            </a:p>
          </p:txBody>
        </p:sp>
        <p:sp>
          <p:nvSpPr>
            <p:cNvPr id="31" name="ICHIP"/>
            <p:cNvSpPr/>
            <p:nvPr/>
          </p:nvSpPr>
          <p:spPr>
            <a:xfrm>
              <a:off x="777240" y="4805172"/>
              <a:ext cx="1514221" cy="310896"/>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a:t>
              </a:r>
            </a:p>
          </p:txBody>
        </p:sp>
        <p:sp>
          <p:nvSpPr>
            <p:cNvPr id="32" name="TextBox 31"/>
            <p:cNvSpPr txBox="1"/>
            <p:nvPr/>
          </p:nvSpPr>
          <p:spPr>
            <a:xfrm>
              <a:off x="2520061" y="4663440"/>
              <a:ext cx="8754491" cy="594360"/>
            </a:xfrm>
            <a:prstGeom prst="rect">
              <a:avLst/>
            </a:prstGeom>
            <a:noFill/>
          </p:spPr>
          <p:txBody>
            <a:bodyPr wrap="square" lIns="18288" tIns="9144" rIns="18288" bIns="9144" anchor="ctr">
              <a:noAutofit/>
            </a:bodyPr>
            <a:lstStyle/>
            <a:p>
              <a:pPr algn="l"/>
              <a:r>
                <a:rPr lang="en-GB" sz="2000" b="0" i="0">
                  <a:solidFill>
                    <a:srgbClr val="F2F2F2"/>
                  </a:solidFill>
                  <a:latin typeface="Arial"/>
                </a:rPr>
                <a:t>Tiers and prerequisites: provisional and undecided (OQ01)</a:t>
              </a:r>
            </a:p>
          </p:txBody>
        </p:sp>
      </p:grpSp>
      <p:sp>
        <p:nvSpPr>
          <p:cNvPr id="3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5"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Steam starts early. The monorail arrives in a later tier.</a:t>
            </a:r>
          </a:p>
        </p:txBody>
      </p:sp>
      <p:sp>
        <p:nvSpPr>
          <p:cNvPr id="36"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18</a:t>
            </a:r>
          </a:p>
        </p:txBody>
      </p:sp>
    </p:spTree>
    <p:extLst>
      <p:ext uri="{BB962C8B-B14F-4D97-AF65-F5344CB8AC3E}">
        <p14:creationId xmlns:p14="http://schemas.microsoft.com/office/powerpoint/2010/main" val="27907423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par>
                                <p:cTn id="14" presetID="10" presetClass="entr" presetSubtype="0" fill="hold" nodeType="withEffect">
                                  <p:stCondLst>
                                    <p:cond delay="9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par>
                                <p:cTn id="17" presetID="10" presetClass="entr" presetSubtype="0" fill="hold" nodeType="withEffect">
                                  <p:stCondLst>
                                    <p:cond delay="120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Every transport has a job</a:t>
            </a:r>
          </a:p>
        </p:txBody>
      </p:sp>
      <p:sp>
        <p:nvSpPr>
          <p:cNvPr id="3" name="CHIP"/>
          <p:cNvSpPr/>
          <p:nvPr/>
        </p:nvSpPr>
        <p:spPr>
          <a:xfrm>
            <a:off x="10088575" y="548640"/>
            <a:ext cx="1554480" cy="365760"/>
          </a:xfrm>
          <a:prstGeom prst="roundRect">
            <a:avLst>
              <a:gd name="adj" fmla="val 50000"/>
            </a:avLst>
          </a:prstGeom>
          <a:solidFill>
            <a:srgbClr val="3FB950"/>
          </a:solidFill>
          <a:ln>
            <a:noFill/>
          </a:ln>
        </p:spPr>
        <p:txBody>
          <a:bodyPr wrap="square" lIns="36576" tIns="0" rIns="36576" bIns="0" rtlCol="0" anchor="ctr">
            <a:noAutofit/>
          </a:bodyPr>
          <a:lstStyle/>
          <a:p>
            <a:pPr algn="ctr"/>
            <a:r>
              <a:rPr lang="en-GB" sz="1400" b="1" i="0">
                <a:solidFill>
                  <a:srgbClr val="101418"/>
                </a:solidFill>
                <a:latin typeface="Arial"/>
              </a:rPr>
              <a:t>AGREED</a:t>
            </a:r>
          </a:p>
        </p:txBody>
      </p:sp>
      <p:grpSp>
        <p:nvGrpSpPr>
          <p:cNvPr id="4" name="LANE 1" descr="Lane: belts, with a conveyor belt icon."/>
          <p:cNvGrpSpPr/>
          <p:nvPr/>
        </p:nvGrpSpPr>
        <p:grpSpPr>
          <a:xfrm>
            <a:off x="548640" y="1371600"/>
            <a:ext cx="11091672" cy="932688"/>
            <a:chOff x="548640" y="1371600"/>
            <a:chExt cx="11091672" cy="932688"/>
          </a:xfrm>
        </p:grpSpPr>
        <p:sp>
          <p:nvSpPr>
            <p:cNvPr id="5" name="Rounded Rectangle 4"/>
            <p:cNvSpPr/>
            <p:nvPr/>
          </p:nvSpPr>
          <p:spPr>
            <a:xfrm>
              <a:off x="548640" y="1371600"/>
              <a:ext cx="11091672" cy="932688"/>
            </a:xfrm>
            <a:prstGeom prst="roundRect">
              <a:avLst>
                <a:gd name="adj" fmla="val 7843"/>
              </a:avLst>
            </a:prstGeom>
            <a:solidFill>
              <a:srgbClr val="2B2F36"/>
            </a:solidFill>
            <a:ln>
              <a:noFill/>
            </a:ln>
          </p:spPr>
          <p:txBody>
            <a:bodyPr rtlCol="0" anchor="ctr"/>
            <a:lstStyle/>
            <a:p>
              <a:pPr algn="ctr"/>
              <a:endParaRPr/>
            </a:p>
          </p:txBody>
        </p:sp>
        <p:sp>
          <p:nvSpPr>
            <p:cNvPr id="6" name="Rectangle 5"/>
            <p:cNvSpPr/>
            <p:nvPr/>
          </p:nvSpPr>
          <p:spPr>
            <a:xfrm>
              <a:off x="548640" y="1444752"/>
              <a:ext cx="73152" cy="786384"/>
            </a:xfrm>
            <a:prstGeom prst="rect">
              <a:avLst/>
            </a:prstGeom>
            <a:solidFill>
              <a:srgbClr val="F2F2F2"/>
            </a:solidFill>
            <a:ln>
              <a:noFill/>
            </a:ln>
          </p:spPr>
          <p:txBody>
            <a:bodyPr rtlCol="0" anchor="ctr"/>
            <a:lstStyle/>
            <a:p>
              <a:pPr algn="ctr"/>
              <a:endParaRPr/>
            </a:p>
          </p:txBody>
        </p:sp>
        <p:sp>
          <p:nvSpPr>
            <p:cNvPr id="7" name="Rounded Rectangle 6"/>
            <p:cNvSpPr/>
            <p:nvPr/>
          </p:nvSpPr>
          <p:spPr>
            <a:xfrm>
              <a:off x="914400" y="1847088"/>
              <a:ext cx="1554480" cy="182880"/>
            </a:xfrm>
            <a:prstGeom prst="roundRect">
              <a:avLst>
                <a:gd name="adj" fmla="val 50000"/>
              </a:avLst>
            </a:prstGeom>
            <a:solidFill>
              <a:srgbClr val="59616C"/>
            </a:solidFill>
            <a:ln>
              <a:noFill/>
            </a:ln>
          </p:spPr>
          <p:txBody>
            <a:bodyPr rtlCol="0" anchor="ctr"/>
            <a:lstStyle/>
            <a:p>
              <a:pPr algn="ctr"/>
              <a:endParaRPr/>
            </a:p>
          </p:txBody>
        </p:sp>
        <p:sp>
          <p:nvSpPr>
            <p:cNvPr id="8" name="Freeform 7"/>
            <p:cNvSpPr/>
            <p:nvPr/>
          </p:nvSpPr>
          <p:spPr>
            <a:xfrm>
              <a:off x="1097280" y="1874520"/>
              <a:ext cx="91440" cy="128016"/>
            </a:xfrm>
            <a:custGeom>
              <a:avLst/>
              <a:gdLst/>
              <a:ahLst/>
              <a:cxnLst/>
              <a:rect l="l" t="t" r="r" b="b"/>
              <a:pathLst>
                <a:path w="91440" h="128016">
                  <a:moveTo>
                    <a:pt x="0" y="0"/>
                  </a:moveTo>
                  <a:lnTo>
                    <a:pt x="91440" y="64008"/>
                  </a:lnTo>
                  <a:lnTo>
                    <a:pt x="0" y="128016"/>
                  </a:lnTo>
                </a:path>
              </a:pathLst>
            </a:custGeom>
            <a:noFill/>
            <a:ln w="25400">
              <a:solidFill>
                <a:srgbClr val="E8E8E8"/>
              </a:solidFill>
            </a:ln>
          </p:spPr>
          <p:txBody>
            <a:bodyPr rtlCol="0" anchor="ctr"/>
            <a:lstStyle/>
            <a:p>
              <a:pPr algn="ctr"/>
              <a:endParaRPr/>
            </a:p>
          </p:txBody>
        </p:sp>
        <p:sp>
          <p:nvSpPr>
            <p:cNvPr id="9" name="Freeform 8"/>
            <p:cNvSpPr/>
            <p:nvPr/>
          </p:nvSpPr>
          <p:spPr>
            <a:xfrm>
              <a:off x="1389888" y="1874520"/>
              <a:ext cx="91440" cy="128016"/>
            </a:xfrm>
            <a:custGeom>
              <a:avLst/>
              <a:gdLst/>
              <a:ahLst/>
              <a:cxnLst/>
              <a:rect l="l" t="t" r="r" b="b"/>
              <a:pathLst>
                <a:path w="91440" h="128016">
                  <a:moveTo>
                    <a:pt x="0" y="0"/>
                  </a:moveTo>
                  <a:lnTo>
                    <a:pt x="91440" y="64008"/>
                  </a:lnTo>
                  <a:lnTo>
                    <a:pt x="0" y="128016"/>
                  </a:lnTo>
                </a:path>
              </a:pathLst>
            </a:custGeom>
            <a:noFill/>
            <a:ln w="25400">
              <a:solidFill>
                <a:srgbClr val="E8E8E8"/>
              </a:solidFill>
            </a:ln>
          </p:spPr>
          <p:txBody>
            <a:bodyPr rtlCol="0" anchor="ctr"/>
            <a:lstStyle/>
            <a:p>
              <a:pPr algn="ctr"/>
              <a:endParaRPr/>
            </a:p>
          </p:txBody>
        </p:sp>
        <p:sp>
          <p:nvSpPr>
            <p:cNvPr id="10" name="Freeform 9"/>
            <p:cNvSpPr/>
            <p:nvPr/>
          </p:nvSpPr>
          <p:spPr>
            <a:xfrm>
              <a:off x="1682495" y="1874520"/>
              <a:ext cx="91441" cy="128016"/>
            </a:xfrm>
            <a:custGeom>
              <a:avLst/>
              <a:gdLst/>
              <a:ahLst/>
              <a:cxnLst/>
              <a:rect l="l" t="t" r="r" b="b"/>
              <a:pathLst>
                <a:path w="91441" h="128016">
                  <a:moveTo>
                    <a:pt x="0" y="0"/>
                  </a:moveTo>
                  <a:lnTo>
                    <a:pt x="91441" y="64008"/>
                  </a:lnTo>
                  <a:lnTo>
                    <a:pt x="0" y="128016"/>
                  </a:lnTo>
                </a:path>
              </a:pathLst>
            </a:custGeom>
            <a:noFill/>
            <a:ln w="25400">
              <a:solidFill>
                <a:srgbClr val="E8E8E8"/>
              </a:solidFill>
            </a:ln>
          </p:spPr>
          <p:txBody>
            <a:bodyPr rtlCol="0" anchor="ctr"/>
            <a:lstStyle/>
            <a:p>
              <a:pPr algn="ctr"/>
              <a:endParaRPr/>
            </a:p>
          </p:txBody>
        </p:sp>
        <p:sp>
          <p:nvSpPr>
            <p:cNvPr id="11" name="Freeform 10"/>
            <p:cNvSpPr/>
            <p:nvPr/>
          </p:nvSpPr>
          <p:spPr>
            <a:xfrm>
              <a:off x="1975104" y="1874520"/>
              <a:ext cx="91440" cy="128016"/>
            </a:xfrm>
            <a:custGeom>
              <a:avLst/>
              <a:gdLst/>
              <a:ahLst/>
              <a:cxnLst/>
              <a:rect l="l" t="t" r="r" b="b"/>
              <a:pathLst>
                <a:path w="91440" h="128016">
                  <a:moveTo>
                    <a:pt x="0" y="0"/>
                  </a:moveTo>
                  <a:lnTo>
                    <a:pt x="91440" y="64008"/>
                  </a:lnTo>
                  <a:lnTo>
                    <a:pt x="0" y="128016"/>
                  </a:lnTo>
                </a:path>
              </a:pathLst>
            </a:custGeom>
            <a:noFill/>
            <a:ln w="25400">
              <a:solidFill>
                <a:srgbClr val="E8E8E8"/>
              </a:solidFill>
            </a:ln>
          </p:spPr>
          <p:txBody>
            <a:bodyPr rtlCol="0" anchor="ctr"/>
            <a:lstStyle/>
            <a:p>
              <a:pPr algn="ctr"/>
              <a:endParaRPr/>
            </a:p>
          </p:txBody>
        </p:sp>
        <p:sp>
          <p:nvSpPr>
            <p:cNvPr id="12" name="Freeform 11"/>
            <p:cNvSpPr/>
            <p:nvPr/>
          </p:nvSpPr>
          <p:spPr>
            <a:xfrm>
              <a:off x="2267712" y="1874520"/>
              <a:ext cx="91440" cy="128016"/>
            </a:xfrm>
            <a:custGeom>
              <a:avLst/>
              <a:gdLst/>
              <a:ahLst/>
              <a:cxnLst/>
              <a:rect l="l" t="t" r="r" b="b"/>
              <a:pathLst>
                <a:path w="91440" h="128016">
                  <a:moveTo>
                    <a:pt x="0" y="0"/>
                  </a:moveTo>
                  <a:lnTo>
                    <a:pt x="91440" y="64008"/>
                  </a:lnTo>
                  <a:lnTo>
                    <a:pt x="0" y="128016"/>
                  </a:lnTo>
                </a:path>
              </a:pathLst>
            </a:custGeom>
            <a:noFill/>
            <a:ln w="25400">
              <a:solidFill>
                <a:srgbClr val="E8E8E8"/>
              </a:solidFill>
            </a:ln>
          </p:spPr>
          <p:txBody>
            <a:bodyPr rtlCol="0" anchor="ctr"/>
            <a:lstStyle/>
            <a:p>
              <a:pPr algn="ctr"/>
              <a:endParaRPr/>
            </a:p>
          </p:txBody>
        </p:sp>
        <p:sp>
          <p:nvSpPr>
            <p:cNvPr id="13" name="Oval 12"/>
            <p:cNvSpPr/>
            <p:nvPr/>
          </p:nvSpPr>
          <p:spPr>
            <a:xfrm>
              <a:off x="868680" y="1801368"/>
              <a:ext cx="274320" cy="274320"/>
            </a:xfrm>
            <a:prstGeom prst="ellipse">
              <a:avLst/>
            </a:prstGeom>
            <a:solidFill>
              <a:srgbClr val="9AA0A6"/>
            </a:solidFill>
            <a:ln>
              <a:noFill/>
            </a:ln>
          </p:spPr>
          <p:txBody>
            <a:bodyPr rtlCol="0" anchor="ctr"/>
            <a:lstStyle/>
            <a:p>
              <a:pPr algn="ctr"/>
              <a:endParaRPr/>
            </a:p>
          </p:txBody>
        </p:sp>
        <p:sp>
          <p:nvSpPr>
            <p:cNvPr id="14" name="Oval 13"/>
            <p:cNvSpPr/>
            <p:nvPr/>
          </p:nvSpPr>
          <p:spPr>
            <a:xfrm>
              <a:off x="2240280" y="1801368"/>
              <a:ext cx="274320" cy="274320"/>
            </a:xfrm>
            <a:prstGeom prst="ellipse">
              <a:avLst/>
            </a:prstGeom>
            <a:solidFill>
              <a:srgbClr val="9AA0A6"/>
            </a:solidFill>
            <a:ln>
              <a:noFill/>
            </a:ln>
          </p:spPr>
          <p:txBody>
            <a:bodyPr rtlCol="0" anchor="ctr"/>
            <a:lstStyle/>
            <a:p>
              <a:pPr algn="ctr"/>
              <a:endParaRPr/>
            </a:p>
          </p:txBody>
        </p:sp>
        <p:sp>
          <p:nvSpPr>
            <p:cNvPr id="15" name="Rectangle 14"/>
            <p:cNvSpPr/>
            <p:nvPr/>
          </p:nvSpPr>
          <p:spPr>
            <a:xfrm>
              <a:off x="1463040" y="1554480"/>
              <a:ext cx="310896" cy="274320"/>
            </a:xfrm>
            <a:prstGeom prst="rect">
              <a:avLst/>
            </a:prstGeom>
            <a:solidFill>
              <a:srgbClr val="E8E8E8"/>
            </a:solidFill>
            <a:ln w="19050">
              <a:solidFill>
                <a:srgbClr val="101418"/>
              </a:solidFill>
            </a:ln>
          </p:spPr>
          <p:txBody>
            <a:bodyPr rtlCol="0" anchor="ctr"/>
            <a:lstStyle/>
            <a:p>
              <a:pPr algn="ctr"/>
              <a:endParaRPr/>
            </a:p>
          </p:txBody>
        </p:sp>
        <p:sp>
          <p:nvSpPr>
            <p:cNvPr id="16" name="Rectangle 15"/>
            <p:cNvSpPr/>
            <p:nvPr/>
          </p:nvSpPr>
          <p:spPr>
            <a:xfrm>
              <a:off x="1874519" y="1554480"/>
              <a:ext cx="310896" cy="274320"/>
            </a:xfrm>
            <a:prstGeom prst="rect">
              <a:avLst/>
            </a:prstGeom>
            <a:solidFill>
              <a:srgbClr val="E8E8E8"/>
            </a:solidFill>
            <a:ln w="19050">
              <a:solidFill>
                <a:srgbClr val="101418"/>
              </a:solidFill>
            </a:ln>
          </p:spPr>
          <p:txBody>
            <a:bodyPr rtlCol="0" anchor="ctr"/>
            <a:lstStyle/>
            <a:p>
              <a:pPr algn="ctr"/>
              <a:endParaRPr/>
            </a:p>
          </p:txBody>
        </p:sp>
        <p:sp>
          <p:nvSpPr>
            <p:cNvPr id="17" name="TextBox 16"/>
            <p:cNvSpPr txBox="1"/>
            <p:nvPr/>
          </p:nvSpPr>
          <p:spPr>
            <a:xfrm>
              <a:off x="2926080" y="1371600"/>
              <a:ext cx="8503920" cy="932688"/>
            </a:xfrm>
            <a:prstGeom prst="rect">
              <a:avLst/>
            </a:prstGeom>
            <a:noFill/>
          </p:spPr>
          <p:txBody>
            <a:bodyPr wrap="square" lIns="18288" tIns="9144" rIns="18288" bIns="9144" anchor="ctr">
              <a:noAutofit/>
            </a:bodyPr>
            <a:lstStyle/>
            <a:p>
              <a:pPr algn="l"/>
              <a:r>
                <a:rPr lang="en-GB" sz="2400" b="1" i="0">
                  <a:solidFill>
                    <a:srgbClr val="F2F2F2"/>
                  </a:solidFill>
                  <a:latin typeface="Arial"/>
                </a:rPr>
                <a:t>Belts:</a:t>
              </a:r>
              <a:r>
                <a:rPr lang="en-GB" sz="2000" b="0" i="0">
                  <a:solidFill>
                    <a:srgbClr val="F2F2F2"/>
                  </a:solidFill>
                  <a:latin typeface="Arial"/>
                </a:rPr>
                <a:t> permanent short and medium links</a:t>
              </a:r>
            </a:p>
          </p:txBody>
        </p:sp>
      </p:grpSp>
      <p:grpSp>
        <p:nvGrpSpPr>
          <p:cNvPr id="18" name="LANE 2" descr="Lane: tractors, with a tractor icon."/>
          <p:cNvGrpSpPr/>
          <p:nvPr/>
        </p:nvGrpSpPr>
        <p:grpSpPr>
          <a:xfrm>
            <a:off x="548640" y="2414015"/>
            <a:ext cx="11091672" cy="932689"/>
            <a:chOff x="548640" y="2414015"/>
            <a:chExt cx="11091672" cy="932689"/>
          </a:xfrm>
        </p:grpSpPr>
        <p:sp>
          <p:nvSpPr>
            <p:cNvPr id="19" name="Rounded Rectangle 18"/>
            <p:cNvSpPr/>
            <p:nvPr/>
          </p:nvSpPr>
          <p:spPr>
            <a:xfrm>
              <a:off x="548640" y="2414015"/>
              <a:ext cx="11091672" cy="932688"/>
            </a:xfrm>
            <a:prstGeom prst="roundRect">
              <a:avLst>
                <a:gd name="adj" fmla="val 7843"/>
              </a:avLst>
            </a:prstGeom>
            <a:solidFill>
              <a:srgbClr val="2B2F36"/>
            </a:solidFill>
            <a:ln>
              <a:noFill/>
            </a:ln>
          </p:spPr>
          <p:txBody>
            <a:bodyPr rtlCol="0" anchor="ctr"/>
            <a:lstStyle/>
            <a:p>
              <a:pPr algn="ctr"/>
              <a:endParaRPr/>
            </a:p>
          </p:txBody>
        </p:sp>
        <p:sp>
          <p:nvSpPr>
            <p:cNvPr id="20" name="Rectangle 19"/>
            <p:cNvSpPr/>
            <p:nvPr/>
          </p:nvSpPr>
          <p:spPr>
            <a:xfrm>
              <a:off x="548640" y="2487168"/>
              <a:ext cx="73152" cy="786384"/>
            </a:xfrm>
            <a:prstGeom prst="rect">
              <a:avLst/>
            </a:prstGeom>
            <a:solidFill>
              <a:srgbClr val="F2C14E"/>
            </a:solidFill>
            <a:ln>
              <a:noFill/>
            </a:ln>
          </p:spPr>
          <p:txBody>
            <a:bodyPr rtlCol="0" anchor="ctr"/>
            <a:lstStyle/>
            <a:p>
              <a:pPr algn="ctr"/>
              <a:endParaRPr/>
            </a:p>
          </p:txBody>
        </p:sp>
        <p:sp>
          <p:nvSpPr>
            <p:cNvPr id="21" name="Rounded Rectangle 20"/>
            <p:cNvSpPr/>
            <p:nvPr/>
          </p:nvSpPr>
          <p:spPr>
            <a:xfrm>
              <a:off x="1005840" y="2734056"/>
              <a:ext cx="1005840" cy="274320"/>
            </a:xfrm>
            <a:prstGeom prst="roundRect">
              <a:avLst>
                <a:gd name="adj" fmla="val 20000"/>
              </a:avLst>
            </a:prstGeom>
            <a:solidFill>
              <a:srgbClr val="F2C14E"/>
            </a:solidFill>
            <a:ln>
              <a:noFill/>
            </a:ln>
          </p:spPr>
          <p:txBody>
            <a:bodyPr rtlCol="0" anchor="ctr"/>
            <a:lstStyle/>
            <a:p>
              <a:pPr algn="ctr"/>
              <a:endParaRPr/>
            </a:p>
          </p:txBody>
        </p:sp>
        <p:sp>
          <p:nvSpPr>
            <p:cNvPr id="22" name="Rounded Rectangle 21"/>
            <p:cNvSpPr/>
            <p:nvPr/>
          </p:nvSpPr>
          <p:spPr>
            <a:xfrm>
              <a:off x="1600200" y="2487168"/>
              <a:ext cx="457200" cy="320040"/>
            </a:xfrm>
            <a:prstGeom prst="roundRect">
              <a:avLst>
                <a:gd name="adj" fmla="val 14285"/>
              </a:avLst>
            </a:prstGeom>
            <a:solidFill>
              <a:srgbClr val="F2C14E"/>
            </a:solidFill>
            <a:ln>
              <a:noFill/>
            </a:ln>
          </p:spPr>
          <p:txBody>
            <a:bodyPr rtlCol="0" anchor="ctr"/>
            <a:lstStyle/>
            <a:p>
              <a:pPr algn="ctr"/>
              <a:endParaRPr/>
            </a:p>
          </p:txBody>
        </p:sp>
        <p:sp>
          <p:nvSpPr>
            <p:cNvPr id="23" name="Rectangle 22"/>
            <p:cNvSpPr/>
            <p:nvPr/>
          </p:nvSpPr>
          <p:spPr>
            <a:xfrm>
              <a:off x="1691640" y="2551176"/>
              <a:ext cx="274320" cy="164592"/>
            </a:xfrm>
            <a:prstGeom prst="rect">
              <a:avLst/>
            </a:prstGeom>
            <a:solidFill>
              <a:srgbClr val="1E2126"/>
            </a:solidFill>
            <a:ln>
              <a:noFill/>
            </a:ln>
          </p:spPr>
          <p:txBody>
            <a:bodyPr rtlCol="0" anchor="ctr"/>
            <a:lstStyle/>
            <a:p>
              <a:pPr algn="ctr"/>
              <a:endParaRPr/>
            </a:p>
          </p:txBody>
        </p:sp>
        <p:cxnSp>
          <p:nvCxnSpPr>
            <p:cNvPr id="24" name="Connector 23"/>
            <p:cNvCxnSpPr/>
            <p:nvPr/>
          </p:nvCxnSpPr>
          <p:spPr>
            <a:xfrm flipV="1">
              <a:off x="1188720" y="2505456"/>
              <a:ext cx="0" cy="228600"/>
            </a:xfrm>
            <a:prstGeom prst="line">
              <a:avLst/>
            </a:prstGeom>
            <a:ln w="38100">
              <a:solidFill>
                <a:srgbClr val="9AA0A6"/>
              </a:solidFill>
            </a:ln>
          </p:spPr>
        </p:cxnSp>
        <p:sp>
          <p:nvSpPr>
            <p:cNvPr id="25" name="Oval 24"/>
            <p:cNvSpPr/>
            <p:nvPr/>
          </p:nvSpPr>
          <p:spPr>
            <a:xfrm>
              <a:off x="1691640" y="2779776"/>
              <a:ext cx="566928" cy="566928"/>
            </a:xfrm>
            <a:prstGeom prst="ellipse">
              <a:avLst/>
            </a:prstGeom>
            <a:solidFill>
              <a:srgbClr val="101418"/>
            </a:solidFill>
            <a:ln w="38100">
              <a:solidFill>
                <a:srgbClr val="9AA0A6"/>
              </a:solidFill>
            </a:ln>
          </p:spPr>
          <p:txBody>
            <a:bodyPr rtlCol="0" anchor="ctr"/>
            <a:lstStyle/>
            <a:p>
              <a:pPr algn="ctr"/>
              <a:endParaRPr/>
            </a:p>
          </p:txBody>
        </p:sp>
        <p:sp>
          <p:nvSpPr>
            <p:cNvPr id="26" name="Oval 25"/>
            <p:cNvSpPr/>
            <p:nvPr/>
          </p:nvSpPr>
          <p:spPr>
            <a:xfrm>
              <a:off x="960120" y="2935224"/>
              <a:ext cx="365760" cy="365760"/>
            </a:xfrm>
            <a:prstGeom prst="ellipse">
              <a:avLst/>
            </a:prstGeom>
            <a:solidFill>
              <a:srgbClr val="101418"/>
            </a:solidFill>
            <a:ln w="38100">
              <a:solidFill>
                <a:srgbClr val="9AA0A6"/>
              </a:solidFill>
            </a:ln>
          </p:spPr>
          <p:txBody>
            <a:bodyPr rtlCol="0" anchor="ctr"/>
            <a:lstStyle/>
            <a:p>
              <a:pPr algn="ctr"/>
              <a:endParaRPr/>
            </a:p>
          </p:txBody>
        </p:sp>
        <p:sp>
          <p:nvSpPr>
            <p:cNvPr id="27" name="TextBox 26"/>
            <p:cNvSpPr txBox="1"/>
            <p:nvPr/>
          </p:nvSpPr>
          <p:spPr>
            <a:xfrm>
              <a:off x="2926080" y="2414015"/>
              <a:ext cx="8503920" cy="932688"/>
            </a:xfrm>
            <a:prstGeom prst="rect">
              <a:avLst/>
            </a:prstGeom>
            <a:noFill/>
          </p:spPr>
          <p:txBody>
            <a:bodyPr wrap="square" lIns="18288" tIns="9144" rIns="18288" bIns="9144" anchor="ctr">
              <a:noAutofit/>
            </a:bodyPr>
            <a:lstStyle/>
            <a:p>
              <a:pPr algn="l"/>
              <a:r>
                <a:rPr lang="en-GB" sz="2400" b="1" i="0">
                  <a:solidFill>
                    <a:srgbClr val="F2C14E"/>
                  </a:solidFill>
                  <a:latin typeface="Arial"/>
                </a:rPr>
                <a:t>Tractors:</a:t>
              </a:r>
              <a:r>
                <a:rPr lang="en-GB" sz="2000" b="0" i="0">
                  <a:solidFill>
                    <a:srgbClr val="F2F2F2"/>
                  </a:solidFill>
                  <a:latin typeface="Arial"/>
                </a:rPr>
                <a:t> flexible, little infrastructure</a:t>
              </a:r>
            </a:p>
          </p:txBody>
        </p:sp>
      </p:grpSp>
      <p:grpSp>
        <p:nvGrpSpPr>
          <p:cNvPr id="28" name="LANE 3" descr="Lane: steam, with a small steam engine icon."/>
          <p:cNvGrpSpPr/>
          <p:nvPr/>
        </p:nvGrpSpPr>
        <p:grpSpPr>
          <a:xfrm>
            <a:off x="548640" y="3456432"/>
            <a:ext cx="11091672" cy="932688"/>
            <a:chOff x="548640" y="3456432"/>
            <a:chExt cx="11091672" cy="932688"/>
          </a:xfrm>
        </p:grpSpPr>
        <p:sp>
          <p:nvSpPr>
            <p:cNvPr id="29" name="Rounded Rectangle 28"/>
            <p:cNvSpPr/>
            <p:nvPr/>
          </p:nvSpPr>
          <p:spPr>
            <a:xfrm>
              <a:off x="548640" y="3456432"/>
              <a:ext cx="11091672" cy="932688"/>
            </a:xfrm>
            <a:prstGeom prst="roundRect">
              <a:avLst>
                <a:gd name="adj" fmla="val 7843"/>
              </a:avLst>
            </a:prstGeom>
            <a:solidFill>
              <a:srgbClr val="2B2F36"/>
            </a:solidFill>
            <a:ln>
              <a:noFill/>
            </a:ln>
          </p:spPr>
          <p:txBody>
            <a:bodyPr rtlCol="0" anchor="ctr"/>
            <a:lstStyle/>
            <a:p>
              <a:pPr algn="ctr"/>
              <a:endParaRPr/>
            </a:p>
          </p:txBody>
        </p:sp>
        <p:sp>
          <p:nvSpPr>
            <p:cNvPr id="30" name="Rectangle 29"/>
            <p:cNvSpPr/>
            <p:nvPr/>
          </p:nvSpPr>
          <p:spPr>
            <a:xfrm>
              <a:off x="548640" y="3529584"/>
              <a:ext cx="73152" cy="786384"/>
            </a:xfrm>
            <a:prstGeom prst="rect">
              <a:avLst/>
            </a:prstGeom>
            <a:solidFill>
              <a:srgbClr val="F28C28"/>
            </a:solidFill>
            <a:ln>
              <a:noFill/>
            </a:ln>
          </p:spPr>
          <p:txBody>
            <a:bodyPr rtlCol="0" anchor="ctr"/>
            <a:lstStyle/>
            <a:p>
              <a:pPr algn="ctr"/>
              <a:endParaRPr/>
            </a:p>
          </p:txBody>
        </p:sp>
        <p:sp>
          <p:nvSpPr>
            <p:cNvPr id="31" name="Rounded Rectangle 30"/>
            <p:cNvSpPr/>
            <p:nvPr/>
          </p:nvSpPr>
          <p:spPr>
            <a:xfrm>
              <a:off x="1417320" y="3794759"/>
              <a:ext cx="960120" cy="411480"/>
            </a:xfrm>
            <a:prstGeom prst="roundRect">
              <a:avLst>
                <a:gd name="adj" fmla="val 17777"/>
              </a:avLst>
            </a:prstGeom>
            <a:solidFill>
              <a:srgbClr val="F28C28"/>
            </a:solidFill>
            <a:ln>
              <a:noFill/>
            </a:ln>
          </p:spPr>
          <p:txBody>
            <a:bodyPr rtlCol="0" anchor="ctr"/>
            <a:lstStyle/>
            <a:p>
              <a:pPr algn="ctr"/>
              <a:endParaRPr/>
            </a:p>
          </p:txBody>
        </p:sp>
        <p:sp>
          <p:nvSpPr>
            <p:cNvPr id="32" name="Rounded Rectangle 31"/>
            <p:cNvSpPr/>
            <p:nvPr/>
          </p:nvSpPr>
          <p:spPr>
            <a:xfrm>
              <a:off x="914400" y="3511296"/>
              <a:ext cx="457200" cy="713232"/>
            </a:xfrm>
            <a:prstGeom prst="roundRect">
              <a:avLst>
                <a:gd name="adj" fmla="val 10000"/>
              </a:avLst>
            </a:prstGeom>
            <a:solidFill>
              <a:srgbClr val="F28C28"/>
            </a:solidFill>
            <a:ln>
              <a:noFill/>
            </a:ln>
          </p:spPr>
          <p:txBody>
            <a:bodyPr rtlCol="0" anchor="ctr"/>
            <a:lstStyle/>
            <a:p>
              <a:pPr algn="ctr"/>
              <a:endParaRPr/>
            </a:p>
          </p:txBody>
        </p:sp>
        <p:sp>
          <p:nvSpPr>
            <p:cNvPr id="33" name="Rectangle 32"/>
            <p:cNvSpPr/>
            <p:nvPr/>
          </p:nvSpPr>
          <p:spPr>
            <a:xfrm>
              <a:off x="987552" y="3602736"/>
              <a:ext cx="274320" cy="237744"/>
            </a:xfrm>
            <a:prstGeom prst="rect">
              <a:avLst/>
            </a:prstGeom>
            <a:solidFill>
              <a:srgbClr val="1B1D21"/>
            </a:solidFill>
            <a:ln>
              <a:noFill/>
            </a:ln>
          </p:spPr>
          <p:txBody>
            <a:bodyPr rtlCol="0" anchor="ctr"/>
            <a:lstStyle/>
            <a:p>
              <a:pPr algn="ctr"/>
              <a:endParaRPr/>
            </a:p>
          </p:txBody>
        </p:sp>
        <p:sp>
          <p:nvSpPr>
            <p:cNvPr id="34" name="Rectangle 33"/>
            <p:cNvSpPr/>
            <p:nvPr/>
          </p:nvSpPr>
          <p:spPr>
            <a:xfrm>
              <a:off x="2194560" y="3511296"/>
              <a:ext cx="146304" cy="310896"/>
            </a:xfrm>
            <a:prstGeom prst="rect">
              <a:avLst/>
            </a:prstGeom>
            <a:solidFill>
              <a:srgbClr val="1B1D21"/>
            </a:solidFill>
            <a:ln>
              <a:noFill/>
            </a:ln>
          </p:spPr>
          <p:txBody>
            <a:bodyPr rtlCol="0" anchor="ctr"/>
            <a:lstStyle/>
            <a:p>
              <a:pPr algn="ctr"/>
              <a:endParaRPr/>
            </a:p>
          </p:txBody>
        </p:sp>
        <p:sp>
          <p:nvSpPr>
            <p:cNvPr id="35" name="Oval 34"/>
            <p:cNvSpPr/>
            <p:nvPr/>
          </p:nvSpPr>
          <p:spPr>
            <a:xfrm>
              <a:off x="1691640" y="3694176"/>
              <a:ext cx="237744" cy="182880"/>
            </a:xfrm>
            <a:prstGeom prst="ellipse">
              <a:avLst/>
            </a:prstGeom>
            <a:solidFill>
              <a:srgbClr val="F28C28"/>
            </a:solidFill>
            <a:ln>
              <a:noFill/>
            </a:ln>
          </p:spPr>
          <p:txBody>
            <a:bodyPr rtlCol="0" anchor="ctr"/>
            <a:lstStyle/>
            <a:p>
              <a:pPr algn="ctr"/>
              <a:endParaRPr/>
            </a:p>
          </p:txBody>
        </p:sp>
        <p:sp>
          <p:nvSpPr>
            <p:cNvPr id="36" name="Rectangle 35"/>
            <p:cNvSpPr/>
            <p:nvPr/>
          </p:nvSpPr>
          <p:spPr>
            <a:xfrm>
              <a:off x="914400" y="4151376"/>
              <a:ext cx="1554480" cy="82296"/>
            </a:xfrm>
            <a:prstGeom prst="rect">
              <a:avLst/>
            </a:prstGeom>
            <a:solidFill>
              <a:srgbClr val="1B1D21"/>
            </a:solidFill>
            <a:ln>
              <a:noFill/>
            </a:ln>
          </p:spPr>
          <p:txBody>
            <a:bodyPr rtlCol="0" anchor="ctr"/>
            <a:lstStyle/>
            <a:p>
              <a:pPr algn="ctr"/>
              <a:endParaRPr/>
            </a:p>
          </p:txBody>
        </p:sp>
        <p:sp>
          <p:nvSpPr>
            <p:cNvPr id="37" name="Oval 36"/>
            <p:cNvSpPr/>
            <p:nvPr/>
          </p:nvSpPr>
          <p:spPr>
            <a:xfrm>
              <a:off x="1261872" y="4059935"/>
              <a:ext cx="310896" cy="310896"/>
            </a:xfrm>
            <a:prstGeom prst="ellipse">
              <a:avLst/>
            </a:prstGeom>
            <a:solidFill>
              <a:srgbClr val="101418"/>
            </a:solidFill>
            <a:ln w="19050">
              <a:solidFill>
                <a:srgbClr val="9AA0A6"/>
              </a:solidFill>
            </a:ln>
          </p:spPr>
          <p:txBody>
            <a:bodyPr rtlCol="0" anchor="ctr"/>
            <a:lstStyle/>
            <a:p>
              <a:pPr algn="ctr"/>
              <a:endParaRPr/>
            </a:p>
          </p:txBody>
        </p:sp>
        <p:sp>
          <p:nvSpPr>
            <p:cNvPr id="38" name="Oval 37"/>
            <p:cNvSpPr/>
            <p:nvPr/>
          </p:nvSpPr>
          <p:spPr>
            <a:xfrm>
              <a:off x="1627632" y="4059935"/>
              <a:ext cx="310896" cy="310896"/>
            </a:xfrm>
            <a:prstGeom prst="ellipse">
              <a:avLst/>
            </a:prstGeom>
            <a:solidFill>
              <a:srgbClr val="101418"/>
            </a:solidFill>
            <a:ln w="19050">
              <a:solidFill>
                <a:srgbClr val="9AA0A6"/>
              </a:solidFill>
            </a:ln>
          </p:spPr>
          <p:txBody>
            <a:bodyPr rtlCol="0" anchor="ctr"/>
            <a:lstStyle/>
            <a:p>
              <a:pPr algn="ctr"/>
              <a:endParaRPr/>
            </a:p>
          </p:txBody>
        </p:sp>
        <p:sp>
          <p:nvSpPr>
            <p:cNvPr id="39" name="Oval 38"/>
            <p:cNvSpPr/>
            <p:nvPr/>
          </p:nvSpPr>
          <p:spPr>
            <a:xfrm>
              <a:off x="1993391" y="4059935"/>
              <a:ext cx="310896" cy="310896"/>
            </a:xfrm>
            <a:prstGeom prst="ellipse">
              <a:avLst/>
            </a:prstGeom>
            <a:solidFill>
              <a:srgbClr val="101418"/>
            </a:solidFill>
            <a:ln w="19050">
              <a:solidFill>
                <a:srgbClr val="9AA0A6"/>
              </a:solidFill>
            </a:ln>
          </p:spPr>
          <p:txBody>
            <a:bodyPr rtlCol="0" anchor="ctr"/>
            <a:lstStyle/>
            <a:p>
              <a:pPr algn="ctr"/>
              <a:endParaRPr/>
            </a:p>
          </p:txBody>
        </p:sp>
        <p:sp>
          <p:nvSpPr>
            <p:cNvPr id="40" name="TextBox 39"/>
            <p:cNvSpPr txBox="1"/>
            <p:nvPr/>
          </p:nvSpPr>
          <p:spPr>
            <a:xfrm>
              <a:off x="2926080" y="3456432"/>
              <a:ext cx="8503920" cy="932688"/>
            </a:xfrm>
            <a:prstGeom prst="rect">
              <a:avLst/>
            </a:prstGeom>
            <a:noFill/>
          </p:spPr>
          <p:txBody>
            <a:bodyPr wrap="square" lIns="18288" tIns="9144" rIns="18288" bIns="9144" anchor="ctr">
              <a:noAutofit/>
            </a:bodyPr>
            <a:lstStyle/>
            <a:p>
              <a:pPr algn="l"/>
              <a:r>
                <a:rPr lang="en-GB" sz="2400" b="1" i="0">
                  <a:solidFill>
                    <a:srgbClr val="F28C28"/>
                  </a:solidFill>
                  <a:latin typeface="Arial"/>
                </a:rPr>
                <a:t>Steam:</a:t>
              </a:r>
              <a:r>
                <a:rPr lang="en-GB" sz="2000" b="0" i="0">
                  <a:solidFill>
                    <a:srgbClr val="F2F2F2"/>
                  </a:solidFill>
                  <a:latin typeface="Arial"/>
                </a:rPr>
                <a:t> early long-distance bulk</a:t>
              </a:r>
            </a:p>
          </p:txBody>
        </p:sp>
      </p:grpSp>
      <p:grpSp>
        <p:nvGrpSpPr>
          <p:cNvPr id="41" name="LANE 4" descr="Lane: electric, with a blue monorail carriage on a beam."/>
          <p:cNvGrpSpPr/>
          <p:nvPr/>
        </p:nvGrpSpPr>
        <p:grpSpPr>
          <a:xfrm>
            <a:off x="548640" y="4498848"/>
            <a:ext cx="11091672" cy="932688"/>
            <a:chOff x="548640" y="4498848"/>
            <a:chExt cx="11091672" cy="932688"/>
          </a:xfrm>
        </p:grpSpPr>
        <p:sp>
          <p:nvSpPr>
            <p:cNvPr id="42" name="Rounded Rectangle 41"/>
            <p:cNvSpPr/>
            <p:nvPr/>
          </p:nvSpPr>
          <p:spPr>
            <a:xfrm>
              <a:off x="548640" y="4498848"/>
              <a:ext cx="11091672" cy="932688"/>
            </a:xfrm>
            <a:prstGeom prst="roundRect">
              <a:avLst>
                <a:gd name="adj" fmla="val 7843"/>
              </a:avLst>
            </a:prstGeom>
            <a:solidFill>
              <a:srgbClr val="2B2F36"/>
            </a:solidFill>
            <a:ln>
              <a:noFill/>
            </a:ln>
          </p:spPr>
          <p:txBody>
            <a:bodyPr rtlCol="0" anchor="ctr"/>
            <a:lstStyle/>
            <a:p>
              <a:pPr algn="ctr"/>
              <a:endParaRPr/>
            </a:p>
          </p:txBody>
        </p:sp>
        <p:sp>
          <p:nvSpPr>
            <p:cNvPr id="43" name="Rectangle 42"/>
            <p:cNvSpPr/>
            <p:nvPr/>
          </p:nvSpPr>
          <p:spPr>
            <a:xfrm>
              <a:off x="548640" y="4572000"/>
              <a:ext cx="73152" cy="786384"/>
            </a:xfrm>
            <a:prstGeom prst="rect">
              <a:avLst/>
            </a:prstGeom>
            <a:solidFill>
              <a:srgbClr val="6CA0DC"/>
            </a:solidFill>
            <a:ln>
              <a:noFill/>
            </a:ln>
          </p:spPr>
          <p:txBody>
            <a:bodyPr rtlCol="0" anchor="ctr"/>
            <a:lstStyle/>
            <a:p>
              <a:pPr algn="ctr"/>
              <a:endParaRPr/>
            </a:p>
          </p:txBody>
        </p:sp>
        <p:sp>
          <p:nvSpPr>
            <p:cNvPr id="44" name="Rectangle 43"/>
            <p:cNvSpPr/>
            <p:nvPr/>
          </p:nvSpPr>
          <p:spPr>
            <a:xfrm>
              <a:off x="868680" y="5248656"/>
              <a:ext cx="1645920" cy="109728"/>
            </a:xfrm>
            <a:prstGeom prst="rect">
              <a:avLst/>
            </a:prstGeom>
            <a:solidFill>
              <a:srgbClr val="E8E8E8"/>
            </a:solidFill>
            <a:ln>
              <a:noFill/>
            </a:ln>
          </p:spPr>
          <p:txBody>
            <a:bodyPr rtlCol="0" anchor="ctr"/>
            <a:lstStyle/>
            <a:p>
              <a:pPr algn="ctr"/>
              <a:endParaRPr/>
            </a:p>
          </p:txBody>
        </p:sp>
        <p:sp>
          <p:nvSpPr>
            <p:cNvPr id="45" name="Rounded Rectangle 44"/>
            <p:cNvSpPr/>
            <p:nvPr/>
          </p:nvSpPr>
          <p:spPr>
            <a:xfrm>
              <a:off x="914400" y="4700016"/>
              <a:ext cx="1554480" cy="566928"/>
            </a:xfrm>
            <a:prstGeom prst="roundRect">
              <a:avLst>
                <a:gd name="adj" fmla="val 25806"/>
              </a:avLst>
            </a:prstGeom>
            <a:solidFill>
              <a:srgbClr val="6CA0DC"/>
            </a:solidFill>
            <a:ln>
              <a:noFill/>
            </a:ln>
          </p:spPr>
          <p:txBody>
            <a:bodyPr rtlCol="0" anchor="ctr"/>
            <a:lstStyle/>
            <a:p>
              <a:pPr algn="ctr"/>
              <a:endParaRPr/>
            </a:p>
          </p:txBody>
        </p:sp>
        <p:sp>
          <p:nvSpPr>
            <p:cNvPr id="46" name="Rounded Rectangle 45"/>
            <p:cNvSpPr/>
            <p:nvPr/>
          </p:nvSpPr>
          <p:spPr>
            <a:xfrm>
              <a:off x="1088136" y="4809744"/>
              <a:ext cx="246887" cy="201168"/>
            </a:xfrm>
            <a:prstGeom prst="roundRect">
              <a:avLst>
                <a:gd name="adj" fmla="val 18181"/>
              </a:avLst>
            </a:prstGeom>
            <a:solidFill>
              <a:srgbClr val="1E2126"/>
            </a:solidFill>
            <a:ln>
              <a:noFill/>
            </a:ln>
          </p:spPr>
          <p:txBody>
            <a:bodyPr rtlCol="0" anchor="ctr"/>
            <a:lstStyle/>
            <a:p>
              <a:pPr algn="ctr"/>
              <a:endParaRPr/>
            </a:p>
          </p:txBody>
        </p:sp>
        <p:sp>
          <p:nvSpPr>
            <p:cNvPr id="47" name="Rounded Rectangle 46"/>
            <p:cNvSpPr/>
            <p:nvPr/>
          </p:nvSpPr>
          <p:spPr>
            <a:xfrm>
              <a:off x="1408176" y="4809744"/>
              <a:ext cx="246887" cy="201168"/>
            </a:xfrm>
            <a:prstGeom prst="roundRect">
              <a:avLst>
                <a:gd name="adj" fmla="val 18181"/>
              </a:avLst>
            </a:prstGeom>
            <a:solidFill>
              <a:srgbClr val="1E2126"/>
            </a:solidFill>
            <a:ln>
              <a:noFill/>
            </a:ln>
          </p:spPr>
          <p:txBody>
            <a:bodyPr rtlCol="0" anchor="ctr"/>
            <a:lstStyle/>
            <a:p>
              <a:pPr algn="ctr"/>
              <a:endParaRPr/>
            </a:p>
          </p:txBody>
        </p:sp>
        <p:sp>
          <p:nvSpPr>
            <p:cNvPr id="48" name="Rounded Rectangle 47"/>
            <p:cNvSpPr/>
            <p:nvPr/>
          </p:nvSpPr>
          <p:spPr>
            <a:xfrm>
              <a:off x="1728216" y="4809744"/>
              <a:ext cx="246887" cy="201168"/>
            </a:xfrm>
            <a:prstGeom prst="roundRect">
              <a:avLst>
                <a:gd name="adj" fmla="val 18181"/>
              </a:avLst>
            </a:prstGeom>
            <a:solidFill>
              <a:srgbClr val="1E2126"/>
            </a:solidFill>
            <a:ln>
              <a:noFill/>
            </a:ln>
          </p:spPr>
          <p:txBody>
            <a:bodyPr rtlCol="0" anchor="ctr"/>
            <a:lstStyle/>
            <a:p>
              <a:pPr algn="ctr"/>
              <a:endParaRPr/>
            </a:p>
          </p:txBody>
        </p:sp>
        <p:sp>
          <p:nvSpPr>
            <p:cNvPr id="49" name="Rounded Rectangle 48"/>
            <p:cNvSpPr/>
            <p:nvPr/>
          </p:nvSpPr>
          <p:spPr>
            <a:xfrm>
              <a:off x="2048255" y="4809744"/>
              <a:ext cx="246887" cy="201168"/>
            </a:xfrm>
            <a:prstGeom prst="roundRect">
              <a:avLst>
                <a:gd name="adj" fmla="val 18181"/>
              </a:avLst>
            </a:prstGeom>
            <a:solidFill>
              <a:srgbClr val="1E2126"/>
            </a:solidFill>
            <a:ln>
              <a:noFill/>
            </a:ln>
          </p:spPr>
          <p:txBody>
            <a:bodyPr rtlCol="0" anchor="ctr"/>
            <a:lstStyle/>
            <a:p>
              <a:pPr algn="ctr"/>
              <a:endParaRPr/>
            </a:p>
          </p:txBody>
        </p:sp>
        <p:sp>
          <p:nvSpPr>
            <p:cNvPr id="50" name="TextBox 49"/>
            <p:cNvSpPr txBox="1"/>
            <p:nvPr/>
          </p:nvSpPr>
          <p:spPr>
            <a:xfrm>
              <a:off x="2926080" y="4498848"/>
              <a:ext cx="8503920" cy="932688"/>
            </a:xfrm>
            <a:prstGeom prst="rect">
              <a:avLst/>
            </a:prstGeom>
            <a:noFill/>
          </p:spPr>
          <p:txBody>
            <a:bodyPr wrap="square" lIns="18288" tIns="9144" rIns="18288" bIns="9144" anchor="ctr">
              <a:noAutofit/>
            </a:bodyPr>
            <a:lstStyle/>
            <a:p>
              <a:pPr algn="l"/>
              <a:r>
                <a:rPr lang="en-GB" sz="2400" b="1" i="0">
                  <a:solidFill>
                    <a:srgbClr val="6CA0DC"/>
                  </a:solidFill>
                  <a:latin typeface="Arial"/>
                </a:rPr>
                <a:t>Electric:</a:t>
              </a:r>
              <a:r>
                <a:rPr lang="en-GB" sz="2000" b="0" i="0">
                  <a:solidFill>
                    <a:srgbClr val="F2F2F2"/>
                  </a:solidFill>
                  <a:latin typeface="Arial"/>
                </a:rPr>
                <a:t> mature speed and throughput</a:t>
              </a:r>
            </a:p>
          </p:txBody>
        </p:sp>
      </p:grpSp>
      <p:sp>
        <p:nvSpPr>
          <p:cNvPr id="5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52"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53"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Belts, tractors, steam and electric rail each have a job. Electric leads when the factory matures.</a:t>
            </a:r>
          </a:p>
        </p:txBody>
      </p:sp>
      <p:sp>
        <p:nvSpPr>
          <p:cNvPr id="54"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19</a:t>
            </a:r>
          </a:p>
        </p:txBody>
      </p:sp>
    </p:spTree>
    <p:extLst>
      <p:ext uri="{BB962C8B-B14F-4D97-AF65-F5344CB8AC3E}">
        <p14:creationId xmlns:p14="http://schemas.microsoft.com/office/powerpoint/2010/main" val="6845539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57"/>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nodeType="withEffect">
                                  <p:stCondLst>
                                    <p:cond delay="514"/>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771"/>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par>
                                <p:cTn id="17" presetID="10" presetClass="entr" presetSubtype="0" fill="hold" nodeType="withEffect">
                                  <p:stCondLst>
                                    <p:cond delay="1028"/>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childTnLst>
                                </p:cTn>
                              </p:par>
                              <p:par>
                                <p:cTn id="20" presetID="10" presetClass="entr" presetSubtype="0" fill="hold" nodeType="withEffect">
                                  <p:stCondLst>
                                    <p:cond delay="1285"/>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500"/>
                                        <p:tgtEl>
                                          <p:spTgt spid="52"/>
                                        </p:tgtEl>
                                      </p:cBhvr>
                                    </p:animEffect>
                                  </p:childTnLst>
                                </p:cTn>
                              </p:par>
                              <p:par>
                                <p:cTn id="23" presetID="10" presetClass="entr" presetSubtype="0" fill="hold" nodeType="withEffect">
                                  <p:stCondLst>
                                    <p:cond delay="1542"/>
                                  </p:stCondLst>
                                  <p:childTnLst>
                                    <p:set>
                                      <p:cBhvr>
                                        <p:cTn id="24" dur="1" fill="hold">
                                          <p:stCondLst>
                                            <p:cond delay="0"/>
                                          </p:stCondLst>
                                        </p:cTn>
                                        <p:tgtEl>
                                          <p:spTgt spid="53"/>
                                        </p:tgtEl>
                                        <p:attrNameLst>
                                          <p:attrName>style.visibility</p:attrName>
                                        </p:attrNameLst>
                                      </p:cBhvr>
                                      <p:to>
                                        <p:strVal val="visible"/>
                                      </p:to>
                                    </p:set>
                                    <p:animEffect transition="in" filter="fade">
                                      <p:cBhvr>
                                        <p:cTn id="2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Where this stands</a:t>
            </a:r>
          </a:p>
        </p:txBody>
      </p:sp>
      <p:sp>
        <p:nvSpPr>
          <p:cNvPr id="3" name="CHIP"/>
          <p:cNvSpPr/>
          <p:nvPr/>
        </p:nvSpPr>
        <p:spPr>
          <a:xfrm>
            <a:off x="10088575" y="548640"/>
            <a:ext cx="1554480" cy="365760"/>
          </a:xfrm>
          <a:prstGeom prst="roundRect">
            <a:avLst>
              <a:gd name="adj" fmla="val 50000"/>
            </a:avLst>
          </a:prstGeom>
          <a:solidFill>
            <a:srgbClr val="4DA3FF"/>
          </a:solidFill>
          <a:ln>
            <a:noFill/>
          </a:ln>
        </p:spPr>
        <p:txBody>
          <a:bodyPr wrap="square" lIns="36576" tIns="0" rIns="36576" bIns="0" rtlCol="0" anchor="ctr">
            <a:noAutofit/>
          </a:bodyPr>
          <a:lstStyle/>
          <a:p>
            <a:pPr algn="ctr"/>
            <a:r>
              <a:rPr lang="en-GB" sz="1400" b="1" i="0">
                <a:solidFill>
                  <a:srgbClr val="101418"/>
                </a:solidFill>
                <a:latin typeface="Arial"/>
              </a:rPr>
              <a:t>PROVISIONAL</a:t>
            </a:r>
          </a:p>
        </p:txBody>
      </p:sp>
      <p:pic>
        <p:nvPicPr>
          <p:cNvPr id="4" name="PICTURE R01" descr="Early test model of a tank engine (a yellow 'visual probe') on a short length of track. Not final art."/>
          <p:cNvPicPr>
            <a:picLocks noChangeAspect="1"/>
          </p:cNvPicPr>
          <p:nvPr/>
        </p:nvPicPr>
        <p:blipFill>
          <a:blip r:embed="rId2"/>
          <a:srcRect l="625" r="625"/>
          <a:stretch>
            <a:fillRect/>
          </a:stretch>
        </p:blipFill>
        <p:spPr>
          <a:xfrm>
            <a:off x="548640" y="1371600"/>
            <a:ext cx="2194560" cy="1234440"/>
          </a:xfrm>
          <a:prstGeom prst="roundRect">
            <a:avLst>
              <a:gd name="adj" fmla="val 5925"/>
            </a:avLst>
          </a:prstGeom>
        </p:spPr>
      </p:pic>
      <p:sp>
        <p:nvSpPr>
          <p:cNvPr id="5" name="CREDIT"/>
          <p:cNvSpPr txBox="1"/>
          <p:nvPr/>
        </p:nvSpPr>
        <p:spPr>
          <a:xfrm>
            <a:off x="548640" y="2633472"/>
            <a:ext cx="2194560" cy="201168"/>
          </a:xfrm>
          <a:prstGeom prst="rect">
            <a:avLst/>
          </a:prstGeom>
          <a:noFill/>
        </p:spPr>
        <p:txBody>
          <a:bodyPr wrap="square" lIns="0" tIns="0" rIns="0" bIns="0" anchor="t">
            <a:noAutofit/>
          </a:bodyPr>
          <a:lstStyle/>
          <a:p>
            <a:pPr algn="l"/>
            <a:r>
              <a:rPr lang="en-GB" sz="1000" b="0" i="0">
                <a:solidFill>
                  <a:srgbClr val="A9B0B8"/>
                </a:solidFill>
                <a:latin typeface="Arial"/>
              </a:rPr>
              <a:t>Early test model, not final art.</a:t>
            </a:r>
          </a:p>
        </p:txBody>
      </p:sp>
      <p:grpSp>
        <p:nvGrpSpPr>
          <p:cNvPr id="6" name="NOTE" descr="Note: Plans can change. (Provisional)."/>
          <p:cNvGrpSpPr/>
          <p:nvPr/>
        </p:nvGrpSpPr>
        <p:grpSpPr>
          <a:xfrm>
            <a:off x="3108960" y="1691640"/>
            <a:ext cx="8531352" cy="594360"/>
            <a:chOff x="3108960" y="1691640"/>
            <a:chExt cx="8531352" cy="594360"/>
          </a:xfrm>
        </p:grpSpPr>
        <p:sp>
          <p:nvSpPr>
            <p:cNvPr id="7" name="Rounded Rectangle 6"/>
            <p:cNvSpPr/>
            <p:nvPr/>
          </p:nvSpPr>
          <p:spPr>
            <a:xfrm>
              <a:off x="3108960" y="1691640"/>
              <a:ext cx="8531352" cy="594360"/>
            </a:xfrm>
            <a:prstGeom prst="roundRect">
              <a:avLst>
                <a:gd name="adj" fmla="val 12307"/>
              </a:avLst>
            </a:prstGeom>
            <a:solidFill>
              <a:srgbClr val="2B2F36"/>
            </a:solidFill>
            <a:ln>
              <a:noFill/>
            </a:ln>
          </p:spPr>
          <p:txBody>
            <a:bodyPr rtlCol="0" anchor="ctr"/>
            <a:lstStyle/>
            <a:p>
              <a:pPr algn="ctr"/>
              <a:endParaRPr/>
            </a:p>
          </p:txBody>
        </p:sp>
        <p:sp>
          <p:nvSpPr>
            <p:cNvPr id="8" name="ICHIP"/>
            <p:cNvSpPr/>
            <p:nvPr/>
          </p:nvSpPr>
          <p:spPr>
            <a:xfrm>
              <a:off x="3337560" y="1833372"/>
              <a:ext cx="1682200" cy="310896"/>
            </a:xfrm>
            <a:prstGeom prst="roundRect">
              <a:avLst>
                <a:gd name="adj" fmla="val 50000"/>
              </a:avLst>
            </a:prstGeom>
            <a:solidFill>
              <a:srgbClr val="4DA3FF"/>
            </a:solidFill>
            <a:ln>
              <a:noFill/>
            </a:ln>
          </p:spPr>
          <p:txBody>
            <a:bodyPr wrap="square" lIns="36576" tIns="0" rIns="36576" bIns="0" rtlCol="0" anchor="ctr">
              <a:noAutofit/>
            </a:bodyPr>
            <a:lstStyle/>
            <a:p>
              <a:pPr algn="ctr"/>
              <a:r>
                <a:rPr lang="en-GB" sz="1400" b="1" i="0">
                  <a:solidFill>
                    <a:srgbClr val="101418"/>
                  </a:solidFill>
                  <a:latin typeface="Arial"/>
                </a:rPr>
                <a:t>PROVISIONAL</a:t>
              </a:r>
            </a:p>
          </p:txBody>
        </p:sp>
        <p:sp>
          <p:nvSpPr>
            <p:cNvPr id="9" name="TextBox 8"/>
            <p:cNvSpPr txBox="1"/>
            <p:nvPr/>
          </p:nvSpPr>
          <p:spPr>
            <a:xfrm>
              <a:off x="5248360" y="1691640"/>
              <a:ext cx="6117631" cy="594360"/>
            </a:xfrm>
            <a:prstGeom prst="rect">
              <a:avLst/>
            </a:prstGeom>
            <a:noFill/>
          </p:spPr>
          <p:txBody>
            <a:bodyPr wrap="square" lIns="18288" tIns="9144" rIns="18288" bIns="9144" anchor="ctr">
              <a:noAutofit/>
            </a:bodyPr>
            <a:lstStyle/>
            <a:p>
              <a:pPr algn="l"/>
              <a:r>
                <a:rPr lang="en-GB" sz="2000" b="0" i="0">
                  <a:solidFill>
                    <a:srgbClr val="F2F2F2"/>
                  </a:solidFill>
                  <a:latin typeface="Arial"/>
                </a:rPr>
                <a:t>Plans can change.</a:t>
              </a:r>
            </a:p>
          </p:txBody>
        </p:sp>
      </p:grpSp>
      <p:grpSp>
        <p:nvGrpSpPr>
          <p:cNvPr id="10" name="ROADMAP" descr="Five steps. The test engine on the game's rails is under way. The other four steps are planned."/>
          <p:cNvGrpSpPr/>
          <p:nvPr/>
        </p:nvGrpSpPr>
        <p:grpSpPr>
          <a:xfrm>
            <a:off x="548640" y="3108960"/>
            <a:ext cx="11091672" cy="2331720"/>
            <a:chOff x="548640" y="3108960"/>
            <a:chExt cx="11091672" cy="2331720"/>
          </a:xfrm>
        </p:grpSpPr>
        <p:sp>
          <p:nvSpPr>
            <p:cNvPr id="11" name="Rounded Rectangle 10"/>
            <p:cNvSpPr/>
            <p:nvPr/>
          </p:nvSpPr>
          <p:spPr>
            <a:xfrm>
              <a:off x="548640" y="3108960"/>
              <a:ext cx="2103120" cy="2331720"/>
            </a:xfrm>
            <a:prstGeom prst="roundRect">
              <a:avLst>
                <a:gd name="adj" fmla="val 3478"/>
              </a:avLst>
            </a:prstGeom>
            <a:solidFill>
              <a:srgbClr val="2B2F36"/>
            </a:solidFill>
            <a:ln w="31750">
              <a:solidFill>
                <a:srgbClr val="F28C28"/>
              </a:solidFill>
            </a:ln>
          </p:spPr>
          <p:txBody>
            <a:bodyPr rtlCol="0" anchor="ctr"/>
            <a:lstStyle/>
            <a:p>
              <a:pPr algn="ctr"/>
              <a:endParaRPr/>
            </a:p>
          </p:txBody>
        </p:sp>
        <p:sp>
          <p:nvSpPr>
            <p:cNvPr id="12" name="BADGE"/>
            <p:cNvSpPr/>
            <p:nvPr/>
          </p:nvSpPr>
          <p:spPr>
            <a:xfrm>
              <a:off x="704088" y="3264408"/>
              <a:ext cx="420624" cy="420624"/>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1</a:t>
              </a:r>
            </a:p>
          </p:txBody>
        </p:sp>
        <p:sp>
          <p:nvSpPr>
            <p:cNvPr id="13" name="TextBox 12"/>
            <p:cNvSpPr txBox="1"/>
            <p:nvPr/>
          </p:nvSpPr>
          <p:spPr>
            <a:xfrm>
              <a:off x="658368" y="3794760"/>
              <a:ext cx="1883663" cy="914400"/>
            </a:xfrm>
            <a:prstGeom prst="rect">
              <a:avLst/>
            </a:prstGeom>
            <a:noFill/>
          </p:spPr>
          <p:txBody>
            <a:bodyPr wrap="square" lIns="18288" tIns="9144" rIns="18288" bIns="9144" anchor="t">
              <a:noAutofit/>
            </a:bodyPr>
            <a:lstStyle/>
            <a:p>
              <a:pPr algn="l"/>
              <a:r>
                <a:rPr lang="en-GB" sz="1800" b="1" i="0">
                  <a:solidFill>
                    <a:srgbClr val="F2F2F2"/>
                  </a:solidFill>
                  <a:latin typeface="Arial"/>
                </a:rPr>
                <a:t>Test engine on the game's rails</a:t>
              </a:r>
            </a:p>
          </p:txBody>
        </p:sp>
        <p:sp>
          <p:nvSpPr>
            <p:cNvPr id="14" name="Rounded Rectangle 13"/>
            <p:cNvSpPr/>
            <p:nvPr/>
          </p:nvSpPr>
          <p:spPr>
            <a:xfrm>
              <a:off x="685800" y="4800600"/>
              <a:ext cx="1828799" cy="411480"/>
            </a:xfrm>
            <a:prstGeom prst="roundRect">
              <a:avLst>
                <a:gd name="adj" fmla="val 48888"/>
              </a:avLst>
            </a:prstGeom>
            <a:solidFill>
              <a:srgbClr val="F28C28"/>
            </a:solidFill>
            <a:ln>
              <a:noFill/>
            </a:ln>
          </p:spPr>
          <p:txBody>
            <a:bodyPr wrap="square" lIns="54864" tIns="27432" rIns="54864" bIns="27432" rtlCol="0" anchor="ctr">
              <a:noAutofit/>
            </a:bodyPr>
            <a:lstStyle/>
            <a:p>
              <a:pPr algn="ctr"/>
              <a:r>
                <a:rPr lang="en-GB" sz="1600" b="1" i="0">
                  <a:solidFill>
                    <a:srgbClr val="101418"/>
                  </a:solidFill>
                  <a:latin typeface="Arial"/>
                </a:rPr>
                <a:t>Under way</a:t>
              </a:r>
            </a:p>
          </p:txBody>
        </p:sp>
        <p:sp>
          <p:nvSpPr>
            <p:cNvPr id="15" name="Rounded Rectangle 14"/>
            <p:cNvSpPr/>
            <p:nvPr/>
          </p:nvSpPr>
          <p:spPr>
            <a:xfrm>
              <a:off x="2795778" y="3108960"/>
              <a:ext cx="2103120" cy="2331720"/>
            </a:xfrm>
            <a:prstGeom prst="roundRect">
              <a:avLst>
                <a:gd name="adj" fmla="val 3478"/>
              </a:avLst>
            </a:prstGeom>
            <a:solidFill>
              <a:srgbClr val="2B2F36"/>
            </a:solidFill>
            <a:ln>
              <a:noFill/>
            </a:ln>
          </p:spPr>
          <p:txBody>
            <a:bodyPr rtlCol="0" anchor="ctr"/>
            <a:lstStyle/>
            <a:p>
              <a:pPr algn="ctr"/>
              <a:endParaRPr/>
            </a:p>
          </p:txBody>
        </p:sp>
        <p:sp>
          <p:nvSpPr>
            <p:cNvPr id="16" name="BADGE"/>
            <p:cNvSpPr/>
            <p:nvPr/>
          </p:nvSpPr>
          <p:spPr>
            <a:xfrm>
              <a:off x="2951226" y="3264408"/>
              <a:ext cx="420624" cy="420624"/>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2</a:t>
              </a:r>
            </a:p>
          </p:txBody>
        </p:sp>
        <p:sp>
          <p:nvSpPr>
            <p:cNvPr id="17" name="TextBox 16"/>
            <p:cNvSpPr txBox="1"/>
            <p:nvPr/>
          </p:nvSpPr>
          <p:spPr>
            <a:xfrm>
              <a:off x="2905506" y="3794760"/>
              <a:ext cx="1883663" cy="914400"/>
            </a:xfrm>
            <a:prstGeom prst="rect">
              <a:avLst/>
            </a:prstGeom>
            <a:noFill/>
          </p:spPr>
          <p:txBody>
            <a:bodyPr wrap="square" lIns="18288" tIns="9144" rIns="18288" bIns="9144" anchor="t">
              <a:noAutofit/>
            </a:bodyPr>
            <a:lstStyle/>
            <a:p>
              <a:pPr algn="l"/>
              <a:r>
                <a:rPr lang="en-GB" sz="1800" b="1" i="0">
                  <a:solidFill>
                    <a:srgbClr val="F2F2F2"/>
                  </a:solidFill>
                  <a:latin typeface="Arial"/>
                </a:rPr>
                <a:t>Upgrade in place</a:t>
              </a:r>
            </a:p>
          </p:txBody>
        </p:sp>
        <p:sp>
          <p:nvSpPr>
            <p:cNvPr id="18" name="Rounded Rectangle 17"/>
            <p:cNvSpPr/>
            <p:nvPr/>
          </p:nvSpPr>
          <p:spPr>
            <a:xfrm>
              <a:off x="2932938" y="4800600"/>
              <a:ext cx="1828799" cy="411480"/>
            </a:xfrm>
            <a:prstGeom prst="roundRect">
              <a:avLst>
                <a:gd name="adj" fmla="val 48888"/>
              </a:avLst>
            </a:prstGeom>
            <a:noFill/>
            <a:ln w="25400">
              <a:solidFill>
                <a:srgbClr val="A9B0B8"/>
              </a:solidFill>
            </a:ln>
          </p:spPr>
          <p:txBody>
            <a:bodyPr wrap="square" lIns="54864" tIns="27432" rIns="54864" bIns="27432" rtlCol="0" anchor="ctr">
              <a:noAutofit/>
            </a:bodyPr>
            <a:lstStyle/>
            <a:p>
              <a:pPr algn="ctr"/>
              <a:r>
                <a:rPr lang="en-GB" sz="1600" b="1" i="0">
                  <a:solidFill>
                    <a:srgbClr val="F2F2F2"/>
                  </a:solidFill>
                  <a:latin typeface="Arial"/>
                </a:rPr>
                <a:t>Planned</a:t>
              </a:r>
            </a:p>
          </p:txBody>
        </p:sp>
        <p:sp>
          <p:nvSpPr>
            <p:cNvPr id="19" name="Rounded Rectangle 18"/>
            <p:cNvSpPr/>
            <p:nvPr/>
          </p:nvSpPr>
          <p:spPr>
            <a:xfrm>
              <a:off x="5042916" y="3108960"/>
              <a:ext cx="2103120" cy="2331720"/>
            </a:xfrm>
            <a:prstGeom prst="roundRect">
              <a:avLst>
                <a:gd name="adj" fmla="val 3478"/>
              </a:avLst>
            </a:prstGeom>
            <a:solidFill>
              <a:srgbClr val="2B2F36"/>
            </a:solidFill>
            <a:ln>
              <a:noFill/>
            </a:ln>
          </p:spPr>
          <p:txBody>
            <a:bodyPr rtlCol="0" anchor="ctr"/>
            <a:lstStyle/>
            <a:p>
              <a:pPr algn="ctr"/>
              <a:endParaRPr/>
            </a:p>
          </p:txBody>
        </p:sp>
        <p:sp>
          <p:nvSpPr>
            <p:cNvPr id="20" name="BADGE"/>
            <p:cNvSpPr/>
            <p:nvPr/>
          </p:nvSpPr>
          <p:spPr>
            <a:xfrm>
              <a:off x="5198364" y="3264408"/>
              <a:ext cx="420624" cy="420624"/>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3</a:t>
              </a:r>
            </a:p>
          </p:txBody>
        </p:sp>
        <p:sp>
          <p:nvSpPr>
            <p:cNvPr id="21" name="TextBox 20"/>
            <p:cNvSpPr txBox="1"/>
            <p:nvPr/>
          </p:nvSpPr>
          <p:spPr>
            <a:xfrm>
              <a:off x="5152644" y="3794760"/>
              <a:ext cx="1883663" cy="914400"/>
            </a:xfrm>
            <a:prstGeom prst="rect">
              <a:avLst/>
            </a:prstGeom>
            <a:noFill/>
          </p:spPr>
          <p:txBody>
            <a:bodyPr wrap="square" lIns="18288" tIns="9144" rIns="18288" bIns="9144" anchor="t">
              <a:noAutofit/>
            </a:bodyPr>
            <a:lstStyle/>
            <a:p>
              <a:pPr algn="l"/>
              <a:r>
                <a:rPr lang="en-GB" sz="1800" b="1" i="0">
                  <a:solidFill>
                    <a:srgbClr val="F2F2F2"/>
                  </a:solidFill>
                  <a:latin typeface="Arial"/>
                </a:rPr>
                <a:t>Station replacement</a:t>
              </a:r>
            </a:p>
          </p:txBody>
        </p:sp>
        <p:sp>
          <p:nvSpPr>
            <p:cNvPr id="22" name="Rounded Rectangle 21"/>
            <p:cNvSpPr/>
            <p:nvPr/>
          </p:nvSpPr>
          <p:spPr>
            <a:xfrm>
              <a:off x="5180076" y="4800600"/>
              <a:ext cx="1828799" cy="411480"/>
            </a:xfrm>
            <a:prstGeom prst="roundRect">
              <a:avLst>
                <a:gd name="adj" fmla="val 48888"/>
              </a:avLst>
            </a:prstGeom>
            <a:noFill/>
            <a:ln w="25400">
              <a:solidFill>
                <a:srgbClr val="A9B0B8"/>
              </a:solidFill>
            </a:ln>
          </p:spPr>
          <p:txBody>
            <a:bodyPr wrap="square" lIns="54864" tIns="27432" rIns="54864" bIns="27432" rtlCol="0" anchor="ctr">
              <a:noAutofit/>
            </a:bodyPr>
            <a:lstStyle/>
            <a:p>
              <a:pPr algn="ctr"/>
              <a:r>
                <a:rPr lang="en-GB" sz="1600" b="1" i="0">
                  <a:solidFill>
                    <a:srgbClr val="F2F2F2"/>
                  </a:solidFill>
                  <a:latin typeface="Arial"/>
                </a:rPr>
                <a:t>Planned</a:t>
              </a:r>
            </a:p>
          </p:txBody>
        </p:sp>
        <p:sp>
          <p:nvSpPr>
            <p:cNvPr id="23" name="Rounded Rectangle 22"/>
            <p:cNvSpPr/>
            <p:nvPr/>
          </p:nvSpPr>
          <p:spPr>
            <a:xfrm>
              <a:off x="7290054" y="3108960"/>
              <a:ext cx="2103120" cy="2331720"/>
            </a:xfrm>
            <a:prstGeom prst="roundRect">
              <a:avLst>
                <a:gd name="adj" fmla="val 3478"/>
              </a:avLst>
            </a:prstGeom>
            <a:solidFill>
              <a:srgbClr val="2B2F36"/>
            </a:solidFill>
            <a:ln>
              <a:noFill/>
            </a:ln>
          </p:spPr>
          <p:txBody>
            <a:bodyPr rtlCol="0" anchor="ctr"/>
            <a:lstStyle/>
            <a:p>
              <a:pPr algn="ctr"/>
              <a:endParaRPr/>
            </a:p>
          </p:txBody>
        </p:sp>
        <p:sp>
          <p:nvSpPr>
            <p:cNvPr id="24" name="BADGE"/>
            <p:cNvSpPr/>
            <p:nvPr/>
          </p:nvSpPr>
          <p:spPr>
            <a:xfrm>
              <a:off x="7445502" y="3264408"/>
              <a:ext cx="420624" cy="420624"/>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4</a:t>
              </a:r>
            </a:p>
          </p:txBody>
        </p:sp>
        <p:sp>
          <p:nvSpPr>
            <p:cNvPr id="25" name="TextBox 24"/>
            <p:cNvSpPr txBox="1"/>
            <p:nvPr/>
          </p:nvSpPr>
          <p:spPr>
            <a:xfrm>
              <a:off x="7399781" y="3794760"/>
              <a:ext cx="1883663" cy="914400"/>
            </a:xfrm>
            <a:prstGeom prst="rect">
              <a:avLst/>
            </a:prstGeom>
            <a:noFill/>
          </p:spPr>
          <p:txBody>
            <a:bodyPr wrap="square" lIns="18288" tIns="9144" rIns="18288" bIns="9144" anchor="t">
              <a:noAutofit/>
            </a:bodyPr>
            <a:lstStyle/>
            <a:p>
              <a:pPr algn="l"/>
              <a:r>
                <a:rPr lang="en-GB" sz="1800" b="1" i="0">
                  <a:solidFill>
                    <a:srgbClr val="F2F2F2"/>
                  </a:solidFill>
                  <a:latin typeface="Arial"/>
                </a:rPr>
                <a:t>Mixed networks</a:t>
              </a:r>
            </a:p>
          </p:txBody>
        </p:sp>
        <p:sp>
          <p:nvSpPr>
            <p:cNvPr id="26" name="Rounded Rectangle 25"/>
            <p:cNvSpPr/>
            <p:nvPr/>
          </p:nvSpPr>
          <p:spPr>
            <a:xfrm>
              <a:off x="7427214" y="4800600"/>
              <a:ext cx="1828799" cy="411480"/>
            </a:xfrm>
            <a:prstGeom prst="roundRect">
              <a:avLst>
                <a:gd name="adj" fmla="val 48888"/>
              </a:avLst>
            </a:prstGeom>
            <a:noFill/>
            <a:ln w="25400">
              <a:solidFill>
                <a:srgbClr val="A9B0B8"/>
              </a:solidFill>
            </a:ln>
          </p:spPr>
          <p:txBody>
            <a:bodyPr wrap="square" lIns="54864" tIns="27432" rIns="54864" bIns="27432" rtlCol="0" anchor="ctr">
              <a:noAutofit/>
            </a:bodyPr>
            <a:lstStyle/>
            <a:p>
              <a:pPr algn="ctr"/>
              <a:r>
                <a:rPr lang="en-GB" sz="1600" b="1" i="0">
                  <a:solidFill>
                    <a:srgbClr val="F2F2F2"/>
                  </a:solidFill>
                  <a:latin typeface="Arial"/>
                </a:rPr>
                <a:t>Planned</a:t>
              </a:r>
            </a:p>
          </p:txBody>
        </p:sp>
        <p:sp>
          <p:nvSpPr>
            <p:cNvPr id="27" name="Rounded Rectangle 26"/>
            <p:cNvSpPr/>
            <p:nvPr/>
          </p:nvSpPr>
          <p:spPr>
            <a:xfrm>
              <a:off x="9537192" y="3108960"/>
              <a:ext cx="2103120" cy="2331720"/>
            </a:xfrm>
            <a:prstGeom prst="roundRect">
              <a:avLst>
                <a:gd name="adj" fmla="val 3478"/>
              </a:avLst>
            </a:prstGeom>
            <a:solidFill>
              <a:srgbClr val="2B2F36"/>
            </a:solidFill>
            <a:ln>
              <a:noFill/>
            </a:ln>
          </p:spPr>
          <p:txBody>
            <a:bodyPr rtlCol="0" anchor="ctr"/>
            <a:lstStyle/>
            <a:p>
              <a:pPr algn="ctr"/>
              <a:endParaRPr/>
            </a:p>
          </p:txBody>
        </p:sp>
        <p:sp>
          <p:nvSpPr>
            <p:cNvPr id="28" name="BADGE"/>
            <p:cNvSpPr/>
            <p:nvPr/>
          </p:nvSpPr>
          <p:spPr>
            <a:xfrm>
              <a:off x="9692640" y="3264408"/>
              <a:ext cx="420624" cy="420624"/>
            </a:xfrm>
            <a:prstGeom prst="ellipse">
              <a:avLst/>
            </a:prstGeom>
            <a:solidFill>
              <a:srgbClr val="F28C28"/>
            </a:solidFill>
            <a:ln>
              <a:noFill/>
            </a:ln>
          </p:spPr>
          <p:txBody>
            <a:bodyPr wrap="square" lIns="0" tIns="0" rIns="0" bIns="0" rtlCol="0" anchor="ctr">
              <a:noAutofit/>
            </a:bodyPr>
            <a:lstStyle/>
            <a:p>
              <a:pPr algn="ctr"/>
              <a:r>
                <a:rPr lang="en-GB" sz="1600" b="1" i="0">
                  <a:solidFill>
                    <a:srgbClr val="101418"/>
                  </a:solidFill>
                  <a:latin typeface="Arial"/>
                </a:rPr>
                <a:t>5</a:t>
              </a:r>
            </a:p>
          </p:txBody>
        </p:sp>
        <p:sp>
          <p:nvSpPr>
            <p:cNvPr id="29" name="TextBox 28"/>
            <p:cNvSpPr txBox="1"/>
            <p:nvPr/>
          </p:nvSpPr>
          <p:spPr>
            <a:xfrm>
              <a:off x="9646919" y="3794760"/>
              <a:ext cx="1883663" cy="914400"/>
            </a:xfrm>
            <a:prstGeom prst="rect">
              <a:avLst/>
            </a:prstGeom>
            <a:noFill/>
          </p:spPr>
          <p:txBody>
            <a:bodyPr wrap="square" lIns="18288" tIns="9144" rIns="18288" bIns="9144" anchor="t">
              <a:noAutofit/>
            </a:bodyPr>
            <a:lstStyle/>
            <a:p>
              <a:pPr algn="l"/>
              <a:r>
                <a:rPr lang="en-GB" sz="1800" b="1" i="0">
                  <a:solidFill>
                    <a:srgbClr val="F2F2F2"/>
                  </a:solidFill>
                  <a:latin typeface="Arial"/>
                </a:rPr>
                <a:t>Interchange</a:t>
              </a:r>
            </a:p>
          </p:txBody>
        </p:sp>
        <p:sp>
          <p:nvSpPr>
            <p:cNvPr id="30" name="Rounded Rectangle 29"/>
            <p:cNvSpPr/>
            <p:nvPr/>
          </p:nvSpPr>
          <p:spPr>
            <a:xfrm>
              <a:off x="9674352" y="4800600"/>
              <a:ext cx="1828799" cy="411480"/>
            </a:xfrm>
            <a:prstGeom prst="roundRect">
              <a:avLst>
                <a:gd name="adj" fmla="val 48888"/>
              </a:avLst>
            </a:prstGeom>
            <a:noFill/>
            <a:ln w="25400">
              <a:solidFill>
                <a:srgbClr val="A9B0B8"/>
              </a:solidFill>
            </a:ln>
          </p:spPr>
          <p:txBody>
            <a:bodyPr wrap="square" lIns="54864" tIns="27432" rIns="54864" bIns="27432" rtlCol="0" anchor="ctr">
              <a:noAutofit/>
            </a:bodyPr>
            <a:lstStyle/>
            <a:p>
              <a:pPr algn="ctr"/>
              <a:r>
                <a:rPr lang="en-GB" sz="1600" b="1" i="0">
                  <a:solidFill>
                    <a:srgbClr val="F2F2F2"/>
                  </a:solidFill>
                  <a:latin typeface="Arial"/>
                </a:rPr>
                <a:t>Planned</a:t>
              </a:r>
            </a:p>
          </p:txBody>
        </p:sp>
      </p:grpSp>
      <p:sp>
        <p:nvSpPr>
          <p:cNvPr id="3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2"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3"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Conversion is planned. It is not built yet.</a:t>
            </a:r>
          </a:p>
        </p:txBody>
      </p:sp>
      <p:sp>
        <p:nvSpPr>
          <p:cNvPr id="34"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20</a:t>
            </a:r>
          </a:p>
        </p:txBody>
      </p:sp>
    </p:spTree>
    <p:extLst>
      <p:ext uri="{BB962C8B-B14F-4D97-AF65-F5344CB8AC3E}">
        <p14:creationId xmlns:p14="http://schemas.microsoft.com/office/powerpoint/2010/main" val="24511745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par>
                                <p:cTn id="17" presetID="10" presetClass="entr" presetSubtype="0" fill="hold" nodeType="withEffect">
                                  <p:stCondLst>
                                    <p:cond delay="120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nodeType="withEffect">
                                  <p:stCondLst>
                                    <p:cond delay="150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Still undecided</a:t>
            </a:r>
          </a:p>
        </p:txBody>
      </p:sp>
      <p:sp>
        <p:nvSpPr>
          <p:cNvPr id="3" name="CHIP"/>
          <p:cNvSpPr/>
          <p:nvPr/>
        </p:nvSpPr>
        <p:spPr>
          <a:xfrm>
            <a:off x="10088575" y="548640"/>
            <a:ext cx="1554480" cy="365760"/>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a:t>
            </a:r>
          </a:p>
        </p:txBody>
      </p:sp>
      <p:grpSp>
        <p:nvGrpSpPr>
          <p:cNvPr id="4" name="QUESTION GRID" descr="Eight open questions, each marked Undecided with its open-question code."/>
          <p:cNvGrpSpPr/>
          <p:nvPr/>
        </p:nvGrpSpPr>
        <p:grpSpPr>
          <a:xfrm>
            <a:off x="548640" y="1371600"/>
            <a:ext cx="11091672" cy="4069080"/>
            <a:chOff x="548640" y="1371600"/>
            <a:chExt cx="11091672" cy="4069080"/>
          </a:xfrm>
        </p:grpSpPr>
        <p:sp>
          <p:nvSpPr>
            <p:cNvPr id="5" name="Rounded Rectangle 4"/>
            <p:cNvSpPr/>
            <p:nvPr/>
          </p:nvSpPr>
          <p:spPr>
            <a:xfrm>
              <a:off x="548640" y="1371600"/>
              <a:ext cx="2651760" cy="1920240"/>
            </a:xfrm>
            <a:prstGeom prst="roundRect">
              <a:avLst>
                <a:gd name="adj" fmla="val 3809"/>
              </a:avLst>
            </a:prstGeom>
            <a:solidFill>
              <a:srgbClr val="2B2F36"/>
            </a:solidFill>
            <a:ln>
              <a:noFill/>
            </a:ln>
          </p:spPr>
          <p:txBody>
            <a:bodyPr rtlCol="0" anchor="ctr"/>
            <a:lstStyle/>
            <a:p>
              <a:pPr algn="ctr"/>
              <a:endParaRPr/>
            </a:p>
          </p:txBody>
        </p:sp>
        <p:sp>
          <p:nvSpPr>
            <p:cNvPr id="6" name="ICHIP"/>
            <p:cNvSpPr/>
            <p:nvPr/>
          </p:nvSpPr>
          <p:spPr>
            <a:xfrm>
              <a:off x="685800" y="1527048"/>
              <a:ext cx="2146591" cy="310896"/>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 · OQ12</a:t>
              </a:r>
            </a:p>
          </p:txBody>
        </p:sp>
        <p:sp>
          <p:nvSpPr>
            <p:cNvPr id="7" name="TextBox 6"/>
            <p:cNvSpPr txBox="1"/>
            <p:nvPr/>
          </p:nvSpPr>
          <p:spPr>
            <a:xfrm>
              <a:off x="685800" y="1965960"/>
              <a:ext cx="2377440" cy="1261872"/>
            </a:xfrm>
            <a:prstGeom prst="rect">
              <a:avLst/>
            </a:prstGeom>
            <a:noFill/>
          </p:spPr>
          <p:txBody>
            <a:bodyPr wrap="square" lIns="18288" tIns="9144" rIns="18288" bIns="9144" anchor="t">
              <a:noAutofit/>
            </a:bodyPr>
            <a:lstStyle/>
            <a:p>
              <a:pPr algn="l"/>
              <a:r>
                <a:rPr lang="en-GB" sz="2000" b="0" i="0">
                  <a:solidFill>
                    <a:srgbClr val="F2F2F2"/>
                  </a:solidFill>
                  <a:latin typeface="Arial"/>
                </a:rPr>
                <a:t>Exact copies of shapes</a:t>
              </a:r>
            </a:p>
          </p:txBody>
        </p:sp>
        <p:sp>
          <p:nvSpPr>
            <p:cNvPr id="8" name="Rounded Rectangle 7"/>
            <p:cNvSpPr/>
            <p:nvPr/>
          </p:nvSpPr>
          <p:spPr>
            <a:xfrm>
              <a:off x="3361944" y="1371600"/>
              <a:ext cx="2651760" cy="1920240"/>
            </a:xfrm>
            <a:prstGeom prst="roundRect">
              <a:avLst>
                <a:gd name="adj" fmla="val 3809"/>
              </a:avLst>
            </a:prstGeom>
            <a:solidFill>
              <a:srgbClr val="2B2F36"/>
            </a:solidFill>
            <a:ln>
              <a:noFill/>
            </a:ln>
          </p:spPr>
          <p:txBody>
            <a:bodyPr rtlCol="0" anchor="ctr"/>
            <a:lstStyle/>
            <a:p>
              <a:pPr algn="ctr"/>
              <a:endParaRPr/>
            </a:p>
          </p:txBody>
        </p:sp>
        <p:sp>
          <p:nvSpPr>
            <p:cNvPr id="9" name="ICHIP"/>
            <p:cNvSpPr/>
            <p:nvPr/>
          </p:nvSpPr>
          <p:spPr>
            <a:xfrm>
              <a:off x="3499104" y="1527048"/>
              <a:ext cx="2146591" cy="310896"/>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 · OQ12</a:t>
              </a:r>
            </a:p>
          </p:txBody>
        </p:sp>
        <p:sp>
          <p:nvSpPr>
            <p:cNvPr id="10" name="TextBox 9"/>
            <p:cNvSpPr txBox="1"/>
            <p:nvPr/>
          </p:nvSpPr>
          <p:spPr>
            <a:xfrm>
              <a:off x="3499104" y="1965960"/>
              <a:ext cx="2377440" cy="1261872"/>
            </a:xfrm>
            <a:prstGeom prst="rect">
              <a:avLst/>
            </a:prstGeom>
            <a:noFill/>
          </p:spPr>
          <p:txBody>
            <a:bodyPr wrap="square" lIns="18288" tIns="9144" rIns="18288" bIns="9144" anchor="t">
              <a:noAutofit/>
            </a:bodyPr>
            <a:lstStyle/>
            <a:p>
              <a:pPr algn="l"/>
              <a:r>
                <a:rPr lang="en-GB" sz="2000" b="0" i="0">
                  <a:solidFill>
                    <a:srgbClr val="F2F2F2"/>
                  </a:solidFill>
                  <a:latin typeface="Arial"/>
                </a:rPr>
                <a:t>Costs and refunds</a:t>
              </a:r>
            </a:p>
          </p:txBody>
        </p:sp>
        <p:sp>
          <p:nvSpPr>
            <p:cNvPr id="11" name="Rounded Rectangle 10"/>
            <p:cNvSpPr/>
            <p:nvPr/>
          </p:nvSpPr>
          <p:spPr>
            <a:xfrm>
              <a:off x="6175248" y="1371600"/>
              <a:ext cx="2651760" cy="1920240"/>
            </a:xfrm>
            <a:prstGeom prst="roundRect">
              <a:avLst>
                <a:gd name="adj" fmla="val 3809"/>
              </a:avLst>
            </a:prstGeom>
            <a:solidFill>
              <a:srgbClr val="2B2F36"/>
            </a:solidFill>
            <a:ln>
              <a:noFill/>
            </a:ln>
          </p:spPr>
          <p:txBody>
            <a:bodyPr rtlCol="0" anchor="ctr"/>
            <a:lstStyle/>
            <a:p>
              <a:pPr algn="ctr"/>
              <a:endParaRPr/>
            </a:p>
          </p:txBody>
        </p:sp>
        <p:sp>
          <p:nvSpPr>
            <p:cNvPr id="12" name="ICHIP"/>
            <p:cNvSpPr/>
            <p:nvPr/>
          </p:nvSpPr>
          <p:spPr>
            <a:xfrm>
              <a:off x="6312408" y="1527048"/>
              <a:ext cx="2146591" cy="310896"/>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 · OQ12</a:t>
              </a:r>
            </a:p>
          </p:txBody>
        </p:sp>
        <p:sp>
          <p:nvSpPr>
            <p:cNvPr id="13" name="TextBox 12"/>
            <p:cNvSpPr txBox="1"/>
            <p:nvPr/>
          </p:nvSpPr>
          <p:spPr>
            <a:xfrm>
              <a:off x="6312408" y="1965960"/>
              <a:ext cx="2377440" cy="1261872"/>
            </a:xfrm>
            <a:prstGeom prst="rect">
              <a:avLst/>
            </a:prstGeom>
            <a:noFill/>
          </p:spPr>
          <p:txBody>
            <a:bodyPr wrap="square" lIns="18288" tIns="9144" rIns="18288" bIns="9144" anchor="t">
              <a:noAutofit/>
            </a:bodyPr>
            <a:lstStyle/>
            <a:p>
              <a:pPr algn="l"/>
              <a:r>
                <a:rPr lang="en-GB" sz="2000" b="0" i="0">
                  <a:solidFill>
                    <a:srgbClr val="F2F2F2"/>
                  </a:solidFill>
                  <a:latin typeface="Arial"/>
                </a:rPr>
                <a:t>Undo and recovery</a:t>
              </a:r>
            </a:p>
          </p:txBody>
        </p:sp>
        <p:sp>
          <p:nvSpPr>
            <p:cNvPr id="14" name="Rounded Rectangle 13"/>
            <p:cNvSpPr/>
            <p:nvPr/>
          </p:nvSpPr>
          <p:spPr>
            <a:xfrm>
              <a:off x="8988552" y="1371600"/>
              <a:ext cx="2651760" cy="1920240"/>
            </a:xfrm>
            <a:prstGeom prst="roundRect">
              <a:avLst>
                <a:gd name="adj" fmla="val 3809"/>
              </a:avLst>
            </a:prstGeom>
            <a:solidFill>
              <a:srgbClr val="2B2F36"/>
            </a:solidFill>
            <a:ln>
              <a:noFill/>
            </a:ln>
          </p:spPr>
          <p:txBody>
            <a:bodyPr rtlCol="0" anchor="ctr"/>
            <a:lstStyle/>
            <a:p>
              <a:pPr algn="ctr"/>
              <a:endParaRPr/>
            </a:p>
          </p:txBody>
        </p:sp>
        <p:sp>
          <p:nvSpPr>
            <p:cNvPr id="15" name="ICHIP"/>
            <p:cNvSpPr/>
            <p:nvPr/>
          </p:nvSpPr>
          <p:spPr>
            <a:xfrm>
              <a:off x="9125712" y="1527048"/>
              <a:ext cx="2146591" cy="310896"/>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 · OQ12</a:t>
              </a:r>
            </a:p>
          </p:txBody>
        </p:sp>
        <p:sp>
          <p:nvSpPr>
            <p:cNvPr id="16" name="TextBox 15"/>
            <p:cNvSpPr txBox="1"/>
            <p:nvPr/>
          </p:nvSpPr>
          <p:spPr>
            <a:xfrm>
              <a:off x="9125712" y="1965960"/>
              <a:ext cx="2377440" cy="1261872"/>
            </a:xfrm>
            <a:prstGeom prst="rect">
              <a:avLst/>
            </a:prstGeom>
            <a:noFill/>
          </p:spPr>
          <p:txBody>
            <a:bodyPr wrap="square" lIns="18288" tIns="9144" rIns="18288" bIns="9144" anchor="t">
              <a:noAutofit/>
            </a:bodyPr>
            <a:lstStyle/>
            <a:p>
              <a:pPr algn="l"/>
              <a:r>
                <a:rPr lang="en-GB" sz="2000" b="0" i="0">
                  <a:solidFill>
                    <a:srgbClr val="F2F2F2"/>
                  </a:solidFill>
                  <a:latin typeface="Arial"/>
                </a:rPr>
                <a:t>Occupied and stranded trains</a:t>
              </a:r>
            </a:p>
          </p:txBody>
        </p:sp>
        <p:sp>
          <p:nvSpPr>
            <p:cNvPr id="17" name="Rounded Rectangle 16"/>
            <p:cNvSpPr/>
            <p:nvPr/>
          </p:nvSpPr>
          <p:spPr>
            <a:xfrm>
              <a:off x="548640" y="3520440"/>
              <a:ext cx="2651760" cy="1920240"/>
            </a:xfrm>
            <a:prstGeom prst="roundRect">
              <a:avLst>
                <a:gd name="adj" fmla="val 3809"/>
              </a:avLst>
            </a:prstGeom>
            <a:solidFill>
              <a:srgbClr val="2B2F36"/>
            </a:solidFill>
            <a:ln>
              <a:noFill/>
            </a:ln>
          </p:spPr>
          <p:txBody>
            <a:bodyPr rtlCol="0" anchor="ctr"/>
            <a:lstStyle/>
            <a:p>
              <a:pPr algn="ctr"/>
              <a:endParaRPr/>
            </a:p>
          </p:txBody>
        </p:sp>
        <p:sp>
          <p:nvSpPr>
            <p:cNvPr id="18" name="ICHIP"/>
            <p:cNvSpPr/>
            <p:nvPr/>
          </p:nvSpPr>
          <p:spPr>
            <a:xfrm>
              <a:off x="685800" y="3675888"/>
              <a:ext cx="2146591" cy="310896"/>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 · OQ12</a:t>
              </a:r>
            </a:p>
          </p:txBody>
        </p:sp>
        <p:sp>
          <p:nvSpPr>
            <p:cNvPr id="19" name="TextBox 18"/>
            <p:cNvSpPr txBox="1"/>
            <p:nvPr/>
          </p:nvSpPr>
          <p:spPr>
            <a:xfrm>
              <a:off x="685800" y="4114800"/>
              <a:ext cx="2377440" cy="1261872"/>
            </a:xfrm>
            <a:prstGeom prst="rect">
              <a:avLst/>
            </a:prstGeom>
            <a:noFill/>
          </p:spPr>
          <p:txBody>
            <a:bodyPr wrap="square" lIns="18288" tIns="9144" rIns="18288" bIns="9144" anchor="t">
              <a:noAutofit/>
            </a:bodyPr>
            <a:lstStyle/>
            <a:p>
              <a:pPr algn="l"/>
              <a:r>
                <a:rPr lang="en-GB" sz="2000" b="0" i="0">
                  <a:solidFill>
                    <a:srgbClr val="F2F2F2"/>
                  </a:solidFill>
                  <a:latin typeface="Arial"/>
                </a:rPr>
                <a:t>Station and timetable carry-over</a:t>
              </a:r>
            </a:p>
          </p:txBody>
        </p:sp>
        <p:sp>
          <p:nvSpPr>
            <p:cNvPr id="20" name="Rounded Rectangle 19"/>
            <p:cNvSpPr/>
            <p:nvPr/>
          </p:nvSpPr>
          <p:spPr>
            <a:xfrm>
              <a:off x="3361944" y="3520440"/>
              <a:ext cx="2651760" cy="1920240"/>
            </a:xfrm>
            <a:prstGeom prst="roundRect">
              <a:avLst>
                <a:gd name="adj" fmla="val 3809"/>
              </a:avLst>
            </a:prstGeom>
            <a:solidFill>
              <a:srgbClr val="2B2F36"/>
            </a:solidFill>
            <a:ln>
              <a:noFill/>
            </a:ln>
          </p:spPr>
          <p:txBody>
            <a:bodyPr rtlCol="0" anchor="ctr"/>
            <a:lstStyle/>
            <a:p>
              <a:pPr algn="ctr"/>
              <a:endParaRPr/>
            </a:p>
          </p:txBody>
        </p:sp>
        <p:sp>
          <p:nvSpPr>
            <p:cNvPr id="21" name="ICHIP"/>
            <p:cNvSpPr/>
            <p:nvPr/>
          </p:nvSpPr>
          <p:spPr>
            <a:xfrm>
              <a:off x="3499104" y="3675888"/>
              <a:ext cx="2146591" cy="310896"/>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 · OQ03</a:t>
              </a:r>
            </a:p>
          </p:txBody>
        </p:sp>
        <p:sp>
          <p:nvSpPr>
            <p:cNvPr id="22" name="TextBox 21"/>
            <p:cNvSpPr txBox="1"/>
            <p:nvPr/>
          </p:nvSpPr>
          <p:spPr>
            <a:xfrm>
              <a:off x="3499104" y="4114800"/>
              <a:ext cx="2377440" cy="1261872"/>
            </a:xfrm>
            <a:prstGeom prst="rect">
              <a:avLst/>
            </a:prstGeom>
            <a:noFill/>
          </p:spPr>
          <p:txBody>
            <a:bodyPr wrap="square" lIns="18288" tIns="9144" rIns="18288" bIns="9144" anchor="t">
              <a:noAutofit/>
            </a:bodyPr>
            <a:lstStyle/>
            <a:p>
              <a:pPr algn="l"/>
              <a:r>
                <a:rPr lang="en-GB" sz="2000" b="0" i="0">
                  <a:solidFill>
                    <a:srgbClr val="F2F2F2"/>
                  </a:solidFill>
                  <a:latin typeface="Arial"/>
                </a:rPr>
                <a:t>Signal upgrades</a:t>
              </a:r>
            </a:p>
          </p:txBody>
        </p:sp>
        <p:sp>
          <p:nvSpPr>
            <p:cNvPr id="23" name="Rounded Rectangle 22"/>
            <p:cNvSpPr/>
            <p:nvPr/>
          </p:nvSpPr>
          <p:spPr>
            <a:xfrm>
              <a:off x="6175248" y="3520440"/>
              <a:ext cx="2651760" cy="1920240"/>
            </a:xfrm>
            <a:prstGeom prst="roundRect">
              <a:avLst>
                <a:gd name="adj" fmla="val 3809"/>
              </a:avLst>
            </a:prstGeom>
            <a:solidFill>
              <a:srgbClr val="2B2F36"/>
            </a:solidFill>
            <a:ln>
              <a:noFill/>
            </a:ln>
          </p:spPr>
          <p:txBody>
            <a:bodyPr rtlCol="0" anchor="ctr"/>
            <a:lstStyle/>
            <a:p>
              <a:pPr algn="ctr"/>
              <a:endParaRPr/>
            </a:p>
          </p:txBody>
        </p:sp>
        <p:sp>
          <p:nvSpPr>
            <p:cNvPr id="24" name="ICHIP"/>
            <p:cNvSpPr/>
            <p:nvPr/>
          </p:nvSpPr>
          <p:spPr>
            <a:xfrm>
              <a:off x="6312408" y="3675888"/>
              <a:ext cx="2146591" cy="310896"/>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 · OQ13</a:t>
              </a:r>
            </a:p>
          </p:txBody>
        </p:sp>
        <p:sp>
          <p:nvSpPr>
            <p:cNvPr id="25" name="TextBox 24"/>
            <p:cNvSpPr txBox="1"/>
            <p:nvPr/>
          </p:nvSpPr>
          <p:spPr>
            <a:xfrm>
              <a:off x="6312408" y="4114800"/>
              <a:ext cx="2377440" cy="1261872"/>
            </a:xfrm>
            <a:prstGeom prst="rect">
              <a:avLst/>
            </a:prstGeom>
            <a:noFill/>
          </p:spPr>
          <p:txBody>
            <a:bodyPr wrap="square" lIns="18288" tIns="9144" rIns="18288" bIns="9144" anchor="t">
              <a:noAutofit/>
            </a:bodyPr>
            <a:lstStyle/>
            <a:p>
              <a:pPr algn="l"/>
              <a:r>
                <a:rPr lang="en-GB" sz="2000" b="0" i="0">
                  <a:solidFill>
                    <a:srgbClr val="F2F2F2"/>
                  </a:solidFill>
                  <a:latin typeface="Arial"/>
                </a:rPr>
                <a:t>Transfer buildings in or out of Core?</a:t>
              </a:r>
            </a:p>
          </p:txBody>
        </p:sp>
        <p:sp>
          <p:nvSpPr>
            <p:cNvPr id="26" name="Rounded Rectangle 25"/>
            <p:cNvSpPr/>
            <p:nvPr/>
          </p:nvSpPr>
          <p:spPr>
            <a:xfrm>
              <a:off x="8988552" y="3520440"/>
              <a:ext cx="2651760" cy="1920240"/>
            </a:xfrm>
            <a:prstGeom prst="roundRect">
              <a:avLst>
                <a:gd name="adj" fmla="val 3809"/>
              </a:avLst>
            </a:prstGeom>
            <a:solidFill>
              <a:srgbClr val="2B2F36"/>
            </a:solidFill>
            <a:ln>
              <a:noFill/>
            </a:ln>
          </p:spPr>
          <p:txBody>
            <a:bodyPr rtlCol="0" anchor="ctr"/>
            <a:lstStyle/>
            <a:p>
              <a:pPr algn="ctr"/>
              <a:endParaRPr/>
            </a:p>
          </p:txBody>
        </p:sp>
        <p:sp>
          <p:nvSpPr>
            <p:cNvPr id="27" name="ICHIP"/>
            <p:cNvSpPr/>
            <p:nvPr/>
          </p:nvSpPr>
          <p:spPr>
            <a:xfrm>
              <a:off x="9125712" y="3675888"/>
              <a:ext cx="2146591" cy="310896"/>
            </a:xfrm>
            <a:prstGeom prst="roundRect">
              <a:avLst>
                <a:gd name="adj" fmla="val 50000"/>
              </a:avLst>
            </a:prstGeom>
            <a:noFill/>
            <a:ln w="25400">
              <a:solidFill>
                <a:srgbClr val="A9B0B8"/>
              </a:solidFill>
            </a:ln>
          </p:spPr>
          <p:txBody>
            <a:bodyPr wrap="square" lIns="36576" tIns="0" rIns="36576" bIns="0" rtlCol="0" anchor="ctr">
              <a:noAutofit/>
            </a:bodyPr>
            <a:lstStyle/>
            <a:p>
              <a:pPr algn="ctr"/>
              <a:r>
                <a:rPr lang="en-GB" sz="1400" b="1" i="0">
                  <a:solidFill>
                    <a:srgbClr val="F2F2F2"/>
                  </a:solidFill>
                  <a:latin typeface="Arial"/>
                </a:rPr>
                <a:t>UNDECIDED · OQ01</a:t>
              </a:r>
            </a:p>
          </p:txBody>
        </p:sp>
        <p:sp>
          <p:nvSpPr>
            <p:cNvPr id="28" name="TextBox 27"/>
            <p:cNvSpPr txBox="1"/>
            <p:nvPr/>
          </p:nvSpPr>
          <p:spPr>
            <a:xfrm>
              <a:off x="9125712" y="4114800"/>
              <a:ext cx="2377440" cy="1261872"/>
            </a:xfrm>
            <a:prstGeom prst="rect">
              <a:avLst/>
            </a:prstGeom>
            <a:noFill/>
          </p:spPr>
          <p:txBody>
            <a:bodyPr wrap="square" lIns="18288" tIns="9144" rIns="18288" bIns="9144" anchor="t">
              <a:noAutofit/>
            </a:bodyPr>
            <a:lstStyle/>
            <a:p>
              <a:pPr algn="l"/>
              <a:r>
                <a:rPr lang="en-GB" sz="2000" b="0" i="0">
                  <a:solidFill>
                    <a:srgbClr val="F2F2F2"/>
                  </a:solidFill>
                  <a:latin typeface="Arial"/>
                </a:rPr>
                <a:t>Which tier unlocks the upgrade?</a:t>
              </a:r>
            </a:p>
          </p:txBody>
        </p:sp>
      </p:grpSp>
      <p:sp>
        <p:nvSpPr>
          <p:cNvPr id="2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1"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These questions are open. Nothing here has been chosen yet.</a:t>
            </a:r>
          </a:p>
        </p:txBody>
      </p:sp>
      <p:sp>
        <p:nvSpPr>
          <p:cNvPr id="32"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21</a:t>
            </a:r>
          </a:p>
        </p:txBody>
      </p:sp>
    </p:spTree>
    <p:extLst>
      <p:ext uri="{BB962C8B-B14F-4D97-AF65-F5344CB8AC3E}">
        <p14:creationId xmlns:p14="http://schemas.microsoft.com/office/powerpoint/2010/main" val="21208377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Image credits</a:t>
            </a:r>
          </a:p>
        </p:txBody>
      </p:sp>
      <p:graphicFrame>
        <p:nvGraphicFramePr>
          <p:cNvPr id="3" name="CREDITS TABLE" descr="Image credits table: R01 on slide 20 and R02 on slide 1, both Early Locomotion project renders, not final art."/>
          <p:cNvGraphicFramePr>
            <a:graphicFrameLocks noGrp="1"/>
          </p:cNvGraphicFramePr>
          <p:nvPr/>
        </p:nvGraphicFramePr>
        <p:xfrm>
          <a:off x="548640" y="1463040"/>
          <a:ext cx="11091672" cy="137160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8714232">
                  <a:extLst>
                    <a:ext uri="{9D8B030D-6E8A-4147-A177-3AD203B41FA5}">
                      <a16:colId xmlns:a16="http://schemas.microsoft.com/office/drawing/2014/main" val="20002"/>
                    </a:ext>
                  </a:extLst>
                </a:gridCol>
              </a:tblGrid>
              <a:tr h="457200">
                <a:tc>
                  <a:txBody>
                    <a:bodyPr/>
                    <a:lstStyle/>
                    <a:p>
                      <a:r>
                        <a:rPr lang="en-GB" sz="1100" b="1" i="0">
                          <a:solidFill>
                            <a:srgbClr val="F2F2F2"/>
                          </a:solidFill>
                          <a:latin typeface="Arial"/>
                        </a:rPr>
                        <a:t>Slot</a:t>
                      </a:r>
                    </a:p>
                  </a:txBody>
                  <a:tcPr marT="36576" marB="36576" anchor="ctr">
                    <a:lnL w="9525">
                      <a:solidFill>
                        <a:srgbClr val="4A515B"/>
                      </a:solidFill>
                    </a:lnL>
                    <a:lnR w="9525">
                      <a:solidFill>
                        <a:srgbClr val="4A515B"/>
                      </a:solidFill>
                    </a:lnR>
                    <a:lnT w="9525">
                      <a:solidFill>
                        <a:srgbClr val="4A515B"/>
                      </a:solidFill>
                    </a:lnT>
                    <a:lnB w="9525">
                      <a:solidFill>
                        <a:srgbClr val="4A515B"/>
                      </a:solidFill>
                    </a:lnB>
                    <a:solidFill>
                      <a:srgbClr val="343A43"/>
                    </a:solidFill>
                  </a:tcPr>
                </a:tc>
                <a:tc>
                  <a:txBody>
                    <a:bodyPr/>
                    <a:lstStyle/>
                    <a:p>
                      <a:r>
                        <a:rPr lang="en-GB" sz="1100" b="1" i="0">
                          <a:solidFill>
                            <a:srgbClr val="F2F2F2"/>
                          </a:solidFill>
                          <a:latin typeface="Arial"/>
                        </a:rPr>
                        <a:t>Slide</a:t>
                      </a:r>
                    </a:p>
                  </a:txBody>
                  <a:tcPr marT="36576" marB="36576" anchor="ctr">
                    <a:lnL w="9525">
                      <a:solidFill>
                        <a:srgbClr val="4A515B"/>
                      </a:solidFill>
                    </a:lnL>
                    <a:lnR w="9525">
                      <a:solidFill>
                        <a:srgbClr val="4A515B"/>
                      </a:solidFill>
                    </a:lnR>
                    <a:lnT w="9525">
                      <a:solidFill>
                        <a:srgbClr val="4A515B"/>
                      </a:solidFill>
                    </a:lnT>
                    <a:lnB w="9525">
                      <a:solidFill>
                        <a:srgbClr val="4A515B"/>
                      </a:solidFill>
                    </a:lnB>
                    <a:solidFill>
                      <a:srgbClr val="343A43"/>
                    </a:solidFill>
                  </a:tcPr>
                </a:tc>
                <a:tc>
                  <a:txBody>
                    <a:bodyPr/>
                    <a:lstStyle/>
                    <a:p>
                      <a:r>
                        <a:rPr lang="en-GB" sz="1100" b="1" i="0">
                          <a:solidFill>
                            <a:srgbClr val="F2F2F2"/>
                          </a:solidFill>
                          <a:latin typeface="Arial"/>
                        </a:rPr>
                        <a:t>Credit</a:t>
                      </a:r>
                    </a:p>
                  </a:txBody>
                  <a:tcPr marT="36576" marB="36576" anchor="ctr">
                    <a:lnL w="9525">
                      <a:solidFill>
                        <a:srgbClr val="4A515B"/>
                      </a:solidFill>
                    </a:lnL>
                    <a:lnR w="9525">
                      <a:solidFill>
                        <a:srgbClr val="4A515B"/>
                      </a:solidFill>
                    </a:lnR>
                    <a:lnT w="9525">
                      <a:solidFill>
                        <a:srgbClr val="4A515B"/>
                      </a:solidFill>
                    </a:lnT>
                    <a:lnB w="9525">
                      <a:solidFill>
                        <a:srgbClr val="4A515B"/>
                      </a:solidFill>
                    </a:lnB>
                    <a:solidFill>
                      <a:srgbClr val="343A43"/>
                    </a:solidFill>
                  </a:tcPr>
                </a:tc>
                <a:extLst>
                  <a:ext uri="{0D108BD9-81ED-4DB2-BD59-A6C34878D82A}">
                    <a16:rowId xmlns:a16="http://schemas.microsoft.com/office/drawing/2014/main" val="10000"/>
                  </a:ext>
                </a:extLst>
              </a:tr>
              <a:tr h="457200">
                <a:tc>
                  <a:txBody>
                    <a:bodyPr/>
                    <a:lstStyle/>
                    <a:p>
                      <a:r>
                        <a:rPr lang="en-GB" sz="1100" b="0" i="0">
                          <a:solidFill>
                            <a:srgbClr val="F2F2F2"/>
                          </a:solidFill>
                          <a:latin typeface="Arial"/>
                        </a:rPr>
                        <a:t>R01</a:t>
                      </a:r>
                    </a:p>
                  </a:txBody>
                  <a:tcPr marT="36576" marB="36576" anchor="ctr">
                    <a:lnL w="9525">
                      <a:solidFill>
                        <a:srgbClr val="4A515B"/>
                      </a:solidFill>
                    </a:lnL>
                    <a:lnR w="9525">
                      <a:solidFill>
                        <a:srgbClr val="4A515B"/>
                      </a:solidFill>
                    </a:lnR>
                    <a:lnT w="9525">
                      <a:solidFill>
                        <a:srgbClr val="4A515B"/>
                      </a:solidFill>
                    </a:lnT>
                    <a:lnB w="9525">
                      <a:solidFill>
                        <a:srgbClr val="4A515B"/>
                      </a:solidFill>
                    </a:lnB>
                    <a:solidFill>
                      <a:srgbClr val="2B2F36"/>
                    </a:solidFill>
                  </a:tcPr>
                </a:tc>
                <a:tc>
                  <a:txBody>
                    <a:bodyPr/>
                    <a:lstStyle/>
                    <a:p>
                      <a:r>
                        <a:rPr lang="en-GB" sz="1100" b="0" i="0">
                          <a:solidFill>
                            <a:srgbClr val="F2F2F2"/>
                          </a:solidFill>
                          <a:latin typeface="Arial"/>
                        </a:rPr>
                        <a:t>20</a:t>
                      </a:r>
                    </a:p>
                  </a:txBody>
                  <a:tcPr marT="36576" marB="36576" anchor="ctr">
                    <a:lnL w="9525">
                      <a:solidFill>
                        <a:srgbClr val="4A515B"/>
                      </a:solidFill>
                    </a:lnL>
                    <a:lnR w="9525">
                      <a:solidFill>
                        <a:srgbClr val="4A515B"/>
                      </a:solidFill>
                    </a:lnR>
                    <a:lnT w="9525">
                      <a:solidFill>
                        <a:srgbClr val="4A515B"/>
                      </a:solidFill>
                    </a:lnT>
                    <a:lnB w="9525">
                      <a:solidFill>
                        <a:srgbClr val="4A515B"/>
                      </a:solidFill>
                    </a:lnB>
                    <a:solidFill>
                      <a:srgbClr val="2B2F36"/>
                    </a:solidFill>
                  </a:tcPr>
                </a:tc>
                <a:tc>
                  <a:txBody>
                    <a:bodyPr/>
                    <a:lstStyle/>
                    <a:p>
                      <a:r>
                        <a:rPr lang="en-GB" sz="1100" b="0" i="0">
                          <a:solidFill>
                            <a:srgbClr val="F2F2F2"/>
                          </a:solidFill>
                          <a:latin typeface="Arial"/>
                        </a:rPr>
                        <a:t>Early Locomotion project (test model, not final art).</a:t>
                      </a:r>
                    </a:p>
                  </a:txBody>
                  <a:tcPr marT="36576" marB="36576" anchor="ctr">
                    <a:lnL w="9525">
                      <a:solidFill>
                        <a:srgbClr val="4A515B"/>
                      </a:solidFill>
                    </a:lnL>
                    <a:lnR w="9525">
                      <a:solidFill>
                        <a:srgbClr val="4A515B"/>
                      </a:solidFill>
                    </a:lnR>
                    <a:lnT w="9525">
                      <a:solidFill>
                        <a:srgbClr val="4A515B"/>
                      </a:solidFill>
                    </a:lnT>
                    <a:lnB w="9525">
                      <a:solidFill>
                        <a:srgbClr val="4A515B"/>
                      </a:solidFill>
                    </a:lnB>
                    <a:solidFill>
                      <a:srgbClr val="2B2F36"/>
                    </a:solidFill>
                  </a:tcPr>
                </a:tc>
                <a:extLst>
                  <a:ext uri="{0D108BD9-81ED-4DB2-BD59-A6C34878D82A}">
                    <a16:rowId xmlns:a16="http://schemas.microsoft.com/office/drawing/2014/main" val="10001"/>
                  </a:ext>
                </a:extLst>
              </a:tr>
              <a:tr h="457200">
                <a:tc>
                  <a:txBody>
                    <a:bodyPr/>
                    <a:lstStyle/>
                    <a:p>
                      <a:r>
                        <a:rPr lang="en-GB" sz="1100" b="0" i="0">
                          <a:solidFill>
                            <a:srgbClr val="F2F2F2"/>
                          </a:solidFill>
                          <a:latin typeface="Arial"/>
                        </a:rPr>
                        <a:t>R02</a:t>
                      </a:r>
                    </a:p>
                  </a:txBody>
                  <a:tcPr marT="36576" marB="36576" anchor="ctr">
                    <a:lnL w="9525">
                      <a:solidFill>
                        <a:srgbClr val="4A515B"/>
                      </a:solidFill>
                    </a:lnL>
                    <a:lnR w="9525">
                      <a:solidFill>
                        <a:srgbClr val="4A515B"/>
                      </a:solidFill>
                    </a:lnR>
                    <a:lnT w="9525">
                      <a:solidFill>
                        <a:srgbClr val="4A515B"/>
                      </a:solidFill>
                    </a:lnT>
                    <a:lnB w="9525">
                      <a:solidFill>
                        <a:srgbClr val="4A515B"/>
                      </a:solidFill>
                    </a:lnB>
                    <a:solidFill>
                      <a:srgbClr val="1E2126"/>
                    </a:solidFill>
                  </a:tcPr>
                </a:tc>
                <a:tc>
                  <a:txBody>
                    <a:bodyPr/>
                    <a:lstStyle/>
                    <a:p>
                      <a:r>
                        <a:rPr lang="en-GB" sz="1100" b="0" i="0">
                          <a:solidFill>
                            <a:srgbClr val="F2F2F2"/>
                          </a:solidFill>
                          <a:latin typeface="Arial"/>
                        </a:rPr>
                        <a:t>1</a:t>
                      </a:r>
                    </a:p>
                  </a:txBody>
                  <a:tcPr marT="36576" marB="36576" anchor="ctr">
                    <a:lnL w="9525">
                      <a:solidFill>
                        <a:srgbClr val="4A515B"/>
                      </a:solidFill>
                    </a:lnL>
                    <a:lnR w="9525">
                      <a:solidFill>
                        <a:srgbClr val="4A515B"/>
                      </a:solidFill>
                    </a:lnR>
                    <a:lnT w="9525">
                      <a:solidFill>
                        <a:srgbClr val="4A515B"/>
                      </a:solidFill>
                    </a:lnT>
                    <a:lnB w="9525">
                      <a:solidFill>
                        <a:srgbClr val="4A515B"/>
                      </a:solidFill>
                    </a:lnB>
                    <a:solidFill>
                      <a:srgbClr val="1E2126"/>
                    </a:solidFill>
                  </a:tcPr>
                </a:tc>
                <a:tc>
                  <a:txBody>
                    <a:bodyPr/>
                    <a:lstStyle/>
                    <a:p>
                      <a:r>
                        <a:rPr lang="en-GB" sz="1100" b="0" i="0">
                          <a:solidFill>
                            <a:srgbClr val="F2F2F2"/>
                          </a:solidFill>
                          <a:latin typeface="Arial"/>
                        </a:rPr>
                        <a:t>Early Locomotion project (visual development, not final art).</a:t>
                      </a:r>
                    </a:p>
                  </a:txBody>
                  <a:tcPr marT="36576" marB="36576" anchor="ctr">
                    <a:lnL w="9525">
                      <a:solidFill>
                        <a:srgbClr val="4A515B"/>
                      </a:solidFill>
                    </a:lnL>
                    <a:lnR w="9525">
                      <a:solidFill>
                        <a:srgbClr val="4A515B"/>
                      </a:solidFill>
                    </a:lnR>
                    <a:lnT w="9525">
                      <a:solidFill>
                        <a:srgbClr val="4A515B"/>
                      </a:solidFill>
                    </a:lnT>
                    <a:lnB w="9525">
                      <a:solidFill>
                        <a:srgbClr val="4A515B"/>
                      </a:solidFill>
                    </a:lnB>
                    <a:solidFill>
                      <a:srgbClr val="1E2126"/>
                    </a:solidFill>
                  </a:tcPr>
                </a:tc>
                <a:extLst>
                  <a:ext uri="{0D108BD9-81ED-4DB2-BD59-A6C34878D82A}">
                    <a16:rowId xmlns:a16="http://schemas.microsoft.com/office/drawing/2014/main" val="10002"/>
                  </a:ext>
                </a:extLst>
              </a:tr>
            </a:tbl>
          </a:graphicData>
        </a:graphic>
      </p:graphicFrame>
      <p:sp>
        <p:nvSpPr>
          <p:cNvPr id="4"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5"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6" name="CAPTION"/>
          <p:cNvSpPr txBox="1"/>
          <p:nvPr/>
        </p:nvSpPr>
        <p:spPr>
          <a:xfrm>
            <a:off x="777240" y="5760720"/>
            <a:ext cx="10744200" cy="731520"/>
          </a:xfrm>
          <a:prstGeom prst="rect">
            <a:avLst/>
          </a:prstGeom>
          <a:noFill/>
        </p:spPr>
        <p:txBody>
          <a:bodyPr wrap="square" lIns="18288" tIns="9144" rIns="18288" bIns="9144" anchor="ctr">
            <a:noAutofit/>
          </a:bodyPr>
          <a:lstStyle/>
          <a:p>
            <a:pPr algn="l">
              <a:lnSpc>
                <a:spcPct val="95000"/>
              </a:lnSpc>
            </a:pPr>
            <a:r>
              <a:rPr lang="en-GB" sz="2000" b="0" i="0">
                <a:solidFill>
                  <a:srgbClr val="F2F2F2"/>
                </a:solidFill>
                <a:latin typeface="Arial"/>
              </a:rPr>
              <a:t>This deck uses no photographs.</a:t>
            </a:r>
          </a:p>
        </p:txBody>
      </p:sp>
      <p:sp>
        <p:nvSpPr>
          <p:cNvPr id="7" name="NUM"/>
          <p:cNvSpPr txBox="1"/>
          <p:nvPr/>
        </p:nvSpPr>
        <p:spPr>
          <a:xfrm>
            <a:off x="10728655"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22</a:t>
            </a:r>
          </a:p>
        </p:txBody>
      </p:sp>
    </p:spTree>
    <p:extLst>
      <p:ext uri="{BB962C8B-B14F-4D97-AF65-F5344CB8AC3E}">
        <p14:creationId xmlns:p14="http://schemas.microsoft.com/office/powerpoint/2010/main" val="1577272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502920"/>
            <a:ext cx="6355080" cy="2926080"/>
          </a:xfrm>
        </p:spPr>
        <p:txBody>
          <a:bodyPr wrap="square" lIns="0" tIns="0" rIns="0" bIns="0" anchor="b">
            <a:noAutofit/>
          </a:bodyPr>
          <a:lstStyle/>
          <a:p>
            <a:pPr algn="l"/>
            <a:r>
              <a:rPr lang="en-GB" sz="5400" b="1" i="0">
                <a:solidFill>
                  <a:srgbClr val="F2F2F2"/>
                </a:solidFill>
                <a:latin typeface="Arial"/>
              </a:rPr>
              <a:t>Regions, Running Numbers and Fleet Identity</a:t>
            </a:r>
          </a:p>
        </p:txBody>
      </p:sp>
      <p:pic>
        <p:nvPicPr>
          <p:cNvPr id="3" name="R01_pannier_visual_probe_v004" descr="Early test model of a tank engine (a yellow 'visual probe') on a short length of track. Not final art."/>
          <p:cNvPicPr>
            <a:picLocks noChangeAspect="1"/>
          </p:cNvPicPr>
          <p:nvPr/>
        </p:nvPicPr>
        <p:blipFill>
          <a:blip r:embed="rId2"/>
          <a:srcRect l="31466" r="25745"/>
          <a:stretch>
            <a:fillRect/>
          </a:stretch>
        </p:blipFill>
        <p:spPr>
          <a:xfrm>
            <a:off x="7132320" y="457200"/>
            <a:ext cx="4507992" cy="5852160"/>
          </a:xfrm>
          <a:prstGeom prst="roundRect">
            <a:avLst>
              <a:gd name="adj" fmla="val 1622"/>
            </a:avLst>
          </a:prstGeom>
        </p:spPr>
      </p:pic>
      <p:sp>
        <p:nvSpPr>
          <p:cNvPr id="4" name="CREDIT"/>
          <p:cNvSpPr txBox="1"/>
          <p:nvPr/>
        </p:nvSpPr>
        <p:spPr>
          <a:xfrm>
            <a:off x="7132320" y="6364224"/>
            <a:ext cx="4507992" cy="201168"/>
          </a:xfrm>
          <a:prstGeom prst="rect">
            <a:avLst/>
          </a:prstGeom>
          <a:noFill/>
        </p:spPr>
        <p:txBody>
          <a:bodyPr wrap="square" lIns="0" tIns="0" rIns="0" bIns="0" anchor="t">
            <a:noAutofit/>
          </a:bodyPr>
          <a:lstStyle/>
          <a:p>
            <a:pPr algn="l"/>
            <a:r>
              <a:rPr lang="en-GB" sz="1000" b="0" i="0">
                <a:solidFill>
                  <a:srgbClr val="A9B0B8"/>
                </a:solidFill>
                <a:latin typeface="Arial"/>
              </a:rPr>
              <a:t>Early Locomotion project render. Early test model, not final art.</a:t>
            </a:r>
          </a:p>
        </p:txBody>
      </p:sp>
      <p:sp>
        <p:nvSpPr>
          <p:cNvPr id="5" name="orange rule"/>
          <p:cNvSpPr/>
          <p:nvPr/>
        </p:nvSpPr>
        <p:spPr>
          <a:xfrm>
            <a:off x="548640" y="3611880"/>
            <a:ext cx="1645920" cy="73152"/>
          </a:xfrm>
          <a:prstGeom prst="rect">
            <a:avLst/>
          </a:prstGeom>
          <a:solidFill>
            <a:srgbClr val="F28C28"/>
          </a:solidFill>
          <a:ln>
            <a:noFill/>
          </a:ln>
        </p:spPr>
        <p:txBody>
          <a:bodyPr rtlCol="0" anchor="ctr"/>
          <a:lstStyle/>
          <a:p>
            <a:pPr algn="ctr"/>
            <a:endParaRPr/>
          </a:p>
        </p:txBody>
      </p:sp>
      <p:sp>
        <p:nvSpPr>
          <p:cNvPr id="6" name="CAPTION"/>
          <p:cNvSpPr txBox="1"/>
          <p:nvPr/>
        </p:nvSpPr>
        <p:spPr>
          <a:xfrm>
            <a:off x="548640" y="3886200"/>
            <a:ext cx="5943600" cy="1188720"/>
          </a:xfrm>
          <a:prstGeom prst="rect">
            <a:avLst/>
          </a:prstGeom>
          <a:noFill/>
        </p:spPr>
        <p:txBody>
          <a:bodyPr wrap="square" lIns="0" tIns="0" rIns="0" bIns="0" anchor="t">
            <a:noAutofit/>
          </a:bodyPr>
          <a:lstStyle/>
          <a:p>
            <a:pPr algn="l"/>
            <a:r>
              <a:rPr lang="en-GB" sz="2000" b="0" i="0">
                <a:solidFill>
                  <a:srgbClr val="F2F2F2"/>
                </a:solidFill>
                <a:latin typeface="Arial"/>
              </a:rPr>
              <a:t>How the mod gives every engine a look, a number and a hidden identity.</a:t>
            </a:r>
          </a:p>
        </p:txBody>
      </p:sp>
    </p:spTree>
    <p:extLst>
      <p:ext uri="{BB962C8B-B14F-4D97-AF65-F5344CB8AC3E}">
        <p14:creationId xmlns:p14="http://schemas.microsoft.com/office/powerpoint/2010/main" val="38096970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How to read this guide</a:t>
            </a:r>
          </a:p>
        </p:txBody>
      </p:sp>
      <p:grpSp>
        <p:nvGrpSpPr>
          <p:cNvPr id="3" name="Tag legend" descr="Legend: five tags and what each means. Agreed is decided, Proposed is suggested, Provisional is a test number, Undecided is an open question, Background is a real-world fact."/>
          <p:cNvGrpSpPr/>
          <p:nvPr/>
        </p:nvGrpSpPr>
        <p:grpSpPr>
          <a:xfrm>
            <a:off x="548640" y="1371600"/>
            <a:ext cx="7315200" cy="4069080"/>
            <a:chOff x="548640" y="1371600"/>
            <a:chExt cx="7315200" cy="4069080"/>
          </a:xfrm>
        </p:grpSpPr>
        <p:sp>
          <p:nvSpPr>
            <p:cNvPr id="4" name="legend panel"/>
            <p:cNvSpPr/>
            <p:nvPr/>
          </p:nvSpPr>
          <p:spPr>
            <a:xfrm>
              <a:off x="548640" y="1371600"/>
              <a:ext cx="7315200" cy="4069080"/>
            </a:xfrm>
            <a:prstGeom prst="roundRect">
              <a:avLst>
                <a:gd name="adj" fmla="val 1797"/>
              </a:avLst>
            </a:prstGeom>
            <a:solidFill>
              <a:srgbClr val="2B2F36"/>
            </a:solidFill>
            <a:ln>
              <a:noFill/>
            </a:ln>
          </p:spPr>
          <p:txBody>
            <a:bodyPr rtlCol="0" anchor="ctr"/>
            <a:lstStyle/>
            <a:p>
              <a:pPr algn="ctr"/>
              <a:endParaRPr/>
            </a:p>
          </p:txBody>
        </p:sp>
        <p:sp>
          <p:nvSpPr>
            <p:cNvPr id="5" name="CHIP LEGEND"/>
            <p:cNvSpPr/>
            <p:nvPr/>
          </p:nvSpPr>
          <p:spPr>
            <a:xfrm>
              <a:off x="868680" y="1572768"/>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sp>
          <p:nvSpPr>
            <p:cNvPr id="6" name="LEGEND TEXT"/>
            <p:cNvSpPr txBox="1"/>
            <p:nvPr/>
          </p:nvSpPr>
          <p:spPr>
            <a:xfrm>
              <a:off x="2743200" y="1481328"/>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Decided.</a:t>
              </a:r>
            </a:p>
          </p:txBody>
        </p:sp>
        <p:sp>
          <p:nvSpPr>
            <p:cNvPr id="7" name="CHIP LEGEND"/>
            <p:cNvSpPr/>
            <p:nvPr/>
          </p:nvSpPr>
          <p:spPr>
            <a:xfrm>
              <a:off x="868680" y="23591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8" name="LEGEND TEXT"/>
            <p:cNvSpPr txBox="1"/>
            <p:nvPr/>
          </p:nvSpPr>
          <p:spPr>
            <a:xfrm>
              <a:off x="2743200" y="2267712"/>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Suggested, not confirmed.</a:t>
              </a:r>
            </a:p>
          </p:txBody>
        </p:sp>
        <p:sp>
          <p:nvSpPr>
            <p:cNvPr id="9" name="CHIP LEGEND"/>
            <p:cNvSpPr/>
            <p:nvPr/>
          </p:nvSpPr>
          <p:spPr>
            <a:xfrm>
              <a:off x="868680" y="3145536"/>
              <a:ext cx="1554480" cy="365760"/>
            </a:xfrm>
            <a:prstGeom prst="roundRect">
              <a:avLst>
                <a:gd name="adj" fmla="val 300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sp>
          <p:nvSpPr>
            <p:cNvPr id="10" name="LEGEND TEXT"/>
            <p:cNvSpPr txBox="1"/>
            <p:nvPr/>
          </p:nvSpPr>
          <p:spPr>
            <a:xfrm>
              <a:off x="2743200" y="3054096"/>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A test number that may change.</a:t>
              </a:r>
            </a:p>
          </p:txBody>
        </p:sp>
        <p:sp>
          <p:nvSpPr>
            <p:cNvPr id="11" name="CHIP LEGEND"/>
            <p:cNvSpPr/>
            <p:nvPr/>
          </p:nvSpPr>
          <p:spPr>
            <a:xfrm>
              <a:off x="868680" y="3931920"/>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12" name="LEGEND TEXT"/>
            <p:cNvSpPr txBox="1"/>
            <p:nvPr/>
          </p:nvSpPr>
          <p:spPr>
            <a:xfrm>
              <a:off x="2743200" y="3840480"/>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Still an open question.</a:t>
              </a:r>
            </a:p>
          </p:txBody>
        </p:sp>
        <p:sp>
          <p:nvSpPr>
            <p:cNvPr id="13" name="CHIP LEGEND"/>
            <p:cNvSpPr/>
            <p:nvPr/>
          </p:nvSpPr>
          <p:spPr>
            <a:xfrm>
              <a:off x="868680" y="4718304"/>
              <a:ext cx="1554480" cy="365760"/>
            </a:xfrm>
            <a:prstGeom prst="roundRect">
              <a:avLst>
                <a:gd name="adj" fmla="val 30000"/>
              </a:avLst>
            </a:prstGeom>
            <a:solidFill>
              <a:srgbClr val="4A515B"/>
            </a:solidFill>
            <a:ln>
              <a:noFill/>
            </a:ln>
          </p:spPr>
          <p:txBody>
            <a:bodyPr wrap="square" lIns="54864" tIns="0" rIns="54864" bIns="0" rtlCol="0" anchor="ctr">
              <a:noAutofit/>
            </a:bodyPr>
            <a:lstStyle/>
            <a:p>
              <a:pPr algn="ctr"/>
              <a:r>
                <a:rPr lang="en-GB" sz="1400" b="1" i="0">
                  <a:solidFill>
                    <a:srgbClr val="F2F2F2"/>
                  </a:solidFill>
                  <a:latin typeface="Arial"/>
                </a:rPr>
                <a:t>BACKGROUND</a:t>
              </a:r>
            </a:p>
          </p:txBody>
        </p:sp>
        <p:sp>
          <p:nvSpPr>
            <p:cNvPr id="14" name="LEGEND TEXT"/>
            <p:cNvSpPr txBox="1"/>
            <p:nvPr/>
          </p:nvSpPr>
          <p:spPr>
            <a:xfrm>
              <a:off x="2743200" y="4626864"/>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A real-world fact.</a:t>
              </a:r>
            </a:p>
          </p:txBody>
        </p:sp>
      </p:grpSp>
      <p:grpSp>
        <p:nvGrpSpPr>
          <p:cNvPr id="15" name="Corner sketch" descr="Sketch of a slide with a tag in its top-right corner."/>
          <p:cNvGrpSpPr/>
          <p:nvPr/>
        </p:nvGrpSpPr>
        <p:grpSpPr>
          <a:xfrm>
            <a:off x="8412480" y="1737360"/>
            <a:ext cx="3200400" cy="1801368"/>
            <a:chOff x="8412480" y="1737360"/>
            <a:chExt cx="3200400" cy="1801368"/>
          </a:xfrm>
        </p:grpSpPr>
        <p:sp>
          <p:nvSpPr>
            <p:cNvPr id="16" name="slide sketch"/>
            <p:cNvSpPr/>
            <p:nvPr/>
          </p:nvSpPr>
          <p:spPr>
            <a:xfrm>
              <a:off x="8412480" y="1737360"/>
              <a:ext cx="3200400" cy="1801368"/>
            </a:xfrm>
            <a:prstGeom prst="roundRect">
              <a:avLst>
                <a:gd name="adj" fmla="val 4060"/>
              </a:avLst>
            </a:prstGeom>
            <a:solidFill>
              <a:srgbClr val="1E2126"/>
            </a:solidFill>
            <a:ln w="25400">
              <a:solidFill>
                <a:srgbClr val="9AA0A6"/>
              </a:solidFill>
            </a:ln>
          </p:spPr>
          <p:txBody>
            <a:bodyPr rtlCol="0" anchor="ctr"/>
            <a:lstStyle/>
            <a:p>
              <a:pPr algn="ctr"/>
              <a:endParaRPr/>
            </a:p>
          </p:txBody>
        </p:sp>
        <p:sp>
          <p:nvSpPr>
            <p:cNvPr id="17" name="title line"/>
            <p:cNvSpPr/>
            <p:nvPr/>
          </p:nvSpPr>
          <p:spPr>
            <a:xfrm>
              <a:off x="8641080" y="1965960"/>
              <a:ext cx="1371600" cy="109728"/>
            </a:xfrm>
            <a:prstGeom prst="rect">
              <a:avLst/>
            </a:prstGeom>
            <a:solidFill>
              <a:srgbClr val="4A515B"/>
            </a:solidFill>
            <a:ln>
              <a:noFill/>
            </a:ln>
          </p:spPr>
          <p:txBody>
            <a:bodyPr rtlCol="0" anchor="ctr"/>
            <a:lstStyle/>
            <a:p>
              <a:pPr algn="ctr"/>
              <a:endParaRPr/>
            </a:p>
          </p:txBody>
        </p:sp>
        <p:sp>
          <p:nvSpPr>
            <p:cNvPr id="18" name="body line"/>
            <p:cNvSpPr/>
            <p:nvPr/>
          </p:nvSpPr>
          <p:spPr>
            <a:xfrm>
              <a:off x="8641080" y="2286000"/>
              <a:ext cx="2011680" cy="73152"/>
            </a:xfrm>
            <a:prstGeom prst="rect">
              <a:avLst/>
            </a:prstGeom>
            <a:solidFill>
              <a:srgbClr val="4A515B"/>
            </a:solidFill>
            <a:ln>
              <a:noFill/>
            </a:ln>
          </p:spPr>
          <p:txBody>
            <a:bodyPr rtlCol="0" anchor="ctr"/>
            <a:lstStyle/>
            <a:p>
              <a:pPr algn="ctr"/>
              <a:endParaRPr/>
            </a:p>
          </p:txBody>
        </p:sp>
        <p:sp>
          <p:nvSpPr>
            <p:cNvPr id="19" name="body line"/>
            <p:cNvSpPr/>
            <p:nvPr/>
          </p:nvSpPr>
          <p:spPr>
            <a:xfrm>
              <a:off x="8641080" y="2468880"/>
              <a:ext cx="1645920" cy="73152"/>
            </a:xfrm>
            <a:prstGeom prst="rect">
              <a:avLst/>
            </a:prstGeom>
            <a:solidFill>
              <a:srgbClr val="4A515B"/>
            </a:solidFill>
            <a:ln>
              <a:noFill/>
            </a:ln>
          </p:spPr>
          <p:txBody>
            <a:bodyPr rtlCol="0" anchor="ctr"/>
            <a:lstStyle/>
            <a:p>
              <a:pPr algn="ctr"/>
              <a:endParaRPr/>
            </a:p>
          </p:txBody>
        </p:sp>
        <p:sp>
          <p:nvSpPr>
            <p:cNvPr id="20" name="tag sketch"/>
            <p:cNvSpPr/>
            <p:nvPr/>
          </p:nvSpPr>
          <p:spPr>
            <a:xfrm>
              <a:off x="10698480" y="1920240"/>
              <a:ext cx="731520" cy="237744"/>
            </a:xfrm>
            <a:prstGeom prst="roundRect">
              <a:avLst>
                <a:gd name="adj" fmla="val 30769"/>
              </a:avLst>
            </a:prstGeom>
            <a:solidFill>
              <a:srgbClr val="3FB950"/>
            </a:solidFill>
            <a:ln>
              <a:noFill/>
            </a:ln>
          </p:spPr>
          <p:txBody>
            <a:bodyPr rtlCol="0" anchor="ctr"/>
            <a:lstStyle/>
            <a:p>
              <a:pPr algn="ctr"/>
              <a:endParaRPr/>
            </a:p>
          </p:txBody>
        </p:sp>
        <p:cxnSp>
          <p:nvCxnSpPr>
            <p:cNvPr id="21" name="pointer"/>
            <p:cNvCxnSpPr/>
            <p:nvPr/>
          </p:nvCxnSpPr>
          <p:spPr>
            <a:xfrm flipV="1">
              <a:off x="10058400" y="2194560"/>
              <a:ext cx="822960" cy="548640"/>
            </a:xfrm>
            <a:prstGeom prst="line">
              <a:avLst/>
            </a:prstGeom>
            <a:ln w="28575">
              <a:solidFill>
                <a:srgbClr val="F28C28"/>
              </a:solidFill>
              <a:tailEnd type="triangle" w="med" len="med"/>
            </a:ln>
          </p:spPr>
        </p:cxnSp>
      </p:grpSp>
      <p:sp>
        <p:nvSpPr>
          <p:cNvPr id="2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3"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4"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Every idea carries a tag in the top-right corner.</a:t>
            </a:r>
          </a:p>
        </p:txBody>
      </p:sp>
      <p:sp>
        <p:nvSpPr>
          <p:cNvPr id="25"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a:t>
            </a:r>
          </a:p>
        </p:txBody>
      </p:sp>
    </p:spTree>
    <p:extLst>
      <p:ext uri="{BB962C8B-B14F-4D97-AF65-F5344CB8AC3E}">
        <p14:creationId xmlns:p14="http://schemas.microsoft.com/office/powerpoint/2010/main" val="32597500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60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9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nodeType="withEffect">
                                  <p:stCondLst>
                                    <p:cond delay="12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One world, one style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World card" descr="A world card with a selector offering three example regional styles: British, North American and Continental European. One style is chosen for the whole world."/>
          <p:cNvGrpSpPr/>
          <p:nvPr/>
        </p:nvGrpSpPr>
        <p:grpSpPr>
          <a:xfrm>
            <a:off x="1371600" y="1417320"/>
            <a:ext cx="9418320" cy="3154680"/>
            <a:chOff x="1371600" y="1417320"/>
            <a:chExt cx="9418320" cy="3154680"/>
          </a:xfrm>
        </p:grpSpPr>
        <p:sp>
          <p:nvSpPr>
            <p:cNvPr id="5" name="world card"/>
            <p:cNvSpPr/>
            <p:nvPr/>
          </p:nvSpPr>
          <p:spPr>
            <a:xfrm>
              <a:off x="1371600" y="1417320"/>
              <a:ext cx="9418320" cy="3154680"/>
            </a:xfrm>
            <a:prstGeom prst="roundRect">
              <a:avLst>
                <a:gd name="adj" fmla="val 3478"/>
              </a:avLst>
            </a:prstGeom>
            <a:solidFill>
              <a:srgbClr val="2B2F36"/>
            </a:solidFill>
            <a:ln w="19050">
              <a:solidFill>
                <a:srgbClr val="4A515B"/>
              </a:solidFill>
            </a:ln>
          </p:spPr>
          <p:txBody>
            <a:bodyPr rtlCol="0" anchor="ctr"/>
            <a:lstStyle/>
            <a:p>
              <a:pPr algn="ctr"/>
              <a:endParaRPr/>
            </a:p>
          </p:txBody>
        </p:sp>
        <p:sp>
          <p:nvSpPr>
            <p:cNvPr id="6" name="globe"/>
            <p:cNvSpPr/>
            <p:nvPr/>
          </p:nvSpPr>
          <p:spPr>
            <a:xfrm>
              <a:off x="1920240" y="2103120"/>
              <a:ext cx="1828800" cy="1828800"/>
            </a:xfrm>
            <a:prstGeom prst="ellipse">
              <a:avLst/>
            </a:prstGeom>
            <a:solidFill>
              <a:srgbClr val="2D5F8B"/>
            </a:solidFill>
            <a:ln w="25400">
              <a:solidFill>
                <a:srgbClr val="9AA0A6"/>
              </a:solidFill>
            </a:ln>
          </p:spPr>
          <p:txBody>
            <a:bodyPr rtlCol="0" anchor="ctr"/>
            <a:lstStyle/>
            <a:p>
              <a:pPr algn="ctr"/>
              <a:endParaRPr/>
            </a:p>
          </p:txBody>
        </p:sp>
        <p:sp>
          <p:nvSpPr>
            <p:cNvPr id="7" name="meridian"/>
            <p:cNvSpPr/>
            <p:nvPr/>
          </p:nvSpPr>
          <p:spPr>
            <a:xfrm>
              <a:off x="2423160" y="2103120"/>
              <a:ext cx="822960" cy="1828800"/>
            </a:xfrm>
            <a:prstGeom prst="ellipse">
              <a:avLst/>
            </a:prstGeom>
            <a:noFill/>
            <a:ln w="15875">
              <a:solidFill>
                <a:srgbClr val="AEB3B7"/>
              </a:solidFill>
            </a:ln>
          </p:spPr>
          <p:txBody>
            <a:bodyPr rtlCol="0" anchor="ctr"/>
            <a:lstStyle/>
            <a:p>
              <a:pPr algn="ctr"/>
              <a:endParaRPr/>
            </a:p>
          </p:txBody>
        </p:sp>
        <p:cxnSp>
          <p:nvCxnSpPr>
            <p:cNvPr id="8" name="axis"/>
            <p:cNvCxnSpPr/>
            <p:nvPr/>
          </p:nvCxnSpPr>
          <p:spPr>
            <a:xfrm>
              <a:off x="2834640" y="2103120"/>
              <a:ext cx="0" cy="1828800"/>
            </a:xfrm>
            <a:prstGeom prst="line">
              <a:avLst/>
            </a:prstGeom>
            <a:ln w="15875">
              <a:solidFill>
                <a:srgbClr val="AEB3B7"/>
              </a:solidFill>
            </a:ln>
          </p:spPr>
        </p:cxnSp>
        <p:cxnSp>
          <p:nvCxnSpPr>
            <p:cNvPr id="9" name="equator"/>
            <p:cNvCxnSpPr/>
            <p:nvPr/>
          </p:nvCxnSpPr>
          <p:spPr>
            <a:xfrm>
              <a:off x="1920240" y="3017520"/>
              <a:ext cx="1828799" cy="0"/>
            </a:xfrm>
            <a:prstGeom prst="line">
              <a:avLst/>
            </a:prstGeom>
            <a:ln w="15875">
              <a:solidFill>
                <a:srgbClr val="AEB3B7"/>
              </a:solidFill>
            </a:ln>
          </p:spPr>
        </p:cxnSp>
        <p:sp>
          <p:nvSpPr>
            <p:cNvPr id="10" name="land"/>
            <p:cNvSpPr/>
            <p:nvPr/>
          </p:nvSpPr>
          <p:spPr>
            <a:xfrm>
              <a:off x="2331720" y="2468879"/>
              <a:ext cx="594360" cy="502921"/>
            </a:xfrm>
            <a:custGeom>
              <a:avLst/>
              <a:gdLst/>
              <a:ahLst/>
              <a:cxnLst/>
              <a:rect l="l" t="t" r="r" b="b"/>
              <a:pathLst>
                <a:path w="594360" h="502921">
                  <a:moveTo>
                    <a:pt x="0" y="228600"/>
                  </a:moveTo>
                  <a:lnTo>
                    <a:pt x="320040" y="0"/>
                  </a:lnTo>
                  <a:lnTo>
                    <a:pt x="594360" y="228600"/>
                  </a:lnTo>
                  <a:lnTo>
                    <a:pt x="411480" y="502921"/>
                  </a:lnTo>
                  <a:lnTo>
                    <a:pt x="45720" y="502921"/>
                  </a:lnTo>
                  <a:close/>
                </a:path>
              </a:pathLst>
            </a:custGeom>
            <a:solidFill>
              <a:srgbClr val="4F8F5B"/>
            </a:solidFill>
            <a:ln>
              <a:noFill/>
            </a:ln>
          </p:spPr>
          <p:txBody>
            <a:bodyPr rtlCol="0" anchor="ctr"/>
            <a:lstStyle/>
            <a:p>
              <a:pPr algn="ctr"/>
              <a:endParaRPr/>
            </a:p>
          </p:txBody>
        </p:sp>
        <p:sp>
          <p:nvSpPr>
            <p:cNvPr id="11" name="land"/>
            <p:cNvSpPr/>
            <p:nvPr/>
          </p:nvSpPr>
          <p:spPr>
            <a:xfrm>
              <a:off x="2971800" y="3108960"/>
              <a:ext cx="411480" cy="457200"/>
            </a:xfrm>
            <a:custGeom>
              <a:avLst/>
              <a:gdLst/>
              <a:ahLst/>
              <a:cxnLst/>
              <a:rect l="l" t="t" r="r" b="b"/>
              <a:pathLst>
                <a:path w="411480" h="457200">
                  <a:moveTo>
                    <a:pt x="45720" y="0"/>
                  </a:moveTo>
                  <a:lnTo>
                    <a:pt x="411480" y="91440"/>
                  </a:lnTo>
                  <a:lnTo>
                    <a:pt x="274320" y="457200"/>
                  </a:lnTo>
                  <a:lnTo>
                    <a:pt x="0" y="320040"/>
                  </a:lnTo>
                  <a:close/>
                </a:path>
              </a:pathLst>
            </a:custGeom>
            <a:solidFill>
              <a:srgbClr val="4F8F5B"/>
            </a:solidFill>
            <a:ln>
              <a:noFill/>
            </a:ln>
          </p:spPr>
          <p:txBody>
            <a:bodyPr rtlCol="0" anchor="ctr"/>
            <a:lstStyle/>
            <a:p>
              <a:pPr algn="ctr"/>
              <a:endParaRPr/>
            </a:p>
          </p:txBody>
        </p:sp>
        <p:sp>
          <p:nvSpPr>
            <p:cNvPr id="12" name="card heading"/>
            <p:cNvSpPr txBox="1"/>
            <p:nvPr/>
          </p:nvSpPr>
          <p:spPr>
            <a:xfrm>
              <a:off x="4297680" y="1600200"/>
              <a:ext cx="3657600" cy="365760"/>
            </a:xfrm>
            <a:prstGeom prst="rect">
              <a:avLst/>
            </a:prstGeom>
            <a:noFill/>
          </p:spPr>
          <p:txBody>
            <a:bodyPr wrap="square" lIns="18288" tIns="9144" rIns="18288" bIns="9144" anchor="ctr">
              <a:noAutofit/>
            </a:bodyPr>
            <a:lstStyle/>
            <a:p>
              <a:pPr algn="l"/>
              <a:r>
                <a:rPr lang="en-GB" sz="1800" b="1" i="0">
                  <a:solidFill>
                    <a:srgbClr val="A9B0B8"/>
                  </a:solidFill>
                  <a:latin typeface="Arial"/>
                </a:rPr>
                <a:t>World style</a:t>
              </a:r>
            </a:p>
          </p:txBody>
        </p:sp>
        <p:sp>
          <p:nvSpPr>
            <p:cNvPr id="13" name="style chip"/>
            <p:cNvSpPr/>
            <p:nvPr/>
          </p:nvSpPr>
          <p:spPr>
            <a:xfrm>
              <a:off x="4297680" y="2057400"/>
              <a:ext cx="4480560" cy="566928"/>
            </a:xfrm>
            <a:prstGeom prst="roundRect">
              <a:avLst>
                <a:gd name="adj" fmla="val 50000"/>
              </a:avLst>
            </a:prstGeom>
            <a:solidFill>
              <a:srgbClr val="343A43"/>
            </a:solidFill>
            <a:ln w="38100">
              <a:solidFill>
                <a:srgbClr val="F28C28"/>
              </a:solidFill>
            </a:ln>
          </p:spPr>
          <p:txBody>
            <a:bodyPr rtlCol="0" anchor="ctr"/>
            <a:lstStyle/>
            <a:p>
              <a:pPr algn="ctr"/>
              <a:endParaRPr/>
            </a:p>
          </p:txBody>
        </p:sp>
        <p:sp>
          <p:nvSpPr>
            <p:cNvPr id="14" name="radio"/>
            <p:cNvSpPr/>
            <p:nvPr/>
          </p:nvSpPr>
          <p:spPr>
            <a:xfrm>
              <a:off x="4526280" y="2203704"/>
              <a:ext cx="274320" cy="274320"/>
            </a:xfrm>
            <a:prstGeom prst="ellipse">
              <a:avLst/>
            </a:prstGeom>
            <a:solidFill>
              <a:srgbClr val="F28C28"/>
            </a:solidFill>
            <a:ln w="25400">
              <a:solidFill>
                <a:srgbClr val="F28C28"/>
              </a:solidFill>
            </a:ln>
          </p:spPr>
          <p:txBody>
            <a:bodyPr rtlCol="0" anchor="ctr"/>
            <a:lstStyle/>
            <a:p>
              <a:pPr algn="ctr"/>
              <a:endParaRPr/>
            </a:p>
          </p:txBody>
        </p:sp>
        <p:sp>
          <p:nvSpPr>
            <p:cNvPr id="15" name="style name"/>
            <p:cNvSpPr txBox="1"/>
            <p:nvPr/>
          </p:nvSpPr>
          <p:spPr>
            <a:xfrm>
              <a:off x="4983480" y="2057400"/>
              <a:ext cx="3566160" cy="566928"/>
            </a:xfrm>
            <a:prstGeom prst="rect">
              <a:avLst/>
            </a:prstGeom>
            <a:noFill/>
          </p:spPr>
          <p:txBody>
            <a:bodyPr wrap="square" lIns="18288" tIns="9144" rIns="18288" bIns="9144" anchor="ctr">
              <a:noAutofit/>
            </a:bodyPr>
            <a:lstStyle/>
            <a:p>
              <a:pPr algn="l"/>
              <a:r>
                <a:rPr lang="en-GB" sz="2000" b="1" i="0">
                  <a:solidFill>
                    <a:srgbClr val="F2F2F2"/>
                  </a:solidFill>
                  <a:latin typeface="Arial"/>
                </a:rPr>
                <a:t>British</a:t>
              </a:r>
            </a:p>
          </p:txBody>
        </p:sp>
        <p:sp>
          <p:nvSpPr>
            <p:cNvPr id="16" name="style chip"/>
            <p:cNvSpPr/>
            <p:nvPr/>
          </p:nvSpPr>
          <p:spPr>
            <a:xfrm>
              <a:off x="4297680" y="2770632"/>
              <a:ext cx="4480560" cy="566928"/>
            </a:xfrm>
            <a:prstGeom prst="roundRect">
              <a:avLst>
                <a:gd name="adj" fmla="val 50000"/>
              </a:avLst>
            </a:prstGeom>
            <a:solidFill>
              <a:srgbClr val="343A43"/>
            </a:solidFill>
            <a:ln w="19050">
              <a:solidFill>
                <a:srgbClr val="4A515B"/>
              </a:solidFill>
            </a:ln>
          </p:spPr>
          <p:txBody>
            <a:bodyPr rtlCol="0" anchor="ctr"/>
            <a:lstStyle/>
            <a:p>
              <a:pPr algn="ctr"/>
              <a:endParaRPr/>
            </a:p>
          </p:txBody>
        </p:sp>
        <p:sp>
          <p:nvSpPr>
            <p:cNvPr id="17" name="radio"/>
            <p:cNvSpPr/>
            <p:nvPr/>
          </p:nvSpPr>
          <p:spPr>
            <a:xfrm>
              <a:off x="4526280" y="2916936"/>
              <a:ext cx="274320" cy="274320"/>
            </a:xfrm>
            <a:prstGeom prst="ellipse">
              <a:avLst/>
            </a:prstGeom>
            <a:noFill/>
            <a:ln w="25400">
              <a:solidFill>
                <a:srgbClr val="9AA0A6"/>
              </a:solidFill>
            </a:ln>
          </p:spPr>
          <p:txBody>
            <a:bodyPr rtlCol="0" anchor="ctr"/>
            <a:lstStyle/>
            <a:p>
              <a:pPr algn="ctr"/>
              <a:endParaRPr/>
            </a:p>
          </p:txBody>
        </p:sp>
        <p:sp>
          <p:nvSpPr>
            <p:cNvPr id="18" name="style name"/>
            <p:cNvSpPr txBox="1"/>
            <p:nvPr/>
          </p:nvSpPr>
          <p:spPr>
            <a:xfrm>
              <a:off x="4983480" y="2770632"/>
              <a:ext cx="3566160" cy="566928"/>
            </a:xfrm>
            <a:prstGeom prst="rect">
              <a:avLst/>
            </a:prstGeom>
            <a:noFill/>
          </p:spPr>
          <p:txBody>
            <a:bodyPr wrap="square" lIns="18288" tIns="9144" rIns="18288" bIns="9144" anchor="ctr">
              <a:noAutofit/>
            </a:bodyPr>
            <a:lstStyle/>
            <a:p>
              <a:pPr algn="l"/>
              <a:r>
                <a:rPr lang="en-GB" sz="2000" b="1" i="0">
                  <a:solidFill>
                    <a:srgbClr val="F2F2F2"/>
                  </a:solidFill>
                  <a:latin typeface="Arial"/>
                </a:rPr>
                <a:t>North American</a:t>
              </a:r>
            </a:p>
          </p:txBody>
        </p:sp>
        <p:sp>
          <p:nvSpPr>
            <p:cNvPr id="19" name="style chip"/>
            <p:cNvSpPr/>
            <p:nvPr/>
          </p:nvSpPr>
          <p:spPr>
            <a:xfrm>
              <a:off x="4297680" y="3483864"/>
              <a:ext cx="4480560" cy="566928"/>
            </a:xfrm>
            <a:prstGeom prst="roundRect">
              <a:avLst>
                <a:gd name="adj" fmla="val 50000"/>
              </a:avLst>
            </a:prstGeom>
            <a:solidFill>
              <a:srgbClr val="343A43"/>
            </a:solidFill>
            <a:ln w="19050">
              <a:solidFill>
                <a:srgbClr val="4A515B"/>
              </a:solidFill>
            </a:ln>
          </p:spPr>
          <p:txBody>
            <a:bodyPr rtlCol="0" anchor="ctr"/>
            <a:lstStyle/>
            <a:p>
              <a:pPr algn="ctr"/>
              <a:endParaRPr/>
            </a:p>
          </p:txBody>
        </p:sp>
        <p:sp>
          <p:nvSpPr>
            <p:cNvPr id="20" name="radio"/>
            <p:cNvSpPr/>
            <p:nvPr/>
          </p:nvSpPr>
          <p:spPr>
            <a:xfrm>
              <a:off x="4526280" y="3630168"/>
              <a:ext cx="274320" cy="274320"/>
            </a:xfrm>
            <a:prstGeom prst="ellipse">
              <a:avLst/>
            </a:prstGeom>
            <a:noFill/>
            <a:ln w="25400">
              <a:solidFill>
                <a:srgbClr val="9AA0A6"/>
              </a:solidFill>
            </a:ln>
          </p:spPr>
          <p:txBody>
            <a:bodyPr rtlCol="0" anchor="ctr"/>
            <a:lstStyle/>
            <a:p>
              <a:pPr algn="ctr"/>
              <a:endParaRPr/>
            </a:p>
          </p:txBody>
        </p:sp>
        <p:sp>
          <p:nvSpPr>
            <p:cNvPr id="21" name="style name"/>
            <p:cNvSpPr txBox="1"/>
            <p:nvPr/>
          </p:nvSpPr>
          <p:spPr>
            <a:xfrm>
              <a:off x="4983480" y="3483864"/>
              <a:ext cx="3566160" cy="566928"/>
            </a:xfrm>
            <a:prstGeom prst="rect">
              <a:avLst/>
            </a:prstGeom>
            <a:noFill/>
          </p:spPr>
          <p:txBody>
            <a:bodyPr wrap="square" lIns="18288" tIns="9144" rIns="18288" bIns="9144" anchor="ctr">
              <a:noAutofit/>
            </a:bodyPr>
            <a:lstStyle/>
            <a:p>
              <a:pPr algn="l"/>
              <a:r>
                <a:rPr lang="en-GB" sz="2000" b="1" i="0">
                  <a:solidFill>
                    <a:srgbClr val="F2F2F2"/>
                  </a:solidFill>
                  <a:latin typeface="Arial"/>
                </a:rPr>
                <a:t>Continental European</a:t>
              </a:r>
            </a:p>
          </p:txBody>
        </p:sp>
        <p:sp>
          <p:nvSpPr>
            <p:cNvPr id="22" name="examples label"/>
            <p:cNvSpPr txBox="1"/>
            <p:nvPr/>
          </p:nvSpPr>
          <p:spPr>
            <a:xfrm>
              <a:off x="4297680" y="4160520"/>
              <a:ext cx="2743200" cy="274320"/>
            </a:xfrm>
            <a:prstGeom prst="rect">
              <a:avLst/>
            </a:prstGeom>
            <a:noFill/>
          </p:spPr>
          <p:txBody>
            <a:bodyPr wrap="square" lIns="18288" tIns="9144" rIns="18288" bIns="9144" anchor="ctr">
              <a:noAutofit/>
            </a:bodyPr>
            <a:lstStyle/>
            <a:p>
              <a:pPr algn="l"/>
              <a:r>
                <a:rPr lang="en-GB" sz="1400" b="0" i="0">
                  <a:solidFill>
                    <a:srgbClr val="A9B0B8"/>
                  </a:solidFill>
                  <a:latin typeface="Arial"/>
                </a:rPr>
                <a:t>Examples only</a:t>
              </a:r>
            </a:p>
          </p:txBody>
        </p:sp>
        <p:sp>
          <p:nvSpPr>
            <p:cNvPr id="23" name="platform"/>
            <p:cNvSpPr/>
            <p:nvPr/>
          </p:nvSpPr>
          <p:spPr>
            <a:xfrm>
              <a:off x="9098280" y="3685032"/>
              <a:ext cx="1463040" cy="109728"/>
            </a:xfrm>
            <a:prstGeom prst="rect">
              <a:avLst/>
            </a:prstGeom>
            <a:solidFill>
              <a:srgbClr val="5A606A"/>
            </a:solidFill>
            <a:ln w="12700">
              <a:solidFill>
                <a:srgbClr val="9AA0A6"/>
              </a:solidFill>
            </a:ln>
          </p:spPr>
          <p:txBody>
            <a:bodyPr rtlCol="0" anchor="ctr"/>
            <a:lstStyle/>
            <a:p>
              <a:pPr algn="ctr"/>
              <a:endParaRPr/>
            </a:p>
          </p:txBody>
        </p:sp>
        <p:sp>
          <p:nvSpPr>
            <p:cNvPr id="24" name="building"/>
            <p:cNvSpPr/>
            <p:nvPr/>
          </p:nvSpPr>
          <p:spPr>
            <a:xfrm>
              <a:off x="9244584" y="3136392"/>
              <a:ext cx="950976" cy="548640"/>
            </a:xfrm>
            <a:prstGeom prst="rect">
              <a:avLst/>
            </a:prstGeom>
            <a:solidFill>
              <a:srgbClr val="2BB5B0"/>
            </a:solidFill>
            <a:ln>
              <a:noFill/>
            </a:ln>
          </p:spPr>
          <p:txBody>
            <a:bodyPr rtlCol="0" anchor="ctr"/>
            <a:lstStyle/>
            <a:p>
              <a:pPr algn="ctr"/>
              <a:endParaRPr/>
            </a:p>
          </p:txBody>
        </p:sp>
        <p:sp>
          <p:nvSpPr>
            <p:cNvPr id="25" name="gable roof"/>
            <p:cNvSpPr/>
            <p:nvPr/>
          </p:nvSpPr>
          <p:spPr>
            <a:xfrm>
              <a:off x="9189719" y="2770632"/>
              <a:ext cx="1060705" cy="365760"/>
            </a:xfrm>
            <a:custGeom>
              <a:avLst/>
              <a:gdLst/>
              <a:ahLst/>
              <a:cxnLst/>
              <a:rect l="l" t="t" r="r" b="b"/>
              <a:pathLst>
                <a:path w="1060705" h="365760">
                  <a:moveTo>
                    <a:pt x="0" y="365760"/>
                  </a:moveTo>
                  <a:lnTo>
                    <a:pt x="530353" y="0"/>
                  </a:lnTo>
                  <a:lnTo>
                    <a:pt x="1060705" y="365760"/>
                  </a:lnTo>
                  <a:close/>
                </a:path>
              </a:pathLst>
            </a:custGeom>
            <a:solidFill>
              <a:srgbClr val="1B7572"/>
            </a:solidFill>
            <a:ln>
              <a:noFill/>
            </a:ln>
          </p:spPr>
          <p:txBody>
            <a:bodyPr rtlCol="0" anchor="ctr"/>
            <a:lstStyle/>
            <a:p>
              <a:pPr algn="ctr"/>
              <a:endParaRPr/>
            </a:p>
          </p:txBody>
        </p:sp>
        <p:sp>
          <p:nvSpPr>
            <p:cNvPr id="26" name="chimney"/>
            <p:cNvSpPr/>
            <p:nvPr/>
          </p:nvSpPr>
          <p:spPr>
            <a:xfrm>
              <a:off x="9976104" y="2807208"/>
              <a:ext cx="100584" cy="237744"/>
            </a:xfrm>
            <a:prstGeom prst="rect">
              <a:avLst/>
            </a:prstGeom>
            <a:solidFill>
              <a:srgbClr val="3A3F47"/>
            </a:solidFill>
            <a:ln>
              <a:noFill/>
            </a:ln>
          </p:spPr>
          <p:txBody>
            <a:bodyPr rtlCol="0" anchor="ctr"/>
            <a:lstStyle/>
            <a:p>
              <a:pPr algn="ctr"/>
              <a:endParaRPr/>
            </a:p>
          </p:txBody>
        </p:sp>
        <p:sp>
          <p:nvSpPr>
            <p:cNvPr id="27" name="window"/>
            <p:cNvSpPr/>
            <p:nvPr/>
          </p:nvSpPr>
          <p:spPr>
            <a:xfrm>
              <a:off x="9336024" y="3282696"/>
              <a:ext cx="182880" cy="182880"/>
            </a:xfrm>
            <a:prstGeom prst="rect">
              <a:avLst/>
            </a:prstGeom>
            <a:solidFill>
              <a:srgbClr val="1B1D21"/>
            </a:solidFill>
            <a:ln>
              <a:noFill/>
            </a:ln>
          </p:spPr>
          <p:txBody>
            <a:bodyPr rtlCol="0" anchor="ctr"/>
            <a:lstStyle/>
            <a:p>
              <a:pPr algn="ctr"/>
              <a:endParaRPr/>
            </a:p>
          </p:txBody>
        </p:sp>
        <p:sp>
          <p:nvSpPr>
            <p:cNvPr id="28" name="window"/>
            <p:cNvSpPr/>
            <p:nvPr/>
          </p:nvSpPr>
          <p:spPr>
            <a:xfrm>
              <a:off x="9902952" y="3282696"/>
              <a:ext cx="182880" cy="182880"/>
            </a:xfrm>
            <a:prstGeom prst="rect">
              <a:avLst/>
            </a:prstGeom>
            <a:solidFill>
              <a:srgbClr val="1B1D21"/>
            </a:solidFill>
            <a:ln>
              <a:noFill/>
            </a:ln>
          </p:spPr>
          <p:txBody>
            <a:bodyPr rtlCol="0" anchor="ctr"/>
            <a:lstStyle/>
            <a:p>
              <a:pPr algn="ctr"/>
              <a:endParaRPr/>
            </a:p>
          </p:txBody>
        </p:sp>
        <p:sp>
          <p:nvSpPr>
            <p:cNvPr id="29" name="door"/>
            <p:cNvSpPr/>
            <p:nvPr/>
          </p:nvSpPr>
          <p:spPr>
            <a:xfrm>
              <a:off x="9628632" y="3246120"/>
              <a:ext cx="164592" cy="438912"/>
            </a:xfrm>
            <a:prstGeom prst="rect">
              <a:avLst/>
            </a:prstGeom>
            <a:solidFill>
              <a:srgbClr val="176360"/>
            </a:solidFill>
            <a:ln>
              <a:noFill/>
            </a:ln>
          </p:spPr>
          <p:txBody>
            <a:bodyPr rtlCol="0" anchor="ctr"/>
            <a:lstStyle/>
            <a:p>
              <a:pPr algn="ctr"/>
              <a:endParaRPr/>
            </a:p>
          </p:txBody>
        </p:sp>
      </p:grpSp>
      <p:sp>
        <p:nvSpPr>
          <p:cNvPr id="30" name="ICHIP"/>
          <p:cNvSpPr/>
          <p:nvPr/>
        </p:nvSpPr>
        <p:spPr>
          <a:xfrm>
            <a:off x="1371600" y="4846320"/>
            <a:ext cx="3274613"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Launch regions: undecided (OQ06)</a:t>
            </a:r>
          </a:p>
        </p:txBody>
      </p:sp>
      <p:sp>
        <p:nvSpPr>
          <p:cNvPr id="3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2"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3"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 world picks one regional style. It is not a personal setting.</a:t>
            </a:r>
          </a:p>
        </p:txBody>
      </p:sp>
      <p:sp>
        <p:nvSpPr>
          <p:cNvPr id="34"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3</a:t>
            </a:r>
          </a:p>
        </p:txBody>
      </p:sp>
    </p:spTree>
    <p:extLst>
      <p:ext uri="{BB962C8B-B14F-4D97-AF65-F5344CB8AC3E}">
        <p14:creationId xmlns:p14="http://schemas.microsoft.com/office/powerpoint/2010/main" val="7562758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60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nodeType="withEffect">
                                  <p:stCondLst>
                                    <p:cond delay="90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500"/>
                                        <p:tgtEl>
                                          <p:spTgt spid="32"/>
                                        </p:tgtEl>
                                      </p:cBhvr>
                                    </p:animEffect>
                                  </p:childTnLst>
                                </p:cTn>
                              </p:par>
                              <p:par>
                                <p:cTn id="17" presetID="10" presetClass="entr" presetSubtype="0" fill="hold" nodeType="withEffect">
                                  <p:stCondLst>
                                    <p:cond delay="120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Why not per player?</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wo players, two styles" descr="Two player screens side by side. Each shows a different station style, and a red cross between them says this is not allowed."/>
          <p:cNvGrpSpPr/>
          <p:nvPr/>
        </p:nvGrpSpPr>
        <p:grpSpPr>
          <a:xfrm>
            <a:off x="1737360" y="1417320"/>
            <a:ext cx="8732520" cy="2825496"/>
            <a:chOff x="1737360" y="1417320"/>
            <a:chExt cx="8732520" cy="2825496"/>
          </a:xfrm>
        </p:grpSpPr>
        <p:sp>
          <p:nvSpPr>
            <p:cNvPr id="5" name="monitor frame"/>
            <p:cNvSpPr/>
            <p:nvPr/>
          </p:nvSpPr>
          <p:spPr>
            <a:xfrm>
              <a:off x="1737360" y="1417320"/>
              <a:ext cx="3566160" cy="2148840"/>
            </a:xfrm>
            <a:prstGeom prst="roundRect">
              <a:avLst>
                <a:gd name="adj" fmla="val 4255"/>
              </a:avLst>
            </a:prstGeom>
            <a:solidFill>
              <a:srgbClr val="343A43"/>
            </a:solidFill>
            <a:ln w="31750">
              <a:solidFill>
                <a:srgbClr val="9AA0A6"/>
              </a:solidFill>
            </a:ln>
          </p:spPr>
          <p:txBody>
            <a:bodyPr rtlCol="0" anchor="ctr"/>
            <a:lstStyle/>
            <a:p>
              <a:pPr algn="ctr"/>
              <a:endParaRPr/>
            </a:p>
          </p:txBody>
        </p:sp>
        <p:sp>
          <p:nvSpPr>
            <p:cNvPr id="6" name="screen"/>
            <p:cNvSpPr/>
            <p:nvPr/>
          </p:nvSpPr>
          <p:spPr>
            <a:xfrm>
              <a:off x="1847088" y="1527048"/>
              <a:ext cx="3346704" cy="1929384"/>
            </a:xfrm>
            <a:prstGeom prst="roundRect">
              <a:avLst>
                <a:gd name="adj" fmla="val 1895"/>
              </a:avLst>
            </a:prstGeom>
            <a:solidFill>
              <a:srgbClr val="1E2126"/>
            </a:solidFill>
            <a:ln>
              <a:noFill/>
            </a:ln>
          </p:spPr>
          <p:txBody>
            <a:bodyPr rtlCol="0" anchor="ctr"/>
            <a:lstStyle/>
            <a:p>
              <a:pPr algn="ctr"/>
              <a:endParaRPr/>
            </a:p>
          </p:txBody>
        </p:sp>
        <p:sp>
          <p:nvSpPr>
            <p:cNvPr id="7" name="monitor stand"/>
            <p:cNvSpPr/>
            <p:nvPr/>
          </p:nvSpPr>
          <p:spPr>
            <a:xfrm>
              <a:off x="3108959" y="3566160"/>
              <a:ext cx="822961" cy="256032"/>
            </a:xfrm>
            <a:custGeom>
              <a:avLst/>
              <a:gdLst/>
              <a:ahLst/>
              <a:cxnLst/>
              <a:rect l="l" t="t" r="r" b="b"/>
              <a:pathLst>
                <a:path w="822961" h="256032">
                  <a:moveTo>
                    <a:pt x="137161" y="0"/>
                  </a:moveTo>
                  <a:lnTo>
                    <a:pt x="685800" y="0"/>
                  </a:lnTo>
                  <a:lnTo>
                    <a:pt x="822961" y="256032"/>
                  </a:lnTo>
                  <a:lnTo>
                    <a:pt x="0" y="256032"/>
                  </a:lnTo>
                  <a:close/>
                </a:path>
              </a:pathLst>
            </a:custGeom>
            <a:solidFill>
              <a:srgbClr val="343A43"/>
            </a:solidFill>
            <a:ln w="25400">
              <a:solidFill>
                <a:srgbClr val="9AA0A6"/>
              </a:solidFill>
            </a:ln>
          </p:spPr>
          <p:txBody>
            <a:bodyPr rtlCol="0" anchor="ctr"/>
            <a:lstStyle/>
            <a:p>
              <a:pPr algn="ctr"/>
              <a:endParaRPr/>
            </a:p>
          </p:txBody>
        </p:sp>
        <p:sp>
          <p:nvSpPr>
            <p:cNvPr id="8" name="monitor base"/>
            <p:cNvSpPr/>
            <p:nvPr/>
          </p:nvSpPr>
          <p:spPr>
            <a:xfrm>
              <a:off x="2880359" y="3803904"/>
              <a:ext cx="1280160" cy="64008"/>
            </a:xfrm>
            <a:prstGeom prst="rect">
              <a:avLst/>
            </a:prstGeom>
            <a:solidFill>
              <a:srgbClr val="343A43"/>
            </a:solidFill>
            <a:ln w="19050">
              <a:solidFill>
                <a:srgbClr val="9AA0A6"/>
              </a:solidFill>
            </a:ln>
          </p:spPr>
          <p:txBody>
            <a:bodyPr rtlCol="0" anchor="ctr"/>
            <a:lstStyle/>
            <a:p>
              <a:pPr algn="ctr"/>
              <a:endParaRPr/>
            </a:p>
          </p:txBody>
        </p:sp>
        <p:sp>
          <p:nvSpPr>
            <p:cNvPr id="9" name="rail"/>
            <p:cNvSpPr/>
            <p:nvPr/>
          </p:nvSpPr>
          <p:spPr>
            <a:xfrm>
              <a:off x="1984248" y="2999232"/>
              <a:ext cx="3072384" cy="64008"/>
            </a:xfrm>
            <a:prstGeom prst="rect">
              <a:avLst/>
            </a:prstGeom>
            <a:solidFill>
              <a:srgbClr val="9AA0A6"/>
            </a:solidFill>
            <a:ln>
              <a:noFill/>
            </a:ln>
          </p:spPr>
          <p:txBody>
            <a:bodyPr rtlCol="0" anchor="ctr"/>
            <a:lstStyle/>
            <a:p>
              <a:pPr algn="ctr"/>
              <a:endParaRPr/>
            </a:p>
          </p:txBody>
        </p:sp>
        <p:sp>
          <p:nvSpPr>
            <p:cNvPr id="10" name="platform"/>
            <p:cNvSpPr/>
            <p:nvPr/>
          </p:nvSpPr>
          <p:spPr>
            <a:xfrm>
              <a:off x="2642616" y="2867558"/>
              <a:ext cx="1755648" cy="131673"/>
            </a:xfrm>
            <a:prstGeom prst="rect">
              <a:avLst/>
            </a:prstGeom>
            <a:solidFill>
              <a:srgbClr val="5A606A"/>
            </a:solidFill>
            <a:ln w="12700">
              <a:solidFill>
                <a:srgbClr val="9AA0A6"/>
              </a:solidFill>
            </a:ln>
          </p:spPr>
          <p:txBody>
            <a:bodyPr rtlCol="0" anchor="ctr"/>
            <a:lstStyle/>
            <a:p>
              <a:pPr algn="ctr"/>
              <a:endParaRPr/>
            </a:p>
          </p:txBody>
        </p:sp>
        <p:sp>
          <p:nvSpPr>
            <p:cNvPr id="11" name="building"/>
            <p:cNvSpPr/>
            <p:nvPr/>
          </p:nvSpPr>
          <p:spPr>
            <a:xfrm>
              <a:off x="2818180" y="2209190"/>
              <a:ext cx="1141171" cy="658368"/>
            </a:xfrm>
            <a:prstGeom prst="rect">
              <a:avLst/>
            </a:prstGeom>
            <a:solidFill>
              <a:srgbClr val="2BB5B0"/>
            </a:solidFill>
            <a:ln>
              <a:noFill/>
            </a:ln>
          </p:spPr>
          <p:txBody>
            <a:bodyPr rtlCol="0" anchor="ctr"/>
            <a:lstStyle/>
            <a:p>
              <a:pPr algn="ctr"/>
              <a:endParaRPr/>
            </a:p>
          </p:txBody>
        </p:sp>
        <p:sp>
          <p:nvSpPr>
            <p:cNvPr id="12" name="gable roof"/>
            <p:cNvSpPr/>
            <p:nvPr/>
          </p:nvSpPr>
          <p:spPr>
            <a:xfrm>
              <a:off x="2752344" y="1770278"/>
              <a:ext cx="1272844" cy="438912"/>
            </a:xfrm>
            <a:custGeom>
              <a:avLst/>
              <a:gdLst/>
              <a:ahLst/>
              <a:cxnLst/>
              <a:rect l="l" t="t" r="r" b="b"/>
              <a:pathLst>
                <a:path w="1272844" h="438912">
                  <a:moveTo>
                    <a:pt x="0" y="438912"/>
                  </a:moveTo>
                  <a:lnTo>
                    <a:pt x="636422" y="0"/>
                  </a:lnTo>
                  <a:lnTo>
                    <a:pt x="1272844" y="438912"/>
                  </a:lnTo>
                  <a:close/>
                </a:path>
              </a:pathLst>
            </a:custGeom>
            <a:solidFill>
              <a:srgbClr val="1B7572"/>
            </a:solidFill>
            <a:ln>
              <a:noFill/>
            </a:ln>
          </p:spPr>
          <p:txBody>
            <a:bodyPr rtlCol="0" anchor="ctr"/>
            <a:lstStyle/>
            <a:p>
              <a:pPr algn="ctr"/>
              <a:endParaRPr/>
            </a:p>
          </p:txBody>
        </p:sp>
        <p:sp>
          <p:nvSpPr>
            <p:cNvPr id="13" name="chimney"/>
            <p:cNvSpPr/>
            <p:nvPr/>
          </p:nvSpPr>
          <p:spPr>
            <a:xfrm>
              <a:off x="3696004" y="1814169"/>
              <a:ext cx="120700" cy="285292"/>
            </a:xfrm>
            <a:prstGeom prst="rect">
              <a:avLst/>
            </a:prstGeom>
            <a:solidFill>
              <a:srgbClr val="3A3F47"/>
            </a:solidFill>
            <a:ln>
              <a:noFill/>
            </a:ln>
          </p:spPr>
          <p:txBody>
            <a:bodyPr rtlCol="0" anchor="ctr"/>
            <a:lstStyle/>
            <a:p>
              <a:pPr algn="ctr"/>
              <a:endParaRPr/>
            </a:p>
          </p:txBody>
        </p:sp>
        <p:sp>
          <p:nvSpPr>
            <p:cNvPr id="14" name="window"/>
            <p:cNvSpPr/>
            <p:nvPr/>
          </p:nvSpPr>
          <p:spPr>
            <a:xfrm>
              <a:off x="2927908" y="2384755"/>
              <a:ext cx="219456" cy="219456"/>
            </a:xfrm>
            <a:prstGeom prst="rect">
              <a:avLst/>
            </a:prstGeom>
            <a:solidFill>
              <a:srgbClr val="1B1D21"/>
            </a:solidFill>
            <a:ln>
              <a:noFill/>
            </a:ln>
          </p:spPr>
          <p:txBody>
            <a:bodyPr rtlCol="0" anchor="ctr"/>
            <a:lstStyle/>
            <a:p>
              <a:pPr algn="ctr"/>
              <a:endParaRPr/>
            </a:p>
          </p:txBody>
        </p:sp>
        <p:sp>
          <p:nvSpPr>
            <p:cNvPr id="15" name="window"/>
            <p:cNvSpPr/>
            <p:nvPr/>
          </p:nvSpPr>
          <p:spPr>
            <a:xfrm>
              <a:off x="3608222" y="2384755"/>
              <a:ext cx="219456" cy="219456"/>
            </a:xfrm>
            <a:prstGeom prst="rect">
              <a:avLst/>
            </a:prstGeom>
            <a:solidFill>
              <a:srgbClr val="1B1D21"/>
            </a:solidFill>
            <a:ln>
              <a:noFill/>
            </a:ln>
          </p:spPr>
          <p:txBody>
            <a:bodyPr rtlCol="0" anchor="ctr"/>
            <a:lstStyle/>
            <a:p>
              <a:pPr algn="ctr"/>
              <a:endParaRPr/>
            </a:p>
          </p:txBody>
        </p:sp>
        <p:sp>
          <p:nvSpPr>
            <p:cNvPr id="16" name="door"/>
            <p:cNvSpPr/>
            <p:nvPr/>
          </p:nvSpPr>
          <p:spPr>
            <a:xfrm>
              <a:off x="3279038" y="2340864"/>
              <a:ext cx="197510" cy="526694"/>
            </a:xfrm>
            <a:prstGeom prst="rect">
              <a:avLst/>
            </a:prstGeom>
            <a:solidFill>
              <a:srgbClr val="176360"/>
            </a:solidFill>
            <a:ln>
              <a:noFill/>
            </a:ln>
          </p:spPr>
          <p:txBody>
            <a:bodyPr rtlCol="0" anchor="ctr"/>
            <a:lstStyle/>
            <a:p>
              <a:pPr algn="ctr"/>
              <a:endParaRPr/>
            </a:p>
          </p:txBody>
        </p:sp>
        <p:sp>
          <p:nvSpPr>
            <p:cNvPr id="17" name="player label"/>
            <p:cNvSpPr txBox="1"/>
            <p:nvPr/>
          </p:nvSpPr>
          <p:spPr>
            <a:xfrm>
              <a:off x="1737360" y="3913632"/>
              <a:ext cx="356616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Player 1</a:t>
              </a:r>
            </a:p>
          </p:txBody>
        </p:sp>
        <p:sp>
          <p:nvSpPr>
            <p:cNvPr id="18" name="monitor frame"/>
            <p:cNvSpPr/>
            <p:nvPr/>
          </p:nvSpPr>
          <p:spPr>
            <a:xfrm>
              <a:off x="6903720" y="1417320"/>
              <a:ext cx="3566160" cy="2148840"/>
            </a:xfrm>
            <a:prstGeom prst="roundRect">
              <a:avLst>
                <a:gd name="adj" fmla="val 4255"/>
              </a:avLst>
            </a:prstGeom>
            <a:solidFill>
              <a:srgbClr val="343A43"/>
            </a:solidFill>
            <a:ln w="31750">
              <a:solidFill>
                <a:srgbClr val="9AA0A6"/>
              </a:solidFill>
            </a:ln>
          </p:spPr>
          <p:txBody>
            <a:bodyPr rtlCol="0" anchor="ctr"/>
            <a:lstStyle/>
            <a:p>
              <a:pPr algn="ctr"/>
              <a:endParaRPr/>
            </a:p>
          </p:txBody>
        </p:sp>
        <p:sp>
          <p:nvSpPr>
            <p:cNvPr id="19" name="screen"/>
            <p:cNvSpPr/>
            <p:nvPr/>
          </p:nvSpPr>
          <p:spPr>
            <a:xfrm>
              <a:off x="7013448" y="1527048"/>
              <a:ext cx="3346704" cy="1929384"/>
            </a:xfrm>
            <a:prstGeom prst="roundRect">
              <a:avLst>
                <a:gd name="adj" fmla="val 1895"/>
              </a:avLst>
            </a:prstGeom>
            <a:solidFill>
              <a:srgbClr val="1E2126"/>
            </a:solidFill>
            <a:ln>
              <a:noFill/>
            </a:ln>
          </p:spPr>
          <p:txBody>
            <a:bodyPr rtlCol="0" anchor="ctr"/>
            <a:lstStyle/>
            <a:p>
              <a:pPr algn="ctr"/>
              <a:endParaRPr/>
            </a:p>
          </p:txBody>
        </p:sp>
        <p:sp>
          <p:nvSpPr>
            <p:cNvPr id="20" name="monitor stand"/>
            <p:cNvSpPr/>
            <p:nvPr/>
          </p:nvSpPr>
          <p:spPr>
            <a:xfrm>
              <a:off x="8275320" y="3566160"/>
              <a:ext cx="822960" cy="256032"/>
            </a:xfrm>
            <a:custGeom>
              <a:avLst/>
              <a:gdLst/>
              <a:ahLst/>
              <a:cxnLst/>
              <a:rect l="l" t="t" r="r" b="b"/>
              <a:pathLst>
                <a:path w="822960" h="256032">
                  <a:moveTo>
                    <a:pt x="137160" y="0"/>
                  </a:moveTo>
                  <a:lnTo>
                    <a:pt x="685800" y="0"/>
                  </a:lnTo>
                  <a:lnTo>
                    <a:pt x="822960" y="256032"/>
                  </a:lnTo>
                  <a:lnTo>
                    <a:pt x="0" y="256032"/>
                  </a:lnTo>
                  <a:close/>
                </a:path>
              </a:pathLst>
            </a:custGeom>
            <a:solidFill>
              <a:srgbClr val="343A43"/>
            </a:solidFill>
            <a:ln w="25400">
              <a:solidFill>
                <a:srgbClr val="9AA0A6"/>
              </a:solidFill>
            </a:ln>
          </p:spPr>
          <p:txBody>
            <a:bodyPr rtlCol="0" anchor="ctr"/>
            <a:lstStyle/>
            <a:p>
              <a:pPr algn="ctr"/>
              <a:endParaRPr/>
            </a:p>
          </p:txBody>
        </p:sp>
        <p:sp>
          <p:nvSpPr>
            <p:cNvPr id="21" name="monitor base"/>
            <p:cNvSpPr/>
            <p:nvPr/>
          </p:nvSpPr>
          <p:spPr>
            <a:xfrm>
              <a:off x="8046720" y="3803904"/>
              <a:ext cx="1280160" cy="64008"/>
            </a:xfrm>
            <a:prstGeom prst="rect">
              <a:avLst/>
            </a:prstGeom>
            <a:solidFill>
              <a:srgbClr val="343A43"/>
            </a:solidFill>
            <a:ln w="19050">
              <a:solidFill>
                <a:srgbClr val="9AA0A6"/>
              </a:solidFill>
            </a:ln>
          </p:spPr>
          <p:txBody>
            <a:bodyPr rtlCol="0" anchor="ctr"/>
            <a:lstStyle/>
            <a:p>
              <a:pPr algn="ctr"/>
              <a:endParaRPr/>
            </a:p>
          </p:txBody>
        </p:sp>
        <p:sp>
          <p:nvSpPr>
            <p:cNvPr id="22" name="rail"/>
            <p:cNvSpPr/>
            <p:nvPr/>
          </p:nvSpPr>
          <p:spPr>
            <a:xfrm>
              <a:off x="7150608" y="2999232"/>
              <a:ext cx="3072384" cy="64008"/>
            </a:xfrm>
            <a:prstGeom prst="rect">
              <a:avLst/>
            </a:prstGeom>
            <a:solidFill>
              <a:srgbClr val="9AA0A6"/>
            </a:solidFill>
            <a:ln>
              <a:noFill/>
            </a:ln>
          </p:spPr>
          <p:txBody>
            <a:bodyPr rtlCol="0" anchor="ctr"/>
            <a:lstStyle/>
            <a:p>
              <a:pPr algn="ctr"/>
              <a:endParaRPr/>
            </a:p>
          </p:txBody>
        </p:sp>
        <p:sp>
          <p:nvSpPr>
            <p:cNvPr id="23" name="platform"/>
            <p:cNvSpPr/>
            <p:nvPr/>
          </p:nvSpPr>
          <p:spPr>
            <a:xfrm>
              <a:off x="7808975" y="2867558"/>
              <a:ext cx="1755648" cy="131673"/>
            </a:xfrm>
            <a:prstGeom prst="rect">
              <a:avLst/>
            </a:prstGeom>
            <a:solidFill>
              <a:srgbClr val="5A606A"/>
            </a:solidFill>
            <a:ln w="12700">
              <a:solidFill>
                <a:srgbClr val="9AA0A6"/>
              </a:solidFill>
            </a:ln>
          </p:spPr>
          <p:txBody>
            <a:bodyPr rtlCol="0" anchor="ctr"/>
            <a:lstStyle/>
            <a:p>
              <a:pPr algn="ctr"/>
              <a:endParaRPr/>
            </a:p>
          </p:txBody>
        </p:sp>
        <p:sp>
          <p:nvSpPr>
            <p:cNvPr id="24" name="building"/>
            <p:cNvSpPr/>
            <p:nvPr/>
          </p:nvSpPr>
          <p:spPr>
            <a:xfrm>
              <a:off x="7984540" y="2318918"/>
              <a:ext cx="1185062" cy="548640"/>
            </a:xfrm>
            <a:prstGeom prst="rect">
              <a:avLst/>
            </a:prstGeom>
            <a:solidFill>
              <a:srgbClr val="D6619B"/>
            </a:solidFill>
            <a:ln>
              <a:noFill/>
            </a:ln>
          </p:spPr>
          <p:txBody>
            <a:bodyPr rtlCol="0" anchor="ctr"/>
            <a:lstStyle/>
            <a:p>
              <a:pPr algn="ctr"/>
              <a:endParaRPr/>
            </a:p>
          </p:txBody>
        </p:sp>
        <p:sp>
          <p:nvSpPr>
            <p:cNvPr id="25" name="false front"/>
            <p:cNvSpPr/>
            <p:nvPr/>
          </p:nvSpPr>
          <p:spPr>
            <a:xfrm>
              <a:off x="7984540" y="2055571"/>
              <a:ext cx="1185062" cy="263347"/>
            </a:xfrm>
            <a:prstGeom prst="rect">
              <a:avLst/>
            </a:prstGeom>
            <a:solidFill>
              <a:srgbClr val="DE80AF"/>
            </a:solidFill>
            <a:ln>
              <a:noFill/>
            </a:ln>
          </p:spPr>
          <p:txBody>
            <a:bodyPr rtlCol="0" anchor="ctr"/>
            <a:lstStyle/>
            <a:p>
              <a:pPr algn="ctr"/>
              <a:endParaRPr/>
            </a:p>
          </p:txBody>
        </p:sp>
        <p:sp>
          <p:nvSpPr>
            <p:cNvPr id="26" name="roof"/>
            <p:cNvSpPr/>
            <p:nvPr/>
          </p:nvSpPr>
          <p:spPr>
            <a:xfrm>
              <a:off x="7940649" y="2296972"/>
              <a:ext cx="1272844" cy="65836"/>
            </a:xfrm>
            <a:prstGeom prst="rect">
              <a:avLst/>
            </a:prstGeom>
            <a:solidFill>
              <a:srgbClr val="803A5D"/>
            </a:solidFill>
            <a:ln>
              <a:noFill/>
            </a:ln>
          </p:spPr>
          <p:txBody>
            <a:bodyPr rtlCol="0" anchor="ctr"/>
            <a:lstStyle/>
            <a:p>
              <a:pPr algn="ctr"/>
              <a:endParaRPr/>
            </a:p>
          </p:txBody>
        </p:sp>
        <p:sp>
          <p:nvSpPr>
            <p:cNvPr id="27" name="window"/>
            <p:cNvSpPr/>
            <p:nvPr/>
          </p:nvSpPr>
          <p:spPr>
            <a:xfrm>
              <a:off x="8116214" y="2494483"/>
              <a:ext cx="219456" cy="219456"/>
            </a:xfrm>
            <a:prstGeom prst="rect">
              <a:avLst/>
            </a:prstGeom>
            <a:solidFill>
              <a:srgbClr val="1B1D21"/>
            </a:solidFill>
            <a:ln>
              <a:noFill/>
            </a:ln>
          </p:spPr>
          <p:txBody>
            <a:bodyPr rtlCol="0" anchor="ctr"/>
            <a:lstStyle/>
            <a:p>
              <a:pPr algn="ctr"/>
              <a:endParaRPr/>
            </a:p>
          </p:txBody>
        </p:sp>
        <p:sp>
          <p:nvSpPr>
            <p:cNvPr id="28" name="window"/>
            <p:cNvSpPr/>
            <p:nvPr/>
          </p:nvSpPr>
          <p:spPr>
            <a:xfrm>
              <a:off x="8774582" y="2494483"/>
              <a:ext cx="219456" cy="219456"/>
            </a:xfrm>
            <a:prstGeom prst="rect">
              <a:avLst/>
            </a:prstGeom>
            <a:solidFill>
              <a:srgbClr val="1B1D21"/>
            </a:solidFill>
            <a:ln>
              <a:noFill/>
            </a:ln>
          </p:spPr>
          <p:txBody>
            <a:bodyPr rtlCol="0" anchor="ctr"/>
            <a:lstStyle/>
            <a:p>
              <a:pPr algn="ctr"/>
              <a:endParaRPr/>
            </a:p>
          </p:txBody>
        </p:sp>
        <p:sp>
          <p:nvSpPr>
            <p:cNvPr id="29" name="door"/>
            <p:cNvSpPr/>
            <p:nvPr/>
          </p:nvSpPr>
          <p:spPr>
            <a:xfrm>
              <a:off x="8445398" y="2450592"/>
              <a:ext cx="219456" cy="482803"/>
            </a:xfrm>
            <a:prstGeom prst="rect">
              <a:avLst/>
            </a:prstGeom>
            <a:solidFill>
              <a:srgbClr val="753555"/>
            </a:solidFill>
            <a:ln>
              <a:noFill/>
            </a:ln>
          </p:spPr>
          <p:txBody>
            <a:bodyPr rtlCol="0" anchor="ctr"/>
            <a:lstStyle/>
            <a:p>
              <a:pPr algn="ctr"/>
              <a:endParaRPr/>
            </a:p>
          </p:txBody>
        </p:sp>
        <p:sp>
          <p:nvSpPr>
            <p:cNvPr id="30" name="tank"/>
            <p:cNvSpPr/>
            <p:nvPr/>
          </p:nvSpPr>
          <p:spPr>
            <a:xfrm>
              <a:off x="9257385" y="1638604"/>
              <a:ext cx="307238" cy="285292"/>
            </a:xfrm>
            <a:prstGeom prst="roundRect">
              <a:avLst>
                <a:gd name="adj" fmla="val 7692"/>
              </a:avLst>
            </a:prstGeom>
            <a:solidFill>
              <a:srgbClr val="4DA3FF"/>
            </a:solidFill>
            <a:ln>
              <a:noFill/>
            </a:ln>
          </p:spPr>
          <p:txBody>
            <a:bodyPr rtlCol="0" anchor="ctr"/>
            <a:lstStyle/>
            <a:p>
              <a:pPr algn="ctr"/>
              <a:endParaRPr/>
            </a:p>
          </p:txBody>
        </p:sp>
        <p:sp>
          <p:nvSpPr>
            <p:cNvPr id="31" name="tank leg"/>
            <p:cNvSpPr/>
            <p:nvPr/>
          </p:nvSpPr>
          <p:spPr>
            <a:xfrm>
              <a:off x="9279331" y="1923897"/>
              <a:ext cx="21945" cy="943660"/>
            </a:xfrm>
            <a:prstGeom prst="rect">
              <a:avLst/>
            </a:prstGeom>
            <a:solidFill>
              <a:srgbClr val="9AA0A6"/>
            </a:solidFill>
            <a:ln>
              <a:noFill/>
            </a:ln>
          </p:spPr>
          <p:txBody>
            <a:bodyPr rtlCol="0" anchor="ctr"/>
            <a:lstStyle/>
            <a:p>
              <a:pPr algn="ctr"/>
              <a:endParaRPr/>
            </a:p>
          </p:txBody>
        </p:sp>
        <p:sp>
          <p:nvSpPr>
            <p:cNvPr id="32" name="tank leg"/>
            <p:cNvSpPr/>
            <p:nvPr/>
          </p:nvSpPr>
          <p:spPr>
            <a:xfrm>
              <a:off x="9520732" y="1923897"/>
              <a:ext cx="21945" cy="943660"/>
            </a:xfrm>
            <a:prstGeom prst="rect">
              <a:avLst/>
            </a:prstGeom>
            <a:solidFill>
              <a:srgbClr val="9AA0A6"/>
            </a:solidFill>
            <a:ln>
              <a:noFill/>
            </a:ln>
          </p:spPr>
          <p:txBody>
            <a:bodyPr rtlCol="0" anchor="ctr"/>
            <a:lstStyle/>
            <a:p>
              <a:pPr algn="ctr"/>
              <a:endParaRPr/>
            </a:p>
          </p:txBody>
        </p:sp>
        <p:sp>
          <p:nvSpPr>
            <p:cNvPr id="33" name="player label"/>
            <p:cNvSpPr txBox="1"/>
            <p:nvPr/>
          </p:nvSpPr>
          <p:spPr>
            <a:xfrm>
              <a:off x="6903720" y="3913632"/>
              <a:ext cx="356616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Player 2</a:t>
              </a:r>
            </a:p>
          </p:txBody>
        </p:sp>
        <p:sp>
          <p:nvSpPr>
            <p:cNvPr id="34" name="cross disc"/>
            <p:cNvSpPr/>
            <p:nvPr/>
          </p:nvSpPr>
          <p:spPr>
            <a:xfrm>
              <a:off x="5669280" y="2057400"/>
              <a:ext cx="868680" cy="868680"/>
            </a:xfrm>
            <a:prstGeom prst="ellipse">
              <a:avLst/>
            </a:prstGeom>
            <a:solidFill>
              <a:srgbClr val="1E2126"/>
            </a:solidFill>
            <a:ln w="38100">
              <a:solidFill>
                <a:srgbClr val="E5484D"/>
              </a:solidFill>
            </a:ln>
          </p:spPr>
          <p:txBody>
            <a:bodyPr rtlCol="0" anchor="ctr"/>
            <a:lstStyle/>
            <a:p>
              <a:pPr algn="ctr"/>
              <a:endParaRPr/>
            </a:p>
          </p:txBody>
        </p:sp>
        <p:cxnSp>
          <p:nvCxnSpPr>
            <p:cNvPr id="35" name="cross"/>
            <p:cNvCxnSpPr/>
            <p:nvPr/>
          </p:nvCxnSpPr>
          <p:spPr>
            <a:xfrm>
              <a:off x="5884164" y="2272284"/>
              <a:ext cx="438912" cy="438912"/>
            </a:xfrm>
            <a:prstGeom prst="line">
              <a:avLst/>
            </a:prstGeom>
            <a:ln w="101600">
              <a:solidFill>
                <a:srgbClr val="E5484D"/>
              </a:solidFill>
            </a:ln>
          </p:spPr>
        </p:cxnSp>
        <p:cxnSp>
          <p:nvCxnSpPr>
            <p:cNvPr id="36" name="cross"/>
            <p:cNvCxnSpPr/>
            <p:nvPr/>
          </p:nvCxnSpPr>
          <p:spPr>
            <a:xfrm flipV="1">
              <a:off x="5884164" y="2272284"/>
              <a:ext cx="438912" cy="438912"/>
            </a:xfrm>
            <a:prstGeom prst="line">
              <a:avLst/>
            </a:prstGeom>
            <a:ln w="101600">
              <a:solidFill>
                <a:srgbClr val="E5484D"/>
              </a:solidFill>
            </a:ln>
          </p:spPr>
        </p:cxnSp>
      </p:grpSp>
      <p:grpSp>
        <p:nvGrpSpPr>
          <p:cNvPr id="37" name="One shared world style" descr="One shared world card with a single style for every player, marked with a tick."/>
          <p:cNvGrpSpPr/>
          <p:nvPr/>
        </p:nvGrpSpPr>
        <p:grpSpPr>
          <a:xfrm>
            <a:off x="3108960" y="4434840"/>
            <a:ext cx="5943600" cy="1097280"/>
            <a:chOff x="3108960" y="4434840"/>
            <a:chExt cx="5943600" cy="1097280"/>
          </a:xfrm>
        </p:grpSpPr>
        <p:sp>
          <p:nvSpPr>
            <p:cNvPr id="38" name="shared world card"/>
            <p:cNvSpPr/>
            <p:nvPr/>
          </p:nvSpPr>
          <p:spPr>
            <a:xfrm>
              <a:off x="3108960" y="4434840"/>
              <a:ext cx="5943600" cy="1097280"/>
            </a:xfrm>
            <a:prstGeom prst="roundRect">
              <a:avLst>
                <a:gd name="adj" fmla="val 10000"/>
              </a:avLst>
            </a:prstGeom>
            <a:solidFill>
              <a:srgbClr val="2B2F36"/>
            </a:solidFill>
            <a:ln w="25400">
              <a:solidFill>
                <a:srgbClr val="3FB950"/>
              </a:solidFill>
            </a:ln>
          </p:spPr>
          <p:txBody>
            <a:bodyPr rtlCol="0" anchor="ctr"/>
            <a:lstStyle/>
            <a:p>
              <a:pPr algn="ctr"/>
              <a:endParaRPr/>
            </a:p>
          </p:txBody>
        </p:sp>
        <p:sp>
          <p:nvSpPr>
            <p:cNvPr id="39" name="globe"/>
            <p:cNvSpPr/>
            <p:nvPr/>
          </p:nvSpPr>
          <p:spPr>
            <a:xfrm>
              <a:off x="3611880" y="4572000"/>
              <a:ext cx="822960" cy="822960"/>
            </a:xfrm>
            <a:prstGeom prst="ellipse">
              <a:avLst/>
            </a:prstGeom>
            <a:solidFill>
              <a:srgbClr val="2D5F8B"/>
            </a:solidFill>
            <a:ln w="25400">
              <a:solidFill>
                <a:srgbClr val="9AA0A6"/>
              </a:solidFill>
            </a:ln>
          </p:spPr>
          <p:txBody>
            <a:bodyPr rtlCol="0" anchor="ctr"/>
            <a:lstStyle/>
            <a:p>
              <a:pPr algn="ctr"/>
              <a:endParaRPr/>
            </a:p>
          </p:txBody>
        </p:sp>
        <p:sp>
          <p:nvSpPr>
            <p:cNvPr id="40" name="meridian"/>
            <p:cNvSpPr/>
            <p:nvPr/>
          </p:nvSpPr>
          <p:spPr>
            <a:xfrm>
              <a:off x="3838194" y="4572000"/>
              <a:ext cx="370332" cy="822960"/>
            </a:xfrm>
            <a:prstGeom prst="ellipse">
              <a:avLst/>
            </a:prstGeom>
            <a:noFill/>
            <a:ln w="15875">
              <a:solidFill>
                <a:srgbClr val="AEB3B7"/>
              </a:solidFill>
            </a:ln>
          </p:spPr>
          <p:txBody>
            <a:bodyPr rtlCol="0" anchor="ctr"/>
            <a:lstStyle/>
            <a:p>
              <a:pPr algn="ctr"/>
              <a:endParaRPr/>
            </a:p>
          </p:txBody>
        </p:sp>
        <p:cxnSp>
          <p:nvCxnSpPr>
            <p:cNvPr id="41" name="axis"/>
            <p:cNvCxnSpPr/>
            <p:nvPr/>
          </p:nvCxnSpPr>
          <p:spPr>
            <a:xfrm>
              <a:off x="4023360" y="4572000"/>
              <a:ext cx="0" cy="822960"/>
            </a:xfrm>
            <a:prstGeom prst="line">
              <a:avLst/>
            </a:prstGeom>
            <a:ln w="15875">
              <a:solidFill>
                <a:srgbClr val="AEB3B7"/>
              </a:solidFill>
            </a:ln>
          </p:spPr>
        </p:cxnSp>
        <p:cxnSp>
          <p:nvCxnSpPr>
            <p:cNvPr id="42" name="equator"/>
            <p:cNvCxnSpPr/>
            <p:nvPr/>
          </p:nvCxnSpPr>
          <p:spPr>
            <a:xfrm>
              <a:off x="3611880" y="4983480"/>
              <a:ext cx="822960" cy="0"/>
            </a:xfrm>
            <a:prstGeom prst="line">
              <a:avLst/>
            </a:prstGeom>
            <a:ln w="15875">
              <a:solidFill>
                <a:srgbClr val="AEB3B7"/>
              </a:solidFill>
            </a:ln>
          </p:spPr>
        </p:cxnSp>
        <p:sp>
          <p:nvSpPr>
            <p:cNvPr id="43" name="land"/>
            <p:cNvSpPr/>
            <p:nvPr/>
          </p:nvSpPr>
          <p:spPr>
            <a:xfrm>
              <a:off x="3797046" y="4736592"/>
              <a:ext cx="267462" cy="226314"/>
            </a:xfrm>
            <a:custGeom>
              <a:avLst/>
              <a:gdLst/>
              <a:ahLst/>
              <a:cxnLst/>
              <a:rect l="l" t="t" r="r" b="b"/>
              <a:pathLst>
                <a:path w="267462" h="226314">
                  <a:moveTo>
                    <a:pt x="0" y="102870"/>
                  </a:moveTo>
                  <a:lnTo>
                    <a:pt x="144018" y="0"/>
                  </a:lnTo>
                  <a:lnTo>
                    <a:pt x="267462" y="102870"/>
                  </a:lnTo>
                  <a:lnTo>
                    <a:pt x="185166" y="226314"/>
                  </a:lnTo>
                  <a:lnTo>
                    <a:pt x="20574" y="226314"/>
                  </a:lnTo>
                  <a:close/>
                </a:path>
              </a:pathLst>
            </a:custGeom>
            <a:solidFill>
              <a:srgbClr val="4F8F5B"/>
            </a:solidFill>
            <a:ln>
              <a:noFill/>
            </a:ln>
          </p:spPr>
          <p:txBody>
            <a:bodyPr rtlCol="0" anchor="ctr"/>
            <a:lstStyle/>
            <a:p>
              <a:pPr algn="ctr"/>
              <a:endParaRPr/>
            </a:p>
          </p:txBody>
        </p:sp>
        <p:sp>
          <p:nvSpPr>
            <p:cNvPr id="44" name="land"/>
            <p:cNvSpPr/>
            <p:nvPr/>
          </p:nvSpPr>
          <p:spPr>
            <a:xfrm>
              <a:off x="4085082" y="5024628"/>
              <a:ext cx="185166" cy="205740"/>
            </a:xfrm>
            <a:custGeom>
              <a:avLst/>
              <a:gdLst/>
              <a:ahLst/>
              <a:cxnLst/>
              <a:rect l="l" t="t" r="r" b="b"/>
              <a:pathLst>
                <a:path w="185166" h="205740">
                  <a:moveTo>
                    <a:pt x="20574" y="0"/>
                  </a:moveTo>
                  <a:lnTo>
                    <a:pt x="185166" y="41148"/>
                  </a:lnTo>
                  <a:lnTo>
                    <a:pt x="123444" y="205740"/>
                  </a:lnTo>
                  <a:lnTo>
                    <a:pt x="0" y="144018"/>
                  </a:lnTo>
                  <a:close/>
                </a:path>
              </a:pathLst>
            </a:custGeom>
            <a:solidFill>
              <a:srgbClr val="4F8F5B"/>
            </a:solidFill>
            <a:ln>
              <a:noFill/>
            </a:ln>
          </p:spPr>
          <p:txBody>
            <a:bodyPr rtlCol="0" anchor="ctr"/>
            <a:lstStyle/>
            <a:p>
              <a:pPr algn="ctr"/>
              <a:endParaRPr/>
            </a:p>
          </p:txBody>
        </p:sp>
        <p:sp>
          <p:nvSpPr>
            <p:cNvPr id="45" name="shared label"/>
            <p:cNvSpPr txBox="1"/>
            <p:nvPr/>
          </p:nvSpPr>
          <p:spPr>
            <a:xfrm>
              <a:off x="4617720" y="4434840"/>
              <a:ext cx="3474720" cy="1097280"/>
            </a:xfrm>
            <a:prstGeom prst="rect">
              <a:avLst/>
            </a:prstGeom>
            <a:noFill/>
          </p:spPr>
          <p:txBody>
            <a:bodyPr wrap="square" lIns="18288" tIns="9144" rIns="18288" bIns="9144" anchor="ctr">
              <a:noAutofit/>
            </a:bodyPr>
            <a:lstStyle/>
            <a:p>
              <a:pPr algn="l"/>
              <a:r>
                <a:rPr lang="en-GB" sz="2000" b="1" i="0">
                  <a:solidFill>
                    <a:srgbClr val="F2F2F2"/>
                  </a:solidFill>
                  <a:latin typeface="Arial"/>
                </a:rPr>
                <a:t>One shared world style</a:t>
              </a:r>
            </a:p>
          </p:txBody>
        </p:sp>
        <p:sp>
          <p:nvSpPr>
            <p:cNvPr id="46" name="tick"/>
            <p:cNvSpPr/>
            <p:nvPr/>
          </p:nvSpPr>
          <p:spPr>
            <a:xfrm>
              <a:off x="8092440" y="4800600"/>
              <a:ext cx="457200" cy="356616"/>
            </a:xfrm>
            <a:custGeom>
              <a:avLst/>
              <a:gdLst/>
              <a:ahLst/>
              <a:cxnLst/>
              <a:rect l="l" t="t" r="r" b="b"/>
              <a:pathLst>
                <a:path w="457200" h="356616">
                  <a:moveTo>
                    <a:pt x="0" y="182880"/>
                  </a:moveTo>
                  <a:lnTo>
                    <a:pt x="173735" y="356616"/>
                  </a:lnTo>
                  <a:lnTo>
                    <a:pt x="457200" y="0"/>
                  </a:lnTo>
                </a:path>
              </a:pathLst>
            </a:custGeom>
            <a:noFill/>
            <a:ln w="76200">
              <a:solidFill>
                <a:srgbClr val="3FB950"/>
              </a:solidFill>
            </a:ln>
          </p:spPr>
          <p:txBody>
            <a:bodyPr rtlCol="0" anchor="ctr"/>
            <a:lstStyle/>
            <a:p>
              <a:pPr algn="ctr"/>
              <a:endParaRPr/>
            </a:p>
          </p:txBody>
        </p:sp>
      </p:grpSp>
      <p:sp>
        <p:nvSpPr>
          <p:cNvPr id="4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48"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49"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Two players seeing different stations would be confusing. So the style belongs to the world.</a:t>
            </a:r>
          </a:p>
        </p:txBody>
      </p:sp>
      <p:sp>
        <p:nvSpPr>
          <p:cNvPr id="50"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4</a:t>
            </a:r>
          </a:p>
        </p:txBody>
      </p:sp>
    </p:spTree>
    <p:extLst>
      <p:ext uri="{BB962C8B-B14F-4D97-AF65-F5344CB8AC3E}">
        <p14:creationId xmlns:p14="http://schemas.microsoft.com/office/powerpoint/2010/main" val="25847722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nodeType="withEffect">
                                  <p:stCondLst>
                                    <p:cond delay="60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nodeType="withEffect">
                                  <p:stCondLst>
                                    <p:cond delay="90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500"/>
                                        <p:tgtEl>
                                          <p:spTgt spid="48"/>
                                        </p:tgtEl>
                                      </p:cBhvr>
                                    </p:animEffect>
                                  </p:childTnLst>
                                </p:cTn>
                              </p:par>
                              <p:par>
                                <p:cTn id="17" presetID="10" presetClass="entr" presetSubtype="0" fill="hold" nodeType="withEffect">
                                  <p:stCondLst>
                                    <p:cond delay="120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What changes with the region</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Before and after strip" descr="A before and after strip. A station, an engine and a wagon each change their look when the region changes, and stock you already own changes too."/>
          <p:cNvGrpSpPr/>
          <p:nvPr/>
        </p:nvGrpSpPr>
        <p:grpSpPr>
          <a:xfrm>
            <a:off x="548640" y="1261872"/>
            <a:ext cx="11018520" cy="3813048"/>
            <a:chOff x="548640" y="1261872"/>
            <a:chExt cx="11018520" cy="3813048"/>
          </a:xfrm>
        </p:grpSpPr>
        <p:sp>
          <p:nvSpPr>
            <p:cNvPr id="5" name="column heading"/>
            <p:cNvSpPr txBox="1"/>
            <p:nvPr/>
          </p:nvSpPr>
          <p:spPr>
            <a:xfrm>
              <a:off x="1783080" y="1261872"/>
              <a:ext cx="310896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Station</a:t>
              </a:r>
            </a:p>
          </p:txBody>
        </p:sp>
        <p:sp>
          <p:nvSpPr>
            <p:cNvPr id="6" name="column heading"/>
            <p:cNvSpPr txBox="1"/>
            <p:nvPr/>
          </p:nvSpPr>
          <p:spPr>
            <a:xfrm>
              <a:off x="5120640" y="1261872"/>
              <a:ext cx="310896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Engine</a:t>
              </a:r>
            </a:p>
          </p:txBody>
        </p:sp>
        <p:sp>
          <p:nvSpPr>
            <p:cNvPr id="7" name="column heading"/>
            <p:cNvSpPr txBox="1"/>
            <p:nvPr/>
          </p:nvSpPr>
          <p:spPr>
            <a:xfrm>
              <a:off x="8458200" y="1261872"/>
              <a:ext cx="310896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Wagon</a:t>
              </a:r>
            </a:p>
          </p:txBody>
        </p:sp>
        <p:sp>
          <p:nvSpPr>
            <p:cNvPr id="8" name="row heading"/>
            <p:cNvSpPr txBox="1"/>
            <p:nvPr/>
          </p:nvSpPr>
          <p:spPr>
            <a:xfrm>
              <a:off x="548640" y="1737360"/>
              <a:ext cx="1188720" cy="1417320"/>
            </a:xfrm>
            <a:prstGeom prst="rect">
              <a:avLst/>
            </a:prstGeom>
            <a:noFill/>
          </p:spPr>
          <p:txBody>
            <a:bodyPr wrap="square" lIns="18288" tIns="9144" rIns="18288" bIns="9144" anchor="ctr">
              <a:noAutofit/>
            </a:bodyPr>
            <a:lstStyle/>
            <a:p>
              <a:pPr algn="l"/>
              <a:r>
                <a:rPr lang="en-GB" sz="1800" b="1" i="0">
                  <a:solidFill>
                    <a:srgbClr val="F2F2F2"/>
                  </a:solidFill>
                  <a:latin typeface="Arial"/>
                </a:rPr>
                <a:t>Before</a:t>
              </a:r>
            </a:p>
          </p:txBody>
        </p:sp>
        <p:sp>
          <p:nvSpPr>
            <p:cNvPr id="9" name="row heading"/>
            <p:cNvSpPr txBox="1"/>
            <p:nvPr/>
          </p:nvSpPr>
          <p:spPr>
            <a:xfrm>
              <a:off x="548640" y="3657600"/>
              <a:ext cx="1188720" cy="1417320"/>
            </a:xfrm>
            <a:prstGeom prst="rect">
              <a:avLst/>
            </a:prstGeom>
            <a:noFill/>
          </p:spPr>
          <p:txBody>
            <a:bodyPr wrap="square" lIns="18288" tIns="9144" rIns="18288" bIns="9144" anchor="ctr">
              <a:noAutofit/>
            </a:bodyPr>
            <a:lstStyle/>
            <a:p>
              <a:pPr algn="l"/>
              <a:r>
                <a:rPr lang="en-GB" sz="1800" b="1" i="0">
                  <a:solidFill>
                    <a:srgbClr val="F2F2F2"/>
                  </a:solidFill>
                  <a:latin typeface="Arial"/>
                </a:rPr>
                <a:t>After</a:t>
              </a:r>
            </a:p>
          </p:txBody>
        </p:sp>
        <p:sp>
          <p:nvSpPr>
            <p:cNvPr id="10" name="panel"/>
            <p:cNvSpPr/>
            <p:nvPr/>
          </p:nvSpPr>
          <p:spPr>
            <a:xfrm>
              <a:off x="1783080" y="1737360"/>
              <a:ext cx="3108960" cy="1417320"/>
            </a:xfrm>
            <a:prstGeom prst="roundRect">
              <a:avLst>
                <a:gd name="adj" fmla="val 6451"/>
              </a:avLst>
            </a:prstGeom>
            <a:solidFill>
              <a:srgbClr val="2B2F36"/>
            </a:solidFill>
            <a:ln w="19050">
              <a:solidFill>
                <a:srgbClr val="4A515B"/>
              </a:solidFill>
            </a:ln>
          </p:spPr>
          <p:txBody>
            <a:bodyPr rtlCol="0" anchor="ctr"/>
            <a:lstStyle/>
            <a:p>
              <a:pPr algn="ctr"/>
              <a:endParaRPr/>
            </a:p>
          </p:txBody>
        </p:sp>
        <p:sp>
          <p:nvSpPr>
            <p:cNvPr id="11" name="panel"/>
            <p:cNvSpPr/>
            <p:nvPr/>
          </p:nvSpPr>
          <p:spPr>
            <a:xfrm>
              <a:off x="5120640" y="1737360"/>
              <a:ext cx="3108960" cy="1417320"/>
            </a:xfrm>
            <a:prstGeom prst="roundRect">
              <a:avLst>
                <a:gd name="adj" fmla="val 6451"/>
              </a:avLst>
            </a:prstGeom>
            <a:solidFill>
              <a:srgbClr val="2B2F36"/>
            </a:solidFill>
            <a:ln w="19050">
              <a:solidFill>
                <a:srgbClr val="4A515B"/>
              </a:solidFill>
            </a:ln>
          </p:spPr>
          <p:txBody>
            <a:bodyPr rtlCol="0" anchor="ctr"/>
            <a:lstStyle/>
            <a:p>
              <a:pPr algn="ctr"/>
              <a:endParaRPr/>
            </a:p>
          </p:txBody>
        </p:sp>
        <p:sp>
          <p:nvSpPr>
            <p:cNvPr id="12" name="panel"/>
            <p:cNvSpPr/>
            <p:nvPr/>
          </p:nvSpPr>
          <p:spPr>
            <a:xfrm>
              <a:off x="8458200" y="1737360"/>
              <a:ext cx="3108960" cy="1417320"/>
            </a:xfrm>
            <a:prstGeom prst="roundRect">
              <a:avLst>
                <a:gd name="adj" fmla="val 6451"/>
              </a:avLst>
            </a:prstGeom>
            <a:solidFill>
              <a:srgbClr val="2B2F36"/>
            </a:solidFill>
            <a:ln w="19050">
              <a:solidFill>
                <a:srgbClr val="4A515B"/>
              </a:solidFill>
            </a:ln>
          </p:spPr>
          <p:txBody>
            <a:bodyPr rtlCol="0" anchor="ctr"/>
            <a:lstStyle/>
            <a:p>
              <a:pPr algn="ctr"/>
              <a:endParaRPr/>
            </a:p>
          </p:txBody>
        </p:sp>
        <p:sp>
          <p:nvSpPr>
            <p:cNvPr id="13" name="rail"/>
            <p:cNvSpPr/>
            <p:nvPr/>
          </p:nvSpPr>
          <p:spPr>
            <a:xfrm>
              <a:off x="1965960" y="2944368"/>
              <a:ext cx="2743200" cy="45720"/>
            </a:xfrm>
            <a:prstGeom prst="rect">
              <a:avLst/>
            </a:prstGeom>
            <a:solidFill>
              <a:srgbClr val="9AA0A6"/>
            </a:solidFill>
            <a:ln>
              <a:noFill/>
            </a:ln>
          </p:spPr>
          <p:txBody>
            <a:bodyPr rtlCol="0" anchor="ctr"/>
            <a:lstStyle/>
            <a:p>
              <a:pPr algn="ctr"/>
              <a:endParaRPr/>
            </a:p>
          </p:txBody>
        </p:sp>
        <p:sp>
          <p:nvSpPr>
            <p:cNvPr id="14" name="rail"/>
            <p:cNvSpPr/>
            <p:nvPr/>
          </p:nvSpPr>
          <p:spPr>
            <a:xfrm>
              <a:off x="5303520" y="2944368"/>
              <a:ext cx="2743200" cy="45720"/>
            </a:xfrm>
            <a:prstGeom prst="rect">
              <a:avLst/>
            </a:prstGeom>
            <a:solidFill>
              <a:srgbClr val="9AA0A6"/>
            </a:solidFill>
            <a:ln>
              <a:noFill/>
            </a:ln>
          </p:spPr>
          <p:txBody>
            <a:bodyPr rtlCol="0" anchor="ctr"/>
            <a:lstStyle/>
            <a:p>
              <a:pPr algn="ctr"/>
              <a:endParaRPr/>
            </a:p>
          </p:txBody>
        </p:sp>
        <p:sp>
          <p:nvSpPr>
            <p:cNvPr id="15" name="rail"/>
            <p:cNvSpPr/>
            <p:nvPr/>
          </p:nvSpPr>
          <p:spPr>
            <a:xfrm>
              <a:off x="8641080" y="2944368"/>
              <a:ext cx="2743200" cy="45720"/>
            </a:xfrm>
            <a:prstGeom prst="rect">
              <a:avLst/>
            </a:prstGeom>
            <a:solidFill>
              <a:srgbClr val="9AA0A6"/>
            </a:solidFill>
            <a:ln>
              <a:noFill/>
            </a:ln>
          </p:spPr>
          <p:txBody>
            <a:bodyPr rtlCol="0" anchor="ctr"/>
            <a:lstStyle/>
            <a:p>
              <a:pPr algn="ctr"/>
              <a:endParaRPr/>
            </a:p>
          </p:txBody>
        </p:sp>
        <p:sp>
          <p:nvSpPr>
            <p:cNvPr id="16" name="platform"/>
            <p:cNvSpPr/>
            <p:nvPr/>
          </p:nvSpPr>
          <p:spPr>
            <a:xfrm>
              <a:off x="2642615" y="2840126"/>
              <a:ext cx="1389888" cy="104241"/>
            </a:xfrm>
            <a:prstGeom prst="rect">
              <a:avLst/>
            </a:prstGeom>
            <a:solidFill>
              <a:srgbClr val="5A606A"/>
            </a:solidFill>
            <a:ln w="12700">
              <a:solidFill>
                <a:srgbClr val="9AA0A6"/>
              </a:solidFill>
            </a:ln>
          </p:spPr>
          <p:txBody>
            <a:bodyPr rtlCol="0" anchor="ctr"/>
            <a:lstStyle/>
            <a:p>
              <a:pPr algn="ctr"/>
              <a:endParaRPr/>
            </a:p>
          </p:txBody>
        </p:sp>
        <p:sp>
          <p:nvSpPr>
            <p:cNvPr id="17" name="building"/>
            <p:cNvSpPr/>
            <p:nvPr/>
          </p:nvSpPr>
          <p:spPr>
            <a:xfrm>
              <a:off x="2781604" y="2318918"/>
              <a:ext cx="903427" cy="521208"/>
            </a:xfrm>
            <a:prstGeom prst="rect">
              <a:avLst/>
            </a:prstGeom>
            <a:solidFill>
              <a:srgbClr val="2BB5B0"/>
            </a:solidFill>
            <a:ln>
              <a:noFill/>
            </a:ln>
          </p:spPr>
          <p:txBody>
            <a:bodyPr rtlCol="0" anchor="ctr"/>
            <a:lstStyle/>
            <a:p>
              <a:pPr algn="ctr"/>
              <a:endParaRPr/>
            </a:p>
          </p:txBody>
        </p:sp>
        <p:sp>
          <p:nvSpPr>
            <p:cNvPr id="18" name="gable roof"/>
            <p:cNvSpPr/>
            <p:nvPr/>
          </p:nvSpPr>
          <p:spPr>
            <a:xfrm>
              <a:off x="2729484" y="1971446"/>
              <a:ext cx="1007668" cy="347472"/>
            </a:xfrm>
            <a:custGeom>
              <a:avLst/>
              <a:gdLst/>
              <a:ahLst/>
              <a:cxnLst/>
              <a:rect l="l" t="t" r="r" b="b"/>
              <a:pathLst>
                <a:path w="1007668" h="347472">
                  <a:moveTo>
                    <a:pt x="0" y="347472"/>
                  </a:moveTo>
                  <a:lnTo>
                    <a:pt x="503834" y="0"/>
                  </a:lnTo>
                  <a:lnTo>
                    <a:pt x="1007668" y="347472"/>
                  </a:lnTo>
                  <a:close/>
                </a:path>
              </a:pathLst>
            </a:custGeom>
            <a:solidFill>
              <a:srgbClr val="1B7572"/>
            </a:solidFill>
            <a:ln>
              <a:noFill/>
            </a:ln>
          </p:spPr>
          <p:txBody>
            <a:bodyPr rtlCol="0" anchor="ctr"/>
            <a:lstStyle/>
            <a:p>
              <a:pPr algn="ctr"/>
              <a:endParaRPr/>
            </a:p>
          </p:txBody>
        </p:sp>
        <p:sp>
          <p:nvSpPr>
            <p:cNvPr id="19" name="chimney"/>
            <p:cNvSpPr/>
            <p:nvPr/>
          </p:nvSpPr>
          <p:spPr>
            <a:xfrm>
              <a:off x="3476548" y="2006193"/>
              <a:ext cx="95554" cy="225856"/>
            </a:xfrm>
            <a:prstGeom prst="rect">
              <a:avLst/>
            </a:prstGeom>
            <a:solidFill>
              <a:srgbClr val="3A3F47"/>
            </a:solidFill>
            <a:ln>
              <a:noFill/>
            </a:ln>
          </p:spPr>
          <p:txBody>
            <a:bodyPr rtlCol="0" anchor="ctr"/>
            <a:lstStyle/>
            <a:p>
              <a:pPr algn="ctr"/>
              <a:endParaRPr/>
            </a:p>
          </p:txBody>
        </p:sp>
        <p:sp>
          <p:nvSpPr>
            <p:cNvPr id="20" name="window"/>
            <p:cNvSpPr/>
            <p:nvPr/>
          </p:nvSpPr>
          <p:spPr>
            <a:xfrm>
              <a:off x="2868472" y="2457907"/>
              <a:ext cx="173736" cy="173736"/>
            </a:xfrm>
            <a:prstGeom prst="rect">
              <a:avLst/>
            </a:prstGeom>
            <a:solidFill>
              <a:srgbClr val="1B1D21"/>
            </a:solidFill>
            <a:ln>
              <a:noFill/>
            </a:ln>
          </p:spPr>
          <p:txBody>
            <a:bodyPr rtlCol="0" anchor="ctr"/>
            <a:lstStyle/>
            <a:p>
              <a:pPr algn="ctr"/>
              <a:endParaRPr/>
            </a:p>
          </p:txBody>
        </p:sp>
        <p:sp>
          <p:nvSpPr>
            <p:cNvPr id="21" name="window"/>
            <p:cNvSpPr/>
            <p:nvPr/>
          </p:nvSpPr>
          <p:spPr>
            <a:xfrm>
              <a:off x="3407054" y="2457907"/>
              <a:ext cx="173736" cy="173736"/>
            </a:xfrm>
            <a:prstGeom prst="rect">
              <a:avLst/>
            </a:prstGeom>
            <a:solidFill>
              <a:srgbClr val="1B1D21"/>
            </a:solidFill>
            <a:ln>
              <a:noFill/>
            </a:ln>
          </p:spPr>
          <p:txBody>
            <a:bodyPr rtlCol="0" anchor="ctr"/>
            <a:lstStyle/>
            <a:p>
              <a:pPr algn="ctr"/>
              <a:endParaRPr/>
            </a:p>
          </p:txBody>
        </p:sp>
        <p:sp>
          <p:nvSpPr>
            <p:cNvPr id="22" name="door"/>
            <p:cNvSpPr/>
            <p:nvPr/>
          </p:nvSpPr>
          <p:spPr>
            <a:xfrm>
              <a:off x="3146450" y="2423159"/>
              <a:ext cx="156362" cy="416966"/>
            </a:xfrm>
            <a:prstGeom prst="rect">
              <a:avLst/>
            </a:prstGeom>
            <a:solidFill>
              <a:srgbClr val="176360"/>
            </a:solidFill>
            <a:ln>
              <a:noFill/>
            </a:ln>
          </p:spPr>
          <p:txBody>
            <a:bodyPr rtlCol="0" anchor="ctr"/>
            <a:lstStyle/>
            <a:p>
              <a:pPr algn="ctr"/>
              <a:endParaRPr/>
            </a:p>
          </p:txBody>
        </p:sp>
        <p:sp>
          <p:nvSpPr>
            <p:cNvPr id="23" name="tender frame"/>
            <p:cNvSpPr/>
            <p:nvPr/>
          </p:nvSpPr>
          <p:spPr>
            <a:xfrm>
              <a:off x="5447538" y="2745486"/>
              <a:ext cx="562355" cy="61721"/>
            </a:xfrm>
            <a:prstGeom prst="rect">
              <a:avLst/>
            </a:prstGeom>
            <a:solidFill>
              <a:srgbClr val="3A3F47"/>
            </a:solidFill>
            <a:ln w="9525">
              <a:solidFill>
                <a:srgbClr val="9AA0A6"/>
              </a:solidFill>
            </a:ln>
          </p:spPr>
          <p:txBody>
            <a:bodyPr rtlCol="0" anchor="ctr"/>
            <a:lstStyle/>
            <a:p>
              <a:pPr algn="ctr"/>
              <a:endParaRPr/>
            </a:p>
          </p:txBody>
        </p:sp>
        <p:sp>
          <p:nvSpPr>
            <p:cNvPr id="24" name="tender body"/>
            <p:cNvSpPr/>
            <p:nvPr/>
          </p:nvSpPr>
          <p:spPr>
            <a:xfrm>
              <a:off x="5447538" y="2519172"/>
              <a:ext cx="562355" cy="226314"/>
            </a:xfrm>
            <a:prstGeom prst="roundRect">
              <a:avLst>
                <a:gd name="adj" fmla="val 3030"/>
              </a:avLst>
            </a:prstGeom>
            <a:solidFill>
              <a:srgbClr val="2BB5B0"/>
            </a:solidFill>
            <a:ln>
              <a:noFill/>
            </a:ln>
          </p:spPr>
          <p:txBody>
            <a:bodyPr rtlCol="0" anchor="ctr"/>
            <a:lstStyle/>
            <a:p>
              <a:pPr algn="ctr"/>
              <a:endParaRPr/>
            </a:p>
          </p:txBody>
        </p:sp>
        <p:sp>
          <p:nvSpPr>
            <p:cNvPr id="25" name="tender coal"/>
            <p:cNvSpPr/>
            <p:nvPr/>
          </p:nvSpPr>
          <p:spPr>
            <a:xfrm>
              <a:off x="5468112" y="2423160"/>
              <a:ext cx="521208" cy="96012"/>
            </a:xfrm>
            <a:custGeom>
              <a:avLst/>
              <a:gdLst/>
              <a:ahLst/>
              <a:cxnLst/>
              <a:rect l="l" t="t" r="r" b="b"/>
              <a:pathLst>
                <a:path w="521208" h="96012">
                  <a:moveTo>
                    <a:pt x="0" y="96012"/>
                  </a:moveTo>
                  <a:lnTo>
                    <a:pt x="102869" y="6858"/>
                  </a:lnTo>
                  <a:lnTo>
                    <a:pt x="308610" y="0"/>
                  </a:lnTo>
                  <a:lnTo>
                    <a:pt x="521208" y="96012"/>
                  </a:lnTo>
                  <a:close/>
                </a:path>
              </a:pathLst>
            </a:custGeom>
            <a:solidFill>
              <a:srgbClr val="1B1D21"/>
            </a:solidFill>
            <a:ln w="12700">
              <a:solidFill>
                <a:srgbClr val="6B7078"/>
              </a:solidFill>
            </a:ln>
          </p:spPr>
          <p:txBody>
            <a:bodyPr rtlCol="0" anchor="ctr"/>
            <a:lstStyle/>
            <a:p>
              <a:pPr algn="ctr"/>
              <a:endParaRPr/>
            </a:p>
          </p:txBody>
        </p:sp>
        <p:sp>
          <p:nvSpPr>
            <p:cNvPr id="26" name="coupling"/>
            <p:cNvSpPr/>
            <p:nvPr/>
          </p:nvSpPr>
          <p:spPr>
            <a:xfrm>
              <a:off x="6009894" y="2663189"/>
              <a:ext cx="48006" cy="20573"/>
            </a:xfrm>
            <a:prstGeom prst="rect">
              <a:avLst/>
            </a:prstGeom>
            <a:solidFill>
              <a:srgbClr val="9AA0A6"/>
            </a:solidFill>
            <a:ln>
              <a:noFill/>
            </a:ln>
          </p:spPr>
          <p:txBody>
            <a:bodyPr rtlCol="0" anchor="ctr"/>
            <a:lstStyle/>
            <a:p>
              <a:pPr algn="ctr"/>
              <a:endParaRPr/>
            </a:p>
          </p:txBody>
        </p:sp>
        <p:sp>
          <p:nvSpPr>
            <p:cNvPr id="27" name="wheel"/>
            <p:cNvSpPr/>
            <p:nvPr/>
          </p:nvSpPr>
          <p:spPr>
            <a:xfrm>
              <a:off x="5488686" y="2752344"/>
              <a:ext cx="192024" cy="192024"/>
            </a:xfrm>
            <a:prstGeom prst="ellipse">
              <a:avLst/>
            </a:prstGeom>
            <a:solidFill>
              <a:srgbClr val="1B1D21"/>
            </a:solidFill>
            <a:ln w="19050">
              <a:solidFill>
                <a:srgbClr val="9AA0A6"/>
              </a:solidFill>
            </a:ln>
          </p:spPr>
          <p:txBody>
            <a:bodyPr rtlCol="0" anchor="ctr"/>
            <a:lstStyle/>
            <a:p>
              <a:pPr algn="ctr"/>
              <a:endParaRPr/>
            </a:p>
          </p:txBody>
        </p:sp>
        <p:sp>
          <p:nvSpPr>
            <p:cNvPr id="28" name="hub"/>
            <p:cNvSpPr/>
            <p:nvPr/>
          </p:nvSpPr>
          <p:spPr>
            <a:xfrm>
              <a:off x="5559734" y="2823392"/>
              <a:ext cx="49926" cy="49926"/>
            </a:xfrm>
            <a:prstGeom prst="ellipse">
              <a:avLst/>
            </a:prstGeom>
            <a:solidFill>
              <a:srgbClr val="9AA0A6"/>
            </a:solidFill>
            <a:ln>
              <a:noFill/>
            </a:ln>
          </p:spPr>
          <p:txBody>
            <a:bodyPr rtlCol="0" anchor="ctr"/>
            <a:lstStyle/>
            <a:p>
              <a:pPr algn="ctr"/>
              <a:endParaRPr/>
            </a:p>
          </p:txBody>
        </p:sp>
        <p:sp>
          <p:nvSpPr>
            <p:cNvPr id="29" name="wheel"/>
            <p:cNvSpPr/>
            <p:nvPr/>
          </p:nvSpPr>
          <p:spPr>
            <a:xfrm>
              <a:off x="5776721" y="2752344"/>
              <a:ext cx="192024" cy="192024"/>
            </a:xfrm>
            <a:prstGeom prst="ellipse">
              <a:avLst/>
            </a:prstGeom>
            <a:solidFill>
              <a:srgbClr val="1B1D21"/>
            </a:solidFill>
            <a:ln w="19050">
              <a:solidFill>
                <a:srgbClr val="9AA0A6"/>
              </a:solidFill>
            </a:ln>
          </p:spPr>
          <p:txBody>
            <a:bodyPr rtlCol="0" anchor="ctr"/>
            <a:lstStyle/>
            <a:p>
              <a:pPr algn="ctr"/>
              <a:endParaRPr/>
            </a:p>
          </p:txBody>
        </p:sp>
        <p:sp>
          <p:nvSpPr>
            <p:cNvPr id="30" name="hub"/>
            <p:cNvSpPr/>
            <p:nvPr/>
          </p:nvSpPr>
          <p:spPr>
            <a:xfrm>
              <a:off x="5847770" y="2823392"/>
              <a:ext cx="49926" cy="49926"/>
            </a:xfrm>
            <a:prstGeom prst="ellipse">
              <a:avLst/>
            </a:prstGeom>
            <a:solidFill>
              <a:srgbClr val="9AA0A6"/>
            </a:solidFill>
            <a:ln>
              <a:noFill/>
            </a:ln>
          </p:spPr>
          <p:txBody>
            <a:bodyPr rtlCol="0" anchor="ctr"/>
            <a:lstStyle/>
            <a:p>
              <a:pPr algn="ctr"/>
              <a:endParaRPr/>
            </a:p>
          </p:txBody>
        </p:sp>
        <p:sp>
          <p:nvSpPr>
            <p:cNvPr id="31" name="frame"/>
            <p:cNvSpPr/>
            <p:nvPr/>
          </p:nvSpPr>
          <p:spPr>
            <a:xfrm>
              <a:off x="6057899" y="2745486"/>
              <a:ext cx="1803654" cy="61721"/>
            </a:xfrm>
            <a:prstGeom prst="rect">
              <a:avLst/>
            </a:prstGeom>
            <a:solidFill>
              <a:srgbClr val="3A3F47"/>
            </a:solidFill>
            <a:ln w="9525">
              <a:solidFill>
                <a:srgbClr val="9AA0A6"/>
              </a:solidFill>
            </a:ln>
          </p:spPr>
          <p:txBody>
            <a:bodyPr rtlCol="0" anchor="ctr"/>
            <a:lstStyle/>
            <a:p>
              <a:pPr algn="ctr"/>
              <a:endParaRPr/>
            </a:p>
          </p:txBody>
        </p:sp>
        <p:sp>
          <p:nvSpPr>
            <p:cNvPr id="32" name="cab"/>
            <p:cNvSpPr/>
            <p:nvPr/>
          </p:nvSpPr>
          <p:spPr>
            <a:xfrm>
              <a:off x="6057899" y="2368296"/>
              <a:ext cx="274320" cy="377190"/>
            </a:xfrm>
            <a:prstGeom prst="roundRect">
              <a:avLst>
                <a:gd name="adj" fmla="val 2500"/>
              </a:avLst>
            </a:prstGeom>
            <a:solidFill>
              <a:srgbClr val="2BB5B0"/>
            </a:solidFill>
            <a:ln>
              <a:noFill/>
            </a:ln>
          </p:spPr>
          <p:txBody>
            <a:bodyPr rtlCol="0" anchor="ctr"/>
            <a:lstStyle/>
            <a:p>
              <a:pPr algn="ctr"/>
              <a:endParaRPr/>
            </a:p>
          </p:txBody>
        </p:sp>
        <p:sp>
          <p:nvSpPr>
            <p:cNvPr id="33" name="cab roof"/>
            <p:cNvSpPr/>
            <p:nvPr/>
          </p:nvSpPr>
          <p:spPr>
            <a:xfrm>
              <a:off x="6044183" y="2334006"/>
              <a:ext cx="301752" cy="34290"/>
            </a:xfrm>
            <a:prstGeom prst="rect">
              <a:avLst/>
            </a:prstGeom>
            <a:solidFill>
              <a:srgbClr val="3A3F47"/>
            </a:solidFill>
            <a:ln w="9525">
              <a:solidFill>
                <a:srgbClr val="9AA0A6"/>
              </a:solidFill>
            </a:ln>
          </p:spPr>
          <p:txBody>
            <a:bodyPr rtlCol="0" anchor="ctr"/>
            <a:lstStyle/>
            <a:p>
              <a:pPr algn="ctr"/>
              <a:endParaRPr/>
            </a:p>
          </p:txBody>
        </p:sp>
        <p:sp>
          <p:nvSpPr>
            <p:cNvPr id="34" name="cab window"/>
            <p:cNvSpPr/>
            <p:nvPr/>
          </p:nvSpPr>
          <p:spPr>
            <a:xfrm>
              <a:off x="6126479" y="2423160"/>
              <a:ext cx="123444" cy="123443"/>
            </a:xfrm>
            <a:prstGeom prst="rect">
              <a:avLst/>
            </a:prstGeom>
            <a:solidFill>
              <a:srgbClr val="1B1D21"/>
            </a:solidFill>
            <a:ln>
              <a:noFill/>
            </a:ln>
          </p:spPr>
          <p:txBody>
            <a:bodyPr rtlCol="0" anchor="ctr"/>
            <a:lstStyle/>
            <a:p>
              <a:pPr algn="ctr"/>
              <a:endParaRPr/>
            </a:p>
          </p:txBody>
        </p:sp>
        <p:sp>
          <p:nvSpPr>
            <p:cNvPr id="35" name="boiler"/>
            <p:cNvSpPr/>
            <p:nvPr/>
          </p:nvSpPr>
          <p:spPr>
            <a:xfrm>
              <a:off x="6332219" y="2402585"/>
              <a:ext cx="1392174" cy="274320"/>
            </a:xfrm>
            <a:prstGeom prst="roundRect">
              <a:avLst>
                <a:gd name="adj" fmla="val 25000"/>
              </a:avLst>
            </a:prstGeom>
            <a:solidFill>
              <a:srgbClr val="2BB5B0"/>
            </a:solidFill>
            <a:ln>
              <a:noFill/>
            </a:ln>
          </p:spPr>
          <p:txBody>
            <a:bodyPr rtlCol="0" anchor="ctr"/>
            <a:lstStyle/>
            <a:p>
              <a:pPr algn="ctr"/>
              <a:endParaRPr/>
            </a:p>
          </p:txBody>
        </p:sp>
        <p:sp>
          <p:nvSpPr>
            <p:cNvPr id="36" name="boiler band"/>
            <p:cNvSpPr/>
            <p:nvPr/>
          </p:nvSpPr>
          <p:spPr>
            <a:xfrm>
              <a:off x="6749872" y="2402585"/>
              <a:ext cx="9601" cy="274320"/>
            </a:xfrm>
            <a:prstGeom prst="rect">
              <a:avLst/>
            </a:prstGeom>
            <a:solidFill>
              <a:srgbClr val="1E827E"/>
            </a:solidFill>
            <a:ln>
              <a:noFill/>
            </a:ln>
          </p:spPr>
          <p:txBody>
            <a:bodyPr rtlCol="0" anchor="ctr"/>
            <a:lstStyle/>
            <a:p>
              <a:pPr algn="ctr"/>
              <a:endParaRPr/>
            </a:p>
          </p:txBody>
        </p:sp>
        <p:sp>
          <p:nvSpPr>
            <p:cNvPr id="37" name="boiler band"/>
            <p:cNvSpPr/>
            <p:nvPr/>
          </p:nvSpPr>
          <p:spPr>
            <a:xfrm>
              <a:off x="7097915" y="2402585"/>
              <a:ext cx="9601" cy="274320"/>
            </a:xfrm>
            <a:prstGeom prst="rect">
              <a:avLst/>
            </a:prstGeom>
            <a:solidFill>
              <a:srgbClr val="1E827E"/>
            </a:solidFill>
            <a:ln>
              <a:noFill/>
            </a:ln>
          </p:spPr>
          <p:txBody>
            <a:bodyPr rtlCol="0" anchor="ctr"/>
            <a:lstStyle/>
            <a:p>
              <a:pPr algn="ctr"/>
              <a:endParaRPr/>
            </a:p>
          </p:txBody>
        </p:sp>
        <p:sp>
          <p:nvSpPr>
            <p:cNvPr id="38" name="boiler band"/>
            <p:cNvSpPr/>
            <p:nvPr/>
          </p:nvSpPr>
          <p:spPr>
            <a:xfrm>
              <a:off x="7445959" y="2402585"/>
              <a:ext cx="9601" cy="274320"/>
            </a:xfrm>
            <a:prstGeom prst="rect">
              <a:avLst/>
            </a:prstGeom>
            <a:solidFill>
              <a:srgbClr val="1E827E"/>
            </a:solidFill>
            <a:ln>
              <a:noFill/>
            </a:ln>
          </p:spPr>
          <p:txBody>
            <a:bodyPr rtlCol="0" anchor="ctr"/>
            <a:lstStyle/>
            <a:p>
              <a:pPr algn="ctr"/>
              <a:endParaRPr/>
            </a:p>
          </p:txBody>
        </p:sp>
        <p:sp>
          <p:nvSpPr>
            <p:cNvPr id="39" name="smokebox"/>
            <p:cNvSpPr/>
            <p:nvPr/>
          </p:nvSpPr>
          <p:spPr>
            <a:xfrm>
              <a:off x="7724394" y="2402585"/>
              <a:ext cx="137160" cy="274320"/>
            </a:xfrm>
            <a:prstGeom prst="roundRect">
              <a:avLst>
                <a:gd name="adj" fmla="val 12000"/>
              </a:avLst>
            </a:prstGeom>
            <a:solidFill>
              <a:srgbClr val="4A515B"/>
            </a:solidFill>
            <a:ln>
              <a:noFill/>
            </a:ln>
          </p:spPr>
          <p:txBody>
            <a:bodyPr rtlCol="0" anchor="ctr"/>
            <a:lstStyle/>
            <a:p>
              <a:pPr algn="ctr"/>
              <a:endParaRPr/>
            </a:p>
          </p:txBody>
        </p:sp>
        <p:sp>
          <p:nvSpPr>
            <p:cNvPr id="40" name="chimney"/>
            <p:cNvSpPr/>
            <p:nvPr/>
          </p:nvSpPr>
          <p:spPr>
            <a:xfrm>
              <a:off x="7751825" y="2258568"/>
              <a:ext cx="82296" cy="144017"/>
            </a:xfrm>
            <a:prstGeom prst="rect">
              <a:avLst/>
            </a:prstGeom>
            <a:solidFill>
              <a:srgbClr val="3A3F47"/>
            </a:solidFill>
            <a:ln w="9525">
              <a:solidFill>
                <a:srgbClr val="9AA0A6"/>
              </a:solidFill>
            </a:ln>
          </p:spPr>
          <p:txBody>
            <a:bodyPr rtlCol="0" anchor="ctr"/>
            <a:lstStyle/>
            <a:p>
              <a:pPr algn="ctr"/>
              <a:endParaRPr/>
            </a:p>
          </p:txBody>
        </p:sp>
        <p:sp>
          <p:nvSpPr>
            <p:cNvPr id="41" name="chimney lip"/>
            <p:cNvSpPr/>
            <p:nvPr/>
          </p:nvSpPr>
          <p:spPr>
            <a:xfrm>
              <a:off x="7731252" y="2237994"/>
              <a:ext cx="123444" cy="34290"/>
            </a:xfrm>
            <a:prstGeom prst="rect">
              <a:avLst/>
            </a:prstGeom>
            <a:solidFill>
              <a:srgbClr val="3A3F47"/>
            </a:solidFill>
            <a:ln w="9525">
              <a:solidFill>
                <a:srgbClr val="9AA0A6"/>
              </a:solidFill>
            </a:ln>
          </p:spPr>
          <p:txBody>
            <a:bodyPr rtlCol="0" anchor="ctr"/>
            <a:lstStyle/>
            <a:p>
              <a:pPr algn="ctr"/>
              <a:endParaRPr/>
            </a:p>
          </p:txBody>
        </p:sp>
        <p:sp>
          <p:nvSpPr>
            <p:cNvPr id="42" name="dome"/>
            <p:cNvSpPr/>
            <p:nvPr/>
          </p:nvSpPr>
          <p:spPr>
            <a:xfrm>
              <a:off x="6889089" y="2327148"/>
              <a:ext cx="123444" cy="75437"/>
            </a:xfrm>
            <a:prstGeom prst="roundRect">
              <a:avLst>
                <a:gd name="adj" fmla="val 36363"/>
              </a:avLst>
            </a:prstGeom>
            <a:solidFill>
              <a:srgbClr val="2BB5B0"/>
            </a:solidFill>
            <a:ln>
              <a:noFill/>
            </a:ln>
          </p:spPr>
          <p:txBody>
            <a:bodyPr rtlCol="0" anchor="ctr"/>
            <a:lstStyle/>
            <a:p>
              <a:pPr algn="ctr"/>
              <a:endParaRPr/>
            </a:p>
          </p:txBody>
        </p:sp>
        <p:sp>
          <p:nvSpPr>
            <p:cNvPr id="43" name="wheel"/>
            <p:cNvSpPr/>
            <p:nvPr/>
          </p:nvSpPr>
          <p:spPr>
            <a:xfrm>
              <a:off x="6078473" y="2670048"/>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44" name="hub"/>
            <p:cNvSpPr/>
            <p:nvPr/>
          </p:nvSpPr>
          <p:spPr>
            <a:xfrm>
              <a:off x="6179972" y="2771546"/>
              <a:ext cx="71323" cy="71323"/>
            </a:xfrm>
            <a:prstGeom prst="ellipse">
              <a:avLst/>
            </a:prstGeom>
            <a:solidFill>
              <a:srgbClr val="9AA0A6"/>
            </a:solidFill>
            <a:ln>
              <a:noFill/>
            </a:ln>
          </p:spPr>
          <p:txBody>
            <a:bodyPr rtlCol="0" anchor="ctr"/>
            <a:lstStyle/>
            <a:p>
              <a:pPr algn="ctr"/>
              <a:endParaRPr/>
            </a:p>
          </p:txBody>
        </p:sp>
        <p:sp>
          <p:nvSpPr>
            <p:cNvPr id="45" name="wheel"/>
            <p:cNvSpPr/>
            <p:nvPr/>
          </p:nvSpPr>
          <p:spPr>
            <a:xfrm>
              <a:off x="6387083" y="2670048"/>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46" name="hub"/>
            <p:cNvSpPr/>
            <p:nvPr/>
          </p:nvSpPr>
          <p:spPr>
            <a:xfrm>
              <a:off x="6488582" y="2771546"/>
              <a:ext cx="71323" cy="71323"/>
            </a:xfrm>
            <a:prstGeom prst="ellipse">
              <a:avLst/>
            </a:prstGeom>
            <a:solidFill>
              <a:srgbClr val="9AA0A6"/>
            </a:solidFill>
            <a:ln>
              <a:noFill/>
            </a:ln>
          </p:spPr>
          <p:txBody>
            <a:bodyPr rtlCol="0" anchor="ctr"/>
            <a:lstStyle/>
            <a:p>
              <a:pPr algn="ctr"/>
              <a:endParaRPr/>
            </a:p>
          </p:txBody>
        </p:sp>
        <p:sp>
          <p:nvSpPr>
            <p:cNvPr id="47" name="wheel"/>
            <p:cNvSpPr/>
            <p:nvPr/>
          </p:nvSpPr>
          <p:spPr>
            <a:xfrm>
              <a:off x="6695693" y="2670048"/>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48" name="hub"/>
            <p:cNvSpPr/>
            <p:nvPr/>
          </p:nvSpPr>
          <p:spPr>
            <a:xfrm>
              <a:off x="6797192" y="2771546"/>
              <a:ext cx="71323" cy="71323"/>
            </a:xfrm>
            <a:prstGeom prst="ellipse">
              <a:avLst/>
            </a:prstGeom>
            <a:solidFill>
              <a:srgbClr val="9AA0A6"/>
            </a:solidFill>
            <a:ln>
              <a:noFill/>
            </a:ln>
          </p:spPr>
          <p:txBody>
            <a:bodyPr rtlCol="0" anchor="ctr"/>
            <a:lstStyle/>
            <a:p>
              <a:pPr algn="ctr"/>
              <a:endParaRPr/>
            </a:p>
          </p:txBody>
        </p:sp>
        <p:sp>
          <p:nvSpPr>
            <p:cNvPr id="49" name="wheel"/>
            <p:cNvSpPr/>
            <p:nvPr/>
          </p:nvSpPr>
          <p:spPr>
            <a:xfrm>
              <a:off x="7004303" y="2670048"/>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50" name="hub"/>
            <p:cNvSpPr/>
            <p:nvPr/>
          </p:nvSpPr>
          <p:spPr>
            <a:xfrm>
              <a:off x="7105802" y="2771546"/>
              <a:ext cx="71323" cy="71323"/>
            </a:xfrm>
            <a:prstGeom prst="ellipse">
              <a:avLst/>
            </a:prstGeom>
            <a:solidFill>
              <a:srgbClr val="9AA0A6"/>
            </a:solidFill>
            <a:ln>
              <a:noFill/>
            </a:ln>
          </p:spPr>
          <p:txBody>
            <a:bodyPr rtlCol="0" anchor="ctr"/>
            <a:lstStyle/>
            <a:p>
              <a:pPr algn="ctr"/>
              <a:endParaRPr/>
            </a:p>
          </p:txBody>
        </p:sp>
        <p:sp>
          <p:nvSpPr>
            <p:cNvPr id="51" name="wheel"/>
            <p:cNvSpPr/>
            <p:nvPr/>
          </p:nvSpPr>
          <p:spPr>
            <a:xfrm>
              <a:off x="7381494" y="2793491"/>
              <a:ext cx="150876" cy="150876"/>
            </a:xfrm>
            <a:prstGeom prst="ellipse">
              <a:avLst/>
            </a:prstGeom>
            <a:solidFill>
              <a:srgbClr val="1B1D21"/>
            </a:solidFill>
            <a:ln w="19050">
              <a:solidFill>
                <a:srgbClr val="9AA0A6"/>
              </a:solidFill>
            </a:ln>
          </p:spPr>
          <p:txBody>
            <a:bodyPr rtlCol="0" anchor="ctr"/>
            <a:lstStyle/>
            <a:p>
              <a:pPr algn="ctr"/>
              <a:endParaRPr/>
            </a:p>
          </p:txBody>
        </p:sp>
        <p:sp>
          <p:nvSpPr>
            <p:cNvPr id="52" name="hub"/>
            <p:cNvSpPr/>
            <p:nvPr/>
          </p:nvSpPr>
          <p:spPr>
            <a:xfrm>
              <a:off x="7437318" y="2849316"/>
              <a:ext cx="39227" cy="39227"/>
            </a:xfrm>
            <a:prstGeom prst="ellipse">
              <a:avLst/>
            </a:prstGeom>
            <a:solidFill>
              <a:srgbClr val="9AA0A6"/>
            </a:solidFill>
            <a:ln>
              <a:noFill/>
            </a:ln>
          </p:spPr>
          <p:txBody>
            <a:bodyPr rtlCol="0" anchor="ctr"/>
            <a:lstStyle/>
            <a:p>
              <a:pPr algn="ctr"/>
              <a:endParaRPr/>
            </a:p>
          </p:txBody>
        </p:sp>
        <p:sp>
          <p:nvSpPr>
            <p:cNvPr id="53" name="coupling rod"/>
            <p:cNvSpPr/>
            <p:nvPr/>
          </p:nvSpPr>
          <p:spPr>
            <a:xfrm>
              <a:off x="6215633" y="2729026"/>
              <a:ext cx="925830" cy="19202"/>
            </a:xfrm>
            <a:prstGeom prst="rect">
              <a:avLst/>
            </a:prstGeom>
            <a:solidFill>
              <a:srgbClr val="D0D4D8"/>
            </a:solidFill>
            <a:ln>
              <a:noFill/>
            </a:ln>
          </p:spPr>
          <p:txBody>
            <a:bodyPr rtlCol="0" anchor="ctr"/>
            <a:lstStyle/>
            <a:p>
              <a:pPr algn="ctr"/>
              <a:endParaRPr/>
            </a:p>
          </p:txBody>
        </p:sp>
        <p:sp>
          <p:nvSpPr>
            <p:cNvPr id="54" name="buffer beam"/>
            <p:cNvSpPr/>
            <p:nvPr/>
          </p:nvSpPr>
          <p:spPr>
            <a:xfrm>
              <a:off x="7861554" y="2683763"/>
              <a:ext cx="41148" cy="123443"/>
            </a:xfrm>
            <a:prstGeom prst="rect">
              <a:avLst/>
            </a:prstGeom>
            <a:solidFill>
              <a:srgbClr val="9AA0A6"/>
            </a:solidFill>
            <a:ln>
              <a:noFill/>
            </a:ln>
          </p:spPr>
          <p:txBody>
            <a:bodyPr rtlCol="0" anchor="ctr"/>
            <a:lstStyle/>
            <a:p>
              <a:pPr algn="ctr"/>
              <a:endParaRPr/>
            </a:p>
          </p:txBody>
        </p:sp>
        <p:sp>
          <p:nvSpPr>
            <p:cNvPr id="55" name="wagon frame"/>
            <p:cNvSpPr/>
            <p:nvPr/>
          </p:nvSpPr>
          <p:spPr>
            <a:xfrm>
              <a:off x="9409176" y="2560320"/>
              <a:ext cx="1207008" cy="109727"/>
            </a:xfrm>
            <a:prstGeom prst="rect">
              <a:avLst/>
            </a:prstGeom>
            <a:solidFill>
              <a:srgbClr val="3A3F47"/>
            </a:solidFill>
            <a:ln w="9525">
              <a:solidFill>
                <a:srgbClr val="9AA0A6"/>
              </a:solidFill>
            </a:ln>
          </p:spPr>
          <p:txBody>
            <a:bodyPr rtlCol="0" anchor="ctr"/>
            <a:lstStyle/>
            <a:p>
              <a:pPr algn="ctr"/>
              <a:endParaRPr/>
            </a:p>
          </p:txBody>
        </p:sp>
        <p:sp>
          <p:nvSpPr>
            <p:cNvPr id="56" name="wagon body"/>
            <p:cNvSpPr/>
            <p:nvPr/>
          </p:nvSpPr>
          <p:spPr>
            <a:xfrm>
              <a:off x="9409176" y="1984248"/>
              <a:ext cx="1207008" cy="576072"/>
            </a:xfrm>
            <a:prstGeom prst="roundRect">
              <a:avLst>
                <a:gd name="adj" fmla="val 2380"/>
              </a:avLst>
            </a:prstGeom>
            <a:solidFill>
              <a:srgbClr val="2BB5B0"/>
            </a:solidFill>
            <a:ln>
              <a:noFill/>
            </a:ln>
          </p:spPr>
          <p:txBody>
            <a:bodyPr rtlCol="0" anchor="ctr"/>
            <a:lstStyle/>
            <a:p>
              <a:pPr algn="ctr"/>
              <a:endParaRPr/>
            </a:p>
          </p:txBody>
        </p:sp>
        <p:sp>
          <p:nvSpPr>
            <p:cNvPr id="57" name="wagon roof"/>
            <p:cNvSpPr/>
            <p:nvPr/>
          </p:nvSpPr>
          <p:spPr>
            <a:xfrm>
              <a:off x="9381744" y="1915667"/>
              <a:ext cx="1261872" cy="68580"/>
            </a:xfrm>
            <a:prstGeom prst="rect">
              <a:avLst/>
            </a:prstGeom>
            <a:solidFill>
              <a:srgbClr val="1E7E7B"/>
            </a:solidFill>
            <a:ln>
              <a:noFill/>
            </a:ln>
          </p:spPr>
          <p:txBody>
            <a:bodyPr rtlCol="0" anchor="ctr"/>
            <a:lstStyle/>
            <a:p>
              <a:pPr algn="ctr"/>
              <a:endParaRPr/>
            </a:p>
          </p:txBody>
        </p:sp>
        <p:sp>
          <p:nvSpPr>
            <p:cNvPr id="58" name="door line"/>
            <p:cNvSpPr/>
            <p:nvPr/>
          </p:nvSpPr>
          <p:spPr>
            <a:xfrm>
              <a:off x="9867839" y="2011679"/>
              <a:ext cx="32918" cy="521207"/>
            </a:xfrm>
            <a:prstGeom prst="rect">
              <a:avLst/>
            </a:prstGeom>
            <a:solidFill>
              <a:srgbClr val="196C69"/>
            </a:solidFill>
            <a:ln>
              <a:noFill/>
            </a:ln>
          </p:spPr>
          <p:txBody>
            <a:bodyPr rtlCol="0" anchor="ctr"/>
            <a:lstStyle/>
            <a:p>
              <a:pPr algn="ctr"/>
              <a:endParaRPr/>
            </a:p>
          </p:txBody>
        </p:sp>
        <p:sp>
          <p:nvSpPr>
            <p:cNvPr id="59" name="door line"/>
            <p:cNvSpPr/>
            <p:nvPr/>
          </p:nvSpPr>
          <p:spPr>
            <a:xfrm>
              <a:off x="10157520" y="2011679"/>
              <a:ext cx="32918" cy="521207"/>
            </a:xfrm>
            <a:prstGeom prst="rect">
              <a:avLst/>
            </a:prstGeom>
            <a:solidFill>
              <a:srgbClr val="196C69"/>
            </a:solidFill>
            <a:ln>
              <a:noFill/>
            </a:ln>
          </p:spPr>
          <p:txBody>
            <a:bodyPr rtlCol="0" anchor="ctr"/>
            <a:lstStyle/>
            <a:p>
              <a:pPr algn="ctr"/>
              <a:endParaRPr/>
            </a:p>
          </p:txBody>
        </p:sp>
        <p:sp>
          <p:nvSpPr>
            <p:cNvPr id="60" name="wheel"/>
            <p:cNvSpPr/>
            <p:nvPr/>
          </p:nvSpPr>
          <p:spPr>
            <a:xfrm>
              <a:off x="9491472" y="2615183"/>
              <a:ext cx="329184" cy="329184"/>
            </a:xfrm>
            <a:prstGeom prst="ellipse">
              <a:avLst/>
            </a:prstGeom>
            <a:solidFill>
              <a:srgbClr val="1B1D21"/>
            </a:solidFill>
            <a:ln w="15875">
              <a:solidFill>
                <a:srgbClr val="9AA0A6"/>
              </a:solidFill>
            </a:ln>
          </p:spPr>
          <p:txBody>
            <a:bodyPr rtlCol="0" anchor="ctr"/>
            <a:lstStyle/>
            <a:p>
              <a:pPr algn="ctr"/>
              <a:endParaRPr/>
            </a:p>
          </p:txBody>
        </p:sp>
        <p:sp>
          <p:nvSpPr>
            <p:cNvPr id="61" name="hub"/>
            <p:cNvSpPr/>
            <p:nvPr/>
          </p:nvSpPr>
          <p:spPr>
            <a:xfrm>
              <a:off x="9613270" y="2736982"/>
              <a:ext cx="85587" cy="85587"/>
            </a:xfrm>
            <a:prstGeom prst="ellipse">
              <a:avLst/>
            </a:prstGeom>
            <a:solidFill>
              <a:srgbClr val="9AA0A6"/>
            </a:solidFill>
            <a:ln>
              <a:noFill/>
            </a:ln>
          </p:spPr>
          <p:txBody>
            <a:bodyPr rtlCol="0" anchor="ctr"/>
            <a:lstStyle/>
            <a:p>
              <a:pPr algn="ctr"/>
              <a:endParaRPr/>
            </a:p>
          </p:txBody>
        </p:sp>
        <p:sp>
          <p:nvSpPr>
            <p:cNvPr id="62" name="wheel"/>
            <p:cNvSpPr/>
            <p:nvPr/>
          </p:nvSpPr>
          <p:spPr>
            <a:xfrm>
              <a:off x="10204704" y="2615183"/>
              <a:ext cx="329184" cy="329184"/>
            </a:xfrm>
            <a:prstGeom prst="ellipse">
              <a:avLst/>
            </a:prstGeom>
            <a:solidFill>
              <a:srgbClr val="1B1D21"/>
            </a:solidFill>
            <a:ln w="15875">
              <a:solidFill>
                <a:srgbClr val="9AA0A6"/>
              </a:solidFill>
            </a:ln>
          </p:spPr>
          <p:txBody>
            <a:bodyPr rtlCol="0" anchor="ctr"/>
            <a:lstStyle/>
            <a:p>
              <a:pPr algn="ctr"/>
              <a:endParaRPr/>
            </a:p>
          </p:txBody>
        </p:sp>
        <p:sp>
          <p:nvSpPr>
            <p:cNvPr id="63" name="hub"/>
            <p:cNvSpPr/>
            <p:nvPr/>
          </p:nvSpPr>
          <p:spPr>
            <a:xfrm>
              <a:off x="10326502" y="2736982"/>
              <a:ext cx="85587" cy="85587"/>
            </a:xfrm>
            <a:prstGeom prst="ellipse">
              <a:avLst/>
            </a:prstGeom>
            <a:solidFill>
              <a:srgbClr val="9AA0A6"/>
            </a:solidFill>
            <a:ln>
              <a:noFill/>
            </a:ln>
          </p:spPr>
          <p:txBody>
            <a:bodyPr rtlCol="0" anchor="ctr"/>
            <a:lstStyle/>
            <a:p>
              <a:pPr algn="ctr"/>
              <a:endParaRPr/>
            </a:p>
          </p:txBody>
        </p:sp>
        <p:sp>
          <p:nvSpPr>
            <p:cNvPr id="64" name="panel"/>
            <p:cNvSpPr/>
            <p:nvPr/>
          </p:nvSpPr>
          <p:spPr>
            <a:xfrm>
              <a:off x="1783080" y="3657600"/>
              <a:ext cx="3108960" cy="1417320"/>
            </a:xfrm>
            <a:prstGeom prst="roundRect">
              <a:avLst>
                <a:gd name="adj" fmla="val 6451"/>
              </a:avLst>
            </a:prstGeom>
            <a:solidFill>
              <a:srgbClr val="2B2F36"/>
            </a:solidFill>
            <a:ln w="19050">
              <a:solidFill>
                <a:srgbClr val="4A515B"/>
              </a:solidFill>
            </a:ln>
          </p:spPr>
          <p:txBody>
            <a:bodyPr rtlCol="0" anchor="ctr"/>
            <a:lstStyle/>
            <a:p>
              <a:pPr algn="ctr"/>
              <a:endParaRPr/>
            </a:p>
          </p:txBody>
        </p:sp>
        <p:sp>
          <p:nvSpPr>
            <p:cNvPr id="65" name="panel"/>
            <p:cNvSpPr/>
            <p:nvPr/>
          </p:nvSpPr>
          <p:spPr>
            <a:xfrm>
              <a:off x="5120640" y="3657600"/>
              <a:ext cx="3108960" cy="1417320"/>
            </a:xfrm>
            <a:prstGeom prst="roundRect">
              <a:avLst>
                <a:gd name="adj" fmla="val 6451"/>
              </a:avLst>
            </a:prstGeom>
            <a:solidFill>
              <a:srgbClr val="2B2F36"/>
            </a:solidFill>
            <a:ln w="19050">
              <a:solidFill>
                <a:srgbClr val="4A515B"/>
              </a:solidFill>
            </a:ln>
          </p:spPr>
          <p:txBody>
            <a:bodyPr rtlCol="0" anchor="ctr"/>
            <a:lstStyle/>
            <a:p>
              <a:pPr algn="ctr"/>
              <a:endParaRPr/>
            </a:p>
          </p:txBody>
        </p:sp>
        <p:sp>
          <p:nvSpPr>
            <p:cNvPr id="66" name="panel"/>
            <p:cNvSpPr/>
            <p:nvPr/>
          </p:nvSpPr>
          <p:spPr>
            <a:xfrm>
              <a:off x="8458200" y="3657600"/>
              <a:ext cx="3108960" cy="1417320"/>
            </a:xfrm>
            <a:prstGeom prst="roundRect">
              <a:avLst>
                <a:gd name="adj" fmla="val 6451"/>
              </a:avLst>
            </a:prstGeom>
            <a:solidFill>
              <a:srgbClr val="2B2F36"/>
            </a:solidFill>
            <a:ln w="19050">
              <a:solidFill>
                <a:srgbClr val="4A515B"/>
              </a:solidFill>
            </a:ln>
          </p:spPr>
          <p:txBody>
            <a:bodyPr rtlCol="0" anchor="ctr"/>
            <a:lstStyle/>
            <a:p>
              <a:pPr algn="ctr"/>
              <a:endParaRPr/>
            </a:p>
          </p:txBody>
        </p:sp>
        <p:sp>
          <p:nvSpPr>
            <p:cNvPr id="67" name="rail"/>
            <p:cNvSpPr/>
            <p:nvPr/>
          </p:nvSpPr>
          <p:spPr>
            <a:xfrm>
              <a:off x="1965960" y="4864608"/>
              <a:ext cx="2743200" cy="45720"/>
            </a:xfrm>
            <a:prstGeom prst="rect">
              <a:avLst/>
            </a:prstGeom>
            <a:solidFill>
              <a:srgbClr val="9AA0A6"/>
            </a:solidFill>
            <a:ln>
              <a:noFill/>
            </a:ln>
          </p:spPr>
          <p:txBody>
            <a:bodyPr rtlCol="0" anchor="ctr"/>
            <a:lstStyle/>
            <a:p>
              <a:pPr algn="ctr"/>
              <a:endParaRPr/>
            </a:p>
          </p:txBody>
        </p:sp>
        <p:sp>
          <p:nvSpPr>
            <p:cNvPr id="68" name="rail"/>
            <p:cNvSpPr/>
            <p:nvPr/>
          </p:nvSpPr>
          <p:spPr>
            <a:xfrm>
              <a:off x="5303520" y="4864608"/>
              <a:ext cx="2743200" cy="45720"/>
            </a:xfrm>
            <a:prstGeom prst="rect">
              <a:avLst/>
            </a:prstGeom>
            <a:solidFill>
              <a:srgbClr val="9AA0A6"/>
            </a:solidFill>
            <a:ln>
              <a:noFill/>
            </a:ln>
          </p:spPr>
          <p:txBody>
            <a:bodyPr rtlCol="0" anchor="ctr"/>
            <a:lstStyle/>
            <a:p>
              <a:pPr algn="ctr"/>
              <a:endParaRPr/>
            </a:p>
          </p:txBody>
        </p:sp>
        <p:sp>
          <p:nvSpPr>
            <p:cNvPr id="69" name="rail"/>
            <p:cNvSpPr/>
            <p:nvPr/>
          </p:nvSpPr>
          <p:spPr>
            <a:xfrm>
              <a:off x="8641080" y="4864608"/>
              <a:ext cx="2743200" cy="45720"/>
            </a:xfrm>
            <a:prstGeom prst="rect">
              <a:avLst/>
            </a:prstGeom>
            <a:solidFill>
              <a:srgbClr val="9AA0A6"/>
            </a:solidFill>
            <a:ln>
              <a:noFill/>
            </a:ln>
          </p:spPr>
          <p:txBody>
            <a:bodyPr rtlCol="0" anchor="ctr"/>
            <a:lstStyle/>
            <a:p>
              <a:pPr algn="ctr"/>
              <a:endParaRPr/>
            </a:p>
          </p:txBody>
        </p:sp>
        <p:sp>
          <p:nvSpPr>
            <p:cNvPr id="70" name="platform"/>
            <p:cNvSpPr/>
            <p:nvPr/>
          </p:nvSpPr>
          <p:spPr>
            <a:xfrm>
              <a:off x="2642615" y="4760366"/>
              <a:ext cx="1389888" cy="104241"/>
            </a:xfrm>
            <a:prstGeom prst="rect">
              <a:avLst/>
            </a:prstGeom>
            <a:solidFill>
              <a:srgbClr val="5A606A"/>
            </a:solidFill>
            <a:ln w="12700">
              <a:solidFill>
                <a:srgbClr val="9AA0A6"/>
              </a:solidFill>
            </a:ln>
          </p:spPr>
          <p:txBody>
            <a:bodyPr rtlCol="0" anchor="ctr"/>
            <a:lstStyle/>
            <a:p>
              <a:pPr algn="ctr"/>
              <a:endParaRPr/>
            </a:p>
          </p:txBody>
        </p:sp>
        <p:sp>
          <p:nvSpPr>
            <p:cNvPr id="71" name="building"/>
            <p:cNvSpPr/>
            <p:nvPr/>
          </p:nvSpPr>
          <p:spPr>
            <a:xfrm>
              <a:off x="2781604" y="4326026"/>
              <a:ext cx="938174" cy="434340"/>
            </a:xfrm>
            <a:prstGeom prst="rect">
              <a:avLst/>
            </a:prstGeom>
            <a:solidFill>
              <a:srgbClr val="D6619B"/>
            </a:solidFill>
            <a:ln>
              <a:noFill/>
            </a:ln>
          </p:spPr>
          <p:txBody>
            <a:bodyPr rtlCol="0" anchor="ctr"/>
            <a:lstStyle/>
            <a:p>
              <a:pPr algn="ctr"/>
              <a:endParaRPr/>
            </a:p>
          </p:txBody>
        </p:sp>
        <p:sp>
          <p:nvSpPr>
            <p:cNvPr id="72" name="false front"/>
            <p:cNvSpPr/>
            <p:nvPr/>
          </p:nvSpPr>
          <p:spPr>
            <a:xfrm>
              <a:off x="2781604" y="4117543"/>
              <a:ext cx="938174" cy="208483"/>
            </a:xfrm>
            <a:prstGeom prst="rect">
              <a:avLst/>
            </a:prstGeom>
            <a:solidFill>
              <a:srgbClr val="DE80AF"/>
            </a:solidFill>
            <a:ln>
              <a:noFill/>
            </a:ln>
          </p:spPr>
          <p:txBody>
            <a:bodyPr rtlCol="0" anchor="ctr"/>
            <a:lstStyle/>
            <a:p>
              <a:pPr algn="ctr"/>
              <a:endParaRPr/>
            </a:p>
          </p:txBody>
        </p:sp>
        <p:sp>
          <p:nvSpPr>
            <p:cNvPr id="73" name="roof"/>
            <p:cNvSpPr/>
            <p:nvPr/>
          </p:nvSpPr>
          <p:spPr>
            <a:xfrm>
              <a:off x="2746857" y="4308652"/>
              <a:ext cx="1007668" cy="52120"/>
            </a:xfrm>
            <a:prstGeom prst="rect">
              <a:avLst/>
            </a:prstGeom>
            <a:solidFill>
              <a:srgbClr val="803A5D"/>
            </a:solidFill>
            <a:ln>
              <a:noFill/>
            </a:ln>
          </p:spPr>
          <p:txBody>
            <a:bodyPr rtlCol="0" anchor="ctr"/>
            <a:lstStyle/>
            <a:p>
              <a:pPr algn="ctr"/>
              <a:endParaRPr/>
            </a:p>
          </p:txBody>
        </p:sp>
        <p:sp>
          <p:nvSpPr>
            <p:cNvPr id="74" name="window"/>
            <p:cNvSpPr/>
            <p:nvPr/>
          </p:nvSpPr>
          <p:spPr>
            <a:xfrm>
              <a:off x="2885846" y="4465015"/>
              <a:ext cx="173736" cy="173736"/>
            </a:xfrm>
            <a:prstGeom prst="rect">
              <a:avLst/>
            </a:prstGeom>
            <a:solidFill>
              <a:srgbClr val="1B1D21"/>
            </a:solidFill>
            <a:ln>
              <a:noFill/>
            </a:ln>
          </p:spPr>
          <p:txBody>
            <a:bodyPr rtlCol="0" anchor="ctr"/>
            <a:lstStyle/>
            <a:p>
              <a:pPr algn="ctr"/>
              <a:endParaRPr/>
            </a:p>
          </p:txBody>
        </p:sp>
        <p:sp>
          <p:nvSpPr>
            <p:cNvPr id="75" name="window"/>
            <p:cNvSpPr/>
            <p:nvPr/>
          </p:nvSpPr>
          <p:spPr>
            <a:xfrm>
              <a:off x="3407054" y="4465015"/>
              <a:ext cx="173736" cy="173736"/>
            </a:xfrm>
            <a:prstGeom prst="rect">
              <a:avLst/>
            </a:prstGeom>
            <a:solidFill>
              <a:srgbClr val="1B1D21"/>
            </a:solidFill>
            <a:ln>
              <a:noFill/>
            </a:ln>
          </p:spPr>
          <p:txBody>
            <a:bodyPr rtlCol="0" anchor="ctr"/>
            <a:lstStyle/>
            <a:p>
              <a:pPr algn="ctr"/>
              <a:endParaRPr/>
            </a:p>
          </p:txBody>
        </p:sp>
        <p:sp>
          <p:nvSpPr>
            <p:cNvPr id="76" name="door"/>
            <p:cNvSpPr/>
            <p:nvPr/>
          </p:nvSpPr>
          <p:spPr>
            <a:xfrm>
              <a:off x="3146450" y="4430268"/>
              <a:ext cx="173736" cy="382219"/>
            </a:xfrm>
            <a:prstGeom prst="rect">
              <a:avLst/>
            </a:prstGeom>
            <a:solidFill>
              <a:srgbClr val="753555"/>
            </a:solidFill>
            <a:ln>
              <a:noFill/>
            </a:ln>
          </p:spPr>
          <p:txBody>
            <a:bodyPr rtlCol="0" anchor="ctr"/>
            <a:lstStyle/>
            <a:p>
              <a:pPr algn="ctr"/>
              <a:endParaRPr/>
            </a:p>
          </p:txBody>
        </p:sp>
        <p:sp>
          <p:nvSpPr>
            <p:cNvPr id="77" name="tank"/>
            <p:cNvSpPr/>
            <p:nvPr/>
          </p:nvSpPr>
          <p:spPr>
            <a:xfrm>
              <a:off x="3789273" y="3787444"/>
              <a:ext cx="243230" cy="225856"/>
            </a:xfrm>
            <a:prstGeom prst="roundRect">
              <a:avLst>
                <a:gd name="adj" fmla="val 7692"/>
              </a:avLst>
            </a:prstGeom>
            <a:solidFill>
              <a:srgbClr val="4DA3FF"/>
            </a:solidFill>
            <a:ln>
              <a:noFill/>
            </a:ln>
          </p:spPr>
          <p:txBody>
            <a:bodyPr rtlCol="0" anchor="ctr"/>
            <a:lstStyle/>
            <a:p>
              <a:pPr algn="ctr"/>
              <a:endParaRPr/>
            </a:p>
          </p:txBody>
        </p:sp>
        <p:sp>
          <p:nvSpPr>
            <p:cNvPr id="78" name="tank leg"/>
            <p:cNvSpPr/>
            <p:nvPr/>
          </p:nvSpPr>
          <p:spPr>
            <a:xfrm>
              <a:off x="3806647" y="4013301"/>
              <a:ext cx="17373" cy="747064"/>
            </a:xfrm>
            <a:prstGeom prst="rect">
              <a:avLst/>
            </a:prstGeom>
            <a:solidFill>
              <a:srgbClr val="9AA0A6"/>
            </a:solidFill>
            <a:ln>
              <a:noFill/>
            </a:ln>
          </p:spPr>
          <p:txBody>
            <a:bodyPr rtlCol="0" anchor="ctr"/>
            <a:lstStyle/>
            <a:p>
              <a:pPr algn="ctr"/>
              <a:endParaRPr/>
            </a:p>
          </p:txBody>
        </p:sp>
        <p:sp>
          <p:nvSpPr>
            <p:cNvPr id="79" name="tank leg"/>
            <p:cNvSpPr/>
            <p:nvPr/>
          </p:nvSpPr>
          <p:spPr>
            <a:xfrm>
              <a:off x="3997756" y="4013301"/>
              <a:ext cx="17373" cy="747064"/>
            </a:xfrm>
            <a:prstGeom prst="rect">
              <a:avLst/>
            </a:prstGeom>
            <a:solidFill>
              <a:srgbClr val="9AA0A6"/>
            </a:solidFill>
            <a:ln>
              <a:noFill/>
            </a:ln>
          </p:spPr>
          <p:txBody>
            <a:bodyPr rtlCol="0" anchor="ctr"/>
            <a:lstStyle/>
            <a:p>
              <a:pPr algn="ctr"/>
              <a:endParaRPr/>
            </a:p>
          </p:txBody>
        </p:sp>
        <p:sp>
          <p:nvSpPr>
            <p:cNvPr id="80" name="tender frame"/>
            <p:cNvSpPr/>
            <p:nvPr/>
          </p:nvSpPr>
          <p:spPr>
            <a:xfrm>
              <a:off x="5474970" y="4645152"/>
              <a:ext cx="630936" cy="61722"/>
            </a:xfrm>
            <a:prstGeom prst="rect">
              <a:avLst/>
            </a:prstGeom>
            <a:solidFill>
              <a:srgbClr val="3A3F47"/>
            </a:solidFill>
            <a:ln w="9525">
              <a:solidFill>
                <a:srgbClr val="9AA0A6"/>
              </a:solidFill>
            </a:ln>
          </p:spPr>
          <p:txBody>
            <a:bodyPr rtlCol="0" anchor="ctr"/>
            <a:lstStyle/>
            <a:p>
              <a:pPr algn="ctr"/>
              <a:endParaRPr/>
            </a:p>
          </p:txBody>
        </p:sp>
        <p:sp>
          <p:nvSpPr>
            <p:cNvPr id="81" name="tender body"/>
            <p:cNvSpPr/>
            <p:nvPr/>
          </p:nvSpPr>
          <p:spPr>
            <a:xfrm>
              <a:off x="5474970" y="4370832"/>
              <a:ext cx="630936" cy="274320"/>
            </a:xfrm>
            <a:prstGeom prst="roundRect">
              <a:avLst>
                <a:gd name="adj" fmla="val 2500"/>
              </a:avLst>
            </a:prstGeom>
            <a:solidFill>
              <a:srgbClr val="D6619B"/>
            </a:solidFill>
            <a:ln>
              <a:noFill/>
            </a:ln>
          </p:spPr>
          <p:txBody>
            <a:bodyPr rtlCol="0" anchor="ctr"/>
            <a:lstStyle/>
            <a:p>
              <a:pPr algn="ctr"/>
              <a:endParaRPr/>
            </a:p>
          </p:txBody>
        </p:sp>
        <p:sp>
          <p:nvSpPr>
            <p:cNvPr id="82" name="tender coal"/>
            <p:cNvSpPr/>
            <p:nvPr/>
          </p:nvSpPr>
          <p:spPr>
            <a:xfrm>
              <a:off x="5495544" y="4281678"/>
              <a:ext cx="589787" cy="89154"/>
            </a:xfrm>
            <a:custGeom>
              <a:avLst/>
              <a:gdLst/>
              <a:ahLst/>
              <a:cxnLst/>
              <a:rect l="l" t="t" r="r" b="b"/>
              <a:pathLst>
                <a:path w="589787" h="89154">
                  <a:moveTo>
                    <a:pt x="0" y="89154"/>
                  </a:moveTo>
                  <a:lnTo>
                    <a:pt x="102870" y="6858"/>
                  </a:lnTo>
                  <a:lnTo>
                    <a:pt x="336042" y="0"/>
                  </a:lnTo>
                  <a:lnTo>
                    <a:pt x="589787" y="89154"/>
                  </a:lnTo>
                  <a:close/>
                </a:path>
              </a:pathLst>
            </a:custGeom>
            <a:solidFill>
              <a:srgbClr val="1B1D21"/>
            </a:solidFill>
            <a:ln w="12700">
              <a:solidFill>
                <a:srgbClr val="6B7078"/>
              </a:solidFill>
            </a:ln>
          </p:spPr>
          <p:txBody>
            <a:bodyPr rtlCol="0" anchor="ctr"/>
            <a:lstStyle/>
            <a:p>
              <a:pPr algn="ctr"/>
              <a:endParaRPr/>
            </a:p>
          </p:txBody>
        </p:sp>
        <p:sp>
          <p:nvSpPr>
            <p:cNvPr id="83" name="coupling"/>
            <p:cNvSpPr/>
            <p:nvPr/>
          </p:nvSpPr>
          <p:spPr>
            <a:xfrm>
              <a:off x="6105906" y="4542282"/>
              <a:ext cx="54864" cy="20573"/>
            </a:xfrm>
            <a:prstGeom prst="rect">
              <a:avLst/>
            </a:prstGeom>
            <a:solidFill>
              <a:srgbClr val="9AA0A6"/>
            </a:solidFill>
            <a:ln>
              <a:noFill/>
            </a:ln>
          </p:spPr>
          <p:txBody>
            <a:bodyPr rtlCol="0" anchor="ctr"/>
            <a:lstStyle/>
            <a:p>
              <a:pPr algn="ctr"/>
              <a:endParaRPr/>
            </a:p>
          </p:txBody>
        </p:sp>
        <p:sp>
          <p:nvSpPr>
            <p:cNvPr id="84" name="wheel"/>
            <p:cNvSpPr/>
            <p:nvPr/>
          </p:nvSpPr>
          <p:spPr>
            <a:xfrm>
              <a:off x="5516118" y="4700016"/>
              <a:ext cx="164592" cy="164592"/>
            </a:xfrm>
            <a:prstGeom prst="ellipse">
              <a:avLst/>
            </a:prstGeom>
            <a:solidFill>
              <a:srgbClr val="1B1D21"/>
            </a:solidFill>
            <a:ln w="19050">
              <a:solidFill>
                <a:srgbClr val="9AA0A6"/>
              </a:solidFill>
            </a:ln>
          </p:spPr>
          <p:txBody>
            <a:bodyPr rtlCol="0" anchor="ctr"/>
            <a:lstStyle/>
            <a:p>
              <a:pPr algn="ctr"/>
              <a:endParaRPr/>
            </a:p>
          </p:txBody>
        </p:sp>
        <p:sp>
          <p:nvSpPr>
            <p:cNvPr id="85" name="hub"/>
            <p:cNvSpPr/>
            <p:nvPr/>
          </p:nvSpPr>
          <p:spPr>
            <a:xfrm>
              <a:off x="5577017" y="4760915"/>
              <a:ext cx="42793" cy="42793"/>
            </a:xfrm>
            <a:prstGeom prst="ellipse">
              <a:avLst/>
            </a:prstGeom>
            <a:solidFill>
              <a:srgbClr val="9AA0A6"/>
            </a:solidFill>
            <a:ln>
              <a:noFill/>
            </a:ln>
          </p:spPr>
          <p:txBody>
            <a:bodyPr rtlCol="0" anchor="ctr"/>
            <a:lstStyle/>
            <a:p>
              <a:pPr algn="ctr"/>
              <a:endParaRPr/>
            </a:p>
          </p:txBody>
        </p:sp>
        <p:sp>
          <p:nvSpPr>
            <p:cNvPr id="86" name="wheel"/>
            <p:cNvSpPr/>
            <p:nvPr/>
          </p:nvSpPr>
          <p:spPr>
            <a:xfrm>
              <a:off x="5653278" y="4700016"/>
              <a:ext cx="164592" cy="164592"/>
            </a:xfrm>
            <a:prstGeom prst="ellipse">
              <a:avLst/>
            </a:prstGeom>
            <a:solidFill>
              <a:srgbClr val="1B1D21"/>
            </a:solidFill>
            <a:ln w="19050">
              <a:solidFill>
                <a:srgbClr val="9AA0A6"/>
              </a:solidFill>
            </a:ln>
          </p:spPr>
          <p:txBody>
            <a:bodyPr rtlCol="0" anchor="ctr"/>
            <a:lstStyle/>
            <a:p>
              <a:pPr algn="ctr"/>
              <a:endParaRPr/>
            </a:p>
          </p:txBody>
        </p:sp>
        <p:sp>
          <p:nvSpPr>
            <p:cNvPr id="87" name="hub"/>
            <p:cNvSpPr/>
            <p:nvPr/>
          </p:nvSpPr>
          <p:spPr>
            <a:xfrm>
              <a:off x="5714177" y="4760915"/>
              <a:ext cx="42793" cy="42793"/>
            </a:xfrm>
            <a:prstGeom prst="ellipse">
              <a:avLst/>
            </a:prstGeom>
            <a:solidFill>
              <a:srgbClr val="9AA0A6"/>
            </a:solidFill>
            <a:ln>
              <a:noFill/>
            </a:ln>
          </p:spPr>
          <p:txBody>
            <a:bodyPr rtlCol="0" anchor="ctr"/>
            <a:lstStyle/>
            <a:p>
              <a:pPr algn="ctr"/>
              <a:endParaRPr/>
            </a:p>
          </p:txBody>
        </p:sp>
        <p:sp>
          <p:nvSpPr>
            <p:cNvPr id="88" name="wheel"/>
            <p:cNvSpPr/>
            <p:nvPr/>
          </p:nvSpPr>
          <p:spPr>
            <a:xfrm>
              <a:off x="5763006" y="4700016"/>
              <a:ext cx="164592" cy="164592"/>
            </a:xfrm>
            <a:prstGeom prst="ellipse">
              <a:avLst/>
            </a:prstGeom>
            <a:solidFill>
              <a:srgbClr val="1B1D21"/>
            </a:solidFill>
            <a:ln w="19050">
              <a:solidFill>
                <a:srgbClr val="9AA0A6"/>
              </a:solidFill>
            </a:ln>
          </p:spPr>
          <p:txBody>
            <a:bodyPr rtlCol="0" anchor="ctr"/>
            <a:lstStyle/>
            <a:p>
              <a:pPr algn="ctr"/>
              <a:endParaRPr/>
            </a:p>
          </p:txBody>
        </p:sp>
        <p:sp>
          <p:nvSpPr>
            <p:cNvPr id="89" name="hub"/>
            <p:cNvSpPr/>
            <p:nvPr/>
          </p:nvSpPr>
          <p:spPr>
            <a:xfrm>
              <a:off x="5823905" y="4760915"/>
              <a:ext cx="42793" cy="42793"/>
            </a:xfrm>
            <a:prstGeom prst="ellipse">
              <a:avLst/>
            </a:prstGeom>
            <a:solidFill>
              <a:srgbClr val="9AA0A6"/>
            </a:solidFill>
            <a:ln>
              <a:noFill/>
            </a:ln>
          </p:spPr>
          <p:txBody>
            <a:bodyPr rtlCol="0" anchor="ctr"/>
            <a:lstStyle/>
            <a:p>
              <a:pPr algn="ctr"/>
              <a:endParaRPr/>
            </a:p>
          </p:txBody>
        </p:sp>
        <p:sp>
          <p:nvSpPr>
            <p:cNvPr id="90" name="wheel"/>
            <p:cNvSpPr/>
            <p:nvPr/>
          </p:nvSpPr>
          <p:spPr>
            <a:xfrm>
              <a:off x="5900166" y="4700016"/>
              <a:ext cx="164592" cy="164592"/>
            </a:xfrm>
            <a:prstGeom prst="ellipse">
              <a:avLst/>
            </a:prstGeom>
            <a:solidFill>
              <a:srgbClr val="1B1D21"/>
            </a:solidFill>
            <a:ln w="19050">
              <a:solidFill>
                <a:srgbClr val="9AA0A6"/>
              </a:solidFill>
            </a:ln>
          </p:spPr>
          <p:txBody>
            <a:bodyPr rtlCol="0" anchor="ctr"/>
            <a:lstStyle/>
            <a:p>
              <a:pPr algn="ctr"/>
              <a:endParaRPr/>
            </a:p>
          </p:txBody>
        </p:sp>
        <p:sp>
          <p:nvSpPr>
            <p:cNvPr id="91" name="hub"/>
            <p:cNvSpPr/>
            <p:nvPr/>
          </p:nvSpPr>
          <p:spPr>
            <a:xfrm>
              <a:off x="5961065" y="4760915"/>
              <a:ext cx="42793" cy="42793"/>
            </a:xfrm>
            <a:prstGeom prst="ellipse">
              <a:avLst/>
            </a:prstGeom>
            <a:solidFill>
              <a:srgbClr val="9AA0A6"/>
            </a:solidFill>
            <a:ln>
              <a:noFill/>
            </a:ln>
          </p:spPr>
          <p:txBody>
            <a:bodyPr rtlCol="0" anchor="ctr"/>
            <a:lstStyle/>
            <a:p>
              <a:pPr algn="ctr"/>
              <a:endParaRPr/>
            </a:p>
          </p:txBody>
        </p:sp>
        <p:sp>
          <p:nvSpPr>
            <p:cNvPr id="92" name="frame"/>
            <p:cNvSpPr/>
            <p:nvPr/>
          </p:nvSpPr>
          <p:spPr>
            <a:xfrm>
              <a:off x="6160770" y="4645152"/>
              <a:ext cx="1571304" cy="61722"/>
            </a:xfrm>
            <a:prstGeom prst="rect">
              <a:avLst/>
            </a:prstGeom>
            <a:solidFill>
              <a:srgbClr val="3A3F47"/>
            </a:solidFill>
            <a:ln w="9525">
              <a:solidFill>
                <a:srgbClr val="9AA0A6"/>
              </a:solidFill>
            </a:ln>
          </p:spPr>
          <p:txBody>
            <a:bodyPr rtlCol="0" anchor="ctr"/>
            <a:lstStyle/>
            <a:p>
              <a:pPr algn="ctr"/>
              <a:endParaRPr/>
            </a:p>
          </p:txBody>
        </p:sp>
        <p:sp>
          <p:nvSpPr>
            <p:cNvPr id="93" name="cab"/>
            <p:cNvSpPr/>
            <p:nvPr/>
          </p:nvSpPr>
          <p:spPr>
            <a:xfrm>
              <a:off x="6160770" y="4178808"/>
              <a:ext cx="315468" cy="466344"/>
            </a:xfrm>
            <a:prstGeom prst="roundRect">
              <a:avLst>
                <a:gd name="adj" fmla="val 2173"/>
              </a:avLst>
            </a:prstGeom>
            <a:solidFill>
              <a:srgbClr val="D6619B"/>
            </a:solidFill>
            <a:ln>
              <a:noFill/>
            </a:ln>
          </p:spPr>
          <p:txBody>
            <a:bodyPr rtlCol="0" anchor="ctr"/>
            <a:lstStyle/>
            <a:p>
              <a:pPr algn="ctr"/>
              <a:endParaRPr/>
            </a:p>
          </p:txBody>
        </p:sp>
        <p:sp>
          <p:nvSpPr>
            <p:cNvPr id="94" name="cab roof"/>
            <p:cNvSpPr/>
            <p:nvPr/>
          </p:nvSpPr>
          <p:spPr>
            <a:xfrm>
              <a:off x="6133338" y="4137660"/>
              <a:ext cx="370332" cy="41147"/>
            </a:xfrm>
            <a:prstGeom prst="rect">
              <a:avLst/>
            </a:prstGeom>
            <a:solidFill>
              <a:srgbClr val="3A3F47"/>
            </a:solidFill>
            <a:ln w="9525">
              <a:solidFill>
                <a:srgbClr val="9AA0A6"/>
              </a:solidFill>
            </a:ln>
          </p:spPr>
          <p:txBody>
            <a:bodyPr rtlCol="0" anchor="ctr"/>
            <a:lstStyle/>
            <a:p>
              <a:pPr algn="ctr"/>
              <a:endParaRPr/>
            </a:p>
          </p:txBody>
        </p:sp>
        <p:sp>
          <p:nvSpPr>
            <p:cNvPr id="95" name="cab window"/>
            <p:cNvSpPr/>
            <p:nvPr/>
          </p:nvSpPr>
          <p:spPr>
            <a:xfrm>
              <a:off x="6236207" y="4247388"/>
              <a:ext cx="137160" cy="150876"/>
            </a:xfrm>
            <a:prstGeom prst="rect">
              <a:avLst/>
            </a:prstGeom>
            <a:solidFill>
              <a:srgbClr val="1B1D21"/>
            </a:solidFill>
            <a:ln>
              <a:noFill/>
            </a:ln>
          </p:spPr>
          <p:txBody>
            <a:bodyPr rtlCol="0" anchor="ctr"/>
            <a:lstStyle/>
            <a:p>
              <a:pPr algn="ctr"/>
              <a:endParaRPr/>
            </a:p>
          </p:txBody>
        </p:sp>
        <p:sp>
          <p:nvSpPr>
            <p:cNvPr id="96" name="boiler"/>
            <p:cNvSpPr/>
            <p:nvPr/>
          </p:nvSpPr>
          <p:spPr>
            <a:xfrm>
              <a:off x="6476238" y="4219956"/>
              <a:ext cx="1022664" cy="342900"/>
            </a:xfrm>
            <a:prstGeom prst="roundRect">
              <a:avLst>
                <a:gd name="adj" fmla="val 22000"/>
              </a:avLst>
            </a:prstGeom>
            <a:solidFill>
              <a:srgbClr val="D6619B"/>
            </a:solidFill>
            <a:ln>
              <a:noFill/>
            </a:ln>
          </p:spPr>
          <p:txBody>
            <a:bodyPr rtlCol="0" anchor="ctr"/>
            <a:lstStyle/>
            <a:p>
              <a:pPr algn="ctr"/>
              <a:endParaRPr/>
            </a:p>
          </p:txBody>
        </p:sp>
        <p:sp>
          <p:nvSpPr>
            <p:cNvPr id="97" name="smokebox"/>
            <p:cNvSpPr/>
            <p:nvPr/>
          </p:nvSpPr>
          <p:spPr>
            <a:xfrm>
              <a:off x="7498902" y="4219956"/>
              <a:ext cx="164592" cy="342900"/>
            </a:xfrm>
            <a:prstGeom prst="roundRect">
              <a:avLst>
                <a:gd name="adj" fmla="val 10000"/>
              </a:avLst>
            </a:prstGeom>
            <a:solidFill>
              <a:srgbClr val="4A515B"/>
            </a:solidFill>
            <a:ln>
              <a:noFill/>
            </a:ln>
          </p:spPr>
          <p:txBody>
            <a:bodyPr rtlCol="0" anchor="ctr"/>
            <a:lstStyle/>
            <a:p>
              <a:pPr algn="ctr"/>
              <a:endParaRPr/>
            </a:p>
          </p:txBody>
        </p:sp>
        <p:sp>
          <p:nvSpPr>
            <p:cNvPr id="98" name="funnel stack"/>
            <p:cNvSpPr/>
            <p:nvPr/>
          </p:nvSpPr>
          <p:spPr>
            <a:xfrm>
              <a:off x="7492044" y="3986784"/>
              <a:ext cx="164592" cy="233172"/>
            </a:xfrm>
            <a:custGeom>
              <a:avLst/>
              <a:gdLst/>
              <a:ahLst/>
              <a:cxnLst/>
              <a:rect l="l" t="t" r="r" b="b"/>
              <a:pathLst>
                <a:path w="164592" h="233172">
                  <a:moveTo>
                    <a:pt x="54864" y="233172"/>
                  </a:moveTo>
                  <a:lnTo>
                    <a:pt x="54864" y="164592"/>
                  </a:lnTo>
                  <a:lnTo>
                    <a:pt x="0" y="0"/>
                  </a:lnTo>
                  <a:lnTo>
                    <a:pt x="164592" y="0"/>
                  </a:lnTo>
                  <a:lnTo>
                    <a:pt x="109728" y="164592"/>
                  </a:lnTo>
                  <a:lnTo>
                    <a:pt x="109728" y="233172"/>
                  </a:lnTo>
                  <a:close/>
                </a:path>
              </a:pathLst>
            </a:custGeom>
            <a:solidFill>
              <a:srgbClr val="3A3F47"/>
            </a:solidFill>
            <a:ln w="9525">
              <a:solidFill>
                <a:srgbClr val="9AA0A6"/>
              </a:solidFill>
            </a:ln>
          </p:spPr>
          <p:txBody>
            <a:bodyPr rtlCol="0" anchor="ctr"/>
            <a:lstStyle/>
            <a:p>
              <a:pPr algn="ctr"/>
              <a:endParaRPr/>
            </a:p>
          </p:txBody>
        </p:sp>
        <p:sp>
          <p:nvSpPr>
            <p:cNvPr id="99" name="headlamp"/>
            <p:cNvSpPr/>
            <p:nvPr/>
          </p:nvSpPr>
          <p:spPr>
            <a:xfrm>
              <a:off x="7622346" y="4110228"/>
              <a:ext cx="102869" cy="102869"/>
            </a:xfrm>
            <a:prstGeom prst="ellipse">
              <a:avLst/>
            </a:prstGeom>
            <a:solidFill>
              <a:srgbClr val="F2C14E"/>
            </a:solidFill>
            <a:ln w="12700">
              <a:solidFill>
                <a:srgbClr val="F2F2F2"/>
              </a:solidFill>
            </a:ln>
          </p:spPr>
          <p:txBody>
            <a:bodyPr rtlCol="0" anchor="ctr"/>
            <a:lstStyle/>
            <a:p>
              <a:pPr algn="ctr"/>
              <a:endParaRPr/>
            </a:p>
          </p:txBody>
        </p:sp>
        <p:sp>
          <p:nvSpPr>
            <p:cNvPr id="100" name="sand dome"/>
            <p:cNvSpPr/>
            <p:nvPr/>
          </p:nvSpPr>
          <p:spPr>
            <a:xfrm>
              <a:off x="6762584" y="4137660"/>
              <a:ext cx="123444" cy="82295"/>
            </a:xfrm>
            <a:prstGeom prst="roundRect">
              <a:avLst>
                <a:gd name="adj" fmla="val 33333"/>
              </a:avLst>
            </a:prstGeom>
            <a:solidFill>
              <a:srgbClr val="D6619B"/>
            </a:solidFill>
            <a:ln>
              <a:noFill/>
            </a:ln>
          </p:spPr>
          <p:txBody>
            <a:bodyPr rtlCol="0" anchor="ctr"/>
            <a:lstStyle/>
            <a:p>
              <a:pPr algn="ctr"/>
              <a:endParaRPr/>
            </a:p>
          </p:txBody>
        </p:sp>
        <p:sp>
          <p:nvSpPr>
            <p:cNvPr id="101" name="steam dome"/>
            <p:cNvSpPr/>
            <p:nvPr/>
          </p:nvSpPr>
          <p:spPr>
            <a:xfrm>
              <a:off x="7110290" y="4123944"/>
              <a:ext cx="137160" cy="96012"/>
            </a:xfrm>
            <a:prstGeom prst="roundRect">
              <a:avLst>
                <a:gd name="adj" fmla="val 28571"/>
              </a:avLst>
            </a:prstGeom>
            <a:solidFill>
              <a:srgbClr val="D6619B"/>
            </a:solidFill>
            <a:ln>
              <a:noFill/>
            </a:ln>
          </p:spPr>
          <p:txBody>
            <a:bodyPr rtlCol="0" anchor="ctr"/>
            <a:lstStyle/>
            <a:p>
              <a:pPr algn="ctr"/>
              <a:endParaRPr/>
            </a:p>
          </p:txBody>
        </p:sp>
        <p:sp>
          <p:nvSpPr>
            <p:cNvPr id="102" name="pilot"/>
            <p:cNvSpPr/>
            <p:nvPr/>
          </p:nvSpPr>
          <p:spPr>
            <a:xfrm>
              <a:off x="7663494" y="4652010"/>
              <a:ext cx="205740" cy="150876"/>
            </a:xfrm>
            <a:custGeom>
              <a:avLst/>
              <a:gdLst/>
              <a:ahLst/>
              <a:cxnLst/>
              <a:rect l="l" t="t" r="r" b="b"/>
              <a:pathLst>
                <a:path w="205740" h="150876">
                  <a:moveTo>
                    <a:pt x="0" y="0"/>
                  </a:moveTo>
                  <a:lnTo>
                    <a:pt x="205740" y="150876"/>
                  </a:lnTo>
                  <a:lnTo>
                    <a:pt x="0" y="150876"/>
                  </a:lnTo>
                  <a:close/>
                </a:path>
              </a:pathLst>
            </a:custGeom>
            <a:solidFill>
              <a:srgbClr val="3A3F47"/>
            </a:solidFill>
            <a:ln w="12700">
              <a:solidFill>
                <a:srgbClr val="9AA0A6"/>
              </a:solidFill>
            </a:ln>
          </p:spPr>
          <p:txBody>
            <a:bodyPr rtlCol="0" anchor="ctr"/>
            <a:lstStyle/>
            <a:p>
              <a:pPr algn="ctr"/>
              <a:endParaRPr/>
            </a:p>
          </p:txBody>
        </p:sp>
        <p:sp>
          <p:nvSpPr>
            <p:cNvPr id="103" name="bell"/>
            <p:cNvSpPr/>
            <p:nvPr/>
          </p:nvSpPr>
          <p:spPr>
            <a:xfrm>
              <a:off x="6946422" y="4055364"/>
              <a:ext cx="41148" cy="82296"/>
            </a:xfrm>
            <a:prstGeom prst="rect">
              <a:avLst/>
            </a:prstGeom>
            <a:solidFill>
              <a:srgbClr val="9AA0A6"/>
            </a:solidFill>
            <a:ln>
              <a:noFill/>
            </a:ln>
          </p:spPr>
          <p:txBody>
            <a:bodyPr rtlCol="0" anchor="ctr"/>
            <a:lstStyle/>
            <a:p>
              <a:pPr algn="ctr"/>
              <a:endParaRPr/>
            </a:p>
          </p:txBody>
        </p:sp>
        <p:sp>
          <p:nvSpPr>
            <p:cNvPr id="104" name="wheel"/>
            <p:cNvSpPr/>
            <p:nvPr/>
          </p:nvSpPr>
          <p:spPr>
            <a:xfrm>
              <a:off x="6208776" y="4604004"/>
              <a:ext cx="260603" cy="260603"/>
            </a:xfrm>
            <a:prstGeom prst="ellipse">
              <a:avLst/>
            </a:prstGeom>
            <a:solidFill>
              <a:srgbClr val="1B1D21"/>
            </a:solidFill>
            <a:ln w="19050">
              <a:solidFill>
                <a:srgbClr val="9AA0A6"/>
              </a:solidFill>
            </a:ln>
          </p:spPr>
          <p:txBody>
            <a:bodyPr rtlCol="0" anchor="ctr"/>
            <a:lstStyle/>
            <a:p>
              <a:pPr algn="ctr"/>
              <a:endParaRPr/>
            </a:p>
          </p:txBody>
        </p:sp>
        <p:sp>
          <p:nvSpPr>
            <p:cNvPr id="105" name="hub"/>
            <p:cNvSpPr/>
            <p:nvPr/>
          </p:nvSpPr>
          <p:spPr>
            <a:xfrm>
              <a:off x="6305199" y="4700427"/>
              <a:ext cx="67757" cy="67757"/>
            </a:xfrm>
            <a:prstGeom prst="ellipse">
              <a:avLst/>
            </a:prstGeom>
            <a:solidFill>
              <a:srgbClr val="9AA0A6"/>
            </a:solidFill>
            <a:ln>
              <a:noFill/>
            </a:ln>
          </p:spPr>
          <p:txBody>
            <a:bodyPr rtlCol="0" anchor="ctr"/>
            <a:lstStyle/>
            <a:p>
              <a:pPr algn="ctr"/>
              <a:endParaRPr/>
            </a:p>
          </p:txBody>
        </p:sp>
        <p:sp>
          <p:nvSpPr>
            <p:cNvPr id="106" name="wheel"/>
            <p:cNvSpPr/>
            <p:nvPr/>
          </p:nvSpPr>
          <p:spPr>
            <a:xfrm>
              <a:off x="6500652" y="4604004"/>
              <a:ext cx="260603" cy="260603"/>
            </a:xfrm>
            <a:prstGeom prst="ellipse">
              <a:avLst/>
            </a:prstGeom>
            <a:solidFill>
              <a:srgbClr val="1B1D21"/>
            </a:solidFill>
            <a:ln w="19050">
              <a:solidFill>
                <a:srgbClr val="9AA0A6"/>
              </a:solidFill>
            </a:ln>
          </p:spPr>
          <p:txBody>
            <a:bodyPr rtlCol="0" anchor="ctr"/>
            <a:lstStyle/>
            <a:p>
              <a:pPr algn="ctr"/>
              <a:endParaRPr/>
            </a:p>
          </p:txBody>
        </p:sp>
        <p:sp>
          <p:nvSpPr>
            <p:cNvPr id="107" name="hub"/>
            <p:cNvSpPr/>
            <p:nvPr/>
          </p:nvSpPr>
          <p:spPr>
            <a:xfrm>
              <a:off x="6597075" y="4700427"/>
              <a:ext cx="67757" cy="67757"/>
            </a:xfrm>
            <a:prstGeom prst="ellipse">
              <a:avLst/>
            </a:prstGeom>
            <a:solidFill>
              <a:srgbClr val="9AA0A6"/>
            </a:solidFill>
            <a:ln>
              <a:noFill/>
            </a:ln>
          </p:spPr>
          <p:txBody>
            <a:bodyPr rtlCol="0" anchor="ctr"/>
            <a:lstStyle/>
            <a:p>
              <a:pPr algn="ctr"/>
              <a:endParaRPr/>
            </a:p>
          </p:txBody>
        </p:sp>
        <p:sp>
          <p:nvSpPr>
            <p:cNvPr id="108" name="wheel"/>
            <p:cNvSpPr/>
            <p:nvPr/>
          </p:nvSpPr>
          <p:spPr>
            <a:xfrm>
              <a:off x="6792528" y="4604004"/>
              <a:ext cx="260603" cy="260603"/>
            </a:xfrm>
            <a:prstGeom prst="ellipse">
              <a:avLst/>
            </a:prstGeom>
            <a:solidFill>
              <a:srgbClr val="1B1D21"/>
            </a:solidFill>
            <a:ln w="19050">
              <a:solidFill>
                <a:srgbClr val="9AA0A6"/>
              </a:solidFill>
            </a:ln>
          </p:spPr>
          <p:txBody>
            <a:bodyPr rtlCol="0" anchor="ctr"/>
            <a:lstStyle/>
            <a:p>
              <a:pPr algn="ctr"/>
              <a:endParaRPr/>
            </a:p>
          </p:txBody>
        </p:sp>
        <p:sp>
          <p:nvSpPr>
            <p:cNvPr id="109" name="hub"/>
            <p:cNvSpPr/>
            <p:nvPr/>
          </p:nvSpPr>
          <p:spPr>
            <a:xfrm>
              <a:off x="6888952" y="4700427"/>
              <a:ext cx="67757" cy="67757"/>
            </a:xfrm>
            <a:prstGeom prst="ellipse">
              <a:avLst/>
            </a:prstGeom>
            <a:solidFill>
              <a:srgbClr val="9AA0A6"/>
            </a:solidFill>
            <a:ln>
              <a:noFill/>
            </a:ln>
          </p:spPr>
          <p:txBody>
            <a:bodyPr rtlCol="0" anchor="ctr"/>
            <a:lstStyle/>
            <a:p>
              <a:pPr algn="ctr"/>
              <a:endParaRPr/>
            </a:p>
          </p:txBody>
        </p:sp>
        <p:sp>
          <p:nvSpPr>
            <p:cNvPr id="110" name="wheel"/>
            <p:cNvSpPr/>
            <p:nvPr/>
          </p:nvSpPr>
          <p:spPr>
            <a:xfrm>
              <a:off x="7389174" y="4727448"/>
              <a:ext cx="137160" cy="137160"/>
            </a:xfrm>
            <a:prstGeom prst="ellipse">
              <a:avLst/>
            </a:prstGeom>
            <a:solidFill>
              <a:srgbClr val="1B1D21"/>
            </a:solidFill>
            <a:ln w="19050">
              <a:solidFill>
                <a:srgbClr val="9AA0A6"/>
              </a:solidFill>
            </a:ln>
          </p:spPr>
          <p:txBody>
            <a:bodyPr rtlCol="0" anchor="ctr"/>
            <a:lstStyle/>
            <a:p>
              <a:pPr algn="ctr"/>
              <a:endParaRPr/>
            </a:p>
          </p:txBody>
        </p:sp>
        <p:sp>
          <p:nvSpPr>
            <p:cNvPr id="111" name="hub"/>
            <p:cNvSpPr/>
            <p:nvPr/>
          </p:nvSpPr>
          <p:spPr>
            <a:xfrm>
              <a:off x="7439924" y="4778197"/>
              <a:ext cx="35661" cy="35661"/>
            </a:xfrm>
            <a:prstGeom prst="ellipse">
              <a:avLst/>
            </a:prstGeom>
            <a:solidFill>
              <a:srgbClr val="9AA0A6"/>
            </a:solidFill>
            <a:ln>
              <a:noFill/>
            </a:ln>
          </p:spPr>
          <p:txBody>
            <a:bodyPr rtlCol="0" anchor="ctr"/>
            <a:lstStyle/>
            <a:p>
              <a:pPr algn="ctr"/>
              <a:endParaRPr/>
            </a:p>
          </p:txBody>
        </p:sp>
        <p:sp>
          <p:nvSpPr>
            <p:cNvPr id="112" name="wheel"/>
            <p:cNvSpPr/>
            <p:nvPr/>
          </p:nvSpPr>
          <p:spPr>
            <a:xfrm>
              <a:off x="7540050" y="4727448"/>
              <a:ext cx="137160" cy="137160"/>
            </a:xfrm>
            <a:prstGeom prst="ellipse">
              <a:avLst/>
            </a:prstGeom>
            <a:solidFill>
              <a:srgbClr val="1B1D21"/>
            </a:solidFill>
            <a:ln w="19050">
              <a:solidFill>
                <a:srgbClr val="9AA0A6"/>
              </a:solidFill>
            </a:ln>
          </p:spPr>
          <p:txBody>
            <a:bodyPr rtlCol="0" anchor="ctr"/>
            <a:lstStyle/>
            <a:p>
              <a:pPr algn="ctr"/>
              <a:endParaRPr/>
            </a:p>
          </p:txBody>
        </p:sp>
        <p:sp>
          <p:nvSpPr>
            <p:cNvPr id="113" name="hub"/>
            <p:cNvSpPr/>
            <p:nvPr/>
          </p:nvSpPr>
          <p:spPr>
            <a:xfrm>
              <a:off x="7590800" y="4778197"/>
              <a:ext cx="35661" cy="35661"/>
            </a:xfrm>
            <a:prstGeom prst="ellipse">
              <a:avLst/>
            </a:prstGeom>
            <a:solidFill>
              <a:srgbClr val="9AA0A6"/>
            </a:solidFill>
            <a:ln>
              <a:noFill/>
            </a:ln>
          </p:spPr>
          <p:txBody>
            <a:bodyPr rtlCol="0" anchor="ctr"/>
            <a:lstStyle/>
            <a:p>
              <a:pPr algn="ctr"/>
              <a:endParaRPr/>
            </a:p>
          </p:txBody>
        </p:sp>
        <p:sp>
          <p:nvSpPr>
            <p:cNvPr id="114" name="coupling rod"/>
            <p:cNvSpPr/>
            <p:nvPr/>
          </p:nvSpPr>
          <p:spPr>
            <a:xfrm>
              <a:off x="6339078" y="4656124"/>
              <a:ext cx="583752" cy="19202"/>
            </a:xfrm>
            <a:prstGeom prst="rect">
              <a:avLst/>
            </a:prstGeom>
            <a:solidFill>
              <a:srgbClr val="D0D4D8"/>
            </a:solidFill>
            <a:ln>
              <a:noFill/>
            </a:ln>
          </p:spPr>
          <p:txBody>
            <a:bodyPr rtlCol="0" anchor="ctr"/>
            <a:lstStyle/>
            <a:p>
              <a:pPr algn="ctr"/>
              <a:endParaRPr/>
            </a:p>
          </p:txBody>
        </p:sp>
        <p:sp>
          <p:nvSpPr>
            <p:cNvPr id="115" name="wagon frame"/>
            <p:cNvSpPr/>
            <p:nvPr/>
          </p:nvSpPr>
          <p:spPr>
            <a:xfrm>
              <a:off x="9409176" y="4480560"/>
              <a:ext cx="1207008" cy="109727"/>
            </a:xfrm>
            <a:prstGeom prst="rect">
              <a:avLst/>
            </a:prstGeom>
            <a:solidFill>
              <a:srgbClr val="3A3F47"/>
            </a:solidFill>
            <a:ln w="9525">
              <a:solidFill>
                <a:srgbClr val="9AA0A6"/>
              </a:solidFill>
            </a:ln>
          </p:spPr>
          <p:txBody>
            <a:bodyPr rtlCol="0" anchor="ctr"/>
            <a:lstStyle/>
            <a:p>
              <a:pPr algn="ctr"/>
              <a:endParaRPr/>
            </a:p>
          </p:txBody>
        </p:sp>
        <p:sp>
          <p:nvSpPr>
            <p:cNvPr id="116" name="hopper body"/>
            <p:cNvSpPr/>
            <p:nvPr/>
          </p:nvSpPr>
          <p:spPr>
            <a:xfrm>
              <a:off x="9409176" y="3794760"/>
              <a:ext cx="1207008" cy="685800"/>
            </a:xfrm>
            <a:custGeom>
              <a:avLst/>
              <a:gdLst/>
              <a:ahLst/>
              <a:cxnLst/>
              <a:rect l="l" t="t" r="r" b="b"/>
              <a:pathLst>
                <a:path w="1207008" h="685800">
                  <a:moveTo>
                    <a:pt x="0" y="0"/>
                  </a:moveTo>
                  <a:lnTo>
                    <a:pt x="1207008" y="0"/>
                  </a:lnTo>
                  <a:lnTo>
                    <a:pt x="1014983" y="685800"/>
                  </a:lnTo>
                  <a:lnTo>
                    <a:pt x="192024" y="685800"/>
                  </a:lnTo>
                  <a:close/>
                </a:path>
              </a:pathLst>
            </a:custGeom>
            <a:solidFill>
              <a:srgbClr val="D6619B"/>
            </a:solidFill>
            <a:ln>
              <a:noFill/>
            </a:ln>
          </p:spPr>
          <p:txBody>
            <a:bodyPr rtlCol="0" anchor="ctr"/>
            <a:lstStyle/>
            <a:p>
              <a:pPr algn="ctr"/>
              <a:endParaRPr/>
            </a:p>
          </p:txBody>
        </p:sp>
        <p:sp>
          <p:nvSpPr>
            <p:cNvPr id="117" name="hopper rim"/>
            <p:cNvSpPr/>
            <p:nvPr/>
          </p:nvSpPr>
          <p:spPr>
            <a:xfrm>
              <a:off x="9409176" y="3781044"/>
              <a:ext cx="1207008" cy="68580"/>
            </a:xfrm>
            <a:prstGeom prst="rect">
              <a:avLst/>
            </a:prstGeom>
            <a:solidFill>
              <a:srgbClr val="E088B4"/>
            </a:solidFill>
            <a:ln>
              <a:noFill/>
            </a:ln>
          </p:spPr>
          <p:txBody>
            <a:bodyPr rtlCol="0" anchor="ctr"/>
            <a:lstStyle/>
            <a:p>
              <a:pPr algn="ctr"/>
              <a:endParaRPr/>
            </a:p>
          </p:txBody>
        </p:sp>
        <p:sp>
          <p:nvSpPr>
            <p:cNvPr id="118" name="hopper hatch"/>
            <p:cNvSpPr/>
            <p:nvPr/>
          </p:nvSpPr>
          <p:spPr>
            <a:xfrm>
              <a:off x="9771278" y="4480560"/>
              <a:ext cx="241402" cy="82296"/>
            </a:xfrm>
            <a:custGeom>
              <a:avLst/>
              <a:gdLst/>
              <a:ahLst/>
              <a:cxnLst/>
              <a:rect l="l" t="t" r="r" b="b"/>
              <a:pathLst>
                <a:path w="241402" h="82296">
                  <a:moveTo>
                    <a:pt x="0" y="0"/>
                  </a:moveTo>
                  <a:lnTo>
                    <a:pt x="120701" y="82296"/>
                  </a:lnTo>
                  <a:lnTo>
                    <a:pt x="241402" y="0"/>
                  </a:lnTo>
                  <a:close/>
                </a:path>
              </a:pathLst>
            </a:custGeom>
            <a:solidFill>
              <a:srgbClr val="3A3F47"/>
            </a:solidFill>
            <a:ln>
              <a:noFill/>
            </a:ln>
          </p:spPr>
          <p:txBody>
            <a:bodyPr rtlCol="0" anchor="ctr"/>
            <a:lstStyle/>
            <a:p>
              <a:pPr algn="ctr"/>
              <a:endParaRPr/>
            </a:p>
          </p:txBody>
        </p:sp>
        <p:sp>
          <p:nvSpPr>
            <p:cNvPr id="119" name="hopper hatch"/>
            <p:cNvSpPr/>
            <p:nvPr/>
          </p:nvSpPr>
          <p:spPr>
            <a:xfrm>
              <a:off x="10073030" y="4480560"/>
              <a:ext cx="241402" cy="82296"/>
            </a:xfrm>
            <a:custGeom>
              <a:avLst/>
              <a:gdLst/>
              <a:ahLst/>
              <a:cxnLst/>
              <a:rect l="l" t="t" r="r" b="b"/>
              <a:pathLst>
                <a:path w="241402" h="82296">
                  <a:moveTo>
                    <a:pt x="0" y="0"/>
                  </a:moveTo>
                  <a:lnTo>
                    <a:pt x="120701" y="82296"/>
                  </a:lnTo>
                  <a:lnTo>
                    <a:pt x="241402" y="0"/>
                  </a:lnTo>
                  <a:close/>
                </a:path>
              </a:pathLst>
            </a:custGeom>
            <a:solidFill>
              <a:srgbClr val="3A3F47"/>
            </a:solidFill>
            <a:ln>
              <a:noFill/>
            </a:ln>
          </p:spPr>
          <p:txBody>
            <a:bodyPr rtlCol="0" anchor="ctr"/>
            <a:lstStyle/>
            <a:p>
              <a:pPr algn="ctr"/>
              <a:endParaRPr/>
            </a:p>
          </p:txBody>
        </p:sp>
        <p:sp>
          <p:nvSpPr>
            <p:cNvPr id="120" name="wheel"/>
            <p:cNvSpPr/>
            <p:nvPr/>
          </p:nvSpPr>
          <p:spPr>
            <a:xfrm>
              <a:off x="9491472" y="4535424"/>
              <a:ext cx="329184" cy="329184"/>
            </a:xfrm>
            <a:prstGeom prst="ellipse">
              <a:avLst/>
            </a:prstGeom>
            <a:solidFill>
              <a:srgbClr val="1B1D21"/>
            </a:solidFill>
            <a:ln w="15875">
              <a:solidFill>
                <a:srgbClr val="9AA0A6"/>
              </a:solidFill>
            </a:ln>
          </p:spPr>
          <p:txBody>
            <a:bodyPr rtlCol="0" anchor="ctr"/>
            <a:lstStyle/>
            <a:p>
              <a:pPr algn="ctr"/>
              <a:endParaRPr/>
            </a:p>
          </p:txBody>
        </p:sp>
        <p:sp>
          <p:nvSpPr>
            <p:cNvPr id="121" name="hub"/>
            <p:cNvSpPr/>
            <p:nvPr/>
          </p:nvSpPr>
          <p:spPr>
            <a:xfrm>
              <a:off x="9613270" y="4657222"/>
              <a:ext cx="85587" cy="85587"/>
            </a:xfrm>
            <a:prstGeom prst="ellipse">
              <a:avLst/>
            </a:prstGeom>
            <a:solidFill>
              <a:srgbClr val="9AA0A6"/>
            </a:solidFill>
            <a:ln>
              <a:noFill/>
            </a:ln>
          </p:spPr>
          <p:txBody>
            <a:bodyPr rtlCol="0" anchor="ctr"/>
            <a:lstStyle/>
            <a:p>
              <a:pPr algn="ctr"/>
              <a:endParaRPr/>
            </a:p>
          </p:txBody>
        </p:sp>
        <p:sp>
          <p:nvSpPr>
            <p:cNvPr id="122" name="wheel"/>
            <p:cNvSpPr/>
            <p:nvPr/>
          </p:nvSpPr>
          <p:spPr>
            <a:xfrm>
              <a:off x="10204704" y="4535424"/>
              <a:ext cx="329184" cy="329184"/>
            </a:xfrm>
            <a:prstGeom prst="ellipse">
              <a:avLst/>
            </a:prstGeom>
            <a:solidFill>
              <a:srgbClr val="1B1D21"/>
            </a:solidFill>
            <a:ln w="15875">
              <a:solidFill>
                <a:srgbClr val="9AA0A6"/>
              </a:solidFill>
            </a:ln>
          </p:spPr>
          <p:txBody>
            <a:bodyPr rtlCol="0" anchor="ctr"/>
            <a:lstStyle/>
            <a:p>
              <a:pPr algn="ctr"/>
              <a:endParaRPr/>
            </a:p>
          </p:txBody>
        </p:sp>
        <p:sp>
          <p:nvSpPr>
            <p:cNvPr id="123" name="hub"/>
            <p:cNvSpPr/>
            <p:nvPr/>
          </p:nvSpPr>
          <p:spPr>
            <a:xfrm>
              <a:off x="10326502" y="4657222"/>
              <a:ext cx="85587" cy="85587"/>
            </a:xfrm>
            <a:prstGeom prst="ellipse">
              <a:avLst/>
            </a:prstGeom>
            <a:solidFill>
              <a:srgbClr val="9AA0A6"/>
            </a:solidFill>
            <a:ln>
              <a:noFill/>
            </a:ln>
          </p:spPr>
          <p:txBody>
            <a:bodyPr rtlCol="0" anchor="ctr"/>
            <a:lstStyle/>
            <a:p>
              <a:pPr algn="ctr"/>
              <a:endParaRPr/>
            </a:p>
          </p:txBody>
        </p:sp>
        <p:cxnSp>
          <p:nvCxnSpPr>
            <p:cNvPr id="124" name="change arrow"/>
            <p:cNvCxnSpPr/>
            <p:nvPr/>
          </p:nvCxnSpPr>
          <p:spPr>
            <a:xfrm>
              <a:off x="3337560" y="3200400"/>
              <a:ext cx="0" cy="429768"/>
            </a:xfrm>
            <a:prstGeom prst="line">
              <a:avLst/>
            </a:prstGeom>
            <a:ln w="38100">
              <a:solidFill>
                <a:srgbClr val="F28C28"/>
              </a:solidFill>
              <a:tailEnd type="triangle" w="med" len="med"/>
            </a:ln>
          </p:spPr>
        </p:cxnSp>
        <p:cxnSp>
          <p:nvCxnSpPr>
            <p:cNvPr id="125" name="change arrow"/>
            <p:cNvCxnSpPr/>
            <p:nvPr/>
          </p:nvCxnSpPr>
          <p:spPr>
            <a:xfrm>
              <a:off x="6675120" y="3200400"/>
              <a:ext cx="0" cy="429768"/>
            </a:xfrm>
            <a:prstGeom prst="line">
              <a:avLst/>
            </a:prstGeom>
            <a:ln w="38100">
              <a:solidFill>
                <a:srgbClr val="F28C28"/>
              </a:solidFill>
              <a:tailEnd type="triangle" w="med" len="med"/>
            </a:ln>
          </p:spPr>
        </p:cxnSp>
        <p:cxnSp>
          <p:nvCxnSpPr>
            <p:cNvPr id="126" name="change arrow"/>
            <p:cNvCxnSpPr/>
            <p:nvPr/>
          </p:nvCxnSpPr>
          <p:spPr>
            <a:xfrm>
              <a:off x="10012680" y="3200400"/>
              <a:ext cx="0" cy="429768"/>
            </a:xfrm>
            <a:prstGeom prst="line">
              <a:avLst/>
            </a:prstGeom>
            <a:ln w="38100">
              <a:solidFill>
                <a:srgbClr val="F28C28"/>
              </a:solidFill>
              <a:tailEnd type="triangle" w="med" len="med"/>
            </a:ln>
          </p:spPr>
        </p:cxnSp>
      </p:grpSp>
      <p:sp>
        <p:nvSpPr>
          <p:cNvPr id="127" name="ICHIP"/>
          <p:cNvSpPr/>
          <p:nvPr/>
        </p:nvSpPr>
        <p:spPr>
          <a:xfrm>
            <a:off x="10080547" y="5230368"/>
            <a:ext cx="1486612"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Not yet tested</a:t>
            </a:r>
          </a:p>
        </p:txBody>
      </p:sp>
      <p:sp>
        <p:nvSpPr>
          <p:cNvPr id="128"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29"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30"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Changing the region restyles stock you already own, not just new builds.</a:t>
            </a:r>
          </a:p>
        </p:txBody>
      </p:sp>
      <p:sp>
        <p:nvSpPr>
          <p:cNvPr id="131"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5</a:t>
            </a:r>
          </a:p>
        </p:txBody>
      </p:sp>
    </p:spTree>
    <p:extLst>
      <p:ext uri="{BB962C8B-B14F-4D97-AF65-F5344CB8AC3E}">
        <p14:creationId xmlns:p14="http://schemas.microsoft.com/office/powerpoint/2010/main" val="16382215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27"/>
                                        </p:tgtEl>
                                        <p:attrNameLst>
                                          <p:attrName>style.visibility</p:attrName>
                                        </p:attrNameLst>
                                      </p:cBhvr>
                                      <p:to>
                                        <p:strVal val="visible"/>
                                      </p:to>
                                    </p:set>
                                    <p:animEffect transition="in" filter="fade">
                                      <p:cBhvr>
                                        <p:cTn id="10" dur="500"/>
                                        <p:tgtEl>
                                          <p:spTgt spid="127"/>
                                        </p:tgtEl>
                                      </p:cBhvr>
                                    </p:animEffect>
                                  </p:childTnLst>
                                </p:cTn>
                              </p:par>
                              <p:par>
                                <p:cTn id="11" presetID="10" presetClass="entr" presetSubtype="0" fill="hold" nodeType="withEffect">
                                  <p:stCondLst>
                                    <p:cond delay="600"/>
                                  </p:stCondLst>
                                  <p:childTnLst>
                                    <p:set>
                                      <p:cBhvr>
                                        <p:cTn id="12" dur="1" fill="hold">
                                          <p:stCondLst>
                                            <p:cond delay="0"/>
                                          </p:stCondLst>
                                        </p:cTn>
                                        <p:tgtEl>
                                          <p:spTgt spid="128"/>
                                        </p:tgtEl>
                                        <p:attrNameLst>
                                          <p:attrName>style.visibility</p:attrName>
                                        </p:attrNameLst>
                                      </p:cBhvr>
                                      <p:to>
                                        <p:strVal val="visible"/>
                                      </p:to>
                                    </p:set>
                                    <p:animEffect transition="in" filter="fade">
                                      <p:cBhvr>
                                        <p:cTn id="13" dur="500"/>
                                        <p:tgtEl>
                                          <p:spTgt spid="128"/>
                                        </p:tgtEl>
                                      </p:cBhvr>
                                    </p:animEffect>
                                  </p:childTnLst>
                                </p:cTn>
                              </p:par>
                              <p:par>
                                <p:cTn id="14" presetID="10" presetClass="entr" presetSubtype="0" fill="hold" nodeType="withEffect">
                                  <p:stCondLst>
                                    <p:cond delay="900"/>
                                  </p:stCondLst>
                                  <p:childTnLst>
                                    <p:set>
                                      <p:cBhvr>
                                        <p:cTn id="15" dur="1" fill="hold">
                                          <p:stCondLst>
                                            <p:cond delay="0"/>
                                          </p:stCondLst>
                                        </p:cTn>
                                        <p:tgtEl>
                                          <p:spTgt spid="129"/>
                                        </p:tgtEl>
                                        <p:attrNameLst>
                                          <p:attrName>style.visibility</p:attrName>
                                        </p:attrNameLst>
                                      </p:cBhvr>
                                      <p:to>
                                        <p:strVal val="visible"/>
                                      </p:to>
                                    </p:set>
                                    <p:animEffect transition="in" filter="fade">
                                      <p:cBhvr>
                                        <p:cTn id="16" dur="500"/>
                                        <p:tgtEl>
                                          <p:spTgt spid="129"/>
                                        </p:tgtEl>
                                      </p:cBhvr>
                                    </p:animEffect>
                                  </p:childTnLst>
                                </p:cTn>
                              </p:par>
                              <p:par>
                                <p:cTn id="17" presetID="10" presetClass="entr" presetSubtype="0" fill="hold" nodeType="withEffect">
                                  <p:stCondLst>
                                    <p:cond delay="1200"/>
                                  </p:stCondLst>
                                  <p:childTnLst>
                                    <p:set>
                                      <p:cBhvr>
                                        <p:cTn id="18" dur="1" fill="hold">
                                          <p:stCondLst>
                                            <p:cond delay="0"/>
                                          </p:stCondLst>
                                        </p:cTn>
                                        <p:tgtEl>
                                          <p:spTgt spid="130"/>
                                        </p:tgtEl>
                                        <p:attrNameLst>
                                          <p:attrName>style.visibility</p:attrName>
                                        </p:attrNameLst>
                                      </p:cBhvr>
                                      <p:to>
                                        <p:strVal val="visible"/>
                                      </p:to>
                                    </p:set>
                                    <p:animEffect transition="in" filter="fade">
                                      <p:cBhvr>
                                        <p:cTn id="19"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Three sizes, many looks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hree by three engine grid" descr="A grid of nine example locomotive silhouettes. Rows are Small, Medium and Large. Columns are three example regional styles, and each style draws its engines in its own shape."/>
          <p:cNvGrpSpPr/>
          <p:nvPr/>
        </p:nvGrpSpPr>
        <p:grpSpPr>
          <a:xfrm>
            <a:off x="548640" y="1234440"/>
            <a:ext cx="10972800" cy="4224528"/>
            <a:chOff x="548640" y="1234440"/>
            <a:chExt cx="10972800" cy="4224528"/>
          </a:xfrm>
        </p:grpSpPr>
        <p:sp>
          <p:nvSpPr>
            <p:cNvPr id="5" name="region heading"/>
            <p:cNvSpPr/>
            <p:nvPr/>
          </p:nvSpPr>
          <p:spPr>
            <a:xfrm>
              <a:off x="2011680" y="1234440"/>
              <a:ext cx="3108960" cy="365760"/>
            </a:xfrm>
            <a:prstGeom prst="roundRect">
              <a:avLst>
                <a:gd name="adj" fmla="val 50000"/>
              </a:avLst>
            </a:prstGeom>
            <a:solidFill>
              <a:srgbClr val="343A43"/>
            </a:solidFill>
            <a:ln w="19050">
              <a:solidFill>
                <a:srgbClr val="4A515B"/>
              </a:solidFill>
            </a:ln>
          </p:spPr>
          <p:txBody>
            <a:bodyPr wrap="square" lIns="54864" tIns="27432" rIns="54864" bIns="27432" rtlCol="0" anchor="ctr">
              <a:noAutofit/>
            </a:bodyPr>
            <a:lstStyle/>
            <a:p>
              <a:pPr algn="ctr"/>
              <a:r>
                <a:rPr lang="en-GB" sz="1800" b="1" i="0">
                  <a:solidFill>
                    <a:srgbClr val="F2F2F2"/>
                  </a:solidFill>
                  <a:latin typeface="Arial"/>
                </a:rPr>
                <a:t>British</a:t>
              </a:r>
            </a:p>
          </p:txBody>
        </p:sp>
        <p:sp>
          <p:nvSpPr>
            <p:cNvPr id="6" name="region heading"/>
            <p:cNvSpPr/>
            <p:nvPr/>
          </p:nvSpPr>
          <p:spPr>
            <a:xfrm>
              <a:off x="5212080" y="1234440"/>
              <a:ext cx="3108960" cy="365760"/>
            </a:xfrm>
            <a:prstGeom prst="roundRect">
              <a:avLst>
                <a:gd name="adj" fmla="val 50000"/>
              </a:avLst>
            </a:prstGeom>
            <a:solidFill>
              <a:srgbClr val="343A43"/>
            </a:solidFill>
            <a:ln w="19050">
              <a:solidFill>
                <a:srgbClr val="4A515B"/>
              </a:solidFill>
            </a:ln>
          </p:spPr>
          <p:txBody>
            <a:bodyPr wrap="square" lIns="54864" tIns="27432" rIns="54864" bIns="27432" rtlCol="0" anchor="ctr">
              <a:noAutofit/>
            </a:bodyPr>
            <a:lstStyle/>
            <a:p>
              <a:pPr algn="ctr"/>
              <a:r>
                <a:rPr lang="en-GB" sz="1800" b="1" i="0">
                  <a:solidFill>
                    <a:srgbClr val="F2F2F2"/>
                  </a:solidFill>
                  <a:latin typeface="Arial"/>
                </a:rPr>
                <a:t>North American</a:t>
              </a:r>
            </a:p>
          </p:txBody>
        </p:sp>
        <p:sp>
          <p:nvSpPr>
            <p:cNvPr id="7" name="region heading"/>
            <p:cNvSpPr/>
            <p:nvPr/>
          </p:nvSpPr>
          <p:spPr>
            <a:xfrm>
              <a:off x="8412480" y="1234440"/>
              <a:ext cx="3108960" cy="365760"/>
            </a:xfrm>
            <a:prstGeom prst="roundRect">
              <a:avLst>
                <a:gd name="adj" fmla="val 50000"/>
              </a:avLst>
            </a:prstGeom>
            <a:solidFill>
              <a:srgbClr val="343A43"/>
            </a:solidFill>
            <a:ln w="19050">
              <a:solidFill>
                <a:srgbClr val="4A515B"/>
              </a:solidFill>
            </a:ln>
          </p:spPr>
          <p:txBody>
            <a:bodyPr wrap="square" lIns="54864" tIns="27432" rIns="54864" bIns="27432" rtlCol="0" anchor="ctr">
              <a:noAutofit/>
            </a:bodyPr>
            <a:lstStyle/>
            <a:p>
              <a:pPr algn="ctr"/>
              <a:r>
                <a:rPr lang="en-GB" sz="1800" b="1" i="0">
                  <a:solidFill>
                    <a:srgbClr val="F2F2F2"/>
                  </a:solidFill>
                  <a:latin typeface="Arial"/>
                </a:rPr>
                <a:t>Continental European</a:t>
              </a:r>
            </a:p>
          </p:txBody>
        </p:sp>
        <p:sp>
          <p:nvSpPr>
            <p:cNvPr id="8" name="examples label"/>
            <p:cNvSpPr txBox="1"/>
            <p:nvPr/>
          </p:nvSpPr>
          <p:spPr>
            <a:xfrm>
              <a:off x="548640" y="1234440"/>
              <a:ext cx="1417320" cy="365760"/>
            </a:xfrm>
            <a:prstGeom prst="rect">
              <a:avLst/>
            </a:prstGeom>
            <a:noFill/>
          </p:spPr>
          <p:txBody>
            <a:bodyPr wrap="square" lIns="18288" tIns="9144" rIns="18288" bIns="9144" anchor="ctr">
              <a:noAutofit/>
            </a:bodyPr>
            <a:lstStyle/>
            <a:p>
              <a:pPr algn="l"/>
              <a:r>
                <a:rPr lang="en-GB" sz="1400" b="1" i="0">
                  <a:solidFill>
                    <a:srgbClr val="A9B0B8"/>
                  </a:solidFill>
                  <a:latin typeface="Arial"/>
                </a:rPr>
                <a:t>Examples only</a:t>
              </a:r>
            </a:p>
          </p:txBody>
        </p:sp>
        <p:sp>
          <p:nvSpPr>
            <p:cNvPr id="9" name="row heading"/>
            <p:cNvSpPr txBox="1"/>
            <p:nvPr/>
          </p:nvSpPr>
          <p:spPr>
            <a:xfrm>
              <a:off x="548640" y="1691640"/>
              <a:ext cx="1417320" cy="1207008"/>
            </a:xfrm>
            <a:prstGeom prst="rect">
              <a:avLst/>
            </a:prstGeom>
            <a:noFill/>
          </p:spPr>
          <p:txBody>
            <a:bodyPr wrap="square" lIns="18288" tIns="9144" rIns="18288" bIns="9144" anchor="ctr">
              <a:noAutofit/>
            </a:bodyPr>
            <a:lstStyle/>
            <a:p>
              <a:pPr algn="l"/>
              <a:r>
                <a:rPr lang="en-GB" sz="2000" b="1" i="0">
                  <a:solidFill>
                    <a:srgbClr val="F2F2F2"/>
                  </a:solidFill>
                  <a:latin typeface="Arial"/>
                </a:rPr>
                <a:t>Small</a:t>
              </a:r>
            </a:p>
          </p:txBody>
        </p:sp>
        <p:sp>
          <p:nvSpPr>
            <p:cNvPr id="10" name="panel"/>
            <p:cNvSpPr/>
            <p:nvPr/>
          </p:nvSpPr>
          <p:spPr>
            <a:xfrm>
              <a:off x="2011680" y="1691640"/>
              <a:ext cx="3108960" cy="1207008"/>
            </a:xfrm>
            <a:prstGeom prst="roundRect">
              <a:avLst>
                <a:gd name="adj" fmla="val 7575"/>
              </a:avLst>
            </a:prstGeom>
            <a:solidFill>
              <a:srgbClr val="2B2F36"/>
            </a:solidFill>
            <a:ln w="19050">
              <a:solidFill>
                <a:srgbClr val="4A515B"/>
              </a:solidFill>
            </a:ln>
          </p:spPr>
          <p:txBody>
            <a:bodyPr rtlCol="0" anchor="ctr"/>
            <a:lstStyle/>
            <a:p>
              <a:pPr algn="ctr"/>
              <a:endParaRPr/>
            </a:p>
          </p:txBody>
        </p:sp>
        <p:sp>
          <p:nvSpPr>
            <p:cNvPr id="11" name="rail"/>
            <p:cNvSpPr/>
            <p:nvPr/>
          </p:nvSpPr>
          <p:spPr>
            <a:xfrm>
              <a:off x="2148840" y="2715768"/>
              <a:ext cx="2834640" cy="45720"/>
            </a:xfrm>
            <a:prstGeom prst="rect">
              <a:avLst/>
            </a:prstGeom>
            <a:solidFill>
              <a:srgbClr val="9AA0A6"/>
            </a:solidFill>
            <a:ln>
              <a:noFill/>
            </a:ln>
          </p:spPr>
          <p:txBody>
            <a:bodyPr rtlCol="0" anchor="ctr"/>
            <a:lstStyle/>
            <a:p>
              <a:pPr algn="ctr"/>
              <a:endParaRPr/>
            </a:p>
          </p:txBody>
        </p:sp>
        <p:sp>
          <p:nvSpPr>
            <p:cNvPr id="12" name="frame"/>
            <p:cNvSpPr/>
            <p:nvPr/>
          </p:nvSpPr>
          <p:spPr>
            <a:xfrm>
              <a:off x="2810408" y="2523515"/>
              <a:ext cx="1471726" cy="59664"/>
            </a:xfrm>
            <a:prstGeom prst="rect">
              <a:avLst/>
            </a:prstGeom>
            <a:solidFill>
              <a:srgbClr val="3A3F47"/>
            </a:solidFill>
            <a:ln w="9525">
              <a:solidFill>
                <a:srgbClr val="9AA0A6"/>
              </a:solidFill>
            </a:ln>
          </p:spPr>
          <p:txBody>
            <a:bodyPr rtlCol="0" anchor="ctr"/>
            <a:lstStyle/>
            <a:p>
              <a:pPr algn="ctr"/>
              <a:endParaRPr/>
            </a:p>
          </p:txBody>
        </p:sp>
        <p:sp>
          <p:nvSpPr>
            <p:cNvPr id="13" name="bunker"/>
            <p:cNvSpPr/>
            <p:nvPr/>
          </p:nvSpPr>
          <p:spPr>
            <a:xfrm>
              <a:off x="2810408" y="2264968"/>
              <a:ext cx="225399" cy="258546"/>
            </a:xfrm>
            <a:prstGeom prst="roundRect">
              <a:avLst>
                <a:gd name="adj" fmla="val 2941"/>
              </a:avLst>
            </a:prstGeom>
            <a:solidFill>
              <a:srgbClr val="2BB5B0"/>
            </a:solidFill>
            <a:ln>
              <a:noFill/>
            </a:ln>
          </p:spPr>
          <p:txBody>
            <a:bodyPr rtlCol="0" anchor="ctr"/>
            <a:lstStyle/>
            <a:p>
              <a:pPr algn="ctr"/>
              <a:endParaRPr/>
            </a:p>
          </p:txBody>
        </p:sp>
        <p:sp>
          <p:nvSpPr>
            <p:cNvPr id="14" name="bunker coal"/>
            <p:cNvSpPr/>
            <p:nvPr/>
          </p:nvSpPr>
          <p:spPr>
            <a:xfrm>
              <a:off x="2823667" y="2198674"/>
              <a:ext cx="198882" cy="66294"/>
            </a:xfrm>
            <a:custGeom>
              <a:avLst/>
              <a:gdLst/>
              <a:ahLst/>
              <a:cxnLst/>
              <a:rect l="l" t="t" r="r" b="b"/>
              <a:pathLst>
                <a:path w="198882" h="66294">
                  <a:moveTo>
                    <a:pt x="0" y="66294"/>
                  </a:moveTo>
                  <a:lnTo>
                    <a:pt x="53035" y="6630"/>
                  </a:lnTo>
                  <a:lnTo>
                    <a:pt x="132588" y="0"/>
                  </a:lnTo>
                  <a:lnTo>
                    <a:pt x="198882" y="66294"/>
                  </a:lnTo>
                  <a:close/>
                </a:path>
              </a:pathLst>
            </a:custGeom>
            <a:solidFill>
              <a:srgbClr val="1B1D21"/>
            </a:solidFill>
            <a:ln w="12700">
              <a:solidFill>
                <a:srgbClr val="6B7078"/>
              </a:solidFill>
            </a:ln>
          </p:spPr>
          <p:txBody>
            <a:bodyPr rtlCol="0" anchor="ctr"/>
            <a:lstStyle/>
            <a:p>
              <a:pPr algn="ctr"/>
              <a:endParaRPr/>
            </a:p>
          </p:txBody>
        </p:sp>
        <p:sp>
          <p:nvSpPr>
            <p:cNvPr id="15" name="cab"/>
            <p:cNvSpPr/>
            <p:nvPr/>
          </p:nvSpPr>
          <p:spPr>
            <a:xfrm>
              <a:off x="3035808" y="2158898"/>
              <a:ext cx="265176" cy="364617"/>
            </a:xfrm>
            <a:prstGeom prst="roundRect">
              <a:avLst>
                <a:gd name="adj" fmla="val 2500"/>
              </a:avLst>
            </a:prstGeom>
            <a:solidFill>
              <a:srgbClr val="2BB5B0"/>
            </a:solidFill>
            <a:ln>
              <a:noFill/>
            </a:ln>
          </p:spPr>
          <p:txBody>
            <a:bodyPr rtlCol="0" anchor="ctr"/>
            <a:lstStyle/>
            <a:p>
              <a:pPr algn="ctr"/>
              <a:endParaRPr/>
            </a:p>
          </p:txBody>
        </p:sp>
        <p:sp>
          <p:nvSpPr>
            <p:cNvPr id="16" name="cab roof"/>
            <p:cNvSpPr/>
            <p:nvPr/>
          </p:nvSpPr>
          <p:spPr>
            <a:xfrm>
              <a:off x="3022549" y="2125751"/>
              <a:ext cx="291693" cy="33147"/>
            </a:xfrm>
            <a:prstGeom prst="rect">
              <a:avLst/>
            </a:prstGeom>
            <a:solidFill>
              <a:srgbClr val="3A3F47"/>
            </a:solidFill>
            <a:ln w="9525">
              <a:solidFill>
                <a:srgbClr val="9AA0A6"/>
              </a:solidFill>
            </a:ln>
          </p:spPr>
          <p:txBody>
            <a:bodyPr rtlCol="0" anchor="ctr"/>
            <a:lstStyle/>
            <a:p>
              <a:pPr algn="ctr"/>
              <a:endParaRPr/>
            </a:p>
          </p:txBody>
        </p:sp>
        <p:sp>
          <p:nvSpPr>
            <p:cNvPr id="17" name="cab window"/>
            <p:cNvSpPr/>
            <p:nvPr/>
          </p:nvSpPr>
          <p:spPr>
            <a:xfrm>
              <a:off x="3102102" y="2211933"/>
              <a:ext cx="119329" cy="119329"/>
            </a:xfrm>
            <a:prstGeom prst="rect">
              <a:avLst/>
            </a:prstGeom>
            <a:solidFill>
              <a:srgbClr val="1B1D21"/>
            </a:solidFill>
            <a:ln>
              <a:noFill/>
            </a:ln>
          </p:spPr>
          <p:txBody>
            <a:bodyPr rtlCol="0" anchor="ctr"/>
            <a:lstStyle/>
            <a:p>
              <a:pPr algn="ctr"/>
              <a:endParaRPr/>
            </a:p>
          </p:txBody>
        </p:sp>
        <p:sp>
          <p:nvSpPr>
            <p:cNvPr id="18" name="boiler"/>
            <p:cNvSpPr/>
            <p:nvPr/>
          </p:nvSpPr>
          <p:spPr>
            <a:xfrm>
              <a:off x="3300984" y="2192045"/>
              <a:ext cx="848563" cy="265176"/>
            </a:xfrm>
            <a:prstGeom prst="roundRect">
              <a:avLst>
                <a:gd name="adj" fmla="val 25000"/>
              </a:avLst>
            </a:prstGeom>
            <a:solidFill>
              <a:srgbClr val="2BB5B0"/>
            </a:solidFill>
            <a:ln>
              <a:noFill/>
            </a:ln>
          </p:spPr>
          <p:txBody>
            <a:bodyPr rtlCol="0" anchor="ctr"/>
            <a:lstStyle/>
            <a:p>
              <a:pPr algn="ctr"/>
              <a:endParaRPr/>
            </a:p>
          </p:txBody>
        </p:sp>
        <p:sp>
          <p:nvSpPr>
            <p:cNvPr id="19" name="side tank"/>
            <p:cNvSpPr/>
            <p:nvPr/>
          </p:nvSpPr>
          <p:spPr>
            <a:xfrm>
              <a:off x="3300984" y="2284857"/>
              <a:ext cx="782269" cy="232028"/>
            </a:xfrm>
            <a:prstGeom prst="roundRect">
              <a:avLst>
                <a:gd name="adj" fmla="val 14285"/>
              </a:avLst>
            </a:prstGeom>
            <a:solidFill>
              <a:srgbClr val="1E827E"/>
            </a:solidFill>
            <a:ln>
              <a:noFill/>
            </a:ln>
          </p:spPr>
          <p:txBody>
            <a:bodyPr rtlCol="0" anchor="ctr"/>
            <a:lstStyle/>
            <a:p>
              <a:pPr algn="ctr"/>
              <a:endParaRPr/>
            </a:p>
          </p:txBody>
        </p:sp>
        <p:sp>
          <p:nvSpPr>
            <p:cNvPr id="20" name="smokebox"/>
            <p:cNvSpPr/>
            <p:nvPr/>
          </p:nvSpPr>
          <p:spPr>
            <a:xfrm>
              <a:off x="4149547" y="2192045"/>
              <a:ext cx="132588" cy="265176"/>
            </a:xfrm>
            <a:prstGeom prst="roundRect">
              <a:avLst>
                <a:gd name="adj" fmla="val 12000"/>
              </a:avLst>
            </a:prstGeom>
            <a:solidFill>
              <a:srgbClr val="4A515B"/>
            </a:solidFill>
            <a:ln>
              <a:noFill/>
            </a:ln>
          </p:spPr>
          <p:txBody>
            <a:bodyPr rtlCol="0" anchor="ctr"/>
            <a:lstStyle/>
            <a:p>
              <a:pPr algn="ctr"/>
              <a:endParaRPr/>
            </a:p>
          </p:txBody>
        </p:sp>
        <p:sp>
          <p:nvSpPr>
            <p:cNvPr id="21" name="chimney"/>
            <p:cNvSpPr/>
            <p:nvPr/>
          </p:nvSpPr>
          <p:spPr>
            <a:xfrm>
              <a:off x="4176064" y="2052828"/>
              <a:ext cx="79552" cy="139217"/>
            </a:xfrm>
            <a:prstGeom prst="rect">
              <a:avLst/>
            </a:prstGeom>
            <a:solidFill>
              <a:srgbClr val="3A3F47"/>
            </a:solidFill>
            <a:ln w="9525">
              <a:solidFill>
                <a:srgbClr val="9AA0A6"/>
              </a:solidFill>
            </a:ln>
          </p:spPr>
          <p:txBody>
            <a:bodyPr rtlCol="0" anchor="ctr"/>
            <a:lstStyle/>
            <a:p>
              <a:pPr algn="ctr"/>
              <a:endParaRPr/>
            </a:p>
          </p:txBody>
        </p:sp>
        <p:sp>
          <p:nvSpPr>
            <p:cNvPr id="22" name="chimney lip"/>
            <p:cNvSpPr/>
            <p:nvPr/>
          </p:nvSpPr>
          <p:spPr>
            <a:xfrm>
              <a:off x="4156176" y="2032939"/>
              <a:ext cx="119329" cy="33147"/>
            </a:xfrm>
            <a:prstGeom prst="rect">
              <a:avLst/>
            </a:prstGeom>
            <a:solidFill>
              <a:srgbClr val="3A3F47"/>
            </a:solidFill>
            <a:ln w="9525">
              <a:solidFill>
                <a:srgbClr val="9AA0A6"/>
              </a:solidFill>
            </a:ln>
          </p:spPr>
          <p:txBody>
            <a:bodyPr rtlCol="0" anchor="ctr"/>
            <a:lstStyle/>
            <a:p>
              <a:pPr algn="ctr"/>
              <a:endParaRPr/>
            </a:p>
          </p:txBody>
        </p:sp>
        <p:sp>
          <p:nvSpPr>
            <p:cNvPr id="23" name="dome"/>
            <p:cNvSpPr/>
            <p:nvPr/>
          </p:nvSpPr>
          <p:spPr>
            <a:xfrm>
              <a:off x="3657380" y="2119122"/>
              <a:ext cx="119329" cy="72923"/>
            </a:xfrm>
            <a:prstGeom prst="roundRect">
              <a:avLst>
                <a:gd name="adj" fmla="val 36363"/>
              </a:avLst>
            </a:prstGeom>
            <a:solidFill>
              <a:srgbClr val="2BB5B0"/>
            </a:solidFill>
            <a:ln>
              <a:noFill/>
            </a:ln>
          </p:spPr>
          <p:txBody>
            <a:bodyPr rtlCol="0" anchor="ctr"/>
            <a:lstStyle/>
            <a:p>
              <a:pPr algn="ctr"/>
              <a:endParaRPr/>
            </a:p>
          </p:txBody>
        </p:sp>
        <p:sp>
          <p:nvSpPr>
            <p:cNvPr id="24" name="wheel"/>
            <p:cNvSpPr/>
            <p:nvPr/>
          </p:nvSpPr>
          <p:spPr>
            <a:xfrm>
              <a:off x="3181654" y="2477109"/>
              <a:ext cx="238658" cy="238658"/>
            </a:xfrm>
            <a:prstGeom prst="ellipse">
              <a:avLst/>
            </a:prstGeom>
            <a:solidFill>
              <a:srgbClr val="1B1D21"/>
            </a:solidFill>
            <a:ln w="19050">
              <a:solidFill>
                <a:srgbClr val="9AA0A6"/>
              </a:solidFill>
            </a:ln>
          </p:spPr>
          <p:txBody>
            <a:bodyPr rtlCol="0" anchor="ctr"/>
            <a:lstStyle/>
            <a:p>
              <a:pPr algn="ctr"/>
              <a:endParaRPr/>
            </a:p>
          </p:txBody>
        </p:sp>
        <p:sp>
          <p:nvSpPr>
            <p:cNvPr id="25" name="hub"/>
            <p:cNvSpPr/>
            <p:nvPr/>
          </p:nvSpPr>
          <p:spPr>
            <a:xfrm>
              <a:off x="3269958" y="2565413"/>
              <a:ext cx="62051" cy="62051"/>
            </a:xfrm>
            <a:prstGeom prst="ellipse">
              <a:avLst/>
            </a:prstGeom>
            <a:solidFill>
              <a:srgbClr val="9AA0A6"/>
            </a:solidFill>
            <a:ln>
              <a:noFill/>
            </a:ln>
          </p:spPr>
          <p:txBody>
            <a:bodyPr rtlCol="0" anchor="ctr"/>
            <a:lstStyle/>
            <a:p>
              <a:pPr algn="ctr"/>
              <a:endParaRPr/>
            </a:p>
          </p:txBody>
        </p:sp>
        <p:sp>
          <p:nvSpPr>
            <p:cNvPr id="26" name="wheel"/>
            <p:cNvSpPr/>
            <p:nvPr/>
          </p:nvSpPr>
          <p:spPr>
            <a:xfrm>
              <a:off x="3446830" y="2477109"/>
              <a:ext cx="238658" cy="238658"/>
            </a:xfrm>
            <a:prstGeom prst="ellipse">
              <a:avLst/>
            </a:prstGeom>
            <a:solidFill>
              <a:srgbClr val="1B1D21"/>
            </a:solidFill>
            <a:ln w="19050">
              <a:solidFill>
                <a:srgbClr val="9AA0A6"/>
              </a:solidFill>
            </a:ln>
          </p:spPr>
          <p:txBody>
            <a:bodyPr rtlCol="0" anchor="ctr"/>
            <a:lstStyle/>
            <a:p>
              <a:pPr algn="ctr"/>
              <a:endParaRPr/>
            </a:p>
          </p:txBody>
        </p:sp>
        <p:sp>
          <p:nvSpPr>
            <p:cNvPr id="27" name="hub"/>
            <p:cNvSpPr/>
            <p:nvPr/>
          </p:nvSpPr>
          <p:spPr>
            <a:xfrm>
              <a:off x="3535134" y="2565413"/>
              <a:ext cx="62051" cy="62051"/>
            </a:xfrm>
            <a:prstGeom prst="ellipse">
              <a:avLst/>
            </a:prstGeom>
            <a:solidFill>
              <a:srgbClr val="9AA0A6"/>
            </a:solidFill>
            <a:ln>
              <a:noFill/>
            </a:ln>
          </p:spPr>
          <p:txBody>
            <a:bodyPr rtlCol="0" anchor="ctr"/>
            <a:lstStyle/>
            <a:p>
              <a:pPr algn="ctr"/>
              <a:endParaRPr/>
            </a:p>
          </p:txBody>
        </p:sp>
        <p:sp>
          <p:nvSpPr>
            <p:cNvPr id="28" name="wheel"/>
            <p:cNvSpPr/>
            <p:nvPr/>
          </p:nvSpPr>
          <p:spPr>
            <a:xfrm>
              <a:off x="3712006" y="2477109"/>
              <a:ext cx="238658" cy="238658"/>
            </a:xfrm>
            <a:prstGeom prst="ellipse">
              <a:avLst/>
            </a:prstGeom>
            <a:solidFill>
              <a:srgbClr val="1B1D21"/>
            </a:solidFill>
            <a:ln w="19050">
              <a:solidFill>
                <a:srgbClr val="9AA0A6"/>
              </a:solidFill>
            </a:ln>
          </p:spPr>
          <p:txBody>
            <a:bodyPr rtlCol="0" anchor="ctr"/>
            <a:lstStyle/>
            <a:p>
              <a:pPr algn="ctr"/>
              <a:endParaRPr/>
            </a:p>
          </p:txBody>
        </p:sp>
        <p:sp>
          <p:nvSpPr>
            <p:cNvPr id="29" name="hub"/>
            <p:cNvSpPr/>
            <p:nvPr/>
          </p:nvSpPr>
          <p:spPr>
            <a:xfrm>
              <a:off x="3800310" y="2565413"/>
              <a:ext cx="62051" cy="62051"/>
            </a:xfrm>
            <a:prstGeom prst="ellipse">
              <a:avLst/>
            </a:prstGeom>
            <a:solidFill>
              <a:srgbClr val="9AA0A6"/>
            </a:solidFill>
            <a:ln>
              <a:noFill/>
            </a:ln>
          </p:spPr>
          <p:txBody>
            <a:bodyPr rtlCol="0" anchor="ctr"/>
            <a:lstStyle/>
            <a:p>
              <a:pPr algn="ctr"/>
              <a:endParaRPr/>
            </a:p>
          </p:txBody>
        </p:sp>
        <p:sp>
          <p:nvSpPr>
            <p:cNvPr id="30" name="coupling rod"/>
            <p:cNvSpPr/>
            <p:nvPr/>
          </p:nvSpPr>
          <p:spPr>
            <a:xfrm>
              <a:off x="3300984" y="2527493"/>
              <a:ext cx="530352" cy="18562"/>
            </a:xfrm>
            <a:prstGeom prst="rect">
              <a:avLst/>
            </a:prstGeom>
            <a:solidFill>
              <a:srgbClr val="D0D4D8"/>
            </a:solidFill>
            <a:ln>
              <a:noFill/>
            </a:ln>
          </p:spPr>
          <p:txBody>
            <a:bodyPr rtlCol="0" anchor="ctr"/>
            <a:lstStyle/>
            <a:p>
              <a:pPr algn="ctr"/>
              <a:endParaRPr/>
            </a:p>
          </p:txBody>
        </p:sp>
        <p:sp>
          <p:nvSpPr>
            <p:cNvPr id="31" name="buffer beam"/>
            <p:cNvSpPr/>
            <p:nvPr/>
          </p:nvSpPr>
          <p:spPr>
            <a:xfrm>
              <a:off x="4282135" y="2463850"/>
              <a:ext cx="39776" cy="119329"/>
            </a:xfrm>
            <a:prstGeom prst="rect">
              <a:avLst/>
            </a:prstGeom>
            <a:solidFill>
              <a:srgbClr val="9AA0A6"/>
            </a:solidFill>
            <a:ln>
              <a:noFill/>
            </a:ln>
          </p:spPr>
          <p:txBody>
            <a:bodyPr rtlCol="0" anchor="ctr"/>
            <a:lstStyle/>
            <a:p>
              <a:pPr algn="ctr"/>
              <a:endParaRPr/>
            </a:p>
          </p:txBody>
        </p:sp>
        <p:sp>
          <p:nvSpPr>
            <p:cNvPr id="32" name="panel"/>
            <p:cNvSpPr/>
            <p:nvPr/>
          </p:nvSpPr>
          <p:spPr>
            <a:xfrm>
              <a:off x="5212080" y="1691640"/>
              <a:ext cx="3108960" cy="1207008"/>
            </a:xfrm>
            <a:prstGeom prst="roundRect">
              <a:avLst>
                <a:gd name="adj" fmla="val 7575"/>
              </a:avLst>
            </a:prstGeom>
            <a:solidFill>
              <a:srgbClr val="2B2F36"/>
            </a:solidFill>
            <a:ln w="19050">
              <a:solidFill>
                <a:srgbClr val="4A515B"/>
              </a:solidFill>
            </a:ln>
          </p:spPr>
          <p:txBody>
            <a:bodyPr rtlCol="0" anchor="ctr"/>
            <a:lstStyle/>
            <a:p>
              <a:pPr algn="ctr"/>
              <a:endParaRPr/>
            </a:p>
          </p:txBody>
        </p:sp>
        <p:sp>
          <p:nvSpPr>
            <p:cNvPr id="33" name="rail"/>
            <p:cNvSpPr/>
            <p:nvPr/>
          </p:nvSpPr>
          <p:spPr>
            <a:xfrm>
              <a:off x="5349240" y="2715768"/>
              <a:ext cx="2834640" cy="45720"/>
            </a:xfrm>
            <a:prstGeom prst="rect">
              <a:avLst/>
            </a:prstGeom>
            <a:solidFill>
              <a:srgbClr val="9AA0A6"/>
            </a:solidFill>
            <a:ln>
              <a:noFill/>
            </a:ln>
          </p:spPr>
          <p:txBody>
            <a:bodyPr rtlCol="0" anchor="ctr"/>
            <a:lstStyle/>
            <a:p>
              <a:pPr algn="ctr"/>
              <a:endParaRPr/>
            </a:p>
          </p:txBody>
        </p:sp>
        <p:sp>
          <p:nvSpPr>
            <p:cNvPr id="34" name="tender frame"/>
            <p:cNvSpPr/>
            <p:nvPr/>
          </p:nvSpPr>
          <p:spPr>
            <a:xfrm>
              <a:off x="5765520" y="2503627"/>
              <a:ext cx="609904" cy="59664"/>
            </a:xfrm>
            <a:prstGeom prst="rect">
              <a:avLst/>
            </a:prstGeom>
            <a:solidFill>
              <a:srgbClr val="3A3F47"/>
            </a:solidFill>
            <a:ln w="9525">
              <a:solidFill>
                <a:srgbClr val="9AA0A6"/>
              </a:solidFill>
            </a:ln>
          </p:spPr>
          <p:txBody>
            <a:bodyPr rtlCol="0" anchor="ctr"/>
            <a:lstStyle/>
            <a:p>
              <a:pPr algn="ctr"/>
              <a:endParaRPr/>
            </a:p>
          </p:txBody>
        </p:sp>
        <p:sp>
          <p:nvSpPr>
            <p:cNvPr id="35" name="tender body"/>
            <p:cNvSpPr/>
            <p:nvPr/>
          </p:nvSpPr>
          <p:spPr>
            <a:xfrm>
              <a:off x="5765520" y="2238451"/>
              <a:ext cx="609904" cy="265176"/>
            </a:xfrm>
            <a:prstGeom prst="roundRect">
              <a:avLst>
                <a:gd name="adj" fmla="val 2500"/>
              </a:avLst>
            </a:prstGeom>
            <a:solidFill>
              <a:srgbClr val="D6619B"/>
            </a:solidFill>
            <a:ln>
              <a:noFill/>
            </a:ln>
          </p:spPr>
          <p:txBody>
            <a:bodyPr rtlCol="0" anchor="ctr"/>
            <a:lstStyle/>
            <a:p>
              <a:pPr algn="ctr"/>
              <a:endParaRPr/>
            </a:p>
          </p:txBody>
        </p:sp>
        <p:sp>
          <p:nvSpPr>
            <p:cNvPr id="36" name="tender coal"/>
            <p:cNvSpPr/>
            <p:nvPr/>
          </p:nvSpPr>
          <p:spPr>
            <a:xfrm>
              <a:off x="5785408" y="2152269"/>
              <a:ext cx="570129" cy="86182"/>
            </a:xfrm>
            <a:custGeom>
              <a:avLst/>
              <a:gdLst/>
              <a:ahLst/>
              <a:cxnLst/>
              <a:rect l="l" t="t" r="r" b="b"/>
              <a:pathLst>
                <a:path w="570129" h="86182">
                  <a:moveTo>
                    <a:pt x="0" y="86182"/>
                  </a:moveTo>
                  <a:lnTo>
                    <a:pt x="99441" y="6629"/>
                  </a:lnTo>
                  <a:lnTo>
                    <a:pt x="324841" y="0"/>
                  </a:lnTo>
                  <a:lnTo>
                    <a:pt x="570129" y="86182"/>
                  </a:lnTo>
                  <a:close/>
                </a:path>
              </a:pathLst>
            </a:custGeom>
            <a:solidFill>
              <a:srgbClr val="1B1D21"/>
            </a:solidFill>
            <a:ln w="12700">
              <a:solidFill>
                <a:srgbClr val="6B7078"/>
              </a:solidFill>
            </a:ln>
          </p:spPr>
          <p:txBody>
            <a:bodyPr rtlCol="0" anchor="ctr"/>
            <a:lstStyle/>
            <a:p>
              <a:pPr algn="ctr"/>
              <a:endParaRPr/>
            </a:p>
          </p:txBody>
        </p:sp>
        <p:sp>
          <p:nvSpPr>
            <p:cNvPr id="37" name="coupling"/>
            <p:cNvSpPr/>
            <p:nvPr/>
          </p:nvSpPr>
          <p:spPr>
            <a:xfrm>
              <a:off x="6375425" y="2404186"/>
              <a:ext cx="53035" cy="19888"/>
            </a:xfrm>
            <a:prstGeom prst="rect">
              <a:avLst/>
            </a:prstGeom>
            <a:solidFill>
              <a:srgbClr val="9AA0A6"/>
            </a:solidFill>
            <a:ln>
              <a:noFill/>
            </a:ln>
          </p:spPr>
          <p:txBody>
            <a:bodyPr rtlCol="0" anchor="ctr"/>
            <a:lstStyle/>
            <a:p>
              <a:pPr algn="ctr"/>
              <a:endParaRPr/>
            </a:p>
          </p:txBody>
        </p:sp>
        <p:sp>
          <p:nvSpPr>
            <p:cNvPr id="38" name="wheel"/>
            <p:cNvSpPr/>
            <p:nvPr/>
          </p:nvSpPr>
          <p:spPr>
            <a:xfrm>
              <a:off x="5805297" y="255666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39" name="hub"/>
            <p:cNvSpPr/>
            <p:nvPr/>
          </p:nvSpPr>
          <p:spPr>
            <a:xfrm>
              <a:off x="5864166" y="2615531"/>
              <a:ext cx="41367" cy="41367"/>
            </a:xfrm>
            <a:prstGeom prst="ellipse">
              <a:avLst/>
            </a:prstGeom>
            <a:solidFill>
              <a:srgbClr val="9AA0A6"/>
            </a:solidFill>
            <a:ln>
              <a:noFill/>
            </a:ln>
          </p:spPr>
          <p:txBody>
            <a:bodyPr rtlCol="0" anchor="ctr"/>
            <a:lstStyle/>
            <a:p>
              <a:pPr algn="ctr"/>
              <a:endParaRPr/>
            </a:p>
          </p:txBody>
        </p:sp>
        <p:sp>
          <p:nvSpPr>
            <p:cNvPr id="40" name="wheel"/>
            <p:cNvSpPr/>
            <p:nvPr/>
          </p:nvSpPr>
          <p:spPr>
            <a:xfrm>
              <a:off x="5937885" y="255666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41" name="hub"/>
            <p:cNvSpPr/>
            <p:nvPr/>
          </p:nvSpPr>
          <p:spPr>
            <a:xfrm>
              <a:off x="5996754" y="2615531"/>
              <a:ext cx="41367" cy="41367"/>
            </a:xfrm>
            <a:prstGeom prst="ellipse">
              <a:avLst/>
            </a:prstGeom>
            <a:solidFill>
              <a:srgbClr val="9AA0A6"/>
            </a:solidFill>
            <a:ln>
              <a:noFill/>
            </a:ln>
          </p:spPr>
          <p:txBody>
            <a:bodyPr rtlCol="0" anchor="ctr"/>
            <a:lstStyle/>
            <a:p>
              <a:pPr algn="ctr"/>
              <a:endParaRPr/>
            </a:p>
          </p:txBody>
        </p:sp>
        <p:sp>
          <p:nvSpPr>
            <p:cNvPr id="42" name="wheel"/>
            <p:cNvSpPr/>
            <p:nvPr/>
          </p:nvSpPr>
          <p:spPr>
            <a:xfrm>
              <a:off x="6043955" y="255666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43" name="hub"/>
            <p:cNvSpPr/>
            <p:nvPr/>
          </p:nvSpPr>
          <p:spPr>
            <a:xfrm>
              <a:off x="6102824" y="2615531"/>
              <a:ext cx="41367" cy="41367"/>
            </a:xfrm>
            <a:prstGeom prst="ellipse">
              <a:avLst/>
            </a:prstGeom>
            <a:solidFill>
              <a:srgbClr val="9AA0A6"/>
            </a:solidFill>
            <a:ln>
              <a:noFill/>
            </a:ln>
          </p:spPr>
          <p:txBody>
            <a:bodyPr rtlCol="0" anchor="ctr"/>
            <a:lstStyle/>
            <a:p>
              <a:pPr algn="ctr"/>
              <a:endParaRPr/>
            </a:p>
          </p:txBody>
        </p:sp>
        <p:sp>
          <p:nvSpPr>
            <p:cNvPr id="44" name="wheel"/>
            <p:cNvSpPr/>
            <p:nvPr/>
          </p:nvSpPr>
          <p:spPr>
            <a:xfrm>
              <a:off x="6176543" y="255666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45" name="hub"/>
            <p:cNvSpPr/>
            <p:nvPr/>
          </p:nvSpPr>
          <p:spPr>
            <a:xfrm>
              <a:off x="6235412" y="2615531"/>
              <a:ext cx="41367" cy="41367"/>
            </a:xfrm>
            <a:prstGeom prst="ellipse">
              <a:avLst/>
            </a:prstGeom>
            <a:solidFill>
              <a:srgbClr val="9AA0A6"/>
            </a:solidFill>
            <a:ln>
              <a:noFill/>
            </a:ln>
          </p:spPr>
          <p:txBody>
            <a:bodyPr rtlCol="0" anchor="ctr"/>
            <a:lstStyle/>
            <a:p>
              <a:pPr algn="ctr"/>
              <a:endParaRPr/>
            </a:p>
          </p:txBody>
        </p:sp>
        <p:sp>
          <p:nvSpPr>
            <p:cNvPr id="46" name="frame"/>
            <p:cNvSpPr/>
            <p:nvPr/>
          </p:nvSpPr>
          <p:spPr>
            <a:xfrm>
              <a:off x="6428460" y="2503627"/>
              <a:ext cx="1207081" cy="59664"/>
            </a:xfrm>
            <a:prstGeom prst="rect">
              <a:avLst/>
            </a:prstGeom>
            <a:solidFill>
              <a:srgbClr val="3A3F47"/>
            </a:solidFill>
            <a:ln w="9525">
              <a:solidFill>
                <a:srgbClr val="9AA0A6"/>
              </a:solidFill>
            </a:ln>
          </p:spPr>
          <p:txBody>
            <a:bodyPr rtlCol="0" anchor="ctr"/>
            <a:lstStyle/>
            <a:p>
              <a:pPr algn="ctr"/>
              <a:endParaRPr/>
            </a:p>
          </p:txBody>
        </p:sp>
        <p:sp>
          <p:nvSpPr>
            <p:cNvPr id="47" name="cab"/>
            <p:cNvSpPr/>
            <p:nvPr/>
          </p:nvSpPr>
          <p:spPr>
            <a:xfrm>
              <a:off x="6428460" y="2052828"/>
              <a:ext cx="304952" cy="450799"/>
            </a:xfrm>
            <a:prstGeom prst="roundRect">
              <a:avLst>
                <a:gd name="adj" fmla="val 2173"/>
              </a:avLst>
            </a:prstGeom>
            <a:solidFill>
              <a:srgbClr val="D6619B"/>
            </a:solidFill>
            <a:ln>
              <a:noFill/>
            </a:ln>
          </p:spPr>
          <p:txBody>
            <a:bodyPr rtlCol="0" anchor="ctr"/>
            <a:lstStyle/>
            <a:p>
              <a:pPr algn="ctr"/>
              <a:endParaRPr/>
            </a:p>
          </p:txBody>
        </p:sp>
        <p:sp>
          <p:nvSpPr>
            <p:cNvPr id="48" name="cab roof"/>
            <p:cNvSpPr/>
            <p:nvPr/>
          </p:nvSpPr>
          <p:spPr>
            <a:xfrm>
              <a:off x="6401943" y="2013051"/>
              <a:ext cx="357987" cy="39776"/>
            </a:xfrm>
            <a:prstGeom prst="rect">
              <a:avLst/>
            </a:prstGeom>
            <a:solidFill>
              <a:srgbClr val="3A3F47"/>
            </a:solidFill>
            <a:ln w="9525">
              <a:solidFill>
                <a:srgbClr val="9AA0A6"/>
              </a:solidFill>
            </a:ln>
          </p:spPr>
          <p:txBody>
            <a:bodyPr rtlCol="0" anchor="ctr"/>
            <a:lstStyle/>
            <a:p>
              <a:pPr algn="ctr"/>
              <a:endParaRPr/>
            </a:p>
          </p:txBody>
        </p:sp>
        <p:sp>
          <p:nvSpPr>
            <p:cNvPr id="49" name="cab window"/>
            <p:cNvSpPr/>
            <p:nvPr/>
          </p:nvSpPr>
          <p:spPr>
            <a:xfrm>
              <a:off x="6501384" y="2119122"/>
              <a:ext cx="132588" cy="145846"/>
            </a:xfrm>
            <a:prstGeom prst="rect">
              <a:avLst/>
            </a:prstGeom>
            <a:solidFill>
              <a:srgbClr val="1B1D21"/>
            </a:solidFill>
            <a:ln>
              <a:noFill/>
            </a:ln>
          </p:spPr>
          <p:txBody>
            <a:bodyPr rtlCol="0" anchor="ctr"/>
            <a:lstStyle/>
            <a:p>
              <a:pPr algn="ctr"/>
              <a:endParaRPr/>
            </a:p>
          </p:txBody>
        </p:sp>
        <p:sp>
          <p:nvSpPr>
            <p:cNvPr id="50" name="boiler"/>
            <p:cNvSpPr/>
            <p:nvPr/>
          </p:nvSpPr>
          <p:spPr>
            <a:xfrm>
              <a:off x="6733413" y="2092604"/>
              <a:ext cx="676729" cy="331470"/>
            </a:xfrm>
            <a:prstGeom prst="roundRect">
              <a:avLst>
                <a:gd name="adj" fmla="val 22000"/>
              </a:avLst>
            </a:prstGeom>
            <a:solidFill>
              <a:srgbClr val="D6619B"/>
            </a:solidFill>
            <a:ln>
              <a:noFill/>
            </a:ln>
          </p:spPr>
          <p:txBody>
            <a:bodyPr rtlCol="0" anchor="ctr"/>
            <a:lstStyle/>
            <a:p>
              <a:pPr algn="ctr"/>
              <a:endParaRPr/>
            </a:p>
          </p:txBody>
        </p:sp>
        <p:sp>
          <p:nvSpPr>
            <p:cNvPr id="51" name="smokebox"/>
            <p:cNvSpPr/>
            <p:nvPr/>
          </p:nvSpPr>
          <p:spPr>
            <a:xfrm>
              <a:off x="7410142" y="2092604"/>
              <a:ext cx="159105" cy="331470"/>
            </a:xfrm>
            <a:prstGeom prst="roundRect">
              <a:avLst>
                <a:gd name="adj" fmla="val 10000"/>
              </a:avLst>
            </a:prstGeom>
            <a:solidFill>
              <a:srgbClr val="4A515B"/>
            </a:solidFill>
            <a:ln>
              <a:noFill/>
            </a:ln>
          </p:spPr>
          <p:txBody>
            <a:bodyPr rtlCol="0" anchor="ctr"/>
            <a:lstStyle/>
            <a:p>
              <a:pPr algn="ctr"/>
              <a:endParaRPr/>
            </a:p>
          </p:txBody>
        </p:sp>
        <p:sp>
          <p:nvSpPr>
            <p:cNvPr id="52" name="funnel stack"/>
            <p:cNvSpPr/>
            <p:nvPr/>
          </p:nvSpPr>
          <p:spPr>
            <a:xfrm>
              <a:off x="7403512" y="1867204"/>
              <a:ext cx="159106" cy="225400"/>
            </a:xfrm>
            <a:custGeom>
              <a:avLst/>
              <a:gdLst/>
              <a:ahLst/>
              <a:cxnLst/>
              <a:rect l="l" t="t" r="r" b="b"/>
              <a:pathLst>
                <a:path w="159106" h="225400">
                  <a:moveTo>
                    <a:pt x="53035" y="225400"/>
                  </a:moveTo>
                  <a:lnTo>
                    <a:pt x="53035" y="159106"/>
                  </a:lnTo>
                  <a:lnTo>
                    <a:pt x="0" y="0"/>
                  </a:lnTo>
                  <a:lnTo>
                    <a:pt x="159106" y="0"/>
                  </a:lnTo>
                  <a:lnTo>
                    <a:pt x="106071" y="159106"/>
                  </a:lnTo>
                  <a:lnTo>
                    <a:pt x="106071" y="225400"/>
                  </a:lnTo>
                  <a:close/>
                </a:path>
              </a:pathLst>
            </a:custGeom>
            <a:solidFill>
              <a:srgbClr val="3A3F47"/>
            </a:solidFill>
            <a:ln w="9525">
              <a:solidFill>
                <a:srgbClr val="9AA0A6"/>
              </a:solidFill>
            </a:ln>
          </p:spPr>
          <p:txBody>
            <a:bodyPr rtlCol="0" anchor="ctr"/>
            <a:lstStyle/>
            <a:p>
              <a:pPr algn="ctr"/>
              <a:endParaRPr/>
            </a:p>
          </p:txBody>
        </p:sp>
        <p:sp>
          <p:nvSpPr>
            <p:cNvPr id="53" name="headlamp"/>
            <p:cNvSpPr/>
            <p:nvPr/>
          </p:nvSpPr>
          <p:spPr>
            <a:xfrm>
              <a:off x="7529471" y="1986534"/>
              <a:ext cx="99440" cy="99440"/>
            </a:xfrm>
            <a:prstGeom prst="ellipse">
              <a:avLst/>
            </a:prstGeom>
            <a:solidFill>
              <a:srgbClr val="F2C14E"/>
            </a:solidFill>
            <a:ln w="12700">
              <a:solidFill>
                <a:srgbClr val="F2F2F2"/>
              </a:solidFill>
            </a:ln>
          </p:spPr>
          <p:txBody>
            <a:bodyPr rtlCol="0" anchor="ctr"/>
            <a:lstStyle/>
            <a:p>
              <a:pPr algn="ctr"/>
              <a:endParaRPr/>
            </a:p>
          </p:txBody>
        </p:sp>
        <p:sp>
          <p:nvSpPr>
            <p:cNvPr id="54" name="sand dome"/>
            <p:cNvSpPr/>
            <p:nvPr/>
          </p:nvSpPr>
          <p:spPr>
            <a:xfrm>
              <a:off x="6922897" y="2013051"/>
              <a:ext cx="119329" cy="79552"/>
            </a:xfrm>
            <a:prstGeom prst="roundRect">
              <a:avLst>
                <a:gd name="adj" fmla="val 33333"/>
              </a:avLst>
            </a:prstGeom>
            <a:solidFill>
              <a:srgbClr val="D6619B"/>
            </a:solidFill>
            <a:ln>
              <a:noFill/>
            </a:ln>
          </p:spPr>
          <p:txBody>
            <a:bodyPr rtlCol="0" anchor="ctr"/>
            <a:lstStyle/>
            <a:p>
              <a:pPr algn="ctr"/>
              <a:endParaRPr/>
            </a:p>
          </p:txBody>
        </p:sp>
        <p:sp>
          <p:nvSpPr>
            <p:cNvPr id="55" name="steam dome"/>
            <p:cNvSpPr/>
            <p:nvPr/>
          </p:nvSpPr>
          <p:spPr>
            <a:xfrm>
              <a:off x="7152985" y="1999792"/>
              <a:ext cx="132588" cy="92811"/>
            </a:xfrm>
            <a:prstGeom prst="roundRect">
              <a:avLst>
                <a:gd name="adj" fmla="val 28571"/>
              </a:avLst>
            </a:prstGeom>
            <a:solidFill>
              <a:srgbClr val="D6619B"/>
            </a:solidFill>
            <a:ln>
              <a:noFill/>
            </a:ln>
          </p:spPr>
          <p:txBody>
            <a:bodyPr rtlCol="0" anchor="ctr"/>
            <a:lstStyle/>
            <a:p>
              <a:pPr algn="ctr"/>
              <a:endParaRPr/>
            </a:p>
          </p:txBody>
        </p:sp>
        <p:sp>
          <p:nvSpPr>
            <p:cNvPr id="56" name="pilot"/>
            <p:cNvSpPr/>
            <p:nvPr/>
          </p:nvSpPr>
          <p:spPr>
            <a:xfrm>
              <a:off x="7569247" y="2510256"/>
              <a:ext cx="198882" cy="145847"/>
            </a:xfrm>
            <a:custGeom>
              <a:avLst/>
              <a:gdLst/>
              <a:ahLst/>
              <a:cxnLst/>
              <a:rect l="l" t="t" r="r" b="b"/>
              <a:pathLst>
                <a:path w="198882" h="145847">
                  <a:moveTo>
                    <a:pt x="0" y="0"/>
                  </a:moveTo>
                  <a:lnTo>
                    <a:pt x="198882" y="145847"/>
                  </a:lnTo>
                  <a:lnTo>
                    <a:pt x="0" y="145847"/>
                  </a:lnTo>
                  <a:close/>
                </a:path>
              </a:pathLst>
            </a:custGeom>
            <a:solidFill>
              <a:srgbClr val="3A3F47"/>
            </a:solidFill>
            <a:ln w="12700">
              <a:solidFill>
                <a:srgbClr val="9AA0A6"/>
              </a:solidFill>
            </a:ln>
          </p:spPr>
          <p:txBody>
            <a:bodyPr rtlCol="0" anchor="ctr"/>
            <a:lstStyle/>
            <a:p>
              <a:pPr algn="ctr"/>
              <a:endParaRPr/>
            </a:p>
          </p:txBody>
        </p:sp>
        <p:sp>
          <p:nvSpPr>
            <p:cNvPr id="57" name="bell"/>
            <p:cNvSpPr/>
            <p:nvPr/>
          </p:nvSpPr>
          <p:spPr>
            <a:xfrm>
              <a:off x="7032001" y="1933498"/>
              <a:ext cx="39776" cy="79552"/>
            </a:xfrm>
            <a:prstGeom prst="rect">
              <a:avLst/>
            </a:prstGeom>
            <a:solidFill>
              <a:srgbClr val="9AA0A6"/>
            </a:solidFill>
            <a:ln>
              <a:noFill/>
            </a:ln>
          </p:spPr>
          <p:txBody>
            <a:bodyPr rtlCol="0" anchor="ctr"/>
            <a:lstStyle/>
            <a:p>
              <a:pPr algn="ctr"/>
              <a:endParaRPr/>
            </a:p>
          </p:txBody>
        </p:sp>
        <p:sp>
          <p:nvSpPr>
            <p:cNvPr id="58" name="wheel"/>
            <p:cNvSpPr/>
            <p:nvPr/>
          </p:nvSpPr>
          <p:spPr>
            <a:xfrm>
              <a:off x="6488125" y="2490368"/>
              <a:ext cx="225399" cy="225399"/>
            </a:xfrm>
            <a:prstGeom prst="ellipse">
              <a:avLst/>
            </a:prstGeom>
            <a:solidFill>
              <a:srgbClr val="1B1D21"/>
            </a:solidFill>
            <a:ln w="19050">
              <a:solidFill>
                <a:srgbClr val="9AA0A6"/>
              </a:solidFill>
            </a:ln>
          </p:spPr>
          <p:txBody>
            <a:bodyPr rtlCol="0" anchor="ctr"/>
            <a:lstStyle/>
            <a:p>
              <a:pPr algn="ctr"/>
              <a:endParaRPr/>
            </a:p>
          </p:txBody>
        </p:sp>
        <p:sp>
          <p:nvSpPr>
            <p:cNvPr id="59" name="hub"/>
            <p:cNvSpPr/>
            <p:nvPr/>
          </p:nvSpPr>
          <p:spPr>
            <a:xfrm>
              <a:off x="6571523" y="2573766"/>
              <a:ext cx="58603" cy="58603"/>
            </a:xfrm>
            <a:prstGeom prst="ellipse">
              <a:avLst/>
            </a:prstGeom>
            <a:solidFill>
              <a:srgbClr val="9AA0A6"/>
            </a:solidFill>
            <a:ln>
              <a:noFill/>
            </a:ln>
          </p:spPr>
          <p:txBody>
            <a:bodyPr rtlCol="0" anchor="ctr"/>
            <a:lstStyle/>
            <a:p>
              <a:pPr algn="ctr"/>
              <a:endParaRPr/>
            </a:p>
          </p:txBody>
        </p:sp>
        <p:sp>
          <p:nvSpPr>
            <p:cNvPr id="60" name="wheel"/>
            <p:cNvSpPr/>
            <p:nvPr/>
          </p:nvSpPr>
          <p:spPr>
            <a:xfrm>
              <a:off x="6740572" y="2490368"/>
              <a:ext cx="225399" cy="225399"/>
            </a:xfrm>
            <a:prstGeom prst="ellipse">
              <a:avLst/>
            </a:prstGeom>
            <a:solidFill>
              <a:srgbClr val="1B1D21"/>
            </a:solidFill>
            <a:ln w="19050">
              <a:solidFill>
                <a:srgbClr val="9AA0A6"/>
              </a:solidFill>
            </a:ln>
          </p:spPr>
          <p:txBody>
            <a:bodyPr rtlCol="0" anchor="ctr"/>
            <a:lstStyle/>
            <a:p>
              <a:pPr algn="ctr"/>
              <a:endParaRPr/>
            </a:p>
          </p:txBody>
        </p:sp>
        <p:sp>
          <p:nvSpPr>
            <p:cNvPr id="61" name="hub"/>
            <p:cNvSpPr/>
            <p:nvPr/>
          </p:nvSpPr>
          <p:spPr>
            <a:xfrm>
              <a:off x="6823970" y="2573766"/>
              <a:ext cx="58603" cy="58603"/>
            </a:xfrm>
            <a:prstGeom prst="ellipse">
              <a:avLst/>
            </a:prstGeom>
            <a:solidFill>
              <a:srgbClr val="9AA0A6"/>
            </a:solidFill>
            <a:ln>
              <a:noFill/>
            </a:ln>
          </p:spPr>
          <p:txBody>
            <a:bodyPr rtlCol="0" anchor="ctr"/>
            <a:lstStyle/>
            <a:p>
              <a:pPr algn="ctr"/>
              <a:endParaRPr/>
            </a:p>
          </p:txBody>
        </p:sp>
        <p:sp>
          <p:nvSpPr>
            <p:cNvPr id="62" name="wheel"/>
            <p:cNvSpPr/>
            <p:nvPr/>
          </p:nvSpPr>
          <p:spPr>
            <a:xfrm>
              <a:off x="7304071" y="2583180"/>
              <a:ext cx="132588" cy="132588"/>
            </a:xfrm>
            <a:prstGeom prst="ellipse">
              <a:avLst/>
            </a:prstGeom>
            <a:solidFill>
              <a:srgbClr val="1B1D21"/>
            </a:solidFill>
            <a:ln w="19050">
              <a:solidFill>
                <a:srgbClr val="9AA0A6"/>
              </a:solidFill>
            </a:ln>
          </p:spPr>
          <p:txBody>
            <a:bodyPr rtlCol="0" anchor="ctr"/>
            <a:lstStyle/>
            <a:p>
              <a:pPr algn="ctr"/>
              <a:endParaRPr/>
            </a:p>
          </p:txBody>
        </p:sp>
        <p:sp>
          <p:nvSpPr>
            <p:cNvPr id="63" name="hub"/>
            <p:cNvSpPr/>
            <p:nvPr/>
          </p:nvSpPr>
          <p:spPr>
            <a:xfrm>
              <a:off x="7353129" y="2632237"/>
              <a:ext cx="34472" cy="34472"/>
            </a:xfrm>
            <a:prstGeom prst="ellipse">
              <a:avLst/>
            </a:prstGeom>
            <a:solidFill>
              <a:srgbClr val="9AA0A6"/>
            </a:solidFill>
            <a:ln>
              <a:noFill/>
            </a:ln>
          </p:spPr>
          <p:txBody>
            <a:bodyPr rtlCol="0" anchor="ctr"/>
            <a:lstStyle/>
            <a:p>
              <a:pPr algn="ctr"/>
              <a:endParaRPr/>
            </a:p>
          </p:txBody>
        </p:sp>
        <p:sp>
          <p:nvSpPr>
            <p:cNvPr id="64" name="wheel"/>
            <p:cNvSpPr/>
            <p:nvPr/>
          </p:nvSpPr>
          <p:spPr>
            <a:xfrm>
              <a:off x="7449918" y="2583180"/>
              <a:ext cx="132588" cy="132588"/>
            </a:xfrm>
            <a:prstGeom prst="ellipse">
              <a:avLst/>
            </a:prstGeom>
            <a:solidFill>
              <a:srgbClr val="1B1D21"/>
            </a:solidFill>
            <a:ln w="19050">
              <a:solidFill>
                <a:srgbClr val="9AA0A6"/>
              </a:solidFill>
            </a:ln>
          </p:spPr>
          <p:txBody>
            <a:bodyPr rtlCol="0" anchor="ctr"/>
            <a:lstStyle/>
            <a:p>
              <a:pPr algn="ctr"/>
              <a:endParaRPr/>
            </a:p>
          </p:txBody>
        </p:sp>
        <p:sp>
          <p:nvSpPr>
            <p:cNvPr id="65" name="hub"/>
            <p:cNvSpPr/>
            <p:nvPr/>
          </p:nvSpPr>
          <p:spPr>
            <a:xfrm>
              <a:off x="7498976" y="2632237"/>
              <a:ext cx="34472" cy="34472"/>
            </a:xfrm>
            <a:prstGeom prst="ellipse">
              <a:avLst/>
            </a:prstGeom>
            <a:solidFill>
              <a:srgbClr val="9AA0A6"/>
            </a:solidFill>
            <a:ln>
              <a:noFill/>
            </a:ln>
          </p:spPr>
          <p:txBody>
            <a:bodyPr rtlCol="0" anchor="ctr"/>
            <a:lstStyle/>
            <a:p>
              <a:pPr algn="ctr"/>
              <a:endParaRPr/>
            </a:p>
          </p:txBody>
        </p:sp>
        <p:sp>
          <p:nvSpPr>
            <p:cNvPr id="66" name="coupling rod"/>
            <p:cNvSpPr/>
            <p:nvPr/>
          </p:nvSpPr>
          <p:spPr>
            <a:xfrm>
              <a:off x="6600825" y="2527493"/>
              <a:ext cx="252447" cy="18562"/>
            </a:xfrm>
            <a:prstGeom prst="rect">
              <a:avLst/>
            </a:prstGeom>
            <a:solidFill>
              <a:srgbClr val="D0D4D8"/>
            </a:solidFill>
            <a:ln>
              <a:noFill/>
            </a:ln>
          </p:spPr>
          <p:txBody>
            <a:bodyPr rtlCol="0" anchor="ctr"/>
            <a:lstStyle/>
            <a:p>
              <a:pPr algn="ctr"/>
              <a:endParaRPr/>
            </a:p>
          </p:txBody>
        </p:sp>
        <p:sp>
          <p:nvSpPr>
            <p:cNvPr id="67" name="panel"/>
            <p:cNvSpPr/>
            <p:nvPr/>
          </p:nvSpPr>
          <p:spPr>
            <a:xfrm>
              <a:off x="8412480" y="1691640"/>
              <a:ext cx="3108960" cy="1207008"/>
            </a:xfrm>
            <a:prstGeom prst="roundRect">
              <a:avLst>
                <a:gd name="adj" fmla="val 7575"/>
              </a:avLst>
            </a:prstGeom>
            <a:solidFill>
              <a:srgbClr val="2B2F36"/>
            </a:solidFill>
            <a:ln w="19050">
              <a:solidFill>
                <a:srgbClr val="4A515B"/>
              </a:solidFill>
            </a:ln>
          </p:spPr>
          <p:txBody>
            <a:bodyPr rtlCol="0" anchor="ctr"/>
            <a:lstStyle/>
            <a:p>
              <a:pPr algn="ctr"/>
              <a:endParaRPr/>
            </a:p>
          </p:txBody>
        </p:sp>
        <p:sp>
          <p:nvSpPr>
            <p:cNvPr id="68" name="rail"/>
            <p:cNvSpPr/>
            <p:nvPr/>
          </p:nvSpPr>
          <p:spPr>
            <a:xfrm>
              <a:off x="8549640" y="2715768"/>
              <a:ext cx="2834640" cy="45720"/>
            </a:xfrm>
            <a:prstGeom prst="rect">
              <a:avLst/>
            </a:prstGeom>
            <a:solidFill>
              <a:srgbClr val="9AA0A6"/>
            </a:solidFill>
            <a:ln>
              <a:noFill/>
            </a:ln>
          </p:spPr>
          <p:txBody>
            <a:bodyPr rtlCol="0" anchor="ctr"/>
            <a:lstStyle/>
            <a:p>
              <a:pPr algn="ctr"/>
              <a:endParaRPr/>
            </a:p>
          </p:txBody>
        </p:sp>
        <p:sp>
          <p:nvSpPr>
            <p:cNvPr id="69" name="frame"/>
            <p:cNvSpPr/>
            <p:nvPr/>
          </p:nvSpPr>
          <p:spPr>
            <a:xfrm>
              <a:off x="9211208" y="2523515"/>
              <a:ext cx="1471726" cy="59664"/>
            </a:xfrm>
            <a:prstGeom prst="rect">
              <a:avLst/>
            </a:prstGeom>
            <a:solidFill>
              <a:srgbClr val="3A3F47"/>
            </a:solidFill>
            <a:ln w="9525">
              <a:solidFill>
                <a:srgbClr val="9AA0A6"/>
              </a:solidFill>
            </a:ln>
          </p:spPr>
          <p:txBody>
            <a:bodyPr rtlCol="0" anchor="ctr"/>
            <a:lstStyle/>
            <a:p>
              <a:pPr algn="ctr"/>
              <a:endParaRPr/>
            </a:p>
          </p:txBody>
        </p:sp>
        <p:sp>
          <p:nvSpPr>
            <p:cNvPr id="70" name="bunker"/>
            <p:cNvSpPr/>
            <p:nvPr/>
          </p:nvSpPr>
          <p:spPr>
            <a:xfrm>
              <a:off x="9211208" y="2264968"/>
              <a:ext cx="225399" cy="258546"/>
            </a:xfrm>
            <a:prstGeom prst="roundRect">
              <a:avLst>
                <a:gd name="adj" fmla="val 2941"/>
              </a:avLst>
            </a:prstGeom>
            <a:solidFill>
              <a:srgbClr val="D9B26F"/>
            </a:solidFill>
            <a:ln>
              <a:noFill/>
            </a:ln>
          </p:spPr>
          <p:txBody>
            <a:bodyPr rtlCol="0" anchor="ctr"/>
            <a:lstStyle/>
            <a:p>
              <a:pPr algn="ctr"/>
              <a:endParaRPr/>
            </a:p>
          </p:txBody>
        </p:sp>
        <p:sp>
          <p:nvSpPr>
            <p:cNvPr id="71" name="bunker coal"/>
            <p:cNvSpPr/>
            <p:nvPr/>
          </p:nvSpPr>
          <p:spPr>
            <a:xfrm>
              <a:off x="9224467" y="2198674"/>
              <a:ext cx="198882" cy="66294"/>
            </a:xfrm>
            <a:custGeom>
              <a:avLst/>
              <a:gdLst/>
              <a:ahLst/>
              <a:cxnLst/>
              <a:rect l="l" t="t" r="r" b="b"/>
              <a:pathLst>
                <a:path w="198882" h="66294">
                  <a:moveTo>
                    <a:pt x="0" y="66294"/>
                  </a:moveTo>
                  <a:lnTo>
                    <a:pt x="53035" y="6630"/>
                  </a:lnTo>
                  <a:lnTo>
                    <a:pt x="132588" y="0"/>
                  </a:lnTo>
                  <a:lnTo>
                    <a:pt x="198882" y="66294"/>
                  </a:lnTo>
                  <a:close/>
                </a:path>
              </a:pathLst>
            </a:custGeom>
            <a:solidFill>
              <a:srgbClr val="1B1D21"/>
            </a:solidFill>
            <a:ln w="12700">
              <a:solidFill>
                <a:srgbClr val="6B7078"/>
              </a:solidFill>
            </a:ln>
          </p:spPr>
          <p:txBody>
            <a:bodyPr rtlCol="0" anchor="ctr"/>
            <a:lstStyle/>
            <a:p>
              <a:pPr algn="ctr"/>
              <a:endParaRPr/>
            </a:p>
          </p:txBody>
        </p:sp>
        <p:sp>
          <p:nvSpPr>
            <p:cNvPr id="72" name="cab"/>
            <p:cNvSpPr/>
            <p:nvPr/>
          </p:nvSpPr>
          <p:spPr>
            <a:xfrm>
              <a:off x="9436607" y="2158898"/>
              <a:ext cx="265176" cy="364617"/>
            </a:xfrm>
            <a:prstGeom prst="roundRect">
              <a:avLst>
                <a:gd name="adj" fmla="val 2500"/>
              </a:avLst>
            </a:prstGeom>
            <a:solidFill>
              <a:srgbClr val="D9B26F"/>
            </a:solidFill>
            <a:ln>
              <a:noFill/>
            </a:ln>
          </p:spPr>
          <p:txBody>
            <a:bodyPr rtlCol="0" anchor="ctr"/>
            <a:lstStyle/>
            <a:p>
              <a:pPr algn="ctr"/>
              <a:endParaRPr/>
            </a:p>
          </p:txBody>
        </p:sp>
        <p:sp>
          <p:nvSpPr>
            <p:cNvPr id="73" name="cab roof"/>
            <p:cNvSpPr/>
            <p:nvPr/>
          </p:nvSpPr>
          <p:spPr>
            <a:xfrm>
              <a:off x="9423349" y="2125751"/>
              <a:ext cx="291693" cy="33147"/>
            </a:xfrm>
            <a:prstGeom prst="rect">
              <a:avLst/>
            </a:prstGeom>
            <a:solidFill>
              <a:srgbClr val="3A3F47"/>
            </a:solidFill>
            <a:ln w="9525">
              <a:solidFill>
                <a:srgbClr val="9AA0A6"/>
              </a:solidFill>
            </a:ln>
          </p:spPr>
          <p:txBody>
            <a:bodyPr rtlCol="0" anchor="ctr"/>
            <a:lstStyle/>
            <a:p>
              <a:pPr algn="ctr"/>
              <a:endParaRPr/>
            </a:p>
          </p:txBody>
        </p:sp>
        <p:sp>
          <p:nvSpPr>
            <p:cNvPr id="74" name="cab window"/>
            <p:cNvSpPr/>
            <p:nvPr/>
          </p:nvSpPr>
          <p:spPr>
            <a:xfrm>
              <a:off x="9502902" y="2211933"/>
              <a:ext cx="119329" cy="119329"/>
            </a:xfrm>
            <a:prstGeom prst="rect">
              <a:avLst/>
            </a:prstGeom>
            <a:solidFill>
              <a:srgbClr val="1B1D21"/>
            </a:solidFill>
            <a:ln>
              <a:noFill/>
            </a:ln>
          </p:spPr>
          <p:txBody>
            <a:bodyPr rtlCol="0" anchor="ctr"/>
            <a:lstStyle/>
            <a:p>
              <a:pPr algn="ctr"/>
              <a:endParaRPr/>
            </a:p>
          </p:txBody>
        </p:sp>
        <p:sp>
          <p:nvSpPr>
            <p:cNvPr id="75" name="boiler"/>
            <p:cNvSpPr/>
            <p:nvPr/>
          </p:nvSpPr>
          <p:spPr>
            <a:xfrm>
              <a:off x="9701784" y="2192045"/>
              <a:ext cx="848563" cy="265176"/>
            </a:xfrm>
            <a:prstGeom prst="roundRect">
              <a:avLst>
                <a:gd name="adj" fmla="val 25000"/>
              </a:avLst>
            </a:prstGeom>
            <a:solidFill>
              <a:srgbClr val="D9B26F"/>
            </a:solidFill>
            <a:ln>
              <a:noFill/>
            </a:ln>
          </p:spPr>
          <p:txBody>
            <a:bodyPr rtlCol="0" anchor="ctr"/>
            <a:lstStyle/>
            <a:p>
              <a:pPr algn="ctr"/>
              <a:endParaRPr/>
            </a:p>
          </p:txBody>
        </p:sp>
        <p:sp>
          <p:nvSpPr>
            <p:cNvPr id="76" name="side tank"/>
            <p:cNvSpPr/>
            <p:nvPr/>
          </p:nvSpPr>
          <p:spPr>
            <a:xfrm>
              <a:off x="9701784" y="2284857"/>
              <a:ext cx="782269" cy="232028"/>
            </a:xfrm>
            <a:prstGeom prst="roundRect">
              <a:avLst>
                <a:gd name="adj" fmla="val 14285"/>
              </a:avLst>
            </a:prstGeom>
            <a:solidFill>
              <a:srgbClr val="9C804F"/>
            </a:solidFill>
            <a:ln>
              <a:noFill/>
            </a:ln>
          </p:spPr>
          <p:txBody>
            <a:bodyPr rtlCol="0" anchor="ctr"/>
            <a:lstStyle/>
            <a:p>
              <a:pPr algn="ctr"/>
              <a:endParaRPr/>
            </a:p>
          </p:txBody>
        </p:sp>
        <p:sp>
          <p:nvSpPr>
            <p:cNvPr id="77" name="smokebox"/>
            <p:cNvSpPr/>
            <p:nvPr/>
          </p:nvSpPr>
          <p:spPr>
            <a:xfrm>
              <a:off x="10550347" y="2192045"/>
              <a:ext cx="132588" cy="265176"/>
            </a:xfrm>
            <a:prstGeom prst="roundRect">
              <a:avLst>
                <a:gd name="adj" fmla="val 12000"/>
              </a:avLst>
            </a:prstGeom>
            <a:solidFill>
              <a:srgbClr val="4A515B"/>
            </a:solidFill>
            <a:ln>
              <a:noFill/>
            </a:ln>
          </p:spPr>
          <p:txBody>
            <a:bodyPr rtlCol="0" anchor="ctr"/>
            <a:lstStyle/>
            <a:p>
              <a:pPr algn="ctr"/>
              <a:endParaRPr/>
            </a:p>
          </p:txBody>
        </p:sp>
        <p:sp>
          <p:nvSpPr>
            <p:cNvPr id="78" name="chimney"/>
            <p:cNvSpPr/>
            <p:nvPr/>
          </p:nvSpPr>
          <p:spPr>
            <a:xfrm>
              <a:off x="10576864" y="2052828"/>
              <a:ext cx="79552" cy="139217"/>
            </a:xfrm>
            <a:prstGeom prst="rect">
              <a:avLst/>
            </a:prstGeom>
            <a:solidFill>
              <a:srgbClr val="3A3F47"/>
            </a:solidFill>
            <a:ln w="9525">
              <a:solidFill>
                <a:srgbClr val="9AA0A6"/>
              </a:solidFill>
            </a:ln>
          </p:spPr>
          <p:txBody>
            <a:bodyPr rtlCol="0" anchor="ctr"/>
            <a:lstStyle/>
            <a:p>
              <a:pPr algn="ctr"/>
              <a:endParaRPr/>
            </a:p>
          </p:txBody>
        </p:sp>
        <p:sp>
          <p:nvSpPr>
            <p:cNvPr id="79" name="chimney lip"/>
            <p:cNvSpPr/>
            <p:nvPr/>
          </p:nvSpPr>
          <p:spPr>
            <a:xfrm>
              <a:off x="10556976" y="2032939"/>
              <a:ext cx="119329" cy="33147"/>
            </a:xfrm>
            <a:prstGeom prst="rect">
              <a:avLst/>
            </a:prstGeom>
            <a:solidFill>
              <a:srgbClr val="3A3F47"/>
            </a:solidFill>
            <a:ln w="9525">
              <a:solidFill>
                <a:srgbClr val="9AA0A6"/>
              </a:solidFill>
            </a:ln>
          </p:spPr>
          <p:txBody>
            <a:bodyPr rtlCol="0" anchor="ctr"/>
            <a:lstStyle/>
            <a:p>
              <a:pPr algn="ctr"/>
              <a:endParaRPr/>
            </a:p>
          </p:txBody>
        </p:sp>
        <p:sp>
          <p:nvSpPr>
            <p:cNvPr id="80" name="dome"/>
            <p:cNvSpPr/>
            <p:nvPr/>
          </p:nvSpPr>
          <p:spPr>
            <a:xfrm>
              <a:off x="10058180" y="2119122"/>
              <a:ext cx="119329" cy="72923"/>
            </a:xfrm>
            <a:prstGeom prst="roundRect">
              <a:avLst>
                <a:gd name="adj" fmla="val 36363"/>
              </a:avLst>
            </a:prstGeom>
            <a:solidFill>
              <a:srgbClr val="D9B26F"/>
            </a:solidFill>
            <a:ln>
              <a:noFill/>
            </a:ln>
          </p:spPr>
          <p:txBody>
            <a:bodyPr rtlCol="0" anchor="ctr"/>
            <a:lstStyle/>
            <a:p>
              <a:pPr algn="ctr"/>
              <a:endParaRPr/>
            </a:p>
          </p:txBody>
        </p:sp>
        <p:sp>
          <p:nvSpPr>
            <p:cNvPr id="81" name="slim chimney"/>
            <p:cNvSpPr/>
            <p:nvPr/>
          </p:nvSpPr>
          <p:spPr>
            <a:xfrm>
              <a:off x="10590123" y="1986534"/>
              <a:ext cx="53035" cy="79552"/>
            </a:xfrm>
            <a:prstGeom prst="rect">
              <a:avLst/>
            </a:prstGeom>
            <a:solidFill>
              <a:srgbClr val="3A3F47"/>
            </a:solidFill>
            <a:ln w="9525">
              <a:solidFill>
                <a:srgbClr val="9AA0A6"/>
              </a:solidFill>
            </a:ln>
          </p:spPr>
          <p:txBody>
            <a:bodyPr rtlCol="0" anchor="ctr"/>
            <a:lstStyle/>
            <a:p>
              <a:pPr algn="ctr"/>
              <a:endParaRPr/>
            </a:p>
          </p:txBody>
        </p:sp>
        <p:sp>
          <p:nvSpPr>
            <p:cNvPr id="82" name="smoke deflector"/>
            <p:cNvSpPr/>
            <p:nvPr/>
          </p:nvSpPr>
          <p:spPr>
            <a:xfrm>
              <a:off x="10377982" y="2013051"/>
              <a:ext cx="159106" cy="225400"/>
            </a:xfrm>
            <a:custGeom>
              <a:avLst/>
              <a:gdLst/>
              <a:ahLst/>
              <a:cxnLst/>
              <a:rect l="l" t="t" r="r" b="b"/>
              <a:pathLst>
                <a:path w="159106" h="225400">
                  <a:moveTo>
                    <a:pt x="0" y="225400"/>
                  </a:moveTo>
                  <a:lnTo>
                    <a:pt x="159106" y="225400"/>
                  </a:lnTo>
                  <a:lnTo>
                    <a:pt x="159106" y="0"/>
                  </a:lnTo>
                  <a:lnTo>
                    <a:pt x="26518" y="39777"/>
                  </a:lnTo>
                  <a:close/>
                </a:path>
              </a:pathLst>
            </a:custGeom>
            <a:solidFill>
              <a:srgbClr val="3A3F47"/>
            </a:solidFill>
            <a:ln w="12700">
              <a:solidFill>
                <a:srgbClr val="9AA0A6"/>
              </a:solidFill>
            </a:ln>
          </p:spPr>
          <p:txBody>
            <a:bodyPr rtlCol="0" anchor="ctr"/>
            <a:lstStyle/>
            <a:p>
              <a:pPr algn="ctr"/>
              <a:endParaRPr/>
            </a:p>
          </p:txBody>
        </p:sp>
        <p:sp>
          <p:nvSpPr>
            <p:cNvPr id="83" name="lamp"/>
            <p:cNvSpPr/>
            <p:nvPr/>
          </p:nvSpPr>
          <p:spPr>
            <a:xfrm>
              <a:off x="10649788" y="2424074"/>
              <a:ext cx="66294" cy="66294"/>
            </a:xfrm>
            <a:prstGeom prst="ellipse">
              <a:avLst/>
            </a:prstGeom>
            <a:solidFill>
              <a:srgbClr val="F2C14E"/>
            </a:solidFill>
            <a:ln>
              <a:noFill/>
            </a:ln>
          </p:spPr>
          <p:txBody>
            <a:bodyPr rtlCol="0" anchor="ctr"/>
            <a:lstStyle/>
            <a:p>
              <a:pPr algn="ctr"/>
              <a:endParaRPr/>
            </a:p>
          </p:txBody>
        </p:sp>
        <p:sp>
          <p:nvSpPr>
            <p:cNvPr id="84" name="wheel"/>
            <p:cNvSpPr/>
            <p:nvPr/>
          </p:nvSpPr>
          <p:spPr>
            <a:xfrm>
              <a:off x="9582454" y="2477109"/>
              <a:ext cx="238658" cy="238658"/>
            </a:xfrm>
            <a:prstGeom prst="ellipse">
              <a:avLst/>
            </a:prstGeom>
            <a:solidFill>
              <a:srgbClr val="1B1D21"/>
            </a:solidFill>
            <a:ln w="19050">
              <a:solidFill>
                <a:srgbClr val="9AA0A6"/>
              </a:solidFill>
            </a:ln>
          </p:spPr>
          <p:txBody>
            <a:bodyPr rtlCol="0" anchor="ctr"/>
            <a:lstStyle/>
            <a:p>
              <a:pPr algn="ctr"/>
              <a:endParaRPr/>
            </a:p>
          </p:txBody>
        </p:sp>
        <p:sp>
          <p:nvSpPr>
            <p:cNvPr id="85" name="hub"/>
            <p:cNvSpPr/>
            <p:nvPr/>
          </p:nvSpPr>
          <p:spPr>
            <a:xfrm>
              <a:off x="9670758" y="2565413"/>
              <a:ext cx="62051" cy="62051"/>
            </a:xfrm>
            <a:prstGeom prst="ellipse">
              <a:avLst/>
            </a:prstGeom>
            <a:solidFill>
              <a:srgbClr val="9AA0A6"/>
            </a:solidFill>
            <a:ln>
              <a:noFill/>
            </a:ln>
          </p:spPr>
          <p:txBody>
            <a:bodyPr rtlCol="0" anchor="ctr"/>
            <a:lstStyle/>
            <a:p>
              <a:pPr algn="ctr"/>
              <a:endParaRPr/>
            </a:p>
          </p:txBody>
        </p:sp>
        <p:sp>
          <p:nvSpPr>
            <p:cNvPr id="86" name="wheel"/>
            <p:cNvSpPr/>
            <p:nvPr/>
          </p:nvSpPr>
          <p:spPr>
            <a:xfrm>
              <a:off x="9847630" y="2477109"/>
              <a:ext cx="238658" cy="238658"/>
            </a:xfrm>
            <a:prstGeom prst="ellipse">
              <a:avLst/>
            </a:prstGeom>
            <a:solidFill>
              <a:srgbClr val="1B1D21"/>
            </a:solidFill>
            <a:ln w="19050">
              <a:solidFill>
                <a:srgbClr val="9AA0A6"/>
              </a:solidFill>
            </a:ln>
          </p:spPr>
          <p:txBody>
            <a:bodyPr rtlCol="0" anchor="ctr"/>
            <a:lstStyle/>
            <a:p>
              <a:pPr algn="ctr"/>
              <a:endParaRPr/>
            </a:p>
          </p:txBody>
        </p:sp>
        <p:sp>
          <p:nvSpPr>
            <p:cNvPr id="87" name="hub"/>
            <p:cNvSpPr/>
            <p:nvPr/>
          </p:nvSpPr>
          <p:spPr>
            <a:xfrm>
              <a:off x="9935934" y="2565413"/>
              <a:ext cx="62051" cy="62051"/>
            </a:xfrm>
            <a:prstGeom prst="ellipse">
              <a:avLst/>
            </a:prstGeom>
            <a:solidFill>
              <a:srgbClr val="9AA0A6"/>
            </a:solidFill>
            <a:ln>
              <a:noFill/>
            </a:ln>
          </p:spPr>
          <p:txBody>
            <a:bodyPr rtlCol="0" anchor="ctr"/>
            <a:lstStyle/>
            <a:p>
              <a:pPr algn="ctr"/>
              <a:endParaRPr/>
            </a:p>
          </p:txBody>
        </p:sp>
        <p:sp>
          <p:nvSpPr>
            <p:cNvPr id="88" name="wheel"/>
            <p:cNvSpPr/>
            <p:nvPr/>
          </p:nvSpPr>
          <p:spPr>
            <a:xfrm>
              <a:off x="10112806" y="2477109"/>
              <a:ext cx="238658" cy="238658"/>
            </a:xfrm>
            <a:prstGeom prst="ellipse">
              <a:avLst/>
            </a:prstGeom>
            <a:solidFill>
              <a:srgbClr val="1B1D21"/>
            </a:solidFill>
            <a:ln w="19050">
              <a:solidFill>
                <a:srgbClr val="9AA0A6"/>
              </a:solidFill>
            </a:ln>
          </p:spPr>
          <p:txBody>
            <a:bodyPr rtlCol="0" anchor="ctr"/>
            <a:lstStyle/>
            <a:p>
              <a:pPr algn="ctr"/>
              <a:endParaRPr/>
            </a:p>
          </p:txBody>
        </p:sp>
        <p:sp>
          <p:nvSpPr>
            <p:cNvPr id="89" name="hub"/>
            <p:cNvSpPr/>
            <p:nvPr/>
          </p:nvSpPr>
          <p:spPr>
            <a:xfrm>
              <a:off x="10201110" y="2565413"/>
              <a:ext cx="62051" cy="62051"/>
            </a:xfrm>
            <a:prstGeom prst="ellipse">
              <a:avLst/>
            </a:prstGeom>
            <a:solidFill>
              <a:srgbClr val="9AA0A6"/>
            </a:solidFill>
            <a:ln>
              <a:noFill/>
            </a:ln>
          </p:spPr>
          <p:txBody>
            <a:bodyPr rtlCol="0" anchor="ctr"/>
            <a:lstStyle/>
            <a:p>
              <a:pPr algn="ctr"/>
              <a:endParaRPr/>
            </a:p>
          </p:txBody>
        </p:sp>
        <p:sp>
          <p:nvSpPr>
            <p:cNvPr id="90" name="coupling rod"/>
            <p:cNvSpPr/>
            <p:nvPr/>
          </p:nvSpPr>
          <p:spPr>
            <a:xfrm>
              <a:off x="9701784" y="2527493"/>
              <a:ext cx="530352" cy="18562"/>
            </a:xfrm>
            <a:prstGeom prst="rect">
              <a:avLst/>
            </a:prstGeom>
            <a:solidFill>
              <a:srgbClr val="D0D4D8"/>
            </a:solidFill>
            <a:ln>
              <a:noFill/>
            </a:ln>
          </p:spPr>
          <p:txBody>
            <a:bodyPr rtlCol="0" anchor="ctr"/>
            <a:lstStyle/>
            <a:p>
              <a:pPr algn="ctr"/>
              <a:endParaRPr/>
            </a:p>
          </p:txBody>
        </p:sp>
        <p:sp>
          <p:nvSpPr>
            <p:cNvPr id="91" name="buffer beam"/>
            <p:cNvSpPr/>
            <p:nvPr/>
          </p:nvSpPr>
          <p:spPr>
            <a:xfrm>
              <a:off x="10682935" y="2463850"/>
              <a:ext cx="39776" cy="119329"/>
            </a:xfrm>
            <a:prstGeom prst="rect">
              <a:avLst/>
            </a:prstGeom>
            <a:solidFill>
              <a:srgbClr val="9AA0A6"/>
            </a:solidFill>
            <a:ln>
              <a:noFill/>
            </a:ln>
          </p:spPr>
          <p:txBody>
            <a:bodyPr rtlCol="0" anchor="ctr"/>
            <a:lstStyle/>
            <a:p>
              <a:pPr algn="ctr"/>
              <a:endParaRPr/>
            </a:p>
          </p:txBody>
        </p:sp>
        <p:sp>
          <p:nvSpPr>
            <p:cNvPr id="92" name="row heading"/>
            <p:cNvSpPr txBox="1"/>
            <p:nvPr/>
          </p:nvSpPr>
          <p:spPr>
            <a:xfrm>
              <a:off x="548640" y="2971800"/>
              <a:ext cx="1417320" cy="1207008"/>
            </a:xfrm>
            <a:prstGeom prst="rect">
              <a:avLst/>
            </a:prstGeom>
            <a:noFill/>
          </p:spPr>
          <p:txBody>
            <a:bodyPr wrap="square" lIns="18288" tIns="9144" rIns="18288" bIns="9144" anchor="ctr">
              <a:noAutofit/>
            </a:bodyPr>
            <a:lstStyle/>
            <a:p>
              <a:pPr algn="l"/>
              <a:r>
                <a:rPr lang="en-GB" sz="2000" b="1" i="0">
                  <a:solidFill>
                    <a:srgbClr val="F2F2F2"/>
                  </a:solidFill>
                  <a:latin typeface="Arial"/>
                </a:rPr>
                <a:t>Medium</a:t>
              </a:r>
            </a:p>
          </p:txBody>
        </p:sp>
        <p:sp>
          <p:nvSpPr>
            <p:cNvPr id="93" name="panel"/>
            <p:cNvSpPr/>
            <p:nvPr/>
          </p:nvSpPr>
          <p:spPr>
            <a:xfrm>
              <a:off x="2011680" y="2971800"/>
              <a:ext cx="3108960" cy="1207008"/>
            </a:xfrm>
            <a:prstGeom prst="roundRect">
              <a:avLst>
                <a:gd name="adj" fmla="val 7575"/>
              </a:avLst>
            </a:prstGeom>
            <a:solidFill>
              <a:srgbClr val="2B2F36"/>
            </a:solidFill>
            <a:ln w="19050">
              <a:solidFill>
                <a:srgbClr val="4A515B"/>
              </a:solidFill>
            </a:ln>
          </p:spPr>
          <p:txBody>
            <a:bodyPr rtlCol="0" anchor="ctr"/>
            <a:lstStyle/>
            <a:p>
              <a:pPr algn="ctr"/>
              <a:endParaRPr/>
            </a:p>
          </p:txBody>
        </p:sp>
        <p:sp>
          <p:nvSpPr>
            <p:cNvPr id="94" name="rail"/>
            <p:cNvSpPr/>
            <p:nvPr/>
          </p:nvSpPr>
          <p:spPr>
            <a:xfrm>
              <a:off x="2148840" y="3995928"/>
              <a:ext cx="2834640" cy="45720"/>
            </a:xfrm>
            <a:prstGeom prst="rect">
              <a:avLst/>
            </a:prstGeom>
            <a:solidFill>
              <a:srgbClr val="9AA0A6"/>
            </a:solidFill>
            <a:ln>
              <a:noFill/>
            </a:ln>
          </p:spPr>
          <p:txBody>
            <a:bodyPr rtlCol="0" anchor="ctr"/>
            <a:lstStyle/>
            <a:p>
              <a:pPr algn="ctr"/>
              <a:endParaRPr/>
            </a:p>
          </p:txBody>
        </p:sp>
        <p:sp>
          <p:nvSpPr>
            <p:cNvPr id="95" name="tender frame"/>
            <p:cNvSpPr/>
            <p:nvPr/>
          </p:nvSpPr>
          <p:spPr>
            <a:xfrm>
              <a:off x="2379497" y="3803675"/>
              <a:ext cx="543610" cy="59664"/>
            </a:xfrm>
            <a:prstGeom prst="rect">
              <a:avLst/>
            </a:prstGeom>
            <a:solidFill>
              <a:srgbClr val="3A3F47"/>
            </a:solidFill>
            <a:ln w="9525">
              <a:solidFill>
                <a:srgbClr val="9AA0A6"/>
              </a:solidFill>
            </a:ln>
          </p:spPr>
          <p:txBody>
            <a:bodyPr rtlCol="0" anchor="ctr"/>
            <a:lstStyle/>
            <a:p>
              <a:pPr algn="ctr"/>
              <a:endParaRPr/>
            </a:p>
          </p:txBody>
        </p:sp>
        <p:sp>
          <p:nvSpPr>
            <p:cNvPr id="96" name="tender body"/>
            <p:cNvSpPr/>
            <p:nvPr/>
          </p:nvSpPr>
          <p:spPr>
            <a:xfrm>
              <a:off x="2379497" y="3584905"/>
              <a:ext cx="543610" cy="218770"/>
            </a:xfrm>
            <a:prstGeom prst="roundRect">
              <a:avLst>
                <a:gd name="adj" fmla="val 3030"/>
              </a:avLst>
            </a:prstGeom>
            <a:solidFill>
              <a:srgbClr val="2BB5B0"/>
            </a:solidFill>
            <a:ln>
              <a:noFill/>
            </a:ln>
          </p:spPr>
          <p:txBody>
            <a:bodyPr rtlCol="0" anchor="ctr"/>
            <a:lstStyle/>
            <a:p>
              <a:pPr algn="ctr"/>
              <a:endParaRPr/>
            </a:p>
          </p:txBody>
        </p:sp>
        <p:sp>
          <p:nvSpPr>
            <p:cNvPr id="97" name="tender coal"/>
            <p:cNvSpPr/>
            <p:nvPr/>
          </p:nvSpPr>
          <p:spPr>
            <a:xfrm>
              <a:off x="2399385" y="3492093"/>
              <a:ext cx="503835" cy="92812"/>
            </a:xfrm>
            <a:custGeom>
              <a:avLst/>
              <a:gdLst/>
              <a:ahLst/>
              <a:cxnLst/>
              <a:rect l="l" t="t" r="r" b="b"/>
              <a:pathLst>
                <a:path w="503835" h="92812">
                  <a:moveTo>
                    <a:pt x="0" y="92812"/>
                  </a:moveTo>
                  <a:lnTo>
                    <a:pt x="99441" y="6630"/>
                  </a:lnTo>
                  <a:lnTo>
                    <a:pt x="298323" y="0"/>
                  </a:lnTo>
                  <a:lnTo>
                    <a:pt x="503835" y="92812"/>
                  </a:lnTo>
                  <a:close/>
                </a:path>
              </a:pathLst>
            </a:custGeom>
            <a:solidFill>
              <a:srgbClr val="1B1D21"/>
            </a:solidFill>
            <a:ln w="12700">
              <a:solidFill>
                <a:srgbClr val="6B7078"/>
              </a:solidFill>
            </a:ln>
          </p:spPr>
          <p:txBody>
            <a:bodyPr rtlCol="0" anchor="ctr"/>
            <a:lstStyle/>
            <a:p>
              <a:pPr algn="ctr"/>
              <a:endParaRPr/>
            </a:p>
          </p:txBody>
        </p:sp>
        <p:sp>
          <p:nvSpPr>
            <p:cNvPr id="98" name="coupling"/>
            <p:cNvSpPr/>
            <p:nvPr/>
          </p:nvSpPr>
          <p:spPr>
            <a:xfrm>
              <a:off x="2923108" y="3724122"/>
              <a:ext cx="46405" cy="19888"/>
            </a:xfrm>
            <a:prstGeom prst="rect">
              <a:avLst/>
            </a:prstGeom>
            <a:solidFill>
              <a:srgbClr val="9AA0A6"/>
            </a:solidFill>
            <a:ln>
              <a:noFill/>
            </a:ln>
          </p:spPr>
          <p:txBody>
            <a:bodyPr rtlCol="0" anchor="ctr"/>
            <a:lstStyle/>
            <a:p>
              <a:pPr algn="ctr"/>
              <a:endParaRPr/>
            </a:p>
          </p:txBody>
        </p:sp>
        <p:sp>
          <p:nvSpPr>
            <p:cNvPr id="99" name="wheel"/>
            <p:cNvSpPr/>
            <p:nvPr/>
          </p:nvSpPr>
          <p:spPr>
            <a:xfrm>
              <a:off x="2419273" y="381030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100" name="hub"/>
            <p:cNvSpPr/>
            <p:nvPr/>
          </p:nvSpPr>
          <p:spPr>
            <a:xfrm>
              <a:off x="2487954" y="3878985"/>
              <a:ext cx="48262" cy="48262"/>
            </a:xfrm>
            <a:prstGeom prst="ellipse">
              <a:avLst/>
            </a:prstGeom>
            <a:solidFill>
              <a:srgbClr val="9AA0A6"/>
            </a:solidFill>
            <a:ln>
              <a:noFill/>
            </a:ln>
          </p:spPr>
          <p:txBody>
            <a:bodyPr rtlCol="0" anchor="ctr"/>
            <a:lstStyle/>
            <a:p>
              <a:pPr algn="ctr"/>
              <a:endParaRPr/>
            </a:p>
          </p:txBody>
        </p:sp>
        <p:sp>
          <p:nvSpPr>
            <p:cNvPr id="101" name="wheel"/>
            <p:cNvSpPr/>
            <p:nvPr/>
          </p:nvSpPr>
          <p:spPr>
            <a:xfrm>
              <a:off x="2697708" y="381030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102" name="hub"/>
            <p:cNvSpPr/>
            <p:nvPr/>
          </p:nvSpPr>
          <p:spPr>
            <a:xfrm>
              <a:off x="2766389" y="3878985"/>
              <a:ext cx="48262" cy="48262"/>
            </a:xfrm>
            <a:prstGeom prst="ellipse">
              <a:avLst/>
            </a:prstGeom>
            <a:solidFill>
              <a:srgbClr val="9AA0A6"/>
            </a:solidFill>
            <a:ln>
              <a:noFill/>
            </a:ln>
          </p:spPr>
          <p:txBody>
            <a:bodyPr rtlCol="0" anchor="ctr"/>
            <a:lstStyle/>
            <a:p>
              <a:pPr algn="ctr"/>
              <a:endParaRPr/>
            </a:p>
          </p:txBody>
        </p:sp>
        <p:sp>
          <p:nvSpPr>
            <p:cNvPr id="103" name="frame"/>
            <p:cNvSpPr/>
            <p:nvPr/>
          </p:nvSpPr>
          <p:spPr>
            <a:xfrm>
              <a:off x="2969514" y="3803675"/>
              <a:ext cx="1743532" cy="59664"/>
            </a:xfrm>
            <a:prstGeom prst="rect">
              <a:avLst/>
            </a:prstGeom>
            <a:solidFill>
              <a:srgbClr val="3A3F47"/>
            </a:solidFill>
            <a:ln w="9525">
              <a:solidFill>
                <a:srgbClr val="9AA0A6"/>
              </a:solidFill>
            </a:ln>
          </p:spPr>
          <p:txBody>
            <a:bodyPr rtlCol="0" anchor="ctr"/>
            <a:lstStyle/>
            <a:p>
              <a:pPr algn="ctr"/>
              <a:endParaRPr/>
            </a:p>
          </p:txBody>
        </p:sp>
        <p:sp>
          <p:nvSpPr>
            <p:cNvPr id="104" name="cab"/>
            <p:cNvSpPr/>
            <p:nvPr/>
          </p:nvSpPr>
          <p:spPr>
            <a:xfrm>
              <a:off x="2969514" y="3439058"/>
              <a:ext cx="265176" cy="364617"/>
            </a:xfrm>
            <a:prstGeom prst="roundRect">
              <a:avLst>
                <a:gd name="adj" fmla="val 2500"/>
              </a:avLst>
            </a:prstGeom>
            <a:solidFill>
              <a:srgbClr val="2BB5B0"/>
            </a:solidFill>
            <a:ln>
              <a:noFill/>
            </a:ln>
          </p:spPr>
          <p:txBody>
            <a:bodyPr rtlCol="0" anchor="ctr"/>
            <a:lstStyle/>
            <a:p>
              <a:pPr algn="ctr"/>
              <a:endParaRPr/>
            </a:p>
          </p:txBody>
        </p:sp>
        <p:sp>
          <p:nvSpPr>
            <p:cNvPr id="105" name="cab roof"/>
            <p:cNvSpPr/>
            <p:nvPr/>
          </p:nvSpPr>
          <p:spPr>
            <a:xfrm>
              <a:off x="2956255" y="3405911"/>
              <a:ext cx="291693" cy="33147"/>
            </a:xfrm>
            <a:prstGeom prst="rect">
              <a:avLst/>
            </a:prstGeom>
            <a:solidFill>
              <a:srgbClr val="3A3F47"/>
            </a:solidFill>
            <a:ln w="9525">
              <a:solidFill>
                <a:srgbClr val="9AA0A6"/>
              </a:solidFill>
            </a:ln>
          </p:spPr>
          <p:txBody>
            <a:bodyPr rtlCol="0" anchor="ctr"/>
            <a:lstStyle/>
            <a:p>
              <a:pPr algn="ctr"/>
              <a:endParaRPr/>
            </a:p>
          </p:txBody>
        </p:sp>
        <p:sp>
          <p:nvSpPr>
            <p:cNvPr id="106" name="cab window"/>
            <p:cNvSpPr/>
            <p:nvPr/>
          </p:nvSpPr>
          <p:spPr>
            <a:xfrm>
              <a:off x="3035808" y="3492093"/>
              <a:ext cx="119329" cy="119329"/>
            </a:xfrm>
            <a:prstGeom prst="rect">
              <a:avLst/>
            </a:prstGeom>
            <a:solidFill>
              <a:srgbClr val="1B1D21"/>
            </a:solidFill>
            <a:ln>
              <a:noFill/>
            </a:ln>
          </p:spPr>
          <p:txBody>
            <a:bodyPr rtlCol="0" anchor="ctr"/>
            <a:lstStyle/>
            <a:p>
              <a:pPr algn="ctr"/>
              <a:endParaRPr/>
            </a:p>
          </p:txBody>
        </p:sp>
        <p:sp>
          <p:nvSpPr>
            <p:cNvPr id="107" name="boiler"/>
            <p:cNvSpPr/>
            <p:nvPr/>
          </p:nvSpPr>
          <p:spPr>
            <a:xfrm>
              <a:off x="3234690" y="3472205"/>
              <a:ext cx="1345768" cy="265176"/>
            </a:xfrm>
            <a:prstGeom prst="roundRect">
              <a:avLst>
                <a:gd name="adj" fmla="val 25000"/>
              </a:avLst>
            </a:prstGeom>
            <a:solidFill>
              <a:srgbClr val="2BB5B0"/>
            </a:solidFill>
            <a:ln>
              <a:noFill/>
            </a:ln>
          </p:spPr>
          <p:txBody>
            <a:bodyPr rtlCol="0" anchor="ctr"/>
            <a:lstStyle/>
            <a:p>
              <a:pPr algn="ctr"/>
              <a:endParaRPr/>
            </a:p>
          </p:txBody>
        </p:sp>
        <p:sp>
          <p:nvSpPr>
            <p:cNvPr id="108" name="boiler band"/>
            <p:cNvSpPr/>
            <p:nvPr/>
          </p:nvSpPr>
          <p:spPr>
            <a:xfrm>
              <a:off x="3638420" y="3472205"/>
              <a:ext cx="9281" cy="265176"/>
            </a:xfrm>
            <a:prstGeom prst="rect">
              <a:avLst/>
            </a:prstGeom>
            <a:solidFill>
              <a:srgbClr val="1E827E"/>
            </a:solidFill>
            <a:ln>
              <a:noFill/>
            </a:ln>
          </p:spPr>
          <p:txBody>
            <a:bodyPr rtlCol="0" anchor="ctr"/>
            <a:lstStyle/>
            <a:p>
              <a:pPr algn="ctr"/>
              <a:endParaRPr/>
            </a:p>
          </p:txBody>
        </p:sp>
        <p:sp>
          <p:nvSpPr>
            <p:cNvPr id="109" name="boiler band"/>
            <p:cNvSpPr/>
            <p:nvPr/>
          </p:nvSpPr>
          <p:spPr>
            <a:xfrm>
              <a:off x="3974862" y="3472205"/>
              <a:ext cx="9281" cy="265176"/>
            </a:xfrm>
            <a:prstGeom prst="rect">
              <a:avLst/>
            </a:prstGeom>
            <a:solidFill>
              <a:srgbClr val="1E827E"/>
            </a:solidFill>
            <a:ln>
              <a:noFill/>
            </a:ln>
          </p:spPr>
          <p:txBody>
            <a:bodyPr rtlCol="0" anchor="ctr"/>
            <a:lstStyle/>
            <a:p>
              <a:pPr algn="ctr"/>
              <a:endParaRPr/>
            </a:p>
          </p:txBody>
        </p:sp>
        <p:sp>
          <p:nvSpPr>
            <p:cNvPr id="110" name="boiler band"/>
            <p:cNvSpPr/>
            <p:nvPr/>
          </p:nvSpPr>
          <p:spPr>
            <a:xfrm>
              <a:off x="4311304" y="3472205"/>
              <a:ext cx="9281" cy="265176"/>
            </a:xfrm>
            <a:prstGeom prst="rect">
              <a:avLst/>
            </a:prstGeom>
            <a:solidFill>
              <a:srgbClr val="1E827E"/>
            </a:solidFill>
            <a:ln>
              <a:noFill/>
            </a:ln>
          </p:spPr>
          <p:txBody>
            <a:bodyPr rtlCol="0" anchor="ctr"/>
            <a:lstStyle/>
            <a:p>
              <a:pPr algn="ctr"/>
              <a:endParaRPr/>
            </a:p>
          </p:txBody>
        </p:sp>
        <p:sp>
          <p:nvSpPr>
            <p:cNvPr id="111" name="smokebox"/>
            <p:cNvSpPr/>
            <p:nvPr/>
          </p:nvSpPr>
          <p:spPr>
            <a:xfrm>
              <a:off x="4580458" y="3472205"/>
              <a:ext cx="132588" cy="265176"/>
            </a:xfrm>
            <a:prstGeom prst="roundRect">
              <a:avLst>
                <a:gd name="adj" fmla="val 12000"/>
              </a:avLst>
            </a:prstGeom>
            <a:solidFill>
              <a:srgbClr val="4A515B"/>
            </a:solidFill>
            <a:ln>
              <a:noFill/>
            </a:ln>
          </p:spPr>
          <p:txBody>
            <a:bodyPr rtlCol="0" anchor="ctr"/>
            <a:lstStyle/>
            <a:p>
              <a:pPr algn="ctr"/>
              <a:endParaRPr/>
            </a:p>
          </p:txBody>
        </p:sp>
        <p:sp>
          <p:nvSpPr>
            <p:cNvPr id="112" name="chimney"/>
            <p:cNvSpPr/>
            <p:nvPr/>
          </p:nvSpPr>
          <p:spPr>
            <a:xfrm>
              <a:off x="4606975" y="3332988"/>
              <a:ext cx="79552" cy="139217"/>
            </a:xfrm>
            <a:prstGeom prst="rect">
              <a:avLst/>
            </a:prstGeom>
            <a:solidFill>
              <a:srgbClr val="3A3F47"/>
            </a:solidFill>
            <a:ln w="9525">
              <a:solidFill>
                <a:srgbClr val="9AA0A6"/>
              </a:solidFill>
            </a:ln>
          </p:spPr>
          <p:txBody>
            <a:bodyPr rtlCol="0" anchor="ctr"/>
            <a:lstStyle/>
            <a:p>
              <a:pPr algn="ctr"/>
              <a:endParaRPr/>
            </a:p>
          </p:txBody>
        </p:sp>
        <p:sp>
          <p:nvSpPr>
            <p:cNvPr id="113" name="chimney lip"/>
            <p:cNvSpPr/>
            <p:nvPr/>
          </p:nvSpPr>
          <p:spPr>
            <a:xfrm>
              <a:off x="4587087" y="3313099"/>
              <a:ext cx="119329" cy="33147"/>
            </a:xfrm>
            <a:prstGeom prst="rect">
              <a:avLst/>
            </a:prstGeom>
            <a:solidFill>
              <a:srgbClr val="3A3F47"/>
            </a:solidFill>
            <a:ln w="9525">
              <a:solidFill>
                <a:srgbClr val="9AA0A6"/>
              </a:solidFill>
            </a:ln>
          </p:spPr>
          <p:txBody>
            <a:bodyPr rtlCol="0" anchor="ctr"/>
            <a:lstStyle/>
            <a:p>
              <a:pPr algn="ctr"/>
              <a:endParaRPr/>
            </a:p>
          </p:txBody>
        </p:sp>
        <p:sp>
          <p:nvSpPr>
            <p:cNvPr id="114" name="dome"/>
            <p:cNvSpPr/>
            <p:nvPr/>
          </p:nvSpPr>
          <p:spPr>
            <a:xfrm>
              <a:off x="3772997" y="3399282"/>
              <a:ext cx="119329" cy="72923"/>
            </a:xfrm>
            <a:prstGeom prst="roundRect">
              <a:avLst>
                <a:gd name="adj" fmla="val 36363"/>
              </a:avLst>
            </a:prstGeom>
            <a:solidFill>
              <a:srgbClr val="2BB5B0"/>
            </a:solidFill>
            <a:ln>
              <a:noFill/>
            </a:ln>
          </p:spPr>
          <p:txBody>
            <a:bodyPr rtlCol="0" anchor="ctr"/>
            <a:lstStyle/>
            <a:p>
              <a:pPr algn="ctr"/>
              <a:endParaRPr/>
            </a:p>
          </p:txBody>
        </p:sp>
        <p:sp>
          <p:nvSpPr>
            <p:cNvPr id="115" name="wheel"/>
            <p:cNvSpPr/>
            <p:nvPr/>
          </p:nvSpPr>
          <p:spPr>
            <a:xfrm>
              <a:off x="2989402" y="373075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116" name="hub"/>
            <p:cNvSpPr/>
            <p:nvPr/>
          </p:nvSpPr>
          <p:spPr>
            <a:xfrm>
              <a:off x="3087517" y="3828867"/>
              <a:ext cx="68945" cy="68945"/>
            </a:xfrm>
            <a:prstGeom prst="ellipse">
              <a:avLst/>
            </a:prstGeom>
            <a:solidFill>
              <a:srgbClr val="9AA0A6"/>
            </a:solidFill>
            <a:ln>
              <a:noFill/>
            </a:ln>
          </p:spPr>
          <p:txBody>
            <a:bodyPr rtlCol="0" anchor="ctr"/>
            <a:lstStyle/>
            <a:p>
              <a:pPr algn="ctr"/>
              <a:endParaRPr/>
            </a:p>
          </p:txBody>
        </p:sp>
        <p:sp>
          <p:nvSpPr>
            <p:cNvPr id="117" name="wheel"/>
            <p:cNvSpPr/>
            <p:nvPr/>
          </p:nvSpPr>
          <p:spPr>
            <a:xfrm>
              <a:off x="3287725" y="373075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118" name="hub"/>
            <p:cNvSpPr/>
            <p:nvPr/>
          </p:nvSpPr>
          <p:spPr>
            <a:xfrm>
              <a:off x="3385840" y="3828867"/>
              <a:ext cx="68945" cy="68945"/>
            </a:xfrm>
            <a:prstGeom prst="ellipse">
              <a:avLst/>
            </a:prstGeom>
            <a:solidFill>
              <a:srgbClr val="9AA0A6"/>
            </a:solidFill>
            <a:ln>
              <a:noFill/>
            </a:ln>
          </p:spPr>
          <p:txBody>
            <a:bodyPr rtlCol="0" anchor="ctr"/>
            <a:lstStyle/>
            <a:p>
              <a:pPr algn="ctr"/>
              <a:endParaRPr/>
            </a:p>
          </p:txBody>
        </p:sp>
        <p:sp>
          <p:nvSpPr>
            <p:cNvPr id="119" name="wheel"/>
            <p:cNvSpPr/>
            <p:nvPr/>
          </p:nvSpPr>
          <p:spPr>
            <a:xfrm>
              <a:off x="3586048" y="373075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120" name="hub"/>
            <p:cNvSpPr/>
            <p:nvPr/>
          </p:nvSpPr>
          <p:spPr>
            <a:xfrm>
              <a:off x="3684163" y="3828867"/>
              <a:ext cx="68945" cy="68945"/>
            </a:xfrm>
            <a:prstGeom prst="ellipse">
              <a:avLst/>
            </a:prstGeom>
            <a:solidFill>
              <a:srgbClr val="9AA0A6"/>
            </a:solidFill>
            <a:ln>
              <a:noFill/>
            </a:ln>
          </p:spPr>
          <p:txBody>
            <a:bodyPr rtlCol="0" anchor="ctr"/>
            <a:lstStyle/>
            <a:p>
              <a:pPr algn="ctr"/>
              <a:endParaRPr/>
            </a:p>
          </p:txBody>
        </p:sp>
        <p:sp>
          <p:nvSpPr>
            <p:cNvPr id="121" name="wheel"/>
            <p:cNvSpPr/>
            <p:nvPr/>
          </p:nvSpPr>
          <p:spPr>
            <a:xfrm>
              <a:off x="3884371" y="373075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122" name="hub"/>
            <p:cNvSpPr/>
            <p:nvPr/>
          </p:nvSpPr>
          <p:spPr>
            <a:xfrm>
              <a:off x="3982486" y="3828867"/>
              <a:ext cx="68945" cy="68945"/>
            </a:xfrm>
            <a:prstGeom prst="ellipse">
              <a:avLst/>
            </a:prstGeom>
            <a:solidFill>
              <a:srgbClr val="9AA0A6"/>
            </a:solidFill>
            <a:ln>
              <a:noFill/>
            </a:ln>
          </p:spPr>
          <p:txBody>
            <a:bodyPr rtlCol="0" anchor="ctr"/>
            <a:lstStyle/>
            <a:p>
              <a:pPr algn="ctr"/>
              <a:endParaRPr/>
            </a:p>
          </p:txBody>
        </p:sp>
        <p:sp>
          <p:nvSpPr>
            <p:cNvPr id="123" name="wheel"/>
            <p:cNvSpPr/>
            <p:nvPr/>
          </p:nvSpPr>
          <p:spPr>
            <a:xfrm>
              <a:off x="4248988" y="3850081"/>
              <a:ext cx="145846" cy="145846"/>
            </a:xfrm>
            <a:prstGeom prst="ellipse">
              <a:avLst/>
            </a:prstGeom>
            <a:solidFill>
              <a:srgbClr val="1B1D21"/>
            </a:solidFill>
            <a:ln w="19050">
              <a:solidFill>
                <a:srgbClr val="9AA0A6"/>
              </a:solidFill>
            </a:ln>
          </p:spPr>
          <p:txBody>
            <a:bodyPr rtlCol="0" anchor="ctr"/>
            <a:lstStyle/>
            <a:p>
              <a:pPr algn="ctr"/>
              <a:endParaRPr/>
            </a:p>
          </p:txBody>
        </p:sp>
        <p:sp>
          <p:nvSpPr>
            <p:cNvPr id="124" name="hub"/>
            <p:cNvSpPr/>
            <p:nvPr/>
          </p:nvSpPr>
          <p:spPr>
            <a:xfrm>
              <a:off x="4302951" y="3904044"/>
              <a:ext cx="37920" cy="37920"/>
            </a:xfrm>
            <a:prstGeom prst="ellipse">
              <a:avLst/>
            </a:prstGeom>
            <a:solidFill>
              <a:srgbClr val="9AA0A6"/>
            </a:solidFill>
            <a:ln>
              <a:noFill/>
            </a:ln>
          </p:spPr>
          <p:txBody>
            <a:bodyPr rtlCol="0" anchor="ctr"/>
            <a:lstStyle/>
            <a:p>
              <a:pPr algn="ctr"/>
              <a:endParaRPr/>
            </a:p>
          </p:txBody>
        </p:sp>
        <p:sp>
          <p:nvSpPr>
            <p:cNvPr id="125" name="coupling rod"/>
            <p:cNvSpPr/>
            <p:nvPr/>
          </p:nvSpPr>
          <p:spPr>
            <a:xfrm>
              <a:off x="3121990" y="3787764"/>
              <a:ext cx="894968" cy="18562"/>
            </a:xfrm>
            <a:prstGeom prst="rect">
              <a:avLst/>
            </a:prstGeom>
            <a:solidFill>
              <a:srgbClr val="D0D4D8"/>
            </a:solidFill>
            <a:ln>
              <a:noFill/>
            </a:ln>
          </p:spPr>
          <p:txBody>
            <a:bodyPr rtlCol="0" anchor="ctr"/>
            <a:lstStyle/>
            <a:p>
              <a:pPr algn="ctr"/>
              <a:endParaRPr/>
            </a:p>
          </p:txBody>
        </p:sp>
        <p:sp>
          <p:nvSpPr>
            <p:cNvPr id="126" name="buffer beam"/>
            <p:cNvSpPr/>
            <p:nvPr/>
          </p:nvSpPr>
          <p:spPr>
            <a:xfrm>
              <a:off x="4713046" y="3744010"/>
              <a:ext cx="39776" cy="119329"/>
            </a:xfrm>
            <a:prstGeom prst="rect">
              <a:avLst/>
            </a:prstGeom>
            <a:solidFill>
              <a:srgbClr val="9AA0A6"/>
            </a:solidFill>
            <a:ln>
              <a:noFill/>
            </a:ln>
          </p:spPr>
          <p:txBody>
            <a:bodyPr rtlCol="0" anchor="ctr"/>
            <a:lstStyle/>
            <a:p>
              <a:pPr algn="ctr"/>
              <a:endParaRPr/>
            </a:p>
          </p:txBody>
        </p:sp>
        <p:sp>
          <p:nvSpPr>
            <p:cNvPr id="127" name="panel"/>
            <p:cNvSpPr/>
            <p:nvPr/>
          </p:nvSpPr>
          <p:spPr>
            <a:xfrm>
              <a:off x="5212080" y="2971800"/>
              <a:ext cx="3108960" cy="1207008"/>
            </a:xfrm>
            <a:prstGeom prst="roundRect">
              <a:avLst>
                <a:gd name="adj" fmla="val 7575"/>
              </a:avLst>
            </a:prstGeom>
            <a:solidFill>
              <a:srgbClr val="2B2F36"/>
            </a:solidFill>
            <a:ln w="19050">
              <a:solidFill>
                <a:srgbClr val="4A515B"/>
              </a:solidFill>
            </a:ln>
          </p:spPr>
          <p:txBody>
            <a:bodyPr rtlCol="0" anchor="ctr"/>
            <a:lstStyle/>
            <a:p>
              <a:pPr algn="ctr"/>
              <a:endParaRPr/>
            </a:p>
          </p:txBody>
        </p:sp>
        <p:sp>
          <p:nvSpPr>
            <p:cNvPr id="128" name="rail"/>
            <p:cNvSpPr/>
            <p:nvPr/>
          </p:nvSpPr>
          <p:spPr>
            <a:xfrm>
              <a:off x="5349240" y="3995928"/>
              <a:ext cx="2834640" cy="45720"/>
            </a:xfrm>
            <a:prstGeom prst="rect">
              <a:avLst/>
            </a:prstGeom>
            <a:solidFill>
              <a:srgbClr val="9AA0A6"/>
            </a:solidFill>
            <a:ln>
              <a:noFill/>
            </a:ln>
          </p:spPr>
          <p:txBody>
            <a:bodyPr rtlCol="0" anchor="ctr"/>
            <a:lstStyle/>
            <a:p>
              <a:pPr algn="ctr"/>
              <a:endParaRPr/>
            </a:p>
          </p:txBody>
        </p:sp>
        <p:sp>
          <p:nvSpPr>
            <p:cNvPr id="129" name="tender frame"/>
            <p:cNvSpPr/>
            <p:nvPr/>
          </p:nvSpPr>
          <p:spPr>
            <a:xfrm>
              <a:off x="5606415" y="3783787"/>
              <a:ext cx="609904" cy="59664"/>
            </a:xfrm>
            <a:prstGeom prst="rect">
              <a:avLst/>
            </a:prstGeom>
            <a:solidFill>
              <a:srgbClr val="3A3F47"/>
            </a:solidFill>
            <a:ln w="9525">
              <a:solidFill>
                <a:srgbClr val="9AA0A6"/>
              </a:solidFill>
            </a:ln>
          </p:spPr>
          <p:txBody>
            <a:bodyPr rtlCol="0" anchor="ctr"/>
            <a:lstStyle/>
            <a:p>
              <a:pPr algn="ctr"/>
              <a:endParaRPr/>
            </a:p>
          </p:txBody>
        </p:sp>
        <p:sp>
          <p:nvSpPr>
            <p:cNvPr id="130" name="tender body"/>
            <p:cNvSpPr/>
            <p:nvPr/>
          </p:nvSpPr>
          <p:spPr>
            <a:xfrm>
              <a:off x="5606415" y="3518611"/>
              <a:ext cx="609904" cy="265176"/>
            </a:xfrm>
            <a:prstGeom prst="roundRect">
              <a:avLst>
                <a:gd name="adj" fmla="val 2500"/>
              </a:avLst>
            </a:prstGeom>
            <a:solidFill>
              <a:srgbClr val="D6619B"/>
            </a:solidFill>
            <a:ln>
              <a:noFill/>
            </a:ln>
          </p:spPr>
          <p:txBody>
            <a:bodyPr rtlCol="0" anchor="ctr"/>
            <a:lstStyle/>
            <a:p>
              <a:pPr algn="ctr"/>
              <a:endParaRPr/>
            </a:p>
          </p:txBody>
        </p:sp>
        <p:sp>
          <p:nvSpPr>
            <p:cNvPr id="131" name="tender coal"/>
            <p:cNvSpPr/>
            <p:nvPr/>
          </p:nvSpPr>
          <p:spPr>
            <a:xfrm>
              <a:off x="5626303" y="3432429"/>
              <a:ext cx="570128" cy="86182"/>
            </a:xfrm>
            <a:custGeom>
              <a:avLst/>
              <a:gdLst/>
              <a:ahLst/>
              <a:cxnLst/>
              <a:rect l="l" t="t" r="r" b="b"/>
              <a:pathLst>
                <a:path w="570128" h="86182">
                  <a:moveTo>
                    <a:pt x="0" y="86182"/>
                  </a:moveTo>
                  <a:lnTo>
                    <a:pt x="99441" y="6629"/>
                  </a:lnTo>
                  <a:lnTo>
                    <a:pt x="324840" y="0"/>
                  </a:lnTo>
                  <a:lnTo>
                    <a:pt x="570128" y="86182"/>
                  </a:lnTo>
                  <a:close/>
                </a:path>
              </a:pathLst>
            </a:custGeom>
            <a:solidFill>
              <a:srgbClr val="1B1D21"/>
            </a:solidFill>
            <a:ln w="12700">
              <a:solidFill>
                <a:srgbClr val="6B7078"/>
              </a:solidFill>
            </a:ln>
          </p:spPr>
          <p:txBody>
            <a:bodyPr rtlCol="0" anchor="ctr"/>
            <a:lstStyle/>
            <a:p>
              <a:pPr algn="ctr"/>
              <a:endParaRPr/>
            </a:p>
          </p:txBody>
        </p:sp>
        <p:sp>
          <p:nvSpPr>
            <p:cNvPr id="132" name="coupling"/>
            <p:cNvSpPr/>
            <p:nvPr/>
          </p:nvSpPr>
          <p:spPr>
            <a:xfrm>
              <a:off x="6216319" y="3684346"/>
              <a:ext cx="53035" cy="19888"/>
            </a:xfrm>
            <a:prstGeom prst="rect">
              <a:avLst/>
            </a:prstGeom>
            <a:solidFill>
              <a:srgbClr val="9AA0A6"/>
            </a:solidFill>
            <a:ln>
              <a:noFill/>
            </a:ln>
          </p:spPr>
          <p:txBody>
            <a:bodyPr rtlCol="0" anchor="ctr"/>
            <a:lstStyle/>
            <a:p>
              <a:pPr algn="ctr"/>
              <a:endParaRPr/>
            </a:p>
          </p:txBody>
        </p:sp>
        <p:sp>
          <p:nvSpPr>
            <p:cNvPr id="133" name="wheel"/>
            <p:cNvSpPr/>
            <p:nvPr/>
          </p:nvSpPr>
          <p:spPr>
            <a:xfrm>
              <a:off x="5646191" y="383682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134" name="hub"/>
            <p:cNvSpPr/>
            <p:nvPr/>
          </p:nvSpPr>
          <p:spPr>
            <a:xfrm>
              <a:off x="5705060" y="3895691"/>
              <a:ext cx="41367" cy="41367"/>
            </a:xfrm>
            <a:prstGeom prst="ellipse">
              <a:avLst/>
            </a:prstGeom>
            <a:solidFill>
              <a:srgbClr val="9AA0A6"/>
            </a:solidFill>
            <a:ln>
              <a:noFill/>
            </a:ln>
          </p:spPr>
          <p:txBody>
            <a:bodyPr rtlCol="0" anchor="ctr"/>
            <a:lstStyle/>
            <a:p>
              <a:pPr algn="ctr"/>
              <a:endParaRPr/>
            </a:p>
          </p:txBody>
        </p:sp>
        <p:sp>
          <p:nvSpPr>
            <p:cNvPr id="135" name="wheel"/>
            <p:cNvSpPr/>
            <p:nvPr/>
          </p:nvSpPr>
          <p:spPr>
            <a:xfrm>
              <a:off x="5778779" y="383682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136" name="hub"/>
            <p:cNvSpPr/>
            <p:nvPr/>
          </p:nvSpPr>
          <p:spPr>
            <a:xfrm>
              <a:off x="5837648" y="3895691"/>
              <a:ext cx="41367" cy="41367"/>
            </a:xfrm>
            <a:prstGeom prst="ellipse">
              <a:avLst/>
            </a:prstGeom>
            <a:solidFill>
              <a:srgbClr val="9AA0A6"/>
            </a:solidFill>
            <a:ln>
              <a:noFill/>
            </a:ln>
          </p:spPr>
          <p:txBody>
            <a:bodyPr rtlCol="0" anchor="ctr"/>
            <a:lstStyle/>
            <a:p>
              <a:pPr algn="ctr"/>
              <a:endParaRPr/>
            </a:p>
          </p:txBody>
        </p:sp>
        <p:sp>
          <p:nvSpPr>
            <p:cNvPr id="137" name="wheel"/>
            <p:cNvSpPr/>
            <p:nvPr/>
          </p:nvSpPr>
          <p:spPr>
            <a:xfrm>
              <a:off x="5884849" y="383682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138" name="hub"/>
            <p:cNvSpPr/>
            <p:nvPr/>
          </p:nvSpPr>
          <p:spPr>
            <a:xfrm>
              <a:off x="5943718" y="3895691"/>
              <a:ext cx="41367" cy="41367"/>
            </a:xfrm>
            <a:prstGeom prst="ellipse">
              <a:avLst/>
            </a:prstGeom>
            <a:solidFill>
              <a:srgbClr val="9AA0A6"/>
            </a:solidFill>
            <a:ln>
              <a:noFill/>
            </a:ln>
          </p:spPr>
          <p:txBody>
            <a:bodyPr rtlCol="0" anchor="ctr"/>
            <a:lstStyle/>
            <a:p>
              <a:pPr algn="ctr"/>
              <a:endParaRPr/>
            </a:p>
          </p:txBody>
        </p:sp>
        <p:sp>
          <p:nvSpPr>
            <p:cNvPr id="139" name="wheel"/>
            <p:cNvSpPr/>
            <p:nvPr/>
          </p:nvSpPr>
          <p:spPr>
            <a:xfrm>
              <a:off x="6017437" y="383682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140" name="hub"/>
            <p:cNvSpPr/>
            <p:nvPr/>
          </p:nvSpPr>
          <p:spPr>
            <a:xfrm>
              <a:off x="6076306" y="3895691"/>
              <a:ext cx="41367" cy="41367"/>
            </a:xfrm>
            <a:prstGeom prst="ellipse">
              <a:avLst/>
            </a:prstGeom>
            <a:solidFill>
              <a:srgbClr val="9AA0A6"/>
            </a:solidFill>
            <a:ln>
              <a:noFill/>
            </a:ln>
          </p:spPr>
          <p:txBody>
            <a:bodyPr rtlCol="0" anchor="ctr"/>
            <a:lstStyle/>
            <a:p>
              <a:pPr algn="ctr"/>
              <a:endParaRPr/>
            </a:p>
          </p:txBody>
        </p:sp>
        <p:sp>
          <p:nvSpPr>
            <p:cNvPr id="141" name="frame"/>
            <p:cNvSpPr/>
            <p:nvPr/>
          </p:nvSpPr>
          <p:spPr>
            <a:xfrm>
              <a:off x="6269355" y="3783787"/>
              <a:ext cx="1518928" cy="59664"/>
            </a:xfrm>
            <a:prstGeom prst="rect">
              <a:avLst/>
            </a:prstGeom>
            <a:solidFill>
              <a:srgbClr val="3A3F47"/>
            </a:solidFill>
            <a:ln w="9525">
              <a:solidFill>
                <a:srgbClr val="9AA0A6"/>
              </a:solidFill>
            </a:ln>
          </p:spPr>
          <p:txBody>
            <a:bodyPr rtlCol="0" anchor="ctr"/>
            <a:lstStyle/>
            <a:p>
              <a:pPr algn="ctr"/>
              <a:endParaRPr/>
            </a:p>
          </p:txBody>
        </p:sp>
        <p:sp>
          <p:nvSpPr>
            <p:cNvPr id="142" name="cab"/>
            <p:cNvSpPr/>
            <p:nvPr/>
          </p:nvSpPr>
          <p:spPr>
            <a:xfrm>
              <a:off x="6269355" y="3332988"/>
              <a:ext cx="304952" cy="450799"/>
            </a:xfrm>
            <a:prstGeom prst="roundRect">
              <a:avLst>
                <a:gd name="adj" fmla="val 2173"/>
              </a:avLst>
            </a:prstGeom>
            <a:solidFill>
              <a:srgbClr val="D6619B"/>
            </a:solidFill>
            <a:ln>
              <a:noFill/>
            </a:ln>
          </p:spPr>
          <p:txBody>
            <a:bodyPr rtlCol="0" anchor="ctr"/>
            <a:lstStyle/>
            <a:p>
              <a:pPr algn="ctr"/>
              <a:endParaRPr/>
            </a:p>
          </p:txBody>
        </p:sp>
        <p:sp>
          <p:nvSpPr>
            <p:cNvPr id="143" name="cab roof"/>
            <p:cNvSpPr/>
            <p:nvPr/>
          </p:nvSpPr>
          <p:spPr>
            <a:xfrm>
              <a:off x="6242837" y="3293211"/>
              <a:ext cx="357987" cy="39776"/>
            </a:xfrm>
            <a:prstGeom prst="rect">
              <a:avLst/>
            </a:prstGeom>
            <a:solidFill>
              <a:srgbClr val="3A3F47"/>
            </a:solidFill>
            <a:ln w="9525">
              <a:solidFill>
                <a:srgbClr val="9AA0A6"/>
              </a:solidFill>
            </a:ln>
          </p:spPr>
          <p:txBody>
            <a:bodyPr rtlCol="0" anchor="ctr"/>
            <a:lstStyle/>
            <a:p>
              <a:pPr algn="ctr"/>
              <a:endParaRPr/>
            </a:p>
          </p:txBody>
        </p:sp>
        <p:sp>
          <p:nvSpPr>
            <p:cNvPr id="144" name="cab window"/>
            <p:cNvSpPr/>
            <p:nvPr/>
          </p:nvSpPr>
          <p:spPr>
            <a:xfrm>
              <a:off x="6342278" y="3399282"/>
              <a:ext cx="132588" cy="145846"/>
            </a:xfrm>
            <a:prstGeom prst="rect">
              <a:avLst/>
            </a:prstGeom>
            <a:solidFill>
              <a:srgbClr val="1B1D21"/>
            </a:solidFill>
            <a:ln>
              <a:noFill/>
            </a:ln>
          </p:spPr>
          <p:txBody>
            <a:bodyPr rtlCol="0" anchor="ctr"/>
            <a:lstStyle/>
            <a:p>
              <a:pPr algn="ctr"/>
              <a:endParaRPr/>
            </a:p>
          </p:txBody>
        </p:sp>
        <p:sp>
          <p:nvSpPr>
            <p:cNvPr id="145" name="boiler"/>
            <p:cNvSpPr/>
            <p:nvPr/>
          </p:nvSpPr>
          <p:spPr>
            <a:xfrm>
              <a:off x="6574307" y="3372764"/>
              <a:ext cx="988576" cy="331470"/>
            </a:xfrm>
            <a:prstGeom prst="roundRect">
              <a:avLst>
                <a:gd name="adj" fmla="val 22000"/>
              </a:avLst>
            </a:prstGeom>
            <a:solidFill>
              <a:srgbClr val="D6619B"/>
            </a:solidFill>
            <a:ln>
              <a:noFill/>
            </a:ln>
          </p:spPr>
          <p:txBody>
            <a:bodyPr rtlCol="0" anchor="ctr"/>
            <a:lstStyle/>
            <a:p>
              <a:pPr algn="ctr"/>
              <a:endParaRPr/>
            </a:p>
          </p:txBody>
        </p:sp>
        <p:sp>
          <p:nvSpPr>
            <p:cNvPr id="146" name="smokebox"/>
            <p:cNvSpPr/>
            <p:nvPr/>
          </p:nvSpPr>
          <p:spPr>
            <a:xfrm>
              <a:off x="7562883" y="3372764"/>
              <a:ext cx="159105" cy="331470"/>
            </a:xfrm>
            <a:prstGeom prst="roundRect">
              <a:avLst>
                <a:gd name="adj" fmla="val 10000"/>
              </a:avLst>
            </a:prstGeom>
            <a:solidFill>
              <a:srgbClr val="4A515B"/>
            </a:solidFill>
            <a:ln>
              <a:noFill/>
            </a:ln>
          </p:spPr>
          <p:txBody>
            <a:bodyPr rtlCol="0" anchor="ctr"/>
            <a:lstStyle/>
            <a:p>
              <a:pPr algn="ctr"/>
              <a:endParaRPr/>
            </a:p>
          </p:txBody>
        </p:sp>
        <p:sp>
          <p:nvSpPr>
            <p:cNvPr id="147" name="funnel stack"/>
            <p:cNvSpPr/>
            <p:nvPr/>
          </p:nvSpPr>
          <p:spPr>
            <a:xfrm>
              <a:off x="7556254" y="3147364"/>
              <a:ext cx="159105" cy="225400"/>
            </a:xfrm>
            <a:custGeom>
              <a:avLst/>
              <a:gdLst/>
              <a:ahLst/>
              <a:cxnLst/>
              <a:rect l="l" t="t" r="r" b="b"/>
              <a:pathLst>
                <a:path w="159105" h="225400">
                  <a:moveTo>
                    <a:pt x="53035" y="225400"/>
                  </a:moveTo>
                  <a:lnTo>
                    <a:pt x="53035" y="159106"/>
                  </a:lnTo>
                  <a:lnTo>
                    <a:pt x="0" y="0"/>
                  </a:lnTo>
                  <a:lnTo>
                    <a:pt x="159105" y="0"/>
                  </a:lnTo>
                  <a:lnTo>
                    <a:pt x="106070" y="159106"/>
                  </a:lnTo>
                  <a:lnTo>
                    <a:pt x="106070" y="225400"/>
                  </a:lnTo>
                  <a:close/>
                </a:path>
              </a:pathLst>
            </a:custGeom>
            <a:solidFill>
              <a:srgbClr val="3A3F47"/>
            </a:solidFill>
            <a:ln w="9525">
              <a:solidFill>
                <a:srgbClr val="9AA0A6"/>
              </a:solidFill>
            </a:ln>
          </p:spPr>
          <p:txBody>
            <a:bodyPr rtlCol="0" anchor="ctr"/>
            <a:lstStyle/>
            <a:p>
              <a:pPr algn="ctr"/>
              <a:endParaRPr/>
            </a:p>
          </p:txBody>
        </p:sp>
        <p:sp>
          <p:nvSpPr>
            <p:cNvPr id="148" name="headlamp"/>
            <p:cNvSpPr/>
            <p:nvPr/>
          </p:nvSpPr>
          <p:spPr>
            <a:xfrm>
              <a:off x="7682212" y="3266694"/>
              <a:ext cx="99440" cy="99440"/>
            </a:xfrm>
            <a:prstGeom prst="ellipse">
              <a:avLst/>
            </a:prstGeom>
            <a:solidFill>
              <a:srgbClr val="F2C14E"/>
            </a:solidFill>
            <a:ln w="12700">
              <a:solidFill>
                <a:srgbClr val="F2F2F2"/>
              </a:solidFill>
            </a:ln>
          </p:spPr>
          <p:txBody>
            <a:bodyPr rtlCol="0" anchor="ctr"/>
            <a:lstStyle/>
            <a:p>
              <a:pPr algn="ctr"/>
              <a:endParaRPr/>
            </a:p>
          </p:txBody>
        </p:sp>
        <p:sp>
          <p:nvSpPr>
            <p:cNvPr id="149" name="sand dome"/>
            <p:cNvSpPr/>
            <p:nvPr/>
          </p:nvSpPr>
          <p:spPr>
            <a:xfrm>
              <a:off x="6851108" y="3293211"/>
              <a:ext cx="119329" cy="79552"/>
            </a:xfrm>
            <a:prstGeom prst="roundRect">
              <a:avLst>
                <a:gd name="adj" fmla="val 33333"/>
              </a:avLst>
            </a:prstGeom>
            <a:solidFill>
              <a:srgbClr val="D6619B"/>
            </a:solidFill>
            <a:ln>
              <a:noFill/>
            </a:ln>
          </p:spPr>
          <p:txBody>
            <a:bodyPr rtlCol="0" anchor="ctr"/>
            <a:lstStyle/>
            <a:p>
              <a:pPr algn="ctr"/>
              <a:endParaRPr/>
            </a:p>
          </p:txBody>
        </p:sp>
        <p:sp>
          <p:nvSpPr>
            <p:cNvPr id="150" name="steam dome"/>
            <p:cNvSpPr/>
            <p:nvPr/>
          </p:nvSpPr>
          <p:spPr>
            <a:xfrm>
              <a:off x="7187224" y="3279952"/>
              <a:ext cx="132588" cy="92811"/>
            </a:xfrm>
            <a:prstGeom prst="roundRect">
              <a:avLst>
                <a:gd name="adj" fmla="val 28571"/>
              </a:avLst>
            </a:prstGeom>
            <a:solidFill>
              <a:srgbClr val="D6619B"/>
            </a:solidFill>
            <a:ln>
              <a:noFill/>
            </a:ln>
          </p:spPr>
          <p:txBody>
            <a:bodyPr rtlCol="0" anchor="ctr"/>
            <a:lstStyle/>
            <a:p>
              <a:pPr algn="ctr"/>
              <a:endParaRPr/>
            </a:p>
          </p:txBody>
        </p:sp>
        <p:sp>
          <p:nvSpPr>
            <p:cNvPr id="151" name="pilot"/>
            <p:cNvSpPr/>
            <p:nvPr/>
          </p:nvSpPr>
          <p:spPr>
            <a:xfrm>
              <a:off x="7721989" y="3790416"/>
              <a:ext cx="198882" cy="145847"/>
            </a:xfrm>
            <a:custGeom>
              <a:avLst/>
              <a:gdLst/>
              <a:ahLst/>
              <a:cxnLst/>
              <a:rect l="l" t="t" r="r" b="b"/>
              <a:pathLst>
                <a:path w="198882" h="145847">
                  <a:moveTo>
                    <a:pt x="0" y="0"/>
                  </a:moveTo>
                  <a:lnTo>
                    <a:pt x="198882" y="145847"/>
                  </a:lnTo>
                  <a:lnTo>
                    <a:pt x="0" y="145847"/>
                  </a:lnTo>
                  <a:close/>
                </a:path>
              </a:pathLst>
            </a:custGeom>
            <a:solidFill>
              <a:srgbClr val="3A3F47"/>
            </a:solidFill>
            <a:ln w="12700">
              <a:solidFill>
                <a:srgbClr val="9AA0A6"/>
              </a:solidFill>
            </a:ln>
          </p:spPr>
          <p:txBody>
            <a:bodyPr rtlCol="0" anchor="ctr"/>
            <a:lstStyle/>
            <a:p>
              <a:pPr algn="ctr"/>
              <a:endParaRPr/>
            </a:p>
          </p:txBody>
        </p:sp>
        <p:sp>
          <p:nvSpPr>
            <p:cNvPr id="152" name="bell"/>
            <p:cNvSpPr/>
            <p:nvPr/>
          </p:nvSpPr>
          <p:spPr>
            <a:xfrm>
              <a:off x="7028819" y="3213658"/>
              <a:ext cx="39776" cy="79552"/>
            </a:xfrm>
            <a:prstGeom prst="rect">
              <a:avLst/>
            </a:prstGeom>
            <a:solidFill>
              <a:srgbClr val="9AA0A6"/>
            </a:solidFill>
            <a:ln>
              <a:noFill/>
            </a:ln>
          </p:spPr>
          <p:txBody>
            <a:bodyPr rtlCol="0" anchor="ctr"/>
            <a:lstStyle/>
            <a:p>
              <a:pPr algn="ctr"/>
              <a:endParaRPr/>
            </a:p>
          </p:txBody>
        </p:sp>
        <p:sp>
          <p:nvSpPr>
            <p:cNvPr id="153" name="wheel"/>
            <p:cNvSpPr/>
            <p:nvPr/>
          </p:nvSpPr>
          <p:spPr>
            <a:xfrm>
              <a:off x="6315760" y="3744010"/>
              <a:ext cx="251917" cy="251917"/>
            </a:xfrm>
            <a:prstGeom prst="ellipse">
              <a:avLst/>
            </a:prstGeom>
            <a:solidFill>
              <a:srgbClr val="1B1D21"/>
            </a:solidFill>
            <a:ln w="19050">
              <a:solidFill>
                <a:srgbClr val="9AA0A6"/>
              </a:solidFill>
            </a:ln>
          </p:spPr>
          <p:txBody>
            <a:bodyPr rtlCol="0" anchor="ctr"/>
            <a:lstStyle/>
            <a:p>
              <a:pPr algn="ctr"/>
              <a:endParaRPr/>
            </a:p>
          </p:txBody>
        </p:sp>
        <p:sp>
          <p:nvSpPr>
            <p:cNvPr id="154" name="hub"/>
            <p:cNvSpPr/>
            <p:nvPr/>
          </p:nvSpPr>
          <p:spPr>
            <a:xfrm>
              <a:off x="6408970" y="3837220"/>
              <a:ext cx="65498" cy="65498"/>
            </a:xfrm>
            <a:prstGeom prst="ellipse">
              <a:avLst/>
            </a:prstGeom>
            <a:solidFill>
              <a:srgbClr val="9AA0A6"/>
            </a:solidFill>
            <a:ln>
              <a:noFill/>
            </a:ln>
          </p:spPr>
          <p:txBody>
            <a:bodyPr rtlCol="0" anchor="ctr"/>
            <a:lstStyle/>
            <a:p>
              <a:pPr algn="ctr"/>
              <a:endParaRPr/>
            </a:p>
          </p:txBody>
        </p:sp>
        <p:sp>
          <p:nvSpPr>
            <p:cNvPr id="155" name="wheel"/>
            <p:cNvSpPr/>
            <p:nvPr/>
          </p:nvSpPr>
          <p:spPr>
            <a:xfrm>
              <a:off x="6597908" y="3744010"/>
              <a:ext cx="251917" cy="251917"/>
            </a:xfrm>
            <a:prstGeom prst="ellipse">
              <a:avLst/>
            </a:prstGeom>
            <a:solidFill>
              <a:srgbClr val="1B1D21"/>
            </a:solidFill>
            <a:ln w="19050">
              <a:solidFill>
                <a:srgbClr val="9AA0A6"/>
              </a:solidFill>
            </a:ln>
          </p:spPr>
          <p:txBody>
            <a:bodyPr rtlCol="0" anchor="ctr"/>
            <a:lstStyle/>
            <a:p>
              <a:pPr algn="ctr"/>
              <a:endParaRPr/>
            </a:p>
          </p:txBody>
        </p:sp>
        <p:sp>
          <p:nvSpPr>
            <p:cNvPr id="156" name="hub"/>
            <p:cNvSpPr/>
            <p:nvPr/>
          </p:nvSpPr>
          <p:spPr>
            <a:xfrm>
              <a:off x="6691117" y="3837220"/>
              <a:ext cx="65498" cy="65498"/>
            </a:xfrm>
            <a:prstGeom prst="ellipse">
              <a:avLst/>
            </a:prstGeom>
            <a:solidFill>
              <a:srgbClr val="9AA0A6"/>
            </a:solidFill>
            <a:ln>
              <a:noFill/>
            </a:ln>
          </p:spPr>
          <p:txBody>
            <a:bodyPr rtlCol="0" anchor="ctr"/>
            <a:lstStyle/>
            <a:p>
              <a:pPr algn="ctr"/>
              <a:endParaRPr/>
            </a:p>
          </p:txBody>
        </p:sp>
        <p:sp>
          <p:nvSpPr>
            <p:cNvPr id="157" name="wheel"/>
            <p:cNvSpPr/>
            <p:nvPr/>
          </p:nvSpPr>
          <p:spPr>
            <a:xfrm>
              <a:off x="6880055" y="3744010"/>
              <a:ext cx="251917" cy="251917"/>
            </a:xfrm>
            <a:prstGeom prst="ellipse">
              <a:avLst/>
            </a:prstGeom>
            <a:solidFill>
              <a:srgbClr val="1B1D21"/>
            </a:solidFill>
            <a:ln w="19050">
              <a:solidFill>
                <a:srgbClr val="9AA0A6"/>
              </a:solidFill>
            </a:ln>
          </p:spPr>
          <p:txBody>
            <a:bodyPr rtlCol="0" anchor="ctr"/>
            <a:lstStyle/>
            <a:p>
              <a:pPr algn="ctr"/>
              <a:endParaRPr/>
            </a:p>
          </p:txBody>
        </p:sp>
        <p:sp>
          <p:nvSpPr>
            <p:cNvPr id="158" name="hub"/>
            <p:cNvSpPr/>
            <p:nvPr/>
          </p:nvSpPr>
          <p:spPr>
            <a:xfrm>
              <a:off x="6973264" y="3837220"/>
              <a:ext cx="65498" cy="65498"/>
            </a:xfrm>
            <a:prstGeom prst="ellipse">
              <a:avLst/>
            </a:prstGeom>
            <a:solidFill>
              <a:srgbClr val="9AA0A6"/>
            </a:solidFill>
            <a:ln>
              <a:noFill/>
            </a:ln>
          </p:spPr>
          <p:txBody>
            <a:bodyPr rtlCol="0" anchor="ctr"/>
            <a:lstStyle/>
            <a:p>
              <a:pPr algn="ctr"/>
              <a:endParaRPr/>
            </a:p>
          </p:txBody>
        </p:sp>
        <p:sp>
          <p:nvSpPr>
            <p:cNvPr id="159" name="wheel"/>
            <p:cNvSpPr/>
            <p:nvPr/>
          </p:nvSpPr>
          <p:spPr>
            <a:xfrm>
              <a:off x="7456813" y="3863340"/>
              <a:ext cx="132588" cy="132588"/>
            </a:xfrm>
            <a:prstGeom prst="ellipse">
              <a:avLst/>
            </a:prstGeom>
            <a:solidFill>
              <a:srgbClr val="1B1D21"/>
            </a:solidFill>
            <a:ln w="19050">
              <a:solidFill>
                <a:srgbClr val="9AA0A6"/>
              </a:solidFill>
            </a:ln>
          </p:spPr>
          <p:txBody>
            <a:bodyPr rtlCol="0" anchor="ctr"/>
            <a:lstStyle/>
            <a:p>
              <a:pPr algn="ctr"/>
              <a:endParaRPr/>
            </a:p>
          </p:txBody>
        </p:sp>
        <p:sp>
          <p:nvSpPr>
            <p:cNvPr id="160" name="hub"/>
            <p:cNvSpPr/>
            <p:nvPr/>
          </p:nvSpPr>
          <p:spPr>
            <a:xfrm>
              <a:off x="7505870" y="3912397"/>
              <a:ext cx="34472" cy="34472"/>
            </a:xfrm>
            <a:prstGeom prst="ellipse">
              <a:avLst/>
            </a:prstGeom>
            <a:solidFill>
              <a:srgbClr val="9AA0A6"/>
            </a:solidFill>
            <a:ln>
              <a:noFill/>
            </a:ln>
          </p:spPr>
          <p:txBody>
            <a:bodyPr rtlCol="0" anchor="ctr"/>
            <a:lstStyle/>
            <a:p>
              <a:pPr algn="ctr"/>
              <a:endParaRPr/>
            </a:p>
          </p:txBody>
        </p:sp>
        <p:sp>
          <p:nvSpPr>
            <p:cNvPr id="161" name="wheel"/>
            <p:cNvSpPr/>
            <p:nvPr/>
          </p:nvSpPr>
          <p:spPr>
            <a:xfrm>
              <a:off x="7602659" y="3863340"/>
              <a:ext cx="132588" cy="132588"/>
            </a:xfrm>
            <a:prstGeom prst="ellipse">
              <a:avLst/>
            </a:prstGeom>
            <a:solidFill>
              <a:srgbClr val="1B1D21"/>
            </a:solidFill>
            <a:ln w="19050">
              <a:solidFill>
                <a:srgbClr val="9AA0A6"/>
              </a:solidFill>
            </a:ln>
          </p:spPr>
          <p:txBody>
            <a:bodyPr rtlCol="0" anchor="ctr"/>
            <a:lstStyle/>
            <a:p>
              <a:pPr algn="ctr"/>
              <a:endParaRPr/>
            </a:p>
          </p:txBody>
        </p:sp>
        <p:sp>
          <p:nvSpPr>
            <p:cNvPr id="162" name="hub"/>
            <p:cNvSpPr/>
            <p:nvPr/>
          </p:nvSpPr>
          <p:spPr>
            <a:xfrm>
              <a:off x="7651717" y="3912397"/>
              <a:ext cx="34472" cy="34472"/>
            </a:xfrm>
            <a:prstGeom prst="ellipse">
              <a:avLst/>
            </a:prstGeom>
            <a:solidFill>
              <a:srgbClr val="9AA0A6"/>
            </a:solidFill>
            <a:ln>
              <a:noFill/>
            </a:ln>
          </p:spPr>
          <p:txBody>
            <a:bodyPr rtlCol="0" anchor="ctr"/>
            <a:lstStyle/>
            <a:p>
              <a:pPr algn="ctr"/>
              <a:endParaRPr/>
            </a:p>
          </p:txBody>
        </p:sp>
        <p:sp>
          <p:nvSpPr>
            <p:cNvPr id="163" name="coupling rod"/>
            <p:cNvSpPr/>
            <p:nvPr/>
          </p:nvSpPr>
          <p:spPr>
            <a:xfrm>
              <a:off x="6441719" y="3794394"/>
              <a:ext cx="564294" cy="18562"/>
            </a:xfrm>
            <a:prstGeom prst="rect">
              <a:avLst/>
            </a:prstGeom>
            <a:solidFill>
              <a:srgbClr val="D0D4D8"/>
            </a:solidFill>
            <a:ln>
              <a:noFill/>
            </a:ln>
          </p:spPr>
          <p:txBody>
            <a:bodyPr rtlCol="0" anchor="ctr"/>
            <a:lstStyle/>
            <a:p>
              <a:pPr algn="ctr"/>
              <a:endParaRPr/>
            </a:p>
          </p:txBody>
        </p:sp>
        <p:sp>
          <p:nvSpPr>
            <p:cNvPr id="164" name="panel"/>
            <p:cNvSpPr/>
            <p:nvPr/>
          </p:nvSpPr>
          <p:spPr>
            <a:xfrm>
              <a:off x="8412480" y="2971800"/>
              <a:ext cx="3108960" cy="1207008"/>
            </a:xfrm>
            <a:prstGeom prst="roundRect">
              <a:avLst>
                <a:gd name="adj" fmla="val 7575"/>
              </a:avLst>
            </a:prstGeom>
            <a:solidFill>
              <a:srgbClr val="2B2F36"/>
            </a:solidFill>
            <a:ln w="19050">
              <a:solidFill>
                <a:srgbClr val="4A515B"/>
              </a:solidFill>
            </a:ln>
          </p:spPr>
          <p:txBody>
            <a:bodyPr rtlCol="0" anchor="ctr"/>
            <a:lstStyle/>
            <a:p>
              <a:pPr algn="ctr"/>
              <a:endParaRPr/>
            </a:p>
          </p:txBody>
        </p:sp>
        <p:sp>
          <p:nvSpPr>
            <p:cNvPr id="165" name="rail"/>
            <p:cNvSpPr/>
            <p:nvPr/>
          </p:nvSpPr>
          <p:spPr>
            <a:xfrm>
              <a:off x="8549640" y="3995928"/>
              <a:ext cx="2834640" cy="45720"/>
            </a:xfrm>
            <a:prstGeom prst="rect">
              <a:avLst/>
            </a:prstGeom>
            <a:solidFill>
              <a:srgbClr val="9AA0A6"/>
            </a:solidFill>
            <a:ln>
              <a:noFill/>
            </a:ln>
          </p:spPr>
          <p:txBody>
            <a:bodyPr rtlCol="0" anchor="ctr"/>
            <a:lstStyle/>
            <a:p>
              <a:pPr algn="ctr"/>
              <a:endParaRPr/>
            </a:p>
          </p:txBody>
        </p:sp>
        <p:sp>
          <p:nvSpPr>
            <p:cNvPr id="166" name="tender frame"/>
            <p:cNvSpPr/>
            <p:nvPr/>
          </p:nvSpPr>
          <p:spPr>
            <a:xfrm>
              <a:off x="8780297" y="3803675"/>
              <a:ext cx="543610" cy="59664"/>
            </a:xfrm>
            <a:prstGeom prst="rect">
              <a:avLst/>
            </a:prstGeom>
            <a:solidFill>
              <a:srgbClr val="3A3F47"/>
            </a:solidFill>
            <a:ln w="9525">
              <a:solidFill>
                <a:srgbClr val="9AA0A6"/>
              </a:solidFill>
            </a:ln>
          </p:spPr>
          <p:txBody>
            <a:bodyPr rtlCol="0" anchor="ctr"/>
            <a:lstStyle/>
            <a:p>
              <a:pPr algn="ctr"/>
              <a:endParaRPr/>
            </a:p>
          </p:txBody>
        </p:sp>
        <p:sp>
          <p:nvSpPr>
            <p:cNvPr id="167" name="tender body"/>
            <p:cNvSpPr/>
            <p:nvPr/>
          </p:nvSpPr>
          <p:spPr>
            <a:xfrm>
              <a:off x="8780297" y="3565017"/>
              <a:ext cx="543610" cy="238658"/>
            </a:xfrm>
            <a:prstGeom prst="roundRect">
              <a:avLst>
                <a:gd name="adj" fmla="val 2777"/>
              </a:avLst>
            </a:prstGeom>
            <a:solidFill>
              <a:srgbClr val="D9B26F"/>
            </a:solidFill>
            <a:ln>
              <a:noFill/>
            </a:ln>
          </p:spPr>
          <p:txBody>
            <a:bodyPr rtlCol="0" anchor="ctr"/>
            <a:lstStyle/>
            <a:p>
              <a:pPr algn="ctr"/>
              <a:endParaRPr/>
            </a:p>
          </p:txBody>
        </p:sp>
        <p:sp>
          <p:nvSpPr>
            <p:cNvPr id="168" name="tender coal"/>
            <p:cNvSpPr/>
            <p:nvPr/>
          </p:nvSpPr>
          <p:spPr>
            <a:xfrm>
              <a:off x="8800185" y="3492093"/>
              <a:ext cx="503834" cy="92812"/>
            </a:xfrm>
            <a:custGeom>
              <a:avLst/>
              <a:gdLst/>
              <a:ahLst/>
              <a:cxnLst/>
              <a:rect l="l" t="t" r="r" b="b"/>
              <a:pathLst>
                <a:path w="503834" h="92812">
                  <a:moveTo>
                    <a:pt x="0" y="92812"/>
                  </a:moveTo>
                  <a:lnTo>
                    <a:pt x="99441" y="6630"/>
                  </a:lnTo>
                  <a:lnTo>
                    <a:pt x="298323" y="0"/>
                  </a:lnTo>
                  <a:lnTo>
                    <a:pt x="503834" y="92812"/>
                  </a:lnTo>
                  <a:close/>
                </a:path>
              </a:pathLst>
            </a:custGeom>
            <a:solidFill>
              <a:srgbClr val="1B1D21"/>
            </a:solidFill>
            <a:ln w="12700">
              <a:solidFill>
                <a:srgbClr val="6B7078"/>
              </a:solidFill>
            </a:ln>
          </p:spPr>
          <p:txBody>
            <a:bodyPr rtlCol="0" anchor="ctr"/>
            <a:lstStyle/>
            <a:p>
              <a:pPr algn="ctr"/>
              <a:endParaRPr/>
            </a:p>
          </p:txBody>
        </p:sp>
        <p:sp>
          <p:nvSpPr>
            <p:cNvPr id="169" name="coupling"/>
            <p:cNvSpPr/>
            <p:nvPr/>
          </p:nvSpPr>
          <p:spPr>
            <a:xfrm>
              <a:off x="9323908" y="3724122"/>
              <a:ext cx="46405" cy="19888"/>
            </a:xfrm>
            <a:prstGeom prst="rect">
              <a:avLst/>
            </a:prstGeom>
            <a:solidFill>
              <a:srgbClr val="9AA0A6"/>
            </a:solidFill>
            <a:ln>
              <a:noFill/>
            </a:ln>
          </p:spPr>
          <p:txBody>
            <a:bodyPr rtlCol="0" anchor="ctr"/>
            <a:lstStyle/>
            <a:p>
              <a:pPr algn="ctr"/>
              <a:endParaRPr/>
            </a:p>
          </p:txBody>
        </p:sp>
        <p:sp>
          <p:nvSpPr>
            <p:cNvPr id="170" name="wheel"/>
            <p:cNvSpPr/>
            <p:nvPr/>
          </p:nvSpPr>
          <p:spPr>
            <a:xfrm>
              <a:off x="8806815" y="381030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171" name="hub"/>
            <p:cNvSpPr/>
            <p:nvPr/>
          </p:nvSpPr>
          <p:spPr>
            <a:xfrm>
              <a:off x="8875495" y="3878985"/>
              <a:ext cx="48262" cy="48262"/>
            </a:xfrm>
            <a:prstGeom prst="ellipse">
              <a:avLst/>
            </a:prstGeom>
            <a:solidFill>
              <a:srgbClr val="9AA0A6"/>
            </a:solidFill>
            <a:ln>
              <a:noFill/>
            </a:ln>
          </p:spPr>
          <p:txBody>
            <a:bodyPr rtlCol="0" anchor="ctr"/>
            <a:lstStyle/>
            <a:p>
              <a:pPr algn="ctr"/>
              <a:endParaRPr/>
            </a:p>
          </p:txBody>
        </p:sp>
        <p:sp>
          <p:nvSpPr>
            <p:cNvPr id="172" name="wheel"/>
            <p:cNvSpPr/>
            <p:nvPr/>
          </p:nvSpPr>
          <p:spPr>
            <a:xfrm>
              <a:off x="8965920" y="381030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173" name="hub"/>
            <p:cNvSpPr/>
            <p:nvPr/>
          </p:nvSpPr>
          <p:spPr>
            <a:xfrm>
              <a:off x="9034601" y="3878985"/>
              <a:ext cx="48262" cy="48262"/>
            </a:xfrm>
            <a:prstGeom prst="ellipse">
              <a:avLst/>
            </a:prstGeom>
            <a:solidFill>
              <a:srgbClr val="9AA0A6"/>
            </a:solidFill>
            <a:ln>
              <a:noFill/>
            </a:ln>
          </p:spPr>
          <p:txBody>
            <a:bodyPr rtlCol="0" anchor="ctr"/>
            <a:lstStyle/>
            <a:p>
              <a:pPr algn="ctr"/>
              <a:endParaRPr/>
            </a:p>
          </p:txBody>
        </p:sp>
        <p:sp>
          <p:nvSpPr>
            <p:cNvPr id="174" name="wheel"/>
            <p:cNvSpPr/>
            <p:nvPr/>
          </p:nvSpPr>
          <p:spPr>
            <a:xfrm>
              <a:off x="9125026" y="381030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175" name="hub"/>
            <p:cNvSpPr/>
            <p:nvPr/>
          </p:nvSpPr>
          <p:spPr>
            <a:xfrm>
              <a:off x="9193706" y="3878985"/>
              <a:ext cx="48262" cy="48262"/>
            </a:xfrm>
            <a:prstGeom prst="ellipse">
              <a:avLst/>
            </a:prstGeom>
            <a:solidFill>
              <a:srgbClr val="9AA0A6"/>
            </a:solidFill>
            <a:ln>
              <a:noFill/>
            </a:ln>
          </p:spPr>
          <p:txBody>
            <a:bodyPr rtlCol="0" anchor="ctr"/>
            <a:lstStyle/>
            <a:p>
              <a:pPr algn="ctr"/>
              <a:endParaRPr/>
            </a:p>
          </p:txBody>
        </p:sp>
        <p:sp>
          <p:nvSpPr>
            <p:cNvPr id="176" name="frame"/>
            <p:cNvSpPr/>
            <p:nvPr/>
          </p:nvSpPr>
          <p:spPr>
            <a:xfrm>
              <a:off x="9370313" y="3803675"/>
              <a:ext cx="1743532" cy="59664"/>
            </a:xfrm>
            <a:prstGeom prst="rect">
              <a:avLst/>
            </a:prstGeom>
            <a:solidFill>
              <a:srgbClr val="3A3F47"/>
            </a:solidFill>
            <a:ln w="9525">
              <a:solidFill>
                <a:srgbClr val="9AA0A6"/>
              </a:solidFill>
            </a:ln>
          </p:spPr>
          <p:txBody>
            <a:bodyPr rtlCol="0" anchor="ctr"/>
            <a:lstStyle/>
            <a:p>
              <a:pPr algn="ctr"/>
              <a:endParaRPr/>
            </a:p>
          </p:txBody>
        </p:sp>
        <p:sp>
          <p:nvSpPr>
            <p:cNvPr id="177" name="cab"/>
            <p:cNvSpPr/>
            <p:nvPr/>
          </p:nvSpPr>
          <p:spPr>
            <a:xfrm>
              <a:off x="9370313" y="3439058"/>
              <a:ext cx="265176" cy="364617"/>
            </a:xfrm>
            <a:prstGeom prst="roundRect">
              <a:avLst>
                <a:gd name="adj" fmla="val 2500"/>
              </a:avLst>
            </a:prstGeom>
            <a:solidFill>
              <a:srgbClr val="D9B26F"/>
            </a:solidFill>
            <a:ln>
              <a:noFill/>
            </a:ln>
          </p:spPr>
          <p:txBody>
            <a:bodyPr rtlCol="0" anchor="ctr"/>
            <a:lstStyle/>
            <a:p>
              <a:pPr algn="ctr"/>
              <a:endParaRPr/>
            </a:p>
          </p:txBody>
        </p:sp>
        <p:sp>
          <p:nvSpPr>
            <p:cNvPr id="178" name="cab roof"/>
            <p:cNvSpPr/>
            <p:nvPr/>
          </p:nvSpPr>
          <p:spPr>
            <a:xfrm>
              <a:off x="9350425" y="3386023"/>
              <a:ext cx="304952" cy="53035"/>
            </a:xfrm>
            <a:prstGeom prst="roundRect">
              <a:avLst>
                <a:gd name="adj" fmla="val 37500"/>
              </a:avLst>
            </a:prstGeom>
            <a:solidFill>
              <a:srgbClr val="3A3F47"/>
            </a:solidFill>
            <a:ln w="9525">
              <a:solidFill>
                <a:srgbClr val="9AA0A6"/>
              </a:solidFill>
            </a:ln>
          </p:spPr>
          <p:txBody>
            <a:bodyPr rtlCol="0" anchor="ctr"/>
            <a:lstStyle/>
            <a:p>
              <a:pPr algn="ctr"/>
              <a:endParaRPr/>
            </a:p>
          </p:txBody>
        </p:sp>
        <p:sp>
          <p:nvSpPr>
            <p:cNvPr id="179" name="cab window"/>
            <p:cNvSpPr/>
            <p:nvPr/>
          </p:nvSpPr>
          <p:spPr>
            <a:xfrm>
              <a:off x="9436608" y="3492093"/>
              <a:ext cx="119329" cy="119329"/>
            </a:xfrm>
            <a:prstGeom prst="rect">
              <a:avLst/>
            </a:prstGeom>
            <a:solidFill>
              <a:srgbClr val="1B1D21"/>
            </a:solidFill>
            <a:ln>
              <a:noFill/>
            </a:ln>
          </p:spPr>
          <p:txBody>
            <a:bodyPr rtlCol="0" anchor="ctr"/>
            <a:lstStyle/>
            <a:p>
              <a:pPr algn="ctr"/>
              <a:endParaRPr/>
            </a:p>
          </p:txBody>
        </p:sp>
        <p:sp>
          <p:nvSpPr>
            <p:cNvPr id="180" name="boiler"/>
            <p:cNvSpPr/>
            <p:nvPr/>
          </p:nvSpPr>
          <p:spPr>
            <a:xfrm>
              <a:off x="9635490" y="3472205"/>
              <a:ext cx="1345768" cy="265176"/>
            </a:xfrm>
            <a:prstGeom prst="roundRect">
              <a:avLst>
                <a:gd name="adj" fmla="val 25000"/>
              </a:avLst>
            </a:prstGeom>
            <a:solidFill>
              <a:srgbClr val="D9B26F"/>
            </a:solidFill>
            <a:ln>
              <a:noFill/>
            </a:ln>
          </p:spPr>
          <p:txBody>
            <a:bodyPr rtlCol="0" anchor="ctr"/>
            <a:lstStyle/>
            <a:p>
              <a:pPr algn="ctr"/>
              <a:endParaRPr/>
            </a:p>
          </p:txBody>
        </p:sp>
        <p:sp>
          <p:nvSpPr>
            <p:cNvPr id="181" name="boiler band"/>
            <p:cNvSpPr/>
            <p:nvPr/>
          </p:nvSpPr>
          <p:spPr>
            <a:xfrm>
              <a:off x="10039220" y="3472205"/>
              <a:ext cx="9281" cy="265176"/>
            </a:xfrm>
            <a:prstGeom prst="rect">
              <a:avLst/>
            </a:prstGeom>
            <a:solidFill>
              <a:srgbClr val="9C804F"/>
            </a:solidFill>
            <a:ln>
              <a:noFill/>
            </a:ln>
          </p:spPr>
          <p:txBody>
            <a:bodyPr rtlCol="0" anchor="ctr"/>
            <a:lstStyle/>
            <a:p>
              <a:pPr algn="ctr"/>
              <a:endParaRPr/>
            </a:p>
          </p:txBody>
        </p:sp>
        <p:sp>
          <p:nvSpPr>
            <p:cNvPr id="182" name="boiler band"/>
            <p:cNvSpPr/>
            <p:nvPr/>
          </p:nvSpPr>
          <p:spPr>
            <a:xfrm>
              <a:off x="10375662" y="3472205"/>
              <a:ext cx="9281" cy="265176"/>
            </a:xfrm>
            <a:prstGeom prst="rect">
              <a:avLst/>
            </a:prstGeom>
            <a:solidFill>
              <a:srgbClr val="9C804F"/>
            </a:solidFill>
            <a:ln>
              <a:noFill/>
            </a:ln>
          </p:spPr>
          <p:txBody>
            <a:bodyPr rtlCol="0" anchor="ctr"/>
            <a:lstStyle/>
            <a:p>
              <a:pPr algn="ctr"/>
              <a:endParaRPr/>
            </a:p>
          </p:txBody>
        </p:sp>
        <p:sp>
          <p:nvSpPr>
            <p:cNvPr id="183" name="boiler band"/>
            <p:cNvSpPr/>
            <p:nvPr/>
          </p:nvSpPr>
          <p:spPr>
            <a:xfrm>
              <a:off x="10712104" y="3472205"/>
              <a:ext cx="9281" cy="265176"/>
            </a:xfrm>
            <a:prstGeom prst="rect">
              <a:avLst/>
            </a:prstGeom>
            <a:solidFill>
              <a:srgbClr val="9C804F"/>
            </a:solidFill>
            <a:ln>
              <a:noFill/>
            </a:ln>
          </p:spPr>
          <p:txBody>
            <a:bodyPr rtlCol="0" anchor="ctr"/>
            <a:lstStyle/>
            <a:p>
              <a:pPr algn="ctr"/>
              <a:endParaRPr/>
            </a:p>
          </p:txBody>
        </p:sp>
        <p:sp>
          <p:nvSpPr>
            <p:cNvPr id="184" name="smokebox"/>
            <p:cNvSpPr/>
            <p:nvPr/>
          </p:nvSpPr>
          <p:spPr>
            <a:xfrm>
              <a:off x="10981258" y="3472205"/>
              <a:ext cx="132588" cy="265176"/>
            </a:xfrm>
            <a:prstGeom prst="roundRect">
              <a:avLst>
                <a:gd name="adj" fmla="val 12000"/>
              </a:avLst>
            </a:prstGeom>
            <a:solidFill>
              <a:srgbClr val="4A515B"/>
            </a:solidFill>
            <a:ln>
              <a:noFill/>
            </a:ln>
          </p:spPr>
          <p:txBody>
            <a:bodyPr rtlCol="0" anchor="ctr"/>
            <a:lstStyle/>
            <a:p>
              <a:pPr algn="ctr"/>
              <a:endParaRPr/>
            </a:p>
          </p:txBody>
        </p:sp>
        <p:sp>
          <p:nvSpPr>
            <p:cNvPr id="185" name="chimney"/>
            <p:cNvSpPr/>
            <p:nvPr/>
          </p:nvSpPr>
          <p:spPr>
            <a:xfrm>
              <a:off x="11021034" y="3293211"/>
              <a:ext cx="53035" cy="178993"/>
            </a:xfrm>
            <a:prstGeom prst="rect">
              <a:avLst/>
            </a:prstGeom>
            <a:solidFill>
              <a:srgbClr val="3A3F47"/>
            </a:solidFill>
            <a:ln w="9525">
              <a:solidFill>
                <a:srgbClr val="9AA0A6"/>
              </a:solidFill>
            </a:ln>
          </p:spPr>
          <p:txBody>
            <a:bodyPr rtlCol="0" anchor="ctr"/>
            <a:lstStyle/>
            <a:p>
              <a:pPr algn="ctr"/>
              <a:endParaRPr/>
            </a:p>
          </p:txBody>
        </p:sp>
        <p:sp>
          <p:nvSpPr>
            <p:cNvPr id="186" name="smoke deflector"/>
            <p:cNvSpPr/>
            <p:nvPr/>
          </p:nvSpPr>
          <p:spPr>
            <a:xfrm>
              <a:off x="10808893" y="3306470"/>
              <a:ext cx="159106" cy="225400"/>
            </a:xfrm>
            <a:custGeom>
              <a:avLst/>
              <a:gdLst/>
              <a:ahLst/>
              <a:cxnLst/>
              <a:rect l="l" t="t" r="r" b="b"/>
              <a:pathLst>
                <a:path w="159106" h="225400">
                  <a:moveTo>
                    <a:pt x="0" y="225400"/>
                  </a:moveTo>
                  <a:lnTo>
                    <a:pt x="159106" y="225400"/>
                  </a:lnTo>
                  <a:lnTo>
                    <a:pt x="159106" y="0"/>
                  </a:lnTo>
                  <a:lnTo>
                    <a:pt x="26518" y="39776"/>
                  </a:lnTo>
                  <a:close/>
                </a:path>
              </a:pathLst>
            </a:custGeom>
            <a:solidFill>
              <a:srgbClr val="3A3F47"/>
            </a:solidFill>
            <a:ln w="12700">
              <a:solidFill>
                <a:srgbClr val="9AA0A6"/>
              </a:solidFill>
            </a:ln>
          </p:spPr>
          <p:txBody>
            <a:bodyPr rtlCol="0" anchor="ctr"/>
            <a:lstStyle/>
            <a:p>
              <a:pPr algn="ctr"/>
              <a:endParaRPr/>
            </a:p>
          </p:txBody>
        </p:sp>
        <p:sp>
          <p:nvSpPr>
            <p:cNvPr id="187" name="lamp"/>
            <p:cNvSpPr/>
            <p:nvPr/>
          </p:nvSpPr>
          <p:spPr>
            <a:xfrm>
              <a:off x="11080699" y="3704234"/>
              <a:ext cx="66294" cy="66294"/>
            </a:xfrm>
            <a:prstGeom prst="ellipse">
              <a:avLst/>
            </a:prstGeom>
            <a:solidFill>
              <a:srgbClr val="F2C14E"/>
            </a:solidFill>
            <a:ln>
              <a:noFill/>
            </a:ln>
          </p:spPr>
          <p:txBody>
            <a:bodyPr rtlCol="0" anchor="ctr"/>
            <a:lstStyle/>
            <a:p>
              <a:pPr algn="ctr"/>
              <a:endParaRPr/>
            </a:p>
          </p:txBody>
        </p:sp>
        <p:sp>
          <p:nvSpPr>
            <p:cNvPr id="188" name="dome"/>
            <p:cNvSpPr/>
            <p:nvPr/>
          </p:nvSpPr>
          <p:spPr>
            <a:xfrm>
              <a:off x="10173797" y="3399282"/>
              <a:ext cx="119329" cy="72923"/>
            </a:xfrm>
            <a:prstGeom prst="roundRect">
              <a:avLst>
                <a:gd name="adj" fmla="val 36363"/>
              </a:avLst>
            </a:prstGeom>
            <a:solidFill>
              <a:srgbClr val="D9B26F"/>
            </a:solidFill>
            <a:ln>
              <a:noFill/>
            </a:ln>
          </p:spPr>
          <p:txBody>
            <a:bodyPr rtlCol="0" anchor="ctr"/>
            <a:lstStyle/>
            <a:p>
              <a:pPr algn="ctr"/>
              <a:endParaRPr/>
            </a:p>
          </p:txBody>
        </p:sp>
        <p:sp>
          <p:nvSpPr>
            <p:cNvPr id="189" name="wheel"/>
            <p:cNvSpPr/>
            <p:nvPr/>
          </p:nvSpPr>
          <p:spPr>
            <a:xfrm>
              <a:off x="9390202" y="373075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190" name="hub"/>
            <p:cNvSpPr/>
            <p:nvPr/>
          </p:nvSpPr>
          <p:spPr>
            <a:xfrm>
              <a:off x="9488317" y="3828867"/>
              <a:ext cx="68945" cy="68945"/>
            </a:xfrm>
            <a:prstGeom prst="ellipse">
              <a:avLst/>
            </a:prstGeom>
            <a:solidFill>
              <a:srgbClr val="9AA0A6"/>
            </a:solidFill>
            <a:ln>
              <a:noFill/>
            </a:ln>
          </p:spPr>
          <p:txBody>
            <a:bodyPr rtlCol="0" anchor="ctr"/>
            <a:lstStyle/>
            <a:p>
              <a:pPr algn="ctr"/>
              <a:endParaRPr/>
            </a:p>
          </p:txBody>
        </p:sp>
        <p:sp>
          <p:nvSpPr>
            <p:cNvPr id="191" name="wheel"/>
            <p:cNvSpPr/>
            <p:nvPr/>
          </p:nvSpPr>
          <p:spPr>
            <a:xfrm>
              <a:off x="9688525" y="373075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192" name="hub"/>
            <p:cNvSpPr/>
            <p:nvPr/>
          </p:nvSpPr>
          <p:spPr>
            <a:xfrm>
              <a:off x="9786640" y="3828867"/>
              <a:ext cx="68945" cy="68945"/>
            </a:xfrm>
            <a:prstGeom prst="ellipse">
              <a:avLst/>
            </a:prstGeom>
            <a:solidFill>
              <a:srgbClr val="9AA0A6"/>
            </a:solidFill>
            <a:ln>
              <a:noFill/>
            </a:ln>
          </p:spPr>
          <p:txBody>
            <a:bodyPr rtlCol="0" anchor="ctr"/>
            <a:lstStyle/>
            <a:p>
              <a:pPr algn="ctr"/>
              <a:endParaRPr/>
            </a:p>
          </p:txBody>
        </p:sp>
        <p:sp>
          <p:nvSpPr>
            <p:cNvPr id="193" name="wheel"/>
            <p:cNvSpPr/>
            <p:nvPr/>
          </p:nvSpPr>
          <p:spPr>
            <a:xfrm>
              <a:off x="9986848" y="373075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194" name="hub"/>
            <p:cNvSpPr/>
            <p:nvPr/>
          </p:nvSpPr>
          <p:spPr>
            <a:xfrm>
              <a:off x="10084963" y="3828867"/>
              <a:ext cx="68945" cy="68945"/>
            </a:xfrm>
            <a:prstGeom prst="ellipse">
              <a:avLst/>
            </a:prstGeom>
            <a:solidFill>
              <a:srgbClr val="9AA0A6"/>
            </a:solidFill>
            <a:ln>
              <a:noFill/>
            </a:ln>
          </p:spPr>
          <p:txBody>
            <a:bodyPr rtlCol="0" anchor="ctr"/>
            <a:lstStyle/>
            <a:p>
              <a:pPr algn="ctr"/>
              <a:endParaRPr/>
            </a:p>
          </p:txBody>
        </p:sp>
        <p:sp>
          <p:nvSpPr>
            <p:cNvPr id="195" name="wheel"/>
            <p:cNvSpPr/>
            <p:nvPr/>
          </p:nvSpPr>
          <p:spPr>
            <a:xfrm>
              <a:off x="10285171" y="373075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196" name="hub"/>
            <p:cNvSpPr/>
            <p:nvPr/>
          </p:nvSpPr>
          <p:spPr>
            <a:xfrm>
              <a:off x="10383286" y="3828867"/>
              <a:ext cx="68945" cy="68945"/>
            </a:xfrm>
            <a:prstGeom prst="ellipse">
              <a:avLst/>
            </a:prstGeom>
            <a:solidFill>
              <a:srgbClr val="9AA0A6"/>
            </a:solidFill>
            <a:ln>
              <a:noFill/>
            </a:ln>
          </p:spPr>
          <p:txBody>
            <a:bodyPr rtlCol="0" anchor="ctr"/>
            <a:lstStyle/>
            <a:p>
              <a:pPr algn="ctr"/>
              <a:endParaRPr/>
            </a:p>
          </p:txBody>
        </p:sp>
        <p:sp>
          <p:nvSpPr>
            <p:cNvPr id="197" name="wheel"/>
            <p:cNvSpPr/>
            <p:nvPr/>
          </p:nvSpPr>
          <p:spPr>
            <a:xfrm>
              <a:off x="10649788" y="3850081"/>
              <a:ext cx="145846" cy="145846"/>
            </a:xfrm>
            <a:prstGeom prst="ellipse">
              <a:avLst/>
            </a:prstGeom>
            <a:solidFill>
              <a:srgbClr val="1B1D21"/>
            </a:solidFill>
            <a:ln w="19050">
              <a:solidFill>
                <a:srgbClr val="9AA0A6"/>
              </a:solidFill>
            </a:ln>
          </p:spPr>
          <p:txBody>
            <a:bodyPr rtlCol="0" anchor="ctr"/>
            <a:lstStyle/>
            <a:p>
              <a:pPr algn="ctr"/>
              <a:endParaRPr/>
            </a:p>
          </p:txBody>
        </p:sp>
        <p:sp>
          <p:nvSpPr>
            <p:cNvPr id="198" name="hub"/>
            <p:cNvSpPr/>
            <p:nvPr/>
          </p:nvSpPr>
          <p:spPr>
            <a:xfrm>
              <a:off x="10703751" y="3904044"/>
              <a:ext cx="37920" cy="37920"/>
            </a:xfrm>
            <a:prstGeom prst="ellipse">
              <a:avLst/>
            </a:prstGeom>
            <a:solidFill>
              <a:srgbClr val="9AA0A6"/>
            </a:solidFill>
            <a:ln>
              <a:noFill/>
            </a:ln>
          </p:spPr>
          <p:txBody>
            <a:bodyPr rtlCol="0" anchor="ctr"/>
            <a:lstStyle/>
            <a:p>
              <a:pPr algn="ctr"/>
              <a:endParaRPr/>
            </a:p>
          </p:txBody>
        </p:sp>
        <p:sp>
          <p:nvSpPr>
            <p:cNvPr id="199" name="coupling rod"/>
            <p:cNvSpPr/>
            <p:nvPr/>
          </p:nvSpPr>
          <p:spPr>
            <a:xfrm>
              <a:off x="9522790" y="3787764"/>
              <a:ext cx="894968" cy="18562"/>
            </a:xfrm>
            <a:prstGeom prst="rect">
              <a:avLst/>
            </a:prstGeom>
            <a:solidFill>
              <a:srgbClr val="D0D4D8"/>
            </a:solidFill>
            <a:ln>
              <a:noFill/>
            </a:ln>
          </p:spPr>
          <p:txBody>
            <a:bodyPr rtlCol="0" anchor="ctr"/>
            <a:lstStyle/>
            <a:p>
              <a:pPr algn="ctr"/>
              <a:endParaRPr/>
            </a:p>
          </p:txBody>
        </p:sp>
        <p:sp>
          <p:nvSpPr>
            <p:cNvPr id="200" name="buffer beam"/>
            <p:cNvSpPr/>
            <p:nvPr/>
          </p:nvSpPr>
          <p:spPr>
            <a:xfrm>
              <a:off x="11113846" y="3744010"/>
              <a:ext cx="39776" cy="119329"/>
            </a:xfrm>
            <a:prstGeom prst="rect">
              <a:avLst/>
            </a:prstGeom>
            <a:solidFill>
              <a:srgbClr val="9AA0A6"/>
            </a:solidFill>
            <a:ln>
              <a:noFill/>
            </a:ln>
          </p:spPr>
          <p:txBody>
            <a:bodyPr rtlCol="0" anchor="ctr"/>
            <a:lstStyle/>
            <a:p>
              <a:pPr algn="ctr"/>
              <a:endParaRPr/>
            </a:p>
          </p:txBody>
        </p:sp>
        <p:sp>
          <p:nvSpPr>
            <p:cNvPr id="201" name="row heading"/>
            <p:cNvSpPr txBox="1"/>
            <p:nvPr/>
          </p:nvSpPr>
          <p:spPr>
            <a:xfrm>
              <a:off x="548640" y="4251960"/>
              <a:ext cx="1417320" cy="1207008"/>
            </a:xfrm>
            <a:prstGeom prst="rect">
              <a:avLst/>
            </a:prstGeom>
            <a:noFill/>
          </p:spPr>
          <p:txBody>
            <a:bodyPr wrap="square" lIns="18288" tIns="9144" rIns="18288" bIns="9144" anchor="ctr">
              <a:noAutofit/>
            </a:bodyPr>
            <a:lstStyle/>
            <a:p>
              <a:pPr algn="l"/>
              <a:r>
                <a:rPr lang="en-GB" sz="2000" b="1" i="0">
                  <a:solidFill>
                    <a:srgbClr val="F2F2F2"/>
                  </a:solidFill>
                  <a:latin typeface="Arial"/>
                </a:rPr>
                <a:t>Large</a:t>
              </a:r>
            </a:p>
          </p:txBody>
        </p:sp>
        <p:sp>
          <p:nvSpPr>
            <p:cNvPr id="202" name="panel"/>
            <p:cNvSpPr/>
            <p:nvPr/>
          </p:nvSpPr>
          <p:spPr>
            <a:xfrm>
              <a:off x="2011680" y="4251960"/>
              <a:ext cx="3108960" cy="1207008"/>
            </a:xfrm>
            <a:prstGeom prst="roundRect">
              <a:avLst>
                <a:gd name="adj" fmla="val 7575"/>
              </a:avLst>
            </a:prstGeom>
            <a:solidFill>
              <a:srgbClr val="2B2F36"/>
            </a:solidFill>
            <a:ln w="19050">
              <a:solidFill>
                <a:srgbClr val="4A515B"/>
              </a:solidFill>
            </a:ln>
          </p:spPr>
          <p:txBody>
            <a:bodyPr rtlCol="0" anchor="ctr"/>
            <a:lstStyle/>
            <a:p>
              <a:pPr algn="ctr"/>
              <a:endParaRPr/>
            </a:p>
          </p:txBody>
        </p:sp>
        <p:sp>
          <p:nvSpPr>
            <p:cNvPr id="203" name="rail"/>
            <p:cNvSpPr/>
            <p:nvPr/>
          </p:nvSpPr>
          <p:spPr>
            <a:xfrm>
              <a:off x="2148840" y="5276088"/>
              <a:ext cx="2834640" cy="45720"/>
            </a:xfrm>
            <a:prstGeom prst="rect">
              <a:avLst/>
            </a:prstGeom>
            <a:solidFill>
              <a:srgbClr val="9AA0A6"/>
            </a:solidFill>
            <a:ln>
              <a:noFill/>
            </a:ln>
          </p:spPr>
          <p:txBody>
            <a:bodyPr rtlCol="0" anchor="ctr"/>
            <a:lstStyle/>
            <a:p>
              <a:pPr algn="ctr"/>
              <a:endParaRPr/>
            </a:p>
          </p:txBody>
        </p:sp>
        <p:sp>
          <p:nvSpPr>
            <p:cNvPr id="204" name="tender frame"/>
            <p:cNvSpPr/>
            <p:nvPr/>
          </p:nvSpPr>
          <p:spPr>
            <a:xfrm>
              <a:off x="2227021" y="5083835"/>
              <a:ext cx="543610" cy="59664"/>
            </a:xfrm>
            <a:prstGeom prst="rect">
              <a:avLst/>
            </a:prstGeom>
            <a:solidFill>
              <a:srgbClr val="3A3F47"/>
            </a:solidFill>
            <a:ln w="9525">
              <a:solidFill>
                <a:srgbClr val="9AA0A6"/>
              </a:solidFill>
            </a:ln>
          </p:spPr>
          <p:txBody>
            <a:bodyPr rtlCol="0" anchor="ctr"/>
            <a:lstStyle/>
            <a:p>
              <a:pPr algn="ctr"/>
              <a:endParaRPr/>
            </a:p>
          </p:txBody>
        </p:sp>
        <p:sp>
          <p:nvSpPr>
            <p:cNvPr id="205" name="tender body"/>
            <p:cNvSpPr/>
            <p:nvPr/>
          </p:nvSpPr>
          <p:spPr>
            <a:xfrm>
              <a:off x="2227021" y="4865065"/>
              <a:ext cx="543610" cy="218770"/>
            </a:xfrm>
            <a:prstGeom prst="roundRect">
              <a:avLst>
                <a:gd name="adj" fmla="val 3030"/>
              </a:avLst>
            </a:prstGeom>
            <a:solidFill>
              <a:srgbClr val="2BB5B0"/>
            </a:solidFill>
            <a:ln>
              <a:noFill/>
            </a:ln>
          </p:spPr>
          <p:txBody>
            <a:bodyPr rtlCol="0" anchor="ctr"/>
            <a:lstStyle/>
            <a:p>
              <a:pPr algn="ctr"/>
              <a:endParaRPr/>
            </a:p>
          </p:txBody>
        </p:sp>
        <p:sp>
          <p:nvSpPr>
            <p:cNvPr id="206" name="tender coal"/>
            <p:cNvSpPr/>
            <p:nvPr/>
          </p:nvSpPr>
          <p:spPr>
            <a:xfrm>
              <a:off x="2246909" y="4772253"/>
              <a:ext cx="503834" cy="92812"/>
            </a:xfrm>
            <a:custGeom>
              <a:avLst/>
              <a:gdLst/>
              <a:ahLst/>
              <a:cxnLst/>
              <a:rect l="l" t="t" r="r" b="b"/>
              <a:pathLst>
                <a:path w="503834" h="92812">
                  <a:moveTo>
                    <a:pt x="0" y="92812"/>
                  </a:moveTo>
                  <a:lnTo>
                    <a:pt x="99441" y="6630"/>
                  </a:lnTo>
                  <a:lnTo>
                    <a:pt x="298323" y="0"/>
                  </a:lnTo>
                  <a:lnTo>
                    <a:pt x="503834" y="92812"/>
                  </a:lnTo>
                  <a:close/>
                </a:path>
              </a:pathLst>
            </a:custGeom>
            <a:solidFill>
              <a:srgbClr val="1B1D21"/>
            </a:solidFill>
            <a:ln w="12700">
              <a:solidFill>
                <a:srgbClr val="6B7078"/>
              </a:solidFill>
            </a:ln>
          </p:spPr>
          <p:txBody>
            <a:bodyPr rtlCol="0" anchor="ctr"/>
            <a:lstStyle/>
            <a:p>
              <a:pPr algn="ctr"/>
              <a:endParaRPr/>
            </a:p>
          </p:txBody>
        </p:sp>
        <p:sp>
          <p:nvSpPr>
            <p:cNvPr id="207" name="coupling"/>
            <p:cNvSpPr/>
            <p:nvPr/>
          </p:nvSpPr>
          <p:spPr>
            <a:xfrm>
              <a:off x="2770632" y="5004282"/>
              <a:ext cx="46405" cy="19888"/>
            </a:xfrm>
            <a:prstGeom prst="rect">
              <a:avLst/>
            </a:prstGeom>
            <a:solidFill>
              <a:srgbClr val="9AA0A6"/>
            </a:solidFill>
            <a:ln>
              <a:noFill/>
            </a:ln>
          </p:spPr>
          <p:txBody>
            <a:bodyPr rtlCol="0" anchor="ctr"/>
            <a:lstStyle/>
            <a:p>
              <a:pPr algn="ctr"/>
              <a:endParaRPr/>
            </a:p>
          </p:txBody>
        </p:sp>
        <p:sp>
          <p:nvSpPr>
            <p:cNvPr id="208" name="wheel"/>
            <p:cNvSpPr/>
            <p:nvPr/>
          </p:nvSpPr>
          <p:spPr>
            <a:xfrm>
              <a:off x="2266797" y="509046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209" name="hub"/>
            <p:cNvSpPr/>
            <p:nvPr/>
          </p:nvSpPr>
          <p:spPr>
            <a:xfrm>
              <a:off x="2335478" y="5159145"/>
              <a:ext cx="48262" cy="48262"/>
            </a:xfrm>
            <a:prstGeom prst="ellipse">
              <a:avLst/>
            </a:prstGeom>
            <a:solidFill>
              <a:srgbClr val="9AA0A6"/>
            </a:solidFill>
            <a:ln>
              <a:noFill/>
            </a:ln>
          </p:spPr>
          <p:txBody>
            <a:bodyPr rtlCol="0" anchor="ctr"/>
            <a:lstStyle/>
            <a:p>
              <a:pPr algn="ctr"/>
              <a:endParaRPr/>
            </a:p>
          </p:txBody>
        </p:sp>
        <p:sp>
          <p:nvSpPr>
            <p:cNvPr id="210" name="wheel"/>
            <p:cNvSpPr/>
            <p:nvPr/>
          </p:nvSpPr>
          <p:spPr>
            <a:xfrm>
              <a:off x="2545232" y="509046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211" name="hub"/>
            <p:cNvSpPr/>
            <p:nvPr/>
          </p:nvSpPr>
          <p:spPr>
            <a:xfrm>
              <a:off x="2613912" y="5159145"/>
              <a:ext cx="48262" cy="48262"/>
            </a:xfrm>
            <a:prstGeom prst="ellipse">
              <a:avLst/>
            </a:prstGeom>
            <a:solidFill>
              <a:srgbClr val="9AA0A6"/>
            </a:solidFill>
            <a:ln>
              <a:noFill/>
            </a:ln>
          </p:spPr>
          <p:txBody>
            <a:bodyPr rtlCol="0" anchor="ctr"/>
            <a:lstStyle/>
            <a:p>
              <a:pPr algn="ctr"/>
              <a:endParaRPr/>
            </a:p>
          </p:txBody>
        </p:sp>
        <p:sp>
          <p:nvSpPr>
            <p:cNvPr id="212" name="frame"/>
            <p:cNvSpPr/>
            <p:nvPr/>
          </p:nvSpPr>
          <p:spPr>
            <a:xfrm>
              <a:off x="2817037" y="5083835"/>
              <a:ext cx="2041855" cy="59664"/>
            </a:xfrm>
            <a:prstGeom prst="rect">
              <a:avLst/>
            </a:prstGeom>
            <a:solidFill>
              <a:srgbClr val="3A3F47"/>
            </a:solidFill>
            <a:ln w="9525">
              <a:solidFill>
                <a:srgbClr val="9AA0A6"/>
              </a:solidFill>
            </a:ln>
          </p:spPr>
          <p:txBody>
            <a:bodyPr rtlCol="0" anchor="ctr"/>
            <a:lstStyle/>
            <a:p>
              <a:pPr algn="ctr"/>
              <a:endParaRPr/>
            </a:p>
          </p:txBody>
        </p:sp>
        <p:sp>
          <p:nvSpPr>
            <p:cNvPr id="213" name="cab"/>
            <p:cNvSpPr/>
            <p:nvPr/>
          </p:nvSpPr>
          <p:spPr>
            <a:xfrm>
              <a:off x="2817037" y="4719218"/>
              <a:ext cx="265176" cy="364617"/>
            </a:xfrm>
            <a:prstGeom prst="roundRect">
              <a:avLst>
                <a:gd name="adj" fmla="val 2500"/>
              </a:avLst>
            </a:prstGeom>
            <a:solidFill>
              <a:srgbClr val="2BB5B0"/>
            </a:solidFill>
            <a:ln>
              <a:noFill/>
            </a:ln>
          </p:spPr>
          <p:txBody>
            <a:bodyPr rtlCol="0" anchor="ctr"/>
            <a:lstStyle/>
            <a:p>
              <a:pPr algn="ctr"/>
              <a:endParaRPr/>
            </a:p>
          </p:txBody>
        </p:sp>
        <p:sp>
          <p:nvSpPr>
            <p:cNvPr id="214" name="cab roof"/>
            <p:cNvSpPr/>
            <p:nvPr/>
          </p:nvSpPr>
          <p:spPr>
            <a:xfrm>
              <a:off x="2803779" y="4686071"/>
              <a:ext cx="291693" cy="33147"/>
            </a:xfrm>
            <a:prstGeom prst="rect">
              <a:avLst/>
            </a:prstGeom>
            <a:solidFill>
              <a:srgbClr val="3A3F47"/>
            </a:solidFill>
            <a:ln w="9525">
              <a:solidFill>
                <a:srgbClr val="9AA0A6"/>
              </a:solidFill>
            </a:ln>
          </p:spPr>
          <p:txBody>
            <a:bodyPr rtlCol="0" anchor="ctr"/>
            <a:lstStyle/>
            <a:p>
              <a:pPr algn="ctr"/>
              <a:endParaRPr/>
            </a:p>
          </p:txBody>
        </p:sp>
        <p:sp>
          <p:nvSpPr>
            <p:cNvPr id="215" name="cab window"/>
            <p:cNvSpPr/>
            <p:nvPr/>
          </p:nvSpPr>
          <p:spPr>
            <a:xfrm>
              <a:off x="2883331" y="4772253"/>
              <a:ext cx="119329" cy="119329"/>
            </a:xfrm>
            <a:prstGeom prst="rect">
              <a:avLst/>
            </a:prstGeom>
            <a:solidFill>
              <a:srgbClr val="1B1D21"/>
            </a:solidFill>
            <a:ln>
              <a:noFill/>
            </a:ln>
          </p:spPr>
          <p:txBody>
            <a:bodyPr rtlCol="0" anchor="ctr"/>
            <a:lstStyle/>
            <a:p>
              <a:pPr algn="ctr"/>
              <a:endParaRPr/>
            </a:p>
          </p:txBody>
        </p:sp>
        <p:sp>
          <p:nvSpPr>
            <p:cNvPr id="216" name="boiler"/>
            <p:cNvSpPr/>
            <p:nvPr/>
          </p:nvSpPr>
          <p:spPr>
            <a:xfrm>
              <a:off x="3082213" y="4752365"/>
              <a:ext cx="1644091" cy="265176"/>
            </a:xfrm>
            <a:prstGeom prst="roundRect">
              <a:avLst>
                <a:gd name="adj" fmla="val 25000"/>
              </a:avLst>
            </a:prstGeom>
            <a:solidFill>
              <a:srgbClr val="2BB5B0"/>
            </a:solidFill>
            <a:ln>
              <a:noFill/>
            </a:ln>
          </p:spPr>
          <p:txBody>
            <a:bodyPr rtlCol="0" anchor="ctr"/>
            <a:lstStyle/>
            <a:p>
              <a:pPr algn="ctr"/>
              <a:endParaRPr/>
            </a:p>
          </p:txBody>
        </p:sp>
        <p:sp>
          <p:nvSpPr>
            <p:cNvPr id="217" name="boiler band"/>
            <p:cNvSpPr/>
            <p:nvPr/>
          </p:nvSpPr>
          <p:spPr>
            <a:xfrm>
              <a:off x="3575441" y="4752365"/>
              <a:ext cx="9281" cy="265176"/>
            </a:xfrm>
            <a:prstGeom prst="rect">
              <a:avLst/>
            </a:prstGeom>
            <a:solidFill>
              <a:srgbClr val="1E827E"/>
            </a:solidFill>
            <a:ln>
              <a:noFill/>
            </a:ln>
          </p:spPr>
          <p:txBody>
            <a:bodyPr rtlCol="0" anchor="ctr"/>
            <a:lstStyle/>
            <a:p>
              <a:pPr algn="ctr"/>
              <a:endParaRPr/>
            </a:p>
          </p:txBody>
        </p:sp>
        <p:sp>
          <p:nvSpPr>
            <p:cNvPr id="218" name="boiler band"/>
            <p:cNvSpPr/>
            <p:nvPr/>
          </p:nvSpPr>
          <p:spPr>
            <a:xfrm>
              <a:off x="3986463" y="4752365"/>
              <a:ext cx="9281" cy="265176"/>
            </a:xfrm>
            <a:prstGeom prst="rect">
              <a:avLst/>
            </a:prstGeom>
            <a:solidFill>
              <a:srgbClr val="1E827E"/>
            </a:solidFill>
            <a:ln>
              <a:noFill/>
            </a:ln>
          </p:spPr>
          <p:txBody>
            <a:bodyPr rtlCol="0" anchor="ctr"/>
            <a:lstStyle/>
            <a:p>
              <a:pPr algn="ctr"/>
              <a:endParaRPr/>
            </a:p>
          </p:txBody>
        </p:sp>
        <p:sp>
          <p:nvSpPr>
            <p:cNvPr id="219" name="boiler band"/>
            <p:cNvSpPr/>
            <p:nvPr/>
          </p:nvSpPr>
          <p:spPr>
            <a:xfrm>
              <a:off x="4397486" y="4752365"/>
              <a:ext cx="9281" cy="265176"/>
            </a:xfrm>
            <a:prstGeom prst="rect">
              <a:avLst/>
            </a:prstGeom>
            <a:solidFill>
              <a:srgbClr val="1E827E"/>
            </a:solidFill>
            <a:ln>
              <a:noFill/>
            </a:ln>
          </p:spPr>
          <p:txBody>
            <a:bodyPr rtlCol="0" anchor="ctr"/>
            <a:lstStyle/>
            <a:p>
              <a:pPr algn="ctr"/>
              <a:endParaRPr/>
            </a:p>
          </p:txBody>
        </p:sp>
        <p:sp>
          <p:nvSpPr>
            <p:cNvPr id="220" name="smokebox"/>
            <p:cNvSpPr/>
            <p:nvPr/>
          </p:nvSpPr>
          <p:spPr>
            <a:xfrm>
              <a:off x="4726305" y="4752365"/>
              <a:ext cx="132588" cy="265176"/>
            </a:xfrm>
            <a:prstGeom prst="roundRect">
              <a:avLst>
                <a:gd name="adj" fmla="val 12000"/>
              </a:avLst>
            </a:prstGeom>
            <a:solidFill>
              <a:srgbClr val="4A515B"/>
            </a:solidFill>
            <a:ln>
              <a:noFill/>
            </a:ln>
          </p:spPr>
          <p:txBody>
            <a:bodyPr rtlCol="0" anchor="ctr"/>
            <a:lstStyle/>
            <a:p>
              <a:pPr algn="ctr"/>
              <a:endParaRPr/>
            </a:p>
          </p:txBody>
        </p:sp>
        <p:sp>
          <p:nvSpPr>
            <p:cNvPr id="221" name="chimney"/>
            <p:cNvSpPr/>
            <p:nvPr/>
          </p:nvSpPr>
          <p:spPr>
            <a:xfrm>
              <a:off x="4752822" y="4613148"/>
              <a:ext cx="79552" cy="139217"/>
            </a:xfrm>
            <a:prstGeom prst="rect">
              <a:avLst/>
            </a:prstGeom>
            <a:solidFill>
              <a:srgbClr val="3A3F47"/>
            </a:solidFill>
            <a:ln w="9525">
              <a:solidFill>
                <a:srgbClr val="9AA0A6"/>
              </a:solidFill>
            </a:ln>
          </p:spPr>
          <p:txBody>
            <a:bodyPr rtlCol="0" anchor="ctr"/>
            <a:lstStyle/>
            <a:p>
              <a:pPr algn="ctr"/>
              <a:endParaRPr/>
            </a:p>
          </p:txBody>
        </p:sp>
        <p:sp>
          <p:nvSpPr>
            <p:cNvPr id="222" name="chimney lip"/>
            <p:cNvSpPr/>
            <p:nvPr/>
          </p:nvSpPr>
          <p:spPr>
            <a:xfrm>
              <a:off x="4732934" y="4593259"/>
              <a:ext cx="119329" cy="33147"/>
            </a:xfrm>
            <a:prstGeom prst="rect">
              <a:avLst/>
            </a:prstGeom>
            <a:solidFill>
              <a:srgbClr val="3A3F47"/>
            </a:solidFill>
            <a:ln w="9525">
              <a:solidFill>
                <a:srgbClr val="9AA0A6"/>
              </a:solidFill>
            </a:ln>
          </p:spPr>
          <p:txBody>
            <a:bodyPr rtlCol="0" anchor="ctr"/>
            <a:lstStyle/>
            <a:p>
              <a:pPr algn="ctr"/>
              <a:endParaRPr/>
            </a:p>
          </p:txBody>
        </p:sp>
        <p:sp>
          <p:nvSpPr>
            <p:cNvPr id="223" name="dome"/>
            <p:cNvSpPr/>
            <p:nvPr/>
          </p:nvSpPr>
          <p:spPr>
            <a:xfrm>
              <a:off x="3739850" y="4679442"/>
              <a:ext cx="119329" cy="72923"/>
            </a:xfrm>
            <a:prstGeom prst="roundRect">
              <a:avLst>
                <a:gd name="adj" fmla="val 36363"/>
              </a:avLst>
            </a:prstGeom>
            <a:solidFill>
              <a:srgbClr val="2BB5B0"/>
            </a:solidFill>
            <a:ln>
              <a:noFill/>
            </a:ln>
          </p:spPr>
          <p:txBody>
            <a:bodyPr rtlCol="0" anchor="ctr"/>
            <a:lstStyle/>
            <a:p>
              <a:pPr algn="ctr"/>
              <a:endParaRPr/>
            </a:p>
          </p:txBody>
        </p:sp>
        <p:sp>
          <p:nvSpPr>
            <p:cNvPr id="224" name="wheel"/>
            <p:cNvSpPr/>
            <p:nvPr/>
          </p:nvSpPr>
          <p:spPr>
            <a:xfrm>
              <a:off x="2836926"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225" name="hub"/>
            <p:cNvSpPr/>
            <p:nvPr/>
          </p:nvSpPr>
          <p:spPr>
            <a:xfrm>
              <a:off x="2935041" y="5109027"/>
              <a:ext cx="68945" cy="68945"/>
            </a:xfrm>
            <a:prstGeom prst="ellipse">
              <a:avLst/>
            </a:prstGeom>
            <a:solidFill>
              <a:srgbClr val="9AA0A6"/>
            </a:solidFill>
            <a:ln>
              <a:noFill/>
            </a:ln>
          </p:spPr>
          <p:txBody>
            <a:bodyPr rtlCol="0" anchor="ctr"/>
            <a:lstStyle/>
            <a:p>
              <a:pPr algn="ctr"/>
              <a:endParaRPr/>
            </a:p>
          </p:txBody>
        </p:sp>
        <p:sp>
          <p:nvSpPr>
            <p:cNvPr id="226" name="wheel"/>
            <p:cNvSpPr/>
            <p:nvPr/>
          </p:nvSpPr>
          <p:spPr>
            <a:xfrm>
              <a:off x="3135249"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227" name="hub"/>
            <p:cNvSpPr/>
            <p:nvPr/>
          </p:nvSpPr>
          <p:spPr>
            <a:xfrm>
              <a:off x="3233364" y="5109027"/>
              <a:ext cx="68945" cy="68945"/>
            </a:xfrm>
            <a:prstGeom prst="ellipse">
              <a:avLst/>
            </a:prstGeom>
            <a:solidFill>
              <a:srgbClr val="9AA0A6"/>
            </a:solidFill>
            <a:ln>
              <a:noFill/>
            </a:ln>
          </p:spPr>
          <p:txBody>
            <a:bodyPr rtlCol="0" anchor="ctr"/>
            <a:lstStyle/>
            <a:p>
              <a:pPr algn="ctr"/>
              <a:endParaRPr/>
            </a:p>
          </p:txBody>
        </p:sp>
        <p:sp>
          <p:nvSpPr>
            <p:cNvPr id="228" name="wheel"/>
            <p:cNvSpPr/>
            <p:nvPr/>
          </p:nvSpPr>
          <p:spPr>
            <a:xfrm>
              <a:off x="3433572"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229" name="hub"/>
            <p:cNvSpPr/>
            <p:nvPr/>
          </p:nvSpPr>
          <p:spPr>
            <a:xfrm>
              <a:off x="3531687" y="5109027"/>
              <a:ext cx="68945" cy="68945"/>
            </a:xfrm>
            <a:prstGeom prst="ellipse">
              <a:avLst/>
            </a:prstGeom>
            <a:solidFill>
              <a:srgbClr val="9AA0A6"/>
            </a:solidFill>
            <a:ln>
              <a:noFill/>
            </a:ln>
          </p:spPr>
          <p:txBody>
            <a:bodyPr rtlCol="0" anchor="ctr"/>
            <a:lstStyle/>
            <a:p>
              <a:pPr algn="ctr"/>
              <a:endParaRPr/>
            </a:p>
          </p:txBody>
        </p:sp>
        <p:sp>
          <p:nvSpPr>
            <p:cNvPr id="230" name="wheel"/>
            <p:cNvSpPr/>
            <p:nvPr/>
          </p:nvSpPr>
          <p:spPr>
            <a:xfrm>
              <a:off x="3731895"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231" name="hub"/>
            <p:cNvSpPr/>
            <p:nvPr/>
          </p:nvSpPr>
          <p:spPr>
            <a:xfrm>
              <a:off x="3830010" y="5109027"/>
              <a:ext cx="68945" cy="68945"/>
            </a:xfrm>
            <a:prstGeom prst="ellipse">
              <a:avLst/>
            </a:prstGeom>
            <a:solidFill>
              <a:srgbClr val="9AA0A6"/>
            </a:solidFill>
            <a:ln>
              <a:noFill/>
            </a:ln>
          </p:spPr>
          <p:txBody>
            <a:bodyPr rtlCol="0" anchor="ctr"/>
            <a:lstStyle/>
            <a:p>
              <a:pPr algn="ctr"/>
              <a:endParaRPr/>
            </a:p>
          </p:txBody>
        </p:sp>
        <p:sp>
          <p:nvSpPr>
            <p:cNvPr id="232" name="wheel"/>
            <p:cNvSpPr/>
            <p:nvPr/>
          </p:nvSpPr>
          <p:spPr>
            <a:xfrm>
              <a:off x="4030218"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233" name="hub"/>
            <p:cNvSpPr/>
            <p:nvPr/>
          </p:nvSpPr>
          <p:spPr>
            <a:xfrm>
              <a:off x="4128333" y="5109027"/>
              <a:ext cx="68945" cy="68945"/>
            </a:xfrm>
            <a:prstGeom prst="ellipse">
              <a:avLst/>
            </a:prstGeom>
            <a:solidFill>
              <a:srgbClr val="9AA0A6"/>
            </a:solidFill>
            <a:ln>
              <a:noFill/>
            </a:ln>
          </p:spPr>
          <p:txBody>
            <a:bodyPr rtlCol="0" anchor="ctr"/>
            <a:lstStyle/>
            <a:p>
              <a:pPr algn="ctr"/>
              <a:endParaRPr/>
            </a:p>
          </p:txBody>
        </p:sp>
        <p:sp>
          <p:nvSpPr>
            <p:cNvPr id="234" name="wheel"/>
            <p:cNvSpPr/>
            <p:nvPr/>
          </p:nvSpPr>
          <p:spPr>
            <a:xfrm>
              <a:off x="4394834" y="5130241"/>
              <a:ext cx="145846" cy="145846"/>
            </a:xfrm>
            <a:prstGeom prst="ellipse">
              <a:avLst/>
            </a:prstGeom>
            <a:solidFill>
              <a:srgbClr val="1B1D21"/>
            </a:solidFill>
            <a:ln w="19050">
              <a:solidFill>
                <a:srgbClr val="9AA0A6"/>
              </a:solidFill>
            </a:ln>
          </p:spPr>
          <p:txBody>
            <a:bodyPr rtlCol="0" anchor="ctr"/>
            <a:lstStyle/>
            <a:p>
              <a:pPr algn="ctr"/>
              <a:endParaRPr/>
            </a:p>
          </p:txBody>
        </p:sp>
        <p:sp>
          <p:nvSpPr>
            <p:cNvPr id="235" name="hub"/>
            <p:cNvSpPr/>
            <p:nvPr/>
          </p:nvSpPr>
          <p:spPr>
            <a:xfrm>
              <a:off x="4448798" y="5184204"/>
              <a:ext cx="37920" cy="37920"/>
            </a:xfrm>
            <a:prstGeom prst="ellipse">
              <a:avLst/>
            </a:prstGeom>
            <a:solidFill>
              <a:srgbClr val="9AA0A6"/>
            </a:solidFill>
            <a:ln>
              <a:noFill/>
            </a:ln>
          </p:spPr>
          <p:txBody>
            <a:bodyPr rtlCol="0" anchor="ctr"/>
            <a:lstStyle/>
            <a:p>
              <a:pPr algn="ctr"/>
              <a:endParaRPr/>
            </a:p>
          </p:txBody>
        </p:sp>
        <p:sp>
          <p:nvSpPr>
            <p:cNvPr id="236" name="coupling rod"/>
            <p:cNvSpPr/>
            <p:nvPr/>
          </p:nvSpPr>
          <p:spPr>
            <a:xfrm>
              <a:off x="2969514" y="5067924"/>
              <a:ext cx="1193292" cy="18562"/>
            </a:xfrm>
            <a:prstGeom prst="rect">
              <a:avLst/>
            </a:prstGeom>
            <a:solidFill>
              <a:srgbClr val="D0D4D8"/>
            </a:solidFill>
            <a:ln>
              <a:noFill/>
            </a:ln>
          </p:spPr>
          <p:txBody>
            <a:bodyPr rtlCol="0" anchor="ctr"/>
            <a:lstStyle/>
            <a:p>
              <a:pPr algn="ctr"/>
              <a:endParaRPr/>
            </a:p>
          </p:txBody>
        </p:sp>
        <p:sp>
          <p:nvSpPr>
            <p:cNvPr id="237" name="buffer beam"/>
            <p:cNvSpPr/>
            <p:nvPr/>
          </p:nvSpPr>
          <p:spPr>
            <a:xfrm>
              <a:off x="4858893" y="5024170"/>
              <a:ext cx="39776" cy="119329"/>
            </a:xfrm>
            <a:prstGeom prst="rect">
              <a:avLst/>
            </a:prstGeom>
            <a:solidFill>
              <a:srgbClr val="9AA0A6"/>
            </a:solidFill>
            <a:ln>
              <a:noFill/>
            </a:ln>
          </p:spPr>
          <p:txBody>
            <a:bodyPr rtlCol="0" anchor="ctr"/>
            <a:lstStyle/>
            <a:p>
              <a:pPr algn="ctr"/>
              <a:endParaRPr/>
            </a:p>
          </p:txBody>
        </p:sp>
        <p:sp>
          <p:nvSpPr>
            <p:cNvPr id="238" name="panel"/>
            <p:cNvSpPr/>
            <p:nvPr/>
          </p:nvSpPr>
          <p:spPr>
            <a:xfrm>
              <a:off x="5212080" y="4251960"/>
              <a:ext cx="3108960" cy="1207008"/>
            </a:xfrm>
            <a:prstGeom prst="roundRect">
              <a:avLst>
                <a:gd name="adj" fmla="val 7575"/>
              </a:avLst>
            </a:prstGeom>
            <a:solidFill>
              <a:srgbClr val="2B2F36"/>
            </a:solidFill>
            <a:ln w="19050">
              <a:solidFill>
                <a:srgbClr val="4A515B"/>
              </a:solidFill>
            </a:ln>
          </p:spPr>
          <p:txBody>
            <a:bodyPr rtlCol="0" anchor="ctr"/>
            <a:lstStyle/>
            <a:p>
              <a:pPr algn="ctr"/>
              <a:endParaRPr/>
            </a:p>
          </p:txBody>
        </p:sp>
        <p:sp>
          <p:nvSpPr>
            <p:cNvPr id="239" name="rail"/>
            <p:cNvSpPr/>
            <p:nvPr/>
          </p:nvSpPr>
          <p:spPr>
            <a:xfrm>
              <a:off x="5349240" y="5276088"/>
              <a:ext cx="2834640" cy="45720"/>
            </a:xfrm>
            <a:prstGeom prst="rect">
              <a:avLst/>
            </a:prstGeom>
            <a:solidFill>
              <a:srgbClr val="9AA0A6"/>
            </a:solidFill>
            <a:ln>
              <a:noFill/>
            </a:ln>
          </p:spPr>
          <p:txBody>
            <a:bodyPr rtlCol="0" anchor="ctr"/>
            <a:lstStyle/>
            <a:p>
              <a:pPr algn="ctr"/>
              <a:endParaRPr/>
            </a:p>
          </p:txBody>
        </p:sp>
        <p:sp>
          <p:nvSpPr>
            <p:cNvPr id="240" name="tender frame"/>
            <p:cNvSpPr/>
            <p:nvPr/>
          </p:nvSpPr>
          <p:spPr>
            <a:xfrm>
              <a:off x="5420791" y="5063947"/>
              <a:ext cx="609904" cy="59664"/>
            </a:xfrm>
            <a:prstGeom prst="rect">
              <a:avLst/>
            </a:prstGeom>
            <a:solidFill>
              <a:srgbClr val="3A3F47"/>
            </a:solidFill>
            <a:ln w="9525">
              <a:solidFill>
                <a:srgbClr val="9AA0A6"/>
              </a:solidFill>
            </a:ln>
          </p:spPr>
          <p:txBody>
            <a:bodyPr rtlCol="0" anchor="ctr"/>
            <a:lstStyle/>
            <a:p>
              <a:pPr algn="ctr"/>
              <a:endParaRPr/>
            </a:p>
          </p:txBody>
        </p:sp>
        <p:sp>
          <p:nvSpPr>
            <p:cNvPr id="241" name="tender body"/>
            <p:cNvSpPr/>
            <p:nvPr/>
          </p:nvSpPr>
          <p:spPr>
            <a:xfrm>
              <a:off x="5420791" y="4798771"/>
              <a:ext cx="609904" cy="265176"/>
            </a:xfrm>
            <a:prstGeom prst="roundRect">
              <a:avLst>
                <a:gd name="adj" fmla="val 2500"/>
              </a:avLst>
            </a:prstGeom>
            <a:solidFill>
              <a:srgbClr val="D6619B"/>
            </a:solidFill>
            <a:ln>
              <a:noFill/>
            </a:ln>
          </p:spPr>
          <p:txBody>
            <a:bodyPr rtlCol="0" anchor="ctr"/>
            <a:lstStyle/>
            <a:p>
              <a:pPr algn="ctr"/>
              <a:endParaRPr/>
            </a:p>
          </p:txBody>
        </p:sp>
        <p:sp>
          <p:nvSpPr>
            <p:cNvPr id="242" name="tender coal"/>
            <p:cNvSpPr/>
            <p:nvPr/>
          </p:nvSpPr>
          <p:spPr>
            <a:xfrm>
              <a:off x="5440680" y="4712589"/>
              <a:ext cx="570128" cy="86182"/>
            </a:xfrm>
            <a:custGeom>
              <a:avLst/>
              <a:gdLst/>
              <a:ahLst/>
              <a:cxnLst/>
              <a:rect l="l" t="t" r="r" b="b"/>
              <a:pathLst>
                <a:path w="570128" h="86182">
                  <a:moveTo>
                    <a:pt x="0" y="86182"/>
                  </a:moveTo>
                  <a:lnTo>
                    <a:pt x="99441" y="6629"/>
                  </a:lnTo>
                  <a:lnTo>
                    <a:pt x="324840" y="0"/>
                  </a:lnTo>
                  <a:lnTo>
                    <a:pt x="570128" y="86182"/>
                  </a:lnTo>
                  <a:close/>
                </a:path>
              </a:pathLst>
            </a:custGeom>
            <a:solidFill>
              <a:srgbClr val="1B1D21"/>
            </a:solidFill>
            <a:ln w="12700">
              <a:solidFill>
                <a:srgbClr val="6B7078"/>
              </a:solidFill>
            </a:ln>
          </p:spPr>
          <p:txBody>
            <a:bodyPr rtlCol="0" anchor="ctr"/>
            <a:lstStyle/>
            <a:p>
              <a:pPr algn="ctr"/>
              <a:endParaRPr/>
            </a:p>
          </p:txBody>
        </p:sp>
        <p:sp>
          <p:nvSpPr>
            <p:cNvPr id="243" name="coupling"/>
            <p:cNvSpPr/>
            <p:nvPr/>
          </p:nvSpPr>
          <p:spPr>
            <a:xfrm>
              <a:off x="6030696" y="4964506"/>
              <a:ext cx="53035" cy="19888"/>
            </a:xfrm>
            <a:prstGeom prst="rect">
              <a:avLst/>
            </a:prstGeom>
            <a:solidFill>
              <a:srgbClr val="9AA0A6"/>
            </a:solidFill>
            <a:ln>
              <a:noFill/>
            </a:ln>
          </p:spPr>
          <p:txBody>
            <a:bodyPr rtlCol="0" anchor="ctr"/>
            <a:lstStyle/>
            <a:p>
              <a:pPr algn="ctr"/>
              <a:endParaRPr/>
            </a:p>
          </p:txBody>
        </p:sp>
        <p:sp>
          <p:nvSpPr>
            <p:cNvPr id="244" name="wheel"/>
            <p:cNvSpPr/>
            <p:nvPr/>
          </p:nvSpPr>
          <p:spPr>
            <a:xfrm>
              <a:off x="5460568" y="511698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245" name="hub"/>
            <p:cNvSpPr/>
            <p:nvPr/>
          </p:nvSpPr>
          <p:spPr>
            <a:xfrm>
              <a:off x="5519437" y="5175851"/>
              <a:ext cx="41367" cy="41367"/>
            </a:xfrm>
            <a:prstGeom prst="ellipse">
              <a:avLst/>
            </a:prstGeom>
            <a:solidFill>
              <a:srgbClr val="9AA0A6"/>
            </a:solidFill>
            <a:ln>
              <a:noFill/>
            </a:ln>
          </p:spPr>
          <p:txBody>
            <a:bodyPr rtlCol="0" anchor="ctr"/>
            <a:lstStyle/>
            <a:p>
              <a:pPr algn="ctr"/>
              <a:endParaRPr/>
            </a:p>
          </p:txBody>
        </p:sp>
        <p:sp>
          <p:nvSpPr>
            <p:cNvPr id="246" name="wheel"/>
            <p:cNvSpPr/>
            <p:nvPr/>
          </p:nvSpPr>
          <p:spPr>
            <a:xfrm>
              <a:off x="5593156" y="511698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247" name="hub"/>
            <p:cNvSpPr/>
            <p:nvPr/>
          </p:nvSpPr>
          <p:spPr>
            <a:xfrm>
              <a:off x="5652025" y="5175851"/>
              <a:ext cx="41367" cy="41367"/>
            </a:xfrm>
            <a:prstGeom prst="ellipse">
              <a:avLst/>
            </a:prstGeom>
            <a:solidFill>
              <a:srgbClr val="9AA0A6"/>
            </a:solidFill>
            <a:ln>
              <a:noFill/>
            </a:ln>
          </p:spPr>
          <p:txBody>
            <a:bodyPr rtlCol="0" anchor="ctr"/>
            <a:lstStyle/>
            <a:p>
              <a:pPr algn="ctr"/>
              <a:endParaRPr/>
            </a:p>
          </p:txBody>
        </p:sp>
        <p:sp>
          <p:nvSpPr>
            <p:cNvPr id="248" name="wheel"/>
            <p:cNvSpPr/>
            <p:nvPr/>
          </p:nvSpPr>
          <p:spPr>
            <a:xfrm>
              <a:off x="5699226" y="511698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249" name="hub"/>
            <p:cNvSpPr/>
            <p:nvPr/>
          </p:nvSpPr>
          <p:spPr>
            <a:xfrm>
              <a:off x="5758095" y="5175851"/>
              <a:ext cx="41367" cy="41367"/>
            </a:xfrm>
            <a:prstGeom prst="ellipse">
              <a:avLst/>
            </a:prstGeom>
            <a:solidFill>
              <a:srgbClr val="9AA0A6"/>
            </a:solidFill>
            <a:ln>
              <a:noFill/>
            </a:ln>
          </p:spPr>
          <p:txBody>
            <a:bodyPr rtlCol="0" anchor="ctr"/>
            <a:lstStyle/>
            <a:p>
              <a:pPr algn="ctr"/>
              <a:endParaRPr/>
            </a:p>
          </p:txBody>
        </p:sp>
        <p:sp>
          <p:nvSpPr>
            <p:cNvPr id="250" name="wheel"/>
            <p:cNvSpPr/>
            <p:nvPr/>
          </p:nvSpPr>
          <p:spPr>
            <a:xfrm>
              <a:off x="5831814" y="5116982"/>
              <a:ext cx="159105" cy="159105"/>
            </a:xfrm>
            <a:prstGeom prst="ellipse">
              <a:avLst/>
            </a:prstGeom>
            <a:solidFill>
              <a:srgbClr val="1B1D21"/>
            </a:solidFill>
            <a:ln w="19050">
              <a:solidFill>
                <a:srgbClr val="9AA0A6"/>
              </a:solidFill>
            </a:ln>
          </p:spPr>
          <p:txBody>
            <a:bodyPr rtlCol="0" anchor="ctr"/>
            <a:lstStyle/>
            <a:p>
              <a:pPr algn="ctr"/>
              <a:endParaRPr/>
            </a:p>
          </p:txBody>
        </p:sp>
        <p:sp>
          <p:nvSpPr>
            <p:cNvPr id="251" name="hub"/>
            <p:cNvSpPr/>
            <p:nvPr/>
          </p:nvSpPr>
          <p:spPr>
            <a:xfrm>
              <a:off x="5890683" y="5175851"/>
              <a:ext cx="41367" cy="41367"/>
            </a:xfrm>
            <a:prstGeom prst="ellipse">
              <a:avLst/>
            </a:prstGeom>
            <a:solidFill>
              <a:srgbClr val="9AA0A6"/>
            </a:solidFill>
            <a:ln>
              <a:noFill/>
            </a:ln>
          </p:spPr>
          <p:txBody>
            <a:bodyPr rtlCol="0" anchor="ctr"/>
            <a:lstStyle/>
            <a:p>
              <a:pPr algn="ctr"/>
              <a:endParaRPr/>
            </a:p>
          </p:txBody>
        </p:sp>
        <p:sp>
          <p:nvSpPr>
            <p:cNvPr id="252" name="frame"/>
            <p:cNvSpPr/>
            <p:nvPr/>
          </p:nvSpPr>
          <p:spPr>
            <a:xfrm>
              <a:off x="6083731" y="5063947"/>
              <a:ext cx="1890174" cy="59664"/>
            </a:xfrm>
            <a:prstGeom prst="rect">
              <a:avLst/>
            </a:prstGeom>
            <a:solidFill>
              <a:srgbClr val="3A3F47"/>
            </a:solidFill>
            <a:ln w="9525">
              <a:solidFill>
                <a:srgbClr val="9AA0A6"/>
              </a:solidFill>
            </a:ln>
          </p:spPr>
          <p:txBody>
            <a:bodyPr rtlCol="0" anchor="ctr"/>
            <a:lstStyle/>
            <a:p>
              <a:pPr algn="ctr"/>
              <a:endParaRPr/>
            </a:p>
          </p:txBody>
        </p:sp>
        <p:sp>
          <p:nvSpPr>
            <p:cNvPr id="253" name="cab"/>
            <p:cNvSpPr/>
            <p:nvPr/>
          </p:nvSpPr>
          <p:spPr>
            <a:xfrm>
              <a:off x="6083731" y="4613148"/>
              <a:ext cx="304952" cy="450799"/>
            </a:xfrm>
            <a:prstGeom prst="roundRect">
              <a:avLst>
                <a:gd name="adj" fmla="val 2173"/>
              </a:avLst>
            </a:prstGeom>
            <a:solidFill>
              <a:srgbClr val="D6619B"/>
            </a:solidFill>
            <a:ln>
              <a:noFill/>
            </a:ln>
          </p:spPr>
          <p:txBody>
            <a:bodyPr rtlCol="0" anchor="ctr"/>
            <a:lstStyle/>
            <a:p>
              <a:pPr algn="ctr"/>
              <a:endParaRPr/>
            </a:p>
          </p:txBody>
        </p:sp>
        <p:sp>
          <p:nvSpPr>
            <p:cNvPr id="254" name="cab roof"/>
            <p:cNvSpPr/>
            <p:nvPr/>
          </p:nvSpPr>
          <p:spPr>
            <a:xfrm>
              <a:off x="6057214" y="4573371"/>
              <a:ext cx="357987" cy="39776"/>
            </a:xfrm>
            <a:prstGeom prst="rect">
              <a:avLst/>
            </a:prstGeom>
            <a:solidFill>
              <a:srgbClr val="3A3F47"/>
            </a:solidFill>
            <a:ln w="9525">
              <a:solidFill>
                <a:srgbClr val="9AA0A6"/>
              </a:solidFill>
            </a:ln>
          </p:spPr>
          <p:txBody>
            <a:bodyPr rtlCol="0" anchor="ctr"/>
            <a:lstStyle/>
            <a:p>
              <a:pPr algn="ctr"/>
              <a:endParaRPr/>
            </a:p>
          </p:txBody>
        </p:sp>
        <p:sp>
          <p:nvSpPr>
            <p:cNvPr id="255" name="cab window"/>
            <p:cNvSpPr/>
            <p:nvPr/>
          </p:nvSpPr>
          <p:spPr>
            <a:xfrm>
              <a:off x="6156655" y="4679442"/>
              <a:ext cx="132588" cy="145846"/>
            </a:xfrm>
            <a:prstGeom prst="rect">
              <a:avLst/>
            </a:prstGeom>
            <a:solidFill>
              <a:srgbClr val="1B1D21"/>
            </a:solidFill>
            <a:ln>
              <a:noFill/>
            </a:ln>
          </p:spPr>
          <p:txBody>
            <a:bodyPr rtlCol="0" anchor="ctr"/>
            <a:lstStyle/>
            <a:p>
              <a:pPr algn="ctr"/>
              <a:endParaRPr/>
            </a:p>
          </p:txBody>
        </p:sp>
        <p:sp>
          <p:nvSpPr>
            <p:cNvPr id="256" name="boiler"/>
            <p:cNvSpPr/>
            <p:nvPr/>
          </p:nvSpPr>
          <p:spPr>
            <a:xfrm>
              <a:off x="6388684" y="4652924"/>
              <a:ext cx="1359822" cy="331470"/>
            </a:xfrm>
            <a:prstGeom prst="roundRect">
              <a:avLst>
                <a:gd name="adj" fmla="val 22000"/>
              </a:avLst>
            </a:prstGeom>
            <a:solidFill>
              <a:srgbClr val="D6619B"/>
            </a:solidFill>
            <a:ln>
              <a:noFill/>
            </a:ln>
          </p:spPr>
          <p:txBody>
            <a:bodyPr rtlCol="0" anchor="ctr"/>
            <a:lstStyle/>
            <a:p>
              <a:pPr algn="ctr"/>
              <a:endParaRPr/>
            </a:p>
          </p:txBody>
        </p:sp>
        <p:sp>
          <p:nvSpPr>
            <p:cNvPr id="257" name="smokebox"/>
            <p:cNvSpPr/>
            <p:nvPr/>
          </p:nvSpPr>
          <p:spPr>
            <a:xfrm>
              <a:off x="7748506" y="4652924"/>
              <a:ext cx="159105" cy="331470"/>
            </a:xfrm>
            <a:prstGeom prst="roundRect">
              <a:avLst>
                <a:gd name="adj" fmla="val 10000"/>
              </a:avLst>
            </a:prstGeom>
            <a:solidFill>
              <a:srgbClr val="4A515B"/>
            </a:solidFill>
            <a:ln>
              <a:noFill/>
            </a:ln>
          </p:spPr>
          <p:txBody>
            <a:bodyPr rtlCol="0" anchor="ctr"/>
            <a:lstStyle/>
            <a:p>
              <a:pPr algn="ctr"/>
              <a:endParaRPr/>
            </a:p>
          </p:txBody>
        </p:sp>
        <p:sp>
          <p:nvSpPr>
            <p:cNvPr id="258" name="funnel stack"/>
            <p:cNvSpPr/>
            <p:nvPr/>
          </p:nvSpPr>
          <p:spPr>
            <a:xfrm>
              <a:off x="7741877" y="4427524"/>
              <a:ext cx="159105" cy="225400"/>
            </a:xfrm>
            <a:custGeom>
              <a:avLst/>
              <a:gdLst/>
              <a:ahLst/>
              <a:cxnLst/>
              <a:rect l="l" t="t" r="r" b="b"/>
              <a:pathLst>
                <a:path w="159105" h="225400">
                  <a:moveTo>
                    <a:pt x="53035" y="225400"/>
                  </a:moveTo>
                  <a:lnTo>
                    <a:pt x="53035" y="159106"/>
                  </a:lnTo>
                  <a:lnTo>
                    <a:pt x="0" y="0"/>
                  </a:lnTo>
                  <a:lnTo>
                    <a:pt x="159105" y="0"/>
                  </a:lnTo>
                  <a:lnTo>
                    <a:pt x="106070" y="159106"/>
                  </a:lnTo>
                  <a:lnTo>
                    <a:pt x="106070" y="225400"/>
                  </a:lnTo>
                  <a:close/>
                </a:path>
              </a:pathLst>
            </a:custGeom>
            <a:solidFill>
              <a:srgbClr val="3A3F47"/>
            </a:solidFill>
            <a:ln w="9525">
              <a:solidFill>
                <a:srgbClr val="9AA0A6"/>
              </a:solidFill>
            </a:ln>
          </p:spPr>
          <p:txBody>
            <a:bodyPr rtlCol="0" anchor="ctr"/>
            <a:lstStyle/>
            <a:p>
              <a:pPr algn="ctr"/>
              <a:endParaRPr/>
            </a:p>
          </p:txBody>
        </p:sp>
        <p:sp>
          <p:nvSpPr>
            <p:cNvPr id="259" name="headlamp"/>
            <p:cNvSpPr/>
            <p:nvPr/>
          </p:nvSpPr>
          <p:spPr>
            <a:xfrm>
              <a:off x="7867835" y="4546854"/>
              <a:ext cx="99440" cy="99440"/>
            </a:xfrm>
            <a:prstGeom prst="ellipse">
              <a:avLst/>
            </a:prstGeom>
            <a:solidFill>
              <a:srgbClr val="F2C14E"/>
            </a:solidFill>
            <a:ln w="12700">
              <a:solidFill>
                <a:srgbClr val="F2F2F2"/>
              </a:solidFill>
            </a:ln>
          </p:spPr>
          <p:txBody>
            <a:bodyPr rtlCol="0" anchor="ctr"/>
            <a:lstStyle/>
            <a:p>
              <a:pPr algn="ctr"/>
              <a:endParaRPr/>
            </a:p>
          </p:txBody>
        </p:sp>
        <p:sp>
          <p:nvSpPr>
            <p:cNvPr id="260" name="sand dome"/>
            <p:cNvSpPr/>
            <p:nvPr/>
          </p:nvSpPr>
          <p:spPr>
            <a:xfrm>
              <a:off x="6769434" y="4573371"/>
              <a:ext cx="119329" cy="79552"/>
            </a:xfrm>
            <a:prstGeom prst="roundRect">
              <a:avLst>
                <a:gd name="adj" fmla="val 33333"/>
              </a:avLst>
            </a:prstGeom>
            <a:solidFill>
              <a:srgbClr val="D6619B"/>
            </a:solidFill>
            <a:ln>
              <a:noFill/>
            </a:ln>
          </p:spPr>
          <p:txBody>
            <a:bodyPr rtlCol="0" anchor="ctr"/>
            <a:lstStyle/>
            <a:p>
              <a:pPr algn="ctr"/>
              <a:endParaRPr/>
            </a:p>
          </p:txBody>
        </p:sp>
        <p:sp>
          <p:nvSpPr>
            <p:cNvPr id="261" name="steam dome"/>
            <p:cNvSpPr/>
            <p:nvPr/>
          </p:nvSpPr>
          <p:spPr>
            <a:xfrm>
              <a:off x="7231774" y="4560112"/>
              <a:ext cx="132588" cy="92811"/>
            </a:xfrm>
            <a:prstGeom prst="roundRect">
              <a:avLst>
                <a:gd name="adj" fmla="val 28571"/>
              </a:avLst>
            </a:prstGeom>
            <a:solidFill>
              <a:srgbClr val="D6619B"/>
            </a:solidFill>
            <a:ln>
              <a:noFill/>
            </a:ln>
          </p:spPr>
          <p:txBody>
            <a:bodyPr rtlCol="0" anchor="ctr"/>
            <a:lstStyle/>
            <a:p>
              <a:pPr algn="ctr"/>
              <a:endParaRPr/>
            </a:p>
          </p:txBody>
        </p:sp>
        <p:sp>
          <p:nvSpPr>
            <p:cNvPr id="262" name="pilot"/>
            <p:cNvSpPr/>
            <p:nvPr/>
          </p:nvSpPr>
          <p:spPr>
            <a:xfrm>
              <a:off x="7907612" y="5070576"/>
              <a:ext cx="198882" cy="145847"/>
            </a:xfrm>
            <a:custGeom>
              <a:avLst/>
              <a:gdLst/>
              <a:ahLst/>
              <a:cxnLst/>
              <a:rect l="l" t="t" r="r" b="b"/>
              <a:pathLst>
                <a:path w="198882" h="145847">
                  <a:moveTo>
                    <a:pt x="0" y="0"/>
                  </a:moveTo>
                  <a:lnTo>
                    <a:pt x="198882" y="145847"/>
                  </a:lnTo>
                  <a:lnTo>
                    <a:pt x="0" y="145847"/>
                  </a:lnTo>
                  <a:close/>
                </a:path>
              </a:pathLst>
            </a:custGeom>
            <a:solidFill>
              <a:srgbClr val="3A3F47"/>
            </a:solidFill>
            <a:ln w="12700">
              <a:solidFill>
                <a:srgbClr val="9AA0A6"/>
              </a:solidFill>
            </a:ln>
          </p:spPr>
          <p:txBody>
            <a:bodyPr rtlCol="0" anchor="ctr"/>
            <a:lstStyle/>
            <a:p>
              <a:pPr algn="ctr"/>
              <a:endParaRPr/>
            </a:p>
          </p:txBody>
        </p:sp>
        <p:sp>
          <p:nvSpPr>
            <p:cNvPr id="263" name="bell"/>
            <p:cNvSpPr/>
            <p:nvPr/>
          </p:nvSpPr>
          <p:spPr>
            <a:xfrm>
              <a:off x="7028819" y="4493818"/>
              <a:ext cx="39776" cy="79552"/>
            </a:xfrm>
            <a:prstGeom prst="rect">
              <a:avLst/>
            </a:prstGeom>
            <a:solidFill>
              <a:srgbClr val="9AA0A6"/>
            </a:solidFill>
            <a:ln>
              <a:noFill/>
            </a:ln>
          </p:spPr>
          <p:txBody>
            <a:bodyPr rtlCol="0" anchor="ctr"/>
            <a:lstStyle/>
            <a:p>
              <a:pPr algn="ctr"/>
              <a:endParaRPr/>
            </a:p>
          </p:txBody>
        </p:sp>
        <p:sp>
          <p:nvSpPr>
            <p:cNvPr id="264" name="wheel"/>
            <p:cNvSpPr/>
            <p:nvPr/>
          </p:nvSpPr>
          <p:spPr>
            <a:xfrm>
              <a:off x="6116878" y="4997653"/>
              <a:ext cx="278434" cy="278434"/>
            </a:xfrm>
            <a:prstGeom prst="ellipse">
              <a:avLst/>
            </a:prstGeom>
            <a:solidFill>
              <a:srgbClr val="1B1D21"/>
            </a:solidFill>
            <a:ln w="19050">
              <a:solidFill>
                <a:srgbClr val="9AA0A6"/>
              </a:solidFill>
            </a:ln>
          </p:spPr>
          <p:txBody>
            <a:bodyPr rtlCol="0" anchor="ctr"/>
            <a:lstStyle/>
            <a:p>
              <a:pPr algn="ctr"/>
              <a:endParaRPr/>
            </a:p>
          </p:txBody>
        </p:sp>
        <p:sp>
          <p:nvSpPr>
            <p:cNvPr id="265" name="hub"/>
            <p:cNvSpPr/>
            <p:nvPr/>
          </p:nvSpPr>
          <p:spPr>
            <a:xfrm>
              <a:off x="6219899" y="5100674"/>
              <a:ext cx="72393" cy="72393"/>
            </a:xfrm>
            <a:prstGeom prst="ellipse">
              <a:avLst/>
            </a:prstGeom>
            <a:solidFill>
              <a:srgbClr val="9AA0A6"/>
            </a:solidFill>
            <a:ln>
              <a:noFill/>
            </a:ln>
          </p:spPr>
          <p:txBody>
            <a:bodyPr rtlCol="0" anchor="ctr"/>
            <a:lstStyle/>
            <a:p>
              <a:pPr algn="ctr"/>
              <a:endParaRPr/>
            </a:p>
          </p:txBody>
        </p:sp>
        <p:sp>
          <p:nvSpPr>
            <p:cNvPr id="266" name="wheel"/>
            <p:cNvSpPr/>
            <p:nvPr/>
          </p:nvSpPr>
          <p:spPr>
            <a:xfrm>
              <a:off x="6428725" y="4997653"/>
              <a:ext cx="278434" cy="278434"/>
            </a:xfrm>
            <a:prstGeom prst="ellipse">
              <a:avLst/>
            </a:prstGeom>
            <a:solidFill>
              <a:srgbClr val="1B1D21"/>
            </a:solidFill>
            <a:ln w="19050">
              <a:solidFill>
                <a:srgbClr val="9AA0A6"/>
              </a:solidFill>
            </a:ln>
          </p:spPr>
          <p:txBody>
            <a:bodyPr rtlCol="0" anchor="ctr"/>
            <a:lstStyle/>
            <a:p>
              <a:pPr algn="ctr"/>
              <a:endParaRPr/>
            </a:p>
          </p:txBody>
        </p:sp>
        <p:sp>
          <p:nvSpPr>
            <p:cNvPr id="267" name="hub"/>
            <p:cNvSpPr/>
            <p:nvPr/>
          </p:nvSpPr>
          <p:spPr>
            <a:xfrm>
              <a:off x="6531746" y="5100674"/>
              <a:ext cx="72393" cy="72393"/>
            </a:xfrm>
            <a:prstGeom prst="ellipse">
              <a:avLst/>
            </a:prstGeom>
            <a:solidFill>
              <a:srgbClr val="9AA0A6"/>
            </a:solidFill>
            <a:ln>
              <a:noFill/>
            </a:ln>
          </p:spPr>
          <p:txBody>
            <a:bodyPr rtlCol="0" anchor="ctr"/>
            <a:lstStyle/>
            <a:p>
              <a:pPr algn="ctr"/>
              <a:endParaRPr/>
            </a:p>
          </p:txBody>
        </p:sp>
        <p:sp>
          <p:nvSpPr>
            <p:cNvPr id="268" name="wheel"/>
            <p:cNvSpPr/>
            <p:nvPr/>
          </p:nvSpPr>
          <p:spPr>
            <a:xfrm>
              <a:off x="6740572" y="4997653"/>
              <a:ext cx="278434" cy="278434"/>
            </a:xfrm>
            <a:prstGeom prst="ellipse">
              <a:avLst/>
            </a:prstGeom>
            <a:solidFill>
              <a:srgbClr val="1B1D21"/>
            </a:solidFill>
            <a:ln w="19050">
              <a:solidFill>
                <a:srgbClr val="9AA0A6"/>
              </a:solidFill>
            </a:ln>
          </p:spPr>
          <p:txBody>
            <a:bodyPr rtlCol="0" anchor="ctr"/>
            <a:lstStyle/>
            <a:p>
              <a:pPr algn="ctr"/>
              <a:endParaRPr/>
            </a:p>
          </p:txBody>
        </p:sp>
        <p:sp>
          <p:nvSpPr>
            <p:cNvPr id="269" name="hub"/>
            <p:cNvSpPr/>
            <p:nvPr/>
          </p:nvSpPr>
          <p:spPr>
            <a:xfrm>
              <a:off x="6843593" y="5100674"/>
              <a:ext cx="72393" cy="72393"/>
            </a:xfrm>
            <a:prstGeom prst="ellipse">
              <a:avLst/>
            </a:prstGeom>
            <a:solidFill>
              <a:srgbClr val="9AA0A6"/>
            </a:solidFill>
            <a:ln>
              <a:noFill/>
            </a:ln>
          </p:spPr>
          <p:txBody>
            <a:bodyPr rtlCol="0" anchor="ctr"/>
            <a:lstStyle/>
            <a:p>
              <a:pPr algn="ctr"/>
              <a:endParaRPr/>
            </a:p>
          </p:txBody>
        </p:sp>
        <p:sp>
          <p:nvSpPr>
            <p:cNvPr id="270" name="wheel"/>
            <p:cNvSpPr/>
            <p:nvPr/>
          </p:nvSpPr>
          <p:spPr>
            <a:xfrm>
              <a:off x="7052419" y="4997653"/>
              <a:ext cx="278434" cy="278434"/>
            </a:xfrm>
            <a:prstGeom prst="ellipse">
              <a:avLst/>
            </a:prstGeom>
            <a:solidFill>
              <a:srgbClr val="1B1D21"/>
            </a:solidFill>
            <a:ln w="19050">
              <a:solidFill>
                <a:srgbClr val="9AA0A6"/>
              </a:solidFill>
            </a:ln>
          </p:spPr>
          <p:txBody>
            <a:bodyPr rtlCol="0" anchor="ctr"/>
            <a:lstStyle/>
            <a:p>
              <a:pPr algn="ctr"/>
              <a:endParaRPr/>
            </a:p>
          </p:txBody>
        </p:sp>
        <p:sp>
          <p:nvSpPr>
            <p:cNvPr id="271" name="hub"/>
            <p:cNvSpPr/>
            <p:nvPr/>
          </p:nvSpPr>
          <p:spPr>
            <a:xfrm>
              <a:off x="7155440" y="5100674"/>
              <a:ext cx="72393" cy="72393"/>
            </a:xfrm>
            <a:prstGeom prst="ellipse">
              <a:avLst/>
            </a:prstGeom>
            <a:solidFill>
              <a:srgbClr val="9AA0A6"/>
            </a:solidFill>
            <a:ln>
              <a:noFill/>
            </a:ln>
          </p:spPr>
          <p:txBody>
            <a:bodyPr rtlCol="0" anchor="ctr"/>
            <a:lstStyle/>
            <a:p>
              <a:pPr algn="ctr"/>
              <a:endParaRPr/>
            </a:p>
          </p:txBody>
        </p:sp>
        <p:sp>
          <p:nvSpPr>
            <p:cNvPr id="272" name="wheel"/>
            <p:cNvSpPr/>
            <p:nvPr/>
          </p:nvSpPr>
          <p:spPr>
            <a:xfrm>
              <a:off x="7642436" y="5143500"/>
              <a:ext cx="132588" cy="132588"/>
            </a:xfrm>
            <a:prstGeom prst="ellipse">
              <a:avLst/>
            </a:prstGeom>
            <a:solidFill>
              <a:srgbClr val="1B1D21"/>
            </a:solidFill>
            <a:ln w="19050">
              <a:solidFill>
                <a:srgbClr val="9AA0A6"/>
              </a:solidFill>
            </a:ln>
          </p:spPr>
          <p:txBody>
            <a:bodyPr rtlCol="0" anchor="ctr"/>
            <a:lstStyle/>
            <a:p>
              <a:pPr algn="ctr"/>
              <a:endParaRPr/>
            </a:p>
          </p:txBody>
        </p:sp>
        <p:sp>
          <p:nvSpPr>
            <p:cNvPr id="273" name="hub"/>
            <p:cNvSpPr/>
            <p:nvPr/>
          </p:nvSpPr>
          <p:spPr>
            <a:xfrm>
              <a:off x="7691493" y="5192557"/>
              <a:ext cx="34472" cy="34472"/>
            </a:xfrm>
            <a:prstGeom prst="ellipse">
              <a:avLst/>
            </a:prstGeom>
            <a:solidFill>
              <a:srgbClr val="9AA0A6"/>
            </a:solidFill>
            <a:ln>
              <a:noFill/>
            </a:ln>
          </p:spPr>
          <p:txBody>
            <a:bodyPr rtlCol="0" anchor="ctr"/>
            <a:lstStyle/>
            <a:p>
              <a:pPr algn="ctr"/>
              <a:endParaRPr/>
            </a:p>
          </p:txBody>
        </p:sp>
        <p:sp>
          <p:nvSpPr>
            <p:cNvPr id="274" name="wheel"/>
            <p:cNvSpPr/>
            <p:nvPr/>
          </p:nvSpPr>
          <p:spPr>
            <a:xfrm>
              <a:off x="7788283" y="5143500"/>
              <a:ext cx="132588" cy="132588"/>
            </a:xfrm>
            <a:prstGeom prst="ellipse">
              <a:avLst/>
            </a:prstGeom>
            <a:solidFill>
              <a:srgbClr val="1B1D21"/>
            </a:solidFill>
            <a:ln w="19050">
              <a:solidFill>
                <a:srgbClr val="9AA0A6"/>
              </a:solidFill>
            </a:ln>
          </p:spPr>
          <p:txBody>
            <a:bodyPr rtlCol="0" anchor="ctr"/>
            <a:lstStyle/>
            <a:p>
              <a:pPr algn="ctr"/>
              <a:endParaRPr/>
            </a:p>
          </p:txBody>
        </p:sp>
        <p:sp>
          <p:nvSpPr>
            <p:cNvPr id="275" name="hub"/>
            <p:cNvSpPr/>
            <p:nvPr/>
          </p:nvSpPr>
          <p:spPr>
            <a:xfrm>
              <a:off x="7837340" y="5192557"/>
              <a:ext cx="34472" cy="34472"/>
            </a:xfrm>
            <a:prstGeom prst="ellipse">
              <a:avLst/>
            </a:prstGeom>
            <a:solidFill>
              <a:srgbClr val="9AA0A6"/>
            </a:solidFill>
            <a:ln>
              <a:noFill/>
            </a:ln>
          </p:spPr>
          <p:txBody>
            <a:bodyPr rtlCol="0" anchor="ctr"/>
            <a:lstStyle/>
            <a:p>
              <a:pPr algn="ctr"/>
              <a:endParaRPr/>
            </a:p>
          </p:txBody>
        </p:sp>
        <p:sp>
          <p:nvSpPr>
            <p:cNvPr id="276" name="coupling rod"/>
            <p:cNvSpPr/>
            <p:nvPr/>
          </p:nvSpPr>
          <p:spPr>
            <a:xfrm>
              <a:off x="6256096" y="5061295"/>
              <a:ext cx="935540" cy="18562"/>
            </a:xfrm>
            <a:prstGeom prst="rect">
              <a:avLst/>
            </a:prstGeom>
            <a:solidFill>
              <a:srgbClr val="D0D4D8"/>
            </a:solidFill>
            <a:ln>
              <a:noFill/>
            </a:ln>
          </p:spPr>
          <p:txBody>
            <a:bodyPr rtlCol="0" anchor="ctr"/>
            <a:lstStyle/>
            <a:p>
              <a:pPr algn="ctr"/>
              <a:endParaRPr/>
            </a:p>
          </p:txBody>
        </p:sp>
        <p:sp>
          <p:nvSpPr>
            <p:cNvPr id="277" name="panel"/>
            <p:cNvSpPr/>
            <p:nvPr/>
          </p:nvSpPr>
          <p:spPr>
            <a:xfrm>
              <a:off x="8412480" y="4251960"/>
              <a:ext cx="3108960" cy="1207008"/>
            </a:xfrm>
            <a:prstGeom prst="roundRect">
              <a:avLst>
                <a:gd name="adj" fmla="val 7575"/>
              </a:avLst>
            </a:prstGeom>
            <a:solidFill>
              <a:srgbClr val="2B2F36"/>
            </a:solidFill>
            <a:ln w="19050">
              <a:solidFill>
                <a:srgbClr val="4A515B"/>
              </a:solidFill>
            </a:ln>
          </p:spPr>
          <p:txBody>
            <a:bodyPr rtlCol="0" anchor="ctr"/>
            <a:lstStyle/>
            <a:p>
              <a:pPr algn="ctr"/>
              <a:endParaRPr/>
            </a:p>
          </p:txBody>
        </p:sp>
        <p:sp>
          <p:nvSpPr>
            <p:cNvPr id="278" name="rail"/>
            <p:cNvSpPr/>
            <p:nvPr/>
          </p:nvSpPr>
          <p:spPr>
            <a:xfrm>
              <a:off x="8549640" y="5276088"/>
              <a:ext cx="2834640" cy="45720"/>
            </a:xfrm>
            <a:prstGeom prst="rect">
              <a:avLst/>
            </a:prstGeom>
            <a:solidFill>
              <a:srgbClr val="9AA0A6"/>
            </a:solidFill>
            <a:ln>
              <a:noFill/>
            </a:ln>
          </p:spPr>
          <p:txBody>
            <a:bodyPr rtlCol="0" anchor="ctr"/>
            <a:lstStyle/>
            <a:p>
              <a:pPr algn="ctr"/>
              <a:endParaRPr/>
            </a:p>
          </p:txBody>
        </p:sp>
        <p:sp>
          <p:nvSpPr>
            <p:cNvPr id="279" name="tender frame"/>
            <p:cNvSpPr/>
            <p:nvPr/>
          </p:nvSpPr>
          <p:spPr>
            <a:xfrm>
              <a:off x="8627821" y="5083835"/>
              <a:ext cx="543610" cy="59664"/>
            </a:xfrm>
            <a:prstGeom prst="rect">
              <a:avLst/>
            </a:prstGeom>
            <a:solidFill>
              <a:srgbClr val="3A3F47"/>
            </a:solidFill>
            <a:ln w="9525">
              <a:solidFill>
                <a:srgbClr val="9AA0A6"/>
              </a:solidFill>
            </a:ln>
          </p:spPr>
          <p:txBody>
            <a:bodyPr rtlCol="0" anchor="ctr"/>
            <a:lstStyle/>
            <a:p>
              <a:pPr algn="ctr"/>
              <a:endParaRPr/>
            </a:p>
          </p:txBody>
        </p:sp>
        <p:sp>
          <p:nvSpPr>
            <p:cNvPr id="280" name="tender body"/>
            <p:cNvSpPr/>
            <p:nvPr/>
          </p:nvSpPr>
          <p:spPr>
            <a:xfrm>
              <a:off x="8627821" y="4845177"/>
              <a:ext cx="543610" cy="238658"/>
            </a:xfrm>
            <a:prstGeom prst="roundRect">
              <a:avLst>
                <a:gd name="adj" fmla="val 2777"/>
              </a:avLst>
            </a:prstGeom>
            <a:solidFill>
              <a:srgbClr val="D9B26F"/>
            </a:solidFill>
            <a:ln>
              <a:noFill/>
            </a:ln>
          </p:spPr>
          <p:txBody>
            <a:bodyPr rtlCol="0" anchor="ctr"/>
            <a:lstStyle/>
            <a:p>
              <a:pPr algn="ctr"/>
              <a:endParaRPr/>
            </a:p>
          </p:txBody>
        </p:sp>
        <p:sp>
          <p:nvSpPr>
            <p:cNvPr id="281" name="tender coal"/>
            <p:cNvSpPr/>
            <p:nvPr/>
          </p:nvSpPr>
          <p:spPr>
            <a:xfrm>
              <a:off x="8647709" y="4772253"/>
              <a:ext cx="503834" cy="92812"/>
            </a:xfrm>
            <a:custGeom>
              <a:avLst/>
              <a:gdLst/>
              <a:ahLst/>
              <a:cxnLst/>
              <a:rect l="l" t="t" r="r" b="b"/>
              <a:pathLst>
                <a:path w="503834" h="92812">
                  <a:moveTo>
                    <a:pt x="0" y="92812"/>
                  </a:moveTo>
                  <a:lnTo>
                    <a:pt x="99441" y="6630"/>
                  </a:lnTo>
                  <a:lnTo>
                    <a:pt x="298323" y="0"/>
                  </a:lnTo>
                  <a:lnTo>
                    <a:pt x="503834" y="92812"/>
                  </a:lnTo>
                  <a:close/>
                </a:path>
              </a:pathLst>
            </a:custGeom>
            <a:solidFill>
              <a:srgbClr val="1B1D21"/>
            </a:solidFill>
            <a:ln w="12700">
              <a:solidFill>
                <a:srgbClr val="6B7078"/>
              </a:solidFill>
            </a:ln>
          </p:spPr>
          <p:txBody>
            <a:bodyPr rtlCol="0" anchor="ctr"/>
            <a:lstStyle/>
            <a:p>
              <a:pPr algn="ctr"/>
              <a:endParaRPr/>
            </a:p>
          </p:txBody>
        </p:sp>
        <p:sp>
          <p:nvSpPr>
            <p:cNvPr id="282" name="coupling"/>
            <p:cNvSpPr/>
            <p:nvPr/>
          </p:nvSpPr>
          <p:spPr>
            <a:xfrm>
              <a:off x="9171432" y="5004282"/>
              <a:ext cx="46405" cy="19888"/>
            </a:xfrm>
            <a:prstGeom prst="rect">
              <a:avLst/>
            </a:prstGeom>
            <a:solidFill>
              <a:srgbClr val="9AA0A6"/>
            </a:solidFill>
            <a:ln>
              <a:noFill/>
            </a:ln>
          </p:spPr>
          <p:txBody>
            <a:bodyPr rtlCol="0" anchor="ctr"/>
            <a:lstStyle/>
            <a:p>
              <a:pPr algn="ctr"/>
              <a:endParaRPr/>
            </a:p>
          </p:txBody>
        </p:sp>
        <p:sp>
          <p:nvSpPr>
            <p:cNvPr id="283" name="wheel"/>
            <p:cNvSpPr/>
            <p:nvPr/>
          </p:nvSpPr>
          <p:spPr>
            <a:xfrm>
              <a:off x="8654338" y="509046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284" name="hub"/>
            <p:cNvSpPr/>
            <p:nvPr/>
          </p:nvSpPr>
          <p:spPr>
            <a:xfrm>
              <a:off x="8723019" y="5159145"/>
              <a:ext cx="48262" cy="48262"/>
            </a:xfrm>
            <a:prstGeom prst="ellipse">
              <a:avLst/>
            </a:prstGeom>
            <a:solidFill>
              <a:srgbClr val="9AA0A6"/>
            </a:solidFill>
            <a:ln>
              <a:noFill/>
            </a:ln>
          </p:spPr>
          <p:txBody>
            <a:bodyPr rtlCol="0" anchor="ctr"/>
            <a:lstStyle/>
            <a:p>
              <a:pPr algn="ctr"/>
              <a:endParaRPr/>
            </a:p>
          </p:txBody>
        </p:sp>
        <p:sp>
          <p:nvSpPr>
            <p:cNvPr id="285" name="wheel"/>
            <p:cNvSpPr/>
            <p:nvPr/>
          </p:nvSpPr>
          <p:spPr>
            <a:xfrm>
              <a:off x="8813444" y="509046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286" name="hub"/>
            <p:cNvSpPr/>
            <p:nvPr/>
          </p:nvSpPr>
          <p:spPr>
            <a:xfrm>
              <a:off x="8882124" y="5159145"/>
              <a:ext cx="48262" cy="48262"/>
            </a:xfrm>
            <a:prstGeom prst="ellipse">
              <a:avLst/>
            </a:prstGeom>
            <a:solidFill>
              <a:srgbClr val="9AA0A6"/>
            </a:solidFill>
            <a:ln>
              <a:noFill/>
            </a:ln>
          </p:spPr>
          <p:txBody>
            <a:bodyPr rtlCol="0" anchor="ctr"/>
            <a:lstStyle/>
            <a:p>
              <a:pPr algn="ctr"/>
              <a:endParaRPr/>
            </a:p>
          </p:txBody>
        </p:sp>
        <p:sp>
          <p:nvSpPr>
            <p:cNvPr id="287" name="wheel"/>
            <p:cNvSpPr/>
            <p:nvPr/>
          </p:nvSpPr>
          <p:spPr>
            <a:xfrm>
              <a:off x="8972550" y="5090464"/>
              <a:ext cx="185623" cy="185623"/>
            </a:xfrm>
            <a:prstGeom prst="ellipse">
              <a:avLst/>
            </a:prstGeom>
            <a:solidFill>
              <a:srgbClr val="1B1D21"/>
            </a:solidFill>
            <a:ln w="19050">
              <a:solidFill>
                <a:srgbClr val="9AA0A6"/>
              </a:solidFill>
            </a:ln>
          </p:spPr>
          <p:txBody>
            <a:bodyPr rtlCol="0" anchor="ctr"/>
            <a:lstStyle/>
            <a:p>
              <a:pPr algn="ctr"/>
              <a:endParaRPr/>
            </a:p>
          </p:txBody>
        </p:sp>
        <p:sp>
          <p:nvSpPr>
            <p:cNvPr id="288" name="hub"/>
            <p:cNvSpPr/>
            <p:nvPr/>
          </p:nvSpPr>
          <p:spPr>
            <a:xfrm>
              <a:off x="9041230" y="5159145"/>
              <a:ext cx="48262" cy="48262"/>
            </a:xfrm>
            <a:prstGeom prst="ellipse">
              <a:avLst/>
            </a:prstGeom>
            <a:solidFill>
              <a:srgbClr val="9AA0A6"/>
            </a:solidFill>
            <a:ln>
              <a:noFill/>
            </a:ln>
          </p:spPr>
          <p:txBody>
            <a:bodyPr rtlCol="0" anchor="ctr"/>
            <a:lstStyle/>
            <a:p>
              <a:pPr algn="ctr"/>
              <a:endParaRPr/>
            </a:p>
          </p:txBody>
        </p:sp>
        <p:sp>
          <p:nvSpPr>
            <p:cNvPr id="289" name="frame"/>
            <p:cNvSpPr/>
            <p:nvPr/>
          </p:nvSpPr>
          <p:spPr>
            <a:xfrm>
              <a:off x="9217837" y="5083835"/>
              <a:ext cx="2041855" cy="59664"/>
            </a:xfrm>
            <a:prstGeom prst="rect">
              <a:avLst/>
            </a:prstGeom>
            <a:solidFill>
              <a:srgbClr val="3A3F47"/>
            </a:solidFill>
            <a:ln w="9525">
              <a:solidFill>
                <a:srgbClr val="9AA0A6"/>
              </a:solidFill>
            </a:ln>
          </p:spPr>
          <p:txBody>
            <a:bodyPr rtlCol="0" anchor="ctr"/>
            <a:lstStyle/>
            <a:p>
              <a:pPr algn="ctr"/>
              <a:endParaRPr/>
            </a:p>
          </p:txBody>
        </p:sp>
        <p:sp>
          <p:nvSpPr>
            <p:cNvPr id="290" name="cab"/>
            <p:cNvSpPr/>
            <p:nvPr/>
          </p:nvSpPr>
          <p:spPr>
            <a:xfrm>
              <a:off x="9217837" y="4719218"/>
              <a:ext cx="265176" cy="364617"/>
            </a:xfrm>
            <a:prstGeom prst="roundRect">
              <a:avLst>
                <a:gd name="adj" fmla="val 2500"/>
              </a:avLst>
            </a:prstGeom>
            <a:solidFill>
              <a:srgbClr val="D9B26F"/>
            </a:solidFill>
            <a:ln>
              <a:noFill/>
            </a:ln>
          </p:spPr>
          <p:txBody>
            <a:bodyPr rtlCol="0" anchor="ctr"/>
            <a:lstStyle/>
            <a:p>
              <a:pPr algn="ctr"/>
              <a:endParaRPr/>
            </a:p>
          </p:txBody>
        </p:sp>
        <p:sp>
          <p:nvSpPr>
            <p:cNvPr id="291" name="cab roof"/>
            <p:cNvSpPr/>
            <p:nvPr/>
          </p:nvSpPr>
          <p:spPr>
            <a:xfrm>
              <a:off x="9197949" y="4666183"/>
              <a:ext cx="304952" cy="53035"/>
            </a:xfrm>
            <a:prstGeom prst="roundRect">
              <a:avLst>
                <a:gd name="adj" fmla="val 37500"/>
              </a:avLst>
            </a:prstGeom>
            <a:solidFill>
              <a:srgbClr val="3A3F47"/>
            </a:solidFill>
            <a:ln w="9525">
              <a:solidFill>
                <a:srgbClr val="9AA0A6"/>
              </a:solidFill>
            </a:ln>
          </p:spPr>
          <p:txBody>
            <a:bodyPr rtlCol="0" anchor="ctr"/>
            <a:lstStyle/>
            <a:p>
              <a:pPr algn="ctr"/>
              <a:endParaRPr/>
            </a:p>
          </p:txBody>
        </p:sp>
        <p:sp>
          <p:nvSpPr>
            <p:cNvPr id="292" name="cab window"/>
            <p:cNvSpPr/>
            <p:nvPr/>
          </p:nvSpPr>
          <p:spPr>
            <a:xfrm>
              <a:off x="9284131" y="4772253"/>
              <a:ext cx="119329" cy="119329"/>
            </a:xfrm>
            <a:prstGeom prst="rect">
              <a:avLst/>
            </a:prstGeom>
            <a:solidFill>
              <a:srgbClr val="1B1D21"/>
            </a:solidFill>
            <a:ln>
              <a:noFill/>
            </a:ln>
          </p:spPr>
          <p:txBody>
            <a:bodyPr rtlCol="0" anchor="ctr"/>
            <a:lstStyle/>
            <a:p>
              <a:pPr algn="ctr"/>
              <a:endParaRPr/>
            </a:p>
          </p:txBody>
        </p:sp>
        <p:sp>
          <p:nvSpPr>
            <p:cNvPr id="293" name="boiler"/>
            <p:cNvSpPr/>
            <p:nvPr/>
          </p:nvSpPr>
          <p:spPr>
            <a:xfrm>
              <a:off x="9483013" y="4752365"/>
              <a:ext cx="1644091" cy="265176"/>
            </a:xfrm>
            <a:prstGeom prst="roundRect">
              <a:avLst>
                <a:gd name="adj" fmla="val 25000"/>
              </a:avLst>
            </a:prstGeom>
            <a:solidFill>
              <a:srgbClr val="D9B26F"/>
            </a:solidFill>
            <a:ln>
              <a:noFill/>
            </a:ln>
          </p:spPr>
          <p:txBody>
            <a:bodyPr rtlCol="0" anchor="ctr"/>
            <a:lstStyle/>
            <a:p>
              <a:pPr algn="ctr"/>
              <a:endParaRPr/>
            </a:p>
          </p:txBody>
        </p:sp>
        <p:sp>
          <p:nvSpPr>
            <p:cNvPr id="294" name="boiler band"/>
            <p:cNvSpPr/>
            <p:nvPr/>
          </p:nvSpPr>
          <p:spPr>
            <a:xfrm>
              <a:off x="9976241" y="4752365"/>
              <a:ext cx="9281" cy="265176"/>
            </a:xfrm>
            <a:prstGeom prst="rect">
              <a:avLst/>
            </a:prstGeom>
            <a:solidFill>
              <a:srgbClr val="9C804F"/>
            </a:solidFill>
            <a:ln>
              <a:noFill/>
            </a:ln>
          </p:spPr>
          <p:txBody>
            <a:bodyPr rtlCol="0" anchor="ctr"/>
            <a:lstStyle/>
            <a:p>
              <a:pPr algn="ctr"/>
              <a:endParaRPr/>
            </a:p>
          </p:txBody>
        </p:sp>
        <p:sp>
          <p:nvSpPr>
            <p:cNvPr id="295" name="boiler band"/>
            <p:cNvSpPr/>
            <p:nvPr/>
          </p:nvSpPr>
          <p:spPr>
            <a:xfrm>
              <a:off x="10387263" y="4752365"/>
              <a:ext cx="9281" cy="265176"/>
            </a:xfrm>
            <a:prstGeom prst="rect">
              <a:avLst/>
            </a:prstGeom>
            <a:solidFill>
              <a:srgbClr val="9C804F"/>
            </a:solidFill>
            <a:ln>
              <a:noFill/>
            </a:ln>
          </p:spPr>
          <p:txBody>
            <a:bodyPr rtlCol="0" anchor="ctr"/>
            <a:lstStyle/>
            <a:p>
              <a:pPr algn="ctr"/>
              <a:endParaRPr/>
            </a:p>
          </p:txBody>
        </p:sp>
        <p:sp>
          <p:nvSpPr>
            <p:cNvPr id="296" name="boiler band"/>
            <p:cNvSpPr/>
            <p:nvPr/>
          </p:nvSpPr>
          <p:spPr>
            <a:xfrm>
              <a:off x="10798286" y="4752365"/>
              <a:ext cx="9281" cy="265176"/>
            </a:xfrm>
            <a:prstGeom prst="rect">
              <a:avLst/>
            </a:prstGeom>
            <a:solidFill>
              <a:srgbClr val="9C804F"/>
            </a:solidFill>
            <a:ln>
              <a:noFill/>
            </a:ln>
          </p:spPr>
          <p:txBody>
            <a:bodyPr rtlCol="0" anchor="ctr"/>
            <a:lstStyle/>
            <a:p>
              <a:pPr algn="ctr"/>
              <a:endParaRPr/>
            </a:p>
          </p:txBody>
        </p:sp>
        <p:sp>
          <p:nvSpPr>
            <p:cNvPr id="297" name="smokebox"/>
            <p:cNvSpPr/>
            <p:nvPr/>
          </p:nvSpPr>
          <p:spPr>
            <a:xfrm>
              <a:off x="11127105" y="4752365"/>
              <a:ext cx="132588" cy="265176"/>
            </a:xfrm>
            <a:prstGeom prst="roundRect">
              <a:avLst>
                <a:gd name="adj" fmla="val 12000"/>
              </a:avLst>
            </a:prstGeom>
            <a:solidFill>
              <a:srgbClr val="4A515B"/>
            </a:solidFill>
            <a:ln>
              <a:noFill/>
            </a:ln>
          </p:spPr>
          <p:txBody>
            <a:bodyPr rtlCol="0" anchor="ctr"/>
            <a:lstStyle/>
            <a:p>
              <a:pPr algn="ctr"/>
              <a:endParaRPr/>
            </a:p>
          </p:txBody>
        </p:sp>
        <p:sp>
          <p:nvSpPr>
            <p:cNvPr id="298" name="chimney"/>
            <p:cNvSpPr/>
            <p:nvPr/>
          </p:nvSpPr>
          <p:spPr>
            <a:xfrm>
              <a:off x="11166881" y="4573371"/>
              <a:ext cx="53035" cy="178993"/>
            </a:xfrm>
            <a:prstGeom prst="rect">
              <a:avLst/>
            </a:prstGeom>
            <a:solidFill>
              <a:srgbClr val="3A3F47"/>
            </a:solidFill>
            <a:ln w="9525">
              <a:solidFill>
                <a:srgbClr val="9AA0A6"/>
              </a:solidFill>
            </a:ln>
          </p:spPr>
          <p:txBody>
            <a:bodyPr rtlCol="0" anchor="ctr"/>
            <a:lstStyle/>
            <a:p>
              <a:pPr algn="ctr"/>
              <a:endParaRPr/>
            </a:p>
          </p:txBody>
        </p:sp>
        <p:sp>
          <p:nvSpPr>
            <p:cNvPr id="299" name="smoke deflector"/>
            <p:cNvSpPr/>
            <p:nvPr/>
          </p:nvSpPr>
          <p:spPr>
            <a:xfrm>
              <a:off x="10954740" y="4586630"/>
              <a:ext cx="159106" cy="225400"/>
            </a:xfrm>
            <a:custGeom>
              <a:avLst/>
              <a:gdLst/>
              <a:ahLst/>
              <a:cxnLst/>
              <a:rect l="l" t="t" r="r" b="b"/>
              <a:pathLst>
                <a:path w="159106" h="225400">
                  <a:moveTo>
                    <a:pt x="0" y="225400"/>
                  </a:moveTo>
                  <a:lnTo>
                    <a:pt x="159106" y="225400"/>
                  </a:lnTo>
                  <a:lnTo>
                    <a:pt x="159106" y="0"/>
                  </a:lnTo>
                  <a:lnTo>
                    <a:pt x="26518" y="39776"/>
                  </a:lnTo>
                  <a:close/>
                </a:path>
              </a:pathLst>
            </a:custGeom>
            <a:solidFill>
              <a:srgbClr val="3A3F47"/>
            </a:solidFill>
            <a:ln w="12700">
              <a:solidFill>
                <a:srgbClr val="9AA0A6"/>
              </a:solidFill>
            </a:ln>
          </p:spPr>
          <p:txBody>
            <a:bodyPr rtlCol="0" anchor="ctr"/>
            <a:lstStyle/>
            <a:p>
              <a:pPr algn="ctr"/>
              <a:endParaRPr/>
            </a:p>
          </p:txBody>
        </p:sp>
        <p:sp>
          <p:nvSpPr>
            <p:cNvPr id="300" name="lamp"/>
            <p:cNvSpPr/>
            <p:nvPr/>
          </p:nvSpPr>
          <p:spPr>
            <a:xfrm>
              <a:off x="11226546" y="4984394"/>
              <a:ext cx="66294" cy="66294"/>
            </a:xfrm>
            <a:prstGeom prst="ellipse">
              <a:avLst/>
            </a:prstGeom>
            <a:solidFill>
              <a:srgbClr val="F2C14E"/>
            </a:solidFill>
            <a:ln>
              <a:noFill/>
            </a:ln>
          </p:spPr>
          <p:txBody>
            <a:bodyPr rtlCol="0" anchor="ctr"/>
            <a:lstStyle/>
            <a:p>
              <a:pPr algn="ctr"/>
              <a:endParaRPr/>
            </a:p>
          </p:txBody>
        </p:sp>
        <p:sp>
          <p:nvSpPr>
            <p:cNvPr id="301" name="dome"/>
            <p:cNvSpPr/>
            <p:nvPr/>
          </p:nvSpPr>
          <p:spPr>
            <a:xfrm>
              <a:off x="10140650" y="4679442"/>
              <a:ext cx="119329" cy="72923"/>
            </a:xfrm>
            <a:prstGeom prst="roundRect">
              <a:avLst>
                <a:gd name="adj" fmla="val 36363"/>
              </a:avLst>
            </a:prstGeom>
            <a:solidFill>
              <a:srgbClr val="D9B26F"/>
            </a:solidFill>
            <a:ln>
              <a:noFill/>
            </a:ln>
          </p:spPr>
          <p:txBody>
            <a:bodyPr rtlCol="0" anchor="ctr"/>
            <a:lstStyle/>
            <a:p>
              <a:pPr algn="ctr"/>
              <a:endParaRPr/>
            </a:p>
          </p:txBody>
        </p:sp>
        <p:sp>
          <p:nvSpPr>
            <p:cNvPr id="302" name="wheel"/>
            <p:cNvSpPr/>
            <p:nvPr/>
          </p:nvSpPr>
          <p:spPr>
            <a:xfrm>
              <a:off x="9237726"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303" name="hub"/>
            <p:cNvSpPr/>
            <p:nvPr/>
          </p:nvSpPr>
          <p:spPr>
            <a:xfrm>
              <a:off x="9335841" y="5109027"/>
              <a:ext cx="68945" cy="68945"/>
            </a:xfrm>
            <a:prstGeom prst="ellipse">
              <a:avLst/>
            </a:prstGeom>
            <a:solidFill>
              <a:srgbClr val="9AA0A6"/>
            </a:solidFill>
            <a:ln>
              <a:noFill/>
            </a:ln>
          </p:spPr>
          <p:txBody>
            <a:bodyPr rtlCol="0" anchor="ctr"/>
            <a:lstStyle/>
            <a:p>
              <a:pPr algn="ctr"/>
              <a:endParaRPr/>
            </a:p>
          </p:txBody>
        </p:sp>
        <p:sp>
          <p:nvSpPr>
            <p:cNvPr id="304" name="wheel"/>
            <p:cNvSpPr/>
            <p:nvPr/>
          </p:nvSpPr>
          <p:spPr>
            <a:xfrm>
              <a:off x="9536049"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305" name="hub"/>
            <p:cNvSpPr/>
            <p:nvPr/>
          </p:nvSpPr>
          <p:spPr>
            <a:xfrm>
              <a:off x="9634164" y="5109027"/>
              <a:ext cx="68945" cy="68945"/>
            </a:xfrm>
            <a:prstGeom prst="ellipse">
              <a:avLst/>
            </a:prstGeom>
            <a:solidFill>
              <a:srgbClr val="9AA0A6"/>
            </a:solidFill>
            <a:ln>
              <a:noFill/>
            </a:ln>
          </p:spPr>
          <p:txBody>
            <a:bodyPr rtlCol="0" anchor="ctr"/>
            <a:lstStyle/>
            <a:p>
              <a:pPr algn="ctr"/>
              <a:endParaRPr/>
            </a:p>
          </p:txBody>
        </p:sp>
        <p:sp>
          <p:nvSpPr>
            <p:cNvPr id="306" name="wheel"/>
            <p:cNvSpPr/>
            <p:nvPr/>
          </p:nvSpPr>
          <p:spPr>
            <a:xfrm>
              <a:off x="9834372"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307" name="hub"/>
            <p:cNvSpPr/>
            <p:nvPr/>
          </p:nvSpPr>
          <p:spPr>
            <a:xfrm>
              <a:off x="9932487" y="5109027"/>
              <a:ext cx="68945" cy="68945"/>
            </a:xfrm>
            <a:prstGeom prst="ellipse">
              <a:avLst/>
            </a:prstGeom>
            <a:solidFill>
              <a:srgbClr val="9AA0A6"/>
            </a:solidFill>
            <a:ln>
              <a:noFill/>
            </a:ln>
          </p:spPr>
          <p:txBody>
            <a:bodyPr rtlCol="0" anchor="ctr"/>
            <a:lstStyle/>
            <a:p>
              <a:pPr algn="ctr"/>
              <a:endParaRPr/>
            </a:p>
          </p:txBody>
        </p:sp>
        <p:sp>
          <p:nvSpPr>
            <p:cNvPr id="308" name="wheel"/>
            <p:cNvSpPr/>
            <p:nvPr/>
          </p:nvSpPr>
          <p:spPr>
            <a:xfrm>
              <a:off x="10132694"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309" name="hub"/>
            <p:cNvSpPr/>
            <p:nvPr/>
          </p:nvSpPr>
          <p:spPr>
            <a:xfrm>
              <a:off x="10230810" y="5109027"/>
              <a:ext cx="68945" cy="68945"/>
            </a:xfrm>
            <a:prstGeom prst="ellipse">
              <a:avLst/>
            </a:prstGeom>
            <a:solidFill>
              <a:srgbClr val="9AA0A6"/>
            </a:solidFill>
            <a:ln>
              <a:noFill/>
            </a:ln>
          </p:spPr>
          <p:txBody>
            <a:bodyPr rtlCol="0" anchor="ctr"/>
            <a:lstStyle/>
            <a:p>
              <a:pPr algn="ctr"/>
              <a:endParaRPr/>
            </a:p>
          </p:txBody>
        </p:sp>
        <p:sp>
          <p:nvSpPr>
            <p:cNvPr id="310" name="wheel"/>
            <p:cNvSpPr/>
            <p:nvPr/>
          </p:nvSpPr>
          <p:spPr>
            <a:xfrm>
              <a:off x="10431017" y="5010912"/>
              <a:ext cx="265176" cy="265176"/>
            </a:xfrm>
            <a:prstGeom prst="ellipse">
              <a:avLst/>
            </a:prstGeom>
            <a:solidFill>
              <a:srgbClr val="1B1D21"/>
            </a:solidFill>
            <a:ln w="19050">
              <a:solidFill>
                <a:srgbClr val="9AA0A6"/>
              </a:solidFill>
            </a:ln>
          </p:spPr>
          <p:txBody>
            <a:bodyPr rtlCol="0" anchor="ctr"/>
            <a:lstStyle/>
            <a:p>
              <a:pPr algn="ctr"/>
              <a:endParaRPr/>
            </a:p>
          </p:txBody>
        </p:sp>
        <p:sp>
          <p:nvSpPr>
            <p:cNvPr id="311" name="hub"/>
            <p:cNvSpPr/>
            <p:nvPr/>
          </p:nvSpPr>
          <p:spPr>
            <a:xfrm>
              <a:off x="10529133" y="5109027"/>
              <a:ext cx="68945" cy="68945"/>
            </a:xfrm>
            <a:prstGeom prst="ellipse">
              <a:avLst/>
            </a:prstGeom>
            <a:solidFill>
              <a:srgbClr val="9AA0A6"/>
            </a:solidFill>
            <a:ln>
              <a:noFill/>
            </a:ln>
          </p:spPr>
          <p:txBody>
            <a:bodyPr rtlCol="0" anchor="ctr"/>
            <a:lstStyle/>
            <a:p>
              <a:pPr algn="ctr"/>
              <a:endParaRPr/>
            </a:p>
          </p:txBody>
        </p:sp>
        <p:sp>
          <p:nvSpPr>
            <p:cNvPr id="312" name="wheel"/>
            <p:cNvSpPr/>
            <p:nvPr/>
          </p:nvSpPr>
          <p:spPr>
            <a:xfrm>
              <a:off x="10795634" y="5130241"/>
              <a:ext cx="145846" cy="145846"/>
            </a:xfrm>
            <a:prstGeom prst="ellipse">
              <a:avLst/>
            </a:prstGeom>
            <a:solidFill>
              <a:srgbClr val="1B1D21"/>
            </a:solidFill>
            <a:ln w="19050">
              <a:solidFill>
                <a:srgbClr val="9AA0A6"/>
              </a:solidFill>
            </a:ln>
          </p:spPr>
          <p:txBody>
            <a:bodyPr rtlCol="0" anchor="ctr"/>
            <a:lstStyle/>
            <a:p>
              <a:pPr algn="ctr"/>
              <a:endParaRPr/>
            </a:p>
          </p:txBody>
        </p:sp>
        <p:sp>
          <p:nvSpPr>
            <p:cNvPr id="313" name="hub"/>
            <p:cNvSpPr/>
            <p:nvPr/>
          </p:nvSpPr>
          <p:spPr>
            <a:xfrm>
              <a:off x="10849598" y="5184204"/>
              <a:ext cx="37920" cy="37920"/>
            </a:xfrm>
            <a:prstGeom prst="ellipse">
              <a:avLst/>
            </a:prstGeom>
            <a:solidFill>
              <a:srgbClr val="9AA0A6"/>
            </a:solidFill>
            <a:ln>
              <a:noFill/>
            </a:ln>
          </p:spPr>
          <p:txBody>
            <a:bodyPr rtlCol="0" anchor="ctr"/>
            <a:lstStyle/>
            <a:p>
              <a:pPr algn="ctr"/>
              <a:endParaRPr/>
            </a:p>
          </p:txBody>
        </p:sp>
        <p:sp>
          <p:nvSpPr>
            <p:cNvPr id="314" name="coupling rod"/>
            <p:cNvSpPr/>
            <p:nvPr/>
          </p:nvSpPr>
          <p:spPr>
            <a:xfrm>
              <a:off x="9370313" y="5067924"/>
              <a:ext cx="1193292" cy="18562"/>
            </a:xfrm>
            <a:prstGeom prst="rect">
              <a:avLst/>
            </a:prstGeom>
            <a:solidFill>
              <a:srgbClr val="D0D4D8"/>
            </a:solidFill>
            <a:ln>
              <a:noFill/>
            </a:ln>
          </p:spPr>
          <p:txBody>
            <a:bodyPr rtlCol="0" anchor="ctr"/>
            <a:lstStyle/>
            <a:p>
              <a:pPr algn="ctr"/>
              <a:endParaRPr/>
            </a:p>
          </p:txBody>
        </p:sp>
        <p:sp>
          <p:nvSpPr>
            <p:cNvPr id="315" name="buffer beam"/>
            <p:cNvSpPr/>
            <p:nvPr/>
          </p:nvSpPr>
          <p:spPr>
            <a:xfrm>
              <a:off x="11259692" y="5024170"/>
              <a:ext cx="39776" cy="119329"/>
            </a:xfrm>
            <a:prstGeom prst="rect">
              <a:avLst/>
            </a:prstGeom>
            <a:solidFill>
              <a:srgbClr val="9AA0A6"/>
            </a:solidFill>
            <a:ln>
              <a:noFill/>
            </a:ln>
          </p:spPr>
          <p:txBody>
            <a:bodyPr rtlCol="0" anchor="ctr"/>
            <a:lstStyle/>
            <a:p>
              <a:pPr algn="ctr"/>
              <a:endParaRPr/>
            </a:p>
          </p:txBody>
        </p:sp>
      </p:grpSp>
      <p:sp>
        <p:nvSpPr>
          <p:cNvPr id="31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1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18" name="CAPTION"/>
          <p:cNvSpPr txBox="1"/>
          <p:nvPr/>
        </p:nvSpPr>
        <p:spPr>
          <a:xfrm>
            <a:off x="822960" y="5760720"/>
            <a:ext cx="786384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Every style gets a Small, a Medium and a Large. Each engine looks and behaves in its own way.</a:t>
            </a:r>
          </a:p>
        </p:txBody>
      </p:sp>
      <p:sp>
        <p:nvSpPr>
          <p:cNvPr id="319"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6</a:t>
            </a:r>
          </a:p>
        </p:txBody>
      </p:sp>
    </p:spTree>
    <p:extLst>
      <p:ext uri="{BB962C8B-B14F-4D97-AF65-F5344CB8AC3E}">
        <p14:creationId xmlns:p14="http://schemas.microsoft.com/office/powerpoint/2010/main" val="39073950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16"/>
                                        </p:tgtEl>
                                        <p:attrNameLst>
                                          <p:attrName>style.visibility</p:attrName>
                                        </p:attrNameLst>
                                      </p:cBhvr>
                                      <p:to>
                                        <p:strVal val="visible"/>
                                      </p:to>
                                    </p:set>
                                    <p:animEffect transition="in" filter="fade">
                                      <p:cBhvr>
                                        <p:cTn id="10" dur="500"/>
                                        <p:tgtEl>
                                          <p:spTgt spid="316"/>
                                        </p:tgtEl>
                                      </p:cBhvr>
                                    </p:animEffect>
                                  </p:childTnLst>
                                </p:cTn>
                              </p:par>
                              <p:par>
                                <p:cTn id="11" presetID="10" presetClass="entr" presetSubtype="0" fill="hold" nodeType="withEffect">
                                  <p:stCondLst>
                                    <p:cond delay="600"/>
                                  </p:stCondLst>
                                  <p:childTnLst>
                                    <p:set>
                                      <p:cBhvr>
                                        <p:cTn id="12" dur="1" fill="hold">
                                          <p:stCondLst>
                                            <p:cond delay="0"/>
                                          </p:stCondLst>
                                        </p:cTn>
                                        <p:tgtEl>
                                          <p:spTgt spid="317"/>
                                        </p:tgtEl>
                                        <p:attrNameLst>
                                          <p:attrName>style.visibility</p:attrName>
                                        </p:attrNameLst>
                                      </p:cBhvr>
                                      <p:to>
                                        <p:strVal val="visible"/>
                                      </p:to>
                                    </p:set>
                                    <p:animEffect transition="in" filter="fade">
                                      <p:cBhvr>
                                        <p:cTn id="13" dur="500"/>
                                        <p:tgtEl>
                                          <p:spTgt spid="317"/>
                                        </p:tgtEl>
                                      </p:cBhvr>
                                    </p:animEffect>
                                  </p:childTnLst>
                                </p:cTn>
                              </p:par>
                              <p:par>
                                <p:cTn id="14" presetID="10" presetClass="entr" presetSubtype="0" fill="hold" nodeType="withEffect">
                                  <p:stCondLst>
                                    <p:cond delay="900"/>
                                  </p:stCondLst>
                                  <p:childTnLst>
                                    <p:set>
                                      <p:cBhvr>
                                        <p:cTn id="15" dur="1" fill="hold">
                                          <p:stCondLst>
                                            <p:cond delay="0"/>
                                          </p:stCondLst>
                                        </p:cTn>
                                        <p:tgtEl>
                                          <p:spTgt spid="318"/>
                                        </p:tgtEl>
                                        <p:attrNameLst>
                                          <p:attrName>style.visibility</p:attrName>
                                        </p:attrNameLst>
                                      </p:cBhvr>
                                      <p:to>
                                        <p:strVal val="visible"/>
                                      </p:to>
                                    </p:set>
                                    <p:animEffect transition="in" filter="fade">
                                      <p:cBhvr>
                                        <p:cTn id="16" dur="500"/>
                                        <p:tgtEl>
                                          <p:spTgt spid="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Different engines, same rules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Engines plugging into shared rules" descr="Three differently shaped example engines. Each has its own data card and plugs into one bar labelled Shared rules."/>
          <p:cNvGrpSpPr/>
          <p:nvPr/>
        </p:nvGrpSpPr>
        <p:grpSpPr>
          <a:xfrm>
            <a:off x="731520" y="1934870"/>
            <a:ext cx="10735056" cy="3396082"/>
            <a:chOff x="731520" y="1934870"/>
            <a:chExt cx="10735056" cy="3396082"/>
          </a:xfrm>
        </p:grpSpPr>
        <p:sp>
          <p:nvSpPr>
            <p:cNvPr id="5" name="rail"/>
            <p:cNvSpPr/>
            <p:nvPr/>
          </p:nvSpPr>
          <p:spPr>
            <a:xfrm>
              <a:off x="731520" y="3017520"/>
              <a:ext cx="3474720" cy="45720"/>
            </a:xfrm>
            <a:prstGeom prst="rect">
              <a:avLst/>
            </a:prstGeom>
            <a:solidFill>
              <a:srgbClr val="9AA0A6"/>
            </a:solidFill>
            <a:ln>
              <a:noFill/>
            </a:ln>
          </p:spPr>
          <p:txBody>
            <a:bodyPr rtlCol="0" anchor="ctr"/>
            <a:lstStyle/>
            <a:p>
              <a:pPr algn="ctr"/>
              <a:endParaRPr/>
            </a:p>
          </p:txBody>
        </p:sp>
        <p:sp>
          <p:nvSpPr>
            <p:cNvPr id="6" name="tender frame"/>
            <p:cNvSpPr/>
            <p:nvPr/>
          </p:nvSpPr>
          <p:spPr>
            <a:xfrm>
              <a:off x="954862" y="2772232"/>
              <a:ext cx="693572" cy="76123"/>
            </a:xfrm>
            <a:prstGeom prst="rect">
              <a:avLst/>
            </a:prstGeom>
            <a:solidFill>
              <a:srgbClr val="3A3F47"/>
            </a:solidFill>
            <a:ln w="9525">
              <a:solidFill>
                <a:srgbClr val="9AA0A6"/>
              </a:solidFill>
            </a:ln>
          </p:spPr>
          <p:txBody>
            <a:bodyPr rtlCol="0" anchor="ctr"/>
            <a:lstStyle/>
            <a:p>
              <a:pPr algn="ctr"/>
              <a:endParaRPr/>
            </a:p>
          </p:txBody>
        </p:sp>
        <p:sp>
          <p:nvSpPr>
            <p:cNvPr id="7" name="tender body"/>
            <p:cNvSpPr/>
            <p:nvPr/>
          </p:nvSpPr>
          <p:spPr>
            <a:xfrm>
              <a:off x="954862" y="2493111"/>
              <a:ext cx="693572" cy="279120"/>
            </a:xfrm>
            <a:prstGeom prst="roundRect">
              <a:avLst>
                <a:gd name="adj" fmla="val 3030"/>
              </a:avLst>
            </a:prstGeom>
            <a:solidFill>
              <a:srgbClr val="2BB5B0"/>
            </a:solidFill>
            <a:ln>
              <a:noFill/>
            </a:ln>
          </p:spPr>
          <p:txBody>
            <a:bodyPr rtlCol="0" anchor="ctr"/>
            <a:lstStyle/>
            <a:p>
              <a:pPr algn="ctr"/>
              <a:endParaRPr/>
            </a:p>
          </p:txBody>
        </p:sp>
        <p:sp>
          <p:nvSpPr>
            <p:cNvPr id="8" name="tender coal"/>
            <p:cNvSpPr/>
            <p:nvPr/>
          </p:nvSpPr>
          <p:spPr>
            <a:xfrm>
              <a:off x="980236" y="2374696"/>
              <a:ext cx="642824" cy="118415"/>
            </a:xfrm>
            <a:custGeom>
              <a:avLst/>
              <a:gdLst/>
              <a:ahLst/>
              <a:cxnLst/>
              <a:rect l="l" t="t" r="r" b="b"/>
              <a:pathLst>
                <a:path w="642824" h="118415">
                  <a:moveTo>
                    <a:pt x="0" y="118415"/>
                  </a:moveTo>
                  <a:lnTo>
                    <a:pt x="126873" y="8458"/>
                  </a:lnTo>
                  <a:lnTo>
                    <a:pt x="380619" y="0"/>
                  </a:lnTo>
                  <a:lnTo>
                    <a:pt x="642824" y="118415"/>
                  </a:lnTo>
                  <a:close/>
                </a:path>
              </a:pathLst>
            </a:custGeom>
            <a:solidFill>
              <a:srgbClr val="1B1D21"/>
            </a:solidFill>
            <a:ln w="12700">
              <a:solidFill>
                <a:srgbClr val="6B7078"/>
              </a:solidFill>
            </a:ln>
          </p:spPr>
          <p:txBody>
            <a:bodyPr rtlCol="0" anchor="ctr"/>
            <a:lstStyle/>
            <a:p>
              <a:pPr algn="ctr"/>
              <a:endParaRPr/>
            </a:p>
          </p:txBody>
        </p:sp>
        <p:sp>
          <p:nvSpPr>
            <p:cNvPr id="9" name="coupling"/>
            <p:cNvSpPr/>
            <p:nvPr/>
          </p:nvSpPr>
          <p:spPr>
            <a:xfrm>
              <a:off x="1648434" y="2670733"/>
              <a:ext cx="59207" cy="25374"/>
            </a:xfrm>
            <a:prstGeom prst="rect">
              <a:avLst/>
            </a:prstGeom>
            <a:solidFill>
              <a:srgbClr val="9AA0A6"/>
            </a:solidFill>
            <a:ln>
              <a:noFill/>
            </a:ln>
          </p:spPr>
          <p:txBody>
            <a:bodyPr rtlCol="0" anchor="ctr"/>
            <a:lstStyle/>
            <a:p>
              <a:pPr algn="ctr"/>
              <a:endParaRPr/>
            </a:p>
          </p:txBody>
        </p:sp>
        <p:sp>
          <p:nvSpPr>
            <p:cNvPr id="10" name="wheel"/>
            <p:cNvSpPr/>
            <p:nvPr/>
          </p:nvSpPr>
          <p:spPr>
            <a:xfrm>
              <a:off x="1005611" y="2780690"/>
              <a:ext cx="236829" cy="236829"/>
            </a:xfrm>
            <a:prstGeom prst="ellipse">
              <a:avLst/>
            </a:prstGeom>
            <a:solidFill>
              <a:srgbClr val="1B1D21"/>
            </a:solidFill>
            <a:ln w="19050">
              <a:solidFill>
                <a:srgbClr val="9AA0A6"/>
              </a:solidFill>
            </a:ln>
          </p:spPr>
          <p:txBody>
            <a:bodyPr rtlCol="0" anchor="ctr"/>
            <a:lstStyle/>
            <a:p>
              <a:pPr algn="ctr"/>
              <a:endParaRPr/>
            </a:p>
          </p:txBody>
        </p:sp>
        <p:sp>
          <p:nvSpPr>
            <p:cNvPr id="11" name="hub"/>
            <p:cNvSpPr/>
            <p:nvPr/>
          </p:nvSpPr>
          <p:spPr>
            <a:xfrm>
              <a:off x="1093238" y="2868317"/>
              <a:ext cx="61575" cy="61575"/>
            </a:xfrm>
            <a:prstGeom prst="ellipse">
              <a:avLst/>
            </a:prstGeom>
            <a:solidFill>
              <a:srgbClr val="9AA0A6"/>
            </a:solidFill>
            <a:ln>
              <a:noFill/>
            </a:ln>
          </p:spPr>
          <p:txBody>
            <a:bodyPr rtlCol="0" anchor="ctr"/>
            <a:lstStyle/>
            <a:p>
              <a:pPr algn="ctr"/>
              <a:endParaRPr/>
            </a:p>
          </p:txBody>
        </p:sp>
        <p:sp>
          <p:nvSpPr>
            <p:cNvPr id="12" name="wheel"/>
            <p:cNvSpPr/>
            <p:nvPr/>
          </p:nvSpPr>
          <p:spPr>
            <a:xfrm>
              <a:off x="1360855" y="2780690"/>
              <a:ext cx="236829" cy="236829"/>
            </a:xfrm>
            <a:prstGeom prst="ellipse">
              <a:avLst/>
            </a:prstGeom>
            <a:solidFill>
              <a:srgbClr val="1B1D21"/>
            </a:solidFill>
            <a:ln w="19050">
              <a:solidFill>
                <a:srgbClr val="9AA0A6"/>
              </a:solidFill>
            </a:ln>
          </p:spPr>
          <p:txBody>
            <a:bodyPr rtlCol="0" anchor="ctr"/>
            <a:lstStyle/>
            <a:p>
              <a:pPr algn="ctr"/>
              <a:endParaRPr/>
            </a:p>
          </p:txBody>
        </p:sp>
        <p:sp>
          <p:nvSpPr>
            <p:cNvPr id="13" name="hub"/>
            <p:cNvSpPr/>
            <p:nvPr/>
          </p:nvSpPr>
          <p:spPr>
            <a:xfrm>
              <a:off x="1448482" y="2868317"/>
              <a:ext cx="61575" cy="61575"/>
            </a:xfrm>
            <a:prstGeom prst="ellipse">
              <a:avLst/>
            </a:prstGeom>
            <a:solidFill>
              <a:srgbClr val="9AA0A6"/>
            </a:solidFill>
            <a:ln>
              <a:noFill/>
            </a:ln>
          </p:spPr>
          <p:txBody>
            <a:bodyPr rtlCol="0" anchor="ctr"/>
            <a:lstStyle/>
            <a:p>
              <a:pPr algn="ctr"/>
              <a:endParaRPr/>
            </a:p>
          </p:txBody>
        </p:sp>
        <p:sp>
          <p:nvSpPr>
            <p:cNvPr id="14" name="frame"/>
            <p:cNvSpPr/>
            <p:nvPr/>
          </p:nvSpPr>
          <p:spPr>
            <a:xfrm>
              <a:off x="1707642" y="2772232"/>
              <a:ext cx="2224506" cy="76123"/>
            </a:xfrm>
            <a:prstGeom prst="rect">
              <a:avLst/>
            </a:prstGeom>
            <a:solidFill>
              <a:srgbClr val="3A3F47"/>
            </a:solidFill>
            <a:ln w="9525">
              <a:solidFill>
                <a:srgbClr val="9AA0A6"/>
              </a:solidFill>
            </a:ln>
          </p:spPr>
          <p:txBody>
            <a:bodyPr rtlCol="0" anchor="ctr"/>
            <a:lstStyle/>
            <a:p>
              <a:pPr algn="ctr"/>
              <a:endParaRPr/>
            </a:p>
          </p:txBody>
        </p:sp>
        <p:sp>
          <p:nvSpPr>
            <p:cNvPr id="15" name="cab"/>
            <p:cNvSpPr/>
            <p:nvPr/>
          </p:nvSpPr>
          <p:spPr>
            <a:xfrm>
              <a:off x="1707642" y="2307031"/>
              <a:ext cx="338328" cy="465201"/>
            </a:xfrm>
            <a:prstGeom prst="roundRect">
              <a:avLst>
                <a:gd name="adj" fmla="val 2500"/>
              </a:avLst>
            </a:prstGeom>
            <a:solidFill>
              <a:srgbClr val="2BB5B0"/>
            </a:solidFill>
            <a:ln>
              <a:noFill/>
            </a:ln>
          </p:spPr>
          <p:txBody>
            <a:bodyPr rtlCol="0" anchor="ctr"/>
            <a:lstStyle/>
            <a:p>
              <a:pPr algn="ctr"/>
              <a:endParaRPr/>
            </a:p>
          </p:txBody>
        </p:sp>
        <p:sp>
          <p:nvSpPr>
            <p:cNvPr id="16" name="cab roof"/>
            <p:cNvSpPr/>
            <p:nvPr/>
          </p:nvSpPr>
          <p:spPr>
            <a:xfrm>
              <a:off x="1690725" y="2264740"/>
              <a:ext cx="372160" cy="42291"/>
            </a:xfrm>
            <a:prstGeom prst="rect">
              <a:avLst/>
            </a:prstGeom>
            <a:solidFill>
              <a:srgbClr val="3A3F47"/>
            </a:solidFill>
            <a:ln w="9525">
              <a:solidFill>
                <a:srgbClr val="9AA0A6"/>
              </a:solidFill>
            </a:ln>
          </p:spPr>
          <p:txBody>
            <a:bodyPr rtlCol="0" anchor="ctr"/>
            <a:lstStyle/>
            <a:p>
              <a:pPr algn="ctr"/>
              <a:endParaRPr/>
            </a:p>
          </p:txBody>
        </p:sp>
        <p:sp>
          <p:nvSpPr>
            <p:cNvPr id="17" name="cab window"/>
            <p:cNvSpPr/>
            <p:nvPr/>
          </p:nvSpPr>
          <p:spPr>
            <a:xfrm>
              <a:off x="1792224" y="2374696"/>
              <a:ext cx="152247" cy="152247"/>
            </a:xfrm>
            <a:prstGeom prst="rect">
              <a:avLst/>
            </a:prstGeom>
            <a:solidFill>
              <a:srgbClr val="1B1D21"/>
            </a:solidFill>
            <a:ln>
              <a:noFill/>
            </a:ln>
          </p:spPr>
          <p:txBody>
            <a:bodyPr rtlCol="0" anchor="ctr"/>
            <a:lstStyle/>
            <a:p>
              <a:pPr algn="ctr"/>
              <a:endParaRPr/>
            </a:p>
          </p:txBody>
        </p:sp>
        <p:sp>
          <p:nvSpPr>
            <p:cNvPr id="18" name="boiler"/>
            <p:cNvSpPr/>
            <p:nvPr/>
          </p:nvSpPr>
          <p:spPr>
            <a:xfrm>
              <a:off x="2045970" y="2349322"/>
              <a:ext cx="1717014" cy="338328"/>
            </a:xfrm>
            <a:prstGeom prst="roundRect">
              <a:avLst>
                <a:gd name="adj" fmla="val 25000"/>
              </a:avLst>
            </a:prstGeom>
            <a:solidFill>
              <a:srgbClr val="2BB5B0"/>
            </a:solidFill>
            <a:ln>
              <a:noFill/>
            </a:ln>
          </p:spPr>
          <p:txBody>
            <a:bodyPr rtlCol="0" anchor="ctr"/>
            <a:lstStyle/>
            <a:p>
              <a:pPr algn="ctr"/>
              <a:endParaRPr/>
            </a:p>
          </p:txBody>
        </p:sp>
        <p:sp>
          <p:nvSpPr>
            <p:cNvPr id="19" name="boiler band"/>
            <p:cNvSpPr/>
            <p:nvPr/>
          </p:nvSpPr>
          <p:spPr>
            <a:xfrm>
              <a:off x="2561074" y="2349322"/>
              <a:ext cx="11841" cy="338328"/>
            </a:xfrm>
            <a:prstGeom prst="rect">
              <a:avLst/>
            </a:prstGeom>
            <a:solidFill>
              <a:srgbClr val="1E827E"/>
            </a:solidFill>
            <a:ln>
              <a:noFill/>
            </a:ln>
          </p:spPr>
          <p:txBody>
            <a:bodyPr rtlCol="0" anchor="ctr"/>
            <a:lstStyle/>
            <a:p>
              <a:pPr algn="ctr"/>
              <a:endParaRPr/>
            </a:p>
          </p:txBody>
        </p:sp>
        <p:sp>
          <p:nvSpPr>
            <p:cNvPr id="20" name="boiler band"/>
            <p:cNvSpPr/>
            <p:nvPr/>
          </p:nvSpPr>
          <p:spPr>
            <a:xfrm>
              <a:off x="2990328" y="2349322"/>
              <a:ext cx="11841" cy="338328"/>
            </a:xfrm>
            <a:prstGeom prst="rect">
              <a:avLst/>
            </a:prstGeom>
            <a:solidFill>
              <a:srgbClr val="1E827E"/>
            </a:solidFill>
            <a:ln>
              <a:noFill/>
            </a:ln>
          </p:spPr>
          <p:txBody>
            <a:bodyPr rtlCol="0" anchor="ctr"/>
            <a:lstStyle/>
            <a:p>
              <a:pPr algn="ctr"/>
              <a:endParaRPr/>
            </a:p>
          </p:txBody>
        </p:sp>
        <p:sp>
          <p:nvSpPr>
            <p:cNvPr id="21" name="boiler band"/>
            <p:cNvSpPr/>
            <p:nvPr/>
          </p:nvSpPr>
          <p:spPr>
            <a:xfrm>
              <a:off x="3419581" y="2349322"/>
              <a:ext cx="11841" cy="338328"/>
            </a:xfrm>
            <a:prstGeom prst="rect">
              <a:avLst/>
            </a:prstGeom>
            <a:solidFill>
              <a:srgbClr val="1E827E"/>
            </a:solidFill>
            <a:ln>
              <a:noFill/>
            </a:ln>
          </p:spPr>
          <p:txBody>
            <a:bodyPr rtlCol="0" anchor="ctr"/>
            <a:lstStyle/>
            <a:p>
              <a:pPr algn="ctr"/>
              <a:endParaRPr/>
            </a:p>
          </p:txBody>
        </p:sp>
        <p:sp>
          <p:nvSpPr>
            <p:cNvPr id="22" name="smokebox"/>
            <p:cNvSpPr/>
            <p:nvPr/>
          </p:nvSpPr>
          <p:spPr>
            <a:xfrm>
              <a:off x="3762984" y="2349322"/>
              <a:ext cx="169164" cy="338328"/>
            </a:xfrm>
            <a:prstGeom prst="roundRect">
              <a:avLst>
                <a:gd name="adj" fmla="val 11999"/>
              </a:avLst>
            </a:prstGeom>
            <a:solidFill>
              <a:srgbClr val="4A515B"/>
            </a:solidFill>
            <a:ln>
              <a:noFill/>
            </a:ln>
          </p:spPr>
          <p:txBody>
            <a:bodyPr rtlCol="0" anchor="ctr"/>
            <a:lstStyle/>
            <a:p>
              <a:pPr algn="ctr"/>
              <a:endParaRPr/>
            </a:p>
          </p:txBody>
        </p:sp>
        <p:sp>
          <p:nvSpPr>
            <p:cNvPr id="23" name="chimney"/>
            <p:cNvSpPr/>
            <p:nvPr/>
          </p:nvSpPr>
          <p:spPr>
            <a:xfrm>
              <a:off x="3796817" y="2171700"/>
              <a:ext cx="101498" cy="177622"/>
            </a:xfrm>
            <a:prstGeom prst="rect">
              <a:avLst/>
            </a:prstGeom>
            <a:solidFill>
              <a:srgbClr val="3A3F47"/>
            </a:solidFill>
            <a:ln w="9525">
              <a:solidFill>
                <a:srgbClr val="9AA0A6"/>
              </a:solidFill>
            </a:ln>
          </p:spPr>
          <p:txBody>
            <a:bodyPr rtlCol="0" anchor="ctr"/>
            <a:lstStyle/>
            <a:p>
              <a:pPr algn="ctr"/>
              <a:endParaRPr/>
            </a:p>
          </p:txBody>
        </p:sp>
        <p:sp>
          <p:nvSpPr>
            <p:cNvPr id="24" name="chimney lip"/>
            <p:cNvSpPr/>
            <p:nvPr/>
          </p:nvSpPr>
          <p:spPr>
            <a:xfrm>
              <a:off x="3771442" y="2146325"/>
              <a:ext cx="152247" cy="42291"/>
            </a:xfrm>
            <a:prstGeom prst="rect">
              <a:avLst/>
            </a:prstGeom>
            <a:solidFill>
              <a:srgbClr val="3A3F47"/>
            </a:solidFill>
            <a:ln w="9525">
              <a:solidFill>
                <a:srgbClr val="9AA0A6"/>
              </a:solidFill>
            </a:ln>
          </p:spPr>
          <p:txBody>
            <a:bodyPr rtlCol="0" anchor="ctr"/>
            <a:lstStyle/>
            <a:p>
              <a:pPr algn="ctr"/>
              <a:endParaRPr/>
            </a:p>
          </p:txBody>
        </p:sp>
        <p:sp>
          <p:nvSpPr>
            <p:cNvPr id="25" name="dome"/>
            <p:cNvSpPr/>
            <p:nvPr/>
          </p:nvSpPr>
          <p:spPr>
            <a:xfrm>
              <a:off x="2732775" y="2256282"/>
              <a:ext cx="152247" cy="93040"/>
            </a:xfrm>
            <a:prstGeom prst="roundRect">
              <a:avLst>
                <a:gd name="adj" fmla="val 36363"/>
              </a:avLst>
            </a:prstGeom>
            <a:solidFill>
              <a:srgbClr val="2BB5B0"/>
            </a:solidFill>
            <a:ln>
              <a:noFill/>
            </a:ln>
          </p:spPr>
          <p:txBody>
            <a:bodyPr rtlCol="0" anchor="ctr"/>
            <a:lstStyle/>
            <a:p>
              <a:pPr algn="ctr"/>
              <a:endParaRPr/>
            </a:p>
          </p:txBody>
        </p:sp>
        <p:sp>
          <p:nvSpPr>
            <p:cNvPr id="26" name="wheel"/>
            <p:cNvSpPr/>
            <p:nvPr/>
          </p:nvSpPr>
          <p:spPr>
            <a:xfrm>
              <a:off x="1733016" y="2679191"/>
              <a:ext cx="338328" cy="338328"/>
            </a:xfrm>
            <a:prstGeom prst="ellipse">
              <a:avLst/>
            </a:prstGeom>
            <a:solidFill>
              <a:srgbClr val="1B1D21"/>
            </a:solidFill>
            <a:ln w="19050">
              <a:solidFill>
                <a:srgbClr val="9AA0A6"/>
              </a:solidFill>
            </a:ln>
          </p:spPr>
          <p:txBody>
            <a:bodyPr rtlCol="0" anchor="ctr"/>
            <a:lstStyle/>
            <a:p>
              <a:pPr algn="ctr"/>
              <a:endParaRPr/>
            </a:p>
          </p:txBody>
        </p:sp>
        <p:sp>
          <p:nvSpPr>
            <p:cNvPr id="27" name="hub"/>
            <p:cNvSpPr/>
            <p:nvPr/>
          </p:nvSpPr>
          <p:spPr>
            <a:xfrm>
              <a:off x="1858197" y="2804373"/>
              <a:ext cx="87965" cy="87965"/>
            </a:xfrm>
            <a:prstGeom prst="ellipse">
              <a:avLst/>
            </a:prstGeom>
            <a:solidFill>
              <a:srgbClr val="9AA0A6"/>
            </a:solidFill>
            <a:ln>
              <a:noFill/>
            </a:ln>
          </p:spPr>
          <p:txBody>
            <a:bodyPr rtlCol="0" anchor="ctr"/>
            <a:lstStyle/>
            <a:p>
              <a:pPr algn="ctr"/>
              <a:endParaRPr/>
            </a:p>
          </p:txBody>
        </p:sp>
        <p:sp>
          <p:nvSpPr>
            <p:cNvPr id="28" name="wheel"/>
            <p:cNvSpPr/>
            <p:nvPr/>
          </p:nvSpPr>
          <p:spPr>
            <a:xfrm>
              <a:off x="2113635" y="2679191"/>
              <a:ext cx="338328" cy="338328"/>
            </a:xfrm>
            <a:prstGeom prst="ellipse">
              <a:avLst/>
            </a:prstGeom>
            <a:solidFill>
              <a:srgbClr val="1B1D21"/>
            </a:solidFill>
            <a:ln w="19050">
              <a:solidFill>
                <a:srgbClr val="9AA0A6"/>
              </a:solidFill>
            </a:ln>
          </p:spPr>
          <p:txBody>
            <a:bodyPr rtlCol="0" anchor="ctr"/>
            <a:lstStyle/>
            <a:p>
              <a:pPr algn="ctr"/>
              <a:endParaRPr/>
            </a:p>
          </p:txBody>
        </p:sp>
        <p:sp>
          <p:nvSpPr>
            <p:cNvPr id="29" name="hub"/>
            <p:cNvSpPr/>
            <p:nvPr/>
          </p:nvSpPr>
          <p:spPr>
            <a:xfrm>
              <a:off x="2238816" y="2804373"/>
              <a:ext cx="87965" cy="87965"/>
            </a:xfrm>
            <a:prstGeom prst="ellipse">
              <a:avLst/>
            </a:prstGeom>
            <a:solidFill>
              <a:srgbClr val="9AA0A6"/>
            </a:solidFill>
            <a:ln>
              <a:noFill/>
            </a:ln>
          </p:spPr>
          <p:txBody>
            <a:bodyPr rtlCol="0" anchor="ctr"/>
            <a:lstStyle/>
            <a:p>
              <a:pPr algn="ctr"/>
              <a:endParaRPr/>
            </a:p>
          </p:txBody>
        </p:sp>
        <p:sp>
          <p:nvSpPr>
            <p:cNvPr id="30" name="wheel"/>
            <p:cNvSpPr/>
            <p:nvPr/>
          </p:nvSpPr>
          <p:spPr>
            <a:xfrm>
              <a:off x="2494254" y="2679191"/>
              <a:ext cx="338328" cy="338328"/>
            </a:xfrm>
            <a:prstGeom prst="ellipse">
              <a:avLst/>
            </a:prstGeom>
            <a:solidFill>
              <a:srgbClr val="1B1D21"/>
            </a:solidFill>
            <a:ln w="19050">
              <a:solidFill>
                <a:srgbClr val="9AA0A6"/>
              </a:solidFill>
            </a:ln>
          </p:spPr>
          <p:txBody>
            <a:bodyPr rtlCol="0" anchor="ctr"/>
            <a:lstStyle/>
            <a:p>
              <a:pPr algn="ctr"/>
              <a:endParaRPr/>
            </a:p>
          </p:txBody>
        </p:sp>
        <p:sp>
          <p:nvSpPr>
            <p:cNvPr id="31" name="hub"/>
            <p:cNvSpPr/>
            <p:nvPr/>
          </p:nvSpPr>
          <p:spPr>
            <a:xfrm>
              <a:off x="2619435" y="2804373"/>
              <a:ext cx="87965" cy="87965"/>
            </a:xfrm>
            <a:prstGeom prst="ellipse">
              <a:avLst/>
            </a:prstGeom>
            <a:solidFill>
              <a:srgbClr val="9AA0A6"/>
            </a:solidFill>
            <a:ln>
              <a:noFill/>
            </a:ln>
          </p:spPr>
          <p:txBody>
            <a:bodyPr rtlCol="0" anchor="ctr"/>
            <a:lstStyle/>
            <a:p>
              <a:pPr algn="ctr"/>
              <a:endParaRPr/>
            </a:p>
          </p:txBody>
        </p:sp>
        <p:sp>
          <p:nvSpPr>
            <p:cNvPr id="32" name="wheel"/>
            <p:cNvSpPr/>
            <p:nvPr/>
          </p:nvSpPr>
          <p:spPr>
            <a:xfrm>
              <a:off x="2874873" y="2679191"/>
              <a:ext cx="338328" cy="338328"/>
            </a:xfrm>
            <a:prstGeom prst="ellipse">
              <a:avLst/>
            </a:prstGeom>
            <a:solidFill>
              <a:srgbClr val="1B1D21"/>
            </a:solidFill>
            <a:ln w="19050">
              <a:solidFill>
                <a:srgbClr val="9AA0A6"/>
              </a:solidFill>
            </a:ln>
          </p:spPr>
          <p:txBody>
            <a:bodyPr rtlCol="0" anchor="ctr"/>
            <a:lstStyle/>
            <a:p>
              <a:pPr algn="ctr"/>
              <a:endParaRPr/>
            </a:p>
          </p:txBody>
        </p:sp>
        <p:sp>
          <p:nvSpPr>
            <p:cNvPr id="33" name="hub"/>
            <p:cNvSpPr/>
            <p:nvPr/>
          </p:nvSpPr>
          <p:spPr>
            <a:xfrm>
              <a:off x="3000054" y="2804373"/>
              <a:ext cx="87965" cy="87965"/>
            </a:xfrm>
            <a:prstGeom prst="ellipse">
              <a:avLst/>
            </a:prstGeom>
            <a:solidFill>
              <a:srgbClr val="9AA0A6"/>
            </a:solidFill>
            <a:ln>
              <a:noFill/>
            </a:ln>
          </p:spPr>
          <p:txBody>
            <a:bodyPr rtlCol="0" anchor="ctr"/>
            <a:lstStyle/>
            <a:p>
              <a:pPr algn="ctr"/>
              <a:endParaRPr/>
            </a:p>
          </p:txBody>
        </p:sp>
        <p:sp>
          <p:nvSpPr>
            <p:cNvPr id="34" name="wheel"/>
            <p:cNvSpPr/>
            <p:nvPr/>
          </p:nvSpPr>
          <p:spPr>
            <a:xfrm>
              <a:off x="3340074" y="2831439"/>
              <a:ext cx="186080" cy="186080"/>
            </a:xfrm>
            <a:prstGeom prst="ellipse">
              <a:avLst/>
            </a:prstGeom>
            <a:solidFill>
              <a:srgbClr val="1B1D21"/>
            </a:solidFill>
            <a:ln w="19050">
              <a:solidFill>
                <a:srgbClr val="9AA0A6"/>
              </a:solidFill>
            </a:ln>
          </p:spPr>
          <p:txBody>
            <a:bodyPr rtlCol="0" anchor="ctr"/>
            <a:lstStyle/>
            <a:p>
              <a:pPr algn="ctr"/>
              <a:endParaRPr/>
            </a:p>
          </p:txBody>
        </p:sp>
        <p:sp>
          <p:nvSpPr>
            <p:cNvPr id="35" name="hub"/>
            <p:cNvSpPr/>
            <p:nvPr/>
          </p:nvSpPr>
          <p:spPr>
            <a:xfrm>
              <a:off x="3408924" y="2900289"/>
              <a:ext cx="48380" cy="48380"/>
            </a:xfrm>
            <a:prstGeom prst="ellipse">
              <a:avLst/>
            </a:prstGeom>
            <a:solidFill>
              <a:srgbClr val="9AA0A6"/>
            </a:solidFill>
            <a:ln>
              <a:noFill/>
            </a:ln>
          </p:spPr>
          <p:txBody>
            <a:bodyPr rtlCol="0" anchor="ctr"/>
            <a:lstStyle/>
            <a:p>
              <a:pPr algn="ctr"/>
              <a:endParaRPr/>
            </a:p>
          </p:txBody>
        </p:sp>
        <p:sp>
          <p:nvSpPr>
            <p:cNvPr id="36" name="coupling rod"/>
            <p:cNvSpPr/>
            <p:nvPr/>
          </p:nvSpPr>
          <p:spPr>
            <a:xfrm>
              <a:off x="1902180" y="2751932"/>
              <a:ext cx="1141857" cy="23682"/>
            </a:xfrm>
            <a:prstGeom prst="rect">
              <a:avLst/>
            </a:prstGeom>
            <a:solidFill>
              <a:srgbClr val="D0D4D8"/>
            </a:solidFill>
            <a:ln>
              <a:noFill/>
            </a:ln>
          </p:spPr>
          <p:txBody>
            <a:bodyPr rtlCol="0" anchor="ctr"/>
            <a:lstStyle/>
            <a:p>
              <a:pPr algn="ctr"/>
              <a:endParaRPr/>
            </a:p>
          </p:txBody>
        </p:sp>
        <p:sp>
          <p:nvSpPr>
            <p:cNvPr id="37" name="buffer beam"/>
            <p:cNvSpPr/>
            <p:nvPr/>
          </p:nvSpPr>
          <p:spPr>
            <a:xfrm>
              <a:off x="3932148" y="2696108"/>
              <a:ext cx="50749" cy="152247"/>
            </a:xfrm>
            <a:prstGeom prst="rect">
              <a:avLst/>
            </a:prstGeom>
            <a:solidFill>
              <a:srgbClr val="9AA0A6"/>
            </a:solidFill>
            <a:ln>
              <a:noFill/>
            </a:ln>
          </p:spPr>
          <p:txBody>
            <a:bodyPr rtlCol="0" anchor="ctr"/>
            <a:lstStyle/>
            <a:p>
              <a:pPr algn="ctr"/>
              <a:endParaRPr/>
            </a:p>
          </p:txBody>
        </p:sp>
        <p:sp>
          <p:nvSpPr>
            <p:cNvPr id="38" name="data card"/>
            <p:cNvSpPr/>
            <p:nvPr/>
          </p:nvSpPr>
          <p:spPr>
            <a:xfrm>
              <a:off x="1417320" y="3337560"/>
              <a:ext cx="2103120" cy="566928"/>
            </a:xfrm>
            <a:prstGeom prst="roundRect">
              <a:avLst>
                <a:gd name="adj" fmla="val 12903"/>
              </a:avLst>
            </a:prstGeom>
            <a:solidFill>
              <a:srgbClr val="343A43"/>
            </a:solidFill>
            <a:ln w="25400">
              <a:solidFill>
                <a:srgbClr val="F28C28"/>
              </a:solidFill>
            </a:ln>
          </p:spPr>
          <p:txBody>
            <a:bodyPr rtlCol="0" anchor="ctr"/>
            <a:lstStyle/>
            <a:p>
              <a:pPr algn="ctr"/>
              <a:endParaRPr/>
            </a:p>
          </p:txBody>
        </p:sp>
        <p:sp>
          <p:nvSpPr>
            <p:cNvPr id="39" name="card icon"/>
            <p:cNvSpPr/>
            <p:nvPr/>
          </p:nvSpPr>
          <p:spPr>
            <a:xfrm>
              <a:off x="1554480" y="3474720"/>
              <a:ext cx="274320" cy="292608"/>
            </a:xfrm>
            <a:prstGeom prst="roundRect">
              <a:avLst>
                <a:gd name="adj" fmla="val 10000"/>
              </a:avLst>
            </a:prstGeom>
            <a:solidFill>
              <a:srgbClr val="F2F2F2"/>
            </a:solidFill>
            <a:ln>
              <a:noFill/>
            </a:ln>
          </p:spPr>
          <p:txBody>
            <a:bodyPr rtlCol="0" anchor="ctr"/>
            <a:lstStyle/>
            <a:p>
              <a:pPr algn="ctr"/>
              <a:endParaRPr/>
            </a:p>
          </p:txBody>
        </p:sp>
        <p:sp>
          <p:nvSpPr>
            <p:cNvPr id="40" name="card icon line"/>
            <p:cNvSpPr/>
            <p:nvPr/>
          </p:nvSpPr>
          <p:spPr>
            <a:xfrm>
              <a:off x="1609344" y="3529584"/>
              <a:ext cx="164592" cy="27432"/>
            </a:xfrm>
            <a:prstGeom prst="rect">
              <a:avLst/>
            </a:prstGeom>
            <a:solidFill>
              <a:srgbClr val="4A515B"/>
            </a:solidFill>
            <a:ln>
              <a:noFill/>
            </a:ln>
          </p:spPr>
          <p:txBody>
            <a:bodyPr rtlCol="0" anchor="ctr"/>
            <a:lstStyle/>
            <a:p>
              <a:pPr algn="ctr"/>
              <a:endParaRPr/>
            </a:p>
          </p:txBody>
        </p:sp>
        <p:sp>
          <p:nvSpPr>
            <p:cNvPr id="41" name="card icon line"/>
            <p:cNvSpPr/>
            <p:nvPr/>
          </p:nvSpPr>
          <p:spPr>
            <a:xfrm>
              <a:off x="1609344" y="3602736"/>
              <a:ext cx="164592" cy="27432"/>
            </a:xfrm>
            <a:prstGeom prst="rect">
              <a:avLst/>
            </a:prstGeom>
            <a:solidFill>
              <a:srgbClr val="4A515B"/>
            </a:solidFill>
            <a:ln>
              <a:noFill/>
            </a:ln>
          </p:spPr>
          <p:txBody>
            <a:bodyPr rtlCol="0" anchor="ctr"/>
            <a:lstStyle/>
            <a:p>
              <a:pPr algn="ctr"/>
              <a:endParaRPr/>
            </a:p>
          </p:txBody>
        </p:sp>
        <p:sp>
          <p:nvSpPr>
            <p:cNvPr id="42" name="card icon line"/>
            <p:cNvSpPr/>
            <p:nvPr/>
          </p:nvSpPr>
          <p:spPr>
            <a:xfrm>
              <a:off x="1609344" y="3675887"/>
              <a:ext cx="164592" cy="27432"/>
            </a:xfrm>
            <a:prstGeom prst="rect">
              <a:avLst/>
            </a:prstGeom>
            <a:solidFill>
              <a:srgbClr val="4A515B"/>
            </a:solidFill>
            <a:ln>
              <a:noFill/>
            </a:ln>
          </p:spPr>
          <p:txBody>
            <a:bodyPr rtlCol="0" anchor="ctr"/>
            <a:lstStyle/>
            <a:p>
              <a:pPr algn="ctr"/>
              <a:endParaRPr/>
            </a:p>
          </p:txBody>
        </p:sp>
        <p:sp>
          <p:nvSpPr>
            <p:cNvPr id="43" name="card label"/>
            <p:cNvSpPr txBox="1"/>
            <p:nvPr/>
          </p:nvSpPr>
          <p:spPr>
            <a:xfrm>
              <a:off x="1901952" y="3337560"/>
              <a:ext cx="1600200" cy="566928"/>
            </a:xfrm>
            <a:prstGeom prst="rect">
              <a:avLst/>
            </a:prstGeom>
            <a:noFill/>
          </p:spPr>
          <p:txBody>
            <a:bodyPr wrap="square" lIns="18288" tIns="9144" rIns="18288" bIns="9144" anchor="ctr">
              <a:noAutofit/>
            </a:bodyPr>
            <a:lstStyle/>
            <a:p>
              <a:pPr algn="l"/>
              <a:r>
                <a:rPr lang="en-GB" sz="1400" b="1" i="0">
                  <a:solidFill>
                    <a:srgbClr val="F2F2F2"/>
                  </a:solidFill>
                  <a:latin typeface="Arial"/>
                </a:rPr>
                <a:t>Own data card</a:t>
              </a:r>
            </a:p>
          </p:txBody>
        </p:sp>
        <p:cxnSp>
          <p:nvCxnSpPr>
            <p:cNvPr id="44" name="plug lead"/>
            <p:cNvCxnSpPr/>
            <p:nvPr/>
          </p:nvCxnSpPr>
          <p:spPr>
            <a:xfrm>
              <a:off x="2468880" y="3904487"/>
              <a:ext cx="0" cy="466345"/>
            </a:xfrm>
            <a:prstGeom prst="line">
              <a:avLst/>
            </a:prstGeom>
            <a:ln w="31750">
              <a:solidFill>
                <a:srgbClr val="9AA0A6"/>
              </a:solidFill>
            </a:ln>
          </p:spPr>
        </p:cxnSp>
        <p:sp>
          <p:nvSpPr>
            <p:cNvPr id="45" name="plug head"/>
            <p:cNvSpPr/>
            <p:nvPr/>
          </p:nvSpPr>
          <p:spPr>
            <a:xfrm>
              <a:off x="2286000" y="4297680"/>
              <a:ext cx="365760" cy="256032"/>
            </a:xfrm>
            <a:prstGeom prst="roundRect">
              <a:avLst>
                <a:gd name="adj" fmla="val 14285"/>
              </a:avLst>
            </a:prstGeom>
            <a:solidFill>
              <a:srgbClr val="F28C28"/>
            </a:solidFill>
            <a:ln>
              <a:noFill/>
            </a:ln>
          </p:spPr>
          <p:txBody>
            <a:bodyPr rtlCol="0" anchor="ctr"/>
            <a:lstStyle/>
            <a:p>
              <a:pPr algn="ctr"/>
              <a:endParaRPr/>
            </a:p>
          </p:txBody>
        </p:sp>
        <p:sp>
          <p:nvSpPr>
            <p:cNvPr id="46" name="plug prong"/>
            <p:cNvSpPr/>
            <p:nvPr/>
          </p:nvSpPr>
          <p:spPr>
            <a:xfrm>
              <a:off x="2377440" y="4553712"/>
              <a:ext cx="54864" cy="128016"/>
            </a:xfrm>
            <a:prstGeom prst="rect">
              <a:avLst/>
            </a:prstGeom>
            <a:solidFill>
              <a:srgbClr val="F28C28"/>
            </a:solidFill>
            <a:ln>
              <a:noFill/>
            </a:ln>
          </p:spPr>
          <p:txBody>
            <a:bodyPr rtlCol="0" anchor="ctr"/>
            <a:lstStyle/>
            <a:p>
              <a:pPr algn="ctr"/>
              <a:endParaRPr/>
            </a:p>
          </p:txBody>
        </p:sp>
        <p:sp>
          <p:nvSpPr>
            <p:cNvPr id="47" name="plug prong"/>
            <p:cNvSpPr/>
            <p:nvPr/>
          </p:nvSpPr>
          <p:spPr>
            <a:xfrm>
              <a:off x="2505456" y="4553712"/>
              <a:ext cx="54864" cy="128016"/>
            </a:xfrm>
            <a:prstGeom prst="rect">
              <a:avLst/>
            </a:prstGeom>
            <a:solidFill>
              <a:srgbClr val="F28C28"/>
            </a:solidFill>
            <a:ln>
              <a:noFill/>
            </a:ln>
          </p:spPr>
          <p:txBody>
            <a:bodyPr rtlCol="0" anchor="ctr"/>
            <a:lstStyle/>
            <a:p>
              <a:pPr algn="ctr"/>
              <a:endParaRPr/>
            </a:p>
          </p:txBody>
        </p:sp>
        <p:sp>
          <p:nvSpPr>
            <p:cNvPr id="48" name="rail"/>
            <p:cNvSpPr/>
            <p:nvPr/>
          </p:nvSpPr>
          <p:spPr>
            <a:xfrm>
              <a:off x="4361688" y="3017520"/>
              <a:ext cx="3474720" cy="45720"/>
            </a:xfrm>
            <a:prstGeom prst="rect">
              <a:avLst/>
            </a:prstGeom>
            <a:solidFill>
              <a:srgbClr val="9AA0A6"/>
            </a:solidFill>
            <a:ln>
              <a:noFill/>
            </a:ln>
          </p:spPr>
          <p:txBody>
            <a:bodyPr rtlCol="0" anchor="ctr"/>
            <a:lstStyle/>
            <a:p>
              <a:pPr algn="ctr"/>
              <a:endParaRPr/>
            </a:p>
          </p:txBody>
        </p:sp>
        <p:sp>
          <p:nvSpPr>
            <p:cNvPr id="49" name="tender frame"/>
            <p:cNvSpPr/>
            <p:nvPr/>
          </p:nvSpPr>
          <p:spPr>
            <a:xfrm>
              <a:off x="4618863" y="2746857"/>
              <a:ext cx="778154" cy="76123"/>
            </a:xfrm>
            <a:prstGeom prst="rect">
              <a:avLst/>
            </a:prstGeom>
            <a:solidFill>
              <a:srgbClr val="3A3F47"/>
            </a:solidFill>
            <a:ln w="9525">
              <a:solidFill>
                <a:srgbClr val="9AA0A6"/>
              </a:solidFill>
            </a:ln>
          </p:spPr>
          <p:txBody>
            <a:bodyPr rtlCol="0" anchor="ctr"/>
            <a:lstStyle/>
            <a:p>
              <a:pPr algn="ctr"/>
              <a:endParaRPr/>
            </a:p>
          </p:txBody>
        </p:sp>
        <p:sp>
          <p:nvSpPr>
            <p:cNvPr id="50" name="tender body"/>
            <p:cNvSpPr/>
            <p:nvPr/>
          </p:nvSpPr>
          <p:spPr>
            <a:xfrm>
              <a:off x="4618863" y="2408529"/>
              <a:ext cx="778154" cy="338328"/>
            </a:xfrm>
            <a:prstGeom prst="roundRect">
              <a:avLst>
                <a:gd name="adj" fmla="val 2500"/>
              </a:avLst>
            </a:prstGeom>
            <a:solidFill>
              <a:srgbClr val="D6619B"/>
            </a:solidFill>
            <a:ln>
              <a:noFill/>
            </a:ln>
          </p:spPr>
          <p:txBody>
            <a:bodyPr rtlCol="0" anchor="ctr"/>
            <a:lstStyle/>
            <a:p>
              <a:pPr algn="ctr"/>
              <a:endParaRPr/>
            </a:p>
          </p:txBody>
        </p:sp>
        <p:sp>
          <p:nvSpPr>
            <p:cNvPr id="51" name="tender coal"/>
            <p:cNvSpPr/>
            <p:nvPr/>
          </p:nvSpPr>
          <p:spPr>
            <a:xfrm>
              <a:off x="4644237" y="2298573"/>
              <a:ext cx="727405" cy="109956"/>
            </a:xfrm>
            <a:custGeom>
              <a:avLst/>
              <a:gdLst/>
              <a:ahLst/>
              <a:cxnLst/>
              <a:rect l="l" t="t" r="r" b="b"/>
              <a:pathLst>
                <a:path w="727405" h="109956">
                  <a:moveTo>
                    <a:pt x="0" y="109956"/>
                  </a:moveTo>
                  <a:lnTo>
                    <a:pt x="126873" y="8458"/>
                  </a:lnTo>
                  <a:lnTo>
                    <a:pt x="414452" y="0"/>
                  </a:lnTo>
                  <a:lnTo>
                    <a:pt x="727405" y="109956"/>
                  </a:lnTo>
                  <a:close/>
                </a:path>
              </a:pathLst>
            </a:custGeom>
            <a:solidFill>
              <a:srgbClr val="1B1D21"/>
            </a:solidFill>
            <a:ln w="12700">
              <a:solidFill>
                <a:srgbClr val="6B7078"/>
              </a:solidFill>
            </a:ln>
          </p:spPr>
          <p:txBody>
            <a:bodyPr rtlCol="0" anchor="ctr"/>
            <a:lstStyle/>
            <a:p>
              <a:pPr algn="ctr"/>
              <a:endParaRPr/>
            </a:p>
          </p:txBody>
        </p:sp>
        <p:sp>
          <p:nvSpPr>
            <p:cNvPr id="52" name="coupling"/>
            <p:cNvSpPr/>
            <p:nvPr/>
          </p:nvSpPr>
          <p:spPr>
            <a:xfrm>
              <a:off x="5397017" y="2619984"/>
              <a:ext cx="67665" cy="25374"/>
            </a:xfrm>
            <a:prstGeom prst="rect">
              <a:avLst/>
            </a:prstGeom>
            <a:solidFill>
              <a:srgbClr val="9AA0A6"/>
            </a:solidFill>
            <a:ln>
              <a:noFill/>
            </a:ln>
          </p:spPr>
          <p:txBody>
            <a:bodyPr rtlCol="0" anchor="ctr"/>
            <a:lstStyle/>
            <a:p>
              <a:pPr algn="ctr"/>
              <a:endParaRPr/>
            </a:p>
          </p:txBody>
        </p:sp>
        <p:sp>
          <p:nvSpPr>
            <p:cNvPr id="53" name="wheel"/>
            <p:cNvSpPr/>
            <p:nvPr/>
          </p:nvSpPr>
          <p:spPr>
            <a:xfrm>
              <a:off x="4669612" y="2814523"/>
              <a:ext cx="202996" cy="202996"/>
            </a:xfrm>
            <a:prstGeom prst="ellipse">
              <a:avLst/>
            </a:prstGeom>
            <a:solidFill>
              <a:srgbClr val="1B1D21"/>
            </a:solidFill>
            <a:ln w="19050">
              <a:solidFill>
                <a:srgbClr val="9AA0A6"/>
              </a:solidFill>
            </a:ln>
          </p:spPr>
          <p:txBody>
            <a:bodyPr rtlCol="0" anchor="ctr"/>
            <a:lstStyle/>
            <a:p>
              <a:pPr algn="ctr"/>
              <a:endParaRPr/>
            </a:p>
          </p:txBody>
        </p:sp>
        <p:sp>
          <p:nvSpPr>
            <p:cNvPr id="54" name="hub"/>
            <p:cNvSpPr/>
            <p:nvPr/>
          </p:nvSpPr>
          <p:spPr>
            <a:xfrm>
              <a:off x="4744721" y="2889632"/>
              <a:ext cx="52779" cy="52779"/>
            </a:xfrm>
            <a:prstGeom prst="ellipse">
              <a:avLst/>
            </a:prstGeom>
            <a:solidFill>
              <a:srgbClr val="9AA0A6"/>
            </a:solidFill>
            <a:ln>
              <a:noFill/>
            </a:ln>
          </p:spPr>
          <p:txBody>
            <a:bodyPr rtlCol="0" anchor="ctr"/>
            <a:lstStyle/>
            <a:p>
              <a:pPr algn="ctr"/>
              <a:endParaRPr/>
            </a:p>
          </p:txBody>
        </p:sp>
        <p:sp>
          <p:nvSpPr>
            <p:cNvPr id="55" name="wheel"/>
            <p:cNvSpPr/>
            <p:nvPr/>
          </p:nvSpPr>
          <p:spPr>
            <a:xfrm>
              <a:off x="4838776" y="2814523"/>
              <a:ext cx="202996" cy="202996"/>
            </a:xfrm>
            <a:prstGeom prst="ellipse">
              <a:avLst/>
            </a:prstGeom>
            <a:solidFill>
              <a:srgbClr val="1B1D21"/>
            </a:solidFill>
            <a:ln w="19050">
              <a:solidFill>
                <a:srgbClr val="9AA0A6"/>
              </a:solidFill>
            </a:ln>
          </p:spPr>
          <p:txBody>
            <a:bodyPr rtlCol="0" anchor="ctr"/>
            <a:lstStyle/>
            <a:p>
              <a:pPr algn="ctr"/>
              <a:endParaRPr/>
            </a:p>
          </p:txBody>
        </p:sp>
        <p:sp>
          <p:nvSpPr>
            <p:cNvPr id="56" name="hub"/>
            <p:cNvSpPr/>
            <p:nvPr/>
          </p:nvSpPr>
          <p:spPr>
            <a:xfrm>
              <a:off x="4913885" y="2889632"/>
              <a:ext cx="52779" cy="52779"/>
            </a:xfrm>
            <a:prstGeom prst="ellipse">
              <a:avLst/>
            </a:prstGeom>
            <a:solidFill>
              <a:srgbClr val="9AA0A6"/>
            </a:solidFill>
            <a:ln>
              <a:noFill/>
            </a:ln>
          </p:spPr>
          <p:txBody>
            <a:bodyPr rtlCol="0" anchor="ctr"/>
            <a:lstStyle/>
            <a:p>
              <a:pPr algn="ctr"/>
              <a:endParaRPr/>
            </a:p>
          </p:txBody>
        </p:sp>
        <p:sp>
          <p:nvSpPr>
            <p:cNvPr id="57" name="wheel"/>
            <p:cNvSpPr/>
            <p:nvPr/>
          </p:nvSpPr>
          <p:spPr>
            <a:xfrm>
              <a:off x="4974107" y="2814523"/>
              <a:ext cx="202996" cy="202996"/>
            </a:xfrm>
            <a:prstGeom prst="ellipse">
              <a:avLst/>
            </a:prstGeom>
            <a:solidFill>
              <a:srgbClr val="1B1D21"/>
            </a:solidFill>
            <a:ln w="19050">
              <a:solidFill>
                <a:srgbClr val="9AA0A6"/>
              </a:solidFill>
            </a:ln>
          </p:spPr>
          <p:txBody>
            <a:bodyPr rtlCol="0" anchor="ctr"/>
            <a:lstStyle/>
            <a:p>
              <a:pPr algn="ctr"/>
              <a:endParaRPr/>
            </a:p>
          </p:txBody>
        </p:sp>
        <p:sp>
          <p:nvSpPr>
            <p:cNvPr id="58" name="hub"/>
            <p:cNvSpPr/>
            <p:nvPr/>
          </p:nvSpPr>
          <p:spPr>
            <a:xfrm>
              <a:off x="5049216" y="2889632"/>
              <a:ext cx="52779" cy="52779"/>
            </a:xfrm>
            <a:prstGeom prst="ellipse">
              <a:avLst/>
            </a:prstGeom>
            <a:solidFill>
              <a:srgbClr val="9AA0A6"/>
            </a:solidFill>
            <a:ln>
              <a:noFill/>
            </a:ln>
          </p:spPr>
          <p:txBody>
            <a:bodyPr rtlCol="0" anchor="ctr"/>
            <a:lstStyle/>
            <a:p>
              <a:pPr algn="ctr"/>
              <a:endParaRPr/>
            </a:p>
          </p:txBody>
        </p:sp>
        <p:sp>
          <p:nvSpPr>
            <p:cNvPr id="59" name="wheel"/>
            <p:cNvSpPr/>
            <p:nvPr/>
          </p:nvSpPr>
          <p:spPr>
            <a:xfrm>
              <a:off x="5143271" y="2814523"/>
              <a:ext cx="202996" cy="202996"/>
            </a:xfrm>
            <a:prstGeom prst="ellipse">
              <a:avLst/>
            </a:prstGeom>
            <a:solidFill>
              <a:srgbClr val="1B1D21"/>
            </a:solidFill>
            <a:ln w="19050">
              <a:solidFill>
                <a:srgbClr val="9AA0A6"/>
              </a:solidFill>
            </a:ln>
          </p:spPr>
          <p:txBody>
            <a:bodyPr rtlCol="0" anchor="ctr"/>
            <a:lstStyle/>
            <a:p>
              <a:pPr algn="ctr"/>
              <a:endParaRPr/>
            </a:p>
          </p:txBody>
        </p:sp>
        <p:sp>
          <p:nvSpPr>
            <p:cNvPr id="60" name="hub"/>
            <p:cNvSpPr/>
            <p:nvPr/>
          </p:nvSpPr>
          <p:spPr>
            <a:xfrm>
              <a:off x="5218380" y="2889632"/>
              <a:ext cx="52779" cy="52779"/>
            </a:xfrm>
            <a:prstGeom prst="ellipse">
              <a:avLst/>
            </a:prstGeom>
            <a:solidFill>
              <a:srgbClr val="9AA0A6"/>
            </a:solidFill>
            <a:ln>
              <a:noFill/>
            </a:ln>
          </p:spPr>
          <p:txBody>
            <a:bodyPr rtlCol="0" anchor="ctr"/>
            <a:lstStyle/>
            <a:p>
              <a:pPr algn="ctr"/>
              <a:endParaRPr/>
            </a:p>
          </p:txBody>
        </p:sp>
        <p:sp>
          <p:nvSpPr>
            <p:cNvPr id="61" name="frame"/>
            <p:cNvSpPr/>
            <p:nvPr/>
          </p:nvSpPr>
          <p:spPr>
            <a:xfrm>
              <a:off x="5464682" y="2746857"/>
              <a:ext cx="1937942" cy="76123"/>
            </a:xfrm>
            <a:prstGeom prst="rect">
              <a:avLst/>
            </a:prstGeom>
            <a:solidFill>
              <a:srgbClr val="3A3F47"/>
            </a:solidFill>
            <a:ln w="9525">
              <a:solidFill>
                <a:srgbClr val="9AA0A6"/>
              </a:solidFill>
            </a:ln>
          </p:spPr>
          <p:txBody>
            <a:bodyPr rtlCol="0" anchor="ctr"/>
            <a:lstStyle/>
            <a:p>
              <a:pPr algn="ctr"/>
              <a:endParaRPr/>
            </a:p>
          </p:txBody>
        </p:sp>
        <p:sp>
          <p:nvSpPr>
            <p:cNvPr id="62" name="cab"/>
            <p:cNvSpPr/>
            <p:nvPr/>
          </p:nvSpPr>
          <p:spPr>
            <a:xfrm>
              <a:off x="5464682" y="2171700"/>
              <a:ext cx="389077" cy="575157"/>
            </a:xfrm>
            <a:prstGeom prst="roundRect">
              <a:avLst>
                <a:gd name="adj" fmla="val 2173"/>
              </a:avLst>
            </a:prstGeom>
            <a:solidFill>
              <a:srgbClr val="D6619B"/>
            </a:solidFill>
            <a:ln>
              <a:noFill/>
            </a:ln>
          </p:spPr>
          <p:txBody>
            <a:bodyPr rtlCol="0" anchor="ctr"/>
            <a:lstStyle/>
            <a:p>
              <a:pPr algn="ctr"/>
              <a:endParaRPr/>
            </a:p>
          </p:txBody>
        </p:sp>
        <p:sp>
          <p:nvSpPr>
            <p:cNvPr id="63" name="cab roof"/>
            <p:cNvSpPr/>
            <p:nvPr/>
          </p:nvSpPr>
          <p:spPr>
            <a:xfrm>
              <a:off x="5430850" y="2120950"/>
              <a:ext cx="456742" cy="50749"/>
            </a:xfrm>
            <a:prstGeom prst="rect">
              <a:avLst/>
            </a:prstGeom>
            <a:solidFill>
              <a:srgbClr val="3A3F47"/>
            </a:solidFill>
            <a:ln w="9525">
              <a:solidFill>
                <a:srgbClr val="9AA0A6"/>
              </a:solidFill>
            </a:ln>
          </p:spPr>
          <p:txBody>
            <a:bodyPr rtlCol="0" anchor="ctr"/>
            <a:lstStyle/>
            <a:p>
              <a:pPr algn="ctr"/>
              <a:endParaRPr/>
            </a:p>
          </p:txBody>
        </p:sp>
        <p:sp>
          <p:nvSpPr>
            <p:cNvPr id="64" name="cab window"/>
            <p:cNvSpPr/>
            <p:nvPr/>
          </p:nvSpPr>
          <p:spPr>
            <a:xfrm>
              <a:off x="5557723" y="2256282"/>
              <a:ext cx="169164" cy="186080"/>
            </a:xfrm>
            <a:prstGeom prst="rect">
              <a:avLst/>
            </a:prstGeom>
            <a:solidFill>
              <a:srgbClr val="1B1D21"/>
            </a:solidFill>
            <a:ln>
              <a:noFill/>
            </a:ln>
          </p:spPr>
          <p:txBody>
            <a:bodyPr rtlCol="0" anchor="ctr"/>
            <a:lstStyle/>
            <a:p>
              <a:pPr algn="ctr"/>
              <a:endParaRPr/>
            </a:p>
          </p:txBody>
        </p:sp>
        <p:sp>
          <p:nvSpPr>
            <p:cNvPr id="65" name="boiler"/>
            <p:cNvSpPr/>
            <p:nvPr/>
          </p:nvSpPr>
          <p:spPr>
            <a:xfrm>
              <a:off x="5853760" y="2222449"/>
              <a:ext cx="1261286" cy="422910"/>
            </a:xfrm>
            <a:prstGeom prst="roundRect">
              <a:avLst>
                <a:gd name="adj" fmla="val 22000"/>
              </a:avLst>
            </a:prstGeom>
            <a:solidFill>
              <a:srgbClr val="D6619B"/>
            </a:solidFill>
            <a:ln>
              <a:noFill/>
            </a:ln>
          </p:spPr>
          <p:txBody>
            <a:bodyPr rtlCol="0" anchor="ctr"/>
            <a:lstStyle/>
            <a:p>
              <a:pPr algn="ctr"/>
              <a:endParaRPr/>
            </a:p>
          </p:txBody>
        </p:sp>
        <p:sp>
          <p:nvSpPr>
            <p:cNvPr id="66" name="smokebox"/>
            <p:cNvSpPr/>
            <p:nvPr/>
          </p:nvSpPr>
          <p:spPr>
            <a:xfrm>
              <a:off x="7115046" y="2222449"/>
              <a:ext cx="202996" cy="422910"/>
            </a:xfrm>
            <a:prstGeom prst="roundRect">
              <a:avLst>
                <a:gd name="adj" fmla="val 10000"/>
              </a:avLst>
            </a:prstGeom>
            <a:solidFill>
              <a:srgbClr val="4A515B"/>
            </a:solidFill>
            <a:ln>
              <a:noFill/>
            </a:ln>
          </p:spPr>
          <p:txBody>
            <a:bodyPr rtlCol="0" anchor="ctr"/>
            <a:lstStyle/>
            <a:p>
              <a:pPr algn="ctr"/>
              <a:endParaRPr/>
            </a:p>
          </p:txBody>
        </p:sp>
        <p:sp>
          <p:nvSpPr>
            <p:cNvPr id="67" name="funnel stack"/>
            <p:cNvSpPr/>
            <p:nvPr/>
          </p:nvSpPr>
          <p:spPr>
            <a:xfrm>
              <a:off x="7106588" y="1934870"/>
              <a:ext cx="202997" cy="287579"/>
            </a:xfrm>
            <a:custGeom>
              <a:avLst/>
              <a:gdLst/>
              <a:ahLst/>
              <a:cxnLst/>
              <a:rect l="l" t="t" r="r" b="b"/>
              <a:pathLst>
                <a:path w="202997" h="287579">
                  <a:moveTo>
                    <a:pt x="67666" y="287579"/>
                  </a:moveTo>
                  <a:lnTo>
                    <a:pt x="67666" y="202997"/>
                  </a:lnTo>
                  <a:lnTo>
                    <a:pt x="0" y="0"/>
                  </a:lnTo>
                  <a:lnTo>
                    <a:pt x="202997" y="0"/>
                  </a:lnTo>
                  <a:lnTo>
                    <a:pt x="135331" y="202997"/>
                  </a:lnTo>
                  <a:lnTo>
                    <a:pt x="135331" y="287579"/>
                  </a:lnTo>
                  <a:close/>
                </a:path>
              </a:pathLst>
            </a:custGeom>
            <a:solidFill>
              <a:srgbClr val="3A3F47"/>
            </a:solidFill>
            <a:ln w="9525">
              <a:solidFill>
                <a:srgbClr val="9AA0A6"/>
              </a:solidFill>
            </a:ln>
          </p:spPr>
          <p:txBody>
            <a:bodyPr rtlCol="0" anchor="ctr"/>
            <a:lstStyle/>
            <a:p>
              <a:pPr algn="ctr"/>
              <a:endParaRPr/>
            </a:p>
          </p:txBody>
        </p:sp>
        <p:sp>
          <p:nvSpPr>
            <p:cNvPr id="68" name="headlamp"/>
            <p:cNvSpPr/>
            <p:nvPr/>
          </p:nvSpPr>
          <p:spPr>
            <a:xfrm>
              <a:off x="7267294" y="2087117"/>
              <a:ext cx="126872" cy="126872"/>
            </a:xfrm>
            <a:prstGeom prst="ellipse">
              <a:avLst/>
            </a:prstGeom>
            <a:solidFill>
              <a:srgbClr val="F2C14E"/>
            </a:solidFill>
            <a:ln w="12700">
              <a:solidFill>
                <a:srgbClr val="F2F2F2"/>
              </a:solidFill>
            </a:ln>
          </p:spPr>
          <p:txBody>
            <a:bodyPr rtlCol="0" anchor="ctr"/>
            <a:lstStyle/>
            <a:p>
              <a:pPr algn="ctr"/>
              <a:endParaRPr/>
            </a:p>
          </p:txBody>
        </p:sp>
        <p:sp>
          <p:nvSpPr>
            <p:cNvPr id="69" name="sand dome"/>
            <p:cNvSpPr/>
            <p:nvPr/>
          </p:nvSpPr>
          <p:spPr>
            <a:xfrm>
              <a:off x="6206920" y="2120950"/>
              <a:ext cx="152247" cy="101498"/>
            </a:xfrm>
            <a:prstGeom prst="roundRect">
              <a:avLst>
                <a:gd name="adj" fmla="val 33333"/>
              </a:avLst>
            </a:prstGeom>
            <a:solidFill>
              <a:srgbClr val="D6619B"/>
            </a:solidFill>
            <a:ln>
              <a:noFill/>
            </a:ln>
          </p:spPr>
          <p:txBody>
            <a:bodyPr rtlCol="0" anchor="ctr"/>
            <a:lstStyle/>
            <a:p>
              <a:pPr algn="ctr"/>
              <a:endParaRPr/>
            </a:p>
          </p:txBody>
        </p:sp>
        <p:sp>
          <p:nvSpPr>
            <p:cNvPr id="70" name="steam dome"/>
            <p:cNvSpPr/>
            <p:nvPr/>
          </p:nvSpPr>
          <p:spPr>
            <a:xfrm>
              <a:off x="6635758" y="2104034"/>
              <a:ext cx="169164" cy="118414"/>
            </a:xfrm>
            <a:prstGeom prst="roundRect">
              <a:avLst>
                <a:gd name="adj" fmla="val 28571"/>
              </a:avLst>
            </a:prstGeom>
            <a:solidFill>
              <a:srgbClr val="D6619B"/>
            </a:solidFill>
            <a:ln>
              <a:noFill/>
            </a:ln>
          </p:spPr>
          <p:txBody>
            <a:bodyPr rtlCol="0" anchor="ctr"/>
            <a:lstStyle/>
            <a:p>
              <a:pPr algn="ctr"/>
              <a:endParaRPr/>
            </a:p>
          </p:txBody>
        </p:sp>
        <p:sp>
          <p:nvSpPr>
            <p:cNvPr id="71" name="pilot"/>
            <p:cNvSpPr/>
            <p:nvPr/>
          </p:nvSpPr>
          <p:spPr>
            <a:xfrm>
              <a:off x="7318043" y="2755315"/>
              <a:ext cx="253746" cy="186081"/>
            </a:xfrm>
            <a:custGeom>
              <a:avLst/>
              <a:gdLst/>
              <a:ahLst/>
              <a:cxnLst/>
              <a:rect l="l" t="t" r="r" b="b"/>
              <a:pathLst>
                <a:path w="253746" h="186081">
                  <a:moveTo>
                    <a:pt x="0" y="0"/>
                  </a:moveTo>
                  <a:lnTo>
                    <a:pt x="253746" y="186081"/>
                  </a:lnTo>
                  <a:lnTo>
                    <a:pt x="0" y="186081"/>
                  </a:lnTo>
                  <a:close/>
                </a:path>
              </a:pathLst>
            </a:custGeom>
            <a:solidFill>
              <a:srgbClr val="3A3F47"/>
            </a:solidFill>
            <a:ln w="12700">
              <a:solidFill>
                <a:srgbClr val="9AA0A6"/>
              </a:solidFill>
            </a:ln>
          </p:spPr>
          <p:txBody>
            <a:bodyPr rtlCol="0" anchor="ctr"/>
            <a:lstStyle/>
            <a:p>
              <a:pPr algn="ctr"/>
              <a:endParaRPr/>
            </a:p>
          </p:txBody>
        </p:sp>
        <p:sp>
          <p:nvSpPr>
            <p:cNvPr id="72" name="bell"/>
            <p:cNvSpPr/>
            <p:nvPr/>
          </p:nvSpPr>
          <p:spPr>
            <a:xfrm>
              <a:off x="6433654" y="2019452"/>
              <a:ext cx="50749" cy="101498"/>
            </a:xfrm>
            <a:prstGeom prst="rect">
              <a:avLst/>
            </a:prstGeom>
            <a:solidFill>
              <a:srgbClr val="9AA0A6"/>
            </a:solidFill>
            <a:ln>
              <a:noFill/>
            </a:ln>
          </p:spPr>
          <p:txBody>
            <a:bodyPr rtlCol="0" anchor="ctr"/>
            <a:lstStyle/>
            <a:p>
              <a:pPr algn="ctr"/>
              <a:endParaRPr/>
            </a:p>
          </p:txBody>
        </p:sp>
        <p:sp>
          <p:nvSpPr>
            <p:cNvPr id="73" name="wheel"/>
            <p:cNvSpPr/>
            <p:nvPr/>
          </p:nvSpPr>
          <p:spPr>
            <a:xfrm>
              <a:off x="5523890" y="2696108"/>
              <a:ext cx="321411" cy="321411"/>
            </a:xfrm>
            <a:prstGeom prst="ellipse">
              <a:avLst/>
            </a:prstGeom>
            <a:solidFill>
              <a:srgbClr val="1B1D21"/>
            </a:solidFill>
            <a:ln w="19050">
              <a:solidFill>
                <a:srgbClr val="9AA0A6"/>
              </a:solidFill>
            </a:ln>
          </p:spPr>
          <p:txBody>
            <a:bodyPr rtlCol="0" anchor="ctr"/>
            <a:lstStyle/>
            <a:p>
              <a:pPr algn="ctr"/>
              <a:endParaRPr/>
            </a:p>
          </p:txBody>
        </p:sp>
        <p:sp>
          <p:nvSpPr>
            <p:cNvPr id="74" name="hub"/>
            <p:cNvSpPr/>
            <p:nvPr/>
          </p:nvSpPr>
          <p:spPr>
            <a:xfrm>
              <a:off x="5642812" y="2815030"/>
              <a:ext cx="83567" cy="83567"/>
            </a:xfrm>
            <a:prstGeom prst="ellipse">
              <a:avLst/>
            </a:prstGeom>
            <a:solidFill>
              <a:srgbClr val="9AA0A6"/>
            </a:solidFill>
            <a:ln>
              <a:noFill/>
            </a:ln>
          </p:spPr>
          <p:txBody>
            <a:bodyPr rtlCol="0" anchor="ctr"/>
            <a:lstStyle/>
            <a:p>
              <a:pPr algn="ctr"/>
              <a:endParaRPr/>
            </a:p>
          </p:txBody>
        </p:sp>
        <p:sp>
          <p:nvSpPr>
            <p:cNvPr id="75" name="wheel"/>
            <p:cNvSpPr/>
            <p:nvPr/>
          </p:nvSpPr>
          <p:spPr>
            <a:xfrm>
              <a:off x="5883871" y="2696108"/>
              <a:ext cx="321411" cy="321411"/>
            </a:xfrm>
            <a:prstGeom prst="ellipse">
              <a:avLst/>
            </a:prstGeom>
            <a:solidFill>
              <a:srgbClr val="1B1D21"/>
            </a:solidFill>
            <a:ln w="19050">
              <a:solidFill>
                <a:srgbClr val="9AA0A6"/>
              </a:solidFill>
            </a:ln>
          </p:spPr>
          <p:txBody>
            <a:bodyPr rtlCol="0" anchor="ctr"/>
            <a:lstStyle/>
            <a:p>
              <a:pPr algn="ctr"/>
              <a:endParaRPr/>
            </a:p>
          </p:txBody>
        </p:sp>
        <p:sp>
          <p:nvSpPr>
            <p:cNvPr id="76" name="hub"/>
            <p:cNvSpPr/>
            <p:nvPr/>
          </p:nvSpPr>
          <p:spPr>
            <a:xfrm>
              <a:off x="6002793" y="2815030"/>
              <a:ext cx="83567" cy="83567"/>
            </a:xfrm>
            <a:prstGeom prst="ellipse">
              <a:avLst/>
            </a:prstGeom>
            <a:solidFill>
              <a:srgbClr val="9AA0A6"/>
            </a:solidFill>
            <a:ln>
              <a:noFill/>
            </a:ln>
          </p:spPr>
          <p:txBody>
            <a:bodyPr rtlCol="0" anchor="ctr"/>
            <a:lstStyle/>
            <a:p>
              <a:pPr algn="ctr"/>
              <a:endParaRPr/>
            </a:p>
          </p:txBody>
        </p:sp>
        <p:sp>
          <p:nvSpPr>
            <p:cNvPr id="77" name="wheel"/>
            <p:cNvSpPr/>
            <p:nvPr/>
          </p:nvSpPr>
          <p:spPr>
            <a:xfrm>
              <a:off x="6243852" y="2696108"/>
              <a:ext cx="321411" cy="321411"/>
            </a:xfrm>
            <a:prstGeom prst="ellipse">
              <a:avLst/>
            </a:prstGeom>
            <a:solidFill>
              <a:srgbClr val="1B1D21"/>
            </a:solidFill>
            <a:ln w="19050">
              <a:solidFill>
                <a:srgbClr val="9AA0A6"/>
              </a:solidFill>
            </a:ln>
          </p:spPr>
          <p:txBody>
            <a:bodyPr rtlCol="0" anchor="ctr"/>
            <a:lstStyle/>
            <a:p>
              <a:pPr algn="ctr"/>
              <a:endParaRPr/>
            </a:p>
          </p:txBody>
        </p:sp>
        <p:sp>
          <p:nvSpPr>
            <p:cNvPr id="78" name="hub"/>
            <p:cNvSpPr/>
            <p:nvPr/>
          </p:nvSpPr>
          <p:spPr>
            <a:xfrm>
              <a:off x="6362774" y="2815030"/>
              <a:ext cx="83567" cy="83567"/>
            </a:xfrm>
            <a:prstGeom prst="ellipse">
              <a:avLst/>
            </a:prstGeom>
            <a:solidFill>
              <a:srgbClr val="9AA0A6"/>
            </a:solidFill>
            <a:ln>
              <a:noFill/>
            </a:ln>
          </p:spPr>
          <p:txBody>
            <a:bodyPr rtlCol="0" anchor="ctr"/>
            <a:lstStyle/>
            <a:p>
              <a:pPr algn="ctr"/>
              <a:endParaRPr/>
            </a:p>
          </p:txBody>
        </p:sp>
        <p:sp>
          <p:nvSpPr>
            <p:cNvPr id="79" name="wheel"/>
            <p:cNvSpPr/>
            <p:nvPr/>
          </p:nvSpPr>
          <p:spPr>
            <a:xfrm>
              <a:off x="6979715" y="2848356"/>
              <a:ext cx="169164" cy="169164"/>
            </a:xfrm>
            <a:prstGeom prst="ellipse">
              <a:avLst/>
            </a:prstGeom>
            <a:solidFill>
              <a:srgbClr val="1B1D21"/>
            </a:solidFill>
            <a:ln w="19050">
              <a:solidFill>
                <a:srgbClr val="9AA0A6"/>
              </a:solidFill>
            </a:ln>
          </p:spPr>
          <p:txBody>
            <a:bodyPr rtlCol="0" anchor="ctr"/>
            <a:lstStyle/>
            <a:p>
              <a:pPr algn="ctr"/>
              <a:endParaRPr/>
            </a:p>
          </p:txBody>
        </p:sp>
        <p:sp>
          <p:nvSpPr>
            <p:cNvPr id="80" name="hub"/>
            <p:cNvSpPr/>
            <p:nvPr/>
          </p:nvSpPr>
          <p:spPr>
            <a:xfrm>
              <a:off x="7042306" y="2910946"/>
              <a:ext cx="43982" cy="43982"/>
            </a:xfrm>
            <a:prstGeom prst="ellipse">
              <a:avLst/>
            </a:prstGeom>
            <a:solidFill>
              <a:srgbClr val="9AA0A6"/>
            </a:solidFill>
            <a:ln>
              <a:noFill/>
            </a:ln>
          </p:spPr>
          <p:txBody>
            <a:bodyPr rtlCol="0" anchor="ctr"/>
            <a:lstStyle/>
            <a:p>
              <a:pPr algn="ctr"/>
              <a:endParaRPr/>
            </a:p>
          </p:txBody>
        </p:sp>
        <p:sp>
          <p:nvSpPr>
            <p:cNvPr id="81" name="wheel"/>
            <p:cNvSpPr/>
            <p:nvPr/>
          </p:nvSpPr>
          <p:spPr>
            <a:xfrm>
              <a:off x="7165796" y="2848356"/>
              <a:ext cx="169164" cy="169164"/>
            </a:xfrm>
            <a:prstGeom prst="ellipse">
              <a:avLst/>
            </a:prstGeom>
            <a:solidFill>
              <a:srgbClr val="1B1D21"/>
            </a:solidFill>
            <a:ln w="19050">
              <a:solidFill>
                <a:srgbClr val="9AA0A6"/>
              </a:solidFill>
            </a:ln>
          </p:spPr>
          <p:txBody>
            <a:bodyPr rtlCol="0" anchor="ctr"/>
            <a:lstStyle/>
            <a:p>
              <a:pPr algn="ctr"/>
              <a:endParaRPr/>
            </a:p>
          </p:txBody>
        </p:sp>
        <p:sp>
          <p:nvSpPr>
            <p:cNvPr id="82" name="hub"/>
            <p:cNvSpPr/>
            <p:nvPr/>
          </p:nvSpPr>
          <p:spPr>
            <a:xfrm>
              <a:off x="7228386" y="2910946"/>
              <a:ext cx="43982" cy="43982"/>
            </a:xfrm>
            <a:prstGeom prst="ellipse">
              <a:avLst/>
            </a:prstGeom>
            <a:solidFill>
              <a:srgbClr val="9AA0A6"/>
            </a:solidFill>
            <a:ln>
              <a:noFill/>
            </a:ln>
          </p:spPr>
          <p:txBody>
            <a:bodyPr rtlCol="0" anchor="ctr"/>
            <a:lstStyle/>
            <a:p>
              <a:pPr algn="ctr"/>
              <a:endParaRPr/>
            </a:p>
          </p:txBody>
        </p:sp>
        <p:sp>
          <p:nvSpPr>
            <p:cNvPr id="83" name="coupling rod"/>
            <p:cNvSpPr/>
            <p:nvPr/>
          </p:nvSpPr>
          <p:spPr>
            <a:xfrm>
              <a:off x="5684596" y="2760390"/>
              <a:ext cx="719961" cy="23682"/>
            </a:xfrm>
            <a:prstGeom prst="rect">
              <a:avLst/>
            </a:prstGeom>
            <a:solidFill>
              <a:srgbClr val="D0D4D8"/>
            </a:solidFill>
            <a:ln>
              <a:noFill/>
            </a:ln>
          </p:spPr>
          <p:txBody>
            <a:bodyPr rtlCol="0" anchor="ctr"/>
            <a:lstStyle/>
            <a:p>
              <a:pPr algn="ctr"/>
              <a:endParaRPr/>
            </a:p>
          </p:txBody>
        </p:sp>
        <p:sp>
          <p:nvSpPr>
            <p:cNvPr id="84" name="data card"/>
            <p:cNvSpPr/>
            <p:nvPr/>
          </p:nvSpPr>
          <p:spPr>
            <a:xfrm>
              <a:off x="5047488" y="3337560"/>
              <a:ext cx="2103120" cy="566928"/>
            </a:xfrm>
            <a:prstGeom prst="roundRect">
              <a:avLst>
                <a:gd name="adj" fmla="val 12903"/>
              </a:avLst>
            </a:prstGeom>
            <a:solidFill>
              <a:srgbClr val="343A43"/>
            </a:solidFill>
            <a:ln w="25400">
              <a:solidFill>
                <a:srgbClr val="F28C28"/>
              </a:solidFill>
            </a:ln>
          </p:spPr>
          <p:txBody>
            <a:bodyPr rtlCol="0" anchor="ctr"/>
            <a:lstStyle/>
            <a:p>
              <a:pPr algn="ctr"/>
              <a:endParaRPr/>
            </a:p>
          </p:txBody>
        </p:sp>
        <p:sp>
          <p:nvSpPr>
            <p:cNvPr id="85" name="card icon"/>
            <p:cNvSpPr/>
            <p:nvPr/>
          </p:nvSpPr>
          <p:spPr>
            <a:xfrm>
              <a:off x="5184648" y="3474720"/>
              <a:ext cx="274320" cy="292608"/>
            </a:xfrm>
            <a:prstGeom prst="roundRect">
              <a:avLst>
                <a:gd name="adj" fmla="val 10000"/>
              </a:avLst>
            </a:prstGeom>
            <a:solidFill>
              <a:srgbClr val="F2F2F2"/>
            </a:solidFill>
            <a:ln>
              <a:noFill/>
            </a:ln>
          </p:spPr>
          <p:txBody>
            <a:bodyPr rtlCol="0" anchor="ctr"/>
            <a:lstStyle/>
            <a:p>
              <a:pPr algn="ctr"/>
              <a:endParaRPr/>
            </a:p>
          </p:txBody>
        </p:sp>
        <p:sp>
          <p:nvSpPr>
            <p:cNvPr id="86" name="card icon line"/>
            <p:cNvSpPr/>
            <p:nvPr/>
          </p:nvSpPr>
          <p:spPr>
            <a:xfrm>
              <a:off x="5239512" y="3529584"/>
              <a:ext cx="164592" cy="27432"/>
            </a:xfrm>
            <a:prstGeom prst="rect">
              <a:avLst/>
            </a:prstGeom>
            <a:solidFill>
              <a:srgbClr val="4A515B"/>
            </a:solidFill>
            <a:ln>
              <a:noFill/>
            </a:ln>
          </p:spPr>
          <p:txBody>
            <a:bodyPr rtlCol="0" anchor="ctr"/>
            <a:lstStyle/>
            <a:p>
              <a:pPr algn="ctr"/>
              <a:endParaRPr/>
            </a:p>
          </p:txBody>
        </p:sp>
        <p:sp>
          <p:nvSpPr>
            <p:cNvPr id="87" name="card icon line"/>
            <p:cNvSpPr/>
            <p:nvPr/>
          </p:nvSpPr>
          <p:spPr>
            <a:xfrm>
              <a:off x="5239512" y="3602736"/>
              <a:ext cx="164592" cy="27432"/>
            </a:xfrm>
            <a:prstGeom prst="rect">
              <a:avLst/>
            </a:prstGeom>
            <a:solidFill>
              <a:srgbClr val="4A515B"/>
            </a:solidFill>
            <a:ln>
              <a:noFill/>
            </a:ln>
          </p:spPr>
          <p:txBody>
            <a:bodyPr rtlCol="0" anchor="ctr"/>
            <a:lstStyle/>
            <a:p>
              <a:pPr algn="ctr"/>
              <a:endParaRPr/>
            </a:p>
          </p:txBody>
        </p:sp>
        <p:sp>
          <p:nvSpPr>
            <p:cNvPr id="88" name="card icon line"/>
            <p:cNvSpPr/>
            <p:nvPr/>
          </p:nvSpPr>
          <p:spPr>
            <a:xfrm>
              <a:off x="5239512" y="3675887"/>
              <a:ext cx="164592" cy="27432"/>
            </a:xfrm>
            <a:prstGeom prst="rect">
              <a:avLst/>
            </a:prstGeom>
            <a:solidFill>
              <a:srgbClr val="4A515B"/>
            </a:solidFill>
            <a:ln>
              <a:noFill/>
            </a:ln>
          </p:spPr>
          <p:txBody>
            <a:bodyPr rtlCol="0" anchor="ctr"/>
            <a:lstStyle/>
            <a:p>
              <a:pPr algn="ctr"/>
              <a:endParaRPr/>
            </a:p>
          </p:txBody>
        </p:sp>
        <p:sp>
          <p:nvSpPr>
            <p:cNvPr id="89" name="card label"/>
            <p:cNvSpPr txBox="1"/>
            <p:nvPr/>
          </p:nvSpPr>
          <p:spPr>
            <a:xfrm>
              <a:off x="5532120" y="3337560"/>
              <a:ext cx="1600200" cy="566928"/>
            </a:xfrm>
            <a:prstGeom prst="rect">
              <a:avLst/>
            </a:prstGeom>
            <a:noFill/>
          </p:spPr>
          <p:txBody>
            <a:bodyPr wrap="square" lIns="18288" tIns="9144" rIns="18288" bIns="9144" anchor="ctr">
              <a:noAutofit/>
            </a:bodyPr>
            <a:lstStyle/>
            <a:p>
              <a:pPr algn="l"/>
              <a:r>
                <a:rPr lang="en-GB" sz="1400" b="1" i="0">
                  <a:solidFill>
                    <a:srgbClr val="F2F2F2"/>
                  </a:solidFill>
                  <a:latin typeface="Arial"/>
                </a:rPr>
                <a:t>Own data card</a:t>
              </a:r>
            </a:p>
          </p:txBody>
        </p:sp>
        <p:cxnSp>
          <p:nvCxnSpPr>
            <p:cNvPr id="90" name="plug lead"/>
            <p:cNvCxnSpPr/>
            <p:nvPr/>
          </p:nvCxnSpPr>
          <p:spPr>
            <a:xfrm>
              <a:off x="6099048" y="3904487"/>
              <a:ext cx="0" cy="466345"/>
            </a:xfrm>
            <a:prstGeom prst="line">
              <a:avLst/>
            </a:prstGeom>
            <a:ln w="31750">
              <a:solidFill>
                <a:srgbClr val="9AA0A6"/>
              </a:solidFill>
            </a:ln>
          </p:spPr>
        </p:cxnSp>
        <p:sp>
          <p:nvSpPr>
            <p:cNvPr id="91" name="plug head"/>
            <p:cNvSpPr/>
            <p:nvPr/>
          </p:nvSpPr>
          <p:spPr>
            <a:xfrm>
              <a:off x="5916168" y="4297680"/>
              <a:ext cx="365760" cy="256032"/>
            </a:xfrm>
            <a:prstGeom prst="roundRect">
              <a:avLst>
                <a:gd name="adj" fmla="val 14285"/>
              </a:avLst>
            </a:prstGeom>
            <a:solidFill>
              <a:srgbClr val="F28C28"/>
            </a:solidFill>
            <a:ln>
              <a:noFill/>
            </a:ln>
          </p:spPr>
          <p:txBody>
            <a:bodyPr rtlCol="0" anchor="ctr"/>
            <a:lstStyle/>
            <a:p>
              <a:pPr algn="ctr"/>
              <a:endParaRPr/>
            </a:p>
          </p:txBody>
        </p:sp>
        <p:sp>
          <p:nvSpPr>
            <p:cNvPr id="92" name="plug prong"/>
            <p:cNvSpPr/>
            <p:nvPr/>
          </p:nvSpPr>
          <p:spPr>
            <a:xfrm>
              <a:off x="6007608" y="4553712"/>
              <a:ext cx="54864" cy="128016"/>
            </a:xfrm>
            <a:prstGeom prst="rect">
              <a:avLst/>
            </a:prstGeom>
            <a:solidFill>
              <a:srgbClr val="F28C28"/>
            </a:solidFill>
            <a:ln>
              <a:noFill/>
            </a:ln>
          </p:spPr>
          <p:txBody>
            <a:bodyPr rtlCol="0" anchor="ctr"/>
            <a:lstStyle/>
            <a:p>
              <a:pPr algn="ctr"/>
              <a:endParaRPr/>
            </a:p>
          </p:txBody>
        </p:sp>
        <p:sp>
          <p:nvSpPr>
            <p:cNvPr id="93" name="plug prong"/>
            <p:cNvSpPr/>
            <p:nvPr/>
          </p:nvSpPr>
          <p:spPr>
            <a:xfrm>
              <a:off x="6135624" y="4553712"/>
              <a:ext cx="54864" cy="128016"/>
            </a:xfrm>
            <a:prstGeom prst="rect">
              <a:avLst/>
            </a:prstGeom>
            <a:solidFill>
              <a:srgbClr val="F28C28"/>
            </a:solidFill>
            <a:ln>
              <a:noFill/>
            </a:ln>
          </p:spPr>
          <p:txBody>
            <a:bodyPr rtlCol="0" anchor="ctr"/>
            <a:lstStyle/>
            <a:p>
              <a:pPr algn="ctr"/>
              <a:endParaRPr/>
            </a:p>
          </p:txBody>
        </p:sp>
        <p:sp>
          <p:nvSpPr>
            <p:cNvPr id="94" name="rail"/>
            <p:cNvSpPr/>
            <p:nvPr/>
          </p:nvSpPr>
          <p:spPr>
            <a:xfrm>
              <a:off x="7991856" y="3017520"/>
              <a:ext cx="3474720" cy="45720"/>
            </a:xfrm>
            <a:prstGeom prst="rect">
              <a:avLst/>
            </a:prstGeom>
            <a:solidFill>
              <a:srgbClr val="9AA0A6"/>
            </a:solidFill>
            <a:ln>
              <a:noFill/>
            </a:ln>
          </p:spPr>
          <p:txBody>
            <a:bodyPr rtlCol="0" anchor="ctr"/>
            <a:lstStyle/>
            <a:p>
              <a:pPr algn="ctr"/>
              <a:endParaRPr/>
            </a:p>
          </p:txBody>
        </p:sp>
        <p:sp>
          <p:nvSpPr>
            <p:cNvPr id="95" name="tender frame"/>
            <p:cNvSpPr/>
            <p:nvPr/>
          </p:nvSpPr>
          <p:spPr>
            <a:xfrm>
              <a:off x="8215198" y="2772232"/>
              <a:ext cx="693572" cy="76123"/>
            </a:xfrm>
            <a:prstGeom prst="rect">
              <a:avLst/>
            </a:prstGeom>
            <a:solidFill>
              <a:srgbClr val="3A3F47"/>
            </a:solidFill>
            <a:ln w="9525">
              <a:solidFill>
                <a:srgbClr val="9AA0A6"/>
              </a:solidFill>
            </a:ln>
          </p:spPr>
          <p:txBody>
            <a:bodyPr rtlCol="0" anchor="ctr"/>
            <a:lstStyle/>
            <a:p>
              <a:pPr algn="ctr"/>
              <a:endParaRPr/>
            </a:p>
          </p:txBody>
        </p:sp>
        <p:sp>
          <p:nvSpPr>
            <p:cNvPr id="96" name="tender body"/>
            <p:cNvSpPr/>
            <p:nvPr/>
          </p:nvSpPr>
          <p:spPr>
            <a:xfrm>
              <a:off x="8215198" y="2467737"/>
              <a:ext cx="693572" cy="304495"/>
            </a:xfrm>
            <a:prstGeom prst="roundRect">
              <a:avLst>
                <a:gd name="adj" fmla="val 2777"/>
              </a:avLst>
            </a:prstGeom>
            <a:solidFill>
              <a:srgbClr val="D9B26F"/>
            </a:solidFill>
            <a:ln>
              <a:noFill/>
            </a:ln>
          </p:spPr>
          <p:txBody>
            <a:bodyPr rtlCol="0" anchor="ctr"/>
            <a:lstStyle/>
            <a:p>
              <a:pPr algn="ctr"/>
              <a:endParaRPr/>
            </a:p>
          </p:txBody>
        </p:sp>
        <p:sp>
          <p:nvSpPr>
            <p:cNvPr id="97" name="tender coal"/>
            <p:cNvSpPr/>
            <p:nvPr/>
          </p:nvSpPr>
          <p:spPr>
            <a:xfrm>
              <a:off x="8240572" y="2374696"/>
              <a:ext cx="642824" cy="118415"/>
            </a:xfrm>
            <a:custGeom>
              <a:avLst/>
              <a:gdLst/>
              <a:ahLst/>
              <a:cxnLst/>
              <a:rect l="l" t="t" r="r" b="b"/>
              <a:pathLst>
                <a:path w="642824" h="118415">
                  <a:moveTo>
                    <a:pt x="0" y="118415"/>
                  </a:moveTo>
                  <a:lnTo>
                    <a:pt x="126873" y="8458"/>
                  </a:lnTo>
                  <a:lnTo>
                    <a:pt x="380619" y="0"/>
                  </a:lnTo>
                  <a:lnTo>
                    <a:pt x="642824" y="118415"/>
                  </a:lnTo>
                  <a:close/>
                </a:path>
              </a:pathLst>
            </a:custGeom>
            <a:solidFill>
              <a:srgbClr val="1B1D21"/>
            </a:solidFill>
            <a:ln w="12700">
              <a:solidFill>
                <a:srgbClr val="6B7078"/>
              </a:solidFill>
            </a:ln>
          </p:spPr>
          <p:txBody>
            <a:bodyPr rtlCol="0" anchor="ctr"/>
            <a:lstStyle/>
            <a:p>
              <a:pPr algn="ctr"/>
              <a:endParaRPr/>
            </a:p>
          </p:txBody>
        </p:sp>
        <p:sp>
          <p:nvSpPr>
            <p:cNvPr id="98" name="coupling"/>
            <p:cNvSpPr/>
            <p:nvPr/>
          </p:nvSpPr>
          <p:spPr>
            <a:xfrm>
              <a:off x="8908770" y="2670733"/>
              <a:ext cx="59207" cy="25374"/>
            </a:xfrm>
            <a:prstGeom prst="rect">
              <a:avLst/>
            </a:prstGeom>
            <a:solidFill>
              <a:srgbClr val="9AA0A6"/>
            </a:solidFill>
            <a:ln>
              <a:noFill/>
            </a:ln>
          </p:spPr>
          <p:txBody>
            <a:bodyPr rtlCol="0" anchor="ctr"/>
            <a:lstStyle/>
            <a:p>
              <a:pPr algn="ctr"/>
              <a:endParaRPr/>
            </a:p>
          </p:txBody>
        </p:sp>
        <p:sp>
          <p:nvSpPr>
            <p:cNvPr id="99" name="wheel"/>
            <p:cNvSpPr/>
            <p:nvPr/>
          </p:nvSpPr>
          <p:spPr>
            <a:xfrm>
              <a:off x="8249031" y="2780690"/>
              <a:ext cx="236829" cy="236829"/>
            </a:xfrm>
            <a:prstGeom prst="ellipse">
              <a:avLst/>
            </a:prstGeom>
            <a:solidFill>
              <a:srgbClr val="1B1D21"/>
            </a:solidFill>
            <a:ln w="19050">
              <a:solidFill>
                <a:srgbClr val="9AA0A6"/>
              </a:solidFill>
            </a:ln>
          </p:spPr>
          <p:txBody>
            <a:bodyPr rtlCol="0" anchor="ctr"/>
            <a:lstStyle/>
            <a:p>
              <a:pPr algn="ctr"/>
              <a:endParaRPr/>
            </a:p>
          </p:txBody>
        </p:sp>
        <p:sp>
          <p:nvSpPr>
            <p:cNvPr id="100" name="hub"/>
            <p:cNvSpPr/>
            <p:nvPr/>
          </p:nvSpPr>
          <p:spPr>
            <a:xfrm>
              <a:off x="8336657" y="2868317"/>
              <a:ext cx="61575" cy="61575"/>
            </a:xfrm>
            <a:prstGeom prst="ellipse">
              <a:avLst/>
            </a:prstGeom>
            <a:solidFill>
              <a:srgbClr val="9AA0A6"/>
            </a:solidFill>
            <a:ln>
              <a:noFill/>
            </a:ln>
          </p:spPr>
          <p:txBody>
            <a:bodyPr rtlCol="0" anchor="ctr"/>
            <a:lstStyle/>
            <a:p>
              <a:pPr algn="ctr"/>
              <a:endParaRPr/>
            </a:p>
          </p:txBody>
        </p:sp>
        <p:sp>
          <p:nvSpPr>
            <p:cNvPr id="101" name="wheel"/>
            <p:cNvSpPr/>
            <p:nvPr/>
          </p:nvSpPr>
          <p:spPr>
            <a:xfrm>
              <a:off x="8452027" y="2780690"/>
              <a:ext cx="236829" cy="236829"/>
            </a:xfrm>
            <a:prstGeom prst="ellipse">
              <a:avLst/>
            </a:prstGeom>
            <a:solidFill>
              <a:srgbClr val="1B1D21"/>
            </a:solidFill>
            <a:ln w="19050">
              <a:solidFill>
                <a:srgbClr val="9AA0A6"/>
              </a:solidFill>
            </a:ln>
          </p:spPr>
          <p:txBody>
            <a:bodyPr rtlCol="0" anchor="ctr"/>
            <a:lstStyle/>
            <a:p>
              <a:pPr algn="ctr"/>
              <a:endParaRPr/>
            </a:p>
          </p:txBody>
        </p:sp>
        <p:sp>
          <p:nvSpPr>
            <p:cNvPr id="102" name="hub"/>
            <p:cNvSpPr/>
            <p:nvPr/>
          </p:nvSpPr>
          <p:spPr>
            <a:xfrm>
              <a:off x="8539654" y="2868317"/>
              <a:ext cx="61575" cy="61575"/>
            </a:xfrm>
            <a:prstGeom prst="ellipse">
              <a:avLst/>
            </a:prstGeom>
            <a:solidFill>
              <a:srgbClr val="9AA0A6"/>
            </a:solidFill>
            <a:ln>
              <a:noFill/>
            </a:ln>
          </p:spPr>
          <p:txBody>
            <a:bodyPr rtlCol="0" anchor="ctr"/>
            <a:lstStyle/>
            <a:p>
              <a:pPr algn="ctr"/>
              <a:endParaRPr/>
            </a:p>
          </p:txBody>
        </p:sp>
        <p:sp>
          <p:nvSpPr>
            <p:cNvPr id="103" name="wheel"/>
            <p:cNvSpPr/>
            <p:nvPr/>
          </p:nvSpPr>
          <p:spPr>
            <a:xfrm>
              <a:off x="8655024" y="2780690"/>
              <a:ext cx="236829" cy="236829"/>
            </a:xfrm>
            <a:prstGeom prst="ellipse">
              <a:avLst/>
            </a:prstGeom>
            <a:solidFill>
              <a:srgbClr val="1B1D21"/>
            </a:solidFill>
            <a:ln w="19050">
              <a:solidFill>
                <a:srgbClr val="9AA0A6"/>
              </a:solidFill>
            </a:ln>
          </p:spPr>
          <p:txBody>
            <a:bodyPr rtlCol="0" anchor="ctr"/>
            <a:lstStyle/>
            <a:p>
              <a:pPr algn="ctr"/>
              <a:endParaRPr/>
            </a:p>
          </p:txBody>
        </p:sp>
        <p:sp>
          <p:nvSpPr>
            <p:cNvPr id="104" name="hub"/>
            <p:cNvSpPr/>
            <p:nvPr/>
          </p:nvSpPr>
          <p:spPr>
            <a:xfrm>
              <a:off x="8742651" y="2868317"/>
              <a:ext cx="61575" cy="61575"/>
            </a:xfrm>
            <a:prstGeom prst="ellipse">
              <a:avLst/>
            </a:prstGeom>
            <a:solidFill>
              <a:srgbClr val="9AA0A6"/>
            </a:solidFill>
            <a:ln>
              <a:noFill/>
            </a:ln>
          </p:spPr>
          <p:txBody>
            <a:bodyPr rtlCol="0" anchor="ctr"/>
            <a:lstStyle/>
            <a:p>
              <a:pPr algn="ctr"/>
              <a:endParaRPr/>
            </a:p>
          </p:txBody>
        </p:sp>
        <p:sp>
          <p:nvSpPr>
            <p:cNvPr id="105" name="frame"/>
            <p:cNvSpPr/>
            <p:nvPr/>
          </p:nvSpPr>
          <p:spPr>
            <a:xfrm>
              <a:off x="8967978" y="2772232"/>
              <a:ext cx="2224506" cy="76123"/>
            </a:xfrm>
            <a:prstGeom prst="rect">
              <a:avLst/>
            </a:prstGeom>
            <a:solidFill>
              <a:srgbClr val="3A3F47"/>
            </a:solidFill>
            <a:ln w="9525">
              <a:solidFill>
                <a:srgbClr val="9AA0A6"/>
              </a:solidFill>
            </a:ln>
          </p:spPr>
          <p:txBody>
            <a:bodyPr rtlCol="0" anchor="ctr"/>
            <a:lstStyle/>
            <a:p>
              <a:pPr algn="ctr"/>
              <a:endParaRPr/>
            </a:p>
          </p:txBody>
        </p:sp>
        <p:sp>
          <p:nvSpPr>
            <p:cNvPr id="106" name="cab"/>
            <p:cNvSpPr/>
            <p:nvPr/>
          </p:nvSpPr>
          <p:spPr>
            <a:xfrm>
              <a:off x="8967978" y="2307031"/>
              <a:ext cx="338328" cy="465201"/>
            </a:xfrm>
            <a:prstGeom prst="roundRect">
              <a:avLst>
                <a:gd name="adj" fmla="val 2500"/>
              </a:avLst>
            </a:prstGeom>
            <a:solidFill>
              <a:srgbClr val="D9B26F"/>
            </a:solidFill>
            <a:ln>
              <a:noFill/>
            </a:ln>
          </p:spPr>
          <p:txBody>
            <a:bodyPr rtlCol="0" anchor="ctr"/>
            <a:lstStyle/>
            <a:p>
              <a:pPr algn="ctr"/>
              <a:endParaRPr/>
            </a:p>
          </p:txBody>
        </p:sp>
        <p:sp>
          <p:nvSpPr>
            <p:cNvPr id="107" name="cab roof"/>
            <p:cNvSpPr/>
            <p:nvPr/>
          </p:nvSpPr>
          <p:spPr>
            <a:xfrm>
              <a:off x="8942603" y="2239365"/>
              <a:ext cx="389077" cy="67665"/>
            </a:xfrm>
            <a:prstGeom prst="roundRect">
              <a:avLst>
                <a:gd name="adj" fmla="val 37500"/>
              </a:avLst>
            </a:prstGeom>
            <a:solidFill>
              <a:srgbClr val="3A3F47"/>
            </a:solidFill>
            <a:ln w="9525">
              <a:solidFill>
                <a:srgbClr val="9AA0A6"/>
              </a:solidFill>
            </a:ln>
          </p:spPr>
          <p:txBody>
            <a:bodyPr rtlCol="0" anchor="ctr"/>
            <a:lstStyle/>
            <a:p>
              <a:pPr algn="ctr"/>
              <a:endParaRPr/>
            </a:p>
          </p:txBody>
        </p:sp>
        <p:sp>
          <p:nvSpPr>
            <p:cNvPr id="108" name="cab window"/>
            <p:cNvSpPr/>
            <p:nvPr/>
          </p:nvSpPr>
          <p:spPr>
            <a:xfrm>
              <a:off x="9052560" y="2374696"/>
              <a:ext cx="152247" cy="152247"/>
            </a:xfrm>
            <a:prstGeom prst="rect">
              <a:avLst/>
            </a:prstGeom>
            <a:solidFill>
              <a:srgbClr val="1B1D21"/>
            </a:solidFill>
            <a:ln>
              <a:noFill/>
            </a:ln>
          </p:spPr>
          <p:txBody>
            <a:bodyPr rtlCol="0" anchor="ctr"/>
            <a:lstStyle/>
            <a:p>
              <a:pPr algn="ctr"/>
              <a:endParaRPr/>
            </a:p>
          </p:txBody>
        </p:sp>
        <p:sp>
          <p:nvSpPr>
            <p:cNvPr id="109" name="boiler"/>
            <p:cNvSpPr/>
            <p:nvPr/>
          </p:nvSpPr>
          <p:spPr>
            <a:xfrm>
              <a:off x="9306306" y="2349322"/>
              <a:ext cx="1717014" cy="338328"/>
            </a:xfrm>
            <a:prstGeom prst="roundRect">
              <a:avLst>
                <a:gd name="adj" fmla="val 25000"/>
              </a:avLst>
            </a:prstGeom>
            <a:solidFill>
              <a:srgbClr val="D9B26F"/>
            </a:solidFill>
            <a:ln>
              <a:noFill/>
            </a:ln>
          </p:spPr>
          <p:txBody>
            <a:bodyPr rtlCol="0" anchor="ctr"/>
            <a:lstStyle/>
            <a:p>
              <a:pPr algn="ctr"/>
              <a:endParaRPr/>
            </a:p>
          </p:txBody>
        </p:sp>
        <p:sp>
          <p:nvSpPr>
            <p:cNvPr id="110" name="boiler band"/>
            <p:cNvSpPr/>
            <p:nvPr/>
          </p:nvSpPr>
          <p:spPr>
            <a:xfrm>
              <a:off x="9821410" y="2349322"/>
              <a:ext cx="11841" cy="338328"/>
            </a:xfrm>
            <a:prstGeom prst="rect">
              <a:avLst/>
            </a:prstGeom>
            <a:solidFill>
              <a:srgbClr val="9C804F"/>
            </a:solidFill>
            <a:ln>
              <a:noFill/>
            </a:ln>
          </p:spPr>
          <p:txBody>
            <a:bodyPr rtlCol="0" anchor="ctr"/>
            <a:lstStyle/>
            <a:p>
              <a:pPr algn="ctr"/>
              <a:endParaRPr/>
            </a:p>
          </p:txBody>
        </p:sp>
        <p:sp>
          <p:nvSpPr>
            <p:cNvPr id="111" name="boiler band"/>
            <p:cNvSpPr/>
            <p:nvPr/>
          </p:nvSpPr>
          <p:spPr>
            <a:xfrm>
              <a:off x="10250664" y="2349322"/>
              <a:ext cx="11841" cy="338328"/>
            </a:xfrm>
            <a:prstGeom prst="rect">
              <a:avLst/>
            </a:prstGeom>
            <a:solidFill>
              <a:srgbClr val="9C804F"/>
            </a:solidFill>
            <a:ln>
              <a:noFill/>
            </a:ln>
          </p:spPr>
          <p:txBody>
            <a:bodyPr rtlCol="0" anchor="ctr"/>
            <a:lstStyle/>
            <a:p>
              <a:pPr algn="ctr"/>
              <a:endParaRPr/>
            </a:p>
          </p:txBody>
        </p:sp>
        <p:sp>
          <p:nvSpPr>
            <p:cNvPr id="112" name="boiler band"/>
            <p:cNvSpPr/>
            <p:nvPr/>
          </p:nvSpPr>
          <p:spPr>
            <a:xfrm>
              <a:off x="10679917" y="2349322"/>
              <a:ext cx="11841" cy="338328"/>
            </a:xfrm>
            <a:prstGeom prst="rect">
              <a:avLst/>
            </a:prstGeom>
            <a:solidFill>
              <a:srgbClr val="9C804F"/>
            </a:solidFill>
            <a:ln>
              <a:noFill/>
            </a:ln>
          </p:spPr>
          <p:txBody>
            <a:bodyPr rtlCol="0" anchor="ctr"/>
            <a:lstStyle/>
            <a:p>
              <a:pPr algn="ctr"/>
              <a:endParaRPr/>
            </a:p>
          </p:txBody>
        </p:sp>
        <p:sp>
          <p:nvSpPr>
            <p:cNvPr id="113" name="smokebox"/>
            <p:cNvSpPr/>
            <p:nvPr/>
          </p:nvSpPr>
          <p:spPr>
            <a:xfrm>
              <a:off x="11023320" y="2349322"/>
              <a:ext cx="169164" cy="338328"/>
            </a:xfrm>
            <a:prstGeom prst="roundRect">
              <a:avLst>
                <a:gd name="adj" fmla="val 11999"/>
              </a:avLst>
            </a:prstGeom>
            <a:solidFill>
              <a:srgbClr val="4A515B"/>
            </a:solidFill>
            <a:ln>
              <a:noFill/>
            </a:ln>
          </p:spPr>
          <p:txBody>
            <a:bodyPr rtlCol="0" anchor="ctr"/>
            <a:lstStyle/>
            <a:p>
              <a:pPr algn="ctr"/>
              <a:endParaRPr/>
            </a:p>
          </p:txBody>
        </p:sp>
        <p:sp>
          <p:nvSpPr>
            <p:cNvPr id="114" name="chimney"/>
            <p:cNvSpPr/>
            <p:nvPr/>
          </p:nvSpPr>
          <p:spPr>
            <a:xfrm>
              <a:off x="11074069" y="2120950"/>
              <a:ext cx="67665" cy="228371"/>
            </a:xfrm>
            <a:prstGeom prst="rect">
              <a:avLst/>
            </a:prstGeom>
            <a:solidFill>
              <a:srgbClr val="3A3F47"/>
            </a:solidFill>
            <a:ln w="9525">
              <a:solidFill>
                <a:srgbClr val="9AA0A6"/>
              </a:solidFill>
            </a:ln>
          </p:spPr>
          <p:txBody>
            <a:bodyPr rtlCol="0" anchor="ctr"/>
            <a:lstStyle/>
            <a:p>
              <a:pPr algn="ctr"/>
              <a:endParaRPr/>
            </a:p>
          </p:txBody>
        </p:sp>
        <p:sp>
          <p:nvSpPr>
            <p:cNvPr id="115" name="smoke deflector"/>
            <p:cNvSpPr/>
            <p:nvPr/>
          </p:nvSpPr>
          <p:spPr>
            <a:xfrm>
              <a:off x="10803407" y="2137867"/>
              <a:ext cx="202997" cy="287579"/>
            </a:xfrm>
            <a:custGeom>
              <a:avLst/>
              <a:gdLst/>
              <a:ahLst/>
              <a:cxnLst/>
              <a:rect l="l" t="t" r="r" b="b"/>
              <a:pathLst>
                <a:path w="202997" h="287579">
                  <a:moveTo>
                    <a:pt x="0" y="287579"/>
                  </a:moveTo>
                  <a:lnTo>
                    <a:pt x="202997" y="287579"/>
                  </a:lnTo>
                  <a:lnTo>
                    <a:pt x="202997" y="0"/>
                  </a:lnTo>
                  <a:lnTo>
                    <a:pt x="33833" y="50749"/>
                  </a:lnTo>
                  <a:close/>
                </a:path>
              </a:pathLst>
            </a:custGeom>
            <a:solidFill>
              <a:srgbClr val="3A3F47"/>
            </a:solidFill>
            <a:ln w="12700">
              <a:solidFill>
                <a:srgbClr val="9AA0A6"/>
              </a:solidFill>
            </a:ln>
          </p:spPr>
          <p:txBody>
            <a:bodyPr rtlCol="0" anchor="ctr"/>
            <a:lstStyle/>
            <a:p>
              <a:pPr algn="ctr"/>
              <a:endParaRPr/>
            </a:p>
          </p:txBody>
        </p:sp>
        <p:sp>
          <p:nvSpPr>
            <p:cNvPr id="116" name="lamp"/>
            <p:cNvSpPr/>
            <p:nvPr/>
          </p:nvSpPr>
          <p:spPr>
            <a:xfrm>
              <a:off x="11150193" y="2645359"/>
              <a:ext cx="84582" cy="84582"/>
            </a:xfrm>
            <a:prstGeom prst="ellipse">
              <a:avLst/>
            </a:prstGeom>
            <a:solidFill>
              <a:srgbClr val="F2C14E"/>
            </a:solidFill>
            <a:ln>
              <a:noFill/>
            </a:ln>
          </p:spPr>
          <p:txBody>
            <a:bodyPr rtlCol="0" anchor="ctr"/>
            <a:lstStyle/>
            <a:p>
              <a:pPr algn="ctr"/>
              <a:endParaRPr/>
            </a:p>
          </p:txBody>
        </p:sp>
        <p:sp>
          <p:nvSpPr>
            <p:cNvPr id="117" name="dome"/>
            <p:cNvSpPr/>
            <p:nvPr/>
          </p:nvSpPr>
          <p:spPr>
            <a:xfrm>
              <a:off x="9993111" y="2256282"/>
              <a:ext cx="152247" cy="93040"/>
            </a:xfrm>
            <a:prstGeom prst="roundRect">
              <a:avLst>
                <a:gd name="adj" fmla="val 36363"/>
              </a:avLst>
            </a:prstGeom>
            <a:solidFill>
              <a:srgbClr val="D9B26F"/>
            </a:solidFill>
            <a:ln>
              <a:noFill/>
            </a:ln>
          </p:spPr>
          <p:txBody>
            <a:bodyPr rtlCol="0" anchor="ctr"/>
            <a:lstStyle/>
            <a:p>
              <a:pPr algn="ctr"/>
              <a:endParaRPr/>
            </a:p>
          </p:txBody>
        </p:sp>
        <p:sp>
          <p:nvSpPr>
            <p:cNvPr id="118" name="wheel"/>
            <p:cNvSpPr/>
            <p:nvPr/>
          </p:nvSpPr>
          <p:spPr>
            <a:xfrm>
              <a:off x="8993352" y="2679191"/>
              <a:ext cx="338328" cy="338328"/>
            </a:xfrm>
            <a:prstGeom prst="ellipse">
              <a:avLst/>
            </a:prstGeom>
            <a:solidFill>
              <a:srgbClr val="1B1D21"/>
            </a:solidFill>
            <a:ln w="19050">
              <a:solidFill>
                <a:srgbClr val="9AA0A6"/>
              </a:solidFill>
            </a:ln>
          </p:spPr>
          <p:txBody>
            <a:bodyPr rtlCol="0" anchor="ctr"/>
            <a:lstStyle/>
            <a:p>
              <a:pPr algn="ctr"/>
              <a:endParaRPr/>
            </a:p>
          </p:txBody>
        </p:sp>
        <p:sp>
          <p:nvSpPr>
            <p:cNvPr id="119" name="hub"/>
            <p:cNvSpPr/>
            <p:nvPr/>
          </p:nvSpPr>
          <p:spPr>
            <a:xfrm>
              <a:off x="9118533" y="2804373"/>
              <a:ext cx="87965" cy="87965"/>
            </a:xfrm>
            <a:prstGeom prst="ellipse">
              <a:avLst/>
            </a:prstGeom>
            <a:solidFill>
              <a:srgbClr val="9AA0A6"/>
            </a:solidFill>
            <a:ln>
              <a:noFill/>
            </a:ln>
          </p:spPr>
          <p:txBody>
            <a:bodyPr rtlCol="0" anchor="ctr"/>
            <a:lstStyle/>
            <a:p>
              <a:pPr algn="ctr"/>
              <a:endParaRPr/>
            </a:p>
          </p:txBody>
        </p:sp>
        <p:sp>
          <p:nvSpPr>
            <p:cNvPr id="120" name="wheel"/>
            <p:cNvSpPr/>
            <p:nvPr/>
          </p:nvSpPr>
          <p:spPr>
            <a:xfrm>
              <a:off x="9373971" y="2679191"/>
              <a:ext cx="338328" cy="338328"/>
            </a:xfrm>
            <a:prstGeom prst="ellipse">
              <a:avLst/>
            </a:prstGeom>
            <a:solidFill>
              <a:srgbClr val="1B1D21"/>
            </a:solidFill>
            <a:ln w="19050">
              <a:solidFill>
                <a:srgbClr val="9AA0A6"/>
              </a:solidFill>
            </a:ln>
          </p:spPr>
          <p:txBody>
            <a:bodyPr rtlCol="0" anchor="ctr"/>
            <a:lstStyle/>
            <a:p>
              <a:pPr algn="ctr"/>
              <a:endParaRPr/>
            </a:p>
          </p:txBody>
        </p:sp>
        <p:sp>
          <p:nvSpPr>
            <p:cNvPr id="121" name="hub"/>
            <p:cNvSpPr/>
            <p:nvPr/>
          </p:nvSpPr>
          <p:spPr>
            <a:xfrm>
              <a:off x="9499152" y="2804373"/>
              <a:ext cx="87965" cy="87965"/>
            </a:xfrm>
            <a:prstGeom prst="ellipse">
              <a:avLst/>
            </a:prstGeom>
            <a:solidFill>
              <a:srgbClr val="9AA0A6"/>
            </a:solidFill>
            <a:ln>
              <a:noFill/>
            </a:ln>
          </p:spPr>
          <p:txBody>
            <a:bodyPr rtlCol="0" anchor="ctr"/>
            <a:lstStyle/>
            <a:p>
              <a:pPr algn="ctr"/>
              <a:endParaRPr/>
            </a:p>
          </p:txBody>
        </p:sp>
        <p:sp>
          <p:nvSpPr>
            <p:cNvPr id="122" name="wheel"/>
            <p:cNvSpPr/>
            <p:nvPr/>
          </p:nvSpPr>
          <p:spPr>
            <a:xfrm>
              <a:off x="9754590" y="2679191"/>
              <a:ext cx="338328" cy="338328"/>
            </a:xfrm>
            <a:prstGeom prst="ellipse">
              <a:avLst/>
            </a:prstGeom>
            <a:solidFill>
              <a:srgbClr val="1B1D21"/>
            </a:solidFill>
            <a:ln w="19050">
              <a:solidFill>
                <a:srgbClr val="9AA0A6"/>
              </a:solidFill>
            </a:ln>
          </p:spPr>
          <p:txBody>
            <a:bodyPr rtlCol="0" anchor="ctr"/>
            <a:lstStyle/>
            <a:p>
              <a:pPr algn="ctr"/>
              <a:endParaRPr/>
            </a:p>
          </p:txBody>
        </p:sp>
        <p:sp>
          <p:nvSpPr>
            <p:cNvPr id="123" name="hub"/>
            <p:cNvSpPr/>
            <p:nvPr/>
          </p:nvSpPr>
          <p:spPr>
            <a:xfrm>
              <a:off x="9879771" y="2804373"/>
              <a:ext cx="87965" cy="87965"/>
            </a:xfrm>
            <a:prstGeom prst="ellipse">
              <a:avLst/>
            </a:prstGeom>
            <a:solidFill>
              <a:srgbClr val="9AA0A6"/>
            </a:solidFill>
            <a:ln>
              <a:noFill/>
            </a:ln>
          </p:spPr>
          <p:txBody>
            <a:bodyPr rtlCol="0" anchor="ctr"/>
            <a:lstStyle/>
            <a:p>
              <a:pPr algn="ctr"/>
              <a:endParaRPr/>
            </a:p>
          </p:txBody>
        </p:sp>
        <p:sp>
          <p:nvSpPr>
            <p:cNvPr id="124" name="wheel"/>
            <p:cNvSpPr/>
            <p:nvPr/>
          </p:nvSpPr>
          <p:spPr>
            <a:xfrm>
              <a:off x="10135209" y="2679191"/>
              <a:ext cx="338328" cy="338328"/>
            </a:xfrm>
            <a:prstGeom prst="ellipse">
              <a:avLst/>
            </a:prstGeom>
            <a:solidFill>
              <a:srgbClr val="1B1D21"/>
            </a:solidFill>
            <a:ln w="19050">
              <a:solidFill>
                <a:srgbClr val="9AA0A6"/>
              </a:solidFill>
            </a:ln>
          </p:spPr>
          <p:txBody>
            <a:bodyPr rtlCol="0" anchor="ctr"/>
            <a:lstStyle/>
            <a:p>
              <a:pPr algn="ctr"/>
              <a:endParaRPr/>
            </a:p>
          </p:txBody>
        </p:sp>
        <p:sp>
          <p:nvSpPr>
            <p:cNvPr id="125" name="hub"/>
            <p:cNvSpPr/>
            <p:nvPr/>
          </p:nvSpPr>
          <p:spPr>
            <a:xfrm>
              <a:off x="10260390" y="2804373"/>
              <a:ext cx="87965" cy="87965"/>
            </a:xfrm>
            <a:prstGeom prst="ellipse">
              <a:avLst/>
            </a:prstGeom>
            <a:solidFill>
              <a:srgbClr val="9AA0A6"/>
            </a:solidFill>
            <a:ln>
              <a:noFill/>
            </a:ln>
          </p:spPr>
          <p:txBody>
            <a:bodyPr rtlCol="0" anchor="ctr"/>
            <a:lstStyle/>
            <a:p>
              <a:pPr algn="ctr"/>
              <a:endParaRPr/>
            </a:p>
          </p:txBody>
        </p:sp>
        <p:sp>
          <p:nvSpPr>
            <p:cNvPr id="126" name="wheel"/>
            <p:cNvSpPr/>
            <p:nvPr/>
          </p:nvSpPr>
          <p:spPr>
            <a:xfrm>
              <a:off x="10600410" y="2831439"/>
              <a:ext cx="186080" cy="186080"/>
            </a:xfrm>
            <a:prstGeom prst="ellipse">
              <a:avLst/>
            </a:prstGeom>
            <a:solidFill>
              <a:srgbClr val="1B1D21"/>
            </a:solidFill>
            <a:ln w="19050">
              <a:solidFill>
                <a:srgbClr val="9AA0A6"/>
              </a:solidFill>
            </a:ln>
          </p:spPr>
          <p:txBody>
            <a:bodyPr rtlCol="0" anchor="ctr"/>
            <a:lstStyle/>
            <a:p>
              <a:pPr algn="ctr"/>
              <a:endParaRPr/>
            </a:p>
          </p:txBody>
        </p:sp>
        <p:sp>
          <p:nvSpPr>
            <p:cNvPr id="127" name="hub"/>
            <p:cNvSpPr/>
            <p:nvPr/>
          </p:nvSpPr>
          <p:spPr>
            <a:xfrm>
              <a:off x="10669260" y="2900289"/>
              <a:ext cx="48380" cy="48380"/>
            </a:xfrm>
            <a:prstGeom prst="ellipse">
              <a:avLst/>
            </a:prstGeom>
            <a:solidFill>
              <a:srgbClr val="9AA0A6"/>
            </a:solidFill>
            <a:ln>
              <a:noFill/>
            </a:ln>
          </p:spPr>
          <p:txBody>
            <a:bodyPr rtlCol="0" anchor="ctr"/>
            <a:lstStyle/>
            <a:p>
              <a:pPr algn="ctr"/>
              <a:endParaRPr/>
            </a:p>
          </p:txBody>
        </p:sp>
        <p:sp>
          <p:nvSpPr>
            <p:cNvPr id="128" name="coupling rod"/>
            <p:cNvSpPr/>
            <p:nvPr/>
          </p:nvSpPr>
          <p:spPr>
            <a:xfrm>
              <a:off x="9162516" y="2751932"/>
              <a:ext cx="1141857" cy="23682"/>
            </a:xfrm>
            <a:prstGeom prst="rect">
              <a:avLst/>
            </a:prstGeom>
            <a:solidFill>
              <a:srgbClr val="D0D4D8"/>
            </a:solidFill>
            <a:ln>
              <a:noFill/>
            </a:ln>
          </p:spPr>
          <p:txBody>
            <a:bodyPr rtlCol="0" anchor="ctr"/>
            <a:lstStyle/>
            <a:p>
              <a:pPr algn="ctr"/>
              <a:endParaRPr/>
            </a:p>
          </p:txBody>
        </p:sp>
        <p:sp>
          <p:nvSpPr>
            <p:cNvPr id="129" name="buffer beam"/>
            <p:cNvSpPr/>
            <p:nvPr/>
          </p:nvSpPr>
          <p:spPr>
            <a:xfrm>
              <a:off x="11192484" y="2696108"/>
              <a:ext cx="50749" cy="152247"/>
            </a:xfrm>
            <a:prstGeom prst="rect">
              <a:avLst/>
            </a:prstGeom>
            <a:solidFill>
              <a:srgbClr val="9AA0A6"/>
            </a:solidFill>
            <a:ln>
              <a:noFill/>
            </a:ln>
          </p:spPr>
          <p:txBody>
            <a:bodyPr rtlCol="0" anchor="ctr"/>
            <a:lstStyle/>
            <a:p>
              <a:pPr algn="ctr"/>
              <a:endParaRPr/>
            </a:p>
          </p:txBody>
        </p:sp>
        <p:sp>
          <p:nvSpPr>
            <p:cNvPr id="130" name="data card"/>
            <p:cNvSpPr/>
            <p:nvPr/>
          </p:nvSpPr>
          <p:spPr>
            <a:xfrm>
              <a:off x="8677656" y="3337560"/>
              <a:ext cx="2103120" cy="566928"/>
            </a:xfrm>
            <a:prstGeom prst="roundRect">
              <a:avLst>
                <a:gd name="adj" fmla="val 12903"/>
              </a:avLst>
            </a:prstGeom>
            <a:solidFill>
              <a:srgbClr val="343A43"/>
            </a:solidFill>
            <a:ln w="25400">
              <a:solidFill>
                <a:srgbClr val="F28C28"/>
              </a:solidFill>
            </a:ln>
          </p:spPr>
          <p:txBody>
            <a:bodyPr rtlCol="0" anchor="ctr"/>
            <a:lstStyle/>
            <a:p>
              <a:pPr algn="ctr"/>
              <a:endParaRPr/>
            </a:p>
          </p:txBody>
        </p:sp>
        <p:sp>
          <p:nvSpPr>
            <p:cNvPr id="131" name="card icon"/>
            <p:cNvSpPr/>
            <p:nvPr/>
          </p:nvSpPr>
          <p:spPr>
            <a:xfrm>
              <a:off x="8814816" y="3474720"/>
              <a:ext cx="274320" cy="292608"/>
            </a:xfrm>
            <a:prstGeom prst="roundRect">
              <a:avLst>
                <a:gd name="adj" fmla="val 10000"/>
              </a:avLst>
            </a:prstGeom>
            <a:solidFill>
              <a:srgbClr val="F2F2F2"/>
            </a:solidFill>
            <a:ln>
              <a:noFill/>
            </a:ln>
          </p:spPr>
          <p:txBody>
            <a:bodyPr rtlCol="0" anchor="ctr"/>
            <a:lstStyle/>
            <a:p>
              <a:pPr algn="ctr"/>
              <a:endParaRPr/>
            </a:p>
          </p:txBody>
        </p:sp>
        <p:sp>
          <p:nvSpPr>
            <p:cNvPr id="132" name="card icon line"/>
            <p:cNvSpPr/>
            <p:nvPr/>
          </p:nvSpPr>
          <p:spPr>
            <a:xfrm>
              <a:off x="8869680" y="3529584"/>
              <a:ext cx="164592" cy="27432"/>
            </a:xfrm>
            <a:prstGeom prst="rect">
              <a:avLst/>
            </a:prstGeom>
            <a:solidFill>
              <a:srgbClr val="4A515B"/>
            </a:solidFill>
            <a:ln>
              <a:noFill/>
            </a:ln>
          </p:spPr>
          <p:txBody>
            <a:bodyPr rtlCol="0" anchor="ctr"/>
            <a:lstStyle/>
            <a:p>
              <a:pPr algn="ctr"/>
              <a:endParaRPr/>
            </a:p>
          </p:txBody>
        </p:sp>
        <p:sp>
          <p:nvSpPr>
            <p:cNvPr id="133" name="card icon line"/>
            <p:cNvSpPr/>
            <p:nvPr/>
          </p:nvSpPr>
          <p:spPr>
            <a:xfrm>
              <a:off x="8869680" y="3602736"/>
              <a:ext cx="164592" cy="27432"/>
            </a:xfrm>
            <a:prstGeom prst="rect">
              <a:avLst/>
            </a:prstGeom>
            <a:solidFill>
              <a:srgbClr val="4A515B"/>
            </a:solidFill>
            <a:ln>
              <a:noFill/>
            </a:ln>
          </p:spPr>
          <p:txBody>
            <a:bodyPr rtlCol="0" anchor="ctr"/>
            <a:lstStyle/>
            <a:p>
              <a:pPr algn="ctr"/>
              <a:endParaRPr/>
            </a:p>
          </p:txBody>
        </p:sp>
        <p:sp>
          <p:nvSpPr>
            <p:cNvPr id="134" name="card icon line"/>
            <p:cNvSpPr/>
            <p:nvPr/>
          </p:nvSpPr>
          <p:spPr>
            <a:xfrm>
              <a:off x="8869680" y="3675887"/>
              <a:ext cx="164592" cy="27432"/>
            </a:xfrm>
            <a:prstGeom prst="rect">
              <a:avLst/>
            </a:prstGeom>
            <a:solidFill>
              <a:srgbClr val="4A515B"/>
            </a:solidFill>
            <a:ln>
              <a:noFill/>
            </a:ln>
          </p:spPr>
          <p:txBody>
            <a:bodyPr rtlCol="0" anchor="ctr"/>
            <a:lstStyle/>
            <a:p>
              <a:pPr algn="ctr"/>
              <a:endParaRPr/>
            </a:p>
          </p:txBody>
        </p:sp>
        <p:sp>
          <p:nvSpPr>
            <p:cNvPr id="135" name="card label"/>
            <p:cNvSpPr txBox="1"/>
            <p:nvPr/>
          </p:nvSpPr>
          <p:spPr>
            <a:xfrm>
              <a:off x="9162288" y="3337560"/>
              <a:ext cx="1600200" cy="566928"/>
            </a:xfrm>
            <a:prstGeom prst="rect">
              <a:avLst/>
            </a:prstGeom>
            <a:noFill/>
          </p:spPr>
          <p:txBody>
            <a:bodyPr wrap="square" lIns="18288" tIns="9144" rIns="18288" bIns="9144" anchor="ctr">
              <a:noAutofit/>
            </a:bodyPr>
            <a:lstStyle/>
            <a:p>
              <a:pPr algn="l"/>
              <a:r>
                <a:rPr lang="en-GB" sz="1400" b="1" i="0">
                  <a:solidFill>
                    <a:srgbClr val="F2F2F2"/>
                  </a:solidFill>
                  <a:latin typeface="Arial"/>
                </a:rPr>
                <a:t>Own data card</a:t>
              </a:r>
            </a:p>
          </p:txBody>
        </p:sp>
        <p:cxnSp>
          <p:nvCxnSpPr>
            <p:cNvPr id="136" name="plug lead"/>
            <p:cNvCxnSpPr/>
            <p:nvPr/>
          </p:nvCxnSpPr>
          <p:spPr>
            <a:xfrm>
              <a:off x="9729216" y="3904487"/>
              <a:ext cx="0" cy="466345"/>
            </a:xfrm>
            <a:prstGeom prst="line">
              <a:avLst/>
            </a:prstGeom>
            <a:ln w="31750">
              <a:solidFill>
                <a:srgbClr val="9AA0A6"/>
              </a:solidFill>
            </a:ln>
          </p:spPr>
        </p:cxnSp>
        <p:sp>
          <p:nvSpPr>
            <p:cNvPr id="137" name="plug head"/>
            <p:cNvSpPr/>
            <p:nvPr/>
          </p:nvSpPr>
          <p:spPr>
            <a:xfrm>
              <a:off x="9546336" y="4297680"/>
              <a:ext cx="365760" cy="256032"/>
            </a:xfrm>
            <a:prstGeom prst="roundRect">
              <a:avLst>
                <a:gd name="adj" fmla="val 14285"/>
              </a:avLst>
            </a:prstGeom>
            <a:solidFill>
              <a:srgbClr val="F28C28"/>
            </a:solidFill>
            <a:ln>
              <a:noFill/>
            </a:ln>
          </p:spPr>
          <p:txBody>
            <a:bodyPr rtlCol="0" anchor="ctr"/>
            <a:lstStyle/>
            <a:p>
              <a:pPr algn="ctr"/>
              <a:endParaRPr/>
            </a:p>
          </p:txBody>
        </p:sp>
        <p:sp>
          <p:nvSpPr>
            <p:cNvPr id="138" name="plug prong"/>
            <p:cNvSpPr/>
            <p:nvPr/>
          </p:nvSpPr>
          <p:spPr>
            <a:xfrm>
              <a:off x="9637776" y="4553712"/>
              <a:ext cx="54864" cy="128016"/>
            </a:xfrm>
            <a:prstGeom prst="rect">
              <a:avLst/>
            </a:prstGeom>
            <a:solidFill>
              <a:srgbClr val="F28C28"/>
            </a:solidFill>
            <a:ln>
              <a:noFill/>
            </a:ln>
          </p:spPr>
          <p:txBody>
            <a:bodyPr rtlCol="0" anchor="ctr"/>
            <a:lstStyle/>
            <a:p>
              <a:pPr algn="ctr"/>
              <a:endParaRPr/>
            </a:p>
          </p:txBody>
        </p:sp>
        <p:sp>
          <p:nvSpPr>
            <p:cNvPr id="139" name="plug prong"/>
            <p:cNvSpPr/>
            <p:nvPr/>
          </p:nvSpPr>
          <p:spPr>
            <a:xfrm>
              <a:off x="9765792" y="4553712"/>
              <a:ext cx="54864" cy="128016"/>
            </a:xfrm>
            <a:prstGeom prst="rect">
              <a:avLst/>
            </a:prstGeom>
            <a:solidFill>
              <a:srgbClr val="F28C28"/>
            </a:solidFill>
            <a:ln>
              <a:noFill/>
            </a:ln>
          </p:spPr>
          <p:txBody>
            <a:bodyPr rtlCol="0" anchor="ctr"/>
            <a:lstStyle/>
            <a:p>
              <a:pPr algn="ctr"/>
              <a:endParaRPr/>
            </a:p>
          </p:txBody>
        </p:sp>
        <p:sp>
          <p:nvSpPr>
            <p:cNvPr id="140" name="shared rules bar"/>
            <p:cNvSpPr/>
            <p:nvPr/>
          </p:nvSpPr>
          <p:spPr>
            <a:xfrm>
              <a:off x="822960" y="4553712"/>
              <a:ext cx="10515600" cy="777240"/>
            </a:xfrm>
            <a:prstGeom prst="roundRect">
              <a:avLst>
                <a:gd name="adj" fmla="val 11764"/>
              </a:avLst>
            </a:prstGeom>
            <a:solidFill>
              <a:srgbClr val="343A43"/>
            </a:solidFill>
            <a:ln w="31750">
              <a:solidFill>
                <a:srgbClr val="F28C28"/>
              </a:solidFill>
            </a:ln>
          </p:spPr>
          <p:txBody>
            <a:bodyPr wrap="square" tIns="91440" bIns="0" rtlCol="0" anchor="ctr">
              <a:noAutofit/>
            </a:bodyPr>
            <a:lstStyle/>
            <a:p>
              <a:pPr algn="ctr"/>
              <a:r>
                <a:rPr lang="en-GB" sz="2400" b="1" i="0">
                  <a:solidFill>
                    <a:srgbClr val="F2F2F2"/>
                  </a:solidFill>
                  <a:latin typeface="Arial"/>
                </a:rPr>
                <a:t>Shared rules</a:t>
              </a:r>
            </a:p>
          </p:txBody>
        </p:sp>
      </p:grpSp>
      <p:sp>
        <p:nvSpPr>
          <p:cNvPr id="14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42"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43"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 code is shared. The engines are not. Each model keeps its own wheels and shape.</a:t>
            </a:r>
          </a:p>
        </p:txBody>
      </p:sp>
      <p:sp>
        <p:nvSpPr>
          <p:cNvPr id="144"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7</a:t>
            </a:r>
          </a:p>
        </p:txBody>
      </p:sp>
    </p:spTree>
    <p:extLst>
      <p:ext uri="{BB962C8B-B14F-4D97-AF65-F5344CB8AC3E}">
        <p14:creationId xmlns:p14="http://schemas.microsoft.com/office/powerpoint/2010/main" val="27750094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41"/>
                                        </p:tgtEl>
                                        <p:attrNameLst>
                                          <p:attrName>style.visibility</p:attrName>
                                        </p:attrNameLst>
                                      </p:cBhvr>
                                      <p:to>
                                        <p:strVal val="visible"/>
                                      </p:to>
                                    </p:set>
                                    <p:animEffect transition="in" filter="fade">
                                      <p:cBhvr>
                                        <p:cTn id="10" dur="500"/>
                                        <p:tgtEl>
                                          <p:spTgt spid="141"/>
                                        </p:tgtEl>
                                      </p:cBhvr>
                                    </p:animEffect>
                                  </p:childTnLst>
                                </p:cTn>
                              </p:par>
                              <p:par>
                                <p:cTn id="11" presetID="10" presetClass="entr" presetSubtype="0" fill="hold" nodeType="withEffect">
                                  <p:stCondLst>
                                    <p:cond delay="600"/>
                                  </p:stCondLst>
                                  <p:childTnLst>
                                    <p:set>
                                      <p:cBhvr>
                                        <p:cTn id="12" dur="1" fill="hold">
                                          <p:stCondLst>
                                            <p:cond delay="0"/>
                                          </p:stCondLst>
                                        </p:cTn>
                                        <p:tgtEl>
                                          <p:spTgt spid="142"/>
                                        </p:tgtEl>
                                        <p:attrNameLst>
                                          <p:attrName>style.visibility</p:attrName>
                                        </p:attrNameLst>
                                      </p:cBhvr>
                                      <p:to>
                                        <p:strVal val="visible"/>
                                      </p:to>
                                    </p:set>
                                    <p:animEffect transition="in" filter="fade">
                                      <p:cBhvr>
                                        <p:cTn id="13" dur="500"/>
                                        <p:tgtEl>
                                          <p:spTgt spid="142"/>
                                        </p:tgtEl>
                                      </p:cBhvr>
                                    </p:animEffect>
                                  </p:childTnLst>
                                </p:cTn>
                              </p:par>
                              <p:par>
                                <p:cTn id="14" presetID="10" presetClass="entr" presetSubtype="0" fill="hold" nodeType="withEffect">
                                  <p:stCondLst>
                                    <p:cond delay="900"/>
                                  </p:stCondLst>
                                  <p:childTnLst>
                                    <p:set>
                                      <p:cBhvr>
                                        <p:cTn id="15" dur="1" fill="hold">
                                          <p:stCondLst>
                                            <p:cond delay="0"/>
                                          </p:stCondLst>
                                        </p:cTn>
                                        <p:tgtEl>
                                          <p:spTgt spid="143"/>
                                        </p:tgtEl>
                                        <p:attrNameLst>
                                          <p:attrName>style.visibility</p:attrName>
                                        </p:attrNameLst>
                                      </p:cBhvr>
                                      <p:to>
                                        <p:strVal val="visible"/>
                                      </p:to>
                                    </p:set>
                                    <p:animEffect transition="in" filter="fade">
                                      <p:cBhvr>
                                        <p:cTn id="16"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Weight and power differ</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wo balanced scales" descr="Two balance scales, both level. On the first, a heavy engine with heavy wagons balances more power. On the second, a lighter engine with light wagons balances less power. Illustration only."/>
          <p:cNvGrpSpPr/>
          <p:nvPr/>
        </p:nvGrpSpPr>
        <p:grpSpPr>
          <a:xfrm>
            <a:off x="1572768" y="1335024"/>
            <a:ext cx="9052560" cy="4297680"/>
            <a:chOff x="1572768" y="1335024"/>
            <a:chExt cx="9052560" cy="4297680"/>
          </a:xfrm>
        </p:grpSpPr>
        <p:sp>
          <p:nvSpPr>
            <p:cNvPr id="5" name="scale post"/>
            <p:cNvSpPr/>
            <p:nvPr/>
          </p:nvSpPr>
          <p:spPr>
            <a:xfrm>
              <a:off x="6025896" y="1463039"/>
              <a:ext cx="146304" cy="1417320"/>
            </a:xfrm>
            <a:prstGeom prst="rect">
              <a:avLst/>
            </a:prstGeom>
            <a:solidFill>
              <a:srgbClr val="9AA0A6"/>
            </a:solidFill>
            <a:ln>
              <a:noFill/>
            </a:ln>
          </p:spPr>
          <p:txBody>
            <a:bodyPr rtlCol="0" anchor="ctr"/>
            <a:lstStyle/>
            <a:p>
              <a:pPr algn="ctr"/>
              <a:endParaRPr/>
            </a:p>
          </p:txBody>
        </p:sp>
        <p:sp>
          <p:nvSpPr>
            <p:cNvPr id="6" name="scale base"/>
            <p:cNvSpPr/>
            <p:nvPr/>
          </p:nvSpPr>
          <p:spPr>
            <a:xfrm>
              <a:off x="5367528" y="2624328"/>
              <a:ext cx="1463040" cy="256032"/>
            </a:xfrm>
            <a:custGeom>
              <a:avLst/>
              <a:gdLst/>
              <a:ahLst/>
              <a:cxnLst/>
              <a:rect l="l" t="t" r="r" b="b"/>
              <a:pathLst>
                <a:path w="1463040" h="256032">
                  <a:moveTo>
                    <a:pt x="0" y="256032"/>
                  </a:moveTo>
                  <a:lnTo>
                    <a:pt x="1463040" y="256032"/>
                  </a:lnTo>
                  <a:lnTo>
                    <a:pt x="1188720" y="0"/>
                  </a:lnTo>
                  <a:lnTo>
                    <a:pt x="274320" y="0"/>
                  </a:lnTo>
                  <a:close/>
                </a:path>
              </a:pathLst>
            </a:custGeom>
            <a:solidFill>
              <a:srgbClr val="73787C"/>
            </a:solidFill>
            <a:ln w="19050">
              <a:solidFill>
                <a:srgbClr val="9AA0A6"/>
              </a:solidFill>
            </a:ln>
          </p:spPr>
          <p:txBody>
            <a:bodyPr rtlCol="0" anchor="ctr"/>
            <a:lstStyle/>
            <a:p>
              <a:pPr algn="ctr"/>
              <a:endParaRPr/>
            </a:p>
          </p:txBody>
        </p:sp>
        <p:sp>
          <p:nvSpPr>
            <p:cNvPr id="7" name="scale beam"/>
            <p:cNvSpPr/>
            <p:nvPr/>
          </p:nvSpPr>
          <p:spPr>
            <a:xfrm>
              <a:off x="3127248" y="1408175"/>
              <a:ext cx="5943600" cy="109728"/>
            </a:xfrm>
            <a:prstGeom prst="roundRect">
              <a:avLst>
                <a:gd name="adj" fmla="val 41666"/>
              </a:avLst>
            </a:prstGeom>
            <a:solidFill>
              <a:srgbClr val="9AA0A6"/>
            </a:solidFill>
            <a:ln>
              <a:noFill/>
            </a:ln>
          </p:spPr>
          <p:txBody>
            <a:bodyPr rtlCol="0" anchor="ctr"/>
            <a:lstStyle/>
            <a:p>
              <a:pPr algn="ctr"/>
              <a:endParaRPr/>
            </a:p>
          </p:txBody>
        </p:sp>
        <p:sp>
          <p:nvSpPr>
            <p:cNvPr id="8" name="scale pivot"/>
            <p:cNvSpPr/>
            <p:nvPr/>
          </p:nvSpPr>
          <p:spPr>
            <a:xfrm>
              <a:off x="5971032" y="1335024"/>
              <a:ext cx="256032" cy="256032"/>
            </a:xfrm>
            <a:prstGeom prst="ellipse">
              <a:avLst/>
            </a:prstGeom>
            <a:solidFill>
              <a:srgbClr val="F2C14E"/>
            </a:solidFill>
            <a:ln>
              <a:noFill/>
            </a:ln>
          </p:spPr>
          <p:txBody>
            <a:bodyPr rtlCol="0" anchor="ctr"/>
            <a:lstStyle/>
            <a:p>
              <a:pPr algn="ctr"/>
              <a:endParaRPr/>
            </a:p>
          </p:txBody>
        </p:sp>
        <p:cxnSp>
          <p:nvCxnSpPr>
            <p:cNvPr id="9" name="scale string"/>
            <p:cNvCxnSpPr/>
            <p:nvPr/>
          </p:nvCxnSpPr>
          <p:spPr>
            <a:xfrm flipH="1">
              <a:off x="1737360" y="1463039"/>
              <a:ext cx="1481328" cy="1234441"/>
            </a:xfrm>
            <a:prstGeom prst="line">
              <a:avLst/>
            </a:prstGeom>
            <a:ln w="19050">
              <a:solidFill>
                <a:srgbClr val="9AA0A6"/>
              </a:solidFill>
            </a:ln>
          </p:spPr>
        </p:cxnSp>
        <p:cxnSp>
          <p:nvCxnSpPr>
            <p:cNvPr id="10" name="scale string"/>
            <p:cNvCxnSpPr/>
            <p:nvPr/>
          </p:nvCxnSpPr>
          <p:spPr>
            <a:xfrm>
              <a:off x="3218688" y="1463039"/>
              <a:ext cx="1481328" cy="1234441"/>
            </a:xfrm>
            <a:prstGeom prst="line">
              <a:avLst/>
            </a:prstGeom>
            <a:ln w="19050">
              <a:solidFill>
                <a:srgbClr val="9AA0A6"/>
              </a:solidFill>
            </a:ln>
          </p:spPr>
        </p:cxnSp>
        <p:sp>
          <p:nvSpPr>
            <p:cNvPr id="11" name="scale pan"/>
            <p:cNvSpPr/>
            <p:nvPr/>
          </p:nvSpPr>
          <p:spPr>
            <a:xfrm>
              <a:off x="1572768" y="2697480"/>
              <a:ext cx="3291840" cy="146304"/>
            </a:xfrm>
            <a:custGeom>
              <a:avLst/>
              <a:gdLst/>
              <a:ahLst/>
              <a:cxnLst/>
              <a:rect l="l" t="t" r="r" b="b"/>
              <a:pathLst>
                <a:path w="3291840" h="146304">
                  <a:moveTo>
                    <a:pt x="0" y="0"/>
                  </a:moveTo>
                  <a:lnTo>
                    <a:pt x="3291840" y="0"/>
                  </a:lnTo>
                  <a:lnTo>
                    <a:pt x="2962656" y="146304"/>
                  </a:lnTo>
                  <a:lnTo>
                    <a:pt x="329184" y="146304"/>
                  </a:lnTo>
                  <a:close/>
                </a:path>
              </a:pathLst>
            </a:custGeom>
            <a:solidFill>
              <a:srgbClr val="8A9095"/>
            </a:solidFill>
            <a:ln w="19050">
              <a:solidFill>
                <a:srgbClr val="9AA0A6"/>
              </a:solidFill>
            </a:ln>
          </p:spPr>
          <p:txBody>
            <a:bodyPr rtlCol="0" anchor="ctr"/>
            <a:lstStyle/>
            <a:p>
              <a:pPr algn="ctr"/>
              <a:endParaRPr/>
            </a:p>
          </p:txBody>
        </p:sp>
        <p:cxnSp>
          <p:nvCxnSpPr>
            <p:cNvPr id="12" name="scale string"/>
            <p:cNvCxnSpPr/>
            <p:nvPr/>
          </p:nvCxnSpPr>
          <p:spPr>
            <a:xfrm flipH="1">
              <a:off x="7498079" y="1463039"/>
              <a:ext cx="1481329" cy="1234441"/>
            </a:xfrm>
            <a:prstGeom prst="line">
              <a:avLst/>
            </a:prstGeom>
            <a:ln w="19050">
              <a:solidFill>
                <a:srgbClr val="9AA0A6"/>
              </a:solidFill>
            </a:ln>
          </p:spPr>
        </p:cxnSp>
        <p:cxnSp>
          <p:nvCxnSpPr>
            <p:cNvPr id="13" name="scale string"/>
            <p:cNvCxnSpPr/>
            <p:nvPr/>
          </p:nvCxnSpPr>
          <p:spPr>
            <a:xfrm>
              <a:off x="8979408" y="1463039"/>
              <a:ext cx="1481328" cy="1234441"/>
            </a:xfrm>
            <a:prstGeom prst="line">
              <a:avLst/>
            </a:prstGeom>
            <a:ln w="19050">
              <a:solidFill>
                <a:srgbClr val="9AA0A6"/>
              </a:solidFill>
            </a:ln>
          </p:spPr>
        </p:cxnSp>
        <p:sp>
          <p:nvSpPr>
            <p:cNvPr id="14" name="scale pan"/>
            <p:cNvSpPr/>
            <p:nvPr/>
          </p:nvSpPr>
          <p:spPr>
            <a:xfrm>
              <a:off x="7333488" y="2697480"/>
              <a:ext cx="3291840" cy="146304"/>
            </a:xfrm>
            <a:custGeom>
              <a:avLst/>
              <a:gdLst/>
              <a:ahLst/>
              <a:cxnLst/>
              <a:rect l="l" t="t" r="r" b="b"/>
              <a:pathLst>
                <a:path w="3291840" h="146304">
                  <a:moveTo>
                    <a:pt x="0" y="0"/>
                  </a:moveTo>
                  <a:lnTo>
                    <a:pt x="3291840" y="0"/>
                  </a:lnTo>
                  <a:lnTo>
                    <a:pt x="2962656" y="146304"/>
                  </a:lnTo>
                  <a:lnTo>
                    <a:pt x="329184" y="146304"/>
                  </a:lnTo>
                  <a:close/>
                </a:path>
              </a:pathLst>
            </a:custGeom>
            <a:solidFill>
              <a:srgbClr val="8A9095"/>
            </a:solidFill>
            <a:ln w="19050">
              <a:solidFill>
                <a:srgbClr val="9AA0A6"/>
              </a:solidFill>
            </a:ln>
          </p:spPr>
          <p:txBody>
            <a:bodyPr rtlCol="0" anchor="ctr"/>
            <a:lstStyle/>
            <a:p>
              <a:pPr algn="ctr"/>
              <a:endParaRPr/>
            </a:p>
          </p:txBody>
        </p:sp>
        <p:sp>
          <p:nvSpPr>
            <p:cNvPr id="15" name="wagon frame"/>
            <p:cNvSpPr/>
            <p:nvPr/>
          </p:nvSpPr>
          <p:spPr>
            <a:xfrm>
              <a:off x="1686610" y="2556662"/>
              <a:ext cx="442569" cy="40233"/>
            </a:xfrm>
            <a:prstGeom prst="rect">
              <a:avLst/>
            </a:prstGeom>
            <a:solidFill>
              <a:srgbClr val="3A3F47"/>
            </a:solidFill>
            <a:ln w="9525">
              <a:solidFill>
                <a:srgbClr val="9AA0A6"/>
              </a:solidFill>
            </a:ln>
          </p:spPr>
          <p:txBody>
            <a:bodyPr rtlCol="0" anchor="ctr"/>
            <a:lstStyle/>
            <a:p>
              <a:pPr algn="ctr"/>
              <a:endParaRPr/>
            </a:p>
          </p:txBody>
        </p:sp>
        <p:sp>
          <p:nvSpPr>
            <p:cNvPr id="16" name="hopper body"/>
            <p:cNvSpPr/>
            <p:nvPr/>
          </p:nvSpPr>
          <p:spPr>
            <a:xfrm>
              <a:off x="1686610" y="2305202"/>
              <a:ext cx="442570" cy="251460"/>
            </a:xfrm>
            <a:custGeom>
              <a:avLst/>
              <a:gdLst/>
              <a:ahLst/>
              <a:cxnLst/>
              <a:rect l="l" t="t" r="r" b="b"/>
              <a:pathLst>
                <a:path w="442570" h="251460">
                  <a:moveTo>
                    <a:pt x="0" y="0"/>
                  </a:moveTo>
                  <a:lnTo>
                    <a:pt x="442570" y="0"/>
                  </a:lnTo>
                  <a:lnTo>
                    <a:pt x="372161" y="251460"/>
                  </a:lnTo>
                  <a:lnTo>
                    <a:pt x="70409" y="251460"/>
                  </a:lnTo>
                  <a:close/>
                </a:path>
              </a:pathLst>
            </a:custGeom>
            <a:solidFill>
              <a:srgbClr val="D6619B"/>
            </a:solidFill>
            <a:ln>
              <a:noFill/>
            </a:ln>
          </p:spPr>
          <p:txBody>
            <a:bodyPr rtlCol="0" anchor="ctr"/>
            <a:lstStyle/>
            <a:p>
              <a:pPr algn="ctr"/>
              <a:endParaRPr/>
            </a:p>
          </p:txBody>
        </p:sp>
        <p:sp>
          <p:nvSpPr>
            <p:cNvPr id="17" name="hopper rim"/>
            <p:cNvSpPr/>
            <p:nvPr/>
          </p:nvSpPr>
          <p:spPr>
            <a:xfrm>
              <a:off x="1686610" y="2300173"/>
              <a:ext cx="442569" cy="25146"/>
            </a:xfrm>
            <a:prstGeom prst="rect">
              <a:avLst/>
            </a:prstGeom>
            <a:solidFill>
              <a:srgbClr val="E088B4"/>
            </a:solidFill>
            <a:ln>
              <a:noFill/>
            </a:ln>
          </p:spPr>
          <p:txBody>
            <a:bodyPr rtlCol="0" anchor="ctr"/>
            <a:lstStyle/>
            <a:p>
              <a:pPr algn="ctr"/>
              <a:endParaRPr/>
            </a:p>
          </p:txBody>
        </p:sp>
        <p:sp>
          <p:nvSpPr>
            <p:cNvPr id="18" name="hopper hatch"/>
            <p:cNvSpPr/>
            <p:nvPr/>
          </p:nvSpPr>
          <p:spPr>
            <a:xfrm>
              <a:off x="1819381" y="2556662"/>
              <a:ext cx="88514" cy="30175"/>
            </a:xfrm>
            <a:custGeom>
              <a:avLst/>
              <a:gdLst/>
              <a:ahLst/>
              <a:cxnLst/>
              <a:rect l="l" t="t" r="r" b="b"/>
              <a:pathLst>
                <a:path w="88514" h="30175">
                  <a:moveTo>
                    <a:pt x="0" y="0"/>
                  </a:moveTo>
                  <a:lnTo>
                    <a:pt x="44257" y="30175"/>
                  </a:lnTo>
                  <a:lnTo>
                    <a:pt x="88514" y="0"/>
                  </a:lnTo>
                  <a:close/>
                </a:path>
              </a:pathLst>
            </a:custGeom>
            <a:solidFill>
              <a:srgbClr val="3A3F47"/>
            </a:solidFill>
            <a:ln>
              <a:noFill/>
            </a:ln>
          </p:spPr>
          <p:txBody>
            <a:bodyPr rtlCol="0" anchor="ctr"/>
            <a:lstStyle/>
            <a:p>
              <a:pPr algn="ctr"/>
              <a:endParaRPr/>
            </a:p>
          </p:txBody>
        </p:sp>
        <p:sp>
          <p:nvSpPr>
            <p:cNvPr id="19" name="hopper hatch"/>
            <p:cNvSpPr/>
            <p:nvPr/>
          </p:nvSpPr>
          <p:spPr>
            <a:xfrm>
              <a:off x="1930024" y="2556662"/>
              <a:ext cx="88514" cy="30175"/>
            </a:xfrm>
            <a:custGeom>
              <a:avLst/>
              <a:gdLst/>
              <a:ahLst/>
              <a:cxnLst/>
              <a:rect l="l" t="t" r="r" b="b"/>
              <a:pathLst>
                <a:path w="88514" h="30175">
                  <a:moveTo>
                    <a:pt x="0" y="0"/>
                  </a:moveTo>
                  <a:lnTo>
                    <a:pt x="44257" y="30175"/>
                  </a:lnTo>
                  <a:lnTo>
                    <a:pt x="88514" y="0"/>
                  </a:lnTo>
                  <a:close/>
                </a:path>
              </a:pathLst>
            </a:custGeom>
            <a:solidFill>
              <a:srgbClr val="3A3F47"/>
            </a:solidFill>
            <a:ln>
              <a:noFill/>
            </a:ln>
          </p:spPr>
          <p:txBody>
            <a:bodyPr rtlCol="0" anchor="ctr"/>
            <a:lstStyle/>
            <a:p>
              <a:pPr algn="ctr"/>
              <a:endParaRPr/>
            </a:p>
          </p:txBody>
        </p:sp>
        <p:sp>
          <p:nvSpPr>
            <p:cNvPr id="20" name="wheel"/>
            <p:cNvSpPr/>
            <p:nvPr/>
          </p:nvSpPr>
          <p:spPr>
            <a:xfrm>
              <a:off x="1716786" y="2576779"/>
              <a:ext cx="120700" cy="120700"/>
            </a:xfrm>
            <a:prstGeom prst="ellipse">
              <a:avLst/>
            </a:prstGeom>
            <a:solidFill>
              <a:srgbClr val="1B1D21"/>
            </a:solidFill>
            <a:ln w="15875">
              <a:solidFill>
                <a:srgbClr val="9AA0A6"/>
              </a:solidFill>
            </a:ln>
          </p:spPr>
          <p:txBody>
            <a:bodyPr rtlCol="0" anchor="ctr"/>
            <a:lstStyle/>
            <a:p>
              <a:pPr algn="ctr"/>
              <a:endParaRPr/>
            </a:p>
          </p:txBody>
        </p:sp>
        <p:sp>
          <p:nvSpPr>
            <p:cNvPr id="21" name="hub"/>
            <p:cNvSpPr/>
            <p:nvPr/>
          </p:nvSpPr>
          <p:spPr>
            <a:xfrm>
              <a:off x="1761445" y="2621438"/>
              <a:ext cx="31382" cy="31382"/>
            </a:xfrm>
            <a:prstGeom prst="ellipse">
              <a:avLst/>
            </a:prstGeom>
            <a:solidFill>
              <a:srgbClr val="9AA0A6"/>
            </a:solidFill>
            <a:ln>
              <a:noFill/>
            </a:ln>
          </p:spPr>
          <p:txBody>
            <a:bodyPr rtlCol="0" anchor="ctr"/>
            <a:lstStyle/>
            <a:p>
              <a:pPr algn="ctr"/>
              <a:endParaRPr/>
            </a:p>
          </p:txBody>
        </p:sp>
        <p:sp>
          <p:nvSpPr>
            <p:cNvPr id="22" name="wheel"/>
            <p:cNvSpPr/>
            <p:nvPr/>
          </p:nvSpPr>
          <p:spPr>
            <a:xfrm>
              <a:off x="1978304" y="2576779"/>
              <a:ext cx="120700" cy="120700"/>
            </a:xfrm>
            <a:prstGeom prst="ellipse">
              <a:avLst/>
            </a:prstGeom>
            <a:solidFill>
              <a:srgbClr val="1B1D21"/>
            </a:solidFill>
            <a:ln w="15875">
              <a:solidFill>
                <a:srgbClr val="9AA0A6"/>
              </a:solidFill>
            </a:ln>
          </p:spPr>
          <p:txBody>
            <a:bodyPr rtlCol="0" anchor="ctr"/>
            <a:lstStyle/>
            <a:p>
              <a:pPr algn="ctr"/>
              <a:endParaRPr/>
            </a:p>
          </p:txBody>
        </p:sp>
        <p:sp>
          <p:nvSpPr>
            <p:cNvPr id="23" name="hub"/>
            <p:cNvSpPr/>
            <p:nvPr/>
          </p:nvSpPr>
          <p:spPr>
            <a:xfrm>
              <a:off x="2022963" y="2621438"/>
              <a:ext cx="31382" cy="31382"/>
            </a:xfrm>
            <a:prstGeom prst="ellipse">
              <a:avLst/>
            </a:prstGeom>
            <a:solidFill>
              <a:srgbClr val="9AA0A6"/>
            </a:solidFill>
            <a:ln>
              <a:noFill/>
            </a:ln>
          </p:spPr>
          <p:txBody>
            <a:bodyPr rtlCol="0" anchor="ctr"/>
            <a:lstStyle/>
            <a:p>
              <a:pPr algn="ctr"/>
              <a:endParaRPr/>
            </a:p>
          </p:txBody>
        </p:sp>
        <p:sp>
          <p:nvSpPr>
            <p:cNvPr id="24" name="wagon frame"/>
            <p:cNvSpPr/>
            <p:nvPr/>
          </p:nvSpPr>
          <p:spPr>
            <a:xfrm>
              <a:off x="2174900" y="2556662"/>
              <a:ext cx="442569" cy="40233"/>
            </a:xfrm>
            <a:prstGeom prst="rect">
              <a:avLst/>
            </a:prstGeom>
            <a:solidFill>
              <a:srgbClr val="3A3F47"/>
            </a:solidFill>
            <a:ln w="9525">
              <a:solidFill>
                <a:srgbClr val="9AA0A6"/>
              </a:solidFill>
            </a:ln>
          </p:spPr>
          <p:txBody>
            <a:bodyPr rtlCol="0" anchor="ctr"/>
            <a:lstStyle/>
            <a:p>
              <a:pPr algn="ctr"/>
              <a:endParaRPr/>
            </a:p>
          </p:txBody>
        </p:sp>
        <p:sp>
          <p:nvSpPr>
            <p:cNvPr id="25" name="hopper body"/>
            <p:cNvSpPr/>
            <p:nvPr/>
          </p:nvSpPr>
          <p:spPr>
            <a:xfrm>
              <a:off x="2174900" y="2305202"/>
              <a:ext cx="442570" cy="251460"/>
            </a:xfrm>
            <a:custGeom>
              <a:avLst/>
              <a:gdLst/>
              <a:ahLst/>
              <a:cxnLst/>
              <a:rect l="l" t="t" r="r" b="b"/>
              <a:pathLst>
                <a:path w="442570" h="251460">
                  <a:moveTo>
                    <a:pt x="0" y="0"/>
                  </a:moveTo>
                  <a:lnTo>
                    <a:pt x="442570" y="0"/>
                  </a:lnTo>
                  <a:lnTo>
                    <a:pt x="372161" y="251460"/>
                  </a:lnTo>
                  <a:lnTo>
                    <a:pt x="70409" y="251460"/>
                  </a:lnTo>
                  <a:close/>
                </a:path>
              </a:pathLst>
            </a:custGeom>
            <a:solidFill>
              <a:srgbClr val="D6619B"/>
            </a:solidFill>
            <a:ln>
              <a:noFill/>
            </a:ln>
          </p:spPr>
          <p:txBody>
            <a:bodyPr rtlCol="0" anchor="ctr"/>
            <a:lstStyle/>
            <a:p>
              <a:pPr algn="ctr"/>
              <a:endParaRPr/>
            </a:p>
          </p:txBody>
        </p:sp>
        <p:sp>
          <p:nvSpPr>
            <p:cNvPr id="26" name="hopper rim"/>
            <p:cNvSpPr/>
            <p:nvPr/>
          </p:nvSpPr>
          <p:spPr>
            <a:xfrm>
              <a:off x="2174900" y="2300173"/>
              <a:ext cx="442569" cy="25146"/>
            </a:xfrm>
            <a:prstGeom prst="rect">
              <a:avLst/>
            </a:prstGeom>
            <a:solidFill>
              <a:srgbClr val="E088B4"/>
            </a:solidFill>
            <a:ln>
              <a:noFill/>
            </a:ln>
          </p:spPr>
          <p:txBody>
            <a:bodyPr rtlCol="0" anchor="ctr"/>
            <a:lstStyle/>
            <a:p>
              <a:pPr algn="ctr"/>
              <a:endParaRPr/>
            </a:p>
          </p:txBody>
        </p:sp>
        <p:sp>
          <p:nvSpPr>
            <p:cNvPr id="27" name="hopper hatch"/>
            <p:cNvSpPr/>
            <p:nvPr/>
          </p:nvSpPr>
          <p:spPr>
            <a:xfrm>
              <a:off x="2307671" y="2556662"/>
              <a:ext cx="88514" cy="30175"/>
            </a:xfrm>
            <a:custGeom>
              <a:avLst/>
              <a:gdLst/>
              <a:ahLst/>
              <a:cxnLst/>
              <a:rect l="l" t="t" r="r" b="b"/>
              <a:pathLst>
                <a:path w="88514" h="30175">
                  <a:moveTo>
                    <a:pt x="0" y="0"/>
                  </a:moveTo>
                  <a:lnTo>
                    <a:pt x="44257" y="30175"/>
                  </a:lnTo>
                  <a:lnTo>
                    <a:pt x="88514" y="0"/>
                  </a:lnTo>
                  <a:close/>
                </a:path>
              </a:pathLst>
            </a:custGeom>
            <a:solidFill>
              <a:srgbClr val="3A3F47"/>
            </a:solidFill>
            <a:ln>
              <a:noFill/>
            </a:ln>
          </p:spPr>
          <p:txBody>
            <a:bodyPr rtlCol="0" anchor="ctr"/>
            <a:lstStyle/>
            <a:p>
              <a:pPr algn="ctr"/>
              <a:endParaRPr/>
            </a:p>
          </p:txBody>
        </p:sp>
        <p:sp>
          <p:nvSpPr>
            <p:cNvPr id="28" name="hopper hatch"/>
            <p:cNvSpPr/>
            <p:nvPr/>
          </p:nvSpPr>
          <p:spPr>
            <a:xfrm>
              <a:off x="2418313" y="2556662"/>
              <a:ext cx="88514" cy="30175"/>
            </a:xfrm>
            <a:custGeom>
              <a:avLst/>
              <a:gdLst/>
              <a:ahLst/>
              <a:cxnLst/>
              <a:rect l="l" t="t" r="r" b="b"/>
              <a:pathLst>
                <a:path w="88514" h="30175">
                  <a:moveTo>
                    <a:pt x="0" y="0"/>
                  </a:moveTo>
                  <a:lnTo>
                    <a:pt x="44257" y="30175"/>
                  </a:lnTo>
                  <a:lnTo>
                    <a:pt x="88514" y="0"/>
                  </a:lnTo>
                  <a:close/>
                </a:path>
              </a:pathLst>
            </a:custGeom>
            <a:solidFill>
              <a:srgbClr val="3A3F47"/>
            </a:solidFill>
            <a:ln>
              <a:noFill/>
            </a:ln>
          </p:spPr>
          <p:txBody>
            <a:bodyPr rtlCol="0" anchor="ctr"/>
            <a:lstStyle/>
            <a:p>
              <a:pPr algn="ctr"/>
              <a:endParaRPr/>
            </a:p>
          </p:txBody>
        </p:sp>
        <p:sp>
          <p:nvSpPr>
            <p:cNvPr id="29" name="wheel"/>
            <p:cNvSpPr/>
            <p:nvPr/>
          </p:nvSpPr>
          <p:spPr>
            <a:xfrm>
              <a:off x="2205075" y="2576779"/>
              <a:ext cx="120700" cy="120700"/>
            </a:xfrm>
            <a:prstGeom prst="ellipse">
              <a:avLst/>
            </a:prstGeom>
            <a:solidFill>
              <a:srgbClr val="1B1D21"/>
            </a:solidFill>
            <a:ln w="15875">
              <a:solidFill>
                <a:srgbClr val="9AA0A6"/>
              </a:solidFill>
            </a:ln>
          </p:spPr>
          <p:txBody>
            <a:bodyPr rtlCol="0" anchor="ctr"/>
            <a:lstStyle/>
            <a:p>
              <a:pPr algn="ctr"/>
              <a:endParaRPr/>
            </a:p>
          </p:txBody>
        </p:sp>
        <p:sp>
          <p:nvSpPr>
            <p:cNvPr id="30" name="hub"/>
            <p:cNvSpPr/>
            <p:nvPr/>
          </p:nvSpPr>
          <p:spPr>
            <a:xfrm>
              <a:off x="2249734" y="2621438"/>
              <a:ext cx="31382" cy="31382"/>
            </a:xfrm>
            <a:prstGeom prst="ellipse">
              <a:avLst/>
            </a:prstGeom>
            <a:solidFill>
              <a:srgbClr val="9AA0A6"/>
            </a:solidFill>
            <a:ln>
              <a:noFill/>
            </a:ln>
          </p:spPr>
          <p:txBody>
            <a:bodyPr rtlCol="0" anchor="ctr"/>
            <a:lstStyle/>
            <a:p>
              <a:pPr algn="ctr"/>
              <a:endParaRPr/>
            </a:p>
          </p:txBody>
        </p:sp>
        <p:sp>
          <p:nvSpPr>
            <p:cNvPr id="31" name="wheel"/>
            <p:cNvSpPr/>
            <p:nvPr/>
          </p:nvSpPr>
          <p:spPr>
            <a:xfrm>
              <a:off x="2466594" y="2576779"/>
              <a:ext cx="120700" cy="120700"/>
            </a:xfrm>
            <a:prstGeom prst="ellipse">
              <a:avLst/>
            </a:prstGeom>
            <a:solidFill>
              <a:srgbClr val="1B1D21"/>
            </a:solidFill>
            <a:ln w="15875">
              <a:solidFill>
                <a:srgbClr val="9AA0A6"/>
              </a:solidFill>
            </a:ln>
          </p:spPr>
          <p:txBody>
            <a:bodyPr rtlCol="0" anchor="ctr"/>
            <a:lstStyle/>
            <a:p>
              <a:pPr algn="ctr"/>
              <a:endParaRPr/>
            </a:p>
          </p:txBody>
        </p:sp>
        <p:sp>
          <p:nvSpPr>
            <p:cNvPr id="32" name="hub"/>
            <p:cNvSpPr/>
            <p:nvPr/>
          </p:nvSpPr>
          <p:spPr>
            <a:xfrm>
              <a:off x="2511253" y="2621438"/>
              <a:ext cx="31382" cy="31382"/>
            </a:xfrm>
            <a:prstGeom prst="ellipse">
              <a:avLst/>
            </a:prstGeom>
            <a:solidFill>
              <a:srgbClr val="9AA0A6"/>
            </a:solidFill>
            <a:ln>
              <a:noFill/>
            </a:ln>
          </p:spPr>
          <p:txBody>
            <a:bodyPr rtlCol="0" anchor="ctr"/>
            <a:lstStyle/>
            <a:p>
              <a:pPr algn="ctr"/>
              <a:endParaRPr/>
            </a:p>
          </p:txBody>
        </p:sp>
        <p:sp>
          <p:nvSpPr>
            <p:cNvPr id="33" name="tender frame"/>
            <p:cNvSpPr/>
            <p:nvPr/>
          </p:nvSpPr>
          <p:spPr>
            <a:xfrm>
              <a:off x="2708910" y="2536545"/>
              <a:ext cx="462686" cy="45262"/>
            </a:xfrm>
            <a:prstGeom prst="rect">
              <a:avLst/>
            </a:prstGeom>
            <a:solidFill>
              <a:srgbClr val="3A3F47"/>
            </a:solidFill>
            <a:ln w="9525">
              <a:solidFill>
                <a:srgbClr val="9AA0A6"/>
              </a:solidFill>
            </a:ln>
          </p:spPr>
          <p:txBody>
            <a:bodyPr rtlCol="0" anchor="ctr"/>
            <a:lstStyle/>
            <a:p>
              <a:pPr algn="ctr"/>
              <a:endParaRPr/>
            </a:p>
          </p:txBody>
        </p:sp>
        <p:sp>
          <p:nvSpPr>
            <p:cNvPr id="34" name="tender body"/>
            <p:cNvSpPr/>
            <p:nvPr/>
          </p:nvSpPr>
          <p:spPr>
            <a:xfrm>
              <a:off x="2708910" y="2335377"/>
              <a:ext cx="462686" cy="201168"/>
            </a:xfrm>
            <a:prstGeom prst="roundRect">
              <a:avLst>
                <a:gd name="adj" fmla="val 2500"/>
              </a:avLst>
            </a:prstGeom>
            <a:solidFill>
              <a:srgbClr val="D6619B"/>
            </a:solidFill>
            <a:ln>
              <a:noFill/>
            </a:ln>
          </p:spPr>
          <p:txBody>
            <a:bodyPr rtlCol="0" anchor="ctr"/>
            <a:lstStyle/>
            <a:p>
              <a:pPr algn="ctr"/>
              <a:endParaRPr/>
            </a:p>
          </p:txBody>
        </p:sp>
        <p:sp>
          <p:nvSpPr>
            <p:cNvPr id="35" name="tender coal"/>
            <p:cNvSpPr/>
            <p:nvPr/>
          </p:nvSpPr>
          <p:spPr>
            <a:xfrm>
              <a:off x="2723997" y="2269998"/>
              <a:ext cx="432511" cy="65379"/>
            </a:xfrm>
            <a:custGeom>
              <a:avLst/>
              <a:gdLst/>
              <a:ahLst/>
              <a:cxnLst/>
              <a:rect l="l" t="t" r="r" b="b"/>
              <a:pathLst>
                <a:path w="432511" h="65379">
                  <a:moveTo>
                    <a:pt x="0" y="65379"/>
                  </a:moveTo>
                  <a:lnTo>
                    <a:pt x="75438" y="5029"/>
                  </a:lnTo>
                  <a:lnTo>
                    <a:pt x="246431" y="0"/>
                  </a:lnTo>
                  <a:lnTo>
                    <a:pt x="432511" y="65379"/>
                  </a:lnTo>
                  <a:close/>
                </a:path>
              </a:pathLst>
            </a:custGeom>
            <a:solidFill>
              <a:srgbClr val="1B1D21"/>
            </a:solidFill>
            <a:ln w="12700">
              <a:solidFill>
                <a:srgbClr val="6B7078"/>
              </a:solidFill>
            </a:ln>
          </p:spPr>
          <p:txBody>
            <a:bodyPr rtlCol="0" anchor="ctr"/>
            <a:lstStyle/>
            <a:p>
              <a:pPr algn="ctr"/>
              <a:endParaRPr/>
            </a:p>
          </p:txBody>
        </p:sp>
        <p:sp>
          <p:nvSpPr>
            <p:cNvPr id="36" name="coupling"/>
            <p:cNvSpPr/>
            <p:nvPr/>
          </p:nvSpPr>
          <p:spPr>
            <a:xfrm>
              <a:off x="3171596" y="2461107"/>
              <a:ext cx="40233" cy="15087"/>
            </a:xfrm>
            <a:prstGeom prst="rect">
              <a:avLst/>
            </a:prstGeom>
            <a:solidFill>
              <a:srgbClr val="9AA0A6"/>
            </a:solidFill>
            <a:ln>
              <a:noFill/>
            </a:ln>
          </p:spPr>
          <p:txBody>
            <a:bodyPr rtlCol="0" anchor="ctr"/>
            <a:lstStyle/>
            <a:p>
              <a:pPr algn="ctr"/>
              <a:endParaRPr/>
            </a:p>
          </p:txBody>
        </p:sp>
        <p:sp>
          <p:nvSpPr>
            <p:cNvPr id="37" name="wheel"/>
            <p:cNvSpPr/>
            <p:nvPr/>
          </p:nvSpPr>
          <p:spPr>
            <a:xfrm>
              <a:off x="2739085" y="2576779"/>
              <a:ext cx="120700" cy="120700"/>
            </a:xfrm>
            <a:prstGeom prst="ellipse">
              <a:avLst/>
            </a:prstGeom>
            <a:solidFill>
              <a:srgbClr val="1B1D21"/>
            </a:solidFill>
            <a:ln w="19050">
              <a:solidFill>
                <a:srgbClr val="9AA0A6"/>
              </a:solidFill>
            </a:ln>
          </p:spPr>
          <p:txBody>
            <a:bodyPr rtlCol="0" anchor="ctr"/>
            <a:lstStyle/>
            <a:p>
              <a:pPr algn="ctr"/>
              <a:endParaRPr/>
            </a:p>
          </p:txBody>
        </p:sp>
        <p:sp>
          <p:nvSpPr>
            <p:cNvPr id="38" name="hub"/>
            <p:cNvSpPr/>
            <p:nvPr/>
          </p:nvSpPr>
          <p:spPr>
            <a:xfrm>
              <a:off x="2783744" y="2621438"/>
              <a:ext cx="31382" cy="31382"/>
            </a:xfrm>
            <a:prstGeom prst="ellipse">
              <a:avLst/>
            </a:prstGeom>
            <a:solidFill>
              <a:srgbClr val="9AA0A6"/>
            </a:solidFill>
            <a:ln>
              <a:noFill/>
            </a:ln>
          </p:spPr>
          <p:txBody>
            <a:bodyPr rtlCol="0" anchor="ctr"/>
            <a:lstStyle/>
            <a:p>
              <a:pPr algn="ctr"/>
              <a:endParaRPr/>
            </a:p>
          </p:txBody>
        </p:sp>
        <p:sp>
          <p:nvSpPr>
            <p:cNvPr id="39" name="wheel"/>
            <p:cNvSpPr/>
            <p:nvPr/>
          </p:nvSpPr>
          <p:spPr>
            <a:xfrm>
              <a:off x="2839669" y="2576779"/>
              <a:ext cx="120700" cy="120700"/>
            </a:xfrm>
            <a:prstGeom prst="ellipse">
              <a:avLst/>
            </a:prstGeom>
            <a:solidFill>
              <a:srgbClr val="1B1D21"/>
            </a:solidFill>
            <a:ln w="19050">
              <a:solidFill>
                <a:srgbClr val="9AA0A6"/>
              </a:solidFill>
            </a:ln>
          </p:spPr>
          <p:txBody>
            <a:bodyPr rtlCol="0" anchor="ctr"/>
            <a:lstStyle/>
            <a:p>
              <a:pPr algn="ctr"/>
              <a:endParaRPr/>
            </a:p>
          </p:txBody>
        </p:sp>
        <p:sp>
          <p:nvSpPr>
            <p:cNvPr id="40" name="hub"/>
            <p:cNvSpPr/>
            <p:nvPr/>
          </p:nvSpPr>
          <p:spPr>
            <a:xfrm>
              <a:off x="2884328" y="2621438"/>
              <a:ext cx="31382" cy="31382"/>
            </a:xfrm>
            <a:prstGeom prst="ellipse">
              <a:avLst/>
            </a:prstGeom>
            <a:solidFill>
              <a:srgbClr val="9AA0A6"/>
            </a:solidFill>
            <a:ln>
              <a:noFill/>
            </a:ln>
          </p:spPr>
          <p:txBody>
            <a:bodyPr rtlCol="0" anchor="ctr"/>
            <a:lstStyle/>
            <a:p>
              <a:pPr algn="ctr"/>
              <a:endParaRPr/>
            </a:p>
          </p:txBody>
        </p:sp>
        <p:sp>
          <p:nvSpPr>
            <p:cNvPr id="41" name="wheel"/>
            <p:cNvSpPr/>
            <p:nvPr/>
          </p:nvSpPr>
          <p:spPr>
            <a:xfrm>
              <a:off x="2920136" y="2576779"/>
              <a:ext cx="120700" cy="120700"/>
            </a:xfrm>
            <a:prstGeom prst="ellipse">
              <a:avLst/>
            </a:prstGeom>
            <a:solidFill>
              <a:srgbClr val="1B1D21"/>
            </a:solidFill>
            <a:ln w="19050">
              <a:solidFill>
                <a:srgbClr val="9AA0A6"/>
              </a:solidFill>
            </a:ln>
          </p:spPr>
          <p:txBody>
            <a:bodyPr rtlCol="0" anchor="ctr"/>
            <a:lstStyle/>
            <a:p>
              <a:pPr algn="ctr"/>
              <a:endParaRPr/>
            </a:p>
          </p:txBody>
        </p:sp>
        <p:sp>
          <p:nvSpPr>
            <p:cNvPr id="42" name="hub"/>
            <p:cNvSpPr/>
            <p:nvPr/>
          </p:nvSpPr>
          <p:spPr>
            <a:xfrm>
              <a:off x="2964795" y="2621438"/>
              <a:ext cx="31382" cy="31382"/>
            </a:xfrm>
            <a:prstGeom prst="ellipse">
              <a:avLst/>
            </a:prstGeom>
            <a:solidFill>
              <a:srgbClr val="9AA0A6"/>
            </a:solidFill>
            <a:ln>
              <a:noFill/>
            </a:ln>
          </p:spPr>
          <p:txBody>
            <a:bodyPr rtlCol="0" anchor="ctr"/>
            <a:lstStyle/>
            <a:p>
              <a:pPr algn="ctr"/>
              <a:endParaRPr/>
            </a:p>
          </p:txBody>
        </p:sp>
        <p:sp>
          <p:nvSpPr>
            <p:cNvPr id="43" name="wheel"/>
            <p:cNvSpPr/>
            <p:nvPr/>
          </p:nvSpPr>
          <p:spPr>
            <a:xfrm>
              <a:off x="3020720" y="2576779"/>
              <a:ext cx="120700" cy="120700"/>
            </a:xfrm>
            <a:prstGeom prst="ellipse">
              <a:avLst/>
            </a:prstGeom>
            <a:solidFill>
              <a:srgbClr val="1B1D21"/>
            </a:solidFill>
            <a:ln w="19050">
              <a:solidFill>
                <a:srgbClr val="9AA0A6"/>
              </a:solidFill>
            </a:ln>
          </p:spPr>
          <p:txBody>
            <a:bodyPr rtlCol="0" anchor="ctr"/>
            <a:lstStyle/>
            <a:p>
              <a:pPr algn="ctr"/>
              <a:endParaRPr/>
            </a:p>
          </p:txBody>
        </p:sp>
        <p:sp>
          <p:nvSpPr>
            <p:cNvPr id="44" name="hub"/>
            <p:cNvSpPr/>
            <p:nvPr/>
          </p:nvSpPr>
          <p:spPr>
            <a:xfrm>
              <a:off x="3065379" y="2621438"/>
              <a:ext cx="31382" cy="31382"/>
            </a:xfrm>
            <a:prstGeom prst="ellipse">
              <a:avLst/>
            </a:prstGeom>
            <a:solidFill>
              <a:srgbClr val="9AA0A6"/>
            </a:solidFill>
            <a:ln>
              <a:noFill/>
            </a:ln>
          </p:spPr>
          <p:txBody>
            <a:bodyPr rtlCol="0" anchor="ctr"/>
            <a:lstStyle/>
            <a:p>
              <a:pPr algn="ctr"/>
              <a:endParaRPr/>
            </a:p>
          </p:txBody>
        </p:sp>
        <p:sp>
          <p:nvSpPr>
            <p:cNvPr id="45" name="frame"/>
            <p:cNvSpPr/>
            <p:nvPr/>
          </p:nvSpPr>
          <p:spPr>
            <a:xfrm>
              <a:off x="3211830" y="2536545"/>
              <a:ext cx="1433925" cy="45262"/>
            </a:xfrm>
            <a:prstGeom prst="rect">
              <a:avLst/>
            </a:prstGeom>
            <a:solidFill>
              <a:srgbClr val="3A3F47"/>
            </a:solidFill>
            <a:ln w="9525">
              <a:solidFill>
                <a:srgbClr val="9AA0A6"/>
              </a:solidFill>
            </a:ln>
          </p:spPr>
          <p:txBody>
            <a:bodyPr rtlCol="0" anchor="ctr"/>
            <a:lstStyle/>
            <a:p>
              <a:pPr algn="ctr"/>
              <a:endParaRPr/>
            </a:p>
          </p:txBody>
        </p:sp>
        <p:sp>
          <p:nvSpPr>
            <p:cNvPr id="46" name="cab"/>
            <p:cNvSpPr/>
            <p:nvPr/>
          </p:nvSpPr>
          <p:spPr>
            <a:xfrm>
              <a:off x="3211830" y="2194560"/>
              <a:ext cx="231343" cy="341985"/>
            </a:xfrm>
            <a:prstGeom prst="roundRect">
              <a:avLst>
                <a:gd name="adj" fmla="val 2173"/>
              </a:avLst>
            </a:prstGeom>
            <a:solidFill>
              <a:srgbClr val="D6619B"/>
            </a:solidFill>
            <a:ln>
              <a:noFill/>
            </a:ln>
          </p:spPr>
          <p:txBody>
            <a:bodyPr rtlCol="0" anchor="ctr"/>
            <a:lstStyle/>
            <a:p>
              <a:pPr algn="ctr"/>
              <a:endParaRPr/>
            </a:p>
          </p:txBody>
        </p:sp>
        <p:sp>
          <p:nvSpPr>
            <p:cNvPr id="47" name="cab roof"/>
            <p:cNvSpPr/>
            <p:nvPr/>
          </p:nvSpPr>
          <p:spPr>
            <a:xfrm>
              <a:off x="3191713" y="2164384"/>
              <a:ext cx="271576" cy="30175"/>
            </a:xfrm>
            <a:prstGeom prst="rect">
              <a:avLst/>
            </a:prstGeom>
            <a:solidFill>
              <a:srgbClr val="3A3F47"/>
            </a:solidFill>
            <a:ln w="9525">
              <a:solidFill>
                <a:srgbClr val="9AA0A6"/>
              </a:solidFill>
            </a:ln>
          </p:spPr>
          <p:txBody>
            <a:bodyPr rtlCol="0" anchor="ctr"/>
            <a:lstStyle/>
            <a:p>
              <a:pPr algn="ctr"/>
              <a:endParaRPr/>
            </a:p>
          </p:txBody>
        </p:sp>
        <p:sp>
          <p:nvSpPr>
            <p:cNvPr id="48" name="cab window"/>
            <p:cNvSpPr/>
            <p:nvPr/>
          </p:nvSpPr>
          <p:spPr>
            <a:xfrm>
              <a:off x="3267151" y="2244852"/>
              <a:ext cx="100584" cy="110642"/>
            </a:xfrm>
            <a:prstGeom prst="rect">
              <a:avLst/>
            </a:prstGeom>
            <a:solidFill>
              <a:srgbClr val="1B1D21"/>
            </a:solidFill>
            <a:ln>
              <a:noFill/>
            </a:ln>
          </p:spPr>
          <p:txBody>
            <a:bodyPr rtlCol="0" anchor="ctr"/>
            <a:lstStyle/>
            <a:p>
              <a:pPr algn="ctr"/>
              <a:endParaRPr/>
            </a:p>
          </p:txBody>
        </p:sp>
        <p:sp>
          <p:nvSpPr>
            <p:cNvPr id="49" name="boiler"/>
            <p:cNvSpPr/>
            <p:nvPr/>
          </p:nvSpPr>
          <p:spPr>
            <a:xfrm>
              <a:off x="3443173" y="2224735"/>
              <a:ext cx="1031589" cy="251460"/>
            </a:xfrm>
            <a:prstGeom prst="roundRect">
              <a:avLst>
                <a:gd name="adj" fmla="val 22000"/>
              </a:avLst>
            </a:prstGeom>
            <a:solidFill>
              <a:srgbClr val="D6619B"/>
            </a:solidFill>
            <a:ln>
              <a:noFill/>
            </a:ln>
          </p:spPr>
          <p:txBody>
            <a:bodyPr rtlCol="0" anchor="ctr"/>
            <a:lstStyle/>
            <a:p>
              <a:pPr algn="ctr"/>
              <a:endParaRPr/>
            </a:p>
          </p:txBody>
        </p:sp>
        <p:sp>
          <p:nvSpPr>
            <p:cNvPr id="50" name="smokebox"/>
            <p:cNvSpPr/>
            <p:nvPr/>
          </p:nvSpPr>
          <p:spPr>
            <a:xfrm>
              <a:off x="4474762" y="2224735"/>
              <a:ext cx="120700" cy="251460"/>
            </a:xfrm>
            <a:prstGeom prst="roundRect">
              <a:avLst>
                <a:gd name="adj" fmla="val 10000"/>
              </a:avLst>
            </a:prstGeom>
            <a:solidFill>
              <a:srgbClr val="4A515B"/>
            </a:solidFill>
            <a:ln>
              <a:noFill/>
            </a:ln>
          </p:spPr>
          <p:txBody>
            <a:bodyPr rtlCol="0" anchor="ctr"/>
            <a:lstStyle/>
            <a:p>
              <a:pPr algn="ctr"/>
              <a:endParaRPr/>
            </a:p>
          </p:txBody>
        </p:sp>
        <p:sp>
          <p:nvSpPr>
            <p:cNvPr id="51" name="funnel stack"/>
            <p:cNvSpPr/>
            <p:nvPr/>
          </p:nvSpPr>
          <p:spPr>
            <a:xfrm>
              <a:off x="4469733" y="2053742"/>
              <a:ext cx="120701" cy="170993"/>
            </a:xfrm>
            <a:custGeom>
              <a:avLst/>
              <a:gdLst/>
              <a:ahLst/>
              <a:cxnLst/>
              <a:rect l="l" t="t" r="r" b="b"/>
              <a:pathLst>
                <a:path w="120701" h="170993">
                  <a:moveTo>
                    <a:pt x="40234" y="170993"/>
                  </a:moveTo>
                  <a:lnTo>
                    <a:pt x="40234" y="120701"/>
                  </a:lnTo>
                  <a:lnTo>
                    <a:pt x="0" y="0"/>
                  </a:lnTo>
                  <a:lnTo>
                    <a:pt x="120701" y="0"/>
                  </a:lnTo>
                  <a:lnTo>
                    <a:pt x="80467" y="120701"/>
                  </a:lnTo>
                  <a:lnTo>
                    <a:pt x="80467" y="170993"/>
                  </a:lnTo>
                  <a:close/>
                </a:path>
              </a:pathLst>
            </a:custGeom>
            <a:solidFill>
              <a:srgbClr val="3A3F47"/>
            </a:solidFill>
            <a:ln w="9525">
              <a:solidFill>
                <a:srgbClr val="9AA0A6"/>
              </a:solidFill>
            </a:ln>
          </p:spPr>
          <p:txBody>
            <a:bodyPr rtlCol="0" anchor="ctr"/>
            <a:lstStyle/>
            <a:p>
              <a:pPr algn="ctr"/>
              <a:endParaRPr/>
            </a:p>
          </p:txBody>
        </p:sp>
        <p:sp>
          <p:nvSpPr>
            <p:cNvPr id="52" name="headlamp"/>
            <p:cNvSpPr/>
            <p:nvPr/>
          </p:nvSpPr>
          <p:spPr>
            <a:xfrm>
              <a:off x="4565288" y="2144268"/>
              <a:ext cx="75438" cy="75438"/>
            </a:xfrm>
            <a:prstGeom prst="ellipse">
              <a:avLst/>
            </a:prstGeom>
            <a:solidFill>
              <a:srgbClr val="F2C14E"/>
            </a:solidFill>
            <a:ln w="12700">
              <a:solidFill>
                <a:srgbClr val="F2F2F2"/>
              </a:solidFill>
            </a:ln>
          </p:spPr>
          <p:txBody>
            <a:bodyPr rtlCol="0" anchor="ctr"/>
            <a:lstStyle/>
            <a:p>
              <a:pPr algn="ctr"/>
              <a:endParaRPr/>
            </a:p>
          </p:txBody>
        </p:sp>
        <p:sp>
          <p:nvSpPr>
            <p:cNvPr id="53" name="sand dome"/>
            <p:cNvSpPr/>
            <p:nvPr/>
          </p:nvSpPr>
          <p:spPr>
            <a:xfrm>
              <a:off x="3732018" y="2164384"/>
              <a:ext cx="90525" cy="60350"/>
            </a:xfrm>
            <a:prstGeom prst="roundRect">
              <a:avLst>
                <a:gd name="adj" fmla="val 33333"/>
              </a:avLst>
            </a:prstGeom>
            <a:solidFill>
              <a:srgbClr val="D6619B"/>
            </a:solidFill>
            <a:ln>
              <a:noFill/>
            </a:ln>
          </p:spPr>
          <p:txBody>
            <a:bodyPr rtlCol="0" anchor="ctr"/>
            <a:lstStyle/>
            <a:p>
              <a:pPr algn="ctr"/>
              <a:endParaRPr/>
            </a:p>
          </p:txBody>
        </p:sp>
        <p:sp>
          <p:nvSpPr>
            <p:cNvPr id="54" name="steam dome"/>
            <p:cNvSpPr/>
            <p:nvPr/>
          </p:nvSpPr>
          <p:spPr>
            <a:xfrm>
              <a:off x="4082758" y="2154326"/>
              <a:ext cx="100584" cy="70408"/>
            </a:xfrm>
            <a:prstGeom prst="roundRect">
              <a:avLst>
                <a:gd name="adj" fmla="val 28571"/>
              </a:avLst>
            </a:prstGeom>
            <a:solidFill>
              <a:srgbClr val="D6619B"/>
            </a:solidFill>
            <a:ln>
              <a:noFill/>
            </a:ln>
          </p:spPr>
          <p:txBody>
            <a:bodyPr rtlCol="0" anchor="ctr"/>
            <a:lstStyle/>
            <a:p>
              <a:pPr algn="ctr"/>
              <a:endParaRPr/>
            </a:p>
          </p:txBody>
        </p:sp>
        <p:sp>
          <p:nvSpPr>
            <p:cNvPr id="55" name="pilot"/>
            <p:cNvSpPr/>
            <p:nvPr/>
          </p:nvSpPr>
          <p:spPr>
            <a:xfrm>
              <a:off x="4595463" y="2541574"/>
              <a:ext cx="150876" cy="110643"/>
            </a:xfrm>
            <a:custGeom>
              <a:avLst/>
              <a:gdLst/>
              <a:ahLst/>
              <a:cxnLst/>
              <a:rect l="l" t="t" r="r" b="b"/>
              <a:pathLst>
                <a:path w="150876" h="110643">
                  <a:moveTo>
                    <a:pt x="0" y="0"/>
                  </a:moveTo>
                  <a:lnTo>
                    <a:pt x="150876" y="110643"/>
                  </a:lnTo>
                  <a:lnTo>
                    <a:pt x="0" y="110643"/>
                  </a:lnTo>
                  <a:close/>
                </a:path>
              </a:pathLst>
            </a:custGeom>
            <a:solidFill>
              <a:srgbClr val="3A3F47"/>
            </a:solidFill>
            <a:ln w="12700">
              <a:solidFill>
                <a:srgbClr val="9AA0A6"/>
              </a:solidFill>
            </a:ln>
          </p:spPr>
          <p:txBody>
            <a:bodyPr rtlCol="0" anchor="ctr"/>
            <a:lstStyle/>
            <a:p>
              <a:pPr algn="ctr"/>
              <a:endParaRPr/>
            </a:p>
          </p:txBody>
        </p:sp>
        <p:sp>
          <p:nvSpPr>
            <p:cNvPr id="56" name="bell"/>
            <p:cNvSpPr/>
            <p:nvPr/>
          </p:nvSpPr>
          <p:spPr>
            <a:xfrm>
              <a:off x="3928792" y="2104034"/>
              <a:ext cx="30175" cy="60350"/>
            </a:xfrm>
            <a:prstGeom prst="rect">
              <a:avLst/>
            </a:prstGeom>
            <a:solidFill>
              <a:srgbClr val="9AA0A6"/>
            </a:solidFill>
            <a:ln>
              <a:noFill/>
            </a:ln>
          </p:spPr>
          <p:txBody>
            <a:bodyPr rtlCol="0" anchor="ctr"/>
            <a:lstStyle/>
            <a:p>
              <a:pPr algn="ctr"/>
              <a:endParaRPr/>
            </a:p>
          </p:txBody>
        </p:sp>
        <p:sp>
          <p:nvSpPr>
            <p:cNvPr id="57" name="wheel"/>
            <p:cNvSpPr/>
            <p:nvPr/>
          </p:nvSpPr>
          <p:spPr>
            <a:xfrm>
              <a:off x="3236976" y="2486253"/>
              <a:ext cx="211226" cy="211226"/>
            </a:xfrm>
            <a:prstGeom prst="ellipse">
              <a:avLst/>
            </a:prstGeom>
            <a:solidFill>
              <a:srgbClr val="1B1D21"/>
            </a:solidFill>
            <a:ln w="19050">
              <a:solidFill>
                <a:srgbClr val="9AA0A6"/>
              </a:solidFill>
            </a:ln>
          </p:spPr>
          <p:txBody>
            <a:bodyPr rtlCol="0" anchor="ctr"/>
            <a:lstStyle/>
            <a:p>
              <a:pPr algn="ctr"/>
              <a:endParaRPr/>
            </a:p>
          </p:txBody>
        </p:sp>
        <p:sp>
          <p:nvSpPr>
            <p:cNvPr id="58" name="hub"/>
            <p:cNvSpPr/>
            <p:nvPr/>
          </p:nvSpPr>
          <p:spPr>
            <a:xfrm>
              <a:off x="3315129" y="2564407"/>
              <a:ext cx="54918" cy="54918"/>
            </a:xfrm>
            <a:prstGeom prst="ellipse">
              <a:avLst/>
            </a:prstGeom>
            <a:solidFill>
              <a:srgbClr val="9AA0A6"/>
            </a:solidFill>
            <a:ln>
              <a:noFill/>
            </a:ln>
          </p:spPr>
          <p:txBody>
            <a:bodyPr rtlCol="0" anchor="ctr"/>
            <a:lstStyle/>
            <a:p>
              <a:pPr algn="ctr"/>
              <a:endParaRPr/>
            </a:p>
          </p:txBody>
        </p:sp>
        <p:sp>
          <p:nvSpPr>
            <p:cNvPr id="59" name="wheel"/>
            <p:cNvSpPr/>
            <p:nvPr/>
          </p:nvSpPr>
          <p:spPr>
            <a:xfrm>
              <a:off x="3473549" y="2486253"/>
              <a:ext cx="211226" cy="211226"/>
            </a:xfrm>
            <a:prstGeom prst="ellipse">
              <a:avLst/>
            </a:prstGeom>
            <a:solidFill>
              <a:srgbClr val="1B1D21"/>
            </a:solidFill>
            <a:ln w="19050">
              <a:solidFill>
                <a:srgbClr val="9AA0A6"/>
              </a:solidFill>
            </a:ln>
          </p:spPr>
          <p:txBody>
            <a:bodyPr rtlCol="0" anchor="ctr"/>
            <a:lstStyle/>
            <a:p>
              <a:pPr algn="ctr"/>
              <a:endParaRPr/>
            </a:p>
          </p:txBody>
        </p:sp>
        <p:sp>
          <p:nvSpPr>
            <p:cNvPr id="60" name="hub"/>
            <p:cNvSpPr/>
            <p:nvPr/>
          </p:nvSpPr>
          <p:spPr>
            <a:xfrm>
              <a:off x="3551703" y="2564407"/>
              <a:ext cx="54918" cy="54918"/>
            </a:xfrm>
            <a:prstGeom prst="ellipse">
              <a:avLst/>
            </a:prstGeom>
            <a:solidFill>
              <a:srgbClr val="9AA0A6"/>
            </a:solidFill>
            <a:ln>
              <a:noFill/>
            </a:ln>
          </p:spPr>
          <p:txBody>
            <a:bodyPr rtlCol="0" anchor="ctr"/>
            <a:lstStyle/>
            <a:p>
              <a:pPr algn="ctr"/>
              <a:endParaRPr/>
            </a:p>
          </p:txBody>
        </p:sp>
        <p:sp>
          <p:nvSpPr>
            <p:cNvPr id="61" name="wheel"/>
            <p:cNvSpPr/>
            <p:nvPr/>
          </p:nvSpPr>
          <p:spPr>
            <a:xfrm>
              <a:off x="3710123" y="2486253"/>
              <a:ext cx="211226" cy="211226"/>
            </a:xfrm>
            <a:prstGeom prst="ellipse">
              <a:avLst/>
            </a:prstGeom>
            <a:solidFill>
              <a:srgbClr val="1B1D21"/>
            </a:solidFill>
            <a:ln w="19050">
              <a:solidFill>
                <a:srgbClr val="9AA0A6"/>
              </a:solidFill>
            </a:ln>
          </p:spPr>
          <p:txBody>
            <a:bodyPr rtlCol="0" anchor="ctr"/>
            <a:lstStyle/>
            <a:p>
              <a:pPr algn="ctr"/>
              <a:endParaRPr/>
            </a:p>
          </p:txBody>
        </p:sp>
        <p:sp>
          <p:nvSpPr>
            <p:cNvPr id="62" name="hub"/>
            <p:cNvSpPr/>
            <p:nvPr/>
          </p:nvSpPr>
          <p:spPr>
            <a:xfrm>
              <a:off x="3788276" y="2564407"/>
              <a:ext cx="54918" cy="54918"/>
            </a:xfrm>
            <a:prstGeom prst="ellipse">
              <a:avLst/>
            </a:prstGeom>
            <a:solidFill>
              <a:srgbClr val="9AA0A6"/>
            </a:solidFill>
            <a:ln>
              <a:noFill/>
            </a:ln>
          </p:spPr>
          <p:txBody>
            <a:bodyPr rtlCol="0" anchor="ctr"/>
            <a:lstStyle/>
            <a:p>
              <a:pPr algn="ctr"/>
              <a:endParaRPr/>
            </a:p>
          </p:txBody>
        </p:sp>
        <p:sp>
          <p:nvSpPr>
            <p:cNvPr id="63" name="wheel"/>
            <p:cNvSpPr/>
            <p:nvPr/>
          </p:nvSpPr>
          <p:spPr>
            <a:xfrm>
              <a:off x="3946696" y="2486253"/>
              <a:ext cx="211226" cy="211226"/>
            </a:xfrm>
            <a:prstGeom prst="ellipse">
              <a:avLst/>
            </a:prstGeom>
            <a:solidFill>
              <a:srgbClr val="1B1D21"/>
            </a:solidFill>
            <a:ln w="19050">
              <a:solidFill>
                <a:srgbClr val="9AA0A6"/>
              </a:solidFill>
            </a:ln>
          </p:spPr>
          <p:txBody>
            <a:bodyPr rtlCol="0" anchor="ctr"/>
            <a:lstStyle/>
            <a:p>
              <a:pPr algn="ctr"/>
              <a:endParaRPr/>
            </a:p>
          </p:txBody>
        </p:sp>
        <p:sp>
          <p:nvSpPr>
            <p:cNvPr id="64" name="hub"/>
            <p:cNvSpPr/>
            <p:nvPr/>
          </p:nvSpPr>
          <p:spPr>
            <a:xfrm>
              <a:off x="4024850" y="2564407"/>
              <a:ext cx="54918" cy="54918"/>
            </a:xfrm>
            <a:prstGeom prst="ellipse">
              <a:avLst/>
            </a:prstGeom>
            <a:solidFill>
              <a:srgbClr val="9AA0A6"/>
            </a:solidFill>
            <a:ln>
              <a:noFill/>
            </a:ln>
          </p:spPr>
          <p:txBody>
            <a:bodyPr rtlCol="0" anchor="ctr"/>
            <a:lstStyle/>
            <a:p>
              <a:pPr algn="ctr"/>
              <a:endParaRPr/>
            </a:p>
          </p:txBody>
        </p:sp>
        <p:sp>
          <p:nvSpPr>
            <p:cNvPr id="65" name="wheel"/>
            <p:cNvSpPr/>
            <p:nvPr/>
          </p:nvSpPr>
          <p:spPr>
            <a:xfrm>
              <a:off x="4394295" y="2596896"/>
              <a:ext cx="100584" cy="100584"/>
            </a:xfrm>
            <a:prstGeom prst="ellipse">
              <a:avLst/>
            </a:prstGeom>
            <a:solidFill>
              <a:srgbClr val="1B1D21"/>
            </a:solidFill>
            <a:ln w="19050">
              <a:solidFill>
                <a:srgbClr val="9AA0A6"/>
              </a:solidFill>
            </a:ln>
          </p:spPr>
          <p:txBody>
            <a:bodyPr rtlCol="0" anchor="ctr"/>
            <a:lstStyle/>
            <a:p>
              <a:pPr algn="ctr"/>
              <a:endParaRPr/>
            </a:p>
          </p:txBody>
        </p:sp>
        <p:sp>
          <p:nvSpPr>
            <p:cNvPr id="66" name="hub"/>
            <p:cNvSpPr/>
            <p:nvPr/>
          </p:nvSpPr>
          <p:spPr>
            <a:xfrm>
              <a:off x="4431511" y="2634112"/>
              <a:ext cx="26151" cy="26151"/>
            </a:xfrm>
            <a:prstGeom prst="ellipse">
              <a:avLst/>
            </a:prstGeom>
            <a:solidFill>
              <a:srgbClr val="9AA0A6"/>
            </a:solidFill>
            <a:ln>
              <a:noFill/>
            </a:ln>
          </p:spPr>
          <p:txBody>
            <a:bodyPr rtlCol="0" anchor="ctr"/>
            <a:lstStyle/>
            <a:p>
              <a:pPr algn="ctr"/>
              <a:endParaRPr/>
            </a:p>
          </p:txBody>
        </p:sp>
        <p:sp>
          <p:nvSpPr>
            <p:cNvPr id="67" name="wheel"/>
            <p:cNvSpPr/>
            <p:nvPr/>
          </p:nvSpPr>
          <p:spPr>
            <a:xfrm>
              <a:off x="4504937" y="2596896"/>
              <a:ext cx="100584" cy="100584"/>
            </a:xfrm>
            <a:prstGeom prst="ellipse">
              <a:avLst/>
            </a:prstGeom>
            <a:solidFill>
              <a:srgbClr val="1B1D21"/>
            </a:solidFill>
            <a:ln w="19050">
              <a:solidFill>
                <a:srgbClr val="9AA0A6"/>
              </a:solidFill>
            </a:ln>
          </p:spPr>
          <p:txBody>
            <a:bodyPr rtlCol="0" anchor="ctr"/>
            <a:lstStyle/>
            <a:p>
              <a:pPr algn="ctr"/>
              <a:endParaRPr/>
            </a:p>
          </p:txBody>
        </p:sp>
        <p:sp>
          <p:nvSpPr>
            <p:cNvPr id="68" name="hub"/>
            <p:cNvSpPr/>
            <p:nvPr/>
          </p:nvSpPr>
          <p:spPr>
            <a:xfrm>
              <a:off x="4542153" y="2634112"/>
              <a:ext cx="26151" cy="26151"/>
            </a:xfrm>
            <a:prstGeom prst="ellipse">
              <a:avLst/>
            </a:prstGeom>
            <a:solidFill>
              <a:srgbClr val="9AA0A6"/>
            </a:solidFill>
            <a:ln>
              <a:noFill/>
            </a:ln>
          </p:spPr>
          <p:txBody>
            <a:bodyPr rtlCol="0" anchor="ctr"/>
            <a:lstStyle/>
            <a:p>
              <a:pPr algn="ctr"/>
              <a:endParaRPr/>
            </a:p>
          </p:txBody>
        </p:sp>
        <p:sp>
          <p:nvSpPr>
            <p:cNvPr id="69" name="coupling rod"/>
            <p:cNvSpPr/>
            <p:nvPr/>
          </p:nvSpPr>
          <p:spPr>
            <a:xfrm>
              <a:off x="3342589" y="2534533"/>
              <a:ext cx="709720" cy="14081"/>
            </a:xfrm>
            <a:prstGeom prst="rect">
              <a:avLst/>
            </a:prstGeom>
            <a:solidFill>
              <a:srgbClr val="D0D4D8"/>
            </a:solidFill>
            <a:ln>
              <a:noFill/>
            </a:ln>
          </p:spPr>
          <p:txBody>
            <a:bodyPr rtlCol="0" anchor="ctr"/>
            <a:lstStyle/>
            <a:p>
              <a:pPr algn="ctr"/>
              <a:endParaRPr/>
            </a:p>
          </p:txBody>
        </p:sp>
        <p:sp>
          <p:nvSpPr>
            <p:cNvPr id="70" name="cylinder"/>
            <p:cNvSpPr/>
            <p:nvPr/>
          </p:nvSpPr>
          <p:spPr>
            <a:xfrm>
              <a:off x="8293608" y="2240280"/>
              <a:ext cx="1371600" cy="457200"/>
            </a:xfrm>
            <a:prstGeom prst="roundRect">
              <a:avLst>
                <a:gd name="adj" fmla="val 16000"/>
              </a:avLst>
            </a:prstGeom>
            <a:solidFill>
              <a:srgbClr val="9AA0A6"/>
            </a:solidFill>
            <a:ln>
              <a:noFill/>
            </a:ln>
          </p:spPr>
          <p:txBody>
            <a:bodyPr rtlCol="0" anchor="ctr"/>
            <a:lstStyle/>
            <a:p>
              <a:pPr algn="ctr"/>
              <a:endParaRPr/>
            </a:p>
          </p:txBody>
        </p:sp>
        <p:sp>
          <p:nvSpPr>
            <p:cNvPr id="71" name="piston rod"/>
            <p:cNvSpPr/>
            <p:nvPr/>
          </p:nvSpPr>
          <p:spPr>
            <a:xfrm>
              <a:off x="7946136" y="2414016"/>
              <a:ext cx="347472" cy="128016"/>
            </a:xfrm>
            <a:prstGeom prst="rect">
              <a:avLst/>
            </a:prstGeom>
            <a:solidFill>
              <a:srgbClr val="F2F2F2"/>
            </a:solidFill>
            <a:ln>
              <a:noFill/>
            </a:ln>
          </p:spPr>
          <p:txBody>
            <a:bodyPr rtlCol="0" anchor="ctr"/>
            <a:lstStyle/>
            <a:p>
              <a:pPr algn="ctr"/>
              <a:endParaRPr/>
            </a:p>
          </p:txBody>
        </p:sp>
        <p:sp>
          <p:nvSpPr>
            <p:cNvPr id="72" name="piston crosshead"/>
            <p:cNvSpPr/>
            <p:nvPr/>
          </p:nvSpPr>
          <p:spPr>
            <a:xfrm>
              <a:off x="7872983" y="2322576"/>
              <a:ext cx="91440" cy="310896"/>
            </a:xfrm>
            <a:prstGeom prst="rect">
              <a:avLst/>
            </a:prstGeom>
            <a:solidFill>
              <a:srgbClr val="F2F2F2"/>
            </a:solidFill>
            <a:ln>
              <a:noFill/>
            </a:ln>
          </p:spPr>
          <p:txBody>
            <a:bodyPr rtlCol="0" anchor="ctr"/>
            <a:lstStyle/>
            <a:p>
              <a:pPr algn="ctr"/>
              <a:endParaRPr/>
            </a:p>
          </p:txBody>
        </p:sp>
        <p:sp>
          <p:nvSpPr>
            <p:cNvPr id="73" name="steam puff"/>
            <p:cNvSpPr/>
            <p:nvPr/>
          </p:nvSpPr>
          <p:spPr>
            <a:xfrm>
              <a:off x="8439912" y="1898294"/>
              <a:ext cx="384048" cy="268833"/>
            </a:xfrm>
            <a:prstGeom prst="ellipse">
              <a:avLst/>
            </a:prstGeom>
            <a:solidFill>
              <a:srgbClr val="F2F2F2">
                <a:alpha val="85000"/>
              </a:srgbClr>
            </a:solidFill>
            <a:ln>
              <a:noFill/>
            </a:ln>
          </p:spPr>
          <p:txBody>
            <a:bodyPr rtlCol="0" anchor="ctr"/>
            <a:lstStyle/>
            <a:p>
              <a:pPr algn="ctr"/>
              <a:endParaRPr/>
            </a:p>
          </p:txBody>
        </p:sp>
        <p:sp>
          <p:nvSpPr>
            <p:cNvPr id="74" name="steam puff"/>
            <p:cNvSpPr/>
            <p:nvPr/>
          </p:nvSpPr>
          <p:spPr>
            <a:xfrm>
              <a:off x="8769096" y="1700784"/>
              <a:ext cx="457200" cy="320040"/>
            </a:xfrm>
            <a:prstGeom prst="ellipse">
              <a:avLst/>
            </a:prstGeom>
            <a:solidFill>
              <a:srgbClr val="F2F2F2">
                <a:alpha val="85000"/>
              </a:srgbClr>
            </a:solidFill>
            <a:ln>
              <a:noFill/>
            </a:ln>
          </p:spPr>
          <p:txBody>
            <a:bodyPr rtlCol="0" anchor="ctr"/>
            <a:lstStyle/>
            <a:p>
              <a:pPr algn="ctr"/>
              <a:endParaRPr/>
            </a:p>
          </p:txBody>
        </p:sp>
        <p:sp>
          <p:nvSpPr>
            <p:cNvPr id="75" name="steam puff"/>
            <p:cNvSpPr/>
            <p:nvPr/>
          </p:nvSpPr>
          <p:spPr>
            <a:xfrm>
              <a:off x="9180576" y="1892808"/>
              <a:ext cx="365760" cy="256031"/>
            </a:xfrm>
            <a:prstGeom prst="ellipse">
              <a:avLst/>
            </a:prstGeom>
            <a:solidFill>
              <a:srgbClr val="F2F2F2">
                <a:alpha val="85000"/>
              </a:srgbClr>
            </a:solidFill>
            <a:ln>
              <a:noFill/>
            </a:ln>
          </p:spPr>
          <p:txBody>
            <a:bodyPr rtlCol="0" anchor="ctr"/>
            <a:lstStyle/>
            <a:p>
              <a:pPr algn="ctr"/>
              <a:endParaRPr/>
            </a:p>
          </p:txBody>
        </p:sp>
        <p:sp>
          <p:nvSpPr>
            <p:cNvPr id="76" name="pan label"/>
            <p:cNvSpPr txBox="1"/>
            <p:nvPr/>
          </p:nvSpPr>
          <p:spPr>
            <a:xfrm>
              <a:off x="1572768" y="2880360"/>
              <a:ext cx="329184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Heavy engine, heavy wagons</a:t>
              </a:r>
            </a:p>
          </p:txBody>
        </p:sp>
        <p:sp>
          <p:nvSpPr>
            <p:cNvPr id="77" name="pan label"/>
            <p:cNvSpPr txBox="1"/>
            <p:nvPr/>
          </p:nvSpPr>
          <p:spPr>
            <a:xfrm>
              <a:off x="7333488" y="2880360"/>
              <a:ext cx="329184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More power</a:t>
              </a:r>
            </a:p>
          </p:txBody>
        </p:sp>
        <p:sp>
          <p:nvSpPr>
            <p:cNvPr id="78" name="scale post"/>
            <p:cNvSpPr/>
            <p:nvPr/>
          </p:nvSpPr>
          <p:spPr>
            <a:xfrm>
              <a:off x="6025896" y="3429000"/>
              <a:ext cx="146304" cy="1417320"/>
            </a:xfrm>
            <a:prstGeom prst="rect">
              <a:avLst/>
            </a:prstGeom>
            <a:solidFill>
              <a:srgbClr val="9AA0A6"/>
            </a:solidFill>
            <a:ln>
              <a:noFill/>
            </a:ln>
          </p:spPr>
          <p:txBody>
            <a:bodyPr rtlCol="0" anchor="ctr"/>
            <a:lstStyle/>
            <a:p>
              <a:pPr algn="ctr"/>
              <a:endParaRPr/>
            </a:p>
          </p:txBody>
        </p:sp>
        <p:sp>
          <p:nvSpPr>
            <p:cNvPr id="79" name="scale base"/>
            <p:cNvSpPr/>
            <p:nvPr/>
          </p:nvSpPr>
          <p:spPr>
            <a:xfrm>
              <a:off x="5367528" y="4590288"/>
              <a:ext cx="1463040" cy="256032"/>
            </a:xfrm>
            <a:custGeom>
              <a:avLst/>
              <a:gdLst/>
              <a:ahLst/>
              <a:cxnLst/>
              <a:rect l="l" t="t" r="r" b="b"/>
              <a:pathLst>
                <a:path w="1463040" h="256032">
                  <a:moveTo>
                    <a:pt x="0" y="256032"/>
                  </a:moveTo>
                  <a:lnTo>
                    <a:pt x="1463040" y="256032"/>
                  </a:lnTo>
                  <a:lnTo>
                    <a:pt x="1188720" y="0"/>
                  </a:lnTo>
                  <a:lnTo>
                    <a:pt x="274320" y="0"/>
                  </a:lnTo>
                  <a:close/>
                </a:path>
              </a:pathLst>
            </a:custGeom>
            <a:solidFill>
              <a:srgbClr val="73787C"/>
            </a:solidFill>
            <a:ln w="19050">
              <a:solidFill>
                <a:srgbClr val="9AA0A6"/>
              </a:solidFill>
            </a:ln>
          </p:spPr>
          <p:txBody>
            <a:bodyPr rtlCol="0" anchor="ctr"/>
            <a:lstStyle/>
            <a:p>
              <a:pPr algn="ctr"/>
              <a:endParaRPr/>
            </a:p>
          </p:txBody>
        </p:sp>
        <p:sp>
          <p:nvSpPr>
            <p:cNvPr id="80" name="scale beam"/>
            <p:cNvSpPr/>
            <p:nvPr/>
          </p:nvSpPr>
          <p:spPr>
            <a:xfrm>
              <a:off x="3127248" y="3374136"/>
              <a:ext cx="5943600" cy="109728"/>
            </a:xfrm>
            <a:prstGeom prst="roundRect">
              <a:avLst>
                <a:gd name="adj" fmla="val 41666"/>
              </a:avLst>
            </a:prstGeom>
            <a:solidFill>
              <a:srgbClr val="9AA0A6"/>
            </a:solidFill>
            <a:ln>
              <a:noFill/>
            </a:ln>
          </p:spPr>
          <p:txBody>
            <a:bodyPr rtlCol="0" anchor="ctr"/>
            <a:lstStyle/>
            <a:p>
              <a:pPr algn="ctr"/>
              <a:endParaRPr/>
            </a:p>
          </p:txBody>
        </p:sp>
        <p:sp>
          <p:nvSpPr>
            <p:cNvPr id="81" name="scale pivot"/>
            <p:cNvSpPr/>
            <p:nvPr/>
          </p:nvSpPr>
          <p:spPr>
            <a:xfrm>
              <a:off x="5971032" y="3300984"/>
              <a:ext cx="256032" cy="256032"/>
            </a:xfrm>
            <a:prstGeom prst="ellipse">
              <a:avLst/>
            </a:prstGeom>
            <a:solidFill>
              <a:srgbClr val="F2C14E"/>
            </a:solidFill>
            <a:ln>
              <a:noFill/>
            </a:ln>
          </p:spPr>
          <p:txBody>
            <a:bodyPr rtlCol="0" anchor="ctr"/>
            <a:lstStyle/>
            <a:p>
              <a:pPr algn="ctr"/>
              <a:endParaRPr/>
            </a:p>
          </p:txBody>
        </p:sp>
        <p:cxnSp>
          <p:nvCxnSpPr>
            <p:cNvPr id="82" name="scale string"/>
            <p:cNvCxnSpPr/>
            <p:nvPr/>
          </p:nvCxnSpPr>
          <p:spPr>
            <a:xfrm flipH="1">
              <a:off x="1737360" y="3429000"/>
              <a:ext cx="1481328" cy="1234440"/>
            </a:xfrm>
            <a:prstGeom prst="line">
              <a:avLst/>
            </a:prstGeom>
            <a:ln w="19050">
              <a:solidFill>
                <a:srgbClr val="9AA0A6"/>
              </a:solidFill>
            </a:ln>
          </p:spPr>
        </p:cxnSp>
        <p:cxnSp>
          <p:nvCxnSpPr>
            <p:cNvPr id="83" name="scale string"/>
            <p:cNvCxnSpPr/>
            <p:nvPr/>
          </p:nvCxnSpPr>
          <p:spPr>
            <a:xfrm>
              <a:off x="3218688" y="3429000"/>
              <a:ext cx="1481328" cy="1234440"/>
            </a:xfrm>
            <a:prstGeom prst="line">
              <a:avLst/>
            </a:prstGeom>
            <a:ln w="19050">
              <a:solidFill>
                <a:srgbClr val="9AA0A6"/>
              </a:solidFill>
            </a:ln>
          </p:spPr>
        </p:cxnSp>
        <p:sp>
          <p:nvSpPr>
            <p:cNvPr id="84" name="scale pan"/>
            <p:cNvSpPr/>
            <p:nvPr/>
          </p:nvSpPr>
          <p:spPr>
            <a:xfrm>
              <a:off x="1572768" y="4663440"/>
              <a:ext cx="3291840" cy="146304"/>
            </a:xfrm>
            <a:custGeom>
              <a:avLst/>
              <a:gdLst/>
              <a:ahLst/>
              <a:cxnLst/>
              <a:rect l="l" t="t" r="r" b="b"/>
              <a:pathLst>
                <a:path w="3291840" h="146304">
                  <a:moveTo>
                    <a:pt x="0" y="0"/>
                  </a:moveTo>
                  <a:lnTo>
                    <a:pt x="3291840" y="0"/>
                  </a:lnTo>
                  <a:lnTo>
                    <a:pt x="2962656" y="146304"/>
                  </a:lnTo>
                  <a:lnTo>
                    <a:pt x="329184" y="146304"/>
                  </a:lnTo>
                  <a:close/>
                </a:path>
              </a:pathLst>
            </a:custGeom>
            <a:solidFill>
              <a:srgbClr val="8A9095"/>
            </a:solidFill>
            <a:ln w="19050">
              <a:solidFill>
                <a:srgbClr val="9AA0A6"/>
              </a:solidFill>
            </a:ln>
          </p:spPr>
          <p:txBody>
            <a:bodyPr rtlCol="0" anchor="ctr"/>
            <a:lstStyle/>
            <a:p>
              <a:pPr algn="ctr"/>
              <a:endParaRPr/>
            </a:p>
          </p:txBody>
        </p:sp>
        <p:cxnSp>
          <p:nvCxnSpPr>
            <p:cNvPr id="85" name="scale string"/>
            <p:cNvCxnSpPr/>
            <p:nvPr/>
          </p:nvCxnSpPr>
          <p:spPr>
            <a:xfrm flipH="1">
              <a:off x="7498079" y="3429000"/>
              <a:ext cx="1481329" cy="1234440"/>
            </a:xfrm>
            <a:prstGeom prst="line">
              <a:avLst/>
            </a:prstGeom>
            <a:ln w="19050">
              <a:solidFill>
                <a:srgbClr val="9AA0A6"/>
              </a:solidFill>
            </a:ln>
          </p:spPr>
        </p:cxnSp>
        <p:cxnSp>
          <p:nvCxnSpPr>
            <p:cNvPr id="86" name="scale string"/>
            <p:cNvCxnSpPr/>
            <p:nvPr/>
          </p:nvCxnSpPr>
          <p:spPr>
            <a:xfrm>
              <a:off x="8979408" y="3429000"/>
              <a:ext cx="1481328" cy="1234440"/>
            </a:xfrm>
            <a:prstGeom prst="line">
              <a:avLst/>
            </a:prstGeom>
            <a:ln w="19050">
              <a:solidFill>
                <a:srgbClr val="9AA0A6"/>
              </a:solidFill>
            </a:ln>
          </p:spPr>
        </p:cxnSp>
        <p:sp>
          <p:nvSpPr>
            <p:cNvPr id="87" name="scale pan"/>
            <p:cNvSpPr/>
            <p:nvPr/>
          </p:nvSpPr>
          <p:spPr>
            <a:xfrm>
              <a:off x="7333488" y="4663440"/>
              <a:ext cx="3291840" cy="146304"/>
            </a:xfrm>
            <a:custGeom>
              <a:avLst/>
              <a:gdLst/>
              <a:ahLst/>
              <a:cxnLst/>
              <a:rect l="l" t="t" r="r" b="b"/>
              <a:pathLst>
                <a:path w="3291840" h="146304">
                  <a:moveTo>
                    <a:pt x="0" y="0"/>
                  </a:moveTo>
                  <a:lnTo>
                    <a:pt x="3291840" y="0"/>
                  </a:lnTo>
                  <a:lnTo>
                    <a:pt x="2962656" y="146304"/>
                  </a:lnTo>
                  <a:lnTo>
                    <a:pt x="329184" y="146304"/>
                  </a:lnTo>
                  <a:close/>
                </a:path>
              </a:pathLst>
            </a:custGeom>
            <a:solidFill>
              <a:srgbClr val="8A9095"/>
            </a:solidFill>
            <a:ln w="19050">
              <a:solidFill>
                <a:srgbClr val="9AA0A6"/>
              </a:solidFill>
            </a:ln>
          </p:spPr>
          <p:txBody>
            <a:bodyPr rtlCol="0" anchor="ctr"/>
            <a:lstStyle/>
            <a:p>
              <a:pPr algn="ctr"/>
              <a:endParaRPr/>
            </a:p>
          </p:txBody>
        </p:sp>
        <p:sp>
          <p:nvSpPr>
            <p:cNvPr id="88" name="wagon frame"/>
            <p:cNvSpPr/>
            <p:nvPr/>
          </p:nvSpPr>
          <p:spPr>
            <a:xfrm>
              <a:off x="2090318" y="4541824"/>
              <a:ext cx="382219" cy="34747"/>
            </a:xfrm>
            <a:prstGeom prst="rect">
              <a:avLst/>
            </a:prstGeom>
            <a:solidFill>
              <a:srgbClr val="3A3F47"/>
            </a:solidFill>
            <a:ln w="9525">
              <a:solidFill>
                <a:srgbClr val="9AA0A6"/>
              </a:solidFill>
            </a:ln>
          </p:spPr>
          <p:txBody>
            <a:bodyPr rtlCol="0" anchor="ctr"/>
            <a:lstStyle/>
            <a:p>
              <a:pPr algn="ctr"/>
              <a:endParaRPr/>
            </a:p>
          </p:txBody>
        </p:sp>
        <p:sp>
          <p:nvSpPr>
            <p:cNvPr id="89" name="flat bed"/>
            <p:cNvSpPr/>
            <p:nvPr/>
          </p:nvSpPr>
          <p:spPr>
            <a:xfrm>
              <a:off x="2090318" y="4507077"/>
              <a:ext cx="382219" cy="34747"/>
            </a:xfrm>
            <a:prstGeom prst="rect">
              <a:avLst/>
            </a:prstGeom>
            <a:solidFill>
              <a:srgbClr val="2BB5B0"/>
            </a:solidFill>
            <a:ln>
              <a:noFill/>
            </a:ln>
          </p:spPr>
          <p:txBody>
            <a:bodyPr rtlCol="0" anchor="ctr"/>
            <a:lstStyle/>
            <a:p>
              <a:pPr algn="ctr"/>
              <a:endParaRPr/>
            </a:p>
          </p:txBody>
        </p:sp>
        <p:sp>
          <p:nvSpPr>
            <p:cNvPr id="90" name="crate"/>
            <p:cNvSpPr/>
            <p:nvPr/>
          </p:nvSpPr>
          <p:spPr>
            <a:xfrm>
              <a:off x="2166762" y="4402836"/>
              <a:ext cx="107021" cy="104241"/>
            </a:xfrm>
            <a:prstGeom prst="roundRect">
              <a:avLst>
                <a:gd name="adj" fmla="val 3333"/>
              </a:avLst>
            </a:prstGeom>
            <a:solidFill>
              <a:srgbClr val="208784"/>
            </a:solidFill>
            <a:ln>
              <a:noFill/>
            </a:ln>
          </p:spPr>
          <p:txBody>
            <a:bodyPr rtlCol="0" anchor="ctr"/>
            <a:lstStyle/>
            <a:p>
              <a:pPr algn="ctr"/>
              <a:endParaRPr/>
            </a:p>
          </p:txBody>
        </p:sp>
        <p:sp>
          <p:nvSpPr>
            <p:cNvPr id="91" name="crate"/>
            <p:cNvSpPr/>
            <p:nvPr/>
          </p:nvSpPr>
          <p:spPr>
            <a:xfrm>
              <a:off x="2304361" y="4437583"/>
              <a:ext cx="91732" cy="69494"/>
            </a:xfrm>
            <a:prstGeom prst="roundRect">
              <a:avLst>
                <a:gd name="adj" fmla="val 4999"/>
              </a:avLst>
            </a:prstGeom>
            <a:solidFill>
              <a:srgbClr val="208784"/>
            </a:solidFill>
            <a:ln>
              <a:noFill/>
            </a:ln>
          </p:spPr>
          <p:txBody>
            <a:bodyPr rtlCol="0" anchor="ctr"/>
            <a:lstStyle/>
            <a:p>
              <a:pPr algn="ctr"/>
              <a:endParaRPr/>
            </a:p>
          </p:txBody>
        </p:sp>
        <p:sp>
          <p:nvSpPr>
            <p:cNvPr id="92" name="wheel"/>
            <p:cNvSpPr/>
            <p:nvPr/>
          </p:nvSpPr>
          <p:spPr>
            <a:xfrm>
              <a:off x="2116378" y="4559198"/>
              <a:ext cx="104241" cy="104241"/>
            </a:xfrm>
            <a:prstGeom prst="ellipse">
              <a:avLst/>
            </a:prstGeom>
            <a:solidFill>
              <a:srgbClr val="1B1D21"/>
            </a:solidFill>
            <a:ln w="15875">
              <a:solidFill>
                <a:srgbClr val="9AA0A6"/>
              </a:solidFill>
            </a:ln>
          </p:spPr>
          <p:txBody>
            <a:bodyPr rtlCol="0" anchor="ctr"/>
            <a:lstStyle/>
            <a:p>
              <a:pPr algn="ctr"/>
              <a:endParaRPr/>
            </a:p>
          </p:txBody>
        </p:sp>
        <p:sp>
          <p:nvSpPr>
            <p:cNvPr id="93" name="hub"/>
            <p:cNvSpPr/>
            <p:nvPr/>
          </p:nvSpPr>
          <p:spPr>
            <a:xfrm>
              <a:off x="2154948" y="4597767"/>
              <a:ext cx="27102" cy="27102"/>
            </a:xfrm>
            <a:prstGeom prst="ellipse">
              <a:avLst/>
            </a:prstGeom>
            <a:solidFill>
              <a:srgbClr val="9AA0A6"/>
            </a:solidFill>
            <a:ln>
              <a:noFill/>
            </a:ln>
          </p:spPr>
          <p:txBody>
            <a:bodyPr rtlCol="0" anchor="ctr"/>
            <a:lstStyle/>
            <a:p>
              <a:pPr algn="ctr"/>
              <a:endParaRPr/>
            </a:p>
          </p:txBody>
        </p:sp>
        <p:sp>
          <p:nvSpPr>
            <p:cNvPr id="94" name="wheel"/>
            <p:cNvSpPr/>
            <p:nvPr/>
          </p:nvSpPr>
          <p:spPr>
            <a:xfrm>
              <a:off x="2342235" y="4559198"/>
              <a:ext cx="104241" cy="104241"/>
            </a:xfrm>
            <a:prstGeom prst="ellipse">
              <a:avLst/>
            </a:prstGeom>
            <a:solidFill>
              <a:srgbClr val="1B1D21"/>
            </a:solidFill>
            <a:ln w="15875">
              <a:solidFill>
                <a:srgbClr val="9AA0A6"/>
              </a:solidFill>
            </a:ln>
          </p:spPr>
          <p:txBody>
            <a:bodyPr rtlCol="0" anchor="ctr"/>
            <a:lstStyle/>
            <a:p>
              <a:pPr algn="ctr"/>
              <a:endParaRPr/>
            </a:p>
          </p:txBody>
        </p:sp>
        <p:sp>
          <p:nvSpPr>
            <p:cNvPr id="95" name="hub"/>
            <p:cNvSpPr/>
            <p:nvPr/>
          </p:nvSpPr>
          <p:spPr>
            <a:xfrm>
              <a:off x="2380804" y="4597767"/>
              <a:ext cx="27102" cy="27102"/>
            </a:xfrm>
            <a:prstGeom prst="ellipse">
              <a:avLst/>
            </a:prstGeom>
            <a:solidFill>
              <a:srgbClr val="9AA0A6"/>
            </a:solidFill>
            <a:ln>
              <a:noFill/>
            </a:ln>
          </p:spPr>
          <p:txBody>
            <a:bodyPr rtlCol="0" anchor="ctr"/>
            <a:lstStyle/>
            <a:p>
              <a:pPr algn="ctr"/>
              <a:endParaRPr/>
            </a:p>
          </p:txBody>
        </p:sp>
        <p:sp>
          <p:nvSpPr>
            <p:cNvPr id="96" name="wagon frame"/>
            <p:cNvSpPr/>
            <p:nvPr/>
          </p:nvSpPr>
          <p:spPr>
            <a:xfrm>
              <a:off x="2518257" y="4541824"/>
              <a:ext cx="382219" cy="34747"/>
            </a:xfrm>
            <a:prstGeom prst="rect">
              <a:avLst/>
            </a:prstGeom>
            <a:solidFill>
              <a:srgbClr val="3A3F47"/>
            </a:solidFill>
            <a:ln w="9525">
              <a:solidFill>
                <a:srgbClr val="9AA0A6"/>
              </a:solidFill>
            </a:ln>
          </p:spPr>
          <p:txBody>
            <a:bodyPr rtlCol="0" anchor="ctr"/>
            <a:lstStyle/>
            <a:p>
              <a:pPr algn="ctr"/>
              <a:endParaRPr/>
            </a:p>
          </p:txBody>
        </p:sp>
        <p:sp>
          <p:nvSpPr>
            <p:cNvPr id="97" name="flat bed"/>
            <p:cNvSpPr/>
            <p:nvPr/>
          </p:nvSpPr>
          <p:spPr>
            <a:xfrm>
              <a:off x="2518257" y="4507077"/>
              <a:ext cx="382219" cy="34747"/>
            </a:xfrm>
            <a:prstGeom prst="rect">
              <a:avLst/>
            </a:prstGeom>
            <a:solidFill>
              <a:srgbClr val="2BB5B0"/>
            </a:solidFill>
            <a:ln>
              <a:noFill/>
            </a:ln>
          </p:spPr>
          <p:txBody>
            <a:bodyPr rtlCol="0" anchor="ctr"/>
            <a:lstStyle/>
            <a:p>
              <a:pPr algn="ctr"/>
              <a:endParaRPr/>
            </a:p>
          </p:txBody>
        </p:sp>
        <p:sp>
          <p:nvSpPr>
            <p:cNvPr id="98" name="crate"/>
            <p:cNvSpPr/>
            <p:nvPr/>
          </p:nvSpPr>
          <p:spPr>
            <a:xfrm>
              <a:off x="2594701" y="4402836"/>
              <a:ext cx="107021" cy="104241"/>
            </a:xfrm>
            <a:prstGeom prst="roundRect">
              <a:avLst>
                <a:gd name="adj" fmla="val 3333"/>
              </a:avLst>
            </a:prstGeom>
            <a:solidFill>
              <a:srgbClr val="208784"/>
            </a:solidFill>
            <a:ln>
              <a:noFill/>
            </a:ln>
          </p:spPr>
          <p:txBody>
            <a:bodyPr rtlCol="0" anchor="ctr"/>
            <a:lstStyle/>
            <a:p>
              <a:pPr algn="ctr"/>
              <a:endParaRPr/>
            </a:p>
          </p:txBody>
        </p:sp>
        <p:sp>
          <p:nvSpPr>
            <p:cNvPr id="99" name="crate"/>
            <p:cNvSpPr/>
            <p:nvPr/>
          </p:nvSpPr>
          <p:spPr>
            <a:xfrm>
              <a:off x="2732300" y="4437583"/>
              <a:ext cx="91732" cy="69494"/>
            </a:xfrm>
            <a:prstGeom prst="roundRect">
              <a:avLst>
                <a:gd name="adj" fmla="val 4999"/>
              </a:avLst>
            </a:prstGeom>
            <a:solidFill>
              <a:srgbClr val="208784"/>
            </a:solidFill>
            <a:ln>
              <a:noFill/>
            </a:ln>
          </p:spPr>
          <p:txBody>
            <a:bodyPr rtlCol="0" anchor="ctr"/>
            <a:lstStyle/>
            <a:p>
              <a:pPr algn="ctr"/>
              <a:endParaRPr/>
            </a:p>
          </p:txBody>
        </p:sp>
        <p:sp>
          <p:nvSpPr>
            <p:cNvPr id="100" name="wheel"/>
            <p:cNvSpPr/>
            <p:nvPr/>
          </p:nvSpPr>
          <p:spPr>
            <a:xfrm>
              <a:off x="2544318" y="4559198"/>
              <a:ext cx="104241" cy="104241"/>
            </a:xfrm>
            <a:prstGeom prst="ellipse">
              <a:avLst/>
            </a:prstGeom>
            <a:solidFill>
              <a:srgbClr val="1B1D21"/>
            </a:solidFill>
            <a:ln w="15875">
              <a:solidFill>
                <a:srgbClr val="9AA0A6"/>
              </a:solidFill>
            </a:ln>
          </p:spPr>
          <p:txBody>
            <a:bodyPr rtlCol="0" anchor="ctr"/>
            <a:lstStyle/>
            <a:p>
              <a:pPr algn="ctr"/>
              <a:endParaRPr/>
            </a:p>
          </p:txBody>
        </p:sp>
        <p:sp>
          <p:nvSpPr>
            <p:cNvPr id="101" name="hub"/>
            <p:cNvSpPr/>
            <p:nvPr/>
          </p:nvSpPr>
          <p:spPr>
            <a:xfrm>
              <a:off x="2582887" y="4597767"/>
              <a:ext cx="27102" cy="27102"/>
            </a:xfrm>
            <a:prstGeom prst="ellipse">
              <a:avLst/>
            </a:prstGeom>
            <a:solidFill>
              <a:srgbClr val="9AA0A6"/>
            </a:solidFill>
            <a:ln>
              <a:noFill/>
            </a:ln>
          </p:spPr>
          <p:txBody>
            <a:bodyPr rtlCol="0" anchor="ctr"/>
            <a:lstStyle/>
            <a:p>
              <a:pPr algn="ctr"/>
              <a:endParaRPr/>
            </a:p>
          </p:txBody>
        </p:sp>
        <p:sp>
          <p:nvSpPr>
            <p:cNvPr id="102" name="wheel"/>
            <p:cNvSpPr/>
            <p:nvPr/>
          </p:nvSpPr>
          <p:spPr>
            <a:xfrm>
              <a:off x="2770174" y="4559198"/>
              <a:ext cx="104241" cy="104241"/>
            </a:xfrm>
            <a:prstGeom prst="ellipse">
              <a:avLst/>
            </a:prstGeom>
            <a:solidFill>
              <a:srgbClr val="1B1D21"/>
            </a:solidFill>
            <a:ln w="15875">
              <a:solidFill>
                <a:srgbClr val="9AA0A6"/>
              </a:solidFill>
            </a:ln>
          </p:spPr>
          <p:txBody>
            <a:bodyPr rtlCol="0" anchor="ctr"/>
            <a:lstStyle/>
            <a:p>
              <a:pPr algn="ctr"/>
              <a:endParaRPr/>
            </a:p>
          </p:txBody>
        </p:sp>
        <p:sp>
          <p:nvSpPr>
            <p:cNvPr id="103" name="hub"/>
            <p:cNvSpPr/>
            <p:nvPr/>
          </p:nvSpPr>
          <p:spPr>
            <a:xfrm>
              <a:off x="2808744" y="4597767"/>
              <a:ext cx="27102" cy="27102"/>
            </a:xfrm>
            <a:prstGeom prst="ellipse">
              <a:avLst/>
            </a:prstGeom>
            <a:solidFill>
              <a:srgbClr val="9AA0A6"/>
            </a:solidFill>
            <a:ln>
              <a:noFill/>
            </a:ln>
          </p:spPr>
          <p:txBody>
            <a:bodyPr rtlCol="0" anchor="ctr"/>
            <a:lstStyle/>
            <a:p>
              <a:pPr algn="ctr"/>
              <a:endParaRPr/>
            </a:p>
          </p:txBody>
        </p:sp>
        <p:sp>
          <p:nvSpPr>
            <p:cNvPr id="104" name="tender frame"/>
            <p:cNvSpPr/>
            <p:nvPr/>
          </p:nvSpPr>
          <p:spPr>
            <a:xfrm>
              <a:off x="2991916" y="4537481"/>
              <a:ext cx="356158" cy="39090"/>
            </a:xfrm>
            <a:prstGeom prst="rect">
              <a:avLst/>
            </a:prstGeom>
            <a:solidFill>
              <a:srgbClr val="3A3F47"/>
            </a:solidFill>
            <a:ln w="9525">
              <a:solidFill>
                <a:srgbClr val="9AA0A6"/>
              </a:solidFill>
            </a:ln>
          </p:spPr>
          <p:txBody>
            <a:bodyPr rtlCol="0" anchor="ctr"/>
            <a:lstStyle/>
            <a:p>
              <a:pPr algn="ctr"/>
              <a:endParaRPr/>
            </a:p>
          </p:txBody>
        </p:sp>
        <p:sp>
          <p:nvSpPr>
            <p:cNvPr id="105" name="tender body"/>
            <p:cNvSpPr/>
            <p:nvPr/>
          </p:nvSpPr>
          <p:spPr>
            <a:xfrm>
              <a:off x="2991916" y="4394149"/>
              <a:ext cx="356158" cy="143332"/>
            </a:xfrm>
            <a:prstGeom prst="roundRect">
              <a:avLst>
                <a:gd name="adj" fmla="val 3030"/>
              </a:avLst>
            </a:prstGeom>
            <a:solidFill>
              <a:srgbClr val="2BB5B0"/>
            </a:solidFill>
            <a:ln>
              <a:noFill/>
            </a:ln>
          </p:spPr>
          <p:txBody>
            <a:bodyPr rtlCol="0" anchor="ctr"/>
            <a:lstStyle/>
            <a:p>
              <a:pPr algn="ctr"/>
              <a:endParaRPr/>
            </a:p>
          </p:txBody>
        </p:sp>
        <p:sp>
          <p:nvSpPr>
            <p:cNvPr id="106" name="tender coal"/>
            <p:cNvSpPr/>
            <p:nvPr/>
          </p:nvSpPr>
          <p:spPr>
            <a:xfrm>
              <a:off x="3004947" y="4333341"/>
              <a:ext cx="330098" cy="60808"/>
            </a:xfrm>
            <a:custGeom>
              <a:avLst/>
              <a:gdLst/>
              <a:ahLst/>
              <a:cxnLst/>
              <a:rect l="l" t="t" r="r" b="b"/>
              <a:pathLst>
                <a:path w="330098" h="60808">
                  <a:moveTo>
                    <a:pt x="0" y="60808"/>
                  </a:moveTo>
                  <a:lnTo>
                    <a:pt x="65151" y="4343"/>
                  </a:lnTo>
                  <a:lnTo>
                    <a:pt x="195453" y="0"/>
                  </a:lnTo>
                  <a:lnTo>
                    <a:pt x="330098" y="60808"/>
                  </a:lnTo>
                  <a:close/>
                </a:path>
              </a:pathLst>
            </a:custGeom>
            <a:solidFill>
              <a:srgbClr val="1B1D21"/>
            </a:solidFill>
            <a:ln w="12700">
              <a:solidFill>
                <a:srgbClr val="6B7078"/>
              </a:solidFill>
            </a:ln>
          </p:spPr>
          <p:txBody>
            <a:bodyPr rtlCol="0" anchor="ctr"/>
            <a:lstStyle/>
            <a:p>
              <a:pPr algn="ctr"/>
              <a:endParaRPr/>
            </a:p>
          </p:txBody>
        </p:sp>
        <p:sp>
          <p:nvSpPr>
            <p:cNvPr id="107" name="coupling"/>
            <p:cNvSpPr/>
            <p:nvPr/>
          </p:nvSpPr>
          <p:spPr>
            <a:xfrm>
              <a:off x="3348075" y="4485360"/>
              <a:ext cx="30403" cy="13030"/>
            </a:xfrm>
            <a:prstGeom prst="rect">
              <a:avLst/>
            </a:prstGeom>
            <a:solidFill>
              <a:srgbClr val="9AA0A6"/>
            </a:solidFill>
            <a:ln>
              <a:noFill/>
            </a:ln>
          </p:spPr>
          <p:txBody>
            <a:bodyPr rtlCol="0" anchor="ctr"/>
            <a:lstStyle/>
            <a:p>
              <a:pPr algn="ctr"/>
              <a:endParaRPr/>
            </a:p>
          </p:txBody>
        </p:sp>
        <p:sp>
          <p:nvSpPr>
            <p:cNvPr id="108" name="wheel"/>
            <p:cNvSpPr/>
            <p:nvPr/>
          </p:nvSpPr>
          <p:spPr>
            <a:xfrm>
              <a:off x="3017977" y="4541824"/>
              <a:ext cx="121615" cy="121615"/>
            </a:xfrm>
            <a:prstGeom prst="ellipse">
              <a:avLst/>
            </a:prstGeom>
            <a:solidFill>
              <a:srgbClr val="1B1D21"/>
            </a:solidFill>
            <a:ln w="19050">
              <a:solidFill>
                <a:srgbClr val="9AA0A6"/>
              </a:solidFill>
            </a:ln>
          </p:spPr>
          <p:txBody>
            <a:bodyPr rtlCol="0" anchor="ctr"/>
            <a:lstStyle/>
            <a:p>
              <a:pPr algn="ctr"/>
              <a:endParaRPr/>
            </a:p>
          </p:txBody>
        </p:sp>
        <p:sp>
          <p:nvSpPr>
            <p:cNvPr id="109" name="hub"/>
            <p:cNvSpPr/>
            <p:nvPr/>
          </p:nvSpPr>
          <p:spPr>
            <a:xfrm>
              <a:off x="3062974" y="4586822"/>
              <a:ext cx="31619" cy="31619"/>
            </a:xfrm>
            <a:prstGeom prst="ellipse">
              <a:avLst/>
            </a:prstGeom>
            <a:solidFill>
              <a:srgbClr val="9AA0A6"/>
            </a:solidFill>
            <a:ln>
              <a:noFill/>
            </a:ln>
          </p:spPr>
          <p:txBody>
            <a:bodyPr rtlCol="0" anchor="ctr"/>
            <a:lstStyle/>
            <a:p>
              <a:pPr algn="ctr"/>
              <a:endParaRPr/>
            </a:p>
          </p:txBody>
        </p:sp>
        <p:sp>
          <p:nvSpPr>
            <p:cNvPr id="110" name="wheel"/>
            <p:cNvSpPr/>
            <p:nvPr/>
          </p:nvSpPr>
          <p:spPr>
            <a:xfrm>
              <a:off x="3200400" y="4541824"/>
              <a:ext cx="121615" cy="121615"/>
            </a:xfrm>
            <a:prstGeom prst="ellipse">
              <a:avLst/>
            </a:prstGeom>
            <a:solidFill>
              <a:srgbClr val="1B1D21"/>
            </a:solidFill>
            <a:ln w="19050">
              <a:solidFill>
                <a:srgbClr val="9AA0A6"/>
              </a:solidFill>
            </a:ln>
          </p:spPr>
          <p:txBody>
            <a:bodyPr rtlCol="0" anchor="ctr"/>
            <a:lstStyle/>
            <a:p>
              <a:pPr algn="ctr"/>
              <a:endParaRPr/>
            </a:p>
          </p:txBody>
        </p:sp>
        <p:sp>
          <p:nvSpPr>
            <p:cNvPr id="111" name="hub"/>
            <p:cNvSpPr/>
            <p:nvPr/>
          </p:nvSpPr>
          <p:spPr>
            <a:xfrm>
              <a:off x="3245397" y="4586822"/>
              <a:ext cx="31619" cy="31619"/>
            </a:xfrm>
            <a:prstGeom prst="ellipse">
              <a:avLst/>
            </a:prstGeom>
            <a:solidFill>
              <a:srgbClr val="9AA0A6"/>
            </a:solidFill>
            <a:ln>
              <a:noFill/>
            </a:ln>
          </p:spPr>
          <p:txBody>
            <a:bodyPr rtlCol="0" anchor="ctr"/>
            <a:lstStyle/>
            <a:p>
              <a:pPr algn="ctr"/>
              <a:endParaRPr/>
            </a:p>
          </p:txBody>
        </p:sp>
        <p:sp>
          <p:nvSpPr>
            <p:cNvPr id="112" name="frame"/>
            <p:cNvSpPr/>
            <p:nvPr/>
          </p:nvSpPr>
          <p:spPr>
            <a:xfrm>
              <a:off x="3378479" y="4537481"/>
              <a:ext cx="946861" cy="39090"/>
            </a:xfrm>
            <a:prstGeom prst="rect">
              <a:avLst/>
            </a:prstGeom>
            <a:solidFill>
              <a:srgbClr val="3A3F47"/>
            </a:solidFill>
            <a:ln w="9525">
              <a:solidFill>
                <a:srgbClr val="9AA0A6"/>
              </a:solidFill>
            </a:ln>
          </p:spPr>
          <p:txBody>
            <a:bodyPr rtlCol="0" anchor="ctr"/>
            <a:lstStyle/>
            <a:p>
              <a:pPr algn="ctr"/>
              <a:endParaRPr/>
            </a:p>
          </p:txBody>
        </p:sp>
        <p:sp>
          <p:nvSpPr>
            <p:cNvPr id="113" name="cab"/>
            <p:cNvSpPr/>
            <p:nvPr/>
          </p:nvSpPr>
          <p:spPr>
            <a:xfrm>
              <a:off x="3378479" y="4298594"/>
              <a:ext cx="173736" cy="238886"/>
            </a:xfrm>
            <a:prstGeom prst="roundRect">
              <a:avLst>
                <a:gd name="adj" fmla="val 2500"/>
              </a:avLst>
            </a:prstGeom>
            <a:solidFill>
              <a:srgbClr val="2BB5B0"/>
            </a:solidFill>
            <a:ln>
              <a:noFill/>
            </a:ln>
          </p:spPr>
          <p:txBody>
            <a:bodyPr rtlCol="0" anchor="ctr"/>
            <a:lstStyle/>
            <a:p>
              <a:pPr algn="ctr"/>
              <a:endParaRPr/>
            </a:p>
          </p:txBody>
        </p:sp>
        <p:sp>
          <p:nvSpPr>
            <p:cNvPr id="114" name="cab roof"/>
            <p:cNvSpPr/>
            <p:nvPr/>
          </p:nvSpPr>
          <p:spPr>
            <a:xfrm>
              <a:off x="3369792" y="4276877"/>
              <a:ext cx="191109" cy="21717"/>
            </a:xfrm>
            <a:prstGeom prst="rect">
              <a:avLst/>
            </a:prstGeom>
            <a:solidFill>
              <a:srgbClr val="3A3F47"/>
            </a:solidFill>
            <a:ln w="9525">
              <a:solidFill>
                <a:srgbClr val="9AA0A6"/>
              </a:solidFill>
            </a:ln>
          </p:spPr>
          <p:txBody>
            <a:bodyPr rtlCol="0" anchor="ctr"/>
            <a:lstStyle/>
            <a:p>
              <a:pPr algn="ctr"/>
              <a:endParaRPr/>
            </a:p>
          </p:txBody>
        </p:sp>
        <p:sp>
          <p:nvSpPr>
            <p:cNvPr id="115" name="cab window"/>
            <p:cNvSpPr/>
            <p:nvPr/>
          </p:nvSpPr>
          <p:spPr>
            <a:xfrm>
              <a:off x="3421913" y="4333341"/>
              <a:ext cx="78181" cy="78181"/>
            </a:xfrm>
            <a:prstGeom prst="rect">
              <a:avLst/>
            </a:prstGeom>
            <a:solidFill>
              <a:srgbClr val="1B1D21"/>
            </a:solidFill>
            <a:ln>
              <a:noFill/>
            </a:ln>
          </p:spPr>
          <p:txBody>
            <a:bodyPr rtlCol="0" anchor="ctr"/>
            <a:lstStyle/>
            <a:p>
              <a:pPr algn="ctr"/>
              <a:endParaRPr/>
            </a:p>
          </p:txBody>
        </p:sp>
        <p:sp>
          <p:nvSpPr>
            <p:cNvPr id="116" name="boiler"/>
            <p:cNvSpPr/>
            <p:nvPr/>
          </p:nvSpPr>
          <p:spPr>
            <a:xfrm>
              <a:off x="3552215" y="4320311"/>
              <a:ext cx="686257" cy="173736"/>
            </a:xfrm>
            <a:prstGeom prst="roundRect">
              <a:avLst>
                <a:gd name="adj" fmla="val 25000"/>
              </a:avLst>
            </a:prstGeom>
            <a:solidFill>
              <a:srgbClr val="2BB5B0"/>
            </a:solidFill>
            <a:ln>
              <a:noFill/>
            </a:ln>
          </p:spPr>
          <p:txBody>
            <a:bodyPr rtlCol="0" anchor="ctr"/>
            <a:lstStyle/>
            <a:p>
              <a:pPr algn="ctr"/>
              <a:endParaRPr/>
            </a:p>
          </p:txBody>
        </p:sp>
        <p:sp>
          <p:nvSpPr>
            <p:cNvPr id="117" name="boiler band"/>
            <p:cNvSpPr/>
            <p:nvPr/>
          </p:nvSpPr>
          <p:spPr>
            <a:xfrm>
              <a:off x="3758092" y="4320311"/>
              <a:ext cx="6080" cy="173736"/>
            </a:xfrm>
            <a:prstGeom prst="rect">
              <a:avLst/>
            </a:prstGeom>
            <a:solidFill>
              <a:srgbClr val="1E827E"/>
            </a:solidFill>
            <a:ln>
              <a:noFill/>
            </a:ln>
          </p:spPr>
          <p:txBody>
            <a:bodyPr rtlCol="0" anchor="ctr"/>
            <a:lstStyle/>
            <a:p>
              <a:pPr algn="ctr"/>
              <a:endParaRPr/>
            </a:p>
          </p:txBody>
        </p:sp>
        <p:sp>
          <p:nvSpPr>
            <p:cNvPr id="118" name="boiler band"/>
            <p:cNvSpPr/>
            <p:nvPr/>
          </p:nvSpPr>
          <p:spPr>
            <a:xfrm>
              <a:off x="3929656" y="4320311"/>
              <a:ext cx="6080" cy="173736"/>
            </a:xfrm>
            <a:prstGeom prst="rect">
              <a:avLst/>
            </a:prstGeom>
            <a:solidFill>
              <a:srgbClr val="1E827E"/>
            </a:solidFill>
            <a:ln>
              <a:noFill/>
            </a:ln>
          </p:spPr>
          <p:txBody>
            <a:bodyPr rtlCol="0" anchor="ctr"/>
            <a:lstStyle/>
            <a:p>
              <a:pPr algn="ctr"/>
              <a:endParaRPr/>
            </a:p>
          </p:txBody>
        </p:sp>
        <p:sp>
          <p:nvSpPr>
            <p:cNvPr id="119" name="boiler band"/>
            <p:cNvSpPr/>
            <p:nvPr/>
          </p:nvSpPr>
          <p:spPr>
            <a:xfrm>
              <a:off x="4101221" y="4320311"/>
              <a:ext cx="6080" cy="173736"/>
            </a:xfrm>
            <a:prstGeom prst="rect">
              <a:avLst/>
            </a:prstGeom>
            <a:solidFill>
              <a:srgbClr val="1E827E"/>
            </a:solidFill>
            <a:ln>
              <a:noFill/>
            </a:ln>
          </p:spPr>
          <p:txBody>
            <a:bodyPr rtlCol="0" anchor="ctr"/>
            <a:lstStyle/>
            <a:p>
              <a:pPr algn="ctr"/>
              <a:endParaRPr/>
            </a:p>
          </p:txBody>
        </p:sp>
        <p:sp>
          <p:nvSpPr>
            <p:cNvPr id="120" name="smokebox"/>
            <p:cNvSpPr/>
            <p:nvPr/>
          </p:nvSpPr>
          <p:spPr>
            <a:xfrm>
              <a:off x="4238472" y="4320311"/>
              <a:ext cx="86868" cy="173736"/>
            </a:xfrm>
            <a:prstGeom prst="roundRect">
              <a:avLst>
                <a:gd name="adj" fmla="val 12000"/>
              </a:avLst>
            </a:prstGeom>
            <a:solidFill>
              <a:srgbClr val="4A515B"/>
            </a:solidFill>
            <a:ln>
              <a:noFill/>
            </a:ln>
          </p:spPr>
          <p:txBody>
            <a:bodyPr rtlCol="0" anchor="ctr"/>
            <a:lstStyle/>
            <a:p>
              <a:pPr algn="ctr"/>
              <a:endParaRPr/>
            </a:p>
          </p:txBody>
        </p:sp>
        <p:sp>
          <p:nvSpPr>
            <p:cNvPr id="121" name="chimney"/>
            <p:cNvSpPr/>
            <p:nvPr/>
          </p:nvSpPr>
          <p:spPr>
            <a:xfrm>
              <a:off x="4255846" y="4229100"/>
              <a:ext cx="52120" cy="91211"/>
            </a:xfrm>
            <a:prstGeom prst="rect">
              <a:avLst/>
            </a:prstGeom>
            <a:solidFill>
              <a:srgbClr val="3A3F47"/>
            </a:solidFill>
            <a:ln w="9525">
              <a:solidFill>
                <a:srgbClr val="9AA0A6"/>
              </a:solidFill>
            </a:ln>
          </p:spPr>
          <p:txBody>
            <a:bodyPr rtlCol="0" anchor="ctr"/>
            <a:lstStyle/>
            <a:p>
              <a:pPr algn="ctr"/>
              <a:endParaRPr/>
            </a:p>
          </p:txBody>
        </p:sp>
        <p:sp>
          <p:nvSpPr>
            <p:cNvPr id="122" name="chimney lip"/>
            <p:cNvSpPr/>
            <p:nvPr/>
          </p:nvSpPr>
          <p:spPr>
            <a:xfrm>
              <a:off x="4242816" y="4216069"/>
              <a:ext cx="78181" cy="21717"/>
            </a:xfrm>
            <a:prstGeom prst="rect">
              <a:avLst/>
            </a:prstGeom>
            <a:solidFill>
              <a:srgbClr val="3A3F47"/>
            </a:solidFill>
            <a:ln w="9525">
              <a:solidFill>
                <a:srgbClr val="9AA0A6"/>
              </a:solidFill>
            </a:ln>
          </p:spPr>
          <p:txBody>
            <a:bodyPr rtlCol="0" anchor="ctr"/>
            <a:lstStyle/>
            <a:p>
              <a:pPr algn="ctr"/>
              <a:endParaRPr/>
            </a:p>
          </p:txBody>
        </p:sp>
        <p:sp>
          <p:nvSpPr>
            <p:cNvPr id="123" name="dome"/>
            <p:cNvSpPr/>
            <p:nvPr/>
          </p:nvSpPr>
          <p:spPr>
            <a:xfrm>
              <a:off x="3826718" y="4272533"/>
              <a:ext cx="78181" cy="47777"/>
            </a:xfrm>
            <a:prstGeom prst="roundRect">
              <a:avLst>
                <a:gd name="adj" fmla="val 36363"/>
              </a:avLst>
            </a:prstGeom>
            <a:solidFill>
              <a:srgbClr val="2BB5B0"/>
            </a:solidFill>
            <a:ln>
              <a:noFill/>
            </a:ln>
          </p:spPr>
          <p:txBody>
            <a:bodyPr rtlCol="0" anchor="ctr"/>
            <a:lstStyle/>
            <a:p>
              <a:pPr algn="ctr"/>
              <a:endParaRPr/>
            </a:p>
          </p:txBody>
        </p:sp>
        <p:sp>
          <p:nvSpPr>
            <p:cNvPr id="124" name="wheel"/>
            <p:cNvSpPr/>
            <p:nvPr/>
          </p:nvSpPr>
          <p:spPr>
            <a:xfrm>
              <a:off x="3391509" y="4489704"/>
              <a:ext cx="173736" cy="173736"/>
            </a:xfrm>
            <a:prstGeom prst="ellipse">
              <a:avLst/>
            </a:prstGeom>
            <a:solidFill>
              <a:srgbClr val="1B1D21"/>
            </a:solidFill>
            <a:ln w="19050">
              <a:solidFill>
                <a:srgbClr val="9AA0A6"/>
              </a:solidFill>
            </a:ln>
          </p:spPr>
          <p:txBody>
            <a:bodyPr rtlCol="0" anchor="ctr"/>
            <a:lstStyle/>
            <a:p>
              <a:pPr algn="ctr"/>
              <a:endParaRPr/>
            </a:p>
          </p:txBody>
        </p:sp>
        <p:sp>
          <p:nvSpPr>
            <p:cNvPr id="125" name="hub"/>
            <p:cNvSpPr/>
            <p:nvPr/>
          </p:nvSpPr>
          <p:spPr>
            <a:xfrm>
              <a:off x="3455791" y="4553986"/>
              <a:ext cx="45171" cy="45171"/>
            </a:xfrm>
            <a:prstGeom prst="ellipse">
              <a:avLst/>
            </a:prstGeom>
            <a:solidFill>
              <a:srgbClr val="9AA0A6"/>
            </a:solidFill>
            <a:ln>
              <a:noFill/>
            </a:ln>
          </p:spPr>
          <p:txBody>
            <a:bodyPr rtlCol="0" anchor="ctr"/>
            <a:lstStyle/>
            <a:p>
              <a:pPr algn="ctr"/>
              <a:endParaRPr/>
            </a:p>
          </p:txBody>
        </p:sp>
        <p:sp>
          <p:nvSpPr>
            <p:cNvPr id="126" name="wheel"/>
            <p:cNvSpPr/>
            <p:nvPr/>
          </p:nvSpPr>
          <p:spPr>
            <a:xfrm>
              <a:off x="3586962" y="4489704"/>
              <a:ext cx="173736" cy="173736"/>
            </a:xfrm>
            <a:prstGeom prst="ellipse">
              <a:avLst/>
            </a:prstGeom>
            <a:solidFill>
              <a:srgbClr val="1B1D21"/>
            </a:solidFill>
            <a:ln w="19050">
              <a:solidFill>
                <a:srgbClr val="9AA0A6"/>
              </a:solidFill>
            </a:ln>
          </p:spPr>
          <p:txBody>
            <a:bodyPr rtlCol="0" anchor="ctr"/>
            <a:lstStyle/>
            <a:p>
              <a:pPr algn="ctr"/>
              <a:endParaRPr/>
            </a:p>
          </p:txBody>
        </p:sp>
        <p:sp>
          <p:nvSpPr>
            <p:cNvPr id="127" name="hub"/>
            <p:cNvSpPr/>
            <p:nvPr/>
          </p:nvSpPr>
          <p:spPr>
            <a:xfrm>
              <a:off x="3651244" y="4553986"/>
              <a:ext cx="45171" cy="45171"/>
            </a:xfrm>
            <a:prstGeom prst="ellipse">
              <a:avLst/>
            </a:prstGeom>
            <a:solidFill>
              <a:srgbClr val="9AA0A6"/>
            </a:solidFill>
            <a:ln>
              <a:noFill/>
            </a:ln>
          </p:spPr>
          <p:txBody>
            <a:bodyPr rtlCol="0" anchor="ctr"/>
            <a:lstStyle/>
            <a:p>
              <a:pPr algn="ctr"/>
              <a:endParaRPr/>
            </a:p>
          </p:txBody>
        </p:sp>
        <p:sp>
          <p:nvSpPr>
            <p:cNvPr id="128" name="wheel"/>
            <p:cNvSpPr/>
            <p:nvPr/>
          </p:nvSpPr>
          <p:spPr>
            <a:xfrm>
              <a:off x="3782415" y="4489704"/>
              <a:ext cx="173736" cy="173736"/>
            </a:xfrm>
            <a:prstGeom prst="ellipse">
              <a:avLst/>
            </a:prstGeom>
            <a:solidFill>
              <a:srgbClr val="1B1D21"/>
            </a:solidFill>
            <a:ln w="19050">
              <a:solidFill>
                <a:srgbClr val="9AA0A6"/>
              </a:solidFill>
            </a:ln>
          </p:spPr>
          <p:txBody>
            <a:bodyPr rtlCol="0" anchor="ctr"/>
            <a:lstStyle/>
            <a:p>
              <a:pPr algn="ctr"/>
              <a:endParaRPr/>
            </a:p>
          </p:txBody>
        </p:sp>
        <p:sp>
          <p:nvSpPr>
            <p:cNvPr id="129" name="hub"/>
            <p:cNvSpPr/>
            <p:nvPr/>
          </p:nvSpPr>
          <p:spPr>
            <a:xfrm>
              <a:off x="3846697" y="4553986"/>
              <a:ext cx="45171" cy="45171"/>
            </a:xfrm>
            <a:prstGeom prst="ellipse">
              <a:avLst/>
            </a:prstGeom>
            <a:solidFill>
              <a:srgbClr val="9AA0A6"/>
            </a:solidFill>
            <a:ln>
              <a:noFill/>
            </a:ln>
          </p:spPr>
          <p:txBody>
            <a:bodyPr rtlCol="0" anchor="ctr"/>
            <a:lstStyle/>
            <a:p>
              <a:pPr algn="ctr"/>
              <a:endParaRPr/>
            </a:p>
          </p:txBody>
        </p:sp>
        <p:sp>
          <p:nvSpPr>
            <p:cNvPr id="130" name="coupling rod"/>
            <p:cNvSpPr/>
            <p:nvPr/>
          </p:nvSpPr>
          <p:spPr>
            <a:xfrm>
              <a:off x="3478377" y="4527057"/>
              <a:ext cx="390906" cy="12161"/>
            </a:xfrm>
            <a:prstGeom prst="rect">
              <a:avLst/>
            </a:prstGeom>
            <a:solidFill>
              <a:srgbClr val="D0D4D8"/>
            </a:solidFill>
            <a:ln>
              <a:noFill/>
            </a:ln>
          </p:spPr>
          <p:txBody>
            <a:bodyPr rtlCol="0" anchor="ctr"/>
            <a:lstStyle/>
            <a:p>
              <a:pPr algn="ctr"/>
              <a:endParaRPr/>
            </a:p>
          </p:txBody>
        </p:sp>
        <p:sp>
          <p:nvSpPr>
            <p:cNvPr id="131" name="buffer beam"/>
            <p:cNvSpPr/>
            <p:nvPr/>
          </p:nvSpPr>
          <p:spPr>
            <a:xfrm>
              <a:off x="4325340" y="4498390"/>
              <a:ext cx="26060" cy="78181"/>
            </a:xfrm>
            <a:prstGeom prst="rect">
              <a:avLst/>
            </a:prstGeom>
            <a:solidFill>
              <a:srgbClr val="9AA0A6"/>
            </a:solidFill>
            <a:ln>
              <a:noFill/>
            </a:ln>
          </p:spPr>
          <p:txBody>
            <a:bodyPr rtlCol="0" anchor="ctr"/>
            <a:lstStyle/>
            <a:p>
              <a:pPr algn="ctr"/>
              <a:endParaRPr/>
            </a:p>
          </p:txBody>
        </p:sp>
        <p:sp>
          <p:nvSpPr>
            <p:cNvPr id="132" name="cylinder"/>
            <p:cNvSpPr/>
            <p:nvPr/>
          </p:nvSpPr>
          <p:spPr>
            <a:xfrm>
              <a:off x="8567928" y="4389120"/>
              <a:ext cx="822959" cy="274320"/>
            </a:xfrm>
            <a:prstGeom prst="roundRect">
              <a:avLst>
                <a:gd name="adj" fmla="val 16000"/>
              </a:avLst>
            </a:prstGeom>
            <a:solidFill>
              <a:srgbClr val="9AA0A6"/>
            </a:solidFill>
            <a:ln>
              <a:noFill/>
            </a:ln>
          </p:spPr>
          <p:txBody>
            <a:bodyPr rtlCol="0" anchor="ctr"/>
            <a:lstStyle/>
            <a:p>
              <a:pPr algn="ctr"/>
              <a:endParaRPr/>
            </a:p>
          </p:txBody>
        </p:sp>
        <p:sp>
          <p:nvSpPr>
            <p:cNvPr id="133" name="piston rod"/>
            <p:cNvSpPr/>
            <p:nvPr/>
          </p:nvSpPr>
          <p:spPr>
            <a:xfrm>
              <a:off x="8359444" y="4493361"/>
              <a:ext cx="208483" cy="76809"/>
            </a:xfrm>
            <a:prstGeom prst="rect">
              <a:avLst/>
            </a:prstGeom>
            <a:solidFill>
              <a:srgbClr val="F2F2F2"/>
            </a:solidFill>
            <a:ln>
              <a:noFill/>
            </a:ln>
          </p:spPr>
          <p:txBody>
            <a:bodyPr rtlCol="0" anchor="ctr"/>
            <a:lstStyle/>
            <a:p>
              <a:pPr algn="ctr"/>
              <a:endParaRPr/>
            </a:p>
          </p:txBody>
        </p:sp>
        <p:sp>
          <p:nvSpPr>
            <p:cNvPr id="134" name="piston crosshead"/>
            <p:cNvSpPr/>
            <p:nvPr/>
          </p:nvSpPr>
          <p:spPr>
            <a:xfrm>
              <a:off x="8315553" y="4438497"/>
              <a:ext cx="54864" cy="186537"/>
            </a:xfrm>
            <a:prstGeom prst="rect">
              <a:avLst/>
            </a:prstGeom>
            <a:solidFill>
              <a:srgbClr val="F2F2F2"/>
            </a:solidFill>
            <a:ln>
              <a:noFill/>
            </a:ln>
          </p:spPr>
          <p:txBody>
            <a:bodyPr rtlCol="0" anchor="ctr"/>
            <a:lstStyle/>
            <a:p>
              <a:pPr algn="ctr"/>
              <a:endParaRPr/>
            </a:p>
          </p:txBody>
        </p:sp>
        <p:sp>
          <p:nvSpPr>
            <p:cNvPr id="135" name="steam puff"/>
            <p:cNvSpPr/>
            <p:nvPr/>
          </p:nvSpPr>
          <p:spPr>
            <a:xfrm>
              <a:off x="8655710" y="4183928"/>
              <a:ext cx="230428" cy="161300"/>
            </a:xfrm>
            <a:prstGeom prst="ellipse">
              <a:avLst/>
            </a:prstGeom>
            <a:solidFill>
              <a:srgbClr val="F2F2F2">
                <a:alpha val="85000"/>
              </a:srgbClr>
            </a:solidFill>
            <a:ln>
              <a:noFill/>
            </a:ln>
          </p:spPr>
          <p:txBody>
            <a:bodyPr rtlCol="0" anchor="ctr"/>
            <a:lstStyle/>
            <a:p>
              <a:pPr algn="ctr"/>
              <a:endParaRPr/>
            </a:p>
          </p:txBody>
        </p:sp>
        <p:sp>
          <p:nvSpPr>
            <p:cNvPr id="136" name="steam puff"/>
            <p:cNvSpPr/>
            <p:nvPr/>
          </p:nvSpPr>
          <p:spPr>
            <a:xfrm>
              <a:off x="8853220" y="4065422"/>
              <a:ext cx="274320" cy="192024"/>
            </a:xfrm>
            <a:prstGeom prst="ellipse">
              <a:avLst/>
            </a:prstGeom>
            <a:solidFill>
              <a:srgbClr val="F2F2F2">
                <a:alpha val="85000"/>
              </a:srgbClr>
            </a:solidFill>
            <a:ln>
              <a:noFill/>
            </a:ln>
          </p:spPr>
          <p:txBody>
            <a:bodyPr rtlCol="0" anchor="ctr"/>
            <a:lstStyle/>
            <a:p>
              <a:pPr algn="ctr"/>
              <a:endParaRPr/>
            </a:p>
          </p:txBody>
        </p:sp>
        <p:sp>
          <p:nvSpPr>
            <p:cNvPr id="137" name="steam puff"/>
            <p:cNvSpPr/>
            <p:nvPr/>
          </p:nvSpPr>
          <p:spPr>
            <a:xfrm>
              <a:off x="9100108" y="4180636"/>
              <a:ext cx="219456" cy="153619"/>
            </a:xfrm>
            <a:prstGeom prst="ellipse">
              <a:avLst/>
            </a:prstGeom>
            <a:solidFill>
              <a:srgbClr val="F2F2F2">
                <a:alpha val="85000"/>
              </a:srgbClr>
            </a:solidFill>
            <a:ln>
              <a:noFill/>
            </a:ln>
          </p:spPr>
          <p:txBody>
            <a:bodyPr rtlCol="0" anchor="ctr"/>
            <a:lstStyle/>
            <a:p>
              <a:pPr algn="ctr"/>
              <a:endParaRPr/>
            </a:p>
          </p:txBody>
        </p:sp>
        <p:sp>
          <p:nvSpPr>
            <p:cNvPr id="138" name="pan label"/>
            <p:cNvSpPr txBox="1"/>
            <p:nvPr/>
          </p:nvSpPr>
          <p:spPr>
            <a:xfrm>
              <a:off x="1572768" y="4846320"/>
              <a:ext cx="329184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Lighter engine, light wagons</a:t>
              </a:r>
            </a:p>
          </p:txBody>
        </p:sp>
        <p:sp>
          <p:nvSpPr>
            <p:cNvPr id="139" name="pan label"/>
            <p:cNvSpPr txBox="1"/>
            <p:nvPr/>
          </p:nvSpPr>
          <p:spPr>
            <a:xfrm>
              <a:off x="7333488" y="4846320"/>
              <a:ext cx="329184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Less power</a:t>
              </a:r>
            </a:p>
          </p:txBody>
        </p:sp>
        <p:sp>
          <p:nvSpPr>
            <p:cNvPr id="140" name="illustration note"/>
            <p:cNvSpPr txBox="1"/>
            <p:nvPr/>
          </p:nvSpPr>
          <p:spPr>
            <a:xfrm>
              <a:off x="1828800" y="5303520"/>
              <a:ext cx="8503920" cy="329184"/>
            </a:xfrm>
            <a:prstGeom prst="rect">
              <a:avLst/>
            </a:prstGeom>
            <a:noFill/>
          </p:spPr>
          <p:txBody>
            <a:bodyPr wrap="square" lIns="18288" tIns="9144" rIns="18288" bIns="9144" anchor="ctr">
              <a:noAutofit/>
            </a:bodyPr>
            <a:lstStyle/>
            <a:p>
              <a:pPr algn="ctr"/>
              <a:r>
                <a:rPr lang="en-GB" sz="1800" b="1" i="0">
                  <a:solidFill>
                    <a:srgbClr val="A9B0B8"/>
                  </a:solidFill>
                  <a:latin typeface="Arial"/>
                </a:rPr>
                <a:t>Illustration only. No values chosen.</a:t>
              </a:r>
            </a:p>
          </p:txBody>
        </p:sp>
      </p:grpSp>
      <p:sp>
        <p:nvSpPr>
          <p:cNvPr id="14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42"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43"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Regions differ in weight and power. The aim is trains that are about equally useful.</a:t>
            </a:r>
          </a:p>
        </p:txBody>
      </p:sp>
      <p:sp>
        <p:nvSpPr>
          <p:cNvPr id="144"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8</a:t>
            </a:r>
          </a:p>
        </p:txBody>
      </p:sp>
    </p:spTree>
    <p:extLst>
      <p:ext uri="{BB962C8B-B14F-4D97-AF65-F5344CB8AC3E}">
        <p14:creationId xmlns:p14="http://schemas.microsoft.com/office/powerpoint/2010/main" val="38570309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41"/>
                                        </p:tgtEl>
                                        <p:attrNameLst>
                                          <p:attrName>style.visibility</p:attrName>
                                        </p:attrNameLst>
                                      </p:cBhvr>
                                      <p:to>
                                        <p:strVal val="visible"/>
                                      </p:to>
                                    </p:set>
                                    <p:animEffect transition="in" filter="fade">
                                      <p:cBhvr>
                                        <p:cTn id="10" dur="500"/>
                                        <p:tgtEl>
                                          <p:spTgt spid="141"/>
                                        </p:tgtEl>
                                      </p:cBhvr>
                                    </p:animEffect>
                                  </p:childTnLst>
                                </p:cTn>
                              </p:par>
                              <p:par>
                                <p:cTn id="11" presetID="10" presetClass="entr" presetSubtype="0" fill="hold" nodeType="withEffect">
                                  <p:stCondLst>
                                    <p:cond delay="600"/>
                                  </p:stCondLst>
                                  <p:childTnLst>
                                    <p:set>
                                      <p:cBhvr>
                                        <p:cTn id="12" dur="1" fill="hold">
                                          <p:stCondLst>
                                            <p:cond delay="0"/>
                                          </p:stCondLst>
                                        </p:cTn>
                                        <p:tgtEl>
                                          <p:spTgt spid="142"/>
                                        </p:tgtEl>
                                        <p:attrNameLst>
                                          <p:attrName>style.visibility</p:attrName>
                                        </p:attrNameLst>
                                      </p:cBhvr>
                                      <p:to>
                                        <p:strVal val="visible"/>
                                      </p:to>
                                    </p:set>
                                    <p:animEffect transition="in" filter="fade">
                                      <p:cBhvr>
                                        <p:cTn id="13" dur="500"/>
                                        <p:tgtEl>
                                          <p:spTgt spid="142"/>
                                        </p:tgtEl>
                                      </p:cBhvr>
                                    </p:animEffect>
                                  </p:childTnLst>
                                </p:cTn>
                              </p:par>
                              <p:par>
                                <p:cTn id="14" presetID="10" presetClass="entr" presetSubtype="0" fill="hold" nodeType="withEffect">
                                  <p:stCondLst>
                                    <p:cond delay="900"/>
                                  </p:stCondLst>
                                  <p:childTnLst>
                                    <p:set>
                                      <p:cBhvr>
                                        <p:cTn id="15" dur="1" fill="hold">
                                          <p:stCondLst>
                                            <p:cond delay="0"/>
                                          </p:stCondLst>
                                        </p:cTn>
                                        <p:tgtEl>
                                          <p:spTgt spid="143"/>
                                        </p:tgtEl>
                                        <p:attrNameLst>
                                          <p:attrName>style.visibility</p:attrName>
                                        </p:attrNameLst>
                                      </p:cBhvr>
                                      <p:to>
                                        <p:strVal val="visible"/>
                                      </p:to>
                                    </p:set>
                                    <p:animEffect transition="in" filter="fade">
                                      <p:cBhvr>
                                        <p:cTn id="16" dur="500"/>
                                        <p:tgtEl>
                                          <p:spTgt spid="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consist follows its lead engine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hree mini trains" descr="Three examples. A British engine pulls British-styled wagons. A North American engine pulls North American-styled wagons. A lone wagon beside a station takes the world style. Style is shown by a colour band, a shape and a label."/>
          <p:cNvGrpSpPr/>
          <p:nvPr/>
        </p:nvGrpSpPr>
        <p:grpSpPr>
          <a:xfrm>
            <a:off x="548640" y="1280160"/>
            <a:ext cx="11091672" cy="4206240"/>
            <a:chOff x="548640" y="1280160"/>
            <a:chExt cx="11091672" cy="4206240"/>
          </a:xfrm>
        </p:grpSpPr>
        <p:sp>
          <p:nvSpPr>
            <p:cNvPr id="5" name="row panel"/>
            <p:cNvSpPr/>
            <p:nvPr/>
          </p:nvSpPr>
          <p:spPr>
            <a:xfrm>
              <a:off x="548640" y="1280160"/>
              <a:ext cx="11091672"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sp>
          <p:nvSpPr>
            <p:cNvPr id="6" name="row panel"/>
            <p:cNvSpPr/>
            <p:nvPr/>
          </p:nvSpPr>
          <p:spPr>
            <a:xfrm>
              <a:off x="548640" y="2697480"/>
              <a:ext cx="11091672"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sp>
          <p:nvSpPr>
            <p:cNvPr id="7" name="row panel"/>
            <p:cNvSpPr/>
            <p:nvPr/>
          </p:nvSpPr>
          <p:spPr>
            <a:xfrm>
              <a:off x="548640" y="4114800"/>
              <a:ext cx="11091672" cy="1371600"/>
            </a:xfrm>
            <a:prstGeom prst="roundRect">
              <a:avLst>
                <a:gd name="adj" fmla="val 6666"/>
              </a:avLst>
            </a:prstGeom>
            <a:solidFill>
              <a:srgbClr val="2B2F36"/>
            </a:solidFill>
            <a:ln w="19050">
              <a:solidFill>
                <a:srgbClr val="4A515B"/>
              </a:solidFill>
            </a:ln>
          </p:spPr>
          <p:txBody>
            <a:bodyPr rtlCol="0" anchor="ctr"/>
            <a:lstStyle/>
            <a:p>
              <a:pPr algn="ctr"/>
              <a:endParaRPr/>
            </a:p>
          </p:txBody>
        </p:sp>
        <p:sp>
          <p:nvSpPr>
            <p:cNvPr id="8" name="wagon frame"/>
            <p:cNvSpPr/>
            <p:nvPr/>
          </p:nvSpPr>
          <p:spPr>
            <a:xfrm>
              <a:off x="868680" y="2048256"/>
              <a:ext cx="603504" cy="54863"/>
            </a:xfrm>
            <a:prstGeom prst="rect">
              <a:avLst/>
            </a:prstGeom>
            <a:solidFill>
              <a:srgbClr val="3A3F47"/>
            </a:solidFill>
            <a:ln w="9525">
              <a:solidFill>
                <a:srgbClr val="9AA0A6"/>
              </a:solidFill>
            </a:ln>
          </p:spPr>
          <p:txBody>
            <a:bodyPr rtlCol="0" anchor="ctr"/>
            <a:lstStyle/>
            <a:p>
              <a:pPr algn="ctr"/>
              <a:endParaRPr/>
            </a:p>
          </p:txBody>
        </p:sp>
        <p:sp>
          <p:nvSpPr>
            <p:cNvPr id="9" name="wagon body"/>
            <p:cNvSpPr/>
            <p:nvPr/>
          </p:nvSpPr>
          <p:spPr>
            <a:xfrm>
              <a:off x="868680" y="1760220"/>
              <a:ext cx="603504" cy="288036"/>
            </a:xfrm>
            <a:prstGeom prst="roundRect">
              <a:avLst>
                <a:gd name="adj" fmla="val 2380"/>
              </a:avLst>
            </a:prstGeom>
            <a:solidFill>
              <a:srgbClr val="2BB5B0"/>
            </a:solidFill>
            <a:ln>
              <a:noFill/>
            </a:ln>
          </p:spPr>
          <p:txBody>
            <a:bodyPr rtlCol="0" anchor="ctr"/>
            <a:lstStyle/>
            <a:p>
              <a:pPr algn="ctr"/>
              <a:endParaRPr/>
            </a:p>
          </p:txBody>
        </p:sp>
        <p:sp>
          <p:nvSpPr>
            <p:cNvPr id="10" name="wagon roof"/>
            <p:cNvSpPr/>
            <p:nvPr/>
          </p:nvSpPr>
          <p:spPr>
            <a:xfrm>
              <a:off x="854964" y="1725930"/>
              <a:ext cx="630936" cy="34290"/>
            </a:xfrm>
            <a:prstGeom prst="rect">
              <a:avLst/>
            </a:prstGeom>
            <a:solidFill>
              <a:srgbClr val="1E7E7B"/>
            </a:solidFill>
            <a:ln>
              <a:noFill/>
            </a:ln>
          </p:spPr>
          <p:txBody>
            <a:bodyPr rtlCol="0" anchor="ctr"/>
            <a:lstStyle/>
            <a:p>
              <a:pPr algn="ctr"/>
              <a:endParaRPr/>
            </a:p>
          </p:txBody>
        </p:sp>
        <p:sp>
          <p:nvSpPr>
            <p:cNvPr id="11" name="door line"/>
            <p:cNvSpPr/>
            <p:nvPr/>
          </p:nvSpPr>
          <p:spPr>
            <a:xfrm>
              <a:off x="1098011" y="1773936"/>
              <a:ext cx="16459" cy="260603"/>
            </a:xfrm>
            <a:prstGeom prst="rect">
              <a:avLst/>
            </a:prstGeom>
            <a:solidFill>
              <a:srgbClr val="196C69"/>
            </a:solidFill>
            <a:ln>
              <a:noFill/>
            </a:ln>
          </p:spPr>
          <p:txBody>
            <a:bodyPr rtlCol="0" anchor="ctr"/>
            <a:lstStyle/>
            <a:p>
              <a:pPr algn="ctr"/>
              <a:endParaRPr/>
            </a:p>
          </p:txBody>
        </p:sp>
        <p:sp>
          <p:nvSpPr>
            <p:cNvPr id="12" name="door line"/>
            <p:cNvSpPr/>
            <p:nvPr/>
          </p:nvSpPr>
          <p:spPr>
            <a:xfrm>
              <a:off x="1242852" y="1773936"/>
              <a:ext cx="16459" cy="260603"/>
            </a:xfrm>
            <a:prstGeom prst="rect">
              <a:avLst/>
            </a:prstGeom>
            <a:solidFill>
              <a:srgbClr val="196C69"/>
            </a:solidFill>
            <a:ln>
              <a:noFill/>
            </a:ln>
          </p:spPr>
          <p:txBody>
            <a:bodyPr rtlCol="0" anchor="ctr"/>
            <a:lstStyle/>
            <a:p>
              <a:pPr algn="ctr"/>
              <a:endParaRPr/>
            </a:p>
          </p:txBody>
        </p:sp>
        <p:sp>
          <p:nvSpPr>
            <p:cNvPr id="13" name="wheel"/>
            <p:cNvSpPr/>
            <p:nvPr/>
          </p:nvSpPr>
          <p:spPr>
            <a:xfrm>
              <a:off x="909828" y="207568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14" name="hub"/>
            <p:cNvSpPr/>
            <p:nvPr/>
          </p:nvSpPr>
          <p:spPr>
            <a:xfrm>
              <a:off x="970727" y="2136587"/>
              <a:ext cx="42793" cy="42793"/>
            </a:xfrm>
            <a:prstGeom prst="ellipse">
              <a:avLst/>
            </a:prstGeom>
            <a:solidFill>
              <a:srgbClr val="9AA0A6"/>
            </a:solidFill>
            <a:ln>
              <a:noFill/>
            </a:ln>
          </p:spPr>
          <p:txBody>
            <a:bodyPr rtlCol="0" anchor="ctr"/>
            <a:lstStyle/>
            <a:p>
              <a:pPr algn="ctr"/>
              <a:endParaRPr/>
            </a:p>
          </p:txBody>
        </p:sp>
        <p:sp>
          <p:nvSpPr>
            <p:cNvPr id="15" name="wheel"/>
            <p:cNvSpPr/>
            <p:nvPr/>
          </p:nvSpPr>
          <p:spPr>
            <a:xfrm>
              <a:off x="1266444" y="207568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16" name="hub"/>
            <p:cNvSpPr/>
            <p:nvPr/>
          </p:nvSpPr>
          <p:spPr>
            <a:xfrm>
              <a:off x="1327343" y="2136587"/>
              <a:ext cx="42793" cy="42793"/>
            </a:xfrm>
            <a:prstGeom prst="ellipse">
              <a:avLst/>
            </a:prstGeom>
            <a:solidFill>
              <a:srgbClr val="9AA0A6"/>
            </a:solidFill>
            <a:ln>
              <a:noFill/>
            </a:ln>
          </p:spPr>
          <p:txBody>
            <a:bodyPr rtlCol="0" anchor="ctr"/>
            <a:lstStyle/>
            <a:p>
              <a:pPr algn="ctr"/>
              <a:endParaRPr/>
            </a:p>
          </p:txBody>
        </p:sp>
        <p:sp>
          <p:nvSpPr>
            <p:cNvPr id="17" name="wagon frame"/>
            <p:cNvSpPr/>
            <p:nvPr/>
          </p:nvSpPr>
          <p:spPr>
            <a:xfrm>
              <a:off x="1536192" y="2048256"/>
              <a:ext cx="603504" cy="54863"/>
            </a:xfrm>
            <a:prstGeom prst="rect">
              <a:avLst/>
            </a:prstGeom>
            <a:solidFill>
              <a:srgbClr val="3A3F47"/>
            </a:solidFill>
            <a:ln w="9525">
              <a:solidFill>
                <a:srgbClr val="9AA0A6"/>
              </a:solidFill>
            </a:ln>
          </p:spPr>
          <p:txBody>
            <a:bodyPr rtlCol="0" anchor="ctr"/>
            <a:lstStyle/>
            <a:p>
              <a:pPr algn="ctr"/>
              <a:endParaRPr/>
            </a:p>
          </p:txBody>
        </p:sp>
        <p:sp>
          <p:nvSpPr>
            <p:cNvPr id="18" name="wagon body"/>
            <p:cNvSpPr/>
            <p:nvPr/>
          </p:nvSpPr>
          <p:spPr>
            <a:xfrm>
              <a:off x="1536192" y="1760220"/>
              <a:ext cx="603504" cy="288036"/>
            </a:xfrm>
            <a:prstGeom prst="roundRect">
              <a:avLst>
                <a:gd name="adj" fmla="val 2380"/>
              </a:avLst>
            </a:prstGeom>
            <a:solidFill>
              <a:srgbClr val="2BB5B0"/>
            </a:solidFill>
            <a:ln>
              <a:noFill/>
            </a:ln>
          </p:spPr>
          <p:txBody>
            <a:bodyPr rtlCol="0" anchor="ctr"/>
            <a:lstStyle/>
            <a:p>
              <a:pPr algn="ctr"/>
              <a:endParaRPr/>
            </a:p>
          </p:txBody>
        </p:sp>
        <p:sp>
          <p:nvSpPr>
            <p:cNvPr id="19" name="wagon roof"/>
            <p:cNvSpPr/>
            <p:nvPr/>
          </p:nvSpPr>
          <p:spPr>
            <a:xfrm>
              <a:off x="1522476" y="1725930"/>
              <a:ext cx="630936" cy="34290"/>
            </a:xfrm>
            <a:prstGeom prst="rect">
              <a:avLst/>
            </a:prstGeom>
            <a:solidFill>
              <a:srgbClr val="1E7E7B"/>
            </a:solidFill>
            <a:ln>
              <a:noFill/>
            </a:ln>
          </p:spPr>
          <p:txBody>
            <a:bodyPr rtlCol="0" anchor="ctr"/>
            <a:lstStyle/>
            <a:p>
              <a:pPr algn="ctr"/>
              <a:endParaRPr/>
            </a:p>
          </p:txBody>
        </p:sp>
        <p:sp>
          <p:nvSpPr>
            <p:cNvPr id="20" name="door line"/>
            <p:cNvSpPr/>
            <p:nvPr/>
          </p:nvSpPr>
          <p:spPr>
            <a:xfrm>
              <a:off x="1765523" y="1773936"/>
              <a:ext cx="16459" cy="260603"/>
            </a:xfrm>
            <a:prstGeom prst="rect">
              <a:avLst/>
            </a:prstGeom>
            <a:solidFill>
              <a:srgbClr val="196C69"/>
            </a:solidFill>
            <a:ln>
              <a:noFill/>
            </a:ln>
          </p:spPr>
          <p:txBody>
            <a:bodyPr rtlCol="0" anchor="ctr"/>
            <a:lstStyle/>
            <a:p>
              <a:pPr algn="ctr"/>
              <a:endParaRPr/>
            </a:p>
          </p:txBody>
        </p:sp>
        <p:sp>
          <p:nvSpPr>
            <p:cNvPr id="21" name="door line"/>
            <p:cNvSpPr/>
            <p:nvPr/>
          </p:nvSpPr>
          <p:spPr>
            <a:xfrm>
              <a:off x="1910364" y="1773936"/>
              <a:ext cx="16459" cy="260603"/>
            </a:xfrm>
            <a:prstGeom prst="rect">
              <a:avLst/>
            </a:prstGeom>
            <a:solidFill>
              <a:srgbClr val="196C69"/>
            </a:solidFill>
            <a:ln>
              <a:noFill/>
            </a:ln>
          </p:spPr>
          <p:txBody>
            <a:bodyPr rtlCol="0" anchor="ctr"/>
            <a:lstStyle/>
            <a:p>
              <a:pPr algn="ctr"/>
              <a:endParaRPr/>
            </a:p>
          </p:txBody>
        </p:sp>
        <p:sp>
          <p:nvSpPr>
            <p:cNvPr id="22" name="wheel"/>
            <p:cNvSpPr/>
            <p:nvPr/>
          </p:nvSpPr>
          <p:spPr>
            <a:xfrm>
              <a:off x="1577339" y="207568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23" name="hub"/>
            <p:cNvSpPr/>
            <p:nvPr/>
          </p:nvSpPr>
          <p:spPr>
            <a:xfrm>
              <a:off x="1638239" y="2136587"/>
              <a:ext cx="42793" cy="42793"/>
            </a:xfrm>
            <a:prstGeom prst="ellipse">
              <a:avLst/>
            </a:prstGeom>
            <a:solidFill>
              <a:srgbClr val="9AA0A6"/>
            </a:solidFill>
            <a:ln>
              <a:noFill/>
            </a:ln>
          </p:spPr>
          <p:txBody>
            <a:bodyPr rtlCol="0" anchor="ctr"/>
            <a:lstStyle/>
            <a:p>
              <a:pPr algn="ctr"/>
              <a:endParaRPr/>
            </a:p>
          </p:txBody>
        </p:sp>
        <p:sp>
          <p:nvSpPr>
            <p:cNvPr id="24" name="wheel"/>
            <p:cNvSpPr/>
            <p:nvPr/>
          </p:nvSpPr>
          <p:spPr>
            <a:xfrm>
              <a:off x="1933956" y="207568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25" name="hub"/>
            <p:cNvSpPr/>
            <p:nvPr/>
          </p:nvSpPr>
          <p:spPr>
            <a:xfrm>
              <a:off x="1994855" y="2136587"/>
              <a:ext cx="42793" cy="42793"/>
            </a:xfrm>
            <a:prstGeom prst="ellipse">
              <a:avLst/>
            </a:prstGeom>
            <a:solidFill>
              <a:srgbClr val="9AA0A6"/>
            </a:solidFill>
            <a:ln>
              <a:noFill/>
            </a:ln>
          </p:spPr>
          <p:txBody>
            <a:bodyPr rtlCol="0" anchor="ctr"/>
            <a:lstStyle/>
            <a:p>
              <a:pPr algn="ctr"/>
              <a:endParaRPr/>
            </a:p>
          </p:txBody>
        </p:sp>
        <p:sp>
          <p:nvSpPr>
            <p:cNvPr id="26" name="wagon frame"/>
            <p:cNvSpPr/>
            <p:nvPr/>
          </p:nvSpPr>
          <p:spPr>
            <a:xfrm>
              <a:off x="2203704" y="2048256"/>
              <a:ext cx="603504" cy="54863"/>
            </a:xfrm>
            <a:prstGeom prst="rect">
              <a:avLst/>
            </a:prstGeom>
            <a:solidFill>
              <a:srgbClr val="3A3F47"/>
            </a:solidFill>
            <a:ln w="9525">
              <a:solidFill>
                <a:srgbClr val="9AA0A6"/>
              </a:solidFill>
            </a:ln>
          </p:spPr>
          <p:txBody>
            <a:bodyPr rtlCol="0" anchor="ctr"/>
            <a:lstStyle/>
            <a:p>
              <a:pPr algn="ctr"/>
              <a:endParaRPr/>
            </a:p>
          </p:txBody>
        </p:sp>
        <p:sp>
          <p:nvSpPr>
            <p:cNvPr id="27" name="wagon body"/>
            <p:cNvSpPr/>
            <p:nvPr/>
          </p:nvSpPr>
          <p:spPr>
            <a:xfrm>
              <a:off x="2203704" y="1760220"/>
              <a:ext cx="603504" cy="288036"/>
            </a:xfrm>
            <a:prstGeom prst="roundRect">
              <a:avLst>
                <a:gd name="adj" fmla="val 2380"/>
              </a:avLst>
            </a:prstGeom>
            <a:solidFill>
              <a:srgbClr val="2BB5B0"/>
            </a:solidFill>
            <a:ln>
              <a:noFill/>
            </a:ln>
          </p:spPr>
          <p:txBody>
            <a:bodyPr rtlCol="0" anchor="ctr"/>
            <a:lstStyle/>
            <a:p>
              <a:pPr algn="ctr"/>
              <a:endParaRPr/>
            </a:p>
          </p:txBody>
        </p:sp>
        <p:sp>
          <p:nvSpPr>
            <p:cNvPr id="28" name="wagon roof"/>
            <p:cNvSpPr/>
            <p:nvPr/>
          </p:nvSpPr>
          <p:spPr>
            <a:xfrm>
              <a:off x="2189988" y="1725930"/>
              <a:ext cx="630936" cy="34290"/>
            </a:xfrm>
            <a:prstGeom prst="rect">
              <a:avLst/>
            </a:prstGeom>
            <a:solidFill>
              <a:srgbClr val="1E7E7B"/>
            </a:solidFill>
            <a:ln>
              <a:noFill/>
            </a:ln>
          </p:spPr>
          <p:txBody>
            <a:bodyPr rtlCol="0" anchor="ctr"/>
            <a:lstStyle/>
            <a:p>
              <a:pPr algn="ctr"/>
              <a:endParaRPr/>
            </a:p>
          </p:txBody>
        </p:sp>
        <p:sp>
          <p:nvSpPr>
            <p:cNvPr id="29" name="door line"/>
            <p:cNvSpPr/>
            <p:nvPr/>
          </p:nvSpPr>
          <p:spPr>
            <a:xfrm>
              <a:off x="2433035" y="1773936"/>
              <a:ext cx="16459" cy="260603"/>
            </a:xfrm>
            <a:prstGeom prst="rect">
              <a:avLst/>
            </a:prstGeom>
            <a:solidFill>
              <a:srgbClr val="196C69"/>
            </a:solidFill>
            <a:ln>
              <a:noFill/>
            </a:ln>
          </p:spPr>
          <p:txBody>
            <a:bodyPr rtlCol="0" anchor="ctr"/>
            <a:lstStyle/>
            <a:p>
              <a:pPr algn="ctr"/>
              <a:endParaRPr/>
            </a:p>
          </p:txBody>
        </p:sp>
        <p:sp>
          <p:nvSpPr>
            <p:cNvPr id="30" name="door line"/>
            <p:cNvSpPr/>
            <p:nvPr/>
          </p:nvSpPr>
          <p:spPr>
            <a:xfrm>
              <a:off x="2577876" y="1773936"/>
              <a:ext cx="16459" cy="260603"/>
            </a:xfrm>
            <a:prstGeom prst="rect">
              <a:avLst/>
            </a:prstGeom>
            <a:solidFill>
              <a:srgbClr val="196C69"/>
            </a:solidFill>
            <a:ln>
              <a:noFill/>
            </a:ln>
          </p:spPr>
          <p:txBody>
            <a:bodyPr rtlCol="0" anchor="ctr"/>
            <a:lstStyle/>
            <a:p>
              <a:pPr algn="ctr"/>
              <a:endParaRPr/>
            </a:p>
          </p:txBody>
        </p:sp>
        <p:sp>
          <p:nvSpPr>
            <p:cNvPr id="31" name="wheel"/>
            <p:cNvSpPr/>
            <p:nvPr/>
          </p:nvSpPr>
          <p:spPr>
            <a:xfrm>
              <a:off x="2244852" y="207568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32" name="hub"/>
            <p:cNvSpPr/>
            <p:nvPr/>
          </p:nvSpPr>
          <p:spPr>
            <a:xfrm>
              <a:off x="2305751" y="2136587"/>
              <a:ext cx="42793" cy="42793"/>
            </a:xfrm>
            <a:prstGeom prst="ellipse">
              <a:avLst/>
            </a:prstGeom>
            <a:solidFill>
              <a:srgbClr val="9AA0A6"/>
            </a:solidFill>
            <a:ln>
              <a:noFill/>
            </a:ln>
          </p:spPr>
          <p:txBody>
            <a:bodyPr rtlCol="0" anchor="ctr"/>
            <a:lstStyle/>
            <a:p>
              <a:pPr algn="ctr"/>
              <a:endParaRPr/>
            </a:p>
          </p:txBody>
        </p:sp>
        <p:sp>
          <p:nvSpPr>
            <p:cNvPr id="33" name="wheel"/>
            <p:cNvSpPr/>
            <p:nvPr/>
          </p:nvSpPr>
          <p:spPr>
            <a:xfrm>
              <a:off x="2601468" y="207568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34" name="hub"/>
            <p:cNvSpPr/>
            <p:nvPr/>
          </p:nvSpPr>
          <p:spPr>
            <a:xfrm>
              <a:off x="2662367" y="2136587"/>
              <a:ext cx="42793" cy="42793"/>
            </a:xfrm>
            <a:prstGeom prst="ellipse">
              <a:avLst/>
            </a:prstGeom>
            <a:solidFill>
              <a:srgbClr val="9AA0A6"/>
            </a:solidFill>
            <a:ln>
              <a:noFill/>
            </a:ln>
          </p:spPr>
          <p:txBody>
            <a:bodyPr rtlCol="0" anchor="ctr"/>
            <a:lstStyle/>
            <a:p>
              <a:pPr algn="ctr"/>
              <a:endParaRPr/>
            </a:p>
          </p:txBody>
        </p:sp>
        <p:sp>
          <p:nvSpPr>
            <p:cNvPr id="35" name="tender frame"/>
            <p:cNvSpPr/>
            <p:nvPr/>
          </p:nvSpPr>
          <p:spPr>
            <a:xfrm>
              <a:off x="2871215" y="2041398"/>
              <a:ext cx="562355" cy="61721"/>
            </a:xfrm>
            <a:prstGeom prst="rect">
              <a:avLst/>
            </a:prstGeom>
            <a:solidFill>
              <a:srgbClr val="3A3F47"/>
            </a:solidFill>
            <a:ln w="9525">
              <a:solidFill>
                <a:srgbClr val="9AA0A6"/>
              </a:solidFill>
            </a:ln>
          </p:spPr>
          <p:txBody>
            <a:bodyPr rtlCol="0" anchor="ctr"/>
            <a:lstStyle/>
            <a:p>
              <a:pPr algn="ctr"/>
              <a:endParaRPr/>
            </a:p>
          </p:txBody>
        </p:sp>
        <p:sp>
          <p:nvSpPr>
            <p:cNvPr id="36" name="tender body"/>
            <p:cNvSpPr/>
            <p:nvPr/>
          </p:nvSpPr>
          <p:spPr>
            <a:xfrm>
              <a:off x="2871215" y="1815084"/>
              <a:ext cx="562355" cy="226314"/>
            </a:xfrm>
            <a:prstGeom prst="roundRect">
              <a:avLst>
                <a:gd name="adj" fmla="val 3030"/>
              </a:avLst>
            </a:prstGeom>
            <a:solidFill>
              <a:srgbClr val="2BB5B0"/>
            </a:solidFill>
            <a:ln>
              <a:noFill/>
            </a:ln>
          </p:spPr>
          <p:txBody>
            <a:bodyPr rtlCol="0" anchor="ctr"/>
            <a:lstStyle/>
            <a:p>
              <a:pPr algn="ctr"/>
              <a:endParaRPr/>
            </a:p>
          </p:txBody>
        </p:sp>
        <p:sp>
          <p:nvSpPr>
            <p:cNvPr id="37" name="tender coal"/>
            <p:cNvSpPr/>
            <p:nvPr/>
          </p:nvSpPr>
          <p:spPr>
            <a:xfrm>
              <a:off x="2891789" y="1719072"/>
              <a:ext cx="521208" cy="96012"/>
            </a:xfrm>
            <a:custGeom>
              <a:avLst/>
              <a:gdLst/>
              <a:ahLst/>
              <a:cxnLst/>
              <a:rect l="l" t="t" r="r" b="b"/>
              <a:pathLst>
                <a:path w="521208" h="96012">
                  <a:moveTo>
                    <a:pt x="0" y="96012"/>
                  </a:moveTo>
                  <a:lnTo>
                    <a:pt x="102870" y="6858"/>
                  </a:lnTo>
                  <a:lnTo>
                    <a:pt x="308610" y="0"/>
                  </a:lnTo>
                  <a:lnTo>
                    <a:pt x="521208" y="96012"/>
                  </a:lnTo>
                  <a:close/>
                </a:path>
              </a:pathLst>
            </a:custGeom>
            <a:solidFill>
              <a:srgbClr val="1B1D21"/>
            </a:solidFill>
            <a:ln w="12700">
              <a:solidFill>
                <a:srgbClr val="6B7078"/>
              </a:solidFill>
            </a:ln>
          </p:spPr>
          <p:txBody>
            <a:bodyPr rtlCol="0" anchor="ctr"/>
            <a:lstStyle/>
            <a:p>
              <a:pPr algn="ctr"/>
              <a:endParaRPr/>
            </a:p>
          </p:txBody>
        </p:sp>
        <p:sp>
          <p:nvSpPr>
            <p:cNvPr id="38" name="coupling"/>
            <p:cNvSpPr/>
            <p:nvPr/>
          </p:nvSpPr>
          <p:spPr>
            <a:xfrm>
              <a:off x="3433571" y="1959102"/>
              <a:ext cx="48006" cy="20573"/>
            </a:xfrm>
            <a:prstGeom prst="rect">
              <a:avLst/>
            </a:prstGeom>
            <a:solidFill>
              <a:srgbClr val="9AA0A6"/>
            </a:solidFill>
            <a:ln>
              <a:noFill/>
            </a:ln>
          </p:spPr>
          <p:txBody>
            <a:bodyPr rtlCol="0" anchor="ctr"/>
            <a:lstStyle/>
            <a:p>
              <a:pPr algn="ctr"/>
              <a:endParaRPr/>
            </a:p>
          </p:txBody>
        </p:sp>
        <p:sp>
          <p:nvSpPr>
            <p:cNvPr id="39" name="wheel"/>
            <p:cNvSpPr/>
            <p:nvPr/>
          </p:nvSpPr>
          <p:spPr>
            <a:xfrm>
              <a:off x="2912363" y="2048256"/>
              <a:ext cx="192024" cy="192024"/>
            </a:xfrm>
            <a:prstGeom prst="ellipse">
              <a:avLst/>
            </a:prstGeom>
            <a:solidFill>
              <a:srgbClr val="1B1D21"/>
            </a:solidFill>
            <a:ln w="19050">
              <a:solidFill>
                <a:srgbClr val="9AA0A6"/>
              </a:solidFill>
            </a:ln>
          </p:spPr>
          <p:txBody>
            <a:bodyPr rtlCol="0" anchor="ctr"/>
            <a:lstStyle/>
            <a:p>
              <a:pPr algn="ctr"/>
              <a:endParaRPr/>
            </a:p>
          </p:txBody>
        </p:sp>
        <p:sp>
          <p:nvSpPr>
            <p:cNvPr id="40" name="hub"/>
            <p:cNvSpPr/>
            <p:nvPr/>
          </p:nvSpPr>
          <p:spPr>
            <a:xfrm>
              <a:off x="2983412" y="2119304"/>
              <a:ext cx="49926" cy="49926"/>
            </a:xfrm>
            <a:prstGeom prst="ellipse">
              <a:avLst/>
            </a:prstGeom>
            <a:solidFill>
              <a:srgbClr val="9AA0A6"/>
            </a:solidFill>
            <a:ln>
              <a:noFill/>
            </a:ln>
          </p:spPr>
          <p:txBody>
            <a:bodyPr rtlCol="0" anchor="ctr"/>
            <a:lstStyle/>
            <a:p>
              <a:pPr algn="ctr"/>
              <a:endParaRPr/>
            </a:p>
          </p:txBody>
        </p:sp>
        <p:sp>
          <p:nvSpPr>
            <p:cNvPr id="41" name="wheel"/>
            <p:cNvSpPr/>
            <p:nvPr/>
          </p:nvSpPr>
          <p:spPr>
            <a:xfrm>
              <a:off x="3200399" y="2048256"/>
              <a:ext cx="192024" cy="192024"/>
            </a:xfrm>
            <a:prstGeom prst="ellipse">
              <a:avLst/>
            </a:prstGeom>
            <a:solidFill>
              <a:srgbClr val="1B1D21"/>
            </a:solidFill>
            <a:ln w="19050">
              <a:solidFill>
                <a:srgbClr val="9AA0A6"/>
              </a:solidFill>
            </a:ln>
          </p:spPr>
          <p:txBody>
            <a:bodyPr rtlCol="0" anchor="ctr"/>
            <a:lstStyle/>
            <a:p>
              <a:pPr algn="ctr"/>
              <a:endParaRPr/>
            </a:p>
          </p:txBody>
        </p:sp>
        <p:sp>
          <p:nvSpPr>
            <p:cNvPr id="42" name="hub"/>
            <p:cNvSpPr/>
            <p:nvPr/>
          </p:nvSpPr>
          <p:spPr>
            <a:xfrm>
              <a:off x="3271448" y="2119304"/>
              <a:ext cx="49926" cy="49926"/>
            </a:xfrm>
            <a:prstGeom prst="ellipse">
              <a:avLst/>
            </a:prstGeom>
            <a:solidFill>
              <a:srgbClr val="9AA0A6"/>
            </a:solidFill>
            <a:ln>
              <a:noFill/>
            </a:ln>
          </p:spPr>
          <p:txBody>
            <a:bodyPr rtlCol="0" anchor="ctr"/>
            <a:lstStyle/>
            <a:p>
              <a:pPr algn="ctr"/>
              <a:endParaRPr/>
            </a:p>
          </p:txBody>
        </p:sp>
        <p:sp>
          <p:nvSpPr>
            <p:cNvPr id="43" name="frame"/>
            <p:cNvSpPr/>
            <p:nvPr/>
          </p:nvSpPr>
          <p:spPr>
            <a:xfrm>
              <a:off x="3481577" y="2041398"/>
              <a:ext cx="1803654" cy="61721"/>
            </a:xfrm>
            <a:prstGeom prst="rect">
              <a:avLst/>
            </a:prstGeom>
            <a:solidFill>
              <a:srgbClr val="3A3F47"/>
            </a:solidFill>
            <a:ln w="9525">
              <a:solidFill>
                <a:srgbClr val="9AA0A6"/>
              </a:solidFill>
            </a:ln>
          </p:spPr>
          <p:txBody>
            <a:bodyPr rtlCol="0" anchor="ctr"/>
            <a:lstStyle/>
            <a:p>
              <a:pPr algn="ctr"/>
              <a:endParaRPr/>
            </a:p>
          </p:txBody>
        </p:sp>
        <p:sp>
          <p:nvSpPr>
            <p:cNvPr id="44" name="cab"/>
            <p:cNvSpPr/>
            <p:nvPr/>
          </p:nvSpPr>
          <p:spPr>
            <a:xfrm>
              <a:off x="3481577" y="1664208"/>
              <a:ext cx="274320" cy="377190"/>
            </a:xfrm>
            <a:prstGeom prst="roundRect">
              <a:avLst>
                <a:gd name="adj" fmla="val 2500"/>
              </a:avLst>
            </a:prstGeom>
            <a:solidFill>
              <a:srgbClr val="2BB5B0"/>
            </a:solidFill>
            <a:ln>
              <a:noFill/>
            </a:ln>
          </p:spPr>
          <p:txBody>
            <a:bodyPr rtlCol="0" anchor="ctr"/>
            <a:lstStyle/>
            <a:p>
              <a:pPr algn="ctr"/>
              <a:endParaRPr/>
            </a:p>
          </p:txBody>
        </p:sp>
        <p:sp>
          <p:nvSpPr>
            <p:cNvPr id="45" name="cab roof"/>
            <p:cNvSpPr/>
            <p:nvPr/>
          </p:nvSpPr>
          <p:spPr>
            <a:xfrm>
              <a:off x="3467861" y="1629918"/>
              <a:ext cx="301752" cy="34290"/>
            </a:xfrm>
            <a:prstGeom prst="rect">
              <a:avLst/>
            </a:prstGeom>
            <a:solidFill>
              <a:srgbClr val="3A3F47"/>
            </a:solidFill>
            <a:ln w="9525">
              <a:solidFill>
                <a:srgbClr val="9AA0A6"/>
              </a:solidFill>
            </a:ln>
          </p:spPr>
          <p:txBody>
            <a:bodyPr rtlCol="0" anchor="ctr"/>
            <a:lstStyle/>
            <a:p>
              <a:pPr algn="ctr"/>
              <a:endParaRPr/>
            </a:p>
          </p:txBody>
        </p:sp>
        <p:sp>
          <p:nvSpPr>
            <p:cNvPr id="46" name="cab window"/>
            <p:cNvSpPr/>
            <p:nvPr/>
          </p:nvSpPr>
          <p:spPr>
            <a:xfrm>
              <a:off x="3550157" y="1719072"/>
              <a:ext cx="123444" cy="123443"/>
            </a:xfrm>
            <a:prstGeom prst="rect">
              <a:avLst/>
            </a:prstGeom>
            <a:solidFill>
              <a:srgbClr val="1B1D21"/>
            </a:solidFill>
            <a:ln>
              <a:noFill/>
            </a:ln>
          </p:spPr>
          <p:txBody>
            <a:bodyPr rtlCol="0" anchor="ctr"/>
            <a:lstStyle/>
            <a:p>
              <a:pPr algn="ctr"/>
              <a:endParaRPr/>
            </a:p>
          </p:txBody>
        </p:sp>
        <p:sp>
          <p:nvSpPr>
            <p:cNvPr id="47" name="boiler"/>
            <p:cNvSpPr/>
            <p:nvPr/>
          </p:nvSpPr>
          <p:spPr>
            <a:xfrm>
              <a:off x="3755898" y="1698498"/>
              <a:ext cx="1392174" cy="274320"/>
            </a:xfrm>
            <a:prstGeom prst="roundRect">
              <a:avLst>
                <a:gd name="adj" fmla="val 25000"/>
              </a:avLst>
            </a:prstGeom>
            <a:solidFill>
              <a:srgbClr val="2BB5B0"/>
            </a:solidFill>
            <a:ln>
              <a:noFill/>
            </a:ln>
          </p:spPr>
          <p:txBody>
            <a:bodyPr rtlCol="0" anchor="ctr"/>
            <a:lstStyle/>
            <a:p>
              <a:pPr algn="ctr"/>
              <a:endParaRPr/>
            </a:p>
          </p:txBody>
        </p:sp>
        <p:sp>
          <p:nvSpPr>
            <p:cNvPr id="48" name="boiler band"/>
            <p:cNvSpPr/>
            <p:nvPr/>
          </p:nvSpPr>
          <p:spPr>
            <a:xfrm>
              <a:off x="4173550" y="1698498"/>
              <a:ext cx="9601" cy="274320"/>
            </a:xfrm>
            <a:prstGeom prst="rect">
              <a:avLst/>
            </a:prstGeom>
            <a:solidFill>
              <a:srgbClr val="1E827E"/>
            </a:solidFill>
            <a:ln>
              <a:noFill/>
            </a:ln>
          </p:spPr>
          <p:txBody>
            <a:bodyPr rtlCol="0" anchor="ctr"/>
            <a:lstStyle/>
            <a:p>
              <a:pPr algn="ctr"/>
              <a:endParaRPr/>
            </a:p>
          </p:txBody>
        </p:sp>
        <p:sp>
          <p:nvSpPr>
            <p:cNvPr id="49" name="boiler band"/>
            <p:cNvSpPr/>
            <p:nvPr/>
          </p:nvSpPr>
          <p:spPr>
            <a:xfrm>
              <a:off x="4521593" y="1698498"/>
              <a:ext cx="9601" cy="274320"/>
            </a:xfrm>
            <a:prstGeom prst="rect">
              <a:avLst/>
            </a:prstGeom>
            <a:solidFill>
              <a:srgbClr val="1E827E"/>
            </a:solidFill>
            <a:ln>
              <a:noFill/>
            </a:ln>
          </p:spPr>
          <p:txBody>
            <a:bodyPr rtlCol="0" anchor="ctr"/>
            <a:lstStyle/>
            <a:p>
              <a:pPr algn="ctr"/>
              <a:endParaRPr/>
            </a:p>
          </p:txBody>
        </p:sp>
        <p:sp>
          <p:nvSpPr>
            <p:cNvPr id="50" name="boiler band"/>
            <p:cNvSpPr/>
            <p:nvPr/>
          </p:nvSpPr>
          <p:spPr>
            <a:xfrm>
              <a:off x="4869637" y="1698498"/>
              <a:ext cx="9601" cy="274320"/>
            </a:xfrm>
            <a:prstGeom prst="rect">
              <a:avLst/>
            </a:prstGeom>
            <a:solidFill>
              <a:srgbClr val="1E827E"/>
            </a:solidFill>
            <a:ln>
              <a:noFill/>
            </a:ln>
          </p:spPr>
          <p:txBody>
            <a:bodyPr rtlCol="0" anchor="ctr"/>
            <a:lstStyle/>
            <a:p>
              <a:pPr algn="ctr"/>
              <a:endParaRPr/>
            </a:p>
          </p:txBody>
        </p:sp>
        <p:sp>
          <p:nvSpPr>
            <p:cNvPr id="51" name="smokebox"/>
            <p:cNvSpPr/>
            <p:nvPr/>
          </p:nvSpPr>
          <p:spPr>
            <a:xfrm>
              <a:off x="5148072" y="1698498"/>
              <a:ext cx="137160" cy="274320"/>
            </a:xfrm>
            <a:prstGeom prst="roundRect">
              <a:avLst>
                <a:gd name="adj" fmla="val 12000"/>
              </a:avLst>
            </a:prstGeom>
            <a:solidFill>
              <a:srgbClr val="4A515B"/>
            </a:solidFill>
            <a:ln>
              <a:noFill/>
            </a:ln>
          </p:spPr>
          <p:txBody>
            <a:bodyPr rtlCol="0" anchor="ctr"/>
            <a:lstStyle/>
            <a:p>
              <a:pPr algn="ctr"/>
              <a:endParaRPr/>
            </a:p>
          </p:txBody>
        </p:sp>
        <p:sp>
          <p:nvSpPr>
            <p:cNvPr id="52" name="chimney"/>
            <p:cNvSpPr/>
            <p:nvPr/>
          </p:nvSpPr>
          <p:spPr>
            <a:xfrm>
              <a:off x="5175504" y="1554480"/>
              <a:ext cx="82296" cy="144017"/>
            </a:xfrm>
            <a:prstGeom prst="rect">
              <a:avLst/>
            </a:prstGeom>
            <a:solidFill>
              <a:srgbClr val="3A3F47"/>
            </a:solidFill>
            <a:ln w="9525">
              <a:solidFill>
                <a:srgbClr val="9AA0A6"/>
              </a:solidFill>
            </a:ln>
          </p:spPr>
          <p:txBody>
            <a:bodyPr rtlCol="0" anchor="ctr"/>
            <a:lstStyle/>
            <a:p>
              <a:pPr algn="ctr"/>
              <a:endParaRPr/>
            </a:p>
          </p:txBody>
        </p:sp>
        <p:sp>
          <p:nvSpPr>
            <p:cNvPr id="53" name="chimney lip"/>
            <p:cNvSpPr/>
            <p:nvPr/>
          </p:nvSpPr>
          <p:spPr>
            <a:xfrm>
              <a:off x="5154929" y="1533906"/>
              <a:ext cx="123444" cy="34290"/>
            </a:xfrm>
            <a:prstGeom prst="rect">
              <a:avLst/>
            </a:prstGeom>
            <a:solidFill>
              <a:srgbClr val="3A3F47"/>
            </a:solidFill>
            <a:ln w="9525">
              <a:solidFill>
                <a:srgbClr val="9AA0A6"/>
              </a:solidFill>
            </a:ln>
          </p:spPr>
          <p:txBody>
            <a:bodyPr rtlCol="0" anchor="ctr"/>
            <a:lstStyle/>
            <a:p>
              <a:pPr algn="ctr"/>
              <a:endParaRPr/>
            </a:p>
          </p:txBody>
        </p:sp>
        <p:sp>
          <p:nvSpPr>
            <p:cNvPr id="54" name="dome"/>
            <p:cNvSpPr/>
            <p:nvPr/>
          </p:nvSpPr>
          <p:spPr>
            <a:xfrm>
              <a:off x="4312767" y="1623060"/>
              <a:ext cx="123444" cy="75437"/>
            </a:xfrm>
            <a:prstGeom prst="roundRect">
              <a:avLst>
                <a:gd name="adj" fmla="val 36363"/>
              </a:avLst>
            </a:prstGeom>
            <a:solidFill>
              <a:srgbClr val="2BB5B0"/>
            </a:solidFill>
            <a:ln>
              <a:noFill/>
            </a:ln>
          </p:spPr>
          <p:txBody>
            <a:bodyPr rtlCol="0" anchor="ctr"/>
            <a:lstStyle/>
            <a:p>
              <a:pPr algn="ctr"/>
              <a:endParaRPr/>
            </a:p>
          </p:txBody>
        </p:sp>
        <p:sp>
          <p:nvSpPr>
            <p:cNvPr id="55" name="wheel"/>
            <p:cNvSpPr/>
            <p:nvPr/>
          </p:nvSpPr>
          <p:spPr>
            <a:xfrm>
              <a:off x="3502151" y="1965960"/>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56" name="hub"/>
            <p:cNvSpPr/>
            <p:nvPr/>
          </p:nvSpPr>
          <p:spPr>
            <a:xfrm>
              <a:off x="3603650" y="2067458"/>
              <a:ext cx="71323" cy="71323"/>
            </a:xfrm>
            <a:prstGeom prst="ellipse">
              <a:avLst/>
            </a:prstGeom>
            <a:solidFill>
              <a:srgbClr val="9AA0A6"/>
            </a:solidFill>
            <a:ln>
              <a:noFill/>
            </a:ln>
          </p:spPr>
          <p:txBody>
            <a:bodyPr rtlCol="0" anchor="ctr"/>
            <a:lstStyle/>
            <a:p>
              <a:pPr algn="ctr"/>
              <a:endParaRPr/>
            </a:p>
          </p:txBody>
        </p:sp>
        <p:sp>
          <p:nvSpPr>
            <p:cNvPr id="57" name="wheel"/>
            <p:cNvSpPr/>
            <p:nvPr/>
          </p:nvSpPr>
          <p:spPr>
            <a:xfrm>
              <a:off x="3810761" y="1965960"/>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58" name="hub"/>
            <p:cNvSpPr/>
            <p:nvPr/>
          </p:nvSpPr>
          <p:spPr>
            <a:xfrm>
              <a:off x="3912260" y="2067458"/>
              <a:ext cx="71323" cy="71323"/>
            </a:xfrm>
            <a:prstGeom prst="ellipse">
              <a:avLst/>
            </a:prstGeom>
            <a:solidFill>
              <a:srgbClr val="9AA0A6"/>
            </a:solidFill>
            <a:ln>
              <a:noFill/>
            </a:ln>
          </p:spPr>
          <p:txBody>
            <a:bodyPr rtlCol="0" anchor="ctr"/>
            <a:lstStyle/>
            <a:p>
              <a:pPr algn="ctr"/>
              <a:endParaRPr/>
            </a:p>
          </p:txBody>
        </p:sp>
        <p:sp>
          <p:nvSpPr>
            <p:cNvPr id="59" name="wheel"/>
            <p:cNvSpPr/>
            <p:nvPr/>
          </p:nvSpPr>
          <p:spPr>
            <a:xfrm>
              <a:off x="4119371" y="1965960"/>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60" name="hub"/>
            <p:cNvSpPr/>
            <p:nvPr/>
          </p:nvSpPr>
          <p:spPr>
            <a:xfrm>
              <a:off x="4220870" y="2067458"/>
              <a:ext cx="71323" cy="71323"/>
            </a:xfrm>
            <a:prstGeom prst="ellipse">
              <a:avLst/>
            </a:prstGeom>
            <a:solidFill>
              <a:srgbClr val="9AA0A6"/>
            </a:solidFill>
            <a:ln>
              <a:noFill/>
            </a:ln>
          </p:spPr>
          <p:txBody>
            <a:bodyPr rtlCol="0" anchor="ctr"/>
            <a:lstStyle/>
            <a:p>
              <a:pPr algn="ctr"/>
              <a:endParaRPr/>
            </a:p>
          </p:txBody>
        </p:sp>
        <p:sp>
          <p:nvSpPr>
            <p:cNvPr id="61" name="wheel"/>
            <p:cNvSpPr/>
            <p:nvPr/>
          </p:nvSpPr>
          <p:spPr>
            <a:xfrm>
              <a:off x="4427981" y="1965960"/>
              <a:ext cx="274320" cy="274320"/>
            </a:xfrm>
            <a:prstGeom prst="ellipse">
              <a:avLst/>
            </a:prstGeom>
            <a:solidFill>
              <a:srgbClr val="1B1D21"/>
            </a:solidFill>
            <a:ln w="19050">
              <a:solidFill>
                <a:srgbClr val="9AA0A6"/>
              </a:solidFill>
            </a:ln>
          </p:spPr>
          <p:txBody>
            <a:bodyPr rtlCol="0" anchor="ctr"/>
            <a:lstStyle/>
            <a:p>
              <a:pPr algn="ctr"/>
              <a:endParaRPr/>
            </a:p>
          </p:txBody>
        </p:sp>
        <p:sp>
          <p:nvSpPr>
            <p:cNvPr id="62" name="hub"/>
            <p:cNvSpPr/>
            <p:nvPr/>
          </p:nvSpPr>
          <p:spPr>
            <a:xfrm>
              <a:off x="4529480" y="2067458"/>
              <a:ext cx="71323" cy="71323"/>
            </a:xfrm>
            <a:prstGeom prst="ellipse">
              <a:avLst/>
            </a:prstGeom>
            <a:solidFill>
              <a:srgbClr val="9AA0A6"/>
            </a:solidFill>
            <a:ln>
              <a:noFill/>
            </a:ln>
          </p:spPr>
          <p:txBody>
            <a:bodyPr rtlCol="0" anchor="ctr"/>
            <a:lstStyle/>
            <a:p>
              <a:pPr algn="ctr"/>
              <a:endParaRPr/>
            </a:p>
          </p:txBody>
        </p:sp>
        <p:sp>
          <p:nvSpPr>
            <p:cNvPr id="63" name="wheel"/>
            <p:cNvSpPr/>
            <p:nvPr/>
          </p:nvSpPr>
          <p:spPr>
            <a:xfrm>
              <a:off x="4805172" y="2089404"/>
              <a:ext cx="150876" cy="150876"/>
            </a:xfrm>
            <a:prstGeom prst="ellipse">
              <a:avLst/>
            </a:prstGeom>
            <a:solidFill>
              <a:srgbClr val="1B1D21"/>
            </a:solidFill>
            <a:ln w="19050">
              <a:solidFill>
                <a:srgbClr val="9AA0A6"/>
              </a:solidFill>
            </a:ln>
          </p:spPr>
          <p:txBody>
            <a:bodyPr rtlCol="0" anchor="ctr"/>
            <a:lstStyle/>
            <a:p>
              <a:pPr algn="ctr"/>
              <a:endParaRPr/>
            </a:p>
          </p:txBody>
        </p:sp>
        <p:sp>
          <p:nvSpPr>
            <p:cNvPr id="64" name="hub"/>
            <p:cNvSpPr/>
            <p:nvPr/>
          </p:nvSpPr>
          <p:spPr>
            <a:xfrm>
              <a:off x="4860996" y="2145228"/>
              <a:ext cx="39227" cy="39227"/>
            </a:xfrm>
            <a:prstGeom prst="ellipse">
              <a:avLst/>
            </a:prstGeom>
            <a:solidFill>
              <a:srgbClr val="9AA0A6"/>
            </a:solidFill>
            <a:ln>
              <a:noFill/>
            </a:ln>
          </p:spPr>
          <p:txBody>
            <a:bodyPr rtlCol="0" anchor="ctr"/>
            <a:lstStyle/>
            <a:p>
              <a:pPr algn="ctr"/>
              <a:endParaRPr/>
            </a:p>
          </p:txBody>
        </p:sp>
        <p:sp>
          <p:nvSpPr>
            <p:cNvPr id="65" name="coupling rod"/>
            <p:cNvSpPr/>
            <p:nvPr/>
          </p:nvSpPr>
          <p:spPr>
            <a:xfrm>
              <a:off x="3639311" y="2024938"/>
              <a:ext cx="925830" cy="19202"/>
            </a:xfrm>
            <a:prstGeom prst="rect">
              <a:avLst/>
            </a:prstGeom>
            <a:solidFill>
              <a:srgbClr val="D0D4D8"/>
            </a:solidFill>
            <a:ln>
              <a:noFill/>
            </a:ln>
          </p:spPr>
          <p:txBody>
            <a:bodyPr rtlCol="0" anchor="ctr"/>
            <a:lstStyle/>
            <a:p>
              <a:pPr algn="ctr"/>
              <a:endParaRPr/>
            </a:p>
          </p:txBody>
        </p:sp>
        <p:sp>
          <p:nvSpPr>
            <p:cNvPr id="66" name="buffer beam"/>
            <p:cNvSpPr/>
            <p:nvPr/>
          </p:nvSpPr>
          <p:spPr>
            <a:xfrm>
              <a:off x="5285231" y="1979676"/>
              <a:ext cx="41148" cy="123443"/>
            </a:xfrm>
            <a:prstGeom prst="rect">
              <a:avLst/>
            </a:prstGeom>
            <a:solidFill>
              <a:srgbClr val="9AA0A6"/>
            </a:solidFill>
            <a:ln>
              <a:noFill/>
            </a:ln>
          </p:spPr>
          <p:txBody>
            <a:bodyPr rtlCol="0" anchor="ctr"/>
            <a:lstStyle/>
            <a:p>
              <a:pPr algn="ctr"/>
              <a:endParaRPr/>
            </a:p>
          </p:txBody>
        </p:sp>
        <p:sp>
          <p:nvSpPr>
            <p:cNvPr id="67" name="rail"/>
            <p:cNvSpPr/>
            <p:nvPr/>
          </p:nvSpPr>
          <p:spPr>
            <a:xfrm>
              <a:off x="777240" y="2240280"/>
              <a:ext cx="4640579" cy="45720"/>
            </a:xfrm>
            <a:prstGeom prst="rect">
              <a:avLst/>
            </a:prstGeom>
            <a:solidFill>
              <a:srgbClr val="9AA0A6"/>
            </a:solidFill>
            <a:ln>
              <a:noFill/>
            </a:ln>
          </p:spPr>
          <p:txBody>
            <a:bodyPr rtlCol="0" anchor="ctr"/>
            <a:lstStyle/>
            <a:p>
              <a:pPr algn="ctr"/>
              <a:endParaRPr/>
            </a:p>
          </p:txBody>
        </p:sp>
        <p:sp>
          <p:nvSpPr>
            <p:cNvPr id="68" name="style band"/>
            <p:cNvSpPr/>
            <p:nvPr/>
          </p:nvSpPr>
          <p:spPr>
            <a:xfrm>
              <a:off x="868680" y="2331720"/>
              <a:ext cx="4457699" cy="274320"/>
            </a:xfrm>
            <a:prstGeom prst="roundRect">
              <a:avLst>
                <a:gd name="adj" fmla="val 16666"/>
              </a:avLst>
            </a:prstGeom>
            <a:solidFill>
              <a:srgbClr val="2BB5B0"/>
            </a:solidFill>
            <a:ln>
              <a:noFill/>
            </a:ln>
          </p:spPr>
          <p:txBody>
            <a:bodyPr wrap="square" lIns="54864" tIns="27432" rIns="54864" bIns="27432" rtlCol="0" anchor="ctr">
              <a:noAutofit/>
            </a:bodyPr>
            <a:lstStyle/>
            <a:p>
              <a:pPr algn="ctr"/>
              <a:r>
                <a:rPr lang="en-GB" sz="1400" b="1" i="0">
                  <a:solidFill>
                    <a:srgbClr val="101418"/>
                  </a:solidFill>
                  <a:latin typeface="Arial"/>
                </a:rPr>
                <a:t>British style</a:t>
              </a:r>
            </a:p>
          </p:txBody>
        </p:sp>
        <p:cxnSp>
          <p:nvCxnSpPr>
            <p:cNvPr id="69" name="lead pointer"/>
            <p:cNvCxnSpPr/>
            <p:nvPr/>
          </p:nvCxnSpPr>
          <p:spPr>
            <a:xfrm flipH="1">
              <a:off x="5463540" y="1828800"/>
              <a:ext cx="365759" cy="0"/>
            </a:xfrm>
            <a:prstGeom prst="line">
              <a:avLst/>
            </a:prstGeom>
            <a:ln w="31750">
              <a:solidFill>
                <a:srgbClr val="F28C28"/>
              </a:solidFill>
              <a:tailEnd type="triangle" w="med" len="med"/>
            </a:ln>
          </p:spPr>
        </p:cxnSp>
        <p:sp>
          <p:nvSpPr>
            <p:cNvPr id="70" name="lead label"/>
            <p:cNvSpPr txBox="1"/>
            <p:nvPr/>
          </p:nvSpPr>
          <p:spPr>
            <a:xfrm>
              <a:off x="5920740" y="1645919"/>
              <a:ext cx="2011680" cy="365760"/>
            </a:xfrm>
            <a:prstGeom prst="rect">
              <a:avLst/>
            </a:prstGeom>
            <a:noFill/>
          </p:spPr>
          <p:txBody>
            <a:bodyPr wrap="square" lIns="18288" tIns="9144" rIns="18288" bIns="9144" anchor="ctr">
              <a:noAutofit/>
            </a:bodyPr>
            <a:lstStyle/>
            <a:p>
              <a:pPr algn="l"/>
              <a:r>
                <a:rPr lang="en-GB" sz="1800" b="1" i="0">
                  <a:solidFill>
                    <a:srgbClr val="F2F2F2"/>
                  </a:solidFill>
                  <a:latin typeface="Arial"/>
                </a:rPr>
                <a:t>Lead engine</a:t>
              </a:r>
            </a:p>
          </p:txBody>
        </p:sp>
        <p:sp>
          <p:nvSpPr>
            <p:cNvPr id="71" name="wagon frame"/>
            <p:cNvSpPr/>
            <p:nvPr/>
          </p:nvSpPr>
          <p:spPr>
            <a:xfrm>
              <a:off x="868680" y="3465576"/>
              <a:ext cx="603504" cy="54863"/>
            </a:xfrm>
            <a:prstGeom prst="rect">
              <a:avLst/>
            </a:prstGeom>
            <a:solidFill>
              <a:srgbClr val="3A3F47"/>
            </a:solidFill>
            <a:ln w="9525">
              <a:solidFill>
                <a:srgbClr val="9AA0A6"/>
              </a:solidFill>
            </a:ln>
          </p:spPr>
          <p:txBody>
            <a:bodyPr rtlCol="0" anchor="ctr"/>
            <a:lstStyle/>
            <a:p>
              <a:pPr algn="ctr"/>
              <a:endParaRPr/>
            </a:p>
          </p:txBody>
        </p:sp>
        <p:sp>
          <p:nvSpPr>
            <p:cNvPr id="72" name="hopper body"/>
            <p:cNvSpPr/>
            <p:nvPr/>
          </p:nvSpPr>
          <p:spPr>
            <a:xfrm>
              <a:off x="868680" y="3122676"/>
              <a:ext cx="603504" cy="342900"/>
            </a:xfrm>
            <a:custGeom>
              <a:avLst/>
              <a:gdLst/>
              <a:ahLst/>
              <a:cxnLst/>
              <a:rect l="l" t="t" r="r" b="b"/>
              <a:pathLst>
                <a:path w="603504" h="342900">
                  <a:moveTo>
                    <a:pt x="0" y="0"/>
                  </a:moveTo>
                  <a:lnTo>
                    <a:pt x="603504" y="0"/>
                  </a:lnTo>
                  <a:lnTo>
                    <a:pt x="507492" y="342900"/>
                  </a:lnTo>
                  <a:lnTo>
                    <a:pt x="96012" y="342900"/>
                  </a:lnTo>
                  <a:close/>
                </a:path>
              </a:pathLst>
            </a:custGeom>
            <a:solidFill>
              <a:srgbClr val="D6619B"/>
            </a:solidFill>
            <a:ln>
              <a:noFill/>
            </a:ln>
          </p:spPr>
          <p:txBody>
            <a:bodyPr rtlCol="0" anchor="ctr"/>
            <a:lstStyle/>
            <a:p>
              <a:pPr algn="ctr"/>
              <a:endParaRPr/>
            </a:p>
          </p:txBody>
        </p:sp>
        <p:sp>
          <p:nvSpPr>
            <p:cNvPr id="73" name="hopper rim"/>
            <p:cNvSpPr/>
            <p:nvPr/>
          </p:nvSpPr>
          <p:spPr>
            <a:xfrm>
              <a:off x="868680" y="3115818"/>
              <a:ext cx="603504" cy="34290"/>
            </a:xfrm>
            <a:prstGeom prst="rect">
              <a:avLst/>
            </a:prstGeom>
            <a:solidFill>
              <a:srgbClr val="E088B4"/>
            </a:solidFill>
            <a:ln>
              <a:noFill/>
            </a:ln>
          </p:spPr>
          <p:txBody>
            <a:bodyPr rtlCol="0" anchor="ctr"/>
            <a:lstStyle/>
            <a:p>
              <a:pPr algn="ctr"/>
              <a:endParaRPr/>
            </a:p>
          </p:txBody>
        </p:sp>
        <p:sp>
          <p:nvSpPr>
            <p:cNvPr id="74" name="hopper hatch"/>
            <p:cNvSpPr/>
            <p:nvPr/>
          </p:nvSpPr>
          <p:spPr>
            <a:xfrm>
              <a:off x="1049731" y="3465576"/>
              <a:ext cx="120701" cy="41148"/>
            </a:xfrm>
            <a:custGeom>
              <a:avLst/>
              <a:gdLst/>
              <a:ahLst/>
              <a:cxnLst/>
              <a:rect l="l" t="t" r="r" b="b"/>
              <a:pathLst>
                <a:path w="120701" h="41148">
                  <a:moveTo>
                    <a:pt x="0" y="0"/>
                  </a:moveTo>
                  <a:lnTo>
                    <a:pt x="60350" y="41148"/>
                  </a:lnTo>
                  <a:lnTo>
                    <a:pt x="120701" y="0"/>
                  </a:lnTo>
                  <a:close/>
                </a:path>
              </a:pathLst>
            </a:custGeom>
            <a:solidFill>
              <a:srgbClr val="3A3F47"/>
            </a:solidFill>
            <a:ln>
              <a:noFill/>
            </a:ln>
          </p:spPr>
          <p:txBody>
            <a:bodyPr rtlCol="0" anchor="ctr"/>
            <a:lstStyle/>
            <a:p>
              <a:pPr algn="ctr"/>
              <a:endParaRPr/>
            </a:p>
          </p:txBody>
        </p:sp>
        <p:sp>
          <p:nvSpPr>
            <p:cNvPr id="75" name="hopper hatch"/>
            <p:cNvSpPr/>
            <p:nvPr/>
          </p:nvSpPr>
          <p:spPr>
            <a:xfrm>
              <a:off x="1200607" y="3465576"/>
              <a:ext cx="120700" cy="41148"/>
            </a:xfrm>
            <a:custGeom>
              <a:avLst/>
              <a:gdLst/>
              <a:ahLst/>
              <a:cxnLst/>
              <a:rect l="l" t="t" r="r" b="b"/>
              <a:pathLst>
                <a:path w="120700" h="41148">
                  <a:moveTo>
                    <a:pt x="0" y="0"/>
                  </a:moveTo>
                  <a:lnTo>
                    <a:pt x="60350" y="41148"/>
                  </a:lnTo>
                  <a:lnTo>
                    <a:pt x="120700" y="0"/>
                  </a:lnTo>
                  <a:close/>
                </a:path>
              </a:pathLst>
            </a:custGeom>
            <a:solidFill>
              <a:srgbClr val="3A3F47"/>
            </a:solidFill>
            <a:ln>
              <a:noFill/>
            </a:ln>
          </p:spPr>
          <p:txBody>
            <a:bodyPr rtlCol="0" anchor="ctr"/>
            <a:lstStyle/>
            <a:p>
              <a:pPr algn="ctr"/>
              <a:endParaRPr/>
            </a:p>
          </p:txBody>
        </p:sp>
        <p:sp>
          <p:nvSpPr>
            <p:cNvPr id="76" name="wheel"/>
            <p:cNvSpPr/>
            <p:nvPr/>
          </p:nvSpPr>
          <p:spPr>
            <a:xfrm>
              <a:off x="909828" y="349300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77" name="hub"/>
            <p:cNvSpPr/>
            <p:nvPr/>
          </p:nvSpPr>
          <p:spPr>
            <a:xfrm>
              <a:off x="970727" y="3553907"/>
              <a:ext cx="42793" cy="42793"/>
            </a:xfrm>
            <a:prstGeom prst="ellipse">
              <a:avLst/>
            </a:prstGeom>
            <a:solidFill>
              <a:srgbClr val="9AA0A6"/>
            </a:solidFill>
            <a:ln>
              <a:noFill/>
            </a:ln>
          </p:spPr>
          <p:txBody>
            <a:bodyPr rtlCol="0" anchor="ctr"/>
            <a:lstStyle/>
            <a:p>
              <a:pPr algn="ctr"/>
              <a:endParaRPr/>
            </a:p>
          </p:txBody>
        </p:sp>
        <p:sp>
          <p:nvSpPr>
            <p:cNvPr id="78" name="wheel"/>
            <p:cNvSpPr/>
            <p:nvPr/>
          </p:nvSpPr>
          <p:spPr>
            <a:xfrm>
              <a:off x="1266444" y="349300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79" name="hub"/>
            <p:cNvSpPr/>
            <p:nvPr/>
          </p:nvSpPr>
          <p:spPr>
            <a:xfrm>
              <a:off x="1327343" y="3553907"/>
              <a:ext cx="42793" cy="42793"/>
            </a:xfrm>
            <a:prstGeom prst="ellipse">
              <a:avLst/>
            </a:prstGeom>
            <a:solidFill>
              <a:srgbClr val="9AA0A6"/>
            </a:solidFill>
            <a:ln>
              <a:noFill/>
            </a:ln>
          </p:spPr>
          <p:txBody>
            <a:bodyPr rtlCol="0" anchor="ctr"/>
            <a:lstStyle/>
            <a:p>
              <a:pPr algn="ctr"/>
              <a:endParaRPr/>
            </a:p>
          </p:txBody>
        </p:sp>
        <p:sp>
          <p:nvSpPr>
            <p:cNvPr id="80" name="wagon frame"/>
            <p:cNvSpPr/>
            <p:nvPr/>
          </p:nvSpPr>
          <p:spPr>
            <a:xfrm>
              <a:off x="1536192" y="3465576"/>
              <a:ext cx="603504" cy="54863"/>
            </a:xfrm>
            <a:prstGeom prst="rect">
              <a:avLst/>
            </a:prstGeom>
            <a:solidFill>
              <a:srgbClr val="3A3F47"/>
            </a:solidFill>
            <a:ln w="9525">
              <a:solidFill>
                <a:srgbClr val="9AA0A6"/>
              </a:solidFill>
            </a:ln>
          </p:spPr>
          <p:txBody>
            <a:bodyPr rtlCol="0" anchor="ctr"/>
            <a:lstStyle/>
            <a:p>
              <a:pPr algn="ctr"/>
              <a:endParaRPr/>
            </a:p>
          </p:txBody>
        </p:sp>
        <p:sp>
          <p:nvSpPr>
            <p:cNvPr id="81" name="hopper body"/>
            <p:cNvSpPr/>
            <p:nvPr/>
          </p:nvSpPr>
          <p:spPr>
            <a:xfrm>
              <a:off x="1536192" y="3122676"/>
              <a:ext cx="603504" cy="342900"/>
            </a:xfrm>
            <a:custGeom>
              <a:avLst/>
              <a:gdLst/>
              <a:ahLst/>
              <a:cxnLst/>
              <a:rect l="l" t="t" r="r" b="b"/>
              <a:pathLst>
                <a:path w="603504" h="342900">
                  <a:moveTo>
                    <a:pt x="0" y="0"/>
                  </a:moveTo>
                  <a:lnTo>
                    <a:pt x="603504" y="0"/>
                  </a:lnTo>
                  <a:lnTo>
                    <a:pt x="507492" y="342900"/>
                  </a:lnTo>
                  <a:lnTo>
                    <a:pt x="96012" y="342900"/>
                  </a:lnTo>
                  <a:close/>
                </a:path>
              </a:pathLst>
            </a:custGeom>
            <a:solidFill>
              <a:srgbClr val="D6619B"/>
            </a:solidFill>
            <a:ln>
              <a:noFill/>
            </a:ln>
          </p:spPr>
          <p:txBody>
            <a:bodyPr rtlCol="0" anchor="ctr"/>
            <a:lstStyle/>
            <a:p>
              <a:pPr algn="ctr"/>
              <a:endParaRPr/>
            </a:p>
          </p:txBody>
        </p:sp>
        <p:sp>
          <p:nvSpPr>
            <p:cNvPr id="82" name="hopper rim"/>
            <p:cNvSpPr/>
            <p:nvPr/>
          </p:nvSpPr>
          <p:spPr>
            <a:xfrm>
              <a:off x="1536192" y="3115818"/>
              <a:ext cx="603504" cy="34290"/>
            </a:xfrm>
            <a:prstGeom prst="rect">
              <a:avLst/>
            </a:prstGeom>
            <a:solidFill>
              <a:srgbClr val="E088B4"/>
            </a:solidFill>
            <a:ln>
              <a:noFill/>
            </a:ln>
          </p:spPr>
          <p:txBody>
            <a:bodyPr rtlCol="0" anchor="ctr"/>
            <a:lstStyle/>
            <a:p>
              <a:pPr algn="ctr"/>
              <a:endParaRPr/>
            </a:p>
          </p:txBody>
        </p:sp>
        <p:sp>
          <p:nvSpPr>
            <p:cNvPr id="83" name="hopper hatch"/>
            <p:cNvSpPr/>
            <p:nvPr/>
          </p:nvSpPr>
          <p:spPr>
            <a:xfrm>
              <a:off x="1717243" y="3465576"/>
              <a:ext cx="120700" cy="41148"/>
            </a:xfrm>
            <a:custGeom>
              <a:avLst/>
              <a:gdLst/>
              <a:ahLst/>
              <a:cxnLst/>
              <a:rect l="l" t="t" r="r" b="b"/>
              <a:pathLst>
                <a:path w="120700" h="41148">
                  <a:moveTo>
                    <a:pt x="0" y="0"/>
                  </a:moveTo>
                  <a:lnTo>
                    <a:pt x="60350" y="41148"/>
                  </a:lnTo>
                  <a:lnTo>
                    <a:pt x="120700" y="0"/>
                  </a:lnTo>
                  <a:close/>
                </a:path>
              </a:pathLst>
            </a:custGeom>
            <a:solidFill>
              <a:srgbClr val="3A3F47"/>
            </a:solidFill>
            <a:ln>
              <a:noFill/>
            </a:ln>
          </p:spPr>
          <p:txBody>
            <a:bodyPr rtlCol="0" anchor="ctr"/>
            <a:lstStyle/>
            <a:p>
              <a:pPr algn="ctr"/>
              <a:endParaRPr/>
            </a:p>
          </p:txBody>
        </p:sp>
        <p:sp>
          <p:nvSpPr>
            <p:cNvPr id="84" name="hopper hatch"/>
            <p:cNvSpPr/>
            <p:nvPr/>
          </p:nvSpPr>
          <p:spPr>
            <a:xfrm>
              <a:off x="1868119" y="3465576"/>
              <a:ext cx="120700" cy="41148"/>
            </a:xfrm>
            <a:custGeom>
              <a:avLst/>
              <a:gdLst/>
              <a:ahLst/>
              <a:cxnLst/>
              <a:rect l="l" t="t" r="r" b="b"/>
              <a:pathLst>
                <a:path w="120700" h="41148">
                  <a:moveTo>
                    <a:pt x="0" y="0"/>
                  </a:moveTo>
                  <a:lnTo>
                    <a:pt x="60350" y="41148"/>
                  </a:lnTo>
                  <a:lnTo>
                    <a:pt x="120700" y="0"/>
                  </a:lnTo>
                  <a:close/>
                </a:path>
              </a:pathLst>
            </a:custGeom>
            <a:solidFill>
              <a:srgbClr val="3A3F47"/>
            </a:solidFill>
            <a:ln>
              <a:noFill/>
            </a:ln>
          </p:spPr>
          <p:txBody>
            <a:bodyPr rtlCol="0" anchor="ctr"/>
            <a:lstStyle/>
            <a:p>
              <a:pPr algn="ctr"/>
              <a:endParaRPr/>
            </a:p>
          </p:txBody>
        </p:sp>
        <p:sp>
          <p:nvSpPr>
            <p:cNvPr id="85" name="wheel"/>
            <p:cNvSpPr/>
            <p:nvPr/>
          </p:nvSpPr>
          <p:spPr>
            <a:xfrm>
              <a:off x="1577339" y="349300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86" name="hub"/>
            <p:cNvSpPr/>
            <p:nvPr/>
          </p:nvSpPr>
          <p:spPr>
            <a:xfrm>
              <a:off x="1638239" y="3553907"/>
              <a:ext cx="42793" cy="42793"/>
            </a:xfrm>
            <a:prstGeom prst="ellipse">
              <a:avLst/>
            </a:prstGeom>
            <a:solidFill>
              <a:srgbClr val="9AA0A6"/>
            </a:solidFill>
            <a:ln>
              <a:noFill/>
            </a:ln>
          </p:spPr>
          <p:txBody>
            <a:bodyPr rtlCol="0" anchor="ctr"/>
            <a:lstStyle/>
            <a:p>
              <a:pPr algn="ctr"/>
              <a:endParaRPr/>
            </a:p>
          </p:txBody>
        </p:sp>
        <p:sp>
          <p:nvSpPr>
            <p:cNvPr id="87" name="wheel"/>
            <p:cNvSpPr/>
            <p:nvPr/>
          </p:nvSpPr>
          <p:spPr>
            <a:xfrm>
              <a:off x="1933956" y="349300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88" name="hub"/>
            <p:cNvSpPr/>
            <p:nvPr/>
          </p:nvSpPr>
          <p:spPr>
            <a:xfrm>
              <a:off x="1994855" y="3553907"/>
              <a:ext cx="42793" cy="42793"/>
            </a:xfrm>
            <a:prstGeom prst="ellipse">
              <a:avLst/>
            </a:prstGeom>
            <a:solidFill>
              <a:srgbClr val="9AA0A6"/>
            </a:solidFill>
            <a:ln>
              <a:noFill/>
            </a:ln>
          </p:spPr>
          <p:txBody>
            <a:bodyPr rtlCol="0" anchor="ctr"/>
            <a:lstStyle/>
            <a:p>
              <a:pPr algn="ctr"/>
              <a:endParaRPr/>
            </a:p>
          </p:txBody>
        </p:sp>
        <p:sp>
          <p:nvSpPr>
            <p:cNvPr id="89" name="wagon frame"/>
            <p:cNvSpPr/>
            <p:nvPr/>
          </p:nvSpPr>
          <p:spPr>
            <a:xfrm>
              <a:off x="2203704" y="3465576"/>
              <a:ext cx="603504" cy="54863"/>
            </a:xfrm>
            <a:prstGeom prst="rect">
              <a:avLst/>
            </a:prstGeom>
            <a:solidFill>
              <a:srgbClr val="3A3F47"/>
            </a:solidFill>
            <a:ln w="9525">
              <a:solidFill>
                <a:srgbClr val="9AA0A6"/>
              </a:solidFill>
            </a:ln>
          </p:spPr>
          <p:txBody>
            <a:bodyPr rtlCol="0" anchor="ctr"/>
            <a:lstStyle/>
            <a:p>
              <a:pPr algn="ctr"/>
              <a:endParaRPr/>
            </a:p>
          </p:txBody>
        </p:sp>
        <p:sp>
          <p:nvSpPr>
            <p:cNvPr id="90" name="hopper body"/>
            <p:cNvSpPr/>
            <p:nvPr/>
          </p:nvSpPr>
          <p:spPr>
            <a:xfrm>
              <a:off x="2203704" y="3122676"/>
              <a:ext cx="603504" cy="342900"/>
            </a:xfrm>
            <a:custGeom>
              <a:avLst/>
              <a:gdLst/>
              <a:ahLst/>
              <a:cxnLst/>
              <a:rect l="l" t="t" r="r" b="b"/>
              <a:pathLst>
                <a:path w="603504" h="342900">
                  <a:moveTo>
                    <a:pt x="0" y="0"/>
                  </a:moveTo>
                  <a:lnTo>
                    <a:pt x="603504" y="0"/>
                  </a:lnTo>
                  <a:lnTo>
                    <a:pt x="507492" y="342900"/>
                  </a:lnTo>
                  <a:lnTo>
                    <a:pt x="96012" y="342900"/>
                  </a:lnTo>
                  <a:close/>
                </a:path>
              </a:pathLst>
            </a:custGeom>
            <a:solidFill>
              <a:srgbClr val="D6619B"/>
            </a:solidFill>
            <a:ln>
              <a:noFill/>
            </a:ln>
          </p:spPr>
          <p:txBody>
            <a:bodyPr rtlCol="0" anchor="ctr"/>
            <a:lstStyle/>
            <a:p>
              <a:pPr algn="ctr"/>
              <a:endParaRPr/>
            </a:p>
          </p:txBody>
        </p:sp>
        <p:sp>
          <p:nvSpPr>
            <p:cNvPr id="91" name="hopper rim"/>
            <p:cNvSpPr/>
            <p:nvPr/>
          </p:nvSpPr>
          <p:spPr>
            <a:xfrm>
              <a:off x="2203704" y="3115818"/>
              <a:ext cx="603504" cy="34290"/>
            </a:xfrm>
            <a:prstGeom prst="rect">
              <a:avLst/>
            </a:prstGeom>
            <a:solidFill>
              <a:srgbClr val="E088B4"/>
            </a:solidFill>
            <a:ln>
              <a:noFill/>
            </a:ln>
          </p:spPr>
          <p:txBody>
            <a:bodyPr rtlCol="0" anchor="ctr"/>
            <a:lstStyle/>
            <a:p>
              <a:pPr algn="ctr"/>
              <a:endParaRPr/>
            </a:p>
          </p:txBody>
        </p:sp>
        <p:sp>
          <p:nvSpPr>
            <p:cNvPr id="92" name="hopper hatch"/>
            <p:cNvSpPr/>
            <p:nvPr/>
          </p:nvSpPr>
          <p:spPr>
            <a:xfrm>
              <a:off x="2384755" y="3465576"/>
              <a:ext cx="120701" cy="41148"/>
            </a:xfrm>
            <a:custGeom>
              <a:avLst/>
              <a:gdLst/>
              <a:ahLst/>
              <a:cxnLst/>
              <a:rect l="l" t="t" r="r" b="b"/>
              <a:pathLst>
                <a:path w="120701" h="41148">
                  <a:moveTo>
                    <a:pt x="0" y="0"/>
                  </a:moveTo>
                  <a:lnTo>
                    <a:pt x="60350" y="41148"/>
                  </a:lnTo>
                  <a:lnTo>
                    <a:pt x="120701" y="0"/>
                  </a:lnTo>
                  <a:close/>
                </a:path>
              </a:pathLst>
            </a:custGeom>
            <a:solidFill>
              <a:srgbClr val="3A3F47"/>
            </a:solidFill>
            <a:ln>
              <a:noFill/>
            </a:ln>
          </p:spPr>
          <p:txBody>
            <a:bodyPr rtlCol="0" anchor="ctr"/>
            <a:lstStyle/>
            <a:p>
              <a:pPr algn="ctr"/>
              <a:endParaRPr/>
            </a:p>
          </p:txBody>
        </p:sp>
        <p:sp>
          <p:nvSpPr>
            <p:cNvPr id="93" name="hopper hatch"/>
            <p:cNvSpPr/>
            <p:nvPr/>
          </p:nvSpPr>
          <p:spPr>
            <a:xfrm>
              <a:off x="2535631" y="3465576"/>
              <a:ext cx="120701" cy="41148"/>
            </a:xfrm>
            <a:custGeom>
              <a:avLst/>
              <a:gdLst/>
              <a:ahLst/>
              <a:cxnLst/>
              <a:rect l="l" t="t" r="r" b="b"/>
              <a:pathLst>
                <a:path w="120701" h="41148">
                  <a:moveTo>
                    <a:pt x="0" y="0"/>
                  </a:moveTo>
                  <a:lnTo>
                    <a:pt x="60350" y="41148"/>
                  </a:lnTo>
                  <a:lnTo>
                    <a:pt x="120701" y="0"/>
                  </a:lnTo>
                  <a:close/>
                </a:path>
              </a:pathLst>
            </a:custGeom>
            <a:solidFill>
              <a:srgbClr val="3A3F47"/>
            </a:solidFill>
            <a:ln>
              <a:noFill/>
            </a:ln>
          </p:spPr>
          <p:txBody>
            <a:bodyPr rtlCol="0" anchor="ctr"/>
            <a:lstStyle/>
            <a:p>
              <a:pPr algn="ctr"/>
              <a:endParaRPr/>
            </a:p>
          </p:txBody>
        </p:sp>
        <p:sp>
          <p:nvSpPr>
            <p:cNvPr id="94" name="wheel"/>
            <p:cNvSpPr/>
            <p:nvPr/>
          </p:nvSpPr>
          <p:spPr>
            <a:xfrm>
              <a:off x="2244852" y="349300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95" name="hub"/>
            <p:cNvSpPr/>
            <p:nvPr/>
          </p:nvSpPr>
          <p:spPr>
            <a:xfrm>
              <a:off x="2305751" y="3553907"/>
              <a:ext cx="42793" cy="42793"/>
            </a:xfrm>
            <a:prstGeom prst="ellipse">
              <a:avLst/>
            </a:prstGeom>
            <a:solidFill>
              <a:srgbClr val="9AA0A6"/>
            </a:solidFill>
            <a:ln>
              <a:noFill/>
            </a:ln>
          </p:spPr>
          <p:txBody>
            <a:bodyPr rtlCol="0" anchor="ctr"/>
            <a:lstStyle/>
            <a:p>
              <a:pPr algn="ctr"/>
              <a:endParaRPr/>
            </a:p>
          </p:txBody>
        </p:sp>
        <p:sp>
          <p:nvSpPr>
            <p:cNvPr id="96" name="wheel"/>
            <p:cNvSpPr/>
            <p:nvPr/>
          </p:nvSpPr>
          <p:spPr>
            <a:xfrm>
              <a:off x="2601468" y="349300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97" name="hub"/>
            <p:cNvSpPr/>
            <p:nvPr/>
          </p:nvSpPr>
          <p:spPr>
            <a:xfrm>
              <a:off x="2662367" y="3553907"/>
              <a:ext cx="42793" cy="42793"/>
            </a:xfrm>
            <a:prstGeom prst="ellipse">
              <a:avLst/>
            </a:prstGeom>
            <a:solidFill>
              <a:srgbClr val="9AA0A6"/>
            </a:solidFill>
            <a:ln>
              <a:noFill/>
            </a:ln>
          </p:spPr>
          <p:txBody>
            <a:bodyPr rtlCol="0" anchor="ctr"/>
            <a:lstStyle/>
            <a:p>
              <a:pPr algn="ctr"/>
              <a:endParaRPr/>
            </a:p>
          </p:txBody>
        </p:sp>
        <p:sp>
          <p:nvSpPr>
            <p:cNvPr id="98" name="tender frame"/>
            <p:cNvSpPr/>
            <p:nvPr/>
          </p:nvSpPr>
          <p:spPr>
            <a:xfrm>
              <a:off x="2871215" y="3438144"/>
              <a:ext cx="630936" cy="61722"/>
            </a:xfrm>
            <a:prstGeom prst="rect">
              <a:avLst/>
            </a:prstGeom>
            <a:solidFill>
              <a:srgbClr val="3A3F47"/>
            </a:solidFill>
            <a:ln w="9525">
              <a:solidFill>
                <a:srgbClr val="9AA0A6"/>
              </a:solidFill>
            </a:ln>
          </p:spPr>
          <p:txBody>
            <a:bodyPr rtlCol="0" anchor="ctr"/>
            <a:lstStyle/>
            <a:p>
              <a:pPr algn="ctr"/>
              <a:endParaRPr/>
            </a:p>
          </p:txBody>
        </p:sp>
        <p:sp>
          <p:nvSpPr>
            <p:cNvPr id="99" name="tender body"/>
            <p:cNvSpPr/>
            <p:nvPr/>
          </p:nvSpPr>
          <p:spPr>
            <a:xfrm>
              <a:off x="2871215" y="3163824"/>
              <a:ext cx="630936" cy="274320"/>
            </a:xfrm>
            <a:prstGeom prst="roundRect">
              <a:avLst>
                <a:gd name="adj" fmla="val 2500"/>
              </a:avLst>
            </a:prstGeom>
            <a:solidFill>
              <a:srgbClr val="D6619B"/>
            </a:solidFill>
            <a:ln>
              <a:noFill/>
            </a:ln>
          </p:spPr>
          <p:txBody>
            <a:bodyPr rtlCol="0" anchor="ctr"/>
            <a:lstStyle/>
            <a:p>
              <a:pPr algn="ctr"/>
              <a:endParaRPr/>
            </a:p>
          </p:txBody>
        </p:sp>
        <p:sp>
          <p:nvSpPr>
            <p:cNvPr id="100" name="tender coal"/>
            <p:cNvSpPr/>
            <p:nvPr/>
          </p:nvSpPr>
          <p:spPr>
            <a:xfrm>
              <a:off x="2891789" y="3074670"/>
              <a:ext cx="589788" cy="89154"/>
            </a:xfrm>
            <a:custGeom>
              <a:avLst/>
              <a:gdLst/>
              <a:ahLst/>
              <a:cxnLst/>
              <a:rect l="l" t="t" r="r" b="b"/>
              <a:pathLst>
                <a:path w="589788" h="89154">
                  <a:moveTo>
                    <a:pt x="0" y="89154"/>
                  </a:moveTo>
                  <a:lnTo>
                    <a:pt x="102870" y="6858"/>
                  </a:lnTo>
                  <a:lnTo>
                    <a:pt x="336043" y="0"/>
                  </a:lnTo>
                  <a:lnTo>
                    <a:pt x="589788" y="89154"/>
                  </a:lnTo>
                  <a:close/>
                </a:path>
              </a:pathLst>
            </a:custGeom>
            <a:solidFill>
              <a:srgbClr val="1B1D21"/>
            </a:solidFill>
            <a:ln w="12700">
              <a:solidFill>
                <a:srgbClr val="6B7078"/>
              </a:solidFill>
            </a:ln>
          </p:spPr>
          <p:txBody>
            <a:bodyPr rtlCol="0" anchor="ctr"/>
            <a:lstStyle/>
            <a:p>
              <a:pPr algn="ctr"/>
              <a:endParaRPr/>
            </a:p>
          </p:txBody>
        </p:sp>
        <p:sp>
          <p:nvSpPr>
            <p:cNvPr id="101" name="coupling"/>
            <p:cNvSpPr/>
            <p:nvPr/>
          </p:nvSpPr>
          <p:spPr>
            <a:xfrm>
              <a:off x="3502151" y="3335274"/>
              <a:ext cx="54864" cy="20573"/>
            </a:xfrm>
            <a:prstGeom prst="rect">
              <a:avLst/>
            </a:prstGeom>
            <a:solidFill>
              <a:srgbClr val="9AA0A6"/>
            </a:solidFill>
            <a:ln>
              <a:noFill/>
            </a:ln>
          </p:spPr>
          <p:txBody>
            <a:bodyPr rtlCol="0" anchor="ctr"/>
            <a:lstStyle/>
            <a:p>
              <a:pPr algn="ctr"/>
              <a:endParaRPr/>
            </a:p>
          </p:txBody>
        </p:sp>
        <p:sp>
          <p:nvSpPr>
            <p:cNvPr id="102" name="wheel"/>
            <p:cNvSpPr/>
            <p:nvPr/>
          </p:nvSpPr>
          <p:spPr>
            <a:xfrm>
              <a:off x="2912363" y="3493008"/>
              <a:ext cx="164592" cy="164592"/>
            </a:xfrm>
            <a:prstGeom prst="ellipse">
              <a:avLst/>
            </a:prstGeom>
            <a:solidFill>
              <a:srgbClr val="1B1D21"/>
            </a:solidFill>
            <a:ln w="19050">
              <a:solidFill>
                <a:srgbClr val="9AA0A6"/>
              </a:solidFill>
            </a:ln>
          </p:spPr>
          <p:txBody>
            <a:bodyPr rtlCol="0" anchor="ctr"/>
            <a:lstStyle/>
            <a:p>
              <a:pPr algn="ctr"/>
              <a:endParaRPr/>
            </a:p>
          </p:txBody>
        </p:sp>
        <p:sp>
          <p:nvSpPr>
            <p:cNvPr id="103" name="hub"/>
            <p:cNvSpPr/>
            <p:nvPr/>
          </p:nvSpPr>
          <p:spPr>
            <a:xfrm>
              <a:off x="2973263" y="3553907"/>
              <a:ext cx="42793" cy="42793"/>
            </a:xfrm>
            <a:prstGeom prst="ellipse">
              <a:avLst/>
            </a:prstGeom>
            <a:solidFill>
              <a:srgbClr val="9AA0A6"/>
            </a:solidFill>
            <a:ln>
              <a:noFill/>
            </a:ln>
          </p:spPr>
          <p:txBody>
            <a:bodyPr rtlCol="0" anchor="ctr"/>
            <a:lstStyle/>
            <a:p>
              <a:pPr algn="ctr"/>
              <a:endParaRPr/>
            </a:p>
          </p:txBody>
        </p:sp>
        <p:sp>
          <p:nvSpPr>
            <p:cNvPr id="104" name="wheel"/>
            <p:cNvSpPr/>
            <p:nvPr/>
          </p:nvSpPr>
          <p:spPr>
            <a:xfrm>
              <a:off x="3049524" y="3493008"/>
              <a:ext cx="164592" cy="164592"/>
            </a:xfrm>
            <a:prstGeom prst="ellipse">
              <a:avLst/>
            </a:prstGeom>
            <a:solidFill>
              <a:srgbClr val="1B1D21"/>
            </a:solidFill>
            <a:ln w="19050">
              <a:solidFill>
                <a:srgbClr val="9AA0A6"/>
              </a:solidFill>
            </a:ln>
          </p:spPr>
          <p:txBody>
            <a:bodyPr rtlCol="0" anchor="ctr"/>
            <a:lstStyle/>
            <a:p>
              <a:pPr algn="ctr"/>
              <a:endParaRPr/>
            </a:p>
          </p:txBody>
        </p:sp>
        <p:sp>
          <p:nvSpPr>
            <p:cNvPr id="105" name="hub"/>
            <p:cNvSpPr/>
            <p:nvPr/>
          </p:nvSpPr>
          <p:spPr>
            <a:xfrm>
              <a:off x="3110423" y="3553907"/>
              <a:ext cx="42793" cy="42793"/>
            </a:xfrm>
            <a:prstGeom prst="ellipse">
              <a:avLst/>
            </a:prstGeom>
            <a:solidFill>
              <a:srgbClr val="9AA0A6"/>
            </a:solidFill>
            <a:ln>
              <a:noFill/>
            </a:ln>
          </p:spPr>
          <p:txBody>
            <a:bodyPr rtlCol="0" anchor="ctr"/>
            <a:lstStyle/>
            <a:p>
              <a:pPr algn="ctr"/>
              <a:endParaRPr/>
            </a:p>
          </p:txBody>
        </p:sp>
        <p:sp>
          <p:nvSpPr>
            <p:cNvPr id="106" name="wheel"/>
            <p:cNvSpPr/>
            <p:nvPr/>
          </p:nvSpPr>
          <p:spPr>
            <a:xfrm>
              <a:off x="3159252" y="3493008"/>
              <a:ext cx="164592" cy="164592"/>
            </a:xfrm>
            <a:prstGeom prst="ellipse">
              <a:avLst/>
            </a:prstGeom>
            <a:solidFill>
              <a:srgbClr val="1B1D21"/>
            </a:solidFill>
            <a:ln w="19050">
              <a:solidFill>
                <a:srgbClr val="9AA0A6"/>
              </a:solidFill>
            </a:ln>
          </p:spPr>
          <p:txBody>
            <a:bodyPr rtlCol="0" anchor="ctr"/>
            <a:lstStyle/>
            <a:p>
              <a:pPr algn="ctr"/>
              <a:endParaRPr/>
            </a:p>
          </p:txBody>
        </p:sp>
        <p:sp>
          <p:nvSpPr>
            <p:cNvPr id="107" name="hub"/>
            <p:cNvSpPr/>
            <p:nvPr/>
          </p:nvSpPr>
          <p:spPr>
            <a:xfrm>
              <a:off x="3220151" y="3553907"/>
              <a:ext cx="42793" cy="42793"/>
            </a:xfrm>
            <a:prstGeom prst="ellipse">
              <a:avLst/>
            </a:prstGeom>
            <a:solidFill>
              <a:srgbClr val="9AA0A6"/>
            </a:solidFill>
            <a:ln>
              <a:noFill/>
            </a:ln>
          </p:spPr>
          <p:txBody>
            <a:bodyPr rtlCol="0" anchor="ctr"/>
            <a:lstStyle/>
            <a:p>
              <a:pPr algn="ctr"/>
              <a:endParaRPr/>
            </a:p>
          </p:txBody>
        </p:sp>
        <p:sp>
          <p:nvSpPr>
            <p:cNvPr id="108" name="wheel"/>
            <p:cNvSpPr/>
            <p:nvPr/>
          </p:nvSpPr>
          <p:spPr>
            <a:xfrm>
              <a:off x="3296412" y="3493008"/>
              <a:ext cx="164592" cy="164592"/>
            </a:xfrm>
            <a:prstGeom prst="ellipse">
              <a:avLst/>
            </a:prstGeom>
            <a:solidFill>
              <a:srgbClr val="1B1D21"/>
            </a:solidFill>
            <a:ln w="19050">
              <a:solidFill>
                <a:srgbClr val="9AA0A6"/>
              </a:solidFill>
            </a:ln>
          </p:spPr>
          <p:txBody>
            <a:bodyPr rtlCol="0" anchor="ctr"/>
            <a:lstStyle/>
            <a:p>
              <a:pPr algn="ctr"/>
              <a:endParaRPr/>
            </a:p>
          </p:txBody>
        </p:sp>
        <p:sp>
          <p:nvSpPr>
            <p:cNvPr id="109" name="hub"/>
            <p:cNvSpPr/>
            <p:nvPr/>
          </p:nvSpPr>
          <p:spPr>
            <a:xfrm>
              <a:off x="3357311" y="3553907"/>
              <a:ext cx="42793" cy="42793"/>
            </a:xfrm>
            <a:prstGeom prst="ellipse">
              <a:avLst/>
            </a:prstGeom>
            <a:solidFill>
              <a:srgbClr val="9AA0A6"/>
            </a:solidFill>
            <a:ln>
              <a:noFill/>
            </a:ln>
          </p:spPr>
          <p:txBody>
            <a:bodyPr rtlCol="0" anchor="ctr"/>
            <a:lstStyle/>
            <a:p>
              <a:pPr algn="ctr"/>
              <a:endParaRPr/>
            </a:p>
          </p:txBody>
        </p:sp>
        <p:sp>
          <p:nvSpPr>
            <p:cNvPr id="110" name="frame"/>
            <p:cNvSpPr/>
            <p:nvPr/>
          </p:nvSpPr>
          <p:spPr>
            <a:xfrm>
              <a:off x="3557015" y="3438144"/>
              <a:ext cx="1571304" cy="61722"/>
            </a:xfrm>
            <a:prstGeom prst="rect">
              <a:avLst/>
            </a:prstGeom>
            <a:solidFill>
              <a:srgbClr val="3A3F47"/>
            </a:solidFill>
            <a:ln w="9525">
              <a:solidFill>
                <a:srgbClr val="9AA0A6"/>
              </a:solidFill>
            </a:ln>
          </p:spPr>
          <p:txBody>
            <a:bodyPr rtlCol="0" anchor="ctr"/>
            <a:lstStyle/>
            <a:p>
              <a:pPr algn="ctr"/>
              <a:endParaRPr/>
            </a:p>
          </p:txBody>
        </p:sp>
        <p:sp>
          <p:nvSpPr>
            <p:cNvPr id="111" name="cab"/>
            <p:cNvSpPr/>
            <p:nvPr/>
          </p:nvSpPr>
          <p:spPr>
            <a:xfrm>
              <a:off x="3557015" y="2971800"/>
              <a:ext cx="315468" cy="466344"/>
            </a:xfrm>
            <a:prstGeom prst="roundRect">
              <a:avLst>
                <a:gd name="adj" fmla="val 2173"/>
              </a:avLst>
            </a:prstGeom>
            <a:solidFill>
              <a:srgbClr val="D6619B"/>
            </a:solidFill>
            <a:ln>
              <a:noFill/>
            </a:ln>
          </p:spPr>
          <p:txBody>
            <a:bodyPr rtlCol="0" anchor="ctr"/>
            <a:lstStyle/>
            <a:p>
              <a:pPr algn="ctr"/>
              <a:endParaRPr/>
            </a:p>
          </p:txBody>
        </p:sp>
        <p:sp>
          <p:nvSpPr>
            <p:cNvPr id="112" name="cab roof"/>
            <p:cNvSpPr/>
            <p:nvPr/>
          </p:nvSpPr>
          <p:spPr>
            <a:xfrm>
              <a:off x="3529583" y="2930652"/>
              <a:ext cx="370332" cy="41147"/>
            </a:xfrm>
            <a:prstGeom prst="rect">
              <a:avLst/>
            </a:prstGeom>
            <a:solidFill>
              <a:srgbClr val="3A3F47"/>
            </a:solidFill>
            <a:ln w="9525">
              <a:solidFill>
                <a:srgbClr val="9AA0A6"/>
              </a:solidFill>
            </a:ln>
          </p:spPr>
          <p:txBody>
            <a:bodyPr rtlCol="0" anchor="ctr"/>
            <a:lstStyle/>
            <a:p>
              <a:pPr algn="ctr"/>
              <a:endParaRPr/>
            </a:p>
          </p:txBody>
        </p:sp>
        <p:sp>
          <p:nvSpPr>
            <p:cNvPr id="113" name="cab window"/>
            <p:cNvSpPr/>
            <p:nvPr/>
          </p:nvSpPr>
          <p:spPr>
            <a:xfrm>
              <a:off x="3632453" y="3040380"/>
              <a:ext cx="137160" cy="150876"/>
            </a:xfrm>
            <a:prstGeom prst="rect">
              <a:avLst/>
            </a:prstGeom>
            <a:solidFill>
              <a:srgbClr val="1B1D21"/>
            </a:solidFill>
            <a:ln>
              <a:noFill/>
            </a:ln>
          </p:spPr>
          <p:txBody>
            <a:bodyPr rtlCol="0" anchor="ctr"/>
            <a:lstStyle/>
            <a:p>
              <a:pPr algn="ctr"/>
              <a:endParaRPr/>
            </a:p>
          </p:txBody>
        </p:sp>
        <p:sp>
          <p:nvSpPr>
            <p:cNvPr id="114" name="boiler"/>
            <p:cNvSpPr/>
            <p:nvPr/>
          </p:nvSpPr>
          <p:spPr>
            <a:xfrm>
              <a:off x="3872483" y="3012948"/>
              <a:ext cx="1022664" cy="342900"/>
            </a:xfrm>
            <a:prstGeom prst="roundRect">
              <a:avLst>
                <a:gd name="adj" fmla="val 22000"/>
              </a:avLst>
            </a:prstGeom>
            <a:solidFill>
              <a:srgbClr val="D6619B"/>
            </a:solidFill>
            <a:ln>
              <a:noFill/>
            </a:ln>
          </p:spPr>
          <p:txBody>
            <a:bodyPr rtlCol="0" anchor="ctr"/>
            <a:lstStyle/>
            <a:p>
              <a:pPr algn="ctr"/>
              <a:endParaRPr/>
            </a:p>
          </p:txBody>
        </p:sp>
        <p:sp>
          <p:nvSpPr>
            <p:cNvPr id="115" name="smokebox"/>
            <p:cNvSpPr/>
            <p:nvPr/>
          </p:nvSpPr>
          <p:spPr>
            <a:xfrm>
              <a:off x="4895148" y="3012948"/>
              <a:ext cx="164592" cy="342900"/>
            </a:xfrm>
            <a:prstGeom prst="roundRect">
              <a:avLst>
                <a:gd name="adj" fmla="val 10000"/>
              </a:avLst>
            </a:prstGeom>
            <a:solidFill>
              <a:srgbClr val="4A515B"/>
            </a:solidFill>
            <a:ln>
              <a:noFill/>
            </a:ln>
          </p:spPr>
          <p:txBody>
            <a:bodyPr rtlCol="0" anchor="ctr"/>
            <a:lstStyle/>
            <a:p>
              <a:pPr algn="ctr"/>
              <a:endParaRPr/>
            </a:p>
          </p:txBody>
        </p:sp>
        <p:sp>
          <p:nvSpPr>
            <p:cNvPr id="116" name="funnel stack"/>
            <p:cNvSpPr/>
            <p:nvPr/>
          </p:nvSpPr>
          <p:spPr>
            <a:xfrm>
              <a:off x="4888290" y="2779776"/>
              <a:ext cx="164592" cy="233172"/>
            </a:xfrm>
            <a:custGeom>
              <a:avLst/>
              <a:gdLst/>
              <a:ahLst/>
              <a:cxnLst/>
              <a:rect l="l" t="t" r="r" b="b"/>
              <a:pathLst>
                <a:path w="164592" h="233172">
                  <a:moveTo>
                    <a:pt x="54864" y="233172"/>
                  </a:moveTo>
                  <a:lnTo>
                    <a:pt x="54864" y="164592"/>
                  </a:lnTo>
                  <a:lnTo>
                    <a:pt x="0" y="0"/>
                  </a:lnTo>
                  <a:lnTo>
                    <a:pt x="164592" y="0"/>
                  </a:lnTo>
                  <a:lnTo>
                    <a:pt x="109728" y="164592"/>
                  </a:lnTo>
                  <a:lnTo>
                    <a:pt x="109728" y="233172"/>
                  </a:lnTo>
                  <a:close/>
                </a:path>
              </a:pathLst>
            </a:custGeom>
            <a:solidFill>
              <a:srgbClr val="3A3F47"/>
            </a:solidFill>
            <a:ln w="9525">
              <a:solidFill>
                <a:srgbClr val="9AA0A6"/>
              </a:solidFill>
            </a:ln>
          </p:spPr>
          <p:txBody>
            <a:bodyPr rtlCol="0" anchor="ctr"/>
            <a:lstStyle/>
            <a:p>
              <a:pPr algn="ctr"/>
              <a:endParaRPr/>
            </a:p>
          </p:txBody>
        </p:sp>
        <p:sp>
          <p:nvSpPr>
            <p:cNvPr id="117" name="headlamp"/>
            <p:cNvSpPr/>
            <p:nvPr/>
          </p:nvSpPr>
          <p:spPr>
            <a:xfrm>
              <a:off x="5018592" y="2903220"/>
              <a:ext cx="102869" cy="102869"/>
            </a:xfrm>
            <a:prstGeom prst="ellipse">
              <a:avLst/>
            </a:prstGeom>
            <a:solidFill>
              <a:srgbClr val="F2C14E"/>
            </a:solidFill>
            <a:ln w="12700">
              <a:solidFill>
                <a:srgbClr val="F2F2F2"/>
              </a:solidFill>
            </a:ln>
          </p:spPr>
          <p:txBody>
            <a:bodyPr rtlCol="0" anchor="ctr"/>
            <a:lstStyle/>
            <a:p>
              <a:pPr algn="ctr"/>
              <a:endParaRPr/>
            </a:p>
          </p:txBody>
        </p:sp>
        <p:sp>
          <p:nvSpPr>
            <p:cNvPr id="118" name="sand dome"/>
            <p:cNvSpPr/>
            <p:nvPr/>
          </p:nvSpPr>
          <p:spPr>
            <a:xfrm>
              <a:off x="4158830" y="2930652"/>
              <a:ext cx="123444" cy="82295"/>
            </a:xfrm>
            <a:prstGeom prst="roundRect">
              <a:avLst>
                <a:gd name="adj" fmla="val 33333"/>
              </a:avLst>
            </a:prstGeom>
            <a:solidFill>
              <a:srgbClr val="D6619B"/>
            </a:solidFill>
            <a:ln>
              <a:noFill/>
            </a:ln>
          </p:spPr>
          <p:txBody>
            <a:bodyPr rtlCol="0" anchor="ctr"/>
            <a:lstStyle/>
            <a:p>
              <a:pPr algn="ctr"/>
              <a:endParaRPr/>
            </a:p>
          </p:txBody>
        </p:sp>
        <p:sp>
          <p:nvSpPr>
            <p:cNvPr id="119" name="steam dome"/>
            <p:cNvSpPr/>
            <p:nvPr/>
          </p:nvSpPr>
          <p:spPr>
            <a:xfrm>
              <a:off x="4506536" y="2916936"/>
              <a:ext cx="137160" cy="96012"/>
            </a:xfrm>
            <a:prstGeom prst="roundRect">
              <a:avLst>
                <a:gd name="adj" fmla="val 28571"/>
              </a:avLst>
            </a:prstGeom>
            <a:solidFill>
              <a:srgbClr val="D6619B"/>
            </a:solidFill>
            <a:ln>
              <a:noFill/>
            </a:ln>
          </p:spPr>
          <p:txBody>
            <a:bodyPr rtlCol="0" anchor="ctr"/>
            <a:lstStyle/>
            <a:p>
              <a:pPr algn="ctr"/>
              <a:endParaRPr/>
            </a:p>
          </p:txBody>
        </p:sp>
        <p:sp>
          <p:nvSpPr>
            <p:cNvPr id="120" name="pilot"/>
            <p:cNvSpPr/>
            <p:nvPr/>
          </p:nvSpPr>
          <p:spPr>
            <a:xfrm>
              <a:off x="5059740" y="3445002"/>
              <a:ext cx="205740" cy="150876"/>
            </a:xfrm>
            <a:custGeom>
              <a:avLst/>
              <a:gdLst/>
              <a:ahLst/>
              <a:cxnLst/>
              <a:rect l="l" t="t" r="r" b="b"/>
              <a:pathLst>
                <a:path w="205740" h="150876">
                  <a:moveTo>
                    <a:pt x="0" y="0"/>
                  </a:moveTo>
                  <a:lnTo>
                    <a:pt x="205740" y="150876"/>
                  </a:lnTo>
                  <a:lnTo>
                    <a:pt x="0" y="150876"/>
                  </a:lnTo>
                  <a:close/>
                </a:path>
              </a:pathLst>
            </a:custGeom>
            <a:solidFill>
              <a:srgbClr val="3A3F47"/>
            </a:solidFill>
            <a:ln w="12700">
              <a:solidFill>
                <a:srgbClr val="9AA0A6"/>
              </a:solidFill>
            </a:ln>
          </p:spPr>
          <p:txBody>
            <a:bodyPr rtlCol="0" anchor="ctr"/>
            <a:lstStyle/>
            <a:p>
              <a:pPr algn="ctr"/>
              <a:endParaRPr/>
            </a:p>
          </p:txBody>
        </p:sp>
        <p:sp>
          <p:nvSpPr>
            <p:cNvPr id="121" name="bell"/>
            <p:cNvSpPr/>
            <p:nvPr/>
          </p:nvSpPr>
          <p:spPr>
            <a:xfrm>
              <a:off x="4342668" y="2848356"/>
              <a:ext cx="41148" cy="82296"/>
            </a:xfrm>
            <a:prstGeom prst="rect">
              <a:avLst/>
            </a:prstGeom>
            <a:solidFill>
              <a:srgbClr val="9AA0A6"/>
            </a:solidFill>
            <a:ln>
              <a:noFill/>
            </a:ln>
          </p:spPr>
          <p:txBody>
            <a:bodyPr rtlCol="0" anchor="ctr"/>
            <a:lstStyle/>
            <a:p>
              <a:pPr algn="ctr"/>
              <a:endParaRPr/>
            </a:p>
          </p:txBody>
        </p:sp>
        <p:sp>
          <p:nvSpPr>
            <p:cNvPr id="122" name="wheel"/>
            <p:cNvSpPr/>
            <p:nvPr/>
          </p:nvSpPr>
          <p:spPr>
            <a:xfrm>
              <a:off x="3605022" y="3396996"/>
              <a:ext cx="260603" cy="260603"/>
            </a:xfrm>
            <a:prstGeom prst="ellipse">
              <a:avLst/>
            </a:prstGeom>
            <a:solidFill>
              <a:srgbClr val="1B1D21"/>
            </a:solidFill>
            <a:ln w="19050">
              <a:solidFill>
                <a:srgbClr val="9AA0A6"/>
              </a:solidFill>
            </a:ln>
          </p:spPr>
          <p:txBody>
            <a:bodyPr rtlCol="0" anchor="ctr"/>
            <a:lstStyle/>
            <a:p>
              <a:pPr algn="ctr"/>
              <a:endParaRPr/>
            </a:p>
          </p:txBody>
        </p:sp>
        <p:sp>
          <p:nvSpPr>
            <p:cNvPr id="123" name="hub"/>
            <p:cNvSpPr/>
            <p:nvPr/>
          </p:nvSpPr>
          <p:spPr>
            <a:xfrm>
              <a:off x="3701445" y="3493419"/>
              <a:ext cx="67757" cy="67757"/>
            </a:xfrm>
            <a:prstGeom prst="ellipse">
              <a:avLst/>
            </a:prstGeom>
            <a:solidFill>
              <a:srgbClr val="9AA0A6"/>
            </a:solidFill>
            <a:ln>
              <a:noFill/>
            </a:ln>
          </p:spPr>
          <p:txBody>
            <a:bodyPr rtlCol="0" anchor="ctr"/>
            <a:lstStyle/>
            <a:p>
              <a:pPr algn="ctr"/>
              <a:endParaRPr/>
            </a:p>
          </p:txBody>
        </p:sp>
        <p:sp>
          <p:nvSpPr>
            <p:cNvPr id="124" name="wheel"/>
            <p:cNvSpPr/>
            <p:nvPr/>
          </p:nvSpPr>
          <p:spPr>
            <a:xfrm>
              <a:off x="3896898" y="3396996"/>
              <a:ext cx="260603" cy="260603"/>
            </a:xfrm>
            <a:prstGeom prst="ellipse">
              <a:avLst/>
            </a:prstGeom>
            <a:solidFill>
              <a:srgbClr val="1B1D21"/>
            </a:solidFill>
            <a:ln w="19050">
              <a:solidFill>
                <a:srgbClr val="9AA0A6"/>
              </a:solidFill>
            </a:ln>
          </p:spPr>
          <p:txBody>
            <a:bodyPr rtlCol="0" anchor="ctr"/>
            <a:lstStyle/>
            <a:p>
              <a:pPr algn="ctr"/>
              <a:endParaRPr/>
            </a:p>
          </p:txBody>
        </p:sp>
        <p:sp>
          <p:nvSpPr>
            <p:cNvPr id="125" name="hub"/>
            <p:cNvSpPr/>
            <p:nvPr/>
          </p:nvSpPr>
          <p:spPr>
            <a:xfrm>
              <a:off x="3993321" y="3493419"/>
              <a:ext cx="67757" cy="67757"/>
            </a:xfrm>
            <a:prstGeom prst="ellipse">
              <a:avLst/>
            </a:prstGeom>
            <a:solidFill>
              <a:srgbClr val="9AA0A6"/>
            </a:solidFill>
            <a:ln>
              <a:noFill/>
            </a:ln>
          </p:spPr>
          <p:txBody>
            <a:bodyPr rtlCol="0" anchor="ctr"/>
            <a:lstStyle/>
            <a:p>
              <a:pPr algn="ctr"/>
              <a:endParaRPr/>
            </a:p>
          </p:txBody>
        </p:sp>
        <p:sp>
          <p:nvSpPr>
            <p:cNvPr id="126" name="wheel"/>
            <p:cNvSpPr/>
            <p:nvPr/>
          </p:nvSpPr>
          <p:spPr>
            <a:xfrm>
              <a:off x="4188774" y="3396996"/>
              <a:ext cx="260603" cy="260603"/>
            </a:xfrm>
            <a:prstGeom prst="ellipse">
              <a:avLst/>
            </a:prstGeom>
            <a:solidFill>
              <a:srgbClr val="1B1D21"/>
            </a:solidFill>
            <a:ln w="19050">
              <a:solidFill>
                <a:srgbClr val="9AA0A6"/>
              </a:solidFill>
            </a:ln>
          </p:spPr>
          <p:txBody>
            <a:bodyPr rtlCol="0" anchor="ctr"/>
            <a:lstStyle/>
            <a:p>
              <a:pPr algn="ctr"/>
              <a:endParaRPr/>
            </a:p>
          </p:txBody>
        </p:sp>
        <p:sp>
          <p:nvSpPr>
            <p:cNvPr id="127" name="hub"/>
            <p:cNvSpPr/>
            <p:nvPr/>
          </p:nvSpPr>
          <p:spPr>
            <a:xfrm>
              <a:off x="4285198" y="3493419"/>
              <a:ext cx="67757" cy="67757"/>
            </a:xfrm>
            <a:prstGeom prst="ellipse">
              <a:avLst/>
            </a:prstGeom>
            <a:solidFill>
              <a:srgbClr val="9AA0A6"/>
            </a:solidFill>
            <a:ln>
              <a:noFill/>
            </a:ln>
          </p:spPr>
          <p:txBody>
            <a:bodyPr rtlCol="0" anchor="ctr"/>
            <a:lstStyle/>
            <a:p>
              <a:pPr algn="ctr"/>
              <a:endParaRPr/>
            </a:p>
          </p:txBody>
        </p:sp>
        <p:sp>
          <p:nvSpPr>
            <p:cNvPr id="128" name="wheel"/>
            <p:cNvSpPr/>
            <p:nvPr/>
          </p:nvSpPr>
          <p:spPr>
            <a:xfrm>
              <a:off x="4785420" y="3520439"/>
              <a:ext cx="137160" cy="137160"/>
            </a:xfrm>
            <a:prstGeom prst="ellipse">
              <a:avLst/>
            </a:prstGeom>
            <a:solidFill>
              <a:srgbClr val="1B1D21"/>
            </a:solidFill>
            <a:ln w="19050">
              <a:solidFill>
                <a:srgbClr val="9AA0A6"/>
              </a:solidFill>
            </a:ln>
          </p:spPr>
          <p:txBody>
            <a:bodyPr rtlCol="0" anchor="ctr"/>
            <a:lstStyle/>
            <a:p>
              <a:pPr algn="ctr"/>
              <a:endParaRPr/>
            </a:p>
          </p:txBody>
        </p:sp>
        <p:sp>
          <p:nvSpPr>
            <p:cNvPr id="129" name="hub"/>
            <p:cNvSpPr/>
            <p:nvPr/>
          </p:nvSpPr>
          <p:spPr>
            <a:xfrm>
              <a:off x="4836170" y="3571189"/>
              <a:ext cx="35661" cy="35661"/>
            </a:xfrm>
            <a:prstGeom prst="ellipse">
              <a:avLst/>
            </a:prstGeom>
            <a:solidFill>
              <a:srgbClr val="9AA0A6"/>
            </a:solidFill>
            <a:ln>
              <a:noFill/>
            </a:ln>
          </p:spPr>
          <p:txBody>
            <a:bodyPr rtlCol="0" anchor="ctr"/>
            <a:lstStyle/>
            <a:p>
              <a:pPr algn="ctr"/>
              <a:endParaRPr/>
            </a:p>
          </p:txBody>
        </p:sp>
        <p:sp>
          <p:nvSpPr>
            <p:cNvPr id="130" name="wheel"/>
            <p:cNvSpPr/>
            <p:nvPr/>
          </p:nvSpPr>
          <p:spPr>
            <a:xfrm>
              <a:off x="4936296" y="3520439"/>
              <a:ext cx="137160" cy="137160"/>
            </a:xfrm>
            <a:prstGeom prst="ellipse">
              <a:avLst/>
            </a:prstGeom>
            <a:solidFill>
              <a:srgbClr val="1B1D21"/>
            </a:solidFill>
            <a:ln w="19050">
              <a:solidFill>
                <a:srgbClr val="9AA0A6"/>
              </a:solidFill>
            </a:ln>
          </p:spPr>
          <p:txBody>
            <a:bodyPr rtlCol="0" anchor="ctr"/>
            <a:lstStyle/>
            <a:p>
              <a:pPr algn="ctr"/>
              <a:endParaRPr/>
            </a:p>
          </p:txBody>
        </p:sp>
        <p:sp>
          <p:nvSpPr>
            <p:cNvPr id="131" name="hub"/>
            <p:cNvSpPr/>
            <p:nvPr/>
          </p:nvSpPr>
          <p:spPr>
            <a:xfrm>
              <a:off x="4987046" y="3571189"/>
              <a:ext cx="35661" cy="35661"/>
            </a:xfrm>
            <a:prstGeom prst="ellipse">
              <a:avLst/>
            </a:prstGeom>
            <a:solidFill>
              <a:srgbClr val="9AA0A6"/>
            </a:solidFill>
            <a:ln>
              <a:noFill/>
            </a:ln>
          </p:spPr>
          <p:txBody>
            <a:bodyPr rtlCol="0" anchor="ctr"/>
            <a:lstStyle/>
            <a:p>
              <a:pPr algn="ctr"/>
              <a:endParaRPr/>
            </a:p>
          </p:txBody>
        </p:sp>
        <p:sp>
          <p:nvSpPr>
            <p:cNvPr id="132" name="coupling rod"/>
            <p:cNvSpPr/>
            <p:nvPr/>
          </p:nvSpPr>
          <p:spPr>
            <a:xfrm>
              <a:off x="3735324" y="3449116"/>
              <a:ext cx="583752" cy="19202"/>
            </a:xfrm>
            <a:prstGeom prst="rect">
              <a:avLst/>
            </a:prstGeom>
            <a:solidFill>
              <a:srgbClr val="D0D4D8"/>
            </a:solidFill>
            <a:ln>
              <a:noFill/>
            </a:ln>
          </p:spPr>
          <p:txBody>
            <a:bodyPr rtlCol="0" anchor="ctr"/>
            <a:lstStyle/>
            <a:p>
              <a:pPr algn="ctr"/>
              <a:endParaRPr/>
            </a:p>
          </p:txBody>
        </p:sp>
        <p:sp>
          <p:nvSpPr>
            <p:cNvPr id="133" name="rail"/>
            <p:cNvSpPr/>
            <p:nvPr/>
          </p:nvSpPr>
          <p:spPr>
            <a:xfrm>
              <a:off x="777240" y="3657600"/>
              <a:ext cx="4579680" cy="45720"/>
            </a:xfrm>
            <a:prstGeom prst="rect">
              <a:avLst/>
            </a:prstGeom>
            <a:solidFill>
              <a:srgbClr val="9AA0A6"/>
            </a:solidFill>
            <a:ln>
              <a:noFill/>
            </a:ln>
          </p:spPr>
          <p:txBody>
            <a:bodyPr rtlCol="0" anchor="ctr"/>
            <a:lstStyle/>
            <a:p>
              <a:pPr algn="ctr"/>
              <a:endParaRPr/>
            </a:p>
          </p:txBody>
        </p:sp>
        <p:sp>
          <p:nvSpPr>
            <p:cNvPr id="134" name="style band"/>
            <p:cNvSpPr/>
            <p:nvPr/>
          </p:nvSpPr>
          <p:spPr>
            <a:xfrm>
              <a:off x="868680" y="3749039"/>
              <a:ext cx="4396800" cy="274320"/>
            </a:xfrm>
            <a:prstGeom prst="roundRect">
              <a:avLst>
                <a:gd name="adj" fmla="val 16666"/>
              </a:avLst>
            </a:prstGeom>
            <a:solidFill>
              <a:srgbClr val="D6619B"/>
            </a:solidFill>
            <a:ln>
              <a:noFill/>
            </a:ln>
          </p:spPr>
          <p:txBody>
            <a:bodyPr wrap="square" lIns="54864" tIns="27432" rIns="54864" bIns="27432" rtlCol="0" anchor="ctr">
              <a:noAutofit/>
            </a:bodyPr>
            <a:lstStyle/>
            <a:p>
              <a:pPr algn="ctr"/>
              <a:r>
                <a:rPr lang="en-GB" sz="1400" b="1" i="0">
                  <a:solidFill>
                    <a:srgbClr val="101418"/>
                  </a:solidFill>
                  <a:latin typeface="Arial"/>
                </a:rPr>
                <a:t>North American style</a:t>
              </a:r>
            </a:p>
          </p:txBody>
        </p:sp>
        <p:cxnSp>
          <p:nvCxnSpPr>
            <p:cNvPr id="135" name="lead pointer"/>
            <p:cNvCxnSpPr/>
            <p:nvPr/>
          </p:nvCxnSpPr>
          <p:spPr>
            <a:xfrm flipH="1">
              <a:off x="5402640" y="3246120"/>
              <a:ext cx="365760" cy="0"/>
            </a:xfrm>
            <a:prstGeom prst="line">
              <a:avLst/>
            </a:prstGeom>
            <a:ln w="31750">
              <a:solidFill>
                <a:srgbClr val="F28C28"/>
              </a:solidFill>
              <a:tailEnd type="triangle" w="med" len="med"/>
            </a:ln>
          </p:spPr>
        </p:cxnSp>
        <p:sp>
          <p:nvSpPr>
            <p:cNvPr id="136" name="lead label"/>
            <p:cNvSpPr txBox="1"/>
            <p:nvPr/>
          </p:nvSpPr>
          <p:spPr>
            <a:xfrm>
              <a:off x="5859840" y="3063240"/>
              <a:ext cx="2011680" cy="365760"/>
            </a:xfrm>
            <a:prstGeom prst="rect">
              <a:avLst/>
            </a:prstGeom>
            <a:noFill/>
          </p:spPr>
          <p:txBody>
            <a:bodyPr wrap="square" lIns="18288" tIns="9144" rIns="18288" bIns="9144" anchor="ctr">
              <a:noAutofit/>
            </a:bodyPr>
            <a:lstStyle/>
            <a:p>
              <a:pPr algn="l"/>
              <a:r>
                <a:rPr lang="en-GB" sz="1800" b="1" i="0">
                  <a:solidFill>
                    <a:srgbClr val="F2F2F2"/>
                  </a:solidFill>
                  <a:latin typeface="Arial"/>
                </a:rPr>
                <a:t>Lead engine</a:t>
              </a:r>
            </a:p>
          </p:txBody>
        </p:sp>
        <p:sp>
          <p:nvSpPr>
            <p:cNvPr id="137" name="rail"/>
            <p:cNvSpPr/>
            <p:nvPr/>
          </p:nvSpPr>
          <p:spPr>
            <a:xfrm>
              <a:off x="777240" y="5074920"/>
              <a:ext cx="2615184" cy="45720"/>
            </a:xfrm>
            <a:prstGeom prst="rect">
              <a:avLst/>
            </a:prstGeom>
            <a:solidFill>
              <a:srgbClr val="9AA0A6"/>
            </a:solidFill>
            <a:ln>
              <a:noFill/>
            </a:ln>
          </p:spPr>
          <p:txBody>
            <a:bodyPr rtlCol="0" anchor="ctr"/>
            <a:lstStyle/>
            <a:p>
              <a:pPr algn="ctr"/>
              <a:endParaRPr/>
            </a:p>
          </p:txBody>
        </p:sp>
        <p:sp>
          <p:nvSpPr>
            <p:cNvPr id="138" name="platform"/>
            <p:cNvSpPr/>
            <p:nvPr/>
          </p:nvSpPr>
          <p:spPr>
            <a:xfrm>
              <a:off x="868680" y="4987137"/>
              <a:ext cx="1170432" cy="87782"/>
            </a:xfrm>
            <a:prstGeom prst="rect">
              <a:avLst/>
            </a:prstGeom>
            <a:solidFill>
              <a:srgbClr val="5A606A"/>
            </a:solidFill>
            <a:ln w="12700">
              <a:solidFill>
                <a:srgbClr val="9AA0A6"/>
              </a:solidFill>
            </a:ln>
          </p:spPr>
          <p:txBody>
            <a:bodyPr rtlCol="0" anchor="ctr"/>
            <a:lstStyle/>
            <a:p>
              <a:pPr algn="ctr"/>
              <a:endParaRPr/>
            </a:p>
          </p:txBody>
        </p:sp>
        <p:sp>
          <p:nvSpPr>
            <p:cNvPr id="139" name="building"/>
            <p:cNvSpPr/>
            <p:nvPr/>
          </p:nvSpPr>
          <p:spPr>
            <a:xfrm>
              <a:off x="985723" y="4548225"/>
              <a:ext cx="760780" cy="438912"/>
            </a:xfrm>
            <a:prstGeom prst="rect">
              <a:avLst/>
            </a:prstGeom>
            <a:solidFill>
              <a:srgbClr val="D9B26F"/>
            </a:solidFill>
            <a:ln>
              <a:noFill/>
            </a:ln>
          </p:spPr>
          <p:txBody>
            <a:bodyPr rtlCol="0" anchor="ctr"/>
            <a:lstStyle/>
            <a:p>
              <a:pPr algn="ctr"/>
              <a:endParaRPr/>
            </a:p>
          </p:txBody>
        </p:sp>
        <p:sp>
          <p:nvSpPr>
            <p:cNvPr id="140" name="gable roof"/>
            <p:cNvSpPr/>
            <p:nvPr/>
          </p:nvSpPr>
          <p:spPr>
            <a:xfrm>
              <a:off x="941832" y="4255617"/>
              <a:ext cx="848563" cy="292608"/>
            </a:xfrm>
            <a:custGeom>
              <a:avLst/>
              <a:gdLst/>
              <a:ahLst/>
              <a:cxnLst/>
              <a:rect l="l" t="t" r="r" b="b"/>
              <a:pathLst>
                <a:path w="848563" h="292608">
                  <a:moveTo>
                    <a:pt x="0" y="292608"/>
                  </a:moveTo>
                  <a:lnTo>
                    <a:pt x="424281" y="0"/>
                  </a:lnTo>
                  <a:lnTo>
                    <a:pt x="848563" y="292608"/>
                  </a:lnTo>
                  <a:close/>
                </a:path>
              </a:pathLst>
            </a:custGeom>
            <a:solidFill>
              <a:srgbClr val="8D7348"/>
            </a:solidFill>
            <a:ln>
              <a:noFill/>
            </a:ln>
          </p:spPr>
          <p:txBody>
            <a:bodyPr rtlCol="0" anchor="ctr"/>
            <a:lstStyle/>
            <a:p>
              <a:pPr algn="ctr"/>
              <a:endParaRPr/>
            </a:p>
          </p:txBody>
        </p:sp>
        <p:sp>
          <p:nvSpPr>
            <p:cNvPr id="141" name="chimney"/>
            <p:cNvSpPr/>
            <p:nvPr/>
          </p:nvSpPr>
          <p:spPr>
            <a:xfrm>
              <a:off x="1570939" y="4284878"/>
              <a:ext cx="80467" cy="190195"/>
            </a:xfrm>
            <a:prstGeom prst="rect">
              <a:avLst/>
            </a:prstGeom>
            <a:solidFill>
              <a:srgbClr val="3A3F47"/>
            </a:solidFill>
            <a:ln>
              <a:noFill/>
            </a:ln>
          </p:spPr>
          <p:txBody>
            <a:bodyPr rtlCol="0" anchor="ctr"/>
            <a:lstStyle/>
            <a:p>
              <a:pPr algn="ctr"/>
              <a:endParaRPr/>
            </a:p>
          </p:txBody>
        </p:sp>
        <p:sp>
          <p:nvSpPr>
            <p:cNvPr id="142" name="window"/>
            <p:cNvSpPr/>
            <p:nvPr/>
          </p:nvSpPr>
          <p:spPr>
            <a:xfrm>
              <a:off x="1058875" y="4665268"/>
              <a:ext cx="146304" cy="146304"/>
            </a:xfrm>
            <a:prstGeom prst="rect">
              <a:avLst/>
            </a:prstGeom>
            <a:solidFill>
              <a:srgbClr val="1B1D21"/>
            </a:solidFill>
            <a:ln>
              <a:noFill/>
            </a:ln>
          </p:spPr>
          <p:txBody>
            <a:bodyPr rtlCol="0" anchor="ctr"/>
            <a:lstStyle/>
            <a:p>
              <a:pPr algn="ctr"/>
              <a:endParaRPr/>
            </a:p>
          </p:txBody>
        </p:sp>
        <p:sp>
          <p:nvSpPr>
            <p:cNvPr id="143" name="window"/>
            <p:cNvSpPr/>
            <p:nvPr/>
          </p:nvSpPr>
          <p:spPr>
            <a:xfrm>
              <a:off x="1512417" y="4665268"/>
              <a:ext cx="146304" cy="146304"/>
            </a:xfrm>
            <a:prstGeom prst="rect">
              <a:avLst/>
            </a:prstGeom>
            <a:solidFill>
              <a:srgbClr val="1B1D21"/>
            </a:solidFill>
            <a:ln>
              <a:noFill/>
            </a:ln>
          </p:spPr>
          <p:txBody>
            <a:bodyPr rtlCol="0" anchor="ctr"/>
            <a:lstStyle/>
            <a:p>
              <a:pPr algn="ctr"/>
              <a:endParaRPr/>
            </a:p>
          </p:txBody>
        </p:sp>
        <p:sp>
          <p:nvSpPr>
            <p:cNvPr id="144" name="door"/>
            <p:cNvSpPr/>
            <p:nvPr/>
          </p:nvSpPr>
          <p:spPr>
            <a:xfrm>
              <a:off x="1292961" y="4636008"/>
              <a:ext cx="131673" cy="351129"/>
            </a:xfrm>
            <a:prstGeom prst="rect">
              <a:avLst/>
            </a:prstGeom>
            <a:solidFill>
              <a:srgbClr val="77613D"/>
            </a:solidFill>
            <a:ln>
              <a:noFill/>
            </a:ln>
          </p:spPr>
          <p:txBody>
            <a:bodyPr rtlCol="0" anchor="ctr"/>
            <a:lstStyle/>
            <a:p>
              <a:pPr algn="ctr"/>
              <a:endParaRPr/>
            </a:p>
          </p:txBody>
        </p:sp>
        <p:sp>
          <p:nvSpPr>
            <p:cNvPr id="145" name="wagon frame"/>
            <p:cNvSpPr/>
            <p:nvPr/>
          </p:nvSpPr>
          <p:spPr>
            <a:xfrm>
              <a:off x="2697480" y="4882896"/>
              <a:ext cx="603504" cy="54863"/>
            </a:xfrm>
            <a:prstGeom prst="rect">
              <a:avLst/>
            </a:prstGeom>
            <a:solidFill>
              <a:srgbClr val="3A3F47"/>
            </a:solidFill>
            <a:ln w="9525">
              <a:solidFill>
                <a:srgbClr val="9AA0A6"/>
              </a:solidFill>
            </a:ln>
          </p:spPr>
          <p:txBody>
            <a:bodyPr rtlCol="0" anchor="ctr"/>
            <a:lstStyle/>
            <a:p>
              <a:pPr algn="ctr"/>
              <a:endParaRPr/>
            </a:p>
          </p:txBody>
        </p:sp>
        <p:sp>
          <p:nvSpPr>
            <p:cNvPr id="146" name="flat bed"/>
            <p:cNvSpPr/>
            <p:nvPr/>
          </p:nvSpPr>
          <p:spPr>
            <a:xfrm>
              <a:off x="2697480" y="4828031"/>
              <a:ext cx="603504" cy="54864"/>
            </a:xfrm>
            <a:prstGeom prst="rect">
              <a:avLst/>
            </a:prstGeom>
            <a:solidFill>
              <a:srgbClr val="D9B26F"/>
            </a:solidFill>
            <a:ln>
              <a:noFill/>
            </a:ln>
          </p:spPr>
          <p:txBody>
            <a:bodyPr rtlCol="0" anchor="ctr"/>
            <a:lstStyle/>
            <a:p>
              <a:pPr algn="ctr"/>
              <a:endParaRPr/>
            </a:p>
          </p:txBody>
        </p:sp>
        <p:sp>
          <p:nvSpPr>
            <p:cNvPr id="147" name="crate"/>
            <p:cNvSpPr/>
            <p:nvPr/>
          </p:nvSpPr>
          <p:spPr>
            <a:xfrm>
              <a:off x="2818180" y="4663440"/>
              <a:ext cx="168981" cy="164592"/>
            </a:xfrm>
            <a:prstGeom prst="roundRect">
              <a:avLst>
                <a:gd name="adj" fmla="val 3333"/>
              </a:avLst>
            </a:prstGeom>
            <a:solidFill>
              <a:srgbClr val="A28553"/>
            </a:solidFill>
            <a:ln>
              <a:noFill/>
            </a:ln>
          </p:spPr>
          <p:txBody>
            <a:bodyPr rtlCol="0" anchor="ctr"/>
            <a:lstStyle/>
            <a:p>
              <a:pPr algn="ctr"/>
              <a:endParaRPr/>
            </a:p>
          </p:txBody>
        </p:sp>
        <p:sp>
          <p:nvSpPr>
            <p:cNvPr id="148" name="crate"/>
            <p:cNvSpPr/>
            <p:nvPr/>
          </p:nvSpPr>
          <p:spPr>
            <a:xfrm>
              <a:off x="3035442" y="4718304"/>
              <a:ext cx="144840" cy="109728"/>
            </a:xfrm>
            <a:prstGeom prst="roundRect">
              <a:avLst>
                <a:gd name="adj" fmla="val 5000"/>
              </a:avLst>
            </a:prstGeom>
            <a:solidFill>
              <a:srgbClr val="A28553"/>
            </a:solidFill>
            <a:ln>
              <a:noFill/>
            </a:ln>
          </p:spPr>
          <p:txBody>
            <a:bodyPr rtlCol="0" anchor="ctr"/>
            <a:lstStyle/>
            <a:p>
              <a:pPr algn="ctr"/>
              <a:endParaRPr/>
            </a:p>
          </p:txBody>
        </p:sp>
        <p:sp>
          <p:nvSpPr>
            <p:cNvPr id="149" name="wheel"/>
            <p:cNvSpPr/>
            <p:nvPr/>
          </p:nvSpPr>
          <p:spPr>
            <a:xfrm>
              <a:off x="2738628" y="491032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150" name="hub"/>
            <p:cNvSpPr/>
            <p:nvPr/>
          </p:nvSpPr>
          <p:spPr>
            <a:xfrm>
              <a:off x="2799527" y="4971227"/>
              <a:ext cx="42793" cy="42793"/>
            </a:xfrm>
            <a:prstGeom prst="ellipse">
              <a:avLst/>
            </a:prstGeom>
            <a:solidFill>
              <a:srgbClr val="9AA0A6"/>
            </a:solidFill>
            <a:ln>
              <a:noFill/>
            </a:ln>
          </p:spPr>
          <p:txBody>
            <a:bodyPr rtlCol="0" anchor="ctr"/>
            <a:lstStyle/>
            <a:p>
              <a:pPr algn="ctr"/>
              <a:endParaRPr/>
            </a:p>
          </p:txBody>
        </p:sp>
        <p:sp>
          <p:nvSpPr>
            <p:cNvPr id="151" name="wheel"/>
            <p:cNvSpPr/>
            <p:nvPr/>
          </p:nvSpPr>
          <p:spPr>
            <a:xfrm>
              <a:off x="3095244" y="4910328"/>
              <a:ext cx="164592" cy="164592"/>
            </a:xfrm>
            <a:prstGeom prst="ellipse">
              <a:avLst/>
            </a:prstGeom>
            <a:solidFill>
              <a:srgbClr val="1B1D21"/>
            </a:solidFill>
            <a:ln w="15875">
              <a:solidFill>
                <a:srgbClr val="9AA0A6"/>
              </a:solidFill>
            </a:ln>
          </p:spPr>
          <p:txBody>
            <a:bodyPr rtlCol="0" anchor="ctr"/>
            <a:lstStyle/>
            <a:p>
              <a:pPr algn="ctr"/>
              <a:endParaRPr/>
            </a:p>
          </p:txBody>
        </p:sp>
        <p:sp>
          <p:nvSpPr>
            <p:cNvPr id="152" name="hub"/>
            <p:cNvSpPr/>
            <p:nvPr/>
          </p:nvSpPr>
          <p:spPr>
            <a:xfrm>
              <a:off x="3156143" y="4971227"/>
              <a:ext cx="42793" cy="42793"/>
            </a:xfrm>
            <a:prstGeom prst="ellipse">
              <a:avLst/>
            </a:prstGeom>
            <a:solidFill>
              <a:srgbClr val="9AA0A6"/>
            </a:solidFill>
            <a:ln>
              <a:noFill/>
            </a:ln>
          </p:spPr>
          <p:txBody>
            <a:bodyPr rtlCol="0" anchor="ctr"/>
            <a:lstStyle/>
            <a:p>
              <a:pPr algn="ctr"/>
              <a:endParaRPr/>
            </a:p>
          </p:txBody>
        </p:sp>
        <p:sp>
          <p:nvSpPr>
            <p:cNvPr id="153" name="style band"/>
            <p:cNvSpPr/>
            <p:nvPr/>
          </p:nvSpPr>
          <p:spPr>
            <a:xfrm>
              <a:off x="868680" y="5166359"/>
              <a:ext cx="2432304" cy="274320"/>
            </a:xfrm>
            <a:prstGeom prst="roundRect">
              <a:avLst>
                <a:gd name="adj" fmla="val 16666"/>
              </a:avLst>
            </a:prstGeom>
            <a:solidFill>
              <a:srgbClr val="D9B26F"/>
            </a:solidFill>
            <a:ln>
              <a:noFill/>
            </a:ln>
          </p:spPr>
          <p:txBody>
            <a:bodyPr wrap="square" lIns="54864" tIns="27432" rIns="54864" bIns="27432" rtlCol="0" anchor="ctr">
              <a:noAutofit/>
            </a:bodyPr>
            <a:lstStyle/>
            <a:p>
              <a:pPr algn="ctr"/>
              <a:r>
                <a:rPr lang="en-GB" sz="1400" b="1" i="0">
                  <a:solidFill>
                    <a:srgbClr val="101418"/>
                  </a:solidFill>
                  <a:latin typeface="Arial"/>
                </a:rPr>
                <a:t>World style</a:t>
              </a:r>
            </a:p>
          </p:txBody>
        </p:sp>
        <p:sp>
          <p:nvSpPr>
            <p:cNvPr id="154" name="lone label"/>
            <p:cNvSpPr txBox="1"/>
            <p:nvPr/>
          </p:nvSpPr>
          <p:spPr>
            <a:xfrm>
              <a:off x="3575304" y="4480560"/>
              <a:ext cx="2194560" cy="365760"/>
            </a:xfrm>
            <a:prstGeom prst="rect">
              <a:avLst/>
            </a:prstGeom>
            <a:noFill/>
          </p:spPr>
          <p:txBody>
            <a:bodyPr wrap="square" lIns="18288" tIns="9144" rIns="18288" bIns="9144" anchor="ctr">
              <a:noAutofit/>
            </a:bodyPr>
            <a:lstStyle/>
            <a:p>
              <a:pPr algn="l"/>
              <a:r>
                <a:rPr lang="en-GB" sz="1800" b="1" i="0">
                  <a:solidFill>
                    <a:srgbClr val="F2F2F2"/>
                  </a:solidFill>
                  <a:latin typeface="Arial"/>
                </a:rPr>
                <a:t>Lone wagon</a:t>
              </a:r>
            </a:p>
          </p:txBody>
        </p:sp>
      </p:grpSp>
      <p:sp>
        <p:nvSpPr>
          <p:cNvPr id="15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5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57"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Wagons take the look of the engine pulling them. A lone wagon follows the world style.</a:t>
            </a:r>
          </a:p>
        </p:txBody>
      </p:sp>
      <p:sp>
        <p:nvSpPr>
          <p:cNvPr id="158"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9</a:t>
            </a:r>
          </a:p>
        </p:txBody>
      </p:sp>
    </p:spTree>
    <p:extLst>
      <p:ext uri="{BB962C8B-B14F-4D97-AF65-F5344CB8AC3E}">
        <p14:creationId xmlns:p14="http://schemas.microsoft.com/office/powerpoint/2010/main" val="42277829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55"/>
                                        </p:tgtEl>
                                        <p:attrNameLst>
                                          <p:attrName>style.visibility</p:attrName>
                                        </p:attrNameLst>
                                      </p:cBhvr>
                                      <p:to>
                                        <p:strVal val="visible"/>
                                      </p:to>
                                    </p:set>
                                    <p:animEffect transition="in" filter="fade">
                                      <p:cBhvr>
                                        <p:cTn id="10" dur="500"/>
                                        <p:tgtEl>
                                          <p:spTgt spid="155"/>
                                        </p:tgtEl>
                                      </p:cBhvr>
                                    </p:animEffect>
                                  </p:childTnLst>
                                </p:cTn>
                              </p:par>
                              <p:par>
                                <p:cTn id="11" presetID="10" presetClass="entr" presetSubtype="0" fill="hold" nodeType="withEffect">
                                  <p:stCondLst>
                                    <p:cond delay="600"/>
                                  </p:stCondLst>
                                  <p:childTnLst>
                                    <p:set>
                                      <p:cBhvr>
                                        <p:cTn id="12" dur="1" fill="hold">
                                          <p:stCondLst>
                                            <p:cond delay="0"/>
                                          </p:stCondLst>
                                        </p:cTn>
                                        <p:tgtEl>
                                          <p:spTgt spid="156"/>
                                        </p:tgtEl>
                                        <p:attrNameLst>
                                          <p:attrName>style.visibility</p:attrName>
                                        </p:attrNameLst>
                                      </p:cBhvr>
                                      <p:to>
                                        <p:strVal val="visible"/>
                                      </p:to>
                                    </p:set>
                                    <p:animEffect transition="in" filter="fade">
                                      <p:cBhvr>
                                        <p:cTn id="13" dur="500"/>
                                        <p:tgtEl>
                                          <p:spTgt spid="156"/>
                                        </p:tgtEl>
                                      </p:cBhvr>
                                    </p:animEffect>
                                  </p:childTnLst>
                                </p:cTn>
                              </p:par>
                              <p:par>
                                <p:cTn id="14" presetID="10" presetClass="entr" presetSubtype="0" fill="hold" nodeType="withEffect">
                                  <p:stCondLst>
                                    <p:cond delay="900"/>
                                  </p:stCondLst>
                                  <p:childTnLst>
                                    <p:set>
                                      <p:cBhvr>
                                        <p:cTn id="15" dur="1" fill="hold">
                                          <p:stCondLst>
                                            <p:cond delay="0"/>
                                          </p:stCondLst>
                                        </p:cTn>
                                        <p:tgtEl>
                                          <p:spTgt spid="157"/>
                                        </p:tgtEl>
                                        <p:attrNameLst>
                                          <p:attrName>style.visibility</p:attrName>
                                        </p:attrNameLst>
                                      </p:cBhvr>
                                      <p:to>
                                        <p:strVal val="visible"/>
                                      </p:to>
                                    </p:set>
                                    <p:animEffect transition="in" filter="fade">
                                      <p:cBhvr>
                                        <p:cTn id="16" dur="500"/>
                                        <p:tgtEl>
                                          <p:spTgt spid="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Which engine leads?</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grpSp>
        <p:nvGrpSpPr>
          <p:cNvPr id="4" name="Two coupled engines" descr="Two coupled engines in one train, each with a question mark above it. Which one leads is not settled."/>
          <p:cNvGrpSpPr/>
          <p:nvPr/>
        </p:nvGrpSpPr>
        <p:grpSpPr>
          <a:xfrm>
            <a:off x="822960" y="1714500"/>
            <a:ext cx="10607040" cy="2638044"/>
            <a:chOff x="822960" y="1714500"/>
            <a:chExt cx="10607040" cy="2638044"/>
          </a:xfrm>
        </p:grpSpPr>
        <p:sp>
          <p:nvSpPr>
            <p:cNvPr id="5" name="rail"/>
            <p:cNvSpPr/>
            <p:nvPr/>
          </p:nvSpPr>
          <p:spPr>
            <a:xfrm>
              <a:off x="822960" y="4206240"/>
              <a:ext cx="10607040" cy="64008"/>
            </a:xfrm>
            <a:prstGeom prst="rect">
              <a:avLst/>
            </a:prstGeom>
            <a:solidFill>
              <a:srgbClr val="9AA0A6"/>
            </a:solidFill>
            <a:ln>
              <a:noFill/>
            </a:ln>
          </p:spPr>
          <p:txBody>
            <a:bodyPr rtlCol="0" anchor="ctr"/>
            <a:lstStyle/>
            <a:p>
              <a:pPr algn="ctr"/>
              <a:endParaRPr/>
            </a:p>
          </p:txBody>
        </p:sp>
        <p:sp>
          <p:nvSpPr>
            <p:cNvPr id="6" name="sleeper"/>
            <p:cNvSpPr/>
            <p:nvPr/>
          </p:nvSpPr>
          <p:spPr>
            <a:xfrm>
              <a:off x="822960" y="4270248"/>
              <a:ext cx="128016" cy="82296"/>
            </a:xfrm>
            <a:prstGeom prst="rect">
              <a:avLst/>
            </a:prstGeom>
            <a:solidFill>
              <a:srgbClr val="6B5B4B"/>
            </a:solidFill>
            <a:ln>
              <a:noFill/>
            </a:ln>
          </p:spPr>
          <p:txBody>
            <a:bodyPr rtlCol="0" anchor="ctr"/>
            <a:lstStyle/>
            <a:p>
              <a:pPr algn="ctr"/>
              <a:endParaRPr/>
            </a:p>
          </p:txBody>
        </p:sp>
        <p:sp>
          <p:nvSpPr>
            <p:cNvPr id="7" name="sleeper"/>
            <p:cNvSpPr/>
            <p:nvPr/>
          </p:nvSpPr>
          <p:spPr>
            <a:xfrm>
              <a:off x="1188720" y="4270248"/>
              <a:ext cx="128016" cy="82296"/>
            </a:xfrm>
            <a:prstGeom prst="rect">
              <a:avLst/>
            </a:prstGeom>
            <a:solidFill>
              <a:srgbClr val="6B5B4B"/>
            </a:solidFill>
            <a:ln>
              <a:noFill/>
            </a:ln>
          </p:spPr>
          <p:txBody>
            <a:bodyPr rtlCol="0" anchor="ctr"/>
            <a:lstStyle/>
            <a:p>
              <a:pPr algn="ctr"/>
              <a:endParaRPr/>
            </a:p>
          </p:txBody>
        </p:sp>
        <p:sp>
          <p:nvSpPr>
            <p:cNvPr id="8" name="sleeper"/>
            <p:cNvSpPr/>
            <p:nvPr/>
          </p:nvSpPr>
          <p:spPr>
            <a:xfrm>
              <a:off x="1554480" y="4270248"/>
              <a:ext cx="128016" cy="82296"/>
            </a:xfrm>
            <a:prstGeom prst="rect">
              <a:avLst/>
            </a:prstGeom>
            <a:solidFill>
              <a:srgbClr val="6B5B4B"/>
            </a:solidFill>
            <a:ln>
              <a:noFill/>
            </a:ln>
          </p:spPr>
          <p:txBody>
            <a:bodyPr rtlCol="0" anchor="ctr"/>
            <a:lstStyle/>
            <a:p>
              <a:pPr algn="ctr"/>
              <a:endParaRPr/>
            </a:p>
          </p:txBody>
        </p:sp>
        <p:sp>
          <p:nvSpPr>
            <p:cNvPr id="9" name="sleeper"/>
            <p:cNvSpPr/>
            <p:nvPr/>
          </p:nvSpPr>
          <p:spPr>
            <a:xfrm>
              <a:off x="1920240" y="4270248"/>
              <a:ext cx="128016" cy="82296"/>
            </a:xfrm>
            <a:prstGeom prst="rect">
              <a:avLst/>
            </a:prstGeom>
            <a:solidFill>
              <a:srgbClr val="6B5B4B"/>
            </a:solidFill>
            <a:ln>
              <a:noFill/>
            </a:ln>
          </p:spPr>
          <p:txBody>
            <a:bodyPr rtlCol="0" anchor="ctr"/>
            <a:lstStyle/>
            <a:p>
              <a:pPr algn="ctr"/>
              <a:endParaRPr/>
            </a:p>
          </p:txBody>
        </p:sp>
        <p:sp>
          <p:nvSpPr>
            <p:cNvPr id="10" name="sleeper"/>
            <p:cNvSpPr/>
            <p:nvPr/>
          </p:nvSpPr>
          <p:spPr>
            <a:xfrm>
              <a:off x="2286000" y="4270248"/>
              <a:ext cx="128016" cy="82296"/>
            </a:xfrm>
            <a:prstGeom prst="rect">
              <a:avLst/>
            </a:prstGeom>
            <a:solidFill>
              <a:srgbClr val="6B5B4B"/>
            </a:solidFill>
            <a:ln>
              <a:noFill/>
            </a:ln>
          </p:spPr>
          <p:txBody>
            <a:bodyPr rtlCol="0" anchor="ctr"/>
            <a:lstStyle/>
            <a:p>
              <a:pPr algn="ctr"/>
              <a:endParaRPr/>
            </a:p>
          </p:txBody>
        </p:sp>
        <p:sp>
          <p:nvSpPr>
            <p:cNvPr id="11" name="sleeper"/>
            <p:cNvSpPr/>
            <p:nvPr/>
          </p:nvSpPr>
          <p:spPr>
            <a:xfrm>
              <a:off x="2651760" y="4270248"/>
              <a:ext cx="128016" cy="82296"/>
            </a:xfrm>
            <a:prstGeom prst="rect">
              <a:avLst/>
            </a:prstGeom>
            <a:solidFill>
              <a:srgbClr val="6B5B4B"/>
            </a:solidFill>
            <a:ln>
              <a:noFill/>
            </a:ln>
          </p:spPr>
          <p:txBody>
            <a:bodyPr rtlCol="0" anchor="ctr"/>
            <a:lstStyle/>
            <a:p>
              <a:pPr algn="ctr"/>
              <a:endParaRPr/>
            </a:p>
          </p:txBody>
        </p:sp>
        <p:sp>
          <p:nvSpPr>
            <p:cNvPr id="12" name="sleeper"/>
            <p:cNvSpPr/>
            <p:nvPr/>
          </p:nvSpPr>
          <p:spPr>
            <a:xfrm>
              <a:off x="3017520" y="4270248"/>
              <a:ext cx="128016" cy="82296"/>
            </a:xfrm>
            <a:prstGeom prst="rect">
              <a:avLst/>
            </a:prstGeom>
            <a:solidFill>
              <a:srgbClr val="6B5B4B"/>
            </a:solidFill>
            <a:ln>
              <a:noFill/>
            </a:ln>
          </p:spPr>
          <p:txBody>
            <a:bodyPr rtlCol="0" anchor="ctr"/>
            <a:lstStyle/>
            <a:p>
              <a:pPr algn="ctr"/>
              <a:endParaRPr/>
            </a:p>
          </p:txBody>
        </p:sp>
        <p:sp>
          <p:nvSpPr>
            <p:cNvPr id="13" name="sleeper"/>
            <p:cNvSpPr/>
            <p:nvPr/>
          </p:nvSpPr>
          <p:spPr>
            <a:xfrm>
              <a:off x="3383280" y="4270248"/>
              <a:ext cx="128016" cy="82296"/>
            </a:xfrm>
            <a:prstGeom prst="rect">
              <a:avLst/>
            </a:prstGeom>
            <a:solidFill>
              <a:srgbClr val="6B5B4B"/>
            </a:solidFill>
            <a:ln>
              <a:noFill/>
            </a:ln>
          </p:spPr>
          <p:txBody>
            <a:bodyPr rtlCol="0" anchor="ctr"/>
            <a:lstStyle/>
            <a:p>
              <a:pPr algn="ctr"/>
              <a:endParaRPr/>
            </a:p>
          </p:txBody>
        </p:sp>
        <p:sp>
          <p:nvSpPr>
            <p:cNvPr id="14" name="sleeper"/>
            <p:cNvSpPr/>
            <p:nvPr/>
          </p:nvSpPr>
          <p:spPr>
            <a:xfrm>
              <a:off x="3749040" y="4270248"/>
              <a:ext cx="128016" cy="82296"/>
            </a:xfrm>
            <a:prstGeom prst="rect">
              <a:avLst/>
            </a:prstGeom>
            <a:solidFill>
              <a:srgbClr val="6B5B4B"/>
            </a:solidFill>
            <a:ln>
              <a:noFill/>
            </a:ln>
          </p:spPr>
          <p:txBody>
            <a:bodyPr rtlCol="0" anchor="ctr"/>
            <a:lstStyle/>
            <a:p>
              <a:pPr algn="ctr"/>
              <a:endParaRPr/>
            </a:p>
          </p:txBody>
        </p:sp>
        <p:sp>
          <p:nvSpPr>
            <p:cNvPr id="15" name="sleeper"/>
            <p:cNvSpPr/>
            <p:nvPr/>
          </p:nvSpPr>
          <p:spPr>
            <a:xfrm>
              <a:off x="4114800" y="4270248"/>
              <a:ext cx="128016" cy="82296"/>
            </a:xfrm>
            <a:prstGeom prst="rect">
              <a:avLst/>
            </a:prstGeom>
            <a:solidFill>
              <a:srgbClr val="6B5B4B"/>
            </a:solidFill>
            <a:ln>
              <a:noFill/>
            </a:ln>
          </p:spPr>
          <p:txBody>
            <a:bodyPr rtlCol="0" anchor="ctr"/>
            <a:lstStyle/>
            <a:p>
              <a:pPr algn="ctr"/>
              <a:endParaRPr/>
            </a:p>
          </p:txBody>
        </p:sp>
        <p:sp>
          <p:nvSpPr>
            <p:cNvPr id="16" name="sleeper"/>
            <p:cNvSpPr/>
            <p:nvPr/>
          </p:nvSpPr>
          <p:spPr>
            <a:xfrm>
              <a:off x="4480560" y="4270248"/>
              <a:ext cx="128016" cy="82296"/>
            </a:xfrm>
            <a:prstGeom prst="rect">
              <a:avLst/>
            </a:prstGeom>
            <a:solidFill>
              <a:srgbClr val="6B5B4B"/>
            </a:solidFill>
            <a:ln>
              <a:noFill/>
            </a:ln>
          </p:spPr>
          <p:txBody>
            <a:bodyPr rtlCol="0" anchor="ctr"/>
            <a:lstStyle/>
            <a:p>
              <a:pPr algn="ctr"/>
              <a:endParaRPr/>
            </a:p>
          </p:txBody>
        </p:sp>
        <p:sp>
          <p:nvSpPr>
            <p:cNvPr id="17" name="sleeper"/>
            <p:cNvSpPr/>
            <p:nvPr/>
          </p:nvSpPr>
          <p:spPr>
            <a:xfrm>
              <a:off x="4846320" y="4270248"/>
              <a:ext cx="128016" cy="82296"/>
            </a:xfrm>
            <a:prstGeom prst="rect">
              <a:avLst/>
            </a:prstGeom>
            <a:solidFill>
              <a:srgbClr val="6B5B4B"/>
            </a:solidFill>
            <a:ln>
              <a:noFill/>
            </a:ln>
          </p:spPr>
          <p:txBody>
            <a:bodyPr rtlCol="0" anchor="ctr"/>
            <a:lstStyle/>
            <a:p>
              <a:pPr algn="ctr"/>
              <a:endParaRPr/>
            </a:p>
          </p:txBody>
        </p:sp>
        <p:sp>
          <p:nvSpPr>
            <p:cNvPr id="18" name="sleeper"/>
            <p:cNvSpPr/>
            <p:nvPr/>
          </p:nvSpPr>
          <p:spPr>
            <a:xfrm>
              <a:off x="5212080" y="4270248"/>
              <a:ext cx="128016" cy="82296"/>
            </a:xfrm>
            <a:prstGeom prst="rect">
              <a:avLst/>
            </a:prstGeom>
            <a:solidFill>
              <a:srgbClr val="6B5B4B"/>
            </a:solidFill>
            <a:ln>
              <a:noFill/>
            </a:ln>
          </p:spPr>
          <p:txBody>
            <a:bodyPr rtlCol="0" anchor="ctr"/>
            <a:lstStyle/>
            <a:p>
              <a:pPr algn="ctr"/>
              <a:endParaRPr/>
            </a:p>
          </p:txBody>
        </p:sp>
        <p:sp>
          <p:nvSpPr>
            <p:cNvPr id="19" name="sleeper"/>
            <p:cNvSpPr/>
            <p:nvPr/>
          </p:nvSpPr>
          <p:spPr>
            <a:xfrm>
              <a:off x="5577840" y="4270248"/>
              <a:ext cx="128016" cy="82296"/>
            </a:xfrm>
            <a:prstGeom prst="rect">
              <a:avLst/>
            </a:prstGeom>
            <a:solidFill>
              <a:srgbClr val="6B5B4B"/>
            </a:solidFill>
            <a:ln>
              <a:noFill/>
            </a:ln>
          </p:spPr>
          <p:txBody>
            <a:bodyPr rtlCol="0" anchor="ctr"/>
            <a:lstStyle/>
            <a:p>
              <a:pPr algn="ctr"/>
              <a:endParaRPr/>
            </a:p>
          </p:txBody>
        </p:sp>
        <p:sp>
          <p:nvSpPr>
            <p:cNvPr id="20" name="sleeper"/>
            <p:cNvSpPr/>
            <p:nvPr/>
          </p:nvSpPr>
          <p:spPr>
            <a:xfrm>
              <a:off x="5943600" y="4270248"/>
              <a:ext cx="128016" cy="82296"/>
            </a:xfrm>
            <a:prstGeom prst="rect">
              <a:avLst/>
            </a:prstGeom>
            <a:solidFill>
              <a:srgbClr val="6B5B4B"/>
            </a:solidFill>
            <a:ln>
              <a:noFill/>
            </a:ln>
          </p:spPr>
          <p:txBody>
            <a:bodyPr rtlCol="0" anchor="ctr"/>
            <a:lstStyle/>
            <a:p>
              <a:pPr algn="ctr"/>
              <a:endParaRPr/>
            </a:p>
          </p:txBody>
        </p:sp>
        <p:sp>
          <p:nvSpPr>
            <p:cNvPr id="21" name="sleeper"/>
            <p:cNvSpPr/>
            <p:nvPr/>
          </p:nvSpPr>
          <p:spPr>
            <a:xfrm>
              <a:off x="6309360" y="4270248"/>
              <a:ext cx="128016" cy="82296"/>
            </a:xfrm>
            <a:prstGeom prst="rect">
              <a:avLst/>
            </a:prstGeom>
            <a:solidFill>
              <a:srgbClr val="6B5B4B"/>
            </a:solidFill>
            <a:ln>
              <a:noFill/>
            </a:ln>
          </p:spPr>
          <p:txBody>
            <a:bodyPr rtlCol="0" anchor="ctr"/>
            <a:lstStyle/>
            <a:p>
              <a:pPr algn="ctr"/>
              <a:endParaRPr/>
            </a:p>
          </p:txBody>
        </p:sp>
        <p:sp>
          <p:nvSpPr>
            <p:cNvPr id="22" name="sleeper"/>
            <p:cNvSpPr/>
            <p:nvPr/>
          </p:nvSpPr>
          <p:spPr>
            <a:xfrm>
              <a:off x="6675120" y="4270248"/>
              <a:ext cx="128016" cy="82296"/>
            </a:xfrm>
            <a:prstGeom prst="rect">
              <a:avLst/>
            </a:prstGeom>
            <a:solidFill>
              <a:srgbClr val="6B5B4B"/>
            </a:solidFill>
            <a:ln>
              <a:noFill/>
            </a:ln>
          </p:spPr>
          <p:txBody>
            <a:bodyPr rtlCol="0" anchor="ctr"/>
            <a:lstStyle/>
            <a:p>
              <a:pPr algn="ctr"/>
              <a:endParaRPr/>
            </a:p>
          </p:txBody>
        </p:sp>
        <p:sp>
          <p:nvSpPr>
            <p:cNvPr id="23" name="sleeper"/>
            <p:cNvSpPr/>
            <p:nvPr/>
          </p:nvSpPr>
          <p:spPr>
            <a:xfrm>
              <a:off x="7040880" y="4270248"/>
              <a:ext cx="128016" cy="82296"/>
            </a:xfrm>
            <a:prstGeom prst="rect">
              <a:avLst/>
            </a:prstGeom>
            <a:solidFill>
              <a:srgbClr val="6B5B4B"/>
            </a:solidFill>
            <a:ln>
              <a:noFill/>
            </a:ln>
          </p:spPr>
          <p:txBody>
            <a:bodyPr rtlCol="0" anchor="ctr"/>
            <a:lstStyle/>
            <a:p>
              <a:pPr algn="ctr"/>
              <a:endParaRPr/>
            </a:p>
          </p:txBody>
        </p:sp>
        <p:sp>
          <p:nvSpPr>
            <p:cNvPr id="24" name="sleeper"/>
            <p:cNvSpPr/>
            <p:nvPr/>
          </p:nvSpPr>
          <p:spPr>
            <a:xfrm>
              <a:off x="7406640" y="4270248"/>
              <a:ext cx="128016" cy="82296"/>
            </a:xfrm>
            <a:prstGeom prst="rect">
              <a:avLst/>
            </a:prstGeom>
            <a:solidFill>
              <a:srgbClr val="6B5B4B"/>
            </a:solidFill>
            <a:ln>
              <a:noFill/>
            </a:ln>
          </p:spPr>
          <p:txBody>
            <a:bodyPr rtlCol="0" anchor="ctr"/>
            <a:lstStyle/>
            <a:p>
              <a:pPr algn="ctr"/>
              <a:endParaRPr/>
            </a:p>
          </p:txBody>
        </p:sp>
        <p:sp>
          <p:nvSpPr>
            <p:cNvPr id="25" name="sleeper"/>
            <p:cNvSpPr/>
            <p:nvPr/>
          </p:nvSpPr>
          <p:spPr>
            <a:xfrm>
              <a:off x="7772400" y="4270248"/>
              <a:ext cx="128016" cy="82296"/>
            </a:xfrm>
            <a:prstGeom prst="rect">
              <a:avLst/>
            </a:prstGeom>
            <a:solidFill>
              <a:srgbClr val="6B5B4B"/>
            </a:solidFill>
            <a:ln>
              <a:noFill/>
            </a:ln>
          </p:spPr>
          <p:txBody>
            <a:bodyPr rtlCol="0" anchor="ctr"/>
            <a:lstStyle/>
            <a:p>
              <a:pPr algn="ctr"/>
              <a:endParaRPr/>
            </a:p>
          </p:txBody>
        </p:sp>
        <p:sp>
          <p:nvSpPr>
            <p:cNvPr id="26" name="sleeper"/>
            <p:cNvSpPr/>
            <p:nvPr/>
          </p:nvSpPr>
          <p:spPr>
            <a:xfrm>
              <a:off x="8138160" y="4270248"/>
              <a:ext cx="128016" cy="82296"/>
            </a:xfrm>
            <a:prstGeom prst="rect">
              <a:avLst/>
            </a:prstGeom>
            <a:solidFill>
              <a:srgbClr val="6B5B4B"/>
            </a:solidFill>
            <a:ln>
              <a:noFill/>
            </a:ln>
          </p:spPr>
          <p:txBody>
            <a:bodyPr rtlCol="0" anchor="ctr"/>
            <a:lstStyle/>
            <a:p>
              <a:pPr algn="ctr"/>
              <a:endParaRPr/>
            </a:p>
          </p:txBody>
        </p:sp>
        <p:sp>
          <p:nvSpPr>
            <p:cNvPr id="27" name="sleeper"/>
            <p:cNvSpPr/>
            <p:nvPr/>
          </p:nvSpPr>
          <p:spPr>
            <a:xfrm>
              <a:off x="8503920" y="4270248"/>
              <a:ext cx="128016" cy="82296"/>
            </a:xfrm>
            <a:prstGeom prst="rect">
              <a:avLst/>
            </a:prstGeom>
            <a:solidFill>
              <a:srgbClr val="6B5B4B"/>
            </a:solidFill>
            <a:ln>
              <a:noFill/>
            </a:ln>
          </p:spPr>
          <p:txBody>
            <a:bodyPr rtlCol="0" anchor="ctr"/>
            <a:lstStyle/>
            <a:p>
              <a:pPr algn="ctr"/>
              <a:endParaRPr/>
            </a:p>
          </p:txBody>
        </p:sp>
        <p:sp>
          <p:nvSpPr>
            <p:cNvPr id="28" name="sleeper"/>
            <p:cNvSpPr/>
            <p:nvPr/>
          </p:nvSpPr>
          <p:spPr>
            <a:xfrm>
              <a:off x="8869680" y="4270248"/>
              <a:ext cx="128016" cy="82296"/>
            </a:xfrm>
            <a:prstGeom prst="rect">
              <a:avLst/>
            </a:prstGeom>
            <a:solidFill>
              <a:srgbClr val="6B5B4B"/>
            </a:solidFill>
            <a:ln>
              <a:noFill/>
            </a:ln>
          </p:spPr>
          <p:txBody>
            <a:bodyPr rtlCol="0" anchor="ctr"/>
            <a:lstStyle/>
            <a:p>
              <a:pPr algn="ctr"/>
              <a:endParaRPr/>
            </a:p>
          </p:txBody>
        </p:sp>
        <p:sp>
          <p:nvSpPr>
            <p:cNvPr id="29" name="sleeper"/>
            <p:cNvSpPr/>
            <p:nvPr/>
          </p:nvSpPr>
          <p:spPr>
            <a:xfrm>
              <a:off x="9235440" y="4270248"/>
              <a:ext cx="128016" cy="82296"/>
            </a:xfrm>
            <a:prstGeom prst="rect">
              <a:avLst/>
            </a:prstGeom>
            <a:solidFill>
              <a:srgbClr val="6B5B4B"/>
            </a:solidFill>
            <a:ln>
              <a:noFill/>
            </a:ln>
          </p:spPr>
          <p:txBody>
            <a:bodyPr rtlCol="0" anchor="ctr"/>
            <a:lstStyle/>
            <a:p>
              <a:pPr algn="ctr"/>
              <a:endParaRPr/>
            </a:p>
          </p:txBody>
        </p:sp>
        <p:sp>
          <p:nvSpPr>
            <p:cNvPr id="30" name="sleeper"/>
            <p:cNvSpPr/>
            <p:nvPr/>
          </p:nvSpPr>
          <p:spPr>
            <a:xfrm>
              <a:off x="9601200" y="4270248"/>
              <a:ext cx="128016" cy="82296"/>
            </a:xfrm>
            <a:prstGeom prst="rect">
              <a:avLst/>
            </a:prstGeom>
            <a:solidFill>
              <a:srgbClr val="6B5B4B"/>
            </a:solidFill>
            <a:ln>
              <a:noFill/>
            </a:ln>
          </p:spPr>
          <p:txBody>
            <a:bodyPr rtlCol="0" anchor="ctr"/>
            <a:lstStyle/>
            <a:p>
              <a:pPr algn="ctr"/>
              <a:endParaRPr/>
            </a:p>
          </p:txBody>
        </p:sp>
        <p:sp>
          <p:nvSpPr>
            <p:cNvPr id="31" name="sleeper"/>
            <p:cNvSpPr/>
            <p:nvPr/>
          </p:nvSpPr>
          <p:spPr>
            <a:xfrm>
              <a:off x="9966960" y="4270248"/>
              <a:ext cx="128016" cy="82296"/>
            </a:xfrm>
            <a:prstGeom prst="rect">
              <a:avLst/>
            </a:prstGeom>
            <a:solidFill>
              <a:srgbClr val="6B5B4B"/>
            </a:solidFill>
            <a:ln>
              <a:noFill/>
            </a:ln>
          </p:spPr>
          <p:txBody>
            <a:bodyPr rtlCol="0" anchor="ctr"/>
            <a:lstStyle/>
            <a:p>
              <a:pPr algn="ctr"/>
              <a:endParaRPr/>
            </a:p>
          </p:txBody>
        </p:sp>
        <p:sp>
          <p:nvSpPr>
            <p:cNvPr id="32" name="sleeper"/>
            <p:cNvSpPr/>
            <p:nvPr/>
          </p:nvSpPr>
          <p:spPr>
            <a:xfrm>
              <a:off x="10332720" y="4270248"/>
              <a:ext cx="128016" cy="82296"/>
            </a:xfrm>
            <a:prstGeom prst="rect">
              <a:avLst/>
            </a:prstGeom>
            <a:solidFill>
              <a:srgbClr val="6B5B4B"/>
            </a:solidFill>
            <a:ln>
              <a:noFill/>
            </a:ln>
          </p:spPr>
          <p:txBody>
            <a:bodyPr rtlCol="0" anchor="ctr"/>
            <a:lstStyle/>
            <a:p>
              <a:pPr algn="ctr"/>
              <a:endParaRPr/>
            </a:p>
          </p:txBody>
        </p:sp>
        <p:sp>
          <p:nvSpPr>
            <p:cNvPr id="33" name="sleeper"/>
            <p:cNvSpPr/>
            <p:nvPr/>
          </p:nvSpPr>
          <p:spPr>
            <a:xfrm>
              <a:off x="10698480" y="4270248"/>
              <a:ext cx="128016" cy="82296"/>
            </a:xfrm>
            <a:prstGeom prst="rect">
              <a:avLst/>
            </a:prstGeom>
            <a:solidFill>
              <a:srgbClr val="6B5B4B"/>
            </a:solidFill>
            <a:ln>
              <a:noFill/>
            </a:ln>
          </p:spPr>
          <p:txBody>
            <a:bodyPr rtlCol="0" anchor="ctr"/>
            <a:lstStyle/>
            <a:p>
              <a:pPr algn="ctr"/>
              <a:endParaRPr/>
            </a:p>
          </p:txBody>
        </p:sp>
        <p:sp>
          <p:nvSpPr>
            <p:cNvPr id="34" name="sleeper"/>
            <p:cNvSpPr/>
            <p:nvPr/>
          </p:nvSpPr>
          <p:spPr>
            <a:xfrm>
              <a:off x="11064240" y="4270248"/>
              <a:ext cx="128016" cy="82296"/>
            </a:xfrm>
            <a:prstGeom prst="rect">
              <a:avLst/>
            </a:prstGeom>
            <a:solidFill>
              <a:srgbClr val="6B5B4B"/>
            </a:solidFill>
            <a:ln>
              <a:noFill/>
            </a:ln>
          </p:spPr>
          <p:txBody>
            <a:bodyPr rtlCol="0" anchor="ctr"/>
            <a:lstStyle/>
            <a:p>
              <a:pPr algn="ctr"/>
              <a:endParaRPr/>
            </a:p>
          </p:txBody>
        </p:sp>
        <p:sp>
          <p:nvSpPr>
            <p:cNvPr id="35" name="tender frame"/>
            <p:cNvSpPr/>
            <p:nvPr/>
          </p:nvSpPr>
          <p:spPr>
            <a:xfrm>
              <a:off x="1097280" y="3808476"/>
              <a:ext cx="1124711" cy="123443"/>
            </a:xfrm>
            <a:prstGeom prst="rect">
              <a:avLst/>
            </a:prstGeom>
            <a:solidFill>
              <a:srgbClr val="3A3F47"/>
            </a:solidFill>
            <a:ln w="9525">
              <a:solidFill>
                <a:srgbClr val="9AA0A6"/>
              </a:solidFill>
            </a:ln>
          </p:spPr>
          <p:txBody>
            <a:bodyPr rtlCol="0" anchor="ctr"/>
            <a:lstStyle/>
            <a:p>
              <a:pPr algn="ctr"/>
              <a:endParaRPr/>
            </a:p>
          </p:txBody>
        </p:sp>
        <p:sp>
          <p:nvSpPr>
            <p:cNvPr id="36" name="tender body"/>
            <p:cNvSpPr/>
            <p:nvPr/>
          </p:nvSpPr>
          <p:spPr>
            <a:xfrm>
              <a:off x="1097280" y="3355848"/>
              <a:ext cx="1124711" cy="452628"/>
            </a:xfrm>
            <a:prstGeom prst="roundRect">
              <a:avLst>
                <a:gd name="adj" fmla="val 3030"/>
              </a:avLst>
            </a:prstGeom>
            <a:solidFill>
              <a:srgbClr val="F28C28"/>
            </a:solidFill>
            <a:ln>
              <a:noFill/>
            </a:ln>
          </p:spPr>
          <p:txBody>
            <a:bodyPr rtlCol="0" anchor="ctr"/>
            <a:lstStyle/>
            <a:p>
              <a:pPr algn="ctr"/>
              <a:endParaRPr/>
            </a:p>
          </p:txBody>
        </p:sp>
        <p:sp>
          <p:nvSpPr>
            <p:cNvPr id="37" name="tender coal"/>
            <p:cNvSpPr/>
            <p:nvPr/>
          </p:nvSpPr>
          <p:spPr>
            <a:xfrm>
              <a:off x="1138428" y="3163824"/>
              <a:ext cx="1042416" cy="192024"/>
            </a:xfrm>
            <a:custGeom>
              <a:avLst/>
              <a:gdLst/>
              <a:ahLst/>
              <a:cxnLst/>
              <a:rect l="l" t="t" r="r" b="b"/>
              <a:pathLst>
                <a:path w="1042416" h="192024">
                  <a:moveTo>
                    <a:pt x="0" y="192024"/>
                  </a:moveTo>
                  <a:lnTo>
                    <a:pt x="205740" y="13715"/>
                  </a:lnTo>
                  <a:lnTo>
                    <a:pt x="617220" y="0"/>
                  </a:lnTo>
                  <a:lnTo>
                    <a:pt x="1042416" y="192024"/>
                  </a:lnTo>
                  <a:close/>
                </a:path>
              </a:pathLst>
            </a:custGeom>
            <a:solidFill>
              <a:srgbClr val="1B1D21"/>
            </a:solidFill>
            <a:ln w="12700">
              <a:solidFill>
                <a:srgbClr val="6B7078"/>
              </a:solidFill>
            </a:ln>
          </p:spPr>
          <p:txBody>
            <a:bodyPr rtlCol="0" anchor="ctr"/>
            <a:lstStyle/>
            <a:p>
              <a:pPr algn="ctr"/>
              <a:endParaRPr/>
            </a:p>
          </p:txBody>
        </p:sp>
        <p:sp>
          <p:nvSpPr>
            <p:cNvPr id="38" name="coupling"/>
            <p:cNvSpPr/>
            <p:nvPr/>
          </p:nvSpPr>
          <p:spPr>
            <a:xfrm>
              <a:off x="2221991" y="3643884"/>
              <a:ext cx="96012" cy="41147"/>
            </a:xfrm>
            <a:prstGeom prst="rect">
              <a:avLst/>
            </a:prstGeom>
            <a:solidFill>
              <a:srgbClr val="9AA0A6"/>
            </a:solidFill>
            <a:ln>
              <a:noFill/>
            </a:ln>
          </p:spPr>
          <p:txBody>
            <a:bodyPr rtlCol="0" anchor="ctr"/>
            <a:lstStyle/>
            <a:p>
              <a:pPr algn="ctr"/>
              <a:endParaRPr/>
            </a:p>
          </p:txBody>
        </p:sp>
        <p:sp>
          <p:nvSpPr>
            <p:cNvPr id="39" name="wheel"/>
            <p:cNvSpPr/>
            <p:nvPr/>
          </p:nvSpPr>
          <p:spPr>
            <a:xfrm>
              <a:off x="1179576" y="3822191"/>
              <a:ext cx="384048" cy="384048"/>
            </a:xfrm>
            <a:prstGeom prst="ellipse">
              <a:avLst/>
            </a:prstGeom>
            <a:solidFill>
              <a:srgbClr val="1B1D21"/>
            </a:solidFill>
            <a:ln w="19050">
              <a:solidFill>
                <a:srgbClr val="9AA0A6"/>
              </a:solidFill>
            </a:ln>
          </p:spPr>
          <p:txBody>
            <a:bodyPr rtlCol="0" anchor="ctr"/>
            <a:lstStyle/>
            <a:p>
              <a:pPr algn="ctr"/>
              <a:endParaRPr/>
            </a:p>
          </p:txBody>
        </p:sp>
        <p:sp>
          <p:nvSpPr>
            <p:cNvPr id="40" name="hub"/>
            <p:cNvSpPr/>
            <p:nvPr/>
          </p:nvSpPr>
          <p:spPr>
            <a:xfrm>
              <a:off x="1321673" y="3964289"/>
              <a:ext cx="99852" cy="99852"/>
            </a:xfrm>
            <a:prstGeom prst="ellipse">
              <a:avLst/>
            </a:prstGeom>
            <a:solidFill>
              <a:srgbClr val="9AA0A6"/>
            </a:solidFill>
            <a:ln>
              <a:noFill/>
            </a:ln>
          </p:spPr>
          <p:txBody>
            <a:bodyPr rtlCol="0" anchor="ctr"/>
            <a:lstStyle/>
            <a:p>
              <a:pPr algn="ctr"/>
              <a:endParaRPr/>
            </a:p>
          </p:txBody>
        </p:sp>
        <p:sp>
          <p:nvSpPr>
            <p:cNvPr id="41" name="wheel"/>
            <p:cNvSpPr/>
            <p:nvPr/>
          </p:nvSpPr>
          <p:spPr>
            <a:xfrm>
              <a:off x="1755648" y="3822191"/>
              <a:ext cx="384048" cy="384048"/>
            </a:xfrm>
            <a:prstGeom prst="ellipse">
              <a:avLst/>
            </a:prstGeom>
            <a:solidFill>
              <a:srgbClr val="1B1D21"/>
            </a:solidFill>
            <a:ln w="19050">
              <a:solidFill>
                <a:srgbClr val="9AA0A6"/>
              </a:solidFill>
            </a:ln>
          </p:spPr>
          <p:txBody>
            <a:bodyPr rtlCol="0" anchor="ctr"/>
            <a:lstStyle/>
            <a:p>
              <a:pPr algn="ctr"/>
              <a:endParaRPr/>
            </a:p>
          </p:txBody>
        </p:sp>
        <p:sp>
          <p:nvSpPr>
            <p:cNvPr id="42" name="hub"/>
            <p:cNvSpPr/>
            <p:nvPr/>
          </p:nvSpPr>
          <p:spPr>
            <a:xfrm>
              <a:off x="1897745" y="3964289"/>
              <a:ext cx="99852" cy="99852"/>
            </a:xfrm>
            <a:prstGeom prst="ellipse">
              <a:avLst/>
            </a:prstGeom>
            <a:solidFill>
              <a:srgbClr val="9AA0A6"/>
            </a:solidFill>
            <a:ln>
              <a:noFill/>
            </a:ln>
          </p:spPr>
          <p:txBody>
            <a:bodyPr rtlCol="0" anchor="ctr"/>
            <a:lstStyle/>
            <a:p>
              <a:pPr algn="ctr"/>
              <a:endParaRPr/>
            </a:p>
          </p:txBody>
        </p:sp>
        <p:sp>
          <p:nvSpPr>
            <p:cNvPr id="43" name="frame"/>
            <p:cNvSpPr/>
            <p:nvPr/>
          </p:nvSpPr>
          <p:spPr>
            <a:xfrm>
              <a:off x="2318003" y="3808476"/>
              <a:ext cx="3607308" cy="123443"/>
            </a:xfrm>
            <a:prstGeom prst="rect">
              <a:avLst/>
            </a:prstGeom>
            <a:solidFill>
              <a:srgbClr val="3A3F47"/>
            </a:solidFill>
            <a:ln w="9525">
              <a:solidFill>
                <a:srgbClr val="9AA0A6"/>
              </a:solidFill>
            </a:ln>
          </p:spPr>
          <p:txBody>
            <a:bodyPr rtlCol="0" anchor="ctr"/>
            <a:lstStyle/>
            <a:p>
              <a:pPr algn="ctr"/>
              <a:endParaRPr/>
            </a:p>
          </p:txBody>
        </p:sp>
        <p:sp>
          <p:nvSpPr>
            <p:cNvPr id="44" name="cab"/>
            <p:cNvSpPr/>
            <p:nvPr/>
          </p:nvSpPr>
          <p:spPr>
            <a:xfrm>
              <a:off x="2318003" y="3054096"/>
              <a:ext cx="548640" cy="754380"/>
            </a:xfrm>
            <a:prstGeom prst="roundRect">
              <a:avLst>
                <a:gd name="adj" fmla="val 2500"/>
              </a:avLst>
            </a:prstGeom>
            <a:solidFill>
              <a:srgbClr val="F28C28"/>
            </a:solidFill>
            <a:ln>
              <a:noFill/>
            </a:ln>
          </p:spPr>
          <p:txBody>
            <a:bodyPr rtlCol="0" anchor="ctr"/>
            <a:lstStyle/>
            <a:p>
              <a:pPr algn="ctr"/>
              <a:endParaRPr/>
            </a:p>
          </p:txBody>
        </p:sp>
        <p:sp>
          <p:nvSpPr>
            <p:cNvPr id="45" name="cab roof"/>
            <p:cNvSpPr/>
            <p:nvPr/>
          </p:nvSpPr>
          <p:spPr>
            <a:xfrm>
              <a:off x="2290572" y="2985515"/>
              <a:ext cx="603504" cy="68580"/>
            </a:xfrm>
            <a:prstGeom prst="rect">
              <a:avLst/>
            </a:prstGeom>
            <a:solidFill>
              <a:srgbClr val="3A3F47"/>
            </a:solidFill>
            <a:ln w="9525">
              <a:solidFill>
                <a:srgbClr val="9AA0A6"/>
              </a:solidFill>
            </a:ln>
          </p:spPr>
          <p:txBody>
            <a:bodyPr rtlCol="0" anchor="ctr"/>
            <a:lstStyle/>
            <a:p>
              <a:pPr algn="ctr"/>
              <a:endParaRPr/>
            </a:p>
          </p:txBody>
        </p:sp>
        <p:sp>
          <p:nvSpPr>
            <p:cNvPr id="46" name="cab window"/>
            <p:cNvSpPr/>
            <p:nvPr/>
          </p:nvSpPr>
          <p:spPr>
            <a:xfrm>
              <a:off x="2455163" y="3163824"/>
              <a:ext cx="246888" cy="246887"/>
            </a:xfrm>
            <a:prstGeom prst="rect">
              <a:avLst/>
            </a:prstGeom>
            <a:solidFill>
              <a:srgbClr val="1B1D21"/>
            </a:solidFill>
            <a:ln>
              <a:noFill/>
            </a:ln>
          </p:spPr>
          <p:txBody>
            <a:bodyPr rtlCol="0" anchor="ctr"/>
            <a:lstStyle/>
            <a:p>
              <a:pPr algn="ctr"/>
              <a:endParaRPr/>
            </a:p>
          </p:txBody>
        </p:sp>
        <p:sp>
          <p:nvSpPr>
            <p:cNvPr id="47" name="boiler"/>
            <p:cNvSpPr/>
            <p:nvPr/>
          </p:nvSpPr>
          <p:spPr>
            <a:xfrm>
              <a:off x="2866644" y="3122675"/>
              <a:ext cx="2784348" cy="548640"/>
            </a:xfrm>
            <a:prstGeom prst="roundRect">
              <a:avLst>
                <a:gd name="adj" fmla="val 25000"/>
              </a:avLst>
            </a:prstGeom>
            <a:solidFill>
              <a:srgbClr val="F28C28"/>
            </a:solidFill>
            <a:ln>
              <a:noFill/>
            </a:ln>
          </p:spPr>
          <p:txBody>
            <a:bodyPr rtlCol="0" anchor="ctr"/>
            <a:lstStyle/>
            <a:p>
              <a:pPr algn="ctr"/>
              <a:endParaRPr/>
            </a:p>
          </p:txBody>
        </p:sp>
        <p:sp>
          <p:nvSpPr>
            <p:cNvPr id="48" name="boiler band"/>
            <p:cNvSpPr/>
            <p:nvPr/>
          </p:nvSpPr>
          <p:spPr>
            <a:xfrm>
              <a:off x="3701948" y="3122675"/>
              <a:ext cx="19202" cy="548640"/>
            </a:xfrm>
            <a:prstGeom prst="rect">
              <a:avLst/>
            </a:prstGeom>
            <a:solidFill>
              <a:srgbClr val="AE641C"/>
            </a:solidFill>
            <a:ln>
              <a:noFill/>
            </a:ln>
          </p:spPr>
          <p:txBody>
            <a:bodyPr rtlCol="0" anchor="ctr"/>
            <a:lstStyle/>
            <a:p>
              <a:pPr algn="ctr"/>
              <a:endParaRPr/>
            </a:p>
          </p:txBody>
        </p:sp>
        <p:sp>
          <p:nvSpPr>
            <p:cNvPr id="49" name="boiler band"/>
            <p:cNvSpPr/>
            <p:nvPr/>
          </p:nvSpPr>
          <p:spPr>
            <a:xfrm>
              <a:off x="4398035" y="3122675"/>
              <a:ext cx="19202" cy="548640"/>
            </a:xfrm>
            <a:prstGeom prst="rect">
              <a:avLst/>
            </a:prstGeom>
            <a:solidFill>
              <a:srgbClr val="AE641C"/>
            </a:solidFill>
            <a:ln>
              <a:noFill/>
            </a:ln>
          </p:spPr>
          <p:txBody>
            <a:bodyPr rtlCol="0" anchor="ctr"/>
            <a:lstStyle/>
            <a:p>
              <a:pPr algn="ctr"/>
              <a:endParaRPr/>
            </a:p>
          </p:txBody>
        </p:sp>
        <p:sp>
          <p:nvSpPr>
            <p:cNvPr id="50" name="boiler band"/>
            <p:cNvSpPr/>
            <p:nvPr/>
          </p:nvSpPr>
          <p:spPr>
            <a:xfrm>
              <a:off x="5094122" y="3122675"/>
              <a:ext cx="19202" cy="548640"/>
            </a:xfrm>
            <a:prstGeom prst="rect">
              <a:avLst/>
            </a:prstGeom>
            <a:solidFill>
              <a:srgbClr val="AE641C"/>
            </a:solidFill>
            <a:ln>
              <a:noFill/>
            </a:ln>
          </p:spPr>
          <p:txBody>
            <a:bodyPr rtlCol="0" anchor="ctr"/>
            <a:lstStyle/>
            <a:p>
              <a:pPr algn="ctr"/>
              <a:endParaRPr/>
            </a:p>
          </p:txBody>
        </p:sp>
        <p:sp>
          <p:nvSpPr>
            <p:cNvPr id="51" name="smokebox"/>
            <p:cNvSpPr/>
            <p:nvPr/>
          </p:nvSpPr>
          <p:spPr>
            <a:xfrm>
              <a:off x="5650992" y="3122675"/>
              <a:ext cx="274320" cy="548640"/>
            </a:xfrm>
            <a:prstGeom prst="roundRect">
              <a:avLst>
                <a:gd name="adj" fmla="val 12000"/>
              </a:avLst>
            </a:prstGeom>
            <a:solidFill>
              <a:srgbClr val="4A515B"/>
            </a:solidFill>
            <a:ln>
              <a:noFill/>
            </a:ln>
          </p:spPr>
          <p:txBody>
            <a:bodyPr rtlCol="0" anchor="ctr"/>
            <a:lstStyle/>
            <a:p>
              <a:pPr algn="ctr"/>
              <a:endParaRPr/>
            </a:p>
          </p:txBody>
        </p:sp>
        <p:sp>
          <p:nvSpPr>
            <p:cNvPr id="52" name="chimney"/>
            <p:cNvSpPr/>
            <p:nvPr/>
          </p:nvSpPr>
          <p:spPr>
            <a:xfrm>
              <a:off x="5705856" y="2834639"/>
              <a:ext cx="164592" cy="288035"/>
            </a:xfrm>
            <a:prstGeom prst="rect">
              <a:avLst/>
            </a:prstGeom>
            <a:solidFill>
              <a:srgbClr val="3A3F47"/>
            </a:solidFill>
            <a:ln w="9525">
              <a:solidFill>
                <a:srgbClr val="9AA0A6"/>
              </a:solidFill>
            </a:ln>
          </p:spPr>
          <p:txBody>
            <a:bodyPr rtlCol="0" anchor="ctr"/>
            <a:lstStyle/>
            <a:p>
              <a:pPr algn="ctr"/>
              <a:endParaRPr/>
            </a:p>
          </p:txBody>
        </p:sp>
        <p:sp>
          <p:nvSpPr>
            <p:cNvPr id="53" name="chimney lip"/>
            <p:cNvSpPr/>
            <p:nvPr/>
          </p:nvSpPr>
          <p:spPr>
            <a:xfrm>
              <a:off x="5664708" y="2793491"/>
              <a:ext cx="246888" cy="68580"/>
            </a:xfrm>
            <a:prstGeom prst="rect">
              <a:avLst/>
            </a:prstGeom>
            <a:solidFill>
              <a:srgbClr val="3A3F47"/>
            </a:solidFill>
            <a:ln w="9525">
              <a:solidFill>
                <a:srgbClr val="9AA0A6"/>
              </a:solidFill>
            </a:ln>
          </p:spPr>
          <p:txBody>
            <a:bodyPr rtlCol="0" anchor="ctr"/>
            <a:lstStyle/>
            <a:p>
              <a:pPr algn="ctr"/>
              <a:endParaRPr/>
            </a:p>
          </p:txBody>
        </p:sp>
        <p:sp>
          <p:nvSpPr>
            <p:cNvPr id="54" name="dome"/>
            <p:cNvSpPr/>
            <p:nvPr/>
          </p:nvSpPr>
          <p:spPr>
            <a:xfrm>
              <a:off x="3980383" y="2971800"/>
              <a:ext cx="246888" cy="150875"/>
            </a:xfrm>
            <a:prstGeom prst="roundRect">
              <a:avLst>
                <a:gd name="adj" fmla="val 36363"/>
              </a:avLst>
            </a:prstGeom>
            <a:solidFill>
              <a:srgbClr val="F28C28"/>
            </a:solidFill>
            <a:ln>
              <a:noFill/>
            </a:ln>
          </p:spPr>
          <p:txBody>
            <a:bodyPr rtlCol="0" anchor="ctr"/>
            <a:lstStyle/>
            <a:p>
              <a:pPr algn="ctr"/>
              <a:endParaRPr/>
            </a:p>
          </p:txBody>
        </p:sp>
        <p:sp>
          <p:nvSpPr>
            <p:cNvPr id="55" name="wheel"/>
            <p:cNvSpPr/>
            <p:nvPr/>
          </p:nvSpPr>
          <p:spPr>
            <a:xfrm>
              <a:off x="2359152" y="3657600"/>
              <a:ext cx="548640" cy="548640"/>
            </a:xfrm>
            <a:prstGeom prst="ellipse">
              <a:avLst/>
            </a:prstGeom>
            <a:solidFill>
              <a:srgbClr val="1B1D21"/>
            </a:solidFill>
            <a:ln w="19050">
              <a:solidFill>
                <a:srgbClr val="9AA0A6"/>
              </a:solidFill>
            </a:ln>
          </p:spPr>
          <p:txBody>
            <a:bodyPr rtlCol="0" anchor="ctr"/>
            <a:lstStyle/>
            <a:p>
              <a:pPr algn="ctr"/>
              <a:endParaRPr/>
            </a:p>
          </p:txBody>
        </p:sp>
        <p:sp>
          <p:nvSpPr>
            <p:cNvPr id="56" name="hub"/>
            <p:cNvSpPr/>
            <p:nvPr/>
          </p:nvSpPr>
          <p:spPr>
            <a:xfrm>
              <a:off x="2562148" y="3860596"/>
              <a:ext cx="142646" cy="142646"/>
            </a:xfrm>
            <a:prstGeom prst="ellipse">
              <a:avLst/>
            </a:prstGeom>
            <a:solidFill>
              <a:srgbClr val="9AA0A6"/>
            </a:solidFill>
            <a:ln>
              <a:noFill/>
            </a:ln>
          </p:spPr>
          <p:txBody>
            <a:bodyPr rtlCol="0" anchor="ctr"/>
            <a:lstStyle/>
            <a:p>
              <a:pPr algn="ctr"/>
              <a:endParaRPr/>
            </a:p>
          </p:txBody>
        </p:sp>
        <p:sp>
          <p:nvSpPr>
            <p:cNvPr id="57" name="wheel"/>
            <p:cNvSpPr/>
            <p:nvPr/>
          </p:nvSpPr>
          <p:spPr>
            <a:xfrm>
              <a:off x="2976372" y="3657600"/>
              <a:ext cx="548640" cy="548640"/>
            </a:xfrm>
            <a:prstGeom prst="ellipse">
              <a:avLst/>
            </a:prstGeom>
            <a:solidFill>
              <a:srgbClr val="1B1D21"/>
            </a:solidFill>
            <a:ln w="19050">
              <a:solidFill>
                <a:srgbClr val="9AA0A6"/>
              </a:solidFill>
            </a:ln>
          </p:spPr>
          <p:txBody>
            <a:bodyPr rtlCol="0" anchor="ctr"/>
            <a:lstStyle/>
            <a:p>
              <a:pPr algn="ctr"/>
              <a:endParaRPr/>
            </a:p>
          </p:txBody>
        </p:sp>
        <p:sp>
          <p:nvSpPr>
            <p:cNvPr id="58" name="hub"/>
            <p:cNvSpPr/>
            <p:nvPr/>
          </p:nvSpPr>
          <p:spPr>
            <a:xfrm>
              <a:off x="3179368" y="3860596"/>
              <a:ext cx="142646" cy="142646"/>
            </a:xfrm>
            <a:prstGeom prst="ellipse">
              <a:avLst/>
            </a:prstGeom>
            <a:solidFill>
              <a:srgbClr val="9AA0A6"/>
            </a:solidFill>
            <a:ln>
              <a:noFill/>
            </a:ln>
          </p:spPr>
          <p:txBody>
            <a:bodyPr rtlCol="0" anchor="ctr"/>
            <a:lstStyle/>
            <a:p>
              <a:pPr algn="ctr"/>
              <a:endParaRPr/>
            </a:p>
          </p:txBody>
        </p:sp>
        <p:sp>
          <p:nvSpPr>
            <p:cNvPr id="59" name="wheel"/>
            <p:cNvSpPr/>
            <p:nvPr/>
          </p:nvSpPr>
          <p:spPr>
            <a:xfrm>
              <a:off x="3593591" y="3657600"/>
              <a:ext cx="548640" cy="548640"/>
            </a:xfrm>
            <a:prstGeom prst="ellipse">
              <a:avLst/>
            </a:prstGeom>
            <a:solidFill>
              <a:srgbClr val="1B1D21"/>
            </a:solidFill>
            <a:ln w="19050">
              <a:solidFill>
                <a:srgbClr val="9AA0A6"/>
              </a:solidFill>
            </a:ln>
          </p:spPr>
          <p:txBody>
            <a:bodyPr rtlCol="0" anchor="ctr"/>
            <a:lstStyle/>
            <a:p>
              <a:pPr algn="ctr"/>
              <a:endParaRPr/>
            </a:p>
          </p:txBody>
        </p:sp>
        <p:sp>
          <p:nvSpPr>
            <p:cNvPr id="60" name="hub"/>
            <p:cNvSpPr/>
            <p:nvPr/>
          </p:nvSpPr>
          <p:spPr>
            <a:xfrm>
              <a:off x="3796588" y="3860596"/>
              <a:ext cx="142646" cy="142646"/>
            </a:xfrm>
            <a:prstGeom prst="ellipse">
              <a:avLst/>
            </a:prstGeom>
            <a:solidFill>
              <a:srgbClr val="9AA0A6"/>
            </a:solidFill>
            <a:ln>
              <a:noFill/>
            </a:ln>
          </p:spPr>
          <p:txBody>
            <a:bodyPr rtlCol="0" anchor="ctr"/>
            <a:lstStyle/>
            <a:p>
              <a:pPr algn="ctr"/>
              <a:endParaRPr/>
            </a:p>
          </p:txBody>
        </p:sp>
        <p:sp>
          <p:nvSpPr>
            <p:cNvPr id="61" name="wheel"/>
            <p:cNvSpPr/>
            <p:nvPr/>
          </p:nvSpPr>
          <p:spPr>
            <a:xfrm>
              <a:off x="4210812" y="3657600"/>
              <a:ext cx="548640" cy="548640"/>
            </a:xfrm>
            <a:prstGeom prst="ellipse">
              <a:avLst/>
            </a:prstGeom>
            <a:solidFill>
              <a:srgbClr val="1B1D21"/>
            </a:solidFill>
            <a:ln w="19050">
              <a:solidFill>
                <a:srgbClr val="9AA0A6"/>
              </a:solidFill>
            </a:ln>
          </p:spPr>
          <p:txBody>
            <a:bodyPr rtlCol="0" anchor="ctr"/>
            <a:lstStyle/>
            <a:p>
              <a:pPr algn="ctr"/>
              <a:endParaRPr/>
            </a:p>
          </p:txBody>
        </p:sp>
        <p:sp>
          <p:nvSpPr>
            <p:cNvPr id="62" name="hub"/>
            <p:cNvSpPr/>
            <p:nvPr/>
          </p:nvSpPr>
          <p:spPr>
            <a:xfrm>
              <a:off x="4413808" y="3860596"/>
              <a:ext cx="142646" cy="142646"/>
            </a:xfrm>
            <a:prstGeom prst="ellipse">
              <a:avLst/>
            </a:prstGeom>
            <a:solidFill>
              <a:srgbClr val="9AA0A6"/>
            </a:solidFill>
            <a:ln>
              <a:noFill/>
            </a:ln>
          </p:spPr>
          <p:txBody>
            <a:bodyPr rtlCol="0" anchor="ctr"/>
            <a:lstStyle/>
            <a:p>
              <a:pPr algn="ctr"/>
              <a:endParaRPr/>
            </a:p>
          </p:txBody>
        </p:sp>
        <p:sp>
          <p:nvSpPr>
            <p:cNvPr id="63" name="wheel"/>
            <p:cNvSpPr/>
            <p:nvPr/>
          </p:nvSpPr>
          <p:spPr>
            <a:xfrm>
              <a:off x="4965192" y="3904487"/>
              <a:ext cx="301752" cy="301752"/>
            </a:xfrm>
            <a:prstGeom prst="ellipse">
              <a:avLst/>
            </a:prstGeom>
            <a:solidFill>
              <a:srgbClr val="1B1D21"/>
            </a:solidFill>
            <a:ln w="19050">
              <a:solidFill>
                <a:srgbClr val="9AA0A6"/>
              </a:solidFill>
            </a:ln>
          </p:spPr>
          <p:txBody>
            <a:bodyPr rtlCol="0" anchor="ctr"/>
            <a:lstStyle/>
            <a:p>
              <a:pPr algn="ctr"/>
              <a:endParaRPr/>
            </a:p>
          </p:txBody>
        </p:sp>
        <p:sp>
          <p:nvSpPr>
            <p:cNvPr id="64" name="hub"/>
            <p:cNvSpPr/>
            <p:nvPr/>
          </p:nvSpPr>
          <p:spPr>
            <a:xfrm>
              <a:off x="5076840" y="4016136"/>
              <a:ext cx="78455" cy="78455"/>
            </a:xfrm>
            <a:prstGeom prst="ellipse">
              <a:avLst/>
            </a:prstGeom>
            <a:solidFill>
              <a:srgbClr val="9AA0A6"/>
            </a:solidFill>
            <a:ln>
              <a:noFill/>
            </a:ln>
          </p:spPr>
          <p:txBody>
            <a:bodyPr rtlCol="0" anchor="ctr"/>
            <a:lstStyle/>
            <a:p>
              <a:pPr algn="ctr"/>
              <a:endParaRPr/>
            </a:p>
          </p:txBody>
        </p:sp>
        <p:sp>
          <p:nvSpPr>
            <p:cNvPr id="65" name="coupling rod"/>
            <p:cNvSpPr/>
            <p:nvPr/>
          </p:nvSpPr>
          <p:spPr>
            <a:xfrm>
              <a:off x="2633472" y="3775557"/>
              <a:ext cx="1851660" cy="38404"/>
            </a:xfrm>
            <a:prstGeom prst="rect">
              <a:avLst/>
            </a:prstGeom>
            <a:solidFill>
              <a:srgbClr val="D0D4D8"/>
            </a:solidFill>
            <a:ln>
              <a:noFill/>
            </a:ln>
          </p:spPr>
          <p:txBody>
            <a:bodyPr rtlCol="0" anchor="ctr"/>
            <a:lstStyle/>
            <a:p>
              <a:pPr algn="ctr"/>
              <a:endParaRPr/>
            </a:p>
          </p:txBody>
        </p:sp>
        <p:sp>
          <p:nvSpPr>
            <p:cNvPr id="66" name="buffer beam"/>
            <p:cNvSpPr/>
            <p:nvPr/>
          </p:nvSpPr>
          <p:spPr>
            <a:xfrm>
              <a:off x="5925312" y="3685031"/>
              <a:ext cx="82296" cy="246887"/>
            </a:xfrm>
            <a:prstGeom prst="rect">
              <a:avLst/>
            </a:prstGeom>
            <a:solidFill>
              <a:srgbClr val="9AA0A6"/>
            </a:solidFill>
            <a:ln>
              <a:noFill/>
            </a:ln>
          </p:spPr>
          <p:txBody>
            <a:bodyPr rtlCol="0" anchor="ctr"/>
            <a:lstStyle/>
            <a:p>
              <a:pPr algn="ctr"/>
              <a:endParaRPr/>
            </a:p>
          </p:txBody>
        </p:sp>
        <p:sp>
          <p:nvSpPr>
            <p:cNvPr id="67" name="tender frame"/>
            <p:cNvSpPr/>
            <p:nvPr/>
          </p:nvSpPr>
          <p:spPr>
            <a:xfrm>
              <a:off x="6236207" y="3808476"/>
              <a:ext cx="1124711" cy="123443"/>
            </a:xfrm>
            <a:prstGeom prst="rect">
              <a:avLst/>
            </a:prstGeom>
            <a:solidFill>
              <a:srgbClr val="3A3F47"/>
            </a:solidFill>
            <a:ln w="9525">
              <a:solidFill>
                <a:srgbClr val="9AA0A6"/>
              </a:solidFill>
            </a:ln>
          </p:spPr>
          <p:txBody>
            <a:bodyPr rtlCol="0" anchor="ctr"/>
            <a:lstStyle/>
            <a:p>
              <a:pPr algn="ctr"/>
              <a:endParaRPr/>
            </a:p>
          </p:txBody>
        </p:sp>
        <p:sp>
          <p:nvSpPr>
            <p:cNvPr id="68" name="tender body"/>
            <p:cNvSpPr/>
            <p:nvPr/>
          </p:nvSpPr>
          <p:spPr>
            <a:xfrm>
              <a:off x="6236207" y="3355848"/>
              <a:ext cx="1124711" cy="452628"/>
            </a:xfrm>
            <a:prstGeom prst="roundRect">
              <a:avLst>
                <a:gd name="adj" fmla="val 3030"/>
              </a:avLst>
            </a:prstGeom>
            <a:solidFill>
              <a:srgbClr val="F28C28"/>
            </a:solidFill>
            <a:ln>
              <a:noFill/>
            </a:ln>
          </p:spPr>
          <p:txBody>
            <a:bodyPr rtlCol="0" anchor="ctr"/>
            <a:lstStyle/>
            <a:p>
              <a:pPr algn="ctr"/>
              <a:endParaRPr/>
            </a:p>
          </p:txBody>
        </p:sp>
        <p:sp>
          <p:nvSpPr>
            <p:cNvPr id="69" name="tender coal"/>
            <p:cNvSpPr/>
            <p:nvPr/>
          </p:nvSpPr>
          <p:spPr>
            <a:xfrm>
              <a:off x="6277355" y="3163824"/>
              <a:ext cx="1042416" cy="192024"/>
            </a:xfrm>
            <a:custGeom>
              <a:avLst/>
              <a:gdLst/>
              <a:ahLst/>
              <a:cxnLst/>
              <a:rect l="l" t="t" r="r" b="b"/>
              <a:pathLst>
                <a:path w="1042416" h="192024">
                  <a:moveTo>
                    <a:pt x="0" y="192024"/>
                  </a:moveTo>
                  <a:lnTo>
                    <a:pt x="205741" y="13715"/>
                  </a:lnTo>
                  <a:lnTo>
                    <a:pt x="617220" y="0"/>
                  </a:lnTo>
                  <a:lnTo>
                    <a:pt x="1042416" y="192024"/>
                  </a:lnTo>
                  <a:close/>
                </a:path>
              </a:pathLst>
            </a:custGeom>
            <a:solidFill>
              <a:srgbClr val="1B1D21"/>
            </a:solidFill>
            <a:ln w="12700">
              <a:solidFill>
                <a:srgbClr val="6B7078"/>
              </a:solidFill>
            </a:ln>
          </p:spPr>
          <p:txBody>
            <a:bodyPr rtlCol="0" anchor="ctr"/>
            <a:lstStyle/>
            <a:p>
              <a:pPr algn="ctr"/>
              <a:endParaRPr/>
            </a:p>
          </p:txBody>
        </p:sp>
        <p:sp>
          <p:nvSpPr>
            <p:cNvPr id="70" name="coupling"/>
            <p:cNvSpPr/>
            <p:nvPr/>
          </p:nvSpPr>
          <p:spPr>
            <a:xfrm>
              <a:off x="7360919" y="3643884"/>
              <a:ext cx="96012" cy="41147"/>
            </a:xfrm>
            <a:prstGeom prst="rect">
              <a:avLst/>
            </a:prstGeom>
            <a:solidFill>
              <a:srgbClr val="9AA0A6"/>
            </a:solidFill>
            <a:ln>
              <a:noFill/>
            </a:ln>
          </p:spPr>
          <p:txBody>
            <a:bodyPr rtlCol="0" anchor="ctr"/>
            <a:lstStyle/>
            <a:p>
              <a:pPr algn="ctr"/>
              <a:endParaRPr/>
            </a:p>
          </p:txBody>
        </p:sp>
        <p:sp>
          <p:nvSpPr>
            <p:cNvPr id="71" name="wheel"/>
            <p:cNvSpPr/>
            <p:nvPr/>
          </p:nvSpPr>
          <p:spPr>
            <a:xfrm>
              <a:off x="6318503" y="3822191"/>
              <a:ext cx="384048" cy="384048"/>
            </a:xfrm>
            <a:prstGeom prst="ellipse">
              <a:avLst/>
            </a:prstGeom>
            <a:solidFill>
              <a:srgbClr val="1B1D21"/>
            </a:solidFill>
            <a:ln w="19050">
              <a:solidFill>
                <a:srgbClr val="9AA0A6"/>
              </a:solidFill>
            </a:ln>
          </p:spPr>
          <p:txBody>
            <a:bodyPr rtlCol="0" anchor="ctr"/>
            <a:lstStyle/>
            <a:p>
              <a:pPr algn="ctr"/>
              <a:endParaRPr/>
            </a:p>
          </p:txBody>
        </p:sp>
        <p:sp>
          <p:nvSpPr>
            <p:cNvPr id="72" name="hub"/>
            <p:cNvSpPr/>
            <p:nvPr/>
          </p:nvSpPr>
          <p:spPr>
            <a:xfrm>
              <a:off x="6460601" y="3964289"/>
              <a:ext cx="99852" cy="99852"/>
            </a:xfrm>
            <a:prstGeom prst="ellipse">
              <a:avLst/>
            </a:prstGeom>
            <a:solidFill>
              <a:srgbClr val="9AA0A6"/>
            </a:solidFill>
            <a:ln>
              <a:noFill/>
            </a:ln>
          </p:spPr>
          <p:txBody>
            <a:bodyPr rtlCol="0" anchor="ctr"/>
            <a:lstStyle/>
            <a:p>
              <a:pPr algn="ctr"/>
              <a:endParaRPr/>
            </a:p>
          </p:txBody>
        </p:sp>
        <p:sp>
          <p:nvSpPr>
            <p:cNvPr id="73" name="wheel"/>
            <p:cNvSpPr/>
            <p:nvPr/>
          </p:nvSpPr>
          <p:spPr>
            <a:xfrm>
              <a:off x="6894575" y="3822191"/>
              <a:ext cx="384048" cy="384048"/>
            </a:xfrm>
            <a:prstGeom prst="ellipse">
              <a:avLst/>
            </a:prstGeom>
            <a:solidFill>
              <a:srgbClr val="1B1D21"/>
            </a:solidFill>
            <a:ln w="19050">
              <a:solidFill>
                <a:srgbClr val="9AA0A6"/>
              </a:solidFill>
            </a:ln>
          </p:spPr>
          <p:txBody>
            <a:bodyPr rtlCol="0" anchor="ctr"/>
            <a:lstStyle/>
            <a:p>
              <a:pPr algn="ctr"/>
              <a:endParaRPr/>
            </a:p>
          </p:txBody>
        </p:sp>
        <p:sp>
          <p:nvSpPr>
            <p:cNvPr id="74" name="hub"/>
            <p:cNvSpPr/>
            <p:nvPr/>
          </p:nvSpPr>
          <p:spPr>
            <a:xfrm>
              <a:off x="7036673" y="3964289"/>
              <a:ext cx="99852" cy="99852"/>
            </a:xfrm>
            <a:prstGeom prst="ellipse">
              <a:avLst/>
            </a:prstGeom>
            <a:solidFill>
              <a:srgbClr val="9AA0A6"/>
            </a:solidFill>
            <a:ln>
              <a:noFill/>
            </a:ln>
          </p:spPr>
          <p:txBody>
            <a:bodyPr rtlCol="0" anchor="ctr"/>
            <a:lstStyle/>
            <a:p>
              <a:pPr algn="ctr"/>
              <a:endParaRPr/>
            </a:p>
          </p:txBody>
        </p:sp>
        <p:sp>
          <p:nvSpPr>
            <p:cNvPr id="75" name="frame"/>
            <p:cNvSpPr/>
            <p:nvPr/>
          </p:nvSpPr>
          <p:spPr>
            <a:xfrm>
              <a:off x="7456931" y="3808476"/>
              <a:ext cx="3607308" cy="123443"/>
            </a:xfrm>
            <a:prstGeom prst="rect">
              <a:avLst/>
            </a:prstGeom>
            <a:solidFill>
              <a:srgbClr val="3A3F47"/>
            </a:solidFill>
            <a:ln w="9525">
              <a:solidFill>
                <a:srgbClr val="9AA0A6"/>
              </a:solidFill>
            </a:ln>
          </p:spPr>
          <p:txBody>
            <a:bodyPr rtlCol="0" anchor="ctr"/>
            <a:lstStyle/>
            <a:p>
              <a:pPr algn="ctr"/>
              <a:endParaRPr/>
            </a:p>
          </p:txBody>
        </p:sp>
        <p:sp>
          <p:nvSpPr>
            <p:cNvPr id="76" name="cab"/>
            <p:cNvSpPr/>
            <p:nvPr/>
          </p:nvSpPr>
          <p:spPr>
            <a:xfrm>
              <a:off x="7456931" y="3054096"/>
              <a:ext cx="548640" cy="754380"/>
            </a:xfrm>
            <a:prstGeom prst="roundRect">
              <a:avLst>
                <a:gd name="adj" fmla="val 2500"/>
              </a:avLst>
            </a:prstGeom>
            <a:solidFill>
              <a:srgbClr val="F28C28"/>
            </a:solidFill>
            <a:ln>
              <a:noFill/>
            </a:ln>
          </p:spPr>
          <p:txBody>
            <a:bodyPr rtlCol="0" anchor="ctr"/>
            <a:lstStyle/>
            <a:p>
              <a:pPr algn="ctr"/>
              <a:endParaRPr/>
            </a:p>
          </p:txBody>
        </p:sp>
        <p:sp>
          <p:nvSpPr>
            <p:cNvPr id="77" name="cab roof"/>
            <p:cNvSpPr/>
            <p:nvPr/>
          </p:nvSpPr>
          <p:spPr>
            <a:xfrm>
              <a:off x="7429500" y="2985515"/>
              <a:ext cx="603504" cy="68580"/>
            </a:xfrm>
            <a:prstGeom prst="rect">
              <a:avLst/>
            </a:prstGeom>
            <a:solidFill>
              <a:srgbClr val="3A3F47"/>
            </a:solidFill>
            <a:ln w="9525">
              <a:solidFill>
                <a:srgbClr val="9AA0A6"/>
              </a:solidFill>
            </a:ln>
          </p:spPr>
          <p:txBody>
            <a:bodyPr rtlCol="0" anchor="ctr"/>
            <a:lstStyle/>
            <a:p>
              <a:pPr algn="ctr"/>
              <a:endParaRPr/>
            </a:p>
          </p:txBody>
        </p:sp>
        <p:sp>
          <p:nvSpPr>
            <p:cNvPr id="78" name="cab window"/>
            <p:cNvSpPr/>
            <p:nvPr/>
          </p:nvSpPr>
          <p:spPr>
            <a:xfrm>
              <a:off x="7594092" y="3163824"/>
              <a:ext cx="246888" cy="246887"/>
            </a:xfrm>
            <a:prstGeom prst="rect">
              <a:avLst/>
            </a:prstGeom>
            <a:solidFill>
              <a:srgbClr val="1B1D21"/>
            </a:solidFill>
            <a:ln>
              <a:noFill/>
            </a:ln>
          </p:spPr>
          <p:txBody>
            <a:bodyPr rtlCol="0" anchor="ctr"/>
            <a:lstStyle/>
            <a:p>
              <a:pPr algn="ctr"/>
              <a:endParaRPr/>
            </a:p>
          </p:txBody>
        </p:sp>
        <p:sp>
          <p:nvSpPr>
            <p:cNvPr id="79" name="boiler"/>
            <p:cNvSpPr/>
            <p:nvPr/>
          </p:nvSpPr>
          <p:spPr>
            <a:xfrm>
              <a:off x="8005571" y="3122675"/>
              <a:ext cx="2784348" cy="548640"/>
            </a:xfrm>
            <a:prstGeom prst="roundRect">
              <a:avLst>
                <a:gd name="adj" fmla="val 25000"/>
              </a:avLst>
            </a:prstGeom>
            <a:solidFill>
              <a:srgbClr val="F28C28"/>
            </a:solidFill>
            <a:ln>
              <a:noFill/>
            </a:ln>
          </p:spPr>
          <p:txBody>
            <a:bodyPr rtlCol="0" anchor="ctr"/>
            <a:lstStyle/>
            <a:p>
              <a:pPr algn="ctr"/>
              <a:endParaRPr/>
            </a:p>
          </p:txBody>
        </p:sp>
        <p:sp>
          <p:nvSpPr>
            <p:cNvPr id="80" name="boiler band"/>
            <p:cNvSpPr/>
            <p:nvPr/>
          </p:nvSpPr>
          <p:spPr>
            <a:xfrm>
              <a:off x="8840876" y="3122675"/>
              <a:ext cx="19202" cy="548640"/>
            </a:xfrm>
            <a:prstGeom prst="rect">
              <a:avLst/>
            </a:prstGeom>
            <a:solidFill>
              <a:srgbClr val="AE641C"/>
            </a:solidFill>
            <a:ln>
              <a:noFill/>
            </a:ln>
          </p:spPr>
          <p:txBody>
            <a:bodyPr rtlCol="0" anchor="ctr"/>
            <a:lstStyle/>
            <a:p>
              <a:pPr algn="ctr"/>
              <a:endParaRPr/>
            </a:p>
          </p:txBody>
        </p:sp>
        <p:sp>
          <p:nvSpPr>
            <p:cNvPr id="81" name="boiler band"/>
            <p:cNvSpPr/>
            <p:nvPr/>
          </p:nvSpPr>
          <p:spPr>
            <a:xfrm>
              <a:off x="9536963" y="3122675"/>
              <a:ext cx="19202" cy="548640"/>
            </a:xfrm>
            <a:prstGeom prst="rect">
              <a:avLst/>
            </a:prstGeom>
            <a:solidFill>
              <a:srgbClr val="AE641C"/>
            </a:solidFill>
            <a:ln>
              <a:noFill/>
            </a:ln>
          </p:spPr>
          <p:txBody>
            <a:bodyPr rtlCol="0" anchor="ctr"/>
            <a:lstStyle/>
            <a:p>
              <a:pPr algn="ctr"/>
              <a:endParaRPr/>
            </a:p>
          </p:txBody>
        </p:sp>
        <p:sp>
          <p:nvSpPr>
            <p:cNvPr id="82" name="boiler band"/>
            <p:cNvSpPr/>
            <p:nvPr/>
          </p:nvSpPr>
          <p:spPr>
            <a:xfrm>
              <a:off x="10233050" y="3122675"/>
              <a:ext cx="19202" cy="548640"/>
            </a:xfrm>
            <a:prstGeom prst="rect">
              <a:avLst/>
            </a:prstGeom>
            <a:solidFill>
              <a:srgbClr val="AE641C"/>
            </a:solidFill>
            <a:ln>
              <a:noFill/>
            </a:ln>
          </p:spPr>
          <p:txBody>
            <a:bodyPr rtlCol="0" anchor="ctr"/>
            <a:lstStyle/>
            <a:p>
              <a:pPr algn="ctr"/>
              <a:endParaRPr/>
            </a:p>
          </p:txBody>
        </p:sp>
        <p:sp>
          <p:nvSpPr>
            <p:cNvPr id="83" name="smokebox"/>
            <p:cNvSpPr/>
            <p:nvPr/>
          </p:nvSpPr>
          <p:spPr>
            <a:xfrm>
              <a:off x="10789920" y="3122675"/>
              <a:ext cx="274320" cy="548640"/>
            </a:xfrm>
            <a:prstGeom prst="roundRect">
              <a:avLst>
                <a:gd name="adj" fmla="val 12000"/>
              </a:avLst>
            </a:prstGeom>
            <a:solidFill>
              <a:srgbClr val="4A515B"/>
            </a:solidFill>
            <a:ln>
              <a:noFill/>
            </a:ln>
          </p:spPr>
          <p:txBody>
            <a:bodyPr rtlCol="0" anchor="ctr"/>
            <a:lstStyle/>
            <a:p>
              <a:pPr algn="ctr"/>
              <a:endParaRPr/>
            </a:p>
          </p:txBody>
        </p:sp>
        <p:sp>
          <p:nvSpPr>
            <p:cNvPr id="84" name="chimney"/>
            <p:cNvSpPr/>
            <p:nvPr/>
          </p:nvSpPr>
          <p:spPr>
            <a:xfrm>
              <a:off x="10844784" y="2834639"/>
              <a:ext cx="164592" cy="288035"/>
            </a:xfrm>
            <a:prstGeom prst="rect">
              <a:avLst/>
            </a:prstGeom>
            <a:solidFill>
              <a:srgbClr val="3A3F47"/>
            </a:solidFill>
            <a:ln w="9525">
              <a:solidFill>
                <a:srgbClr val="9AA0A6"/>
              </a:solidFill>
            </a:ln>
          </p:spPr>
          <p:txBody>
            <a:bodyPr rtlCol="0" anchor="ctr"/>
            <a:lstStyle/>
            <a:p>
              <a:pPr algn="ctr"/>
              <a:endParaRPr/>
            </a:p>
          </p:txBody>
        </p:sp>
        <p:sp>
          <p:nvSpPr>
            <p:cNvPr id="85" name="chimney lip"/>
            <p:cNvSpPr/>
            <p:nvPr/>
          </p:nvSpPr>
          <p:spPr>
            <a:xfrm>
              <a:off x="10803636" y="2793491"/>
              <a:ext cx="246888" cy="68580"/>
            </a:xfrm>
            <a:prstGeom prst="rect">
              <a:avLst/>
            </a:prstGeom>
            <a:solidFill>
              <a:srgbClr val="3A3F47"/>
            </a:solidFill>
            <a:ln w="9525">
              <a:solidFill>
                <a:srgbClr val="9AA0A6"/>
              </a:solidFill>
            </a:ln>
          </p:spPr>
          <p:txBody>
            <a:bodyPr rtlCol="0" anchor="ctr"/>
            <a:lstStyle/>
            <a:p>
              <a:pPr algn="ctr"/>
              <a:endParaRPr/>
            </a:p>
          </p:txBody>
        </p:sp>
        <p:sp>
          <p:nvSpPr>
            <p:cNvPr id="86" name="dome"/>
            <p:cNvSpPr/>
            <p:nvPr/>
          </p:nvSpPr>
          <p:spPr>
            <a:xfrm>
              <a:off x="9119311" y="2971800"/>
              <a:ext cx="246888" cy="150875"/>
            </a:xfrm>
            <a:prstGeom prst="roundRect">
              <a:avLst>
                <a:gd name="adj" fmla="val 36363"/>
              </a:avLst>
            </a:prstGeom>
            <a:solidFill>
              <a:srgbClr val="F28C28"/>
            </a:solidFill>
            <a:ln>
              <a:noFill/>
            </a:ln>
          </p:spPr>
          <p:txBody>
            <a:bodyPr rtlCol="0" anchor="ctr"/>
            <a:lstStyle/>
            <a:p>
              <a:pPr algn="ctr"/>
              <a:endParaRPr/>
            </a:p>
          </p:txBody>
        </p:sp>
        <p:sp>
          <p:nvSpPr>
            <p:cNvPr id="87" name="wheel"/>
            <p:cNvSpPr/>
            <p:nvPr/>
          </p:nvSpPr>
          <p:spPr>
            <a:xfrm>
              <a:off x="7498079" y="3657600"/>
              <a:ext cx="548640" cy="548640"/>
            </a:xfrm>
            <a:prstGeom prst="ellipse">
              <a:avLst/>
            </a:prstGeom>
            <a:solidFill>
              <a:srgbClr val="1B1D21"/>
            </a:solidFill>
            <a:ln w="19050">
              <a:solidFill>
                <a:srgbClr val="9AA0A6"/>
              </a:solidFill>
            </a:ln>
          </p:spPr>
          <p:txBody>
            <a:bodyPr rtlCol="0" anchor="ctr"/>
            <a:lstStyle/>
            <a:p>
              <a:pPr algn="ctr"/>
              <a:endParaRPr/>
            </a:p>
          </p:txBody>
        </p:sp>
        <p:sp>
          <p:nvSpPr>
            <p:cNvPr id="88" name="hub"/>
            <p:cNvSpPr/>
            <p:nvPr/>
          </p:nvSpPr>
          <p:spPr>
            <a:xfrm>
              <a:off x="7701076" y="3860596"/>
              <a:ext cx="142646" cy="142646"/>
            </a:xfrm>
            <a:prstGeom prst="ellipse">
              <a:avLst/>
            </a:prstGeom>
            <a:solidFill>
              <a:srgbClr val="9AA0A6"/>
            </a:solidFill>
            <a:ln>
              <a:noFill/>
            </a:ln>
          </p:spPr>
          <p:txBody>
            <a:bodyPr rtlCol="0" anchor="ctr"/>
            <a:lstStyle/>
            <a:p>
              <a:pPr algn="ctr"/>
              <a:endParaRPr/>
            </a:p>
          </p:txBody>
        </p:sp>
        <p:sp>
          <p:nvSpPr>
            <p:cNvPr id="89" name="wheel"/>
            <p:cNvSpPr/>
            <p:nvPr/>
          </p:nvSpPr>
          <p:spPr>
            <a:xfrm>
              <a:off x="8115299" y="3657600"/>
              <a:ext cx="548640" cy="548640"/>
            </a:xfrm>
            <a:prstGeom prst="ellipse">
              <a:avLst/>
            </a:prstGeom>
            <a:solidFill>
              <a:srgbClr val="1B1D21"/>
            </a:solidFill>
            <a:ln w="19050">
              <a:solidFill>
                <a:srgbClr val="9AA0A6"/>
              </a:solidFill>
            </a:ln>
          </p:spPr>
          <p:txBody>
            <a:bodyPr rtlCol="0" anchor="ctr"/>
            <a:lstStyle/>
            <a:p>
              <a:pPr algn="ctr"/>
              <a:endParaRPr/>
            </a:p>
          </p:txBody>
        </p:sp>
        <p:sp>
          <p:nvSpPr>
            <p:cNvPr id="90" name="hub"/>
            <p:cNvSpPr/>
            <p:nvPr/>
          </p:nvSpPr>
          <p:spPr>
            <a:xfrm>
              <a:off x="8318296" y="3860596"/>
              <a:ext cx="142646" cy="142646"/>
            </a:xfrm>
            <a:prstGeom prst="ellipse">
              <a:avLst/>
            </a:prstGeom>
            <a:solidFill>
              <a:srgbClr val="9AA0A6"/>
            </a:solidFill>
            <a:ln>
              <a:noFill/>
            </a:ln>
          </p:spPr>
          <p:txBody>
            <a:bodyPr rtlCol="0" anchor="ctr"/>
            <a:lstStyle/>
            <a:p>
              <a:pPr algn="ctr"/>
              <a:endParaRPr/>
            </a:p>
          </p:txBody>
        </p:sp>
        <p:sp>
          <p:nvSpPr>
            <p:cNvPr id="91" name="wheel"/>
            <p:cNvSpPr/>
            <p:nvPr/>
          </p:nvSpPr>
          <p:spPr>
            <a:xfrm>
              <a:off x="8732519" y="3657600"/>
              <a:ext cx="548640" cy="548640"/>
            </a:xfrm>
            <a:prstGeom prst="ellipse">
              <a:avLst/>
            </a:prstGeom>
            <a:solidFill>
              <a:srgbClr val="1B1D21"/>
            </a:solidFill>
            <a:ln w="19050">
              <a:solidFill>
                <a:srgbClr val="9AA0A6"/>
              </a:solidFill>
            </a:ln>
          </p:spPr>
          <p:txBody>
            <a:bodyPr rtlCol="0" anchor="ctr"/>
            <a:lstStyle/>
            <a:p>
              <a:pPr algn="ctr"/>
              <a:endParaRPr/>
            </a:p>
          </p:txBody>
        </p:sp>
        <p:sp>
          <p:nvSpPr>
            <p:cNvPr id="92" name="hub"/>
            <p:cNvSpPr/>
            <p:nvPr/>
          </p:nvSpPr>
          <p:spPr>
            <a:xfrm>
              <a:off x="8935516" y="3860596"/>
              <a:ext cx="142646" cy="142646"/>
            </a:xfrm>
            <a:prstGeom prst="ellipse">
              <a:avLst/>
            </a:prstGeom>
            <a:solidFill>
              <a:srgbClr val="9AA0A6"/>
            </a:solidFill>
            <a:ln>
              <a:noFill/>
            </a:ln>
          </p:spPr>
          <p:txBody>
            <a:bodyPr rtlCol="0" anchor="ctr"/>
            <a:lstStyle/>
            <a:p>
              <a:pPr algn="ctr"/>
              <a:endParaRPr/>
            </a:p>
          </p:txBody>
        </p:sp>
        <p:sp>
          <p:nvSpPr>
            <p:cNvPr id="93" name="wheel"/>
            <p:cNvSpPr/>
            <p:nvPr/>
          </p:nvSpPr>
          <p:spPr>
            <a:xfrm>
              <a:off x="9349739" y="3657600"/>
              <a:ext cx="548640" cy="548640"/>
            </a:xfrm>
            <a:prstGeom prst="ellipse">
              <a:avLst/>
            </a:prstGeom>
            <a:solidFill>
              <a:srgbClr val="1B1D21"/>
            </a:solidFill>
            <a:ln w="19050">
              <a:solidFill>
                <a:srgbClr val="9AA0A6"/>
              </a:solidFill>
            </a:ln>
          </p:spPr>
          <p:txBody>
            <a:bodyPr rtlCol="0" anchor="ctr"/>
            <a:lstStyle/>
            <a:p>
              <a:pPr algn="ctr"/>
              <a:endParaRPr/>
            </a:p>
          </p:txBody>
        </p:sp>
        <p:sp>
          <p:nvSpPr>
            <p:cNvPr id="94" name="hub"/>
            <p:cNvSpPr/>
            <p:nvPr/>
          </p:nvSpPr>
          <p:spPr>
            <a:xfrm>
              <a:off x="9552736" y="3860596"/>
              <a:ext cx="142646" cy="142646"/>
            </a:xfrm>
            <a:prstGeom prst="ellipse">
              <a:avLst/>
            </a:prstGeom>
            <a:solidFill>
              <a:srgbClr val="9AA0A6"/>
            </a:solidFill>
            <a:ln>
              <a:noFill/>
            </a:ln>
          </p:spPr>
          <p:txBody>
            <a:bodyPr rtlCol="0" anchor="ctr"/>
            <a:lstStyle/>
            <a:p>
              <a:pPr algn="ctr"/>
              <a:endParaRPr/>
            </a:p>
          </p:txBody>
        </p:sp>
        <p:sp>
          <p:nvSpPr>
            <p:cNvPr id="95" name="wheel"/>
            <p:cNvSpPr/>
            <p:nvPr/>
          </p:nvSpPr>
          <p:spPr>
            <a:xfrm>
              <a:off x="10104120" y="3904487"/>
              <a:ext cx="301752" cy="301752"/>
            </a:xfrm>
            <a:prstGeom prst="ellipse">
              <a:avLst/>
            </a:prstGeom>
            <a:solidFill>
              <a:srgbClr val="1B1D21"/>
            </a:solidFill>
            <a:ln w="19050">
              <a:solidFill>
                <a:srgbClr val="9AA0A6"/>
              </a:solidFill>
            </a:ln>
          </p:spPr>
          <p:txBody>
            <a:bodyPr rtlCol="0" anchor="ctr"/>
            <a:lstStyle/>
            <a:p>
              <a:pPr algn="ctr"/>
              <a:endParaRPr/>
            </a:p>
          </p:txBody>
        </p:sp>
        <p:sp>
          <p:nvSpPr>
            <p:cNvPr id="96" name="hub"/>
            <p:cNvSpPr/>
            <p:nvPr/>
          </p:nvSpPr>
          <p:spPr>
            <a:xfrm>
              <a:off x="10215768" y="4016136"/>
              <a:ext cx="78455" cy="78455"/>
            </a:xfrm>
            <a:prstGeom prst="ellipse">
              <a:avLst/>
            </a:prstGeom>
            <a:solidFill>
              <a:srgbClr val="9AA0A6"/>
            </a:solidFill>
            <a:ln>
              <a:noFill/>
            </a:ln>
          </p:spPr>
          <p:txBody>
            <a:bodyPr rtlCol="0" anchor="ctr"/>
            <a:lstStyle/>
            <a:p>
              <a:pPr algn="ctr"/>
              <a:endParaRPr/>
            </a:p>
          </p:txBody>
        </p:sp>
        <p:sp>
          <p:nvSpPr>
            <p:cNvPr id="97" name="coupling rod"/>
            <p:cNvSpPr/>
            <p:nvPr/>
          </p:nvSpPr>
          <p:spPr>
            <a:xfrm>
              <a:off x="7772400" y="3775557"/>
              <a:ext cx="1851660" cy="38404"/>
            </a:xfrm>
            <a:prstGeom prst="rect">
              <a:avLst/>
            </a:prstGeom>
            <a:solidFill>
              <a:srgbClr val="D0D4D8"/>
            </a:solidFill>
            <a:ln>
              <a:noFill/>
            </a:ln>
          </p:spPr>
          <p:txBody>
            <a:bodyPr rtlCol="0" anchor="ctr"/>
            <a:lstStyle/>
            <a:p>
              <a:pPr algn="ctr"/>
              <a:endParaRPr/>
            </a:p>
          </p:txBody>
        </p:sp>
        <p:sp>
          <p:nvSpPr>
            <p:cNvPr id="98" name="buffer beam"/>
            <p:cNvSpPr/>
            <p:nvPr/>
          </p:nvSpPr>
          <p:spPr>
            <a:xfrm>
              <a:off x="11064240" y="3685031"/>
              <a:ext cx="82296" cy="246887"/>
            </a:xfrm>
            <a:prstGeom prst="rect">
              <a:avLst/>
            </a:prstGeom>
            <a:solidFill>
              <a:srgbClr val="9AA0A6"/>
            </a:solidFill>
            <a:ln>
              <a:noFill/>
            </a:ln>
          </p:spPr>
          <p:txBody>
            <a:bodyPr rtlCol="0" anchor="ctr"/>
            <a:lstStyle/>
            <a:p>
              <a:pPr algn="ctr"/>
              <a:endParaRPr/>
            </a:p>
          </p:txBody>
        </p:sp>
        <p:sp>
          <p:nvSpPr>
            <p:cNvPr id="99" name="coupling link"/>
            <p:cNvSpPr/>
            <p:nvPr/>
          </p:nvSpPr>
          <p:spPr>
            <a:xfrm>
              <a:off x="5989320" y="3657599"/>
              <a:ext cx="265176" cy="64008"/>
            </a:xfrm>
            <a:prstGeom prst="rect">
              <a:avLst/>
            </a:prstGeom>
            <a:solidFill>
              <a:srgbClr val="9AA0A6"/>
            </a:solidFill>
            <a:ln>
              <a:noFill/>
            </a:ln>
          </p:spPr>
          <p:txBody>
            <a:bodyPr rtlCol="0" anchor="ctr"/>
            <a:lstStyle/>
            <a:p>
              <a:pPr algn="ctr"/>
              <a:endParaRPr/>
            </a:p>
          </p:txBody>
        </p:sp>
        <p:sp>
          <p:nvSpPr>
            <p:cNvPr id="100" name="question mark"/>
            <p:cNvSpPr/>
            <p:nvPr/>
          </p:nvSpPr>
          <p:spPr>
            <a:xfrm>
              <a:off x="3817620" y="1714500"/>
              <a:ext cx="868680" cy="868680"/>
            </a:xfrm>
            <a:prstGeom prst="ellipse">
              <a:avLst/>
            </a:prstGeom>
            <a:solidFill>
              <a:srgbClr val="1E2126"/>
            </a:solidFill>
            <a:ln w="38100">
              <a:solidFill>
                <a:srgbClr val="A9B0B8"/>
              </a:solidFill>
            </a:ln>
          </p:spPr>
          <p:txBody>
            <a:bodyPr wrap="square" lIns="0" tIns="0" rIns="0" bIns="0" rtlCol="0" anchor="ctr">
              <a:noAutofit/>
            </a:bodyPr>
            <a:lstStyle/>
            <a:p>
              <a:pPr algn="ctr"/>
              <a:r>
                <a:rPr lang="en-GB" sz="3600" b="1" i="0">
                  <a:solidFill>
                    <a:srgbClr val="F2F2F2"/>
                  </a:solidFill>
                  <a:latin typeface="Arial"/>
                </a:rPr>
                <a:t>?</a:t>
              </a:r>
            </a:p>
          </p:txBody>
        </p:sp>
        <p:sp>
          <p:nvSpPr>
            <p:cNvPr id="101" name="question mark"/>
            <p:cNvSpPr/>
            <p:nvPr/>
          </p:nvSpPr>
          <p:spPr>
            <a:xfrm>
              <a:off x="8956548" y="1714500"/>
              <a:ext cx="868680" cy="868680"/>
            </a:xfrm>
            <a:prstGeom prst="ellipse">
              <a:avLst/>
            </a:prstGeom>
            <a:solidFill>
              <a:srgbClr val="1E2126"/>
            </a:solidFill>
            <a:ln w="38100">
              <a:solidFill>
                <a:srgbClr val="A9B0B8"/>
              </a:solidFill>
            </a:ln>
          </p:spPr>
          <p:txBody>
            <a:bodyPr wrap="square" lIns="0" tIns="0" rIns="0" bIns="0" rtlCol="0" anchor="ctr">
              <a:noAutofit/>
            </a:bodyPr>
            <a:lstStyle/>
            <a:p>
              <a:pPr algn="ctr"/>
              <a:r>
                <a:rPr lang="en-GB" sz="3600" b="1" i="0">
                  <a:solidFill>
                    <a:srgbClr val="F2F2F2"/>
                  </a:solidFill>
                  <a:latin typeface="Arial"/>
                </a:rPr>
                <a:t>?</a:t>
              </a:r>
            </a:p>
          </p:txBody>
        </p:sp>
      </p:grpSp>
      <p:sp>
        <p:nvSpPr>
          <p:cNvPr id="102" name="open question codes"/>
          <p:cNvSpPr txBox="1"/>
          <p:nvPr/>
        </p:nvSpPr>
        <p:spPr>
          <a:xfrm>
            <a:off x="548640" y="5212080"/>
            <a:ext cx="2743200" cy="274320"/>
          </a:xfrm>
          <a:prstGeom prst="rect">
            <a:avLst/>
          </a:prstGeom>
          <a:noFill/>
        </p:spPr>
        <p:txBody>
          <a:bodyPr wrap="square" lIns="18288" tIns="9144" rIns="18288" bIns="9144" anchor="ctr">
            <a:noAutofit/>
          </a:bodyPr>
          <a:lstStyle/>
          <a:p>
            <a:pPr algn="l"/>
            <a:r>
              <a:rPr lang="en-GB" sz="1400" b="0" i="0">
                <a:solidFill>
                  <a:srgbClr val="A9B0B8"/>
                </a:solidFill>
                <a:latin typeface="Arial"/>
              </a:rPr>
              <a:t>OQ06, OQ27</a:t>
            </a:r>
          </a:p>
        </p:txBody>
      </p:sp>
      <p:sp>
        <p:nvSpPr>
          <p:cNvPr id="10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0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05"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With two engines, which one leads? That is not settled.</a:t>
            </a:r>
          </a:p>
        </p:txBody>
      </p:sp>
      <p:sp>
        <p:nvSpPr>
          <p:cNvPr id="10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10</a:t>
            </a:r>
          </a:p>
        </p:txBody>
      </p:sp>
    </p:spTree>
    <p:extLst>
      <p:ext uri="{BB962C8B-B14F-4D97-AF65-F5344CB8AC3E}">
        <p14:creationId xmlns:p14="http://schemas.microsoft.com/office/powerpoint/2010/main" val="23819020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500"/>
                                        <p:tgtEl>
                                          <p:spTgt spid="102"/>
                                        </p:tgtEl>
                                      </p:cBhvr>
                                    </p:animEffect>
                                  </p:childTnLst>
                                </p:cTn>
                              </p:par>
                              <p:par>
                                <p:cTn id="11" presetID="10" presetClass="entr" presetSubtype="0" fill="hold" nodeType="withEffect">
                                  <p:stCondLst>
                                    <p:cond delay="600"/>
                                  </p:stCondLst>
                                  <p:childTnLst>
                                    <p:set>
                                      <p:cBhvr>
                                        <p:cTn id="12" dur="1" fill="hold">
                                          <p:stCondLst>
                                            <p:cond delay="0"/>
                                          </p:stCondLst>
                                        </p:cTn>
                                        <p:tgtEl>
                                          <p:spTgt spid="103"/>
                                        </p:tgtEl>
                                        <p:attrNameLst>
                                          <p:attrName>style.visibility</p:attrName>
                                        </p:attrNameLst>
                                      </p:cBhvr>
                                      <p:to>
                                        <p:strVal val="visible"/>
                                      </p:to>
                                    </p:set>
                                    <p:animEffect transition="in" filter="fade">
                                      <p:cBhvr>
                                        <p:cTn id="13" dur="500"/>
                                        <p:tgtEl>
                                          <p:spTgt spid="103"/>
                                        </p:tgtEl>
                                      </p:cBhvr>
                                    </p:animEffect>
                                  </p:childTnLst>
                                </p:cTn>
                              </p:par>
                              <p:par>
                                <p:cTn id="14" presetID="10" presetClass="entr" presetSubtype="0" fill="hold" nodeType="withEffect">
                                  <p:stCondLst>
                                    <p:cond delay="900"/>
                                  </p:stCondLst>
                                  <p:childTnLst>
                                    <p:set>
                                      <p:cBhvr>
                                        <p:cTn id="15" dur="1" fill="hold">
                                          <p:stCondLst>
                                            <p:cond delay="0"/>
                                          </p:stCondLst>
                                        </p:cTn>
                                        <p:tgtEl>
                                          <p:spTgt spid="104"/>
                                        </p:tgtEl>
                                        <p:attrNameLst>
                                          <p:attrName>style.visibility</p:attrName>
                                        </p:attrNameLst>
                                      </p:cBhvr>
                                      <p:to>
                                        <p:strVal val="visible"/>
                                      </p:to>
                                    </p:set>
                                    <p:animEffect transition="in" filter="fade">
                                      <p:cBhvr>
                                        <p:cTn id="16" dur="500"/>
                                        <p:tgtEl>
                                          <p:spTgt spid="104"/>
                                        </p:tgtEl>
                                      </p:cBhvr>
                                    </p:animEffect>
                                  </p:childTnLst>
                                </p:cTn>
                              </p:par>
                              <p:par>
                                <p:cTn id="17" presetID="10" presetClass="entr" presetSubtype="0" fill="hold" nodeType="withEffect">
                                  <p:stCondLst>
                                    <p:cond delay="1200"/>
                                  </p:stCondLst>
                                  <p:childTnLst>
                                    <p:set>
                                      <p:cBhvr>
                                        <p:cTn id="18" dur="1" fill="hold">
                                          <p:stCondLst>
                                            <p:cond delay="0"/>
                                          </p:stCondLst>
                                        </p:cTn>
                                        <p:tgtEl>
                                          <p:spTgt spid="105"/>
                                        </p:tgtEl>
                                        <p:attrNameLst>
                                          <p:attrName>style.visibility</p:attrName>
                                        </p:attrNameLst>
                                      </p:cBhvr>
                                      <p:to>
                                        <p:strVal val="visible"/>
                                      </p:to>
                                    </p:set>
                                    <p:animEffect transition="in" filter="fade">
                                      <p:cBhvr>
                                        <p:cTn id="19"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When the region changes</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grpSp>
        <p:nvGrpSpPr>
          <p:cNvPr id="4" name="Four open questions" descr="Four question cards about engines already running when the region changes: weight and power, trains on the move, loading a saved game, and how train weight is shown. None is decided."/>
          <p:cNvGrpSpPr/>
          <p:nvPr/>
        </p:nvGrpSpPr>
        <p:grpSpPr>
          <a:xfrm>
            <a:off x="548640" y="1325880"/>
            <a:ext cx="11091671" cy="3611880"/>
            <a:chOff x="548640" y="1325880"/>
            <a:chExt cx="11091671" cy="3611880"/>
          </a:xfrm>
        </p:grpSpPr>
        <p:sp>
          <p:nvSpPr>
            <p:cNvPr id="5" name="question card"/>
            <p:cNvSpPr/>
            <p:nvPr/>
          </p:nvSpPr>
          <p:spPr>
            <a:xfrm>
              <a:off x="548640" y="1325880"/>
              <a:ext cx="5440680" cy="1691640"/>
            </a:xfrm>
            <a:prstGeom prst="roundRect">
              <a:avLst>
                <a:gd name="adj" fmla="val 5405"/>
              </a:avLst>
            </a:prstGeom>
            <a:solidFill>
              <a:srgbClr val="2B2F36"/>
            </a:solidFill>
            <a:ln w="19050">
              <a:solidFill>
                <a:srgbClr val="4A515B"/>
              </a:solidFill>
            </a:ln>
          </p:spPr>
          <p:txBody>
            <a:bodyPr rtlCol="0" anchor="ctr"/>
            <a:lstStyle/>
            <a:p>
              <a:pPr algn="ctr"/>
              <a:endParaRPr/>
            </a:p>
          </p:txBody>
        </p:sp>
        <p:sp>
          <p:nvSpPr>
            <p:cNvPr id="6" name="scale post"/>
            <p:cNvSpPr/>
            <p:nvPr/>
          </p:nvSpPr>
          <p:spPr>
            <a:xfrm>
              <a:off x="1202436" y="1931670"/>
              <a:ext cx="384048" cy="672084"/>
            </a:xfrm>
            <a:custGeom>
              <a:avLst/>
              <a:gdLst/>
              <a:ahLst/>
              <a:cxnLst/>
              <a:rect l="l" t="t" r="r" b="b"/>
              <a:pathLst>
                <a:path w="384048" h="672084">
                  <a:moveTo>
                    <a:pt x="192024" y="0"/>
                  </a:moveTo>
                  <a:lnTo>
                    <a:pt x="0" y="672084"/>
                  </a:lnTo>
                  <a:lnTo>
                    <a:pt x="384048" y="672084"/>
                  </a:lnTo>
                  <a:close/>
                </a:path>
              </a:pathLst>
            </a:custGeom>
            <a:solidFill>
              <a:srgbClr val="9AA0A6"/>
            </a:solidFill>
            <a:ln>
              <a:noFill/>
            </a:ln>
          </p:spPr>
          <p:txBody>
            <a:bodyPr rtlCol="0" anchor="ctr"/>
            <a:lstStyle/>
            <a:p>
              <a:pPr algn="ctr"/>
              <a:endParaRPr/>
            </a:p>
          </p:txBody>
        </p:sp>
        <p:sp>
          <p:nvSpPr>
            <p:cNvPr id="7" name="scale beam"/>
            <p:cNvSpPr/>
            <p:nvPr/>
          </p:nvSpPr>
          <p:spPr>
            <a:xfrm>
              <a:off x="933602" y="1883664"/>
              <a:ext cx="921715" cy="67208"/>
            </a:xfrm>
            <a:prstGeom prst="rect">
              <a:avLst/>
            </a:prstGeom>
            <a:solidFill>
              <a:srgbClr val="9AA0A6"/>
            </a:solidFill>
            <a:ln>
              <a:noFill/>
            </a:ln>
          </p:spPr>
          <p:txBody>
            <a:bodyPr rtlCol="0" anchor="ctr"/>
            <a:lstStyle/>
            <a:p>
              <a:pPr algn="ctr"/>
              <a:endParaRPr/>
            </a:p>
          </p:txBody>
        </p:sp>
        <p:cxnSp>
          <p:nvCxnSpPr>
            <p:cNvPr id="8" name="string"/>
            <p:cNvCxnSpPr/>
            <p:nvPr/>
          </p:nvCxnSpPr>
          <p:spPr>
            <a:xfrm flipH="1">
              <a:off x="933602" y="1931670"/>
              <a:ext cx="144018" cy="336042"/>
            </a:xfrm>
            <a:prstGeom prst="line">
              <a:avLst/>
            </a:prstGeom>
            <a:ln w="19050">
              <a:solidFill>
                <a:srgbClr val="9AA0A6"/>
              </a:solidFill>
            </a:ln>
          </p:spPr>
        </p:cxnSp>
        <p:cxnSp>
          <p:nvCxnSpPr>
            <p:cNvPr id="9" name="string"/>
            <p:cNvCxnSpPr/>
            <p:nvPr/>
          </p:nvCxnSpPr>
          <p:spPr>
            <a:xfrm>
              <a:off x="1077620" y="1931670"/>
              <a:ext cx="144018" cy="336042"/>
            </a:xfrm>
            <a:prstGeom prst="line">
              <a:avLst/>
            </a:prstGeom>
            <a:ln w="19050">
              <a:solidFill>
                <a:srgbClr val="9AA0A6"/>
              </a:solidFill>
            </a:ln>
          </p:spPr>
        </p:cxnSp>
        <p:sp>
          <p:nvSpPr>
            <p:cNvPr id="10" name="pan"/>
            <p:cNvSpPr/>
            <p:nvPr/>
          </p:nvSpPr>
          <p:spPr>
            <a:xfrm>
              <a:off x="914400" y="2267712"/>
              <a:ext cx="326440" cy="57607"/>
            </a:xfrm>
            <a:prstGeom prst="rect">
              <a:avLst/>
            </a:prstGeom>
            <a:solidFill>
              <a:srgbClr val="9AA0A6"/>
            </a:solidFill>
            <a:ln>
              <a:noFill/>
            </a:ln>
          </p:spPr>
          <p:txBody>
            <a:bodyPr rtlCol="0" anchor="ctr"/>
            <a:lstStyle/>
            <a:p>
              <a:pPr algn="ctr"/>
              <a:endParaRPr/>
            </a:p>
          </p:txBody>
        </p:sp>
        <p:cxnSp>
          <p:nvCxnSpPr>
            <p:cNvPr id="11" name="string"/>
            <p:cNvCxnSpPr/>
            <p:nvPr/>
          </p:nvCxnSpPr>
          <p:spPr>
            <a:xfrm flipH="1">
              <a:off x="1567281" y="1931670"/>
              <a:ext cx="144018" cy="336042"/>
            </a:xfrm>
            <a:prstGeom prst="line">
              <a:avLst/>
            </a:prstGeom>
            <a:ln w="19050">
              <a:solidFill>
                <a:srgbClr val="9AA0A6"/>
              </a:solidFill>
            </a:ln>
          </p:spPr>
        </p:cxnSp>
        <p:cxnSp>
          <p:nvCxnSpPr>
            <p:cNvPr id="12" name="string"/>
            <p:cNvCxnSpPr/>
            <p:nvPr/>
          </p:nvCxnSpPr>
          <p:spPr>
            <a:xfrm>
              <a:off x="1711299" y="1931670"/>
              <a:ext cx="144018" cy="336042"/>
            </a:xfrm>
            <a:prstGeom prst="line">
              <a:avLst/>
            </a:prstGeom>
            <a:ln w="19050">
              <a:solidFill>
                <a:srgbClr val="9AA0A6"/>
              </a:solidFill>
            </a:ln>
          </p:spPr>
        </p:cxnSp>
        <p:sp>
          <p:nvSpPr>
            <p:cNvPr id="13" name="pan"/>
            <p:cNvSpPr/>
            <p:nvPr/>
          </p:nvSpPr>
          <p:spPr>
            <a:xfrm>
              <a:off x="1548079" y="2267712"/>
              <a:ext cx="326440" cy="57607"/>
            </a:xfrm>
            <a:prstGeom prst="rect">
              <a:avLst/>
            </a:prstGeom>
            <a:solidFill>
              <a:srgbClr val="9AA0A6"/>
            </a:solidFill>
            <a:ln>
              <a:noFill/>
            </a:ln>
          </p:spPr>
          <p:txBody>
            <a:bodyPr rtlCol="0" anchor="ctr"/>
            <a:lstStyle/>
            <a:p>
              <a:pPr algn="ctr"/>
              <a:endParaRPr/>
            </a:p>
          </p:txBody>
        </p:sp>
        <p:sp>
          <p:nvSpPr>
            <p:cNvPr id="14" name="question"/>
            <p:cNvSpPr txBox="1"/>
            <p:nvPr/>
          </p:nvSpPr>
          <p:spPr>
            <a:xfrm>
              <a:off x="2240280" y="1325880"/>
              <a:ext cx="2834640" cy="1691640"/>
            </a:xfrm>
            <a:prstGeom prst="rect">
              <a:avLst/>
            </a:prstGeom>
            <a:noFill/>
          </p:spPr>
          <p:txBody>
            <a:bodyPr wrap="square" lIns="18288" tIns="9144" rIns="18288" bIns="9144" anchor="ctr">
              <a:noAutofit/>
            </a:bodyPr>
            <a:lstStyle/>
            <a:p>
              <a:pPr algn="l"/>
              <a:r>
                <a:rPr lang="en-GB" sz="2000" b="1" i="0">
                  <a:solidFill>
                    <a:srgbClr val="F2F2F2"/>
                  </a:solidFill>
                  <a:latin typeface="Arial"/>
                </a:rPr>
                <a:t>Do weight and power change?</a:t>
              </a:r>
            </a:p>
          </p:txBody>
        </p:sp>
        <p:sp>
          <p:nvSpPr>
            <p:cNvPr id="15" name="question glyph"/>
            <p:cNvSpPr txBox="1"/>
            <p:nvPr/>
          </p:nvSpPr>
          <p:spPr>
            <a:xfrm>
              <a:off x="5120640" y="1508760"/>
              <a:ext cx="731520" cy="1325880"/>
            </a:xfrm>
            <a:prstGeom prst="rect">
              <a:avLst/>
            </a:prstGeom>
            <a:noFill/>
          </p:spPr>
          <p:txBody>
            <a:bodyPr wrap="square" lIns="18288" tIns="9144" rIns="18288" bIns="9144" anchor="ctr">
              <a:noAutofit/>
            </a:bodyPr>
            <a:lstStyle/>
            <a:p>
              <a:pPr algn="ctr"/>
              <a:r>
                <a:rPr lang="en-GB" sz="6000" b="1" i="0">
                  <a:solidFill>
                    <a:srgbClr val="A9B0B8"/>
                  </a:solidFill>
                  <a:latin typeface="Arial"/>
                </a:rPr>
                <a:t>?</a:t>
              </a:r>
            </a:p>
          </p:txBody>
        </p:sp>
        <p:sp>
          <p:nvSpPr>
            <p:cNvPr id="16" name="question card"/>
            <p:cNvSpPr/>
            <p:nvPr/>
          </p:nvSpPr>
          <p:spPr>
            <a:xfrm>
              <a:off x="6199631" y="1325880"/>
              <a:ext cx="5440680" cy="1691640"/>
            </a:xfrm>
            <a:prstGeom prst="roundRect">
              <a:avLst>
                <a:gd name="adj" fmla="val 5405"/>
              </a:avLst>
            </a:prstGeom>
            <a:solidFill>
              <a:srgbClr val="2B2F36"/>
            </a:solidFill>
            <a:ln w="19050">
              <a:solidFill>
                <a:srgbClr val="4A515B"/>
              </a:solidFill>
            </a:ln>
          </p:spPr>
          <p:txBody>
            <a:bodyPr rtlCol="0" anchor="ctr"/>
            <a:lstStyle/>
            <a:p>
              <a:pPr algn="ctr"/>
              <a:endParaRPr/>
            </a:p>
          </p:txBody>
        </p:sp>
        <p:sp>
          <p:nvSpPr>
            <p:cNvPr id="17" name="frame"/>
            <p:cNvSpPr/>
            <p:nvPr/>
          </p:nvSpPr>
          <p:spPr>
            <a:xfrm>
              <a:off x="6901433" y="2355322"/>
              <a:ext cx="799299" cy="32404"/>
            </a:xfrm>
            <a:prstGeom prst="rect">
              <a:avLst/>
            </a:prstGeom>
            <a:solidFill>
              <a:srgbClr val="3A3F47"/>
            </a:solidFill>
            <a:ln w="9525">
              <a:solidFill>
                <a:srgbClr val="9AA0A6"/>
              </a:solidFill>
            </a:ln>
          </p:spPr>
          <p:txBody>
            <a:bodyPr rtlCol="0" anchor="ctr"/>
            <a:lstStyle/>
            <a:p>
              <a:pPr algn="ctr"/>
              <a:endParaRPr/>
            </a:p>
          </p:txBody>
        </p:sp>
        <p:sp>
          <p:nvSpPr>
            <p:cNvPr id="18" name="bunker"/>
            <p:cNvSpPr/>
            <p:nvPr/>
          </p:nvSpPr>
          <p:spPr>
            <a:xfrm>
              <a:off x="6901433" y="2214905"/>
              <a:ext cx="122415" cy="140417"/>
            </a:xfrm>
            <a:prstGeom prst="roundRect">
              <a:avLst>
                <a:gd name="adj" fmla="val 2941"/>
              </a:avLst>
            </a:prstGeom>
            <a:solidFill>
              <a:srgbClr val="F28C28"/>
            </a:solidFill>
            <a:ln>
              <a:noFill/>
            </a:ln>
          </p:spPr>
          <p:txBody>
            <a:bodyPr rtlCol="0" anchor="ctr"/>
            <a:lstStyle/>
            <a:p>
              <a:pPr algn="ctr"/>
              <a:endParaRPr/>
            </a:p>
          </p:txBody>
        </p:sp>
        <p:sp>
          <p:nvSpPr>
            <p:cNvPr id="19" name="bunker coal"/>
            <p:cNvSpPr/>
            <p:nvPr/>
          </p:nvSpPr>
          <p:spPr>
            <a:xfrm>
              <a:off x="6908634" y="2178900"/>
              <a:ext cx="108014" cy="36005"/>
            </a:xfrm>
            <a:custGeom>
              <a:avLst/>
              <a:gdLst/>
              <a:ahLst/>
              <a:cxnLst/>
              <a:rect l="l" t="t" r="r" b="b"/>
              <a:pathLst>
                <a:path w="108014" h="36005">
                  <a:moveTo>
                    <a:pt x="0" y="36005"/>
                  </a:moveTo>
                  <a:lnTo>
                    <a:pt x="28804" y="3601"/>
                  </a:lnTo>
                  <a:lnTo>
                    <a:pt x="72009" y="0"/>
                  </a:lnTo>
                  <a:lnTo>
                    <a:pt x="108014" y="36005"/>
                  </a:lnTo>
                  <a:close/>
                </a:path>
              </a:pathLst>
            </a:custGeom>
            <a:solidFill>
              <a:srgbClr val="1B1D21"/>
            </a:solidFill>
            <a:ln w="12700">
              <a:solidFill>
                <a:srgbClr val="6B7078"/>
              </a:solidFill>
            </a:ln>
          </p:spPr>
          <p:txBody>
            <a:bodyPr rtlCol="0" anchor="ctr"/>
            <a:lstStyle/>
            <a:p>
              <a:pPr algn="ctr"/>
              <a:endParaRPr/>
            </a:p>
          </p:txBody>
        </p:sp>
        <p:sp>
          <p:nvSpPr>
            <p:cNvPr id="20" name="cab"/>
            <p:cNvSpPr/>
            <p:nvPr/>
          </p:nvSpPr>
          <p:spPr>
            <a:xfrm>
              <a:off x="7023849" y="2157298"/>
              <a:ext cx="144018" cy="198024"/>
            </a:xfrm>
            <a:prstGeom prst="roundRect">
              <a:avLst>
                <a:gd name="adj" fmla="val 2500"/>
              </a:avLst>
            </a:prstGeom>
            <a:solidFill>
              <a:srgbClr val="F28C28"/>
            </a:solidFill>
            <a:ln>
              <a:noFill/>
            </a:ln>
          </p:spPr>
          <p:txBody>
            <a:bodyPr rtlCol="0" anchor="ctr"/>
            <a:lstStyle/>
            <a:p>
              <a:pPr algn="ctr"/>
              <a:endParaRPr/>
            </a:p>
          </p:txBody>
        </p:sp>
        <p:sp>
          <p:nvSpPr>
            <p:cNvPr id="21" name="cab roof"/>
            <p:cNvSpPr/>
            <p:nvPr/>
          </p:nvSpPr>
          <p:spPr>
            <a:xfrm>
              <a:off x="7016648" y="2139295"/>
              <a:ext cx="158419" cy="18002"/>
            </a:xfrm>
            <a:prstGeom prst="rect">
              <a:avLst/>
            </a:prstGeom>
            <a:solidFill>
              <a:srgbClr val="3A3F47"/>
            </a:solidFill>
            <a:ln w="9525">
              <a:solidFill>
                <a:srgbClr val="9AA0A6"/>
              </a:solidFill>
            </a:ln>
          </p:spPr>
          <p:txBody>
            <a:bodyPr rtlCol="0" anchor="ctr"/>
            <a:lstStyle/>
            <a:p>
              <a:pPr algn="ctr"/>
              <a:endParaRPr/>
            </a:p>
          </p:txBody>
        </p:sp>
        <p:sp>
          <p:nvSpPr>
            <p:cNvPr id="22" name="cab window"/>
            <p:cNvSpPr/>
            <p:nvPr/>
          </p:nvSpPr>
          <p:spPr>
            <a:xfrm>
              <a:off x="7059853" y="2186101"/>
              <a:ext cx="64808" cy="64808"/>
            </a:xfrm>
            <a:prstGeom prst="rect">
              <a:avLst/>
            </a:prstGeom>
            <a:solidFill>
              <a:srgbClr val="1B1D21"/>
            </a:solidFill>
            <a:ln>
              <a:noFill/>
            </a:ln>
          </p:spPr>
          <p:txBody>
            <a:bodyPr rtlCol="0" anchor="ctr"/>
            <a:lstStyle/>
            <a:p>
              <a:pPr algn="ctr"/>
              <a:endParaRPr/>
            </a:p>
          </p:txBody>
        </p:sp>
        <p:sp>
          <p:nvSpPr>
            <p:cNvPr id="23" name="boiler"/>
            <p:cNvSpPr/>
            <p:nvPr/>
          </p:nvSpPr>
          <p:spPr>
            <a:xfrm>
              <a:off x="7167867" y="2175300"/>
              <a:ext cx="460857" cy="144018"/>
            </a:xfrm>
            <a:prstGeom prst="roundRect">
              <a:avLst>
                <a:gd name="adj" fmla="val 25000"/>
              </a:avLst>
            </a:prstGeom>
            <a:solidFill>
              <a:srgbClr val="F28C28"/>
            </a:solidFill>
            <a:ln>
              <a:noFill/>
            </a:ln>
          </p:spPr>
          <p:txBody>
            <a:bodyPr rtlCol="0" anchor="ctr"/>
            <a:lstStyle/>
            <a:p>
              <a:pPr algn="ctr"/>
              <a:endParaRPr/>
            </a:p>
          </p:txBody>
        </p:sp>
        <p:sp>
          <p:nvSpPr>
            <p:cNvPr id="24" name="side tank"/>
            <p:cNvSpPr/>
            <p:nvPr/>
          </p:nvSpPr>
          <p:spPr>
            <a:xfrm>
              <a:off x="7167867" y="2225706"/>
              <a:ext cx="424853" cy="126015"/>
            </a:xfrm>
            <a:prstGeom prst="roundRect">
              <a:avLst>
                <a:gd name="adj" fmla="val 14285"/>
              </a:avLst>
            </a:prstGeom>
            <a:solidFill>
              <a:srgbClr val="AE641C"/>
            </a:solidFill>
            <a:ln>
              <a:noFill/>
            </a:ln>
          </p:spPr>
          <p:txBody>
            <a:bodyPr rtlCol="0" anchor="ctr"/>
            <a:lstStyle/>
            <a:p>
              <a:pPr algn="ctr"/>
              <a:endParaRPr/>
            </a:p>
          </p:txBody>
        </p:sp>
        <p:sp>
          <p:nvSpPr>
            <p:cNvPr id="25" name="smokebox"/>
            <p:cNvSpPr/>
            <p:nvPr/>
          </p:nvSpPr>
          <p:spPr>
            <a:xfrm>
              <a:off x="7628724" y="2175300"/>
              <a:ext cx="72009" cy="144018"/>
            </a:xfrm>
            <a:prstGeom prst="roundRect">
              <a:avLst>
                <a:gd name="adj" fmla="val 12000"/>
              </a:avLst>
            </a:prstGeom>
            <a:solidFill>
              <a:srgbClr val="4A515B"/>
            </a:solidFill>
            <a:ln>
              <a:noFill/>
            </a:ln>
          </p:spPr>
          <p:txBody>
            <a:bodyPr rtlCol="0" anchor="ctr"/>
            <a:lstStyle/>
            <a:p>
              <a:pPr algn="ctr"/>
              <a:endParaRPr/>
            </a:p>
          </p:txBody>
        </p:sp>
        <p:sp>
          <p:nvSpPr>
            <p:cNvPr id="26" name="chimney"/>
            <p:cNvSpPr/>
            <p:nvPr/>
          </p:nvSpPr>
          <p:spPr>
            <a:xfrm>
              <a:off x="7643126" y="2099691"/>
              <a:ext cx="43205" cy="75609"/>
            </a:xfrm>
            <a:prstGeom prst="rect">
              <a:avLst/>
            </a:prstGeom>
            <a:solidFill>
              <a:srgbClr val="3A3F47"/>
            </a:solidFill>
            <a:ln w="9525">
              <a:solidFill>
                <a:srgbClr val="9AA0A6"/>
              </a:solidFill>
            </a:ln>
          </p:spPr>
          <p:txBody>
            <a:bodyPr rtlCol="0" anchor="ctr"/>
            <a:lstStyle/>
            <a:p>
              <a:pPr algn="ctr"/>
              <a:endParaRPr/>
            </a:p>
          </p:txBody>
        </p:sp>
        <p:sp>
          <p:nvSpPr>
            <p:cNvPr id="27" name="chimney lip"/>
            <p:cNvSpPr/>
            <p:nvPr/>
          </p:nvSpPr>
          <p:spPr>
            <a:xfrm>
              <a:off x="7632325" y="2088889"/>
              <a:ext cx="64808" cy="18002"/>
            </a:xfrm>
            <a:prstGeom prst="rect">
              <a:avLst/>
            </a:prstGeom>
            <a:solidFill>
              <a:srgbClr val="3A3F47"/>
            </a:solidFill>
            <a:ln w="9525">
              <a:solidFill>
                <a:srgbClr val="9AA0A6"/>
              </a:solidFill>
            </a:ln>
          </p:spPr>
          <p:txBody>
            <a:bodyPr rtlCol="0" anchor="ctr"/>
            <a:lstStyle/>
            <a:p>
              <a:pPr algn="ctr"/>
              <a:endParaRPr/>
            </a:p>
          </p:txBody>
        </p:sp>
        <p:sp>
          <p:nvSpPr>
            <p:cNvPr id="28" name="dome"/>
            <p:cNvSpPr/>
            <p:nvPr/>
          </p:nvSpPr>
          <p:spPr>
            <a:xfrm>
              <a:off x="7361427" y="2135695"/>
              <a:ext cx="64808" cy="39604"/>
            </a:xfrm>
            <a:prstGeom prst="roundRect">
              <a:avLst>
                <a:gd name="adj" fmla="val 36363"/>
              </a:avLst>
            </a:prstGeom>
            <a:solidFill>
              <a:srgbClr val="F28C28"/>
            </a:solidFill>
            <a:ln>
              <a:noFill/>
            </a:ln>
          </p:spPr>
          <p:txBody>
            <a:bodyPr rtlCol="0" anchor="ctr"/>
            <a:lstStyle/>
            <a:p>
              <a:pPr algn="ctr"/>
              <a:endParaRPr/>
            </a:p>
          </p:txBody>
        </p:sp>
        <p:sp>
          <p:nvSpPr>
            <p:cNvPr id="29" name="wheel"/>
            <p:cNvSpPr/>
            <p:nvPr/>
          </p:nvSpPr>
          <p:spPr>
            <a:xfrm>
              <a:off x="7103059" y="2330119"/>
              <a:ext cx="129616" cy="129616"/>
            </a:xfrm>
            <a:prstGeom prst="ellipse">
              <a:avLst/>
            </a:prstGeom>
            <a:solidFill>
              <a:srgbClr val="1B1D21"/>
            </a:solidFill>
            <a:ln w="19050">
              <a:solidFill>
                <a:srgbClr val="9AA0A6"/>
              </a:solidFill>
            </a:ln>
          </p:spPr>
          <p:txBody>
            <a:bodyPr rtlCol="0" anchor="ctr"/>
            <a:lstStyle/>
            <a:p>
              <a:pPr algn="ctr"/>
              <a:endParaRPr/>
            </a:p>
          </p:txBody>
        </p:sp>
        <p:sp>
          <p:nvSpPr>
            <p:cNvPr id="30" name="hub"/>
            <p:cNvSpPr/>
            <p:nvPr/>
          </p:nvSpPr>
          <p:spPr>
            <a:xfrm>
              <a:off x="7151017" y="2378077"/>
              <a:ext cx="33700" cy="33700"/>
            </a:xfrm>
            <a:prstGeom prst="ellipse">
              <a:avLst/>
            </a:prstGeom>
            <a:solidFill>
              <a:srgbClr val="9AA0A6"/>
            </a:solidFill>
            <a:ln>
              <a:noFill/>
            </a:ln>
          </p:spPr>
          <p:txBody>
            <a:bodyPr rtlCol="0" anchor="ctr"/>
            <a:lstStyle/>
            <a:p>
              <a:pPr algn="ctr"/>
              <a:endParaRPr/>
            </a:p>
          </p:txBody>
        </p:sp>
        <p:sp>
          <p:nvSpPr>
            <p:cNvPr id="31" name="wheel"/>
            <p:cNvSpPr/>
            <p:nvPr/>
          </p:nvSpPr>
          <p:spPr>
            <a:xfrm>
              <a:off x="7247077" y="2330119"/>
              <a:ext cx="129616" cy="129616"/>
            </a:xfrm>
            <a:prstGeom prst="ellipse">
              <a:avLst/>
            </a:prstGeom>
            <a:solidFill>
              <a:srgbClr val="1B1D21"/>
            </a:solidFill>
            <a:ln w="19050">
              <a:solidFill>
                <a:srgbClr val="9AA0A6"/>
              </a:solidFill>
            </a:ln>
          </p:spPr>
          <p:txBody>
            <a:bodyPr rtlCol="0" anchor="ctr"/>
            <a:lstStyle/>
            <a:p>
              <a:pPr algn="ctr"/>
              <a:endParaRPr/>
            </a:p>
          </p:txBody>
        </p:sp>
        <p:sp>
          <p:nvSpPr>
            <p:cNvPr id="32" name="hub"/>
            <p:cNvSpPr/>
            <p:nvPr/>
          </p:nvSpPr>
          <p:spPr>
            <a:xfrm>
              <a:off x="7295035" y="2378077"/>
              <a:ext cx="33700" cy="33700"/>
            </a:xfrm>
            <a:prstGeom prst="ellipse">
              <a:avLst/>
            </a:prstGeom>
            <a:solidFill>
              <a:srgbClr val="9AA0A6"/>
            </a:solidFill>
            <a:ln>
              <a:noFill/>
            </a:ln>
          </p:spPr>
          <p:txBody>
            <a:bodyPr rtlCol="0" anchor="ctr"/>
            <a:lstStyle/>
            <a:p>
              <a:pPr algn="ctr"/>
              <a:endParaRPr/>
            </a:p>
          </p:txBody>
        </p:sp>
        <p:sp>
          <p:nvSpPr>
            <p:cNvPr id="33" name="wheel"/>
            <p:cNvSpPr/>
            <p:nvPr/>
          </p:nvSpPr>
          <p:spPr>
            <a:xfrm>
              <a:off x="7391095" y="2330119"/>
              <a:ext cx="129616" cy="129616"/>
            </a:xfrm>
            <a:prstGeom prst="ellipse">
              <a:avLst/>
            </a:prstGeom>
            <a:solidFill>
              <a:srgbClr val="1B1D21"/>
            </a:solidFill>
            <a:ln w="19050">
              <a:solidFill>
                <a:srgbClr val="9AA0A6"/>
              </a:solidFill>
            </a:ln>
          </p:spPr>
          <p:txBody>
            <a:bodyPr rtlCol="0" anchor="ctr"/>
            <a:lstStyle/>
            <a:p>
              <a:pPr algn="ctr"/>
              <a:endParaRPr/>
            </a:p>
          </p:txBody>
        </p:sp>
        <p:sp>
          <p:nvSpPr>
            <p:cNvPr id="34" name="hub"/>
            <p:cNvSpPr/>
            <p:nvPr/>
          </p:nvSpPr>
          <p:spPr>
            <a:xfrm>
              <a:off x="7439053" y="2378077"/>
              <a:ext cx="33700" cy="33700"/>
            </a:xfrm>
            <a:prstGeom prst="ellipse">
              <a:avLst/>
            </a:prstGeom>
            <a:solidFill>
              <a:srgbClr val="9AA0A6"/>
            </a:solidFill>
            <a:ln>
              <a:noFill/>
            </a:ln>
          </p:spPr>
          <p:txBody>
            <a:bodyPr rtlCol="0" anchor="ctr"/>
            <a:lstStyle/>
            <a:p>
              <a:pPr algn="ctr"/>
              <a:endParaRPr/>
            </a:p>
          </p:txBody>
        </p:sp>
        <p:sp>
          <p:nvSpPr>
            <p:cNvPr id="35" name="coupling rod"/>
            <p:cNvSpPr/>
            <p:nvPr/>
          </p:nvSpPr>
          <p:spPr>
            <a:xfrm>
              <a:off x="7167867" y="2357483"/>
              <a:ext cx="288036" cy="10081"/>
            </a:xfrm>
            <a:prstGeom prst="rect">
              <a:avLst/>
            </a:prstGeom>
            <a:solidFill>
              <a:srgbClr val="D0D4D8"/>
            </a:solidFill>
            <a:ln>
              <a:noFill/>
            </a:ln>
          </p:spPr>
          <p:txBody>
            <a:bodyPr rtlCol="0" anchor="ctr"/>
            <a:lstStyle/>
            <a:p>
              <a:pPr algn="ctr"/>
              <a:endParaRPr/>
            </a:p>
          </p:txBody>
        </p:sp>
        <p:sp>
          <p:nvSpPr>
            <p:cNvPr id="36" name="buffer beam"/>
            <p:cNvSpPr/>
            <p:nvPr/>
          </p:nvSpPr>
          <p:spPr>
            <a:xfrm>
              <a:off x="7700733" y="2322918"/>
              <a:ext cx="21602" cy="64808"/>
            </a:xfrm>
            <a:prstGeom prst="rect">
              <a:avLst/>
            </a:prstGeom>
            <a:solidFill>
              <a:srgbClr val="9AA0A6"/>
            </a:solidFill>
            <a:ln>
              <a:noFill/>
            </a:ln>
          </p:spPr>
          <p:txBody>
            <a:bodyPr rtlCol="0" anchor="ctr"/>
            <a:lstStyle/>
            <a:p>
              <a:pPr algn="ctr"/>
              <a:endParaRPr/>
            </a:p>
          </p:txBody>
        </p:sp>
        <p:cxnSp>
          <p:nvCxnSpPr>
            <p:cNvPr id="37" name="speed line"/>
            <p:cNvCxnSpPr/>
            <p:nvPr/>
          </p:nvCxnSpPr>
          <p:spPr>
            <a:xfrm>
              <a:off x="6517386" y="1979676"/>
              <a:ext cx="336042" cy="0"/>
            </a:xfrm>
            <a:prstGeom prst="line">
              <a:avLst/>
            </a:prstGeom>
            <a:ln w="25400">
              <a:solidFill>
                <a:srgbClr val="A9B0B8"/>
              </a:solidFill>
            </a:ln>
          </p:spPr>
        </p:cxnSp>
        <p:cxnSp>
          <p:nvCxnSpPr>
            <p:cNvPr id="38" name="speed line"/>
            <p:cNvCxnSpPr/>
            <p:nvPr/>
          </p:nvCxnSpPr>
          <p:spPr>
            <a:xfrm>
              <a:off x="6517386" y="2142896"/>
              <a:ext cx="297637" cy="0"/>
            </a:xfrm>
            <a:prstGeom prst="line">
              <a:avLst/>
            </a:prstGeom>
            <a:ln w="25400">
              <a:solidFill>
                <a:srgbClr val="A9B0B8"/>
              </a:solidFill>
            </a:ln>
          </p:spPr>
        </p:cxnSp>
        <p:cxnSp>
          <p:nvCxnSpPr>
            <p:cNvPr id="39" name="speed line"/>
            <p:cNvCxnSpPr/>
            <p:nvPr/>
          </p:nvCxnSpPr>
          <p:spPr>
            <a:xfrm>
              <a:off x="6517386" y="2306116"/>
              <a:ext cx="259232" cy="0"/>
            </a:xfrm>
            <a:prstGeom prst="line">
              <a:avLst/>
            </a:prstGeom>
            <a:ln w="25400">
              <a:solidFill>
                <a:srgbClr val="A9B0B8"/>
              </a:solidFill>
            </a:ln>
          </p:spPr>
        </p:cxnSp>
        <p:sp>
          <p:nvSpPr>
            <p:cNvPr id="40" name="question"/>
            <p:cNvSpPr txBox="1"/>
            <p:nvPr/>
          </p:nvSpPr>
          <p:spPr>
            <a:xfrm>
              <a:off x="7891271" y="1325880"/>
              <a:ext cx="2834640" cy="1691640"/>
            </a:xfrm>
            <a:prstGeom prst="rect">
              <a:avLst/>
            </a:prstGeom>
            <a:noFill/>
          </p:spPr>
          <p:txBody>
            <a:bodyPr wrap="square" lIns="18288" tIns="9144" rIns="18288" bIns="9144" anchor="ctr">
              <a:noAutofit/>
            </a:bodyPr>
            <a:lstStyle/>
            <a:p>
              <a:pPr algn="l"/>
              <a:r>
                <a:rPr lang="en-GB" sz="2000" b="1" i="0">
                  <a:solidFill>
                    <a:srgbClr val="F2F2F2"/>
                  </a:solidFill>
                  <a:latin typeface="Arial"/>
                </a:rPr>
                <a:t>What about trains on the move?</a:t>
              </a:r>
            </a:p>
          </p:txBody>
        </p:sp>
        <p:sp>
          <p:nvSpPr>
            <p:cNvPr id="41" name="question glyph"/>
            <p:cNvSpPr txBox="1"/>
            <p:nvPr/>
          </p:nvSpPr>
          <p:spPr>
            <a:xfrm>
              <a:off x="10771632" y="1508760"/>
              <a:ext cx="731520" cy="1325880"/>
            </a:xfrm>
            <a:prstGeom prst="rect">
              <a:avLst/>
            </a:prstGeom>
            <a:noFill/>
          </p:spPr>
          <p:txBody>
            <a:bodyPr wrap="square" lIns="18288" tIns="9144" rIns="18288" bIns="9144" anchor="ctr">
              <a:noAutofit/>
            </a:bodyPr>
            <a:lstStyle/>
            <a:p>
              <a:pPr algn="ctr"/>
              <a:r>
                <a:rPr lang="en-GB" sz="6000" b="1" i="0">
                  <a:solidFill>
                    <a:srgbClr val="A9B0B8"/>
                  </a:solidFill>
                  <a:latin typeface="Arial"/>
                </a:rPr>
                <a:t>?</a:t>
              </a:r>
            </a:p>
          </p:txBody>
        </p:sp>
        <p:sp>
          <p:nvSpPr>
            <p:cNvPr id="42" name="question card"/>
            <p:cNvSpPr/>
            <p:nvPr/>
          </p:nvSpPr>
          <p:spPr>
            <a:xfrm>
              <a:off x="548640" y="3246120"/>
              <a:ext cx="5440680" cy="1691640"/>
            </a:xfrm>
            <a:prstGeom prst="roundRect">
              <a:avLst>
                <a:gd name="adj" fmla="val 5405"/>
              </a:avLst>
            </a:prstGeom>
            <a:solidFill>
              <a:srgbClr val="2B2F36"/>
            </a:solidFill>
            <a:ln w="19050">
              <a:solidFill>
                <a:srgbClr val="4A515B"/>
              </a:solidFill>
            </a:ln>
          </p:spPr>
          <p:txBody>
            <a:bodyPr rtlCol="0" anchor="ctr"/>
            <a:lstStyle/>
            <a:p>
              <a:pPr algn="ctr"/>
              <a:endParaRPr/>
            </a:p>
          </p:txBody>
        </p:sp>
        <p:sp>
          <p:nvSpPr>
            <p:cNvPr id="43" name="disk"/>
            <p:cNvSpPr/>
            <p:nvPr/>
          </p:nvSpPr>
          <p:spPr>
            <a:xfrm>
              <a:off x="914400" y="3611879"/>
              <a:ext cx="960120" cy="960120"/>
            </a:xfrm>
            <a:prstGeom prst="roundRect">
              <a:avLst>
                <a:gd name="adj" fmla="val 8000"/>
              </a:avLst>
            </a:prstGeom>
            <a:solidFill>
              <a:srgbClr val="9AA0A6"/>
            </a:solidFill>
            <a:ln>
              <a:noFill/>
            </a:ln>
          </p:spPr>
          <p:txBody>
            <a:bodyPr rtlCol="0" anchor="ctr"/>
            <a:lstStyle/>
            <a:p>
              <a:pPr algn="ctr"/>
              <a:endParaRPr/>
            </a:p>
          </p:txBody>
        </p:sp>
        <p:sp>
          <p:nvSpPr>
            <p:cNvPr id="44" name="disk label"/>
            <p:cNvSpPr/>
            <p:nvPr/>
          </p:nvSpPr>
          <p:spPr>
            <a:xfrm>
              <a:off x="1087221" y="3669487"/>
              <a:ext cx="614476" cy="345643"/>
            </a:xfrm>
            <a:prstGeom prst="rect">
              <a:avLst/>
            </a:prstGeom>
            <a:solidFill>
              <a:srgbClr val="F2F2F2"/>
            </a:solidFill>
            <a:ln>
              <a:noFill/>
            </a:ln>
          </p:spPr>
          <p:txBody>
            <a:bodyPr rtlCol="0" anchor="ctr"/>
            <a:lstStyle/>
            <a:p>
              <a:pPr algn="ctr"/>
              <a:endParaRPr/>
            </a:p>
          </p:txBody>
        </p:sp>
        <p:sp>
          <p:nvSpPr>
            <p:cNvPr id="45" name="disk shutter"/>
            <p:cNvSpPr/>
            <p:nvPr/>
          </p:nvSpPr>
          <p:spPr>
            <a:xfrm>
              <a:off x="1183233" y="4187952"/>
              <a:ext cx="422452" cy="326440"/>
            </a:xfrm>
            <a:prstGeom prst="rect">
              <a:avLst/>
            </a:prstGeom>
            <a:solidFill>
              <a:srgbClr val="3A3F47"/>
            </a:solidFill>
            <a:ln>
              <a:noFill/>
            </a:ln>
          </p:spPr>
          <p:txBody>
            <a:bodyPr rtlCol="0" anchor="ctr"/>
            <a:lstStyle/>
            <a:p>
              <a:pPr algn="ctr"/>
              <a:endParaRPr/>
            </a:p>
          </p:txBody>
        </p:sp>
        <p:sp>
          <p:nvSpPr>
            <p:cNvPr id="46" name="disk slot"/>
            <p:cNvSpPr/>
            <p:nvPr/>
          </p:nvSpPr>
          <p:spPr>
            <a:xfrm>
              <a:off x="1442466" y="4245559"/>
              <a:ext cx="96012" cy="211226"/>
            </a:xfrm>
            <a:prstGeom prst="rect">
              <a:avLst/>
            </a:prstGeom>
            <a:solidFill>
              <a:srgbClr val="9AA0A6"/>
            </a:solidFill>
            <a:ln>
              <a:noFill/>
            </a:ln>
          </p:spPr>
          <p:txBody>
            <a:bodyPr rtlCol="0" anchor="ctr"/>
            <a:lstStyle/>
            <a:p>
              <a:pPr algn="ctr"/>
              <a:endParaRPr/>
            </a:p>
          </p:txBody>
        </p:sp>
        <p:sp>
          <p:nvSpPr>
            <p:cNvPr id="47" name="question"/>
            <p:cNvSpPr txBox="1"/>
            <p:nvPr/>
          </p:nvSpPr>
          <p:spPr>
            <a:xfrm>
              <a:off x="2240280" y="3246120"/>
              <a:ext cx="2834640" cy="1691640"/>
            </a:xfrm>
            <a:prstGeom prst="rect">
              <a:avLst/>
            </a:prstGeom>
            <a:noFill/>
          </p:spPr>
          <p:txBody>
            <a:bodyPr wrap="square" lIns="18288" tIns="9144" rIns="18288" bIns="9144" anchor="ctr">
              <a:noAutofit/>
            </a:bodyPr>
            <a:lstStyle/>
            <a:p>
              <a:pPr algn="l"/>
              <a:r>
                <a:rPr lang="en-GB" sz="2000" b="1" i="0">
                  <a:solidFill>
                    <a:srgbClr val="F2F2F2"/>
                  </a:solidFill>
                  <a:latin typeface="Arial"/>
                </a:rPr>
                <a:t>What happens on load?</a:t>
              </a:r>
            </a:p>
          </p:txBody>
        </p:sp>
        <p:sp>
          <p:nvSpPr>
            <p:cNvPr id="48" name="question glyph"/>
            <p:cNvSpPr txBox="1"/>
            <p:nvPr/>
          </p:nvSpPr>
          <p:spPr>
            <a:xfrm>
              <a:off x="5120640" y="3429000"/>
              <a:ext cx="731520" cy="1325880"/>
            </a:xfrm>
            <a:prstGeom prst="rect">
              <a:avLst/>
            </a:prstGeom>
            <a:noFill/>
          </p:spPr>
          <p:txBody>
            <a:bodyPr wrap="square" lIns="18288" tIns="9144" rIns="18288" bIns="9144" anchor="ctr">
              <a:noAutofit/>
            </a:bodyPr>
            <a:lstStyle/>
            <a:p>
              <a:pPr algn="ctr"/>
              <a:r>
                <a:rPr lang="en-GB" sz="6000" b="1" i="0">
                  <a:solidFill>
                    <a:srgbClr val="A9B0B8"/>
                  </a:solidFill>
                  <a:latin typeface="Arial"/>
                </a:rPr>
                <a:t>?</a:t>
              </a:r>
            </a:p>
          </p:txBody>
        </p:sp>
        <p:sp>
          <p:nvSpPr>
            <p:cNvPr id="49" name="question card"/>
            <p:cNvSpPr/>
            <p:nvPr/>
          </p:nvSpPr>
          <p:spPr>
            <a:xfrm>
              <a:off x="6199631" y="3246120"/>
              <a:ext cx="5440680" cy="1691640"/>
            </a:xfrm>
            <a:prstGeom prst="roundRect">
              <a:avLst>
                <a:gd name="adj" fmla="val 5405"/>
              </a:avLst>
            </a:prstGeom>
            <a:solidFill>
              <a:srgbClr val="2B2F36"/>
            </a:solidFill>
            <a:ln w="19050">
              <a:solidFill>
                <a:srgbClr val="4A515B"/>
              </a:solidFill>
            </a:ln>
          </p:spPr>
          <p:txBody>
            <a:bodyPr rtlCol="0" anchor="ctr"/>
            <a:lstStyle/>
            <a:p>
              <a:pPr algn="ctr"/>
              <a:endParaRPr/>
            </a:p>
          </p:txBody>
        </p:sp>
        <p:sp>
          <p:nvSpPr>
            <p:cNvPr id="50" name="weight ring"/>
            <p:cNvSpPr/>
            <p:nvPr/>
          </p:nvSpPr>
          <p:spPr>
            <a:xfrm>
              <a:off x="6882231" y="3611879"/>
              <a:ext cx="326440" cy="384048"/>
            </a:xfrm>
            <a:prstGeom prst="ellipse">
              <a:avLst/>
            </a:prstGeom>
            <a:noFill/>
            <a:ln w="50800">
              <a:solidFill>
                <a:srgbClr val="9AA0A6"/>
              </a:solidFill>
            </a:ln>
          </p:spPr>
          <p:txBody>
            <a:bodyPr rtlCol="0" anchor="ctr"/>
            <a:lstStyle/>
            <a:p>
              <a:pPr algn="ctr"/>
              <a:endParaRPr/>
            </a:p>
          </p:txBody>
        </p:sp>
        <p:sp>
          <p:nvSpPr>
            <p:cNvPr id="51" name="weight"/>
            <p:cNvSpPr/>
            <p:nvPr/>
          </p:nvSpPr>
          <p:spPr>
            <a:xfrm>
              <a:off x="6565392" y="3899915"/>
              <a:ext cx="960120" cy="672085"/>
            </a:xfrm>
            <a:custGeom>
              <a:avLst/>
              <a:gdLst/>
              <a:ahLst/>
              <a:cxnLst/>
              <a:rect l="l" t="t" r="r" b="b"/>
              <a:pathLst>
                <a:path w="960120" h="672085">
                  <a:moveTo>
                    <a:pt x="192024" y="0"/>
                  </a:moveTo>
                  <a:lnTo>
                    <a:pt x="768096" y="0"/>
                  </a:lnTo>
                  <a:lnTo>
                    <a:pt x="960120" y="672085"/>
                  </a:lnTo>
                  <a:lnTo>
                    <a:pt x="0" y="672085"/>
                  </a:lnTo>
                  <a:close/>
                </a:path>
              </a:pathLst>
            </a:custGeom>
            <a:solidFill>
              <a:srgbClr val="9AA0A6"/>
            </a:solidFill>
            <a:ln>
              <a:noFill/>
            </a:ln>
          </p:spPr>
          <p:txBody>
            <a:bodyPr rtlCol="0" anchor="ctr"/>
            <a:lstStyle/>
            <a:p>
              <a:pPr algn="ctr"/>
              <a:endParaRPr/>
            </a:p>
          </p:txBody>
        </p:sp>
        <p:sp>
          <p:nvSpPr>
            <p:cNvPr id="52" name="question"/>
            <p:cNvSpPr txBox="1"/>
            <p:nvPr/>
          </p:nvSpPr>
          <p:spPr>
            <a:xfrm>
              <a:off x="7891271" y="3246120"/>
              <a:ext cx="2834640" cy="1691640"/>
            </a:xfrm>
            <a:prstGeom prst="rect">
              <a:avLst/>
            </a:prstGeom>
            <a:noFill/>
          </p:spPr>
          <p:txBody>
            <a:bodyPr wrap="square" lIns="18288" tIns="9144" rIns="18288" bIns="9144" anchor="ctr">
              <a:noAutofit/>
            </a:bodyPr>
            <a:lstStyle/>
            <a:p>
              <a:pPr algn="l"/>
              <a:r>
                <a:rPr lang="en-GB" sz="2000" b="1" i="0">
                  <a:solidFill>
                    <a:srgbClr val="F2F2F2"/>
                  </a:solidFill>
                  <a:latin typeface="Arial"/>
                </a:rPr>
                <a:t>How is train weight shown?</a:t>
              </a:r>
            </a:p>
          </p:txBody>
        </p:sp>
        <p:sp>
          <p:nvSpPr>
            <p:cNvPr id="53" name="question glyph"/>
            <p:cNvSpPr txBox="1"/>
            <p:nvPr/>
          </p:nvSpPr>
          <p:spPr>
            <a:xfrm>
              <a:off x="10771632" y="3429000"/>
              <a:ext cx="731520" cy="1325880"/>
            </a:xfrm>
            <a:prstGeom prst="rect">
              <a:avLst/>
            </a:prstGeom>
            <a:noFill/>
          </p:spPr>
          <p:txBody>
            <a:bodyPr wrap="square" lIns="18288" tIns="9144" rIns="18288" bIns="9144" anchor="ctr">
              <a:noAutofit/>
            </a:bodyPr>
            <a:lstStyle/>
            <a:p>
              <a:pPr algn="ctr"/>
              <a:r>
                <a:rPr lang="en-GB" sz="6000" b="1" i="0">
                  <a:solidFill>
                    <a:srgbClr val="A9B0B8"/>
                  </a:solidFill>
                  <a:latin typeface="Arial"/>
                </a:rPr>
                <a:t>?</a:t>
              </a:r>
            </a:p>
          </p:txBody>
        </p:sp>
      </p:grpSp>
      <p:sp>
        <p:nvSpPr>
          <p:cNvPr id="54" name="open question codes"/>
          <p:cNvSpPr txBox="1"/>
          <p:nvPr/>
        </p:nvSpPr>
        <p:spPr>
          <a:xfrm>
            <a:off x="548640" y="5257800"/>
            <a:ext cx="2743200" cy="274320"/>
          </a:xfrm>
          <a:prstGeom prst="rect">
            <a:avLst/>
          </a:prstGeom>
          <a:noFill/>
        </p:spPr>
        <p:txBody>
          <a:bodyPr wrap="square" lIns="18288" tIns="9144" rIns="18288" bIns="9144" anchor="ctr">
            <a:noAutofit/>
          </a:bodyPr>
          <a:lstStyle/>
          <a:p>
            <a:pPr algn="l"/>
            <a:r>
              <a:rPr lang="en-GB" sz="1400" b="0" i="0">
                <a:solidFill>
                  <a:srgbClr val="A9B0B8"/>
                </a:solidFill>
                <a:latin typeface="Arial"/>
              </a:rPr>
              <a:t>OQ06</a:t>
            </a:r>
          </a:p>
        </p:txBody>
      </p:sp>
      <p:sp>
        <p:nvSpPr>
          <p:cNvPr id="5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5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57"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What happens to engines already running when the region changes? Not decided.</a:t>
            </a:r>
          </a:p>
        </p:txBody>
      </p:sp>
      <p:sp>
        <p:nvSpPr>
          <p:cNvPr id="58"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11</a:t>
            </a:r>
          </a:p>
        </p:txBody>
      </p:sp>
    </p:spTree>
    <p:extLst>
      <p:ext uri="{BB962C8B-B14F-4D97-AF65-F5344CB8AC3E}">
        <p14:creationId xmlns:p14="http://schemas.microsoft.com/office/powerpoint/2010/main" val="11208832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par>
                                <p:cTn id="11" presetID="10" presetClass="entr" presetSubtype="0" fill="hold" nodeType="withEffect">
                                  <p:stCondLst>
                                    <p:cond delay="60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500"/>
                                        <p:tgtEl>
                                          <p:spTgt spid="55"/>
                                        </p:tgtEl>
                                      </p:cBhvr>
                                    </p:animEffect>
                                  </p:childTnLst>
                                </p:cTn>
                              </p:par>
                              <p:par>
                                <p:cTn id="14" presetID="10" presetClass="entr" presetSubtype="0" fill="hold" nodeType="withEffect">
                                  <p:stCondLst>
                                    <p:cond delay="900"/>
                                  </p:stCondLst>
                                  <p:childTnLst>
                                    <p:set>
                                      <p:cBhvr>
                                        <p:cTn id="15" dur="1" fill="hold">
                                          <p:stCondLst>
                                            <p:cond delay="0"/>
                                          </p:stCondLst>
                                        </p:cTn>
                                        <p:tgtEl>
                                          <p:spTgt spid="56"/>
                                        </p:tgtEl>
                                        <p:attrNameLst>
                                          <p:attrName>style.visibility</p:attrName>
                                        </p:attrNameLst>
                                      </p:cBhvr>
                                      <p:to>
                                        <p:strVal val="visible"/>
                                      </p:to>
                                    </p:set>
                                    <p:animEffect transition="in" filter="fade">
                                      <p:cBhvr>
                                        <p:cTn id="16" dur="500"/>
                                        <p:tgtEl>
                                          <p:spTgt spid="56"/>
                                        </p:tgtEl>
                                      </p:cBhvr>
                                    </p:animEffect>
                                  </p:childTnLst>
                                </p:cTn>
                              </p:par>
                              <p:par>
                                <p:cTn id="17" presetID="10" presetClass="entr" presetSubtype="0" fill="hold" nodeType="withEffect">
                                  <p:stCondLst>
                                    <p:cond delay="120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hidden identity</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Engine with a visible number and a hidden ID" descr="An engine with a visible number plate, and beside it a lock tag for its hidden permanent Fleet ID. Three arrows (repaint, change region, renumber) pass the same Fleet ID through unchanged."/>
          <p:cNvGrpSpPr/>
          <p:nvPr/>
        </p:nvGrpSpPr>
        <p:grpSpPr>
          <a:xfrm>
            <a:off x="640080" y="1508760"/>
            <a:ext cx="10972800" cy="3977640"/>
            <a:chOff x="640080" y="1508760"/>
            <a:chExt cx="10972800" cy="3977640"/>
          </a:xfrm>
        </p:grpSpPr>
        <p:sp>
          <p:nvSpPr>
            <p:cNvPr id="5" name="rail"/>
            <p:cNvSpPr/>
            <p:nvPr/>
          </p:nvSpPr>
          <p:spPr>
            <a:xfrm>
              <a:off x="640080" y="2926080"/>
              <a:ext cx="5120640" cy="64008"/>
            </a:xfrm>
            <a:prstGeom prst="rect">
              <a:avLst/>
            </a:prstGeom>
            <a:solidFill>
              <a:srgbClr val="9AA0A6"/>
            </a:solidFill>
            <a:ln>
              <a:noFill/>
            </a:ln>
          </p:spPr>
          <p:txBody>
            <a:bodyPr rtlCol="0" anchor="ctr"/>
            <a:lstStyle/>
            <a:p>
              <a:pPr algn="ctr"/>
              <a:endParaRPr/>
            </a:p>
          </p:txBody>
        </p:sp>
        <p:sp>
          <p:nvSpPr>
            <p:cNvPr id="6" name="sleeper"/>
            <p:cNvSpPr/>
            <p:nvPr/>
          </p:nvSpPr>
          <p:spPr>
            <a:xfrm>
              <a:off x="640080" y="2990088"/>
              <a:ext cx="128016" cy="82296"/>
            </a:xfrm>
            <a:prstGeom prst="rect">
              <a:avLst/>
            </a:prstGeom>
            <a:solidFill>
              <a:srgbClr val="6B5B4B"/>
            </a:solidFill>
            <a:ln>
              <a:noFill/>
            </a:ln>
          </p:spPr>
          <p:txBody>
            <a:bodyPr rtlCol="0" anchor="ctr"/>
            <a:lstStyle/>
            <a:p>
              <a:pPr algn="ctr"/>
              <a:endParaRPr/>
            </a:p>
          </p:txBody>
        </p:sp>
        <p:sp>
          <p:nvSpPr>
            <p:cNvPr id="7" name="sleeper"/>
            <p:cNvSpPr/>
            <p:nvPr/>
          </p:nvSpPr>
          <p:spPr>
            <a:xfrm>
              <a:off x="1005840" y="2990088"/>
              <a:ext cx="128016" cy="82296"/>
            </a:xfrm>
            <a:prstGeom prst="rect">
              <a:avLst/>
            </a:prstGeom>
            <a:solidFill>
              <a:srgbClr val="6B5B4B"/>
            </a:solidFill>
            <a:ln>
              <a:noFill/>
            </a:ln>
          </p:spPr>
          <p:txBody>
            <a:bodyPr rtlCol="0" anchor="ctr"/>
            <a:lstStyle/>
            <a:p>
              <a:pPr algn="ctr"/>
              <a:endParaRPr/>
            </a:p>
          </p:txBody>
        </p:sp>
        <p:sp>
          <p:nvSpPr>
            <p:cNvPr id="8" name="sleeper"/>
            <p:cNvSpPr/>
            <p:nvPr/>
          </p:nvSpPr>
          <p:spPr>
            <a:xfrm>
              <a:off x="1371600" y="2990088"/>
              <a:ext cx="128016" cy="82296"/>
            </a:xfrm>
            <a:prstGeom prst="rect">
              <a:avLst/>
            </a:prstGeom>
            <a:solidFill>
              <a:srgbClr val="6B5B4B"/>
            </a:solidFill>
            <a:ln>
              <a:noFill/>
            </a:ln>
          </p:spPr>
          <p:txBody>
            <a:bodyPr rtlCol="0" anchor="ctr"/>
            <a:lstStyle/>
            <a:p>
              <a:pPr algn="ctr"/>
              <a:endParaRPr/>
            </a:p>
          </p:txBody>
        </p:sp>
        <p:sp>
          <p:nvSpPr>
            <p:cNvPr id="9" name="sleeper"/>
            <p:cNvSpPr/>
            <p:nvPr/>
          </p:nvSpPr>
          <p:spPr>
            <a:xfrm>
              <a:off x="1737360" y="2990088"/>
              <a:ext cx="128016" cy="82296"/>
            </a:xfrm>
            <a:prstGeom prst="rect">
              <a:avLst/>
            </a:prstGeom>
            <a:solidFill>
              <a:srgbClr val="6B5B4B"/>
            </a:solidFill>
            <a:ln>
              <a:noFill/>
            </a:ln>
          </p:spPr>
          <p:txBody>
            <a:bodyPr rtlCol="0" anchor="ctr"/>
            <a:lstStyle/>
            <a:p>
              <a:pPr algn="ctr"/>
              <a:endParaRPr/>
            </a:p>
          </p:txBody>
        </p:sp>
        <p:sp>
          <p:nvSpPr>
            <p:cNvPr id="10" name="sleeper"/>
            <p:cNvSpPr/>
            <p:nvPr/>
          </p:nvSpPr>
          <p:spPr>
            <a:xfrm>
              <a:off x="2103120" y="2990088"/>
              <a:ext cx="128016" cy="82296"/>
            </a:xfrm>
            <a:prstGeom prst="rect">
              <a:avLst/>
            </a:prstGeom>
            <a:solidFill>
              <a:srgbClr val="6B5B4B"/>
            </a:solidFill>
            <a:ln>
              <a:noFill/>
            </a:ln>
          </p:spPr>
          <p:txBody>
            <a:bodyPr rtlCol="0" anchor="ctr"/>
            <a:lstStyle/>
            <a:p>
              <a:pPr algn="ctr"/>
              <a:endParaRPr/>
            </a:p>
          </p:txBody>
        </p:sp>
        <p:sp>
          <p:nvSpPr>
            <p:cNvPr id="11" name="sleeper"/>
            <p:cNvSpPr/>
            <p:nvPr/>
          </p:nvSpPr>
          <p:spPr>
            <a:xfrm>
              <a:off x="2468880" y="2990088"/>
              <a:ext cx="128016" cy="82296"/>
            </a:xfrm>
            <a:prstGeom prst="rect">
              <a:avLst/>
            </a:prstGeom>
            <a:solidFill>
              <a:srgbClr val="6B5B4B"/>
            </a:solidFill>
            <a:ln>
              <a:noFill/>
            </a:ln>
          </p:spPr>
          <p:txBody>
            <a:bodyPr rtlCol="0" anchor="ctr"/>
            <a:lstStyle/>
            <a:p>
              <a:pPr algn="ctr"/>
              <a:endParaRPr/>
            </a:p>
          </p:txBody>
        </p:sp>
        <p:sp>
          <p:nvSpPr>
            <p:cNvPr id="12" name="sleeper"/>
            <p:cNvSpPr/>
            <p:nvPr/>
          </p:nvSpPr>
          <p:spPr>
            <a:xfrm>
              <a:off x="2834640" y="2990088"/>
              <a:ext cx="128016" cy="82296"/>
            </a:xfrm>
            <a:prstGeom prst="rect">
              <a:avLst/>
            </a:prstGeom>
            <a:solidFill>
              <a:srgbClr val="6B5B4B"/>
            </a:solidFill>
            <a:ln>
              <a:noFill/>
            </a:ln>
          </p:spPr>
          <p:txBody>
            <a:bodyPr rtlCol="0" anchor="ctr"/>
            <a:lstStyle/>
            <a:p>
              <a:pPr algn="ctr"/>
              <a:endParaRPr/>
            </a:p>
          </p:txBody>
        </p:sp>
        <p:sp>
          <p:nvSpPr>
            <p:cNvPr id="13" name="sleeper"/>
            <p:cNvSpPr/>
            <p:nvPr/>
          </p:nvSpPr>
          <p:spPr>
            <a:xfrm>
              <a:off x="3200400" y="2990088"/>
              <a:ext cx="128016" cy="82296"/>
            </a:xfrm>
            <a:prstGeom prst="rect">
              <a:avLst/>
            </a:prstGeom>
            <a:solidFill>
              <a:srgbClr val="6B5B4B"/>
            </a:solidFill>
            <a:ln>
              <a:noFill/>
            </a:ln>
          </p:spPr>
          <p:txBody>
            <a:bodyPr rtlCol="0" anchor="ctr"/>
            <a:lstStyle/>
            <a:p>
              <a:pPr algn="ctr"/>
              <a:endParaRPr/>
            </a:p>
          </p:txBody>
        </p:sp>
        <p:sp>
          <p:nvSpPr>
            <p:cNvPr id="14" name="sleeper"/>
            <p:cNvSpPr/>
            <p:nvPr/>
          </p:nvSpPr>
          <p:spPr>
            <a:xfrm>
              <a:off x="3566160" y="2990088"/>
              <a:ext cx="128016" cy="82296"/>
            </a:xfrm>
            <a:prstGeom prst="rect">
              <a:avLst/>
            </a:prstGeom>
            <a:solidFill>
              <a:srgbClr val="6B5B4B"/>
            </a:solidFill>
            <a:ln>
              <a:noFill/>
            </a:ln>
          </p:spPr>
          <p:txBody>
            <a:bodyPr rtlCol="0" anchor="ctr"/>
            <a:lstStyle/>
            <a:p>
              <a:pPr algn="ctr"/>
              <a:endParaRPr/>
            </a:p>
          </p:txBody>
        </p:sp>
        <p:sp>
          <p:nvSpPr>
            <p:cNvPr id="15" name="sleeper"/>
            <p:cNvSpPr/>
            <p:nvPr/>
          </p:nvSpPr>
          <p:spPr>
            <a:xfrm>
              <a:off x="3931920" y="2990088"/>
              <a:ext cx="128016" cy="82296"/>
            </a:xfrm>
            <a:prstGeom prst="rect">
              <a:avLst/>
            </a:prstGeom>
            <a:solidFill>
              <a:srgbClr val="6B5B4B"/>
            </a:solidFill>
            <a:ln>
              <a:noFill/>
            </a:ln>
          </p:spPr>
          <p:txBody>
            <a:bodyPr rtlCol="0" anchor="ctr"/>
            <a:lstStyle/>
            <a:p>
              <a:pPr algn="ctr"/>
              <a:endParaRPr/>
            </a:p>
          </p:txBody>
        </p:sp>
        <p:sp>
          <p:nvSpPr>
            <p:cNvPr id="16" name="sleeper"/>
            <p:cNvSpPr/>
            <p:nvPr/>
          </p:nvSpPr>
          <p:spPr>
            <a:xfrm>
              <a:off x="4297680" y="2990088"/>
              <a:ext cx="128016" cy="82296"/>
            </a:xfrm>
            <a:prstGeom prst="rect">
              <a:avLst/>
            </a:prstGeom>
            <a:solidFill>
              <a:srgbClr val="6B5B4B"/>
            </a:solidFill>
            <a:ln>
              <a:noFill/>
            </a:ln>
          </p:spPr>
          <p:txBody>
            <a:bodyPr rtlCol="0" anchor="ctr"/>
            <a:lstStyle/>
            <a:p>
              <a:pPr algn="ctr"/>
              <a:endParaRPr/>
            </a:p>
          </p:txBody>
        </p:sp>
        <p:sp>
          <p:nvSpPr>
            <p:cNvPr id="17" name="sleeper"/>
            <p:cNvSpPr/>
            <p:nvPr/>
          </p:nvSpPr>
          <p:spPr>
            <a:xfrm>
              <a:off x="4663440" y="2990088"/>
              <a:ext cx="128016" cy="82296"/>
            </a:xfrm>
            <a:prstGeom prst="rect">
              <a:avLst/>
            </a:prstGeom>
            <a:solidFill>
              <a:srgbClr val="6B5B4B"/>
            </a:solidFill>
            <a:ln>
              <a:noFill/>
            </a:ln>
          </p:spPr>
          <p:txBody>
            <a:bodyPr rtlCol="0" anchor="ctr"/>
            <a:lstStyle/>
            <a:p>
              <a:pPr algn="ctr"/>
              <a:endParaRPr/>
            </a:p>
          </p:txBody>
        </p:sp>
        <p:sp>
          <p:nvSpPr>
            <p:cNvPr id="18" name="sleeper"/>
            <p:cNvSpPr/>
            <p:nvPr/>
          </p:nvSpPr>
          <p:spPr>
            <a:xfrm>
              <a:off x="5029200" y="2990088"/>
              <a:ext cx="128016" cy="82296"/>
            </a:xfrm>
            <a:prstGeom prst="rect">
              <a:avLst/>
            </a:prstGeom>
            <a:solidFill>
              <a:srgbClr val="6B5B4B"/>
            </a:solidFill>
            <a:ln>
              <a:noFill/>
            </a:ln>
          </p:spPr>
          <p:txBody>
            <a:bodyPr rtlCol="0" anchor="ctr"/>
            <a:lstStyle/>
            <a:p>
              <a:pPr algn="ctr"/>
              <a:endParaRPr/>
            </a:p>
          </p:txBody>
        </p:sp>
        <p:sp>
          <p:nvSpPr>
            <p:cNvPr id="19" name="sleeper"/>
            <p:cNvSpPr/>
            <p:nvPr/>
          </p:nvSpPr>
          <p:spPr>
            <a:xfrm>
              <a:off x="5394960" y="2990088"/>
              <a:ext cx="128016" cy="82296"/>
            </a:xfrm>
            <a:prstGeom prst="rect">
              <a:avLst/>
            </a:prstGeom>
            <a:solidFill>
              <a:srgbClr val="6B5B4B"/>
            </a:solidFill>
            <a:ln>
              <a:noFill/>
            </a:ln>
          </p:spPr>
          <p:txBody>
            <a:bodyPr rtlCol="0" anchor="ctr"/>
            <a:lstStyle/>
            <a:p>
              <a:pPr algn="ctr"/>
              <a:endParaRPr/>
            </a:p>
          </p:txBody>
        </p:sp>
        <p:sp>
          <p:nvSpPr>
            <p:cNvPr id="20" name="tender frame"/>
            <p:cNvSpPr/>
            <p:nvPr/>
          </p:nvSpPr>
          <p:spPr>
            <a:xfrm>
              <a:off x="822960" y="2554833"/>
              <a:ext cx="1049731" cy="115214"/>
            </a:xfrm>
            <a:prstGeom prst="rect">
              <a:avLst/>
            </a:prstGeom>
            <a:solidFill>
              <a:srgbClr val="3A3F47"/>
            </a:solidFill>
            <a:ln w="9525">
              <a:solidFill>
                <a:srgbClr val="9AA0A6"/>
              </a:solidFill>
            </a:ln>
          </p:spPr>
          <p:txBody>
            <a:bodyPr rtlCol="0" anchor="ctr"/>
            <a:lstStyle/>
            <a:p>
              <a:pPr algn="ctr"/>
              <a:endParaRPr/>
            </a:p>
          </p:txBody>
        </p:sp>
        <p:sp>
          <p:nvSpPr>
            <p:cNvPr id="21" name="tender body"/>
            <p:cNvSpPr/>
            <p:nvPr/>
          </p:nvSpPr>
          <p:spPr>
            <a:xfrm>
              <a:off x="822960" y="2132380"/>
              <a:ext cx="1049731" cy="422452"/>
            </a:xfrm>
            <a:prstGeom prst="roundRect">
              <a:avLst>
                <a:gd name="adj" fmla="val 3030"/>
              </a:avLst>
            </a:prstGeom>
            <a:solidFill>
              <a:srgbClr val="F28C28"/>
            </a:solidFill>
            <a:ln>
              <a:noFill/>
            </a:ln>
          </p:spPr>
          <p:txBody>
            <a:bodyPr rtlCol="0" anchor="ctr"/>
            <a:lstStyle/>
            <a:p>
              <a:pPr algn="ctr"/>
              <a:endParaRPr/>
            </a:p>
          </p:txBody>
        </p:sp>
        <p:sp>
          <p:nvSpPr>
            <p:cNvPr id="22" name="tender coal"/>
            <p:cNvSpPr/>
            <p:nvPr/>
          </p:nvSpPr>
          <p:spPr>
            <a:xfrm>
              <a:off x="861364" y="1953158"/>
              <a:ext cx="972922" cy="179222"/>
            </a:xfrm>
            <a:custGeom>
              <a:avLst/>
              <a:gdLst/>
              <a:ahLst/>
              <a:cxnLst/>
              <a:rect l="l" t="t" r="r" b="b"/>
              <a:pathLst>
                <a:path w="972922" h="179222">
                  <a:moveTo>
                    <a:pt x="0" y="179222"/>
                  </a:moveTo>
                  <a:lnTo>
                    <a:pt x="192024" y="12802"/>
                  </a:lnTo>
                  <a:lnTo>
                    <a:pt x="576072" y="0"/>
                  </a:lnTo>
                  <a:lnTo>
                    <a:pt x="972922" y="179222"/>
                  </a:lnTo>
                  <a:close/>
                </a:path>
              </a:pathLst>
            </a:custGeom>
            <a:solidFill>
              <a:srgbClr val="1B1D21"/>
            </a:solidFill>
            <a:ln w="12700">
              <a:solidFill>
                <a:srgbClr val="6B7078"/>
              </a:solidFill>
            </a:ln>
          </p:spPr>
          <p:txBody>
            <a:bodyPr rtlCol="0" anchor="ctr"/>
            <a:lstStyle/>
            <a:p>
              <a:pPr algn="ctr"/>
              <a:endParaRPr/>
            </a:p>
          </p:txBody>
        </p:sp>
        <p:sp>
          <p:nvSpPr>
            <p:cNvPr id="23" name="coupling"/>
            <p:cNvSpPr/>
            <p:nvPr/>
          </p:nvSpPr>
          <p:spPr>
            <a:xfrm>
              <a:off x="1872691" y="2401214"/>
              <a:ext cx="89611" cy="38404"/>
            </a:xfrm>
            <a:prstGeom prst="rect">
              <a:avLst/>
            </a:prstGeom>
            <a:solidFill>
              <a:srgbClr val="9AA0A6"/>
            </a:solidFill>
            <a:ln>
              <a:noFill/>
            </a:ln>
          </p:spPr>
          <p:txBody>
            <a:bodyPr rtlCol="0" anchor="ctr"/>
            <a:lstStyle/>
            <a:p>
              <a:pPr algn="ctr"/>
              <a:endParaRPr/>
            </a:p>
          </p:txBody>
        </p:sp>
        <p:sp>
          <p:nvSpPr>
            <p:cNvPr id="24" name="wheel"/>
            <p:cNvSpPr/>
            <p:nvPr/>
          </p:nvSpPr>
          <p:spPr>
            <a:xfrm>
              <a:off x="899769" y="2567635"/>
              <a:ext cx="358444" cy="358444"/>
            </a:xfrm>
            <a:prstGeom prst="ellipse">
              <a:avLst/>
            </a:prstGeom>
            <a:solidFill>
              <a:srgbClr val="1B1D21"/>
            </a:solidFill>
            <a:ln w="19050">
              <a:solidFill>
                <a:srgbClr val="9AA0A6"/>
              </a:solidFill>
            </a:ln>
          </p:spPr>
          <p:txBody>
            <a:bodyPr rtlCol="0" anchor="ctr"/>
            <a:lstStyle/>
            <a:p>
              <a:pPr algn="ctr"/>
              <a:endParaRPr/>
            </a:p>
          </p:txBody>
        </p:sp>
        <p:sp>
          <p:nvSpPr>
            <p:cNvPr id="25" name="hub"/>
            <p:cNvSpPr/>
            <p:nvPr/>
          </p:nvSpPr>
          <p:spPr>
            <a:xfrm>
              <a:off x="1032394" y="2700259"/>
              <a:ext cx="93195" cy="93195"/>
            </a:xfrm>
            <a:prstGeom prst="ellipse">
              <a:avLst/>
            </a:prstGeom>
            <a:solidFill>
              <a:srgbClr val="9AA0A6"/>
            </a:solidFill>
            <a:ln>
              <a:noFill/>
            </a:ln>
          </p:spPr>
          <p:txBody>
            <a:bodyPr rtlCol="0" anchor="ctr"/>
            <a:lstStyle/>
            <a:p>
              <a:pPr algn="ctr"/>
              <a:endParaRPr/>
            </a:p>
          </p:txBody>
        </p:sp>
        <p:sp>
          <p:nvSpPr>
            <p:cNvPr id="26" name="wheel"/>
            <p:cNvSpPr/>
            <p:nvPr/>
          </p:nvSpPr>
          <p:spPr>
            <a:xfrm>
              <a:off x="1437436" y="2567635"/>
              <a:ext cx="358444" cy="358444"/>
            </a:xfrm>
            <a:prstGeom prst="ellipse">
              <a:avLst/>
            </a:prstGeom>
            <a:solidFill>
              <a:srgbClr val="1B1D21"/>
            </a:solidFill>
            <a:ln w="19050">
              <a:solidFill>
                <a:srgbClr val="9AA0A6"/>
              </a:solidFill>
            </a:ln>
          </p:spPr>
          <p:txBody>
            <a:bodyPr rtlCol="0" anchor="ctr"/>
            <a:lstStyle/>
            <a:p>
              <a:pPr algn="ctr"/>
              <a:endParaRPr/>
            </a:p>
          </p:txBody>
        </p:sp>
        <p:sp>
          <p:nvSpPr>
            <p:cNvPr id="27" name="hub"/>
            <p:cNvSpPr/>
            <p:nvPr/>
          </p:nvSpPr>
          <p:spPr>
            <a:xfrm>
              <a:off x="1570061" y="2700259"/>
              <a:ext cx="93195" cy="93195"/>
            </a:xfrm>
            <a:prstGeom prst="ellipse">
              <a:avLst/>
            </a:prstGeom>
            <a:solidFill>
              <a:srgbClr val="9AA0A6"/>
            </a:solidFill>
            <a:ln>
              <a:noFill/>
            </a:ln>
          </p:spPr>
          <p:txBody>
            <a:bodyPr rtlCol="0" anchor="ctr"/>
            <a:lstStyle/>
            <a:p>
              <a:pPr algn="ctr"/>
              <a:endParaRPr/>
            </a:p>
          </p:txBody>
        </p:sp>
        <p:sp>
          <p:nvSpPr>
            <p:cNvPr id="28" name="frame"/>
            <p:cNvSpPr/>
            <p:nvPr/>
          </p:nvSpPr>
          <p:spPr>
            <a:xfrm>
              <a:off x="1962302" y="2554833"/>
              <a:ext cx="3366820" cy="115214"/>
            </a:xfrm>
            <a:prstGeom prst="rect">
              <a:avLst/>
            </a:prstGeom>
            <a:solidFill>
              <a:srgbClr val="3A3F47"/>
            </a:solidFill>
            <a:ln w="9525">
              <a:solidFill>
                <a:srgbClr val="9AA0A6"/>
              </a:solidFill>
            </a:ln>
          </p:spPr>
          <p:txBody>
            <a:bodyPr rtlCol="0" anchor="ctr"/>
            <a:lstStyle/>
            <a:p>
              <a:pPr algn="ctr"/>
              <a:endParaRPr/>
            </a:p>
          </p:txBody>
        </p:sp>
        <p:sp>
          <p:nvSpPr>
            <p:cNvPr id="29" name="cab"/>
            <p:cNvSpPr/>
            <p:nvPr/>
          </p:nvSpPr>
          <p:spPr>
            <a:xfrm>
              <a:off x="1962302" y="1850745"/>
              <a:ext cx="512064" cy="704088"/>
            </a:xfrm>
            <a:prstGeom prst="roundRect">
              <a:avLst>
                <a:gd name="adj" fmla="val 2500"/>
              </a:avLst>
            </a:prstGeom>
            <a:solidFill>
              <a:srgbClr val="F28C28"/>
            </a:solidFill>
            <a:ln>
              <a:noFill/>
            </a:ln>
          </p:spPr>
          <p:txBody>
            <a:bodyPr rtlCol="0" anchor="ctr"/>
            <a:lstStyle/>
            <a:p>
              <a:pPr algn="ctr"/>
              <a:endParaRPr/>
            </a:p>
          </p:txBody>
        </p:sp>
        <p:sp>
          <p:nvSpPr>
            <p:cNvPr id="30" name="cab roof"/>
            <p:cNvSpPr/>
            <p:nvPr/>
          </p:nvSpPr>
          <p:spPr>
            <a:xfrm>
              <a:off x="1936699" y="1786737"/>
              <a:ext cx="563270" cy="64008"/>
            </a:xfrm>
            <a:prstGeom prst="rect">
              <a:avLst/>
            </a:prstGeom>
            <a:solidFill>
              <a:srgbClr val="3A3F47"/>
            </a:solidFill>
            <a:ln w="9525">
              <a:solidFill>
                <a:srgbClr val="9AA0A6"/>
              </a:solidFill>
            </a:ln>
          </p:spPr>
          <p:txBody>
            <a:bodyPr rtlCol="0" anchor="ctr"/>
            <a:lstStyle/>
            <a:p>
              <a:pPr algn="ctr"/>
              <a:endParaRPr/>
            </a:p>
          </p:txBody>
        </p:sp>
        <p:sp>
          <p:nvSpPr>
            <p:cNvPr id="31" name="cab window"/>
            <p:cNvSpPr/>
            <p:nvPr/>
          </p:nvSpPr>
          <p:spPr>
            <a:xfrm>
              <a:off x="2090318" y="1953158"/>
              <a:ext cx="230428" cy="230428"/>
            </a:xfrm>
            <a:prstGeom prst="rect">
              <a:avLst/>
            </a:prstGeom>
            <a:solidFill>
              <a:srgbClr val="1B1D21"/>
            </a:solidFill>
            <a:ln>
              <a:noFill/>
            </a:ln>
          </p:spPr>
          <p:txBody>
            <a:bodyPr rtlCol="0" anchor="ctr"/>
            <a:lstStyle/>
            <a:p>
              <a:pPr algn="ctr"/>
              <a:endParaRPr/>
            </a:p>
          </p:txBody>
        </p:sp>
        <p:sp>
          <p:nvSpPr>
            <p:cNvPr id="32" name="boiler"/>
            <p:cNvSpPr/>
            <p:nvPr/>
          </p:nvSpPr>
          <p:spPr>
            <a:xfrm>
              <a:off x="2474366" y="1914753"/>
              <a:ext cx="2598724" cy="512064"/>
            </a:xfrm>
            <a:prstGeom prst="roundRect">
              <a:avLst>
                <a:gd name="adj" fmla="val 25000"/>
              </a:avLst>
            </a:prstGeom>
            <a:solidFill>
              <a:srgbClr val="F28C28"/>
            </a:solidFill>
            <a:ln>
              <a:noFill/>
            </a:ln>
          </p:spPr>
          <p:txBody>
            <a:bodyPr rtlCol="0" anchor="ctr"/>
            <a:lstStyle/>
            <a:p>
              <a:pPr algn="ctr"/>
              <a:endParaRPr/>
            </a:p>
          </p:txBody>
        </p:sp>
        <p:sp>
          <p:nvSpPr>
            <p:cNvPr id="33" name="boiler band"/>
            <p:cNvSpPr/>
            <p:nvPr/>
          </p:nvSpPr>
          <p:spPr>
            <a:xfrm>
              <a:off x="3253983" y="1914753"/>
              <a:ext cx="17922" cy="512064"/>
            </a:xfrm>
            <a:prstGeom prst="rect">
              <a:avLst/>
            </a:prstGeom>
            <a:solidFill>
              <a:srgbClr val="AE641C"/>
            </a:solidFill>
            <a:ln>
              <a:noFill/>
            </a:ln>
          </p:spPr>
          <p:txBody>
            <a:bodyPr rtlCol="0" anchor="ctr"/>
            <a:lstStyle/>
            <a:p>
              <a:pPr algn="ctr"/>
              <a:endParaRPr/>
            </a:p>
          </p:txBody>
        </p:sp>
        <p:sp>
          <p:nvSpPr>
            <p:cNvPr id="34" name="boiler band"/>
            <p:cNvSpPr/>
            <p:nvPr/>
          </p:nvSpPr>
          <p:spPr>
            <a:xfrm>
              <a:off x="3903665" y="1914753"/>
              <a:ext cx="17922" cy="512064"/>
            </a:xfrm>
            <a:prstGeom prst="rect">
              <a:avLst/>
            </a:prstGeom>
            <a:solidFill>
              <a:srgbClr val="AE641C"/>
            </a:solidFill>
            <a:ln>
              <a:noFill/>
            </a:ln>
          </p:spPr>
          <p:txBody>
            <a:bodyPr rtlCol="0" anchor="ctr"/>
            <a:lstStyle/>
            <a:p>
              <a:pPr algn="ctr"/>
              <a:endParaRPr/>
            </a:p>
          </p:txBody>
        </p:sp>
        <p:sp>
          <p:nvSpPr>
            <p:cNvPr id="35" name="boiler band"/>
            <p:cNvSpPr/>
            <p:nvPr/>
          </p:nvSpPr>
          <p:spPr>
            <a:xfrm>
              <a:off x="4553346" y="1914753"/>
              <a:ext cx="17922" cy="512064"/>
            </a:xfrm>
            <a:prstGeom prst="rect">
              <a:avLst/>
            </a:prstGeom>
            <a:solidFill>
              <a:srgbClr val="AE641C"/>
            </a:solidFill>
            <a:ln>
              <a:noFill/>
            </a:ln>
          </p:spPr>
          <p:txBody>
            <a:bodyPr rtlCol="0" anchor="ctr"/>
            <a:lstStyle/>
            <a:p>
              <a:pPr algn="ctr"/>
              <a:endParaRPr/>
            </a:p>
          </p:txBody>
        </p:sp>
        <p:sp>
          <p:nvSpPr>
            <p:cNvPr id="36" name="smokebox"/>
            <p:cNvSpPr/>
            <p:nvPr/>
          </p:nvSpPr>
          <p:spPr>
            <a:xfrm>
              <a:off x="5073091" y="1914753"/>
              <a:ext cx="256032" cy="512064"/>
            </a:xfrm>
            <a:prstGeom prst="roundRect">
              <a:avLst>
                <a:gd name="adj" fmla="val 12000"/>
              </a:avLst>
            </a:prstGeom>
            <a:solidFill>
              <a:srgbClr val="4A515B"/>
            </a:solidFill>
            <a:ln>
              <a:noFill/>
            </a:ln>
          </p:spPr>
          <p:txBody>
            <a:bodyPr rtlCol="0" anchor="ctr"/>
            <a:lstStyle/>
            <a:p>
              <a:pPr algn="ctr"/>
              <a:endParaRPr/>
            </a:p>
          </p:txBody>
        </p:sp>
        <p:sp>
          <p:nvSpPr>
            <p:cNvPr id="37" name="chimney"/>
            <p:cNvSpPr/>
            <p:nvPr/>
          </p:nvSpPr>
          <p:spPr>
            <a:xfrm>
              <a:off x="5124297" y="1645920"/>
              <a:ext cx="153619" cy="268833"/>
            </a:xfrm>
            <a:prstGeom prst="rect">
              <a:avLst/>
            </a:prstGeom>
            <a:solidFill>
              <a:srgbClr val="3A3F47"/>
            </a:solidFill>
            <a:ln w="9525">
              <a:solidFill>
                <a:srgbClr val="9AA0A6"/>
              </a:solidFill>
            </a:ln>
          </p:spPr>
          <p:txBody>
            <a:bodyPr rtlCol="0" anchor="ctr"/>
            <a:lstStyle/>
            <a:p>
              <a:pPr algn="ctr"/>
              <a:endParaRPr/>
            </a:p>
          </p:txBody>
        </p:sp>
        <p:sp>
          <p:nvSpPr>
            <p:cNvPr id="38" name="chimney lip"/>
            <p:cNvSpPr/>
            <p:nvPr/>
          </p:nvSpPr>
          <p:spPr>
            <a:xfrm>
              <a:off x="5085892" y="1607515"/>
              <a:ext cx="230428" cy="64008"/>
            </a:xfrm>
            <a:prstGeom prst="rect">
              <a:avLst/>
            </a:prstGeom>
            <a:solidFill>
              <a:srgbClr val="3A3F47"/>
            </a:solidFill>
            <a:ln w="9525">
              <a:solidFill>
                <a:srgbClr val="9AA0A6"/>
              </a:solidFill>
            </a:ln>
          </p:spPr>
          <p:txBody>
            <a:bodyPr rtlCol="0" anchor="ctr"/>
            <a:lstStyle/>
            <a:p>
              <a:pPr algn="ctr"/>
              <a:endParaRPr/>
            </a:p>
          </p:txBody>
        </p:sp>
        <p:sp>
          <p:nvSpPr>
            <p:cNvPr id="39" name="dome"/>
            <p:cNvSpPr/>
            <p:nvPr/>
          </p:nvSpPr>
          <p:spPr>
            <a:xfrm>
              <a:off x="3513856" y="1773936"/>
              <a:ext cx="230428" cy="140817"/>
            </a:xfrm>
            <a:prstGeom prst="roundRect">
              <a:avLst>
                <a:gd name="adj" fmla="val 36363"/>
              </a:avLst>
            </a:prstGeom>
            <a:solidFill>
              <a:srgbClr val="F28C28"/>
            </a:solidFill>
            <a:ln>
              <a:noFill/>
            </a:ln>
          </p:spPr>
          <p:txBody>
            <a:bodyPr rtlCol="0" anchor="ctr"/>
            <a:lstStyle/>
            <a:p>
              <a:pPr algn="ctr"/>
              <a:endParaRPr/>
            </a:p>
          </p:txBody>
        </p:sp>
        <p:sp>
          <p:nvSpPr>
            <p:cNvPr id="40" name="wheel"/>
            <p:cNvSpPr/>
            <p:nvPr/>
          </p:nvSpPr>
          <p:spPr>
            <a:xfrm>
              <a:off x="2000707" y="2414015"/>
              <a:ext cx="512064" cy="512064"/>
            </a:xfrm>
            <a:prstGeom prst="ellipse">
              <a:avLst/>
            </a:prstGeom>
            <a:solidFill>
              <a:srgbClr val="1B1D21"/>
            </a:solidFill>
            <a:ln w="19050">
              <a:solidFill>
                <a:srgbClr val="9AA0A6"/>
              </a:solidFill>
            </a:ln>
          </p:spPr>
          <p:txBody>
            <a:bodyPr rtlCol="0" anchor="ctr"/>
            <a:lstStyle/>
            <a:p>
              <a:pPr algn="ctr"/>
              <a:endParaRPr/>
            </a:p>
          </p:txBody>
        </p:sp>
        <p:sp>
          <p:nvSpPr>
            <p:cNvPr id="41" name="hub"/>
            <p:cNvSpPr/>
            <p:nvPr/>
          </p:nvSpPr>
          <p:spPr>
            <a:xfrm>
              <a:off x="2190170" y="2603479"/>
              <a:ext cx="133136" cy="133136"/>
            </a:xfrm>
            <a:prstGeom prst="ellipse">
              <a:avLst/>
            </a:prstGeom>
            <a:solidFill>
              <a:srgbClr val="9AA0A6"/>
            </a:solidFill>
            <a:ln>
              <a:noFill/>
            </a:ln>
          </p:spPr>
          <p:txBody>
            <a:bodyPr rtlCol="0" anchor="ctr"/>
            <a:lstStyle/>
            <a:p>
              <a:pPr algn="ctr"/>
              <a:endParaRPr/>
            </a:p>
          </p:txBody>
        </p:sp>
        <p:sp>
          <p:nvSpPr>
            <p:cNvPr id="42" name="wheel"/>
            <p:cNvSpPr/>
            <p:nvPr/>
          </p:nvSpPr>
          <p:spPr>
            <a:xfrm>
              <a:off x="2576779" y="2414015"/>
              <a:ext cx="512064" cy="512064"/>
            </a:xfrm>
            <a:prstGeom prst="ellipse">
              <a:avLst/>
            </a:prstGeom>
            <a:solidFill>
              <a:srgbClr val="1B1D21"/>
            </a:solidFill>
            <a:ln w="19050">
              <a:solidFill>
                <a:srgbClr val="9AA0A6"/>
              </a:solidFill>
            </a:ln>
          </p:spPr>
          <p:txBody>
            <a:bodyPr rtlCol="0" anchor="ctr"/>
            <a:lstStyle/>
            <a:p>
              <a:pPr algn="ctr"/>
              <a:endParaRPr/>
            </a:p>
          </p:txBody>
        </p:sp>
        <p:sp>
          <p:nvSpPr>
            <p:cNvPr id="43" name="hub"/>
            <p:cNvSpPr/>
            <p:nvPr/>
          </p:nvSpPr>
          <p:spPr>
            <a:xfrm>
              <a:off x="2766242" y="2603479"/>
              <a:ext cx="133136" cy="133136"/>
            </a:xfrm>
            <a:prstGeom prst="ellipse">
              <a:avLst/>
            </a:prstGeom>
            <a:solidFill>
              <a:srgbClr val="9AA0A6"/>
            </a:solidFill>
            <a:ln>
              <a:noFill/>
            </a:ln>
          </p:spPr>
          <p:txBody>
            <a:bodyPr rtlCol="0" anchor="ctr"/>
            <a:lstStyle/>
            <a:p>
              <a:pPr algn="ctr"/>
              <a:endParaRPr/>
            </a:p>
          </p:txBody>
        </p:sp>
        <p:sp>
          <p:nvSpPr>
            <p:cNvPr id="44" name="wheel"/>
            <p:cNvSpPr/>
            <p:nvPr/>
          </p:nvSpPr>
          <p:spPr>
            <a:xfrm>
              <a:off x="3152851" y="2414015"/>
              <a:ext cx="512064" cy="512064"/>
            </a:xfrm>
            <a:prstGeom prst="ellipse">
              <a:avLst/>
            </a:prstGeom>
            <a:solidFill>
              <a:srgbClr val="1B1D21"/>
            </a:solidFill>
            <a:ln w="19050">
              <a:solidFill>
                <a:srgbClr val="9AA0A6"/>
              </a:solidFill>
            </a:ln>
          </p:spPr>
          <p:txBody>
            <a:bodyPr rtlCol="0" anchor="ctr"/>
            <a:lstStyle/>
            <a:p>
              <a:pPr algn="ctr"/>
              <a:endParaRPr/>
            </a:p>
          </p:txBody>
        </p:sp>
        <p:sp>
          <p:nvSpPr>
            <p:cNvPr id="45" name="hub"/>
            <p:cNvSpPr/>
            <p:nvPr/>
          </p:nvSpPr>
          <p:spPr>
            <a:xfrm>
              <a:off x="3342314" y="2603479"/>
              <a:ext cx="133136" cy="133136"/>
            </a:xfrm>
            <a:prstGeom prst="ellipse">
              <a:avLst/>
            </a:prstGeom>
            <a:solidFill>
              <a:srgbClr val="9AA0A6"/>
            </a:solidFill>
            <a:ln>
              <a:noFill/>
            </a:ln>
          </p:spPr>
          <p:txBody>
            <a:bodyPr rtlCol="0" anchor="ctr"/>
            <a:lstStyle/>
            <a:p>
              <a:pPr algn="ctr"/>
              <a:endParaRPr/>
            </a:p>
          </p:txBody>
        </p:sp>
        <p:sp>
          <p:nvSpPr>
            <p:cNvPr id="46" name="wheel"/>
            <p:cNvSpPr/>
            <p:nvPr/>
          </p:nvSpPr>
          <p:spPr>
            <a:xfrm>
              <a:off x="3728923" y="2414015"/>
              <a:ext cx="512064" cy="512064"/>
            </a:xfrm>
            <a:prstGeom prst="ellipse">
              <a:avLst/>
            </a:prstGeom>
            <a:solidFill>
              <a:srgbClr val="1B1D21"/>
            </a:solidFill>
            <a:ln w="19050">
              <a:solidFill>
                <a:srgbClr val="9AA0A6"/>
              </a:solidFill>
            </a:ln>
          </p:spPr>
          <p:txBody>
            <a:bodyPr rtlCol="0" anchor="ctr"/>
            <a:lstStyle/>
            <a:p>
              <a:pPr algn="ctr"/>
              <a:endParaRPr/>
            </a:p>
          </p:txBody>
        </p:sp>
        <p:sp>
          <p:nvSpPr>
            <p:cNvPr id="47" name="hub"/>
            <p:cNvSpPr/>
            <p:nvPr/>
          </p:nvSpPr>
          <p:spPr>
            <a:xfrm>
              <a:off x="3918386" y="2603479"/>
              <a:ext cx="133136" cy="133136"/>
            </a:xfrm>
            <a:prstGeom prst="ellipse">
              <a:avLst/>
            </a:prstGeom>
            <a:solidFill>
              <a:srgbClr val="9AA0A6"/>
            </a:solidFill>
            <a:ln>
              <a:noFill/>
            </a:ln>
          </p:spPr>
          <p:txBody>
            <a:bodyPr rtlCol="0" anchor="ctr"/>
            <a:lstStyle/>
            <a:p>
              <a:pPr algn="ctr"/>
              <a:endParaRPr/>
            </a:p>
          </p:txBody>
        </p:sp>
        <p:sp>
          <p:nvSpPr>
            <p:cNvPr id="48" name="wheel"/>
            <p:cNvSpPr/>
            <p:nvPr/>
          </p:nvSpPr>
          <p:spPr>
            <a:xfrm>
              <a:off x="4433011" y="2644444"/>
              <a:ext cx="281635" cy="281635"/>
            </a:xfrm>
            <a:prstGeom prst="ellipse">
              <a:avLst/>
            </a:prstGeom>
            <a:solidFill>
              <a:srgbClr val="1B1D21"/>
            </a:solidFill>
            <a:ln w="19050">
              <a:solidFill>
                <a:srgbClr val="9AA0A6"/>
              </a:solidFill>
            </a:ln>
          </p:spPr>
          <p:txBody>
            <a:bodyPr rtlCol="0" anchor="ctr"/>
            <a:lstStyle/>
            <a:p>
              <a:pPr algn="ctr"/>
              <a:endParaRPr/>
            </a:p>
          </p:txBody>
        </p:sp>
        <p:sp>
          <p:nvSpPr>
            <p:cNvPr id="49" name="hub"/>
            <p:cNvSpPr/>
            <p:nvPr/>
          </p:nvSpPr>
          <p:spPr>
            <a:xfrm>
              <a:off x="4537216" y="2748649"/>
              <a:ext cx="73225" cy="73225"/>
            </a:xfrm>
            <a:prstGeom prst="ellipse">
              <a:avLst/>
            </a:prstGeom>
            <a:solidFill>
              <a:srgbClr val="9AA0A6"/>
            </a:solidFill>
            <a:ln>
              <a:noFill/>
            </a:ln>
          </p:spPr>
          <p:txBody>
            <a:bodyPr rtlCol="0" anchor="ctr"/>
            <a:lstStyle/>
            <a:p>
              <a:pPr algn="ctr"/>
              <a:endParaRPr/>
            </a:p>
          </p:txBody>
        </p:sp>
        <p:sp>
          <p:nvSpPr>
            <p:cNvPr id="50" name="coupling rod"/>
            <p:cNvSpPr/>
            <p:nvPr/>
          </p:nvSpPr>
          <p:spPr>
            <a:xfrm>
              <a:off x="2256739" y="2524109"/>
              <a:ext cx="1728216" cy="35844"/>
            </a:xfrm>
            <a:prstGeom prst="rect">
              <a:avLst/>
            </a:prstGeom>
            <a:solidFill>
              <a:srgbClr val="D0D4D8"/>
            </a:solidFill>
            <a:ln>
              <a:noFill/>
            </a:ln>
          </p:spPr>
          <p:txBody>
            <a:bodyPr rtlCol="0" anchor="ctr"/>
            <a:lstStyle/>
            <a:p>
              <a:pPr algn="ctr"/>
              <a:endParaRPr/>
            </a:p>
          </p:txBody>
        </p:sp>
        <p:sp>
          <p:nvSpPr>
            <p:cNvPr id="51" name="buffer beam"/>
            <p:cNvSpPr/>
            <p:nvPr/>
          </p:nvSpPr>
          <p:spPr>
            <a:xfrm>
              <a:off x="5329123" y="2439619"/>
              <a:ext cx="76809" cy="230428"/>
            </a:xfrm>
            <a:prstGeom prst="rect">
              <a:avLst/>
            </a:prstGeom>
            <a:solidFill>
              <a:srgbClr val="9AA0A6"/>
            </a:solidFill>
            <a:ln>
              <a:noFill/>
            </a:ln>
          </p:spPr>
          <p:txBody>
            <a:bodyPr rtlCol="0" anchor="ctr"/>
            <a:lstStyle/>
            <a:p>
              <a:pPr algn="ctr"/>
              <a:endParaRPr/>
            </a:p>
          </p:txBody>
        </p:sp>
        <p:sp>
          <p:nvSpPr>
            <p:cNvPr id="52" name="number plate"/>
            <p:cNvSpPr/>
            <p:nvPr/>
          </p:nvSpPr>
          <p:spPr>
            <a:xfrm>
              <a:off x="3081528" y="1978761"/>
              <a:ext cx="1371600" cy="384048"/>
            </a:xfrm>
            <a:prstGeom prst="roundRect">
              <a:avLst>
                <a:gd name="adj" fmla="val 19047"/>
              </a:avLst>
            </a:prstGeom>
            <a:solidFill>
              <a:srgbClr val="1B1D21"/>
            </a:solidFill>
            <a:ln w="28575">
              <a:solidFill>
                <a:srgbClr val="F28C28"/>
              </a:solidFill>
            </a:ln>
          </p:spPr>
          <p:txBody>
            <a:bodyPr wrap="square" lIns="27432" tIns="0" rIns="27432" bIns="0" rtlCol="0" anchor="ctr">
              <a:noAutofit/>
            </a:bodyPr>
            <a:lstStyle/>
            <a:p>
              <a:pPr algn="ctr"/>
              <a:r>
                <a:rPr lang="en-GB" sz="1600" b="1" i="0">
                  <a:solidFill>
                    <a:srgbClr val="F2F2F2"/>
                  </a:solidFill>
                  <a:latin typeface="Arial"/>
                </a:rPr>
                <a:t>No. 1234</a:t>
              </a:r>
            </a:p>
          </p:txBody>
        </p:sp>
        <p:sp>
          <p:nvSpPr>
            <p:cNvPr id="53" name="example label"/>
            <p:cNvSpPr txBox="1"/>
            <p:nvPr/>
          </p:nvSpPr>
          <p:spPr>
            <a:xfrm>
              <a:off x="2852928" y="3127248"/>
              <a:ext cx="1828800" cy="256032"/>
            </a:xfrm>
            <a:prstGeom prst="rect">
              <a:avLst/>
            </a:prstGeom>
            <a:noFill/>
          </p:spPr>
          <p:txBody>
            <a:bodyPr wrap="square" lIns="18288" tIns="9144" rIns="18288" bIns="9144" anchor="ctr">
              <a:noAutofit/>
            </a:bodyPr>
            <a:lstStyle/>
            <a:p>
              <a:pPr algn="ctr"/>
              <a:r>
                <a:rPr lang="en-GB" sz="1400" b="0" i="0">
                  <a:solidFill>
                    <a:srgbClr val="A9B0B8"/>
                  </a:solidFill>
                  <a:latin typeface="Arial"/>
                </a:rPr>
                <a:t>Example only</a:t>
              </a:r>
            </a:p>
          </p:txBody>
        </p:sp>
        <p:sp>
          <p:nvSpPr>
            <p:cNvPr id="54" name="hidden id tag"/>
            <p:cNvSpPr/>
            <p:nvPr/>
          </p:nvSpPr>
          <p:spPr>
            <a:xfrm>
              <a:off x="6400800" y="1508760"/>
              <a:ext cx="3840480" cy="914400"/>
            </a:xfrm>
            <a:prstGeom prst="roundRect">
              <a:avLst>
                <a:gd name="adj" fmla="val 10000"/>
              </a:avLst>
            </a:prstGeom>
            <a:solidFill>
              <a:srgbClr val="2B2F36"/>
            </a:solidFill>
            <a:ln w="25400">
              <a:solidFill>
                <a:srgbClr val="A9B0B8"/>
              </a:solidFill>
              <a:prstDash val="dash"/>
            </a:ln>
          </p:spPr>
          <p:txBody>
            <a:bodyPr rtlCol="0" anchor="ctr"/>
            <a:lstStyle/>
            <a:p>
              <a:pPr algn="ctr"/>
              <a:endParaRPr/>
            </a:p>
          </p:txBody>
        </p:sp>
        <p:sp>
          <p:nvSpPr>
            <p:cNvPr id="55" name="padlock shackle"/>
            <p:cNvSpPr/>
            <p:nvPr/>
          </p:nvSpPr>
          <p:spPr>
            <a:xfrm>
              <a:off x="6761988" y="1773936"/>
              <a:ext cx="283464" cy="164592"/>
            </a:xfrm>
            <a:custGeom>
              <a:avLst/>
              <a:gdLst/>
              <a:ahLst/>
              <a:cxnLst/>
              <a:rect l="l" t="t" r="r" b="b"/>
              <a:pathLst>
                <a:path w="283464" h="164592">
                  <a:moveTo>
                    <a:pt x="0" y="164592"/>
                  </a:moveTo>
                  <a:lnTo>
                    <a:pt x="0" y="141732"/>
                  </a:lnTo>
                  <a:lnTo>
                    <a:pt x="3553" y="110193"/>
                  </a:lnTo>
                  <a:lnTo>
                    <a:pt x="14035" y="80236"/>
                  </a:lnTo>
                  <a:lnTo>
                    <a:pt x="30921" y="53363"/>
                  </a:lnTo>
                  <a:lnTo>
                    <a:pt x="53363" y="30921"/>
                  </a:lnTo>
                  <a:lnTo>
                    <a:pt x="80236" y="14035"/>
                  </a:lnTo>
                  <a:lnTo>
                    <a:pt x="110193" y="3553"/>
                  </a:lnTo>
                  <a:lnTo>
                    <a:pt x="141732" y="0"/>
                  </a:lnTo>
                  <a:lnTo>
                    <a:pt x="173270" y="3553"/>
                  </a:lnTo>
                  <a:lnTo>
                    <a:pt x="203227" y="14035"/>
                  </a:lnTo>
                  <a:lnTo>
                    <a:pt x="230100" y="30921"/>
                  </a:lnTo>
                  <a:lnTo>
                    <a:pt x="252542" y="53363"/>
                  </a:lnTo>
                  <a:lnTo>
                    <a:pt x="269428" y="80236"/>
                  </a:lnTo>
                  <a:lnTo>
                    <a:pt x="279910" y="110193"/>
                  </a:lnTo>
                  <a:lnTo>
                    <a:pt x="283464" y="141732"/>
                  </a:lnTo>
                  <a:lnTo>
                    <a:pt x="283463" y="164592"/>
                  </a:lnTo>
                </a:path>
              </a:pathLst>
            </a:custGeom>
            <a:noFill/>
            <a:ln w="31750">
              <a:solidFill>
                <a:srgbClr val="F2C14E"/>
              </a:solidFill>
            </a:ln>
          </p:spPr>
          <p:txBody>
            <a:bodyPr rtlCol="0" anchor="ctr"/>
            <a:lstStyle/>
            <a:p>
              <a:pPr algn="ctr"/>
              <a:endParaRPr/>
            </a:p>
          </p:txBody>
        </p:sp>
        <p:sp>
          <p:nvSpPr>
            <p:cNvPr id="56" name="padlock body"/>
            <p:cNvSpPr/>
            <p:nvPr/>
          </p:nvSpPr>
          <p:spPr>
            <a:xfrm>
              <a:off x="6675120" y="1915668"/>
              <a:ext cx="457200" cy="365760"/>
            </a:xfrm>
            <a:prstGeom prst="roundRect">
              <a:avLst>
                <a:gd name="adj" fmla="val 6250"/>
              </a:avLst>
            </a:prstGeom>
            <a:solidFill>
              <a:srgbClr val="F2C14E"/>
            </a:solidFill>
            <a:ln>
              <a:noFill/>
            </a:ln>
          </p:spPr>
          <p:txBody>
            <a:bodyPr rtlCol="0" anchor="ctr"/>
            <a:lstStyle/>
            <a:p>
              <a:pPr algn="ctr"/>
              <a:endParaRPr/>
            </a:p>
          </p:txBody>
        </p:sp>
        <p:sp>
          <p:nvSpPr>
            <p:cNvPr id="57" name="padlock keyhole"/>
            <p:cNvSpPr/>
            <p:nvPr/>
          </p:nvSpPr>
          <p:spPr>
            <a:xfrm>
              <a:off x="6871716" y="2029968"/>
              <a:ext cx="64008" cy="64008"/>
            </a:xfrm>
            <a:prstGeom prst="ellipse">
              <a:avLst/>
            </a:prstGeom>
            <a:solidFill>
              <a:srgbClr val="101418"/>
            </a:solidFill>
            <a:ln>
              <a:noFill/>
            </a:ln>
          </p:spPr>
          <p:txBody>
            <a:bodyPr rtlCol="0" anchor="ctr"/>
            <a:lstStyle/>
            <a:p>
              <a:pPr algn="ctr"/>
              <a:endParaRPr/>
            </a:p>
          </p:txBody>
        </p:sp>
        <p:sp>
          <p:nvSpPr>
            <p:cNvPr id="58" name="padlock keyhole slot"/>
            <p:cNvSpPr/>
            <p:nvPr/>
          </p:nvSpPr>
          <p:spPr>
            <a:xfrm>
              <a:off x="6890004" y="2075688"/>
              <a:ext cx="27432" cy="91440"/>
            </a:xfrm>
            <a:prstGeom prst="rect">
              <a:avLst/>
            </a:prstGeom>
            <a:solidFill>
              <a:srgbClr val="101418"/>
            </a:solidFill>
            <a:ln>
              <a:noFill/>
            </a:ln>
          </p:spPr>
          <p:txBody>
            <a:bodyPr rtlCol="0" anchor="ctr"/>
            <a:lstStyle/>
            <a:p>
              <a:pPr algn="ctr"/>
              <a:endParaRPr/>
            </a:p>
          </p:txBody>
        </p:sp>
        <p:sp>
          <p:nvSpPr>
            <p:cNvPr id="59" name="tag label"/>
            <p:cNvSpPr txBox="1"/>
            <p:nvPr/>
          </p:nvSpPr>
          <p:spPr>
            <a:xfrm>
              <a:off x="7315200" y="1508760"/>
              <a:ext cx="2834640" cy="914400"/>
            </a:xfrm>
            <a:prstGeom prst="rect">
              <a:avLst/>
            </a:prstGeom>
            <a:noFill/>
          </p:spPr>
          <p:txBody>
            <a:bodyPr wrap="square" lIns="18288" tIns="9144" rIns="18288" bIns="9144" anchor="ctr">
              <a:noAutofit/>
            </a:bodyPr>
            <a:lstStyle/>
            <a:p>
              <a:pPr algn="l"/>
              <a:r>
                <a:rPr lang="en-GB" sz="2000" b="1" i="0">
                  <a:solidFill>
                    <a:srgbClr val="F2F2F2"/>
                  </a:solidFill>
                  <a:latin typeface="Arial"/>
                </a:rPr>
                <a:t>Fleet ID: hidden</a:t>
              </a:r>
            </a:p>
          </p:txBody>
        </p:sp>
        <p:cxnSp>
          <p:nvCxnSpPr>
            <p:cNvPr id="60" name="tether"/>
            <p:cNvCxnSpPr/>
            <p:nvPr/>
          </p:nvCxnSpPr>
          <p:spPr>
            <a:xfrm flipV="1">
              <a:off x="5486400" y="2011680"/>
              <a:ext cx="914400" cy="274320"/>
            </a:xfrm>
            <a:prstGeom prst="line">
              <a:avLst/>
            </a:prstGeom>
            <a:ln w="25400">
              <a:solidFill>
                <a:srgbClr val="A9B0B8"/>
              </a:solidFill>
              <a:prstDash val="dash"/>
            </a:ln>
          </p:spPr>
        </p:cxnSp>
        <p:sp>
          <p:nvSpPr>
            <p:cNvPr id="61" name="id pillar"/>
            <p:cNvSpPr/>
            <p:nvPr/>
          </p:nvSpPr>
          <p:spPr>
            <a:xfrm>
              <a:off x="640080" y="3566160"/>
              <a:ext cx="1554480" cy="1920240"/>
            </a:xfrm>
            <a:prstGeom prst="roundRect">
              <a:avLst>
                <a:gd name="adj" fmla="val 11764"/>
              </a:avLst>
            </a:prstGeom>
            <a:solidFill>
              <a:srgbClr val="343A43"/>
            </a:solidFill>
            <a:ln w="25400">
              <a:solidFill>
                <a:srgbClr val="A9B0B8"/>
              </a:solidFill>
              <a:prstDash val="dash"/>
            </a:ln>
          </p:spPr>
          <p:txBody>
            <a:bodyPr rtlCol="0" anchor="ctr"/>
            <a:lstStyle/>
            <a:p>
              <a:pPr algn="ctr"/>
              <a:endParaRPr/>
            </a:p>
          </p:txBody>
        </p:sp>
        <p:sp>
          <p:nvSpPr>
            <p:cNvPr id="62" name="padlock shackle"/>
            <p:cNvSpPr/>
            <p:nvPr/>
          </p:nvSpPr>
          <p:spPr>
            <a:xfrm>
              <a:off x="1247241" y="3926433"/>
              <a:ext cx="340157" cy="197511"/>
            </a:xfrm>
            <a:custGeom>
              <a:avLst/>
              <a:gdLst/>
              <a:ahLst/>
              <a:cxnLst/>
              <a:rect l="l" t="t" r="r" b="b"/>
              <a:pathLst>
                <a:path w="340157" h="197511">
                  <a:moveTo>
                    <a:pt x="0" y="197511"/>
                  </a:moveTo>
                  <a:lnTo>
                    <a:pt x="0" y="170079"/>
                  </a:lnTo>
                  <a:lnTo>
                    <a:pt x="4264" y="132232"/>
                  </a:lnTo>
                  <a:lnTo>
                    <a:pt x="16843" y="96284"/>
                  </a:lnTo>
                  <a:lnTo>
                    <a:pt x="37106" y="64036"/>
                  </a:lnTo>
                  <a:lnTo>
                    <a:pt x="64036" y="37106"/>
                  </a:lnTo>
                  <a:lnTo>
                    <a:pt x="96284" y="16843"/>
                  </a:lnTo>
                  <a:lnTo>
                    <a:pt x="132232" y="4264"/>
                  </a:lnTo>
                  <a:lnTo>
                    <a:pt x="170078" y="0"/>
                  </a:lnTo>
                  <a:lnTo>
                    <a:pt x="207925" y="4264"/>
                  </a:lnTo>
                  <a:lnTo>
                    <a:pt x="243873" y="16843"/>
                  </a:lnTo>
                  <a:lnTo>
                    <a:pt x="276121" y="37106"/>
                  </a:lnTo>
                  <a:lnTo>
                    <a:pt x="303051" y="64036"/>
                  </a:lnTo>
                  <a:lnTo>
                    <a:pt x="323314" y="96284"/>
                  </a:lnTo>
                  <a:lnTo>
                    <a:pt x="335893" y="132232"/>
                  </a:lnTo>
                  <a:lnTo>
                    <a:pt x="340157" y="170079"/>
                  </a:lnTo>
                  <a:lnTo>
                    <a:pt x="340157" y="197511"/>
                  </a:lnTo>
                </a:path>
              </a:pathLst>
            </a:custGeom>
            <a:noFill/>
            <a:ln w="38100">
              <a:solidFill>
                <a:srgbClr val="F2C14E"/>
              </a:solidFill>
            </a:ln>
          </p:spPr>
          <p:txBody>
            <a:bodyPr rtlCol="0" anchor="ctr"/>
            <a:lstStyle/>
            <a:p>
              <a:pPr algn="ctr"/>
              <a:endParaRPr/>
            </a:p>
          </p:txBody>
        </p:sp>
        <p:sp>
          <p:nvSpPr>
            <p:cNvPr id="63" name="padlock body"/>
            <p:cNvSpPr/>
            <p:nvPr/>
          </p:nvSpPr>
          <p:spPr>
            <a:xfrm>
              <a:off x="1143000" y="4096512"/>
              <a:ext cx="548640" cy="438912"/>
            </a:xfrm>
            <a:prstGeom prst="roundRect">
              <a:avLst>
                <a:gd name="adj" fmla="val 6250"/>
              </a:avLst>
            </a:prstGeom>
            <a:solidFill>
              <a:srgbClr val="F2C14E"/>
            </a:solidFill>
            <a:ln>
              <a:noFill/>
            </a:ln>
          </p:spPr>
          <p:txBody>
            <a:bodyPr rtlCol="0" anchor="ctr"/>
            <a:lstStyle/>
            <a:p>
              <a:pPr algn="ctr"/>
              <a:endParaRPr/>
            </a:p>
          </p:txBody>
        </p:sp>
        <p:sp>
          <p:nvSpPr>
            <p:cNvPr id="64" name="padlock keyhole"/>
            <p:cNvSpPr/>
            <p:nvPr/>
          </p:nvSpPr>
          <p:spPr>
            <a:xfrm>
              <a:off x="1378915" y="4233672"/>
              <a:ext cx="76809" cy="76809"/>
            </a:xfrm>
            <a:prstGeom prst="ellipse">
              <a:avLst/>
            </a:prstGeom>
            <a:solidFill>
              <a:srgbClr val="101418"/>
            </a:solidFill>
            <a:ln>
              <a:noFill/>
            </a:ln>
          </p:spPr>
          <p:txBody>
            <a:bodyPr rtlCol="0" anchor="ctr"/>
            <a:lstStyle/>
            <a:p>
              <a:pPr algn="ctr"/>
              <a:endParaRPr/>
            </a:p>
          </p:txBody>
        </p:sp>
        <p:sp>
          <p:nvSpPr>
            <p:cNvPr id="65" name="padlock keyhole slot"/>
            <p:cNvSpPr/>
            <p:nvPr/>
          </p:nvSpPr>
          <p:spPr>
            <a:xfrm>
              <a:off x="1400860" y="4288536"/>
              <a:ext cx="32918" cy="109728"/>
            </a:xfrm>
            <a:prstGeom prst="rect">
              <a:avLst/>
            </a:prstGeom>
            <a:solidFill>
              <a:srgbClr val="101418"/>
            </a:solidFill>
            <a:ln>
              <a:noFill/>
            </a:ln>
          </p:spPr>
          <p:txBody>
            <a:bodyPr rtlCol="0" anchor="ctr"/>
            <a:lstStyle/>
            <a:p>
              <a:pPr algn="ctr"/>
              <a:endParaRPr/>
            </a:p>
          </p:txBody>
        </p:sp>
        <p:sp>
          <p:nvSpPr>
            <p:cNvPr id="66" name="pillar label"/>
            <p:cNvSpPr txBox="1"/>
            <p:nvPr/>
          </p:nvSpPr>
          <p:spPr>
            <a:xfrm>
              <a:off x="640080" y="4663440"/>
              <a:ext cx="1554480" cy="457200"/>
            </a:xfrm>
            <a:prstGeom prst="rect">
              <a:avLst/>
            </a:prstGeom>
            <a:noFill/>
          </p:spPr>
          <p:txBody>
            <a:bodyPr wrap="square" lIns="18288" tIns="9144" rIns="18288" bIns="9144" anchor="ctr">
              <a:noAutofit/>
            </a:bodyPr>
            <a:lstStyle/>
            <a:p>
              <a:pPr algn="ctr"/>
              <a:r>
                <a:rPr lang="en-GB" sz="1800" b="1" i="0">
                  <a:solidFill>
                    <a:srgbClr val="F2F2F2"/>
                  </a:solidFill>
                  <a:latin typeface="Arial"/>
                </a:rPr>
                <a:t>Fleet ID</a:t>
              </a:r>
            </a:p>
          </p:txBody>
        </p:sp>
        <p:sp>
          <p:nvSpPr>
            <p:cNvPr id="67" name="id pillar"/>
            <p:cNvSpPr/>
            <p:nvPr/>
          </p:nvSpPr>
          <p:spPr>
            <a:xfrm>
              <a:off x="10058400" y="3566160"/>
              <a:ext cx="1554480" cy="1920240"/>
            </a:xfrm>
            <a:prstGeom prst="roundRect">
              <a:avLst>
                <a:gd name="adj" fmla="val 11764"/>
              </a:avLst>
            </a:prstGeom>
            <a:solidFill>
              <a:srgbClr val="343A43"/>
            </a:solidFill>
            <a:ln w="25400">
              <a:solidFill>
                <a:srgbClr val="A9B0B8"/>
              </a:solidFill>
              <a:prstDash val="dash"/>
            </a:ln>
          </p:spPr>
          <p:txBody>
            <a:bodyPr rtlCol="0" anchor="ctr"/>
            <a:lstStyle/>
            <a:p>
              <a:pPr algn="ctr"/>
              <a:endParaRPr/>
            </a:p>
          </p:txBody>
        </p:sp>
        <p:sp>
          <p:nvSpPr>
            <p:cNvPr id="68" name="padlock shackle"/>
            <p:cNvSpPr/>
            <p:nvPr/>
          </p:nvSpPr>
          <p:spPr>
            <a:xfrm>
              <a:off x="10665561" y="3926433"/>
              <a:ext cx="340157" cy="197511"/>
            </a:xfrm>
            <a:custGeom>
              <a:avLst/>
              <a:gdLst/>
              <a:ahLst/>
              <a:cxnLst/>
              <a:rect l="l" t="t" r="r" b="b"/>
              <a:pathLst>
                <a:path w="340157" h="197511">
                  <a:moveTo>
                    <a:pt x="0" y="197511"/>
                  </a:moveTo>
                  <a:lnTo>
                    <a:pt x="0" y="170079"/>
                  </a:lnTo>
                  <a:lnTo>
                    <a:pt x="4264" y="132232"/>
                  </a:lnTo>
                  <a:lnTo>
                    <a:pt x="16843" y="96284"/>
                  </a:lnTo>
                  <a:lnTo>
                    <a:pt x="37106" y="64036"/>
                  </a:lnTo>
                  <a:lnTo>
                    <a:pt x="64036" y="37106"/>
                  </a:lnTo>
                  <a:lnTo>
                    <a:pt x="96284" y="16843"/>
                  </a:lnTo>
                  <a:lnTo>
                    <a:pt x="132232" y="4264"/>
                  </a:lnTo>
                  <a:lnTo>
                    <a:pt x="170079" y="0"/>
                  </a:lnTo>
                  <a:lnTo>
                    <a:pt x="207925" y="4264"/>
                  </a:lnTo>
                  <a:lnTo>
                    <a:pt x="243873" y="16843"/>
                  </a:lnTo>
                  <a:lnTo>
                    <a:pt x="276121" y="37106"/>
                  </a:lnTo>
                  <a:lnTo>
                    <a:pt x="303051" y="64036"/>
                  </a:lnTo>
                  <a:lnTo>
                    <a:pt x="323314" y="96284"/>
                  </a:lnTo>
                  <a:lnTo>
                    <a:pt x="335893" y="132232"/>
                  </a:lnTo>
                  <a:lnTo>
                    <a:pt x="340157" y="170079"/>
                  </a:lnTo>
                  <a:lnTo>
                    <a:pt x="340157" y="197511"/>
                  </a:lnTo>
                </a:path>
              </a:pathLst>
            </a:custGeom>
            <a:noFill/>
            <a:ln w="38100">
              <a:solidFill>
                <a:srgbClr val="F2C14E"/>
              </a:solidFill>
            </a:ln>
          </p:spPr>
          <p:txBody>
            <a:bodyPr rtlCol="0" anchor="ctr"/>
            <a:lstStyle/>
            <a:p>
              <a:pPr algn="ctr"/>
              <a:endParaRPr/>
            </a:p>
          </p:txBody>
        </p:sp>
        <p:sp>
          <p:nvSpPr>
            <p:cNvPr id="69" name="padlock body"/>
            <p:cNvSpPr/>
            <p:nvPr/>
          </p:nvSpPr>
          <p:spPr>
            <a:xfrm>
              <a:off x="10561320" y="4096512"/>
              <a:ext cx="548640" cy="438912"/>
            </a:xfrm>
            <a:prstGeom prst="roundRect">
              <a:avLst>
                <a:gd name="adj" fmla="val 6250"/>
              </a:avLst>
            </a:prstGeom>
            <a:solidFill>
              <a:srgbClr val="F2C14E"/>
            </a:solidFill>
            <a:ln>
              <a:noFill/>
            </a:ln>
          </p:spPr>
          <p:txBody>
            <a:bodyPr rtlCol="0" anchor="ctr"/>
            <a:lstStyle/>
            <a:p>
              <a:pPr algn="ctr"/>
              <a:endParaRPr/>
            </a:p>
          </p:txBody>
        </p:sp>
        <p:sp>
          <p:nvSpPr>
            <p:cNvPr id="70" name="padlock keyhole"/>
            <p:cNvSpPr/>
            <p:nvPr/>
          </p:nvSpPr>
          <p:spPr>
            <a:xfrm>
              <a:off x="10797235" y="4233672"/>
              <a:ext cx="76809" cy="76809"/>
            </a:xfrm>
            <a:prstGeom prst="ellipse">
              <a:avLst/>
            </a:prstGeom>
            <a:solidFill>
              <a:srgbClr val="101418"/>
            </a:solidFill>
            <a:ln>
              <a:noFill/>
            </a:ln>
          </p:spPr>
          <p:txBody>
            <a:bodyPr rtlCol="0" anchor="ctr"/>
            <a:lstStyle/>
            <a:p>
              <a:pPr algn="ctr"/>
              <a:endParaRPr/>
            </a:p>
          </p:txBody>
        </p:sp>
        <p:sp>
          <p:nvSpPr>
            <p:cNvPr id="71" name="padlock keyhole slot"/>
            <p:cNvSpPr/>
            <p:nvPr/>
          </p:nvSpPr>
          <p:spPr>
            <a:xfrm>
              <a:off x="10819180" y="4288536"/>
              <a:ext cx="32918" cy="109728"/>
            </a:xfrm>
            <a:prstGeom prst="rect">
              <a:avLst/>
            </a:prstGeom>
            <a:solidFill>
              <a:srgbClr val="101418"/>
            </a:solidFill>
            <a:ln>
              <a:noFill/>
            </a:ln>
          </p:spPr>
          <p:txBody>
            <a:bodyPr rtlCol="0" anchor="ctr"/>
            <a:lstStyle/>
            <a:p>
              <a:pPr algn="ctr"/>
              <a:endParaRPr/>
            </a:p>
          </p:txBody>
        </p:sp>
        <p:sp>
          <p:nvSpPr>
            <p:cNvPr id="72" name="pillar label"/>
            <p:cNvSpPr txBox="1"/>
            <p:nvPr/>
          </p:nvSpPr>
          <p:spPr>
            <a:xfrm>
              <a:off x="10058400" y="4663440"/>
              <a:ext cx="1554480" cy="457200"/>
            </a:xfrm>
            <a:prstGeom prst="rect">
              <a:avLst/>
            </a:prstGeom>
            <a:noFill/>
          </p:spPr>
          <p:txBody>
            <a:bodyPr wrap="square" lIns="18288" tIns="9144" rIns="18288" bIns="9144" anchor="ctr">
              <a:noAutofit/>
            </a:bodyPr>
            <a:lstStyle/>
            <a:p>
              <a:pPr algn="ctr"/>
              <a:r>
                <a:rPr lang="en-GB" sz="1800" b="1" i="0">
                  <a:solidFill>
                    <a:srgbClr val="F2F2F2"/>
                  </a:solidFill>
                  <a:latin typeface="Arial"/>
                </a:rPr>
                <a:t>Fleet ID</a:t>
              </a:r>
            </a:p>
          </p:txBody>
        </p:sp>
        <p:cxnSp>
          <p:nvCxnSpPr>
            <p:cNvPr id="73" name="pass-through arrow"/>
            <p:cNvCxnSpPr/>
            <p:nvPr/>
          </p:nvCxnSpPr>
          <p:spPr>
            <a:xfrm>
              <a:off x="2331720" y="4160520"/>
              <a:ext cx="7589520" cy="0"/>
            </a:xfrm>
            <a:prstGeom prst="line">
              <a:avLst/>
            </a:prstGeom>
            <a:ln w="38100">
              <a:solidFill>
                <a:srgbClr val="F28C28"/>
              </a:solidFill>
              <a:tailEnd type="triangle" w="med" len="med"/>
            </a:ln>
          </p:spPr>
        </p:cxnSp>
        <p:sp>
          <p:nvSpPr>
            <p:cNvPr id="74" name="arrow label"/>
            <p:cNvSpPr txBox="1"/>
            <p:nvPr/>
          </p:nvSpPr>
          <p:spPr>
            <a:xfrm>
              <a:off x="4480560" y="3794759"/>
              <a:ext cx="3291840" cy="329184"/>
            </a:xfrm>
            <a:prstGeom prst="rect">
              <a:avLst/>
            </a:prstGeom>
            <a:noFill/>
          </p:spPr>
          <p:txBody>
            <a:bodyPr wrap="square" lIns="18288" tIns="9144" rIns="18288" bIns="9144" anchor="ctr">
              <a:noAutofit/>
            </a:bodyPr>
            <a:lstStyle/>
            <a:p>
              <a:pPr algn="ctr"/>
              <a:r>
                <a:rPr lang="en-GB" sz="2000" b="1" i="0">
                  <a:solidFill>
                    <a:srgbClr val="F2F2F2"/>
                  </a:solidFill>
                  <a:latin typeface="Arial"/>
                </a:rPr>
                <a:t>Repaint</a:t>
              </a:r>
            </a:p>
          </p:txBody>
        </p:sp>
        <p:cxnSp>
          <p:nvCxnSpPr>
            <p:cNvPr id="75" name="pass-through arrow"/>
            <p:cNvCxnSpPr/>
            <p:nvPr/>
          </p:nvCxnSpPr>
          <p:spPr>
            <a:xfrm>
              <a:off x="2331720" y="4800600"/>
              <a:ext cx="7589520" cy="0"/>
            </a:xfrm>
            <a:prstGeom prst="line">
              <a:avLst/>
            </a:prstGeom>
            <a:ln w="38100">
              <a:solidFill>
                <a:srgbClr val="F28C28"/>
              </a:solidFill>
              <a:tailEnd type="triangle" w="med" len="med"/>
            </a:ln>
          </p:spPr>
        </p:cxnSp>
        <p:sp>
          <p:nvSpPr>
            <p:cNvPr id="76" name="arrow label"/>
            <p:cNvSpPr txBox="1"/>
            <p:nvPr/>
          </p:nvSpPr>
          <p:spPr>
            <a:xfrm>
              <a:off x="4480560" y="4434840"/>
              <a:ext cx="3291840" cy="329184"/>
            </a:xfrm>
            <a:prstGeom prst="rect">
              <a:avLst/>
            </a:prstGeom>
            <a:noFill/>
          </p:spPr>
          <p:txBody>
            <a:bodyPr wrap="square" lIns="18288" tIns="9144" rIns="18288" bIns="9144" anchor="ctr">
              <a:noAutofit/>
            </a:bodyPr>
            <a:lstStyle/>
            <a:p>
              <a:pPr algn="ctr"/>
              <a:r>
                <a:rPr lang="en-GB" sz="2000" b="1" i="0">
                  <a:solidFill>
                    <a:srgbClr val="F2F2F2"/>
                  </a:solidFill>
                  <a:latin typeface="Arial"/>
                </a:rPr>
                <a:t>Change region</a:t>
              </a:r>
            </a:p>
          </p:txBody>
        </p:sp>
        <p:cxnSp>
          <p:nvCxnSpPr>
            <p:cNvPr id="77" name="pass-through arrow"/>
            <p:cNvCxnSpPr/>
            <p:nvPr/>
          </p:nvCxnSpPr>
          <p:spPr>
            <a:xfrm>
              <a:off x="2331720" y="5440679"/>
              <a:ext cx="7589520" cy="0"/>
            </a:xfrm>
            <a:prstGeom prst="line">
              <a:avLst/>
            </a:prstGeom>
            <a:ln w="38100">
              <a:solidFill>
                <a:srgbClr val="F28C28"/>
              </a:solidFill>
              <a:tailEnd type="triangle" w="med" len="med"/>
            </a:ln>
          </p:spPr>
        </p:cxnSp>
        <p:sp>
          <p:nvSpPr>
            <p:cNvPr id="78" name="arrow label"/>
            <p:cNvSpPr txBox="1"/>
            <p:nvPr/>
          </p:nvSpPr>
          <p:spPr>
            <a:xfrm>
              <a:off x="4480560" y="5074919"/>
              <a:ext cx="3291840" cy="329184"/>
            </a:xfrm>
            <a:prstGeom prst="rect">
              <a:avLst/>
            </a:prstGeom>
            <a:noFill/>
          </p:spPr>
          <p:txBody>
            <a:bodyPr wrap="square" lIns="18288" tIns="9144" rIns="18288" bIns="9144" anchor="ctr">
              <a:noAutofit/>
            </a:bodyPr>
            <a:lstStyle/>
            <a:p>
              <a:pPr algn="ctr"/>
              <a:r>
                <a:rPr lang="en-GB" sz="2000" b="1" i="0">
                  <a:solidFill>
                    <a:srgbClr val="F2F2F2"/>
                  </a:solidFill>
                  <a:latin typeface="Arial"/>
                </a:rPr>
                <a:t>Renumber</a:t>
              </a:r>
            </a:p>
          </p:txBody>
        </p:sp>
      </p:grpSp>
      <p:sp>
        <p:nvSpPr>
          <p:cNvPr id="79" name="ICHIP"/>
          <p:cNvSpPr/>
          <p:nvPr/>
        </p:nvSpPr>
        <p:spPr>
          <a:xfrm>
            <a:off x="6400800" y="2651760"/>
            <a:ext cx="3442676"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Where it is stored: undecided (OQ28)</a:t>
            </a:r>
          </a:p>
        </p:txBody>
      </p:sp>
      <p:sp>
        <p:nvSpPr>
          <p:cNvPr id="8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81"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82"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Every engine has a hidden permanent ID. Its visible number can change.</a:t>
            </a:r>
          </a:p>
        </p:txBody>
      </p:sp>
      <p:sp>
        <p:nvSpPr>
          <p:cNvPr id="83"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12</a:t>
            </a:r>
          </a:p>
        </p:txBody>
      </p:sp>
    </p:spTree>
    <p:extLst>
      <p:ext uri="{BB962C8B-B14F-4D97-AF65-F5344CB8AC3E}">
        <p14:creationId xmlns:p14="http://schemas.microsoft.com/office/powerpoint/2010/main" val="18098349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9"/>
                                        </p:tgtEl>
                                        <p:attrNameLst>
                                          <p:attrName>style.visibility</p:attrName>
                                        </p:attrNameLst>
                                      </p:cBhvr>
                                      <p:to>
                                        <p:strVal val="visible"/>
                                      </p:to>
                                    </p:set>
                                    <p:animEffect transition="in" filter="fade">
                                      <p:cBhvr>
                                        <p:cTn id="10" dur="500"/>
                                        <p:tgtEl>
                                          <p:spTgt spid="79"/>
                                        </p:tgtEl>
                                      </p:cBhvr>
                                    </p:animEffect>
                                  </p:childTnLst>
                                </p:cTn>
                              </p:par>
                              <p:par>
                                <p:cTn id="11" presetID="10" presetClass="entr" presetSubtype="0" fill="hold" nodeType="withEffect">
                                  <p:stCondLst>
                                    <p:cond delay="600"/>
                                  </p:stCondLst>
                                  <p:childTnLst>
                                    <p:set>
                                      <p:cBhvr>
                                        <p:cTn id="12" dur="1" fill="hold">
                                          <p:stCondLst>
                                            <p:cond delay="0"/>
                                          </p:stCondLst>
                                        </p:cTn>
                                        <p:tgtEl>
                                          <p:spTgt spid="80"/>
                                        </p:tgtEl>
                                        <p:attrNameLst>
                                          <p:attrName>style.visibility</p:attrName>
                                        </p:attrNameLst>
                                      </p:cBhvr>
                                      <p:to>
                                        <p:strVal val="visible"/>
                                      </p:to>
                                    </p:set>
                                    <p:animEffect transition="in" filter="fade">
                                      <p:cBhvr>
                                        <p:cTn id="13" dur="500"/>
                                        <p:tgtEl>
                                          <p:spTgt spid="80"/>
                                        </p:tgtEl>
                                      </p:cBhvr>
                                    </p:animEffect>
                                  </p:childTnLst>
                                </p:cTn>
                              </p:par>
                              <p:par>
                                <p:cTn id="14" presetID="10" presetClass="entr" presetSubtype="0" fill="hold" nodeType="withEffect">
                                  <p:stCondLst>
                                    <p:cond delay="900"/>
                                  </p:stCondLst>
                                  <p:childTnLst>
                                    <p:set>
                                      <p:cBhvr>
                                        <p:cTn id="15" dur="1" fill="hold">
                                          <p:stCondLst>
                                            <p:cond delay="0"/>
                                          </p:stCondLst>
                                        </p:cTn>
                                        <p:tgtEl>
                                          <p:spTgt spid="81"/>
                                        </p:tgtEl>
                                        <p:attrNameLst>
                                          <p:attrName>style.visibility</p:attrName>
                                        </p:attrNameLst>
                                      </p:cBhvr>
                                      <p:to>
                                        <p:strVal val="visible"/>
                                      </p:to>
                                    </p:set>
                                    <p:animEffect transition="in" filter="fade">
                                      <p:cBhvr>
                                        <p:cTn id="16" dur="500"/>
                                        <p:tgtEl>
                                          <p:spTgt spid="81"/>
                                        </p:tgtEl>
                                      </p:cBhvr>
                                    </p:animEffect>
                                  </p:childTnLst>
                                </p:cTn>
                              </p:par>
                              <p:par>
                                <p:cTn id="17" presetID="10" presetClass="entr" presetSubtype="0" fill="hold" nodeType="withEffect">
                                  <p:stCondLst>
                                    <p:cond delay="1200"/>
                                  </p:stCondLst>
                                  <p:childTnLst>
                                    <p:set>
                                      <p:cBhvr>
                                        <p:cTn id="18" dur="1" fill="hold">
                                          <p:stCondLst>
                                            <p:cond delay="0"/>
                                          </p:stCondLst>
                                        </p:cTn>
                                        <p:tgtEl>
                                          <p:spTgt spid="82"/>
                                        </p:tgtEl>
                                        <p:attrNameLst>
                                          <p:attrName>style.visibility</p:attrName>
                                        </p:attrNameLst>
                                      </p:cBhvr>
                                      <p:to>
                                        <p:strVal val="visible"/>
                                      </p:to>
                                    </p:set>
                                    <p:animEffect transition="in" filter="fade">
                                      <p:cBhvr>
                                        <p:cTn id="19"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number after placement</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hree steps to a number" descr="Three steps. First a build hologram with no number. Then the engine is placed. Then the engine shows its number plate."/>
          <p:cNvGrpSpPr/>
          <p:nvPr/>
        </p:nvGrpSpPr>
        <p:grpSpPr>
          <a:xfrm>
            <a:off x="548640" y="1371600"/>
            <a:ext cx="11091672" cy="3977640"/>
            <a:chOff x="548640" y="1371600"/>
            <a:chExt cx="11091672" cy="3977640"/>
          </a:xfrm>
        </p:grpSpPr>
        <p:sp>
          <p:nvSpPr>
            <p:cNvPr id="5" name="step panel"/>
            <p:cNvSpPr/>
            <p:nvPr/>
          </p:nvSpPr>
          <p:spPr>
            <a:xfrm>
              <a:off x="548640" y="1371600"/>
              <a:ext cx="3447288" cy="2926080"/>
            </a:xfrm>
            <a:prstGeom prst="roundRect">
              <a:avLst>
                <a:gd name="adj" fmla="val 3125"/>
              </a:avLst>
            </a:prstGeom>
            <a:solidFill>
              <a:srgbClr val="2B2F36"/>
            </a:solidFill>
            <a:ln w="19050">
              <a:solidFill>
                <a:srgbClr val="4A515B"/>
              </a:solidFill>
            </a:ln>
          </p:spPr>
          <p:txBody>
            <a:bodyPr rtlCol="0" anchor="ctr"/>
            <a:lstStyle/>
            <a:p>
              <a:pPr algn="ctr"/>
              <a:endParaRPr/>
            </a:p>
          </p:txBody>
        </p:sp>
        <p:sp>
          <p:nvSpPr>
            <p:cNvPr id="6" name="step badge"/>
            <p:cNvSpPr/>
            <p:nvPr/>
          </p:nvSpPr>
          <p:spPr>
            <a:xfrm>
              <a:off x="685800" y="1481328"/>
              <a:ext cx="384048" cy="384048"/>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1</a:t>
              </a:r>
            </a:p>
          </p:txBody>
        </p:sp>
        <p:sp>
          <p:nvSpPr>
            <p:cNvPr id="7" name="step label"/>
            <p:cNvSpPr txBox="1"/>
            <p:nvPr/>
          </p:nvSpPr>
          <p:spPr>
            <a:xfrm>
              <a:off x="1170432" y="1463040"/>
              <a:ext cx="2715768" cy="420624"/>
            </a:xfrm>
            <a:prstGeom prst="rect">
              <a:avLst/>
            </a:prstGeom>
            <a:noFill/>
          </p:spPr>
          <p:txBody>
            <a:bodyPr wrap="square" lIns="18288" tIns="9144" rIns="18288" bIns="9144" anchor="ctr">
              <a:noAutofit/>
            </a:bodyPr>
            <a:lstStyle/>
            <a:p>
              <a:pPr algn="l"/>
              <a:r>
                <a:rPr lang="en-GB" sz="1800" b="1" i="0">
                  <a:solidFill>
                    <a:srgbClr val="F2F2F2"/>
                  </a:solidFill>
                  <a:latin typeface="Arial"/>
                </a:rPr>
                <a:t>Hologram: no number</a:t>
              </a:r>
            </a:p>
          </p:txBody>
        </p:sp>
        <p:sp>
          <p:nvSpPr>
            <p:cNvPr id="8" name="rail"/>
            <p:cNvSpPr/>
            <p:nvPr/>
          </p:nvSpPr>
          <p:spPr>
            <a:xfrm>
              <a:off x="731520" y="3657600"/>
              <a:ext cx="3081528" cy="64008"/>
            </a:xfrm>
            <a:prstGeom prst="rect">
              <a:avLst/>
            </a:prstGeom>
            <a:solidFill>
              <a:srgbClr val="9AA0A6"/>
            </a:solidFill>
            <a:ln>
              <a:noFill/>
            </a:ln>
          </p:spPr>
          <p:txBody>
            <a:bodyPr rtlCol="0" anchor="ctr"/>
            <a:lstStyle/>
            <a:p>
              <a:pPr algn="ctr"/>
              <a:endParaRPr/>
            </a:p>
          </p:txBody>
        </p:sp>
        <p:grpSp>
          <p:nvGrpSpPr>
            <p:cNvPr id="9" name="hologram engine" descr="Translucent hologram of an engine, with no number plate."/>
            <p:cNvGrpSpPr/>
            <p:nvPr/>
          </p:nvGrpSpPr>
          <p:grpSpPr>
            <a:xfrm>
              <a:off x="717346" y="2762859"/>
              <a:ext cx="3109874" cy="894741"/>
              <a:chOff x="717346" y="2762859"/>
              <a:chExt cx="3109874" cy="894741"/>
            </a:xfrm>
          </p:grpSpPr>
          <p:sp>
            <p:nvSpPr>
              <p:cNvPr id="10" name="tender frame"/>
              <p:cNvSpPr/>
              <p:nvPr/>
            </p:nvSpPr>
            <p:spPr>
              <a:xfrm>
                <a:off x="717346" y="3405682"/>
                <a:ext cx="712317" cy="78181"/>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11" name="tender body"/>
              <p:cNvSpPr/>
              <p:nvPr/>
            </p:nvSpPr>
            <p:spPr>
              <a:xfrm>
                <a:off x="717346" y="3119018"/>
                <a:ext cx="712317" cy="286664"/>
              </a:xfrm>
              <a:prstGeom prst="roundRect">
                <a:avLst>
                  <a:gd name="adj" fmla="val 3030"/>
                </a:avLst>
              </a:prstGeom>
              <a:solidFill>
                <a:srgbClr val="4DA3FF">
                  <a:alpha val="28000"/>
                </a:srgbClr>
              </a:solidFill>
              <a:ln w="15875">
                <a:solidFill>
                  <a:srgbClr val="4DA3FF"/>
                </a:solidFill>
                <a:prstDash val="dash"/>
              </a:ln>
            </p:spPr>
            <p:txBody>
              <a:bodyPr rtlCol="0" anchor="ctr"/>
              <a:lstStyle/>
              <a:p>
                <a:pPr algn="ctr"/>
                <a:endParaRPr/>
              </a:p>
            </p:txBody>
          </p:sp>
          <p:sp>
            <p:nvSpPr>
              <p:cNvPr id="12" name="tender coal"/>
              <p:cNvSpPr/>
              <p:nvPr/>
            </p:nvSpPr>
            <p:spPr>
              <a:xfrm>
                <a:off x="743407" y="2997403"/>
                <a:ext cx="660197" cy="121615"/>
              </a:xfrm>
              <a:custGeom>
                <a:avLst/>
                <a:gdLst/>
                <a:ahLst/>
                <a:cxnLst/>
                <a:rect l="l" t="t" r="r" b="b"/>
                <a:pathLst>
                  <a:path w="660197" h="121615">
                    <a:moveTo>
                      <a:pt x="0" y="121615"/>
                    </a:moveTo>
                    <a:lnTo>
                      <a:pt x="130302" y="8687"/>
                    </a:lnTo>
                    <a:lnTo>
                      <a:pt x="390906" y="0"/>
                    </a:lnTo>
                    <a:lnTo>
                      <a:pt x="660197" y="121615"/>
                    </a:lnTo>
                    <a:close/>
                  </a:path>
                </a:pathLst>
              </a:custGeom>
              <a:solidFill>
                <a:srgbClr val="4DA3FF">
                  <a:alpha val="28000"/>
                </a:srgbClr>
              </a:solidFill>
              <a:ln w="15875">
                <a:solidFill>
                  <a:srgbClr val="4DA3FF"/>
                </a:solidFill>
                <a:prstDash val="dash"/>
              </a:ln>
            </p:spPr>
            <p:txBody>
              <a:bodyPr rtlCol="0" anchor="ctr"/>
              <a:lstStyle/>
              <a:p>
                <a:pPr algn="ctr"/>
                <a:endParaRPr/>
              </a:p>
            </p:txBody>
          </p:sp>
          <p:sp>
            <p:nvSpPr>
              <p:cNvPr id="13" name="coupling"/>
              <p:cNvSpPr/>
              <p:nvPr/>
            </p:nvSpPr>
            <p:spPr>
              <a:xfrm>
                <a:off x="1429664" y="3301441"/>
                <a:ext cx="60807" cy="26060"/>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14" name="wheel"/>
              <p:cNvSpPr/>
              <p:nvPr/>
            </p:nvSpPr>
            <p:spPr>
              <a:xfrm>
                <a:off x="769467" y="3414369"/>
                <a:ext cx="243230" cy="243230"/>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15" name="hub"/>
              <p:cNvSpPr/>
              <p:nvPr/>
            </p:nvSpPr>
            <p:spPr>
              <a:xfrm>
                <a:off x="859462" y="3504364"/>
                <a:ext cx="63239" cy="63239"/>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16" name="wheel"/>
              <p:cNvSpPr/>
              <p:nvPr/>
            </p:nvSpPr>
            <p:spPr>
              <a:xfrm>
                <a:off x="1134313" y="3414369"/>
                <a:ext cx="243230" cy="243230"/>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17" name="hub"/>
              <p:cNvSpPr/>
              <p:nvPr/>
            </p:nvSpPr>
            <p:spPr>
              <a:xfrm>
                <a:off x="1224308" y="3504364"/>
                <a:ext cx="63239" cy="63239"/>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18" name="frame"/>
              <p:cNvSpPr/>
              <p:nvPr/>
            </p:nvSpPr>
            <p:spPr>
              <a:xfrm>
                <a:off x="1490472" y="3405682"/>
                <a:ext cx="2284628" cy="78181"/>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19" name="cab"/>
              <p:cNvSpPr/>
              <p:nvPr/>
            </p:nvSpPr>
            <p:spPr>
              <a:xfrm>
                <a:off x="1490472" y="2927908"/>
                <a:ext cx="347472" cy="477773"/>
              </a:xfrm>
              <a:prstGeom prst="roundRect">
                <a:avLst>
                  <a:gd name="adj" fmla="val 2500"/>
                </a:avLst>
              </a:prstGeom>
              <a:solidFill>
                <a:srgbClr val="4DA3FF">
                  <a:alpha val="28000"/>
                </a:srgbClr>
              </a:solidFill>
              <a:ln w="15875">
                <a:solidFill>
                  <a:srgbClr val="4DA3FF"/>
                </a:solidFill>
                <a:prstDash val="dash"/>
              </a:ln>
            </p:spPr>
            <p:txBody>
              <a:bodyPr rtlCol="0" anchor="ctr"/>
              <a:lstStyle/>
              <a:p>
                <a:pPr algn="ctr"/>
                <a:endParaRPr/>
              </a:p>
            </p:txBody>
          </p:sp>
          <p:sp>
            <p:nvSpPr>
              <p:cNvPr id="20" name="cab roof"/>
              <p:cNvSpPr/>
              <p:nvPr/>
            </p:nvSpPr>
            <p:spPr>
              <a:xfrm>
                <a:off x="1473098" y="2884474"/>
                <a:ext cx="382219" cy="43434"/>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21" name="cab window"/>
              <p:cNvSpPr/>
              <p:nvPr/>
            </p:nvSpPr>
            <p:spPr>
              <a:xfrm>
                <a:off x="1577340" y="2997403"/>
                <a:ext cx="156362" cy="156362"/>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22" name="boiler"/>
              <p:cNvSpPr/>
              <p:nvPr/>
            </p:nvSpPr>
            <p:spPr>
              <a:xfrm>
                <a:off x="1837943" y="2971342"/>
                <a:ext cx="1763420" cy="347472"/>
              </a:xfrm>
              <a:prstGeom prst="roundRect">
                <a:avLst>
                  <a:gd name="adj" fmla="val 25000"/>
                </a:avLst>
              </a:prstGeom>
              <a:solidFill>
                <a:srgbClr val="4DA3FF">
                  <a:alpha val="28000"/>
                </a:srgbClr>
              </a:solidFill>
              <a:ln w="15875">
                <a:solidFill>
                  <a:srgbClr val="4DA3FF"/>
                </a:solidFill>
                <a:prstDash val="dash"/>
              </a:ln>
            </p:spPr>
            <p:txBody>
              <a:bodyPr rtlCol="0" anchor="ctr"/>
              <a:lstStyle/>
              <a:p>
                <a:pPr algn="ctr"/>
                <a:endParaRPr/>
              </a:p>
            </p:txBody>
          </p:sp>
          <p:sp>
            <p:nvSpPr>
              <p:cNvPr id="23" name="boiler band"/>
              <p:cNvSpPr/>
              <p:nvPr/>
            </p:nvSpPr>
            <p:spPr>
              <a:xfrm>
                <a:off x="2366970" y="2971342"/>
                <a:ext cx="12161" cy="347472"/>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24" name="boiler band"/>
              <p:cNvSpPr/>
              <p:nvPr/>
            </p:nvSpPr>
            <p:spPr>
              <a:xfrm>
                <a:off x="2807825" y="2971342"/>
                <a:ext cx="12161" cy="347472"/>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25" name="boiler band"/>
              <p:cNvSpPr/>
              <p:nvPr/>
            </p:nvSpPr>
            <p:spPr>
              <a:xfrm>
                <a:off x="3248680" y="2971342"/>
                <a:ext cx="12161" cy="347472"/>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26" name="smokebox"/>
              <p:cNvSpPr/>
              <p:nvPr/>
            </p:nvSpPr>
            <p:spPr>
              <a:xfrm>
                <a:off x="3601364" y="2971342"/>
                <a:ext cx="173736" cy="347472"/>
              </a:xfrm>
              <a:prstGeom prst="roundRect">
                <a:avLst>
                  <a:gd name="adj" fmla="val 12000"/>
                </a:avLst>
              </a:prstGeom>
              <a:solidFill>
                <a:srgbClr val="4DA3FF">
                  <a:alpha val="28000"/>
                </a:srgbClr>
              </a:solidFill>
              <a:ln w="15875">
                <a:solidFill>
                  <a:srgbClr val="4DA3FF"/>
                </a:solidFill>
                <a:prstDash val="dash"/>
              </a:ln>
            </p:spPr>
            <p:txBody>
              <a:bodyPr rtlCol="0" anchor="ctr"/>
              <a:lstStyle/>
              <a:p>
                <a:pPr algn="ctr"/>
                <a:endParaRPr/>
              </a:p>
            </p:txBody>
          </p:sp>
          <p:sp>
            <p:nvSpPr>
              <p:cNvPr id="27" name="chimney"/>
              <p:cNvSpPr/>
              <p:nvPr/>
            </p:nvSpPr>
            <p:spPr>
              <a:xfrm>
                <a:off x="3636111" y="2788920"/>
                <a:ext cx="104241" cy="182422"/>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28" name="chimney lip"/>
              <p:cNvSpPr/>
              <p:nvPr/>
            </p:nvSpPr>
            <p:spPr>
              <a:xfrm>
                <a:off x="3610051" y="2762859"/>
                <a:ext cx="156362" cy="43434"/>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29" name="dome"/>
              <p:cNvSpPr/>
              <p:nvPr/>
            </p:nvSpPr>
            <p:spPr>
              <a:xfrm>
                <a:off x="2543312" y="2875788"/>
                <a:ext cx="156362" cy="95554"/>
              </a:xfrm>
              <a:prstGeom prst="roundRect">
                <a:avLst>
                  <a:gd name="adj" fmla="val 36363"/>
                </a:avLst>
              </a:prstGeom>
              <a:solidFill>
                <a:srgbClr val="4DA3FF">
                  <a:alpha val="28000"/>
                </a:srgbClr>
              </a:solidFill>
              <a:ln w="15875">
                <a:solidFill>
                  <a:srgbClr val="4DA3FF"/>
                </a:solidFill>
                <a:prstDash val="dash"/>
              </a:ln>
            </p:spPr>
            <p:txBody>
              <a:bodyPr rtlCol="0" anchor="ctr"/>
              <a:lstStyle/>
              <a:p>
                <a:pPr algn="ctr"/>
                <a:endParaRPr/>
              </a:p>
            </p:txBody>
          </p:sp>
          <p:sp>
            <p:nvSpPr>
              <p:cNvPr id="30" name="wheel"/>
              <p:cNvSpPr/>
              <p:nvPr/>
            </p:nvSpPr>
            <p:spPr>
              <a:xfrm>
                <a:off x="1516532" y="3310128"/>
                <a:ext cx="347472" cy="347472"/>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31" name="hub"/>
              <p:cNvSpPr/>
              <p:nvPr/>
            </p:nvSpPr>
            <p:spPr>
              <a:xfrm>
                <a:off x="1645097" y="3438692"/>
                <a:ext cx="90342" cy="90342"/>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32" name="wheel"/>
              <p:cNvSpPr/>
              <p:nvPr/>
            </p:nvSpPr>
            <p:spPr>
              <a:xfrm>
                <a:off x="1907438" y="3310128"/>
                <a:ext cx="347472" cy="347472"/>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33" name="hub"/>
              <p:cNvSpPr/>
              <p:nvPr/>
            </p:nvSpPr>
            <p:spPr>
              <a:xfrm>
                <a:off x="2036003" y="3438692"/>
                <a:ext cx="90342" cy="90342"/>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34" name="wheel"/>
              <p:cNvSpPr/>
              <p:nvPr/>
            </p:nvSpPr>
            <p:spPr>
              <a:xfrm>
                <a:off x="2298344" y="3310128"/>
                <a:ext cx="347472" cy="347472"/>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35" name="hub"/>
              <p:cNvSpPr/>
              <p:nvPr/>
            </p:nvSpPr>
            <p:spPr>
              <a:xfrm>
                <a:off x="2426909" y="3438692"/>
                <a:ext cx="90342" cy="90342"/>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36" name="wheel"/>
              <p:cNvSpPr/>
              <p:nvPr/>
            </p:nvSpPr>
            <p:spPr>
              <a:xfrm>
                <a:off x="2689250" y="3310128"/>
                <a:ext cx="347472" cy="347472"/>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37" name="hub"/>
              <p:cNvSpPr/>
              <p:nvPr/>
            </p:nvSpPr>
            <p:spPr>
              <a:xfrm>
                <a:off x="2817815" y="3438692"/>
                <a:ext cx="90342" cy="90342"/>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38" name="wheel"/>
              <p:cNvSpPr/>
              <p:nvPr/>
            </p:nvSpPr>
            <p:spPr>
              <a:xfrm>
                <a:off x="3167024" y="3466490"/>
                <a:ext cx="191109" cy="191109"/>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39" name="hub"/>
              <p:cNvSpPr/>
              <p:nvPr/>
            </p:nvSpPr>
            <p:spPr>
              <a:xfrm>
                <a:off x="3237734" y="3537200"/>
                <a:ext cx="49688" cy="49688"/>
              </a:xfrm>
              <a:prstGeom prst="ellipse">
                <a:avLst/>
              </a:prstGeom>
              <a:solidFill>
                <a:srgbClr val="4DA3FF">
                  <a:alpha val="28000"/>
                </a:srgbClr>
              </a:solidFill>
              <a:ln w="15875">
                <a:solidFill>
                  <a:srgbClr val="4DA3FF"/>
                </a:solidFill>
                <a:prstDash val="dash"/>
              </a:ln>
            </p:spPr>
            <p:txBody>
              <a:bodyPr rtlCol="0" anchor="ctr"/>
              <a:lstStyle/>
              <a:p>
                <a:pPr algn="ctr"/>
                <a:endParaRPr/>
              </a:p>
            </p:txBody>
          </p:sp>
          <p:sp>
            <p:nvSpPr>
              <p:cNvPr id="40" name="coupling rod"/>
              <p:cNvSpPr/>
              <p:nvPr/>
            </p:nvSpPr>
            <p:spPr>
              <a:xfrm>
                <a:off x="1690268" y="3384834"/>
                <a:ext cx="1172718" cy="24323"/>
              </a:xfrm>
              <a:prstGeom prst="rect">
                <a:avLst/>
              </a:prstGeom>
              <a:solidFill>
                <a:srgbClr val="4DA3FF">
                  <a:alpha val="28000"/>
                </a:srgbClr>
              </a:solidFill>
              <a:ln w="15875">
                <a:solidFill>
                  <a:srgbClr val="4DA3FF"/>
                </a:solidFill>
                <a:prstDash val="dash"/>
              </a:ln>
            </p:spPr>
            <p:txBody>
              <a:bodyPr rtlCol="0" anchor="ctr"/>
              <a:lstStyle/>
              <a:p>
                <a:pPr algn="ctr"/>
                <a:endParaRPr/>
              </a:p>
            </p:txBody>
          </p:sp>
          <p:sp>
            <p:nvSpPr>
              <p:cNvPr id="41" name="buffer beam"/>
              <p:cNvSpPr/>
              <p:nvPr/>
            </p:nvSpPr>
            <p:spPr>
              <a:xfrm>
                <a:off x="3775100" y="3327501"/>
                <a:ext cx="52120" cy="156362"/>
              </a:xfrm>
              <a:prstGeom prst="rect">
                <a:avLst/>
              </a:prstGeom>
              <a:solidFill>
                <a:srgbClr val="4DA3FF">
                  <a:alpha val="28000"/>
                </a:srgbClr>
              </a:solidFill>
              <a:ln w="15875">
                <a:solidFill>
                  <a:srgbClr val="4DA3FF"/>
                </a:solidFill>
                <a:prstDash val="dash"/>
              </a:ln>
            </p:spPr>
            <p:txBody>
              <a:bodyPr rtlCol="0" anchor="ctr"/>
              <a:lstStyle/>
              <a:p>
                <a:pPr algn="ctr"/>
                <a:endParaRPr/>
              </a:p>
            </p:txBody>
          </p:sp>
        </p:grpSp>
        <p:sp>
          <p:nvSpPr>
            <p:cNvPr id="42" name="step panel"/>
            <p:cNvSpPr/>
            <p:nvPr/>
          </p:nvSpPr>
          <p:spPr>
            <a:xfrm>
              <a:off x="4370832" y="1371600"/>
              <a:ext cx="3447288" cy="2926080"/>
            </a:xfrm>
            <a:prstGeom prst="roundRect">
              <a:avLst>
                <a:gd name="adj" fmla="val 3125"/>
              </a:avLst>
            </a:prstGeom>
            <a:solidFill>
              <a:srgbClr val="2B2F36"/>
            </a:solidFill>
            <a:ln w="19050">
              <a:solidFill>
                <a:srgbClr val="4A515B"/>
              </a:solidFill>
            </a:ln>
          </p:spPr>
          <p:txBody>
            <a:bodyPr rtlCol="0" anchor="ctr"/>
            <a:lstStyle/>
            <a:p>
              <a:pPr algn="ctr"/>
              <a:endParaRPr/>
            </a:p>
          </p:txBody>
        </p:sp>
        <p:sp>
          <p:nvSpPr>
            <p:cNvPr id="43" name="step badge"/>
            <p:cNvSpPr/>
            <p:nvPr/>
          </p:nvSpPr>
          <p:spPr>
            <a:xfrm>
              <a:off x="4507992" y="1481328"/>
              <a:ext cx="384048" cy="384048"/>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2</a:t>
              </a:r>
            </a:p>
          </p:txBody>
        </p:sp>
        <p:sp>
          <p:nvSpPr>
            <p:cNvPr id="44" name="step label"/>
            <p:cNvSpPr txBox="1"/>
            <p:nvPr/>
          </p:nvSpPr>
          <p:spPr>
            <a:xfrm>
              <a:off x="4992624" y="1463040"/>
              <a:ext cx="2715768" cy="420624"/>
            </a:xfrm>
            <a:prstGeom prst="rect">
              <a:avLst/>
            </a:prstGeom>
            <a:noFill/>
          </p:spPr>
          <p:txBody>
            <a:bodyPr wrap="square" lIns="18288" tIns="9144" rIns="18288" bIns="9144" anchor="ctr">
              <a:noAutofit/>
            </a:bodyPr>
            <a:lstStyle/>
            <a:p>
              <a:pPr algn="l"/>
              <a:r>
                <a:rPr lang="en-GB" sz="1800" b="1" i="0">
                  <a:solidFill>
                    <a:srgbClr val="F2F2F2"/>
                  </a:solidFill>
                  <a:latin typeface="Arial"/>
                </a:rPr>
                <a:t>Placed</a:t>
              </a:r>
            </a:p>
          </p:txBody>
        </p:sp>
        <p:sp>
          <p:nvSpPr>
            <p:cNvPr id="45" name="rail"/>
            <p:cNvSpPr/>
            <p:nvPr/>
          </p:nvSpPr>
          <p:spPr>
            <a:xfrm>
              <a:off x="4553712" y="3657600"/>
              <a:ext cx="3081528" cy="64008"/>
            </a:xfrm>
            <a:prstGeom prst="rect">
              <a:avLst/>
            </a:prstGeom>
            <a:solidFill>
              <a:srgbClr val="9AA0A6"/>
            </a:solidFill>
            <a:ln>
              <a:noFill/>
            </a:ln>
          </p:spPr>
          <p:txBody>
            <a:bodyPr rtlCol="0" anchor="ctr"/>
            <a:lstStyle/>
            <a:p>
              <a:pPr algn="ctr"/>
              <a:endParaRPr/>
            </a:p>
          </p:txBody>
        </p:sp>
        <p:sp>
          <p:nvSpPr>
            <p:cNvPr id="46" name="tender frame"/>
            <p:cNvSpPr/>
            <p:nvPr/>
          </p:nvSpPr>
          <p:spPr>
            <a:xfrm>
              <a:off x="4539538" y="3405682"/>
              <a:ext cx="712317" cy="78181"/>
            </a:xfrm>
            <a:prstGeom prst="rect">
              <a:avLst/>
            </a:prstGeom>
            <a:solidFill>
              <a:srgbClr val="3A3F47"/>
            </a:solidFill>
            <a:ln w="9525">
              <a:solidFill>
                <a:srgbClr val="9AA0A6"/>
              </a:solidFill>
            </a:ln>
          </p:spPr>
          <p:txBody>
            <a:bodyPr rtlCol="0" anchor="ctr"/>
            <a:lstStyle/>
            <a:p>
              <a:pPr algn="ctr"/>
              <a:endParaRPr/>
            </a:p>
          </p:txBody>
        </p:sp>
        <p:sp>
          <p:nvSpPr>
            <p:cNvPr id="47" name="tender body"/>
            <p:cNvSpPr/>
            <p:nvPr/>
          </p:nvSpPr>
          <p:spPr>
            <a:xfrm>
              <a:off x="4539538" y="3119018"/>
              <a:ext cx="712317" cy="286664"/>
            </a:xfrm>
            <a:prstGeom prst="roundRect">
              <a:avLst>
                <a:gd name="adj" fmla="val 3030"/>
              </a:avLst>
            </a:prstGeom>
            <a:solidFill>
              <a:srgbClr val="F28C28"/>
            </a:solidFill>
            <a:ln>
              <a:noFill/>
            </a:ln>
          </p:spPr>
          <p:txBody>
            <a:bodyPr rtlCol="0" anchor="ctr"/>
            <a:lstStyle/>
            <a:p>
              <a:pPr algn="ctr"/>
              <a:endParaRPr/>
            </a:p>
          </p:txBody>
        </p:sp>
        <p:sp>
          <p:nvSpPr>
            <p:cNvPr id="48" name="tender coal"/>
            <p:cNvSpPr/>
            <p:nvPr/>
          </p:nvSpPr>
          <p:spPr>
            <a:xfrm>
              <a:off x="4565599" y="2997403"/>
              <a:ext cx="660197" cy="121615"/>
            </a:xfrm>
            <a:custGeom>
              <a:avLst/>
              <a:gdLst/>
              <a:ahLst/>
              <a:cxnLst/>
              <a:rect l="l" t="t" r="r" b="b"/>
              <a:pathLst>
                <a:path w="660197" h="121615">
                  <a:moveTo>
                    <a:pt x="0" y="121615"/>
                  </a:moveTo>
                  <a:lnTo>
                    <a:pt x="130302" y="8687"/>
                  </a:lnTo>
                  <a:lnTo>
                    <a:pt x="390906" y="0"/>
                  </a:lnTo>
                  <a:lnTo>
                    <a:pt x="660197" y="121615"/>
                  </a:lnTo>
                  <a:close/>
                </a:path>
              </a:pathLst>
            </a:custGeom>
            <a:solidFill>
              <a:srgbClr val="1B1D21"/>
            </a:solidFill>
            <a:ln w="12700">
              <a:solidFill>
                <a:srgbClr val="6B7078"/>
              </a:solidFill>
            </a:ln>
          </p:spPr>
          <p:txBody>
            <a:bodyPr rtlCol="0" anchor="ctr"/>
            <a:lstStyle/>
            <a:p>
              <a:pPr algn="ctr"/>
              <a:endParaRPr/>
            </a:p>
          </p:txBody>
        </p:sp>
        <p:sp>
          <p:nvSpPr>
            <p:cNvPr id="49" name="coupling"/>
            <p:cNvSpPr/>
            <p:nvPr/>
          </p:nvSpPr>
          <p:spPr>
            <a:xfrm>
              <a:off x="5251856" y="3301441"/>
              <a:ext cx="60807" cy="26060"/>
            </a:xfrm>
            <a:prstGeom prst="rect">
              <a:avLst/>
            </a:prstGeom>
            <a:solidFill>
              <a:srgbClr val="9AA0A6"/>
            </a:solidFill>
            <a:ln>
              <a:noFill/>
            </a:ln>
          </p:spPr>
          <p:txBody>
            <a:bodyPr rtlCol="0" anchor="ctr"/>
            <a:lstStyle/>
            <a:p>
              <a:pPr algn="ctr"/>
              <a:endParaRPr/>
            </a:p>
          </p:txBody>
        </p:sp>
        <p:sp>
          <p:nvSpPr>
            <p:cNvPr id="50" name="wheel"/>
            <p:cNvSpPr/>
            <p:nvPr/>
          </p:nvSpPr>
          <p:spPr>
            <a:xfrm>
              <a:off x="4591659" y="3414369"/>
              <a:ext cx="243230" cy="243230"/>
            </a:xfrm>
            <a:prstGeom prst="ellipse">
              <a:avLst/>
            </a:prstGeom>
            <a:solidFill>
              <a:srgbClr val="1B1D21"/>
            </a:solidFill>
            <a:ln w="19050">
              <a:solidFill>
                <a:srgbClr val="9AA0A6"/>
              </a:solidFill>
            </a:ln>
          </p:spPr>
          <p:txBody>
            <a:bodyPr rtlCol="0" anchor="ctr"/>
            <a:lstStyle/>
            <a:p>
              <a:pPr algn="ctr"/>
              <a:endParaRPr/>
            </a:p>
          </p:txBody>
        </p:sp>
        <p:sp>
          <p:nvSpPr>
            <p:cNvPr id="51" name="hub"/>
            <p:cNvSpPr/>
            <p:nvPr/>
          </p:nvSpPr>
          <p:spPr>
            <a:xfrm>
              <a:off x="4681654" y="3504364"/>
              <a:ext cx="63239" cy="63239"/>
            </a:xfrm>
            <a:prstGeom prst="ellipse">
              <a:avLst/>
            </a:prstGeom>
            <a:solidFill>
              <a:srgbClr val="9AA0A6"/>
            </a:solidFill>
            <a:ln>
              <a:noFill/>
            </a:ln>
          </p:spPr>
          <p:txBody>
            <a:bodyPr rtlCol="0" anchor="ctr"/>
            <a:lstStyle/>
            <a:p>
              <a:pPr algn="ctr"/>
              <a:endParaRPr/>
            </a:p>
          </p:txBody>
        </p:sp>
        <p:sp>
          <p:nvSpPr>
            <p:cNvPr id="52" name="wheel"/>
            <p:cNvSpPr/>
            <p:nvPr/>
          </p:nvSpPr>
          <p:spPr>
            <a:xfrm>
              <a:off x="4956505" y="3414369"/>
              <a:ext cx="243230" cy="243230"/>
            </a:xfrm>
            <a:prstGeom prst="ellipse">
              <a:avLst/>
            </a:prstGeom>
            <a:solidFill>
              <a:srgbClr val="1B1D21"/>
            </a:solidFill>
            <a:ln w="19050">
              <a:solidFill>
                <a:srgbClr val="9AA0A6"/>
              </a:solidFill>
            </a:ln>
          </p:spPr>
          <p:txBody>
            <a:bodyPr rtlCol="0" anchor="ctr"/>
            <a:lstStyle/>
            <a:p>
              <a:pPr algn="ctr"/>
              <a:endParaRPr/>
            </a:p>
          </p:txBody>
        </p:sp>
        <p:sp>
          <p:nvSpPr>
            <p:cNvPr id="53" name="hub"/>
            <p:cNvSpPr/>
            <p:nvPr/>
          </p:nvSpPr>
          <p:spPr>
            <a:xfrm>
              <a:off x="5046500" y="3504364"/>
              <a:ext cx="63239" cy="63239"/>
            </a:xfrm>
            <a:prstGeom prst="ellipse">
              <a:avLst/>
            </a:prstGeom>
            <a:solidFill>
              <a:srgbClr val="9AA0A6"/>
            </a:solidFill>
            <a:ln>
              <a:noFill/>
            </a:ln>
          </p:spPr>
          <p:txBody>
            <a:bodyPr rtlCol="0" anchor="ctr"/>
            <a:lstStyle/>
            <a:p>
              <a:pPr algn="ctr"/>
              <a:endParaRPr/>
            </a:p>
          </p:txBody>
        </p:sp>
        <p:sp>
          <p:nvSpPr>
            <p:cNvPr id="54" name="frame"/>
            <p:cNvSpPr/>
            <p:nvPr/>
          </p:nvSpPr>
          <p:spPr>
            <a:xfrm>
              <a:off x="5312664" y="3405682"/>
              <a:ext cx="2284628" cy="78181"/>
            </a:xfrm>
            <a:prstGeom prst="rect">
              <a:avLst/>
            </a:prstGeom>
            <a:solidFill>
              <a:srgbClr val="3A3F47"/>
            </a:solidFill>
            <a:ln w="9525">
              <a:solidFill>
                <a:srgbClr val="9AA0A6"/>
              </a:solidFill>
            </a:ln>
          </p:spPr>
          <p:txBody>
            <a:bodyPr rtlCol="0" anchor="ctr"/>
            <a:lstStyle/>
            <a:p>
              <a:pPr algn="ctr"/>
              <a:endParaRPr/>
            </a:p>
          </p:txBody>
        </p:sp>
        <p:sp>
          <p:nvSpPr>
            <p:cNvPr id="55" name="cab"/>
            <p:cNvSpPr/>
            <p:nvPr/>
          </p:nvSpPr>
          <p:spPr>
            <a:xfrm>
              <a:off x="5312664" y="2927908"/>
              <a:ext cx="347472" cy="477773"/>
            </a:xfrm>
            <a:prstGeom prst="roundRect">
              <a:avLst>
                <a:gd name="adj" fmla="val 2500"/>
              </a:avLst>
            </a:prstGeom>
            <a:solidFill>
              <a:srgbClr val="F28C28"/>
            </a:solidFill>
            <a:ln>
              <a:noFill/>
            </a:ln>
          </p:spPr>
          <p:txBody>
            <a:bodyPr rtlCol="0" anchor="ctr"/>
            <a:lstStyle/>
            <a:p>
              <a:pPr algn="ctr"/>
              <a:endParaRPr/>
            </a:p>
          </p:txBody>
        </p:sp>
        <p:sp>
          <p:nvSpPr>
            <p:cNvPr id="56" name="cab roof"/>
            <p:cNvSpPr/>
            <p:nvPr/>
          </p:nvSpPr>
          <p:spPr>
            <a:xfrm>
              <a:off x="5295290" y="2884474"/>
              <a:ext cx="382219" cy="43434"/>
            </a:xfrm>
            <a:prstGeom prst="rect">
              <a:avLst/>
            </a:prstGeom>
            <a:solidFill>
              <a:srgbClr val="3A3F47"/>
            </a:solidFill>
            <a:ln w="9525">
              <a:solidFill>
                <a:srgbClr val="9AA0A6"/>
              </a:solidFill>
            </a:ln>
          </p:spPr>
          <p:txBody>
            <a:bodyPr rtlCol="0" anchor="ctr"/>
            <a:lstStyle/>
            <a:p>
              <a:pPr algn="ctr"/>
              <a:endParaRPr/>
            </a:p>
          </p:txBody>
        </p:sp>
        <p:sp>
          <p:nvSpPr>
            <p:cNvPr id="57" name="cab window"/>
            <p:cNvSpPr/>
            <p:nvPr/>
          </p:nvSpPr>
          <p:spPr>
            <a:xfrm>
              <a:off x="5399532" y="2997403"/>
              <a:ext cx="156362" cy="156362"/>
            </a:xfrm>
            <a:prstGeom prst="rect">
              <a:avLst/>
            </a:prstGeom>
            <a:solidFill>
              <a:srgbClr val="1B1D21"/>
            </a:solidFill>
            <a:ln>
              <a:noFill/>
            </a:ln>
          </p:spPr>
          <p:txBody>
            <a:bodyPr rtlCol="0" anchor="ctr"/>
            <a:lstStyle/>
            <a:p>
              <a:pPr algn="ctr"/>
              <a:endParaRPr/>
            </a:p>
          </p:txBody>
        </p:sp>
        <p:sp>
          <p:nvSpPr>
            <p:cNvPr id="58" name="boiler"/>
            <p:cNvSpPr/>
            <p:nvPr/>
          </p:nvSpPr>
          <p:spPr>
            <a:xfrm>
              <a:off x="5660136" y="2971342"/>
              <a:ext cx="1763420" cy="347472"/>
            </a:xfrm>
            <a:prstGeom prst="roundRect">
              <a:avLst>
                <a:gd name="adj" fmla="val 25000"/>
              </a:avLst>
            </a:prstGeom>
            <a:solidFill>
              <a:srgbClr val="F28C28"/>
            </a:solidFill>
            <a:ln>
              <a:noFill/>
            </a:ln>
          </p:spPr>
          <p:txBody>
            <a:bodyPr rtlCol="0" anchor="ctr"/>
            <a:lstStyle/>
            <a:p>
              <a:pPr algn="ctr"/>
              <a:endParaRPr/>
            </a:p>
          </p:txBody>
        </p:sp>
        <p:sp>
          <p:nvSpPr>
            <p:cNvPr id="59" name="boiler band"/>
            <p:cNvSpPr/>
            <p:nvPr/>
          </p:nvSpPr>
          <p:spPr>
            <a:xfrm>
              <a:off x="6189162" y="2971342"/>
              <a:ext cx="12161" cy="347472"/>
            </a:xfrm>
            <a:prstGeom prst="rect">
              <a:avLst/>
            </a:prstGeom>
            <a:solidFill>
              <a:srgbClr val="AE641C"/>
            </a:solidFill>
            <a:ln>
              <a:noFill/>
            </a:ln>
          </p:spPr>
          <p:txBody>
            <a:bodyPr rtlCol="0" anchor="ctr"/>
            <a:lstStyle/>
            <a:p>
              <a:pPr algn="ctr"/>
              <a:endParaRPr/>
            </a:p>
          </p:txBody>
        </p:sp>
        <p:sp>
          <p:nvSpPr>
            <p:cNvPr id="60" name="boiler band"/>
            <p:cNvSpPr/>
            <p:nvPr/>
          </p:nvSpPr>
          <p:spPr>
            <a:xfrm>
              <a:off x="6630017" y="2971342"/>
              <a:ext cx="12161" cy="347472"/>
            </a:xfrm>
            <a:prstGeom prst="rect">
              <a:avLst/>
            </a:prstGeom>
            <a:solidFill>
              <a:srgbClr val="AE641C"/>
            </a:solidFill>
            <a:ln>
              <a:noFill/>
            </a:ln>
          </p:spPr>
          <p:txBody>
            <a:bodyPr rtlCol="0" anchor="ctr"/>
            <a:lstStyle/>
            <a:p>
              <a:pPr algn="ctr"/>
              <a:endParaRPr/>
            </a:p>
          </p:txBody>
        </p:sp>
        <p:sp>
          <p:nvSpPr>
            <p:cNvPr id="61" name="boiler band"/>
            <p:cNvSpPr/>
            <p:nvPr/>
          </p:nvSpPr>
          <p:spPr>
            <a:xfrm>
              <a:off x="7070872" y="2971342"/>
              <a:ext cx="12161" cy="347472"/>
            </a:xfrm>
            <a:prstGeom prst="rect">
              <a:avLst/>
            </a:prstGeom>
            <a:solidFill>
              <a:srgbClr val="AE641C"/>
            </a:solidFill>
            <a:ln>
              <a:noFill/>
            </a:ln>
          </p:spPr>
          <p:txBody>
            <a:bodyPr rtlCol="0" anchor="ctr"/>
            <a:lstStyle/>
            <a:p>
              <a:pPr algn="ctr"/>
              <a:endParaRPr/>
            </a:p>
          </p:txBody>
        </p:sp>
        <p:sp>
          <p:nvSpPr>
            <p:cNvPr id="62" name="smokebox"/>
            <p:cNvSpPr/>
            <p:nvPr/>
          </p:nvSpPr>
          <p:spPr>
            <a:xfrm>
              <a:off x="7423556" y="2971342"/>
              <a:ext cx="173736" cy="347472"/>
            </a:xfrm>
            <a:prstGeom prst="roundRect">
              <a:avLst>
                <a:gd name="adj" fmla="val 12000"/>
              </a:avLst>
            </a:prstGeom>
            <a:solidFill>
              <a:srgbClr val="4A515B"/>
            </a:solidFill>
            <a:ln>
              <a:noFill/>
            </a:ln>
          </p:spPr>
          <p:txBody>
            <a:bodyPr rtlCol="0" anchor="ctr"/>
            <a:lstStyle/>
            <a:p>
              <a:pPr algn="ctr"/>
              <a:endParaRPr/>
            </a:p>
          </p:txBody>
        </p:sp>
        <p:sp>
          <p:nvSpPr>
            <p:cNvPr id="63" name="chimney"/>
            <p:cNvSpPr/>
            <p:nvPr/>
          </p:nvSpPr>
          <p:spPr>
            <a:xfrm>
              <a:off x="7458303" y="2788920"/>
              <a:ext cx="104241" cy="182422"/>
            </a:xfrm>
            <a:prstGeom prst="rect">
              <a:avLst/>
            </a:prstGeom>
            <a:solidFill>
              <a:srgbClr val="3A3F47"/>
            </a:solidFill>
            <a:ln w="9525">
              <a:solidFill>
                <a:srgbClr val="9AA0A6"/>
              </a:solidFill>
            </a:ln>
          </p:spPr>
          <p:txBody>
            <a:bodyPr rtlCol="0" anchor="ctr"/>
            <a:lstStyle/>
            <a:p>
              <a:pPr algn="ctr"/>
              <a:endParaRPr/>
            </a:p>
          </p:txBody>
        </p:sp>
        <p:sp>
          <p:nvSpPr>
            <p:cNvPr id="64" name="chimney lip"/>
            <p:cNvSpPr/>
            <p:nvPr/>
          </p:nvSpPr>
          <p:spPr>
            <a:xfrm>
              <a:off x="7432243" y="2762859"/>
              <a:ext cx="156362" cy="43434"/>
            </a:xfrm>
            <a:prstGeom prst="rect">
              <a:avLst/>
            </a:prstGeom>
            <a:solidFill>
              <a:srgbClr val="3A3F47"/>
            </a:solidFill>
            <a:ln w="9525">
              <a:solidFill>
                <a:srgbClr val="9AA0A6"/>
              </a:solidFill>
            </a:ln>
          </p:spPr>
          <p:txBody>
            <a:bodyPr rtlCol="0" anchor="ctr"/>
            <a:lstStyle/>
            <a:p>
              <a:pPr algn="ctr"/>
              <a:endParaRPr/>
            </a:p>
          </p:txBody>
        </p:sp>
        <p:sp>
          <p:nvSpPr>
            <p:cNvPr id="65" name="dome"/>
            <p:cNvSpPr/>
            <p:nvPr/>
          </p:nvSpPr>
          <p:spPr>
            <a:xfrm>
              <a:off x="6365504" y="2875788"/>
              <a:ext cx="156362" cy="95554"/>
            </a:xfrm>
            <a:prstGeom prst="roundRect">
              <a:avLst>
                <a:gd name="adj" fmla="val 36363"/>
              </a:avLst>
            </a:prstGeom>
            <a:solidFill>
              <a:srgbClr val="F28C28"/>
            </a:solidFill>
            <a:ln>
              <a:noFill/>
            </a:ln>
          </p:spPr>
          <p:txBody>
            <a:bodyPr rtlCol="0" anchor="ctr"/>
            <a:lstStyle/>
            <a:p>
              <a:pPr algn="ctr"/>
              <a:endParaRPr/>
            </a:p>
          </p:txBody>
        </p:sp>
        <p:sp>
          <p:nvSpPr>
            <p:cNvPr id="66" name="wheel"/>
            <p:cNvSpPr/>
            <p:nvPr/>
          </p:nvSpPr>
          <p:spPr>
            <a:xfrm>
              <a:off x="5338724" y="3310128"/>
              <a:ext cx="347472" cy="347472"/>
            </a:xfrm>
            <a:prstGeom prst="ellipse">
              <a:avLst/>
            </a:prstGeom>
            <a:solidFill>
              <a:srgbClr val="1B1D21"/>
            </a:solidFill>
            <a:ln w="19050">
              <a:solidFill>
                <a:srgbClr val="9AA0A6"/>
              </a:solidFill>
            </a:ln>
          </p:spPr>
          <p:txBody>
            <a:bodyPr rtlCol="0" anchor="ctr"/>
            <a:lstStyle/>
            <a:p>
              <a:pPr algn="ctr"/>
              <a:endParaRPr/>
            </a:p>
          </p:txBody>
        </p:sp>
        <p:sp>
          <p:nvSpPr>
            <p:cNvPr id="67" name="hub"/>
            <p:cNvSpPr/>
            <p:nvPr/>
          </p:nvSpPr>
          <p:spPr>
            <a:xfrm>
              <a:off x="5467289" y="3438692"/>
              <a:ext cx="90342" cy="90342"/>
            </a:xfrm>
            <a:prstGeom prst="ellipse">
              <a:avLst/>
            </a:prstGeom>
            <a:solidFill>
              <a:srgbClr val="9AA0A6"/>
            </a:solidFill>
            <a:ln>
              <a:noFill/>
            </a:ln>
          </p:spPr>
          <p:txBody>
            <a:bodyPr rtlCol="0" anchor="ctr"/>
            <a:lstStyle/>
            <a:p>
              <a:pPr algn="ctr"/>
              <a:endParaRPr/>
            </a:p>
          </p:txBody>
        </p:sp>
        <p:sp>
          <p:nvSpPr>
            <p:cNvPr id="68" name="wheel"/>
            <p:cNvSpPr/>
            <p:nvPr/>
          </p:nvSpPr>
          <p:spPr>
            <a:xfrm>
              <a:off x="5729630" y="3310128"/>
              <a:ext cx="347472" cy="347472"/>
            </a:xfrm>
            <a:prstGeom prst="ellipse">
              <a:avLst/>
            </a:prstGeom>
            <a:solidFill>
              <a:srgbClr val="1B1D21"/>
            </a:solidFill>
            <a:ln w="19050">
              <a:solidFill>
                <a:srgbClr val="9AA0A6"/>
              </a:solidFill>
            </a:ln>
          </p:spPr>
          <p:txBody>
            <a:bodyPr rtlCol="0" anchor="ctr"/>
            <a:lstStyle/>
            <a:p>
              <a:pPr algn="ctr"/>
              <a:endParaRPr/>
            </a:p>
          </p:txBody>
        </p:sp>
        <p:sp>
          <p:nvSpPr>
            <p:cNvPr id="69" name="hub"/>
            <p:cNvSpPr/>
            <p:nvPr/>
          </p:nvSpPr>
          <p:spPr>
            <a:xfrm>
              <a:off x="5858195" y="3438692"/>
              <a:ext cx="90342" cy="90342"/>
            </a:xfrm>
            <a:prstGeom prst="ellipse">
              <a:avLst/>
            </a:prstGeom>
            <a:solidFill>
              <a:srgbClr val="9AA0A6"/>
            </a:solidFill>
            <a:ln>
              <a:noFill/>
            </a:ln>
          </p:spPr>
          <p:txBody>
            <a:bodyPr rtlCol="0" anchor="ctr"/>
            <a:lstStyle/>
            <a:p>
              <a:pPr algn="ctr"/>
              <a:endParaRPr/>
            </a:p>
          </p:txBody>
        </p:sp>
        <p:sp>
          <p:nvSpPr>
            <p:cNvPr id="70" name="wheel"/>
            <p:cNvSpPr/>
            <p:nvPr/>
          </p:nvSpPr>
          <p:spPr>
            <a:xfrm>
              <a:off x="6120536" y="3310128"/>
              <a:ext cx="347472" cy="347472"/>
            </a:xfrm>
            <a:prstGeom prst="ellipse">
              <a:avLst/>
            </a:prstGeom>
            <a:solidFill>
              <a:srgbClr val="1B1D21"/>
            </a:solidFill>
            <a:ln w="19050">
              <a:solidFill>
                <a:srgbClr val="9AA0A6"/>
              </a:solidFill>
            </a:ln>
          </p:spPr>
          <p:txBody>
            <a:bodyPr rtlCol="0" anchor="ctr"/>
            <a:lstStyle/>
            <a:p>
              <a:pPr algn="ctr"/>
              <a:endParaRPr/>
            </a:p>
          </p:txBody>
        </p:sp>
        <p:sp>
          <p:nvSpPr>
            <p:cNvPr id="71" name="hub"/>
            <p:cNvSpPr/>
            <p:nvPr/>
          </p:nvSpPr>
          <p:spPr>
            <a:xfrm>
              <a:off x="6249101" y="3438692"/>
              <a:ext cx="90342" cy="90342"/>
            </a:xfrm>
            <a:prstGeom prst="ellipse">
              <a:avLst/>
            </a:prstGeom>
            <a:solidFill>
              <a:srgbClr val="9AA0A6"/>
            </a:solidFill>
            <a:ln>
              <a:noFill/>
            </a:ln>
          </p:spPr>
          <p:txBody>
            <a:bodyPr rtlCol="0" anchor="ctr"/>
            <a:lstStyle/>
            <a:p>
              <a:pPr algn="ctr"/>
              <a:endParaRPr/>
            </a:p>
          </p:txBody>
        </p:sp>
        <p:sp>
          <p:nvSpPr>
            <p:cNvPr id="72" name="wheel"/>
            <p:cNvSpPr/>
            <p:nvPr/>
          </p:nvSpPr>
          <p:spPr>
            <a:xfrm>
              <a:off x="6511442" y="3310128"/>
              <a:ext cx="347472" cy="347472"/>
            </a:xfrm>
            <a:prstGeom prst="ellipse">
              <a:avLst/>
            </a:prstGeom>
            <a:solidFill>
              <a:srgbClr val="1B1D21"/>
            </a:solidFill>
            <a:ln w="19050">
              <a:solidFill>
                <a:srgbClr val="9AA0A6"/>
              </a:solidFill>
            </a:ln>
          </p:spPr>
          <p:txBody>
            <a:bodyPr rtlCol="0" anchor="ctr"/>
            <a:lstStyle/>
            <a:p>
              <a:pPr algn="ctr"/>
              <a:endParaRPr/>
            </a:p>
          </p:txBody>
        </p:sp>
        <p:sp>
          <p:nvSpPr>
            <p:cNvPr id="73" name="hub"/>
            <p:cNvSpPr/>
            <p:nvPr/>
          </p:nvSpPr>
          <p:spPr>
            <a:xfrm>
              <a:off x="6640007" y="3438692"/>
              <a:ext cx="90342" cy="90342"/>
            </a:xfrm>
            <a:prstGeom prst="ellipse">
              <a:avLst/>
            </a:prstGeom>
            <a:solidFill>
              <a:srgbClr val="9AA0A6"/>
            </a:solidFill>
            <a:ln>
              <a:noFill/>
            </a:ln>
          </p:spPr>
          <p:txBody>
            <a:bodyPr rtlCol="0" anchor="ctr"/>
            <a:lstStyle/>
            <a:p>
              <a:pPr algn="ctr"/>
              <a:endParaRPr/>
            </a:p>
          </p:txBody>
        </p:sp>
        <p:sp>
          <p:nvSpPr>
            <p:cNvPr id="74" name="wheel"/>
            <p:cNvSpPr/>
            <p:nvPr/>
          </p:nvSpPr>
          <p:spPr>
            <a:xfrm>
              <a:off x="6989216" y="3466490"/>
              <a:ext cx="191109" cy="191109"/>
            </a:xfrm>
            <a:prstGeom prst="ellipse">
              <a:avLst/>
            </a:prstGeom>
            <a:solidFill>
              <a:srgbClr val="1B1D21"/>
            </a:solidFill>
            <a:ln w="19050">
              <a:solidFill>
                <a:srgbClr val="9AA0A6"/>
              </a:solidFill>
            </a:ln>
          </p:spPr>
          <p:txBody>
            <a:bodyPr rtlCol="0" anchor="ctr"/>
            <a:lstStyle/>
            <a:p>
              <a:pPr algn="ctr"/>
              <a:endParaRPr/>
            </a:p>
          </p:txBody>
        </p:sp>
        <p:sp>
          <p:nvSpPr>
            <p:cNvPr id="75" name="hub"/>
            <p:cNvSpPr/>
            <p:nvPr/>
          </p:nvSpPr>
          <p:spPr>
            <a:xfrm>
              <a:off x="7059926" y="3537200"/>
              <a:ext cx="49688" cy="49688"/>
            </a:xfrm>
            <a:prstGeom prst="ellipse">
              <a:avLst/>
            </a:prstGeom>
            <a:solidFill>
              <a:srgbClr val="9AA0A6"/>
            </a:solidFill>
            <a:ln>
              <a:noFill/>
            </a:ln>
          </p:spPr>
          <p:txBody>
            <a:bodyPr rtlCol="0" anchor="ctr"/>
            <a:lstStyle/>
            <a:p>
              <a:pPr algn="ctr"/>
              <a:endParaRPr/>
            </a:p>
          </p:txBody>
        </p:sp>
        <p:sp>
          <p:nvSpPr>
            <p:cNvPr id="76" name="coupling rod"/>
            <p:cNvSpPr/>
            <p:nvPr/>
          </p:nvSpPr>
          <p:spPr>
            <a:xfrm>
              <a:off x="5512460" y="3384834"/>
              <a:ext cx="1172718" cy="24323"/>
            </a:xfrm>
            <a:prstGeom prst="rect">
              <a:avLst/>
            </a:prstGeom>
            <a:solidFill>
              <a:srgbClr val="D0D4D8"/>
            </a:solidFill>
            <a:ln>
              <a:noFill/>
            </a:ln>
          </p:spPr>
          <p:txBody>
            <a:bodyPr rtlCol="0" anchor="ctr"/>
            <a:lstStyle/>
            <a:p>
              <a:pPr algn="ctr"/>
              <a:endParaRPr/>
            </a:p>
          </p:txBody>
        </p:sp>
        <p:sp>
          <p:nvSpPr>
            <p:cNvPr id="77" name="buffer beam"/>
            <p:cNvSpPr/>
            <p:nvPr/>
          </p:nvSpPr>
          <p:spPr>
            <a:xfrm>
              <a:off x="7597292" y="3327501"/>
              <a:ext cx="52120" cy="156362"/>
            </a:xfrm>
            <a:prstGeom prst="rect">
              <a:avLst/>
            </a:prstGeom>
            <a:solidFill>
              <a:srgbClr val="9AA0A6"/>
            </a:solidFill>
            <a:ln>
              <a:noFill/>
            </a:ln>
          </p:spPr>
          <p:txBody>
            <a:bodyPr rtlCol="0" anchor="ctr"/>
            <a:lstStyle/>
            <a:p>
              <a:pPr algn="ctr"/>
              <a:endParaRPr/>
            </a:p>
          </p:txBody>
        </p:sp>
        <p:sp>
          <p:nvSpPr>
            <p:cNvPr id="78" name="empty plate"/>
            <p:cNvSpPr/>
            <p:nvPr/>
          </p:nvSpPr>
          <p:spPr>
            <a:xfrm>
              <a:off x="6244894" y="2011680"/>
              <a:ext cx="1280160" cy="420624"/>
            </a:xfrm>
            <a:prstGeom prst="roundRect">
              <a:avLst>
                <a:gd name="adj" fmla="val 13043"/>
              </a:avLst>
            </a:prstGeom>
            <a:noFill/>
            <a:ln w="25400">
              <a:solidFill>
                <a:srgbClr val="A9B0B8"/>
              </a:solidFill>
              <a:prstDash val="dash"/>
            </a:ln>
          </p:spPr>
          <p:txBody>
            <a:bodyPr rtlCol="0" anchor="ctr"/>
            <a:lstStyle/>
            <a:p>
              <a:pPr algn="ctr"/>
              <a:endParaRPr/>
            </a:p>
          </p:txBody>
        </p:sp>
        <p:cxnSp>
          <p:nvCxnSpPr>
            <p:cNvPr id="79" name="leader"/>
            <p:cNvCxnSpPr/>
            <p:nvPr/>
          </p:nvCxnSpPr>
          <p:spPr>
            <a:xfrm>
              <a:off x="6884974" y="2432304"/>
              <a:ext cx="0" cy="539038"/>
            </a:xfrm>
            <a:prstGeom prst="line">
              <a:avLst/>
            </a:prstGeom>
            <a:ln w="22225">
              <a:solidFill>
                <a:srgbClr val="A9B0B8"/>
              </a:solidFill>
              <a:prstDash val="dash"/>
            </a:ln>
          </p:spPr>
        </p:cxnSp>
        <p:sp>
          <p:nvSpPr>
            <p:cNvPr id="80" name="step panel"/>
            <p:cNvSpPr/>
            <p:nvPr/>
          </p:nvSpPr>
          <p:spPr>
            <a:xfrm>
              <a:off x="8193024" y="1371600"/>
              <a:ext cx="3447288" cy="2926080"/>
            </a:xfrm>
            <a:prstGeom prst="roundRect">
              <a:avLst>
                <a:gd name="adj" fmla="val 3125"/>
              </a:avLst>
            </a:prstGeom>
            <a:solidFill>
              <a:srgbClr val="2B2F36"/>
            </a:solidFill>
            <a:ln w="19050">
              <a:solidFill>
                <a:srgbClr val="4A515B"/>
              </a:solidFill>
            </a:ln>
          </p:spPr>
          <p:txBody>
            <a:bodyPr rtlCol="0" anchor="ctr"/>
            <a:lstStyle/>
            <a:p>
              <a:pPr algn="ctr"/>
              <a:endParaRPr/>
            </a:p>
          </p:txBody>
        </p:sp>
        <p:sp>
          <p:nvSpPr>
            <p:cNvPr id="81" name="step badge"/>
            <p:cNvSpPr/>
            <p:nvPr/>
          </p:nvSpPr>
          <p:spPr>
            <a:xfrm>
              <a:off x="8330184" y="1481328"/>
              <a:ext cx="384048" cy="384048"/>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3</a:t>
              </a:r>
            </a:p>
          </p:txBody>
        </p:sp>
        <p:sp>
          <p:nvSpPr>
            <p:cNvPr id="82" name="step label"/>
            <p:cNvSpPr txBox="1"/>
            <p:nvPr/>
          </p:nvSpPr>
          <p:spPr>
            <a:xfrm>
              <a:off x="8814816" y="1463040"/>
              <a:ext cx="2715768" cy="420624"/>
            </a:xfrm>
            <a:prstGeom prst="rect">
              <a:avLst/>
            </a:prstGeom>
            <a:noFill/>
          </p:spPr>
          <p:txBody>
            <a:bodyPr wrap="square" lIns="18288" tIns="9144" rIns="18288" bIns="9144" anchor="ctr">
              <a:noAutofit/>
            </a:bodyPr>
            <a:lstStyle/>
            <a:p>
              <a:pPr algn="l"/>
              <a:r>
                <a:rPr lang="en-GB" sz="1800" b="1" i="0">
                  <a:solidFill>
                    <a:srgbClr val="F2F2F2"/>
                  </a:solidFill>
                  <a:latin typeface="Arial"/>
                </a:rPr>
                <a:t>Number appears</a:t>
              </a:r>
            </a:p>
          </p:txBody>
        </p:sp>
        <p:sp>
          <p:nvSpPr>
            <p:cNvPr id="83" name="rail"/>
            <p:cNvSpPr/>
            <p:nvPr/>
          </p:nvSpPr>
          <p:spPr>
            <a:xfrm>
              <a:off x="8375904" y="3657600"/>
              <a:ext cx="3081528" cy="64008"/>
            </a:xfrm>
            <a:prstGeom prst="rect">
              <a:avLst/>
            </a:prstGeom>
            <a:solidFill>
              <a:srgbClr val="9AA0A6"/>
            </a:solidFill>
            <a:ln>
              <a:noFill/>
            </a:ln>
          </p:spPr>
          <p:txBody>
            <a:bodyPr rtlCol="0" anchor="ctr"/>
            <a:lstStyle/>
            <a:p>
              <a:pPr algn="ctr"/>
              <a:endParaRPr/>
            </a:p>
          </p:txBody>
        </p:sp>
        <p:sp>
          <p:nvSpPr>
            <p:cNvPr id="84" name="tender frame"/>
            <p:cNvSpPr/>
            <p:nvPr/>
          </p:nvSpPr>
          <p:spPr>
            <a:xfrm>
              <a:off x="8361730" y="3405682"/>
              <a:ext cx="712317" cy="78181"/>
            </a:xfrm>
            <a:prstGeom prst="rect">
              <a:avLst/>
            </a:prstGeom>
            <a:solidFill>
              <a:srgbClr val="3A3F47"/>
            </a:solidFill>
            <a:ln w="9525">
              <a:solidFill>
                <a:srgbClr val="9AA0A6"/>
              </a:solidFill>
            </a:ln>
          </p:spPr>
          <p:txBody>
            <a:bodyPr rtlCol="0" anchor="ctr"/>
            <a:lstStyle/>
            <a:p>
              <a:pPr algn="ctr"/>
              <a:endParaRPr/>
            </a:p>
          </p:txBody>
        </p:sp>
        <p:sp>
          <p:nvSpPr>
            <p:cNvPr id="85" name="tender body"/>
            <p:cNvSpPr/>
            <p:nvPr/>
          </p:nvSpPr>
          <p:spPr>
            <a:xfrm>
              <a:off x="8361730" y="3119018"/>
              <a:ext cx="712317" cy="286664"/>
            </a:xfrm>
            <a:prstGeom prst="roundRect">
              <a:avLst>
                <a:gd name="adj" fmla="val 3030"/>
              </a:avLst>
            </a:prstGeom>
            <a:solidFill>
              <a:srgbClr val="F28C28"/>
            </a:solidFill>
            <a:ln>
              <a:noFill/>
            </a:ln>
          </p:spPr>
          <p:txBody>
            <a:bodyPr rtlCol="0" anchor="ctr"/>
            <a:lstStyle/>
            <a:p>
              <a:pPr algn="ctr"/>
              <a:endParaRPr/>
            </a:p>
          </p:txBody>
        </p:sp>
        <p:sp>
          <p:nvSpPr>
            <p:cNvPr id="86" name="tender coal"/>
            <p:cNvSpPr/>
            <p:nvPr/>
          </p:nvSpPr>
          <p:spPr>
            <a:xfrm>
              <a:off x="8387791" y="2997403"/>
              <a:ext cx="660197" cy="121615"/>
            </a:xfrm>
            <a:custGeom>
              <a:avLst/>
              <a:gdLst/>
              <a:ahLst/>
              <a:cxnLst/>
              <a:rect l="l" t="t" r="r" b="b"/>
              <a:pathLst>
                <a:path w="660197" h="121615">
                  <a:moveTo>
                    <a:pt x="0" y="121615"/>
                  </a:moveTo>
                  <a:lnTo>
                    <a:pt x="130302" y="8687"/>
                  </a:lnTo>
                  <a:lnTo>
                    <a:pt x="390906" y="0"/>
                  </a:lnTo>
                  <a:lnTo>
                    <a:pt x="660197" y="121615"/>
                  </a:lnTo>
                  <a:close/>
                </a:path>
              </a:pathLst>
            </a:custGeom>
            <a:solidFill>
              <a:srgbClr val="1B1D21"/>
            </a:solidFill>
            <a:ln w="12700">
              <a:solidFill>
                <a:srgbClr val="6B7078"/>
              </a:solidFill>
            </a:ln>
          </p:spPr>
          <p:txBody>
            <a:bodyPr rtlCol="0" anchor="ctr"/>
            <a:lstStyle/>
            <a:p>
              <a:pPr algn="ctr"/>
              <a:endParaRPr/>
            </a:p>
          </p:txBody>
        </p:sp>
        <p:sp>
          <p:nvSpPr>
            <p:cNvPr id="87" name="coupling"/>
            <p:cNvSpPr/>
            <p:nvPr/>
          </p:nvSpPr>
          <p:spPr>
            <a:xfrm>
              <a:off x="9074048" y="3301441"/>
              <a:ext cx="60807" cy="26060"/>
            </a:xfrm>
            <a:prstGeom prst="rect">
              <a:avLst/>
            </a:prstGeom>
            <a:solidFill>
              <a:srgbClr val="9AA0A6"/>
            </a:solidFill>
            <a:ln>
              <a:noFill/>
            </a:ln>
          </p:spPr>
          <p:txBody>
            <a:bodyPr rtlCol="0" anchor="ctr"/>
            <a:lstStyle/>
            <a:p>
              <a:pPr algn="ctr"/>
              <a:endParaRPr/>
            </a:p>
          </p:txBody>
        </p:sp>
        <p:sp>
          <p:nvSpPr>
            <p:cNvPr id="88" name="wheel"/>
            <p:cNvSpPr/>
            <p:nvPr/>
          </p:nvSpPr>
          <p:spPr>
            <a:xfrm>
              <a:off x="8413851" y="3414369"/>
              <a:ext cx="243230" cy="243230"/>
            </a:xfrm>
            <a:prstGeom prst="ellipse">
              <a:avLst/>
            </a:prstGeom>
            <a:solidFill>
              <a:srgbClr val="1B1D21"/>
            </a:solidFill>
            <a:ln w="19050">
              <a:solidFill>
                <a:srgbClr val="9AA0A6"/>
              </a:solidFill>
            </a:ln>
          </p:spPr>
          <p:txBody>
            <a:bodyPr rtlCol="0" anchor="ctr"/>
            <a:lstStyle/>
            <a:p>
              <a:pPr algn="ctr"/>
              <a:endParaRPr/>
            </a:p>
          </p:txBody>
        </p:sp>
        <p:sp>
          <p:nvSpPr>
            <p:cNvPr id="89" name="hub"/>
            <p:cNvSpPr/>
            <p:nvPr/>
          </p:nvSpPr>
          <p:spPr>
            <a:xfrm>
              <a:off x="8503846" y="3504364"/>
              <a:ext cx="63239" cy="63239"/>
            </a:xfrm>
            <a:prstGeom prst="ellipse">
              <a:avLst/>
            </a:prstGeom>
            <a:solidFill>
              <a:srgbClr val="9AA0A6"/>
            </a:solidFill>
            <a:ln>
              <a:noFill/>
            </a:ln>
          </p:spPr>
          <p:txBody>
            <a:bodyPr rtlCol="0" anchor="ctr"/>
            <a:lstStyle/>
            <a:p>
              <a:pPr algn="ctr"/>
              <a:endParaRPr/>
            </a:p>
          </p:txBody>
        </p:sp>
        <p:sp>
          <p:nvSpPr>
            <p:cNvPr id="90" name="wheel"/>
            <p:cNvSpPr/>
            <p:nvPr/>
          </p:nvSpPr>
          <p:spPr>
            <a:xfrm>
              <a:off x="8778697" y="3414369"/>
              <a:ext cx="243230" cy="243230"/>
            </a:xfrm>
            <a:prstGeom prst="ellipse">
              <a:avLst/>
            </a:prstGeom>
            <a:solidFill>
              <a:srgbClr val="1B1D21"/>
            </a:solidFill>
            <a:ln w="19050">
              <a:solidFill>
                <a:srgbClr val="9AA0A6"/>
              </a:solidFill>
            </a:ln>
          </p:spPr>
          <p:txBody>
            <a:bodyPr rtlCol="0" anchor="ctr"/>
            <a:lstStyle/>
            <a:p>
              <a:pPr algn="ctr"/>
              <a:endParaRPr/>
            </a:p>
          </p:txBody>
        </p:sp>
        <p:sp>
          <p:nvSpPr>
            <p:cNvPr id="91" name="hub"/>
            <p:cNvSpPr/>
            <p:nvPr/>
          </p:nvSpPr>
          <p:spPr>
            <a:xfrm>
              <a:off x="8868692" y="3504364"/>
              <a:ext cx="63239" cy="63239"/>
            </a:xfrm>
            <a:prstGeom prst="ellipse">
              <a:avLst/>
            </a:prstGeom>
            <a:solidFill>
              <a:srgbClr val="9AA0A6"/>
            </a:solidFill>
            <a:ln>
              <a:noFill/>
            </a:ln>
          </p:spPr>
          <p:txBody>
            <a:bodyPr rtlCol="0" anchor="ctr"/>
            <a:lstStyle/>
            <a:p>
              <a:pPr algn="ctr"/>
              <a:endParaRPr/>
            </a:p>
          </p:txBody>
        </p:sp>
        <p:sp>
          <p:nvSpPr>
            <p:cNvPr id="92" name="frame"/>
            <p:cNvSpPr/>
            <p:nvPr/>
          </p:nvSpPr>
          <p:spPr>
            <a:xfrm>
              <a:off x="9134856" y="3405682"/>
              <a:ext cx="2284628" cy="78181"/>
            </a:xfrm>
            <a:prstGeom prst="rect">
              <a:avLst/>
            </a:prstGeom>
            <a:solidFill>
              <a:srgbClr val="3A3F47"/>
            </a:solidFill>
            <a:ln w="9525">
              <a:solidFill>
                <a:srgbClr val="9AA0A6"/>
              </a:solidFill>
            </a:ln>
          </p:spPr>
          <p:txBody>
            <a:bodyPr rtlCol="0" anchor="ctr"/>
            <a:lstStyle/>
            <a:p>
              <a:pPr algn="ctr"/>
              <a:endParaRPr/>
            </a:p>
          </p:txBody>
        </p:sp>
        <p:sp>
          <p:nvSpPr>
            <p:cNvPr id="93" name="cab"/>
            <p:cNvSpPr/>
            <p:nvPr/>
          </p:nvSpPr>
          <p:spPr>
            <a:xfrm>
              <a:off x="9134856" y="2927908"/>
              <a:ext cx="347472" cy="477773"/>
            </a:xfrm>
            <a:prstGeom prst="roundRect">
              <a:avLst>
                <a:gd name="adj" fmla="val 2500"/>
              </a:avLst>
            </a:prstGeom>
            <a:solidFill>
              <a:srgbClr val="F28C28"/>
            </a:solidFill>
            <a:ln>
              <a:noFill/>
            </a:ln>
          </p:spPr>
          <p:txBody>
            <a:bodyPr rtlCol="0" anchor="ctr"/>
            <a:lstStyle/>
            <a:p>
              <a:pPr algn="ctr"/>
              <a:endParaRPr/>
            </a:p>
          </p:txBody>
        </p:sp>
        <p:sp>
          <p:nvSpPr>
            <p:cNvPr id="94" name="cab roof"/>
            <p:cNvSpPr/>
            <p:nvPr/>
          </p:nvSpPr>
          <p:spPr>
            <a:xfrm>
              <a:off x="9117482" y="2884474"/>
              <a:ext cx="382219" cy="43434"/>
            </a:xfrm>
            <a:prstGeom prst="rect">
              <a:avLst/>
            </a:prstGeom>
            <a:solidFill>
              <a:srgbClr val="3A3F47"/>
            </a:solidFill>
            <a:ln w="9525">
              <a:solidFill>
                <a:srgbClr val="9AA0A6"/>
              </a:solidFill>
            </a:ln>
          </p:spPr>
          <p:txBody>
            <a:bodyPr rtlCol="0" anchor="ctr"/>
            <a:lstStyle/>
            <a:p>
              <a:pPr algn="ctr"/>
              <a:endParaRPr/>
            </a:p>
          </p:txBody>
        </p:sp>
        <p:sp>
          <p:nvSpPr>
            <p:cNvPr id="95" name="cab window"/>
            <p:cNvSpPr/>
            <p:nvPr/>
          </p:nvSpPr>
          <p:spPr>
            <a:xfrm>
              <a:off x="9221724" y="2997403"/>
              <a:ext cx="156362" cy="156362"/>
            </a:xfrm>
            <a:prstGeom prst="rect">
              <a:avLst/>
            </a:prstGeom>
            <a:solidFill>
              <a:srgbClr val="1B1D21"/>
            </a:solidFill>
            <a:ln>
              <a:noFill/>
            </a:ln>
          </p:spPr>
          <p:txBody>
            <a:bodyPr rtlCol="0" anchor="ctr"/>
            <a:lstStyle/>
            <a:p>
              <a:pPr algn="ctr"/>
              <a:endParaRPr/>
            </a:p>
          </p:txBody>
        </p:sp>
        <p:sp>
          <p:nvSpPr>
            <p:cNvPr id="96" name="boiler"/>
            <p:cNvSpPr/>
            <p:nvPr/>
          </p:nvSpPr>
          <p:spPr>
            <a:xfrm>
              <a:off x="9482328" y="2971342"/>
              <a:ext cx="1763420" cy="347472"/>
            </a:xfrm>
            <a:prstGeom prst="roundRect">
              <a:avLst>
                <a:gd name="adj" fmla="val 25000"/>
              </a:avLst>
            </a:prstGeom>
            <a:solidFill>
              <a:srgbClr val="F28C28"/>
            </a:solidFill>
            <a:ln>
              <a:noFill/>
            </a:ln>
          </p:spPr>
          <p:txBody>
            <a:bodyPr rtlCol="0" anchor="ctr"/>
            <a:lstStyle/>
            <a:p>
              <a:pPr algn="ctr"/>
              <a:endParaRPr/>
            </a:p>
          </p:txBody>
        </p:sp>
        <p:sp>
          <p:nvSpPr>
            <p:cNvPr id="97" name="boiler band"/>
            <p:cNvSpPr/>
            <p:nvPr/>
          </p:nvSpPr>
          <p:spPr>
            <a:xfrm>
              <a:off x="10011354" y="2971342"/>
              <a:ext cx="12161" cy="347472"/>
            </a:xfrm>
            <a:prstGeom prst="rect">
              <a:avLst/>
            </a:prstGeom>
            <a:solidFill>
              <a:srgbClr val="AE641C"/>
            </a:solidFill>
            <a:ln>
              <a:noFill/>
            </a:ln>
          </p:spPr>
          <p:txBody>
            <a:bodyPr rtlCol="0" anchor="ctr"/>
            <a:lstStyle/>
            <a:p>
              <a:pPr algn="ctr"/>
              <a:endParaRPr/>
            </a:p>
          </p:txBody>
        </p:sp>
        <p:sp>
          <p:nvSpPr>
            <p:cNvPr id="98" name="boiler band"/>
            <p:cNvSpPr/>
            <p:nvPr/>
          </p:nvSpPr>
          <p:spPr>
            <a:xfrm>
              <a:off x="10452209" y="2971342"/>
              <a:ext cx="12161" cy="347472"/>
            </a:xfrm>
            <a:prstGeom prst="rect">
              <a:avLst/>
            </a:prstGeom>
            <a:solidFill>
              <a:srgbClr val="AE641C"/>
            </a:solidFill>
            <a:ln>
              <a:noFill/>
            </a:ln>
          </p:spPr>
          <p:txBody>
            <a:bodyPr rtlCol="0" anchor="ctr"/>
            <a:lstStyle/>
            <a:p>
              <a:pPr algn="ctr"/>
              <a:endParaRPr/>
            </a:p>
          </p:txBody>
        </p:sp>
        <p:sp>
          <p:nvSpPr>
            <p:cNvPr id="99" name="boiler band"/>
            <p:cNvSpPr/>
            <p:nvPr/>
          </p:nvSpPr>
          <p:spPr>
            <a:xfrm>
              <a:off x="10893064" y="2971342"/>
              <a:ext cx="12161" cy="347472"/>
            </a:xfrm>
            <a:prstGeom prst="rect">
              <a:avLst/>
            </a:prstGeom>
            <a:solidFill>
              <a:srgbClr val="AE641C"/>
            </a:solidFill>
            <a:ln>
              <a:noFill/>
            </a:ln>
          </p:spPr>
          <p:txBody>
            <a:bodyPr rtlCol="0" anchor="ctr"/>
            <a:lstStyle/>
            <a:p>
              <a:pPr algn="ctr"/>
              <a:endParaRPr/>
            </a:p>
          </p:txBody>
        </p:sp>
        <p:sp>
          <p:nvSpPr>
            <p:cNvPr id="100" name="smokebox"/>
            <p:cNvSpPr/>
            <p:nvPr/>
          </p:nvSpPr>
          <p:spPr>
            <a:xfrm>
              <a:off x="11245748" y="2971342"/>
              <a:ext cx="173736" cy="347472"/>
            </a:xfrm>
            <a:prstGeom prst="roundRect">
              <a:avLst>
                <a:gd name="adj" fmla="val 12000"/>
              </a:avLst>
            </a:prstGeom>
            <a:solidFill>
              <a:srgbClr val="4A515B"/>
            </a:solidFill>
            <a:ln>
              <a:noFill/>
            </a:ln>
          </p:spPr>
          <p:txBody>
            <a:bodyPr rtlCol="0" anchor="ctr"/>
            <a:lstStyle/>
            <a:p>
              <a:pPr algn="ctr"/>
              <a:endParaRPr/>
            </a:p>
          </p:txBody>
        </p:sp>
        <p:sp>
          <p:nvSpPr>
            <p:cNvPr id="101" name="chimney"/>
            <p:cNvSpPr/>
            <p:nvPr/>
          </p:nvSpPr>
          <p:spPr>
            <a:xfrm>
              <a:off x="11280495" y="2788920"/>
              <a:ext cx="104241" cy="182422"/>
            </a:xfrm>
            <a:prstGeom prst="rect">
              <a:avLst/>
            </a:prstGeom>
            <a:solidFill>
              <a:srgbClr val="3A3F47"/>
            </a:solidFill>
            <a:ln w="9525">
              <a:solidFill>
                <a:srgbClr val="9AA0A6"/>
              </a:solidFill>
            </a:ln>
          </p:spPr>
          <p:txBody>
            <a:bodyPr rtlCol="0" anchor="ctr"/>
            <a:lstStyle/>
            <a:p>
              <a:pPr algn="ctr"/>
              <a:endParaRPr/>
            </a:p>
          </p:txBody>
        </p:sp>
        <p:sp>
          <p:nvSpPr>
            <p:cNvPr id="102" name="chimney lip"/>
            <p:cNvSpPr/>
            <p:nvPr/>
          </p:nvSpPr>
          <p:spPr>
            <a:xfrm>
              <a:off x="11254435" y="2762859"/>
              <a:ext cx="156362" cy="43434"/>
            </a:xfrm>
            <a:prstGeom prst="rect">
              <a:avLst/>
            </a:prstGeom>
            <a:solidFill>
              <a:srgbClr val="3A3F47"/>
            </a:solidFill>
            <a:ln w="9525">
              <a:solidFill>
                <a:srgbClr val="9AA0A6"/>
              </a:solidFill>
            </a:ln>
          </p:spPr>
          <p:txBody>
            <a:bodyPr rtlCol="0" anchor="ctr"/>
            <a:lstStyle/>
            <a:p>
              <a:pPr algn="ctr"/>
              <a:endParaRPr/>
            </a:p>
          </p:txBody>
        </p:sp>
        <p:sp>
          <p:nvSpPr>
            <p:cNvPr id="103" name="dome"/>
            <p:cNvSpPr/>
            <p:nvPr/>
          </p:nvSpPr>
          <p:spPr>
            <a:xfrm>
              <a:off x="10187696" y="2875788"/>
              <a:ext cx="156362" cy="95554"/>
            </a:xfrm>
            <a:prstGeom prst="roundRect">
              <a:avLst>
                <a:gd name="adj" fmla="val 36363"/>
              </a:avLst>
            </a:prstGeom>
            <a:solidFill>
              <a:srgbClr val="F28C28"/>
            </a:solidFill>
            <a:ln>
              <a:noFill/>
            </a:ln>
          </p:spPr>
          <p:txBody>
            <a:bodyPr rtlCol="0" anchor="ctr"/>
            <a:lstStyle/>
            <a:p>
              <a:pPr algn="ctr"/>
              <a:endParaRPr/>
            </a:p>
          </p:txBody>
        </p:sp>
        <p:sp>
          <p:nvSpPr>
            <p:cNvPr id="104" name="wheel"/>
            <p:cNvSpPr/>
            <p:nvPr/>
          </p:nvSpPr>
          <p:spPr>
            <a:xfrm>
              <a:off x="9160916" y="3310128"/>
              <a:ext cx="347472" cy="347472"/>
            </a:xfrm>
            <a:prstGeom prst="ellipse">
              <a:avLst/>
            </a:prstGeom>
            <a:solidFill>
              <a:srgbClr val="1B1D21"/>
            </a:solidFill>
            <a:ln w="19050">
              <a:solidFill>
                <a:srgbClr val="9AA0A6"/>
              </a:solidFill>
            </a:ln>
          </p:spPr>
          <p:txBody>
            <a:bodyPr rtlCol="0" anchor="ctr"/>
            <a:lstStyle/>
            <a:p>
              <a:pPr algn="ctr"/>
              <a:endParaRPr/>
            </a:p>
          </p:txBody>
        </p:sp>
        <p:sp>
          <p:nvSpPr>
            <p:cNvPr id="105" name="hub"/>
            <p:cNvSpPr/>
            <p:nvPr/>
          </p:nvSpPr>
          <p:spPr>
            <a:xfrm>
              <a:off x="9289481" y="3438692"/>
              <a:ext cx="90342" cy="90342"/>
            </a:xfrm>
            <a:prstGeom prst="ellipse">
              <a:avLst/>
            </a:prstGeom>
            <a:solidFill>
              <a:srgbClr val="9AA0A6"/>
            </a:solidFill>
            <a:ln>
              <a:noFill/>
            </a:ln>
          </p:spPr>
          <p:txBody>
            <a:bodyPr rtlCol="0" anchor="ctr"/>
            <a:lstStyle/>
            <a:p>
              <a:pPr algn="ctr"/>
              <a:endParaRPr/>
            </a:p>
          </p:txBody>
        </p:sp>
        <p:sp>
          <p:nvSpPr>
            <p:cNvPr id="106" name="wheel"/>
            <p:cNvSpPr/>
            <p:nvPr/>
          </p:nvSpPr>
          <p:spPr>
            <a:xfrm>
              <a:off x="9551822" y="3310128"/>
              <a:ext cx="347472" cy="347472"/>
            </a:xfrm>
            <a:prstGeom prst="ellipse">
              <a:avLst/>
            </a:prstGeom>
            <a:solidFill>
              <a:srgbClr val="1B1D21"/>
            </a:solidFill>
            <a:ln w="19050">
              <a:solidFill>
                <a:srgbClr val="9AA0A6"/>
              </a:solidFill>
            </a:ln>
          </p:spPr>
          <p:txBody>
            <a:bodyPr rtlCol="0" anchor="ctr"/>
            <a:lstStyle/>
            <a:p>
              <a:pPr algn="ctr"/>
              <a:endParaRPr/>
            </a:p>
          </p:txBody>
        </p:sp>
        <p:sp>
          <p:nvSpPr>
            <p:cNvPr id="107" name="hub"/>
            <p:cNvSpPr/>
            <p:nvPr/>
          </p:nvSpPr>
          <p:spPr>
            <a:xfrm>
              <a:off x="9680387" y="3438692"/>
              <a:ext cx="90342" cy="90342"/>
            </a:xfrm>
            <a:prstGeom prst="ellipse">
              <a:avLst/>
            </a:prstGeom>
            <a:solidFill>
              <a:srgbClr val="9AA0A6"/>
            </a:solidFill>
            <a:ln>
              <a:noFill/>
            </a:ln>
          </p:spPr>
          <p:txBody>
            <a:bodyPr rtlCol="0" anchor="ctr"/>
            <a:lstStyle/>
            <a:p>
              <a:pPr algn="ctr"/>
              <a:endParaRPr/>
            </a:p>
          </p:txBody>
        </p:sp>
        <p:sp>
          <p:nvSpPr>
            <p:cNvPr id="108" name="wheel"/>
            <p:cNvSpPr/>
            <p:nvPr/>
          </p:nvSpPr>
          <p:spPr>
            <a:xfrm>
              <a:off x="9942728" y="3310128"/>
              <a:ext cx="347472" cy="347472"/>
            </a:xfrm>
            <a:prstGeom prst="ellipse">
              <a:avLst/>
            </a:prstGeom>
            <a:solidFill>
              <a:srgbClr val="1B1D21"/>
            </a:solidFill>
            <a:ln w="19050">
              <a:solidFill>
                <a:srgbClr val="9AA0A6"/>
              </a:solidFill>
            </a:ln>
          </p:spPr>
          <p:txBody>
            <a:bodyPr rtlCol="0" anchor="ctr"/>
            <a:lstStyle/>
            <a:p>
              <a:pPr algn="ctr"/>
              <a:endParaRPr/>
            </a:p>
          </p:txBody>
        </p:sp>
        <p:sp>
          <p:nvSpPr>
            <p:cNvPr id="109" name="hub"/>
            <p:cNvSpPr/>
            <p:nvPr/>
          </p:nvSpPr>
          <p:spPr>
            <a:xfrm>
              <a:off x="10071293" y="3438692"/>
              <a:ext cx="90342" cy="90342"/>
            </a:xfrm>
            <a:prstGeom prst="ellipse">
              <a:avLst/>
            </a:prstGeom>
            <a:solidFill>
              <a:srgbClr val="9AA0A6"/>
            </a:solidFill>
            <a:ln>
              <a:noFill/>
            </a:ln>
          </p:spPr>
          <p:txBody>
            <a:bodyPr rtlCol="0" anchor="ctr"/>
            <a:lstStyle/>
            <a:p>
              <a:pPr algn="ctr"/>
              <a:endParaRPr/>
            </a:p>
          </p:txBody>
        </p:sp>
        <p:sp>
          <p:nvSpPr>
            <p:cNvPr id="110" name="wheel"/>
            <p:cNvSpPr/>
            <p:nvPr/>
          </p:nvSpPr>
          <p:spPr>
            <a:xfrm>
              <a:off x="10333634" y="3310128"/>
              <a:ext cx="347472" cy="347472"/>
            </a:xfrm>
            <a:prstGeom prst="ellipse">
              <a:avLst/>
            </a:prstGeom>
            <a:solidFill>
              <a:srgbClr val="1B1D21"/>
            </a:solidFill>
            <a:ln w="19050">
              <a:solidFill>
                <a:srgbClr val="9AA0A6"/>
              </a:solidFill>
            </a:ln>
          </p:spPr>
          <p:txBody>
            <a:bodyPr rtlCol="0" anchor="ctr"/>
            <a:lstStyle/>
            <a:p>
              <a:pPr algn="ctr"/>
              <a:endParaRPr/>
            </a:p>
          </p:txBody>
        </p:sp>
        <p:sp>
          <p:nvSpPr>
            <p:cNvPr id="111" name="hub"/>
            <p:cNvSpPr/>
            <p:nvPr/>
          </p:nvSpPr>
          <p:spPr>
            <a:xfrm>
              <a:off x="10462199" y="3438692"/>
              <a:ext cx="90342" cy="90342"/>
            </a:xfrm>
            <a:prstGeom prst="ellipse">
              <a:avLst/>
            </a:prstGeom>
            <a:solidFill>
              <a:srgbClr val="9AA0A6"/>
            </a:solidFill>
            <a:ln>
              <a:noFill/>
            </a:ln>
          </p:spPr>
          <p:txBody>
            <a:bodyPr rtlCol="0" anchor="ctr"/>
            <a:lstStyle/>
            <a:p>
              <a:pPr algn="ctr"/>
              <a:endParaRPr/>
            </a:p>
          </p:txBody>
        </p:sp>
        <p:sp>
          <p:nvSpPr>
            <p:cNvPr id="112" name="wheel"/>
            <p:cNvSpPr/>
            <p:nvPr/>
          </p:nvSpPr>
          <p:spPr>
            <a:xfrm>
              <a:off x="10811408" y="3466490"/>
              <a:ext cx="191109" cy="191109"/>
            </a:xfrm>
            <a:prstGeom prst="ellipse">
              <a:avLst/>
            </a:prstGeom>
            <a:solidFill>
              <a:srgbClr val="1B1D21"/>
            </a:solidFill>
            <a:ln w="19050">
              <a:solidFill>
                <a:srgbClr val="9AA0A6"/>
              </a:solidFill>
            </a:ln>
          </p:spPr>
          <p:txBody>
            <a:bodyPr rtlCol="0" anchor="ctr"/>
            <a:lstStyle/>
            <a:p>
              <a:pPr algn="ctr"/>
              <a:endParaRPr/>
            </a:p>
          </p:txBody>
        </p:sp>
        <p:sp>
          <p:nvSpPr>
            <p:cNvPr id="113" name="hub"/>
            <p:cNvSpPr/>
            <p:nvPr/>
          </p:nvSpPr>
          <p:spPr>
            <a:xfrm>
              <a:off x="10882118" y="3537200"/>
              <a:ext cx="49688" cy="49688"/>
            </a:xfrm>
            <a:prstGeom prst="ellipse">
              <a:avLst/>
            </a:prstGeom>
            <a:solidFill>
              <a:srgbClr val="9AA0A6"/>
            </a:solidFill>
            <a:ln>
              <a:noFill/>
            </a:ln>
          </p:spPr>
          <p:txBody>
            <a:bodyPr rtlCol="0" anchor="ctr"/>
            <a:lstStyle/>
            <a:p>
              <a:pPr algn="ctr"/>
              <a:endParaRPr/>
            </a:p>
          </p:txBody>
        </p:sp>
        <p:sp>
          <p:nvSpPr>
            <p:cNvPr id="114" name="coupling rod"/>
            <p:cNvSpPr/>
            <p:nvPr/>
          </p:nvSpPr>
          <p:spPr>
            <a:xfrm>
              <a:off x="9334652" y="3384834"/>
              <a:ext cx="1172718" cy="24323"/>
            </a:xfrm>
            <a:prstGeom prst="rect">
              <a:avLst/>
            </a:prstGeom>
            <a:solidFill>
              <a:srgbClr val="D0D4D8"/>
            </a:solidFill>
            <a:ln>
              <a:noFill/>
            </a:ln>
          </p:spPr>
          <p:txBody>
            <a:bodyPr rtlCol="0" anchor="ctr"/>
            <a:lstStyle/>
            <a:p>
              <a:pPr algn="ctr"/>
              <a:endParaRPr/>
            </a:p>
          </p:txBody>
        </p:sp>
        <p:sp>
          <p:nvSpPr>
            <p:cNvPr id="115" name="buffer beam"/>
            <p:cNvSpPr/>
            <p:nvPr/>
          </p:nvSpPr>
          <p:spPr>
            <a:xfrm>
              <a:off x="11419484" y="3327501"/>
              <a:ext cx="52120" cy="156362"/>
            </a:xfrm>
            <a:prstGeom prst="rect">
              <a:avLst/>
            </a:prstGeom>
            <a:solidFill>
              <a:srgbClr val="9AA0A6"/>
            </a:solidFill>
            <a:ln>
              <a:noFill/>
            </a:ln>
          </p:spPr>
          <p:txBody>
            <a:bodyPr rtlCol="0" anchor="ctr"/>
            <a:lstStyle/>
            <a:p>
              <a:pPr algn="ctr"/>
              <a:endParaRPr/>
            </a:p>
          </p:txBody>
        </p:sp>
        <p:sp>
          <p:nvSpPr>
            <p:cNvPr id="116" name="number plate"/>
            <p:cNvSpPr/>
            <p:nvPr/>
          </p:nvSpPr>
          <p:spPr>
            <a:xfrm>
              <a:off x="10067086" y="2011680"/>
              <a:ext cx="1280160" cy="420624"/>
            </a:xfrm>
            <a:prstGeom prst="roundRect">
              <a:avLst>
                <a:gd name="adj" fmla="val 17391"/>
              </a:avLst>
            </a:prstGeom>
            <a:solidFill>
              <a:srgbClr val="1B1D21"/>
            </a:solidFill>
            <a:ln w="28575">
              <a:solidFill>
                <a:srgbClr val="F28C28"/>
              </a:solidFill>
            </a:ln>
          </p:spPr>
          <p:txBody>
            <a:bodyPr wrap="square" lIns="27432" tIns="0" rIns="27432" bIns="0" rtlCol="0" anchor="ctr">
              <a:noAutofit/>
            </a:bodyPr>
            <a:lstStyle/>
            <a:p>
              <a:pPr algn="ctr"/>
              <a:r>
                <a:rPr lang="en-GB" sz="1600" b="1" i="0">
                  <a:solidFill>
                    <a:srgbClr val="F2F2F2"/>
                  </a:solidFill>
                  <a:latin typeface="Arial"/>
                </a:rPr>
                <a:t>No. 1234</a:t>
              </a:r>
            </a:p>
          </p:txBody>
        </p:sp>
        <p:cxnSp>
          <p:nvCxnSpPr>
            <p:cNvPr id="117" name="leader"/>
            <p:cNvCxnSpPr/>
            <p:nvPr/>
          </p:nvCxnSpPr>
          <p:spPr>
            <a:xfrm>
              <a:off x="10707166" y="2432304"/>
              <a:ext cx="0" cy="539038"/>
            </a:xfrm>
            <a:prstGeom prst="line">
              <a:avLst/>
            </a:prstGeom>
            <a:ln w="22225">
              <a:solidFill>
                <a:srgbClr val="F28C28"/>
              </a:solidFill>
            </a:ln>
          </p:spPr>
        </p:cxnSp>
        <p:sp>
          <p:nvSpPr>
            <p:cNvPr id="118" name="example label"/>
            <p:cNvSpPr txBox="1"/>
            <p:nvPr/>
          </p:nvSpPr>
          <p:spPr>
            <a:xfrm>
              <a:off x="9002268" y="3840480"/>
              <a:ext cx="1828800" cy="256032"/>
            </a:xfrm>
            <a:prstGeom prst="rect">
              <a:avLst/>
            </a:prstGeom>
            <a:noFill/>
          </p:spPr>
          <p:txBody>
            <a:bodyPr wrap="square" lIns="18288" tIns="9144" rIns="18288" bIns="9144" anchor="ctr">
              <a:noAutofit/>
            </a:bodyPr>
            <a:lstStyle/>
            <a:p>
              <a:pPr algn="ctr"/>
              <a:r>
                <a:rPr lang="en-GB" sz="1400" b="0" i="0">
                  <a:solidFill>
                    <a:srgbClr val="A9B0B8"/>
                  </a:solidFill>
                  <a:latin typeface="Arial"/>
                </a:rPr>
                <a:t>Example only</a:t>
              </a:r>
            </a:p>
          </p:txBody>
        </p:sp>
        <p:cxnSp>
          <p:nvCxnSpPr>
            <p:cNvPr id="119" name="step arrow"/>
            <p:cNvCxnSpPr/>
            <p:nvPr/>
          </p:nvCxnSpPr>
          <p:spPr>
            <a:xfrm>
              <a:off x="4032504" y="2834640"/>
              <a:ext cx="301752" cy="0"/>
            </a:xfrm>
            <a:prstGeom prst="line">
              <a:avLst/>
            </a:prstGeom>
            <a:ln w="38100">
              <a:solidFill>
                <a:srgbClr val="F28C28"/>
              </a:solidFill>
              <a:tailEnd type="triangle" w="med" len="med"/>
            </a:ln>
          </p:spPr>
        </p:cxnSp>
        <p:cxnSp>
          <p:nvCxnSpPr>
            <p:cNvPr id="120" name="step arrow"/>
            <p:cNvCxnSpPr/>
            <p:nvPr/>
          </p:nvCxnSpPr>
          <p:spPr>
            <a:xfrm>
              <a:off x="7854696" y="2834640"/>
              <a:ext cx="301752" cy="0"/>
            </a:xfrm>
            <a:prstGeom prst="line">
              <a:avLst/>
            </a:prstGeom>
            <a:ln w="38100">
              <a:solidFill>
                <a:srgbClr val="F28C28"/>
              </a:solidFill>
              <a:tailEnd type="triangle" w="med" len="med"/>
            </a:ln>
          </p:spPr>
        </p:cxnSp>
        <p:sp>
          <p:nvSpPr>
            <p:cNvPr id="121" name="note panel"/>
            <p:cNvSpPr/>
            <p:nvPr/>
          </p:nvSpPr>
          <p:spPr>
            <a:xfrm>
              <a:off x="548640" y="4526280"/>
              <a:ext cx="11091672" cy="822960"/>
            </a:xfrm>
            <a:prstGeom prst="roundRect">
              <a:avLst>
                <a:gd name="adj" fmla="val 11111"/>
              </a:avLst>
            </a:prstGeom>
            <a:solidFill>
              <a:srgbClr val="343A43"/>
            </a:solidFill>
            <a:ln w="19050">
              <a:solidFill>
                <a:srgbClr val="4A515B"/>
              </a:solidFill>
            </a:ln>
          </p:spPr>
          <p:txBody>
            <a:bodyPr rtlCol="0" anchor="ctr"/>
            <a:lstStyle/>
            <a:p>
              <a:pPr algn="ctr"/>
              <a:endParaRPr/>
            </a:p>
          </p:txBody>
        </p:sp>
        <p:sp>
          <p:nvSpPr>
            <p:cNvPr id="122" name="note"/>
            <p:cNvSpPr txBox="1"/>
            <p:nvPr/>
          </p:nvSpPr>
          <p:spPr>
            <a:xfrm>
              <a:off x="822960" y="4526280"/>
              <a:ext cx="10607040" cy="822960"/>
            </a:xfrm>
            <a:prstGeom prst="rect">
              <a:avLst/>
            </a:prstGeom>
            <a:noFill/>
          </p:spPr>
          <p:txBody>
            <a:bodyPr wrap="square" lIns="18288" tIns="9144" rIns="18288" bIns="9144" anchor="ctr">
              <a:noAutofit/>
            </a:bodyPr>
            <a:lstStyle/>
            <a:p>
              <a:pPr algn="l"/>
              <a:r>
                <a:rPr lang="en-GB" sz="2000" b="1" i="0">
                  <a:solidFill>
                    <a:srgbClr val="F2F2F2"/>
                  </a:solidFill>
                  <a:latin typeface="Arial"/>
                </a:rPr>
                <a:t>Normal engines are class members and carry no personal names.</a:t>
              </a:r>
            </a:p>
          </p:txBody>
        </p:sp>
      </p:grpSp>
      <p:sp>
        <p:nvSpPr>
          <p:cNvPr id="12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2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25"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Your engine gets its number once it is placed.</a:t>
            </a:r>
          </a:p>
        </p:txBody>
      </p:sp>
      <p:sp>
        <p:nvSpPr>
          <p:cNvPr id="12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13</a:t>
            </a:r>
          </a:p>
        </p:txBody>
      </p:sp>
    </p:spTree>
    <p:extLst>
      <p:ext uri="{BB962C8B-B14F-4D97-AF65-F5344CB8AC3E}">
        <p14:creationId xmlns:p14="http://schemas.microsoft.com/office/powerpoint/2010/main" val="36278027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23"/>
                                        </p:tgtEl>
                                        <p:attrNameLst>
                                          <p:attrName>style.visibility</p:attrName>
                                        </p:attrNameLst>
                                      </p:cBhvr>
                                      <p:to>
                                        <p:strVal val="visible"/>
                                      </p:to>
                                    </p:set>
                                    <p:animEffect transition="in" filter="fade">
                                      <p:cBhvr>
                                        <p:cTn id="10" dur="500"/>
                                        <p:tgtEl>
                                          <p:spTgt spid="123"/>
                                        </p:tgtEl>
                                      </p:cBhvr>
                                    </p:animEffect>
                                  </p:childTnLst>
                                </p:cTn>
                              </p:par>
                              <p:par>
                                <p:cTn id="11" presetID="10" presetClass="entr" presetSubtype="0" fill="hold" nodeType="withEffect">
                                  <p:stCondLst>
                                    <p:cond delay="600"/>
                                  </p:stCondLst>
                                  <p:childTnLst>
                                    <p:set>
                                      <p:cBhvr>
                                        <p:cTn id="12" dur="1" fill="hold">
                                          <p:stCondLst>
                                            <p:cond delay="0"/>
                                          </p:stCondLst>
                                        </p:cTn>
                                        <p:tgtEl>
                                          <p:spTgt spid="124"/>
                                        </p:tgtEl>
                                        <p:attrNameLst>
                                          <p:attrName>style.visibility</p:attrName>
                                        </p:attrNameLst>
                                      </p:cBhvr>
                                      <p:to>
                                        <p:strVal val="visible"/>
                                      </p:to>
                                    </p:set>
                                    <p:animEffect transition="in" filter="fade">
                                      <p:cBhvr>
                                        <p:cTn id="13" dur="500"/>
                                        <p:tgtEl>
                                          <p:spTgt spid="124"/>
                                        </p:tgtEl>
                                      </p:cBhvr>
                                    </p:animEffect>
                                  </p:childTnLst>
                                </p:cTn>
                              </p:par>
                              <p:par>
                                <p:cTn id="14" presetID="10" presetClass="entr" presetSubtype="0" fill="hold" nodeType="withEffect">
                                  <p:stCondLst>
                                    <p:cond delay="900"/>
                                  </p:stCondLst>
                                  <p:childTnLst>
                                    <p:set>
                                      <p:cBhvr>
                                        <p:cTn id="15" dur="1" fill="hold">
                                          <p:stCondLst>
                                            <p:cond delay="0"/>
                                          </p:stCondLst>
                                        </p:cTn>
                                        <p:tgtEl>
                                          <p:spTgt spid="125"/>
                                        </p:tgtEl>
                                        <p:attrNameLst>
                                          <p:attrName>style.visibility</p:attrName>
                                        </p:attrNameLst>
                                      </p:cBhvr>
                                      <p:to>
                                        <p:strVal val="visible"/>
                                      </p:to>
                                    </p:set>
                                    <p:animEffect transition="in" filter="fade">
                                      <p:cBhvr>
                                        <p:cTn id="16"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Numbers survive region changes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wo number loops" descr="Two loops. In the first, an engine is British No. 1111, becomes North American No. 2222 and returns to British No. 1111. In the second, you edit the British number to 3333, and after the same trip the British number is still 3333. Numbers are examples only."/>
          <p:cNvGrpSpPr/>
          <p:nvPr/>
        </p:nvGrpSpPr>
        <p:grpSpPr>
          <a:xfrm>
            <a:off x="548640" y="1280160"/>
            <a:ext cx="11091672" cy="3886200"/>
            <a:chOff x="548640" y="1280160"/>
            <a:chExt cx="11091672" cy="3886200"/>
          </a:xfrm>
        </p:grpSpPr>
        <p:sp>
          <p:nvSpPr>
            <p:cNvPr id="5" name="loop panel"/>
            <p:cNvSpPr/>
            <p:nvPr/>
          </p:nvSpPr>
          <p:spPr>
            <a:xfrm>
              <a:off x="548640" y="1280160"/>
              <a:ext cx="11091672" cy="1828800"/>
            </a:xfrm>
            <a:prstGeom prst="roundRect">
              <a:avLst>
                <a:gd name="adj" fmla="val 5000"/>
              </a:avLst>
            </a:prstGeom>
            <a:solidFill>
              <a:srgbClr val="2B2F36"/>
            </a:solidFill>
            <a:ln>
              <a:noFill/>
            </a:ln>
          </p:spPr>
          <p:txBody>
            <a:bodyPr rtlCol="0" anchor="ctr"/>
            <a:lstStyle/>
            <a:p>
              <a:pPr algn="ctr"/>
              <a:endParaRPr/>
            </a:p>
          </p:txBody>
        </p:sp>
        <p:sp>
          <p:nvSpPr>
            <p:cNvPr id="6" name="region card"/>
            <p:cNvSpPr/>
            <p:nvPr/>
          </p:nvSpPr>
          <p:spPr>
            <a:xfrm>
              <a:off x="1280160" y="1463040"/>
              <a:ext cx="2377440" cy="1051560"/>
            </a:xfrm>
            <a:prstGeom prst="roundRect">
              <a:avLst>
                <a:gd name="adj" fmla="val 8695"/>
              </a:avLst>
            </a:prstGeom>
            <a:solidFill>
              <a:srgbClr val="343A43"/>
            </a:solidFill>
            <a:ln w="19050">
              <a:solidFill>
                <a:srgbClr val="4A515B"/>
              </a:solidFill>
            </a:ln>
          </p:spPr>
          <p:txBody>
            <a:bodyPr rtlCol="0" anchor="ctr"/>
            <a:lstStyle/>
            <a:p>
              <a:pPr algn="ctr"/>
              <a:endParaRPr/>
            </a:p>
          </p:txBody>
        </p:sp>
        <p:sp>
          <p:nvSpPr>
            <p:cNvPr id="7" name="region name"/>
            <p:cNvSpPr txBox="1"/>
            <p:nvPr/>
          </p:nvSpPr>
          <p:spPr>
            <a:xfrm>
              <a:off x="1280160" y="1536192"/>
              <a:ext cx="2377440" cy="329184"/>
            </a:xfrm>
            <a:prstGeom prst="rect">
              <a:avLst/>
            </a:prstGeom>
            <a:noFill/>
          </p:spPr>
          <p:txBody>
            <a:bodyPr wrap="square" lIns="18288" tIns="9144" rIns="18288" bIns="9144" anchor="ctr">
              <a:noAutofit/>
            </a:bodyPr>
            <a:lstStyle/>
            <a:p>
              <a:pPr algn="ctr"/>
              <a:r>
                <a:rPr lang="en-GB" sz="1600" b="1" i="0">
                  <a:solidFill>
                    <a:srgbClr val="F2F2F2"/>
                  </a:solidFill>
                  <a:latin typeface="Arial"/>
                </a:rPr>
                <a:t>British</a:t>
              </a:r>
            </a:p>
          </p:txBody>
        </p:sp>
        <p:sp>
          <p:nvSpPr>
            <p:cNvPr id="8" name="number plate"/>
            <p:cNvSpPr/>
            <p:nvPr/>
          </p:nvSpPr>
          <p:spPr>
            <a:xfrm>
              <a:off x="1508760" y="1920240"/>
              <a:ext cx="1920240" cy="475488"/>
            </a:xfrm>
            <a:prstGeom prst="roundRect">
              <a:avLst>
                <a:gd name="adj" fmla="val 15384"/>
              </a:avLst>
            </a:prstGeom>
            <a:solidFill>
              <a:srgbClr val="1B1D21"/>
            </a:solidFill>
            <a:ln w="28575">
              <a:solidFill>
                <a:srgbClr val="F28C28"/>
              </a:solidFill>
            </a:ln>
          </p:spPr>
          <p:txBody>
            <a:bodyPr wrap="square" lIns="27432" tIns="0" rIns="27432" bIns="0" rtlCol="0" anchor="ctr">
              <a:noAutofit/>
            </a:bodyPr>
            <a:lstStyle/>
            <a:p>
              <a:pPr algn="ctr"/>
              <a:r>
                <a:rPr lang="en-GB" sz="2400" b="1" i="0">
                  <a:solidFill>
                    <a:srgbClr val="F2F2F2"/>
                  </a:solidFill>
                  <a:latin typeface="Arial"/>
                </a:rPr>
                <a:t>No. 1111</a:t>
              </a:r>
            </a:p>
          </p:txBody>
        </p:sp>
        <p:sp>
          <p:nvSpPr>
            <p:cNvPr id="9" name="region card"/>
            <p:cNvSpPr/>
            <p:nvPr/>
          </p:nvSpPr>
          <p:spPr>
            <a:xfrm>
              <a:off x="4892040" y="1463040"/>
              <a:ext cx="2377440" cy="1051560"/>
            </a:xfrm>
            <a:prstGeom prst="roundRect">
              <a:avLst>
                <a:gd name="adj" fmla="val 8695"/>
              </a:avLst>
            </a:prstGeom>
            <a:solidFill>
              <a:srgbClr val="343A43"/>
            </a:solidFill>
            <a:ln w="19050">
              <a:solidFill>
                <a:srgbClr val="4A515B"/>
              </a:solidFill>
            </a:ln>
          </p:spPr>
          <p:txBody>
            <a:bodyPr rtlCol="0" anchor="ctr"/>
            <a:lstStyle/>
            <a:p>
              <a:pPr algn="ctr"/>
              <a:endParaRPr/>
            </a:p>
          </p:txBody>
        </p:sp>
        <p:sp>
          <p:nvSpPr>
            <p:cNvPr id="10" name="region name"/>
            <p:cNvSpPr txBox="1"/>
            <p:nvPr/>
          </p:nvSpPr>
          <p:spPr>
            <a:xfrm>
              <a:off x="4892040" y="1536192"/>
              <a:ext cx="2377440" cy="329184"/>
            </a:xfrm>
            <a:prstGeom prst="rect">
              <a:avLst/>
            </a:prstGeom>
            <a:noFill/>
          </p:spPr>
          <p:txBody>
            <a:bodyPr wrap="square" lIns="18288" tIns="9144" rIns="18288" bIns="9144" anchor="ctr">
              <a:noAutofit/>
            </a:bodyPr>
            <a:lstStyle/>
            <a:p>
              <a:pPr algn="ctr"/>
              <a:r>
                <a:rPr lang="en-GB" sz="1600" b="1" i="0">
                  <a:solidFill>
                    <a:srgbClr val="F2F2F2"/>
                  </a:solidFill>
                  <a:latin typeface="Arial"/>
                </a:rPr>
                <a:t>North American</a:t>
              </a:r>
            </a:p>
          </p:txBody>
        </p:sp>
        <p:sp>
          <p:nvSpPr>
            <p:cNvPr id="11" name="number plate"/>
            <p:cNvSpPr/>
            <p:nvPr/>
          </p:nvSpPr>
          <p:spPr>
            <a:xfrm>
              <a:off x="5120640" y="1920240"/>
              <a:ext cx="1920240" cy="475488"/>
            </a:xfrm>
            <a:prstGeom prst="roundRect">
              <a:avLst>
                <a:gd name="adj" fmla="val 15384"/>
              </a:avLst>
            </a:prstGeom>
            <a:solidFill>
              <a:srgbClr val="1B1D21"/>
            </a:solidFill>
            <a:ln w="28575">
              <a:solidFill>
                <a:srgbClr val="F28C28"/>
              </a:solidFill>
            </a:ln>
          </p:spPr>
          <p:txBody>
            <a:bodyPr wrap="square" lIns="27432" tIns="0" rIns="27432" bIns="0" rtlCol="0" anchor="ctr">
              <a:noAutofit/>
            </a:bodyPr>
            <a:lstStyle/>
            <a:p>
              <a:pPr algn="ctr"/>
              <a:r>
                <a:rPr lang="en-GB" sz="2400" b="1" i="0">
                  <a:solidFill>
                    <a:srgbClr val="F2F2F2"/>
                  </a:solidFill>
                  <a:latin typeface="Arial"/>
                </a:rPr>
                <a:t>No. 2222</a:t>
              </a:r>
            </a:p>
          </p:txBody>
        </p:sp>
        <p:sp>
          <p:nvSpPr>
            <p:cNvPr id="12" name="region card"/>
            <p:cNvSpPr/>
            <p:nvPr/>
          </p:nvSpPr>
          <p:spPr>
            <a:xfrm>
              <a:off x="8503920" y="1463040"/>
              <a:ext cx="2377440" cy="1051560"/>
            </a:xfrm>
            <a:prstGeom prst="roundRect">
              <a:avLst>
                <a:gd name="adj" fmla="val 8695"/>
              </a:avLst>
            </a:prstGeom>
            <a:solidFill>
              <a:srgbClr val="343A43"/>
            </a:solidFill>
            <a:ln w="19050">
              <a:solidFill>
                <a:srgbClr val="4A515B"/>
              </a:solidFill>
            </a:ln>
          </p:spPr>
          <p:txBody>
            <a:bodyPr rtlCol="0" anchor="ctr"/>
            <a:lstStyle/>
            <a:p>
              <a:pPr algn="ctr"/>
              <a:endParaRPr/>
            </a:p>
          </p:txBody>
        </p:sp>
        <p:sp>
          <p:nvSpPr>
            <p:cNvPr id="13" name="region name"/>
            <p:cNvSpPr txBox="1"/>
            <p:nvPr/>
          </p:nvSpPr>
          <p:spPr>
            <a:xfrm>
              <a:off x="8503920" y="1536192"/>
              <a:ext cx="2377440" cy="329184"/>
            </a:xfrm>
            <a:prstGeom prst="rect">
              <a:avLst/>
            </a:prstGeom>
            <a:noFill/>
          </p:spPr>
          <p:txBody>
            <a:bodyPr wrap="square" lIns="18288" tIns="9144" rIns="18288" bIns="9144" anchor="ctr">
              <a:noAutofit/>
            </a:bodyPr>
            <a:lstStyle/>
            <a:p>
              <a:pPr algn="ctr"/>
              <a:r>
                <a:rPr lang="en-GB" sz="1600" b="1" i="0">
                  <a:solidFill>
                    <a:srgbClr val="F2F2F2"/>
                  </a:solidFill>
                  <a:latin typeface="Arial"/>
                </a:rPr>
                <a:t>British</a:t>
              </a:r>
            </a:p>
          </p:txBody>
        </p:sp>
        <p:sp>
          <p:nvSpPr>
            <p:cNvPr id="14" name="number plate"/>
            <p:cNvSpPr/>
            <p:nvPr/>
          </p:nvSpPr>
          <p:spPr>
            <a:xfrm>
              <a:off x="8732520" y="1920240"/>
              <a:ext cx="1920240" cy="475488"/>
            </a:xfrm>
            <a:prstGeom prst="roundRect">
              <a:avLst>
                <a:gd name="adj" fmla="val 15384"/>
              </a:avLst>
            </a:prstGeom>
            <a:solidFill>
              <a:srgbClr val="1B1D21"/>
            </a:solidFill>
            <a:ln w="28575">
              <a:solidFill>
                <a:srgbClr val="F28C28"/>
              </a:solidFill>
            </a:ln>
          </p:spPr>
          <p:txBody>
            <a:bodyPr wrap="square" lIns="27432" tIns="0" rIns="27432" bIns="0" rtlCol="0" anchor="ctr">
              <a:noAutofit/>
            </a:bodyPr>
            <a:lstStyle/>
            <a:p>
              <a:pPr algn="ctr"/>
              <a:r>
                <a:rPr lang="en-GB" sz="2400" b="1" i="0">
                  <a:solidFill>
                    <a:srgbClr val="F2F2F2"/>
                  </a:solidFill>
                  <a:latin typeface="Arial"/>
                </a:rPr>
                <a:t>No. 1111</a:t>
              </a:r>
            </a:p>
          </p:txBody>
        </p:sp>
        <p:cxnSp>
          <p:nvCxnSpPr>
            <p:cNvPr id="15" name="switch arrow"/>
            <p:cNvCxnSpPr/>
            <p:nvPr/>
          </p:nvCxnSpPr>
          <p:spPr>
            <a:xfrm>
              <a:off x="3749039" y="1984248"/>
              <a:ext cx="1051561" cy="0"/>
            </a:xfrm>
            <a:prstGeom prst="line">
              <a:avLst/>
            </a:prstGeom>
            <a:ln w="38100">
              <a:solidFill>
                <a:srgbClr val="F28C28"/>
              </a:solidFill>
              <a:tailEnd type="triangle" w="med" len="med"/>
            </a:ln>
          </p:spPr>
        </p:cxnSp>
        <p:cxnSp>
          <p:nvCxnSpPr>
            <p:cNvPr id="16" name="switch arrow"/>
            <p:cNvCxnSpPr/>
            <p:nvPr/>
          </p:nvCxnSpPr>
          <p:spPr>
            <a:xfrm>
              <a:off x="7360919" y="1984248"/>
              <a:ext cx="1051561" cy="0"/>
            </a:xfrm>
            <a:prstGeom prst="line">
              <a:avLst/>
            </a:prstGeom>
            <a:ln w="38100">
              <a:solidFill>
                <a:srgbClr val="F28C28"/>
              </a:solidFill>
              <a:tailEnd type="triangle" w="med" len="med"/>
            </a:ln>
          </p:spPr>
        </p:cxnSp>
        <p:sp>
          <p:nvSpPr>
            <p:cNvPr id="17" name="return arrow"/>
            <p:cNvSpPr/>
            <p:nvPr/>
          </p:nvSpPr>
          <p:spPr>
            <a:xfrm>
              <a:off x="2468880" y="2542032"/>
              <a:ext cx="7223760" cy="338328"/>
            </a:xfrm>
            <a:custGeom>
              <a:avLst/>
              <a:gdLst/>
              <a:ahLst/>
              <a:cxnLst/>
              <a:rect l="l" t="t" r="r" b="b"/>
              <a:pathLst>
                <a:path w="7223760" h="338328">
                  <a:moveTo>
                    <a:pt x="7223760" y="0"/>
                  </a:moveTo>
                  <a:lnTo>
                    <a:pt x="7223760" y="338328"/>
                  </a:lnTo>
                  <a:lnTo>
                    <a:pt x="0" y="338328"/>
                  </a:lnTo>
                  <a:lnTo>
                    <a:pt x="0" y="36576"/>
                  </a:lnTo>
                </a:path>
              </a:pathLst>
            </a:custGeom>
            <a:noFill/>
            <a:ln w="28575">
              <a:solidFill>
                <a:srgbClr val="F28C28"/>
              </a:solidFill>
              <a:prstDash val="dash"/>
              <a:tailEnd type="triangle" w="med" len="med"/>
            </a:ln>
          </p:spPr>
          <p:txBody>
            <a:bodyPr rtlCol="0" anchor="ctr"/>
            <a:lstStyle/>
            <a:p>
              <a:pPr algn="ctr"/>
              <a:endParaRPr/>
            </a:p>
          </p:txBody>
        </p:sp>
        <p:sp>
          <p:nvSpPr>
            <p:cNvPr id="18" name="loop panel"/>
            <p:cNvSpPr/>
            <p:nvPr/>
          </p:nvSpPr>
          <p:spPr>
            <a:xfrm>
              <a:off x="548640" y="3246120"/>
              <a:ext cx="11091672" cy="1920240"/>
            </a:xfrm>
            <a:prstGeom prst="roundRect">
              <a:avLst>
                <a:gd name="adj" fmla="val 4761"/>
              </a:avLst>
            </a:prstGeom>
            <a:solidFill>
              <a:srgbClr val="2B2F36"/>
            </a:solidFill>
            <a:ln>
              <a:noFill/>
            </a:ln>
          </p:spPr>
          <p:txBody>
            <a:bodyPr rtlCol="0" anchor="ctr"/>
            <a:lstStyle/>
            <a:p>
              <a:pPr algn="ctr"/>
              <a:endParaRPr/>
            </a:p>
          </p:txBody>
        </p:sp>
        <p:sp>
          <p:nvSpPr>
            <p:cNvPr id="19" name="region card"/>
            <p:cNvSpPr/>
            <p:nvPr/>
          </p:nvSpPr>
          <p:spPr>
            <a:xfrm>
              <a:off x="777240" y="3456432"/>
              <a:ext cx="2011680" cy="1051560"/>
            </a:xfrm>
            <a:prstGeom prst="roundRect">
              <a:avLst>
                <a:gd name="adj" fmla="val 8695"/>
              </a:avLst>
            </a:prstGeom>
            <a:solidFill>
              <a:srgbClr val="343A43"/>
            </a:solidFill>
            <a:ln w="19050">
              <a:solidFill>
                <a:srgbClr val="4A515B"/>
              </a:solidFill>
            </a:ln>
          </p:spPr>
          <p:txBody>
            <a:bodyPr rtlCol="0" anchor="ctr"/>
            <a:lstStyle/>
            <a:p>
              <a:pPr algn="ctr"/>
              <a:endParaRPr/>
            </a:p>
          </p:txBody>
        </p:sp>
        <p:sp>
          <p:nvSpPr>
            <p:cNvPr id="20" name="region name"/>
            <p:cNvSpPr txBox="1"/>
            <p:nvPr/>
          </p:nvSpPr>
          <p:spPr>
            <a:xfrm>
              <a:off x="777240" y="3529584"/>
              <a:ext cx="2011680" cy="329184"/>
            </a:xfrm>
            <a:prstGeom prst="rect">
              <a:avLst/>
            </a:prstGeom>
            <a:noFill/>
          </p:spPr>
          <p:txBody>
            <a:bodyPr wrap="square" lIns="18288" tIns="9144" rIns="18288" bIns="9144" anchor="ctr">
              <a:noAutofit/>
            </a:bodyPr>
            <a:lstStyle/>
            <a:p>
              <a:pPr algn="ctr"/>
              <a:r>
                <a:rPr lang="en-GB" sz="1600" b="1" i="0">
                  <a:solidFill>
                    <a:srgbClr val="F2F2F2"/>
                  </a:solidFill>
                  <a:latin typeface="Arial"/>
                </a:rPr>
                <a:t>British</a:t>
              </a:r>
            </a:p>
          </p:txBody>
        </p:sp>
        <p:sp>
          <p:nvSpPr>
            <p:cNvPr id="21" name="number plate"/>
            <p:cNvSpPr/>
            <p:nvPr/>
          </p:nvSpPr>
          <p:spPr>
            <a:xfrm>
              <a:off x="1005840" y="3913631"/>
              <a:ext cx="1554480" cy="475488"/>
            </a:xfrm>
            <a:prstGeom prst="roundRect">
              <a:avLst>
                <a:gd name="adj" fmla="val 15384"/>
              </a:avLst>
            </a:prstGeom>
            <a:solidFill>
              <a:srgbClr val="1B1D21"/>
            </a:solidFill>
            <a:ln w="28575">
              <a:solidFill>
                <a:srgbClr val="F28C28"/>
              </a:solidFill>
            </a:ln>
          </p:spPr>
          <p:txBody>
            <a:bodyPr wrap="square" lIns="27432" tIns="0" rIns="27432" bIns="0" rtlCol="0" anchor="ctr">
              <a:noAutofit/>
            </a:bodyPr>
            <a:lstStyle/>
            <a:p>
              <a:pPr algn="ctr"/>
              <a:r>
                <a:rPr lang="en-GB" sz="2400" b="1" i="0">
                  <a:solidFill>
                    <a:srgbClr val="F2F2F2"/>
                  </a:solidFill>
                  <a:latin typeface="Arial"/>
                </a:rPr>
                <a:t>No. 1111</a:t>
              </a:r>
            </a:p>
          </p:txBody>
        </p:sp>
        <p:sp>
          <p:nvSpPr>
            <p:cNvPr id="22" name="region card"/>
            <p:cNvSpPr/>
            <p:nvPr/>
          </p:nvSpPr>
          <p:spPr>
            <a:xfrm>
              <a:off x="3657600" y="3456432"/>
              <a:ext cx="2011680" cy="1051560"/>
            </a:xfrm>
            <a:prstGeom prst="roundRect">
              <a:avLst>
                <a:gd name="adj" fmla="val 8695"/>
              </a:avLst>
            </a:prstGeom>
            <a:solidFill>
              <a:srgbClr val="343A43"/>
            </a:solidFill>
            <a:ln w="19050">
              <a:solidFill>
                <a:srgbClr val="4A515B"/>
              </a:solidFill>
            </a:ln>
          </p:spPr>
          <p:txBody>
            <a:bodyPr rtlCol="0" anchor="ctr"/>
            <a:lstStyle/>
            <a:p>
              <a:pPr algn="ctr"/>
              <a:endParaRPr/>
            </a:p>
          </p:txBody>
        </p:sp>
        <p:sp>
          <p:nvSpPr>
            <p:cNvPr id="23" name="region name"/>
            <p:cNvSpPr txBox="1"/>
            <p:nvPr/>
          </p:nvSpPr>
          <p:spPr>
            <a:xfrm>
              <a:off x="3657600" y="3529584"/>
              <a:ext cx="2011680" cy="329184"/>
            </a:xfrm>
            <a:prstGeom prst="rect">
              <a:avLst/>
            </a:prstGeom>
            <a:noFill/>
          </p:spPr>
          <p:txBody>
            <a:bodyPr wrap="square" lIns="18288" tIns="9144" rIns="18288" bIns="9144" anchor="ctr">
              <a:noAutofit/>
            </a:bodyPr>
            <a:lstStyle/>
            <a:p>
              <a:pPr algn="ctr"/>
              <a:r>
                <a:rPr lang="en-GB" sz="1600" b="1" i="0">
                  <a:solidFill>
                    <a:srgbClr val="F2F2F2"/>
                  </a:solidFill>
                  <a:latin typeface="Arial"/>
                </a:rPr>
                <a:t>British</a:t>
              </a:r>
            </a:p>
          </p:txBody>
        </p:sp>
        <p:sp>
          <p:nvSpPr>
            <p:cNvPr id="24" name="number plate"/>
            <p:cNvSpPr/>
            <p:nvPr/>
          </p:nvSpPr>
          <p:spPr>
            <a:xfrm>
              <a:off x="3886200" y="3913631"/>
              <a:ext cx="1554480" cy="475488"/>
            </a:xfrm>
            <a:prstGeom prst="roundRect">
              <a:avLst>
                <a:gd name="adj" fmla="val 15384"/>
              </a:avLst>
            </a:prstGeom>
            <a:solidFill>
              <a:srgbClr val="1B1D21"/>
            </a:solidFill>
            <a:ln w="28575">
              <a:solidFill>
                <a:srgbClr val="F28C28"/>
              </a:solidFill>
            </a:ln>
          </p:spPr>
          <p:txBody>
            <a:bodyPr wrap="square" lIns="27432" tIns="0" rIns="27432" bIns="0" rtlCol="0" anchor="ctr">
              <a:noAutofit/>
            </a:bodyPr>
            <a:lstStyle/>
            <a:p>
              <a:pPr algn="ctr"/>
              <a:r>
                <a:rPr lang="en-GB" sz="2400" b="1" i="0">
                  <a:solidFill>
                    <a:srgbClr val="F2F2F2"/>
                  </a:solidFill>
                  <a:latin typeface="Arial"/>
                </a:rPr>
                <a:t>No. 3333</a:t>
              </a:r>
            </a:p>
          </p:txBody>
        </p:sp>
        <p:sp>
          <p:nvSpPr>
            <p:cNvPr id="25" name="region card"/>
            <p:cNvSpPr/>
            <p:nvPr/>
          </p:nvSpPr>
          <p:spPr>
            <a:xfrm>
              <a:off x="6537960" y="3456432"/>
              <a:ext cx="2011680" cy="1051560"/>
            </a:xfrm>
            <a:prstGeom prst="roundRect">
              <a:avLst>
                <a:gd name="adj" fmla="val 8695"/>
              </a:avLst>
            </a:prstGeom>
            <a:solidFill>
              <a:srgbClr val="343A43"/>
            </a:solidFill>
            <a:ln w="19050">
              <a:solidFill>
                <a:srgbClr val="4A515B"/>
              </a:solidFill>
            </a:ln>
          </p:spPr>
          <p:txBody>
            <a:bodyPr rtlCol="0" anchor="ctr"/>
            <a:lstStyle/>
            <a:p>
              <a:pPr algn="ctr"/>
              <a:endParaRPr/>
            </a:p>
          </p:txBody>
        </p:sp>
        <p:sp>
          <p:nvSpPr>
            <p:cNvPr id="26" name="region name"/>
            <p:cNvSpPr txBox="1"/>
            <p:nvPr/>
          </p:nvSpPr>
          <p:spPr>
            <a:xfrm>
              <a:off x="6537960" y="3529584"/>
              <a:ext cx="2011680" cy="329184"/>
            </a:xfrm>
            <a:prstGeom prst="rect">
              <a:avLst/>
            </a:prstGeom>
            <a:noFill/>
          </p:spPr>
          <p:txBody>
            <a:bodyPr wrap="square" lIns="18288" tIns="9144" rIns="18288" bIns="9144" anchor="ctr">
              <a:noAutofit/>
            </a:bodyPr>
            <a:lstStyle/>
            <a:p>
              <a:pPr algn="ctr"/>
              <a:r>
                <a:rPr lang="en-GB" sz="1600" b="1" i="0">
                  <a:solidFill>
                    <a:srgbClr val="F2F2F2"/>
                  </a:solidFill>
                  <a:latin typeface="Arial"/>
                </a:rPr>
                <a:t>North American</a:t>
              </a:r>
            </a:p>
          </p:txBody>
        </p:sp>
        <p:sp>
          <p:nvSpPr>
            <p:cNvPr id="27" name="number plate"/>
            <p:cNvSpPr/>
            <p:nvPr/>
          </p:nvSpPr>
          <p:spPr>
            <a:xfrm>
              <a:off x="6766560" y="3913631"/>
              <a:ext cx="1554480" cy="475488"/>
            </a:xfrm>
            <a:prstGeom prst="roundRect">
              <a:avLst>
                <a:gd name="adj" fmla="val 15384"/>
              </a:avLst>
            </a:prstGeom>
            <a:solidFill>
              <a:srgbClr val="1B1D21"/>
            </a:solidFill>
            <a:ln w="28575">
              <a:solidFill>
                <a:srgbClr val="F28C28"/>
              </a:solidFill>
            </a:ln>
          </p:spPr>
          <p:txBody>
            <a:bodyPr wrap="square" lIns="27432" tIns="0" rIns="27432" bIns="0" rtlCol="0" anchor="ctr">
              <a:noAutofit/>
            </a:bodyPr>
            <a:lstStyle/>
            <a:p>
              <a:pPr algn="ctr"/>
              <a:r>
                <a:rPr lang="en-GB" sz="2400" b="1" i="0">
                  <a:solidFill>
                    <a:srgbClr val="F2F2F2"/>
                  </a:solidFill>
                  <a:latin typeface="Arial"/>
                </a:rPr>
                <a:t>No. 2222</a:t>
              </a:r>
            </a:p>
          </p:txBody>
        </p:sp>
        <p:sp>
          <p:nvSpPr>
            <p:cNvPr id="28" name="region card"/>
            <p:cNvSpPr/>
            <p:nvPr/>
          </p:nvSpPr>
          <p:spPr>
            <a:xfrm>
              <a:off x="9418320" y="3456432"/>
              <a:ext cx="2011680" cy="1051560"/>
            </a:xfrm>
            <a:prstGeom prst="roundRect">
              <a:avLst>
                <a:gd name="adj" fmla="val 8695"/>
              </a:avLst>
            </a:prstGeom>
            <a:solidFill>
              <a:srgbClr val="343A43"/>
            </a:solidFill>
            <a:ln w="19050">
              <a:solidFill>
                <a:srgbClr val="4A515B"/>
              </a:solidFill>
            </a:ln>
          </p:spPr>
          <p:txBody>
            <a:bodyPr rtlCol="0" anchor="ctr"/>
            <a:lstStyle/>
            <a:p>
              <a:pPr algn="ctr"/>
              <a:endParaRPr/>
            </a:p>
          </p:txBody>
        </p:sp>
        <p:sp>
          <p:nvSpPr>
            <p:cNvPr id="29" name="region name"/>
            <p:cNvSpPr txBox="1"/>
            <p:nvPr/>
          </p:nvSpPr>
          <p:spPr>
            <a:xfrm>
              <a:off x="9418320" y="3529584"/>
              <a:ext cx="2011680" cy="329184"/>
            </a:xfrm>
            <a:prstGeom prst="rect">
              <a:avLst/>
            </a:prstGeom>
            <a:noFill/>
          </p:spPr>
          <p:txBody>
            <a:bodyPr wrap="square" lIns="18288" tIns="9144" rIns="18288" bIns="9144" anchor="ctr">
              <a:noAutofit/>
            </a:bodyPr>
            <a:lstStyle/>
            <a:p>
              <a:pPr algn="ctr"/>
              <a:r>
                <a:rPr lang="en-GB" sz="1600" b="1" i="0">
                  <a:solidFill>
                    <a:srgbClr val="F2F2F2"/>
                  </a:solidFill>
                  <a:latin typeface="Arial"/>
                </a:rPr>
                <a:t>British</a:t>
              </a:r>
            </a:p>
          </p:txBody>
        </p:sp>
        <p:sp>
          <p:nvSpPr>
            <p:cNvPr id="30" name="number plate"/>
            <p:cNvSpPr/>
            <p:nvPr/>
          </p:nvSpPr>
          <p:spPr>
            <a:xfrm>
              <a:off x="9646920" y="3913631"/>
              <a:ext cx="1554480" cy="475488"/>
            </a:xfrm>
            <a:prstGeom prst="roundRect">
              <a:avLst>
                <a:gd name="adj" fmla="val 15384"/>
              </a:avLst>
            </a:prstGeom>
            <a:solidFill>
              <a:srgbClr val="1B1D21"/>
            </a:solidFill>
            <a:ln w="28575">
              <a:solidFill>
                <a:srgbClr val="F28C28"/>
              </a:solidFill>
            </a:ln>
          </p:spPr>
          <p:txBody>
            <a:bodyPr wrap="square" lIns="27432" tIns="0" rIns="27432" bIns="0" rtlCol="0" anchor="ctr">
              <a:noAutofit/>
            </a:bodyPr>
            <a:lstStyle/>
            <a:p>
              <a:pPr algn="ctr"/>
              <a:r>
                <a:rPr lang="en-GB" sz="2400" b="1" i="0">
                  <a:solidFill>
                    <a:srgbClr val="F2F2F2"/>
                  </a:solidFill>
                  <a:latin typeface="Arial"/>
                </a:rPr>
                <a:t>No. 3333</a:t>
              </a:r>
            </a:p>
          </p:txBody>
        </p:sp>
        <p:cxnSp>
          <p:nvCxnSpPr>
            <p:cNvPr id="31" name="switch arrow"/>
            <p:cNvCxnSpPr/>
            <p:nvPr/>
          </p:nvCxnSpPr>
          <p:spPr>
            <a:xfrm>
              <a:off x="2880360" y="3977639"/>
              <a:ext cx="685800" cy="0"/>
            </a:xfrm>
            <a:prstGeom prst="line">
              <a:avLst/>
            </a:prstGeom>
            <a:ln w="38100">
              <a:solidFill>
                <a:srgbClr val="F28C28"/>
              </a:solidFill>
              <a:tailEnd type="triangle" w="med" len="med"/>
            </a:ln>
          </p:spPr>
        </p:cxnSp>
        <p:cxnSp>
          <p:nvCxnSpPr>
            <p:cNvPr id="32" name="switch arrow"/>
            <p:cNvCxnSpPr/>
            <p:nvPr/>
          </p:nvCxnSpPr>
          <p:spPr>
            <a:xfrm>
              <a:off x="5760720" y="3977639"/>
              <a:ext cx="685800" cy="0"/>
            </a:xfrm>
            <a:prstGeom prst="line">
              <a:avLst/>
            </a:prstGeom>
            <a:ln w="38100">
              <a:solidFill>
                <a:srgbClr val="F28C28"/>
              </a:solidFill>
              <a:tailEnd type="triangle" w="med" len="med"/>
            </a:ln>
          </p:spPr>
        </p:cxnSp>
        <p:cxnSp>
          <p:nvCxnSpPr>
            <p:cNvPr id="33" name="switch arrow"/>
            <p:cNvCxnSpPr/>
            <p:nvPr/>
          </p:nvCxnSpPr>
          <p:spPr>
            <a:xfrm>
              <a:off x="8641080" y="3977639"/>
              <a:ext cx="685800" cy="0"/>
            </a:xfrm>
            <a:prstGeom prst="line">
              <a:avLst/>
            </a:prstGeom>
            <a:ln w="38100">
              <a:solidFill>
                <a:srgbClr val="F28C28"/>
              </a:solidFill>
              <a:tailEnd type="triangle" w="med" len="med"/>
            </a:ln>
          </p:spPr>
        </p:cxnSp>
        <p:sp>
          <p:nvSpPr>
            <p:cNvPr id="34" name="pencil body"/>
            <p:cNvSpPr/>
            <p:nvPr/>
          </p:nvSpPr>
          <p:spPr>
            <a:xfrm>
              <a:off x="3092500" y="3310128"/>
              <a:ext cx="263348" cy="263347"/>
            </a:xfrm>
            <a:custGeom>
              <a:avLst/>
              <a:gdLst/>
              <a:ahLst/>
              <a:cxnLst/>
              <a:rect l="l" t="t" r="r" b="b"/>
              <a:pathLst>
                <a:path w="263348" h="263347">
                  <a:moveTo>
                    <a:pt x="192024" y="0"/>
                  </a:moveTo>
                  <a:lnTo>
                    <a:pt x="263348" y="71323"/>
                  </a:lnTo>
                  <a:lnTo>
                    <a:pt x="71324" y="263347"/>
                  </a:lnTo>
                  <a:lnTo>
                    <a:pt x="0" y="192024"/>
                  </a:lnTo>
                  <a:close/>
                </a:path>
              </a:pathLst>
            </a:custGeom>
            <a:solidFill>
              <a:srgbClr val="F2C14E"/>
            </a:solidFill>
            <a:ln>
              <a:noFill/>
            </a:ln>
          </p:spPr>
          <p:txBody>
            <a:bodyPr rtlCol="0" anchor="ctr"/>
            <a:lstStyle/>
            <a:p>
              <a:pPr algn="ctr"/>
              <a:endParaRPr/>
            </a:p>
          </p:txBody>
        </p:sp>
        <p:sp>
          <p:nvSpPr>
            <p:cNvPr id="35" name="pencil tip"/>
            <p:cNvSpPr/>
            <p:nvPr/>
          </p:nvSpPr>
          <p:spPr>
            <a:xfrm>
              <a:off x="3081528" y="3502152"/>
              <a:ext cx="82296" cy="82296"/>
            </a:xfrm>
            <a:custGeom>
              <a:avLst/>
              <a:gdLst/>
              <a:ahLst/>
              <a:cxnLst/>
              <a:rect l="l" t="t" r="r" b="b"/>
              <a:pathLst>
                <a:path w="82296" h="82296">
                  <a:moveTo>
                    <a:pt x="10972" y="0"/>
                  </a:moveTo>
                  <a:lnTo>
                    <a:pt x="82296" y="71323"/>
                  </a:lnTo>
                  <a:lnTo>
                    <a:pt x="0" y="82296"/>
                  </a:lnTo>
                  <a:close/>
                </a:path>
              </a:pathLst>
            </a:custGeom>
            <a:solidFill>
              <a:srgbClr val="F2F2F2"/>
            </a:solidFill>
            <a:ln>
              <a:noFill/>
            </a:ln>
          </p:spPr>
          <p:txBody>
            <a:bodyPr rtlCol="0" anchor="ctr"/>
            <a:lstStyle/>
            <a:p>
              <a:pPr algn="ctr"/>
              <a:endParaRPr/>
            </a:p>
          </p:txBody>
        </p:sp>
        <p:sp>
          <p:nvSpPr>
            <p:cNvPr id="36" name="edit label"/>
            <p:cNvSpPr txBox="1"/>
            <p:nvPr/>
          </p:nvSpPr>
          <p:spPr>
            <a:xfrm>
              <a:off x="2807208" y="4041648"/>
              <a:ext cx="832103" cy="274320"/>
            </a:xfrm>
            <a:prstGeom prst="rect">
              <a:avLst/>
            </a:prstGeom>
            <a:noFill/>
          </p:spPr>
          <p:txBody>
            <a:bodyPr wrap="square" lIns="18288" tIns="9144" rIns="18288" bIns="9144" anchor="ctr">
              <a:noAutofit/>
            </a:bodyPr>
            <a:lstStyle/>
            <a:p>
              <a:pPr algn="ctr"/>
              <a:r>
                <a:rPr lang="en-GB" sz="1400" b="1" i="0">
                  <a:solidFill>
                    <a:srgbClr val="F2F2F2"/>
                  </a:solidFill>
                  <a:latin typeface="Arial"/>
                </a:rPr>
                <a:t>You edit</a:t>
              </a:r>
            </a:p>
          </p:txBody>
        </p:sp>
        <p:sp>
          <p:nvSpPr>
            <p:cNvPr id="37" name="return arrow"/>
            <p:cNvSpPr/>
            <p:nvPr/>
          </p:nvSpPr>
          <p:spPr>
            <a:xfrm>
              <a:off x="4663440" y="4535424"/>
              <a:ext cx="5760720" cy="310896"/>
            </a:xfrm>
            <a:custGeom>
              <a:avLst/>
              <a:gdLst/>
              <a:ahLst/>
              <a:cxnLst/>
              <a:rect l="l" t="t" r="r" b="b"/>
              <a:pathLst>
                <a:path w="5760720" h="310896">
                  <a:moveTo>
                    <a:pt x="5760720" y="0"/>
                  </a:moveTo>
                  <a:lnTo>
                    <a:pt x="5760720" y="310896"/>
                  </a:lnTo>
                  <a:lnTo>
                    <a:pt x="0" y="310896"/>
                  </a:lnTo>
                  <a:lnTo>
                    <a:pt x="0" y="36576"/>
                  </a:lnTo>
                </a:path>
              </a:pathLst>
            </a:custGeom>
            <a:noFill/>
            <a:ln w="28575">
              <a:solidFill>
                <a:srgbClr val="F28C28"/>
              </a:solidFill>
              <a:prstDash val="dash"/>
              <a:tailEnd type="triangle" w="med" len="med"/>
            </a:ln>
          </p:spPr>
          <p:txBody>
            <a:bodyPr rtlCol="0" anchor="ctr"/>
            <a:lstStyle/>
            <a:p>
              <a:pPr algn="ctr"/>
              <a:endParaRPr/>
            </a:p>
          </p:txBody>
        </p:sp>
      </p:grpSp>
      <p:sp>
        <p:nvSpPr>
          <p:cNvPr id="38" name="example label"/>
          <p:cNvSpPr txBox="1"/>
          <p:nvPr/>
        </p:nvSpPr>
        <p:spPr>
          <a:xfrm>
            <a:off x="548640" y="5285232"/>
            <a:ext cx="2743200" cy="274320"/>
          </a:xfrm>
          <a:prstGeom prst="rect">
            <a:avLst/>
          </a:prstGeom>
          <a:noFill/>
        </p:spPr>
        <p:txBody>
          <a:bodyPr wrap="square" lIns="18288" tIns="9144" rIns="18288" bIns="9144" anchor="ctr">
            <a:noAutofit/>
          </a:bodyPr>
          <a:lstStyle/>
          <a:p>
            <a:pPr algn="l"/>
            <a:r>
              <a:rPr lang="en-GB" sz="1400" b="1" i="0">
                <a:solidFill>
                  <a:srgbClr val="A9B0B8"/>
                </a:solidFill>
                <a:latin typeface="Arial"/>
              </a:rPr>
              <a:t>Example only</a:t>
            </a:r>
          </a:p>
        </p:txBody>
      </p:sp>
      <p:sp>
        <p:nvSpPr>
          <p:cNvPr id="3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4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41" name="CAPTION"/>
          <p:cNvSpPr txBox="1"/>
          <p:nvPr/>
        </p:nvSpPr>
        <p:spPr>
          <a:xfrm>
            <a:off x="822960" y="5760720"/>
            <a:ext cx="886968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Switch region and back, and your engine gets its old number back. A number you changed stays changed.</a:t>
            </a:r>
          </a:p>
        </p:txBody>
      </p:sp>
      <p:sp>
        <p:nvSpPr>
          <p:cNvPr id="42"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14</a:t>
            </a:r>
          </a:p>
        </p:txBody>
      </p:sp>
    </p:spTree>
    <p:extLst>
      <p:ext uri="{BB962C8B-B14F-4D97-AF65-F5344CB8AC3E}">
        <p14:creationId xmlns:p14="http://schemas.microsoft.com/office/powerpoint/2010/main" val="16649421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par>
                                <p:cTn id="11" presetID="10" presetClass="entr" presetSubtype="0" fill="hold" nodeType="withEffect">
                                  <p:stCondLst>
                                    <p:cond delay="60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nodeType="withEffect">
                                  <p:stCondLst>
                                    <p:cond delay="90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par>
                                <p:cTn id="17" presetID="10" presetClass="entr" presetSubtype="0" fill="hold" nodeType="withEffect">
                                  <p:stCondLst>
                                    <p:cond delay="120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Two numbering styles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Standardised against Historical Operator" descr="Two cards. Standardised shows engines of three sizes with number plates in one consistent format. Historical Operator shows engines with plates in different formats and colours, like the old railway companies."/>
          <p:cNvGrpSpPr/>
          <p:nvPr/>
        </p:nvGrpSpPr>
        <p:grpSpPr>
          <a:xfrm>
            <a:off x="548640" y="1325880"/>
            <a:ext cx="11091672" cy="3108960"/>
            <a:chOff x="548640" y="1325880"/>
            <a:chExt cx="11091672" cy="3108960"/>
          </a:xfrm>
        </p:grpSpPr>
        <p:sp>
          <p:nvSpPr>
            <p:cNvPr id="5" name="style card"/>
            <p:cNvSpPr/>
            <p:nvPr/>
          </p:nvSpPr>
          <p:spPr>
            <a:xfrm>
              <a:off x="548640" y="1325880"/>
              <a:ext cx="5349240" cy="3108960"/>
            </a:xfrm>
            <a:prstGeom prst="roundRect">
              <a:avLst>
                <a:gd name="adj" fmla="val 2941"/>
              </a:avLst>
            </a:prstGeom>
            <a:solidFill>
              <a:srgbClr val="2B2F36"/>
            </a:solidFill>
            <a:ln w="19050">
              <a:solidFill>
                <a:srgbClr val="4A515B"/>
              </a:solidFill>
            </a:ln>
          </p:spPr>
          <p:txBody>
            <a:bodyPr rtlCol="0" anchor="ctr"/>
            <a:lstStyle/>
            <a:p>
              <a:pPr algn="ctr"/>
              <a:endParaRPr/>
            </a:p>
          </p:txBody>
        </p:sp>
        <p:sp>
          <p:nvSpPr>
            <p:cNvPr id="6" name="card heading"/>
            <p:cNvSpPr txBox="1"/>
            <p:nvPr/>
          </p:nvSpPr>
          <p:spPr>
            <a:xfrm>
              <a:off x="822959" y="1417320"/>
              <a:ext cx="4846320" cy="457200"/>
            </a:xfrm>
            <a:prstGeom prst="rect">
              <a:avLst/>
            </a:prstGeom>
            <a:noFill/>
          </p:spPr>
          <p:txBody>
            <a:bodyPr wrap="square" lIns="18288" tIns="9144" rIns="18288" bIns="9144" anchor="ctr">
              <a:noAutofit/>
            </a:bodyPr>
            <a:lstStyle/>
            <a:p>
              <a:pPr algn="l"/>
              <a:r>
                <a:rPr lang="en-GB" sz="2400" b="1" i="0">
                  <a:solidFill>
                    <a:srgbClr val="F2F2F2"/>
                  </a:solidFill>
                  <a:latin typeface="Arial"/>
                </a:rPr>
                <a:t>Standardised</a:t>
              </a:r>
            </a:p>
          </p:txBody>
        </p:sp>
        <p:sp>
          <p:nvSpPr>
            <p:cNvPr id="7" name="card description"/>
            <p:cNvSpPr txBox="1"/>
            <p:nvPr/>
          </p:nvSpPr>
          <p:spPr>
            <a:xfrm>
              <a:off x="822959" y="1874519"/>
              <a:ext cx="4846320" cy="640080"/>
            </a:xfrm>
            <a:prstGeom prst="rect">
              <a:avLst/>
            </a:prstGeom>
            <a:noFill/>
          </p:spPr>
          <p:txBody>
            <a:bodyPr wrap="square" lIns="18288" tIns="9144" rIns="18288" bIns="9144" anchor="t">
              <a:noAutofit/>
            </a:bodyPr>
            <a:lstStyle/>
            <a:p>
              <a:pPr algn="l"/>
              <a:r>
                <a:rPr lang="en-GB" sz="1800" b="0" i="0">
                  <a:solidFill>
                    <a:srgbClr val="A9B0B8"/>
                  </a:solidFill>
                  <a:latin typeface="Arial"/>
                </a:rPr>
                <a:t>One consistent scheme</a:t>
              </a:r>
            </a:p>
          </p:txBody>
        </p:sp>
        <p:sp>
          <p:nvSpPr>
            <p:cNvPr id="8" name="frame"/>
            <p:cNvSpPr/>
            <p:nvPr/>
          </p:nvSpPr>
          <p:spPr>
            <a:xfrm>
              <a:off x="1141536" y="2992282"/>
              <a:ext cx="893185" cy="36210"/>
            </a:xfrm>
            <a:prstGeom prst="rect">
              <a:avLst/>
            </a:prstGeom>
            <a:solidFill>
              <a:srgbClr val="3A3F47"/>
            </a:solidFill>
            <a:ln w="9525">
              <a:solidFill>
                <a:srgbClr val="9AA0A6"/>
              </a:solidFill>
            </a:ln>
          </p:spPr>
          <p:txBody>
            <a:bodyPr rtlCol="0" anchor="ctr"/>
            <a:lstStyle/>
            <a:p>
              <a:pPr algn="ctr"/>
              <a:endParaRPr/>
            </a:p>
          </p:txBody>
        </p:sp>
        <p:sp>
          <p:nvSpPr>
            <p:cNvPr id="9" name="bunker"/>
            <p:cNvSpPr/>
            <p:nvPr/>
          </p:nvSpPr>
          <p:spPr>
            <a:xfrm>
              <a:off x="1141536" y="2835371"/>
              <a:ext cx="136794" cy="156911"/>
            </a:xfrm>
            <a:prstGeom prst="roundRect">
              <a:avLst>
                <a:gd name="adj" fmla="val 2941"/>
              </a:avLst>
            </a:prstGeom>
            <a:solidFill>
              <a:srgbClr val="F28C28"/>
            </a:solidFill>
            <a:ln>
              <a:noFill/>
            </a:ln>
          </p:spPr>
          <p:txBody>
            <a:bodyPr rtlCol="0" anchor="ctr"/>
            <a:lstStyle/>
            <a:p>
              <a:pPr algn="ctr"/>
              <a:endParaRPr/>
            </a:p>
          </p:txBody>
        </p:sp>
        <p:sp>
          <p:nvSpPr>
            <p:cNvPr id="10" name="bunker coal"/>
            <p:cNvSpPr/>
            <p:nvPr/>
          </p:nvSpPr>
          <p:spPr>
            <a:xfrm>
              <a:off x="1149583" y="2795137"/>
              <a:ext cx="120701" cy="40234"/>
            </a:xfrm>
            <a:custGeom>
              <a:avLst/>
              <a:gdLst/>
              <a:ahLst/>
              <a:cxnLst/>
              <a:rect l="l" t="t" r="r" b="b"/>
              <a:pathLst>
                <a:path w="120701" h="40234">
                  <a:moveTo>
                    <a:pt x="0" y="40234"/>
                  </a:moveTo>
                  <a:lnTo>
                    <a:pt x="32187" y="4024"/>
                  </a:lnTo>
                  <a:lnTo>
                    <a:pt x="80467" y="0"/>
                  </a:lnTo>
                  <a:lnTo>
                    <a:pt x="120701" y="40234"/>
                  </a:lnTo>
                  <a:close/>
                </a:path>
              </a:pathLst>
            </a:custGeom>
            <a:solidFill>
              <a:srgbClr val="1B1D21"/>
            </a:solidFill>
            <a:ln w="12700">
              <a:solidFill>
                <a:srgbClr val="6B7078"/>
              </a:solidFill>
            </a:ln>
          </p:spPr>
          <p:txBody>
            <a:bodyPr rtlCol="0" anchor="ctr"/>
            <a:lstStyle/>
            <a:p>
              <a:pPr algn="ctr"/>
              <a:endParaRPr/>
            </a:p>
          </p:txBody>
        </p:sp>
        <p:sp>
          <p:nvSpPr>
            <p:cNvPr id="11" name="cab"/>
            <p:cNvSpPr/>
            <p:nvPr/>
          </p:nvSpPr>
          <p:spPr>
            <a:xfrm>
              <a:off x="1278331" y="2770997"/>
              <a:ext cx="160934" cy="221284"/>
            </a:xfrm>
            <a:prstGeom prst="roundRect">
              <a:avLst>
                <a:gd name="adj" fmla="val 2500"/>
              </a:avLst>
            </a:prstGeom>
            <a:solidFill>
              <a:srgbClr val="F28C28"/>
            </a:solidFill>
            <a:ln>
              <a:noFill/>
            </a:ln>
          </p:spPr>
          <p:txBody>
            <a:bodyPr rtlCol="0" anchor="ctr"/>
            <a:lstStyle/>
            <a:p>
              <a:pPr algn="ctr"/>
              <a:endParaRPr/>
            </a:p>
          </p:txBody>
        </p:sp>
        <p:sp>
          <p:nvSpPr>
            <p:cNvPr id="12" name="cab roof"/>
            <p:cNvSpPr/>
            <p:nvPr/>
          </p:nvSpPr>
          <p:spPr>
            <a:xfrm>
              <a:off x="1270284" y="2750880"/>
              <a:ext cx="177027" cy="20116"/>
            </a:xfrm>
            <a:prstGeom prst="rect">
              <a:avLst/>
            </a:prstGeom>
            <a:solidFill>
              <a:srgbClr val="3A3F47"/>
            </a:solidFill>
            <a:ln w="9525">
              <a:solidFill>
                <a:srgbClr val="9AA0A6"/>
              </a:solidFill>
            </a:ln>
          </p:spPr>
          <p:txBody>
            <a:bodyPr rtlCol="0" anchor="ctr"/>
            <a:lstStyle/>
            <a:p>
              <a:pPr algn="ctr"/>
              <a:endParaRPr/>
            </a:p>
          </p:txBody>
        </p:sp>
        <p:sp>
          <p:nvSpPr>
            <p:cNvPr id="13" name="cab window"/>
            <p:cNvSpPr/>
            <p:nvPr/>
          </p:nvSpPr>
          <p:spPr>
            <a:xfrm>
              <a:off x="1318564" y="2803184"/>
              <a:ext cx="72420" cy="72420"/>
            </a:xfrm>
            <a:prstGeom prst="rect">
              <a:avLst/>
            </a:prstGeom>
            <a:solidFill>
              <a:srgbClr val="1B1D21"/>
            </a:solidFill>
            <a:ln>
              <a:noFill/>
            </a:ln>
          </p:spPr>
          <p:txBody>
            <a:bodyPr rtlCol="0" anchor="ctr"/>
            <a:lstStyle/>
            <a:p>
              <a:pPr algn="ctr"/>
              <a:endParaRPr/>
            </a:p>
          </p:txBody>
        </p:sp>
        <p:sp>
          <p:nvSpPr>
            <p:cNvPr id="14" name="boiler"/>
            <p:cNvSpPr/>
            <p:nvPr/>
          </p:nvSpPr>
          <p:spPr>
            <a:xfrm>
              <a:off x="1439265" y="2791114"/>
              <a:ext cx="514990" cy="160934"/>
            </a:xfrm>
            <a:prstGeom prst="roundRect">
              <a:avLst>
                <a:gd name="adj" fmla="val 25000"/>
              </a:avLst>
            </a:prstGeom>
            <a:solidFill>
              <a:srgbClr val="F28C28"/>
            </a:solidFill>
            <a:ln>
              <a:noFill/>
            </a:ln>
          </p:spPr>
          <p:txBody>
            <a:bodyPr rtlCol="0" anchor="ctr"/>
            <a:lstStyle/>
            <a:p>
              <a:pPr algn="ctr"/>
              <a:endParaRPr/>
            </a:p>
          </p:txBody>
        </p:sp>
        <p:sp>
          <p:nvSpPr>
            <p:cNvPr id="15" name="side tank"/>
            <p:cNvSpPr/>
            <p:nvPr/>
          </p:nvSpPr>
          <p:spPr>
            <a:xfrm>
              <a:off x="1439265" y="2847441"/>
              <a:ext cx="474756" cy="140817"/>
            </a:xfrm>
            <a:prstGeom prst="roundRect">
              <a:avLst>
                <a:gd name="adj" fmla="val 14285"/>
              </a:avLst>
            </a:prstGeom>
            <a:solidFill>
              <a:srgbClr val="AE641C"/>
            </a:solidFill>
            <a:ln>
              <a:noFill/>
            </a:ln>
          </p:spPr>
          <p:txBody>
            <a:bodyPr rtlCol="0" anchor="ctr"/>
            <a:lstStyle/>
            <a:p>
              <a:pPr algn="ctr"/>
              <a:endParaRPr/>
            </a:p>
          </p:txBody>
        </p:sp>
        <p:sp>
          <p:nvSpPr>
            <p:cNvPr id="16" name="smokebox"/>
            <p:cNvSpPr/>
            <p:nvPr/>
          </p:nvSpPr>
          <p:spPr>
            <a:xfrm>
              <a:off x="1954255" y="2791114"/>
              <a:ext cx="80467" cy="160934"/>
            </a:xfrm>
            <a:prstGeom prst="roundRect">
              <a:avLst>
                <a:gd name="adj" fmla="val 11999"/>
              </a:avLst>
            </a:prstGeom>
            <a:solidFill>
              <a:srgbClr val="4A515B"/>
            </a:solidFill>
            <a:ln>
              <a:noFill/>
            </a:ln>
          </p:spPr>
          <p:txBody>
            <a:bodyPr rtlCol="0" anchor="ctr"/>
            <a:lstStyle/>
            <a:p>
              <a:pPr algn="ctr"/>
              <a:endParaRPr/>
            </a:p>
          </p:txBody>
        </p:sp>
        <p:sp>
          <p:nvSpPr>
            <p:cNvPr id="17" name="chimney"/>
            <p:cNvSpPr/>
            <p:nvPr/>
          </p:nvSpPr>
          <p:spPr>
            <a:xfrm>
              <a:off x="1970349" y="2706624"/>
              <a:ext cx="48280" cy="84490"/>
            </a:xfrm>
            <a:prstGeom prst="rect">
              <a:avLst/>
            </a:prstGeom>
            <a:solidFill>
              <a:srgbClr val="3A3F47"/>
            </a:solidFill>
            <a:ln w="9525">
              <a:solidFill>
                <a:srgbClr val="9AA0A6"/>
              </a:solidFill>
            </a:ln>
          </p:spPr>
          <p:txBody>
            <a:bodyPr rtlCol="0" anchor="ctr"/>
            <a:lstStyle/>
            <a:p>
              <a:pPr algn="ctr"/>
              <a:endParaRPr/>
            </a:p>
          </p:txBody>
        </p:sp>
        <p:sp>
          <p:nvSpPr>
            <p:cNvPr id="18" name="chimney lip"/>
            <p:cNvSpPr/>
            <p:nvPr/>
          </p:nvSpPr>
          <p:spPr>
            <a:xfrm>
              <a:off x="1958279" y="2694553"/>
              <a:ext cx="72420" cy="20116"/>
            </a:xfrm>
            <a:prstGeom prst="rect">
              <a:avLst/>
            </a:prstGeom>
            <a:solidFill>
              <a:srgbClr val="3A3F47"/>
            </a:solidFill>
            <a:ln w="9525">
              <a:solidFill>
                <a:srgbClr val="9AA0A6"/>
              </a:solidFill>
            </a:ln>
          </p:spPr>
          <p:txBody>
            <a:bodyPr rtlCol="0" anchor="ctr"/>
            <a:lstStyle/>
            <a:p>
              <a:pPr algn="ctr"/>
              <a:endParaRPr/>
            </a:p>
          </p:txBody>
        </p:sp>
        <p:sp>
          <p:nvSpPr>
            <p:cNvPr id="19" name="dome"/>
            <p:cNvSpPr/>
            <p:nvPr/>
          </p:nvSpPr>
          <p:spPr>
            <a:xfrm>
              <a:off x="1655561" y="2746857"/>
              <a:ext cx="72420" cy="44256"/>
            </a:xfrm>
            <a:prstGeom prst="roundRect">
              <a:avLst>
                <a:gd name="adj" fmla="val 36363"/>
              </a:avLst>
            </a:prstGeom>
            <a:solidFill>
              <a:srgbClr val="F28C28"/>
            </a:solidFill>
            <a:ln>
              <a:noFill/>
            </a:ln>
          </p:spPr>
          <p:txBody>
            <a:bodyPr rtlCol="0" anchor="ctr"/>
            <a:lstStyle/>
            <a:p>
              <a:pPr algn="ctr"/>
              <a:endParaRPr/>
            </a:p>
          </p:txBody>
        </p:sp>
        <p:sp>
          <p:nvSpPr>
            <p:cNvPr id="20" name="wheel"/>
            <p:cNvSpPr/>
            <p:nvPr/>
          </p:nvSpPr>
          <p:spPr>
            <a:xfrm>
              <a:off x="1366845" y="2964119"/>
              <a:ext cx="144840" cy="144840"/>
            </a:xfrm>
            <a:prstGeom prst="ellipse">
              <a:avLst/>
            </a:prstGeom>
            <a:solidFill>
              <a:srgbClr val="1B1D21"/>
            </a:solidFill>
            <a:ln w="19050">
              <a:solidFill>
                <a:srgbClr val="9AA0A6"/>
              </a:solidFill>
            </a:ln>
          </p:spPr>
          <p:txBody>
            <a:bodyPr rtlCol="0" anchor="ctr"/>
            <a:lstStyle/>
            <a:p>
              <a:pPr algn="ctr"/>
              <a:endParaRPr/>
            </a:p>
          </p:txBody>
        </p:sp>
        <p:sp>
          <p:nvSpPr>
            <p:cNvPr id="21" name="hub"/>
            <p:cNvSpPr/>
            <p:nvPr/>
          </p:nvSpPr>
          <p:spPr>
            <a:xfrm>
              <a:off x="1420436" y="3017710"/>
              <a:ext cx="37658" cy="37658"/>
            </a:xfrm>
            <a:prstGeom prst="ellipse">
              <a:avLst/>
            </a:prstGeom>
            <a:solidFill>
              <a:srgbClr val="9AA0A6"/>
            </a:solidFill>
            <a:ln>
              <a:noFill/>
            </a:ln>
          </p:spPr>
          <p:txBody>
            <a:bodyPr rtlCol="0" anchor="ctr"/>
            <a:lstStyle/>
            <a:p>
              <a:pPr algn="ctr"/>
              <a:endParaRPr/>
            </a:p>
          </p:txBody>
        </p:sp>
        <p:sp>
          <p:nvSpPr>
            <p:cNvPr id="22" name="wheel"/>
            <p:cNvSpPr/>
            <p:nvPr/>
          </p:nvSpPr>
          <p:spPr>
            <a:xfrm>
              <a:off x="1527779" y="2964119"/>
              <a:ext cx="144840" cy="144840"/>
            </a:xfrm>
            <a:prstGeom prst="ellipse">
              <a:avLst/>
            </a:prstGeom>
            <a:solidFill>
              <a:srgbClr val="1B1D21"/>
            </a:solidFill>
            <a:ln w="19050">
              <a:solidFill>
                <a:srgbClr val="9AA0A6"/>
              </a:solidFill>
            </a:ln>
          </p:spPr>
          <p:txBody>
            <a:bodyPr rtlCol="0" anchor="ctr"/>
            <a:lstStyle/>
            <a:p>
              <a:pPr algn="ctr"/>
              <a:endParaRPr/>
            </a:p>
          </p:txBody>
        </p:sp>
        <p:sp>
          <p:nvSpPr>
            <p:cNvPr id="23" name="hub"/>
            <p:cNvSpPr/>
            <p:nvPr/>
          </p:nvSpPr>
          <p:spPr>
            <a:xfrm>
              <a:off x="1581370" y="3017710"/>
              <a:ext cx="37658" cy="37658"/>
            </a:xfrm>
            <a:prstGeom prst="ellipse">
              <a:avLst/>
            </a:prstGeom>
            <a:solidFill>
              <a:srgbClr val="9AA0A6"/>
            </a:solidFill>
            <a:ln>
              <a:noFill/>
            </a:ln>
          </p:spPr>
          <p:txBody>
            <a:bodyPr rtlCol="0" anchor="ctr"/>
            <a:lstStyle/>
            <a:p>
              <a:pPr algn="ctr"/>
              <a:endParaRPr/>
            </a:p>
          </p:txBody>
        </p:sp>
        <p:sp>
          <p:nvSpPr>
            <p:cNvPr id="24" name="wheel"/>
            <p:cNvSpPr/>
            <p:nvPr/>
          </p:nvSpPr>
          <p:spPr>
            <a:xfrm>
              <a:off x="1688713" y="2964119"/>
              <a:ext cx="144840" cy="144840"/>
            </a:xfrm>
            <a:prstGeom prst="ellipse">
              <a:avLst/>
            </a:prstGeom>
            <a:solidFill>
              <a:srgbClr val="1B1D21"/>
            </a:solidFill>
            <a:ln w="19050">
              <a:solidFill>
                <a:srgbClr val="9AA0A6"/>
              </a:solidFill>
            </a:ln>
          </p:spPr>
          <p:txBody>
            <a:bodyPr rtlCol="0" anchor="ctr"/>
            <a:lstStyle/>
            <a:p>
              <a:pPr algn="ctr"/>
              <a:endParaRPr/>
            </a:p>
          </p:txBody>
        </p:sp>
        <p:sp>
          <p:nvSpPr>
            <p:cNvPr id="25" name="hub"/>
            <p:cNvSpPr/>
            <p:nvPr/>
          </p:nvSpPr>
          <p:spPr>
            <a:xfrm>
              <a:off x="1742305" y="3017710"/>
              <a:ext cx="37658" cy="37658"/>
            </a:xfrm>
            <a:prstGeom prst="ellipse">
              <a:avLst/>
            </a:prstGeom>
            <a:solidFill>
              <a:srgbClr val="9AA0A6"/>
            </a:solidFill>
            <a:ln>
              <a:noFill/>
            </a:ln>
          </p:spPr>
          <p:txBody>
            <a:bodyPr rtlCol="0" anchor="ctr"/>
            <a:lstStyle/>
            <a:p>
              <a:pPr algn="ctr"/>
              <a:endParaRPr/>
            </a:p>
          </p:txBody>
        </p:sp>
        <p:sp>
          <p:nvSpPr>
            <p:cNvPr id="26" name="coupling rod"/>
            <p:cNvSpPr/>
            <p:nvPr/>
          </p:nvSpPr>
          <p:spPr>
            <a:xfrm>
              <a:off x="1439265" y="2994696"/>
              <a:ext cx="321868" cy="11265"/>
            </a:xfrm>
            <a:prstGeom prst="rect">
              <a:avLst/>
            </a:prstGeom>
            <a:solidFill>
              <a:srgbClr val="D0D4D8"/>
            </a:solidFill>
            <a:ln>
              <a:noFill/>
            </a:ln>
          </p:spPr>
          <p:txBody>
            <a:bodyPr rtlCol="0" anchor="ctr"/>
            <a:lstStyle/>
            <a:p>
              <a:pPr algn="ctr"/>
              <a:endParaRPr/>
            </a:p>
          </p:txBody>
        </p:sp>
        <p:sp>
          <p:nvSpPr>
            <p:cNvPr id="27" name="buffer beam"/>
            <p:cNvSpPr/>
            <p:nvPr/>
          </p:nvSpPr>
          <p:spPr>
            <a:xfrm>
              <a:off x="2034722" y="2956072"/>
              <a:ext cx="24140" cy="72420"/>
            </a:xfrm>
            <a:prstGeom prst="rect">
              <a:avLst/>
            </a:prstGeom>
            <a:solidFill>
              <a:srgbClr val="9AA0A6"/>
            </a:solidFill>
            <a:ln>
              <a:noFill/>
            </a:ln>
          </p:spPr>
          <p:txBody>
            <a:bodyPr rtlCol="0" anchor="ctr"/>
            <a:lstStyle/>
            <a:p>
              <a:pPr algn="ctr"/>
              <a:endParaRPr/>
            </a:p>
          </p:txBody>
        </p:sp>
        <p:sp>
          <p:nvSpPr>
            <p:cNvPr id="28" name="rail"/>
            <p:cNvSpPr/>
            <p:nvPr/>
          </p:nvSpPr>
          <p:spPr>
            <a:xfrm>
              <a:off x="777240" y="3108960"/>
              <a:ext cx="1645920" cy="36576"/>
            </a:xfrm>
            <a:prstGeom prst="rect">
              <a:avLst/>
            </a:prstGeom>
            <a:solidFill>
              <a:srgbClr val="9AA0A6"/>
            </a:solidFill>
            <a:ln>
              <a:noFill/>
            </a:ln>
          </p:spPr>
          <p:txBody>
            <a:bodyPr rtlCol="0" anchor="ctr"/>
            <a:lstStyle/>
            <a:p>
              <a:pPr algn="ctr"/>
              <a:endParaRPr/>
            </a:p>
          </p:txBody>
        </p:sp>
        <p:sp>
          <p:nvSpPr>
            <p:cNvPr id="29" name="number plate (digits)"/>
            <p:cNvSpPr/>
            <p:nvPr/>
          </p:nvSpPr>
          <p:spPr>
            <a:xfrm>
              <a:off x="868680" y="3383280"/>
              <a:ext cx="1463040" cy="731520"/>
            </a:xfrm>
            <a:prstGeom prst="roundRect">
              <a:avLst>
                <a:gd name="adj" fmla="val 10000"/>
              </a:avLst>
            </a:prstGeom>
            <a:solidFill>
              <a:srgbClr val="1B1D21"/>
            </a:solidFill>
            <a:ln w="28575">
              <a:solidFill>
                <a:srgbClr val="F28C28"/>
              </a:solidFill>
            </a:ln>
          </p:spPr>
          <p:txBody>
            <a:bodyPr rtlCol="0" anchor="ctr"/>
            <a:lstStyle/>
            <a:p>
              <a:pPr algn="ctr"/>
              <a:endParaRPr/>
            </a:p>
          </p:txBody>
        </p:sp>
        <p:sp>
          <p:nvSpPr>
            <p:cNvPr id="30" name="digit block"/>
            <p:cNvSpPr/>
            <p:nvPr/>
          </p:nvSpPr>
          <p:spPr>
            <a:xfrm>
              <a:off x="1037478"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31" name="digit block"/>
            <p:cNvSpPr/>
            <p:nvPr/>
          </p:nvSpPr>
          <p:spPr>
            <a:xfrm>
              <a:off x="1348374"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32" name="digit block"/>
            <p:cNvSpPr/>
            <p:nvPr/>
          </p:nvSpPr>
          <p:spPr>
            <a:xfrm>
              <a:off x="1659270"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33" name="digit block"/>
            <p:cNvSpPr/>
            <p:nvPr/>
          </p:nvSpPr>
          <p:spPr>
            <a:xfrm>
              <a:off x="1970166"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34" name="tender frame"/>
            <p:cNvSpPr/>
            <p:nvPr/>
          </p:nvSpPr>
          <p:spPr>
            <a:xfrm>
              <a:off x="2507650" y="2992282"/>
              <a:ext cx="329915" cy="36210"/>
            </a:xfrm>
            <a:prstGeom prst="rect">
              <a:avLst/>
            </a:prstGeom>
            <a:solidFill>
              <a:srgbClr val="3A3F47"/>
            </a:solidFill>
            <a:ln w="9525">
              <a:solidFill>
                <a:srgbClr val="9AA0A6"/>
              </a:solidFill>
            </a:ln>
          </p:spPr>
          <p:txBody>
            <a:bodyPr rtlCol="0" anchor="ctr"/>
            <a:lstStyle/>
            <a:p>
              <a:pPr algn="ctr"/>
              <a:endParaRPr/>
            </a:p>
          </p:txBody>
        </p:sp>
        <p:sp>
          <p:nvSpPr>
            <p:cNvPr id="35" name="tender body"/>
            <p:cNvSpPr/>
            <p:nvPr/>
          </p:nvSpPr>
          <p:spPr>
            <a:xfrm>
              <a:off x="2507650" y="2859511"/>
              <a:ext cx="329915" cy="132770"/>
            </a:xfrm>
            <a:prstGeom prst="roundRect">
              <a:avLst>
                <a:gd name="adj" fmla="val 3030"/>
              </a:avLst>
            </a:prstGeom>
            <a:solidFill>
              <a:srgbClr val="F28C28"/>
            </a:solidFill>
            <a:ln>
              <a:noFill/>
            </a:ln>
          </p:spPr>
          <p:txBody>
            <a:bodyPr rtlCol="0" anchor="ctr"/>
            <a:lstStyle/>
            <a:p>
              <a:pPr algn="ctr"/>
              <a:endParaRPr/>
            </a:p>
          </p:txBody>
        </p:sp>
        <p:sp>
          <p:nvSpPr>
            <p:cNvPr id="36" name="tender coal"/>
            <p:cNvSpPr/>
            <p:nvPr/>
          </p:nvSpPr>
          <p:spPr>
            <a:xfrm>
              <a:off x="2519720" y="2803184"/>
              <a:ext cx="305776" cy="56327"/>
            </a:xfrm>
            <a:custGeom>
              <a:avLst/>
              <a:gdLst/>
              <a:ahLst/>
              <a:cxnLst/>
              <a:rect l="l" t="t" r="r" b="b"/>
              <a:pathLst>
                <a:path w="305776" h="56327">
                  <a:moveTo>
                    <a:pt x="0" y="56327"/>
                  </a:moveTo>
                  <a:lnTo>
                    <a:pt x="60351" y="4024"/>
                  </a:lnTo>
                  <a:lnTo>
                    <a:pt x="181051" y="0"/>
                  </a:lnTo>
                  <a:lnTo>
                    <a:pt x="305776" y="56327"/>
                  </a:lnTo>
                  <a:close/>
                </a:path>
              </a:pathLst>
            </a:custGeom>
            <a:solidFill>
              <a:srgbClr val="1B1D21"/>
            </a:solidFill>
            <a:ln w="12700">
              <a:solidFill>
                <a:srgbClr val="6B7078"/>
              </a:solidFill>
            </a:ln>
          </p:spPr>
          <p:txBody>
            <a:bodyPr rtlCol="0" anchor="ctr"/>
            <a:lstStyle/>
            <a:p>
              <a:pPr algn="ctr"/>
              <a:endParaRPr/>
            </a:p>
          </p:txBody>
        </p:sp>
        <p:sp>
          <p:nvSpPr>
            <p:cNvPr id="37" name="coupling"/>
            <p:cNvSpPr/>
            <p:nvPr/>
          </p:nvSpPr>
          <p:spPr>
            <a:xfrm>
              <a:off x="2837566" y="2944002"/>
              <a:ext cx="28163" cy="12070"/>
            </a:xfrm>
            <a:prstGeom prst="rect">
              <a:avLst/>
            </a:prstGeom>
            <a:solidFill>
              <a:srgbClr val="9AA0A6"/>
            </a:solidFill>
            <a:ln>
              <a:noFill/>
            </a:ln>
          </p:spPr>
          <p:txBody>
            <a:bodyPr rtlCol="0" anchor="ctr"/>
            <a:lstStyle/>
            <a:p>
              <a:pPr algn="ctr"/>
              <a:endParaRPr/>
            </a:p>
          </p:txBody>
        </p:sp>
        <p:sp>
          <p:nvSpPr>
            <p:cNvPr id="38" name="wheel"/>
            <p:cNvSpPr/>
            <p:nvPr/>
          </p:nvSpPr>
          <p:spPr>
            <a:xfrm>
              <a:off x="2531790" y="2996305"/>
              <a:ext cx="112654" cy="112654"/>
            </a:xfrm>
            <a:prstGeom prst="ellipse">
              <a:avLst/>
            </a:prstGeom>
            <a:solidFill>
              <a:srgbClr val="1B1D21"/>
            </a:solidFill>
            <a:ln w="19050">
              <a:solidFill>
                <a:srgbClr val="9AA0A6"/>
              </a:solidFill>
            </a:ln>
          </p:spPr>
          <p:txBody>
            <a:bodyPr rtlCol="0" anchor="ctr"/>
            <a:lstStyle/>
            <a:p>
              <a:pPr algn="ctr"/>
              <a:endParaRPr/>
            </a:p>
          </p:txBody>
        </p:sp>
        <p:sp>
          <p:nvSpPr>
            <p:cNvPr id="39" name="hub"/>
            <p:cNvSpPr/>
            <p:nvPr/>
          </p:nvSpPr>
          <p:spPr>
            <a:xfrm>
              <a:off x="2573472" y="3037987"/>
              <a:ext cx="29290" cy="29290"/>
            </a:xfrm>
            <a:prstGeom prst="ellipse">
              <a:avLst/>
            </a:prstGeom>
            <a:solidFill>
              <a:srgbClr val="9AA0A6"/>
            </a:solidFill>
            <a:ln>
              <a:noFill/>
            </a:ln>
          </p:spPr>
          <p:txBody>
            <a:bodyPr rtlCol="0" anchor="ctr"/>
            <a:lstStyle/>
            <a:p>
              <a:pPr algn="ctr"/>
              <a:endParaRPr/>
            </a:p>
          </p:txBody>
        </p:sp>
        <p:sp>
          <p:nvSpPr>
            <p:cNvPr id="40" name="wheel"/>
            <p:cNvSpPr/>
            <p:nvPr/>
          </p:nvSpPr>
          <p:spPr>
            <a:xfrm>
              <a:off x="2700771" y="2996305"/>
              <a:ext cx="112654" cy="112654"/>
            </a:xfrm>
            <a:prstGeom prst="ellipse">
              <a:avLst/>
            </a:prstGeom>
            <a:solidFill>
              <a:srgbClr val="1B1D21"/>
            </a:solidFill>
            <a:ln w="19050">
              <a:solidFill>
                <a:srgbClr val="9AA0A6"/>
              </a:solidFill>
            </a:ln>
          </p:spPr>
          <p:txBody>
            <a:bodyPr rtlCol="0" anchor="ctr"/>
            <a:lstStyle/>
            <a:p>
              <a:pPr algn="ctr"/>
              <a:endParaRPr/>
            </a:p>
          </p:txBody>
        </p:sp>
        <p:sp>
          <p:nvSpPr>
            <p:cNvPr id="41" name="hub"/>
            <p:cNvSpPr/>
            <p:nvPr/>
          </p:nvSpPr>
          <p:spPr>
            <a:xfrm>
              <a:off x="2742453" y="3037987"/>
              <a:ext cx="29290" cy="29290"/>
            </a:xfrm>
            <a:prstGeom prst="ellipse">
              <a:avLst/>
            </a:prstGeom>
            <a:solidFill>
              <a:srgbClr val="9AA0A6"/>
            </a:solidFill>
            <a:ln>
              <a:noFill/>
            </a:ln>
          </p:spPr>
          <p:txBody>
            <a:bodyPr rtlCol="0" anchor="ctr"/>
            <a:lstStyle/>
            <a:p>
              <a:pPr algn="ctr"/>
              <a:endParaRPr/>
            </a:p>
          </p:txBody>
        </p:sp>
        <p:sp>
          <p:nvSpPr>
            <p:cNvPr id="42" name="frame"/>
            <p:cNvSpPr/>
            <p:nvPr/>
          </p:nvSpPr>
          <p:spPr>
            <a:xfrm>
              <a:off x="2865729" y="2992282"/>
              <a:ext cx="1058143" cy="36210"/>
            </a:xfrm>
            <a:prstGeom prst="rect">
              <a:avLst/>
            </a:prstGeom>
            <a:solidFill>
              <a:srgbClr val="3A3F47"/>
            </a:solidFill>
            <a:ln w="9525">
              <a:solidFill>
                <a:srgbClr val="9AA0A6"/>
              </a:solidFill>
            </a:ln>
          </p:spPr>
          <p:txBody>
            <a:bodyPr rtlCol="0" anchor="ctr"/>
            <a:lstStyle/>
            <a:p>
              <a:pPr algn="ctr"/>
              <a:endParaRPr/>
            </a:p>
          </p:txBody>
        </p:sp>
        <p:sp>
          <p:nvSpPr>
            <p:cNvPr id="43" name="cab"/>
            <p:cNvSpPr/>
            <p:nvPr/>
          </p:nvSpPr>
          <p:spPr>
            <a:xfrm>
              <a:off x="2865729" y="2770997"/>
              <a:ext cx="160934" cy="221284"/>
            </a:xfrm>
            <a:prstGeom prst="roundRect">
              <a:avLst>
                <a:gd name="adj" fmla="val 2500"/>
              </a:avLst>
            </a:prstGeom>
            <a:solidFill>
              <a:srgbClr val="F28C28"/>
            </a:solidFill>
            <a:ln>
              <a:noFill/>
            </a:ln>
          </p:spPr>
          <p:txBody>
            <a:bodyPr rtlCol="0" anchor="ctr"/>
            <a:lstStyle/>
            <a:p>
              <a:pPr algn="ctr"/>
              <a:endParaRPr/>
            </a:p>
          </p:txBody>
        </p:sp>
        <p:sp>
          <p:nvSpPr>
            <p:cNvPr id="44" name="cab roof"/>
            <p:cNvSpPr/>
            <p:nvPr/>
          </p:nvSpPr>
          <p:spPr>
            <a:xfrm>
              <a:off x="2857682" y="2750880"/>
              <a:ext cx="177027" cy="20116"/>
            </a:xfrm>
            <a:prstGeom prst="rect">
              <a:avLst/>
            </a:prstGeom>
            <a:solidFill>
              <a:srgbClr val="3A3F47"/>
            </a:solidFill>
            <a:ln w="9525">
              <a:solidFill>
                <a:srgbClr val="9AA0A6"/>
              </a:solidFill>
            </a:ln>
          </p:spPr>
          <p:txBody>
            <a:bodyPr rtlCol="0" anchor="ctr"/>
            <a:lstStyle/>
            <a:p>
              <a:pPr algn="ctr"/>
              <a:endParaRPr/>
            </a:p>
          </p:txBody>
        </p:sp>
        <p:sp>
          <p:nvSpPr>
            <p:cNvPr id="45" name="cab window"/>
            <p:cNvSpPr/>
            <p:nvPr/>
          </p:nvSpPr>
          <p:spPr>
            <a:xfrm>
              <a:off x="2905963" y="2803184"/>
              <a:ext cx="72420" cy="72420"/>
            </a:xfrm>
            <a:prstGeom prst="rect">
              <a:avLst/>
            </a:prstGeom>
            <a:solidFill>
              <a:srgbClr val="1B1D21"/>
            </a:solidFill>
            <a:ln>
              <a:noFill/>
            </a:ln>
          </p:spPr>
          <p:txBody>
            <a:bodyPr rtlCol="0" anchor="ctr"/>
            <a:lstStyle/>
            <a:p>
              <a:pPr algn="ctr"/>
              <a:endParaRPr/>
            </a:p>
          </p:txBody>
        </p:sp>
        <p:sp>
          <p:nvSpPr>
            <p:cNvPr id="46" name="boiler"/>
            <p:cNvSpPr/>
            <p:nvPr/>
          </p:nvSpPr>
          <p:spPr>
            <a:xfrm>
              <a:off x="3026664" y="2791114"/>
              <a:ext cx="816742" cy="160934"/>
            </a:xfrm>
            <a:prstGeom prst="roundRect">
              <a:avLst>
                <a:gd name="adj" fmla="val 25000"/>
              </a:avLst>
            </a:prstGeom>
            <a:solidFill>
              <a:srgbClr val="F28C28"/>
            </a:solidFill>
            <a:ln>
              <a:noFill/>
            </a:ln>
          </p:spPr>
          <p:txBody>
            <a:bodyPr rtlCol="0" anchor="ctr"/>
            <a:lstStyle/>
            <a:p>
              <a:pPr algn="ctr"/>
              <a:endParaRPr/>
            </a:p>
          </p:txBody>
        </p:sp>
        <p:sp>
          <p:nvSpPr>
            <p:cNvPr id="47" name="boiler band"/>
            <p:cNvSpPr/>
            <p:nvPr/>
          </p:nvSpPr>
          <p:spPr>
            <a:xfrm>
              <a:off x="3271686" y="2791114"/>
              <a:ext cx="5632" cy="160934"/>
            </a:xfrm>
            <a:prstGeom prst="rect">
              <a:avLst/>
            </a:prstGeom>
            <a:solidFill>
              <a:srgbClr val="AE641C"/>
            </a:solidFill>
            <a:ln>
              <a:noFill/>
            </a:ln>
          </p:spPr>
          <p:txBody>
            <a:bodyPr rtlCol="0" anchor="ctr"/>
            <a:lstStyle/>
            <a:p>
              <a:pPr algn="ctr"/>
              <a:endParaRPr/>
            </a:p>
          </p:txBody>
        </p:sp>
        <p:sp>
          <p:nvSpPr>
            <p:cNvPr id="48" name="boiler band"/>
            <p:cNvSpPr/>
            <p:nvPr/>
          </p:nvSpPr>
          <p:spPr>
            <a:xfrm>
              <a:off x="3475872" y="2791114"/>
              <a:ext cx="5632" cy="160934"/>
            </a:xfrm>
            <a:prstGeom prst="rect">
              <a:avLst/>
            </a:prstGeom>
            <a:solidFill>
              <a:srgbClr val="AE641C"/>
            </a:solidFill>
            <a:ln>
              <a:noFill/>
            </a:ln>
          </p:spPr>
          <p:txBody>
            <a:bodyPr rtlCol="0" anchor="ctr"/>
            <a:lstStyle/>
            <a:p>
              <a:pPr algn="ctr"/>
              <a:endParaRPr/>
            </a:p>
          </p:txBody>
        </p:sp>
        <p:sp>
          <p:nvSpPr>
            <p:cNvPr id="49" name="boiler band"/>
            <p:cNvSpPr/>
            <p:nvPr/>
          </p:nvSpPr>
          <p:spPr>
            <a:xfrm>
              <a:off x="3680057" y="2791114"/>
              <a:ext cx="5632" cy="160934"/>
            </a:xfrm>
            <a:prstGeom prst="rect">
              <a:avLst/>
            </a:prstGeom>
            <a:solidFill>
              <a:srgbClr val="AE641C"/>
            </a:solidFill>
            <a:ln>
              <a:noFill/>
            </a:ln>
          </p:spPr>
          <p:txBody>
            <a:bodyPr rtlCol="0" anchor="ctr"/>
            <a:lstStyle/>
            <a:p>
              <a:pPr algn="ctr"/>
              <a:endParaRPr/>
            </a:p>
          </p:txBody>
        </p:sp>
        <p:sp>
          <p:nvSpPr>
            <p:cNvPr id="50" name="smokebox"/>
            <p:cNvSpPr/>
            <p:nvPr/>
          </p:nvSpPr>
          <p:spPr>
            <a:xfrm>
              <a:off x="3843406" y="2791114"/>
              <a:ext cx="80467" cy="160934"/>
            </a:xfrm>
            <a:prstGeom prst="roundRect">
              <a:avLst>
                <a:gd name="adj" fmla="val 11999"/>
              </a:avLst>
            </a:prstGeom>
            <a:solidFill>
              <a:srgbClr val="4A515B"/>
            </a:solidFill>
            <a:ln>
              <a:noFill/>
            </a:ln>
          </p:spPr>
          <p:txBody>
            <a:bodyPr rtlCol="0" anchor="ctr"/>
            <a:lstStyle/>
            <a:p>
              <a:pPr algn="ctr"/>
              <a:endParaRPr/>
            </a:p>
          </p:txBody>
        </p:sp>
        <p:sp>
          <p:nvSpPr>
            <p:cNvPr id="51" name="chimney"/>
            <p:cNvSpPr/>
            <p:nvPr/>
          </p:nvSpPr>
          <p:spPr>
            <a:xfrm>
              <a:off x="3859499" y="2706624"/>
              <a:ext cx="48280" cy="84490"/>
            </a:xfrm>
            <a:prstGeom prst="rect">
              <a:avLst/>
            </a:prstGeom>
            <a:solidFill>
              <a:srgbClr val="3A3F47"/>
            </a:solidFill>
            <a:ln w="9525">
              <a:solidFill>
                <a:srgbClr val="9AA0A6"/>
              </a:solidFill>
            </a:ln>
          </p:spPr>
          <p:txBody>
            <a:bodyPr rtlCol="0" anchor="ctr"/>
            <a:lstStyle/>
            <a:p>
              <a:pPr algn="ctr"/>
              <a:endParaRPr/>
            </a:p>
          </p:txBody>
        </p:sp>
        <p:sp>
          <p:nvSpPr>
            <p:cNvPr id="52" name="chimney lip"/>
            <p:cNvSpPr/>
            <p:nvPr/>
          </p:nvSpPr>
          <p:spPr>
            <a:xfrm>
              <a:off x="3847429" y="2694553"/>
              <a:ext cx="72420" cy="20116"/>
            </a:xfrm>
            <a:prstGeom prst="rect">
              <a:avLst/>
            </a:prstGeom>
            <a:solidFill>
              <a:srgbClr val="3A3F47"/>
            </a:solidFill>
            <a:ln w="9525">
              <a:solidFill>
                <a:srgbClr val="9AA0A6"/>
              </a:solidFill>
            </a:ln>
          </p:spPr>
          <p:txBody>
            <a:bodyPr rtlCol="0" anchor="ctr"/>
            <a:lstStyle/>
            <a:p>
              <a:pPr algn="ctr"/>
              <a:endParaRPr/>
            </a:p>
          </p:txBody>
        </p:sp>
        <p:sp>
          <p:nvSpPr>
            <p:cNvPr id="53" name="dome"/>
            <p:cNvSpPr/>
            <p:nvPr/>
          </p:nvSpPr>
          <p:spPr>
            <a:xfrm>
              <a:off x="3353360" y="2746857"/>
              <a:ext cx="72420" cy="44256"/>
            </a:xfrm>
            <a:prstGeom prst="roundRect">
              <a:avLst>
                <a:gd name="adj" fmla="val 36363"/>
              </a:avLst>
            </a:prstGeom>
            <a:solidFill>
              <a:srgbClr val="F28C28"/>
            </a:solidFill>
            <a:ln>
              <a:noFill/>
            </a:ln>
          </p:spPr>
          <p:txBody>
            <a:bodyPr rtlCol="0" anchor="ctr"/>
            <a:lstStyle/>
            <a:p>
              <a:pPr algn="ctr"/>
              <a:endParaRPr/>
            </a:p>
          </p:txBody>
        </p:sp>
        <p:sp>
          <p:nvSpPr>
            <p:cNvPr id="54" name="wheel"/>
            <p:cNvSpPr/>
            <p:nvPr/>
          </p:nvSpPr>
          <p:spPr>
            <a:xfrm>
              <a:off x="2877799"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55" name="hub"/>
            <p:cNvSpPr/>
            <p:nvPr/>
          </p:nvSpPr>
          <p:spPr>
            <a:xfrm>
              <a:off x="2937345" y="3007571"/>
              <a:ext cx="41842" cy="41842"/>
            </a:xfrm>
            <a:prstGeom prst="ellipse">
              <a:avLst/>
            </a:prstGeom>
            <a:solidFill>
              <a:srgbClr val="9AA0A6"/>
            </a:solidFill>
            <a:ln>
              <a:noFill/>
            </a:ln>
          </p:spPr>
          <p:txBody>
            <a:bodyPr rtlCol="0" anchor="ctr"/>
            <a:lstStyle/>
            <a:p>
              <a:pPr algn="ctr"/>
              <a:endParaRPr/>
            </a:p>
          </p:txBody>
        </p:sp>
        <p:sp>
          <p:nvSpPr>
            <p:cNvPr id="56" name="wheel"/>
            <p:cNvSpPr/>
            <p:nvPr/>
          </p:nvSpPr>
          <p:spPr>
            <a:xfrm>
              <a:off x="3058850"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57" name="hub"/>
            <p:cNvSpPr/>
            <p:nvPr/>
          </p:nvSpPr>
          <p:spPr>
            <a:xfrm>
              <a:off x="3118396" y="3007571"/>
              <a:ext cx="41842" cy="41842"/>
            </a:xfrm>
            <a:prstGeom prst="ellipse">
              <a:avLst/>
            </a:prstGeom>
            <a:solidFill>
              <a:srgbClr val="9AA0A6"/>
            </a:solidFill>
            <a:ln>
              <a:noFill/>
            </a:ln>
          </p:spPr>
          <p:txBody>
            <a:bodyPr rtlCol="0" anchor="ctr"/>
            <a:lstStyle/>
            <a:p>
              <a:pPr algn="ctr"/>
              <a:endParaRPr/>
            </a:p>
          </p:txBody>
        </p:sp>
        <p:sp>
          <p:nvSpPr>
            <p:cNvPr id="58" name="wheel"/>
            <p:cNvSpPr/>
            <p:nvPr/>
          </p:nvSpPr>
          <p:spPr>
            <a:xfrm>
              <a:off x="3239902"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59" name="hub"/>
            <p:cNvSpPr/>
            <p:nvPr/>
          </p:nvSpPr>
          <p:spPr>
            <a:xfrm>
              <a:off x="3299447" y="3007571"/>
              <a:ext cx="41842" cy="41842"/>
            </a:xfrm>
            <a:prstGeom prst="ellipse">
              <a:avLst/>
            </a:prstGeom>
            <a:solidFill>
              <a:srgbClr val="9AA0A6"/>
            </a:solidFill>
            <a:ln>
              <a:noFill/>
            </a:ln>
          </p:spPr>
          <p:txBody>
            <a:bodyPr rtlCol="0" anchor="ctr"/>
            <a:lstStyle/>
            <a:p>
              <a:pPr algn="ctr"/>
              <a:endParaRPr/>
            </a:p>
          </p:txBody>
        </p:sp>
        <p:sp>
          <p:nvSpPr>
            <p:cNvPr id="60" name="wheel"/>
            <p:cNvSpPr/>
            <p:nvPr/>
          </p:nvSpPr>
          <p:spPr>
            <a:xfrm>
              <a:off x="3420953"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61" name="hub"/>
            <p:cNvSpPr/>
            <p:nvPr/>
          </p:nvSpPr>
          <p:spPr>
            <a:xfrm>
              <a:off x="3480499" y="3007571"/>
              <a:ext cx="41842" cy="41842"/>
            </a:xfrm>
            <a:prstGeom prst="ellipse">
              <a:avLst/>
            </a:prstGeom>
            <a:solidFill>
              <a:srgbClr val="9AA0A6"/>
            </a:solidFill>
            <a:ln>
              <a:noFill/>
            </a:ln>
          </p:spPr>
          <p:txBody>
            <a:bodyPr rtlCol="0" anchor="ctr"/>
            <a:lstStyle/>
            <a:p>
              <a:pPr algn="ctr"/>
              <a:endParaRPr/>
            </a:p>
          </p:txBody>
        </p:sp>
        <p:sp>
          <p:nvSpPr>
            <p:cNvPr id="62" name="wheel"/>
            <p:cNvSpPr/>
            <p:nvPr/>
          </p:nvSpPr>
          <p:spPr>
            <a:xfrm>
              <a:off x="3642238" y="3020446"/>
              <a:ext cx="88513" cy="88513"/>
            </a:xfrm>
            <a:prstGeom prst="ellipse">
              <a:avLst/>
            </a:prstGeom>
            <a:solidFill>
              <a:srgbClr val="1B1D21"/>
            </a:solidFill>
            <a:ln w="19050">
              <a:solidFill>
                <a:srgbClr val="9AA0A6"/>
              </a:solidFill>
            </a:ln>
          </p:spPr>
          <p:txBody>
            <a:bodyPr rtlCol="0" anchor="ctr"/>
            <a:lstStyle/>
            <a:p>
              <a:pPr algn="ctr"/>
              <a:endParaRPr/>
            </a:p>
          </p:txBody>
        </p:sp>
        <p:sp>
          <p:nvSpPr>
            <p:cNvPr id="63" name="hub"/>
            <p:cNvSpPr/>
            <p:nvPr/>
          </p:nvSpPr>
          <p:spPr>
            <a:xfrm>
              <a:off x="3674988" y="3053196"/>
              <a:ext cx="23013" cy="23013"/>
            </a:xfrm>
            <a:prstGeom prst="ellipse">
              <a:avLst/>
            </a:prstGeom>
            <a:solidFill>
              <a:srgbClr val="9AA0A6"/>
            </a:solidFill>
            <a:ln>
              <a:noFill/>
            </a:ln>
          </p:spPr>
          <p:txBody>
            <a:bodyPr rtlCol="0" anchor="ctr"/>
            <a:lstStyle/>
            <a:p>
              <a:pPr algn="ctr"/>
              <a:endParaRPr/>
            </a:p>
          </p:txBody>
        </p:sp>
        <p:sp>
          <p:nvSpPr>
            <p:cNvPr id="64" name="coupling rod"/>
            <p:cNvSpPr/>
            <p:nvPr/>
          </p:nvSpPr>
          <p:spPr>
            <a:xfrm>
              <a:off x="2958266" y="2982626"/>
              <a:ext cx="543153" cy="11265"/>
            </a:xfrm>
            <a:prstGeom prst="rect">
              <a:avLst/>
            </a:prstGeom>
            <a:solidFill>
              <a:srgbClr val="D0D4D8"/>
            </a:solidFill>
            <a:ln>
              <a:noFill/>
            </a:ln>
          </p:spPr>
          <p:txBody>
            <a:bodyPr rtlCol="0" anchor="ctr"/>
            <a:lstStyle/>
            <a:p>
              <a:pPr algn="ctr"/>
              <a:endParaRPr/>
            </a:p>
          </p:txBody>
        </p:sp>
        <p:sp>
          <p:nvSpPr>
            <p:cNvPr id="65" name="buffer beam"/>
            <p:cNvSpPr/>
            <p:nvPr/>
          </p:nvSpPr>
          <p:spPr>
            <a:xfrm>
              <a:off x="3923873" y="2956072"/>
              <a:ext cx="24140" cy="72420"/>
            </a:xfrm>
            <a:prstGeom prst="rect">
              <a:avLst/>
            </a:prstGeom>
            <a:solidFill>
              <a:srgbClr val="9AA0A6"/>
            </a:solidFill>
            <a:ln>
              <a:noFill/>
            </a:ln>
          </p:spPr>
          <p:txBody>
            <a:bodyPr rtlCol="0" anchor="ctr"/>
            <a:lstStyle/>
            <a:p>
              <a:pPr algn="ctr"/>
              <a:endParaRPr/>
            </a:p>
          </p:txBody>
        </p:sp>
        <p:sp>
          <p:nvSpPr>
            <p:cNvPr id="66" name="rail"/>
            <p:cNvSpPr/>
            <p:nvPr/>
          </p:nvSpPr>
          <p:spPr>
            <a:xfrm>
              <a:off x="2404872" y="3108960"/>
              <a:ext cx="1645920" cy="36576"/>
            </a:xfrm>
            <a:prstGeom prst="rect">
              <a:avLst/>
            </a:prstGeom>
            <a:solidFill>
              <a:srgbClr val="9AA0A6"/>
            </a:solidFill>
            <a:ln>
              <a:noFill/>
            </a:ln>
          </p:spPr>
          <p:txBody>
            <a:bodyPr rtlCol="0" anchor="ctr"/>
            <a:lstStyle/>
            <a:p>
              <a:pPr algn="ctr"/>
              <a:endParaRPr/>
            </a:p>
          </p:txBody>
        </p:sp>
        <p:sp>
          <p:nvSpPr>
            <p:cNvPr id="67" name="number plate (digits)"/>
            <p:cNvSpPr/>
            <p:nvPr/>
          </p:nvSpPr>
          <p:spPr>
            <a:xfrm>
              <a:off x="2496312" y="3383280"/>
              <a:ext cx="1463040" cy="731520"/>
            </a:xfrm>
            <a:prstGeom prst="roundRect">
              <a:avLst>
                <a:gd name="adj" fmla="val 10000"/>
              </a:avLst>
            </a:prstGeom>
            <a:solidFill>
              <a:srgbClr val="1B1D21"/>
            </a:solidFill>
            <a:ln w="28575">
              <a:solidFill>
                <a:srgbClr val="F28C28"/>
              </a:solidFill>
            </a:ln>
          </p:spPr>
          <p:txBody>
            <a:bodyPr rtlCol="0" anchor="ctr"/>
            <a:lstStyle/>
            <a:p>
              <a:pPr algn="ctr"/>
              <a:endParaRPr/>
            </a:p>
          </p:txBody>
        </p:sp>
        <p:sp>
          <p:nvSpPr>
            <p:cNvPr id="68" name="digit block"/>
            <p:cNvSpPr/>
            <p:nvPr/>
          </p:nvSpPr>
          <p:spPr>
            <a:xfrm>
              <a:off x="2665110"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69" name="digit block"/>
            <p:cNvSpPr/>
            <p:nvPr/>
          </p:nvSpPr>
          <p:spPr>
            <a:xfrm>
              <a:off x="2976006"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70" name="digit block"/>
            <p:cNvSpPr/>
            <p:nvPr/>
          </p:nvSpPr>
          <p:spPr>
            <a:xfrm>
              <a:off x="3286902"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71" name="digit block"/>
            <p:cNvSpPr/>
            <p:nvPr/>
          </p:nvSpPr>
          <p:spPr>
            <a:xfrm>
              <a:off x="3597798"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72" name="tender frame"/>
            <p:cNvSpPr/>
            <p:nvPr/>
          </p:nvSpPr>
          <p:spPr>
            <a:xfrm>
              <a:off x="4042745" y="2992282"/>
              <a:ext cx="329915" cy="36210"/>
            </a:xfrm>
            <a:prstGeom prst="rect">
              <a:avLst/>
            </a:prstGeom>
            <a:solidFill>
              <a:srgbClr val="3A3F47"/>
            </a:solidFill>
            <a:ln w="9525">
              <a:solidFill>
                <a:srgbClr val="9AA0A6"/>
              </a:solidFill>
            </a:ln>
          </p:spPr>
          <p:txBody>
            <a:bodyPr rtlCol="0" anchor="ctr"/>
            <a:lstStyle/>
            <a:p>
              <a:pPr algn="ctr"/>
              <a:endParaRPr/>
            </a:p>
          </p:txBody>
        </p:sp>
        <p:sp>
          <p:nvSpPr>
            <p:cNvPr id="73" name="tender body"/>
            <p:cNvSpPr/>
            <p:nvPr/>
          </p:nvSpPr>
          <p:spPr>
            <a:xfrm>
              <a:off x="4042745" y="2859511"/>
              <a:ext cx="329915" cy="132770"/>
            </a:xfrm>
            <a:prstGeom prst="roundRect">
              <a:avLst>
                <a:gd name="adj" fmla="val 3030"/>
              </a:avLst>
            </a:prstGeom>
            <a:solidFill>
              <a:srgbClr val="F28C28"/>
            </a:solidFill>
            <a:ln>
              <a:noFill/>
            </a:ln>
          </p:spPr>
          <p:txBody>
            <a:bodyPr rtlCol="0" anchor="ctr"/>
            <a:lstStyle/>
            <a:p>
              <a:pPr algn="ctr"/>
              <a:endParaRPr/>
            </a:p>
          </p:txBody>
        </p:sp>
        <p:sp>
          <p:nvSpPr>
            <p:cNvPr id="74" name="tender coal"/>
            <p:cNvSpPr/>
            <p:nvPr/>
          </p:nvSpPr>
          <p:spPr>
            <a:xfrm>
              <a:off x="4054815" y="2803184"/>
              <a:ext cx="305775" cy="56327"/>
            </a:xfrm>
            <a:custGeom>
              <a:avLst/>
              <a:gdLst/>
              <a:ahLst/>
              <a:cxnLst/>
              <a:rect l="l" t="t" r="r" b="b"/>
              <a:pathLst>
                <a:path w="305775" h="56327">
                  <a:moveTo>
                    <a:pt x="0" y="56327"/>
                  </a:moveTo>
                  <a:lnTo>
                    <a:pt x="60350" y="4024"/>
                  </a:lnTo>
                  <a:lnTo>
                    <a:pt x="181051" y="0"/>
                  </a:lnTo>
                  <a:lnTo>
                    <a:pt x="305775" y="56327"/>
                  </a:lnTo>
                  <a:close/>
                </a:path>
              </a:pathLst>
            </a:custGeom>
            <a:solidFill>
              <a:srgbClr val="1B1D21"/>
            </a:solidFill>
            <a:ln w="12700">
              <a:solidFill>
                <a:srgbClr val="6B7078"/>
              </a:solidFill>
            </a:ln>
          </p:spPr>
          <p:txBody>
            <a:bodyPr rtlCol="0" anchor="ctr"/>
            <a:lstStyle/>
            <a:p>
              <a:pPr algn="ctr"/>
              <a:endParaRPr/>
            </a:p>
          </p:txBody>
        </p:sp>
        <p:sp>
          <p:nvSpPr>
            <p:cNvPr id="75" name="coupling"/>
            <p:cNvSpPr/>
            <p:nvPr/>
          </p:nvSpPr>
          <p:spPr>
            <a:xfrm>
              <a:off x="4372660" y="2944002"/>
              <a:ext cx="28163" cy="12070"/>
            </a:xfrm>
            <a:prstGeom prst="rect">
              <a:avLst/>
            </a:prstGeom>
            <a:solidFill>
              <a:srgbClr val="9AA0A6"/>
            </a:solidFill>
            <a:ln>
              <a:noFill/>
            </a:ln>
          </p:spPr>
          <p:txBody>
            <a:bodyPr rtlCol="0" anchor="ctr"/>
            <a:lstStyle/>
            <a:p>
              <a:pPr algn="ctr"/>
              <a:endParaRPr/>
            </a:p>
          </p:txBody>
        </p:sp>
        <p:sp>
          <p:nvSpPr>
            <p:cNvPr id="76" name="wheel"/>
            <p:cNvSpPr/>
            <p:nvPr/>
          </p:nvSpPr>
          <p:spPr>
            <a:xfrm>
              <a:off x="4066885" y="2996305"/>
              <a:ext cx="112654" cy="112654"/>
            </a:xfrm>
            <a:prstGeom prst="ellipse">
              <a:avLst/>
            </a:prstGeom>
            <a:solidFill>
              <a:srgbClr val="1B1D21"/>
            </a:solidFill>
            <a:ln w="19050">
              <a:solidFill>
                <a:srgbClr val="9AA0A6"/>
              </a:solidFill>
            </a:ln>
          </p:spPr>
          <p:txBody>
            <a:bodyPr rtlCol="0" anchor="ctr"/>
            <a:lstStyle/>
            <a:p>
              <a:pPr algn="ctr"/>
              <a:endParaRPr/>
            </a:p>
          </p:txBody>
        </p:sp>
        <p:sp>
          <p:nvSpPr>
            <p:cNvPr id="77" name="hub"/>
            <p:cNvSpPr/>
            <p:nvPr/>
          </p:nvSpPr>
          <p:spPr>
            <a:xfrm>
              <a:off x="4108567" y="3037987"/>
              <a:ext cx="29290" cy="29290"/>
            </a:xfrm>
            <a:prstGeom prst="ellipse">
              <a:avLst/>
            </a:prstGeom>
            <a:solidFill>
              <a:srgbClr val="9AA0A6"/>
            </a:solidFill>
            <a:ln>
              <a:noFill/>
            </a:ln>
          </p:spPr>
          <p:txBody>
            <a:bodyPr rtlCol="0" anchor="ctr"/>
            <a:lstStyle/>
            <a:p>
              <a:pPr algn="ctr"/>
              <a:endParaRPr/>
            </a:p>
          </p:txBody>
        </p:sp>
        <p:sp>
          <p:nvSpPr>
            <p:cNvPr id="78" name="wheel"/>
            <p:cNvSpPr/>
            <p:nvPr/>
          </p:nvSpPr>
          <p:spPr>
            <a:xfrm>
              <a:off x="4235866" y="2996305"/>
              <a:ext cx="112654" cy="112654"/>
            </a:xfrm>
            <a:prstGeom prst="ellipse">
              <a:avLst/>
            </a:prstGeom>
            <a:solidFill>
              <a:srgbClr val="1B1D21"/>
            </a:solidFill>
            <a:ln w="19050">
              <a:solidFill>
                <a:srgbClr val="9AA0A6"/>
              </a:solidFill>
            </a:ln>
          </p:spPr>
          <p:txBody>
            <a:bodyPr rtlCol="0" anchor="ctr"/>
            <a:lstStyle/>
            <a:p>
              <a:pPr algn="ctr"/>
              <a:endParaRPr/>
            </a:p>
          </p:txBody>
        </p:sp>
        <p:sp>
          <p:nvSpPr>
            <p:cNvPr id="79" name="hub"/>
            <p:cNvSpPr/>
            <p:nvPr/>
          </p:nvSpPr>
          <p:spPr>
            <a:xfrm>
              <a:off x="4277548" y="3037987"/>
              <a:ext cx="29290" cy="29290"/>
            </a:xfrm>
            <a:prstGeom prst="ellipse">
              <a:avLst/>
            </a:prstGeom>
            <a:solidFill>
              <a:srgbClr val="9AA0A6"/>
            </a:solidFill>
            <a:ln>
              <a:noFill/>
            </a:ln>
          </p:spPr>
          <p:txBody>
            <a:bodyPr rtlCol="0" anchor="ctr"/>
            <a:lstStyle/>
            <a:p>
              <a:pPr algn="ctr"/>
              <a:endParaRPr/>
            </a:p>
          </p:txBody>
        </p:sp>
        <p:sp>
          <p:nvSpPr>
            <p:cNvPr id="80" name="frame"/>
            <p:cNvSpPr/>
            <p:nvPr/>
          </p:nvSpPr>
          <p:spPr>
            <a:xfrm>
              <a:off x="4400824" y="2992282"/>
              <a:ext cx="1239194" cy="36210"/>
            </a:xfrm>
            <a:prstGeom prst="rect">
              <a:avLst/>
            </a:prstGeom>
            <a:solidFill>
              <a:srgbClr val="3A3F47"/>
            </a:solidFill>
            <a:ln w="9525">
              <a:solidFill>
                <a:srgbClr val="9AA0A6"/>
              </a:solidFill>
            </a:ln>
          </p:spPr>
          <p:txBody>
            <a:bodyPr rtlCol="0" anchor="ctr"/>
            <a:lstStyle/>
            <a:p>
              <a:pPr algn="ctr"/>
              <a:endParaRPr/>
            </a:p>
          </p:txBody>
        </p:sp>
        <p:sp>
          <p:nvSpPr>
            <p:cNvPr id="81" name="cab"/>
            <p:cNvSpPr/>
            <p:nvPr/>
          </p:nvSpPr>
          <p:spPr>
            <a:xfrm>
              <a:off x="4400824" y="2770997"/>
              <a:ext cx="160934" cy="221284"/>
            </a:xfrm>
            <a:prstGeom prst="roundRect">
              <a:avLst>
                <a:gd name="adj" fmla="val 2500"/>
              </a:avLst>
            </a:prstGeom>
            <a:solidFill>
              <a:srgbClr val="F28C28"/>
            </a:solidFill>
            <a:ln>
              <a:noFill/>
            </a:ln>
          </p:spPr>
          <p:txBody>
            <a:bodyPr rtlCol="0" anchor="ctr"/>
            <a:lstStyle/>
            <a:p>
              <a:pPr algn="ctr"/>
              <a:endParaRPr/>
            </a:p>
          </p:txBody>
        </p:sp>
        <p:sp>
          <p:nvSpPr>
            <p:cNvPr id="82" name="cab roof"/>
            <p:cNvSpPr/>
            <p:nvPr/>
          </p:nvSpPr>
          <p:spPr>
            <a:xfrm>
              <a:off x="4392777" y="2750880"/>
              <a:ext cx="177027" cy="20116"/>
            </a:xfrm>
            <a:prstGeom prst="rect">
              <a:avLst/>
            </a:prstGeom>
            <a:solidFill>
              <a:srgbClr val="3A3F47"/>
            </a:solidFill>
            <a:ln w="9525">
              <a:solidFill>
                <a:srgbClr val="9AA0A6"/>
              </a:solidFill>
            </a:ln>
          </p:spPr>
          <p:txBody>
            <a:bodyPr rtlCol="0" anchor="ctr"/>
            <a:lstStyle/>
            <a:p>
              <a:pPr algn="ctr"/>
              <a:endParaRPr/>
            </a:p>
          </p:txBody>
        </p:sp>
        <p:sp>
          <p:nvSpPr>
            <p:cNvPr id="83" name="cab window"/>
            <p:cNvSpPr/>
            <p:nvPr/>
          </p:nvSpPr>
          <p:spPr>
            <a:xfrm>
              <a:off x="4441057" y="2803184"/>
              <a:ext cx="72420" cy="72420"/>
            </a:xfrm>
            <a:prstGeom prst="rect">
              <a:avLst/>
            </a:prstGeom>
            <a:solidFill>
              <a:srgbClr val="1B1D21"/>
            </a:solidFill>
            <a:ln>
              <a:noFill/>
            </a:ln>
          </p:spPr>
          <p:txBody>
            <a:bodyPr rtlCol="0" anchor="ctr"/>
            <a:lstStyle/>
            <a:p>
              <a:pPr algn="ctr"/>
              <a:endParaRPr/>
            </a:p>
          </p:txBody>
        </p:sp>
        <p:sp>
          <p:nvSpPr>
            <p:cNvPr id="84" name="boiler"/>
            <p:cNvSpPr/>
            <p:nvPr/>
          </p:nvSpPr>
          <p:spPr>
            <a:xfrm>
              <a:off x="4561758" y="2791114"/>
              <a:ext cx="997793" cy="160934"/>
            </a:xfrm>
            <a:prstGeom prst="roundRect">
              <a:avLst>
                <a:gd name="adj" fmla="val 25000"/>
              </a:avLst>
            </a:prstGeom>
            <a:solidFill>
              <a:srgbClr val="F28C28"/>
            </a:solidFill>
            <a:ln>
              <a:noFill/>
            </a:ln>
          </p:spPr>
          <p:txBody>
            <a:bodyPr rtlCol="0" anchor="ctr"/>
            <a:lstStyle/>
            <a:p>
              <a:pPr algn="ctr"/>
              <a:endParaRPr/>
            </a:p>
          </p:txBody>
        </p:sp>
        <p:sp>
          <p:nvSpPr>
            <p:cNvPr id="85" name="boiler band"/>
            <p:cNvSpPr/>
            <p:nvPr/>
          </p:nvSpPr>
          <p:spPr>
            <a:xfrm>
              <a:off x="4861096" y="2791114"/>
              <a:ext cx="5632" cy="160934"/>
            </a:xfrm>
            <a:prstGeom prst="rect">
              <a:avLst/>
            </a:prstGeom>
            <a:solidFill>
              <a:srgbClr val="AE641C"/>
            </a:solidFill>
            <a:ln>
              <a:noFill/>
            </a:ln>
          </p:spPr>
          <p:txBody>
            <a:bodyPr rtlCol="0" anchor="ctr"/>
            <a:lstStyle/>
            <a:p>
              <a:pPr algn="ctr"/>
              <a:endParaRPr/>
            </a:p>
          </p:txBody>
        </p:sp>
        <p:sp>
          <p:nvSpPr>
            <p:cNvPr id="86" name="boiler band"/>
            <p:cNvSpPr/>
            <p:nvPr/>
          </p:nvSpPr>
          <p:spPr>
            <a:xfrm>
              <a:off x="5110545" y="2791114"/>
              <a:ext cx="5632" cy="160934"/>
            </a:xfrm>
            <a:prstGeom prst="rect">
              <a:avLst/>
            </a:prstGeom>
            <a:solidFill>
              <a:srgbClr val="AE641C"/>
            </a:solidFill>
            <a:ln>
              <a:noFill/>
            </a:ln>
          </p:spPr>
          <p:txBody>
            <a:bodyPr rtlCol="0" anchor="ctr"/>
            <a:lstStyle/>
            <a:p>
              <a:pPr algn="ctr"/>
              <a:endParaRPr/>
            </a:p>
          </p:txBody>
        </p:sp>
        <p:sp>
          <p:nvSpPr>
            <p:cNvPr id="87" name="boiler band"/>
            <p:cNvSpPr/>
            <p:nvPr/>
          </p:nvSpPr>
          <p:spPr>
            <a:xfrm>
              <a:off x="5359993" y="2791114"/>
              <a:ext cx="5632" cy="160934"/>
            </a:xfrm>
            <a:prstGeom prst="rect">
              <a:avLst/>
            </a:prstGeom>
            <a:solidFill>
              <a:srgbClr val="AE641C"/>
            </a:solidFill>
            <a:ln>
              <a:noFill/>
            </a:ln>
          </p:spPr>
          <p:txBody>
            <a:bodyPr rtlCol="0" anchor="ctr"/>
            <a:lstStyle/>
            <a:p>
              <a:pPr algn="ctr"/>
              <a:endParaRPr/>
            </a:p>
          </p:txBody>
        </p:sp>
        <p:sp>
          <p:nvSpPr>
            <p:cNvPr id="88" name="smokebox"/>
            <p:cNvSpPr/>
            <p:nvPr/>
          </p:nvSpPr>
          <p:spPr>
            <a:xfrm>
              <a:off x="5559552" y="2791114"/>
              <a:ext cx="80467" cy="160934"/>
            </a:xfrm>
            <a:prstGeom prst="roundRect">
              <a:avLst>
                <a:gd name="adj" fmla="val 11999"/>
              </a:avLst>
            </a:prstGeom>
            <a:solidFill>
              <a:srgbClr val="4A515B"/>
            </a:solidFill>
            <a:ln>
              <a:noFill/>
            </a:ln>
          </p:spPr>
          <p:txBody>
            <a:bodyPr rtlCol="0" anchor="ctr"/>
            <a:lstStyle/>
            <a:p>
              <a:pPr algn="ctr"/>
              <a:endParaRPr/>
            </a:p>
          </p:txBody>
        </p:sp>
        <p:sp>
          <p:nvSpPr>
            <p:cNvPr id="89" name="chimney"/>
            <p:cNvSpPr/>
            <p:nvPr/>
          </p:nvSpPr>
          <p:spPr>
            <a:xfrm>
              <a:off x="5575645" y="2706624"/>
              <a:ext cx="48280" cy="84490"/>
            </a:xfrm>
            <a:prstGeom prst="rect">
              <a:avLst/>
            </a:prstGeom>
            <a:solidFill>
              <a:srgbClr val="3A3F47"/>
            </a:solidFill>
            <a:ln w="9525">
              <a:solidFill>
                <a:srgbClr val="9AA0A6"/>
              </a:solidFill>
            </a:ln>
          </p:spPr>
          <p:txBody>
            <a:bodyPr rtlCol="0" anchor="ctr"/>
            <a:lstStyle/>
            <a:p>
              <a:pPr algn="ctr"/>
              <a:endParaRPr/>
            </a:p>
          </p:txBody>
        </p:sp>
        <p:sp>
          <p:nvSpPr>
            <p:cNvPr id="90" name="chimney lip"/>
            <p:cNvSpPr/>
            <p:nvPr/>
          </p:nvSpPr>
          <p:spPr>
            <a:xfrm>
              <a:off x="5563575" y="2694553"/>
              <a:ext cx="72420" cy="20116"/>
            </a:xfrm>
            <a:prstGeom prst="rect">
              <a:avLst/>
            </a:prstGeom>
            <a:solidFill>
              <a:srgbClr val="3A3F47"/>
            </a:solidFill>
            <a:ln w="9525">
              <a:solidFill>
                <a:srgbClr val="9AA0A6"/>
              </a:solidFill>
            </a:ln>
          </p:spPr>
          <p:txBody>
            <a:bodyPr rtlCol="0" anchor="ctr"/>
            <a:lstStyle/>
            <a:p>
              <a:pPr algn="ctr"/>
              <a:endParaRPr/>
            </a:p>
          </p:txBody>
        </p:sp>
        <p:sp>
          <p:nvSpPr>
            <p:cNvPr id="91" name="dome"/>
            <p:cNvSpPr/>
            <p:nvPr/>
          </p:nvSpPr>
          <p:spPr>
            <a:xfrm>
              <a:off x="4960876" y="2746857"/>
              <a:ext cx="72420" cy="44256"/>
            </a:xfrm>
            <a:prstGeom prst="roundRect">
              <a:avLst>
                <a:gd name="adj" fmla="val 36363"/>
              </a:avLst>
            </a:prstGeom>
            <a:solidFill>
              <a:srgbClr val="F28C28"/>
            </a:solidFill>
            <a:ln>
              <a:noFill/>
            </a:ln>
          </p:spPr>
          <p:txBody>
            <a:bodyPr rtlCol="0" anchor="ctr"/>
            <a:lstStyle/>
            <a:p>
              <a:pPr algn="ctr"/>
              <a:endParaRPr/>
            </a:p>
          </p:txBody>
        </p:sp>
        <p:sp>
          <p:nvSpPr>
            <p:cNvPr id="92" name="wheel"/>
            <p:cNvSpPr/>
            <p:nvPr/>
          </p:nvSpPr>
          <p:spPr>
            <a:xfrm>
              <a:off x="4412894"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93" name="hub"/>
            <p:cNvSpPr/>
            <p:nvPr/>
          </p:nvSpPr>
          <p:spPr>
            <a:xfrm>
              <a:off x="4472440" y="3007571"/>
              <a:ext cx="41842" cy="41842"/>
            </a:xfrm>
            <a:prstGeom prst="ellipse">
              <a:avLst/>
            </a:prstGeom>
            <a:solidFill>
              <a:srgbClr val="9AA0A6"/>
            </a:solidFill>
            <a:ln>
              <a:noFill/>
            </a:ln>
          </p:spPr>
          <p:txBody>
            <a:bodyPr rtlCol="0" anchor="ctr"/>
            <a:lstStyle/>
            <a:p>
              <a:pPr algn="ctr"/>
              <a:endParaRPr/>
            </a:p>
          </p:txBody>
        </p:sp>
        <p:sp>
          <p:nvSpPr>
            <p:cNvPr id="94" name="wheel"/>
            <p:cNvSpPr/>
            <p:nvPr/>
          </p:nvSpPr>
          <p:spPr>
            <a:xfrm>
              <a:off x="4593945"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95" name="hub"/>
            <p:cNvSpPr/>
            <p:nvPr/>
          </p:nvSpPr>
          <p:spPr>
            <a:xfrm>
              <a:off x="4653491" y="3007571"/>
              <a:ext cx="41842" cy="41842"/>
            </a:xfrm>
            <a:prstGeom prst="ellipse">
              <a:avLst/>
            </a:prstGeom>
            <a:solidFill>
              <a:srgbClr val="9AA0A6"/>
            </a:solidFill>
            <a:ln>
              <a:noFill/>
            </a:ln>
          </p:spPr>
          <p:txBody>
            <a:bodyPr rtlCol="0" anchor="ctr"/>
            <a:lstStyle/>
            <a:p>
              <a:pPr algn="ctr"/>
              <a:endParaRPr/>
            </a:p>
          </p:txBody>
        </p:sp>
        <p:sp>
          <p:nvSpPr>
            <p:cNvPr id="96" name="wheel"/>
            <p:cNvSpPr/>
            <p:nvPr/>
          </p:nvSpPr>
          <p:spPr>
            <a:xfrm>
              <a:off x="4774996"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97" name="hub"/>
            <p:cNvSpPr/>
            <p:nvPr/>
          </p:nvSpPr>
          <p:spPr>
            <a:xfrm>
              <a:off x="4834542" y="3007571"/>
              <a:ext cx="41842" cy="41842"/>
            </a:xfrm>
            <a:prstGeom prst="ellipse">
              <a:avLst/>
            </a:prstGeom>
            <a:solidFill>
              <a:srgbClr val="9AA0A6"/>
            </a:solidFill>
            <a:ln>
              <a:noFill/>
            </a:ln>
          </p:spPr>
          <p:txBody>
            <a:bodyPr rtlCol="0" anchor="ctr"/>
            <a:lstStyle/>
            <a:p>
              <a:pPr algn="ctr"/>
              <a:endParaRPr/>
            </a:p>
          </p:txBody>
        </p:sp>
        <p:sp>
          <p:nvSpPr>
            <p:cNvPr id="98" name="wheel"/>
            <p:cNvSpPr/>
            <p:nvPr/>
          </p:nvSpPr>
          <p:spPr>
            <a:xfrm>
              <a:off x="4956048"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99" name="hub"/>
            <p:cNvSpPr/>
            <p:nvPr/>
          </p:nvSpPr>
          <p:spPr>
            <a:xfrm>
              <a:off x="5015593" y="3007571"/>
              <a:ext cx="41842" cy="41842"/>
            </a:xfrm>
            <a:prstGeom prst="ellipse">
              <a:avLst/>
            </a:prstGeom>
            <a:solidFill>
              <a:srgbClr val="9AA0A6"/>
            </a:solidFill>
            <a:ln>
              <a:noFill/>
            </a:ln>
          </p:spPr>
          <p:txBody>
            <a:bodyPr rtlCol="0" anchor="ctr"/>
            <a:lstStyle/>
            <a:p>
              <a:pPr algn="ctr"/>
              <a:endParaRPr/>
            </a:p>
          </p:txBody>
        </p:sp>
        <p:sp>
          <p:nvSpPr>
            <p:cNvPr id="100" name="wheel"/>
            <p:cNvSpPr/>
            <p:nvPr/>
          </p:nvSpPr>
          <p:spPr>
            <a:xfrm>
              <a:off x="5137099"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101" name="hub"/>
            <p:cNvSpPr/>
            <p:nvPr/>
          </p:nvSpPr>
          <p:spPr>
            <a:xfrm>
              <a:off x="5196644" y="3007571"/>
              <a:ext cx="41842" cy="41842"/>
            </a:xfrm>
            <a:prstGeom prst="ellipse">
              <a:avLst/>
            </a:prstGeom>
            <a:solidFill>
              <a:srgbClr val="9AA0A6"/>
            </a:solidFill>
            <a:ln>
              <a:noFill/>
            </a:ln>
          </p:spPr>
          <p:txBody>
            <a:bodyPr rtlCol="0" anchor="ctr"/>
            <a:lstStyle/>
            <a:p>
              <a:pPr algn="ctr"/>
              <a:endParaRPr/>
            </a:p>
          </p:txBody>
        </p:sp>
        <p:sp>
          <p:nvSpPr>
            <p:cNvPr id="102" name="wheel"/>
            <p:cNvSpPr/>
            <p:nvPr/>
          </p:nvSpPr>
          <p:spPr>
            <a:xfrm>
              <a:off x="5358384" y="3020446"/>
              <a:ext cx="88513" cy="88513"/>
            </a:xfrm>
            <a:prstGeom prst="ellipse">
              <a:avLst/>
            </a:prstGeom>
            <a:solidFill>
              <a:srgbClr val="1B1D21"/>
            </a:solidFill>
            <a:ln w="19050">
              <a:solidFill>
                <a:srgbClr val="9AA0A6"/>
              </a:solidFill>
            </a:ln>
          </p:spPr>
          <p:txBody>
            <a:bodyPr rtlCol="0" anchor="ctr"/>
            <a:lstStyle/>
            <a:p>
              <a:pPr algn="ctr"/>
              <a:endParaRPr/>
            </a:p>
          </p:txBody>
        </p:sp>
        <p:sp>
          <p:nvSpPr>
            <p:cNvPr id="103" name="hub"/>
            <p:cNvSpPr/>
            <p:nvPr/>
          </p:nvSpPr>
          <p:spPr>
            <a:xfrm>
              <a:off x="5391134" y="3053196"/>
              <a:ext cx="23013" cy="23013"/>
            </a:xfrm>
            <a:prstGeom prst="ellipse">
              <a:avLst/>
            </a:prstGeom>
            <a:solidFill>
              <a:srgbClr val="9AA0A6"/>
            </a:solidFill>
            <a:ln>
              <a:noFill/>
            </a:ln>
          </p:spPr>
          <p:txBody>
            <a:bodyPr rtlCol="0" anchor="ctr"/>
            <a:lstStyle/>
            <a:p>
              <a:pPr algn="ctr"/>
              <a:endParaRPr/>
            </a:p>
          </p:txBody>
        </p:sp>
        <p:sp>
          <p:nvSpPr>
            <p:cNvPr id="104" name="coupling rod"/>
            <p:cNvSpPr/>
            <p:nvPr/>
          </p:nvSpPr>
          <p:spPr>
            <a:xfrm>
              <a:off x="4493361" y="2982626"/>
              <a:ext cx="724204" cy="11265"/>
            </a:xfrm>
            <a:prstGeom prst="rect">
              <a:avLst/>
            </a:prstGeom>
            <a:solidFill>
              <a:srgbClr val="D0D4D8"/>
            </a:solidFill>
            <a:ln>
              <a:noFill/>
            </a:ln>
          </p:spPr>
          <p:txBody>
            <a:bodyPr rtlCol="0" anchor="ctr"/>
            <a:lstStyle/>
            <a:p>
              <a:pPr algn="ctr"/>
              <a:endParaRPr/>
            </a:p>
          </p:txBody>
        </p:sp>
        <p:sp>
          <p:nvSpPr>
            <p:cNvPr id="105" name="buffer beam"/>
            <p:cNvSpPr/>
            <p:nvPr/>
          </p:nvSpPr>
          <p:spPr>
            <a:xfrm>
              <a:off x="5640019" y="2956072"/>
              <a:ext cx="24140" cy="72420"/>
            </a:xfrm>
            <a:prstGeom prst="rect">
              <a:avLst/>
            </a:prstGeom>
            <a:solidFill>
              <a:srgbClr val="9AA0A6"/>
            </a:solidFill>
            <a:ln>
              <a:noFill/>
            </a:ln>
          </p:spPr>
          <p:txBody>
            <a:bodyPr rtlCol="0" anchor="ctr"/>
            <a:lstStyle/>
            <a:p>
              <a:pPr algn="ctr"/>
              <a:endParaRPr/>
            </a:p>
          </p:txBody>
        </p:sp>
        <p:sp>
          <p:nvSpPr>
            <p:cNvPr id="106" name="rail"/>
            <p:cNvSpPr/>
            <p:nvPr/>
          </p:nvSpPr>
          <p:spPr>
            <a:xfrm>
              <a:off x="4032504" y="3108960"/>
              <a:ext cx="1645920" cy="36576"/>
            </a:xfrm>
            <a:prstGeom prst="rect">
              <a:avLst/>
            </a:prstGeom>
            <a:solidFill>
              <a:srgbClr val="9AA0A6"/>
            </a:solidFill>
            <a:ln>
              <a:noFill/>
            </a:ln>
          </p:spPr>
          <p:txBody>
            <a:bodyPr rtlCol="0" anchor="ctr"/>
            <a:lstStyle/>
            <a:p>
              <a:pPr algn="ctr"/>
              <a:endParaRPr/>
            </a:p>
          </p:txBody>
        </p:sp>
        <p:sp>
          <p:nvSpPr>
            <p:cNvPr id="107" name="number plate (digits)"/>
            <p:cNvSpPr/>
            <p:nvPr/>
          </p:nvSpPr>
          <p:spPr>
            <a:xfrm>
              <a:off x="4123944" y="3383280"/>
              <a:ext cx="1463040" cy="731520"/>
            </a:xfrm>
            <a:prstGeom prst="roundRect">
              <a:avLst>
                <a:gd name="adj" fmla="val 10000"/>
              </a:avLst>
            </a:prstGeom>
            <a:solidFill>
              <a:srgbClr val="1B1D21"/>
            </a:solidFill>
            <a:ln w="28575">
              <a:solidFill>
                <a:srgbClr val="F28C28"/>
              </a:solidFill>
            </a:ln>
          </p:spPr>
          <p:txBody>
            <a:bodyPr rtlCol="0" anchor="ctr"/>
            <a:lstStyle/>
            <a:p>
              <a:pPr algn="ctr"/>
              <a:endParaRPr/>
            </a:p>
          </p:txBody>
        </p:sp>
        <p:sp>
          <p:nvSpPr>
            <p:cNvPr id="108" name="digit block"/>
            <p:cNvSpPr/>
            <p:nvPr/>
          </p:nvSpPr>
          <p:spPr>
            <a:xfrm>
              <a:off x="4292742"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109" name="digit block"/>
            <p:cNvSpPr/>
            <p:nvPr/>
          </p:nvSpPr>
          <p:spPr>
            <a:xfrm>
              <a:off x="4603638"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110" name="digit block"/>
            <p:cNvSpPr/>
            <p:nvPr/>
          </p:nvSpPr>
          <p:spPr>
            <a:xfrm>
              <a:off x="4914534"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111" name="digit block"/>
            <p:cNvSpPr/>
            <p:nvPr/>
          </p:nvSpPr>
          <p:spPr>
            <a:xfrm>
              <a:off x="5225430" y="3652662"/>
              <a:ext cx="192755" cy="192755"/>
            </a:xfrm>
            <a:prstGeom prst="roundRect">
              <a:avLst>
                <a:gd name="adj" fmla="val 20000"/>
              </a:avLst>
            </a:prstGeom>
            <a:solidFill>
              <a:srgbClr val="F2F2F2"/>
            </a:solidFill>
            <a:ln>
              <a:noFill/>
            </a:ln>
          </p:spPr>
          <p:txBody>
            <a:bodyPr rtlCol="0" anchor="ctr"/>
            <a:lstStyle/>
            <a:p>
              <a:pPr algn="ctr"/>
              <a:endParaRPr/>
            </a:p>
          </p:txBody>
        </p:sp>
        <p:sp>
          <p:nvSpPr>
            <p:cNvPr id="112" name="style card"/>
            <p:cNvSpPr/>
            <p:nvPr/>
          </p:nvSpPr>
          <p:spPr>
            <a:xfrm>
              <a:off x="6291072" y="1325880"/>
              <a:ext cx="5349240" cy="3108960"/>
            </a:xfrm>
            <a:prstGeom prst="roundRect">
              <a:avLst>
                <a:gd name="adj" fmla="val 2941"/>
              </a:avLst>
            </a:prstGeom>
            <a:solidFill>
              <a:srgbClr val="2B2F36"/>
            </a:solidFill>
            <a:ln w="19050">
              <a:solidFill>
                <a:srgbClr val="4A515B"/>
              </a:solidFill>
            </a:ln>
          </p:spPr>
          <p:txBody>
            <a:bodyPr rtlCol="0" anchor="ctr"/>
            <a:lstStyle/>
            <a:p>
              <a:pPr algn="ctr"/>
              <a:endParaRPr/>
            </a:p>
          </p:txBody>
        </p:sp>
        <p:sp>
          <p:nvSpPr>
            <p:cNvPr id="113" name="card heading"/>
            <p:cNvSpPr txBox="1"/>
            <p:nvPr/>
          </p:nvSpPr>
          <p:spPr>
            <a:xfrm>
              <a:off x="6565392" y="1417320"/>
              <a:ext cx="4846320" cy="457200"/>
            </a:xfrm>
            <a:prstGeom prst="rect">
              <a:avLst/>
            </a:prstGeom>
            <a:noFill/>
          </p:spPr>
          <p:txBody>
            <a:bodyPr wrap="square" lIns="18288" tIns="9144" rIns="18288" bIns="9144" anchor="ctr">
              <a:noAutofit/>
            </a:bodyPr>
            <a:lstStyle/>
            <a:p>
              <a:pPr algn="l"/>
              <a:r>
                <a:rPr lang="en-GB" sz="2400" b="1" i="0">
                  <a:solidFill>
                    <a:srgbClr val="F2F2F2"/>
                  </a:solidFill>
                  <a:latin typeface="Arial"/>
                </a:rPr>
                <a:t>Historical Operator</a:t>
              </a:r>
            </a:p>
          </p:txBody>
        </p:sp>
        <p:sp>
          <p:nvSpPr>
            <p:cNvPr id="114" name="card description"/>
            <p:cNvSpPr txBox="1"/>
            <p:nvPr/>
          </p:nvSpPr>
          <p:spPr>
            <a:xfrm>
              <a:off x="6565392" y="1874519"/>
              <a:ext cx="4846320" cy="640080"/>
            </a:xfrm>
            <a:prstGeom prst="rect">
              <a:avLst/>
            </a:prstGeom>
            <a:noFill/>
          </p:spPr>
          <p:txBody>
            <a:bodyPr wrap="square" lIns="18288" tIns="9144" rIns="18288" bIns="9144" anchor="t">
              <a:noAutofit/>
            </a:bodyPr>
            <a:lstStyle/>
            <a:p>
              <a:pPr algn="l"/>
              <a:r>
                <a:rPr lang="en-GB" sz="1800" b="0" i="0">
                  <a:solidFill>
                    <a:srgbClr val="A9B0B8"/>
                  </a:solidFill>
                  <a:latin typeface="Arial"/>
                </a:rPr>
                <a:t>Rules like the old railway companies</a:t>
              </a:r>
            </a:p>
          </p:txBody>
        </p:sp>
        <p:sp>
          <p:nvSpPr>
            <p:cNvPr id="115" name="frame"/>
            <p:cNvSpPr/>
            <p:nvPr/>
          </p:nvSpPr>
          <p:spPr>
            <a:xfrm>
              <a:off x="6883968" y="2992282"/>
              <a:ext cx="893185" cy="36210"/>
            </a:xfrm>
            <a:prstGeom prst="rect">
              <a:avLst/>
            </a:prstGeom>
            <a:solidFill>
              <a:srgbClr val="3A3F47"/>
            </a:solidFill>
            <a:ln w="9525">
              <a:solidFill>
                <a:srgbClr val="9AA0A6"/>
              </a:solidFill>
            </a:ln>
          </p:spPr>
          <p:txBody>
            <a:bodyPr rtlCol="0" anchor="ctr"/>
            <a:lstStyle/>
            <a:p>
              <a:pPr algn="ctr"/>
              <a:endParaRPr/>
            </a:p>
          </p:txBody>
        </p:sp>
        <p:sp>
          <p:nvSpPr>
            <p:cNvPr id="116" name="bunker"/>
            <p:cNvSpPr/>
            <p:nvPr/>
          </p:nvSpPr>
          <p:spPr>
            <a:xfrm>
              <a:off x="6883968" y="2835371"/>
              <a:ext cx="136794" cy="156911"/>
            </a:xfrm>
            <a:prstGeom prst="roundRect">
              <a:avLst>
                <a:gd name="adj" fmla="val 2941"/>
              </a:avLst>
            </a:prstGeom>
            <a:solidFill>
              <a:srgbClr val="2BB5B0"/>
            </a:solidFill>
            <a:ln>
              <a:noFill/>
            </a:ln>
          </p:spPr>
          <p:txBody>
            <a:bodyPr rtlCol="0" anchor="ctr"/>
            <a:lstStyle/>
            <a:p>
              <a:pPr algn="ctr"/>
              <a:endParaRPr/>
            </a:p>
          </p:txBody>
        </p:sp>
        <p:sp>
          <p:nvSpPr>
            <p:cNvPr id="117" name="bunker coal"/>
            <p:cNvSpPr/>
            <p:nvPr/>
          </p:nvSpPr>
          <p:spPr>
            <a:xfrm>
              <a:off x="6892015" y="2795137"/>
              <a:ext cx="120701" cy="40234"/>
            </a:xfrm>
            <a:custGeom>
              <a:avLst/>
              <a:gdLst/>
              <a:ahLst/>
              <a:cxnLst/>
              <a:rect l="l" t="t" r="r" b="b"/>
              <a:pathLst>
                <a:path w="120701" h="40234">
                  <a:moveTo>
                    <a:pt x="0" y="40234"/>
                  </a:moveTo>
                  <a:lnTo>
                    <a:pt x="32187" y="4024"/>
                  </a:lnTo>
                  <a:lnTo>
                    <a:pt x="80467" y="0"/>
                  </a:lnTo>
                  <a:lnTo>
                    <a:pt x="120701" y="40234"/>
                  </a:lnTo>
                  <a:close/>
                </a:path>
              </a:pathLst>
            </a:custGeom>
            <a:solidFill>
              <a:srgbClr val="1B1D21"/>
            </a:solidFill>
            <a:ln w="12700">
              <a:solidFill>
                <a:srgbClr val="6B7078"/>
              </a:solidFill>
            </a:ln>
          </p:spPr>
          <p:txBody>
            <a:bodyPr rtlCol="0" anchor="ctr"/>
            <a:lstStyle/>
            <a:p>
              <a:pPr algn="ctr"/>
              <a:endParaRPr/>
            </a:p>
          </p:txBody>
        </p:sp>
        <p:sp>
          <p:nvSpPr>
            <p:cNvPr id="118" name="cab"/>
            <p:cNvSpPr/>
            <p:nvPr/>
          </p:nvSpPr>
          <p:spPr>
            <a:xfrm>
              <a:off x="7020763" y="2770997"/>
              <a:ext cx="160934" cy="221284"/>
            </a:xfrm>
            <a:prstGeom prst="roundRect">
              <a:avLst>
                <a:gd name="adj" fmla="val 2500"/>
              </a:avLst>
            </a:prstGeom>
            <a:solidFill>
              <a:srgbClr val="2BB5B0"/>
            </a:solidFill>
            <a:ln>
              <a:noFill/>
            </a:ln>
          </p:spPr>
          <p:txBody>
            <a:bodyPr rtlCol="0" anchor="ctr"/>
            <a:lstStyle/>
            <a:p>
              <a:pPr algn="ctr"/>
              <a:endParaRPr/>
            </a:p>
          </p:txBody>
        </p:sp>
        <p:sp>
          <p:nvSpPr>
            <p:cNvPr id="119" name="cab roof"/>
            <p:cNvSpPr/>
            <p:nvPr/>
          </p:nvSpPr>
          <p:spPr>
            <a:xfrm>
              <a:off x="7012716" y="2750880"/>
              <a:ext cx="177027" cy="20116"/>
            </a:xfrm>
            <a:prstGeom prst="rect">
              <a:avLst/>
            </a:prstGeom>
            <a:solidFill>
              <a:srgbClr val="3A3F47"/>
            </a:solidFill>
            <a:ln w="9525">
              <a:solidFill>
                <a:srgbClr val="9AA0A6"/>
              </a:solidFill>
            </a:ln>
          </p:spPr>
          <p:txBody>
            <a:bodyPr rtlCol="0" anchor="ctr"/>
            <a:lstStyle/>
            <a:p>
              <a:pPr algn="ctr"/>
              <a:endParaRPr/>
            </a:p>
          </p:txBody>
        </p:sp>
        <p:sp>
          <p:nvSpPr>
            <p:cNvPr id="120" name="cab window"/>
            <p:cNvSpPr/>
            <p:nvPr/>
          </p:nvSpPr>
          <p:spPr>
            <a:xfrm>
              <a:off x="7060996" y="2803184"/>
              <a:ext cx="72420" cy="72420"/>
            </a:xfrm>
            <a:prstGeom prst="rect">
              <a:avLst/>
            </a:prstGeom>
            <a:solidFill>
              <a:srgbClr val="1B1D21"/>
            </a:solidFill>
            <a:ln>
              <a:noFill/>
            </a:ln>
          </p:spPr>
          <p:txBody>
            <a:bodyPr rtlCol="0" anchor="ctr"/>
            <a:lstStyle/>
            <a:p>
              <a:pPr algn="ctr"/>
              <a:endParaRPr/>
            </a:p>
          </p:txBody>
        </p:sp>
        <p:sp>
          <p:nvSpPr>
            <p:cNvPr id="121" name="boiler"/>
            <p:cNvSpPr/>
            <p:nvPr/>
          </p:nvSpPr>
          <p:spPr>
            <a:xfrm>
              <a:off x="7181697" y="2791114"/>
              <a:ext cx="514990" cy="160934"/>
            </a:xfrm>
            <a:prstGeom prst="roundRect">
              <a:avLst>
                <a:gd name="adj" fmla="val 25000"/>
              </a:avLst>
            </a:prstGeom>
            <a:solidFill>
              <a:srgbClr val="2BB5B0"/>
            </a:solidFill>
            <a:ln>
              <a:noFill/>
            </a:ln>
          </p:spPr>
          <p:txBody>
            <a:bodyPr rtlCol="0" anchor="ctr"/>
            <a:lstStyle/>
            <a:p>
              <a:pPr algn="ctr"/>
              <a:endParaRPr/>
            </a:p>
          </p:txBody>
        </p:sp>
        <p:sp>
          <p:nvSpPr>
            <p:cNvPr id="122" name="side tank"/>
            <p:cNvSpPr/>
            <p:nvPr/>
          </p:nvSpPr>
          <p:spPr>
            <a:xfrm>
              <a:off x="7181697" y="2847441"/>
              <a:ext cx="474756" cy="140817"/>
            </a:xfrm>
            <a:prstGeom prst="roundRect">
              <a:avLst>
                <a:gd name="adj" fmla="val 14285"/>
              </a:avLst>
            </a:prstGeom>
            <a:solidFill>
              <a:srgbClr val="1E827E"/>
            </a:solidFill>
            <a:ln>
              <a:noFill/>
            </a:ln>
          </p:spPr>
          <p:txBody>
            <a:bodyPr rtlCol="0" anchor="ctr"/>
            <a:lstStyle/>
            <a:p>
              <a:pPr algn="ctr"/>
              <a:endParaRPr/>
            </a:p>
          </p:txBody>
        </p:sp>
        <p:sp>
          <p:nvSpPr>
            <p:cNvPr id="123" name="smokebox"/>
            <p:cNvSpPr/>
            <p:nvPr/>
          </p:nvSpPr>
          <p:spPr>
            <a:xfrm>
              <a:off x="7696687" y="2791114"/>
              <a:ext cx="80467" cy="160934"/>
            </a:xfrm>
            <a:prstGeom prst="roundRect">
              <a:avLst>
                <a:gd name="adj" fmla="val 11999"/>
              </a:avLst>
            </a:prstGeom>
            <a:solidFill>
              <a:srgbClr val="4A515B"/>
            </a:solidFill>
            <a:ln>
              <a:noFill/>
            </a:ln>
          </p:spPr>
          <p:txBody>
            <a:bodyPr rtlCol="0" anchor="ctr"/>
            <a:lstStyle/>
            <a:p>
              <a:pPr algn="ctr"/>
              <a:endParaRPr/>
            </a:p>
          </p:txBody>
        </p:sp>
        <p:sp>
          <p:nvSpPr>
            <p:cNvPr id="124" name="chimney"/>
            <p:cNvSpPr/>
            <p:nvPr/>
          </p:nvSpPr>
          <p:spPr>
            <a:xfrm>
              <a:off x="7712781" y="2706624"/>
              <a:ext cx="48280" cy="84490"/>
            </a:xfrm>
            <a:prstGeom prst="rect">
              <a:avLst/>
            </a:prstGeom>
            <a:solidFill>
              <a:srgbClr val="3A3F47"/>
            </a:solidFill>
            <a:ln w="9525">
              <a:solidFill>
                <a:srgbClr val="9AA0A6"/>
              </a:solidFill>
            </a:ln>
          </p:spPr>
          <p:txBody>
            <a:bodyPr rtlCol="0" anchor="ctr"/>
            <a:lstStyle/>
            <a:p>
              <a:pPr algn="ctr"/>
              <a:endParaRPr/>
            </a:p>
          </p:txBody>
        </p:sp>
        <p:sp>
          <p:nvSpPr>
            <p:cNvPr id="125" name="chimney lip"/>
            <p:cNvSpPr/>
            <p:nvPr/>
          </p:nvSpPr>
          <p:spPr>
            <a:xfrm>
              <a:off x="7700711" y="2694553"/>
              <a:ext cx="72420" cy="20116"/>
            </a:xfrm>
            <a:prstGeom prst="rect">
              <a:avLst/>
            </a:prstGeom>
            <a:solidFill>
              <a:srgbClr val="3A3F47"/>
            </a:solidFill>
            <a:ln w="9525">
              <a:solidFill>
                <a:srgbClr val="9AA0A6"/>
              </a:solidFill>
            </a:ln>
          </p:spPr>
          <p:txBody>
            <a:bodyPr rtlCol="0" anchor="ctr"/>
            <a:lstStyle/>
            <a:p>
              <a:pPr algn="ctr"/>
              <a:endParaRPr/>
            </a:p>
          </p:txBody>
        </p:sp>
        <p:sp>
          <p:nvSpPr>
            <p:cNvPr id="126" name="dome"/>
            <p:cNvSpPr/>
            <p:nvPr/>
          </p:nvSpPr>
          <p:spPr>
            <a:xfrm>
              <a:off x="7397993" y="2746857"/>
              <a:ext cx="72420" cy="44256"/>
            </a:xfrm>
            <a:prstGeom prst="roundRect">
              <a:avLst>
                <a:gd name="adj" fmla="val 36363"/>
              </a:avLst>
            </a:prstGeom>
            <a:solidFill>
              <a:srgbClr val="2BB5B0"/>
            </a:solidFill>
            <a:ln>
              <a:noFill/>
            </a:ln>
          </p:spPr>
          <p:txBody>
            <a:bodyPr rtlCol="0" anchor="ctr"/>
            <a:lstStyle/>
            <a:p>
              <a:pPr algn="ctr"/>
              <a:endParaRPr/>
            </a:p>
          </p:txBody>
        </p:sp>
        <p:sp>
          <p:nvSpPr>
            <p:cNvPr id="127" name="wheel"/>
            <p:cNvSpPr/>
            <p:nvPr/>
          </p:nvSpPr>
          <p:spPr>
            <a:xfrm>
              <a:off x="7109277" y="2964119"/>
              <a:ext cx="144840" cy="144840"/>
            </a:xfrm>
            <a:prstGeom prst="ellipse">
              <a:avLst/>
            </a:prstGeom>
            <a:solidFill>
              <a:srgbClr val="1B1D21"/>
            </a:solidFill>
            <a:ln w="19050">
              <a:solidFill>
                <a:srgbClr val="9AA0A6"/>
              </a:solidFill>
            </a:ln>
          </p:spPr>
          <p:txBody>
            <a:bodyPr rtlCol="0" anchor="ctr"/>
            <a:lstStyle/>
            <a:p>
              <a:pPr algn="ctr"/>
              <a:endParaRPr/>
            </a:p>
          </p:txBody>
        </p:sp>
        <p:sp>
          <p:nvSpPr>
            <p:cNvPr id="128" name="hub"/>
            <p:cNvSpPr/>
            <p:nvPr/>
          </p:nvSpPr>
          <p:spPr>
            <a:xfrm>
              <a:off x="7162868" y="3017710"/>
              <a:ext cx="37658" cy="37658"/>
            </a:xfrm>
            <a:prstGeom prst="ellipse">
              <a:avLst/>
            </a:prstGeom>
            <a:solidFill>
              <a:srgbClr val="9AA0A6"/>
            </a:solidFill>
            <a:ln>
              <a:noFill/>
            </a:ln>
          </p:spPr>
          <p:txBody>
            <a:bodyPr rtlCol="0" anchor="ctr"/>
            <a:lstStyle/>
            <a:p>
              <a:pPr algn="ctr"/>
              <a:endParaRPr/>
            </a:p>
          </p:txBody>
        </p:sp>
        <p:sp>
          <p:nvSpPr>
            <p:cNvPr id="129" name="wheel"/>
            <p:cNvSpPr/>
            <p:nvPr/>
          </p:nvSpPr>
          <p:spPr>
            <a:xfrm>
              <a:off x="7270211" y="2964119"/>
              <a:ext cx="144840" cy="144840"/>
            </a:xfrm>
            <a:prstGeom prst="ellipse">
              <a:avLst/>
            </a:prstGeom>
            <a:solidFill>
              <a:srgbClr val="1B1D21"/>
            </a:solidFill>
            <a:ln w="19050">
              <a:solidFill>
                <a:srgbClr val="9AA0A6"/>
              </a:solidFill>
            </a:ln>
          </p:spPr>
          <p:txBody>
            <a:bodyPr rtlCol="0" anchor="ctr"/>
            <a:lstStyle/>
            <a:p>
              <a:pPr algn="ctr"/>
              <a:endParaRPr/>
            </a:p>
          </p:txBody>
        </p:sp>
        <p:sp>
          <p:nvSpPr>
            <p:cNvPr id="130" name="hub"/>
            <p:cNvSpPr/>
            <p:nvPr/>
          </p:nvSpPr>
          <p:spPr>
            <a:xfrm>
              <a:off x="7323802" y="3017710"/>
              <a:ext cx="37658" cy="37658"/>
            </a:xfrm>
            <a:prstGeom prst="ellipse">
              <a:avLst/>
            </a:prstGeom>
            <a:solidFill>
              <a:srgbClr val="9AA0A6"/>
            </a:solidFill>
            <a:ln>
              <a:noFill/>
            </a:ln>
          </p:spPr>
          <p:txBody>
            <a:bodyPr rtlCol="0" anchor="ctr"/>
            <a:lstStyle/>
            <a:p>
              <a:pPr algn="ctr"/>
              <a:endParaRPr/>
            </a:p>
          </p:txBody>
        </p:sp>
        <p:sp>
          <p:nvSpPr>
            <p:cNvPr id="131" name="wheel"/>
            <p:cNvSpPr/>
            <p:nvPr/>
          </p:nvSpPr>
          <p:spPr>
            <a:xfrm>
              <a:off x="7431145" y="2964119"/>
              <a:ext cx="144840" cy="144840"/>
            </a:xfrm>
            <a:prstGeom prst="ellipse">
              <a:avLst/>
            </a:prstGeom>
            <a:solidFill>
              <a:srgbClr val="1B1D21"/>
            </a:solidFill>
            <a:ln w="19050">
              <a:solidFill>
                <a:srgbClr val="9AA0A6"/>
              </a:solidFill>
            </a:ln>
          </p:spPr>
          <p:txBody>
            <a:bodyPr rtlCol="0" anchor="ctr"/>
            <a:lstStyle/>
            <a:p>
              <a:pPr algn="ctr"/>
              <a:endParaRPr/>
            </a:p>
          </p:txBody>
        </p:sp>
        <p:sp>
          <p:nvSpPr>
            <p:cNvPr id="132" name="hub"/>
            <p:cNvSpPr/>
            <p:nvPr/>
          </p:nvSpPr>
          <p:spPr>
            <a:xfrm>
              <a:off x="7484737" y="3017710"/>
              <a:ext cx="37658" cy="37658"/>
            </a:xfrm>
            <a:prstGeom prst="ellipse">
              <a:avLst/>
            </a:prstGeom>
            <a:solidFill>
              <a:srgbClr val="9AA0A6"/>
            </a:solidFill>
            <a:ln>
              <a:noFill/>
            </a:ln>
          </p:spPr>
          <p:txBody>
            <a:bodyPr rtlCol="0" anchor="ctr"/>
            <a:lstStyle/>
            <a:p>
              <a:pPr algn="ctr"/>
              <a:endParaRPr/>
            </a:p>
          </p:txBody>
        </p:sp>
        <p:sp>
          <p:nvSpPr>
            <p:cNvPr id="133" name="coupling rod"/>
            <p:cNvSpPr/>
            <p:nvPr/>
          </p:nvSpPr>
          <p:spPr>
            <a:xfrm>
              <a:off x="7181697" y="2994696"/>
              <a:ext cx="321868" cy="11265"/>
            </a:xfrm>
            <a:prstGeom prst="rect">
              <a:avLst/>
            </a:prstGeom>
            <a:solidFill>
              <a:srgbClr val="D0D4D8"/>
            </a:solidFill>
            <a:ln>
              <a:noFill/>
            </a:ln>
          </p:spPr>
          <p:txBody>
            <a:bodyPr rtlCol="0" anchor="ctr"/>
            <a:lstStyle/>
            <a:p>
              <a:pPr algn="ctr"/>
              <a:endParaRPr/>
            </a:p>
          </p:txBody>
        </p:sp>
        <p:sp>
          <p:nvSpPr>
            <p:cNvPr id="134" name="buffer beam"/>
            <p:cNvSpPr/>
            <p:nvPr/>
          </p:nvSpPr>
          <p:spPr>
            <a:xfrm>
              <a:off x="7777154" y="2956072"/>
              <a:ext cx="24140" cy="72420"/>
            </a:xfrm>
            <a:prstGeom prst="rect">
              <a:avLst/>
            </a:prstGeom>
            <a:solidFill>
              <a:srgbClr val="9AA0A6"/>
            </a:solidFill>
            <a:ln>
              <a:noFill/>
            </a:ln>
          </p:spPr>
          <p:txBody>
            <a:bodyPr rtlCol="0" anchor="ctr"/>
            <a:lstStyle/>
            <a:p>
              <a:pPr algn="ctr"/>
              <a:endParaRPr/>
            </a:p>
          </p:txBody>
        </p:sp>
        <p:sp>
          <p:nvSpPr>
            <p:cNvPr id="135" name="rail"/>
            <p:cNvSpPr/>
            <p:nvPr/>
          </p:nvSpPr>
          <p:spPr>
            <a:xfrm>
              <a:off x="6519671" y="3108960"/>
              <a:ext cx="1645920" cy="36576"/>
            </a:xfrm>
            <a:prstGeom prst="rect">
              <a:avLst/>
            </a:prstGeom>
            <a:solidFill>
              <a:srgbClr val="9AA0A6"/>
            </a:solidFill>
            <a:ln>
              <a:noFill/>
            </a:ln>
          </p:spPr>
          <p:txBody>
            <a:bodyPr rtlCol="0" anchor="ctr"/>
            <a:lstStyle/>
            <a:p>
              <a:pPr algn="ctr"/>
              <a:endParaRPr/>
            </a:p>
          </p:txBody>
        </p:sp>
        <p:sp>
          <p:nvSpPr>
            <p:cNvPr id="136" name="number plate (digits)"/>
            <p:cNvSpPr/>
            <p:nvPr/>
          </p:nvSpPr>
          <p:spPr>
            <a:xfrm>
              <a:off x="6611112" y="3383280"/>
              <a:ext cx="1463040" cy="731520"/>
            </a:xfrm>
            <a:prstGeom prst="roundRect">
              <a:avLst>
                <a:gd name="adj" fmla="val 10000"/>
              </a:avLst>
            </a:prstGeom>
            <a:solidFill>
              <a:srgbClr val="1B1D21"/>
            </a:solidFill>
            <a:ln w="28575">
              <a:solidFill>
                <a:srgbClr val="2BB5B0"/>
              </a:solidFill>
            </a:ln>
          </p:spPr>
          <p:txBody>
            <a:bodyPr rtlCol="0" anchor="ctr"/>
            <a:lstStyle/>
            <a:p>
              <a:pPr algn="ctr"/>
              <a:endParaRPr/>
            </a:p>
          </p:txBody>
        </p:sp>
        <p:sp>
          <p:nvSpPr>
            <p:cNvPr id="137" name="operator mark"/>
            <p:cNvSpPr/>
            <p:nvPr/>
          </p:nvSpPr>
          <p:spPr>
            <a:xfrm>
              <a:off x="6702551" y="3474720"/>
              <a:ext cx="234086" cy="548640"/>
            </a:xfrm>
            <a:prstGeom prst="roundRect">
              <a:avLst>
                <a:gd name="adj" fmla="val 11718"/>
              </a:avLst>
            </a:prstGeom>
            <a:solidFill>
              <a:srgbClr val="2BB5B0"/>
            </a:solidFill>
            <a:ln>
              <a:noFill/>
            </a:ln>
          </p:spPr>
          <p:txBody>
            <a:bodyPr rtlCol="0" anchor="ctr"/>
            <a:lstStyle/>
            <a:p>
              <a:pPr algn="ctr"/>
              <a:endParaRPr/>
            </a:p>
          </p:txBody>
        </p:sp>
        <p:sp>
          <p:nvSpPr>
            <p:cNvPr id="138" name="digit block"/>
            <p:cNvSpPr/>
            <p:nvPr/>
          </p:nvSpPr>
          <p:spPr>
            <a:xfrm>
              <a:off x="7072554" y="3676473"/>
              <a:ext cx="145133" cy="145133"/>
            </a:xfrm>
            <a:prstGeom prst="roundRect">
              <a:avLst>
                <a:gd name="adj" fmla="val 20000"/>
              </a:avLst>
            </a:prstGeom>
            <a:solidFill>
              <a:srgbClr val="F2F2F2"/>
            </a:solidFill>
            <a:ln>
              <a:noFill/>
            </a:ln>
          </p:spPr>
          <p:txBody>
            <a:bodyPr rtlCol="0" anchor="ctr"/>
            <a:lstStyle/>
            <a:p>
              <a:pPr algn="ctr"/>
              <a:endParaRPr/>
            </a:p>
          </p:txBody>
        </p:sp>
        <p:sp>
          <p:nvSpPr>
            <p:cNvPr id="139" name="digit block"/>
            <p:cNvSpPr/>
            <p:nvPr/>
          </p:nvSpPr>
          <p:spPr>
            <a:xfrm>
              <a:off x="7306641" y="3676473"/>
              <a:ext cx="145133" cy="145133"/>
            </a:xfrm>
            <a:prstGeom prst="roundRect">
              <a:avLst>
                <a:gd name="adj" fmla="val 20000"/>
              </a:avLst>
            </a:prstGeom>
            <a:solidFill>
              <a:srgbClr val="F2F2F2"/>
            </a:solidFill>
            <a:ln>
              <a:noFill/>
            </a:ln>
          </p:spPr>
          <p:txBody>
            <a:bodyPr rtlCol="0" anchor="ctr"/>
            <a:lstStyle/>
            <a:p>
              <a:pPr algn="ctr"/>
              <a:endParaRPr/>
            </a:p>
          </p:txBody>
        </p:sp>
        <p:sp>
          <p:nvSpPr>
            <p:cNvPr id="140" name="digit block"/>
            <p:cNvSpPr/>
            <p:nvPr/>
          </p:nvSpPr>
          <p:spPr>
            <a:xfrm>
              <a:off x="7540727" y="3676473"/>
              <a:ext cx="145133" cy="145133"/>
            </a:xfrm>
            <a:prstGeom prst="roundRect">
              <a:avLst>
                <a:gd name="adj" fmla="val 20000"/>
              </a:avLst>
            </a:prstGeom>
            <a:solidFill>
              <a:srgbClr val="F2F2F2"/>
            </a:solidFill>
            <a:ln>
              <a:noFill/>
            </a:ln>
          </p:spPr>
          <p:txBody>
            <a:bodyPr rtlCol="0" anchor="ctr"/>
            <a:lstStyle/>
            <a:p>
              <a:pPr algn="ctr"/>
              <a:endParaRPr/>
            </a:p>
          </p:txBody>
        </p:sp>
        <p:sp>
          <p:nvSpPr>
            <p:cNvPr id="141" name="digit block"/>
            <p:cNvSpPr/>
            <p:nvPr/>
          </p:nvSpPr>
          <p:spPr>
            <a:xfrm>
              <a:off x="7774814" y="3676473"/>
              <a:ext cx="145133" cy="145133"/>
            </a:xfrm>
            <a:prstGeom prst="roundRect">
              <a:avLst>
                <a:gd name="adj" fmla="val 20000"/>
              </a:avLst>
            </a:prstGeom>
            <a:solidFill>
              <a:srgbClr val="F2F2F2"/>
            </a:solidFill>
            <a:ln>
              <a:noFill/>
            </a:ln>
          </p:spPr>
          <p:txBody>
            <a:bodyPr rtlCol="0" anchor="ctr"/>
            <a:lstStyle/>
            <a:p>
              <a:pPr algn="ctr"/>
              <a:endParaRPr/>
            </a:p>
          </p:txBody>
        </p:sp>
        <p:sp>
          <p:nvSpPr>
            <p:cNvPr id="142" name="tender frame"/>
            <p:cNvSpPr/>
            <p:nvPr/>
          </p:nvSpPr>
          <p:spPr>
            <a:xfrm>
              <a:off x="8250082" y="2992282"/>
              <a:ext cx="329915" cy="36210"/>
            </a:xfrm>
            <a:prstGeom prst="rect">
              <a:avLst/>
            </a:prstGeom>
            <a:solidFill>
              <a:srgbClr val="3A3F47"/>
            </a:solidFill>
            <a:ln w="9525">
              <a:solidFill>
                <a:srgbClr val="9AA0A6"/>
              </a:solidFill>
            </a:ln>
          </p:spPr>
          <p:txBody>
            <a:bodyPr rtlCol="0" anchor="ctr"/>
            <a:lstStyle/>
            <a:p>
              <a:pPr algn="ctr"/>
              <a:endParaRPr/>
            </a:p>
          </p:txBody>
        </p:sp>
        <p:sp>
          <p:nvSpPr>
            <p:cNvPr id="143" name="tender body"/>
            <p:cNvSpPr/>
            <p:nvPr/>
          </p:nvSpPr>
          <p:spPr>
            <a:xfrm>
              <a:off x="8250082" y="2859511"/>
              <a:ext cx="329915" cy="132770"/>
            </a:xfrm>
            <a:prstGeom prst="roundRect">
              <a:avLst>
                <a:gd name="adj" fmla="val 3030"/>
              </a:avLst>
            </a:prstGeom>
            <a:solidFill>
              <a:srgbClr val="D6619B"/>
            </a:solidFill>
            <a:ln>
              <a:noFill/>
            </a:ln>
          </p:spPr>
          <p:txBody>
            <a:bodyPr rtlCol="0" anchor="ctr"/>
            <a:lstStyle/>
            <a:p>
              <a:pPr algn="ctr"/>
              <a:endParaRPr/>
            </a:p>
          </p:txBody>
        </p:sp>
        <p:sp>
          <p:nvSpPr>
            <p:cNvPr id="144" name="tender coal"/>
            <p:cNvSpPr/>
            <p:nvPr/>
          </p:nvSpPr>
          <p:spPr>
            <a:xfrm>
              <a:off x="8262152" y="2803184"/>
              <a:ext cx="305776" cy="56327"/>
            </a:xfrm>
            <a:custGeom>
              <a:avLst/>
              <a:gdLst/>
              <a:ahLst/>
              <a:cxnLst/>
              <a:rect l="l" t="t" r="r" b="b"/>
              <a:pathLst>
                <a:path w="305776" h="56327">
                  <a:moveTo>
                    <a:pt x="0" y="56327"/>
                  </a:moveTo>
                  <a:lnTo>
                    <a:pt x="60351" y="4024"/>
                  </a:lnTo>
                  <a:lnTo>
                    <a:pt x="181051" y="0"/>
                  </a:lnTo>
                  <a:lnTo>
                    <a:pt x="305776" y="56327"/>
                  </a:lnTo>
                  <a:close/>
                </a:path>
              </a:pathLst>
            </a:custGeom>
            <a:solidFill>
              <a:srgbClr val="1B1D21"/>
            </a:solidFill>
            <a:ln w="12700">
              <a:solidFill>
                <a:srgbClr val="6B7078"/>
              </a:solidFill>
            </a:ln>
          </p:spPr>
          <p:txBody>
            <a:bodyPr rtlCol="0" anchor="ctr"/>
            <a:lstStyle/>
            <a:p>
              <a:pPr algn="ctr"/>
              <a:endParaRPr/>
            </a:p>
          </p:txBody>
        </p:sp>
        <p:sp>
          <p:nvSpPr>
            <p:cNvPr id="145" name="coupling"/>
            <p:cNvSpPr/>
            <p:nvPr/>
          </p:nvSpPr>
          <p:spPr>
            <a:xfrm>
              <a:off x="8579998" y="2944002"/>
              <a:ext cx="28163" cy="12070"/>
            </a:xfrm>
            <a:prstGeom prst="rect">
              <a:avLst/>
            </a:prstGeom>
            <a:solidFill>
              <a:srgbClr val="9AA0A6"/>
            </a:solidFill>
            <a:ln>
              <a:noFill/>
            </a:ln>
          </p:spPr>
          <p:txBody>
            <a:bodyPr rtlCol="0" anchor="ctr"/>
            <a:lstStyle/>
            <a:p>
              <a:pPr algn="ctr"/>
              <a:endParaRPr/>
            </a:p>
          </p:txBody>
        </p:sp>
        <p:sp>
          <p:nvSpPr>
            <p:cNvPr id="146" name="wheel"/>
            <p:cNvSpPr/>
            <p:nvPr/>
          </p:nvSpPr>
          <p:spPr>
            <a:xfrm>
              <a:off x="8274222" y="2996305"/>
              <a:ext cx="112654" cy="112654"/>
            </a:xfrm>
            <a:prstGeom prst="ellipse">
              <a:avLst/>
            </a:prstGeom>
            <a:solidFill>
              <a:srgbClr val="1B1D21"/>
            </a:solidFill>
            <a:ln w="19050">
              <a:solidFill>
                <a:srgbClr val="9AA0A6"/>
              </a:solidFill>
            </a:ln>
          </p:spPr>
          <p:txBody>
            <a:bodyPr rtlCol="0" anchor="ctr"/>
            <a:lstStyle/>
            <a:p>
              <a:pPr algn="ctr"/>
              <a:endParaRPr/>
            </a:p>
          </p:txBody>
        </p:sp>
        <p:sp>
          <p:nvSpPr>
            <p:cNvPr id="147" name="hub"/>
            <p:cNvSpPr/>
            <p:nvPr/>
          </p:nvSpPr>
          <p:spPr>
            <a:xfrm>
              <a:off x="8315904" y="3037987"/>
              <a:ext cx="29290" cy="29290"/>
            </a:xfrm>
            <a:prstGeom prst="ellipse">
              <a:avLst/>
            </a:prstGeom>
            <a:solidFill>
              <a:srgbClr val="9AA0A6"/>
            </a:solidFill>
            <a:ln>
              <a:noFill/>
            </a:ln>
          </p:spPr>
          <p:txBody>
            <a:bodyPr rtlCol="0" anchor="ctr"/>
            <a:lstStyle/>
            <a:p>
              <a:pPr algn="ctr"/>
              <a:endParaRPr/>
            </a:p>
          </p:txBody>
        </p:sp>
        <p:sp>
          <p:nvSpPr>
            <p:cNvPr id="148" name="wheel"/>
            <p:cNvSpPr/>
            <p:nvPr/>
          </p:nvSpPr>
          <p:spPr>
            <a:xfrm>
              <a:off x="8443203" y="2996305"/>
              <a:ext cx="112654" cy="112654"/>
            </a:xfrm>
            <a:prstGeom prst="ellipse">
              <a:avLst/>
            </a:prstGeom>
            <a:solidFill>
              <a:srgbClr val="1B1D21"/>
            </a:solidFill>
            <a:ln w="19050">
              <a:solidFill>
                <a:srgbClr val="9AA0A6"/>
              </a:solidFill>
            </a:ln>
          </p:spPr>
          <p:txBody>
            <a:bodyPr rtlCol="0" anchor="ctr"/>
            <a:lstStyle/>
            <a:p>
              <a:pPr algn="ctr"/>
              <a:endParaRPr/>
            </a:p>
          </p:txBody>
        </p:sp>
        <p:sp>
          <p:nvSpPr>
            <p:cNvPr id="149" name="hub"/>
            <p:cNvSpPr/>
            <p:nvPr/>
          </p:nvSpPr>
          <p:spPr>
            <a:xfrm>
              <a:off x="8484885" y="3037987"/>
              <a:ext cx="29290" cy="29290"/>
            </a:xfrm>
            <a:prstGeom prst="ellipse">
              <a:avLst/>
            </a:prstGeom>
            <a:solidFill>
              <a:srgbClr val="9AA0A6"/>
            </a:solidFill>
            <a:ln>
              <a:noFill/>
            </a:ln>
          </p:spPr>
          <p:txBody>
            <a:bodyPr rtlCol="0" anchor="ctr"/>
            <a:lstStyle/>
            <a:p>
              <a:pPr algn="ctr"/>
              <a:endParaRPr/>
            </a:p>
          </p:txBody>
        </p:sp>
        <p:sp>
          <p:nvSpPr>
            <p:cNvPr id="150" name="frame"/>
            <p:cNvSpPr/>
            <p:nvPr/>
          </p:nvSpPr>
          <p:spPr>
            <a:xfrm>
              <a:off x="8608161" y="2992282"/>
              <a:ext cx="1058143" cy="36210"/>
            </a:xfrm>
            <a:prstGeom prst="rect">
              <a:avLst/>
            </a:prstGeom>
            <a:solidFill>
              <a:srgbClr val="3A3F47"/>
            </a:solidFill>
            <a:ln w="9525">
              <a:solidFill>
                <a:srgbClr val="9AA0A6"/>
              </a:solidFill>
            </a:ln>
          </p:spPr>
          <p:txBody>
            <a:bodyPr rtlCol="0" anchor="ctr"/>
            <a:lstStyle/>
            <a:p>
              <a:pPr algn="ctr"/>
              <a:endParaRPr/>
            </a:p>
          </p:txBody>
        </p:sp>
        <p:sp>
          <p:nvSpPr>
            <p:cNvPr id="151" name="cab"/>
            <p:cNvSpPr/>
            <p:nvPr/>
          </p:nvSpPr>
          <p:spPr>
            <a:xfrm>
              <a:off x="8608161" y="2770997"/>
              <a:ext cx="160934" cy="221284"/>
            </a:xfrm>
            <a:prstGeom prst="roundRect">
              <a:avLst>
                <a:gd name="adj" fmla="val 2500"/>
              </a:avLst>
            </a:prstGeom>
            <a:solidFill>
              <a:srgbClr val="D6619B"/>
            </a:solidFill>
            <a:ln>
              <a:noFill/>
            </a:ln>
          </p:spPr>
          <p:txBody>
            <a:bodyPr rtlCol="0" anchor="ctr"/>
            <a:lstStyle/>
            <a:p>
              <a:pPr algn="ctr"/>
              <a:endParaRPr/>
            </a:p>
          </p:txBody>
        </p:sp>
        <p:sp>
          <p:nvSpPr>
            <p:cNvPr id="152" name="cab roof"/>
            <p:cNvSpPr/>
            <p:nvPr/>
          </p:nvSpPr>
          <p:spPr>
            <a:xfrm>
              <a:off x="8600114" y="2750880"/>
              <a:ext cx="177027" cy="20116"/>
            </a:xfrm>
            <a:prstGeom prst="rect">
              <a:avLst/>
            </a:prstGeom>
            <a:solidFill>
              <a:srgbClr val="3A3F47"/>
            </a:solidFill>
            <a:ln w="9525">
              <a:solidFill>
                <a:srgbClr val="9AA0A6"/>
              </a:solidFill>
            </a:ln>
          </p:spPr>
          <p:txBody>
            <a:bodyPr rtlCol="0" anchor="ctr"/>
            <a:lstStyle/>
            <a:p>
              <a:pPr algn="ctr"/>
              <a:endParaRPr/>
            </a:p>
          </p:txBody>
        </p:sp>
        <p:sp>
          <p:nvSpPr>
            <p:cNvPr id="153" name="cab window"/>
            <p:cNvSpPr/>
            <p:nvPr/>
          </p:nvSpPr>
          <p:spPr>
            <a:xfrm>
              <a:off x="8648395" y="2803184"/>
              <a:ext cx="72420" cy="72420"/>
            </a:xfrm>
            <a:prstGeom prst="rect">
              <a:avLst/>
            </a:prstGeom>
            <a:solidFill>
              <a:srgbClr val="1B1D21"/>
            </a:solidFill>
            <a:ln>
              <a:noFill/>
            </a:ln>
          </p:spPr>
          <p:txBody>
            <a:bodyPr rtlCol="0" anchor="ctr"/>
            <a:lstStyle/>
            <a:p>
              <a:pPr algn="ctr"/>
              <a:endParaRPr/>
            </a:p>
          </p:txBody>
        </p:sp>
        <p:sp>
          <p:nvSpPr>
            <p:cNvPr id="154" name="boiler"/>
            <p:cNvSpPr/>
            <p:nvPr/>
          </p:nvSpPr>
          <p:spPr>
            <a:xfrm>
              <a:off x="8769096" y="2791114"/>
              <a:ext cx="816742" cy="160934"/>
            </a:xfrm>
            <a:prstGeom prst="roundRect">
              <a:avLst>
                <a:gd name="adj" fmla="val 25000"/>
              </a:avLst>
            </a:prstGeom>
            <a:solidFill>
              <a:srgbClr val="D6619B"/>
            </a:solidFill>
            <a:ln>
              <a:noFill/>
            </a:ln>
          </p:spPr>
          <p:txBody>
            <a:bodyPr rtlCol="0" anchor="ctr"/>
            <a:lstStyle/>
            <a:p>
              <a:pPr algn="ctr"/>
              <a:endParaRPr/>
            </a:p>
          </p:txBody>
        </p:sp>
        <p:sp>
          <p:nvSpPr>
            <p:cNvPr id="155" name="boiler band"/>
            <p:cNvSpPr/>
            <p:nvPr/>
          </p:nvSpPr>
          <p:spPr>
            <a:xfrm>
              <a:off x="9014118" y="2791114"/>
              <a:ext cx="5632" cy="160934"/>
            </a:xfrm>
            <a:prstGeom prst="rect">
              <a:avLst/>
            </a:prstGeom>
            <a:solidFill>
              <a:srgbClr val="9A456F"/>
            </a:solidFill>
            <a:ln>
              <a:noFill/>
            </a:ln>
          </p:spPr>
          <p:txBody>
            <a:bodyPr rtlCol="0" anchor="ctr"/>
            <a:lstStyle/>
            <a:p>
              <a:pPr algn="ctr"/>
              <a:endParaRPr/>
            </a:p>
          </p:txBody>
        </p:sp>
        <p:sp>
          <p:nvSpPr>
            <p:cNvPr id="156" name="boiler band"/>
            <p:cNvSpPr/>
            <p:nvPr/>
          </p:nvSpPr>
          <p:spPr>
            <a:xfrm>
              <a:off x="9218304" y="2791114"/>
              <a:ext cx="5632" cy="160934"/>
            </a:xfrm>
            <a:prstGeom prst="rect">
              <a:avLst/>
            </a:prstGeom>
            <a:solidFill>
              <a:srgbClr val="9A456F"/>
            </a:solidFill>
            <a:ln>
              <a:noFill/>
            </a:ln>
          </p:spPr>
          <p:txBody>
            <a:bodyPr rtlCol="0" anchor="ctr"/>
            <a:lstStyle/>
            <a:p>
              <a:pPr algn="ctr"/>
              <a:endParaRPr/>
            </a:p>
          </p:txBody>
        </p:sp>
        <p:sp>
          <p:nvSpPr>
            <p:cNvPr id="157" name="boiler band"/>
            <p:cNvSpPr/>
            <p:nvPr/>
          </p:nvSpPr>
          <p:spPr>
            <a:xfrm>
              <a:off x="9422489" y="2791114"/>
              <a:ext cx="5632" cy="160934"/>
            </a:xfrm>
            <a:prstGeom prst="rect">
              <a:avLst/>
            </a:prstGeom>
            <a:solidFill>
              <a:srgbClr val="9A456F"/>
            </a:solidFill>
            <a:ln>
              <a:noFill/>
            </a:ln>
          </p:spPr>
          <p:txBody>
            <a:bodyPr rtlCol="0" anchor="ctr"/>
            <a:lstStyle/>
            <a:p>
              <a:pPr algn="ctr"/>
              <a:endParaRPr/>
            </a:p>
          </p:txBody>
        </p:sp>
        <p:sp>
          <p:nvSpPr>
            <p:cNvPr id="158" name="smokebox"/>
            <p:cNvSpPr/>
            <p:nvPr/>
          </p:nvSpPr>
          <p:spPr>
            <a:xfrm>
              <a:off x="9585838" y="2791114"/>
              <a:ext cx="80467" cy="160934"/>
            </a:xfrm>
            <a:prstGeom prst="roundRect">
              <a:avLst>
                <a:gd name="adj" fmla="val 11999"/>
              </a:avLst>
            </a:prstGeom>
            <a:solidFill>
              <a:srgbClr val="4A515B"/>
            </a:solidFill>
            <a:ln>
              <a:noFill/>
            </a:ln>
          </p:spPr>
          <p:txBody>
            <a:bodyPr rtlCol="0" anchor="ctr"/>
            <a:lstStyle/>
            <a:p>
              <a:pPr algn="ctr"/>
              <a:endParaRPr/>
            </a:p>
          </p:txBody>
        </p:sp>
        <p:sp>
          <p:nvSpPr>
            <p:cNvPr id="159" name="chimney"/>
            <p:cNvSpPr/>
            <p:nvPr/>
          </p:nvSpPr>
          <p:spPr>
            <a:xfrm>
              <a:off x="9601931" y="2706624"/>
              <a:ext cx="48280" cy="84490"/>
            </a:xfrm>
            <a:prstGeom prst="rect">
              <a:avLst/>
            </a:prstGeom>
            <a:solidFill>
              <a:srgbClr val="3A3F47"/>
            </a:solidFill>
            <a:ln w="9525">
              <a:solidFill>
                <a:srgbClr val="9AA0A6"/>
              </a:solidFill>
            </a:ln>
          </p:spPr>
          <p:txBody>
            <a:bodyPr rtlCol="0" anchor="ctr"/>
            <a:lstStyle/>
            <a:p>
              <a:pPr algn="ctr"/>
              <a:endParaRPr/>
            </a:p>
          </p:txBody>
        </p:sp>
        <p:sp>
          <p:nvSpPr>
            <p:cNvPr id="160" name="chimney lip"/>
            <p:cNvSpPr/>
            <p:nvPr/>
          </p:nvSpPr>
          <p:spPr>
            <a:xfrm>
              <a:off x="9589861" y="2694553"/>
              <a:ext cx="72420" cy="20116"/>
            </a:xfrm>
            <a:prstGeom prst="rect">
              <a:avLst/>
            </a:prstGeom>
            <a:solidFill>
              <a:srgbClr val="3A3F47"/>
            </a:solidFill>
            <a:ln w="9525">
              <a:solidFill>
                <a:srgbClr val="9AA0A6"/>
              </a:solidFill>
            </a:ln>
          </p:spPr>
          <p:txBody>
            <a:bodyPr rtlCol="0" anchor="ctr"/>
            <a:lstStyle/>
            <a:p>
              <a:pPr algn="ctr"/>
              <a:endParaRPr/>
            </a:p>
          </p:txBody>
        </p:sp>
        <p:sp>
          <p:nvSpPr>
            <p:cNvPr id="161" name="dome"/>
            <p:cNvSpPr/>
            <p:nvPr/>
          </p:nvSpPr>
          <p:spPr>
            <a:xfrm>
              <a:off x="9095792" y="2746857"/>
              <a:ext cx="72420" cy="44256"/>
            </a:xfrm>
            <a:prstGeom prst="roundRect">
              <a:avLst>
                <a:gd name="adj" fmla="val 36363"/>
              </a:avLst>
            </a:prstGeom>
            <a:solidFill>
              <a:srgbClr val="D6619B"/>
            </a:solidFill>
            <a:ln>
              <a:noFill/>
            </a:ln>
          </p:spPr>
          <p:txBody>
            <a:bodyPr rtlCol="0" anchor="ctr"/>
            <a:lstStyle/>
            <a:p>
              <a:pPr algn="ctr"/>
              <a:endParaRPr/>
            </a:p>
          </p:txBody>
        </p:sp>
        <p:sp>
          <p:nvSpPr>
            <p:cNvPr id="162" name="wheel"/>
            <p:cNvSpPr/>
            <p:nvPr/>
          </p:nvSpPr>
          <p:spPr>
            <a:xfrm>
              <a:off x="8620231"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163" name="hub"/>
            <p:cNvSpPr/>
            <p:nvPr/>
          </p:nvSpPr>
          <p:spPr>
            <a:xfrm>
              <a:off x="8679777" y="3007571"/>
              <a:ext cx="41842" cy="41842"/>
            </a:xfrm>
            <a:prstGeom prst="ellipse">
              <a:avLst/>
            </a:prstGeom>
            <a:solidFill>
              <a:srgbClr val="9AA0A6"/>
            </a:solidFill>
            <a:ln>
              <a:noFill/>
            </a:ln>
          </p:spPr>
          <p:txBody>
            <a:bodyPr rtlCol="0" anchor="ctr"/>
            <a:lstStyle/>
            <a:p>
              <a:pPr algn="ctr"/>
              <a:endParaRPr/>
            </a:p>
          </p:txBody>
        </p:sp>
        <p:sp>
          <p:nvSpPr>
            <p:cNvPr id="164" name="wheel"/>
            <p:cNvSpPr/>
            <p:nvPr/>
          </p:nvSpPr>
          <p:spPr>
            <a:xfrm>
              <a:off x="8801282"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165" name="hub"/>
            <p:cNvSpPr/>
            <p:nvPr/>
          </p:nvSpPr>
          <p:spPr>
            <a:xfrm>
              <a:off x="8860828" y="3007571"/>
              <a:ext cx="41842" cy="41842"/>
            </a:xfrm>
            <a:prstGeom prst="ellipse">
              <a:avLst/>
            </a:prstGeom>
            <a:solidFill>
              <a:srgbClr val="9AA0A6"/>
            </a:solidFill>
            <a:ln>
              <a:noFill/>
            </a:ln>
          </p:spPr>
          <p:txBody>
            <a:bodyPr rtlCol="0" anchor="ctr"/>
            <a:lstStyle/>
            <a:p>
              <a:pPr algn="ctr"/>
              <a:endParaRPr/>
            </a:p>
          </p:txBody>
        </p:sp>
        <p:sp>
          <p:nvSpPr>
            <p:cNvPr id="166" name="wheel"/>
            <p:cNvSpPr/>
            <p:nvPr/>
          </p:nvSpPr>
          <p:spPr>
            <a:xfrm>
              <a:off x="8982334"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167" name="hub"/>
            <p:cNvSpPr/>
            <p:nvPr/>
          </p:nvSpPr>
          <p:spPr>
            <a:xfrm>
              <a:off x="9041879" y="3007571"/>
              <a:ext cx="41842" cy="41842"/>
            </a:xfrm>
            <a:prstGeom prst="ellipse">
              <a:avLst/>
            </a:prstGeom>
            <a:solidFill>
              <a:srgbClr val="9AA0A6"/>
            </a:solidFill>
            <a:ln>
              <a:noFill/>
            </a:ln>
          </p:spPr>
          <p:txBody>
            <a:bodyPr rtlCol="0" anchor="ctr"/>
            <a:lstStyle/>
            <a:p>
              <a:pPr algn="ctr"/>
              <a:endParaRPr/>
            </a:p>
          </p:txBody>
        </p:sp>
        <p:sp>
          <p:nvSpPr>
            <p:cNvPr id="168" name="wheel"/>
            <p:cNvSpPr/>
            <p:nvPr/>
          </p:nvSpPr>
          <p:spPr>
            <a:xfrm>
              <a:off x="9163385"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169" name="hub"/>
            <p:cNvSpPr/>
            <p:nvPr/>
          </p:nvSpPr>
          <p:spPr>
            <a:xfrm>
              <a:off x="9222931" y="3007571"/>
              <a:ext cx="41842" cy="41842"/>
            </a:xfrm>
            <a:prstGeom prst="ellipse">
              <a:avLst/>
            </a:prstGeom>
            <a:solidFill>
              <a:srgbClr val="9AA0A6"/>
            </a:solidFill>
            <a:ln>
              <a:noFill/>
            </a:ln>
          </p:spPr>
          <p:txBody>
            <a:bodyPr rtlCol="0" anchor="ctr"/>
            <a:lstStyle/>
            <a:p>
              <a:pPr algn="ctr"/>
              <a:endParaRPr/>
            </a:p>
          </p:txBody>
        </p:sp>
        <p:sp>
          <p:nvSpPr>
            <p:cNvPr id="170" name="wheel"/>
            <p:cNvSpPr/>
            <p:nvPr/>
          </p:nvSpPr>
          <p:spPr>
            <a:xfrm>
              <a:off x="9384670" y="3020446"/>
              <a:ext cx="88513" cy="88513"/>
            </a:xfrm>
            <a:prstGeom prst="ellipse">
              <a:avLst/>
            </a:prstGeom>
            <a:solidFill>
              <a:srgbClr val="1B1D21"/>
            </a:solidFill>
            <a:ln w="19050">
              <a:solidFill>
                <a:srgbClr val="9AA0A6"/>
              </a:solidFill>
            </a:ln>
          </p:spPr>
          <p:txBody>
            <a:bodyPr rtlCol="0" anchor="ctr"/>
            <a:lstStyle/>
            <a:p>
              <a:pPr algn="ctr"/>
              <a:endParaRPr/>
            </a:p>
          </p:txBody>
        </p:sp>
        <p:sp>
          <p:nvSpPr>
            <p:cNvPr id="171" name="hub"/>
            <p:cNvSpPr/>
            <p:nvPr/>
          </p:nvSpPr>
          <p:spPr>
            <a:xfrm>
              <a:off x="9417420" y="3053196"/>
              <a:ext cx="23013" cy="23013"/>
            </a:xfrm>
            <a:prstGeom prst="ellipse">
              <a:avLst/>
            </a:prstGeom>
            <a:solidFill>
              <a:srgbClr val="9AA0A6"/>
            </a:solidFill>
            <a:ln>
              <a:noFill/>
            </a:ln>
          </p:spPr>
          <p:txBody>
            <a:bodyPr rtlCol="0" anchor="ctr"/>
            <a:lstStyle/>
            <a:p>
              <a:pPr algn="ctr"/>
              <a:endParaRPr/>
            </a:p>
          </p:txBody>
        </p:sp>
        <p:sp>
          <p:nvSpPr>
            <p:cNvPr id="172" name="coupling rod"/>
            <p:cNvSpPr/>
            <p:nvPr/>
          </p:nvSpPr>
          <p:spPr>
            <a:xfrm>
              <a:off x="8700698" y="2982626"/>
              <a:ext cx="543153" cy="11265"/>
            </a:xfrm>
            <a:prstGeom prst="rect">
              <a:avLst/>
            </a:prstGeom>
            <a:solidFill>
              <a:srgbClr val="D0D4D8"/>
            </a:solidFill>
            <a:ln>
              <a:noFill/>
            </a:ln>
          </p:spPr>
          <p:txBody>
            <a:bodyPr rtlCol="0" anchor="ctr"/>
            <a:lstStyle/>
            <a:p>
              <a:pPr algn="ctr"/>
              <a:endParaRPr/>
            </a:p>
          </p:txBody>
        </p:sp>
        <p:sp>
          <p:nvSpPr>
            <p:cNvPr id="173" name="buffer beam"/>
            <p:cNvSpPr/>
            <p:nvPr/>
          </p:nvSpPr>
          <p:spPr>
            <a:xfrm>
              <a:off x="9666305" y="2956072"/>
              <a:ext cx="24140" cy="72420"/>
            </a:xfrm>
            <a:prstGeom prst="rect">
              <a:avLst/>
            </a:prstGeom>
            <a:solidFill>
              <a:srgbClr val="9AA0A6"/>
            </a:solidFill>
            <a:ln>
              <a:noFill/>
            </a:ln>
          </p:spPr>
          <p:txBody>
            <a:bodyPr rtlCol="0" anchor="ctr"/>
            <a:lstStyle/>
            <a:p>
              <a:pPr algn="ctr"/>
              <a:endParaRPr/>
            </a:p>
          </p:txBody>
        </p:sp>
        <p:sp>
          <p:nvSpPr>
            <p:cNvPr id="174" name="rail"/>
            <p:cNvSpPr/>
            <p:nvPr/>
          </p:nvSpPr>
          <p:spPr>
            <a:xfrm>
              <a:off x="8147303" y="3108960"/>
              <a:ext cx="1645920" cy="36576"/>
            </a:xfrm>
            <a:prstGeom prst="rect">
              <a:avLst/>
            </a:prstGeom>
            <a:solidFill>
              <a:srgbClr val="9AA0A6"/>
            </a:solidFill>
            <a:ln>
              <a:noFill/>
            </a:ln>
          </p:spPr>
          <p:txBody>
            <a:bodyPr rtlCol="0" anchor="ctr"/>
            <a:lstStyle/>
            <a:p>
              <a:pPr algn="ctr"/>
              <a:endParaRPr/>
            </a:p>
          </p:txBody>
        </p:sp>
        <p:sp>
          <p:nvSpPr>
            <p:cNvPr id="175" name="number plate (digits)"/>
            <p:cNvSpPr/>
            <p:nvPr/>
          </p:nvSpPr>
          <p:spPr>
            <a:xfrm>
              <a:off x="8238743" y="3383280"/>
              <a:ext cx="1463040" cy="731520"/>
            </a:xfrm>
            <a:prstGeom prst="roundRect">
              <a:avLst>
                <a:gd name="adj" fmla="val 10000"/>
              </a:avLst>
            </a:prstGeom>
            <a:solidFill>
              <a:srgbClr val="1B1D21"/>
            </a:solidFill>
            <a:ln w="28575">
              <a:solidFill>
                <a:srgbClr val="D6619B"/>
              </a:solidFill>
            </a:ln>
          </p:spPr>
          <p:txBody>
            <a:bodyPr rtlCol="0" anchor="ctr"/>
            <a:lstStyle/>
            <a:p>
              <a:pPr algn="ctr"/>
              <a:endParaRPr/>
            </a:p>
          </p:txBody>
        </p:sp>
        <p:sp>
          <p:nvSpPr>
            <p:cNvPr id="176" name="digit block"/>
            <p:cNvSpPr/>
            <p:nvPr/>
          </p:nvSpPr>
          <p:spPr>
            <a:xfrm>
              <a:off x="8427232" y="3620536"/>
              <a:ext cx="257007" cy="257007"/>
            </a:xfrm>
            <a:prstGeom prst="roundRect">
              <a:avLst>
                <a:gd name="adj" fmla="val 20000"/>
              </a:avLst>
            </a:prstGeom>
            <a:solidFill>
              <a:srgbClr val="F2F2F2"/>
            </a:solidFill>
            <a:ln>
              <a:noFill/>
            </a:ln>
          </p:spPr>
          <p:txBody>
            <a:bodyPr rtlCol="0" anchor="ctr"/>
            <a:lstStyle/>
            <a:p>
              <a:pPr algn="ctr"/>
              <a:endParaRPr/>
            </a:p>
          </p:txBody>
        </p:sp>
        <p:sp>
          <p:nvSpPr>
            <p:cNvPr id="177" name="digit block"/>
            <p:cNvSpPr/>
            <p:nvPr/>
          </p:nvSpPr>
          <p:spPr>
            <a:xfrm>
              <a:off x="8841760" y="3620536"/>
              <a:ext cx="257007" cy="257007"/>
            </a:xfrm>
            <a:prstGeom prst="roundRect">
              <a:avLst>
                <a:gd name="adj" fmla="val 20000"/>
              </a:avLst>
            </a:prstGeom>
            <a:solidFill>
              <a:srgbClr val="F2F2F2"/>
            </a:solidFill>
            <a:ln>
              <a:noFill/>
            </a:ln>
          </p:spPr>
          <p:txBody>
            <a:bodyPr rtlCol="0" anchor="ctr"/>
            <a:lstStyle/>
            <a:p>
              <a:pPr algn="ctr"/>
              <a:endParaRPr/>
            </a:p>
          </p:txBody>
        </p:sp>
        <p:sp>
          <p:nvSpPr>
            <p:cNvPr id="178" name="digit block"/>
            <p:cNvSpPr/>
            <p:nvPr/>
          </p:nvSpPr>
          <p:spPr>
            <a:xfrm>
              <a:off x="9256288" y="3620536"/>
              <a:ext cx="257007" cy="257007"/>
            </a:xfrm>
            <a:prstGeom prst="roundRect">
              <a:avLst>
                <a:gd name="adj" fmla="val 20000"/>
              </a:avLst>
            </a:prstGeom>
            <a:solidFill>
              <a:srgbClr val="F2F2F2"/>
            </a:solidFill>
            <a:ln>
              <a:noFill/>
            </a:ln>
          </p:spPr>
          <p:txBody>
            <a:bodyPr rtlCol="0" anchor="ctr"/>
            <a:lstStyle/>
            <a:p>
              <a:pPr algn="ctr"/>
              <a:endParaRPr/>
            </a:p>
          </p:txBody>
        </p:sp>
        <p:sp>
          <p:nvSpPr>
            <p:cNvPr id="179" name="tender frame"/>
            <p:cNvSpPr/>
            <p:nvPr/>
          </p:nvSpPr>
          <p:spPr>
            <a:xfrm>
              <a:off x="9785177" y="2992282"/>
              <a:ext cx="329915" cy="36210"/>
            </a:xfrm>
            <a:prstGeom prst="rect">
              <a:avLst/>
            </a:prstGeom>
            <a:solidFill>
              <a:srgbClr val="3A3F47"/>
            </a:solidFill>
            <a:ln w="9525">
              <a:solidFill>
                <a:srgbClr val="9AA0A6"/>
              </a:solidFill>
            </a:ln>
          </p:spPr>
          <p:txBody>
            <a:bodyPr rtlCol="0" anchor="ctr"/>
            <a:lstStyle/>
            <a:p>
              <a:pPr algn="ctr"/>
              <a:endParaRPr/>
            </a:p>
          </p:txBody>
        </p:sp>
        <p:sp>
          <p:nvSpPr>
            <p:cNvPr id="180" name="tender body"/>
            <p:cNvSpPr/>
            <p:nvPr/>
          </p:nvSpPr>
          <p:spPr>
            <a:xfrm>
              <a:off x="9785177" y="2859511"/>
              <a:ext cx="329915" cy="132770"/>
            </a:xfrm>
            <a:prstGeom prst="roundRect">
              <a:avLst>
                <a:gd name="adj" fmla="val 3030"/>
              </a:avLst>
            </a:prstGeom>
            <a:solidFill>
              <a:srgbClr val="D9B26F"/>
            </a:solidFill>
            <a:ln>
              <a:noFill/>
            </a:ln>
          </p:spPr>
          <p:txBody>
            <a:bodyPr rtlCol="0" anchor="ctr"/>
            <a:lstStyle/>
            <a:p>
              <a:pPr algn="ctr"/>
              <a:endParaRPr/>
            </a:p>
          </p:txBody>
        </p:sp>
        <p:sp>
          <p:nvSpPr>
            <p:cNvPr id="181" name="tender coal"/>
            <p:cNvSpPr/>
            <p:nvPr/>
          </p:nvSpPr>
          <p:spPr>
            <a:xfrm>
              <a:off x="9797247" y="2803184"/>
              <a:ext cx="305775" cy="56327"/>
            </a:xfrm>
            <a:custGeom>
              <a:avLst/>
              <a:gdLst/>
              <a:ahLst/>
              <a:cxnLst/>
              <a:rect l="l" t="t" r="r" b="b"/>
              <a:pathLst>
                <a:path w="305775" h="56327">
                  <a:moveTo>
                    <a:pt x="0" y="56327"/>
                  </a:moveTo>
                  <a:lnTo>
                    <a:pt x="60350" y="4024"/>
                  </a:lnTo>
                  <a:lnTo>
                    <a:pt x="181051" y="0"/>
                  </a:lnTo>
                  <a:lnTo>
                    <a:pt x="305775" y="56327"/>
                  </a:lnTo>
                  <a:close/>
                </a:path>
              </a:pathLst>
            </a:custGeom>
            <a:solidFill>
              <a:srgbClr val="1B1D21"/>
            </a:solidFill>
            <a:ln w="12700">
              <a:solidFill>
                <a:srgbClr val="6B7078"/>
              </a:solidFill>
            </a:ln>
          </p:spPr>
          <p:txBody>
            <a:bodyPr rtlCol="0" anchor="ctr"/>
            <a:lstStyle/>
            <a:p>
              <a:pPr algn="ctr"/>
              <a:endParaRPr/>
            </a:p>
          </p:txBody>
        </p:sp>
        <p:sp>
          <p:nvSpPr>
            <p:cNvPr id="182" name="coupling"/>
            <p:cNvSpPr/>
            <p:nvPr/>
          </p:nvSpPr>
          <p:spPr>
            <a:xfrm>
              <a:off x="10115092" y="2944002"/>
              <a:ext cx="28163" cy="12070"/>
            </a:xfrm>
            <a:prstGeom prst="rect">
              <a:avLst/>
            </a:prstGeom>
            <a:solidFill>
              <a:srgbClr val="9AA0A6"/>
            </a:solidFill>
            <a:ln>
              <a:noFill/>
            </a:ln>
          </p:spPr>
          <p:txBody>
            <a:bodyPr rtlCol="0" anchor="ctr"/>
            <a:lstStyle/>
            <a:p>
              <a:pPr algn="ctr"/>
              <a:endParaRPr/>
            </a:p>
          </p:txBody>
        </p:sp>
        <p:sp>
          <p:nvSpPr>
            <p:cNvPr id="183" name="wheel"/>
            <p:cNvSpPr/>
            <p:nvPr/>
          </p:nvSpPr>
          <p:spPr>
            <a:xfrm>
              <a:off x="9809317" y="2996305"/>
              <a:ext cx="112654" cy="112654"/>
            </a:xfrm>
            <a:prstGeom prst="ellipse">
              <a:avLst/>
            </a:prstGeom>
            <a:solidFill>
              <a:srgbClr val="1B1D21"/>
            </a:solidFill>
            <a:ln w="19050">
              <a:solidFill>
                <a:srgbClr val="9AA0A6"/>
              </a:solidFill>
            </a:ln>
          </p:spPr>
          <p:txBody>
            <a:bodyPr rtlCol="0" anchor="ctr"/>
            <a:lstStyle/>
            <a:p>
              <a:pPr algn="ctr"/>
              <a:endParaRPr/>
            </a:p>
          </p:txBody>
        </p:sp>
        <p:sp>
          <p:nvSpPr>
            <p:cNvPr id="184" name="hub"/>
            <p:cNvSpPr/>
            <p:nvPr/>
          </p:nvSpPr>
          <p:spPr>
            <a:xfrm>
              <a:off x="9850999" y="3037987"/>
              <a:ext cx="29290" cy="29290"/>
            </a:xfrm>
            <a:prstGeom prst="ellipse">
              <a:avLst/>
            </a:prstGeom>
            <a:solidFill>
              <a:srgbClr val="9AA0A6"/>
            </a:solidFill>
            <a:ln>
              <a:noFill/>
            </a:ln>
          </p:spPr>
          <p:txBody>
            <a:bodyPr rtlCol="0" anchor="ctr"/>
            <a:lstStyle/>
            <a:p>
              <a:pPr algn="ctr"/>
              <a:endParaRPr/>
            </a:p>
          </p:txBody>
        </p:sp>
        <p:sp>
          <p:nvSpPr>
            <p:cNvPr id="185" name="wheel"/>
            <p:cNvSpPr/>
            <p:nvPr/>
          </p:nvSpPr>
          <p:spPr>
            <a:xfrm>
              <a:off x="9978298" y="2996305"/>
              <a:ext cx="112654" cy="112654"/>
            </a:xfrm>
            <a:prstGeom prst="ellipse">
              <a:avLst/>
            </a:prstGeom>
            <a:solidFill>
              <a:srgbClr val="1B1D21"/>
            </a:solidFill>
            <a:ln w="19050">
              <a:solidFill>
                <a:srgbClr val="9AA0A6"/>
              </a:solidFill>
            </a:ln>
          </p:spPr>
          <p:txBody>
            <a:bodyPr rtlCol="0" anchor="ctr"/>
            <a:lstStyle/>
            <a:p>
              <a:pPr algn="ctr"/>
              <a:endParaRPr/>
            </a:p>
          </p:txBody>
        </p:sp>
        <p:sp>
          <p:nvSpPr>
            <p:cNvPr id="186" name="hub"/>
            <p:cNvSpPr/>
            <p:nvPr/>
          </p:nvSpPr>
          <p:spPr>
            <a:xfrm>
              <a:off x="10019980" y="3037987"/>
              <a:ext cx="29290" cy="29290"/>
            </a:xfrm>
            <a:prstGeom prst="ellipse">
              <a:avLst/>
            </a:prstGeom>
            <a:solidFill>
              <a:srgbClr val="9AA0A6"/>
            </a:solidFill>
            <a:ln>
              <a:noFill/>
            </a:ln>
          </p:spPr>
          <p:txBody>
            <a:bodyPr rtlCol="0" anchor="ctr"/>
            <a:lstStyle/>
            <a:p>
              <a:pPr algn="ctr"/>
              <a:endParaRPr/>
            </a:p>
          </p:txBody>
        </p:sp>
        <p:sp>
          <p:nvSpPr>
            <p:cNvPr id="187" name="frame"/>
            <p:cNvSpPr/>
            <p:nvPr/>
          </p:nvSpPr>
          <p:spPr>
            <a:xfrm>
              <a:off x="10143256" y="2992282"/>
              <a:ext cx="1239194" cy="36210"/>
            </a:xfrm>
            <a:prstGeom prst="rect">
              <a:avLst/>
            </a:prstGeom>
            <a:solidFill>
              <a:srgbClr val="3A3F47"/>
            </a:solidFill>
            <a:ln w="9525">
              <a:solidFill>
                <a:srgbClr val="9AA0A6"/>
              </a:solidFill>
            </a:ln>
          </p:spPr>
          <p:txBody>
            <a:bodyPr rtlCol="0" anchor="ctr"/>
            <a:lstStyle/>
            <a:p>
              <a:pPr algn="ctr"/>
              <a:endParaRPr/>
            </a:p>
          </p:txBody>
        </p:sp>
        <p:sp>
          <p:nvSpPr>
            <p:cNvPr id="188" name="cab"/>
            <p:cNvSpPr/>
            <p:nvPr/>
          </p:nvSpPr>
          <p:spPr>
            <a:xfrm>
              <a:off x="10143256" y="2770997"/>
              <a:ext cx="160934" cy="221284"/>
            </a:xfrm>
            <a:prstGeom prst="roundRect">
              <a:avLst>
                <a:gd name="adj" fmla="val 2500"/>
              </a:avLst>
            </a:prstGeom>
            <a:solidFill>
              <a:srgbClr val="D9B26F"/>
            </a:solidFill>
            <a:ln>
              <a:noFill/>
            </a:ln>
          </p:spPr>
          <p:txBody>
            <a:bodyPr rtlCol="0" anchor="ctr"/>
            <a:lstStyle/>
            <a:p>
              <a:pPr algn="ctr"/>
              <a:endParaRPr/>
            </a:p>
          </p:txBody>
        </p:sp>
        <p:sp>
          <p:nvSpPr>
            <p:cNvPr id="189" name="cab roof"/>
            <p:cNvSpPr/>
            <p:nvPr/>
          </p:nvSpPr>
          <p:spPr>
            <a:xfrm>
              <a:off x="10135209" y="2750880"/>
              <a:ext cx="177027" cy="20116"/>
            </a:xfrm>
            <a:prstGeom prst="rect">
              <a:avLst/>
            </a:prstGeom>
            <a:solidFill>
              <a:srgbClr val="3A3F47"/>
            </a:solidFill>
            <a:ln w="9525">
              <a:solidFill>
                <a:srgbClr val="9AA0A6"/>
              </a:solidFill>
            </a:ln>
          </p:spPr>
          <p:txBody>
            <a:bodyPr rtlCol="0" anchor="ctr"/>
            <a:lstStyle/>
            <a:p>
              <a:pPr algn="ctr"/>
              <a:endParaRPr/>
            </a:p>
          </p:txBody>
        </p:sp>
        <p:sp>
          <p:nvSpPr>
            <p:cNvPr id="190" name="cab window"/>
            <p:cNvSpPr/>
            <p:nvPr/>
          </p:nvSpPr>
          <p:spPr>
            <a:xfrm>
              <a:off x="10183489" y="2803184"/>
              <a:ext cx="72420" cy="72420"/>
            </a:xfrm>
            <a:prstGeom prst="rect">
              <a:avLst/>
            </a:prstGeom>
            <a:solidFill>
              <a:srgbClr val="1B1D21"/>
            </a:solidFill>
            <a:ln>
              <a:noFill/>
            </a:ln>
          </p:spPr>
          <p:txBody>
            <a:bodyPr rtlCol="0" anchor="ctr"/>
            <a:lstStyle/>
            <a:p>
              <a:pPr algn="ctr"/>
              <a:endParaRPr/>
            </a:p>
          </p:txBody>
        </p:sp>
        <p:sp>
          <p:nvSpPr>
            <p:cNvPr id="191" name="boiler"/>
            <p:cNvSpPr/>
            <p:nvPr/>
          </p:nvSpPr>
          <p:spPr>
            <a:xfrm>
              <a:off x="10304190" y="2791114"/>
              <a:ext cx="997793" cy="160934"/>
            </a:xfrm>
            <a:prstGeom prst="roundRect">
              <a:avLst>
                <a:gd name="adj" fmla="val 25000"/>
              </a:avLst>
            </a:prstGeom>
            <a:solidFill>
              <a:srgbClr val="D9B26F"/>
            </a:solidFill>
            <a:ln>
              <a:noFill/>
            </a:ln>
          </p:spPr>
          <p:txBody>
            <a:bodyPr rtlCol="0" anchor="ctr"/>
            <a:lstStyle/>
            <a:p>
              <a:pPr algn="ctr"/>
              <a:endParaRPr/>
            </a:p>
          </p:txBody>
        </p:sp>
        <p:sp>
          <p:nvSpPr>
            <p:cNvPr id="192" name="boiler band"/>
            <p:cNvSpPr/>
            <p:nvPr/>
          </p:nvSpPr>
          <p:spPr>
            <a:xfrm>
              <a:off x="10603528" y="2791114"/>
              <a:ext cx="5632" cy="160934"/>
            </a:xfrm>
            <a:prstGeom prst="rect">
              <a:avLst/>
            </a:prstGeom>
            <a:solidFill>
              <a:srgbClr val="9C804F"/>
            </a:solidFill>
            <a:ln>
              <a:noFill/>
            </a:ln>
          </p:spPr>
          <p:txBody>
            <a:bodyPr rtlCol="0" anchor="ctr"/>
            <a:lstStyle/>
            <a:p>
              <a:pPr algn="ctr"/>
              <a:endParaRPr/>
            </a:p>
          </p:txBody>
        </p:sp>
        <p:sp>
          <p:nvSpPr>
            <p:cNvPr id="193" name="boiler band"/>
            <p:cNvSpPr/>
            <p:nvPr/>
          </p:nvSpPr>
          <p:spPr>
            <a:xfrm>
              <a:off x="10852977" y="2791114"/>
              <a:ext cx="5632" cy="160934"/>
            </a:xfrm>
            <a:prstGeom prst="rect">
              <a:avLst/>
            </a:prstGeom>
            <a:solidFill>
              <a:srgbClr val="9C804F"/>
            </a:solidFill>
            <a:ln>
              <a:noFill/>
            </a:ln>
          </p:spPr>
          <p:txBody>
            <a:bodyPr rtlCol="0" anchor="ctr"/>
            <a:lstStyle/>
            <a:p>
              <a:pPr algn="ctr"/>
              <a:endParaRPr/>
            </a:p>
          </p:txBody>
        </p:sp>
        <p:sp>
          <p:nvSpPr>
            <p:cNvPr id="194" name="boiler band"/>
            <p:cNvSpPr/>
            <p:nvPr/>
          </p:nvSpPr>
          <p:spPr>
            <a:xfrm>
              <a:off x="11102425" y="2791114"/>
              <a:ext cx="5632" cy="160934"/>
            </a:xfrm>
            <a:prstGeom prst="rect">
              <a:avLst/>
            </a:prstGeom>
            <a:solidFill>
              <a:srgbClr val="9C804F"/>
            </a:solidFill>
            <a:ln>
              <a:noFill/>
            </a:ln>
          </p:spPr>
          <p:txBody>
            <a:bodyPr rtlCol="0" anchor="ctr"/>
            <a:lstStyle/>
            <a:p>
              <a:pPr algn="ctr"/>
              <a:endParaRPr/>
            </a:p>
          </p:txBody>
        </p:sp>
        <p:sp>
          <p:nvSpPr>
            <p:cNvPr id="195" name="smokebox"/>
            <p:cNvSpPr/>
            <p:nvPr/>
          </p:nvSpPr>
          <p:spPr>
            <a:xfrm>
              <a:off x="11301984" y="2791114"/>
              <a:ext cx="80467" cy="160934"/>
            </a:xfrm>
            <a:prstGeom prst="roundRect">
              <a:avLst>
                <a:gd name="adj" fmla="val 11999"/>
              </a:avLst>
            </a:prstGeom>
            <a:solidFill>
              <a:srgbClr val="4A515B"/>
            </a:solidFill>
            <a:ln>
              <a:noFill/>
            </a:ln>
          </p:spPr>
          <p:txBody>
            <a:bodyPr rtlCol="0" anchor="ctr"/>
            <a:lstStyle/>
            <a:p>
              <a:pPr algn="ctr"/>
              <a:endParaRPr/>
            </a:p>
          </p:txBody>
        </p:sp>
        <p:sp>
          <p:nvSpPr>
            <p:cNvPr id="196" name="chimney"/>
            <p:cNvSpPr/>
            <p:nvPr/>
          </p:nvSpPr>
          <p:spPr>
            <a:xfrm>
              <a:off x="11318077" y="2706624"/>
              <a:ext cx="48280" cy="84490"/>
            </a:xfrm>
            <a:prstGeom prst="rect">
              <a:avLst/>
            </a:prstGeom>
            <a:solidFill>
              <a:srgbClr val="3A3F47"/>
            </a:solidFill>
            <a:ln w="9525">
              <a:solidFill>
                <a:srgbClr val="9AA0A6"/>
              </a:solidFill>
            </a:ln>
          </p:spPr>
          <p:txBody>
            <a:bodyPr rtlCol="0" anchor="ctr"/>
            <a:lstStyle/>
            <a:p>
              <a:pPr algn="ctr"/>
              <a:endParaRPr/>
            </a:p>
          </p:txBody>
        </p:sp>
        <p:sp>
          <p:nvSpPr>
            <p:cNvPr id="197" name="chimney lip"/>
            <p:cNvSpPr/>
            <p:nvPr/>
          </p:nvSpPr>
          <p:spPr>
            <a:xfrm>
              <a:off x="11306007" y="2694553"/>
              <a:ext cx="72420" cy="20116"/>
            </a:xfrm>
            <a:prstGeom prst="rect">
              <a:avLst/>
            </a:prstGeom>
            <a:solidFill>
              <a:srgbClr val="3A3F47"/>
            </a:solidFill>
            <a:ln w="9525">
              <a:solidFill>
                <a:srgbClr val="9AA0A6"/>
              </a:solidFill>
            </a:ln>
          </p:spPr>
          <p:txBody>
            <a:bodyPr rtlCol="0" anchor="ctr"/>
            <a:lstStyle/>
            <a:p>
              <a:pPr algn="ctr"/>
              <a:endParaRPr/>
            </a:p>
          </p:txBody>
        </p:sp>
        <p:sp>
          <p:nvSpPr>
            <p:cNvPr id="198" name="dome"/>
            <p:cNvSpPr/>
            <p:nvPr/>
          </p:nvSpPr>
          <p:spPr>
            <a:xfrm>
              <a:off x="10703308" y="2746857"/>
              <a:ext cx="72420" cy="44256"/>
            </a:xfrm>
            <a:prstGeom prst="roundRect">
              <a:avLst>
                <a:gd name="adj" fmla="val 36363"/>
              </a:avLst>
            </a:prstGeom>
            <a:solidFill>
              <a:srgbClr val="D9B26F"/>
            </a:solidFill>
            <a:ln>
              <a:noFill/>
            </a:ln>
          </p:spPr>
          <p:txBody>
            <a:bodyPr rtlCol="0" anchor="ctr"/>
            <a:lstStyle/>
            <a:p>
              <a:pPr algn="ctr"/>
              <a:endParaRPr/>
            </a:p>
          </p:txBody>
        </p:sp>
        <p:sp>
          <p:nvSpPr>
            <p:cNvPr id="199" name="wheel"/>
            <p:cNvSpPr/>
            <p:nvPr/>
          </p:nvSpPr>
          <p:spPr>
            <a:xfrm>
              <a:off x="10155326"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200" name="hub"/>
            <p:cNvSpPr/>
            <p:nvPr/>
          </p:nvSpPr>
          <p:spPr>
            <a:xfrm>
              <a:off x="10214872" y="3007571"/>
              <a:ext cx="41842" cy="41842"/>
            </a:xfrm>
            <a:prstGeom prst="ellipse">
              <a:avLst/>
            </a:prstGeom>
            <a:solidFill>
              <a:srgbClr val="9AA0A6"/>
            </a:solidFill>
            <a:ln>
              <a:noFill/>
            </a:ln>
          </p:spPr>
          <p:txBody>
            <a:bodyPr rtlCol="0" anchor="ctr"/>
            <a:lstStyle/>
            <a:p>
              <a:pPr algn="ctr"/>
              <a:endParaRPr/>
            </a:p>
          </p:txBody>
        </p:sp>
        <p:sp>
          <p:nvSpPr>
            <p:cNvPr id="201" name="wheel"/>
            <p:cNvSpPr/>
            <p:nvPr/>
          </p:nvSpPr>
          <p:spPr>
            <a:xfrm>
              <a:off x="10336377"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202" name="hub"/>
            <p:cNvSpPr/>
            <p:nvPr/>
          </p:nvSpPr>
          <p:spPr>
            <a:xfrm>
              <a:off x="10395923" y="3007571"/>
              <a:ext cx="41842" cy="41842"/>
            </a:xfrm>
            <a:prstGeom prst="ellipse">
              <a:avLst/>
            </a:prstGeom>
            <a:solidFill>
              <a:srgbClr val="9AA0A6"/>
            </a:solidFill>
            <a:ln>
              <a:noFill/>
            </a:ln>
          </p:spPr>
          <p:txBody>
            <a:bodyPr rtlCol="0" anchor="ctr"/>
            <a:lstStyle/>
            <a:p>
              <a:pPr algn="ctr"/>
              <a:endParaRPr/>
            </a:p>
          </p:txBody>
        </p:sp>
        <p:sp>
          <p:nvSpPr>
            <p:cNvPr id="203" name="wheel"/>
            <p:cNvSpPr/>
            <p:nvPr/>
          </p:nvSpPr>
          <p:spPr>
            <a:xfrm>
              <a:off x="10517428"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204" name="hub"/>
            <p:cNvSpPr/>
            <p:nvPr/>
          </p:nvSpPr>
          <p:spPr>
            <a:xfrm>
              <a:off x="10576974" y="3007571"/>
              <a:ext cx="41842" cy="41842"/>
            </a:xfrm>
            <a:prstGeom prst="ellipse">
              <a:avLst/>
            </a:prstGeom>
            <a:solidFill>
              <a:srgbClr val="9AA0A6"/>
            </a:solidFill>
            <a:ln>
              <a:noFill/>
            </a:ln>
          </p:spPr>
          <p:txBody>
            <a:bodyPr rtlCol="0" anchor="ctr"/>
            <a:lstStyle/>
            <a:p>
              <a:pPr algn="ctr"/>
              <a:endParaRPr/>
            </a:p>
          </p:txBody>
        </p:sp>
        <p:sp>
          <p:nvSpPr>
            <p:cNvPr id="205" name="wheel"/>
            <p:cNvSpPr/>
            <p:nvPr/>
          </p:nvSpPr>
          <p:spPr>
            <a:xfrm>
              <a:off x="10698480"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206" name="hub"/>
            <p:cNvSpPr/>
            <p:nvPr/>
          </p:nvSpPr>
          <p:spPr>
            <a:xfrm>
              <a:off x="10758025" y="3007571"/>
              <a:ext cx="41842" cy="41842"/>
            </a:xfrm>
            <a:prstGeom prst="ellipse">
              <a:avLst/>
            </a:prstGeom>
            <a:solidFill>
              <a:srgbClr val="9AA0A6"/>
            </a:solidFill>
            <a:ln>
              <a:noFill/>
            </a:ln>
          </p:spPr>
          <p:txBody>
            <a:bodyPr rtlCol="0" anchor="ctr"/>
            <a:lstStyle/>
            <a:p>
              <a:pPr algn="ctr"/>
              <a:endParaRPr/>
            </a:p>
          </p:txBody>
        </p:sp>
        <p:sp>
          <p:nvSpPr>
            <p:cNvPr id="207" name="wheel"/>
            <p:cNvSpPr/>
            <p:nvPr/>
          </p:nvSpPr>
          <p:spPr>
            <a:xfrm>
              <a:off x="10879531" y="2948025"/>
              <a:ext cx="160934" cy="160934"/>
            </a:xfrm>
            <a:prstGeom prst="ellipse">
              <a:avLst/>
            </a:prstGeom>
            <a:solidFill>
              <a:srgbClr val="1B1D21"/>
            </a:solidFill>
            <a:ln w="19050">
              <a:solidFill>
                <a:srgbClr val="9AA0A6"/>
              </a:solidFill>
            </a:ln>
          </p:spPr>
          <p:txBody>
            <a:bodyPr rtlCol="0" anchor="ctr"/>
            <a:lstStyle/>
            <a:p>
              <a:pPr algn="ctr"/>
              <a:endParaRPr/>
            </a:p>
          </p:txBody>
        </p:sp>
        <p:sp>
          <p:nvSpPr>
            <p:cNvPr id="208" name="hub"/>
            <p:cNvSpPr/>
            <p:nvPr/>
          </p:nvSpPr>
          <p:spPr>
            <a:xfrm>
              <a:off x="10939076" y="3007571"/>
              <a:ext cx="41842" cy="41842"/>
            </a:xfrm>
            <a:prstGeom prst="ellipse">
              <a:avLst/>
            </a:prstGeom>
            <a:solidFill>
              <a:srgbClr val="9AA0A6"/>
            </a:solidFill>
            <a:ln>
              <a:noFill/>
            </a:ln>
          </p:spPr>
          <p:txBody>
            <a:bodyPr rtlCol="0" anchor="ctr"/>
            <a:lstStyle/>
            <a:p>
              <a:pPr algn="ctr"/>
              <a:endParaRPr/>
            </a:p>
          </p:txBody>
        </p:sp>
        <p:sp>
          <p:nvSpPr>
            <p:cNvPr id="209" name="wheel"/>
            <p:cNvSpPr/>
            <p:nvPr/>
          </p:nvSpPr>
          <p:spPr>
            <a:xfrm>
              <a:off x="11100816" y="3020446"/>
              <a:ext cx="88513" cy="88513"/>
            </a:xfrm>
            <a:prstGeom prst="ellipse">
              <a:avLst/>
            </a:prstGeom>
            <a:solidFill>
              <a:srgbClr val="1B1D21"/>
            </a:solidFill>
            <a:ln w="19050">
              <a:solidFill>
                <a:srgbClr val="9AA0A6"/>
              </a:solidFill>
            </a:ln>
          </p:spPr>
          <p:txBody>
            <a:bodyPr rtlCol="0" anchor="ctr"/>
            <a:lstStyle/>
            <a:p>
              <a:pPr algn="ctr"/>
              <a:endParaRPr/>
            </a:p>
          </p:txBody>
        </p:sp>
        <p:sp>
          <p:nvSpPr>
            <p:cNvPr id="210" name="hub"/>
            <p:cNvSpPr/>
            <p:nvPr/>
          </p:nvSpPr>
          <p:spPr>
            <a:xfrm>
              <a:off x="11133566" y="3053196"/>
              <a:ext cx="23013" cy="23013"/>
            </a:xfrm>
            <a:prstGeom prst="ellipse">
              <a:avLst/>
            </a:prstGeom>
            <a:solidFill>
              <a:srgbClr val="9AA0A6"/>
            </a:solidFill>
            <a:ln>
              <a:noFill/>
            </a:ln>
          </p:spPr>
          <p:txBody>
            <a:bodyPr rtlCol="0" anchor="ctr"/>
            <a:lstStyle/>
            <a:p>
              <a:pPr algn="ctr"/>
              <a:endParaRPr/>
            </a:p>
          </p:txBody>
        </p:sp>
        <p:sp>
          <p:nvSpPr>
            <p:cNvPr id="211" name="coupling rod"/>
            <p:cNvSpPr/>
            <p:nvPr/>
          </p:nvSpPr>
          <p:spPr>
            <a:xfrm>
              <a:off x="10235793" y="2982626"/>
              <a:ext cx="724204" cy="11265"/>
            </a:xfrm>
            <a:prstGeom prst="rect">
              <a:avLst/>
            </a:prstGeom>
            <a:solidFill>
              <a:srgbClr val="D0D4D8"/>
            </a:solidFill>
            <a:ln>
              <a:noFill/>
            </a:ln>
          </p:spPr>
          <p:txBody>
            <a:bodyPr rtlCol="0" anchor="ctr"/>
            <a:lstStyle/>
            <a:p>
              <a:pPr algn="ctr"/>
              <a:endParaRPr/>
            </a:p>
          </p:txBody>
        </p:sp>
        <p:sp>
          <p:nvSpPr>
            <p:cNvPr id="212" name="buffer beam"/>
            <p:cNvSpPr/>
            <p:nvPr/>
          </p:nvSpPr>
          <p:spPr>
            <a:xfrm>
              <a:off x="11382451" y="2956072"/>
              <a:ext cx="24140" cy="72420"/>
            </a:xfrm>
            <a:prstGeom prst="rect">
              <a:avLst/>
            </a:prstGeom>
            <a:solidFill>
              <a:srgbClr val="9AA0A6"/>
            </a:solidFill>
            <a:ln>
              <a:noFill/>
            </a:ln>
          </p:spPr>
          <p:txBody>
            <a:bodyPr rtlCol="0" anchor="ctr"/>
            <a:lstStyle/>
            <a:p>
              <a:pPr algn="ctr"/>
              <a:endParaRPr/>
            </a:p>
          </p:txBody>
        </p:sp>
        <p:sp>
          <p:nvSpPr>
            <p:cNvPr id="213" name="rail"/>
            <p:cNvSpPr/>
            <p:nvPr/>
          </p:nvSpPr>
          <p:spPr>
            <a:xfrm>
              <a:off x="9774936" y="3108960"/>
              <a:ext cx="1645920" cy="36576"/>
            </a:xfrm>
            <a:prstGeom prst="rect">
              <a:avLst/>
            </a:prstGeom>
            <a:solidFill>
              <a:srgbClr val="9AA0A6"/>
            </a:solidFill>
            <a:ln>
              <a:noFill/>
            </a:ln>
          </p:spPr>
          <p:txBody>
            <a:bodyPr rtlCol="0" anchor="ctr"/>
            <a:lstStyle/>
            <a:p>
              <a:pPr algn="ctr"/>
              <a:endParaRPr/>
            </a:p>
          </p:txBody>
        </p:sp>
        <p:sp>
          <p:nvSpPr>
            <p:cNvPr id="214" name="number plate (digits)"/>
            <p:cNvSpPr/>
            <p:nvPr/>
          </p:nvSpPr>
          <p:spPr>
            <a:xfrm>
              <a:off x="9866376" y="3383280"/>
              <a:ext cx="1463040" cy="731520"/>
            </a:xfrm>
            <a:prstGeom prst="roundRect">
              <a:avLst>
                <a:gd name="adj" fmla="val 10000"/>
              </a:avLst>
            </a:prstGeom>
            <a:solidFill>
              <a:srgbClr val="1B1D21"/>
            </a:solidFill>
            <a:ln w="28575">
              <a:solidFill>
                <a:srgbClr val="D9B26F"/>
              </a:solidFill>
            </a:ln>
          </p:spPr>
          <p:txBody>
            <a:bodyPr rtlCol="0" anchor="ctr"/>
            <a:lstStyle/>
            <a:p>
              <a:pPr algn="ctr"/>
              <a:endParaRPr/>
            </a:p>
          </p:txBody>
        </p:sp>
        <p:sp>
          <p:nvSpPr>
            <p:cNvPr id="215" name="operator mark"/>
            <p:cNvSpPr/>
            <p:nvPr/>
          </p:nvSpPr>
          <p:spPr>
            <a:xfrm>
              <a:off x="9957815" y="3474720"/>
              <a:ext cx="234086" cy="548640"/>
            </a:xfrm>
            <a:prstGeom prst="roundRect">
              <a:avLst>
                <a:gd name="adj" fmla="val 11718"/>
              </a:avLst>
            </a:prstGeom>
            <a:solidFill>
              <a:srgbClr val="D9B26F"/>
            </a:solidFill>
            <a:ln>
              <a:noFill/>
            </a:ln>
          </p:spPr>
          <p:txBody>
            <a:bodyPr rtlCol="0" anchor="ctr"/>
            <a:lstStyle/>
            <a:p>
              <a:pPr algn="ctr"/>
              <a:endParaRPr/>
            </a:p>
          </p:txBody>
        </p:sp>
        <p:sp>
          <p:nvSpPr>
            <p:cNvPr id="216" name="digit block"/>
            <p:cNvSpPr/>
            <p:nvPr/>
          </p:nvSpPr>
          <p:spPr>
            <a:xfrm>
              <a:off x="10318923" y="3690986"/>
              <a:ext cx="116106" cy="116106"/>
            </a:xfrm>
            <a:prstGeom prst="roundRect">
              <a:avLst>
                <a:gd name="adj" fmla="val 20000"/>
              </a:avLst>
            </a:prstGeom>
            <a:solidFill>
              <a:srgbClr val="F2F2F2"/>
            </a:solidFill>
            <a:ln>
              <a:noFill/>
            </a:ln>
          </p:spPr>
          <p:txBody>
            <a:bodyPr rtlCol="0" anchor="ctr"/>
            <a:lstStyle/>
            <a:p>
              <a:pPr algn="ctr"/>
              <a:endParaRPr/>
            </a:p>
          </p:txBody>
        </p:sp>
        <p:sp>
          <p:nvSpPr>
            <p:cNvPr id="217" name="digit block"/>
            <p:cNvSpPr/>
            <p:nvPr/>
          </p:nvSpPr>
          <p:spPr>
            <a:xfrm>
              <a:off x="10506192" y="3690986"/>
              <a:ext cx="116106" cy="116106"/>
            </a:xfrm>
            <a:prstGeom prst="roundRect">
              <a:avLst>
                <a:gd name="adj" fmla="val 20000"/>
              </a:avLst>
            </a:prstGeom>
            <a:solidFill>
              <a:srgbClr val="F2F2F2"/>
            </a:solidFill>
            <a:ln>
              <a:noFill/>
            </a:ln>
          </p:spPr>
          <p:txBody>
            <a:bodyPr rtlCol="0" anchor="ctr"/>
            <a:lstStyle/>
            <a:p>
              <a:pPr algn="ctr"/>
              <a:endParaRPr/>
            </a:p>
          </p:txBody>
        </p:sp>
        <p:sp>
          <p:nvSpPr>
            <p:cNvPr id="218" name="digit block"/>
            <p:cNvSpPr/>
            <p:nvPr/>
          </p:nvSpPr>
          <p:spPr>
            <a:xfrm>
              <a:off x="10693461" y="3690986"/>
              <a:ext cx="116106" cy="116106"/>
            </a:xfrm>
            <a:prstGeom prst="roundRect">
              <a:avLst>
                <a:gd name="adj" fmla="val 20000"/>
              </a:avLst>
            </a:prstGeom>
            <a:solidFill>
              <a:srgbClr val="F2F2F2"/>
            </a:solidFill>
            <a:ln>
              <a:noFill/>
            </a:ln>
          </p:spPr>
          <p:txBody>
            <a:bodyPr rtlCol="0" anchor="ctr"/>
            <a:lstStyle/>
            <a:p>
              <a:pPr algn="ctr"/>
              <a:endParaRPr/>
            </a:p>
          </p:txBody>
        </p:sp>
        <p:sp>
          <p:nvSpPr>
            <p:cNvPr id="219" name="digit block"/>
            <p:cNvSpPr/>
            <p:nvPr/>
          </p:nvSpPr>
          <p:spPr>
            <a:xfrm>
              <a:off x="10880730" y="3690986"/>
              <a:ext cx="116106" cy="116106"/>
            </a:xfrm>
            <a:prstGeom prst="roundRect">
              <a:avLst>
                <a:gd name="adj" fmla="val 20000"/>
              </a:avLst>
            </a:prstGeom>
            <a:solidFill>
              <a:srgbClr val="F2F2F2"/>
            </a:solidFill>
            <a:ln>
              <a:noFill/>
            </a:ln>
          </p:spPr>
          <p:txBody>
            <a:bodyPr rtlCol="0" anchor="ctr"/>
            <a:lstStyle/>
            <a:p>
              <a:pPr algn="ctr"/>
              <a:endParaRPr/>
            </a:p>
          </p:txBody>
        </p:sp>
        <p:sp>
          <p:nvSpPr>
            <p:cNvPr id="220" name="digit block"/>
            <p:cNvSpPr/>
            <p:nvPr/>
          </p:nvSpPr>
          <p:spPr>
            <a:xfrm>
              <a:off x="11068000" y="3690986"/>
              <a:ext cx="116106" cy="116106"/>
            </a:xfrm>
            <a:prstGeom prst="roundRect">
              <a:avLst>
                <a:gd name="adj" fmla="val 20000"/>
              </a:avLst>
            </a:prstGeom>
            <a:solidFill>
              <a:srgbClr val="F2F2F2"/>
            </a:solidFill>
            <a:ln>
              <a:noFill/>
            </a:ln>
          </p:spPr>
          <p:txBody>
            <a:bodyPr rtlCol="0" anchor="ctr"/>
            <a:lstStyle/>
            <a:p>
              <a:pPr algn="ctr"/>
              <a:endParaRPr/>
            </a:p>
          </p:txBody>
        </p:sp>
      </p:grpSp>
      <p:sp>
        <p:nvSpPr>
          <p:cNvPr id="221" name="ICHIP"/>
          <p:cNvSpPr/>
          <p:nvPr/>
        </p:nvSpPr>
        <p:spPr>
          <a:xfrm>
            <a:off x="548640" y="4663440"/>
            <a:ext cx="2840281"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Exact data: undecided (OQ29)</a:t>
            </a:r>
          </a:p>
        </p:txBody>
      </p:sp>
      <p:sp>
        <p:nvSpPr>
          <p:cNvPr id="22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23"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24"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 world picks how numbers look: simple and consistent, or like the old operators'.</a:t>
            </a:r>
          </a:p>
        </p:txBody>
      </p:sp>
      <p:sp>
        <p:nvSpPr>
          <p:cNvPr id="225"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15</a:t>
            </a:r>
          </a:p>
        </p:txBody>
      </p:sp>
    </p:spTree>
    <p:extLst>
      <p:ext uri="{BB962C8B-B14F-4D97-AF65-F5344CB8AC3E}">
        <p14:creationId xmlns:p14="http://schemas.microsoft.com/office/powerpoint/2010/main" val="28095068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21"/>
                                        </p:tgtEl>
                                        <p:attrNameLst>
                                          <p:attrName>style.visibility</p:attrName>
                                        </p:attrNameLst>
                                      </p:cBhvr>
                                      <p:to>
                                        <p:strVal val="visible"/>
                                      </p:to>
                                    </p:set>
                                    <p:animEffect transition="in" filter="fade">
                                      <p:cBhvr>
                                        <p:cTn id="10" dur="500"/>
                                        <p:tgtEl>
                                          <p:spTgt spid="221"/>
                                        </p:tgtEl>
                                      </p:cBhvr>
                                    </p:animEffect>
                                  </p:childTnLst>
                                </p:cTn>
                              </p:par>
                              <p:par>
                                <p:cTn id="11" presetID="10" presetClass="entr" presetSubtype="0" fill="hold" nodeType="withEffect">
                                  <p:stCondLst>
                                    <p:cond delay="600"/>
                                  </p:stCondLst>
                                  <p:childTnLst>
                                    <p:set>
                                      <p:cBhvr>
                                        <p:cTn id="12" dur="1" fill="hold">
                                          <p:stCondLst>
                                            <p:cond delay="0"/>
                                          </p:stCondLst>
                                        </p:cTn>
                                        <p:tgtEl>
                                          <p:spTgt spid="222"/>
                                        </p:tgtEl>
                                        <p:attrNameLst>
                                          <p:attrName>style.visibility</p:attrName>
                                        </p:attrNameLst>
                                      </p:cBhvr>
                                      <p:to>
                                        <p:strVal val="visible"/>
                                      </p:to>
                                    </p:set>
                                    <p:animEffect transition="in" filter="fade">
                                      <p:cBhvr>
                                        <p:cTn id="13" dur="500"/>
                                        <p:tgtEl>
                                          <p:spTgt spid="222"/>
                                        </p:tgtEl>
                                      </p:cBhvr>
                                    </p:animEffect>
                                  </p:childTnLst>
                                </p:cTn>
                              </p:par>
                              <p:par>
                                <p:cTn id="14" presetID="10" presetClass="entr" presetSubtype="0" fill="hold" nodeType="withEffect">
                                  <p:stCondLst>
                                    <p:cond delay="900"/>
                                  </p:stCondLst>
                                  <p:childTnLst>
                                    <p:set>
                                      <p:cBhvr>
                                        <p:cTn id="15" dur="1" fill="hold">
                                          <p:stCondLst>
                                            <p:cond delay="0"/>
                                          </p:stCondLst>
                                        </p:cTn>
                                        <p:tgtEl>
                                          <p:spTgt spid="223"/>
                                        </p:tgtEl>
                                        <p:attrNameLst>
                                          <p:attrName>style.visibility</p:attrName>
                                        </p:attrNameLst>
                                      </p:cBhvr>
                                      <p:to>
                                        <p:strVal val="visible"/>
                                      </p:to>
                                    </p:set>
                                    <p:animEffect transition="in" filter="fade">
                                      <p:cBhvr>
                                        <p:cTn id="16" dur="500"/>
                                        <p:tgtEl>
                                          <p:spTgt spid="223"/>
                                        </p:tgtEl>
                                      </p:cBhvr>
                                    </p:animEffect>
                                  </p:childTnLst>
                                </p:cTn>
                              </p:par>
                              <p:par>
                                <p:cTn id="17" presetID="10" presetClass="entr" presetSubtype="0" fill="hold" nodeType="withEffect">
                                  <p:stCondLst>
                                    <p:cond delay="1200"/>
                                  </p:stCondLst>
                                  <p:childTnLst>
                                    <p:set>
                                      <p:cBhvr>
                                        <p:cTn id="18" dur="1" fill="hold">
                                          <p:stCondLst>
                                            <p:cond delay="0"/>
                                          </p:stCondLst>
                                        </p:cTn>
                                        <p:tgtEl>
                                          <p:spTgt spid="224"/>
                                        </p:tgtEl>
                                        <p:attrNameLst>
                                          <p:attrName>style.visibility</p:attrName>
                                        </p:attrNameLst>
                                      </p:cBhvr>
                                      <p:to>
                                        <p:strVal val="visible"/>
                                      </p:to>
                                    </p:set>
                                    <p:animEffect transition="in" filter="fade">
                                      <p:cBhvr>
                                        <p:cTn id="19" dur="500"/>
                                        <p:tgtEl>
                                          <p:spTgt spid="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Changing the style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Number plate before and after switching style" descr="A number plate in two parts. Before, the first part is set by the scheme and the last part is your digits. After switching style, the first part changes and your digits stay the same."/>
          <p:cNvGrpSpPr/>
          <p:nvPr/>
        </p:nvGrpSpPr>
        <p:grpSpPr>
          <a:xfrm>
            <a:off x="685800" y="1874519"/>
            <a:ext cx="10332720" cy="2633473"/>
            <a:chOff x="685800" y="1874519"/>
            <a:chExt cx="10332720" cy="2633473"/>
          </a:xfrm>
        </p:grpSpPr>
        <p:sp>
          <p:nvSpPr>
            <p:cNvPr id="5" name="example label"/>
            <p:cNvSpPr txBox="1"/>
            <p:nvPr/>
          </p:nvSpPr>
          <p:spPr>
            <a:xfrm>
              <a:off x="1097280" y="1874519"/>
              <a:ext cx="2743200" cy="274320"/>
            </a:xfrm>
            <a:prstGeom prst="rect">
              <a:avLst/>
            </a:prstGeom>
            <a:noFill/>
          </p:spPr>
          <p:txBody>
            <a:bodyPr wrap="square" lIns="18288" tIns="9144" rIns="18288" bIns="9144" anchor="ctr">
              <a:noAutofit/>
            </a:bodyPr>
            <a:lstStyle/>
            <a:p>
              <a:pPr algn="l"/>
              <a:r>
                <a:rPr lang="en-GB" sz="1400" b="1" i="0">
                  <a:solidFill>
                    <a:srgbClr val="A9B0B8"/>
                  </a:solidFill>
                  <a:latin typeface="Arial"/>
                </a:rPr>
                <a:t>Example only</a:t>
              </a:r>
            </a:p>
          </p:txBody>
        </p:sp>
        <p:sp>
          <p:nvSpPr>
            <p:cNvPr id="6" name="plate part: scheme"/>
            <p:cNvSpPr/>
            <p:nvPr/>
          </p:nvSpPr>
          <p:spPr>
            <a:xfrm>
              <a:off x="1097280" y="2606040"/>
              <a:ext cx="1463040" cy="1188720"/>
            </a:xfrm>
            <a:prstGeom prst="roundRect">
              <a:avLst>
                <a:gd name="adj" fmla="val 7692"/>
              </a:avLst>
            </a:prstGeom>
            <a:solidFill>
              <a:srgbClr val="343A43"/>
            </a:solidFill>
            <a:ln w="38100">
              <a:solidFill>
                <a:srgbClr val="F28C28"/>
              </a:solidFill>
            </a:ln>
          </p:spPr>
          <p:txBody>
            <a:bodyPr wrap="square" lIns="54864" tIns="27432" rIns="54864" bIns="27432" rtlCol="0" anchor="ctr">
              <a:noAutofit/>
            </a:bodyPr>
            <a:lstStyle/>
            <a:p>
              <a:pPr algn="ctr"/>
              <a:r>
                <a:rPr lang="en-GB" sz="5400" b="1" i="0">
                  <a:solidFill>
                    <a:srgbClr val="F2F2F2"/>
                  </a:solidFill>
                  <a:latin typeface="Arial"/>
                </a:rPr>
                <a:t>47</a:t>
              </a:r>
            </a:p>
          </p:txBody>
        </p:sp>
        <p:sp>
          <p:nvSpPr>
            <p:cNvPr id="7" name="plate part: digits"/>
            <p:cNvSpPr/>
            <p:nvPr/>
          </p:nvSpPr>
          <p:spPr>
            <a:xfrm>
              <a:off x="2560320" y="2606040"/>
              <a:ext cx="2560320" cy="1188720"/>
            </a:xfrm>
            <a:prstGeom prst="roundRect">
              <a:avLst>
                <a:gd name="adj" fmla="val 7692"/>
              </a:avLst>
            </a:prstGeom>
            <a:solidFill>
              <a:srgbClr val="1B1D21"/>
            </a:solidFill>
            <a:ln w="38100">
              <a:solidFill>
                <a:srgbClr val="F28C28"/>
              </a:solidFill>
            </a:ln>
          </p:spPr>
          <p:txBody>
            <a:bodyPr wrap="square" lIns="54864" tIns="27432" rIns="54864" bIns="27432" rtlCol="0" anchor="ctr">
              <a:noAutofit/>
            </a:bodyPr>
            <a:lstStyle/>
            <a:p>
              <a:pPr algn="ctr"/>
              <a:r>
                <a:rPr lang="en-GB" sz="5400" b="1" i="0">
                  <a:solidFill>
                    <a:srgbClr val="F2F2F2"/>
                  </a:solidFill>
                  <a:latin typeface="Arial"/>
                </a:rPr>
                <a:t>298</a:t>
              </a:r>
            </a:p>
          </p:txBody>
        </p:sp>
        <p:sp>
          <p:nvSpPr>
            <p:cNvPr id="8" name="bracket"/>
            <p:cNvSpPr/>
            <p:nvPr/>
          </p:nvSpPr>
          <p:spPr>
            <a:xfrm>
              <a:off x="1170432" y="3931920"/>
              <a:ext cx="1316736" cy="137160"/>
            </a:xfrm>
            <a:custGeom>
              <a:avLst/>
              <a:gdLst/>
              <a:ahLst/>
              <a:cxnLst/>
              <a:rect l="l" t="t" r="r" b="b"/>
              <a:pathLst>
                <a:path w="1316736" h="137160">
                  <a:moveTo>
                    <a:pt x="0" y="0"/>
                  </a:moveTo>
                  <a:lnTo>
                    <a:pt x="0" y="137160"/>
                  </a:lnTo>
                  <a:lnTo>
                    <a:pt x="1316736" y="137160"/>
                  </a:lnTo>
                  <a:lnTo>
                    <a:pt x="1316736" y="0"/>
                  </a:lnTo>
                </a:path>
              </a:pathLst>
            </a:custGeom>
            <a:noFill/>
            <a:ln w="25400">
              <a:solidFill>
                <a:srgbClr val="A9B0B8"/>
              </a:solidFill>
            </a:ln>
          </p:spPr>
          <p:txBody>
            <a:bodyPr rtlCol="0" anchor="ctr"/>
            <a:lstStyle/>
            <a:p>
              <a:pPr algn="ctr"/>
              <a:endParaRPr/>
            </a:p>
          </p:txBody>
        </p:sp>
        <p:sp>
          <p:nvSpPr>
            <p:cNvPr id="9" name="bracket label"/>
            <p:cNvSpPr txBox="1"/>
            <p:nvPr/>
          </p:nvSpPr>
          <p:spPr>
            <a:xfrm>
              <a:off x="685800" y="4142232"/>
              <a:ext cx="228600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Set by the scheme</a:t>
              </a:r>
            </a:p>
          </p:txBody>
        </p:sp>
        <p:sp>
          <p:nvSpPr>
            <p:cNvPr id="10" name="bracket"/>
            <p:cNvSpPr/>
            <p:nvPr/>
          </p:nvSpPr>
          <p:spPr>
            <a:xfrm>
              <a:off x="2633472" y="3931920"/>
              <a:ext cx="2414016" cy="137160"/>
            </a:xfrm>
            <a:custGeom>
              <a:avLst/>
              <a:gdLst/>
              <a:ahLst/>
              <a:cxnLst/>
              <a:rect l="l" t="t" r="r" b="b"/>
              <a:pathLst>
                <a:path w="2414016" h="137160">
                  <a:moveTo>
                    <a:pt x="0" y="0"/>
                  </a:moveTo>
                  <a:lnTo>
                    <a:pt x="0" y="137160"/>
                  </a:lnTo>
                  <a:lnTo>
                    <a:pt x="2414016" y="137160"/>
                  </a:lnTo>
                  <a:lnTo>
                    <a:pt x="2414016" y="0"/>
                  </a:lnTo>
                </a:path>
              </a:pathLst>
            </a:custGeom>
            <a:noFill/>
            <a:ln w="25400">
              <a:solidFill>
                <a:srgbClr val="A9B0B8"/>
              </a:solidFill>
            </a:ln>
          </p:spPr>
          <p:txBody>
            <a:bodyPr rtlCol="0" anchor="ctr"/>
            <a:lstStyle/>
            <a:p>
              <a:pPr algn="ctr"/>
              <a:endParaRPr/>
            </a:p>
          </p:txBody>
        </p:sp>
        <p:sp>
          <p:nvSpPr>
            <p:cNvPr id="11" name="bracket label"/>
            <p:cNvSpPr txBox="1"/>
            <p:nvPr/>
          </p:nvSpPr>
          <p:spPr>
            <a:xfrm>
              <a:off x="2697479" y="4142232"/>
              <a:ext cx="228600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Your digits</a:t>
              </a:r>
            </a:p>
          </p:txBody>
        </p:sp>
        <p:sp>
          <p:nvSpPr>
            <p:cNvPr id="12" name="plate part: scheme"/>
            <p:cNvSpPr/>
            <p:nvPr/>
          </p:nvSpPr>
          <p:spPr>
            <a:xfrm>
              <a:off x="6995160" y="2606040"/>
              <a:ext cx="1463040" cy="1188720"/>
            </a:xfrm>
            <a:prstGeom prst="roundRect">
              <a:avLst>
                <a:gd name="adj" fmla="val 7692"/>
              </a:avLst>
            </a:prstGeom>
            <a:solidFill>
              <a:srgbClr val="F28C28"/>
            </a:solidFill>
            <a:ln w="38100">
              <a:solidFill>
                <a:srgbClr val="F28C28"/>
              </a:solidFill>
            </a:ln>
          </p:spPr>
          <p:txBody>
            <a:bodyPr wrap="square" lIns="54864" tIns="27432" rIns="54864" bIns="27432" rtlCol="0" anchor="ctr">
              <a:noAutofit/>
            </a:bodyPr>
            <a:lstStyle/>
            <a:p>
              <a:pPr algn="ctr"/>
              <a:r>
                <a:rPr lang="en-GB" sz="5400" b="1" i="0">
                  <a:solidFill>
                    <a:srgbClr val="101418"/>
                  </a:solidFill>
                  <a:latin typeface="Arial"/>
                </a:rPr>
                <a:t>31</a:t>
              </a:r>
            </a:p>
          </p:txBody>
        </p:sp>
        <p:sp>
          <p:nvSpPr>
            <p:cNvPr id="13" name="plate part: digits"/>
            <p:cNvSpPr/>
            <p:nvPr/>
          </p:nvSpPr>
          <p:spPr>
            <a:xfrm>
              <a:off x="8458200" y="2606040"/>
              <a:ext cx="2560320" cy="1188720"/>
            </a:xfrm>
            <a:prstGeom prst="roundRect">
              <a:avLst>
                <a:gd name="adj" fmla="val 7692"/>
              </a:avLst>
            </a:prstGeom>
            <a:solidFill>
              <a:srgbClr val="1B1D21"/>
            </a:solidFill>
            <a:ln w="38100">
              <a:solidFill>
                <a:srgbClr val="F28C28"/>
              </a:solidFill>
            </a:ln>
          </p:spPr>
          <p:txBody>
            <a:bodyPr wrap="square" lIns="54864" tIns="27432" rIns="54864" bIns="27432" rtlCol="0" anchor="ctr">
              <a:noAutofit/>
            </a:bodyPr>
            <a:lstStyle/>
            <a:p>
              <a:pPr algn="ctr"/>
              <a:r>
                <a:rPr lang="en-GB" sz="5400" b="1" i="0">
                  <a:solidFill>
                    <a:srgbClr val="F2F2F2"/>
                  </a:solidFill>
                  <a:latin typeface="Arial"/>
                </a:rPr>
                <a:t>298</a:t>
              </a:r>
            </a:p>
          </p:txBody>
        </p:sp>
        <p:sp>
          <p:nvSpPr>
            <p:cNvPr id="14" name="bracket"/>
            <p:cNvSpPr/>
            <p:nvPr/>
          </p:nvSpPr>
          <p:spPr>
            <a:xfrm>
              <a:off x="7068312" y="3931920"/>
              <a:ext cx="1316736" cy="137160"/>
            </a:xfrm>
            <a:custGeom>
              <a:avLst/>
              <a:gdLst/>
              <a:ahLst/>
              <a:cxnLst/>
              <a:rect l="l" t="t" r="r" b="b"/>
              <a:pathLst>
                <a:path w="1316736" h="137160">
                  <a:moveTo>
                    <a:pt x="0" y="0"/>
                  </a:moveTo>
                  <a:lnTo>
                    <a:pt x="0" y="137160"/>
                  </a:lnTo>
                  <a:lnTo>
                    <a:pt x="1316736" y="137160"/>
                  </a:lnTo>
                  <a:lnTo>
                    <a:pt x="1316736" y="0"/>
                  </a:lnTo>
                </a:path>
              </a:pathLst>
            </a:custGeom>
            <a:noFill/>
            <a:ln w="25400">
              <a:solidFill>
                <a:srgbClr val="A9B0B8"/>
              </a:solidFill>
            </a:ln>
          </p:spPr>
          <p:txBody>
            <a:bodyPr rtlCol="0" anchor="ctr"/>
            <a:lstStyle/>
            <a:p>
              <a:pPr algn="ctr"/>
              <a:endParaRPr/>
            </a:p>
          </p:txBody>
        </p:sp>
        <p:sp>
          <p:nvSpPr>
            <p:cNvPr id="15" name="bracket label"/>
            <p:cNvSpPr txBox="1"/>
            <p:nvPr/>
          </p:nvSpPr>
          <p:spPr>
            <a:xfrm>
              <a:off x="6583679" y="4142232"/>
              <a:ext cx="228600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Changes</a:t>
              </a:r>
            </a:p>
          </p:txBody>
        </p:sp>
        <p:sp>
          <p:nvSpPr>
            <p:cNvPr id="16" name="bracket"/>
            <p:cNvSpPr/>
            <p:nvPr/>
          </p:nvSpPr>
          <p:spPr>
            <a:xfrm>
              <a:off x="8531352" y="3931920"/>
              <a:ext cx="2414016" cy="137160"/>
            </a:xfrm>
            <a:custGeom>
              <a:avLst/>
              <a:gdLst/>
              <a:ahLst/>
              <a:cxnLst/>
              <a:rect l="l" t="t" r="r" b="b"/>
              <a:pathLst>
                <a:path w="2414016" h="137160">
                  <a:moveTo>
                    <a:pt x="0" y="0"/>
                  </a:moveTo>
                  <a:lnTo>
                    <a:pt x="0" y="137160"/>
                  </a:lnTo>
                  <a:lnTo>
                    <a:pt x="2414016" y="137160"/>
                  </a:lnTo>
                  <a:lnTo>
                    <a:pt x="2414016" y="0"/>
                  </a:lnTo>
                </a:path>
              </a:pathLst>
            </a:custGeom>
            <a:noFill/>
            <a:ln w="25400">
              <a:solidFill>
                <a:srgbClr val="A9B0B8"/>
              </a:solidFill>
            </a:ln>
          </p:spPr>
          <p:txBody>
            <a:bodyPr rtlCol="0" anchor="ctr"/>
            <a:lstStyle/>
            <a:p>
              <a:pPr algn="ctr"/>
              <a:endParaRPr/>
            </a:p>
          </p:txBody>
        </p:sp>
        <p:sp>
          <p:nvSpPr>
            <p:cNvPr id="17" name="bracket label"/>
            <p:cNvSpPr txBox="1"/>
            <p:nvPr/>
          </p:nvSpPr>
          <p:spPr>
            <a:xfrm>
              <a:off x="8595360" y="4142232"/>
              <a:ext cx="2286000"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Stays</a:t>
              </a:r>
            </a:p>
          </p:txBody>
        </p:sp>
        <p:cxnSp>
          <p:nvCxnSpPr>
            <p:cNvPr id="18" name="switch arrow"/>
            <p:cNvCxnSpPr/>
            <p:nvPr/>
          </p:nvCxnSpPr>
          <p:spPr>
            <a:xfrm>
              <a:off x="5303520" y="3200400"/>
              <a:ext cx="1508760" cy="0"/>
            </a:xfrm>
            <a:prstGeom prst="line">
              <a:avLst/>
            </a:prstGeom>
            <a:ln w="50800">
              <a:solidFill>
                <a:srgbClr val="F28C28"/>
              </a:solidFill>
              <a:tailEnd type="triangle" w="med" len="med"/>
            </a:ln>
          </p:spPr>
        </p:cxnSp>
        <p:sp>
          <p:nvSpPr>
            <p:cNvPr id="19" name="arrow label"/>
            <p:cNvSpPr txBox="1"/>
            <p:nvPr/>
          </p:nvSpPr>
          <p:spPr>
            <a:xfrm>
              <a:off x="5120640" y="2715768"/>
              <a:ext cx="1874519" cy="365760"/>
            </a:xfrm>
            <a:prstGeom prst="rect">
              <a:avLst/>
            </a:prstGeom>
            <a:noFill/>
          </p:spPr>
          <p:txBody>
            <a:bodyPr wrap="square" lIns="18288" tIns="9144" rIns="18288" bIns="9144" anchor="ctr">
              <a:noAutofit/>
            </a:bodyPr>
            <a:lstStyle/>
            <a:p>
              <a:pPr algn="ctr"/>
              <a:r>
                <a:rPr lang="en-GB" sz="1800" b="1" i="0">
                  <a:solidFill>
                    <a:srgbClr val="F2F2F2"/>
                  </a:solidFill>
                  <a:latin typeface="Arial"/>
                </a:rPr>
                <a:t>Switch style</a:t>
              </a:r>
            </a:p>
          </p:txBody>
        </p:sp>
      </p:grpSp>
      <p:sp>
        <p:nvSpPr>
          <p:cNvPr id="2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1"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2"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Switching style keeps the digits you chose, where they still fit.</a:t>
            </a:r>
          </a:p>
        </p:txBody>
      </p:sp>
      <p:sp>
        <p:nvSpPr>
          <p:cNvPr id="23"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16</a:t>
            </a:r>
          </a:p>
        </p:txBody>
      </p:sp>
    </p:spTree>
    <p:extLst>
      <p:ext uri="{BB962C8B-B14F-4D97-AF65-F5344CB8AC3E}">
        <p14:creationId xmlns:p14="http://schemas.microsoft.com/office/powerpoint/2010/main" val="4131374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6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9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No two the same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Number allocation flow" descr="A flow chart. Make a candidate number, then ask: is it taken? If yes, go back and make another. If no, reserve it."/>
          <p:cNvGrpSpPr/>
          <p:nvPr/>
        </p:nvGrpSpPr>
        <p:grpSpPr>
          <a:xfrm>
            <a:off x="822960" y="2194560"/>
            <a:ext cx="10789920" cy="2560320"/>
            <a:chOff x="822960" y="2194560"/>
            <a:chExt cx="10789920" cy="2560320"/>
          </a:xfrm>
        </p:grpSpPr>
        <p:sp>
          <p:nvSpPr>
            <p:cNvPr id="5" name="step: make"/>
            <p:cNvSpPr/>
            <p:nvPr/>
          </p:nvSpPr>
          <p:spPr>
            <a:xfrm>
              <a:off x="822960" y="2606040"/>
              <a:ext cx="3108960" cy="1188720"/>
            </a:xfrm>
            <a:prstGeom prst="roundRect">
              <a:avLst>
                <a:gd name="adj" fmla="val 7692"/>
              </a:avLst>
            </a:prstGeom>
            <a:solidFill>
              <a:srgbClr val="343A43"/>
            </a:solidFill>
            <a:ln w="31750">
              <a:solidFill>
                <a:srgbClr val="F28C28"/>
              </a:solidFill>
            </a:ln>
          </p:spPr>
          <p:txBody>
            <a:bodyPr wrap="square" lIns="54864" tIns="27432" rIns="54864" bIns="27432" rtlCol="0" anchor="ctr">
              <a:noAutofit/>
            </a:bodyPr>
            <a:lstStyle/>
            <a:p>
              <a:pPr algn="ctr"/>
              <a:r>
                <a:rPr lang="en-GB" sz="2000" b="1" i="0">
                  <a:solidFill>
                    <a:srgbClr val="F2F2F2"/>
                  </a:solidFill>
                  <a:latin typeface="Arial"/>
                </a:rPr>
                <a:t>Make a candidate number</a:t>
              </a:r>
            </a:p>
          </p:txBody>
        </p:sp>
        <p:sp>
          <p:nvSpPr>
            <p:cNvPr id="6" name="decision"/>
            <p:cNvSpPr/>
            <p:nvPr/>
          </p:nvSpPr>
          <p:spPr>
            <a:xfrm>
              <a:off x="4846320" y="2194560"/>
              <a:ext cx="2560320" cy="2011680"/>
            </a:xfrm>
            <a:prstGeom prst="diamond">
              <a:avLst/>
            </a:prstGeom>
            <a:solidFill>
              <a:srgbClr val="343A43"/>
            </a:solidFill>
            <a:ln w="31750">
              <a:solidFill>
                <a:srgbClr val="F28C28"/>
              </a:solidFill>
            </a:ln>
          </p:spPr>
          <p:txBody>
            <a:bodyPr wrap="square" lIns="0" tIns="0" rIns="0" bIns="0" rtlCol="0" anchor="ctr">
              <a:noAutofit/>
            </a:bodyPr>
            <a:lstStyle/>
            <a:p>
              <a:pPr algn="ctr"/>
              <a:r>
                <a:rPr lang="en-GB" sz="2000" b="1" i="0">
                  <a:solidFill>
                    <a:srgbClr val="F2F2F2"/>
                  </a:solidFill>
                  <a:latin typeface="Arial"/>
                </a:rPr>
                <a:t>Taken?</a:t>
              </a:r>
            </a:p>
          </p:txBody>
        </p:sp>
        <p:sp>
          <p:nvSpPr>
            <p:cNvPr id="7" name="step: reserve"/>
            <p:cNvSpPr/>
            <p:nvPr/>
          </p:nvSpPr>
          <p:spPr>
            <a:xfrm>
              <a:off x="8869680" y="2606040"/>
              <a:ext cx="2743200" cy="1188720"/>
            </a:xfrm>
            <a:prstGeom prst="roundRect">
              <a:avLst>
                <a:gd name="adj" fmla="val 7692"/>
              </a:avLst>
            </a:prstGeom>
            <a:solidFill>
              <a:srgbClr val="343A43"/>
            </a:solidFill>
            <a:ln w="31750">
              <a:solidFill>
                <a:srgbClr val="3FB950"/>
              </a:solidFill>
            </a:ln>
          </p:spPr>
          <p:txBody>
            <a:bodyPr wrap="square" lIns="54864" tIns="27432" rIns="54864" bIns="27432" rtlCol="0" anchor="ctr">
              <a:noAutofit/>
            </a:bodyPr>
            <a:lstStyle/>
            <a:p>
              <a:pPr algn="ctr"/>
              <a:r>
                <a:rPr lang="en-GB" sz="2000" b="1" i="0">
                  <a:solidFill>
                    <a:srgbClr val="F2F2F2"/>
                  </a:solidFill>
                  <a:latin typeface="Arial"/>
                </a:rPr>
                <a:t>Reserve it</a:t>
              </a:r>
            </a:p>
          </p:txBody>
        </p:sp>
        <p:cxnSp>
          <p:nvCxnSpPr>
            <p:cNvPr id="8" name="flow arrow"/>
            <p:cNvCxnSpPr/>
            <p:nvPr/>
          </p:nvCxnSpPr>
          <p:spPr>
            <a:xfrm>
              <a:off x="3931920" y="3200400"/>
              <a:ext cx="914400" cy="0"/>
            </a:xfrm>
            <a:prstGeom prst="line">
              <a:avLst/>
            </a:prstGeom>
            <a:ln w="38100">
              <a:solidFill>
                <a:srgbClr val="F28C28"/>
              </a:solidFill>
              <a:tailEnd type="triangle" w="med" len="med"/>
            </a:ln>
          </p:spPr>
        </p:cxnSp>
        <p:cxnSp>
          <p:nvCxnSpPr>
            <p:cNvPr id="9" name="flow arrow"/>
            <p:cNvCxnSpPr/>
            <p:nvPr/>
          </p:nvCxnSpPr>
          <p:spPr>
            <a:xfrm>
              <a:off x="7406640" y="3200400"/>
              <a:ext cx="1463040" cy="0"/>
            </a:xfrm>
            <a:prstGeom prst="line">
              <a:avLst/>
            </a:prstGeom>
            <a:ln w="38100">
              <a:solidFill>
                <a:srgbClr val="F28C28"/>
              </a:solidFill>
              <a:tailEnd type="triangle" w="med" len="med"/>
            </a:ln>
          </p:spPr>
        </p:cxnSp>
        <p:sp>
          <p:nvSpPr>
            <p:cNvPr id="10" name="branch label"/>
            <p:cNvSpPr txBox="1"/>
            <p:nvPr/>
          </p:nvSpPr>
          <p:spPr>
            <a:xfrm>
              <a:off x="7680960" y="2807208"/>
              <a:ext cx="91440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No</a:t>
              </a:r>
            </a:p>
          </p:txBody>
        </p:sp>
        <p:sp>
          <p:nvSpPr>
            <p:cNvPr id="11" name="loop back arrow"/>
            <p:cNvSpPr/>
            <p:nvPr/>
          </p:nvSpPr>
          <p:spPr>
            <a:xfrm>
              <a:off x="2377440" y="3840480"/>
              <a:ext cx="3749040" cy="914400"/>
            </a:xfrm>
            <a:custGeom>
              <a:avLst/>
              <a:gdLst/>
              <a:ahLst/>
              <a:cxnLst/>
              <a:rect l="l" t="t" r="r" b="b"/>
              <a:pathLst>
                <a:path w="3749040" h="914400">
                  <a:moveTo>
                    <a:pt x="3749040" y="365760"/>
                  </a:moveTo>
                  <a:lnTo>
                    <a:pt x="3749040" y="914400"/>
                  </a:lnTo>
                  <a:lnTo>
                    <a:pt x="0" y="914400"/>
                  </a:lnTo>
                  <a:lnTo>
                    <a:pt x="0" y="0"/>
                  </a:lnTo>
                </a:path>
              </a:pathLst>
            </a:custGeom>
            <a:noFill/>
            <a:ln w="38100">
              <a:solidFill>
                <a:srgbClr val="F28C28"/>
              </a:solidFill>
              <a:tailEnd type="triangle" w="med" len="med"/>
            </a:ln>
          </p:spPr>
          <p:txBody>
            <a:bodyPr rtlCol="0" anchor="ctr"/>
            <a:lstStyle/>
            <a:p>
              <a:pPr algn="ctr"/>
              <a:endParaRPr/>
            </a:p>
          </p:txBody>
        </p:sp>
        <p:sp>
          <p:nvSpPr>
            <p:cNvPr id="12" name="branch label"/>
            <p:cNvSpPr txBox="1"/>
            <p:nvPr/>
          </p:nvSpPr>
          <p:spPr>
            <a:xfrm>
              <a:off x="6263640" y="4315968"/>
              <a:ext cx="914400" cy="329184"/>
            </a:xfrm>
            <a:prstGeom prst="rect">
              <a:avLst/>
            </a:prstGeom>
            <a:noFill/>
          </p:spPr>
          <p:txBody>
            <a:bodyPr wrap="square" lIns="18288" tIns="9144" rIns="18288" bIns="9144" anchor="ctr">
              <a:noAutofit/>
            </a:bodyPr>
            <a:lstStyle/>
            <a:p>
              <a:pPr algn="l"/>
              <a:r>
                <a:rPr lang="en-GB" sz="1800" b="1" i="0">
                  <a:solidFill>
                    <a:srgbClr val="F2F2F2"/>
                  </a:solidFill>
                  <a:latin typeface="Arial"/>
                </a:rPr>
                <a:t>Yes</a:t>
              </a:r>
            </a:p>
          </p:txBody>
        </p:sp>
      </p:grpSp>
      <p:sp>
        <p:nvSpPr>
          <p:cNvPr id="13" name="ICHIP"/>
          <p:cNvSpPr/>
          <p:nvPr/>
        </p:nvSpPr>
        <p:spPr>
          <a:xfrm>
            <a:off x="822960" y="5166360"/>
            <a:ext cx="2908748"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Which pool: undecided (OQ29)</a:t>
            </a:r>
          </a:p>
        </p:txBody>
      </p:sp>
      <p:sp>
        <p:nvSpPr>
          <p:cNvPr id="14"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5"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6"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Two engines cannot share a number. The game retries until it finds a free one.</a:t>
            </a:r>
          </a:p>
        </p:txBody>
      </p:sp>
      <p:sp>
        <p:nvSpPr>
          <p:cNvPr id="17"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17</a:t>
            </a:r>
          </a:p>
        </p:txBody>
      </p:sp>
    </p:spTree>
    <p:extLst>
      <p:ext uri="{BB962C8B-B14F-4D97-AF65-F5344CB8AC3E}">
        <p14:creationId xmlns:p14="http://schemas.microsoft.com/office/powerpoint/2010/main" val="38520221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6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9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12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Reuse and overflow</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Number reuse and overflow" descr="Left: a dismantled engine's number returns to the number pool. Right: when a pool is full, a clearly modern overflow number such as X-00001 is used. The number is an example only."/>
          <p:cNvGrpSpPr/>
          <p:nvPr/>
        </p:nvGrpSpPr>
        <p:grpSpPr>
          <a:xfrm>
            <a:off x="731520" y="1371600"/>
            <a:ext cx="10881360" cy="4069080"/>
            <a:chOff x="731520" y="1371600"/>
            <a:chExt cx="10881360" cy="4069080"/>
          </a:xfrm>
        </p:grpSpPr>
        <p:cxnSp>
          <p:nvCxnSpPr>
            <p:cNvPr id="5" name="divider"/>
            <p:cNvCxnSpPr/>
            <p:nvPr/>
          </p:nvCxnSpPr>
          <p:spPr>
            <a:xfrm>
              <a:off x="6080760" y="1371600"/>
              <a:ext cx="0" cy="4069080"/>
            </a:xfrm>
            <a:prstGeom prst="line">
              <a:avLst/>
            </a:prstGeom>
            <a:ln w="25400">
              <a:solidFill>
                <a:srgbClr val="4A515B"/>
              </a:solidFill>
              <a:prstDash val="dash"/>
            </a:ln>
          </p:spPr>
        </p:cxnSp>
        <p:grpSp>
          <p:nvGrpSpPr>
            <p:cNvPr id="6" name="dismantled engine" descr="Faded outline of a dismantled engine."/>
            <p:cNvGrpSpPr/>
            <p:nvPr/>
          </p:nvGrpSpPr>
          <p:grpSpPr>
            <a:xfrm>
              <a:off x="914400" y="1481328"/>
              <a:ext cx="3273552" cy="941832"/>
              <a:chOff x="914400" y="1481328"/>
              <a:chExt cx="3273552" cy="941832"/>
            </a:xfrm>
          </p:grpSpPr>
          <p:sp>
            <p:nvSpPr>
              <p:cNvPr id="7" name="tender frame"/>
              <p:cNvSpPr/>
              <p:nvPr/>
            </p:nvSpPr>
            <p:spPr>
              <a:xfrm>
                <a:off x="914400" y="2157984"/>
                <a:ext cx="749808" cy="82296"/>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8" name="tender body"/>
              <p:cNvSpPr/>
              <p:nvPr/>
            </p:nvSpPr>
            <p:spPr>
              <a:xfrm>
                <a:off x="914400" y="1856231"/>
                <a:ext cx="749808" cy="301752"/>
              </a:xfrm>
              <a:prstGeom prst="roundRect">
                <a:avLst>
                  <a:gd name="adj" fmla="val 3030"/>
                </a:avLst>
              </a:prstGeom>
              <a:solidFill>
                <a:srgbClr val="9AA0A6">
                  <a:alpha val="25000"/>
                </a:srgbClr>
              </a:solidFill>
              <a:ln w="15875">
                <a:solidFill>
                  <a:srgbClr val="A9B0B8"/>
                </a:solidFill>
                <a:prstDash val="dash"/>
              </a:ln>
            </p:spPr>
            <p:txBody>
              <a:bodyPr rtlCol="0" anchor="ctr"/>
              <a:lstStyle/>
              <a:p>
                <a:pPr algn="ctr"/>
                <a:endParaRPr/>
              </a:p>
            </p:txBody>
          </p:sp>
          <p:sp>
            <p:nvSpPr>
              <p:cNvPr id="9" name="tender coal"/>
              <p:cNvSpPr/>
              <p:nvPr/>
            </p:nvSpPr>
            <p:spPr>
              <a:xfrm>
                <a:off x="941832" y="1728216"/>
                <a:ext cx="694944" cy="128015"/>
              </a:xfrm>
              <a:custGeom>
                <a:avLst/>
                <a:gdLst/>
                <a:ahLst/>
                <a:cxnLst/>
                <a:rect l="l" t="t" r="r" b="b"/>
                <a:pathLst>
                  <a:path w="694944" h="128015">
                    <a:moveTo>
                      <a:pt x="0" y="128015"/>
                    </a:moveTo>
                    <a:lnTo>
                      <a:pt x="137160" y="9144"/>
                    </a:lnTo>
                    <a:lnTo>
                      <a:pt x="411480" y="0"/>
                    </a:lnTo>
                    <a:lnTo>
                      <a:pt x="694944" y="128015"/>
                    </a:lnTo>
                    <a:close/>
                  </a:path>
                </a:pathLst>
              </a:custGeom>
              <a:solidFill>
                <a:srgbClr val="9AA0A6">
                  <a:alpha val="25000"/>
                </a:srgbClr>
              </a:solidFill>
              <a:ln w="15875">
                <a:solidFill>
                  <a:srgbClr val="A9B0B8"/>
                </a:solidFill>
                <a:prstDash val="dash"/>
              </a:ln>
            </p:spPr>
            <p:txBody>
              <a:bodyPr rtlCol="0" anchor="ctr"/>
              <a:lstStyle/>
              <a:p>
                <a:pPr algn="ctr"/>
                <a:endParaRPr/>
              </a:p>
            </p:txBody>
          </p:sp>
          <p:sp>
            <p:nvSpPr>
              <p:cNvPr id="10" name="coupling"/>
              <p:cNvSpPr/>
              <p:nvPr/>
            </p:nvSpPr>
            <p:spPr>
              <a:xfrm>
                <a:off x="1664207" y="2048255"/>
                <a:ext cx="64007" cy="27431"/>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11" name="wheel"/>
              <p:cNvSpPr/>
              <p:nvPr/>
            </p:nvSpPr>
            <p:spPr>
              <a:xfrm>
                <a:off x="969264" y="2167127"/>
                <a:ext cx="256031" cy="256031"/>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12" name="hub"/>
              <p:cNvSpPr/>
              <p:nvPr/>
            </p:nvSpPr>
            <p:spPr>
              <a:xfrm>
                <a:off x="1063995" y="2261859"/>
                <a:ext cx="66568" cy="66568"/>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13" name="wheel"/>
              <p:cNvSpPr/>
              <p:nvPr/>
            </p:nvSpPr>
            <p:spPr>
              <a:xfrm>
                <a:off x="1353312" y="2167127"/>
                <a:ext cx="256031" cy="256031"/>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14" name="hub"/>
              <p:cNvSpPr/>
              <p:nvPr/>
            </p:nvSpPr>
            <p:spPr>
              <a:xfrm>
                <a:off x="1448043" y="2261859"/>
                <a:ext cx="66568" cy="66568"/>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15" name="frame"/>
              <p:cNvSpPr/>
              <p:nvPr/>
            </p:nvSpPr>
            <p:spPr>
              <a:xfrm>
                <a:off x="1728216" y="2157984"/>
                <a:ext cx="2404872" cy="82296"/>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16" name="cab"/>
              <p:cNvSpPr/>
              <p:nvPr/>
            </p:nvSpPr>
            <p:spPr>
              <a:xfrm>
                <a:off x="1728216" y="1655063"/>
                <a:ext cx="365760" cy="502920"/>
              </a:xfrm>
              <a:prstGeom prst="roundRect">
                <a:avLst>
                  <a:gd name="adj" fmla="val 2500"/>
                </a:avLst>
              </a:prstGeom>
              <a:solidFill>
                <a:srgbClr val="9AA0A6">
                  <a:alpha val="25000"/>
                </a:srgbClr>
              </a:solidFill>
              <a:ln w="15875">
                <a:solidFill>
                  <a:srgbClr val="A9B0B8"/>
                </a:solidFill>
                <a:prstDash val="dash"/>
              </a:ln>
            </p:spPr>
            <p:txBody>
              <a:bodyPr rtlCol="0" anchor="ctr"/>
              <a:lstStyle/>
              <a:p>
                <a:pPr algn="ctr"/>
                <a:endParaRPr/>
              </a:p>
            </p:txBody>
          </p:sp>
          <p:sp>
            <p:nvSpPr>
              <p:cNvPr id="17" name="cab roof"/>
              <p:cNvSpPr/>
              <p:nvPr/>
            </p:nvSpPr>
            <p:spPr>
              <a:xfrm>
                <a:off x="1709928" y="1609343"/>
                <a:ext cx="402336" cy="45720"/>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18" name="cab window"/>
              <p:cNvSpPr/>
              <p:nvPr/>
            </p:nvSpPr>
            <p:spPr>
              <a:xfrm>
                <a:off x="1819655" y="1728216"/>
                <a:ext cx="164592" cy="164592"/>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19" name="boiler"/>
              <p:cNvSpPr/>
              <p:nvPr/>
            </p:nvSpPr>
            <p:spPr>
              <a:xfrm>
                <a:off x="2093976" y="1700784"/>
                <a:ext cx="1856232" cy="365760"/>
              </a:xfrm>
              <a:prstGeom prst="roundRect">
                <a:avLst>
                  <a:gd name="adj" fmla="val 25000"/>
                </a:avLst>
              </a:prstGeom>
              <a:solidFill>
                <a:srgbClr val="9AA0A6">
                  <a:alpha val="25000"/>
                </a:srgbClr>
              </a:solidFill>
              <a:ln w="15875">
                <a:solidFill>
                  <a:srgbClr val="A9B0B8"/>
                </a:solidFill>
                <a:prstDash val="dash"/>
              </a:ln>
            </p:spPr>
            <p:txBody>
              <a:bodyPr rtlCol="0" anchor="ctr"/>
              <a:lstStyle/>
              <a:p>
                <a:pPr algn="ctr"/>
                <a:endParaRPr/>
              </a:p>
            </p:txBody>
          </p:sp>
          <p:sp>
            <p:nvSpPr>
              <p:cNvPr id="20" name="boiler band"/>
              <p:cNvSpPr/>
              <p:nvPr/>
            </p:nvSpPr>
            <p:spPr>
              <a:xfrm>
                <a:off x="2650845" y="1700784"/>
                <a:ext cx="12801" cy="365760"/>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21" name="boiler band"/>
              <p:cNvSpPr/>
              <p:nvPr/>
            </p:nvSpPr>
            <p:spPr>
              <a:xfrm>
                <a:off x="3114903" y="1700784"/>
                <a:ext cx="12801" cy="365760"/>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22" name="boiler band"/>
              <p:cNvSpPr/>
              <p:nvPr/>
            </p:nvSpPr>
            <p:spPr>
              <a:xfrm>
                <a:off x="3578961" y="1700784"/>
                <a:ext cx="12801" cy="365760"/>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23" name="smokebox"/>
              <p:cNvSpPr/>
              <p:nvPr/>
            </p:nvSpPr>
            <p:spPr>
              <a:xfrm>
                <a:off x="3950208" y="1700784"/>
                <a:ext cx="182880" cy="365760"/>
              </a:xfrm>
              <a:prstGeom prst="roundRect">
                <a:avLst>
                  <a:gd name="adj" fmla="val 12000"/>
                </a:avLst>
              </a:prstGeom>
              <a:solidFill>
                <a:srgbClr val="9AA0A6">
                  <a:alpha val="25000"/>
                </a:srgbClr>
              </a:solidFill>
              <a:ln w="15875">
                <a:solidFill>
                  <a:srgbClr val="A9B0B8"/>
                </a:solidFill>
                <a:prstDash val="dash"/>
              </a:ln>
            </p:spPr>
            <p:txBody>
              <a:bodyPr rtlCol="0" anchor="ctr"/>
              <a:lstStyle/>
              <a:p>
                <a:pPr algn="ctr"/>
                <a:endParaRPr/>
              </a:p>
            </p:txBody>
          </p:sp>
          <p:sp>
            <p:nvSpPr>
              <p:cNvPr id="24" name="chimney"/>
              <p:cNvSpPr/>
              <p:nvPr/>
            </p:nvSpPr>
            <p:spPr>
              <a:xfrm>
                <a:off x="3986784" y="1508760"/>
                <a:ext cx="109728" cy="192023"/>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25" name="chimney lip"/>
              <p:cNvSpPr/>
              <p:nvPr/>
            </p:nvSpPr>
            <p:spPr>
              <a:xfrm>
                <a:off x="3959352" y="1481328"/>
                <a:ext cx="164592" cy="45720"/>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26" name="dome"/>
              <p:cNvSpPr/>
              <p:nvPr/>
            </p:nvSpPr>
            <p:spPr>
              <a:xfrm>
                <a:off x="2836468" y="1600200"/>
                <a:ext cx="164592" cy="100583"/>
              </a:xfrm>
              <a:prstGeom prst="roundRect">
                <a:avLst>
                  <a:gd name="adj" fmla="val 36363"/>
                </a:avLst>
              </a:prstGeom>
              <a:solidFill>
                <a:srgbClr val="9AA0A6">
                  <a:alpha val="25000"/>
                </a:srgbClr>
              </a:solidFill>
              <a:ln w="15875">
                <a:solidFill>
                  <a:srgbClr val="A9B0B8"/>
                </a:solidFill>
                <a:prstDash val="dash"/>
              </a:ln>
            </p:spPr>
            <p:txBody>
              <a:bodyPr rtlCol="0" anchor="ctr"/>
              <a:lstStyle/>
              <a:p>
                <a:pPr algn="ctr"/>
                <a:endParaRPr/>
              </a:p>
            </p:txBody>
          </p:sp>
          <p:sp>
            <p:nvSpPr>
              <p:cNvPr id="27" name="wheel"/>
              <p:cNvSpPr/>
              <p:nvPr/>
            </p:nvSpPr>
            <p:spPr>
              <a:xfrm>
                <a:off x="1755648" y="2057399"/>
                <a:ext cx="365760" cy="365760"/>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28" name="hub"/>
              <p:cNvSpPr/>
              <p:nvPr/>
            </p:nvSpPr>
            <p:spPr>
              <a:xfrm>
                <a:off x="1890979" y="2192731"/>
                <a:ext cx="95097" cy="95097"/>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29" name="wheel"/>
              <p:cNvSpPr/>
              <p:nvPr/>
            </p:nvSpPr>
            <p:spPr>
              <a:xfrm>
                <a:off x="2167128" y="2057399"/>
                <a:ext cx="365760" cy="365760"/>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30" name="hub"/>
              <p:cNvSpPr/>
              <p:nvPr/>
            </p:nvSpPr>
            <p:spPr>
              <a:xfrm>
                <a:off x="2302459" y="2192731"/>
                <a:ext cx="95097" cy="95097"/>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31" name="wheel"/>
              <p:cNvSpPr/>
              <p:nvPr/>
            </p:nvSpPr>
            <p:spPr>
              <a:xfrm>
                <a:off x="2578608" y="2057399"/>
                <a:ext cx="365760" cy="365760"/>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32" name="hub"/>
              <p:cNvSpPr/>
              <p:nvPr/>
            </p:nvSpPr>
            <p:spPr>
              <a:xfrm>
                <a:off x="2713939" y="2192731"/>
                <a:ext cx="95097" cy="95097"/>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33" name="wheel"/>
              <p:cNvSpPr/>
              <p:nvPr/>
            </p:nvSpPr>
            <p:spPr>
              <a:xfrm>
                <a:off x="2990088" y="2057399"/>
                <a:ext cx="365760" cy="365760"/>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34" name="hub"/>
              <p:cNvSpPr/>
              <p:nvPr/>
            </p:nvSpPr>
            <p:spPr>
              <a:xfrm>
                <a:off x="3125419" y="2192731"/>
                <a:ext cx="95097" cy="95097"/>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35" name="wheel"/>
              <p:cNvSpPr/>
              <p:nvPr/>
            </p:nvSpPr>
            <p:spPr>
              <a:xfrm>
                <a:off x="3493008" y="2221992"/>
                <a:ext cx="201168" cy="201168"/>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36" name="hub"/>
              <p:cNvSpPr/>
              <p:nvPr/>
            </p:nvSpPr>
            <p:spPr>
              <a:xfrm>
                <a:off x="3567440" y="2296424"/>
                <a:ext cx="52303" cy="52303"/>
              </a:xfrm>
              <a:prstGeom prst="ellipse">
                <a:avLst/>
              </a:prstGeom>
              <a:solidFill>
                <a:srgbClr val="9AA0A6">
                  <a:alpha val="25000"/>
                </a:srgbClr>
              </a:solidFill>
              <a:ln w="15875">
                <a:solidFill>
                  <a:srgbClr val="A9B0B8"/>
                </a:solidFill>
                <a:prstDash val="dash"/>
              </a:ln>
            </p:spPr>
            <p:txBody>
              <a:bodyPr rtlCol="0" anchor="ctr"/>
              <a:lstStyle/>
              <a:p>
                <a:pPr algn="ctr"/>
                <a:endParaRPr/>
              </a:p>
            </p:txBody>
          </p:sp>
          <p:sp>
            <p:nvSpPr>
              <p:cNvPr id="37" name="coupling rod"/>
              <p:cNvSpPr/>
              <p:nvPr/>
            </p:nvSpPr>
            <p:spPr>
              <a:xfrm>
                <a:off x="1938528" y="2136038"/>
                <a:ext cx="1234440" cy="25603"/>
              </a:xfrm>
              <a:prstGeom prst="rect">
                <a:avLst/>
              </a:prstGeom>
              <a:solidFill>
                <a:srgbClr val="9AA0A6">
                  <a:alpha val="25000"/>
                </a:srgbClr>
              </a:solidFill>
              <a:ln w="15875">
                <a:solidFill>
                  <a:srgbClr val="A9B0B8"/>
                </a:solidFill>
                <a:prstDash val="dash"/>
              </a:ln>
            </p:spPr>
            <p:txBody>
              <a:bodyPr rtlCol="0" anchor="ctr"/>
              <a:lstStyle/>
              <a:p>
                <a:pPr algn="ctr"/>
                <a:endParaRPr/>
              </a:p>
            </p:txBody>
          </p:sp>
          <p:sp>
            <p:nvSpPr>
              <p:cNvPr id="38" name="buffer beam"/>
              <p:cNvSpPr/>
              <p:nvPr/>
            </p:nvSpPr>
            <p:spPr>
              <a:xfrm>
                <a:off x="4133088" y="2075688"/>
                <a:ext cx="54864" cy="164592"/>
              </a:xfrm>
              <a:prstGeom prst="rect">
                <a:avLst/>
              </a:prstGeom>
              <a:solidFill>
                <a:srgbClr val="9AA0A6">
                  <a:alpha val="25000"/>
                </a:srgbClr>
              </a:solidFill>
              <a:ln w="15875">
                <a:solidFill>
                  <a:srgbClr val="A9B0B8"/>
                </a:solidFill>
                <a:prstDash val="dash"/>
              </a:ln>
            </p:spPr>
            <p:txBody>
              <a:bodyPr rtlCol="0" anchor="ctr"/>
              <a:lstStyle/>
              <a:p>
                <a:pPr algn="ctr"/>
                <a:endParaRPr/>
              </a:p>
            </p:txBody>
          </p:sp>
        </p:grpSp>
        <p:sp>
          <p:nvSpPr>
            <p:cNvPr id="39" name="rail"/>
            <p:cNvSpPr/>
            <p:nvPr/>
          </p:nvSpPr>
          <p:spPr>
            <a:xfrm>
              <a:off x="731520" y="2423160"/>
              <a:ext cx="3840480" cy="64008"/>
            </a:xfrm>
            <a:prstGeom prst="rect">
              <a:avLst/>
            </a:prstGeom>
            <a:solidFill>
              <a:srgbClr val="9AA0A6"/>
            </a:solidFill>
            <a:ln>
              <a:noFill/>
            </a:ln>
          </p:spPr>
          <p:txBody>
            <a:bodyPr rtlCol="0" anchor="ctr"/>
            <a:lstStyle/>
            <a:p>
              <a:pPr algn="ctr"/>
              <a:endParaRPr/>
            </a:p>
          </p:txBody>
        </p:sp>
        <p:sp>
          <p:nvSpPr>
            <p:cNvPr id="40" name="engine label"/>
            <p:cNvSpPr txBox="1"/>
            <p:nvPr/>
          </p:nvSpPr>
          <p:spPr>
            <a:xfrm>
              <a:off x="914400" y="2514600"/>
              <a:ext cx="329184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Dismantled</a:t>
              </a:r>
            </a:p>
          </p:txBody>
        </p:sp>
        <p:sp>
          <p:nvSpPr>
            <p:cNvPr id="41" name="number pool"/>
            <p:cNvSpPr/>
            <p:nvPr/>
          </p:nvSpPr>
          <p:spPr>
            <a:xfrm>
              <a:off x="914400" y="3749039"/>
              <a:ext cx="3474720" cy="1280160"/>
            </a:xfrm>
            <a:prstGeom prst="roundRect">
              <a:avLst>
                <a:gd name="adj" fmla="val 7142"/>
              </a:avLst>
            </a:prstGeom>
            <a:solidFill>
              <a:srgbClr val="2B2F36"/>
            </a:solidFill>
            <a:ln w="25400">
              <a:solidFill>
                <a:srgbClr val="9AA0A6"/>
              </a:solidFill>
            </a:ln>
          </p:spPr>
          <p:txBody>
            <a:bodyPr rtlCol="0" anchor="ctr"/>
            <a:lstStyle/>
            <a:p>
              <a:pPr algn="ctr"/>
              <a:endParaRPr/>
            </a:p>
          </p:txBody>
        </p:sp>
        <p:sp>
          <p:nvSpPr>
            <p:cNvPr id="42" name="slot full"/>
            <p:cNvSpPr/>
            <p:nvPr/>
          </p:nvSpPr>
          <p:spPr>
            <a:xfrm>
              <a:off x="1124712" y="3959351"/>
              <a:ext cx="694944" cy="225552"/>
            </a:xfrm>
            <a:prstGeom prst="roundRect">
              <a:avLst>
                <a:gd name="adj" fmla="val 16216"/>
              </a:avLst>
            </a:prstGeom>
            <a:solidFill>
              <a:srgbClr val="C96F1B"/>
            </a:solidFill>
            <a:ln>
              <a:noFill/>
            </a:ln>
          </p:spPr>
          <p:txBody>
            <a:bodyPr rtlCol="0" anchor="ctr"/>
            <a:lstStyle/>
            <a:p>
              <a:pPr algn="ctr"/>
              <a:endParaRPr/>
            </a:p>
          </p:txBody>
        </p:sp>
        <p:sp>
          <p:nvSpPr>
            <p:cNvPr id="43" name="slot free"/>
            <p:cNvSpPr/>
            <p:nvPr/>
          </p:nvSpPr>
          <p:spPr>
            <a:xfrm>
              <a:off x="1911095" y="3959351"/>
              <a:ext cx="694944" cy="225552"/>
            </a:xfrm>
            <a:prstGeom prst="roundRect">
              <a:avLst>
                <a:gd name="adj" fmla="val 16216"/>
              </a:avLst>
            </a:prstGeom>
            <a:noFill/>
            <a:ln w="25400">
              <a:solidFill>
                <a:srgbClr val="F2C14E"/>
              </a:solidFill>
              <a:prstDash val="dash"/>
            </a:ln>
          </p:spPr>
          <p:txBody>
            <a:bodyPr rtlCol="0" anchor="ctr"/>
            <a:lstStyle/>
            <a:p>
              <a:pPr algn="ctr"/>
              <a:endParaRPr/>
            </a:p>
          </p:txBody>
        </p:sp>
        <p:sp>
          <p:nvSpPr>
            <p:cNvPr id="44" name="slot full"/>
            <p:cNvSpPr/>
            <p:nvPr/>
          </p:nvSpPr>
          <p:spPr>
            <a:xfrm>
              <a:off x="2697479" y="3959351"/>
              <a:ext cx="694944" cy="225552"/>
            </a:xfrm>
            <a:prstGeom prst="roundRect">
              <a:avLst>
                <a:gd name="adj" fmla="val 16216"/>
              </a:avLst>
            </a:prstGeom>
            <a:solidFill>
              <a:srgbClr val="C96F1B"/>
            </a:solidFill>
            <a:ln>
              <a:noFill/>
            </a:ln>
          </p:spPr>
          <p:txBody>
            <a:bodyPr rtlCol="0" anchor="ctr"/>
            <a:lstStyle/>
            <a:p>
              <a:pPr algn="ctr"/>
              <a:endParaRPr/>
            </a:p>
          </p:txBody>
        </p:sp>
        <p:sp>
          <p:nvSpPr>
            <p:cNvPr id="45" name="slot full"/>
            <p:cNvSpPr/>
            <p:nvPr/>
          </p:nvSpPr>
          <p:spPr>
            <a:xfrm>
              <a:off x="3483863" y="3959351"/>
              <a:ext cx="694944" cy="225552"/>
            </a:xfrm>
            <a:prstGeom prst="roundRect">
              <a:avLst>
                <a:gd name="adj" fmla="val 16216"/>
              </a:avLst>
            </a:prstGeom>
            <a:solidFill>
              <a:srgbClr val="C96F1B"/>
            </a:solidFill>
            <a:ln>
              <a:noFill/>
            </a:ln>
          </p:spPr>
          <p:txBody>
            <a:bodyPr rtlCol="0" anchor="ctr"/>
            <a:lstStyle/>
            <a:p>
              <a:pPr algn="ctr"/>
              <a:endParaRPr/>
            </a:p>
          </p:txBody>
        </p:sp>
        <p:sp>
          <p:nvSpPr>
            <p:cNvPr id="46" name="slot full"/>
            <p:cNvSpPr/>
            <p:nvPr/>
          </p:nvSpPr>
          <p:spPr>
            <a:xfrm>
              <a:off x="1124712" y="4276343"/>
              <a:ext cx="694944" cy="225552"/>
            </a:xfrm>
            <a:prstGeom prst="roundRect">
              <a:avLst>
                <a:gd name="adj" fmla="val 16216"/>
              </a:avLst>
            </a:prstGeom>
            <a:solidFill>
              <a:srgbClr val="C96F1B"/>
            </a:solidFill>
            <a:ln>
              <a:noFill/>
            </a:ln>
          </p:spPr>
          <p:txBody>
            <a:bodyPr rtlCol="0" anchor="ctr"/>
            <a:lstStyle/>
            <a:p>
              <a:pPr algn="ctr"/>
              <a:endParaRPr/>
            </a:p>
          </p:txBody>
        </p:sp>
        <p:sp>
          <p:nvSpPr>
            <p:cNvPr id="47" name="slot full"/>
            <p:cNvSpPr/>
            <p:nvPr/>
          </p:nvSpPr>
          <p:spPr>
            <a:xfrm>
              <a:off x="1911095" y="4276343"/>
              <a:ext cx="694944" cy="225552"/>
            </a:xfrm>
            <a:prstGeom prst="roundRect">
              <a:avLst>
                <a:gd name="adj" fmla="val 16216"/>
              </a:avLst>
            </a:prstGeom>
            <a:solidFill>
              <a:srgbClr val="C96F1B"/>
            </a:solidFill>
            <a:ln>
              <a:noFill/>
            </a:ln>
          </p:spPr>
          <p:txBody>
            <a:bodyPr rtlCol="0" anchor="ctr"/>
            <a:lstStyle/>
            <a:p>
              <a:pPr algn="ctr"/>
              <a:endParaRPr/>
            </a:p>
          </p:txBody>
        </p:sp>
        <p:sp>
          <p:nvSpPr>
            <p:cNvPr id="48" name="slot full"/>
            <p:cNvSpPr/>
            <p:nvPr/>
          </p:nvSpPr>
          <p:spPr>
            <a:xfrm>
              <a:off x="2697479" y="4276343"/>
              <a:ext cx="694944" cy="225552"/>
            </a:xfrm>
            <a:prstGeom prst="roundRect">
              <a:avLst>
                <a:gd name="adj" fmla="val 16216"/>
              </a:avLst>
            </a:prstGeom>
            <a:solidFill>
              <a:srgbClr val="C96F1B"/>
            </a:solidFill>
            <a:ln>
              <a:noFill/>
            </a:ln>
          </p:spPr>
          <p:txBody>
            <a:bodyPr rtlCol="0" anchor="ctr"/>
            <a:lstStyle/>
            <a:p>
              <a:pPr algn="ctr"/>
              <a:endParaRPr/>
            </a:p>
          </p:txBody>
        </p:sp>
        <p:sp>
          <p:nvSpPr>
            <p:cNvPr id="49" name="slot full"/>
            <p:cNvSpPr/>
            <p:nvPr/>
          </p:nvSpPr>
          <p:spPr>
            <a:xfrm>
              <a:off x="3483863" y="4276343"/>
              <a:ext cx="694944" cy="225552"/>
            </a:xfrm>
            <a:prstGeom prst="roundRect">
              <a:avLst>
                <a:gd name="adj" fmla="val 16216"/>
              </a:avLst>
            </a:prstGeom>
            <a:solidFill>
              <a:srgbClr val="C96F1B"/>
            </a:solidFill>
            <a:ln>
              <a:noFill/>
            </a:ln>
          </p:spPr>
          <p:txBody>
            <a:bodyPr rtlCol="0" anchor="ctr"/>
            <a:lstStyle/>
            <a:p>
              <a:pPr algn="ctr"/>
              <a:endParaRPr/>
            </a:p>
          </p:txBody>
        </p:sp>
        <p:sp>
          <p:nvSpPr>
            <p:cNvPr id="50" name="slot full"/>
            <p:cNvSpPr/>
            <p:nvPr/>
          </p:nvSpPr>
          <p:spPr>
            <a:xfrm>
              <a:off x="1124712" y="4593335"/>
              <a:ext cx="694944" cy="225552"/>
            </a:xfrm>
            <a:prstGeom prst="roundRect">
              <a:avLst>
                <a:gd name="adj" fmla="val 16216"/>
              </a:avLst>
            </a:prstGeom>
            <a:solidFill>
              <a:srgbClr val="C96F1B"/>
            </a:solidFill>
            <a:ln>
              <a:noFill/>
            </a:ln>
          </p:spPr>
          <p:txBody>
            <a:bodyPr rtlCol="0" anchor="ctr"/>
            <a:lstStyle/>
            <a:p>
              <a:pPr algn="ctr"/>
              <a:endParaRPr/>
            </a:p>
          </p:txBody>
        </p:sp>
        <p:sp>
          <p:nvSpPr>
            <p:cNvPr id="51" name="slot full"/>
            <p:cNvSpPr/>
            <p:nvPr/>
          </p:nvSpPr>
          <p:spPr>
            <a:xfrm>
              <a:off x="1911095" y="4593335"/>
              <a:ext cx="694944" cy="225552"/>
            </a:xfrm>
            <a:prstGeom prst="roundRect">
              <a:avLst>
                <a:gd name="adj" fmla="val 16216"/>
              </a:avLst>
            </a:prstGeom>
            <a:solidFill>
              <a:srgbClr val="C96F1B"/>
            </a:solidFill>
            <a:ln>
              <a:noFill/>
            </a:ln>
          </p:spPr>
          <p:txBody>
            <a:bodyPr rtlCol="0" anchor="ctr"/>
            <a:lstStyle/>
            <a:p>
              <a:pPr algn="ctr"/>
              <a:endParaRPr/>
            </a:p>
          </p:txBody>
        </p:sp>
        <p:sp>
          <p:nvSpPr>
            <p:cNvPr id="52" name="slot full"/>
            <p:cNvSpPr/>
            <p:nvPr/>
          </p:nvSpPr>
          <p:spPr>
            <a:xfrm>
              <a:off x="2697479" y="4593335"/>
              <a:ext cx="694944" cy="225552"/>
            </a:xfrm>
            <a:prstGeom prst="roundRect">
              <a:avLst>
                <a:gd name="adj" fmla="val 16216"/>
              </a:avLst>
            </a:prstGeom>
            <a:solidFill>
              <a:srgbClr val="C96F1B"/>
            </a:solidFill>
            <a:ln>
              <a:noFill/>
            </a:ln>
          </p:spPr>
          <p:txBody>
            <a:bodyPr rtlCol="0" anchor="ctr"/>
            <a:lstStyle/>
            <a:p>
              <a:pPr algn="ctr"/>
              <a:endParaRPr/>
            </a:p>
          </p:txBody>
        </p:sp>
        <p:sp>
          <p:nvSpPr>
            <p:cNvPr id="53" name="slot full"/>
            <p:cNvSpPr/>
            <p:nvPr/>
          </p:nvSpPr>
          <p:spPr>
            <a:xfrm>
              <a:off x="3483863" y="4593335"/>
              <a:ext cx="694944" cy="225552"/>
            </a:xfrm>
            <a:prstGeom prst="roundRect">
              <a:avLst>
                <a:gd name="adj" fmla="val 16216"/>
              </a:avLst>
            </a:prstGeom>
            <a:solidFill>
              <a:srgbClr val="C96F1B"/>
            </a:solidFill>
            <a:ln>
              <a:noFill/>
            </a:ln>
          </p:spPr>
          <p:txBody>
            <a:bodyPr rtlCol="0" anchor="ctr"/>
            <a:lstStyle/>
            <a:p>
              <a:pPr algn="ctr"/>
              <a:endParaRPr/>
            </a:p>
          </p:txBody>
        </p:sp>
        <p:sp>
          <p:nvSpPr>
            <p:cNvPr id="54" name="number plate (blank)"/>
            <p:cNvSpPr/>
            <p:nvPr/>
          </p:nvSpPr>
          <p:spPr>
            <a:xfrm>
              <a:off x="1600200" y="3017520"/>
              <a:ext cx="822960" cy="384048"/>
            </a:xfrm>
            <a:prstGeom prst="roundRect">
              <a:avLst>
                <a:gd name="adj" fmla="val 19047"/>
              </a:avLst>
            </a:prstGeom>
            <a:solidFill>
              <a:srgbClr val="1B1D21"/>
            </a:solidFill>
            <a:ln w="25400">
              <a:solidFill>
                <a:srgbClr val="F28C28"/>
              </a:solidFill>
            </a:ln>
          </p:spPr>
          <p:txBody>
            <a:bodyPr rtlCol="0" anchor="ctr"/>
            <a:lstStyle/>
            <a:p>
              <a:pPr algn="ctr"/>
              <a:endParaRPr/>
            </a:p>
          </p:txBody>
        </p:sp>
        <p:sp>
          <p:nvSpPr>
            <p:cNvPr id="55" name="digit bar"/>
            <p:cNvSpPr/>
            <p:nvPr/>
          </p:nvSpPr>
          <p:spPr>
            <a:xfrm>
              <a:off x="1764792" y="3132734"/>
              <a:ext cx="115214" cy="153619"/>
            </a:xfrm>
            <a:prstGeom prst="rect">
              <a:avLst/>
            </a:prstGeom>
            <a:solidFill>
              <a:srgbClr val="A9B0B8"/>
            </a:solidFill>
            <a:ln>
              <a:noFill/>
            </a:ln>
          </p:spPr>
          <p:txBody>
            <a:bodyPr rtlCol="0" anchor="ctr"/>
            <a:lstStyle/>
            <a:p>
              <a:pPr algn="ctr"/>
              <a:endParaRPr/>
            </a:p>
          </p:txBody>
        </p:sp>
        <p:sp>
          <p:nvSpPr>
            <p:cNvPr id="56" name="digit bar"/>
            <p:cNvSpPr/>
            <p:nvPr/>
          </p:nvSpPr>
          <p:spPr>
            <a:xfrm>
              <a:off x="1945843" y="3132734"/>
              <a:ext cx="115214" cy="153619"/>
            </a:xfrm>
            <a:prstGeom prst="rect">
              <a:avLst/>
            </a:prstGeom>
            <a:solidFill>
              <a:srgbClr val="A9B0B8"/>
            </a:solidFill>
            <a:ln>
              <a:noFill/>
            </a:ln>
          </p:spPr>
          <p:txBody>
            <a:bodyPr rtlCol="0" anchor="ctr"/>
            <a:lstStyle/>
            <a:p>
              <a:pPr algn="ctr"/>
              <a:endParaRPr/>
            </a:p>
          </p:txBody>
        </p:sp>
        <p:sp>
          <p:nvSpPr>
            <p:cNvPr id="57" name="digit bar"/>
            <p:cNvSpPr/>
            <p:nvPr/>
          </p:nvSpPr>
          <p:spPr>
            <a:xfrm>
              <a:off x="2126894" y="3132734"/>
              <a:ext cx="115214" cy="153619"/>
            </a:xfrm>
            <a:prstGeom prst="rect">
              <a:avLst/>
            </a:prstGeom>
            <a:solidFill>
              <a:srgbClr val="A9B0B8"/>
            </a:solidFill>
            <a:ln>
              <a:noFill/>
            </a:ln>
          </p:spPr>
          <p:txBody>
            <a:bodyPr rtlCol="0" anchor="ctr"/>
            <a:lstStyle/>
            <a:p>
              <a:pPr algn="ctr"/>
              <a:endParaRPr/>
            </a:p>
          </p:txBody>
        </p:sp>
        <p:cxnSp>
          <p:nvCxnSpPr>
            <p:cNvPr id="58" name="return arrow"/>
            <p:cNvCxnSpPr/>
            <p:nvPr/>
          </p:nvCxnSpPr>
          <p:spPr>
            <a:xfrm>
              <a:off x="2011680" y="3419856"/>
              <a:ext cx="0" cy="493776"/>
            </a:xfrm>
            <a:prstGeom prst="line">
              <a:avLst/>
            </a:prstGeom>
            <a:ln w="38100">
              <a:solidFill>
                <a:srgbClr val="F28C28"/>
              </a:solidFill>
              <a:tailEnd type="triangle" w="med" len="med"/>
            </a:ln>
          </p:spPr>
        </p:cxnSp>
        <p:sp>
          <p:nvSpPr>
            <p:cNvPr id="59" name="pool label"/>
            <p:cNvSpPr txBox="1"/>
            <p:nvPr/>
          </p:nvSpPr>
          <p:spPr>
            <a:xfrm>
              <a:off x="914400" y="5074920"/>
              <a:ext cx="347472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Number pool</a:t>
              </a:r>
            </a:p>
          </p:txBody>
        </p:sp>
        <p:sp>
          <p:nvSpPr>
            <p:cNvPr id="60" name="full pool"/>
            <p:cNvSpPr/>
            <p:nvPr/>
          </p:nvSpPr>
          <p:spPr>
            <a:xfrm>
              <a:off x="6766560" y="1417320"/>
              <a:ext cx="3474720" cy="1280160"/>
            </a:xfrm>
            <a:prstGeom prst="roundRect">
              <a:avLst>
                <a:gd name="adj" fmla="val 7142"/>
              </a:avLst>
            </a:prstGeom>
            <a:solidFill>
              <a:srgbClr val="2B2F36"/>
            </a:solidFill>
            <a:ln w="25400">
              <a:solidFill>
                <a:srgbClr val="9AA0A6"/>
              </a:solidFill>
            </a:ln>
          </p:spPr>
          <p:txBody>
            <a:bodyPr rtlCol="0" anchor="ctr"/>
            <a:lstStyle/>
            <a:p>
              <a:pPr algn="ctr"/>
              <a:endParaRPr/>
            </a:p>
          </p:txBody>
        </p:sp>
        <p:sp>
          <p:nvSpPr>
            <p:cNvPr id="61" name="slot full"/>
            <p:cNvSpPr/>
            <p:nvPr/>
          </p:nvSpPr>
          <p:spPr>
            <a:xfrm>
              <a:off x="6976872" y="1627632"/>
              <a:ext cx="694944" cy="225552"/>
            </a:xfrm>
            <a:prstGeom prst="roundRect">
              <a:avLst>
                <a:gd name="adj" fmla="val 16216"/>
              </a:avLst>
            </a:prstGeom>
            <a:solidFill>
              <a:srgbClr val="C96F1B"/>
            </a:solidFill>
            <a:ln>
              <a:noFill/>
            </a:ln>
          </p:spPr>
          <p:txBody>
            <a:bodyPr rtlCol="0" anchor="ctr"/>
            <a:lstStyle/>
            <a:p>
              <a:pPr algn="ctr"/>
              <a:endParaRPr/>
            </a:p>
          </p:txBody>
        </p:sp>
        <p:sp>
          <p:nvSpPr>
            <p:cNvPr id="62" name="slot full"/>
            <p:cNvSpPr/>
            <p:nvPr/>
          </p:nvSpPr>
          <p:spPr>
            <a:xfrm>
              <a:off x="7763256" y="1627632"/>
              <a:ext cx="694944" cy="225552"/>
            </a:xfrm>
            <a:prstGeom prst="roundRect">
              <a:avLst>
                <a:gd name="adj" fmla="val 16216"/>
              </a:avLst>
            </a:prstGeom>
            <a:solidFill>
              <a:srgbClr val="C96F1B"/>
            </a:solidFill>
            <a:ln>
              <a:noFill/>
            </a:ln>
          </p:spPr>
          <p:txBody>
            <a:bodyPr rtlCol="0" anchor="ctr"/>
            <a:lstStyle/>
            <a:p>
              <a:pPr algn="ctr"/>
              <a:endParaRPr/>
            </a:p>
          </p:txBody>
        </p:sp>
        <p:sp>
          <p:nvSpPr>
            <p:cNvPr id="63" name="slot full"/>
            <p:cNvSpPr/>
            <p:nvPr/>
          </p:nvSpPr>
          <p:spPr>
            <a:xfrm>
              <a:off x="8549640" y="1627632"/>
              <a:ext cx="694944" cy="225552"/>
            </a:xfrm>
            <a:prstGeom prst="roundRect">
              <a:avLst>
                <a:gd name="adj" fmla="val 16216"/>
              </a:avLst>
            </a:prstGeom>
            <a:solidFill>
              <a:srgbClr val="C96F1B"/>
            </a:solidFill>
            <a:ln>
              <a:noFill/>
            </a:ln>
          </p:spPr>
          <p:txBody>
            <a:bodyPr rtlCol="0" anchor="ctr"/>
            <a:lstStyle/>
            <a:p>
              <a:pPr algn="ctr"/>
              <a:endParaRPr/>
            </a:p>
          </p:txBody>
        </p:sp>
        <p:sp>
          <p:nvSpPr>
            <p:cNvPr id="64" name="slot full"/>
            <p:cNvSpPr/>
            <p:nvPr/>
          </p:nvSpPr>
          <p:spPr>
            <a:xfrm>
              <a:off x="9336024" y="1627632"/>
              <a:ext cx="694944" cy="225552"/>
            </a:xfrm>
            <a:prstGeom prst="roundRect">
              <a:avLst>
                <a:gd name="adj" fmla="val 16216"/>
              </a:avLst>
            </a:prstGeom>
            <a:solidFill>
              <a:srgbClr val="C96F1B"/>
            </a:solidFill>
            <a:ln>
              <a:noFill/>
            </a:ln>
          </p:spPr>
          <p:txBody>
            <a:bodyPr rtlCol="0" anchor="ctr"/>
            <a:lstStyle/>
            <a:p>
              <a:pPr algn="ctr"/>
              <a:endParaRPr/>
            </a:p>
          </p:txBody>
        </p:sp>
        <p:sp>
          <p:nvSpPr>
            <p:cNvPr id="65" name="slot full"/>
            <p:cNvSpPr/>
            <p:nvPr/>
          </p:nvSpPr>
          <p:spPr>
            <a:xfrm>
              <a:off x="6976872" y="1944623"/>
              <a:ext cx="694944" cy="225552"/>
            </a:xfrm>
            <a:prstGeom prst="roundRect">
              <a:avLst>
                <a:gd name="adj" fmla="val 16216"/>
              </a:avLst>
            </a:prstGeom>
            <a:solidFill>
              <a:srgbClr val="C96F1B"/>
            </a:solidFill>
            <a:ln>
              <a:noFill/>
            </a:ln>
          </p:spPr>
          <p:txBody>
            <a:bodyPr rtlCol="0" anchor="ctr"/>
            <a:lstStyle/>
            <a:p>
              <a:pPr algn="ctr"/>
              <a:endParaRPr/>
            </a:p>
          </p:txBody>
        </p:sp>
        <p:sp>
          <p:nvSpPr>
            <p:cNvPr id="66" name="slot full"/>
            <p:cNvSpPr/>
            <p:nvPr/>
          </p:nvSpPr>
          <p:spPr>
            <a:xfrm>
              <a:off x="7763256" y="1944623"/>
              <a:ext cx="694944" cy="225552"/>
            </a:xfrm>
            <a:prstGeom prst="roundRect">
              <a:avLst>
                <a:gd name="adj" fmla="val 16216"/>
              </a:avLst>
            </a:prstGeom>
            <a:solidFill>
              <a:srgbClr val="C96F1B"/>
            </a:solidFill>
            <a:ln>
              <a:noFill/>
            </a:ln>
          </p:spPr>
          <p:txBody>
            <a:bodyPr rtlCol="0" anchor="ctr"/>
            <a:lstStyle/>
            <a:p>
              <a:pPr algn="ctr"/>
              <a:endParaRPr/>
            </a:p>
          </p:txBody>
        </p:sp>
        <p:sp>
          <p:nvSpPr>
            <p:cNvPr id="67" name="slot full"/>
            <p:cNvSpPr/>
            <p:nvPr/>
          </p:nvSpPr>
          <p:spPr>
            <a:xfrm>
              <a:off x="8549640" y="1944623"/>
              <a:ext cx="694944" cy="225552"/>
            </a:xfrm>
            <a:prstGeom prst="roundRect">
              <a:avLst>
                <a:gd name="adj" fmla="val 16216"/>
              </a:avLst>
            </a:prstGeom>
            <a:solidFill>
              <a:srgbClr val="C96F1B"/>
            </a:solidFill>
            <a:ln>
              <a:noFill/>
            </a:ln>
          </p:spPr>
          <p:txBody>
            <a:bodyPr rtlCol="0" anchor="ctr"/>
            <a:lstStyle/>
            <a:p>
              <a:pPr algn="ctr"/>
              <a:endParaRPr/>
            </a:p>
          </p:txBody>
        </p:sp>
        <p:sp>
          <p:nvSpPr>
            <p:cNvPr id="68" name="slot full"/>
            <p:cNvSpPr/>
            <p:nvPr/>
          </p:nvSpPr>
          <p:spPr>
            <a:xfrm>
              <a:off x="9336024" y="1944623"/>
              <a:ext cx="694944" cy="225552"/>
            </a:xfrm>
            <a:prstGeom prst="roundRect">
              <a:avLst>
                <a:gd name="adj" fmla="val 16216"/>
              </a:avLst>
            </a:prstGeom>
            <a:solidFill>
              <a:srgbClr val="C96F1B"/>
            </a:solidFill>
            <a:ln>
              <a:noFill/>
            </a:ln>
          </p:spPr>
          <p:txBody>
            <a:bodyPr rtlCol="0" anchor="ctr"/>
            <a:lstStyle/>
            <a:p>
              <a:pPr algn="ctr"/>
              <a:endParaRPr/>
            </a:p>
          </p:txBody>
        </p:sp>
        <p:sp>
          <p:nvSpPr>
            <p:cNvPr id="69" name="slot full"/>
            <p:cNvSpPr/>
            <p:nvPr/>
          </p:nvSpPr>
          <p:spPr>
            <a:xfrm>
              <a:off x="6976872" y="2261616"/>
              <a:ext cx="694944" cy="225552"/>
            </a:xfrm>
            <a:prstGeom prst="roundRect">
              <a:avLst>
                <a:gd name="adj" fmla="val 16216"/>
              </a:avLst>
            </a:prstGeom>
            <a:solidFill>
              <a:srgbClr val="C96F1B"/>
            </a:solidFill>
            <a:ln>
              <a:noFill/>
            </a:ln>
          </p:spPr>
          <p:txBody>
            <a:bodyPr rtlCol="0" anchor="ctr"/>
            <a:lstStyle/>
            <a:p>
              <a:pPr algn="ctr"/>
              <a:endParaRPr/>
            </a:p>
          </p:txBody>
        </p:sp>
        <p:sp>
          <p:nvSpPr>
            <p:cNvPr id="70" name="slot full"/>
            <p:cNvSpPr/>
            <p:nvPr/>
          </p:nvSpPr>
          <p:spPr>
            <a:xfrm>
              <a:off x="7763256" y="2261616"/>
              <a:ext cx="694944" cy="225552"/>
            </a:xfrm>
            <a:prstGeom prst="roundRect">
              <a:avLst>
                <a:gd name="adj" fmla="val 16216"/>
              </a:avLst>
            </a:prstGeom>
            <a:solidFill>
              <a:srgbClr val="C96F1B"/>
            </a:solidFill>
            <a:ln>
              <a:noFill/>
            </a:ln>
          </p:spPr>
          <p:txBody>
            <a:bodyPr rtlCol="0" anchor="ctr"/>
            <a:lstStyle/>
            <a:p>
              <a:pPr algn="ctr"/>
              <a:endParaRPr/>
            </a:p>
          </p:txBody>
        </p:sp>
        <p:sp>
          <p:nvSpPr>
            <p:cNvPr id="71" name="slot full"/>
            <p:cNvSpPr/>
            <p:nvPr/>
          </p:nvSpPr>
          <p:spPr>
            <a:xfrm>
              <a:off x="8549640" y="2261616"/>
              <a:ext cx="694944" cy="225552"/>
            </a:xfrm>
            <a:prstGeom prst="roundRect">
              <a:avLst>
                <a:gd name="adj" fmla="val 16216"/>
              </a:avLst>
            </a:prstGeom>
            <a:solidFill>
              <a:srgbClr val="C96F1B"/>
            </a:solidFill>
            <a:ln>
              <a:noFill/>
            </a:ln>
          </p:spPr>
          <p:txBody>
            <a:bodyPr rtlCol="0" anchor="ctr"/>
            <a:lstStyle/>
            <a:p>
              <a:pPr algn="ctr"/>
              <a:endParaRPr/>
            </a:p>
          </p:txBody>
        </p:sp>
        <p:sp>
          <p:nvSpPr>
            <p:cNvPr id="72" name="slot full"/>
            <p:cNvSpPr/>
            <p:nvPr/>
          </p:nvSpPr>
          <p:spPr>
            <a:xfrm>
              <a:off x="9336024" y="2261616"/>
              <a:ext cx="694944" cy="225552"/>
            </a:xfrm>
            <a:prstGeom prst="roundRect">
              <a:avLst>
                <a:gd name="adj" fmla="val 16216"/>
              </a:avLst>
            </a:prstGeom>
            <a:solidFill>
              <a:srgbClr val="C96F1B"/>
            </a:solidFill>
            <a:ln>
              <a:noFill/>
            </a:ln>
          </p:spPr>
          <p:txBody>
            <a:bodyPr rtlCol="0" anchor="ctr"/>
            <a:lstStyle/>
            <a:p>
              <a:pPr algn="ctr"/>
              <a:endParaRPr/>
            </a:p>
          </p:txBody>
        </p:sp>
        <p:sp>
          <p:nvSpPr>
            <p:cNvPr id="73" name="pool label"/>
            <p:cNvSpPr txBox="1"/>
            <p:nvPr/>
          </p:nvSpPr>
          <p:spPr>
            <a:xfrm>
              <a:off x="6766560" y="2743200"/>
              <a:ext cx="3474720" cy="329184"/>
            </a:xfrm>
            <a:prstGeom prst="rect">
              <a:avLst/>
            </a:prstGeom>
            <a:noFill/>
          </p:spPr>
          <p:txBody>
            <a:bodyPr wrap="square" lIns="18288" tIns="9144" rIns="18288" bIns="9144" anchor="ctr">
              <a:noAutofit/>
            </a:bodyPr>
            <a:lstStyle/>
            <a:p>
              <a:pPr algn="ctr"/>
              <a:r>
                <a:rPr lang="en-GB" sz="1800" b="1" i="0">
                  <a:solidFill>
                    <a:srgbClr val="F2F2F2"/>
                  </a:solidFill>
                  <a:latin typeface="Arial"/>
                </a:rPr>
                <a:t>Pool full</a:t>
              </a:r>
            </a:p>
          </p:txBody>
        </p:sp>
        <p:cxnSp>
          <p:nvCxnSpPr>
            <p:cNvPr id="74" name="overflow arrow"/>
            <p:cNvCxnSpPr/>
            <p:nvPr/>
          </p:nvCxnSpPr>
          <p:spPr>
            <a:xfrm>
              <a:off x="8503920" y="3154680"/>
              <a:ext cx="0" cy="457200"/>
            </a:xfrm>
            <a:prstGeom prst="line">
              <a:avLst/>
            </a:prstGeom>
            <a:ln w="38100">
              <a:solidFill>
                <a:srgbClr val="F28C28"/>
              </a:solidFill>
              <a:tailEnd type="triangle" w="med" len="med"/>
            </a:ln>
          </p:spPr>
        </p:cxnSp>
        <p:sp>
          <p:nvSpPr>
            <p:cNvPr id="75" name="number plate"/>
            <p:cNvSpPr/>
            <p:nvPr/>
          </p:nvSpPr>
          <p:spPr>
            <a:xfrm>
              <a:off x="7315200" y="3657600"/>
              <a:ext cx="2377440" cy="777240"/>
            </a:xfrm>
            <a:prstGeom prst="roundRect">
              <a:avLst>
                <a:gd name="adj" fmla="val 9411"/>
              </a:avLst>
            </a:prstGeom>
            <a:solidFill>
              <a:srgbClr val="1B1D21"/>
            </a:solidFill>
            <a:ln w="28575">
              <a:solidFill>
                <a:srgbClr val="F2C14E"/>
              </a:solidFill>
            </a:ln>
          </p:spPr>
          <p:txBody>
            <a:bodyPr wrap="square" lIns="27432" tIns="0" rIns="27432" bIns="0" rtlCol="0" anchor="ctr">
              <a:noAutofit/>
            </a:bodyPr>
            <a:lstStyle/>
            <a:p>
              <a:pPr algn="ctr"/>
              <a:r>
                <a:rPr lang="en-GB" sz="3200" b="1" i="0">
                  <a:solidFill>
                    <a:srgbClr val="F2F2F2"/>
                  </a:solidFill>
                  <a:latin typeface="Arial"/>
                </a:rPr>
                <a:t>X-00001</a:t>
              </a:r>
            </a:p>
          </p:txBody>
        </p:sp>
        <p:sp>
          <p:nvSpPr>
            <p:cNvPr id="76" name="plate label"/>
            <p:cNvSpPr txBox="1"/>
            <p:nvPr/>
          </p:nvSpPr>
          <p:spPr>
            <a:xfrm>
              <a:off x="9875520" y="3657600"/>
              <a:ext cx="1737360" cy="777240"/>
            </a:xfrm>
            <a:prstGeom prst="rect">
              <a:avLst/>
            </a:prstGeom>
            <a:noFill/>
          </p:spPr>
          <p:txBody>
            <a:bodyPr wrap="square" lIns="18288" tIns="9144" rIns="18288" bIns="9144" anchor="ctr">
              <a:noAutofit/>
            </a:bodyPr>
            <a:lstStyle/>
            <a:p>
              <a:pPr algn="l"/>
              <a:r>
                <a:rPr lang="en-GB" sz="1800" b="1" i="0">
                  <a:solidFill>
                    <a:srgbClr val="F2F2F2"/>
                  </a:solidFill>
                  <a:latin typeface="Arial"/>
                </a:rPr>
                <a:t>Overflow</a:t>
              </a:r>
            </a:p>
          </p:txBody>
        </p:sp>
        <p:sp>
          <p:nvSpPr>
            <p:cNvPr id="77" name="example label"/>
            <p:cNvSpPr txBox="1"/>
            <p:nvPr/>
          </p:nvSpPr>
          <p:spPr>
            <a:xfrm>
              <a:off x="7315200" y="4480560"/>
              <a:ext cx="2377440" cy="274320"/>
            </a:xfrm>
            <a:prstGeom prst="rect">
              <a:avLst/>
            </a:prstGeom>
            <a:noFill/>
          </p:spPr>
          <p:txBody>
            <a:bodyPr wrap="square" lIns="18288" tIns="9144" rIns="18288" bIns="9144" anchor="ctr">
              <a:noAutofit/>
            </a:bodyPr>
            <a:lstStyle/>
            <a:p>
              <a:pPr algn="ctr"/>
              <a:r>
                <a:rPr lang="en-GB" sz="1400" b="0" i="0">
                  <a:solidFill>
                    <a:srgbClr val="A9B0B8"/>
                  </a:solidFill>
                  <a:latin typeface="Arial"/>
                </a:rPr>
                <a:t>Example only</a:t>
              </a:r>
            </a:p>
          </p:txBody>
        </p:sp>
      </p:grpSp>
      <p:sp>
        <p:nvSpPr>
          <p:cNvPr id="78" name="ICHIP"/>
          <p:cNvSpPr/>
          <p:nvPr/>
        </p:nvSpPr>
        <p:spPr>
          <a:xfrm>
            <a:off x="7315200" y="4937760"/>
            <a:ext cx="1911221"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Format: undecided</a:t>
            </a:r>
          </a:p>
        </p:txBody>
      </p:sp>
      <p:sp>
        <p:nvSpPr>
          <p:cNvPr id="7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8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81" name="CAPTION"/>
          <p:cNvSpPr txBox="1"/>
          <p:nvPr/>
        </p:nvSpPr>
        <p:spPr>
          <a:xfrm>
            <a:off x="822960" y="5760720"/>
            <a:ext cx="886968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 dismantled engine's number goes back to the pool. If a pool is full, a clearly modern number is used.</a:t>
            </a:r>
          </a:p>
        </p:txBody>
      </p:sp>
      <p:sp>
        <p:nvSpPr>
          <p:cNvPr id="82"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18</a:t>
            </a:r>
          </a:p>
        </p:txBody>
      </p:sp>
    </p:spTree>
    <p:extLst>
      <p:ext uri="{BB962C8B-B14F-4D97-AF65-F5344CB8AC3E}">
        <p14:creationId xmlns:p14="http://schemas.microsoft.com/office/powerpoint/2010/main" val="33500874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8"/>
                                        </p:tgtEl>
                                        <p:attrNameLst>
                                          <p:attrName>style.visibility</p:attrName>
                                        </p:attrNameLst>
                                      </p:cBhvr>
                                      <p:to>
                                        <p:strVal val="visible"/>
                                      </p:to>
                                    </p:set>
                                    <p:animEffect transition="in" filter="fade">
                                      <p:cBhvr>
                                        <p:cTn id="10" dur="500"/>
                                        <p:tgtEl>
                                          <p:spTgt spid="78"/>
                                        </p:tgtEl>
                                      </p:cBhvr>
                                    </p:animEffect>
                                  </p:childTnLst>
                                </p:cTn>
                              </p:par>
                              <p:par>
                                <p:cTn id="11" presetID="10" presetClass="entr" presetSubtype="0" fill="hold" nodeType="withEffect">
                                  <p:stCondLst>
                                    <p:cond delay="60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500"/>
                                        <p:tgtEl>
                                          <p:spTgt spid="79"/>
                                        </p:tgtEl>
                                      </p:cBhvr>
                                    </p:animEffect>
                                  </p:childTnLst>
                                </p:cTn>
                              </p:par>
                              <p:par>
                                <p:cTn id="14" presetID="10" presetClass="entr" presetSubtype="0" fill="hold" nodeType="withEffect">
                                  <p:stCondLst>
                                    <p:cond delay="900"/>
                                  </p:stCondLst>
                                  <p:childTnLst>
                                    <p:set>
                                      <p:cBhvr>
                                        <p:cTn id="15" dur="1" fill="hold">
                                          <p:stCondLst>
                                            <p:cond delay="0"/>
                                          </p:stCondLst>
                                        </p:cTn>
                                        <p:tgtEl>
                                          <p:spTgt spid="80"/>
                                        </p:tgtEl>
                                        <p:attrNameLst>
                                          <p:attrName>style.visibility</p:attrName>
                                        </p:attrNameLst>
                                      </p:cBhvr>
                                      <p:to>
                                        <p:strVal val="visible"/>
                                      </p:to>
                                    </p:set>
                                    <p:animEffect transition="in" filter="fade">
                                      <p:cBhvr>
                                        <p:cTn id="16" dur="500"/>
                                        <p:tgtEl>
                                          <p:spTgt spid="80"/>
                                        </p:tgtEl>
                                      </p:cBhvr>
                                    </p:animEffect>
                                  </p:childTnLst>
                                </p:cTn>
                              </p:par>
                              <p:par>
                                <p:cTn id="17" presetID="10" presetClass="entr" presetSubtype="0" fill="hold" nodeType="withEffect">
                                  <p:stCondLst>
                                    <p:cond delay="1200"/>
                                  </p:stCondLst>
                                  <p:childTnLst>
                                    <p:set>
                                      <p:cBhvr>
                                        <p:cTn id="18" dur="1" fill="hold">
                                          <p:stCondLst>
                                            <p:cond delay="0"/>
                                          </p:stCondLst>
                                        </p:cTn>
                                        <p:tgtEl>
                                          <p:spTgt spid="81"/>
                                        </p:tgtEl>
                                        <p:attrNameLst>
                                          <p:attrName>style.visibility</p:attrName>
                                        </p:attrNameLst>
                                      </p:cBhvr>
                                      <p:to>
                                        <p:strVal val="visible"/>
                                      </p:to>
                                    </p:set>
                                    <p:animEffect transition="in" filter="fade">
                                      <p:cBhvr>
                                        <p:cTn id="19"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Renumber by hand</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Unlock card and number editor" descr="A shop-style unlock card for renumbering, with an Unlock button and no price, and a number editor mock. The scheme part of the number is greyed with a padlock, your digits are editable, and a red message says Already used. The number is an example only."/>
          <p:cNvGrpSpPr/>
          <p:nvPr/>
        </p:nvGrpSpPr>
        <p:grpSpPr>
          <a:xfrm>
            <a:off x="548640" y="1371600"/>
            <a:ext cx="11091672" cy="3383280"/>
            <a:chOff x="548640" y="1371600"/>
            <a:chExt cx="11091672" cy="3383280"/>
          </a:xfrm>
        </p:grpSpPr>
        <p:sp>
          <p:nvSpPr>
            <p:cNvPr id="5" name="unlock card"/>
            <p:cNvSpPr/>
            <p:nvPr/>
          </p:nvSpPr>
          <p:spPr>
            <a:xfrm>
              <a:off x="548640" y="1371600"/>
              <a:ext cx="4206240" cy="3383280"/>
            </a:xfrm>
            <a:prstGeom prst="roundRect">
              <a:avLst>
                <a:gd name="adj" fmla="val 3243"/>
              </a:avLst>
            </a:prstGeom>
            <a:solidFill>
              <a:srgbClr val="2B2F36"/>
            </a:solidFill>
            <a:ln w="31750">
              <a:solidFill>
                <a:srgbClr val="F28C28"/>
              </a:solidFill>
            </a:ln>
          </p:spPr>
          <p:txBody>
            <a:bodyPr rtlCol="0" anchor="ctr"/>
            <a:lstStyle/>
            <a:p>
              <a:pPr algn="ctr"/>
              <a:endParaRPr/>
            </a:p>
          </p:txBody>
        </p:sp>
        <p:sp>
          <p:nvSpPr>
            <p:cNvPr id="6" name="unlock header"/>
            <p:cNvSpPr/>
            <p:nvPr/>
          </p:nvSpPr>
          <p:spPr>
            <a:xfrm>
              <a:off x="603504" y="1426464"/>
              <a:ext cx="4096512" cy="603504"/>
            </a:xfrm>
            <a:prstGeom prst="roundRect">
              <a:avLst>
                <a:gd name="adj" fmla="val 12121"/>
              </a:avLst>
            </a:prstGeom>
            <a:solidFill>
              <a:srgbClr val="343A43"/>
            </a:solidFill>
            <a:ln>
              <a:noFill/>
            </a:ln>
          </p:spPr>
          <p:txBody>
            <a:bodyPr rtlCol="0" anchor="ctr"/>
            <a:lstStyle/>
            <a:p>
              <a:pPr algn="ctr"/>
              <a:endParaRPr/>
            </a:p>
          </p:txBody>
        </p:sp>
        <p:sp>
          <p:nvSpPr>
            <p:cNvPr id="7" name="unlock title"/>
            <p:cNvSpPr txBox="1"/>
            <p:nvPr/>
          </p:nvSpPr>
          <p:spPr>
            <a:xfrm>
              <a:off x="822960" y="1426464"/>
              <a:ext cx="3657600" cy="603504"/>
            </a:xfrm>
            <a:prstGeom prst="rect">
              <a:avLst/>
            </a:prstGeom>
            <a:noFill/>
          </p:spPr>
          <p:txBody>
            <a:bodyPr wrap="square" lIns="18288" tIns="9144" rIns="18288" bIns="9144" anchor="ctr">
              <a:noAutofit/>
            </a:bodyPr>
            <a:lstStyle/>
            <a:p>
              <a:pPr algn="l"/>
              <a:r>
                <a:rPr lang="en-GB" sz="2000" b="1" i="0">
                  <a:solidFill>
                    <a:srgbClr val="F2F2F2"/>
                  </a:solidFill>
                  <a:latin typeface="Arial"/>
                </a:rPr>
                <a:t>Renumber unlock</a:t>
              </a:r>
            </a:p>
          </p:txBody>
        </p:sp>
        <p:sp>
          <p:nvSpPr>
            <p:cNvPr id="8" name="unlock icon disc"/>
            <p:cNvSpPr/>
            <p:nvPr/>
          </p:nvSpPr>
          <p:spPr>
            <a:xfrm>
              <a:off x="1737360" y="2240280"/>
              <a:ext cx="1828800" cy="1554480"/>
            </a:xfrm>
            <a:prstGeom prst="ellipse">
              <a:avLst/>
            </a:prstGeom>
            <a:solidFill>
              <a:srgbClr val="1E2126"/>
            </a:solidFill>
            <a:ln w="31750">
              <a:solidFill>
                <a:srgbClr val="F28C28"/>
              </a:solidFill>
            </a:ln>
          </p:spPr>
          <p:txBody>
            <a:bodyPr rtlCol="0" anchor="ctr"/>
            <a:lstStyle/>
            <a:p>
              <a:pPr algn="ctr"/>
              <a:endParaRPr/>
            </a:p>
          </p:txBody>
        </p:sp>
        <p:sp>
          <p:nvSpPr>
            <p:cNvPr id="9" name="number plate (blank)"/>
            <p:cNvSpPr/>
            <p:nvPr/>
          </p:nvSpPr>
          <p:spPr>
            <a:xfrm>
              <a:off x="2011680" y="2880360"/>
              <a:ext cx="1280160" cy="548640"/>
            </a:xfrm>
            <a:prstGeom prst="roundRect">
              <a:avLst>
                <a:gd name="adj" fmla="val 13333"/>
              </a:avLst>
            </a:prstGeom>
            <a:solidFill>
              <a:srgbClr val="1B1D21"/>
            </a:solidFill>
            <a:ln w="25400">
              <a:solidFill>
                <a:srgbClr val="F28C28"/>
              </a:solidFill>
            </a:ln>
          </p:spPr>
          <p:txBody>
            <a:bodyPr rtlCol="0" anchor="ctr"/>
            <a:lstStyle/>
            <a:p>
              <a:pPr algn="ctr"/>
              <a:endParaRPr/>
            </a:p>
          </p:txBody>
        </p:sp>
        <p:sp>
          <p:nvSpPr>
            <p:cNvPr id="10" name="digit bar"/>
            <p:cNvSpPr/>
            <p:nvPr/>
          </p:nvSpPr>
          <p:spPr>
            <a:xfrm>
              <a:off x="2267712" y="3044952"/>
              <a:ext cx="179222" cy="219456"/>
            </a:xfrm>
            <a:prstGeom prst="rect">
              <a:avLst/>
            </a:prstGeom>
            <a:solidFill>
              <a:srgbClr val="A9B0B8"/>
            </a:solidFill>
            <a:ln>
              <a:noFill/>
            </a:ln>
          </p:spPr>
          <p:txBody>
            <a:bodyPr rtlCol="0" anchor="ctr"/>
            <a:lstStyle/>
            <a:p>
              <a:pPr algn="ctr"/>
              <a:endParaRPr/>
            </a:p>
          </p:txBody>
        </p:sp>
        <p:sp>
          <p:nvSpPr>
            <p:cNvPr id="11" name="digit bar"/>
            <p:cNvSpPr/>
            <p:nvPr/>
          </p:nvSpPr>
          <p:spPr>
            <a:xfrm>
              <a:off x="2549347" y="3044952"/>
              <a:ext cx="179222" cy="219456"/>
            </a:xfrm>
            <a:prstGeom prst="rect">
              <a:avLst/>
            </a:prstGeom>
            <a:solidFill>
              <a:srgbClr val="A9B0B8"/>
            </a:solidFill>
            <a:ln>
              <a:noFill/>
            </a:ln>
          </p:spPr>
          <p:txBody>
            <a:bodyPr rtlCol="0" anchor="ctr"/>
            <a:lstStyle/>
            <a:p>
              <a:pPr algn="ctr"/>
              <a:endParaRPr/>
            </a:p>
          </p:txBody>
        </p:sp>
        <p:sp>
          <p:nvSpPr>
            <p:cNvPr id="12" name="digit bar"/>
            <p:cNvSpPr/>
            <p:nvPr/>
          </p:nvSpPr>
          <p:spPr>
            <a:xfrm>
              <a:off x="2830982" y="3044952"/>
              <a:ext cx="179222" cy="219456"/>
            </a:xfrm>
            <a:prstGeom prst="rect">
              <a:avLst/>
            </a:prstGeom>
            <a:solidFill>
              <a:srgbClr val="A9B0B8"/>
            </a:solidFill>
            <a:ln>
              <a:noFill/>
            </a:ln>
          </p:spPr>
          <p:txBody>
            <a:bodyPr rtlCol="0" anchor="ctr"/>
            <a:lstStyle/>
            <a:p>
              <a:pPr algn="ctr"/>
              <a:endParaRPr/>
            </a:p>
          </p:txBody>
        </p:sp>
        <p:sp>
          <p:nvSpPr>
            <p:cNvPr id="13" name="pencil body"/>
            <p:cNvSpPr/>
            <p:nvPr/>
          </p:nvSpPr>
          <p:spPr>
            <a:xfrm>
              <a:off x="2763316" y="2331720"/>
              <a:ext cx="482804" cy="482803"/>
            </a:xfrm>
            <a:custGeom>
              <a:avLst/>
              <a:gdLst/>
              <a:ahLst/>
              <a:cxnLst/>
              <a:rect l="l" t="t" r="r" b="b"/>
              <a:pathLst>
                <a:path w="482804" h="482803">
                  <a:moveTo>
                    <a:pt x="352044" y="0"/>
                  </a:moveTo>
                  <a:lnTo>
                    <a:pt x="482804" y="130759"/>
                  </a:lnTo>
                  <a:lnTo>
                    <a:pt x="130760" y="482803"/>
                  </a:lnTo>
                  <a:lnTo>
                    <a:pt x="0" y="352043"/>
                  </a:lnTo>
                  <a:close/>
                </a:path>
              </a:pathLst>
            </a:custGeom>
            <a:solidFill>
              <a:srgbClr val="F2C14E"/>
            </a:solidFill>
            <a:ln>
              <a:noFill/>
            </a:ln>
          </p:spPr>
          <p:txBody>
            <a:bodyPr rtlCol="0" anchor="ctr"/>
            <a:lstStyle/>
            <a:p>
              <a:pPr algn="ctr"/>
              <a:endParaRPr/>
            </a:p>
          </p:txBody>
        </p:sp>
        <p:sp>
          <p:nvSpPr>
            <p:cNvPr id="14" name="pencil tip"/>
            <p:cNvSpPr/>
            <p:nvPr/>
          </p:nvSpPr>
          <p:spPr>
            <a:xfrm>
              <a:off x="2743200" y="2683763"/>
              <a:ext cx="150876" cy="150876"/>
            </a:xfrm>
            <a:custGeom>
              <a:avLst/>
              <a:gdLst/>
              <a:ahLst/>
              <a:cxnLst/>
              <a:rect l="l" t="t" r="r" b="b"/>
              <a:pathLst>
                <a:path w="150876" h="150876">
                  <a:moveTo>
                    <a:pt x="20116" y="0"/>
                  </a:moveTo>
                  <a:lnTo>
                    <a:pt x="150876" y="130760"/>
                  </a:lnTo>
                  <a:lnTo>
                    <a:pt x="0" y="150876"/>
                  </a:lnTo>
                  <a:close/>
                </a:path>
              </a:pathLst>
            </a:custGeom>
            <a:solidFill>
              <a:srgbClr val="F2F2F2"/>
            </a:solidFill>
            <a:ln>
              <a:noFill/>
            </a:ln>
          </p:spPr>
          <p:txBody>
            <a:bodyPr rtlCol="0" anchor="ctr"/>
            <a:lstStyle/>
            <a:p>
              <a:pPr algn="ctr"/>
              <a:endParaRPr/>
            </a:p>
          </p:txBody>
        </p:sp>
        <p:sp>
          <p:nvSpPr>
            <p:cNvPr id="15" name="unlock button"/>
            <p:cNvSpPr/>
            <p:nvPr/>
          </p:nvSpPr>
          <p:spPr>
            <a:xfrm>
              <a:off x="1097280" y="4023360"/>
              <a:ext cx="3108960" cy="566928"/>
            </a:xfrm>
            <a:prstGeom prst="roundRect">
              <a:avLst>
                <a:gd name="adj" fmla="val 50000"/>
              </a:avLst>
            </a:prstGeom>
            <a:solidFill>
              <a:srgbClr val="F28C28"/>
            </a:solidFill>
            <a:ln>
              <a:noFill/>
            </a:ln>
          </p:spPr>
          <p:txBody>
            <a:bodyPr wrap="square" lIns="54864" tIns="27432" rIns="54864" bIns="27432" rtlCol="0" anchor="ctr">
              <a:noAutofit/>
            </a:bodyPr>
            <a:lstStyle/>
            <a:p>
              <a:pPr algn="ctr"/>
              <a:r>
                <a:rPr lang="en-GB" sz="2000" b="1" i="0">
                  <a:solidFill>
                    <a:srgbClr val="101418"/>
                  </a:solidFill>
                  <a:latin typeface="Arial"/>
                </a:rPr>
                <a:t>Unlock</a:t>
              </a:r>
            </a:p>
          </p:txBody>
        </p:sp>
        <p:cxnSp>
          <p:nvCxnSpPr>
            <p:cNvPr id="16" name="then arrow"/>
            <p:cNvCxnSpPr/>
            <p:nvPr/>
          </p:nvCxnSpPr>
          <p:spPr>
            <a:xfrm>
              <a:off x="4846320" y="3063240"/>
              <a:ext cx="548640" cy="0"/>
            </a:xfrm>
            <a:prstGeom prst="line">
              <a:avLst/>
            </a:prstGeom>
            <a:ln w="38100">
              <a:solidFill>
                <a:srgbClr val="F28C28"/>
              </a:solidFill>
              <a:tailEnd type="triangle" w="med" len="med"/>
            </a:ln>
          </p:spPr>
        </p:cxnSp>
        <p:sp>
          <p:nvSpPr>
            <p:cNvPr id="17" name="editor panel"/>
            <p:cNvSpPr/>
            <p:nvPr/>
          </p:nvSpPr>
          <p:spPr>
            <a:xfrm>
              <a:off x="5486400" y="1371600"/>
              <a:ext cx="6153912" cy="3383280"/>
            </a:xfrm>
            <a:prstGeom prst="roundRect">
              <a:avLst>
                <a:gd name="adj" fmla="val 3243"/>
              </a:avLst>
            </a:prstGeom>
            <a:solidFill>
              <a:srgbClr val="2B2F36"/>
            </a:solidFill>
            <a:ln w="19050">
              <a:solidFill>
                <a:srgbClr val="4A515B"/>
              </a:solidFill>
            </a:ln>
          </p:spPr>
          <p:txBody>
            <a:bodyPr rtlCol="0" anchor="ctr"/>
            <a:lstStyle/>
            <a:p>
              <a:pPr algn="ctr"/>
              <a:endParaRPr/>
            </a:p>
          </p:txBody>
        </p:sp>
        <p:sp>
          <p:nvSpPr>
            <p:cNvPr id="18" name="editor header"/>
            <p:cNvSpPr/>
            <p:nvPr/>
          </p:nvSpPr>
          <p:spPr>
            <a:xfrm>
              <a:off x="5541264" y="1426464"/>
              <a:ext cx="6044184" cy="603504"/>
            </a:xfrm>
            <a:prstGeom prst="roundRect">
              <a:avLst>
                <a:gd name="adj" fmla="val 12121"/>
              </a:avLst>
            </a:prstGeom>
            <a:solidFill>
              <a:srgbClr val="343A43"/>
            </a:solidFill>
            <a:ln>
              <a:noFill/>
            </a:ln>
          </p:spPr>
          <p:txBody>
            <a:bodyPr rtlCol="0" anchor="ctr"/>
            <a:lstStyle/>
            <a:p>
              <a:pPr algn="ctr"/>
              <a:endParaRPr/>
            </a:p>
          </p:txBody>
        </p:sp>
        <p:sp>
          <p:nvSpPr>
            <p:cNvPr id="19" name="editor title"/>
            <p:cNvSpPr txBox="1"/>
            <p:nvPr/>
          </p:nvSpPr>
          <p:spPr>
            <a:xfrm>
              <a:off x="5760720" y="1426464"/>
              <a:ext cx="2743200" cy="603504"/>
            </a:xfrm>
            <a:prstGeom prst="rect">
              <a:avLst/>
            </a:prstGeom>
            <a:noFill/>
          </p:spPr>
          <p:txBody>
            <a:bodyPr wrap="square" lIns="18288" tIns="9144" rIns="18288" bIns="9144" anchor="ctr">
              <a:noAutofit/>
            </a:bodyPr>
            <a:lstStyle/>
            <a:p>
              <a:pPr algn="l"/>
              <a:r>
                <a:rPr lang="en-GB" sz="2000" b="1" i="0">
                  <a:solidFill>
                    <a:srgbClr val="F2F2F2"/>
                  </a:solidFill>
                  <a:latin typeface="Arial"/>
                </a:rPr>
                <a:t>Edit number</a:t>
              </a:r>
            </a:p>
          </p:txBody>
        </p:sp>
        <p:sp>
          <p:nvSpPr>
            <p:cNvPr id="20" name="example label"/>
            <p:cNvSpPr txBox="1"/>
            <p:nvPr/>
          </p:nvSpPr>
          <p:spPr>
            <a:xfrm>
              <a:off x="9235440" y="1426464"/>
              <a:ext cx="2194560" cy="603504"/>
            </a:xfrm>
            <a:prstGeom prst="rect">
              <a:avLst/>
            </a:prstGeom>
            <a:noFill/>
          </p:spPr>
          <p:txBody>
            <a:bodyPr wrap="square" lIns="18288" tIns="9144" rIns="18288" bIns="9144" anchor="ctr">
              <a:noAutofit/>
            </a:bodyPr>
            <a:lstStyle/>
            <a:p>
              <a:pPr algn="r"/>
              <a:r>
                <a:rPr lang="en-GB" sz="1400" b="0" i="0">
                  <a:solidFill>
                    <a:srgbClr val="A9B0B8"/>
                  </a:solidFill>
                  <a:latin typeface="Arial"/>
                </a:rPr>
                <a:t>Example only</a:t>
              </a:r>
            </a:p>
          </p:txBody>
        </p:sp>
        <p:sp>
          <p:nvSpPr>
            <p:cNvPr id="21" name="scheme part (locked)"/>
            <p:cNvSpPr/>
            <p:nvPr/>
          </p:nvSpPr>
          <p:spPr>
            <a:xfrm>
              <a:off x="5852160" y="2377440"/>
              <a:ext cx="1920240" cy="1097280"/>
            </a:xfrm>
            <a:prstGeom prst="roundRect">
              <a:avLst>
                <a:gd name="adj" fmla="val 8333"/>
              </a:avLst>
            </a:prstGeom>
            <a:solidFill>
              <a:srgbClr val="3A3F47"/>
            </a:solidFill>
            <a:ln w="25400">
              <a:solidFill>
                <a:srgbClr val="A9B0B8"/>
              </a:solidFill>
              <a:prstDash val="dash"/>
            </a:ln>
          </p:spPr>
          <p:txBody>
            <a:bodyPr wrap="square" lIns="54864" tIns="27432" rIns="54864" bIns="27432" rtlCol="0" anchor="ctr">
              <a:noAutofit/>
            </a:bodyPr>
            <a:lstStyle/>
            <a:p>
              <a:pPr algn="ctr"/>
              <a:r>
                <a:rPr lang="en-GB" sz="4000" b="1" i="0">
                  <a:solidFill>
                    <a:srgbClr val="A9B0B8"/>
                  </a:solidFill>
                  <a:latin typeface="Arial"/>
                </a:rPr>
                <a:t>47</a:t>
              </a:r>
            </a:p>
          </p:txBody>
        </p:sp>
        <p:sp>
          <p:nvSpPr>
            <p:cNvPr id="22" name="padlock shackle"/>
            <p:cNvSpPr/>
            <p:nvPr/>
          </p:nvSpPr>
          <p:spPr>
            <a:xfrm>
              <a:off x="7381219" y="2259665"/>
              <a:ext cx="215433" cy="125090"/>
            </a:xfrm>
            <a:custGeom>
              <a:avLst/>
              <a:gdLst/>
              <a:ahLst/>
              <a:cxnLst/>
              <a:rect l="l" t="t" r="r" b="b"/>
              <a:pathLst>
                <a:path w="215433" h="125090">
                  <a:moveTo>
                    <a:pt x="0" y="125090"/>
                  </a:moveTo>
                  <a:lnTo>
                    <a:pt x="0" y="107716"/>
                  </a:lnTo>
                  <a:lnTo>
                    <a:pt x="2701" y="83747"/>
                  </a:lnTo>
                  <a:lnTo>
                    <a:pt x="10667" y="60980"/>
                  </a:lnTo>
                  <a:lnTo>
                    <a:pt x="23500" y="40556"/>
                  </a:lnTo>
                  <a:lnTo>
                    <a:pt x="40556" y="23500"/>
                  </a:lnTo>
                  <a:lnTo>
                    <a:pt x="60980" y="10667"/>
                  </a:lnTo>
                  <a:lnTo>
                    <a:pt x="83747" y="2700"/>
                  </a:lnTo>
                  <a:lnTo>
                    <a:pt x="107717" y="0"/>
                  </a:lnTo>
                  <a:lnTo>
                    <a:pt x="131686" y="2700"/>
                  </a:lnTo>
                  <a:lnTo>
                    <a:pt x="154453" y="10667"/>
                  </a:lnTo>
                  <a:lnTo>
                    <a:pt x="174877" y="23500"/>
                  </a:lnTo>
                  <a:lnTo>
                    <a:pt x="191933" y="40556"/>
                  </a:lnTo>
                  <a:lnTo>
                    <a:pt x="204766" y="60980"/>
                  </a:lnTo>
                  <a:lnTo>
                    <a:pt x="212732" y="83747"/>
                  </a:lnTo>
                  <a:lnTo>
                    <a:pt x="215433" y="107716"/>
                  </a:lnTo>
                  <a:lnTo>
                    <a:pt x="215433" y="125090"/>
                  </a:lnTo>
                </a:path>
              </a:pathLst>
            </a:custGeom>
            <a:noFill/>
            <a:ln w="31750">
              <a:solidFill>
                <a:srgbClr val="F2C14E"/>
              </a:solidFill>
            </a:ln>
          </p:spPr>
          <p:txBody>
            <a:bodyPr rtlCol="0" anchor="ctr"/>
            <a:lstStyle/>
            <a:p>
              <a:pPr algn="ctr"/>
              <a:endParaRPr/>
            </a:p>
          </p:txBody>
        </p:sp>
        <p:sp>
          <p:nvSpPr>
            <p:cNvPr id="23" name="padlock body"/>
            <p:cNvSpPr/>
            <p:nvPr/>
          </p:nvSpPr>
          <p:spPr>
            <a:xfrm>
              <a:off x="7315200" y="2367381"/>
              <a:ext cx="347472" cy="277977"/>
            </a:xfrm>
            <a:prstGeom prst="roundRect">
              <a:avLst>
                <a:gd name="adj" fmla="val 6250"/>
              </a:avLst>
            </a:prstGeom>
            <a:solidFill>
              <a:srgbClr val="F2C14E"/>
            </a:solidFill>
            <a:ln>
              <a:noFill/>
            </a:ln>
          </p:spPr>
          <p:txBody>
            <a:bodyPr rtlCol="0" anchor="ctr"/>
            <a:lstStyle/>
            <a:p>
              <a:pPr algn="ctr"/>
              <a:endParaRPr/>
            </a:p>
          </p:txBody>
        </p:sp>
        <p:sp>
          <p:nvSpPr>
            <p:cNvPr id="24" name="padlock keyhole"/>
            <p:cNvSpPr/>
            <p:nvPr/>
          </p:nvSpPr>
          <p:spPr>
            <a:xfrm>
              <a:off x="7464612" y="2454249"/>
              <a:ext cx="48646" cy="48646"/>
            </a:xfrm>
            <a:prstGeom prst="ellipse">
              <a:avLst/>
            </a:prstGeom>
            <a:solidFill>
              <a:srgbClr val="101418"/>
            </a:solidFill>
            <a:ln>
              <a:noFill/>
            </a:ln>
          </p:spPr>
          <p:txBody>
            <a:bodyPr rtlCol="0" anchor="ctr"/>
            <a:lstStyle/>
            <a:p>
              <a:pPr algn="ctr"/>
              <a:endParaRPr/>
            </a:p>
          </p:txBody>
        </p:sp>
        <p:sp>
          <p:nvSpPr>
            <p:cNvPr id="25" name="padlock keyhole slot"/>
            <p:cNvSpPr/>
            <p:nvPr/>
          </p:nvSpPr>
          <p:spPr>
            <a:xfrm>
              <a:off x="7478511" y="2488996"/>
              <a:ext cx="20848" cy="69494"/>
            </a:xfrm>
            <a:prstGeom prst="rect">
              <a:avLst/>
            </a:prstGeom>
            <a:solidFill>
              <a:srgbClr val="101418"/>
            </a:solidFill>
            <a:ln>
              <a:noFill/>
            </a:ln>
          </p:spPr>
          <p:txBody>
            <a:bodyPr rtlCol="0" anchor="ctr"/>
            <a:lstStyle/>
            <a:p>
              <a:pPr algn="ctr"/>
              <a:endParaRPr/>
            </a:p>
          </p:txBody>
        </p:sp>
        <p:sp>
          <p:nvSpPr>
            <p:cNvPr id="26" name="your digits (editable)"/>
            <p:cNvSpPr/>
            <p:nvPr/>
          </p:nvSpPr>
          <p:spPr>
            <a:xfrm>
              <a:off x="7909560" y="2377440"/>
              <a:ext cx="3383280" cy="1097280"/>
            </a:xfrm>
            <a:prstGeom prst="roundRect">
              <a:avLst>
                <a:gd name="adj" fmla="val 8333"/>
              </a:avLst>
            </a:prstGeom>
            <a:solidFill>
              <a:srgbClr val="1B1D21"/>
            </a:solidFill>
            <a:ln w="38100">
              <a:solidFill>
                <a:srgbClr val="F28C28"/>
              </a:solidFill>
            </a:ln>
          </p:spPr>
          <p:txBody>
            <a:bodyPr wrap="square" lIns="54864" tIns="27432" rIns="54864" bIns="27432" rtlCol="0" anchor="ctr">
              <a:noAutofit/>
            </a:bodyPr>
            <a:lstStyle/>
            <a:p>
              <a:pPr algn="ctr"/>
              <a:r>
                <a:rPr lang="en-GB" sz="4000" b="1" i="0">
                  <a:solidFill>
                    <a:srgbClr val="F2F2F2"/>
                  </a:solidFill>
                  <a:latin typeface="Arial"/>
                </a:rPr>
                <a:t>298</a:t>
              </a:r>
            </a:p>
          </p:txBody>
        </p:sp>
        <p:sp>
          <p:nvSpPr>
            <p:cNvPr id="27" name="text cursor"/>
            <p:cNvSpPr/>
            <p:nvPr/>
          </p:nvSpPr>
          <p:spPr>
            <a:xfrm>
              <a:off x="10287000" y="2578608"/>
              <a:ext cx="45720" cy="694944"/>
            </a:xfrm>
            <a:prstGeom prst="rect">
              <a:avLst/>
            </a:prstGeom>
            <a:solidFill>
              <a:srgbClr val="F28C28"/>
            </a:solidFill>
            <a:ln>
              <a:noFill/>
            </a:ln>
          </p:spPr>
          <p:txBody>
            <a:bodyPr rtlCol="0" anchor="ctr"/>
            <a:lstStyle/>
            <a:p>
              <a:pPr algn="ctr"/>
              <a:endParaRPr/>
            </a:p>
          </p:txBody>
        </p:sp>
        <p:sp>
          <p:nvSpPr>
            <p:cNvPr id="28" name="error strip"/>
            <p:cNvSpPr/>
            <p:nvPr/>
          </p:nvSpPr>
          <p:spPr>
            <a:xfrm>
              <a:off x="5852160" y="3703320"/>
              <a:ext cx="5440680" cy="640080"/>
            </a:xfrm>
            <a:prstGeom prst="roundRect">
              <a:avLst>
                <a:gd name="adj" fmla="val 11428"/>
              </a:avLst>
            </a:prstGeom>
            <a:solidFill>
              <a:srgbClr val="4A1E21"/>
            </a:solidFill>
            <a:ln w="25400">
              <a:solidFill>
                <a:srgbClr val="E5484D"/>
              </a:solidFill>
            </a:ln>
          </p:spPr>
          <p:txBody>
            <a:bodyPr rtlCol="0" anchor="ctr"/>
            <a:lstStyle/>
            <a:p>
              <a:pPr algn="ctr"/>
              <a:endParaRPr/>
            </a:p>
          </p:txBody>
        </p:sp>
        <p:cxnSp>
          <p:nvCxnSpPr>
            <p:cNvPr id="29" name="cross"/>
            <p:cNvCxnSpPr/>
            <p:nvPr/>
          </p:nvCxnSpPr>
          <p:spPr>
            <a:xfrm>
              <a:off x="6144768" y="3904488"/>
              <a:ext cx="237744" cy="237744"/>
            </a:xfrm>
            <a:prstGeom prst="line">
              <a:avLst/>
            </a:prstGeom>
            <a:ln w="57150">
              <a:solidFill>
                <a:srgbClr val="E5484D"/>
              </a:solidFill>
            </a:ln>
          </p:spPr>
        </p:cxnSp>
        <p:cxnSp>
          <p:nvCxnSpPr>
            <p:cNvPr id="30" name="cross"/>
            <p:cNvCxnSpPr/>
            <p:nvPr/>
          </p:nvCxnSpPr>
          <p:spPr>
            <a:xfrm flipV="1">
              <a:off x="6144768" y="3904488"/>
              <a:ext cx="237744" cy="237744"/>
            </a:xfrm>
            <a:prstGeom prst="line">
              <a:avLst/>
            </a:prstGeom>
            <a:ln w="57150">
              <a:solidFill>
                <a:srgbClr val="E5484D"/>
              </a:solidFill>
            </a:ln>
          </p:spPr>
        </p:cxnSp>
        <p:sp>
          <p:nvSpPr>
            <p:cNvPr id="31" name="error text"/>
            <p:cNvSpPr txBox="1"/>
            <p:nvPr/>
          </p:nvSpPr>
          <p:spPr>
            <a:xfrm>
              <a:off x="6629400" y="3703320"/>
              <a:ext cx="4480560" cy="640080"/>
            </a:xfrm>
            <a:prstGeom prst="rect">
              <a:avLst/>
            </a:prstGeom>
            <a:noFill/>
          </p:spPr>
          <p:txBody>
            <a:bodyPr wrap="square" lIns="18288" tIns="9144" rIns="18288" bIns="9144" anchor="ctr">
              <a:noAutofit/>
            </a:bodyPr>
            <a:lstStyle/>
            <a:p>
              <a:pPr algn="l"/>
              <a:r>
                <a:rPr lang="en-GB" sz="1800" b="1" i="0">
                  <a:solidFill>
                    <a:srgbClr val="F2F2F2"/>
                  </a:solidFill>
                  <a:latin typeface="Arial"/>
                </a:rPr>
                <a:t>Already used</a:t>
              </a:r>
            </a:p>
          </p:txBody>
        </p:sp>
      </p:grpSp>
      <p:sp>
        <p:nvSpPr>
          <p:cNvPr id="32" name="ICHIP"/>
          <p:cNvSpPr/>
          <p:nvPr/>
        </p:nvSpPr>
        <p:spPr>
          <a:xfrm>
            <a:off x="548640" y="5029200"/>
            <a:ext cx="3433064"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Cost and screens: undecided (OQ30)</a:t>
            </a:r>
          </a:p>
        </p:txBody>
      </p:sp>
      <p:sp>
        <p:nvSpPr>
          <p:cNvPr id="3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5"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 cheap unlock lets you edit your numbers. Locked parts stay locked.</a:t>
            </a:r>
          </a:p>
        </p:txBody>
      </p:sp>
      <p:sp>
        <p:nvSpPr>
          <p:cNvPr id="3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19</a:t>
            </a:r>
          </a:p>
        </p:txBody>
      </p:sp>
    </p:spTree>
    <p:extLst>
      <p:ext uri="{BB962C8B-B14F-4D97-AF65-F5344CB8AC3E}">
        <p14:creationId xmlns:p14="http://schemas.microsoft.com/office/powerpoint/2010/main" val="18567808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nodeType="withEffect">
                                  <p:stCondLst>
                                    <p:cond delay="60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par>
                                <p:cTn id="14" presetID="10" presetClass="entr" presetSubtype="0" fill="hold" nodeType="withEffect">
                                  <p:stCondLst>
                                    <p:cond delay="9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par>
                                <p:cTn id="17" presetID="10" presetClass="entr" presetSubtype="0" fill="hold" nodeType="withEffect">
                                  <p:stCondLst>
                                    <p:cond delay="120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Numbers in the right place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sp>
        <p:nvSpPr>
          <p:cNvPr id="4" name="CHIP NOTE"/>
          <p:cNvSpPr txBox="1"/>
          <p:nvPr/>
        </p:nvSpPr>
        <p:spPr>
          <a:xfrm>
            <a:off x="9448495" y="932688"/>
            <a:ext cx="219456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Agreed direction</a:t>
            </a:r>
          </a:p>
        </p:txBody>
      </p:sp>
      <p:grpSp>
        <p:nvGrpSpPr>
          <p:cNvPr id="5" name="Number positions on two engines" descr="A tender engine and a tank engine, each with small number marks in different places. The tender engine has marks on the front of the boiler, the cab side and the tender. The tank engine has marks on the tank side and the bunker."/>
          <p:cNvGrpSpPr/>
          <p:nvPr/>
        </p:nvGrpSpPr>
        <p:grpSpPr>
          <a:xfrm>
            <a:off x="548640" y="1280160"/>
            <a:ext cx="10515600" cy="4224528"/>
            <a:chOff x="548640" y="1280160"/>
            <a:chExt cx="10515600" cy="4224528"/>
          </a:xfrm>
        </p:grpSpPr>
        <p:sp>
          <p:nvSpPr>
            <p:cNvPr id="6" name="rail"/>
            <p:cNvSpPr/>
            <p:nvPr/>
          </p:nvSpPr>
          <p:spPr>
            <a:xfrm>
              <a:off x="548640" y="3246120"/>
              <a:ext cx="7040880" cy="64008"/>
            </a:xfrm>
            <a:prstGeom prst="rect">
              <a:avLst/>
            </a:prstGeom>
            <a:solidFill>
              <a:srgbClr val="9AA0A6"/>
            </a:solidFill>
            <a:ln>
              <a:noFill/>
            </a:ln>
          </p:spPr>
          <p:txBody>
            <a:bodyPr rtlCol="0" anchor="ctr"/>
            <a:lstStyle/>
            <a:p>
              <a:pPr algn="ctr"/>
              <a:endParaRPr/>
            </a:p>
          </p:txBody>
        </p:sp>
        <p:sp>
          <p:nvSpPr>
            <p:cNvPr id="7" name="tender frame"/>
            <p:cNvSpPr/>
            <p:nvPr/>
          </p:nvSpPr>
          <p:spPr>
            <a:xfrm>
              <a:off x="822960" y="2742285"/>
              <a:ext cx="1424635" cy="156362"/>
            </a:xfrm>
            <a:prstGeom prst="rect">
              <a:avLst/>
            </a:prstGeom>
            <a:solidFill>
              <a:srgbClr val="3A3F47"/>
            </a:solidFill>
            <a:ln w="9525">
              <a:solidFill>
                <a:srgbClr val="9AA0A6"/>
              </a:solidFill>
            </a:ln>
          </p:spPr>
          <p:txBody>
            <a:bodyPr rtlCol="0" anchor="ctr"/>
            <a:lstStyle/>
            <a:p>
              <a:pPr algn="ctr"/>
              <a:endParaRPr/>
            </a:p>
          </p:txBody>
        </p:sp>
        <p:sp>
          <p:nvSpPr>
            <p:cNvPr id="8" name="tender body"/>
            <p:cNvSpPr/>
            <p:nvPr/>
          </p:nvSpPr>
          <p:spPr>
            <a:xfrm>
              <a:off x="822960" y="2168956"/>
              <a:ext cx="1424635" cy="573328"/>
            </a:xfrm>
            <a:prstGeom prst="roundRect">
              <a:avLst>
                <a:gd name="adj" fmla="val 3030"/>
              </a:avLst>
            </a:prstGeom>
            <a:solidFill>
              <a:srgbClr val="9AA0A6"/>
            </a:solidFill>
            <a:ln>
              <a:noFill/>
            </a:ln>
          </p:spPr>
          <p:txBody>
            <a:bodyPr rtlCol="0" anchor="ctr"/>
            <a:lstStyle/>
            <a:p>
              <a:pPr algn="ctr"/>
              <a:endParaRPr/>
            </a:p>
          </p:txBody>
        </p:sp>
        <p:sp>
          <p:nvSpPr>
            <p:cNvPr id="9" name="tender coal"/>
            <p:cNvSpPr/>
            <p:nvPr/>
          </p:nvSpPr>
          <p:spPr>
            <a:xfrm>
              <a:off x="875080" y="1925726"/>
              <a:ext cx="1320394" cy="243230"/>
            </a:xfrm>
            <a:custGeom>
              <a:avLst/>
              <a:gdLst/>
              <a:ahLst/>
              <a:cxnLst/>
              <a:rect l="l" t="t" r="r" b="b"/>
              <a:pathLst>
                <a:path w="1320394" h="243230">
                  <a:moveTo>
                    <a:pt x="0" y="243230"/>
                  </a:moveTo>
                  <a:lnTo>
                    <a:pt x="260604" y="17374"/>
                  </a:lnTo>
                  <a:lnTo>
                    <a:pt x="781812" y="0"/>
                  </a:lnTo>
                  <a:lnTo>
                    <a:pt x="1320394" y="243230"/>
                  </a:lnTo>
                  <a:close/>
                </a:path>
              </a:pathLst>
            </a:custGeom>
            <a:solidFill>
              <a:srgbClr val="1B1D21"/>
            </a:solidFill>
            <a:ln w="12700">
              <a:solidFill>
                <a:srgbClr val="6B7078"/>
              </a:solidFill>
            </a:ln>
          </p:spPr>
          <p:txBody>
            <a:bodyPr rtlCol="0" anchor="ctr"/>
            <a:lstStyle/>
            <a:p>
              <a:pPr algn="ctr"/>
              <a:endParaRPr/>
            </a:p>
          </p:txBody>
        </p:sp>
        <p:sp>
          <p:nvSpPr>
            <p:cNvPr id="10" name="coupling"/>
            <p:cNvSpPr/>
            <p:nvPr/>
          </p:nvSpPr>
          <p:spPr>
            <a:xfrm>
              <a:off x="2247595" y="2533802"/>
              <a:ext cx="121615" cy="52120"/>
            </a:xfrm>
            <a:prstGeom prst="rect">
              <a:avLst/>
            </a:prstGeom>
            <a:solidFill>
              <a:srgbClr val="9AA0A6"/>
            </a:solidFill>
            <a:ln>
              <a:noFill/>
            </a:ln>
          </p:spPr>
          <p:txBody>
            <a:bodyPr rtlCol="0" anchor="ctr"/>
            <a:lstStyle/>
            <a:p>
              <a:pPr algn="ctr"/>
              <a:endParaRPr/>
            </a:p>
          </p:txBody>
        </p:sp>
        <p:sp>
          <p:nvSpPr>
            <p:cNvPr id="11" name="wheel"/>
            <p:cNvSpPr/>
            <p:nvPr/>
          </p:nvSpPr>
          <p:spPr>
            <a:xfrm>
              <a:off x="927201" y="2759659"/>
              <a:ext cx="486460" cy="486460"/>
            </a:xfrm>
            <a:prstGeom prst="ellipse">
              <a:avLst/>
            </a:prstGeom>
            <a:solidFill>
              <a:srgbClr val="1B1D21"/>
            </a:solidFill>
            <a:ln w="19050">
              <a:solidFill>
                <a:srgbClr val="9AA0A6"/>
              </a:solidFill>
            </a:ln>
          </p:spPr>
          <p:txBody>
            <a:bodyPr rtlCol="0" anchor="ctr"/>
            <a:lstStyle/>
            <a:p>
              <a:pPr algn="ctr"/>
              <a:endParaRPr/>
            </a:p>
          </p:txBody>
        </p:sp>
        <p:sp>
          <p:nvSpPr>
            <p:cNvPr id="12" name="hub"/>
            <p:cNvSpPr/>
            <p:nvPr/>
          </p:nvSpPr>
          <p:spPr>
            <a:xfrm>
              <a:off x="1107192" y="2939649"/>
              <a:ext cx="126479" cy="126479"/>
            </a:xfrm>
            <a:prstGeom prst="ellipse">
              <a:avLst/>
            </a:prstGeom>
            <a:solidFill>
              <a:srgbClr val="9AA0A6"/>
            </a:solidFill>
            <a:ln>
              <a:noFill/>
            </a:ln>
          </p:spPr>
          <p:txBody>
            <a:bodyPr rtlCol="0" anchor="ctr"/>
            <a:lstStyle/>
            <a:p>
              <a:pPr algn="ctr"/>
              <a:endParaRPr/>
            </a:p>
          </p:txBody>
        </p:sp>
        <p:sp>
          <p:nvSpPr>
            <p:cNvPr id="13" name="wheel"/>
            <p:cNvSpPr/>
            <p:nvPr/>
          </p:nvSpPr>
          <p:spPr>
            <a:xfrm>
              <a:off x="1656892" y="2759659"/>
              <a:ext cx="486460" cy="486460"/>
            </a:xfrm>
            <a:prstGeom prst="ellipse">
              <a:avLst/>
            </a:prstGeom>
            <a:solidFill>
              <a:srgbClr val="1B1D21"/>
            </a:solidFill>
            <a:ln w="19050">
              <a:solidFill>
                <a:srgbClr val="9AA0A6"/>
              </a:solidFill>
            </a:ln>
          </p:spPr>
          <p:txBody>
            <a:bodyPr rtlCol="0" anchor="ctr"/>
            <a:lstStyle/>
            <a:p>
              <a:pPr algn="ctr"/>
              <a:endParaRPr/>
            </a:p>
          </p:txBody>
        </p:sp>
        <p:sp>
          <p:nvSpPr>
            <p:cNvPr id="14" name="hub"/>
            <p:cNvSpPr/>
            <p:nvPr/>
          </p:nvSpPr>
          <p:spPr>
            <a:xfrm>
              <a:off x="1836883" y="2939649"/>
              <a:ext cx="126479" cy="126479"/>
            </a:xfrm>
            <a:prstGeom prst="ellipse">
              <a:avLst/>
            </a:prstGeom>
            <a:solidFill>
              <a:srgbClr val="9AA0A6"/>
            </a:solidFill>
            <a:ln>
              <a:noFill/>
            </a:ln>
          </p:spPr>
          <p:txBody>
            <a:bodyPr rtlCol="0" anchor="ctr"/>
            <a:lstStyle/>
            <a:p>
              <a:pPr algn="ctr"/>
              <a:endParaRPr/>
            </a:p>
          </p:txBody>
        </p:sp>
        <p:sp>
          <p:nvSpPr>
            <p:cNvPr id="15" name="frame"/>
            <p:cNvSpPr/>
            <p:nvPr/>
          </p:nvSpPr>
          <p:spPr>
            <a:xfrm>
              <a:off x="2369210" y="2742285"/>
              <a:ext cx="4569256" cy="156362"/>
            </a:xfrm>
            <a:prstGeom prst="rect">
              <a:avLst/>
            </a:prstGeom>
            <a:solidFill>
              <a:srgbClr val="3A3F47"/>
            </a:solidFill>
            <a:ln w="9525">
              <a:solidFill>
                <a:srgbClr val="9AA0A6"/>
              </a:solidFill>
            </a:ln>
          </p:spPr>
          <p:txBody>
            <a:bodyPr rtlCol="0" anchor="ctr"/>
            <a:lstStyle/>
            <a:p>
              <a:pPr algn="ctr"/>
              <a:endParaRPr/>
            </a:p>
          </p:txBody>
        </p:sp>
        <p:sp>
          <p:nvSpPr>
            <p:cNvPr id="16" name="cab"/>
            <p:cNvSpPr/>
            <p:nvPr/>
          </p:nvSpPr>
          <p:spPr>
            <a:xfrm>
              <a:off x="2369210" y="1786737"/>
              <a:ext cx="694944" cy="955547"/>
            </a:xfrm>
            <a:prstGeom prst="roundRect">
              <a:avLst>
                <a:gd name="adj" fmla="val 2500"/>
              </a:avLst>
            </a:prstGeom>
            <a:solidFill>
              <a:srgbClr val="9AA0A6"/>
            </a:solidFill>
            <a:ln>
              <a:noFill/>
            </a:ln>
          </p:spPr>
          <p:txBody>
            <a:bodyPr rtlCol="0" anchor="ctr"/>
            <a:lstStyle/>
            <a:p>
              <a:pPr algn="ctr"/>
              <a:endParaRPr/>
            </a:p>
          </p:txBody>
        </p:sp>
        <p:sp>
          <p:nvSpPr>
            <p:cNvPr id="17" name="cab roof"/>
            <p:cNvSpPr/>
            <p:nvPr/>
          </p:nvSpPr>
          <p:spPr>
            <a:xfrm>
              <a:off x="2334463" y="1699869"/>
              <a:ext cx="764438" cy="86868"/>
            </a:xfrm>
            <a:prstGeom prst="rect">
              <a:avLst/>
            </a:prstGeom>
            <a:solidFill>
              <a:srgbClr val="3A3F47"/>
            </a:solidFill>
            <a:ln w="9525">
              <a:solidFill>
                <a:srgbClr val="9AA0A6"/>
              </a:solidFill>
            </a:ln>
          </p:spPr>
          <p:txBody>
            <a:bodyPr rtlCol="0" anchor="ctr"/>
            <a:lstStyle/>
            <a:p>
              <a:pPr algn="ctr"/>
              <a:endParaRPr/>
            </a:p>
          </p:txBody>
        </p:sp>
        <p:sp>
          <p:nvSpPr>
            <p:cNvPr id="18" name="cab window"/>
            <p:cNvSpPr/>
            <p:nvPr/>
          </p:nvSpPr>
          <p:spPr>
            <a:xfrm>
              <a:off x="2542946" y="1925726"/>
              <a:ext cx="312724" cy="312724"/>
            </a:xfrm>
            <a:prstGeom prst="rect">
              <a:avLst/>
            </a:prstGeom>
            <a:solidFill>
              <a:srgbClr val="1B1D21"/>
            </a:solidFill>
            <a:ln>
              <a:noFill/>
            </a:ln>
          </p:spPr>
          <p:txBody>
            <a:bodyPr rtlCol="0" anchor="ctr"/>
            <a:lstStyle/>
            <a:p>
              <a:pPr algn="ctr"/>
              <a:endParaRPr/>
            </a:p>
          </p:txBody>
        </p:sp>
        <p:sp>
          <p:nvSpPr>
            <p:cNvPr id="19" name="boiler"/>
            <p:cNvSpPr/>
            <p:nvPr/>
          </p:nvSpPr>
          <p:spPr>
            <a:xfrm>
              <a:off x="3064154" y="1873605"/>
              <a:ext cx="3526840" cy="694944"/>
            </a:xfrm>
            <a:prstGeom prst="roundRect">
              <a:avLst>
                <a:gd name="adj" fmla="val 25000"/>
              </a:avLst>
            </a:prstGeom>
            <a:solidFill>
              <a:srgbClr val="9AA0A6"/>
            </a:solidFill>
            <a:ln>
              <a:noFill/>
            </a:ln>
          </p:spPr>
          <p:txBody>
            <a:bodyPr rtlCol="0" anchor="ctr"/>
            <a:lstStyle/>
            <a:p>
              <a:pPr algn="ctr"/>
              <a:endParaRPr/>
            </a:p>
          </p:txBody>
        </p:sp>
        <p:sp>
          <p:nvSpPr>
            <p:cNvPr id="20" name="boiler band"/>
            <p:cNvSpPr/>
            <p:nvPr/>
          </p:nvSpPr>
          <p:spPr>
            <a:xfrm>
              <a:off x="4122206" y="1873605"/>
              <a:ext cx="24323" cy="694944"/>
            </a:xfrm>
            <a:prstGeom prst="rect">
              <a:avLst/>
            </a:prstGeom>
            <a:solidFill>
              <a:srgbClr val="6E7377"/>
            </a:solidFill>
            <a:ln>
              <a:noFill/>
            </a:ln>
          </p:spPr>
          <p:txBody>
            <a:bodyPr rtlCol="0" anchor="ctr"/>
            <a:lstStyle/>
            <a:p>
              <a:pPr algn="ctr"/>
              <a:endParaRPr/>
            </a:p>
          </p:txBody>
        </p:sp>
        <p:sp>
          <p:nvSpPr>
            <p:cNvPr id="21" name="boiler band"/>
            <p:cNvSpPr/>
            <p:nvPr/>
          </p:nvSpPr>
          <p:spPr>
            <a:xfrm>
              <a:off x="5003916" y="1873605"/>
              <a:ext cx="24323" cy="694944"/>
            </a:xfrm>
            <a:prstGeom prst="rect">
              <a:avLst/>
            </a:prstGeom>
            <a:solidFill>
              <a:srgbClr val="6E7377"/>
            </a:solidFill>
            <a:ln>
              <a:noFill/>
            </a:ln>
          </p:spPr>
          <p:txBody>
            <a:bodyPr rtlCol="0" anchor="ctr"/>
            <a:lstStyle/>
            <a:p>
              <a:pPr algn="ctr"/>
              <a:endParaRPr/>
            </a:p>
          </p:txBody>
        </p:sp>
        <p:sp>
          <p:nvSpPr>
            <p:cNvPr id="22" name="boiler band"/>
            <p:cNvSpPr/>
            <p:nvPr/>
          </p:nvSpPr>
          <p:spPr>
            <a:xfrm>
              <a:off x="5885627" y="1873605"/>
              <a:ext cx="24323" cy="694944"/>
            </a:xfrm>
            <a:prstGeom prst="rect">
              <a:avLst/>
            </a:prstGeom>
            <a:solidFill>
              <a:srgbClr val="6E7377"/>
            </a:solidFill>
            <a:ln>
              <a:noFill/>
            </a:ln>
          </p:spPr>
          <p:txBody>
            <a:bodyPr rtlCol="0" anchor="ctr"/>
            <a:lstStyle/>
            <a:p>
              <a:pPr algn="ctr"/>
              <a:endParaRPr/>
            </a:p>
          </p:txBody>
        </p:sp>
        <p:sp>
          <p:nvSpPr>
            <p:cNvPr id="23" name="smokebox"/>
            <p:cNvSpPr/>
            <p:nvPr/>
          </p:nvSpPr>
          <p:spPr>
            <a:xfrm>
              <a:off x="6590995" y="1873605"/>
              <a:ext cx="347472" cy="694944"/>
            </a:xfrm>
            <a:prstGeom prst="roundRect">
              <a:avLst>
                <a:gd name="adj" fmla="val 12000"/>
              </a:avLst>
            </a:prstGeom>
            <a:solidFill>
              <a:srgbClr val="4A515B"/>
            </a:solidFill>
            <a:ln>
              <a:noFill/>
            </a:ln>
          </p:spPr>
          <p:txBody>
            <a:bodyPr rtlCol="0" anchor="ctr"/>
            <a:lstStyle/>
            <a:p>
              <a:pPr algn="ctr"/>
              <a:endParaRPr/>
            </a:p>
          </p:txBody>
        </p:sp>
        <p:sp>
          <p:nvSpPr>
            <p:cNvPr id="24" name="chimney"/>
            <p:cNvSpPr/>
            <p:nvPr/>
          </p:nvSpPr>
          <p:spPr>
            <a:xfrm>
              <a:off x="6660489" y="1508760"/>
              <a:ext cx="208483" cy="364845"/>
            </a:xfrm>
            <a:prstGeom prst="rect">
              <a:avLst/>
            </a:prstGeom>
            <a:solidFill>
              <a:srgbClr val="3A3F47"/>
            </a:solidFill>
            <a:ln w="9525">
              <a:solidFill>
                <a:srgbClr val="9AA0A6"/>
              </a:solidFill>
            </a:ln>
          </p:spPr>
          <p:txBody>
            <a:bodyPr rtlCol="0" anchor="ctr"/>
            <a:lstStyle/>
            <a:p>
              <a:pPr algn="ctr"/>
              <a:endParaRPr/>
            </a:p>
          </p:txBody>
        </p:sp>
        <p:sp>
          <p:nvSpPr>
            <p:cNvPr id="25" name="chimney lip"/>
            <p:cNvSpPr/>
            <p:nvPr/>
          </p:nvSpPr>
          <p:spPr>
            <a:xfrm>
              <a:off x="6608368" y="1456639"/>
              <a:ext cx="312724" cy="86868"/>
            </a:xfrm>
            <a:prstGeom prst="rect">
              <a:avLst/>
            </a:prstGeom>
            <a:solidFill>
              <a:srgbClr val="3A3F47"/>
            </a:solidFill>
            <a:ln w="9525">
              <a:solidFill>
                <a:srgbClr val="9AA0A6"/>
              </a:solidFill>
            </a:ln>
          </p:spPr>
          <p:txBody>
            <a:bodyPr rtlCol="0" anchor="ctr"/>
            <a:lstStyle/>
            <a:p>
              <a:pPr algn="ctr"/>
              <a:endParaRPr/>
            </a:p>
          </p:txBody>
        </p:sp>
        <p:sp>
          <p:nvSpPr>
            <p:cNvPr id="26" name="dome"/>
            <p:cNvSpPr/>
            <p:nvPr/>
          </p:nvSpPr>
          <p:spPr>
            <a:xfrm>
              <a:off x="4474890" y="1682495"/>
              <a:ext cx="312724" cy="191109"/>
            </a:xfrm>
            <a:prstGeom prst="roundRect">
              <a:avLst>
                <a:gd name="adj" fmla="val 36363"/>
              </a:avLst>
            </a:prstGeom>
            <a:solidFill>
              <a:srgbClr val="9AA0A6"/>
            </a:solidFill>
            <a:ln>
              <a:noFill/>
            </a:ln>
          </p:spPr>
          <p:txBody>
            <a:bodyPr rtlCol="0" anchor="ctr"/>
            <a:lstStyle/>
            <a:p>
              <a:pPr algn="ctr"/>
              <a:endParaRPr/>
            </a:p>
          </p:txBody>
        </p:sp>
        <p:sp>
          <p:nvSpPr>
            <p:cNvPr id="27" name="wheel"/>
            <p:cNvSpPr/>
            <p:nvPr/>
          </p:nvSpPr>
          <p:spPr>
            <a:xfrm>
              <a:off x="2421331" y="2551176"/>
              <a:ext cx="694944" cy="694944"/>
            </a:xfrm>
            <a:prstGeom prst="ellipse">
              <a:avLst/>
            </a:prstGeom>
            <a:solidFill>
              <a:srgbClr val="1B1D21"/>
            </a:solidFill>
            <a:ln w="19050">
              <a:solidFill>
                <a:srgbClr val="9AA0A6"/>
              </a:solidFill>
            </a:ln>
          </p:spPr>
          <p:txBody>
            <a:bodyPr rtlCol="0" anchor="ctr"/>
            <a:lstStyle/>
            <a:p>
              <a:pPr algn="ctr"/>
              <a:endParaRPr/>
            </a:p>
          </p:txBody>
        </p:sp>
        <p:sp>
          <p:nvSpPr>
            <p:cNvPr id="28" name="hub"/>
            <p:cNvSpPr/>
            <p:nvPr/>
          </p:nvSpPr>
          <p:spPr>
            <a:xfrm>
              <a:off x="2678460" y="2808305"/>
              <a:ext cx="180685" cy="180685"/>
            </a:xfrm>
            <a:prstGeom prst="ellipse">
              <a:avLst/>
            </a:prstGeom>
            <a:solidFill>
              <a:srgbClr val="9AA0A6"/>
            </a:solidFill>
            <a:ln>
              <a:noFill/>
            </a:ln>
          </p:spPr>
          <p:txBody>
            <a:bodyPr rtlCol="0" anchor="ctr"/>
            <a:lstStyle/>
            <a:p>
              <a:pPr algn="ctr"/>
              <a:endParaRPr/>
            </a:p>
          </p:txBody>
        </p:sp>
        <p:sp>
          <p:nvSpPr>
            <p:cNvPr id="29" name="wheel"/>
            <p:cNvSpPr/>
            <p:nvPr/>
          </p:nvSpPr>
          <p:spPr>
            <a:xfrm>
              <a:off x="3203143" y="2551176"/>
              <a:ext cx="694944" cy="694944"/>
            </a:xfrm>
            <a:prstGeom prst="ellipse">
              <a:avLst/>
            </a:prstGeom>
            <a:solidFill>
              <a:srgbClr val="1B1D21"/>
            </a:solidFill>
            <a:ln w="19050">
              <a:solidFill>
                <a:srgbClr val="9AA0A6"/>
              </a:solidFill>
            </a:ln>
          </p:spPr>
          <p:txBody>
            <a:bodyPr rtlCol="0" anchor="ctr"/>
            <a:lstStyle/>
            <a:p>
              <a:pPr algn="ctr"/>
              <a:endParaRPr/>
            </a:p>
          </p:txBody>
        </p:sp>
        <p:sp>
          <p:nvSpPr>
            <p:cNvPr id="30" name="hub"/>
            <p:cNvSpPr/>
            <p:nvPr/>
          </p:nvSpPr>
          <p:spPr>
            <a:xfrm>
              <a:off x="3460272" y="2808305"/>
              <a:ext cx="180685" cy="180685"/>
            </a:xfrm>
            <a:prstGeom prst="ellipse">
              <a:avLst/>
            </a:prstGeom>
            <a:solidFill>
              <a:srgbClr val="9AA0A6"/>
            </a:solidFill>
            <a:ln>
              <a:noFill/>
            </a:ln>
          </p:spPr>
          <p:txBody>
            <a:bodyPr rtlCol="0" anchor="ctr"/>
            <a:lstStyle/>
            <a:p>
              <a:pPr algn="ctr"/>
              <a:endParaRPr/>
            </a:p>
          </p:txBody>
        </p:sp>
        <p:sp>
          <p:nvSpPr>
            <p:cNvPr id="31" name="wheel"/>
            <p:cNvSpPr/>
            <p:nvPr/>
          </p:nvSpPr>
          <p:spPr>
            <a:xfrm>
              <a:off x="3984955" y="2551176"/>
              <a:ext cx="694944" cy="694944"/>
            </a:xfrm>
            <a:prstGeom prst="ellipse">
              <a:avLst/>
            </a:prstGeom>
            <a:solidFill>
              <a:srgbClr val="1B1D21"/>
            </a:solidFill>
            <a:ln w="19050">
              <a:solidFill>
                <a:srgbClr val="9AA0A6"/>
              </a:solidFill>
            </a:ln>
          </p:spPr>
          <p:txBody>
            <a:bodyPr rtlCol="0" anchor="ctr"/>
            <a:lstStyle/>
            <a:p>
              <a:pPr algn="ctr"/>
              <a:endParaRPr/>
            </a:p>
          </p:txBody>
        </p:sp>
        <p:sp>
          <p:nvSpPr>
            <p:cNvPr id="32" name="hub"/>
            <p:cNvSpPr/>
            <p:nvPr/>
          </p:nvSpPr>
          <p:spPr>
            <a:xfrm>
              <a:off x="4242084" y="2808305"/>
              <a:ext cx="180685" cy="180685"/>
            </a:xfrm>
            <a:prstGeom prst="ellipse">
              <a:avLst/>
            </a:prstGeom>
            <a:solidFill>
              <a:srgbClr val="9AA0A6"/>
            </a:solidFill>
            <a:ln>
              <a:noFill/>
            </a:ln>
          </p:spPr>
          <p:txBody>
            <a:bodyPr rtlCol="0" anchor="ctr"/>
            <a:lstStyle/>
            <a:p>
              <a:pPr algn="ctr"/>
              <a:endParaRPr/>
            </a:p>
          </p:txBody>
        </p:sp>
        <p:sp>
          <p:nvSpPr>
            <p:cNvPr id="33" name="wheel"/>
            <p:cNvSpPr/>
            <p:nvPr/>
          </p:nvSpPr>
          <p:spPr>
            <a:xfrm>
              <a:off x="4766767" y="2551176"/>
              <a:ext cx="694944" cy="694944"/>
            </a:xfrm>
            <a:prstGeom prst="ellipse">
              <a:avLst/>
            </a:prstGeom>
            <a:solidFill>
              <a:srgbClr val="1B1D21"/>
            </a:solidFill>
            <a:ln w="19050">
              <a:solidFill>
                <a:srgbClr val="9AA0A6"/>
              </a:solidFill>
            </a:ln>
          </p:spPr>
          <p:txBody>
            <a:bodyPr rtlCol="0" anchor="ctr"/>
            <a:lstStyle/>
            <a:p>
              <a:pPr algn="ctr"/>
              <a:endParaRPr/>
            </a:p>
          </p:txBody>
        </p:sp>
        <p:sp>
          <p:nvSpPr>
            <p:cNvPr id="34" name="hub"/>
            <p:cNvSpPr/>
            <p:nvPr/>
          </p:nvSpPr>
          <p:spPr>
            <a:xfrm>
              <a:off x="5023896" y="2808305"/>
              <a:ext cx="180685" cy="180685"/>
            </a:xfrm>
            <a:prstGeom prst="ellipse">
              <a:avLst/>
            </a:prstGeom>
            <a:solidFill>
              <a:srgbClr val="9AA0A6"/>
            </a:solidFill>
            <a:ln>
              <a:noFill/>
            </a:ln>
          </p:spPr>
          <p:txBody>
            <a:bodyPr rtlCol="0" anchor="ctr"/>
            <a:lstStyle/>
            <a:p>
              <a:pPr algn="ctr"/>
              <a:endParaRPr/>
            </a:p>
          </p:txBody>
        </p:sp>
        <p:sp>
          <p:nvSpPr>
            <p:cNvPr id="35" name="wheel"/>
            <p:cNvSpPr/>
            <p:nvPr/>
          </p:nvSpPr>
          <p:spPr>
            <a:xfrm>
              <a:off x="5722315" y="2863900"/>
              <a:ext cx="382219" cy="382219"/>
            </a:xfrm>
            <a:prstGeom prst="ellipse">
              <a:avLst/>
            </a:prstGeom>
            <a:solidFill>
              <a:srgbClr val="1B1D21"/>
            </a:solidFill>
            <a:ln w="19050">
              <a:solidFill>
                <a:srgbClr val="9AA0A6"/>
              </a:solidFill>
            </a:ln>
          </p:spPr>
          <p:txBody>
            <a:bodyPr rtlCol="0" anchor="ctr"/>
            <a:lstStyle/>
            <a:p>
              <a:pPr algn="ctr"/>
              <a:endParaRPr/>
            </a:p>
          </p:txBody>
        </p:sp>
        <p:sp>
          <p:nvSpPr>
            <p:cNvPr id="36" name="hub"/>
            <p:cNvSpPr/>
            <p:nvPr/>
          </p:nvSpPr>
          <p:spPr>
            <a:xfrm>
              <a:off x="5863736" y="3005321"/>
              <a:ext cx="99376" cy="99376"/>
            </a:xfrm>
            <a:prstGeom prst="ellipse">
              <a:avLst/>
            </a:prstGeom>
            <a:solidFill>
              <a:srgbClr val="9AA0A6"/>
            </a:solidFill>
            <a:ln>
              <a:noFill/>
            </a:ln>
          </p:spPr>
          <p:txBody>
            <a:bodyPr rtlCol="0" anchor="ctr"/>
            <a:lstStyle/>
            <a:p>
              <a:pPr algn="ctr"/>
              <a:endParaRPr/>
            </a:p>
          </p:txBody>
        </p:sp>
        <p:sp>
          <p:nvSpPr>
            <p:cNvPr id="37" name="coupling rod"/>
            <p:cNvSpPr/>
            <p:nvPr/>
          </p:nvSpPr>
          <p:spPr>
            <a:xfrm>
              <a:off x="2768803" y="2700588"/>
              <a:ext cx="2345436" cy="48646"/>
            </a:xfrm>
            <a:prstGeom prst="rect">
              <a:avLst/>
            </a:prstGeom>
            <a:solidFill>
              <a:srgbClr val="D0D4D8"/>
            </a:solidFill>
            <a:ln>
              <a:noFill/>
            </a:ln>
          </p:spPr>
          <p:txBody>
            <a:bodyPr rtlCol="0" anchor="ctr"/>
            <a:lstStyle/>
            <a:p>
              <a:pPr algn="ctr"/>
              <a:endParaRPr/>
            </a:p>
          </p:txBody>
        </p:sp>
        <p:sp>
          <p:nvSpPr>
            <p:cNvPr id="38" name="buffer beam"/>
            <p:cNvSpPr/>
            <p:nvPr/>
          </p:nvSpPr>
          <p:spPr>
            <a:xfrm>
              <a:off x="6938467" y="2585923"/>
              <a:ext cx="104241" cy="312724"/>
            </a:xfrm>
            <a:prstGeom prst="rect">
              <a:avLst/>
            </a:prstGeom>
            <a:solidFill>
              <a:srgbClr val="9AA0A6"/>
            </a:solidFill>
            <a:ln>
              <a:noFill/>
            </a:ln>
          </p:spPr>
          <p:txBody>
            <a:bodyPr rtlCol="0" anchor="ctr"/>
            <a:lstStyle/>
            <a:p>
              <a:pPr algn="ctr"/>
              <a:endParaRPr/>
            </a:p>
          </p:txBody>
        </p:sp>
        <p:sp>
          <p:nvSpPr>
            <p:cNvPr id="39" name="number plate (blank)"/>
            <p:cNvSpPr/>
            <p:nvPr/>
          </p:nvSpPr>
          <p:spPr>
            <a:xfrm>
              <a:off x="1066190" y="2238451"/>
              <a:ext cx="868680" cy="274320"/>
            </a:xfrm>
            <a:prstGeom prst="roundRect">
              <a:avLst>
                <a:gd name="adj" fmla="val 26666"/>
              </a:avLst>
            </a:prstGeom>
            <a:solidFill>
              <a:srgbClr val="1B1D21"/>
            </a:solidFill>
            <a:ln w="25400">
              <a:solidFill>
                <a:srgbClr val="F28C28"/>
              </a:solidFill>
            </a:ln>
          </p:spPr>
          <p:txBody>
            <a:bodyPr rtlCol="0" anchor="ctr"/>
            <a:lstStyle/>
            <a:p>
              <a:pPr algn="ctr"/>
              <a:endParaRPr/>
            </a:p>
          </p:txBody>
        </p:sp>
        <p:sp>
          <p:nvSpPr>
            <p:cNvPr id="40" name="digit bar"/>
            <p:cNvSpPr/>
            <p:nvPr/>
          </p:nvSpPr>
          <p:spPr>
            <a:xfrm>
              <a:off x="1239926" y="2320747"/>
              <a:ext cx="121615" cy="109728"/>
            </a:xfrm>
            <a:prstGeom prst="rect">
              <a:avLst/>
            </a:prstGeom>
            <a:solidFill>
              <a:srgbClr val="A9B0B8"/>
            </a:solidFill>
            <a:ln>
              <a:noFill/>
            </a:ln>
          </p:spPr>
          <p:txBody>
            <a:bodyPr rtlCol="0" anchor="ctr"/>
            <a:lstStyle/>
            <a:p>
              <a:pPr algn="ctr"/>
              <a:endParaRPr/>
            </a:p>
          </p:txBody>
        </p:sp>
        <p:sp>
          <p:nvSpPr>
            <p:cNvPr id="41" name="digit bar"/>
            <p:cNvSpPr/>
            <p:nvPr/>
          </p:nvSpPr>
          <p:spPr>
            <a:xfrm>
              <a:off x="1431036" y="2320747"/>
              <a:ext cx="121615" cy="109728"/>
            </a:xfrm>
            <a:prstGeom prst="rect">
              <a:avLst/>
            </a:prstGeom>
            <a:solidFill>
              <a:srgbClr val="A9B0B8"/>
            </a:solidFill>
            <a:ln>
              <a:noFill/>
            </a:ln>
          </p:spPr>
          <p:txBody>
            <a:bodyPr rtlCol="0" anchor="ctr"/>
            <a:lstStyle/>
            <a:p>
              <a:pPr algn="ctr"/>
              <a:endParaRPr/>
            </a:p>
          </p:txBody>
        </p:sp>
        <p:sp>
          <p:nvSpPr>
            <p:cNvPr id="42" name="digit bar"/>
            <p:cNvSpPr/>
            <p:nvPr/>
          </p:nvSpPr>
          <p:spPr>
            <a:xfrm>
              <a:off x="1622145" y="2320747"/>
              <a:ext cx="121615" cy="109728"/>
            </a:xfrm>
            <a:prstGeom prst="rect">
              <a:avLst/>
            </a:prstGeom>
            <a:solidFill>
              <a:srgbClr val="A9B0B8"/>
            </a:solidFill>
            <a:ln>
              <a:noFill/>
            </a:ln>
          </p:spPr>
          <p:txBody>
            <a:bodyPr rtlCol="0" anchor="ctr"/>
            <a:lstStyle/>
            <a:p>
              <a:pPr algn="ctr"/>
              <a:endParaRPr/>
            </a:p>
          </p:txBody>
        </p:sp>
        <p:sp>
          <p:nvSpPr>
            <p:cNvPr id="43" name="number plate (blank)"/>
            <p:cNvSpPr/>
            <p:nvPr/>
          </p:nvSpPr>
          <p:spPr>
            <a:xfrm>
              <a:off x="2456078" y="2394813"/>
              <a:ext cx="548640" cy="219456"/>
            </a:xfrm>
            <a:prstGeom prst="roundRect">
              <a:avLst>
                <a:gd name="adj" fmla="val 33333"/>
              </a:avLst>
            </a:prstGeom>
            <a:solidFill>
              <a:srgbClr val="1B1D21"/>
            </a:solidFill>
            <a:ln w="25400">
              <a:solidFill>
                <a:srgbClr val="F28C28"/>
              </a:solidFill>
            </a:ln>
          </p:spPr>
          <p:txBody>
            <a:bodyPr rtlCol="0" anchor="ctr"/>
            <a:lstStyle/>
            <a:p>
              <a:pPr algn="ctr"/>
              <a:endParaRPr/>
            </a:p>
          </p:txBody>
        </p:sp>
        <p:sp>
          <p:nvSpPr>
            <p:cNvPr id="44" name="digit bar"/>
            <p:cNvSpPr/>
            <p:nvPr/>
          </p:nvSpPr>
          <p:spPr>
            <a:xfrm>
              <a:off x="2565806" y="2460650"/>
              <a:ext cx="76809" cy="87782"/>
            </a:xfrm>
            <a:prstGeom prst="rect">
              <a:avLst/>
            </a:prstGeom>
            <a:solidFill>
              <a:srgbClr val="A9B0B8"/>
            </a:solidFill>
            <a:ln>
              <a:noFill/>
            </a:ln>
          </p:spPr>
          <p:txBody>
            <a:bodyPr rtlCol="0" anchor="ctr"/>
            <a:lstStyle/>
            <a:p>
              <a:pPr algn="ctr"/>
              <a:endParaRPr/>
            </a:p>
          </p:txBody>
        </p:sp>
        <p:sp>
          <p:nvSpPr>
            <p:cNvPr id="45" name="digit bar"/>
            <p:cNvSpPr/>
            <p:nvPr/>
          </p:nvSpPr>
          <p:spPr>
            <a:xfrm>
              <a:off x="2686507" y="2460650"/>
              <a:ext cx="76809" cy="87782"/>
            </a:xfrm>
            <a:prstGeom prst="rect">
              <a:avLst/>
            </a:prstGeom>
            <a:solidFill>
              <a:srgbClr val="A9B0B8"/>
            </a:solidFill>
            <a:ln>
              <a:noFill/>
            </a:ln>
          </p:spPr>
          <p:txBody>
            <a:bodyPr rtlCol="0" anchor="ctr"/>
            <a:lstStyle/>
            <a:p>
              <a:pPr algn="ctr"/>
              <a:endParaRPr/>
            </a:p>
          </p:txBody>
        </p:sp>
        <p:sp>
          <p:nvSpPr>
            <p:cNvPr id="46" name="digit bar"/>
            <p:cNvSpPr/>
            <p:nvPr/>
          </p:nvSpPr>
          <p:spPr>
            <a:xfrm>
              <a:off x="2807208" y="2460650"/>
              <a:ext cx="76809" cy="87782"/>
            </a:xfrm>
            <a:prstGeom prst="rect">
              <a:avLst/>
            </a:prstGeom>
            <a:solidFill>
              <a:srgbClr val="A9B0B8"/>
            </a:solidFill>
            <a:ln>
              <a:noFill/>
            </a:ln>
          </p:spPr>
          <p:txBody>
            <a:bodyPr rtlCol="0" anchor="ctr"/>
            <a:lstStyle/>
            <a:p>
              <a:pPr algn="ctr"/>
              <a:endParaRPr/>
            </a:p>
          </p:txBody>
        </p:sp>
        <p:sp>
          <p:nvSpPr>
            <p:cNvPr id="47" name="front mark"/>
            <p:cNvSpPr/>
            <p:nvPr/>
          </p:nvSpPr>
          <p:spPr>
            <a:xfrm>
              <a:off x="6921093" y="2029967"/>
              <a:ext cx="91440" cy="457200"/>
            </a:xfrm>
            <a:prstGeom prst="rect">
              <a:avLst/>
            </a:prstGeom>
            <a:solidFill>
              <a:srgbClr val="F28C28"/>
            </a:solidFill>
            <a:ln>
              <a:noFill/>
            </a:ln>
          </p:spPr>
          <p:txBody>
            <a:bodyPr rtlCol="0" anchor="ctr"/>
            <a:lstStyle/>
            <a:p>
              <a:pPr algn="ctr"/>
              <a:endParaRPr/>
            </a:p>
          </p:txBody>
        </p:sp>
        <p:sp>
          <p:nvSpPr>
            <p:cNvPr id="48" name="mark label"/>
            <p:cNvSpPr txBox="1"/>
            <p:nvPr/>
          </p:nvSpPr>
          <p:spPr>
            <a:xfrm>
              <a:off x="1020470" y="1280160"/>
              <a:ext cx="1005840" cy="310896"/>
            </a:xfrm>
            <a:prstGeom prst="rect">
              <a:avLst/>
            </a:prstGeom>
            <a:noFill/>
          </p:spPr>
          <p:txBody>
            <a:bodyPr wrap="square" lIns="18288" tIns="9144" rIns="18288" bIns="9144" anchor="ctr">
              <a:noAutofit/>
            </a:bodyPr>
            <a:lstStyle/>
            <a:p>
              <a:pPr algn="ctr"/>
              <a:r>
                <a:rPr lang="en-GB" sz="1400" b="1" i="0">
                  <a:solidFill>
                    <a:srgbClr val="F2F2F2"/>
                  </a:solidFill>
                  <a:latin typeface="Arial"/>
                </a:rPr>
                <a:t>Tender</a:t>
              </a:r>
            </a:p>
          </p:txBody>
        </p:sp>
        <p:cxnSp>
          <p:nvCxnSpPr>
            <p:cNvPr id="49" name="leader"/>
            <p:cNvCxnSpPr/>
            <p:nvPr/>
          </p:nvCxnSpPr>
          <p:spPr>
            <a:xfrm>
              <a:off x="1477670" y="1609344"/>
              <a:ext cx="0" cy="647395"/>
            </a:xfrm>
            <a:prstGeom prst="line">
              <a:avLst/>
            </a:prstGeom>
            <a:ln w="22225">
              <a:solidFill>
                <a:srgbClr val="F28C28"/>
              </a:solidFill>
            </a:ln>
          </p:spPr>
        </p:cxnSp>
        <p:sp>
          <p:nvSpPr>
            <p:cNvPr id="50" name="leader dot"/>
            <p:cNvSpPr/>
            <p:nvPr/>
          </p:nvSpPr>
          <p:spPr>
            <a:xfrm>
              <a:off x="1422806" y="2201875"/>
              <a:ext cx="109728" cy="109728"/>
            </a:xfrm>
            <a:prstGeom prst="ellipse">
              <a:avLst/>
            </a:prstGeom>
            <a:solidFill>
              <a:srgbClr val="F28C28"/>
            </a:solidFill>
            <a:ln>
              <a:noFill/>
            </a:ln>
          </p:spPr>
          <p:txBody>
            <a:bodyPr rtlCol="0" anchor="ctr"/>
            <a:lstStyle/>
            <a:p>
              <a:pPr algn="ctr"/>
              <a:endParaRPr/>
            </a:p>
          </p:txBody>
        </p:sp>
        <p:sp>
          <p:nvSpPr>
            <p:cNvPr id="51" name="mark label"/>
            <p:cNvSpPr txBox="1"/>
            <p:nvPr/>
          </p:nvSpPr>
          <p:spPr>
            <a:xfrm>
              <a:off x="2227478" y="1280160"/>
              <a:ext cx="1005840" cy="310896"/>
            </a:xfrm>
            <a:prstGeom prst="rect">
              <a:avLst/>
            </a:prstGeom>
            <a:noFill/>
          </p:spPr>
          <p:txBody>
            <a:bodyPr wrap="square" lIns="18288" tIns="9144" rIns="18288" bIns="9144" anchor="ctr">
              <a:noAutofit/>
            </a:bodyPr>
            <a:lstStyle/>
            <a:p>
              <a:pPr algn="ctr"/>
              <a:r>
                <a:rPr lang="en-GB" sz="1400" b="1" i="0">
                  <a:solidFill>
                    <a:srgbClr val="F2F2F2"/>
                  </a:solidFill>
                  <a:latin typeface="Arial"/>
                </a:rPr>
                <a:t>Cab side</a:t>
              </a:r>
            </a:p>
          </p:txBody>
        </p:sp>
        <p:cxnSp>
          <p:nvCxnSpPr>
            <p:cNvPr id="52" name="leader"/>
            <p:cNvCxnSpPr/>
            <p:nvPr/>
          </p:nvCxnSpPr>
          <p:spPr>
            <a:xfrm>
              <a:off x="2730398" y="1609344"/>
              <a:ext cx="0" cy="803757"/>
            </a:xfrm>
            <a:prstGeom prst="line">
              <a:avLst/>
            </a:prstGeom>
            <a:ln w="22225">
              <a:solidFill>
                <a:srgbClr val="F28C28"/>
              </a:solidFill>
            </a:ln>
          </p:spPr>
        </p:cxnSp>
        <p:sp>
          <p:nvSpPr>
            <p:cNvPr id="53" name="leader dot"/>
            <p:cNvSpPr/>
            <p:nvPr/>
          </p:nvSpPr>
          <p:spPr>
            <a:xfrm>
              <a:off x="2675534" y="2358237"/>
              <a:ext cx="109728" cy="109728"/>
            </a:xfrm>
            <a:prstGeom prst="ellipse">
              <a:avLst/>
            </a:prstGeom>
            <a:solidFill>
              <a:srgbClr val="F28C28"/>
            </a:solidFill>
            <a:ln>
              <a:noFill/>
            </a:ln>
          </p:spPr>
          <p:txBody>
            <a:bodyPr rtlCol="0" anchor="ctr"/>
            <a:lstStyle/>
            <a:p>
              <a:pPr algn="ctr"/>
              <a:endParaRPr/>
            </a:p>
          </p:txBody>
        </p:sp>
        <p:sp>
          <p:nvSpPr>
            <p:cNvPr id="54" name="mark label"/>
            <p:cNvSpPr txBox="1"/>
            <p:nvPr/>
          </p:nvSpPr>
          <p:spPr>
            <a:xfrm>
              <a:off x="7454188" y="2011679"/>
              <a:ext cx="1737360" cy="493776"/>
            </a:xfrm>
            <a:prstGeom prst="rect">
              <a:avLst/>
            </a:prstGeom>
            <a:noFill/>
          </p:spPr>
          <p:txBody>
            <a:bodyPr wrap="square" lIns="18288" tIns="9144" rIns="18288" bIns="9144" anchor="ctr">
              <a:noAutofit/>
            </a:bodyPr>
            <a:lstStyle/>
            <a:p>
              <a:pPr algn="l"/>
              <a:r>
                <a:rPr lang="en-GB" sz="1400" b="1" i="0">
                  <a:solidFill>
                    <a:srgbClr val="F2F2F2"/>
                  </a:solidFill>
                  <a:latin typeface="Arial"/>
                </a:rPr>
                <a:t>Front of the boiler</a:t>
              </a:r>
            </a:p>
          </p:txBody>
        </p:sp>
        <p:cxnSp>
          <p:nvCxnSpPr>
            <p:cNvPr id="55" name="leader"/>
            <p:cNvCxnSpPr/>
            <p:nvPr/>
          </p:nvCxnSpPr>
          <p:spPr>
            <a:xfrm flipH="1">
              <a:off x="6955840" y="2258568"/>
              <a:ext cx="452628" cy="0"/>
            </a:xfrm>
            <a:prstGeom prst="line">
              <a:avLst/>
            </a:prstGeom>
            <a:ln w="22225">
              <a:solidFill>
                <a:srgbClr val="F28C28"/>
              </a:solidFill>
            </a:ln>
          </p:spPr>
        </p:cxnSp>
        <p:sp>
          <p:nvSpPr>
            <p:cNvPr id="56" name="leader dot"/>
            <p:cNvSpPr/>
            <p:nvPr/>
          </p:nvSpPr>
          <p:spPr>
            <a:xfrm>
              <a:off x="6900976" y="2203703"/>
              <a:ext cx="109728" cy="109728"/>
            </a:xfrm>
            <a:prstGeom prst="ellipse">
              <a:avLst/>
            </a:prstGeom>
            <a:solidFill>
              <a:srgbClr val="F28C28"/>
            </a:solidFill>
            <a:ln>
              <a:noFill/>
            </a:ln>
          </p:spPr>
          <p:txBody>
            <a:bodyPr rtlCol="0" anchor="ctr"/>
            <a:lstStyle/>
            <a:p>
              <a:pPr algn="ctr"/>
              <a:endParaRPr/>
            </a:p>
          </p:txBody>
        </p:sp>
        <p:sp>
          <p:nvSpPr>
            <p:cNvPr id="57" name="rail"/>
            <p:cNvSpPr/>
            <p:nvPr/>
          </p:nvSpPr>
          <p:spPr>
            <a:xfrm>
              <a:off x="5577840" y="5440680"/>
              <a:ext cx="5486400" cy="64008"/>
            </a:xfrm>
            <a:prstGeom prst="rect">
              <a:avLst/>
            </a:prstGeom>
            <a:solidFill>
              <a:srgbClr val="9AA0A6"/>
            </a:solidFill>
            <a:ln>
              <a:noFill/>
            </a:ln>
          </p:spPr>
          <p:txBody>
            <a:bodyPr rtlCol="0" anchor="ctr"/>
            <a:lstStyle/>
            <a:p>
              <a:pPr algn="ctr"/>
              <a:endParaRPr/>
            </a:p>
          </p:txBody>
        </p:sp>
        <p:sp>
          <p:nvSpPr>
            <p:cNvPr id="58" name="frame"/>
            <p:cNvSpPr/>
            <p:nvPr/>
          </p:nvSpPr>
          <p:spPr>
            <a:xfrm>
              <a:off x="5852160" y="4936845"/>
              <a:ext cx="4551883" cy="156362"/>
            </a:xfrm>
            <a:prstGeom prst="rect">
              <a:avLst/>
            </a:prstGeom>
            <a:solidFill>
              <a:srgbClr val="3A3F47"/>
            </a:solidFill>
            <a:ln w="9525">
              <a:solidFill>
                <a:srgbClr val="9AA0A6"/>
              </a:solidFill>
            </a:ln>
          </p:spPr>
          <p:txBody>
            <a:bodyPr rtlCol="0" anchor="ctr"/>
            <a:lstStyle/>
            <a:p>
              <a:pPr algn="ctr"/>
              <a:endParaRPr/>
            </a:p>
          </p:txBody>
        </p:sp>
        <p:sp>
          <p:nvSpPr>
            <p:cNvPr id="59" name="bunker"/>
            <p:cNvSpPr/>
            <p:nvPr/>
          </p:nvSpPr>
          <p:spPr>
            <a:xfrm>
              <a:off x="5852160" y="4259275"/>
              <a:ext cx="590702" cy="677570"/>
            </a:xfrm>
            <a:prstGeom prst="roundRect">
              <a:avLst>
                <a:gd name="adj" fmla="val 2941"/>
              </a:avLst>
            </a:prstGeom>
            <a:solidFill>
              <a:srgbClr val="9AA0A6"/>
            </a:solidFill>
            <a:ln>
              <a:noFill/>
            </a:ln>
          </p:spPr>
          <p:txBody>
            <a:bodyPr rtlCol="0" anchor="ctr"/>
            <a:lstStyle/>
            <a:p>
              <a:pPr algn="ctr"/>
              <a:endParaRPr/>
            </a:p>
          </p:txBody>
        </p:sp>
        <p:sp>
          <p:nvSpPr>
            <p:cNvPr id="60" name="bunker coal"/>
            <p:cNvSpPr/>
            <p:nvPr/>
          </p:nvSpPr>
          <p:spPr>
            <a:xfrm>
              <a:off x="5886907" y="4085539"/>
              <a:ext cx="521208" cy="173736"/>
            </a:xfrm>
            <a:custGeom>
              <a:avLst/>
              <a:gdLst/>
              <a:ahLst/>
              <a:cxnLst/>
              <a:rect l="l" t="t" r="r" b="b"/>
              <a:pathLst>
                <a:path w="521208" h="173736">
                  <a:moveTo>
                    <a:pt x="0" y="173736"/>
                  </a:moveTo>
                  <a:lnTo>
                    <a:pt x="138989" y="17373"/>
                  </a:lnTo>
                  <a:lnTo>
                    <a:pt x="347472" y="0"/>
                  </a:lnTo>
                  <a:lnTo>
                    <a:pt x="521208" y="173736"/>
                  </a:lnTo>
                  <a:close/>
                </a:path>
              </a:pathLst>
            </a:custGeom>
            <a:solidFill>
              <a:srgbClr val="1B1D21"/>
            </a:solidFill>
            <a:ln w="12700">
              <a:solidFill>
                <a:srgbClr val="6B7078"/>
              </a:solidFill>
            </a:ln>
          </p:spPr>
          <p:txBody>
            <a:bodyPr rtlCol="0" anchor="ctr"/>
            <a:lstStyle/>
            <a:p>
              <a:pPr algn="ctr"/>
              <a:endParaRPr/>
            </a:p>
          </p:txBody>
        </p:sp>
        <p:sp>
          <p:nvSpPr>
            <p:cNvPr id="61" name="cab"/>
            <p:cNvSpPr/>
            <p:nvPr/>
          </p:nvSpPr>
          <p:spPr>
            <a:xfrm>
              <a:off x="6442862" y="3981297"/>
              <a:ext cx="694944" cy="955547"/>
            </a:xfrm>
            <a:prstGeom prst="roundRect">
              <a:avLst>
                <a:gd name="adj" fmla="val 2500"/>
              </a:avLst>
            </a:prstGeom>
            <a:solidFill>
              <a:srgbClr val="9AA0A6"/>
            </a:solidFill>
            <a:ln>
              <a:noFill/>
            </a:ln>
          </p:spPr>
          <p:txBody>
            <a:bodyPr rtlCol="0" anchor="ctr"/>
            <a:lstStyle/>
            <a:p>
              <a:pPr algn="ctr"/>
              <a:endParaRPr/>
            </a:p>
          </p:txBody>
        </p:sp>
        <p:sp>
          <p:nvSpPr>
            <p:cNvPr id="62" name="cab roof"/>
            <p:cNvSpPr/>
            <p:nvPr/>
          </p:nvSpPr>
          <p:spPr>
            <a:xfrm>
              <a:off x="6408115" y="3894429"/>
              <a:ext cx="764438" cy="86868"/>
            </a:xfrm>
            <a:prstGeom prst="rect">
              <a:avLst/>
            </a:prstGeom>
            <a:solidFill>
              <a:srgbClr val="3A3F47"/>
            </a:solidFill>
            <a:ln w="9525">
              <a:solidFill>
                <a:srgbClr val="9AA0A6"/>
              </a:solidFill>
            </a:ln>
          </p:spPr>
          <p:txBody>
            <a:bodyPr rtlCol="0" anchor="ctr"/>
            <a:lstStyle/>
            <a:p>
              <a:pPr algn="ctr"/>
              <a:endParaRPr/>
            </a:p>
          </p:txBody>
        </p:sp>
        <p:sp>
          <p:nvSpPr>
            <p:cNvPr id="63" name="cab window"/>
            <p:cNvSpPr/>
            <p:nvPr/>
          </p:nvSpPr>
          <p:spPr>
            <a:xfrm>
              <a:off x="6616598" y="4120286"/>
              <a:ext cx="312724" cy="312724"/>
            </a:xfrm>
            <a:prstGeom prst="rect">
              <a:avLst/>
            </a:prstGeom>
            <a:solidFill>
              <a:srgbClr val="1B1D21"/>
            </a:solidFill>
            <a:ln>
              <a:noFill/>
            </a:ln>
          </p:spPr>
          <p:txBody>
            <a:bodyPr rtlCol="0" anchor="ctr"/>
            <a:lstStyle/>
            <a:p>
              <a:pPr algn="ctr"/>
              <a:endParaRPr/>
            </a:p>
          </p:txBody>
        </p:sp>
        <p:sp>
          <p:nvSpPr>
            <p:cNvPr id="64" name="boiler"/>
            <p:cNvSpPr/>
            <p:nvPr/>
          </p:nvSpPr>
          <p:spPr>
            <a:xfrm>
              <a:off x="7137806" y="4068165"/>
              <a:ext cx="2918764" cy="694944"/>
            </a:xfrm>
            <a:prstGeom prst="roundRect">
              <a:avLst>
                <a:gd name="adj" fmla="val 25000"/>
              </a:avLst>
            </a:prstGeom>
            <a:solidFill>
              <a:srgbClr val="9AA0A6"/>
            </a:solidFill>
            <a:ln>
              <a:noFill/>
            </a:ln>
          </p:spPr>
          <p:txBody>
            <a:bodyPr rtlCol="0" anchor="ctr"/>
            <a:lstStyle/>
            <a:p>
              <a:pPr algn="ctr"/>
              <a:endParaRPr/>
            </a:p>
          </p:txBody>
        </p:sp>
        <p:sp>
          <p:nvSpPr>
            <p:cNvPr id="65" name="side tank"/>
            <p:cNvSpPr/>
            <p:nvPr/>
          </p:nvSpPr>
          <p:spPr>
            <a:xfrm>
              <a:off x="7137806" y="4311396"/>
              <a:ext cx="2745028" cy="608076"/>
            </a:xfrm>
            <a:prstGeom prst="roundRect">
              <a:avLst>
                <a:gd name="adj" fmla="val 14285"/>
              </a:avLst>
            </a:prstGeom>
            <a:solidFill>
              <a:srgbClr val="6E7377"/>
            </a:solidFill>
            <a:ln>
              <a:noFill/>
            </a:ln>
          </p:spPr>
          <p:txBody>
            <a:bodyPr rtlCol="0" anchor="ctr"/>
            <a:lstStyle/>
            <a:p>
              <a:pPr algn="ctr"/>
              <a:endParaRPr/>
            </a:p>
          </p:txBody>
        </p:sp>
        <p:sp>
          <p:nvSpPr>
            <p:cNvPr id="66" name="smokebox"/>
            <p:cNvSpPr/>
            <p:nvPr/>
          </p:nvSpPr>
          <p:spPr>
            <a:xfrm>
              <a:off x="10056571" y="4068165"/>
              <a:ext cx="347472" cy="694944"/>
            </a:xfrm>
            <a:prstGeom prst="roundRect">
              <a:avLst>
                <a:gd name="adj" fmla="val 12000"/>
              </a:avLst>
            </a:prstGeom>
            <a:solidFill>
              <a:srgbClr val="4A515B"/>
            </a:solidFill>
            <a:ln>
              <a:noFill/>
            </a:ln>
          </p:spPr>
          <p:txBody>
            <a:bodyPr rtlCol="0" anchor="ctr"/>
            <a:lstStyle/>
            <a:p>
              <a:pPr algn="ctr"/>
              <a:endParaRPr/>
            </a:p>
          </p:txBody>
        </p:sp>
        <p:sp>
          <p:nvSpPr>
            <p:cNvPr id="67" name="chimney"/>
            <p:cNvSpPr/>
            <p:nvPr/>
          </p:nvSpPr>
          <p:spPr>
            <a:xfrm>
              <a:off x="10126065" y="3703320"/>
              <a:ext cx="208483" cy="364845"/>
            </a:xfrm>
            <a:prstGeom prst="rect">
              <a:avLst/>
            </a:prstGeom>
            <a:solidFill>
              <a:srgbClr val="3A3F47"/>
            </a:solidFill>
            <a:ln w="9525">
              <a:solidFill>
                <a:srgbClr val="9AA0A6"/>
              </a:solidFill>
            </a:ln>
          </p:spPr>
          <p:txBody>
            <a:bodyPr rtlCol="0" anchor="ctr"/>
            <a:lstStyle/>
            <a:p>
              <a:pPr algn="ctr"/>
              <a:endParaRPr/>
            </a:p>
          </p:txBody>
        </p:sp>
        <p:sp>
          <p:nvSpPr>
            <p:cNvPr id="68" name="chimney lip"/>
            <p:cNvSpPr/>
            <p:nvPr/>
          </p:nvSpPr>
          <p:spPr>
            <a:xfrm>
              <a:off x="10073944" y="3651199"/>
              <a:ext cx="312724" cy="86868"/>
            </a:xfrm>
            <a:prstGeom prst="rect">
              <a:avLst/>
            </a:prstGeom>
            <a:solidFill>
              <a:srgbClr val="3A3F47"/>
            </a:solidFill>
            <a:ln w="9525">
              <a:solidFill>
                <a:srgbClr val="9AA0A6"/>
              </a:solidFill>
            </a:ln>
          </p:spPr>
          <p:txBody>
            <a:bodyPr rtlCol="0" anchor="ctr"/>
            <a:lstStyle/>
            <a:p>
              <a:pPr algn="ctr"/>
              <a:endParaRPr/>
            </a:p>
          </p:txBody>
        </p:sp>
        <p:sp>
          <p:nvSpPr>
            <p:cNvPr id="69" name="dome"/>
            <p:cNvSpPr/>
            <p:nvPr/>
          </p:nvSpPr>
          <p:spPr>
            <a:xfrm>
              <a:off x="8363687" y="3877056"/>
              <a:ext cx="312724" cy="191109"/>
            </a:xfrm>
            <a:prstGeom prst="roundRect">
              <a:avLst>
                <a:gd name="adj" fmla="val 36363"/>
              </a:avLst>
            </a:prstGeom>
            <a:solidFill>
              <a:srgbClr val="9AA0A6"/>
            </a:solidFill>
            <a:ln>
              <a:noFill/>
            </a:ln>
          </p:spPr>
          <p:txBody>
            <a:bodyPr rtlCol="0" anchor="ctr"/>
            <a:lstStyle/>
            <a:p>
              <a:pPr algn="ctr"/>
              <a:endParaRPr/>
            </a:p>
          </p:txBody>
        </p:sp>
        <p:sp>
          <p:nvSpPr>
            <p:cNvPr id="70" name="wheel"/>
            <p:cNvSpPr/>
            <p:nvPr/>
          </p:nvSpPr>
          <p:spPr>
            <a:xfrm>
              <a:off x="6825081" y="4815230"/>
              <a:ext cx="625449" cy="625449"/>
            </a:xfrm>
            <a:prstGeom prst="ellipse">
              <a:avLst/>
            </a:prstGeom>
            <a:solidFill>
              <a:srgbClr val="1B1D21"/>
            </a:solidFill>
            <a:ln w="19050">
              <a:solidFill>
                <a:srgbClr val="9AA0A6"/>
              </a:solidFill>
            </a:ln>
          </p:spPr>
          <p:txBody>
            <a:bodyPr rtlCol="0" anchor="ctr"/>
            <a:lstStyle/>
            <a:p>
              <a:pPr algn="ctr"/>
              <a:endParaRPr/>
            </a:p>
          </p:txBody>
        </p:sp>
        <p:sp>
          <p:nvSpPr>
            <p:cNvPr id="71" name="hub"/>
            <p:cNvSpPr/>
            <p:nvPr/>
          </p:nvSpPr>
          <p:spPr>
            <a:xfrm>
              <a:off x="7056497" y="5046646"/>
              <a:ext cx="162616" cy="162616"/>
            </a:xfrm>
            <a:prstGeom prst="ellipse">
              <a:avLst/>
            </a:prstGeom>
            <a:solidFill>
              <a:srgbClr val="9AA0A6"/>
            </a:solidFill>
            <a:ln>
              <a:noFill/>
            </a:ln>
          </p:spPr>
          <p:txBody>
            <a:bodyPr rtlCol="0" anchor="ctr"/>
            <a:lstStyle/>
            <a:p>
              <a:pPr algn="ctr"/>
              <a:endParaRPr/>
            </a:p>
          </p:txBody>
        </p:sp>
        <p:sp>
          <p:nvSpPr>
            <p:cNvPr id="72" name="wheel"/>
            <p:cNvSpPr/>
            <p:nvPr/>
          </p:nvSpPr>
          <p:spPr>
            <a:xfrm>
              <a:off x="7520025" y="4815230"/>
              <a:ext cx="625449" cy="625449"/>
            </a:xfrm>
            <a:prstGeom prst="ellipse">
              <a:avLst/>
            </a:prstGeom>
            <a:solidFill>
              <a:srgbClr val="1B1D21"/>
            </a:solidFill>
            <a:ln w="19050">
              <a:solidFill>
                <a:srgbClr val="9AA0A6"/>
              </a:solidFill>
            </a:ln>
          </p:spPr>
          <p:txBody>
            <a:bodyPr rtlCol="0" anchor="ctr"/>
            <a:lstStyle/>
            <a:p>
              <a:pPr algn="ctr"/>
              <a:endParaRPr/>
            </a:p>
          </p:txBody>
        </p:sp>
        <p:sp>
          <p:nvSpPr>
            <p:cNvPr id="73" name="hub"/>
            <p:cNvSpPr/>
            <p:nvPr/>
          </p:nvSpPr>
          <p:spPr>
            <a:xfrm>
              <a:off x="7751441" y="5046646"/>
              <a:ext cx="162616" cy="162616"/>
            </a:xfrm>
            <a:prstGeom prst="ellipse">
              <a:avLst/>
            </a:prstGeom>
            <a:solidFill>
              <a:srgbClr val="9AA0A6"/>
            </a:solidFill>
            <a:ln>
              <a:noFill/>
            </a:ln>
          </p:spPr>
          <p:txBody>
            <a:bodyPr rtlCol="0" anchor="ctr"/>
            <a:lstStyle/>
            <a:p>
              <a:pPr algn="ctr"/>
              <a:endParaRPr/>
            </a:p>
          </p:txBody>
        </p:sp>
        <p:sp>
          <p:nvSpPr>
            <p:cNvPr id="74" name="wheel"/>
            <p:cNvSpPr/>
            <p:nvPr/>
          </p:nvSpPr>
          <p:spPr>
            <a:xfrm>
              <a:off x="8214969" y="4815230"/>
              <a:ext cx="625449" cy="625449"/>
            </a:xfrm>
            <a:prstGeom prst="ellipse">
              <a:avLst/>
            </a:prstGeom>
            <a:solidFill>
              <a:srgbClr val="1B1D21"/>
            </a:solidFill>
            <a:ln w="19050">
              <a:solidFill>
                <a:srgbClr val="9AA0A6"/>
              </a:solidFill>
            </a:ln>
          </p:spPr>
          <p:txBody>
            <a:bodyPr rtlCol="0" anchor="ctr"/>
            <a:lstStyle/>
            <a:p>
              <a:pPr algn="ctr"/>
              <a:endParaRPr/>
            </a:p>
          </p:txBody>
        </p:sp>
        <p:sp>
          <p:nvSpPr>
            <p:cNvPr id="75" name="hub"/>
            <p:cNvSpPr/>
            <p:nvPr/>
          </p:nvSpPr>
          <p:spPr>
            <a:xfrm>
              <a:off x="8446385" y="5046646"/>
              <a:ext cx="162616" cy="162616"/>
            </a:xfrm>
            <a:prstGeom prst="ellipse">
              <a:avLst/>
            </a:prstGeom>
            <a:solidFill>
              <a:srgbClr val="9AA0A6"/>
            </a:solidFill>
            <a:ln>
              <a:noFill/>
            </a:ln>
          </p:spPr>
          <p:txBody>
            <a:bodyPr rtlCol="0" anchor="ctr"/>
            <a:lstStyle/>
            <a:p>
              <a:pPr algn="ctr"/>
              <a:endParaRPr/>
            </a:p>
          </p:txBody>
        </p:sp>
        <p:sp>
          <p:nvSpPr>
            <p:cNvPr id="76" name="wheel"/>
            <p:cNvSpPr/>
            <p:nvPr/>
          </p:nvSpPr>
          <p:spPr>
            <a:xfrm>
              <a:off x="8909913" y="4815230"/>
              <a:ext cx="625449" cy="625449"/>
            </a:xfrm>
            <a:prstGeom prst="ellipse">
              <a:avLst/>
            </a:prstGeom>
            <a:solidFill>
              <a:srgbClr val="1B1D21"/>
            </a:solidFill>
            <a:ln w="19050">
              <a:solidFill>
                <a:srgbClr val="9AA0A6"/>
              </a:solidFill>
            </a:ln>
          </p:spPr>
          <p:txBody>
            <a:bodyPr rtlCol="0" anchor="ctr"/>
            <a:lstStyle/>
            <a:p>
              <a:pPr algn="ctr"/>
              <a:endParaRPr/>
            </a:p>
          </p:txBody>
        </p:sp>
        <p:sp>
          <p:nvSpPr>
            <p:cNvPr id="77" name="hub"/>
            <p:cNvSpPr/>
            <p:nvPr/>
          </p:nvSpPr>
          <p:spPr>
            <a:xfrm>
              <a:off x="9141329" y="5046646"/>
              <a:ext cx="162616" cy="162616"/>
            </a:xfrm>
            <a:prstGeom prst="ellipse">
              <a:avLst/>
            </a:prstGeom>
            <a:solidFill>
              <a:srgbClr val="9AA0A6"/>
            </a:solidFill>
            <a:ln>
              <a:noFill/>
            </a:ln>
          </p:spPr>
          <p:txBody>
            <a:bodyPr rtlCol="0" anchor="ctr"/>
            <a:lstStyle/>
            <a:p>
              <a:pPr algn="ctr"/>
              <a:endParaRPr/>
            </a:p>
          </p:txBody>
        </p:sp>
        <p:sp>
          <p:nvSpPr>
            <p:cNvPr id="78" name="coupling rod"/>
            <p:cNvSpPr/>
            <p:nvPr/>
          </p:nvSpPr>
          <p:spPr>
            <a:xfrm>
              <a:off x="7137806" y="4947269"/>
              <a:ext cx="2084832" cy="48646"/>
            </a:xfrm>
            <a:prstGeom prst="rect">
              <a:avLst/>
            </a:prstGeom>
            <a:solidFill>
              <a:srgbClr val="D0D4D8"/>
            </a:solidFill>
            <a:ln>
              <a:noFill/>
            </a:ln>
          </p:spPr>
          <p:txBody>
            <a:bodyPr rtlCol="0" anchor="ctr"/>
            <a:lstStyle/>
            <a:p>
              <a:pPr algn="ctr"/>
              <a:endParaRPr/>
            </a:p>
          </p:txBody>
        </p:sp>
        <p:sp>
          <p:nvSpPr>
            <p:cNvPr id="79" name="buffer beam"/>
            <p:cNvSpPr/>
            <p:nvPr/>
          </p:nvSpPr>
          <p:spPr>
            <a:xfrm>
              <a:off x="10404043" y="4780483"/>
              <a:ext cx="104241" cy="312724"/>
            </a:xfrm>
            <a:prstGeom prst="rect">
              <a:avLst/>
            </a:prstGeom>
            <a:solidFill>
              <a:srgbClr val="9AA0A6"/>
            </a:solidFill>
            <a:ln>
              <a:noFill/>
            </a:ln>
          </p:spPr>
          <p:txBody>
            <a:bodyPr rtlCol="0" anchor="ctr"/>
            <a:lstStyle/>
            <a:p>
              <a:pPr algn="ctr"/>
              <a:endParaRPr/>
            </a:p>
          </p:txBody>
        </p:sp>
        <p:sp>
          <p:nvSpPr>
            <p:cNvPr id="80" name="number plate (blank)"/>
            <p:cNvSpPr/>
            <p:nvPr/>
          </p:nvSpPr>
          <p:spPr>
            <a:xfrm>
              <a:off x="5939028" y="4433011"/>
              <a:ext cx="502920" cy="237744"/>
            </a:xfrm>
            <a:prstGeom prst="roundRect">
              <a:avLst>
                <a:gd name="adj" fmla="val 30769"/>
              </a:avLst>
            </a:prstGeom>
            <a:solidFill>
              <a:srgbClr val="1B1D21"/>
            </a:solidFill>
            <a:ln w="25400">
              <a:solidFill>
                <a:srgbClr val="F28C28"/>
              </a:solidFill>
            </a:ln>
          </p:spPr>
          <p:txBody>
            <a:bodyPr rtlCol="0" anchor="ctr"/>
            <a:lstStyle/>
            <a:p>
              <a:pPr algn="ctr"/>
              <a:endParaRPr/>
            </a:p>
          </p:txBody>
        </p:sp>
        <p:sp>
          <p:nvSpPr>
            <p:cNvPr id="81" name="digit bar"/>
            <p:cNvSpPr/>
            <p:nvPr/>
          </p:nvSpPr>
          <p:spPr>
            <a:xfrm>
              <a:off x="6039612" y="4504334"/>
              <a:ext cx="70408" cy="95097"/>
            </a:xfrm>
            <a:prstGeom prst="rect">
              <a:avLst/>
            </a:prstGeom>
            <a:solidFill>
              <a:srgbClr val="A9B0B8"/>
            </a:solidFill>
            <a:ln>
              <a:noFill/>
            </a:ln>
          </p:spPr>
          <p:txBody>
            <a:bodyPr rtlCol="0" anchor="ctr"/>
            <a:lstStyle/>
            <a:p>
              <a:pPr algn="ctr"/>
              <a:endParaRPr/>
            </a:p>
          </p:txBody>
        </p:sp>
        <p:sp>
          <p:nvSpPr>
            <p:cNvPr id="82" name="digit bar"/>
            <p:cNvSpPr/>
            <p:nvPr/>
          </p:nvSpPr>
          <p:spPr>
            <a:xfrm>
              <a:off x="6150254" y="4504334"/>
              <a:ext cx="70408" cy="95097"/>
            </a:xfrm>
            <a:prstGeom prst="rect">
              <a:avLst/>
            </a:prstGeom>
            <a:solidFill>
              <a:srgbClr val="A9B0B8"/>
            </a:solidFill>
            <a:ln>
              <a:noFill/>
            </a:ln>
          </p:spPr>
          <p:txBody>
            <a:bodyPr rtlCol="0" anchor="ctr"/>
            <a:lstStyle/>
            <a:p>
              <a:pPr algn="ctr"/>
              <a:endParaRPr/>
            </a:p>
          </p:txBody>
        </p:sp>
        <p:sp>
          <p:nvSpPr>
            <p:cNvPr id="83" name="digit bar"/>
            <p:cNvSpPr/>
            <p:nvPr/>
          </p:nvSpPr>
          <p:spPr>
            <a:xfrm>
              <a:off x="6260896" y="4504334"/>
              <a:ext cx="70408" cy="95097"/>
            </a:xfrm>
            <a:prstGeom prst="rect">
              <a:avLst/>
            </a:prstGeom>
            <a:solidFill>
              <a:srgbClr val="A9B0B8"/>
            </a:solidFill>
            <a:ln>
              <a:noFill/>
            </a:ln>
          </p:spPr>
          <p:txBody>
            <a:bodyPr rtlCol="0" anchor="ctr"/>
            <a:lstStyle/>
            <a:p>
              <a:pPr algn="ctr"/>
              <a:endParaRPr/>
            </a:p>
          </p:txBody>
        </p:sp>
        <p:sp>
          <p:nvSpPr>
            <p:cNvPr id="84" name="number plate (blank)"/>
            <p:cNvSpPr/>
            <p:nvPr/>
          </p:nvSpPr>
          <p:spPr>
            <a:xfrm>
              <a:off x="7902244" y="4433011"/>
              <a:ext cx="1005840" cy="274320"/>
            </a:xfrm>
            <a:prstGeom prst="roundRect">
              <a:avLst>
                <a:gd name="adj" fmla="val 26666"/>
              </a:avLst>
            </a:prstGeom>
            <a:solidFill>
              <a:srgbClr val="1B1D21"/>
            </a:solidFill>
            <a:ln w="25400">
              <a:solidFill>
                <a:srgbClr val="F28C28"/>
              </a:solidFill>
            </a:ln>
          </p:spPr>
          <p:txBody>
            <a:bodyPr rtlCol="0" anchor="ctr"/>
            <a:lstStyle/>
            <a:p>
              <a:pPr algn="ctr"/>
              <a:endParaRPr/>
            </a:p>
          </p:txBody>
        </p:sp>
        <p:sp>
          <p:nvSpPr>
            <p:cNvPr id="85" name="digit bar"/>
            <p:cNvSpPr/>
            <p:nvPr/>
          </p:nvSpPr>
          <p:spPr>
            <a:xfrm>
              <a:off x="8103412" y="4515307"/>
              <a:ext cx="140817" cy="109728"/>
            </a:xfrm>
            <a:prstGeom prst="rect">
              <a:avLst/>
            </a:prstGeom>
            <a:solidFill>
              <a:srgbClr val="A9B0B8"/>
            </a:solidFill>
            <a:ln>
              <a:noFill/>
            </a:ln>
          </p:spPr>
          <p:txBody>
            <a:bodyPr rtlCol="0" anchor="ctr"/>
            <a:lstStyle/>
            <a:p>
              <a:pPr algn="ctr"/>
              <a:endParaRPr/>
            </a:p>
          </p:txBody>
        </p:sp>
        <p:sp>
          <p:nvSpPr>
            <p:cNvPr id="86" name="digit bar"/>
            <p:cNvSpPr/>
            <p:nvPr/>
          </p:nvSpPr>
          <p:spPr>
            <a:xfrm>
              <a:off x="8324697" y="4515307"/>
              <a:ext cx="140817" cy="109728"/>
            </a:xfrm>
            <a:prstGeom prst="rect">
              <a:avLst/>
            </a:prstGeom>
            <a:solidFill>
              <a:srgbClr val="A9B0B8"/>
            </a:solidFill>
            <a:ln>
              <a:noFill/>
            </a:ln>
          </p:spPr>
          <p:txBody>
            <a:bodyPr rtlCol="0" anchor="ctr"/>
            <a:lstStyle/>
            <a:p>
              <a:pPr algn="ctr"/>
              <a:endParaRPr/>
            </a:p>
          </p:txBody>
        </p:sp>
        <p:sp>
          <p:nvSpPr>
            <p:cNvPr id="87" name="digit bar"/>
            <p:cNvSpPr/>
            <p:nvPr/>
          </p:nvSpPr>
          <p:spPr>
            <a:xfrm>
              <a:off x="8545982" y="4515307"/>
              <a:ext cx="140817" cy="109728"/>
            </a:xfrm>
            <a:prstGeom prst="rect">
              <a:avLst/>
            </a:prstGeom>
            <a:solidFill>
              <a:srgbClr val="A9B0B8"/>
            </a:solidFill>
            <a:ln>
              <a:noFill/>
            </a:ln>
          </p:spPr>
          <p:txBody>
            <a:bodyPr rtlCol="0" anchor="ctr"/>
            <a:lstStyle/>
            <a:p>
              <a:pPr algn="ctr"/>
              <a:endParaRPr/>
            </a:p>
          </p:txBody>
        </p:sp>
        <p:sp>
          <p:nvSpPr>
            <p:cNvPr id="88" name="mark label"/>
            <p:cNvSpPr txBox="1"/>
            <p:nvPr/>
          </p:nvSpPr>
          <p:spPr>
            <a:xfrm>
              <a:off x="5710428" y="3493008"/>
              <a:ext cx="1005840" cy="310896"/>
            </a:xfrm>
            <a:prstGeom prst="rect">
              <a:avLst/>
            </a:prstGeom>
            <a:noFill/>
          </p:spPr>
          <p:txBody>
            <a:bodyPr wrap="square" lIns="18288" tIns="9144" rIns="18288" bIns="9144" anchor="ctr">
              <a:noAutofit/>
            </a:bodyPr>
            <a:lstStyle/>
            <a:p>
              <a:pPr algn="ctr"/>
              <a:r>
                <a:rPr lang="en-GB" sz="1400" b="1" i="0">
                  <a:solidFill>
                    <a:srgbClr val="F2F2F2"/>
                  </a:solidFill>
                  <a:latin typeface="Arial"/>
                </a:rPr>
                <a:t>Bunker</a:t>
              </a:r>
            </a:p>
          </p:txBody>
        </p:sp>
        <p:cxnSp>
          <p:nvCxnSpPr>
            <p:cNvPr id="89" name="leader"/>
            <p:cNvCxnSpPr/>
            <p:nvPr/>
          </p:nvCxnSpPr>
          <p:spPr>
            <a:xfrm>
              <a:off x="6195060" y="3822191"/>
              <a:ext cx="0" cy="629108"/>
            </a:xfrm>
            <a:prstGeom prst="line">
              <a:avLst/>
            </a:prstGeom>
            <a:ln w="22225">
              <a:solidFill>
                <a:srgbClr val="F28C28"/>
              </a:solidFill>
            </a:ln>
          </p:spPr>
        </p:cxnSp>
        <p:sp>
          <p:nvSpPr>
            <p:cNvPr id="90" name="leader dot"/>
            <p:cNvSpPr/>
            <p:nvPr/>
          </p:nvSpPr>
          <p:spPr>
            <a:xfrm>
              <a:off x="6140196" y="4396435"/>
              <a:ext cx="109728" cy="109728"/>
            </a:xfrm>
            <a:prstGeom prst="ellipse">
              <a:avLst/>
            </a:prstGeom>
            <a:solidFill>
              <a:srgbClr val="F28C28"/>
            </a:solidFill>
            <a:ln>
              <a:noFill/>
            </a:ln>
          </p:spPr>
          <p:txBody>
            <a:bodyPr rtlCol="0" anchor="ctr"/>
            <a:lstStyle/>
            <a:p>
              <a:pPr algn="ctr"/>
              <a:endParaRPr/>
            </a:p>
          </p:txBody>
        </p:sp>
        <p:sp>
          <p:nvSpPr>
            <p:cNvPr id="91" name="mark label"/>
            <p:cNvSpPr txBox="1"/>
            <p:nvPr/>
          </p:nvSpPr>
          <p:spPr>
            <a:xfrm>
              <a:off x="7902244" y="3493008"/>
              <a:ext cx="1280160" cy="310896"/>
            </a:xfrm>
            <a:prstGeom prst="rect">
              <a:avLst/>
            </a:prstGeom>
            <a:noFill/>
          </p:spPr>
          <p:txBody>
            <a:bodyPr wrap="square" lIns="18288" tIns="9144" rIns="18288" bIns="9144" anchor="ctr">
              <a:noAutofit/>
            </a:bodyPr>
            <a:lstStyle/>
            <a:p>
              <a:pPr algn="ctr"/>
              <a:r>
                <a:rPr lang="en-GB" sz="1400" b="1" i="0">
                  <a:solidFill>
                    <a:srgbClr val="F2F2F2"/>
                  </a:solidFill>
                  <a:latin typeface="Arial"/>
                </a:rPr>
                <a:t>Tank side</a:t>
              </a:r>
            </a:p>
          </p:txBody>
        </p:sp>
        <p:cxnSp>
          <p:nvCxnSpPr>
            <p:cNvPr id="92" name="leader"/>
            <p:cNvCxnSpPr/>
            <p:nvPr/>
          </p:nvCxnSpPr>
          <p:spPr>
            <a:xfrm>
              <a:off x="8405164" y="3822191"/>
              <a:ext cx="0" cy="629108"/>
            </a:xfrm>
            <a:prstGeom prst="line">
              <a:avLst/>
            </a:prstGeom>
            <a:ln w="22225">
              <a:solidFill>
                <a:srgbClr val="F28C28"/>
              </a:solidFill>
            </a:ln>
          </p:spPr>
        </p:cxnSp>
        <p:sp>
          <p:nvSpPr>
            <p:cNvPr id="93" name="leader dot"/>
            <p:cNvSpPr/>
            <p:nvPr/>
          </p:nvSpPr>
          <p:spPr>
            <a:xfrm>
              <a:off x="8350300" y="4396435"/>
              <a:ext cx="109728" cy="109728"/>
            </a:xfrm>
            <a:prstGeom prst="ellipse">
              <a:avLst/>
            </a:prstGeom>
            <a:solidFill>
              <a:srgbClr val="F28C28"/>
            </a:solidFill>
            <a:ln>
              <a:noFill/>
            </a:ln>
          </p:spPr>
          <p:txBody>
            <a:bodyPr rtlCol="0" anchor="ctr"/>
            <a:lstStyle/>
            <a:p>
              <a:pPr algn="ctr"/>
              <a:endParaRPr/>
            </a:p>
          </p:txBody>
        </p:sp>
      </p:grpSp>
      <p:sp>
        <p:nvSpPr>
          <p:cNvPr id="94"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95"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96"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Each engine shows its number where real ones did. There is no single decal spot.</a:t>
            </a:r>
          </a:p>
        </p:txBody>
      </p:sp>
      <p:sp>
        <p:nvSpPr>
          <p:cNvPr id="97"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20</a:t>
            </a:r>
          </a:p>
        </p:txBody>
      </p:sp>
    </p:spTree>
    <p:extLst>
      <p:ext uri="{BB962C8B-B14F-4D97-AF65-F5344CB8AC3E}">
        <p14:creationId xmlns:p14="http://schemas.microsoft.com/office/powerpoint/2010/main" val="20689284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300"/>
                                  </p:stCondLst>
                                  <p:childTnLst>
                                    <p:set>
                                      <p:cBhvr>
                                        <p:cTn id="9" dur="1" fill="hold">
                                          <p:stCondLst>
                                            <p:cond delay="0"/>
                                          </p:stCondLst>
                                        </p:cTn>
                                        <p:tgtEl>
                                          <p:spTgt spid="94"/>
                                        </p:tgtEl>
                                        <p:attrNameLst>
                                          <p:attrName>style.visibility</p:attrName>
                                        </p:attrNameLst>
                                      </p:cBhvr>
                                      <p:to>
                                        <p:strVal val="visible"/>
                                      </p:to>
                                    </p:set>
                                    <p:animEffect transition="in" filter="fade">
                                      <p:cBhvr>
                                        <p:cTn id="10" dur="500"/>
                                        <p:tgtEl>
                                          <p:spTgt spid="94"/>
                                        </p:tgtEl>
                                      </p:cBhvr>
                                    </p:animEffect>
                                  </p:childTnLst>
                                </p:cTn>
                              </p:par>
                              <p:par>
                                <p:cTn id="11" presetID="10" presetClass="entr" presetSubtype="0" fill="hold" nodeType="withEffect">
                                  <p:stCondLst>
                                    <p:cond delay="600"/>
                                  </p:stCondLst>
                                  <p:childTnLst>
                                    <p:set>
                                      <p:cBhvr>
                                        <p:cTn id="12" dur="1" fill="hold">
                                          <p:stCondLst>
                                            <p:cond delay="0"/>
                                          </p:stCondLst>
                                        </p:cTn>
                                        <p:tgtEl>
                                          <p:spTgt spid="95"/>
                                        </p:tgtEl>
                                        <p:attrNameLst>
                                          <p:attrName>style.visibility</p:attrName>
                                        </p:attrNameLst>
                                      </p:cBhvr>
                                      <p:to>
                                        <p:strVal val="visible"/>
                                      </p:to>
                                    </p:set>
                                    <p:animEffect transition="in" filter="fade">
                                      <p:cBhvr>
                                        <p:cTn id="13" dur="500"/>
                                        <p:tgtEl>
                                          <p:spTgt spid="95"/>
                                        </p:tgtEl>
                                      </p:cBhvr>
                                    </p:animEffect>
                                  </p:childTnLst>
                                </p:cTn>
                              </p:par>
                              <p:par>
                                <p:cTn id="14" presetID="10" presetClass="entr" presetSubtype="0" fill="hold" nodeType="withEffect">
                                  <p:stCondLst>
                                    <p:cond delay="900"/>
                                  </p:stCondLst>
                                  <p:childTnLst>
                                    <p:set>
                                      <p:cBhvr>
                                        <p:cTn id="15" dur="1" fill="hold">
                                          <p:stCondLst>
                                            <p:cond delay="0"/>
                                          </p:stCondLst>
                                        </p:cTn>
                                        <p:tgtEl>
                                          <p:spTgt spid="96"/>
                                        </p:tgtEl>
                                        <p:attrNameLst>
                                          <p:attrName>style.visibility</p:attrName>
                                        </p:attrNameLst>
                                      </p:cBhvr>
                                      <p:to>
                                        <p:strVal val="visible"/>
                                      </p:to>
                                    </p:set>
                                    <p:animEffect transition="in" filter="fade">
                                      <p:cBhvr>
                                        <p:cTn id="16"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Find any engine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sp>
        <p:nvSpPr>
          <p:cNvPr id="4" name="CHIP NOTE"/>
          <p:cNvSpPr txBox="1"/>
          <p:nvPr/>
        </p:nvSpPr>
        <p:spPr>
          <a:xfrm>
            <a:off x="9448495" y="932688"/>
            <a:ext cx="219456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Agreed direction</a:t>
            </a:r>
          </a:p>
        </p:txBody>
      </p:sp>
      <p:grpSp>
        <p:nvGrpSpPr>
          <p:cNvPr id="5" name="Fleet search mock-up" descr="A mock map of a rail network with engine dots. Dots that match the search are bright orange and the rest are dimmed. Beside it are two search boxes, one with the class 9F and one with the number 92214, and a list that shows only the matches. All examples only."/>
          <p:cNvGrpSpPr/>
          <p:nvPr/>
        </p:nvGrpSpPr>
        <p:grpSpPr>
          <a:xfrm>
            <a:off x="548640" y="1371600"/>
            <a:ext cx="11091672" cy="3703320"/>
            <a:chOff x="548640" y="1371600"/>
            <a:chExt cx="11091672" cy="3703320"/>
          </a:xfrm>
        </p:grpSpPr>
        <p:sp>
          <p:nvSpPr>
            <p:cNvPr id="6" name="map panel"/>
            <p:cNvSpPr/>
            <p:nvPr/>
          </p:nvSpPr>
          <p:spPr>
            <a:xfrm>
              <a:off x="548640" y="1371600"/>
              <a:ext cx="6949440" cy="3703320"/>
            </a:xfrm>
            <a:prstGeom prst="roundRect">
              <a:avLst>
                <a:gd name="adj" fmla="val 2469"/>
              </a:avLst>
            </a:prstGeom>
            <a:solidFill>
              <a:srgbClr val="1B1D21"/>
            </a:solidFill>
            <a:ln w="19050">
              <a:solidFill>
                <a:srgbClr val="4A515B"/>
              </a:solidFill>
            </a:ln>
          </p:spPr>
          <p:txBody>
            <a:bodyPr rtlCol="0" anchor="ctr"/>
            <a:lstStyle/>
            <a:p>
              <a:pPr algn="ctr"/>
              <a:endParaRPr/>
            </a:p>
          </p:txBody>
        </p:sp>
        <p:sp>
          <p:nvSpPr>
            <p:cNvPr id="7" name="track"/>
            <p:cNvSpPr/>
            <p:nvPr/>
          </p:nvSpPr>
          <p:spPr>
            <a:xfrm>
              <a:off x="822960" y="1920240"/>
              <a:ext cx="6400800" cy="822960"/>
            </a:xfrm>
            <a:custGeom>
              <a:avLst/>
              <a:gdLst/>
              <a:ahLst/>
              <a:cxnLst/>
              <a:rect l="l" t="t" r="r" b="b"/>
              <a:pathLst>
                <a:path w="6400800" h="822960">
                  <a:moveTo>
                    <a:pt x="0" y="822960"/>
                  </a:moveTo>
                  <a:lnTo>
                    <a:pt x="1920240" y="822960"/>
                  </a:lnTo>
                  <a:lnTo>
                    <a:pt x="3017520" y="0"/>
                  </a:lnTo>
                  <a:lnTo>
                    <a:pt x="6400800" y="0"/>
                  </a:lnTo>
                </a:path>
              </a:pathLst>
            </a:custGeom>
            <a:noFill/>
            <a:ln w="38100">
              <a:solidFill>
                <a:srgbClr val="5B636E"/>
              </a:solidFill>
            </a:ln>
          </p:spPr>
          <p:txBody>
            <a:bodyPr rtlCol="0" anchor="ctr"/>
            <a:lstStyle/>
            <a:p>
              <a:pPr algn="ctr"/>
              <a:endParaRPr/>
            </a:p>
          </p:txBody>
        </p:sp>
        <p:sp>
          <p:nvSpPr>
            <p:cNvPr id="8" name="track"/>
            <p:cNvSpPr/>
            <p:nvPr/>
          </p:nvSpPr>
          <p:spPr>
            <a:xfrm>
              <a:off x="2743200" y="2743200"/>
              <a:ext cx="4480560" cy="1097280"/>
            </a:xfrm>
            <a:custGeom>
              <a:avLst/>
              <a:gdLst/>
              <a:ahLst/>
              <a:cxnLst/>
              <a:rect l="l" t="t" r="r" b="b"/>
              <a:pathLst>
                <a:path w="4480560" h="1097280">
                  <a:moveTo>
                    <a:pt x="0" y="0"/>
                  </a:moveTo>
                  <a:lnTo>
                    <a:pt x="1280160" y="1097280"/>
                  </a:lnTo>
                  <a:lnTo>
                    <a:pt x="4480560" y="1097280"/>
                  </a:lnTo>
                </a:path>
              </a:pathLst>
            </a:custGeom>
            <a:noFill/>
            <a:ln w="38100">
              <a:solidFill>
                <a:srgbClr val="5B636E"/>
              </a:solidFill>
            </a:ln>
          </p:spPr>
          <p:txBody>
            <a:bodyPr rtlCol="0" anchor="ctr"/>
            <a:lstStyle/>
            <a:p>
              <a:pPr algn="ctr"/>
              <a:endParaRPr/>
            </a:p>
          </p:txBody>
        </p:sp>
        <p:sp>
          <p:nvSpPr>
            <p:cNvPr id="9" name="track"/>
            <p:cNvSpPr/>
            <p:nvPr/>
          </p:nvSpPr>
          <p:spPr>
            <a:xfrm>
              <a:off x="822960" y="3840480"/>
              <a:ext cx="3200400" cy="640080"/>
            </a:xfrm>
            <a:custGeom>
              <a:avLst/>
              <a:gdLst/>
              <a:ahLst/>
              <a:cxnLst/>
              <a:rect l="l" t="t" r="r" b="b"/>
              <a:pathLst>
                <a:path w="3200400" h="640080">
                  <a:moveTo>
                    <a:pt x="0" y="640080"/>
                  </a:moveTo>
                  <a:lnTo>
                    <a:pt x="1371600" y="640080"/>
                  </a:lnTo>
                  <a:lnTo>
                    <a:pt x="3200400" y="0"/>
                  </a:lnTo>
                </a:path>
              </a:pathLst>
            </a:custGeom>
            <a:noFill/>
            <a:ln w="38100">
              <a:solidFill>
                <a:srgbClr val="5B636E"/>
              </a:solidFill>
            </a:ln>
          </p:spPr>
          <p:txBody>
            <a:bodyPr rtlCol="0" anchor="ctr"/>
            <a:lstStyle/>
            <a:p>
              <a:pPr algn="ctr"/>
              <a:endParaRPr/>
            </a:p>
          </p:txBody>
        </p:sp>
        <p:sp>
          <p:nvSpPr>
            <p:cNvPr id="10" name="track"/>
            <p:cNvSpPr/>
            <p:nvPr/>
          </p:nvSpPr>
          <p:spPr>
            <a:xfrm>
              <a:off x="5303520" y="1920240"/>
              <a:ext cx="1920240" cy="1005840"/>
            </a:xfrm>
            <a:custGeom>
              <a:avLst/>
              <a:gdLst/>
              <a:ahLst/>
              <a:cxnLst/>
              <a:rect l="l" t="t" r="r" b="b"/>
              <a:pathLst>
                <a:path w="1920240" h="1005840">
                  <a:moveTo>
                    <a:pt x="0" y="0"/>
                  </a:moveTo>
                  <a:lnTo>
                    <a:pt x="822960" y="1005840"/>
                  </a:lnTo>
                  <a:lnTo>
                    <a:pt x="1920240" y="1005840"/>
                  </a:lnTo>
                </a:path>
              </a:pathLst>
            </a:custGeom>
            <a:noFill/>
            <a:ln w="38100">
              <a:solidFill>
                <a:srgbClr val="5B636E"/>
              </a:solidFill>
            </a:ln>
          </p:spPr>
          <p:txBody>
            <a:bodyPr rtlCol="0" anchor="ctr"/>
            <a:lstStyle/>
            <a:p>
              <a:pPr algn="ctr"/>
              <a:endParaRPr/>
            </a:p>
          </p:txBody>
        </p:sp>
        <p:sp>
          <p:nvSpPr>
            <p:cNvPr id="11" name="station"/>
            <p:cNvSpPr/>
            <p:nvPr/>
          </p:nvSpPr>
          <p:spPr>
            <a:xfrm>
              <a:off x="2651760" y="2651760"/>
              <a:ext cx="182880" cy="182880"/>
            </a:xfrm>
            <a:prstGeom prst="rect">
              <a:avLst/>
            </a:prstGeom>
            <a:solidFill>
              <a:srgbClr val="9AA0A6"/>
            </a:solidFill>
            <a:ln>
              <a:noFill/>
            </a:ln>
          </p:spPr>
          <p:txBody>
            <a:bodyPr rtlCol="0" anchor="ctr"/>
            <a:lstStyle/>
            <a:p>
              <a:pPr algn="ctr"/>
              <a:endParaRPr/>
            </a:p>
          </p:txBody>
        </p:sp>
        <p:sp>
          <p:nvSpPr>
            <p:cNvPr id="12" name="station"/>
            <p:cNvSpPr/>
            <p:nvPr/>
          </p:nvSpPr>
          <p:spPr>
            <a:xfrm>
              <a:off x="3749040" y="1828800"/>
              <a:ext cx="182880" cy="182880"/>
            </a:xfrm>
            <a:prstGeom prst="rect">
              <a:avLst/>
            </a:prstGeom>
            <a:solidFill>
              <a:srgbClr val="9AA0A6"/>
            </a:solidFill>
            <a:ln>
              <a:noFill/>
            </a:ln>
          </p:spPr>
          <p:txBody>
            <a:bodyPr rtlCol="0" anchor="ctr"/>
            <a:lstStyle/>
            <a:p>
              <a:pPr algn="ctr"/>
              <a:endParaRPr/>
            </a:p>
          </p:txBody>
        </p:sp>
        <p:sp>
          <p:nvSpPr>
            <p:cNvPr id="13" name="station"/>
            <p:cNvSpPr/>
            <p:nvPr/>
          </p:nvSpPr>
          <p:spPr>
            <a:xfrm>
              <a:off x="3931920" y="3749040"/>
              <a:ext cx="182880" cy="182880"/>
            </a:xfrm>
            <a:prstGeom prst="rect">
              <a:avLst/>
            </a:prstGeom>
            <a:solidFill>
              <a:srgbClr val="9AA0A6"/>
            </a:solidFill>
            <a:ln>
              <a:noFill/>
            </a:ln>
          </p:spPr>
          <p:txBody>
            <a:bodyPr rtlCol="0" anchor="ctr"/>
            <a:lstStyle/>
            <a:p>
              <a:pPr algn="ctr"/>
              <a:endParaRPr/>
            </a:p>
          </p:txBody>
        </p:sp>
        <p:sp>
          <p:nvSpPr>
            <p:cNvPr id="14" name="station"/>
            <p:cNvSpPr/>
            <p:nvPr/>
          </p:nvSpPr>
          <p:spPr>
            <a:xfrm>
              <a:off x="6035040" y="2834640"/>
              <a:ext cx="182880" cy="182880"/>
            </a:xfrm>
            <a:prstGeom prst="rect">
              <a:avLst/>
            </a:prstGeom>
            <a:solidFill>
              <a:srgbClr val="9AA0A6"/>
            </a:solidFill>
            <a:ln>
              <a:noFill/>
            </a:ln>
          </p:spPr>
          <p:txBody>
            <a:bodyPr rtlCol="0" anchor="ctr"/>
            <a:lstStyle/>
            <a:p>
              <a:pPr algn="ctr"/>
              <a:endParaRPr/>
            </a:p>
          </p:txBody>
        </p:sp>
        <p:sp>
          <p:nvSpPr>
            <p:cNvPr id="15" name="station"/>
            <p:cNvSpPr/>
            <p:nvPr/>
          </p:nvSpPr>
          <p:spPr>
            <a:xfrm>
              <a:off x="5212080" y="1828800"/>
              <a:ext cx="182880" cy="182880"/>
            </a:xfrm>
            <a:prstGeom prst="rect">
              <a:avLst/>
            </a:prstGeom>
            <a:solidFill>
              <a:srgbClr val="9AA0A6"/>
            </a:solidFill>
            <a:ln>
              <a:noFill/>
            </a:ln>
          </p:spPr>
          <p:txBody>
            <a:bodyPr rtlCol="0" anchor="ctr"/>
            <a:lstStyle/>
            <a:p>
              <a:pPr algn="ctr"/>
              <a:endParaRPr/>
            </a:p>
          </p:txBody>
        </p:sp>
        <p:sp>
          <p:nvSpPr>
            <p:cNvPr id="16" name="dim dot"/>
            <p:cNvSpPr/>
            <p:nvPr/>
          </p:nvSpPr>
          <p:spPr>
            <a:xfrm>
              <a:off x="1271016" y="2642616"/>
              <a:ext cx="201168" cy="201168"/>
            </a:xfrm>
            <a:prstGeom prst="ellipse">
              <a:avLst/>
            </a:prstGeom>
            <a:solidFill>
              <a:srgbClr val="444B55"/>
            </a:solidFill>
            <a:ln>
              <a:noFill/>
            </a:ln>
          </p:spPr>
          <p:txBody>
            <a:bodyPr rtlCol="0" anchor="ctr"/>
            <a:lstStyle/>
            <a:p>
              <a:pPr algn="ctr"/>
              <a:endParaRPr/>
            </a:p>
          </p:txBody>
        </p:sp>
        <p:sp>
          <p:nvSpPr>
            <p:cNvPr id="17" name="match dot"/>
            <p:cNvSpPr/>
            <p:nvPr/>
          </p:nvSpPr>
          <p:spPr>
            <a:xfrm>
              <a:off x="1938527" y="2578608"/>
              <a:ext cx="329184" cy="329184"/>
            </a:xfrm>
            <a:prstGeom prst="ellipse">
              <a:avLst/>
            </a:prstGeom>
            <a:solidFill>
              <a:srgbClr val="F28C28"/>
            </a:solidFill>
            <a:ln w="25400">
              <a:solidFill>
                <a:srgbClr val="F2F2F2"/>
              </a:solidFill>
            </a:ln>
          </p:spPr>
          <p:txBody>
            <a:bodyPr rtlCol="0" anchor="ctr"/>
            <a:lstStyle/>
            <a:p>
              <a:pPr algn="ctr"/>
              <a:endParaRPr/>
            </a:p>
          </p:txBody>
        </p:sp>
        <p:sp>
          <p:nvSpPr>
            <p:cNvPr id="18" name="dim dot"/>
            <p:cNvSpPr/>
            <p:nvPr/>
          </p:nvSpPr>
          <p:spPr>
            <a:xfrm>
              <a:off x="3282696" y="2231136"/>
              <a:ext cx="201168" cy="201168"/>
            </a:xfrm>
            <a:prstGeom prst="ellipse">
              <a:avLst/>
            </a:prstGeom>
            <a:solidFill>
              <a:srgbClr val="444B55"/>
            </a:solidFill>
            <a:ln>
              <a:noFill/>
            </a:ln>
          </p:spPr>
          <p:txBody>
            <a:bodyPr rtlCol="0" anchor="ctr"/>
            <a:lstStyle/>
            <a:p>
              <a:pPr algn="ctr"/>
              <a:endParaRPr/>
            </a:p>
          </p:txBody>
        </p:sp>
        <p:sp>
          <p:nvSpPr>
            <p:cNvPr id="19" name="match dot"/>
            <p:cNvSpPr/>
            <p:nvPr/>
          </p:nvSpPr>
          <p:spPr>
            <a:xfrm>
              <a:off x="4590288" y="1755648"/>
              <a:ext cx="329184" cy="329184"/>
            </a:xfrm>
            <a:prstGeom prst="ellipse">
              <a:avLst/>
            </a:prstGeom>
            <a:solidFill>
              <a:srgbClr val="F28C28"/>
            </a:solidFill>
            <a:ln w="25400">
              <a:solidFill>
                <a:srgbClr val="F2F2F2"/>
              </a:solidFill>
            </a:ln>
          </p:spPr>
          <p:txBody>
            <a:bodyPr rtlCol="0" anchor="ctr"/>
            <a:lstStyle/>
            <a:p>
              <a:pPr algn="ctr"/>
              <a:endParaRPr/>
            </a:p>
          </p:txBody>
        </p:sp>
        <p:sp>
          <p:nvSpPr>
            <p:cNvPr id="20" name="dim dot"/>
            <p:cNvSpPr/>
            <p:nvPr/>
          </p:nvSpPr>
          <p:spPr>
            <a:xfrm>
              <a:off x="6208776" y="1819656"/>
              <a:ext cx="201168" cy="201168"/>
            </a:xfrm>
            <a:prstGeom prst="ellipse">
              <a:avLst/>
            </a:prstGeom>
            <a:solidFill>
              <a:srgbClr val="444B55"/>
            </a:solidFill>
            <a:ln>
              <a:noFill/>
            </a:ln>
          </p:spPr>
          <p:txBody>
            <a:bodyPr rtlCol="0" anchor="ctr"/>
            <a:lstStyle/>
            <a:p>
              <a:pPr algn="ctr"/>
              <a:endParaRPr/>
            </a:p>
          </p:txBody>
        </p:sp>
        <p:sp>
          <p:nvSpPr>
            <p:cNvPr id="21" name="dim dot"/>
            <p:cNvSpPr/>
            <p:nvPr/>
          </p:nvSpPr>
          <p:spPr>
            <a:xfrm>
              <a:off x="3282696" y="3191256"/>
              <a:ext cx="201168" cy="201168"/>
            </a:xfrm>
            <a:prstGeom prst="ellipse">
              <a:avLst/>
            </a:prstGeom>
            <a:solidFill>
              <a:srgbClr val="444B55"/>
            </a:solidFill>
            <a:ln>
              <a:noFill/>
            </a:ln>
          </p:spPr>
          <p:txBody>
            <a:bodyPr rtlCol="0" anchor="ctr"/>
            <a:lstStyle/>
            <a:p>
              <a:pPr algn="ctr"/>
              <a:endParaRPr/>
            </a:p>
          </p:txBody>
        </p:sp>
        <p:sp>
          <p:nvSpPr>
            <p:cNvPr id="22" name="match dot"/>
            <p:cNvSpPr/>
            <p:nvPr/>
          </p:nvSpPr>
          <p:spPr>
            <a:xfrm>
              <a:off x="4590288" y="3675888"/>
              <a:ext cx="329184" cy="329184"/>
            </a:xfrm>
            <a:prstGeom prst="ellipse">
              <a:avLst/>
            </a:prstGeom>
            <a:solidFill>
              <a:srgbClr val="F28C28"/>
            </a:solidFill>
            <a:ln w="25400">
              <a:solidFill>
                <a:srgbClr val="F2F2F2"/>
              </a:solidFill>
            </a:ln>
          </p:spPr>
          <p:txBody>
            <a:bodyPr rtlCol="0" anchor="ctr"/>
            <a:lstStyle/>
            <a:p>
              <a:pPr algn="ctr"/>
              <a:endParaRPr/>
            </a:p>
          </p:txBody>
        </p:sp>
        <p:sp>
          <p:nvSpPr>
            <p:cNvPr id="23" name="dim dot"/>
            <p:cNvSpPr/>
            <p:nvPr/>
          </p:nvSpPr>
          <p:spPr>
            <a:xfrm>
              <a:off x="6300216" y="3739896"/>
              <a:ext cx="201168" cy="201168"/>
            </a:xfrm>
            <a:prstGeom prst="ellipse">
              <a:avLst/>
            </a:prstGeom>
            <a:solidFill>
              <a:srgbClr val="444B55"/>
            </a:solidFill>
            <a:ln>
              <a:noFill/>
            </a:ln>
          </p:spPr>
          <p:txBody>
            <a:bodyPr rtlCol="0" anchor="ctr"/>
            <a:lstStyle/>
            <a:p>
              <a:pPr algn="ctr"/>
              <a:endParaRPr/>
            </a:p>
          </p:txBody>
        </p:sp>
        <p:sp>
          <p:nvSpPr>
            <p:cNvPr id="24" name="dim dot"/>
            <p:cNvSpPr/>
            <p:nvPr/>
          </p:nvSpPr>
          <p:spPr>
            <a:xfrm>
              <a:off x="1362456" y="4379976"/>
              <a:ext cx="201168" cy="201168"/>
            </a:xfrm>
            <a:prstGeom prst="ellipse">
              <a:avLst/>
            </a:prstGeom>
            <a:solidFill>
              <a:srgbClr val="444B55"/>
            </a:solidFill>
            <a:ln>
              <a:noFill/>
            </a:ln>
          </p:spPr>
          <p:txBody>
            <a:bodyPr rtlCol="0" anchor="ctr"/>
            <a:lstStyle/>
            <a:p>
              <a:pPr algn="ctr"/>
              <a:endParaRPr/>
            </a:p>
          </p:txBody>
        </p:sp>
        <p:sp>
          <p:nvSpPr>
            <p:cNvPr id="25" name="dim dot"/>
            <p:cNvSpPr/>
            <p:nvPr/>
          </p:nvSpPr>
          <p:spPr>
            <a:xfrm>
              <a:off x="5660136" y="2414016"/>
              <a:ext cx="201168" cy="201168"/>
            </a:xfrm>
            <a:prstGeom prst="ellipse">
              <a:avLst/>
            </a:prstGeom>
            <a:solidFill>
              <a:srgbClr val="444B55"/>
            </a:solidFill>
            <a:ln>
              <a:noFill/>
            </a:ln>
          </p:spPr>
          <p:txBody>
            <a:bodyPr rtlCol="0" anchor="ctr"/>
            <a:lstStyle/>
            <a:p>
              <a:pPr algn="ctr"/>
              <a:endParaRPr/>
            </a:p>
          </p:txBody>
        </p:sp>
        <p:sp>
          <p:nvSpPr>
            <p:cNvPr id="26" name="dim dot"/>
            <p:cNvSpPr/>
            <p:nvPr/>
          </p:nvSpPr>
          <p:spPr>
            <a:xfrm>
              <a:off x="6665976" y="2825496"/>
              <a:ext cx="201168" cy="201168"/>
            </a:xfrm>
            <a:prstGeom prst="ellipse">
              <a:avLst/>
            </a:prstGeom>
            <a:solidFill>
              <a:srgbClr val="444B55"/>
            </a:solidFill>
            <a:ln>
              <a:noFill/>
            </a:ln>
          </p:spPr>
          <p:txBody>
            <a:bodyPr rtlCol="0" anchor="ctr"/>
            <a:lstStyle/>
            <a:p>
              <a:pPr algn="ctr"/>
              <a:endParaRPr/>
            </a:p>
          </p:txBody>
        </p:sp>
        <p:sp>
          <p:nvSpPr>
            <p:cNvPr id="27" name="dim dot"/>
            <p:cNvSpPr/>
            <p:nvPr/>
          </p:nvSpPr>
          <p:spPr>
            <a:xfrm>
              <a:off x="1819656" y="4379976"/>
              <a:ext cx="201168" cy="201168"/>
            </a:xfrm>
            <a:prstGeom prst="ellipse">
              <a:avLst/>
            </a:prstGeom>
            <a:solidFill>
              <a:srgbClr val="444B55"/>
            </a:solidFill>
            <a:ln>
              <a:noFill/>
            </a:ln>
          </p:spPr>
          <p:txBody>
            <a:bodyPr rtlCol="0" anchor="ctr"/>
            <a:lstStyle/>
            <a:p>
              <a:pPr algn="ctr"/>
              <a:endParaRPr/>
            </a:p>
          </p:txBody>
        </p:sp>
        <p:sp>
          <p:nvSpPr>
            <p:cNvPr id="28" name="example label"/>
            <p:cNvSpPr txBox="1"/>
            <p:nvPr/>
          </p:nvSpPr>
          <p:spPr>
            <a:xfrm>
              <a:off x="731520" y="4663440"/>
              <a:ext cx="1828800" cy="274320"/>
            </a:xfrm>
            <a:prstGeom prst="rect">
              <a:avLst/>
            </a:prstGeom>
            <a:noFill/>
          </p:spPr>
          <p:txBody>
            <a:bodyPr wrap="square" lIns="18288" tIns="9144" rIns="18288" bIns="9144" anchor="ctr">
              <a:noAutofit/>
            </a:bodyPr>
            <a:lstStyle/>
            <a:p>
              <a:pPr algn="l"/>
              <a:r>
                <a:rPr lang="en-GB" sz="1400" b="0" i="0">
                  <a:solidFill>
                    <a:srgbClr val="A9B0B8"/>
                  </a:solidFill>
                  <a:latin typeface="Arial"/>
                </a:rPr>
                <a:t>Example only</a:t>
              </a:r>
            </a:p>
          </p:txBody>
        </p:sp>
        <p:sp>
          <p:nvSpPr>
            <p:cNvPr id="29" name="search box"/>
            <p:cNvSpPr/>
            <p:nvPr/>
          </p:nvSpPr>
          <p:spPr>
            <a:xfrm>
              <a:off x="7772400" y="1371600"/>
              <a:ext cx="3867912" cy="640080"/>
            </a:xfrm>
            <a:prstGeom prst="roundRect">
              <a:avLst>
                <a:gd name="adj" fmla="val 14285"/>
              </a:avLst>
            </a:prstGeom>
            <a:solidFill>
              <a:srgbClr val="343A43"/>
            </a:solidFill>
            <a:ln w="31750">
              <a:solidFill>
                <a:srgbClr val="F28C28"/>
              </a:solidFill>
            </a:ln>
          </p:spPr>
          <p:txBody>
            <a:bodyPr rtlCol="0" anchor="ctr"/>
            <a:lstStyle/>
            <a:p>
              <a:pPr algn="ctr"/>
              <a:endParaRPr/>
            </a:p>
          </p:txBody>
        </p:sp>
        <p:sp>
          <p:nvSpPr>
            <p:cNvPr id="30" name="magnifier lens"/>
            <p:cNvSpPr/>
            <p:nvPr/>
          </p:nvSpPr>
          <p:spPr>
            <a:xfrm>
              <a:off x="7955279" y="1508760"/>
              <a:ext cx="241401" cy="241401"/>
            </a:xfrm>
            <a:prstGeom prst="ellipse">
              <a:avLst/>
            </a:prstGeom>
            <a:noFill/>
            <a:ln w="31750">
              <a:solidFill>
                <a:srgbClr val="F2F2F2"/>
              </a:solidFill>
            </a:ln>
          </p:spPr>
          <p:txBody>
            <a:bodyPr rtlCol="0" anchor="ctr"/>
            <a:lstStyle/>
            <a:p>
              <a:pPr algn="ctr"/>
              <a:endParaRPr/>
            </a:p>
          </p:txBody>
        </p:sp>
        <p:cxnSp>
          <p:nvCxnSpPr>
            <p:cNvPr id="31" name="magnifier handle"/>
            <p:cNvCxnSpPr/>
            <p:nvPr/>
          </p:nvCxnSpPr>
          <p:spPr>
            <a:xfrm>
              <a:off x="8160471" y="1713951"/>
              <a:ext cx="160569" cy="160568"/>
            </a:xfrm>
            <a:prstGeom prst="line">
              <a:avLst/>
            </a:prstGeom>
            <a:ln w="47625">
              <a:solidFill>
                <a:srgbClr val="F2F2F2"/>
              </a:solidFill>
            </a:ln>
          </p:spPr>
        </p:cxnSp>
        <p:sp>
          <p:nvSpPr>
            <p:cNvPr id="32" name="search text"/>
            <p:cNvSpPr txBox="1"/>
            <p:nvPr/>
          </p:nvSpPr>
          <p:spPr>
            <a:xfrm>
              <a:off x="8503920" y="1371600"/>
              <a:ext cx="1737360" cy="640080"/>
            </a:xfrm>
            <a:prstGeom prst="rect">
              <a:avLst/>
            </a:prstGeom>
            <a:noFill/>
          </p:spPr>
          <p:txBody>
            <a:bodyPr wrap="square" lIns="18288" tIns="9144" rIns="18288" bIns="9144" anchor="ctr">
              <a:noAutofit/>
            </a:bodyPr>
            <a:lstStyle/>
            <a:p>
              <a:pPr algn="l"/>
              <a:r>
                <a:rPr lang="en-GB" sz="2400" b="1" i="0">
                  <a:solidFill>
                    <a:srgbClr val="F2F2F2"/>
                  </a:solidFill>
                  <a:latin typeface="Arial"/>
                </a:rPr>
                <a:t>9F</a:t>
              </a:r>
            </a:p>
          </p:txBody>
        </p:sp>
        <p:sp>
          <p:nvSpPr>
            <p:cNvPr id="33" name="search kind"/>
            <p:cNvSpPr txBox="1"/>
            <p:nvPr/>
          </p:nvSpPr>
          <p:spPr>
            <a:xfrm>
              <a:off x="10241280" y="1371600"/>
              <a:ext cx="1280160" cy="640080"/>
            </a:xfrm>
            <a:prstGeom prst="rect">
              <a:avLst/>
            </a:prstGeom>
            <a:noFill/>
          </p:spPr>
          <p:txBody>
            <a:bodyPr wrap="square" lIns="18288" tIns="9144" rIns="18288" bIns="9144" anchor="ctr">
              <a:noAutofit/>
            </a:bodyPr>
            <a:lstStyle/>
            <a:p>
              <a:pPr algn="r"/>
              <a:r>
                <a:rPr lang="en-GB" sz="1400" b="0" i="0">
                  <a:solidFill>
                    <a:srgbClr val="A9B0B8"/>
                  </a:solidFill>
                  <a:latin typeface="Arial"/>
                </a:rPr>
                <a:t>Class</a:t>
              </a:r>
            </a:p>
          </p:txBody>
        </p:sp>
        <p:sp>
          <p:nvSpPr>
            <p:cNvPr id="34" name="search box"/>
            <p:cNvSpPr/>
            <p:nvPr/>
          </p:nvSpPr>
          <p:spPr>
            <a:xfrm>
              <a:off x="7772400" y="2121408"/>
              <a:ext cx="3867912" cy="640080"/>
            </a:xfrm>
            <a:prstGeom prst="roundRect">
              <a:avLst>
                <a:gd name="adj" fmla="val 14285"/>
              </a:avLst>
            </a:prstGeom>
            <a:solidFill>
              <a:srgbClr val="343A43"/>
            </a:solidFill>
            <a:ln w="19050">
              <a:solidFill>
                <a:srgbClr val="9AA0A6"/>
              </a:solidFill>
            </a:ln>
          </p:spPr>
          <p:txBody>
            <a:bodyPr rtlCol="0" anchor="ctr"/>
            <a:lstStyle/>
            <a:p>
              <a:pPr algn="ctr"/>
              <a:endParaRPr/>
            </a:p>
          </p:txBody>
        </p:sp>
        <p:sp>
          <p:nvSpPr>
            <p:cNvPr id="35" name="magnifier lens"/>
            <p:cNvSpPr/>
            <p:nvPr/>
          </p:nvSpPr>
          <p:spPr>
            <a:xfrm>
              <a:off x="7955279" y="2258568"/>
              <a:ext cx="241401" cy="241401"/>
            </a:xfrm>
            <a:prstGeom prst="ellipse">
              <a:avLst/>
            </a:prstGeom>
            <a:noFill/>
            <a:ln w="31750">
              <a:solidFill>
                <a:srgbClr val="F2F2F2"/>
              </a:solidFill>
            </a:ln>
          </p:spPr>
          <p:txBody>
            <a:bodyPr rtlCol="0" anchor="ctr"/>
            <a:lstStyle/>
            <a:p>
              <a:pPr algn="ctr"/>
              <a:endParaRPr/>
            </a:p>
          </p:txBody>
        </p:sp>
        <p:cxnSp>
          <p:nvCxnSpPr>
            <p:cNvPr id="36" name="magnifier handle"/>
            <p:cNvCxnSpPr/>
            <p:nvPr/>
          </p:nvCxnSpPr>
          <p:spPr>
            <a:xfrm>
              <a:off x="8160471" y="2463759"/>
              <a:ext cx="160569" cy="160568"/>
            </a:xfrm>
            <a:prstGeom prst="line">
              <a:avLst/>
            </a:prstGeom>
            <a:ln w="47625">
              <a:solidFill>
                <a:srgbClr val="F2F2F2"/>
              </a:solidFill>
            </a:ln>
          </p:spPr>
        </p:cxnSp>
        <p:sp>
          <p:nvSpPr>
            <p:cNvPr id="37" name="search text"/>
            <p:cNvSpPr txBox="1"/>
            <p:nvPr/>
          </p:nvSpPr>
          <p:spPr>
            <a:xfrm>
              <a:off x="8503920" y="2121408"/>
              <a:ext cx="1737360" cy="640080"/>
            </a:xfrm>
            <a:prstGeom prst="rect">
              <a:avLst/>
            </a:prstGeom>
            <a:noFill/>
          </p:spPr>
          <p:txBody>
            <a:bodyPr wrap="square" lIns="18288" tIns="9144" rIns="18288" bIns="9144" anchor="ctr">
              <a:noAutofit/>
            </a:bodyPr>
            <a:lstStyle/>
            <a:p>
              <a:pPr algn="l"/>
              <a:r>
                <a:rPr lang="en-GB" sz="2400" b="1" i="0">
                  <a:solidFill>
                    <a:srgbClr val="F2F2F2"/>
                  </a:solidFill>
                  <a:latin typeface="Arial"/>
                </a:rPr>
                <a:t>92214</a:t>
              </a:r>
            </a:p>
          </p:txBody>
        </p:sp>
        <p:sp>
          <p:nvSpPr>
            <p:cNvPr id="38" name="search kind"/>
            <p:cNvSpPr txBox="1"/>
            <p:nvPr/>
          </p:nvSpPr>
          <p:spPr>
            <a:xfrm>
              <a:off x="10241280" y="2121408"/>
              <a:ext cx="1280160" cy="640080"/>
            </a:xfrm>
            <a:prstGeom prst="rect">
              <a:avLst/>
            </a:prstGeom>
            <a:noFill/>
          </p:spPr>
          <p:txBody>
            <a:bodyPr wrap="square" lIns="18288" tIns="9144" rIns="18288" bIns="9144" anchor="ctr">
              <a:noAutofit/>
            </a:bodyPr>
            <a:lstStyle/>
            <a:p>
              <a:pPr algn="r"/>
              <a:r>
                <a:rPr lang="en-GB" sz="1400" b="0" i="0">
                  <a:solidFill>
                    <a:srgbClr val="A9B0B8"/>
                  </a:solidFill>
                  <a:latin typeface="Arial"/>
                </a:rPr>
                <a:t>Number</a:t>
              </a:r>
            </a:p>
          </p:txBody>
        </p:sp>
        <p:sp>
          <p:nvSpPr>
            <p:cNvPr id="39" name="list heading"/>
            <p:cNvSpPr txBox="1"/>
            <p:nvPr/>
          </p:nvSpPr>
          <p:spPr>
            <a:xfrm>
              <a:off x="7772400" y="3017520"/>
              <a:ext cx="3867912" cy="365760"/>
            </a:xfrm>
            <a:prstGeom prst="rect">
              <a:avLst/>
            </a:prstGeom>
            <a:noFill/>
          </p:spPr>
          <p:txBody>
            <a:bodyPr wrap="square" lIns="18288" tIns="9144" rIns="18288" bIns="9144" anchor="ctr">
              <a:noAutofit/>
            </a:bodyPr>
            <a:lstStyle/>
            <a:p>
              <a:pPr algn="l"/>
              <a:r>
                <a:rPr lang="en-GB" sz="1800" b="1" i="0">
                  <a:solidFill>
                    <a:srgbClr val="F2F2F2"/>
                  </a:solidFill>
                  <a:latin typeface="Arial"/>
                </a:rPr>
                <a:t>Matches only</a:t>
              </a:r>
            </a:p>
          </p:txBody>
        </p:sp>
        <p:sp>
          <p:nvSpPr>
            <p:cNvPr id="40" name="list row"/>
            <p:cNvSpPr/>
            <p:nvPr/>
          </p:nvSpPr>
          <p:spPr>
            <a:xfrm>
              <a:off x="7772400" y="3429000"/>
              <a:ext cx="3867912" cy="457200"/>
            </a:xfrm>
            <a:prstGeom prst="roundRect">
              <a:avLst>
                <a:gd name="adj" fmla="val 12000"/>
              </a:avLst>
            </a:prstGeom>
            <a:solidFill>
              <a:srgbClr val="2B2F36"/>
            </a:solidFill>
            <a:ln w="12700">
              <a:solidFill>
                <a:srgbClr val="4A515B"/>
              </a:solidFill>
            </a:ln>
          </p:spPr>
          <p:txBody>
            <a:bodyPr rtlCol="0" anchor="ctr"/>
            <a:lstStyle/>
            <a:p>
              <a:pPr algn="ctr"/>
              <a:endParaRPr/>
            </a:p>
          </p:txBody>
        </p:sp>
        <p:sp>
          <p:nvSpPr>
            <p:cNvPr id="41" name="match marker"/>
            <p:cNvSpPr/>
            <p:nvPr/>
          </p:nvSpPr>
          <p:spPr>
            <a:xfrm>
              <a:off x="7936992" y="3557016"/>
              <a:ext cx="201168" cy="201168"/>
            </a:xfrm>
            <a:prstGeom prst="ellipse">
              <a:avLst/>
            </a:prstGeom>
            <a:solidFill>
              <a:srgbClr val="F28C28"/>
            </a:solidFill>
            <a:ln>
              <a:noFill/>
            </a:ln>
          </p:spPr>
          <p:txBody>
            <a:bodyPr rtlCol="0" anchor="ctr"/>
            <a:lstStyle/>
            <a:p>
              <a:pPr algn="ctr"/>
              <a:endParaRPr/>
            </a:p>
          </p:txBody>
        </p:sp>
        <p:sp>
          <p:nvSpPr>
            <p:cNvPr id="42" name="skeleton line"/>
            <p:cNvSpPr/>
            <p:nvPr/>
          </p:nvSpPr>
          <p:spPr>
            <a:xfrm>
              <a:off x="8366760" y="3602736"/>
              <a:ext cx="1737360" cy="109728"/>
            </a:xfrm>
            <a:prstGeom prst="roundRect">
              <a:avLst>
                <a:gd name="adj" fmla="val 50000"/>
              </a:avLst>
            </a:prstGeom>
            <a:solidFill>
              <a:srgbClr val="4A515B"/>
            </a:solidFill>
            <a:ln>
              <a:noFill/>
            </a:ln>
          </p:spPr>
          <p:txBody>
            <a:bodyPr rtlCol="0" anchor="ctr"/>
            <a:lstStyle/>
            <a:p>
              <a:pPr algn="ctr"/>
              <a:endParaRPr/>
            </a:p>
          </p:txBody>
        </p:sp>
        <p:sp>
          <p:nvSpPr>
            <p:cNvPr id="43" name="skeleton line"/>
            <p:cNvSpPr/>
            <p:nvPr/>
          </p:nvSpPr>
          <p:spPr>
            <a:xfrm>
              <a:off x="10424160" y="3602736"/>
              <a:ext cx="822960" cy="109728"/>
            </a:xfrm>
            <a:prstGeom prst="roundRect">
              <a:avLst>
                <a:gd name="adj" fmla="val 50000"/>
              </a:avLst>
            </a:prstGeom>
            <a:solidFill>
              <a:srgbClr val="4A515B"/>
            </a:solidFill>
            <a:ln>
              <a:noFill/>
            </a:ln>
          </p:spPr>
          <p:txBody>
            <a:bodyPr rtlCol="0" anchor="ctr"/>
            <a:lstStyle/>
            <a:p>
              <a:pPr algn="ctr"/>
              <a:endParaRPr/>
            </a:p>
          </p:txBody>
        </p:sp>
        <p:sp>
          <p:nvSpPr>
            <p:cNvPr id="44" name="list row"/>
            <p:cNvSpPr/>
            <p:nvPr/>
          </p:nvSpPr>
          <p:spPr>
            <a:xfrm>
              <a:off x="7772400" y="3959352"/>
              <a:ext cx="3867912" cy="457200"/>
            </a:xfrm>
            <a:prstGeom prst="roundRect">
              <a:avLst>
                <a:gd name="adj" fmla="val 12000"/>
              </a:avLst>
            </a:prstGeom>
            <a:solidFill>
              <a:srgbClr val="2B2F36"/>
            </a:solidFill>
            <a:ln w="12700">
              <a:solidFill>
                <a:srgbClr val="4A515B"/>
              </a:solidFill>
            </a:ln>
          </p:spPr>
          <p:txBody>
            <a:bodyPr rtlCol="0" anchor="ctr"/>
            <a:lstStyle/>
            <a:p>
              <a:pPr algn="ctr"/>
              <a:endParaRPr/>
            </a:p>
          </p:txBody>
        </p:sp>
        <p:sp>
          <p:nvSpPr>
            <p:cNvPr id="45" name="match marker"/>
            <p:cNvSpPr/>
            <p:nvPr/>
          </p:nvSpPr>
          <p:spPr>
            <a:xfrm>
              <a:off x="7936992" y="4087368"/>
              <a:ext cx="201168" cy="201168"/>
            </a:xfrm>
            <a:prstGeom prst="ellipse">
              <a:avLst/>
            </a:prstGeom>
            <a:solidFill>
              <a:srgbClr val="F28C28"/>
            </a:solidFill>
            <a:ln>
              <a:noFill/>
            </a:ln>
          </p:spPr>
          <p:txBody>
            <a:bodyPr rtlCol="0" anchor="ctr"/>
            <a:lstStyle/>
            <a:p>
              <a:pPr algn="ctr"/>
              <a:endParaRPr/>
            </a:p>
          </p:txBody>
        </p:sp>
        <p:sp>
          <p:nvSpPr>
            <p:cNvPr id="46" name="skeleton line"/>
            <p:cNvSpPr/>
            <p:nvPr/>
          </p:nvSpPr>
          <p:spPr>
            <a:xfrm>
              <a:off x="8366760" y="4133088"/>
              <a:ext cx="1554480" cy="109728"/>
            </a:xfrm>
            <a:prstGeom prst="roundRect">
              <a:avLst>
                <a:gd name="adj" fmla="val 50000"/>
              </a:avLst>
            </a:prstGeom>
            <a:solidFill>
              <a:srgbClr val="4A515B"/>
            </a:solidFill>
            <a:ln>
              <a:noFill/>
            </a:ln>
          </p:spPr>
          <p:txBody>
            <a:bodyPr rtlCol="0" anchor="ctr"/>
            <a:lstStyle/>
            <a:p>
              <a:pPr algn="ctr"/>
              <a:endParaRPr/>
            </a:p>
          </p:txBody>
        </p:sp>
        <p:sp>
          <p:nvSpPr>
            <p:cNvPr id="47" name="skeleton line"/>
            <p:cNvSpPr/>
            <p:nvPr/>
          </p:nvSpPr>
          <p:spPr>
            <a:xfrm>
              <a:off x="10424160" y="4133088"/>
              <a:ext cx="822960" cy="109728"/>
            </a:xfrm>
            <a:prstGeom prst="roundRect">
              <a:avLst>
                <a:gd name="adj" fmla="val 50000"/>
              </a:avLst>
            </a:prstGeom>
            <a:solidFill>
              <a:srgbClr val="4A515B"/>
            </a:solidFill>
            <a:ln>
              <a:noFill/>
            </a:ln>
          </p:spPr>
          <p:txBody>
            <a:bodyPr rtlCol="0" anchor="ctr"/>
            <a:lstStyle/>
            <a:p>
              <a:pPr algn="ctr"/>
              <a:endParaRPr/>
            </a:p>
          </p:txBody>
        </p:sp>
        <p:sp>
          <p:nvSpPr>
            <p:cNvPr id="48" name="list row"/>
            <p:cNvSpPr/>
            <p:nvPr/>
          </p:nvSpPr>
          <p:spPr>
            <a:xfrm>
              <a:off x="7772400" y="4489704"/>
              <a:ext cx="3867912" cy="457200"/>
            </a:xfrm>
            <a:prstGeom prst="roundRect">
              <a:avLst>
                <a:gd name="adj" fmla="val 12000"/>
              </a:avLst>
            </a:prstGeom>
            <a:solidFill>
              <a:srgbClr val="2B2F36"/>
            </a:solidFill>
            <a:ln w="12700">
              <a:solidFill>
                <a:srgbClr val="4A515B"/>
              </a:solidFill>
            </a:ln>
          </p:spPr>
          <p:txBody>
            <a:bodyPr rtlCol="0" anchor="ctr"/>
            <a:lstStyle/>
            <a:p>
              <a:pPr algn="ctr"/>
              <a:endParaRPr/>
            </a:p>
          </p:txBody>
        </p:sp>
        <p:sp>
          <p:nvSpPr>
            <p:cNvPr id="49" name="match marker"/>
            <p:cNvSpPr/>
            <p:nvPr/>
          </p:nvSpPr>
          <p:spPr>
            <a:xfrm>
              <a:off x="7936992" y="4617720"/>
              <a:ext cx="201168" cy="201168"/>
            </a:xfrm>
            <a:prstGeom prst="ellipse">
              <a:avLst/>
            </a:prstGeom>
            <a:solidFill>
              <a:srgbClr val="F28C28"/>
            </a:solidFill>
            <a:ln>
              <a:noFill/>
            </a:ln>
          </p:spPr>
          <p:txBody>
            <a:bodyPr rtlCol="0" anchor="ctr"/>
            <a:lstStyle/>
            <a:p>
              <a:pPr algn="ctr"/>
              <a:endParaRPr/>
            </a:p>
          </p:txBody>
        </p:sp>
        <p:sp>
          <p:nvSpPr>
            <p:cNvPr id="50" name="skeleton line"/>
            <p:cNvSpPr/>
            <p:nvPr/>
          </p:nvSpPr>
          <p:spPr>
            <a:xfrm>
              <a:off x="8366760" y="4663440"/>
              <a:ext cx="1371600" cy="109728"/>
            </a:xfrm>
            <a:prstGeom prst="roundRect">
              <a:avLst>
                <a:gd name="adj" fmla="val 50000"/>
              </a:avLst>
            </a:prstGeom>
            <a:solidFill>
              <a:srgbClr val="4A515B"/>
            </a:solidFill>
            <a:ln>
              <a:noFill/>
            </a:ln>
          </p:spPr>
          <p:txBody>
            <a:bodyPr rtlCol="0" anchor="ctr"/>
            <a:lstStyle/>
            <a:p>
              <a:pPr algn="ctr"/>
              <a:endParaRPr/>
            </a:p>
          </p:txBody>
        </p:sp>
        <p:sp>
          <p:nvSpPr>
            <p:cNvPr id="51" name="skeleton line"/>
            <p:cNvSpPr/>
            <p:nvPr/>
          </p:nvSpPr>
          <p:spPr>
            <a:xfrm>
              <a:off x="10424160" y="4663440"/>
              <a:ext cx="822960" cy="109728"/>
            </a:xfrm>
            <a:prstGeom prst="roundRect">
              <a:avLst>
                <a:gd name="adj" fmla="val 50000"/>
              </a:avLst>
            </a:prstGeom>
            <a:solidFill>
              <a:srgbClr val="4A515B"/>
            </a:solidFill>
            <a:ln>
              <a:noFill/>
            </a:ln>
          </p:spPr>
          <p:txBody>
            <a:bodyPr rtlCol="0" anchor="ctr"/>
            <a:lstStyle/>
            <a:p>
              <a:pPr algn="ctr"/>
              <a:endParaRPr/>
            </a:p>
          </p:txBody>
        </p:sp>
      </p:grpSp>
      <p:sp>
        <p:nvSpPr>
          <p:cNvPr id="52" name="ICHIP"/>
          <p:cNvSpPr/>
          <p:nvPr/>
        </p:nvSpPr>
        <p:spPr>
          <a:xfrm>
            <a:off x="8997555" y="5138928"/>
            <a:ext cx="2642756"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Screens: undecided (OQ30)</a:t>
            </a:r>
          </a:p>
        </p:txBody>
      </p:sp>
      <p:sp>
        <p:nvSpPr>
          <p:cNvPr id="5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5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55"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Type a number or a class. Matches stand out on the map.</a:t>
            </a:r>
          </a:p>
        </p:txBody>
      </p:sp>
      <p:sp>
        <p:nvSpPr>
          <p:cNvPr id="5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21</a:t>
            </a:r>
          </a:p>
        </p:txBody>
      </p:sp>
    </p:spTree>
    <p:extLst>
      <p:ext uri="{BB962C8B-B14F-4D97-AF65-F5344CB8AC3E}">
        <p14:creationId xmlns:p14="http://schemas.microsoft.com/office/powerpoint/2010/main" val="31759369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30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nodeType="withEffect">
                                  <p:stCondLst>
                                    <p:cond delay="60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par>
                                <p:cTn id="14" presetID="10" presetClass="entr" presetSubtype="0" fill="hold" nodeType="withEffect">
                                  <p:stCondLst>
                                    <p:cond delay="90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nodeType="withEffect">
                                  <p:stCondLst>
                                    <p:cond delay="120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Researched, not copied</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Each region researched on its own" descr="Three region cards, each with a magnifying glass and the words Own rules. Crossed arrows from the British card to the other two cards show that British rules are not reused elsewhere."/>
          <p:cNvGrpSpPr/>
          <p:nvPr/>
        </p:nvGrpSpPr>
        <p:grpSpPr>
          <a:xfrm>
            <a:off x="548640" y="1216152"/>
            <a:ext cx="11091672" cy="3995928"/>
            <a:chOff x="548640" y="1216152"/>
            <a:chExt cx="11091672" cy="3995928"/>
          </a:xfrm>
        </p:grpSpPr>
        <p:sp>
          <p:nvSpPr>
            <p:cNvPr id="5" name="region card"/>
            <p:cNvSpPr/>
            <p:nvPr/>
          </p:nvSpPr>
          <p:spPr>
            <a:xfrm>
              <a:off x="548640" y="2697480"/>
              <a:ext cx="3447288" cy="2514600"/>
            </a:xfrm>
            <a:prstGeom prst="roundRect">
              <a:avLst>
                <a:gd name="adj" fmla="val 3636"/>
              </a:avLst>
            </a:prstGeom>
            <a:solidFill>
              <a:srgbClr val="2B2F36"/>
            </a:solidFill>
            <a:ln w="19050">
              <a:solidFill>
                <a:srgbClr val="4A515B"/>
              </a:solidFill>
            </a:ln>
          </p:spPr>
          <p:txBody>
            <a:bodyPr rtlCol="0" anchor="ctr"/>
            <a:lstStyle/>
            <a:p>
              <a:pPr algn="ctr"/>
              <a:endParaRPr/>
            </a:p>
          </p:txBody>
        </p:sp>
        <p:sp>
          <p:nvSpPr>
            <p:cNvPr id="6" name="region name"/>
            <p:cNvSpPr txBox="1"/>
            <p:nvPr/>
          </p:nvSpPr>
          <p:spPr>
            <a:xfrm>
              <a:off x="548640" y="2788920"/>
              <a:ext cx="3447288"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British</a:t>
              </a:r>
            </a:p>
          </p:txBody>
        </p:sp>
        <p:sp>
          <p:nvSpPr>
            <p:cNvPr id="7" name="magnifier lens"/>
            <p:cNvSpPr/>
            <p:nvPr/>
          </p:nvSpPr>
          <p:spPr>
            <a:xfrm>
              <a:off x="1815084" y="3337560"/>
              <a:ext cx="603504" cy="603504"/>
            </a:xfrm>
            <a:prstGeom prst="ellipse">
              <a:avLst/>
            </a:prstGeom>
            <a:noFill/>
            <a:ln w="63500">
              <a:solidFill>
                <a:srgbClr val="F28C28"/>
              </a:solidFill>
            </a:ln>
          </p:spPr>
          <p:txBody>
            <a:bodyPr rtlCol="0" anchor="ctr"/>
            <a:lstStyle/>
            <a:p>
              <a:pPr algn="ctr"/>
              <a:endParaRPr/>
            </a:p>
          </p:txBody>
        </p:sp>
        <p:cxnSp>
          <p:nvCxnSpPr>
            <p:cNvPr id="8" name="magnifier handle"/>
            <p:cNvCxnSpPr/>
            <p:nvPr/>
          </p:nvCxnSpPr>
          <p:spPr>
            <a:xfrm>
              <a:off x="2328062" y="3850538"/>
              <a:ext cx="401422" cy="401422"/>
            </a:xfrm>
            <a:prstGeom prst="line">
              <a:avLst/>
            </a:prstGeom>
            <a:ln w="95250">
              <a:solidFill>
                <a:srgbClr val="F28C28"/>
              </a:solidFill>
            </a:ln>
          </p:spPr>
        </p:cxnSp>
        <p:sp>
          <p:nvSpPr>
            <p:cNvPr id="9" name="own rules"/>
            <p:cNvSpPr txBox="1"/>
            <p:nvPr/>
          </p:nvSpPr>
          <p:spPr>
            <a:xfrm>
              <a:off x="548640" y="4526280"/>
              <a:ext cx="3447288"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Own rules</a:t>
              </a:r>
            </a:p>
          </p:txBody>
        </p:sp>
        <p:sp>
          <p:nvSpPr>
            <p:cNvPr id="10" name="region card"/>
            <p:cNvSpPr/>
            <p:nvPr/>
          </p:nvSpPr>
          <p:spPr>
            <a:xfrm>
              <a:off x="4370832" y="2697480"/>
              <a:ext cx="3447288" cy="2514600"/>
            </a:xfrm>
            <a:prstGeom prst="roundRect">
              <a:avLst>
                <a:gd name="adj" fmla="val 3636"/>
              </a:avLst>
            </a:prstGeom>
            <a:solidFill>
              <a:srgbClr val="2B2F36"/>
            </a:solidFill>
            <a:ln w="19050">
              <a:solidFill>
                <a:srgbClr val="4A515B"/>
              </a:solidFill>
            </a:ln>
          </p:spPr>
          <p:txBody>
            <a:bodyPr rtlCol="0" anchor="ctr"/>
            <a:lstStyle/>
            <a:p>
              <a:pPr algn="ctr"/>
              <a:endParaRPr/>
            </a:p>
          </p:txBody>
        </p:sp>
        <p:sp>
          <p:nvSpPr>
            <p:cNvPr id="11" name="region name"/>
            <p:cNvSpPr txBox="1"/>
            <p:nvPr/>
          </p:nvSpPr>
          <p:spPr>
            <a:xfrm>
              <a:off x="4370832" y="2788920"/>
              <a:ext cx="3447288"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North American</a:t>
              </a:r>
            </a:p>
          </p:txBody>
        </p:sp>
        <p:sp>
          <p:nvSpPr>
            <p:cNvPr id="12" name="magnifier lens"/>
            <p:cNvSpPr/>
            <p:nvPr/>
          </p:nvSpPr>
          <p:spPr>
            <a:xfrm>
              <a:off x="5637276" y="3337560"/>
              <a:ext cx="603504" cy="603504"/>
            </a:xfrm>
            <a:prstGeom prst="ellipse">
              <a:avLst/>
            </a:prstGeom>
            <a:noFill/>
            <a:ln w="63500">
              <a:solidFill>
                <a:srgbClr val="F28C28"/>
              </a:solidFill>
            </a:ln>
          </p:spPr>
          <p:txBody>
            <a:bodyPr rtlCol="0" anchor="ctr"/>
            <a:lstStyle/>
            <a:p>
              <a:pPr algn="ctr"/>
              <a:endParaRPr/>
            </a:p>
          </p:txBody>
        </p:sp>
        <p:cxnSp>
          <p:nvCxnSpPr>
            <p:cNvPr id="13" name="magnifier handle"/>
            <p:cNvCxnSpPr/>
            <p:nvPr/>
          </p:nvCxnSpPr>
          <p:spPr>
            <a:xfrm>
              <a:off x="6150254" y="3850538"/>
              <a:ext cx="401422" cy="401422"/>
            </a:xfrm>
            <a:prstGeom prst="line">
              <a:avLst/>
            </a:prstGeom>
            <a:ln w="95250">
              <a:solidFill>
                <a:srgbClr val="F28C28"/>
              </a:solidFill>
            </a:ln>
          </p:spPr>
        </p:cxnSp>
        <p:sp>
          <p:nvSpPr>
            <p:cNvPr id="14" name="own rules"/>
            <p:cNvSpPr txBox="1"/>
            <p:nvPr/>
          </p:nvSpPr>
          <p:spPr>
            <a:xfrm>
              <a:off x="4370832" y="4526280"/>
              <a:ext cx="3447288"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Own rules</a:t>
              </a:r>
            </a:p>
          </p:txBody>
        </p:sp>
        <p:sp>
          <p:nvSpPr>
            <p:cNvPr id="15" name="region card"/>
            <p:cNvSpPr/>
            <p:nvPr/>
          </p:nvSpPr>
          <p:spPr>
            <a:xfrm>
              <a:off x="8193024" y="2697480"/>
              <a:ext cx="3447288" cy="2514600"/>
            </a:xfrm>
            <a:prstGeom prst="roundRect">
              <a:avLst>
                <a:gd name="adj" fmla="val 3636"/>
              </a:avLst>
            </a:prstGeom>
            <a:solidFill>
              <a:srgbClr val="2B2F36"/>
            </a:solidFill>
            <a:ln w="19050">
              <a:solidFill>
                <a:srgbClr val="4A515B"/>
              </a:solidFill>
            </a:ln>
          </p:spPr>
          <p:txBody>
            <a:bodyPr rtlCol="0" anchor="ctr"/>
            <a:lstStyle/>
            <a:p>
              <a:pPr algn="ctr"/>
              <a:endParaRPr/>
            </a:p>
          </p:txBody>
        </p:sp>
        <p:sp>
          <p:nvSpPr>
            <p:cNvPr id="16" name="region name"/>
            <p:cNvSpPr txBox="1"/>
            <p:nvPr/>
          </p:nvSpPr>
          <p:spPr>
            <a:xfrm>
              <a:off x="8193024" y="2788920"/>
              <a:ext cx="3447288"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Continental European</a:t>
              </a:r>
            </a:p>
          </p:txBody>
        </p:sp>
        <p:sp>
          <p:nvSpPr>
            <p:cNvPr id="17" name="magnifier lens"/>
            <p:cNvSpPr/>
            <p:nvPr/>
          </p:nvSpPr>
          <p:spPr>
            <a:xfrm>
              <a:off x="9459468" y="3337560"/>
              <a:ext cx="603504" cy="603504"/>
            </a:xfrm>
            <a:prstGeom prst="ellipse">
              <a:avLst/>
            </a:prstGeom>
            <a:noFill/>
            <a:ln w="63500">
              <a:solidFill>
                <a:srgbClr val="F28C28"/>
              </a:solidFill>
            </a:ln>
          </p:spPr>
          <p:txBody>
            <a:bodyPr rtlCol="0" anchor="ctr"/>
            <a:lstStyle/>
            <a:p>
              <a:pPr algn="ctr"/>
              <a:endParaRPr/>
            </a:p>
          </p:txBody>
        </p:sp>
        <p:cxnSp>
          <p:nvCxnSpPr>
            <p:cNvPr id="18" name="magnifier handle"/>
            <p:cNvCxnSpPr/>
            <p:nvPr/>
          </p:nvCxnSpPr>
          <p:spPr>
            <a:xfrm>
              <a:off x="9972446" y="3850538"/>
              <a:ext cx="401422" cy="401422"/>
            </a:xfrm>
            <a:prstGeom prst="line">
              <a:avLst/>
            </a:prstGeom>
            <a:ln w="95250">
              <a:solidFill>
                <a:srgbClr val="F28C28"/>
              </a:solidFill>
            </a:ln>
          </p:spPr>
        </p:cxnSp>
        <p:sp>
          <p:nvSpPr>
            <p:cNvPr id="19" name="own rules"/>
            <p:cNvSpPr txBox="1"/>
            <p:nvPr/>
          </p:nvSpPr>
          <p:spPr>
            <a:xfrm>
              <a:off x="8193024" y="4526280"/>
              <a:ext cx="3447288" cy="457200"/>
            </a:xfrm>
            <a:prstGeom prst="rect">
              <a:avLst/>
            </a:prstGeom>
            <a:noFill/>
          </p:spPr>
          <p:txBody>
            <a:bodyPr wrap="square" lIns="18288" tIns="9144" rIns="18288" bIns="9144" anchor="ctr">
              <a:noAutofit/>
            </a:bodyPr>
            <a:lstStyle/>
            <a:p>
              <a:pPr algn="ctr"/>
              <a:r>
                <a:rPr lang="en-GB" sz="2000" b="1" i="0">
                  <a:solidFill>
                    <a:srgbClr val="F2F2F2"/>
                  </a:solidFill>
                  <a:latin typeface="Arial"/>
                </a:rPr>
                <a:t>Own rules</a:t>
              </a:r>
            </a:p>
          </p:txBody>
        </p:sp>
        <p:sp>
          <p:nvSpPr>
            <p:cNvPr id="20" name="blocked arrow"/>
            <p:cNvSpPr/>
            <p:nvPr/>
          </p:nvSpPr>
          <p:spPr>
            <a:xfrm>
              <a:off x="3003804" y="2194560"/>
              <a:ext cx="3090672" cy="475488"/>
            </a:xfrm>
            <a:custGeom>
              <a:avLst/>
              <a:gdLst/>
              <a:ahLst/>
              <a:cxnLst/>
              <a:rect l="l" t="t" r="r" b="b"/>
              <a:pathLst>
                <a:path w="3090672" h="475488">
                  <a:moveTo>
                    <a:pt x="0" y="475488"/>
                  </a:moveTo>
                  <a:lnTo>
                    <a:pt x="0" y="0"/>
                  </a:lnTo>
                  <a:lnTo>
                    <a:pt x="3090672" y="0"/>
                  </a:lnTo>
                  <a:lnTo>
                    <a:pt x="3090672" y="457200"/>
                  </a:lnTo>
                </a:path>
              </a:pathLst>
            </a:custGeom>
            <a:noFill/>
            <a:ln w="38100">
              <a:solidFill>
                <a:srgbClr val="F28C28"/>
              </a:solidFill>
              <a:tailEnd type="triangle" w="med" len="med"/>
            </a:ln>
          </p:spPr>
          <p:txBody>
            <a:bodyPr rtlCol="0" anchor="ctr"/>
            <a:lstStyle/>
            <a:p>
              <a:pPr algn="ctr"/>
              <a:endParaRPr/>
            </a:p>
          </p:txBody>
        </p:sp>
        <p:sp>
          <p:nvSpPr>
            <p:cNvPr id="21" name="blocked arrow"/>
            <p:cNvSpPr/>
            <p:nvPr/>
          </p:nvSpPr>
          <p:spPr>
            <a:xfrm>
              <a:off x="1540763" y="1645920"/>
              <a:ext cx="8375905" cy="1024128"/>
            </a:xfrm>
            <a:custGeom>
              <a:avLst/>
              <a:gdLst/>
              <a:ahLst/>
              <a:cxnLst/>
              <a:rect l="l" t="t" r="r" b="b"/>
              <a:pathLst>
                <a:path w="8375905" h="1024128">
                  <a:moveTo>
                    <a:pt x="0" y="1024128"/>
                  </a:moveTo>
                  <a:lnTo>
                    <a:pt x="0" y="0"/>
                  </a:lnTo>
                  <a:lnTo>
                    <a:pt x="8375905" y="0"/>
                  </a:lnTo>
                  <a:lnTo>
                    <a:pt x="8375905" y="1005840"/>
                  </a:lnTo>
                </a:path>
              </a:pathLst>
            </a:custGeom>
            <a:noFill/>
            <a:ln w="38100">
              <a:solidFill>
                <a:srgbClr val="F28C28"/>
              </a:solidFill>
              <a:tailEnd type="triangle" w="med" len="med"/>
            </a:ln>
          </p:spPr>
          <p:txBody>
            <a:bodyPr rtlCol="0" anchor="ctr"/>
            <a:lstStyle/>
            <a:p>
              <a:pPr algn="ctr"/>
              <a:endParaRPr/>
            </a:p>
          </p:txBody>
        </p:sp>
        <p:sp>
          <p:nvSpPr>
            <p:cNvPr id="22" name="cross disc"/>
            <p:cNvSpPr/>
            <p:nvPr/>
          </p:nvSpPr>
          <p:spPr>
            <a:xfrm>
              <a:off x="4274820" y="1920240"/>
              <a:ext cx="548640" cy="548640"/>
            </a:xfrm>
            <a:prstGeom prst="ellipse">
              <a:avLst/>
            </a:prstGeom>
            <a:solidFill>
              <a:srgbClr val="1E2126"/>
            </a:solidFill>
            <a:ln w="38100">
              <a:solidFill>
                <a:srgbClr val="E5484D"/>
              </a:solidFill>
            </a:ln>
          </p:spPr>
          <p:txBody>
            <a:bodyPr rtlCol="0" anchor="ctr"/>
            <a:lstStyle/>
            <a:p>
              <a:pPr algn="ctr"/>
              <a:endParaRPr/>
            </a:p>
          </p:txBody>
        </p:sp>
        <p:cxnSp>
          <p:nvCxnSpPr>
            <p:cNvPr id="23" name="cross"/>
            <p:cNvCxnSpPr/>
            <p:nvPr/>
          </p:nvCxnSpPr>
          <p:spPr>
            <a:xfrm>
              <a:off x="4411980" y="2057400"/>
              <a:ext cx="274320" cy="274320"/>
            </a:xfrm>
            <a:prstGeom prst="line">
              <a:avLst/>
            </a:prstGeom>
            <a:ln w="63500">
              <a:solidFill>
                <a:srgbClr val="E5484D"/>
              </a:solidFill>
            </a:ln>
          </p:spPr>
        </p:cxnSp>
        <p:cxnSp>
          <p:nvCxnSpPr>
            <p:cNvPr id="24" name="cross"/>
            <p:cNvCxnSpPr/>
            <p:nvPr/>
          </p:nvCxnSpPr>
          <p:spPr>
            <a:xfrm flipV="1">
              <a:off x="4411980" y="2057400"/>
              <a:ext cx="274320" cy="274320"/>
            </a:xfrm>
            <a:prstGeom prst="line">
              <a:avLst/>
            </a:prstGeom>
            <a:ln w="63500">
              <a:solidFill>
                <a:srgbClr val="E5484D"/>
              </a:solidFill>
            </a:ln>
          </p:spPr>
        </p:cxnSp>
        <p:sp>
          <p:nvSpPr>
            <p:cNvPr id="25" name="cross disc"/>
            <p:cNvSpPr/>
            <p:nvPr/>
          </p:nvSpPr>
          <p:spPr>
            <a:xfrm>
              <a:off x="5454396" y="1371600"/>
              <a:ext cx="548640" cy="548640"/>
            </a:xfrm>
            <a:prstGeom prst="ellipse">
              <a:avLst/>
            </a:prstGeom>
            <a:solidFill>
              <a:srgbClr val="1E2126"/>
            </a:solidFill>
            <a:ln w="38100">
              <a:solidFill>
                <a:srgbClr val="E5484D"/>
              </a:solidFill>
            </a:ln>
          </p:spPr>
          <p:txBody>
            <a:bodyPr rtlCol="0" anchor="ctr"/>
            <a:lstStyle/>
            <a:p>
              <a:pPr algn="ctr"/>
              <a:endParaRPr/>
            </a:p>
          </p:txBody>
        </p:sp>
        <p:cxnSp>
          <p:nvCxnSpPr>
            <p:cNvPr id="26" name="cross"/>
            <p:cNvCxnSpPr/>
            <p:nvPr/>
          </p:nvCxnSpPr>
          <p:spPr>
            <a:xfrm>
              <a:off x="5591556" y="1508760"/>
              <a:ext cx="274320" cy="274320"/>
            </a:xfrm>
            <a:prstGeom prst="line">
              <a:avLst/>
            </a:prstGeom>
            <a:ln w="63500">
              <a:solidFill>
                <a:srgbClr val="E5484D"/>
              </a:solidFill>
            </a:ln>
          </p:spPr>
        </p:cxnSp>
        <p:cxnSp>
          <p:nvCxnSpPr>
            <p:cNvPr id="27" name="cross"/>
            <p:cNvCxnSpPr/>
            <p:nvPr/>
          </p:nvCxnSpPr>
          <p:spPr>
            <a:xfrm flipV="1">
              <a:off x="5591556" y="1508760"/>
              <a:ext cx="274320" cy="274320"/>
            </a:xfrm>
            <a:prstGeom prst="line">
              <a:avLst/>
            </a:prstGeom>
            <a:ln w="63500">
              <a:solidFill>
                <a:srgbClr val="E5484D"/>
              </a:solidFill>
            </a:ln>
          </p:spPr>
        </p:cxnSp>
        <p:sp>
          <p:nvSpPr>
            <p:cNvPr id="28" name="blocked label"/>
            <p:cNvSpPr txBox="1"/>
            <p:nvPr/>
          </p:nvSpPr>
          <p:spPr>
            <a:xfrm>
              <a:off x="7040880" y="1216152"/>
              <a:ext cx="2011680" cy="310896"/>
            </a:xfrm>
            <a:prstGeom prst="rect">
              <a:avLst/>
            </a:prstGeom>
            <a:noFill/>
          </p:spPr>
          <p:txBody>
            <a:bodyPr wrap="square" lIns="18288" tIns="9144" rIns="18288" bIns="9144" anchor="ctr">
              <a:noAutofit/>
            </a:bodyPr>
            <a:lstStyle/>
            <a:p>
              <a:pPr algn="l"/>
              <a:r>
                <a:rPr lang="en-GB" sz="1400" b="1" i="0">
                  <a:solidFill>
                    <a:srgbClr val="F2F2F2"/>
                  </a:solidFill>
                  <a:latin typeface="Arial"/>
                </a:rPr>
                <a:t>Not reused</a:t>
              </a:r>
            </a:p>
          </p:txBody>
        </p:sp>
      </p:grpSp>
      <p:sp>
        <p:nvSpPr>
          <p:cNvPr id="2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1"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Each region's numbering is researched on its own. British rules are not reused elsewhere.</a:t>
            </a:r>
          </a:p>
        </p:txBody>
      </p:sp>
      <p:sp>
        <p:nvSpPr>
          <p:cNvPr id="32"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22</a:t>
            </a:r>
          </a:p>
        </p:txBody>
      </p:sp>
    </p:spTree>
    <p:extLst>
      <p:ext uri="{BB962C8B-B14F-4D97-AF65-F5344CB8AC3E}">
        <p14:creationId xmlns:p14="http://schemas.microsoft.com/office/powerpoint/2010/main" val="38384103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note on the build card</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Mock build card with a numbering note" descr="A mock build card with a picture of an engine, placeholder text lines and a small secondary line that reads Numbering note, example only. The note is a suggestion."/>
          <p:cNvGrpSpPr/>
          <p:nvPr/>
        </p:nvGrpSpPr>
        <p:grpSpPr>
          <a:xfrm>
            <a:off x="3108960" y="1417320"/>
            <a:ext cx="5943600" cy="3749039"/>
            <a:chOff x="3108960" y="1417320"/>
            <a:chExt cx="5943600" cy="3749039"/>
          </a:xfrm>
        </p:grpSpPr>
        <p:sp>
          <p:nvSpPr>
            <p:cNvPr id="5" name="build card"/>
            <p:cNvSpPr/>
            <p:nvPr/>
          </p:nvSpPr>
          <p:spPr>
            <a:xfrm>
              <a:off x="3108960" y="1417320"/>
              <a:ext cx="5943600" cy="3749039"/>
            </a:xfrm>
            <a:prstGeom prst="roundRect">
              <a:avLst>
                <a:gd name="adj" fmla="val 2926"/>
              </a:avLst>
            </a:prstGeom>
            <a:solidFill>
              <a:srgbClr val="2B2F36"/>
            </a:solidFill>
            <a:ln w="22225">
              <a:solidFill>
                <a:srgbClr val="4A515B"/>
              </a:solidFill>
            </a:ln>
          </p:spPr>
          <p:txBody>
            <a:bodyPr rtlCol="0" anchor="ctr"/>
            <a:lstStyle/>
            <a:p>
              <a:pPr algn="ctr"/>
              <a:endParaRPr/>
            </a:p>
          </p:txBody>
        </p:sp>
        <p:sp>
          <p:nvSpPr>
            <p:cNvPr id="6" name="card picture"/>
            <p:cNvSpPr/>
            <p:nvPr/>
          </p:nvSpPr>
          <p:spPr>
            <a:xfrm>
              <a:off x="3383280" y="1691640"/>
              <a:ext cx="1828800" cy="1463040"/>
            </a:xfrm>
            <a:prstGeom prst="roundRect">
              <a:avLst>
                <a:gd name="adj" fmla="val 5000"/>
              </a:avLst>
            </a:prstGeom>
            <a:solidFill>
              <a:srgbClr val="1B1D21"/>
            </a:solidFill>
            <a:ln w="19050">
              <a:solidFill>
                <a:srgbClr val="4A515B"/>
              </a:solidFill>
            </a:ln>
          </p:spPr>
          <p:txBody>
            <a:bodyPr rtlCol="0" anchor="ctr"/>
            <a:lstStyle/>
            <a:p>
              <a:pPr algn="ctr"/>
              <a:endParaRPr/>
            </a:p>
          </p:txBody>
        </p:sp>
        <p:sp>
          <p:nvSpPr>
            <p:cNvPr id="7" name="rail"/>
            <p:cNvSpPr/>
            <p:nvPr/>
          </p:nvSpPr>
          <p:spPr>
            <a:xfrm>
              <a:off x="3474720" y="2834640"/>
              <a:ext cx="1645920" cy="36576"/>
            </a:xfrm>
            <a:prstGeom prst="rect">
              <a:avLst/>
            </a:prstGeom>
            <a:solidFill>
              <a:srgbClr val="9AA0A6"/>
            </a:solidFill>
            <a:ln>
              <a:noFill/>
            </a:ln>
          </p:spPr>
          <p:txBody>
            <a:bodyPr rtlCol="0" anchor="ctr"/>
            <a:lstStyle/>
            <a:p>
              <a:pPr algn="ctr"/>
              <a:endParaRPr/>
            </a:p>
          </p:txBody>
        </p:sp>
        <p:sp>
          <p:nvSpPr>
            <p:cNvPr id="8" name="frame"/>
            <p:cNvSpPr/>
            <p:nvPr/>
          </p:nvSpPr>
          <p:spPr>
            <a:xfrm>
              <a:off x="3611880" y="2715310"/>
              <a:ext cx="913485" cy="37033"/>
            </a:xfrm>
            <a:prstGeom prst="rect">
              <a:avLst/>
            </a:prstGeom>
            <a:solidFill>
              <a:srgbClr val="3A3F47"/>
            </a:solidFill>
            <a:ln w="9525">
              <a:solidFill>
                <a:srgbClr val="9AA0A6"/>
              </a:solidFill>
            </a:ln>
          </p:spPr>
          <p:txBody>
            <a:bodyPr rtlCol="0" anchor="ctr"/>
            <a:lstStyle/>
            <a:p>
              <a:pPr algn="ctr"/>
              <a:endParaRPr/>
            </a:p>
          </p:txBody>
        </p:sp>
        <p:sp>
          <p:nvSpPr>
            <p:cNvPr id="9" name="bunker"/>
            <p:cNvSpPr/>
            <p:nvPr/>
          </p:nvSpPr>
          <p:spPr>
            <a:xfrm>
              <a:off x="3611880" y="2554833"/>
              <a:ext cx="139903" cy="160477"/>
            </a:xfrm>
            <a:prstGeom prst="roundRect">
              <a:avLst>
                <a:gd name="adj" fmla="val 2941"/>
              </a:avLst>
            </a:prstGeom>
            <a:solidFill>
              <a:srgbClr val="F28C28"/>
            </a:solidFill>
            <a:ln>
              <a:noFill/>
            </a:ln>
          </p:spPr>
          <p:txBody>
            <a:bodyPr rtlCol="0" anchor="ctr"/>
            <a:lstStyle/>
            <a:p>
              <a:pPr algn="ctr"/>
              <a:endParaRPr/>
            </a:p>
          </p:txBody>
        </p:sp>
        <p:sp>
          <p:nvSpPr>
            <p:cNvPr id="10" name="bunker coal"/>
            <p:cNvSpPr/>
            <p:nvPr/>
          </p:nvSpPr>
          <p:spPr>
            <a:xfrm>
              <a:off x="3620109" y="2513685"/>
              <a:ext cx="123444" cy="41148"/>
            </a:xfrm>
            <a:custGeom>
              <a:avLst/>
              <a:gdLst/>
              <a:ahLst/>
              <a:cxnLst/>
              <a:rect l="l" t="t" r="r" b="b"/>
              <a:pathLst>
                <a:path w="123444" h="41148">
                  <a:moveTo>
                    <a:pt x="0" y="41148"/>
                  </a:moveTo>
                  <a:lnTo>
                    <a:pt x="32919" y="4115"/>
                  </a:lnTo>
                  <a:lnTo>
                    <a:pt x="82296" y="0"/>
                  </a:lnTo>
                  <a:lnTo>
                    <a:pt x="123444" y="41148"/>
                  </a:lnTo>
                  <a:close/>
                </a:path>
              </a:pathLst>
            </a:custGeom>
            <a:solidFill>
              <a:srgbClr val="1B1D21"/>
            </a:solidFill>
            <a:ln w="12700">
              <a:solidFill>
                <a:srgbClr val="6B7078"/>
              </a:solidFill>
            </a:ln>
          </p:spPr>
          <p:txBody>
            <a:bodyPr rtlCol="0" anchor="ctr"/>
            <a:lstStyle/>
            <a:p>
              <a:pPr algn="ctr"/>
              <a:endParaRPr/>
            </a:p>
          </p:txBody>
        </p:sp>
        <p:sp>
          <p:nvSpPr>
            <p:cNvPr id="11" name="cab"/>
            <p:cNvSpPr/>
            <p:nvPr/>
          </p:nvSpPr>
          <p:spPr>
            <a:xfrm>
              <a:off x="3751783" y="2488996"/>
              <a:ext cx="164592" cy="226314"/>
            </a:xfrm>
            <a:prstGeom prst="roundRect">
              <a:avLst>
                <a:gd name="adj" fmla="val 2500"/>
              </a:avLst>
            </a:prstGeom>
            <a:solidFill>
              <a:srgbClr val="F28C28"/>
            </a:solidFill>
            <a:ln>
              <a:noFill/>
            </a:ln>
          </p:spPr>
          <p:txBody>
            <a:bodyPr rtlCol="0" anchor="ctr"/>
            <a:lstStyle/>
            <a:p>
              <a:pPr algn="ctr"/>
              <a:endParaRPr/>
            </a:p>
          </p:txBody>
        </p:sp>
        <p:sp>
          <p:nvSpPr>
            <p:cNvPr id="12" name="cab roof"/>
            <p:cNvSpPr/>
            <p:nvPr/>
          </p:nvSpPr>
          <p:spPr>
            <a:xfrm>
              <a:off x="3743553" y="2468422"/>
              <a:ext cx="181051" cy="20574"/>
            </a:xfrm>
            <a:prstGeom prst="rect">
              <a:avLst/>
            </a:prstGeom>
            <a:solidFill>
              <a:srgbClr val="3A3F47"/>
            </a:solidFill>
            <a:ln w="9525">
              <a:solidFill>
                <a:srgbClr val="9AA0A6"/>
              </a:solidFill>
            </a:ln>
          </p:spPr>
          <p:txBody>
            <a:bodyPr rtlCol="0" anchor="ctr"/>
            <a:lstStyle/>
            <a:p>
              <a:pPr algn="ctr"/>
              <a:endParaRPr/>
            </a:p>
          </p:txBody>
        </p:sp>
        <p:sp>
          <p:nvSpPr>
            <p:cNvPr id="13" name="cab window"/>
            <p:cNvSpPr/>
            <p:nvPr/>
          </p:nvSpPr>
          <p:spPr>
            <a:xfrm>
              <a:off x="3792931" y="2521915"/>
              <a:ext cx="74066" cy="74066"/>
            </a:xfrm>
            <a:prstGeom prst="rect">
              <a:avLst/>
            </a:prstGeom>
            <a:solidFill>
              <a:srgbClr val="1B1D21"/>
            </a:solidFill>
            <a:ln>
              <a:noFill/>
            </a:ln>
          </p:spPr>
          <p:txBody>
            <a:bodyPr rtlCol="0" anchor="ctr"/>
            <a:lstStyle/>
            <a:p>
              <a:pPr algn="ctr"/>
              <a:endParaRPr/>
            </a:p>
          </p:txBody>
        </p:sp>
        <p:sp>
          <p:nvSpPr>
            <p:cNvPr id="14" name="boiler"/>
            <p:cNvSpPr/>
            <p:nvPr/>
          </p:nvSpPr>
          <p:spPr>
            <a:xfrm>
              <a:off x="3916375" y="2509570"/>
              <a:ext cx="526694" cy="164592"/>
            </a:xfrm>
            <a:prstGeom prst="roundRect">
              <a:avLst>
                <a:gd name="adj" fmla="val 25000"/>
              </a:avLst>
            </a:prstGeom>
            <a:solidFill>
              <a:srgbClr val="F28C28"/>
            </a:solidFill>
            <a:ln>
              <a:noFill/>
            </a:ln>
          </p:spPr>
          <p:txBody>
            <a:bodyPr rtlCol="0" anchor="ctr"/>
            <a:lstStyle/>
            <a:p>
              <a:pPr algn="ctr"/>
              <a:endParaRPr/>
            </a:p>
          </p:txBody>
        </p:sp>
        <p:sp>
          <p:nvSpPr>
            <p:cNvPr id="15" name="side tank"/>
            <p:cNvSpPr/>
            <p:nvPr/>
          </p:nvSpPr>
          <p:spPr>
            <a:xfrm>
              <a:off x="3916375" y="2567178"/>
              <a:ext cx="485546" cy="144018"/>
            </a:xfrm>
            <a:prstGeom prst="roundRect">
              <a:avLst>
                <a:gd name="adj" fmla="val 14285"/>
              </a:avLst>
            </a:prstGeom>
            <a:solidFill>
              <a:srgbClr val="AE641C"/>
            </a:solidFill>
            <a:ln>
              <a:noFill/>
            </a:ln>
          </p:spPr>
          <p:txBody>
            <a:bodyPr rtlCol="0" anchor="ctr"/>
            <a:lstStyle/>
            <a:p>
              <a:pPr algn="ctr"/>
              <a:endParaRPr/>
            </a:p>
          </p:txBody>
        </p:sp>
        <p:sp>
          <p:nvSpPr>
            <p:cNvPr id="16" name="smokebox"/>
            <p:cNvSpPr/>
            <p:nvPr/>
          </p:nvSpPr>
          <p:spPr>
            <a:xfrm>
              <a:off x="4443069" y="2509570"/>
              <a:ext cx="82296" cy="164592"/>
            </a:xfrm>
            <a:prstGeom prst="roundRect">
              <a:avLst>
                <a:gd name="adj" fmla="val 12000"/>
              </a:avLst>
            </a:prstGeom>
            <a:solidFill>
              <a:srgbClr val="4A515B"/>
            </a:solidFill>
            <a:ln>
              <a:noFill/>
            </a:ln>
          </p:spPr>
          <p:txBody>
            <a:bodyPr rtlCol="0" anchor="ctr"/>
            <a:lstStyle/>
            <a:p>
              <a:pPr algn="ctr"/>
              <a:endParaRPr/>
            </a:p>
          </p:txBody>
        </p:sp>
        <p:sp>
          <p:nvSpPr>
            <p:cNvPr id="17" name="chimney"/>
            <p:cNvSpPr/>
            <p:nvPr/>
          </p:nvSpPr>
          <p:spPr>
            <a:xfrm>
              <a:off x="4459528" y="2423160"/>
              <a:ext cx="49377" cy="86410"/>
            </a:xfrm>
            <a:prstGeom prst="rect">
              <a:avLst/>
            </a:prstGeom>
            <a:solidFill>
              <a:srgbClr val="3A3F47"/>
            </a:solidFill>
            <a:ln w="9525">
              <a:solidFill>
                <a:srgbClr val="9AA0A6"/>
              </a:solidFill>
            </a:ln>
          </p:spPr>
          <p:txBody>
            <a:bodyPr rtlCol="0" anchor="ctr"/>
            <a:lstStyle/>
            <a:p>
              <a:pPr algn="ctr"/>
              <a:endParaRPr/>
            </a:p>
          </p:txBody>
        </p:sp>
        <p:sp>
          <p:nvSpPr>
            <p:cNvPr id="18" name="chimney lip"/>
            <p:cNvSpPr/>
            <p:nvPr/>
          </p:nvSpPr>
          <p:spPr>
            <a:xfrm>
              <a:off x="4447184" y="2410815"/>
              <a:ext cx="74066" cy="20574"/>
            </a:xfrm>
            <a:prstGeom prst="rect">
              <a:avLst/>
            </a:prstGeom>
            <a:solidFill>
              <a:srgbClr val="3A3F47"/>
            </a:solidFill>
            <a:ln w="9525">
              <a:solidFill>
                <a:srgbClr val="9AA0A6"/>
              </a:solidFill>
            </a:ln>
          </p:spPr>
          <p:txBody>
            <a:bodyPr rtlCol="0" anchor="ctr"/>
            <a:lstStyle/>
            <a:p>
              <a:pPr algn="ctr"/>
              <a:endParaRPr/>
            </a:p>
          </p:txBody>
        </p:sp>
        <p:sp>
          <p:nvSpPr>
            <p:cNvPr id="19" name="dome"/>
            <p:cNvSpPr/>
            <p:nvPr/>
          </p:nvSpPr>
          <p:spPr>
            <a:xfrm>
              <a:off x="4137586" y="2464308"/>
              <a:ext cx="74066" cy="45262"/>
            </a:xfrm>
            <a:prstGeom prst="roundRect">
              <a:avLst>
                <a:gd name="adj" fmla="val 36363"/>
              </a:avLst>
            </a:prstGeom>
            <a:solidFill>
              <a:srgbClr val="F28C28"/>
            </a:solidFill>
            <a:ln>
              <a:noFill/>
            </a:ln>
          </p:spPr>
          <p:txBody>
            <a:bodyPr rtlCol="0" anchor="ctr"/>
            <a:lstStyle/>
            <a:p>
              <a:pPr algn="ctr"/>
              <a:endParaRPr/>
            </a:p>
          </p:txBody>
        </p:sp>
        <p:sp>
          <p:nvSpPr>
            <p:cNvPr id="20" name="wheel"/>
            <p:cNvSpPr/>
            <p:nvPr/>
          </p:nvSpPr>
          <p:spPr>
            <a:xfrm>
              <a:off x="3842308" y="2686507"/>
              <a:ext cx="148132" cy="148132"/>
            </a:xfrm>
            <a:prstGeom prst="ellipse">
              <a:avLst/>
            </a:prstGeom>
            <a:solidFill>
              <a:srgbClr val="1B1D21"/>
            </a:solidFill>
            <a:ln w="19050">
              <a:solidFill>
                <a:srgbClr val="9AA0A6"/>
              </a:solidFill>
            </a:ln>
          </p:spPr>
          <p:txBody>
            <a:bodyPr rtlCol="0" anchor="ctr"/>
            <a:lstStyle/>
            <a:p>
              <a:pPr algn="ctr"/>
              <a:endParaRPr/>
            </a:p>
          </p:txBody>
        </p:sp>
        <p:sp>
          <p:nvSpPr>
            <p:cNvPr id="21" name="hub"/>
            <p:cNvSpPr/>
            <p:nvPr/>
          </p:nvSpPr>
          <p:spPr>
            <a:xfrm>
              <a:off x="3897117" y="2741316"/>
              <a:ext cx="38514" cy="38514"/>
            </a:xfrm>
            <a:prstGeom prst="ellipse">
              <a:avLst/>
            </a:prstGeom>
            <a:solidFill>
              <a:srgbClr val="9AA0A6"/>
            </a:solidFill>
            <a:ln>
              <a:noFill/>
            </a:ln>
          </p:spPr>
          <p:txBody>
            <a:bodyPr rtlCol="0" anchor="ctr"/>
            <a:lstStyle/>
            <a:p>
              <a:pPr algn="ctr"/>
              <a:endParaRPr/>
            </a:p>
          </p:txBody>
        </p:sp>
        <p:sp>
          <p:nvSpPr>
            <p:cNvPr id="22" name="wheel"/>
            <p:cNvSpPr/>
            <p:nvPr/>
          </p:nvSpPr>
          <p:spPr>
            <a:xfrm>
              <a:off x="4006900" y="2686507"/>
              <a:ext cx="148132" cy="148132"/>
            </a:xfrm>
            <a:prstGeom prst="ellipse">
              <a:avLst/>
            </a:prstGeom>
            <a:solidFill>
              <a:srgbClr val="1B1D21"/>
            </a:solidFill>
            <a:ln w="19050">
              <a:solidFill>
                <a:srgbClr val="9AA0A6"/>
              </a:solidFill>
            </a:ln>
          </p:spPr>
          <p:txBody>
            <a:bodyPr rtlCol="0" anchor="ctr"/>
            <a:lstStyle/>
            <a:p>
              <a:pPr algn="ctr"/>
              <a:endParaRPr/>
            </a:p>
          </p:txBody>
        </p:sp>
        <p:sp>
          <p:nvSpPr>
            <p:cNvPr id="23" name="hub"/>
            <p:cNvSpPr/>
            <p:nvPr/>
          </p:nvSpPr>
          <p:spPr>
            <a:xfrm>
              <a:off x="4061709" y="2741316"/>
              <a:ext cx="38514" cy="38514"/>
            </a:xfrm>
            <a:prstGeom prst="ellipse">
              <a:avLst/>
            </a:prstGeom>
            <a:solidFill>
              <a:srgbClr val="9AA0A6"/>
            </a:solidFill>
            <a:ln>
              <a:noFill/>
            </a:ln>
          </p:spPr>
          <p:txBody>
            <a:bodyPr rtlCol="0" anchor="ctr"/>
            <a:lstStyle/>
            <a:p>
              <a:pPr algn="ctr"/>
              <a:endParaRPr/>
            </a:p>
          </p:txBody>
        </p:sp>
        <p:sp>
          <p:nvSpPr>
            <p:cNvPr id="24" name="wheel"/>
            <p:cNvSpPr/>
            <p:nvPr/>
          </p:nvSpPr>
          <p:spPr>
            <a:xfrm>
              <a:off x="4171492" y="2686507"/>
              <a:ext cx="148132" cy="148132"/>
            </a:xfrm>
            <a:prstGeom prst="ellipse">
              <a:avLst/>
            </a:prstGeom>
            <a:solidFill>
              <a:srgbClr val="1B1D21"/>
            </a:solidFill>
            <a:ln w="19050">
              <a:solidFill>
                <a:srgbClr val="9AA0A6"/>
              </a:solidFill>
            </a:ln>
          </p:spPr>
          <p:txBody>
            <a:bodyPr rtlCol="0" anchor="ctr"/>
            <a:lstStyle/>
            <a:p>
              <a:pPr algn="ctr"/>
              <a:endParaRPr/>
            </a:p>
          </p:txBody>
        </p:sp>
        <p:sp>
          <p:nvSpPr>
            <p:cNvPr id="25" name="hub"/>
            <p:cNvSpPr/>
            <p:nvPr/>
          </p:nvSpPr>
          <p:spPr>
            <a:xfrm>
              <a:off x="4226301" y="2741316"/>
              <a:ext cx="38514" cy="38514"/>
            </a:xfrm>
            <a:prstGeom prst="ellipse">
              <a:avLst/>
            </a:prstGeom>
            <a:solidFill>
              <a:srgbClr val="9AA0A6"/>
            </a:solidFill>
            <a:ln>
              <a:noFill/>
            </a:ln>
          </p:spPr>
          <p:txBody>
            <a:bodyPr rtlCol="0" anchor="ctr"/>
            <a:lstStyle/>
            <a:p>
              <a:pPr algn="ctr"/>
              <a:endParaRPr/>
            </a:p>
          </p:txBody>
        </p:sp>
        <p:sp>
          <p:nvSpPr>
            <p:cNvPr id="26" name="coupling rod"/>
            <p:cNvSpPr/>
            <p:nvPr/>
          </p:nvSpPr>
          <p:spPr>
            <a:xfrm>
              <a:off x="3916375" y="2717779"/>
              <a:ext cx="329184" cy="11521"/>
            </a:xfrm>
            <a:prstGeom prst="rect">
              <a:avLst/>
            </a:prstGeom>
            <a:solidFill>
              <a:srgbClr val="D0D4D8"/>
            </a:solidFill>
            <a:ln>
              <a:noFill/>
            </a:ln>
          </p:spPr>
          <p:txBody>
            <a:bodyPr rtlCol="0" anchor="ctr"/>
            <a:lstStyle/>
            <a:p>
              <a:pPr algn="ctr"/>
              <a:endParaRPr/>
            </a:p>
          </p:txBody>
        </p:sp>
        <p:sp>
          <p:nvSpPr>
            <p:cNvPr id="27" name="buffer beam"/>
            <p:cNvSpPr/>
            <p:nvPr/>
          </p:nvSpPr>
          <p:spPr>
            <a:xfrm>
              <a:off x="4525365" y="2678277"/>
              <a:ext cx="24688" cy="74066"/>
            </a:xfrm>
            <a:prstGeom prst="rect">
              <a:avLst/>
            </a:prstGeom>
            <a:solidFill>
              <a:srgbClr val="9AA0A6"/>
            </a:solidFill>
            <a:ln>
              <a:noFill/>
            </a:ln>
          </p:spPr>
          <p:txBody>
            <a:bodyPr rtlCol="0" anchor="ctr"/>
            <a:lstStyle/>
            <a:p>
              <a:pPr algn="ctr"/>
              <a:endParaRPr/>
            </a:p>
          </p:txBody>
        </p:sp>
        <p:sp>
          <p:nvSpPr>
            <p:cNvPr id="28" name="title bar"/>
            <p:cNvSpPr/>
            <p:nvPr/>
          </p:nvSpPr>
          <p:spPr>
            <a:xfrm>
              <a:off x="5486400" y="1783080"/>
              <a:ext cx="3200400" cy="237744"/>
            </a:xfrm>
            <a:prstGeom prst="roundRect">
              <a:avLst>
                <a:gd name="adj" fmla="val 50000"/>
              </a:avLst>
            </a:prstGeom>
            <a:solidFill>
              <a:srgbClr val="4A515B"/>
            </a:solidFill>
            <a:ln>
              <a:noFill/>
            </a:ln>
          </p:spPr>
          <p:txBody>
            <a:bodyPr rtlCol="0" anchor="ctr"/>
            <a:lstStyle/>
            <a:p>
              <a:pPr algn="ctr"/>
              <a:endParaRPr/>
            </a:p>
          </p:txBody>
        </p:sp>
        <p:sp>
          <p:nvSpPr>
            <p:cNvPr id="29" name="skeleton line"/>
            <p:cNvSpPr/>
            <p:nvPr/>
          </p:nvSpPr>
          <p:spPr>
            <a:xfrm>
              <a:off x="5486400" y="2286000"/>
              <a:ext cx="3200400" cy="109728"/>
            </a:xfrm>
            <a:prstGeom prst="roundRect">
              <a:avLst>
                <a:gd name="adj" fmla="val 50000"/>
              </a:avLst>
            </a:prstGeom>
            <a:solidFill>
              <a:srgbClr val="3A3F47"/>
            </a:solidFill>
            <a:ln>
              <a:noFill/>
            </a:ln>
          </p:spPr>
          <p:txBody>
            <a:bodyPr rtlCol="0" anchor="ctr"/>
            <a:lstStyle/>
            <a:p>
              <a:pPr algn="ctr"/>
              <a:endParaRPr/>
            </a:p>
          </p:txBody>
        </p:sp>
        <p:sp>
          <p:nvSpPr>
            <p:cNvPr id="30" name="skeleton line"/>
            <p:cNvSpPr/>
            <p:nvPr/>
          </p:nvSpPr>
          <p:spPr>
            <a:xfrm>
              <a:off x="5486400" y="2505456"/>
              <a:ext cx="2468880" cy="109728"/>
            </a:xfrm>
            <a:prstGeom prst="roundRect">
              <a:avLst>
                <a:gd name="adj" fmla="val 50000"/>
              </a:avLst>
            </a:prstGeom>
            <a:solidFill>
              <a:srgbClr val="3A3F47"/>
            </a:solidFill>
            <a:ln>
              <a:noFill/>
            </a:ln>
          </p:spPr>
          <p:txBody>
            <a:bodyPr rtlCol="0" anchor="ctr"/>
            <a:lstStyle/>
            <a:p>
              <a:pPr algn="ctr"/>
              <a:endParaRPr/>
            </a:p>
          </p:txBody>
        </p:sp>
        <p:sp>
          <p:nvSpPr>
            <p:cNvPr id="31" name="skeleton line"/>
            <p:cNvSpPr/>
            <p:nvPr/>
          </p:nvSpPr>
          <p:spPr>
            <a:xfrm>
              <a:off x="5486400" y="2724912"/>
              <a:ext cx="3200400" cy="109728"/>
            </a:xfrm>
            <a:prstGeom prst="roundRect">
              <a:avLst>
                <a:gd name="adj" fmla="val 50000"/>
              </a:avLst>
            </a:prstGeom>
            <a:solidFill>
              <a:srgbClr val="3A3F47"/>
            </a:solidFill>
            <a:ln>
              <a:noFill/>
            </a:ln>
          </p:spPr>
          <p:txBody>
            <a:bodyPr rtlCol="0" anchor="ctr"/>
            <a:lstStyle/>
            <a:p>
              <a:pPr algn="ctr"/>
              <a:endParaRPr/>
            </a:p>
          </p:txBody>
        </p:sp>
        <p:sp>
          <p:nvSpPr>
            <p:cNvPr id="32" name="skeleton line"/>
            <p:cNvSpPr/>
            <p:nvPr/>
          </p:nvSpPr>
          <p:spPr>
            <a:xfrm>
              <a:off x="5486400" y="2944368"/>
              <a:ext cx="2468880" cy="109728"/>
            </a:xfrm>
            <a:prstGeom prst="roundRect">
              <a:avLst>
                <a:gd name="adj" fmla="val 50000"/>
              </a:avLst>
            </a:prstGeom>
            <a:solidFill>
              <a:srgbClr val="3A3F47"/>
            </a:solidFill>
            <a:ln>
              <a:noFill/>
            </a:ln>
          </p:spPr>
          <p:txBody>
            <a:bodyPr rtlCol="0" anchor="ctr"/>
            <a:lstStyle/>
            <a:p>
              <a:pPr algn="ctr"/>
              <a:endParaRPr/>
            </a:p>
          </p:txBody>
        </p:sp>
        <p:cxnSp>
          <p:nvCxnSpPr>
            <p:cNvPr id="33" name="divider"/>
            <p:cNvCxnSpPr/>
            <p:nvPr/>
          </p:nvCxnSpPr>
          <p:spPr>
            <a:xfrm>
              <a:off x="3383280" y="3429000"/>
              <a:ext cx="5394960" cy="0"/>
            </a:xfrm>
            <a:prstGeom prst="line">
              <a:avLst/>
            </a:prstGeom>
            <a:ln w="19050">
              <a:solidFill>
                <a:srgbClr val="4A515B"/>
              </a:solidFill>
            </a:ln>
          </p:spPr>
        </p:cxnSp>
        <p:sp>
          <p:nvSpPr>
            <p:cNvPr id="34" name="note inset"/>
            <p:cNvSpPr/>
            <p:nvPr/>
          </p:nvSpPr>
          <p:spPr>
            <a:xfrm>
              <a:off x="3383280" y="3611880"/>
              <a:ext cx="5394960" cy="777240"/>
            </a:xfrm>
            <a:prstGeom prst="roundRect">
              <a:avLst>
                <a:gd name="adj" fmla="val 7058"/>
              </a:avLst>
            </a:prstGeom>
            <a:solidFill>
              <a:srgbClr val="343A43"/>
            </a:solidFill>
            <a:ln>
              <a:noFill/>
            </a:ln>
          </p:spPr>
          <p:txBody>
            <a:bodyPr rtlCol="0" anchor="ctr"/>
            <a:lstStyle/>
            <a:p>
              <a:pPr algn="ctr"/>
              <a:endParaRPr/>
            </a:p>
          </p:txBody>
        </p:sp>
        <p:sp>
          <p:nvSpPr>
            <p:cNvPr id="35" name="note rule"/>
            <p:cNvSpPr/>
            <p:nvPr/>
          </p:nvSpPr>
          <p:spPr>
            <a:xfrm>
              <a:off x="3383280" y="3611880"/>
              <a:ext cx="82296" cy="777240"/>
            </a:xfrm>
            <a:prstGeom prst="rect">
              <a:avLst/>
            </a:prstGeom>
            <a:solidFill>
              <a:srgbClr val="B084F5"/>
            </a:solidFill>
            <a:ln>
              <a:noFill/>
            </a:ln>
          </p:spPr>
          <p:txBody>
            <a:bodyPr rtlCol="0" anchor="ctr"/>
            <a:lstStyle/>
            <a:p>
              <a:pPr algn="ctr"/>
              <a:endParaRPr/>
            </a:p>
          </p:txBody>
        </p:sp>
        <p:sp>
          <p:nvSpPr>
            <p:cNvPr id="36" name="note text"/>
            <p:cNvSpPr txBox="1"/>
            <p:nvPr/>
          </p:nvSpPr>
          <p:spPr>
            <a:xfrm>
              <a:off x="3611880" y="3611880"/>
              <a:ext cx="3383280" cy="777240"/>
            </a:xfrm>
            <a:prstGeom prst="rect">
              <a:avLst/>
            </a:prstGeom>
            <a:noFill/>
          </p:spPr>
          <p:txBody>
            <a:bodyPr wrap="square" lIns="18288" tIns="9144" rIns="18288" bIns="9144" anchor="ctr">
              <a:noAutofit/>
            </a:bodyPr>
            <a:lstStyle/>
            <a:p>
              <a:pPr algn="l"/>
              <a:r>
                <a:rPr lang="en-GB" sz="1600" b="0" i="0">
                  <a:solidFill>
                    <a:srgbClr val="F2F2F2"/>
                  </a:solidFill>
                  <a:latin typeface="Arial"/>
                </a:rPr>
                <a:t>Numbering note (example only)</a:t>
              </a:r>
            </a:p>
          </p:txBody>
        </p:sp>
        <p:sp>
          <p:nvSpPr>
            <p:cNvPr id="37" name="skeleton line"/>
            <p:cNvSpPr/>
            <p:nvPr/>
          </p:nvSpPr>
          <p:spPr>
            <a:xfrm>
              <a:off x="3383280" y="4617720"/>
              <a:ext cx="2377440" cy="109728"/>
            </a:xfrm>
            <a:prstGeom prst="roundRect">
              <a:avLst>
                <a:gd name="adj" fmla="val 50000"/>
              </a:avLst>
            </a:prstGeom>
            <a:solidFill>
              <a:srgbClr val="3A3F47"/>
            </a:solidFill>
            <a:ln>
              <a:noFill/>
            </a:ln>
          </p:spPr>
          <p:txBody>
            <a:bodyPr rtlCol="0" anchor="ctr"/>
            <a:lstStyle/>
            <a:p>
              <a:pPr algn="ctr"/>
              <a:endParaRPr/>
            </a:p>
          </p:txBody>
        </p:sp>
        <p:sp>
          <p:nvSpPr>
            <p:cNvPr id="38" name="skeleton line"/>
            <p:cNvSpPr/>
            <p:nvPr/>
          </p:nvSpPr>
          <p:spPr>
            <a:xfrm>
              <a:off x="3383280" y="4846320"/>
              <a:ext cx="1645920" cy="109728"/>
            </a:xfrm>
            <a:prstGeom prst="roundRect">
              <a:avLst>
                <a:gd name="adj" fmla="val 50000"/>
              </a:avLst>
            </a:prstGeom>
            <a:solidFill>
              <a:srgbClr val="3A3F47"/>
            </a:solidFill>
            <a:ln>
              <a:noFill/>
            </a:ln>
          </p:spPr>
          <p:txBody>
            <a:bodyPr rtlCol="0" anchor="ctr"/>
            <a:lstStyle/>
            <a:p>
              <a:pPr algn="ctr"/>
              <a:endParaRPr/>
            </a:p>
          </p:txBody>
        </p:sp>
      </p:grpSp>
      <p:sp>
        <p:nvSpPr>
          <p:cNvPr id="39" name="ICHIP"/>
          <p:cNvSpPr/>
          <p:nvPr/>
        </p:nvSpPr>
        <p:spPr>
          <a:xfrm>
            <a:off x="7086600" y="3840480"/>
            <a:ext cx="1463040" cy="310896"/>
          </a:xfrm>
          <a:prstGeom prst="roundRect">
            <a:avLst>
              <a:gd name="adj" fmla="val 35294"/>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4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41"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42"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A build card could show a short note on how the class was numbered.</a:t>
            </a:r>
          </a:p>
        </p:txBody>
      </p:sp>
      <p:sp>
        <p:nvSpPr>
          <p:cNvPr id="43"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23</a:t>
            </a:r>
          </a:p>
        </p:txBody>
      </p:sp>
    </p:spTree>
    <p:extLst>
      <p:ext uri="{BB962C8B-B14F-4D97-AF65-F5344CB8AC3E}">
        <p14:creationId xmlns:p14="http://schemas.microsoft.com/office/powerpoint/2010/main" val="17904500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nodeType="withEffect">
                                  <p:stCondLst>
                                    <p:cond delay="60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nodeType="withEffect">
                                  <p:stCondLst>
                                    <p:cond delay="90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par>
                                <p:cTn id="17" presetID="10" presetClass="entr" presetSubtype="0" fill="hold" nodeType="withEffect">
                                  <p:stCondLst>
                                    <p:cond delay="120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Where this stands</a:t>
            </a:r>
          </a:p>
        </p:txBody>
      </p:sp>
      <p:sp>
        <p:nvSpPr>
          <p:cNvPr id="3" name="CHIP"/>
          <p:cNvSpPr/>
          <p:nvPr/>
        </p:nvSpPr>
        <p:spPr>
          <a:xfrm>
            <a:off x="10088575" y="530352"/>
            <a:ext cx="1554480" cy="365760"/>
          </a:xfrm>
          <a:prstGeom prst="roundRect">
            <a:avLst>
              <a:gd name="adj" fmla="val 300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pic>
        <p:nvPicPr>
          <p:cNvPr id="4" name="R01_pannier_visual_probe_v004" descr="Early test model of a tank engine (a yellow 'visual probe') on a short length of track. Not final art."/>
          <p:cNvPicPr>
            <a:picLocks noChangeAspect="1"/>
          </p:cNvPicPr>
          <p:nvPr/>
        </p:nvPicPr>
        <p:blipFill>
          <a:blip r:embed="rId2"/>
          <a:srcRect l="625" r="625"/>
          <a:stretch>
            <a:fillRect/>
          </a:stretch>
        </p:blipFill>
        <p:spPr>
          <a:xfrm>
            <a:off x="548640" y="1325880"/>
            <a:ext cx="2194560" cy="1234440"/>
          </a:xfrm>
          <a:prstGeom prst="roundRect">
            <a:avLst>
              <a:gd name="adj" fmla="val 5925"/>
            </a:avLst>
          </a:prstGeom>
        </p:spPr>
      </p:pic>
      <p:sp>
        <p:nvSpPr>
          <p:cNvPr id="5" name="CREDIT"/>
          <p:cNvSpPr txBox="1"/>
          <p:nvPr/>
        </p:nvSpPr>
        <p:spPr>
          <a:xfrm>
            <a:off x="548640" y="2596896"/>
            <a:ext cx="3291840" cy="219456"/>
          </a:xfrm>
          <a:prstGeom prst="rect">
            <a:avLst/>
          </a:prstGeom>
          <a:noFill/>
        </p:spPr>
        <p:txBody>
          <a:bodyPr wrap="square" lIns="0" tIns="0" rIns="0" bIns="0" anchor="t">
            <a:noAutofit/>
          </a:bodyPr>
          <a:lstStyle/>
          <a:p>
            <a:pPr algn="l"/>
            <a:r>
              <a:rPr lang="en-GB" sz="1000" b="0" i="0">
                <a:solidFill>
                  <a:srgbClr val="A9B0B8"/>
                </a:solidFill>
                <a:latin typeface="Arial"/>
              </a:rPr>
              <a:t>Early test model, not final art.</a:t>
            </a:r>
          </a:p>
        </p:txBody>
      </p:sp>
      <p:grpSp>
        <p:nvGrpSpPr>
          <p:cNvPr id="6" name="Four planned steps" descr="A row of four steps. A test engine on the game's rails is under way. Regional styles, running numbers and fleet search are planned."/>
          <p:cNvGrpSpPr/>
          <p:nvPr/>
        </p:nvGrpSpPr>
        <p:grpSpPr>
          <a:xfrm>
            <a:off x="548640" y="3108960"/>
            <a:ext cx="11082528" cy="2331720"/>
            <a:chOff x="548640" y="3108960"/>
            <a:chExt cx="11082528" cy="2331720"/>
          </a:xfrm>
        </p:grpSpPr>
        <p:cxnSp>
          <p:nvCxnSpPr>
            <p:cNvPr id="7" name="timeline"/>
            <p:cNvCxnSpPr/>
            <p:nvPr/>
          </p:nvCxnSpPr>
          <p:spPr>
            <a:xfrm>
              <a:off x="1371600" y="3291840"/>
              <a:ext cx="9875520" cy="0"/>
            </a:xfrm>
            <a:prstGeom prst="line">
              <a:avLst/>
            </a:prstGeom>
            <a:ln w="38100">
              <a:solidFill>
                <a:srgbClr val="4A515B"/>
              </a:solidFill>
            </a:ln>
          </p:spPr>
        </p:cxnSp>
        <p:sp>
          <p:nvSpPr>
            <p:cNvPr id="8" name="step dot"/>
            <p:cNvSpPr/>
            <p:nvPr/>
          </p:nvSpPr>
          <p:spPr>
            <a:xfrm>
              <a:off x="1668780" y="3108960"/>
              <a:ext cx="365760" cy="365760"/>
            </a:xfrm>
            <a:prstGeom prst="ellipse">
              <a:avLst/>
            </a:prstGeom>
            <a:solidFill>
              <a:srgbClr val="F28C28"/>
            </a:solidFill>
            <a:ln w="38100">
              <a:solidFill>
                <a:srgbClr val="F28C28"/>
              </a:solidFill>
            </a:ln>
          </p:spPr>
          <p:txBody>
            <a:bodyPr rtlCol="0" anchor="ctr"/>
            <a:lstStyle/>
            <a:p>
              <a:pPr algn="ctr"/>
              <a:endParaRPr/>
            </a:p>
          </p:txBody>
        </p:sp>
        <p:sp>
          <p:nvSpPr>
            <p:cNvPr id="9" name="step card"/>
            <p:cNvSpPr/>
            <p:nvPr/>
          </p:nvSpPr>
          <p:spPr>
            <a:xfrm>
              <a:off x="548640" y="3657600"/>
              <a:ext cx="2606040" cy="1783080"/>
            </a:xfrm>
            <a:prstGeom prst="roundRect">
              <a:avLst>
                <a:gd name="adj" fmla="val 5128"/>
              </a:avLst>
            </a:prstGeom>
            <a:solidFill>
              <a:srgbClr val="2B2F36"/>
            </a:solidFill>
            <a:ln w="31750">
              <a:solidFill>
                <a:srgbClr val="F28C28"/>
              </a:solidFill>
            </a:ln>
          </p:spPr>
          <p:txBody>
            <a:bodyPr rtlCol="0" anchor="ctr"/>
            <a:lstStyle/>
            <a:p>
              <a:pPr algn="ctr"/>
              <a:endParaRPr/>
            </a:p>
          </p:txBody>
        </p:sp>
        <p:sp>
          <p:nvSpPr>
            <p:cNvPr id="10" name="step title"/>
            <p:cNvSpPr txBox="1"/>
            <p:nvPr/>
          </p:nvSpPr>
          <p:spPr>
            <a:xfrm>
              <a:off x="685800" y="3749039"/>
              <a:ext cx="2331720" cy="1005840"/>
            </a:xfrm>
            <a:prstGeom prst="rect">
              <a:avLst/>
            </a:prstGeom>
            <a:noFill/>
          </p:spPr>
          <p:txBody>
            <a:bodyPr wrap="square" lIns="18288" tIns="9144" rIns="18288" bIns="9144" anchor="t">
              <a:noAutofit/>
            </a:bodyPr>
            <a:lstStyle/>
            <a:p>
              <a:pPr algn="l"/>
              <a:r>
                <a:rPr lang="en-GB" sz="1800" b="1" i="0">
                  <a:solidFill>
                    <a:srgbClr val="F2F2F2"/>
                  </a:solidFill>
                  <a:latin typeface="Arial"/>
                </a:rPr>
                <a:t>Test engine on the game's rails</a:t>
              </a:r>
            </a:p>
          </p:txBody>
        </p:sp>
        <p:sp>
          <p:nvSpPr>
            <p:cNvPr id="11" name="state pill"/>
            <p:cNvSpPr/>
            <p:nvPr/>
          </p:nvSpPr>
          <p:spPr>
            <a:xfrm>
              <a:off x="685800" y="4937760"/>
              <a:ext cx="1371600" cy="365760"/>
            </a:xfrm>
            <a:prstGeom prst="roundRect">
              <a:avLst>
                <a:gd name="adj" fmla="val 50000"/>
              </a:avLst>
            </a:prstGeom>
            <a:solidFill>
              <a:srgbClr val="F28C28"/>
            </a:solidFill>
            <a:ln>
              <a:noFill/>
            </a:ln>
          </p:spPr>
          <p:txBody>
            <a:bodyPr wrap="square" lIns="54864" tIns="27432" rIns="54864" bIns="27432" rtlCol="0" anchor="ctr">
              <a:noAutofit/>
            </a:bodyPr>
            <a:lstStyle/>
            <a:p>
              <a:pPr algn="ctr"/>
              <a:r>
                <a:rPr lang="en-GB" sz="1400" b="1" i="0">
                  <a:solidFill>
                    <a:srgbClr val="101418"/>
                  </a:solidFill>
                  <a:latin typeface="Arial"/>
                </a:rPr>
                <a:t>Under way</a:t>
              </a:r>
            </a:p>
          </p:txBody>
        </p:sp>
        <p:sp>
          <p:nvSpPr>
            <p:cNvPr id="12" name="step dot"/>
            <p:cNvSpPr/>
            <p:nvPr/>
          </p:nvSpPr>
          <p:spPr>
            <a:xfrm>
              <a:off x="4494276" y="3108960"/>
              <a:ext cx="365760" cy="365760"/>
            </a:xfrm>
            <a:prstGeom prst="ellipse">
              <a:avLst/>
            </a:prstGeom>
            <a:solidFill>
              <a:srgbClr val="1E2126"/>
            </a:solidFill>
            <a:ln w="38100">
              <a:solidFill>
                <a:srgbClr val="9AA0A6"/>
              </a:solidFill>
            </a:ln>
          </p:spPr>
          <p:txBody>
            <a:bodyPr rtlCol="0" anchor="ctr"/>
            <a:lstStyle/>
            <a:p>
              <a:pPr algn="ctr"/>
              <a:endParaRPr/>
            </a:p>
          </p:txBody>
        </p:sp>
        <p:sp>
          <p:nvSpPr>
            <p:cNvPr id="13" name="step card"/>
            <p:cNvSpPr/>
            <p:nvPr/>
          </p:nvSpPr>
          <p:spPr>
            <a:xfrm>
              <a:off x="3374136" y="3657600"/>
              <a:ext cx="2606040" cy="1783080"/>
            </a:xfrm>
            <a:prstGeom prst="roundRect">
              <a:avLst>
                <a:gd name="adj" fmla="val 5128"/>
              </a:avLst>
            </a:prstGeom>
            <a:solidFill>
              <a:srgbClr val="2B2F36"/>
            </a:solidFill>
            <a:ln w="19050">
              <a:solidFill>
                <a:srgbClr val="4A515B"/>
              </a:solidFill>
            </a:ln>
          </p:spPr>
          <p:txBody>
            <a:bodyPr rtlCol="0" anchor="ctr"/>
            <a:lstStyle/>
            <a:p>
              <a:pPr algn="ctr"/>
              <a:endParaRPr/>
            </a:p>
          </p:txBody>
        </p:sp>
        <p:sp>
          <p:nvSpPr>
            <p:cNvPr id="14" name="step title"/>
            <p:cNvSpPr txBox="1"/>
            <p:nvPr/>
          </p:nvSpPr>
          <p:spPr>
            <a:xfrm>
              <a:off x="3511296" y="3749039"/>
              <a:ext cx="2331720" cy="1005840"/>
            </a:xfrm>
            <a:prstGeom prst="rect">
              <a:avLst/>
            </a:prstGeom>
            <a:noFill/>
          </p:spPr>
          <p:txBody>
            <a:bodyPr wrap="square" lIns="18288" tIns="9144" rIns="18288" bIns="9144" anchor="t">
              <a:noAutofit/>
            </a:bodyPr>
            <a:lstStyle/>
            <a:p>
              <a:pPr algn="l"/>
              <a:r>
                <a:rPr lang="en-GB" sz="1800" b="1" i="0">
                  <a:solidFill>
                    <a:srgbClr val="F2F2F2"/>
                  </a:solidFill>
                  <a:latin typeface="Arial"/>
                </a:rPr>
                <a:t>Regional styles</a:t>
              </a:r>
            </a:p>
          </p:txBody>
        </p:sp>
        <p:sp>
          <p:nvSpPr>
            <p:cNvPr id="15" name="state pill"/>
            <p:cNvSpPr/>
            <p:nvPr/>
          </p:nvSpPr>
          <p:spPr>
            <a:xfrm>
              <a:off x="3511296" y="4937760"/>
              <a:ext cx="1371600" cy="365760"/>
            </a:xfrm>
            <a:prstGeom prst="roundRect">
              <a:avLst>
                <a:gd name="adj" fmla="val 50000"/>
              </a:avLst>
            </a:prstGeom>
            <a:solidFill>
              <a:srgbClr val="4A515B"/>
            </a:solidFill>
            <a:ln>
              <a:noFill/>
            </a:ln>
          </p:spPr>
          <p:txBody>
            <a:bodyPr wrap="square" lIns="54864" tIns="27432" rIns="54864" bIns="27432" rtlCol="0" anchor="ctr">
              <a:noAutofit/>
            </a:bodyPr>
            <a:lstStyle/>
            <a:p>
              <a:pPr algn="ctr"/>
              <a:r>
                <a:rPr lang="en-GB" sz="1400" b="1" i="0">
                  <a:solidFill>
                    <a:srgbClr val="F2F2F2"/>
                  </a:solidFill>
                  <a:latin typeface="Arial"/>
                </a:rPr>
                <a:t>Planned</a:t>
              </a:r>
            </a:p>
          </p:txBody>
        </p:sp>
        <p:sp>
          <p:nvSpPr>
            <p:cNvPr id="16" name="step dot"/>
            <p:cNvSpPr/>
            <p:nvPr/>
          </p:nvSpPr>
          <p:spPr>
            <a:xfrm>
              <a:off x="7319772" y="3108960"/>
              <a:ext cx="365760" cy="365760"/>
            </a:xfrm>
            <a:prstGeom prst="ellipse">
              <a:avLst/>
            </a:prstGeom>
            <a:solidFill>
              <a:srgbClr val="1E2126"/>
            </a:solidFill>
            <a:ln w="38100">
              <a:solidFill>
                <a:srgbClr val="9AA0A6"/>
              </a:solidFill>
            </a:ln>
          </p:spPr>
          <p:txBody>
            <a:bodyPr rtlCol="0" anchor="ctr"/>
            <a:lstStyle/>
            <a:p>
              <a:pPr algn="ctr"/>
              <a:endParaRPr/>
            </a:p>
          </p:txBody>
        </p:sp>
        <p:sp>
          <p:nvSpPr>
            <p:cNvPr id="17" name="step card"/>
            <p:cNvSpPr/>
            <p:nvPr/>
          </p:nvSpPr>
          <p:spPr>
            <a:xfrm>
              <a:off x="6199632" y="3657600"/>
              <a:ext cx="2606040" cy="1783080"/>
            </a:xfrm>
            <a:prstGeom prst="roundRect">
              <a:avLst>
                <a:gd name="adj" fmla="val 5128"/>
              </a:avLst>
            </a:prstGeom>
            <a:solidFill>
              <a:srgbClr val="2B2F36"/>
            </a:solidFill>
            <a:ln w="19050">
              <a:solidFill>
                <a:srgbClr val="4A515B"/>
              </a:solidFill>
            </a:ln>
          </p:spPr>
          <p:txBody>
            <a:bodyPr rtlCol="0" anchor="ctr"/>
            <a:lstStyle/>
            <a:p>
              <a:pPr algn="ctr"/>
              <a:endParaRPr/>
            </a:p>
          </p:txBody>
        </p:sp>
        <p:sp>
          <p:nvSpPr>
            <p:cNvPr id="18" name="step title"/>
            <p:cNvSpPr txBox="1"/>
            <p:nvPr/>
          </p:nvSpPr>
          <p:spPr>
            <a:xfrm>
              <a:off x="6336792" y="3749039"/>
              <a:ext cx="2331720" cy="1005840"/>
            </a:xfrm>
            <a:prstGeom prst="rect">
              <a:avLst/>
            </a:prstGeom>
            <a:noFill/>
          </p:spPr>
          <p:txBody>
            <a:bodyPr wrap="square" lIns="18288" tIns="9144" rIns="18288" bIns="9144" anchor="t">
              <a:noAutofit/>
            </a:bodyPr>
            <a:lstStyle/>
            <a:p>
              <a:pPr algn="l"/>
              <a:r>
                <a:rPr lang="en-GB" sz="1800" b="1" i="0">
                  <a:solidFill>
                    <a:srgbClr val="F2F2F2"/>
                  </a:solidFill>
                  <a:latin typeface="Arial"/>
                </a:rPr>
                <a:t>Running numbers</a:t>
              </a:r>
            </a:p>
          </p:txBody>
        </p:sp>
        <p:sp>
          <p:nvSpPr>
            <p:cNvPr id="19" name="state pill"/>
            <p:cNvSpPr/>
            <p:nvPr/>
          </p:nvSpPr>
          <p:spPr>
            <a:xfrm>
              <a:off x="6336792" y="4937760"/>
              <a:ext cx="1371600" cy="365760"/>
            </a:xfrm>
            <a:prstGeom prst="roundRect">
              <a:avLst>
                <a:gd name="adj" fmla="val 50000"/>
              </a:avLst>
            </a:prstGeom>
            <a:solidFill>
              <a:srgbClr val="4A515B"/>
            </a:solidFill>
            <a:ln>
              <a:noFill/>
            </a:ln>
          </p:spPr>
          <p:txBody>
            <a:bodyPr wrap="square" lIns="54864" tIns="27432" rIns="54864" bIns="27432" rtlCol="0" anchor="ctr">
              <a:noAutofit/>
            </a:bodyPr>
            <a:lstStyle/>
            <a:p>
              <a:pPr algn="ctr"/>
              <a:r>
                <a:rPr lang="en-GB" sz="1400" b="1" i="0">
                  <a:solidFill>
                    <a:srgbClr val="F2F2F2"/>
                  </a:solidFill>
                  <a:latin typeface="Arial"/>
                </a:rPr>
                <a:t>Planned</a:t>
              </a:r>
            </a:p>
          </p:txBody>
        </p:sp>
        <p:sp>
          <p:nvSpPr>
            <p:cNvPr id="20" name="step dot"/>
            <p:cNvSpPr/>
            <p:nvPr/>
          </p:nvSpPr>
          <p:spPr>
            <a:xfrm>
              <a:off x="10145268" y="3108960"/>
              <a:ext cx="365760" cy="365760"/>
            </a:xfrm>
            <a:prstGeom prst="ellipse">
              <a:avLst/>
            </a:prstGeom>
            <a:solidFill>
              <a:srgbClr val="1E2126"/>
            </a:solidFill>
            <a:ln w="38100">
              <a:solidFill>
                <a:srgbClr val="9AA0A6"/>
              </a:solidFill>
            </a:ln>
          </p:spPr>
          <p:txBody>
            <a:bodyPr rtlCol="0" anchor="ctr"/>
            <a:lstStyle/>
            <a:p>
              <a:pPr algn="ctr"/>
              <a:endParaRPr/>
            </a:p>
          </p:txBody>
        </p:sp>
        <p:sp>
          <p:nvSpPr>
            <p:cNvPr id="21" name="step card"/>
            <p:cNvSpPr/>
            <p:nvPr/>
          </p:nvSpPr>
          <p:spPr>
            <a:xfrm>
              <a:off x="9025128" y="3657600"/>
              <a:ext cx="2606040" cy="1783080"/>
            </a:xfrm>
            <a:prstGeom prst="roundRect">
              <a:avLst>
                <a:gd name="adj" fmla="val 5128"/>
              </a:avLst>
            </a:prstGeom>
            <a:solidFill>
              <a:srgbClr val="2B2F36"/>
            </a:solidFill>
            <a:ln w="19050">
              <a:solidFill>
                <a:srgbClr val="4A515B"/>
              </a:solidFill>
            </a:ln>
          </p:spPr>
          <p:txBody>
            <a:bodyPr rtlCol="0" anchor="ctr"/>
            <a:lstStyle/>
            <a:p>
              <a:pPr algn="ctr"/>
              <a:endParaRPr/>
            </a:p>
          </p:txBody>
        </p:sp>
        <p:sp>
          <p:nvSpPr>
            <p:cNvPr id="22" name="step title"/>
            <p:cNvSpPr txBox="1"/>
            <p:nvPr/>
          </p:nvSpPr>
          <p:spPr>
            <a:xfrm>
              <a:off x="9162288" y="3749039"/>
              <a:ext cx="2331720" cy="1005840"/>
            </a:xfrm>
            <a:prstGeom prst="rect">
              <a:avLst/>
            </a:prstGeom>
            <a:noFill/>
          </p:spPr>
          <p:txBody>
            <a:bodyPr wrap="square" lIns="18288" tIns="9144" rIns="18288" bIns="9144" anchor="t">
              <a:noAutofit/>
            </a:bodyPr>
            <a:lstStyle/>
            <a:p>
              <a:pPr algn="l"/>
              <a:r>
                <a:rPr lang="en-GB" sz="1800" b="1" i="0">
                  <a:solidFill>
                    <a:srgbClr val="F2F2F2"/>
                  </a:solidFill>
                  <a:latin typeface="Arial"/>
                </a:rPr>
                <a:t>Fleet search</a:t>
              </a:r>
            </a:p>
          </p:txBody>
        </p:sp>
        <p:sp>
          <p:nvSpPr>
            <p:cNvPr id="23" name="state pill"/>
            <p:cNvSpPr/>
            <p:nvPr/>
          </p:nvSpPr>
          <p:spPr>
            <a:xfrm>
              <a:off x="9162288" y="4937760"/>
              <a:ext cx="1371600" cy="365760"/>
            </a:xfrm>
            <a:prstGeom prst="roundRect">
              <a:avLst>
                <a:gd name="adj" fmla="val 50000"/>
              </a:avLst>
            </a:prstGeom>
            <a:solidFill>
              <a:srgbClr val="4A515B"/>
            </a:solidFill>
            <a:ln>
              <a:noFill/>
            </a:ln>
          </p:spPr>
          <p:txBody>
            <a:bodyPr wrap="square" lIns="54864" tIns="27432" rIns="54864" bIns="27432" rtlCol="0" anchor="ctr">
              <a:noAutofit/>
            </a:bodyPr>
            <a:lstStyle/>
            <a:p>
              <a:pPr algn="ctr"/>
              <a:r>
                <a:rPr lang="en-GB" sz="1400" b="1" i="0">
                  <a:solidFill>
                    <a:srgbClr val="F2F2F2"/>
                  </a:solidFill>
                  <a:latin typeface="Arial"/>
                </a:rPr>
                <a:t>Planned</a:t>
              </a:r>
            </a:p>
          </p:txBody>
        </p:sp>
      </p:grpSp>
      <p:sp>
        <p:nvSpPr>
          <p:cNvPr id="24" name="ICHIP"/>
          <p:cNvSpPr/>
          <p:nvPr/>
        </p:nvSpPr>
        <p:spPr>
          <a:xfrm>
            <a:off x="9777972" y="1463040"/>
            <a:ext cx="1862339" cy="310896"/>
          </a:xfrm>
          <a:prstGeom prst="roundRect">
            <a:avLst>
              <a:gd name="adj" fmla="val 35294"/>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Plans can change.</a:t>
            </a:r>
          </a:p>
        </p:txBody>
      </p:sp>
      <p:sp>
        <p:nvSpPr>
          <p:cNvPr id="2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7"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Regions and numbering are planned. They are not built yet.</a:t>
            </a:r>
          </a:p>
        </p:txBody>
      </p:sp>
      <p:sp>
        <p:nvSpPr>
          <p:cNvPr id="28"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24</a:t>
            </a:r>
          </a:p>
        </p:txBody>
      </p:sp>
    </p:spTree>
    <p:extLst>
      <p:ext uri="{BB962C8B-B14F-4D97-AF65-F5344CB8AC3E}">
        <p14:creationId xmlns:p14="http://schemas.microsoft.com/office/powerpoint/2010/main" val="31105222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90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nodeType="withEffect">
                                  <p:stCondLst>
                                    <p:cond delay="120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150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Still undecided</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grpSp>
        <p:nvGrpSpPr>
          <p:cNvPr id="4" name="Eight open questions" descr="Eight cards, each with an Undecided tag and an open-question code. They ask which regions launch, which engine leads, what happens to running trains after a switch, where IDs are stored, how number pools and overflow numbers work, what renumbering costs and which search screens exist. Nothing is chosen."/>
          <p:cNvGrpSpPr/>
          <p:nvPr/>
        </p:nvGrpSpPr>
        <p:grpSpPr>
          <a:xfrm>
            <a:off x="548640" y="1371600"/>
            <a:ext cx="11091763" cy="3840480"/>
            <a:chOff x="548640" y="1371600"/>
            <a:chExt cx="11091763" cy="3840480"/>
          </a:xfrm>
        </p:grpSpPr>
        <p:sp>
          <p:nvSpPr>
            <p:cNvPr id="5" name="question card"/>
            <p:cNvSpPr/>
            <p:nvPr/>
          </p:nvSpPr>
          <p:spPr>
            <a:xfrm>
              <a:off x="548640" y="1371600"/>
              <a:ext cx="2651760" cy="1828800"/>
            </a:xfrm>
            <a:prstGeom prst="roundRect">
              <a:avLst>
                <a:gd name="adj" fmla="val 5000"/>
              </a:avLst>
            </a:prstGeom>
            <a:solidFill>
              <a:srgbClr val="2B2F36"/>
            </a:solidFill>
            <a:ln w="19050">
              <a:solidFill>
                <a:srgbClr val="4A515B"/>
              </a:solidFill>
            </a:ln>
          </p:spPr>
          <p:txBody>
            <a:bodyPr rtlCol="0" anchor="ctr"/>
            <a:lstStyle/>
            <a:p>
              <a:pPr algn="ctr"/>
              <a:endParaRPr/>
            </a:p>
          </p:txBody>
        </p:sp>
        <p:sp>
          <p:nvSpPr>
            <p:cNvPr id="6" name="CHIP CARD"/>
            <p:cNvSpPr/>
            <p:nvPr/>
          </p:nvSpPr>
          <p:spPr>
            <a:xfrm>
              <a:off x="640080" y="1481328"/>
              <a:ext cx="2468879" cy="329184"/>
            </a:xfrm>
            <a:prstGeom prst="roundRect">
              <a:avLst>
                <a:gd name="adj" fmla="val 33333"/>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OQ06</a:t>
              </a:r>
            </a:p>
          </p:txBody>
        </p:sp>
        <p:sp>
          <p:nvSpPr>
            <p:cNvPr id="7" name="question"/>
            <p:cNvSpPr txBox="1"/>
            <p:nvPr/>
          </p:nvSpPr>
          <p:spPr>
            <a:xfrm>
              <a:off x="685800" y="1920240"/>
              <a:ext cx="237744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Which regions at launch?</a:t>
              </a:r>
            </a:p>
          </p:txBody>
        </p:sp>
        <p:sp>
          <p:nvSpPr>
            <p:cNvPr id="8" name="question card"/>
            <p:cNvSpPr/>
            <p:nvPr/>
          </p:nvSpPr>
          <p:spPr>
            <a:xfrm>
              <a:off x="3361974" y="1371600"/>
              <a:ext cx="2651760" cy="1828800"/>
            </a:xfrm>
            <a:prstGeom prst="roundRect">
              <a:avLst>
                <a:gd name="adj" fmla="val 5000"/>
              </a:avLst>
            </a:prstGeom>
            <a:solidFill>
              <a:srgbClr val="2B2F36"/>
            </a:solidFill>
            <a:ln w="19050">
              <a:solidFill>
                <a:srgbClr val="4A515B"/>
              </a:solidFill>
            </a:ln>
          </p:spPr>
          <p:txBody>
            <a:bodyPr rtlCol="0" anchor="ctr"/>
            <a:lstStyle/>
            <a:p>
              <a:pPr algn="ctr"/>
              <a:endParaRPr/>
            </a:p>
          </p:txBody>
        </p:sp>
        <p:sp>
          <p:nvSpPr>
            <p:cNvPr id="9" name="CHIP CARD"/>
            <p:cNvSpPr/>
            <p:nvPr/>
          </p:nvSpPr>
          <p:spPr>
            <a:xfrm>
              <a:off x="3453414" y="1481328"/>
              <a:ext cx="2468879" cy="329184"/>
            </a:xfrm>
            <a:prstGeom prst="roundRect">
              <a:avLst>
                <a:gd name="adj" fmla="val 33333"/>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OQ06, OQ27</a:t>
              </a:r>
            </a:p>
          </p:txBody>
        </p:sp>
        <p:sp>
          <p:nvSpPr>
            <p:cNvPr id="10" name="question"/>
            <p:cNvSpPr txBox="1"/>
            <p:nvPr/>
          </p:nvSpPr>
          <p:spPr>
            <a:xfrm>
              <a:off x="3499134" y="1920240"/>
              <a:ext cx="237744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Which engine leads?</a:t>
              </a:r>
            </a:p>
          </p:txBody>
        </p:sp>
        <p:sp>
          <p:nvSpPr>
            <p:cNvPr id="11" name="question card"/>
            <p:cNvSpPr/>
            <p:nvPr/>
          </p:nvSpPr>
          <p:spPr>
            <a:xfrm>
              <a:off x="6175308" y="1371600"/>
              <a:ext cx="2651760" cy="1828800"/>
            </a:xfrm>
            <a:prstGeom prst="roundRect">
              <a:avLst>
                <a:gd name="adj" fmla="val 5000"/>
              </a:avLst>
            </a:prstGeom>
            <a:solidFill>
              <a:srgbClr val="2B2F36"/>
            </a:solidFill>
            <a:ln w="19050">
              <a:solidFill>
                <a:srgbClr val="4A515B"/>
              </a:solidFill>
            </a:ln>
          </p:spPr>
          <p:txBody>
            <a:bodyPr rtlCol="0" anchor="ctr"/>
            <a:lstStyle/>
            <a:p>
              <a:pPr algn="ctr"/>
              <a:endParaRPr/>
            </a:p>
          </p:txBody>
        </p:sp>
        <p:sp>
          <p:nvSpPr>
            <p:cNvPr id="12" name="CHIP CARD"/>
            <p:cNvSpPr/>
            <p:nvPr/>
          </p:nvSpPr>
          <p:spPr>
            <a:xfrm>
              <a:off x="6266748" y="1481328"/>
              <a:ext cx="2468879" cy="329184"/>
            </a:xfrm>
            <a:prstGeom prst="roundRect">
              <a:avLst>
                <a:gd name="adj" fmla="val 33333"/>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OQ06</a:t>
              </a:r>
            </a:p>
          </p:txBody>
        </p:sp>
        <p:sp>
          <p:nvSpPr>
            <p:cNvPr id="13" name="question"/>
            <p:cNvSpPr txBox="1"/>
            <p:nvPr/>
          </p:nvSpPr>
          <p:spPr>
            <a:xfrm>
              <a:off x="6312468" y="1920240"/>
              <a:ext cx="237744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Running trains after a switch</a:t>
              </a:r>
            </a:p>
          </p:txBody>
        </p:sp>
        <p:sp>
          <p:nvSpPr>
            <p:cNvPr id="14" name="question card"/>
            <p:cNvSpPr/>
            <p:nvPr/>
          </p:nvSpPr>
          <p:spPr>
            <a:xfrm>
              <a:off x="8988643" y="1371600"/>
              <a:ext cx="2651760" cy="1828800"/>
            </a:xfrm>
            <a:prstGeom prst="roundRect">
              <a:avLst>
                <a:gd name="adj" fmla="val 5000"/>
              </a:avLst>
            </a:prstGeom>
            <a:solidFill>
              <a:srgbClr val="2B2F36"/>
            </a:solidFill>
            <a:ln w="19050">
              <a:solidFill>
                <a:srgbClr val="4A515B"/>
              </a:solidFill>
            </a:ln>
          </p:spPr>
          <p:txBody>
            <a:bodyPr rtlCol="0" anchor="ctr"/>
            <a:lstStyle/>
            <a:p>
              <a:pPr algn="ctr"/>
              <a:endParaRPr/>
            </a:p>
          </p:txBody>
        </p:sp>
        <p:sp>
          <p:nvSpPr>
            <p:cNvPr id="15" name="CHIP CARD"/>
            <p:cNvSpPr/>
            <p:nvPr/>
          </p:nvSpPr>
          <p:spPr>
            <a:xfrm>
              <a:off x="9080083" y="1481328"/>
              <a:ext cx="2468879" cy="329184"/>
            </a:xfrm>
            <a:prstGeom prst="roundRect">
              <a:avLst>
                <a:gd name="adj" fmla="val 33333"/>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OQ28</a:t>
              </a:r>
            </a:p>
          </p:txBody>
        </p:sp>
        <p:sp>
          <p:nvSpPr>
            <p:cNvPr id="16" name="question"/>
            <p:cNvSpPr txBox="1"/>
            <p:nvPr/>
          </p:nvSpPr>
          <p:spPr>
            <a:xfrm>
              <a:off x="9125803" y="1920240"/>
              <a:ext cx="237744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Where IDs are stored</a:t>
              </a:r>
            </a:p>
          </p:txBody>
        </p:sp>
        <p:sp>
          <p:nvSpPr>
            <p:cNvPr id="17" name="question card"/>
            <p:cNvSpPr/>
            <p:nvPr/>
          </p:nvSpPr>
          <p:spPr>
            <a:xfrm>
              <a:off x="548640" y="3383280"/>
              <a:ext cx="2651760" cy="1828800"/>
            </a:xfrm>
            <a:prstGeom prst="roundRect">
              <a:avLst>
                <a:gd name="adj" fmla="val 5000"/>
              </a:avLst>
            </a:prstGeom>
            <a:solidFill>
              <a:srgbClr val="2B2F36"/>
            </a:solidFill>
            <a:ln w="19050">
              <a:solidFill>
                <a:srgbClr val="4A515B"/>
              </a:solidFill>
            </a:ln>
          </p:spPr>
          <p:txBody>
            <a:bodyPr rtlCol="0" anchor="ctr"/>
            <a:lstStyle/>
            <a:p>
              <a:pPr algn="ctr"/>
              <a:endParaRPr/>
            </a:p>
          </p:txBody>
        </p:sp>
        <p:sp>
          <p:nvSpPr>
            <p:cNvPr id="18" name="CHIP CARD"/>
            <p:cNvSpPr/>
            <p:nvPr/>
          </p:nvSpPr>
          <p:spPr>
            <a:xfrm>
              <a:off x="640080" y="3493008"/>
              <a:ext cx="2468879" cy="329184"/>
            </a:xfrm>
            <a:prstGeom prst="roundRect">
              <a:avLst>
                <a:gd name="adj" fmla="val 33333"/>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OQ29</a:t>
              </a:r>
            </a:p>
          </p:txBody>
        </p:sp>
        <p:sp>
          <p:nvSpPr>
            <p:cNvPr id="19" name="question"/>
            <p:cNvSpPr txBox="1"/>
            <p:nvPr/>
          </p:nvSpPr>
          <p:spPr>
            <a:xfrm>
              <a:off x="685800" y="3931920"/>
              <a:ext cx="237744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Number pools and data</a:t>
              </a:r>
            </a:p>
          </p:txBody>
        </p:sp>
        <p:sp>
          <p:nvSpPr>
            <p:cNvPr id="20" name="question card"/>
            <p:cNvSpPr/>
            <p:nvPr/>
          </p:nvSpPr>
          <p:spPr>
            <a:xfrm>
              <a:off x="3361974" y="3383280"/>
              <a:ext cx="2651760" cy="1828800"/>
            </a:xfrm>
            <a:prstGeom prst="roundRect">
              <a:avLst>
                <a:gd name="adj" fmla="val 5000"/>
              </a:avLst>
            </a:prstGeom>
            <a:solidFill>
              <a:srgbClr val="2B2F36"/>
            </a:solidFill>
            <a:ln w="19050">
              <a:solidFill>
                <a:srgbClr val="4A515B"/>
              </a:solidFill>
            </a:ln>
          </p:spPr>
          <p:txBody>
            <a:bodyPr rtlCol="0" anchor="ctr"/>
            <a:lstStyle/>
            <a:p>
              <a:pPr algn="ctr"/>
              <a:endParaRPr/>
            </a:p>
          </p:txBody>
        </p:sp>
        <p:sp>
          <p:nvSpPr>
            <p:cNvPr id="21" name="CHIP CARD"/>
            <p:cNvSpPr/>
            <p:nvPr/>
          </p:nvSpPr>
          <p:spPr>
            <a:xfrm>
              <a:off x="3453414" y="3493008"/>
              <a:ext cx="2468879" cy="329184"/>
            </a:xfrm>
            <a:prstGeom prst="roundRect">
              <a:avLst>
                <a:gd name="adj" fmla="val 33333"/>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OQ29</a:t>
              </a:r>
            </a:p>
          </p:txBody>
        </p:sp>
        <p:sp>
          <p:nvSpPr>
            <p:cNvPr id="22" name="question"/>
            <p:cNvSpPr txBox="1"/>
            <p:nvPr/>
          </p:nvSpPr>
          <p:spPr>
            <a:xfrm>
              <a:off x="3499134" y="3931920"/>
              <a:ext cx="237744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Overflow number format</a:t>
              </a:r>
            </a:p>
          </p:txBody>
        </p:sp>
        <p:sp>
          <p:nvSpPr>
            <p:cNvPr id="23" name="question card"/>
            <p:cNvSpPr/>
            <p:nvPr/>
          </p:nvSpPr>
          <p:spPr>
            <a:xfrm>
              <a:off x="6175308" y="3383280"/>
              <a:ext cx="2651760" cy="1828800"/>
            </a:xfrm>
            <a:prstGeom prst="roundRect">
              <a:avLst>
                <a:gd name="adj" fmla="val 5000"/>
              </a:avLst>
            </a:prstGeom>
            <a:solidFill>
              <a:srgbClr val="2B2F36"/>
            </a:solidFill>
            <a:ln w="19050">
              <a:solidFill>
                <a:srgbClr val="4A515B"/>
              </a:solidFill>
            </a:ln>
          </p:spPr>
          <p:txBody>
            <a:bodyPr rtlCol="0" anchor="ctr"/>
            <a:lstStyle/>
            <a:p>
              <a:pPr algn="ctr"/>
              <a:endParaRPr/>
            </a:p>
          </p:txBody>
        </p:sp>
        <p:sp>
          <p:nvSpPr>
            <p:cNvPr id="24" name="CHIP CARD"/>
            <p:cNvSpPr/>
            <p:nvPr/>
          </p:nvSpPr>
          <p:spPr>
            <a:xfrm>
              <a:off x="6266748" y="3493008"/>
              <a:ext cx="2468879" cy="329184"/>
            </a:xfrm>
            <a:prstGeom prst="roundRect">
              <a:avLst>
                <a:gd name="adj" fmla="val 33333"/>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OQ30</a:t>
              </a:r>
            </a:p>
          </p:txBody>
        </p:sp>
        <p:sp>
          <p:nvSpPr>
            <p:cNvPr id="25" name="question"/>
            <p:cNvSpPr txBox="1"/>
            <p:nvPr/>
          </p:nvSpPr>
          <p:spPr>
            <a:xfrm>
              <a:off x="6312468" y="3931920"/>
              <a:ext cx="237744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Renumber cost and screens</a:t>
              </a:r>
            </a:p>
          </p:txBody>
        </p:sp>
        <p:sp>
          <p:nvSpPr>
            <p:cNvPr id="26" name="question card"/>
            <p:cNvSpPr/>
            <p:nvPr/>
          </p:nvSpPr>
          <p:spPr>
            <a:xfrm>
              <a:off x="8988643" y="3383280"/>
              <a:ext cx="2651760" cy="1828800"/>
            </a:xfrm>
            <a:prstGeom prst="roundRect">
              <a:avLst>
                <a:gd name="adj" fmla="val 5000"/>
              </a:avLst>
            </a:prstGeom>
            <a:solidFill>
              <a:srgbClr val="2B2F36"/>
            </a:solidFill>
            <a:ln w="19050">
              <a:solidFill>
                <a:srgbClr val="4A515B"/>
              </a:solidFill>
            </a:ln>
          </p:spPr>
          <p:txBody>
            <a:bodyPr rtlCol="0" anchor="ctr"/>
            <a:lstStyle/>
            <a:p>
              <a:pPr algn="ctr"/>
              <a:endParaRPr/>
            </a:p>
          </p:txBody>
        </p:sp>
        <p:sp>
          <p:nvSpPr>
            <p:cNvPr id="27" name="CHIP CARD"/>
            <p:cNvSpPr/>
            <p:nvPr/>
          </p:nvSpPr>
          <p:spPr>
            <a:xfrm>
              <a:off x="9080083" y="3493008"/>
              <a:ext cx="2468879" cy="329184"/>
            </a:xfrm>
            <a:prstGeom prst="roundRect">
              <a:avLst>
                <a:gd name="adj" fmla="val 33333"/>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 · OQ30</a:t>
              </a:r>
            </a:p>
          </p:txBody>
        </p:sp>
        <p:sp>
          <p:nvSpPr>
            <p:cNvPr id="28" name="question"/>
            <p:cNvSpPr txBox="1"/>
            <p:nvPr/>
          </p:nvSpPr>
          <p:spPr>
            <a:xfrm>
              <a:off x="9125803" y="3931920"/>
              <a:ext cx="2377440" cy="1188720"/>
            </a:xfrm>
            <a:prstGeom prst="rect">
              <a:avLst/>
            </a:prstGeom>
            <a:noFill/>
          </p:spPr>
          <p:txBody>
            <a:bodyPr wrap="square" lIns="18288" tIns="9144" rIns="18288" bIns="9144" anchor="t">
              <a:noAutofit/>
            </a:bodyPr>
            <a:lstStyle/>
            <a:p>
              <a:pPr algn="l"/>
              <a:r>
                <a:rPr lang="en-GB" sz="2000" b="1" i="0">
                  <a:solidFill>
                    <a:srgbClr val="F2F2F2"/>
                  </a:solidFill>
                  <a:latin typeface="Arial"/>
                </a:rPr>
                <a:t>Search and filter screens</a:t>
              </a:r>
            </a:p>
          </p:txBody>
        </p:sp>
      </p:grpSp>
      <p:sp>
        <p:nvSpPr>
          <p:cNvPr id="2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1"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These questions are open. Nothing here has been chosen yet.</a:t>
            </a:r>
          </a:p>
        </p:txBody>
      </p:sp>
      <p:sp>
        <p:nvSpPr>
          <p:cNvPr id="32"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25</a:t>
            </a:r>
          </a:p>
        </p:txBody>
      </p:sp>
    </p:spTree>
    <p:extLst>
      <p:ext uri="{BB962C8B-B14F-4D97-AF65-F5344CB8AC3E}">
        <p14:creationId xmlns:p14="http://schemas.microsoft.com/office/powerpoint/2010/main" val="34980034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Image credits</a:t>
            </a:r>
          </a:p>
        </p:txBody>
      </p:sp>
      <p:graphicFrame>
        <p:nvGraphicFramePr>
          <p:cNvPr id="3" name="TABLE" descr="Credits table: one mod render, R01, used on slides 1 and 24."/>
          <p:cNvGraphicFramePr>
            <a:graphicFrameLocks noGrp="1"/>
          </p:cNvGraphicFramePr>
          <p:nvPr/>
        </p:nvGraphicFramePr>
        <p:xfrm>
          <a:off x="548640" y="1371600"/>
          <a:ext cx="11091672" cy="1325880"/>
        </p:xfrm>
        <a:graphic>
          <a:graphicData uri="http://schemas.openxmlformats.org/drawingml/2006/table">
            <a:tbl>
              <a:tblPr firstRow="1">
                <a:tableStyleId>{5C22544A-7EE6-4342-B048-85BDC9FD1C3A}</a:tableStyleId>
              </a:tblPr>
              <a:tblGrid>
                <a:gridCol w="9144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gridCol w="3959352">
                  <a:extLst>
                    <a:ext uri="{9D8B030D-6E8A-4147-A177-3AD203B41FA5}">
                      <a16:colId xmlns:a16="http://schemas.microsoft.com/office/drawing/2014/main" val="20003"/>
                    </a:ext>
                  </a:extLst>
                </a:gridCol>
              </a:tblGrid>
              <a:tr h="411480">
                <a:tc>
                  <a:txBody>
                    <a:bodyPr/>
                    <a:lstStyle/>
                    <a:p>
                      <a:pPr algn="l"/>
                      <a:r>
                        <a:rPr lang="en-GB" sz="1100" b="1" i="0">
                          <a:solidFill>
                            <a:srgbClr val="F2F2F2"/>
                          </a:solidFill>
                          <a:latin typeface="Arial"/>
                        </a:rPr>
                        <a:t>Slot</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a:lstStyle/>
                    <a:p>
                      <a:pPr algn="l"/>
                      <a:r>
                        <a:rPr lang="en-GB" sz="1100" b="1" i="0">
                          <a:solidFill>
                            <a:srgbClr val="F2F2F2"/>
                          </a:solidFill>
                          <a:latin typeface="Arial"/>
                        </a:rPr>
                        <a:t>Slides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a:lstStyle/>
                    <a:p>
                      <a:pPr algn="l"/>
                      <a:r>
                        <a:rPr lang="en-GB" sz="1100" b="1" i="0">
                          <a:solidFill>
                            <a:srgbClr val="F2F2F2"/>
                          </a:solidFill>
                          <a:latin typeface="Arial"/>
                        </a:rPr>
                        <a:t>What it shows</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tc>
                  <a:txBody>
                    <a:bodyPr/>
                    <a:lstStyle/>
                    <a:p>
                      <a:pPr algn="l"/>
                      <a:r>
                        <a:rPr lang="en-GB" sz="1100" b="1" i="0">
                          <a:solidFill>
                            <a:srgbClr val="F2F2F2"/>
                          </a:solidFill>
                          <a:latin typeface="Arial"/>
                        </a:rPr>
                        <a:t>Credit</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343A43"/>
                    </a:solidFill>
                  </a:tcPr>
                </a:tc>
                <a:extLst>
                  <a:ext uri="{0D108BD9-81ED-4DB2-BD59-A6C34878D82A}">
                    <a16:rowId xmlns:a16="http://schemas.microsoft.com/office/drawing/2014/main" val="10000"/>
                  </a:ext>
                </a:extLst>
              </a:tr>
              <a:tr h="914400">
                <a:tc>
                  <a:txBody>
                    <a:bodyPr/>
                    <a:lstStyle/>
                    <a:p>
                      <a:pPr algn="l"/>
                      <a:r>
                        <a:rPr lang="en-GB" sz="1100" b="0" i="0">
                          <a:solidFill>
                            <a:srgbClr val="F2F2F2"/>
                          </a:solidFill>
                          <a:latin typeface="Arial"/>
                        </a:rPr>
                        <a:t>R01</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1, 24</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Early test model of a tank engine (a yellow 'visual probe') on a short length of track. Not final art.</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tc>
                  <a:txBody>
                    <a:bodyPr/>
                    <a:lstStyle/>
                    <a:p>
                      <a:pPr algn="l"/>
                      <a:r>
                        <a:rPr lang="en-GB" sz="1100" b="0" i="0">
                          <a:solidFill>
                            <a:srgbClr val="F2F2F2"/>
                          </a:solidFill>
                          <a:latin typeface="Arial"/>
                        </a:rPr>
                        <a:t>Early Locomotion project (test model, not final art).</a:t>
                      </a:r>
                    </a:p>
                  </a:txBody>
                  <a:tcPr marL="73152" marR="73152" marT="36576" marB="36576" anchor="ctr">
                    <a:lnL w="9525" cap="flat" cmpd="sng">
                      <a:solidFill>
                        <a:srgbClr val="4A515B"/>
                      </a:solidFill>
                      <a:prstDash val="solid"/>
                    </a:lnL>
                    <a:lnR w="9525" cap="flat" cmpd="sng">
                      <a:solidFill>
                        <a:srgbClr val="4A515B"/>
                      </a:solidFill>
                      <a:prstDash val="solid"/>
                    </a:lnR>
                    <a:lnT w="9525" cap="flat" cmpd="sng">
                      <a:solidFill>
                        <a:srgbClr val="4A515B"/>
                      </a:solidFill>
                      <a:prstDash val="solid"/>
                    </a:lnT>
                    <a:lnB w="9525" cap="flat" cmpd="sng">
                      <a:solidFill>
                        <a:srgbClr val="4A515B"/>
                      </a:solidFill>
                      <a:prstDash val="solid"/>
                    </a:lnB>
                    <a:solidFill>
                      <a:srgbClr val="2B2F36"/>
                    </a:solidFill>
                  </a:tcPr>
                </a:tc>
                <a:extLst>
                  <a:ext uri="{0D108BD9-81ED-4DB2-BD59-A6C34878D82A}">
                    <a16:rowId xmlns:a16="http://schemas.microsoft.com/office/drawing/2014/main" val="10001"/>
                  </a:ext>
                </a:extLst>
              </a:tr>
            </a:tbl>
          </a:graphicData>
        </a:graphic>
      </p:graphicFrame>
      <p:sp>
        <p:nvSpPr>
          <p:cNvPr id="4" name="drawing note"/>
          <p:cNvSpPr txBox="1"/>
          <p:nvPr/>
        </p:nvSpPr>
        <p:spPr>
          <a:xfrm>
            <a:off x="548640" y="3108960"/>
            <a:ext cx="11091672" cy="548640"/>
          </a:xfrm>
          <a:prstGeom prst="rect">
            <a:avLst/>
          </a:prstGeom>
          <a:noFill/>
        </p:spPr>
        <p:txBody>
          <a:bodyPr wrap="square" lIns="18288" tIns="9144" rIns="18288" bIns="9144" anchor="t">
            <a:noAutofit/>
          </a:bodyPr>
          <a:lstStyle/>
          <a:p>
            <a:pPr algn="l"/>
            <a:r>
              <a:rPr lang="en-GB" sz="1400" b="0" i="0">
                <a:solidFill>
                  <a:srgbClr val="A9B0B8"/>
                </a:solidFill>
                <a:latin typeface="Arial"/>
              </a:rPr>
              <a:t>Engine, wagon and station drawings in this deck are generic example silhouettes made from shapes. They are not the mod's models.</a:t>
            </a:r>
          </a:p>
        </p:txBody>
      </p:sp>
      <p:sp>
        <p:nvSpPr>
          <p:cNvPr id="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7" name="CAPTION"/>
          <p:cNvSpPr txBox="1"/>
          <p:nvPr/>
        </p:nvSpPr>
        <p:spPr>
          <a:xfrm>
            <a:off x="822960" y="5760720"/>
            <a:ext cx="1042416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This deck uses no photographs.</a:t>
            </a:r>
          </a:p>
        </p:txBody>
      </p:sp>
      <p:sp>
        <p:nvSpPr>
          <p:cNvPr id="8"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26</a:t>
            </a:r>
          </a:p>
        </p:txBody>
      </p:sp>
    </p:spTree>
    <p:extLst>
      <p:ext uri="{BB962C8B-B14F-4D97-AF65-F5344CB8AC3E}">
        <p14:creationId xmlns:p14="http://schemas.microsoft.com/office/powerpoint/2010/main" val="15141851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1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1280160"/>
            <a:ext cx="6035040" cy="2011680"/>
          </a:xfrm>
        </p:spPr>
        <p:txBody>
          <a:bodyPr wrap="square" lIns="0" tIns="0" rIns="0" bIns="0" anchor="b">
            <a:noAutofit/>
          </a:bodyPr>
          <a:lstStyle/>
          <a:p>
            <a:pPr algn="l"/>
            <a:r>
              <a:rPr lang="en-GB" sz="5400" b="1" i="0">
                <a:solidFill>
                  <a:srgbClr val="F2F2F2"/>
                </a:solidFill>
                <a:latin typeface="Arial"/>
              </a:rPr>
              <a:t>Your Railway Guide</a:t>
            </a:r>
          </a:p>
        </p:txBody>
      </p:sp>
      <p:sp>
        <p:nvSpPr>
          <p:cNvPr id="3" name="avatar panel"/>
          <p:cNvSpPr/>
          <p:nvPr/>
        </p:nvSpPr>
        <p:spPr>
          <a:xfrm>
            <a:off x="6903720" y="457200"/>
            <a:ext cx="4736592" cy="5852160"/>
          </a:xfrm>
          <a:prstGeom prst="roundRect">
            <a:avLst>
              <a:gd name="adj" fmla="val 1544"/>
            </a:avLst>
          </a:prstGeom>
          <a:solidFill>
            <a:srgbClr val="2B2F36"/>
          </a:solidFill>
          <a:ln>
            <a:noFill/>
          </a:ln>
        </p:spPr>
        <p:txBody>
          <a:bodyPr rtlCol="0" anchor="ctr"/>
          <a:lstStyle/>
          <a:p>
            <a:pPr algn="ctr"/>
            <a:endParaRPr/>
          </a:p>
        </p:txBody>
      </p:sp>
      <p:grpSp>
        <p:nvGrpSpPr>
          <p:cNvPr id="4" name="Placeholder avatar" descr="Placeholder avatar for the railway guide: a plain round head with no face, a headset and orange shoulders. Her look is undecided (OQ15)."/>
          <p:cNvGrpSpPr/>
          <p:nvPr/>
        </p:nvGrpSpPr>
        <p:grpSpPr>
          <a:xfrm>
            <a:off x="7717536" y="2331720"/>
            <a:ext cx="3108960" cy="3194456"/>
            <a:chOff x="7717536" y="2331720"/>
            <a:chExt cx="3108960" cy="3194456"/>
          </a:xfrm>
        </p:grpSpPr>
        <p:sp>
          <p:nvSpPr>
            <p:cNvPr id="5" name="shoulders"/>
            <p:cNvSpPr/>
            <p:nvPr/>
          </p:nvSpPr>
          <p:spPr>
            <a:xfrm>
              <a:off x="7717536" y="4049420"/>
              <a:ext cx="3108960" cy="1476756"/>
            </a:xfrm>
            <a:prstGeom prst="round2SameRect">
              <a:avLst>
                <a:gd name="adj1" fmla="val 50000"/>
                <a:gd name="adj2" fmla="val 0"/>
              </a:avLst>
            </a:prstGeom>
            <a:solidFill>
              <a:srgbClr val="F28C28"/>
            </a:solidFill>
            <a:ln>
              <a:noFill/>
            </a:ln>
          </p:spPr>
          <p:txBody>
            <a:bodyPr rtlCol="0" anchor="ctr"/>
            <a:lstStyle/>
            <a:p>
              <a:pPr algn="ctr"/>
              <a:endParaRPr/>
            </a:p>
          </p:txBody>
        </p:sp>
        <p:sp>
          <p:nvSpPr>
            <p:cNvPr id="6" name="neck"/>
            <p:cNvSpPr/>
            <p:nvPr/>
          </p:nvSpPr>
          <p:spPr>
            <a:xfrm>
              <a:off x="8961120" y="3855110"/>
              <a:ext cx="621792" cy="621792"/>
            </a:xfrm>
            <a:prstGeom prst="rect">
              <a:avLst/>
            </a:prstGeom>
            <a:solidFill>
              <a:srgbClr val="B9BEC4"/>
            </a:solidFill>
            <a:ln>
              <a:noFill/>
            </a:ln>
          </p:spPr>
          <p:txBody>
            <a:bodyPr rtlCol="0" anchor="ctr"/>
            <a:lstStyle/>
            <a:p>
              <a:pPr algn="ctr"/>
              <a:endParaRPr/>
            </a:p>
          </p:txBody>
        </p:sp>
        <p:sp>
          <p:nvSpPr>
            <p:cNvPr id="7" name="head"/>
            <p:cNvSpPr/>
            <p:nvPr/>
          </p:nvSpPr>
          <p:spPr>
            <a:xfrm>
              <a:off x="8494776" y="2533802"/>
              <a:ext cx="1554480" cy="1554480"/>
            </a:xfrm>
            <a:prstGeom prst="ellipse">
              <a:avLst/>
            </a:prstGeom>
            <a:solidFill>
              <a:srgbClr val="D5D9DE"/>
            </a:solidFill>
            <a:ln w="19050">
              <a:solidFill>
                <a:srgbClr val="9AA0A6"/>
              </a:solidFill>
            </a:ln>
          </p:spPr>
          <p:txBody>
            <a:bodyPr rtlCol="0" anchor="ctr"/>
            <a:lstStyle/>
            <a:p>
              <a:pPr algn="ctr"/>
              <a:endParaRPr/>
            </a:p>
          </p:txBody>
        </p:sp>
        <p:sp>
          <p:nvSpPr>
            <p:cNvPr id="8" name="headset band"/>
            <p:cNvSpPr/>
            <p:nvPr/>
          </p:nvSpPr>
          <p:spPr>
            <a:xfrm>
              <a:off x="8302224" y="2331720"/>
              <a:ext cx="1939583" cy="867776"/>
            </a:xfrm>
            <a:custGeom>
              <a:avLst/>
              <a:gdLst/>
              <a:ahLst/>
              <a:cxnLst/>
              <a:rect l="l" t="t" r="r" b="b"/>
              <a:pathLst>
                <a:path w="1939583" h="867776">
                  <a:moveTo>
                    <a:pt x="1939583" y="843027"/>
                  </a:moveTo>
                  <a:lnTo>
                    <a:pt x="1916478" y="728607"/>
                  </a:lnTo>
                  <a:lnTo>
                    <a:pt x="1879922" y="617750"/>
                  </a:lnTo>
                  <a:lnTo>
                    <a:pt x="1830437" y="512030"/>
                  </a:lnTo>
                  <a:lnTo>
                    <a:pt x="1768724" y="412948"/>
                  </a:lnTo>
                  <a:lnTo>
                    <a:pt x="1695661" y="321913"/>
                  </a:lnTo>
                  <a:lnTo>
                    <a:pt x="1612285" y="240218"/>
                  </a:lnTo>
                  <a:lnTo>
                    <a:pt x="1519781" y="169023"/>
                  </a:lnTo>
                  <a:lnTo>
                    <a:pt x="1419463" y="109341"/>
                  </a:lnTo>
                  <a:lnTo>
                    <a:pt x="1312757" y="62018"/>
                  </a:lnTo>
                  <a:lnTo>
                    <a:pt x="1201179" y="27727"/>
                  </a:lnTo>
                  <a:lnTo>
                    <a:pt x="1086313" y="6956"/>
                  </a:lnTo>
                  <a:lnTo>
                    <a:pt x="969792" y="0"/>
                  </a:lnTo>
                  <a:lnTo>
                    <a:pt x="853270" y="6956"/>
                  </a:lnTo>
                  <a:lnTo>
                    <a:pt x="738404" y="27727"/>
                  </a:lnTo>
                  <a:lnTo>
                    <a:pt x="626826" y="62018"/>
                  </a:lnTo>
                  <a:lnTo>
                    <a:pt x="520120" y="109341"/>
                  </a:lnTo>
                  <a:lnTo>
                    <a:pt x="419802" y="169023"/>
                  </a:lnTo>
                  <a:lnTo>
                    <a:pt x="327298" y="240218"/>
                  </a:lnTo>
                  <a:lnTo>
                    <a:pt x="243922" y="321913"/>
                  </a:lnTo>
                  <a:lnTo>
                    <a:pt x="170859" y="412948"/>
                  </a:lnTo>
                  <a:lnTo>
                    <a:pt x="109146" y="512030"/>
                  </a:lnTo>
                  <a:lnTo>
                    <a:pt x="59661" y="617750"/>
                  </a:lnTo>
                  <a:lnTo>
                    <a:pt x="23105" y="728607"/>
                  </a:lnTo>
                  <a:lnTo>
                    <a:pt x="0" y="843027"/>
                  </a:lnTo>
                  <a:lnTo>
                    <a:pt x="176102" y="867776"/>
                  </a:lnTo>
                  <a:lnTo>
                    <a:pt x="195012" y="774134"/>
                  </a:lnTo>
                  <a:lnTo>
                    <a:pt x="224929" y="683407"/>
                  </a:lnTo>
                  <a:lnTo>
                    <a:pt x="265428" y="596884"/>
                  </a:lnTo>
                  <a:lnTo>
                    <a:pt x="315935" y="515794"/>
                  </a:lnTo>
                  <a:lnTo>
                    <a:pt x="375731" y="441290"/>
                  </a:lnTo>
                  <a:lnTo>
                    <a:pt x="443967" y="374430"/>
                  </a:lnTo>
                  <a:lnTo>
                    <a:pt x="519673" y="316163"/>
                  </a:lnTo>
                  <a:lnTo>
                    <a:pt x="601774" y="267318"/>
                  </a:lnTo>
                  <a:lnTo>
                    <a:pt x="689104" y="228589"/>
                  </a:lnTo>
                  <a:lnTo>
                    <a:pt x="780421" y="200525"/>
                  </a:lnTo>
                  <a:lnTo>
                    <a:pt x="874429" y="183525"/>
                  </a:lnTo>
                  <a:lnTo>
                    <a:pt x="969792" y="177832"/>
                  </a:lnTo>
                  <a:lnTo>
                    <a:pt x="1065154" y="183525"/>
                  </a:lnTo>
                  <a:lnTo>
                    <a:pt x="1159162" y="200525"/>
                  </a:lnTo>
                  <a:lnTo>
                    <a:pt x="1250479" y="228589"/>
                  </a:lnTo>
                  <a:lnTo>
                    <a:pt x="1337809" y="267318"/>
                  </a:lnTo>
                  <a:lnTo>
                    <a:pt x="1419910" y="316163"/>
                  </a:lnTo>
                  <a:lnTo>
                    <a:pt x="1495616" y="374430"/>
                  </a:lnTo>
                  <a:lnTo>
                    <a:pt x="1563852" y="441290"/>
                  </a:lnTo>
                  <a:lnTo>
                    <a:pt x="1623648" y="515794"/>
                  </a:lnTo>
                  <a:lnTo>
                    <a:pt x="1674155" y="596884"/>
                  </a:lnTo>
                  <a:lnTo>
                    <a:pt x="1714654" y="683407"/>
                  </a:lnTo>
                  <a:lnTo>
                    <a:pt x="1744571" y="774134"/>
                  </a:lnTo>
                  <a:lnTo>
                    <a:pt x="1763481" y="867776"/>
                  </a:lnTo>
                  <a:close/>
                </a:path>
              </a:pathLst>
            </a:custGeom>
            <a:solidFill>
              <a:srgbClr val="3A3F47"/>
            </a:solidFill>
            <a:ln w="19050">
              <a:solidFill>
                <a:srgbClr val="9AA0A6"/>
              </a:solidFill>
            </a:ln>
          </p:spPr>
          <p:txBody>
            <a:bodyPr rtlCol="0" anchor="ctr"/>
            <a:lstStyle/>
            <a:p>
              <a:pPr algn="ctr"/>
              <a:endParaRPr/>
            </a:p>
          </p:txBody>
        </p:sp>
        <p:sp>
          <p:nvSpPr>
            <p:cNvPr id="9" name="ear cup"/>
            <p:cNvSpPr/>
            <p:nvPr/>
          </p:nvSpPr>
          <p:spPr>
            <a:xfrm>
              <a:off x="8243727" y="3093415"/>
              <a:ext cx="279806" cy="528523"/>
            </a:xfrm>
            <a:prstGeom prst="roundRect">
              <a:avLst>
                <a:gd name="adj" fmla="val 38888"/>
              </a:avLst>
            </a:prstGeom>
            <a:solidFill>
              <a:srgbClr val="3A3F47"/>
            </a:solidFill>
            <a:ln w="19050">
              <a:solidFill>
                <a:srgbClr val="9AA0A6"/>
              </a:solidFill>
            </a:ln>
          </p:spPr>
          <p:txBody>
            <a:bodyPr rtlCol="0" anchor="ctr"/>
            <a:lstStyle/>
            <a:p>
              <a:pPr algn="ctr"/>
              <a:endParaRPr/>
            </a:p>
          </p:txBody>
        </p:sp>
        <p:sp>
          <p:nvSpPr>
            <p:cNvPr id="10" name="ear cup"/>
            <p:cNvSpPr/>
            <p:nvPr/>
          </p:nvSpPr>
          <p:spPr>
            <a:xfrm>
              <a:off x="10020498" y="3093415"/>
              <a:ext cx="279806" cy="528523"/>
            </a:xfrm>
            <a:prstGeom prst="roundRect">
              <a:avLst>
                <a:gd name="adj" fmla="val 38888"/>
              </a:avLst>
            </a:prstGeom>
            <a:solidFill>
              <a:srgbClr val="3A3F47"/>
            </a:solidFill>
            <a:ln w="19050">
              <a:solidFill>
                <a:srgbClr val="9AA0A6"/>
              </a:solidFill>
            </a:ln>
          </p:spPr>
          <p:txBody>
            <a:bodyPr rtlCol="0" anchor="ctr"/>
            <a:lstStyle/>
            <a:p>
              <a:pPr algn="ctr"/>
              <a:endParaRPr/>
            </a:p>
          </p:txBody>
        </p:sp>
        <p:sp>
          <p:nvSpPr>
            <p:cNvPr id="11" name="mic boom"/>
            <p:cNvSpPr/>
            <p:nvPr/>
          </p:nvSpPr>
          <p:spPr>
            <a:xfrm>
              <a:off x="8393734" y="3590848"/>
              <a:ext cx="614020" cy="365541"/>
            </a:xfrm>
            <a:custGeom>
              <a:avLst/>
              <a:gdLst/>
              <a:ahLst/>
              <a:cxnLst/>
              <a:rect l="l" t="t" r="r" b="b"/>
              <a:pathLst>
                <a:path w="614020" h="365541">
                  <a:moveTo>
                    <a:pt x="0" y="0"/>
                  </a:moveTo>
                  <a:lnTo>
                    <a:pt x="783" y="32022"/>
                  </a:lnTo>
                  <a:lnTo>
                    <a:pt x="3133" y="62576"/>
                  </a:lnTo>
                  <a:lnTo>
                    <a:pt x="7049" y="91663"/>
                  </a:lnTo>
                  <a:lnTo>
                    <a:pt x="12531" y="119283"/>
                  </a:lnTo>
                  <a:lnTo>
                    <a:pt x="19580" y="145435"/>
                  </a:lnTo>
                  <a:lnTo>
                    <a:pt x="28195" y="170121"/>
                  </a:lnTo>
                  <a:lnTo>
                    <a:pt x="38377" y="193339"/>
                  </a:lnTo>
                  <a:lnTo>
                    <a:pt x="50124" y="215090"/>
                  </a:lnTo>
                  <a:lnTo>
                    <a:pt x="63439" y="235373"/>
                  </a:lnTo>
                  <a:lnTo>
                    <a:pt x="78319" y="254190"/>
                  </a:lnTo>
                  <a:lnTo>
                    <a:pt x="94766" y="271539"/>
                  </a:lnTo>
                  <a:lnTo>
                    <a:pt x="112779" y="287420"/>
                  </a:lnTo>
                  <a:lnTo>
                    <a:pt x="132359" y="301835"/>
                  </a:lnTo>
                  <a:lnTo>
                    <a:pt x="153505" y="314783"/>
                  </a:lnTo>
                  <a:lnTo>
                    <a:pt x="176218" y="326263"/>
                  </a:lnTo>
                  <a:lnTo>
                    <a:pt x="200496" y="336276"/>
                  </a:lnTo>
                  <a:lnTo>
                    <a:pt x="226342" y="344821"/>
                  </a:lnTo>
                  <a:lnTo>
                    <a:pt x="253753" y="351900"/>
                  </a:lnTo>
                  <a:lnTo>
                    <a:pt x="282731" y="357511"/>
                  </a:lnTo>
                  <a:lnTo>
                    <a:pt x="313276" y="361655"/>
                  </a:lnTo>
                  <a:lnTo>
                    <a:pt x="345386" y="364332"/>
                  </a:lnTo>
                  <a:lnTo>
                    <a:pt x="379063" y="365541"/>
                  </a:lnTo>
                  <a:lnTo>
                    <a:pt x="414307" y="365283"/>
                  </a:lnTo>
                  <a:lnTo>
                    <a:pt x="451117" y="363558"/>
                  </a:lnTo>
                  <a:lnTo>
                    <a:pt x="489493" y="360366"/>
                  </a:lnTo>
                  <a:lnTo>
                    <a:pt x="529436" y="355707"/>
                  </a:lnTo>
                  <a:lnTo>
                    <a:pt x="570945" y="349580"/>
                  </a:lnTo>
                  <a:lnTo>
                    <a:pt x="614020" y="341986"/>
                  </a:lnTo>
                </a:path>
              </a:pathLst>
            </a:custGeom>
            <a:noFill/>
            <a:ln w="69088">
              <a:solidFill>
                <a:srgbClr val="9AA0A6"/>
              </a:solidFill>
            </a:ln>
          </p:spPr>
          <p:txBody>
            <a:bodyPr rtlCol="0" anchor="ctr"/>
            <a:lstStyle/>
            <a:p>
              <a:pPr algn="ctr"/>
              <a:endParaRPr/>
            </a:p>
          </p:txBody>
        </p:sp>
        <p:sp>
          <p:nvSpPr>
            <p:cNvPr id="12" name="mic tip"/>
            <p:cNvSpPr/>
            <p:nvPr/>
          </p:nvSpPr>
          <p:spPr>
            <a:xfrm>
              <a:off x="8914485" y="3839565"/>
              <a:ext cx="186537" cy="186537"/>
            </a:xfrm>
            <a:prstGeom prst="ellipse">
              <a:avLst/>
            </a:prstGeom>
            <a:solidFill>
              <a:srgbClr val="9AA0A6"/>
            </a:solidFill>
            <a:ln>
              <a:noFill/>
            </a:ln>
          </p:spPr>
          <p:txBody>
            <a:bodyPr rtlCol="0" anchor="ctr"/>
            <a:lstStyle/>
            <a:p>
              <a:pPr algn="ctr"/>
              <a:endParaRPr/>
            </a:p>
          </p:txBody>
        </p:sp>
      </p:grpSp>
      <p:sp>
        <p:nvSpPr>
          <p:cNvPr id="13" name="guide bubble body"/>
          <p:cNvSpPr/>
          <p:nvPr/>
        </p:nvSpPr>
        <p:spPr>
          <a:xfrm>
            <a:off x="7360920" y="868680"/>
            <a:ext cx="2011680" cy="914400"/>
          </a:xfrm>
          <a:prstGeom prst="roundRect">
            <a:avLst>
              <a:gd name="adj" fmla="val 30000"/>
            </a:avLst>
          </a:prstGeom>
          <a:solidFill>
            <a:srgbClr val="F2F2F2"/>
          </a:solidFill>
          <a:ln>
            <a:noFill/>
          </a:ln>
        </p:spPr>
        <p:txBody>
          <a:bodyPr wrap="square" lIns="109728" rIns="109728" rtlCol="0" anchor="ctr">
            <a:noAutofit/>
          </a:bodyPr>
          <a:lstStyle/>
          <a:p>
            <a:pPr algn="ctr"/>
            <a:r>
              <a:rPr lang="en-GB" sz="3600" b="1" i="0">
                <a:solidFill>
                  <a:srgbClr val="101418"/>
                </a:solidFill>
                <a:latin typeface="Arial"/>
              </a:rPr>
              <a:t>...</a:t>
            </a:r>
          </a:p>
        </p:txBody>
      </p:sp>
      <p:sp>
        <p:nvSpPr>
          <p:cNvPr id="14" name="guide bubble tail"/>
          <p:cNvSpPr/>
          <p:nvPr/>
        </p:nvSpPr>
        <p:spPr>
          <a:xfrm>
            <a:off x="8503920" y="1764792"/>
            <a:ext cx="365760" cy="402336"/>
          </a:xfrm>
          <a:custGeom>
            <a:avLst/>
            <a:gdLst/>
            <a:ahLst/>
            <a:cxnLst/>
            <a:rect l="l" t="t" r="r" b="b"/>
            <a:pathLst>
              <a:path w="365760" h="402336">
                <a:moveTo>
                  <a:pt x="0" y="0"/>
                </a:moveTo>
                <a:lnTo>
                  <a:pt x="365760" y="0"/>
                </a:lnTo>
                <a:lnTo>
                  <a:pt x="310896" y="402336"/>
                </a:lnTo>
                <a:close/>
              </a:path>
            </a:pathLst>
          </a:custGeom>
          <a:solidFill>
            <a:srgbClr val="F2F2F2"/>
          </a:solidFill>
          <a:ln>
            <a:noFill/>
          </a:ln>
        </p:spPr>
        <p:txBody>
          <a:bodyPr rtlCol="0" anchor="ctr"/>
          <a:lstStyle/>
          <a:p>
            <a:pPr algn="ctr"/>
            <a:endParaRPr/>
          </a:p>
        </p:txBody>
      </p:sp>
      <p:sp>
        <p:nvSpPr>
          <p:cNvPr id="15" name="PLACEHOLDER LABEL"/>
          <p:cNvSpPr txBox="1"/>
          <p:nvPr/>
        </p:nvSpPr>
        <p:spPr>
          <a:xfrm>
            <a:off x="7178040" y="5486400"/>
            <a:ext cx="4187952" cy="548640"/>
          </a:xfrm>
          <a:prstGeom prst="rect">
            <a:avLst/>
          </a:prstGeom>
          <a:noFill/>
        </p:spPr>
        <p:txBody>
          <a:bodyPr wrap="square" lIns="18288" tIns="9144" rIns="18288" bIns="9144" anchor="ctr">
            <a:noAutofit/>
          </a:bodyPr>
          <a:lstStyle/>
          <a:p>
            <a:pPr algn="ctr"/>
            <a:r>
              <a:rPr lang="en-GB" sz="1400" b="0" i="0">
                <a:solidFill>
                  <a:srgbClr val="A9B0B8"/>
                </a:solidFill>
                <a:latin typeface="Arial"/>
              </a:rPr>
              <a:t>Placeholder avatar. Her look is undecided (OQ15).</a:t>
            </a:r>
          </a:p>
        </p:txBody>
      </p:sp>
      <p:sp>
        <p:nvSpPr>
          <p:cNvPr id="16" name="orange rule"/>
          <p:cNvSpPr/>
          <p:nvPr/>
        </p:nvSpPr>
        <p:spPr>
          <a:xfrm>
            <a:off x="548640" y="3474720"/>
            <a:ext cx="1645920" cy="73152"/>
          </a:xfrm>
          <a:prstGeom prst="rect">
            <a:avLst/>
          </a:prstGeom>
          <a:solidFill>
            <a:srgbClr val="F28C28"/>
          </a:solidFill>
          <a:ln>
            <a:noFill/>
          </a:ln>
        </p:spPr>
        <p:txBody>
          <a:bodyPr rtlCol="0" anchor="ctr"/>
          <a:lstStyle/>
          <a:p>
            <a:pPr algn="ctr"/>
            <a:endParaRPr/>
          </a:p>
        </p:txBody>
      </p:sp>
      <p:sp>
        <p:nvSpPr>
          <p:cNvPr id="17" name="CAPTION"/>
          <p:cNvSpPr txBox="1"/>
          <p:nvPr/>
        </p:nvSpPr>
        <p:spPr>
          <a:xfrm>
            <a:off x="548640" y="3749039"/>
            <a:ext cx="5943600" cy="1371600"/>
          </a:xfrm>
          <a:prstGeom prst="rect">
            <a:avLst/>
          </a:prstGeom>
          <a:noFill/>
        </p:spPr>
        <p:txBody>
          <a:bodyPr wrap="square" lIns="0" tIns="0" rIns="0" bIns="0" anchor="t">
            <a:noAutofit/>
          </a:bodyPr>
          <a:lstStyle/>
          <a:p>
            <a:pPr algn="l"/>
            <a:r>
              <a:rPr lang="en-GB" sz="2000" b="0" i="0">
                <a:solidFill>
                  <a:srgbClr val="F2F2F2"/>
                </a:solidFill>
                <a:latin typeface="Arial"/>
              </a:rPr>
              <a:t>Meet the mod's friendly guide, her lessons, and where rail parts could live in the build menu.</a:t>
            </a:r>
          </a:p>
        </p:txBody>
      </p:sp>
    </p:spTree>
    <p:extLst>
      <p:ext uri="{BB962C8B-B14F-4D97-AF65-F5344CB8AC3E}">
        <p14:creationId xmlns:p14="http://schemas.microsoft.com/office/powerpoint/2010/main" val="24372606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257"/>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514"/>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771"/>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1028"/>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1285"/>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nodeType="withEffect">
                                  <p:stCondLst>
                                    <p:cond delay="1542"/>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How to read this guide</a:t>
            </a:r>
          </a:p>
        </p:txBody>
      </p:sp>
      <p:grpSp>
        <p:nvGrpSpPr>
          <p:cNvPr id="3" name="Tag legend" descr="Legend: five tags and what each means. Agreed is decided, Proposed is suggested, Provisional is a test number, Undecided is an open question, Background is a real-world fact."/>
          <p:cNvGrpSpPr/>
          <p:nvPr/>
        </p:nvGrpSpPr>
        <p:grpSpPr>
          <a:xfrm>
            <a:off x="548640" y="1371600"/>
            <a:ext cx="7315200" cy="4206240"/>
            <a:chOff x="548640" y="1371600"/>
            <a:chExt cx="7315200" cy="4206240"/>
          </a:xfrm>
        </p:grpSpPr>
        <p:sp>
          <p:nvSpPr>
            <p:cNvPr id="4" name="legend panel"/>
            <p:cNvSpPr/>
            <p:nvPr/>
          </p:nvSpPr>
          <p:spPr>
            <a:xfrm>
              <a:off x="548640" y="1371600"/>
              <a:ext cx="7315200" cy="4206240"/>
            </a:xfrm>
            <a:prstGeom prst="roundRect">
              <a:avLst>
                <a:gd name="adj" fmla="val 1739"/>
              </a:avLst>
            </a:prstGeom>
            <a:solidFill>
              <a:srgbClr val="2B2F36"/>
            </a:solidFill>
            <a:ln>
              <a:noFill/>
            </a:ln>
          </p:spPr>
          <p:txBody>
            <a:bodyPr rtlCol="0" anchor="ctr"/>
            <a:lstStyle/>
            <a:p>
              <a:pPr algn="ctr"/>
              <a:endParaRPr/>
            </a:p>
          </p:txBody>
        </p:sp>
        <p:sp>
          <p:nvSpPr>
            <p:cNvPr id="5" name="CHIP LEGEND"/>
            <p:cNvSpPr/>
            <p:nvPr/>
          </p:nvSpPr>
          <p:spPr>
            <a:xfrm>
              <a:off x="868680" y="1572768"/>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sp>
          <p:nvSpPr>
            <p:cNvPr id="6" name="LEGEND TEXT"/>
            <p:cNvSpPr txBox="1"/>
            <p:nvPr/>
          </p:nvSpPr>
          <p:spPr>
            <a:xfrm>
              <a:off x="2743200" y="1481328"/>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Decided.</a:t>
              </a:r>
            </a:p>
          </p:txBody>
        </p:sp>
        <p:sp>
          <p:nvSpPr>
            <p:cNvPr id="7" name="CHIP LEGEND"/>
            <p:cNvSpPr/>
            <p:nvPr/>
          </p:nvSpPr>
          <p:spPr>
            <a:xfrm>
              <a:off x="868680" y="23591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sp>
          <p:nvSpPr>
            <p:cNvPr id="8" name="LEGEND TEXT"/>
            <p:cNvSpPr txBox="1"/>
            <p:nvPr/>
          </p:nvSpPr>
          <p:spPr>
            <a:xfrm>
              <a:off x="2743200" y="2267712"/>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Suggested, not confirmed.</a:t>
              </a:r>
            </a:p>
          </p:txBody>
        </p:sp>
        <p:sp>
          <p:nvSpPr>
            <p:cNvPr id="9" name="CHIP LEGEND"/>
            <p:cNvSpPr/>
            <p:nvPr/>
          </p:nvSpPr>
          <p:spPr>
            <a:xfrm>
              <a:off x="868680" y="3145536"/>
              <a:ext cx="1554480" cy="365760"/>
            </a:xfrm>
            <a:prstGeom prst="roundRect">
              <a:avLst>
                <a:gd name="adj" fmla="val 300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sp>
          <p:nvSpPr>
            <p:cNvPr id="10" name="LEGEND TEXT"/>
            <p:cNvSpPr txBox="1"/>
            <p:nvPr/>
          </p:nvSpPr>
          <p:spPr>
            <a:xfrm>
              <a:off x="2743200" y="3054096"/>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A test number that may change.</a:t>
              </a:r>
            </a:p>
          </p:txBody>
        </p:sp>
        <p:sp>
          <p:nvSpPr>
            <p:cNvPr id="11" name="CHIP LEGEND"/>
            <p:cNvSpPr/>
            <p:nvPr/>
          </p:nvSpPr>
          <p:spPr>
            <a:xfrm>
              <a:off x="868680" y="3931920"/>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12" name="LEGEND TEXT"/>
            <p:cNvSpPr txBox="1"/>
            <p:nvPr/>
          </p:nvSpPr>
          <p:spPr>
            <a:xfrm>
              <a:off x="2743200" y="3840480"/>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Still an open question.</a:t>
              </a:r>
            </a:p>
          </p:txBody>
        </p:sp>
        <p:sp>
          <p:nvSpPr>
            <p:cNvPr id="13" name="CHIP LEGEND"/>
            <p:cNvSpPr/>
            <p:nvPr/>
          </p:nvSpPr>
          <p:spPr>
            <a:xfrm>
              <a:off x="868680" y="4718304"/>
              <a:ext cx="1554480" cy="365760"/>
            </a:xfrm>
            <a:prstGeom prst="roundRect">
              <a:avLst>
                <a:gd name="adj" fmla="val 30000"/>
              </a:avLst>
            </a:prstGeom>
            <a:solidFill>
              <a:srgbClr val="4A515B"/>
            </a:solidFill>
            <a:ln>
              <a:noFill/>
            </a:ln>
          </p:spPr>
          <p:txBody>
            <a:bodyPr wrap="square" lIns="54864" tIns="0" rIns="54864" bIns="0" rtlCol="0" anchor="ctr">
              <a:noAutofit/>
            </a:bodyPr>
            <a:lstStyle/>
            <a:p>
              <a:pPr algn="ctr"/>
              <a:r>
                <a:rPr lang="en-GB" sz="1400" b="1" i="0">
                  <a:solidFill>
                    <a:srgbClr val="F2F2F2"/>
                  </a:solidFill>
                  <a:latin typeface="Arial"/>
                </a:rPr>
                <a:t>BACKGROUND</a:t>
              </a:r>
            </a:p>
          </p:txBody>
        </p:sp>
        <p:sp>
          <p:nvSpPr>
            <p:cNvPr id="14" name="LEGEND TEXT"/>
            <p:cNvSpPr txBox="1"/>
            <p:nvPr/>
          </p:nvSpPr>
          <p:spPr>
            <a:xfrm>
              <a:off x="2743200" y="4626864"/>
              <a:ext cx="4937760" cy="548640"/>
            </a:xfrm>
            <a:prstGeom prst="rect">
              <a:avLst/>
            </a:prstGeom>
            <a:noFill/>
          </p:spPr>
          <p:txBody>
            <a:bodyPr wrap="square" lIns="18288" tIns="9144" rIns="18288" bIns="9144" anchor="ctr">
              <a:noAutofit/>
            </a:bodyPr>
            <a:lstStyle/>
            <a:p>
              <a:pPr algn="l"/>
              <a:r>
                <a:rPr lang="en-GB" sz="2000" b="0" i="0">
                  <a:solidFill>
                    <a:srgbClr val="F2F2F2"/>
                  </a:solidFill>
                  <a:latin typeface="Arial"/>
                </a:rPr>
                <a:t>A real-world fact.</a:t>
              </a:r>
            </a:p>
          </p:txBody>
        </p:sp>
      </p:grpSp>
      <p:grpSp>
        <p:nvGrpSpPr>
          <p:cNvPr id="15" name="Corner sketch" descr="Sketch of a slide with a tag in its top-right corner."/>
          <p:cNvGrpSpPr/>
          <p:nvPr/>
        </p:nvGrpSpPr>
        <p:grpSpPr>
          <a:xfrm>
            <a:off x="8412480" y="1737360"/>
            <a:ext cx="3200400" cy="1801368"/>
            <a:chOff x="8412480" y="1737360"/>
            <a:chExt cx="3200400" cy="1801368"/>
          </a:xfrm>
        </p:grpSpPr>
        <p:sp>
          <p:nvSpPr>
            <p:cNvPr id="16" name="slide sketch"/>
            <p:cNvSpPr/>
            <p:nvPr/>
          </p:nvSpPr>
          <p:spPr>
            <a:xfrm>
              <a:off x="8412480" y="1737360"/>
              <a:ext cx="3200400" cy="1801368"/>
            </a:xfrm>
            <a:prstGeom prst="roundRect">
              <a:avLst>
                <a:gd name="adj" fmla="val 4060"/>
              </a:avLst>
            </a:prstGeom>
            <a:solidFill>
              <a:srgbClr val="1E2126"/>
            </a:solidFill>
            <a:ln w="25400">
              <a:solidFill>
                <a:srgbClr val="9AA0A6"/>
              </a:solidFill>
            </a:ln>
          </p:spPr>
          <p:txBody>
            <a:bodyPr rtlCol="0" anchor="ctr"/>
            <a:lstStyle/>
            <a:p>
              <a:pPr algn="ctr"/>
              <a:endParaRPr/>
            </a:p>
          </p:txBody>
        </p:sp>
        <p:sp>
          <p:nvSpPr>
            <p:cNvPr id="17" name="title line"/>
            <p:cNvSpPr/>
            <p:nvPr/>
          </p:nvSpPr>
          <p:spPr>
            <a:xfrm>
              <a:off x="8641080" y="1965960"/>
              <a:ext cx="1371600" cy="109728"/>
            </a:xfrm>
            <a:prstGeom prst="rect">
              <a:avLst/>
            </a:prstGeom>
            <a:solidFill>
              <a:srgbClr val="4A515B"/>
            </a:solidFill>
            <a:ln>
              <a:noFill/>
            </a:ln>
          </p:spPr>
          <p:txBody>
            <a:bodyPr rtlCol="0" anchor="ctr"/>
            <a:lstStyle/>
            <a:p>
              <a:pPr algn="ctr"/>
              <a:endParaRPr/>
            </a:p>
          </p:txBody>
        </p:sp>
        <p:sp>
          <p:nvSpPr>
            <p:cNvPr id="18" name="body line"/>
            <p:cNvSpPr/>
            <p:nvPr/>
          </p:nvSpPr>
          <p:spPr>
            <a:xfrm>
              <a:off x="8641080" y="2286000"/>
              <a:ext cx="2011680" cy="73152"/>
            </a:xfrm>
            <a:prstGeom prst="rect">
              <a:avLst/>
            </a:prstGeom>
            <a:solidFill>
              <a:srgbClr val="4A515B"/>
            </a:solidFill>
            <a:ln>
              <a:noFill/>
            </a:ln>
          </p:spPr>
          <p:txBody>
            <a:bodyPr rtlCol="0" anchor="ctr"/>
            <a:lstStyle/>
            <a:p>
              <a:pPr algn="ctr"/>
              <a:endParaRPr/>
            </a:p>
          </p:txBody>
        </p:sp>
        <p:sp>
          <p:nvSpPr>
            <p:cNvPr id="19" name="body line"/>
            <p:cNvSpPr/>
            <p:nvPr/>
          </p:nvSpPr>
          <p:spPr>
            <a:xfrm>
              <a:off x="8641080" y="2468880"/>
              <a:ext cx="1645920" cy="73152"/>
            </a:xfrm>
            <a:prstGeom prst="rect">
              <a:avLst/>
            </a:prstGeom>
            <a:solidFill>
              <a:srgbClr val="4A515B"/>
            </a:solidFill>
            <a:ln>
              <a:noFill/>
            </a:ln>
          </p:spPr>
          <p:txBody>
            <a:bodyPr rtlCol="0" anchor="ctr"/>
            <a:lstStyle/>
            <a:p>
              <a:pPr algn="ctr"/>
              <a:endParaRPr/>
            </a:p>
          </p:txBody>
        </p:sp>
        <p:sp>
          <p:nvSpPr>
            <p:cNvPr id="20" name="tag sketch"/>
            <p:cNvSpPr/>
            <p:nvPr/>
          </p:nvSpPr>
          <p:spPr>
            <a:xfrm>
              <a:off x="10698480" y="1920240"/>
              <a:ext cx="731520" cy="237744"/>
            </a:xfrm>
            <a:prstGeom prst="roundRect">
              <a:avLst>
                <a:gd name="adj" fmla="val 30769"/>
              </a:avLst>
            </a:prstGeom>
            <a:solidFill>
              <a:srgbClr val="3FB950"/>
            </a:solidFill>
            <a:ln>
              <a:noFill/>
            </a:ln>
          </p:spPr>
          <p:txBody>
            <a:bodyPr rtlCol="0" anchor="ctr"/>
            <a:lstStyle/>
            <a:p>
              <a:pPr algn="ctr"/>
              <a:endParaRPr/>
            </a:p>
          </p:txBody>
        </p:sp>
        <p:cxnSp>
          <p:nvCxnSpPr>
            <p:cNvPr id="21" name="pointer"/>
            <p:cNvCxnSpPr/>
            <p:nvPr/>
          </p:nvCxnSpPr>
          <p:spPr>
            <a:xfrm flipV="1">
              <a:off x="10058400" y="2194560"/>
              <a:ext cx="822960" cy="548640"/>
            </a:xfrm>
            <a:prstGeom prst="line">
              <a:avLst/>
            </a:prstGeom>
            <a:ln w="28575">
              <a:solidFill>
                <a:srgbClr val="F28C28"/>
              </a:solidFill>
              <a:tailEnd type="triangle" w="med" len="med"/>
            </a:ln>
          </p:spPr>
        </p:cxnSp>
      </p:grpSp>
      <p:sp>
        <p:nvSpPr>
          <p:cNvPr id="2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3"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4"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Every idea carries a tag in the top-right corner.</a:t>
            </a:r>
          </a:p>
        </p:txBody>
      </p:sp>
      <p:sp>
        <p:nvSpPr>
          <p:cNvPr id="25"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a:t>
            </a:r>
          </a:p>
        </p:txBody>
      </p:sp>
    </p:spTree>
    <p:extLst>
      <p:ext uri="{BB962C8B-B14F-4D97-AF65-F5344CB8AC3E}">
        <p14:creationId xmlns:p14="http://schemas.microsoft.com/office/powerpoint/2010/main" val="32059655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60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9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nodeType="withEffect">
                                  <p:stCondLst>
                                    <p:cond delay="12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Meet the guide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sp>
        <p:nvSpPr>
          <p:cNvPr id="4" name="avatar panel"/>
          <p:cNvSpPr/>
          <p:nvPr/>
        </p:nvSpPr>
        <p:spPr>
          <a:xfrm>
            <a:off x="548640" y="1371600"/>
            <a:ext cx="4389120" cy="4206240"/>
          </a:xfrm>
          <a:prstGeom prst="roundRect">
            <a:avLst>
              <a:gd name="adj" fmla="val 1739"/>
            </a:avLst>
          </a:prstGeom>
          <a:solidFill>
            <a:srgbClr val="2B2F36"/>
          </a:solidFill>
          <a:ln>
            <a:noFill/>
          </a:ln>
        </p:spPr>
        <p:txBody>
          <a:bodyPr rtlCol="0" anchor="ctr"/>
          <a:lstStyle/>
          <a:p>
            <a:pPr algn="ctr"/>
            <a:endParaRPr/>
          </a:p>
        </p:txBody>
      </p:sp>
      <p:grpSp>
        <p:nvGrpSpPr>
          <p:cNvPr id="5" name="Placeholder avatar" descr="Placeholder avatar for the railway guide: a plain round head with no face, a headset and orange shoulders. Her look is undecided (OQ15)."/>
          <p:cNvGrpSpPr/>
          <p:nvPr/>
        </p:nvGrpSpPr>
        <p:grpSpPr>
          <a:xfrm>
            <a:off x="1188720" y="1572768"/>
            <a:ext cx="3108960" cy="3194456"/>
            <a:chOff x="1188720" y="1572768"/>
            <a:chExt cx="3108960" cy="3194456"/>
          </a:xfrm>
        </p:grpSpPr>
        <p:sp>
          <p:nvSpPr>
            <p:cNvPr id="6" name="shoulders"/>
            <p:cNvSpPr/>
            <p:nvPr/>
          </p:nvSpPr>
          <p:spPr>
            <a:xfrm>
              <a:off x="1188720" y="3290468"/>
              <a:ext cx="3108960" cy="1476756"/>
            </a:xfrm>
            <a:prstGeom prst="round2SameRect">
              <a:avLst>
                <a:gd name="adj1" fmla="val 50000"/>
                <a:gd name="adj2" fmla="val 0"/>
              </a:avLst>
            </a:prstGeom>
            <a:solidFill>
              <a:srgbClr val="F28C28"/>
            </a:solidFill>
            <a:ln>
              <a:noFill/>
            </a:ln>
          </p:spPr>
          <p:txBody>
            <a:bodyPr rtlCol="0" anchor="ctr"/>
            <a:lstStyle/>
            <a:p>
              <a:pPr algn="ctr"/>
              <a:endParaRPr/>
            </a:p>
          </p:txBody>
        </p:sp>
        <p:sp>
          <p:nvSpPr>
            <p:cNvPr id="7" name="neck"/>
            <p:cNvSpPr/>
            <p:nvPr/>
          </p:nvSpPr>
          <p:spPr>
            <a:xfrm>
              <a:off x="2432304" y="3096158"/>
              <a:ext cx="621792" cy="621792"/>
            </a:xfrm>
            <a:prstGeom prst="rect">
              <a:avLst/>
            </a:prstGeom>
            <a:solidFill>
              <a:srgbClr val="B9BEC4"/>
            </a:solidFill>
            <a:ln>
              <a:noFill/>
            </a:ln>
          </p:spPr>
          <p:txBody>
            <a:bodyPr rtlCol="0" anchor="ctr"/>
            <a:lstStyle/>
            <a:p>
              <a:pPr algn="ctr"/>
              <a:endParaRPr/>
            </a:p>
          </p:txBody>
        </p:sp>
        <p:sp>
          <p:nvSpPr>
            <p:cNvPr id="8" name="head"/>
            <p:cNvSpPr/>
            <p:nvPr/>
          </p:nvSpPr>
          <p:spPr>
            <a:xfrm>
              <a:off x="1965960" y="1774850"/>
              <a:ext cx="1554480" cy="1554480"/>
            </a:xfrm>
            <a:prstGeom prst="ellipse">
              <a:avLst/>
            </a:prstGeom>
            <a:solidFill>
              <a:srgbClr val="D5D9DE"/>
            </a:solidFill>
            <a:ln w="19050">
              <a:solidFill>
                <a:srgbClr val="9AA0A6"/>
              </a:solidFill>
            </a:ln>
          </p:spPr>
          <p:txBody>
            <a:bodyPr rtlCol="0" anchor="ctr"/>
            <a:lstStyle/>
            <a:p>
              <a:pPr algn="ctr"/>
              <a:endParaRPr/>
            </a:p>
          </p:txBody>
        </p:sp>
        <p:sp>
          <p:nvSpPr>
            <p:cNvPr id="9" name="headset band"/>
            <p:cNvSpPr/>
            <p:nvPr/>
          </p:nvSpPr>
          <p:spPr>
            <a:xfrm>
              <a:off x="1773408" y="1572768"/>
              <a:ext cx="1939583" cy="867776"/>
            </a:xfrm>
            <a:custGeom>
              <a:avLst/>
              <a:gdLst/>
              <a:ahLst/>
              <a:cxnLst/>
              <a:rect l="l" t="t" r="r" b="b"/>
              <a:pathLst>
                <a:path w="1939583" h="867776">
                  <a:moveTo>
                    <a:pt x="1939583" y="843027"/>
                  </a:moveTo>
                  <a:lnTo>
                    <a:pt x="1916478" y="728607"/>
                  </a:lnTo>
                  <a:lnTo>
                    <a:pt x="1879922" y="617750"/>
                  </a:lnTo>
                  <a:lnTo>
                    <a:pt x="1830437" y="512030"/>
                  </a:lnTo>
                  <a:lnTo>
                    <a:pt x="1768724" y="412948"/>
                  </a:lnTo>
                  <a:lnTo>
                    <a:pt x="1695661" y="321913"/>
                  </a:lnTo>
                  <a:lnTo>
                    <a:pt x="1612285" y="240218"/>
                  </a:lnTo>
                  <a:lnTo>
                    <a:pt x="1519781" y="169023"/>
                  </a:lnTo>
                  <a:lnTo>
                    <a:pt x="1419463" y="109341"/>
                  </a:lnTo>
                  <a:lnTo>
                    <a:pt x="1312757" y="62018"/>
                  </a:lnTo>
                  <a:lnTo>
                    <a:pt x="1201179" y="27727"/>
                  </a:lnTo>
                  <a:lnTo>
                    <a:pt x="1086313" y="6956"/>
                  </a:lnTo>
                  <a:lnTo>
                    <a:pt x="969792" y="0"/>
                  </a:lnTo>
                  <a:lnTo>
                    <a:pt x="853270" y="6956"/>
                  </a:lnTo>
                  <a:lnTo>
                    <a:pt x="738404" y="27727"/>
                  </a:lnTo>
                  <a:lnTo>
                    <a:pt x="626826" y="62018"/>
                  </a:lnTo>
                  <a:lnTo>
                    <a:pt x="520120" y="109341"/>
                  </a:lnTo>
                  <a:lnTo>
                    <a:pt x="419802" y="169023"/>
                  </a:lnTo>
                  <a:lnTo>
                    <a:pt x="327298" y="240218"/>
                  </a:lnTo>
                  <a:lnTo>
                    <a:pt x="243922" y="321913"/>
                  </a:lnTo>
                  <a:lnTo>
                    <a:pt x="170859" y="412948"/>
                  </a:lnTo>
                  <a:lnTo>
                    <a:pt x="109146" y="512030"/>
                  </a:lnTo>
                  <a:lnTo>
                    <a:pt x="59661" y="617750"/>
                  </a:lnTo>
                  <a:lnTo>
                    <a:pt x="23105" y="728607"/>
                  </a:lnTo>
                  <a:lnTo>
                    <a:pt x="0" y="843027"/>
                  </a:lnTo>
                  <a:lnTo>
                    <a:pt x="176102" y="867776"/>
                  </a:lnTo>
                  <a:lnTo>
                    <a:pt x="195012" y="774134"/>
                  </a:lnTo>
                  <a:lnTo>
                    <a:pt x="224929" y="683407"/>
                  </a:lnTo>
                  <a:lnTo>
                    <a:pt x="265428" y="596884"/>
                  </a:lnTo>
                  <a:lnTo>
                    <a:pt x="315935" y="515794"/>
                  </a:lnTo>
                  <a:lnTo>
                    <a:pt x="375731" y="441290"/>
                  </a:lnTo>
                  <a:lnTo>
                    <a:pt x="443967" y="374430"/>
                  </a:lnTo>
                  <a:lnTo>
                    <a:pt x="519673" y="316163"/>
                  </a:lnTo>
                  <a:lnTo>
                    <a:pt x="601774" y="267318"/>
                  </a:lnTo>
                  <a:lnTo>
                    <a:pt x="689104" y="228589"/>
                  </a:lnTo>
                  <a:lnTo>
                    <a:pt x="780421" y="200525"/>
                  </a:lnTo>
                  <a:lnTo>
                    <a:pt x="874429" y="183525"/>
                  </a:lnTo>
                  <a:lnTo>
                    <a:pt x="969792" y="177832"/>
                  </a:lnTo>
                  <a:lnTo>
                    <a:pt x="1065154" y="183525"/>
                  </a:lnTo>
                  <a:lnTo>
                    <a:pt x="1159162" y="200525"/>
                  </a:lnTo>
                  <a:lnTo>
                    <a:pt x="1250479" y="228589"/>
                  </a:lnTo>
                  <a:lnTo>
                    <a:pt x="1337809" y="267318"/>
                  </a:lnTo>
                  <a:lnTo>
                    <a:pt x="1419910" y="316163"/>
                  </a:lnTo>
                  <a:lnTo>
                    <a:pt x="1495616" y="374430"/>
                  </a:lnTo>
                  <a:lnTo>
                    <a:pt x="1563852" y="441290"/>
                  </a:lnTo>
                  <a:lnTo>
                    <a:pt x="1623648" y="515794"/>
                  </a:lnTo>
                  <a:lnTo>
                    <a:pt x="1674155" y="596884"/>
                  </a:lnTo>
                  <a:lnTo>
                    <a:pt x="1714654" y="683407"/>
                  </a:lnTo>
                  <a:lnTo>
                    <a:pt x="1744571" y="774134"/>
                  </a:lnTo>
                  <a:lnTo>
                    <a:pt x="1763481" y="867776"/>
                  </a:lnTo>
                  <a:close/>
                </a:path>
              </a:pathLst>
            </a:custGeom>
            <a:solidFill>
              <a:srgbClr val="3A3F47"/>
            </a:solidFill>
            <a:ln w="19050">
              <a:solidFill>
                <a:srgbClr val="9AA0A6"/>
              </a:solidFill>
            </a:ln>
          </p:spPr>
          <p:txBody>
            <a:bodyPr rtlCol="0" anchor="ctr"/>
            <a:lstStyle/>
            <a:p>
              <a:pPr algn="ctr"/>
              <a:endParaRPr/>
            </a:p>
          </p:txBody>
        </p:sp>
        <p:sp>
          <p:nvSpPr>
            <p:cNvPr id="10" name="ear cup"/>
            <p:cNvSpPr/>
            <p:nvPr/>
          </p:nvSpPr>
          <p:spPr>
            <a:xfrm>
              <a:off x="1714911" y="2334463"/>
              <a:ext cx="279806" cy="528523"/>
            </a:xfrm>
            <a:prstGeom prst="roundRect">
              <a:avLst>
                <a:gd name="adj" fmla="val 38888"/>
              </a:avLst>
            </a:prstGeom>
            <a:solidFill>
              <a:srgbClr val="3A3F47"/>
            </a:solidFill>
            <a:ln w="19050">
              <a:solidFill>
                <a:srgbClr val="9AA0A6"/>
              </a:solidFill>
            </a:ln>
          </p:spPr>
          <p:txBody>
            <a:bodyPr rtlCol="0" anchor="ctr"/>
            <a:lstStyle/>
            <a:p>
              <a:pPr algn="ctr"/>
              <a:endParaRPr/>
            </a:p>
          </p:txBody>
        </p:sp>
        <p:sp>
          <p:nvSpPr>
            <p:cNvPr id="11" name="ear cup"/>
            <p:cNvSpPr/>
            <p:nvPr/>
          </p:nvSpPr>
          <p:spPr>
            <a:xfrm>
              <a:off x="3491682" y="2334463"/>
              <a:ext cx="279806" cy="528523"/>
            </a:xfrm>
            <a:prstGeom prst="roundRect">
              <a:avLst>
                <a:gd name="adj" fmla="val 38888"/>
              </a:avLst>
            </a:prstGeom>
            <a:solidFill>
              <a:srgbClr val="3A3F47"/>
            </a:solidFill>
            <a:ln w="19050">
              <a:solidFill>
                <a:srgbClr val="9AA0A6"/>
              </a:solidFill>
            </a:ln>
          </p:spPr>
          <p:txBody>
            <a:bodyPr rtlCol="0" anchor="ctr"/>
            <a:lstStyle/>
            <a:p>
              <a:pPr algn="ctr"/>
              <a:endParaRPr/>
            </a:p>
          </p:txBody>
        </p:sp>
        <p:sp>
          <p:nvSpPr>
            <p:cNvPr id="12" name="mic boom"/>
            <p:cNvSpPr/>
            <p:nvPr/>
          </p:nvSpPr>
          <p:spPr>
            <a:xfrm>
              <a:off x="1864918" y="2831896"/>
              <a:ext cx="614020" cy="365541"/>
            </a:xfrm>
            <a:custGeom>
              <a:avLst/>
              <a:gdLst/>
              <a:ahLst/>
              <a:cxnLst/>
              <a:rect l="l" t="t" r="r" b="b"/>
              <a:pathLst>
                <a:path w="614020" h="365541">
                  <a:moveTo>
                    <a:pt x="0" y="0"/>
                  </a:moveTo>
                  <a:lnTo>
                    <a:pt x="783" y="32022"/>
                  </a:lnTo>
                  <a:lnTo>
                    <a:pt x="3133" y="62576"/>
                  </a:lnTo>
                  <a:lnTo>
                    <a:pt x="7049" y="91663"/>
                  </a:lnTo>
                  <a:lnTo>
                    <a:pt x="12531" y="119283"/>
                  </a:lnTo>
                  <a:lnTo>
                    <a:pt x="19580" y="145435"/>
                  </a:lnTo>
                  <a:lnTo>
                    <a:pt x="28195" y="170121"/>
                  </a:lnTo>
                  <a:lnTo>
                    <a:pt x="38377" y="193339"/>
                  </a:lnTo>
                  <a:lnTo>
                    <a:pt x="50124" y="215090"/>
                  </a:lnTo>
                  <a:lnTo>
                    <a:pt x="63439" y="235373"/>
                  </a:lnTo>
                  <a:lnTo>
                    <a:pt x="78319" y="254190"/>
                  </a:lnTo>
                  <a:lnTo>
                    <a:pt x="94766" y="271539"/>
                  </a:lnTo>
                  <a:lnTo>
                    <a:pt x="112779" y="287420"/>
                  </a:lnTo>
                  <a:lnTo>
                    <a:pt x="132359" y="301835"/>
                  </a:lnTo>
                  <a:lnTo>
                    <a:pt x="153505" y="314783"/>
                  </a:lnTo>
                  <a:lnTo>
                    <a:pt x="176218" y="326263"/>
                  </a:lnTo>
                  <a:lnTo>
                    <a:pt x="200496" y="336276"/>
                  </a:lnTo>
                  <a:lnTo>
                    <a:pt x="226342" y="344821"/>
                  </a:lnTo>
                  <a:lnTo>
                    <a:pt x="253753" y="351900"/>
                  </a:lnTo>
                  <a:lnTo>
                    <a:pt x="282731" y="357511"/>
                  </a:lnTo>
                  <a:lnTo>
                    <a:pt x="313276" y="361655"/>
                  </a:lnTo>
                  <a:lnTo>
                    <a:pt x="345386" y="364332"/>
                  </a:lnTo>
                  <a:lnTo>
                    <a:pt x="379063" y="365541"/>
                  </a:lnTo>
                  <a:lnTo>
                    <a:pt x="414307" y="365283"/>
                  </a:lnTo>
                  <a:lnTo>
                    <a:pt x="451117" y="363558"/>
                  </a:lnTo>
                  <a:lnTo>
                    <a:pt x="489493" y="360366"/>
                  </a:lnTo>
                  <a:lnTo>
                    <a:pt x="529436" y="355707"/>
                  </a:lnTo>
                  <a:lnTo>
                    <a:pt x="570945" y="349580"/>
                  </a:lnTo>
                  <a:lnTo>
                    <a:pt x="614020" y="341986"/>
                  </a:lnTo>
                </a:path>
              </a:pathLst>
            </a:custGeom>
            <a:noFill/>
            <a:ln w="69088">
              <a:solidFill>
                <a:srgbClr val="9AA0A6"/>
              </a:solidFill>
            </a:ln>
          </p:spPr>
          <p:txBody>
            <a:bodyPr rtlCol="0" anchor="ctr"/>
            <a:lstStyle/>
            <a:p>
              <a:pPr algn="ctr"/>
              <a:endParaRPr/>
            </a:p>
          </p:txBody>
        </p:sp>
        <p:sp>
          <p:nvSpPr>
            <p:cNvPr id="13" name="mic tip"/>
            <p:cNvSpPr/>
            <p:nvPr/>
          </p:nvSpPr>
          <p:spPr>
            <a:xfrm>
              <a:off x="2385669" y="3080613"/>
              <a:ext cx="186537" cy="186537"/>
            </a:xfrm>
            <a:prstGeom prst="ellipse">
              <a:avLst/>
            </a:prstGeom>
            <a:solidFill>
              <a:srgbClr val="9AA0A6"/>
            </a:solidFill>
            <a:ln>
              <a:noFill/>
            </a:ln>
          </p:spPr>
          <p:txBody>
            <a:bodyPr rtlCol="0" anchor="ctr"/>
            <a:lstStyle/>
            <a:p>
              <a:pPr algn="ctr"/>
              <a:endParaRPr/>
            </a:p>
          </p:txBody>
        </p:sp>
      </p:grpSp>
      <p:sp>
        <p:nvSpPr>
          <p:cNvPr id="14" name="PLACEHOLDER LABEL"/>
          <p:cNvSpPr txBox="1"/>
          <p:nvPr/>
        </p:nvSpPr>
        <p:spPr>
          <a:xfrm>
            <a:off x="777240" y="4919472"/>
            <a:ext cx="3931920" cy="548640"/>
          </a:xfrm>
          <a:prstGeom prst="rect">
            <a:avLst/>
          </a:prstGeom>
          <a:noFill/>
        </p:spPr>
        <p:txBody>
          <a:bodyPr wrap="square" lIns="18288" tIns="9144" rIns="18288" bIns="9144" anchor="ctr">
            <a:noAutofit/>
          </a:bodyPr>
          <a:lstStyle/>
          <a:p>
            <a:pPr algn="ctr"/>
            <a:r>
              <a:rPr lang="en-GB" sz="1400" b="0" i="0">
                <a:solidFill>
                  <a:srgbClr val="A9B0B8"/>
                </a:solidFill>
                <a:latin typeface="Arial"/>
              </a:rPr>
              <a:t>Placeholder avatar. Her look is undecided (OQ15).</a:t>
            </a:r>
          </a:p>
        </p:txBody>
      </p:sp>
      <p:grpSp>
        <p:nvGrpSpPr>
          <p:cNvPr id="15" name="Trait tags" descr="Four small trait tags for the guide: Warm, Bubbly, Expressive, Good teacher."/>
          <p:cNvGrpSpPr/>
          <p:nvPr/>
        </p:nvGrpSpPr>
        <p:grpSpPr>
          <a:xfrm>
            <a:off x="5394960" y="1463040"/>
            <a:ext cx="4289027" cy="1389888"/>
            <a:chOff x="5394960" y="1463040"/>
            <a:chExt cx="4289027" cy="1389888"/>
          </a:xfrm>
        </p:grpSpPr>
        <p:sp>
          <p:nvSpPr>
            <p:cNvPr id="16" name="trait tag"/>
            <p:cNvSpPr/>
            <p:nvPr/>
          </p:nvSpPr>
          <p:spPr>
            <a:xfrm>
              <a:off x="5394960" y="1463040"/>
              <a:ext cx="1244897" cy="566928"/>
            </a:xfrm>
            <a:prstGeom prst="roundRect">
              <a:avLst>
                <a:gd name="adj" fmla="val 50000"/>
              </a:avLst>
            </a:prstGeom>
            <a:solidFill>
              <a:srgbClr val="2B2F36"/>
            </a:solidFill>
            <a:ln w="31750">
              <a:solidFill>
                <a:srgbClr val="F28C28"/>
              </a:solidFill>
            </a:ln>
          </p:spPr>
          <p:txBody>
            <a:bodyPr wrap="square" lIns="45720" tIns="0" rIns="45720" bIns="0" rtlCol="0" anchor="ctr">
              <a:noAutofit/>
            </a:bodyPr>
            <a:lstStyle/>
            <a:p>
              <a:pPr algn="ctr"/>
              <a:r>
                <a:rPr lang="en-GB" sz="2000" b="1" i="0">
                  <a:solidFill>
                    <a:srgbClr val="F2F2F2"/>
                  </a:solidFill>
                  <a:latin typeface="Arial"/>
                </a:rPr>
                <a:t>Warm</a:t>
              </a:r>
            </a:p>
          </p:txBody>
        </p:sp>
        <p:sp>
          <p:nvSpPr>
            <p:cNvPr id="17" name="trait tag"/>
            <p:cNvSpPr/>
            <p:nvPr/>
          </p:nvSpPr>
          <p:spPr>
            <a:xfrm>
              <a:off x="6949440" y="1463040"/>
              <a:ext cx="1409382" cy="566928"/>
            </a:xfrm>
            <a:prstGeom prst="roundRect">
              <a:avLst>
                <a:gd name="adj" fmla="val 50000"/>
              </a:avLst>
            </a:prstGeom>
            <a:solidFill>
              <a:srgbClr val="2B2F36"/>
            </a:solidFill>
            <a:ln w="31750">
              <a:solidFill>
                <a:srgbClr val="F28C28"/>
              </a:solidFill>
            </a:ln>
          </p:spPr>
          <p:txBody>
            <a:bodyPr wrap="square" lIns="45720" tIns="0" rIns="45720" bIns="0" rtlCol="0" anchor="ctr">
              <a:noAutofit/>
            </a:bodyPr>
            <a:lstStyle/>
            <a:p>
              <a:pPr algn="ctr"/>
              <a:r>
                <a:rPr lang="en-GB" sz="2000" b="1" i="0">
                  <a:solidFill>
                    <a:srgbClr val="F2F2F2"/>
                  </a:solidFill>
                  <a:latin typeface="Arial"/>
                </a:rPr>
                <a:t>Bubbly</a:t>
              </a:r>
            </a:p>
          </p:txBody>
        </p:sp>
        <p:sp>
          <p:nvSpPr>
            <p:cNvPr id="18" name="trait tag"/>
            <p:cNvSpPr/>
            <p:nvPr/>
          </p:nvSpPr>
          <p:spPr>
            <a:xfrm>
              <a:off x="5394960" y="2286000"/>
              <a:ext cx="1890236" cy="566928"/>
            </a:xfrm>
            <a:prstGeom prst="roundRect">
              <a:avLst>
                <a:gd name="adj" fmla="val 50000"/>
              </a:avLst>
            </a:prstGeom>
            <a:solidFill>
              <a:srgbClr val="2B2F36"/>
            </a:solidFill>
            <a:ln w="31750">
              <a:solidFill>
                <a:srgbClr val="F28C28"/>
              </a:solidFill>
            </a:ln>
          </p:spPr>
          <p:txBody>
            <a:bodyPr wrap="square" lIns="45720" tIns="0" rIns="45720" bIns="0" rtlCol="0" anchor="ctr">
              <a:noAutofit/>
            </a:bodyPr>
            <a:lstStyle/>
            <a:p>
              <a:pPr algn="ctr"/>
              <a:r>
                <a:rPr lang="en-GB" sz="2000" b="1" i="0">
                  <a:solidFill>
                    <a:srgbClr val="F2F2F2"/>
                  </a:solidFill>
                  <a:latin typeface="Arial"/>
                </a:rPr>
                <a:t>Expressive</a:t>
              </a:r>
            </a:p>
          </p:txBody>
        </p:sp>
        <p:sp>
          <p:nvSpPr>
            <p:cNvPr id="19" name="trait tag"/>
            <p:cNvSpPr/>
            <p:nvPr/>
          </p:nvSpPr>
          <p:spPr>
            <a:xfrm>
              <a:off x="7498079" y="2286000"/>
              <a:ext cx="2185908" cy="566928"/>
            </a:xfrm>
            <a:prstGeom prst="roundRect">
              <a:avLst>
                <a:gd name="adj" fmla="val 50000"/>
              </a:avLst>
            </a:prstGeom>
            <a:solidFill>
              <a:srgbClr val="2B2F36"/>
            </a:solidFill>
            <a:ln w="31750">
              <a:solidFill>
                <a:srgbClr val="F28C28"/>
              </a:solidFill>
            </a:ln>
          </p:spPr>
          <p:txBody>
            <a:bodyPr wrap="square" lIns="45720" tIns="0" rIns="45720" bIns="0" rtlCol="0" anchor="ctr">
              <a:noAutofit/>
            </a:bodyPr>
            <a:lstStyle/>
            <a:p>
              <a:pPr algn="ctr"/>
              <a:r>
                <a:rPr lang="en-GB" sz="2000" b="1" i="0">
                  <a:solidFill>
                    <a:srgbClr val="F2F2F2"/>
                  </a:solidFill>
                  <a:latin typeface="Arial"/>
                </a:rPr>
                <a:t>Good teacher</a:t>
              </a:r>
            </a:p>
          </p:txBody>
        </p:sp>
      </p:grpSp>
      <p:grpSp>
        <p:nvGrpSpPr>
          <p:cNvPr id="20" name="Voice note" descr="A note with a microphone icon: voiced by the project's creator."/>
          <p:cNvGrpSpPr/>
          <p:nvPr/>
        </p:nvGrpSpPr>
        <p:grpSpPr>
          <a:xfrm>
            <a:off x="5394960" y="3200400"/>
            <a:ext cx="6245352" cy="1005840"/>
            <a:chOff x="5394960" y="3200400"/>
            <a:chExt cx="6245352" cy="1005840"/>
          </a:xfrm>
        </p:grpSpPr>
        <p:sp>
          <p:nvSpPr>
            <p:cNvPr id="21" name="note card"/>
            <p:cNvSpPr/>
            <p:nvPr/>
          </p:nvSpPr>
          <p:spPr>
            <a:xfrm>
              <a:off x="5394960" y="3200400"/>
              <a:ext cx="6245352" cy="1005840"/>
            </a:xfrm>
            <a:prstGeom prst="roundRect">
              <a:avLst>
                <a:gd name="adj" fmla="val 7272"/>
              </a:avLst>
            </a:prstGeom>
            <a:solidFill>
              <a:srgbClr val="2B2F36"/>
            </a:solidFill>
            <a:ln>
              <a:noFill/>
            </a:ln>
          </p:spPr>
          <p:txBody>
            <a:bodyPr rtlCol="0" anchor="ctr"/>
            <a:lstStyle/>
            <a:p>
              <a:pPr algn="ctr"/>
              <a:endParaRPr/>
            </a:p>
          </p:txBody>
        </p:sp>
        <p:sp>
          <p:nvSpPr>
            <p:cNvPr id="22" name="mic head"/>
            <p:cNvSpPr/>
            <p:nvPr/>
          </p:nvSpPr>
          <p:spPr>
            <a:xfrm>
              <a:off x="5864961" y="3268980"/>
              <a:ext cx="248716" cy="466344"/>
            </a:xfrm>
            <a:prstGeom prst="roundRect">
              <a:avLst>
                <a:gd name="adj" fmla="val 50000"/>
              </a:avLst>
            </a:prstGeom>
            <a:solidFill>
              <a:srgbClr val="F28C28"/>
            </a:solidFill>
            <a:ln>
              <a:noFill/>
            </a:ln>
          </p:spPr>
          <p:txBody>
            <a:bodyPr rtlCol="0" anchor="ctr"/>
            <a:lstStyle/>
            <a:p>
              <a:pPr algn="ctr"/>
              <a:endParaRPr/>
            </a:p>
          </p:txBody>
        </p:sp>
        <p:sp>
          <p:nvSpPr>
            <p:cNvPr id="23" name="mic cradle"/>
            <p:cNvSpPr/>
            <p:nvPr/>
          </p:nvSpPr>
          <p:spPr>
            <a:xfrm>
              <a:off x="5748375" y="3626510"/>
              <a:ext cx="481889" cy="240944"/>
            </a:xfrm>
            <a:custGeom>
              <a:avLst/>
              <a:gdLst/>
              <a:ahLst/>
              <a:cxnLst/>
              <a:rect l="l" t="t" r="r" b="b"/>
              <a:pathLst>
                <a:path w="481889" h="240944">
                  <a:moveTo>
                    <a:pt x="0" y="0"/>
                  </a:moveTo>
                  <a:lnTo>
                    <a:pt x="2061" y="31449"/>
                  </a:lnTo>
                  <a:lnTo>
                    <a:pt x="8210" y="62361"/>
                  </a:lnTo>
                  <a:lnTo>
                    <a:pt x="18341" y="92205"/>
                  </a:lnTo>
                  <a:lnTo>
                    <a:pt x="32281" y="120472"/>
                  </a:lnTo>
                  <a:lnTo>
                    <a:pt x="49790" y="146678"/>
                  </a:lnTo>
                  <a:lnTo>
                    <a:pt x="70571" y="170373"/>
                  </a:lnTo>
                  <a:lnTo>
                    <a:pt x="94267" y="191154"/>
                  </a:lnTo>
                  <a:lnTo>
                    <a:pt x="120472" y="208664"/>
                  </a:lnTo>
                  <a:lnTo>
                    <a:pt x="148739" y="222603"/>
                  </a:lnTo>
                  <a:lnTo>
                    <a:pt x="178584" y="232734"/>
                  </a:lnTo>
                  <a:lnTo>
                    <a:pt x="209495" y="238883"/>
                  </a:lnTo>
                  <a:lnTo>
                    <a:pt x="240945" y="240944"/>
                  </a:lnTo>
                  <a:lnTo>
                    <a:pt x="272394" y="238883"/>
                  </a:lnTo>
                  <a:lnTo>
                    <a:pt x="303305" y="232734"/>
                  </a:lnTo>
                  <a:lnTo>
                    <a:pt x="333150" y="222603"/>
                  </a:lnTo>
                  <a:lnTo>
                    <a:pt x="361417" y="208664"/>
                  </a:lnTo>
                  <a:lnTo>
                    <a:pt x="387622" y="191154"/>
                  </a:lnTo>
                  <a:lnTo>
                    <a:pt x="411318" y="170373"/>
                  </a:lnTo>
                  <a:lnTo>
                    <a:pt x="432099" y="146678"/>
                  </a:lnTo>
                  <a:lnTo>
                    <a:pt x="449608" y="120472"/>
                  </a:lnTo>
                  <a:lnTo>
                    <a:pt x="463548" y="92205"/>
                  </a:lnTo>
                  <a:lnTo>
                    <a:pt x="473679" y="62361"/>
                  </a:lnTo>
                  <a:lnTo>
                    <a:pt x="479828" y="31449"/>
                  </a:lnTo>
                  <a:lnTo>
                    <a:pt x="481889" y="0"/>
                  </a:lnTo>
                  <a:lnTo>
                    <a:pt x="419710" y="0"/>
                  </a:lnTo>
                  <a:lnTo>
                    <a:pt x="418180" y="23333"/>
                  </a:lnTo>
                  <a:lnTo>
                    <a:pt x="413618" y="46268"/>
                  </a:lnTo>
                  <a:lnTo>
                    <a:pt x="406102" y="68410"/>
                  </a:lnTo>
                  <a:lnTo>
                    <a:pt x="395760" y="89383"/>
                  </a:lnTo>
                  <a:lnTo>
                    <a:pt x="382768" y="108825"/>
                  </a:lnTo>
                  <a:lnTo>
                    <a:pt x="367351" y="126406"/>
                  </a:lnTo>
                  <a:lnTo>
                    <a:pt x="349770" y="141824"/>
                  </a:lnTo>
                  <a:lnTo>
                    <a:pt x="330327" y="154815"/>
                  </a:lnTo>
                  <a:lnTo>
                    <a:pt x="309355" y="165157"/>
                  </a:lnTo>
                  <a:lnTo>
                    <a:pt x="287212" y="172674"/>
                  </a:lnTo>
                  <a:lnTo>
                    <a:pt x="264278" y="177236"/>
                  </a:lnTo>
                  <a:lnTo>
                    <a:pt x="240945" y="178765"/>
                  </a:lnTo>
                  <a:lnTo>
                    <a:pt x="217611" y="177236"/>
                  </a:lnTo>
                  <a:lnTo>
                    <a:pt x="194677" y="172674"/>
                  </a:lnTo>
                  <a:lnTo>
                    <a:pt x="172534" y="165157"/>
                  </a:lnTo>
                  <a:lnTo>
                    <a:pt x="151562" y="154815"/>
                  </a:lnTo>
                  <a:lnTo>
                    <a:pt x="132119" y="141824"/>
                  </a:lnTo>
                  <a:lnTo>
                    <a:pt x="114538" y="126406"/>
                  </a:lnTo>
                  <a:lnTo>
                    <a:pt x="99121" y="108825"/>
                  </a:lnTo>
                  <a:lnTo>
                    <a:pt x="86129" y="89383"/>
                  </a:lnTo>
                  <a:lnTo>
                    <a:pt x="75787" y="68410"/>
                  </a:lnTo>
                  <a:lnTo>
                    <a:pt x="68271" y="46268"/>
                  </a:lnTo>
                  <a:lnTo>
                    <a:pt x="63709" y="23333"/>
                  </a:lnTo>
                  <a:lnTo>
                    <a:pt x="62179" y="0"/>
                  </a:lnTo>
                  <a:close/>
                </a:path>
              </a:pathLst>
            </a:custGeom>
            <a:solidFill>
              <a:srgbClr val="F28C28"/>
            </a:solidFill>
            <a:ln>
              <a:noFill/>
            </a:ln>
          </p:spPr>
          <p:txBody>
            <a:bodyPr rtlCol="0" anchor="ctr"/>
            <a:lstStyle/>
            <a:p>
              <a:pPr algn="ctr"/>
              <a:endParaRPr/>
            </a:p>
          </p:txBody>
        </p:sp>
        <p:sp>
          <p:nvSpPr>
            <p:cNvPr id="24" name="mic stem"/>
            <p:cNvSpPr/>
            <p:nvPr/>
          </p:nvSpPr>
          <p:spPr>
            <a:xfrm>
              <a:off x="5958230" y="3859682"/>
              <a:ext cx="62179" cy="139903"/>
            </a:xfrm>
            <a:prstGeom prst="rect">
              <a:avLst/>
            </a:prstGeom>
            <a:solidFill>
              <a:srgbClr val="F28C28"/>
            </a:solidFill>
            <a:ln>
              <a:noFill/>
            </a:ln>
          </p:spPr>
          <p:txBody>
            <a:bodyPr rtlCol="0" anchor="ctr"/>
            <a:lstStyle/>
            <a:p>
              <a:pPr algn="ctr"/>
              <a:endParaRPr/>
            </a:p>
          </p:txBody>
        </p:sp>
        <p:sp>
          <p:nvSpPr>
            <p:cNvPr id="25" name="mic base"/>
            <p:cNvSpPr/>
            <p:nvPr/>
          </p:nvSpPr>
          <p:spPr>
            <a:xfrm>
              <a:off x="5818327" y="3999585"/>
              <a:ext cx="341985" cy="54406"/>
            </a:xfrm>
            <a:prstGeom prst="rect">
              <a:avLst/>
            </a:prstGeom>
            <a:solidFill>
              <a:srgbClr val="F28C28"/>
            </a:solidFill>
            <a:ln>
              <a:noFill/>
            </a:ln>
          </p:spPr>
          <p:txBody>
            <a:bodyPr rtlCol="0" anchor="ctr"/>
            <a:lstStyle/>
            <a:p>
              <a:pPr algn="ctr"/>
              <a:endParaRPr/>
            </a:p>
          </p:txBody>
        </p:sp>
        <p:sp>
          <p:nvSpPr>
            <p:cNvPr id="26" name="NOTE"/>
            <p:cNvSpPr txBox="1"/>
            <p:nvPr/>
          </p:nvSpPr>
          <p:spPr>
            <a:xfrm>
              <a:off x="6583680" y="3200400"/>
              <a:ext cx="4937760" cy="1005840"/>
            </a:xfrm>
            <a:prstGeom prst="rect">
              <a:avLst/>
            </a:prstGeom>
            <a:noFill/>
          </p:spPr>
          <p:txBody>
            <a:bodyPr wrap="square" lIns="18288" tIns="9144" rIns="18288" bIns="9144" anchor="ctr">
              <a:noAutofit/>
            </a:bodyPr>
            <a:lstStyle/>
            <a:p>
              <a:pPr algn="l"/>
              <a:r>
                <a:rPr lang="en-GB" sz="2000" b="0" i="0">
                  <a:solidFill>
                    <a:srgbClr val="F2F2F2"/>
                  </a:solidFill>
                  <a:latin typeface="Arial"/>
                </a:rPr>
                <a:t>Voiced by the project's creator.</a:t>
              </a:r>
            </a:p>
          </p:txBody>
        </p:sp>
      </p:grpSp>
      <p:sp>
        <p:nvSpPr>
          <p:cNvPr id="27" name="ICHIP"/>
          <p:cNvSpPr/>
          <p:nvPr/>
        </p:nvSpPr>
        <p:spPr>
          <a:xfrm>
            <a:off x="5394960" y="4663440"/>
            <a:ext cx="3215481"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Name and look: undecided (OQ15)</a:t>
            </a:r>
          </a:p>
        </p:txBody>
      </p:sp>
      <p:sp>
        <p:nvSpPr>
          <p:cNvPr id="28"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9"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0"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Early Locomotion has its own friendly railway guide. She loves trains and loves teaching.</a:t>
            </a:r>
          </a:p>
        </p:txBody>
      </p:sp>
      <p:sp>
        <p:nvSpPr>
          <p:cNvPr id="31"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3</a:t>
            </a:r>
          </a:p>
        </p:txBody>
      </p:sp>
    </p:spTree>
    <p:extLst>
      <p:ext uri="{BB962C8B-B14F-4D97-AF65-F5344CB8AC3E}">
        <p14:creationId xmlns:p14="http://schemas.microsoft.com/office/powerpoint/2010/main" val="19391326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4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6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8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100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nodeType="withEffect">
                                  <p:stCondLst>
                                    <p:cond delay="120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nodeType="withEffect">
                                  <p:stCondLst>
                                    <p:cond delay="140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par>
                                <p:cTn id="29" presetID="10" presetClass="entr" presetSubtype="0" fill="hold" nodeType="withEffect">
                                  <p:stCondLst>
                                    <p:cond delay="160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Not the game's ADA</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Two speech bubbles" descr="Two speech bubbles. On the left, a cool grey bubble: ADA is colder and corporate. On the right, a warm orange bubble: the guide is warm and friendly. They are separate characters."/>
          <p:cNvGrpSpPr/>
          <p:nvPr/>
        </p:nvGrpSpPr>
        <p:grpSpPr>
          <a:xfrm>
            <a:off x="822960" y="2103120"/>
            <a:ext cx="10515600" cy="3200400"/>
            <a:chOff x="822960" y="2103120"/>
            <a:chExt cx="10515600" cy="3200400"/>
          </a:xfrm>
        </p:grpSpPr>
        <p:sp>
          <p:nvSpPr>
            <p:cNvPr id="5" name="ADA bubble body"/>
            <p:cNvSpPr/>
            <p:nvPr/>
          </p:nvSpPr>
          <p:spPr>
            <a:xfrm>
              <a:off x="822960" y="2103120"/>
              <a:ext cx="4754880" cy="1737360"/>
            </a:xfrm>
            <a:prstGeom prst="roundRect">
              <a:avLst>
                <a:gd name="adj" fmla="val 15789"/>
              </a:avLst>
            </a:prstGeom>
            <a:solidFill>
              <a:srgbClr val="5B6672"/>
            </a:solidFill>
            <a:ln>
              <a:noFill/>
            </a:ln>
          </p:spPr>
          <p:txBody>
            <a:bodyPr wrap="square" lIns="109728" rIns="109728" rtlCol="0" anchor="ctr">
              <a:noAutofit/>
            </a:bodyPr>
            <a:lstStyle/>
            <a:p>
              <a:pPr algn="ctr"/>
              <a:r>
                <a:rPr lang="en-GB" sz="2600" b="1" i="0">
                  <a:solidFill>
                    <a:srgbClr val="F2F2F2"/>
                  </a:solidFill>
                  <a:latin typeface="Arial"/>
                </a:rPr>
                <a:t>ADA: colder, corporate</a:t>
              </a:r>
            </a:p>
          </p:txBody>
        </p:sp>
        <p:sp>
          <p:nvSpPr>
            <p:cNvPr id="6" name="ADA bubble tail"/>
            <p:cNvSpPr/>
            <p:nvPr/>
          </p:nvSpPr>
          <p:spPr>
            <a:xfrm>
              <a:off x="1325880" y="3822191"/>
              <a:ext cx="365760" cy="475488"/>
            </a:xfrm>
            <a:custGeom>
              <a:avLst/>
              <a:gdLst/>
              <a:ahLst/>
              <a:cxnLst/>
              <a:rect l="l" t="t" r="r" b="b"/>
              <a:pathLst>
                <a:path w="365760" h="475488">
                  <a:moveTo>
                    <a:pt x="0" y="0"/>
                  </a:moveTo>
                  <a:lnTo>
                    <a:pt x="365760" y="0"/>
                  </a:lnTo>
                  <a:lnTo>
                    <a:pt x="54864" y="475488"/>
                  </a:lnTo>
                  <a:close/>
                </a:path>
              </a:pathLst>
            </a:custGeom>
            <a:solidFill>
              <a:srgbClr val="5B6672"/>
            </a:solidFill>
            <a:ln>
              <a:noFill/>
            </a:ln>
          </p:spPr>
          <p:txBody>
            <a:bodyPr rtlCol="0" anchor="ctr"/>
            <a:lstStyle/>
            <a:p>
              <a:pPr algn="ctr"/>
              <a:endParaRPr/>
            </a:p>
          </p:txBody>
        </p:sp>
        <p:sp>
          <p:nvSpPr>
            <p:cNvPr id="7" name="guide bubble body"/>
            <p:cNvSpPr/>
            <p:nvPr/>
          </p:nvSpPr>
          <p:spPr>
            <a:xfrm>
              <a:off x="6583680" y="2103120"/>
              <a:ext cx="4754880" cy="1737360"/>
            </a:xfrm>
            <a:prstGeom prst="roundRect">
              <a:avLst>
                <a:gd name="adj" fmla="val 15789"/>
              </a:avLst>
            </a:prstGeom>
            <a:solidFill>
              <a:srgbClr val="F28C28"/>
            </a:solidFill>
            <a:ln>
              <a:noFill/>
            </a:ln>
          </p:spPr>
          <p:txBody>
            <a:bodyPr wrap="square" lIns="109728" rIns="109728" rtlCol="0" anchor="ctr">
              <a:noAutofit/>
            </a:bodyPr>
            <a:lstStyle/>
            <a:p>
              <a:pPr algn="ctr"/>
              <a:r>
                <a:rPr lang="en-GB" sz="2600" b="1" i="0">
                  <a:solidFill>
                    <a:srgbClr val="101418"/>
                  </a:solidFill>
                  <a:latin typeface="Arial"/>
                </a:rPr>
                <a:t>The guide: warm, friendly</a:t>
              </a:r>
            </a:p>
          </p:txBody>
        </p:sp>
        <p:sp>
          <p:nvSpPr>
            <p:cNvPr id="8" name="guide bubble tail"/>
            <p:cNvSpPr/>
            <p:nvPr/>
          </p:nvSpPr>
          <p:spPr>
            <a:xfrm>
              <a:off x="10469880" y="3822191"/>
              <a:ext cx="365760" cy="475488"/>
            </a:xfrm>
            <a:custGeom>
              <a:avLst/>
              <a:gdLst/>
              <a:ahLst/>
              <a:cxnLst/>
              <a:rect l="l" t="t" r="r" b="b"/>
              <a:pathLst>
                <a:path w="365760" h="475488">
                  <a:moveTo>
                    <a:pt x="0" y="0"/>
                  </a:moveTo>
                  <a:lnTo>
                    <a:pt x="365760" y="0"/>
                  </a:lnTo>
                  <a:lnTo>
                    <a:pt x="310896" y="475488"/>
                  </a:lnTo>
                  <a:close/>
                </a:path>
              </a:pathLst>
            </a:custGeom>
            <a:solidFill>
              <a:srgbClr val="F28C28"/>
            </a:solidFill>
            <a:ln>
              <a:noFill/>
            </a:ln>
          </p:spPr>
          <p:txBody>
            <a:bodyPr rtlCol="0" anchor="ctr"/>
            <a:lstStyle/>
            <a:p>
              <a:pPr algn="ctr"/>
              <a:endParaRPr/>
            </a:p>
          </p:txBody>
        </p:sp>
        <p:sp>
          <p:nvSpPr>
            <p:cNvPr id="9" name="ADA dot ring"/>
            <p:cNvSpPr/>
            <p:nvPr/>
          </p:nvSpPr>
          <p:spPr>
            <a:xfrm>
              <a:off x="914400" y="4434840"/>
              <a:ext cx="868680" cy="868680"/>
            </a:xfrm>
            <a:prstGeom prst="ellipse">
              <a:avLst/>
            </a:prstGeom>
            <a:noFill/>
            <a:ln w="76200">
              <a:solidFill>
                <a:srgbClr val="5B6672"/>
              </a:solidFill>
            </a:ln>
          </p:spPr>
          <p:txBody>
            <a:bodyPr rtlCol="0" anchor="ctr"/>
            <a:lstStyle/>
            <a:p>
              <a:pPr algn="ctr"/>
              <a:endParaRPr/>
            </a:p>
          </p:txBody>
        </p:sp>
        <p:sp>
          <p:nvSpPr>
            <p:cNvPr id="10" name="ADA dot"/>
            <p:cNvSpPr/>
            <p:nvPr/>
          </p:nvSpPr>
          <p:spPr>
            <a:xfrm>
              <a:off x="1216152" y="4736592"/>
              <a:ext cx="265176" cy="265176"/>
            </a:xfrm>
            <a:prstGeom prst="ellipse">
              <a:avLst/>
            </a:prstGeom>
            <a:solidFill>
              <a:srgbClr val="5B6672"/>
            </a:solidFill>
            <a:ln>
              <a:noFill/>
            </a:ln>
          </p:spPr>
          <p:txBody>
            <a:bodyPr rtlCol="0" anchor="ctr"/>
            <a:lstStyle/>
            <a:p>
              <a:pPr algn="ctr"/>
              <a:endParaRPr/>
            </a:p>
          </p:txBody>
        </p:sp>
        <p:sp>
          <p:nvSpPr>
            <p:cNvPr id="11" name="guide dot ring"/>
            <p:cNvSpPr/>
            <p:nvPr/>
          </p:nvSpPr>
          <p:spPr>
            <a:xfrm>
              <a:off x="10378440" y="4434840"/>
              <a:ext cx="868680" cy="868680"/>
            </a:xfrm>
            <a:prstGeom prst="ellipse">
              <a:avLst/>
            </a:prstGeom>
            <a:noFill/>
            <a:ln w="76200">
              <a:solidFill>
                <a:srgbClr val="F28C28"/>
              </a:solidFill>
            </a:ln>
          </p:spPr>
          <p:txBody>
            <a:bodyPr rtlCol="0" anchor="ctr"/>
            <a:lstStyle/>
            <a:p>
              <a:pPr algn="ctr"/>
              <a:endParaRPr/>
            </a:p>
          </p:txBody>
        </p:sp>
        <p:sp>
          <p:nvSpPr>
            <p:cNvPr id="12" name="guide dot"/>
            <p:cNvSpPr/>
            <p:nvPr/>
          </p:nvSpPr>
          <p:spPr>
            <a:xfrm>
              <a:off x="10680192" y="4736592"/>
              <a:ext cx="265176" cy="265176"/>
            </a:xfrm>
            <a:prstGeom prst="ellipse">
              <a:avLst/>
            </a:prstGeom>
            <a:solidFill>
              <a:srgbClr val="F28C28"/>
            </a:solidFill>
            <a:ln>
              <a:noFill/>
            </a:ln>
          </p:spPr>
          <p:txBody>
            <a:bodyPr rtlCol="0" anchor="ctr"/>
            <a:lstStyle/>
            <a:p>
              <a:pPr algn="ctr"/>
              <a:endParaRPr/>
            </a:p>
          </p:txBody>
        </p:sp>
        <p:cxnSp>
          <p:nvCxnSpPr>
            <p:cNvPr id="13" name="not equal bar"/>
            <p:cNvCxnSpPr/>
            <p:nvPr/>
          </p:nvCxnSpPr>
          <p:spPr>
            <a:xfrm>
              <a:off x="5742432" y="2743200"/>
              <a:ext cx="676656" cy="0"/>
            </a:xfrm>
            <a:prstGeom prst="line">
              <a:avLst/>
            </a:prstGeom>
            <a:ln w="63500" cap="rnd">
              <a:solidFill>
                <a:srgbClr val="A9B0B8"/>
              </a:solidFill>
            </a:ln>
          </p:spPr>
        </p:cxnSp>
        <p:cxnSp>
          <p:nvCxnSpPr>
            <p:cNvPr id="14" name="not equal bar"/>
            <p:cNvCxnSpPr/>
            <p:nvPr/>
          </p:nvCxnSpPr>
          <p:spPr>
            <a:xfrm>
              <a:off x="5742432" y="3200400"/>
              <a:ext cx="676656" cy="0"/>
            </a:xfrm>
            <a:prstGeom prst="line">
              <a:avLst/>
            </a:prstGeom>
            <a:ln w="63500" cap="rnd">
              <a:solidFill>
                <a:srgbClr val="A9B0B8"/>
              </a:solidFill>
            </a:ln>
          </p:spPr>
        </p:cxnSp>
        <p:cxnSp>
          <p:nvCxnSpPr>
            <p:cNvPr id="15" name="not equal slash"/>
            <p:cNvCxnSpPr/>
            <p:nvPr/>
          </p:nvCxnSpPr>
          <p:spPr>
            <a:xfrm flipV="1">
              <a:off x="5943600" y="2423160"/>
              <a:ext cx="274320" cy="1097280"/>
            </a:xfrm>
            <a:prstGeom prst="line">
              <a:avLst/>
            </a:prstGeom>
            <a:ln w="63500" cap="rnd">
              <a:solidFill>
                <a:srgbClr val="A9B0B8"/>
              </a:solidFill>
            </a:ln>
          </p:spPr>
        </p:cxnSp>
      </p:grpSp>
      <p:sp>
        <p:nvSpPr>
          <p:cNvPr id="16" name="ICHIP"/>
          <p:cNvSpPr/>
          <p:nvPr/>
        </p:nvSpPr>
        <p:spPr>
          <a:xfrm>
            <a:off x="822960" y="1508760"/>
            <a:ext cx="3083520" cy="310896"/>
          </a:xfrm>
          <a:prstGeom prst="roundRect">
            <a:avLst>
              <a:gd name="adj" fmla="val 35294"/>
            </a:avLst>
          </a:prstGeom>
          <a:solidFill>
            <a:srgbClr val="4A515B"/>
          </a:solidFill>
          <a:ln>
            <a:noFill/>
          </a:ln>
        </p:spPr>
        <p:txBody>
          <a:bodyPr wrap="square" lIns="54864" tIns="0" rIns="54864" bIns="0" rtlCol="0" anchor="ctr">
            <a:noAutofit/>
          </a:bodyPr>
          <a:lstStyle/>
          <a:p>
            <a:pPr algn="ctr"/>
            <a:r>
              <a:rPr lang="en-GB" sz="1400" b="1" i="0">
                <a:solidFill>
                  <a:srgbClr val="F2F2F2"/>
                </a:solidFill>
                <a:latin typeface="Arial"/>
              </a:rPr>
              <a:t>ADA is the game's own assistant</a:t>
            </a:r>
          </a:p>
        </p:txBody>
      </p:sp>
      <p:sp>
        <p:nvSpPr>
          <p:cNvPr id="1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8"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9"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She is a separate character from ADA. Warmer, friendlier and railway-mad.</a:t>
            </a:r>
          </a:p>
        </p:txBody>
      </p:sp>
      <p:sp>
        <p:nvSpPr>
          <p:cNvPr id="20"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4</a:t>
            </a:r>
          </a:p>
        </p:txBody>
      </p:sp>
    </p:spTree>
    <p:extLst>
      <p:ext uri="{BB962C8B-B14F-4D97-AF65-F5344CB8AC3E}">
        <p14:creationId xmlns:p14="http://schemas.microsoft.com/office/powerpoint/2010/main" val="17717749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6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90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120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What she is not</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Six crossed-out cards" descr="Six cards, each crossed out with a red cross: Live AI, Network checker, Route calculator, Signal placer, Automatic fixer and Train driver. She is none of these."/>
          <p:cNvGrpSpPr/>
          <p:nvPr/>
        </p:nvGrpSpPr>
        <p:grpSpPr>
          <a:xfrm>
            <a:off x="548640" y="1289304"/>
            <a:ext cx="11265407" cy="4087368"/>
            <a:chOff x="548640" y="1289304"/>
            <a:chExt cx="11265407" cy="4087368"/>
          </a:xfrm>
        </p:grpSpPr>
        <p:sp>
          <p:nvSpPr>
            <p:cNvPr id="5" name="card"/>
            <p:cNvSpPr/>
            <p:nvPr/>
          </p:nvSpPr>
          <p:spPr>
            <a:xfrm>
              <a:off x="548640" y="1463040"/>
              <a:ext cx="3520440" cy="1828800"/>
            </a:xfrm>
            <a:prstGeom prst="roundRect">
              <a:avLst>
                <a:gd name="adj" fmla="val 4000"/>
              </a:avLst>
            </a:prstGeom>
            <a:solidFill>
              <a:srgbClr val="2B2F36"/>
            </a:solidFill>
            <a:ln w="19050">
              <a:solidFill>
                <a:srgbClr val="4A515B"/>
              </a:solidFill>
            </a:ln>
          </p:spPr>
          <p:txBody>
            <a:bodyPr rtlCol="0" anchor="ctr"/>
            <a:lstStyle/>
            <a:p>
              <a:pPr algn="ctr"/>
              <a:endParaRPr/>
            </a:p>
          </p:txBody>
        </p:sp>
        <p:sp>
          <p:nvSpPr>
            <p:cNvPr id="6" name="chat bubble"/>
            <p:cNvSpPr/>
            <p:nvPr/>
          </p:nvSpPr>
          <p:spPr>
            <a:xfrm>
              <a:off x="896112" y="2066544"/>
              <a:ext cx="768096" cy="493776"/>
            </a:xfrm>
            <a:prstGeom prst="roundRect">
              <a:avLst>
                <a:gd name="adj" fmla="val 25925"/>
              </a:avLst>
            </a:prstGeom>
            <a:solidFill>
              <a:srgbClr val="9AA0A6"/>
            </a:solidFill>
            <a:ln>
              <a:noFill/>
            </a:ln>
          </p:spPr>
          <p:txBody>
            <a:bodyPr rtlCol="0" anchor="ctr"/>
            <a:lstStyle/>
            <a:p>
              <a:pPr algn="ctr"/>
              <a:endParaRPr/>
            </a:p>
          </p:txBody>
        </p:sp>
        <p:sp>
          <p:nvSpPr>
            <p:cNvPr id="7" name="chat tail"/>
            <p:cNvSpPr/>
            <p:nvPr/>
          </p:nvSpPr>
          <p:spPr>
            <a:xfrm>
              <a:off x="1024127" y="2542032"/>
              <a:ext cx="201168" cy="237744"/>
            </a:xfrm>
            <a:custGeom>
              <a:avLst/>
              <a:gdLst/>
              <a:ahLst/>
              <a:cxnLst/>
              <a:rect l="l" t="t" r="r" b="b"/>
              <a:pathLst>
                <a:path w="201168" h="237744">
                  <a:moveTo>
                    <a:pt x="54865" y="0"/>
                  </a:moveTo>
                  <a:lnTo>
                    <a:pt x="201168" y="0"/>
                  </a:lnTo>
                  <a:lnTo>
                    <a:pt x="0" y="237744"/>
                  </a:lnTo>
                  <a:close/>
                </a:path>
              </a:pathLst>
            </a:custGeom>
            <a:solidFill>
              <a:srgbClr val="9AA0A6"/>
            </a:solidFill>
            <a:ln>
              <a:noFill/>
            </a:ln>
          </p:spPr>
          <p:txBody>
            <a:bodyPr rtlCol="0" anchor="ctr"/>
            <a:lstStyle/>
            <a:p>
              <a:pPr algn="ctr"/>
              <a:endParaRPr/>
            </a:p>
          </p:txBody>
        </p:sp>
        <p:sp>
          <p:nvSpPr>
            <p:cNvPr id="8" name="chat dot"/>
            <p:cNvSpPr/>
            <p:nvPr/>
          </p:nvSpPr>
          <p:spPr>
            <a:xfrm>
              <a:off x="1051560" y="2267712"/>
              <a:ext cx="91440" cy="91440"/>
            </a:xfrm>
            <a:prstGeom prst="ellipse">
              <a:avLst/>
            </a:prstGeom>
            <a:solidFill>
              <a:srgbClr val="101418"/>
            </a:solidFill>
            <a:ln>
              <a:noFill/>
            </a:ln>
          </p:spPr>
          <p:txBody>
            <a:bodyPr rtlCol="0" anchor="ctr"/>
            <a:lstStyle/>
            <a:p>
              <a:pPr algn="ctr"/>
              <a:endParaRPr/>
            </a:p>
          </p:txBody>
        </p:sp>
        <p:sp>
          <p:nvSpPr>
            <p:cNvPr id="9" name="chat dot"/>
            <p:cNvSpPr/>
            <p:nvPr/>
          </p:nvSpPr>
          <p:spPr>
            <a:xfrm>
              <a:off x="1234439" y="2267712"/>
              <a:ext cx="91440" cy="91440"/>
            </a:xfrm>
            <a:prstGeom prst="ellipse">
              <a:avLst/>
            </a:prstGeom>
            <a:solidFill>
              <a:srgbClr val="101418"/>
            </a:solidFill>
            <a:ln>
              <a:noFill/>
            </a:ln>
          </p:spPr>
          <p:txBody>
            <a:bodyPr rtlCol="0" anchor="ctr"/>
            <a:lstStyle/>
            <a:p>
              <a:pPr algn="ctr"/>
              <a:endParaRPr/>
            </a:p>
          </p:txBody>
        </p:sp>
        <p:sp>
          <p:nvSpPr>
            <p:cNvPr id="10" name="chat dot"/>
            <p:cNvSpPr/>
            <p:nvPr/>
          </p:nvSpPr>
          <p:spPr>
            <a:xfrm>
              <a:off x="1417319" y="2267712"/>
              <a:ext cx="91440" cy="91440"/>
            </a:xfrm>
            <a:prstGeom prst="ellipse">
              <a:avLst/>
            </a:prstGeom>
            <a:solidFill>
              <a:srgbClr val="101418"/>
            </a:solidFill>
            <a:ln>
              <a:noFill/>
            </a:ln>
          </p:spPr>
          <p:txBody>
            <a:bodyPr rtlCol="0" anchor="ctr"/>
            <a:lstStyle/>
            <a:p>
              <a:pPr algn="ctr"/>
              <a:endParaRPr/>
            </a:p>
          </p:txBody>
        </p:sp>
        <p:sp>
          <p:nvSpPr>
            <p:cNvPr id="11" name="card label"/>
            <p:cNvSpPr txBox="1"/>
            <p:nvPr/>
          </p:nvSpPr>
          <p:spPr>
            <a:xfrm>
              <a:off x="1965960" y="1645920"/>
              <a:ext cx="1965960" cy="1463040"/>
            </a:xfrm>
            <a:prstGeom prst="rect">
              <a:avLst/>
            </a:prstGeom>
            <a:noFill/>
          </p:spPr>
          <p:txBody>
            <a:bodyPr wrap="square" lIns="18288" tIns="9144" rIns="18288" bIns="9144" anchor="ctr">
              <a:noAutofit/>
            </a:bodyPr>
            <a:lstStyle/>
            <a:p>
              <a:pPr algn="l"/>
              <a:r>
                <a:rPr lang="en-GB" sz="2200" b="1" i="0" strike="sngStrike">
                  <a:solidFill>
                    <a:srgbClr val="F2F2F2"/>
                  </a:solidFill>
                  <a:latin typeface="Arial"/>
                </a:rPr>
                <a:t>Live AI</a:t>
              </a:r>
            </a:p>
          </p:txBody>
        </p:sp>
        <p:sp>
          <p:nvSpPr>
            <p:cNvPr id="12" name="cross disc"/>
            <p:cNvSpPr/>
            <p:nvPr/>
          </p:nvSpPr>
          <p:spPr>
            <a:xfrm>
              <a:off x="3675888" y="1289304"/>
              <a:ext cx="566928" cy="566928"/>
            </a:xfrm>
            <a:prstGeom prst="ellipse">
              <a:avLst/>
            </a:prstGeom>
            <a:solidFill>
              <a:srgbClr val="E5484D"/>
            </a:solidFill>
            <a:ln>
              <a:noFill/>
            </a:ln>
          </p:spPr>
          <p:txBody>
            <a:bodyPr rtlCol="0" anchor="ctr"/>
            <a:lstStyle/>
            <a:p>
              <a:pPr algn="ctr"/>
              <a:endParaRPr/>
            </a:p>
          </p:txBody>
        </p:sp>
        <p:cxnSp>
          <p:nvCxnSpPr>
            <p:cNvPr id="13" name="cross bar"/>
            <p:cNvCxnSpPr/>
            <p:nvPr/>
          </p:nvCxnSpPr>
          <p:spPr>
            <a:xfrm>
              <a:off x="3811950" y="1425366"/>
              <a:ext cx="294803" cy="294803"/>
            </a:xfrm>
            <a:prstGeom prst="line">
              <a:avLst/>
            </a:prstGeom>
            <a:ln w="47244" cap="rnd">
              <a:solidFill>
                <a:srgbClr val="F2F2F2"/>
              </a:solidFill>
            </a:ln>
          </p:spPr>
        </p:cxnSp>
        <p:cxnSp>
          <p:nvCxnSpPr>
            <p:cNvPr id="14" name="cross bar"/>
            <p:cNvCxnSpPr/>
            <p:nvPr/>
          </p:nvCxnSpPr>
          <p:spPr>
            <a:xfrm flipV="1">
              <a:off x="3811950" y="1425366"/>
              <a:ext cx="294803" cy="294803"/>
            </a:xfrm>
            <a:prstGeom prst="line">
              <a:avLst/>
            </a:prstGeom>
            <a:ln w="47244" cap="rnd">
              <a:solidFill>
                <a:srgbClr val="F2F2F2"/>
              </a:solidFill>
            </a:ln>
          </p:spPr>
        </p:cxnSp>
        <p:sp>
          <p:nvSpPr>
            <p:cNvPr id="15" name="card"/>
            <p:cNvSpPr/>
            <p:nvPr/>
          </p:nvSpPr>
          <p:spPr>
            <a:xfrm>
              <a:off x="4334255" y="1463040"/>
              <a:ext cx="3520440" cy="1828800"/>
            </a:xfrm>
            <a:prstGeom prst="roundRect">
              <a:avLst>
                <a:gd name="adj" fmla="val 4000"/>
              </a:avLst>
            </a:prstGeom>
            <a:solidFill>
              <a:srgbClr val="2B2F36"/>
            </a:solidFill>
            <a:ln w="19050">
              <a:solidFill>
                <a:srgbClr val="4A515B"/>
              </a:solidFill>
            </a:ln>
          </p:spPr>
          <p:txBody>
            <a:bodyPr rtlCol="0" anchor="ctr"/>
            <a:lstStyle/>
            <a:p>
              <a:pPr algn="ctr"/>
              <a:endParaRPr/>
            </a:p>
          </p:txBody>
        </p:sp>
        <p:sp>
          <p:nvSpPr>
            <p:cNvPr id="16" name="lens"/>
            <p:cNvSpPr/>
            <p:nvPr/>
          </p:nvSpPr>
          <p:spPr>
            <a:xfrm>
              <a:off x="4700015" y="2011680"/>
              <a:ext cx="530352" cy="530352"/>
            </a:xfrm>
            <a:prstGeom prst="ellipse">
              <a:avLst/>
            </a:prstGeom>
            <a:noFill/>
            <a:ln w="63500">
              <a:solidFill>
                <a:srgbClr val="9AA0A6"/>
              </a:solidFill>
            </a:ln>
          </p:spPr>
          <p:txBody>
            <a:bodyPr rtlCol="0" anchor="ctr"/>
            <a:lstStyle/>
            <a:p>
              <a:pPr algn="ctr"/>
              <a:endParaRPr/>
            </a:p>
          </p:txBody>
        </p:sp>
        <p:cxnSp>
          <p:nvCxnSpPr>
            <p:cNvPr id="17" name="handle"/>
            <p:cNvCxnSpPr/>
            <p:nvPr/>
          </p:nvCxnSpPr>
          <p:spPr>
            <a:xfrm>
              <a:off x="5129783" y="2441448"/>
              <a:ext cx="320040" cy="320040"/>
            </a:xfrm>
            <a:prstGeom prst="line">
              <a:avLst/>
            </a:prstGeom>
            <a:ln w="88900" cap="rnd">
              <a:solidFill>
                <a:srgbClr val="9AA0A6"/>
              </a:solidFill>
            </a:ln>
          </p:spPr>
        </p:cxnSp>
        <p:sp>
          <p:nvSpPr>
            <p:cNvPr id="18" name="node"/>
            <p:cNvSpPr/>
            <p:nvPr/>
          </p:nvSpPr>
          <p:spPr>
            <a:xfrm>
              <a:off x="4745735" y="2093976"/>
              <a:ext cx="54864" cy="54864"/>
            </a:xfrm>
            <a:prstGeom prst="ellipse">
              <a:avLst/>
            </a:prstGeom>
            <a:solidFill>
              <a:srgbClr val="9AA0A6"/>
            </a:solidFill>
            <a:ln>
              <a:noFill/>
            </a:ln>
          </p:spPr>
          <p:txBody>
            <a:bodyPr rtlCol="0" anchor="ctr"/>
            <a:lstStyle/>
            <a:p>
              <a:pPr algn="ctr"/>
              <a:endParaRPr/>
            </a:p>
          </p:txBody>
        </p:sp>
        <p:sp>
          <p:nvSpPr>
            <p:cNvPr id="19" name="node"/>
            <p:cNvSpPr/>
            <p:nvPr/>
          </p:nvSpPr>
          <p:spPr>
            <a:xfrm>
              <a:off x="4928615" y="2185416"/>
              <a:ext cx="54864" cy="54864"/>
            </a:xfrm>
            <a:prstGeom prst="ellipse">
              <a:avLst/>
            </a:prstGeom>
            <a:solidFill>
              <a:srgbClr val="9AA0A6"/>
            </a:solidFill>
            <a:ln>
              <a:noFill/>
            </a:ln>
          </p:spPr>
          <p:txBody>
            <a:bodyPr rtlCol="0" anchor="ctr"/>
            <a:lstStyle/>
            <a:p>
              <a:pPr algn="ctr"/>
              <a:endParaRPr/>
            </a:p>
          </p:txBody>
        </p:sp>
        <p:sp>
          <p:nvSpPr>
            <p:cNvPr id="20" name="node"/>
            <p:cNvSpPr/>
            <p:nvPr/>
          </p:nvSpPr>
          <p:spPr>
            <a:xfrm>
              <a:off x="4855463" y="2313432"/>
              <a:ext cx="54864" cy="54864"/>
            </a:xfrm>
            <a:prstGeom prst="ellipse">
              <a:avLst/>
            </a:prstGeom>
            <a:solidFill>
              <a:srgbClr val="9AA0A6"/>
            </a:solidFill>
            <a:ln>
              <a:noFill/>
            </a:ln>
          </p:spPr>
          <p:txBody>
            <a:bodyPr rtlCol="0" anchor="ctr"/>
            <a:lstStyle/>
            <a:p>
              <a:pPr algn="ctr"/>
              <a:endParaRPr/>
            </a:p>
          </p:txBody>
        </p:sp>
        <p:sp>
          <p:nvSpPr>
            <p:cNvPr id="21" name="card label"/>
            <p:cNvSpPr txBox="1"/>
            <p:nvPr/>
          </p:nvSpPr>
          <p:spPr>
            <a:xfrm>
              <a:off x="5751575" y="1645920"/>
              <a:ext cx="1965960" cy="1463040"/>
            </a:xfrm>
            <a:prstGeom prst="rect">
              <a:avLst/>
            </a:prstGeom>
            <a:noFill/>
          </p:spPr>
          <p:txBody>
            <a:bodyPr wrap="square" lIns="18288" tIns="9144" rIns="18288" bIns="9144" anchor="ctr">
              <a:noAutofit/>
            </a:bodyPr>
            <a:lstStyle/>
            <a:p>
              <a:pPr algn="l"/>
              <a:r>
                <a:rPr lang="en-GB" sz="2200" b="1" i="0" strike="sngStrike">
                  <a:solidFill>
                    <a:srgbClr val="F2F2F2"/>
                  </a:solidFill>
                  <a:latin typeface="Arial"/>
                </a:rPr>
                <a:t>Network checker</a:t>
              </a:r>
            </a:p>
          </p:txBody>
        </p:sp>
        <p:sp>
          <p:nvSpPr>
            <p:cNvPr id="22" name="cross disc"/>
            <p:cNvSpPr/>
            <p:nvPr/>
          </p:nvSpPr>
          <p:spPr>
            <a:xfrm>
              <a:off x="7461504" y="1289304"/>
              <a:ext cx="566928" cy="566928"/>
            </a:xfrm>
            <a:prstGeom prst="ellipse">
              <a:avLst/>
            </a:prstGeom>
            <a:solidFill>
              <a:srgbClr val="E5484D"/>
            </a:solidFill>
            <a:ln>
              <a:noFill/>
            </a:ln>
          </p:spPr>
          <p:txBody>
            <a:bodyPr rtlCol="0" anchor="ctr"/>
            <a:lstStyle/>
            <a:p>
              <a:pPr algn="ctr"/>
              <a:endParaRPr/>
            </a:p>
          </p:txBody>
        </p:sp>
        <p:cxnSp>
          <p:nvCxnSpPr>
            <p:cNvPr id="23" name="cross bar"/>
            <p:cNvCxnSpPr/>
            <p:nvPr/>
          </p:nvCxnSpPr>
          <p:spPr>
            <a:xfrm>
              <a:off x="7597566" y="1425366"/>
              <a:ext cx="294803" cy="294803"/>
            </a:xfrm>
            <a:prstGeom prst="line">
              <a:avLst/>
            </a:prstGeom>
            <a:ln w="47244" cap="rnd">
              <a:solidFill>
                <a:srgbClr val="F2F2F2"/>
              </a:solidFill>
            </a:ln>
          </p:spPr>
        </p:cxnSp>
        <p:cxnSp>
          <p:nvCxnSpPr>
            <p:cNvPr id="24" name="cross bar"/>
            <p:cNvCxnSpPr/>
            <p:nvPr/>
          </p:nvCxnSpPr>
          <p:spPr>
            <a:xfrm flipV="1">
              <a:off x="7597566" y="1425366"/>
              <a:ext cx="294803" cy="294803"/>
            </a:xfrm>
            <a:prstGeom prst="line">
              <a:avLst/>
            </a:prstGeom>
            <a:ln w="47244" cap="rnd">
              <a:solidFill>
                <a:srgbClr val="F2F2F2"/>
              </a:solidFill>
            </a:ln>
          </p:spPr>
        </p:cxnSp>
        <p:sp>
          <p:nvSpPr>
            <p:cNvPr id="25" name="card"/>
            <p:cNvSpPr/>
            <p:nvPr/>
          </p:nvSpPr>
          <p:spPr>
            <a:xfrm>
              <a:off x="8119871" y="1463040"/>
              <a:ext cx="3520440" cy="1828800"/>
            </a:xfrm>
            <a:prstGeom prst="roundRect">
              <a:avLst>
                <a:gd name="adj" fmla="val 4000"/>
              </a:avLst>
            </a:prstGeom>
            <a:solidFill>
              <a:srgbClr val="2B2F36"/>
            </a:solidFill>
            <a:ln w="19050">
              <a:solidFill>
                <a:srgbClr val="4A515B"/>
              </a:solidFill>
            </a:ln>
          </p:spPr>
          <p:txBody>
            <a:bodyPr rtlCol="0" anchor="ctr"/>
            <a:lstStyle/>
            <a:p>
              <a:pPr algn="ctr"/>
              <a:endParaRPr/>
            </a:p>
          </p:txBody>
        </p:sp>
        <p:sp>
          <p:nvSpPr>
            <p:cNvPr id="26" name="calculator"/>
            <p:cNvSpPr/>
            <p:nvPr/>
          </p:nvSpPr>
          <p:spPr>
            <a:xfrm>
              <a:off x="8558784" y="1975104"/>
              <a:ext cx="585216" cy="804672"/>
            </a:xfrm>
            <a:prstGeom prst="roundRect">
              <a:avLst>
                <a:gd name="adj" fmla="val 10937"/>
              </a:avLst>
            </a:prstGeom>
            <a:solidFill>
              <a:srgbClr val="9AA0A6"/>
            </a:solidFill>
            <a:ln>
              <a:noFill/>
            </a:ln>
          </p:spPr>
          <p:txBody>
            <a:bodyPr rtlCol="0" anchor="ctr"/>
            <a:lstStyle/>
            <a:p>
              <a:pPr algn="ctr"/>
              <a:endParaRPr/>
            </a:p>
          </p:txBody>
        </p:sp>
        <p:sp>
          <p:nvSpPr>
            <p:cNvPr id="27" name="display"/>
            <p:cNvSpPr/>
            <p:nvPr/>
          </p:nvSpPr>
          <p:spPr>
            <a:xfrm>
              <a:off x="8631936" y="2048256"/>
              <a:ext cx="438912" cy="164592"/>
            </a:xfrm>
            <a:prstGeom prst="rect">
              <a:avLst/>
            </a:prstGeom>
            <a:solidFill>
              <a:srgbClr val="101418"/>
            </a:solidFill>
            <a:ln>
              <a:noFill/>
            </a:ln>
          </p:spPr>
          <p:txBody>
            <a:bodyPr rtlCol="0" anchor="ctr"/>
            <a:lstStyle/>
            <a:p>
              <a:pPr algn="ctr"/>
              <a:endParaRPr/>
            </a:p>
          </p:txBody>
        </p:sp>
        <p:sp>
          <p:nvSpPr>
            <p:cNvPr id="28" name="key"/>
            <p:cNvSpPr/>
            <p:nvPr/>
          </p:nvSpPr>
          <p:spPr>
            <a:xfrm>
              <a:off x="8650224" y="2286000"/>
              <a:ext cx="109728" cy="109728"/>
            </a:xfrm>
            <a:prstGeom prst="rect">
              <a:avLst/>
            </a:prstGeom>
            <a:solidFill>
              <a:srgbClr val="101418"/>
            </a:solidFill>
            <a:ln>
              <a:noFill/>
            </a:ln>
          </p:spPr>
          <p:txBody>
            <a:bodyPr rtlCol="0" anchor="ctr"/>
            <a:lstStyle/>
            <a:p>
              <a:pPr algn="ctr"/>
              <a:endParaRPr/>
            </a:p>
          </p:txBody>
        </p:sp>
        <p:sp>
          <p:nvSpPr>
            <p:cNvPr id="29" name="key"/>
            <p:cNvSpPr/>
            <p:nvPr/>
          </p:nvSpPr>
          <p:spPr>
            <a:xfrm>
              <a:off x="8805672" y="2286000"/>
              <a:ext cx="109728" cy="109728"/>
            </a:xfrm>
            <a:prstGeom prst="rect">
              <a:avLst/>
            </a:prstGeom>
            <a:solidFill>
              <a:srgbClr val="101418"/>
            </a:solidFill>
            <a:ln>
              <a:noFill/>
            </a:ln>
          </p:spPr>
          <p:txBody>
            <a:bodyPr rtlCol="0" anchor="ctr"/>
            <a:lstStyle/>
            <a:p>
              <a:pPr algn="ctr"/>
              <a:endParaRPr/>
            </a:p>
          </p:txBody>
        </p:sp>
        <p:sp>
          <p:nvSpPr>
            <p:cNvPr id="30" name="key"/>
            <p:cNvSpPr/>
            <p:nvPr/>
          </p:nvSpPr>
          <p:spPr>
            <a:xfrm>
              <a:off x="8961119" y="2286000"/>
              <a:ext cx="109728" cy="109728"/>
            </a:xfrm>
            <a:prstGeom prst="rect">
              <a:avLst/>
            </a:prstGeom>
            <a:solidFill>
              <a:srgbClr val="101418"/>
            </a:solidFill>
            <a:ln>
              <a:noFill/>
            </a:ln>
          </p:spPr>
          <p:txBody>
            <a:bodyPr rtlCol="0" anchor="ctr"/>
            <a:lstStyle/>
            <a:p>
              <a:pPr algn="ctr"/>
              <a:endParaRPr/>
            </a:p>
          </p:txBody>
        </p:sp>
        <p:sp>
          <p:nvSpPr>
            <p:cNvPr id="31" name="key"/>
            <p:cNvSpPr/>
            <p:nvPr/>
          </p:nvSpPr>
          <p:spPr>
            <a:xfrm>
              <a:off x="8650224" y="2441448"/>
              <a:ext cx="109728" cy="109728"/>
            </a:xfrm>
            <a:prstGeom prst="rect">
              <a:avLst/>
            </a:prstGeom>
            <a:solidFill>
              <a:srgbClr val="101418"/>
            </a:solidFill>
            <a:ln>
              <a:noFill/>
            </a:ln>
          </p:spPr>
          <p:txBody>
            <a:bodyPr rtlCol="0" anchor="ctr"/>
            <a:lstStyle/>
            <a:p>
              <a:pPr algn="ctr"/>
              <a:endParaRPr/>
            </a:p>
          </p:txBody>
        </p:sp>
        <p:sp>
          <p:nvSpPr>
            <p:cNvPr id="32" name="key"/>
            <p:cNvSpPr/>
            <p:nvPr/>
          </p:nvSpPr>
          <p:spPr>
            <a:xfrm>
              <a:off x="8805672" y="2441448"/>
              <a:ext cx="109728" cy="109728"/>
            </a:xfrm>
            <a:prstGeom prst="rect">
              <a:avLst/>
            </a:prstGeom>
            <a:solidFill>
              <a:srgbClr val="101418"/>
            </a:solidFill>
            <a:ln>
              <a:noFill/>
            </a:ln>
          </p:spPr>
          <p:txBody>
            <a:bodyPr rtlCol="0" anchor="ctr"/>
            <a:lstStyle/>
            <a:p>
              <a:pPr algn="ctr"/>
              <a:endParaRPr/>
            </a:p>
          </p:txBody>
        </p:sp>
        <p:sp>
          <p:nvSpPr>
            <p:cNvPr id="33" name="key"/>
            <p:cNvSpPr/>
            <p:nvPr/>
          </p:nvSpPr>
          <p:spPr>
            <a:xfrm>
              <a:off x="8961119" y="2441448"/>
              <a:ext cx="109728" cy="109728"/>
            </a:xfrm>
            <a:prstGeom prst="rect">
              <a:avLst/>
            </a:prstGeom>
            <a:solidFill>
              <a:srgbClr val="101418"/>
            </a:solidFill>
            <a:ln>
              <a:noFill/>
            </a:ln>
          </p:spPr>
          <p:txBody>
            <a:bodyPr rtlCol="0" anchor="ctr"/>
            <a:lstStyle/>
            <a:p>
              <a:pPr algn="ctr"/>
              <a:endParaRPr/>
            </a:p>
          </p:txBody>
        </p:sp>
        <p:sp>
          <p:nvSpPr>
            <p:cNvPr id="34" name="key"/>
            <p:cNvSpPr/>
            <p:nvPr/>
          </p:nvSpPr>
          <p:spPr>
            <a:xfrm>
              <a:off x="8650224" y="2596896"/>
              <a:ext cx="109728" cy="109728"/>
            </a:xfrm>
            <a:prstGeom prst="rect">
              <a:avLst/>
            </a:prstGeom>
            <a:solidFill>
              <a:srgbClr val="101418"/>
            </a:solidFill>
            <a:ln>
              <a:noFill/>
            </a:ln>
          </p:spPr>
          <p:txBody>
            <a:bodyPr rtlCol="0" anchor="ctr"/>
            <a:lstStyle/>
            <a:p>
              <a:pPr algn="ctr"/>
              <a:endParaRPr/>
            </a:p>
          </p:txBody>
        </p:sp>
        <p:sp>
          <p:nvSpPr>
            <p:cNvPr id="35" name="key"/>
            <p:cNvSpPr/>
            <p:nvPr/>
          </p:nvSpPr>
          <p:spPr>
            <a:xfrm>
              <a:off x="8805672" y="2596896"/>
              <a:ext cx="109728" cy="109728"/>
            </a:xfrm>
            <a:prstGeom prst="rect">
              <a:avLst/>
            </a:prstGeom>
            <a:solidFill>
              <a:srgbClr val="101418"/>
            </a:solidFill>
            <a:ln>
              <a:noFill/>
            </a:ln>
          </p:spPr>
          <p:txBody>
            <a:bodyPr rtlCol="0" anchor="ctr"/>
            <a:lstStyle/>
            <a:p>
              <a:pPr algn="ctr"/>
              <a:endParaRPr/>
            </a:p>
          </p:txBody>
        </p:sp>
        <p:sp>
          <p:nvSpPr>
            <p:cNvPr id="36" name="key"/>
            <p:cNvSpPr/>
            <p:nvPr/>
          </p:nvSpPr>
          <p:spPr>
            <a:xfrm>
              <a:off x="8961119" y="2596896"/>
              <a:ext cx="109728" cy="109728"/>
            </a:xfrm>
            <a:prstGeom prst="rect">
              <a:avLst/>
            </a:prstGeom>
            <a:solidFill>
              <a:srgbClr val="101418"/>
            </a:solidFill>
            <a:ln>
              <a:noFill/>
            </a:ln>
          </p:spPr>
          <p:txBody>
            <a:bodyPr rtlCol="0" anchor="ctr"/>
            <a:lstStyle/>
            <a:p>
              <a:pPr algn="ctr"/>
              <a:endParaRPr/>
            </a:p>
          </p:txBody>
        </p:sp>
        <p:sp>
          <p:nvSpPr>
            <p:cNvPr id="37" name="card label"/>
            <p:cNvSpPr txBox="1"/>
            <p:nvPr/>
          </p:nvSpPr>
          <p:spPr>
            <a:xfrm>
              <a:off x="9537192" y="1645920"/>
              <a:ext cx="1965960" cy="1463040"/>
            </a:xfrm>
            <a:prstGeom prst="rect">
              <a:avLst/>
            </a:prstGeom>
            <a:noFill/>
          </p:spPr>
          <p:txBody>
            <a:bodyPr wrap="square" lIns="18288" tIns="9144" rIns="18288" bIns="9144" anchor="ctr">
              <a:noAutofit/>
            </a:bodyPr>
            <a:lstStyle/>
            <a:p>
              <a:pPr algn="l"/>
              <a:r>
                <a:rPr lang="en-GB" sz="2200" b="1" i="0" strike="sngStrike">
                  <a:solidFill>
                    <a:srgbClr val="F2F2F2"/>
                  </a:solidFill>
                  <a:latin typeface="Arial"/>
                </a:rPr>
                <a:t>Route calculator</a:t>
              </a:r>
            </a:p>
          </p:txBody>
        </p:sp>
        <p:sp>
          <p:nvSpPr>
            <p:cNvPr id="38" name="cross disc"/>
            <p:cNvSpPr/>
            <p:nvPr/>
          </p:nvSpPr>
          <p:spPr>
            <a:xfrm>
              <a:off x="11247119" y="1289304"/>
              <a:ext cx="566928" cy="566928"/>
            </a:xfrm>
            <a:prstGeom prst="ellipse">
              <a:avLst/>
            </a:prstGeom>
            <a:solidFill>
              <a:srgbClr val="E5484D"/>
            </a:solidFill>
            <a:ln>
              <a:noFill/>
            </a:ln>
          </p:spPr>
          <p:txBody>
            <a:bodyPr rtlCol="0" anchor="ctr"/>
            <a:lstStyle/>
            <a:p>
              <a:pPr algn="ctr"/>
              <a:endParaRPr/>
            </a:p>
          </p:txBody>
        </p:sp>
        <p:cxnSp>
          <p:nvCxnSpPr>
            <p:cNvPr id="39" name="cross bar"/>
            <p:cNvCxnSpPr/>
            <p:nvPr/>
          </p:nvCxnSpPr>
          <p:spPr>
            <a:xfrm>
              <a:off x="11383182" y="1425366"/>
              <a:ext cx="294803" cy="294803"/>
            </a:xfrm>
            <a:prstGeom prst="line">
              <a:avLst/>
            </a:prstGeom>
            <a:ln w="47244" cap="rnd">
              <a:solidFill>
                <a:srgbClr val="F2F2F2"/>
              </a:solidFill>
            </a:ln>
          </p:spPr>
        </p:cxnSp>
        <p:cxnSp>
          <p:nvCxnSpPr>
            <p:cNvPr id="40" name="cross bar"/>
            <p:cNvCxnSpPr/>
            <p:nvPr/>
          </p:nvCxnSpPr>
          <p:spPr>
            <a:xfrm flipV="1">
              <a:off x="11383182" y="1425366"/>
              <a:ext cx="294803" cy="294803"/>
            </a:xfrm>
            <a:prstGeom prst="line">
              <a:avLst/>
            </a:prstGeom>
            <a:ln w="47244" cap="rnd">
              <a:solidFill>
                <a:srgbClr val="F2F2F2"/>
              </a:solidFill>
            </a:ln>
          </p:spPr>
        </p:cxnSp>
        <p:sp>
          <p:nvSpPr>
            <p:cNvPr id="41" name="card"/>
            <p:cNvSpPr/>
            <p:nvPr/>
          </p:nvSpPr>
          <p:spPr>
            <a:xfrm>
              <a:off x="548640" y="3547872"/>
              <a:ext cx="3520440" cy="1828800"/>
            </a:xfrm>
            <a:prstGeom prst="roundRect">
              <a:avLst>
                <a:gd name="adj" fmla="val 4000"/>
              </a:avLst>
            </a:prstGeom>
            <a:solidFill>
              <a:srgbClr val="2B2F36"/>
            </a:solidFill>
            <a:ln w="19050">
              <a:solidFill>
                <a:srgbClr val="4A515B"/>
              </a:solidFill>
            </a:ln>
          </p:spPr>
          <p:txBody>
            <a:bodyPr rtlCol="0" anchor="ctr"/>
            <a:lstStyle/>
            <a:p>
              <a:pPr algn="ctr"/>
              <a:endParaRPr/>
            </a:p>
          </p:txBody>
        </p:sp>
        <p:sp>
          <p:nvSpPr>
            <p:cNvPr id="42" name="icon semaphore post"/>
            <p:cNvSpPr/>
            <p:nvPr/>
          </p:nvSpPr>
          <p:spPr>
            <a:xfrm>
              <a:off x="1145285" y="4005072"/>
              <a:ext cx="86868" cy="868680"/>
            </a:xfrm>
            <a:prstGeom prst="rect">
              <a:avLst/>
            </a:prstGeom>
            <a:solidFill>
              <a:srgbClr val="E8E8E8"/>
            </a:solidFill>
            <a:ln w="9525">
              <a:solidFill>
                <a:srgbClr val="6B7078"/>
              </a:solidFill>
            </a:ln>
          </p:spPr>
          <p:txBody>
            <a:bodyPr rtlCol="0" anchor="ctr"/>
            <a:lstStyle/>
            <a:p>
              <a:pPr algn="ctr"/>
              <a:endParaRPr/>
            </a:p>
          </p:txBody>
        </p:sp>
        <p:sp>
          <p:nvSpPr>
            <p:cNvPr id="43" name="icon semaphore foot"/>
            <p:cNvSpPr/>
            <p:nvPr/>
          </p:nvSpPr>
          <p:spPr>
            <a:xfrm>
              <a:off x="997610" y="4821631"/>
              <a:ext cx="382219" cy="52120"/>
            </a:xfrm>
            <a:prstGeom prst="rect">
              <a:avLst/>
            </a:prstGeom>
            <a:solidFill>
              <a:srgbClr val="3A3F47"/>
            </a:solidFill>
            <a:ln>
              <a:noFill/>
            </a:ln>
          </p:spPr>
          <p:txBody>
            <a:bodyPr rtlCol="0" anchor="ctr"/>
            <a:lstStyle/>
            <a:p>
              <a:pPr algn="ctr"/>
              <a:endParaRPr/>
            </a:p>
          </p:txBody>
        </p:sp>
        <p:sp>
          <p:nvSpPr>
            <p:cNvPr id="44" name="icon semaphore arm"/>
            <p:cNvSpPr/>
            <p:nvPr/>
          </p:nvSpPr>
          <p:spPr>
            <a:xfrm>
              <a:off x="1195299" y="3691623"/>
              <a:ext cx="454544" cy="454545"/>
            </a:xfrm>
            <a:custGeom>
              <a:avLst/>
              <a:gdLst/>
              <a:ahLst/>
              <a:cxnLst/>
              <a:rect l="l" t="t" r="r" b="b"/>
              <a:pathLst>
                <a:path w="454544" h="454545">
                  <a:moveTo>
                    <a:pt x="0" y="380835"/>
                  </a:moveTo>
                  <a:lnTo>
                    <a:pt x="380834" y="0"/>
                  </a:lnTo>
                  <a:lnTo>
                    <a:pt x="454544" y="73710"/>
                  </a:lnTo>
                  <a:lnTo>
                    <a:pt x="73709" y="454545"/>
                  </a:lnTo>
                  <a:close/>
                </a:path>
              </a:pathLst>
            </a:custGeom>
            <a:solidFill>
              <a:srgbClr val="E5484D"/>
            </a:solidFill>
            <a:ln>
              <a:noFill/>
            </a:ln>
          </p:spPr>
          <p:txBody>
            <a:bodyPr rtlCol="0" anchor="ctr"/>
            <a:lstStyle/>
            <a:p>
              <a:pPr algn="ctr"/>
              <a:endParaRPr/>
            </a:p>
          </p:txBody>
        </p:sp>
        <p:sp>
          <p:nvSpPr>
            <p:cNvPr id="45" name="icon semaphore lamp"/>
            <p:cNvSpPr/>
            <p:nvPr/>
          </p:nvSpPr>
          <p:spPr>
            <a:xfrm>
              <a:off x="1101851" y="3987698"/>
              <a:ext cx="173736" cy="173736"/>
            </a:xfrm>
            <a:prstGeom prst="ellipse">
              <a:avLst/>
            </a:prstGeom>
            <a:solidFill>
              <a:srgbClr val="3FB950"/>
            </a:solidFill>
            <a:ln w="12700">
              <a:solidFill>
                <a:srgbClr val="2B2F36"/>
              </a:solidFill>
            </a:ln>
          </p:spPr>
          <p:txBody>
            <a:bodyPr rtlCol="0" anchor="ctr"/>
            <a:lstStyle/>
            <a:p>
              <a:pPr algn="ctr"/>
              <a:endParaRPr/>
            </a:p>
          </p:txBody>
        </p:sp>
        <p:sp>
          <p:nvSpPr>
            <p:cNvPr id="46" name="icon semaphore pivot"/>
            <p:cNvSpPr/>
            <p:nvPr/>
          </p:nvSpPr>
          <p:spPr>
            <a:xfrm>
              <a:off x="1197406" y="4074566"/>
              <a:ext cx="69494" cy="69494"/>
            </a:xfrm>
            <a:prstGeom prst="ellipse">
              <a:avLst/>
            </a:prstGeom>
            <a:solidFill>
              <a:srgbClr val="3A3F47"/>
            </a:solidFill>
            <a:ln>
              <a:noFill/>
            </a:ln>
          </p:spPr>
          <p:txBody>
            <a:bodyPr rtlCol="0" anchor="ctr"/>
            <a:lstStyle/>
            <a:p>
              <a:pPr algn="ctr"/>
              <a:endParaRPr/>
            </a:p>
          </p:txBody>
        </p:sp>
        <p:sp>
          <p:nvSpPr>
            <p:cNvPr id="47" name="card label"/>
            <p:cNvSpPr txBox="1"/>
            <p:nvPr/>
          </p:nvSpPr>
          <p:spPr>
            <a:xfrm>
              <a:off x="1965960" y="3730752"/>
              <a:ext cx="1965960" cy="1463040"/>
            </a:xfrm>
            <a:prstGeom prst="rect">
              <a:avLst/>
            </a:prstGeom>
            <a:noFill/>
          </p:spPr>
          <p:txBody>
            <a:bodyPr wrap="square" lIns="18288" tIns="9144" rIns="18288" bIns="9144" anchor="ctr">
              <a:noAutofit/>
            </a:bodyPr>
            <a:lstStyle/>
            <a:p>
              <a:pPr algn="l"/>
              <a:r>
                <a:rPr lang="en-GB" sz="2200" b="1" i="0" strike="sngStrike">
                  <a:solidFill>
                    <a:srgbClr val="F2F2F2"/>
                  </a:solidFill>
                  <a:latin typeface="Arial"/>
                </a:rPr>
                <a:t>Signal placer</a:t>
              </a:r>
            </a:p>
          </p:txBody>
        </p:sp>
        <p:sp>
          <p:nvSpPr>
            <p:cNvPr id="48" name="cross disc"/>
            <p:cNvSpPr/>
            <p:nvPr/>
          </p:nvSpPr>
          <p:spPr>
            <a:xfrm>
              <a:off x="3675888" y="3374136"/>
              <a:ext cx="566928" cy="566928"/>
            </a:xfrm>
            <a:prstGeom prst="ellipse">
              <a:avLst/>
            </a:prstGeom>
            <a:solidFill>
              <a:srgbClr val="E5484D"/>
            </a:solidFill>
            <a:ln>
              <a:noFill/>
            </a:ln>
          </p:spPr>
          <p:txBody>
            <a:bodyPr rtlCol="0" anchor="ctr"/>
            <a:lstStyle/>
            <a:p>
              <a:pPr algn="ctr"/>
              <a:endParaRPr/>
            </a:p>
          </p:txBody>
        </p:sp>
        <p:cxnSp>
          <p:nvCxnSpPr>
            <p:cNvPr id="49" name="cross bar"/>
            <p:cNvCxnSpPr/>
            <p:nvPr/>
          </p:nvCxnSpPr>
          <p:spPr>
            <a:xfrm>
              <a:off x="3811950" y="3510198"/>
              <a:ext cx="294803" cy="294803"/>
            </a:xfrm>
            <a:prstGeom prst="line">
              <a:avLst/>
            </a:prstGeom>
            <a:ln w="47244" cap="rnd">
              <a:solidFill>
                <a:srgbClr val="F2F2F2"/>
              </a:solidFill>
            </a:ln>
          </p:spPr>
        </p:cxnSp>
        <p:cxnSp>
          <p:nvCxnSpPr>
            <p:cNvPr id="50" name="cross bar"/>
            <p:cNvCxnSpPr/>
            <p:nvPr/>
          </p:nvCxnSpPr>
          <p:spPr>
            <a:xfrm flipV="1">
              <a:off x="3811950" y="3510198"/>
              <a:ext cx="294803" cy="294803"/>
            </a:xfrm>
            <a:prstGeom prst="line">
              <a:avLst/>
            </a:prstGeom>
            <a:ln w="47244" cap="rnd">
              <a:solidFill>
                <a:srgbClr val="F2F2F2"/>
              </a:solidFill>
            </a:ln>
          </p:spPr>
        </p:cxnSp>
        <p:sp>
          <p:nvSpPr>
            <p:cNvPr id="51" name="card"/>
            <p:cNvSpPr/>
            <p:nvPr/>
          </p:nvSpPr>
          <p:spPr>
            <a:xfrm>
              <a:off x="4334255" y="3547872"/>
              <a:ext cx="3520440" cy="1828800"/>
            </a:xfrm>
            <a:prstGeom prst="roundRect">
              <a:avLst>
                <a:gd name="adj" fmla="val 4000"/>
              </a:avLst>
            </a:prstGeom>
            <a:solidFill>
              <a:srgbClr val="2B2F36"/>
            </a:solidFill>
            <a:ln w="19050">
              <a:solidFill>
                <a:srgbClr val="4A515B"/>
              </a:solidFill>
            </a:ln>
          </p:spPr>
          <p:txBody>
            <a:bodyPr rtlCol="0" anchor="ctr"/>
            <a:lstStyle/>
            <a:p>
              <a:pPr algn="ctr"/>
              <a:endParaRPr/>
            </a:p>
          </p:txBody>
        </p:sp>
        <p:sp>
          <p:nvSpPr>
            <p:cNvPr id="52" name="tooth"/>
            <p:cNvSpPr/>
            <p:nvPr/>
          </p:nvSpPr>
          <p:spPr>
            <a:xfrm>
              <a:off x="5001767" y="4069080"/>
              <a:ext cx="128016" cy="182880"/>
            </a:xfrm>
            <a:prstGeom prst="rect">
              <a:avLst/>
            </a:prstGeom>
            <a:solidFill>
              <a:srgbClr val="9AA0A6"/>
            </a:solidFill>
            <a:ln>
              <a:noFill/>
            </a:ln>
          </p:spPr>
          <p:txBody>
            <a:bodyPr rtlCol="0" anchor="ctr"/>
            <a:lstStyle/>
            <a:p>
              <a:pPr algn="ctr"/>
              <a:endParaRPr/>
            </a:p>
          </p:txBody>
        </p:sp>
        <p:sp>
          <p:nvSpPr>
            <p:cNvPr id="53" name="tooth"/>
            <p:cNvSpPr/>
            <p:nvPr/>
          </p:nvSpPr>
          <p:spPr>
            <a:xfrm rot="2700000">
              <a:off x="5215138" y="4157461"/>
              <a:ext cx="128016" cy="182880"/>
            </a:xfrm>
            <a:prstGeom prst="rect">
              <a:avLst/>
            </a:prstGeom>
            <a:solidFill>
              <a:srgbClr val="9AA0A6"/>
            </a:solidFill>
            <a:ln>
              <a:noFill/>
            </a:ln>
          </p:spPr>
          <p:txBody>
            <a:bodyPr rtlCol="0" anchor="ctr"/>
            <a:lstStyle/>
            <a:p>
              <a:pPr algn="ctr"/>
              <a:endParaRPr/>
            </a:p>
          </p:txBody>
        </p:sp>
        <p:sp>
          <p:nvSpPr>
            <p:cNvPr id="54" name="tooth"/>
            <p:cNvSpPr/>
            <p:nvPr/>
          </p:nvSpPr>
          <p:spPr>
            <a:xfrm rot="5400000">
              <a:off x="5303519" y="4370832"/>
              <a:ext cx="128016" cy="182880"/>
            </a:xfrm>
            <a:prstGeom prst="rect">
              <a:avLst/>
            </a:prstGeom>
            <a:solidFill>
              <a:srgbClr val="9AA0A6"/>
            </a:solidFill>
            <a:ln>
              <a:noFill/>
            </a:ln>
          </p:spPr>
          <p:txBody>
            <a:bodyPr rtlCol="0" anchor="ctr"/>
            <a:lstStyle/>
            <a:p>
              <a:pPr algn="ctr"/>
              <a:endParaRPr/>
            </a:p>
          </p:txBody>
        </p:sp>
        <p:sp>
          <p:nvSpPr>
            <p:cNvPr id="55" name="tooth"/>
            <p:cNvSpPr/>
            <p:nvPr/>
          </p:nvSpPr>
          <p:spPr>
            <a:xfrm rot="8100000">
              <a:off x="5215138" y="4584202"/>
              <a:ext cx="128016" cy="182880"/>
            </a:xfrm>
            <a:prstGeom prst="rect">
              <a:avLst/>
            </a:prstGeom>
            <a:solidFill>
              <a:srgbClr val="9AA0A6"/>
            </a:solidFill>
            <a:ln>
              <a:noFill/>
            </a:ln>
          </p:spPr>
          <p:txBody>
            <a:bodyPr rtlCol="0" anchor="ctr"/>
            <a:lstStyle/>
            <a:p>
              <a:pPr algn="ctr"/>
              <a:endParaRPr/>
            </a:p>
          </p:txBody>
        </p:sp>
        <p:sp>
          <p:nvSpPr>
            <p:cNvPr id="56" name="tooth"/>
            <p:cNvSpPr/>
            <p:nvPr/>
          </p:nvSpPr>
          <p:spPr>
            <a:xfrm rot="10800000">
              <a:off x="5001767" y="4672584"/>
              <a:ext cx="128016" cy="182880"/>
            </a:xfrm>
            <a:prstGeom prst="rect">
              <a:avLst/>
            </a:prstGeom>
            <a:solidFill>
              <a:srgbClr val="9AA0A6"/>
            </a:solidFill>
            <a:ln>
              <a:noFill/>
            </a:ln>
          </p:spPr>
          <p:txBody>
            <a:bodyPr rtlCol="0" anchor="ctr"/>
            <a:lstStyle/>
            <a:p>
              <a:pPr algn="ctr"/>
              <a:endParaRPr/>
            </a:p>
          </p:txBody>
        </p:sp>
        <p:sp>
          <p:nvSpPr>
            <p:cNvPr id="57" name="tooth"/>
            <p:cNvSpPr/>
            <p:nvPr/>
          </p:nvSpPr>
          <p:spPr>
            <a:xfrm rot="13500000">
              <a:off x="4788397" y="4584202"/>
              <a:ext cx="128016" cy="182880"/>
            </a:xfrm>
            <a:prstGeom prst="rect">
              <a:avLst/>
            </a:prstGeom>
            <a:solidFill>
              <a:srgbClr val="9AA0A6"/>
            </a:solidFill>
            <a:ln>
              <a:noFill/>
            </a:ln>
          </p:spPr>
          <p:txBody>
            <a:bodyPr rtlCol="0" anchor="ctr"/>
            <a:lstStyle/>
            <a:p>
              <a:pPr algn="ctr"/>
              <a:endParaRPr/>
            </a:p>
          </p:txBody>
        </p:sp>
        <p:sp>
          <p:nvSpPr>
            <p:cNvPr id="58" name="tooth"/>
            <p:cNvSpPr/>
            <p:nvPr/>
          </p:nvSpPr>
          <p:spPr>
            <a:xfrm rot="16200000">
              <a:off x="4700015" y="4370832"/>
              <a:ext cx="128016" cy="182880"/>
            </a:xfrm>
            <a:prstGeom prst="rect">
              <a:avLst/>
            </a:prstGeom>
            <a:solidFill>
              <a:srgbClr val="9AA0A6"/>
            </a:solidFill>
            <a:ln>
              <a:noFill/>
            </a:ln>
          </p:spPr>
          <p:txBody>
            <a:bodyPr rtlCol="0" anchor="ctr"/>
            <a:lstStyle/>
            <a:p>
              <a:pPr algn="ctr"/>
              <a:endParaRPr/>
            </a:p>
          </p:txBody>
        </p:sp>
        <p:sp>
          <p:nvSpPr>
            <p:cNvPr id="59" name="tooth"/>
            <p:cNvSpPr/>
            <p:nvPr/>
          </p:nvSpPr>
          <p:spPr>
            <a:xfrm rot="18900000">
              <a:off x="4788397" y="4157461"/>
              <a:ext cx="128016" cy="182880"/>
            </a:xfrm>
            <a:prstGeom prst="rect">
              <a:avLst/>
            </a:prstGeom>
            <a:solidFill>
              <a:srgbClr val="9AA0A6"/>
            </a:solidFill>
            <a:ln>
              <a:noFill/>
            </a:ln>
          </p:spPr>
          <p:txBody>
            <a:bodyPr rtlCol="0" anchor="ctr"/>
            <a:lstStyle/>
            <a:p>
              <a:pPr algn="ctr"/>
              <a:endParaRPr/>
            </a:p>
          </p:txBody>
        </p:sp>
        <p:sp>
          <p:nvSpPr>
            <p:cNvPr id="60" name="gear"/>
            <p:cNvSpPr/>
            <p:nvPr/>
          </p:nvSpPr>
          <p:spPr>
            <a:xfrm>
              <a:off x="4818888" y="4215384"/>
              <a:ext cx="493776" cy="493776"/>
            </a:xfrm>
            <a:prstGeom prst="ellipse">
              <a:avLst/>
            </a:prstGeom>
            <a:solidFill>
              <a:srgbClr val="9AA0A6"/>
            </a:solidFill>
            <a:ln>
              <a:noFill/>
            </a:ln>
          </p:spPr>
          <p:txBody>
            <a:bodyPr rtlCol="0" anchor="ctr"/>
            <a:lstStyle/>
            <a:p>
              <a:pPr algn="ctr"/>
              <a:endParaRPr/>
            </a:p>
          </p:txBody>
        </p:sp>
        <p:sp>
          <p:nvSpPr>
            <p:cNvPr id="61" name="gear hole"/>
            <p:cNvSpPr/>
            <p:nvPr/>
          </p:nvSpPr>
          <p:spPr>
            <a:xfrm>
              <a:off x="4965191" y="4361688"/>
              <a:ext cx="201168" cy="201168"/>
            </a:xfrm>
            <a:prstGeom prst="ellipse">
              <a:avLst/>
            </a:prstGeom>
            <a:solidFill>
              <a:srgbClr val="2B2F36"/>
            </a:solidFill>
            <a:ln>
              <a:noFill/>
            </a:ln>
          </p:spPr>
          <p:txBody>
            <a:bodyPr rtlCol="0" anchor="ctr"/>
            <a:lstStyle/>
            <a:p>
              <a:pPr algn="ctr"/>
              <a:endParaRPr/>
            </a:p>
          </p:txBody>
        </p:sp>
        <p:sp>
          <p:nvSpPr>
            <p:cNvPr id="62" name="card label"/>
            <p:cNvSpPr txBox="1"/>
            <p:nvPr/>
          </p:nvSpPr>
          <p:spPr>
            <a:xfrm>
              <a:off x="5751575" y="3730752"/>
              <a:ext cx="1965960" cy="1463040"/>
            </a:xfrm>
            <a:prstGeom prst="rect">
              <a:avLst/>
            </a:prstGeom>
            <a:noFill/>
          </p:spPr>
          <p:txBody>
            <a:bodyPr wrap="square" lIns="18288" tIns="9144" rIns="18288" bIns="9144" anchor="ctr">
              <a:noAutofit/>
            </a:bodyPr>
            <a:lstStyle/>
            <a:p>
              <a:pPr algn="l"/>
              <a:r>
                <a:rPr lang="en-GB" sz="2200" b="1" i="0" strike="sngStrike">
                  <a:solidFill>
                    <a:srgbClr val="F2F2F2"/>
                  </a:solidFill>
                  <a:latin typeface="Arial"/>
                </a:rPr>
                <a:t>Automatic fixer</a:t>
              </a:r>
            </a:p>
          </p:txBody>
        </p:sp>
        <p:sp>
          <p:nvSpPr>
            <p:cNvPr id="63" name="cross disc"/>
            <p:cNvSpPr/>
            <p:nvPr/>
          </p:nvSpPr>
          <p:spPr>
            <a:xfrm>
              <a:off x="7461504" y="3374136"/>
              <a:ext cx="566928" cy="566928"/>
            </a:xfrm>
            <a:prstGeom prst="ellipse">
              <a:avLst/>
            </a:prstGeom>
            <a:solidFill>
              <a:srgbClr val="E5484D"/>
            </a:solidFill>
            <a:ln>
              <a:noFill/>
            </a:ln>
          </p:spPr>
          <p:txBody>
            <a:bodyPr rtlCol="0" anchor="ctr"/>
            <a:lstStyle/>
            <a:p>
              <a:pPr algn="ctr"/>
              <a:endParaRPr/>
            </a:p>
          </p:txBody>
        </p:sp>
        <p:cxnSp>
          <p:nvCxnSpPr>
            <p:cNvPr id="64" name="cross bar"/>
            <p:cNvCxnSpPr/>
            <p:nvPr/>
          </p:nvCxnSpPr>
          <p:spPr>
            <a:xfrm>
              <a:off x="7597566" y="3510198"/>
              <a:ext cx="294803" cy="294803"/>
            </a:xfrm>
            <a:prstGeom prst="line">
              <a:avLst/>
            </a:prstGeom>
            <a:ln w="47244" cap="rnd">
              <a:solidFill>
                <a:srgbClr val="F2F2F2"/>
              </a:solidFill>
            </a:ln>
          </p:spPr>
        </p:cxnSp>
        <p:cxnSp>
          <p:nvCxnSpPr>
            <p:cNvPr id="65" name="cross bar"/>
            <p:cNvCxnSpPr/>
            <p:nvPr/>
          </p:nvCxnSpPr>
          <p:spPr>
            <a:xfrm flipV="1">
              <a:off x="7597566" y="3510198"/>
              <a:ext cx="294803" cy="294803"/>
            </a:xfrm>
            <a:prstGeom prst="line">
              <a:avLst/>
            </a:prstGeom>
            <a:ln w="47244" cap="rnd">
              <a:solidFill>
                <a:srgbClr val="F2F2F2"/>
              </a:solidFill>
            </a:ln>
          </p:spPr>
        </p:cxnSp>
        <p:sp>
          <p:nvSpPr>
            <p:cNvPr id="66" name="card"/>
            <p:cNvSpPr/>
            <p:nvPr/>
          </p:nvSpPr>
          <p:spPr>
            <a:xfrm>
              <a:off x="8119871" y="3547872"/>
              <a:ext cx="3520440" cy="1828800"/>
            </a:xfrm>
            <a:prstGeom prst="roundRect">
              <a:avLst>
                <a:gd name="adj" fmla="val 4000"/>
              </a:avLst>
            </a:prstGeom>
            <a:solidFill>
              <a:srgbClr val="2B2F36"/>
            </a:solidFill>
            <a:ln w="19050">
              <a:solidFill>
                <a:srgbClr val="4A515B"/>
              </a:solidFill>
            </a:ln>
          </p:spPr>
          <p:txBody>
            <a:bodyPr rtlCol="0" anchor="ctr"/>
            <a:lstStyle/>
            <a:p>
              <a:pPr algn="ctr"/>
              <a:endParaRPr/>
            </a:p>
          </p:txBody>
        </p:sp>
        <p:sp>
          <p:nvSpPr>
            <p:cNvPr id="67" name="icon engine cab"/>
            <p:cNvSpPr/>
            <p:nvPr/>
          </p:nvSpPr>
          <p:spPr>
            <a:xfrm>
              <a:off x="8439912" y="4355287"/>
              <a:ext cx="260604" cy="225856"/>
            </a:xfrm>
            <a:prstGeom prst="roundRect">
              <a:avLst>
                <a:gd name="adj" fmla="val 11538"/>
              </a:avLst>
            </a:prstGeom>
            <a:solidFill>
              <a:srgbClr val="9AA0A6"/>
            </a:solidFill>
            <a:ln>
              <a:noFill/>
            </a:ln>
          </p:spPr>
          <p:txBody>
            <a:bodyPr rtlCol="0" anchor="ctr"/>
            <a:lstStyle/>
            <a:p>
              <a:pPr algn="ctr"/>
              <a:endParaRPr/>
            </a:p>
          </p:txBody>
        </p:sp>
        <p:sp>
          <p:nvSpPr>
            <p:cNvPr id="68" name="icon engine boiler"/>
            <p:cNvSpPr/>
            <p:nvPr/>
          </p:nvSpPr>
          <p:spPr>
            <a:xfrm>
              <a:off x="8683142" y="4424781"/>
              <a:ext cx="486460" cy="156362"/>
            </a:xfrm>
            <a:prstGeom prst="roundRect">
              <a:avLst>
                <a:gd name="adj" fmla="val 44444"/>
              </a:avLst>
            </a:prstGeom>
            <a:solidFill>
              <a:srgbClr val="9AA0A6"/>
            </a:solidFill>
            <a:ln>
              <a:noFill/>
            </a:ln>
          </p:spPr>
          <p:txBody>
            <a:bodyPr rtlCol="0" anchor="ctr"/>
            <a:lstStyle/>
            <a:p>
              <a:pPr algn="ctr"/>
              <a:endParaRPr/>
            </a:p>
          </p:txBody>
        </p:sp>
        <p:sp>
          <p:nvSpPr>
            <p:cNvPr id="69" name="icon engine chimney"/>
            <p:cNvSpPr/>
            <p:nvPr/>
          </p:nvSpPr>
          <p:spPr>
            <a:xfrm>
              <a:off x="9047988" y="4285792"/>
              <a:ext cx="78181" cy="147675"/>
            </a:xfrm>
            <a:prstGeom prst="rect">
              <a:avLst/>
            </a:prstGeom>
            <a:solidFill>
              <a:srgbClr val="3A3F47"/>
            </a:solidFill>
            <a:ln w="9525">
              <a:solidFill>
                <a:srgbClr val="9AA0A6"/>
              </a:solidFill>
            </a:ln>
          </p:spPr>
          <p:txBody>
            <a:bodyPr rtlCol="0" anchor="ctr"/>
            <a:lstStyle/>
            <a:p>
              <a:pPr algn="ctr"/>
              <a:endParaRPr/>
            </a:p>
          </p:txBody>
        </p:sp>
        <p:sp>
          <p:nvSpPr>
            <p:cNvPr id="70" name="icon engine frame"/>
            <p:cNvSpPr/>
            <p:nvPr/>
          </p:nvSpPr>
          <p:spPr>
            <a:xfrm>
              <a:off x="8439912" y="4581144"/>
              <a:ext cx="729691" cy="34747"/>
            </a:xfrm>
            <a:prstGeom prst="rect">
              <a:avLst/>
            </a:prstGeom>
            <a:solidFill>
              <a:srgbClr val="3A3F47"/>
            </a:solidFill>
            <a:ln w="9525">
              <a:solidFill>
                <a:srgbClr val="9AA0A6"/>
              </a:solidFill>
            </a:ln>
          </p:spPr>
          <p:txBody>
            <a:bodyPr rtlCol="0" anchor="ctr"/>
            <a:lstStyle/>
            <a:p>
              <a:pPr algn="ctr"/>
              <a:endParaRPr/>
            </a:p>
          </p:txBody>
        </p:sp>
        <p:sp>
          <p:nvSpPr>
            <p:cNvPr id="71" name="icon engine wheel"/>
            <p:cNvSpPr/>
            <p:nvPr/>
          </p:nvSpPr>
          <p:spPr>
            <a:xfrm>
              <a:off x="8509406" y="4572457"/>
              <a:ext cx="121615" cy="121615"/>
            </a:xfrm>
            <a:prstGeom prst="ellipse">
              <a:avLst/>
            </a:prstGeom>
            <a:solidFill>
              <a:srgbClr val="1B1D21"/>
            </a:solidFill>
            <a:ln w="15875">
              <a:solidFill>
                <a:srgbClr val="9AA0A6"/>
              </a:solidFill>
            </a:ln>
          </p:spPr>
          <p:txBody>
            <a:bodyPr rtlCol="0" anchor="ctr"/>
            <a:lstStyle/>
            <a:p>
              <a:pPr algn="ctr"/>
              <a:endParaRPr/>
            </a:p>
          </p:txBody>
        </p:sp>
        <p:sp>
          <p:nvSpPr>
            <p:cNvPr id="72" name="icon engine wheel"/>
            <p:cNvSpPr/>
            <p:nvPr/>
          </p:nvSpPr>
          <p:spPr>
            <a:xfrm>
              <a:off x="8691829" y="4572457"/>
              <a:ext cx="121615" cy="121615"/>
            </a:xfrm>
            <a:prstGeom prst="ellipse">
              <a:avLst/>
            </a:prstGeom>
            <a:solidFill>
              <a:srgbClr val="1B1D21"/>
            </a:solidFill>
            <a:ln w="15875">
              <a:solidFill>
                <a:srgbClr val="9AA0A6"/>
              </a:solidFill>
            </a:ln>
          </p:spPr>
          <p:txBody>
            <a:bodyPr rtlCol="0" anchor="ctr"/>
            <a:lstStyle/>
            <a:p>
              <a:pPr algn="ctr"/>
              <a:endParaRPr/>
            </a:p>
          </p:txBody>
        </p:sp>
        <p:sp>
          <p:nvSpPr>
            <p:cNvPr id="73" name="icon engine wheel"/>
            <p:cNvSpPr/>
            <p:nvPr/>
          </p:nvSpPr>
          <p:spPr>
            <a:xfrm>
              <a:off x="8874252" y="4572457"/>
              <a:ext cx="121615" cy="121615"/>
            </a:xfrm>
            <a:prstGeom prst="ellipse">
              <a:avLst/>
            </a:prstGeom>
            <a:solidFill>
              <a:srgbClr val="1B1D21"/>
            </a:solidFill>
            <a:ln w="15875">
              <a:solidFill>
                <a:srgbClr val="9AA0A6"/>
              </a:solidFill>
            </a:ln>
          </p:spPr>
          <p:txBody>
            <a:bodyPr rtlCol="0" anchor="ctr"/>
            <a:lstStyle/>
            <a:p>
              <a:pPr algn="ctr"/>
              <a:endParaRPr/>
            </a:p>
          </p:txBody>
        </p:sp>
        <p:sp>
          <p:nvSpPr>
            <p:cNvPr id="74" name="icon engine wheel"/>
            <p:cNvSpPr/>
            <p:nvPr/>
          </p:nvSpPr>
          <p:spPr>
            <a:xfrm>
              <a:off x="9030614" y="4572457"/>
              <a:ext cx="121615" cy="121615"/>
            </a:xfrm>
            <a:prstGeom prst="ellipse">
              <a:avLst/>
            </a:prstGeom>
            <a:solidFill>
              <a:srgbClr val="1B1D21"/>
            </a:solidFill>
            <a:ln w="15875">
              <a:solidFill>
                <a:srgbClr val="9AA0A6"/>
              </a:solidFill>
            </a:ln>
          </p:spPr>
          <p:txBody>
            <a:bodyPr rtlCol="0" anchor="ctr"/>
            <a:lstStyle/>
            <a:p>
              <a:pPr algn="ctr"/>
              <a:endParaRPr/>
            </a:p>
          </p:txBody>
        </p:sp>
        <p:sp>
          <p:nvSpPr>
            <p:cNvPr id="75" name="card label"/>
            <p:cNvSpPr txBox="1"/>
            <p:nvPr/>
          </p:nvSpPr>
          <p:spPr>
            <a:xfrm>
              <a:off x="9537192" y="3730752"/>
              <a:ext cx="1965960" cy="1463040"/>
            </a:xfrm>
            <a:prstGeom prst="rect">
              <a:avLst/>
            </a:prstGeom>
            <a:noFill/>
          </p:spPr>
          <p:txBody>
            <a:bodyPr wrap="square" lIns="18288" tIns="9144" rIns="18288" bIns="9144" anchor="ctr">
              <a:noAutofit/>
            </a:bodyPr>
            <a:lstStyle/>
            <a:p>
              <a:pPr algn="l"/>
              <a:r>
                <a:rPr lang="en-GB" sz="2200" b="1" i="0" strike="sngStrike">
                  <a:solidFill>
                    <a:srgbClr val="F2F2F2"/>
                  </a:solidFill>
                  <a:latin typeface="Arial"/>
                </a:rPr>
                <a:t>Train driver</a:t>
              </a:r>
            </a:p>
          </p:txBody>
        </p:sp>
        <p:sp>
          <p:nvSpPr>
            <p:cNvPr id="76" name="cross disc"/>
            <p:cNvSpPr/>
            <p:nvPr/>
          </p:nvSpPr>
          <p:spPr>
            <a:xfrm>
              <a:off x="11247119" y="3374136"/>
              <a:ext cx="566928" cy="566928"/>
            </a:xfrm>
            <a:prstGeom prst="ellipse">
              <a:avLst/>
            </a:prstGeom>
            <a:solidFill>
              <a:srgbClr val="E5484D"/>
            </a:solidFill>
            <a:ln>
              <a:noFill/>
            </a:ln>
          </p:spPr>
          <p:txBody>
            <a:bodyPr rtlCol="0" anchor="ctr"/>
            <a:lstStyle/>
            <a:p>
              <a:pPr algn="ctr"/>
              <a:endParaRPr/>
            </a:p>
          </p:txBody>
        </p:sp>
        <p:cxnSp>
          <p:nvCxnSpPr>
            <p:cNvPr id="77" name="cross bar"/>
            <p:cNvCxnSpPr/>
            <p:nvPr/>
          </p:nvCxnSpPr>
          <p:spPr>
            <a:xfrm>
              <a:off x="11383182" y="3510198"/>
              <a:ext cx="294803" cy="294803"/>
            </a:xfrm>
            <a:prstGeom prst="line">
              <a:avLst/>
            </a:prstGeom>
            <a:ln w="47244" cap="rnd">
              <a:solidFill>
                <a:srgbClr val="F2F2F2"/>
              </a:solidFill>
            </a:ln>
          </p:spPr>
        </p:cxnSp>
        <p:cxnSp>
          <p:nvCxnSpPr>
            <p:cNvPr id="78" name="cross bar"/>
            <p:cNvCxnSpPr/>
            <p:nvPr/>
          </p:nvCxnSpPr>
          <p:spPr>
            <a:xfrm flipV="1">
              <a:off x="11383182" y="3510198"/>
              <a:ext cx="294803" cy="294803"/>
            </a:xfrm>
            <a:prstGeom prst="line">
              <a:avLst/>
            </a:prstGeom>
            <a:ln w="47244" cap="rnd">
              <a:solidFill>
                <a:srgbClr val="F2F2F2"/>
              </a:solidFill>
            </a:ln>
          </p:spPr>
        </p:cxnSp>
      </p:grpSp>
      <p:sp>
        <p:nvSpPr>
          <p:cNvPr id="7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8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81"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She teaches. She does not run, check or fix your railway.</a:t>
            </a:r>
          </a:p>
        </p:txBody>
      </p:sp>
      <p:sp>
        <p:nvSpPr>
          <p:cNvPr id="82"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5</a:t>
            </a:r>
          </a:p>
        </p:txBody>
      </p:sp>
    </p:spTree>
    <p:extLst>
      <p:ext uri="{BB962C8B-B14F-4D97-AF65-F5344CB8AC3E}">
        <p14:creationId xmlns:p14="http://schemas.microsoft.com/office/powerpoint/2010/main" val="2209267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9"/>
                                        </p:tgtEl>
                                        <p:attrNameLst>
                                          <p:attrName>style.visibility</p:attrName>
                                        </p:attrNameLst>
                                      </p:cBhvr>
                                      <p:to>
                                        <p:strVal val="visible"/>
                                      </p:to>
                                    </p:set>
                                    <p:animEffect transition="in" filter="fade">
                                      <p:cBhvr>
                                        <p:cTn id="10" dur="500"/>
                                        <p:tgtEl>
                                          <p:spTgt spid="79"/>
                                        </p:tgtEl>
                                      </p:cBhvr>
                                    </p:animEffect>
                                  </p:childTnLst>
                                </p:cTn>
                              </p:par>
                              <p:par>
                                <p:cTn id="11" presetID="10" presetClass="entr" presetSubtype="0" fill="hold" nodeType="withEffect">
                                  <p:stCondLst>
                                    <p:cond delay="600"/>
                                  </p:stCondLst>
                                  <p:childTnLst>
                                    <p:set>
                                      <p:cBhvr>
                                        <p:cTn id="12" dur="1" fill="hold">
                                          <p:stCondLst>
                                            <p:cond delay="0"/>
                                          </p:stCondLst>
                                        </p:cTn>
                                        <p:tgtEl>
                                          <p:spTgt spid="80"/>
                                        </p:tgtEl>
                                        <p:attrNameLst>
                                          <p:attrName>style.visibility</p:attrName>
                                        </p:attrNameLst>
                                      </p:cBhvr>
                                      <p:to>
                                        <p:strVal val="visible"/>
                                      </p:to>
                                    </p:set>
                                    <p:animEffect transition="in" filter="fade">
                                      <p:cBhvr>
                                        <p:cTn id="13" dur="500"/>
                                        <p:tgtEl>
                                          <p:spTgt spid="80"/>
                                        </p:tgtEl>
                                      </p:cBhvr>
                                    </p:animEffect>
                                  </p:childTnLst>
                                </p:cTn>
                              </p:par>
                              <p:par>
                                <p:cTn id="14" presetID="10" presetClass="entr" presetSubtype="0" fill="hold" nodeType="withEffect">
                                  <p:stCondLst>
                                    <p:cond delay="900"/>
                                  </p:stCondLst>
                                  <p:childTnLst>
                                    <p:set>
                                      <p:cBhvr>
                                        <p:cTn id="15" dur="1" fill="hold">
                                          <p:stCondLst>
                                            <p:cond delay="0"/>
                                          </p:stCondLst>
                                        </p:cTn>
                                        <p:tgtEl>
                                          <p:spTgt spid="81"/>
                                        </p:tgtEl>
                                        <p:attrNameLst>
                                          <p:attrName>style.visibility</p:attrName>
                                        </p:attrNameLst>
                                      </p:cBhvr>
                                      <p:to>
                                        <p:strVal val="visible"/>
                                      </p:to>
                                    </p:set>
                                    <p:animEffect transition="in" filter="fade">
                                      <p:cBhvr>
                                        <p:cTn id="16"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Lessons, not answers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Lesson card and refused button" descr="A lesson card titled How blocks work, with a green tick. Beside it, a Fix my railway button with a red cross: she does not fix your railway for you."/>
          <p:cNvGrpSpPr/>
          <p:nvPr/>
        </p:nvGrpSpPr>
        <p:grpSpPr>
          <a:xfrm>
            <a:off x="1005840" y="1257300"/>
            <a:ext cx="10629900" cy="4046219"/>
            <a:chOff x="1005840" y="1257300"/>
            <a:chExt cx="10629900" cy="4046219"/>
          </a:xfrm>
        </p:grpSpPr>
        <p:sp>
          <p:nvSpPr>
            <p:cNvPr id="5" name="lesson card"/>
            <p:cNvSpPr/>
            <p:nvPr/>
          </p:nvSpPr>
          <p:spPr>
            <a:xfrm>
              <a:off x="1005840" y="1554480"/>
              <a:ext cx="4480560" cy="3749039"/>
            </a:xfrm>
            <a:prstGeom prst="roundRect">
              <a:avLst>
                <a:gd name="adj" fmla="val 2439"/>
              </a:avLst>
            </a:prstGeom>
            <a:solidFill>
              <a:srgbClr val="2B2F36"/>
            </a:solidFill>
            <a:ln w="31750">
              <a:solidFill>
                <a:srgbClr val="F28C28"/>
              </a:solidFill>
            </a:ln>
          </p:spPr>
          <p:txBody>
            <a:bodyPr rtlCol="0" anchor="ctr"/>
            <a:lstStyle/>
            <a:p>
              <a:pPr algn="ctr"/>
              <a:endParaRPr/>
            </a:p>
          </p:txBody>
        </p:sp>
        <p:sp>
          <p:nvSpPr>
            <p:cNvPr id="6" name="lesson preview"/>
            <p:cNvSpPr/>
            <p:nvPr/>
          </p:nvSpPr>
          <p:spPr>
            <a:xfrm>
              <a:off x="1371600" y="1920240"/>
              <a:ext cx="3749040" cy="1737360"/>
            </a:xfrm>
            <a:prstGeom prst="roundRect">
              <a:avLst>
                <a:gd name="adj" fmla="val 4210"/>
              </a:avLst>
            </a:prstGeom>
            <a:solidFill>
              <a:srgbClr val="F4F5F6"/>
            </a:solidFill>
            <a:ln>
              <a:noFill/>
            </a:ln>
          </p:spPr>
          <p:txBody>
            <a:bodyPr rtlCol="0" anchor="ctr"/>
            <a:lstStyle/>
            <a:p>
              <a:pPr algn="ctr"/>
              <a:endParaRPr/>
            </a:p>
          </p:txBody>
        </p:sp>
        <p:sp>
          <p:nvSpPr>
            <p:cNvPr id="7" name="preview loop"/>
            <p:cNvSpPr/>
            <p:nvPr/>
          </p:nvSpPr>
          <p:spPr>
            <a:xfrm>
              <a:off x="1828800" y="2240280"/>
              <a:ext cx="2834640" cy="1097280"/>
            </a:xfrm>
            <a:prstGeom prst="roundRect">
              <a:avLst>
                <a:gd name="adj" fmla="val 50000"/>
              </a:avLst>
            </a:prstGeom>
            <a:noFill/>
            <a:ln w="38100">
              <a:solidFill>
                <a:srgbClr val="7A828C"/>
              </a:solidFill>
            </a:ln>
          </p:spPr>
          <p:txBody>
            <a:bodyPr rtlCol="0" anchor="ctr"/>
            <a:lstStyle/>
            <a:p>
              <a:pPr algn="ctr"/>
              <a:endParaRPr/>
            </a:p>
          </p:txBody>
        </p:sp>
        <p:sp>
          <p:nvSpPr>
            <p:cNvPr id="8" name="play disc"/>
            <p:cNvSpPr/>
            <p:nvPr/>
          </p:nvSpPr>
          <p:spPr>
            <a:xfrm>
              <a:off x="2971800" y="2514600"/>
              <a:ext cx="548640" cy="548640"/>
            </a:xfrm>
            <a:prstGeom prst="ellipse">
              <a:avLst/>
            </a:prstGeom>
            <a:solidFill>
              <a:srgbClr val="F28C28"/>
            </a:solidFill>
            <a:ln>
              <a:noFill/>
            </a:ln>
          </p:spPr>
          <p:txBody>
            <a:bodyPr rtlCol="0" anchor="ctr"/>
            <a:lstStyle/>
            <a:p>
              <a:pPr algn="ctr"/>
              <a:endParaRPr/>
            </a:p>
          </p:txBody>
        </p:sp>
        <p:sp>
          <p:nvSpPr>
            <p:cNvPr id="9" name="play"/>
            <p:cNvSpPr/>
            <p:nvPr/>
          </p:nvSpPr>
          <p:spPr>
            <a:xfrm>
              <a:off x="3171139" y="2642615"/>
              <a:ext cx="248717" cy="292609"/>
            </a:xfrm>
            <a:custGeom>
              <a:avLst/>
              <a:gdLst/>
              <a:ahLst/>
              <a:cxnLst/>
              <a:rect l="l" t="t" r="r" b="b"/>
              <a:pathLst>
                <a:path w="248717" h="292609">
                  <a:moveTo>
                    <a:pt x="0" y="0"/>
                  </a:moveTo>
                  <a:lnTo>
                    <a:pt x="0" y="292609"/>
                  </a:lnTo>
                  <a:lnTo>
                    <a:pt x="248717" y="146305"/>
                  </a:lnTo>
                  <a:close/>
                </a:path>
              </a:pathLst>
            </a:custGeom>
            <a:solidFill>
              <a:srgbClr val="101418"/>
            </a:solidFill>
            <a:ln>
              <a:noFill/>
            </a:ln>
          </p:spPr>
          <p:txBody>
            <a:bodyPr rtlCol="0" anchor="ctr"/>
            <a:lstStyle/>
            <a:p>
              <a:pPr algn="ctr"/>
              <a:endParaRPr/>
            </a:p>
          </p:txBody>
        </p:sp>
        <p:sp>
          <p:nvSpPr>
            <p:cNvPr id="10" name="lesson title"/>
            <p:cNvSpPr txBox="1"/>
            <p:nvPr/>
          </p:nvSpPr>
          <p:spPr>
            <a:xfrm>
              <a:off x="1188720" y="3931920"/>
              <a:ext cx="4114800" cy="731520"/>
            </a:xfrm>
            <a:prstGeom prst="rect">
              <a:avLst/>
            </a:prstGeom>
            <a:noFill/>
          </p:spPr>
          <p:txBody>
            <a:bodyPr wrap="square" lIns="18288" tIns="9144" rIns="18288" bIns="9144" anchor="ctr">
              <a:noAutofit/>
            </a:bodyPr>
            <a:lstStyle/>
            <a:p>
              <a:pPr algn="ctr"/>
              <a:r>
                <a:rPr lang="en-GB" sz="2800" b="1" i="0">
                  <a:solidFill>
                    <a:srgbClr val="F2F2F2"/>
                  </a:solidFill>
                  <a:latin typeface="Arial"/>
                </a:rPr>
                <a:t>How blocks work</a:t>
              </a:r>
            </a:p>
          </p:txBody>
        </p:sp>
        <p:sp>
          <p:nvSpPr>
            <p:cNvPr id="11" name="tick disc"/>
            <p:cNvSpPr/>
            <p:nvPr/>
          </p:nvSpPr>
          <p:spPr>
            <a:xfrm>
              <a:off x="5006340" y="1257300"/>
              <a:ext cx="777240" cy="777240"/>
            </a:xfrm>
            <a:prstGeom prst="ellipse">
              <a:avLst/>
            </a:prstGeom>
            <a:solidFill>
              <a:srgbClr val="3FB950"/>
            </a:solidFill>
            <a:ln>
              <a:noFill/>
            </a:ln>
          </p:spPr>
          <p:txBody>
            <a:bodyPr rtlCol="0" anchor="ctr"/>
            <a:lstStyle/>
            <a:p>
              <a:pPr algn="ctr"/>
              <a:endParaRPr/>
            </a:p>
          </p:txBody>
        </p:sp>
        <p:sp>
          <p:nvSpPr>
            <p:cNvPr id="12" name="tick mark"/>
            <p:cNvSpPr/>
            <p:nvPr/>
          </p:nvSpPr>
          <p:spPr>
            <a:xfrm>
              <a:off x="5161788" y="1443837"/>
              <a:ext cx="497433" cy="404165"/>
            </a:xfrm>
            <a:custGeom>
              <a:avLst/>
              <a:gdLst/>
              <a:ahLst/>
              <a:cxnLst/>
              <a:rect l="l" t="t" r="r" b="b"/>
              <a:pathLst>
                <a:path w="497433" h="404165">
                  <a:moveTo>
                    <a:pt x="0" y="217627"/>
                  </a:moveTo>
                  <a:lnTo>
                    <a:pt x="170992" y="404165"/>
                  </a:lnTo>
                  <a:lnTo>
                    <a:pt x="497433" y="0"/>
                  </a:lnTo>
                </a:path>
              </a:pathLst>
            </a:custGeom>
            <a:noFill/>
            <a:ln w="75565">
              <a:solidFill>
                <a:srgbClr val="101418"/>
              </a:solidFill>
            </a:ln>
          </p:spPr>
          <p:txBody>
            <a:bodyPr rtlCol="0" anchor="ctr"/>
            <a:lstStyle/>
            <a:p>
              <a:pPr algn="ctr"/>
              <a:endParaRPr/>
            </a:p>
          </p:txBody>
        </p:sp>
        <p:sp>
          <p:nvSpPr>
            <p:cNvPr id="13" name="refused button"/>
            <p:cNvSpPr/>
            <p:nvPr/>
          </p:nvSpPr>
          <p:spPr>
            <a:xfrm>
              <a:off x="6858000" y="2743200"/>
              <a:ext cx="4480560" cy="1463040"/>
            </a:xfrm>
            <a:prstGeom prst="roundRect">
              <a:avLst>
                <a:gd name="adj" fmla="val 18749"/>
              </a:avLst>
            </a:prstGeom>
            <a:solidFill>
              <a:srgbClr val="343A43"/>
            </a:solidFill>
            <a:ln w="31750">
              <a:solidFill>
                <a:srgbClr val="A9B0B8"/>
              </a:solidFill>
              <a:prstDash val="dash"/>
            </a:ln>
          </p:spPr>
          <p:txBody>
            <a:bodyPr wrap="square" lIns="54864" tIns="27432" rIns="54864" bIns="27432" rtlCol="0" anchor="ctr">
              <a:noAutofit/>
            </a:bodyPr>
            <a:lstStyle/>
            <a:p>
              <a:pPr algn="ctr"/>
              <a:r>
                <a:rPr lang="en-GB" sz="2800" b="1" i="0">
                  <a:solidFill>
                    <a:srgbClr val="A9B0B8"/>
                  </a:solidFill>
                  <a:latin typeface="Arial"/>
                </a:rPr>
                <a:t>Fix my railway</a:t>
              </a:r>
            </a:p>
          </p:txBody>
        </p:sp>
        <p:sp>
          <p:nvSpPr>
            <p:cNvPr id="14" name="cross disc"/>
            <p:cNvSpPr/>
            <p:nvPr/>
          </p:nvSpPr>
          <p:spPr>
            <a:xfrm>
              <a:off x="10858500" y="2446020"/>
              <a:ext cx="777240" cy="777240"/>
            </a:xfrm>
            <a:prstGeom prst="ellipse">
              <a:avLst/>
            </a:prstGeom>
            <a:solidFill>
              <a:srgbClr val="E5484D"/>
            </a:solidFill>
            <a:ln>
              <a:noFill/>
            </a:ln>
          </p:spPr>
          <p:txBody>
            <a:bodyPr rtlCol="0" anchor="ctr"/>
            <a:lstStyle/>
            <a:p>
              <a:pPr algn="ctr"/>
              <a:endParaRPr/>
            </a:p>
          </p:txBody>
        </p:sp>
        <p:cxnSp>
          <p:nvCxnSpPr>
            <p:cNvPr id="15" name="cross bar"/>
            <p:cNvCxnSpPr/>
            <p:nvPr/>
          </p:nvCxnSpPr>
          <p:spPr>
            <a:xfrm>
              <a:off x="11045037" y="2632557"/>
              <a:ext cx="404165" cy="404165"/>
            </a:xfrm>
            <a:prstGeom prst="line">
              <a:avLst/>
            </a:prstGeom>
            <a:ln w="64769" cap="rnd">
              <a:solidFill>
                <a:srgbClr val="F2F2F2"/>
              </a:solidFill>
            </a:ln>
          </p:spPr>
        </p:cxnSp>
        <p:cxnSp>
          <p:nvCxnSpPr>
            <p:cNvPr id="16" name="cross bar"/>
            <p:cNvCxnSpPr/>
            <p:nvPr/>
          </p:nvCxnSpPr>
          <p:spPr>
            <a:xfrm flipV="1">
              <a:off x="11045037" y="2632557"/>
              <a:ext cx="404165" cy="404165"/>
            </a:xfrm>
            <a:prstGeom prst="line">
              <a:avLst/>
            </a:prstGeom>
            <a:ln w="64769" cap="rnd">
              <a:solidFill>
                <a:srgbClr val="F2F2F2"/>
              </a:solidFill>
            </a:ln>
          </p:spPr>
        </p:cxnSp>
      </p:grpSp>
      <p:sp>
        <p:nvSpPr>
          <p:cNvPr id="1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8"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9"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Lessons explain how railways work. You still solve your own problems.</a:t>
            </a:r>
          </a:p>
        </p:txBody>
      </p:sp>
      <p:sp>
        <p:nvSpPr>
          <p:cNvPr id="20"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6</a:t>
            </a:r>
          </a:p>
        </p:txBody>
      </p:sp>
    </p:spTree>
    <p:extLst>
      <p:ext uri="{BB962C8B-B14F-4D97-AF65-F5344CB8AC3E}">
        <p14:creationId xmlns:p14="http://schemas.microsoft.com/office/powerpoint/2010/main" val="11323410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6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9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The railway library</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Shelf of lesson tiles" descr="A shelf of seven lesson tiles. The first four are open and orange. The last three are locked, grey, with padlocks. An arrow shows that tiles open as you unlock technology."/>
          <p:cNvGrpSpPr/>
          <p:nvPr/>
        </p:nvGrpSpPr>
        <p:grpSpPr>
          <a:xfrm>
            <a:off x="608076" y="1627632"/>
            <a:ext cx="10972799" cy="3236976"/>
            <a:chOff x="608076" y="1627632"/>
            <a:chExt cx="10972799" cy="3236976"/>
          </a:xfrm>
        </p:grpSpPr>
        <p:sp>
          <p:nvSpPr>
            <p:cNvPr id="5" name="open tile"/>
            <p:cNvSpPr/>
            <p:nvPr/>
          </p:nvSpPr>
          <p:spPr>
            <a:xfrm>
              <a:off x="790956" y="2286000"/>
              <a:ext cx="1280160" cy="1737360"/>
            </a:xfrm>
            <a:prstGeom prst="roundRect">
              <a:avLst>
                <a:gd name="adj" fmla="val 7142"/>
              </a:avLst>
            </a:prstGeom>
            <a:solidFill>
              <a:srgbClr val="F28C28"/>
            </a:solidFill>
            <a:ln>
              <a:noFill/>
            </a:ln>
          </p:spPr>
          <p:txBody>
            <a:bodyPr rtlCol="0" anchor="ctr"/>
            <a:lstStyle/>
            <a:p>
              <a:pPr algn="ctr"/>
              <a:endParaRPr/>
            </a:p>
          </p:txBody>
        </p:sp>
        <p:sp>
          <p:nvSpPr>
            <p:cNvPr id="6" name="tile screen"/>
            <p:cNvSpPr/>
            <p:nvPr/>
          </p:nvSpPr>
          <p:spPr>
            <a:xfrm>
              <a:off x="973836" y="2514600"/>
              <a:ext cx="914399" cy="822960"/>
            </a:xfrm>
            <a:prstGeom prst="roundRect">
              <a:avLst>
                <a:gd name="adj" fmla="val 5555"/>
              </a:avLst>
            </a:prstGeom>
            <a:solidFill>
              <a:srgbClr val="F4F5F6"/>
            </a:solidFill>
            <a:ln>
              <a:noFill/>
            </a:ln>
          </p:spPr>
          <p:txBody>
            <a:bodyPr rtlCol="0" anchor="ctr"/>
            <a:lstStyle/>
            <a:p>
              <a:pPr algn="ctr"/>
              <a:endParaRPr/>
            </a:p>
          </p:txBody>
        </p:sp>
        <p:sp>
          <p:nvSpPr>
            <p:cNvPr id="7" name="play"/>
            <p:cNvSpPr/>
            <p:nvPr/>
          </p:nvSpPr>
          <p:spPr>
            <a:xfrm>
              <a:off x="1330452" y="2743200"/>
              <a:ext cx="310896" cy="365760"/>
            </a:xfrm>
            <a:custGeom>
              <a:avLst/>
              <a:gdLst/>
              <a:ahLst/>
              <a:cxnLst/>
              <a:rect l="l" t="t" r="r" b="b"/>
              <a:pathLst>
                <a:path w="310896" h="365760">
                  <a:moveTo>
                    <a:pt x="0" y="0"/>
                  </a:moveTo>
                  <a:lnTo>
                    <a:pt x="0" y="365760"/>
                  </a:lnTo>
                  <a:lnTo>
                    <a:pt x="310896" y="182880"/>
                  </a:lnTo>
                  <a:close/>
                </a:path>
              </a:pathLst>
            </a:custGeom>
            <a:solidFill>
              <a:srgbClr val="F28C28"/>
            </a:solidFill>
            <a:ln>
              <a:noFill/>
            </a:ln>
          </p:spPr>
          <p:txBody>
            <a:bodyPr rtlCol="0" anchor="ctr"/>
            <a:lstStyle/>
            <a:p>
              <a:pPr algn="ctr"/>
              <a:endParaRPr/>
            </a:p>
          </p:txBody>
        </p:sp>
        <p:sp>
          <p:nvSpPr>
            <p:cNvPr id="8" name="tile line"/>
            <p:cNvSpPr/>
            <p:nvPr/>
          </p:nvSpPr>
          <p:spPr>
            <a:xfrm>
              <a:off x="973836" y="3520440"/>
              <a:ext cx="914399" cy="91440"/>
            </a:xfrm>
            <a:prstGeom prst="rect">
              <a:avLst/>
            </a:prstGeom>
            <a:solidFill>
              <a:srgbClr val="101418"/>
            </a:solidFill>
            <a:ln>
              <a:noFill/>
            </a:ln>
          </p:spPr>
          <p:txBody>
            <a:bodyPr rtlCol="0" anchor="ctr"/>
            <a:lstStyle/>
            <a:p>
              <a:pPr algn="ctr"/>
              <a:endParaRPr/>
            </a:p>
          </p:txBody>
        </p:sp>
        <p:sp>
          <p:nvSpPr>
            <p:cNvPr id="9" name="tile line"/>
            <p:cNvSpPr/>
            <p:nvPr/>
          </p:nvSpPr>
          <p:spPr>
            <a:xfrm>
              <a:off x="973836" y="3703320"/>
              <a:ext cx="548639" cy="91440"/>
            </a:xfrm>
            <a:prstGeom prst="rect">
              <a:avLst/>
            </a:prstGeom>
            <a:solidFill>
              <a:srgbClr val="101418"/>
            </a:solidFill>
            <a:ln>
              <a:noFill/>
            </a:ln>
          </p:spPr>
          <p:txBody>
            <a:bodyPr rtlCol="0" anchor="ctr"/>
            <a:lstStyle/>
            <a:p>
              <a:pPr algn="ctr"/>
              <a:endParaRPr/>
            </a:p>
          </p:txBody>
        </p:sp>
        <p:sp>
          <p:nvSpPr>
            <p:cNvPr id="10" name="open tile"/>
            <p:cNvSpPr/>
            <p:nvPr/>
          </p:nvSpPr>
          <p:spPr>
            <a:xfrm>
              <a:off x="2345436" y="2286000"/>
              <a:ext cx="1280160" cy="1737360"/>
            </a:xfrm>
            <a:prstGeom prst="roundRect">
              <a:avLst>
                <a:gd name="adj" fmla="val 7142"/>
              </a:avLst>
            </a:prstGeom>
            <a:solidFill>
              <a:srgbClr val="F28C28"/>
            </a:solidFill>
            <a:ln>
              <a:noFill/>
            </a:ln>
          </p:spPr>
          <p:txBody>
            <a:bodyPr rtlCol="0" anchor="ctr"/>
            <a:lstStyle/>
            <a:p>
              <a:pPr algn="ctr"/>
              <a:endParaRPr/>
            </a:p>
          </p:txBody>
        </p:sp>
        <p:sp>
          <p:nvSpPr>
            <p:cNvPr id="11" name="tile screen"/>
            <p:cNvSpPr/>
            <p:nvPr/>
          </p:nvSpPr>
          <p:spPr>
            <a:xfrm>
              <a:off x="2528316" y="2514600"/>
              <a:ext cx="914399" cy="822960"/>
            </a:xfrm>
            <a:prstGeom prst="roundRect">
              <a:avLst>
                <a:gd name="adj" fmla="val 5555"/>
              </a:avLst>
            </a:prstGeom>
            <a:solidFill>
              <a:srgbClr val="F4F5F6"/>
            </a:solidFill>
            <a:ln>
              <a:noFill/>
            </a:ln>
          </p:spPr>
          <p:txBody>
            <a:bodyPr rtlCol="0" anchor="ctr"/>
            <a:lstStyle/>
            <a:p>
              <a:pPr algn="ctr"/>
              <a:endParaRPr/>
            </a:p>
          </p:txBody>
        </p:sp>
        <p:sp>
          <p:nvSpPr>
            <p:cNvPr id="12" name="play"/>
            <p:cNvSpPr/>
            <p:nvPr/>
          </p:nvSpPr>
          <p:spPr>
            <a:xfrm>
              <a:off x="2884932" y="2743200"/>
              <a:ext cx="310896" cy="365760"/>
            </a:xfrm>
            <a:custGeom>
              <a:avLst/>
              <a:gdLst/>
              <a:ahLst/>
              <a:cxnLst/>
              <a:rect l="l" t="t" r="r" b="b"/>
              <a:pathLst>
                <a:path w="310896" h="365760">
                  <a:moveTo>
                    <a:pt x="0" y="0"/>
                  </a:moveTo>
                  <a:lnTo>
                    <a:pt x="0" y="365760"/>
                  </a:lnTo>
                  <a:lnTo>
                    <a:pt x="310896" y="182880"/>
                  </a:lnTo>
                  <a:close/>
                </a:path>
              </a:pathLst>
            </a:custGeom>
            <a:solidFill>
              <a:srgbClr val="F28C28"/>
            </a:solidFill>
            <a:ln>
              <a:noFill/>
            </a:ln>
          </p:spPr>
          <p:txBody>
            <a:bodyPr rtlCol="0" anchor="ctr"/>
            <a:lstStyle/>
            <a:p>
              <a:pPr algn="ctr"/>
              <a:endParaRPr/>
            </a:p>
          </p:txBody>
        </p:sp>
        <p:sp>
          <p:nvSpPr>
            <p:cNvPr id="13" name="tile line"/>
            <p:cNvSpPr/>
            <p:nvPr/>
          </p:nvSpPr>
          <p:spPr>
            <a:xfrm>
              <a:off x="2528316" y="3520440"/>
              <a:ext cx="914399" cy="91440"/>
            </a:xfrm>
            <a:prstGeom prst="rect">
              <a:avLst/>
            </a:prstGeom>
            <a:solidFill>
              <a:srgbClr val="101418"/>
            </a:solidFill>
            <a:ln>
              <a:noFill/>
            </a:ln>
          </p:spPr>
          <p:txBody>
            <a:bodyPr rtlCol="0" anchor="ctr"/>
            <a:lstStyle/>
            <a:p>
              <a:pPr algn="ctr"/>
              <a:endParaRPr/>
            </a:p>
          </p:txBody>
        </p:sp>
        <p:sp>
          <p:nvSpPr>
            <p:cNvPr id="14" name="tile line"/>
            <p:cNvSpPr/>
            <p:nvPr/>
          </p:nvSpPr>
          <p:spPr>
            <a:xfrm>
              <a:off x="2528316" y="3703320"/>
              <a:ext cx="548639" cy="91440"/>
            </a:xfrm>
            <a:prstGeom prst="rect">
              <a:avLst/>
            </a:prstGeom>
            <a:solidFill>
              <a:srgbClr val="101418"/>
            </a:solidFill>
            <a:ln>
              <a:noFill/>
            </a:ln>
          </p:spPr>
          <p:txBody>
            <a:bodyPr rtlCol="0" anchor="ctr"/>
            <a:lstStyle/>
            <a:p>
              <a:pPr algn="ctr"/>
              <a:endParaRPr/>
            </a:p>
          </p:txBody>
        </p:sp>
        <p:sp>
          <p:nvSpPr>
            <p:cNvPr id="15" name="open tile"/>
            <p:cNvSpPr/>
            <p:nvPr/>
          </p:nvSpPr>
          <p:spPr>
            <a:xfrm>
              <a:off x="3899916" y="2286000"/>
              <a:ext cx="1280160" cy="1737360"/>
            </a:xfrm>
            <a:prstGeom prst="roundRect">
              <a:avLst>
                <a:gd name="adj" fmla="val 7142"/>
              </a:avLst>
            </a:prstGeom>
            <a:solidFill>
              <a:srgbClr val="F28C28"/>
            </a:solidFill>
            <a:ln>
              <a:noFill/>
            </a:ln>
          </p:spPr>
          <p:txBody>
            <a:bodyPr rtlCol="0" anchor="ctr"/>
            <a:lstStyle/>
            <a:p>
              <a:pPr algn="ctr"/>
              <a:endParaRPr/>
            </a:p>
          </p:txBody>
        </p:sp>
        <p:sp>
          <p:nvSpPr>
            <p:cNvPr id="16" name="tile screen"/>
            <p:cNvSpPr/>
            <p:nvPr/>
          </p:nvSpPr>
          <p:spPr>
            <a:xfrm>
              <a:off x="4082796" y="2514600"/>
              <a:ext cx="914399" cy="822960"/>
            </a:xfrm>
            <a:prstGeom prst="roundRect">
              <a:avLst>
                <a:gd name="adj" fmla="val 5555"/>
              </a:avLst>
            </a:prstGeom>
            <a:solidFill>
              <a:srgbClr val="F4F5F6"/>
            </a:solidFill>
            <a:ln>
              <a:noFill/>
            </a:ln>
          </p:spPr>
          <p:txBody>
            <a:bodyPr rtlCol="0" anchor="ctr"/>
            <a:lstStyle/>
            <a:p>
              <a:pPr algn="ctr"/>
              <a:endParaRPr/>
            </a:p>
          </p:txBody>
        </p:sp>
        <p:sp>
          <p:nvSpPr>
            <p:cNvPr id="17" name="play"/>
            <p:cNvSpPr/>
            <p:nvPr/>
          </p:nvSpPr>
          <p:spPr>
            <a:xfrm>
              <a:off x="4439412" y="2743200"/>
              <a:ext cx="310896" cy="365760"/>
            </a:xfrm>
            <a:custGeom>
              <a:avLst/>
              <a:gdLst/>
              <a:ahLst/>
              <a:cxnLst/>
              <a:rect l="l" t="t" r="r" b="b"/>
              <a:pathLst>
                <a:path w="310896" h="365760">
                  <a:moveTo>
                    <a:pt x="0" y="0"/>
                  </a:moveTo>
                  <a:lnTo>
                    <a:pt x="0" y="365760"/>
                  </a:lnTo>
                  <a:lnTo>
                    <a:pt x="310896" y="182880"/>
                  </a:lnTo>
                  <a:close/>
                </a:path>
              </a:pathLst>
            </a:custGeom>
            <a:solidFill>
              <a:srgbClr val="F28C28"/>
            </a:solidFill>
            <a:ln>
              <a:noFill/>
            </a:ln>
          </p:spPr>
          <p:txBody>
            <a:bodyPr rtlCol="0" anchor="ctr"/>
            <a:lstStyle/>
            <a:p>
              <a:pPr algn="ctr"/>
              <a:endParaRPr/>
            </a:p>
          </p:txBody>
        </p:sp>
        <p:sp>
          <p:nvSpPr>
            <p:cNvPr id="18" name="tile line"/>
            <p:cNvSpPr/>
            <p:nvPr/>
          </p:nvSpPr>
          <p:spPr>
            <a:xfrm>
              <a:off x="4082796" y="3520440"/>
              <a:ext cx="914399" cy="91440"/>
            </a:xfrm>
            <a:prstGeom prst="rect">
              <a:avLst/>
            </a:prstGeom>
            <a:solidFill>
              <a:srgbClr val="101418"/>
            </a:solidFill>
            <a:ln>
              <a:noFill/>
            </a:ln>
          </p:spPr>
          <p:txBody>
            <a:bodyPr rtlCol="0" anchor="ctr"/>
            <a:lstStyle/>
            <a:p>
              <a:pPr algn="ctr"/>
              <a:endParaRPr/>
            </a:p>
          </p:txBody>
        </p:sp>
        <p:sp>
          <p:nvSpPr>
            <p:cNvPr id="19" name="tile line"/>
            <p:cNvSpPr/>
            <p:nvPr/>
          </p:nvSpPr>
          <p:spPr>
            <a:xfrm>
              <a:off x="4082796" y="3703320"/>
              <a:ext cx="548639" cy="91440"/>
            </a:xfrm>
            <a:prstGeom prst="rect">
              <a:avLst/>
            </a:prstGeom>
            <a:solidFill>
              <a:srgbClr val="101418"/>
            </a:solidFill>
            <a:ln>
              <a:noFill/>
            </a:ln>
          </p:spPr>
          <p:txBody>
            <a:bodyPr rtlCol="0" anchor="ctr"/>
            <a:lstStyle/>
            <a:p>
              <a:pPr algn="ctr"/>
              <a:endParaRPr/>
            </a:p>
          </p:txBody>
        </p:sp>
        <p:sp>
          <p:nvSpPr>
            <p:cNvPr id="20" name="open tile"/>
            <p:cNvSpPr/>
            <p:nvPr/>
          </p:nvSpPr>
          <p:spPr>
            <a:xfrm>
              <a:off x="5454396" y="2286000"/>
              <a:ext cx="1280160" cy="1737360"/>
            </a:xfrm>
            <a:prstGeom prst="roundRect">
              <a:avLst>
                <a:gd name="adj" fmla="val 7142"/>
              </a:avLst>
            </a:prstGeom>
            <a:solidFill>
              <a:srgbClr val="F28C28"/>
            </a:solidFill>
            <a:ln>
              <a:noFill/>
            </a:ln>
          </p:spPr>
          <p:txBody>
            <a:bodyPr rtlCol="0" anchor="ctr"/>
            <a:lstStyle/>
            <a:p>
              <a:pPr algn="ctr"/>
              <a:endParaRPr/>
            </a:p>
          </p:txBody>
        </p:sp>
        <p:sp>
          <p:nvSpPr>
            <p:cNvPr id="21" name="tile screen"/>
            <p:cNvSpPr/>
            <p:nvPr/>
          </p:nvSpPr>
          <p:spPr>
            <a:xfrm>
              <a:off x="5637276" y="2514600"/>
              <a:ext cx="914399" cy="822960"/>
            </a:xfrm>
            <a:prstGeom prst="roundRect">
              <a:avLst>
                <a:gd name="adj" fmla="val 5555"/>
              </a:avLst>
            </a:prstGeom>
            <a:solidFill>
              <a:srgbClr val="F4F5F6"/>
            </a:solidFill>
            <a:ln>
              <a:noFill/>
            </a:ln>
          </p:spPr>
          <p:txBody>
            <a:bodyPr rtlCol="0" anchor="ctr"/>
            <a:lstStyle/>
            <a:p>
              <a:pPr algn="ctr"/>
              <a:endParaRPr/>
            </a:p>
          </p:txBody>
        </p:sp>
        <p:sp>
          <p:nvSpPr>
            <p:cNvPr id="22" name="play"/>
            <p:cNvSpPr/>
            <p:nvPr/>
          </p:nvSpPr>
          <p:spPr>
            <a:xfrm>
              <a:off x="5993892" y="2743200"/>
              <a:ext cx="310896" cy="365760"/>
            </a:xfrm>
            <a:custGeom>
              <a:avLst/>
              <a:gdLst/>
              <a:ahLst/>
              <a:cxnLst/>
              <a:rect l="l" t="t" r="r" b="b"/>
              <a:pathLst>
                <a:path w="310896" h="365760">
                  <a:moveTo>
                    <a:pt x="0" y="0"/>
                  </a:moveTo>
                  <a:lnTo>
                    <a:pt x="0" y="365760"/>
                  </a:lnTo>
                  <a:lnTo>
                    <a:pt x="310896" y="182880"/>
                  </a:lnTo>
                  <a:close/>
                </a:path>
              </a:pathLst>
            </a:custGeom>
            <a:solidFill>
              <a:srgbClr val="F28C28"/>
            </a:solidFill>
            <a:ln>
              <a:noFill/>
            </a:ln>
          </p:spPr>
          <p:txBody>
            <a:bodyPr rtlCol="0" anchor="ctr"/>
            <a:lstStyle/>
            <a:p>
              <a:pPr algn="ctr"/>
              <a:endParaRPr/>
            </a:p>
          </p:txBody>
        </p:sp>
        <p:sp>
          <p:nvSpPr>
            <p:cNvPr id="23" name="tile line"/>
            <p:cNvSpPr/>
            <p:nvPr/>
          </p:nvSpPr>
          <p:spPr>
            <a:xfrm>
              <a:off x="5637276" y="3520440"/>
              <a:ext cx="914399" cy="91440"/>
            </a:xfrm>
            <a:prstGeom prst="rect">
              <a:avLst/>
            </a:prstGeom>
            <a:solidFill>
              <a:srgbClr val="101418"/>
            </a:solidFill>
            <a:ln>
              <a:noFill/>
            </a:ln>
          </p:spPr>
          <p:txBody>
            <a:bodyPr rtlCol="0" anchor="ctr"/>
            <a:lstStyle/>
            <a:p>
              <a:pPr algn="ctr"/>
              <a:endParaRPr/>
            </a:p>
          </p:txBody>
        </p:sp>
        <p:sp>
          <p:nvSpPr>
            <p:cNvPr id="24" name="tile line"/>
            <p:cNvSpPr/>
            <p:nvPr/>
          </p:nvSpPr>
          <p:spPr>
            <a:xfrm>
              <a:off x="5637276" y="3703320"/>
              <a:ext cx="548639" cy="91440"/>
            </a:xfrm>
            <a:prstGeom prst="rect">
              <a:avLst/>
            </a:prstGeom>
            <a:solidFill>
              <a:srgbClr val="101418"/>
            </a:solidFill>
            <a:ln>
              <a:noFill/>
            </a:ln>
          </p:spPr>
          <p:txBody>
            <a:bodyPr rtlCol="0" anchor="ctr"/>
            <a:lstStyle/>
            <a:p>
              <a:pPr algn="ctr"/>
              <a:endParaRPr/>
            </a:p>
          </p:txBody>
        </p:sp>
        <p:sp>
          <p:nvSpPr>
            <p:cNvPr id="25" name="locked tile"/>
            <p:cNvSpPr/>
            <p:nvPr/>
          </p:nvSpPr>
          <p:spPr>
            <a:xfrm>
              <a:off x="7008876" y="2286000"/>
              <a:ext cx="1280160" cy="1737360"/>
            </a:xfrm>
            <a:prstGeom prst="roundRect">
              <a:avLst>
                <a:gd name="adj" fmla="val 7142"/>
              </a:avLst>
            </a:prstGeom>
            <a:solidFill>
              <a:srgbClr val="4A515B"/>
            </a:solidFill>
            <a:ln w="19050">
              <a:solidFill>
                <a:srgbClr val="A9B0B8"/>
              </a:solidFill>
            </a:ln>
          </p:spPr>
          <p:txBody>
            <a:bodyPr rtlCol="0" anchor="ctr"/>
            <a:lstStyle/>
            <a:p>
              <a:pPr algn="ctr"/>
              <a:endParaRPr/>
            </a:p>
          </p:txBody>
        </p:sp>
        <p:sp>
          <p:nvSpPr>
            <p:cNvPr id="26" name="padlock shackle"/>
            <p:cNvSpPr/>
            <p:nvPr/>
          </p:nvSpPr>
          <p:spPr>
            <a:xfrm>
              <a:off x="7473208" y="2751831"/>
              <a:ext cx="351495" cy="175748"/>
            </a:xfrm>
            <a:custGeom>
              <a:avLst/>
              <a:gdLst/>
              <a:ahLst/>
              <a:cxnLst/>
              <a:rect l="l" t="t" r="r" b="b"/>
              <a:pathLst>
                <a:path w="351495" h="175748">
                  <a:moveTo>
                    <a:pt x="351495" y="175748"/>
                  </a:moveTo>
                  <a:lnTo>
                    <a:pt x="349992" y="152808"/>
                  </a:lnTo>
                  <a:lnTo>
                    <a:pt x="345507" y="130261"/>
                  </a:lnTo>
                  <a:lnTo>
                    <a:pt x="338117" y="108492"/>
                  </a:lnTo>
                  <a:lnTo>
                    <a:pt x="327949" y="87874"/>
                  </a:lnTo>
                  <a:lnTo>
                    <a:pt x="315178" y="68760"/>
                  </a:lnTo>
                  <a:lnTo>
                    <a:pt x="300020" y="51476"/>
                  </a:lnTo>
                  <a:lnTo>
                    <a:pt x="282736" y="36318"/>
                  </a:lnTo>
                  <a:lnTo>
                    <a:pt x="263621" y="23546"/>
                  </a:lnTo>
                  <a:lnTo>
                    <a:pt x="243003" y="13378"/>
                  </a:lnTo>
                  <a:lnTo>
                    <a:pt x="221234" y="5989"/>
                  </a:lnTo>
                  <a:lnTo>
                    <a:pt x="198687" y="1504"/>
                  </a:lnTo>
                  <a:lnTo>
                    <a:pt x="175748" y="0"/>
                  </a:lnTo>
                  <a:lnTo>
                    <a:pt x="152808" y="1504"/>
                  </a:lnTo>
                  <a:lnTo>
                    <a:pt x="130261" y="5989"/>
                  </a:lnTo>
                  <a:lnTo>
                    <a:pt x="108492" y="13378"/>
                  </a:lnTo>
                  <a:lnTo>
                    <a:pt x="87874" y="23546"/>
                  </a:lnTo>
                  <a:lnTo>
                    <a:pt x="68759" y="36318"/>
                  </a:lnTo>
                  <a:lnTo>
                    <a:pt x="51475" y="51476"/>
                  </a:lnTo>
                  <a:lnTo>
                    <a:pt x="36317" y="68760"/>
                  </a:lnTo>
                  <a:lnTo>
                    <a:pt x="23546" y="87874"/>
                  </a:lnTo>
                  <a:lnTo>
                    <a:pt x="13378" y="108492"/>
                  </a:lnTo>
                  <a:lnTo>
                    <a:pt x="5988" y="130261"/>
                  </a:lnTo>
                  <a:lnTo>
                    <a:pt x="1503" y="152808"/>
                  </a:lnTo>
                  <a:lnTo>
                    <a:pt x="0" y="175748"/>
                  </a:lnTo>
                  <a:lnTo>
                    <a:pt x="68031" y="175748"/>
                  </a:lnTo>
                  <a:lnTo>
                    <a:pt x="68953" y="161688"/>
                  </a:lnTo>
                  <a:lnTo>
                    <a:pt x="71702" y="147869"/>
                  </a:lnTo>
                  <a:lnTo>
                    <a:pt x="76231" y="134527"/>
                  </a:lnTo>
                  <a:lnTo>
                    <a:pt x="82462" y="121890"/>
                  </a:lnTo>
                  <a:lnTo>
                    <a:pt x="90290" y="110175"/>
                  </a:lnTo>
                  <a:lnTo>
                    <a:pt x="99581" y="99581"/>
                  </a:lnTo>
                  <a:lnTo>
                    <a:pt x="110174" y="90291"/>
                  </a:lnTo>
                  <a:lnTo>
                    <a:pt x="121889" y="82463"/>
                  </a:lnTo>
                  <a:lnTo>
                    <a:pt x="134526" y="76231"/>
                  </a:lnTo>
                  <a:lnTo>
                    <a:pt x="147868" y="71702"/>
                  </a:lnTo>
                  <a:lnTo>
                    <a:pt x="161688" y="68953"/>
                  </a:lnTo>
                  <a:lnTo>
                    <a:pt x="175748" y="68032"/>
                  </a:lnTo>
                  <a:lnTo>
                    <a:pt x="189807" y="68953"/>
                  </a:lnTo>
                  <a:lnTo>
                    <a:pt x="203627" y="71702"/>
                  </a:lnTo>
                  <a:lnTo>
                    <a:pt x="216969" y="76231"/>
                  </a:lnTo>
                  <a:lnTo>
                    <a:pt x="229606" y="82463"/>
                  </a:lnTo>
                  <a:lnTo>
                    <a:pt x="241321" y="90291"/>
                  </a:lnTo>
                  <a:lnTo>
                    <a:pt x="251914" y="99581"/>
                  </a:lnTo>
                  <a:lnTo>
                    <a:pt x="261205" y="110175"/>
                  </a:lnTo>
                  <a:lnTo>
                    <a:pt x="269033" y="121890"/>
                  </a:lnTo>
                  <a:lnTo>
                    <a:pt x="275264" y="134527"/>
                  </a:lnTo>
                  <a:lnTo>
                    <a:pt x="279793" y="147869"/>
                  </a:lnTo>
                  <a:lnTo>
                    <a:pt x="282542" y="161688"/>
                  </a:lnTo>
                  <a:lnTo>
                    <a:pt x="283464" y="175748"/>
                  </a:lnTo>
                  <a:close/>
                </a:path>
              </a:pathLst>
            </a:custGeom>
            <a:solidFill>
              <a:srgbClr val="F2F2F2"/>
            </a:solidFill>
            <a:ln>
              <a:noFill/>
            </a:ln>
          </p:spPr>
          <p:txBody>
            <a:bodyPr rtlCol="0" anchor="ctr"/>
            <a:lstStyle/>
            <a:p>
              <a:pPr algn="ctr"/>
              <a:endParaRPr/>
            </a:p>
          </p:txBody>
        </p:sp>
        <p:sp>
          <p:nvSpPr>
            <p:cNvPr id="27" name="padlock shackle leg"/>
            <p:cNvSpPr/>
            <p:nvPr/>
          </p:nvSpPr>
          <p:spPr>
            <a:xfrm>
              <a:off x="7473208" y="2927579"/>
              <a:ext cx="68031" cy="154771"/>
            </a:xfrm>
            <a:prstGeom prst="rect">
              <a:avLst/>
            </a:prstGeom>
            <a:solidFill>
              <a:srgbClr val="F2F2F2"/>
            </a:solidFill>
            <a:ln>
              <a:noFill/>
            </a:ln>
          </p:spPr>
          <p:txBody>
            <a:bodyPr rtlCol="0" anchor="ctr"/>
            <a:lstStyle/>
            <a:p>
              <a:pPr algn="ctr"/>
              <a:endParaRPr/>
            </a:p>
          </p:txBody>
        </p:sp>
        <p:sp>
          <p:nvSpPr>
            <p:cNvPr id="28" name="padlock shackle leg"/>
            <p:cNvSpPr/>
            <p:nvPr/>
          </p:nvSpPr>
          <p:spPr>
            <a:xfrm>
              <a:off x="7756672" y="2927579"/>
              <a:ext cx="68031" cy="154771"/>
            </a:xfrm>
            <a:prstGeom prst="rect">
              <a:avLst/>
            </a:prstGeom>
            <a:solidFill>
              <a:srgbClr val="F2F2F2"/>
            </a:solidFill>
            <a:ln>
              <a:noFill/>
            </a:ln>
          </p:spPr>
          <p:txBody>
            <a:bodyPr rtlCol="0" anchor="ctr"/>
            <a:lstStyle/>
            <a:p>
              <a:pPr algn="ctr"/>
              <a:endParaRPr/>
            </a:p>
          </p:txBody>
        </p:sp>
        <p:sp>
          <p:nvSpPr>
            <p:cNvPr id="29" name="padlock body"/>
            <p:cNvSpPr/>
            <p:nvPr/>
          </p:nvSpPr>
          <p:spPr>
            <a:xfrm>
              <a:off x="7365492" y="3016020"/>
              <a:ext cx="566928" cy="442203"/>
            </a:xfrm>
            <a:prstGeom prst="roundRect">
              <a:avLst>
                <a:gd name="adj" fmla="val 12820"/>
              </a:avLst>
            </a:prstGeom>
            <a:solidFill>
              <a:srgbClr val="F2F2F2"/>
            </a:solidFill>
            <a:ln>
              <a:noFill/>
            </a:ln>
          </p:spPr>
          <p:txBody>
            <a:bodyPr rtlCol="0" anchor="ctr"/>
            <a:lstStyle/>
            <a:p>
              <a:pPr algn="ctr"/>
              <a:endParaRPr/>
            </a:p>
          </p:txBody>
        </p:sp>
        <p:sp>
          <p:nvSpPr>
            <p:cNvPr id="30" name="padlock keyhole"/>
            <p:cNvSpPr/>
            <p:nvPr/>
          </p:nvSpPr>
          <p:spPr>
            <a:xfrm>
              <a:off x="7609271" y="3126571"/>
              <a:ext cx="79369" cy="79369"/>
            </a:xfrm>
            <a:prstGeom prst="ellipse">
              <a:avLst/>
            </a:prstGeom>
            <a:solidFill>
              <a:srgbClr val="101418"/>
            </a:solidFill>
            <a:ln>
              <a:noFill/>
            </a:ln>
          </p:spPr>
          <p:txBody>
            <a:bodyPr rtlCol="0" anchor="ctr"/>
            <a:lstStyle/>
            <a:p>
              <a:pPr algn="ctr"/>
              <a:endParaRPr/>
            </a:p>
          </p:txBody>
        </p:sp>
        <p:sp>
          <p:nvSpPr>
            <p:cNvPr id="31" name="tile line"/>
            <p:cNvSpPr/>
            <p:nvPr/>
          </p:nvSpPr>
          <p:spPr>
            <a:xfrm>
              <a:off x="7191756" y="3611880"/>
              <a:ext cx="914399" cy="91440"/>
            </a:xfrm>
            <a:prstGeom prst="rect">
              <a:avLst/>
            </a:prstGeom>
            <a:solidFill>
              <a:srgbClr val="A9B0B8"/>
            </a:solidFill>
            <a:ln>
              <a:noFill/>
            </a:ln>
          </p:spPr>
          <p:txBody>
            <a:bodyPr rtlCol="0" anchor="ctr"/>
            <a:lstStyle/>
            <a:p>
              <a:pPr algn="ctr"/>
              <a:endParaRPr/>
            </a:p>
          </p:txBody>
        </p:sp>
        <p:sp>
          <p:nvSpPr>
            <p:cNvPr id="32" name="locked tile"/>
            <p:cNvSpPr/>
            <p:nvPr/>
          </p:nvSpPr>
          <p:spPr>
            <a:xfrm>
              <a:off x="8563356" y="2286000"/>
              <a:ext cx="1280160" cy="1737360"/>
            </a:xfrm>
            <a:prstGeom prst="roundRect">
              <a:avLst>
                <a:gd name="adj" fmla="val 7142"/>
              </a:avLst>
            </a:prstGeom>
            <a:solidFill>
              <a:srgbClr val="4A515B"/>
            </a:solidFill>
            <a:ln w="19050">
              <a:solidFill>
                <a:srgbClr val="A9B0B8"/>
              </a:solidFill>
            </a:ln>
          </p:spPr>
          <p:txBody>
            <a:bodyPr rtlCol="0" anchor="ctr"/>
            <a:lstStyle/>
            <a:p>
              <a:pPr algn="ctr"/>
              <a:endParaRPr/>
            </a:p>
          </p:txBody>
        </p:sp>
        <p:sp>
          <p:nvSpPr>
            <p:cNvPr id="33" name="padlock shackle"/>
            <p:cNvSpPr/>
            <p:nvPr/>
          </p:nvSpPr>
          <p:spPr>
            <a:xfrm>
              <a:off x="9027688" y="2751831"/>
              <a:ext cx="351495" cy="175748"/>
            </a:xfrm>
            <a:custGeom>
              <a:avLst/>
              <a:gdLst/>
              <a:ahLst/>
              <a:cxnLst/>
              <a:rect l="l" t="t" r="r" b="b"/>
              <a:pathLst>
                <a:path w="351495" h="175748">
                  <a:moveTo>
                    <a:pt x="351495" y="175748"/>
                  </a:moveTo>
                  <a:lnTo>
                    <a:pt x="349992" y="152808"/>
                  </a:lnTo>
                  <a:lnTo>
                    <a:pt x="345507" y="130261"/>
                  </a:lnTo>
                  <a:lnTo>
                    <a:pt x="338117" y="108492"/>
                  </a:lnTo>
                  <a:lnTo>
                    <a:pt x="327949" y="87874"/>
                  </a:lnTo>
                  <a:lnTo>
                    <a:pt x="315178" y="68760"/>
                  </a:lnTo>
                  <a:lnTo>
                    <a:pt x="300020" y="51476"/>
                  </a:lnTo>
                  <a:lnTo>
                    <a:pt x="282736" y="36318"/>
                  </a:lnTo>
                  <a:lnTo>
                    <a:pt x="263621" y="23546"/>
                  </a:lnTo>
                  <a:lnTo>
                    <a:pt x="243003" y="13378"/>
                  </a:lnTo>
                  <a:lnTo>
                    <a:pt x="221234" y="5989"/>
                  </a:lnTo>
                  <a:lnTo>
                    <a:pt x="198687" y="1504"/>
                  </a:lnTo>
                  <a:lnTo>
                    <a:pt x="175748" y="0"/>
                  </a:lnTo>
                  <a:lnTo>
                    <a:pt x="152808" y="1504"/>
                  </a:lnTo>
                  <a:lnTo>
                    <a:pt x="130261" y="5989"/>
                  </a:lnTo>
                  <a:lnTo>
                    <a:pt x="108492" y="13378"/>
                  </a:lnTo>
                  <a:lnTo>
                    <a:pt x="87874" y="23546"/>
                  </a:lnTo>
                  <a:lnTo>
                    <a:pt x="68759" y="36318"/>
                  </a:lnTo>
                  <a:lnTo>
                    <a:pt x="51475" y="51476"/>
                  </a:lnTo>
                  <a:lnTo>
                    <a:pt x="36317" y="68760"/>
                  </a:lnTo>
                  <a:lnTo>
                    <a:pt x="23546" y="87874"/>
                  </a:lnTo>
                  <a:lnTo>
                    <a:pt x="13378" y="108492"/>
                  </a:lnTo>
                  <a:lnTo>
                    <a:pt x="5988" y="130261"/>
                  </a:lnTo>
                  <a:lnTo>
                    <a:pt x="1503" y="152808"/>
                  </a:lnTo>
                  <a:lnTo>
                    <a:pt x="0" y="175748"/>
                  </a:lnTo>
                  <a:lnTo>
                    <a:pt x="68031" y="175748"/>
                  </a:lnTo>
                  <a:lnTo>
                    <a:pt x="68953" y="161688"/>
                  </a:lnTo>
                  <a:lnTo>
                    <a:pt x="71702" y="147869"/>
                  </a:lnTo>
                  <a:lnTo>
                    <a:pt x="76231" y="134527"/>
                  </a:lnTo>
                  <a:lnTo>
                    <a:pt x="82462" y="121890"/>
                  </a:lnTo>
                  <a:lnTo>
                    <a:pt x="90290" y="110175"/>
                  </a:lnTo>
                  <a:lnTo>
                    <a:pt x="99581" y="99581"/>
                  </a:lnTo>
                  <a:lnTo>
                    <a:pt x="110174" y="90291"/>
                  </a:lnTo>
                  <a:lnTo>
                    <a:pt x="121889" y="82463"/>
                  </a:lnTo>
                  <a:lnTo>
                    <a:pt x="134526" y="76231"/>
                  </a:lnTo>
                  <a:lnTo>
                    <a:pt x="147868" y="71702"/>
                  </a:lnTo>
                  <a:lnTo>
                    <a:pt x="161688" y="68953"/>
                  </a:lnTo>
                  <a:lnTo>
                    <a:pt x="175748" y="68032"/>
                  </a:lnTo>
                  <a:lnTo>
                    <a:pt x="189807" y="68953"/>
                  </a:lnTo>
                  <a:lnTo>
                    <a:pt x="203627" y="71702"/>
                  </a:lnTo>
                  <a:lnTo>
                    <a:pt x="216969" y="76231"/>
                  </a:lnTo>
                  <a:lnTo>
                    <a:pt x="229606" y="82463"/>
                  </a:lnTo>
                  <a:lnTo>
                    <a:pt x="241321" y="90291"/>
                  </a:lnTo>
                  <a:lnTo>
                    <a:pt x="251914" y="99581"/>
                  </a:lnTo>
                  <a:lnTo>
                    <a:pt x="261205" y="110175"/>
                  </a:lnTo>
                  <a:lnTo>
                    <a:pt x="269033" y="121890"/>
                  </a:lnTo>
                  <a:lnTo>
                    <a:pt x="275264" y="134527"/>
                  </a:lnTo>
                  <a:lnTo>
                    <a:pt x="279793" y="147869"/>
                  </a:lnTo>
                  <a:lnTo>
                    <a:pt x="282542" y="161688"/>
                  </a:lnTo>
                  <a:lnTo>
                    <a:pt x="283464" y="175748"/>
                  </a:lnTo>
                  <a:close/>
                </a:path>
              </a:pathLst>
            </a:custGeom>
            <a:solidFill>
              <a:srgbClr val="F2F2F2"/>
            </a:solidFill>
            <a:ln>
              <a:noFill/>
            </a:ln>
          </p:spPr>
          <p:txBody>
            <a:bodyPr rtlCol="0" anchor="ctr"/>
            <a:lstStyle/>
            <a:p>
              <a:pPr algn="ctr"/>
              <a:endParaRPr/>
            </a:p>
          </p:txBody>
        </p:sp>
        <p:sp>
          <p:nvSpPr>
            <p:cNvPr id="34" name="padlock shackle leg"/>
            <p:cNvSpPr/>
            <p:nvPr/>
          </p:nvSpPr>
          <p:spPr>
            <a:xfrm>
              <a:off x="9027688" y="2927579"/>
              <a:ext cx="68031" cy="154771"/>
            </a:xfrm>
            <a:prstGeom prst="rect">
              <a:avLst/>
            </a:prstGeom>
            <a:solidFill>
              <a:srgbClr val="F2F2F2"/>
            </a:solidFill>
            <a:ln>
              <a:noFill/>
            </a:ln>
          </p:spPr>
          <p:txBody>
            <a:bodyPr rtlCol="0" anchor="ctr"/>
            <a:lstStyle/>
            <a:p>
              <a:pPr algn="ctr"/>
              <a:endParaRPr/>
            </a:p>
          </p:txBody>
        </p:sp>
        <p:sp>
          <p:nvSpPr>
            <p:cNvPr id="35" name="padlock shackle leg"/>
            <p:cNvSpPr/>
            <p:nvPr/>
          </p:nvSpPr>
          <p:spPr>
            <a:xfrm>
              <a:off x="9311152" y="2927579"/>
              <a:ext cx="68031" cy="154771"/>
            </a:xfrm>
            <a:prstGeom prst="rect">
              <a:avLst/>
            </a:prstGeom>
            <a:solidFill>
              <a:srgbClr val="F2F2F2"/>
            </a:solidFill>
            <a:ln>
              <a:noFill/>
            </a:ln>
          </p:spPr>
          <p:txBody>
            <a:bodyPr rtlCol="0" anchor="ctr"/>
            <a:lstStyle/>
            <a:p>
              <a:pPr algn="ctr"/>
              <a:endParaRPr/>
            </a:p>
          </p:txBody>
        </p:sp>
        <p:sp>
          <p:nvSpPr>
            <p:cNvPr id="36" name="padlock body"/>
            <p:cNvSpPr/>
            <p:nvPr/>
          </p:nvSpPr>
          <p:spPr>
            <a:xfrm>
              <a:off x="8919972" y="3016020"/>
              <a:ext cx="566928" cy="442203"/>
            </a:xfrm>
            <a:prstGeom prst="roundRect">
              <a:avLst>
                <a:gd name="adj" fmla="val 12820"/>
              </a:avLst>
            </a:prstGeom>
            <a:solidFill>
              <a:srgbClr val="F2F2F2"/>
            </a:solidFill>
            <a:ln>
              <a:noFill/>
            </a:ln>
          </p:spPr>
          <p:txBody>
            <a:bodyPr rtlCol="0" anchor="ctr"/>
            <a:lstStyle/>
            <a:p>
              <a:pPr algn="ctr"/>
              <a:endParaRPr/>
            </a:p>
          </p:txBody>
        </p:sp>
        <p:sp>
          <p:nvSpPr>
            <p:cNvPr id="37" name="padlock keyhole"/>
            <p:cNvSpPr/>
            <p:nvPr/>
          </p:nvSpPr>
          <p:spPr>
            <a:xfrm>
              <a:off x="9163751" y="3126571"/>
              <a:ext cx="79369" cy="79369"/>
            </a:xfrm>
            <a:prstGeom prst="ellipse">
              <a:avLst/>
            </a:prstGeom>
            <a:solidFill>
              <a:srgbClr val="101418"/>
            </a:solidFill>
            <a:ln>
              <a:noFill/>
            </a:ln>
          </p:spPr>
          <p:txBody>
            <a:bodyPr rtlCol="0" anchor="ctr"/>
            <a:lstStyle/>
            <a:p>
              <a:pPr algn="ctr"/>
              <a:endParaRPr/>
            </a:p>
          </p:txBody>
        </p:sp>
        <p:sp>
          <p:nvSpPr>
            <p:cNvPr id="38" name="tile line"/>
            <p:cNvSpPr/>
            <p:nvPr/>
          </p:nvSpPr>
          <p:spPr>
            <a:xfrm>
              <a:off x="8746236" y="3611880"/>
              <a:ext cx="914399" cy="91440"/>
            </a:xfrm>
            <a:prstGeom prst="rect">
              <a:avLst/>
            </a:prstGeom>
            <a:solidFill>
              <a:srgbClr val="A9B0B8"/>
            </a:solidFill>
            <a:ln>
              <a:noFill/>
            </a:ln>
          </p:spPr>
          <p:txBody>
            <a:bodyPr rtlCol="0" anchor="ctr"/>
            <a:lstStyle/>
            <a:p>
              <a:pPr algn="ctr"/>
              <a:endParaRPr/>
            </a:p>
          </p:txBody>
        </p:sp>
        <p:sp>
          <p:nvSpPr>
            <p:cNvPr id="39" name="locked tile"/>
            <p:cNvSpPr/>
            <p:nvPr/>
          </p:nvSpPr>
          <p:spPr>
            <a:xfrm>
              <a:off x="10117836" y="2286000"/>
              <a:ext cx="1280160" cy="1737360"/>
            </a:xfrm>
            <a:prstGeom prst="roundRect">
              <a:avLst>
                <a:gd name="adj" fmla="val 7142"/>
              </a:avLst>
            </a:prstGeom>
            <a:solidFill>
              <a:srgbClr val="4A515B"/>
            </a:solidFill>
            <a:ln w="19050">
              <a:solidFill>
                <a:srgbClr val="A9B0B8"/>
              </a:solidFill>
            </a:ln>
          </p:spPr>
          <p:txBody>
            <a:bodyPr rtlCol="0" anchor="ctr"/>
            <a:lstStyle/>
            <a:p>
              <a:pPr algn="ctr"/>
              <a:endParaRPr/>
            </a:p>
          </p:txBody>
        </p:sp>
        <p:sp>
          <p:nvSpPr>
            <p:cNvPr id="40" name="padlock shackle"/>
            <p:cNvSpPr/>
            <p:nvPr/>
          </p:nvSpPr>
          <p:spPr>
            <a:xfrm>
              <a:off x="10582168" y="2751831"/>
              <a:ext cx="351495" cy="175748"/>
            </a:xfrm>
            <a:custGeom>
              <a:avLst/>
              <a:gdLst/>
              <a:ahLst/>
              <a:cxnLst/>
              <a:rect l="l" t="t" r="r" b="b"/>
              <a:pathLst>
                <a:path w="351495" h="175748">
                  <a:moveTo>
                    <a:pt x="351495" y="175748"/>
                  </a:moveTo>
                  <a:lnTo>
                    <a:pt x="349992" y="152808"/>
                  </a:lnTo>
                  <a:lnTo>
                    <a:pt x="345507" y="130261"/>
                  </a:lnTo>
                  <a:lnTo>
                    <a:pt x="338117" y="108492"/>
                  </a:lnTo>
                  <a:lnTo>
                    <a:pt x="327949" y="87874"/>
                  </a:lnTo>
                  <a:lnTo>
                    <a:pt x="315178" y="68760"/>
                  </a:lnTo>
                  <a:lnTo>
                    <a:pt x="300020" y="51476"/>
                  </a:lnTo>
                  <a:lnTo>
                    <a:pt x="282736" y="36318"/>
                  </a:lnTo>
                  <a:lnTo>
                    <a:pt x="263621" y="23546"/>
                  </a:lnTo>
                  <a:lnTo>
                    <a:pt x="243003" y="13378"/>
                  </a:lnTo>
                  <a:lnTo>
                    <a:pt x="221234" y="5989"/>
                  </a:lnTo>
                  <a:lnTo>
                    <a:pt x="198687" y="1504"/>
                  </a:lnTo>
                  <a:lnTo>
                    <a:pt x="175748" y="0"/>
                  </a:lnTo>
                  <a:lnTo>
                    <a:pt x="152808" y="1504"/>
                  </a:lnTo>
                  <a:lnTo>
                    <a:pt x="130261" y="5989"/>
                  </a:lnTo>
                  <a:lnTo>
                    <a:pt x="108492" y="13378"/>
                  </a:lnTo>
                  <a:lnTo>
                    <a:pt x="87874" y="23546"/>
                  </a:lnTo>
                  <a:lnTo>
                    <a:pt x="68759" y="36318"/>
                  </a:lnTo>
                  <a:lnTo>
                    <a:pt x="51475" y="51476"/>
                  </a:lnTo>
                  <a:lnTo>
                    <a:pt x="36317" y="68760"/>
                  </a:lnTo>
                  <a:lnTo>
                    <a:pt x="23546" y="87874"/>
                  </a:lnTo>
                  <a:lnTo>
                    <a:pt x="13378" y="108492"/>
                  </a:lnTo>
                  <a:lnTo>
                    <a:pt x="5988" y="130261"/>
                  </a:lnTo>
                  <a:lnTo>
                    <a:pt x="1503" y="152808"/>
                  </a:lnTo>
                  <a:lnTo>
                    <a:pt x="0" y="175748"/>
                  </a:lnTo>
                  <a:lnTo>
                    <a:pt x="68031" y="175748"/>
                  </a:lnTo>
                  <a:lnTo>
                    <a:pt x="68953" y="161688"/>
                  </a:lnTo>
                  <a:lnTo>
                    <a:pt x="71702" y="147869"/>
                  </a:lnTo>
                  <a:lnTo>
                    <a:pt x="76231" y="134527"/>
                  </a:lnTo>
                  <a:lnTo>
                    <a:pt x="82462" y="121890"/>
                  </a:lnTo>
                  <a:lnTo>
                    <a:pt x="90290" y="110175"/>
                  </a:lnTo>
                  <a:lnTo>
                    <a:pt x="99581" y="99581"/>
                  </a:lnTo>
                  <a:lnTo>
                    <a:pt x="110174" y="90291"/>
                  </a:lnTo>
                  <a:lnTo>
                    <a:pt x="121889" y="82463"/>
                  </a:lnTo>
                  <a:lnTo>
                    <a:pt x="134526" y="76231"/>
                  </a:lnTo>
                  <a:lnTo>
                    <a:pt x="147868" y="71702"/>
                  </a:lnTo>
                  <a:lnTo>
                    <a:pt x="161688" y="68953"/>
                  </a:lnTo>
                  <a:lnTo>
                    <a:pt x="175748" y="68032"/>
                  </a:lnTo>
                  <a:lnTo>
                    <a:pt x="189807" y="68953"/>
                  </a:lnTo>
                  <a:lnTo>
                    <a:pt x="203627" y="71702"/>
                  </a:lnTo>
                  <a:lnTo>
                    <a:pt x="216969" y="76231"/>
                  </a:lnTo>
                  <a:lnTo>
                    <a:pt x="229606" y="82463"/>
                  </a:lnTo>
                  <a:lnTo>
                    <a:pt x="241321" y="90291"/>
                  </a:lnTo>
                  <a:lnTo>
                    <a:pt x="251914" y="99581"/>
                  </a:lnTo>
                  <a:lnTo>
                    <a:pt x="261205" y="110175"/>
                  </a:lnTo>
                  <a:lnTo>
                    <a:pt x="269033" y="121890"/>
                  </a:lnTo>
                  <a:lnTo>
                    <a:pt x="275264" y="134527"/>
                  </a:lnTo>
                  <a:lnTo>
                    <a:pt x="279793" y="147869"/>
                  </a:lnTo>
                  <a:lnTo>
                    <a:pt x="282542" y="161688"/>
                  </a:lnTo>
                  <a:lnTo>
                    <a:pt x="283464" y="175748"/>
                  </a:lnTo>
                  <a:close/>
                </a:path>
              </a:pathLst>
            </a:custGeom>
            <a:solidFill>
              <a:srgbClr val="F2F2F2"/>
            </a:solidFill>
            <a:ln>
              <a:noFill/>
            </a:ln>
          </p:spPr>
          <p:txBody>
            <a:bodyPr rtlCol="0" anchor="ctr"/>
            <a:lstStyle/>
            <a:p>
              <a:pPr algn="ctr"/>
              <a:endParaRPr/>
            </a:p>
          </p:txBody>
        </p:sp>
        <p:sp>
          <p:nvSpPr>
            <p:cNvPr id="41" name="padlock shackle leg"/>
            <p:cNvSpPr/>
            <p:nvPr/>
          </p:nvSpPr>
          <p:spPr>
            <a:xfrm>
              <a:off x="10582168" y="2927579"/>
              <a:ext cx="68031" cy="154771"/>
            </a:xfrm>
            <a:prstGeom prst="rect">
              <a:avLst/>
            </a:prstGeom>
            <a:solidFill>
              <a:srgbClr val="F2F2F2"/>
            </a:solidFill>
            <a:ln>
              <a:noFill/>
            </a:ln>
          </p:spPr>
          <p:txBody>
            <a:bodyPr rtlCol="0" anchor="ctr"/>
            <a:lstStyle/>
            <a:p>
              <a:pPr algn="ctr"/>
              <a:endParaRPr/>
            </a:p>
          </p:txBody>
        </p:sp>
        <p:sp>
          <p:nvSpPr>
            <p:cNvPr id="42" name="padlock shackle leg"/>
            <p:cNvSpPr/>
            <p:nvPr/>
          </p:nvSpPr>
          <p:spPr>
            <a:xfrm>
              <a:off x="10865632" y="2927579"/>
              <a:ext cx="68031" cy="154771"/>
            </a:xfrm>
            <a:prstGeom prst="rect">
              <a:avLst/>
            </a:prstGeom>
            <a:solidFill>
              <a:srgbClr val="F2F2F2"/>
            </a:solidFill>
            <a:ln>
              <a:noFill/>
            </a:ln>
          </p:spPr>
          <p:txBody>
            <a:bodyPr rtlCol="0" anchor="ctr"/>
            <a:lstStyle/>
            <a:p>
              <a:pPr algn="ctr"/>
              <a:endParaRPr/>
            </a:p>
          </p:txBody>
        </p:sp>
        <p:sp>
          <p:nvSpPr>
            <p:cNvPr id="43" name="padlock body"/>
            <p:cNvSpPr/>
            <p:nvPr/>
          </p:nvSpPr>
          <p:spPr>
            <a:xfrm>
              <a:off x="10474452" y="3016020"/>
              <a:ext cx="566928" cy="442203"/>
            </a:xfrm>
            <a:prstGeom prst="roundRect">
              <a:avLst>
                <a:gd name="adj" fmla="val 12820"/>
              </a:avLst>
            </a:prstGeom>
            <a:solidFill>
              <a:srgbClr val="F2F2F2"/>
            </a:solidFill>
            <a:ln>
              <a:noFill/>
            </a:ln>
          </p:spPr>
          <p:txBody>
            <a:bodyPr rtlCol="0" anchor="ctr"/>
            <a:lstStyle/>
            <a:p>
              <a:pPr algn="ctr"/>
              <a:endParaRPr/>
            </a:p>
          </p:txBody>
        </p:sp>
        <p:sp>
          <p:nvSpPr>
            <p:cNvPr id="44" name="padlock keyhole"/>
            <p:cNvSpPr/>
            <p:nvPr/>
          </p:nvSpPr>
          <p:spPr>
            <a:xfrm>
              <a:off x="10718231" y="3126571"/>
              <a:ext cx="79369" cy="79369"/>
            </a:xfrm>
            <a:prstGeom prst="ellipse">
              <a:avLst/>
            </a:prstGeom>
            <a:solidFill>
              <a:srgbClr val="101418"/>
            </a:solidFill>
            <a:ln>
              <a:noFill/>
            </a:ln>
          </p:spPr>
          <p:txBody>
            <a:bodyPr rtlCol="0" anchor="ctr"/>
            <a:lstStyle/>
            <a:p>
              <a:pPr algn="ctr"/>
              <a:endParaRPr/>
            </a:p>
          </p:txBody>
        </p:sp>
        <p:sp>
          <p:nvSpPr>
            <p:cNvPr id="45" name="tile line"/>
            <p:cNvSpPr/>
            <p:nvPr/>
          </p:nvSpPr>
          <p:spPr>
            <a:xfrm>
              <a:off x="10300716" y="3611880"/>
              <a:ext cx="914399" cy="91440"/>
            </a:xfrm>
            <a:prstGeom prst="rect">
              <a:avLst/>
            </a:prstGeom>
            <a:solidFill>
              <a:srgbClr val="A9B0B8"/>
            </a:solidFill>
            <a:ln>
              <a:noFill/>
            </a:ln>
          </p:spPr>
          <p:txBody>
            <a:bodyPr rtlCol="0" anchor="ctr"/>
            <a:lstStyle/>
            <a:p>
              <a:pPr algn="ctr"/>
              <a:endParaRPr/>
            </a:p>
          </p:txBody>
        </p:sp>
        <p:sp>
          <p:nvSpPr>
            <p:cNvPr id="46" name="shelf board"/>
            <p:cNvSpPr/>
            <p:nvPr/>
          </p:nvSpPr>
          <p:spPr>
            <a:xfrm>
              <a:off x="608076" y="4023360"/>
              <a:ext cx="10972799" cy="182880"/>
            </a:xfrm>
            <a:prstGeom prst="roundRect">
              <a:avLst>
                <a:gd name="adj" fmla="val 20000"/>
              </a:avLst>
            </a:prstGeom>
            <a:solidFill>
              <a:srgbClr val="6B5B4B"/>
            </a:solidFill>
            <a:ln>
              <a:noFill/>
            </a:ln>
          </p:spPr>
          <p:txBody>
            <a:bodyPr rtlCol="0" anchor="ctr"/>
            <a:lstStyle/>
            <a:p>
              <a:pPr algn="ctr"/>
              <a:endParaRPr/>
            </a:p>
          </p:txBody>
        </p:sp>
        <p:cxnSp>
          <p:nvCxnSpPr>
            <p:cNvPr id="47" name="bracket"/>
            <p:cNvCxnSpPr/>
            <p:nvPr/>
          </p:nvCxnSpPr>
          <p:spPr>
            <a:xfrm>
              <a:off x="790956" y="2103120"/>
              <a:ext cx="5943600" cy="0"/>
            </a:xfrm>
            <a:prstGeom prst="line">
              <a:avLst/>
            </a:prstGeom>
            <a:ln w="38100">
              <a:solidFill>
                <a:srgbClr val="F28C28"/>
              </a:solidFill>
            </a:ln>
          </p:spPr>
        </p:cxnSp>
        <p:cxnSp>
          <p:nvCxnSpPr>
            <p:cNvPr id="48" name="bracket tick"/>
            <p:cNvCxnSpPr/>
            <p:nvPr/>
          </p:nvCxnSpPr>
          <p:spPr>
            <a:xfrm>
              <a:off x="790956" y="2103120"/>
              <a:ext cx="0" cy="128016"/>
            </a:xfrm>
            <a:prstGeom prst="line">
              <a:avLst/>
            </a:prstGeom>
            <a:ln w="38100">
              <a:solidFill>
                <a:srgbClr val="F28C28"/>
              </a:solidFill>
            </a:ln>
          </p:spPr>
        </p:cxnSp>
        <p:cxnSp>
          <p:nvCxnSpPr>
            <p:cNvPr id="49" name="bracket tick"/>
            <p:cNvCxnSpPr/>
            <p:nvPr/>
          </p:nvCxnSpPr>
          <p:spPr>
            <a:xfrm>
              <a:off x="6734556" y="2103120"/>
              <a:ext cx="0" cy="128016"/>
            </a:xfrm>
            <a:prstGeom prst="line">
              <a:avLst/>
            </a:prstGeom>
            <a:ln w="38100">
              <a:solidFill>
                <a:srgbClr val="F28C28"/>
              </a:solidFill>
            </a:ln>
          </p:spPr>
        </p:cxnSp>
        <p:sp>
          <p:nvSpPr>
            <p:cNvPr id="50" name="bracket label"/>
            <p:cNvSpPr txBox="1"/>
            <p:nvPr/>
          </p:nvSpPr>
          <p:spPr>
            <a:xfrm>
              <a:off x="3122676" y="1627632"/>
              <a:ext cx="1280160" cy="384048"/>
            </a:xfrm>
            <a:prstGeom prst="rect">
              <a:avLst/>
            </a:prstGeom>
            <a:noFill/>
          </p:spPr>
          <p:txBody>
            <a:bodyPr wrap="square" lIns="18288" tIns="9144" rIns="18288" bIns="9144" anchor="ctr">
              <a:noAutofit/>
            </a:bodyPr>
            <a:lstStyle/>
            <a:p>
              <a:pPr algn="ctr"/>
              <a:r>
                <a:rPr lang="en-GB" sz="2000" b="1" i="0">
                  <a:solidFill>
                    <a:srgbClr val="F2F2F2"/>
                  </a:solidFill>
                  <a:latin typeface="Arial"/>
                </a:rPr>
                <a:t>Open</a:t>
              </a:r>
            </a:p>
          </p:txBody>
        </p:sp>
        <p:cxnSp>
          <p:nvCxnSpPr>
            <p:cNvPr id="51" name="bracket"/>
            <p:cNvCxnSpPr/>
            <p:nvPr/>
          </p:nvCxnSpPr>
          <p:spPr>
            <a:xfrm>
              <a:off x="7008876" y="2103120"/>
              <a:ext cx="4389120" cy="0"/>
            </a:xfrm>
            <a:prstGeom prst="line">
              <a:avLst/>
            </a:prstGeom>
            <a:ln w="38100">
              <a:solidFill>
                <a:srgbClr val="A9B0B8"/>
              </a:solidFill>
            </a:ln>
          </p:spPr>
        </p:cxnSp>
        <p:cxnSp>
          <p:nvCxnSpPr>
            <p:cNvPr id="52" name="bracket tick"/>
            <p:cNvCxnSpPr/>
            <p:nvPr/>
          </p:nvCxnSpPr>
          <p:spPr>
            <a:xfrm>
              <a:off x="7008876" y="2103120"/>
              <a:ext cx="0" cy="128016"/>
            </a:xfrm>
            <a:prstGeom prst="line">
              <a:avLst/>
            </a:prstGeom>
            <a:ln w="38100">
              <a:solidFill>
                <a:srgbClr val="A9B0B8"/>
              </a:solidFill>
            </a:ln>
          </p:spPr>
        </p:cxnSp>
        <p:cxnSp>
          <p:nvCxnSpPr>
            <p:cNvPr id="53" name="bracket tick"/>
            <p:cNvCxnSpPr/>
            <p:nvPr/>
          </p:nvCxnSpPr>
          <p:spPr>
            <a:xfrm>
              <a:off x="11397996" y="2103120"/>
              <a:ext cx="0" cy="128016"/>
            </a:xfrm>
            <a:prstGeom prst="line">
              <a:avLst/>
            </a:prstGeom>
            <a:ln w="38100">
              <a:solidFill>
                <a:srgbClr val="A9B0B8"/>
              </a:solidFill>
            </a:ln>
          </p:spPr>
        </p:cxnSp>
        <p:sp>
          <p:nvSpPr>
            <p:cNvPr id="54" name="bracket label"/>
            <p:cNvSpPr txBox="1"/>
            <p:nvPr/>
          </p:nvSpPr>
          <p:spPr>
            <a:xfrm>
              <a:off x="8563356" y="1627632"/>
              <a:ext cx="1280160" cy="384048"/>
            </a:xfrm>
            <a:prstGeom prst="rect">
              <a:avLst/>
            </a:prstGeom>
            <a:noFill/>
          </p:spPr>
          <p:txBody>
            <a:bodyPr wrap="square" lIns="18288" tIns="9144" rIns="18288" bIns="9144" anchor="ctr">
              <a:noAutofit/>
            </a:bodyPr>
            <a:lstStyle/>
            <a:p>
              <a:pPr algn="ctr"/>
              <a:r>
                <a:rPr lang="en-GB" sz="2000" b="1" i="0">
                  <a:solidFill>
                    <a:srgbClr val="F2F2F2"/>
                  </a:solidFill>
                  <a:latin typeface="Arial"/>
                </a:rPr>
                <a:t>Locked</a:t>
              </a:r>
            </a:p>
          </p:txBody>
        </p:sp>
        <p:cxnSp>
          <p:nvCxnSpPr>
            <p:cNvPr id="55" name="unlock arrow"/>
            <p:cNvCxnSpPr/>
            <p:nvPr/>
          </p:nvCxnSpPr>
          <p:spPr>
            <a:xfrm>
              <a:off x="790956" y="4434840"/>
              <a:ext cx="10607040" cy="0"/>
            </a:xfrm>
            <a:prstGeom prst="line">
              <a:avLst/>
            </a:prstGeom>
            <a:ln w="38100">
              <a:solidFill>
                <a:srgbClr val="F28C28"/>
              </a:solidFill>
              <a:tailEnd type="triangle" w="med" len="med"/>
            </a:ln>
          </p:spPr>
        </p:cxnSp>
        <p:sp>
          <p:nvSpPr>
            <p:cNvPr id="56" name="arrow label"/>
            <p:cNvSpPr txBox="1"/>
            <p:nvPr/>
          </p:nvSpPr>
          <p:spPr>
            <a:xfrm>
              <a:off x="4631436" y="4498848"/>
              <a:ext cx="2926080" cy="365760"/>
            </a:xfrm>
            <a:prstGeom prst="rect">
              <a:avLst/>
            </a:prstGeom>
            <a:noFill/>
          </p:spPr>
          <p:txBody>
            <a:bodyPr wrap="square" lIns="18288" tIns="9144" rIns="18288" bIns="9144" anchor="ctr">
              <a:noAutofit/>
            </a:bodyPr>
            <a:lstStyle/>
            <a:p>
              <a:pPr algn="ctr"/>
              <a:r>
                <a:rPr lang="en-GB" sz="1800" b="1" i="0">
                  <a:solidFill>
                    <a:srgbClr val="F28C28"/>
                  </a:solidFill>
                  <a:latin typeface="Arial"/>
                </a:rPr>
                <a:t>Opens as you unlock</a:t>
              </a:r>
            </a:p>
          </p:txBody>
        </p:sp>
      </p:grpSp>
      <p:grpSp>
        <p:nvGrpSpPr>
          <p:cNvPr id="57" name="Library note" descr="Note with an open book icon: the library is always open to browse."/>
          <p:cNvGrpSpPr/>
          <p:nvPr/>
        </p:nvGrpSpPr>
        <p:grpSpPr>
          <a:xfrm>
            <a:off x="3168396" y="5029200"/>
            <a:ext cx="5852160" cy="530352"/>
            <a:chOff x="3168396" y="5029200"/>
            <a:chExt cx="5852160" cy="530352"/>
          </a:xfrm>
        </p:grpSpPr>
        <p:sp>
          <p:nvSpPr>
            <p:cNvPr id="58" name="note card"/>
            <p:cNvSpPr/>
            <p:nvPr/>
          </p:nvSpPr>
          <p:spPr>
            <a:xfrm>
              <a:off x="3168396" y="5029200"/>
              <a:ext cx="5852160" cy="530352"/>
            </a:xfrm>
            <a:prstGeom prst="roundRect">
              <a:avLst>
                <a:gd name="adj" fmla="val 13793"/>
              </a:avLst>
            </a:prstGeom>
            <a:solidFill>
              <a:srgbClr val="2B2F36"/>
            </a:solidFill>
            <a:ln>
              <a:noFill/>
            </a:ln>
          </p:spPr>
          <p:txBody>
            <a:bodyPr rtlCol="0" anchor="ctr"/>
            <a:lstStyle/>
            <a:p>
              <a:pPr algn="ctr"/>
              <a:endParaRPr/>
            </a:p>
          </p:txBody>
        </p:sp>
        <p:sp>
          <p:nvSpPr>
            <p:cNvPr id="59" name="book left"/>
            <p:cNvSpPr/>
            <p:nvPr/>
          </p:nvSpPr>
          <p:spPr>
            <a:xfrm>
              <a:off x="3351276" y="5084064"/>
              <a:ext cx="457200" cy="329184"/>
            </a:xfrm>
            <a:custGeom>
              <a:avLst/>
              <a:gdLst/>
              <a:ahLst/>
              <a:cxnLst/>
              <a:rect l="l" t="t" r="r" b="b"/>
              <a:pathLst>
                <a:path w="457200" h="329184">
                  <a:moveTo>
                    <a:pt x="0" y="54864"/>
                  </a:moveTo>
                  <a:lnTo>
                    <a:pt x="228600" y="0"/>
                  </a:lnTo>
                  <a:lnTo>
                    <a:pt x="457200" y="54864"/>
                  </a:lnTo>
                  <a:lnTo>
                    <a:pt x="457200" y="329184"/>
                  </a:lnTo>
                  <a:lnTo>
                    <a:pt x="228600" y="274320"/>
                  </a:lnTo>
                  <a:lnTo>
                    <a:pt x="0" y="329184"/>
                  </a:lnTo>
                  <a:close/>
                </a:path>
              </a:pathLst>
            </a:custGeom>
            <a:solidFill>
              <a:srgbClr val="F2F2F2"/>
            </a:solidFill>
            <a:ln>
              <a:noFill/>
            </a:ln>
          </p:spPr>
          <p:txBody>
            <a:bodyPr rtlCol="0" anchor="ctr"/>
            <a:lstStyle/>
            <a:p>
              <a:pPr algn="ctr"/>
              <a:endParaRPr/>
            </a:p>
          </p:txBody>
        </p:sp>
        <p:sp>
          <p:nvSpPr>
            <p:cNvPr id="60" name="book right"/>
            <p:cNvSpPr/>
            <p:nvPr/>
          </p:nvSpPr>
          <p:spPr>
            <a:xfrm>
              <a:off x="3826763" y="5084064"/>
              <a:ext cx="457201" cy="329184"/>
            </a:xfrm>
            <a:custGeom>
              <a:avLst/>
              <a:gdLst/>
              <a:ahLst/>
              <a:cxnLst/>
              <a:rect l="l" t="t" r="r" b="b"/>
              <a:pathLst>
                <a:path w="457201" h="329184">
                  <a:moveTo>
                    <a:pt x="0" y="54864"/>
                  </a:moveTo>
                  <a:lnTo>
                    <a:pt x="228600" y="0"/>
                  </a:lnTo>
                  <a:lnTo>
                    <a:pt x="457201" y="54864"/>
                  </a:lnTo>
                  <a:lnTo>
                    <a:pt x="457201" y="329184"/>
                  </a:lnTo>
                  <a:lnTo>
                    <a:pt x="228600" y="274320"/>
                  </a:lnTo>
                  <a:lnTo>
                    <a:pt x="0" y="329184"/>
                  </a:lnTo>
                  <a:close/>
                </a:path>
              </a:pathLst>
            </a:custGeom>
            <a:solidFill>
              <a:srgbClr val="A9B0B8"/>
            </a:solidFill>
            <a:ln>
              <a:noFill/>
            </a:ln>
          </p:spPr>
          <p:txBody>
            <a:bodyPr rtlCol="0" anchor="ctr"/>
            <a:lstStyle/>
            <a:p>
              <a:pPr algn="ctr"/>
              <a:endParaRPr/>
            </a:p>
          </p:txBody>
        </p:sp>
        <p:sp>
          <p:nvSpPr>
            <p:cNvPr id="61" name="NOTE"/>
            <p:cNvSpPr txBox="1"/>
            <p:nvPr/>
          </p:nvSpPr>
          <p:spPr>
            <a:xfrm>
              <a:off x="4448556" y="5029200"/>
              <a:ext cx="4480560" cy="530352"/>
            </a:xfrm>
            <a:prstGeom prst="rect">
              <a:avLst/>
            </a:prstGeom>
            <a:noFill/>
          </p:spPr>
          <p:txBody>
            <a:bodyPr wrap="square" lIns="18288" tIns="9144" rIns="18288" bIns="9144" anchor="ctr">
              <a:noAutofit/>
            </a:bodyPr>
            <a:lstStyle/>
            <a:p>
              <a:pPr algn="l"/>
              <a:r>
                <a:rPr lang="en-GB" sz="1800" b="0" i="0">
                  <a:solidFill>
                    <a:srgbClr val="F2F2F2"/>
                  </a:solidFill>
                  <a:latin typeface="Arial"/>
                </a:rPr>
                <a:t>The library is always open to browse.</a:t>
              </a:r>
            </a:p>
          </p:txBody>
        </p:sp>
      </p:grpSp>
      <p:sp>
        <p:nvSpPr>
          <p:cNvPr id="6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63"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64"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Lessons are optional and can be replayed. New ones open as you unlock technology.</a:t>
            </a:r>
          </a:p>
        </p:txBody>
      </p:sp>
      <p:sp>
        <p:nvSpPr>
          <p:cNvPr id="65"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7</a:t>
            </a:r>
          </a:p>
        </p:txBody>
      </p:sp>
    </p:spTree>
    <p:extLst>
      <p:ext uri="{BB962C8B-B14F-4D97-AF65-F5344CB8AC3E}">
        <p14:creationId xmlns:p14="http://schemas.microsoft.com/office/powerpoint/2010/main" val="35067614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par>
                                <p:cTn id="11" presetID="10" presetClass="entr" presetSubtype="0" fill="hold" nodeType="withEffect">
                                  <p:stCondLst>
                                    <p:cond delay="600"/>
                                  </p:stCondLst>
                                  <p:childTnLst>
                                    <p:set>
                                      <p:cBhvr>
                                        <p:cTn id="12" dur="1" fill="hold">
                                          <p:stCondLst>
                                            <p:cond delay="0"/>
                                          </p:stCondLst>
                                        </p:cTn>
                                        <p:tgtEl>
                                          <p:spTgt spid="62"/>
                                        </p:tgtEl>
                                        <p:attrNameLst>
                                          <p:attrName>style.visibility</p:attrName>
                                        </p:attrNameLst>
                                      </p:cBhvr>
                                      <p:to>
                                        <p:strVal val="visible"/>
                                      </p:to>
                                    </p:set>
                                    <p:animEffect transition="in" filter="fade">
                                      <p:cBhvr>
                                        <p:cTn id="13" dur="500"/>
                                        <p:tgtEl>
                                          <p:spTgt spid="62"/>
                                        </p:tgtEl>
                                      </p:cBhvr>
                                    </p:animEffect>
                                  </p:childTnLst>
                                </p:cTn>
                              </p:par>
                              <p:par>
                                <p:cTn id="14" presetID="10" presetClass="entr" presetSubtype="0" fill="hold" nodeType="withEffect">
                                  <p:stCondLst>
                                    <p:cond delay="900"/>
                                  </p:stCondLst>
                                  <p:childTnLst>
                                    <p:set>
                                      <p:cBhvr>
                                        <p:cTn id="15" dur="1" fill="hold">
                                          <p:stCondLst>
                                            <p:cond delay="0"/>
                                          </p:stCondLst>
                                        </p:cTn>
                                        <p:tgtEl>
                                          <p:spTgt spid="63"/>
                                        </p:tgtEl>
                                        <p:attrNameLst>
                                          <p:attrName>style.visibility</p:attrName>
                                        </p:attrNameLst>
                                      </p:cBhvr>
                                      <p:to>
                                        <p:strVal val="visible"/>
                                      </p:to>
                                    </p:set>
                                    <p:animEffect transition="in" filter="fade">
                                      <p:cBhvr>
                                        <p:cTn id="16" dur="500"/>
                                        <p:tgtEl>
                                          <p:spTgt spid="63"/>
                                        </p:tgtEl>
                                      </p:cBhvr>
                                    </p:animEffect>
                                  </p:childTnLst>
                                </p:cTn>
                              </p:par>
                              <p:par>
                                <p:cTn id="17" presetID="10" presetClass="entr" presetSubtype="0" fill="hold" nodeType="withEffect">
                                  <p:stCondLst>
                                    <p:cond delay="120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The miniature table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Miniature model-railway table" descr="A clean white model-railway table on a dark panel. It holds a small loop of track, a tiny train, a semaphore signal, a signal box and a small station, all drawn from simple shapes."/>
          <p:cNvGrpSpPr/>
          <p:nvPr/>
        </p:nvGrpSpPr>
        <p:grpSpPr>
          <a:xfrm>
            <a:off x="548640" y="1325880"/>
            <a:ext cx="11091672" cy="4297680"/>
            <a:chOff x="548640" y="1325880"/>
            <a:chExt cx="11091672" cy="4297680"/>
          </a:xfrm>
        </p:grpSpPr>
        <p:sp>
          <p:nvSpPr>
            <p:cNvPr id="5" name="dark panel"/>
            <p:cNvSpPr/>
            <p:nvPr/>
          </p:nvSpPr>
          <p:spPr>
            <a:xfrm>
              <a:off x="548640" y="1325880"/>
              <a:ext cx="11091672" cy="4297680"/>
            </a:xfrm>
            <a:prstGeom prst="roundRect">
              <a:avLst>
                <a:gd name="adj" fmla="val 1702"/>
              </a:avLst>
            </a:prstGeom>
            <a:solidFill>
              <a:srgbClr val="1B1D21"/>
            </a:solidFill>
            <a:ln w="19050">
              <a:solidFill>
                <a:srgbClr val="4A515B"/>
              </a:solidFill>
            </a:ln>
          </p:spPr>
          <p:txBody>
            <a:bodyPr rtlCol="0" anchor="ctr"/>
            <a:lstStyle/>
            <a:p>
              <a:pPr algn="ctr"/>
              <a:endParaRPr/>
            </a:p>
          </p:txBody>
        </p:sp>
        <p:sp>
          <p:nvSpPr>
            <p:cNvPr id="6" name="table edge"/>
            <p:cNvSpPr/>
            <p:nvPr/>
          </p:nvSpPr>
          <p:spPr>
            <a:xfrm>
              <a:off x="1014984" y="5155387"/>
              <a:ext cx="10158984" cy="201168"/>
            </a:xfrm>
            <a:prstGeom prst="roundRect">
              <a:avLst>
                <a:gd name="adj" fmla="val 18181"/>
              </a:avLst>
            </a:prstGeom>
            <a:solidFill>
              <a:srgbClr val="B5BBC2"/>
            </a:solidFill>
            <a:ln>
              <a:noFill/>
            </a:ln>
          </p:spPr>
          <p:txBody>
            <a:bodyPr rtlCol="0" anchor="ctr"/>
            <a:lstStyle/>
            <a:p>
              <a:pPr algn="ctr"/>
              <a:endParaRPr/>
            </a:p>
          </p:txBody>
        </p:sp>
        <p:sp>
          <p:nvSpPr>
            <p:cNvPr id="7" name="table top"/>
            <p:cNvSpPr/>
            <p:nvPr/>
          </p:nvSpPr>
          <p:spPr>
            <a:xfrm>
              <a:off x="1014984" y="1554480"/>
              <a:ext cx="10158984" cy="3621024"/>
            </a:xfrm>
            <a:prstGeom prst="roundRect">
              <a:avLst>
                <a:gd name="adj" fmla="val 3333"/>
              </a:avLst>
            </a:prstGeom>
            <a:solidFill>
              <a:srgbClr val="F4F5F6"/>
            </a:solidFill>
            <a:ln w="12700">
              <a:solidFill>
                <a:srgbClr val="D5D9DE"/>
              </a:solidFill>
            </a:ln>
          </p:spPr>
          <p:txBody>
            <a:bodyPr rtlCol="0" anchor="ctr"/>
            <a:lstStyle/>
            <a:p>
              <a:pPr algn="ctr"/>
              <a:endParaRPr/>
            </a:p>
          </p:txBody>
        </p:sp>
        <p:sp>
          <p:nvSpPr>
            <p:cNvPr id="8" name="sleeper"/>
            <p:cNvSpPr/>
            <p:nvPr/>
          </p:nvSpPr>
          <p:spPr>
            <a:xfrm>
              <a:off x="2775204" y="2288743"/>
              <a:ext cx="70408" cy="211226"/>
            </a:xfrm>
            <a:prstGeom prst="rect">
              <a:avLst/>
            </a:prstGeom>
            <a:solidFill>
              <a:srgbClr val="B9A58F"/>
            </a:solidFill>
            <a:ln>
              <a:noFill/>
            </a:ln>
          </p:spPr>
          <p:txBody>
            <a:bodyPr rtlCol="0" anchor="ctr"/>
            <a:lstStyle/>
            <a:p>
              <a:pPr algn="ctr"/>
              <a:endParaRPr/>
            </a:p>
          </p:txBody>
        </p:sp>
        <p:sp>
          <p:nvSpPr>
            <p:cNvPr id="9" name="sleeper"/>
            <p:cNvSpPr/>
            <p:nvPr/>
          </p:nvSpPr>
          <p:spPr>
            <a:xfrm>
              <a:off x="2775204" y="4431182"/>
              <a:ext cx="70408" cy="211226"/>
            </a:xfrm>
            <a:prstGeom prst="rect">
              <a:avLst/>
            </a:prstGeom>
            <a:solidFill>
              <a:srgbClr val="B9A58F"/>
            </a:solidFill>
            <a:ln>
              <a:noFill/>
            </a:ln>
          </p:spPr>
          <p:txBody>
            <a:bodyPr rtlCol="0" anchor="ctr"/>
            <a:lstStyle/>
            <a:p>
              <a:pPr algn="ctr"/>
              <a:endParaRPr/>
            </a:p>
          </p:txBody>
        </p:sp>
        <p:sp>
          <p:nvSpPr>
            <p:cNvPr id="10" name="sleeper"/>
            <p:cNvSpPr/>
            <p:nvPr/>
          </p:nvSpPr>
          <p:spPr>
            <a:xfrm>
              <a:off x="2996488" y="2288743"/>
              <a:ext cx="70408" cy="211226"/>
            </a:xfrm>
            <a:prstGeom prst="rect">
              <a:avLst/>
            </a:prstGeom>
            <a:solidFill>
              <a:srgbClr val="B9A58F"/>
            </a:solidFill>
            <a:ln>
              <a:noFill/>
            </a:ln>
          </p:spPr>
          <p:txBody>
            <a:bodyPr rtlCol="0" anchor="ctr"/>
            <a:lstStyle/>
            <a:p>
              <a:pPr algn="ctr"/>
              <a:endParaRPr/>
            </a:p>
          </p:txBody>
        </p:sp>
        <p:sp>
          <p:nvSpPr>
            <p:cNvPr id="11" name="sleeper"/>
            <p:cNvSpPr/>
            <p:nvPr/>
          </p:nvSpPr>
          <p:spPr>
            <a:xfrm>
              <a:off x="2996488" y="4431182"/>
              <a:ext cx="70408" cy="211226"/>
            </a:xfrm>
            <a:prstGeom prst="rect">
              <a:avLst/>
            </a:prstGeom>
            <a:solidFill>
              <a:srgbClr val="B9A58F"/>
            </a:solidFill>
            <a:ln>
              <a:noFill/>
            </a:ln>
          </p:spPr>
          <p:txBody>
            <a:bodyPr rtlCol="0" anchor="ctr"/>
            <a:lstStyle/>
            <a:p>
              <a:pPr algn="ctr"/>
              <a:endParaRPr/>
            </a:p>
          </p:txBody>
        </p:sp>
        <p:sp>
          <p:nvSpPr>
            <p:cNvPr id="12" name="sleeper"/>
            <p:cNvSpPr/>
            <p:nvPr/>
          </p:nvSpPr>
          <p:spPr>
            <a:xfrm>
              <a:off x="3217773" y="2288743"/>
              <a:ext cx="70408" cy="211226"/>
            </a:xfrm>
            <a:prstGeom prst="rect">
              <a:avLst/>
            </a:prstGeom>
            <a:solidFill>
              <a:srgbClr val="B9A58F"/>
            </a:solidFill>
            <a:ln>
              <a:noFill/>
            </a:ln>
          </p:spPr>
          <p:txBody>
            <a:bodyPr rtlCol="0" anchor="ctr"/>
            <a:lstStyle/>
            <a:p>
              <a:pPr algn="ctr"/>
              <a:endParaRPr/>
            </a:p>
          </p:txBody>
        </p:sp>
        <p:sp>
          <p:nvSpPr>
            <p:cNvPr id="13" name="sleeper"/>
            <p:cNvSpPr/>
            <p:nvPr/>
          </p:nvSpPr>
          <p:spPr>
            <a:xfrm>
              <a:off x="3217773" y="4431182"/>
              <a:ext cx="70408" cy="211226"/>
            </a:xfrm>
            <a:prstGeom prst="rect">
              <a:avLst/>
            </a:prstGeom>
            <a:solidFill>
              <a:srgbClr val="B9A58F"/>
            </a:solidFill>
            <a:ln>
              <a:noFill/>
            </a:ln>
          </p:spPr>
          <p:txBody>
            <a:bodyPr rtlCol="0" anchor="ctr"/>
            <a:lstStyle/>
            <a:p>
              <a:pPr algn="ctr"/>
              <a:endParaRPr/>
            </a:p>
          </p:txBody>
        </p:sp>
        <p:sp>
          <p:nvSpPr>
            <p:cNvPr id="14" name="sleeper"/>
            <p:cNvSpPr/>
            <p:nvPr/>
          </p:nvSpPr>
          <p:spPr>
            <a:xfrm>
              <a:off x="3439058" y="2288743"/>
              <a:ext cx="70408" cy="211226"/>
            </a:xfrm>
            <a:prstGeom prst="rect">
              <a:avLst/>
            </a:prstGeom>
            <a:solidFill>
              <a:srgbClr val="B9A58F"/>
            </a:solidFill>
            <a:ln>
              <a:noFill/>
            </a:ln>
          </p:spPr>
          <p:txBody>
            <a:bodyPr rtlCol="0" anchor="ctr"/>
            <a:lstStyle/>
            <a:p>
              <a:pPr algn="ctr"/>
              <a:endParaRPr/>
            </a:p>
          </p:txBody>
        </p:sp>
        <p:sp>
          <p:nvSpPr>
            <p:cNvPr id="15" name="sleeper"/>
            <p:cNvSpPr/>
            <p:nvPr/>
          </p:nvSpPr>
          <p:spPr>
            <a:xfrm>
              <a:off x="3439058" y="4431182"/>
              <a:ext cx="70408" cy="211226"/>
            </a:xfrm>
            <a:prstGeom prst="rect">
              <a:avLst/>
            </a:prstGeom>
            <a:solidFill>
              <a:srgbClr val="B9A58F"/>
            </a:solidFill>
            <a:ln>
              <a:noFill/>
            </a:ln>
          </p:spPr>
          <p:txBody>
            <a:bodyPr rtlCol="0" anchor="ctr"/>
            <a:lstStyle/>
            <a:p>
              <a:pPr algn="ctr"/>
              <a:endParaRPr/>
            </a:p>
          </p:txBody>
        </p:sp>
        <p:sp>
          <p:nvSpPr>
            <p:cNvPr id="16" name="sleeper"/>
            <p:cNvSpPr/>
            <p:nvPr/>
          </p:nvSpPr>
          <p:spPr>
            <a:xfrm>
              <a:off x="3660343" y="2288743"/>
              <a:ext cx="70408" cy="211226"/>
            </a:xfrm>
            <a:prstGeom prst="rect">
              <a:avLst/>
            </a:prstGeom>
            <a:solidFill>
              <a:srgbClr val="B9A58F"/>
            </a:solidFill>
            <a:ln>
              <a:noFill/>
            </a:ln>
          </p:spPr>
          <p:txBody>
            <a:bodyPr rtlCol="0" anchor="ctr"/>
            <a:lstStyle/>
            <a:p>
              <a:pPr algn="ctr"/>
              <a:endParaRPr/>
            </a:p>
          </p:txBody>
        </p:sp>
        <p:sp>
          <p:nvSpPr>
            <p:cNvPr id="17" name="sleeper"/>
            <p:cNvSpPr/>
            <p:nvPr/>
          </p:nvSpPr>
          <p:spPr>
            <a:xfrm>
              <a:off x="3660343" y="4431182"/>
              <a:ext cx="70408" cy="211226"/>
            </a:xfrm>
            <a:prstGeom prst="rect">
              <a:avLst/>
            </a:prstGeom>
            <a:solidFill>
              <a:srgbClr val="B9A58F"/>
            </a:solidFill>
            <a:ln>
              <a:noFill/>
            </a:ln>
          </p:spPr>
          <p:txBody>
            <a:bodyPr rtlCol="0" anchor="ctr"/>
            <a:lstStyle/>
            <a:p>
              <a:pPr algn="ctr"/>
              <a:endParaRPr/>
            </a:p>
          </p:txBody>
        </p:sp>
        <p:sp>
          <p:nvSpPr>
            <p:cNvPr id="18" name="sleeper"/>
            <p:cNvSpPr/>
            <p:nvPr/>
          </p:nvSpPr>
          <p:spPr>
            <a:xfrm>
              <a:off x="3881628" y="2288743"/>
              <a:ext cx="70408" cy="211226"/>
            </a:xfrm>
            <a:prstGeom prst="rect">
              <a:avLst/>
            </a:prstGeom>
            <a:solidFill>
              <a:srgbClr val="B9A58F"/>
            </a:solidFill>
            <a:ln>
              <a:noFill/>
            </a:ln>
          </p:spPr>
          <p:txBody>
            <a:bodyPr rtlCol="0" anchor="ctr"/>
            <a:lstStyle/>
            <a:p>
              <a:pPr algn="ctr"/>
              <a:endParaRPr/>
            </a:p>
          </p:txBody>
        </p:sp>
        <p:sp>
          <p:nvSpPr>
            <p:cNvPr id="19" name="sleeper"/>
            <p:cNvSpPr/>
            <p:nvPr/>
          </p:nvSpPr>
          <p:spPr>
            <a:xfrm>
              <a:off x="3881628" y="4431182"/>
              <a:ext cx="70408" cy="211226"/>
            </a:xfrm>
            <a:prstGeom prst="rect">
              <a:avLst/>
            </a:prstGeom>
            <a:solidFill>
              <a:srgbClr val="B9A58F"/>
            </a:solidFill>
            <a:ln>
              <a:noFill/>
            </a:ln>
          </p:spPr>
          <p:txBody>
            <a:bodyPr rtlCol="0" anchor="ctr"/>
            <a:lstStyle/>
            <a:p>
              <a:pPr algn="ctr"/>
              <a:endParaRPr/>
            </a:p>
          </p:txBody>
        </p:sp>
        <p:sp>
          <p:nvSpPr>
            <p:cNvPr id="20" name="sleeper"/>
            <p:cNvSpPr/>
            <p:nvPr/>
          </p:nvSpPr>
          <p:spPr>
            <a:xfrm>
              <a:off x="4102912" y="2288743"/>
              <a:ext cx="70408" cy="211226"/>
            </a:xfrm>
            <a:prstGeom prst="rect">
              <a:avLst/>
            </a:prstGeom>
            <a:solidFill>
              <a:srgbClr val="B9A58F"/>
            </a:solidFill>
            <a:ln>
              <a:noFill/>
            </a:ln>
          </p:spPr>
          <p:txBody>
            <a:bodyPr rtlCol="0" anchor="ctr"/>
            <a:lstStyle/>
            <a:p>
              <a:pPr algn="ctr"/>
              <a:endParaRPr/>
            </a:p>
          </p:txBody>
        </p:sp>
        <p:sp>
          <p:nvSpPr>
            <p:cNvPr id="21" name="sleeper"/>
            <p:cNvSpPr/>
            <p:nvPr/>
          </p:nvSpPr>
          <p:spPr>
            <a:xfrm>
              <a:off x="4102912" y="4431182"/>
              <a:ext cx="70408" cy="211226"/>
            </a:xfrm>
            <a:prstGeom prst="rect">
              <a:avLst/>
            </a:prstGeom>
            <a:solidFill>
              <a:srgbClr val="B9A58F"/>
            </a:solidFill>
            <a:ln>
              <a:noFill/>
            </a:ln>
          </p:spPr>
          <p:txBody>
            <a:bodyPr rtlCol="0" anchor="ctr"/>
            <a:lstStyle/>
            <a:p>
              <a:pPr algn="ctr"/>
              <a:endParaRPr/>
            </a:p>
          </p:txBody>
        </p:sp>
        <p:sp>
          <p:nvSpPr>
            <p:cNvPr id="22" name="sleeper"/>
            <p:cNvSpPr/>
            <p:nvPr/>
          </p:nvSpPr>
          <p:spPr>
            <a:xfrm>
              <a:off x="4324197" y="2288743"/>
              <a:ext cx="70408" cy="211226"/>
            </a:xfrm>
            <a:prstGeom prst="rect">
              <a:avLst/>
            </a:prstGeom>
            <a:solidFill>
              <a:srgbClr val="B9A58F"/>
            </a:solidFill>
            <a:ln>
              <a:noFill/>
            </a:ln>
          </p:spPr>
          <p:txBody>
            <a:bodyPr rtlCol="0" anchor="ctr"/>
            <a:lstStyle/>
            <a:p>
              <a:pPr algn="ctr"/>
              <a:endParaRPr/>
            </a:p>
          </p:txBody>
        </p:sp>
        <p:sp>
          <p:nvSpPr>
            <p:cNvPr id="23" name="sleeper"/>
            <p:cNvSpPr/>
            <p:nvPr/>
          </p:nvSpPr>
          <p:spPr>
            <a:xfrm>
              <a:off x="4324197" y="4431182"/>
              <a:ext cx="70408" cy="211226"/>
            </a:xfrm>
            <a:prstGeom prst="rect">
              <a:avLst/>
            </a:prstGeom>
            <a:solidFill>
              <a:srgbClr val="B9A58F"/>
            </a:solidFill>
            <a:ln>
              <a:noFill/>
            </a:ln>
          </p:spPr>
          <p:txBody>
            <a:bodyPr rtlCol="0" anchor="ctr"/>
            <a:lstStyle/>
            <a:p>
              <a:pPr algn="ctr"/>
              <a:endParaRPr/>
            </a:p>
          </p:txBody>
        </p:sp>
        <p:sp>
          <p:nvSpPr>
            <p:cNvPr id="24" name="sleeper"/>
            <p:cNvSpPr/>
            <p:nvPr/>
          </p:nvSpPr>
          <p:spPr>
            <a:xfrm>
              <a:off x="4545482" y="2288743"/>
              <a:ext cx="70408" cy="211226"/>
            </a:xfrm>
            <a:prstGeom prst="rect">
              <a:avLst/>
            </a:prstGeom>
            <a:solidFill>
              <a:srgbClr val="B9A58F"/>
            </a:solidFill>
            <a:ln>
              <a:noFill/>
            </a:ln>
          </p:spPr>
          <p:txBody>
            <a:bodyPr rtlCol="0" anchor="ctr"/>
            <a:lstStyle/>
            <a:p>
              <a:pPr algn="ctr"/>
              <a:endParaRPr/>
            </a:p>
          </p:txBody>
        </p:sp>
        <p:sp>
          <p:nvSpPr>
            <p:cNvPr id="25" name="sleeper"/>
            <p:cNvSpPr/>
            <p:nvPr/>
          </p:nvSpPr>
          <p:spPr>
            <a:xfrm>
              <a:off x="4545482" y="4431182"/>
              <a:ext cx="70408" cy="211226"/>
            </a:xfrm>
            <a:prstGeom prst="rect">
              <a:avLst/>
            </a:prstGeom>
            <a:solidFill>
              <a:srgbClr val="B9A58F"/>
            </a:solidFill>
            <a:ln>
              <a:noFill/>
            </a:ln>
          </p:spPr>
          <p:txBody>
            <a:bodyPr rtlCol="0" anchor="ctr"/>
            <a:lstStyle/>
            <a:p>
              <a:pPr algn="ctr"/>
              <a:endParaRPr/>
            </a:p>
          </p:txBody>
        </p:sp>
        <p:sp>
          <p:nvSpPr>
            <p:cNvPr id="26" name="sleeper"/>
            <p:cNvSpPr/>
            <p:nvPr/>
          </p:nvSpPr>
          <p:spPr>
            <a:xfrm>
              <a:off x="4766767" y="2288743"/>
              <a:ext cx="70408" cy="211226"/>
            </a:xfrm>
            <a:prstGeom prst="rect">
              <a:avLst/>
            </a:prstGeom>
            <a:solidFill>
              <a:srgbClr val="B9A58F"/>
            </a:solidFill>
            <a:ln>
              <a:noFill/>
            </a:ln>
          </p:spPr>
          <p:txBody>
            <a:bodyPr rtlCol="0" anchor="ctr"/>
            <a:lstStyle/>
            <a:p>
              <a:pPr algn="ctr"/>
              <a:endParaRPr/>
            </a:p>
          </p:txBody>
        </p:sp>
        <p:sp>
          <p:nvSpPr>
            <p:cNvPr id="27" name="sleeper"/>
            <p:cNvSpPr/>
            <p:nvPr/>
          </p:nvSpPr>
          <p:spPr>
            <a:xfrm>
              <a:off x="4766767" y="4431182"/>
              <a:ext cx="70408" cy="211226"/>
            </a:xfrm>
            <a:prstGeom prst="rect">
              <a:avLst/>
            </a:prstGeom>
            <a:solidFill>
              <a:srgbClr val="B9A58F"/>
            </a:solidFill>
            <a:ln>
              <a:noFill/>
            </a:ln>
          </p:spPr>
          <p:txBody>
            <a:bodyPr rtlCol="0" anchor="ctr"/>
            <a:lstStyle/>
            <a:p>
              <a:pPr algn="ctr"/>
              <a:endParaRPr/>
            </a:p>
          </p:txBody>
        </p:sp>
        <p:sp>
          <p:nvSpPr>
            <p:cNvPr id="28" name="sleeper"/>
            <p:cNvSpPr/>
            <p:nvPr/>
          </p:nvSpPr>
          <p:spPr>
            <a:xfrm>
              <a:off x="4988052" y="2288743"/>
              <a:ext cx="70408" cy="211226"/>
            </a:xfrm>
            <a:prstGeom prst="rect">
              <a:avLst/>
            </a:prstGeom>
            <a:solidFill>
              <a:srgbClr val="B9A58F"/>
            </a:solidFill>
            <a:ln>
              <a:noFill/>
            </a:ln>
          </p:spPr>
          <p:txBody>
            <a:bodyPr rtlCol="0" anchor="ctr"/>
            <a:lstStyle/>
            <a:p>
              <a:pPr algn="ctr"/>
              <a:endParaRPr/>
            </a:p>
          </p:txBody>
        </p:sp>
        <p:sp>
          <p:nvSpPr>
            <p:cNvPr id="29" name="sleeper"/>
            <p:cNvSpPr/>
            <p:nvPr/>
          </p:nvSpPr>
          <p:spPr>
            <a:xfrm>
              <a:off x="4988052" y="4431182"/>
              <a:ext cx="70408" cy="211226"/>
            </a:xfrm>
            <a:prstGeom prst="rect">
              <a:avLst/>
            </a:prstGeom>
            <a:solidFill>
              <a:srgbClr val="B9A58F"/>
            </a:solidFill>
            <a:ln>
              <a:noFill/>
            </a:ln>
          </p:spPr>
          <p:txBody>
            <a:bodyPr rtlCol="0" anchor="ctr"/>
            <a:lstStyle/>
            <a:p>
              <a:pPr algn="ctr"/>
              <a:endParaRPr/>
            </a:p>
          </p:txBody>
        </p:sp>
        <p:sp>
          <p:nvSpPr>
            <p:cNvPr id="30" name="sleeper"/>
            <p:cNvSpPr/>
            <p:nvPr/>
          </p:nvSpPr>
          <p:spPr>
            <a:xfrm>
              <a:off x="5209336" y="2288743"/>
              <a:ext cx="70408" cy="211226"/>
            </a:xfrm>
            <a:prstGeom prst="rect">
              <a:avLst/>
            </a:prstGeom>
            <a:solidFill>
              <a:srgbClr val="B9A58F"/>
            </a:solidFill>
            <a:ln>
              <a:noFill/>
            </a:ln>
          </p:spPr>
          <p:txBody>
            <a:bodyPr rtlCol="0" anchor="ctr"/>
            <a:lstStyle/>
            <a:p>
              <a:pPr algn="ctr"/>
              <a:endParaRPr/>
            </a:p>
          </p:txBody>
        </p:sp>
        <p:sp>
          <p:nvSpPr>
            <p:cNvPr id="31" name="sleeper"/>
            <p:cNvSpPr/>
            <p:nvPr/>
          </p:nvSpPr>
          <p:spPr>
            <a:xfrm>
              <a:off x="5209336" y="4431182"/>
              <a:ext cx="70408" cy="211226"/>
            </a:xfrm>
            <a:prstGeom prst="rect">
              <a:avLst/>
            </a:prstGeom>
            <a:solidFill>
              <a:srgbClr val="B9A58F"/>
            </a:solidFill>
            <a:ln>
              <a:noFill/>
            </a:ln>
          </p:spPr>
          <p:txBody>
            <a:bodyPr rtlCol="0" anchor="ctr"/>
            <a:lstStyle/>
            <a:p>
              <a:pPr algn="ctr"/>
              <a:endParaRPr/>
            </a:p>
          </p:txBody>
        </p:sp>
        <p:sp>
          <p:nvSpPr>
            <p:cNvPr id="32" name="sleeper"/>
            <p:cNvSpPr/>
            <p:nvPr/>
          </p:nvSpPr>
          <p:spPr>
            <a:xfrm>
              <a:off x="5430621" y="2288743"/>
              <a:ext cx="70408" cy="211226"/>
            </a:xfrm>
            <a:prstGeom prst="rect">
              <a:avLst/>
            </a:prstGeom>
            <a:solidFill>
              <a:srgbClr val="B9A58F"/>
            </a:solidFill>
            <a:ln>
              <a:noFill/>
            </a:ln>
          </p:spPr>
          <p:txBody>
            <a:bodyPr rtlCol="0" anchor="ctr"/>
            <a:lstStyle/>
            <a:p>
              <a:pPr algn="ctr"/>
              <a:endParaRPr/>
            </a:p>
          </p:txBody>
        </p:sp>
        <p:sp>
          <p:nvSpPr>
            <p:cNvPr id="33" name="sleeper"/>
            <p:cNvSpPr/>
            <p:nvPr/>
          </p:nvSpPr>
          <p:spPr>
            <a:xfrm>
              <a:off x="5430621" y="4431182"/>
              <a:ext cx="70408" cy="211226"/>
            </a:xfrm>
            <a:prstGeom prst="rect">
              <a:avLst/>
            </a:prstGeom>
            <a:solidFill>
              <a:srgbClr val="B9A58F"/>
            </a:solidFill>
            <a:ln>
              <a:noFill/>
            </a:ln>
          </p:spPr>
          <p:txBody>
            <a:bodyPr rtlCol="0" anchor="ctr"/>
            <a:lstStyle/>
            <a:p>
              <a:pPr algn="ctr"/>
              <a:endParaRPr/>
            </a:p>
          </p:txBody>
        </p:sp>
        <p:sp>
          <p:nvSpPr>
            <p:cNvPr id="34" name="sleeper"/>
            <p:cNvSpPr/>
            <p:nvPr/>
          </p:nvSpPr>
          <p:spPr>
            <a:xfrm>
              <a:off x="5651906" y="2288743"/>
              <a:ext cx="70408" cy="211226"/>
            </a:xfrm>
            <a:prstGeom prst="rect">
              <a:avLst/>
            </a:prstGeom>
            <a:solidFill>
              <a:srgbClr val="B9A58F"/>
            </a:solidFill>
            <a:ln>
              <a:noFill/>
            </a:ln>
          </p:spPr>
          <p:txBody>
            <a:bodyPr rtlCol="0" anchor="ctr"/>
            <a:lstStyle/>
            <a:p>
              <a:pPr algn="ctr"/>
              <a:endParaRPr/>
            </a:p>
          </p:txBody>
        </p:sp>
        <p:sp>
          <p:nvSpPr>
            <p:cNvPr id="35" name="sleeper"/>
            <p:cNvSpPr/>
            <p:nvPr/>
          </p:nvSpPr>
          <p:spPr>
            <a:xfrm>
              <a:off x="5651906" y="4431182"/>
              <a:ext cx="70408" cy="211226"/>
            </a:xfrm>
            <a:prstGeom prst="rect">
              <a:avLst/>
            </a:prstGeom>
            <a:solidFill>
              <a:srgbClr val="B9A58F"/>
            </a:solidFill>
            <a:ln>
              <a:noFill/>
            </a:ln>
          </p:spPr>
          <p:txBody>
            <a:bodyPr rtlCol="0" anchor="ctr"/>
            <a:lstStyle/>
            <a:p>
              <a:pPr algn="ctr"/>
              <a:endParaRPr/>
            </a:p>
          </p:txBody>
        </p:sp>
        <p:sp>
          <p:nvSpPr>
            <p:cNvPr id="36" name="sleeper"/>
            <p:cNvSpPr/>
            <p:nvPr/>
          </p:nvSpPr>
          <p:spPr>
            <a:xfrm>
              <a:off x="5873191" y="2288743"/>
              <a:ext cx="70408" cy="211226"/>
            </a:xfrm>
            <a:prstGeom prst="rect">
              <a:avLst/>
            </a:prstGeom>
            <a:solidFill>
              <a:srgbClr val="B9A58F"/>
            </a:solidFill>
            <a:ln>
              <a:noFill/>
            </a:ln>
          </p:spPr>
          <p:txBody>
            <a:bodyPr rtlCol="0" anchor="ctr"/>
            <a:lstStyle/>
            <a:p>
              <a:pPr algn="ctr"/>
              <a:endParaRPr/>
            </a:p>
          </p:txBody>
        </p:sp>
        <p:sp>
          <p:nvSpPr>
            <p:cNvPr id="37" name="sleeper"/>
            <p:cNvSpPr/>
            <p:nvPr/>
          </p:nvSpPr>
          <p:spPr>
            <a:xfrm>
              <a:off x="5873191" y="4431182"/>
              <a:ext cx="70408" cy="211226"/>
            </a:xfrm>
            <a:prstGeom prst="rect">
              <a:avLst/>
            </a:prstGeom>
            <a:solidFill>
              <a:srgbClr val="B9A58F"/>
            </a:solidFill>
            <a:ln>
              <a:noFill/>
            </a:ln>
          </p:spPr>
          <p:txBody>
            <a:bodyPr rtlCol="0" anchor="ctr"/>
            <a:lstStyle/>
            <a:p>
              <a:pPr algn="ctr"/>
              <a:endParaRPr/>
            </a:p>
          </p:txBody>
        </p:sp>
        <p:sp>
          <p:nvSpPr>
            <p:cNvPr id="38" name="sleeper"/>
            <p:cNvSpPr/>
            <p:nvPr/>
          </p:nvSpPr>
          <p:spPr>
            <a:xfrm>
              <a:off x="6094476" y="2288743"/>
              <a:ext cx="70408" cy="211226"/>
            </a:xfrm>
            <a:prstGeom prst="rect">
              <a:avLst/>
            </a:prstGeom>
            <a:solidFill>
              <a:srgbClr val="B9A58F"/>
            </a:solidFill>
            <a:ln>
              <a:noFill/>
            </a:ln>
          </p:spPr>
          <p:txBody>
            <a:bodyPr rtlCol="0" anchor="ctr"/>
            <a:lstStyle/>
            <a:p>
              <a:pPr algn="ctr"/>
              <a:endParaRPr/>
            </a:p>
          </p:txBody>
        </p:sp>
        <p:sp>
          <p:nvSpPr>
            <p:cNvPr id="39" name="sleeper"/>
            <p:cNvSpPr/>
            <p:nvPr/>
          </p:nvSpPr>
          <p:spPr>
            <a:xfrm>
              <a:off x="6094476" y="4431182"/>
              <a:ext cx="70408" cy="211226"/>
            </a:xfrm>
            <a:prstGeom prst="rect">
              <a:avLst/>
            </a:prstGeom>
            <a:solidFill>
              <a:srgbClr val="B9A58F"/>
            </a:solidFill>
            <a:ln>
              <a:noFill/>
            </a:ln>
          </p:spPr>
          <p:txBody>
            <a:bodyPr rtlCol="0" anchor="ctr"/>
            <a:lstStyle/>
            <a:p>
              <a:pPr algn="ctr"/>
              <a:endParaRPr/>
            </a:p>
          </p:txBody>
        </p:sp>
        <p:sp>
          <p:nvSpPr>
            <p:cNvPr id="40" name="sleeper"/>
            <p:cNvSpPr/>
            <p:nvPr/>
          </p:nvSpPr>
          <p:spPr>
            <a:xfrm>
              <a:off x="6315760" y="2288743"/>
              <a:ext cx="70408" cy="211226"/>
            </a:xfrm>
            <a:prstGeom prst="rect">
              <a:avLst/>
            </a:prstGeom>
            <a:solidFill>
              <a:srgbClr val="B9A58F"/>
            </a:solidFill>
            <a:ln>
              <a:noFill/>
            </a:ln>
          </p:spPr>
          <p:txBody>
            <a:bodyPr rtlCol="0" anchor="ctr"/>
            <a:lstStyle/>
            <a:p>
              <a:pPr algn="ctr"/>
              <a:endParaRPr/>
            </a:p>
          </p:txBody>
        </p:sp>
        <p:sp>
          <p:nvSpPr>
            <p:cNvPr id="41" name="sleeper"/>
            <p:cNvSpPr/>
            <p:nvPr/>
          </p:nvSpPr>
          <p:spPr>
            <a:xfrm>
              <a:off x="6315760" y="4431182"/>
              <a:ext cx="70408" cy="211226"/>
            </a:xfrm>
            <a:prstGeom prst="rect">
              <a:avLst/>
            </a:prstGeom>
            <a:solidFill>
              <a:srgbClr val="B9A58F"/>
            </a:solidFill>
            <a:ln>
              <a:noFill/>
            </a:ln>
          </p:spPr>
          <p:txBody>
            <a:bodyPr rtlCol="0" anchor="ctr"/>
            <a:lstStyle/>
            <a:p>
              <a:pPr algn="ctr"/>
              <a:endParaRPr/>
            </a:p>
          </p:txBody>
        </p:sp>
        <p:sp>
          <p:nvSpPr>
            <p:cNvPr id="42" name="outer rail"/>
            <p:cNvSpPr/>
            <p:nvPr/>
          </p:nvSpPr>
          <p:spPr>
            <a:xfrm>
              <a:off x="1618488" y="2308860"/>
              <a:ext cx="6035040" cy="2313432"/>
            </a:xfrm>
            <a:prstGeom prst="roundRect">
              <a:avLst>
                <a:gd name="adj" fmla="val 50000"/>
              </a:avLst>
            </a:prstGeom>
            <a:noFill/>
            <a:ln w="41910">
              <a:solidFill>
                <a:srgbClr val="7A828C"/>
              </a:solidFill>
            </a:ln>
          </p:spPr>
          <p:txBody>
            <a:bodyPr rtlCol="0" anchor="ctr"/>
            <a:lstStyle/>
            <a:p>
              <a:pPr algn="ctr"/>
              <a:endParaRPr/>
            </a:p>
          </p:txBody>
        </p:sp>
        <p:sp>
          <p:nvSpPr>
            <p:cNvPr id="43" name="inner rail"/>
            <p:cNvSpPr/>
            <p:nvPr/>
          </p:nvSpPr>
          <p:spPr>
            <a:xfrm>
              <a:off x="1769364" y="2459736"/>
              <a:ext cx="5733288" cy="2011679"/>
            </a:xfrm>
            <a:prstGeom prst="roundRect">
              <a:avLst>
                <a:gd name="adj" fmla="val 50000"/>
              </a:avLst>
            </a:prstGeom>
            <a:noFill/>
            <a:ln w="41910">
              <a:solidFill>
                <a:srgbClr val="7A828C"/>
              </a:solidFill>
            </a:ln>
          </p:spPr>
          <p:txBody>
            <a:bodyPr rtlCol="0" anchor="ctr"/>
            <a:lstStyle/>
            <a:p>
              <a:pPr algn="ctr"/>
              <a:endParaRPr/>
            </a:p>
          </p:txBody>
        </p:sp>
        <p:sp>
          <p:nvSpPr>
            <p:cNvPr id="44" name="mini train engine"/>
            <p:cNvSpPr/>
            <p:nvPr/>
          </p:nvSpPr>
          <p:spPr>
            <a:xfrm>
              <a:off x="3328415" y="2252532"/>
              <a:ext cx="649772" cy="420441"/>
            </a:xfrm>
            <a:prstGeom prst="roundRect">
              <a:avLst>
                <a:gd name="adj" fmla="val 18181"/>
              </a:avLst>
            </a:prstGeom>
            <a:solidFill>
              <a:srgbClr val="F28C28"/>
            </a:solidFill>
            <a:ln>
              <a:noFill/>
            </a:ln>
          </p:spPr>
          <p:txBody>
            <a:bodyPr rtlCol="0" anchor="ctr"/>
            <a:lstStyle/>
            <a:p>
              <a:pPr algn="ctr"/>
              <a:endParaRPr/>
            </a:p>
          </p:txBody>
        </p:sp>
        <p:sp>
          <p:nvSpPr>
            <p:cNvPr id="45" name="mini train chimney"/>
            <p:cNvSpPr/>
            <p:nvPr/>
          </p:nvSpPr>
          <p:spPr>
            <a:xfrm>
              <a:off x="3806189" y="2137867"/>
              <a:ext cx="133776" cy="191109"/>
            </a:xfrm>
            <a:prstGeom prst="rect">
              <a:avLst/>
            </a:prstGeom>
            <a:solidFill>
              <a:srgbClr val="3A3F47"/>
            </a:solidFill>
            <a:ln>
              <a:noFill/>
            </a:ln>
          </p:spPr>
          <p:txBody>
            <a:bodyPr rtlCol="0" anchor="ctr"/>
            <a:lstStyle/>
            <a:p>
              <a:pPr algn="ctr"/>
              <a:endParaRPr/>
            </a:p>
          </p:txBody>
        </p:sp>
        <p:sp>
          <p:nvSpPr>
            <p:cNvPr id="46" name="mini train frame"/>
            <p:cNvSpPr/>
            <p:nvPr/>
          </p:nvSpPr>
          <p:spPr>
            <a:xfrm>
              <a:off x="3328415" y="2520086"/>
              <a:ext cx="649772" cy="152887"/>
            </a:xfrm>
            <a:prstGeom prst="rect">
              <a:avLst/>
            </a:prstGeom>
            <a:solidFill>
              <a:srgbClr val="1B1D21"/>
            </a:solidFill>
            <a:ln>
              <a:noFill/>
            </a:ln>
          </p:spPr>
          <p:txBody>
            <a:bodyPr rtlCol="0" anchor="ctr"/>
            <a:lstStyle/>
            <a:p>
              <a:pPr algn="ctr"/>
              <a:endParaRPr/>
            </a:p>
          </p:txBody>
        </p:sp>
        <p:sp>
          <p:nvSpPr>
            <p:cNvPr id="47" name="mini train wagon"/>
            <p:cNvSpPr/>
            <p:nvPr/>
          </p:nvSpPr>
          <p:spPr>
            <a:xfrm>
              <a:off x="4016410" y="2309865"/>
              <a:ext cx="573328" cy="363108"/>
            </a:xfrm>
            <a:prstGeom prst="roundRect">
              <a:avLst>
                <a:gd name="adj" fmla="val 10526"/>
              </a:avLst>
            </a:prstGeom>
            <a:solidFill>
              <a:srgbClr val="6C7480"/>
            </a:solidFill>
            <a:ln w="9525">
              <a:solidFill>
                <a:srgbClr val="4A515B"/>
              </a:solidFill>
            </a:ln>
          </p:spPr>
          <p:txBody>
            <a:bodyPr rtlCol="0" anchor="ctr"/>
            <a:lstStyle/>
            <a:p>
              <a:pPr algn="ctr"/>
              <a:endParaRPr/>
            </a:p>
          </p:txBody>
        </p:sp>
        <p:sp>
          <p:nvSpPr>
            <p:cNvPr id="48" name="mini train wagon"/>
            <p:cNvSpPr/>
            <p:nvPr/>
          </p:nvSpPr>
          <p:spPr>
            <a:xfrm>
              <a:off x="4627961" y="2309865"/>
              <a:ext cx="573328" cy="363108"/>
            </a:xfrm>
            <a:prstGeom prst="roundRect">
              <a:avLst>
                <a:gd name="adj" fmla="val 10526"/>
              </a:avLst>
            </a:prstGeom>
            <a:solidFill>
              <a:srgbClr val="6C7480"/>
            </a:solidFill>
            <a:ln w="9525">
              <a:solidFill>
                <a:srgbClr val="4A515B"/>
              </a:solidFill>
            </a:ln>
          </p:spPr>
          <p:txBody>
            <a:bodyPr rtlCol="0" anchor="ctr"/>
            <a:lstStyle/>
            <a:p>
              <a:pPr algn="ctr"/>
              <a:endParaRPr/>
            </a:p>
          </p:txBody>
        </p:sp>
        <p:sp>
          <p:nvSpPr>
            <p:cNvPr id="49" name="mini train wheel"/>
            <p:cNvSpPr/>
            <p:nvPr/>
          </p:nvSpPr>
          <p:spPr>
            <a:xfrm>
              <a:off x="3427792" y="2600352"/>
              <a:ext cx="145243" cy="145243"/>
            </a:xfrm>
            <a:prstGeom prst="ellipse">
              <a:avLst/>
            </a:prstGeom>
            <a:solidFill>
              <a:srgbClr val="1B1D21"/>
            </a:solidFill>
            <a:ln w="9525">
              <a:solidFill>
                <a:srgbClr val="9AA0A6"/>
              </a:solidFill>
            </a:ln>
          </p:spPr>
          <p:txBody>
            <a:bodyPr rtlCol="0" anchor="ctr"/>
            <a:lstStyle/>
            <a:p>
              <a:pPr algn="ctr"/>
              <a:endParaRPr/>
            </a:p>
          </p:txBody>
        </p:sp>
        <p:sp>
          <p:nvSpPr>
            <p:cNvPr id="50" name="mini train wheel"/>
            <p:cNvSpPr/>
            <p:nvPr/>
          </p:nvSpPr>
          <p:spPr>
            <a:xfrm>
              <a:off x="3733568" y="2600352"/>
              <a:ext cx="145243" cy="145243"/>
            </a:xfrm>
            <a:prstGeom prst="ellipse">
              <a:avLst/>
            </a:prstGeom>
            <a:solidFill>
              <a:srgbClr val="1B1D21"/>
            </a:solidFill>
            <a:ln w="9525">
              <a:solidFill>
                <a:srgbClr val="9AA0A6"/>
              </a:solidFill>
            </a:ln>
          </p:spPr>
          <p:txBody>
            <a:bodyPr rtlCol="0" anchor="ctr"/>
            <a:lstStyle/>
            <a:p>
              <a:pPr algn="ctr"/>
              <a:endParaRPr/>
            </a:p>
          </p:txBody>
        </p:sp>
        <p:sp>
          <p:nvSpPr>
            <p:cNvPr id="51" name="mini train wheel"/>
            <p:cNvSpPr/>
            <p:nvPr/>
          </p:nvSpPr>
          <p:spPr>
            <a:xfrm>
              <a:off x="4096676" y="2600352"/>
              <a:ext cx="145243" cy="145243"/>
            </a:xfrm>
            <a:prstGeom prst="ellipse">
              <a:avLst/>
            </a:prstGeom>
            <a:solidFill>
              <a:srgbClr val="1B1D21"/>
            </a:solidFill>
            <a:ln w="9525">
              <a:solidFill>
                <a:srgbClr val="9AA0A6"/>
              </a:solidFill>
            </a:ln>
          </p:spPr>
          <p:txBody>
            <a:bodyPr rtlCol="0" anchor="ctr"/>
            <a:lstStyle/>
            <a:p>
              <a:pPr algn="ctr"/>
              <a:endParaRPr/>
            </a:p>
          </p:txBody>
        </p:sp>
        <p:sp>
          <p:nvSpPr>
            <p:cNvPr id="52" name="mini train wheel"/>
            <p:cNvSpPr/>
            <p:nvPr/>
          </p:nvSpPr>
          <p:spPr>
            <a:xfrm>
              <a:off x="4402451" y="2600352"/>
              <a:ext cx="145243" cy="145243"/>
            </a:xfrm>
            <a:prstGeom prst="ellipse">
              <a:avLst/>
            </a:prstGeom>
            <a:solidFill>
              <a:srgbClr val="1B1D21"/>
            </a:solidFill>
            <a:ln w="9525">
              <a:solidFill>
                <a:srgbClr val="9AA0A6"/>
              </a:solidFill>
            </a:ln>
          </p:spPr>
          <p:txBody>
            <a:bodyPr rtlCol="0" anchor="ctr"/>
            <a:lstStyle/>
            <a:p>
              <a:pPr algn="ctr"/>
              <a:endParaRPr/>
            </a:p>
          </p:txBody>
        </p:sp>
        <p:sp>
          <p:nvSpPr>
            <p:cNvPr id="53" name="mini train wheel"/>
            <p:cNvSpPr/>
            <p:nvPr/>
          </p:nvSpPr>
          <p:spPr>
            <a:xfrm>
              <a:off x="4708227" y="2600352"/>
              <a:ext cx="145243" cy="145243"/>
            </a:xfrm>
            <a:prstGeom prst="ellipse">
              <a:avLst/>
            </a:prstGeom>
            <a:solidFill>
              <a:srgbClr val="1B1D21"/>
            </a:solidFill>
            <a:ln w="9525">
              <a:solidFill>
                <a:srgbClr val="9AA0A6"/>
              </a:solidFill>
            </a:ln>
          </p:spPr>
          <p:txBody>
            <a:bodyPr rtlCol="0" anchor="ctr"/>
            <a:lstStyle/>
            <a:p>
              <a:pPr algn="ctr"/>
              <a:endParaRPr/>
            </a:p>
          </p:txBody>
        </p:sp>
        <p:sp>
          <p:nvSpPr>
            <p:cNvPr id="54" name="mini train wheel"/>
            <p:cNvSpPr/>
            <p:nvPr/>
          </p:nvSpPr>
          <p:spPr>
            <a:xfrm>
              <a:off x="5014002" y="2600352"/>
              <a:ext cx="145243" cy="145243"/>
            </a:xfrm>
            <a:prstGeom prst="ellipse">
              <a:avLst/>
            </a:prstGeom>
            <a:solidFill>
              <a:srgbClr val="1B1D21"/>
            </a:solidFill>
            <a:ln w="9525">
              <a:solidFill>
                <a:srgbClr val="9AA0A6"/>
              </a:solidFill>
            </a:ln>
          </p:spPr>
          <p:txBody>
            <a:bodyPr rtlCol="0" anchor="ctr"/>
            <a:lstStyle/>
            <a:p>
              <a:pPr algn="ctr"/>
              <a:endParaRPr/>
            </a:p>
          </p:txBody>
        </p:sp>
        <p:sp>
          <p:nvSpPr>
            <p:cNvPr id="55" name="platform"/>
            <p:cNvSpPr/>
            <p:nvPr/>
          </p:nvSpPr>
          <p:spPr>
            <a:xfrm>
              <a:off x="3026664" y="4089196"/>
              <a:ext cx="2615184" cy="201168"/>
            </a:xfrm>
            <a:prstGeom prst="rect">
              <a:avLst/>
            </a:prstGeom>
            <a:solidFill>
              <a:srgbClr val="D5D9DE"/>
            </a:solidFill>
            <a:ln w="9525">
              <a:solidFill>
                <a:srgbClr val="8C939B"/>
              </a:solidFill>
            </a:ln>
          </p:spPr>
          <p:txBody>
            <a:bodyPr rtlCol="0" anchor="ctr"/>
            <a:lstStyle/>
            <a:p>
              <a:pPr algn="ctr"/>
              <a:endParaRPr/>
            </a:p>
          </p:txBody>
        </p:sp>
        <p:sp>
          <p:nvSpPr>
            <p:cNvPr id="56" name="station body"/>
            <p:cNvSpPr/>
            <p:nvPr/>
          </p:nvSpPr>
          <p:spPr>
            <a:xfrm>
              <a:off x="3730752" y="3582253"/>
              <a:ext cx="1207008" cy="506943"/>
            </a:xfrm>
            <a:prstGeom prst="rect">
              <a:avLst/>
            </a:prstGeom>
            <a:solidFill>
              <a:srgbClr val="C9CED3"/>
            </a:solidFill>
            <a:ln w="9525">
              <a:solidFill>
                <a:srgbClr val="6B7078"/>
              </a:solidFill>
            </a:ln>
          </p:spPr>
          <p:txBody>
            <a:bodyPr rtlCol="0" anchor="ctr"/>
            <a:lstStyle/>
            <a:p>
              <a:pPr algn="ctr"/>
              <a:endParaRPr/>
            </a:p>
          </p:txBody>
        </p:sp>
        <p:sp>
          <p:nvSpPr>
            <p:cNvPr id="57" name="station roof"/>
            <p:cNvSpPr/>
            <p:nvPr/>
          </p:nvSpPr>
          <p:spPr>
            <a:xfrm>
              <a:off x="3658331" y="3364992"/>
              <a:ext cx="1351849" cy="217261"/>
            </a:xfrm>
            <a:custGeom>
              <a:avLst/>
              <a:gdLst/>
              <a:ahLst/>
              <a:cxnLst/>
              <a:rect l="l" t="t" r="r" b="b"/>
              <a:pathLst>
                <a:path w="1351849" h="217261">
                  <a:moveTo>
                    <a:pt x="0" y="217261"/>
                  </a:moveTo>
                  <a:lnTo>
                    <a:pt x="675925" y="0"/>
                  </a:lnTo>
                  <a:lnTo>
                    <a:pt x="1351849" y="217261"/>
                  </a:lnTo>
                  <a:close/>
                </a:path>
              </a:pathLst>
            </a:custGeom>
            <a:solidFill>
              <a:srgbClr val="6B7078"/>
            </a:solidFill>
            <a:ln>
              <a:noFill/>
            </a:ln>
          </p:spPr>
          <p:txBody>
            <a:bodyPr rtlCol="0" anchor="ctr"/>
            <a:lstStyle/>
            <a:p>
              <a:pPr algn="ctr"/>
              <a:endParaRPr/>
            </a:p>
          </p:txBody>
        </p:sp>
        <p:sp>
          <p:nvSpPr>
            <p:cNvPr id="58" name="station window"/>
            <p:cNvSpPr/>
            <p:nvPr/>
          </p:nvSpPr>
          <p:spPr>
            <a:xfrm>
              <a:off x="3851452" y="3727094"/>
              <a:ext cx="241401" cy="202777"/>
            </a:xfrm>
            <a:prstGeom prst="rect">
              <a:avLst/>
            </a:prstGeom>
            <a:solidFill>
              <a:srgbClr val="4DA3FF">
                <a:alpha val="75000"/>
              </a:srgbClr>
            </a:solidFill>
            <a:ln>
              <a:noFill/>
            </a:ln>
          </p:spPr>
          <p:txBody>
            <a:bodyPr rtlCol="0" anchor="ctr"/>
            <a:lstStyle/>
            <a:p>
              <a:pPr algn="ctr"/>
              <a:endParaRPr/>
            </a:p>
          </p:txBody>
        </p:sp>
        <p:sp>
          <p:nvSpPr>
            <p:cNvPr id="59" name="station window"/>
            <p:cNvSpPr/>
            <p:nvPr/>
          </p:nvSpPr>
          <p:spPr>
            <a:xfrm>
              <a:off x="4213555" y="3727094"/>
              <a:ext cx="241401" cy="202777"/>
            </a:xfrm>
            <a:prstGeom prst="rect">
              <a:avLst/>
            </a:prstGeom>
            <a:solidFill>
              <a:srgbClr val="4DA3FF">
                <a:alpha val="75000"/>
              </a:srgbClr>
            </a:solidFill>
            <a:ln>
              <a:noFill/>
            </a:ln>
          </p:spPr>
          <p:txBody>
            <a:bodyPr rtlCol="0" anchor="ctr"/>
            <a:lstStyle/>
            <a:p>
              <a:pPr algn="ctr"/>
              <a:endParaRPr/>
            </a:p>
          </p:txBody>
        </p:sp>
        <p:sp>
          <p:nvSpPr>
            <p:cNvPr id="60" name="station window"/>
            <p:cNvSpPr/>
            <p:nvPr/>
          </p:nvSpPr>
          <p:spPr>
            <a:xfrm>
              <a:off x="4575657" y="3727094"/>
              <a:ext cx="241401" cy="202777"/>
            </a:xfrm>
            <a:prstGeom prst="rect">
              <a:avLst/>
            </a:prstGeom>
            <a:solidFill>
              <a:srgbClr val="4DA3FF">
                <a:alpha val="75000"/>
              </a:srgbClr>
            </a:solidFill>
            <a:ln>
              <a:noFill/>
            </a:ln>
          </p:spPr>
          <p:txBody>
            <a:bodyPr rtlCol="0" anchor="ctr"/>
            <a:lstStyle/>
            <a:p>
              <a:pPr algn="ctr"/>
              <a:endParaRPr/>
            </a:p>
          </p:txBody>
        </p:sp>
        <p:sp>
          <p:nvSpPr>
            <p:cNvPr id="61" name="semaphore post"/>
            <p:cNvSpPr/>
            <p:nvPr/>
          </p:nvSpPr>
          <p:spPr>
            <a:xfrm>
              <a:off x="8583930" y="3063239"/>
              <a:ext cx="150876" cy="1508760"/>
            </a:xfrm>
            <a:prstGeom prst="rect">
              <a:avLst/>
            </a:prstGeom>
            <a:solidFill>
              <a:srgbClr val="6B7078"/>
            </a:solidFill>
            <a:ln>
              <a:noFill/>
            </a:ln>
          </p:spPr>
          <p:txBody>
            <a:bodyPr rtlCol="0" anchor="ctr"/>
            <a:lstStyle/>
            <a:p>
              <a:pPr algn="ctr"/>
              <a:endParaRPr/>
            </a:p>
          </p:txBody>
        </p:sp>
        <p:sp>
          <p:nvSpPr>
            <p:cNvPr id="62" name="semaphore foot"/>
            <p:cNvSpPr/>
            <p:nvPr/>
          </p:nvSpPr>
          <p:spPr>
            <a:xfrm>
              <a:off x="8327440" y="4481474"/>
              <a:ext cx="663854" cy="90525"/>
            </a:xfrm>
            <a:prstGeom prst="rect">
              <a:avLst/>
            </a:prstGeom>
            <a:solidFill>
              <a:srgbClr val="3A3F47"/>
            </a:solidFill>
            <a:ln>
              <a:noFill/>
            </a:ln>
          </p:spPr>
          <p:txBody>
            <a:bodyPr rtlCol="0" anchor="ctr"/>
            <a:lstStyle/>
            <a:p>
              <a:pPr algn="ctr"/>
              <a:endParaRPr/>
            </a:p>
          </p:txBody>
        </p:sp>
        <p:sp>
          <p:nvSpPr>
            <p:cNvPr id="63" name="semaphore arm"/>
            <p:cNvSpPr/>
            <p:nvPr/>
          </p:nvSpPr>
          <p:spPr>
            <a:xfrm>
              <a:off x="8734805" y="3153765"/>
              <a:ext cx="935431" cy="181051"/>
            </a:xfrm>
            <a:prstGeom prst="rect">
              <a:avLst/>
            </a:prstGeom>
            <a:solidFill>
              <a:srgbClr val="E5484D"/>
            </a:solidFill>
            <a:ln>
              <a:noFill/>
            </a:ln>
          </p:spPr>
          <p:txBody>
            <a:bodyPr rtlCol="0" anchor="ctr"/>
            <a:lstStyle/>
            <a:p>
              <a:pPr algn="ctr"/>
              <a:endParaRPr/>
            </a:p>
          </p:txBody>
        </p:sp>
        <p:sp>
          <p:nvSpPr>
            <p:cNvPr id="64" name="semaphore arm stripe"/>
            <p:cNvSpPr/>
            <p:nvPr/>
          </p:nvSpPr>
          <p:spPr>
            <a:xfrm>
              <a:off x="9249293" y="3153765"/>
              <a:ext cx="112251" cy="181051"/>
            </a:xfrm>
            <a:prstGeom prst="rect">
              <a:avLst/>
            </a:prstGeom>
            <a:solidFill>
              <a:srgbClr val="F2F2F2"/>
            </a:solidFill>
            <a:ln>
              <a:noFill/>
            </a:ln>
          </p:spPr>
          <p:txBody>
            <a:bodyPr rtlCol="0" anchor="ctr"/>
            <a:lstStyle/>
            <a:p>
              <a:pPr algn="ctr"/>
              <a:endParaRPr/>
            </a:p>
          </p:txBody>
        </p:sp>
        <p:sp>
          <p:nvSpPr>
            <p:cNvPr id="65" name="semaphore lamp"/>
            <p:cNvSpPr/>
            <p:nvPr/>
          </p:nvSpPr>
          <p:spPr>
            <a:xfrm>
              <a:off x="8508492" y="3033064"/>
              <a:ext cx="301752" cy="301752"/>
            </a:xfrm>
            <a:prstGeom prst="ellipse">
              <a:avLst/>
            </a:prstGeom>
            <a:solidFill>
              <a:srgbClr val="E5484D"/>
            </a:solidFill>
            <a:ln w="12700">
              <a:solidFill>
                <a:srgbClr val="2B2F36"/>
              </a:solidFill>
            </a:ln>
          </p:spPr>
          <p:txBody>
            <a:bodyPr rtlCol="0" anchor="ctr"/>
            <a:lstStyle/>
            <a:p>
              <a:pPr algn="ctr"/>
              <a:endParaRPr/>
            </a:p>
          </p:txBody>
        </p:sp>
        <p:sp>
          <p:nvSpPr>
            <p:cNvPr id="66" name="semaphore pivot"/>
            <p:cNvSpPr/>
            <p:nvPr/>
          </p:nvSpPr>
          <p:spPr>
            <a:xfrm>
              <a:off x="8674455" y="3183940"/>
              <a:ext cx="120700" cy="120700"/>
            </a:xfrm>
            <a:prstGeom prst="ellipse">
              <a:avLst/>
            </a:prstGeom>
            <a:solidFill>
              <a:srgbClr val="3A3F47"/>
            </a:solidFill>
            <a:ln>
              <a:noFill/>
            </a:ln>
          </p:spPr>
          <p:txBody>
            <a:bodyPr rtlCol="0" anchor="ctr"/>
            <a:lstStyle/>
            <a:p>
              <a:pPr algn="ctr"/>
              <a:endParaRPr/>
            </a:p>
          </p:txBody>
        </p:sp>
        <p:sp>
          <p:nvSpPr>
            <p:cNvPr id="67" name="signal box lower"/>
            <p:cNvSpPr/>
            <p:nvPr/>
          </p:nvSpPr>
          <p:spPr>
            <a:xfrm>
              <a:off x="9614916" y="4113336"/>
              <a:ext cx="1106424" cy="458663"/>
            </a:xfrm>
            <a:prstGeom prst="rect">
              <a:avLst/>
            </a:prstGeom>
            <a:solidFill>
              <a:srgbClr val="8C5A3C"/>
            </a:solidFill>
            <a:ln>
              <a:noFill/>
            </a:ln>
          </p:spPr>
          <p:txBody>
            <a:bodyPr rtlCol="0" anchor="ctr"/>
            <a:lstStyle/>
            <a:p>
              <a:pPr algn="ctr"/>
              <a:endParaRPr/>
            </a:p>
          </p:txBody>
        </p:sp>
        <p:sp>
          <p:nvSpPr>
            <p:cNvPr id="68" name="signal box upper"/>
            <p:cNvSpPr/>
            <p:nvPr/>
          </p:nvSpPr>
          <p:spPr>
            <a:xfrm>
              <a:off x="9570659" y="3826672"/>
              <a:ext cx="1194937" cy="305775"/>
            </a:xfrm>
            <a:prstGeom prst="rect">
              <a:avLst/>
            </a:prstGeom>
            <a:solidFill>
              <a:srgbClr val="AEB4BB"/>
            </a:solidFill>
            <a:ln>
              <a:noFill/>
            </a:ln>
          </p:spPr>
          <p:txBody>
            <a:bodyPr rtlCol="0" anchor="ctr"/>
            <a:lstStyle/>
            <a:p>
              <a:pPr algn="ctr"/>
              <a:endParaRPr/>
            </a:p>
          </p:txBody>
        </p:sp>
        <p:sp>
          <p:nvSpPr>
            <p:cNvPr id="69" name="signal box windows"/>
            <p:cNvSpPr/>
            <p:nvPr/>
          </p:nvSpPr>
          <p:spPr>
            <a:xfrm>
              <a:off x="9703429" y="3884005"/>
              <a:ext cx="929396" cy="171998"/>
            </a:xfrm>
            <a:prstGeom prst="rect">
              <a:avLst/>
            </a:prstGeom>
            <a:solidFill>
              <a:srgbClr val="4DA3FF">
                <a:alpha val="75000"/>
              </a:srgbClr>
            </a:solidFill>
            <a:ln>
              <a:noFill/>
            </a:ln>
          </p:spPr>
          <p:txBody>
            <a:bodyPr rtlCol="0" anchor="ctr"/>
            <a:lstStyle/>
            <a:p>
              <a:pPr algn="ctr"/>
              <a:endParaRPr/>
            </a:p>
          </p:txBody>
        </p:sp>
        <p:sp>
          <p:nvSpPr>
            <p:cNvPr id="70" name="signal box roof"/>
            <p:cNvSpPr/>
            <p:nvPr/>
          </p:nvSpPr>
          <p:spPr>
            <a:xfrm>
              <a:off x="9526402" y="3616452"/>
              <a:ext cx="1283451" cy="210220"/>
            </a:xfrm>
            <a:custGeom>
              <a:avLst/>
              <a:gdLst/>
              <a:ahLst/>
              <a:cxnLst/>
              <a:rect l="l" t="t" r="r" b="b"/>
              <a:pathLst>
                <a:path w="1283451" h="210220">
                  <a:moveTo>
                    <a:pt x="0" y="210220"/>
                  </a:moveTo>
                  <a:lnTo>
                    <a:pt x="641726" y="0"/>
                  </a:lnTo>
                  <a:lnTo>
                    <a:pt x="1283451" y="210220"/>
                  </a:lnTo>
                  <a:close/>
                </a:path>
              </a:pathLst>
            </a:custGeom>
            <a:solidFill>
              <a:srgbClr val="4A515B"/>
            </a:solidFill>
            <a:ln>
              <a:noFill/>
            </a:ln>
          </p:spPr>
          <p:txBody>
            <a:bodyPr rtlCol="0" anchor="ctr"/>
            <a:lstStyle/>
            <a:p>
              <a:pPr algn="ctr"/>
              <a:endParaRPr/>
            </a:p>
          </p:txBody>
        </p:sp>
        <p:sp>
          <p:nvSpPr>
            <p:cNvPr id="71" name="signal box door"/>
            <p:cNvSpPr/>
            <p:nvPr/>
          </p:nvSpPr>
          <p:spPr>
            <a:xfrm>
              <a:off x="10057485" y="4247113"/>
              <a:ext cx="221284" cy="324886"/>
            </a:xfrm>
            <a:prstGeom prst="rect">
              <a:avLst/>
            </a:prstGeom>
            <a:solidFill>
              <a:srgbClr val="3A3F47"/>
            </a:solidFill>
            <a:ln>
              <a:noFill/>
            </a:ln>
          </p:spPr>
          <p:txBody>
            <a:bodyPr rtlCol="0" anchor="ctr"/>
            <a:lstStyle/>
            <a:p>
              <a:pPr algn="ctr"/>
              <a:endParaRPr/>
            </a:p>
          </p:txBody>
        </p:sp>
        <p:sp>
          <p:nvSpPr>
            <p:cNvPr id="72" name="label pill"/>
            <p:cNvSpPr/>
            <p:nvPr/>
          </p:nvSpPr>
          <p:spPr>
            <a:xfrm>
              <a:off x="3934360" y="1775764"/>
              <a:ext cx="699206" cy="274320"/>
            </a:xfrm>
            <a:prstGeom prst="roundRect">
              <a:avLst>
                <a:gd name="adj" fmla="val 33333"/>
              </a:avLst>
            </a:prstGeom>
            <a:solidFill>
              <a:srgbClr val="2B2F36"/>
            </a:solidFill>
            <a:ln>
              <a:noFill/>
            </a:ln>
          </p:spPr>
          <p:txBody>
            <a:bodyPr wrap="square" lIns="36576" tIns="0" rIns="36576" bIns="0" rtlCol="0" anchor="ctr">
              <a:noAutofit/>
            </a:bodyPr>
            <a:lstStyle/>
            <a:p>
              <a:pPr algn="ctr"/>
              <a:r>
                <a:rPr lang="en-GB" sz="1400" b="1" i="0">
                  <a:solidFill>
                    <a:srgbClr val="F2F2F2"/>
                  </a:solidFill>
                  <a:latin typeface="Arial"/>
                </a:rPr>
                <a:t>Train</a:t>
              </a:r>
            </a:p>
          </p:txBody>
        </p:sp>
        <p:sp>
          <p:nvSpPr>
            <p:cNvPr id="73" name="label pill"/>
            <p:cNvSpPr/>
            <p:nvPr/>
          </p:nvSpPr>
          <p:spPr>
            <a:xfrm>
              <a:off x="3895829" y="2982772"/>
              <a:ext cx="876853" cy="274320"/>
            </a:xfrm>
            <a:prstGeom prst="roundRect">
              <a:avLst>
                <a:gd name="adj" fmla="val 33333"/>
              </a:avLst>
            </a:prstGeom>
            <a:solidFill>
              <a:srgbClr val="2B2F36"/>
            </a:solidFill>
            <a:ln>
              <a:noFill/>
            </a:ln>
          </p:spPr>
          <p:txBody>
            <a:bodyPr wrap="square" lIns="36576" tIns="0" rIns="36576" bIns="0" rtlCol="0" anchor="ctr">
              <a:noAutofit/>
            </a:bodyPr>
            <a:lstStyle/>
            <a:p>
              <a:pPr algn="ctr"/>
              <a:r>
                <a:rPr lang="en-GB" sz="1400" b="1" i="0">
                  <a:solidFill>
                    <a:srgbClr val="F2F2F2"/>
                  </a:solidFill>
                  <a:latin typeface="Arial"/>
                </a:rPr>
                <a:t>Station</a:t>
              </a:r>
            </a:p>
          </p:txBody>
        </p:sp>
        <p:sp>
          <p:nvSpPr>
            <p:cNvPr id="74" name="label pill"/>
            <p:cNvSpPr/>
            <p:nvPr/>
          </p:nvSpPr>
          <p:spPr>
            <a:xfrm>
              <a:off x="8038022" y="4672584"/>
              <a:ext cx="1242691" cy="274320"/>
            </a:xfrm>
            <a:prstGeom prst="roundRect">
              <a:avLst>
                <a:gd name="adj" fmla="val 33333"/>
              </a:avLst>
            </a:prstGeom>
            <a:solidFill>
              <a:srgbClr val="2B2F36"/>
            </a:solidFill>
            <a:ln>
              <a:noFill/>
            </a:ln>
          </p:spPr>
          <p:txBody>
            <a:bodyPr wrap="square" lIns="36576" tIns="0" rIns="36576" bIns="0" rtlCol="0" anchor="ctr">
              <a:noAutofit/>
            </a:bodyPr>
            <a:lstStyle/>
            <a:p>
              <a:pPr algn="ctr"/>
              <a:r>
                <a:rPr lang="en-GB" sz="1400" b="1" i="0">
                  <a:solidFill>
                    <a:srgbClr val="F2F2F2"/>
                  </a:solidFill>
                  <a:latin typeface="Arial"/>
                </a:rPr>
                <a:t>Semaphore</a:t>
              </a:r>
            </a:p>
          </p:txBody>
        </p:sp>
        <p:sp>
          <p:nvSpPr>
            <p:cNvPr id="75" name="label pill"/>
            <p:cNvSpPr/>
            <p:nvPr/>
          </p:nvSpPr>
          <p:spPr>
            <a:xfrm>
              <a:off x="9581467" y="4672584"/>
              <a:ext cx="1173321" cy="274320"/>
            </a:xfrm>
            <a:prstGeom prst="roundRect">
              <a:avLst>
                <a:gd name="adj" fmla="val 33333"/>
              </a:avLst>
            </a:prstGeom>
            <a:solidFill>
              <a:srgbClr val="2B2F36"/>
            </a:solidFill>
            <a:ln>
              <a:noFill/>
            </a:ln>
          </p:spPr>
          <p:txBody>
            <a:bodyPr wrap="square" lIns="36576" tIns="0" rIns="36576" bIns="0" rtlCol="0" anchor="ctr">
              <a:noAutofit/>
            </a:bodyPr>
            <a:lstStyle/>
            <a:p>
              <a:pPr algn="ctr"/>
              <a:r>
                <a:rPr lang="en-GB" sz="1400" b="1" i="0">
                  <a:solidFill>
                    <a:srgbClr val="F2F2F2"/>
                  </a:solidFill>
                  <a:latin typeface="Arial"/>
                </a:rPr>
                <a:t>Signal box</a:t>
              </a:r>
            </a:p>
          </p:txBody>
        </p:sp>
      </p:grpSp>
      <p:sp>
        <p:nvSpPr>
          <p:cNvPr id="7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7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78"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Lessons play out on a clean white model-railway table.</a:t>
            </a:r>
          </a:p>
        </p:txBody>
      </p:sp>
      <p:sp>
        <p:nvSpPr>
          <p:cNvPr id="79"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8</a:t>
            </a:r>
          </a:p>
        </p:txBody>
      </p:sp>
    </p:spTree>
    <p:extLst>
      <p:ext uri="{BB962C8B-B14F-4D97-AF65-F5344CB8AC3E}">
        <p14:creationId xmlns:p14="http://schemas.microsoft.com/office/powerpoint/2010/main" val="18730369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6"/>
                                        </p:tgtEl>
                                        <p:attrNameLst>
                                          <p:attrName>style.visibility</p:attrName>
                                        </p:attrNameLst>
                                      </p:cBhvr>
                                      <p:to>
                                        <p:strVal val="visible"/>
                                      </p:to>
                                    </p:set>
                                    <p:animEffect transition="in" filter="fade">
                                      <p:cBhvr>
                                        <p:cTn id="10" dur="500"/>
                                        <p:tgtEl>
                                          <p:spTgt spid="76"/>
                                        </p:tgtEl>
                                      </p:cBhvr>
                                    </p:animEffect>
                                  </p:childTnLst>
                                </p:cTn>
                              </p:par>
                              <p:par>
                                <p:cTn id="11" presetID="10" presetClass="entr" presetSubtype="0" fill="hold" nodeType="withEffect">
                                  <p:stCondLst>
                                    <p:cond delay="600"/>
                                  </p:stCondLst>
                                  <p:childTnLst>
                                    <p:set>
                                      <p:cBhvr>
                                        <p:cTn id="12" dur="1" fill="hold">
                                          <p:stCondLst>
                                            <p:cond delay="0"/>
                                          </p:stCondLst>
                                        </p:cTn>
                                        <p:tgtEl>
                                          <p:spTgt spid="77"/>
                                        </p:tgtEl>
                                        <p:attrNameLst>
                                          <p:attrName>style.visibility</p:attrName>
                                        </p:attrNameLst>
                                      </p:cBhvr>
                                      <p:to>
                                        <p:strVal val="visible"/>
                                      </p:to>
                                    </p:set>
                                    <p:animEffect transition="in" filter="fade">
                                      <p:cBhvr>
                                        <p:cTn id="13" dur="500"/>
                                        <p:tgtEl>
                                          <p:spTgt spid="77"/>
                                        </p:tgtEl>
                                      </p:cBhvr>
                                    </p:animEffect>
                                  </p:childTnLst>
                                </p:cTn>
                              </p:par>
                              <p:par>
                                <p:cTn id="14" presetID="10" presetClass="entr" presetSubtype="0" fill="hold" nodeType="withEffect">
                                  <p:stCondLst>
                                    <p:cond delay="900"/>
                                  </p:stCondLst>
                                  <p:childTnLst>
                                    <p:set>
                                      <p:cBhvr>
                                        <p:cTn id="15" dur="1" fill="hold">
                                          <p:stCondLst>
                                            <p:cond delay="0"/>
                                          </p:stCondLst>
                                        </p:cTn>
                                        <p:tgtEl>
                                          <p:spTgt spid="78"/>
                                        </p:tgtEl>
                                        <p:attrNameLst>
                                          <p:attrName>style.visibility</p:attrName>
                                        </p:attrNameLst>
                                      </p:cBhvr>
                                      <p:to>
                                        <p:strVal val="visible"/>
                                      </p:to>
                                    </p:set>
                                    <p:animEffect transition="in" filter="fade">
                                      <p:cBhvr>
                                        <p:cTn id="16"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How a lesson plays</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Mock lesson window" descr="A mock lesson window. The miniature table is shown with the semaphore highlighted by an orange ring and a short caption bubble beside it. A control bar below has pause, replay, previous and next buttons."/>
          <p:cNvGrpSpPr/>
          <p:nvPr/>
        </p:nvGrpSpPr>
        <p:grpSpPr>
          <a:xfrm>
            <a:off x="548640" y="1325880"/>
            <a:ext cx="11091672" cy="4297680"/>
            <a:chOff x="548640" y="1325880"/>
            <a:chExt cx="11091672" cy="4297680"/>
          </a:xfrm>
        </p:grpSpPr>
        <p:sp>
          <p:nvSpPr>
            <p:cNvPr id="5" name="lesson window"/>
            <p:cNvSpPr/>
            <p:nvPr/>
          </p:nvSpPr>
          <p:spPr>
            <a:xfrm>
              <a:off x="548640" y="1325880"/>
              <a:ext cx="11091672" cy="4297680"/>
            </a:xfrm>
            <a:prstGeom prst="roundRect">
              <a:avLst>
                <a:gd name="adj" fmla="val 1702"/>
              </a:avLst>
            </a:prstGeom>
            <a:solidFill>
              <a:srgbClr val="343A43"/>
            </a:solidFill>
            <a:ln w="25400">
              <a:solidFill>
                <a:srgbClr val="4A515B"/>
              </a:solidFill>
            </a:ln>
          </p:spPr>
          <p:txBody>
            <a:bodyPr rtlCol="0" anchor="ctr"/>
            <a:lstStyle/>
            <a:p>
              <a:pPr algn="ctr"/>
              <a:endParaRPr/>
            </a:p>
          </p:txBody>
        </p:sp>
        <p:sp>
          <p:nvSpPr>
            <p:cNvPr id="6" name="window title bar"/>
            <p:cNvSpPr/>
            <p:nvPr/>
          </p:nvSpPr>
          <p:spPr>
            <a:xfrm>
              <a:off x="585216" y="1362456"/>
              <a:ext cx="11018520" cy="292608"/>
            </a:xfrm>
            <a:prstGeom prst="rect">
              <a:avLst/>
            </a:prstGeom>
            <a:solidFill>
              <a:srgbClr val="4A515B"/>
            </a:solidFill>
            <a:ln>
              <a:noFill/>
            </a:ln>
          </p:spPr>
          <p:txBody>
            <a:bodyPr rtlCol="0" anchor="ctr"/>
            <a:lstStyle/>
            <a:p>
              <a:pPr algn="ctr"/>
              <a:endParaRPr/>
            </a:p>
          </p:txBody>
        </p:sp>
        <p:sp>
          <p:nvSpPr>
            <p:cNvPr id="7" name="window dot"/>
            <p:cNvSpPr/>
            <p:nvPr/>
          </p:nvSpPr>
          <p:spPr>
            <a:xfrm>
              <a:off x="777240" y="1444752"/>
              <a:ext cx="128016" cy="128016"/>
            </a:xfrm>
            <a:prstGeom prst="ellipse">
              <a:avLst/>
            </a:prstGeom>
            <a:solidFill>
              <a:srgbClr val="A9B0B8"/>
            </a:solidFill>
            <a:ln>
              <a:noFill/>
            </a:ln>
          </p:spPr>
          <p:txBody>
            <a:bodyPr rtlCol="0" anchor="ctr"/>
            <a:lstStyle/>
            <a:p>
              <a:pPr algn="ctr"/>
              <a:endParaRPr/>
            </a:p>
          </p:txBody>
        </p:sp>
        <p:sp>
          <p:nvSpPr>
            <p:cNvPr id="8" name="window dot"/>
            <p:cNvSpPr/>
            <p:nvPr/>
          </p:nvSpPr>
          <p:spPr>
            <a:xfrm>
              <a:off x="1014983" y="1444752"/>
              <a:ext cx="128016" cy="128016"/>
            </a:xfrm>
            <a:prstGeom prst="ellipse">
              <a:avLst/>
            </a:prstGeom>
            <a:solidFill>
              <a:srgbClr val="A9B0B8"/>
            </a:solidFill>
            <a:ln>
              <a:noFill/>
            </a:ln>
          </p:spPr>
          <p:txBody>
            <a:bodyPr rtlCol="0" anchor="ctr"/>
            <a:lstStyle/>
            <a:p>
              <a:pPr algn="ctr"/>
              <a:endParaRPr/>
            </a:p>
          </p:txBody>
        </p:sp>
        <p:sp>
          <p:nvSpPr>
            <p:cNvPr id="9" name="window dot"/>
            <p:cNvSpPr/>
            <p:nvPr/>
          </p:nvSpPr>
          <p:spPr>
            <a:xfrm>
              <a:off x="1252728" y="1444752"/>
              <a:ext cx="128016" cy="128016"/>
            </a:xfrm>
            <a:prstGeom prst="ellipse">
              <a:avLst/>
            </a:prstGeom>
            <a:solidFill>
              <a:srgbClr val="A9B0B8"/>
            </a:solidFill>
            <a:ln>
              <a:noFill/>
            </a:ln>
          </p:spPr>
          <p:txBody>
            <a:bodyPr rtlCol="0" anchor="ctr"/>
            <a:lstStyle/>
            <a:p>
              <a:pPr algn="ctr"/>
              <a:endParaRPr/>
            </a:p>
          </p:txBody>
        </p:sp>
        <p:sp>
          <p:nvSpPr>
            <p:cNvPr id="10" name="table edge"/>
            <p:cNvSpPr/>
            <p:nvPr/>
          </p:nvSpPr>
          <p:spPr>
            <a:xfrm>
              <a:off x="1819656" y="4786957"/>
              <a:ext cx="8552017" cy="169346"/>
            </a:xfrm>
            <a:prstGeom prst="roundRect">
              <a:avLst>
                <a:gd name="adj" fmla="val 21598"/>
              </a:avLst>
            </a:prstGeom>
            <a:solidFill>
              <a:srgbClr val="B5BBC2"/>
            </a:solidFill>
            <a:ln>
              <a:noFill/>
            </a:ln>
          </p:spPr>
          <p:txBody>
            <a:bodyPr rtlCol="0" anchor="ctr"/>
            <a:lstStyle/>
            <a:p>
              <a:pPr algn="ctr"/>
              <a:endParaRPr/>
            </a:p>
          </p:txBody>
        </p:sp>
        <p:sp>
          <p:nvSpPr>
            <p:cNvPr id="11" name="table top"/>
            <p:cNvSpPr/>
            <p:nvPr/>
          </p:nvSpPr>
          <p:spPr>
            <a:xfrm>
              <a:off x="1819656" y="1755648"/>
              <a:ext cx="8552017" cy="3048243"/>
            </a:xfrm>
            <a:prstGeom prst="roundRect">
              <a:avLst>
                <a:gd name="adj" fmla="val 3333"/>
              </a:avLst>
            </a:prstGeom>
            <a:solidFill>
              <a:srgbClr val="F4F5F6"/>
            </a:solidFill>
            <a:ln w="12700">
              <a:solidFill>
                <a:srgbClr val="D5D9DE"/>
              </a:solidFill>
            </a:ln>
          </p:spPr>
          <p:txBody>
            <a:bodyPr rtlCol="0" anchor="ctr"/>
            <a:lstStyle/>
            <a:p>
              <a:pPr algn="ctr"/>
              <a:endParaRPr/>
            </a:p>
          </p:txBody>
        </p:sp>
        <p:sp>
          <p:nvSpPr>
            <p:cNvPr id="12" name="sleeper"/>
            <p:cNvSpPr/>
            <p:nvPr/>
          </p:nvSpPr>
          <p:spPr>
            <a:xfrm>
              <a:off x="3301441" y="2373764"/>
              <a:ext cx="59271" cy="177814"/>
            </a:xfrm>
            <a:prstGeom prst="rect">
              <a:avLst/>
            </a:prstGeom>
            <a:solidFill>
              <a:srgbClr val="B9A58F"/>
            </a:solidFill>
            <a:ln>
              <a:noFill/>
            </a:ln>
          </p:spPr>
          <p:txBody>
            <a:bodyPr rtlCol="0" anchor="ctr"/>
            <a:lstStyle/>
            <a:p>
              <a:pPr algn="ctr"/>
              <a:endParaRPr/>
            </a:p>
          </p:txBody>
        </p:sp>
        <p:sp>
          <p:nvSpPr>
            <p:cNvPr id="13" name="sleeper"/>
            <p:cNvSpPr/>
            <p:nvPr/>
          </p:nvSpPr>
          <p:spPr>
            <a:xfrm>
              <a:off x="3301441" y="4177308"/>
              <a:ext cx="59271" cy="177814"/>
            </a:xfrm>
            <a:prstGeom prst="rect">
              <a:avLst/>
            </a:prstGeom>
            <a:solidFill>
              <a:srgbClr val="B9A58F"/>
            </a:solidFill>
            <a:ln>
              <a:noFill/>
            </a:ln>
          </p:spPr>
          <p:txBody>
            <a:bodyPr rtlCol="0" anchor="ctr"/>
            <a:lstStyle/>
            <a:p>
              <a:pPr algn="ctr"/>
              <a:endParaRPr/>
            </a:p>
          </p:txBody>
        </p:sp>
        <p:sp>
          <p:nvSpPr>
            <p:cNvPr id="14" name="sleeper"/>
            <p:cNvSpPr/>
            <p:nvPr/>
          </p:nvSpPr>
          <p:spPr>
            <a:xfrm>
              <a:off x="3487722" y="2373764"/>
              <a:ext cx="59271" cy="177814"/>
            </a:xfrm>
            <a:prstGeom prst="rect">
              <a:avLst/>
            </a:prstGeom>
            <a:solidFill>
              <a:srgbClr val="B9A58F"/>
            </a:solidFill>
            <a:ln>
              <a:noFill/>
            </a:ln>
          </p:spPr>
          <p:txBody>
            <a:bodyPr rtlCol="0" anchor="ctr"/>
            <a:lstStyle/>
            <a:p>
              <a:pPr algn="ctr"/>
              <a:endParaRPr/>
            </a:p>
          </p:txBody>
        </p:sp>
        <p:sp>
          <p:nvSpPr>
            <p:cNvPr id="15" name="sleeper"/>
            <p:cNvSpPr/>
            <p:nvPr/>
          </p:nvSpPr>
          <p:spPr>
            <a:xfrm>
              <a:off x="3487722" y="4177308"/>
              <a:ext cx="59271" cy="177814"/>
            </a:xfrm>
            <a:prstGeom prst="rect">
              <a:avLst/>
            </a:prstGeom>
            <a:solidFill>
              <a:srgbClr val="B9A58F"/>
            </a:solidFill>
            <a:ln>
              <a:noFill/>
            </a:ln>
          </p:spPr>
          <p:txBody>
            <a:bodyPr rtlCol="0" anchor="ctr"/>
            <a:lstStyle/>
            <a:p>
              <a:pPr algn="ctr"/>
              <a:endParaRPr/>
            </a:p>
          </p:txBody>
        </p:sp>
        <p:sp>
          <p:nvSpPr>
            <p:cNvPr id="16" name="sleeper"/>
            <p:cNvSpPr/>
            <p:nvPr/>
          </p:nvSpPr>
          <p:spPr>
            <a:xfrm>
              <a:off x="3674004" y="2373764"/>
              <a:ext cx="59271" cy="177814"/>
            </a:xfrm>
            <a:prstGeom prst="rect">
              <a:avLst/>
            </a:prstGeom>
            <a:solidFill>
              <a:srgbClr val="B9A58F"/>
            </a:solidFill>
            <a:ln>
              <a:noFill/>
            </a:ln>
          </p:spPr>
          <p:txBody>
            <a:bodyPr rtlCol="0" anchor="ctr"/>
            <a:lstStyle/>
            <a:p>
              <a:pPr algn="ctr"/>
              <a:endParaRPr/>
            </a:p>
          </p:txBody>
        </p:sp>
        <p:sp>
          <p:nvSpPr>
            <p:cNvPr id="17" name="sleeper"/>
            <p:cNvSpPr/>
            <p:nvPr/>
          </p:nvSpPr>
          <p:spPr>
            <a:xfrm>
              <a:off x="3674004" y="4177308"/>
              <a:ext cx="59271" cy="177814"/>
            </a:xfrm>
            <a:prstGeom prst="rect">
              <a:avLst/>
            </a:prstGeom>
            <a:solidFill>
              <a:srgbClr val="B9A58F"/>
            </a:solidFill>
            <a:ln>
              <a:noFill/>
            </a:ln>
          </p:spPr>
          <p:txBody>
            <a:bodyPr rtlCol="0" anchor="ctr"/>
            <a:lstStyle/>
            <a:p>
              <a:pPr algn="ctr"/>
              <a:endParaRPr/>
            </a:p>
          </p:txBody>
        </p:sp>
        <p:sp>
          <p:nvSpPr>
            <p:cNvPr id="18" name="sleeper"/>
            <p:cNvSpPr/>
            <p:nvPr/>
          </p:nvSpPr>
          <p:spPr>
            <a:xfrm>
              <a:off x="3860285" y="2373764"/>
              <a:ext cx="59271" cy="177814"/>
            </a:xfrm>
            <a:prstGeom prst="rect">
              <a:avLst/>
            </a:prstGeom>
            <a:solidFill>
              <a:srgbClr val="B9A58F"/>
            </a:solidFill>
            <a:ln>
              <a:noFill/>
            </a:ln>
          </p:spPr>
          <p:txBody>
            <a:bodyPr rtlCol="0" anchor="ctr"/>
            <a:lstStyle/>
            <a:p>
              <a:pPr algn="ctr"/>
              <a:endParaRPr/>
            </a:p>
          </p:txBody>
        </p:sp>
        <p:sp>
          <p:nvSpPr>
            <p:cNvPr id="19" name="sleeper"/>
            <p:cNvSpPr/>
            <p:nvPr/>
          </p:nvSpPr>
          <p:spPr>
            <a:xfrm>
              <a:off x="3860285" y="4177308"/>
              <a:ext cx="59271" cy="177814"/>
            </a:xfrm>
            <a:prstGeom prst="rect">
              <a:avLst/>
            </a:prstGeom>
            <a:solidFill>
              <a:srgbClr val="B9A58F"/>
            </a:solidFill>
            <a:ln>
              <a:noFill/>
            </a:ln>
          </p:spPr>
          <p:txBody>
            <a:bodyPr rtlCol="0" anchor="ctr"/>
            <a:lstStyle/>
            <a:p>
              <a:pPr algn="ctr"/>
              <a:endParaRPr/>
            </a:p>
          </p:txBody>
        </p:sp>
        <p:sp>
          <p:nvSpPr>
            <p:cNvPr id="20" name="sleeper"/>
            <p:cNvSpPr/>
            <p:nvPr/>
          </p:nvSpPr>
          <p:spPr>
            <a:xfrm>
              <a:off x="4046567" y="2373764"/>
              <a:ext cx="59271" cy="177814"/>
            </a:xfrm>
            <a:prstGeom prst="rect">
              <a:avLst/>
            </a:prstGeom>
            <a:solidFill>
              <a:srgbClr val="B9A58F"/>
            </a:solidFill>
            <a:ln>
              <a:noFill/>
            </a:ln>
          </p:spPr>
          <p:txBody>
            <a:bodyPr rtlCol="0" anchor="ctr"/>
            <a:lstStyle/>
            <a:p>
              <a:pPr algn="ctr"/>
              <a:endParaRPr/>
            </a:p>
          </p:txBody>
        </p:sp>
        <p:sp>
          <p:nvSpPr>
            <p:cNvPr id="21" name="sleeper"/>
            <p:cNvSpPr/>
            <p:nvPr/>
          </p:nvSpPr>
          <p:spPr>
            <a:xfrm>
              <a:off x="4046567" y="4177308"/>
              <a:ext cx="59271" cy="177814"/>
            </a:xfrm>
            <a:prstGeom prst="rect">
              <a:avLst/>
            </a:prstGeom>
            <a:solidFill>
              <a:srgbClr val="B9A58F"/>
            </a:solidFill>
            <a:ln>
              <a:noFill/>
            </a:ln>
          </p:spPr>
          <p:txBody>
            <a:bodyPr rtlCol="0" anchor="ctr"/>
            <a:lstStyle/>
            <a:p>
              <a:pPr algn="ctr"/>
              <a:endParaRPr/>
            </a:p>
          </p:txBody>
        </p:sp>
        <p:sp>
          <p:nvSpPr>
            <p:cNvPr id="22" name="sleeper"/>
            <p:cNvSpPr/>
            <p:nvPr/>
          </p:nvSpPr>
          <p:spPr>
            <a:xfrm>
              <a:off x="4232849" y="2373764"/>
              <a:ext cx="59271" cy="177814"/>
            </a:xfrm>
            <a:prstGeom prst="rect">
              <a:avLst/>
            </a:prstGeom>
            <a:solidFill>
              <a:srgbClr val="B9A58F"/>
            </a:solidFill>
            <a:ln>
              <a:noFill/>
            </a:ln>
          </p:spPr>
          <p:txBody>
            <a:bodyPr rtlCol="0" anchor="ctr"/>
            <a:lstStyle/>
            <a:p>
              <a:pPr algn="ctr"/>
              <a:endParaRPr/>
            </a:p>
          </p:txBody>
        </p:sp>
        <p:sp>
          <p:nvSpPr>
            <p:cNvPr id="23" name="sleeper"/>
            <p:cNvSpPr/>
            <p:nvPr/>
          </p:nvSpPr>
          <p:spPr>
            <a:xfrm>
              <a:off x="4232849" y="4177308"/>
              <a:ext cx="59271" cy="177814"/>
            </a:xfrm>
            <a:prstGeom prst="rect">
              <a:avLst/>
            </a:prstGeom>
            <a:solidFill>
              <a:srgbClr val="B9A58F"/>
            </a:solidFill>
            <a:ln>
              <a:noFill/>
            </a:ln>
          </p:spPr>
          <p:txBody>
            <a:bodyPr rtlCol="0" anchor="ctr"/>
            <a:lstStyle/>
            <a:p>
              <a:pPr algn="ctr"/>
              <a:endParaRPr/>
            </a:p>
          </p:txBody>
        </p:sp>
        <p:sp>
          <p:nvSpPr>
            <p:cNvPr id="24" name="sleeper"/>
            <p:cNvSpPr/>
            <p:nvPr/>
          </p:nvSpPr>
          <p:spPr>
            <a:xfrm>
              <a:off x="4419130" y="2373764"/>
              <a:ext cx="59271" cy="177814"/>
            </a:xfrm>
            <a:prstGeom prst="rect">
              <a:avLst/>
            </a:prstGeom>
            <a:solidFill>
              <a:srgbClr val="B9A58F"/>
            </a:solidFill>
            <a:ln>
              <a:noFill/>
            </a:ln>
          </p:spPr>
          <p:txBody>
            <a:bodyPr rtlCol="0" anchor="ctr"/>
            <a:lstStyle/>
            <a:p>
              <a:pPr algn="ctr"/>
              <a:endParaRPr/>
            </a:p>
          </p:txBody>
        </p:sp>
        <p:sp>
          <p:nvSpPr>
            <p:cNvPr id="25" name="sleeper"/>
            <p:cNvSpPr/>
            <p:nvPr/>
          </p:nvSpPr>
          <p:spPr>
            <a:xfrm>
              <a:off x="4419130" y="4177308"/>
              <a:ext cx="59271" cy="177814"/>
            </a:xfrm>
            <a:prstGeom prst="rect">
              <a:avLst/>
            </a:prstGeom>
            <a:solidFill>
              <a:srgbClr val="B9A58F"/>
            </a:solidFill>
            <a:ln>
              <a:noFill/>
            </a:ln>
          </p:spPr>
          <p:txBody>
            <a:bodyPr rtlCol="0" anchor="ctr"/>
            <a:lstStyle/>
            <a:p>
              <a:pPr algn="ctr"/>
              <a:endParaRPr/>
            </a:p>
          </p:txBody>
        </p:sp>
        <p:sp>
          <p:nvSpPr>
            <p:cNvPr id="26" name="sleeper"/>
            <p:cNvSpPr/>
            <p:nvPr/>
          </p:nvSpPr>
          <p:spPr>
            <a:xfrm>
              <a:off x="4605412" y="2373764"/>
              <a:ext cx="59271" cy="177814"/>
            </a:xfrm>
            <a:prstGeom prst="rect">
              <a:avLst/>
            </a:prstGeom>
            <a:solidFill>
              <a:srgbClr val="B9A58F"/>
            </a:solidFill>
            <a:ln>
              <a:noFill/>
            </a:ln>
          </p:spPr>
          <p:txBody>
            <a:bodyPr rtlCol="0" anchor="ctr"/>
            <a:lstStyle/>
            <a:p>
              <a:pPr algn="ctr"/>
              <a:endParaRPr/>
            </a:p>
          </p:txBody>
        </p:sp>
        <p:sp>
          <p:nvSpPr>
            <p:cNvPr id="27" name="sleeper"/>
            <p:cNvSpPr/>
            <p:nvPr/>
          </p:nvSpPr>
          <p:spPr>
            <a:xfrm>
              <a:off x="4605412" y="4177308"/>
              <a:ext cx="59271" cy="177814"/>
            </a:xfrm>
            <a:prstGeom prst="rect">
              <a:avLst/>
            </a:prstGeom>
            <a:solidFill>
              <a:srgbClr val="B9A58F"/>
            </a:solidFill>
            <a:ln>
              <a:noFill/>
            </a:ln>
          </p:spPr>
          <p:txBody>
            <a:bodyPr rtlCol="0" anchor="ctr"/>
            <a:lstStyle/>
            <a:p>
              <a:pPr algn="ctr"/>
              <a:endParaRPr/>
            </a:p>
          </p:txBody>
        </p:sp>
        <p:sp>
          <p:nvSpPr>
            <p:cNvPr id="28" name="sleeper"/>
            <p:cNvSpPr/>
            <p:nvPr/>
          </p:nvSpPr>
          <p:spPr>
            <a:xfrm>
              <a:off x="4791693" y="2373764"/>
              <a:ext cx="59271" cy="177814"/>
            </a:xfrm>
            <a:prstGeom prst="rect">
              <a:avLst/>
            </a:prstGeom>
            <a:solidFill>
              <a:srgbClr val="B9A58F"/>
            </a:solidFill>
            <a:ln>
              <a:noFill/>
            </a:ln>
          </p:spPr>
          <p:txBody>
            <a:bodyPr rtlCol="0" anchor="ctr"/>
            <a:lstStyle/>
            <a:p>
              <a:pPr algn="ctr"/>
              <a:endParaRPr/>
            </a:p>
          </p:txBody>
        </p:sp>
        <p:sp>
          <p:nvSpPr>
            <p:cNvPr id="29" name="sleeper"/>
            <p:cNvSpPr/>
            <p:nvPr/>
          </p:nvSpPr>
          <p:spPr>
            <a:xfrm>
              <a:off x="4791693" y="4177308"/>
              <a:ext cx="59271" cy="177814"/>
            </a:xfrm>
            <a:prstGeom prst="rect">
              <a:avLst/>
            </a:prstGeom>
            <a:solidFill>
              <a:srgbClr val="B9A58F"/>
            </a:solidFill>
            <a:ln>
              <a:noFill/>
            </a:ln>
          </p:spPr>
          <p:txBody>
            <a:bodyPr rtlCol="0" anchor="ctr"/>
            <a:lstStyle/>
            <a:p>
              <a:pPr algn="ctr"/>
              <a:endParaRPr/>
            </a:p>
          </p:txBody>
        </p:sp>
        <p:sp>
          <p:nvSpPr>
            <p:cNvPr id="30" name="sleeper"/>
            <p:cNvSpPr/>
            <p:nvPr/>
          </p:nvSpPr>
          <p:spPr>
            <a:xfrm>
              <a:off x="4977975" y="2373764"/>
              <a:ext cx="59271" cy="177814"/>
            </a:xfrm>
            <a:prstGeom prst="rect">
              <a:avLst/>
            </a:prstGeom>
            <a:solidFill>
              <a:srgbClr val="B9A58F"/>
            </a:solidFill>
            <a:ln>
              <a:noFill/>
            </a:ln>
          </p:spPr>
          <p:txBody>
            <a:bodyPr rtlCol="0" anchor="ctr"/>
            <a:lstStyle/>
            <a:p>
              <a:pPr algn="ctr"/>
              <a:endParaRPr/>
            </a:p>
          </p:txBody>
        </p:sp>
        <p:sp>
          <p:nvSpPr>
            <p:cNvPr id="31" name="sleeper"/>
            <p:cNvSpPr/>
            <p:nvPr/>
          </p:nvSpPr>
          <p:spPr>
            <a:xfrm>
              <a:off x="4977975" y="4177308"/>
              <a:ext cx="59271" cy="177814"/>
            </a:xfrm>
            <a:prstGeom prst="rect">
              <a:avLst/>
            </a:prstGeom>
            <a:solidFill>
              <a:srgbClr val="B9A58F"/>
            </a:solidFill>
            <a:ln>
              <a:noFill/>
            </a:ln>
          </p:spPr>
          <p:txBody>
            <a:bodyPr rtlCol="0" anchor="ctr"/>
            <a:lstStyle/>
            <a:p>
              <a:pPr algn="ctr"/>
              <a:endParaRPr/>
            </a:p>
          </p:txBody>
        </p:sp>
        <p:sp>
          <p:nvSpPr>
            <p:cNvPr id="32" name="sleeper"/>
            <p:cNvSpPr/>
            <p:nvPr/>
          </p:nvSpPr>
          <p:spPr>
            <a:xfrm>
              <a:off x="5164256" y="2373764"/>
              <a:ext cx="59271" cy="177814"/>
            </a:xfrm>
            <a:prstGeom prst="rect">
              <a:avLst/>
            </a:prstGeom>
            <a:solidFill>
              <a:srgbClr val="B9A58F"/>
            </a:solidFill>
            <a:ln>
              <a:noFill/>
            </a:ln>
          </p:spPr>
          <p:txBody>
            <a:bodyPr rtlCol="0" anchor="ctr"/>
            <a:lstStyle/>
            <a:p>
              <a:pPr algn="ctr"/>
              <a:endParaRPr/>
            </a:p>
          </p:txBody>
        </p:sp>
        <p:sp>
          <p:nvSpPr>
            <p:cNvPr id="33" name="sleeper"/>
            <p:cNvSpPr/>
            <p:nvPr/>
          </p:nvSpPr>
          <p:spPr>
            <a:xfrm>
              <a:off x="5164256" y="4177308"/>
              <a:ext cx="59271" cy="177814"/>
            </a:xfrm>
            <a:prstGeom prst="rect">
              <a:avLst/>
            </a:prstGeom>
            <a:solidFill>
              <a:srgbClr val="B9A58F"/>
            </a:solidFill>
            <a:ln>
              <a:noFill/>
            </a:ln>
          </p:spPr>
          <p:txBody>
            <a:bodyPr rtlCol="0" anchor="ctr"/>
            <a:lstStyle/>
            <a:p>
              <a:pPr algn="ctr"/>
              <a:endParaRPr/>
            </a:p>
          </p:txBody>
        </p:sp>
        <p:sp>
          <p:nvSpPr>
            <p:cNvPr id="34" name="sleeper"/>
            <p:cNvSpPr/>
            <p:nvPr/>
          </p:nvSpPr>
          <p:spPr>
            <a:xfrm>
              <a:off x="5350538" y="2373764"/>
              <a:ext cx="59271" cy="177814"/>
            </a:xfrm>
            <a:prstGeom prst="rect">
              <a:avLst/>
            </a:prstGeom>
            <a:solidFill>
              <a:srgbClr val="B9A58F"/>
            </a:solidFill>
            <a:ln>
              <a:noFill/>
            </a:ln>
          </p:spPr>
          <p:txBody>
            <a:bodyPr rtlCol="0" anchor="ctr"/>
            <a:lstStyle/>
            <a:p>
              <a:pPr algn="ctr"/>
              <a:endParaRPr/>
            </a:p>
          </p:txBody>
        </p:sp>
        <p:sp>
          <p:nvSpPr>
            <p:cNvPr id="35" name="sleeper"/>
            <p:cNvSpPr/>
            <p:nvPr/>
          </p:nvSpPr>
          <p:spPr>
            <a:xfrm>
              <a:off x="5350538" y="4177308"/>
              <a:ext cx="59271" cy="177814"/>
            </a:xfrm>
            <a:prstGeom prst="rect">
              <a:avLst/>
            </a:prstGeom>
            <a:solidFill>
              <a:srgbClr val="B9A58F"/>
            </a:solidFill>
            <a:ln>
              <a:noFill/>
            </a:ln>
          </p:spPr>
          <p:txBody>
            <a:bodyPr rtlCol="0" anchor="ctr"/>
            <a:lstStyle/>
            <a:p>
              <a:pPr algn="ctr"/>
              <a:endParaRPr/>
            </a:p>
          </p:txBody>
        </p:sp>
        <p:sp>
          <p:nvSpPr>
            <p:cNvPr id="36" name="sleeper"/>
            <p:cNvSpPr/>
            <p:nvPr/>
          </p:nvSpPr>
          <p:spPr>
            <a:xfrm>
              <a:off x="5536820" y="2373764"/>
              <a:ext cx="59271" cy="177814"/>
            </a:xfrm>
            <a:prstGeom prst="rect">
              <a:avLst/>
            </a:prstGeom>
            <a:solidFill>
              <a:srgbClr val="B9A58F"/>
            </a:solidFill>
            <a:ln>
              <a:noFill/>
            </a:ln>
          </p:spPr>
          <p:txBody>
            <a:bodyPr rtlCol="0" anchor="ctr"/>
            <a:lstStyle/>
            <a:p>
              <a:pPr algn="ctr"/>
              <a:endParaRPr/>
            </a:p>
          </p:txBody>
        </p:sp>
        <p:sp>
          <p:nvSpPr>
            <p:cNvPr id="37" name="sleeper"/>
            <p:cNvSpPr/>
            <p:nvPr/>
          </p:nvSpPr>
          <p:spPr>
            <a:xfrm>
              <a:off x="5536820" y="4177308"/>
              <a:ext cx="59271" cy="177814"/>
            </a:xfrm>
            <a:prstGeom prst="rect">
              <a:avLst/>
            </a:prstGeom>
            <a:solidFill>
              <a:srgbClr val="B9A58F"/>
            </a:solidFill>
            <a:ln>
              <a:noFill/>
            </a:ln>
          </p:spPr>
          <p:txBody>
            <a:bodyPr rtlCol="0" anchor="ctr"/>
            <a:lstStyle/>
            <a:p>
              <a:pPr algn="ctr"/>
              <a:endParaRPr/>
            </a:p>
          </p:txBody>
        </p:sp>
        <p:sp>
          <p:nvSpPr>
            <p:cNvPr id="38" name="sleeper"/>
            <p:cNvSpPr/>
            <p:nvPr/>
          </p:nvSpPr>
          <p:spPr>
            <a:xfrm>
              <a:off x="5723101" y="2373764"/>
              <a:ext cx="59271" cy="177814"/>
            </a:xfrm>
            <a:prstGeom prst="rect">
              <a:avLst/>
            </a:prstGeom>
            <a:solidFill>
              <a:srgbClr val="B9A58F"/>
            </a:solidFill>
            <a:ln>
              <a:noFill/>
            </a:ln>
          </p:spPr>
          <p:txBody>
            <a:bodyPr rtlCol="0" anchor="ctr"/>
            <a:lstStyle/>
            <a:p>
              <a:pPr algn="ctr"/>
              <a:endParaRPr/>
            </a:p>
          </p:txBody>
        </p:sp>
        <p:sp>
          <p:nvSpPr>
            <p:cNvPr id="39" name="sleeper"/>
            <p:cNvSpPr/>
            <p:nvPr/>
          </p:nvSpPr>
          <p:spPr>
            <a:xfrm>
              <a:off x="5723101" y="4177308"/>
              <a:ext cx="59271" cy="177814"/>
            </a:xfrm>
            <a:prstGeom prst="rect">
              <a:avLst/>
            </a:prstGeom>
            <a:solidFill>
              <a:srgbClr val="B9A58F"/>
            </a:solidFill>
            <a:ln>
              <a:noFill/>
            </a:ln>
          </p:spPr>
          <p:txBody>
            <a:bodyPr rtlCol="0" anchor="ctr"/>
            <a:lstStyle/>
            <a:p>
              <a:pPr algn="ctr"/>
              <a:endParaRPr/>
            </a:p>
          </p:txBody>
        </p:sp>
        <p:sp>
          <p:nvSpPr>
            <p:cNvPr id="40" name="sleeper"/>
            <p:cNvSpPr/>
            <p:nvPr/>
          </p:nvSpPr>
          <p:spPr>
            <a:xfrm>
              <a:off x="5909383" y="2373764"/>
              <a:ext cx="59271" cy="177814"/>
            </a:xfrm>
            <a:prstGeom prst="rect">
              <a:avLst/>
            </a:prstGeom>
            <a:solidFill>
              <a:srgbClr val="B9A58F"/>
            </a:solidFill>
            <a:ln>
              <a:noFill/>
            </a:ln>
          </p:spPr>
          <p:txBody>
            <a:bodyPr rtlCol="0" anchor="ctr"/>
            <a:lstStyle/>
            <a:p>
              <a:pPr algn="ctr"/>
              <a:endParaRPr/>
            </a:p>
          </p:txBody>
        </p:sp>
        <p:sp>
          <p:nvSpPr>
            <p:cNvPr id="41" name="sleeper"/>
            <p:cNvSpPr/>
            <p:nvPr/>
          </p:nvSpPr>
          <p:spPr>
            <a:xfrm>
              <a:off x="5909383" y="4177308"/>
              <a:ext cx="59271" cy="177814"/>
            </a:xfrm>
            <a:prstGeom prst="rect">
              <a:avLst/>
            </a:prstGeom>
            <a:solidFill>
              <a:srgbClr val="B9A58F"/>
            </a:solidFill>
            <a:ln>
              <a:noFill/>
            </a:ln>
          </p:spPr>
          <p:txBody>
            <a:bodyPr rtlCol="0" anchor="ctr"/>
            <a:lstStyle/>
            <a:p>
              <a:pPr algn="ctr"/>
              <a:endParaRPr/>
            </a:p>
          </p:txBody>
        </p:sp>
        <p:sp>
          <p:nvSpPr>
            <p:cNvPr id="42" name="sleeper"/>
            <p:cNvSpPr/>
            <p:nvPr/>
          </p:nvSpPr>
          <p:spPr>
            <a:xfrm>
              <a:off x="6095664" y="2373764"/>
              <a:ext cx="59271" cy="177814"/>
            </a:xfrm>
            <a:prstGeom prst="rect">
              <a:avLst/>
            </a:prstGeom>
            <a:solidFill>
              <a:srgbClr val="B9A58F"/>
            </a:solidFill>
            <a:ln>
              <a:noFill/>
            </a:ln>
          </p:spPr>
          <p:txBody>
            <a:bodyPr rtlCol="0" anchor="ctr"/>
            <a:lstStyle/>
            <a:p>
              <a:pPr algn="ctr"/>
              <a:endParaRPr/>
            </a:p>
          </p:txBody>
        </p:sp>
        <p:sp>
          <p:nvSpPr>
            <p:cNvPr id="43" name="sleeper"/>
            <p:cNvSpPr/>
            <p:nvPr/>
          </p:nvSpPr>
          <p:spPr>
            <a:xfrm>
              <a:off x="6095664" y="4177308"/>
              <a:ext cx="59271" cy="177814"/>
            </a:xfrm>
            <a:prstGeom prst="rect">
              <a:avLst/>
            </a:prstGeom>
            <a:solidFill>
              <a:srgbClr val="B9A58F"/>
            </a:solidFill>
            <a:ln>
              <a:noFill/>
            </a:ln>
          </p:spPr>
          <p:txBody>
            <a:bodyPr rtlCol="0" anchor="ctr"/>
            <a:lstStyle/>
            <a:p>
              <a:pPr algn="ctr"/>
              <a:endParaRPr/>
            </a:p>
          </p:txBody>
        </p:sp>
        <p:sp>
          <p:nvSpPr>
            <p:cNvPr id="44" name="sleeper"/>
            <p:cNvSpPr/>
            <p:nvPr/>
          </p:nvSpPr>
          <p:spPr>
            <a:xfrm>
              <a:off x="6281946" y="2373764"/>
              <a:ext cx="59271" cy="177814"/>
            </a:xfrm>
            <a:prstGeom prst="rect">
              <a:avLst/>
            </a:prstGeom>
            <a:solidFill>
              <a:srgbClr val="B9A58F"/>
            </a:solidFill>
            <a:ln>
              <a:noFill/>
            </a:ln>
          </p:spPr>
          <p:txBody>
            <a:bodyPr rtlCol="0" anchor="ctr"/>
            <a:lstStyle/>
            <a:p>
              <a:pPr algn="ctr"/>
              <a:endParaRPr/>
            </a:p>
          </p:txBody>
        </p:sp>
        <p:sp>
          <p:nvSpPr>
            <p:cNvPr id="45" name="sleeper"/>
            <p:cNvSpPr/>
            <p:nvPr/>
          </p:nvSpPr>
          <p:spPr>
            <a:xfrm>
              <a:off x="6281946" y="4177308"/>
              <a:ext cx="59271" cy="177814"/>
            </a:xfrm>
            <a:prstGeom prst="rect">
              <a:avLst/>
            </a:prstGeom>
            <a:solidFill>
              <a:srgbClr val="B9A58F"/>
            </a:solidFill>
            <a:ln>
              <a:noFill/>
            </a:ln>
          </p:spPr>
          <p:txBody>
            <a:bodyPr rtlCol="0" anchor="ctr"/>
            <a:lstStyle/>
            <a:p>
              <a:pPr algn="ctr"/>
              <a:endParaRPr/>
            </a:p>
          </p:txBody>
        </p:sp>
        <p:sp>
          <p:nvSpPr>
            <p:cNvPr id="46" name="outer rail"/>
            <p:cNvSpPr/>
            <p:nvPr/>
          </p:nvSpPr>
          <p:spPr>
            <a:xfrm>
              <a:off x="2327696" y="2390698"/>
              <a:ext cx="5080406" cy="1947489"/>
            </a:xfrm>
            <a:prstGeom prst="roundRect">
              <a:avLst>
                <a:gd name="adj" fmla="val 50000"/>
              </a:avLst>
            </a:prstGeom>
            <a:noFill/>
            <a:ln w="35280">
              <a:solidFill>
                <a:srgbClr val="7A828C"/>
              </a:solidFill>
            </a:ln>
          </p:spPr>
          <p:txBody>
            <a:bodyPr rtlCol="0" anchor="ctr"/>
            <a:lstStyle/>
            <a:p>
              <a:pPr algn="ctr"/>
              <a:endParaRPr/>
            </a:p>
          </p:txBody>
        </p:sp>
        <p:sp>
          <p:nvSpPr>
            <p:cNvPr id="47" name="inner rail"/>
            <p:cNvSpPr/>
            <p:nvPr/>
          </p:nvSpPr>
          <p:spPr>
            <a:xfrm>
              <a:off x="2454706" y="2517708"/>
              <a:ext cx="4826386" cy="1693468"/>
            </a:xfrm>
            <a:prstGeom prst="roundRect">
              <a:avLst>
                <a:gd name="adj" fmla="val 50000"/>
              </a:avLst>
            </a:prstGeom>
            <a:noFill/>
            <a:ln w="35280">
              <a:solidFill>
                <a:srgbClr val="7A828C"/>
              </a:solidFill>
            </a:ln>
          </p:spPr>
          <p:txBody>
            <a:bodyPr rtlCol="0" anchor="ctr"/>
            <a:lstStyle/>
            <a:p>
              <a:pPr algn="ctr"/>
              <a:endParaRPr/>
            </a:p>
          </p:txBody>
        </p:sp>
        <p:sp>
          <p:nvSpPr>
            <p:cNvPr id="48" name="mini train engine"/>
            <p:cNvSpPr/>
            <p:nvPr/>
          </p:nvSpPr>
          <p:spPr>
            <a:xfrm>
              <a:off x="3767145" y="2343281"/>
              <a:ext cx="546990" cy="353934"/>
            </a:xfrm>
            <a:prstGeom prst="roundRect">
              <a:avLst>
                <a:gd name="adj" fmla="val 18181"/>
              </a:avLst>
            </a:prstGeom>
            <a:solidFill>
              <a:srgbClr val="F28C28"/>
            </a:solidFill>
            <a:ln>
              <a:noFill/>
            </a:ln>
          </p:spPr>
          <p:txBody>
            <a:bodyPr rtlCol="0" anchor="ctr"/>
            <a:lstStyle/>
            <a:p>
              <a:pPr algn="ctr"/>
              <a:endParaRPr/>
            </a:p>
          </p:txBody>
        </p:sp>
        <p:sp>
          <p:nvSpPr>
            <p:cNvPr id="49" name="mini train chimney"/>
            <p:cNvSpPr/>
            <p:nvPr/>
          </p:nvSpPr>
          <p:spPr>
            <a:xfrm>
              <a:off x="4169343" y="2246753"/>
              <a:ext cx="112615" cy="160879"/>
            </a:xfrm>
            <a:prstGeom prst="rect">
              <a:avLst/>
            </a:prstGeom>
            <a:solidFill>
              <a:srgbClr val="3A3F47"/>
            </a:solidFill>
            <a:ln>
              <a:noFill/>
            </a:ln>
          </p:spPr>
          <p:txBody>
            <a:bodyPr rtlCol="0" anchor="ctr"/>
            <a:lstStyle/>
            <a:p>
              <a:pPr algn="ctr"/>
              <a:endParaRPr/>
            </a:p>
          </p:txBody>
        </p:sp>
        <p:sp>
          <p:nvSpPr>
            <p:cNvPr id="50" name="mini train frame"/>
            <p:cNvSpPr/>
            <p:nvPr/>
          </p:nvSpPr>
          <p:spPr>
            <a:xfrm>
              <a:off x="3767145" y="2568513"/>
              <a:ext cx="546990" cy="128703"/>
            </a:xfrm>
            <a:prstGeom prst="rect">
              <a:avLst/>
            </a:prstGeom>
            <a:solidFill>
              <a:srgbClr val="1B1D21"/>
            </a:solidFill>
            <a:ln>
              <a:noFill/>
            </a:ln>
          </p:spPr>
          <p:txBody>
            <a:bodyPr rtlCol="0" anchor="ctr"/>
            <a:lstStyle/>
            <a:p>
              <a:pPr algn="ctr"/>
              <a:endParaRPr/>
            </a:p>
          </p:txBody>
        </p:sp>
        <p:sp>
          <p:nvSpPr>
            <p:cNvPr id="51" name="mini train wagon"/>
            <p:cNvSpPr/>
            <p:nvPr/>
          </p:nvSpPr>
          <p:spPr>
            <a:xfrm>
              <a:off x="4346311" y="2391545"/>
              <a:ext cx="482638" cy="305671"/>
            </a:xfrm>
            <a:prstGeom prst="roundRect">
              <a:avLst>
                <a:gd name="adj" fmla="val 10526"/>
              </a:avLst>
            </a:prstGeom>
            <a:solidFill>
              <a:srgbClr val="6C7480"/>
            </a:solidFill>
            <a:ln w="9525">
              <a:solidFill>
                <a:srgbClr val="4A515B"/>
              </a:solidFill>
            </a:ln>
          </p:spPr>
          <p:txBody>
            <a:bodyPr rtlCol="0" anchor="ctr"/>
            <a:lstStyle/>
            <a:p>
              <a:pPr algn="ctr"/>
              <a:endParaRPr/>
            </a:p>
          </p:txBody>
        </p:sp>
        <p:sp>
          <p:nvSpPr>
            <p:cNvPr id="52" name="mini train wagon"/>
            <p:cNvSpPr/>
            <p:nvPr/>
          </p:nvSpPr>
          <p:spPr>
            <a:xfrm>
              <a:off x="4861125" y="2391545"/>
              <a:ext cx="482638" cy="305671"/>
            </a:xfrm>
            <a:prstGeom prst="roundRect">
              <a:avLst>
                <a:gd name="adj" fmla="val 10526"/>
              </a:avLst>
            </a:prstGeom>
            <a:solidFill>
              <a:srgbClr val="6C7480"/>
            </a:solidFill>
            <a:ln w="9525">
              <a:solidFill>
                <a:srgbClr val="4A515B"/>
              </a:solidFill>
            </a:ln>
          </p:spPr>
          <p:txBody>
            <a:bodyPr rtlCol="0" anchor="ctr"/>
            <a:lstStyle/>
            <a:p>
              <a:pPr algn="ctr"/>
              <a:endParaRPr/>
            </a:p>
          </p:txBody>
        </p:sp>
        <p:sp>
          <p:nvSpPr>
            <p:cNvPr id="53" name="mini train wheel"/>
            <p:cNvSpPr/>
            <p:nvPr/>
          </p:nvSpPr>
          <p:spPr>
            <a:xfrm>
              <a:off x="3850802" y="2636082"/>
              <a:ext cx="122268" cy="122268"/>
            </a:xfrm>
            <a:prstGeom prst="ellipse">
              <a:avLst/>
            </a:prstGeom>
            <a:solidFill>
              <a:srgbClr val="1B1D21"/>
            </a:solidFill>
            <a:ln w="9525">
              <a:solidFill>
                <a:srgbClr val="9AA0A6"/>
              </a:solidFill>
            </a:ln>
          </p:spPr>
          <p:txBody>
            <a:bodyPr rtlCol="0" anchor="ctr"/>
            <a:lstStyle/>
            <a:p>
              <a:pPr algn="ctr"/>
              <a:endParaRPr/>
            </a:p>
          </p:txBody>
        </p:sp>
        <p:sp>
          <p:nvSpPr>
            <p:cNvPr id="54" name="mini train wheel"/>
            <p:cNvSpPr/>
            <p:nvPr/>
          </p:nvSpPr>
          <p:spPr>
            <a:xfrm>
              <a:off x="4108209" y="2636082"/>
              <a:ext cx="122268" cy="122268"/>
            </a:xfrm>
            <a:prstGeom prst="ellipse">
              <a:avLst/>
            </a:prstGeom>
            <a:solidFill>
              <a:srgbClr val="1B1D21"/>
            </a:solidFill>
            <a:ln w="9525">
              <a:solidFill>
                <a:srgbClr val="9AA0A6"/>
              </a:solidFill>
            </a:ln>
          </p:spPr>
          <p:txBody>
            <a:bodyPr rtlCol="0" anchor="ctr"/>
            <a:lstStyle/>
            <a:p>
              <a:pPr algn="ctr"/>
              <a:endParaRPr/>
            </a:p>
          </p:txBody>
        </p:sp>
        <p:sp>
          <p:nvSpPr>
            <p:cNvPr id="55" name="mini train wheel"/>
            <p:cNvSpPr/>
            <p:nvPr/>
          </p:nvSpPr>
          <p:spPr>
            <a:xfrm>
              <a:off x="4413880" y="2636082"/>
              <a:ext cx="122268" cy="122268"/>
            </a:xfrm>
            <a:prstGeom prst="ellipse">
              <a:avLst/>
            </a:prstGeom>
            <a:solidFill>
              <a:srgbClr val="1B1D21"/>
            </a:solidFill>
            <a:ln w="9525">
              <a:solidFill>
                <a:srgbClr val="9AA0A6"/>
              </a:solidFill>
            </a:ln>
          </p:spPr>
          <p:txBody>
            <a:bodyPr rtlCol="0" anchor="ctr"/>
            <a:lstStyle/>
            <a:p>
              <a:pPr algn="ctr"/>
              <a:endParaRPr/>
            </a:p>
          </p:txBody>
        </p:sp>
        <p:sp>
          <p:nvSpPr>
            <p:cNvPr id="56" name="mini train wheel"/>
            <p:cNvSpPr/>
            <p:nvPr/>
          </p:nvSpPr>
          <p:spPr>
            <a:xfrm>
              <a:off x="4671288" y="2636082"/>
              <a:ext cx="122268" cy="122268"/>
            </a:xfrm>
            <a:prstGeom prst="ellipse">
              <a:avLst/>
            </a:prstGeom>
            <a:solidFill>
              <a:srgbClr val="1B1D21"/>
            </a:solidFill>
            <a:ln w="9525">
              <a:solidFill>
                <a:srgbClr val="9AA0A6"/>
              </a:solidFill>
            </a:ln>
          </p:spPr>
          <p:txBody>
            <a:bodyPr rtlCol="0" anchor="ctr"/>
            <a:lstStyle/>
            <a:p>
              <a:pPr algn="ctr"/>
              <a:endParaRPr/>
            </a:p>
          </p:txBody>
        </p:sp>
        <p:sp>
          <p:nvSpPr>
            <p:cNvPr id="57" name="mini train wheel"/>
            <p:cNvSpPr/>
            <p:nvPr/>
          </p:nvSpPr>
          <p:spPr>
            <a:xfrm>
              <a:off x="4928695" y="2636082"/>
              <a:ext cx="122268" cy="122268"/>
            </a:xfrm>
            <a:prstGeom prst="ellipse">
              <a:avLst/>
            </a:prstGeom>
            <a:solidFill>
              <a:srgbClr val="1B1D21"/>
            </a:solidFill>
            <a:ln w="9525">
              <a:solidFill>
                <a:srgbClr val="9AA0A6"/>
              </a:solidFill>
            </a:ln>
          </p:spPr>
          <p:txBody>
            <a:bodyPr rtlCol="0" anchor="ctr"/>
            <a:lstStyle/>
            <a:p>
              <a:pPr algn="ctr"/>
              <a:endParaRPr/>
            </a:p>
          </p:txBody>
        </p:sp>
        <p:sp>
          <p:nvSpPr>
            <p:cNvPr id="58" name="mini train wheel"/>
            <p:cNvSpPr/>
            <p:nvPr/>
          </p:nvSpPr>
          <p:spPr>
            <a:xfrm>
              <a:off x="5186102" y="2636082"/>
              <a:ext cx="122268" cy="122268"/>
            </a:xfrm>
            <a:prstGeom prst="ellipse">
              <a:avLst/>
            </a:prstGeom>
            <a:solidFill>
              <a:srgbClr val="1B1D21"/>
            </a:solidFill>
            <a:ln w="9525">
              <a:solidFill>
                <a:srgbClr val="9AA0A6"/>
              </a:solidFill>
            </a:ln>
          </p:spPr>
          <p:txBody>
            <a:bodyPr rtlCol="0" anchor="ctr"/>
            <a:lstStyle/>
            <a:p>
              <a:pPr algn="ctr"/>
              <a:endParaRPr/>
            </a:p>
          </p:txBody>
        </p:sp>
        <p:sp>
          <p:nvSpPr>
            <p:cNvPr id="59" name="platform"/>
            <p:cNvSpPr/>
            <p:nvPr/>
          </p:nvSpPr>
          <p:spPr>
            <a:xfrm>
              <a:off x="3513124" y="3889418"/>
              <a:ext cx="2201509" cy="169346"/>
            </a:xfrm>
            <a:prstGeom prst="rect">
              <a:avLst/>
            </a:prstGeom>
            <a:solidFill>
              <a:srgbClr val="D5D9DE"/>
            </a:solidFill>
            <a:ln w="9525">
              <a:solidFill>
                <a:srgbClr val="8C939B"/>
              </a:solidFill>
            </a:ln>
          </p:spPr>
          <p:txBody>
            <a:bodyPr rtlCol="0" anchor="ctr"/>
            <a:lstStyle/>
            <a:p>
              <a:pPr algn="ctr"/>
              <a:endParaRPr/>
            </a:p>
          </p:txBody>
        </p:sp>
        <p:sp>
          <p:nvSpPr>
            <p:cNvPr id="60" name="station body"/>
            <p:cNvSpPr/>
            <p:nvPr/>
          </p:nvSpPr>
          <p:spPr>
            <a:xfrm>
              <a:off x="4105838" y="3462664"/>
              <a:ext cx="1016081" cy="426754"/>
            </a:xfrm>
            <a:prstGeom prst="rect">
              <a:avLst/>
            </a:prstGeom>
            <a:solidFill>
              <a:srgbClr val="C9CED3"/>
            </a:solidFill>
            <a:ln w="9525">
              <a:solidFill>
                <a:srgbClr val="6B7078"/>
              </a:solidFill>
            </a:ln>
          </p:spPr>
          <p:txBody>
            <a:bodyPr rtlCol="0" anchor="ctr"/>
            <a:lstStyle/>
            <a:p>
              <a:pPr algn="ctr"/>
              <a:endParaRPr/>
            </a:p>
          </p:txBody>
        </p:sp>
        <p:sp>
          <p:nvSpPr>
            <p:cNvPr id="61" name="station roof"/>
            <p:cNvSpPr/>
            <p:nvPr/>
          </p:nvSpPr>
          <p:spPr>
            <a:xfrm>
              <a:off x="4044874" y="3279769"/>
              <a:ext cx="1138011" cy="182895"/>
            </a:xfrm>
            <a:custGeom>
              <a:avLst/>
              <a:gdLst/>
              <a:ahLst/>
              <a:cxnLst/>
              <a:rect l="l" t="t" r="r" b="b"/>
              <a:pathLst>
                <a:path w="1138011" h="182895">
                  <a:moveTo>
                    <a:pt x="0" y="182895"/>
                  </a:moveTo>
                  <a:lnTo>
                    <a:pt x="569005" y="0"/>
                  </a:lnTo>
                  <a:lnTo>
                    <a:pt x="1138011" y="182895"/>
                  </a:lnTo>
                  <a:close/>
                </a:path>
              </a:pathLst>
            </a:custGeom>
            <a:solidFill>
              <a:srgbClr val="6B7078"/>
            </a:solidFill>
            <a:ln>
              <a:noFill/>
            </a:ln>
          </p:spPr>
          <p:txBody>
            <a:bodyPr rtlCol="0" anchor="ctr"/>
            <a:lstStyle/>
            <a:p>
              <a:pPr algn="ctr"/>
              <a:endParaRPr/>
            </a:p>
          </p:txBody>
        </p:sp>
        <p:sp>
          <p:nvSpPr>
            <p:cNvPr id="62" name="station window"/>
            <p:cNvSpPr/>
            <p:nvPr/>
          </p:nvSpPr>
          <p:spPr>
            <a:xfrm>
              <a:off x="4207447" y="3584594"/>
              <a:ext cx="203216" cy="170701"/>
            </a:xfrm>
            <a:prstGeom prst="rect">
              <a:avLst/>
            </a:prstGeom>
            <a:solidFill>
              <a:srgbClr val="4DA3FF">
                <a:alpha val="75000"/>
              </a:srgbClr>
            </a:solidFill>
            <a:ln>
              <a:noFill/>
            </a:ln>
          </p:spPr>
          <p:txBody>
            <a:bodyPr rtlCol="0" anchor="ctr"/>
            <a:lstStyle/>
            <a:p>
              <a:pPr algn="ctr"/>
              <a:endParaRPr/>
            </a:p>
          </p:txBody>
        </p:sp>
        <p:sp>
          <p:nvSpPr>
            <p:cNvPr id="63" name="station window"/>
            <p:cNvSpPr/>
            <p:nvPr/>
          </p:nvSpPr>
          <p:spPr>
            <a:xfrm>
              <a:off x="4512271" y="3584594"/>
              <a:ext cx="203216" cy="170701"/>
            </a:xfrm>
            <a:prstGeom prst="rect">
              <a:avLst/>
            </a:prstGeom>
            <a:solidFill>
              <a:srgbClr val="4DA3FF">
                <a:alpha val="75000"/>
              </a:srgbClr>
            </a:solidFill>
            <a:ln>
              <a:noFill/>
            </a:ln>
          </p:spPr>
          <p:txBody>
            <a:bodyPr rtlCol="0" anchor="ctr"/>
            <a:lstStyle/>
            <a:p>
              <a:pPr algn="ctr"/>
              <a:endParaRPr/>
            </a:p>
          </p:txBody>
        </p:sp>
        <p:sp>
          <p:nvSpPr>
            <p:cNvPr id="64" name="station window"/>
            <p:cNvSpPr/>
            <p:nvPr/>
          </p:nvSpPr>
          <p:spPr>
            <a:xfrm>
              <a:off x="4817095" y="3584594"/>
              <a:ext cx="203216" cy="170701"/>
            </a:xfrm>
            <a:prstGeom prst="rect">
              <a:avLst/>
            </a:prstGeom>
            <a:solidFill>
              <a:srgbClr val="4DA3FF">
                <a:alpha val="75000"/>
              </a:srgbClr>
            </a:solidFill>
            <a:ln>
              <a:noFill/>
            </a:ln>
          </p:spPr>
          <p:txBody>
            <a:bodyPr rtlCol="0" anchor="ctr"/>
            <a:lstStyle/>
            <a:p>
              <a:pPr algn="ctr"/>
              <a:endParaRPr/>
            </a:p>
          </p:txBody>
        </p:sp>
        <p:sp>
          <p:nvSpPr>
            <p:cNvPr id="65" name="semaphore post"/>
            <p:cNvSpPr/>
            <p:nvPr/>
          </p:nvSpPr>
          <p:spPr>
            <a:xfrm>
              <a:off x="8191332" y="3025749"/>
              <a:ext cx="127010" cy="1270101"/>
            </a:xfrm>
            <a:prstGeom prst="rect">
              <a:avLst/>
            </a:prstGeom>
            <a:solidFill>
              <a:srgbClr val="6B7078"/>
            </a:solidFill>
            <a:ln>
              <a:noFill/>
            </a:ln>
          </p:spPr>
          <p:txBody>
            <a:bodyPr rtlCol="0" anchor="ctr"/>
            <a:lstStyle/>
            <a:p>
              <a:pPr algn="ctr"/>
              <a:endParaRPr/>
            </a:p>
          </p:txBody>
        </p:sp>
        <p:sp>
          <p:nvSpPr>
            <p:cNvPr id="66" name="semaphore foot"/>
            <p:cNvSpPr/>
            <p:nvPr/>
          </p:nvSpPr>
          <p:spPr>
            <a:xfrm>
              <a:off x="7975415" y="4219645"/>
              <a:ext cx="558844" cy="76206"/>
            </a:xfrm>
            <a:prstGeom prst="rect">
              <a:avLst/>
            </a:prstGeom>
            <a:solidFill>
              <a:srgbClr val="3A3F47"/>
            </a:solidFill>
            <a:ln>
              <a:noFill/>
            </a:ln>
          </p:spPr>
          <p:txBody>
            <a:bodyPr rtlCol="0" anchor="ctr"/>
            <a:lstStyle/>
            <a:p>
              <a:pPr algn="ctr"/>
              <a:endParaRPr/>
            </a:p>
          </p:txBody>
        </p:sp>
        <p:sp>
          <p:nvSpPr>
            <p:cNvPr id="67" name="semaphore arm"/>
            <p:cNvSpPr/>
            <p:nvPr/>
          </p:nvSpPr>
          <p:spPr>
            <a:xfrm>
              <a:off x="8318342" y="3101955"/>
              <a:ext cx="787462" cy="152412"/>
            </a:xfrm>
            <a:prstGeom prst="rect">
              <a:avLst/>
            </a:prstGeom>
            <a:solidFill>
              <a:srgbClr val="E5484D"/>
            </a:solidFill>
            <a:ln>
              <a:noFill/>
            </a:ln>
          </p:spPr>
          <p:txBody>
            <a:bodyPr rtlCol="0" anchor="ctr"/>
            <a:lstStyle/>
            <a:p>
              <a:pPr algn="ctr"/>
              <a:endParaRPr/>
            </a:p>
          </p:txBody>
        </p:sp>
        <p:sp>
          <p:nvSpPr>
            <p:cNvPr id="68" name="semaphore arm stripe"/>
            <p:cNvSpPr/>
            <p:nvPr/>
          </p:nvSpPr>
          <p:spPr>
            <a:xfrm>
              <a:off x="8751447" y="3101955"/>
              <a:ext cx="94495" cy="152412"/>
            </a:xfrm>
            <a:prstGeom prst="rect">
              <a:avLst/>
            </a:prstGeom>
            <a:solidFill>
              <a:srgbClr val="F2F2F2"/>
            </a:solidFill>
            <a:ln>
              <a:noFill/>
            </a:ln>
          </p:spPr>
          <p:txBody>
            <a:bodyPr rtlCol="0" anchor="ctr"/>
            <a:lstStyle/>
            <a:p>
              <a:pPr algn="ctr"/>
              <a:endParaRPr/>
            </a:p>
          </p:txBody>
        </p:sp>
        <p:sp>
          <p:nvSpPr>
            <p:cNvPr id="69" name="semaphore lamp"/>
            <p:cNvSpPr/>
            <p:nvPr/>
          </p:nvSpPr>
          <p:spPr>
            <a:xfrm>
              <a:off x="8127827" y="3000347"/>
              <a:ext cx="254020" cy="254020"/>
            </a:xfrm>
            <a:prstGeom prst="ellipse">
              <a:avLst/>
            </a:prstGeom>
            <a:solidFill>
              <a:srgbClr val="E5484D"/>
            </a:solidFill>
            <a:ln w="12700">
              <a:solidFill>
                <a:srgbClr val="2B2F36"/>
              </a:solidFill>
            </a:ln>
          </p:spPr>
          <p:txBody>
            <a:bodyPr rtlCol="0" anchor="ctr"/>
            <a:lstStyle/>
            <a:p>
              <a:pPr algn="ctr"/>
              <a:endParaRPr/>
            </a:p>
          </p:txBody>
        </p:sp>
        <p:sp>
          <p:nvSpPr>
            <p:cNvPr id="70" name="semaphore pivot"/>
            <p:cNvSpPr/>
            <p:nvPr/>
          </p:nvSpPr>
          <p:spPr>
            <a:xfrm>
              <a:off x="8267538" y="3127357"/>
              <a:ext cx="101608" cy="101608"/>
            </a:xfrm>
            <a:prstGeom prst="ellipse">
              <a:avLst/>
            </a:prstGeom>
            <a:solidFill>
              <a:srgbClr val="3A3F47"/>
            </a:solidFill>
            <a:ln>
              <a:noFill/>
            </a:ln>
          </p:spPr>
          <p:txBody>
            <a:bodyPr rtlCol="0" anchor="ctr"/>
            <a:lstStyle/>
            <a:p>
              <a:pPr algn="ctr"/>
              <a:endParaRPr/>
            </a:p>
          </p:txBody>
        </p:sp>
        <p:sp>
          <p:nvSpPr>
            <p:cNvPr id="71" name="signal box lower"/>
            <p:cNvSpPr/>
            <p:nvPr/>
          </p:nvSpPr>
          <p:spPr>
            <a:xfrm>
              <a:off x="9059235" y="3909740"/>
              <a:ext cx="931407" cy="386110"/>
            </a:xfrm>
            <a:prstGeom prst="rect">
              <a:avLst/>
            </a:prstGeom>
            <a:solidFill>
              <a:srgbClr val="8C5A3C"/>
            </a:solidFill>
            <a:ln>
              <a:noFill/>
            </a:ln>
          </p:spPr>
          <p:txBody>
            <a:bodyPr rtlCol="0" anchor="ctr"/>
            <a:lstStyle/>
            <a:p>
              <a:pPr algn="ctr"/>
              <a:endParaRPr/>
            </a:p>
          </p:txBody>
        </p:sp>
        <p:sp>
          <p:nvSpPr>
            <p:cNvPr id="72" name="signal box upper"/>
            <p:cNvSpPr/>
            <p:nvPr/>
          </p:nvSpPr>
          <p:spPr>
            <a:xfrm>
              <a:off x="9021978" y="3668421"/>
              <a:ext cx="1005920" cy="257407"/>
            </a:xfrm>
            <a:prstGeom prst="rect">
              <a:avLst/>
            </a:prstGeom>
            <a:solidFill>
              <a:srgbClr val="AEB4BB"/>
            </a:solidFill>
            <a:ln>
              <a:noFill/>
            </a:ln>
          </p:spPr>
          <p:txBody>
            <a:bodyPr rtlCol="0" anchor="ctr"/>
            <a:lstStyle/>
            <a:p>
              <a:pPr algn="ctr"/>
              <a:endParaRPr/>
            </a:p>
          </p:txBody>
        </p:sp>
        <p:sp>
          <p:nvSpPr>
            <p:cNvPr id="73" name="signal box windows"/>
            <p:cNvSpPr/>
            <p:nvPr/>
          </p:nvSpPr>
          <p:spPr>
            <a:xfrm>
              <a:off x="9133747" y="3716684"/>
              <a:ext cx="782382" cy="144791"/>
            </a:xfrm>
            <a:prstGeom prst="rect">
              <a:avLst/>
            </a:prstGeom>
            <a:solidFill>
              <a:srgbClr val="4DA3FF">
                <a:alpha val="75000"/>
              </a:srgbClr>
            </a:solidFill>
            <a:ln>
              <a:noFill/>
            </a:ln>
          </p:spPr>
          <p:txBody>
            <a:bodyPr rtlCol="0" anchor="ctr"/>
            <a:lstStyle/>
            <a:p>
              <a:pPr algn="ctr"/>
              <a:endParaRPr/>
            </a:p>
          </p:txBody>
        </p:sp>
        <p:sp>
          <p:nvSpPr>
            <p:cNvPr id="74" name="signal box roof"/>
            <p:cNvSpPr/>
            <p:nvPr/>
          </p:nvSpPr>
          <p:spPr>
            <a:xfrm>
              <a:off x="8984722" y="3491453"/>
              <a:ext cx="1080433" cy="176968"/>
            </a:xfrm>
            <a:custGeom>
              <a:avLst/>
              <a:gdLst/>
              <a:ahLst/>
              <a:cxnLst/>
              <a:rect l="l" t="t" r="r" b="b"/>
              <a:pathLst>
                <a:path w="1080433" h="176968">
                  <a:moveTo>
                    <a:pt x="0" y="176968"/>
                  </a:moveTo>
                  <a:lnTo>
                    <a:pt x="540217" y="0"/>
                  </a:lnTo>
                  <a:lnTo>
                    <a:pt x="1080433" y="176968"/>
                  </a:lnTo>
                  <a:close/>
                </a:path>
              </a:pathLst>
            </a:custGeom>
            <a:solidFill>
              <a:srgbClr val="4A515B"/>
            </a:solidFill>
            <a:ln>
              <a:noFill/>
            </a:ln>
          </p:spPr>
          <p:txBody>
            <a:bodyPr rtlCol="0" anchor="ctr"/>
            <a:lstStyle/>
            <a:p>
              <a:pPr algn="ctr"/>
              <a:endParaRPr/>
            </a:p>
          </p:txBody>
        </p:sp>
        <p:sp>
          <p:nvSpPr>
            <p:cNvPr id="75" name="signal box door"/>
            <p:cNvSpPr/>
            <p:nvPr/>
          </p:nvSpPr>
          <p:spPr>
            <a:xfrm>
              <a:off x="9431798" y="4022355"/>
              <a:ext cx="186281" cy="273495"/>
            </a:xfrm>
            <a:prstGeom prst="rect">
              <a:avLst/>
            </a:prstGeom>
            <a:solidFill>
              <a:srgbClr val="3A3F47"/>
            </a:solidFill>
            <a:ln>
              <a:noFill/>
            </a:ln>
          </p:spPr>
          <p:txBody>
            <a:bodyPr rtlCol="0" anchor="ctr"/>
            <a:lstStyle/>
            <a:p>
              <a:pPr algn="ctr"/>
              <a:endParaRPr/>
            </a:p>
          </p:txBody>
        </p:sp>
        <p:sp>
          <p:nvSpPr>
            <p:cNvPr id="76" name="highlight ring"/>
            <p:cNvSpPr/>
            <p:nvPr/>
          </p:nvSpPr>
          <p:spPr>
            <a:xfrm>
              <a:off x="7815422" y="2794113"/>
              <a:ext cx="1417320" cy="768096"/>
            </a:xfrm>
            <a:prstGeom prst="ellipse">
              <a:avLst/>
            </a:prstGeom>
            <a:noFill/>
            <a:ln w="57150">
              <a:solidFill>
                <a:srgbClr val="F28C28"/>
              </a:solidFill>
            </a:ln>
          </p:spPr>
          <p:txBody>
            <a:bodyPr rtlCol="0" anchor="ctr"/>
            <a:lstStyle/>
            <a:p>
              <a:pPr algn="ctr"/>
              <a:endParaRPr/>
            </a:p>
          </p:txBody>
        </p:sp>
        <p:sp>
          <p:nvSpPr>
            <p:cNvPr id="77" name="caption bubble body"/>
            <p:cNvSpPr/>
            <p:nvPr/>
          </p:nvSpPr>
          <p:spPr>
            <a:xfrm>
              <a:off x="8001000" y="1828800"/>
              <a:ext cx="2103120" cy="566928"/>
            </a:xfrm>
            <a:prstGeom prst="roundRect">
              <a:avLst>
                <a:gd name="adj" fmla="val 33333"/>
              </a:avLst>
            </a:prstGeom>
            <a:solidFill>
              <a:srgbClr val="2B2F36"/>
            </a:solidFill>
            <a:ln w="25400">
              <a:solidFill>
                <a:srgbClr val="F28C28"/>
              </a:solidFill>
            </a:ln>
          </p:spPr>
          <p:txBody>
            <a:bodyPr wrap="square" lIns="109728" rIns="109728" rtlCol="0" anchor="ctr">
              <a:noAutofit/>
            </a:bodyPr>
            <a:lstStyle/>
            <a:p>
              <a:pPr algn="ctr"/>
              <a:r>
                <a:rPr lang="en-GB" sz="1800" b="1" i="0">
                  <a:solidFill>
                    <a:srgbClr val="F2F2F2"/>
                  </a:solidFill>
                  <a:latin typeface="Arial"/>
                </a:rPr>
                <a:t>Short caption</a:t>
              </a:r>
            </a:p>
          </p:txBody>
        </p:sp>
        <p:sp>
          <p:nvSpPr>
            <p:cNvPr id="78" name="caption bubble tail"/>
            <p:cNvSpPr/>
            <p:nvPr/>
          </p:nvSpPr>
          <p:spPr>
            <a:xfrm>
              <a:off x="8503920" y="2377440"/>
              <a:ext cx="274320" cy="329184"/>
            </a:xfrm>
            <a:custGeom>
              <a:avLst/>
              <a:gdLst/>
              <a:ahLst/>
              <a:cxnLst/>
              <a:rect l="l" t="t" r="r" b="b"/>
              <a:pathLst>
                <a:path w="274320" h="329184">
                  <a:moveTo>
                    <a:pt x="0" y="0"/>
                  </a:moveTo>
                  <a:lnTo>
                    <a:pt x="274320" y="0"/>
                  </a:lnTo>
                  <a:lnTo>
                    <a:pt x="41148" y="329184"/>
                  </a:lnTo>
                  <a:close/>
                </a:path>
              </a:pathLst>
            </a:custGeom>
            <a:solidFill>
              <a:srgbClr val="2B2F36"/>
            </a:solidFill>
            <a:ln w="25400">
              <a:solidFill>
                <a:srgbClr val="F28C28"/>
              </a:solidFill>
            </a:ln>
          </p:spPr>
          <p:txBody>
            <a:bodyPr rtlCol="0" anchor="ctr"/>
            <a:lstStyle/>
            <a:p>
              <a:pPr algn="ctr"/>
              <a:endParaRPr/>
            </a:p>
          </p:txBody>
        </p:sp>
        <p:sp>
          <p:nvSpPr>
            <p:cNvPr id="79" name="control bar"/>
            <p:cNvSpPr/>
            <p:nvPr/>
          </p:nvSpPr>
          <p:spPr>
            <a:xfrm>
              <a:off x="585216" y="5047488"/>
              <a:ext cx="11018520" cy="539496"/>
            </a:xfrm>
            <a:prstGeom prst="rect">
              <a:avLst/>
            </a:prstGeom>
            <a:solidFill>
              <a:srgbClr val="2B2F36"/>
            </a:solidFill>
            <a:ln>
              <a:noFill/>
            </a:ln>
          </p:spPr>
          <p:txBody>
            <a:bodyPr rtlCol="0" anchor="ctr"/>
            <a:lstStyle/>
            <a:p>
              <a:pPr algn="ctr"/>
              <a:endParaRPr/>
            </a:p>
          </p:txBody>
        </p:sp>
        <p:sp>
          <p:nvSpPr>
            <p:cNvPr id="80" name="control button"/>
            <p:cNvSpPr/>
            <p:nvPr/>
          </p:nvSpPr>
          <p:spPr>
            <a:xfrm>
              <a:off x="914400" y="5116068"/>
              <a:ext cx="1255391" cy="402336"/>
            </a:xfrm>
            <a:prstGeom prst="roundRect">
              <a:avLst>
                <a:gd name="adj" fmla="val 50000"/>
              </a:avLst>
            </a:prstGeom>
            <a:solidFill>
              <a:srgbClr val="343A43"/>
            </a:solidFill>
            <a:ln w="19050">
              <a:solidFill>
                <a:srgbClr val="4A515B"/>
              </a:solidFill>
            </a:ln>
          </p:spPr>
          <p:txBody>
            <a:bodyPr rtlCol="0" anchor="ctr"/>
            <a:lstStyle/>
            <a:p>
              <a:pPr algn="ctr"/>
              <a:endParaRPr/>
            </a:p>
          </p:txBody>
        </p:sp>
        <p:sp>
          <p:nvSpPr>
            <p:cNvPr id="81" name="pause bar"/>
            <p:cNvSpPr/>
            <p:nvPr/>
          </p:nvSpPr>
          <p:spPr>
            <a:xfrm>
              <a:off x="1124712" y="5198364"/>
              <a:ext cx="64008" cy="237744"/>
            </a:xfrm>
            <a:prstGeom prst="rect">
              <a:avLst/>
            </a:prstGeom>
            <a:solidFill>
              <a:srgbClr val="F28C28"/>
            </a:solidFill>
            <a:ln>
              <a:noFill/>
            </a:ln>
          </p:spPr>
          <p:txBody>
            <a:bodyPr rtlCol="0" anchor="ctr"/>
            <a:lstStyle/>
            <a:p>
              <a:pPr algn="ctr"/>
              <a:endParaRPr/>
            </a:p>
          </p:txBody>
        </p:sp>
        <p:sp>
          <p:nvSpPr>
            <p:cNvPr id="82" name="pause bar"/>
            <p:cNvSpPr/>
            <p:nvPr/>
          </p:nvSpPr>
          <p:spPr>
            <a:xfrm>
              <a:off x="1261872" y="5198364"/>
              <a:ext cx="64008" cy="237744"/>
            </a:xfrm>
            <a:prstGeom prst="rect">
              <a:avLst/>
            </a:prstGeom>
            <a:solidFill>
              <a:srgbClr val="F28C28"/>
            </a:solidFill>
            <a:ln>
              <a:noFill/>
            </a:ln>
          </p:spPr>
          <p:txBody>
            <a:bodyPr rtlCol="0" anchor="ctr"/>
            <a:lstStyle/>
            <a:p>
              <a:pPr algn="ctr"/>
              <a:endParaRPr/>
            </a:p>
          </p:txBody>
        </p:sp>
        <p:sp>
          <p:nvSpPr>
            <p:cNvPr id="83" name="control label"/>
            <p:cNvSpPr txBox="1"/>
            <p:nvPr/>
          </p:nvSpPr>
          <p:spPr>
            <a:xfrm>
              <a:off x="1444752" y="5116068"/>
              <a:ext cx="688463" cy="402336"/>
            </a:xfrm>
            <a:prstGeom prst="rect">
              <a:avLst/>
            </a:prstGeom>
            <a:noFill/>
          </p:spPr>
          <p:txBody>
            <a:bodyPr wrap="square" lIns="18288" tIns="9144" rIns="18288" bIns="9144" anchor="ctr">
              <a:noAutofit/>
            </a:bodyPr>
            <a:lstStyle/>
            <a:p>
              <a:pPr algn="l"/>
              <a:r>
                <a:rPr lang="en-GB" sz="1400" b="1" i="0">
                  <a:solidFill>
                    <a:srgbClr val="F2F2F2"/>
                  </a:solidFill>
                  <a:latin typeface="Arial"/>
                </a:rPr>
                <a:t>Pause</a:t>
              </a:r>
            </a:p>
          </p:txBody>
        </p:sp>
        <p:sp>
          <p:nvSpPr>
            <p:cNvPr id="84" name="control button"/>
            <p:cNvSpPr/>
            <p:nvPr/>
          </p:nvSpPr>
          <p:spPr>
            <a:xfrm>
              <a:off x="2352671" y="5116068"/>
              <a:ext cx="1314592" cy="402336"/>
            </a:xfrm>
            <a:prstGeom prst="roundRect">
              <a:avLst>
                <a:gd name="adj" fmla="val 50000"/>
              </a:avLst>
            </a:prstGeom>
            <a:solidFill>
              <a:srgbClr val="343A43"/>
            </a:solidFill>
            <a:ln w="19050">
              <a:solidFill>
                <a:srgbClr val="4A515B"/>
              </a:solidFill>
            </a:ln>
          </p:spPr>
          <p:txBody>
            <a:bodyPr rtlCol="0" anchor="ctr"/>
            <a:lstStyle/>
            <a:p>
              <a:pPr algn="ctr"/>
              <a:endParaRPr/>
            </a:p>
          </p:txBody>
        </p:sp>
        <p:sp>
          <p:nvSpPr>
            <p:cNvPr id="85" name="replay arc"/>
            <p:cNvSpPr/>
            <p:nvPr/>
          </p:nvSpPr>
          <p:spPr>
            <a:xfrm>
              <a:off x="2535960" y="5189385"/>
              <a:ext cx="251260" cy="255338"/>
            </a:xfrm>
            <a:custGeom>
              <a:avLst/>
              <a:gdLst/>
              <a:ahLst/>
              <a:cxnLst/>
              <a:rect l="l" t="t" r="r" b="b"/>
              <a:pathLst>
                <a:path w="251260" h="255338">
                  <a:moveTo>
                    <a:pt x="171391" y="7555"/>
                  </a:moveTo>
                  <a:lnTo>
                    <a:pt x="146621" y="1254"/>
                  </a:lnTo>
                  <a:lnTo>
                    <a:pt x="121093" y="0"/>
                  </a:lnTo>
                  <a:lnTo>
                    <a:pt x="95824" y="3842"/>
                  </a:lnTo>
                  <a:lnTo>
                    <a:pt x="71823" y="12628"/>
                  </a:lnTo>
                  <a:lnTo>
                    <a:pt x="50045" y="26006"/>
                  </a:lnTo>
                  <a:lnTo>
                    <a:pt x="31359" y="43444"/>
                  </a:lnTo>
                  <a:lnTo>
                    <a:pt x="16509" y="64246"/>
                  </a:lnTo>
                  <a:lnTo>
                    <a:pt x="6088" y="87584"/>
                  </a:lnTo>
                  <a:lnTo>
                    <a:pt x="511" y="112527"/>
                  </a:lnTo>
                  <a:lnTo>
                    <a:pt x="0" y="138080"/>
                  </a:lnTo>
                  <a:lnTo>
                    <a:pt x="4575" y="163226"/>
                  </a:lnTo>
                  <a:lnTo>
                    <a:pt x="14055" y="186962"/>
                  </a:lnTo>
                  <a:lnTo>
                    <a:pt x="28061" y="208341"/>
                  </a:lnTo>
                  <a:lnTo>
                    <a:pt x="46035" y="226512"/>
                  </a:lnTo>
                  <a:lnTo>
                    <a:pt x="67260" y="240751"/>
                  </a:lnTo>
                  <a:lnTo>
                    <a:pt x="90891" y="250488"/>
                  </a:lnTo>
                  <a:lnTo>
                    <a:pt x="115986" y="255338"/>
                  </a:lnTo>
                  <a:lnTo>
                    <a:pt x="141543" y="255106"/>
                  </a:lnTo>
                  <a:lnTo>
                    <a:pt x="166545" y="249801"/>
                  </a:lnTo>
                  <a:lnTo>
                    <a:pt x="189995" y="239635"/>
                  </a:lnTo>
                  <a:lnTo>
                    <a:pt x="210958" y="225013"/>
                  </a:lnTo>
                  <a:lnTo>
                    <a:pt x="228599" y="206518"/>
                  </a:lnTo>
                  <a:lnTo>
                    <a:pt x="242214" y="184888"/>
                  </a:lnTo>
                  <a:lnTo>
                    <a:pt x="251260" y="160983"/>
                  </a:lnTo>
                </a:path>
              </a:pathLst>
            </a:custGeom>
            <a:noFill/>
            <a:ln w="38100">
              <a:solidFill>
                <a:srgbClr val="F28C28"/>
              </a:solidFill>
              <a:tailEnd type="triangle" w="med" len="med"/>
            </a:ln>
          </p:spPr>
          <p:txBody>
            <a:bodyPr rtlCol="0" anchor="ctr"/>
            <a:lstStyle/>
            <a:p>
              <a:pPr algn="ctr"/>
              <a:endParaRPr/>
            </a:p>
          </p:txBody>
        </p:sp>
        <p:sp>
          <p:nvSpPr>
            <p:cNvPr id="86" name="control label"/>
            <p:cNvSpPr txBox="1"/>
            <p:nvPr/>
          </p:nvSpPr>
          <p:spPr>
            <a:xfrm>
              <a:off x="2883023" y="5116068"/>
              <a:ext cx="747664" cy="402336"/>
            </a:xfrm>
            <a:prstGeom prst="rect">
              <a:avLst/>
            </a:prstGeom>
            <a:noFill/>
          </p:spPr>
          <p:txBody>
            <a:bodyPr wrap="square" lIns="18288" tIns="9144" rIns="18288" bIns="9144" anchor="ctr">
              <a:noAutofit/>
            </a:bodyPr>
            <a:lstStyle/>
            <a:p>
              <a:pPr algn="l"/>
              <a:r>
                <a:rPr lang="en-GB" sz="1400" b="1" i="0">
                  <a:solidFill>
                    <a:srgbClr val="F2F2F2"/>
                  </a:solidFill>
                  <a:latin typeface="Arial"/>
                </a:rPr>
                <a:t>Replay</a:t>
              </a:r>
            </a:p>
          </p:txBody>
        </p:sp>
        <p:sp>
          <p:nvSpPr>
            <p:cNvPr id="87" name="control button"/>
            <p:cNvSpPr/>
            <p:nvPr/>
          </p:nvSpPr>
          <p:spPr>
            <a:xfrm>
              <a:off x="3850143" y="5116068"/>
              <a:ext cx="1482586" cy="402336"/>
            </a:xfrm>
            <a:prstGeom prst="roundRect">
              <a:avLst>
                <a:gd name="adj" fmla="val 50000"/>
              </a:avLst>
            </a:prstGeom>
            <a:solidFill>
              <a:srgbClr val="343A43"/>
            </a:solidFill>
            <a:ln w="19050">
              <a:solidFill>
                <a:srgbClr val="4A515B"/>
              </a:solidFill>
            </a:ln>
          </p:spPr>
          <p:txBody>
            <a:bodyPr rtlCol="0" anchor="ctr"/>
            <a:lstStyle/>
            <a:p>
              <a:pPr algn="ctr"/>
              <a:endParaRPr/>
            </a:p>
          </p:txBody>
        </p:sp>
        <p:sp>
          <p:nvSpPr>
            <p:cNvPr id="88" name="prev bar"/>
            <p:cNvSpPr/>
            <p:nvPr/>
          </p:nvSpPr>
          <p:spPr>
            <a:xfrm>
              <a:off x="4042167" y="5198364"/>
              <a:ext cx="45720" cy="237744"/>
            </a:xfrm>
            <a:prstGeom prst="rect">
              <a:avLst/>
            </a:prstGeom>
            <a:solidFill>
              <a:srgbClr val="F28C28"/>
            </a:solidFill>
            <a:ln>
              <a:noFill/>
            </a:ln>
          </p:spPr>
          <p:txBody>
            <a:bodyPr rtlCol="0" anchor="ctr"/>
            <a:lstStyle/>
            <a:p>
              <a:pPr algn="ctr"/>
              <a:endParaRPr/>
            </a:p>
          </p:txBody>
        </p:sp>
        <p:sp>
          <p:nvSpPr>
            <p:cNvPr id="89" name="prev triangle"/>
            <p:cNvSpPr/>
            <p:nvPr/>
          </p:nvSpPr>
          <p:spPr>
            <a:xfrm>
              <a:off x="4097031" y="5198364"/>
              <a:ext cx="182880" cy="237743"/>
            </a:xfrm>
            <a:custGeom>
              <a:avLst/>
              <a:gdLst/>
              <a:ahLst/>
              <a:cxnLst/>
              <a:rect l="l" t="t" r="r" b="b"/>
              <a:pathLst>
                <a:path w="182880" h="237743">
                  <a:moveTo>
                    <a:pt x="182880" y="0"/>
                  </a:moveTo>
                  <a:lnTo>
                    <a:pt x="182880" y="237743"/>
                  </a:lnTo>
                  <a:lnTo>
                    <a:pt x="0" y="118872"/>
                  </a:lnTo>
                  <a:close/>
                </a:path>
              </a:pathLst>
            </a:custGeom>
            <a:solidFill>
              <a:srgbClr val="F28C28"/>
            </a:solidFill>
            <a:ln>
              <a:noFill/>
            </a:ln>
          </p:spPr>
          <p:txBody>
            <a:bodyPr rtlCol="0" anchor="ctr"/>
            <a:lstStyle/>
            <a:p>
              <a:pPr algn="ctr"/>
              <a:endParaRPr/>
            </a:p>
          </p:txBody>
        </p:sp>
        <p:sp>
          <p:nvSpPr>
            <p:cNvPr id="90" name="control label"/>
            <p:cNvSpPr txBox="1"/>
            <p:nvPr/>
          </p:nvSpPr>
          <p:spPr>
            <a:xfrm>
              <a:off x="4380495" y="5116068"/>
              <a:ext cx="915658" cy="402336"/>
            </a:xfrm>
            <a:prstGeom prst="rect">
              <a:avLst/>
            </a:prstGeom>
            <a:noFill/>
          </p:spPr>
          <p:txBody>
            <a:bodyPr wrap="square" lIns="18288" tIns="9144" rIns="18288" bIns="9144" anchor="ctr">
              <a:noAutofit/>
            </a:bodyPr>
            <a:lstStyle/>
            <a:p>
              <a:pPr algn="l"/>
              <a:r>
                <a:rPr lang="en-GB" sz="1400" b="1" i="0">
                  <a:solidFill>
                    <a:srgbClr val="F2F2F2"/>
                  </a:solidFill>
                  <a:latin typeface="Arial"/>
                </a:rPr>
                <a:t>Previous</a:t>
              </a:r>
            </a:p>
          </p:txBody>
        </p:sp>
        <p:sp>
          <p:nvSpPr>
            <p:cNvPr id="91" name="control button"/>
            <p:cNvSpPr/>
            <p:nvPr/>
          </p:nvSpPr>
          <p:spPr>
            <a:xfrm>
              <a:off x="5515610" y="5116068"/>
              <a:ext cx="1116915" cy="402336"/>
            </a:xfrm>
            <a:prstGeom prst="roundRect">
              <a:avLst>
                <a:gd name="adj" fmla="val 50000"/>
              </a:avLst>
            </a:prstGeom>
            <a:solidFill>
              <a:srgbClr val="343A43"/>
            </a:solidFill>
            <a:ln w="19050">
              <a:solidFill>
                <a:srgbClr val="4A515B"/>
              </a:solidFill>
            </a:ln>
          </p:spPr>
          <p:txBody>
            <a:bodyPr rtlCol="0" anchor="ctr"/>
            <a:lstStyle/>
            <a:p>
              <a:pPr algn="ctr"/>
              <a:endParaRPr/>
            </a:p>
          </p:txBody>
        </p:sp>
        <p:sp>
          <p:nvSpPr>
            <p:cNvPr id="92" name="next triangle"/>
            <p:cNvSpPr/>
            <p:nvPr/>
          </p:nvSpPr>
          <p:spPr>
            <a:xfrm>
              <a:off x="5707634" y="5198364"/>
              <a:ext cx="182880" cy="237743"/>
            </a:xfrm>
            <a:custGeom>
              <a:avLst/>
              <a:gdLst/>
              <a:ahLst/>
              <a:cxnLst/>
              <a:rect l="l" t="t" r="r" b="b"/>
              <a:pathLst>
                <a:path w="182880" h="237743">
                  <a:moveTo>
                    <a:pt x="0" y="0"/>
                  </a:moveTo>
                  <a:lnTo>
                    <a:pt x="0" y="237743"/>
                  </a:lnTo>
                  <a:lnTo>
                    <a:pt x="182880" y="118872"/>
                  </a:lnTo>
                  <a:close/>
                </a:path>
              </a:pathLst>
            </a:custGeom>
            <a:solidFill>
              <a:srgbClr val="F28C28"/>
            </a:solidFill>
            <a:ln>
              <a:noFill/>
            </a:ln>
          </p:spPr>
          <p:txBody>
            <a:bodyPr rtlCol="0" anchor="ctr"/>
            <a:lstStyle/>
            <a:p>
              <a:pPr algn="ctr"/>
              <a:endParaRPr/>
            </a:p>
          </p:txBody>
        </p:sp>
        <p:sp>
          <p:nvSpPr>
            <p:cNvPr id="93" name="next bar"/>
            <p:cNvSpPr/>
            <p:nvPr/>
          </p:nvSpPr>
          <p:spPr>
            <a:xfrm>
              <a:off x="5899658" y="5198364"/>
              <a:ext cx="45720" cy="237744"/>
            </a:xfrm>
            <a:prstGeom prst="rect">
              <a:avLst/>
            </a:prstGeom>
            <a:solidFill>
              <a:srgbClr val="F28C28"/>
            </a:solidFill>
            <a:ln>
              <a:noFill/>
            </a:ln>
          </p:spPr>
          <p:txBody>
            <a:bodyPr rtlCol="0" anchor="ctr"/>
            <a:lstStyle/>
            <a:p>
              <a:pPr algn="ctr"/>
              <a:endParaRPr/>
            </a:p>
          </p:txBody>
        </p:sp>
        <p:sp>
          <p:nvSpPr>
            <p:cNvPr id="94" name="control label"/>
            <p:cNvSpPr txBox="1"/>
            <p:nvPr/>
          </p:nvSpPr>
          <p:spPr>
            <a:xfrm>
              <a:off x="6045962" y="5116068"/>
              <a:ext cx="549987" cy="402336"/>
            </a:xfrm>
            <a:prstGeom prst="rect">
              <a:avLst/>
            </a:prstGeom>
            <a:noFill/>
          </p:spPr>
          <p:txBody>
            <a:bodyPr wrap="square" lIns="18288" tIns="9144" rIns="18288" bIns="9144" anchor="ctr">
              <a:noAutofit/>
            </a:bodyPr>
            <a:lstStyle/>
            <a:p>
              <a:pPr algn="l"/>
              <a:r>
                <a:rPr lang="en-GB" sz="1400" b="1" i="0">
                  <a:solidFill>
                    <a:srgbClr val="F2F2F2"/>
                  </a:solidFill>
                  <a:latin typeface="Arial"/>
                </a:rPr>
                <a:t>Next</a:t>
              </a:r>
            </a:p>
          </p:txBody>
        </p:sp>
      </p:grpSp>
      <p:sp>
        <p:nvSpPr>
          <p:cNvPr id="95" name="ICHIP"/>
          <p:cNvSpPr/>
          <p:nvPr/>
        </p:nvSpPr>
        <p:spPr>
          <a:xfrm>
            <a:off x="7726477" y="5161788"/>
            <a:ext cx="3749242"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Exact controls: undecided (OQ15, OQ18)</a:t>
            </a:r>
          </a:p>
        </p:txBody>
      </p:sp>
      <p:sp>
        <p:nvSpPr>
          <p:cNvPr id="9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9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98"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Lessons pause at the key moment and use short captions. No walls of text.</a:t>
            </a:r>
          </a:p>
        </p:txBody>
      </p:sp>
      <p:sp>
        <p:nvSpPr>
          <p:cNvPr id="99"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9</a:t>
            </a:r>
          </a:p>
        </p:txBody>
      </p:sp>
    </p:spTree>
    <p:extLst>
      <p:ext uri="{BB962C8B-B14F-4D97-AF65-F5344CB8AC3E}">
        <p14:creationId xmlns:p14="http://schemas.microsoft.com/office/powerpoint/2010/main" val="9211697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95"/>
                                        </p:tgtEl>
                                        <p:attrNameLst>
                                          <p:attrName>style.visibility</p:attrName>
                                        </p:attrNameLst>
                                      </p:cBhvr>
                                      <p:to>
                                        <p:strVal val="visible"/>
                                      </p:to>
                                    </p:set>
                                    <p:animEffect transition="in" filter="fade">
                                      <p:cBhvr>
                                        <p:cTn id="10" dur="500"/>
                                        <p:tgtEl>
                                          <p:spTgt spid="95"/>
                                        </p:tgtEl>
                                      </p:cBhvr>
                                    </p:animEffect>
                                  </p:childTnLst>
                                </p:cTn>
                              </p:par>
                              <p:par>
                                <p:cTn id="11" presetID="10" presetClass="entr" presetSubtype="0" fill="hold" nodeType="withEffect">
                                  <p:stCondLst>
                                    <p:cond delay="600"/>
                                  </p:stCondLst>
                                  <p:childTnLst>
                                    <p:set>
                                      <p:cBhvr>
                                        <p:cTn id="12" dur="1" fill="hold">
                                          <p:stCondLst>
                                            <p:cond delay="0"/>
                                          </p:stCondLst>
                                        </p:cTn>
                                        <p:tgtEl>
                                          <p:spTgt spid="96"/>
                                        </p:tgtEl>
                                        <p:attrNameLst>
                                          <p:attrName>style.visibility</p:attrName>
                                        </p:attrNameLst>
                                      </p:cBhvr>
                                      <p:to>
                                        <p:strVal val="visible"/>
                                      </p:to>
                                    </p:set>
                                    <p:animEffect transition="in" filter="fade">
                                      <p:cBhvr>
                                        <p:cTn id="13" dur="500"/>
                                        <p:tgtEl>
                                          <p:spTgt spid="96"/>
                                        </p:tgtEl>
                                      </p:cBhvr>
                                    </p:animEffect>
                                  </p:childTnLst>
                                </p:cTn>
                              </p:par>
                              <p:par>
                                <p:cTn id="14" presetID="10" presetClass="entr" presetSubtype="0" fill="hold" nodeType="withEffect">
                                  <p:stCondLst>
                                    <p:cond delay="900"/>
                                  </p:stCondLst>
                                  <p:childTnLst>
                                    <p:set>
                                      <p:cBhvr>
                                        <p:cTn id="15" dur="1" fill="hold">
                                          <p:stCondLst>
                                            <p:cond delay="0"/>
                                          </p:stCondLst>
                                        </p:cTn>
                                        <p:tgtEl>
                                          <p:spTgt spid="97"/>
                                        </p:tgtEl>
                                        <p:attrNameLst>
                                          <p:attrName>style.visibility</p:attrName>
                                        </p:attrNameLst>
                                      </p:cBhvr>
                                      <p:to>
                                        <p:strVal val="visible"/>
                                      </p:to>
                                    </p:set>
                                    <p:animEffect transition="in" filter="fade">
                                      <p:cBhvr>
                                        <p:cTn id="16" dur="500"/>
                                        <p:tgtEl>
                                          <p:spTgt spid="97"/>
                                        </p:tgtEl>
                                      </p:cBhvr>
                                    </p:animEffect>
                                  </p:childTnLst>
                                </p:cTn>
                              </p:par>
                              <p:par>
                                <p:cTn id="17" presetID="10" presetClass="entr" presetSubtype="0" fill="hold" nodeType="withEffect">
                                  <p:stCondLst>
                                    <p:cond delay="1200"/>
                                  </p:stCondLst>
                                  <p:childTnLst>
                                    <p:set>
                                      <p:cBhvr>
                                        <p:cTn id="18" dur="1" fill="hold">
                                          <p:stCondLst>
                                            <p:cond delay="0"/>
                                          </p:stCondLst>
                                        </p:cTn>
                                        <p:tgtEl>
                                          <p:spTgt spid="98"/>
                                        </p:tgtEl>
                                        <p:attrNameLst>
                                          <p:attrName>style.visibility</p:attrName>
                                        </p:attrNameLst>
                                      </p:cBhvr>
                                      <p:to>
                                        <p:strVal val="visible"/>
                                      </p:to>
                                    </p:set>
                                    <p:animEffect transition="in" filter="fade">
                                      <p:cBhvr>
                                        <p:cTn id="19" dur="5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An older FICSIT look</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Mock library screen" descr="A mock library screen in a plain, boxy, muted style. It has a title bar, a list of lessons on the left and a lesson pane on the right showing a small model-railway table."/>
          <p:cNvGrpSpPr/>
          <p:nvPr/>
        </p:nvGrpSpPr>
        <p:grpSpPr>
          <a:xfrm>
            <a:off x="548640" y="1325880"/>
            <a:ext cx="11091672" cy="3794760"/>
            <a:chOff x="548640" y="1325880"/>
            <a:chExt cx="11091672" cy="3794760"/>
          </a:xfrm>
        </p:grpSpPr>
        <p:sp>
          <p:nvSpPr>
            <p:cNvPr id="5" name="screen frame"/>
            <p:cNvSpPr/>
            <p:nvPr/>
          </p:nvSpPr>
          <p:spPr>
            <a:xfrm>
              <a:off x="548640" y="1325880"/>
              <a:ext cx="11091672" cy="3794760"/>
            </a:xfrm>
            <a:prstGeom prst="rect">
              <a:avLst/>
            </a:prstGeom>
            <a:solidFill>
              <a:srgbClr val="3A3F47"/>
            </a:solidFill>
            <a:ln w="50800">
              <a:solidFill>
                <a:srgbClr val="9AA0A6"/>
              </a:solidFill>
            </a:ln>
          </p:spPr>
          <p:txBody>
            <a:bodyPr rtlCol="0" anchor="ctr"/>
            <a:lstStyle/>
            <a:p>
              <a:pPr algn="ctr"/>
              <a:endParaRPr/>
            </a:p>
          </p:txBody>
        </p:sp>
        <p:sp>
          <p:nvSpPr>
            <p:cNvPr id="6" name="screen inner frame"/>
            <p:cNvSpPr/>
            <p:nvPr/>
          </p:nvSpPr>
          <p:spPr>
            <a:xfrm>
              <a:off x="640080" y="1417320"/>
              <a:ext cx="10908792" cy="3611880"/>
            </a:xfrm>
            <a:prstGeom prst="rect">
              <a:avLst/>
            </a:prstGeom>
            <a:noFill/>
            <a:ln w="19050">
              <a:solidFill>
                <a:srgbClr val="6B7078"/>
              </a:solidFill>
            </a:ln>
          </p:spPr>
          <p:txBody>
            <a:bodyPr rtlCol="0" anchor="ctr"/>
            <a:lstStyle/>
            <a:p>
              <a:pPr algn="ctr"/>
              <a:endParaRPr/>
            </a:p>
          </p:txBody>
        </p:sp>
        <p:sp>
          <p:nvSpPr>
            <p:cNvPr id="7" name="title bar"/>
            <p:cNvSpPr/>
            <p:nvPr/>
          </p:nvSpPr>
          <p:spPr>
            <a:xfrm>
              <a:off x="640080" y="1417320"/>
              <a:ext cx="10908792" cy="438912"/>
            </a:xfrm>
            <a:prstGeom prst="rect">
              <a:avLst/>
            </a:prstGeom>
            <a:solidFill>
              <a:srgbClr val="555C66"/>
            </a:solidFill>
            <a:ln>
              <a:noFill/>
            </a:ln>
          </p:spPr>
          <p:txBody>
            <a:bodyPr wrap="square" lIns="182880" tIns="0" bIns="0" rtlCol="0" anchor="ctr">
              <a:noAutofit/>
            </a:bodyPr>
            <a:lstStyle/>
            <a:p>
              <a:pPr algn="l"/>
              <a:r>
                <a:rPr lang="en-GB" sz="1800" b="1" i="0">
                  <a:solidFill>
                    <a:srgbClr val="F2F2F2"/>
                  </a:solidFill>
                  <a:latin typeface="Arial"/>
                </a:rPr>
                <a:t>Railway library</a:t>
              </a:r>
            </a:p>
          </p:txBody>
        </p:sp>
        <p:sp>
          <p:nvSpPr>
            <p:cNvPr id="8" name="title button"/>
            <p:cNvSpPr/>
            <p:nvPr/>
          </p:nvSpPr>
          <p:spPr>
            <a:xfrm>
              <a:off x="11228832" y="1508760"/>
              <a:ext cx="237744" cy="237744"/>
            </a:xfrm>
            <a:prstGeom prst="rect">
              <a:avLst/>
            </a:prstGeom>
            <a:solidFill>
              <a:srgbClr val="3A3F47"/>
            </a:solidFill>
            <a:ln w="19050">
              <a:solidFill>
                <a:srgbClr val="9AA0A6"/>
              </a:solidFill>
            </a:ln>
          </p:spPr>
          <p:txBody>
            <a:bodyPr rtlCol="0" anchor="ctr"/>
            <a:lstStyle/>
            <a:p>
              <a:pPr algn="ctr"/>
              <a:endParaRPr/>
            </a:p>
          </p:txBody>
        </p:sp>
        <p:sp>
          <p:nvSpPr>
            <p:cNvPr id="9" name="title button"/>
            <p:cNvSpPr/>
            <p:nvPr/>
          </p:nvSpPr>
          <p:spPr>
            <a:xfrm>
              <a:off x="10881360" y="1508760"/>
              <a:ext cx="237744" cy="237744"/>
            </a:xfrm>
            <a:prstGeom prst="rect">
              <a:avLst/>
            </a:prstGeom>
            <a:solidFill>
              <a:srgbClr val="3A3F47"/>
            </a:solidFill>
            <a:ln w="19050">
              <a:solidFill>
                <a:srgbClr val="9AA0A6"/>
              </a:solidFill>
            </a:ln>
          </p:spPr>
          <p:txBody>
            <a:bodyPr rtlCol="0" anchor="ctr"/>
            <a:lstStyle/>
            <a:p>
              <a:pPr algn="ctr"/>
              <a:endParaRPr/>
            </a:p>
          </p:txBody>
        </p:sp>
        <p:sp>
          <p:nvSpPr>
            <p:cNvPr id="10" name="title button"/>
            <p:cNvSpPr/>
            <p:nvPr/>
          </p:nvSpPr>
          <p:spPr>
            <a:xfrm>
              <a:off x="10533888" y="1508760"/>
              <a:ext cx="237744" cy="237744"/>
            </a:xfrm>
            <a:prstGeom prst="rect">
              <a:avLst/>
            </a:prstGeom>
            <a:solidFill>
              <a:srgbClr val="3A3F47"/>
            </a:solidFill>
            <a:ln w="19050">
              <a:solidFill>
                <a:srgbClr val="9AA0A6"/>
              </a:solidFill>
            </a:ln>
          </p:spPr>
          <p:txBody>
            <a:bodyPr rtlCol="0" anchor="ctr"/>
            <a:lstStyle/>
            <a:p>
              <a:pPr algn="ctr"/>
              <a:endParaRPr/>
            </a:p>
          </p:txBody>
        </p:sp>
        <p:sp>
          <p:nvSpPr>
            <p:cNvPr id="11" name="list box"/>
            <p:cNvSpPr/>
            <p:nvPr/>
          </p:nvSpPr>
          <p:spPr>
            <a:xfrm>
              <a:off x="822959" y="2103120"/>
              <a:ext cx="3200400" cy="2743200"/>
            </a:xfrm>
            <a:prstGeom prst="rect">
              <a:avLst/>
            </a:prstGeom>
            <a:solidFill>
              <a:srgbClr val="2F343B"/>
            </a:solidFill>
            <a:ln w="19050">
              <a:solidFill>
                <a:srgbClr val="6B7078"/>
              </a:solidFill>
            </a:ln>
          </p:spPr>
          <p:txBody>
            <a:bodyPr rtlCol="0" anchor="ctr"/>
            <a:lstStyle/>
            <a:p>
              <a:pPr algn="ctr"/>
              <a:endParaRPr/>
            </a:p>
          </p:txBody>
        </p:sp>
        <p:sp>
          <p:nvSpPr>
            <p:cNvPr id="12" name="list row"/>
            <p:cNvSpPr/>
            <p:nvPr/>
          </p:nvSpPr>
          <p:spPr>
            <a:xfrm>
              <a:off x="960119" y="2240279"/>
              <a:ext cx="2926080" cy="384048"/>
            </a:xfrm>
            <a:prstGeom prst="rect">
              <a:avLst/>
            </a:prstGeom>
            <a:solidFill>
              <a:srgbClr val="4A515B"/>
            </a:solidFill>
            <a:ln>
              <a:noFill/>
            </a:ln>
          </p:spPr>
          <p:txBody>
            <a:bodyPr rtlCol="0" anchor="ctr"/>
            <a:lstStyle/>
            <a:p>
              <a:pPr algn="ctr"/>
              <a:endParaRPr/>
            </a:p>
          </p:txBody>
        </p:sp>
        <p:sp>
          <p:nvSpPr>
            <p:cNvPr id="13" name="list icon"/>
            <p:cNvSpPr/>
            <p:nvPr/>
          </p:nvSpPr>
          <p:spPr>
            <a:xfrm>
              <a:off x="1051560" y="2322575"/>
              <a:ext cx="219456" cy="219456"/>
            </a:xfrm>
            <a:prstGeom prst="rect">
              <a:avLst/>
            </a:prstGeom>
            <a:solidFill>
              <a:srgbClr val="A9B0B8"/>
            </a:solidFill>
            <a:ln>
              <a:noFill/>
            </a:ln>
          </p:spPr>
          <p:txBody>
            <a:bodyPr rtlCol="0" anchor="ctr"/>
            <a:lstStyle/>
            <a:p>
              <a:pPr algn="ctr"/>
              <a:endParaRPr/>
            </a:p>
          </p:txBody>
        </p:sp>
        <p:sp>
          <p:nvSpPr>
            <p:cNvPr id="14" name="list text bar"/>
            <p:cNvSpPr/>
            <p:nvPr/>
          </p:nvSpPr>
          <p:spPr>
            <a:xfrm>
              <a:off x="1417319" y="2386584"/>
              <a:ext cx="1554480" cy="91440"/>
            </a:xfrm>
            <a:prstGeom prst="rect">
              <a:avLst/>
            </a:prstGeom>
            <a:solidFill>
              <a:srgbClr val="A9B0B8"/>
            </a:solidFill>
            <a:ln>
              <a:noFill/>
            </a:ln>
          </p:spPr>
          <p:txBody>
            <a:bodyPr rtlCol="0" anchor="ctr"/>
            <a:lstStyle/>
            <a:p>
              <a:pPr algn="ctr"/>
              <a:endParaRPr/>
            </a:p>
          </p:txBody>
        </p:sp>
        <p:sp>
          <p:nvSpPr>
            <p:cNvPr id="15" name="list row"/>
            <p:cNvSpPr/>
            <p:nvPr/>
          </p:nvSpPr>
          <p:spPr>
            <a:xfrm>
              <a:off x="960119" y="2743200"/>
              <a:ext cx="2926080" cy="384048"/>
            </a:xfrm>
            <a:prstGeom prst="rect">
              <a:avLst/>
            </a:prstGeom>
            <a:solidFill>
              <a:srgbClr val="A9B0B8"/>
            </a:solidFill>
            <a:ln>
              <a:noFill/>
            </a:ln>
          </p:spPr>
          <p:txBody>
            <a:bodyPr rtlCol="0" anchor="ctr"/>
            <a:lstStyle/>
            <a:p>
              <a:pPr algn="ctr"/>
              <a:endParaRPr/>
            </a:p>
          </p:txBody>
        </p:sp>
        <p:sp>
          <p:nvSpPr>
            <p:cNvPr id="16" name="list icon"/>
            <p:cNvSpPr/>
            <p:nvPr/>
          </p:nvSpPr>
          <p:spPr>
            <a:xfrm>
              <a:off x="1051560" y="2825496"/>
              <a:ext cx="219456" cy="219456"/>
            </a:xfrm>
            <a:prstGeom prst="rect">
              <a:avLst/>
            </a:prstGeom>
            <a:solidFill>
              <a:srgbClr val="101418"/>
            </a:solidFill>
            <a:ln>
              <a:noFill/>
            </a:ln>
          </p:spPr>
          <p:txBody>
            <a:bodyPr rtlCol="0" anchor="ctr"/>
            <a:lstStyle/>
            <a:p>
              <a:pPr algn="ctr"/>
              <a:endParaRPr/>
            </a:p>
          </p:txBody>
        </p:sp>
        <p:sp>
          <p:nvSpPr>
            <p:cNvPr id="17" name="list text bar"/>
            <p:cNvSpPr/>
            <p:nvPr/>
          </p:nvSpPr>
          <p:spPr>
            <a:xfrm>
              <a:off x="1417319" y="2889504"/>
              <a:ext cx="1737360" cy="91440"/>
            </a:xfrm>
            <a:prstGeom prst="rect">
              <a:avLst/>
            </a:prstGeom>
            <a:solidFill>
              <a:srgbClr val="101418"/>
            </a:solidFill>
            <a:ln>
              <a:noFill/>
            </a:ln>
          </p:spPr>
          <p:txBody>
            <a:bodyPr rtlCol="0" anchor="ctr"/>
            <a:lstStyle/>
            <a:p>
              <a:pPr algn="ctr"/>
              <a:endParaRPr/>
            </a:p>
          </p:txBody>
        </p:sp>
        <p:sp>
          <p:nvSpPr>
            <p:cNvPr id="18" name="list row"/>
            <p:cNvSpPr/>
            <p:nvPr/>
          </p:nvSpPr>
          <p:spPr>
            <a:xfrm>
              <a:off x="960119" y="3246120"/>
              <a:ext cx="2926080" cy="384048"/>
            </a:xfrm>
            <a:prstGeom prst="rect">
              <a:avLst/>
            </a:prstGeom>
            <a:solidFill>
              <a:srgbClr val="4A515B"/>
            </a:solidFill>
            <a:ln>
              <a:noFill/>
            </a:ln>
          </p:spPr>
          <p:txBody>
            <a:bodyPr rtlCol="0" anchor="ctr"/>
            <a:lstStyle/>
            <a:p>
              <a:pPr algn="ctr"/>
              <a:endParaRPr/>
            </a:p>
          </p:txBody>
        </p:sp>
        <p:sp>
          <p:nvSpPr>
            <p:cNvPr id="19" name="list icon"/>
            <p:cNvSpPr/>
            <p:nvPr/>
          </p:nvSpPr>
          <p:spPr>
            <a:xfrm>
              <a:off x="1051560" y="3328415"/>
              <a:ext cx="219456" cy="219456"/>
            </a:xfrm>
            <a:prstGeom prst="rect">
              <a:avLst/>
            </a:prstGeom>
            <a:solidFill>
              <a:srgbClr val="A9B0B8"/>
            </a:solidFill>
            <a:ln>
              <a:noFill/>
            </a:ln>
          </p:spPr>
          <p:txBody>
            <a:bodyPr rtlCol="0" anchor="ctr"/>
            <a:lstStyle/>
            <a:p>
              <a:pPr algn="ctr"/>
              <a:endParaRPr/>
            </a:p>
          </p:txBody>
        </p:sp>
        <p:sp>
          <p:nvSpPr>
            <p:cNvPr id="20" name="list text bar"/>
            <p:cNvSpPr/>
            <p:nvPr/>
          </p:nvSpPr>
          <p:spPr>
            <a:xfrm>
              <a:off x="1417319" y="3392424"/>
              <a:ext cx="1554480" cy="91440"/>
            </a:xfrm>
            <a:prstGeom prst="rect">
              <a:avLst/>
            </a:prstGeom>
            <a:solidFill>
              <a:srgbClr val="A9B0B8"/>
            </a:solidFill>
            <a:ln>
              <a:noFill/>
            </a:ln>
          </p:spPr>
          <p:txBody>
            <a:bodyPr rtlCol="0" anchor="ctr"/>
            <a:lstStyle/>
            <a:p>
              <a:pPr algn="ctr"/>
              <a:endParaRPr/>
            </a:p>
          </p:txBody>
        </p:sp>
        <p:sp>
          <p:nvSpPr>
            <p:cNvPr id="21" name="list row"/>
            <p:cNvSpPr/>
            <p:nvPr/>
          </p:nvSpPr>
          <p:spPr>
            <a:xfrm>
              <a:off x="960119" y="3749039"/>
              <a:ext cx="2926080" cy="384048"/>
            </a:xfrm>
            <a:prstGeom prst="rect">
              <a:avLst/>
            </a:prstGeom>
            <a:solidFill>
              <a:srgbClr val="4A515B"/>
            </a:solidFill>
            <a:ln>
              <a:noFill/>
            </a:ln>
          </p:spPr>
          <p:txBody>
            <a:bodyPr rtlCol="0" anchor="ctr"/>
            <a:lstStyle/>
            <a:p>
              <a:pPr algn="ctr"/>
              <a:endParaRPr/>
            </a:p>
          </p:txBody>
        </p:sp>
        <p:sp>
          <p:nvSpPr>
            <p:cNvPr id="22" name="list icon"/>
            <p:cNvSpPr/>
            <p:nvPr/>
          </p:nvSpPr>
          <p:spPr>
            <a:xfrm>
              <a:off x="1051560" y="3831335"/>
              <a:ext cx="219456" cy="219456"/>
            </a:xfrm>
            <a:prstGeom prst="rect">
              <a:avLst/>
            </a:prstGeom>
            <a:solidFill>
              <a:srgbClr val="A9B0B8"/>
            </a:solidFill>
            <a:ln>
              <a:noFill/>
            </a:ln>
          </p:spPr>
          <p:txBody>
            <a:bodyPr rtlCol="0" anchor="ctr"/>
            <a:lstStyle/>
            <a:p>
              <a:pPr algn="ctr"/>
              <a:endParaRPr/>
            </a:p>
          </p:txBody>
        </p:sp>
        <p:sp>
          <p:nvSpPr>
            <p:cNvPr id="23" name="list text bar"/>
            <p:cNvSpPr/>
            <p:nvPr/>
          </p:nvSpPr>
          <p:spPr>
            <a:xfrm>
              <a:off x="1417319" y="3895344"/>
              <a:ext cx="1554480" cy="91440"/>
            </a:xfrm>
            <a:prstGeom prst="rect">
              <a:avLst/>
            </a:prstGeom>
            <a:solidFill>
              <a:srgbClr val="A9B0B8"/>
            </a:solidFill>
            <a:ln>
              <a:noFill/>
            </a:ln>
          </p:spPr>
          <p:txBody>
            <a:bodyPr rtlCol="0" anchor="ctr"/>
            <a:lstStyle/>
            <a:p>
              <a:pPr algn="ctr"/>
              <a:endParaRPr/>
            </a:p>
          </p:txBody>
        </p:sp>
        <p:sp>
          <p:nvSpPr>
            <p:cNvPr id="24" name="list row"/>
            <p:cNvSpPr/>
            <p:nvPr/>
          </p:nvSpPr>
          <p:spPr>
            <a:xfrm>
              <a:off x="960119" y="4251960"/>
              <a:ext cx="2926080" cy="384048"/>
            </a:xfrm>
            <a:prstGeom prst="rect">
              <a:avLst/>
            </a:prstGeom>
            <a:solidFill>
              <a:srgbClr val="4A515B"/>
            </a:solidFill>
            <a:ln>
              <a:noFill/>
            </a:ln>
          </p:spPr>
          <p:txBody>
            <a:bodyPr rtlCol="0" anchor="ctr"/>
            <a:lstStyle/>
            <a:p>
              <a:pPr algn="ctr"/>
              <a:endParaRPr/>
            </a:p>
          </p:txBody>
        </p:sp>
        <p:sp>
          <p:nvSpPr>
            <p:cNvPr id="25" name="list icon"/>
            <p:cNvSpPr/>
            <p:nvPr/>
          </p:nvSpPr>
          <p:spPr>
            <a:xfrm>
              <a:off x="1051560" y="4334256"/>
              <a:ext cx="219456" cy="219456"/>
            </a:xfrm>
            <a:prstGeom prst="rect">
              <a:avLst/>
            </a:prstGeom>
            <a:solidFill>
              <a:srgbClr val="A9B0B8"/>
            </a:solidFill>
            <a:ln>
              <a:noFill/>
            </a:ln>
          </p:spPr>
          <p:txBody>
            <a:bodyPr rtlCol="0" anchor="ctr"/>
            <a:lstStyle/>
            <a:p>
              <a:pPr algn="ctr"/>
              <a:endParaRPr/>
            </a:p>
          </p:txBody>
        </p:sp>
        <p:sp>
          <p:nvSpPr>
            <p:cNvPr id="26" name="list text bar"/>
            <p:cNvSpPr/>
            <p:nvPr/>
          </p:nvSpPr>
          <p:spPr>
            <a:xfrm>
              <a:off x="1417319" y="4398264"/>
              <a:ext cx="1554480" cy="91440"/>
            </a:xfrm>
            <a:prstGeom prst="rect">
              <a:avLst/>
            </a:prstGeom>
            <a:solidFill>
              <a:srgbClr val="A9B0B8"/>
            </a:solidFill>
            <a:ln>
              <a:noFill/>
            </a:ln>
          </p:spPr>
          <p:txBody>
            <a:bodyPr rtlCol="0" anchor="ctr"/>
            <a:lstStyle/>
            <a:p>
              <a:pPr algn="ctr"/>
              <a:endParaRPr/>
            </a:p>
          </p:txBody>
        </p:sp>
        <p:sp>
          <p:nvSpPr>
            <p:cNvPr id="27" name="lesson pane"/>
            <p:cNvSpPr/>
            <p:nvPr/>
          </p:nvSpPr>
          <p:spPr>
            <a:xfrm>
              <a:off x="4297679" y="2103120"/>
              <a:ext cx="7068312" cy="2743200"/>
            </a:xfrm>
            <a:prstGeom prst="rect">
              <a:avLst/>
            </a:prstGeom>
            <a:solidFill>
              <a:srgbClr val="2F343B"/>
            </a:solidFill>
            <a:ln w="19050">
              <a:solidFill>
                <a:srgbClr val="6B7078"/>
              </a:solidFill>
            </a:ln>
          </p:spPr>
          <p:txBody>
            <a:bodyPr rtlCol="0" anchor="ctr"/>
            <a:lstStyle/>
            <a:p>
              <a:pPr algn="ctr"/>
              <a:endParaRPr/>
            </a:p>
          </p:txBody>
        </p:sp>
        <p:sp>
          <p:nvSpPr>
            <p:cNvPr id="28" name="preview table"/>
            <p:cNvSpPr/>
            <p:nvPr/>
          </p:nvSpPr>
          <p:spPr>
            <a:xfrm>
              <a:off x="4526279" y="2331720"/>
              <a:ext cx="4023360" cy="2286000"/>
            </a:xfrm>
            <a:prstGeom prst="rect">
              <a:avLst/>
            </a:prstGeom>
            <a:solidFill>
              <a:srgbClr val="F4F5F6"/>
            </a:solidFill>
            <a:ln>
              <a:noFill/>
            </a:ln>
          </p:spPr>
          <p:txBody>
            <a:bodyPr rtlCol="0" anchor="ctr"/>
            <a:lstStyle/>
            <a:p>
              <a:pPr algn="ctr"/>
              <a:endParaRPr/>
            </a:p>
          </p:txBody>
        </p:sp>
        <p:sp>
          <p:nvSpPr>
            <p:cNvPr id="29" name="preview loop"/>
            <p:cNvSpPr/>
            <p:nvPr/>
          </p:nvSpPr>
          <p:spPr>
            <a:xfrm>
              <a:off x="4983479" y="2697479"/>
              <a:ext cx="3108960" cy="1280160"/>
            </a:xfrm>
            <a:prstGeom prst="roundRect">
              <a:avLst>
                <a:gd name="adj" fmla="val 50000"/>
              </a:avLst>
            </a:prstGeom>
            <a:noFill/>
            <a:ln w="38100">
              <a:solidFill>
                <a:srgbClr val="7A828C"/>
              </a:solidFill>
            </a:ln>
          </p:spPr>
          <p:txBody>
            <a:bodyPr rtlCol="0" anchor="ctr"/>
            <a:lstStyle/>
            <a:p>
              <a:pPr algn="ctr"/>
              <a:endParaRPr/>
            </a:p>
          </p:txBody>
        </p:sp>
        <p:sp>
          <p:nvSpPr>
            <p:cNvPr id="30" name="preview train engine"/>
            <p:cNvSpPr/>
            <p:nvPr/>
          </p:nvSpPr>
          <p:spPr>
            <a:xfrm>
              <a:off x="5852159" y="2633472"/>
              <a:ext cx="310896" cy="201168"/>
            </a:xfrm>
            <a:prstGeom prst="roundRect">
              <a:avLst>
                <a:gd name="adj" fmla="val 18181"/>
              </a:avLst>
            </a:prstGeom>
            <a:solidFill>
              <a:srgbClr val="F28C28"/>
            </a:solidFill>
            <a:ln>
              <a:noFill/>
            </a:ln>
          </p:spPr>
          <p:txBody>
            <a:bodyPr rtlCol="0" anchor="ctr"/>
            <a:lstStyle/>
            <a:p>
              <a:pPr algn="ctr"/>
              <a:endParaRPr/>
            </a:p>
          </p:txBody>
        </p:sp>
        <p:sp>
          <p:nvSpPr>
            <p:cNvPr id="31" name="preview train chimney"/>
            <p:cNvSpPr/>
            <p:nvPr/>
          </p:nvSpPr>
          <p:spPr>
            <a:xfrm>
              <a:off x="6080759" y="2578608"/>
              <a:ext cx="64007" cy="91440"/>
            </a:xfrm>
            <a:prstGeom prst="rect">
              <a:avLst/>
            </a:prstGeom>
            <a:solidFill>
              <a:srgbClr val="3A3F47"/>
            </a:solidFill>
            <a:ln>
              <a:noFill/>
            </a:ln>
          </p:spPr>
          <p:txBody>
            <a:bodyPr rtlCol="0" anchor="ctr"/>
            <a:lstStyle/>
            <a:p>
              <a:pPr algn="ctr"/>
              <a:endParaRPr/>
            </a:p>
          </p:txBody>
        </p:sp>
        <p:sp>
          <p:nvSpPr>
            <p:cNvPr id="32" name="preview train frame"/>
            <p:cNvSpPr/>
            <p:nvPr/>
          </p:nvSpPr>
          <p:spPr>
            <a:xfrm>
              <a:off x="5852159" y="2761488"/>
              <a:ext cx="310896" cy="73152"/>
            </a:xfrm>
            <a:prstGeom prst="rect">
              <a:avLst/>
            </a:prstGeom>
            <a:solidFill>
              <a:srgbClr val="1B1D21"/>
            </a:solidFill>
            <a:ln>
              <a:noFill/>
            </a:ln>
          </p:spPr>
          <p:txBody>
            <a:bodyPr rtlCol="0" anchor="ctr"/>
            <a:lstStyle/>
            <a:p>
              <a:pPr algn="ctr"/>
              <a:endParaRPr/>
            </a:p>
          </p:txBody>
        </p:sp>
        <p:sp>
          <p:nvSpPr>
            <p:cNvPr id="33" name="preview train wagon"/>
            <p:cNvSpPr/>
            <p:nvPr/>
          </p:nvSpPr>
          <p:spPr>
            <a:xfrm>
              <a:off x="6181344" y="2660903"/>
              <a:ext cx="274320" cy="173736"/>
            </a:xfrm>
            <a:prstGeom prst="roundRect">
              <a:avLst>
                <a:gd name="adj" fmla="val 10526"/>
              </a:avLst>
            </a:prstGeom>
            <a:solidFill>
              <a:srgbClr val="6C7480"/>
            </a:solidFill>
            <a:ln w="9525">
              <a:solidFill>
                <a:srgbClr val="4A515B"/>
              </a:solidFill>
            </a:ln>
          </p:spPr>
          <p:txBody>
            <a:bodyPr rtlCol="0" anchor="ctr"/>
            <a:lstStyle/>
            <a:p>
              <a:pPr algn="ctr"/>
              <a:endParaRPr/>
            </a:p>
          </p:txBody>
        </p:sp>
        <p:sp>
          <p:nvSpPr>
            <p:cNvPr id="34" name="preview train wagon"/>
            <p:cNvSpPr/>
            <p:nvPr/>
          </p:nvSpPr>
          <p:spPr>
            <a:xfrm>
              <a:off x="6473952" y="2660903"/>
              <a:ext cx="274320" cy="173736"/>
            </a:xfrm>
            <a:prstGeom prst="roundRect">
              <a:avLst>
                <a:gd name="adj" fmla="val 10526"/>
              </a:avLst>
            </a:prstGeom>
            <a:solidFill>
              <a:srgbClr val="6C7480"/>
            </a:solidFill>
            <a:ln w="9525">
              <a:solidFill>
                <a:srgbClr val="4A515B"/>
              </a:solidFill>
            </a:ln>
          </p:spPr>
          <p:txBody>
            <a:bodyPr rtlCol="0" anchor="ctr"/>
            <a:lstStyle/>
            <a:p>
              <a:pPr algn="ctr"/>
              <a:endParaRPr/>
            </a:p>
          </p:txBody>
        </p:sp>
        <p:sp>
          <p:nvSpPr>
            <p:cNvPr id="35" name="preview train wheel"/>
            <p:cNvSpPr/>
            <p:nvPr/>
          </p:nvSpPr>
          <p:spPr>
            <a:xfrm>
              <a:off x="5899708" y="2799892"/>
              <a:ext cx="69494" cy="69494"/>
            </a:xfrm>
            <a:prstGeom prst="ellipse">
              <a:avLst/>
            </a:prstGeom>
            <a:solidFill>
              <a:srgbClr val="1B1D21"/>
            </a:solidFill>
            <a:ln w="9525">
              <a:solidFill>
                <a:srgbClr val="9AA0A6"/>
              </a:solidFill>
            </a:ln>
          </p:spPr>
          <p:txBody>
            <a:bodyPr rtlCol="0" anchor="ctr"/>
            <a:lstStyle/>
            <a:p>
              <a:pPr algn="ctr"/>
              <a:endParaRPr/>
            </a:p>
          </p:txBody>
        </p:sp>
        <p:sp>
          <p:nvSpPr>
            <p:cNvPr id="36" name="preview train wheel"/>
            <p:cNvSpPr/>
            <p:nvPr/>
          </p:nvSpPr>
          <p:spPr>
            <a:xfrm>
              <a:off x="6046012" y="2799892"/>
              <a:ext cx="69494" cy="69494"/>
            </a:xfrm>
            <a:prstGeom prst="ellipse">
              <a:avLst/>
            </a:prstGeom>
            <a:solidFill>
              <a:srgbClr val="1B1D21"/>
            </a:solidFill>
            <a:ln w="9525">
              <a:solidFill>
                <a:srgbClr val="9AA0A6"/>
              </a:solidFill>
            </a:ln>
          </p:spPr>
          <p:txBody>
            <a:bodyPr rtlCol="0" anchor="ctr"/>
            <a:lstStyle/>
            <a:p>
              <a:pPr algn="ctr"/>
              <a:endParaRPr/>
            </a:p>
          </p:txBody>
        </p:sp>
        <p:sp>
          <p:nvSpPr>
            <p:cNvPr id="37" name="preview train wheel"/>
            <p:cNvSpPr/>
            <p:nvPr/>
          </p:nvSpPr>
          <p:spPr>
            <a:xfrm>
              <a:off x="6219748" y="2799892"/>
              <a:ext cx="69494" cy="69494"/>
            </a:xfrm>
            <a:prstGeom prst="ellipse">
              <a:avLst/>
            </a:prstGeom>
            <a:solidFill>
              <a:srgbClr val="1B1D21"/>
            </a:solidFill>
            <a:ln w="9525">
              <a:solidFill>
                <a:srgbClr val="9AA0A6"/>
              </a:solidFill>
            </a:ln>
          </p:spPr>
          <p:txBody>
            <a:bodyPr rtlCol="0" anchor="ctr"/>
            <a:lstStyle/>
            <a:p>
              <a:pPr algn="ctr"/>
              <a:endParaRPr/>
            </a:p>
          </p:txBody>
        </p:sp>
        <p:sp>
          <p:nvSpPr>
            <p:cNvPr id="38" name="preview train wheel"/>
            <p:cNvSpPr/>
            <p:nvPr/>
          </p:nvSpPr>
          <p:spPr>
            <a:xfrm>
              <a:off x="6366052" y="2799892"/>
              <a:ext cx="69494" cy="69494"/>
            </a:xfrm>
            <a:prstGeom prst="ellipse">
              <a:avLst/>
            </a:prstGeom>
            <a:solidFill>
              <a:srgbClr val="1B1D21"/>
            </a:solidFill>
            <a:ln w="9525">
              <a:solidFill>
                <a:srgbClr val="9AA0A6"/>
              </a:solidFill>
            </a:ln>
          </p:spPr>
          <p:txBody>
            <a:bodyPr rtlCol="0" anchor="ctr"/>
            <a:lstStyle/>
            <a:p>
              <a:pPr algn="ctr"/>
              <a:endParaRPr/>
            </a:p>
          </p:txBody>
        </p:sp>
        <p:sp>
          <p:nvSpPr>
            <p:cNvPr id="39" name="preview train wheel"/>
            <p:cNvSpPr/>
            <p:nvPr/>
          </p:nvSpPr>
          <p:spPr>
            <a:xfrm>
              <a:off x="6512356" y="2799892"/>
              <a:ext cx="69494" cy="69494"/>
            </a:xfrm>
            <a:prstGeom prst="ellipse">
              <a:avLst/>
            </a:prstGeom>
            <a:solidFill>
              <a:srgbClr val="1B1D21"/>
            </a:solidFill>
            <a:ln w="9525">
              <a:solidFill>
                <a:srgbClr val="9AA0A6"/>
              </a:solidFill>
            </a:ln>
          </p:spPr>
          <p:txBody>
            <a:bodyPr rtlCol="0" anchor="ctr"/>
            <a:lstStyle/>
            <a:p>
              <a:pPr algn="ctr"/>
              <a:endParaRPr/>
            </a:p>
          </p:txBody>
        </p:sp>
        <p:sp>
          <p:nvSpPr>
            <p:cNvPr id="40" name="preview train wheel"/>
            <p:cNvSpPr/>
            <p:nvPr/>
          </p:nvSpPr>
          <p:spPr>
            <a:xfrm>
              <a:off x="6658660" y="2799892"/>
              <a:ext cx="69494" cy="69494"/>
            </a:xfrm>
            <a:prstGeom prst="ellipse">
              <a:avLst/>
            </a:prstGeom>
            <a:solidFill>
              <a:srgbClr val="1B1D21"/>
            </a:solidFill>
            <a:ln w="9525">
              <a:solidFill>
                <a:srgbClr val="9AA0A6"/>
              </a:solidFill>
            </a:ln>
          </p:spPr>
          <p:txBody>
            <a:bodyPr rtlCol="0" anchor="ctr"/>
            <a:lstStyle/>
            <a:p>
              <a:pPr algn="ctr"/>
              <a:endParaRPr/>
            </a:p>
          </p:txBody>
        </p:sp>
        <p:sp>
          <p:nvSpPr>
            <p:cNvPr id="41" name="play disc"/>
            <p:cNvSpPr/>
            <p:nvPr/>
          </p:nvSpPr>
          <p:spPr>
            <a:xfrm>
              <a:off x="6117336" y="3282696"/>
              <a:ext cx="475488" cy="475488"/>
            </a:xfrm>
            <a:prstGeom prst="ellipse">
              <a:avLst/>
            </a:prstGeom>
            <a:solidFill>
              <a:srgbClr val="F28C28"/>
            </a:solidFill>
            <a:ln>
              <a:noFill/>
            </a:ln>
          </p:spPr>
          <p:txBody>
            <a:bodyPr rtlCol="0" anchor="ctr"/>
            <a:lstStyle/>
            <a:p>
              <a:pPr algn="ctr"/>
              <a:endParaRPr/>
            </a:p>
          </p:txBody>
        </p:sp>
        <p:sp>
          <p:nvSpPr>
            <p:cNvPr id="42" name="play"/>
            <p:cNvSpPr/>
            <p:nvPr/>
          </p:nvSpPr>
          <p:spPr>
            <a:xfrm>
              <a:off x="6292900" y="3392423"/>
              <a:ext cx="217627" cy="256033"/>
            </a:xfrm>
            <a:custGeom>
              <a:avLst/>
              <a:gdLst/>
              <a:ahLst/>
              <a:cxnLst/>
              <a:rect l="l" t="t" r="r" b="b"/>
              <a:pathLst>
                <a:path w="217627" h="256033">
                  <a:moveTo>
                    <a:pt x="0" y="0"/>
                  </a:moveTo>
                  <a:lnTo>
                    <a:pt x="0" y="256033"/>
                  </a:lnTo>
                  <a:lnTo>
                    <a:pt x="217627" y="128016"/>
                  </a:lnTo>
                  <a:close/>
                </a:path>
              </a:pathLst>
            </a:custGeom>
            <a:solidFill>
              <a:srgbClr val="101418"/>
            </a:solidFill>
            <a:ln>
              <a:noFill/>
            </a:ln>
          </p:spPr>
          <p:txBody>
            <a:bodyPr rtlCol="0" anchor="ctr"/>
            <a:lstStyle/>
            <a:p>
              <a:pPr algn="ctr"/>
              <a:endParaRPr/>
            </a:p>
          </p:txBody>
        </p:sp>
        <p:sp>
          <p:nvSpPr>
            <p:cNvPr id="43" name="pane title bar"/>
            <p:cNvSpPr/>
            <p:nvPr/>
          </p:nvSpPr>
          <p:spPr>
            <a:xfrm>
              <a:off x="8778240" y="2377439"/>
              <a:ext cx="1887321" cy="182880"/>
            </a:xfrm>
            <a:prstGeom prst="rect">
              <a:avLst/>
            </a:prstGeom>
            <a:solidFill>
              <a:srgbClr val="A9B0B8"/>
            </a:solidFill>
            <a:ln>
              <a:noFill/>
            </a:ln>
          </p:spPr>
          <p:txBody>
            <a:bodyPr rtlCol="0" anchor="ctr"/>
            <a:lstStyle/>
            <a:p>
              <a:pPr algn="ctr"/>
              <a:endParaRPr/>
            </a:p>
          </p:txBody>
        </p:sp>
        <p:sp>
          <p:nvSpPr>
            <p:cNvPr id="44" name="pane text bar"/>
            <p:cNvSpPr/>
            <p:nvPr/>
          </p:nvSpPr>
          <p:spPr>
            <a:xfrm>
              <a:off x="8778240" y="2834639"/>
              <a:ext cx="2359152" cy="91440"/>
            </a:xfrm>
            <a:prstGeom prst="rect">
              <a:avLst/>
            </a:prstGeom>
            <a:solidFill>
              <a:srgbClr val="6B7078"/>
            </a:solidFill>
            <a:ln>
              <a:noFill/>
            </a:ln>
          </p:spPr>
          <p:txBody>
            <a:bodyPr rtlCol="0" anchor="ctr"/>
            <a:lstStyle/>
            <a:p>
              <a:pPr algn="ctr"/>
              <a:endParaRPr/>
            </a:p>
          </p:txBody>
        </p:sp>
        <p:sp>
          <p:nvSpPr>
            <p:cNvPr id="45" name="pane text bar"/>
            <p:cNvSpPr/>
            <p:nvPr/>
          </p:nvSpPr>
          <p:spPr>
            <a:xfrm>
              <a:off x="8778240" y="3108959"/>
              <a:ext cx="2359152" cy="91440"/>
            </a:xfrm>
            <a:prstGeom prst="rect">
              <a:avLst/>
            </a:prstGeom>
            <a:solidFill>
              <a:srgbClr val="6B7078"/>
            </a:solidFill>
            <a:ln>
              <a:noFill/>
            </a:ln>
          </p:spPr>
          <p:txBody>
            <a:bodyPr rtlCol="0" anchor="ctr"/>
            <a:lstStyle/>
            <a:p>
              <a:pPr algn="ctr"/>
              <a:endParaRPr/>
            </a:p>
          </p:txBody>
        </p:sp>
        <p:sp>
          <p:nvSpPr>
            <p:cNvPr id="46" name="pane text bar"/>
            <p:cNvSpPr/>
            <p:nvPr/>
          </p:nvSpPr>
          <p:spPr>
            <a:xfrm>
              <a:off x="8778240" y="3383279"/>
              <a:ext cx="2359152" cy="91440"/>
            </a:xfrm>
            <a:prstGeom prst="rect">
              <a:avLst/>
            </a:prstGeom>
            <a:solidFill>
              <a:srgbClr val="6B7078"/>
            </a:solidFill>
            <a:ln>
              <a:noFill/>
            </a:ln>
          </p:spPr>
          <p:txBody>
            <a:bodyPr rtlCol="0" anchor="ctr"/>
            <a:lstStyle/>
            <a:p>
              <a:pPr algn="ctr"/>
              <a:endParaRPr/>
            </a:p>
          </p:txBody>
        </p:sp>
        <p:sp>
          <p:nvSpPr>
            <p:cNvPr id="47" name="pane text bar"/>
            <p:cNvSpPr/>
            <p:nvPr/>
          </p:nvSpPr>
          <p:spPr>
            <a:xfrm>
              <a:off x="8778240" y="3657599"/>
              <a:ext cx="1415491" cy="91440"/>
            </a:xfrm>
            <a:prstGeom prst="rect">
              <a:avLst/>
            </a:prstGeom>
            <a:solidFill>
              <a:srgbClr val="6B7078"/>
            </a:solidFill>
            <a:ln>
              <a:noFill/>
            </a:ln>
          </p:spPr>
          <p:txBody>
            <a:bodyPr rtlCol="0" anchor="ctr"/>
            <a:lstStyle/>
            <a:p>
              <a:pPr algn="ctr"/>
              <a:endParaRPr/>
            </a:p>
          </p:txBody>
        </p:sp>
        <p:sp>
          <p:nvSpPr>
            <p:cNvPr id="48" name="step square"/>
            <p:cNvSpPr/>
            <p:nvPr/>
          </p:nvSpPr>
          <p:spPr>
            <a:xfrm>
              <a:off x="8778240" y="4114800"/>
              <a:ext cx="182880" cy="182880"/>
            </a:xfrm>
            <a:prstGeom prst="rect">
              <a:avLst/>
            </a:prstGeom>
            <a:solidFill>
              <a:srgbClr val="F28C28"/>
            </a:solidFill>
            <a:ln>
              <a:noFill/>
            </a:ln>
          </p:spPr>
          <p:txBody>
            <a:bodyPr rtlCol="0" anchor="ctr"/>
            <a:lstStyle/>
            <a:p>
              <a:pPr algn="ctr"/>
              <a:endParaRPr/>
            </a:p>
          </p:txBody>
        </p:sp>
        <p:sp>
          <p:nvSpPr>
            <p:cNvPr id="49" name="step square"/>
            <p:cNvSpPr/>
            <p:nvPr/>
          </p:nvSpPr>
          <p:spPr>
            <a:xfrm>
              <a:off x="9070848" y="4114800"/>
              <a:ext cx="182880" cy="182880"/>
            </a:xfrm>
            <a:prstGeom prst="rect">
              <a:avLst/>
            </a:prstGeom>
            <a:solidFill>
              <a:srgbClr val="F28C28"/>
            </a:solidFill>
            <a:ln>
              <a:noFill/>
            </a:ln>
          </p:spPr>
          <p:txBody>
            <a:bodyPr rtlCol="0" anchor="ctr"/>
            <a:lstStyle/>
            <a:p>
              <a:pPr algn="ctr"/>
              <a:endParaRPr/>
            </a:p>
          </p:txBody>
        </p:sp>
        <p:sp>
          <p:nvSpPr>
            <p:cNvPr id="50" name="step square"/>
            <p:cNvSpPr/>
            <p:nvPr/>
          </p:nvSpPr>
          <p:spPr>
            <a:xfrm>
              <a:off x="9363456" y="4114800"/>
              <a:ext cx="182880" cy="182880"/>
            </a:xfrm>
            <a:prstGeom prst="rect">
              <a:avLst/>
            </a:prstGeom>
            <a:solidFill>
              <a:srgbClr val="6B7078"/>
            </a:solidFill>
            <a:ln>
              <a:noFill/>
            </a:ln>
          </p:spPr>
          <p:txBody>
            <a:bodyPr rtlCol="0" anchor="ctr"/>
            <a:lstStyle/>
            <a:p>
              <a:pPr algn="ctr"/>
              <a:endParaRPr/>
            </a:p>
          </p:txBody>
        </p:sp>
        <p:sp>
          <p:nvSpPr>
            <p:cNvPr id="51" name="step square"/>
            <p:cNvSpPr/>
            <p:nvPr/>
          </p:nvSpPr>
          <p:spPr>
            <a:xfrm>
              <a:off x="9656063" y="4114800"/>
              <a:ext cx="182880" cy="182880"/>
            </a:xfrm>
            <a:prstGeom prst="rect">
              <a:avLst/>
            </a:prstGeom>
            <a:solidFill>
              <a:srgbClr val="6B7078"/>
            </a:solidFill>
            <a:ln>
              <a:noFill/>
            </a:ln>
          </p:spPr>
          <p:txBody>
            <a:bodyPr rtlCol="0" anchor="ctr"/>
            <a:lstStyle/>
            <a:p>
              <a:pPr algn="ctr"/>
              <a:endParaRPr/>
            </a:p>
          </p:txBody>
        </p:sp>
        <p:sp>
          <p:nvSpPr>
            <p:cNvPr id="52" name="step square"/>
            <p:cNvSpPr/>
            <p:nvPr/>
          </p:nvSpPr>
          <p:spPr>
            <a:xfrm>
              <a:off x="9948672" y="4114800"/>
              <a:ext cx="182880" cy="182880"/>
            </a:xfrm>
            <a:prstGeom prst="rect">
              <a:avLst/>
            </a:prstGeom>
            <a:solidFill>
              <a:srgbClr val="6B7078"/>
            </a:solidFill>
            <a:ln>
              <a:noFill/>
            </a:ln>
          </p:spPr>
          <p:txBody>
            <a:bodyPr rtlCol="0" anchor="ctr"/>
            <a:lstStyle/>
            <a:p>
              <a:pPr algn="ctr"/>
              <a:endParaRPr/>
            </a:p>
          </p:txBody>
        </p:sp>
      </p:grpSp>
      <p:sp>
        <p:nvSpPr>
          <p:cNvPr id="53" name="note card"/>
          <p:cNvSpPr/>
          <p:nvPr/>
        </p:nvSpPr>
        <p:spPr>
          <a:xfrm>
            <a:off x="548640" y="5230368"/>
            <a:ext cx="2788920" cy="411480"/>
          </a:xfrm>
          <a:prstGeom prst="roundRect">
            <a:avLst>
              <a:gd name="adj" fmla="val 17777"/>
            </a:avLst>
          </a:prstGeom>
          <a:solidFill>
            <a:srgbClr val="2B2F36"/>
          </a:solidFill>
          <a:ln>
            <a:noFill/>
          </a:ln>
        </p:spPr>
        <p:txBody>
          <a:bodyPr wrap="square" lIns="54864" tIns="27432" rIns="54864" bIns="27432" rtlCol="0" anchor="ctr">
            <a:noAutofit/>
          </a:bodyPr>
          <a:lstStyle/>
          <a:p>
            <a:pPr algn="ctr"/>
            <a:r>
              <a:rPr lang="en-GB" sz="1800" b="1" i="0">
                <a:solidFill>
                  <a:srgbClr val="F2F2F2"/>
                </a:solidFill>
                <a:latin typeface="Arial"/>
              </a:rPr>
              <a:t>A look, not a story.</a:t>
            </a:r>
          </a:p>
        </p:txBody>
      </p:sp>
      <p:sp>
        <p:nvSpPr>
          <p:cNvPr id="54" name="ICHIP"/>
          <p:cNvSpPr/>
          <p:nvPr/>
        </p:nvSpPr>
        <p:spPr>
          <a:xfrm>
            <a:off x="8701601" y="5280660"/>
            <a:ext cx="293871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Final layout: undecided (OQ15)</a:t>
            </a:r>
          </a:p>
        </p:txBody>
      </p:sp>
      <p:sp>
        <p:nvSpPr>
          <p:cNvPr id="5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5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57"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 library looks like an older, simpler FICSIT screen.</a:t>
            </a:r>
          </a:p>
        </p:txBody>
      </p:sp>
      <p:sp>
        <p:nvSpPr>
          <p:cNvPr id="58"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10</a:t>
            </a:r>
          </a:p>
        </p:txBody>
      </p:sp>
    </p:spTree>
    <p:extLst>
      <p:ext uri="{BB962C8B-B14F-4D97-AF65-F5344CB8AC3E}">
        <p14:creationId xmlns:p14="http://schemas.microsoft.com/office/powerpoint/2010/main" val="8474627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3"/>
                                        </p:tgtEl>
                                        <p:attrNameLst>
                                          <p:attrName>style.visibility</p:attrName>
                                        </p:attrNameLst>
                                      </p:cBhvr>
                                      <p:to>
                                        <p:strVal val="visible"/>
                                      </p:to>
                                    </p:set>
                                    <p:animEffect transition="in" filter="fade">
                                      <p:cBhvr>
                                        <p:cTn id="10" dur="500"/>
                                        <p:tgtEl>
                                          <p:spTgt spid="53"/>
                                        </p:tgtEl>
                                      </p:cBhvr>
                                    </p:animEffect>
                                  </p:childTnLst>
                                </p:cTn>
                              </p:par>
                              <p:par>
                                <p:cTn id="11" presetID="10" presetClass="entr" presetSubtype="0" fill="hold" nodeType="withEffect">
                                  <p:stCondLst>
                                    <p:cond delay="600"/>
                                  </p:stCondLst>
                                  <p:childTnLst>
                                    <p:set>
                                      <p:cBhvr>
                                        <p:cTn id="12" dur="1" fill="hold">
                                          <p:stCondLst>
                                            <p:cond delay="0"/>
                                          </p:stCondLst>
                                        </p:cTn>
                                        <p:tgtEl>
                                          <p:spTgt spid="54"/>
                                        </p:tgtEl>
                                        <p:attrNameLst>
                                          <p:attrName>style.visibility</p:attrName>
                                        </p:attrNameLst>
                                      </p:cBhvr>
                                      <p:to>
                                        <p:strVal val="visible"/>
                                      </p:to>
                                    </p:set>
                                    <p:animEffect transition="in" filter="fade">
                                      <p:cBhvr>
                                        <p:cTn id="13" dur="500"/>
                                        <p:tgtEl>
                                          <p:spTgt spid="54"/>
                                        </p:tgtEl>
                                      </p:cBhvr>
                                    </p:animEffect>
                                  </p:childTnLst>
                                </p:cTn>
                              </p:par>
                              <p:par>
                                <p:cTn id="14" presetID="10" presetClass="entr" presetSubtype="0" fill="hold" nodeType="withEffect">
                                  <p:stCondLst>
                                    <p:cond delay="900"/>
                                  </p:stCondLst>
                                  <p:childTnLst>
                                    <p:set>
                                      <p:cBhvr>
                                        <p:cTn id="15" dur="1" fill="hold">
                                          <p:stCondLst>
                                            <p:cond delay="0"/>
                                          </p:stCondLst>
                                        </p:cTn>
                                        <p:tgtEl>
                                          <p:spTgt spid="55"/>
                                        </p:tgtEl>
                                        <p:attrNameLst>
                                          <p:attrName>style.visibility</p:attrName>
                                        </p:attrNameLst>
                                      </p:cBhvr>
                                      <p:to>
                                        <p:strVal val="visible"/>
                                      </p:to>
                                    </p:set>
                                    <p:animEffect transition="in" filter="fade">
                                      <p:cBhvr>
                                        <p:cTn id="16" dur="500"/>
                                        <p:tgtEl>
                                          <p:spTgt spid="55"/>
                                        </p:tgtEl>
                                      </p:cBhvr>
                                    </p:animEffect>
                                  </p:childTnLst>
                                </p:cTn>
                              </p:par>
                              <p:par>
                                <p:cTn id="17" presetID="10" presetClass="entr" presetSubtype="0" fill="hold" nodeType="withEffect">
                                  <p:stCondLst>
                                    <p:cond delay="120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500"/>
                                        <p:tgtEl>
                                          <p:spTgt spid="56"/>
                                        </p:tgtEl>
                                      </p:cBhvr>
                                    </p:animEffect>
                                  </p:childTnLst>
                                </p:cTn>
                              </p:par>
                              <p:par>
                                <p:cTn id="20" presetID="10" presetClass="entr" presetSubtype="0" fill="hold" nodeType="withEffect">
                                  <p:stCondLst>
                                    <p:cond delay="1500"/>
                                  </p:stCondLst>
                                  <p:childTnLst>
                                    <p:set>
                                      <p:cBhvr>
                                        <p:cTn id="21" dur="1" fill="hold">
                                          <p:stCondLst>
                                            <p:cond delay="0"/>
                                          </p:stCondLst>
                                        </p:cTn>
                                        <p:tgtEl>
                                          <p:spTgt spid="57"/>
                                        </p:tgtEl>
                                        <p:attrNameLst>
                                          <p:attrName>style.visibility</p:attrName>
                                        </p:attrNameLst>
                                      </p:cBhvr>
                                      <p:to>
                                        <p:strVal val="visible"/>
                                      </p:to>
                                    </p:set>
                                    <p:animEffect transition="in" filter="fade">
                                      <p:cBhvr>
                                        <p:cTn id="2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surprise on first unlock</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Four-step storyboard" descr="A four-step storyboard. One: the usual announcement. Two: the screen glitches. Three: a retro jingle plays. Four: the guide says hello."/>
          <p:cNvGrpSpPr/>
          <p:nvPr/>
        </p:nvGrpSpPr>
        <p:grpSpPr>
          <a:xfrm>
            <a:off x="548640" y="1417320"/>
            <a:ext cx="11089843" cy="3246120"/>
            <a:chOff x="548640" y="1417320"/>
            <a:chExt cx="11089843" cy="3246120"/>
          </a:xfrm>
        </p:grpSpPr>
        <p:sp>
          <p:nvSpPr>
            <p:cNvPr id="5" name="step card"/>
            <p:cNvSpPr/>
            <p:nvPr/>
          </p:nvSpPr>
          <p:spPr>
            <a:xfrm>
              <a:off x="548640" y="1417320"/>
              <a:ext cx="2514600" cy="3246120"/>
            </a:xfrm>
            <a:prstGeom prst="roundRect">
              <a:avLst>
                <a:gd name="adj" fmla="val 2909"/>
              </a:avLst>
            </a:prstGeom>
            <a:solidFill>
              <a:srgbClr val="2B2F36"/>
            </a:solidFill>
            <a:ln w="19050">
              <a:solidFill>
                <a:srgbClr val="4A515B"/>
              </a:solidFill>
            </a:ln>
          </p:spPr>
          <p:txBody>
            <a:bodyPr rtlCol="0" anchor="ctr"/>
            <a:lstStyle/>
            <a:p>
              <a:pPr algn="ctr"/>
              <a:endParaRPr/>
            </a:p>
          </p:txBody>
        </p:sp>
        <p:sp>
          <p:nvSpPr>
            <p:cNvPr id="6" name="mock screen"/>
            <p:cNvSpPr/>
            <p:nvPr/>
          </p:nvSpPr>
          <p:spPr>
            <a:xfrm>
              <a:off x="731520" y="1965960"/>
              <a:ext cx="2148840" cy="1645920"/>
            </a:xfrm>
            <a:prstGeom prst="roundRect">
              <a:avLst>
                <a:gd name="adj" fmla="val 3333"/>
              </a:avLst>
            </a:prstGeom>
            <a:solidFill>
              <a:srgbClr val="1B1D21"/>
            </a:solidFill>
            <a:ln w="25400">
              <a:solidFill>
                <a:srgbClr val="9AA0A6"/>
              </a:solidFill>
            </a:ln>
          </p:spPr>
          <p:txBody>
            <a:bodyPr rtlCol="0" anchor="ctr"/>
            <a:lstStyle/>
            <a:p>
              <a:pPr algn="ctr"/>
              <a:endParaRPr/>
            </a:p>
          </p:txBody>
        </p:sp>
        <p:sp>
          <p:nvSpPr>
            <p:cNvPr id="7" name="step badge"/>
            <p:cNvSpPr/>
            <p:nvPr/>
          </p:nvSpPr>
          <p:spPr>
            <a:xfrm>
              <a:off x="640080" y="1508760"/>
              <a:ext cx="457200" cy="45720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1</a:t>
              </a:r>
            </a:p>
          </p:txBody>
        </p:sp>
        <p:sp>
          <p:nvSpPr>
            <p:cNvPr id="8" name="step label"/>
            <p:cNvSpPr txBox="1"/>
            <p:nvPr/>
          </p:nvSpPr>
          <p:spPr>
            <a:xfrm>
              <a:off x="685800" y="3749039"/>
              <a:ext cx="2240280" cy="777240"/>
            </a:xfrm>
            <a:prstGeom prst="rect">
              <a:avLst/>
            </a:prstGeom>
            <a:noFill/>
          </p:spPr>
          <p:txBody>
            <a:bodyPr wrap="square" lIns="18288" tIns="9144" rIns="18288" bIns="9144" anchor="ctr">
              <a:noAutofit/>
            </a:bodyPr>
            <a:lstStyle/>
            <a:p>
              <a:pPr algn="ctr"/>
              <a:r>
                <a:rPr lang="en-GB" sz="2000" b="1" i="0">
                  <a:solidFill>
                    <a:srgbClr val="F2F2F2"/>
                  </a:solidFill>
                  <a:latin typeface="Arial"/>
                </a:rPr>
                <a:t>Usual announcement</a:t>
              </a:r>
            </a:p>
          </p:txBody>
        </p:sp>
        <p:sp>
          <p:nvSpPr>
            <p:cNvPr id="9" name="announcement banner"/>
            <p:cNvSpPr/>
            <p:nvPr/>
          </p:nvSpPr>
          <p:spPr>
            <a:xfrm>
              <a:off x="914400" y="2423160"/>
              <a:ext cx="1783080" cy="731520"/>
            </a:xfrm>
            <a:prstGeom prst="roundRect">
              <a:avLst>
                <a:gd name="adj" fmla="val 10000"/>
              </a:avLst>
            </a:prstGeom>
            <a:solidFill>
              <a:srgbClr val="5B6672"/>
            </a:solidFill>
            <a:ln>
              <a:noFill/>
            </a:ln>
          </p:spPr>
          <p:txBody>
            <a:bodyPr rtlCol="0" anchor="ctr"/>
            <a:lstStyle/>
            <a:p>
              <a:pPr algn="ctr"/>
              <a:endParaRPr/>
            </a:p>
          </p:txBody>
        </p:sp>
        <p:sp>
          <p:nvSpPr>
            <p:cNvPr id="10" name="banner dot ring"/>
            <p:cNvSpPr/>
            <p:nvPr/>
          </p:nvSpPr>
          <p:spPr>
            <a:xfrm>
              <a:off x="1024128" y="2560320"/>
              <a:ext cx="457200" cy="457200"/>
            </a:xfrm>
            <a:prstGeom prst="ellipse">
              <a:avLst/>
            </a:prstGeom>
            <a:noFill/>
            <a:ln w="38100">
              <a:solidFill>
                <a:srgbClr val="F2F2F2"/>
              </a:solidFill>
            </a:ln>
          </p:spPr>
          <p:txBody>
            <a:bodyPr rtlCol="0" anchor="ctr"/>
            <a:lstStyle/>
            <a:p>
              <a:pPr algn="ctr"/>
              <a:endParaRPr/>
            </a:p>
          </p:txBody>
        </p:sp>
        <p:sp>
          <p:nvSpPr>
            <p:cNvPr id="11" name="banner dot"/>
            <p:cNvSpPr/>
            <p:nvPr/>
          </p:nvSpPr>
          <p:spPr>
            <a:xfrm>
              <a:off x="1188720" y="2724912"/>
              <a:ext cx="128016" cy="128016"/>
            </a:xfrm>
            <a:prstGeom prst="ellipse">
              <a:avLst/>
            </a:prstGeom>
            <a:solidFill>
              <a:srgbClr val="F2F2F2"/>
            </a:solidFill>
            <a:ln>
              <a:noFill/>
            </a:ln>
          </p:spPr>
          <p:txBody>
            <a:bodyPr rtlCol="0" anchor="ctr"/>
            <a:lstStyle/>
            <a:p>
              <a:pPr algn="ctr"/>
              <a:endParaRPr/>
            </a:p>
          </p:txBody>
        </p:sp>
        <p:sp>
          <p:nvSpPr>
            <p:cNvPr id="12" name="banner line"/>
            <p:cNvSpPr/>
            <p:nvPr/>
          </p:nvSpPr>
          <p:spPr>
            <a:xfrm>
              <a:off x="1645920" y="2606039"/>
              <a:ext cx="822960" cy="91440"/>
            </a:xfrm>
            <a:prstGeom prst="rect">
              <a:avLst/>
            </a:prstGeom>
            <a:solidFill>
              <a:srgbClr val="F2F2F2"/>
            </a:solidFill>
            <a:ln>
              <a:noFill/>
            </a:ln>
          </p:spPr>
          <p:txBody>
            <a:bodyPr rtlCol="0" anchor="ctr"/>
            <a:lstStyle/>
            <a:p>
              <a:pPr algn="ctr"/>
              <a:endParaRPr/>
            </a:p>
          </p:txBody>
        </p:sp>
        <p:sp>
          <p:nvSpPr>
            <p:cNvPr id="13" name="banner line"/>
            <p:cNvSpPr/>
            <p:nvPr/>
          </p:nvSpPr>
          <p:spPr>
            <a:xfrm>
              <a:off x="1645920" y="2816352"/>
              <a:ext cx="594360" cy="91440"/>
            </a:xfrm>
            <a:prstGeom prst="rect">
              <a:avLst/>
            </a:prstGeom>
            <a:solidFill>
              <a:srgbClr val="F2F2F2"/>
            </a:solidFill>
            <a:ln>
              <a:noFill/>
            </a:ln>
          </p:spPr>
          <p:txBody>
            <a:bodyPr rtlCol="0" anchor="ctr"/>
            <a:lstStyle/>
            <a:p>
              <a:pPr algn="ctr"/>
              <a:endParaRPr/>
            </a:p>
          </p:txBody>
        </p:sp>
        <p:cxnSp>
          <p:nvCxnSpPr>
            <p:cNvPr id="14" name="step arrow"/>
            <p:cNvCxnSpPr/>
            <p:nvPr/>
          </p:nvCxnSpPr>
          <p:spPr>
            <a:xfrm>
              <a:off x="3090672" y="2788920"/>
              <a:ext cx="288950" cy="0"/>
            </a:xfrm>
            <a:prstGeom prst="line">
              <a:avLst/>
            </a:prstGeom>
            <a:ln w="38100">
              <a:solidFill>
                <a:srgbClr val="F28C28"/>
              </a:solidFill>
              <a:tailEnd type="triangle" w="med" len="med"/>
            </a:ln>
          </p:spPr>
        </p:cxnSp>
        <p:sp>
          <p:nvSpPr>
            <p:cNvPr id="15" name="step card"/>
            <p:cNvSpPr/>
            <p:nvPr/>
          </p:nvSpPr>
          <p:spPr>
            <a:xfrm>
              <a:off x="3407054" y="1417320"/>
              <a:ext cx="2514600" cy="3246120"/>
            </a:xfrm>
            <a:prstGeom prst="roundRect">
              <a:avLst>
                <a:gd name="adj" fmla="val 2909"/>
              </a:avLst>
            </a:prstGeom>
            <a:solidFill>
              <a:srgbClr val="2B2F36"/>
            </a:solidFill>
            <a:ln w="19050">
              <a:solidFill>
                <a:srgbClr val="4A515B"/>
              </a:solidFill>
            </a:ln>
          </p:spPr>
          <p:txBody>
            <a:bodyPr rtlCol="0" anchor="ctr"/>
            <a:lstStyle/>
            <a:p>
              <a:pPr algn="ctr"/>
              <a:endParaRPr/>
            </a:p>
          </p:txBody>
        </p:sp>
        <p:sp>
          <p:nvSpPr>
            <p:cNvPr id="16" name="mock screen"/>
            <p:cNvSpPr/>
            <p:nvPr/>
          </p:nvSpPr>
          <p:spPr>
            <a:xfrm>
              <a:off x="3589934" y="1965960"/>
              <a:ext cx="2148840" cy="1645920"/>
            </a:xfrm>
            <a:prstGeom prst="roundRect">
              <a:avLst>
                <a:gd name="adj" fmla="val 3333"/>
              </a:avLst>
            </a:prstGeom>
            <a:solidFill>
              <a:srgbClr val="1B1D21"/>
            </a:solidFill>
            <a:ln w="25400">
              <a:solidFill>
                <a:srgbClr val="9AA0A6"/>
              </a:solidFill>
            </a:ln>
          </p:spPr>
          <p:txBody>
            <a:bodyPr rtlCol="0" anchor="ctr"/>
            <a:lstStyle/>
            <a:p>
              <a:pPr algn="ctr"/>
              <a:endParaRPr/>
            </a:p>
          </p:txBody>
        </p:sp>
        <p:sp>
          <p:nvSpPr>
            <p:cNvPr id="17" name="step badge"/>
            <p:cNvSpPr/>
            <p:nvPr/>
          </p:nvSpPr>
          <p:spPr>
            <a:xfrm>
              <a:off x="3498494" y="1508760"/>
              <a:ext cx="457200" cy="45720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2</a:t>
              </a:r>
            </a:p>
          </p:txBody>
        </p:sp>
        <p:sp>
          <p:nvSpPr>
            <p:cNvPr id="18" name="step label"/>
            <p:cNvSpPr txBox="1"/>
            <p:nvPr/>
          </p:nvSpPr>
          <p:spPr>
            <a:xfrm>
              <a:off x="3544214" y="3749039"/>
              <a:ext cx="2240280" cy="777240"/>
            </a:xfrm>
            <a:prstGeom prst="rect">
              <a:avLst/>
            </a:prstGeom>
            <a:noFill/>
          </p:spPr>
          <p:txBody>
            <a:bodyPr wrap="square" lIns="18288" tIns="9144" rIns="18288" bIns="9144" anchor="ctr">
              <a:noAutofit/>
            </a:bodyPr>
            <a:lstStyle/>
            <a:p>
              <a:pPr algn="ctr"/>
              <a:r>
                <a:rPr lang="en-GB" sz="2000" b="1" i="0">
                  <a:solidFill>
                    <a:srgbClr val="F2F2F2"/>
                  </a:solidFill>
                  <a:latin typeface="Arial"/>
                </a:rPr>
                <a:t>Screen glitches</a:t>
              </a:r>
            </a:p>
          </p:txBody>
        </p:sp>
        <p:sp>
          <p:nvSpPr>
            <p:cNvPr id="19" name="glitch slice"/>
            <p:cNvSpPr/>
            <p:nvPr/>
          </p:nvSpPr>
          <p:spPr>
            <a:xfrm>
              <a:off x="3772814" y="2331720"/>
              <a:ext cx="1783080" cy="137160"/>
            </a:xfrm>
            <a:prstGeom prst="rect">
              <a:avLst/>
            </a:prstGeom>
            <a:solidFill>
              <a:srgbClr val="5B6672"/>
            </a:solidFill>
            <a:ln>
              <a:noFill/>
            </a:ln>
          </p:spPr>
          <p:txBody>
            <a:bodyPr rtlCol="0" anchor="ctr"/>
            <a:lstStyle/>
            <a:p>
              <a:pPr algn="ctr"/>
              <a:endParaRPr/>
            </a:p>
          </p:txBody>
        </p:sp>
        <p:sp>
          <p:nvSpPr>
            <p:cNvPr id="20" name="glitch slice"/>
            <p:cNvSpPr/>
            <p:nvPr/>
          </p:nvSpPr>
          <p:spPr>
            <a:xfrm>
              <a:off x="4028846" y="2487168"/>
              <a:ext cx="1783080" cy="137160"/>
            </a:xfrm>
            <a:prstGeom prst="rect">
              <a:avLst/>
            </a:prstGeom>
            <a:solidFill>
              <a:srgbClr val="7C8896"/>
            </a:solidFill>
            <a:ln>
              <a:noFill/>
            </a:ln>
          </p:spPr>
          <p:txBody>
            <a:bodyPr rtlCol="0" anchor="ctr"/>
            <a:lstStyle/>
            <a:p>
              <a:pPr algn="ctr"/>
              <a:endParaRPr/>
            </a:p>
          </p:txBody>
        </p:sp>
        <p:sp>
          <p:nvSpPr>
            <p:cNvPr id="21" name="glitch slice"/>
            <p:cNvSpPr/>
            <p:nvPr/>
          </p:nvSpPr>
          <p:spPr>
            <a:xfrm>
              <a:off x="3589934" y="2642615"/>
              <a:ext cx="1783080" cy="137160"/>
            </a:xfrm>
            <a:prstGeom prst="rect">
              <a:avLst/>
            </a:prstGeom>
            <a:solidFill>
              <a:srgbClr val="5B6672"/>
            </a:solidFill>
            <a:ln>
              <a:noFill/>
            </a:ln>
          </p:spPr>
          <p:txBody>
            <a:bodyPr rtlCol="0" anchor="ctr"/>
            <a:lstStyle/>
            <a:p>
              <a:pPr algn="ctr"/>
              <a:endParaRPr/>
            </a:p>
          </p:txBody>
        </p:sp>
        <p:sp>
          <p:nvSpPr>
            <p:cNvPr id="22" name="glitch slice"/>
            <p:cNvSpPr/>
            <p:nvPr/>
          </p:nvSpPr>
          <p:spPr>
            <a:xfrm>
              <a:off x="3937406" y="2798063"/>
              <a:ext cx="1783080" cy="137160"/>
            </a:xfrm>
            <a:prstGeom prst="rect">
              <a:avLst/>
            </a:prstGeom>
            <a:solidFill>
              <a:srgbClr val="7C8896"/>
            </a:solidFill>
            <a:ln>
              <a:noFill/>
            </a:ln>
          </p:spPr>
          <p:txBody>
            <a:bodyPr rtlCol="0" anchor="ctr"/>
            <a:lstStyle/>
            <a:p>
              <a:pPr algn="ctr"/>
              <a:endParaRPr/>
            </a:p>
          </p:txBody>
        </p:sp>
        <p:sp>
          <p:nvSpPr>
            <p:cNvPr id="23" name="glitch slice"/>
            <p:cNvSpPr/>
            <p:nvPr/>
          </p:nvSpPr>
          <p:spPr>
            <a:xfrm>
              <a:off x="3681374" y="2953512"/>
              <a:ext cx="1783080" cy="137160"/>
            </a:xfrm>
            <a:prstGeom prst="rect">
              <a:avLst/>
            </a:prstGeom>
            <a:solidFill>
              <a:srgbClr val="5B6672"/>
            </a:solidFill>
            <a:ln>
              <a:noFill/>
            </a:ln>
          </p:spPr>
          <p:txBody>
            <a:bodyPr rtlCol="0" anchor="ctr"/>
            <a:lstStyle/>
            <a:p>
              <a:pPr algn="ctr"/>
              <a:endParaRPr/>
            </a:p>
          </p:txBody>
        </p:sp>
        <p:sp>
          <p:nvSpPr>
            <p:cNvPr id="24" name="glitch noise"/>
            <p:cNvSpPr/>
            <p:nvPr/>
          </p:nvSpPr>
          <p:spPr>
            <a:xfrm>
              <a:off x="3681374" y="3200400"/>
              <a:ext cx="548640" cy="36576"/>
            </a:xfrm>
            <a:prstGeom prst="rect">
              <a:avLst/>
            </a:prstGeom>
            <a:solidFill>
              <a:srgbClr val="F28C28"/>
            </a:solidFill>
            <a:ln>
              <a:noFill/>
            </a:ln>
          </p:spPr>
          <p:txBody>
            <a:bodyPr rtlCol="0" anchor="ctr"/>
            <a:lstStyle/>
            <a:p>
              <a:pPr algn="ctr"/>
              <a:endParaRPr/>
            </a:p>
          </p:txBody>
        </p:sp>
        <p:sp>
          <p:nvSpPr>
            <p:cNvPr id="25" name="glitch noise"/>
            <p:cNvSpPr/>
            <p:nvPr/>
          </p:nvSpPr>
          <p:spPr>
            <a:xfrm>
              <a:off x="4687214" y="3282696"/>
              <a:ext cx="457200" cy="36576"/>
            </a:xfrm>
            <a:prstGeom prst="rect">
              <a:avLst/>
            </a:prstGeom>
            <a:solidFill>
              <a:srgbClr val="F28C28"/>
            </a:solidFill>
            <a:ln>
              <a:noFill/>
            </a:ln>
          </p:spPr>
          <p:txBody>
            <a:bodyPr rtlCol="0" anchor="ctr"/>
            <a:lstStyle/>
            <a:p>
              <a:pPr algn="ctr"/>
              <a:endParaRPr/>
            </a:p>
          </p:txBody>
        </p:sp>
        <p:sp>
          <p:nvSpPr>
            <p:cNvPr id="26" name="glitch noise"/>
            <p:cNvSpPr/>
            <p:nvPr/>
          </p:nvSpPr>
          <p:spPr>
            <a:xfrm>
              <a:off x="4047134" y="3364992"/>
              <a:ext cx="365760" cy="36576"/>
            </a:xfrm>
            <a:prstGeom prst="rect">
              <a:avLst/>
            </a:prstGeom>
            <a:solidFill>
              <a:srgbClr val="F28C28"/>
            </a:solidFill>
            <a:ln>
              <a:noFill/>
            </a:ln>
          </p:spPr>
          <p:txBody>
            <a:bodyPr rtlCol="0" anchor="ctr"/>
            <a:lstStyle/>
            <a:p>
              <a:pPr algn="ctr"/>
              <a:endParaRPr/>
            </a:p>
          </p:txBody>
        </p:sp>
        <p:sp>
          <p:nvSpPr>
            <p:cNvPr id="27" name="glitch zigzag"/>
            <p:cNvSpPr/>
            <p:nvPr/>
          </p:nvSpPr>
          <p:spPr>
            <a:xfrm>
              <a:off x="5235854" y="2194560"/>
              <a:ext cx="182880" cy="640079"/>
            </a:xfrm>
            <a:custGeom>
              <a:avLst/>
              <a:gdLst/>
              <a:ahLst/>
              <a:cxnLst/>
              <a:rect l="l" t="t" r="r" b="b"/>
              <a:pathLst>
                <a:path w="182880" h="640079">
                  <a:moveTo>
                    <a:pt x="0" y="0"/>
                  </a:moveTo>
                  <a:lnTo>
                    <a:pt x="137160" y="228600"/>
                  </a:lnTo>
                  <a:lnTo>
                    <a:pt x="0" y="320040"/>
                  </a:lnTo>
                  <a:lnTo>
                    <a:pt x="182880" y="640079"/>
                  </a:lnTo>
                </a:path>
              </a:pathLst>
            </a:custGeom>
            <a:noFill/>
            <a:ln w="38100">
              <a:solidFill>
                <a:srgbClr val="F2C14E"/>
              </a:solidFill>
            </a:ln>
          </p:spPr>
          <p:txBody>
            <a:bodyPr rtlCol="0" anchor="ctr"/>
            <a:lstStyle/>
            <a:p>
              <a:pPr algn="ctr"/>
              <a:endParaRPr/>
            </a:p>
          </p:txBody>
        </p:sp>
        <p:cxnSp>
          <p:nvCxnSpPr>
            <p:cNvPr id="28" name="step arrow"/>
            <p:cNvCxnSpPr/>
            <p:nvPr/>
          </p:nvCxnSpPr>
          <p:spPr>
            <a:xfrm>
              <a:off x="5949086" y="2788920"/>
              <a:ext cx="288950" cy="0"/>
            </a:xfrm>
            <a:prstGeom prst="line">
              <a:avLst/>
            </a:prstGeom>
            <a:ln w="38100">
              <a:solidFill>
                <a:srgbClr val="F28C28"/>
              </a:solidFill>
              <a:tailEnd type="triangle" w="med" len="med"/>
            </a:ln>
          </p:spPr>
        </p:cxnSp>
        <p:sp>
          <p:nvSpPr>
            <p:cNvPr id="29" name="step card"/>
            <p:cNvSpPr/>
            <p:nvPr/>
          </p:nvSpPr>
          <p:spPr>
            <a:xfrm>
              <a:off x="6265468" y="1417320"/>
              <a:ext cx="2514600" cy="3246120"/>
            </a:xfrm>
            <a:prstGeom prst="roundRect">
              <a:avLst>
                <a:gd name="adj" fmla="val 2909"/>
              </a:avLst>
            </a:prstGeom>
            <a:solidFill>
              <a:srgbClr val="2B2F36"/>
            </a:solidFill>
            <a:ln w="19050">
              <a:solidFill>
                <a:srgbClr val="4A515B"/>
              </a:solidFill>
            </a:ln>
          </p:spPr>
          <p:txBody>
            <a:bodyPr rtlCol="0" anchor="ctr"/>
            <a:lstStyle/>
            <a:p>
              <a:pPr algn="ctr"/>
              <a:endParaRPr/>
            </a:p>
          </p:txBody>
        </p:sp>
        <p:sp>
          <p:nvSpPr>
            <p:cNvPr id="30" name="mock screen"/>
            <p:cNvSpPr/>
            <p:nvPr/>
          </p:nvSpPr>
          <p:spPr>
            <a:xfrm>
              <a:off x="6448348" y="1965960"/>
              <a:ext cx="2148840" cy="1645920"/>
            </a:xfrm>
            <a:prstGeom prst="roundRect">
              <a:avLst>
                <a:gd name="adj" fmla="val 3333"/>
              </a:avLst>
            </a:prstGeom>
            <a:solidFill>
              <a:srgbClr val="1B1D21"/>
            </a:solidFill>
            <a:ln w="25400">
              <a:solidFill>
                <a:srgbClr val="9AA0A6"/>
              </a:solidFill>
            </a:ln>
          </p:spPr>
          <p:txBody>
            <a:bodyPr rtlCol="0" anchor="ctr"/>
            <a:lstStyle/>
            <a:p>
              <a:pPr algn="ctr"/>
              <a:endParaRPr/>
            </a:p>
          </p:txBody>
        </p:sp>
        <p:sp>
          <p:nvSpPr>
            <p:cNvPr id="31" name="step badge"/>
            <p:cNvSpPr/>
            <p:nvPr/>
          </p:nvSpPr>
          <p:spPr>
            <a:xfrm>
              <a:off x="6356908" y="1508760"/>
              <a:ext cx="457200" cy="45720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3</a:t>
              </a:r>
            </a:p>
          </p:txBody>
        </p:sp>
        <p:sp>
          <p:nvSpPr>
            <p:cNvPr id="32" name="step label"/>
            <p:cNvSpPr txBox="1"/>
            <p:nvPr/>
          </p:nvSpPr>
          <p:spPr>
            <a:xfrm>
              <a:off x="6402628" y="3749039"/>
              <a:ext cx="2240280" cy="777240"/>
            </a:xfrm>
            <a:prstGeom prst="rect">
              <a:avLst/>
            </a:prstGeom>
            <a:noFill/>
          </p:spPr>
          <p:txBody>
            <a:bodyPr wrap="square" lIns="18288" tIns="9144" rIns="18288" bIns="9144" anchor="ctr">
              <a:noAutofit/>
            </a:bodyPr>
            <a:lstStyle/>
            <a:p>
              <a:pPr algn="ctr"/>
              <a:r>
                <a:rPr lang="en-GB" sz="2000" b="1" i="0">
                  <a:solidFill>
                    <a:srgbClr val="F2F2F2"/>
                  </a:solidFill>
                  <a:latin typeface="Arial"/>
                </a:rPr>
                <a:t>A retro jingle plays</a:t>
              </a:r>
            </a:p>
          </p:txBody>
        </p:sp>
        <p:sp>
          <p:nvSpPr>
            <p:cNvPr id="33" name="note head"/>
            <p:cNvSpPr/>
            <p:nvPr/>
          </p:nvSpPr>
          <p:spPr>
            <a:xfrm>
              <a:off x="7074712" y="3008376"/>
              <a:ext cx="219456" cy="155448"/>
            </a:xfrm>
            <a:prstGeom prst="ellipse">
              <a:avLst/>
            </a:prstGeom>
            <a:solidFill>
              <a:srgbClr val="F28C28"/>
            </a:solidFill>
            <a:ln>
              <a:noFill/>
            </a:ln>
          </p:spPr>
          <p:txBody>
            <a:bodyPr rtlCol="0" anchor="ctr"/>
            <a:lstStyle/>
            <a:p>
              <a:pPr algn="ctr"/>
              <a:endParaRPr/>
            </a:p>
          </p:txBody>
        </p:sp>
        <p:sp>
          <p:nvSpPr>
            <p:cNvPr id="34" name="note stem"/>
            <p:cNvSpPr/>
            <p:nvPr/>
          </p:nvSpPr>
          <p:spPr>
            <a:xfrm>
              <a:off x="7266736" y="2624328"/>
              <a:ext cx="41148" cy="475488"/>
            </a:xfrm>
            <a:prstGeom prst="rect">
              <a:avLst/>
            </a:prstGeom>
            <a:solidFill>
              <a:srgbClr val="F28C28"/>
            </a:solidFill>
            <a:ln>
              <a:noFill/>
            </a:ln>
          </p:spPr>
          <p:txBody>
            <a:bodyPr rtlCol="0" anchor="ctr"/>
            <a:lstStyle/>
            <a:p>
              <a:pPr algn="ctr"/>
              <a:endParaRPr/>
            </a:p>
          </p:txBody>
        </p:sp>
        <p:sp>
          <p:nvSpPr>
            <p:cNvPr id="35" name="note head"/>
            <p:cNvSpPr/>
            <p:nvPr/>
          </p:nvSpPr>
          <p:spPr>
            <a:xfrm>
              <a:off x="7413040" y="2944368"/>
              <a:ext cx="219456" cy="155448"/>
            </a:xfrm>
            <a:prstGeom prst="ellipse">
              <a:avLst/>
            </a:prstGeom>
            <a:solidFill>
              <a:srgbClr val="F28C28"/>
            </a:solidFill>
            <a:ln>
              <a:noFill/>
            </a:ln>
          </p:spPr>
          <p:txBody>
            <a:bodyPr rtlCol="0" anchor="ctr"/>
            <a:lstStyle/>
            <a:p>
              <a:pPr algn="ctr"/>
              <a:endParaRPr/>
            </a:p>
          </p:txBody>
        </p:sp>
        <p:sp>
          <p:nvSpPr>
            <p:cNvPr id="36" name="note stem"/>
            <p:cNvSpPr/>
            <p:nvPr/>
          </p:nvSpPr>
          <p:spPr>
            <a:xfrm>
              <a:off x="7605064" y="2560320"/>
              <a:ext cx="41148" cy="475488"/>
            </a:xfrm>
            <a:prstGeom prst="rect">
              <a:avLst/>
            </a:prstGeom>
            <a:solidFill>
              <a:srgbClr val="F28C28"/>
            </a:solidFill>
            <a:ln>
              <a:noFill/>
            </a:ln>
          </p:spPr>
          <p:txBody>
            <a:bodyPr rtlCol="0" anchor="ctr"/>
            <a:lstStyle/>
            <a:p>
              <a:pPr algn="ctr"/>
              <a:endParaRPr/>
            </a:p>
          </p:txBody>
        </p:sp>
        <p:sp>
          <p:nvSpPr>
            <p:cNvPr id="37" name="note beam"/>
            <p:cNvSpPr/>
            <p:nvPr/>
          </p:nvSpPr>
          <p:spPr>
            <a:xfrm>
              <a:off x="7266736" y="2551176"/>
              <a:ext cx="338328" cy="182880"/>
            </a:xfrm>
            <a:custGeom>
              <a:avLst/>
              <a:gdLst/>
              <a:ahLst/>
              <a:cxnLst/>
              <a:rect l="l" t="t" r="r" b="b"/>
              <a:pathLst>
                <a:path w="338328" h="182880">
                  <a:moveTo>
                    <a:pt x="0" y="73152"/>
                  </a:moveTo>
                  <a:lnTo>
                    <a:pt x="338328" y="0"/>
                  </a:lnTo>
                  <a:lnTo>
                    <a:pt x="338328" y="109728"/>
                  </a:lnTo>
                  <a:lnTo>
                    <a:pt x="0" y="182880"/>
                  </a:lnTo>
                  <a:close/>
                </a:path>
              </a:pathLst>
            </a:custGeom>
            <a:solidFill>
              <a:srgbClr val="F28C28"/>
            </a:solidFill>
            <a:ln>
              <a:noFill/>
            </a:ln>
          </p:spPr>
          <p:txBody>
            <a:bodyPr rtlCol="0" anchor="ctr"/>
            <a:lstStyle/>
            <a:p>
              <a:pPr algn="ctr"/>
              <a:endParaRPr/>
            </a:p>
          </p:txBody>
        </p:sp>
        <p:sp>
          <p:nvSpPr>
            <p:cNvPr id="38" name="sound arc"/>
            <p:cNvSpPr/>
            <p:nvPr/>
          </p:nvSpPr>
          <p:spPr>
            <a:xfrm>
              <a:off x="7915790" y="2640022"/>
              <a:ext cx="64178" cy="352659"/>
            </a:xfrm>
            <a:custGeom>
              <a:avLst/>
              <a:gdLst/>
              <a:ahLst/>
              <a:cxnLst/>
              <a:rect l="l" t="t" r="r" b="b"/>
              <a:pathLst>
                <a:path w="64178" h="352659">
                  <a:moveTo>
                    <a:pt x="0" y="352659"/>
                  </a:moveTo>
                  <a:lnTo>
                    <a:pt x="9897" y="340142"/>
                  </a:lnTo>
                  <a:lnTo>
                    <a:pt x="19049" y="327071"/>
                  </a:lnTo>
                  <a:lnTo>
                    <a:pt x="27426" y="313490"/>
                  </a:lnTo>
                  <a:lnTo>
                    <a:pt x="35000" y="299444"/>
                  </a:lnTo>
                  <a:lnTo>
                    <a:pt x="41743" y="284982"/>
                  </a:lnTo>
                  <a:lnTo>
                    <a:pt x="47635" y="270152"/>
                  </a:lnTo>
                  <a:lnTo>
                    <a:pt x="52654" y="255005"/>
                  </a:lnTo>
                  <a:lnTo>
                    <a:pt x="56784" y="239592"/>
                  </a:lnTo>
                  <a:lnTo>
                    <a:pt x="60011" y="223965"/>
                  </a:lnTo>
                  <a:lnTo>
                    <a:pt x="62323" y="208176"/>
                  </a:lnTo>
                  <a:lnTo>
                    <a:pt x="63714" y="192280"/>
                  </a:lnTo>
                  <a:lnTo>
                    <a:pt x="64178" y="176330"/>
                  </a:lnTo>
                  <a:lnTo>
                    <a:pt x="63714" y="160379"/>
                  </a:lnTo>
                  <a:lnTo>
                    <a:pt x="62323" y="144483"/>
                  </a:lnTo>
                  <a:lnTo>
                    <a:pt x="60011" y="128694"/>
                  </a:lnTo>
                  <a:lnTo>
                    <a:pt x="56784" y="113067"/>
                  </a:lnTo>
                  <a:lnTo>
                    <a:pt x="52654" y="97654"/>
                  </a:lnTo>
                  <a:lnTo>
                    <a:pt x="47635" y="82507"/>
                  </a:lnTo>
                  <a:lnTo>
                    <a:pt x="41743" y="67677"/>
                  </a:lnTo>
                  <a:lnTo>
                    <a:pt x="35000" y="53215"/>
                  </a:lnTo>
                  <a:lnTo>
                    <a:pt x="27426" y="39170"/>
                  </a:lnTo>
                  <a:lnTo>
                    <a:pt x="19049" y="25588"/>
                  </a:lnTo>
                  <a:lnTo>
                    <a:pt x="9897" y="12517"/>
                  </a:lnTo>
                  <a:lnTo>
                    <a:pt x="0" y="0"/>
                  </a:lnTo>
                </a:path>
              </a:pathLst>
            </a:custGeom>
            <a:noFill/>
            <a:ln w="38100">
              <a:solidFill>
                <a:srgbClr val="F28C28"/>
              </a:solidFill>
            </a:ln>
          </p:spPr>
          <p:txBody>
            <a:bodyPr rtlCol="0" anchor="ctr"/>
            <a:lstStyle/>
            <a:p>
              <a:pPr algn="ctr"/>
              <a:endParaRPr/>
            </a:p>
          </p:txBody>
        </p:sp>
        <p:sp>
          <p:nvSpPr>
            <p:cNvPr id="39" name="sound arc"/>
            <p:cNvSpPr/>
            <p:nvPr/>
          </p:nvSpPr>
          <p:spPr>
            <a:xfrm>
              <a:off x="8055884" y="2522469"/>
              <a:ext cx="106964" cy="587765"/>
            </a:xfrm>
            <a:custGeom>
              <a:avLst/>
              <a:gdLst/>
              <a:ahLst/>
              <a:cxnLst/>
              <a:rect l="l" t="t" r="r" b="b"/>
              <a:pathLst>
                <a:path w="106964" h="587765">
                  <a:moveTo>
                    <a:pt x="0" y="587765"/>
                  </a:moveTo>
                  <a:lnTo>
                    <a:pt x="16495" y="566903"/>
                  </a:lnTo>
                  <a:lnTo>
                    <a:pt x="31749" y="545118"/>
                  </a:lnTo>
                  <a:lnTo>
                    <a:pt x="45711" y="522483"/>
                  </a:lnTo>
                  <a:lnTo>
                    <a:pt x="58333" y="499073"/>
                  </a:lnTo>
                  <a:lnTo>
                    <a:pt x="69573" y="474970"/>
                  </a:lnTo>
                  <a:lnTo>
                    <a:pt x="79392" y="450254"/>
                  </a:lnTo>
                  <a:lnTo>
                    <a:pt x="87757" y="425009"/>
                  </a:lnTo>
                  <a:lnTo>
                    <a:pt x="94640" y="399320"/>
                  </a:lnTo>
                  <a:lnTo>
                    <a:pt x="100018" y="373274"/>
                  </a:lnTo>
                  <a:lnTo>
                    <a:pt x="103873" y="346960"/>
                  </a:lnTo>
                  <a:lnTo>
                    <a:pt x="106191" y="320466"/>
                  </a:lnTo>
                  <a:lnTo>
                    <a:pt x="106964" y="293883"/>
                  </a:lnTo>
                  <a:lnTo>
                    <a:pt x="106191" y="267299"/>
                  </a:lnTo>
                  <a:lnTo>
                    <a:pt x="103873" y="240805"/>
                  </a:lnTo>
                  <a:lnTo>
                    <a:pt x="100018" y="214491"/>
                  </a:lnTo>
                  <a:lnTo>
                    <a:pt x="94640" y="188445"/>
                  </a:lnTo>
                  <a:lnTo>
                    <a:pt x="87757" y="162756"/>
                  </a:lnTo>
                  <a:lnTo>
                    <a:pt x="79392" y="137511"/>
                  </a:lnTo>
                  <a:lnTo>
                    <a:pt x="69573" y="112795"/>
                  </a:lnTo>
                  <a:lnTo>
                    <a:pt x="58333" y="88692"/>
                  </a:lnTo>
                  <a:lnTo>
                    <a:pt x="45711" y="65283"/>
                  </a:lnTo>
                  <a:lnTo>
                    <a:pt x="31749" y="42647"/>
                  </a:lnTo>
                  <a:lnTo>
                    <a:pt x="16495" y="20862"/>
                  </a:lnTo>
                  <a:lnTo>
                    <a:pt x="0" y="0"/>
                  </a:lnTo>
                </a:path>
              </a:pathLst>
            </a:custGeom>
            <a:noFill/>
            <a:ln w="38100">
              <a:solidFill>
                <a:srgbClr val="F28C28"/>
              </a:solidFill>
            </a:ln>
          </p:spPr>
          <p:txBody>
            <a:bodyPr rtlCol="0" anchor="ctr"/>
            <a:lstStyle/>
            <a:p>
              <a:pPr algn="ctr"/>
              <a:endParaRPr/>
            </a:p>
          </p:txBody>
        </p:sp>
        <p:sp>
          <p:nvSpPr>
            <p:cNvPr id="40" name="sound arc"/>
            <p:cNvSpPr/>
            <p:nvPr/>
          </p:nvSpPr>
          <p:spPr>
            <a:xfrm>
              <a:off x="8195978" y="2404916"/>
              <a:ext cx="149750" cy="822871"/>
            </a:xfrm>
            <a:custGeom>
              <a:avLst/>
              <a:gdLst/>
              <a:ahLst/>
              <a:cxnLst/>
              <a:rect l="l" t="t" r="r" b="b"/>
              <a:pathLst>
                <a:path w="149750" h="822871">
                  <a:moveTo>
                    <a:pt x="0" y="822871"/>
                  </a:moveTo>
                  <a:lnTo>
                    <a:pt x="23093" y="793665"/>
                  </a:lnTo>
                  <a:lnTo>
                    <a:pt x="44449" y="763165"/>
                  </a:lnTo>
                  <a:lnTo>
                    <a:pt x="63996" y="731476"/>
                  </a:lnTo>
                  <a:lnTo>
                    <a:pt x="81667" y="698703"/>
                  </a:lnTo>
                  <a:lnTo>
                    <a:pt x="97402" y="664958"/>
                  </a:lnTo>
                  <a:lnTo>
                    <a:pt x="111149" y="630356"/>
                  </a:lnTo>
                  <a:lnTo>
                    <a:pt x="122860" y="595013"/>
                  </a:lnTo>
                  <a:lnTo>
                    <a:pt x="132497" y="559048"/>
                  </a:lnTo>
                  <a:lnTo>
                    <a:pt x="140026" y="522584"/>
                  </a:lnTo>
                  <a:lnTo>
                    <a:pt x="145422" y="485744"/>
                  </a:lnTo>
                  <a:lnTo>
                    <a:pt x="148667" y="448653"/>
                  </a:lnTo>
                  <a:lnTo>
                    <a:pt x="149750" y="411436"/>
                  </a:lnTo>
                  <a:lnTo>
                    <a:pt x="148667" y="374218"/>
                  </a:lnTo>
                  <a:lnTo>
                    <a:pt x="145422" y="337127"/>
                  </a:lnTo>
                  <a:lnTo>
                    <a:pt x="140026" y="300287"/>
                  </a:lnTo>
                  <a:lnTo>
                    <a:pt x="132497" y="263823"/>
                  </a:lnTo>
                  <a:lnTo>
                    <a:pt x="122860" y="227858"/>
                  </a:lnTo>
                  <a:lnTo>
                    <a:pt x="111149" y="192515"/>
                  </a:lnTo>
                  <a:lnTo>
                    <a:pt x="97402" y="157913"/>
                  </a:lnTo>
                  <a:lnTo>
                    <a:pt x="81667" y="124168"/>
                  </a:lnTo>
                  <a:lnTo>
                    <a:pt x="63996" y="91396"/>
                  </a:lnTo>
                  <a:lnTo>
                    <a:pt x="44449" y="59706"/>
                  </a:lnTo>
                  <a:lnTo>
                    <a:pt x="23093" y="29206"/>
                  </a:lnTo>
                  <a:lnTo>
                    <a:pt x="0" y="0"/>
                  </a:lnTo>
                </a:path>
              </a:pathLst>
            </a:custGeom>
            <a:noFill/>
            <a:ln w="38100">
              <a:solidFill>
                <a:srgbClr val="F28C28"/>
              </a:solidFill>
            </a:ln>
          </p:spPr>
          <p:txBody>
            <a:bodyPr rtlCol="0" anchor="ctr"/>
            <a:lstStyle/>
            <a:p>
              <a:pPr algn="ctr"/>
              <a:endParaRPr/>
            </a:p>
          </p:txBody>
        </p:sp>
        <p:cxnSp>
          <p:nvCxnSpPr>
            <p:cNvPr id="41" name="step arrow"/>
            <p:cNvCxnSpPr/>
            <p:nvPr/>
          </p:nvCxnSpPr>
          <p:spPr>
            <a:xfrm>
              <a:off x="8807500" y="2788920"/>
              <a:ext cx="288951" cy="0"/>
            </a:xfrm>
            <a:prstGeom prst="line">
              <a:avLst/>
            </a:prstGeom>
            <a:ln w="38100">
              <a:solidFill>
                <a:srgbClr val="F28C28"/>
              </a:solidFill>
              <a:tailEnd type="triangle" w="med" len="med"/>
            </a:ln>
          </p:spPr>
        </p:cxnSp>
        <p:sp>
          <p:nvSpPr>
            <p:cNvPr id="42" name="step card"/>
            <p:cNvSpPr/>
            <p:nvPr/>
          </p:nvSpPr>
          <p:spPr>
            <a:xfrm>
              <a:off x="9123883" y="1417320"/>
              <a:ext cx="2514600" cy="3246120"/>
            </a:xfrm>
            <a:prstGeom prst="roundRect">
              <a:avLst>
                <a:gd name="adj" fmla="val 2909"/>
              </a:avLst>
            </a:prstGeom>
            <a:solidFill>
              <a:srgbClr val="2B2F36"/>
            </a:solidFill>
            <a:ln w="19050">
              <a:solidFill>
                <a:srgbClr val="4A515B"/>
              </a:solidFill>
            </a:ln>
          </p:spPr>
          <p:txBody>
            <a:bodyPr rtlCol="0" anchor="ctr"/>
            <a:lstStyle/>
            <a:p>
              <a:pPr algn="ctr"/>
              <a:endParaRPr/>
            </a:p>
          </p:txBody>
        </p:sp>
        <p:sp>
          <p:nvSpPr>
            <p:cNvPr id="43" name="mock screen"/>
            <p:cNvSpPr/>
            <p:nvPr/>
          </p:nvSpPr>
          <p:spPr>
            <a:xfrm>
              <a:off x="9306763" y="1965960"/>
              <a:ext cx="2148840" cy="1645920"/>
            </a:xfrm>
            <a:prstGeom prst="roundRect">
              <a:avLst>
                <a:gd name="adj" fmla="val 3333"/>
              </a:avLst>
            </a:prstGeom>
            <a:solidFill>
              <a:srgbClr val="1B1D21"/>
            </a:solidFill>
            <a:ln w="25400">
              <a:solidFill>
                <a:srgbClr val="9AA0A6"/>
              </a:solidFill>
            </a:ln>
          </p:spPr>
          <p:txBody>
            <a:bodyPr rtlCol="0" anchor="ctr"/>
            <a:lstStyle/>
            <a:p>
              <a:pPr algn="ctr"/>
              <a:endParaRPr/>
            </a:p>
          </p:txBody>
        </p:sp>
        <p:sp>
          <p:nvSpPr>
            <p:cNvPr id="44" name="step badge"/>
            <p:cNvSpPr/>
            <p:nvPr/>
          </p:nvSpPr>
          <p:spPr>
            <a:xfrm>
              <a:off x="9215323" y="1508760"/>
              <a:ext cx="457200" cy="457200"/>
            </a:xfrm>
            <a:prstGeom prst="ellipse">
              <a:avLst/>
            </a:prstGeom>
            <a:solidFill>
              <a:srgbClr val="F28C28"/>
            </a:solidFill>
            <a:ln>
              <a:noFill/>
            </a:ln>
          </p:spPr>
          <p:txBody>
            <a:bodyPr wrap="square" lIns="0" tIns="0" rIns="0" bIns="0" rtlCol="0" anchor="ctr">
              <a:noAutofit/>
            </a:bodyPr>
            <a:lstStyle/>
            <a:p>
              <a:pPr algn="ctr"/>
              <a:r>
                <a:rPr lang="en-GB" sz="1800" b="1" i="0">
                  <a:solidFill>
                    <a:srgbClr val="101418"/>
                  </a:solidFill>
                  <a:latin typeface="Arial"/>
                </a:rPr>
                <a:t>4</a:t>
              </a:r>
            </a:p>
          </p:txBody>
        </p:sp>
        <p:sp>
          <p:nvSpPr>
            <p:cNvPr id="45" name="step label"/>
            <p:cNvSpPr txBox="1"/>
            <p:nvPr/>
          </p:nvSpPr>
          <p:spPr>
            <a:xfrm>
              <a:off x="9261043" y="3749039"/>
              <a:ext cx="2240280" cy="777240"/>
            </a:xfrm>
            <a:prstGeom prst="rect">
              <a:avLst/>
            </a:prstGeom>
            <a:noFill/>
          </p:spPr>
          <p:txBody>
            <a:bodyPr wrap="square" lIns="18288" tIns="9144" rIns="18288" bIns="9144" anchor="ctr">
              <a:noAutofit/>
            </a:bodyPr>
            <a:lstStyle/>
            <a:p>
              <a:pPr algn="ctr"/>
              <a:r>
                <a:rPr lang="en-GB" sz="2000" b="1" i="0">
                  <a:solidFill>
                    <a:srgbClr val="F2F2F2"/>
                  </a:solidFill>
                  <a:latin typeface="Arial"/>
                </a:rPr>
                <a:t>The guide says hello</a:t>
              </a:r>
            </a:p>
          </p:txBody>
        </p:sp>
        <p:grpSp>
          <p:nvGrpSpPr>
            <p:cNvPr id="46" name="Placeholder avatar (small)" descr="Placeholder avatar for the railway guide: a plain round head with no face, a headset and orange shoulders. Her look is undecided (OQ15)."/>
            <p:cNvGrpSpPr/>
            <p:nvPr/>
          </p:nvGrpSpPr>
          <p:grpSpPr>
            <a:xfrm>
              <a:off x="9398203" y="2408758"/>
              <a:ext cx="1188720" cy="1221410"/>
              <a:chOff x="9398203" y="2408758"/>
              <a:chExt cx="1188720" cy="1221410"/>
            </a:xfrm>
          </p:grpSpPr>
          <p:sp>
            <p:nvSpPr>
              <p:cNvPr id="47" name="shoulders"/>
              <p:cNvSpPr/>
              <p:nvPr/>
            </p:nvSpPr>
            <p:spPr>
              <a:xfrm>
                <a:off x="9398203" y="3065526"/>
                <a:ext cx="1188720" cy="564642"/>
              </a:xfrm>
              <a:prstGeom prst="round2SameRect">
                <a:avLst>
                  <a:gd name="adj1" fmla="val 50000"/>
                  <a:gd name="adj2" fmla="val 0"/>
                </a:avLst>
              </a:prstGeom>
              <a:solidFill>
                <a:srgbClr val="F28C28"/>
              </a:solidFill>
              <a:ln>
                <a:noFill/>
              </a:ln>
            </p:spPr>
            <p:txBody>
              <a:bodyPr rtlCol="0" anchor="ctr"/>
              <a:lstStyle/>
              <a:p>
                <a:pPr algn="ctr"/>
                <a:endParaRPr/>
              </a:p>
            </p:txBody>
          </p:sp>
          <p:sp>
            <p:nvSpPr>
              <p:cNvPr id="48" name="neck"/>
              <p:cNvSpPr/>
              <p:nvPr/>
            </p:nvSpPr>
            <p:spPr>
              <a:xfrm>
                <a:off x="9873691" y="2991231"/>
                <a:ext cx="237744" cy="237744"/>
              </a:xfrm>
              <a:prstGeom prst="rect">
                <a:avLst/>
              </a:prstGeom>
              <a:solidFill>
                <a:srgbClr val="B9BEC4"/>
              </a:solidFill>
              <a:ln>
                <a:noFill/>
              </a:ln>
            </p:spPr>
            <p:txBody>
              <a:bodyPr rtlCol="0" anchor="ctr"/>
              <a:lstStyle/>
              <a:p>
                <a:pPr algn="ctr"/>
                <a:endParaRPr/>
              </a:p>
            </p:txBody>
          </p:sp>
          <p:sp>
            <p:nvSpPr>
              <p:cNvPr id="49" name="head"/>
              <p:cNvSpPr/>
              <p:nvPr/>
            </p:nvSpPr>
            <p:spPr>
              <a:xfrm>
                <a:off x="9695383" y="2486025"/>
                <a:ext cx="594360" cy="594360"/>
              </a:xfrm>
              <a:prstGeom prst="ellipse">
                <a:avLst/>
              </a:prstGeom>
              <a:solidFill>
                <a:srgbClr val="D5D9DE"/>
              </a:solidFill>
              <a:ln w="19050">
                <a:solidFill>
                  <a:srgbClr val="9AA0A6"/>
                </a:solidFill>
              </a:ln>
            </p:spPr>
            <p:txBody>
              <a:bodyPr rtlCol="0" anchor="ctr"/>
              <a:lstStyle/>
              <a:p>
                <a:pPr algn="ctr"/>
                <a:endParaRPr/>
              </a:p>
            </p:txBody>
          </p:sp>
          <p:sp>
            <p:nvSpPr>
              <p:cNvPr id="50" name="headset band"/>
              <p:cNvSpPr/>
              <p:nvPr/>
            </p:nvSpPr>
            <p:spPr>
              <a:xfrm>
                <a:off x="9621760" y="2408758"/>
                <a:ext cx="741605" cy="331797"/>
              </a:xfrm>
              <a:custGeom>
                <a:avLst/>
                <a:gdLst/>
                <a:ahLst/>
                <a:cxnLst/>
                <a:rect l="l" t="t" r="r" b="b"/>
                <a:pathLst>
                  <a:path w="741605" h="331797">
                    <a:moveTo>
                      <a:pt x="741605" y="322334"/>
                    </a:moveTo>
                    <a:lnTo>
                      <a:pt x="732771" y="278585"/>
                    </a:lnTo>
                    <a:lnTo>
                      <a:pt x="718794" y="236198"/>
                    </a:lnTo>
                    <a:lnTo>
                      <a:pt x="699873" y="195776"/>
                    </a:lnTo>
                    <a:lnTo>
                      <a:pt x="676277" y="157892"/>
                    </a:lnTo>
                    <a:lnTo>
                      <a:pt x="648341" y="123084"/>
                    </a:lnTo>
                    <a:lnTo>
                      <a:pt x="616462" y="91848"/>
                    </a:lnTo>
                    <a:lnTo>
                      <a:pt x="581093" y="64626"/>
                    </a:lnTo>
                    <a:lnTo>
                      <a:pt x="542736" y="41807"/>
                    </a:lnTo>
                    <a:lnTo>
                      <a:pt x="501937" y="23713"/>
                    </a:lnTo>
                    <a:lnTo>
                      <a:pt x="459274" y="10602"/>
                    </a:lnTo>
                    <a:lnTo>
                      <a:pt x="415355" y="2660"/>
                    </a:lnTo>
                    <a:lnTo>
                      <a:pt x="370803" y="0"/>
                    </a:lnTo>
                    <a:lnTo>
                      <a:pt x="326250" y="2660"/>
                    </a:lnTo>
                    <a:lnTo>
                      <a:pt x="282331" y="10602"/>
                    </a:lnTo>
                    <a:lnTo>
                      <a:pt x="239669" y="23713"/>
                    </a:lnTo>
                    <a:lnTo>
                      <a:pt x="198869" y="41807"/>
                    </a:lnTo>
                    <a:lnTo>
                      <a:pt x="160513" y="64626"/>
                    </a:lnTo>
                    <a:lnTo>
                      <a:pt x="125143" y="91848"/>
                    </a:lnTo>
                    <a:lnTo>
                      <a:pt x="93265" y="123084"/>
                    </a:lnTo>
                    <a:lnTo>
                      <a:pt x="65329" y="157892"/>
                    </a:lnTo>
                    <a:lnTo>
                      <a:pt x="41732" y="195776"/>
                    </a:lnTo>
                    <a:lnTo>
                      <a:pt x="22811" y="236198"/>
                    </a:lnTo>
                    <a:lnTo>
                      <a:pt x="8834" y="278585"/>
                    </a:lnTo>
                    <a:lnTo>
                      <a:pt x="0" y="322334"/>
                    </a:lnTo>
                    <a:lnTo>
                      <a:pt x="67333" y="331797"/>
                    </a:lnTo>
                    <a:lnTo>
                      <a:pt x="74563" y="295992"/>
                    </a:lnTo>
                    <a:lnTo>
                      <a:pt x="86002" y="261303"/>
                    </a:lnTo>
                    <a:lnTo>
                      <a:pt x="101487" y="228220"/>
                    </a:lnTo>
                    <a:lnTo>
                      <a:pt x="120799" y="197215"/>
                    </a:lnTo>
                    <a:lnTo>
                      <a:pt x="143662" y="168728"/>
                    </a:lnTo>
                    <a:lnTo>
                      <a:pt x="169752" y="143164"/>
                    </a:lnTo>
                    <a:lnTo>
                      <a:pt x="198699" y="120886"/>
                    </a:lnTo>
                    <a:lnTo>
                      <a:pt x="230090" y="102210"/>
                    </a:lnTo>
                    <a:lnTo>
                      <a:pt x="263481" y="87401"/>
                    </a:lnTo>
                    <a:lnTo>
                      <a:pt x="298396" y="76671"/>
                    </a:lnTo>
                    <a:lnTo>
                      <a:pt x="334341" y="70171"/>
                    </a:lnTo>
                    <a:lnTo>
                      <a:pt x="370803" y="67994"/>
                    </a:lnTo>
                    <a:lnTo>
                      <a:pt x="407265" y="70171"/>
                    </a:lnTo>
                    <a:lnTo>
                      <a:pt x="443209" y="76671"/>
                    </a:lnTo>
                    <a:lnTo>
                      <a:pt x="478124" y="87401"/>
                    </a:lnTo>
                    <a:lnTo>
                      <a:pt x="511515" y="102210"/>
                    </a:lnTo>
                    <a:lnTo>
                      <a:pt x="542907" y="120886"/>
                    </a:lnTo>
                    <a:lnTo>
                      <a:pt x="571853" y="143164"/>
                    </a:lnTo>
                    <a:lnTo>
                      <a:pt x="597943" y="168728"/>
                    </a:lnTo>
                    <a:lnTo>
                      <a:pt x="620807" y="197215"/>
                    </a:lnTo>
                    <a:lnTo>
                      <a:pt x="640118" y="228220"/>
                    </a:lnTo>
                    <a:lnTo>
                      <a:pt x="655603" y="261303"/>
                    </a:lnTo>
                    <a:lnTo>
                      <a:pt x="667042" y="295992"/>
                    </a:lnTo>
                    <a:lnTo>
                      <a:pt x="674272" y="331797"/>
                    </a:lnTo>
                    <a:close/>
                  </a:path>
                </a:pathLst>
              </a:custGeom>
              <a:solidFill>
                <a:srgbClr val="3A3F47"/>
              </a:solidFill>
              <a:ln w="19050">
                <a:solidFill>
                  <a:srgbClr val="9AA0A6"/>
                </a:solidFill>
              </a:ln>
            </p:spPr>
            <p:txBody>
              <a:bodyPr rtlCol="0" anchor="ctr"/>
              <a:lstStyle/>
              <a:p>
                <a:pPr algn="ctr"/>
                <a:endParaRPr/>
              </a:p>
            </p:txBody>
          </p:sp>
          <p:sp>
            <p:nvSpPr>
              <p:cNvPr id="51" name="ear cup"/>
              <p:cNvSpPr/>
              <p:nvPr/>
            </p:nvSpPr>
            <p:spPr>
              <a:xfrm>
                <a:off x="9599394" y="2699994"/>
                <a:ext cx="106984" cy="202082"/>
              </a:xfrm>
              <a:prstGeom prst="roundRect">
                <a:avLst>
                  <a:gd name="adj" fmla="val 38888"/>
                </a:avLst>
              </a:prstGeom>
              <a:solidFill>
                <a:srgbClr val="3A3F47"/>
              </a:solidFill>
              <a:ln w="19050">
                <a:solidFill>
                  <a:srgbClr val="9AA0A6"/>
                </a:solidFill>
              </a:ln>
            </p:spPr>
            <p:txBody>
              <a:bodyPr rtlCol="0" anchor="ctr"/>
              <a:lstStyle/>
              <a:p>
                <a:pPr algn="ctr"/>
                <a:endParaRPr/>
              </a:p>
            </p:txBody>
          </p:sp>
          <p:sp>
            <p:nvSpPr>
              <p:cNvPr id="52" name="ear cup"/>
              <p:cNvSpPr/>
              <p:nvPr/>
            </p:nvSpPr>
            <p:spPr>
              <a:xfrm>
                <a:off x="10278747" y="2699994"/>
                <a:ext cx="106984" cy="202082"/>
              </a:xfrm>
              <a:prstGeom prst="roundRect">
                <a:avLst>
                  <a:gd name="adj" fmla="val 38888"/>
                </a:avLst>
              </a:prstGeom>
              <a:solidFill>
                <a:srgbClr val="3A3F47"/>
              </a:solidFill>
              <a:ln w="19050">
                <a:solidFill>
                  <a:srgbClr val="9AA0A6"/>
                </a:solidFill>
              </a:ln>
            </p:spPr>
            <p:txBody>
              <a:bodyPr rtlCol="0" anchor="ctr"/>
              <a:lstStyle/>
              <a:p>
                <a:pPr algn="ctr"/>
                <a:endParaRPr/>
              </a:p>
            </p:txBody>
          </p:sp>
          <p:sp>
            <p:nvSpPr>
              <p:cNvPr id="53" name="mic boom"/>
              <p:cNvSpPr/>
              <p:nvPr/>
            </p:nvSpPr>
            <p:spPr>
              <a:xfrm>
                <a:off x="9656749" y="2890189"/>
                <a:ext cx="234773" cy="139766"/>
              </a:xfrm>
              <a:custGeom>
                <a:avLst/>
                <a:gdLst/>
                <a:ahLst/>
                <a:cxnLst/>
                <a:rect l="l" t="t" r="r" b="b"/>
                <a:pathLst>
                  <a:path w="234773" h="139766">
                    <a:moveTo>
                      <a:pt x="0" y="0"/>
                    </a:moveTo>
                    <a:lnTo>
                      <a:pt x="300" y="12244"/>
                    </a:lnTo>
                    <a:lnTo>
                      <a:pt x="1198" y="23926"/>
                    </a:lnTo>
                    <a:lnTo>
                      <a:pt x="2695" y="35048"/>
                    </a:lnTo>
                    <a:lnTo>
                      <a:pt x="4792" y="45608"/>
                    </a:lnTo>
                    <a:lnTo>
                      <a:pt x="7487" y="55608"/>
                    </a:lnTo>
                    <a:lnTo>
                      <a:pt x="10781" y="65046"/>
                    </a:lnTo>
                    <a:lnTo>
                      <a:pt x="14674" y="73924"/>
                    </a:lnTo>
                    <a:lnTo>
                      <a:pt x="19165" y="82240"/>
                    </a:lnTo>
                    <a:lnTo>
                      <a:pt x="24256" y="89996"/>
                    </a:lnTo>
                    <a:lnTo>
                      <a:pt x="29946" y="97190"/>
                    </a:lnTo>
                    <a:lnTo>
                      <a:pt x="36234" y="103824"/>
                    </a:lnTo>
                    <a:lnTo>
                      <a:pt x="43122" y="109896"/>
                    </a:lnTo>
                    <a:lnTo>
                      <a:pt x="50608" y="115408"/>
                    </a:lnTo>
                    <a:lnTo>
                      <a:pt x="58693" y="120358"/>
                    </a:lnTo>
                    <a:lnTo>
                      <a:pt x="67378" y="124748"/>
                    </a:lnTo>
                    <a:lnTo>
                      <a:pt x="76661" y="128576"/>
                    </a:lnTo>
                    <a:lnTo>
                      <a:pt x="86543" y="131844"/>
                    </a:lnTo>
                    <a:lnTo>
                      <a:pt x="97024" y="134550"/>
                    </a:lnTo>
                    <a:lnTo>
                      <a:pt x="108103" y="136696"/>
                    </a:lnTo>
                    <a:lnTo>
                      <a:pt x="119782" y="138280"/>
                    </a:lnTo>
                    <a:lnTo>
                      <a:pt x="132060" y="139303"/>
                    </a:lnTo>
                    <a:lnTo>
                      <a:pt x="144936" y="139766"/>
                    </a:lnTo>
                    <a:lnTo>
                      <a:pt x="158412" y="139667"/>
                    </a:lnTo>
                    <a:lnTo>
                      <a:pt x="172486" y="139008"/>
                    </a:lnTo>
                    <a:lnTo>
                      <a:pt x="187159" y="137787"/>
                    </a:lnTo>
                    <a:lnTo>
                      <a:pt x="202431" y="136006"/>
                    </a:lnTo>
                    <a:lnTo>
                      <a:pt x="218303" y="133663"/>
                    </a:lnTo>
                    <a:lnTo>
                      <a:pt x="234773" y="130760"/>
                    </a:lnTo>
                  </a:path>
                </a:pathLst>
              </a:custGeom>
              <a:noFill/>
              <a:ln w="26416">
                <a:solidFill>
                  <a:srgbClr val="9AA0A6"/>
                </a:solidFill>
              </a:ln>
            </p:spPr>
            <p:txBody>
              <a:bodyPr rtlCol="0" anchor="ctr"/>
              <a:lstStyle/>
              <a:p>
                <a:pPr algn="ctr"/>
                <a:endParaRPr/>
              </a:p>
            </p:txBody>
          </p:sp>
          <p:sp>
            <p:nvSpPr>
              <p:cNvPr id="54" name="mic tip"/>
              <p:cNvSpPr/>
              <p:nvPr/>
            </p:nvSpPr>
            <p:spPr>
              <a:xfrm>
                <a:off x="9855860" y="2985287"/>
                <a:ext cx="71323" cy="71323"/>
              </a:xfrm>
              <a:prstGeom prst="ellipse">
                <a:avLst/>
              </a:prstGeom>
              <a:solidFill>
                <a:srgbClr val="9AA0A6"/>
              </a:solidFill>
              <a:ln>
                <a:noFill/>
              </a:ln>
            </p:spPr>
            <p:txBody>
              <a:bodyPr rtlCol="0" anchor="ctr"/>
              <a:lstStyle/>
              <a:p>
                <a:pPr algn="ctr"/>
                <a:endParaRPr/>
              </a:p>
            </p:txBody>
          </p:sp>
        </p:grpSp>
        <p:sp>
          <p:nvSpPr>
            <p:cNvPr id="55" name="small bubble body"/>
            <p:cNvSpPr/>
            <p:nvPr/>
          </p:nvSpPr>
          <p:spPr>
            <a:xfrm>
              <a:off x="10404043" y="2148839"/>
              <a:ext cx="777240" cy="420624"/>
            </a:xfrm>
            <a:prstGeom prst="roundRect">
              <a:avLst>
                <a:gd name="adj" fmla="val 33333"/>
              </a:avLst>
            </a:prstGeom>
            <a:solidFill>
              <a:srgbClr val="F2F2F2"/>
            </a:solidFill>
            <a:ln>
              <a:noFill/>
            </a:ln>
          </p:spPr>
          <p:txBody>
            <a:bodyPr wrap="square" lIns="109728" rIns="109728" rtlCol="0" anchor="ctr">
              <a:noAutofit/>
            </a:bodyPr>
            <a:lstStyle/>
            <a:p>
              <a:pPr algn="ctr"/>
              <a:r>
                <a:rPr lang="en-GB" sz="2000" b="1" i="0">
                  <a:solidFill>
                    <a:srgbClr val="101418"/>
                  </a:solidFill>
                  <a:latin typeface="Arial"/>
                </a:rPr>
                <a:t>...</a:t>
              </a:r>
            </a:p>
          </p:txBody>
        </p:sp>
        <p:sp>
          <p:nvSpPr>
            <p:cNvPr id="56" name="small bubble tail"/>
            <p:cNvSpPr/>
            <p:nvPr/>
          </p:nvSpPr>
          <p:spPr>
            <a:xfrm>
              <a:off x="10906963" y="2551175"/>
              <a:ext cx="182880" cy="219457"/>
            </a:xfrm>
            <a:custGeom>
              <a:avLst/>
              <a:gdLst/>
              <a:ahLst/>
              <a:cxnLst/>
              <a:rect l="l" t="t" r="r" b="b"/>
              <a:pathLst>
                <a:path w="182880" h="219457">
                  <a:moveTo>
                    <a:pt x="0" y="0"/>
                  </a:moveTo>
                  <a:lnTo>
                    <a:pt x="182880" y="0"/>
                  </a:lnTo>
                  <a:lnTo>
                    <a:pt x="27432" y="219457"/>
                  </a:lnTo>
                  <a:close/>
                </a:path>
              </a:pathLst>
            </a:custGeom>
            <a:solidFill>
              <a:srgbClr val="F2F2F2"/>
            </a:solidFill>
            <a:ln>
              <a:noFill/>
            </a:ln>
          </p:spPr>
          <p:txBody>
            <a:bodyPr rtlCol="0" anchor="ctr"/>
            <a:lstStyle/>
            <a:p>
              <a:pPr algn="ctr"/>
              <a:endParaRPr/>
            </a:p>
          </p:txBody>
        </p:sp>
      </p:grpSp>
      <p:sp>
        <p:nvSpPr>
          <p:cNvPr id="57" name="NOTE"/>
          <p:cNvSpPr txBox="1"/>
          <p:nvPr/>
        </p:nvSpPr>
        <p:spPr>
          <a:xfrm>
            <a:off x="548640" y="4937760"/>
            <a:ext cx="2743200" cy="365760"/>
          </a:xfrm>
          <a:prstGeom prst="rect">
            <a:avLst/>
          </a:prstGeom>
          <a:noFill/>
        </p:spPr>
        <p:txBody>
          <a:bodyPr wrap="square" lIns="18288" tIns="9144" rIns="18288" bIns="9144" anchor="ctr">
            <a:noAutofit/>
          </a:bodyPr>
          <a:lstStyle/>
          <a:p>
            <a:pPr algn="l"/>
            <a:r>
              <a:rPr lang="en-GB" sz="1800" b="1" i="0">
                <a:solidFill>
                  <a:srgbClr val="F2F2F2"/>
                </a:solidFill>
                <a:latin typeface="Arial"/>
              </a:rPr>
              <a:t>Funny, not sinister.</a:t>
            </a:r>
          </a:p>
        </p:txBody>
      </p:sp>
      <p:sp>
        <p:nvSpPr>
          <p:cNvPr id="58" name="ICHIP"/>
          <p:cNvSpPr/>
          <p:nvPr/>
        </p:nvSpPr>
        <p:spPr>
          <a:xfrm>
            <a:off x="3246120" y="4965192"/>
            <a:ext cx="2188366"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Exact sequence: open</a:t>
            </a:r>
          </a:p>
        </p:txBody>
      </p:sp>
      <p:sp>
        <p:nvSpPr>
          <p:cNvPr id="59" name="PLACEHOLDER LABEL"/>
          <p:cNvSpPr txBox="1"/>
          <p:nvPr/>
        </p:nvSpPr>
        <p:spPr>
          <a:xfrm>
            <a:off x="6766560" y="4892040"/>
            <a:ext cx="4873752" cy="457200"/>
          </a:xfrm>
          <a:prstGeom prst="rect">
            <a:avLst/>
          </a:prstGeom>
          <a:noFill/>
        </p:spPr>
        <p:txBody>
          <a:bodyPr wrap="square" lIns="18288" tIns="9144" rIns="18288" bIns="9144" anchor="ctr">
            <a:noAutofit/>
          </a:bodyPr>
          <a:lstStyle/>
          <a:p>
            <a:pPr algn="r"/>
            <a:r>
              <a:rPr lang="en-GB" sz="1400" b="0" i="0">
                <a:solidFill>
                  <a:srgbClr val="A9B0B8"/>
                </a:solidFill>
                <a:latin typeface="Arial"/>
              </a:rPr>
              <a:t>Placeholder avatar. Her look is undecided (OQ15).</a:t>
            </a:r>
          </a:p>
        </p:txBody>
      </p:sp>
      <p:sp>
        <p:nvSpPr>
          <p:cNvPr id="60"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61"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62"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On your first unlock, the game's usual announcer could be playfully interrupted.</a:t>
            </a:r>
          </a:p>
        </p:txBody>
      </p:sp>
      <p:sp>
        <p:nvSpPr>
          <p:cNvPr id="63"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11</a:t>
            </a:r>
          </a:p>
        </p:txBody>
      </p:sp>
    </p:spTree>
    <p:extLst>
      <p:ext uri="{BB962C8B-B14F-4D97-AF65-F5344CB8AC3E}">
        <p14:creationId xmlns:p14="http://schemas.microsoft.com/office/powerpoint/2010/main" val="1050549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57"/>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par>
                                <p:cTn id="11" presetID="10" presetClass="entr" presetSubtype="0" fill="hold" nodeType="withEffect">
                                  <p:stCondLst>
                                    <p:cond delay="514"/>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500"/>
                                        <p:tgtEl>
                                          <p:spTgt spid="58"/>
                                        </p:tgtEl>
                                      </p:cBhvr>
                                    </p:animEffect>
                                  </p:childTnLst>
                                </p:cTn>
                              </p:par>
                              <p:par>
                                <p:cTn id="14" presetID="10" presetClass="entr" presetSubtype="0" fill="hold" nodeType="withEffect">
                                  <p:stCondLst>
                                    <p:cond delay="771"/>
                                  </p:stCondLst>
                                  <p:childTnLst>
                                    <p:set>
                                      <p:cBhvr>
                                        <p:cTn id="15" dur="1" fill="hold">
                                          <p:stCondLst>
                                            <p:cond delay="0"/>
                                          </p:stCondLst>
                                        </p:cTn>
                                        <p:tgtEl>
                                          <p:spTgt spid="59"/>
                                        </p:tgtEl>
                                        <p:attrNameLst>
                                          <p:attrName>style.visibility</p:attrName>
                                        </p:attrNameLst>
                                      </p:cBhvr>
                                      <p:to>
                                        <p:strVal val="visible"/>
                                      </p:to>
                                    </p:set>
                                    <p:animEffect transition="in" filter="fade">
                                      <p:cBhvr>
                                        <p:cTn id="16" dur="500"/>
                                        <p:tgtEl>
                                          <p:spTgt spid="59"/>
                                        </p:tgtEl>
                                      </p:cBhvr>
                                    </p:animEffect>
                                  </p:childTnLst>
                                </p:cTn>
                              </p:par>
                              <p:par>
                                <p:cTn id="17" presetID="10" presetClass="entr" presetSubtype="0" fill="hold" nodeType="withEffect">
                                  <p:stCondLst>
                                    <p:cond delay="1028"/>
                                  </p:stCondLst>
                                  <p:childTnLst>
                                    <p:set>
                                      <p:cBhvr>
                                        <p:cTn id="18" dur="1" fill="hold">
                                          <p:stCondLst>
                                            <p:cond delay="0"/>
                                          </p:stCondLst>
                                        </p:cTn>
                                        <p:tgtEl>
                                          <p:spTgt spid="60"/>
                                        </p:tgtEl>
                                        <p:attrNameLst>
                                          <p:attrName>style.visibility</p:attrName>
                                        </p:attrNameLst>
                                      </p:cBhvr>
                                      <p:to>
                                        <p:strVal val="visible"/>
                                      </p:to>
                                    </p:set>
                                    <p:animEffect transition="in" filter="fade">
                                      <p:cBhvr>
                                        <p:cTn id="19" dur="500"/>
                                        <p:tgtEl>
                                          <p:spTgt spid="60"/>
                                        </p:tgtEl>
                                      </p:cBhvr>
                                    </p:animEffect>
                                  </p:childTnLst>
                                </p:cTn>
                              </p:par>
                              <p:par>
                                <p:cTn id="20" presetID="10" presetClass="entr" presetSubtype="0" fill="hold" nodeType="withEffect">
                                  <p:stCondLst>
                                    <p:cond delay="1285"/>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500"/>
                                        <p:tgtEl>
                                          <p:spTgt spid="61"/>
                                        </p:tgtEl>
                                      </p:cBhvr>
                                    </p:animEffect>
                                  </p:childTnLst>
                                </p:cTn>
                              </p:par>
                              <p:par>
                                <p:cTn id="23" presetID="10" presetClass="entr" presetSubtype="0" fill="hold" nodeType="withEffect">
                                  <p:stCondLst>
                                    <p:cond delay="1542"/>
                                  </p:stCondLst>
                                  <p:childTnLst>
                                    <p:set>
                                      <p:cBhvr>
                                        <p:cTn id="24" dur="1" fill="hold">
                                          <p:stCondLst>
                                            <p:cond delay="0"/>
                                          </p:stCondLst>
                                        </p:cTn>
                                        <p:tgtEl>
                                          <p:spTgt spid="62"/>
                                        </p:tgtEl>
                                        <p:attrNameLst>
                                          <p:attrName>style.visibility</p:attrName>
                                        </p:attrNameLst>
                                      </p:cBhvr>
                                      <p:to>
                                        <p:strVal val="visible"/>
                                      </p:to>
                                    </p:set>
                                    <p:animEffect transition="in" filter="fade">
                                      <p:cBhvr>
                                        <p:cTn id="25"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An original jingle</a:t>
            </a:r>
          </a:p>
        </p:txBody>
      </p:sp>
      <p:sp>
        <p:nvSpPr>
          <p:cNvPr id="3" name="CHIP"/>
          <p:cNvSpPr/>
          <p:nvPr/>
        </p:nvSpPr>
        <p:spPr>
          <a:xfrm>
            <a:off x="10088575" y="530352"/>
            <a:ext cx="1554480" cy="365760"/>
          </a:xfrm>
          <a:prstGeom prst="roundRect">
            <a:avLst>
              <a:gd name="adj" fmla="val 30000"/>
            </a:avLst>
          </a:prstGeom>
          <a:solidFill>
            <a:srgbClr val="3FB950"/>
          </a:solidFill>
          <a:ln>
            <a:noFill/>
          </a:ln>
        </p:spPr>
        <p:txBody>
          <a:bodyPr wrap="square" lIns="54864" tIns="0" rIns="54864" bIns="0" rtlCol="0" anchor="ctr">
            <a:noAutofit/>
          </a:bodyPr>
          <a:lstStyle/>
          <a:p>
            <a:pPr algn="ctr"/>
            <a:r>
              <a:rPr lang="en-GB" sz="1400" b="1" i="0">
                <a:solidFill>
                  <a:srgbClr val="101418"/>
                </a:solidFill>
                <a:latin typeface="Arial"/>
              </a:rPr>
              <a:t>AGREED</a:t>
            </a:r>
          </a:p>
        </p:txBody>
      </p:sp>
      <p:grpSp>
        <p:nvGrpSpPr>
          <p:cNvPr id="4" name="Sound-wave icon and jingle card" descr="A sound-wave icon, a speaker with an audio waveform, beside a card reading: Original retro start-up jingle."/>
          <p:cNvGrpSpPr/>
          <p:nvPr/>
        </p:nvGrpSpPr>
        <p:grpSpPr>
          <a:xfrm>
            <a:off x="822960" y="1737360"/>
            <a:ext cx="10789920" cy="3291840"/>
            <a:chOff x="822960" y="1737360"/>
            <a:chExt cx="10789920" cy="3291840"/>
          </a:xfrm>
        </p:grpSpPr>
        <p:sp>
          <p:nvSpPr>
            <p:cNvPr id="5" name="icon panel"/>
            <p:cNvSpPr/>
            <p:nvPr/>
          </p:nvSpPr>
          <p:spPr>
            <a:xfrm>
              <a:off x="822960" y="1737360"/>
              <a:ext cx="5120640" cy="3291840"/>
            </a:xfrm>
            <a:prstGeom prst="roundRect">
              <a:avLst>
                <a:gd name="adj" fmla="val 2777"/>
              </a:avLst>
            </a:prstGeom>
            <a:solidFill>
              <a:srgbClr val="2B2F36"/>
            </a:solidFill>
            <a:ln>
              <a:noFill/>
            </a:ln>
          </p:spPr>
          <p:txBody>
            <a:bodyPr rtlCol="0" anchor="ctr"/>
            <a:lstStyle/>
            <a:p>
              <a:pPr algn="ctr"/>
              <a:endParaRPr/>
            </a:p>
          </p:txBody>
        </p:sp>
        <p:sp>
          <p:nvSpPr>
            <p:cNvPr id="6" name="speaker box"/>
            <p:cNvSpPr/>
            <p:nvPr/>
          </p:nvSpPr>
          <p:spPr>
            <a:xfrm>
              <a:off x="1280160" y="3063240"/>
              <a:ext cx="411480" cy="640080"/>
            </a:xfrm>
            <a:prstGeom prst="rect">
              <a:avLst/>
            </a:prstGeom>
            <a:solidFill>
              <a:srgbClr val="F28C28"/>
            </a:solidFill>
            <a:ln>
              <a:noFill/>
            </a:ln>
          </p:spPr>
          <p:txBody>
            <a:bodyPr rtlCol="0" anchor="ctr"/>
            <a:lstStyle/>
            <a:p>
              <a:pPr algn="ctr"/>
              <a:endParaRPr/>
            </a:p>
          </p:txBody>
        </p:sp>
        <p:sp>
          <p:nvSpPr>
            <p:cNvPr id="7" name="speaker cone"/>
            <p:cNvSpPr/>
            <p:nvPr/>
          </p:nvSpPr>
          <p:spPr>
            <a:xfrm>
              <a:off x="1691640" y="2606040"/>
              <a:ext cx="640080" cy="1554480"/>
            </a:xfrm>
            <a:custGeom>
              <a:avLst/>
              <a:gdLst/>
              <a:ahLst/>
              <a:cxnLst/>
              <a:rect l="l" t="t" r="r" b="b"/>
              <a:pathLst>
                <a:path w="640080" h="1554480">
                  <a:moveTo>
                    <a:pt x="0" y="457200"/>
                  </a:moveTo>
                  <a:lnTo>
                    <a:pt x="640080" y="0"/>
                  </a:lnTo>
                  <a:lnTo>
                    <a:pt x="640080" y="1554480"/>
                  </a:lnTo>
                  <a:lnTo>
                    <a:pt x="0" y="1097280"/>
                  </a:lnTo>
                  <a:close/>
                </a:path>
              </a:pathLst>
            </a:custGeom>
            <a:solidFill>
              <a:srgbClr val="F28C28"/>
            </a:solidFill>
            <a:ln>
              <a:noFill/>
            </a:ln>
          </p:spPr>
          <p:txBody>
            <a:bodyPr rtlCol="0" anchor="ctr"/>
            <a:lstStyle/>
            <a:p>
              <a:pPr algn="ctr"/>
              <a:endParaRPr/>
            </a:p>
          </p:txBody>
        </p:sp>
        <p:sp>
          <p:nvSpPr>
            <p:cNvPr id="8" name="wave bar"/>
            <p:cNvSpPr/>
            <p:nvPr/>
          </p:nvSpPr>
          <p:spPr>
            <a:xfrm>
              <a:off x="2697480" y="3154680"/>
              <a:ext cx="164592" cy="457200"/>
            </a:xfrm>
            <a:prstGeom prst="roundRect">
              <a:avLst>
                <a:gd name="adj" fmla="val 50000"/>
              </a:avLst>
            </a:prstGeom>
            <a:solidFill>
              <a:srgbClr val="F28C28"/>
            </a:solidFill>
            <a:ln>
              <a:noFill/>
            </a:ln>
          </p:spPr>
          <p:txBody>
            <a:bodyPr rtlCol="0" anchor="ctr"/>
            <a:lstStyle/>
            <a:p>
              <a:pPr algn="ctr"/>
              <a:endParaRPr/>
            </a:p>
          </p:txBody>
        </p:sp>
        <p:sp>
          <p:nvSpPr>
            <p:cNvPr id="9" name="wave bar"/>
            <p:cNvSpPr/>
            <p:nvPr/>
          </p:nvSpPr>
          <p:spPr>
            <a:xfrm>
              <a:off x="2990088" y="2880360"/>
              <a:ext cx="164592" cy="1005840"/>
            </a:xfrm>
            <a:prstGeom prst="roundRect">
              <a:avLst>
                <a:gd name="adj" fmla="val 50000"/>
              </a:avLst>
            </a:prstGeom>
            <a:solidFill>
              <a:srgbClr val="F28C28"/>
            </a:solidFill>
            <a:ln>
              <a:noFill/>
            </a:ln>
          </p:spPr>
          <p:txBody>
            <a:bodyPr rtlCol="0" anchor="ctr"/>
            <a:lstStyle/>
            <a:p>
              <a:pPr algn="ctr"/>
              <a:endParaRPr/>
            </a:p>
          </p:txBody>
        </p:sp>
        <p:sp>
          <p:nvSpPr>
            <p:cNvPr id="10" name="wave bar"/>
            <p:cNvSpPr/>
            <p:nvPr/>
          </p:nvSpPr>
          <p:spPr>
            <a:xfrm>
              <a:off x="3282696" y="3017520"/>
              <a:ext cx="164592" cy="731520"/>
            </a:xfrm>
            <a:prstGeom prst="roundRect">
              <a:avLst>
                <a:gd name="adj" fmla="val 50000"/>
              </a:avLst>
            </a:prstGeom>
            <a:solidFill>
              <a:srgbClr val="F28C28"/>
            </a:solidFill>
            <a:ln>
              <a:noFill/>
            </a:ln>
          </p:spPr>
          <p:txBody>
            <a:bodyPr rtlCol="0" anchor="ctr"/>
            <a:lstStyle/>
            <a:p>
              <a:pPr algn="ctr"/>
              <a:endParaRPr/>
            </a:p>
          </p:txBody>
        </p:sp>
        <p:sp>
          <p:nvSpPr>
            <p:cNvPr id="11" name="wave bar"/>
            <p:cNvSpPr/>
            <p:nvPr/>
          </p:nvSpPr>
          <p:spPr>
            <a:xfrm>
              <a:off x="3575304" y="2606040"/>
              <a:ext cx="164592" cy="1554480"/>
            </a:xfrm>
            <a:prstGeom prst="roundRect">
              <a:avLst>
                <a:gd name="adj" fmla="val 50000"/>
              </a:avLst>
            </a:prstGeom>
            <a:solidFill>
              <a:srgbClr val="F28C28"/>
            </a:solidFill>
            <a:ln>
              <a:noFill/>
            </a:ln>
          </p:spPr>
          <p:txBody>
            <a:bodyPr rtlCol="0" anchor="ctr"/>
            <a:lstStyle/>
            <a:p>
              <a:pPr algn="ctr"/>
              <a:endParaRPr/>
            </a:p>
          </p:txBody>
        </p:sp>
        <p:sp>
          <p:nvSpPr>
            <p:cNvPr id="12" name="wave bar"/>
            <p:cNvSpPr/>
            <p:nvPr/>
          </p:nvSpPr>
          <p:spPr>
            <a:xfrm>
              <a:off x="3867912" y="2834640"/>
              <a:ext cx="164592" cy="1097280"/>
            </a:xfrm>
            <a:prstGeom prst="roundRect">
              <a:avLst>
                <a:gd name="adj" fmla="val 50000"/>
              </a:avLst>
            </a:prstGeom>
            <a:solidFill>
              <a:srgbClr val="F28C28"/>
            </a:solidFill>
            <a:ln>
              <a:noFill/>
            </a:ln>
          </p:spPr>
          <p:txBody>
            <a:bodyPr rtlCol="0" anchor="ctr"/>
            <a:lstStyle/>
            <a:p>
              <a:pPr algn="ctr"/>
              <a:endParaRPr/>
            </a:p>
          </p:txBody>
        </p:sp>
        <p:sp>
          <p:nvSpPr>
            <p:cNvPr id="13" name="wave bar"/>
            <p:cNvSpPr/>
            <p:nvPr/>
          </p:nvSpPr>
          <p:spPr>
            <a:xfrm>
              <a:off x="4160520" y="2423160"/>
              <a:ext cx="164592" cy="1920240"/>
            </a:xfrm>
            <a:prstGeom prst="roundRect">
              <a:avLst>
                <a:gd name="adj" fmla="val 50000"/>
              </a:avLst>
            </a:prstGeom>
            <a:solidFill>
              <a:srgbClr val="F28C28"/>
            </a:solidFill>
            <a:ln>
              <a:noFill/>
            </a:ln>
          </p:spPr>
          <p:txBody>
            <a:bodyPr rtlCol="0" anchor="ctr"/>
            <a:lstStyle/>
            <a:p>
              <a:pPr algn="ctr"/>
              <a:endParaRPr/>
            </a:p>
          </p:txBody>
        </p:sp>
        <p:sp>
          <p:nvSpPr>
            <p:cNvPr id="14" name="wave bar"/>
            <p:cNvSpPr/>
            <p:nvPr/>
          </p:nvSpPr>
          <p:spPr>
            <a:xfrm>
              <a:off x="4453128" y="2743200"/>
              <a:ext cx="164592" cy="1280160"/>
            </a:xfrm>
            <a:prstGeom prst="roundRect">
              <a:avLst>
                <a:gd name="adj" fmla="val 50000"/>
              </a:avLst>
            </a:prstGeom>
            <a:solidFill>
              <a:srgbClr val="F28C28"/>
            </a:solidFill>
            <a:ln>
              <a:noFill/>
            </a:ln>
          </p:spPr>
          <p:txBody>
            <a:bodyPr rtlCol="0" anchor="ctr"/>
            <a:lstStyle/>
            <a:p>
              <a:pPr algn="ctr"/>
              <a:endParaRPr/>
            </a:p>
          </p:txBody>
        </p:sp>
        <p:sp>
          <p:nvSpPr>
            <p:cNvPr id="15" name="wave bar"/>
            <p:cNvSpPr/>
            <p:nvPr/>
          </p:nvSpPr>
          <p:spPr>
            <a:xfrm>
              <a:off x="4745736" y="2971800"/>
              <a:ext cx="164592" cy="822960"/>
            </a:xfrm>
            <a:prstGeom prst="roundRect">
              <a:avLst>
                <a:gd name="adj" fmla="val 50000"/>
              </a:avLst>
            </a:prstGeom>
            <a:solidFill>
              <a:srgbClr val="F28C28"/>
            </a:solidFill>
            <a:ln>
              <a:noFill/>
            </a:ln>
          </p:spPr>
          <p:txBody>
            <a:bodyPr rtlCol="0" anchor="ctr"/>
            <a:lstStyle/>
            <a:p>
              <a:pPr algn="ctr"/>
              <a:endParaRPr/>
            </a:p>
          </p:txBody>
        </p:sp>
        <p:sp>
          <p:nvSpPr>
            <p:cNvPr id="16" name="wave bar"/>
            <p:cNvSpPr/>
            <p:nvPr/>
          </p:nvSpPr>
          <p:spPr>
            <a:xfrm>
              <a:off x="5038344" y="2697480"/>
              <a:ext cx="164592" cy="1371600"/>
            </a:xfrm>
            <a:prstGeom prst="roundRect">
              <a:avLst>
                <a:gd name="adj" fmla="val 50000"/>
              </a:avLst>
            </a:prstGeom>
            <a:solidFill>
              <a:srgbClr val="F28C28"/>
            </a:solidFill>
            <a:ln>
              <a:noFill/>
            </a:ln>
          </p:spPr>
          <p:txBody>
            <a:bodyPr rtlCol="0" anchor="ctr"/>
            <a:lstStyle/>
            <a:p>
              <a:pPr algn="ctr"/>
              <a:endParaRPr/>
            </a:p>
          </p:txBody>
        </p:sp>
        <p:sp>
          <p:nvSpPr>
            <p:cNvPr id="17" name="wave bar"/>
            <p:cNvSpPr/>
            <p:nvPr/>
          </p:nvSpPr>
          <p:spPr>
            <a:xfrm>
              <a:off x="5330952" y="3063240"/>
              <a:ext cx="164592" cy="640080"/>
            </a:xfrm>
            <a:prstGeom prst="roundRect">
              <a:avLst>
                <a:gd name="adj" fmla="val 50000"/>
              </a:avLst>
            </a:prstGeom>
            <a:solidFill>
              <a:srgbClr val="F28C28"/>
            </a:solidFill>
            <a:ln>
              <a:noFill/>
            </a:ln>
          </p:spPr>
          <p:txBody>
            <a:bodyPr rtlCol="0" anchor="ctr"/>
            <a:lstStyle/>
            <a:p>
              <a:pPr algn="ctr"/>
              <a:endParaRPr/>
            </a:p>
          </p:txBody>
        </p:sp>
        <p:sp>
          <p:nvSpPr>
            <p:cNvPr id="18" name="wave bar"/>
            <p:cNvSpPr/>
            <p:nvPr/>
          </p:nvSpPr>
          <p:spPr>
            <a:xfrm>
              <a:off x="5623560" y="3200400"/>
              <a:ext cx="164592" cy="365760"/>
            </a:xfrm>
            <a:prstGeom prst="roundRect">
              <a:avLst>
                <a:gd name="adj" fmla="val 50000"/>
              </a:avLst>
            </a:prstGeom>
            <a:solidFill>
              <a:srgbClr val="F28C28"/>
            </a:solidFill>
            <a:ln>
              <a:noFill/>
            </a:ln>
          </p:spPr>
          <p:txBody>
            <a:bodyPr rtlCol="0" anchor="ctr"/>
            <a:lstStyle/>
            <a:p>
              <a:pPr algn="ctr"/>
              <a:endParaRPr/>
            </a:p>
          </p:txBody>
        </p:sp>
        <p:sp>
          <p:nvSpPr>
            <p:cNvPr id="19" name="jingle card"/>
            <p:cNvSpPr/>
            <p:nvPr/>
          </p:nvSpPr>
          <p:spPr>
            <a:xfrm>
              <a:off x="6583680" y="2286000"/>
              <a:ext cx="5029200" cy="2194560"/>
            </a:xfrm>
            <a:prstGeom prst="roundRect">
              <a:avLst>
                <a:gd name="adj" fmla="val 5000"/>
              </a:avLst>
            </a:prstGeom>
            <a:solidFill>
              <a:srgbClr val="2B2F36"/>
            </a:solidFill>
            <a:ln w="38100">
              <a:solidFill>
                <a:srgbClr val="F28C28"/>
              </a:solidFill>
            </a:ln>
          </p:spPr>
          <p:txBody>
            <a:bodyPr wrap="square" lIns="320040" tIns="91440" rIns="320040" bIns="91440" rtlCol="0" anchor="ctr">
              <a:noAutofit/>
            </a:bodyPr>
            <a:lstStyle/>
            <a:p>
              <a:pPr algn="ctr"/>
              <a:r>
                <a:rPr lang="en-GB" sz="3000" b="1" i="0">
                  <a:solidFill>
                    <a:srgbClr val="F2F2F2"/>
                  </a:solidFill>
                  <a:latin typeface="Arial"/>
                </a:rPr>
                <a:t>Original retro</a:t>
              </a:r>
            </a:p>
            <a:p>
              <a:pPr algn="ctr"/>
              <a:r>
                <a:rPr lang="en-GB" sz="3000" b="1" i="0">
                  <a:solidFill>
                    <a:srgbClr val="F2F2F2"/>
                  </a:solidFill>
                  <a:latin typeface="Arial"/>
                </a:rPr>
                <a:t>start-up jingle</a:t>
              </a:r>
            </a:p>
          </p:txBody>
        </p:sp>
        <p:cxnSp>
          <p:nvCxnSpPr>
            <p:cNvPr id="20" name="link arrow"/>
            <p:cNvCxnSpPr/>
            <p:nvPr/>
          </p:nvCxnSpPr>
          <p:spPr>
            <a:xfrm>
              <a:off x="6035040" y="3383280"/>
              <a:ext cx="457200" cy="0"/>
            </a:xfrm>
            <a:prstGeom prst="line">
              <a:avLst/>
            </a:prstGeom>
            <a:ln w="38100">
              <a:solidFill>
                <a:srgbClr val="F28C28"/>
              </a:solidFill>
              <a:tailEnd type="triangle" w="med" len="med"/>
            </a:ln>
          </p:spPr>
        </p:cxnSp>
      </p:grpSp>
      <p:sp>
        <p:nvSpPr>
          <p:cNvPr id="2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2"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3"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 start-up jingle is original. No borrowed sounds.</a:t>
            </a:r>
          </a:p>
        </p:txBody>
      </p:sp>
      <p:sp>
        <p:nvSpPr>
          <p:cNvPr id="24"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12</a:t>
            </a:r>
          </a:p>
        </p:txBody>
      </p:sp>
    </p:spTree>
    <p:extLst>
      <p:ext uri="{BB962C8B-B14F-4D97-AF65-F5344CB8AC3E}">
        <p14:creationId xmlns:p14="http://schemas.microsoft.com/office/powerpoint/2010/main" val="40726720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60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9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Can the surprise be done?</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grpSp>
        <p:nvGrpSpPr>
          <p:cNvPr id="4" name="Two undecided paths" descr="Two possible paths, each with a question mark: intercept the game's announcer, or recreate it ourselves. Neither is decided or tested."/>
          <p:cNvGrpSpPr/>
          <p:nvPr/>
        </p:nvGrpSpPr>
        <p:grpSpPr>
          <a:xfrm>
            <a:off x="640080" y="1600199"/>
            <a:ext cx="10972800" cy="3474721"/>
            <a:chOff x="640080" y="1600199"/>
            <a:chExt cx="10972800" cy="3474721"/>
          </a:xfrm>
        </p:grpSpPr>
        <p:sp>
          <p:nvSpPr>
            <p:cNvPr id="5" name="origin"/>
            <p:cNvSpPr/>
            <p:nvPr/>
          </p:nvSpPr>
          <p:spPr>
            <a:xfrm>
              <a:off x="640080" y="2926080"/>
              <a:ext cx="2468880" cy="822960"/>
            </a:xfrm>
            <a:prstGeom prst="roundRect">
              <a:avLst>
                <a:gd name="adj" fmla="val 50000"/>
              </a:avLst>
            </a:prstGeom>
            <a:solidFill>
              <a:srgbClr val="2B2F36"/>
            </a:solidFill>
            <a:ln w="31750">
              <a:solidFill>
                <a:srgbClr val="F28C28"/>
              </a:solidFill>
            </a:ln>
          </p:spPr>
          <p:txBody>
            <a:bodyPr wrap="square" lIns="54864" tIns="27432" rIns="54864" bIns="27432" rtlCol="0" anchor="ctr">
              <a:noAutofit/>
            </a:bodyPr>
            <a:lstStyle/>
            <a:p>
              <a:pPr algn="ctr"/>
              <a:r>
                <a:rPr lang="en-GB" sz="2000" b="1" i="0">
                  <a:solidFill>
                    <a:srgbClr val="F2F2F2"/>
                  </a:solidFill>
                  <a:latin typeface="Arial"/>
                </a:rPr>
                <a:t>The surprise</a:t>
              </a:r>
            </a:p>
          </p:txBody>
        </p:sp>
        <p:sp>
          <p:nvSpPr>
            <p:cNvPr id="6" name="path"/>
            <p:cNvSpPr/>
            <p:nvPr/>
          </p:nvSpPr>
          <p:spPr>
            <a:xfrm>
              <a:off x="3108960" y="2331720"/>
              <a:ext cx="1554480" cy="1005840"/>
            </a:xfrm>
            <a:custGeom>
              <a:avLst/>
              <a:gdLst/>
              <a:ahLst/>
              <a:cxnLst/>
              <a:rect l="l" t="t" r="r" b="b"/>
              <a:pathLst>
                <a:path w="1554480" h="1005840">
                  <a:moveTo>
                    <a:pt x="0" y="1005840"/>
                  </a:moveTo>
                  <a:lnTo>
                    <a:pt x="731520" y="1005840"/>
                  </a:lnTo>
                  <a:lnTo>
                    <a:pt x="731520" y="0"/>
                  </a:lnTo>
                  <a:lnTo>
                    <a:pt x="1554480" y="0"/>
                  </a:lnTo>
                </a:path>
              </a:pathLst>
            </a:custGeom>
            <a:noFill/>
            <a:ln w="38100">
              <a:solidFill>
                <a:srgbClr val="F28C28"/>
              </a:solidFill>
              <a:prstDash val="dash"/>
              <a:tailEnd type="triangle" w="med" len="med"/>
            </a:ln>
          </p:spPr>
          <p:txBody>
            <a:bodyPr rtlCol="0" anchor="ctr"/>
            <a:lstStyle/>
            <a:p>
              <a:pPr algn="ctr"/>
              <a:endParaRPr/>
            </a:p>
          </p:txBody>
        </p:sp>
        <p:sp>
          <p:nvSpPr>
            <p:cNvPr id="7" name="path card"/>
            <p:cNvSpPr/>
            <p:nvPr/>
          </p:nvSpPr>
          <p:spPr>
            <a:xfrm>
              <a:off x="4754880" y="1600199"/>
              <a:ext cx="6858000" cy="1463040"/>
            </a:xfrm>
            <a:prstGeom prst="roundRect">
              <a:avLst>
                <a:gd name="adj" fmla="val 6250"/>
              </a:avLst>
            </a:prstGeom>
            <a:solidFill>
              <a:srgbClr val="2B2F36"/>
            </a:solidFill>
            <a:ln w="31750">
              <a:solidFill>
                <a:srgbClr val="A9B0B8"/>
              </a:solidFill>
              <a:prstDash val="dash"/>
            </a:ln>
          </p:spPr>
          <p:txBody>
            <a:bodyPr wrap="square" lIns="365760" tIns="91440" rIns="1371600" bIns="91440" rtlCol="0" anchor="ctr">
              <a:noAutofit/>
            </a:bodyPr>
            <a:lstStyle/>
            <a:p>
              <a:pPr algn="l"/>
              <a:r>
                <a:rPr lang="en-GB" sz="2600" b="1" i="0">
                  <a:solidFill>
                    <a:srgbClr val="F2F2F2"/>
                  </a:solidFill>
                  <a:latin typeface="Arial"/>
                </a:rPr>
                <a:t>Intercept the game's announcer?</a:t>
              </a:r>
            </a:p>
          </p:txBody>
        </p:sp>
        <p:sp>
          <p:nvSpPr>
            <p:cNvPr id="8" name="question disc"/>
            <p:cNvSpPr/>
            <p:nvPr/>
          </p:nvSpPr>
          <p:spPr>
            <a:xfrm>
              <a:off x="10241280" y="1920239"/>
              <a:ext cx="822960" cy="822960"/>
            </a:xfrm>
            <a:prstGeom prst="ellipse">
              <a:avLst/>
            </a:prstGeom>
            <a:noFill/>
            <a:ln w="38100">
              <a:solidFill>
                <a:srgbClr val="A9B0B8"/>
              </a:solidFill>
            </a:ln>
          </p:spPr>
          <p:txBody>
            <a:bodyPr wrap="square" lIns="0" tIns="0" rIns="0" bIns="0" rtlCol="0" anchor="ctr">
              <a:noAutofit/>
            </a:bodyPr>
            <a:lstStyle/>
            <a:p>
              <a:pPr algn="ctr"/>
              <a:r>
                <a:rPr lang="en-GB" sz="3600" b="1" i="0">
                  <a:solidFill>
                    <a:srgbClr val="F2F2F2"/>
                  </a:solidFill>
                  <a:latin typeface="Arial"/>
                </a:rPr>
                <a:t>?</a:t>
              </a:r>
            </a:p>
          </p:txBody>
        </p:sp>
        <p:sp>
          <p:nvSpPr>
            <p:cNvPr id="9" name="path"/>
            <p:cNvSpPr/>
            <p:nvPr/>
          </p:nvSpPr>
          <p:spPr>
            <a:xfrm>
              <a:off x="3108960" y="3337560"/>
              <a:ext cx="1554480" cy="1005840"/>
            </a:xfrm>
            <a:custGeom>
              <a:avLst/>
              <a:gdLst/>
              <a:ahLst/>
              <a:cxnLst/>
              <a:rect l="l" t="t" r="r" b="b"/>
              <a:pathLst>
                <a:path w="1554480" h="1005840">
                  <a:moveTo>
                    <a:pt x="0" y="0"/>
                  </a:moveTo>
                  <a:lnTo>
                    <a:pt x="731520" y="0"/>
                  </a:lnTo>
                  <a:lnTo>
                    <a:pt x="731520" y="1005840"/>
                  </a:lnTo>
                  <a:lnTo>
                    <a:pt x="1554480" y="1005840"/>
                  </a:lnTo>
                </a:path>
              </a:pathLst>
            </a:custGeom>
            <a:noFill/>
            <a:ln w="38100">
              <a:solidFill>
                <a:srgbClr val="F28C28"/>
              </a:solidFill>
              <a:prstDash val="dash"/>
              <a:tailEnd type="triangle" w="med" len="med"/>
            </a:ln>
          </p:spPr>
          <p:txBody>
            <a:bodyPr rtlCol="0" anchor="ctr"/>
            <a:lstStyle/>
            <a:p>
              <a:pPr algn="ctr"/>
              <a:endParaRPr/>
            </a:p>
          </p:txBody>
        </p:sp>
        <p:sp>
          <p:nvSpPr>
            <p:cNvPr id="10" name="path card"/>
            <p:cNvSpPr/>
            <p:nvPr/>
          </p:nvSpPr>
          <p:spPr>
            <a:xfrm>
              <a:off x="4754880" y="3611880"/>
              <a:ext cx="6858000" cy="1463040"/>
            </a:xfrm>
            <a:prstGeom prst="roundRect">
              <a:avLst>
                <a:gd name="adj" fmla="val 6250"/>
              </a:avLst>
            </a:prstGeom>
            <a:solidFill>
              <a:srgbClr val="2B2F36"/>
            </a:solidFill>
            <a:ln w="31750">
              <a:solidFill>
                <a:srgbClr val="A9B0B8"/>
              </a:solidFill>
              <a:prstDash val="dash"/>
            </a:ln>
          </p:spPr>
          <p:txBody>
            <a:bodyPr wrap="square" lIns="365760" tIns="91440" rIns="1371600" bIns="91440" rtlCol="0" anchor="ctr">
              <a:noAutofit/>
            </a:bodyPr>
            <a:lstStyle/>
            <a:p>
              <a:pPr algn="l"/>
              <a:r>
                <a:rPr lang="en-GB" sz="2600" b="1" i="0">
                  <a:solidFill>
                    <a:srgbClr val="F2F2F2"/>
                  </a:solidFill>
                  <a:latin typeface="Arial"/>
                </a:rPr>
                <a:t>Recreate it ourselves?</a:t>
              </a:r>
            </a:p>
          </p:txBody>
        </p:sp>
        <p:sp>
          <p:nvSpPr>
            <p:cNvPr id="11" name="question disc"/>
            <p:cNvSpPr/>
            <p:nvPr/>
          </p:nvSpPr>
          <p:spPr>
            <a:xfrm>
              <a:off x="10241280" y="3931920"/>
              <a:ext cx="822960" cy="822960"/>
            </a:xfrm>
            <a:prstGeom prst="ellipse">
              <a:avLst/>
            </a:prstGeom>
            <a:noFill/>
            <a:ln w="38100">
              <a:solidFill>
                <a:srgbClr val="A9B0B8"/>
              </a:solidFill>
            </a:ln>
          </p:spPr>
          <p:txBody>
            <a:bodyPr wrap="square" lIns="0" tIns="0" rIns="0" bIns="0" rtlCol="0" anchor="ctr">
              <a:noAutofit/>
            </a:bodyPr>
            <a:lstStyle/>
            <a:p>
              <a:pPr algn="ctr"/>
              <a:r>
                <a:rPr lang="en-GB" sz="3600" b="1" i="0">
                  <a:solidFill>
                    <a:srgbClr val="F2F2F2"/>
                  </a:solidFill>
                  <a:latin typeface="Arial"/>
                </a:rPr>
                <a:t>?</a:t>
              </a:r>
            </a:p>
          </p:txBody>
        </p:sp>
      </p:grpSp>
      <p:sp>
        <p:nvSpPr>
          <p:cNvPr id="12" name="FOOTER"/>
          <p:cNvSpPr txBox="1"/>
          <p:nvPr/>
        </p:nvSpPr>
        <p:spPr>
          <a:xfrm>
            <a:off x="640080" y="5120640"/>
            <a:ext cx="1828800" cy="365760"/>
          </a:xfrm>
          <a:prstGeom prst="rect">
            <a:avLst/>
          </a:prstGeom>
          <a:noFill/>
        </p:spPr>
        <p:txBody>
          <a:bodyPr wrap="square" lIns="18288" tIns="9144" rIns="18288" bIns="9144" anchor="ctr">
            <a:noAutofit/>
          </a:bodyPr>
          <a:lstStyle/>
          <a:p>
            <a:pPr algn="l"/>
            <a:r>
              <a:rPr lang="en-GB" sz="1800" b="1" i="0">
                <a:solidFill>
                  <a:srgbClr val="A9B0B8"/>
                </a:solidFill>
                <a:latin typeface="Arial"/>
              </a:rPr>
              <a:t>OQ18</a:t>
            </a:r>
          </a:p>
        </p:txBody>
      </p:sp>
      <p:sp>
        <p:nvSpPr>
          <p:cNvPr id="1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5"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How to pull off the surprise is not decided or tested.</a:t>
            </a:r>
          </a:p>
        </p:txBody>
      </p:sp>
      <p:sp>
        <p:nvSpPr>
          <p:cNvPr id="1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13</a:t>
            </a:r>
          </a:p>
        </p:txBody>
      </p:sp>
    </p:spTree>
    <p:extLst>
      <p:ext uri="{BB962C8B-B14F-4D97-AF65-F5344CB8AC3E}">
        <p14:creationId xmlns:p14="http://schemas.microsoft.com/office/powerpoint/2010/main" val="19808576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6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9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12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hint of an older FICSIT</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Older look and modern look" descr="Two mock panels. On the left, an older look: boxy and plain. On the right, a modern look: sleek. A dotted double arrow with a question mark sits between them, and a note says it is a hint only, not a backstory."/>
          <p:cNvGrpSpPr/>
          <p:nvPr/>
        </p:nvGrpSpPr>
        <p:grpSpPr>
          <a:xfrm>
            <a:off x="822960" y="1417320"/>
            <a:ext cx="10543032" cy="3291840"/>
            <a:chOff x="822960" y="1417320"/>
            <a:chExt cx="10543032" cy="3291840"/>
          </a:xfrm>
        </p:grpSpPr>
        <p:sp>
          <p:nvSpPr>
            <p:cNvPr id="5" name="panel label"/>
            <p:cNvSpPr txBox="1"/>
            <p:nvPr/>
          </p:nvSpPr>
          <p:spPr>
            <a:xfrm>
              <a:off x="822960" y="1417320"/>
              <a:ext cx="4206240" cy="411480"/>
            </a:xfrm>
            <a:prstGeom prst="rect">
              <a:avLst/>
            </a:prstGeom>
            <a:noFill/>
          </p:spPr>
          <p:txBody>
            <a:bodyPr wrap="square" lIns="18288" tIns="9144" rIns="18288" bIns="9144" anchor="ctr">
              <a:noAutofit/>
            </a:bodyPr>
            <a:lstStyle/>
            <a:p>
              <a:pPr algn="ctr"/>
              <a:r>
                <a:rPr lang="en-GB" sz="2000" b="1" i="0">
                  <a:solidFill>
                    <a:srgbClr val="F2F2F2"/>
                  </a:solidFill>
                  <a:latin typeface="Arial"/>
                </a:rPr>
                <a:t>Older look</a:t>
              </a:r>
            </a:p>
          </p:txBody>
        </p:sp>
        <p:sp>
          <p:nvSpPr>
            <p:cNvPr id="6" name="older panel"/>
            <p:cNvSpPr/>
            <p:nvPr/>
          </p:nvSpPr>
          <p:spPr>
            <a:xfrm>
              <a:off x="822960" y="1920240"/>
              <a:ext cx="4206240" cy="2788920"/>
            </a:xfrm>
            <a:prstGeom prst="rect">
              <a:avLst/>
            </a:prstGeom>
            <a:solidFill>
              <a:srgbClr val="3A3F47"/>
            </a:solidFill>
            <a:ln w="50800">
              <a:solidFill>
                <a:srgbClr val="9AA0A6"/>
              </a:solidFill>
            </a:ln>
          </p:spPr>
          <p:txBody>
            <a:bodyPr rtlCol="0" anchor="ctr"/>
            <a:lstStyle/>
            <a:p>
              <a:pPr algn="ctr"/>
              <a:endParaRPr/>
            </a:p>
          </p:txBody>
        </p:sp>
        <p:sp>
          <p:nvSpPr>
            <p:cNvPr id="7" name="older title bar"/>
            <p:cNvSpPr/>
            <p:nvPr/>
          </p:nvSpPr>
          <p:spPr>
            <a:xfrm>
              <a:off x="914400" y="2011680"/>
              <a:ext cx="4023359" cy="365760"/>
            </a:xfrm>
            <a:prstGeom prst="rect">
              <a:avLst/>
            </a:prstGeom>
            <a:solidFill>
              <a:srgbClr val="6B7078"/>
            </a:solidFill>
            <a:ln>
              <a:noFill/>
            </a:ln>
          </p:spPr>
          <p:txBody>
            <a:bodyPr rtlCol="0" anchor="ctr"/>
            <a:lstStyle/>
            <a:p>
              <a:pPr algn="ctr"/>
              <a:endParaRPr/>
            </a:p>
          </p:txBody>
        </p:sp>
        <p:sp>
          <p:nvSpPr>
            <p:cNvPr id="8" name="older list row"/>
            <p:cNvSpPr/>
            <p:nvPr/>
          </p:nvSpPr>
          <p:spPr>
            <a:xfrm>
              <a:off x="1097280" y="2651760"/>
              <a:ext cx="1463040" cy="320040"/>
            </a:xfrm>
            <a:prstGeom prst="rect">
              <a:avLst/>
            </a:prstGeom>
            <a:solidFill>
              <a:srgbClr val="4A515B"/>
            </a:solidFill>
            <a:ln w="19050">
              <a:solidFill>
                <a:srgbClr val="6B7078"/>
              </a:solidFill>
            </a:ln>
          </p:spPr>
          <p:txBody>
            <a:bodyPr rtlCol="0" anchor="ctr"/>
            <a:lstStyle/>
            <a:p>
              <a:pPr algn="ctr"/>
              <a:endParaRPr/>
            </a:p>
          </p:txBody>
        </p:sp>
        <p:sp>
          <p:nvSpPr>
            <p:cNvPr id="9" name="older list row"/>
            <p:cNvSpPr/>
            <p:nvPr/>
          </p:nvSpPr>
          <p:spPr>
            <a:xfrm>
              <a:off x="1097280" y="3154680"/>
              <a:ext cx="1463040" cy="320040"/>
            </a:xfrm>
            <a:prstGeom prst="rect">
              <a:avLst/>
            </a:prstGeom>
            <a:solidFill>
              <a:srgbClr val="4A515B"/>
            </a:solidFill>
            <a:ln w="19050">
              <a:solidFill>
                <a:srgbClr val="6B7078"/>
              </a:solidFill>
            </a:ln>
          </p:spPr>
          <p:txBody>
            <a:bodyPr rtlCol="0" anchor="ctr"/>
            <a:lstStyle/>
            <a:p>
              <a:pPr algn="ctr"/>
              <a:endParaRPr/>
            </a:p>
          </p:txBody>
        </p:sp>
        <p:sp>
          <p:nvSpPr>
            <p:cNvPr id="10" name="older list row"/>
            <p:cNvSpPr/>
            <p:nvPr/>
          </p:nvSpPr>
          <p:spPr>
            <a:xfrm>
              <a:off x="1097280" y="3657600"/>
              <a:ext cx="1463040" cy="320040"/>
            </a:xfrm>
            <a:prstGeom prst="rect">
              <a:avLst/>
            </a:prstGeom>
            <a:solidFill>
              <a:srgbClr val="4A515B"/>
            </a:solidFill>
            <a:ln w="19050">
              <a:solidFill>
                <a:srgbClr val="6B7078"/>
              </a:solidFill>
            </a:ln>
          </p:spPr>
          <p:txBody>
            <a:bodyPr rtlCol="0" anchor="ctr"/>
            <a:lstStyle/>
            <a:p>
              <a:pPr algn="ctr"/>
              <a:endParaRPr/>
            </a:p>
          </p:txBody>
        </p:sp>
        <p:sp>
          <p:nvSpPr>
            <p:cNvPr id="11" name="older pane"/>
            <p:cNvSpPr/>
            <p:nvPr/>
          </p:nvSpPr>
          <p:spPr>
            <a:xfrm>
              <a:off x="2743200" y="2651760"/>
              <a:ext cx="2103120" cy="1463040"/>
            </a:xfrm>
            <a:prstGeom prst="rect">
              <a:avLst/>
            </a:prstGeom>
            <a:solidFill>
              <a:srgbClr val="2F343B"/>
            </a:solidFill>
            <a:ln w="19050">
              <a:solidFill>
                <a:srgbClr val="6B7078"/>
              </a:solidFill>
            </a:ln>
          </p:spPr>
          <p:txBody>
            <a:bodyPr rtlCol="0" anchor="ctr"/>
            <a:lstStyle/>
            <a:p>
              <a:pPr algn="ctr"/>
              <a:endParaRPr/>
            </a:p>
          </p:txBody>
        </p:sp>
        <p:sp>
          <p:nvSpPr>
            <p:cNvPr id="12" name="older footer bar"/>
            <p:cNvSpPr/>
            <p:nvPr/>
          </p:nvSpPr>
          <p:spPr>
            <a:xfrm>
              <a:off x="1097280" y="4251960"/>
              <a:ext cx="3749039" cy="274320"/>
            </a:xfrm>
            <a:prstGeom prst="rect">
              <a:avLst/>
            </a:prstGeom>
            <a:solidFill>
              <a:srgbClr val="6B7078"/>
            </a:solidFill>
            <a:ln>
              <a:noFill/>
            </a:ln>
          </p:spPr>
          <p:txBody>
            <a:bodyPr rtlCol="0" anchor="ctr"/>
            <a:lstStyle/>
            <a:p>
              <a:pPr algn="ctr"/>
              <a:endParaRPr/>
            </a:p>
          </p:txBody>
        </p:sp>
        <p:sp>
          <p:nvSpPr>
            <p:cNvPr id="13" name="panel label"/>
            <p:cNvSpPr txBox="1"/>
            <p:nvPr/>
          </p:nvSpPr>
          <p:spPr>
            <a:xfrm>
              <a:off x="7159752" y="1417320"/>
              <a:ext cx="4206240" cy="411480"/>
            </a:xfrm>
            <a:prstGeom prst="rect">
              <a:avLst/>
            </a:prstGeom>
            <a:noFill/>
          </p:spPr>
          <p:txBody>
            <a:bodyPr wrap="square" lIns="18288" tIns="9144" rIns="18288" bIns="9144" anchor="ctr">
              <a:noAutofit/>
            </a:bodyPr>
            <a:lstStyle/>
            <a:p>
              <a:pPr algn="ctr"/>
              <a:r>
                <a:rPr lang="en-GB" sz="2000" b="1" i="0">
                  <a:solidFill>
                    <a:srgbClr val="F2F2F2"/>
                  </a:solidFill>
                  <a:latin typeface="Arial"/>
                </a:rPr>
                <a:t>Modern look</a:t>
              </a:r>
            </a:p>
          </p:txBody>
        </p:sp>
        <p:sp>
          <p:nvSpPr>
            <p:cNvPr id="14" name="modern panel"/>
            <p:cNvSpPr/>
            <p:nvPr/>
          </p:nvSpPr>
          <p:spPr>
            <a:xfrm>
              <a:off x="7159752" y="1920240"/>
              <a:ext cx="4206240" cy="2788920"/>
            </a:xfrm>
            <a:prstGeom prst="roundRect">
              <a:avLst>
                <a:gd name="adj" fmla="val 9836"/>
              </a:avLst>
            </a:prstGeom>
            <a:solidFill>
              <a:srgbClr val="1B1D21"/>
            </a:solidFill>
            <a:ln w="19050">
              <a:solidFill>
                <a:srgbClr val="F28C28"/>
              </a:solidFill>
            </a:ln>
          </p:spPr>
          <p:txBody>
            <a:bodyPr rtlCol="0" anchor="ctr"/>
            <a:lstStyle/>
            <a:p>
              <a:pPr algn="ctr"/>
              <a:endParaRPr/>
            </a:p>
          </p:txBody>
        </p:sp>
        <p:sp>
          <p:nvSpPr>
            <p:cNvPr id="15" name="modern header"/>
            <p:cNvSpPr/>
            <p:nvPr/>
          </p:nvSpPr>
          <p:spPr>
            <a:xfrm>
              <a:off x="7434072" y="2148840"/>
              <a:ext cx="1280160" cy="109728"/>
            </a:xfrm>
            <a:prstGeom prst="roundRect">
              <a:avLst>
                <a:gd name="adj" fmla="val 50000"/>
              </a:avLst>
            </a:prstGeom>
            <a:solidFill>
              <a:srgbClr val="F28C28"/>
            </a:solidFill>
            <a:ln>
              <a:noFill/>
            </a:ln>
          </p:spPr>
          <p:txBody>
            <a:bodyPr rtlCol="0" anchor="ctr"/>
            <a:lstStyle/>
            <a:p>
              <a:pPr algn="ctr"/>
              <a:endParaRPr/>
            </a:p>
          </p:txBody>
        </p:sp>
        <p:sp>
          <p:nvSpPr>
            <p:cNvPr id="16" name="modern list row"/>
            <p:cNvSpPr/>
            <p:nvPr/>
          </p:nvSpPr>
          <p:spPr>
            <a:xfrm>
              <a:off x="7434072" y="2651760"/>
              <a:ext cx="1463040" cy="320040"/>
            </a:xfrm>
            <a:prstGeom prst="roundRect">
              <a:avLst>
                <a:gd name="adj" fmla="val 48571"/>
              </a:avLst>
            </a:prstGeom>
            <a:solidFill>
              <a:srgbClr val="2B2F36"/>
            </a:solidFill>
            <a:ln>
              <a:noFill/>
            </a:ln>
          </p:spPr>
          <p:txBody>
            <a:bodyPr rtlCol="0" anchor="ctr"/>
            <a:lstStyle/>
            <a:p>
              <a:pPr algn="ctr"/>
              <a:endParaRPr/>
            </a:p>
          </p:txBody>
        </p:sp>
        <p:sp>
          <p:nvSpPr>
            <p:cNvPr id="17" name="modern list row"/>
            <p:cNvSpPr/>
            <p:nvPr/>
          </p:nvSpPr>
          <p:spPr>
            <a:xfrm>
              <a:off x="7434072" y="3154680"/>
              <a:ext cx="1463040" cy="320040"/>
            </a:xfrm>
            <a:prstGeom prst="roundRect">
              <a:avLst>
                <a:gd name="adj" fmla="val 48571"/>
              </a:avLst>
            </a:prstGeom>
            <a:solidFill>
              <a:srgbClr val="2B2F36"/>
            </a:solidFill>
            <a:ln>
              <a:noFill/>
            </a:ln>
          </p:spPr>
          <p:txBody>
            <a:bodyPr rtlCol="0" anchor="ctr"/>
            <a:lstStyle/>
            <a:p>
              <a:pPr algn="ctr"/>
              <a:endParaRPr/>
            </a:p>
          </p:txBody>
        </p:sp>
        <p:sp>
          <p:nvSpPr>
            <p:cNvPr id="18" name="modern list row"/>
            <p:cNvSpPr/>
            <p:nvPr/>
          </p:nvSpPr>
          <p:spPr>
            <a:xfrm>
              <a:off x="7434072" y="3657600"/>
              <a:ext cx="1463040" cy="320040"/>
            </a:xfrm>
            <a:prstGeom prst="roundRect">
              <a:avLst>
                <a:gd name="adj" fmla="val 48571"/>
              </a:avLst>
            </a:prstGeom>
            <a:solidFill>
              <a:srgbClr val="2B2F36"/>
            </a:solidFill>
            <a:ln>
              <a:noFill/>
            </a:ln>
          </p:spPr>
          <p:txBody>
            <a:bodyPr rtlCol="0" anchor="ctr"/>
            <a:lstStyle/>
            <a:p>
              <a:pPr algn="ctr"/>
              <a:endParaRPr/>
            </a:p>
          </p:txBody>
        </p:sp>
        <p:sp>
          <p:nvSpPr>
            <p:cNvPr id="19" name="modern pane"/>
            <p:cNvSpPr/>
            <p:nvPr/>
          </p:nvSpPr>
          <p:spPr>
            <a:xfrm>
              <a:off x="9079992" y="2651760"/>
              <a:ext cx="2011680" cy="1463040"/>
            </a:xfrm>
            <a:prstGeom prst="roundRect">
              <a:avLst>
                <a:gd name="adj" fmla="val 12500"/>
              </a:avLst>
            </a:prstGeom>
            <a:solidFill>
              <a:srgbClr val="2B2F36"/>
            </a:solidFill>
            <a:ln>
              <a:noFill/>
            </a:ln>
          </p:spPr>
          <p:txBody>
            <a:bodyPr rtlCol="0" anchor="ctr"/>
            <a:lstStyle/>
            <a:p>
              <a:pPr algn="ctr"/>
              <a:endParaRPr/>
            </a:p>
          </p:txBody>
        </p:sp>
        <p:sp>
          <p:nvSpPr>
            <p:cNvPr id="20" name="modern footer bar"/>
            <p:cNvSpPr/>
            <p:nvPr/>
          </p:nvSpPr>
          <p:spPr>
            <a:xfrm>
              <a:off x="7434072" y="4251960"/>
              <a:ext cx="3657600" cy="128016"/>
            </a:xfrm>
            <a:prstGeom prst="roundRect">
              <a:avLst>
                <a:gd name="adj" fmla="val 50000"/>
              </a:avLst>
            </a:prstGeom>
            <a:solidFill>
              <a:srgbClr val="343A43"/>
            </a:solidFill>
            <a:ln>
              <a:noFill/>
            </a:ln>
          </p:spPr>
          <p:txBody>
            <a:bodyPr rtlCol="0" anchor="ctr"/>
            <a:lstStyle/>
            <a:p>
              <a:pPr algn="ctr"/>
              <a:endParaRPr/>
            </a:p>
          </p:txBody>
        </p:sp>
        <p:sp>
          <p:nvSpPr>
            <p:cNvPr id="21" name="modern dot"/>
            <p:cNvSpPr/>
            <p:nvPr/>
          </p:nvSpPr>
          <p:spPr>
            <a:xfrm>
              <a:off x="10817352" y="2121408"/>
              <a:ext cx="182880" cy="182880"/>
            </a:xfrm>
            <a:prstGeom prst="ellipse">
              <a:avLst/>
            </a:prstGeom>
            <a:solidFill>
              <a:srgbClr val="F28C28"/>
            </a:solidFill>
            <a:ln>
              <a:noFill/>
            </a:ln>
          </p:spPr>
          <p:txBody>
            <a:bodyPr rtlCol="0" anchor="ctr"/>
            <a:lstStyle/>
            <a:p>
              <a:pPr algn="ctr"/>
              <a:endParaRPr/>
            </a:p>
          </p:txBody>
        </p:sp>
        <p:cxnSp>
          <p:nvCxnSpPr>
            <p:cNvPr id="22" name="dotted arrow left"/>
            <p:cNvCxnSpPr/>
            <p:nvPr/>
          </p:nvCxnSpPr>
          <p:spPr>
            <a:xfrm>
              <a:off x="5138928" y="3314700"/>
              <a:ext cx="498348" cy="0"/>
            </a:xfrm>
            <a:prstGeom prst="line">
              <a:avLst/>
            </a:prstGeom>
            <a:ln w="38100">
              <a:solidFill>
                <a:srgbClr val="A9B0B8"/>
              </a:solidFill>
              <a:prstDash val="sysDot"/>
              <a:headEnd type="triangle" w="med" len="med"/>
            </a:ln>
          </p:spPr>
        </p:cxnSp>
        <p:cxnSp>
          <p:nvCxnSpPr>
            <p:cNvPr id="23" name="dotted arrow right"/>
            <p:cNvCxnSpPr/>
            <p:nvPr/>
          </p:nvCxnSpPr>
          <p:spPr>
            <a:xfrm flipH="1">
              <a:off x="6551676" y="3314700"/>
              <a:ext cx="498348" cy="0"/>
            </a:xfrm>
            <a:prstGeom prst="line">
              <a:avLst/>
            </a:prstGeom>
            <a:ln w="38100">
              <a:solidFill>
                <a:srgbClr val="A9B0B8"/>
              </a:solidFill>
              <a:prstDash val="sysDot"/>
              <a:headEnd type="triangle" w="med" len="med"/>
            </a:ln>
          </p:spPr>
        </p:cxnSp>
        <p:sp>
          <p:nvSpPr>
            <p:cNvPr id="24" name="question disc"/>
            <p:cNvSpPr/>
            <p:nvPr/>
          </p:nvSpPr>
          <p:spPr>
            <a:xfrm>
              <a:off x="5728716" y="2948940"/>
              <a:ext cx="731520" cy="731520"/>
            </a:xfrm>
            <a:prstGeom prst="ellipse">
              <a:avLst/>
            </a:prstGeom>
            <a:solidFill>
              <a:srgbClr val="2B2F36"/>
            </a:solidFill>
            <a:ln w="31750">
              <a:solidFill>
                <a:srgbClr val="A9B0B8"/>
              </a:solidFill>
            </a:ln>
          </p:spPr>
          <p:txBody>
            <a:bodyPr wrap="square" lIns="0" tIns="0" rIns="0" bIns="0" rtlCol="0" anchor="ctr">
              <a:noAutofit/>
            </a:bodyPr>
            <a:lstStyle/>
            <a:p>
              <a:pPr algn="ctr"/>
              <a:r>
                <a:rPr lang="en-GB" sz="2800" b="1" i="0">
                  <a:solidFill>
                    <a:srgbClr val="F2F2F2"/>
                  </a:solidFill>
                  <a:latin typeface="Arial"/>
                </a:rPr>
                <a:t>?</a:t>
              </a:r>
            </a:p>
          </p:txBody>
        </p:sp>
        <p:sp>
          <p:nvSpPr>
            <p:cNvPr id="25" name="hint note"/>
            <p:cNvSpPr txBox="1"/>
            <p:nvPr/>
          </p:nvSpPr>
          <p:spPr>
            <a:xfrm>
              <a:off x="5134356" y="3817620"/>
              <a:ext cx="1920240" cy="731520"/>
            </a:xfrm>
            <a:prstGeom prst="rect">
              <a:avLst/>
            </a:prstGeom>
            <a:noFill/>
          </p:spPr>
          <p:txBody>
            <a:bodyPr wrap="square" lIns="18288" tIns="9144" rIns="18288" bIns="9144" anchor="ctr">
              <a:noAutofit/>
            </a:bodyPr>
            <a:lstStyle/>
            <a:p>
              <a:pPr algn="ctr"/>
              <a:r>
                <a:rPr lang="en-GB" sz="1400" b="1" i="0">
                  <a:solidFill>
                    <a:srgbClr val="F2F2F2"/>
                  </a:solidFill>
                  <a:latin typeface="Arial"/>
                </a:rPr>
                <a:t>A hint only, not a backstory.</a:t>
              </a:r>
            </a:p>
          </p:txBody>
        </p:sp>
      </p:grpSp>
      <p:sp>
        <p:nvSpPr>
          <p:cNvPr id="26" name="ICHIP"/>
          <p:cNvSpPr/>
          <p:nvPr/>
        </p:nvSpPr>
        <p:spPr>
          <a:xfrm>
            <a:off x="4930994" y="4937760"/>
            <a:ext cx="2336107"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Lore: undecided (OQ16)</a:t>
            </a:r>
          </a:p>
        </p:txBody>
      </p:sp>
      <p:sp>
        <p:nvSpPr>
          <p:cNvPr id="2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8"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9"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Her style could hint at an older FICSIT. It is not a story.</a:t>
            </a:r>
          </a:p>
        </p:txBody>
      </p:sp>
      <p:sp>
        <p:nvSpPr>
          <p:cNvPr id="30"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14</a:t>
            </a:r>
          </a:p>
        </p:txBody>
      </p:sp>
    </p:spTree>
    <p:extLst>
      <p:ext uri="{BB962C8B-B14F-4D97-AF65-F5344CB8AC3E}">
        <p14:creationId xmlns:p14="http://schemas.microsoft.com/office/powerpoint/2010/main" val="15236323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6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par>
                                <p:cTn id="14" presetID="10" presetClass="entr" presetSubtype="0" fill="hold" nodeType="withEffect">
                                  <p:stCondLst>
                                    <p:cond delay="90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par>
                                <p:cTn id="17" presetID="10" presetClass="entr" presetSubtype="0" fill="hold" nodeType="withEffect">
                                  <p:stCondLst>
                                    <p:cond delay="12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More lessons later</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Four proposed lesson tiles" descr="Four proposed lesson tiles with simple icons: Common mistakes, Junctions, Passing loops and Advanced signalling."/>
          <p:cNvGrpSpPr/>
          <p:nvPr/>
        </p:nvGrpSpPr>
        <p:grpSpPr>
          <a:xfrm>
            <a:off x="548640" y="1463040"/>
            <a:ext cx="11091672" cy="3749039"/>
            <a:chOff x="548640" y="1463040"/>
            <a:chExt cx="11091672" cy="3749039"/>
          </a:xfrm>
        </p:grpSpPr>
        <p:sp>
          <p:nvSpPr>
            <p:cNvPr id="5" name="proposed tile"/>
            <p:cNvSpPr/>
            <p:nvPr/>
          </p:nvSpPr>
          <p:spPr>
            <a:xfrm>
              <a:off x="548640" y="1463040"/>
              <a:ext cx="2560320" cy="3749039"/>
            </a:xfrm>
            <a:prstGeom prst="roundRect">
              <a:avLst>
                <a:gd name="adj" fmla="val 3571"/>
              </a:avLst>
            </a:prstGeom>
            <a:solidFill>
              <a:srgbClr val="2B2F36"/>
            </a:solidFill>
            <a:ln w="31750">
              <a:solidFill>
                <a:srgbClr val="B084F5"/>
              </a:solidFill>
              <a:prstDash val="dash"/>
            </a:ln>
          </p:spPr>
          <p:txBody>
            <a:bodyPr rtlCol="0" anchor="ctr"/>
            <a:lstStyle/>
            <a:p>
              <a:pPr algn="ctr"/>
              <a:endParaRPr/>
            </a:p>
          </p:txBody>
        </p:sp>
        <p:sp>
          <p:nvSpPr>
            <p:cNvPr id="6" name="icon panel"/>
            <p:cNvSpPr/>
            <p:nvPr/>
          </p:nvSpPr>
          <p:spPr>
            <a:xfrm>
              <a:off x="777240" y="1737360"/>
              <a:ext cx="2103120" cy="2194560"/>
            </a:xfrm>
            <a:prstGeom prst="roundRect">
              <a:avLst>
                <a:gd name="adj" fmla="val 3478"/>
              </a:avLst>
            </a:prstGeom>
            <a:solidFill>
              <a:srgbClr val="343A43"/>
            </a:solidFill>
            <a:ln>
              <a:noFill/>
            </a:ln>
          </p:spPr>
          <p:txBody>
            <a:bodyPr rtlCol="0" anchor="ctr"/>
            <a:lstStyle/>
            <a:p>
              <a:pPr algn="ctr"/>
              <a:endParaRPr/>
            </a:p>
          </p:txBody>
        </p:sp>
        <p:sp>
          <p:nvSpPr>
            <p:cNvPr id="7" name="warning triangle"/>
            <p:cNvSpPr/>
            <p:nvPr/>
          </p:nvSpPr>
          <p:spPr>
            <a:xfrm>
              <a:off x="1234440" y="2286000"/>
              <a:ext cx="1188720" cy="1005840"/>
            </a:xfrm>
            <a:custGeom>
              <a:avLst/>
              <a:gdLst/>
              <a:ahLst/>
              <a:cxnLst/>
              <a:rect l="l" t="t" r="r" b="b"/>
              <a:pathLst>
                <a:path w="1188720" h="1005840">
                  <a:moveTo>
                    <a:pt x="594360" y="0"/>
                  </a:moveTo>
                  <a:lnTo>
                    <a:pt x="1188720" y="1005840"/>
                  </a:lnTo>
                  <a:lnTo>
                    <a:pt x="0" y="1005840"/>
                  </a:lnTo>
                  <a:close/>
                </a:path>
              </a:pathLst>
            </a:custGeom>
            <a:solidFill>
              <a:srgbClr val="F2C14E"/>
            </a:solidFill>
            <a:ln>
              <a:noFill/>
            </a:ln>
          </p:spPr>
          <p:txBody>
            <a:bodyPr rtlCol="0" anchor="ctr"/>
            <a:lstStyle/>
            <a:p>
              <a:pPr algn="ctr"/>
              <a:endParaRPr/>
            </a:p>
          </p:txBody>
        </p:sp>
        <p:sp>
          <p:nvSpPr>
            <p:cNvPr id="8" name="warning bar"/>
            <p:cNvSpPr/>
            <p:nvPr/>
          </p:nvSpPr>
          <p:spPr>
            <a:xfrm>
              <a:off x="1783080" y="2651760"/>
              <a:ext cx="91440" cy="347472"/>
            </a:xfrm>
            <a:prstGeom prst="roundRect">
              <a:avLst>
                <a:gd name="adj" fmla="val 40000"/>
              </a:avLst>
            </a:prstGeom>
            <a:solidFill>
              <a:srgbClr val="101418"/>
            </a:solidFill>
            <a:ln>
              <a:noFill/>
            </a:ln>
          </p:spPr>
          <p:txBody>
            <a:bodyPr rtlCol="0" anchor="ctr"/>
            <a:lstStyle/>
            <a:p>
              <a:pPr algn="ctr"/>
              <a:endParaRPr/>
            </a:p>
          </p:txBody>
        </p:sp>
        <p:sp>
          <p:nvSpPr>
            <p:cNvPr id="9" name="warning dot"/>
            <p:cNvSpPr/>
            <p:nvPr/>
          </p:nvSpPr>
          <p:spPr>
            <a:xfrm>
              <a:off x="1773936" y="3054096"/>
              <a:ext cx="109728" cy="109728"/>
            </a:xfrm>
            <a:prstGeom prst="ellipse">
              <a:avLst/>
            </a:prstGeom>
            <a:solidFill>
              <a:srgbClr val="101418"/>
            </a:solidFill>
            <a:ln>
              <a:noFill/>
            </a:ln>
          </p:spPr>
          <p:txBody>
            <a:bodyPr rtlCol="0" anchor="ctr"/>
            <a:lstStyle/>
            <a:p>
              <a:pPr algn="ctr"/>
              <a:endParaRPr/>
            </a:p>
          </p:txBody>
        </p:sp>
        <p:sp>
          <p:nvSpPr>
            <p:cNvPr id="10" name="tile label"/>
            <p:cNvSpPr txBox="1"/>
            <p:nvPr/>
          </p:nvSpPr>
          <p:spPr>
            <a:xfrm>
              <a:off x="685800" y="4114800"/>
              <a:ext cx="2286000" cy="914400"/>
            </a:xfrm>
            <a:prstGeom prst="rect">
              <a:avLst/>
            </a:prstGeom>
            <a:noFill/>
          </p:spPr>
          <p:txBody>
            <a:bodyPr wrap="square" lIns="18288" tIns="9144" rIns="18288" bIns="9144" anchor="ctr">
              <a:noAutofit/>
            </a:bodyPr>
            <a:lstStyle/>
            <a:p>
              <a:pPr algn="ctr"/>
              <a:r>
                <a:rPr lang="en-GB" sz="2000" b="1" i="0">
                  <a:solidFill>
                    <a:srgbClr val="F2F2F2"/>
                  </a:solidFill>
                  <a:latin typeface="Arial"/>
                </a:rPr>
                <a:t>Common mistakes</a:t>
              </a:r>
            </a:p>
          </p:txBody>
        </p:sp>
        <p:sp>
          <p:nvSpPr>
            <p:cNvPr id="11" name="proposed tile"/>
            <p:cNvSpPr/>
            <p:nvPr/>
          </p:nvSpPr>
          <p:spPr>
            <a:xfrm>
              <a:off x="3392424" y="1463040"/>
              <a:ext cx="2560320" cy="3749039"/>
            </a:xfrm>
            <a:prstGeom prst="roundRect">
              <a:avLst>
                <a:gd name="adj" fmla="val 3571"/>
              </a:avLst>
            </a:prstGeom>
            <a:solidFill>
              <a:srgbClr val="2B2F36"/>
            </a:solidFill>
            <a:ln w="31750">
              <a:solidFill>
                <a:srgbClr val="B084F5"/>
              </a:solidFill>
              <a:prstDash val="dash"/>
            </a:ln>
          </p:spPr>
          <p:txBody>
            <a:bodyPr rtlCol="0" anchor="ctr"/>
            <a:lstStyle/>
            <a:p>
              <a:pPr algn="ctr"/>
              <a:endParaRPr/>
            </a:p>
          </p:txBody>
        </p:sp>
        <p:sp>
          <p:nvSpPr>
            <p:cNvPr id="12" name="icon panel"/>
            <p:cNvSpPr/>
            <p:nvPr/>
          </p:nvSpPr>
          <p:spPr>
            <a:xfrm>
              <a:off x="3621024" y="1737360"/>
              <a:ext cx="2103120" cy="2194560"/>
            </a:xfrm>
            <a:prstGeom prst="roundRect">
              <a:avLst>
                <a:gd name="adj" fmla="val 3478"/>
              </a:avLst>
            </a:prstGeom>
            <a:solidFill>
              <a:srgbClr val="343A43"/>
            </a:solidFill>
            <a:ln>
              <a:noFill/>
            </a:ln>
          </p:spPr>
          <p:txBody>
            <a:bodyPr rtlCol="0" anchor="ctr"/>
            <a:lstStyle/>
            <a:p>
              <a:pPr algn="ctr"/>
              <a:endParaRPr/>
            </a:p>
          </p:txBody>
        </p:sp>
        <p:cxnSp>
          <p:nvCxnSpPr>
            <p:cNvPr id="13" name="trunk"/>
            <p:cNvCxnSpPr/>
            <p:nvPr/>
          </p:nvCxnSpPr>
          <p:spPr>
            <a:xfrm>
              <a:off x="3986783" y="3063240"/>
              <a:ext cx="640081" cy="0"/>
            </a:xfrm>
            <a:prstGeom prst="line">
              <a:avLst/>
            </a:prstGeom>
            <a:ln w="76200" cap="rnd">
              <a:solidFill>
                <a:srgbClr val="9AA0A6"/>
              </a:solidFill>
            </a:ln>
          </p:spPr>
        </p:cxnSp>
        <p:cxnSp>
          <p:nvCxnSpPr>
            <p:cNvPr id="14" name="branch up"/>
            <p:cNvCxnSpPr/>
            <p:nvPr/>
          </p:nvCxnSpPr>
          <p:spPr>
            <a:xfrm flipV="1">
              <a:off x="4626864" y="2514600"/>
              <a:ext cx="731519" cy="548640"/>
            </a:xfrm>
            <a:prstGeom prst="line">
              <a:avLst/>
            </a:prstGeom>
            <a:ln w="76200" cap="rnd">
              <a:solidFill>
                <a:srgbClr val="9AA0A6"/>
              </a:solidFill>
            </a:ln>
          </p:spPr>
        </p:cxnSp>
        <p:cxnSp>
          <p:nvCxnSpPr>
            <p:cNvPr id="15" name="branch straight"/>
            <p:cNvCxnSpPr/>
            <p:nvPr/>
          </p:nvCxnSpPr>
          <p:spPr>
            <a:xfrm>
              <a:off x="4626864" y="3063240"/>
              <a:ext cx="731519" cy="0"/>
            </a:xfrm>
            <a:prstGeom prst="line">
              <a:avLst/>
            </a:prstGeom>
            <a:ln w="76200" cap="rnd">
              <a:solidFill>
                <a:srgbClr val="9AA0A6"/>
              </a:solidFill>
            </a:ln>
          </p:spPr>
        </p:cxnSp>
        <p:sp>
          <p:nvSpPr>
            <p:cNvPr id="16" name="junction point"/>
            <p:cNvSpPr/>
            <p:nvPr/>
          </p:nvSpPr>
          <p:spPr>
            <a:xfrm>
              <a:off x="4544568" y="2935224"/>
              <a:ext cx="256032" cy="256032"/>
            </a:xfrm>
            <a:prstGeom prst="ellipse">
              <a:avLst/>
            </a:prstGeom>
            <a:solidFill>
              <a:srgbClr val="F28C28"/>
            </a:solidFill>
            <a:ln>
              <a:noFill/>
            </a:ln>
          </p:spPr>
          <p:txBody>
            <a:bodyPr rtlCol="0" anchor="ctr"/>
            <a:lstStyle/>
            <a:p>
              <a:pPr algn="ctr"/>
              <a:endParaRPr/>
            </a:p>
          </p:txBody>
        </p:sp>
        <p:sp>
          <p:nvSpPr>
            <p:cNvPr id="17" name="tile label"/>
            <p:cNvSpPr txBox="1"/>
            <p:nvPr/>
          </p:nvSpPr>
          <p:spPr>
            <a:xfrm>
              <a:off x="3529584" y="4114800"/>
              <a:ext cx="2286000" cy="914400"/>
            </a:xfrm>
            <a:prstGeom prst="rect">
              <a:avLst/>
            </a:prstGeom>
            <a:noFill/>
          </p:spPr>
          <p:txBody>
            <a:bodyPr wrap="square" lIns="18288" tIns="9144" rIns="18288" bIns="9144" anchor="ctr">
              <a:noAutofit/>
            </a:bodyPr>
            <a:lstStyle/>
            <a:p>
              <a:pPr algn="ctr"/>
              <a:r>
                <a:rPr lang="en-GB" sz="2000" b="1" i="0">
                  <a:solidFill>
                    <a:srgbClr val="F2F2F2"/>
                  </a:solidFill>
                  <a:latin typeface="Arial"/>
                </a:rPr>
                <a:t>Junctions</a:t>
              </a:r>
            </a:p>
          </p:txBody>
        </p:sp>
        <p:sp>
          <p:nvSpPr>
            <p:cNvPr id="18" name="proposed tile"/>
            <p:cNvSpPr/>
            <p:nvPr/>
          </p:nvSpPr>
          <p:spPr>
            <a:xfrm>
              <a:off x="6236207" y="1463040"/>
              <a:ext cx="2560320" cy="3749039"/>
            </a:xfrm>
            <a:prstGeom prst="roundRect">
              <a:avLst>
                <a:gd name="adj" fmla="val 3571"/>
              </a:avLst>
            </a:prstGeom>
            <a:solidFill>
              <a:srgbClr val="2B2F36"/>
            </a:solidFill>
            <a:ln w="31750">
              <a:solidFill>
                <a:srgbClr val="B084F5"/>
              </a:solidFill>
              <a:prstDash val="dash"/>
            </a:ln>
          </p:spPr>
          <p:txBody>
            <a:bodyPr rtlCol="0" anchor="ctr"/>
            <a:lstStyle/>
            <a:p>
              <a:pPr algn="ctr"/>
              <a:endParaRPr/>
            </a:p>
          </p:txBody>
        </p:sp>
        <p:sp>
          <p:nvSpPr>
            <p:cNvPr id="19" name="icon panel"/>
            <p:cNvSpPr/>
            <p:nvPr/>
          </p:nvSpPr>
          <p:spPr>
            <a:xfrm>
              <a:off x="6464807" y="1737360"/>
              <a:ext cx="2103120" cy="2194560"/>
            </a:xfrm>
            <a:prstGeom prst="roundRect">
              <a:avLst>
                <a:gd name="adj" fmla="val 3478"/>
              </a:avLst>
            </a:prstGeom>
            <a:solidFill>
              <a:srgbClr val="343A43"/>
            </a:solidFill>
            <a:ln>
              <a:noFill/>
            </a:ln>
          </p:spPr>
          <p:txBody>
            <a:bodyPr rtlCol="0" anchor="ctr"/>
            <a:lstStyle/>
            <a:p>
              <a:pPr algn="ctr"/>
              <a:endParaRPr/>
            </a:p>
          </p:txBody>
        </p:sp>
        <p:cxnSp>
          <p:nvCxnSpPr>
            <p:cNvPr id="20" name="main line"/>
            <p:cNvCxnSpPr/>
            <p:nvPr/>
          </p:nvCxnSpPr>
          <p:spPr>
            <a:xfrm>
              <a:off x="6784847" y="3108960"/>
              <a:ext cx="1463041" cy="0"/>
            </a:xfrm>
            <a:prstGeom prst="line">
              <a:avLst/>
            </a:prstGeom>
            <a:ln w="76200" cap="rnd">
              <a:solidFill>
                <a:srgbClr val="9AA0A6"/>
              </a:solidFill>
            </a:ln>
          </p:spPr>
        </p:cxnSp>
        <p:sp>
          <p:nvSpPr>
            <p:cNvPr id="21" name="passing loop"/>
            <p:cNvSpPr/>
            <p:nvPr/>
          </p:nvSpPr>
          <p:spPr>
            <a:xfrm>
              <a:off x="7150607" y="2606040"/>
              <a:ext cx="731520" cy="502920"/>
            </a:xfrm>
            <a:custGeom>
              <a:avLst/>
              <a:gdLst/>
              <a:ahLst/>
              <a:cxnLst/>
              <a:rect l="l" t="t" r="r" b="b"/>
              <a:pathLst>
                <a:path w="731520" h="502920">
                  <a:moveTo>
                    <a:pt x="0" y="502920"/>
                  </a:moveTo>
                  <a:lnTo>
                    <a:pt x="182881" y="0"/>
                  </a:lnTo>
                  <a:lnTo>
                    <a:pt x="548640" y="0"/>
                  </a:lnTo>
                  <a:lnTo>
                    <a:pt x="731520" y="502920"/>
                  </a:lnTo>
                </a:path>
              </a:pathLst>
            </a:custGeom>
            <a:noFill/>
            <a:ln w="76200">
              <a:solidFill>
                <a:srgbClr val="9AA0A6"/>
              </a:solidFill>
            </a:ln>
          </p:spPr>
          <p:txBody>
            <a:bodyPr rtlCol="0" anchor="ctr"/>
            <a:lstStyle/>
            <a:p>
              <a:pPr algn="ctr"/>
              <a:endParaRPr/>
            </a:p>
          </p:txBody>
        </p:sp>
        <p:sp>
          <p:nvSpPr>
            <p:cNvPr id="22" name="loop train"/>
            <p:cNvSpPr/>
            <p:nvPr/>
          </p:nvSpPr>
          <p:spPr>
            <a:xfrm>
              <a:off x="7388351" y="2478024"/>
              <a:ext cx="256032" cy="256032"/>
            </a:xfrm>
            <a:prstGeom prst="ellipse">
              <a:avLst/>
            </a:prstGeom>
            <a:solidFill>
              <a:srgbClr val="F28C28"/>
            </a:solidFill>
            <a:ln>
              <a:noFill/>
            </a:ln>
          </p:spPr>
          <p:txBody>
            <a:bodyPr rtlCol="0" anchor="ctr"/>
            <a:lstStyle/>
            <a:p>
              <a:pPr algn="ctr"/>
              <a:endParaRPr/>
            </a:p>
          </p:txBody>
        </p:sp>
        <p:sp>
          <p:nvSpPr>
            <p:cNvPr id="23" name="tile label"/>
            <p:cNvSpPr txBox="1"/>
            <p:nvPr/>
          </p:nvSpPr>
          <p:spPr>
            <a:xfrm>
              <a:off x="6373368" y="4114800"/>
              <a:ext cx="2286000" cy="914400"/>
            </a:xfrm>
            <a:prstGeom prst="rect">
              <a:avLst/>
            </a:prstGeom>
            <a:noFill/>
          </p:spPr>
          <p:txBody>
            <a:bodyPr wrap="square" lIns="18288" tIns="9144" rIns="18288" bIns="9144" anchor="ctr">
              <a:noAutofit/>
            </a:bodyPr>
            <a:lstStyle/>
            <a:p>
              <a:pPr algn="ctr"/>
              <a:r>
                <a:rPr lang="en-GB" sz="2000" b="1" i="0">
                  <a:solidFill>
                    <a:srgbClr val="F2F2F2"/>
                  </a:solidFill>
                  <a:latin typeface="Arial"/>
                </a:rPr>
                <a:t>Passing loops</a:t>
              </a:r>
            </a:p>
          </p:txBody>
        </p:sp>
        <p:sp>
          <p:nvSpPr>
            <p:cNvPr id="24" name="proposed tile"/>
            <p:cNvSpPr/>
            <p:nvPr/>
          </p:nvSpPr>
          <p:spPr>
            <a:xfrm>
              <a:off x="9079992" y="1463040"/>
              <a:ext cx="2560320" cy="3749039"/>
            </a:xfrm>
            <a:prstGeom prst="roundRect">
              <a:avLst>
                <a:gd name="adj" fmla="val 3571"/>
              </a:avLst>
            </a:prstGeom>
            <a:solidFill>
              <a:srgbClr val="2B2F36"/>
            </a:solidFill>
            <a:ln w="31750">
              <a:solidFill>
                <a:srgbClr val="B084F5"/>
              </a:solidFill>
              <a:prstDash val="dash"/>
            </a:ln>
          </p:spPr>
          <p:txBody>
            <a:bodyPr rtlCol="0" anchor="ctr"/>
            <a:lstStyle/>
            <a:p>
              <a:pPr algn="ctr"/>
              <a:endParaRPr/>
            </a:p>
          </p:txBody>
        </p:sp>
        <p:sp>
          <p:nvSpPr>
            <p:cNvPr id="25" name="icon panel"/>
            <p:cNvSpPr/>
            <p:nvPr/>
          </p:nvSpPr>
          <p:spPr>
            <a:xfrm>
              <a:off x="9308592" y="1737360"/>
              <a:ext cx="2103120" cy="2194560"/>
            </a:xfrm>
            <a:prstGeom prst="roundRect">
              <a:avLst>
                <a:gd name="adj" fmla="val 3478"/>
              </a:avLst>
            </a:prstGeom>
            <a:solidFill>
              <a:srgbClr val="343A43"/>
            </a:solidFill>
            <a:ln>
              <a:noFill/>
            </a:ln>
          </p:spPr>
          <p:txBody>
            <a:bodyPr rtlCol="0" anchor="ctr"/>
            <a:lstStyle/>
            <a:p>
              <a:pPr algn="ctr"/>
              <a:endParaRPr/>
            </a:p>
          </p:txBody>
        </p:sp>
        <p:sp>
          <p:nvSpPr>
            <p:cNvPr id="26" name="icon semaphore post"/>
            <p:cNvSpPr/>
            <p:nvPr/>
          </p:nvSpPr>
          <p:spPr>
            <a:xfrm>
              <a:off x="10115550" y="2331720"/>
              <a:ext cx="123444" cy="1234440"/>
            </a:xfrm>
            <a:prstGeom prst="rect">
              <a:avLst/>
            </a:prstGeom>
            <a:solidFill>
              <a:srgbClr val="E8E8E8"/>
            </a:solidFill>
            <a:ln w="9525">
              <a:solidFill>
                <a:srgbClr val="6B7078"/>
              </a:solidFill>
            </a:ln>
          </p:spPr>
          <p:txBody>
            <a:bodyPr rtlCol="0" anchor="ctr"/>
            <a:lstStyle/>
            <a:p>
              <a:pPr algn="ctr"/>
              <a:endParaRPr/>
            </a:p>
          </p:txBody>
        </p:sp>
        <p:sp>
          <p:nvSpPr>
            <p:cNvPr id="27" name="icon semaphore foot"/>
            <p:cNvSpPr/>
            <p:nvPr/>
          </p:nvSpPr>
          <p:spPr>
            <a:xfrm>
              <a:off x="9905695" y="3492093"/>
              <a:ext cx="543153" cy="74066"/>
            </a:xfrm>
            <a:prstGeom prst="rect">
              <a:avLst/>
            </a:prstGeom>
            <a:solidFill>
              <a:srgbClr val="3A3F47"/>
            </a:solidFill>
            <a:ln>
              <a:noFill/>
            </a:ln>
          </p:spPr>
          <p:txBody>
            <a:bodyPr rtlCol="0" anchor="ctr"/>
            <a:lstStyle/>
            <a:p>
              <a:pPr algn="ctr"/>
              <a:endParaRPr/>
            </a:p>
          </p:txBody>
        </p:sp>
        <p:sp>
          <p:nvSpPr>
            <p:cNvPr id="28" name="icon semaphore arm"/>
            <p:cNvSpPr/>
            <p:nvPr/>
          </p:nvSpPr>
          <p:spPr>
            <a:xfrm>
              <a:off x="10186621" y="1886293"/>
              <a:ext cx="645932" cy="645932"/>
            </a:xfrm>
            <a:custGeom>
              <a:avLst/>
              <a:gdLst/>
              <a:ahLst/>
              <a:cxnLst/>
              <a:rect l="l" t="t" r="r" b="b"/>
              <a:pathLst>
                <a:path w="645932" h="645932">
                  <a:moveTo>
                    <a:pt x="0" y="541186"/>
                  </a:moveTo>
                  <a:lnTo>
                    <a:pt x="541186" y="0"/>
                  </a:lnTo>
                  <a:lnTo>
                    <a:pt x="645932" y="104746"/>
                  </a:lnTo>
                  <a:lnTo>
                    <a:pt x="104745" y="645932"/>
                  </a:lnTo>
                  <a:close/>
                </a:path>
              </a:pathLst>
            </a:custGeom>
            <a:solidFill>
              <a:srgbClr val="E5484D"/>
            </a:solidFill>
            <a:ln>
              <a:noFill/>
            </a:ln>
          </p:spPr>
          <p:txBody>
            <a:bodyPr rtlCol="0" anchor="ctr"/>
            <a:lstStyle/>
            <a:p>
              <a:pPr algn="ctr"/>
              <a:endParaRPr/>
            </a:p>
          </p:txBody>
        </p:sp>
        <p:sp>
          <p:nvSpPr>
            <p:cNvPr id="29" name="icon semaphore lamp"/>
            <p:cNvSpPr/>
            <p:nvPr/>
          </p:nvSpPr>
          <p:spPr>
            <a:xfrm>
              <a:off x="10053828" y="2307031"/>
              <a:ext cx="246888" cy="246888"/>
            </a:xfrm>
            <a:prstGeom prst="ellipse">
              <a:avLst/>
            </a:prstGeom>
            <a:solidFill>
              <a:srgbClr val="3FB950"/>
            </a:solidFill>
            <a:ln w="12700">
              <a:solidFill>
                <a:srgbClr val="2B2F36"/>
              </a:solidFill>
            </a:ln>
          </p:spPr>
          <p:txBody>
            <a:bodyPr rtlCol="0" anchor="ctr"/>
            <a:lstStyle/>
            <a:p>
              <a:pPr algn="ctr"/>
              <a:endParaRPr/>
            </a:p>
          </p:txBody>
        </p:sp>
        <p:sp>
          <p:nvSpPr>
            <p:cNvPr id="30" name="icon semaphore pivot"/>
            <p:cNvSpPr/>
            <p:nvPr/>
          </p:nvSpPr>
          <p:spPr>
            <a:xfrm>
              <a:off x="10189616" y="2430475"/>
              <a:ext cx="98755" cy="98755"/>
            </a:xfrm>
            <a:prstGeom prst="ellipse">
              <a:avLst/>
            </a:prstGeom>
            <a:solidFill>
              <a:srgbClr val="3A3F47"/>
            </a:solidFill>
            <a:ln>
              <a:noFill/>
            </a:ln>
          </p:spPr>
          <p:txBody>
            <a:bodyPr rtlCol="0" anchor="ctr"/>
            <a:lstStyle/>
            <a:p>
              <a:pPr algn="ctr"/>
              <a:endParaRPr/>
            </a:p>
          </p:txBody>
        </p:sp>
        <p:sp>
          <p:nvSpPr>
            <p:cNvPr id="31" name="tile label"/>
            <p:cNvSpPr txBox="1"/>
            <p:nvPr/>
          </p:nvSpPr>
          <p:spPr>
            <a:xfrm>
              <a:off x="9217152" y="4114800"/>
              <a:ext cx="2286000" cy="914400"/>
            </a:xfrm>
            <a:prstGeom prst="rect">
              <a:avLst/>
            </a:prstGeom>
            <a:noFill/>
          </p:spPr>
          <p:txBody>
            <a:bodyPr wrap="square" lIns="18288" tIns="9144" rIns="18288" bIns="9144" anchor="ctr">
              <a:noAutofit/>
            </a:bodyPr>
            <a:lstStyle/>
            <a:p>
              <a:pPr algn="ctr"/>
              <a:r>
                <a:rPr lang="en-GB" sz="2000" b="1" i="0">
                  <a:solidFill>
                    <a:srgbClr val="F2F2F2"/>
                  </a:solidFill>
                  <a:latin typeface="Arial"/>
                </a:rPr>
                <a:t>Advanced signalling</a:t>
              </a:r>
            </a:p>
          </p:txBody>
        </p:sp>
      </p:grpSp>
      <p:sp>
        <p:nvSpPr>
          <p:cNvPr id="32"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3"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4"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More lessons could cover common mistakes, junctions and passing loops.</a:t>
            </a:r>
          </a:p>
        </p:txBody>
      </p:sp>
      <p:sp>
        <p:nvSpPr>
          <p:cNvPr id="35"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15</a:t>
            </a:r>
          </a:p>
        </p:txBody>
      </p:sp>
    </p:spTree>
    <p:extLst>
      <p:ext uri="{BB962C8B-B14F-4D97-AF65-F5344CB8AC3E}">
        <p14:creationId xmlns:p14="http://schemas.microsoft.com/office/powerpoint/2010/main" val="15371265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nodeType="withEffect">
                                  <p:stCondLst>
                                    <p:cond delay="60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par>
                                <p:cTn id="14" presetID="10" presetClass="entr" presetSubtype="0" fill="hold" nodeType="withEffect">
                                  <p:stCondLst>
                                    <p:cond delay="9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How the list could look</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Vertical list of subjects" descr="A simple vertical list of five subject rows drawn as grey bars, each with a small plain icon and a scroll bar on the right. The subject names are not decided."/>
          <p:cNvGrpSpPr/>
          <p:nvPr/>
        </p:nvGrpSpPr>
        <p:grpSpPr>
          <a:xfrm>
            <a:off x="2926080" y="1371600"/>
            <a:ext cx="6309360" cy="3611880"/>
            <a:chOff x="2926080" y="1371600"/>
            <a:chExt cx="6309360" cy="3611880"/>
          </a:xfrm>
        </p:grpSpPr>
        <p:sp>
          <p:nvSpPr>
            <p:cNvPr id="5" name="list panel"/>
            <p:cNvSpPr/>
            <p:nvPr/>
          </p:nvSpPr>
          <p:spPr>
            <a:xfrm>
              <a:off x="2926080" y="1371600"/>
              <a:ext cx="6309360" cy="3611880"/>
            </a:xfrm>
            <a:prstGeom prst="roundRect">
              <a:avLst>
                <a:gd name="adj" fmla="val 2531"/>
              </a:avLst>
            </a:prstGeom>
            <a:solidFill>
              <a:srgbClr val="2B2F36"/>
            </a:solidFill>
            <a:ln w="25400">
              <a:solidFill>
                <a:srgbClr val="4A515B"/>
              </a:solidFill>
            </a:ln>
          </p:spPr>
          <p:txBody>
            <a:bodyPr rtlCol="0" anchor="ctr"/>
            <a:lstStyle/>
            <a:p>
              <a:pPr algn="ctr"/>
              <a:endParaRPr/>
            </a:p>
          </p:txBody>
        </p:sp>
        <p:sp>
          <p:nvSpPr>
            <p:cNvPr id="6" name="subject bar"/>
            <p:cNvSpPr/>
            <p:nvPr/>
          </p:nvSpPr>
          <p:spPr>
            <a:xfrm>
              <a:off x="3154680" y="1536192"/>
              <a:ext cx="5440680" cy="548640"/>
            </a:xfrm>
            <a:prstGeom prst="roundRect">
              <a:avLst>
                <a:gd name="adj" fmla="val 13333"/>
              </a:avLst>
            </a:prstGeom>
            <a:solidFill>
              <a:srgbClr val="4A515B"/>
            </a:solidFill>
            <a:ln>
              <a:noFill/>
            </a:ln>
          </p:spPr>
          <p:txBody>
            <a:bodyPr rtlCol="0" anchor="ctr"/>
            <a:lstStyle/>
            <a:p>
              <a:pPr algn="ctr"/>
              <a:endParaRPr/>
            </a:p>
          </p:txBody>
        </p:sp>
        <p:sp>
          <p:nvSpPr>
            <p:cNvPr id="7" name="subject icon"/>
            <p:cNvSpPr/>
            <p:nvPr/>
          </p:nvSpPr>
          <p:spPr>
            <a:xfrm>
              <a:off x="3291840" y="1645919"/>
              <a:ext cx="329184" cy="329184"/>
            </a:xfrm>
            <a:prstGeom prst="ellipse">
              <a:avLst/>
            </a:prstGeom>
            <a:solidFill>
              <a:srgbClr val="F28C28"/>
            </a:solidFill>
            <a:ln>
              <a:noFill/>
            </a:ln>
          </p:spPr>
          <p:txBody>
            <a:bodyPr rtlCol="0" anchor="ctr"/>
            <a:lstStyle/>
            <a:p>
              <a:pPr algn="ctr"/>
              <a:endParaRPr/>
            </a:p>
          </p:txBody>
        </p:sp>
        <p:sp>
          <p:nvSpPr>
            <p:cNvPr id="8" name="subject text bar"/>
            <p:cNvSpPr/>
            <p:nvPr/>
          </p:nvSpPr>
          <p:spPr>
            <a:xfrm>
              <a:off x="3840480" y="1764792"/>
              <a:ext cx="2011680" cy="91440"/>
            </a:xfrm>
            <a:prstGeom prst="rect">
              <a:avLst/>
            </a:prstGeom>
            <a:solidFill>
              <a:srgbClr val="A9B0B8"/>
            </a:solidFill>
            <a:ln>
              <a:noFill/>
            </a:ln>
          </p:spPr>
          <p:txBody>
            <a:bodyPr rtlCol="0" anchor="ctr"/>
            <a:lstStyle/>
            <a:p>
              <a:pPr algn="ctr"/>
              <a:endParaRPr/>
            </a:p>
          </p:txBody>
        </p:sp>
        <p:sp>
          <p:nvSpPr>
            <p:cNvPr id="9" name="subject bar"/>
            <p:cNvSpPr/>
            <p:nvPr/>
          </p:nvSpPr>
          <p:spPr>
            <a:xfrm>
              <a:off x="3154680" y="2231136"/>
              <a:ext cx="5440680" cy="548640"/>
            </a:xfrm>
            <a:prstGeom prst="roundRect">
              <a:avLst>
                <a:gd name="adj" fmla="val 13333"/>
              </a:avLst>
            </a:prstGeom>
            <a:solidFill>
              <a:srgbClr val="4A515B"/>
            </a:solidFill>
            <a:ln>
              <a:noFill/>
            </a:ln>
          </p:spPr>
          <p:txBody>
            <a:bodyPr rtlCol="0" anchor="ctr"/>
            <a:lstStyle/>
            <a:p>
              <a:pPr algn="ctr"/>
              <a:endParaRPr/>
            </a:p>
          </p:txBody>
        </p:sp>
        <p:sp>
          <p:nvSpPr>
            <p:cNvPr id="10" name="subject icon"/>
            <p:cNvSpPr/>
            <p:nvPr/>
          </p:nvSpPr>
          <p:spPr>
            <a:xfrm>
              <a:off x="3291840" y="2340864"/>
              <a:ext cx="329184" cy="329184"/>
            </a:xfrm>
            <a:prstGeom prst="rect">
              <a:avLst/>
            </a:prstGeom>
            <a:solidFill>
              <a:srgbClr val="F28C28"/>
            </a:solidFill>
            <a:ln>
              <a:noFill/>
            </a:ln>
          </p:spPr>
          <p:txBody>
            <a:bodyPr rtlCol="0" anchor="ctr"/>
            <a:lstStyle/>
            <a:p>
              <a:pPr algn="ctr"/>
              <a:endParaRPr/>
            </a:p>
          </p:txBody>
        </p:sp>
        <p:sp>
          <p:nvSpPr>
            <p:cNvPr id="11" name="subject text bar"/>
            <p:cNvSpPr/>
            <p:nvPr/>
          </p:nvSpPr>
          <p:spPr>
            <a:xfrm>
              <a:off x="3840480" y="2459736"/>
              <a:ext cx="2468880" cy="91440"/>
            </a:xfrm>
            <a:prstGeom prst="rect">
              <a:avLst/>
            </a:prstGeom>
            <a:solidFill>
              <a:srgbClr val="A9B0B8"/>
            </a:solidFill>
            <a:ln>
              <a:noFill/>
            </a:ln>
          </p:spPr>
          <p:txBody>
            <a:bodyPr rtlCol="0" anchor="ctr"/>
            <a:lstStyle/>
            <a:p>
              <a:pPr algn="ctr"/>
              <a:endParaRPr/>
            </a:p>
          </p:txBody>
        </p:sp>
        <p:sp>
          <p:nvSpPr>
            <p:cNvPr id="12" name="subject bar"/>
            <p:cNvSpPr/>
            <p:nvPr/>
          </p:nvSpPr>
          <p:spPr>
            <a:xfrm>
              <a:off x="3154680" y="2926080"/>
              <a:ext cx="5440680" cy="548640"/>
            </a:xfrm>
            <a:prstGeom prst="roundRect">
              <a:avLst>
                <a:gd name="adj" fmla="val 13333"/>
              </a:avLst>
            </a:prstGeom>
            <a:solidFill>
              <a:srgbClr val="4A515B"/>
            </a:solidFill>
            <a:ln>
              <a:noFill/>
            </a:ln>
          </p:spPr>
          <p:txBody>
            <a:bodyPr rtlCol="0" anchor="ctr"/>
            <a:lstStyle/>
            <a:p>
              <a:pPr algn="ctr"/>
              <a:endParaRPr/>
            </a:p>
          </p:txBody>
        </p:sp>
        <p:sp>
          <p:nvSpPr>
            <p:cNvPr id="13" name="subject icon"/>
            <p:cNvSpPr/>
            <p:nvPr/>
          </p:nvSpPr>
          <p:spPr>
            <a:xfrm>
              <a:off x="3291840" y="3035808"/>
              <a:ext cx="329184" cy="329184"/>
            </a:xfrm>
            <a:prstGeom prst="triangle">
              <a:avLst/>
            </a:prstGeom>
            <a:solidFill>
              <a:srgbClr val="F28C28"/>
            </a:solidFill>
            <a:ln>
              <a:noFill/>
            </a:ln>
          </p:spPr>
          <p:txBody>
            <a:bodyPr rtlCol="0" anchor="ctr"/>
            <a:lstStyle/>
            <a:p>
              <a:pPr algn="ctr"/>
              <a:endParaRPr/>
            </a:p>
          </p:txBody>
        </p:sp>
        <p:sp>
          <p:nvSpPr>
            <p:cNvPr id="14" name="subject text bar"/>
            <p:cNvSpPr/>
            <p:nvPr/>
          </p:nvSpPr>
          <p:spPr>
            <a:xfrm>
              <a:off x="3840480" y="3154680"/>
              <a:ext cx="2926080" cy="91440"/>
            </a:xfrm>
            <a:prstGeom prst="rect">
              <a:avLst/>
            </a:prstGeom>
            <a:solidFill>
              <a:srgbClr val="A9B0B8"/>
            </a:solidFill>
            <a:ln>
              <a:noFill/>
            </a:ln>
          </p:spPr>
          <p:txBody>
            <a:bodyPr rtlCol="0" anchor="ctr"/>
            <a:lstStyle/>
            <a:p>
              <a:pPr algn="ctr"/>
              <a:endParaRPr/>
            </a:p>
          </p:txBody>
        </p:sp>
        <p:sp>
          <p:nvSpPr>
            <p:cNvPr id="15" name="subject bar"/>
            <p:cNvSpPr/>
            <p:nvPr/>
          </p:nvSpPr>
          <p:spPr>
            <a:xfrm>
              <a:off x="3154680" y="3621024"/>
              <a:ext cx="5440680" cy="548640"/>
            </a:xfrm>
            <a:prstGeom prst="roundRect">
              <a:avLst>
                <a:gd name="adj" fmla="val 13333"/>
              </a:avLst>
            </a:prstGeom>
            <a:solidFill>
              <a:srgbClr val="4A515B"/>
            </a:solidFill>
            <a:ln>
              <a:noFill/>
            </a:ln>
          </p:spPr>
          <p:txBody>
            <a:bodyPr rtlCol="0" anchor="ctr"/>
            <a:lstStyle/>
            <a:p>
              <a:pPr algn="ctr"/>
              <a:endParaRPr/>
            </a:p>
          </p:txBody>
        </p:sp>
        <p:sp>
          <p:nvSpPr>
            <p:cNvPr id="16" name="subject icon"/>
            <p:cNvSpPr/>
            <p:nvPr/>
          </p:nvSpPr>
          <p:spPr>
            <a:xfrm>
              <a:off x="3291840" y="3730752"/>
              <a:ext cx="329184" cy="329184"/>
            </a:xfrm>
            <a:prstGeom prst="diamond">
              <a:avLst/>
            </a:prstGeom>
            <a:solidFill>
              <a:srgbClr val="F28C28"/>
            </a:solidFill>
            <a:ln>
              <a:noFill/>
            </a:ln>
          </p:spPr>
          <p:txBody>
            <a:bodyPr rtlCol="0" anchor="ctr"/>
            <a:lstStyle/>
            <a:p>
              <a:pPr algn="ctr"/>
              <a:endParaRPr/>
            </a:p>
          </p:txBody>
        </p:sp>
        <p:sp>
          <p:nvSpPr>
            <p:cNvPr id="17" name="subject text bar"/>
            <p:cNvSpPr/>
            <p:nvPr/>
          </p:nvSpPr>
          <p:spPr>
            <a:xfrm>
              <a:off x="3840480" y="3849624"/>
              <a:ext cx="2011680" cy="91440"/>
            </a:xfrm>
            <a:prstGeom prst="rect">
              <a:avLst/>
            </a:prstGeom>
            <a:solidFill>
              <a:srgbClr val="A9B0B8"/>
            </a:solidFill>
            <a:ln>
              <a:noFill/>
            </a:ln>
          </p:spPr>
          <p:txBody>
            <a:bodyPr rtlCol="0" anchor="ctr"/>
            <a:lstStyle/>
            <a:p>
              <a:pPr algn="ctr"/>
              <a:endParaRPr/>
            </a:p>
          </p:txBody>
        </p:sp>
        <p:sp>
          <p:nvSpPr>
            <p:cNvPr id="18" name="subject bar"/>
            <p:cNvSpPr/>
            <p:nvPr/>
          </p:nvSpPr>
          <p:spPr>
            <a:xfrm>
              <a:off x="3154680" y="4315968"/>
              <a:ext cx="5440680" cy="548640"/>
            </a:xfrm>
            <a:prstGeom prst="roundRect">
              <a:avLst>
                <a:gd name="adj" fmla="val 13333"/>
              </a:avLst>
            </a:prstGeom>
            <a:solidFill>
              <a:srgbClr val="4A515B"/>
            </a:solidFill>
            <a:ln>
              <a:noFill/>
            </a:ln>
          </p:spPr>
          <p:txBody>
            <a:bodyPr rtlCol="0" anchor="ctr"/>
            <a:lstStyle/>
            <a:p>
              <a:pPr algn="ctr"/>
              <a:endParaRPr/>
            </a:p>
          </p:txBody>
        </p:sp>
        <p:sp>
          <p:nvSpPr>
            <p:cNvPr id="19" name="subject icon"/>
            <p:cNvSpPr/>
            <p:nvPr/>
          </p:nvSpPr>
          <p:spPr>
            <a:xfrm>
              <a:off x="3291840" y="4425696"/>
              <a:ext cx="329184" cy="329184"/>
            </a:xfrm>
            <a:prstGeom prst="hexagon">
              <a:avLst/>
            </a:prstGeom>
            <a:solidFill>
              <a:srgbClr val="F28C28"/>
            </a:solidFill>
            <a:ln>
              <a:noFill/>
            </a:ln>
          </p:spPr>
          <p:txBody>
            <a:bodyPr rtlCol="0" anchor="ctr"/>
            <a:lstStyle/>
            <a:p>
              <a:pPr algn="ctr"/>
              <a:endParaRPr/>
            </a:p>
          </p:txBody>
        </p:sp>
        <p:sp>
          <p:nvSpPr>
            <p:cNvPr id="20" name="subject text bar"/>
            <p:cNvSpPr/>
            <p:nvPr/>
          </p:nvSpPr>
          <p:spPr>
            <a:xfrm>
              <a:off x="3840480" y="4544568"/>
              <a:ext cx="2468880" cy="91440"/>
            </a:xfrm>
            <a:prstGeom prst="rect">
              <a:avLst/>
            </a:prstGeom>
            <a:solidFill>
              <a:srgbClr val="A9B0B8"/>
            </a:solidFill>
            <a:ln>
              <a:noFill/>
            </a:ln>
          </p:spPr>
          <p:txBody>
            <a:bodyPr rtlCol="0" anchor="ctr"/>
            <a:lstStyle/>
            <a:p>
              <a:pPr algn="ctr"/>
              <a:endParaRPr/>
            </a:p>
          </p:txBody>
        </p:sp>
        <p:sp>
          <p:nvSpPr>
            <p:cNvPr id="21" name="scroll track"/>
            <p:cNvSpPr/>
            <p:nvPr/>
          </p:nvSpPr>
          <p:spPr>
            <a:xfrm>
              <a:off x="8778240" y="1536192"/>
              <a:ext cx="146304" cy="3291840"/>
            </a:xfrm>
            <a:prstGeom prst="roundRect">
              <a:avLst>
                <a:gd name="adj" fmla="val 50000"/>
              </a:avLst>
            </a:prstGeom>
            <a:solidFill>
              <a:srgbClr val="4A515B"/>
            </a:solidFill>
            <a:ln>
              <a:noFill/>
            </a:ln>
          </p:spPr>
          <p:txBody>
            <a:bodyPr rtlCol="0" anchor="ctr"/>
            <a:lstStyle/>
            <a:p>
              <a:pPr algn="ctr"/>
              <a:endParaRPr/>
            </a:p>
          </p:txBody>
        </p:sp>
        <p:sp>
          <p:nvSpPr>
            <p:cNvPr id="22" name="scroll thumb"/>
            <p:cNvSpPr/>
            <p:nvPr/>
          </p:nvSpPr>
          <p:spPr>
            <a:xfrm>
              <a:off x="8778240" y="1536192"/>
              <a:ext cx="146304" cy="1371600"/>
            </a:xfrm>
            <a:prstGeom prst="roundRect">
              <a:avLst>
                <a:gd name="adj" fmla="val 50000"/>
              </a:avLst>
            </a:prstGeom>
            <a:solidFill>
              <a:srgbClr val="A9B0B8"/>
            </a:solidFill>
            <a:ln>
              <a:noFill/>
            </a:ln>
          </p:spPr>
          <p:txBody>
            <a:bodyPr rtlCol="0" anchor="ctr"/>
            <a:lstStyle/>
            <a:p>
              <a:pPr algn="ctr"/>
              <a:endParaRPr/>
            </a:p>
          </p:txBody>
        </p:sp>
      </p:grpSp>
      <p:sp>
        <p:nvSpPr>
          <p:cNvPr id="23" name="ICHIP"/>
          <p:cNvSpPr/>
          <p:nvPr/>
        </p:nvSpPr>
        <p:spPr>
          <a:xfrm>
            <a:off x="4734809" y="5166360"/>
            <a:ext cx="2691901"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Subjects: undecided (OQ17)</a:t>
            </a:r>
          </a:p>
        </p:txBody>
      </p:sp>
      <p:sp>
        <p:nvSpPr>
          <p:cNvPr id="24"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25"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26"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One idea is a simple vertical list of subjects.</a:t>
            </a:r>
          </a:p>
        </p:txBody>
      </p:sp>
      <p:sp>
        <p:nvSpPr>
          <p:cNvPr id="27"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16</a:t>
            </a:r>
          </a:p>
        </p:txBody>
      </p:sp>
    </p:spTree>
    <p:extLst>
      <p:ext uri="{BB962C8B-B14F-4D97-AF65-F5344CB8AC3E}">
        <p14:creationId xmlns:p14="http://schemas.microsoft.com/office/powerpoint/2010/main" val="340143217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nodeType="withEffect">
                                  <p:stCondLst>
                                    <p:cond delay="60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90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500"/>
                                        <p:tgtEl>
                                          <p:spTgt spid="25"/>
                                        </p:tgtEl>
                                      </p:cBhvr>
                                    </p:animEffect>
                                  </p:childTnLst>
                                </p:cTn>
                              </p:par>
                              <p:par>
                                <p:cTn id="17" presetID="10" presetClass="entr" presetSubtype="0" fill="hold" nodeType="withEffect">
                                  <p:stCondLst>
                                    <p:cond delay="120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A home for rail</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Mock build menu tab strip" descr="A mock build menu. A strip of grey tabs includes the vanilla Transport tab. Beside it is a highlighted extra tab with a train icon, labelled: Rail tab, name undecided. Below the strip is an empty grid of build items."/>
          <p:cNvGrpSpPr/>
          <p:nvPr/>
        </p:nvGrpSpPr>
        <p:grpSpPr>
          <a:xfrm>
            <a:off x="822960" y="1508760"/>
            <a:ext cx="10543032" cy="3429000"/>
            <a:chOff x="822960" y="1508760"/>
            <a:chExt cx="10543032" cy="3429000"/>
          </a:xfrm>
        </p:grpSpPr>
        <p:sp>
          <p:nvSpPr>
            <p:cNvPr id="5" name="build menu panel"/>
            <p:cNvSpPr/>
            <p:nvPr/>
          </p:nvSpPr>
          <p:spPr>
            <a:xfrm>
              <a:off x="822960" y="1508760"/>
              <a:ext cx="10543032" cy="3429000"/>
            </a:xfrm>
            <a:prstGeom prst="roundRect">
              <a:avLst>
                <a:gd name="adj" fmla="val 2666"/>
              </a:avLst>
            </a:prstGeom>
            <a:solidFill>
              <a:srgbClr val="2B2F36"/>
            </a:solidFill>
            <a:ln w="25400">
              <a:solidFill>
                <a:srgbClr val="4A515B"/>
              </a:solidFill>
            </a:ln>
          </p:spPr>
          <p:txBody>
            <a:bodyPr rtlCol="0" anchor="ctr"/>
            <a:lstStyle/>
            <a:p>
              <a:pPr algn="ctr"/>
              <a:endParaRPr/>
            </a:p>
          </p:txBody>
        </p:sp>
        <p:sp>
          <p:nvSpPr>
            <p:cNvPr id="6" name="other tab"/>
            <p:cNvSpPr/>
            <p:nvPr/>
          </p:nvSpPr>
          <p:spPr>
            <a:xfrm>
              <a:off x="1097280" y="1691640"/>
              <a:ext cx="1051560" cy="777240"/>
            </a:xfrm>
            <a:prstGeom prst="round2SameRect">
              <a:avLst>
                <a:gd name="adj1" fmla="val 22000"/>
                <a:gd name="adj2" fmla="val 0"/>
              </a:avLst>
            </a:prstGeom>
            <a:solidFill>
              <a:srgbClr val="343A43"/>
            </a:solidFill>
            <a:ln w="19050">
              <a:solidFill>
                <a:srgbClr val="4A515B"/>
              </a:solidFill>
            </a:ln>
          </p:spPr>
          <p:txBody>
            <a:bodyPr rtlCol="0" anchor="ctr"/>
            <a:lstStyle/>
            <a:p>
              <a:pPr algn="ctr"/>
              <a:endParaRPr/>
            </a:p>
          </p:txBody>
        </p:sp>
        <p:sp>
          <p:nvSpPr>
            <p:cNvPr id="7" name="other tab icon"/>
            <p:cNvSpPr/>
            <p:nvPr/>
          </p:nvSpPr>
          <p:spPr>
            <a:xfrm>
              <a:off x="1371600" y="1965960"/>
              <a:ext cx="502920" cy="201168"/>
            </a:xfrm>
            <a:prstGeom prst="roundRect">
              <a:avLst>
                <a:gd name="adj" fmla="val 22727"/>
              </a:avLst>
            </a:prstGeom>
            <a:solidFill>
              <a:srgbClr val="4A515B"/>
            </a:solidFill>
            <a:ln>
              <a:noFill/>
            </a:ln>
          </p:spPr>
          <p:txBody>
            <a:bodyPr rtlCol="0" anchor="ctr"/>
            <a:lstStyle/>
            <a:p>
              <a:pPr algn="ctr"/>
              <a:endParaRPr/>
            </a:p>
          </p:txBody>
        </p:sp>
        <p:sp>
          <p:nvSpPr>
            <p:cNvPr id="8" name="other tab"/>
            <p:cNvSpPr/>
            <p:nvPr/>
          </p:nvSpPr>
          <p:spPr>
            <a:xfrm>
              <a:off x="2258568" y="1691640"/>
              <a:ext cx="1051560" cy="777240"/>
            </a:xfrm>
            <a:prstGeom prst="round2SameRect">
              <a:avLst>
                <a:gd name="adj1" fmla="val 22000"/>
                <a:gd name="adj2" fmla="val 0"/>
              </a:avLst>
            </a:prstGeom>
            <a:solidFill>
              <a:srgbClr val="343A43"/>
            </a:solidFill>
            <a:ln w="19050">
              <a:solidFill>
                <a:srgbClr val="4A515B"/>
              </a:solidFill>
            </a:ln>
          </p:spPr>
          <p:txBody>
            <a:bodyPr rtlCol="0" anchor="ctr"/>
            <a:lstStyle/>
            <a:p>
              <a:pPr algn="ctr"/>
              <a:endParaRPr/>
            </a:p>
          </p:txBody>
        </p:sp>
        <p:sp>
          <p:nvSpPr>
            <p:cNvPr id="9" name="other tab icon"/>
            <p:cNvSpPr/>
            <p:nvPr/>
          </p:nvSpPr>
          <p:spPr>
            <a:xfrm>
              <a:off x="2532887" y="1965960"/>
              <a:ext cx="502920" cy="201168"/>
            </a:xfrm>
            <a:prstGeom prst="roundRect">
              <a:avLst>
                <a:gd name="adj" fmla="val 22727"/>
              </a:avLst>
            </a:prstGeom>
            <a:solidFill>
              <a:srgbClr val="4A515B"/>
            </a:solidFill>
            <a:ln>
              <a:noFill/>
            </a:ln>
          </p:spPr>
          <p:txBody>
            <a:bodyPr rtlCol="0" anchor="ctr"/>
            <a:lstStyle/>
            <a:p>
              <a:pPr algn="ctr"/>
              <a:endParaRPr/>
            </a:p>
          </p:txBody>
        </p:sp>
        <p:sp>
          <p:nvSpPr>
            <p:cNvPr id="10" name="other tab"/>
            <p:cNvSpPr/>
            <p:nvPr/>
          </p:nvSpPr>
          <p:spPr>
            <a:xfrm>
              <a:off x="3419856" y="1691640"/>
              <a:ext cx="1051560" cy="777240"/>
            </a:xfrm>
            <a:prstGeom prst="round2SameRect">
              <a:avLst>
                <a:gd name="adj1" fmla="val 22000"/>
                <a:gd name="adj2" fmla="val 0"/>
              </a:avLst>
            </a:prstGeom>
            <a:solidFill>
              <a:srgbClr val="343A43"/>
            </a:solidFill>
            <a:ln w="19050">
              <a:solidFill>
                <a:srgbClr val="4A515B"/>
              </a:solidFill>
            </a:ln>
          </p:spPr>
          <p:txBody>
            <a:bodyPr rtlCol="0" anchor="ctr"/>
            <a:lstStyle/>
            <a:p>
              <a:pPr algn="ctr"/>
              <a:endParaRPr/>
            </a:p>
          </p:txBody>
        </p:sp>
        <p:sp>
          <p:nvSpPr>
            <p:cNvPr id="11" name="other tab icon"/>
            <p:cNvSpPr/>
            <p:nvPr/>
          </p:nvSpPr>
          <p:spPr>
            <a:xfrm>
              <a:off x="3694176" y="1965960"/>
              <a:ext cx="502920" cy="201168"/>
            </a:xfrm>
            <a:prstGeom prst="roundRect">
              <a:avLst>
                <a:gd name="adj" fmla="val 22727"/>
              </a:avLst>
            </a:prstGeom>
            <a:solidFill>
              <a:srgbClr val="4A515B"/>
            </a:solidFill>
            <a:ln>
              <a:noFill/>
            </a:ln>
          </p:spPr>
          <p:txBody>
            <a:bodyPr rtlCol="0" anchor="ctr"/>
            <a:lstStyle/>
            <a:p>
              <a:pPr algn="ctr"/>
              <a:endParaRPr/>
            </a:p>
          </p:txBody>
        </p:sp>
        <p:sp>
          <p:nvSpPr>
            <p:cNvPr id="12" name="Transport tab"/>
            <p:cNvSpPr/>
            <p:nvPr/>
          </p:nvSpPr>
          <p:spPr>
            <a:xfrm>
              <a:off x="4581144" y="1691640"/>
              <a:ext cx="1920240" cy="777240"/>
            </a:xfrm>
            <a:prstGeom prst="round2SameRect">
              <a:avLst>
                <a:gd name="adj1" fmla="val 22000"/>
                <a:gd name="adj2" fmla="val 0"/>
              </a:avLst>
            </a:prstGeom>
            <a:solidFill>
              <a:srgbClr val="4A515B"/>
            </a:solidFill>
            <a:ln w="19050">
              <a:solidFill>
                <a:srgbClr val="9AA0A6"/>
              </a:solidFill>
            </a:ln>
          </p:spPr>
          <p:txBody>
            <a:bodyPr rtlCol="0" anchor="ctr"/>
            <a:lstStyle/>
            <a:p>
              <a:pPr algn="ctr"/>
              <a:endParaRPr/>
            </a:p>
          </p:txBody>
        </p:sp>
        <p:sp>
          <p:nvSpPr>
            <p:cNvPr id="13" name="tab label"/>
            <p:cNvSpPr txBox="1"/>
            <p:nvPr/>
          </p:nvSpPr>
          <p:spPr>
            <a:xfrm>
              <a:off x="4581144" y="1691640"/>
              <a:ext cx="1920240" cy="777240"/>
            </a:xfrm>
            <a:prstGeom prst="rect">
              <a:avLst/>
            </a:prstGeom>
            <a:noFill/>
          </p:spPr>
          <p:txBody>
            <a:bodyPr wrap="square" lIns="18288" tIns="9144" rIns="18288" bIns="9144" anchor="ctr">
              <a:noAutofit/>
            </a:bodyPr>
            <a:lstStyle/>
            <a:p>
              <a:pPr algn="ctr"/>
              <a:r>
                <a:rPr lang="en-GB" sz="2000" b="1" i="0">
                  <a:solidFill>
                    <a:srgbClr val="F2F2F2"/>
                  </a:solidFill>
                  <a:latin typeface="Arial"/>
                </a:rPr>
                <a:t>Transport</a:t>
              </a:r>
            </a:p>
          </p:txBody>
        </p:sp>
        <p:sp>
          <p:nvSpPr>
            <p:cNvPr id="14" name="Rail tab"/>
            <p:cNvSpPr/>
            <p:nvPr/>
          </p:nvSpPr>
          <p:spPr>
            <a:xfrm>
              <a:off x="6684264" y="1600200"/>
              <a:ext cx="4434840" cy="868680"/>
            </a:xfrm>
            <a:prstGeom prst="round2SameRect">
              <a:avLst>
                <a:gd name="adj1" fmla="val 22000"/>
                <a:gd name="adj2" fmla="val 0"/>
              </a:avLst>
            </a:prstGeom>
            <a:solidFill>
              <a:srgbClr val="F28C28"/>
            </a:solidFill>
            <a:ln>
              <a:noFill/>
            </a:ln>
          </p:spPr>
          <p:txBody>
            <a:bodyPr rtlCol="0" anchor="ctr"/>
            <a:lstStyle/>
            <a:p>
              <a:pPr algn="ctr"/>
              <a:endParaRPr/>
            </a:p>
          </p:txBody>
        </p:sp>
        <p:sp>
          <p:nvSpPr>
            <p:cNvPr id="15" name="tab train cab"/>
            <p:cNvSpPr/>
            <p:nvPr/>
          </p:nvSpPr>
          <p:spPr>
            <a:xfrm>
              <a:off x="6912864" y="1959559"/>
              <a:ext cx="260604" cy="225856"/>
            </a:xfrm>
            <a:prstGeom prst="roundRect">
              <a:avLst>
                <a:gd name="adj" fmla="val 11538"/>
              </a:avLst>
            </a:prstGeom>
            <a:solidFill>
              <a:srgbClr val="101418"/>
            </a:solidFill>
            <a:ln>
              <a:noFill/>
            </a:ln>
          </p:spPr>
          <p:txBody>
            <a:bodyPr rtlCol="0" anchor="ctr"/>
            <a:lstStyle/>
            <a:p>
              <a:pPr algn="ctr"/>
              <a:endParaRPr/>
            </a:p>
          </p:txBody>
        </p:sp>
        <p:sp>
          <p:nvSpPr>
            <p:cNvPr id="16" name="tab train boiler"/>
            <p:cNvSpPr/>
            <p:nvPr/>
          </p:nvSpPr>
          <p:spPr>
            <a:xfrm>
              <a:off x="7156094" y="2029053"/>
              <a:ext cx="486460" cy="156362"/>
            </a:xfrm>
            <a:prstGeom prst="roundRect">
              <a:avLst>
                <a:gd name="adj" fmla="val 44444"/>
              </a:avLst>
            </a:prstGeom>
            <a:solidFill>
              <a:srgbClr val="101418"/>
            </a:solidFill>
            <a:ln>
              <a:noFill/>
            </a:ln>
          </p:spPr>
          <p:txBody>
            <a:bodyPr rtlCol="0" anchor="ctr"/>
            <a:lstStyle/>
            <a:p>
              <a:pPr algn="ctr"/>
              <a:endParaRPr/>
            </a:p>
          </p:txBody>
        </p:sp>
        <p:sp>
          <p:nvSpPr>
            <p:cNvPr id="17" name="tab train chimney"/>
            <p:cNvSpPr/>
            <p:nvPr/>
          </p:nvSpPr>
          <p:spPr>
            <a:xfrm>
              <a:off x="7520940" y="1890064"/>
              <a:ext cx="78181" cy="147675"/>
            </a:xfrm>
            <a:prstGeom prst="rect">
              <a:avLst/>
            </a:prstGeom>
            <a:solidFill>
              <a:srgbClr val="3A3F47"/>
            </a:solidFill>
            <a:ln w="9525">
              <a:solidFill>
                <a:srgbClr val="9AA0A6"/>
              </a:solidFill>
            </a:ln>
          </p:spPr>
          <p:txBody>
            <a:bodyPr rtlCol="0" anchor="ctr"/>
            <a:lstStyle/>
            <a:p>
              <a:pPr algn="ctr"/>
              <a:endParaRPr/>
            </a:p>
          </p:txBody>
        </p:sp>
        <p:sp>
          <p:nvSpPr>
            <p:cNvPr id="18" name="tab train frame"/>
            <p:cNvSpPr/>
            <p:nvPr/>
          </p:nvSpPr>
          <p:spPr>
            <a:xfrm>
              <a:off x="6912864" y="2185416"/>
              <a:ext cx="729691" cy="34747"/>
            </a:xfrm>
            <a:prstGeom prst="rect">
              <a:avLst/>
            </a:prstGeom>
            <a:solidFill>
              <a:srgbClr val="3A3F47"/>
            </a:solidFill>
            <a:ln w="9525">
              <a:solidFill>
                <a:srgbClr val="9AA0A6"/>
              </a:solidFill>
            </a:ln>
          </p:spPr>
          <p:txBody>
            <a:bodyPr rtlCol="0" anchor="ctr"/>
            <a:lstStyle/>
            <a:p>
              <a:pPr algn="ctr"/>
              <a:endParaRPr/>
            </a:p>
          </p:txBody>
        </p:sp>
        <p:sp>
          <p:nvSpPr>
            <p:cNvPr id="19" name="tab train wheel"/>
            <p:cNvSpPr/>
            <p:nvPr/>
          </p:nvSpPr>
          <p:spPr>
            <a:xfrm>
              <a:off x="6982358" y="2176729"/>
              <a:ext cx="121615" cy="121615"/>
            </a:xfrm>
            <a:prstGeom prst="ellipse">
              <a:avLst/>
            </a:prstGeom>
            <a:solidFill>
              <a:srgbClr val="1B1D21"/>
            </a:solidFill>
            <a:ln w="15875">
              <a:solidFill>
                <a:srgbClr val="9AA0A6"/>
              </a:solidFill>
            </a:ln>
          </p:spPr>
          <p:txBody>
            <a:bodyPr rtlCol="0" anchor="ctr"/>
            <a:lstStyle/>
            <a:p>
              <a:pPr algn="ctr"/>
              <a:endParaRPr/>
            </a:p>
          </p:txBody>
        </p:sp>
        <p:sp>
          <p:nvSpPr>
            <p:cNvPr id="20" name="tab train wheel"/>
            <p:cNvSpPr/>
            <p:nvPr/>
          </p:nvSpPr>
          <p:spPr>
            <a:xfrm>
              <a:off x="7164781" y="2176729"/>
              <a:ext cx="121615" cy="121615"/>
            </a:xfrm>
            <a:prstGeom prst="ellipse">
              <a:avLst/>
            </a:prstGeom>
            <a:solidFill>
              <a:srgbClr val="1B1D21"/>
            </a:solidFill>
            <a:ln w="15875">
              <a:solidFill>
                <a:srgbClr val="9AA0A6"/>
              </a:solidFill>
            </a:ln>
          </p:spPr>
          <p:txBody>
            <a:bodyPr rtlCol="0" anchor="ctr"/>
            <a:lstStyle/>
            <a:p>
              <a:pPr algn="ctr"/>
              <a:endParaRPr/>
            </a:p>
          </p:txBody>
        </p:sp>
        <p:sp>
          <p:nvSpPr>
            <p:cNvPr id="21" name="tab train wheel"/>
            <p:cNvSpPr/>
            <p:nvPr/>
          </p:nvSpPr>
          <p:spPr>
            <a:xfrm>
              <a:off x="7347204" y="2176729"/>
              <a:ext cx="121615" cy="121615"/>
            </a:xfrm>
            <a:prstGeom prst="ellipse">
              <a:avLst/>
            </a:prstGeom>
            <a:solidFill>
              <a:srgbClr val="1B1D21"/>
            </a:solidFill>
            <a:ln w="15875">
              <a:solidFill>
                <a:srgbClr val="9AA0A6"/>
              </a:solidFill>
            </a:ln>
          </p:spPr>
          <p:txBody>
            <a:bodyPr rtlCol="0" anchor="ctr"/>
            <a:lstStyle/>
            <a:p>
              <a:pPr algn="ctr"/>
              <a:endParaRPr/>
            </a:p>
          </p:txBody>
        </p:sp>
        <p:sp>
          <p:nvSpPr>
            <p:cNvPr id="22" name="tab train wheel"/>
            <p:cNvSpPr/>
            <p:nvPr/>
          </p:nvSpPr>
          <p:spPr>
            <a:xfrm>
              <a:off x="7503566" y="2176729"/>
              <a:ext cx="121615" cy="121615"/>
            </a:xfrm>
            <a:prstGeom prst="ellipse">
              <a:avLst/>
            </a:prstGeom>
            <a:solidFill>
              <a:srgbClr val="1B1D21"/>
            </a:solidFill>
            <a:ln w="15875">
              <a:solidFill>
                <a:srgbClr val="9AA0A6"/>
              </a:solidFill>
            </a:ln>
          </p:spPr>
          <p:txBody>
            <a:bodyPr rtlCol="0" anchor="ctr"/>
            <a:lstStyle/>
            <a:p>
              <a:pPr algn="ctr"/>
              <a:endParaRPr/>
            </a:p>
          </p:txBody>
        </p:sp>
        <p:sp>
          <p:nvSpPr>
            <p:cNvPr id="23" name="tab label"/>
            <p:cNvSpPr txBox="1"/>
            <p:nvPr/>
          </p:nvSpPr>
          <p:spPr>
            <a:xfrm>
              <a:off x="7918704" y="1600200"/>
              <a:ext cx="3108960" cy="868680"/>
            </a:xfrm>
            <a:prstGeom prst="rect">
              <a:avLst/>
            </a:prstGeom>
            <a:noFill/>
          </p:spPr>
          <p:txBody>
            <a:bodyPr wrap="square" lIns="18288" tIns="9144" rIns="18288" bIns="9144" anchor="ctr">
              <a:noAutofit/>
            </a:bodyPr>
            <a:lstStyle/>
            <a:p>
              <a:pPr algn="l"/>
              <a:r>
                <a:rPr lang="en-GB" sz="1800" b="1" i="0">
                  <a:solidFill>
                    <a:srgbClr val="101418"/>
                  </a:solidFill>
                  <a:latin typeface="Arial"/>
                </a:rPr>
                <a:t>Rail tab: name undecided</a:t>
              </a:r>
            </a:p>
          </p:txBody>
        </p:sp>
        <p:sp>
          <p:nvSpPr>
            <p:cNvPr id="24" name="strip rule"/>
            <p:cNvSpPr/>
            <p:nvPr/>
          </p:nvSpPr>
          <p:spPr>
            <a:xfrm>
              <a:off x="1097280" y="2468880"/>
              <a:ext cx="5586983" cy="54864"/>
            </a:xfrm>
            <a:prstGeom prst="rect">
              <a:avLst/>
            </a:prstGeom>
            <a:solidFill>
              <a:srgbClr val="4A515B"/>
            </a:solidFill>
            <a:ln>
              <a:noFill/>
            </a:ln>
          </p:spPr>
          <p:txBody>
            <a:bodyPr rtlCol="0" anchor="ctr"/>
            <a:lstStyle/>
            <a:p>
              <a:pPr algn="ctr"/>
              <a:endParaRPr/>
            </a:p>
          </p:txBody>
        </p:sp>
        <p:sp>
          <p:nvSpPr>
            <p:cNvPr id="25" name="active rule"/>
            <p:cNvSpPr/>
            <p:nvPr/>
          </p:nvSpPr>
          <p:spPr>
            <a:xfrm>
              <a:off x="6684264" y="2468880"/>
              <a:ext cx="4434840" cy="54864"/>
            </a:xfrm>
            <a:prstGeom prst="rect">
              <a:avLst/>
            </a:prstGeom>
            <a:solidFill>
              <a:srgbClr val="F28C28"/>
            </a:solidFill>
            <a:ln>
              <a:noFill/>
            </a:ln>
          </p:spPr>
          <p:txBody>
            <a:bodyPr rtlCol="0" anchor="ctr"/>
            <a:lstStyle/>
            <a:p>
              <a:pPr algn="ctr"/>
              <a:endParaRPr/>
            </a:p>
          </p:txBody>
        </p:sp>
        <p:sp>
          <p:nvSpPr>
            <p:cNvPr id="26" name="item slot"/>
            <p:cNvSpPr/>
            <p:nvPr/>
          </p:nvSpPr>
          <p:spPr>
            <a:xfrm>
              <a:off x="1097280" y="30175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27" name="item slot"/>
            <p:cNvSpPr/>
            <p:nvPr/>
          </p:nvSpPr>
          <p:spPr>
            <a:xfrm>
              <a:off x="2226564" y="30175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28" name="item slot"/>
            <p:cNvSpPr/>
            <p:nvPr/>
          </p:nvSpPr>
          <p:spPr>
            <a:xfrm>
              <a:off x="3355848" y="30175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29" name="item slot"/>
            <p:cNvSpPr/>
            <p:nvPr/>
          </p:nvSpPr>
          <p:spPr>
            <a:xfrm>
              <a:off x="4485132" y="30175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0" name="item slot"/>
            <p:cNvSpPr/>
            <p:nvPr/>
          </p:nvSpPr>
          <p:spPr>
            <a:xfrm>
              <a:off x="5614416" y="30175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1" name="item slot"/>
            <p:cNvSpPr/>
            <p:nvPr/>
          </p:nvSpPr>
          <p:spPr>
            <a:xfrm>
              <a:off x="6743700" y="30175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2" name="item slot"/>
            <p:cNvSpPr/>
            <p:nvPr/>
          </p:nvSpPr>
          <p:spPr>
            <a:xfrm>
              <a:off x="7872983" y="30175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3" name="item slot"/>
            <p:cNvSpPr/>
            <p:nvPr/>
          </p:nvSpPr>
          <p:spPr>
            <a:xfrm>
              <a:off x="9002268" y="30175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4" name="item slot"/>
            <p:cNvSpPr/>
            <p:nvPr/>
          </p:nvSpPr>
          <p:spPr>
            <a:xfrm>
              <a:off x="10131552" y="30175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5" name="item slot"/>
            <p:cNvSpPr/>
            <p:nvPr/>
          </p:nvSpPr>
          <p:spPr>
            <a:xfrm>
              <a:off x="1097280" y="39319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6" name="item slot"/>
            <p:cNvSpPr/>
            <p:nvPr/>
          </p:nvSpPr>
          <p:spPr>
            <a:xfrm>
              <a:off x="2226564" y="39319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7" name="item slot"/>
            <p:cNvSpPr/>
            <p:nvPr/>
          </p:nvSpPr>
          <p:spPr>
            <a:xfrm>
              <a:off x="3355848" y="39319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8" name="item slot"/>
            <p:cNvSpPr/>
            <p:nvPr/>
          </p:nvSpPr>
          <p:spPr>
            <a:xfrm>
              <a:off x="4485132" y="39319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39" name="item slot"/>
            <p:cNvSpPr/>
            <p:nvPr/>
          </p:nvSpPr>
          <p:spPr>
            <a:xfrm>
              <a:off x="5614416" y="39319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40" name="item slot"/>
            <p:cNvSpPr/>
            <p:nvPr/>
          </p:nvSpPr>
          <p:spPr>
            <a:xfrm>
              <a:off x="6743700" y="39319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41" name="item slot"/>
            <p:cNvSpPr/>
            <p:nvPr/>
          </p:nvSpPr>
          <p:spPr>
            <a:xfrm>
              <a:off x="7872983" y="39319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42" name="item slot"/>
            <p:cNvSpPr/>
            <p:nvPr/>
          </p:nvSpPr>
          <p:spPr>
            <a:xfrm>
              <a:off x="9002268" y="39319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43" name="item slot"/>
            <p:cNvSpPr/>
            <p:nvPr/>
          </p:nvSpPr>
          <p:spPr>
            <a:xfrm>
              <a:off x="10131552" y="3931920"/>
              <a:ext cx="987552" cy="731520"/>
            </a:xfrm>
            <a:prstGeom prst="roundRect">
              <a:avLst>
                <a:gd name="adj" fmla="val 7500"/>
              </a:avLst>
            </a:prstGeom>
            <a:solidFill>
              <a:srgbClr val="343A43"/>
            </a:solidFill>
            <a:ln w="12700">
              <a:solidFill>
                <a:srgbClr val="4A515B"/>
              </a:solidFill>
            </a:ln>
          </p:spPr>
          <p:txBody>
            <a:bodyPr rtlCol="0" anchor="ctr"/>
            <a:lstStyle/>
            <a:p>
              <a:pPr algn="ctr"/>
              <a:endParaRPr/>
            </a:p>
          </p:txBody>
        </p:sp>
        <p:sp>
          <p:nvSpPr>
            <p:cNvPr id="44" name="vanilla note"/>
            <p:cNvSpPr txBox="1"/>
            <p:nvPr/>
          </p:nvSpPr>
          <p:spPr>
            <a:xfrm>
              <a:off x="4581144" y="2560320"/>
              <a:ext cx="1920240" cy="274320"/>
            </a:xfrm>
            <a:prstGeom prst="rect">
              <a:avLst/>
            </a:prstGeom>
            <a:noFill/>
          </p:spPr>
          <p:txBody>
            <a:bodyPr wrap="square" lIns="18288" tIns="9144" rIns="18288" bIns="9144" anchor="ctr">
              <a:noAutofit/>
            </a:bodyPr>
            <a:lstStyle/>
            <a:p>
              <a:pPr algn="ctr"/>
              <a:r>
                <a:rPr lang="en-GB" sz="1400" b="0" i="0">
                  <a:solidFill>
                    <a:srgbClr val="A9B0B8"/>
                  </a:solidFill>
                  <a:latin typeface="Arial"/>
                </a:rPr>
                <a:t>The game's own tab</a:t>
              </a:r>
            </a:p>
          </p:txBody>
        </p:sp>
      </p:grpSp>
      <p:sp>
        <p:nvSpPr>
          <p:cNvPr id="45" name="ICHIP"/>
          <p:cNvSpPr/>
          <p:nvPr/>
        </p:nvSpPr>
        <p:spPr>
          <a:xfrm>
            <a:off x="822960" y="5120640"/>
            <a:ext cx="2998287"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Exact layout: undecided (OQ19)</a:t>
            </a:r>
          </a:p>
        </p:txBody>
      </p:sp>
      <p:sp>
        <p:nvSpPr>
          <p:cNvPr id="46"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47"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48"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Rail could get its own build menu tab instead of hiding in Transport.</a:t>
            </a:r>
          </a:p>
        </p:txBody>
      </p:sp>
      <p:sp>
        <p:nvSpPr>
          <p:cNvPr id="49"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17</a:t>
            </a:r>
          </a:p>
        </p:txBody>
      </p:sp>
    </p:spTree>
    <p:extLst>
      <p:ext uri="{BB962C8B-B14F-4D97-AF65-F5344CB8AC3E}">
        <p14:creationId xmlns:p14="http://schemas.microsoft.com/office/powerpoint/2010/main" val="7733761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500"/>
                                        <p:tgtEl>
                                          <p:spTgt spid="45"/>
                                        </p:tgtEl>
                                      </p:cBhvr>
                                    </p:animEffect>
                                  </p:childTnLst>
                                </p:cTn>
                              </p:par>
                              <p:par>
                                <p:cTn id="11" presetID="10" presetClass="entr" presetSubtype="0" fill="hold" nodeType="withEffect">
                                  <p:stCondLst>
                                    <p:cond delay="600"/>
                                  </p:stCondLst>
                                  <p:childTnLst>
                                    <p:set>
                                      <p:cBhvr>
                                        <p:cTn id="12" dur="1" fill="hold">
                                          <p:stCondLst>
                                            <p:cond delay="0"/>
                                          </p:stCondLst>
                                        </p:cTn>
                                        <p:tgtEl>
                                          <p:spTgt spid="46"/>
                                        </p:tgtEl>
                                        <p:attrNameLst>
                                          <p:attrName>style.visibility</p:attrName>
                                        </p:attrNameLst>
                                      </p:cBhvr>
                                      <p:to>
                                        <p:strVal val="visible"/>
                                      </p:to>
                                    </p:set>
                                    <p:animEffect transition="in" filter="fade">
                                      <p:cBhvr>
                                        <p:cTn id="13" dur="500"/>
                                        <p:tgtEl>
                                          <p:spTgt spid="46"/>
                                        </p:tgtEl>
                                      </p:cBhvr>
                                    </p:animEffect>
                                  </p:childTnLst>
                                </p:cTn>
                              </p:par>
                              <p:par>
                                <p:cTn id="14" presetID="10" presetClass="entr" presetSubtype="0" fill="hold" nodeType="withEffect">
                                  <p:stCondLst>
                                    <p:cond delay="900"/>
                                  </p:stCondLst>
                                  <p:childTnLst>
                                    <p:set>
                                      <p:cBhvr>
                                        <p:cTn id="15" dur="1" fill="hold">
                                          <p:stCondLst>
                                            <p:cond delay="0"/>
                                          </p:stCondLst>
                                        </p:cTn>
                                        <p:tgtEl>
                                          <p:spTgt spid="47"/>
                                        </p:tgtEl>
                                        <p:attrNameLst>
                                          <p:attrName>style.visibility</p:attrName>
                                        </p:attrNameLst>
                                      </p:cBhvr>
                                      <p:to>
                                        <p:strVal val="visible"/>
                                      </p:to>
                                    </p:set>
                                    <p:animEffect transition="in" filter="fade">
                                      <p:cBhvr>
                                        <p:cTn id="16" dur="500"/>
                                        <p:tgtEl>
                                          <p:spTgt spid="47"/>
                                        </p:tgtEl>
                                      </p:cBhvr>
                                    </p:animEffect>
                                  </p:childTnLst>
                                </p:cTn>
                              </p:par>
                              <p:par>
                                <p:cTn id="17" presetID="10" presetClass="entr" presetSubtype="0" fill="hold" nodeType="withEffect">
                                  <p:stCondLst>
                                    <p:cond delay="120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Four groups?</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Four proposed group cards" descr="Four proposed group cards with simple icons: Railway Infrastructure, Stations and Servicing, Signalling and Rolling Stock."/>
          <p:cNvGrpSpPr/>
          <p:nvPr/>
        </p:nvGrpSpPr>
        <p:grpSpPr>
          <a:xfrm>
            <a:off x="548640" y="1463040"/>
            <a:ext cx="11091672" cy="3749039"/>
            <a:chOff x="548640" y="1463040"/>
            <a:chExt cx="11091672" cy="3749039"/>
          </a:xfrm>
        </p:grpSpPr>
        <p:sp>
          <p:nvSpPr>
            <p:cNvPr id="5" name="proposed card"/>
            <p:cNvSpPr/>
            <p:nvPr/>
          </p:nvSpPr>
          <p:spPr>
            <a:xfrm>
              <a:off x="548640" y="1463040"/>
              <a:ext cx="2560320" cy="3749039"/>
            </a:xfrm>
            <a:prstGeom prst="roundRect">
              <a:avLst>
                <a:gd name="adj" fmla="val 3571"/>
              </a:avLst>
            </a:prstGeom>
            <a:solidFill>
              <a:srgbClr val="2B2F36"/>
            </a:solidFill>
            <a:ln w="31750">
              <a:solidFill>
                <a:srgbClr val="B084F5"/>
              </a:solidFill>
              <a:prstDash val="dash"/>
            </a:ln>
          </p:spPr>
          <p:txBody>
            <a:bodyPr rtlCol="0" anchor="ctr"/>
            <a:lstStyle/>
            <a:p>
              <a:pPr algn="ctr"/>
              <a:endParaRPr/>
            </a:p>
          </p:txBody>
        </p:sp>
        <p:sp>
          <p:nvSpPr>
            <p:cNvPr id="6" name="icon panel"/>
            <p:cNvSpPr/>
            <p:nvPr/>
          </p:nvSpPr>
          <p:spPr>
            <a:xfrm>
              <a:off x="777240" y="1737360"/>
              <a:ext cx="2103120" cy="2194560"/>
            </a:xfrm>
            <a:prstGeom prst="roundRect">
              <a:avLst>
                <a:gd name="adj" fmla="val 3478"/>
              </a:avLst>
            </a:prstGeom>
            <a:solidFill>
              <a:srgbClr val="343A43"/>
            </a:solidFill>
            <a:ln>
              <a:noFill/>
            </a:ln>
          </p:spPr>
          <p:txBody>
            <a:bodyPr rtlCol="0" anchor="ctr"/>
            <a:lstStyle/>
            <a:p>
              <a:pPr algn="ctr"/>
              <a:endParaRPr/>
            </a:p>
          </p:txBody>
        </p:sp>
        <p:sp>
          <p:nvSpPr>
            <p:cNvPr id="7" name="sleeper"/>
            <p:cNvSpPr/>
            <p:nvPr/>
          </p:nvSpPr>
          <p:spPr>
            <a:xfrm>
              <a:off x="1005840" y="2514600"/>
              <a:ext cx="91440" cy="822960"/>
            </a:xfrm>
            <a:prstGeom prst="rect">
              <a:avLst/>
            </a:prstGeom>
            <a:solidFill>
              <a:srgbClr val="6B5B4B"/>
            </a:solidFill>
            <a:ln>
              <a:noFill/>
            </a:ln>
          </p:spPr>
          <p:txBody>
            <a:bodyPr rtlCol="0" anchor="ctr"/>
            <a:lstStyle/>
            <a:p>
              <a:pPr algn="ctr"/>
              <a:endParaRPr/>
            </a:p>
          </p:txBody>
        </p:sp>
        <p:sp>
          <p:nvSpPr>
            <p:cNvPr id="8" name="sleeper"/>
            <p:cNvSpPr/>
            <p:nvPr/>
          </p:nvSpPr>
          <p:spPr>
            <a:xfrm>
              <a:off x="1280160" y="2514600"/>
              <a:ext cx="91440" cy="822960"/>
            </a:xfrm>
            <a:prstGeom prst="rect">
              <a:avLst/>
            </a:prstGeom>
            <a:solidFill>
              <a:srgbClr val="6B5B4B"/>
            </a:solidFill>
            <a:ln>
              <a:noFill/>
            </a:ln>
          </p:spPr>
          <p:txBody>
            <a:bodyPr rtlCol="0" anchor="ctr"/>
            <a:lstStyle/>
            <a:p>
              <a:pPr algn="ctr"/>
              <a:endParaRPr/>
            </a:p>
          </p:txBody>
        </p:sp>
        <p:sp>
          <p:nvSpPr>
            <p:cNvPr id="9" name="sleeper"/>
            <p:cNvSpPr/>
            <p:nvPr/>
          </p:nvSpPr>
          <p:spPr>
            <a:xfrm>
              <a:off x="1554480" y="2514600"/>
              <a:ext cx="91440" cy="822960"/>
            </a:xfrm>
            <a:prstGeom prst="rect">
              <a:avLst/>
            </a:prstGeom>
            <a:solidFill>
              <a:srgbClr val="6B5B4B"/>
            </a:solidFill>
            <a:ln>
              <a:noFill/>
            </a:ln>
          </p:spPr>
          <p:txBody>
            <a:bodyPr rtlCol="0" anchor="ctr"/>
            <a:lstStyle/>
            <a:p>
              <a:pPr algn="ctr"/>
              <a:endParaRPr/>
            </a:p>
          </p:txBody>
        </p:sp>
        <p:sp>
          <p:nvSpPr>
            <p:cNvPr id="10" name="sleeper"/>
            <p:cNvSpPr/>
            <p:nvPr/>
          </p:nvSpPr>
          <p:spPr>
            <a:xfrm>
              <a:off x="1828800" y="2514600"/>
              <a:ext cx="91440" cy="822960"/>
            </a:xfrm>
            <a:prstGeom prst="rect">
              <a:avLst/>
            </a:prstGeom>
            <a:solidFill>
              <a:srgbClr val="6B5B4B"/>
            </a:solidFill>
            <a:ln>
              <a:noFill/>
            </a:ln>
          </p:spPr>
          <p:txBody>
            <a:bodyPr rtlCol="0" anchor="ctr"/>
            <a:lstStyle/>
            <a:p>
              <a:pPr algn="ctr"/>
              <a:endParaRPr/>
            </a:p>
          </p:txBody>
        </p:sp>
        <p:sp>
          <p:nvSpPr>
            <p:cNvPr id="11" name="sleeper"/>
            <p:cNvSpPr/>
            <p:nvPr/>
          </p:nvSpPr>
          <p:spPr>
            <a:xfrm>
              <a:off x="2103120" y="2514600"/>
              <a:ext cx="91440" cy="822960"/>
            </a:xfrm>
            <a:prstGeom prst="rect">
              <a:avLst/>
            </a:prstGeom>
            <a:solidFill>
              <a:srgbClr val="6B5B4B"/>
            </a:solidFill>
            <a:ln>
              <a:noFill/>
            </a:ln>
          </p:spPr>
          <p:txBody>
            <a:bodyPr rtlCol="0" anchor="ctr"/>
            <a:lstStyle/>
            <a:p>
              <a:pPr algn="ctr"/>
              <a:endParaRPr/>
            </a:p>
          </p:txBody>
        </p:sp>
        <p:sp>
          <p:nvSpPr>
            <p:cNvPr id="12" name="sleeper"/>
            <p:cNvSpPr/>
            <p:nvPr/>
          </p:nvSpPr>
          <p:spPr>
            <a:xfrm>
              <a:off x="2377440" y="2514600"/>
              <a:ext cx="91440" cy="822960"/>
            </a:xfrm>
            <a:prstGeom prst="rect">
              <a:avLst/>
            </a:prstGeom>
            <a:solidFill>
              <a:srgbClr val="6B5B4B"/>
            </a:solidFill>
            <a:ln>
              <a:noFill/>
            </a:ln>
          </p:spPr>
          <p:txBody>
            <a:bodyPr rtlCol="0" anchor="ctr"/>
            <a:lstStyle/>
            <a:p>
              <a:pPr algn="ctr"/>
              <a:endParaRPr/>
            </a:p>
          </p:txBody>
        </p:sp>
        <p:sp>
          <p:nvSpPr>
            <p:cNvPr id="13" name="sleeper"/>
            <p:cNvSpPr/>
            <p:nvPr/>
          </p:nvSpPr>
          <p:spPr>
            <a:xfrm>
              <a:off x="2651760" y="2514600"/>
              <a:ext cx="91440" cy="822960"/>
            </a:xfrm>
            <a:prstGeom prst="rect">
              <a:avLst/>
            </a:prstGeom>
            <a:solidFill>
              <a:srgbClr val="6B5B4B"/>
            </a:solidFill>
            <a:ln>
              <a:noFill/>
            </a:ln>
          </p:spPr>
          <p:txBody>
            <a:bodyPr rtlCol="0" anchor="ctr"/>
            <a:lstStyle/>
            <a:p>
              <a:pPr algn="ctr"/>
              <a:endParaRPr/>
            </a:p>
          </p:txBody>
        </p:sp>
        <p:sp>
          <p:nvSpPr>
            <p:cNvPr id="14" name="rail"/>
            <p:cNvSpPr/>
            <p:nvPr/>
          </p:nvSpPr>
          <p:spPr>
            <a:xfrm>
              <a:off x="914400" y="2697480"/>
              <a:ext cx="1828800" cy="73152"/>
            </a:xfrm>
            <a:prstGeom prst="rect">
              <a:avLst/>
            </a:prstGeom>
            <a:solidFill>
              <a:srgbClr val="9AA0A6"/>
            </a:solidFill>
            <a:ln>
              <a:noFill/>
            </a:ln>
          </p:spPr>
          <p:txBody>
            <a:bodyPr rtlCol="0" anchor="ctr"/>
            <a:lstStyle/>
            <a:p>
              <a:pPr algn="ctr"/>
              <a:endParaRPr/>
            </a:p>
          </p:txBody>
        </p:sp>
        <p:sp>
          <p:nvSpPr>
            <p:cNvPr id="15" name="rail"/>
            <p:cNvSpPr/>
            <p:nvPr/>
          </p:nvSpPr>
          <p:spPr>
            <a:xfrm>
              <a:off x="914400" y="3063240"/>
              <a:ext cx="1828800" cy="73152"/>
            </a:xfrm>
            <a:prstGeom prst="rect">
              <a:avLst/>
            </a:prstGeom>
            <a:solidFill>
              <a:srgbClr val="9AA0A6"/>
            </a:solidFill>
            <a:ln>
              <a:noFill/>
            </a:ln>
          </p:spPr>
          <p:txBody>
            <a:bodyPr rtlCol="0" anchor="ctr"/>
            <a:lstStyle/>
            <a:p>
              <a:pPr algn="ctr"/>
              <a:endParaRPr/>
            </a:p>
          </p:txBody>
        </p:sp>
        <p:sp>
          <p:nvSpPr>
            <p:cNvPr id="16" name="card label"/>
            <p:cNvSpPr txBox="1"/>
            <p:nvPr/>
          </p:nvSpPr>
          <p:spPr>
            <a:xfrm>
              <a:off x="685800" y="4114800"/>
              <a:ext cx="2286000" cy="914400"/>
            </a:xfrm>
            <a:prstGeom prst="rect">
              <a:avLst/>
            </a:prstGeom>
            <a:noFill/>
          </p:spPr>
          <p:txBody>
            <a:bodyPr wrap="square" lIns="18288" tIns="9144" rIns="18288" bIns="9144" anchor="ctr">
              <a:noAutofit/>
            </a:bodyPr>
            <a:lstStyle/>
            <a:p>
              <a:pPr algn="ctr"/>
              <a:r>
                <a:rPr lang="en-GB" sz="2200" b="1" i="0">
                  <a:solidFill>
                    <a:srgbClr val="F2F2F2"/>
                  </a:solidFill>
                  <a:latin typeface="Arial"/>
                </a:rPr>
                <a:t>Railway Infrastructure</a:t>
              </a:r>
            </a:p>
          </p:txBody>
        </p:sp>
        <p:sp>
          <p:nvSpPr>
            <p:cNvPr id="17" name="proposed card"/>
            <p:cNvSpPr/>
            <p:nvPr/>
          </p:nvSpPr>
          <p:spPr>
            <a:xfrm>
              <a:off x="3392424" y="1463040"/>
              <a:ext cx="2560320" cy="3749039"/>
            </a:xfrm>
            <a:prstGeom prst="roundRect">
              <a:avLst>
                <a:gd name="adj" fmla="val 3571"/>
              </a:avLst>
            </a:prstGeom>
            <a:solidFill>
              <a:srgbClr val="2B2F36"/>
            </a:solidFill>
            <a:ln w="31750">
              <a:solidFill>
                <a:srgbClr val="B084F5"/>
              </a:solidFill>
              <a:prstDash val="dash"/>
            </a:ln>
          </p:spPr>
          <p:txBody>
            <a:bodyPr rtlCol="0" anchor="ctr"/>
            <a:lstStyle/>
            <a:p>
              <a:pPr algn="ctr"/>
              <a:endParaRPr/>
            </a:p>
          </p:txBody>
        </p:sp>
        <p:sp>
          <p:nvSpPr>
            <p:cNvPr id="18" name="icon panel"/>
            <p:cNvSpPr/>
            <p:nvPr/>
          </p:nvSpPr>
          <p:spPr>
            <a:xfrm>
              <a:off x="3621024" y="1737360"/>
              <a:ext cx="2103120" cy="2194560"/>
            </a:xfrm>
            <a:prstGeom prst="roundRect">
              <a:avLst>
                <a:gd name="adj" fmla="val 3478"/>
              </a:avLst>
            </a:prstGeom>
            <a:solidFill>
              <a:srgbClr val="343A43"/>
            </a:solidFill>
            <a:ln>
              <a:noFill/>
            </a:ln>
          </p:spPr>
          <p:txBody>
            <a:bodyPr rtlCol="0" anchor="ctr"/>
            <a:lstStyle/>
            <a:p>
              <a:pPr algn="ctr"/>
              <a:endParaRPr/>
            </a:p>
          </p:txBody>
        </p:sp>
        <p:sp>
          <p:nvSpPr>
            <p:cNvPr id="19" name="station body"/>
            <p:cNvSpPr/>
            <p:nvPr/>
          </p:nvSpPr>
          <p:spPr>
            <a:xfrm>
              <a:off x="3803903" y="2610612"/>
              <a:ext cx="1005840" cy="544068"/>
            </a:xfrm>
            <a:prstGeom prst="rect">
              <a:avLst/>
            </a:prstGeom>
            <a:solidFill>
              <a:srgbClr val="C9CED3"/>
            </a:solidFill>
            <a:ln w="9525">
              <a:solidFill>
                <a:srgbClr val="6B7078"/>
              </a:solidFill>
            </a:ln>
          </p:spPr>
          <p:txBody>
            <a:bodyPr rtlCol="0" anchor="ctr"/>
            <a:lstStyle/>
            <a:p>
              <a:pPr algn="ctr"/>
              <a:endParaRPr/>
            </a:p>
          </p:txBody>
        </p:sp>
        <p:sp>
          <p:nvSpPr>
            <p:cNvPr id="20" name="station roof"/>
            <p:cNvSpPr/>
            <p:nvPr/>
          </p:nvSpPr>
          <p:spPr>
            <a:xfrm>
              <a:off x="3743553" y="2377440"/>
              <a:ext cx="1126541" cy="233172"/>
            </a:xfrm>
            <a:custGeom>
              <a:avLst/>
              <a:gdLst/>
              <a:ahLst/>
              <a:cxnLst/>
              <a:rect l="l" t="t" r="r" b="b"/>
              <a:pathLst>
                <a:path w="1126541" h="233172">
                  <a:moveTo>
                    <a:pt x="0" y="233172"/>
                  </a:moveTo>
                  <a:lnTo>
                    <a:pt x="563270" y="0"/>
                  </a:lnTo>
                  <a:lnTo>
                    <a:pt x="1126541" y="233172"/>
                  </a:lnTo>
                  <a:close/>
                </a:path>
              </a:pathLst>
            </a:custGeom>
            <a:solidFill>
              <a:srgbClr val="6B7078"/>
            </a:solidFill>
            <a:ln>
              <a:noFill/>
            </a:ln>
          </p:spPr>
          <p:txBody>
            <a:bodyPr rtlCol="0" anchor="ctr"/>
            <a:lstStyle/>
            <a:p>
              <a:pPr algn="ctr"/>
              <a:endParaRPr/>
            </a:p>
          </p:txBody>
        </p:sp>
        <p:sp>
          <p:nvSpPr>
            <p:cNvPr id="21" name="station window"/>
            <p:cNvSpPr/>
            <p:nvPr/>
          </p:nvSpPr>
          <p:spPr>
            <a:xfrm>
              <a:off x="3904487" y="2766060"/>
              <a:ext cx="201168" cy="217627"/>
            </a:xfrm>
            <a:prstGeom prst="rect">
              <a:avLst/>
            </a:prstGeom>
            <a:solidFill>
              <a:srgbClr val="4DA3FF">
                <a:alpha val="75000"/>
              </a:srgbClr>
            </a:solidFill>
            <a:ln>
              <a:noFill/>
            </a:ln>
          </p:spPr>
          <p:txBody>
            <a:bodyPr rtlCol="0" anchor="ctr"/>
            <a:lstStyle/>
            <a:p>
              <a:pPr algn="ctr"/>
              <a:endParaRPr/>
            </a:p>
          </p:txBody>
        </p:sp>
        <p:sp>
          <p:nvSpPr>
            <p:cNvPr id="22" name="station window"/>
            <p:cNvSpPr/>
            <p:nvPr/>
          </p:nvSpPr>
          <p:spPr>
            <a:xfrm>
              <a:off x="4206240" y="2766060"/>
              <a:ext cx="201168" cy="217627"/>
            </a:xfrm>
            <a:prstGeom prst="rect">
              <a:avLst/>
            </a:prstGeom>
            <a:solidFill>
              <a:srgbClr val="4DA3FF">
                <a:alpha val="75000"/>
              </a:srgbClr>
            </a:solidFill>
            <a:ln>
              <a:noFill/>
            </a:ln>
          </p:spPr>
          <p:txBody>
            <a:bodyPr rtlCol="0" anchor="ctr"/>
            <a:lstStyle/>
            <a:p>
              <a:pPr algn="ctr"/>
              <a:endParaRPr/>
            </a:p>
          </p:txBody>
        </p:sp>
        <p:sp>
          <p:nvSpPr>
            <p:cNvPr id="23" name="station window"/>
            <p:cNvSpPr/>
            <p:nvPr/>
          </p:nvSpPr>
          <p:spPr>
            <a:xfrm>
              <a:off x="4507992" y="2766060"/>
              <a:ext cx="201168" cy="217627"/>
            </a:xfrm>
            <a:prstGeom prst="rect">
              <a:avLst/>
            </a:prstGeom>
            <a:solidFill>
              <a:srgbClr val="4DA3FF">
                <a:alpha val="75000"/>
              </a:srgbClr>
            </a:solidFill>
            <a:ln>
              <a:noFill/>
            </a:ln>
          </p:spPr>
          <p:txBody>
            <a:bodyPr rtlCol="0" anchor="ctr"/>
            <a:lstStyle/>
            <a:p>
              <a:pPr algn="ctr"/>
              <a:endParaRPr/>
            </a:p>
          </p:txBody>
        </p:sp>
        <p:sp>
          <p:nvSpPr>
            <p:cNvPr id="24" name="platform"/>
            <p:cNvSpPr/>
            <p:nvPr/>
          </p:nvSpPr>
          <p:spPr>
            <a:xfrm>
              <a:off x="3712463" y="3154680"/>
              <a:ext cx="1188720" cy="128016"/>
            </a:xfrm>
            <a:prstGeom prst="rect">
              <a:avLst/>
            </a:prstGeom>
            <a:solidFill>
              <a:srgbClr val="D5D9DE"/>
            </a:solidFill>
            <a:ln>
              <a:noFill/>
            </a:ln>
          </p:spPr>
          <p:txBody>
            <a:bodyPr rtlCol="0" anchor="ctr"/>
            <a:lstStyle/>
            <a:p>
              <a:pPr algn="ctr"/>
              <a:endParaRPr/>
            </a:p>
          </p:txBody>
        </p:sp>
        <p:sp>
          <p:nvSpPr>
            <p:cNvPr id="25" name="drop point"/>
            <p:cNvSpPr/>
            <p:nvPr/>
          </p:nvSpPr>
          <p:spPr>
            <a:xfrm>
              <a:off x="5038344" y="2514600"/>
              <a:ext cx="457200" cy="365760"/>
            </a:xfrm>
            <a:custGeom>
              <a:avLst/>
              <a:gdLst/>
              <a:ahLst/>
              <a:cxnLst/>
              <a:rect l="l" t="t" r="r" b="b"/>
              <a:pathLst>
                <a:path w="457200" h="365760">
                  <a:moveTo>
                    <a:pt x="228600" y="0"/>
                  </a:moveTo>
                  <a:lnTo>
                    <a:pt x="457200" y="365760"/>
                  </a:lnTo>
                  <a:lnTo>
                    <a:pt x="0" y="365760"/>
                  </a:lnTo>
                  <a:close/>
                </a:path>
              </a:pathLst>
            </a:custGeom>
            <a:solidFill>
              <a:srgbClr val="4DA3FF"/>
            </a:solidFill>
            <a:ln>
              <a:noFill/>
            </a:ln>
          </p:spPr>
          <p:txBody>
            <a:bodyPr rtlCol="0" anchor="ctr"/>
            <a:lstStyle/>
            <a:p>
              <a:pPr algn="ctr"/>
              <a:endParaRPr/>
            </a:p>
          </p:txBody>
        </p:sp>
        <p:sp>
          <p:nvSpPr>
            <p:cNvPr id="26" name="drop body"/>
            <p:cNvSpPr/>
            <p:nvPr/>
          </p:nvSpPr>
          <p:spPr>
            <a:xfrm>
              <a:off x="5038344" y="2724912"/>
              <a:ext cx="457200" cy="457200"/>
            </a:xfrm>
            <a:prstGeom prst="ellipse">
              <a:avLst/>
            </a:prstGeom>
            <a:solidFill>
              <a:srgbClr val="4DA3FF"/>
            </a:solidFill>
            <a:ln>
              <a:noFill/>
            </a:ln>
          </p:spPr>
          <p:txBody>
            <a:bodyPr rtlCol="0" anchor="ctr"/>
            <a:lstStyle/>
            <a:p>
              <a:pPr algn="ctr"/>
              <a:endParaRPr/>
            </a:p>
          </p:txBody>
        </p:sp>
        <p:sp>
          <p:nvSpPr>
            <p:cNvPr id="27" name="card label"/>
            <p:cNvSpPr txBox="1"/>
            <p:nvPr/>
          </p:nvSpPr>
          <p:spPr>
            <a:xfrm>
              <a:off x="3529584" y="4114800"/>
              <a:ext cx="2286000" cy="914400"/>
            </a:xfrm>
            <a:prstGeom prst="rect">
              <a:avLst/>
            </a:prstGeom>
            <a:noFill/>
          </p:spPr>
          <p:txBody>
            <a:bodyPr wrap="square" lIns="18288" tIns="9144" rIns="18288" bIns="9144" anchor="ctr">
              <a:noAutofit/>
            </a:bodyPr>
            <a:lstStyle/>
            <a:p>
              <a:pPr algn="ctr"/>
              <a:r>
                <a:rPr lang="en-GB" sz="2200" b="1" i="0">
                  <a:solidFill>
                    <a:srgbClr val="F2F2F2"/>
                  </a:solidFill>
                  <a:latin typeface="Arial"/>
                </a:rPr>
                <a:t>Stations and Servicing</a:t>
              </a:r>
            </a:p>
          </p:txBody>
        </p:sp>
        <p:sp>
          <p:nvSpPr>
            <p:cNvPr id="28" name="proposed card"/>
            <p:cNvSpPr/>
            <p:nvPr/>
          </p:nvSpPr>
          <p:spPr>
            <a:xfrm>
              <a:off x="6236207" y="1463040"/>
              <a:ext cx="2560320" cy="3749039"/>
            </a:xfrm>
            <a:prstGeom prst="roundRect">
              <a:avLst>
                <a:gd name="adj" fmla="val 3571"/>
              </a:avLst>
            </a:prstGeom>
            <a:solidFill>
              <a:srgbClr val="2B2F36"/>
            </a:solidFill>
            <a:ln w="31750">
              <a:solidFill>
                <a:srgbClr val="B084F5"/>
              </a:solidFill>
              <a:prstDash val="dash"/>
            </a:ln>
          </p:spPr>
          <p:txBody>
            <a:bodyPr rtlCol="0" anchor="ctr"/>
            <a:lstStyle/>
            <a:p>
              <a:pPr algn="ctr"/>
              <a:endParaRPr/>
            </a:p>
          </p:txBody>
        </p:sp>
        <p:sp>
          <p:nvSpPr>
            <p:cNvPr id="29" name="icon panel"/>
            <p:cNvSpPr/>
            <p:nvPr/>
          </p:nvSpPr>
          <p:spPr>
            <a:xfrm>
              <a:off x="6464807" y="1737360"/>
              <a:ext cx="2103120" cy="2194560"/>
            </a:xfrm>
            <a:prstGeom prst="roundRect">
              <a:avLst>
                <a:gd name="adj" fmla="val 3478"/>
              </a:avLst>
            </a:prstGeom>
            <a:solidFill>
              <a:srgbClr val="343A43"/>
            </a:solidFill>
            <a:ln>
              <a:noFill/>
            </a:ln>
          </p:spPr>
          <p:txBody>
            <a:bodyPr rtlCol="0" anchor="ctr"/>
            <a:lstStyle/>
            <a:p>
              <a:pPr algn="ctr"/>
              <a:endParaRPr/>
            </a:p>
          </p:txBody>
        </p:sp>
        <p:sp>
          <p:nvSpPr>
            <p:cNvPr id="30" name="icon semaphore post"/>
            <p:cNvSpPr/>
            <p:nvPr/>
          </p:nvSpPr>
          <p:spPr>
            <a:xfrm>
              <a:off x="7271766" y="2331720"/>
              <a:ext cx="123444" cy="1234440"/>
            </a:xfrm>
            <a:prstGeom prst="rect">
              <a:avLst/>
            </a:prstGeom>
            <a:solidFill>
              <a:srgbClr val="E8E8E8"/>
            </a:solidFill>
            <a:ln w="9525">
              <a:solidFill>
                <a:srgbClr val="6B7078"/>
              </a:solidFill>
            </a:ln>
          </p:spPr>
          <p:txBody>
            <a:bodyPr rtlCol="0" anchor="ctr"/>
            <a:lstStyle/>
            <a:p>
              <a:pPr algn="ctr"/>
              <a:endParaRPr/>
            </a:p>
          </p:txBody>
        </p:sp>
        <p:sp>
          <p:nvSpPr>
            <p:cNvPr id="31" name="icon semaphore foot"/>
            <p:cNvSpPr/>
            <p:nvPr/>
          </p:nvSpPr>
          <p:spPr>
            <a:xfrm>
              <a:off x="7061911" y="3492093"/>
              <a:ext cx="543153" cy="74066"/>
            </a:xfrm>
            <a:prstGeom prst="rect">
              <a:avLst/>
            </a:prstGeom>
            <a:solidFill>
              <a:srgbClr val="3A3F47"/>
            </a:solidFill>
            <a:ln>
              <a:noFill/>
            </a:ln>
          </p:spPr>
          <p:txBody>
            <a:bodyPr rtlCol="0" anchor="ctr"/>
            <a:lstStyle/>
            <a:p>
              <a:pPr algn="ctr"/>
              <a:endParaRPr/>
            </a:p>
          </p:txBody>
        </p:sp>
        <p:sp>
          <p:nvSpPr>
            <p:cNvPr id="32" name="icon semaphore arm"/>
            <p:cNvSpPr/>
            <p:nvPr/>
          </p:nvSpPr>
          <p:spPr>
            <a:xfrm>
              <a:off x="7342837" y="1886293"/>
              <a:ext cx="645932" cy="645932"/>
            </a:xfrm>
            <a:custGeom>
              <a:avLst/>
              <a:gdLst/>
              <a:ahLst/>
              <a:cxnLst/>
              <a:rect l="l" t="t" r="r" b="b"/>
              <a:pathLst>
                <a:path w="645932" h="645932">
                  <a:moveTo>
                    <a:pt x="0" y="541186"/>
                  </a:moveTo>
                  <a:lnTo>
                    <a:pt x="541186" y="0"/>
                  </a:lnTo>
                  <a:lnTo>
                    <a:pt x="645932" y="104746"/>
                  </a:lnTo>
                  <a:lnTo>
                    <a:pt x="104745" y="645932"/>
                  </a:lnTo>
                  <a:close/>
                </a:path>
              </a:pathLst>
            </a:custGeom>
            <a:solidFill>
              <a:srgbClr val="E5484D"/>
            </a:solidFill>
            <a:ln>
              <a:noFill/>
            </a:ln>
          </p:spPr>
          <p:txBody>
            <a:bodyPr rtlCol="0" anchor="ctr"/>
            <a:lstStyle/>
            <a:p>
              <a:pPr algn="ctr"/>
              <a:endParaRPr/>
            </a:p>
          </p:txBody>
        </p:sp>
        <p:sp>
          <p:nvSpPr>
            <p:cNvPr id="33" name="icon semaphore lamp"/>
            <p:cNvSpPr/>
            <p:nvPr/>
          </p:nvSpPr>
          <p:spPr>
            <a:xfrm>
              <a:off x="7210044" y="2307031"/>
              <a:ext cx="246888" cy="246888"/>
            </a:xfrm>
            <a:prstGeom prst="ellipse">
              <a:avLst/>
            </a:prstGeom>
            <a:solidFill>
              <a:srgbClr val="3FB950"/>
            </a:solidFill>
            <a:ln w="12700">
              <a:solidFill>
                <a:srgbClr val="2B2F36"/>
              </a:solidFill>
            </a:ln>
          </p:spPr>
          <p:txBody>
            <a:bodyPr rtlCol="0" anchor="ctr"/>
            <a:lstStyle/>
            <a:p>
              <a:pPr algn="ctr"/>
              <a:endParaRPr/>
            </a:p>
          </p:txBody>
        </p:sp>
        <p:sp>
          <p:nvSpPr>
            <p:cNvPr id="34" name="icon semaphore pivot"/>
            <p:cNvSpPr/>
            <p:nvPr/>
          </p:nvSpPr>
          <p:spPr>
            <a:xfrm>
              <a:off x="7345832" y="2430475"/>
              <a:ext cx="98755" cy="98755"/>
            </a:xfrm>
            <a:prstGeom prst="ellipse">
              <a:avLst/>
            </a:prstGeom>
            <a:solidFill>
              <a:srgbClr val="3A3F47"/>
            </a:solidFill>
            <a:ln>
              <a:noFill/>
            </a:ln>
          </p:spPr>
          <p:txBody>
            <a:bodyPr rtlCol="0" anchor="ctr"/>
            <a:lstStyle/>
            <a:p>
              <a:pPr algn="ctr"/>
              <a:endParaRPr/>
            </a:p>
          </p:txBody>
        </p:sp>
        <p:sp>
          <p:nvSpPr>
            <p:cNvPr id="35" name="card label"/>
            <p:cNvSpPr txBox="1"/>
            <p:nvPr/>
          </p:nvSpPr>
          <p:spPr>
            <a:xfrm>
              <a:off x="6373368" y="4114800"/>
              <a:ext cx="2286000" cy="914400"/>
            </a:xfrm>
            <a:prstGeom prst="rect">
              <a:avLst/>
            </a:prstGeom>
            <a:noFill/>
          </p:spPr>
          <p:txBody>
            <a:bodyPr wrap="square" lIns="18288" tIns="9144" rIns="18288" bIns="9144" anchor="ctr">
              <a:noAutofit/>
            </a:bodyPr>
            <a:lstStyle/>
            <a:p>
              <a:pPr algn="ctr"/>
              <a:r>
                <a:rPr lang="en-GB" sz="2200" b="1" i="0">
                  <a:solidFill>
                    <a:srgbClr val="F2F2F2"/>
                  </a:solidFill>
                  <a:latin typeface="Arial"/>
                </a:rPr>
                <a:t>Signalling</a:t>
              </a:r>
            </a:p>
          </p:txBody>
        </p:sp>
        <p:sp>
          <p:nvSpPr>
            <p:cNvPr id="36" name="proposed card"/>
            <p:cNvSpPr/>
            <p:nvPr/>
          </p:nvSpPr>
          <p:spPr>
            <a:xfrm>
              <a:off x="9079992" y="1463040"/>
              <a:ext cx="2560320" cy="3749039"/>
            </a:xfrm>
            <a:prstGeom prst="roundRect">
              <a:avLst>
                <a:gd name="adj" fmla="val 3571"/>
              </a:avLst>
            </a:prstGeom>
            <a:solidFill>
              <a:srgbClr val="2B2F36"/>
            </a:solidFill>
            <a:ln w="31750">
              <a:solidFill>
                <a:srgbClr val="B084F5"/>
              </a:solidFill>
              <a:prstDash val="dash"/>
            </a:ln>
          </p:spPr>
          <p:txBody>
            <a:bodyPr rtlCol="0" anchor="ctr"/>
            <a:lstStyle/>
            <a:p>
              <a:pPr algn="ctr"/>
              <a:endParaRPr/>
            </a:p>
          </p:txBody>
        </p:sp>
        <p:sp>
          <p:nvSpPr>
            <p:cNvPr id="37" name="icon panel"/>
            <p:cNvSpPr/>
            <p:nvPr/>
          </p:nvSpPr>
          <p:spPr>
            <a:xfrm>
              <a:off x="9308592" y="1737360"/>
              <a:ext cx="2103120" cy="2194560"/>
            </a:xfrm>
            <a:prstGeom prst="roundRect">
              <a:avLst>
                <a:gd name="adj" fmla="val 3478"/>
              </a:avLst>
            </a:prstGeom>
            <a:solidFill>
              <a:srgbClr val="343A43"/>
            </a:solidFill>
            <a:ln>
              <a:noFill/>
            </a:ln>
          </p:spPr>
          <p:txBody>
            <a:bodyPr rtlCol="0" anchor="ctr"/>
            <a:lstStyle/>
            <a:p>
              <a:pPr algn="ctr"/>
              <a:endParaRPr/>
            </a:p>
          </p:txBody>
        </p:sp>
        <p:sp>
          <p:nvSpPr>
            <p:cNvPr id="38" name="train icon engine"/>
            <p:cNvSpPr/>
            <p:nvPr/>
          </p:nvSpPr>
          <p:spPr>
            <a:xfrm>
              <a:off x="9445752" y="2670048"/>
              <a:ext cx="621792" cy="402336"/>
            </a:xfrm>
            <a:prstGeom prst="roundRect">
              <a:avLst>
                <a:gd name="adj" fmla="val 18181"/>
              </a:avLst>
            </a:prstGeom>
            <a:solidFill>
              <a:srgbClr val="F28C28"/>
            </a:solidFill>
            <a:ln>
              <a:noFill/>
            </a:ln>
          </p:spPr>
          <p:txBody>
            <a:bodyPr rtlCol="0" anchor="ctr"/>
            <a:lstStyle/>
            <a:p>
              <a:pPr algn="ctr"/>
              <a:endParaRPr/>
            </a:p>
          </p:txBody>
        </p:sp>
        <p:sp>
          <p:nvSpPr>
            <p:cNvPr id="39" name="train icon chimney"/>
            <p:cNvSpPr/>
            <p:nvPr/>
          </p:nvSpPr>
          <p:spPr>
            <a:xfrm>
              <a:off x="9902952" y="2560320"/>
              <a:ext cx="128015" cy="182880"/>
            </a:xfrm>
            <a:prstGeom prst="rect">
              <a:avLst/>
            </a:prstGeom>
            <a:solidFill>
              <a:srgbClr val="3A3F47"/>
            </a:solidFill>
            <a:ln>
              <a:noFill/>
            </a:ln>
          </p:spPr>
          <p:txBody>
            <a:bodyPr rtlCol="0" anchor="ctr"/>
            <a:lstStyle/>
            <a:p>
              <a:pPr algn="ctr"/>
              <a:endParaRPr/>
            </a:p>
          </p:txBody>
        </p:sp>
        <p:sp>
          <p:nvSpPr>
            <p:cNvPr id="40" name="train icon frame"/>
            <p:cNvSpPr/>
            <p:nvPr/>
          </p:nvSpPr>
          <p:spPr>
            <a:xfrm>
              <a:off x="9445752" y="2926080"/>
              <a:ext cx="621792" cy="146304"/>
            </a:xfrm>
            <a:prstGeom prst="rect">
              <a:avLst/>
            </a:prstGeom>
            <a:solidFill>
              <a:srgbClr val="1B1D21"/>
            </a:solidFill>
            <a:ln>
              <a:noFill/>
            </a:ln>
          </p:spPr>
          <p:txBody>
            <a:bodyPr rtlCol="0" anchor="ctr"/>
            <a:lstStyle/>
            <a:p>
              <a:pPr algn="ctr"/>
              <a:endParaRPr/>
            </a:p>
          </p:txBody>
        </p:sp>
        <p:sp>
          <p:nvSpPr>
            <p:cNvPr id="41" name="train icon wagon"/>
            <p:cNvSpPr/>
            <p:nvPr/>
          </p:nvSpPr>
          <p:spPr>
            <a:xfrm>
              <a:off x="10104120" y="2724912"/>
              <a:ext cx="548640" cy="347472"/>
            </a:xfrm>
            <a:prstGeom prst="roundRect">
              <a:avLst>
                <a:gd name="adj" fmla="val 10526"/>
              </a:avLst>
            </a:prstGeom>
            <a:solidFill>
              <a:srgbClr val="6C7480"/>
            </a:solidFill>
            <a:ln w="9525">
              <a:solidFill>
                <a:srgbClr val="4A515B"/>
              </a:solidFill>
            </a:ln>
          </p:spPr>
          <p:txBody>
            <a:bodyPr rtlCol="0" anchor="ctr"/>
            <a:lstStyle/>
            <a:p>
              <a:pPr algn="ctr"/>
              <a:endParaRPr/>
            </a:p>
          </p:txBody>
        </p:sp>
        <p:sp>
          <p:nvSpPr>
            <p:cNvPr id="42" name="train icon wagon"/>
            <p:cNvSpPr/>
            <p:nvPr/>
          </p:nvSpPr>
          <p:spPr>
            <a:xfrm>
              <a:off x="10689336" y="2724912"/>
              <a:ext cx="548640" cy="347472"/>
            </a:xfrm>
            <a:prstGeom prst="roundRect">
              <a:avLst>
                <a:gd name="adj" fmla="val 10526"/>
              </a:avLst>
            </a:prstGeom>
            <a:solidFill>
              <a:srgbClr val="6C7480"/>
            </a:solidFill>
            <a:ln w="9525">
              <a:solidFill>
                <a:srgbClr val="4A515B"/>
              </a:solidFill>
            </a:ln>
          </p:spPr>
          <p:txBody>
            <a:bodyPr rtlCol="0" anchor="ctr"/>
            <a:lstStyle/>
            <a:p>
              <a:pPr algn="ctr"/>
              <a:endParaRPr/>
            </a:p>
          </p:txBody>
        </p:sp>
        <p:sp>
          <p:nvSpPr>
            <p:cNvPr id="43" name="train icon wheel"/>
            <p:cNvSpPr/>
            <p:nvPr/>
          </p:nvSpPr>
          <p:spPr>
            <a:xfrm>
              <a:off x="9540849" y="3002889"/>
              <a:ext cx="138988" cy="138988"/>
            </a:xfrm>
            <a:prstGeom prst="ellipse">
              <a:avLst/>
            </a:prstGeom>
            <a:solidFill>
              <a:srgbClr val="1B1D21"/>
            </a:solidFill>
            <a:ln w="9525">
              <a:solidFill>
                <a:srgbClr val="9AA0A6"/>
              </a:solidFill>
            </a:ln>
          </p:spPr>
          <p:txBody>
            <a:bodyPr rtlCol="0" anchor="ctr"/>
            <a:lstStyle/>
            <a:p>
              <a:pPr algn="ctr"/>
              <a:endParaRPr/>
            </a:p>
          </p:txBody>
        </p:sp>
        <p:sp>
          <p:nvSpPr>
            <p:cNvPr id="44" name="train icon wheel"/>
            <p:cNvSpPr/>
            <p:nvPr/>
          </p:nvSpPr>
          <p:spPr>
            <a:xfrm>
              <a:off x="9833457" y="3002889"/>
              <a:ext cx="138988" cy="138988"/>
            </a:xfrm>
            <a:prstGeom prst="ellipse">
              <a:avLst/>
            </a:prstGeom>
            <a:solidFill>
              <a:srgbClr val="1B1D21"/>
            </a:solidFill>
            <a:ln w="9525">
              <a:solidFill>
                <a:srgbClr val="9AA0A6"/>
              </a:solidFill>
            </a:ln>
          </p:spPr>
          <p:txBody>
            <a:bodyPr rtlCol="0" anchor="ctr"/>
            <a:lstStyle/>
            <a:p>
              <a:pPr algn="ctr"/>
              <a:endParaRPr/>
            </a:p>
          </p:txBody>
        </p:sp>
        <p:sp>
          <p:nvSpPr>
            <p:cNvPr id="45" name="train icon wheel"/>
            <p:cNvSpPr/>
            <p:nvPr/>
          </p:nvSpPr>
          <p:spPr>
            <a:xfrm>
              <a:off x="10180929" y="3002889"/>
              <a:ext cx="138988" cy="138988"/>
            </a:xfrm>
            <a:prstGeom prst="ellipse">
              <a:avLst/>
            </a:prstGeom>
            <a:solidFill>
              <a:srgbClr val="1B1D21"/>
            </a:solidFill>
            <a:ln w="9525">
              <a:solidFill>
                <a:srgbClr val="9AA0A6"/>
              </a:solidFill>
            </a:ln>
          </p:spPr>
          <p:txBody>
            <a:bodyPr rtlCol="0" anchor="ctr"/>
            <a:lstStyle/>
            <a:p>
              <a:pPr algn="ctr"/>
              <a:endParaRPr/>
            </a:p>
          </p:txBody>
        </p:sp>
        <p:sp>
          <p:nvSpPr>
            <p:cNvPr id="46" name="train icon wheel"/>
            <p:cNvSpPr/>
            <p:nvPr/>
          </p:nvSpPr>
          <p:spPr>
            <a:xfrm>
              <a:off x="10473537" y="3002889"/>
              <a:ext cx="138988" cy="138988"/>
            </a:xfrm>
            <a:prstGeom prst="ellipse">
              <a:avLst/>
            </a:prstGeom>
            <a:solidFill>
              <a:srgbClr val="1B1D21"/>
            </a:solidFill>
            <a:ln w="9525">
              <a:solidFill>
                <a:srgbClr val="9AA0A6"/>
              </a:solidFill>
            </a:ln>
          </p:spPr>
          <p:txBody>
            <a:bodyPr rtlCol="0" anchor="ctr"/>
            <a:lstStyle/>
            <a:p>
              <a:pPr algn="ctr"/>
              <a:endParaRPr/>
            </a:p>
          </p:txBody>
        </p:sp>
        <p:sp>
          <p:nvSpPr>
            <p:cNvPr id="47" name="train icon wheel"/>
            <p:cNvSpPr/>
            <p:nvPr/>
          </p:nvSpPr>
          <p:spPr>
            <a:xfrm>
              <a:off x="10766145" y="3002889"/>
              <a:ext cx="138988" cy="138988"/>
            </a:xfrm>
            <a:prstGeom prst="ellipse">
              <a:avLst/>
            </a:prstGeom>
            <a:solidFill>
              <a:srgbClr val="1B1D21"/>
            </a:solidFill>
            <a:ln w="9525">
              <a:solidFill>
                <a:srgbClr val="9AA0A6"/>
              </a:solidFill>
            </a:ln>
          </p:spPr>
          <p:txBody>
            <a:bodyPr rtlCol="0" anchor="ctr"/>
            <a:lstStyle/>
            <a:p>
              <a:pPr algn="ctr"/>
              <a:endParaRPr/>
            </a:p>
          </p:txBody>
        </p:sp>
        <p:sp>
          <p:nvSpPr>
            <p:cNvPr id="48" name="train icon wheel"/>
            <p:cNvSpPr/>
            <p:nvPr/>
          </p:nvSpPr>
          <p:spPr>
            <a:xfrm>
              <a:off x="11058753" y="3002889"/>
              <a:ext cx="138988" cy="138988"/>
            </a:xfrm>
            <a:prstGeom prst="ellipse">
              <a:avLst/>
            </a:prstGeom>
            <a:solidFill>
              <a:srgbClr val="1B1D21"/>
            </a:solidFill>
            <a:ln w="9525">
              <a:solidFill>
                <a:srgbClr val="9AA0A6"/>
              </a:solidFill>
            </a:ln>
          </p:spPr>
          <p:txBody>
            <a:bodyPr rtlCol="0" anchor="ctr"/>
            <a:lstStyle/>
            <a:p>
              <a:pPr algn="ctr"/>
              <a:endParaRPr/>
            </a:p>
          </p:txBody>
        </p:sp>
        <p:sp>
          <p:nvSpPr>
            <p:cNvPr id="49" name="rail"/>
            <p:cNvSpPr/>
            <p:nvPr/>
          </p:nvSpPr>
          <p:spPr>
            <a:xfrm>
              <a:off x="9354312" y="3182112"/>
              <a:ext cx="2011680" cy="54864"/>
            </a:xfrm>
            <a:prstGeom prst="rect">
              <a:avLst/>
            </a:prstGeom>
            <a:solidFill>
              <a:srgbClr val="9AA0A6"/>
            </a:solidFill>
            <a:ln>
              <a:noFill/>
            </a:ln>
          </p:spPr>
          <p:txBody>
            <a:bodyPr rtlCol="0" anchor="ctr"/>
            <a:lstStyle/>
            <a:p>
              <a:pPr algn="ctr"/>
              <a:endParaRPr/>
            </a:p>
          </p:txBody>
        </p:sp>
        <p:sp>
          <p:nvSpPr>
            <p:cNvPr id="50" name="card label"/>
            <p:cNvSpPr txBox="1"/>
            <p:nvPr/>
          </p:nvSpPr>
          <p:spPr>
            <a:xfrm>
              <a:off x="9217152" y="4114800"/>
              <a:ext cx="2286000" cy="914400"/>
            </a:xfrm>
            <a:prstGeom prst="rect">
              <a:avLst/>
            </a:prstGeom>
            <a:noFill/>
          </p:spPr>
          <p:txBody>
            <a:bodyPr wrap="square" lIns="18288" tIns="9144" rIns="18288" bIns="9144" anchor="ctr">
              <a:noAutofit/>
            </a:bodyPr>
            <a:lstStyle/>
            <a:p>
              <a:pPr algn="ctr"/>
              <a:r>
                <a:rPr lang="en-GB" sz="2200" b="1" i="0">
                  <a:solidFill>
                    <a:srgbClr val="F2F2F2"/>
                  </a:solidFill>
                  <a:latin typeface="Arial"/>
                </a:rPr>
                <a:t>Rolling Stock</a:t>
              </a:r>
            </a:p>
          </p:txBody>
        </p:sp>
      </p:grpSp>
      <p:sp>
        <p:nvSpPr>
          <p:cNvPr id="51"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52"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53"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Parts could sit in four groups: track, stations, signals and trains.</a:t>
            </a:r>
          </a:p>
        </p:txBody>
      </p:sp>
      <p:sp>
        <p:nvSpPr>
          <p:cNvPr id="54"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18</a:t>
            </a:r>
          </a:p>
        </p:txBody>
      </p:sp>
    </p:spTree>
    <p:extLst>
      <p:ext uri="{BB962C8B-B14F-4D97-AF65-F5344CB8AC3E}">
        <p14:creationId xmlns:p14="http://schemas.microsoft.com/office/powerpoint/2010/main" val="37777401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nodeType="withEffect">
                                  <p:stCondLst>
                                    <p:cond delay="60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par>
                                <p:cTn id="14" presetID="10" presetClass="entr" presetSubtype="0" fill="hold" nodeType="withEffect">
                                  <p:stCondLst>
                                    <p:cond delay="90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Can the game do it?</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grpSp>
        <p:nvGrpSpPr>
          <p:cNvPr id="4" name="Question card" descr="A question card with a big question mark: does the game allow a new top-level tab? Not yet checked."/>
          <p:cNvGrpSpPr/>
          <p:nvPr/>
        </p:nvGrpSpPr>
        <p:grpSpPr>
          <a:xfrm>
            <a:off x="1280160" y="1600200"/>
            <a:ext cx="9628632" cy="3246120"/>
            <a:chOff x="1280160" y="1600200"/>
            <a:chExt cx="9628632" cy="3246120"/>
          </a:xfrm>
        </p:grpSpPr>
        <p:sp>
          <p:nvSpPr>
            <p:cNvPr id="5" name="question card"/>
            <p:cNvSpPr/>
            <p:nvPr/>
          </p:nvSpPr>
          <p:spPr>
            <a:xfrm>
              <a:off x="1280160" y="1600200"/>
              <a:ext cx="9628632" cy="3246120"/>
            </a:xfrm>
            <a:prstGeom prst="roundRect">
              <a:avLst>
                <a:gd name="adj" fmla="val 3380"/>
              </a:avLst>
            </a:prstGeom>
            <a:solidFill>
              <a:srgbClr val="2B2F36"/>
            </a:solidFill>
            <a:ln w="31750">
              <a:solidFill>
                <a:srgbClr val="A9B0B8"/>
              </a:solidFill>
              <a:prstDash val="dash"/>
            </a:ln>
          </p:spPr>
          <p:txBody>
            <a:bodyPr rtlCol="0" anchor="ctr"/>
            <a:lstStyle/>
            <a:p>
              <a:pPr algn="ctr"/>
              <a:endParaRPr/>
            </a:p>
          </p:txBody>
        </p:sp>
        <p:sp>
          <p:nvSpPr>
            <p:cNvPr id="6" name="ghost tab"/>
            <p:cNvSpPr/>
            <p:nvPr/>
          </p:nvSpPr>
          <p:spPr>
            <a:xfrm>
              <a:off x="1645920" y="1920240"/>
              <a:ext cx="914400" cy="502920"/>
            </a:xfrm>
            <a:prstGeom prst="round2SameRect">
              <a:avLst>
                <a:gd name="adj1" fmla="val 22000"/>
                <a:gd name="adj2" fmla="val 0"/>
              </a:avLst>
            </a:prstGeom>
            <a:solidFill>
              <a:srgbClr val="343A43"/>
            </a:solidFill>
            <a:ln w="19050">
              <a:solidFill>
                <a:srgbClr val="4A515B"/>
              </a:solidFill>
            </a:ln>
          </p:spPr>
          <p:txBody>
            <a:bodyPr rtlCol="0" anchor="ctr"/>
            <a:lstStyle/>
            <a:p>
              <a:pPr algn="ctr"/>
              <a:endParaRPr/>
            </a:p>
          </p:txBody>
        </p:sp>
        <p:sp>
          <p:nvSpPr>
            <p:cNvPr id="7" name="ghost tab"/>
            <p:cNvSpPr/>
            <p:nvPr/>
          </p:nvSpPr>
          <p:spPr>
            <a:xfrm>
              <a:off x="2651760" y="1920240"/>
              <a:ext cx="914400" cy="502920"/>
            </a:xfrm>
            <a:prstGeom prst="round2SameRect">
              <a:avLst>
                <a:gd name="adj1" fmla="val 22000"/>
                <a:gd name="adj2" fmla="val 0"/>
              </a:avLst>
            </a:prstGeom>
            <a:solidFill>
              <a:srgbClr val="343A43"/>
            </a:solidFill>
            <a:ln w="19050">
              <a:solidFill>
                <a:srgbClr val="4A515B"/>
              </a:solidFill>
            </a:ln>
          </p:spPr>
          <p:txBody>
            <a:bodyPr rtlCol="0" anchor="ctr"/>
            <a:lstStyle/>
            <a:p>
              <a:pPr algn="ctr"/>
              <a:endParaRPr/>
            </a:p>
          </p:txBody>
        </p:sp>
        <p:sp>
          <p:nvSpPr>
            <p:cNvPr id="8" name="ghost tab"/>
            <p:cNvSpPr/>
            <p:nvPr/>
          </p:nvSpPr>
          <p:spPr>
            <a:xfrm>
              <a:off x="3657600" y="1920240"/>
              <a:ext cx="914400" cy="502920"/>
            </a:xfrm>
            <a:prstGeom prst="round2SameRect">
              <a:avLst>
                <a:gd name="adj1" fmla="val 22000"/>
                <a:gd name="adj2" fmla="val 0"/>
              </a:avLst>
            </a:prstGeom>
            <a:solidFill>
              <a:srgbClr val="343A43"/>
            </a:solidFill>
            <a:ln w="19050">
              <a:solidFill>
                <a:srgbClr val="4A515B"/>
              </a:solidFill>
            </a:ln>
          </p:spPr>
          <p:txBody>
            <a:bodyPr rtlCol="0" anchor="ctr"/>
            <a:lstStyle/>
            <a:p>
              <a:pPr algn="ctr"/>
              <a:endParaRPr/>
            </a:p>
          </p:txBody>
        </p:sp>
        <p:sp>
          <p:nvSpPr>
            <p:cNvPr id="9" name="dashed new tab"/>
            <p:cNvSpPr/>
            <p:nvPr/>
          </p:nvSpPr>
          <p:spPr>
            <a:xfrm>
              <a:off x="4663440" y="1828800"/>
              <a:ext cx="1371600" cy="594360"/>
            </a:xfrm>
            <a:prstGeom prst="round2SameRect">
              <a:avLst>
                <a:gd name="adj1" fmla="val 22000"/>
                <a:gd name="adj2" fmla="val 0"/>
              </a:avLst>
            </a:prstGeom>
            <a:noFill/>
            <a:ln w="31750">
              <a:solidFill>
                <a:srgbClr val="A9B0B8"/>
              </a:solidFill>
              <a:prstDash val="dash"/>
            </a:ln>
          </p:spPr>
          <p:txBody>
            <a:bodyPr rtlCol="0" anchor="ctr"/>
            <a:lstStyle/>
            <a:p>
              <a:pPr algn="ctr"/>
              <a:endParaRPr/>
            </a:p>
          </p:txBody>
        </p:sp>
        <p:sp>
          <p:nvSpPr>
            <p:cNvPr id="10" name="QUESTION"/>
            <p:cNvSpPr txBox="1"/>
            <p:nvPr/>
          </p:nvSpPr>
          <p:spPr>
            <a:xfrm>
              <a:off x="1645920" y="2834640"/>
              <a:ext cx="6126480" cy="1554480"/>
            </a:xfrm>
            <a:prstGeom prst="rect">
              <a:avLst/>
            </a:prstGeom>
            <a:noFill/>
          </p:spPr>
          <p:txBody>
            <a:bodyPr wrap="square" lIns="18288" tIns="9144" rIns="18288" bIns="9144" anchor="ctr">
              <a:noAutofit/>
            </a:bodyPr>
            <a:lstStyle/>
            <a:p>
              <a:pPr algn="l"/>
              <a:r>
                <a:rPr lang="en-GB" sz="3400" b="1" i="0">
                  <a:solidFill>
                    <a:srgbClr val="F2F2F2"/>
                  </a:solidFill>
                  <a:latin typeface="Arial"/>
                </a:rPr>
                <a:t>Does the game allow a new top-level tab?</a:t>
              </a:r>
            </a:p>
          </p:txBody>
        </p:sp>
        <p:sp>
          <p:nvSpPr>
            <p:cNvPr id="11" name="question disc"/>
            <p:cNvSpPr/>
            <p:nvPr/>
          </p:nvSpPr>
          <p:spPr>
            <a:xfrm>
              <a:off x="8138160" y="2057400"/>
              <a:ext cx="2194560" cy="2194560"/>
            </a:xfrm>
            <a:prstGeom prst="ellipse">
              <a:avLst/>
            </a:prstGeom>
            <a:noFill/>
            <a:ln w="50800">
              <a:solidFill>
                <a:srgbClr val="A9B0B8"/>
              </a:solidFill>
            </a:ln>
          </p:spPr>
          <p:txBody>
            <a:bodyPr wrap="square" lIns="0" tIns="0" rIns="0" bIns="0" rtlCol="0" anchor="ctr">
              <a:noAutofit/>
            </a:bodyPr>
            <a:lstStyle/>
            <a:p>
              <a:pPr algn="ctr"/>
              <a:r>
                <a:rPr lang="en-GB" sz="9600" b="1" i="0">
                  <a:solidFill>
                    <a:srgbClr val="F2F2F2"/>
                  </a:solidFill>
                  <a:latin typeface="Arial"/>
                </a:rPr>
                <a:t>?</a:t>
              </a:r>
            </a:p>
          </p:txBody>
        </p:sp>
      </p:grpSp>
      <p:sp>
        <p:nvSpPr>
          <p:cNvPr id="12" name="FOOTER"/>
          <p:cNvSpPr txBox="1"/>
          <p:nvPr/>
        </p:nvSpPr>
        <p:spPr>
          <a:xfrm>
            <a:off x="1280160" y="5029200"/>
            <a:ext cx="1828800" cy="365760"/>
          </a:xfrm>
          <a:prstGeom prst="rect">
            <a:avLst/>
          </a:prstGeom>
          <a:noFill/>
        </p:spPr>
        <p:txBody>
          <a:bodyPr wrap="square" lIns="18288" tIns="9144" rIns="18288" bIns="9144" anchor="ctr">
            <a:noAutofit/>
          </a:bodyPr>
          <a:lstStyle/>
          <a:p>
            <a:pPr algn="l"/>
            <a:r>
              <a:rPr lang="en-GB" sz="1800" b="1" i="0">
                <a:solidFill>
                  <a:srgbClr val="A9B0B8"/>
                </a:solidFill>
                <a:latin typeface="Arial"/>
              </a:rPr>
              <a:t>OQ19</a:t>
            </a:r>
          </a:p>
        </p:txBody>
      </p:sp>
      <p:sp>
        <p:nvSpPr>
          <p:cNvPr id="13"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4"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5"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Whether the game allows a new tab is not yet checked.</a:t>
            </a:r>
          </a:p>
        </p:txBody>
      </p:sp>
      <p:sp>
        <p:nvSpPr>
          <p:cNvPr id="16"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19</a:t>
            </a:r>
          </a:p>
        </p:txBody>
      </p:sp>
    </p:spTree>
    <p:extLst>
      <p:ext uri="{BB962C8B-B14F-4D97-AF65-F5344CB8AC3E}">
        <p14:creationId xmlns:p14="http://schemas.microsoft.com/office/powerpoint/2010/main" val="19701128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6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9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par>
                                <p:cTn id="17" presetID="10" presetClass="entr" presetSubtype="0" fill="hold" nodeType="withEffect">
                                  <p:stCondLst>
                                    <p:cond delay="12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Reactions to your trains</a:t>
            </a:r>
          </a:p>
        </p:txBody>
      </p:sp>
      <p:sp>
        <p:nvSpPr>
          <p:cNvPr id="3" name="CHIP"/>
          <p:cNvSpPr/>
          <p:nvPr/>
        </p:nvSpPr>
        <p:spPr>
          <a:xfrm>
            <a:off x="10088575" y="530352"/>
            <a:ext cx="1554480" cy="365760"/>
          </a:xfrm>
          <a:prstGeom prst="roundRect">
            <a:avLst>
              <a:gd name="adj" fmla="val 30000"/>
            </a:avLst>
          </a:prstGeom>
          <a:solidFill>
            <a:srgbClr val="B084F5"/>
          </a:solidFill>
          <a:ln>
            <a:noFill/>
          </a:ln>
        </p:spPr>
        <p:txBody>
          <a:bodyPr wrap="square" lIns="54864" tIns="0" rIns="54864" bIns="0" rtlCol="0" anchor="ctr">
            <a:noAutofit/>
          </a:bodyPr>
          <a:lstStyle/>
          <a:p>
            <a:pPr algn="ctr"/>
            <a:r>
              <a:rPr lang="en-GB" sz="1400" b="1" i="0">
                <a:solidFill>
                  <a:srgbClr val="101418"/>
                </a:solidFill>
                <a:latin typeface="Arial"/>
              </a:rPr>
              <a:t>PROPOSED</a:t>
            </a:r>
          </a:p>
        </p:txBody>
      </p:sp>
      <p:grpSp>
        <p:nvGrpSpPr>
          <p:cNvPr id="4" name="Placeholder avatar" descr="Placeholder avatar for the railway guide: a plain round head with no face, a headset and orange shoulders. Her look is undecided (OQ15)."/>
          <p:cNvGrpSpPr/>
          <p:nvPr/>
        </p:nvGrpSpPr>
        <p:grpSpPr>
          <a:xfrm>
            <a:off x="2606039" y="1554480"/>
            <a:ext cx="3200400" cy="3288410"/>
            <a:chOff x="2606039" y="1554480"/>
            <a:chExt cx="3200400" cy="3288410"/>
          </a:xfrm>
        </p:grpSpPr>
        <p:sp>
          <p:nvSpPr>
            <p:cNvPr id="5" name="shoulders"/>
            <p:cNvSpPr/>
            <p:nvPr/>
          </p:nvSpPr>
          <p:spPr>
            <a:xfrm>
              <a:off x="2606039" y="3322701"/>
              <a:ext cx="3200400" cy="1520189"/>
            </a:xfrm>
            <a:prstGeom prst="round2SameRect">
              <a:avLst>
                <a:gd name="adj1" fmla="val 50000"/>
                <a:gd name="adj2" fmla="val 0"/>
              </a:avLst>
            </a:prstGeom>
            <a:solidFill>
              <a:srgbClr val="F28C28"/>
            </a:solidFill>
            <a:ln>
              <a:noFill/>
            </a:ln>
          </p:spPr>
          <p:txBody>
            <a:bodyPr rtlCol="0" anchor="ctr"/>
            <a:lstStyle/>
            <a:p>
              <a:pPr algn="ctr"/>
              <a:endParaRPr/>
            </a:p>
          </p:txBody>
        </p:sp>
        <p:sp>
          <p:nvSpPr>
            <p:cNvPr id="6" name="neck"/>
            <p:cNvSpPr/>
            <p:nvPr/>
          </p:nvSpPr>
          <p:spPr>
            <a:xfrm>
              <a:off x="3886200" y="3122676"/>
              <a:ext cx="640080" cy="640080"/>
            </a:xfrm>
            <a:prstGeom prst="rect">
              <a:avLst/>
            </a:prstGeom>
            <a:solidFill>
              <a:srgbClr val="B9BEC4"/>
            </a:solidFill>
            <a:ln>
              <a:noFill/>
            </a:ln>
          </p:spPr>
          <p:txBody>
            <a:bodyPr rtlCol="0" anchor="ctr"/>
            <a:lstStyle/>
            <a:p>
              <a:pPr algn="ctr"/>
              <a:endParaRPr/>
            </a:p>
          </p:txBody>
        </p:sp>
        <p:sp>
          <p:nvSpPr>
            <p:cNvPr id="7" name="head"/>
            <p:cNvSpPr/>
            <p:nvPr/>
          </p:nvSpPr>
          <p:spPr>
            <a:xfrm>
              <a:off x="3406139" y="1762506"/>
              <a:ext cx="1600200" cy="1600200"/>
            </a:xfrm>
            <a:prstGeom prst="ellipse">
              <a:avLst/>
            </a:prstGeom>
            <a:solidFill>
              <a:srgbClr val="D5D9DE"/>
            </a:solidFill>
            <a:ln w="19050">
              <a:solidFill>
                <a:srgbClr val="9AA0A6"/>
              </a:solidFill>
            </a:ln>
          </p:spPr>
          <p:txBody>
            <a:bodyPr rtlCol="0" anchor="ctr"/>
            <a:lstStyle/>
            <a:p>
              <a:pPr algn="ctr"/>
              <a:endParaRPr/>
            </a:p>
          </p:txBody>
        </p:sp>
        <p:sp>
          <p:nvSpPr>
            <p:cNvPr id="8" name="headset band"/>
            <p:cNvSpPr/>
            <p:nvPr/>
          </p:nvSpPr>
          <p:spPr>
            <a:xfrm>
              <a:off x="3207925" y="1554480"/>
              <a:ext cx="1996629" cy="893299"/>
            </a:xfrm>
            <a:custGeom>
              <a:avLst/>
              <a:gdLst/>
              <a:ahLst/>
              <a:cxnLst/>
              <a:rect l="l" t="t" r="r" b="b"/>
              <a:pathLst>
                <a:path w="1996629" h="893299">
                  <a:moveTo>
                    <a:pt x="1996629" y="867821"/>
                  </a:moveTo>
                  <a:lnTo>
                    <a:pt x="1972844" y="750037"/>
                  </a:lnTo>
                  <a:lnTo>
                    <a:pt x="1935214" y="635919"/>
                  </a:lnTo>
                  <a:lnTo>
                    <a:pt x="1884273" y="527089"/>
                  </a:lnTo>
                  <a:lnTo>
                    <a:pt x="1820745" y="425094"/>
                  </a:lnTo>
                  <a:lnTo>
                    <a:pt x="1745533" y="331381"/>
                  </a:lnTo>
                  <a:lnTo>
                    <a:pt x="1659705" y="247283"/>
                  </a:lnTo>
                  <a:lnTo>
                    <a:pt x="1564480" y="173995"/>
                  </a:lnTo>
                  <a:lnTo>
                    <a:pt x="1461212" y="112557"/>
                  </a:lnTo>
                  <a:lnTo>
                    <a:pt x="1351368" y="63842"/>
                  </a:lnTo>
                  <a:lnTo>
                    <a:pt x="1236507" y="28543"/>
                  </a:lnTo>
                  <a:lnTo>
                    <a:pt x="1118263" y="7161"/>
                  </a:lnTo>
                  <a:lnTo>
                    <a:pt x="998315" y="0"/>
                  </a:lnTo>
                  <a:lnTo>
                    <a:pt x="878366" y="7161"/>
                  </a:lnTo>
                  <a:lnTo>
                    <a:pt x="760122" y="28543"/>
                  </a:lnTo>
                  <a:lnTo>
                    <a:pt x="645261" y="63842"/>
                  </a:lnTo>
                  <a:lnTo>
                    <a:pt x="535417" y="112557"/>
                  </a:lnTo>
                  <a:lnTo>
                    <a:pt x="432149" y="173995"/>
                  </a:lnTo>
                  <a:lnTo>
                    <a:pt x="336924" y="247283"/>
                  </a:lnTo>
                  <a:lnTo>
                    <a:pt x="251096" y="331381"/>
                  </a:lnTo>
                  <a:lnTo>
                    <a:pt x="175884" y="425094"/>
                  </a:lnTo>
                  <a:lnTo>
                    <a:pt x="112356" y="527089"/>
                  </a:lnTo>
                  <a:lnTo>
                    <a:pt x="61415" y="635919"/>
                  </a:lnTo>
                  <a:lnTo>
                    <a:pt x="23785" y="750037"/>
                  </a:lnTo>
                  <a:lnTo>
                    <a:pt x="0" y="867821"/>
                  </a:lnTo>
                  <a:lnTo>
                    <a:pt x="181281" y="893299"/>
                  </a:lnTo>
                  <a:lnTo>
                    <a:pt x="200747" y="796903"/>
                  </a:lnTo>
                  <a:lnTo>
                    <a:pt x="231544" y="703507"/>
                  </a:lnTo>
                  <a:lnTo>
                    <a:pt x="273235" y="614439"/>
                  </a:lnTo>
                  <a:lnTo>
                    <a:pt x="325227" y="530965"/>
                  </a:lnTo>
                  <a:lnTo>
                    <a:pt x="386782" y="454269"/>
                  </a:lnTo>
                  <a:lnTo>
                    <a:pt x="457024" y="385442"/>
                  </a:lnTo>
                  <a:lnTo>
                    <a:pt x="534957" y="325462"/>
                  </a:lnTo>
                  <a:lnTo>
                    <a:pt x="619473" y="275180"/>
                  </a:lnTo>
                  <a:lnTo>
                    <a:pt x="709371" y="235312"/>
                  </a:lnTo>
                  <a:lnTo>
                    <a:pt x="803374" y="206423"/>
                  </a:lnTo>
                  <a:lnTo>
                    <a:pt x="900147" y="188923"/>
                  </a:lnTo>
                  <a:lnTo>
                    <a:pt x="998315" y="183062"/>
                  </a:lnTo>
                  <a:lnTo>
                    <a:pt x="1096482" y="188923"/>
                  </a:lnTo>
                  <a:lnTo>
                    <a:pt x="1193255" y="206423"/>
                  </a:lnTo>
                  <a:lnTo>
                    <a:pt x="1287258" y="235312"/>
                  </a:lnTo>
                  <a:lnTo>
                    <a:pt x="1377156" y="275180"/>
                  </a:lnTo>
                  <a:lnTo>
                    <a:pt x="1461672" y="325462"/>
                  </a:lnTo>
                  <a:lnTo>
                    <a:pt x="1539605" y="385442"/>
                  </a:lnTo>
                  <a:lnTo>
                    <a:pt x="1609847" y="454269"/>
                  </a:lnTo>
                  <a:lnTo>
                    <a:pt x="1671402" y="530965"/>
                  </a:lnTo>
                  <a:lnTo>
                    <a:pt x="1723394" y="614439"/>
                  </a:lnTo>
                  <a:lnTo>
                    <a:pt x="1765085" y="703507"/>
                  </a:lnTo>
                  <a:lnTo>
                    <a:pt x="1795882" y="796903"/>
                  </a:lnTo>
                  <a:lnTo>
                    <a:pt x="1815348" y="893299"/>
                  </a:lnTo>
                  <a:close/>
                </a:path>
              </a:pathLst>
            </a:custGeom>
            <a:solidFill>
              <a:srgbClr val="3A3F47"/>
            </a:solidFill>
            <a:ln w="19050">
              <a:solidFill>
                <a:srgbClr val="9AA0A6"/>
              </a:solidFill>
            </a:ln>
          </p:spPr>
          <p:txBody>
            <a:bodyPr rtlCol="0" anchor="ctr"/>
            <a:lstStyle/>
            <a:p>
              <a:pPr algn="ctr"/>
              <a:endParaRPr/>
            </a:p>
          </p:txBody>
        </p:sp>
        <p:sp>
          <p:nvSpPr>
            <p:cNvPr id="9" name="ear cup"/>
            <p:cNvSpPr/>
            <p:nvPr/>
          </p:nvSpPr>
          <p:spPr>
            <a:xfrm>
              <a:off x="3147707" y="2338578"/>
              <a:ext cx="288036" cy="544068"/>
            </a:xfrm>
            <a:prstGeom prst="roundRect">
              <a:avLst>
                <a:gd name="adj" fmla="val 38888"/>
              </a:avLst>
            </a:prstGeom>
            <a:solidFill>
              <a:srgbClr val="3A3F47"/>
            </a:solidFill>
            <a:ln w="19050">
              <a:solidFill>
                <a:srgbClr val="9AA0A6"/>
              </a:solidFill>
            </a:ln>
          </p:spPr>
          <p:txBody>
            <a:bodyPr rtlCol="0" anchor="ctr"/>
            <a:lstStyle/>
            <a:p>
              <a:pPr algn="ctr"/>
              <a:endParaRPr/>
            </a:p>
          </p:txBody>
        </p:sp>
        <p:sp>
          <p:nvSpPr>
            <p:cNvPr id="10" name="ear cup"/>
            <p:cNvSpPr/>
            <p:nvPr/>
          </p:nvSpPr>
          <p:spPr>
            <a:xfrm>
              <a:off x="4976736" y="2338578"/>
              <a:ext cx="288036" cy="544068"/>
            </a:xfrm>
            <a:prstGeom prst="roundRect">
              <a:avLst>
                <a:gd name="adj" fmla="val 38888"/>
              </a:avLst>
            </a:prstGeom>
            <a:solidFill>
              <a:srgbClr val="3A3F47"/>
            </a:solidFill>
            <a:ln w="19050">
              <a:solidFill>
                <a:srgbClr val="9AA0A6"/>
              </a:solidFill>
            </a:ln>
          </p:spPr>
          <p:txBody>
            <a:bodyPr rtlCol="0" anchor="ctr"/>
            <a:lstStyle/>
            <a:p>
              <a:pPr algn="ctr"/>
              <a:endParaRPr/>
            </a:p>
          </p:txBody>
        </p:sp>
        <p:sp>
          <p:nvSpPr>
            <p:cNvPr id="11" name="mic boom"/>
            <p:cNvSpPr/>
            <p:nvPr/>
          </p:nvSpPr>
          <p:spPr>
            <a:xfrm>
              <a:off x="3302126" y="2850642"/>
              <a:ext cx="632079" cy="376291"/>
            </a:xfrm>
            <a:custGeom>
              <a:avLst/>
              <a:gdLst/>
              <a:ahLst/>
              <a:cxnLst/>
              <a:rect l="l" t="t" r="r" b="b"/>
              <a:pathLst>
                <a:path w="632079" h="376291">
                  <a:moveTo>
                    <a:pt x="0" y="0"/>
                  </a:moveTo>
                  <a:lnTo>
                    <a:pt x="807" y="32963"/>
                  </a:lnTo>
                  <a:lnTo>
                    <a:pt x="3225" y="64416"/>
                  </a:lnTo>
                  <a:lnTo>
                    <a:pt x="7257" y="94358"/>
                  </a:lnTo>
                  <a:lnTo>
                    <a:pt x="12900" y="122790"/>
                  </a:lnTo>
                  <a:lnTo>
                    <a:pt x="20156" y="149712"/>
                  </a:lnTo>
                  <a:lnTo>
                    <a:pt x="29025" y="175123"/>
                  </a:lnTo>
                  <a:lnTo>
                    <a:pt x="39505" y="199024"/>
                  </a:lnTo>
                  <a:lnTo>
                    <a:pt x="51599" y="221415"/>
                  </a:lnTo>
                  <a:lnTo>
                    <a:pt x="65305" y="242295"/>
                  </a:lnTo>
                  <a:lnTo>
                    <a:pt x="80623" y="261665"/>
                  </a:lnTo>
                  <a:lnTo>
                    <a:pt x="97554" y="279524"/>
                  </a:lnTo>
                  <a:lnTo>
                    <a:pt x="116097" y="295873"/>
                  </a:lnTo>
                  <a:lnTo>
                    <a:pt x="136252" y="310712"/>
                  </a:lnTo>
                  <a:lnTo>
                    <a:pt x="158020" y="324040"/>
                  </a:lnTo>
                  <a:lnTo>
                    <a:pt x="181401" y="335858"/>
                  </a:lnTo>
                  <a:lnTo>
                    <a:pt x="206394" y="346165"/>
                  </a:lnTo>
                  <a:lnTo>
                    <a:pt x="232999" y="354962"/>
                  </a:lnTo>
                  <a:lnTo>
                    <a:pt x="261217" y="362249"/>
                  </a:lnTo>
                  <a:lnTo>
                    <a:pt x="291047" y="368025"/>
                  </a:lnTo>
                  <a:lnTo>
                    <a:pt x="322490" y="372291"/>
                  </a:lnTo>
                  <a:lnTo>
                    <a:pt x="355545" y="375046"/>
                  </a:lnTo>
                  <a:lnTo>
                    <a:pt x="390213" y="376291"/>
                  </a:lnTo>
                  <a:lnTo>
                    <a:pt x="426493" y="376026"/>
                  </a:lnTo>
                  <a:lnTo>
                    <a:pt x="464385" y="374250"/>
                  </a:lnTo>
                  <a:lnTo>
                    <a:pt x="503890" y="370964"/>
                  </a:lnTo>
                  <a:lnTo>
                    <a:pt x="545007" y="366168"/>
                  </a:lnTo>
                  <a:lnTo>
                    <a:pt x="587737" y="359861"/>
                  </a:lnTo>
                  <a:lnTo>
                    <a:pt x="632079" y="352044"/>
                  </a:lnTo>
                </a:path>
              </a:pathLst>
            </a:custGeom>
            <a:noFill/>
            <a:ln w="71120">
              <a:solidFill>
                <a:srgbClr val="9AA0A6"/>
              </a:solidFill>
            </a:ln>
          </p:spPr>
          <p:txBody>
            <a:bodyPr rtlCol="0" anchor="ctr"/>
            <a:lstStyle/>
            <a:p>
              <a:pPr algn="ctr"/>
              <a:endParaRPr/>
            </a:p>
          </p:txBody>
        </p:sp>
        <p:sp>
          <p:nvSpPr>
            <p:cNvPr id="12" name="mic tip"/>
            <p:cNvSpPr/>
            <p:nvPr/>
          </p:nvSpPr>
          <p:spPr>
            <a:xfrm>
              <a:off x="3838193" y="3106674"/>
              <a:ext cx="192024" cy="192024"/>
            </a:xfrm>
            <a:prstGeom prst="ellipse">
              <a:avLst/>
            </a:prstGeom>
            <a:solidFill>
              <a:srgbClr val="9AA0A6"/>
            </a:solidFill>
            <a:ln>
              <a:noFill/>
            </a:ln>
          </p:spPr>
          <p:txBody>
            <a:bodyPr rtlCol="0" anchor="ctr"/>
            <a:lstStyle/>
            <a:p>
              <a:pPr algn="ctr"/>
              <a:endParaRPr/>
            </a:p>
          </p:txBody>
        </p:sp>
      </p:grpSp>
      <p:sp>
        <p:nvSpPr>
          <p:cNvPr id="13" name="guide bubble body"/>
          <p:cNvSpPr/>
          <p:nvPr/>
        </p:nvSpPr>
        <p:spPr>
          <a:xfrm>
            <a:off x="6126480" y="2011680"/>
            <a:ext cx="3108960" cy="1234440"/>
          </a:xfrm>
          <a:prstGeom prst="roundRect">
            <a:avLst>
              <a:gd name="adj" fmla="val 22222"/>
            </a:avLst>
          </a:prstGeom>
          <a:solidFill>
            <a:srgbClr val="F2F2F2"/>
          </a:solidFill>
          <a:ln>
            <a:noFill/>
          </a:ln>
        </p:spPr>
        <p:txBody>
          <a:bodyPr wrap="square" lIns="109728" rIns="109728" rtlCol="0" anchor="ctr">
            <a:noAutofit/>
          </a:bodyPr>
          <a:lstStyle/>
          <a:p>
            <a:pPr algn="ctr"/>
            <a:r>
              <a:rPr lang="en-GB" sz="4800" b="1" i="0">
                <a:solidFill>
                  <a:srgbClr val="101418"/>
                </a:solidFill>
                <a:latin typeface="Arial"/>
              </a:rPr>
              <a:t>...</a:t>
            </a:r>
          </a:p>
        </p:txBody>
      </p:sp>
      <p:sp>
        <p:nvSpPr>
          <p:cNvPr id="14" name="guide bubble tail"/>
          <p:cNvSpPr/>
          <p:nvPr/>
        </p:nvSpPr>
        <p:spPr>
          <a:xfrm>
            <a:off x="5669280" y="2606040"/>
            <a:ext cx="475488" cy="365760"/>
          </a:xfrm>
          <a:custGeom>
            <a:avLst/>
            <a:gdLst/>
            <a:ahLst/>
            <a:cxnLst/>
            <a:rect l="l" t="t" r="r" b="b"/>
            <a:pathLst>
              <a:path w="475488" h="365760">
                <a:moveTo>
                  <a:pt x="475488" y="0"/>
                </a:moveTo>
                <a:lnTo>
                  <a:pt x="475488" y="365760"/>
                </a:lnTo>
                <a:lnTo>
                  <a:pt x="0" y="256032"/>
                </a:lnTo>
                <a:close/>
              </a:path>
            </a:pathLst>
          </a:custGeom>
          <a:solidFill>
            <a:srgbClr val="F2F2F2"/>
          </a:solidFill>
          <a:ln>
            <a:noFill/>
          </a:ln>
        </p:spPr>
        <p:txBody>
          <a:bodyPr rtlCol="0" anchor="ctr"/>
          <a:lstStyle/>
          <a:p>
            <a:pPr algn="ctr"/>
            <a:endParaRPr/>
          </a:p>
        </p:txBody>
      </p:sp>
      <p:sp>
        <p:nvSpPr>
          <p:cNvPr id="15" name="dialogue note"/>
          <p:cNvSpPr/>
          <p:nvPr/>
        </p:nvSpPr>
        <p:spPr>
          <a:xfrm>
            <a:off x="6126480" y="3611880"/>
            <a:ext cx="3108960" cy="502920"/>
          </a:xfrm>
          <a:prstGeom prst="roundRect">
            <a:avLst>
              <a:gd name="adj" fmla="val 14545"/>
            </a:avLst>
          </a:prstGeom>
          <a:solidFill>
            <a:srgbClr val="2B2F36"/>
          </a:solidFill>
          <a:ln w="25400">
            <a:solidFill>
              <a:srgbClr val="A9B0B8"/>
            </a:solidFill>
            <a:prstDash val="dash"/>
          </a:ln>
        </p:spPr>
        <p:txBody>
          <a:bodyPr wrap="square" lIns="54864" tIns="27432" rIns="54864" bIns="27432" rtlCol="0" anchor="ctr">
            <a:noAutofit/>
          </a:bodyPr>
          <a:lstStyle/>
          <a:p>
            <a:pPr algn="ctr"/>
            <a:r>
              <a:rPr lang="en-GB" sz="1800" b="1" i="0">
                <a:solidFill>
                  <a:srgbClr val="F2F2F2"/>
                </a:solidFill>
                <a:latin typeface="Arial"/>
              </a:rPr>
              <a:t>Dialogue not written yet.</a:t>
            </a:r>
          </a:p>
        </p:txBody>
      </p:sp>
      <p:sp>
        <p:nvSpPr>
          <p:cNvPr id="16" name="PLACEHOLDER LABEL"/>
          <p:cNvSpPr txBox="1"/>
          <p:nvPr/>
        </p:nvSpPr>
        <p:spPr>
          <a:xfrm>
            <a:off x="2103120" y="4983480"/>
            <a:ext cx="4206240" cy="502920"/>
          </a:xfrm>
          <a:prstGeom prst="rect">
            <a:avLst/>
          </a:prstGeom>
          <a:noFill/>
        </p:spPr>
        <p:txBody>
          <a:bodyPr wrap="square" lIns="18288" tIns="9144" rIns="18288" bIns="9144" anchor="ctr">
            <a:noAutofit/>
          </a:bodyPr>
          <a:lstStyle/>
          <a:p>
            <a:pPr algn="ctr"/>
            <a:r>
              <a:rPr lang="en-GB" sz="1400" b="0" i="0">
                <a:solidFill>
                  <a:srgbClr val="A9B0B8"/>
                </a:solidFill>
                <a:latin typeface="Arial"/>
              </a:rPr>
              <a:t>Placeholder avatar. Her look is undecided (OQ15).</a:t>
            </a:r>
          </a:p>
        </p:txBody>
      </p:sp>
      <p:sp>
        <p:nvSpPr>
          <p:cNvPr id="17"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18"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19"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She might react to special liveries and famous engines. Rarely, not on every placement.</a:t>
            </a:r>
          </a:p>
        </p:txBody>
      </p:sp>
      <p:sp>
        <p:nvSpPr>
          <p:cNvPr id="20"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20</a:t>
            </a:r>
          </a:p>
        </p:txBody>
      </p:sp>
    </p:spTree>
    <p:extLst>
      <p:ext uri="{BB962C8B-B14F-4D97-AF65-F5344CB8AC3E}">
        <p14:creationId xmlns:p14="http://schemas.microsoft.com/office/powerpoint/2010/main" val="15305260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25"/>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45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675"/>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9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nodeType="withEffect">
                                  <p:stCondLst>
                                    <p:cond delay="1125"/>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nodeType="withEffect">
                                  <p:stCondLst>
                                    <p:cond delay="135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nodeType="withEffect">
                                  <p:stCondLst>
                                    <p:cond delay="1575"/>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Where this stands</a:t>
            </a:r>
          </a:p>
        </p:txBody>
      </p:sp>
      <p:sp>
        <p:nvSpPr>
          <p:cNvPr id="3" name="CHIP"/>
          <p:cNvSpPr/>
          <p:nvPr/>
        </p:nvSpPr>
        <p:spPr>
          <a:xfrm>
            <a:off x="10088575" y="530352"/>
            <a:ext cx="1554480" cy="365760"/>
          </a:xfrm>
          <a:prstGeom prst="roundRect">
            <a:avLst>
              <a:gd name="adj" fmla="val 30000"/>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PROVISIONAL</a:t>
            </a:r>
          </a:p>
        </p:txBody>
      </p:sp>
      <p:grpSp>
        <p:nvGrpSpPr>
          <p:cNvPr id="4" name="Four planned steps" descr="A row of four steps, all planned and none built yet: guide script, character art, lessons and build menu tab. Dashed outlines show they are not built."/>
          <p:cNvGrpSpPr/>
          <p:nvPr/>
        </p:nvGrpSpPr>
        <p:grpSpPr>
          <a:xfrm>
            <a:off x="548640" y="1554480"/>
            <a:ext cx="11091672" cy="3108960"/>
            <a:chOff x="548640" y="1554480"/>
            <a:chExt cx="11091672" cy="3108960"/>
          </a:xfrm>
        </p:grpSpPr>
        <p:sp>
          <p:nvSpPr>
            <p:cNvPr id="5" name="planned step"/>
            <p:cNvSpPr/>
            <p:nvPr/>
          </p:nvSpPr>
          <p:spPr>
            <a:xfrm>
              <a:off x="548640" y="1554480"/>
              <a:ext cx="2560320" cy="3108960"/>
            </a:xfrm>
            <a:prstGeom prst="roundRect">
              <a:avLst>
                <a:gd name="adj" fmla="val 3571"/>
              </a:avLst>
            </a:prstGeom>
            <a:solidFill>
              <a:srgbClr val="2B2F36"/>
            </a:solidFill>
            <a:ln w="31750">
              <a:solidFill>
                <a:srgbClr val="A9B0B8"/>
              </a:solidFill>
              <a:prstDash val="dash"/>
            </a:ln>
          </p:spPr>
          <p:txBody>
            <a:bodyPr rtlCol="0" anchor="ctr"/>
            <a:lstStyle/>
            <a:p>
              <a:pPr algn="ctr"/>
              <a:endParaRPr/>
            </a:p>
          </p:txBody>
        </p:sp>
        <p:sp>
          <p:nvSpPr>
            <p:cNvPr id="6" name="planned disc"/>
            <p:cNvSpPr/>
            <p:nvPr/>
          </p:nvSpPr>
          <p:spPr>
            <a:xfrm>
              <a:off x="1234440" y="1874519"/>
              <a:ext cx="1188720" cy="1188720"/>
            </a:xfrm>
            <a:prstGeom prst="ellipse">
              <a:avLst/>
            </a:prstGeom>
            <a:solidFill>
              <a:srgbClr val="343A43"/>
            </a:solidFill>
            <a:ln w="31750">
              <a:solidFill>
                <a:srgbClr val="A9B0B8"/>
              </a:solidFill>
              <a:prstDash val="dash"/>
            </a:ln>
          </p:spPr>
          <p:txBody>
            <a:bodyPr rtlCol="0" anchor="ctr"/>
            <a:lstStyle/>
            <a:p>
              <a:pPr algn="ctr"/>
              <a:endParaRPr/>
            </a:p>
          </p:txBody>
        </p:sp>
        <p:sp>
          <p:nvSpPr>
            <p:cNvPr id="7" name="script page"/>
            <p:cNvSpPr/>
            <p:nvPr/>
          </p:nvSpPr>
          <p:spPr>
            <a:xfrm>
              <a:off x="1554480" y="2103120"/>
              <a:ext cx="548640" cy="731520"/>
            </a:xfrm>
            <a:prstGeom prst="roundRect">
              <a:avLst>
                <a:gd name="adj" fmla="val 8333"/>
              </a:avLst>
            </a:prstGeom>
            <a:solidFill>
              <a:srgbClr val="F2F2F2"/>
            </a:solidFill>
            <a:ln>
              <a:noFill/>
            </a:ln>
          </p:spPr>
          <p:txBody>
            <a:bodyPr rtlCol="0" anchor="ctr"/>
            <a:lstStyle/>
            <a:p>
              <a:pPr algn="ctr"/>
              <a:endParaRPr/>
            </a:p>
          </p:txBody>
        </p:sp>
        <p:sp>
          <p:nvSpPr>
            <p:cNvPr id="8" name="script line"/>
            <p:cNvSpPr/>
            <p:nvPr/>
          </p:nvSpPr>
          <p:spPr>
            <a:xfrm>
              <a:off x="1645920" y="2212848"/>
              <a:ext cx="365760" cy="64008"/>
            </a:xfrm>
            <a:prstGeom prst="rect">
              <a:avLst/>
            </a:prstGeom>
            <a:solidFill>
              <a:srgbClr val="A9B0B8"/>
            </a:solidFill>
            <a:ln>
              <a:noFill/>
            </a:ln>
          </p:spPr>
          <p:txBody>
            <a:bodyPr rtlCol="0" anchor="ctr"/>
            <a:lstStyle/>
            <a:p>
              <a:pPr algn="ctr"/>
              <a:endParaRPr/>
            </a:p>
          </p:txBody>
        </p:sp>
        <p:sp>
          <p:nvSpPr>
            <p:cNvPr id="9" name="script line"/>
            <p:cNvSpPr/>
            <p:nvPr/>
          </p:nvSpPr>
          <p:spPr>
            <a:xfrm>
              <a:off x="1645920" y="2368296"/>
              <a:ext cx="365760" cy="64008"/>
            </a:xfrm>
            <a:prstGeom prst="rect">
              <a:avLst/>
            </a:prstGeom>
            <a:solidFill>
              <a:srgbClr val="A9B0B8"/>
            </a:solidFill>
            <a:ln>
              <a:noFill/>
            </a:ln>
          </p:spPr>
          <p:txBody>
            <a:bodyPr rtlCol="0" anchor="ctr"/>
            <a:lstStyle/>
            <a:p>
              <a:pPr algn="ctr"/>
              <a:endParaRPr/>
            </a:p>
          </p:txBody>
        </p:sp>
        <p:sp>
          <p:nvSpPr>
            <p:cNvPr id="10" name="script line"/>
            <p:cNvSpPr/>
            <p:nvPr/>
          </p:nvSpPr>
          <p:spPr>
            <a:xfrm>
              <a:off x="1645920" y="2523744"/>
              <a:ext cx="365760" cy="64008"/>
            </a:xfrm>
            <a:prstGeom prst="rect">
              <a:avLst/>
            </a:prstGeom>
            <a:solidFill>
              <a:srgbClr val="A9B0B8"/>
            </a:solidFill>
            <a:ln>
              <a:noFill/>
            </a:ln>
          </p:spPr>
          <p:txBody>
            <a:bodyPr rtlCol="0" anchor="ctr"/>
            <a:lstStyle/>
            <a:p>
              <a:pPr algn="ctr"/>
              <a:endParaRPr/>
            </a:p>
          </p:txBody>
        </p:sp>
        <p:sp>
          <p:nvSpPr>
            <p:cNvPr id="11" name="script line"/>
            <p:cNvSpPr/>
            <p:nvPr/>
          </p:nvSpPr>
          <p:spPr>
            <a:xfrm>
              <a:off x="1645920" y="2679191"/>
              <a:ext cx="219456" cy="64008"/>
            </a:xfrm>
            <a:prstGeom prst="rect">
              <a:avLst/>
            </a:prstGeom>
            <a:solidFill>
              <a:srgbClr val="A9B0B8"/>
            </a:solidFill>
            <a:ln>
              <a:noFill/>
            </a:ln>
          </p:spPr>
          <p:txBody>
            <a:bodyPr rtlCol="0" anchor="ctr"/>
            <a:lstStyle/>
            <a:p>
              <a:pPr algn="ctr"/>
              <a:endParaRPr/>
            </a:p>
          </p:txBody>
        </p:sp>
        <p:sp>
          <p:nvSpPr>
            <p:cNvPr id="12" name="step label"/>
            <p:cNvSpPr txBox="1"/>
            <p:nvPr/>
          </p:nvSpPr>
          <p:spPr>
            <a:xfrm>
              <a:off x="685800" y="3383280"/>
              <a:ext cx="2286000" cy="1097280"/>
            </a:xfrm>
            <a:prstGeom prst="rect">
              <a:avLst/>
            </a:prstGeom>
            <a:noFill/>
          </p:spPr>
          <p:txBody>
            <a:bodyPr wrap="square" lIns="18288" tIns="9144" rIns="18288" bIns="9144" anchor="ctr">
              <a:noAutofit/>
            </a:bodyPr>
            <a:lstStyle/>
            <a:p>
              <a:pPr algn="ctr"/>
              <a:r>
                <a:rPr lang="en-GB" sz="2200" b="1" i="0">
                  <a:solidFill>
                    <a:srgbClr val="F2F2F2"/>
                  </a:solidFill>
                  <a:latin typeface="Arial"/>
                </a:rPr>
                <a:t>Guide script: planned</a:t>
              </a:r>
            </a:p>
          </p:txBody>
        </p:sp>
        <p:cxnSp>
          <p:nvCxnSpPr>
            <p:cNvPr id="13" name="planned link"/>
            <p:cNvCxnSpPr/>
            <p:nvPr/>
          </p:nvCxnSpPr>
          <p:spPr>
            <a:xfrm>
              <a:off x="3145536" y="2468880"/>
              <a:ext cx="210312" cy="0"/>
            </a:xfrm>
            <a:prstGeom prst="line">
              <a:avLst/>
            </a:prstGeom>
            <a:ln w="38100">
              <a:solidFill>
                <a:srgbClr val="A9B0B8"/>
              </a:solidFill>
              <a:prstDash val="sysDash"/>
              <a:tailEnd type="triangle" w="med" len="med"/>
            </a:ln>
          </p:spPr>
        </p:cxnSp>
        <p:sp>
          <p:nvSpPr>
            <p:cNvPr id="14" name="planned step"/>
            <p:cNvSpPr/>
            <p:nvPr/>
          </p:nvSpPr>
          <p:spPr>
            <a:xfrm>
              <a:off x="3392424" y="1554480"/>
              <a:ext cx="2560320" cy="3108960"/>
            </a:xfrm>
            <a:prstGeom prst="roundRect">
              <a:avLst>
                <a:gd name="adj" fmla="val 3571"/>
              </a:avLst>
            </a:prstGeom>
            <a:solidFill>
              <a:srgbClr val="2B2F36"/>
            </a:solidFill>
            <a:ln w="31750">
              <a:solidFill>
                <a:srgbClr val="A9B0B8"/>
              </a:solidFill>
              <a:prstDash val="dash"/>
            </a:ln>
          </p:spPr>
          <p:txBody>
            <a:bodyPr rtlCol="0" anchor="ctr"/>
            <a:lstStyle/>
            <a:p>
              <a:pPr algn="ctr"/>
              <a:endParaRPr/>
            </a:p>
          </p:txBody>
        </p:sp>
        <p:sp>
          <p:nvSpPr>
            <p:cNvPr id="15" name="planned disc"/>
            <p:cNvSpPr/>
            <p:nvPr/>
          </p:nvSpPr>
          <p:spPr>
            <a:xfrm>
              <a:off x="4078223" y="1874519"/>
              <a:ext cx="1188720" cy="1188720"/>
            </a:xfrm>
            <a:prstGeom prst="ellipse">
              <a:avLst/>
            </a:prstGeom>
            <a:solidFill>
              <a:srgbClr val="343A43"/>
            </a:solidFill>
            <a:ln w="31750">
              <a:solidFill>
                <a:srgbClr val="A9B0B8"/>
              </a:solidFill>
              <a:prstDash val="dash"/>
            </a:ln>
          </p:spPr>
          <p:txBody>
            <a:bodyPr rtlCol="0" anchor="ctr"/>
            <a:lstStyle/>
            <a:p>
              <a:pPr algn="ctr"/>
              <a:endParaRPr/>
            </a:p>
          </p:txBody>
        </p:sp>
        <p:sp>
          <p:nvSpPr>
            <p:cNvPr id="16" name="art frame"/>
            <p:cNvSpPr/>
            <p:nvPr/>
          </p:nvSpPr>
          <p:spPr>
            <a:xfrm>
              <a:off x="4288536" y="2176272"/>
              <a:ext cx="768096" cy="585216"/>
            </a:xfrm>
            <a:prstGeom prst="roundRect">
              <a:avLst>
                <a:gd name="adj" fmla="val 7812"/>
              </a:avLst>
            </a:prstGeom>
            <a:solidFill>
              <a:srgbClr val="F2F2F2"/>
            </a:solidFill>
            <a:ln>
              <a:noFill/>
            </a:ln>
          </p:spPr>
          <p:txBody>
            <a:bodyPr rtlCol="0" anchor="ctr"/>
            <a:lstStyle/>
            <a:p>
              <a:pPr algn="ctr"/>
              <a:endParaRPr/>
            </a:p>
          </p:txBody>
        </p:sp>
        <p:sp>
          <p:nvSpPr>
            <p:cNvPr id="17" name="art hills"/>
            <p:cNvSpPr/>
            <p:nvPr/>
          </p:nvSpPr>
          <p:spPr>
            <a:xfrm>
              <a:off x="4361688" y="2414016"/>
              <a:ext cx="621791" cy="274320"/>
            </a:xfrm>
            <a:custGeom>
              <a:avLst/>
              <a:gdLst/>
              <a:ahLst/>
              <a:cxnLst/>
              <a:rect l="l" t="t" r="r" b="b"/>
              <a:pathLst>
                <a:path w="621791" h="274320">
                  <a:moveTo>
                    <a:pt x="0" y="274320"/>
                  </a:moveTo>
                  <a:lnTo>
                    <a:pt x="237743" y="0"/>
                  </a:lnTo>
                  <a:lnTo>
                    <a:pt x="384048" y="164592"/>
                  </a:lnTo>
                  <a:lnTo>
                    <a:pt x="493776" y="36576"/>
                  </a:lnTo>
                  <a:lnTo>
                    <a:pt x="621791" y="274320"/>
                  </a:lnTo>
                  <a:close/>
                </a:path>
              </a:pathLst>
            </a:custGeom>
            <a:solidFill>
              <a:srgbClr val="A9B0B8"/>
            </a:solidFill>
            <a:ln>
              <a:noFill/>
            </a:ln>
          </p:spPr>
          <p:txBody>
            <a:bodyPr rtlCol="0" anchor="ctr"/>
            <a:lstStyle/>
            <a:p>
              <a:pPr algn="ctr"/>
              <a:endParaRPr/>
            </a:p>
          </p:txBody>
        </p:sp>
        <p:sp>
          <p:nvSpPr>
            <p:cNvPr id="18" name="art sun"/>
            <p:cNvSpPr/>
            <p:nvPr/>
          </p:nvSpPr>
          <p:spPr>
            <a:xfrm>
              <a:off x="4782312" y="2240280"/>
              <a:ext cx="146304" cy="146304"/>
            </a:xfrm>
            <a:prstGeom prst="ellipse">
              <a:avLst/>
            </a:prstGeom>
            <a:solidFill>
              <a:srgbClr val="A9B0B8"/>
            </a:solidFill>
            <a:ln>
              <a:noFill/>
            </a:ln>
          </p:spPr>
          <p:txBody>
            <a:bodyPr rtlCol="0" anchor="ctr"/>
            <a:lstStyle/>
            <a:p>
              <a:pPr algn="ctr"/>
              <a:endParaRPr/>
            </a:p>
          </p:txBody>
        </p:sp>
        <p:sp>
          <p:nvSpPr>
            <p:cNvPr id="19" name="step label"/>
            <p:cNvSpPr txBox="1"/>
            <p:nvPr/>
          </p:nvSpPr>
          <p:spPr>
            <a:xfrm>
              <a:off x="3529584" y="3383280"/>
              <a:ext cx="2286000" cy="1097280"/>
            </a:xfrm>
            <a:prstGeom prst="rect">
              <a:avLst/>
            </a:prstGeom>
            <a:noFill/>
          </p:spPr>
          <p:txBody>
            <a:bodyPr wrap="square" lIns="18288" tIns="9144" rIns="18288" bIns="9144" anchor="ctr">
              <a:noAutofit/>
            </a:bodyPr>
            <a:lstStyle/>
            <a:p>
              <a:pPr algn="ctr"/>
              <a:r>
                <a:rPr lang="en-GB" sz="2200" b="1" i="0">
                  <a:solidFill>
                    <a:srgbClr val="F2F2F2"/>
                  </a:solidFill>
                  <a:latin typeface="Arial"/>
                </a:rPr>
                <a:t>Character art: planned</a:t>
              </a:r>
            </a:p>
          </p:txBody>
        </p:sp>
        <p:cxnSp>
          <p:nvCxnSpPr>
            <p:cNvPr id="20" name="planned link"/>
            <p:cNvCxnSpPr/>
            <p:nvPr/>
          </p:nvCxnSpPr>
          <p:spPr>
            <a:xfrm>
              <a:off x="5989320" y="2468880"/>
              <a:ext cx="210311" cy="0"/>
            </a:xfrm>
            <a:prstGeom prst="line">
              <a:avLst/>
            </a:prstGeom>
            <a:ln w="38100">
              <a:solidFill>
                <a:srgbClr val="A9B0B8"/>
              </a:solidFill>
              <a:prstDash val="sysDash"/>
              <a:tailEnd type="triangle" w="med" len="med"/>
            </a:ln>
          </p:spPr>
        </p:cxnSp>
        <p:sp>
          <p:nvSpPr>
            <p:cNvPr id="21" name="planned step"/>
            <p:cNvSpPr/>
            <p:nvPr/>
          </p:nvSpPr>
          <p:spPr>
            <a:xfrm>
              <a:off x="6236207" y="1554480"/>
              <a:ext cx="2560320" cy="3108960"/>
            </a:xfrm>
            <a:prstGeom prst="roundRect">
              <a:avLst>
                <a:gd name="adj" fmla="val 3571"/>
              </a:avLst>
            </a:prstGeom>
            <a:solidFill>
              <a:srgbClr val="2B2F36"/>
            </a:solidFill>
            <a:ln w="31750">
              <a:solidFill>
                <a:srgbClr val="A9B0B8"/>
              </a:solidFill>
              <a:prstDash val="dash"/>
            </a:ln>
          </p:spPr>
          <p:txBody>
            <a:bodyPr rtlCol="0" anchor="ctr"/>
            <a:lstStyle/>
            <a:p>
              <a:pPr algn="ctr"/>
              <a:endParaRPr/>
            </a:p>
          </p:txBody>
        </p:sp>
        <p:sp>
          <p:nvSpPr>
            <p:cNvPr id="22" name="planned disc"/>
            <p:cNvSpPr/>
            <p:nvPr/>
          </p:nvSpPr>
          <p:spPr>
            <a:xfrm>
              <a:off x="6922007" y="1874519"/>
              <a:ext cx="1188720" cy="1188720"/>
            </a:xfrm>
            <a:prstGeom prst="ellipse">
              <a:avLst/>
            </a:prstGeom>
            <a:solidFill>
              <a:srgbClr val="343A43"/>
            </a:solidFill>
            <a:ln w="31750">
              <a:solidFill>
                <a:srgbClr val="A9B0B8"/>
              </a:solidFill>
              <a:prstDash val="dash"/>
            </a:ln>
          </p:spPr>
          <p:txBody>
            <a:bodyPr rtlCol="0" anchor="ctr"/>
            <a:lstStyle/>
            <a:p>
              <a:pPr algn="ctr"/>
              <a:endParaRPr/>
            </a:p>
          </p:txBody>
        </p:sp>
        <p:sp>
          <p:nvSpPr>
            <p:cNvPr id="23" name="lesson screen"/>
            <p:cNvSpPr/>
            <p:nvPr/>
          </p:nvSpPr>
          <p:spPr>
            <a:xfrm>
              <a:off x="7150607" y="2148840"/>
              <a:ext cx="731520" cy="640080"/>
            </a:xfrm>
            <a:prstGeom prst="roundRect">
              <a:avLst>
                <a:gd name="adj" fmla="val 8571"/>
              </a:avLst>
            </a:prstGeom>
            <a:solidFill>
              <a:srgbClr val="F2F2F2"/>
            </a:solidFill>
            <a:ln>
              <a:noFill/>
            </a:ln>
          </p:spPr>
          <p:txBody>
            <a:bodyPr rtlCol="0" anchor="ctr"/>
            <a:lstStyle/>
            <a:p>
              <a:pPr algn="ctr"/>
              <a:endParaRPr/>
            </a:p>
          </p:txBody>
        </p:sp>
        <p:sp>
          <p:nvSpPr>
            <p:cNvPr id="24" name="play"/>
            <p:cNvSpPr/>
            <p:nvPr/>
          </p:nvSpPr>
          <p:spPr>
            <a:xfrm>
              <a:off x="7425842" y="2313432"/>
              <a:ext cx="264261" cy="310896"/>
            </a:xfrm>
            <a:custGeom>
              <a:avLst/>
              <a:gdLst/>
              <a:ahLst/>
              <a:cxnLst/>
              <a:rect l="l" t="t" r="r" b="b"/>
              <a:pathLst>
                <a:path w="264261" h="310896">
                  <a:moveTo>
                    <a:pt x="0" y="0"/>
                  </a:moveTo>
                  <a:lnTo>
                    <a:pt x="0" y="310896"/>
                  </a:lnTo>
                  <a:lnTo>
                    <a:pt x="264261" y="155448"/>
                  </a:lnTo>
                  <a:close/>
                </a:path>
              </a:pathLst>
            </a:custGeom>
            <a:solidFill>
              <a:srgbClr val="A9B0B8"/>
            </a:solidFill>
            <a:ln>
              <a:noFill/>
            </a:ln>
          </p:spPr>
          <p:txBody>
            <a:bodyPr rtlCol="0" anchor="ctr"/>
            <a:lstStyle/>
            <a:p>
              <a:pPr algn="ctr"/>
              <a:endParaRPr/>
            </a:p>
          </p:txBody>
        </p:sp>
        <p:sp>
          <p:nvSpPr>
            <p:cNvPr id="25" name="step label"/>
            <p:cNvSpPr txBox="1"/>
            <p:nvPr/>
          </p:nvSpPr>
          <p:spPr>
            <a:xfrm>
              <a:off x="6373368" y="3383280"/>
              <a:ext cx="2286000" cy="1097280"/>
            </a:xfrm>
            <a:prstGeom prst="rect">
              <a:avLst/>
            </a:prstGeom>
            <a:noFill/>
          </p:spPr>
          <p:txBody>
            <a:bodyPr wrap="square" lIns="18288" tIns="9144" rIns="18288" bIns="9144" anchor="ctr">
              <a:noAutofit/>
            </a:bodyPr>
            <a:lstStyle/>
            <a:p>
              <a:pPr algn="ctr"/>
              <a:r>
                <a:rPr lang="en-GB" sz="2200" b="1" i="0">
                  <a:solidFill>
                    <a:srgbClr val="F2F2F2"/>
                  </a:solidFill>
                  <a:latin typeface="Arial"/>
                </a:rPr>
                <a:t>Lessons: planned</a:t>
              </a:r>
            </a:p>
          </p:txBody>
        </p:sp>
        <p:cxnSp>
          <p:nvCxnSpPr>
            <p:cNvPr id="26" name="planned link"/>
            <p:cNvCxnSpPr/>
            <p:nvPr/>
          </p:nvCxnSpPr>
          <p:spPr>
            <a:xfrm>
              <a:off x="8833103" y="2468880"/>
              <a:ext cx="210313" cy="0"/>
            </a:xfrm>
            <a:prstGeom prst="line">
              <a:avLst/>
            </a:prstGeom>
            <a:ln w="38100">
              <a:solidFill>
                <a:srgbClr val="A9B0B8"/>
              </a:solidFill>
              <a:prstDash val="sysDash"/>
              <a:tailEnd type="triangle" w="med" len="med"/>
            </a:ln>
          </p:spPr>
        </p:cxnSp>
        <p:sp>
          <p:nvSpPr>
            <p:cNvPr id="27" name="planned step"/>
            <p:cNvSpPr/>
            <p:nvPr/>
          </p:nvSpPr>
          <p:spPr>
            <a:xfrm>
              <a:off x="9079992" y="1554480"/>
              <a:ext cx="2560320" cy="3108960"/>
            </a:xfrm>
            <a:prstGeom prst="roundRect">
              <a:avLst>
                <a:gd name="adj" fmla="val 3571"/>
              </a:avLst>
            </a:prstGeom>
            <a:solidFill>
              <a:srgbClr val="2B2F36"/>
            </a:solidFill>
            <a:ln w="31750">
              <a:solidFill>
                <a:srgbClr val="A9B0B8"/>
              </a:solidFill>
              <a:prstDash val="dash"/>
            </a:ln>
          </p:spPr>
          <p:txBody>
            <a:bodyPr rtlCol="0" anchor="ctr"/>
            <a:lstStyle/>
            <a:p>
              <a:pPr algn="ctr"/>
              <a:endParaRPr/>
            </a:p>
          </p:txBody>
        </p:sp>
        <p:sp>
          <p:nvSpPr>
            <p:cNvPr id="28" name="planned disc"/>
            <p:cNvSpPr/>
            <p:nvPr/>
          </p:nvSpPr>
          <p:spPr>
            <a:xfrm>
              <a:off x="9765792" y="1874519"/>
              <a:ext cx="1188720" cy="1188720"/>
            </a:xfrm>
            <a:prstGeom prst="ellipse">
              <a:avLst/>
            </a:prstGeom>
            <a:solidFill>
              <a:srgbClr val="343A43"/>
            </a:solidFill>
            <a:ln w="31750">
              <a:solidFill>
                <a:srgbClr val="A9B0B8"/>
              </a:solidFill>
              <a:prstDash val="dash"/>
            </a:ln>
          </p:spPr>
          <p:txBody>
            <a:bodyPr rtlCol="0" anchor="ctr"/>
            <a:lstStyle/>
            <a:p>
              <a:pPr algn="ctr"/>
              <a:endParaRPr/>
            </a:p>
          </p:txBody>
        </p:sp>
        <p:sp>
          <p:nvSpPr>
            <p:cNvPr id="29" name="menu tab"/>
            <p:cNvSpPr/>
            <p:nvPr/>
          </p:nvSpPr>
          <p:spPr>
            <a:xfrm>
              <a:off x="9976104" y="2148840"/>
              <a:ext cx="457200" cy="237744"/>
            </a:xfrm>
            <a:prstGeom prst="round2SameRect">
              <a:avLst>
                <a:gd name="adj1" fmla="val 22000"/>
                <a:gd name="adj2" fmla="val 0"/>
              </a:avLst>
            </a:prstGeom>
            <a:solidFill>
              <a:srgbClr val="F2F2F2"/>
            </a:solidFill>
            <a:ln>
              <a:noFill/>
            </a:ln>
          </p:spPr>
          <p:txBody>
            <a:bodyPr rtlCol="0" anchor="ctr"/>
            <a:lstStyle/>
            <a:p>
              <a:pPr algn="ctr"/>
              <a:endParaRPr/>
            </a:p>
          </p:txBody>
        </p:sp>
        <p:sp>
          <p:nvSpPr>
            <p:cNvPr id="30" name="menu tab"/>
            <p:cNvSpPr/>
            <p:nvPr/>
          </p:nvSpPr>
          <p:spPr>
            <a:xfrm>
              <a:off x="10469880" y="2148840"/>
              <a:ext cx="274320" cy="237744"/>
            </a:xfrm>
            <a:prstGeom prst="round2SameRect">
              <a:avLst>
                <a:gd name="adj1" fmla="val 22000"/>
                <a:gd name="adj2" fmla="val 0"/>
              </a:avLst>
            </a:prstGeom>
            <a:solidFill>
              <a:srgbClr val="A9B0B8"/>
            </a:solidFill>
            <a:ln>
              <a:noFill/>
            </a:ln>
          </p:spPr>
          <p:txBody>
            <a:bodyPr rtlCol="0" anchor="ctr"/>
            <a:lstStyle/>
            <a:p>
              <a:pPr algn="ctr"/>
              <a:endParaRPr/>
            </a:p>
          </p:txBody>
        </p:sp>
        <p:sp>
          <p:nvSpPr>
            <p:cNvPr id="31" name="menu body"/>
            <p:cNvSpPr/>
            <p:nvPr/>
          </p:nvSpPr>
          <p:spPr>
            <a:xfrm>
              <a:off x="9976104" y="2386584"/>
              <a:ext cx="768096" cy="420624"/>
            </a:xfrm>
            <a:prstGeom prst="roundRect">
              <a:avLst>
                <a:gd name="adj" fmla="val 8695"/>
              </a:avLst>
            </a:prstGeom>
            <a:solidFill>
              <a:srgbClr val="F2F2F2"/>
            </a:solidFill>
            <a:ln>
              <a:noFill/>
            </a:ln>
          </p:spPr>
          <p:txBody>
            <a:bodyPr rtlCol="0" anchor="ctr"/>
            <a:lstStyle/>
            <a:p>
              <a:pPr algn="ctr"/>
              <a:endParaRPr/>
            </a:p>
          </p:txBody>
        </p:sp>
        <p:sp>
          <p:nvSpPr>
            <p:cNvPr id="32" name="step label"/>
            <p:cNvSpPr txBox="1"/>
            <p:nvPr/>
          </p:nvSpPr>
          <p:spPr>
            <a:xfrm>
              <a:off x="9217152" y="3383280"/>
              <a:ext cx="2286000" cy="1097280"/>
            </a:xfrm>
            <a:prstGeom prst="rect">
              <a:avLst/>
            </a:prstGeom>
            <a:noFill/>
          </p:spPr>
          <p:txBody>
            <a:bodyPr wrap="square" lIns="18288" tIns="9144" rIns="18288" bIns="9144" anchor="ctr">
              <a:noAutofit/>
            </a:bodyPr>
            <a:lstStyle/>
            <a:p>
              <a:pPr algn="ctr"/>
              <a:r>
                <a:rPr lang="en-GB" sz="2200" b="1" i="0">
                  <a:solidFill>
                    <a:srgbClr val="F2F2F2"/>
                  </a:solidFill>
                  <a:latin typeface="Arial"/>
                </a:rPr>
                <a:t>Build menu tab: planned</a:t>
              </a:r>
            </a:p>
          </p:txBody>
        </p:sp>
      </p:grpSp>
      <p:sp>
        <p:nvSpPr>
          <p:cNvPr id="33" name="ICHIP"/>
          <p:cNvSpPr/>
          <p:nvPr/>
        </p:nvSpPr>
        <p:spPr>
          <a:xfrm>
            <a:off x="548640" y="5029200"/>
            <a:ext cx="1862339" cy="310896"/>
          </a:xfrm>
          <a:prstGeom prst="roundRect">
            <a:avLst>
              <a:gd name="adj" fmla="val 35294"/>
            </a:avLst>
          </a:prstGeom>
          <a:solidFill>
            <a:srgbClr val="4DA3FF"/>
          </a:solidFill>
          <a:ln>
            <a:noFill/>
          </a:ln>
        </p:spPr>
        <p:txBody>
          <a:bodyPr wrap="square" lIns="54864" tIns="0" rIns="54864" bIns="0" rtlCol="0" anchor="ctr">
            <a:noAutofit/>
          </a:bodyPr>
          <a:lstStyle/>
          <a:p>
            <a:pPr algn="ctr"/>
            <a:r>
              <a:rPr lang="en-GB" sz="1400" b="1" i="0">
                <a:solidFill>
                  <a:srgbClr val="101418"/>
                </a:solidFill>
                <a:latin typeface="Arial"/>
              </a:rPr>
              <a:t>Plans can change.</a:t>
            </a:r>
          </a:p>
        </p:txBody>
      </p:sp>
      <p:sp>
        <p:nvSpPr>
          <p:cNvPr id="34"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5"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6"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 guide, lessons and menu are planned. They are not built yet.</a:t>
            </a:r>
          </a:p>
        </p:txBody>
      </p:sp>
      <p:sp>
        <p:nvSpPr>
          <p:cNvPr id="37"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21</a:t>
            </a:r>
          </a:p>
        </p:txBody>
      </p:sp>
    </p:spTree>
    <p:extLst>
      <p:ext uri="{BB962C8B-B14F-4D97-AF65-F5344CB8AC3E}">
        <p14:creationId xmlns:p14="http://schemas.microsoft.com/office/powerpoint/2010/main" val="12783660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par>
                                <p:cTn id="11" presetID="10" presetClass="entr" presetSubtype="0" fill="hold" nodeType="withEffect">
                                  <p:stCondLst>
                                    <p:cond delay="60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500"/>
                                        <p:tgtEl>
                                          <p:spTgt spid="34"/>
                                        </p:tgtEl>
                                      </p:cBhvr>
                                    </p:animEffect>
                                  </p:childTnLst>
                                </p:cTn>
                              </p:par>
                              <p:par>
                                <p:cTn id="14" presetID="10" presetClass="entr" presetSubtype="0" fill="hold" nodeType="withEffect">
                                  <p:stCondLst>
                                    <p:cond delay="90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par>
                                <p:cTn id="17" presetID="10" presetClass="entr" presetSubtype="0" fill="hold" nodeType="withEffect">
                                  <p:stCondLst>
                                    <p:cond delay="120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Still undecided</a:t>
            </a:r>
          </a:p>
        </p:txBody>
      </p:sp>
      <p:sp>
        <p:nvSpPr>
          <p:cNvPr id="3" name="CHIP"/>
          <p:cNvSpPr/>
          <p:nvPr/>
        </p:nvSpPr>
        <p:spPr>
          <a:xfrm>
            <a:off x="10088575" y="530352"/>
            <a:ext cx="1554480" cy="365760"/>
          </a:xfrm>
          <a:prstGeom prst="roundRect">
            <a:avLst>
              <a:gd name="adj" fmla="val 30000"/>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grpSp>
        <p:nvGrpSpPr>
          <p:cNvPr id="4" name="Eight open questions" descr="A grid of eight cards, each with an Undecided tag and an open question: her name, her look, library layout, origin story, which lessons and when, milestone voice lines, how the surprise works, and build menu layout."/>
          <p:cNvGrpSpPr/>
          <p:nvPr/>
        </p:nvGrpSpPr>
        <p:grpSpPr>
          <a:xfrm>
            <a:off x="548640" y="1463040"/>
            <a:ext cx="11091672" cy="3931920"/>
            <a:chOff x="548640" y="1463040"/>
            <a:chExt cx="11091672" cy="3931920"/>
          </a:xfrm>
        </p:grpSpPr>
        <p:sp>
          <p:nvSpPr>
            <p:cNvPr id="5" name="question card"/>
            <p:cNvSpPr/>
            <p:nvPr/>
          </p:nvSpPr>
          <p:spPr>
            <a:xfrm>
              <a:off x="548640" y="1463040"/>
              <a:ext cx="2560320" cy="1828800"/>
            </a:xfrm>
            <a:prstGeom prst="roundRect">
              <a:avLst>
                <a:gd name="adj" fmla="val 5000"/>
              </a:avLst>
            </a:prstGeom>
            <a:solidFill>
              <a:srgbClr val="2B2F36"/>
            </a:solidFill>
            <a:ln w="25400">
              <a:solidFill>
                <a:srgbClr val="A9B0B8"/>
              </a:solidFill>
            </a:ln>
          </p:spPr>
          <p:txBody>
            <a:bodyPr rtlCol="0" anchor="ctr"/>
            <a:lstStyle/>
            <a:p>
              <a:pPr algn="ctr"/>
              <a:endParaRPr/>
            </a:p>
          </p:txBody>
        </p:sp>
        <p:sp>
          <p:nvSpPr>
            <p:cNvPr id="6" name="CHIP CARD"/>
            <p:cNvSpPr/>
            <p:nvPr/>
          </p:nvSpPr>
          <p:spPr>
            <a:xfrm>
              <a:off x="731520" y="1645920"/>
              <a:ext cx="141732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7" name="question"/>
            <p:cNvSpPr txBox="1"/>
            <p:nvPr/>
          </p:nvSpPr>
          <p:spPr>
            <a:xfrm>
              <a:off x="731520" y="2103120"/>
              <a:ext cx="2194560" cy="1051560"/>
            </a:xfrm>
            <a:prstGeom prst="rect">
              <a:avLst/>
            </a:prstGeom>
            <a:noFill/>
          </p:spPr>
          <p:txBody>
            <a:bodyPr wrap="square" lIns="18288" tIns="9144" rIns="18288" bIns="9144" anchor="ctr">
              <a:noAutofit/>
            </a:bodyPr>
            <a:lstStyle/>
            <a:p>
              <a:pPr algn="l"/>
              <a:r>
                <a:rPr lang="en-GB" sz="2000" b="1" i="0">
                  <a:solidFill>
                    <a:srgbClr val="F2F2F2"/>
                  </a:solidFill>
                  <a:latin typeface="Arial"/>
                </a:rPr>
                <a:t>Her name (OQ15)</a:t>
              </a:r>
            </a:p>
          </p:txBody>
        </p:sp>
        <p:sp>
          <p:nvSpPr>
            <p:cNvPr id="8" name="question card"/>
            <p:cNvSpPr/>
            <p:nvPr/>
          </p:nvSpPr>
          <p:spPr>
            <a:xfrm>
              <a:off x="3392424" y="1463040"/>
              <a:ext cx="2560320" cy="1828800"/>
            </a:xfrm>
            <a:prstGeom prst="roundRect">
              <a:avLst>
                <a:gd name="adj" fmla="val 5000"/>
              </a:avLst>
            </a:prstGeom>
            <a:solidFill>
              <a:srgbClr val="2B2F36"/>
            </a:solidFill>
            <a:ln w="25400">
              <a:solidFill>
                <a:srgbClr val="A9B0B8"/>
              </a:solidFill>
            </a:ln>
          </p:spPr>
          <p:txBody>
            <a:bodyPr rtlCol="0" anchor="ctr"/>
            <a:lstStyle/>
            <a:p>
              <a:pPr algn="ctr"/>
              <a:endParaRPr/>
            </a:p>
          </p:txBody>
        </p:sp>
        <p:sp>
          <p:nvSpPr>
            <p:cNvPr id="9" name="CHIP CARD"/>
            <p:cNvSpPr/>
            <p:nvPr/>
          </p:nvSpPr>
          <p:spPr>
            <a:xfrm>
              <a:off x="3575304" y="1645920"/>
              <a:ext cx="141732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10" name="question"/>
            <p:cNvSpPr txBox="1"/>
            <p:nvPr/>
          </p:nvSpPr>
          <p:spPr>
            <a:xfrm>
              <a:off x="3575304" y="2103120"/>
              <a:ext cx="2194560" cy="1051560"/>
            </a:xfrm>
            <a:prstGeom prst="rect">
              <a:avLst/>
            </a:prstGeom>
            <a:noFill/>
          </p:spPr>
          <p:txBody>
            <a:bodyPr wrap="square" lIns="18288" tIns="9144" rIns="18288" bIns="9144" anchor="ctr">
              <a:noAutofit/>
            </a:bodyPr>
            <a:lstStyle/>
            <a:p>
              <a:pPr algn="l"/>
              <a:r>
                <a:rPr lang="en-GB" sz="2000" b="1" i="0">
                  <a:solidFill>
                    <a:srgbClr val="F2F2F2"/>
                  </a:solidFill>
                  <a:latin typeface="Arial"/>
                </a:rPr>
                <a:t>Her look (OQ15)</a:t>
              </a:r>
            </a:p>
          </p:txBody>
        </p:sp>
        <p:sp>
          <p:nvSpPr>
            <p:cNvPr id="11" name="question card"/>
            <p:cNvSpPr/>
            <p:nvPr/>
          </p:nvSpPr>
          <p:spPr>
            <a:xfrm>
              <a:off x="6236207" y="1463040"/>
              <a:ext cx="2560320" cy="1828800"/>
            </a:xfrm>
            <a:prstGeom prst="roundRect">
              <a:avLst>
                <a:gd name="adj" fmla="val 5000"/>
              </a:avLst>
            </a:prstGeom>
            <a:solidFill>
              <a:srgbClr val="2B2F36"/>
            </a:solidFill>
            <a:ln w="25400">
              <a:solidFill>
                <a:srgbClr val="A9B0B8"/>
              </a:solidFill>
            </a:ln>
          </p:spPr>
          <p:txBody>
            <a:bodyPr rtlCol="0" anchor="ctr"/>
            <a:lstStyle/>
            <a:p>
              <a:pPr algn="ctr"/>
              <a:endParaRPr/>
            </a:p>
          </p:txBody>
        </p:sp>
        <p:sp>
          <p:nvSpPr>
            <p:cNvPr id="12" name="CHIP CARD"/>
            <p:cNvSpPr/>
            <p:nvPr/>
          </p:nvSpPr>
          <p:spPr>
            <a:xfrm>
              <a:off x="6419088" y="1645920"/>
              <a:ext cx="141732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13" name="question"/>
            <p:cNvSpPr txBox="1"/>
            <p:nvPr/>
          </p:nvSpPr>
          <p:spPr>
            <a:xfrm>
              <a:off x="6419088" y="2103120"/>
              <a:ext cx="2194560" cy="1051560"/>
            </a:xfrm>
            <a:prstGeom prst="rect">
              <a:avLst/>
            </a:prstGeom>
            <a:noFill/>
          </p:spPr>
          <p:txBody>
            <a:bodyPr wrap="square" lIns="18288" tIns="9144" rIns="18288" bIns="9144" anchor="ctr">
              <a:noAutofit/>
            </a:bodyPr>
            <a:lstStyle/>
            <a:p>
              <a:pPr algn="l"/>
              <a:r>
                <a:rPr lang="en-GB" sz="2000" b="1" i="0">
                  <a:solidFill>
                    <a:srgbClr val="F2F2F2"/>
                  </a:solidFill>
                  <a:latin typeface="Arial"/>
                </a:rPr>
                <a:t>Library layout (OQ15)</a:t>
              </a:r>
            </a:p>
          </p:txBody>
        </p:sp>
        <p:sp>
          <p:nvSpPr>
            <p:cNvPr id="14" name="question card"/>
            <p:cNvSpPr/>
            <p:nvPr/>
          </p:nvSpPr>
          <p:spPr>
            <a:xfrm>
              <a:off x="9079992" y="1463040"/>
              <a:ext cx="2560320" cy="1828800"/>
            </a:xfrm>
            <a:prstGeom prst="roundRect">
              <a:avLst>
                <a:gd name="adj" fmla="val 5000"/>
              </a:avLst>
            </a:prstGeom>
            <a:solidFill>
              <a:srgbClr val="2B2F36"/>
            </a:solidFill>
            <a:ln w="25400">
              <a:solidFill>
                <a:srgbClr val="A9B0B8"/>
              </a:solidFill>
            </a:ln>
          </p:spPr>
          <p:txBody>
            <a:bodyPr rtlCol="0" anchor="ctr"/>
            <a:lstStyle/>
            <a:p>
              <a:pPr algn="ctr"/>
              <a:endParaRPr/>
            </a:p>
          </p:txBody>
        </p:sp>
        <p:sp>
          <p:nvSpPr>
            <p:cNvPr id="15" name="CHIP CARD"/>
            <p:cNvSpPr/>
            <p:nvPr/>
          </p:nvSpPr>
          <p:spPr>
            <a:xfrm>
              <a:off x="9262872" y="1645920"/>
              <a:ext cx="141732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16" name="question"/>
            <p:cNvSpPr txBox="1"/>
            <p:nvPr/>
          </p:nvSpPr>
          <p:spPr>
            <a:xfrm>
              <a:off x="9262872" y="2103120"/>
              <a:ext cx="2194560" cy="1051560"/>
            </a:xfrm>
            <a:prstGeom prst="rect">
              <a:avLst/>
            </a:prstGeom>
            <a:noFill/>
          </p:spPr>
          <p:txBody>
            <a:bodyPr wrap="square" lIns="18288" tIns="9144" rIns="18288" bIns="9144" anchor="ctr">
              <a:noAutofit/>
            </a:bodyPr>
            <a:lstStyle/>
            <a:p>
              <a:pPr algn="l"/>
              <a:r>
                <a:rPr lang="en-GB" sz="2000" b="1" i="0">
                  <a:solidFill>
                    <a:srgbClr val="F2F2F2"/>
                  </a:solidFill>
                  <a:latin typeface="Arial"/>
                </a:rPr>
                <a:t>Origin story (OQ16)</a:t>
              </a:r>
            </a:p>
          </p:txBody>
        </p:sp>
        <p:sp>
          <p:nvSpPr>
            <p:cNvPr id="17" name="question card"/>
            <p:cNvSpPr/>
            <p:nvPr/>
          </p:nvSpPr>
          <p:spPr>
            <a:xfrm>
              <a:off x="548640" y="3566160"/>
              <a:ext cx="2560320" cy="1828800"/>
            </a:xfrm>
            <a:prstGeom prst="roundRect">
              <a:avLst>
                <a:gd name="adj" fmla="val 5000"/>
              </a:avLst>
            </a:prstGeom>
            <a:solidFill>
              <a:srgbClr val="2B2F36"/>
            </a:solidFill>
            <a:ln w="25400">
              <a:solidFill>
                <a:srgbClr val="A9B0B8"/>
              </a:solidFill>
            </a:ln>
          </p:spPr>
          <p:txBody>
            <a:bodyPr rtlCol="0" anchor="ctr"/>
            <a:lstStyle/>
            <a:p>
              <a:pPr algn="ctr"/>
              <a:endParaRPr/>
            </a:p>
          </p:txBody>
        </p:sp>
        <p:sp>
          <p:nvSpPr>
            <p:cNvPr id="18" name="CHIP CARD"/>
            <p:cNvSpPr/>
            <p:nvPr/>
          </p:nvSpPr>
          <p:spPr>
            <a:xfrm>
              <a:off x="731520" y="3749039"/>
              <a:ext cx="141732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19" name="question"/>
            <p:cNvSpPr txBox="1"/>
            <p:nvPr/>
          </p:nvSpPr>
          <p:spPr>
            <a:xfrm>
              <a:off x="731520" y="4206240"/>
              <a:ext cx="2194560" cy="1051560"/>
            </a:xfrm>
            <a:prstGeom prst="rect">
              <a:avLst/>
            </a:prstGeom>
            <a:noFill/>
          </p:spPr>
          <p:txBody>
            <a:bodyPr wrap="square" lIns="18288" tIns="9144" rIns="18288" bIns="9144" anchor="ctr">
              <a:noAutofit/>
            </a:bodyPr>
            <a:lstStyle/>
            <a:p>
              <a:pPr algn="l"/>
              <a:r>
                <a:rPr lang="en-GB" sz="2000" b="1" i="0">
                  <a:solidFill>
                    <a:srgbClr val="F2F2F2"/>
                  </a:solidFill>
                  <a:latin typeface="Arial"/>
                </a:rPr>
                <a:t>Which lessons, and when (OQ17)</a:t>
              </a:r>
            </a:p>
          </p:txBody>
        </p:sp>
        <p:sp>
          <p:nvSpPr>
            <p:cNvPr id="20" name="question card"/>
            <p:cNvSpPr/>
            <p:nvPr/>
          </p:nvSpPr>
          <p:spPr>
            <a:xfrm>
              <a:off x="3392424" y="3566160"/>
              <a:ext cx="2560320" cy="1828800"/>
            </a:xfrm>
            <a:prstGeom prst="roundRect">
              <a:avLst>
                <a:gd name="adj" fmla="val 5000"/>
              </a:avLst>
            </a:prstGeom>
            <a:solidFill>
              <a:srgbClr val="2B2F36"/>
            </a:solidFill>
            <a:ln w="25400">
              <a:solidFill>
                <a:srgbClr val="A9B0B8"/>
              </a:solidFill>
            </a:ln>
          </p:spPr>
          <p:txBody>
            <a:bodyPr rtlCol="0" anchor="ctr"/>
            <a:lstStyle/>
            <a:p>
              <a:pPr algn="ctr"/>
              <a:endParaRPr/>
            </a:p>
          </p:txBody>
        </p:sp>
        <p:sp>
          <p:nvSpPr>
            <p:cNvPr id="21" name="CHIP CARD"/>
            <p:cNvSpPr/>
            <p:nvPr/>
          </p:nvSpPr>
          <p:spPr>
            <a:xfrm>
              <a:off x="3575304" y="3749039"/>
              <a:ext cx="141732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22" name="question"/>
            <p:cNvSpPr txBox="1"/>
            <p:nvPr/>
          </p:nvSpPr>
          <p:spPr>
            <a:xfrm>
              <a:off x="3575304" y="4206240"/>
              <a:ext cx="2194560" cy="1051560"/>
            </a:xfrm>
            <a:prstGeom prst="rect">
              <a:avLst/>
            </a:prstGeom>
            <a:noFill/>
          </p:spPr>
          <p:txBody>
            <a:bodyPr wrap="square" lIns="18288" tIns="9144" rIns="18288" bIns="9144" anchor="ctr">
              <a:noAutofit/>
            </a:bodyPr>
            <a:lstStyle/>
            <a:p>
              <a:pPr algn="l"/>
              <a:r>
                <a:rPr lang="en-GB" sz="2000" b="1" i="0">
                  <a:solidFill>
                    <a:srgbClr val="F2F2F2"/>
                  </a:solidFill>
                  <a:latin typeface="Arial"/>
                </a:rPr>
                <a:t>Milestone voice lines (OQ17)</a:t>
              </a:r>
            </a:p>
          </p:txBody>
        </p:sp>
        <p:sp>
          <p:nvSpPr>
            <p:cNvPr id="23" name="question card"/>
            <p:cNvSpPr/>
            <p:nvPr/>
          </p:nvSpPr>
          <p:spPr>
            <a:xfrm>
              <a:off x="6236207" y="3566160"/>
              <a:ext cx="2560320" cy="1828800"/>
            </a:xfrm>
            <a:prstGeom prst="roundRect">
              <a:avLst>
                <a:gd name="adj" fmla="val 5000"/>
              </a:avLst>
            </a:prstGeom>
            <a:solidFill>
              <a:srgbClr val="2B2F36"/>
            </a:solidFill>
            <a:ln w="25400">
              <a:solidFill>
                <a:srgbClr val="A9B0B8"/>
              </a:solidFill>
            </a:ln>
          </p:spPr>
          <p:txBody>
            <a:bodyPr rtlCol="0" anchor="ctr"/>
            <a:lstStyle/>
            <a:p>
              <a:pPr algn="ctr"/>
              <a:endParaRPr/>
            </a:p>
          </p:txBody>
        </p:sp>
        <p:sp>
          <p:nvSpPr>
            <p:cNvPr id="24" name="CHIP CARD"/>
            <p:cNvSpPr/>
            <p:nvPr/>
          </p:nvSpPr>
          <p:spPr>
            <a:xfrm>
              <a:off x="6419088" y="3749039"/>
              <a:ext cx="141732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25" name="question"/>
            <p:cNvSpPr txBox="1"/>
            <p:nvPr/>
          </p:nvSpPr>
          <p:spPr>
            <a:xfrm>
              <a:off x="6419088" y="4206240"/>
              <a:ext cx="2194560" cy="1051560"/>
            </a:xfrm>
            <a:prstGeom prst="rect">
              <a:avLst/>
            </a:prstGeom>
            <a:noFill/>
          </p:spPr>
          <p:txBody>
            <a:bodyPr wrap="square" lIns="18288" tIns="9144" rIns="18288" bIns="9144" anchor="ctr">
              <a:noAutofit/>
            </a:bodyPr>
            <a:lstStyle/>
            <a:p>
              <a:pPr algn="l"/>
              <a:r>
                <a:rPr lang="en-GB" sz="2000" b="1" i="0">
                  <a:solidFill>
                    <a:srgbClr val="F2F2F2"/>
                  </a:solidFill>
                  <a:latin typeface="Arial"/>
                </a:rPr>
                <a:t>How the surprise works (OQ18)</a:t>
              </a:r>
            </a:p>
          </p:txBody>
        </p:sp>
        <p:sp>
          <p:nvSpPr>
            <p:cNvPr id="26" name="question card"/>
            <p:cNvSpPr/>
            <p:nvPr/>
          </p:nvSpPr>
          <p:spPr>
            <a:xfrm>
              <a:off x="9079992" y="3566160"/>
              <a:ext cx="2560320" cy="1828800"/>
            </a:xfrm>
            <a:prstGeom prst="roundRect">
              <a:avLst>
                <a:gd name="adj" fmla="val 5000"/>
              </a:avLst>
            </a:prstGeom>
            <a:solidFill>
              <a:srgbClr val="2B2F36"/>
            </a:solidFill>
            <a:ln w="25400">
              <a:solidFill>
                <a:srgbClr val="A9B0B8"/>
              </a:solidFill>
            </a:ln>
          </p:spPr>
          <p:txBody>
            <a:bodyPr rtlCol="0" anchor="ctr"/>
            <a:lstStyle/>
            <a:p>
              <a:pPr algn="ctr"/>
              <a:endParaRPr/>
            </a:p>
          </p:txBody>
        </p:sp>
        <p:sp>
          <p:nvSpPr>
            <p:cNvPr id="27" name="CHIP CARD"/>
            <p:cNvSpPr/>
            <p:nvPr/>
          </p:nvSpPr>
          <p:spPr>
            <a:xfrm>
              <a:off x="9262872" y="3749039"/>
              <a:ext cx="1417320" cy="310896"/>
            </a:xfrm>
            <a:prstGeom prst="roundRect">
              <a:avLst>
                <a:gd name="adj" fmla="val 35294"/>
              </a:avLst>
            </a:prstGeom>
            <a:noFill/>
            <a:ln w="25400">
              <a:solidFill>
                <a:srgbClr val="A9B0B8"/>
              </a:solidFill>
            </a:ln>
          </p:spPr>
          <p:txBody>
            <a:bodyPr wrap="square" lIns="54864" tIns="0" rIns="54864" bIns="0" rtlCol="0" anchor="ctr">
              <a:noAutofit/>
            </a:bodyPr>
            <a:lstStyle/>
            <a:p>
              <a:pPr algn="ctr"/>
              <a:r>
                <a:rPr lang="en-GB" sz="1400" b="1" i="0">
                  <a:solidFill>
                    <a:srgbClr val="F2F2F2"/>
                  </a:solidFill>
                  <a:latin typeface="Arial"/>
                </a:rPr>
                <a:t>UNDECIDED</a:t>
              </a:r>
            </a:p>
          </p:txBody>
        </p:sp>
        <p:sp>
          <p:nvSpPr>
            <p:cNvPr id="28" name="question"/>
            <p:cNvSpPr txBox="1"/>
            <p:nvPr/>
          </p:nvSpPr>
          <p:spPr>
            <a:xfrm>
              <a:off x="9262872" y="4206240"/>
              <a:ext cx="2194560" cy="1051560"/>
            </a:xfrm>
            <a:prstGeom prst="rect">
              <a:avLst/>
            </a:prstGeom>
            <a:noFill/>
          </p:spPr>
          <p:txBody>
            <a:bodyPr wrap="square" lIns="18288" tIns="9144" rIns="18288" bIns="9144" anchor="ctr">
              <a:noAutofit/>
            </a:bodyPr>
            <a:lstStyle/>
            <a:p>
              <a:pPr algn="l"/>
              <a:r>
                <a:rPr lang="en-GB" sz="2000" b="1" i="0">
                  <a:solidFill>
                    <a:srgbClr val="F2F2F2"/>
                  </a:solidFill>
                  <a:latin typeface="Arial"/>
                </a:rPr>
                <a:t>Build menu layout (OQ19)</a:t>
              </a:r>
            </a:p>
          </p:txBody>
        </p:sp>
      </p:grpSp>
      <p:sp>
        <p:nvSpPr>
          <p:cNvPr id="29"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30"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31"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These questions are open. Nothing here has been chosen yet.</a:t>
            </a:r>
          </a:p>
        </p:txBody>
      </p:sp>
      <p:sp>
        <p:nvSpPr>
          <p:cNvPr id="32"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22</a:t>
            </a:r>
          </a:p>
        </p:txBody>
      </p:sp>
    </p:spTree>
    <p:extLst>
      <p:ext uri="{BB962C8B-B14F-4D97-AF65-F5344CB8AC3E}">
        <p14:creationId xmlns:p14="http://schemas.microsoft.com/office/powerpoint/2010/main" val="30835702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90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65760"/>
            <a:ext cx="9326880" cy="731520"/>
          </a:xfrm>
        </p:spPr>
        <p:txBody>
          <a:bodyPr wrap="square" lIns="0" tIns="0" rIns="0" bIns="0" anchor="ctr">
            <a:noAutofit/>
          </a:bodyPr>
          <a:lstStyle/>
          <a:p>
            <a:pPr algn="l"/>
            <a:r>
              <a:rPr lang="en-GB" sz="3600" b="1" i="0">
                <a:solidFill>
                  <a:srgbClr val="F2F2F2"/>
                </a:solidFill>
                <a:latin typeface="Arial"/>
              </a:rPr>
              <a:t>Image credits</a:t>
            </a:r>
          </a:p>
        </p:txBody>
      </p:sp>
      <p:sp>
        <p:nvSpPr>
          <p:cNvPr id="3" name="second line panel"/>
          <p:cNvSpPr/>
          <p:nvPr/>
        </p:nvSpPr>
        <p:spPr>
          <a:xfrm>
            <a:off x="548640" y="2697480"/>
            <a:ext cx="11091672" cy="1554480"/>
          </a:xfrm>
          <a:prstGeom prst="roundRect">
            <a:avLst>
              <a:gd name="adj" fmla="val 4705"/>
            </a:avLst>
          </a:prstGeom>
          <a:solidFill>
            <a:srgbClr val="2B2F36"/>
          </a:solidFill>
          <a:ln>
            <a:noFill/>
          </a:ln>
        </p:spPr>
        <p:txBody>
          <a:bodyPr rtlCol="0" anchor="ctr"/>
          <a:lstStyle/>
          <a:p>
            <a:pPr algn="ctr"/>
            <a:endParaRPr/>
          </a:p>
        </p:txBody>
      </p:sp>
      <p:sp>
        <p:nvSpPr>
          <p:cNvPr id="4" name="SECOND LINE"/>
          <p:cNvSpPr txBox="1"/>
          <p:nvPr/>
        </p:nvSpPr>
        <p:spPr>
          <a:xfrm>
            <a:off x="822960" y="2697480"/>
            <a:ext cx="10543032" cy="1554480"/>
          </a:xfrm>
          <a:prstGeom prst="rect">
            <a:avLst/>
          </a:prstGeom>
          <a:noFill/>
        </p:spPr>
        <p:txBody>
          <a:bodyPr wrap="square" lIns="18288" tIns="9144" rIns="18288" bIns="9144" anchor="ctr">
            <a:noAutofit/>
          </a:bodyPr>
          <a:lstStyle/>
          <a:p>
            <a:pPr algn="ctr"/>
            <a:r>
              <a:rPr lang="en-GB" sz="2800" b="1" i="0">
                <a:solidFill>
                  <a:srgbClr val="F2F2F2"/>
                </a:solidFill>
                <a:latin typeface="Arial"/>
              </a:rPr>
              <a:t>All drawings are native shapes made for this deck.</a:t>
            </a:r>
          </a:p>
        </p:txBody>
      </p:sp>
      <p:sp>
        <p:nvSpPr>
          <p:cNvPr id="5" name="CAPTION BAR"/>
          <p:cNvSpPr/>
          <p:nvPr/>
        </p:nvSpPr>
        <p:spPr>
          <a:xfrm>
            <a:off x="548640" y="5760720"/>
            <a:ext cx="11091672" cy="731520"/>
          </a:xfrm>
          <a:prstGeom prst="roundRect">
            <a:avLst>
              <a:gd name="adj" fmla="val 10000"/>
            </a:avLst>
          </a:prstGeom>
          <a:solidFill>
            <a:srgbClr val="2B2F36"/>
          </a:solidFill>
          <a:ln>
            <a:noFill/>
          </a:ln>
        </p:spPr>
        <p:txBody>
          <a:bodyPr rtlCol="0" anchor="ctr"/>
          <a:lstStyle/>
          <a:p>
            <a:pPr algn="ctr"/>
            <a:endParaRPr/>
          </a:p>
        </p:txBody>
      </p:sp>
      <p:sp>
        <p:nvSpPr>
          <p:cNvPr id="6" name="CAPTION RULE"/>
          <p:cNvSpPr/>
          <p:nvPr/>
        </p:nvSpPr>
        <p:spPr>
          <a:xfrm>
            <a:off x="548640" y="5815583"/>
            <a:ext cx="73152" cy="621792"/>
          </a:xfrm>
          <a:prstGeom prst="rect">
            <a:avLst/>
          </a:prstGeom>
          <a:solidFill>
            <a:srgbClr val="F28C28"/>
          </a:solidFill>
          <a:ln>
            <a:noFill/>
          </a:ln>
        </p:spPr>
        <p:txBody>
          <a:bodyPr rtlCol="0" anchor="ctr"/>
          <a:lstStyle/>
          <a:p>
            <a:pPr algn="ctr"/>
            <a:endParaRPr/>
          </a:p>
        </p:txBody>
      </p:sp>
      <p:sp>
        <p:nvSpPr>
          <p:cNvPr id="7" name="CAPTION"/>
          <p:cNvSpPr txBox="1"/>
          <p:nvPr/>
        </p:nvSpPr>
        <p:spPr>
          <a:xfrm>
            <a:off x="777240" y="5760720"/>
            <a:ext cx="10744200" cy="731520"/>
          </a:xfrm>
          <a:prstGeom prst="rect">
            <a:avLst/>
          </a:prstGeom>
          <a:noFill/>
        </p:spPr>
        <p:txBody>
          <a:bodyPr wrap="square" lIns="18288" tIns="9144" rIns="18288" bIns="9144" anchor="ctr">
            <a:noAutofit/>
          </a:bodyPr>
          <a:lstStyle/>
          <a:p>
            <a:pPr algn="l"/>
            <a:r>
              <a:rPr lang="en-GB" sz="2000" b="0" i="0">
                <a:solidFill>
                  <a:srgbClr val="F2F2F2"/>
                </a:solidFill>
                <a:latin typeface="Arial"/>
              </a:rPr>
              <a:t>This deck uses no photographs.</a:t>
            </a:r>
          </a:p>
        </p:txBody>
      </p:sp>
      <p:sp>
        <p:nvSpPr>
          <p:cNvPr id="8" name="NUM"/>
          <p:cNvSpPr txBox="1"/>
          <p:nvPr/>
        </p:nvSpPr>
        <p:spPr>
          <a:xfrm>
            <a:off x="10725912" y="6528816"/>
            <a:ext cx="914400" cy="274320"/>
          </a:xfrm>
          <a:prstGeom prst="rect">
            <a:avLst/>
          </a:prstGeom>
          <a:noFill/>
        </p:spPr>
        <p:txBody>
          <a:bodyPr wrap="square" lIns="18288" tIns="9144" rIns="18288" bIns="9144" anchor="ctr">
            <a:noAutofit/>
          </a:bodyPr>
          <a:lstStyle/>
          <a:p>
            <a:pPr algn="r"/>
            <a:r>
              <a:rPr lang="en-GB" sz="1400" b="0" i="0">
                <a:solidFill>
                  <a:srgbClr val="A9B0B8"/>
                </a:solidFill>
                <a:latin typeface="Arial"/>
              </a:rPr>
              <a:t>23</a:t>
            </a:r>
          </a:p>
        </p:txBody>
      </p:sp>
    </p:spTree>
    <p:extLst>
      <p:ext uri="{BB962C8B-B14F-4D97-AF65-F5344CB8AC3E}">
        <p14:creationId xmlns:p14="http://schemas.microsoft.com/office/powerpoint/2010/main" val="36267047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1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320040"/>
            <a:ext cx="5943600" cy="3474720"/>
          </a:xfrm>
        </p:spPr>
        <p:txBody>
          <a:bodyPr wrap="square" lIns="0" tIns="0" rIns="0" bIns="0" anchor="b">
            <a:noAutofit/>
          </a:bodyPr>
          <a:lstStyle/>
          <a:p>
            <a:pPr algn="l"/>
            <a:r>
              <a:rPr lang="en-GB" sz="5400" b="1" i="0">
                <a:solidFill>
                  <a:srgbClr val="F2F2F2"/>
                </a:solidFill>
                <a:latin typeface="Arial"/>
              </a:rPr>
              <a:t>After Launch: Packs, Locomotives and History</a:t>
            </a:r>
            <a:endParaRPr lang="en-GB" sz="5400"/>
          </a:p>
        </p:txBody>
      </p:sp>
      <p:sp>
        <p:nvSpPr>
          <p:cNvPr id="3" name="Rectangle 2"/>
          <p:cNvSpPr/>
          <p:nvPr/>
        </p:nvSpPr>
        <p:spPr>
          <a:xfrm>
            <a:off x="548640" y="3977639"/>
            <a:ext cx="2194560" cy="64008"/>
          </a:xfrm>
          <a:prstGeom prst="rect">
            <a:avLst/>
          </a:prstGeom>
          <a:solidFill>
            <a:srgbClr val="F28C28"/>
          </a:solidFill>
          <a:ln>
            <a:noFill/>
          </a:ln>
        </p:spPr>
        <p:txBody>
          <a:bodyPr rtlCol="0" anchor="ctr"/>
          <a:lstStyle/>
          <a:p>
            <a:pPr algn="ctr"/>
            <a:endParaRPr/>
          </a:p>
        </p:txBody>
      </p:sp>
      <p:sp>
        <p:nvSpPr>
          <p:cNvPr id="4" name="Caption"/>
          <p:cNvSpPr txBox="1"/>
          <p:nvPr/>
        </p:nvSpPr>
        <p:spPr>
          <a:xfrm>
            <a:off x="548640" y="4251960"/>
            <a:ext cx="5760720" cy="914400"/>
          </a:xfrm>
          <a:prstGeom prst="rect">
            <a:avLst/>
          </a:prstGeom>
          <a:noFill/>
        </p:spPr>
        <p:txBody>
          <a:bodyPr wrap="square" lIns="0" tIns="0" rIns="0" bIns="0" anchor="t">
            <a:noAutofit/>
          </a:bodyPr>
          <a:lstStyle/>
          <a:p>
            <a:pPr algn="l"/>
            <a:r>
              <a:rPr lang="en-GB" sz="2000" b="0" i="0">
                <a:solidFill>
                  <a:srgbClr val="F2F2F2"/>
                </a:solidFill>
                <a:latin typeface="Arial"/>
              </a:rPr>
              <a:t>How the mod could grow after the first release. All of it comes later.</a:t>
            </a:r>
            <a:endParaRPr lang="en-GB" sz="2000"/>
          </a:p>
        </p:txBody>
      </p:sp>
      <p:pic>
        <p:nvPicPr>
          <p:cNvPr id="5" name="Photo: real locomotive" descr="A real British steam locomotive, seen from the front and side, trailing smoke beside a semaphore signal. A photograph for illustration only."/>
          <p:cNvPicPr>
            <a:picLocks noChangeAspect="1"/>
          </p:cNvPicPr>
          <p:nvPr/>
        </p:nvPicPr>
        <p:blipFill>
          <a:blip r:embed="rId2"/>
          <a:srcRect l="35262" r="8815"/>
          <a:stretch>
            <a:fillRect/>
          </a:stretch>
        </p:blipFill>
        <p:spPr>
          <a:xfrm>
            <a:off x="6766560" y="457200"/>
            <a:ext cx="4873752" cy="5806440"/>
          </a:xfrm>
          <a:prstGeom prst="roundRect">
            <a:avLst>
              <a:gd name="adj" fmla="val 1500"/>
            </a:avLst>
          </a:prstGeom>
        </p:spPr>
      </p:pic>
      <p:sp>
        <p:nvSpPr>
          <p:cNvPr id="6" name="Credit line"/>
          <p:cNvSpPr txBox="1"/>
          <p:nvPr/>
        </p:nvSpPr>
        <p:spPr>
          <a:xfrm>
            <a:off x="6766560" y="6355080"/>
            <a:ext cx="4873752" cy="228600"/>
          </a:xfrm>
          <a:prstGeom prst="rect">
            <a:avLst/>
          </a:prstGeom>
          <a:noFill/>
        </p:spPr>
        <p:txBody>
          <a:bodyPr wrap="square" lIns="0" tIns="0" rIns="0" bIns="0" anchor="t">
            <a:noAutofit/>
          </a:bodyPr>
          <a:lstStyle/>
          <a:p>
            <a:pPr algn="l"/>
            <a:r>
              <a:rPr lang="en-GB" sz="1000" b="0" i="0">
                <a:solidFill>
                  <a:srgbClr val="A9B0B8"/>
                </a:solidFill>
                <a:latin typeface="Arial"/>
              </a:rPr>
              <a:t>A real locomotive, for illustration. Photo: Ben Salter, CC BY 2.0.</a:t>
            </a:r>
            <a:endParaRPr lang="en-GB" sz="1000"/>
          </a:p>
        </p:txBody>
      </p:sp>
    </p:spTree>
    <p:extLst>
      <p:ext uri="{BB962C8B-B14F-4D97-AF65-F5344CB8AC3E}">
        <p14:creationId xmlns:p14="http://schemas.microsoft.com/office/powerpoint/2010/main" val="31186235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How to read this guide</a:t>
            </a:r>
            <a:endParaRPr lang="en-GB" sz="3600"/>
          </a:p>
        </p:txBody>
      </p:sp>
      <p:sp>
        <p:nvSpPr>
          <p:cNvPr id="3" name="Rounded Rectangle 2"/>
          <p:cNvSpPr/>
          <p:nvPr/>
        </p:nvSpPr>
        <p:spPr>
          <a:xfrm>
            <a:off x="548640" y="1417320"/>
            <a:ext cx="11091672" cy="658368"/>
          </a:xfrm>
          <a:prstGeom prst="roundRect">
            <a:avLst>
              <a:gd name="adj" fmla="val 11111"/>
            </a:avLst>
          </a:prstGeom>
          <a:solidFill>
            <a:srgbClr val="2B2F36"/>
          </a:solidFill>
          <a:ln>
            <a:noFill/>
          </a:ln>
        </p:spPr>
        <p:txBody>
          <a:bodyPr rtlCol="0" anchor="ctr"/>
          <a:lstStyle/>
          <a:p>
            <a:pPr algn="ctr"/>
            <a:endParaRPr/>
          </a:p>
        </p:txBody>
      </p:sp>
      <p:sp>
        <p:nvSpPr>
          <p:cNvPr id="4" name="Legend chip: Agreed"/>
          <p:cNvSpPr/>
          <p:nvPr/>
        </p:nvSpPr>
        <p:spPr>
          <a:xfrm>
            <a:off x="822960" y="1563624"/>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sp>
        <p:nvSpPr>
          <p:cNvPr id="5" name="Legend meaning: Agreed"/>
          <p:cNvSpPr txBox="1"/>
          <p:nvPr/>
        </p:nvSpPr>
        <p:spPr>
          <a:xfrm>
            <a:off x="2606040" y="1417320"/>
            <a:ext cx="8686800" cy="658368"/>
          </a:xfrm>
          <a:prstGeom prst="rect">
            <a:avLst/>
          </a:prstGeom>
          <a:noFill/>
        </p:spPr>
        <p:txBody>
          <a:bodyPr wrap="square" lIns="0" tIns="0" rIns="0" bIns="0" anchor="ctr">
            <a:noAutofit/>
          </a:bodyPr>
          <a:lstStyle/>
          <a:p>
            <a:pPr algn="l"/>
            <a:r>
              <a:rPr lang="en-GB" sz="2000" b="0" i="0">
                <a:solidFill>
                  <a:srgbClr val="F2F2F2"/>
                </a:solidFill>
                <a:latin typeface="Arial"/>
              </a:rPr>
              <a:t>Decided.</a:t>
            </a:r>
            <a:endParaRPr lang="en-GB" sz="2000"/>
          </a:p>
        </p:txBody>
      </p:sp>
      <p:sp>
        <p:nvSpPr>
          <p:cNvPr id="6" name="Rounded Rectangle 5"/>
          <p:cNvSpPr/>
          <p:nvPr/>
        </p:nvSpPr>
        <p:spPr>
          <a:xfrm>
            <a:off x="548640" y="2240280"/>
            <a:ext cx="11091672" cy="658368"/>
          </a:xfrm>
          <a:prstGeom prst="roundRect">
            <a:avLst>
              <a:gd name="adj" fmla="val 11111"/>
            </a:avLst>
          </a:prstGeom>
          <a:solidFill>
            <a:srgbClr val="2B2F36"/>
          </a:solidFill>
          <a:ln>
            <a:noFill/>
          </a:ln>
        </p:spPr>
        <p:txBody>
          <a:bodyPr rtlCol="0" anchor="ctr"/>
          <a:lstStyle/>
          <a:p>
            <a:pPr algn="ctr"/>
            <a:endParaRPr/>
          </a:p>
        </p:txBody>
      </p:sp>
      <p:sp>
        <p:nvSpPr>
          <p:cNvPr id="7" name="Legend chip: Proposed"/>
          <p:cNvSpPr/>
          <p:nvPr/>
        </p:nvSpPr>
        <p:spPr>
          <a:xfrm>
            <a:off x="822960" y="2386584"/>
            <a:ext cx="1371600" cy="365760"/>
          </a:xfrm>
          <a:prstGeom prst="roundRect">
            <a:avLst>
              <a:gd name="adj" fmla="val 25000"/>
            </a:avLst>
          </a:prstGeom>
          <a:solidFill>
            <a:srgbClr val="B084F5"/>
          </a:solidFill>
          <a:ln>
            <a:noFill/>
          </a:ln>
        </p:spPr>
        <p:txBody>
          <a:bodyPr wrap="none" lIns="0" tIns="0" rIns="0" bIns="0" rtlCol="0" anchor="ctr">
            <a:noAutofit/>
          </a:bodyPr>
          <a:lstStyle/>
          <a:p>
            <a:pPr algn="ctr"/>
            <a:r>
              <a:rPr lang="en-GB" sz="1400" b="1" i="0">
                <a:solidFill>
                  <a:srgbClr val="101418"/>
                </a:solidFill>
                <a:latin typeface="Arial"/>
              </a:rPr>
              <a:t>PROPOSED</a:t>
            </a:r>
            <a:endParaRPr lang="en-GB" sz="1400"/>
          </a:p>
        </p:txBody>
      </p:sp>
      <p:sp>
        <p:nvSpPr>
          <p:cNvPr id="8" name="Legend meaning: Proposed"/>
          <p:cNvSpPr txBox="1"/>
          <p:nvPr/>
        </p:nvSpPr>
        <p:spPr>
          <a:xfrm>
            <a:off x="2606040" y="2240280"/>
            <a:ext cx="8686800" cy="658368"/>
          </a:xfrm>
          <a:prstGeom prst="rect">
            <a:avLst/>
          </a:prstGeom>
          <a:noFill/>
        </p:spPr>
        <p:txBody>
          <a:bodyPr wrap="square" lIns="0" tIns="0" rIns="0" bIns="0" anchor="ctr">
            <a:noAutofit/>
          </a:bodyPr>
          <a:lstStyle/>
          <a:p>
            <a:pPr algn="l"/>
            <a:r>
              <a:rPr lang="en-GB" sz="2000" b="0" i="0">
                <a:solidFill>
                  <a:srgbClr val="F2F2F2"/>
                </a:solidFill>
                <a:latin typeface="Arial"/>
              </a:rPr>
              <a:t>Suggested, not confirmed.</a:t>
            </a:r>
            <a:endParaRPr lang="en-GB" sz="2000"/>
          </a:p>
        </p:txBody>
      </p:sp>
      <p:sp>
        <p:nvSpPr>
          <p:cNvPr id="9" name="Rounded Rectangle 8"/>
          <p:cNvSpPr/>
          <p:nvPr/>
        </p:nvSpPr>
        <p:spPr>
          <a:xfrm>
            <a:off x="548640" y="3063240"/>
            <a:ext cx="11091672" cy="658368"/>
          </a:xfrm>
          <a:prstGeom prst="roundRect">
            <a:avLst>
              <a:gd name="adj" fmla="val 11111"/>
            </a:avLst>
          </a:prstGeom>
          <a:solidFill>
            <a:srgbClr val="2B2F36"/>
          </a:solidFill>
          <a:ln>
            <a:noFill/>
          </a:ln>
        </p:spPr>
        <p:txBody>
          <a:bodyPr rtlCol="0" anchor="ctr"/>
          <a:lstStyle/>
          <a:p>
            <a:pPr algn="ctr"/>
            <a:endParaRPr/>
          </a:p>
        </p:txBody>
      </p:sp>
      <p:sp>
        <p:nvSpPr>
          <p:cNvPr id="10" name="Legend chip: Provisional"/>
          <p:cNvSpPr/>
          <p:nvPr/>
        </p:nvSpPr>
        <p:spPr>
          <a:xfrm>
            <a:off x="822960" y="3209544"/>
            <a:ext cx="1371600" cy="365760"/>
          </a:xfrm>
          <a:prstGeom prst="roundRect">
            <a:avLst>
              <a:gd name="adj" fmla="val 25000"/>
            </a:avLst>
          </a:prstGeom>
          <a:solidFill>
            <a:srgbClr val="4DA3FF"/>
          </a:solidFill>
          <a:ln>
            <a:noFill/>
          </a:ln>
        </p:spPr>
        <p:txBody>
          <a:bodyPr wrap="none" lIns="0" tIns="0" rIns="0" bIns="0" rtlCol="0" anchor="ctr">
            <a:noAutofit/>
          </a:bodyPr>
          <a:lstStyle/>
          <a:p>
            <a:pPr algn="ctr"/>
            <a:r>
              <a:rPr lang="en-GB" sz="1400" b="1" i="0">
                <a:solidFill>
                  <a:srgbClr val="101418"/>
                </a:solidFill>
                <a:latin typeface="Arial"/>
              </a:rPr>
              <a:t>PROVISIONAL</a:t>
            </a:r>
            <a:endParaRPr lang="en-GB" sz="1400"/>
          </a:p>
        </p:txBody>
      </p:sp>
      <p:sp>
        <p:nvSpPr>
          <p:cNvPr id="11" name="Legend meaning: Provisional"/>
          <p:cNvSpPr txBox="1"/>
          <p:nvPr/>
        </p:nvSpPr>
        <p:spPr>
          <a:xfrm>
            <a:off x="2606040" y="3063240"/>
            <a:ext cx="8686800" cy="658368"/>
          </a:xfrm>
          <a:prstGeom prst="rect">
            <a:avLst/>
          </a:prstGeom>
          <a:noFill/>
        </p:spPr>
        <p:txBody>
          <a:bodyPr wrap="square" lIns="0" tIns="0" rIns="0" bIns="0" anchor="ctr">
            <a:noAutofit/>
          </a:bodyPr>
          <a:lstStyle/>
          <a:p>
            <a:pPr algn="l"/>
            <a:r>
              <a:rPr lang="en-GB" sz="2000" b="0" i="0">
                <a:solidFill>
                  <a:srgbClr val="F2F2F2"/>
                </a:solidFill>
                <a:latin typeface="Arial"/>
              </a:rPr>
              <a:t>A test number that may change.</a:t>
            </a:r>
            <a:endParaRPr lang="en-GB" sz="2000"/>
          </a:p>
        </p:txBody>
      </p:sp>
      <p:sp>
        <p:nvSpPr>
          <p:cNvPr id="12" name="Rounded Rectangle 11"/>
          <p:cNvSpPr/>
          <p:nvPr/>
        </p:nvSpPr>
        <p:spPr>
          <a:xfrm>
            <a:off x="548640" y="3886200"/>
            <a:ext cx="11091672" cy="658368"/>
          </a:xfrm>
          <a:prstGeom prst="roundRect">
            <a:avLst>
              <a:gd name="adj" fmla="val 11111"/>
            </a:avLst>
          </a:prstGeom>
          <a:solidFill>
            <a:srgbClr val="2B2F36"/>
          </a:solidFill>
          <a:ln>
            <a:noFill/>
          </a:ln>
        </p:spPr>
        <p:txBody>
          <a:bodyPr rtlCol="0" anchor="ctr"/>
          <a:lstStyle/>
          <a:p>
            <a:pPr algn="ctr"/>
            <a:endParaRPr/>
          </a:p>
        </p:txBody>
      </p:sp>
      <p:sp>
        <p:nvSpPr>
          <p:cNvPr id="13" name="Legend chip: Undecided"/>
          <p:cNvSpPr/>
          <p:nvPr/>
        </p:nvSpPr>
        <p:spPr>
          <a:xfrm>
            <a:off x="822960" y="4032504"/>
            <a:ext cx="1371600" cy="365760"/>
          </a:xfrm>
          <a:prstGeom prst="roundRect">
            <a:avLst>
              <a:gd name="adj" fmla="val 25000"/>
            </a:avLst>
          </a:prstGeom>
          <a:noFill/>
          <a:ln w="25400">
            <a:solidFill>
              <a:srgbClr val="A9B0B8"/>
            </a:solidFill>
          </a:ln>
        </p:spPr>
        <p:txBody>
          <a:bodyPr wrap="none" lIns="0" tIns="0" rIns="0" bIns="0" rtlCol="0" anchor="ctr">
            <a:noAutofit/>
          </a:bodyPr>
          <a:lstStyle/>
          <a:p>
            <a:pPr algn="ctr"/>
            <a:r>
              <a:rPr lang="en-GB" sz="1400" b="1" i="0">
                <a:solidFill>
                  <a:srgbClr val="F2F2F2"/>
                </a:solidFill>
                <a:latin typeface="Arial"/>
              </a:rPr>
              <a:t>UNDECIDED</a:t>
            </a:r>
            <a:endParaRPr lang="en-GB" sz="1400"/>
          </a:p>
        </p:txBody>
      </p:sp>
      <p:sp>
        <p:nvSpPr>
          <p:cNvPr id="14" name="Legend meaning: Undecided"/>
          <p:cNvSpPr txBox="1"/>
          <p:nvPr/>
        </p:nvSpPr>
        <p:spPr>
          <a:xfrm>
            <a:off x="2606040" y="3886200"/>
            <a:ext cx="8686800" cy="658368"/>
          </a:xfrm>
          <a:prstGeom prst="rect">
            <a:avLst/>
          </a:prstGeom>
          <a:noFill/>
        </p:spPr>
        <p:txBody>
          <a:bodyPr wrap="square" lIns="0" tIns="0" rIns="0" bIns="0" anchor="ctr">
            <a:noAutofit/>
          </a:bodyPr>
          <a:lstStyle/>
          <a:p>
            <a:pPr algn="l"/>
            <a:r>
              <a:rPr lang="en-GB" sz="2000" b="0" i="0">
                <a:solidFill>
                  <a:srgbClr val="F2F2F2"/>
                </a:solidFill>
                <a:latin typeface="Arial"/>
              </a:rPr>
              <a:t>Still an open question.</a:t>
            </a:r>
            <a:endParaRPr lang="en-GB" sz="2000"/>
          </a:p>
        </p:txBody>
      </p:sp>
      <p:sp>
        <p:nvSpPr>
          <p:cNvPr id="15" name="Rounded Rectangle 14"/>
          <p:cNvSpPr/>
          <p:nvPr/>
        </p:nvSpPr>
        <p:spPr>
          <a:xfrm>
            <a:off x="548640" y="4709160"/>
            <a:ext cx="11091672" cy="658368"/>
          </a:xfrm>
          <a:prstGeom prst="roundRect">
            <a:avLst>
              <a:gd name="adj" fmla="val 11111"/>
            </a:avLst>
          </a:prstGeom>
          <a:solidFill>
            <a:srgbClr val="2B2F36"/>
          </a:solidFill>
          <a:ln>
            <a:noFill/>
          </a:ln>
        </p:spPr>
        <p:txBody>
          <a:bodyPr rtlCol="0" anchor="ctr"/>
          <a:lstStyle/>
          <a:p>
            <a:pPr algn="ctr"/>
            <a:endParaRPr/>
          </a:p>
        </p:txBody>
      </p:sp>
      <p:sp>
        <p:nvSpPr>
          <p:cNvPr id="16" name="Legend chip: Background"/>
          <p:cNvSpPr/>
          <p:nvPr/>
        </p:nvSpPr>
        <p:spPr>
          <a:xfrm>
            <a:off x="822960" y="4855464"/>
            <a:ext cx="1371600" cy="365760"/>
          </a:xfrm>
          <a:prstGeom prst="roundRect">
            <a:avLst>
              <a:gd name="adj" fmla="val 25000"/>
            </a:avLst>
          </a:prstGeom>
          <a:solidFill>
            <a:srgbClr val="4A515B"/>
          </a:solidFill>
          <a:ln>
            <a:noFill/>
          </a:ln>
        </p:spPr>
        <p:txBody>
          <a:bodyPr wrap="none" lIns="0" tIns="0" rIns="0" bIns="0" rtlCol="0" anchor="ctr">
            <a:noAutofit/>
          </a:bodyPr>
          <a:lstStyle/>
          <a:p>
            <a:pPr algn="ctr"/>
            <a:r>
              <a:rPr lang="en-GB" sz="1400" b="1" i="0">
                <a:solidFill>
                  <a:srgbClr val="F2F2F2"/>
                </a:solidFill>
                <a:latin typeface="Arial"/>
              </a:rPr>
              <a:t>BACKGROUND</a:t>
            </a:r>
            <a:endParaRPr lang="en-GB" sz="1400"/>
          </a:p>
        </p:txBody>
      </p:sp>
      <p:sp>
        <p:nvSpPr>
          <p:cNvPr id="17" name="Legend meaning: Background"/>
          <p:cNvSpPr txBox="1"/>
          <p:nvPr/>
        </p:nvSpPr>
        <p:spPr>
          <a:xfrm>
            <a:off x="2606040" y="4709160"/>
            <a:ext cx="8686800" cy="658368"/>
          </a:xfrm>
          <a:prstGeom prst="rect">
            <a:avLst/>
          </a:prstGeom>
          <a:noFill/>
        </p:spPr>
        <p:txBody>
          <a:bodyPr wrap="square" lIns="0" tIns="0" rIns="0" bIns="0" anchor="ctr">
            <a:noAutofit/>
          </a:bodyPr>
          <a:lstStyle/>
          <a:p>
            <a:pPr algn="l"/>
            <a:r>
              <a:rPr lang="en-GB" sz="2000" b="0" i="0">
                <a:solidFill>
                  <a:srgbClr val="F2F2F2"/>
                </a:solidFill>
                <a:latin typeface="Arial"/>
              </a:rPr>
              <a:t>A real-world fact.</a:t>
            </a:r>
            <a:endParaRPr lang="en-GB" sz="2000"/>
          </a:p>
        </p:txBody>
      </p:sp>
      <p:sp>
        <p:nvSpPr>
          <p:cNvPr id="18"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Every idea carries a tag in the top-right corner.</a:t>
            </a:r>
            <a:endParaRPr lang="en-GB" sz="2000"/>
          </a:p>
        </p:txBody>
      </p:sp>
      <p:sp>
        <p:nvSpPr>
          <p:cNvPr id="19"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20"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2</a:t>
            </a:r>
            <a:endParaRPr lang="en-GB" sz="1400"/>
          </a:p>
        </p:txBody>
      </p:sp>
    </p:spTree>
    <p:extLst>
      <p:ext uri="{BB962C8B-B14F-4D97-AF65-F5344CB8AC3E}">
        <p14:creationId xmlns:p14="http://schemas.microsoft.com/office/powerpoint/2010/main" val="14385902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105"/>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21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315"/>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42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525"/>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nodeType="withEffect">
                                  <p:stCondLst>
                                    <p:cond delay="63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735"/>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10" presetClass="entr" presetSubtype="0" fill="hold" nodeType="withEffect">
                                  <p:stCondLst>
                                    <p:cond delay="84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945"/>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10" presetClass="entr" presetSubtype="0" fill="hold" nodeType="withEffect">
                                  <p:stCondLst>
                                    <p:cond delay="105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500"/>
                                        <p:tgtEl>
                                          <p:spTgt spid="13"/>
                                        </p:tgtEl>
                                      </p:cBhvr>
                                    </p:animEffect>
                                  </p:childTnLst>
                                </p:cTn>
                              </p:par>
                              <p:par>
                                <p:cTn id="38" presetID="10" presetClass="entr" presetSubtype="0" fill="hold" nodeType="withEffect">
                                  <p:stCondLst>
                                    <p:cond delay="1155"/>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nodeType="withEffect">
                                  <p:stCondLst>
                                    <p:cond delay="126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nodeType="withEffect">
                                  <p:stCondLst>
                                    <p:cond delay="1365"/>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147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par>
                                <p:cTn id="50" presetID="10" presetClass="entr" presetSubtype="0" fill="hold" nodeType="withEffect">
                                  <p:stCondLst>
                                    <p:cond delay="1575"/>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nodeType="withEffect">
                                  <p:stCondLst>
                                    <p:cond delay="168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Core comes first</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Later packs (dashed blocks)" descr="Three dashed blocks labelled Later packs float above the core block, not touching it: packs come later."/>
          <p:cNvGrpSpPr/>
          <p:nvPr/>
        </p:nvGrpSpPr>
        <p:grpSpPr>
          <a:xfrm>
            <a:off x="1417320" y="1417320"/>
            <a:ext cx="9326880" cy="1417320"/>
            <a:chOff x="1417320" y="1417320"/>
            <a:chExt cx="9326880" cy="1417320"/>
          </a:xfrm>
        </p:grpSpPr>
        <p:sp>
          <p:nvSpPr>
            <p:cNvPr id="5" name="Rounded Rectangle 4"/>
            <p:cNvSpPr/>
            <p:nvPr/>
          </p:nvSpPr>
          <p:spPr>
            <a:xfrm>
              <a:off x="1417320" y="1600200"/>
              <a:ext cx="2834640" cy="1051560"/>
            </a:xfrm>
            <a:prstGeom prst="roundRect">
              <a:avLst>
                <a:gd name="adj" fmla="val 8695"/>
              </a:avLst>
            </a:prstGeom>
            <a:solidFill>
              <a:srgbClr val="F28C28">
                <a:alpha val="14000"/>
              </a:srgbClr>
            </a:solidFill>
            <a:ln w="25400">
              <a:solidFill>
                <a:srgbClr val="F28C28"/>
              </a:solidFill>
              <a:prstDash val="dash"/>
            </a:ln>
          </p:spPr>
          <p:txBody>
            <a:bodyPr wrap="square" rtlCol="0" anchor="ctr">
              <a:noAutofit/>
            </a:bodyPr>
            <a:lstStyle/>
            <a:p>
              <a:pPr algn="ctr"/>
              <a:r>
                <a:rPr lang="en-GB" sz="2000" b="1" i="0">
                  <a:solidFill>
                    <a:srgbClr val="F2F2F2"/>
                  </a:solidFill>
                  <a:latin typeface="Arial"/>
                </a:rPr>
                <a:t>Later packs</a:t>
              </a:r>
              <a:endParaRPr lang="en-GB" sz="2000"/>
            </a:p>
          </p:txBody>
        </p:sp>
        <p:sp>
          <p:nvSpPr>
            <p:cNvPr id="6" name="Rounded Rectangle 5"/>
            <p:cNvSpPr/>
            <p:nvPr/>
          </p:nvSpPr>
          <p:spPr>
            <a:xfrm>
              <a:off x="4663440" y="1417320"/>
              <a:ext cx="2834640" cy="1051560"/>
            </a:xfrm>
            <a:prstGeom prst="roundRect">
              <a:avLst>
                <a:gd name="adj" fmla="val 8695"/>
              </a:avLst>
            </a:prstGeom>
            <a:solidFill>
              <a:srgbClr val="F28C28">
                <a:alpha val="14000"/>
              </a:srgbClr>
            </a:solidFill>
            <a:ln w="25400">
              <a:solidFill>
                <a:srgbClr val="F28C28"/>
              </a:solidFill>
              <a:prstDash val="dash"/>
            </a:ln>
          </p:spPr>
          <p:txBody>
            <a:bodyPr wrap="square" rtlCol="0" anchor="ctr">
              <a:noAutofit/>
            </a:bodyPr>
            <a:lstStyle/>
            <a:p>
              <a:pPr algn="ctr"/>
              <a:r>
                <a:rPr lang="en-GB" sz="2000" b="1" i="0">
                  <a:solidFill>
                    <a:srgbClr val="F2F2F2"/>
                  </a:solidFill>
                  <a:latin typeface="Arial"/>
                </a:rPr>
                <a:t>Later packs</a:t>
              </a:r>
              <a:endParaRPr lang="en-GB" sz="2000"/>
            </a:p>
          </p:txBody>
        </p:sp>
        <p:sp>
          <p:nvSpPr>
            <p:cNvPr id="7" name="Rounded Rectangle 6"/>
            <p:cNvSpPr/>
            <p:nvPr/>
          </p:nvSpPr>
          <p:spPr>
            <a:xfrm>
              <a:off x="7909560" y="1783080"/>
              <a:ext cx="2834640" cy="1051560"/>
            </a:xfrm>
            <a:prstGeom prst="roundRect">
              <a:avLst>
                <a:gd name="adj" fmla="val 8695"/>
              </a:avLst>
            </a:prstGeom>
            <a:solidFill>
              <a:srgbClr val="F28C28">
                <a:alpha val="14000"/>
              </a:srgbClr>
            </a:solidFill>
            <a:ln w="25400">
              <a:solidFill>
                <a:srgbClr val="F28C28"/>
              </a:solidFill>
              <a:prstDash val="dash"/>
            </a:ln>
          </p:spPr>
          <p:txBody>
            <a:bodyPr wrap="square" rtlCol="0" anchor="ctr">
              <a:noAutofit/>
            </a:bodyPr>
            <a:lstStyle/>
            <a:p>
              <a:pPr algn="ctr"/>
              <a:r>
                <a:rPr lang="en-GB" sz="2000" b="1" i="0">
                  <a:solidFill>
                    <a:srgbClr val="F2F2F2"/>
                  </a:solidFill>
                  <a:latin typeface="Arial"/>
                </a:rPr>
                <a:t>Later packs</a:t>
              </a:r>
              <a:endParaRPr lang="en-GB" sz="2000"/>
            </a:p>
          </p:txBody>
        </p:sp>
      </p:grpSp>
      <p:grpSp>
        <p:nvGrpSpPr>
          <p:cNvPr id="8" name="Core block (solid)" descr="A tall solid orange block labelled Core 1.0: complete, standing at the bottom."/>
          <p:cNvGrpSpPr/>
          <p:nvPr/>
        </p:nvGrpSpPr>
        <p:grpSpPr>
          <a:xfrm>
            <a:off x="2606040" y="3611880"/>
            <a:ext cx="6949440" cy="1965960"/>
            <a:chOff x="2606040" y="3611880"/>
            <a:chExt cx="6949440" cy="1965960"/>
          </a:xfrm>
        </p:grpSpPr>
        <p:sp>
          <p:nvSpPr>
            <p:cNvPr id="9" name="Rounded Rectangle 8"/>
            <p:cNvSpPr/>
            <p:nvPr/>
          </p:nvSpPr>
          <p:spPr>
            <a:xfrm>
              <a:off x="2606040" y="3611880"/>
              <a:ext cx="6949440" cy="1965960"/>
            </a:xfrm>
            <a:prstGeom prst="roundRect">
              <a:avLst>
                <a:gd name="adj" fmla="val 4651"/>
              </a:avLst>
            </a:prstGeom>
            <a:solidFill>
              <a:srgbClr val="F28C28"/>
            </a:solidFill>
            <a:ln>
              <a:noFill/>
            </a:ln>
          </p:spPr>
          <p:txBody>
            <a:bodyPr wrap="square" rtlCol="0" anchor="ctr">
              <a:noAutofit/>
            </a:bodyPr>
            <a:lstStyle/>
            <a:p>
              <a:pPr algn="ctr"/>
              <a:r>
                <a:rPr lang="en-GB" sz="3200" b="1" i="0">
                  <a:solidFill>
                    <a:srgbClr val="101418"/>
                  </a:solidFill>
                  <a:latin typeface="Arial"/>
                </a:rPr>
                <a:t>Core 1.0: complete</a:t>
              </a:r>
              <a:endParaRPr lang="en-GB" sz="3200"/>
            </a:p>
          </p:txBody>
        </p:sp>
      </p:grpSp>
      <p:sp>
        <p:nvSpPr>
          <p:cNvPr id="10"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The core game is finished first. Nothing is held back to sell packs.</a:t>
            </a:r>
            <a:endParaRPr lang="en-GB" sz="2000"/>
          </a:p>
        </p:txBody>
      </p:sp>
      <p:sp>
        <p:nvSpPr>
          <p:cNvPr id="11"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12"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3</a:t>
            </a:r>
            <a:endParaRPr lang="en-GB" sz="1400"/>
          </a:p>
        </p:txBody>
      </p:sp>
    </p:spTree>
    <p:extLst>
      <p:ext uri="{BB962C8B-B14F-4D97-AF65-F5344CB8AC3E}">
        <p14:creationId xmlns:p14="http://schemas.microsoft.com/office/powerpoint/2010/main" val="1603580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6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9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One shared engine</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Shared rules bar" descr="A long bar labelled Shared rules. Both engines stand on it."/>
          <p:cNvGrpSpPr/>
          <p:nvPr/>
        </p:nvGrpSpPr>
        <p:grpSpPr>
          <a:xfrm>
            <a:off x="822960" y="4663440"/>
            <a:ext cx="10543032" cy="731520"/>
            <a:chOff x="822960" y="4663440"/>
            <a:chExt cx="10543032" cy="731520"/>
          </a:xfrm>
        </p:grpSpPr>
        <p:sp>
          <p:nvSpPr>
            <p:cNvPr id="5" name="Rounded Rectangle 4"/>
            <p:cNvSpPr/>
            <p:nvPr/>
          </p:nvSpPr>
          <p:spPr>
            <a:xfrm>
              <a:off x="822960" y="4663440"/>
              <a:ext cx="10543032" cy="731520"/>
            </a:xfrm>
            <a:prstGeom prst="roundRect">
              <a:avLst>
                <a:gd name="adj" fmla="val 10000"/>
              </a:avLst>
            </a:prstGeom>
            <a:solidFill>
              <a:srgbClr val="343A43"/>
            </a:solidFill>
            <a:ln w="25400">
              <a:solidFill>
                <a:srgbClr val="F28C28"/>
              </a:solidFill>
            </a:ln>
          </p:spPr>
          <p:txBody>
            <a:bodyPr wrap="square" rtlCol="0" anchor="ctr">
              <a:noAutofit/>
            </a:bodyPr>
            <a:lstStyle/>
            <a:p>
              <a:pPr algn="ctr"/>
              <a:r>
                <a:rPr lang="en-GB" sz="2200" b="1" i="0">
                  <a:solidFill>
                    <a:srgbClr val="F2F2F2"/>
                  </a:solidFill>
                  <a:latin typeface="Arial"/>
                </a:rPr>
                <a:t>Shared rules</a:t>
              </a:r>
              <a:endParaRPr lang="en-GB" sz="2200"/>
            </a:p>
          </p:txBody>
        </p:sp>
      </p:grpSp>
      <p:grpSp>
        <p:nvGrpSpPr>
          <p:cNvPr id="6" name="Core engine and data card" descr="A Core engine, a small tank engine, with its own data card."/>
          <p:cNvGrpSpPr/>
          <p:nvPr/>
        </p:nvGrpSpPr>
        <p:grpSpPr>
          <a:xfrm>
            <a:off x="1233525" y="1508760"/>
            <a:ext cx="3139227" cy="3154680"/>
            <a:chOff x="1233525" y="1508760"/>
            <a:chExt cx="3139227" cy="3154680"/>
          </a:xfrm>
        </p:grpSpPr>
        <p:sp>
          <p:nvSpPr>
            <p:cNvPr id="7" name="Rectangle 6"/>
            <p:cNvSpPr/>
            <p:nvPr/>
          </p:nvSpPr>
          <p:spPr>
            <a:xfrm>
              <a:off x="1280160" y="4072737"/>
              <a:ext cx="2720340" cy="155448"/>
            </a:xfrm>
            <a:prstGeom prst="rect">
              <a:avLst/>
            </a:prstGeom>
            <a:solidFill>
              <a:srgbClr val="1B1D21"/>
            </a:solidFill>
            <a:ln w="12700">
              <a:solidFill>
                <a:srgbClr val="9AA0A6"/>
              </a:solidFill>
            </a:ln>
          </p:spPr>
          <p:txBody>
            <a:bodyPr rtlCol="0" anchor="ctr"/>
            <a:lstStyle/>
            <a:p>
              <a:pPr algn="ctr"/>
              <a:endParaRPr/>
            </a:p>
          </p:txBody>
        </p:sp>
        <p:sp>
          <p:nvSpPr>
            <p:cNvPr id="8" name="Oval 7"/>
            <p:cNvSpPr/>
            <p:nvPr/>
          </p:nvSpPr>
          <p:spPr>
            <a:xfrm>
              <a:off x="1482242" y="4197096"/>
              <a:ext cx="466344" cy="466344"/>
            </a:xfrm>
            <a:prstGeom prst="ellipse">
              <a:avLst/>
            </a:prstGeom>
            <a:solidFill>
              <a:srgbClr val="343A43"/>
            </a:solidFill>
            <a:ln w="15875">
              <a:solidFill>
                <a:srgbClr val="9AA0A6"/>
              </a:solidFill>
            </a:ln>
          </p:spPr>
          <p:txBody>
            <a:bodyPr rtlCol="0" anchor="ctr"/>
            <a:lstStyle/>
            <a:p>
              <a:pPr algn="ctr"/>
              <a:endParaRPr/>
            </a:p>
          </p:txBody>
        </p:sp>
        <p:sp>
          <p:nvSpPr>
            <p:cNvPr id="9" name="Oval 8"/>
            <p:cNvSpPr/>
            <p:nvPr/>
          </p:nvSpPr>
          <p:spPr>
            <a:xfrm>
              <a:off x="1668780" y="4383633"/>
              <a:ext cx="93268" cy="93268"/>
            </a:xfrm>
            <a:prstGeom prst="ellipse">
              <a:avLst/>
            </a:prstGeom>
            <a:solidFill>
              <a:srgbClr val="9AA0A6"/>
            </a:solidFill>
            <a:ln>
              <a:noFill/>
            </a:ln>
          </p:spPr>
          <p:txBody>
            <a:bodyPr rtlCol="0" anchor="ctr"/>
            <a:lstStyle/>
            <a:p>
              <a:pPr algn="ctr"/>
              <a:endParaRPr/>
            </a:p>
          </p:txBody>
        </p:sp>
        <p:sp>
          <p:nvSpPr>
            <p:cNvPr id="10" name="Oval 9"/>
            <p:cNvSpPr/>
            <p:nvPr/>
          </p:nvSpPr>
          <p:spPr>
            <a:xfrm>
              <a:off x="2531516" y="4197096"/>
              <a:ext cx="466344" cy="466344"/>
            </a:xfrm>
            <a:prstGeom prst="ellipse">
              <a:avLst/>
            </a:prstGeom>
            <a:solidFill>
              <a:srgbClr val="343A43"/>
            </a:solidFill>
            <a:ln w="15875">
              <a:solidFill>
                <a:srgbClr val="9AA0A6"/>
              </a:solidFill>
            </a:ln>
          </p:spPr>
          <p:txBody>
            <a:bodyPr rtlCol="0" anchor="ctr"/>
            <a:lstStyle/>
            <a:p>
              <a:pPr algn="ctr"/>
              <a:endParaRPr/>
            </a:p>
          </p:txBody>
        </p:sp>
        <p:sp>
          <p:nvSpPr>
            <p:cNvPr id="11" name="Oval 10"/>
            <p:cNvSpPr/>
            <p:nvPr/>
          </p:nvSpPr>
          <p:spPr>
            <a:xfrm>
              <a:off x="2718054" y="4383633"/>
              <a:ext cx="93268" cy="93268"/>
            </a:xfrm>
            <a:prstGeom prst="ellipse">
              <a:avLst/>
            </a:prstGeom>
            <a:solidFill>
              <a:srgbClr val="9AA0A6"/>
            </a:solidFill>
            <a:ln>
              <a:noFill/>
            </a:ln>
          </p:spPr>
          <p:txBody>
            <a:bodyPr rtlCol="0" anchor="ctr"/>
            <a:lstStyle/>
            <a:p>
              <a:pPr algn="ctr"/>
              <a:endParaRPr/>
            </a:p>
          </p:txBody>
        </p:sp>
        <p:sp>
          <p:nvSpPr>
            <p:cNvPr id="12" name="Oval 11"/>
            <p:cNvSpPr/>
            <p:nvPr/>
          </p:nvSpPr>
          <p:spPr>
            <a:xfrm>
              <a:off x="3580790" y="4197096"/>
              <a:ext cx="466344" cy="466344"/>
            </a:xfrm>
            <a:prstGeom prst="ellipse">
              <a:avLst/>
            </a:prstGeom>
            <a:solidFill>
              <a:srgbClr val="343A43"/>
            </a:solidFill>
            <a:ln w="15875">
              <a:solidFill>
                <a:srgbClr val="9AA0A6"/>
              </a:solidFill>
            </a:ln>
          </p:spPr>
          <p:txBody>
            <a:bodyPr rtlCol="0" anchor="ctr"/>
            <a:lstStyle/>
            <a:p>
              <a:pPr algn="ctr"/>
              <a:endParaRPr/>
            </a:p>
          </p:txBody>
        </p:sp>
        <p:sp>
          <p:nvSpPr>
            <p:cNvPr id="13" name="Oval 12"/>
            <p:cNvSpPr/>
            <p:nvPr/>
          </p:nvSpPr>
          <p:spPr>
            <a:xfrm>
              <a:off x="3767328" y="4383633"/>
              <a:ext cx="93268" cy="93268"/>
            </a:xfrm>
            <a:prstGeom prst="ellipse">
              <a:avLst/>
            </a:prstGeom>
            <a:solidFill>
              <a:srgbClr val="9AA0A6"/>
            </a:solidFill>
            <a:ln>
              <a:noFill/>
            </a:ln>
          </p:spPr>
          <p:txBody>
            <a:bodyPr rtlCol="0" anchor="ctr"/>
            <a:lstStyle/>
            <a:p>
              <a:pPr algn="ctr"/>
              <a:endParaRPr/>
            </a:p>
          </p:txBody>
        </p:sp>
        <p:cxnSp>
          <p:nvCxnSpPr>
            <p:cNvPr id="14" name="Connector 13"/>
            <p:cNvCxnSpPr/>
            <p:nvPr/>
          </p:nvCxnSpPr>
          <p:spPr>
            <a:xfrm>
              <a:off x="1715414" y="4430268"/>
              <a:ext cx="2098548" cy="0"/>
            </a:xfrm>
            <a:prstGeom prst="line">
              <a:avLst/>
            </a:prstGeom>
            <a:ln w="19050">
              <a:solidFill>
                <a:srgbClr val="9AA0A6"/>
              </a:solidFill>
            </a:ln>
          </p:spPr>
        </p:cxnSp>
        <p:sp>
          <p:nvSpPr>
            <p:cNvPr id="15" name="Rounded Rectangle 14"/>
            <p:cNvSpPr/>
            <p:nvPr/>
          </p:nvSpPr>
          <p:spPr>
            <a:xfrm>
              <a:off x="2212848" y="3482035"/>
              <a:ext cx="1787651" cy="590702"/>
            </a:xfrm>
            <a:prstGeom prst="roundRect">
              <a:avLst>
                <a:gd name="adj" fmla="val 9287"/>
              </a:avLst>
            </a:prstGeom>
            <a:solidFill>
              <a:srgbClr val="F28C28"/>
            </a:solidFill>
            <a:ln>
              <a:noFill/>
            </a:ln>
          </p:spPr>
          <p:txBody>
            <a:bodyPr rtlCol="0" anchor="ctr"/>
            <a:lstStyle/>
            <a:p>
              <a:pPr algn="ctr"/>
              <a:endParaRPr/>
            </a:p>
          </p:txBody>
        </p:sp>
        <p:sp>
          <p:nvSpPr>
            <p:cNvPr id="16" name="Rounded Rectangle 15"/>
            <p:cNvSpPr/>
            <p:nvPr/>
          </p:nvSpPr>
          <p:spPr>
            <a:xfrm>
              <a:off x="2275027" y="3699662"/>
              <a:ext cx="1352397" cy="404164"/>
            </a:xfrm>
            <a:prstGeom prst="roundRect">
              <a:avLst>
                <a:gd name="adj" fmla="val 9049"/>
              </a:avLst>
            </a:prstGeom>
            <a:solidFill>
              <a:srgbClr val="F28C28"/>
            </a:solidFill>
            <a:ln w="15875">
              <a:solidFill>
                <a:srgbClr val="1B1D21"/>
              </a:solidFill>
            </a:ln>
          </p:spPr>
          <p:txBody>
            <a:bodyPr rtlCol="0" anchor="ctr"/>
            <a:lstStyle/>
            <a:p>
              <a:pPr algn="ctr"/>
              <a:endParaRPr/>
            </a:p>
          </p:txBody>
        </p:sp>
        <p:sp>
          <p:nvSpPr>
            <p:cNvPr id="17" name="Rectangle 16"/>
            <p:cNvSpPr/>
            <p:nvPr/>
          </p:nvSpPr>
          <p:spPr>
            <a:xfrm>
              <a:off x="3720693" y="3482035"/>
              <a:ext cx="279806" cy="590702"/>
            </a:xfrm>
            <a:prstGeom prst="rect">
              <a:avLst/>
            </a:prstGeom>
            <a:solidFill>
              <a:srgbClr val="1B1D21"/>
            </a:solidFill>
            <a:ln w="12700">
              <a:solidFill>
                <a:srgbClr val="9AA0A6"/>
              </a:solidFill>
            </a:ln>
          </p:spPr>
          <p:txBody>
            <a:bodyPr rtlCol="0" anchor="ctr"/>
            <a:lstStyle/>
            <a:p>
              <a:pPr algn="ctr"/>
              <a:endParaRPr/>
            </a:p>
          </p:txBody>
        </p:sp>
        <p:sp>
          <p:nvSpPr>
            <p:cNvPr id="18" name="Rectangle 17"/>
            <p:cNvSpPr/>
            <p:nvPr/>
          </p:nvSpPr>
          <p:spPr>
            <a:xfrm>
              <a:off x="3782872" y="3202228"/>
              <a:ext cx="155448" cy="310896"/>
            </a:xfrm>
            <a:prstGeom prst="rect">
              <a:avLst/>
            </a:prstGeom>
            <a:solidFill>
              <a:srgbClr val="1B1D21"/>
            </a:solidFill>
            <a:ln w="12700">
              <a:solidFill>
                <a:srgbClr val="9AA0A6"/>
              </a:solidFill>
            </a:ln>
          </p:spPr>
          <p:txBody>
            <a:bodyPr rtlCol="0" anchor="ctr"/>
            <a:lstStyle/>
            <a:p>
              <a:pPr algn="ctr"/>
              <a:endParaRPr/>
            </a:p>
          </p:txBody>
        </p:sp>
        <p:sp>
          <p:nvSpPr>
            <p:cNvPr id="19" name="Rectangle 18"/>
            <p:cNvSpPr/>
            <p:nvPr/>
          </p:nvSpPr>
          <p:spPr>
            <a:xfrm>
              <a:off x="3720693" y="3140049"/>
              <a:ext cx="279806" cy="93268"/>
            </a:xfrm>
            <a:prstGeom prst="rect">
              <a:avLst/>
            </a:prstGeom>
            <a:solidFill>
              <a:srgbClr val="1B1D21"/>
            </a:solidFill>
            <a:ln w="12700">
              <a:solidFill>
                <a:srgbClr val="9AA0A6"/>
              </a:solidFill>
            </a:ln>
          </p:spPr>
          <p:txBody>
            <a:bodyPr rtlCol="0" anchor="ctr"/>
            <a:lstStyle/>
            <a:p>
              <a:pPr algn="ctr"/>
              <a:endParaRPr/>
            </a:p>
          </p:txBody>
        </p:sp>
        <p:sp>
          <p:nvSpPr>
            <p:cNvPr id="20" name="Rounded Rectangle 19"/>
            <p:cNvSpPr/>
            <p:nvPr/>
          </p:nvSpPr>
          <p:spPr>
            <a:xfrm>
              <a:off x="2679191" y="3326587"/>
              <a:ext cx="310896" cy="186537"/>
            </a:xfrm>
            <a:prstGeom prst="roundRect">
              <a:avLst>
                <a:gd name="adj" fmla="val 19607"/>
              </a:avLst>
            </a:prstGeom>
            <a:solidFill>
              <a:srgbClr val="F28C28"/>
            </a:solidFill>
            <a:ln>
              <a:noFill/>
            </a:ln>
          </p:spPr>
          <p:txBody>
            <a:bodyPr rtlCol="0" anchor="ctr"/>
            <a:lstStyle/>
            <a:p>
              <a:pPr algn="ctr"/>
              <a:endParaRPr/>
            </a:p>
          </p:txBody>
        </p:sp>
        <p:sp>
          <p:nvSpPr>
            <p:cNvPr id="21" name="Rectangle 20"/>
            <p:cNvSpPr/>
            <p:nvPr/>
          </p:nvSpPr>
          <p:spPr>
            <a:xfrm>
              <a:off x="1280160" y="3264407"/>
              <a:ext cx="932688" cy="839419"/>
            </a:xfrm>
            <a:prstGeom prst="rect">
              <a:avLst/>
            </a:prstGeom>
            <a:solidFill>
              <a:srgbClr val="F28C28"/>
            </a:solidFill>
            <a:ln>
              <a:noFill/>
            </a:ln>
          </p:spPr>
          <p:txBody>
            <a:bodyPr rtlCol="0" anchor="ctr"/>
            <a:lstStyle/>
            <a:p>
              <a:pPr algn="ctr"/>
              <a:endParaRPr/>
            </a:p>
          </p:txBody>
        </p:sp>
        <p:sp>
          <p:nvSpPr>
            <p:cNvPr id="22" name="Rectangle 21"/>
            <p:cNvSpPr/>
            <p:nvPr/>
          </p:nvSpPr>
          <p:spPr>
            <a:xfrm>
              <a:off x="1233525" y="3186683"/>
              <a:ext cx="1025956" cy="108813"/>
            </a:xfrm>
            <a:prstGeom prst="rect">
              <a:avLst/>
            </a:prstGeom>
            <a:solidFill>
              <a:srgbClr val="1B1D21"/>
            </a:solidFill>
            <a:ln w="12700">
              <a:solidFill>
                <a:srgbClr val="9AA0A6"/>
              </a:solidFill>
            </a:ln>
          </p:spPr>
          <p:txBody>
            <a:bodyPr rtlCol="0" anchor="ctr"/>
            <a:lstStyle/>
            <a:p>
              <a:pPr algn="ctr"/>
              <a:endParaRPr/>
            </a:p>
          </p:txBody>
        </p:sp>
        <p:sp>
          <p:nvSpPr>
            <p:cNvPr id="23" name="Rectangle 22"/>
            <p:cNvSpPr/>
            <p:nvPr/>
          </p:nvSpPr>
          <p:spPr>
            <a:xfrm>
              <a:off x="1497787" y="3450945"/>
              <a:ext cx="404164" cy="310896"/>
            </a:xfrm>
            <a:prstGeom prst="rect">
              <a:avLst/>
            </a:prstGeom>
            <a:solidFill>
              <a:srgbClr val="1B1D21"/>
            </a:solidFill>
            <a:ln>
              <a:noFill/>
            </a:ln>
          </p:spPr>
          <p:txBody>
            <a:bodyPr rtlCol="0" anchor="ctr"/>
            <a:lstStyle/>
            <a:p>
              <a:pPr algn="ctr"/>
              <a:endParaRPr/>
            </a:p>
          </p:txBody>
        </p:sp>
        <p:sp>
          <p:nvSpPr>
            <p:cNvPr id="24" name="TextBox 23"/>
            <p:cNvSpPr txBox="1"/>
            <p:nvPr/>
          </p:nvSpPr>
          <p:spPr>
            <a:xfrm>
              <a:off x="1280160" y="2651759"/>
              <a:ext cx="1858152" cy="347472"/>
            </a:xfrm>
            <a:prstGeom prst="rect">
              <a:avLst/>
            </a:prstGeom>
            <a:noFill/>
          </p:spPr>
          <p:txBody>
            <a:bodyPr wrap="square" lIns="0" tIns="0" rIns="0" bIns="0" anchor="ctr">
              <a:noAutofit/>
            </a:bodyPr>
            <a:lstStyle/>
            <a:p>
              <a:pPr algn="l"/>
              <a:r>
                <a:rPr lang="en-GB" sz="1600" b="1" i="0">
                  <a:solidFill>
                    <a:srgbClr val="F2F2F2"/>
                  </a:solidFill>
                  <a:latin typeface="Arial"/>
                </a:rPr>
                <a:t>Core engine</a:t>
              </a:r>
              <a:endParaRPr lang="en-GB" sz="1600"/>
            </a:p>
          </p:txBody>
        </p:sp>
        <p:sp>
          <p:nvSpPr>
            <p:cNvPr id="25" name="Rounded Rectangle 24"/>
            <p:cNvSpPr/>
            <p:nvPr/>
          </p:nvSpPr>
          <p:spPr>
            <a:xfrm>
              <a:off x="2269632" y="1508760"/>
              <a:ext cx="2103120" cy="1051560"/>
            </a:xfrm>
            <a:prstGeom prst="roundRect">
              <a:avLst>
                <a:gd name="adj" fmla="val 6956"/>
              </a:avLst>
            </a:prstGeom>
            <a:solidFill>
              <a:srgbClr val="2B2F36"/>
            </a:solidFill>
            <a:ln w="22225">
              <a:solidFill>
                <a:srgbClr val="9AA0A6"/>
              </a:solidFill>
            </a:ln>
          </p:spPr>
          <p:txBody>
            <a:bodyPr rtlCol="0" anchor="ctr"/>
            <a:lstStyle/>
            <a:p>
              <a:pPr algn="ctr"/>
              <a:endParaRPr/>
            </a:p>
          </p:txBody>
        </p:sp>
        <p:sp>
          <p:nvSpPr>
            <p:cNvPr id="26" name="TextBox 25"/>
            <p:cNvSpPr txBox="1"/>
            <p:nvPr/>
          </p:nvSpPr>
          <p:spPr>
            <a:xfrm>
              <a:off x="2406792" y="1554480"/>
              <a:ext cx="1828799" cy="329184"/>
            </a:xfrm>
            <a:prstGeom prst="rect">
              <a:avLst/>
            </a:prstGeom>
            <a:noFill/>
          </p:spPr>
          <p:txBody>
            <a:bodyPr wrap="square" lIns="0" tIns="0" rIns="0" bIns="0" anchor="ctr">
              <a:noAutofit/>
            </a:bodyPr>
            <a:lstStyle/>
            <a:p>
              <a:pPr algn="l"/>
              <a:r>
                <a:rPr lang="en-GB" sz="1400" b="1" i="0">
                  <a:solidFill>
                    <a:srgbClr val="F2F2F2"/>
                  </a:solidFill>
                  <a:latin typeface="Arial"/>
                </a:rPr>
                <a:t>Data card</a:t>
              </a:r>
              <a:endParaRPr lang="en-GB" sz="1400"/>
            </a:p>
          </p:txBody>
        </p:sp>
        <p:sp>
          <p:nvSpPr>
            <p:cNvPr id="27" name="Rounded Rectangle 26"/>
            <p:cNvSpPr/>
            <p:nvPr/>
          </p:nvSpPr>
          <p:spPr>
            <a:xfrm>
              <a:off x="2406792" y="1984248"/>
              <a:ext cx="1554480" cy="91440"/>
            </a:xfrm>
            <a:prstGeom prst="roundRect">
              <a:avLst>
                <a:gd name="adj" fmla="val 50000"/>
              </a:avLst>
            </a:prstGeom>
            <a:solidFill>
              <a:srgbClr val="A9B0B8"/>
            </a:solidFill>
            <a:ln>
              <a:noFill/>
            </a:ln>
          </p:spPr>
          <p:txBody>
            <a:bodyPr rtlCol="0" anchor="ctr"/>
            <a:lstStyle/>
            <a:p>
              <a:pPr algn="ctr"/>
              <a:endParaRPr/>
            </a:p>
          </p:txBody>
        </p:sp>
        <p:sp>
          <p:nvSpPr>
            <p:cNvPr id="28" name="Rounded Rectangle 27"/>
            <p:cNvSpPr/>
            <p:nvPr/>
          </p:nvSpPr>
          <p:spPr>
            <a:xfrm>
              <a:off x="2406792" y="2167128"/>
              <a:ext cx="1188720" cy="91440"/>
            </a:xfrm>
            <a:prstGeom prst="roundRect">
              <a:avLst>
                <a:gd name="adj" fmla="val 50000"/>
              </a:avLst>
            </a:prstGeom>
            <a:solidFill>
              <a:srgbClr val="A9B0B8"/>
            </a:solidFill>
            <a:ln>
              <a:noFill/>
            </a:ln>
          </p:spPr>
          <p:txBody>
            <a:bodyPr rtlCol="0" anchor="ctr"/>
            <a:lstStyle/>
            <a:p>
              <a:pPr algn="ctr"/>
              <a:endParaRPr/>
            </a:p>
          </p:txBody>
        </p:sp>
        <p:sp>
          <p:nvSpPr>
            <p:cNvPr id="29" name="Rounded Rectangle 28"/>
            <p:cNvSpPr/>
            <p:nvPr/>
          </p:nvSpPr>
          <p:spPr>
            <a:xfrm>
              <a:off x="2406792" y="2350008"/>
              <a:ext cx="1371600" cy="91440"/>
            </a:xfrm>
            <a:prstGeom prst="roundRect">
              <a:avLst>
                <a:gd name="adj" fmla="val 50000"/>
              </a:avLst>
            </a:prstGeom>
            <a:solidFill>
              <a:srgbClr val="A9B0B8"/>
            </a:solidFill>
            <a:ln>
              <a:noFill/>
            </a:ln>
          </p:spPr>
          <p:txBody>
            <a:bodyPr rtlCol="0" anchor="ctr"/>
            <a:lstStyle/>
            <a:p>
              <a:pPr algn="ctr"/>
              <a:endParaRPr/>
            </a:p>
          </p:txBody>
        </p:sp>
        <p:cxnSp>
          <p:nvCxnSpPr>
            <p:cNvPr id="30" name="Connector 29"/>
            <p:cNvCxnSpPr/>
            <p:nvPr/>
          </p:nvCxnSpPr>
          <p:spPr>
            <a:xfrm>
              <a:off x="3321192" y="2560320"/>
              <a:ext cx="0" cy="921715"/>
            </a:xfrm>
            <a:prstGeom prst="line">
              <a:avLst/>
            </a:prstGeom>
            <a:ln w="28575">
              <a:solidFill>
                <a:srgbClr val="F28C28"/>
              </a:solidFill>
            </a:ln>
          </p:spPr>
        </p:cxnSp>
      </p:grpSp>
      <p:grpSp>
        <p:nvGrpSpPr>
          <p:cNvPr id="31" name="Pack engine and data card" descr="A Pack engine, a larger engine with a tender, with its own data card (dashed because packs come later)."/>
          <p:cNvGrpSpPr/>
          <p:nvPr/>
        </p:nvGrpSpPr>
        <p:grpSpPr>
          <a:xfrm>
            <a:off x="6035040" y="1508760"/>
            <a:ext cx="4790084" cy="3154680"/>
            <a:chOff x="6035040" y="1508760"/>
            <a:chExt cx="4790084" cy="3154680"/>
          </a:xfrm>
        </p:grpSpPr>
        <p:sp>
          <p:nvSpPr>
            <p:cNvPr id="32" name="Rounded Rectangle 31"/>
            <p:cNvSpPr/>
            <p:nvPr/>
          </p:nvSpPr>
          <p:spPr>
            <a:xfrm>
              <a:off x="6035040" y="3637483"/>
              <a:ext cx="1476756" cy="528523"/>
            </a:xfrm>
            <a:prstGeom prst="roundRect">
              <a:avLst>
                <a:gd name="adj" fmla="val 5190"/>
              </a:avLst>
            </a:prstGeom>
            <a:solidFill>
              <a:srgbClr val="2B2F36"/>
            </a:solidFill>
            <a:ln w="19050">
              <a:solidFill>
                <a:srgbClr val="F28C28"/>
              </a:solidFill>
              <a:prstDash val="dash"/>
            </a:ln>
          </p:spPr>
          <p:txBody>
            <a:bodyPr rtlCol="0" anchor="ctr"/>
            <a:lstStyle/>
            <a:p>
              <a:pPr algn="ctr"/>
              <a:endParaRPr/>
            </a:p>
          </p:txBody>
        </p:sp>
        <p:sp>
          <p:nvSpPr>
            <p:cNvPr id="33" name="Freeform 32"/>
            <p:cNvSpPr/>
            <p:nvPr/>
          </p:nvSpPr>
          <p:spPr>
            <a:xfrm>
              <a:off x="6159398" y="3419855"/>
              <a:ext cx="1228039" cy="217628"/>
            </a:xfrm>
            <a:custGeom>
              <a:avLst/>
              <a:gdLst/>
              <a:ahLst/>
              <a:cxnLst/>
              <a:rect l="l" t="t" r="r" b="b"/>
              <a:pathLst>
                <a:path w="1228039" h="217628">
                  <a:moveTo>
                    <a:pt x="0" y="217628"/>
                  </a:moveTo>
                  <a:lnTo>
                    <a:pt x="186538" y="31090"/>
                  </a:lnTo>
                  <a:lnTo>
                    <a:pt x="1041502" y="0"/>
                  </a:lnTo>
                  <a:lnTo>
                    <a:pt x="1228039" y="217628"/>
                  </a:lnTo>
                  <a:close/>
                </a:path>
              </a:pathLst>
            </a:custGeom>
            <a:solidFill>
              <a:srgbClr val="1B1D21"/>
            </a:solidFill>
            <a:ln w="12700">
              <a:solidFill>
                <a:srgbClr val="9AA0A6"/>
              </a:solidFill>
            </a:ln>
          </p:spPr>
          <p:txBody>
            <a:bodyPr rtlCol="0" anchor="ctr"/>
            <a:lstStyle/>
            <a:p>
              <a:pPr algn="ctr"/>
              <a:endParaRPr/>
            </a:p>
          </p:txBody>
        </p:sp>
        <p:sp>
          <p:nvSpPr>
            <p:cNvPr id="34" name="Oval 33"/>
            <p:cNvSpPr/>
            <p:nvPr/>
          </p:nvSpPr>
          <p:spPr>
            <a:xfrm>
              <a:off x="6283756" y="4290364"/>
              <a:ext cx="373075" cy="373075"/>
            </a:xfrm>
            <a:prstGeom prst="ellipse">
              <a:avLst/>
            </a:prstGeom>
            <a:solidFill>
              <a:srgbClr val="343A43"/>
            </a:solidFill>
            <a:ln w="12700">
              <a:solidFill>
                <a:srgbClr val="9AA0A6"/>
              </a:solidFill>
            </a:ln>
          </p:spPr>
          <p:txBody>
            <a:bodyPr rtlCol="0" anchor="ctr"/>
            <a:lstStyle/>
            <a:p>
              <a:pPr algn="ctr"/>
              <a:endParaRPr/>
            </a:p>
          </p:txBody>
        </p:sp>
        <p:sp>
          <p:nvSpPr>
            <p:cNvPr id="35" name="Oval 34"/>
            <p:cNvSpPr/>
            <p:nvPr/>
          </p:nvSpPr>
          <p:spPr>
            <a:xfrm>
              <a:off x="6890003" y="4290364"/>
              <a:ext cx="373075" cy="373075"/>
            </a:xfrm>
            <a:prstGeom prst="ellipse">
              <a:avLst/>
            </a:prstGeom>
            <a:solidFill>
              <a:srgbClr val="343A43"/>
            </a:solidFill>
            <a:ln w="12700">
              <a:solidFill>
                <a:srgbClr val="9AA0A6"/>
              </a:solidFill>
            </a:ln>
          </p:spPr>
          <p:txBody>
            <a:bodyPr rtlCol="0" anchor="ctr"/>
            <a:lstStyle/>
            <a:p>
              <a:pPr algn="ctr"/>
              <a:endParaRPr/>
            </a:p>
          </p:txBody>
        </p:sp>
        <p:cxnSp>
          <p:nvCxnSpPr>
            <p:cNvPr id="36" name="Connector 35"/>
            <p:cNvCxnSpPr/>
            <p:nvPr/>
          </p:nvCxnSpPr>
          <p:spPr>
            <a:xfrm>
              <a:off x="7511796" y="4072737"/>
              <a:ext cx="124358" cy="0"/>
            </a:xfrm>
            <a:prstGeom prst="line">
              <a:avLst/>
            </a:prstGeom>
            <a:ln w="25400">
              <a:solidFill>
                <a:srgbClr val="9AA0A6"/>
              </a:solidFill>
            </a:ln>
          </p:spPr>
        </p:cxnSp>
        <p:sp>
          <p:nvSpPr>
            <p:cNvPr id="37" name="Rectangle 36"/>
            <p:cNvSpPr/>
            <p:nvPr/>
          </p:nvSpPr>
          <p:spPr>
            <a:xfrm>
              <a:off x="7636154" y="4072737"/>
              <a:ext cx="2875787" cy="155448"/>
            </a:xfrm>
            <a:prstGeom prst="rect">
              <a:avLst/>
            </a:prstGeom>
            <a:solidFill>
              <a:srgbClr val="1B1D21"/>
            </a:solidFill>
            <a:ln w="12700">
              <a:solidFill>
                <a:srgbClr val="9AA0A6"/>
              </a:solidFill>
            </a:ln>
          </p:spPr>
          <p:txBody>
            <a:bodyPr rtlCol="0" anchor="ctr"/>
            <a:lstStyle/>
            <a:p>
              <a:pPr algn="ctr"/>
              <a:endParaRPr/>
            </a:p>
          </p:txBody>
        </p:sp>
        <p:sp>
          <p:nvSpPr>
            <p:cNvPr id="38" name="Oval 37"/>
            <p:cNvSpPr/>
            <p:nvPr/>
          </p:nvSpPr>
          <p:spPr>
            <a:xfrm>
              <a:off x="7838236" y="4197096"/>
              <a:ext cx="466344" cy="466344"/>
            </a:xfrm>
            <a:prstGeom prst="ellipse">
              <a:avLst/>
            </a:prstGeom>
            <a:solidFill>
              <a:srgbClr val="343A43"/>
            </a:solidFill>
            <a:ln w="15875">
              <a:solidFill>
                <a:srgbClr val="9AA0A6"/>
              </a:solidFill>
            </a:ln>
          </p:spPr>
          <p:txBody>
            <a:bodyPr rtlCol="0" anchor="ctr"/>
            <a:lstStyle/>
            <a:p>
              <a:pPr algn="ctr"/>
              <a:endParaRPr/>
            </a:p>
          </p:txBody>
        </p:sp>
        <p:sp>
          <p:nvSpPr>
            <p:cNvPr id="39" name="Oval 38"/>
            <p:cNvSpPr/>
            <p:nvPr/>
          </p:nvSpPr>
          <p:spPr>
            <a:xfrm>
              <a:off x="8024774" y="4383633"/>
              <a:ext cx="93268" cy="93268"/>
            </a:xfrm>
            <a:prstGeom prst="ellipse">
              <a:avLst/>
            </a:prstGeom>
            <a:solidFill>
              <a:srgbClr val="9AA0A6"/>
            </a:solidFill>
            <a:ln>
              <a:noFill/>
            </a:ln>
          </p:spPr>
          <p:txBody>
            <a:bodyPr rtlCol="0" anchor="ctr"/>
            <a:lstStyle/>
            <a:p>
              <a:pPr algn="ctr"/>
              <a:endParaRPr/>
            </a:p>
          </p:txBody>
        </p:sp>
        <p:sp>
          <p:nvSpPr>
            <p:cNvPr id="40" name="Oval 39"/>
            <p:cNvSpPr/>
            <p:nvPr/>
          </p:nvSpPr>
          <p:spPr>
            <a:xfrm>
              <a:off x="8589568" y="4197096"/>
              <a:ext cx="466344" cy="466344"/>
            </a:xfrm>
            <a:prstGeom prst="ellipse">
              <a:avLst/>
            </a:prstGeom>
            <a:solidFill>
              <a:srgbClr val="343A43"/>
            </a:solidFill>
            <a:ln w="15875">
              <a:solidFill>
                <a:srgbClr val="9AA0A6"/>
              </a:solidFill>
            </a:ln>
          </p:spPr>
          <p:txBody>
            <a:bodyPr rtlCol="0" anchor="ctr"/>
            <a:lstStyle/>
            <a:p>
              <a:pPr algn="ctr"/>
              <a:endParaRPr/>
            </a:p>
          </p:txBody>
        </p:sp>
        <p:sp>
          <p:nvSpPr>
            <p:cNvPr id="41" name="Oval 40"/>
            <p:cNvSpPr/>
            <p:nvPr/>
          </p:nvSpPr>
          <p:spPr>
            <a:xfrm>
              <a:off x="8776106" y="4383633"/>
              <a:ext cx="93268" cy="93268"/>
            </a:xfrm>
            <a:prstGeom prst="ellipse">
              <a:avLst/>
            </a:prstGeom>
            <a:solidFill>
              <a:srgbClr val="9AA0A6"/>
            </a:solidFill>
            <a:ln>
              <a:noFill/>
            </a:ln>
          </p:spPr>
          <p:txBody>
            <a:bodyPr rtlCol="0" anchor="ctr"/>
            <a:lstStyle/>
            <a:p>
              <a:pPr algn="ctr"/>
              <a:endParaRPr/>
            </a:p>
          </p:txBody>
        </p:sp>
        <p:sp>
          <p:nvSpPr>
            <p:cNvPr id="42" name="Oval 41"/>
            <p:cNvSpPr/>
            <p:nvPr/>
          </p:nvSpPr>
          <p:spPr>
            <a:xfrm>
              <a:off x="9340900" y="4197096"/>
              <a:ext cx="466344" cy="466344"/>
            </a:xfrm>
            <a:prstGeom prst="ellipse">
              <a:avLst/>
            </a:prstGeom>
            <a:solidFill>
              <a:srgbClr val="343A43"/>
            </a:solidFill>
            <a:ln w="15875">
              <a:solidFill>
                <a:srgbClr val="9AA0A6"/>
              </a:solidFill>
            </a:ln>
          </p:spPr>
          <p:txBody>
            <a:bodyPr rtlCol="0" anchor="ctr"/>
            <a:lstStyle/>
            <a:p>
              <a:pPr algn="ctr"/>
              <a:endParaRPr/>
            </a:p>
          </p:txBody>
        </p:sp>
        <p:sp>
          <p:nvSpPr>
            <p:cNvPr id="43" name="Oval 42"/>
            <p:cNvSpPr/>
            <p:nvPr/>
          </p:nvSpPr>
          <p:spPr>
            <a:xfrm>
              <a:off x="9527438" y="4383633"/>
              <a:ext cx="93268" cy="93268"/>
            </a:xfrm>
            <a:prstGeom prst="ellipse">
              <a:avLst/>
            </a:prstGeom>
            <a:solidFill>
              <a:srgbClr val="9AA0A6"/>
            </a:solidFill>
            <a:ln>
              <a:noFill/>
            </a:ln>
          </p:spPr>
          <p:txBody>
            <a:bodyPr rtlCol="0" anchor="ctr"/>
            <a:lstStyle/>
            <a:p>
              <a:pPr algn="ctr"/>
              <a:endParaRPr/>
            </a:p>
          </p:txBody>
        </p:sp>
        <p:sp>
          <p:nvSpPr>
            <p:cNvPr id="44" name="Oval 43"/>
            <p:cNvSpPr/>
            <p:nvPr/>
          </p:nvSpPr>
          <p:spPr>
            <a:xfrm>
              <a:off x="10092232" y="4197096"/>
              <a:ext cx="466344" cy="466344"/>
            </a:xfrm>
            <a:prstGeom prst="ellipse">
              <a:avLst/>
            </a:prstGeom>
            <a:solidFill>
              <a:srgbClr val="343A43"/>
            </a:solidFill>
            <a:ln w="15875">
              <a:solidFill>
                <a:srgbClr val="9AA0A6"/>
              </a:solidFill>
            </a:ln>
          </p:spPr>
          <p:txBody>
            <a:bodyPr rtlCol="0" anchor="ctr"/>
            <a:lstStyle/>
            <a:p>
              <a:pPr algn="ctr"/>
              <a:endParaRPr/>
            </a:p>
          </p:txBody>
        </p:sp>
        <p:sp>
          <p:nvSpPr>
            <p:cNvPr id="45" name="Oval 44"/>
            <p:cNvSpPr/>
            <p:nvPr/>
          </p:nvSpPr>
          <p:spPr>
            <a:xfrm>
              <a:off x="10278770" y="4383633"/>
              <a:ext cx="93268" cy="93268"/>
            </a:xfrm>
            <a:prstGeom prst="ellipse">
              <a:avLst/>
            </a:prstGeom>
            <a:solidFill>
              <a:srgbClr val="9AA0A6"/>
            </a:solidFill>
            <a:ln>
              <a:noFill/>
            </a:ln>
          </p:spPr>
          <p:txBody>
            <a:bodyPr rtlCol="0" anchor="ctr"/>
            <a:lstStyle/>
            <a:p>
              <a:pPr algn="ctr"/>
              <a:endParaRPr/>
            </a:p>
          </p:txBody>
        </p:sp>
        <p:cxnSp>
          <p:nvCxnSpPr>
            <p:cNvPr id="46" name="Connector 45"/>
            <p:cNvCxnSpPr/>
            <p:nvPr/>
          </p:nvCxnSpPr>
          <p:spPr>
            <a:xfrm>
              <a:off x="8071408" y="4430268"/>
              <a:ext cx="2253996" cy="0"/>
            </a:xfrm>
            <a:prstGeom prst="line">
              <a:avLst/>
            </a:prstGeom>
            <a:ln w="19050">
              <a:solidFill>
                <a:srgbClr val="9AA0A6"/>
              </a:solidFill>
            </a:ln>
          </p:spPr>
        </p:cxnSp>
        <p:sp>
          <p:nvSpPr>
            <p:cNvPr id="47" name="Rounded Rectangle 46"/>
            <p:cNvSpPr/>
            <p:nvPr/>
          </p:nvSpPr>
          <p:spPr>
            <a:xfrm>
              <a:off x="8568842" y="3482035"/>
              <a:ext cx="1943100" cy="590702"/>
            </a:xfrm>
            <a:prstGeom prst="roundRect">
              <a:avLst>
                <a:gd name="adj" fmla="val 9287"/>
              </a:avLst>
            </a:prstGeom>
            <a:solidFill>
              <a:srgbClr val="F28C28">
                <a:alpha val="35000"/>
              </a:srgbClr>
            </a:solidFill>
            <a:ln w="19050">
              <a:solidFill>
                <a:srgbClr val="F28C28"/>
              </a:solidFill>
              <a:prstDash val="dash"/>
            </a:ln>
          </p:spPr>
          <p:txBody>
            <a:bodyPr rtlCol="0" anchor="ctr"/>
            <a:lstStyle/>
            <a:p>
              <a:pPr algn="ctr"/>
              <a:endParaRPr/>
            </a:p>
          </p:txBody>
        </p:sp>
        <p:sp>
          <p:nvSpPr>
            <p:cNvPr id="48" name="Rectangle 47"/>
            <p:cNvSpPr/>
            <p:nvPr/>
          </p:nvSpPr>
          <p:spPr>
            <a:xfrm>
              <a:off x="10232136" y="3482035"/>
              <a:ext cx="279806" cy="590702"/>
            </a:xfrm>
            <a:prstGeom prst="rect">
              <a:avLst/>
            </a:prstGeom>
            <a:solidFill>
              <a:srgbClr val="1B1D21"/>
            </a:solidFill>
            <a:ln w="12700">
              <a:solidFill>
                <a:srgbClr val="9AA0A6"/>
              </a:solidFill>
            </a:ln>
          </p:spPr>
          <p:txBody>
            <a:bodyPr rtlCol="0" anchor="ctr"/>
            <a:lstStyle/>
            <a:p>
              <a:pPr algn="ctr"/>
              <a:endParaRPr/>
            </a:p>
          </p:txBody>
        </p:sp>
        <p:sp>
          <p:nvSpPr>
            <p:cNvPr id="49" name="Rectangle 48"/>
            <p:cNvSpPr/>
            <p:nvPr/>
          </p:nvSpPr>
          <p:spPr>
            <a:xfrm>
              <a:off x="10294315" y="3202228"/>
              <a:ext cx="155448" cy="310896"/>
            </a:xfrm>
            <a:prstGeom prst="rect">
              <a:avLst/>
            </a:prstGeom>
            <a:solidFill>
              <a:srgbClr val="1B1D21"/>
            </a:solidFill>
            <a:ln w="12700">
              <a:solidFill>
                <a:srgbClr val="9AA0A6"/>
              </a:solidFill>
            </a:ln>
          </p:spPr>
          <p:txBody>
            <a:bodyPr rtlCol="0" anchor="ctr"/>
            <a:lstStyle/>
            <a:p>
              <a:pPr algn="ctr"/>
              <a:endParaRPr/>
            </a:p>
          </p:txBody>
        </p:sp>
        <p:sp>
          <p:nvSpPr>
            <p:cNvPr id="50" name="Rectangle 49"/>
            <p:cNvSpPr/>
            <p:nvPr/>
          </p:nvSpPr>
          <p:spPr>
            <a:xfrm>
              <a:off x="10232136" y="3140049"/>
              <a:ext cx="279806" cy="93268"/>
            </a:xfrm>
            <a:prstGeom prst="rect">
              <a:avLst/>
            </a:prstGeom>
            <a:solidFill>
              <a:srgbClr val="1B1D21"/>
            </a:solidFill>
            <a:ln w="12700">
              <a:solidFill>
                <a:srgbClr val="9AA0A6"/>
              </a:solidFill>
            </a:ln>
          </p:spPr>
          <p:txBody>
            <a:bodyPr rtlCol="0" anchor="ctr"/>
            <a:lstStyle/>
            <a:p>
              <a:pPr algn="ctr"/>
              <a:endParaRPr/>
            </a:p>
          </p:txBody>
        </p:sp>
        <p:sp>
          <p:nvSpPr>
            <p:cNvPr id="51" name="Rounded Rectangle 50"/>
            <p:cNvSpPr/>
            <p:nvPr/>
          </p:nvSpPr>
          <p:spPr>
            <a:xfrm>
              <a:off x="9035186" y="3326587"/>
              <a:ext cx="310896" cy="186537"/>
            </a:xfrm>
            <a:prstGeom prst="roundRect">
              <a:avLst>
                <a:gd name="adj" fmla="val 19607"/>
              </a:avLst>
            </a:prstGeom>
            <a:solidFill>
              <a:srgbClr val="F28C28">
                <a:alpha val="35000"/>
              </a:srgbClr>
            </a:solidFill>
            <a:ln w="12700">
              <a:solidFill>
                <a:srgbClr val="F28C28"/>
              </a:solidFill>
              <a:prstDash val="dash"/>
            </a:ln>
          </p:spPr>
          <p:txBody>
            <a:bodyPr rtlCol="0" anchor="ctr"/>
            <a:lstStyle/>
            <a:p>
              <a:pPr algn="ctr"/>
              <a:endParaRPr/>
            </a:p>
          </p:txBody>
        </p:sp>
        <p:sp>
          <p:nvSpPr>
            <p:cNvPr id="52" name="Rectangle 51"/>
            <p:cNvSpPr/>
            <p:nvPr/>
          </p:nvSpPr>
          <p:spPr>
            <a:xfrm>
              <a:off x="7636154" y="3264407"/>
              <a:ext cx="932688" cy="839419"/>
            </a:xfrm>
            <a:prstGeom prst="rect">
              <a:avLst/>
            </a:prstGeom>
            <a:solidFill>
              <a:srgbClr val="F28C28">
                <a:alpha val="35000"/>
              </a:srgbClr>
            </a:solidFill>
            <a:ln w="19050">
              <a:solidFill>
                <a:srgbClr val="F28C28"/>
              </a:solidFill>
              <a:prstDash val="dash"/>
            </a:ln>
          </p:spPr>
          <p:txBody>
            <a:bodyPr rtlCol="0" anchor="ctr"/>
            <a:lstStyle/>
            <a:p>
              <a:pPr algn="ctr"/>
              <a:endParaRPr/>
            </a:p>
          </p:txBody>
        </p:sp>
        <p:sp>
          <p:nvSpPr>
            <p:cNvPr id="53" name="Rectangle 52"/>
            <p:cNvSpPr/>
            <p:nvPr/>
          </p:nvSpPr>
          <p:spPr>
            <a:xfrm>
              <a:off x="7589519" y="3186683"/>
              <a:ext cx="1025956" cy="108813"/>
            </a:xfrm>
            <a:prstGeom prst="rect">
              <a:avLst/>
            </a:prstGeom>
            <a:solidFill>
              <a:srgbClr val="1B1D21"/>
            </a:solidFill>
            <a:ln w="12700">
              <a:solidFill>
                <a:srgbClr val="9AA0A6"/>
              </a:solidFill>
            </a:ln>
          </p:spPr>
          <p:txBody>
            <a:bodyPr rtlCol="0" anchor="ctr"/>
            <a:lstStyle/>
            <a:p>
              <a:pPr algn="ctr"/>
              <a:endParaRPr/>
            </a:p>
          </p:txBody>
        </p:sp>
        <p:sp>
          <p:nvSpPr>
            <p:cNvPr id="54" name="Rectangle 53"/>
            <p:cNvSpPr/>
            <p:nvPr/>
          </p:nvSpPr>
          <p:spPr>
            <a:xfrm>
              <a:off x="7853781" y="3450945"/>
              <a:ext cx="404164" cy="310896"/>
            </a:xfrm>
            <a:prstGeom prst="rect">
              <a:avLst/>
            </a:prstGeom>
            <a:solidFill>
              <a:srgbClr val="1B1D21"/>
            </a:solidFill>
            <a:ln>
              <a:noFill/>
            </a:ln>
          </p:spPr>
          <p:txBody>
            <a:bodyPr rtlCol="0" anchor="ctr"/>
            <a:lstStyle/>
            <a:p>
              <a:pPr algn="ctr"/>
              <a:endParaRPr/>
            </a:p>
          </p:txBody>
        </p:sp>
        <p:sp>
          <p:nvSpPr>
            <p:cNvPr id="55" name="TextBox 54"/>
            <p:cNvSpPr txBox="1"/>
            <p:nvPr/>
          </p:nvSpPr>
          <p:spPr>
            <a:xfrm>
              <a:off x="6035040" y="2651759"/>
              <a:ext cx="3555644" cy="347472"/>
            </a:xfrm>
            <a:prstGeom prst="rect">
              <a:avLst/>
            </a:prstGeom>
            <a:noFill/>
          </p:spPr>
          <p:txBody>
            <a:bodyPr wrap="square" lIns="0" tIns="0" rIns="0" bIns="0" anchor="ctr">
              <a:noAutofit/>
            </a:bodyPr>
            <a:lstStyle/>
            <a:p>
              <a:pPr algn="l"/>
              <a:r>
                <a:rPr lang="en-GB" sz="1600" b="1" i="0">
                  <a:solidFill>
                    <a:srgbClr val="F2F2F2"/>
                  </a:solidFill>
                  <a:latin typeface="Arial"/>
                </a:rPr>
                <a:t>Pack engine</a:t>
              </a:r>
              <a:endParaRPr lang="en-GB" sz="1600"/>
            </a:p>
          </p:txBody>
        </p:sp>
        <p:sp>
          <p:nvSpPr>
            <p:cNvPr id="56" name="Rounded Rectangle 55"/>
            <p:cNvSpPr/>
            <p:nvPr/>
          </p:nvSpPr>
          <p:spPr>
            <a:xfrm>
              <a:off x="8722004" y="1508760"/>
              <a:ext cx="2103120" cy="1051560"/>
            </a:xfrm>
            <a:prstGeom prst="roundRect">
              <a:avLst>
                <a:gd name="adj" fmla="val 6956"/>
              </a:avLst>
            </a:prstGeom>
            <a:solidFill>
              <a:srgbClr val="2B2F36"/>
            </a:solidFill>
            <a:ln w="22225">
              <a:solidFill>
                <a:srgbClr val="F28C28"/>
              </a:solidFill>
              <a:prstDash val="dash"/>
            </a:ln>
          </p:spPr>
          <p:txBody>
            <a:bodyPr rtlCol="0" anchor="ctr"/>
            <a:lstStyle/>
            <a:p>
              <a:pPr algn="ctr"/>
              <a:endParaRPr/>
            </a:p>
          </p:txBody>
        </p:sp>
        <p:sp>
          <p:nvSpPr>
            <p:cNvPr id="57" name="TextBox 56"/>
            <p:cNvSpPr txBox="1"/>
            <p:nvPr/>
          </p:nvSpPr>
          <p:spPr>
            <a:xfrm>
              <a:off x="8859164" y="1554480"/>
              <a:ext cx="1828799" cy="329184"/>
            </a:xfrm>
            <a:prstGeom prst="rect">
              <a:avLst/>
            </a:prstGeom>
            <a:noFill/>
          </p:spPr>
          <p:txBody>
            <a:bodyPr wrap="square" lIns="0" tIns="0" rIns="0" bIns="0" anchor="ctr">
              <a:noAutofit/>
            </a:bodyPr>
            <a:lstStyle/>
            <a:p>
              <a:pPr algn="l"/>
              <a:r>
                <a:rPr lang="en-GB" sz="1400" b="1" i="0">
                  <a:solidFill>
                    <a:srgbClr val="F2F2F2"/>
                  </a:solidFill>
                  <a:latin typeface="Arial"/>
                </a:rPr>
                <a:t>Data card</a:t>
              </a:r>
              <a:endParaRPr lang="en-GB" sz="1400"/>
            </a:p>
          </p:txBody>
        </p:sp>
        <p:sp>
          <p:nvSpPr>
            <p:cNvPr id="58" name="Rounded Rectangle 57"/>
            <p:cNvSpPr/>
            <p:nvPr/>
          </p:nvSpPr>
          <p:spPr>
            <a:xfrm>
              <a:off x="8859164" y="1984248"/>
              <a:ext cx="1554480" cy="91440"/>
            </a:xfrm>
            <a:prstGeom prst="roundRect">
              <a:avLst>
                <a:gd name="adj" fmla="val 50000"/>
              </a:avLst>
            </a:prstGeom>
            <a:solidFill>
              <a:srgbClr val="A9B0B8"/>
            </a:solidFill>
            <a:ln>
              <a:noFill/>
            </a:ln>
          </p:spPr>
          <p:txBody>
            <a:bodyPr rtlCol="0" anchor="ctr"/>
            <a:lstStyle/>
            <a:p>
              <a:pPr algn="ctr"/>
              <a:endParaRPr/>
            </a:p>
          </p:txBody>
        </p:sp>
        <p:sp>
          <p:nvSpPr>
            <p:cNvPr id="59" name="Rounded Rectangle 58"/>
            <p:cNvSpPr/>
            <p:nvPr/>
          </p:nvSpPr>
          <p:spPr>
            <a:xfrm>
              <a:off x="8859164" y="2167128"/>
              <a:ext cx="1188720" cy="91440"/>
            </a:xfrm>
            <a:prstGeom prst="roundRect">
              <a:avLst>
                <a:gd name="adj" fmla="val 50000"/>
              </a:avLst>
            </a:prstGeom>
            <a:solidFill>
              <a:srgbClr val="A9B0B8"/>
            </a:solidFill>
            <a:ln>
              <a:noFill/>
            </a:ln>
          </p:spPr>
          <p:txBody>
            <a:bodyPr rtlCol="0" anchor="ctr"/>
            <a:lstStyle/>
            <a:p>
              <a:pPr algn="ctr"/>
              <a:endParaRPr/>
            </a:p>
          </p:txBody>
        </p:sp>
        <p:sp>
          <p:nvSpPr>
            <p:cNvPr id="60" name="Rounded Rectangle 59"/>
            <p:cNvSpPr/>
            <p:nvPr/>
          </p:nvSpPr>
          <p:spPr>
            <a:xfrm>
              <a:off x="8859164" y="2350008"/>
              <a:ext cx="1371600" cy="91440"/>
            </a:xfrm>
            <a:prstGeom prst="roundRect">
              <a:avLst>
                <a:gd name="adj" fmla="val 50000"/>
              </a:avLst>
            </a:prstGeom>
            <a:solidFill>
              <a:srgbClr val="A9B0B8"/>
            </a:solidFill>
            <a:ln>
              <a:noFill/>
            </a:ln>
          </p:spPr>
          <p:txBody>
            <a:bodyPr rtlCol="0" anchor="ctr"/>
            <a:lstStyle/>
            <a:p>
              <a:pPr algn="ctr"/>
              <a:endParaRPr/>
            </a:p>
          </p:txBody>
        </p:sp>
        <p:cxnSp>
          <p:nvCxnSpPr>
            <p:cNvPr id="61" name="Connector 60"/>
            <p:cNvCxnSpPr/>
            <p:nvPr/>
          </p:nvCxnSpPr>
          <p:spPr>
            <a:xfrm>
              <a:off x="9773564" y="2560320"/>
              <a:ext cx="0" cy="921715"/>
            </a:xfrm>
            <a:prstGeom prst="line">
              <a:avLst/>
            </a:prstGeom>
            <a:ln w="28575">
              <a:solidFill>
                <a:srgbClr val="F28C28"/>
              </a:solidFill>
            </a:ln>
          </p:spPr>
        </p:cxnSp>
      </p:grpSp>
      <p:sp>
        <p:nvSpPr>
          <p:cNvPr id="62"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Packs add new engines, not new physics. Everything runs on the same rules.</a:t>
            </a:r>
            <a:endParaRPr lang="en-GB" sz="2000"/>
          </a:p>
        </p:txBody>
      </p:sp>
      <p:sp>
        <p:nvSpPr>
          <p:cNvPr id="63"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64"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4</a:t>
            </a:r>
            <a:endParaRPr lang="en-GB" sz="1400"/>
          </a:p>
        </p:txBody>
      </p:sp>
    </p:spTree>
    <p:extLst>
      <p:ext uri="{BB962C8B-B14F-4D97-AF65-F5344CB8AC3E}">
        <p14:creationId xmlns:p14="http://schemas.microsoft.com/office/powerpoint/2010/main" val="9866557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nodeType="withEffect">
                                  <p:stCondLst>
                                    <p:cond delay="900"/>
                                  </p:stCondLst>
                                  <p:childTnLst>
                                    <p:set>
                                      <p:cBhvr>
                                        <p:cTn id="15" dur="1" fill="hold">
                                          <p:stCondLst>
                                            <p:cond delay="0"/>
                                          </p:stCondLst>
                                        </p:cTn>
                                        <p:tgtEl>
                                          <p:spTgt spid="62"/>
                                        </p:tgtEl>
                                        <p:attrNameLst>
                                          <p:attrName>style.visibility</p:attrName>
                                        </p:attrNameLst>
                                      </p:cBhvr>
                                      <p:to>
                                        <p:strVal val="visible"/>
                                      </p:to>
                                    </p:set>
                                    <p:animEffect transition="in" filter="fade">
                                      <p:cBhvr>
                                        <p:cTn id="16" dur="500"/>
                                        <p:tgtEl>
                                          <p:spTgt spid="62"/>
                                        </p:tgtEl>
                                      </p:cBhvr>
                                    </p:animEffect>
                                  </p:childTnLst>
                                </p:cTn>
                              </p:par>
                              <p:par>
                                <p:cTn id="17" presetID="10" presetClass="entr" presetSubtype="0" fill="hold" nodeType="withEffect">
                                  <p:stCondLst>
                                    <p:cond delay="1200"/>
                                  </p:stCondLst>
                                  <p:childTnLst>
                                    <p:set>
                                      <p:cBhvr>
                                        <p:cTn id="18" dur="1" fill="hold">
                                          <p:stCondLst>
                                            <p:cond delay="0"/>
                                          </p:stCondLst>
                                        </p:cTn>
                                        <p:tgtEl>
                                          <p:spTgt spid="63"/>
                                        </p:tgtEl>
                                        <p:attrNameLst>
                                          <p:attrName>style.visibility</p:attrName>
                                        </p:attrNameLst>
                                      </p:cBhvr>
                                      <p:to>
                                        <p:strVal val="visible"/>
                                      </p:to>
                                    </p:set>
                                    <p:animEffect transition="in" filter="fade">
                                      <p:cBhvr>
                                        <p:cTn id="19"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Packs by region</a:t>
            </a:r>
            <a:endParaRPr lang="en-GB" sz="3600"/>
          </a:p>
        </p:txBody>
      </p:sp>
      <p:sp>
        <p:nvSpPr>
          <p:cNvPr id="3" name="Status chip: Proposed"/>
          <p:cNvSpPr/>
          <p:nvPr/>
        </p:nvSpPr>
        <p:spPr>
          <a:xfrm>
            <a:off x="10241280" y="457200"/>
            <a:ext cx="1371600" cy="365760"/>
          </a:xfrm>
          <a:prstGeom prst="roundRect">
            <a:avLst>
              <a:gd name="adj" fmla="val 25000"/>
            </a:avLst>
          </a:prstGeom>
          <a:solidFill>
            <a:srgbClr val="B084F5"/>
          </a:solidFill>
          <a:ln>
            <a:noFill/>
          </a:ln>
        </p:spPr>
        <p:txBody>
          <a:bodyPr wrap="none" lIns="0" tIns="0" rIns="0" bIns="0" rtlCol="0" anchor="ctr">
            <a:noAutofit/>
          </a:bodyPr>
          <a:lstStyle/>
          <a:p>
            <a:pPr algn="ctr"/>
            <a:r>
              <a:rPr lang="en-GB" sz="1400" b="1" i="0">
                <a:solidFill>
                  <a:srgbClr val="101418"/>
                </a:solidFill>
                <a:latin typeface="Arial"/>
              </a:rPr>
              <a:t>PROPOSED</a:t>
            </a:r>
            <a:endParaRPr lang="en-GB" sz="1400"/>
          </a:p>
        </p:txBody>
      </p:sp>
      <p:grpSp>
        <p:nvGrpSpPr>
          <p:cNvPr id="4" name="Region A pack" descr="Region A pack: a dashed box listing Engines, Buildings and History. Packs come after launch."/>
          <p:cNvGrpSpPr/>
          <p:nvPr/>
        </p:nvGrpSpPr>
        <p:grpSpPr>
          <a:xfrm>
            <a:off x="694944" y="1463040"/>
            <a:ext cx="3401568" cy="3200400"/>
            <a:chOff x="694944" y="1463040"/>
            <a:chExt cx="3401568" cy="3200400"/>
          </a:xfrm>
        </p:grpSpPr>
        <p:sp>
          <p:nvSpPr>
            <p:cNvPr id="5" name="Rounded Rectangle 4"/>
            <p:cNvSpPr/>
            <p:nvPr/>
          </p:nvSpPr>
          <p:spPr>
            <a:xfrm>
              <a:off x="749808" y="1463040"/>
              <a:ext cx="3291840" cy="3200400"/>
            </a:xfrm>
            <a:prstGeom prst="roundRect">
              <a:avLst>
                <a:gd name="adj" fmla="val 2285"/>
              </a:avLst>
            </a:prstGeom>
            <a:solidFill>
              <a:srgbClr val="2B2F36"/>
            </a:solidFill>
            <a:ln w="25400">
              <a:solidFill>
                <a:srgbClr val="F28C28"/>
              </a:solidFill>
              <a:prstDash val="dash"/>
            </a:ln>
          </p:spPr>
          <p:txBody>
            <a:bodyPr rtlCol="0" anchor="ctr"/>
            <a:lstStyle/>
            <a:p>
              <a:pPr algn="ctr"/>
              <a:endParaRPr/>
            </a:p>
          </p:txBody>
        </p:sp>
        <p:sp>
          <p:nvSpPr>
            <p:cNvPr id="6" name="Rounded Rectangle 5"/>
            <p:cNvSpPr/>
            <p:nvPr/>
          </p:nvSpPr>
          <p:spPr>
            <a:xfrm>
              <a:off x="694944" y="1463040"/>
              <a:ext cx="3401568" cy="640080"/>
            </a:xfrm>
            <a:prstGeom prst="roundRect">
              <a:avLst>
                <a:gd name="adj" fmla="val 11428"/>
              </a:avLst>
            </a:prstGeom>
            <a:solidFill>
              <a:srgbClr val="F28C28"/>
            </a:solidFill>
            <a:ln>
              <a:noFill/>
            </a:ln>
          </p:spPr>
          <p:txBody>
            <a:bodyPr wrap="square" rtlCol="0" anchor="ctr">
              <a:noAutofit/>
            </a:bodyPr>
            <a:lstStyle/>
            <a:p>
              <a:pPr algn="ctr"/>
              <a:r>
                <a:rPr lang="en-GB" sz="2000" b="1" i="0">
                  <a:solidFill>
                    <a:srgbClr val="101418"/>
                  </a:solidFill>
                  <a:latin typeface="Arial"/>
                </a:rPr>
                <a:t>Region A pack</a:t>
              </a:r>
              <a:endParaRPr lang="en-GB" sz="2000"/>
            </a:p>
          </p:txBody>
        </p:sp>
        <p:sp>
          <p:nvSpPr>
            <p:cNvPr id="7" name="Rectangle 6"/>
            <p:cNvSpPr/>
            <p:nvPr/>
          </p:nvSpPr>
          <p:spPr>
            <a:xfrm>
              <a:off x="1161288" y="2642981"/>
              <a:ext cx="537667" cy="38404"/>
            </a:xfrm>
            <a:prstGeom prst="rect">
              <a:avLst/>
            </a:prstGeom>
            <a:solidFill>
              <a:srgbClr val="1B1D21"/>
            </a:solidFill>
            <a:ln w="12700">
              <a:solidFill>
                <a:srgbClr val="9AA0A6"/>
              </a:solidFill>
            </a:ln>
          </p:spPr>
          <p:txBody>
            <a:bodyPr rtlCol="0" anchor="ctr"/>
            <a:lstStyle/>
            <a:p>
              <a:pPr algn="ctr"/>
              <a:endParaRPr/>
            </a:p>
          </p:txBody>
        </p:sp>
        <p:sp>
          <p:nvSpPr>
            <p:cNvPr id="8" name="Oval 7"/>
            <p:cNvSpPr/>
            <p:nvPr/>
          </p:nvSpPr>
          <p:spPr>
            <a:xfrm>
              <a:off x="1211214" y="2673705"/>
              <a:ext cx="115214" cy="115214"/>
            </a:xfrm>
            <a:prstGeom prst="ellipse">
              <a:avLst/>
            </a:prstGeom>
            <a:solidFill>
              <a:srgbClr val="343A43"/>
            </a:solidFill>
            <a:ln w="15875">
              <a:solidFill>
                <a:srgbClr val="9AA0A6"/>
              </a:solidFill>
            </a:ln>
          </p:spPr>
          <p:txBody>
            <a:bodyPr rtlCol="0" anchor="ctr"/>
            <a:lstStyle/>
            <a:p>
              <a:pPr algn="ctr"/>
              <a:endParaRPr/>
            </a:p>
          </p:txBody>
        </p:sp>
        <p:sp>
          <p:nvSpPr>
            <p:cNvPr id="9" name="Oval 8"/>
            <p:cNvSpPr/>
            <p:nvPr/>
          </p:nvSpPr>
          <p:spPr>
            <a:xfrm>
              <a:off x="1595262" y="2673705"/>
              <a:ext cx="115214" cy="115214"/>
            </a:xfrm>
            <a:prstGeom prst="ellipse">
              <a:avLst/>
            </a:prstGeom>
            <a:solidFill>
              <a:srgbClr val="343A43"/>
            </a:solidFill>
            <a:ln w="15875">
              <a:solidFill>
                <a:srgbClr val="9AA0A6"/>
              </a:solidFill>
            </a:ln>
          </p:spPr>
          <p:txBody>
            <a:bodyPr rtlCol="0" anchor="ctr"/>
            <a:lstStyle/>
            <a:p>
              <a:pPr algn="ctr"/>
              <a:endParaRPr/>
            </a:p>
          </p:txBody>
        </p:sp>
        <p:sp>
          <p:nvSpPr>
            <p:cNvPr id="10" name="Rounded Rectangle 9"/>
            <p:cNvSpPr/>
            <p:nvPr/>
          </p:nvSpPr>
          <p:spPr>
            <a:xfrm>
              <a:off x="1391716" y="2497043"/>
              <a:ext cx="307238" cy="145938"/>
            </a:xfrm>
            <a:prstGeom prst="roundRect">
              <a:avLst>
                <a:gd name="adj" fmla="val 37593"/>
              </a:avLst>
            </a:prstGeom>
            <a:solidFill>
              <a:srgbClr val="9AA0A6"/>
            </a:solidFill>
            <a:ln>
              <a:noFill/>
            </a:ln>
          </p:spPr>
          <p:txBody>
            <a:bodyPr rtlCol="0" anchor="ctr"/>
            <a:lstStyle/>
            <a:p>
              <a:pPr algn="ctr"/>
              <a:endParaRPr/>
            </a:p>
          </p:txBody>
        </p:sp>
        <p:sp>
          <p:nvSpPr>
            <p:cNvPr id="11" name="Rectangle 10"/>
            <p:cNvSpPr/>
            <p:nvPr/>
          </p:nvSpPr>
          <p:spPr>
            <a:xfrm>
              <a:off x="1629826" y="2497043"/>
              <a:ext cx="69128" cy="145938"/>
            </a:xfrm>
            <a:prstGeom prst="rect">
              <a:avLst/>
            </a:prstGeom>
            <a:solidFill>
              <a:srgbClr val="1B1D21"/>
            </a:solidFill>
            <a:ln w="12700">
              <a:solidFill>
                <a:srgbClr val="9AA0A6"/>
              </a:solidFill>
            </a:ln>
          </p:spPr>
          <p:txBody>
            <a:bodyPr rtlCol="0" anchor="ctr"/>
            <a:lstStyle/>
            <a:p>
              <a:pPr algn="ctr"/>
              <a:endParaRPr/>
            </a:p>
          </p:txBody>
        </p:sp>
        <p:sp>
          <p:nvSpPr>
            <p:cNvPr id="12" name="Rectangle 11"/>
            <p:cNvSpPr/>
            <p:nvPr/>
          </p:nvSpPr>
          <p:spPr>
            <a:xfrm>
              <a:off x="1645188" y="2427914"/>
              <a:ext cx="38404" cy="76809"/>
            </a:xfrm>
            <a:prstGeom prst="rect">
              <a:avLst/>
            </a:prstGeom>
            <a:solidFill>
              <a:srgbClr val="1B1D21"/>
            </a:solidFill>
            <a:ln w="12700">
              <a:solidFill>
                <a:srgbClr val="9AA0A6"/>
              </a:solidFill>
            </a:ln>
          </p:spPr>
          <p:txBody>
            <a:bodyPr rtlCol="0" anchor="ctr"/>
            <a:lstStyle/>
            <a:p>
              <a:pPr algn="ctr"/>
              <a:endParaRPr/>
            </a:p>
          </p:txBody>
        </p:sp>
        <p:sp>
          <p:nvSpPr>
            <p:cNvPr id="13" name="Rectangle 12"/>
            <p:cNvSpPr/>
            <p:nvPr/>
          </p:nvSpPr>
          <p:spPr>
            <a:xfrm>
              <a:off x="1629826" y="2412552"/>
              <a:ext cx="69128" cy="23042"/>
            </a:xfrm>
            <a:prstGeom prst="rect">
              <a:avLst/>
            </a:prstGeom>
            <a:solidFill>
              <a:srgbClr val="1B1D21"/>
            </a:solidFill>
            <a:ln w="12700">
              <a:solidFill>
                <a:srgbClr val="9AA0A6"/>
              </a:solidFill>
            </a:ln>
          </p:spPr>
          <p:txBody>
            <a:bodyPr rtlCol="0" anchor="ctr"/>
            <a:lstStyle/>
            <a:p>
              <a:pPr algn="ctr"/>
              <a:endParaRPr/>
            </a:p>
          </p:txBody>
        </p:sp>
        <p:sp>
          <p:nvSpPr>
            <p:cNvPr id="14" name="Rectangle 13"/>
            <p:cNvSpPr/>
            <p:nvPr/>
          </p:nvSpPr>
          <p:spPr>
            <a:xfrm>
              <a:off x="1161288" y="2443276"/>
              <a:ext cx="230428" cy="207385"/>
            </a:xfrm>
            <a:prstGeom prst="rect">
              <a:avLst/>
            </a:prstGeom>
            <a:solidFill>
              <a:srgbClr val="9AA0A6"/>
            </a:solidFill>
            <a:ln>
              <a:noFill/>
            </a:ln>
          </p:spPr>
          <p:txBody>
            <a:bodyPr rtlCol="0" anchor="ctr"/>
            <a:lstStyle/>
            <a:p>
              <a:pPr algn="ctr"/>
              <a:endParaRPr/>
            </a:p>
          </p:txBody>
        </p:sp>
        <p:sp>
          <p:nvSpPr>
            <p:cNvPr id="15" name="Rectangle 14"/>
            <p:cNvSpPr/>
            <p:nvPr/>
          </p:nvSpPr>
          <p:spPr>
            <a:xfrm>
              <a:off x="1149766" y="2424074"/>
              <a:ext cx="253471" cy="26883"/>
            </a:xfrm>
            <a:prstGeom prst="rect">
              <a:avLst/>
            </a:prstGeom>
            <a:solidFill>
              <a:srgbClr val="1B1D21"/>
            </a:solidFill>
            <a:ln w="12700">
              <a:solidFill>
                <a:srgbClr val="9AA0A6"/>
              </a:solidFill>
            </a:ln>
          </p:spPr>
          <p:txBody>
            <a:bodyPr rtlCol="0" anchor="ctr"/>
            <a:lstStyle/>
            <a:p>
              <a:pPr algn="ctr"/>
              <a:endParaRPr/>
            </a:p>
          </p:txBody>
        </p:sp>
        <p:sp>
          <p:nvSpPr>
            <p:cNvPr id="16" name="Rectangle 15"/>
            <p:cNvSpPr/>
            <p:nvPr/>
          </p:nvSpPr>
          <p:spPr>
            <a:xfrm>
              <a:off x="1215054" y="2489362"/>
              <a:ext cx="99852" cy="76809"/>
            </a:xfrm>
            <a:prstGeom prst="rect">
              <a:avLst/>
            </a:prstGeom>
            <a:solidFill>
              <a:srgbClr val="1B1D21"/>
            </a:solidFill>
            <a:ln>
              <a:noFill/>
            </a:ln>
          </p:spPr>
          <p:txBody>
            <a:bodyPr rtlCol="0" anchor="ctr"/>
            <a:lstStyle/>
            <a:p>
              <a:pPr algn="ctr"/>
              <a:endParaRPr/>
            </a:p>
          </p:txBody>
        </p:sp>
        <p:sp>
          <p:nvSpPr>
            <p:cNvPr id="17" name="TextBox 16"/>
            <p:cNvSpPr txBox="1"/>
            <p:nvPr/>
          </p:nvSpPr>
          <p:spPr>
            <a:xfrm>
              <a:off x="1984248" y="2331720"/>
              <a:ext cx="1828800" cy="530352"/>
            </a:xfrm>
            <a:prstGeom prst="rect">
              <a:avLst/>
            </a:prstGeom>
            <a:noFill/>
          </p:spPr>
          <p:txBody>
            <a:bodyPr wrap="square" lIns="0" tIns="0" rIns="0" bIns="0" anchor="ctr">
              <a:noAutofit/>
            </a:bodyPr>
            <a:lstStyle/>
            <a:p>
              <a:pPr algn="l"/>
              <a:r>
                <a:rPr lang="en-GB" sz="1800" b="1" i="0">
                  <a:solidFill>
                    <a:srgbClr val="F2F2F2"/>
                  </a:solidFill>
                  <a:latin typeface="Arial"/>
                </a:rPr>
                <a:t>Engines</a:t>
              </a:r>
              <a:endParaRPr lang="en-GB" sz="1800"/>
            </a:p>
          </p:txBody>
        </p:sp>
        <p:cxnSp>
          <p:nvCxnSpPr>
            <p:cNvPr id="18" name="Connector 17"/>
            <p:cNvCxnSpPr/>
            <p:nvPr/>
          </p:nvCxnSpPr>
          <p:spPr>
            <a:xfrm>
              <a:off x="1115568" y="2971800"/>
              <a:ext cx="2560319" cy="0"/>
            </a:xfrm>
            <a:prstGeom prst="line">
              <a:avLst/>
            </a:prstGeom>
            <a:ln w="12700">
              <a:solidFill>
                <a:srgbClr val="4A515B"/>
              </a:solidFill>
            </a:ln>
          </p:spPr>
        </p:cxnSp>
        <p:sp>
          <p:nvSpPr>
            <p:cNvPr id="19" name="Rectangle 18"/>
            <p:cNvSpPr/>
            <p:nvPr/>
          </p:nvSpPr>
          <p:spPr>
            <a:xfrm>
              <a:off x="1207008" y="3319272"/>
              <a:ext cx="457200" cy="237744"/>
            </a:xfrm>
            <a:prstGeom prst="rect">
              <a:avLst/>
            </a:prstGeom>
            <a:solidFill>
              <a:srgbClr val="9AA0A6"/>
            </a:solidFill>
            <a:ln>
              <a:noFill/>
            </a:ln>
          </p:spPr>
          <p:txBody>
            <a:bodyPr rtlCol="0" anchor="ctr"/>
            <a:lstStyle/>
            <a:p>
              <a:pPr algn="ctr"/>
              <a:endParaRPr/>
            </a:p>
          </p:txBody>
        </p:sp>
        <p:sp>
          <p:nvSpPr>
            <p:cNvPr id="20" name="Freeform 19"/>
            <p:cNvSpPr/>
            <p:nvPr/>
          </p:nvSpPr>
          <p:spPr>
            <a:xfrm>
              <a:off x="1161288" y="3154679"/>
              <a:ext cx="548640" cy="164593"/>
            </a:xfrm>
            <a:custGeom>
              <a:avLst/>
              <a:gdLst/>
              <a:ahLst/>
              <a:cxnLst/>
              <a:rect l="l" t="t" r="r" b="b"/>
              <a:pathLst>
                <a:path w="548640" h="164593">
                  <a:moveTo>
                    <a:pt x="0" y="164593"/>
                  </a:moveTo>
                  <a:lnTo>
                    <a:pt x="274320" y="0"/>
                  </a:lnTo>
                  <a:lnTo>
                    <a:pt x="548640" y="164593"/>
                  </a:lnTo>
                  <a:close/>
                </a:path>
              </a:pathLst>
            </a:custGeom>
            <a:solidFill>
              <a:srgbClr val="9AA0A6"/>
            </a:solidFill>
            <a:ln>
              <a:noFill/>
            </a:ln>
          </p:spPr>
          <p:txBody>
            <a:bodyPr rtlCol="0" anchor="ctr"/>
            <a:lstStyle/>
            <a:p>
              <a:pPr algn="ctr"/>
              <a:endParaRPr/>
            </a:p>
          </p:txBody>
        </p:sp>
        <p:sp>
          <p:nvSpPr>
            <p:cNvPr id="21" name="Rectangle 20"/>
            <p:cNvSpPr/>
            <p:nvPr/>
          </p:nvSpPr>
          <p:spPr>
            <a:xfrm>
              <a:off x="1389888" y="3410711"/>
              <a:ext cx="91440" cy="146304"/>
            </a:xfrm>
            <a:prstGeom prst="rect">
              <a:avLst/>
            </a:prstGeom>
            <a:solidFill>
              <a:srgbClr val="2B2F36"/>
            </a:solidFill>
            <a:ln>
              <a:noFill/>
            </a:ln>
          </p:spPr>
          <p:txBody>
            <a:bodyPr rtlCol="0" anchor="ctr"/>
            <a:lstStyle/>
            <a:p>
              <a:pPr algn="ctr"/>
              <a:endParaRPr/>
            </a:p>
          </p:txBody>
        </p:sp>
        <p:sp>
          <p:nvSpPr>
            <p:cNvPr id="22" name="TextBox 21"/>
            <p:cNvSpPr txBox="1"/>
            <p:nvPr/>
          </p:nvSpPr>
          <p:spPr>
            <a:xfrm>
              <a:off x="1984248" y="3081527"/>
              <a:ext cx="1828800" cy="530352"/>
            </a:xfrm>
            <a:prstGeom prst="rect">
              <a:avLst/>
            </a:prstGeom>
            <a:noFill/>
          </p:spPr>
          <p:txBody>
            <a:bodyPr wrap="square" lIns="0" tIns="0" rIns="0" bIns="0" anchor="ctr">
              <a:noAutofit/>
            </a:bodyPr>
            <a:lstStyle/>
            <a:p>
              <a:pPr algn="l"/>
              <a:r>
                <a:rPr lang="en-GB" sz="1800" b="1" i="0">
                  <a:solidFill>
                    <a:srgbClr val="F2F2F2"/>
                  </a:solidFill>
                  <a:latin typeface="Arial"/>
                </a:rPr>
                <a:t>Buildings</a:t>
              </a:r>
              <a:endParaRPr lang="en-GB" sz="1800"/>
            </a:p>
          </p:txBody>
        </p:sp>
        <p:cxnSp>
          <p:nvCxnSpPr>
            <p:cNvPr id="23" name="Connector 22"/>
            <p:cNvCxnSpPr/>
            <p:nvPr/>
          </p:nvCxnSpPr>
          <p:spPr>
            <a:xfrm>
              <a:off x="1115568" y="3721607"/>
              <a:ext cx="2560319" cy="0"/>
            </a:xfrm>
            <a:prstGeom prst="line">
              <a:avLst/>
            </a:prstGeom>
            <a:ln w="12700">
              <a:solidFill>
                <a:srgbClr val="4A515B"/>
              </a:solidFill>
            </a:ln>
          </p:spPr>
        </p:cxnSp>
        <p:sp>
          <p:nvSpPr>
            <p:cNvPr id="24" name="Rounded Rectangle 23"/>
            <p:cNvSpPr/>
            <p:nvPr/>
          </p:nvSpPr>
          <p:spPr>
            <a:xfrm>
              <a:off x="1197864" y="3904487"/>
              <a:ext cx="475488" cy="384048"/>
            </a:xfrm>
            <a:prstGeom prst="roundRect">
              <a:avLst>
                <a:gd name="adj" fmla="val 7142"/>
              </a:avLst>
            </a:prstGeom>
            <a:solidFill>
              <a:srgbClr val="9AA0A6"/>
            </a:solidFill>
            <a:ln>
              <a:noFill/>
            </a:ln>
          </p:spPr>
          <p:txBody>
            <a:bodyPr rtlCol="0" anchor="ctr"/>
            <a:lstStyle/>
            <a:p>
              <a:pPr algn="ctr"/>
              <a:endParaRPr/>
            </a:p>
          </p:txBody>
        </p:sp>
        <p:sp>
          <p:nvSpPr>
            <p:cNvPr id="25" name="Rectangle 24"/>
            <p:cNvSpPr/>
            <p:nvPr/>
          </p:nvSpPr>
          <p:spPr>
            <a:xfrm>
              <a:off x="1417320" y="3904487"/>
              <a:ext cx="36576" cy="384048"/>
            </a:xfrm>
            <a:prstGeom prst="rect">
              <a:avLst/>
            </a:prstGeom>
            <a:solidFill>
              <a:srgbClr val="2B2F36"/>
            </a:solidFill>
            <a:ln>
              <a:noFill/>
            </a:ln>
          </p:spPr>
          <p:txBody>
            <a:bodyPr rtlCol="0" anchor="ctr"/>
            <a:lstStyle/>
            <a:p>
              <a:pPr algn="ctr"/>
              <a:endParaRPr/>
            </a:p>
          </p:txBody>
        </p:sp>
        <p:sp>
          <p:nvSpPr>
            <p:cNvPr id="26" name="Rectangle 25"/>
            <p:cNvSpPr/>
            <p:nvPr/>
          </p:nvSpPr>
          <p:spPr>
            <a:xfrm>
              <a:off x="1252728" y="3995927"/>
              <a:ext cx="128016" cy="36576"/>
            </a:xfrm>
            <a:prstGeom prst="rect">
              <a:avLst/>
            </a:prstGeom>
            <a:solidFill>
              <a:srgbClr val="2B2F36"/>
            </a:solidFill>
            <a:ln>
              <a:noFill/>
            </a:ln>
          </p:spPr>
          <p:txBody>
            <a:bodyPr rtlCol="0" anchor="ctr"/>
            <a:lstStyle/>
            <a:p>
              <a:pPr algn="ctr"/>
              <a:endParaRPr/>
            </a:p>
          </p:txBody>
        </p:sp>
        <p:sp>
          <p:nvSpPr>
            <p:cNvPr id="27" name="Rectangle 26"/>
            <p:cNvSpPr/>
            <p:nvPr/>
          </p:nvSpPr>
          <p:spPr>
            <a:xfrm>
              <a:off x="1490472" y="3995927"/>
              <a:ext cx="128016" cy="36576"/>
            </a:xfrm>
            <a:prstGeom prst="rect">
              <a:avLst/>
            </a:prstGeom>
            <a:solidFill>
              <a:srgbClr val="2B2F36"/>
            </a:solidFill>
            <a:ln>
              <a:noFill/>
            </a:ln>
          </p:spPr>
          <p:txBody>
            <a:bodyPr rtlCol="0" anchor="ctr"/>
            <a:lstStyle/>
            <a:p>
              <a:pPr algn="ctr"/>
              <a:endParaRPr/>
            </a:p>
          </p:txBody>
        </p:sp>
        <p:sp>
          <p:nvSpPr>
            <p:cNvPr id="28" name="Rectangle 27"/>
            <p:cNvSpPr/>
            <p:nvPr/>
          </p:nvSpPr>
          <p:spPr>
            <a:xfrm>
              <a:off x="1252728" y="4105655"/>
              <a:ext cx="128016" cy="36576"/>
            </a:xfrm>
            <a:prstGeom prst="rect">
              <a:avLst/>
            </a:prstGeom>
            <a:solidFill>
              <a:srgbClr val="2B2F36"/>
            </a:solidFill>
            <a:ln>
              <a:noFill/>
            </a:ln>
          </p:spPr>
          <p:txBody>
            <a:bodyPr rtlCol="0" anchor="ctr"/>
            <a:lstStyle/>
            <a:p>
              <a:pPr algn="ctr"/>
              <a:endParaRPr/>
            </a:p>
          </p:txBody>
        </p:sp>
        <p:sp>
          <p:nvSpPr>
            <p:cNvPr id="29" name="Rectangle 28"/>
            <p:cNvSpPr/>
            <p:nvPr/>
          </p:nvSpPr>
          <p:spPr>
            <a:xfrm>
              <a:off x="1490472" y="4105655"/>
              <a:ext cx="128016" cy="36576"/>
            </a:xfrm>
            <a:prstGeom prst="rect">
              <a:avLst/>
            </a:prstGeom>
            <a:solidFill>
              <a:srgbClr val="2B2F36"/>
            </a:solidFill>
            <a:ln>
              <a:noFill/>
            </a:ln>
          </p:spPr>
          <p:txBody>
            <a:bodyPr rtlCol="0" anchor="ctr"/>
            <a:lstStyle/>
            <a:p>
              <a:pPr algn="ctr"/>
              <a:endParaRPr/>
            </a:p>
          </p:txBody>
        </p:sp>
        <p:sp>
          <p:nvSpPr>
            <p:cNvPr id="30" name="TextBox 29"/>
            <p:cNvSpPr txBox="1"/>
            <p:nvPr/>
          </p:nvSpPr>
          <p:spPr>
            <a:xfrm>
              <a:off x="1984248" y="3831335"/>
              <a:ext cx="1828800" cy="530352"/>
            </a:xfrm>
            <a:prstGeom prst="rect">
              <a:avLst/>
            </a:prstGeom>
            <a:noFill/>
          </p:spPr>
          <p:txBody>
            <a:bodyPr wrap="square" lIns="0" tIns="0" rIns="0" bIns="0" anchor="ctr">
              <a:noAutofit/>
            </a:bodyPr>
            <a:lstStyle/>
            <a:p>
              <a:pPr algn="l"/>
              <a:r>
                <a:rPr lang="en-GB" sz="1800" b="1" i="0">
                  <a:solidFill>
                    <a:srgbClr val="F2F2F2"/>
                  </a:solidFill>
                  <a:latin typeface="Arial"/>
                </a:rPr>
                <a:t>History</a:t>
              </a:r>
              <a:endParaRPr lang="en-GB" sz="1800"/>
            </a:p>
          </p:txBody>
        </p:sp>
      </p:grpSp>
      <p:grpSp>
        <p:nvGrpSpPr>
          <p:cNvPr id="31" name="Region B pack" descr="Region B pack: a dashed box listing Engines, Buildings and History. Packs come after launch."/>
          <p:cNvGrpSpPr/>
          <p:nvPr/>
        </p:nvGrpSpPr>
        <p:grpSpPr>
          <a:xfrm>
            <a:off x="4398264" y="1463040"/>
            <a:ext cx="3401568" cy="3200400"/>
            <a:chOff x="4398264" y="1463040"/>
            <a:chExt cx="3401568" cy="3200400"/>
          </a:xfrm>
        </p:grpSpPr>
        <p:sp>
          <p:nvSpPr>
            <p:cNvPr id="32" name="Rounded Rectangle 31"/>
            <p:cNvSpPr/>
            <p:nvPr/>
          </p:nvSpPr>
          <p:spPr>
            <a:xfrm>
              <a:off x="4453128" y="1463040"/>
              <a:ext cx="3291840" cy="3200400"/>
            </a:xfrm>
            <a:prstGeom prst="roundRect">
              <a:avLst>
                <a:gd name="adj" fmla="val 2285"/>
              </a:avLst>
            </a:prstGeom>
            <a:solidFill>
              <a:srgbClr val="2B2F36"/>
            </a:solidFill>
            <a:ln w="25400">
              <a:solidFill>
                <a:srgbClr val="F28C28"/>
              </a:solidFill>
              <a:prstDash val="dash"/>
            </a:ln>
          </p:spPr>
          <p:txBody>
            <a:bodyPr rtlCol="0" anchor="ctr"/>
            <a:lstStyle/>
            <a:p>
              <a:pPr algn="ctr"/>
              <a:endParaRPr/>
            </a:p>
          </p:txBody>
        </p:sp>
        <p:sp>
          <p:nvSpPr>
            <p:cNvPr id="33" name="Rounded Rectangle 32"/>
            <p:cNvSpPr/>
            <p:nvPr/>
          </p:nvSpPr>
          <p:spPr>
            <a:xfrm>
              <a:off x="4398264" y="1463040"/>
              <a:ext cx="3401568" cy="640080"/>
            </a:xfrm>
            <a:prstGeom prst="roundRect">
              <a:avLst>
                <a:gd name="adj" fmla="val 11428"/>
              </a:avLst>
            </a:prstGeom>
            <a:solidFill>
              <a:srgbClr val="F28C28"/>
            </a:solidFill>
            <a:ln>
              <a:noFill/>
            </a:ln>
          </p:spPr>
          <p:txBody>
            <a:bodyPr wrap="square" rtlCol="0" anchor="ctr">
              <a:noAutofit/>
            </a:bodyPr>
            <a:lstStyle/>
            <a:p>
              <a:pPr algn="ctr"/>
              <a:r>
                <a:rPr lang="en-GB" sz="2000" b="1" i="0">
                  <a:solidFill>
                    <a:srgbClr val="101418"/>
                  </a:solidFill>
                  <a:latin typeface="Arial"/>
                </a:rPr>
                <a:t>Region B pack</a:t>
              </a:r>
              <a:endParaRPr lang="en-GB" sz="2000"/>
            </a:p>
          </p:txBody>
        </p:sp>
        <p:sp>
          <p:nvSpPr>
            <p:cNvPr id="34" name="Rectangle 33"/>
            <p:cNvSpPr/>
            <p:nvPr/>
          </p:nvSpPr>
          <p:spPr>
            <a:xfrm>
              <a:off x="4864608" y="2642981"/>
              <a:ext cx="537667" cy="38404"/>
            </a:xfrm>
            <a:prstGeom prst="rect">
              <a:avLst/>
            </a:prstGeom>
            <a:solidFill>
              <a:srgbClr val="1B1D21"/>
            </a:solidFill>
            <a:ln w="12700">
              <a:solidFill>
                <a:srgbClr val="9AA0A6"/>
              </a:solidFill>
            </a:ln>
          </p:spPr>
          <p:txBody>
            <a:bodyPr rtlCol="0" anchor="ctr"/>
            <a:lstStyle/>
            <a:p>
              <a:pPr algn="ctr"/>
              <a:endParaRPr/>
            </a:p>
          </p:txBody>
        </p:sp>
        <p:sp>
          <p:nvSpPr>
            <p:cNvPr id="35" name="Oval 34"/>
            <p:cNvSpPr/>
            <p:nvPr/>
          </p:nvSpPr>
          <p:spPr>
            <a:xfrm>
              <a:off x="4914534" y="2673705"/>
              <a:ext cx="115214" cy="115214"/>
            </a:xfrm>
            <a:prstGeom prst="ellipse">
              <a:avLst/>
            </a:prstGeom>
            <a:solidFill>
              <a:srgbClr val="343A43"/>
            </a:solidFill>
            <a:ln w="15875">
              <a:solidFill>
                <a:srgbClr val="9AA0A6"/>
              </a:solidFill>
            </a:ln>
          </p:spPr>
          <p:txBody>
            <a:bodyPr rtlCol="0" anchor="ctr"/>
            <a:lstStyle/>
            <a:p>
              <a:pPr algn="ctr"/>
              <a:endParaRPr/>
            </a:p>
          </p:txBody>
        </p:sp>
        <p:sp>
          <p:nvSpPr>
            <p:cNvPr id="36" name="Oval 35"/>
            <p:cNvSpPr/>
            <p:nvPr/>
          </p:nvSpPr>
          <p:spPr>
            <a:xfrm>
              <a:off x="5298582" y="2673705"/>
              <a:ext cx="115214" cy="115214"/>
            </a:xfrm>
            <a:prstGeom prst="ellipse">
              <a:avLst/>
            </a:prstGeom>
            <a:solidFill>
              <a:srgbClr val="343A43"/>
            </a:solidFill>
            <a:ln w="15875">
              <a:solidFill>
                <a:srgbClr val="9AA0A6"/>
              </a:solidFill>
            </a:ln>
          </p:spPr>
          <p:txBody>
            <a:bodyPr rtlCol="0" anchor="ctr"/>
            <a:lstStyle/>
            <a:p>
              <a:pPr algn="ctr"/>
              <a:endParaRPr/>
            </a:p>
          </p:txBody>
        </p:sp>
        <p:sp>
          <p:nvSpPr>
            <p:cNvPr id="37" name="Rounded Rectangle 36"/>
            <p:cNvSpPr/>
            <p:nvPr/>
          </p:nvSpPr>
          <p:spPr>
            <a:xfrm>
              <a:off x="5095036" y="2497043"/>
              <a:ext cx="307238" cy="145938"/>
            </a:xfrm>
            <a:prstGeom prst="roundRect">
              <a:avLst>
                <a:gd name="adj" fmla="val 37593"/>
              </a:avLst>
            </a:prstGeom>
            <a:solidFill>
              <a:srgbClr val="9AA0A6"/>
            </a:solidFill>
            <a:ln>
              <a:noFill/>
            </a:ln>
          </p:spPr>
          <p:txBody>
            <a:bodyPr rtlCol="0" anchor="ctr"/>
            <a:lstStyle/>
            <a:p>
              <a:pPr algn="ctr"/>
              <a:endParaRPr/>
            </a:p>
          </p:txBody>
        </p:sp>
        <p:sp>
          <p:nvSpPr>
            <p:cNvPr id="38" name="Rectangle 37"/>
            <p:cNvSpPr/>
            <p:nvPr/>
          </p:nvSpPr>
          <p:spPr>
            <a:xfrm>
              <a:off x="5333146" y="2497043"/>
              <a:ext cx="69128" cy="145938"/>
            </a:xfrm>
            <a:prstGeom prst="rect">
              <a:avLst/>
            </a:prstGeom>
            <a:solidFill>
              <a:srgbClr val="1B1D21"/>
            </a:solidFill>
            <a:ln w="12700">
              <a:solidFill>
                <a:srgbClr val="9AA0A6"/>
              </a:solidFill>
            </a:ln>
          </p:spPr>
          <p:txBody>
            <a:bodyPr rtlCol="0" anchor="ctr"/>
            <a:lstStyle/>
            <a:p>
              <a:pPr algn="ctr"/>
              <a:endParaRPr/>
            </a:p>
          </p:txBody>
        </p:sp>
        <p:sp>
          <p:nvSpPr>
            <p:cNvPr id="39" name="Rectangle 38"/>
            <p:cNvSpPr/>
            <p:nvPr/>
          </p:nvSpPr>
          <p:spPr>
            <a:xfrm>
              <a:off x="5348508" y="2427914"/>
              <a:ext cx="38404" cy="76809"/>
            </a:xfrm>
            <a:prstGeom prst="rect">
              <a:avLst/>
            </a:prstGeom>
            <a:solidFill>
              <a:srgbClr val="1B1D21"/>
            </a:solidFill>
            <a:ln w="12700">
              <a:solidFill>
                <a:srgbClr val="9AA0A6"/>
              </a:solidFill>
            </a:ln>
          </p:spPr>
          <p:txBody>
            <a:bodyPr rtlCol="0" anchor="ctr"/>
            <a:lstStyle/>
            <a:p>
              <a:pPr algn="ctr"/>
              <a:endParaRPr/>
            </a:p>
          </p:txBody>
        </p:sp>
        <p:sp>
          <p:nvSpPr>
            <p:cNvPr id="40" name="Rectangle 39"/>
            <p:cNvSpPr/>
            <p:nvPr/>
          </p:nvSpPr>
          <p:spPr>
            <a:xfrm>
              <a:off x="5333146" y="2412552"/>
              <a:ext cx="69128" cy="23042"/>
            </a:xfrm>
            <a:prstGeom prst="rect">
              <a:avLst/>
            </a:prstGeom>
            <a:solidFill>
              <a:srgbClr val="1B1D21"/>
            </a:solidFill>
            <a:ln w="12700">
              <a:solidFill>
                <a:srgbClr val="9AA0A6"/>
              </a:solidFill>
            </a:ln>
          </p:spPr>
          <p:txBody>
            <a:bodyPr rtlCol="0" anchor="ctr"/>
            <a:lstStyle/>
            <a:p>
              <a:pPr algn="ctr"/>
              <a:endParaRPr/>
            </a:p>
          </p:txBody>
        </p:sp>
        <p:sp>
          <p:nvSpPr>
            <p:cNvPr id="41" name="Rectangle 40"/>
            <p:cNvSpPr/>
            <p:nvPr/>
          </p:nvSpPr>
          <p:spPr>
            <a:xfrm>
              <a:off x="4864608" y="2443276"/>
              <a:ext cx="230428" cy="207385"/>
            </a:xfrm>
            <a:prstGeom prst="rect">
              <a:avLst/>
            </a:prstGeom>
            <a:solidFill>
              <a:srgbClr val="9AA0A6"/>
            </a:solidFill>
            <a:ln>
              <a:noFill/>
            </a:ln>
          </p:spPr>
          <p:txBody>
            <a:bodyPr rtlCol="0" anchor="ctr"/>
            <a:lstStyle/>
            <a:p>
              <a:pPr algn="ctr"/>
              <a:endParaRPr/>
            </a:p>
          </p:txBody>
        </p:sp>
        <p:sp>
          <p:nvSpPr>
            <p:cNvPr id="42" name="Rectangle 41"/>
            <p:cNvSpPr/>
            <p:nvPr/>
          </p:nvSpPr>
          <p:spPr>
            <a:xfrm>
              <a:off x="4853086" y="2424074"/>
              <a:ext cx="253471" cy="26883"/>
            </a:xfrm>
            <a:prstGeom prst="rect">
              <a:avLst/>
            </a:prstGeom>
            <a:solidFill>
              <a:srgbClr val="1B1D21"/>
            </a:solidFill>
            <a:ln w="12700">
              <a:solidFill>
                <a:srgbClr val="9AA0A6"/>
              </a:solidFill>
            </a:ln>
          </p:spPr>
          <p:txBody>
            <a:bodyPr rtlCol="0" anchor="ctr"/>
            <a:lstStyle/>
            <a:p>
              <a:pPr algn="ctr"/>
              <a:endParaRPr/>
            </a:p>
          </p:txBody>
        </p:sp>
        <p:sp>
          <p:nvSpPr>
            <p:cNvPr id="43" name="Rectangle 42"/>
            <p:cNvSpPr/>
            <p:nvPr/>
          </p:nvSpPr>
          <p:spPr>
            <a:xfrm>
              <a:off x="4918374" y="2489362"/>
              <a:ext cx="99852" cy="76809"/>
            </a:xfrm>
            <a:prstGeom prst="rect">
              <a:avLst/>
            </a:prstGeom>
            <a:solidFill>
              <a:srgbClr val="1B1D21"/>
            </a:solidFill>
            <a:ln>
              <a:noFill/>
            </a:ln>
          </p:spPr>
          <p:txBody>
            <a:bodyPr rtlCol="0" anchor="ctr"/>
            <a:lstStyle/>
            <a:p>
              <a:pPr algn="ctr"/>
              <a:endParaRPr/>
            </a:p>
          </p:txBody>
        </p:sp>
        <p:sp>
          <p:nvSpPr>
            <p:cNvPr id="44" name="TextBox 43"/>
            <p:cNvSpPr txBox="1"/>
            <p:nvPr/>
          </p:nvSpPr>
          <p:spPr>
            <a:xfrm>
              <a:off x="5687568" y="2331720"/>
              <a:ext cx="1828800" cy="530352"/>
            </a:xfrm>
            <a:prstGeom prst="rect">
              <a:avLst/>
            </a:prstGeom>
            <a:noFill/>
          </p:spPr>
          <p:txBody>
            <a:bodyPr wrap="square" lIns="0" tIns="0" rIns="0" bIns="0" anchor="ctr">
              <a:noAutofit/>
            </a:bodyPr>
            <a:lstStyle/>
            <a:p>
              <a:pPr algn="l"/>
              <a:r>
                <a:rPr lang="en-GB" sz="1800" b="1" i="0">
                  <a:solidFill>
                    <a:srgbClr val="F2F2F2"/>
                  </a:solidFill>
                  <a:latin typeface="Arial"/>
                </a:rPr>
                <a:t>Engines</a:t>
              </a:r>
              <a:endParaRPr lang="en-GB" sz="1800"/>
            </a:p>
          </p:txBody>
        </p:sp>
        <p:cxnSp>
          <p:nvCxnSpPr>
            <p:cNvPr id="45" name="Connector 44"/>
            <p:cNvCxnSpPr/>
            <p:nvPr/>
          </p:nvCxnSpPr>
          <p:spPr>
            <a:xfrm>
              <a:off x="4818888" y="2971800"/>
              <a:ext cx="2560320" cy="0"/>
            </a:xfrm>
            <a:prstGeom prst="line">
              <a:avLst/>
            </a:prstGeom>
            <a:ln w="12700">
              <a:solidFill>
                <a:srgbClr val="4A515B"/>
              </a:solidFill>
            </a:ln>
          </p:spPr>
        </p:cxnSp>
        <p:sp>
          <p:nvSpPr>
            <p:cNvPr id="46" name="Rectangle 45"/>
            <p:cNvSpPr/>
            <p:nvPr/>
          </p:nvSpPr>
          <p:spPr>
            <a:xfrm>
              <a:off x="4910328" y="3319272"/>
              <a:ext cx="457200" cy="237744"/>
            </a:xfrm>
            <a:prstGeom prst="rect">
              <a:avLst/>
            </a:prstGeom>
            <a:solidFill>
              <a:srgbClr val="9AA0A6"/>
            </a:solidFill>
            <a:ln>
              <a:noFill/>
            </a:ln>
          </p:spPr>
          <p:txBody>
            <a:bodyPr rtlCol="0" anchor="ctr"/>
            <a:lstStyle/>
            <a:p>
              <a:pPr algn="ctr"/>
              <a:endParaRPr/>
            </a:p>
          </p:txBody>
        </p:sp>
        <p:sp>
          <p:nvSpPr>
            <p:cNvPr id="47" name="Freeform 46"/>
            <p:cNvSpPr/>
            <p:nvPr/>
          </p:nvSpPr>
          <p:spPr>
            <a:xfrm>
              <a:off x="4864608" y="3154679"/>
              <a:ext cx="548640" cy="164593"/>
            </a:xfrm>
            <a:custGeom>
              <a:avLst/>
              <a:gdLst/>
              <a:ahLst/>
              <a:cxnLst/>
              <a:rect l="l" t="t" r="r" b="b"/>
              <a:pathLst>
                <a:path w="548640" h="164593">
                  <a:moveTo>
                    <a:pt x="0" y="164593"/>
                  </a:moveTo>
                  <a:lnTo>
                    <a:pt x="274320" y="0"/>
                  </a:lnTo>
                  <a:lnTo>
                    <a:pt x="548640" y="164593"/>
                  </a:lnTo>
                  <a:close/>
                </a:path>
              </a:pathLst>
            </a:custGeom>
            <a:solidFill>
              <a:srgbClr val="9AA0A6"/>
            </a:solidFill>
            <a:ln>
              <a:noFill/>
            </a:ln>
          </p:spPr>
          <p:txBody>
            <a:bodyPr rtlCol="0" anchor="ctr"/>
            <a:lstStyle/>
            <a:p>
              <a:pPr algn="ctr"/>
              <a:endParaRPr/>
            </a:p>
          </p:txBody>
        </p:sp>
        <p:sp>
          <p:nvSpPr>
            <p:cNvPr id="48" name="Rectangle 47"/>
            <p:cNvSpPr/>
            <p:nvPr/>
          </p:nvSpPr>
          <p:spPr>
            <a:xfrm>
              <a:off x="5093208" y="3410711"/>
              <a:ext cx="91440" cy="146304"/>
            </a:xfrm>
            <a:prstGeom prst="rect">
              <a:avLst/>
            </a:prstGeom>
            <a:solidFill>
              <a:srgbClr val="2B2F36"/>
            </a:solidFill>
            <a:ln>
              <a:noFill/>
            </a:ln>
          </p:spPr>
          <p:txBody>
            <a:bodyPr rtlCol="0" anchor="ctr"/>
            <a:lstStyle/>
            <a:p>
              <a:pPr algn="ctr"/>
              <a:endParaRPr/>
            </a:p>
          </p:txBody>
        </p:sp>
        <p:sp>
          <p:nvSpPr>
            <p:cNvPr id="49" name="TextBox 48"/>
            <p:cNvSpPr txBox="1"/>
            <p:nvPr/>
          </p:nvSpPr>
          <p:spPr>
            <a:xfrm>
              <a:off x="5687568" y="3081527"/>
              <a:ext cx="1828800" cy="530352"/>
            </a:xfrm>
            <a:prstGeom prst="rect">
              <a:avLst/>
            </a:prstGeom>
            <a:noFill/>
          </p:spPr>
          <p:txBody>
            <a:bodyPr wrap="square" lIns="0" tIns="0" rIns="0" bIns="0" anchor="ctr">
              <a:noAutofit/>
            </a:bodyPr>
            <a:lstStyle/>
            <a:p>
              <a:pPr algn="l"/>
              <a:r>
                <a:rPr lang="en-GB" sz="1800" b="1" i="0">
                  <a:solidFill>
                    <a:srgbClr val="F2F2F2"/>
                  </a:solidFill>
                  <a:latin typeface="Arial"/>
                </a:rPr>
                <a:t>Buildings</a:t>
              </a:r>
              <a:endParaRPr lang="en-GB" sz="1800"/>
            </a:p>
          </p:txBody>
        </p:sp>
        <p:cxnSp>
          <p:nvCxnSpPr>
            <p:cNvPr id="50" name="Connector 49"/>
            <p:cNvCxnSpPr/>
            <p:nvPr/>
          </p:nvCxnSpPr>
          <p:spPr>
            <a:xfrm>
              <a:off x="4818888" y="3721607"/>
              <a:ext cx="2560320" cy="0"/>
            </a:xfrm>
            <a:prstGeom prst="line">
              <a:avLst/>
            </a:prstGeom>
            <a:ln w="12700">
              <a:solidFill>
                <a:srgbClr val="4A515B"/>
              </a:solidFill>
            </a:ln>
          </p:spPr>
        </p:cxnSp>
        <p:sp>
          <p:nvSpPr>
            <p:cNvPr id="51" name="Rounded Rectangle 50"/>
            <p:cNvSpPr/>
            <p:nvPr/>
          </p:nvSpPr>
          <p:spPr>
            <a:xfrm>
              <a:off x="4901184" y="3904487"/>
              <a:ext cx="475488" cy="384048"/>
            </a:xfrm>
            <a:prstGeom prst="roundRect">
              <a:avLst>
                <a:gd name="adj" fmla="val 7142"/>
              </a:avLst>
            </a:prstGeom>
            <a:solidFill>
              <a:srgbClr val="9AA0A6"/>
            </a:solidFill>
            <a:ln>
              <a:noFill/>
            </a:ln>
          </p:spPr>
          <p:txBody>
            <a:bodyPr rtlCol="0" anchor="ctr"/>
            <a:lstStyle/>
            <a:p>
              <a:pPr algn="ctr"/>
              <a:endParaRPr/>
            </a:p>
          </p:txBody>
        </p:sp>
        <p:sp>
          <p:nvSpPr>
            <p:cNvPr id="52" name="Rectangle 51"/>
            <p:cNvSpPr/>
            <p:nvPr/>
          </p:nvSpPr>
          <p:spPr>
            <a:xfrm>
              <a:off x="5120640" y="3904487"/>
              <a:ext cx="36576" cy="384048"/>
            </a:xfrm>
            <a:prstGeom prst="rect">
              <a:avLst/>
            </a:prstGeom>
            <a:solidFill>
              <a:srgbClr val="2B2F36"/>
            </a:solidFill>
            <a:ln>
              <a:noFill/>
            </a:ln>
          </p:spPr>
          <p:txBody>
            <a:bodyPr rtlCol="0" anchor="ctr"/>
            <a:lstStyle/>
            <a:p>
              <a:pPr algn="ctr"/>
              <a:endParaRPr/>
            </a:p>
          </p:txBody>
        </p:sp>
        <p:sp>
          <p:nvSpPr>
            <p:cNvPr id="53" name="Rectangle 52"/>
            <p:cNvSpPr/>
            <p:nvPr/>
          </p:nvSpPr>
          <p:spPr>
            <a:xfrm>
              <a:off x="4956048" y="3995927"/>
              <a:ext cx="128016" cy="36576"/>
            </a:xfrm>
            <a:prstGeom prst="rect">
              <a:avLst/>
            </a:prstGeom>
            <a:solidFill>
              <a:srgbClr val="2B2F36"/>
            </a:solidFill>
            <a:ln>
              <a:noFill/>
            </a:ln>
          </p:spPr>
          <p:txBody>
            <a:bodyPr rtlCol="0" anchor="ctr"/>
            <a:lstStyle/>
            <a:p>
              <a:pPr algn="ctr"/>
              <a:endParaRPr/>
            </a:p>
          </p:txBody>
        </p:sp>
        <p:sp>
          <p:nvSpPr>
            <p:cNvPr id="54" name="Rectangle 53"/>
            <p:cNvSpPr/>
            <p:nvPr/>
          </p:nvSpPr>
          <p:spPr>
            <a:xfrm>
              <a:off x="5193792" y="3995927"/>
              <a:ext cx="128016" cy="36576"/>
            </a:xfrm>
            <a:prstGeom prst="rect">
              <a:avLst/>
            </a:prstGeom>
            <a:solidFill>
              <a:srgbClr val="2B2F36"/>
            </a:solidFill>
            <a:ln>
              <a:noFill/>
            </a:ln>
          </p:spPr>
          <p:txBody>
            <a:bodyPr rtlCol="0" anchor="ctr"/>
            <a:lstStyle/>
            <a:p>
              <a:pPr algn="ctr"/>
              <a:endParaRPr/>
            </a:p>
          </p:txBody>
        </p:sp>
        <p:sp>
          <p:nvSpPr>
            <p:cNvPr id="55" name="Rectangle 54"/>
            <p:cNvSpPr/>
            <p:nvPr/>
          </p:nvSpPr>
          <p:spPr>
            <a:xfrm>
              <a:off x="4956048" y="4105655"/>
              <a:ext cx="128016" cy="36576"/>
            </a:xfrm>
            <a:prstGeom prst="rect">
              <a:avLst/>
            </a:prstGeom>
            <a:solidFill>
              <a:srgbClr val="2B2F36"/>
            </a:solidFill>
            <a:ln>
              <a:noFill/>
            </a:ln>
          </p:spPr>
          <p:txBody>
            <a:bodyPr rtlCol="0" anchor="ctr"/>
            <a:lstStyle/>
            <a:p>
              <a:pPr algn="ctr"/>
              <a:endParaRPr/>
            </a:p>
          </p:txBody>
        </p:sp>
        <p:sp>
          <p:nvSpPr>
            <p:cNvPr id="56" name="Rectangle 55"/>
            <p:cNvSpPr/>
            <p:nvPr/>
          </p:nvSpPr>
          <p:spPr>
            <a:xfrm>
              <a:off x="5193792" y="4105655"/>
              <a:ext cx="128016" cy="36576"/>
            </a:xfrm>
            <a:prstGeom prst="rect">
              <a:avLst/>
            </a:prstGeom>
            <a:solidFill>
              <a:srgbClr val="2B2F36"/>
            </a:solidFill>
            <a:ln>
              <a:noFill/>
            </a:ln>
          </p:spPr>
          <p:txBody>
            <a:bodyPr rtlCol="0" anchor="ctr"/>
            <a:lstStyle/>
            <a:p>
              <a:pPr algn="ctr"/>
              <a:endParaRPr/>
            </a:p>
          </p:txBody>
        </p:sp>
        <p:sp>
          <p:nvSpPr>
            <p:cNvPr id="57" name="TextBox 56"/>
            <p:cNvSpPr txBox="1"/>
            <p:nvPr/>
          </p:nvSpPr>
          <p:spPr>
            <a:xfrm>
              <a:off x="5687568" y="3831335"/>
              <a:ext cx="1828800" cy="530352"/>
            </a:xfrm>
            <a:prstGeom prst="rect">
              <a:avLst/>
            </a:prstGeom>
            <a:noFill/>
          </p:spPr>
          <p:txBody>
            <a:bodyPr wrap="square" lIns="0" tIns="0" rIns="0" bIns="0" anchor="ctr">
              <a:noAutofit/>
            </a:bodyPr>
            <a:lstStyle/>
            <a:p>
              <a:pPr algn="l"/>
              <a:r>
                <a:rPr lang="en-GB" sz="1800" b="1" i="0">
                  <a:solidFill>
                    <a:srgbClr val="F2F2F2"/>
                  </a:solidFill>
                  <a:latin typeface="Arial"/>
                </a:rPr>
                <a:t>History</a:t>
              </a:r>
              <a:endParaRPr lang="en-GB" sz="1800"/>
            </a:p>
          </p:txBody>
        </p:sp>
      </p:grpSp>
      <p:grpSp>
        <p:nvGrpSpPr>
          <p:cNvPr id="58" name="Region C pack" descr="Region C pack: a dashed box listing Engines, Buildings and History. Packs come after launch."/>
          <p:cNvGrpSpPr/>
          <p:nvPr/>
        </p:nvGrpSpPr>
        <p:grpSpPr>
          <a:xfrm>
            <a:off x="8101583" y="1463040"/>
            <a:ext cx="3401568" cy="3200400"/>
            <a:chOff x="8101583" y="1463040"/>
            <a:chExt cx="3401568" cy="3200400"/>
          </a:xfrm>
        </p:grpSpPr>
        <p:sp>
          <p:nvSpPr>
            <p:cNvPr id="59" name="Rounded Rectangle 58"/>
            <p:cNvSpPr/>
            <p:nvPr/>
          </p:nvSpPr>
          <p:spPr>
            <a:xfrm>
              <a:off x="8156448" y="1463040"/>
              <a:ext cx="3291840" cy="3200400"/>
            </a:xfrm>
            <a:prstGeom prst="roundRect">
              <a:avLst>
                <a:gd name="adj" fmla="val 2285"/>
              </a:avLst>
            </a:prstGeom>
            <a:solidFill>
              <a:srgbClr val="2B2F36"/>
            </a:solidFill>
            <a:ln w="25400">
              <a:solidFill>
                <a:srgbClr val="F28C28"/>
              </a:solidFill>
              <a:prstDash val="dash"/>
            </a:ln>
          </p:spPr>
          <p:txBody>
            <a:bodyPr rtlCol="0" anchor="ctr"/>
            <a:lstStyle/>
            <a:p>
              <a:pPr algn="ctr"/>
              <a:endParaRPr/>
            </a:p>
          </p:txBody>
        </p:sp>
        <p:sp>
          <p:nvSpPr>
            <p:cNvPr id="60" name="Rounded Rectangle 59"/>
            <p:cNvSpPr/>
            <p:nvPr/>
          </p:nvSpPr>
          <p:spPr>
            <a:xfrm>
              <a:off x="8101583" y="1463040"/>
              <a:ext cx="3401568" cy="640080"/>
            </a:xfrm>
            <a:prstGeom prst="roundRect">
              <a:avLst>
                <a:gd name="adj" fmla="val 11428"/>
              </a:avLst>
            </a:prstGeom>
            <a:solidFill>
              <a:srgbClr val="F28C28"/>
            </a:solidFill>
            <a:ln>
              <a:noFill/>
            </a:ln>
          </p:spPr>
          <p:txBody>
            <a:bodyPr wrap="square" rtlCol="0" anchor="ctr">
              <a:noAutofit/>
            </a:bodyPr>
            <a:lstStyle/>
            <a:p>
              <a:pPr algn="ctr"/>
              <a:r>
                <a:rPr lang="en-GB" sz="2000" b="1" i="0">
                  <a:solidFill>
                    <a:srgbClr val="101418"/>
                  </a:solidFill>
                  <a:latin typeface="Arial"/>
                </a:rPr>
                <a:t>Region C pack</a:t>
              </a:r>
              <a:endParaRPr lang="en-GB" sz="2000"/>
            </a:p>
          </p:txBody>
        </p:sp>
        <p:sp>
          <p:nvSpPr>
            <p:cNvPr id="61" name="Rectangle 60"/>
            <p:cNvSpPr/>
            <p:nvPr/>
          </p:nvSpPr>
          <p:spPr>
            <a:xfrm>
              <a:off x="8567928" y="2642981"/>
              <a:ext cx="537667" cy="38404"/>
            </a:xfrm>
            <a:prstGeom prst="rect">
              <a:avLst/>
            </a:prstGeom>
            <a:solidFill>
              <a:srgbClr val="1B1D21"/>
            </a:solidFill>
            <a:ln w="12700">
              <a:solidFill>
                <a:srgbClr val="9AA0A6"/>
              </a:solidFill>
            </a:ln>
          </p:spPr>
          <p:txBody>
            <a:bodyPr rtlCol="0" anchor="ctr"/>
            <a:lstStyle/>
            <a:p>
              <a:pPr algn="ctr"/>
              <a:endParaRPr/>
            </a:p>
          </p:txBody>
        </p:sp>
        <p:sp>
          <p:nvSpPr>
            <p:cNvPr id="62" name="Oval 61"/>
            <p:cNvSpPr/>
            <p:nvPr/>
          </p:nvSpPr>
          <p:spPr>
            <a:xfrm>
              <a:off x="8617854" y="2673705"/>
              <a:ext cx="115214" cy="115214"/>
            </a:xfrm>
            <a:prstGeom prst="ellipse">
              <a:avLst/>
            </a:prstGeom>
            <a:solidFill>
              <a:srgbClr val="343A43"/>
            </a:solidFill>
            <a:ln w="15875">
              <a:solidFill>
                <a:srgbClr val="9AA0A6"/>
              </a:solidFill>
            </a:ln>
          </p:spPr>
          <p:txBody>
            <a:bodyPr rtlCol="0" anchor="ctr"/>
            <a:lstStyle/>
            <a:p>
              <a:pPr algn="ctr"/>
              <a:endParaRPr/>
            </a:p>
          </p:txBody>
        </p:sp>
        <p:sp>
          <p:nvSpPr>
            <p:cNvPr id="63" name="Oval 62"/>
            <p:cNvSpPr/>
            <p:nvPr/>
          </p:nvSpPr>
          <p:spPr>
            <a:xfrm>
              <a:off x="9001902" y="2673705"/>
              <a:ext cx="115214" cy="115214"/>
            </a:xfrm>
            <a:prstGeom prst="ellipse">
              <a:avLst/>
            </a:prstGeom>
            <a:solidFill>
              <a:srgbClr val="343A43"/>
            </a:solidFill>
            <a:ln w="15875">
              <a:solidFill>
                <a:srgbClr val="9AA0A6"/>
              </a:solidFill>
            </a:ln>
          </p:spPr>
          <p:txBody>
            <a:bodyPr rtlCol="0" anchor="ctr"/>
            <a:lstStyle/>
            <a:p>
              <a:pPr algn="ctr"/>
              <a:endParaRPr/>
            </a:p>
          </p:txBody>
        </p:sp>
        <p:sp>
          <p:nvSpPr>
            <p:cNvPr id="64" name="Rounded Rectangle 63"/>
            <p:cNvSpPr/>
            <p:nvPr/>
          </p:nvSpPr>
          <p:spPr>
            <a:xfrm>
              <a:off x="8798356" y="2497043"/>
              <a:ext cx="307238" cy="145938"/>
            </a:xfrm>
            <a:prstGeom prst="roundRect">
              <a:avLst>
                <a:gd name="adj" fmla="val 37593"/>
              </a:avLst>
            </a:prstGeom>
            <a:solidFill>
              <a:srgbClr val="9AA0A6"/>
            </a:solidFill>
            <a:ln>
              <a:noFill/>
            </a:ln>
          </p:spPr>
          <p:txBody>
            <a:bodyPr rtlCol="0" anchor="ctr"/>
            <a:lstStyle/>
            <a:p>
              <a:pPr algn="ctr"/>
              <a:endParaRPr/>
            </a:p>
          </p:txBody>
        </p:sp>
        <p:sp>
          <p:nvSpPr>
            <p:cNvPr id="65" name="Rectangle 64"/>
            <p:cNvSpPr/>
            <p:nvPr/>
          </p:nvSpPr>
          <p:spPr>
            <a:xfrm>
              <a:off x="9036466" y="2497043"/>
              <a:ext cx="69128" cy="145938"/>
            </a:xfrm>
            <a:prstGeom prst="rect">
              <a:avLst/>
            </a:prstGeom>
            <a:solidFill>
              <a:srgbClr val="1B1D21"/>
            </a:solidFill>
            <a:ln w="12700">
              <a:solidFill>
                <a:srgbClr val="9AA0A6"/>
              </a:solidFill>
            </a:ln>
          </p:spPr>
          <p:txBody>
            <a:bodyPr rtlCol="0" anchor="ctr"/>
            <a:lstStyle/>
            <a:p>
              <a:pPr algn="ctr"/>
              <a:endParaRPr/>
            </a:p>
          </p:txBody>
        </p:sp>
        <p:sp>
          <p:nvSpPr>
            <p:cNvPr id="66" name="Rectangle 65"/>
            <p:cNvSpPr/>
            <p:nvPr/>
          </p:nvSpPr>
          <p:spPr>
            <a:xfrm>
              <a:off x="9051828" y="2427914"/>
              <a:ext cx="38404" cy="76809"/>
            </a:xfrm>
            <a:prstGeom prst="rect">
              <a:avLst/>
            </a:prstGeom>
            <a:solidFill>
              <a:srgbClr val="1B1D21"/>
            </a:solidFill>
            <a:ln w="12700">
              <a:solidFill>
                <a:srgbClr val="9AA0A6"/>
              </a:solidFill>
            </a:ln>
          </p:spPr>
          <p:txBody>
            <a:bodyPr rtlCol="0" anchor="ctr"/>
            <a:lstStyle/>
            <a:p>
              <a:pPr algn="ctr"/>
              <a:endParaRPr/>
            </a:p>
          </p:txBody>
        </p:sp>
        <p:sp>
          <p:nvSpPr>
            <p:cNvPr id="67" name="Rectangle 66"/>
            <p:cNvSpPr/>
            <p:nvPr/>
          </p:nvSpPr>
          <p:spPr>
            <a:xfrm>
              <a:off x="9036466" y="2412552"/>
              <a:ext cx="69128" cy="23042"/>
            </a:xfrm>
            <a:prstGeom prst="rect">
              <a:avLst/>
            </a:prstGeom>
            <a:solidFill>
              <a:srgbClr val="1B1D21"/>
            </a:solidFill>
            <a:ln w="12700">
              <a:solidFill>
                <a:srgbClr val="9AA0A6"/>
              </a:solidFill>
            </a:ln>
          </p:spPr>
          <p:txBody>
            <a:bodyPr rtlCol="0" anchor="ctr"/>
            <a:lstStyle/>
            <a:p>
              <a:pPr algn="ctr"/>
              <a:endParaRPr/>
            </a:p>
          </p:txBody>
        </p:sp>
        <p:sp>
          <p:nvSpPr>
            <p:cNvPr id="68" name="Rectangle 67"/>
            <p:cNvSpPr/>
            <p:nvPr/>
          </p:nvSpPr>
          <p:spPr>
            <a:xfrm>
              <a:off x="8567928" y="2443276"/>
              <a:ext cx="230428" cy="207385"/>
            </a:xfrm>
            <a:prstGeom prst="rect">
              <a:avLst/>
            </a:prstGeom>
            <a:solidFill>
              <a:srgbClr val="9AA0A6"/>
            </a:solidFill>
            <a:ln>
              <a:noFill/>
            </a:ln>
          </p:spPr>
          <p:txBody>
            <a:bodyPr rtlCol="0" anchor="ctr"/>
            <a:lstStyle/>
            <a:p>
              <a:pPr algn="ctr"/>
              <a:endParaRPr/>
            </a:p>
          </p:txBody>
        </p:sp>
        <p:sp>
          <p:nvSpPr>
            <p:cNvPr id="69" name="Rectangle 68"/>
            <p:cNvSpPr/>
            <p:nvPr/>
          </p:nvSpPr>
          <p:spPr>
            <a:xfrm>
              <a:off x="8556406" y="2424074"/>
              <a:ext cx="253471" cy="26883"/>
            </a:xfrm>
            <a:prstGeom prst="rect">
              <a:avLst/>
            </a:prstGeom>
            <a:solidFill>
              <a:srgbClr val="1B1D21"/>
            </a:solidFill>
            <a:ln w="12700">
              <a:solidFill>
                <a:srgbClr val="9AA0A6"/>
              </a:solidFill>
            </a:ln>
          </p:spPr>
          <p:txBody>
            <a:bodyPr rtlCol="0" anchor="ctr"/>
            <a:lstStyle/>
            <a:p>
              <a:pPr algn="ctr"/>
              <a:endParaRPr/>
            </a:p>
          </p:txBody>
        </p:sp>
        <p:sp>
          <p:nvSpPr>
            <p:cNvPr id="70" name="Rectangle 69"/>
            <p:cNvSpPr/>
            <p:nvPr/>
          </p:nvSpPr>
          <p:spPr>
            <a:xfrm>
              <a:off x="8621694" y="2489362"/>
              <a:ext cx="99852" cy="76809"/>
            </a:xfrm>
            <a:prstGeom prst="rect">
              <a:avLst/>
            </a:prstGeom>
            <a:solidFill>
              <a:srgbClr val="1B1D21"/>
            </a:solidFill>
            <a:ln>
              <a:noFill/>
            </a:ln>
          </p:spPr>
          <p:txBody>
            <a:bodyPr rtlCol="0" anchor="ctr"/>
            <a:lstStyle/>
            <a:p>
              <a:pPr algn="ctr"/>
              <a:endParaRPr/>
            </a:p>
          </p:txBody>
        </p:sp>
        <p:sp>
          <p:nvSpPr>
            <p:cNvPr id="71" name="TextBox 70"/>
            <p:cNvSpPr txBox="1"/>
            <p:nvPr/>
          </p:nvSpPr>
          <p:spPr>
            <a:xfrm>
              <a:off x="9390888" y="2331720"/>
              <a:ext cx="1828800" cy="530352"/>
            </a:xfrm>
            <a:prstGeom prst="rect">
              <a:avLst/>
            </a:prstGeom>
            <a:noFill/>
          </p:spPr>
          <p:txBody>
            <a:bodyPr wrap="square" lIns="0" tIns="0" rIns="0" bIns="0" anchor="ctr">
              <a:noAutofit/>
            </a:bodyPr>
            <a:lstStyle/>
            <a:p>
              <a:pPr algn="l"/>
              <a:r>
                <a:rPr lang="en-GB" sz="1800" b="1" i="0">
                  <a:solidFill>
                    <a:srgbClr val="F2F2F2"/>
                  </a:solidFill>
                  <a:latin typeface="Arial"/>
                </a:rPr>
                <a:t>Engines</a:t>
              </a:r>
              <a:endParaRPr lang="en-GB" sz="1800"/>
            </a:p>
          </p:txBody>
        </p:sp>
        <p:cxnSp>
          <p:nvCxnSpPr>
            <p:cNvPr id="72" name="Connector 71"/>
            <p:cNvCxnSpPr/>
            <p:nvPr/>
          </p:nvCxnSpPr>
          <p:spPr>
            <a:xfrm>
              <a:off x="8522208" y="2971800"/>
              <a:ext cx="2560320" cy="0"/>
            </a:xfrm>
            <a:prstGeom prst="line">
              <a:avLst/>
            </a:prstGeom>
            <a:ln w="12700">
              <a:solidFill>
                <a:srgbClr val="4A515B"/>
              </a:solidFill>
            </a:ln>
          </p:spPr>
        </p:cxnSp>
        <p:sp>
          <p:nvSpPr>
            <p:cNvPr id="73" name="Rectangle 72"/>
            <p:cNvSpPr/>
            <p:nvPr/>
          </p:nvSpPr>
          <p:spPr>
            <a:xfrm>
              <a:off x="8613648" y="3319272"/>
              <a:ext cx="457200" cy="237744"/>
            </a:xfrm>
            <a:prstGeom prst="rect">
              <a:avLst/>
            </a:prstGeom>
            <a:solidFill>
              <a:srgbClr val="9AA0A6"/>
            </a:solidFill>
            <a:ln>
              <a:noFill/>
            </a:ln>
          </p:spPr>
          <p:txBody>
            <a:bodyPr rtlCol="0" anchor="ctr"/>
            <a:lstStyle/>
            <a:p>
              <a:pPr algn="ctr"/>
              <a:endParaRPr/>
            </a:p>
          </p:txBody>
        </p:sp>
        <p:sp>
          <p:nvSpPr>
            <p:cNvPr id="74" name="Freeform 73"/>
            <p:cNvSpPr/>
            <p:nvPr/>
          </p:nvSpPr>
          <p:spPr>
            <a:xfrm>
              <a:off x="8567928" y="3154679"/>
              <a:ext cx="548639" cy="164593"/>
            </a:xfrm>
            <a:custGeom>
              <a:avLst/>
              <a:gdLst/>
              <a:ahLst/>
              <a:cxnLst/>
              <a:rect l="l" t="t" r="r" b="b"/>
              <a:pathLst>
                <a:path w="548639" h="164593">
                  <a:moveTo>
                    <a:pt x="0" y="164593"/>
                  </a:moveTo>
                  <a:lnTo>
                    <a:pt x="274320" y="0"/>
                  </a:lnTo>
                  <a:lnTo>
                    <a:pt x="548639" y="164593"/>
                  </a:lnTo>
                  <a:close/>
                </a:path>
              </a:pathLst>
            </a:custGeom>
            <a:solidFill>
              <a:srgbClr val="9AA0A6"/>
            </a:solidFill>
            <a:ln>
              <a:noFill/>
            </a:ln>
          </p:spPr>
          <p:txBody>
            <a:bodyPr rtlCol="0" anchor="ctr"/>
            <a:lstStyle/>
            <a:p>
              <a:pPr algn="ctr"/>
              <a:endParaRPr/>
            </a:p>
          </p:txBody>
        </p:sp>
        <p:sp>
          <p:nvSpPr>
            <p:cNvPr id="75" name="Rectangle 74"/>
            <p:cNvSpPr/>
            <p:nvPr/>
          </p:nvSpPr>
          <p:spPr>
            <a:xfrm>
              <a:off x="8796528" y="3410711"/>
              <a:ext cx="91440" cy="146304"/>
            </a:xfrm>
            <a:prstGeom prst="rect">
              <a:avLst/>
            </a:prstGeom>
            <a:solidFill>
              <a:srgbClr val="2B2F36"/>
            </a:solidFill>
            <a:ln>
              <a:noFill/>
            </a:ln>
          </p:spPr>
          <p:txBody>
            <a:bodyPr rtlCol="0" anchor="ctr"/>
            <a:lstStyle/>
            <a:p>
              <a:pPr algn="ctr"/>
              <a:endParaRPr/>
            </a:p>
          </p:txBody>
        </p:sp>
        <p:sp>
          <p:nvSpPr>
            <p:cNvPr id="76" name="TextBox 75"/>
            <p:cNvSpPr txBox="1"/>
            <p:nvPr/>
          </p:nvSpPr>
          <p:spPr>
            <a:xfrm>
              <a:off x="9390888" y="3081527"/>
              <a:ext cx="1828800" cy="530352"/>
            </a:xfrm>
            <a:prstGeom prst="rect">
              <a:avLst/>
            </a:prstGeom>
            <a:noFill/>
          </p:spPr>
          <p:txBody>
            <a:bodyPr wrap="square" lIns="0" tIns="0" rIns="0" bIns="0" anchor="ctr">
              <a:noAutofit/>
            </a:bodyPr>
            <a:lstStyle/>
            <a:p>
              <a:pPr algn="l"/>
              <a:r>
                <a:rPr lang="en-GB" sz="1800" b="1" i="0">
                  <a:solidFill>
                    <a:srgbClr val="F2F2F2"/>
                  </a:solidFill>
                  <a:latin typeface="Arial"/>
                </a:rPr>
                <a:t>Buildings</a:t>
              </a:r>
              <a:endParaRPr lang="en-GB" sz="1800"/>
            </a:p>
          </p:txBody>
        </p:sp>
        <p:cxnSp>
          <p:nvCxnSpPr>
            <p:cNvPr id="77" name="Connector 76"/>
            <p:cNvCxnSpPr/>
            <p:nvPr/>
          </p:nvCxnSpPr>
          <p:spPr>
            <a:xfrm>
              <a:off x="8522208" y="3721607"/>
              <a:ext cx="2560320" cy="0"/>
            </a:xfrm>
            <a:prstGeom prst="line">
              <a:avLst/>
            </a:prstGeom>
            <a:ln w="12700">
              <a:solidFill>
                <a:srgbClr val="4A515B"/>
              </a:solidFill>
            </a:ln>
          </p:spPr>
        </p:cxnSp>
        <p:sp>
          <p:nvSpPr>
            <p:cNvPr id="78" name="Rounded Rectangle 77"/>
            <p:cNvSpPr/>
            <p:nvPr/>
          </p:nvSpPr>
          <p:spPr>
            <a:xfrm>
              <a:off x="8604503" y="3904487"/>
              <a:ext cx="475488" cy="384048"/>
            </a:xfrm>
            <a:prstGeom prst="roundRect">
              <a:avLst>
                <a:gd name="adj" fmla="val 7142"/>
              </a:avLst>
            </a:prstGeom>
            <a:solidFill>
              <a:srgbClr val="9AA0A6"/>
            </a:solidFill>
            <a:ln>
              <a:noFill/>
            </a:ln>
          </p:spPr>
          <p:txBody>
            <a:bodyPr rtlCol="0" anchor="ctr"/>
            <a:lstStyle/>
            <a:p>
              <a:pPr algn="ctr"/>
              <a:endParaRPr/>
            </a:p>
          </p:txBody>
        </p:sp>
        <p:sp>
          <p:nvSpPr>
            <p:cNvPr id="79" name="Rectangle 78"/>
            <p:cNvSpPr/>
            <p:nvPr/>
          </p:nvSpPr>
          <p:spPr>
            <a:xfrm>
              <a:off x="8823959" y="3904487"/>
              <a:ext cx="36576" cy="384048"/>
            </a:xfrm>
            <a:prstGeom prst="rect">
              <a:avLst/>
            </a:prstGeom>
            <a:solidFill>
              <a:srgbClr val="2B2F36"/>
            </a:solidFill>
            <a:ln>
              <a:noFill/>
            </a:ln>
          </p:spPr>
          <p:txBody>
            <a:bodyPr rtlCol="0" anchor="ctr"/>
            <a:lstStyle/>
            <a:p>
              <a:pPr algn="ctr"/>
              <a:endParaRPr/>
            </a:p>
          </p:txBody>
        </p:sp>
        <p:sp>
          <p:nvSpPr>
            <p:cNvPr id="80" name="Rectangle 79"/>
            <p:cNvSpPr/>
            <p:nvPr/>
          </p:nvSpPr>
          <p:spPr>
            <a:xfrm>
              <a:off x="8659367" y="3995927"/>
              <a:ext cx="128016" cy="36576"/>
            </a:xfrm>
            <a:prstGeom prst="rect">
              <a:avLst/>
            </a:prstGeom>
            <a:solidFill>
              <a:srgbClr val="2B2F36"/>
            </a:solidFill>
            <a:ln>
              <a:noFill/>
            </a:ln>
          </p:spPr>
          <p:txBody>
            <a:bodyPr rtlCol="0" anchor="ctr"/>
            <a:lstStyle/>
            <a:p>
              <a:pPr algn="ctr"/>
              <a:endParaRPr/>
            </a:p>
          </p:txBody>
        </p:sp>
        <p:sp>
          <p:nvSpPr>
            <p:cNvPr id="81" name="Rectangle 80"/>
            <p:cNvSpPr/>
            <p:nvPr/>
          </p:nvSpPr>
          <p:spPr>
            <a:xfrm>
              <a:off x="8897111" y="3995927"/>
              <a:ext cx="128016" cy="36576"/>
            </a:xfrm>
            <a:prstGeom prst="rect">
              <a:avLst/>
            </a:prstGeom>
            <a:solidFill>
              <a:srgbClr val="2B2F36"/>
            </a:solidFill>
            <a:ln>
              <a:noFill/>
            </a:ln>
          </p:spPr>
          <p:txBody>
            <a:bodyPr rtlCol="0" anchor="ctr"/>
            <a:lstStyle/>
            <a:p>
              <a:pPr algn="ctr"/>
              <a:endParaRPr/>
            </a:p>
          </p:txBody>
        </p:sp>
        <p:sp>
          <p:nvSpPr>
            <p:cNvPr id="82" name="Rectangle 81"/>
            <p:cNvSpPr/>
            <p:nvPr/>
          </p:nvSpPr>
          <p:spPr>
            <a:xfrm>
              <a:off x="8659367" y="4105655"/>
              <a:ext cx="128016" cy="36576"/>
            </a:xfrm>
            <a:prstGeom prst="rect">
              <a:avLst/>
            </a:prstGeom>
            <a:solidFill>
              <a:srgbClr val="2B2F36"/>
            </a:solidFill>
            <a:ln>
              <a:noFill/>
            </a:ln>
          </p:spPr>
          <p:txBody>
            <a:bodyPr rtlCol="0" anchor="ctr"/>
            <a:lstStyle/>
            <a:p>
              <a:pPr algn="ctr"/>
              <a:endParaRPr/>
            </a:p>
          </p:txBody>
        </p:sp>
        <p:sp>
          <p:nvSpPr>
            <p:cNvPr id="83" name="Rectangle 82"/>
            <p:cNvSpPr/>
            <p:nvPr/>
          </p:nvSpPr>
          <p:spPr>
            <a:xfrm>
              <a:off x="8897111" y="4105655"/>
              <a:ext cx="128016" cy="36576"/>
            </a:xfrm>
            <a:prstGeom prst="rect">
              <a:avLst/>
            </a:prstGeom>
            <a:solidFill>
              <a:srgbClr val="2B2F36"/>
            </a:solidFill>
            <a:ln>
              <a:noFill/>
            </a:ln>
          </p:spPr>
          <p:txBody>
            <a:bodyPr rtlCol="0" anchor="ctr"/>
            <a:lstStyle/>
            <a:p>
              <a:pPr algn="ctr"/>
              <a:endParaRPr/>
            </a:p>
          </p:txBody>
        </p:sp>
        <p:sp>
          <p:nvSpPr>
            <p:cNvPr id="84" name="TextBox 83"/>
            <p:cNvSpPr txBox="1"/>
            <p:nvPr/>
          </p:nvSpPr>
          <p:spPr>
            <a:xfrm>
              <a:off x="9390888" y="3831335"/>
              <a:ext cx="1828800" cy="530352"/>
            </a:xfrm>
            <a:prstGeom prst="rect">
              <a:avLst/>
            </a:prstGeom>
            <a:noFill/>
          </p:spPr>
          <p:txBody>
            <a:bodyPr wrap="square" lIns="0" tIns="0" rIns="0" bIns="0" anchor="ctr">
              <a:noAutofit/>
            </a:bodyPr>
            <a:lstStyle/>
            <a:p>
              <a:pPr algn="l"/>
              <a:r>
                <a:rPr lang="en-GB" sz="1800" b="1" i="0">
                  <a:solidFill>
                    <a:srgbClr val="F2F2F2"/>
                  </a:solidFill>
                  <a:latin typeface="Arial"/>
                </a:rPr>
                <a:t>History</a:t>
              </a:r>
              <a:endParaRPr lang="en-GB" sz="1800"/>
            </a:p>
          </p:txBody>
        </p:sp>
      </p:grpSp>
      <p:sp>
        <p:nvSpPr>
          <p:cNvPr id="85" name="Inline chip: Undecided"/>
          <p:cNvSpPr/>
          <p:nvPr/>
        </p:nvSpPr>
        <p:spPr>
          <a:xfrm>
            <a:off x="749808" y="5074920"/>
            <a:ext cx="2978826"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Pack names: undecided (OQ20)</a:t>
            </a:r>
            <a:endParaRPr lang="en-GB" sz="1400"/>
          </a:p>
        </p:txBody>
      </p:sp>
      <p:sp>
        <p:nvSpPr>
          <p:cNvPr id="86" name="Inline chip: Undecided"/>
          <p:cNvSpPr/>
          <p:nvPr/>
        </p:nvSpPr>
        <p:spPr>
          <a:xfrm>
            <a:off x="4002954" y="5074920"/>
            <a:ext cx="2385766"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Price: undecided (OQ26)</a:t>
            </a:r>
            <a:endParaRPr lang="en-GB" sz="1400"/>
          </a:p>
        </p:txBody>
      </p:sp>
      <p:sp>
        <p:nvSpPr>
          <p:cNvPr id="87"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Separate regional packs could add fleets, buildings and history.</a:t>
            </a:r>
            <a:endParaRPr lang="en-GB" sz="2000"/>
          </a:p>
        </p:txBody>
      </p:sp>
      <p:sp>
        <p:nvSpPr>
          <p:cNvPr id="88"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89"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5</a:t>
            </a:r>
            <a:endParaRPr lang="en-GB" sz="1400"/>
          </a:p>
        </p:txBody>
      </p:sp>
    </p:spTree>
    <p:extLst>
      <p:ext uri="{BB962C8B-B14F-4D97-AF65-F5344CB8AC3E}">
        <p14:creationId xmlns:p14="http://schemas.microsoft.com/office/powerpoint/2010/main" val="24751291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57"/>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par>
                                <p:cTn id="11" presetID="10" presetClass="entr" presetSubtype="0" fill="hold" nodeType="withEffect">
                                  <p:stCondLst>
                                    <p:cond delay="514"/>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500"/>
                                        <p:tgtEl>
                                          <p:spTgt spid="58"/>
                                        </p:tgtEl>
                                      </p:cBhvr>
                                    </p:animEffect>
                                  </p:childTnLst>
                                </p:cTn>
                              </p:par>
                              <p:par>
                                <p:cTn id="14" presetID="10" presetClass="entr" presetSubtype="0" fill="hold" nodeType="withEffect">
                                  <p:stCondLst>
                                    <p:cond delay="771"/>
                                  </p:stCondLst>
                                  <p:childTnLst>
                                    <p:set>
                                      <p:cBhvr>
                                        <p:cTn id="15" dur="1" fill="hold">
                                          <p:stCondLst>
                                            <p:cond delay="0"/>
                                          </p:stCondLst>
                                        </p:cTn>
                                        <p:tgtEl>
                                          <p:spTgt spid="85"/>
                                        </p:tgtEl>
                                        <p:attrNameLst>
                                          <p:attrName>style.visibility</p:attrName>
                                        </p:attrNameLst>
                                      </p:cBhvr>
                                      <p:to>
                                        <p:strVal val="visible"/>
                                      </p:to>
                                    </p:set>
                                    <p:animEffect transition="in" filter="fade">
                                      <p:cBhvr>
                                        <p:cTn id="16" dur="500"/>
                                        <p:tgtEl>
                                          <p:spTgt spid="85"/>
                                        </p:tgtEl>
                                      </p:cBhvr>
                                    </p:animEffect>
                                  </p:childTnLst>
                                </p:cTn>
                              </p:par>
                              <p:par>
                                <p:cTn id="17" presetID="10" presetClass="entr" presetSubtype="0" fill="hold" nodeType="withEffect">
                                  <p:stCondLst>
                                    <p:cond delay="1028"/>
                                  </p:stCondLst>
                                  <p:childTnLst>
                                    <p:set>
                                      <p:cBhvr>
                                        <p:cTn id="18" dur="1" fill="hold">
                                          <p:stCondLst>
                                            <p:cond delay="0"/>
                                          </p:stCondLst>
                                        </p:cTn>
                                        <p:tgtEl>
                                          <p:spTgt spid="86"/>
                                        </p:tgtEl>
                                        <p:attrNameLst>
                                          <p:attrName>style.visibility</p:attrName>
                                        </p:attrNameLst>
                                      </p:cBhvr>
                                      <p:to>
                                        <p:strVal val="visible"/>
                                      </p:to>
                                    </p:set>
                                    <p:animEffect transition="in" filter="fade">
                                      <p:cBhvr>
                                        <p:cTn id="19" dur="500"/>
                                        <p:tgtEl>
                                          <p:spTgt spid="86"/>
                                        </p:tgtEl>
                                      </p:cBhvr>
                                    </p:animEffect>
                                  </p:childTnLst>
                                </p:cTn>
                              </p:par>
                              <p:par>
                                <p:cTn id="20" presetID="10" presetClass="entr" presetSubtype="0" fill="hold" nodeType="withEffect">
                                  <p:stCondLst>
                                    <p:cond delay="1285"/>
                                  </p:stCondLst>
                                  <p:childTnLst>
                                    <p:set>
                                      <p:cBhvr>
                                        <p:cTn id="21" dur="1" fill="hold">
                                          <p:stCondLst>
                                            <p:cond delay="0"/>
                                          </p:stCondLst>
                                        </p:cTn>
                                        <p:tgtEl>
                                          <p:spTgt spid="87"/>
                                        </p:tgtEl>
                                        <p:attrNameLst>
                                          <p:attrName>style.visibility</p:attrName>
                                        </p:attrNameLst>
                                      </p:cBhvr>
                                      <p:to>
                                        <p:strVal val="visible"/>
                                      </p:to>
                                    </p:set>
                                    <p:animEffect transition="in" filter="fade">
                                      <p:cBhvr>
                                        <p:cTn id="22" dur="500"/>
                                        <p:tgtEl>
                                          <p:spTgt spid="87"/>
                                        </p:tgtEl>
                                      </p:cBhvr>
                                    </p:animEffect>
                                  </p:childTnLst>
                                </p:cTn>
                              </p:par>
                              <p:par>
                                <p:cTn id="23" presetID="10" presetClass="entr" presetSubtype="0" fill="hold" nodeType="withEffect">
                                  <p:stCondLst>
                                    <p:cond delay="1542"/>
                                  </p:stCondLst>
                                  <p:childTnLst>
                                    <p:set>
                                      <p:cBhvr>
                                        <p:cTn id="24" dur="1" fill="hold">
                                          <p:stCondLst>
                                            <p:cond delay="0"/>
                                          </p:stCondLst>
                                        </p:cTn>
                                        <p:tgtEl>
                                          <p:spTgt spid="88"/>
                                        </p:tgtEl>
                                        <p:attrNameLst>
                                          <p:attrName>style.visibility</p:attrName>
                                        </p:attrNameLst>
                                      </p:cBhvr>
                                      <p:to>
                                        <p:strVal val="visible"/>
                                      </p:to>
                                    </p:set>
                                    <p:animEffect transition="in" filter="fade">
                                      <p:cBhvr>
                                        <p:cTn id="2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Growing by updates</a:t>
            </a:r>
            <a:endParaRPr lang="en-GB" sz="3600"/>
          </a:p>
        </p:txBody>
      </p:sp>
      <p:sp>
        <p:nvSpPr>
          <p:cNvPr id="3" name="Status chip: Proposed"/>
          <p:cNvSpPr/>
          <p:nvPr/>
        </p:nvSpPr>
        <p:spPr>
          <a:xfrm>
            <a:off x="10241280" y="457200"/>
            <a:ext cx="1371600" cy="365760"/>
          </a:xfrm>
          <a:prstGeom prst="roundRect">
            <a:avLst>
              <a:gd name="adj" fmla="val 25000"/>
            </a:avLst>
          </a:prstGeom>
          <a:solidFill>
            <a:srgbClr val="B084F5"/>
          </a:solidFill>
          <a:ln>
            <a:noFill/>
          </a:ln>
        </p:spPr>
        <p:txBody>
          <a:bodyPr wrap="none" lIns="0" tIns="0" rIns="0" bIns="0" rtlCol="0" anchor="ctr">
            <a:noAutofit/>
          </a:bodyPr>
          <a:lstStyle/>
          <a:p>
            <a:pPr algn="ctr"/>
            <a:r>
              <a:rPr lang="en-GB" sz="1400" b="1" i="0">
                <a:solidFill>
                  <a:srgbClr val="101418"/>
                </a:solidFill>
                <a:latin typeface="Arial"/>
              </a:rPr>
              <a:t>PROPOSED</a:t>
            </a:r>
            <a:endParaRPr lang="en-GB" sz="1400"/>
          </a:p>
        </p:txBody>
      </p:sp>
      <p:grpSp>
        <p:nvGrpSpPr>
          <p:cNvPr id="4" name="Staircase of updates" descr="A staircase of three dashed blocks rising left to right: Launch (small), then Update, then a bigger Update."/>
          <p:cNvGrpSpPr/>
          <p:nvPr/>
        </p:nvGrpSpPr>
        <p:grpSpPr>
          <a:xfrm>
            <a:off x="822960" y="1691639"/>
            <a:ext cx="7680960" cy="3200401"/>
            <a:chOff x="822960" y="1691639"/>
            <a:chExt cx="7680960" cy="3200401"/>
          </a:xfrm>
        </p:grpSpPr>
        <p:sp>
          <p:nvSpPr>
            <p:cNvPr id="5" name="Rounded Rectangle 4"/>
            <p:cNvSpPr/>
            <p:nvPr/>
          </p:nvSpPr>
          <p:spPr>
            <a:xfrm>
              <a:off x="822960" y="3703320"/>
              <a:ext cx="2468880" cy="1188720"/>
            </a:xfrm>
            <a:prstGeom prst="roundRect">
              <a:avLst>
                <a:gd name="adj" fmla="val 6153"/>
              </a:avLst>
            </a:prstGeom>
            <a:solidFill>
              <a:srgbClr val="F28C28">
                <a:alpha val="14000"/>
              </a:srgbClr>
            </a:solidFill>
            <a:ln w="25400">
              <a:solidFill>
                <a:srgbClr val="F28C28"/>
              </a:solidFill>
              <a:prstDash val="dash"/>
            </a:ln>
          </p:spPr>
          <p:txBody>
            <a:bodyPr wrap="square" tIns="164592" rtlCol="0" anchor="t">
              <a:noAutofit/>
            </a:bodyPr>
            <a:lstStyle/>
            <a:p>
              <a:pPr algn="ctr"/>
              <a:r>
                <a:rPr lang="en-GB" sz="2200" b="1" i="0">
                  <a:solidFill>
                    <a:srgbClr val="F2F2F2"/>
                  </a:solidFill>
                  <a:latin typeface="Arial"/>
                </a:rPr>
                <a:t>Launch</a:t>
              </a:r>
              <a:endParaRPr lang="en-GB" sz="2200"/>
            </a:p>
          </p:txBody>
        </p:sp>
        <p:sp>
          <p:nvSpPr>
            <p:cNvPr id="6" name="Rounded Rectangle 5"/>
            <p:cNvSpPr/>
            <p:nvPr/>
          </p:nvSpPr>
          <p:spPr>
            <a:xfrm>
              <a:off x="3429000" y="2697479"/>
              <a:ext cx="2468880" cy="2194560"/>
            </a:xfrm>
            <a:prstGeom prst="roundRect">
              <a:avLst>
                <a:gd name="adj" fmla="val 3333"/>
              </a:avLst>
            </a:prstGeom>
            <a:solidFill>
              <a:srgbClr val="F28C28">
                <a:alpha val="24000"/>
              </a:srgbClr>
            </a:solidFill>
            <a:ln w="25400">
              <a:solidFill>
                <a:srgbClr val="F28C28"/>
              </a:solidFill>
              <a:prstDash val="dash"/>
            </a:ln>
          </p:spPr>
          <p:txBody>
            <a:bodyPr wrap="square" tIns="164592" rtlCol="0" anchor="t">
              <a:noAutofit/>
            </a:bodyPr>
            <a:lstStyle/>
            <a:p>
              <a:pPr algn="ctr"/>
              <a:r>
                <a:rPr lang="en-GB" sz="2200" b="1" i="0">
                  <a:solidFill>
                    <a:srgbClr val="F2F2F2"/>
                  </a:solidFill>
                  <a:latin typeface="Arial"/>
                </a:rPr>
                <a:t>Update</a:t>
              </a:r>
              <a:endParaRPr lang="en-GB" sz="2200"/>
            </a:p>
          </p:txBody>
        </p:sp>
        <p:sp>
          <p:nvSpPr>
            <p:cNvPr id="7" name="Rounded Rectangle 6"/>
            <p:cNvSpPr/>
            <p:nvPr/>
          </p:nvSpPr>
          <p:spPr>
            <a:xfrm>
              <a:off x="6035040" y="1691639"/>
              <a:ext cx="2468880" cy="3200400"/>
            </a:xfrm>
            <a:prstGeom prst="roundRect">
              <a:avLst>
                <a:gd name="adj" fmla="val 2962"/>
              </a:avLst>
            </a:prstGeom>
            <a:solidFill>
              <a:srgbClr val="F28C28">
                <a:alpha val="34000"/>
              </a:srgbClr>
            </a:solidFill>
            <a:ln w="25400">
              <a:solidFill>
                <a:srgbClr val="F28C28"/>
              </a:solidFill>
              <a:prstDash val="dash"/>
            </a:ln>
          </p:spPr>
          <p:txBody>
            <a:bodyPr wrap="square" tIns="164592" rtlCol="0" anchor="t">
              <a:noAutofit/>
            </a:bodyPr>
            <a:lstStyle/>
            <a:p>
              <a:pPr algn="ctr"/>
              <a:r>
                <a:rPr lang="en-GB" sz="2200" b="1" i="0">
                  <a:solidFill>
                    <a:srgbClr val="F2F2F2"/>
                  </a:solidFill>
                  <a:latin typeface="Arial"/>
                </a:rPr>
                <a:t>Update</a:t>
              </a:r>
              <a:endParaRPr lang="en-GB" sz="2200"/>
            </a:p>
          </p:txBody>
        </p:sp>
      </p:grpSp>
      <p:grpSp>
        <p:nvGrpSpPr>
          <p:cNvPr id="8" name="No charge note" descr="A price tag crossed out, with the note: no charge per locomotive."/>
          <p:cNvGrpSpPr/>
          <p:nvPr/>
        </p:nvGrpSpPr>
        <p:grpSpPr>
          <a:xfrm>
            <a:off x="8961120" y="2011680"/>
            <a:ext cx="2679192" cy="2194560"/>
            <a:chOff x="8961120" y="2011680"/>
            <a:chExt cx="2679192" cy="2194560"/>
          </a:xfrm>
        </p:grpSpPr>
        <p:sp>
          <p:nvSpPr>
            <p:cNvPr id="9" name="Rounded Rectangle 8"/>
            <p:cNvSpPr/>
            <p:nvPr/>
          </p:nvSpPr>
          <p:spPr>
            <a:xfrm>
              <a:off x="8961120" y="2011680"/>
              <a:ext cx="2679192" cy="2194560"/>
            </a:xfrm>
            <a:prstGeom prst="roundRect">
              <a:avLst>
                <a:gd name="adj" fmla="val 3333"/>
              </a:avLst>
            </a:prstGeom>
            <a:solidFill>
              <a:srgbClr val="2B2F36"/>
            </a:solidFill>
            <a:ln>
              <a:noFill/>
            </a:ln>
          </p:spPr>
          <p:txBody>
            <a:bodyPr rtlCol="0" anchor="ctr"/>
            <a:lstStyle/>
            <a:p>
              <a:pPr algn="ctr"/>
              <a:endParaRPr/>
            </a:p>
          </p:txBody>
        </p:sp>
        <p:sp>
          <p:nvSpPr>
            <p:cNvPr id="10" name="Freeform 9"/>
            <p:cNvSpPr/>
            <p:nvPr/>
          </p:nvSpPr>
          <p:spPr>
            <a:xfrm>
              <a:off x="9857232" y="2331720"/>
              <a:ext cx="886968" cy="640080"/>
            </a:xfrm>
            <a:custGeom>
              <a:avLst/>
              <a:gdLst/>
              <a:ahLst/>
              <a:cxnLst/>
              <a:rect l="l" t="t" r="r" b="b"/>
              <a:pathLst>
                <a:path w="886968" h="640080">
                  <a:moveTo>
                    <a:pt x="0" y="320040"/>
                  </a:moveTo>
                  <a:lnTo>
                    <a:pt x="246888" y="0"/>
                  </a:lnTo>
                  <a:lnTo>
                    <a:pt x="886968" y="0"/>
                  </a:lnTo>
                  <a:lnTo>
                    <a:pt x="886968" y="640080"/>
                  </a:lnTo>
                  <a:lnTo>
                    <a:pt x="246888" y="640080"/>
                  </a:lnTo>
                  <a:close/>
                </a:path>
              </a:pathLst>
            </a:custGeom>
            <a:noFill/>
            <a:ln w="25400">
              <a:solidFill>
                <a:srgbClr val="9AA0A6"/>
              </a:solidFill>
            </a:ln>
          </p:spPr>
          <p:txBody>
            <a:bodyPr rtlCol="0" anchor="ctr"/>
            <a:lstStyle/>
            <a:p>
              <a:pPr algn="ctr"/>
              <a:endParaRPr/>
            </a:p>
          </p:txBody>
        </p:sp>
        <p:sp>
          <p:nvSpPr>
            <p:cNvPr id="11" name="Oval 10"/>
            <p:cNvSpPr/>
            <p:nvPr/>
          </p:nvSpPr>
          <p:spPr>
            <a:xfrm>
              <a:off x="10012680" y="2523744"/>
              <a:ext cx="109728" cy="109728"/>
            </a:xfrm>
            <a:prstGeom prst="ellipse">
              <a:avLst/>
            </a:prstGeom>
            <a:solidFill>
              <a:srgbClr val="9AA0A6"/>
            </a:solidFill>
            <a:ln>
              <a:noFill/>
            </a:ln>
          </p:spPr>
          <p:txBody>
            <a:bodyPr rtlCol="0" anchor="ctr"/>
            <a:lstStyle/>
            <a:p>
              <a:pPr algn="ctr"/>
              <a:endParaRPr/>
            </a:p>
          </p:txBody>
        </p:sp>
        <p:cxnSp>
          <p:nvCxnSpPr>
            <p:cNvPr id="12" name="Connector 11"/>
            <p:cNvCxnSpPr/>
            <p:nvPr/>
          </p:nvCxnSpPr>
          <p:spPr>
            <a:xfrm flipV="1">
              <a:off x="9784080" y="2240280"/>
              <a:ext cx="1051560" cy="822960"/>
            </a:xfrm>
            <a:prstGeom prst="line">
              <a:avLst/>
            </a:prstGeom>
            <a:ln w="38100">
              <a:solidFill>
                <a:srgbClr val="E5484D"/>
              </a:solidFill>
            </a:ln>
          </p:spPr>
        </p:cxnSp>
        <p:sp>
          <p:nvSpPr>
            <p:cNvPr id="13" name="TextBox 12"/>
            <p:cNvSpPr txBox="1"/>
            <p:nvPr/>
          </p:nvSpPr>
          <p:spPr>
            <a:xfrm>
              <a:off x="9098280" y="3200400"/>
              <a:ext cx="2404872" cy="868680"/>
            </a:xfrm>
            <a:prstGeom prst="rect">
              <a:avLst/>
            </a:prstGeom>
            <a:noFill/>
          </p:spPr>
          <p:txBody>
            <a:bodyPr wrap="square" lIns="0" tIns="0" rIns="0" bIns="0" anchor="ctr">
              <a:noAutofit/>
            </a:bodyPr>
            <a:lstStyle/>
            <a:p>
              <a:pPr algn="ctr"/>
              <a:r>
                <a:rPr lang="en-GB" sz="1800" b="1" i="0">
                  <a:solidFill>
                    <a:srgbClr val="F2F2F2"/>
                  </a:solidFill>
                  <a:latin typeface="Arial"/>
                </a:rPr>
                <a:t>No charge per locomotive.</a:t>
              </a:r>
              <a:endParaRPr lang="en-GB" sz="1800"/>
            </a:p>
          </p:txBody>
        </p:sp>
      </p:grpSp>
      <p:sp>
        <p:nvSpPr>
          <p:cNvPr id="14" name="Inline chip: Undecided"/>
          <p:cNvSpPr/>
          <p:nvPr/>
        </p:nvSpPr>
        <p:spPr>
          <a:xfrm>
            <a:off x="822960" y="5120640"/>
            <a:ext cx="3680400"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Early-access pricing: undecided (OQ26)</a:t>
            </a:r>
            <a:endParaRPr lang="en-GB" sz="1400"/>
          </a:p>
        </p:txBody>
      </p:sp>
      <p:sp>
        <p:nvSpPr>
          <p:cNvPr id="15"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A pack could start small and grow through updates, free to its owners.</a:t>
            </a:r>
            <a:endParaRPr lang="en-GB" sz="2000"/>
          </a:p>
        </p:txBody>
      </p:sp>
      <p:sp>
        <p:nvSpPr>
          <p:cNvPr id="16"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17"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6</a:t>
            </a:r>
            <a:endParaRPr lang="en-GB" sz="1400"/>
          </a:p>
        </p:txBody>
      </p:sp>
    </p:spTree>
    <p:extLst>
      <p:ext uri="{BB962C8B-B14F-4D97-AF65-F5344CB8AC3E}">
        <p14:creationId xmlns:p14="http://schemas.microsoft.com/office/powerpoint/2010/main" val="12304991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60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9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120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Packs work together</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Shared rules bar" descr="A long bar labelled Shared rules beneath the core game and all three packs."/>
          <p:cNvGrpSpPr/>
          <p:nvPr/>
        </p:nvGrpSpPr>
        <p:grpSpPr>
          <a:xfrm>
            <a:off x="822960" y="4709160"/>
            <a:ext cx="10543032" cy="685800"/>
            <a:chOff x="822960" y="4709160"/>
            <a:chExt cx="10543032" cy="685800"/>
          </a:xfrm>
        </p:grpSpPr>
        <p:sp>
          <p:nvSpPr>
            <p:cNvPr id="5" name="Rounded Rectangle 4"/>
            <p:cNvSpPr/>
            <p:nvPr/>
          </p:nvSpPr>
          <p:spPr>
            <a:xfrm>
              <a:off x="822960" y="4709160"/>
              <a:ext cx="10543032" cy="685800"/>
            </a:xfrm>
            <a:prstGeom prst="roundRect">
              <a:avLst>
                <a:gd name="adj" fmla="val 10666"/>
              </a:avLst>
            </a:prstGeom>
            <a:solidFill>
              <a:srgbClr val="343A43"/>
            </a:solidFill>
            <a:ln w="25400">
              <a:solidFill>
                <a:srgbClr val="F28C28"/>
              </a:solidFill>
            </a:ln>
          </p:spPr>
          <p:txBody>
            <a:bodyPr wrap="square" rtlCol="0" anchor="ctr">
              <a:noAutofit/>
            </a:bodyPr>
            <a:lstStyle/>
            <a:p>
              <a:pPr algn="ctr"/>
              <a:r>
                <a:rPr lang="en-GB" sz="2200" b="1" i="0">
                  <a:solidFill>
                    <a:srgbClr val="F2F2F2"/>
                  </a:solidFill>
                  <a:latin typeface="Arial"/>
                </a:rPr>
                <a:t>Shared rules</a:t>
              </a:r>
              <a:endParaRPr lang="en-GB" sz="2200"/>
            </a:p>
          </p:txBody>
        </p:sp>
      </p:grpSp>
      <p:grpSp>
        <p:nvGrpSpPr>
          <p:cNvPr id="6" name="Core game hub and packs" descr="A central block labelled Core game with three dashed Pack blocks plugged into it: left, right and above."/>
          <p:cNvGrpSpPr/>
          <p:nvPr/>
        </p:nvGrpSpPr>
        <p:grpSpPr>
          <a:xfrm>
            <a:off x="822960" y="1508760"/>
            <a:ext cx="10543032" cy="3200400"/>
            <a:chOff x="822960" y="1508760"/>
            <a:chExt cx="10543032" cy="3200400"/>
          </a:xfrm>
        </p:grpSpPr>
        <p:cxnSp>
          <p:nvCxnSpPr>
            <p:cNvPr id="7" name="Connector 6"/>
            <p:cNvCxnSpPr/>
            <p:nvPr/>
          </p:nvCxnSpPr>
          <p:spPr>
            <a:xfrm>
              <a:off x="2103120" y="3977639"/>
              <a:ext cx="0" cy="731521"/>
            </a:xfrm>
            <a:prstGeom prst="line">
              <a:avLst/>
            </a:prstGeom>
            <a:ln w="19050">
              <a:solidFill>
                <a:srgbClr val="9AA0A6"/>
              </a:solidFill>
              <a:prstDash val="dash"/>
            </a:ln>
          </p:spPr>
        </p:cxnSp>
        <p:cxnSp>
          <p:nvCxnSpPr>
            <p:cNvPr id="8" name="Connector 7"/>
            <p:cNvCxnSpPr/>
            <p:nvPr/>
          </p:nvCxnSpPr>
          <p:spPr>
            <a:xfrm>
              <a:off x="6099048" y="3977639"/>
              <a:ext cx="0" cy="731521"/>
            </a:xfrm>
            <a:prstGeom prst="line">
              <a:avLst/>
            </a:prstGeom>
            <a:ln w="19050">
              <a:solidFill>
                <a:srgbClr val="9AA0A6"/>
              </a:solidFill>
              <a:prstDash val="dash"/>
            </a:ln>
          </p:spPr>
        </p:cxnSp>
        <p:cxnSp>
          <p:nvCxnSpPr>
            <p:cNvPr id="9" name="Connector 8"/>
            <p:cNvCxnSpPr/>
            <p:nvPr/>
          </p:nvCxnSpPr>
          <p:spPr>
            <a:xfrm>
              <a:off x="10085832" y="3977639"/>
              <a:ext cx="0" cy="731521"/>
            </a:xfrm>
            <a:prstGeom prst="line">
              <a:avLst/>
            </a:prstGeom>
            <a:ln w="19050">
              <a:solidFill>
                <a:srgbClr val="9AA0A6"/>
              </a:solidFill>
              <a:prstDash val="dash"/>
            </a:ln>
          </p:spPr>
        </p:cxnSp>
        <p:sp>
          <p:nvSpPr>
            <p:cNvPr id="10" name="Rounded Rectangle 9"/>
            <p:cNvSpPr/>
            <p:nvPr/>
          </p:nvSpPr>
          <p:spPr>
            <a:xfrm>
              <a:off x="822960" y="2697480"/>
              <a:ext cx="2560320" cy="1280160"/>
            </a:xfrm>
            <a:prstGeom prst="roundRect">
              <a:avLst>
                <a:gd name="adj" fmla="val 5714"/>
              </a:avLst>
            </a:prstGeom>
            <a:solidFill>
              <a:srgbClr val="F28C28">
                <a:alpha val="14000"/>
              </a:srgbClr>
            </a:solidFill>
            <a:ln w="25400">
              <a:solidFill>
                <a:srgbClr val="F28C28"/>
              </a:solidFill>
              <a:prstDash val="dash"/>
            </a:ln>
          </p:spPr>
          <p:txBody>
            <a:bodyPr wrap="square" rtlCol="0" anchor="ctr">
              <a:noAutofit/>
            </a:bodyPr>
            <a:lstStyle/>
            <a:p>
              <a:pPr algn="ctr"/>
              <a:r>
                <a:rPr lang="en-GB" sz="2000" b="1" i="0">
                  <a:solidFill>
                    <a:srgbClr val="F2F2F2"/>
                  </a:solidFill>
                  <a:latin typeface="Arial"/>
                </a:rPr>
                <a:t>Pack</a:t>
              </a:r>
              <a:endParaRPr lang="en-GB" sz="2000"/>
            </a:p>
          </p:txBody>
        </p:sp>
        <p:sp>
          <p:nvSpPr>
            <p:cNvPr id="11" name="Rounded Rectangle 10"/>
            <p:cNvSpPr/>
            <p:nvPr/>
          </p:nvSpPr>
          <p:spPr>
            <a:xfrm>
              <a:off x="8805672" y="2697480"/>
              <a:ext cx="2560320" cy="1280160"/>
            </a:xfrm>
            <a:prstGeom prst="roundRect">
              <a:avLst>
                <a:gd name="adj" fmla="val 5714"/>
              </a:avLst>
            </a:prstGeom>
            <a:solidFill>
              <a:srgbClr val="F28C28">
                <a:alpha val="14000"/>
              </a:srgbClr>
            </a:solidFill>
            <a:ln w="25400">
              <a:solidFill>
                <a:srgbClr val="F28C28"/>
              </a:solidFill>
              <a:prstDash val="dash"/>
            </a:ln>
          </p:spPr>
          <p:txBody>
            <a:bodyPr wrap="square" rtlCol="0" anchor="ctr">
              <a:noAutofit/>
            </a:bodyPr>
            <a:lstStyle/>
            <a:p>
              <a:pPr algn="ctr"/>
              <a:r>
                <a:rPr lang="en-GB" sz="2000" b="1" i="0">
                  <a:solidFill>
                    <a:srgbClr val="F2F2F2"/>
                  </a:solidFill>
                  <a:latin typeface="Arial"/>
                </a:rPr>
                <a:t>Pack</a:t>
              </a:r>
              <a:endParaRPr lang="en-GB" sz="2000"/>
            </a:p>
          </p:txBody>
        </p:sp>
        <p:sp>
          <p:nvSpPr>
            <p:cNvPr id="12" name="Rounded Rectangle 11"/>
            <p:cNvSpPr/>
            <p:nvPr/>
          </p:nvSpPr>
          <p:spPr>
            <a:xfrm>
              <a:off x="4636008" y="1508760"/>
              <a:ext cx="2926080" cy="731520"/>
            </a:xfrm>
            <a:prstGeom prst="roundRect">
              <a:avLst>
                <a:gd name="adj" fmla="val 10000"/>
              </a:avLst>
            </a:prstGeom>
            <a:solidFill>
              <a:srgbClr val="F28C28">
                <a:alpha val="14000"/>
              </a:srgbClr>
            </a:solidFill>
            <a:ln w="25400">
              <a:solidFill>
                <a:srgbClr val="F28C28"/>
              </a:solidFill>
              <a:prstDash val="dash"/>
            </a:ln>
          </p:spPr>
          <p:txBody>
            <a:bodyPr wrap="square" rtlCol="0" anchor="ctr">
              <a:noAutofit/>
            </a:bodyPr>
            <a:lstStyle/>
            <a:p>
              <a:pPr algn="ctr"/>
              <a:r>
                <a:rPr lang="en-GB" sz="2000" b="1" i="0">
                  <a:solidFill>
                    <a:srgbClr val="F2F2F2"/>
                  </a:solidFill>
                  <a:latin typeface="Arial"/>
                </a:rPr>
                <a:t>Pack</a:t>
              </a:r>
              <a:endParaRPr lang="en-GB" sz="2000"/>
            </a:p>
          </p:txBody>
        </p:sp>
        <p:sp>
          <p:nvSpPr>
            <p:cNvPr id="13" name="Rounded Rectangle 12"/>
            <p:cNvSpPr/>
            <p:nvPr/>
          </p:nvSpPr>
          <p:spPr>
            <a:xfrm>
              <a:off x="4636008" y="2697480"/>
              <a:ext cx="2926080" cy="1280160"/>
            </a:xfrm>
            <a:prstGeom prst="roundRect">
              <a:avLst>
                <a:gd name="adj" fmla="val 7142"/>
              </a:avLst>
            </a:prstGeom>
            <a:solidFill>
              <a:srgbClr val="F28C28"/>
            </a:solidFill>
            <a:ln>
              <a:noFill/>
            </a:ln>
          </p:spPr>
          <p:txBody>
            <a:bodyPr wrap="square" rtlCol="0" anchor="ctr">
              <a:noAutofit/>
            </a:bodyPr>
            <a:lstStyle/>
            <a:p>
              <a:pPr algn="ctr"/>
              <a:r>
                <a:rPr lang="en-GB" sz="2400" b="1" i="0">
                  <a:solidFill>
                    <a:srgbClr val="101418"/>
                  </a:solidFill>
                  <a:latin typeface="Arial"/>
                </a:rPr>
                <a:t>Core game</a:t>
              </a:r>
              <a:endParaRPr lang="en-GB" sz="2400"/>
            </a:p>
          </p:txBody>
        </p:sp>
        <p:cxnSp>
          <p:nvCxnSpPr>
            <p:cNvPr id="14" name="Connector 13"/>
            <p:cNvCxnSpPr/>
            <p:nvPr/>
          </p:nvCxnSpPr>
          <p:spPr>
            <a:xfrm>
              <a:off x="3383280" y="3337560"/>
              <a:ext cx="1252728" cy="0"/>
            </a:xfrm>
            <a:prstGeom prst="line">
              <a:avLst/>
            </a:prstGeom>
            <a:ln w="28575">
              <a:solidFill>
                <a:srgbClr val="F2F2F2"/>
              </a:solidFill>
            </a:ln>
          </p:spPr>
        </p:cxnSp>
        <p:sp>
          <p:nvSpPr>
            <p:cNvPr id="15" name="Oval 14"/>
            <p:cNvSpPr/>
            <p:nvPr/>
          </p:nvSpPr>
          <p:spPr>
            <a:xfrm>
              <a:off x="3300984" y="3255264"/>
              <a:ext cx="164592" cy="164592"/>
            </a:xfrm>
            <a:prstGeom prst="ellipse">
              <a:avLst/>
            </a:prstGeom>
            <a:solidFill>
              <a:srgbClr val="F2F2F2"/>
            </a:solidFill>
            <a:ln>
              <a:noFill/>
            </a:ln>
          </p:spPr>
          <p:txBody>
            <a:bodyPr rtlCol="0" anchor="ctr"/>
            <a:lstStyle/>
            <a:p>
              <a:pPr algn="ctr"/>
              <a:endParaRPr/>
            </a:p>
          </p:txBody>
        </p:sp>
        <p:sp>
          <p:nvSpPr>
            <p:cNvPr id="16" name="Oval 15"/>
            <p:cNvSpPr/>
            <p:nvPr/>
          </p:nvSpPr>
          <p:spPr>
            <a:xfrm>
              <a:off x="4553712" y="3255264"/>
              <a:ext cx="164592" cy="164592"/>
            </a:xfrm>
            <a:prstGeom prst="ellipse">
              <a:avLst/>
            </a:prstGeom>
            <a:solidFill>
              <a:srgbClr val="F2F2F2"/>
            </a:solidFill>
            <a:ln>
              <a:noFill/>
            </a:ln>
          </p:spPr>
          <p:txBody>
            <a:bodyPr rtlCol="0" anchor="ctr"/>
            <a:lstStyle/>
            <a:p>
              <a:pPr algn="ctr"/>
              <a:endParaRPr/>
            </a:p>
          </p:txBody>
        </p:sp>
        <p:cxnSp>
          <p:nvCxnSpPr>
            <p:cNvPr id="17" name="Connector 16"/>
            <p:cNvCxnSpPr/>
            <p:nvPr/>
          </p:nvCxnSpPr>
          <p:spPr>
            <a:xfrm flipH="1">
              <a:off x="7562088" y="3337560"/>
              <a:ext cx="1243584" cy="0"/>
            </a:xfrm>
            <a:prstGeom prst="line">
              <a:avLst/>
            </a:prstGeom>
            <a:ln w="28575">
              <a:solidFill>
                <a:srgbClr val="F2F2F2"/>
              </a:solidFill>
            </a:ln>
          </p:spPr>
        </p:cxnSp>
        <p:sp>
          <p:nvSpPr>
            <p:cNvPr id="18" name="Oval 17"/>
            <p:cNvSpPr/>
            <p:nvPr/>
          </p:nvSpPr>
          <p:spPr>
            <a:xfrm>
              <a:off x="8723376" y="3255264"/>
              <a:ext cx="164592" cy="164592"/>
            </a:xfrm>
            <a:prstGeom prst="ellipse">
              <a:avLst/>
            </a:prstGeom>
            <a:solidFill>
              <a:srgbClr val="F2F2F2"/>
            </a:solidFill>
            <a:ln>
              <a:noFill/>
            </a:ln>
          </p:spPr>
          <p:txBody>
            <a:bodyPr rtlCol="0" anchor="ctr"/>
            <a:lstStyle/>
            <a:p>
              <a:pPr algn="ctr"/>
              <a:endParaRPr/>
            </a:p>
          </p:txBody>
        </p:sp>
        <p:sp>
          <p:nvSpPr>
            <p:cNvPr id="19" name="Oval 18"/>
            <p:cNvSpPr/>
            <p:nvPr/>
          </p:nvSpPr>
          <p:spPr>
            <a:xfrm>
              <a:off x="7479792" y="3255264"/>
              <a:ext cx="164592" cy="164592"/>
            </a:xfrm>
            <a:prstGeom prst="ellipse">
              <a:avLst/>
            </a:prstGeom>
            <a:solidFill>
              <a:srgbClr val="F2F2F2"/>
            </a:solidFill>
            <a:ln>
              <a:noFill/>
            </a:ln>
          </p:spPr>
          <p:txBody>
            <a:bodyPr rtlCol="0" anchor="ctr"/>
            <a:lstStyle/>
            <a:p>
              <a:pPr algn="ctr"/>
              <a:endParaRPr/>
            </a:p>
          </p:txBody>
        </p:sp>
        <p:cxnSp>
          <p:nvCxnSpPr>
            <p:cNvPr id="20" name="Connector 19"/>
            <p:cNvCxnSpPr/>
            <p:nvPr/>
          </p:nvCxnSpPr>
          <p:spPr>
            <a:xfrm>
              <a:off x="6099048" y="2240280"/>
              <a:ext cx="0" cy="457200"/>
            </a:xfrm>
            <a:prstGeom prst="line">
              <a:avLst/>
            </a:prstGeom>
            <a:ln w="28575">
              <a:solidFill>
                <a:srgbClr val="F2F2F2"/>
              </a:solidFill>
            </a:ln>
          </p:spPr>
        </p:cxnSp>
        <p:sp>
          <p:nvSpPr>
            <p:cNvPr id="21" name="Oval 20"/>
            <p:cNvSpPr/>
            <p:nvPr/>
          </p:nvSpPr>
          <p:spPr>
            <a:xfrm>
              <a:off x="6016752" y="2157984"/>
              <a:ext cx="164592" cy="164592"/>
            </a:xfrm>
            <a:prstGeom prst="ellipse">
              <a:avLst/>
            </a:prstGeom>
            <a:solidFill>
              <a:srgbClr val="F2F2F2"/>
            </a:solidFill>
            <a:ln>
              <a:noFill/>
            </a:ln>
          </p:spPr>
          <p:txBody>
            <a:bodyPr rtlCol="0" anchor="ctr"/>
            <a:lstStyle/>
            <a:p>
              <a:pPr algn="ctr"/>
              <a:endParaRPr/>
            </a:p>
          </p:txBody>
        </p:sp>
        <p:sp>
          <p:nvSpPr>
            <p:cNvPr id="22" name="Oval 21"/>
            <p:cNvSpPr/>
            <p:nvPr/>
          </p:nvSpPr>
          <p:spPr>
            <a:xfrm>
              <a:off x="6016752" y="2615184"/>
              <a:ext cx="164592" cy="164592"/>
            </a:xfrm>
            <a:prstGeom prst="ellipse">
              <a:avLst/>
            </a:prstGeom>
            <a:solidFill>
              <a:srgbClr val="F2F2F2"/>
            </a:solidFill>
            <a:ln>
              <a:noFill/>
            </a:ln>
          </p:spPr>
          <p:txBody>
            <a:bodyPr rtlCol="0" anchor="ctr"/>
            <a:lstStyle/>
            <a:p>
              <a:pPr algn="ctr"/>
              <a:endParaRPr/>
            </a:p>
          </p:txBody>
        </p:sp>
      </p:grpSp>
      <p:sp>
        <p:nvSpPr>
          <p:cNvPr id="23"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Packs need the core game and can be mixed. They share the same rules.</a:t>
            </a:r>
            <a:endParaRPr lang="en-GB" sz="2000"/>
          </a:p>
        </p:txBody>
      </p:sp>
      <p:sp>
        <p:nvSpPr>
          <p:cNvPr id="24"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25"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7</a:t>
            </a:r>
            <a:endParaRPr lang="en-GB" sz="1400"/>
          </a:p>
        </p:txBody>
      </p:sp>
    </p:spTree>
    <p:extLst>
      <p:ext uri="{BB962C8B-B14F-4D97-AF65-F5344CB8AC3E}">
        <p14:creationId xmlns:p14="http://schemas.microsoft.com/office/powerpoint/2010/main" val="14360937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nodeType="withEffect">
                                  <p:stCondLst>
                                    <p:cond delay="90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Beyond Small, Medium, Large</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Small, Medium and Large cards" descr="Three cards, Small, Medium and Large, each with a small engine icon that grows with the size."/>
          <p:cNvGrpSpPr/>
          <p:nvPr/>
        </p:nvGrpSpPr>
        <p:grpSpPr>
          <a:xfrm>
            <a:off x="822960" y="1554480"/>
            <a:ext cx="3291840" cy="3383280"/>
            <a:chOff x="822960" y="1554480"/>
            <a:chExt cx="3291840" cy="3383280"/>
          </a:xfrm>
        </p:grpSpPr>
        <p:sp>
          <p:nvSpPr>
            <p:cNvPr id="5" name="Rounded Rectangle 4"/>
            <p:cNvSpPr/>
            <p:nvPr/>
          </p:nvSpPr>
          <p:spPr>
            <a:xfrm>
              <a:off x="822960" y="1554480"/>
              <a:ext cx="3291840" cy="1005840"/>
            </a:xfrm>
            <a:prstGeom prst="roundRect">
              <a:avLst>
                <a:gd name="adj" fmla="val 7272"/>
              </a:avLst>
            </a:prstGeom>
            <a:solidFill>
              <a:srgbClr val="2B2F36"/>
            </a:solidFill>
            <a:ln w="19050">
              <a:solidFill>
                <a:srgbClr val="9AA0A6"/>
              </a:solidFill>
            </a:ln>
          </p:spPr>
          <p:txBody>
            <a:bodyPr rtlCol="0" anchor="ctr"/>
            <a:lstStyle/>
            <a:p>
              <a:pPr algn="ctr"/>
              <a:endParaRPr/>
            </a:p>
          </p:txBody>
        </p:sp>
        <p:sp>
          <p:nvSpPr>
            <p:cNvPr id="6" name="TextBox 5"/>
            <p:cNvSpPr txBox="1"/>
            <p:nvPr/>
          </p:nvSpPr>
          <p:spPr>
            <a:xfrm>
              <a:off x="1051560" y="1554480"/>
              <a:ext cx="1280160" cy="1005840"/>
            </a:xfrm>
            <a:prstGeom prst="rect">
              <a:avLst/>
            </a:prstGeom>
            <a:noFill/>
          </p:spPr>
          <p:txBody>
            <a:bodyPr wrap="square" lIns="0" tIns="0" rIns="0" bIns="0" anchor="ctr">
              <a:noAutofit/>
            </a:bodyPr>
            <a:lstStyle/>
            <a:p>
              <a:pPr algn="l"/>
              <a:r>
                <a:rPr lang="en-GB" sz="2000" b="1" i="0">
                  <a:solidFill>
                    <a:srgbClr val="F2F2F2"/>
                  </a:solidFill>
                  <a:latin typeface="Arial"/>
                </a:rPr>
                <a:t>Small</a:t>
              </a:r>
              <a:endParaRPr lang="en-GB" sz="2000"/>
            </a:p>
          </p:txBody>
        </p:sp>
        <p:sp>
          <p:nvSpPr>
            <p:cNvPr id="7" name="Rectangle 6"/>
            <p:cNvSpPr/>
            <p:nvPr/>
          </p:nvSpPr>
          <p:spPr>
            <a:xfrm>
              <a:off x="3223260" y="2112264"/>
              <a:ext cx="685799" cy="45720"/>
            </a:xfrm>
            <a:prstGeom prst="rect">
              <a:avLst/>
            </a:prstGeom>
            <a:solidFill>
              <a:srgbClr val="1B1D21"/>
            </a:solidFill>
            <a:ln w="12700">
              <a:solidFill>
                <a:srgbClr val="9AA0A6"/>
              </a:solidFill>
            </a:ln>
          </p:spPr>
          <p:txBody>
            <a:bodyPr rtlCol="0" anchor="ctr"/>
            <a:lstStyle/>
            <a:p>
              <a:pPr algn="ctr"/>
              <a:endParaRPr/>
            </a:p>
          </p:txBody>
        </p:sp>
        <p:sp>
          <p:nvSpPr>
            <p:cNvPr id="8" name="Oval 7"/>
            <p:cNvSpPr/>
            <p:nvPr/>
          </p:nvSpPr>
          <p:spPr>
            <a:xfrm>
              <a:off x="3282696" y="21488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9" name="Oval 8"/>
            <p:cNvSpPr/>
            <p:nvPr/>
          </p:nvSpPr>
          <p:spPr>
            <a:xfrm>
              <a:off x="3337560" y="2203703"/>
              <a:ext cx="27432" cy="27432"/>
            </a:xfrm>
            <a:prstGeom prst="ellipse">
              <a:avLst/>
            </a:prstGeom>
            <a:solidFill>
              <a:srgbClr val="9AA0A6"/>
            </a:solidFill>
            <a:ln>
              <a:noFill/>
            </a:ln>
          </p:spPr>
          <p:txBody>
            <a:bodyPr rtlCol="0" anchor="ctr"/>
            <a:lstStyle/>
            <a:p>
              <a:pPr algn="ctr"/>
              <a:endParaRPr/>
            </a:p>
          </p:txBody>
        </p:sp>
        <p:sp>
          <p:nvSpPr>
            <p:cNvPr id="10" name="Oval 9"/>
            <p:cNvSpPr/>
            <p:nvPr/>
          </p:nvSpPr>
          <p:spPr>
            <a:xfrm>
              <a:off x="3534156" y="21488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1" name="Oval 10"/>
            <p:cNvSpPr/>
            <p:nvPr/>
          </p:nvSpPr>
          <p:spPr>
            <a:xfrm>
              <a:off x="3589020" y="2203703"/>
              <a:ext cx="27432" cy="27432"/>
            </a:xfrm>
            <a:prstGeom prst="ellipse">
              <a:avLst/>
            </a:prstGeom>
            <a:solidFill>
              <a:srgbClr val="9AA0A6"/>
            </a:solidFill>
            <a:ln>
              <a:noFill/>
            </a:ln>
          </p:spPr>
          <p:txBody>
            <a:bodyPr rtlCol="0" anchor="ctr"/>
            <a:lstStyle/>
            <a:p>
              <a:pPr algn="ctr"/>
              <a:endParaRPr/>
            </a:p>
          </p:txBody>
        </p:sp>
        <p:sp>
          <p:nvSpPr>
            <p:cNvPr id="12" name="Oval 11"/>
            <p:cNvSpPr/>
            <p:nvPr/>
          </p:nvSpPr>
          <p:spPr>
            <a:xfrm>
              <a:off x="3785615" y="21488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3" name="Oval 12"/>
            <p:cNvSpPr/>
            <p:nvPr/>
          </p:nvSpPr>
          <p:spPr>
            <a:xfrm>
              <a:off x="3840480" y="2203703"/>
              <a:ext cx="27432" cy="27432"/>
            </a:xfrm>
            <a:prstGeom prst="ellipse">
              <a:avLst/>
            </a:prstGeom>
            <a:solidFill>
              <a:srgbClr val="9AA0A6"/>
            </a:solidFill>
            <a:ln>
              <a:noFill/>
            </a:ln>
          </p:spPr>
          <p:txBody>
            <a:bodyPr rtlCol="0" anchor="ctr"/>
            <a:lstStyle/>
            <a:p>
              <a:pPr algn="ctr"/>
              <a:endParaRPr/>
            </a:p>
          </p:txBody>
        </p:sp>
        <p:cxnSp>
          <p:nvCxnSpPr>
            <p:cNvPr id="14" name="Connector 13"/>
            <p:cNvCxnSpPr/>
            <p:nvPr/>
          </p:nvCxnSpPr>
          <p:spPr>
            <a:xfrm>
              <a:off x="3351276" y="2217420"/>
              <a:ext cx="502920" cy="0"/>
            </a:xfrm>
            <a:prstGeom prst="line">
              <a:avLst/>
            </a:prstGeom>
            <a:ln w="19050">
              <a:solidFill>
                <a:srgbClr val="9AA0A6"/>
              </a:solidFill>
            </a:ln>
          </p:spPr>
        </p:cxnSp>
        <p:sp>
          <p:nvSpPr>
            <p:cNvPr id="15" name="Rounded Rectangle 14"/>
            <p:cNvSpPr/>
            <p:nvPr/>
          </p:nvSpPr>
          <p:spPr>
            <a:xfrm>
              <a:off x="3497579" y="1938528"/>
              <a:ext cx="411480" cy="173736"/>
            </a:xfrm>
            <a:prstGeom prst="roundRect">
              <a:avLst>
                <a:gd name="adj" fmla="val 31578"/>
              </a:avLst>
            </a:prstGeom>
            <a:solidFill>
              <a:srgbClr val="F28C28"/>
            </a:solidFill>
            <a:ln>
              <a:noFill/>
            </a:ln>
          </p:spPr>
          <p:txBody>
            <a:bodyPr rtlCol="0" anchor="ctr"/>
            <a:lstStyle/>
            <a:p>
              <a:pPr algn="ctr"/>
              <a:endParaRPr/>
            </a:p>
          </p:txBody>
        </p:sp>
        <p:sp>
          <p:nvSpPr>
            <p:cNvPr id="16" name="Rounded Rectangle 15"/>
            <p:cNvSpPr/>
            <p:nvPr/>
          </p:nvSpPr>
          <p:spPr>
            <a:xfrm>
              <a:off x="3515868" y="2002536"/>
              <a:ext cx="283464" cy="118872"/>
            </a:xfrm>
            <a:prstGeom prst="roundRect">
              <a:avLst>
                <a:gd name="adj" fmla="val 30769"/>
              </a:avLst>
            </a:prstGeom>
            <a:solidFill>
              <a:srgbClr val="F28C28"/>
            </a:solidFill>
            <a:ln w="15875">
              <a:solidFill>
                <a:srgbClr val="1B1D21"/>
              </a:solidFill>
            </a:ln>
          </p:spPr>
          <p:txBody>
            <a:bodyPr rtlCol="0" anchor="ctr"/>
            <a:lstStyle/>
            <a:p>
              <a:pPr algn="ctr"/>
              <a:endParaRPr/>
            </a:p>
          </p:txBody>
        </p:sp>
        <p:sp>
          <p:nvSpPr>
            <p:cNvPr id="17" name="Rectangle 16"/>
            <p:cNvSpPr/>
            <p:nvPr/>
          </p:nvSpPr>
          <p:spPr>
            <a:xfrm>
              <a:off x="3826763" y="1938528"/>
              <a:ext cx="82296" cy="173736"/>
            </a:xfrm>
            <a:prstGeom prst="rect">
              <a:avLst/>
            </a:prstGeom>
            <a:solidFill>
              <a:srgbClr val="1B1D21"/>
            </a:solidFill>
            <a:ln w="12700">
              <a:solidFill>
                <a:srgbClr val="9AA0A6"/>
              </a:solidFill>
            </a:ln>
          </p:spPr>
          <p:txBody>
            <a:bodyPr rtlCol="0" anchor="ctr"/>
            <a:lstStyle/>
            <a:p>
              <a:pPr algn="ctr"/>
              <a:endParaRPr/>
            </a:p>
          </p:txBody>
        </p:sp>
        <p:sp>
          <p:nvSpPr>
            <p:cNvPr id="18" name="Rectangle 17"/>
            <p:cNvSpPr/>
            <p:nvPr/>
          </p:nvSpPr>
          <p:spPr>
            <a:xfrm>
              <a:off x="3845051" y="1856231"/>
              <a:ext cx="45720" cy="91440"/>
            </a:xfrm>
            <a:prstGeom prst="rect">
              <a:avLst/>
            </a:prstGeom>
            <a:solidFill>
              <a:srgbClr val="1B1D21"/>
            </a:solidFill>
            <a:ln w="12700">
              <a:solidFill>
                <a:srgbClr val="9AA0A6"/>
              </a:solidFill>
            </a:ln>
          </p:spPr>
          <p:txBody>
            <a:bodyPr rtlCol="0" anchor="ctr"/>
            <a:lstStyle/>
            <a:p>
              <a:pPr algn="ctr"/>
              <a:endParaRPr/>
            </a:p>
          </p:txBody>
        </p:sp>
        <p:sp>
          <p:nvSpPr>
            <p:cNvPr id="19" name="Rectangle 18"/>
            <p:cNvSpPr/>
            <p:nvPr/>
          </p:nvSpPr>
          <p:spPr>
            <a:xfrm>
              <a:off x="3826763" y="1837943"/>
              <a:ext cx="82296" cy="27432"/>
            </a:xfrm>
            <a:prstGeom prst="rect">
              <a:avLst/>
            </a:prstGeom>
            <a:solidFill>
              <a:srgbClr val="1B1D21"/>
            </a:solidFill>
            <a:ln w="12700">
              <a:solidFill>
                <a:srgbClr val="9AA0A6"/>
              </a:solidFill>
            </a:ln>
          </p:spPr>
          <p:txBody>
            <a:bodyPr rtlCol="0" anchor="ctr"/>
            <a:lstStyle/>
            <a:p>
              <a:pPr algn="ctr"/>
              <a:endParaRPr/>
            </a:p>
          </p:txBody>
        </p:sp>
        <p:sp>
          <p:nvSpPr>
            <p:cNvPr id="20" name="Rounded Rectangle 19"/>
            <p:cNvSpPr/>
            <p:nvPr/>
          </p:nvSpPr>
          <p:spPr>
            <a:xfrm>
              <a:off x="3634739" y="1892807"/>
              <a:ext cx="91440" cy="54864"/>
            </a:xfrm>
            <a:prstGeom prst="roundRect">
              <a:avLst>
                <a:gd name="adj" fmla="val 50000"/>
              </a:avLst>
            </a:prstGeom>
            <a:solidFill>
              <a:srgbClr val="F28C28"/>
            </a:solidFill>
            <a:ln>
              <a:noFill/>
            </a:ln>
          </p:spPr>
          <p:txBody>
            <a:bodyPr rtlCol="0" anchor="ctr"/>
            <a:lstStyle/>
            <a:p>
              <a:pPr algn="ctr"/>
              <a:endParaRPr/>
            </a:p>
          </p:txBody>
        </p:sp>
        <p:sp>
          <p:nvSpPr>
            <p:cNvPr id="21" name="Rectangle 20"/>
            <p:cNvSpPr/>
            <p:nvPr/>
          </p:nvSpPr>
          <p:spPr>
            <a:xfrm>
              <a:off x="3223260" y="1874519"/>
              <a:ext cx="274320" cy="246888"/>
            </a:xfrm>
            <a:prstGeom prst="rect">
              <a:avLst/>
            </a:prstGeom>
            <a:solidFill>
              <a:srgbClr val="F28C28"/>
            </a:solidFill>
            <a:ln>
              <a:noFill/>
            </a:ln>
          </p:spPr>
          <p:txBody>
            <a:bodyPr rtlCol="0" anchor="ctr"/>
            <a:lstStyle/>
            <a:p>
              <a:pPr algn="ctr"/>
              <a:endParaRPr/>
            </a:p>
          </p:txBody>
        </p:sp>
        <p:sp>
          <p:nvSpPr>
            <p:cNvPr id="22" name="Rectangle 21"/>
            <p:cNvSpPr/>
            <p:nvPr/>
          </p:nvSpPr>
          <p:spPr>
            <a:xfrm>
              <a:off x="3209544" y="1851660"/>
              <a:ext cx="301751" cy="32004"/>
            </a:xfrm>
            <a:prstGeom prst="rect">
              <a:avLst/>
            </a:prstGeom>
            <a:solidFill>
              <a:srgbClr val="1B1D21"/>
            </a:solidFill>
            <a:ln w="12700">
              <a:solidFill>
                <a:srgbClr val="9AA0A6"/>
              </a:solidFill>
            </a:ln>
          </p:spPr>
          <p:txBody>
            <a:bodyPr rtlCol="0" anchor="ctr"/>
            <a:lstStyle/>
            <a:p>
              <a:pPr algn="ctr"/>
              <a:endParaRPr/>
            </a:p>
          </p:txBody>
        </p:sp>
        <p:sp>
          <p:nvSpPr>
            <p:cNvPr id="23" name="Rectangle 22"/>
            <p:cNvSpPr/>
            <p:nvPr/>
          </p:nvSpPr>
          <p:spPr>
            <a:xfrm>
              <a:off x="3287268" y="1929384"/>
              <a:ext cx="118872" cy="91440"/>
            </a:xfrm>
            <a:prstGeom prst="rect">
              <a:avLst/>
            </a:prstGeom>
            <a:solidFill>
              <a:srgbClr val="1B1D21"/>
            </a:solidFill>
            <a:ln>
              <a:noFill/>
            </a:ln>
          </p:spPr>
          <p:txBody>
            <a:bodyPr rtlCol="0" anchor="ctr"/>
            <a:lstStyle/>
            <a:p>
              <a:pPr algn="ctr"/>
              <a:endParaRPr/>
            </a:p>
          </p:txBody>
        </p:sp>
        <p:sp>
          <p:nvSpPr>
            <p:cNvPr id="24" name="Rounded Rectangle 23"/>
            <p:cNvSpPr/>
            <p:nvPr/>
          </p:nvSpPr>
          <p:spPr>
            <a:xfrm>
              <a:off x="822960" y="2743200"/>
              <a:ext cx="3291840" cy="1005840"/>
            </a:xfrm>
            <a:prstGeom prst="roundRect">
              <a:avLst>
                <a:gd name="adj" fmla="val 7272"/>
              </a:avLst>
            </a:prstGeom>
            <a:solidFill>
              <a:srgbClr val="2B2F36"/>
            </a:solidFill>
            <a:ln w="19050">
              <a:solidFill>
                <a:srgbClr val="9AA0A6"/>
              </a:solidFill>
            </a:ln>
          </p:spPr>
          <p:txBody>
            <a:bodyPr rtlCol="0" anchor="ctr"/>
            <a:lstStyle/>
            <a:p>
              <a:pPr algn="ctr"/>
              <a:endParaRPr/>
            </a:p>
          </p:txBody>
        </p:sp>
        <p:sp>
          <p:nvSpPr>
            <p:cNvPr id="25" name="TextBox 24"/>
            <p:cNvSpPr txBox="1"/>
            <p:nvPr/>
          </p:nvSpPr>
          <p:spPr>
            <a:xfrm>
              <a:off x="1051560" y="2743200"/>
              <a:ext cx="1280160" cy="1005840"/>
            </a:xfrm>
            <a:prstGeom prst="rect">
              <a:avLst/>
            </a:prstGeom>
            <a:noFill/>
          </p:spPr>
          <p:txBody>
            <a:bodyPr wrap="square" lIns="0" tIns="0" rIns="0" bIns="0" anchor="ctr">
              <a:noAutofit/>
            </a:bodyPr>
            <a:lstStyle/>
            <a:p>
              <a:pPr algn="l"/>
              <a:r>
                <a:rPr lang="en-GB" sz="2000" b="1" i="0">
                  <a:solidFill>
                    <a:srgbClr val="F2F2F2"/>
                  </a:solidFill>
                  <a:latin typeface="Arial"/>
                </a:rPr>
                <a:t>Medium</a:t>
              </a:r>
              <a:endParaRPr lang="en-GB" sz="2000"/>
            </a:p>
          </p:txBody>
        </p:sp>
        <p:sp>
          <p:nvSpPr>
            <p:cNvPr id="26" name="Rounded Rectangle 25"/>
            <p:cNvSpPr/>
            <p:nvPr/>
          </p:nvSpPr>
          <p:spPr>
            <a:xfrm>
              <a:off x="2609240" y="3165652"/>
              <a:ext cx="452628" cy="170992"/>
            </a:xfrm>
            <a:prstGeom prst="roundRect">
              <a:avLst>
                <a:gd name="adj" fmla="val 16042"/>
              </a:avLst>
            </a:prstGeom>
            <a:solidFill>
              <a:srgbClr val="2B2F36"/>
            </a:solidFill>
            <a:ln w="19050">
              <a:solidFill>
                <a:srgbClr val="F28C28"/>
              </a:solidFill>
            </a:ln>
          </p:spPr>
          <p:txBody>
            <a:bodyPr rtlCol="0" anchor="ctr"/>
            <a:lstStyle/>
            <a:p>
              <a:pPr algn="ctr"/>
              <a:endParaRPr/>
            </a:p>
          </p:txBody>
        </p:sp>
        <p:sp>
          <p:nvSpPr>
            <p:cNvPr id="27" name="Freeform 26"/>
            <p:cNvSpPr/>
            <p:nvPr/>
          </p:nvSpPr>
          <p:spPr>
            <a:xfrm>
              <a:off x="2649473" y="3095244"/>
              <a:ext cx="372161" cy="70408"/>
            </a:xfrm>
            <a:custGeom>
              <a:avLst/>
              <a:gdLst/>
              <a:ahLst/>
              <a:cxnLst/>
              <a:rect l="l" t="t" r="r" b="b"/>
              <a:pathLst>
                <a:path w="372161" h="70408">
                  <a:moveTo>
                    <a:pt x="0" y="70408"/>
                  </a:moveTo>
                  <a:lnTo>
                    <a:pt x="60351" y="10058"/>
                  </a:lnTo>
                  <a:lnTo>
                    <a:pt x="311811" y="0"/>
                  </a:lnTo>
                  <a:lnTo>
                    <a:pt x="372161" y="70408"/>
                  </a:lnTo>
                  <a:close/>
                </a:path>
              </a:pathLst>
            </a:custGeom>
            <a:solidFill>
              <a:srgbClr val="1B1D21"/>
            </a:solidFill>
            <a:ln w="12700">
              <a:solidFill>
                <a:srgbClr val="9AA0A6"/>
              </a:solidFill>
            </a:ln>
          </p:spPr>
          <p:txBody>
            <a:bodyPr rtlCol="0" anchor="ctr"/>
            <a:lstStyle/>
            <a:p>
              <a:pPr algn="ctr"/>
              <a:endParaRPr/>
            </a:p>
          </p:txBody>
        </p:sp>
        <p:sp>
          <p:nvSpPr>
            <p:cNvPr id="28" name="Oval 27"/>
            <p:cNvSpPr/>
            <p:nvPr/>
          </p:nvSpPr>
          <p:spPr>
            <a:xfrm>
              <a:off x="2689707" y="3376879"/>
              <a:ext cx="120700" cy="120700"/>
            </a:xfrm>
            <a:prstGeom prst="ellipse">
              <a:avLst/>
            </a:prstGeom>
            <a:solidFill>
              <a:srgbClr val="343A43"/>
            </a:solidFill>
            <a:ln w="12700">
              <a:solidFill>
                <a:srgbClr val="9AA0A6"/>
              </a:solidFill>
            </a:ln>
          </p:spPr>
          <p:txBody>
            <a:bodyPr rtlCol="0" anchor="ctr"/>
            <a:lstStyle/>
            <a:p>
              <a:pPr algn="ctr"/>
              <a:endParaRPr/>
            </a:p>
          </p:txBody>
        </p:sp>
        <p:sp>
          <p:nvSpPr>
            <p:cNvPr id="29" name="Oval 28"/>
            <p:cNvSpPr/>
            <p:nvPr/>
          </p:nvSpPr>
          <p:spPr>
            <a:xfrm>
              <a:off x="2860700" y="3376879"/>
              <a:ext cx="120700" cy="120700"/>
            </a:xfrm>
            <a:prstGeom prst="ellipse">
              <a:avLst/>
            </a:prstGeom>
            <a:solidFill>
              <a:srgbClr val="343A43"/>
            </a:solidFill>
            <a:ln w="12700">
              <a:solidFill>
                <a:srgbClr val="9AA0A6"/>
              </a:solidFill>
            </a:ln>
          </p:spPr>
          <p:txBody>
            <a:bodyPr rtlCol="0" anchor="ctr"/>
            <a:lstStyle/>
            <a:p>
              <a:pPr algn="ctr"/>
              <a:endParaRPr/>
            </a:p>
          </p:txBody>
        </p:sp>
        <p:cxnSp>
          <p:nvCxnSpPr>
            <p:cNvPr id="30" name="Connector 29"/>
            <p:cNvCxnSpPr/>
            <p:nvPr/>
          </p:nvCxnSpPr>
          <p:spPr>
            <a:xfrm>
              <a:off x="3061868" y="3306470"/>
              <a:ext cx="40233" cy="0"/>
            </a:xfrm>
            <a:prstGeom prst="line">
              <a:avLst/>
            </a:prstGeom>
            <a:ln w="25400">
              <a:solidFill>
                <a:srgbClr val="9AA0A6"/>
              </a:solidFill>
            </a:ln>
          </p:spPr>
        </p:cxnSp>
        <p:sp>
          <p:nvSpPr>
            <p:cNvPr id="31" name="Rectangle 30"/>
            <p:cNvSpPr/>
            <p:nvPr/>
          </p:nvSpPr>
          <p:spPr>
            <a:xfrm>
              <a:off x="3102101" y="3306470"/>
              <a:ext cx="804672" cy="50292"/>
            </a:xfrm>
            <a:prstGeom prst="rect">
              <a:avLst/>
            </a:prstGeom>
            <a:solidFill>
              <a:srgbClr val="1B1D21"/>
            </a:solidFill>
            <a:ln w="12700">
              <a:solidFill>
                <a:srgbClr val="9AA0A6"/>
              </a:solidFill>
            </a:ln>
          </p:spPr>
          <p:txBody>
            <a:bodyPr rtlCol="0" anchor="ctr"/>
            <a:lstStyle/>
            <a:p>
              <a:pPr algn="ctr"/>
              <a:endParaRPr/>
            </a:p>
          </p:txBody>
        </p:sp>
        <p:sp>
          <p:nvSpPr>
            <p:cNvPr id="32" name="Oval 31"/>
            <p:cNvSpPr/>
            <p:nvPr/>
          </p:nvSpPr>
          <p:spPr>
            <a:xfrm>
              <a:off x="3167481" y="3346704"/>
              <a:ext cx="150876" cy="150876"/>
            </a:xfrm>
            <a:prstGeom prst="ellipse">
              <a:avLst/>
            </a:prstGeom>
            <a:solidFill>
              <a:srgbClr val="343A43"/>
            </a:solidFill>
            <a:ln w="15875">
              <a:solidFill>
                <a:srgbClr val="9AA0A6"/>
              </a:solidFill>
            </a:ln>
          </p:spPr>
          <p:txBody>
            <a:bodyPr rtlCol="0" anchor="ctr"/>
            <a:lstStyle/>
            <a:p>
              <a:pPr algn="ctr"/>
              <a:endParaRPr/>
            </a:p>
          </p:txBody>
        </p:sp>
        <p:sp>
          <p:nvSpPr>
            <p:cNvPr id="33" name="Oval 32"/>
            <p:cNvSpPr/>
            <p:nvPr/>
          </p:nvSpPr>
          <p:spPr>
            <a:xfrm>
              <a:off x="3227831" y="3407054"/>
              <a:ext cx="30175" cy="30175"/>
            </a:xfrm>
            <a:prstGeom prst="ellipse">
              <a:avLst/>
            </a:prstGeom>
            <a:solidFill>
              <a:srgbClr val="9AA0A6"/>
            </a:solidFill>
            <a:ln>
              <a:noFill/>
            </a:ln>
          </p:spPr>
          <p:txBody>
            <a:bodyPr rtlCol="0" anchor="ctr"/>
            <a:lstStyle/>
            <a:p>
              <a:pPr algn="ctr"/>
              <a:endParaRPr/>
            </a:p>
          </p:txBody>
        </p:sp>
        <p:sp>
          <p:nvSpPr>
            <p:cNvPr id="34" name="Oval 33"/>
            <p:cNvSpPr/>
            <p:nvPr/>
          </p:nvSpPr>
          <p:spPr>
            <a:xfrm>
              <a:off x="3368649" y="3346704"/>
              <a:ext cx="150876" cy="150876"/>
            </a:xfrm>
            <a:prstGeom prst="ellipse">
              <a:avLst/>
            </a:prstGeom>
            <a:solidFill>
              <a:srgbClr val="343A43"/>
            </a:solidFill>
            <a:ln w="15875">
              <a:solidFill>
                <a:srgbClr val="9AA0A6"/>
              </a:solidFill>
            </a:ln>
          </p:spPr>
          <p:txBody>
            <a:bodyPr rtlCol="0" anchor="ctr"/>
            <a:lstStyle/>
            <a:p>
              <a:pPr algn="ctr"/>
              <a:endParaRPr/>
            </a:p>
          </p:txBody>
        </p:sp>
        <p:sp>
          <p:nvSpPr>
            <p:cNvPr id="35" name="Oval 34"/>
            <p:cNvSpPr/>
            <p:nvPr/>
          </p:nvSpPr>
          <p:spPr>
            <a:xfrm>
              <a:off x="3428999" y="3407054"/>
              <a:ext cx="30175" cy="30175"/>
            </a:xfrm>
            <a:prstGeom prst="ellipse">
              <a:avLst/>
            </a:prstGeom>
            <a:solidFill>
              <a:srgbClr val="9AA0A6"/>
            </a:solidFill>
            <a:ln>
              <a:noFill/>
            </a:ln>
          </p:spPr>
          <p:txBody>
            <a:bodyPr rtlCol="0" anchor="ctr"/>
            <a:lstStyle/>
            <a:p>
              <a:pPr algn="ctr"/>
              <a:endParaRPr/>
            </a:p>
          </p:txBody>
        </p:sp>
        <p:sp>
          <p:nvSpPr>
            <p:cNvPr id="36" name="Oval 35"/>
            <p:cNvSpPr/>
            <p:nvPr/>
          </p:nvSpPr>
          <p:spPr>
            <a:xfrm>
              <a:off x="3569817" y="3346704"/>
              <a:ext cx="150876" cy="150876"/>
            </a:xfrm>
            <a:prstGeom prst="ellipse">
              <a:avLst/>
            </a:prstGeom>
            <a:solidFill>
              <a:srgbClr val="343A43"/>
            </a:solidFill>
            <a:ln w="15875">
              <a:solidFill>
                <a:srgbClr val="9AA0A6"/>
              </a:solidFill>
            </a:ln>
          </p:spPr>
          <p:txBody>
            <a:bodyPr rtlCol="0" anchor="ctr"/>
            <a:lstStyle/>
            <a:p>
              <a:pPr algn="ctr"/>
              <a:endParaRPr/>
            </a:p>
          </p:txBody>
        </p:sp>
        <p:sp>
          <p:nvSpPr>
            <p:cNvPr id="37" name="Oval 36"/>
            <p:cNvSpPr/>
            <p:nvPr/>
          </p:nvSpPr>
          <p:spPr>
            <a:xfrm>
              <a:off x="3630168" y="3407054"/>
              <a:ext cx="30175" cy="30175"/>
            </a:xfrm>
            <a:prstGeom prst="ellipse">
              <a:avLst/>
            </a:prstGeom>
            <a:solidFill>
              <a:srgbClr val="9AA0A6"/>
            </a:solidFill>
            <a:ln>
              <a:noFill/>
            </a:ln>
          </p:spPr>
          <p:txBody>
            <a:bodyPr rtlCol="0" anchor="ctr"/>
            <a:lstStyle/>
            <a:p>
              <a:pPr algn="ctr"/>
              <a:endParaRPr/>
            </a:p>
          </p:txBody>
        </p:sp>
        <p:sp>
          <p:nvSpPr>
            <p:cNvPr id="38" name="Oval 37"/>
            <p:cNvSpPr/>
            <p:nvPr/>
          </p:nvSpPr>
          <p:spPr>
            <a:xfrm>
              <a:off x="3770985" y="3346704"/>
              <a:ext cx="150876" cy="150876"/>
            </a:xfrm>
            <a:prstGeom prst="ellipse">
              <a:avLst/>
            </a:prstGeom>
            <a:solidFill>
              <a:srgbClr val="343A43"/>
            </a:solidFill>
            <a:ln w="15875">
              <a:solidFill>
                <a:srgbClr val="9AA0A6"/>
              </a:solidFill>
            </a:ln>
          </p:spPr>
          <p:txBody>
            <a:bodyPr rtlCol="0" anchor="ctr"/>
            <a:lstStyle/>
            <a:p>
              <a:pPr algn="ctr"/>
              <a:endParaRPr/>
            </a:p>
          </p:txBody>
        </p:sp>
        <p:sp>
          <p:nvSpPr>
            <p:cNvPr id="39" name="Oval 38"/>
            <p:cNvSpPr/>
            <p:nvPr/>
          </p:nvSpPr>
          <p:spPr>
            <a:xfrm>
              <a:off x="3831336" y="3407054"/>
              <a:ext cx="30175" cy="30175"/>
            </a:xfrm>
            <a:prstGeom prst="ellipse">
              <a:avLst/>
            </a:prstGeom>
            <a:solidFill>
              <a:srgbClr val="9AA0A6"/>
            </a:solidFill>
            <a:ln>
              <a:noFill/>
            </a:ln>
          </p:spPr>
          <p:txBody>
            <a:bodyPr rtlCol="0" anchor="ctr"/>
            <a:lstStyle/>
            <a:p>
              <a:pPr algn="ctr"/>
              <a:endParaRPr/>
            </a:p>
          </p:txBody>
        </p:sp>
        <p:cxnSp>
          <p:nvCxnSpPr>
            <p:cNvPr id="40" name="Connector 39"/>
            <p:cNvCxnSpPr/>
            <p:nvPr/>
          </p:nvCxnSpPr>
          <p:spPr>
            <a:xfrm>
              <a:off x="3242919" y="3422142"/>
              <a:ext cx="603504" cy="0"/>
            </a:xfrm>
            <a:prstGeom prst="line">
              <a:avLst/>
            </a:prstGeom>
            <a:ln w="19050">
              <a:solidFill>
                <a:srgbClr val="9AA0A6"/>
              </a:solidFill>
            </a:ln>
          </p:spPr>
        </p:cxnSp>
        <p:sp>
          <p:nvSpPr>
            <p:cNvPr id="41" name="Rounded Rectangle 40"/>
            <p:cNvSpPr/>
            <p:nvPr/>
          </p:nvSpPr>
          <p:spPr>
            <a:xfrm>
              <a:off x="3403853" y="3115360"/>
              <a:ext cx="502920" cy="191109"/>
            </a:xfrm>
            <a:prstGeom prst="roundRect">
              <a:avLst>
                <a:gd name="adj" fmla="val 28708"/>
              </a:avLst>
            </a:prstGeom>
            <a:solidFill>
              <a:srgbClr val="F28C28"/>
            </a:solidFill>
            <a:ln>
              <a:noFill/>
            </a:ln>
          </p:spPr>
          <p:txBody>
            <a:bodyPr rtlCol="0" anchor="ctr"/>
            <a:lstStyle/>
            <a:p>
              <a:pPr algn="ctr"/>
              <a:endParaRPr/>
            </a:p>
          </p:txBody>
        </p:sp>
        <p:sp>
          <p:nvSpPr>
            <p:cNvPr id="42" name="Rectangle 41"/>
            <p:cNvSpPr/>
            <p:nvPr/>
          </p:nvSpPr>
          <p:spPr>
            <a:xfrm>
              <a:off x="3816248" y="3115360"/>
              <a:ext cx="90525" cy="191109"/>
            </a:xfrm>
            <a:prstGeom prst="rect">
              <a:avLst/>
            </a:prstGeom>
            <a:solidFill>
              <a:srgbClr val="1B1D21"/>
            </a:solidFill>
            <a:ln w="12700">
              <a:solidFill>
                <a:srgbClr val="9AA0A6"/>
              </a:solidFill>
            </a:ln>
          </p:spPr>
          <p:txBody>
            <a:bodyPr rtlCol="0" anchor="ctr"/>
            <a:lstStyle/>
            <a:p>
              <a:pPr algn="ctr"/>
              <a:endParaRPr/>
            </a:p>
          </p:txBody>
        </p:sp>
        <p:sp>
          <p:nvSpPr>
            <p:cNvPr id="43" name="Rectangle 42"/>
            <p:cNvSpPr/>
            <p:nvPr/>
          </p:nvSpPr>
          <p:spPr>
            <a:xfrm>
              <a:off x="3836365" y="3024835"/>
              <a:ext cx="50292" cy="100584"/>
            </a:xfrm>
            <a:prstGeom prst="rect">
              <a:avLst/>
            </a:prstGeom>
            <a:solidFill>
              <a:srgbClr val="1B1D21"/>
            </a:solidFill>
            <a:ln w="12700">
              <a:solidFill>
                <a:srgbClr val="9AA0A6"/>
              </a:solidFill>
            </a:ln>
          </p:spPr>
          <p:txBody>
            <a:bodyPr rtlCol="0" anchor="ctr"/>
            <a:lstStyle/>
            <a:p>
              <a:pPr algn="ctr"/>
              <a:endParaRPr/>
            </a:p>
          </p:txBody>
        </p:sp>
        <p:sp>
          <p:nvSpPr>
            <p:cNvPr id="44" name="Rectangle 43"/>
            <p:cNvSpPr/>
            <p:nvPr/>
          </p:nvSpPr>
          <p:spPr>
            <a:xfrm>
              <a:off x="3816248" y="3004718"/>
              <a:ext cx="90525" cy="30175"/>
            </a:xfrm>
            <a:prstGeom prst="rect">
              <a:avLst/>
            </a:prstGeom>
            <a:solidFill>
              <a:srgbClr val="1B1D21"/>
            </a:solidFill>
            <a:ln w="12700">
              <a:solidFill>
                <a:srgbClr val="9AA0A6"/>
              </a:solidFill>
            </a:ln>
          </p:spPr>
          <p:txBody>
            <a:bodyPr rtlCol="0" anchor="ctr"/>
            <a:lstStyle/>
            <a:p>
              <a:pPr algn="ctr"/>
              <a:endParaRPr/>
            </a:p>
          </p:txBody>
        </p:sp>
        <p:sp>
          <p:nvSpPr>
            <p:cNvPr id="45" name="Rounded Rectangle 44"/>
            <p:cNvSpPr/>
            <p:nvPr/>
          </p:nvSpPr>
          <p:spPr>
            <a:xfrm>
              <a:off x="3554729" y="3065068"/>
              <a:ext cx="100584" cy="60350"/>
            </a:xfrm>
            <a:prstGeom prst="roundRect">
              <a:avLst>
                <a:gd name="adj" fmla="val 50000"/>
              </a:avLst>
            </a:prstGeom>
            <a:solidFill>
              <a:srgbClr val="F28C28"/>
            </a:solidFill>
            <a:ln>
              <a:noFill/>
            </a:ln>
          </p:spPr>
          <p:txBody>
            <a:bodyPr rtlCol="0" anchor="ctr"/>
            <a:lstStyle/>
            <a:p>
              <a:pPr algn="ctr"/>
              <a:endParaRPr/>
            </a:p>
          </p:txBody>
        </p:sp>
        <p:sp>
          <p:nvSpPr>
            <p:cNvPr id="46" name="Rectangle 45"/>
            <p:cNvSpPr/>
            <p:nvPr/>
          </p:nvSpPr>
          <p:spPr>
            <a:xfrm>
              <a:off x="3102101" y="3044952"/>
              <a:ext cx="301752" cy="271576"/>
            </a:xfrm>
            <a:prstGeom prst="rect">
              <a:avLst/>
            </a:prstGeom>
            <a:solidFill>
              <a:srgbClr val="F28C28"/>
            </a:solidFill>
            <a:ln>
              <a:noFill/>
            </a:ln>
          </p:spPr>
          <p:txBody>
            <a:bodyPr rtlCol="0" anchor="ctr"/>
            <a:lstStyle/>
            <a:p>
              <a:pPr algn="ctr"/>
              <a:endParaRPr/>
            </a:p>
          </p:txBody>
        </p:sp>
        <p:sp>
          <p:nvSpPr>
            <p:cNvPr id="47" name="Rectangle 46"/>
            <p:cNvSpPr/>
            <p:nvPr/>
          </p:nvSpPr>
          <p:spPr>
            <a:xfrm>
              <a:off x="3087014" y="3019806"/>
              <a:ext cx="331927" cy="35204"/>
            </a:xfrm>
            <a:prstGeom prst="rect">
              <a:avLst/>
            </a:prstGeom>
            <a:solidFill>
              <a:srgbClr val="1B1D21"/>
            </a:solidFill>
            <a:ln w="12700">
              <a:solidFill>
                <a:srgbClr val="9AA0A6"/>
              </a:solidFill>
            </a:ln>
          </p:spPr>
          <p:txBody>
            <a:bodyPr rtlCol="0" anchor="ctr"/>
            <a:lstStyle/>
            <a:p>
              <a:pPr algn="ctr"/>
              <a:endParaRPr/>
            </a:p>
          </p:txBody>
        </p:sp>
        <p:sp>
          <p:nvSpPr>
            <p:cNvPr id="48" name="Rectangle 47"/>
            <p:cNvSpPr/>
            <p:nvPr/>
          </p:nvSpPr>
          <p:spPr>
            <a:xfrm>
              <a:off x="3172510" y="3105302"/>
              <a:ext cx="130759" cy="100584"/>
            </a:xfrm>
            <a:prstGeom prst="rect">
              <a:avLst/>
            </a:prstGeom>
            <a:solidFill>
              <a:srgbClr val="1B1D21"/>
            </a:solidFill>
            <a:ln>
              <a:noFill/>
            </a:ln>
          </p:spPr>
          <p:txBody>
            <a:bodyPr rtlCol="0" anchor="ctr"/>
            <a:lstStyle/>
            <a:p>
              <a:pPr algn="ctr"/>
              <a:endParaRPr/>
            </a:p>
          </p:txBody>
        </p:sp>
        <p:sp>
          <p:nvSpPr>
            <p:cNvPr id="49" name="Rounded Rectangle 48"/>
            <p:cNvSpPr/>
            <p:nvPr/>
          </p:nvSpPr>
          <p:spPr>
            <a:xfrm>
              <a:off x="822960" y="3931920"/>
              <a:ext cx="3291840" cy="1005840"/>
            </a:xfrm>
            <a:prstGeom prst="roundRect">
              <a:avLst>
                <a:gd name="adj" fmla="val 7272"/>
              </a:avLst>
            </a:prstGeom>
            <a:solidFill>
              <a:srgbClr val="2B2F36"/>
            </a:solidFill>
            <a:ln w="19050">
              <a:solidFill>
                <a:srgbClr val="9AA0A6"/>
              </a:solidFill>
            </a:ln>
          </p:spPr>
          <p:txBody>
            <a:bodyPr rtlCol="0" anchor="ctr"/>
            <a:lstStyle/>
            <a:p>
              <a:pPr algn="ctr"/>
              <a:endParaRPr/>
            </a:p>
          </p:txBody>
        </p:sp>
        <p:sp>
          <p:nvSpPr>
            <p:cNvPr id="50" name="TextBox 49"/>
            <p:cNvSpPr txBox="1"/>
            <p:nvPr/>
          </p:nvSpPr>
          <p:spPr>
            <a:xfrm>
              <a:off x="1051560" y="3931920"/>
              <a:ext cx="1280160" cy="1005840"/>
            </a:xfrm>
            <a:prstGeom prst="rect">
              <a:avLst/>
            </a:prstGeom>
            <a:noFill/>
          </p:spPr>
          <p:txBody>
            <a:bodyPr wrap="square" lIns="0" tIns="0" rIns="0" bIns="0" anchor="ctr">
              <a:noAutofit/>
            </a:bodyPr>
            <a:lstStyle/>
            <a:p>
              <a:pPr algn="l"/>
              <a:r>
                <a:rPr lang="en-GB" sz="2000" b="1" i="0">
                  <a:solidFill>
                    <a:srgbClr val="F2F2F2"/>
                  </a:solidFill>
                  <a:latin typeface="Arial"/>
                </a:rPr>
                <a:t>Large</a:t>
              </a:r>
              <a:endParaRPr lang="en-GB" sz="2000"/>
            </a:p>
          </p:txBody>
        </p:sp>
        <p:sp>
          <p:nvSpPr>
            <p:cNvPr id="51" name="Rounded Rectangle 50"/>
            <p:cNvSpPr/>
            <p:nvPr/>
          </p:nvSpPr>
          <p:spPr>
            <a:xfrm>
              <a:off x="2270820" y="4344131"/>
              <a:ext cx="566928" cy="192755"/>
            </a:xfrm>
            <a:prstGeom prst="roundRect">
              <a:avLst>
                <a:gd name="adj" fmla="val 14231"/>
              </a:avLst>
            </a:prstGeom>
            <a:solidFill>
              <a:srgbClr val="2B2F36"/>
            </a:solidFill>
            <a:ln w="19050">
              <a:solidFill>
                <a:srgbClr val="F28C28"/>
              </a:solidFill>
            </a:ln>
          </p:spPr>
          <p:txBody>
            <a:bodyPr rtlCol="0" anchor="ctr"/>
            <a:lstStyle/>
            <a:p>
              <a:pPr algn="ctr"/>
              <a:endParaRPr/>
            </a:p>
          </p:txBody>
        </p:sp>
        <p:sp>
          <p:nvSpPr>
            <p:cNvPr id="52" name="Freeform 51"/>
            <p:cNvSpPr/>
            <p:nvPr/>
          </p:nvSpPr>
          <p:spPr>
            <a:xfrm>
              <a:off x="2316175" y="4264761"/>
              <a:ext cx="476219" cy="79370"/>
            </a:xfrm>
            <a:custGeom>
              <a:avLst/>
              <a:gdLst/>
              <a:ahLst/>
              <a:cxnLst/>
              <a:rect l="l" t="t" r="r" b="b"/>
              <a:pathLst>
                <a:path w="476219" h="79370">
                  <a:moveTo>
                    <a:pt x="0" y="79370"/>
                  </a:moveTo>
                  <a:lnTo>
                    <a:pt x="68031" y="11339"/>
                  </a:lnTo>
                  <a:lnTo>
                    <a:pt x="408188" y="0"/>
                  </a:lnTo>
                  <a:lnTo>
                    <a:pt x="476219" y="79370"/>
                  </a:lnTo>
                  <a:close/>
                </a:path>
              </a:pathLst>
            </a:custGeom>
            <a:solidFill>
              <a:srgbClr val="1B1D21"/>
            </a:solidFill>
            <a:ln w="12700">
              <a:solidFill>
                <a:srgbClr val="9AA0A6"/>
              </a:solidFill>
            </a:ln>
          </p:spPr>
          <p:txBody>
            <a:bodyPr rtlCol="0" anchor="ctr"/>
            <a:lstStyle/>
            <a:p>
              <a:pPr algn="ctr"/>
              <a:endParaRPr/>
            </a:p>
          </p:txBody>
        </p:sp>
        <p:sp>
          <p:nvSpPr>
            <p:cNvPr id="53" name="Oval 52"/>
            <p:cNvSpPr/>
            <p:nvPr/>
          </p:nvSpPr>
          <p:spPr>
            <a:xfrm>
              <a:off x="2361529" y="4582241"/>
              <a:ext cx="136062" cy="136062"/>
            </a:xfrm>
            <a:prstGeom prst="ellipse">
              <a:avLst/>
            </a:prstGeom>
            <a:solidFill>
              <a:srgbClr val="343A43"/>
            </a:solidFill>
            <a:ln w="12700">
              <a:solidFill>
                <a:srgbClr val="9AA0A6"/>
              </a:solidFill>
            </a:ln>
          </p:spPr>
          <p:txBody>
            <a:bodyPr rtlCol="0" anchor="ctr"/>
            <a:lstStyle/>
            <a:p>
              <a:pPr algn="ctr"/>
              <a:endParaRPr/>
            </a:p>
          </p:txBody>
        </p:sp>
        <p:sp>
          <p:nvSpPr>
            <p:cNvPr id="54" name="Oval 53"/>
            <p:cNvSpPr/>
            <p:nvPr/>
          </p:nvSpPr>
          <p:spPr>
            <a:xfrm>
              <a:off x="2610977" y="4582241"/>
              <a:ext cx="136062" cy="136062"/>
            </a:xfrm>
            <a:prstGeom prst="ellipse">
              <a:avLst/>
            </a:prstGeom>
            <a:solidFill>
              <a:srgbClr val="343A43"/>
            </a:solidFill>
            <a:ln w="12700">
              <a:solidFill>
                <a:srgbClr val="9AA0A6"/>
              </a:solidFill>
            </a:ln>
          </p:spPr>
          <p:txBody>
            <a:bodyPr rtlCol="0" anchor="ctr"/>
            <a:lstStyle/>
            <a:p>
              <a:pPr algn="ctr"/>
              <a:endParaRPr/>
            </a:p>
          </p:txBody>
        </p:sp>
        <p:cxnSp>
          <p:nvCxnSpPr>
            <p:cNvPr id="55" name="Connector 54"/>
            <p:cNvCxnSpPr/>
            <p:nvPr/>
          </p:nvCxnSpPr>
          <p:spPr>
            <a:xfrm>
              <a:off x="2837748" y="4502871"/>
              <a:ext cx="45355" cy="0"/>
            </a:xfrm>
            <a:prstGeom prst="line">
              <a:avLst/>
            </a:prstGeom>
            <a:ln w="25400">
              <a:solidFill>
                <a:srgbClr val="9AA0A6"/>
              </a:solidFill>
            </a:ln>
          </p:spPr>
        </p:cxnSp>
        <p:sp>
          <p:nvSpPr>
            <p:cNvPr id="56" name="Rectangle 55"/>
            <p:cNvSpPr/>
            <p:nvPr/>
          </p:nvSpPr>
          <p:spPr>
            <a:xfrm>
              <a:off x="2883103" y="4502871"/>
              <a:ext cx="1020470" cy="56692"/>
            </a:xfrm>
            <a:prstGeom prst="rect">
              <a:avLst/>
            </a:prstGeom>
            <a:solidFill>
              <a:srgbClr val="1B1D21"/>
            </a:solidFill>
            <a:ln w="12700">
              <a:solidFill>
                <a:srgbClr val="9AA0A6"/>
              </a:solidFill>
            </a:ln>
          </p:spPr>
          <p:txBody>
            <a:bodyPr rtlCol="0" anchor="ctr"/>
            <a:lstStyle/>
            <a:p>
              <a:pPr algn="ctr"/>
              <a:endParaRPr/>
            </a:p>
          </p:txBody>
        </p:sp>
        <p:sp>
          <p:nvSpPr>
            <p:cNvPr id="57" name="Oval 56"/>
            <p:cNvSpPr/>
            <p:nvPr/>
          </p:nvSpPr>
          <p:spPr>
            <a:xfrm>
              <a:off x="2956803" y="4548225"/>
              <a:ext cx="170078" cy="170078"/>
            </a:xfrm>
            <a:prstGeom prst="ellipse">
              <a:avLst/>
            </a:prstGeom>
            <a:solidFill>
              <a:srgbClr val="343A43"/>
            </a:solidFill>
            <a:ln w="15875">
              <a:solidFill>
                <a:srgbClr val="9AA0A6"/>
              </a:solidFill>
            </a:ln>
          </p:spPr>
          <p:txBody>
            <a:bodyPr rtlCol="0" anchor="ctr"/>
            <a:lstStyle/>
            <a:p>
              <a:pPr algn="ctr"/>
              <a:endParaRPr/>
            </a:p>
          </p:txBody>
        </p:sp>
        <p:sp>
          <p:nvSpPr>
            <p:cNvPr id="58" name="Oval 57"/>
            <p:cNvSpPr/>
            <p:nvPr/>
          </p:nvSpPr>
          <p:spPr>
            <a:xfrm>
              <a:off x="3024835" y="4616256"/>
              <a:ext cx="34015" cy="34015"/>
            </a:xfrm>
            <a:prstGeom prst="ellipse">
              <a:avLst/>
            </a:prstGeom>
            <a:solidFill>
              <a:srgbClr val="9AA0A6"/>
            </a:solidFill>
            <a:ln>
              <a:noFill/>
            </a:ln>
          </p:spPr>
          <p:txBody>
            <a:bodyPr rtlCol="0" anchor="ctr"/>
            <a:lstStyle/>
            <a:p>
              <a:pPr algn="ctr"/>
              <a:endParaRPr/>
            </a:p>
          </p:txBody>
        </p:sp>
        <p:sp>
          <p:nvSpPr>
            <p:cNvPr id="59" name="Oval 58"/>
            <p:cNvSpPr/>
            <p:nvPr/>
          </p:nvSpPr>
          <p:spPr>
            <a:xfrm>
              <a:off x="3155228" y="4548225"/>
              <a:ext cx="170078" cy="170078"/>
            </a:xfrm>
            <a:prstGeom prst="ellipse">
              <a:avLst/>
            </a:prstGeom>
            <a:solidFill>
              <a:srgbClr val="343A43"/>
            </a:solidFill>
            <a:ln w="15875">
              <a:solidFill>
                <a:srgbClr val="9AA0A6"/>
              </a:solidFill>
            </a:ln>
          </p:spPr>
          <p:txBody>
            <a:bodyPr rtlCol="0" anchor="ctr"/>
            <a:lstStyle/>
            <a:p>
              <a:pPr algn="ctr"/>
              <a:endParaRPr/>
            </a:p>
          </p:txBody>
        </p:sp>
        <p:sp>
          <p:nvSpPr>
            <p:cNvPr id="60" name="Oval 59"/>
            <p:cNvSpPr/>
            <p:nvPr/>
          </p:nvSpPr>
          <p:spPr>
            <a:xfrm>
              <a:off x="3223259" y="4616256"/>
              <a:ext cx="34015" cy="34015"/>
            </a:xfrm>
            <a:prstGeom prst="ellipse">
              <a:avLst/>
            </a:prstGeom>
            <a:solidFill>
              <a:srgbClr val="9AA0A6"/>
            </a:solidFill>
            <a:ln>
              <a:noFill/>
            </a:ln>
          </p:spPr>
          <p:txBody>
            <a:bodyPr rtlCol="0" anchor="ctr"/>
            <a:lstStyle/>
            <a:p>
              <a:pPr algn="ctr"/>
              <a:endParaRPr/>
            </a:p>
          </p:txBody>
        </p:sp>
        <p:sp>
          <p:nvSpPr>
            <p:cNvPr id="61" name="Oval 60"/>
            <p:cNvSpPr/>
            <p:nvPr/>
          </p:nvSpPr>
          <p:spPr>
            <a:xfrm>
              <a:off x="3353653" y="4548225"/>
              <a:ext cx="170078" cy="170078"/>
            </a:xfrm>
            <a:prstGeom prst="ellipse">
              <a:avLst/>
            </a:prstGeom>
            <a:solidFill>
              <a:srgbClr val="343A43"/>
            </a:solidFill>
            <a:ln w="15875">
              <a:solidFill>
                <a:srgbClr val="9AA0A6"/>
              </a:solidFill>
            </a:ln>
          </p:spPr>
          <p:txBody>
            <a:bodyPr rtlCol="0" anchor="ctr"/>
            <a:lstStyle/>
            <a:p>
              <a:pPr algn="ctr"/>
              <a:endParaRPr/>
            </a:p>
          </p:txBody>
        </p:sp>
        <p:sp>
          <p:nvSpPr>
            <p:cNvPr id="62" name="Oval 61"/>
            <p:cNvSpPr/>
            <p:nvPr/>
          </p:nvSpPr>
          <p:spPr>
            <a:xfrm>
              <a:off x="3421684" y="4616256"/>
              <a:ext cx="34015" cy="34015"/>
            </a:xfrm>
            <a:prstGeom prst="ellipse">
              <a:avLst/>
            </a:prstGeom>
            <a:solidFill>
              <a:srgbClr val="9AA0A6"/>
            </a:solidFill>
            <a:ln>
              <a:noFill/>
            </a:ln>
          </p:spPr>
          <p:txBody>
            <a:bodyPr rtlCol="0" anchor="ctr"/>
            <a:lstStyle/>
            <a:p>
              <a:pPr algn="ctr"/>
              <a:endParaRPr/>
            </a:p>
          </p:txBody>
        </p:sp>
        <p:sp>
          <p:nvSpPr>
            <p:cNvPr id="63" name="Oval 62"/>
            <p:cNvSpPr/>
            <p:nvPr/>
          </p:nvSpPr>
          <p:spPr>
            <a:xfrm>
              <a:off x="3552078" y="4548225"/>
              <a:ext cx="170078" cy="170078"/>
            </a:xfrm>
            <a:prstGeom prst="ellipse">
              <a:avLst/>
            </a:prstGeom>
            <a:solidFill>
              <a:srgbClr val="343A43"/>
            </a:solidFill>
            <a:ln w="15875">
              <a:solidFill>
                <a:srgbClr val="9AA0A6"/>
              </a:solidFill>
            </a:ln>
          </p:spPr>
          <p:txBody>
            <a:bodyPr rtlCol="0" anchor="ctr"/>
            <a:lstStyle/>
            <a:p>
              <a:pPr algn="ctr"/>
              <a:endParaRPr/>
            </a:p>
          </p:txBody>
        </p:sp>
        <p:sp>
          <p:nvSpPr>
            <p:cNvPr id="64" name="Oval 63"/>
            <p:cNvSpPr/>
            <p:nvPr/>
          </p:nvSpPr>
          <p:spPr>
            <a:xfrm>
              <a:off x="3620109" y="4616256"/>
              <a:ext cx="34015" cy="34015"/>
            </a:xfrm>
            <a:prstGeom prst="ellipse">
              <a:avLst/>
            </a:prstGeom>
            <a:solidFill>
              <a:srgbClr val="9AA0A6"/>
            </a:solidFill>
            <a:ln>
              <a:noFill/>
            </a:ln>
          </p:spPr>
          <p:txBody>
            <a:bodyPr rtlCol="0" anchor="ctr"/>
            <a:lstStyle/>
            <a:p>
              <a:pPr algn="ctr"/>
              <a:endParaRPr/>
            </a:p>
          </p:txBody>
        </p:sp>
        <p:sp>
          <p:nvSpPr>
            <p:cNvPr id="65" name="Oval 64"/>
            <p:cNvSpPr/>
            <p:nvPr/>
          </p:nvSpPr>
          <p:spPr>
            <a:xfrm>
              <a:off x="3750503" y="4548225"/>
              <a:ext cx="170078" cy="170078"/>
            </a:xfrm>
            <a:prstGeom prst="ellipse">
              <a:avLst/>
            </a:prstGeom>
            <a:solidFill>
              <a:srgbClr val="343A43"/>
            </a:solidFill>
            <a:ln w="15875">
              <a:solidFill>
                <a:srgbClr val="9AA0A6"/>
              </a:solidFill>
            </a:ln>
          </p:spPr>
          <p:txBody>
            <a:bodyPr rtlCol="0" anchor="ctr"/>
            <a:lstStyle/>
            <a:p>
              <a:pPr algn="ctr"/>
              <a:endParaRPr/>
            </a:p>
          </p:txBody>
        </p:sp>
        <p:sp>
          <p:nvSpPr>
            <p:cNvPr id="66" name="Oval 65"/>
            <p:cNvSpPr/>
            <p:nvPr/>
          </p:nvSpPr>
          <p:spPr>
            <a:xfrm>
              <a:off x="3818534" y="4616256"/>
              <a:ext cx="34015" cy="34015"/>
            </a:xfrm>
            <a:prstGeom prst="ellipse">
              <a:avLst/>
            </a:prstGeom>
            <a:solidFill>
              <a:srgbClr val="9AA0A6"/>
            </a:solidFill>
            <a:ln>
              <a:noFill/>
            </a:ln>
          </p:spPr>
          <p:txBody>
            <a:bodyPr rtlCol="0" anchor="ctr"/>
            <a:lstStyle/>
            <a:p>
              <a:pPr algn="ctr"/>
              <a:endParaRPr/>
            </a:p>
          </p:txBody>
        </p:sp>
        <p:cxnSp>
          <p:nvCxnSpPr>
            <p:cNvPr id="67" name="Connector 66"/>
            <p:cNvCxnSpPr/>
            <p:nvPr/>
          </p:nvCxnSpPr>
          <p:spPr>
            <a:xfrm>
              <a:off x="3041843" y="4633264"/>
              <a:ext cx="793699" cy="0"/>
            </a:xfrm>
            <a:prstGeom prst="line">
              <a:avLst/>
            </a:prstGeom>
            <a:ln w="19050">
              <a:solidFill>
                <a:srgbClr val="9AA0A6"/>
              </a:solidFill>
            </a:ln>
          </p:spPr>
        </p:cxnSp>
        <p:sp>
          <p:nvSpPr>
            <p:cNvPr id="68" name="Rounded Rectangle 67"/>
            <p:cNvSpPr/>
            <p:nvPr/>
          </p:nvSpPr>
          <p:spPr>
            <a:xfrm>
              <a:off x="3223259" y="4287438"/>
              <a:ext cx="680313" cy="215432"/>
            </a:xfrm>
            <a:prstGeom prst="roundRect">
              <a:avLst>
                <a:gd name="adj" fmla="val 25466"/>
              </a:avLst>
            </a:prstGeom>
            <a:solidFill>
              <a:srgbClr val="F28C28"/>
            </a:solidFill>
            <a:ln>
              <a:noFill/>
            </a:ln>
          </p:spPr>
          <p:txBody>
            <a:bodyPr rtlCol="0" anchor="ctr"/>
            <a:lstStyle/>
            <a:p>
              <a:pPr algn="ctr"/>
              <a:endParaRPr/>
            </a:p>
          </p:txBody>
        </p:sp>
        <p:sp>
          <p:nvSpPr>
            <p:cNvPr id="69" name="Rectangle 68"/>
            <p:cNvSpPr/>
            <p:nvPr/>
          </p:nvSpPr>
          <p:spPr>
            <a:xfrm>
              <a:off x="3801526" y="4287438"/>
              <a:ext cx="102047" cy="215432"/>
            </a:xfrm>
            <a:prstGeom prst="rect">
              <a:avLst/>
            </a:prstGeom>
            <a:solidFill>
              <a:srgbClr val="1B1D21"/>
            </a:solidFill>
            <a:ln w="12700">
              <a:solidFill>
                <a:srgbClr val="9AA0A6"/>
              </a:solidFill>
            </a:ln>
          </p:spPr>
          <p:txBody>
            <a:bodyPr rtlCol="0" anchor="ctr"/>
            <a:lstStyle/>
            <a:p>
              <a:pPr algn="ctr"/>
              <a:endParaRPr/>
            </a:p>
          </p:txBody>
        </p:sp>
        <p:sp>
          <p:nvSpPr>
            <p:cNvPr id="70" name="Rectangle 69"/>
            <p:cNvSpPr/>
            <p:nvPr/>
          </p:nvSpPr>
          <p:spPr>
            <a:xfrm>
              <a:off x="3824203" y="4185391"/>
              <a:ext cx="56692" cy="113385"/>
            </a:xfrm>
            <a:prstGeom prst="rect">
              <a:avLst/>
            </a:prstGeom>
            <a:solidFill>
              <a:srgbClr val="1B1D21"/>
            </a:solidFill>
            <a:ln w="12700">
              <a:solidFill>
                <a:srgbClr val="9AA0A6"/>
              </a:solidFill>
            </a:ln>
          </p:spPr>
          <p:txBody>
            <a:bodyPr rtlCol="0" anchor="ctr"/>
            <a:lstStyle/>
            <a:p>
              <a:pPr algn="ctr"/>
              <a:endParaRPr/>
            </a:p>
          </p:txBody>
        </p:sp>
        <p:sp>
          <p:nvSpPr>
            <p:cNvPr id="71" name="Rectangle 70"/>
            <p:cNvSpPr/>
            <p:nvPr/>
          </p:nvSpPr>
          <p:spPr>
            <a:xfrm>
              <a:off x="3801526" y="4162714"/>
              <a:ext cx="102047" cy="34015"/>
            </a:xfrm>
            <a:prstGeom prst="rect">
              <a:avLst/>
            </a:prstGeom>
            <a:solidFill>
              <a:srgbClr val="1B1D21"/>
            </a:solidFill>
            <a:ln w="12700">
              <a:solidFill>
                <a:srgbClr val="9AA0A6"/>
              </a:solidFill>
            </a:ln>
          </p:spPr>
          <p:txBody>
            <a:bodyPr rtlCol="0" anchor="ctr"/>
            <a:lstStyle/>
            <a:p>
              <a:pPr algn="ctr"/>
              <a:endParaRPr/>
            </a:p>
          </p:txBody>
        </p:sp>
        <p:sp>
          <p:nvSpPr>
            <p:cNvPr id="72" name="Rounded Rectangle 71"/>
            <p:cNvSpPr/>
            <p:nvPr/>
          </p:nvSpPr>
          <p:spPr>
            <a:xfrm>
              <a:off x="3393338" y="4230745"/>
              <a:ext cx="113385" cy="68031"/>
            </a:xfrm>
            <a:prstGeom prst="roundRect">
              <a:avLst>
                <a:gd name="adj" fmla="val 50000"/>
              </a:avLst>
            </a:prstGeom>
            <a:solidFill>
              <a:srgbClr val="F28C28"/>
            </a:solidFill>
            <a:ln>
              <a:noFill/>
            </a:ln>
          </p:spPr>
          <p:txBody>
            <a:bodyPr rtlCol="0" anchor="ctr"/>
            <a:lstStyle/>
            <a:p>
              <a:pPr algn="ctr"/>
              <a:endParaRPr/>
            </a:p>
          </p:txBody>
        </p:sp>
        <p:sp>
          <p:nvSpPr>
            <p:cNvPr id="73" name="Rectangle 72"/>
            <p:cNvSpPr/>
            <p:nvPr/>
          </p:nvSpPr>
          <p:spPr>
            <a:xfrm>
              <a:off x="2883103" y="4208068"/>
              <a:ext cx="340156" cy="306141"/>
            </a:xfrm>
            <a:prstGeom prst="rect">
              <a:avLst/>
            </a:prstGeom>
            <a:solidFill>
              <a:srgbClr val="F28C28"/>
            </a:solidFill>
            <a:ln>
              <a:noFill/>
            </a:ln>
          </p:spPr>
          <p:txBody>
            <a:bodyPr rtlCol="0" anchor="ctr"/>
            <a:lstStyle/>
            <a:p>
              <a:pPr algn="ctr"/>
              <a:endParaRPr/>
            </a:p>
          </p:txBody>
        </p:sp>
        <p:sp>
          <p:nvSpPr>
            <p:cNvPr id="74" name="Rectangle 73"/>
            <p:cNvSpPr/>
            <p:nvPr/>
          </p:nvSpPr>
          <p:spPr>
            <a:xfrm>
              <a:off x="2866095" y="4179722"/>
              <a:ext cx="374172" cy="39684"/>
            </a:xfrm>
            <a:prstGeom prst="rect">
              <a:avLst/>
            </a:prstGeom>
            <a:solidFill>
              <a:srgbClr val="1B1D21"/>
            </a:solidFill>
            <a:ln w="12700">
              <a:solidFill>
                <a:srgbClr val="9AA0A6"/>
              </a:solidFill>
            </a:ln>
          </p:spPr>
          <p:txBody>
            <a:bodyPr rtlCol="0" anchor="ctr"/>
            <a:lstStyle/>
            <a:p>
              <a:pPr algn="ctr"/>
              <a:endParaRPr/>
            </a:p>
          </p:txBody>
        </p:sp>
        <p:sp>
          <p:nvSpPr>
            <p:cNvPr id="75" name="Rectangle 74"/>
            <p:cNvSpPr/>
            <p:nvPr/>
          </p:nvSpPr>
          <p:spPr>
            <a:xfrm>
              <a:off x="2962473" y="4276100"/>
              <a:ext cx="147401" cy="113385"/>
            </a:xfrm>
            <a:prstGeom prst="rect">
              <a:avLst/>
            </a:prstGeom>
            <a:solidFill>
              <a:srgbClr val="1B1D21"/>
            </a:solidFill>
            <a:ln>
              <a:noFill/>
            </a:ln>
          </p:spPr>
          <p:txBody>
            <a:bodyPr rtlCol="0" anchor="ctr"/>
            <a:lstStyle/>
            <a:p>
              <a:pPr algn="ctr"/>
              <a:endParaRPr/>
            </a:p>
          </p:txBody>
        </p:sp>
      </p:grpSp>
      <p:sp>
        <p:nvSpPr>
          <p:cNvPr id="76" name="Arrow" descr="An arrow pointing from the three size cards to the job categories."/>
          <p:cNvSpPr/>
          <p:nvPr/>
        </p:nvSpPr>
        <p:spPr>
          <a:xfrm>
            <a:off x="4434840" y="2926080"/>
            <a:ext cx="1097280" cy="731520"/>
          </a:xfrm>
          <a:prstGeom prst="rightArrow">
            <a:avLst/>
          </a:prstGeom>
          <a:solidFill>
            <a:srgbClr val="F28C28"/>
          </a:solidFill>
          <a:ln>
            <a:noFill/>
          </a:ln>
        </p:spPr>
        <p:txBody>
          <a:bodyPr rtlCol="0" anchor="ctr"/>
          <a:lstStyle/>
          <a:p>
            <a:pPr algn="ctr"/>
            <a:endParaRPr/>
          </a:p>
        </p:txBody>
      </p:sp>
      <p:sp>
        <p:nvSpPr>
          <p:cNvPr id="77" name="Note: candidate names"/>
          <p:cNvSpPr txBox="1"/>
          <p:nvPr/>
        </p:nvSpPr>
        <p:spPr>
          <a:xfrm>
            <a:off x="5897880" y="1417320"/>
            <a:ext cx="5669280" cy="320040"/>
          </a:xfrm>
          <a:prstGeom prst="rect">
            <a:avLst/>
          </a:prstGeom>
          <a:noFill/>
        </p:spPr>
        <p:txBody>
          <a:bodyPr wrap="square" lIns="0" tIns="0" rIns="0" bIns="0" anchor="ctr">
            <a:noAutofit/>
          </a:bodyPr>
          <a:lstStyle/>
          <a:p>
            <a:pPr algn="l"/>
            <a:r>
              <a:rPr lang="en-GB" sz="1400" b="0" i="1">
                <a:solidFill>
                  <a:srgbClr val="A9B0B8"/>
                </a:solidFill>
                <a:latin typeface="Arial"/>
              </a:rPr>
              <a:t>Candidate names only</a:t>
            </a:r>
            <a:endParaRPr lang="en-GB" sz="1400"/>
          </a:p>
        </p:txBody>
      </p:sp>
      <p:grpSp>
        <p:nvGrpSpPr>
          <p:cNvPr id="78" name="Shelf of four categories" descr="A two-shelf rack holding four category chips: Shunters, Mixed Traffic, Fast Freight and Heavy Freight. These are candidate names only."/>
          <p:cNvGrpSpPr/>
          <p:nvPr/>
        </p:nvGrpSpPr>
        <p:grpSpPr>
          <a:xfrm>
            <a:off x="5897880" y="1828800"/>
            <a:ext cx="5742432" cy="2926080"/>
            <a:chOff x="5897880" y="1828800"/>
            <a:chExt cx="5742432" cy="2926080"/>
          </a:xfrm>
        </p:grpSpPr>
        <p:sp>
          <p:nvSpPr>
            <p:cNvPr id="79" name="Rounded Rectangle 78"/>
            <p:cNvSpPr/>
            <p:nvPr/>
          </p:nvSpPr>
          <p:spPr>
            <a:xfrm>
              <a:off x="5897880" y="1828800"/>
              <a:ext cx="5742432" cy="2926080"/>
            </a:xfrm>
            <a:prstGeom prst="roundRect">
              <a:avLst>
                <a:gd name="adj" fmla="val 2500"/>
              </a:avLst>
            </a:prstGeom>
            <a:solidFill>
              <a:srgbClr val="2B2F36"/>
            </a:solidFill>
            <a:ln w="19050">
              <a:solidFill>
                <a:srgbClr val="4A515B"/>
              </a:solidFill>
            </a:ln>
          </p:spPr>
          <p:txBody>
            <a:bodyPr rtlCol="0" anchor="ctr"/>
            <a:lstStyle/>
            <a:p>
              <a:pPr algn="ctr"/>
              <a:endParaRPr/>
            </a:p>
          </p:txBody>
        </p:sp>
        <p:sp>
          <p:nvSpPr>
            <p:cNvPr id="80" name="Rounded Rectangle 79"/>
            <p:cNvSpPr/>
            <p:nvPr/>
          </p:nvSpPr>
          <p:spPr>
            <a:xfrm>
              <a:off x="6172200" y="2103120"/>
              <a:ext cx="2514600" cy="731520"/>
            </a:xfrm>
            <a:prstGeom prst="roundRect">
              <a:avLst>
                <a:gd name="adj" fmla="val 50000"/>
              </a:avLst>
            </a:prstGeom>
            <a:solidFill>
              <a:srgbClr val="343A43"/>
            </a:solidFill>
            <a:ln w="25400">
              <a:solidFill>
                <a:srgbClr val="F28C28"/>
              </a:solidFill>
            </a:ln>
          </p:spPr>
          <p:txBody>
            <a:bodyPr wrap="square" rtlCol="0" anchor="ctr">
              <a:noAutofit/>
            </a:bodyPr>
            <a:lstStyle/>
            <a:p>
              <a:pPr algn="ctr"/>
              <a:r>
                <a:rPr lang="en-GB" sz="1800" b="1" i="0">
                  <a:solidFill>
                    <a:srgbClr val="F2F2F2"/>
                  </a:solidFill>
                  <a:latin typeface="Arial"/>
                </a:rPr>
                <a:t>Shunters</a:t>
              </a:r>
              <a:endParaRPr lang="en-GB" sz="1800"/>
            </a:p>
          </p:txBody>
        </p:sp>
        <p:sp>
          <p:nvSpPr>
            <p:cNvPr id="81" name="Rectangle 80"/>
            <p:cNvSpPr/>
            <p:nvPr/>
          </p:nvSpPr>
          <p:spPr>
            <a:xfrm>
              <a:off x="6080760" y="2971800"/>
              <a:ext cx="5376672" cy="109728"/>
            </a:xfrm>
            <a:prstGeom prst="rect">
              <a:avLst/>
            </a:prstGeom>
            <a:solidFill>
              <a:srgbClr val="6B5B4B"/>
            </a:solidFill>
            <a:ln>
              <a:noFill/>
            </a:ln>
          </p:spPr>
          <p:txBody>
            <a:bodyPr rtlCol="0" anchor="ctr"/>
            <a:lstStyle/>
            <a:p>
              <a:pPr algn="ctr"/>
              <a:endParaRPr/>
            </a:p>
          </p:txBody>
        </p:sp>
        <p:sp>
          <p:nvSpPr>
            <p:cNvPr id="82" name="Rounded Rectangle 81"/>
            <p:cNvSpPr/>
            <p:nvPr/>
          </p:nvSpPr>
          <p:spPr>
            <a:xfrm>
              <a:off x="8915400" y="2103120"/>
              <a:ext cx="2514600" cy="731520"/>
            </a:xfrm>
            <a:prstGeom prst="roundRect">
              <a:avLst>
                <a:gd name="adj" fmla="val 50000"/>
              </a:avLst>
            </a:prstGeom>
            <a:solidFill>
              <a:srgbClr val="343A43"/>
            </a:solidFill>
            <a:ln w="25400">
              <a:solidFill>
                <a:srgbClr val="F28C28"/>
              </a:solidFill>
            </a:ln>
          </p:spPr>
          <p:txBody>
            <a:bodyPr wrap="square" rtlCol="0" anchor="ctr">
              <a:noAutofit/>
            </a:bodyPr>
            <a:lstStyle/>
            <a:p>
              <a:pPr algn="ctr"/>
              <a:r>
                <a:rPr lang="en-GB" sz="1800" b="1" i="0">
                  <a:solidFill>
                    <a:srgbClr val="F2F2F2"/>
                  </a:solidFill>
                  <a:latin typeface="Arial"/>
                </a:rPr>
                <a:t>Mixed Traffic</a:t>
              </a:r>
              <a:endParaRPr lang="en-GB" sz="1800"/>
            </a:p>
          </p:txBody>
        </p:sp>
        <p:sp>
          <p:nvSpPr>
            <p:cNvPr id="83" name="Rectangle 82"/>
            <p:cNvSpPr/>
            <p:nvPr/>
          </p:nvSpPr>
          <p:spPr>
            <a:xfrm>
              <a:off x="6080760" y="2971800"/>
              <a:ext cx="5376672" cy="109728"/>
            </a:xfrm>
            <a:prstGeom prst="rect">
              <a:avLst/>
            </a:prstGeom>
            <a:solidFill>
              <a:srgbClr val="6B5B4B"/>
            </a:solidFill>
            <a:ln>
              <a:noFill/>
            </a:ln>
          </p:spPr>
          <p:txBody>
            <a:bodyPr rtlCol="0" anchor="ctr"/>
            <a:lstStyle/>
            <a:p>
              <a:pPr algn="ctr"/>
              <a:endParaRPr/>
            </a:p>
          </p:txBody>
        </p:sp>
        <p:sp>
          <p:nvSpPr>
            <p:cNvPr id="84" name="Rounded Rectangle 83"/>
            <p:cNvSpPr/>
            <p:nvPr/>
          </p:nvSpPr>
          <p:spPr>
            <a:xfrm>
              <a:off x="6172200" y="3429000"/>
              <a:ext cx="2514600" cy="731520"/>
            </a:xfrm>
            <a:prstGeom prst="roundRect">
              <a:avLst>
                <a:gd name="adj" fmla="val 50000"/>
              </a:avLst>
            </a:prstGeom>
            <a:solidFill>
              <a:srgbClr val="343A43"/>
            </a:solidFill>
            <a:ln w="25400">
              <a:solidFill>
                <a:srgbClr val="F28C28"/>
              </a:solidFill>
            </a:ln>
          </p:spPr>
          <p:txBody>
            <a:bodyPr wrap="square" rtlCol="0" anchor="ctr">
              <a:noAutofit/>
            </a:bodyPr>
            <a:lstStyle/>
            <a:p>
              <a:pPr algn="ctr"/>
              <a:r>
                <a:rPr lang="en-GB" sz="1800" b="1" i="0">
                  <a:solidFill>
                    <a:srgbClr val="F2F2F2"/>
                  </a:solidFill>
                  <a:latin typeface="Arial"/>
                </a:rPr>
                <a:t>Fast Freight</a:t>
              </a:r>
              <a:endParaRPr lang="en-GB" sz="1800"/>
            </a:p>
          </p:txBody>
        </p:sp>
        <p:sp>
          <p:nvSpPr>
            <p:cNvPr id="85" name="Rectangle 84"/>
            <p:cNvSpPr/>
            <p:nvPr/>
          </p:nvSpPr>
          <p:spPr>
            <a:xfrm>
              <a:off x="6080760" y="4297680"/>
              <a:ext cx="5376672" cy="109728"/>
            </a:xfrm>
            <a:prstGeom prst="rect">
              <a:avLst/>
            </a:prstGeom>
            <a:solidFill>
              <a:srgbClr val="6B5B4B"/>
            </a:solidFill>
            <a:ln>
              <a:noFill/>
            </a:ln>
          </p:spPr>
          <p:txBody>
            <a:bodyPr rtlCol="0" anchor="ctr"/>
            <a:lstStyle/>
            <a:p>
              <a:pPr algn="ctr"/>
              <a:endParaRPr/>
            </a:p>
          </p:txBody>
        </p:sp>
        <p:sp>
          <p:nvSpPr>
            <p:cNvPr id="86" name="Rounded Rectangle 85"/>
            <p:cNvSpPr/>
            <p:nvPr/>
          </p:nvSpPr>
          <p:spPr>
            <a:xfrm>
              <a:off x="8915400" y="3429000"/>
              <a:ext cx="2514600" cy="731520"/>
            </a:xfrm>
            <a:prstGeom prst="roundRect">
              <a:avLst>
                <a:gd name="adj" fmla="val 50000"/>
              </a:avLst>
            </a:prstGeom>
            <a:solidFill>
              <a:srgbClr val="343A43"/>
            </a:solidFill>
            <a:ln w="25400">
              <a:solidFill>
                <a:srgbClr val="F28C28"/>
              </a:solidFill>
            </a:ln>
          </p:spPr>
          <p:txBody>
            <a:bodyPr wrap="square" rtlCol="0" anchor="ctr">
              <a:noAutofit/>
            </a:bodyPr>
            <a:lstStyle/>
            <a:p>
              <a:pPr algn="ctr"/>
              <a:r>
                <a:rPr lang="en-GB" sz="1800" b="1" i="0">
                  <a:solidFill>
                    <a:srgbClr val="F2F2F2"/>
                  </a:solidFill>
                  <a:latin typeface="Arial"/>
                </a:rPr>
                <a:t>Heavy Freight</a:t>
              </a:r>
              <a:endParaRPr lang="en-GB" sz="1800"/>
            </a:p>
          </p:txBody>
        </p:sp>
        <p:sp>
          <p:nvSpPr>
            <p:cNvPr id="87" name="Rectangle 86"/>
            <p:cNvSpPr/>
            <p:nvPr/>
          </p:nvSpPr>
          <p:spPr>
            <a:xfrm>
              <a:off x="6080760" y="4297680"/>
              <a:ext cx="5376672" cy="109728"/>
            </a:xfrm>
            <a:prstGeom prst="rect">
              <a:avLst/>
            </a:prstGeom>
            <a:solidFill>
              <a:srgbClr val="6B5B4B"/>
            </a:solidFill>
            <a:ln>
              <a:noFill/>
            </a:ln>
          </p:spPr>
          <p:txBody>
            <a:bodyPr rtlCol="0" anchor="ctr"/>
            <a:lstStyle/>
            <a:p>
              <a:pPr algn="ctr"/>
              <a:endParaRPr/>
            </a:p>
          </p:txBody>
        </p:sp>
      </p:grpSp>
      <p:sp>
        <p:nvSpPr>
          <p:cNvPr id="88" name="Inline chip: Undecided"/>
          <p:cNvSpPr/>
          <p:nvPr/>
        </p:nvSpPr>
        <p:spPr>
          <a:xfrm>
            <a:off x="5897880" y="4983480"/>
            <a:ext cx="2533965"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Names: undecided (OQ20)</a:t>
            </a:r>
            <a:endParaRPr lang="en-GB" sz="1400"/>
          </a:p>
        </p:txBody>
      </p:sp>
      <p:sp>
        <p:nvSpPr>
          <p:cNvPr id="89"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With many engines, you browse by job instead of only by size.</a:t>
            </a:r>
            <a:endParaRPr lang="en-GB" sz="2000"/>
          </a:p>
        </p:txBody>
      </p:sp>
      <p:sp>
        <p:nvSpPr>
          <p:cNvPr id="90"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91"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8</a:t>
            </a:r>
            <a:endParaRPr lang="en-GB" sz="1400"/>
          </a:p>
        </p:txBody>
      </p:sp>
    </p:spTree>
    <p:extLst>
      <p:ext uri="{BB962C8B-B14F-4D97-AF65-F5344CB8AC3E}">
        <p14:creationId xmlns:p14="http://schemas.microsoft.com/office/powerpoint/2010/main" val="30708448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57"/>
                                  </p:stCondLst>
                                  <p:childTnLst>
                                    <p:set>
                                      <p:cBhvr>
                                        <p:cTn id="9" dur="1" fill="hold">
                                          <p:stCondLst>
                                            <p:cond delay="0"/>
                                          </p:stCondLst>
                                        </p:cTn>
                                        <p:tgtEl>
                                          <p:spTgt spid="76"/>
                                        </p:tgtEl>
                                        <p:attrNameLst>
                                          <p:attrName>style.visibility</p:attrName>
                                        </p:attrNameLst>
                                      </p:cBhvr>
                                      <p:to>
                                        <p:strVal val="visible"/>
                                      </p:to>
                                    </p:set>
                                    <p:animEffect transition="in" filter="fade">
                                      <p:cBhvr>
                                        <p:cTn id="10" dur="500"/>
                                        <p:tgtEl>
                                          <p:spTgt spid="76"/>
                                        </p:tgtEl>
                                      </p:cBhvr>
                                    </p:animEffect>
                                  </p:childTnLst>
                                </p:cTn>
                              </p:par>
                              <p:par>
                                <p:cTn id="11" presetID="10" presetClass="entr" presetSubtype="0" fill="hold" nodeType="withEffect">
                                  <p:stCondLst>
                                    <p:cond delay="514"/>
                                  </p:stCondLst>
                                  <p:childTnLst>
                                    <p:set>
                                      <p:cBhvr>
                                        <p:cTn id="12" dur="1" fill="hold">
                                          <p:stCondLst>
                                            <p:cond delay="0"/>
                                          </p:stCondLst>
                                        </p:cTn>
                                        <p:tgtEl>
                                          <p:spTgt spid="77"/>
                                        </p:tgtEl>
                                        <p:attrNameLst>
                                          <p:attrName>style.visibility</p:attrName>
                                        </p:attrNameLst>
                                      </p:cBhvr>
                                      <p:to>
                                        <p:strVal val="visible"/>
                                      </p:to>
                                    </p:set>
                                    <p:animEffect transition="in" filter="fade">
                                      <p:cBhvr>
                                        <p:cTn id="13" dur="500"/>
                                        <p:tgtEl>
                                          <p:spTgt spid="77"/>
                                        </p:tgtEl>
                                      </p:cBhvr>
                                    </p:animEffect>
                                  </p:childTnLst>
                                </p:cTn>
                              </p:par>
                              <p:par>
                                <p:cTn id="14" presetID="10" presetClass="entr" presetSubtype="0" fill="hold" nodeType="withEffect">
                                  <p:stCondLst>
                                    <p:cond delay="771"/>
                                  </p:stCondLst>
                                  <p:childTnLst>
                                    <p:set>
                                      <p:cBhvr>
                                        <p:cTn id="15" dur="1" fill="hold">
                                          <p:stCondLst>
                                            <p:cond delay="0"/>
                                          </p:stCondLst>
                                        </p:cTn>
                                        <p:tgtEl>
                                          <p:spTgt spid="78"/>
                                        </p:tgtEl>
                                        <p:attrNameLst>
                                          <p:attrName>style.visibility</p:attrName>
                                        </p:attrNameLst>
                                      </p:cBhvr>
                                      <p:to>
                                        <p:strVal val="visible"/>
                                      </p:to>
                                    </p:set>
                                    <p:animEffect transition="in" filter="fade">
                                      <p:cBhvr>
                                        <p:cTn id="16" dur="500"/>
                                        <p:tgtEl>
                                          <p:spTgt spid="78"/>
                                        </p:tgtEl>
                                      </p:cBhvr>
                                    </p:animEffect>
                                  </p:childTnLst>
                                </p:cTn>
                              </p:par>
                              <p:par>
                                <p:cTn id="17" presetID="10" presetClass="entr" presetSubtype="0" fill="hold" nodeType="withEffect">
                                  <p:stCondLst>
                                    <p:cond delay="1028"/>
                                  </p:stCondLst>
                                  <p:childTnLst>
                                    <p:set>
                                      <p:cBhvr>
                                        <p:cTn id="18" dur="1" fill="hold">
                                          <p:stCondLst>
                                            <p:cond delay="0"/>
                                          </p:stCondLst>
                                        </p:cTn>
                                        <p:tgtEl>
                                          <p:spTgt spid="88"/>
                                        </p:tgtEl>
                                        <p:attrNameLst>
                                          <p:attrName>style.visibility</p:attrName>
                                        </p:attrNameLst>
                                      </p:cBhvr>
                                      <p:to>
                                        <p:strVal val="visible"/>
                                      </p:to>
                                    </p:set>
                                    <p:animEffect transition="in" filter="fade">
                                      <p:cBhvr>
                                        <p:cTn id="19" dur="500"/>
                                        <p:tgtEl>
                                          <p:spTgt spid="88"/>
                                        </p:tgtEl>
                                      </p:cBhvr>
                                    </p:animEffect>
                                  </p:childTnLst>
                                </p:cTn>
                              </p:par>
                              <p:par>
                                <p:cTn id="20" presetID="10" presetClass="entr" presetSubtype="0" fill="hold" nodeType="withEffect">
                                  <p:stCondLst>
                                    <p:cond delay="1285"/>
                                  </p:stCondLst>
                                  <p:childTnLst>
                                    <p:set>
                                      <p:cBhvr>
                                        <p:cTn id="21" dur="1" fill="hold">
                                          <p:stCondLst>
                                            <p:cond delay="0"/>
                                          </p:stCondLst>
                                        </p:cTn>
                                        <p:tgtEl>
                                          <p:spTgt spid="89"/>
                                        </p:tgtEl>
                                        <p:attrNameLst>
                                          <p:attrName>style.visibility</p:attrName>
                                        </p:attrNameLst>
                                      </p:cBhvr>
                                      <p:to>
                                        <p:strVal val="visible"/>
                                      </p:to>
                                    </p:set>
                                    <p:animEffect transition="in" filter="fade">
                                      <p:cBhvr>
                                        <p:cTn id="22" dur="500"/>
                                        <p:tgtEl>
                                          <p:spTgt spid="89"/>
                                        </p:tgtEl>
                                      </p:cBhvr>
                                    </p:animEffect>
                                  </p:childTnLst>
                                </p:cTn>
                              </p:par>
                              <p:par>
                                <p:cTn id="23" presetID="10" presetClass="entr" presetSubtype="0" fill="hold" nodeType="withEffect">
                                  <p:stCondLst>
                                    <p:cond delay="1542"/>
                                  </p:stCondLst>
                                  <p:childTnLst>
                                    <p:set>
                                      <p:cBhvr>
                                        <p:cTn id="24" dur="1" fill="hold">
                                          <p:stCondLst>
                                            <p:cond delay="0"/>
                                          </p:stCondLst>
                                        </p:cTn>
                                        <p:tgtEl>
                                          <p:spTgt spid="90"/>
                                        </p:tgtEl>
                                        <p:attrNameLst>
                                          <p:attrName>style.visibility</p:attrName>
                                        </p:attrNameLst>
                                      </p:cBhvr>
                                      <p:to>
                                        <p:strVal val="visible"/>
                                      </p:to>
                                    </p:set>
                                    <p:animEffect transition="in" filter="fade">
                                      <p:cBhvr>
                                        <p:cTn id="25"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Jobs, not a ladder</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sp>
        <p:nvSpPr>
          <p:cNvPr id="4" name="Label: same category"/>
          <p:cNvSpPr txBox="1"/>
          <p:nvPr/>
        </p:nvSpPr>
        <p:spPr>
          <a:xfrm>
            <a:off x="4754880" y="1389888"/>
            <a:ext cx="2679192" cy="365760"/>
          </a:xfrm>
          <a:prstGeom prst="rect">
            <a:avLst/>
          </a:prstGeom>
          <a:noFill/>
        </p:spPr>
        <p:txBody>
          <a:bodyPr wrap="square" lIns="0" tIns="0" rIns="0" bIns="0" anchor="ctr">
            <a:noAutofit/>
          </a:bodyPr>
          <a:lstStyle/>
          <a:p>
            <a:pPr algn="ctr"/>
            <a:r>
              <a:rPr lang="en-GB" sz="1600" b="1" i="0">
                <a:solidFill>
                  <a:srgbClr val="A9B0B8"/>
                </a:solidFill>
                <a:latin typeface="Arial"/>
              </a:rPr>
              <a:t>Same category</a:t>
            </a:r>
            <a:endParaRPr lang="en-GB" sz="1600"/>
          </a:p>
        </p:txBody>
      </p:sp>
      <p:cxnSp>
        <p:nvCxnSpPr>
          <p:cNvPr id="5" name="Connector 4"/>
          <p:cNvCxnSpPr/>
          <p:nvPr/>
        </p:nvCxnSpPr>
        <p:spPr>
          <a:xfrm>
            <a:off x="822960" y="1572768"/>
            <a:ext cx="3794760" cy="0"/>
          </a:xfrm>
          <a:prstGeom prst="line">
            <a:avLst/>
          </a:prstGeom>
          <a:ln w="19050">
            <a:solidFill>
              <a:srgbClr val="A9B0B8"/>
            </a:solidFill>
          </a:ln>
        </p:spPr>
      </p:cxnSp>
      <p:cxnSp>
        <p:nvCxnSpPr>
          <p:cNvPr id="6" name="Connector 5"/>
          <p:cNvCxnSpPr/>
          <p:nvPr/>
        </p:nvCxnSpPr>
        <p:spPr>
          <a:xfrm>
            <a:off x="7571231" y="1572768"/>
            <a:ext cx="3794761" cy="0"/>
          </a:xfrm>
          <a:prstGeom prst="line">
            <a:avLst/>
          </a:prstGeom>
          <a:ln w="19050">
            <a:solidFill>
              <a:srgbClr val="A9B0B8"/>
            </a:solidFill>
          </a:ln>
        </p:spPr>
      </p:cxnSp>
      <p:cxnSp>
        <p:nvCxnSpPr>
          <p:cNvPr id="7" name="Connector 6"/>
          <p:cNvCxnSpPr/>
          <p:nvPr/>
        </p:nvCxnSpPr>
        <p:spPr>
          <a:xfrm>
            <a:off x="822960" y="1572768"/>
            <a:ext cx="0" cy="182880"/>
          </a:xfrm>
          <a:prstGeom prst="line">
            <a:avLst/>
          </a:prstGeom>
          <a:ln w="19050">
            <a:solidFill>
              <a:srgbClr val="A9B0B8"/>
            </a:solidFill>
          </a:ln>
        </p:spPr>
      </p:cxnSp>
      <p:cxnSp>
        <p:nvCxnSpPr>
          <p:cNvPr id="8" name="Connector 7"/>
          <p:cNvCxnSpPr/>
          <p:nvPr/>
        </p:nvCxnSpPr>
        <p:spPr>
          <a:xfrm>
            <a:off x="11365992" y="1572768"/>
            <a:ext cx="0" cy="182880"/>
          </a:xfrm>
          <a:prstGeom prst="line">
            <a:avLst/>
          </a:prstGeom>
          <a:ln w="19050">
            <a:solidFill>
              <a:srgbClr val="A9B0B8"/>
            </a:solidFill>
          </a:ln>
        </p:spPr>
      </p:cxnSp>
      <p:grpSp>
        <p:nvGrpSpPr>
          <p:cNvPr id="9" name="Engine card" descr="A stocky tank engine with a bar profile: strong pull, low speed, middling range. Shape only."/>
          <p:cNvGrpSpPr/>
          <p:nvPr/>
        </p:nvGrpSpPr>
        <p:grpSpPr>
          <a:xfrm>
            <a:off x="822960" y="1920240"/>
            <a:ext cx="5120640" cy="3200400"/>
            <a:chOff x="822960" y="1920240"/>
            <a:chExt cx="5120640" cy="3200400"/>
          </a:xfrm>
        </p:grpSpPr>
        <p:sp>
          <p:nvSpPr>
            <p:cNvPr id="10" name="Rounded Rectangle 9"/>
            <p:cNvSpPr/>
            <p:nvPr/>
          </p:nvSpPr>
          <p:spPr>
            <a:xfrm>
              <a:off x="822960" y="1920240"/>
              <a:ext cx="5120640" cy="3200400"/>
            </a:xfrm>
            <a:prstGeom prst="roundRect">
              <a:avLst>
                <a:gd name="adj" fmla="val 2285"/>
              </a:avLst>
            </a:prstGeom>
            <a:solidFill>
              <a:srgbClr val="2B2F36"/>
            </a:solidFill>
            <a:ln w="19050">
              <a:solidFill>
                <a:srgbClr val="9AA0A6"/>
              </a:solidFill>
            </a:ln>
          </p:spPr>
          <p:txBody>
            <a:bodyPr rtlCol="0" anchor="ctr"/>
            <a:lstStyle/>
            <a:p>
              <a:pPr algn="ctr"/>
              <a:endParaRPr/>
            </a:p>
          </p:txBody>
        </p:sp>
        <p:sp>
          <p:nvSpPr>
            <p:cNvPr id="11" name="Rectangle 10"/>
            <p:cNvSpPr/>
            <p:nvPr/>
          </p:nvSpPr>
          <p:spPr>
            <a:xfrm>
              <a:off x="2515743" y="2755087"/>
              <a:ext cx="1682495" cy="105155"/>
            </a:xfrm>
            <a:prstGeom prst="rect">
              <a:avLst/>
            </a:prstGeom>
            <a:solidFill>
              <a:srgbClr val="1B1D21"/>
            </a:solidFill>
            <a:ln w="12700">
              <a:solidFill>
                <a:srgbClr val="9AA0A6"/>
              </a:solidFill>
            </a:ln>
          </p:spPr>
          <p:txBody>
            <a:bodyPr rtlCol="0" anchor="ctr"/>
            <a:lstStyle/>
            <a:p>
              <a:pPr algn="ctr"/>
              <a:endParaRPr/>
            </a:p>
          </p:txBody>
        </p:sp>
        <p:sp>
          <p:nvSpPr>
            <p:cNvPr id="12" name="Oval 11"/>
            <p:cNvSpPr/>
            <p:nvPr/>
          </p:nvSpPr>
          <p:spPr>
            <a:xfrm>
              <a:off x="2652445" y="2839211"/>
              <a:ext cx="315468" cy="315468"/>
            </a:xfrm>
            <a:prstGeom prst="ellipse">
              <a:avLst/>
            </a:prstGeom>
            <a:solidFill>
              <a:srgbClr val="343A43"/>
            </a:solidFill>
            <a:ln w="15875">
              <a:solidFill>
                <a:srgbClr val="9AA0A6"/>
              </a:solidFill>
            </a:ln>
          </p:spPr>
          <p:txBody>
            <a:bodyPr rtlCol="0" anchor="ctr"/>
            <a:lstStyle/>
            <a:p>
              <a:pPr algn="ctr"/>
              <a:endParaRPr/>
            </a:p>
          </p:txBody>
        </p:sp>
        <p:sp>
          <p:nvSpPr>
            <p:cNvPr id="13" name="Oval 12"/>
            <p:cNvSpPr/>
            <p:nvPr/>
          </p:nvSpPr>
          <p:spPr>
            <a:xfrm>
              <a:off x="2778633" y="2965399"/>
              <a:ext cx="63093" cy="63093"/>
            </a:xfrm>
            <a:prstGeom prst="ellipse">
              <a:avLst/>
            </a:prstGeom>
            <a:solidFill>
              <a:srgbClr val="9AA0A6"/>
            </a:solidFill>
            <a:ln>
              <a:noFill/>
            </a:ln>
          </p:spPr>
          <p:txBody>
            <a:bodyPr rtlCol="0" anchor="ctr"/>
            <a:lstStyle/>
            <a:p>
              <a:pPr algn="ctr"/>
              <a:endParaRPr/>
            </a:p>
          </p:txBody>
        </p:sp>
        <p:sp>
          <p:nvSpPr>
            <p:cNvPr id="14" name="Oval 13"/>
            <p:cNvSpPr/>
            <p:nvPr/>
          </p:nvSpPr>
          <p:spPr>
            <a:xfrm>
              <a:off x="3073069" y="2839211"/>
              <a:ext cx="315468" cy="315468"/>
            </a:xfrm>
            <a:prstGeom prst="ellipse">
              <a:avLst/>
            </a:prstGeom>
            <a:solidFill>
              <a:srgbClr val="343A43"/>
            </a:solidFill>
            <a:ln w="15875">
              <a:solidFill>
                <a:srgbClr val="9AA0A6"/>
              </a:solidFill>
            </a:ln>
          </p:spPr>
          <p:txBody>
            <a:bodyPr rtlCol="0" anchor="ctr"/>
            <a:lstStyle/>
            <a:p>
              <a:pPr algn="ctr"/>
              <a:endParaRPr/>
            </a:p>
          </p:txBody>
        </p:sp>
        <p:sp>
          <p:nvSpPr>
            <p:cNvPr id="15" name="Oval 14"/>
            <p:cNvSpPr/>
            <p:nvPr/>
          </p:nvSpPr>
          <p:spPr>
            <a:xfrm>
              <a:off x="3199257" y="2965399"/>
              <a:ext cx="63093" cy="63093"/>
            </a:xfrm>
            <a:prstGeom prst="ellipse">
              <a:avLst/>
            </a:prstGeom>
            <a:solidFill>
              <a:srgbClr val="9AA0A6"/>
            </a:solidFill>
            <a:ln>
              <a:noFill/>
            </a:ln>
          </p:spPr>
          <p:txBody>
            <a:bodyPr rtlCol="0" anchor="ctr"/>
            <a:lstStyle/>
            <a:p>
              <a:pPr algn="ctr"/>
              <a:endParaRPr/>
            </a:p>
          </p:txBody>
        </p:sp>
        <p:sp>
          <p:nvSpPr>
            <p:cNvPr id="16" name="Oval 15"/>
            <p:cNvSpPr/>
            <p:nvPr/>
          </p:nvSpPr>
          <p:spPr>
            <a:xfrm>
              <a:off x="3493693" y="2839211"/>
              <a:ext cx="315468" cy="315468"/>
            </a:xfrm>
            <a:prstGeom prst="ellipse">
              <a:avLst/>
            </a:prstGeom>
            <a:solidFill>
              <a:srgbClr val="343A43"/>
            </a:solidFill>
            <a:ln w="15875">
              <a:solidFill>
                <a:srgbClr val="9AA0A6"/>
              </a:solidFill>
            </a:ln>
          </p:spPr>
          <p:txBody>
            <a:bodyPr rtlCol="0" anchor="ctr"/>
            <a:lstStyle/>
            <a:p>
              <a:pPr algn="ctr"/>
              <a:endParaRPr/>
            </a:p>
          </p:txBody>
        </p:sp>
        <p:sp>
          <p:nvSpPr>
            <p:cNvPr id="17" name="Oval 16"/>
            <p:cNvSpPr/>
            <p:nvPr/>
          </p:nvSpPr>
          <p:spPr>
            <a:xfrm>
              <a:off x="3619881" y="2965399"/>
              <a:ext cx="63093" cy="63093"/>
            </a:xfrm>
            <a:prstGeom prst="ellipse">
              <a:avLst/>
            </a:prstGeom>
            <a:solidFill>
              <a:srgbClr val="9AA0A6"/>
            </a:solidFill>
            <a:ln>
              <a:noFill/>
            </a:ln>
          </p:spPr>
          <p:txBody>
            <a:bodyPr rtlCol="0" anchor="ctr"/>
            <a:lstStyle/>
            <a:p>
              <a:pPr algn="ctr"/>
              <a:endParaRPr/>
            </a:p>
          </p:txBody>
        </p:sp>
        <p:sp>
          <p:nvSpPr>
            <p:cNvPr id="18" name="Oval 17"/>
            <p:cNvSpPr/>
            <p:nvPr/>
          </p:nvSpPr>
          <p:spPr>
            <a:xfrm>
              <a:off x="3914317" y="2839211"/>
              <a:ext cx="315468" cy="315468"/>
            </a:xfrm>
            <a:prstGeom prst="ellipse">
              <a:avLst/>
            </a:prstGeom>
            <a:solidFill>
              <a:srgbClr val="343A43"/>
            </a:solidFill>
            <a:ln w="15875">
              <a:solidFill>
                <a:srgbClr val="9AA0A6"/>
              </a:solidFill>
            </a:ln>
          </p:spPr>
          <p:txBody>
            <a:bodyPr rtlCol="0" anchor="ctr"/>
            <a:lstStyle/>
            <a:p>
              <a:pPr algn="ctr"/>
              <a:endParaRPr/>
            </a:p>
          </p:txBody>
        </p:sp>
        <p:sp>
          <p:nvSpPr>
            <p:cNvPr id="19" name="Oval 18"/>
            <p:cNvSpPr/>
            <p:nvPr/>
          </p:nvSpPr>
          <p:spPr>
            <a:xfrm>
              <a:off x="4040504" y="2965399"/>
              <a:ext cx="63093" cy="63093"/>
            </a:xfrm>
            <a:prstGeom prst="ellipse">
              <a:avLst/>
            </a:prstGeom>
            <a:solidFill>
              <a:srgbClr val="9AA0A6"/>
            </a:solidFill>
            <a:ln>
              <a:noFill/>
            </a:ln>
          </p:spPr>
          <p:txBody>
            <a:bodyPr rtlCol="0" anchor="ctr"/>
            <a:lstStyle/>
            <a:p>
              <a:pPr algn="ctr"/>
              <a:endParaRPr/>
            </a:p>
          </p:txBody>
        </p:sp>
        <p:cxnSp>
          <p:nvCxnSpPr>
            <p:cNvPr id="20" name="Connector 19"/>
            <p:cNvCxnSpPr/>
            <p:nvPr/>
          </p:nvCxnSpPr>
          <p:spPr>
            <a:xfrm>
              <a:off x="2810179" y="2996946"/>
              <a:ext cx="1261872" cy="0"/>
            </a:xfrm>
            <a:prstGeom prst="line">
              <a:avLst/>
            </a:prstGeom>
            <a:ln w="19050">
              <a:solidFill>
                <a:srgbClr val="9AA0A6"/>
              </a:solidFill>
            </a:ln>
          </p:spPr>
        </p:cxnSp>
        <p:sp>
          <p:nvSpPr>
            <p:cNvPr id="21" name="Rounded Rectangle 20"/>
            <p:cNvSpPr/>
            <p:nvPr/>
          </p:nvSpPr>
          <p:spPr>
            <a:xfrm>
              <a:off x="3146678" y="2355494"/>
              <a:ext cx="1051560" cy="399592"/>
            </a:xfrm>
            <a:prstGeom prst="roundRect">
              <a:avLst>
                <a:gd name="adj" fmla="val 13729"/>
              </a:avLst>
            </a:prstGeom>
            <a:solidFill>
              <a:srgbClr val="F28C28"/>
            </a:solidFill>
            <a:ln>
              <a:noFill/>
            </a:ln>
          </p:spPr>
          <p:txBody>
            <a:bodyPr rtlCol="0" anchor="ctr"/>
            <a:lstStyle/>
            <a:p>
              <a:pPr algn="ctr"/>
              <a:endParaRPr/>
            </a:p>
          </p:txBody>
        </p:sp>
        <p:sp>
          <p:nvSpPr>
            <p:cNvPr id="22" name="Rounded Rectangle 21"/>
            <p:cNvSpPr/>
            <p:nvPr/>
          </p:nvSpPr>
          <p:spPr>
            <a:xfrm>
              <a:off x="3188741" y="2502712"/>
              <a:ext cx="757123" cy="273405"/>
            </a:xfrm>
            <a:prstGeom prst="roundRect">
              <a:avLst>
                <a:gd name="adj" fmla="val 13377"/>
              </a:avLst>
            </a:prstGeom>
            <a:solidFill>
              <a:srgbClr val="F28C28"/>
            </a:solidFill>
            <a:ln w="15875">
              <a:solidFill>
                <a:srgbClr val="1B1D21"/>
              </a:solidFill>
            </a:ln>
          </p:spPr>
          <p:txBody>
            <a:bodyPr rtlCol="0" anchor="ctr"/>
            <a:lstStyle/>
            <a:p>
              <a:pPr algn="ctr"/>
              <a:endParaRPr/>
            </a:p>
          </p:txBody>
        </p:sp>
        <p:sp>
          <p:nvSpPr>
            <p:cNvPr id="23" name="Rectangle 22"/>
            <p:cNvSpPr/>
            <p:nvPr/>
          </p:nvSpPr>
          <p:spPr>
            <a:xfrm>
              <a:off x="4008958" y="2355494"/>
              <a:ext cx="189280" cy="399592"/>
            </a:xfrm>
            <a:prstGeom prst="rect">
              <a:avLst/>
            </a:prstGeom>
            <a:solidFill>
              <a:srgbClr val="1B1D21"/>
            </a:solidFill>
            <a:ln w="12700">
              <a:solidFill>
                <a:srgbClr val="9AA0A6"/>
              </a:solidFill>
            </a:ln>
          </p:spPr>
          <p:txBody>
            <a:bodyPr rtlCol="0" anchor="ctr"/>
            <a:lstStyle/>
            <a:p>
              <a:pPr algn="ctr"/>
              <a:endParaRPr/>
            </a:p>
          </p:txBody>
        </p:sp>
        <p:sp>
          <p:nvSpPr>
            <p:cNvPr id="24" name="Rectangle 23"/>
            <p:cNvSpPr/>
            <p:nvPr/>
          </p:nvSpPr>
          <p:spPr>
            <a:xfrm>
              <a:off x="4051020" y="2166213"/>
              <a:ext cx="105155" cy="210311"/>
            </a:xfrm>
            <a:prstGeom prst="rect">
              <a:avLst/>
            </a:prstGeom>
            <a:solidFill>
              <a:srgbClr val="1B1D21"/>
            </a:solidFill>
            <a:ln w="12700">
              <a:solidFill>
                <a:srgbClr val="9AA0A6"/>
              </a:solidFill>
            </a:ln>
          </p:spPr>
          <p:txBody>
            <a:bodyPr rtlCol="0" anchor="ctr"/>
            <a:lstStyle/>
            <a:p>
              <a:pPr algn="ctr"/>
              <a:endParaRPr/>
            </a:p>
          </p:txBody>
        </p:sp>
        <p:sp>
          <p:nvSpPr>
            <p:cNvPr id="25" name="Rectangle 24"/>
            <p:cNvSpPr/>
            <p:nvPr/>
          </p:nvSpPr>
          <p:spPr>
            <a:xfrm>
              <a:off x="4008958" y="2124151"/>
              <a:ext cx="189280" cy="63093"/>
            </a:xfrm>
            <a:prstGeom prst="rect">
              <a:avLst/>
            </a:prstGeom>
            <a:solidFill>
              <a:srgbClr val="1B1D21"/>
            </a:solidFill>
            <a:ln w="12700">
              <a:solidFill>
                <a:srgbClr val="9AA0A6"/>
              </a:solidFill>
            </a:ln>
          </p:spPr>
          <p:txBody>
            <a:bodyPr rtlCol="0" anchor="ctr"/>
            <a:lstStyle/>
            <a:p>
              <a:pPr algn="ctr"/>
              <a:endParaRPr/>
            </a:p>
          </p:txBody>
        </p:sp>
        <p:sp>
          <p:nvSpPr>
            <p:cNvPr id="26" name="Rounded Rectangle 25"/>
            <p:cNvSpPr/>
            <p:nvPr/>
          </p:nvSpPr>
          <p:spPr>
            <a:xfrm>
              <a:off x="3462147" y="2250338"/>
              <a:ext cx="210311" cy="126187"/>
            </a:xfrm>
            <a:prstGeom prst="roundRect">
              <a:avLst>
                <a:gd name="adj" fmla="val 28985"/>
              </a:avLst>
            </a:prstGeom>
            <a:solidFill>
              <a:srgbClr val="F28C28"/>
            </a:solidFill>
            <a:ln>
              <a:noFill/>
            </a:ln>
          </p:spPr>
          <p:txBody>
            <a:bodyPr rtlCol="0" anchor="ctr"/>
            <a:lstStyle/>
            <a:p>
              <a:pPr algn="ctr"/>
              <a:endParaRPr/>
            </a:p>
          </p:txBody>
        </p:sp>
        <p:sp>
          <p:nvSpPr>
            <p:cNvPr id="27" name="Rectangle 26"/>
            <p:cNvSpPr/>
            <p:nvPr/>
          </p:nvSpPr>
          <p:spPr>
            <a:xfrm>
              <a:off x="2515743" y="2208276"/>
              <a:ext cx="630936" cy="567842"/>
            </a:xfrm>
            <a:prstGeom prst="rect">
              <a:avLst/>
            </a:prstGeom>
            <a:solidFill>
              <a:srgbClr val="F28C28"/>
            </a:solidFill>
            <a:ln>
              <a:noFill/>
            </a:ln>
          </p:spPr>
          <p:txBody>
            <a:bodyPr rtlCol="0" anchor="ctr"/>
            <a:lstStyle/>
            <a:p>
              <a:pPr algn="ctr"/>
              <a:endParaRPr/>
            </a:p>
          </p:txBody>
        </p:sp>
        <p:sp>
          <p:nvSpPr>
            <p:cNvPr id="28" name="Rectangle 27"/>
            <p:cNvSpPr/>
            <p:nvPr/>
          </p:nvSpPr>
          <p:spPr>
            <a:xfrm>
              <a:off x="2484196" y="2155698"/>
              <a:ext cx="694029" cy="73609"/>
            </a:xfrm>
            <a:prstGeom prst="rect">
              <a:avLst/>
            </a:prstGeom>
            <a:solidFill>
              <a:srgbClr val="1B1D21"/>
            </a:solidFill>
            <a:ln w="12700">
              <a:solidFill>
                <a:srgbClr val="9AA0A6"/>
              </a:solidFill>
            </a:ln>
          </p:spPr>
          <p:txBody>
            <a:bodyPr rtlCol="0" anchor="ctr"/>
            <a:lstStyle/>
            <a:p>
              <a:pPr algn="ctr"/>
              <a:endParaRPr/>
            </a:p>
          </p:txBody>
        </p:sp>
        <p:sp>
          <p:nvSpPr>
            <p:cNvPr id="29" name="Rectangle 28"/>
            <p:cNvSpPr/>
            <p:nvPr/>
          </p:nvSpPr>
          <p:spPr>
            <a:xfrm>
              <a:off x="2662961" y="2334463"/>
              <a:ext cx="273405" cy="210311"/>
            </a:xfrm>
            <a:prstGeom prst="rect">
              <a:avLst/>
            </a:prstGeom>
            <a:solidFill>
              <a:srgbClr val="1B1D21"/>
            </a:solidFill>
            <a:ln>
              <a:noFill/>
            </a:ln>
          </p:spPr>
          <p:txBody>
            <a:bodyPr rtlCol="0" anchor="ctr"/>
            <a:lstStyle/>
            <a:p>
              <a:pPr algn="ctr"/>
              <a:endParaRPr/>
            </a:p>
          </p:txBody>
        </p:sp>
        <p:sp>
          <p:nvSpPr>
            <p:cNvPr id="30" name="TextBox 29"/>
            <p:cNvSpPr txBox="1"/>
            <p:nvPr/>
          </p:nvSpPr>
          <p:spPr>
            <a:xfrm>
              <a:off x="1143000" y="3447288"/>
              <a:ext cx="1005840" cy="365760"/>
            </a:xfrm>
            <a:prstGeom prst="rect">
              <a:avLst/>
            </a:prstGeom>
            <a:noFill/>
          </p:spPr>
          <p:txBody>
            <a:bodyPr wrap="square" lIns="0" tIns="0" rIns="0" bIns="0" anchor="ctr">
              <a:noAutofit/>
            </a:bodyPr>
            <a:lstStyle/>
            <a:p>
              <a:pPr algn="l"/>
              <a:r>
                <a:rPr lang="en-GB" sz="1600" b="1" i="0">
                  <a:solidFill>
                    <a:srgbClr val="F2F2F2"/>
                  </a:solidFill>
                  <a:latin typeface="Arial"/>
                </a:rPr>
                <a:t>Pull</a:t>
              </a:r>
              <a:endParaRPr lang="en-GB" sz="1600"/>
            </a:p>
          </p:txBody>
        </p:sp>
        <p:sp>
          <p:nvSpPr>
            <p:cNvPr id="31" name="Rounded Rectangle 30"/>
            <p:cNvSpPr/>
            <p:nvPr/>
          </p:nvSpPr>
          <p:spPr>
            <a:xfrm>
              <a:off x="2286000" y="3529584"/>
              <a:ext cx="3383280" cy="219456"/>
            </a:xfrm>
            <a:prstGeom prst="roundRect">
              <a:avLst>
                <a:gd name="adj" fmla="val 50000"/>
              </a:avLst>
            </a:prstGeom>
            <a:solidFill>
              <a:srgbClr val="4A515B"/>
            </a:solidFill>
            <a:ln>
              <a:noFill/>
            </a:ln>
          </p:spPr>
          <p:txBody>
            <a:bodyPr rtlCol="0" anchor="ctr"/>
            <a:lstStyle/>
            <a:p>
              <a:pPr algn="ctr"/>
              <a:endParaRPr/>
            </a:p>
          </p:txBody>
        </p:sp>
        <p:sp>
          <p:nvSpPr>
            <p:cNvPr id="32" name="Rounded Rectangle 31"/>
            <p:cNvSpPr/>
            <p:nvPr/>
          </p:nvSpPr>
          <p:spPr>
            <a:xfrm>
              <a:off x="2286000" y="3529584"/>
              <a:ext cx="2977286" cy="219456"/>
            </a:xfrm>
            <a:prstGeom prst="roundRect">
              <a:avLst>
                <a:gd name="adj" fmla="val 50000"/>
              </a:avLst>
            </a:prstGeom>
            <a:solidFill>
              <a:srgbClr val="F28C28"/>
            </a:solidFill>
            <a:ln>
              <a:noFill/>
            </a:ln>
          </p:spPr>
          <p:txBody>
            <a:bodyPr rtlCol="0" anchor="ctr"/>
            <a:lstStyle/>
            <a:p>
              <a:pPr algn="ctr"/>
              <a:endParaRPr/>
            </a:p>
          </p:txBody>
        </p:sp>
        <p:sp>
          <p:nvSpPr>
            <p:cNvPr id="33" name="TextBox 32"/>
            <p:cNvSpPr txBox="1"/>
            <p:nvPr/>
          </p:nvSpPr>
          <p:spPr>
            <a:xfrm>
              <a:off x="1143000" y="3950208"/>
              <a:ext cx="1005840" cy="365760"/>
            </a:xfrm>
            <a:prstGeom prst="rect">
              <a:avLst/>
            </a:prstGeom>
            <a:noFill/>
          </p:spPr>
          <p:txBody>
            <a:bodyPr wrap="square" lIns="0" tIns="0" rIns="0" bIns="0" anchor="ctr">
              <a:noAutofit/>
            </a:bodyPr>
            <a:lstStyle/>
            <a:p>
              <a:pPr algn="l"/>
              <a:r>
                <a:rPr lang="en-GB" sz="1600" b="1" i="0">
                  <a:solidFill>
                    <a:srgbClr val="F2F2F2"/>
                  </a:solidFill>
                  <a:latin typeface="Arial"/>
                </a:rPr>
                <a:t>Speed</a:t>
              </a:r>
              <a:endParaRPr lang="en-GB" sz="1600"/>
            </a:p>
          </p:txBody>
        </p:sp>
        <p:sp>
          <p:nvSpPr>
            <p:cNvPr id="34" name="Rounded Rectangle 33"/>
            <p:cNvSpPr/>
            <p:nvPr/>
          </p:nvSpPr>
          <p:spPr>
            <a:xfrm>
              <a:off x="2286000" y="4032504"/>
              <a:ext cx="3383280" cy="219456"/>
            </a:xfrm>
            <a:prstGeom prst="roundRect">
              <a:avLst>
                <a:gd name="adj" fmla="val 50000"/>
              </a:avLst>
            </a:prstGeom>
            <a:solidFill>
              <a:srgbClr val="4A515B"/>
            </a:solidFill>
            <a:ln>
              <a:noFill/>
            </a:ln>
          </p:spPr>
          <p:txBody>
            <a:bodyPr rtlCol="0" anchor="ctr"/>
            <a:lstStyle/>
            <a:p>
              <a:pPr algn="ctr"/>
              <a:endParaRPr/>
            </a:p>
          </p:txBody>
        </p:sp>
        <p:sp>
          <p:nvSpPr>
            <p:cNvPr id="35" name="Rounded Rectangle 34"/>
            <p:cNvSpPr/>
            <p:nvPr/>
          </p:nvSpPr>
          <p:spPr>
            <a:xfrm>
              <a:off x="2286000" y="4032504"/>
              <a:ext cx="1150315" cy="219456"/>
            </a:xfrm>
            <a:prstGeom prst="roundRect">
              <a:avLst>
                <a:gd name="adj" fmla="val 50000"/>
              </a:avLst>
            </a:prstGeom>
            <a:solidFill>
              <a:srgbClr val="F28C28"/>
            </a:solidFill>
            <a:ln>
              <a:noFill/>
            </a:ln>
          </p:spPr>
          <p:txBody>
            <a:bodyPr rtlCol="0" anchor="ctr"/>
            <a:lstStyle/>
            <a:p>
              <a:pPr algn="ctr"/>
              <a:endParaRPr/>
            </a:p>
          </p:txBody>
        </p:sp>
        <p:sp>
          <p:nvSpPr>
            <p:cNvPr id="36" name="TextBox 35"/>
            <p:cNvSpPr txBox="1"/>
            <p:nvPr/>
          </p:nvSpPr>
          <p:spPr>
            <a:xfrm>
              <a:off x="1143000" y="4453128"/>
              <a:ext cx="1005840" cy="365760"/>
            </a:xfrm>
            <a:prstGeom prst="rect">
              <a:avLst/>
            </a:prstGeom>
            <a:noFill/>
          </p:spPr>
          <p:txBody>
            <a:bodyPr wrap="square" lIns="0" tIns="0" rIns="0" bIns="0" anchor="ctr">
              <a:noAutofit/>
            </a:bodyPr>
            <a:lstStyle/>
            <a:p>
              <a:pPr algn="l"/>
              <a:r>
                <a:rPr lang="en-GB" sz="1600" b="1" i="0">
                  <a:solidFill>
                    <a:srgbClr val="F2F2F2"/>
                  </a:solidFill>
                  <a:latin typeface="Arial"/>
                </a:rPr>
                <a:t>Range</a:t>
              </a:r>
              <a:endParaRPr lang="en-GB" sz="1600"/>
            </a:p>
          </p:txBody>
        </p:sp>
        <p:sp>
          <p:nvSpPr>
            <p:cNvPr id="37" name="Rounded Rectangle 36"/>
            <p:cNvSpPr/>
            <p:nvPr/>
          </p:nvSpPr>
          <p:spPr>
            <a:xfrm>
              <a:off x="2286000" y="4535424"/>
              <a:ext cx="3383280" cy="219456"/>
            </a:xfrm>
            <a:prstGeom prst="roundRect">
              <a:avLst>
                <a:gd name="adj" fmla="val 50000"/>
              </a:avLst>
            </a:prstGeom>
            <a:solidFill>
              <a:srgbClr val="4A515B"/>
            </a:solidFill>
            <a:ln>
              <a:noFill/>
            </a:ln>
          </p:spPr>
          <p:txBody>
            <a:bodyPr rtlCol="0" anchor="ctr"/>
            <a:lstStyle/>
            <a:p>
              <a:pPr algn="ctr"/>
              <a:endParaRPr/>
            </a:p>
          </p:txBody>
        </p:sp>
        <p:sp>
          <p:nvSpPr>
            <p:cNvPr id="38" name="Rounded Rectangle 37"/>
            <p:cNvSpPr/>
            <p:nvPr/>
          </p:nvSpPr>
          <p:spPr>
            <a:xfrm>
              <a:off x="2286000" y="4535424"/>
              <a:ext cx="1759305" cy="219456"/>
            </a:xfrm>
            <a:prstGeom prst="roundRect">
              <a:avLst>
                <a:gd name="adj" fmla="val 50000"/>
              </a:avLst>
            </a:prstGeom>
            <a:solidFill>
              <a:srgbClr val="F28C28"/>
            </a:solidFill>
            <a:ln>
              <a:noFill/>
            </a:ln>
          </p:spPr>
          <p:txBody>
            <a:bodyPr rtlCol="0" anchor="ctr"/>
            <a:lstStyle/>
            <a:p>
              <a:pPr algn="ctr"/>
              <a:endParaRPr/>
            </a:p>
          </p:txBody>
        </p:sp>
      </p:grpSp>
      <p:grpSp>
        <p:nvGrpSpPr>
          <p:cNvPr id="39" name="Engine card" descr="A longer engine with a tender and a different bar profile: lighter pull, high speed, long range. Shape only."/>
          <p:cNvGrpSpPr/>
          <p:nvPr/>
        </p:nvGrpSpPr>
        <p:grpSpPr>
          <a:xfrm>
            <a:off x="6245352" y="1920240"/>
            <a:ext cx="5120640" cy="3200400"/>
            <a:chOff x="6245352" y="1920240"/>
            <a:chExt cx="5120640" cy="3200400"/>
          </a:xfrm>
        </p:grpSpPr>
        <p:sp>
          <p:nvSpPr>
            <p:cNvPr id="40" name="Rounded Rectangle 39"/>
            <p:cNvSpPr/>
            <p:nvPr/>
          </p:nvSpPr>
          <p:spPr>
            <a:xfrm>
              <a:off x="6245352" y="1920240"/>
              <a:ext cx="5120640" cy="3200400"/>
            </a:xfrm>
            <a:prstGeom prst="roundRect">
              <a:avLst>
                <a:gd name="adj" fmla="val 2285"/>
              </a:avLst>
            </a:prstGeom>
            <a:solidFill>
              <a:srgbClr val="2B2F36"/>
            </a:solidFill>
            <a:ln w="19050">
              <a:solidFill>
                <a:srgbClr val="9AA0A6"/>
              </a:solidFill>
            </a:ln>
          </p:spPr>
          <p:txBody>
            <a:bodyPr rtlCol="0" anchor="ctr"/>
            <a:lstStyle/>
            <a:p>
              <a:pPr algn="ctr"/>
              <a:endParaRPr/>
            </a:p>
          </p:txBody>
        </p:sp>
        <p:sp>
          <p:nvSpPr>
            <p:cNvPr id="41" name="Rounded Rectangle 40"/>
            <p:cNvSpPr/>
            <p:nvPr/>
          </p:nvSpPr>
          <p:spPr>
            <a:xfrm>
              <a:off x="7466075" y="2414015"/>
              <a:ext cx="822960" cy="310896"/>
            </a:xfrm>
            <a:prstGeom prst="roundRect">
              <a:avLst>
                <a:gd name="adj" fmla="val 8823"/>
              </a:avLst>
            </a:prstGeom>
            <a:solidFill>
              <a:srgbClr val="2B2F36"/>
            </a:solidFill>
            <a:ln w="19050">
              <a:solidFill>
                <a:srgbClr val="F28C28"/>
              </a:solidFill>
            </a:ln>
          </p:spPr>
          <p:txBody>
            <a:bodyPr rtlCol="0" anchor="ctr"/>
            <a:lstStyle/>
            <a:p>
              <a:pPr algn="ctr"/>
              <a:endParaRPr/>
            </a:p>
          </p:txBody>
        </p:sp>
        <p:sp>
          <p:nvSpPr>
            <p:cNvPr id="42" name="Freeform 41"/>
            <p:cNvSpPr/>
            <p:nvPr/>
          </p:nvSpPr>
          <p:spPr>
            <a:xfrm>
              <a:off x="7539227" y="2286000"/>
              <a:ext cx="676656" cy="128015"/>
            </a:xfrm>
            <a:custGeom>
              <a:avLst/>
              <a:gdLst/>
              <a:ahLst/>
              <a:cxnLst/>
              <a:rect l="l" t="t" r="r" b="b"/>
              <a:pathLst>
                <a:path w="676656" h="128015">
                  <a:moveTo>
                    <a:pt x="0" y="128015"/>
                  </a:moveTo>
                  <a:lnTo>
                    <a:pt x="109728" y="18288"/>
                  </a:lnTo>
                  <a:lnTo>
                    <a:pt x="566928" y="0"/>
                  </a:lnTo>
                  <a:lnTo>
                    <a:pt x="676656" y="128015"/>
                  </a:lnTo>
                  <a:close/>
                </a:path>
              </a:pathLst>
            </a:custGeom>
            <a:solidFill>
              <a:srgbClr val="1B1D21"/>
            </a:solidFill>
            <a:ln w="12700">
              <a:solidFill>
                <a:srgbClr val="9AA0A6"/>
              </a:solidFill>
            </a:ln>
          </p:spPr>
          <p:txBody>
            <a:bodyPr rtlCol="0" anchor="ctr"/>
            <a:lstStyle/>
            <a:p>
              <a:pPr algn="ctr"/>
              <a:endParaRPr/>
            </a:p>
          </p:txBody>
        </p:sp>
        <p:sp>
          <p:nvSpPr>
            <p:cNvPr id="43" name="Oval 42"/>
            <p:cNvSpPr/>
            <p:nvPr/>
          </p:nvSpPr>
          <p:spPr>
            <a:xfrm>
              <a:off x="7612379" y="2798063"/>
              <a:ext cx="219456" cy="219456"/>
            </a:xfrm>
            <a:prstGeom prst="ellipse">
              <a:avLst/>
            </a:prstGeom>
            <a:solidFill>
              <a:srgbClr val="343A43"/>
            </a:solidFill>
            <a:ln w="12700">
              <a:solidFill>
                <a:srgbClr val="9AA0A6"/>
              </a:solidFill>
            </a:ln>
          </p:spPr>
          <p:txBody>
            <a:bodyPr rtlCol="0" anchor="ctr"/>
            <a:lstStyle/>
            <a:p>
              <a:pPr algn="ctr"/>
              <a:endParaRPr/>
            </a:p>
          </p:txBody>
        </p:sp>
        <p:sp>
          <p:nvSpPr>
            <p:cNvPr id="44" name="Oval 43"/>
            <p:cNvSpPr/>
            <p:nvPr/>
          </p:nvSpPr>
          <p:spPr>
            <a:xfrm>
              <a:off x="7923275" y="2798063"/>
              <a:ext cx="219456" cy="219456"/>
            </a:xfrm>
            <a:prstGeom prst="ellipse">
              <a:avLst/>
            </a:prstGeom>
            <a:solidFill>
              <a:srgbClr val="343A43"/>
            </a:solidFill>
            <a:ln w="12700">
              <a:solidFill>
                <a:srgbClr val="9AA0A6"/>
              </a:solidFill>
            </a:ln>
          </p:spPr>
          <p:txBody>
            <a:bodyPr rtlCol="0" anchor="ctr"/>
            <a:lstStyle/>
            <a:p>
              <a:pPr algn="ctr"/>
              <a:endParaRPr/>
            </a:p>
          </p:txBody>
        </p:sp>
        <p:cxnSp>
          <p:nvCxnSpPr>
            <p:cNvPr id="45" name="Connector 44"/>
            <p:cNvCxnSpPr/>
            <p:nvPr/>
          </p:nvCxnSpPr>
          <p:spPr>
            <a:xfrm>
              <a:off x="8289036" y="2670048"/>
              <a:ext cx="73152" cy="0"/>
            </a:xfrm>
            <a:prstGeom prst="line">
              <a:avLst/>
            </a:prstGeom>
            <a:ln w="25400">
              <a:solidFill>
                <a:srgbClr val="9AA0A6"/>
              </a:solidFill>
            </a:ln>
          </p:spPr>
        </p:cxnSp>
        <p:sp>
          <p:nvSpPr>
            <p:cNvPr id="46" name="Rectangle 45"/>
            <p:cNvSpPr/>
            <p:nvPr/>
          </p:nvSpPr>
          <p:spPr>
            <a:xfrm>
              <a:off x="8362188" y="2670048"/>
              <a:ext cx="1737360" cy="91440"/>
            </a:xfrm>
            <a:prstGeom prst="rect">
              <a:avLst/>
            </a:prstGeom>
            <a:solidFill>
              <a:srgbClr val="1B1D21"/>
            </a:solidFill>
            <a:ln w="12700">
              <a:solidFill>
                <a:srgbClr val="9AA0A6"/>
              </a:solidFill>
            </a:ln>
          </p:spPr>
          <p:txBody>
            <a:bodyPr rtlCol="0" anchor="ctr"/>
            <a:lstStyle/>
            <a:p>
              <a:pPr algn="ctr"/>
              <a:endParaRPr/>
            </a:p>
          </p:txBody>
        </p:sp>
        <p:sp>
          <p:nvSpPr>
            <p:cNvPr id="47" name="Oval 46"/>
            <p:cNvSpPr/>
            <p:nvPr/>
          </p:nvSpPr>
          <p:spPr>
            <a:xfrm>
              <a:off x="8481059" y="2743200"/>
              <a:ext cx="274320" cy="274320"/>
            </a:xfrm>
            <a:prstGeom prst="ellipse">
              <a:avLst/>
            </a:prstGeom>
            <a:solidFill>
              <a:srgbClr val="343A43"/>
            </a:solidFill>
            <a:ln w="15875">
              <a:solidFill>
                <a:srgbClr val="9AA0A6"/>
              </a:solidFill>
            </a:ln>
          </p:spPr>
          <p:txBody>
            <a:bodyPr rtlCol="0" anchor="ctr"/>
            <a:lstStyle/>
            <a:p>
              <a:pPr algn="ctr"/>
              <a:endParaRPr/>
            </a:p>
          </p:txBody>
        </p:sp>
        <p:sp>
          <p:nvSpPr>
            <p:cNvPr id="48" name="Oval 47"/>
            <p:cNvSpPr/>
            <p:nvPr/>
          </p:nvSpPr>
          <p:spPr>
            <a:xfrm>
              <a:off x="8590788" y="2852928"/>
              <a:ext cx="54864" cy="54864"/>
            </a:xfrm>
            <a:prstGeom prst="ellipse">
              <a:avLst/>
            </a:prstGeom>
            <a:solidFill>
              <a:srgbClr val="9AA0A6"/>
            </a:solidFill>
            <a:ln>
              <a:noFill/>
            </a:ln>
          </p:spPr>
          <p:txBody>
            <a:bodyPr rtlCol="0" anchor="ctr"/>
            <a:lstStyle/>
            <a:p>
              <a:pPr algn="ctr"/>
              <a:endParaRPr/>
            </a:p>
          </p:txBody>
        </p:sp>
        <p:sp>
          <p:nvSpPr>
            <p:cNvPr id="49" name="Oval 48"/>
            <p:cNvSpPr/>
            <p:nvPr/>
          </p:nvSpPr>
          <p:spPr>
            <a:xfrm>
              <a:off x="8823959" y="2743200"/>
              <a:ext cx="274320" cy="274320"/>
            </a:xfrm>
            <a:prstGeom prst="ellipse">
              <a:avLst/>
            </a:prstGeom>
            <a:solidFill>
              <a:srgbClr val="343A43"/>
            </a:solidFill>
            <a:ln w="15875">
              <a:solidFill>
                <a:srgbClr val="9AA0A6"/>
              </a:solidFill>
            </a:ln>
          </p:spPr>
          <p:txBody>
            <a:bodyPr rtlCol="0" anchor="ctr"/>
            <a:lstStyle/>
            <a:p>
              <a:pPr algn="ctr"/>
              <a:endParaRPr/>
            </a:p>
          </p:txBody>
        </p:sp>
        <p:sp>
          <p:nvSpPr>
            <p:cNvPr id="50" name="Oval 49"/>
            <p:cNvSpPr/>
            <p:nvPr/>
          </p:nvSpPr>
          <p:spPr>
            <a:xfrm>
              <a:off x="8933688" y="2852928"/>
              <a:ext cx="54864" cy="54864"/>
            </a:xfrm>
            <a:prstGeom prst="ellipse">
              <a:avLst/>
            </a:prstGeom>
            <a:solidFill>
              <a:srgbClr val="9AA0A6"/>
            </a:solidFill>
            <a:ln>
              <a:noFill/>
            </a:ln>
          </p:spPr>
          <p:txBody>
            <a:bodyPr rtlCol="0" anchor="ctr"/>
            <a:lstStyle/>
            <a:p>
              <a:pPr algn="ctr"/>
              <a:endParaRPr/>
            </a:p>
          </p:txBody>
        </p:sp>
        <p:sp>
          <p:nvSpPr>
            <p:cNvPr id="51" name="Oval 50"/>
            <p:cNvSpPr/>
            <p:nvPr/>
          </p:nvSpPr>
          <p:spPr>
            <a:xfrm>
              <a:off x="9166860" y="2743200"/>
              <a:ext cx="274320" cy="274320"/>
            </a:xfrm>
            <a:prstGeom prst="ellipse">
              <a:avLst/>
            </a:prstGeom>
            <a:solidFill>
              <a:srgbClr val="343A43"/>
            </a:solidFill>
            <a:ln w="15875">
              <a:solidFill>
                <a:srgbClr val="9AA0A6"/>
              </a:solidFill>
            </a:ln>
          </p:spPr>
          <p:txBody>
            <a:bodyPr rtlCol="0" anchor="ctr"/>
            <a:lstStyle/>
            <a:p>
              <a:pPr algn="ctr"/>
              <a:endParaRPr/>
            </a:p>
          </p:txBody>
        </p:sp>
        <p:sp>
          <p:nvSpPr>
            <p:cNvPr id="52" name="Oval 51"/>
            <p:cNvSpPr/>
            <p:nvPr/>
          </p:nvSpPr>
          <p:spPr>
            <a:xfrm>
              <a:off x="9276588" y="2852928"/>
              <a:ext cx="54864" cy="54864"/>
            </a:xfrm>
            <a:prstGeom prst="ellipse">
              <a:avLst/>
            </a:prstGeom>
            <a:solidFill>
              <a:srgbClr val="9AA0A6"/>
            </a:solidFill>
            <a:ln>
              <a:noFill/>
            </a:ln>
          </p:spPr>
          <p:txBody>
            <a:bodyPr rtlCol="0" anchor="ctr"/>
            <a:lstStyle/>
            <a:p>
              <a:pPr algn="ctr"/>
              <a:endParaRPr/>
            </a:p>
          </p:txBody>
        </p:sp>
        <p:sp>
          <p:nvSpPr>
            <p:cNvPr id="53" name="Oval 52"/>
            <p:cNvSpPr/>
            <p:nvPr/>
          </p:nvSpPr>
          <p:spPr>
            <a:xfrm>
              <a:off x="9509760" y="2743200"/>
              <a:ext cx="274320" cy="274320"/>
            </a:xfrm>
            <a:prstGeom prst="ellipse">
              <a:avLst/>
            </a:prstGeom>
            <a:solidFill>
              <a:srgbClr val="343A43"/>
            </a:solidFill>
            <a:ln w="15875">
              <a:solidFill>
                <a:srgbClr val="9AA0A6"/>
              </a:solidFill>
            </a:ln>
          </p:spPr>
          <p:txBody>
            <a:bodyPr rtlCol="0" anchor="ctr"/>
            <a:lstStyle/>
            <a:p>
              <a:pPr algn="ctr"/>
              <a:endParaRPr/>
            </a:p>
          </p:txBody>
        </p:sp>
        <p:sp>
          <p:nvSpPr>
            <p:cNvPr id="54" name="Oval 53"/>
            <p:cNvSpPr/>
            <p:nvPr/>
          </p:nvSpPr>
          <p:spPr>
            <a:xfrm>
              <a:off x="9619488" y="2852928"/>
              <a:ext cx="54864" cy="54864"/>
            </a:xfrm>
            <a:prstGeom prst="ellipse">
              <a:avLst/>
            </a:prstGeom>
            <a:solidFill>
              <a:srgbClr val="9AA0A6"/>
            </a:solidFill>
            <a:ln>
              <a:noFill/>
            </a:ln>
          </p:spPr>
          <p:txBody>
            <a:bodyPr rtlCol="0" anchor="ctr"/>
            <a:lstStyle/>
            <a:p>
              <a:pPr algn="ctr"/>
              <a:endParaRPr/>
            </a:p>
          </p:txBody>
        </p:sp>
        <p:sp>
          <p:nvSpPr>
            <p:cNvPr id="55" name="Oval 54"/>
            <p:cNvSpPr/>
            <p:nvPr/>
          </p:nvSpPr>
          <p:spPr>
            <a:xfrm>
              <a:off x="9852660" y="2743200"/>
              <a:ext cx="274320" cy="274320"/>
            </a:xfrm>
            <a:prstGeom prst="ellipse">
              <a:avLst/>
            </a:prstGeom>
            <a:solidFill>
              <a:srgbClr val="343A43"/>
            </a:solidFill>
            <a:ln w="15875">
              <a:solidFill>
                <a:srgbClr val="9AA0A6"/>
              </a:solidFill>
            </a:ln>
          </p:spPr>
          <p:txBody>
            <a:bodyPr rtlCol="0" anchor="ctr"/>
            <a:lstStyle/>
            <a:p>
              <a:pPr algn="ctr"/>
              <a:endParaRPr/>
            </a:p>
          </p:txBody>
        </p:sp>
        <p:sp>
          <p:nvSpPr>
            <p:cNvPr id="56" name="Oval 55"/>
            <p:cNvSpPr/>
            <p:nvPr/>
          </p:nvSpPr>
          <p:spPr>
            <a:xfrm>
              <a:off x="9962388" y="2852928"/>
              <a:ext cx="54864" cy="54864"/>
            </a:xfrm>
            <a:prstGeom prst="ellipse">
              <a:avLst/>
            </a:prstGeom>
            <a:solidFill>
              <a:srgbClr val="9AA0A6"/>
            </a:solidFill>
            <a:ln>
              <a:noFill/>
            </a:ln>
          </p:spPr>
          <p:txBody>
            <a:bodyPr rtlCol="0" anchor="ctr"/>
            <a:lstStyle/>
            <a:p>
              <a:pPr algn="ctr"/>
              <a:endParaRPr/>
            </a:p>
          </p:txBody>
        </p:sp>
        <p:cxnSp>
          <p:nvCxnSpPr>
            <p:cNvPr id="57" name="Connector 56"/>
            <p:cNvCxnSpPr/>
            <p:nvPr/>
          </p:nvCxnSpPr>
          <p:spPr>
            <a:xfrm>
              <a:off x="8618219" y="2880360"/>
              <a:ext cx="1371601" cy="0"/>
            </a:xfrm>
            <a:prstGeom prst="line">
              <a:avLst/>
            </a:prstGeom>
            <a:ln w="19050">
              <a:solidFill>
                <a:srgbClr val="9AA0A6"/>
              </a:solidFill>
            </a:ln>
          </p:spPr>
        </p:cxnSp>
        <p:sp>
          <p:nvSpPr>
            <p:cNvPr id="58" name="Rounded Rectangle 57"/>
            <p:cNvSpPr/>
            <p:nvPr/>
          </p:nvSpPr>
          <p:spPr>
            <a:xfrm>
              <a:off x="8910828" y="2322576"/>
              <a:ext cx="1188720" cy="347472"/>
            </a:xfrm>
            <a:prstGeom prst="roundRect">
              <a:avLst>
                <a:gd name="adj" fmla="val 15789"/>
              </a:avLst>
            </a:prstGeom>
            <a:solidFill>
              <a:srgbClr val="F28C28"/>
            </a:solidFill>
            <a:ln>
              <a:noFill/>
            </a:ln>
          </p:spPr>
          <p:txBody>
            <a:bodyPr rtlCol="0" anchor="ctr"/>
            <a:lstStyle/>
            <a:p>
              <a:pPr algn="ctr"/>
              <a:endParaRPr/>
            </a:p>
          </p:txBody>
        </p:sp>
        <p:sp>
          <p:nvSpPr>
            <p:cNvPr id="59" name="Rectangle 58"/>
            <p:cNvSpPr/>
            <p:nvPr/>
          </p:nvSpPr>
          <p:spPr>
            <a:xfrm>
              <a:off x="9934956" y="2322576"/>
              <a:ext cx="164592" cy="347472"/>
            </a:xfrm>
            <a:prstGeom prst="rect">
              <a:avLst/>
            </a:prstGeom>
            <a:solidFill>
              <a:srgbClr val="1B1D21"/>
            </a:solidFill>
            <a:ln w="12700">
              <a:solidFill>
                <a:srgbClr val="9AA0A6"/>
              </a:solidFill>
            </a:ln>
          </p:spPr>
          <p:txBody>
            <a:bodyPr rtlCol="0" anchor="ctr"/>
            <a:lstStyle/>
            <a:p>
              <a:pPr algn="ctr"/>
              <a:endParaRPr/>
            </a:p>
          </p:txBody>
        </p:sp>
        <p:sp>
          <p:nvSpPr>
            <p:cNvPr id="60" name="Rectangle 59"/>
            <p:cNvSpPr/>
            <p:nvPr/>
          </p:nvSpPr>
          <p:spPr>
            <a:xfrm>
              <a:off x="9971532" y="2157984"/>
              <a:ext cx="91440" cy="182880"/>
            </a:xfrm>
            <a:prstGeom prst="rect">
              <a:avLst/>
            </a:prstGeom>
            <a:solidFill>
              <a:srgbClr val="1B1D21"/>
            </a:solidFill>
            <a:ln w="12700">
              <a:solidFill>
                <a:srgbClr val="9AA0A6"/>
              </a:solidFill>
            </a:ln>
          </p:spPr>
          <p:txBody>
            <a:bodyPr rtlCol="0" anchor="ctr"/>
            <a:lstStyle/>
            <a:p>
              <a:pPr algn="ctr"/>
              <a:endParaRPr/>
            </a:p>
          </p:txBody>
        </p:sp>
        <p:sp>
          <p:nvSpPr>
            <p:cNvPr id="61" name="Rectangle 60"/>
            <p:cNvSpPr/>
            <p:nvPr/>
          </p:nvSpPr>
          <p:spPr>
            <a:xfrm>
              <a:off x="9934956" y="2121408"/>
              <a:ext cx="164592" cy="54864"/>
            </a:xfrm>
            <a:prstGeom prst="rect">
              <a:avLst/>
            </a:prstGeom>
            <a:solidFill>
              <a:srgbClr val="1B1D21"/>
            </a:solidFill>
            <a:ln w="12700">
              <a:solidFill>
                <a:srgbClr val="9AA0A6"/>
              </a:solidFill>
            </a:ln>
          </p:spPr>
          <p:txBody>
            <a:bodyPr rtlCol="0" anchor="ctr"/>
            <a:lstStyle/>
            <a:p>
              <a:pPr algn="ctr"/>
              <a:endParaRPr/>
            </a:p>
          </p:txBody>
        </p:sp>
        <p:sp>
          <p:nvSpPr>
            <p:cNvPr id="62" name="Rounded Rectangle 61"/>
            <p:cNvSpPr/>
            <p:nvPr/>
          </p:nvSpPr>
          <p:spPr>
            <a:xfrm>
              <a:off x="9185148" y="2231136"/>
              <a:ext cx="182880" cy="109728"/>
            </a:xfrm>
            <a:prstGeom prst="roundRect">
              <a:avLst>
                <a:gd name="adj" fmla="val 33333"/>
              </a:avLst>
            </a:prstGeom>
            <a:solidFill>
              <a:srgbClr val="F28C28"/>
            </a:solidFill>
            <a:ln>
              <a:noFill/>
            </a:ln>
          </p:spPr>
          <p:txBody>
            <a:bodyPr rtlCol="0" anchor="ctr"/>
            <a:lstStyle/>
            <a:p>
              <a:pPr algn="ctr"/>
              <a:endParaRPr/>
            </a:p>
          </p:txBody>
        </p:sp>
        <p:sp>
          <p:nvSpPr>
            <p:cNvPr id="63" name="Rectangle 62"/>
            <p:cNvSpPr/>
            <p:nvPr/>
          </p:nvSpPr>
          <p:spPr>
            <a:xfrm>
              <a:off x="8362188" y="2194560"/>
              <a:ext cx="548640" cy="493776"/>
            </a:xfrm>
            <a:prstGeom prst="rect">
              <a:avLst/>
            </a:prstGeom>
            <a:solidFill>
              <a:srgbClr val="F28C28"/>
            </a:solidFill>
            <a:ln>
              <a:noFill/>
            </a:ln>
          </p:spPr>
          <p:txBody>
            <a:bodyPr rtlCol="0" anchor="ctr"/>
            <a:lstStyle/>
            <a:p>
              <a:pPr algn="ctr"/>
              <a:endParaRPr/>
            </a:p>
          </p:txBody>
        </p:sp>
        <p:sp>
          <p:nvSpPr>
            <p:cNvPr id="64" name="Rectangle 63"/>
            <p:cNvSpPr/>
            <p:nvPr/>
          </p:nvSpPr>
          <p:spPr>
            <a:xfrm>
              <a:off x="8334756" y="2148839"/>
              <a:ext cx="603503" cy="64008"/>
            </a:xfrm>
            <a:prstGeom prst="rect">
              <a:avLst/>
            </a:prstGeom>
            <a:solidFill>
              <a:srgbClr val="1B1D21"/>
            </a:solidFill>
            <a:ln w="12700">
              <a:solidFill>
                <a:srgbClr val="9AA0A6"/>
              </a:solidFill>
            </a:ln>
          </p:spPr>
          <p:txBody>
            <a:bodyPr rtlCol="0" anchor="ctr"/>
            <a:lstStyle/>
            <a:p>
              <a:pPr algn="ctr"/>
              <a:endParaRPr/>
            </a:p>
          </p:txBody>
        </p:sp>
        <p:sp>
          <p:nvSpPr>
            <p:cNvPr id="65" name="Rectangle 64"/>
            <p:cNvSpPr/>
            <p:nvPr/>
          </p:nvSpPr>
          <p:spPr>
            <a:xfrm>
              <a:off x="8490204" y="2304288"/>
              <a:ext cx="237744" cy="182880"/>
            </a:xfrm>
            <a:prstGeom prst="rect">
              <a:avLst/>
            </a:prstGeom>
            <a:solidFill>
              <a:srgbClr val="1B1D21"/>
            </a:solidFill>
            <a:ln>
              <a:noFill/>
            </a:ln>
          </p:spPr>
          <p:txBody>
            <a:bodyPr rtlCol="0" anchor="ctr"/>
            <a:lstStyle/>
            <a:p>
              <a:pPr algn="ctr"/>
              <a:endParaRPr/>
            </a:p>
          </p:txBody>
        </p:sp>
        <p:sp>
          <p:nvSpPr>
            <p:cNvPr id="66" name="TextBox 65"/>
            <p:cNvSpPr txBox="1"/>
            <p:nvPr/>
          </p:nvSpPr>
          <p:spPr>
            <a:xfrm>
              <a:off x="6565392" y="3447288"/>
              <a:ext cx="1005840" cy="365760"/>
            </a:xfrm>
            <a:prstGeom prst="rect">
              <a:avLst/>
            </a:prstGeom>
            <a:noFill/>
          </p:spPr>
          <p:txBody>
            <a:bodyPr wrap="square" lIns="0" tIns="0" rIns="0" bIns="0" anchor="ctr">
              <a:noAutofit/>
            </a:bodyPr>
            <a:lstStyle/>
            <a:p>
              <a:pPr algn="l"/>
              <a:r>
                <a:rPr lang="en-GB" sz="1600" b="1" i="0">
                  <a:solidFill>
                    <a:srgbClr val="F2F2F2"/>
                  </a:solidFill>
                  <a:latin typeface="Arial"/>
                </a:rPr>
                <a:t>Pull</a:t>
              </a:r>
              <a:endParaRPr lang="en-GB" sz="1600"/>
            </a:p>
          </p:txBody>
        </p:sp>
        <p:sp>
          <p:nvSpPr>
            <p:cNvPr id="67" name="Rounded Rectangle 66"/>
            <p:cNvSpPr/>
            <p:nvPr/>
          </p:nvSpPr>
          <p:spPr>
            <a:xfrm>
              <a:off x="7708392" y="3529584"/>
              <a:ext cx="3383280" cy="219456"/>
            </a:xfrm>
            <a:prstGeom prst="roundRect">
              <a:avLst>
                <a:gd name="adj" fmla="val 50000"/>
              </a:avLst>
            </a:prstGeom>
            <a:solidFill>
              <a:srgbClr val="4A515B"/>
            </a:solidFill>
            <a:ln>
              <a:noFill/>
            </a:ln>
          </p:spPr>
          <p:txBody>
            <a:bodyPr rtlCol="0" anchor="ctr"/>
            <a:lstStyle/>
            <a:p>
              <a:pPr algn="ctr"/>
              <a:endParaRPr/>
            </a:p>
          </p:txBody>
        </p:sp>
        <p:sp>
          <p:nvSpPr>
            <p:cNvPr id="68" name="Rounded Rectangle 67"/>
            <p:cNvSpPr/>
            <p:nvPr/>
          </p:nvSpPr>
          <p:spPr>
            <a:xfrm>
              <a:off x="7708392" y="3529584"/>
              <a:ext cx="1556308" cy="219456"/>
            </a:xfrm>
            <a:prstGeom prst="roundRect">
              <a:avLst>
                <a:gd name="adj" fmla="val 50000"/>
              </a:avLst>
            </a:prstGeom>
            <a:solidFill>
              <a:srgbClr val="F28C28"/>
            </a:solidFill>
            <a:ln>
              <a:noFill/>
            </a:ln>
          </p:spPr>
          <p:txBody>
            <a:bodyPr rtlCol="0" anchor="ctr"/>
            <a:lstStyle/>
            <a:p>
              <a:pPr algn="ctr"/>
              <a:endParaRPr/>
            </a:p>
          </p:txBody>
        </p:sp>
        <p:sp>
          <p:nvSpPr>
            <p:cNvPr id="69" name="TextBox 68"/>
            <p:cNvSpPr txBox="1"/>
            <p:nvPr/>
          </p:nvSpPr>
          <p:spPr>
            <a:xfrm>
              <a:off x="6565392" y="3950208"/>
              <a:ext cx="1005840" cy="365760"/>
            </a:xfrm>
            <a:prstGeom prst="rect">
              <a:avLst/>
            </a:prstGeom>
            <a:noFill/>
          </p:spPr>
          <p:txBody>
            <a:bodyPr wrap="square" lIns="0" tIns="0" rIns="0" bIns="0" anchor="ctr">
              <a:noAutofit/>
            </a:bodyPr>
            <a:lstStyle/>
            <a:p>
              <a:pPr algn="l"/>
              <a:r>
                <a:rPr lang="en-GB" sz="1600" b="1" i="0">
                  <a:solidFill>
                    <a:srgbClr val="F2F2F2"/>
                  </a:solidFill>
                  <a:latin typeface="Arial"/>
                </a:rPr>
                <a:t>Speed</a:t>
              </a:r>
              <a:endParaRPr lang="en-GB" sz="1600"/>
            </a:p>
          </p:txBody>
        </p:sp>
        <p:sp>
          <p:nvSpPr>
            <p:cNvPr id="70" name="Rounded Rectangle 69"/>
            <p:cNvSpPr/>
            <p:nvPr/>
          </p:nvSpPr>
          <p:spPr>
            <a:xfrm>
              <a:off x="7708392" y="4032504"/>
              <a:ext cx="3383280" cy="219456"/>
            </a:xfrm>
            <a:prstGeom prst="roundRect">
              <a:avLst>
                <a:gd name="adj" fmla="val 50000"/>
              </a:avLst>
            </a:prstGeom>
            <a:solidFill>
              <a:srgbClr val="4A515B"/>
            </a:solidFill>
            <a:ln>
              <a:noFill/>
            </a:ln>
          </p:spPr>
          <p:txBody>
            <a:bodyPr rtlCol="0" anchor="ctr"/>
            <a:lstStyle/>
            <a:p>
              <a:pPr algn="ctr"/>
              <a:endParaRPr/>
            </a:p>
          </p:txBody>
        </p:sp>
        <p:sp>
          <p:nvSpPr>
            <p:cNvPr id="71" name="Rounded Rectangle 70"/>
            <p:cNvSpPr/>
            <p:nvPr/>
          </p:nvSpPr>
          <p:spPr>
            <a:xfrm>
              <a:off x="7708392" y="4032504"/>
              <a:ext cx="3044952" cy="219456"/>
            </a:xfrm>
            <a:prstGeom prst="roundRect">
              <a:avLst>
                <a:gd name="adj" fmla="val 50000"/>
              </a:avLst>
            </a:prstGeom>
            <a:solidFill>
              <a:srgbClr val="F28C28"/>
            </a:solidFill>
            <a:ln>
              <a:noFill/>
            </a:ln>
          </p:spPr>
          <p:txBody>
            <a:bodyPr rtlCol="0" anchor="ctr"/>
            <a:lstStyle/>
            <a:p>
              <a:pPr algn="ctr"/>
              <a:endParaRPr/>
            </a:p>
          </p:txBody>
        </p:sp>
        <p:sp>
          <p:nvSpPr>
            <p:cNvPr id="72" name="TextBox 71"/>
            <p:cNvSpPr txBox="1"/>
            <p:nvPr/>
          </p:nvSpPr>
          <p:spPr>
            <a:xfrm>
              <a:off x="6565392" y="4453128"/>
              <a:ext cx="1005840" cy="365760"/>
            </a:xfrm>
            <a:prstGeom prst="rect">
              <a:avLst/>
            </a:prstGeom>
            <a:noFill/>
          </p:spPr>
          <p:txBody>
            <a:bodyPr wrap="square" lIns="0" tIns="0" rIns="0" bIns="0" anchor="ctr">
              <a:noAutofit/>
            </a:bodyPr>
            <a:lstStyle/>
            <a:p>
              <a:pPr algn="l"/>
              <a:r>
                <a:rPr lang="en-GB" sz="1600" b="1" i="0">
                  <a:solidFill>
                    <a:srgbClr val="F2F2F2"/>
                  </a:solidFill>
                  <a:latin typeface="Arial"/>
                </a:rPr>
                <a:t>Range</a:t>
              </a:r>
              <a:endParaRPr lang="en-GB" sz="1600"/>
            </a:p>
          </p:txBody>
        </p:sp>
        <p:sp>
          <p:nvSpPr>
            <p:cNvPr id="73" name="Rounded Rectangle 72"/>
            <p:cNvSpPr/>
            <p:nvPr/>
          </p:nvSpPr>
          <p:spPr>
            <a:xfrm>
              <a:off x="7708392" y="4535424"/>
              <a:ext cx="3383280" cy="219456"/>
            </a:xfrm>
            <a:prstGeom prst="roundRect">
              <a:avLst>
                <a:gd name="adj" fmla="val 50000"/>
              </a:avLst>
            </a:prstGeom>
            <a:solidFill>
              <a:srgbClr val="4A515B"/>
            </a:solidFill>
            <a:ln>
              <a:noFill/>
            </a:ln>
          </p:spPr>
          <p:txBody>
            <a:bodyPr rtlCol="0" anchor="ctr"/>
            <a:lstStyle/>
            <a:p>
              <a:pPr algn="ctr"/>
              <a:endParaRPr/>
            </a:p>
          </p:txBody>
        </p:sp>
        <p:sp>
          <p:nvSpPr>
            <p:cNvPr id="74" name="Rounded Rectangle 73"/>
            <p:cNvSpPr/>
            <p:nvPr/>
          </p:nvSpPr>
          <p:spPr>
            <a:xfrm>
              <a:off x="7708392" y="4535424"/>
              <a:ext cx="2435961" cy="219456"/>
            </a:xfrm>
            <a:prstGeom prst="roundRect">
              <a:avLst>
                <a:gd name="adj" fmla="val 50000"/>
              </a:avLst>
            </a:prstGeom>
            <a:solidFill>
              <a:srgbClr val="F28C28"/>
            </a:solidFill>
            <a:ln>
              <a:noFill/>
            </a:ln>
          </p:spPr>
          <p:txBody>
            <a:bodyPr rtlCol="0" anchor="ctr"/>
            <a:lstStyle/>
            <a:p>
              <a:pPr algn="ctr"/>
              <a:endParaRPr/>
            </a:p>
          </p:txBody>
        </p:sp>
      </p:grpSp>
      <p:sp>
        <p:nvSpPr>
          <p:cNvPr id="75" name="Note: shape only"/>
          <p:cNvSpPr txBox="1"/>
          <p:nvPr/>
        </p:nvSpPr>
        <p:spPr>
          <a:xfrm>
            <a:off x="822960" y="5230368"/>
            <a:ext cx="10543032" cy="365760"/>
          </a:xfrm>
          <a:prstGeom prst="rect">
            <a:avLst/>
          </a:prstGeom>
          <a:noFill/>
        </p:spPr>
        <p:txBody>
          <a:bodyPr wrap="square" lIns="0" tIns="0" rIns="0" bIns="0" anchor="ctr">
            <a:noAutofit/>
          </a:bodyPr>
          <a:lstStyle/>
          <a:p>
            <a:pPr algn="ctr"/>
            <a:r>
              <a:rPr lang="en-GB" sz="1400" b="0" i="1">
                <a:solidFill>
                  <a:srgbClr val="A9B0B8"/>
                </a:solidFill>
                <a:latin typeface="Arial"/>
              </a:rPr>
              <a:t>Shape only. Not measured.</a:t>
            </a:r>
            <a:endParaRPr lang="en-GB" sz="1400"/>
          </a:p>
        </p:txBody>
      </p:sp>
      <p:sp>
        <p:nvSpPr>
          <p:cNvPr id="76"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Every engine has its own strengths. They are not simply reskins.</a:t>
            </a:r>
            <a:endParaRPr lang="en-GB" sz="2000"/>
          </a:p>
        </p:txBody>
      </p:sp>
      <p:sp>
        <p:nvSpPr>
          <p:cNvPr id="77"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78"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9</a:t>
            </a:r>
            <a:endParaRPr lang="en-GB" sz="1400"/>
          </a:p>
        </p:txBody>
      </p:sp>
    </p:spTree>
    <p:extLst>
      <p:ext uri="{BB962C8B-B14F-4D97-AF65-F5344CB8AC3E}">
        <p14:creationId xmlns:p14="http://schemas.microsoft.com/office/powerpoint/2010/main" val="31062467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18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36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54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nodeType="withEffect">
                                  <p:stCondLst>
                                    <p:cond delay="72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nodeType="withEffect">
                                  <p:stCondLst>
                                    <p:cond delay="9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1080"/>
                                  </p:stCondLst>
                                  <p:childTnLst>
                                    <p:set>
                                      <p:cBhvr>
                                        <p:cTn id="24" dur="1" fill="hold">
                                          <p:stCondLst>
                                            <p:cond delay="0"/>
                                          </p:stCondLst>
                                        </p:cTn>
                                        <p:tgtEl>
                                          <p:spTgt spid="39"/>
                                        </p:tgtEl>
                                        <p:attrNameLst>
                                          <p:attrName>style.visibility</p:attrName>
                                        </p:attrNameLst>
                                      </p:cBhvr>
                                      <p:to>
                                        <p:strVal val="visible"/>
                                      </p:to>
                                    </p:set>
                                    <p:animEffect transition="in" filter="fade">
                                      <p:cBhvr>
                                        <p:cTn id="25" dur="500"/>
                                        <p:tgtEl>
                                          <p:spTgt spid="39"/>
                                        </p:tgtEl>
                                      </p:cBhvr>
                                    </p:animEffect>
                                  </p:childTnLst>
                                </p:cTn>
                              </p:par>
                              <p:par>
                                <p:cTn id="26" presetID="10" presetClass="entr" presetSubtype="0" fill="hold" nodeType="withEffect">
                                  <p:stCondLst>
                                    <p:cond delay="1260"/>
                                  </p:stCondLst>
                                  <p:childTnLst>
                                    <p:set>
                                      <p:cBhvr>
                                        <p:cTn id="27" dur="1" fill="hold">
                                          <p:stCondLst>
                                            <p:cond delay="0"/>
                                          </p:stCondLst>
                                        </p:cTn>
                                        <p:tgtEl>
                                          <p:spTgt spid="75"/>
                                        </p:tgtEl>
                                        <p:attrNameLst>
                                          <p:attrName>style.visibility</p:attrName>
                                        </p:attrNameLst>
                                      </p:cBhvr>
                                      <p:to>
                                        <p:strVal val="visible"/>
                                      </p:to>
                                    </p:set>
                                    <p:animEffect transition="in" filter="fade">
                                      <p:cBhvr>
                                        <p:cTn id="28" dur="500"/>
                                        <p:tgtEl>
                                          <p:spTgt spid="75"/>
                                        </p:tgtEl>
                                      </p:cBhvr>
                                    </p:animEffect>
                                  </p:childTnLst>
                                </p:cTn>
                              </p:par>
                              <p:par>
                                <p:cTn id="29" presetID="10" presetClass="entr" presetSubtype="0" fill="hold" nodeType="withEffect">
                                  <p:stCondLst>
                                    <p:cond delay="1440"/>
                                  </p:stCondLst>
                                  <p:childTnLst>
                                    <p:set>
                                      <p:cBhvr>
                                        <p:cTn id="30" dur="1" fill="hold">
                                          <p:stCondLst>
                                            <p:cond delay="0"/>
                                          </p:stCondLst>
                                        </p:cTn>
                                        <p:tgtEl>
                                          <p:spTgt spid="76"/>
                                        </p:tgtEl>
                                        <p:attrNameLst>
                                          <p:attrName>style.visibility</p:attrName>
                                        </p:attrNameLst>
                                      </p:cBhvr>
                                      <p:to>
                                        <p:strVal val="visible"/>
                                      </p:to>
                                    </p:set>
                                    <p:animEffect transition="in" filter="fade">
                                      <p:cBhvr>
                                        <p:cTn id="31" dur="500"/>
                                        <p:tgtEl>
                                          <p:spTgt spid="76"/>
                                        </p:tgtEl>
                                      </p:cBhvr>
                                    </p:animEffect>
                                  </p:childTnLst>
                                </p:cTn>
                              </p:par>
                              <p:par>
                                <p:cTn id="32" presetID="10" presetClass="entr" presetSubtype="0" fill="hold" nodeType="withEffect">
                                  <p:stCondLst>
                                    <p:cond delay="1620"/>
                                  </p:stCondLst>
                                  <p:childTnLst>
                                    <p:set>
                                      <p:cBhvr>
                                        <p:cTn id="33" dur="1" fill="hold">
                                          <p:stCondLst>
                                            <p:cond delay="0"/>
                                          </p:stCondLst>
                                        </p:cTn>
                                        <p:tgtEl>
                                          <p:spTgt spid="77"/>
                                        </p:tgtEl>
                                        <p:attrNameLst>
                                          <p:attrName>style.visibility</p:attrName>
                                        </p:attrNameLst>
                                      </p:cBhvr>
                                      <p:to>
                                        <p:strVal val="visible"/>
                                      </p:to>
                                    </p:set>
                                    <p:animEffect transition="in" filter="fade">
                                      <p:cBhvr>
                                        <p:cTn id="34"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What “express” means here</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Fast freight train" descr="A steam engine pulling two freight wagons to the right, with speed lines trailing behind it: fast freight."/>
          <p:cNvGrpSpPr/>
          <p:nvPr/>
        </p:nvGrpSpPr>
        <p:grpSpPr>
          <a:xfrm>
            <a:off x="731520" y="3063240"/>
            <a:ext cx="6949440" cy="1618488"/>
            <a:chOff x="731520" y="3063240"/>
            <a:chExt cx="6949440" cy="1618488"/>
          </a:xfrm>
        </p:grpSpPr>
        <p:sp>
          <p:nvSpPr>
            <p:cNvPr id="5" name="Rectangle 4"/>
            <p:cNvSpPr/>
            <p:nvPr/>
          </p:nvSpPr>
          <p:spPr>
            <a:xfrm>
              <a:off x="731520" y="4526280"/>
              <a:ext cx="6949440" cy="64008"/>
            </a:xfrm>
            <a:prstGeom prst="rect">
              <a:avLst/>
            </a:prstGeom>
            <a:solidFill>
              <a:srgbClr val="9AA0A6"/>
            </a:solidFill>
            <a:ln>
              <a:noFill/>
            </a:ln>
          </p:spPr>
          <p:txBody>
            <a:bodyPr rtlCol="0" anchor="ctr"/>
            <a:lstStyle/>
            <a:p>
              <a:pPr algn="ctr"/>
              <a:endParaRPr/>
            </a:p>
          </p:txBody>
        </p:sp>
        <p:sp>
          <p:nvSpPr>
            <p:cNvPr id="6" name="Rectangle 5"/>
            <p:cNvSpPr/>
            <p:nvPr/>
          </p:nvSpPr>
          <p:spPr>
            <a:xfrm>
              <a:off x="822960" y="4590288"/>
              <a:ext cx="182880" cy="91440"/>
            </a:xfrm>
            <a:prstGeom prst="rect">
              <a:avLst/>
            </a:prstGeom>
            <a:solidFill>
              <a:srgbClr val="6B5B4B"/>
            </a:solidFill>
            <a:ln>
              <a:noFill/>
            </a:ln>
          </p:spPr>
          <p:txBody>
            <a:bodyPr rtlCol="0" anchor="ctr"/>
            <a:lstStyle/>
            <a:p>
              <a:pPr algn="ctr"/>
              <a:endParaRPr/>
            </a:p>
          </p:txBody>
        </p:sp>
        <p:sp>
          <p:nvSpPr>
            <p:cNvPr id="7" name="Rectangle 6"/>
            <p:cNvSpPr/>
            <p:nvPr/>
          </p:nvSpPr>
          <p:spPr>
            <a:xfrm>
              <a:off x="1280160" y="4590288"/>
              <a:ext cx="182880" cy="91440"/>
            </a:xfrm>
            <a:prstGeom prst="rect">
              <a:avLst/>
            </a:prstGeom>
            <a:solidFill>
              <a:srgbClr val="6B5B4B"/>
            </a:solidFill>
            <a:ln>
              <a:noFill/>
            </a:ln>
          </p:spPr>
          <p:txBody>
            <a:bodyPr rtlCol="0" anchor="ctr"/>
            <a:lstStyle/>
            <a:p>
              <a:pPr algn="ctr"/>
              <a:endParaRPr/>
            </a:p>
          </p:txBody>
        </p:sp>
        <p:sp>
          <p:nvSpPr>
            <p:cNvPr id="8" name="Rectangle 7"/>
            <p:cNvSpPr/>
            <p:nvPr/>
          </p:nvSpPr>
          <p:spPr>
            <a:xfrm>
              <a:off x="1737360" y="4590288"/>
              <a:ext cx="182880" cy="91440"/>
            </a:xfrm>
            <a:prstGeom prst="rect">
              <a:avLst/>
            </a:prstGeom>
            <a:solidFill>
              <a:srgbClr val="6B5B4B"/>
            </a:solidFill>
            <a:ln>
              <a:noFill/>
            </a:ln>
          </p:spPr>
          <p:txBody>
            <a:bodyPr rtlCol="0" anchor="ctr"/>
            <a:lstStyle/>
            <a:p>
              <a:pPr algn="ctr"/>
              <a:endParaRPr/>
            </a:p>
          </p:txBody>
        </p:sp>
        <p:sp>
          <p:nvSpPr>
            <p:cNvPr id="9" name="Rectangle 8"/>
            <p:cNvSpPr/>
            <p:nvPr/>
          </p:nvSpPr>
          <p:spPr>
            <a:xfrm>
              <a:off x="2194560" y="4590288"/>
              <a:ext cx="182880" cy="91440"/>
            </a:xfrm>
            <a:prstGeom prst="rect">
              <a:avLst/>
            </a:prstGeom>
            <a:solidFill>
              <a:srgbClr val="6B5B4B"/>
            </a:solidFill>
            <a:ln>
              <a:noFill/>
            </a:ln>
          </p:spPr>
          <p:txBody>
            <a:bodyPr rtlCol="0" anchor="ctr"/>
            <a:lstStyle/>
            <a:p>
              <a:pPr algn="ctr"/>
              <a:endParaRPr/>
            </a:p>
          </p:txBody>
        </p:sp>
        <p:sp>
          <p:nvSpPr>
            <p:cNvPr id="10" name="Rectangle 9"/>
            <p:cNvSpPr/>
            <p:nvPr/>
          </p:nvSpPr>
          <p:spPr>
            <a:xfrm>
              <a:off x="2651760" y="4590288"/>
              <a:ext cx="182880" cy="91440"/>
            </a:xfrm>
            <a:prstGeom prst="rect">
              <a:avLst/>
            </a:prstGeom>
            <a:solidFill>
              <a:srgbClr val="6B5B4B"/>
            </a:solidFill>
            <a:ln>
              <a:noFill/>
            </a:ln>
          </p:spPr>
          <p:txBody>
            <a:bodyPr rtlCol="0" anchor="ctr"/>
            <a:lstStyle/>
            <a:p>
              <a:pPr algn="ctr"/>
              <a:endParaRPr/>
            </a:p>
          </p:txBody>
        </p:sp>
        <p:sp>
          <p:nvSpPr>
            <p:cNvPr id="11" name="Rectangle 10"/>
            <p:cNvSpPr/>
            <p:nvPr/>
          </p:nvSpPr>
          <p:spPr>
            <a:xfrm>
              <a:off x="3108960" y="4590288"/>
              <a:ext cx="182880" cy="91440"/>
            </a:xfrm>
            <a:prstGeom prst="rect">
              <a:avLst/>
            </a:prstGeom>
            <a:solidFill>
              <a:srgbClr val="6B5B4B"/>
            </a:solidFill>
            <a:ln>
              <a:noFill/>
            </a:ln>
          </p:spPr>
          <p:txBody>
            <a:bodyPr rtlCol="0" anchor="ctr"/>
            <a:lstStyle/>
            <a:p>
              <a:pPr algn="ctr"/>
              <a:endParaRPr/>
            </a:p>
          </p:txBody>
        </p:sp>
        <p:sp>
          <p:nvSpPr>
            <p:cNvPr id="12" name="Rectangle 11"/>
            <p:cNvSpPr/>
            <p:nvPr/>
          </p:nvSpPr>
          <p:spPr>
            <a:xfrm>
              <a:off x="3566160" y="4590288"/>
              <a:ext cx="182880" cy="91440"/>
            </a:xfrm>
            <a:prstGeom prst="rect">
              <a:avLst/>
            </a:prstGeom>
            <a:solidFill>
              <a:srgbClr val="6B5B4B"/>
            </a:solidFill>
            <a:ln>
              <a:noFill/>
            </a:ln>
          </p:spPr>
          <p:txBody>
            <a:bodyPr rtlCol="0" anchor="ctr"/>
            <a:lstStyle/>
            <a:p>
              <a:pPr algn="ctr"/>
              <a:endParaRPr/>
            </a:p>
          </p:txBody>
        </p:sp>
        <p:sp>
          <p:nvSpPr>
            <p:cNvPr id="13" name="Rectangle 12"/>
            <p:cNvSpPr/>
            <p:nvPr/>
          </p:nvSpPr>
          <p:spPr>
            <a:xfrm>
              <a:off x="4023360" y="4590288"/>
              <a:ext cx="182880" cy="91440"/>
            </a:xfrm>
            <a:prstGeom prst="rect">
              <a:avLst/>
            </a:prstGeom>
            <a:solidFill>
              <a:srgbClr val="6B5B4B"/>
            </a:solidFill>
            <a:ln>
              <a:noFill/>
            </a:ln>
          </p:spPr>
          <p:txBody>
            <a:bodyPr rtlCol="0" anchor="ctr"/>
            <a:lstStyle/>
            <a:p>
              <a:pPr algn="ctr"/>
              <a:endParaRPr/>
            </a:p>
          </p:txBody>
        </p:sp>
        <p:sp>
          <p:nvSpPr>
            <p:cNvPr id="14" name="Rectangle 13"/>
            <p:cNvSpPr/>
            <p:nvPr/>
          </p:nvSpPr>
          <p:spPr>
            <a:xfrm>
              <a:off x="4480560" y="4590288"/>
              <a:ext cx="182880" cy="91440"/>
            </a:xfrm>
            <a:prstGeom prst="rect">
              <a:avLst/>
            </a:prstGeom>
            <a:solidFill>
              <a:srgbClr val="6B5B4B"/>
            </a:solidFill>
            <a:ln>
              <a:noFill/>
            </a:ln>
          </p:spPr>
          <p:txBody>
            <a:bodyPr rtlCol="0" anchor="ctr"/>
            <a:lstStyle/>
            <a:p>
              <a:pPr algn="ctr"/>
              <a:endParaRPr/>
            </a:p>
          </p:txBody>
        </p:sp>
        <p:sp>
          <p:nvSpPr>
            <p:cNvPr id="15" name="Rectangle 14"/>
            <p:cNvSpPr/>
            <p:nvPr/>
          </p:nvSpPr>
          <p:spPr>
            <a:xfrm>
              <a:off x="4937760" y="4590288"/>
              <a:ext cx="182880" cy="91440"/>
            </a:xfrm>
            <a:prstGeom prst="rect">
              <a:avLst/>
            </a:prstGeom>
            <a:solidFill>
              <a:srgbClr val="6B5B4B"/>
            </a:solidFill>
            <a:ln>
              <a:noFill/>
            </a:ln>
          </p:spPr>
          <p:txBody>
            <a:bodyPr rtlCol="0" anchor="ctr"/>
            <a:lstStyle/>
            <a:p>
              <a:pPr algn="ctr"/>
              <a:endParaRPr/>
            </a:p>
          </p:txBody>
        </p:sp>
        <p:sp>
          <p:nvSpPr>
            <p:cNvPr id="16" name="Rectangle 15"/>
            <p:cNvSpPr/>
            <p:nvPr/>
          </p:nvSpPr>
          <p:spPr>
            <a:xfrm>
              <a:off x="5394960" y="4590288"/>
              <a:ext cx="182880" cy="91440"/>
            </a:xfrm>
            <a:prstGeom prst="rect">
              <a:avLst/>
            </a:prstGeom>
            <a:solidFill>
              <a:srgbClr val="6B5B4B"/>
            </a:solidFill>
            <a:ln>
              <a:noFill/>
            </a:ln>
          </p:spPr>
          <p:txBody>
            <a:bodyPr rtlCol="0" anchor="ctr"/>
            <a:lstStyle/>
            <a:p>
              <a:pPr algn="ctr"/>
              <a:endParaRPr/>
            </a:p>
          </p:txBody>
        </p:sp>
        <p:sp>
          <p:nvSpPr>
            <p:cNvPr id="17" name="Rectangle 16"/>
            <p:cNvSpPr/>
            <p:nvPr/>
          </p:nvSpPr>
          <p:spPr>
            <a:xfrm>
              <a:off x="5852160" y="4590288"/>
              <a:ext cx="182880" cy="91440"/>
            </a:xfrm>
            <a:prstGeom prst="rect">
              <a:avLst/>
            </a:prstGeom>
            <a:solidFill>
              <a:srgbClr val="6B5B4B"/>
            </a:solidFill>
            <a:ln>
              <a:noFill/>
            </a:ln>
          </p:spPr>
          <p:txBody>
            <a:bodyPr rtlCol="0" anchor="ctr"/>
            <a:lstStyle/>
            <a:p>
              <a:pPr algn="ctr"/>
              <a:endParaRPr/>
            </a:p>
          </p:txBody>
        </p:sp>
        <p:sp>
          <p:nvSpPr>
            <p:cNvPr id="18" name="Rectangle 17"/>
            <p:cNvSpPr/>
            <p:nvPr/>
          </p:nvSpPr>
          <p:spPr>
            <a:xfrm>
              <a:off x="6309360" y="4590288"/>
              <a:ext cx="182880" cy="91440"/>
            </a:xfrm>
            <a:prstGeom prst="rect">
              <a:avLst/>
            </a:prstGeom>
            <a:solidFill>
              <a:srgbClr val="6B5B4B"/>
            </a:solidFill>
            <a:ln>
              <a:noFill/>
            </a:ln>
          </p:spPr>
          <p:txBody>
            <a:bodyPr rtlCol="0" anchor="ctr"/>
            <a:lstStyle/>
            <a:p>
              <a:pPr algn="ctr"/>
              <a:endParaRPr/>
            </a:p>
          </p:txBody>
        </p:sp>
        <p:sp>
          <p:nvSpPr>
            <p:cNvPr id="19" name="Rectangle 18"/>
            <p:cNvSpPr/>
            <p:nvPr/>
          </p:nvSpPr>
          <p:spPr>
            <a:xfrm>
              <a:off x="6766560" y="4590288"/>
              <a:ext cx="182880" cy="91440"/>
            </a:xfrm>
            <a:prstGeom prst="rect">
              <a:avLst/>
            </a:prstGeom>
            <a:solidFill>
              <a:srgbClr val="6B5B4B"/>
            </a:solidFill>
            <a:ln>
              <a:noFill/>
            </a:ln>
          </p:spPr>
          <p:txBody>
            <a:bodyPr rtlCol="0" anchor="ctr"/>
            <a:lstStyle/>
            <a:p>
              <a:pPr algn="ctr"/>
              <a:endParaRPr/>
            </a:p>
          </p:txBody>
        </p:sp>
        <p:sp>
          <p:nvSpPr>
            <p:cNvPr id="20" name="Rectangle 19"/>
            <p:cNvSpPr/>
            <p:nvPr/>
          </p:nvSpPr>
          <p:spPr>
            <a:xfrm>
              <a:off x="7223760" y="4590288"/>
              <a:ext cx="182880" cy="91440"/>
            </a:xfrm>
            <a:prstGeom prst="rect">
              <a:avLst/>
            </a:prstGeom>
            <a:solidFill>
              <a:srgbClr val="6B5B4B"/>
            </a:solidFill>
            <a:ln>
              <a:noFill/>
            </a:ln>
          </p:spPr>
          <p:txBody>
            <a:bodyPr rtlCol="0" anchor="ctr"/>
            <a:lstStyle/>
            <a:p>
              <a:pPr algn="ctr"/>
              <a:endParaRPr/>
            </a:p>
          </p:txBody>
        </p:sp>
        <p:sp>
          <p:nvSpPr>
            <p:cNvPr id="21" name="Rounded Rectangle 20"/>
            <p:cNvSpPr/>
            <p:nvPr/>
          </p:nvSpPr>
          <p:spPr>
            <a:xfrm>
              <a:off x="3611880" y="3621024"/>
              <a:ext cx="1303019" cy="466344"/>
            </a:xfrm>
            <a:prstGeom prst="roundRect">
              <a:avLst>
                <a:gd name="adj" fmla="val 5882"/>
              </a:avLst>
            </a:prstGeom>
            <a:solidFill>
              <a:srgbClr val="2B2F36"/>
            </a:solidFill>
            <a:ln w="19050">
              <a:solidFill>
                <a:srgbClr val="F28C28"/>
              </a:solidFill>
            </a:ln>
          </p:spPr>
          <p:txBody>
            <a:bodyPr rtlCol="0" anchor="ctr"/>
            <a:lstStyle/>
            <a:p>
              <a:pPr algn="ctr"/>
              <a:endParaRPr/>
            </a:p>
          </p:txBody>
        </p:sp>
        <p:sp>
          <p:nvSpPr>
            <p:cNvPr id="22" name="Freeform 21"/>
            <p:cNvSpPr/>
            <p:nvPr/>
          </p:nvSpPr>
          <p:spPr>
            <a:xfrm>
              <a:off x="3721608" y="3429000"/>
              <a:ext cx="1083564" cy="192024"/>
            </a:xfrm>
            <a:custGeom>
              <a:avLst/>
              <a:gdLst/>
              <a:ahLst/>
              <a:cxnLst/>
              <a:rect l="l" t="t" r="r" b="b"/>
              <a:pathLst>
                <a:path w="1083564" h="192024">
                  <a:moveTo>
                    <a:pt x="0" y="192024"/>
                  </a:moveTo>
                  <a:lnTo>
                    <a:pt x="164592" y="27432"/>
                  </a:lnTo>
                  <a:lnTo>
                    <a:pt x="918972" y="0"/>
                  </a:lnTo>
                  <a:lnTo>
                    <a:pt x="1083564" y="192024"/>
                  </a:lnTo>
                  <a:close/>
                </a:path>
              </a:pathLst>
            </a:custGeom>
            <a:solidFill>
              <a:srgbClr val="1B1D21"/>
            </a:solidFill>
            <a:ln w="12700">
              <a:solidFill>
                <a:srgbClr val="9AA0A6"/>
              </a:solidFill>
            </a:ln>
          </p:spPr>
          <p:txBody>
            <a:bodyPr rtlCol="0" anchor="ctr"/>
            <a:lstStyle/>
            <a:p>
              <a:pPr algn="ctr"/>
              <a:endParaRPr/>
            </a:p>
          </p:txBody>
        </p:sp>
        <p:sp>
          <p:nvSpPr>
            <p:cNvPr id="23" name="Oval 22"/>
            <p:cNvSpPr/>
            <p:nvPr/>
          </p:nvSpPr>
          <p:spPr>
            <a:xfrm>
              <a:off x="3831336" y="4197096"/>
              <a:ext cx="329184" cy="329184"/>
            </a:xfrm>
            <a:prstGeom prst="ellipse">
              <a:avLst/>
            </a:prstGeom>
            <a:solidFill>
              <a:srgbClr val="343A43"/>
            </a:solidFill>
            <a:ln w="12700">
              <a:solidFill>
                <a:srgbClr val="9AA0A6"/>
              </a:solidFill>
            </a:ln>
          </p:spPr>
          <p:txBody>
            <a:bodyPr rtlCol="0" anchor="ctr"/>
            <a:lstStyle/>
            <a:p>
              <a:pPr algn="ctr"/>
              <a:endParaRPr/>
            </a:p>
          </p:txBody>
        </p:sp>
        <p:sp>
          <p:nvSpPr>
            <p:cNvPr id="24" name="Oval 23"/>
            <p:cNvSpPr/>
            <p:nvPr/>
          </p:nvSpPr>
          <p:spPr>
            <a:xfrm>
              <a:off x="4366260" y="4197096"/>
              <a:ext cx="329184" cy="329184"/>
            </a:xfrm>
            <a:prstGeom prst="ellipse">
              <a:avLst/>
            </a:prstGeom>
            <a:solidFill>
              <a:srgbClr val="343A43"/>
            </a:solidFill>
            <a:ln w="12700">
              <a:solidFill>
                <a:srgbClr val="9AA0A6"/>
              </a:solidFill>
            </a:ln>
          </p:spPr>
          <p:txBody>
            <a:bodyPr rtlCol="0" anchor="ctr"/>
            <a:lstStyle/>
            <a:p>
              <a:pPr algn="ctr"/>
              <a:endParaRPr/>
            </a:p>
          </p:txBody>
        </p:sp>
        <p:cxnSp>
          <p:nvCxnSpPr>
            <p:cNvPr id="25" name="Connector 24"/>
            <p:cNvCxnSpPr/>
            <p:nvPr/>
          </p:nvCxnSpPr>
          <p:spPr>
            <a:xfrm>
              <a:off x="4914900" y="4005072"/>
              <a:ext cx="109728" cy="0"/>
            </a:xfrm>
            <a:prstGeom prst="line">
              <a:avLst/>
            </a:prstGeom>
            <a:ln w="25400">
              <a:solidFill>
                <a:srgbClr val="9AA0A6"/>
              </a:solidFill>
            </a:ln>
          </p:spPr>
        </p:cxnSp>
        <p:sp>
          <p:nvSpPr>
            <p:cNvPr id="26" name="Rectangle 25"/>
            <p:cNvSpPr/>
            <p:nvPr/>
          </p:nvSpPr>
          <p:spPr>
            <a:xfrm>
              <a:off x="5024628" y="4005072"/>
              <a:ext cx="2468880" cy="137160"/>
            </a:xfrm>
            <a:prstGeom prst="rect">
              <a:avLst/>
            </a:prstGeom>
            <a:solidFill>
              <a:srgbClr val="1B1D21"/>
            </a:solidFill>
            <a:ln w="12700">
              <a:solidFill>
                <a:srgbClr val="9AA0A6"/>
              </a:solidFill>
            </a:ln>
          </p:spPr>
          <p:txBody>
            <a:bodyPr rtlCol="0" anchor="ctr"/>
            <a:lstStyle/>
            <a:p>
              <a:pPr algn="ctr"/>
              <a:endParaRPr/>
            </a:p>
          </p:txBody>
        </p:sp>
        <p:sp>
          <p:nvSpPr>
            <p:cNvPr id="27" name="Oval 26"/>
            <p:cNvSpPr/>
            <p:nvPr/>
          </p:nvSpPr>
          <p:spPr>
            <a:xfrm>
              <a:off x="5202936" y="4114800"/>
              <a:ext cx="411479" cy="411479"/>
            </a:xfrm>
            <a:prstGeom prst="ellipse">
              <a:avLst/>
            </a:prstGeom>
            <a:solidFill>
              <a:srgbClr val="343A43"/>
            </a:solidFill>
            <a:ln w="15875">
              <a:solidFill>
                <a:srgbClr val="9AA0A6"/>
              </a:solidFill>
            </a:ln>
          </p:spPr>
          <p:txBody>
            <a:bodyPr rtlCol="0" anchor="ctr"/>
            <a:lstStyle/>
            <a:p>
              <a:pPr algn="ctr"/>
              <a:endParaRPr/>
            </a:p>
          </p:txBody>
        </p:sp>
        <p:sp>
          <p:nvSpPr>
            <p:cNvPr id="28" name="Oval 27"/>
            <p:cNvSpPr/>
            <p:nvPr/>
          </p:nvSpPr>
          <p:spPr>
            <a:xfrm>
              <a:off x="5367528" y="4279392"/>
              <a:ext cx="82296" cy="82296"/>
            </a:xfrm>
            <a:prstGeom prst="ellipse">
              <a:avLst/>
            </a:prstGeom>
            <a:solidFill>
              <a:srgbClr val="9AA0A6"/>
            </a:solidFill>
            <a:ln>
              <a:noFill/>
            </a:ln>
          </p:spPr>
          <p:txBody>
            <a:bodyPr rtlCol="0" anchor="ctr"/>
            <a:lstStyle/>
            <a:p>
              <a:pPr algn="ctr"/>
              <a:endParaRPr/>
            </a:p>
          </p:txBody>
        </p:sp>
        <p:sp>
          <p:nvSpPr>
            <p:cNvPr id="29" name="Oval 28"/>
            <p:cNvSpPr/>
            <p:nvPr/>
          </p:nvSpPr>
          <p:spPr>
            <a:xfrm>
              <a:off x="5843016" y="4114800"/>
              <a:ext cx="411479" cy="411479"/>
            </a:xfrm>
            <a:prstGeom prst="ellipse">
              <a:avLst/>
            </a:prstGeom>
            <a:solidFill>
              <a:srgbClr val="343A43"/>
            </a:solidFill>
            <a:ln w="15875">
              <a:solidFill>
                <a:srgbClr val="9AA0A6"/>
              </a:solidFill>
            </a:ln>
          </p:spPr>
          <p:txBody>
            <a:bodyPr rtlCol="0" anchor="ctr"/>
            <a:lstStyle/>
            <a:p>
              <a:pPr algn="ctr"/>
              <a:endParaRPr/>
            </a:p>
          </p:txBody>
        </p:sp>
        <p:sp>
          <p:nvSpPr>
            <p:cNvPr id="30" name="Oval 29"/>
            <p:cNvSpPr/>
            <p:nvPr/>
          </p:nvSpPr>
          <p:spPr>
            <a:xfrm>
              <a:off x="6007608" y="4279392"/>
              <a:ext cx="82296" cy="82296"/>
            </a:xfrm>
            <a:prstGeom prst="ellipse">
              <a:avLst/>
            </a:prstGeom>
            <a:solidFill>
              <a:srgbClr val="9AA0A6"/>
            </a:solidFill>
            <a:ln>
              <a:noFill/>
            </a:ln>
          </p:spPr>
          <p:txBody>
            <a:bodyPr rtlCol="0" anchor="ctr"/>
            <a:lstStyle/>
            <a:p>
              <a:pPr algn="ctr"/>
              <a:endParaRPr/>
            </a:p>
          </p:txBody>
        </p:sp>
        <p:sp>
          <p:nvSpPr>
            <p:cNvPr id="31" name="Oval 30"/>
            <p:cNvSpPr/>
            <p:nvPr/>
          </p:nvSpPr>
          <p:spPr>
            <a:xfrm>
              <a:off x="6483096" y="4114800"/>
              <a:ext cx="411479" cy="411479"/>
            </a:xfrm>
            <a:prstGeom prst="ellipse">
              <a:avLst/>
            </a:prstGeom>
            <a:solidFill>
              <a:srgbClr val="343A43"/>
            </a:solidFill>
            <a:ln w="15875">
              <a:solidFill>
                <a:srgbClr val="9AA0A6"/>
              </a:solidFill>
            </a:ln>
          </p:spPr>
          <p:txBody>
            <a:bodyPr rtlCol="0" anchor="ctr"/>
            <a:lstStyle/>
            <a:p>
              <a:pPr algn="ctr"/>
              <a:endParaRPr/>
            </a:p>
          </p:txBody>
        </p:sp>
        <p:sp>
          <p:nvSpPr>
            <p:cNvPr id="32" name="Oval 31"/>
            <p:cNvSpPr/>
            <p:nvPr/>
          </p:nvSpPr>
          <p:spPr>
            <a:xfrm>
              <a:off x="6647688" y="4279392"/>
              <a:ext cx="82296" cy="82296"/>
            </a:xfrm>
            <a:prstGeom prst="ellipse">
              <a:avLst/>
            </a:prstGeom>
            <a:solidFill>
              <a:srgbClr val="9AA0A6"/>
            </a:solidFill>
            <a:ln>
              <a:noFill/>
            </a:ln>
          </p:spPr>
          <p:txBody>
            <a:bodyPr rtlCol="0" anchor="ctr"/>
            <a:lstStyle/>
            <a:p>
              <a:pPr algn="ctr"/>
              <a:endParaRPr/>
            </a:p>
          </p:txBody>
        </p:sp>
        <p:sp>
          <p:nvSpPr>
            <p:cNvPr id="33" name="Oval 32"/>
            <p:cNvSpPr/>
            <p:nvPr/>
          </p:nvSpPr>
          <p:spPr>
            <a:xfrm>
              <a:off x="7123176" y="4114800"/>
              <a:ext cx="411479" cy="411479"/>
            </a:xfrm>
            <a:prstGeom prst="ellipse">
              <a:avLst/>
            </a:prstGeom>
            <a:solidFill>
              <a:srgbClr val="343A43"/>
            </a:solidFill>
            <a:ln w="15875">
              <a:solidFill>
                <a:srgbClr val="9AA0A6"/>
              </a:solidFill>
            </a:ln>
          </p:spPr>
          <p:txBody>
            <a:bodyPr rtlCol="0" anchor="ctr"/>
            <a:lstStyle/>
            <a:p>
              <a:pPr algn="ctr"/>
              <a:endParaRPr/>
            </a:p>
          </p:txBody>
        </p:sp>
        <p:sp>
          <p:nvSpPr>
            <p:cNvPr id="34" name="Oval 33"/>
            <p:cNvSpPr/>
            <p:nvPr/>
          </p:nvSpPr>
          <p:spPr>
            <a:xfrm>
              <a:off x="7287768" y="4279392"/>
              <a:ext cx="82296" cy="82296"/>
            </a:xfrm>
            <a:prstGeom prst="ellipse">
              <a:avLst/>
            </a:prstGeom>
            <a:solidFill>
              <a:srgbClr val="9AA0A6"/>
            </a:solidFill>
            <a:ln>
              <a:noFill/>
            </a:ln>
          </p:spPr>
          <p:txBody>
            <a:bodyPr rtlCol="0" anchor="ctr"/>
            <a:lstStyle/>
            <a:p>
              <a:pPr algn="ctr"/>
              <a:endParaRPr/>
            </a:p>
          </p:txBody>
        </p:sp>
        <p:cxnSp>
          <p:nvCxnSpPr>
            <p:cNvPr id="35" name="Connector 34"/>
            <p:cNvCxnSpPr/>
            <p:nvPr/>
          </p:nvCxnSpPr>
          <p:spPr>
            <a:xfrm>
              <a:off x="5408676" y="4320540"/>
              <a:ext cx="1920240" cy="0"/>
            </a:xfrm>
            <a:prstGeom prst="line">
              <a:avLst/>
            </a:prstGeom>
            <a:ln w="19050">
              <a:solidFill>
                <a:srgbClr val="9AA0A6"/>
              </a:solidFill>
            </a:ln>
          </p:spPr>
        </p:cxnSp>
        <p:sp>
          <p:nvSpPr>
            <p:cNvPr id="36" name="Rounded Rectangle 35"/>
            <p:cNvSpPr/>
            <p:nvPr/>
          </p:nvSpPr>
          <p:spPr>
            <a:xfrm>
              <a:off x="5847588" y="3483864"/>
              <a:ext cx="1645919" cy="521208"/>
            </a:xfrm>
            <a:prstGeom prst="roundRect">
              <a:avLst>
                <a:gd name="adj" fmla="val 10526"/>
              </a:avLst>
            </a:prstGeom>
            <a:solidFill>
              <a:srgbClr val="F28C28"/>
            </a:solidFill>
            <a:ln>
              <a:noFill/>
            </a:ln>
          </p:spPr>
          <p:txBody>
            <a:bodyPr rtlCol="0" anchor="ctr"/>
            <a:lstStyle/>
            <a:p>
              <a:pPr algn="ctr"/>
              <a:endParaRPr/>
            </a:p>
          </p:txBody>
        </p:sp>
        <p:sp>
          <p:nvSpPr>
            <p:cNvPr id="37" name="Rectangle 36"/>
            <p:cNvSpPr/>
            <p:nvPr/>
          </p:nvSpPr>
          <p:spPr>
            <a:xfrm>
              <a:off x="7246620" y="3483864"/>
              <a:ext cx="246888" cy="521208"/>
            </a:xfrm>
            <a:prstGeom prst="rect">
              <a:avLst/>
            </a:prstGeom>
            <a:solidFill>
              <a:srgbClr val="1B1D21"/>
            </a:solidFill>
            <a:ln w="12700">
              <a:solidFill>
                <a:srgbClr val="9AA0A6"/>
              </a:solidFill>
            </a:ln>
          </p:spPr>
          <p:txBody>
            <a:bodyPr rtlCol="0" anchor="ctr"/>
            <a:lstStyle/>
            <a:p>
              <a:pPr algn="ctr"/>
              <a:endParaRPr/>
            </a:p>
          </p:txBody>
        </p:sp>
        <p:sp>
          <p:nvSpPr>
            <p:cNvPr id="38" name="Rectangle 37"/>
            <p:cNvSpPr/>
            <p:nvPr/>
          </p:nvSpPr>
          <p:spPr>
            <a:xfrm>
              <a:off x="7301484" y="3236976"/>
              <a:ext cx="137160" cy="274320"/>
            </a:xfrm>
            <a:prstGeom prst="rect">
              <a:avLst/>
            </a:prstGeom>
            <a:solidFill>
              <a:srgbClr val="1B1D21"/>
            </a:solidFill>
            <a:ln w="12700">
              <a:solidFill>
                <a:srgbClr val="9AA0A6"/>
              </a:solidFill>
            </a:ln>
          </p:spPr>
          <p:txBody>
            <a:bodyPr rtlCol="0" anchor="ctr"/>
            <a:lstStyle/>
            <a:p>
              <a:pPr algn="ctr"/>
              <a:endParaRPr/>
            </a:p>
          </p:txBody>
        </p:sp>
        <p:sp>
          <p:nvSpPr>
            <p:cNvPr id="39" name="Rectangle 38"/>
            <p:cNvSpPr/>
            <p:nvPr/>
          </p:nvSpPr>
          <p:spPr>
            <a:xfrm>
              <a:off x="7246620" y="3182112"/>
              <a:ext cx="246888" cy="82296"/>
            </a:xfrm>
            <a:prstGeom prst="rect">
              <a:avLst/>
            </a:prstGeom>
            <a:solidFill>
              <a:srgbClr val="1B1D21"/>
            </a:solidFill>
            <a:ln w="12700">
              <a:solidFill>
                <a:srgbClr val="9AA0A6"/>
              </a:solidFill>
            </a:ln>
          </p:spPr>
          <p:txBody>
            <a:bodyPr rtlCol="0" anchor="ctr"/>
            <a:lstStyle/>
            <a:p>
              <a:pPr algn="ctr"/>
              <a:endParaRPr/>
            </a:p>
          </p:txBody>
        </p:sp>
        <p:sp>
          <p:nvSpPr>
            <p:cNvPr id="40" name="Rounded Rectangle 39"/>
            <p:cNvSpPr/>
            <p:nvPr/>
          </p:nvSpPr>
          <p:spPr>
            <a:xfrm>
              <a:off x="6259068" y="3346704"/>
              <a:ext cx="274320" cy="164592"/>
            </a:xfrm>
            <a:prstGeom prst="roundRect">
              <a:avLst>
                <a:gd name="adj" fmla="val 22222"/>
              </a:avLst>
            </a:prstGeom>
            <a:solidFill>
              <a:srgbClr val="F28C28"/>
            </a:solidFill>
            <a:ln>
              <a:noFill/>
            </a:ln>
          </p:spPr>
          <p:txBody>
            <a:bodyPr rtlCol="0" anchor="ctr"/>
            <a:lstStyle/>
            <a:p>
              <a:pPr algn="ctr"/>
              <a:endParaRPr/>
            </a:p>
          </p:txBody>
        </p:sp>
        <p:sp>
          <p:nvSpPr>
            <p:cNvPr id="41" name="Rectangle 40"/>
            <p:cNvSpPr/>
            <p:nvPr/>
          </p:nvSpPr>
          <p:spPr>
            <a:xfrm>
              <a:off x="5024628" y="3291840"/>
              <a:ext cx="822959" cy="740664"/>
            </a:xfrm>
            <a:prstGeom prst="rect">
              <a:avLst/>
            </a:prstGeom>
            <a:solidFill>
              <a:srgbClr val="F28C28"/>
            </a:solidFill>
            <a:ln>
              <a:noFill/>
            </a:ln>
          </p:spPr>
          <p:txBody>
            <a:bodyPr rtlCol="0" anchor="ctr"/>
            <a:lstStyle/>
            <a:p>
              <a:pPr algn="ctr"/>
              <a:endParaRPr/>
            </a:p>
          </p:txBody>
        </p:sp>
        <p:sp>
          <p:nvSpPr>
            <p:cNvPr id="42" name="Rectangle 41"/>
            <p:cNvSpPr/>
            <p:nvPr/>
          </p:nvSpPr>
          <p:spPr>
            <a:xfrm>
              <a:off x="4983480" y="3223260"/>
              <a:ext cx="905255" cy="96012"/>
            </a:xfrm>
            <a:prstGeom prst="rect">
              <a:avLst/>
            </a:prstGeom>
            <a:solidFill>
              <a:srgbClr val="1B1D21"/>
            </a:solidFill>
            <a:ln w="12700">
              <a:solidFill>
                <a:srgbClr val="9AA0A6"/>
              </a:solidFill>
            </a:ln>
          </p:spPr>
          <p:txBody>
            <a:bodyPr rtlCol="0" anchor="ctr"/>
            <a:lstStyle/>
            <a:p>
              <a:pPr algn="ctr"/>
              <a:endParaRPr/>
            </a:p>
          </p:txBody>
        </p:sp>
        <p:sp>
          <p:nvSpPr>
            <p:cNvPr id="43" name="Rectangle 42"/>
            <p:cNvSpPr/>
            <p:nvPr/>
          </p:nvSpPr>
          <p:spPr>
            <a:xfrm>
              <a:off x="5216652" y="3456432"/>
              <a:ext cx="356616" cy="274320"/>
            </a:xfrm>
            <a:prstGeom prst="rect">
              <a:avLst/>
            </a:prstGeom>
            <a:solidFill>
              <a:srgbClr val="1B1D21"/>
            </a:solidFill>
            <a:ln>
              <a:noFill/>
            </a:ln>
          </p:spPr>
          <p:txBody>
            <a:bodyPr rtlCol="0" anchor="ctr"/>
            <a:lstStyle/>
            <a:p>
              <a:pPr algn="ctr"/>
              <a:endParaRPr/>
            </a:p>
          </p:txBody>
        </p:sp>
        <p:sp>
          <p:nvSpPr>
            <p:cNvPr id="44" name="Rounded Rectangle 43"/>
            <p:cNvSpPr/>
            <p:nvPr/>
          </p:nvSpPr>
          <p:spPr>
            <a:xfrm>
              <a:off x="2240280" y="3749040"/>
              <a:ext cx="1280160" cy="685800"/>
            </a:xfrm>
            <a:prstGeom prst="roundRect">
              <a:avLst>
                <a:gd name="adj" fmla="val 5333"/>
              </a:avLst>
            </a:prstGeom>
            <a:solidFill>
              <a:srgbClr val="6C7480"/>
            </a:solidFill>
            <a:ln>
              <a:noFill/>
            </a:ln>
          </p:spPr>
          <p:txBody>
            <a:bodyPr rtlCol="0" anchor="ctr"/>
            <a:lstStyle/>
            <a:p>
              <a:pPr algn="ctr"/>
              <a:endParaRPr/>
            </a:p>
          </p:txBody>
        </p:sp>
        <p:sp>
          <p:nvSpPr>
            <p:cNvPr id="45" name="Rectangle 44"/>
            <p:cNvSpPr/>
            <p:nvPr/>
          </p:nvSpPr>
          <p:spPr>
            <a:xfrm>
              <a:off x="2331720" y="3858768"/>
              <a:ext cx="502919" cy="466344"/>
            </a:xfrm>
            <a:prstGeom prst="rect">
              <a:avLst/>
            </a:prstGeom>
            <a:solidFill>
              <a:srgbClr val="343A43"/>
            </a:solidFill>
            <a:ln w="12700">
              <a:solidFill>
                <a:srgbClr val="9AA0A6"/>
              </a:solidFill>
            </a:ln>
          </p:spPr>
          <p:txBody>
            <a:bodyPr rtlCol="0" anchor="ctr"/>
            <a:lstStyle/>
            <a:p>
              <a:pPr algn="ctr"/>
              <a:endParaRPr/>
            </a:p>
          </p:txBody>
        </p:sp>
        <p:sp>
          <p:nvSpPr>
            <p:cNvPr id="46" name="Rectangle 45"/>
            <p:cNvSpPr/>
            <p:nvPr/>
          </p:nvSpPr>
          <p:spPr>
            <a:xfrm>
              <a:off x="2926080" y="3858768"/>
              <a:ext cx="502919" cy="466344"/>
            </a:xfrm>
            <a:prstGeom prst="rect">
              <a:avLst/>
            </a:prstGeom>
            <a:solidFill>
              <a:srgbClr val="343A43"/>
            </a:solidFill>
            <a:ln w="12700">
              <a:solidFill>
                <a:srgbClr val="9AA0A6"/>
              </a:solidFill>
            </a:ln>
          </p:spPr>
          <p:txBody>
            <a:bodyPr rtlCol="0" anchor="ctr"/>
            <a:lstStyle/>
            <a:p>
              <a:pPr algn="ctr"/>
              <a:endParaRPr/>
            </a:p>
          </p:txBody>
        </p:sp>
        <p:sp>
          <p:nvSpPr>
            <p:cNvPr id="47" name="Oval 46"/>
            <p:cNvSpPr/>
            <p:nvPr/>
          </p:nvSpPr>
          <p:spPr>
            <a:xfrm>
              <a:off x="2377440" y="441655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48" name="Oval 47"/>
            <p:cNvSpPr/>
            <p:nvPr/>
          </p:nvSpPr>
          <p:spPr>
            <a:xfrm>
              <a:off x="3200400" y="441655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49" name="Rounded Rectangle 48"/>
            <p:cNvSpPr/>
            <p:nvPr/>
          </p:nvSpPr>
          <p:spPr>
            <a:xfrm>
              <a:off x="868680" y="3749040"/>
              <a:ext cx="1280160" cy="685800"/>
            </a:xfrm>
            <a:prstGeom prst="roundRect">
              <a:avLst>
                <a:gd name="adj" fmla="val 5333"/>
              </a:avLst>
            </a:prstGeom>
            <a:solidFill>
              <a:srgbClr val="6C7480"/>
            </a:solidFill>
            <a:ln>
              <a:noFill/>
            </a:ln>
          </p:spPr>
          <p:txBody>
            <a:bodyPr rtlCol="0" anchor="ctr"/>
            <a:lstStyle/>
            <a:p>
              <a:pPr algn="ctr"/>
              <a:endParaRPr/>
            </a:p>
          </p:txBody>
        </p:sp>
        <p:sp>
          <p:nvSpPr>
            <p:cNvPr id="50" name="Rectangle 49"/>
            <p:cNvSpPr/>
            <p:nvPr/>
          </p:nvSpPr>
          <p:spPr>
            <a:xfrm>
              <a:off x="960120" y="3858768"/>
              <a:ext cx="502919" cy="466344"/>
            </a:xfrm>
            <a:prstGeom prst="rect">
              <a:avLst/>
            </a:prstGeom>
            <a:solidFill>
              <a:srgbClr val="343A43"/>
            </a:solidFill>
            <a:ln w="12700">
              <a:solidFill>
                <a:srgbClr val="9AA0A6"/>
              </a:solidFill>
            </a:ln>
          </p:spPr>
          <p:txBody>
            <a:bodyPr rtlCol="0" anchor="ctr"/>
            <a:lstStyle/>
            <a:p>
              <a:pPr algn="ctr"/>
              <a:endParaRPr/>
            </a:p>
          </p:txBody>
        </p:sp>
        <p:sp>
          <p:nvSpPr>
            <p:cNvPr id="51" name="Rectangle 50"/>
            <p:cNvSpPr/>
            <p:nvPr/>
          </p:nvSpPr>
          <p:spPr>
            <a:xfrm>
              <a:off x="1554480" y="3858768"/>
              <a:ext cx="502919" cy="466344"/>
            </a:xfrm>
            <a:prstGeom prst="rect">
              <a:avLst/>
            </a:prstGeom>
            <a:solidFill>
              <a:srgbClr val="343A43"/>
            </a:solidFill>
            <a:ln w="12700">
              <a:solidFill>
                <a:srgbClr val="9AA0A6"/>
              </a:solidFill>
            </a:ln>
          </p:spPr>
          <p:txBody>
            <a:bodyPr rtlCol="0" anchor="ctr"/>
            <a:lstStyle/>
            <a:p>
              <a:pPr algn="ctr"/>
              <a:endParaRPr/>
            </a:p>
          </p:txBody>
        </p:sp>
        <p:sp>
          <p:nvSpPr>
            <p:cNvPr id="52" name="Oval 51"/>
            <p:cNvSpPr/>
            <p:nvPr/>
          </p:nvSpPr>
          <p:spPr>
            <a:xfrm>
              <a:off x="1005839" y="441655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53" name="Oval 52"/>
            <p:cNvSpPr/>
            <p:nvPr/>
          </p:nvSpPr>
          <p:spPr>
            <a:xfrm>
              <a:off x="1828799" y="4416552"/>
              <a:ext cx="182880" cy="182880"/>
            </a:xfrm>
            <a:prstGeom prst="ellipse">
              <a:avLst/>
            </a:prstGeom>
            <a:solidFill>
              <a:srgbClr val="343A43"/>
            </a:solidFill>
            <a:ln w="12700">
              <a:solidFill>
                <a:srgbClr val="9AA0A6"/>
              </a:solidFill>
            </a:ln>
          </p:spPr>
          <p:txBody>
            <a:bodyPr rtlCol="0" anchor="ctr"/>
            <a:lstStyle/>
            <a:p>
              <a:pPr algn="ctr"/>
              <a:endParaRPr/>
            </a:p>
          </p:txBody>
        </p:sp>
        <p:cxnSp>
          <p:nvCxnSpPr>
            <p:cNvPr id="54" name="Connector 53"/>
            <p:cNvCxnSpPr/>
            <p:nvPr/>
          </p:nvCxnSpPr>
          <p:spPr>
            <a:xfrm>
              <a:off x="868680" y="3063240"/>
              <a:ext cx="1828800" cy="0"/>
            </a:xfrm>
            <a:prstGeom prst="line">
              <a:avLst/>
            </a:prstGeom>
            <a:ln w="28575">
              <a:solidFill>
                <a:srgbClr val="F2F2F2"/>
              </a:solidFill>
            </a:ln>
          </p:spPr>
        </p:cxnSp>
        <p:cxnSp>
          <p:nvCxnSpPr>
            <p:cNvPr id="55" name="Connector 54"/>
            <p:cNvCxnSpPr/>
            <p:nvPr/>
          </p:nvCxnSpPr>
          <p:spPr>
            <a:xfrm>
              <a:off x="1143000" y="3337560"/>
              <a:ext cx="1188720" cy="0"/>
            </a:xfrm>
            <a:prstGeom prst="line">
              <a:avLst/>
            </a:prstGeom>
            <a:ln w="28575">
              <a:solidFill>
                <a:srgbClr val="F2F2F2"/>
              </a:solidFill>
            </a:ln>
          </p:spPr>
        </p:cxnSp>
        <p:cxnSp>
          <p:nvCxnSpPr>
            <p:cNvPr id="56" name="Connector 55"/>
            <p:cNvCxnSpPr/>
            <p:nvPr/>
          </p:nvCxnSpPr>
          <p:spPr>
            <a:xfrm>
              <a:off x="868680" y="3611880"/>
              <a:ext cx="1143000" cy="0"/>
            </a:xfrm>
            <a:prstGeom prst="line">
              <a:avLst/>
            </a:prstGeom>
            <a:ln w="28575">
              <a:solidFill>
                <a:srgbClr val="F2F2F2"/>
              </a:solidFill>
            </a:ln>
          </p:spPr>
        </p:cxnSp>
      </p:grpSp>
      <p:sp>
        <p:nvSpPr>
          <p:cNvPr id="57" name="Label: fast freight"/>
          <p:cNvSpPr txBox="1"/>
          <p:nvPr/>
        </p:nvSpPr>
        <p:spPr>
          <a:xfrm>
            <a:off x="731520" y="4937760"/>
            <a:ext cx="6949440" cy="411480"/>
          </a:xfrm>
          <a:prstGeom prst="rect">
            <a:avLst/>
          </a:prstGeom>
          <a:noFill/>
        </p:spPr>
        <p:txBody>
          <a:bodyPr wrap="square" lIns="0" tIns="0" rIns="0" bIns="0" anchor="ctr">
            <a:noAutofit/>
          </a:bodyPr>
          <a:lstStyle/>
          <a:p>
            <a:pPr algn="ctr"/>
            <a:r>
              <a:rPr lang="en-GB" sz="1800" b="1" i="0">
                <a:solidFill>
                  <a:srgbClr val="F2F2F2"/>
                </a:solidFill>
                <a:latin typeface="Arial"/>
              </a:rPr>
              <a:t>Fast freight</a:t>
            </a:r>
            <a:endParaRPr lang="en-GB" sz="1800"/>
          </a:p>
        </p:txBody>
      </p:sp>
      <p:grpSp>
        <p:nvGrpSpPr>
          <p:cNvPr id="58" name="Passenger coach with crossed-out ticket sales" descr="A passenger coach, with a ticket icon above it crossed out by a red X: the game has no passenger economy."/>
          <p:cNvGrpSpPr/>
          <p:nvPr/>
        </p:nvGrpSpPr>
        <p:grpSpPr>
          <a:xfrm>
            <a:off x="8138160" y="1874520"/>
            <a:ext cx="3474720" cy="2807208"/>
            <a:chOff x="8138160" y="1874520"/>
            <a:chExt cx="3474720" cy="2807208"/>
          </a:xfrm>
        </p:grpSpPr>
        <p:sp>
          <p:nvSpPr>
            <p:cNvPr id="59" name="Rectangle 58"/>
            <p:cNvSpPr/>
            <p:nvPr/>
          </p:nvSpPr>
          <p:spPr>
            <a:xfrm>
              <a:off x="8138160" y="4526280"/>
              <a:ext cx="3474720" cy="64008"/>
            </a:xfrm>
            <a:prstGeom prst="rect">
              <a:avLst/>
            </a:prstGeom>
            <a:solidFill>
              <a:srgbClr val="9AA0A6"/>
            </a:solidFill>
            <a:ln>
              <a:noFill/>
            </a:ln>
          </p:spPr>
          <p:txBody>
            <a:bodyPr rtlCol="0" anchor="ctr"/>
            <a:lstStyle/>
            <a:p>
              <a:pPr algn="ctr"/>
              <a:endParaRPr/>
            </a:p>
          </p:txBody>
        </p:sp>
        <p:sp>
          <p:nvSpPr>
            <p:cNvPr id="60" name="Rectangle 59"/>
            <p:cNvSpPr/>
            <p:nvPr/>
          </p:nvSpPr>
          <p:spPr>
            <a:xfrm>
              <a:off x="8229600" y="4590288"/>
              <a:ext cx="182880" cy="91440"/>
            </a:xfrm>
            <a:prstGeom prst="rect">
              <a:avLst/>
            </a:prstGeom>
            <a:solidFill>
              <a:srgbClr val="6B5B4B"/>
            </a:solidFill>
            <a:ln>
              <a:noFill/>
            </a:ln>
          </p:spPr>
          <p:txBody>
            <a:bodyPr rtlCol="0" anchor="ctr"/>
            <a:lstStyle/>
            <a:p>
              <a:pPr algn="ctr"/>
              <a:endParaRPr/>
            </a:p>
          </p:txBody>
        </p:sp>
        <p:sp>
          <p:nvSpPr>
            <p:cNvPr id="61" name="Rectangle 60"/>
            <p:cNvSpPr/>
            <p:nvPr/>
          </p:nvSpPr>
          <p:spPr>
            <a:xfrm>
              <a:off x="8686800" y="4590288"/>
              <a:ext cx="182880" cy="91440"/>
            </a:xfrm>
            <a:prstGeom prst="rect">
              <a:avLst/>
            </a:prstGeom>
            <a:solidFill>
              <a:srgbClr val="6B5B4B"/>
            </a:solidFill>
            <a:ln>
              <a:noFill/>
            </a:ln>
          </p:spPr>
          <p:txBody>
            <a:bodyPr rtlCol="0" anchor="ctr"/>
            <a:lstStyle/>
            <a:p>
              <a:pPr algn="ctr"/>
              <a:endParaRPr/>
            </a:p>
          </p:txBody>
        </p:sp>
        <p:sp>
          <p:nvSpPr>
            <p:cNvPr id="62" name="Rectangle 61"/>
            <p:cNvSpPr/>
            <p:nvPr/>
          </p:nvSpPr>
          <p:spPr>
            <a:xfrm>
              <a:off x="9144000" y="4590288"/>
              <a:ext cx="182880" cy="91440"/>
            </a:xfrm>
            <a:prstGeom prst="rect">
              <a:avLst/>
            </a:prstGeom>
            <a:solidFill>
              <a:srgbClr val="6B5B4B"/>
            </a:solidFill>
            <a:ln>
              <a:noFill/>
            </a:ln>
          </p:spPr>
          <p:txBody>
            <a:bodyPr rtlCol="0" anchor="ctr"/>
            <a:lstStyle/>
            <a:p>
              <a:pPr algn="ctr"/>
              <a:endParaRPr/>
            </a:p>
          </p:txBody>
        </p:sp>
        <p:sp>
          <p:nvSpPr>
            <p:cNvPr id="63" name="Rectangle 62"/>
            <p:cNvSpPr/>
            <p:nvPr/>
          </p:nvSpPr>
          <p:spPr>
            <a:xfrm>
              <a:off x="9601200" y="4590288"/>
              <a:ext cx="182880" cy="91440"/>
            </a:xfrm>
            <a:prstGeom prst="rect">
              <a:avLst/>
            </a:prstGeom>
            <a:solidFill>
              <a:srgbClr val="6B5B4B"/>
            </a:solidFill>
            <a:ln>
              <a:noFill/>
            </a:ln>
          </p:spPr>
          <p:txBody>
            <a:bodyPr rtlCol="0" anchor="ctr"/>
            <a:lstStyle/>
            <a:p>
              <a:pPr algn="ctr"/>
              <a:endParaRPr/>
            </a:p>
          </p:txBody>
        </p:sp>
        <p:sp>
          <p:nvSpPr>
            <p:cNvPr id="64" name="Rectangle 63"/>
            <p:cNvSpPr/>
            <p:nvPr/>
          </p:nvSpPr>
          <p:spPr>
            <a:xfrm>
              <a:off x="10058400" y="4590288"/>
              <a:ext cx="182880" cy="91440"/>
            </a:xfrm>
            <a:prstGeom prst="rect">
              <a:avLst/>
            </a:prstGeom>
            <a:solidFill>
              <a:srgbClr val="6B5B4B"/>
            </a:solidFill>
            <a:ln>
              <a:noFill/>
            </a:ln>
          </p:spPr>
          <p:txBody>
            <a:bodyPr rtlCol="0" anchor="ctr"/>
            <a:lstStyle/>
            <a:p>
              <a:pPr algn="ctr"/>
              <a:endParaRPr/>
            </a:p>
          </p:txBody>
        </p:sp>
        <p:sp>
          <p:nvSpPr>
            <p:cNvPr id="65" name="Rectangle 64"/>
            <p:cNvSpPr/>
            <p:nvPr/>
          </p:nvSpPr>
          <p:spPr>
            <a:xfrm>
              <a:off x="10515600" y="4590288"/>
              <a:ext cx="182880" cy="91440"/>
            </a:xfrm>
            <a:prstGeom prst="rect">
              <a:avLst/>
            </a:prstGeom>
            <a:solidFill>
              <a:srgbClr val="6B5B4B"/>
            </a:solidFill>
            <a:ln>
              <a:noFill/>
            </a:ln>
          </p:spPr>
          <p:txBody>
            <a:bodyPr rtlCol="0" anchor="ctr"/>
            <a:lstStyle/>
            <a:p>
              <a:pPr algn="ctr"/>
              <a:endParaRPr/>
            </a:p>
          </p:txBody>
        </p:sp>
        <p:sp>
          <p:nvSpPr>
            <p:cNvPr id="66" name="Rectangle 65"/>
            <p:cNvSpPr/>
            <p:nvPr/>
          </p:nvSpPr>
          <p:spPr>
            <a:xfrm>
              <a:off x="10972800" y="4590288"/>
              <a:ext cx="182880" cy="91440"/>
            </a:xfrm>
            <a:prstGeom prst="rect">
              <a:avLst/>
            </a:prstGeom>
            <a:solidFill>
              <a:srgbClr val="6B5B4B"/>
            </a:solidFill>
            <a:ln>
              <a:noFill/>
            </a:ln>
          </p:spPr>
          <p:txBody>
            <a:bodyPr rtlCol="0" anchor="ctr"/>
            <a:lstStyle/>
            <a:p>
              <a:pPr algn="ctr"/>
              <a:endParaRPr/>
            </a:p>
          </p:txBody>
        </p:sp>
        <p:sp>
          <p:nvSpPr>
            <p:cNvPr id="67" name="Rectangle 66"/>
            <p:cNvSpPr/>
            <p:nvPr/>
          </p:nvSpPr>
          <p:spPr>
            <a:xfrm>
              <a:off x="11430000" y="4590288"/>
              <a:ext cx="182880" cy="91440"/>
            </a:xfrm>
            <a:prstGeom prst="rect">
              <a:avLst/>
            </a:prstGeom>
            <a:solidFill>
              <a:srgbClr val="6B5B4B"/>
            </a:solidFill>
            <a:ln>
              <a:noFill/>
            </a:ln>
          </p:spPr>
          <p:txBody>
            <a:bodyPr rtlCol="0" anchor="ctr"/>
            <a:lstStyle/>
            <a:p>
              <a:pPr algn="ctr"/>
              <a:endParaRPr/>
            </a:p>
          </p:txBody>
        </p:sp>
        <p:sp>
          <p:nvSpPr>
            <p:cNvPr id="68" name="Rounded Rectangle 67"/>
            <p:cNvSpPr/>
            <p:nvPr/>
          </p:nvSpPr>
          <p:spPr>
            <a:xfrm>
              <a:off x="8412480" y="3657600"/>
              <a:ext cx="2926080" cy="777240"/>
            </a:xfrm>
            <a:prstGeom prst="roundRect">
              <a:avLst>
                <a:gd name="adj" fmla="val 11764"/>
              </a:avLst>
            </a:prstGeom>
            <a:solidFill>
              <a:srgbClr val="6C7480"/>
            </a:solidFill>
            <a:ln>
              <a:noFill/>
            </a:ln>
          </p:spPr>
          <p:txBody>
            <a:bodyPr rtlCol="0" anchor="ctr"/>
            <a:lstStyle/>
            <a:p>
              <a:pPr algn="ctr"/>
              <a:endParaRPr/>
            </a:p>
          </p:txBody>
        </p:sp>
        <p:sp>
          <p:nvSpPr>
            <p:cNvPr id="69" name="Rounded Rectangle 68"/>
            <p:cNvSpPr/>
            <p:nvPr/>
          </p:nvSpPr>
          <p:spPr>
            <a:xfrm>
              <a:off x="8686800" y="3794760"/>
              <a:ext cx="384048"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70" name="Rounded Rectangle 69"/>
            <p:cNvSpPr/>
            <p:nvPr/>
          </p:nvSpPr>
          <p:spPr>
            <a:xfrm>
              <a:off x="9180576" y="3794760"/>
              <a:ext cx="384048"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71" name="Rounded Rectangle 70"/>
            <p:cNvSpPr/>
            <p:nvPr/>
          </p:nvSpPr>
          <p:spPr>
            <a:xfrm>
              <a:off x="9674352" y="3794760"/>
              <a:ext cx="384048"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72" name="Rounded Rectangle 71"/>
            <p:cNvSpPr/>
            <p:nvPr/>
          </p:nvSpPr>
          <p:spPr>
            <a:xfrm>
              <a:off x="10168128" y="3794760"/>
              <a:ext cx="384048"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73" name="Rounded Rectangle 72"/>
            <p:cNvSpPr/>
            <p:nvPr/>
          </p:nvSpPr>
          <p:spPr>
            <a:xfrm>
              <a:off x="10661904" y="3794760"/>
              <a:ext cx="384048"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74" name="Oval 73"/>
            <p:cNvSpPr/>
            <p:nvPr/>
          </p:nvSpPr>
          <p:spPr>
            <a:xfrm>
              <a:off x="8823960" y="441655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75" name="Oval 74"/>
            <p:cNvSpPr/>
            <p:nvPr/>
          </p:nvSpPr>
          <p:spPr>
            <a:xfrm>
              <a:off x="9098280" y="441655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76" name="Oval 75"/>
            <p:cNvSpPr/>
            <p:nvPr/>
          </p:nvSpPr>
          <p:spPr>
            <a:xfrm>
              <a:off x="10744199" y="441655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77" name="Oval 76"/>
            <p:cNvSpPr/>
            <p:nvPr/>
          </p:nvSpPr>
          <p:spPr>
            <a:xfrm>
              <a:off x="11018519" y="441655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78" name="Rounded Rectangle 77"/>
            <p:cNvSpPr/>
            <p:nvPr/>
          </p:nvSpPr>
          <p:spPr>
            <a:xfrm>
              <a:off x="9144000" y="2011680"/>
              <a:ext cx="1463040" cy="777240"/>
            </a:xfrm>
            <a:prstGeom prst="roundRect">
              <a:avLst>
                <a:gd name="adj" fmla="val 9411"/>
              </a:avLst>
            </a:prstGeom>
            <a:solidFill>
              <a:srgbClr val="F2C14E"/>
            </a:solidFill>
            <a:ln>
              <a:noFill/>
            </a:ln>
          </p:spPr>
          <p:txBody>
            <a:bodyPr rtlCol="0" anchor="ctr"/>
            <a:lstStyle/>
            <a:p>
              <a:pPr algn="ctr"/>
              <a:endParaRPr/>
            </a:p>
          </p:txBody>
        </p:sp>
        <p:sp>
          <p:nvSpPr>
            <p:cNvPr id="79" name="Oval 78"/>
            <p:cNvSpPr/>
            <p:nvPr/>
          </p:nvSpPr>
          <p:spPr>
            <a:xfrm>
              <a:off x="9034272" y="2286000"/>
              <a:ext cx="219456" cy="219456"/>
            </a:xfrm>
            <a:prstGeom prst="ellipse">
              <a:avLst/>
            </a:prstGeom>
            <a:solidFill>
              <a:srgbClr val="1E2126"/>
            </a:solidFill>
            <a:ln>
              <a:noFill/>
            </a:ln>
          </p:spPr>
          <p:txBody>
            <a:bodyPr rtlCol="0" anchor="ctr"/>
            <a:lstStyle/>
            <a:p>
              <a:pPr algn="ctr"/>
              <a:endParaRPr/>
            </a:p>
          </p:txBody>
        </p:sp>
        <p:sp>
          <p:nvSpPr>
            <p:cNvPr id="80" name="Oval 79"/>
            <p:cNvSpPr/>
            <p:nvPr/>
          </p:nvSpPr>
          <p:spPr>
            <a:xfrm>
              <a:off x="10497312" y="2286000"/>
              <a:ext cx="219456" cy="219456"/>
            </a:xfrm>
            <a:prstGeom prst="ellipse">
              <a:avLst/>
            </a:prstGeom>
            <a:solidFill>
              <a:srgbClr val="1E2126"/>
            </a:solidFill>
            <a:ln>
              <a:noFill/>
            </a:ln>
          </p:spPr>
          <p:txBody>
            <a:bodyPr rtlCol="0" anchor="ctr"/>
            <a:lstStyle/>
            <a:p>
              <a:pPr algn="ctr"/>
              <a:endParaRPr/>
            </a:p>
          </p:txBody>
        </p:sp>
        <p:cxnSp>
          <p:nvCxnSpPr>
            <p:cNvPr id="81" name="Connector 80"/>
            <p:cNvCxnSpPr/>
            <p:nvPr/>
          </p:nvCxnSpPr>
          <p:spPr>
            <a:xfrm>
              <a:off x="9464040" y="2286000"/>
              <a:ext cx="822960" cy="0"/>
            </a:xfrm>
            <a:prstGeom prst="line">
              <a:avLst/>
            </a:prstGeom>
            <a:ln w="25400">
              <a:solidFill>
                <a:srgbClr val="101418"/>
              </a:solidFill>
            </a:ln>
          </p:spPr>
        </p:cxnSp>
        <p:cxnSp>
          <p:nvCxnSpPr>
            <p:cNvPr id="82" name="Connector 81"/>
            <p:cNvCxnSpPr/>
            <p:nvPr/>
          </p:nvCxnSpPr>
          <p:spPr>
            <a:xfrm>
              <a:off x="9464040" y="2514600"/>
              <a:ext cx="594360" cy="0"/>
            </a:xfrm>
            <a:prstGeom prst="line">
              <a:avLst/>
            </a:prstGeom>
            <a:ln w="25400">
              <a:solidFill>
                <a:srgbClr val="101418"/>
              </a:solidFill>
            </a:ln>
          </p:spPr>
        </p:cxnSp>
        <p:cxnSp>
          <p:nvCxnSpPr>
            <p:cNvPr id="83" name="Connector 82"/>
            <p:cNvCxnSpPr/>
            <p:nvPr/>
          </p:nvCxnSpPr>
          <p:spPr>
            <a:xfrm>
              <a:off x="8915400" y="1874520"/>
              <a:ext cx="1920240" cy="1051560"/>
            </a:xfrm>
            <a:prstGeom prst="line">
              <a:avLst/>
            </a:prstGeom>
            <a:ln w="76200">
              <a:solidFill>
                <a:srgbClr val="E5484D"/>
              </a:solidFill>
            </a:ln>
          </p:spPr>
        </p:cxnSp>
        <p:cxnSp>
          <p:nvCxnSpPr>
            <p:cNvPr id="84" name="Connector 83"/>
            <p:cNvCxnSpPr/>
            <p:nvPr/>
          </p:nvCxnSpPr>
          <p:spPr>
            <a:xfrm flipH="1">
              <a:off x="8915400" y="1874520"/>
              <a:ext cx="1920240" cy="1051560"/>
            </a:xfrm>
            <a:prstGeom prst="line">
              <a:avLst/>
            </a:prstGeom>
            <a:ln w="76200">
              <a:solidFill>
                <a:srgbClr val="E5484D"/>
              </a:solidFill>
            </a:ln>
          </p:spPr>
        </p:cxnSp>
        <p:sp>
          <p:nvSpPr>
            <p:cNvPr id="85" name="Label: ticket sales"/>
            <p:cNvSpPr txBox="1"/>
            <p:nvPr/>
          </p:nvSpPr>
          <p:spPr>
            <a:xfrm>
              <a:off x="8412480" y="2944368"/>
              <a:ext cx="2926080" cy="365760"/>
            </a:xfrm>
            <a:prstGeom prst="rect">
              <a:avLst/>
            </a:prstGeom>
            <a:noFill/>
          </p:spPr>
          <p:txBody>
            <a:bodyPr wrap="square" lIns="0" tIns="0" rIns="0" bIns="0" anchor="ctr">
              <a:noAutofit/>
            </a:bodyPr>
            <a:lstStyle/>
            <a:p>
              <a:pPr algn="ctr"/>
              <a:r>
                <a:rPr lang="en-GB" sz="1600" b="1" i="0">
                  <a:solidFill>
                    <a:srgbClr val="F2F2F2"/>
                  </a:solidFill>
                  <a:latin typeface="Arial"/>
                </a:rPr>
                <a:t>Ticket sales</a:t>
              </a:r>
              <a:endParaRPr lang="en-GB" sz="1600"/>
            </a:p>
          </p:txBody>
        </p:sp>
      </p:grpSp>
      <p:sp>
        <p:nvSpPr>
          <p:cNvPr id="86" name="Label: passenger coach"/>
          <p:cNvSpPr txBox="1"/>
          <p:nvPr/>
        </p:nvSpPr>
        <p:spPr>
          <a:xfrm>
            <a:off x="8138160" y="4937760"/>
            <a:ext cx="3474720" cy="411480"/>
          </a:xfrm>
          <a:prstGeom prst="rect">
            <a:avLst/>
          </a:prstGeom>
          <a:noFill/>
        </p:spPr>
        <p:txBody>
          <a:bodyPr wrap="square" lIns="0" tIns="0" rIns="0" bIns="0" anchor="ctr">
            <a:noAutofit/>
          </a:bodyPr>
          <a:lstStyle/>
          <a:p>
            <a:pPr algn="ctr"/>
            <a:r>
              <a:rPr lang="en-GB" sz="1800" b="1" i="0">
                <a:solidFill>
                  <a:srgbClr val="F2F2F2"/>
                </a:solidFill>
                <a:latin typeface="Arial"/>
              </a:rPr>
              <a:t>Passenger coach</a:t>
            </a:r>
            <a:endParaRPr lang="en-GB" sz="1800"/>
          </a:p>
        </p:txBody>
      </p:sp>
      <p:sp>
        <p:nvSpPr>
          <p:cNvPr id="87"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Here, express means fast freight. The game has no passenger economy.</a:t>
            </a:r>
            <a:endParaRPr lang="en-GB" sz="2000"/>
          </a:p>
        </p:txBody>
      </p:sp>
      <p:sp>
        <p:nvSpPr>
          <p:cNvPr id="88"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89"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10</a:t>
            </a:r>
            <a:endParaRPr lang="en-GB" sz="1400"/>
          </a:p>
        </p:txBody>
      </p:sp>
    </p:spTree>
    <p:extLst>
      <p:ext uri="{BB962C8B-B14F-4D97-AF65-F5344CB8AC3E}">
        <p14:creationId xmlns:p14="http://schemas.microsoft.com/office/powerpoint/2010/main" val="1746504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par>
                                <p:cTn id="11" presetID="10" presetClass="entr" presetSubtype="0" fill="hold" nodeType="withEffect">
                                  <p:stCondLst>
                                    <p:cond delay="600"/>
                                  </p:stCondLst>
                                  <p:childTnLst>
                                    <p:set>
                                      <p:cBhvr>
                                        <p:cTn id="12" dur="1" fill="hold">
                                          <p:stCondLst>
                                            <p:cond delay="0"/>
                                          </p:stCondLst>
                                        </p:cTn>
                                        <p:tgtEl>
                                          <p:spTgt spid="58"/>
                                        </p:tgtEl>
                                        <p:attrNameLst>
                                          <p:attrName>style.visibility</p:attrName>
                                        </p:attrNameLst>
                                      </p:cBhvr>
                                      <p:to>
                                        <p:strVal val="visible"/>
                                      </p:to>
                                    </p:set>
                                    <p:animEffect transition="in" filter="fade">
                                      <p:cBhvr>
                                        <p:cTn id="13" dur="500"/>
                                        <p:tgtEl>
                                          <p:spTgt spid="58"/>
                                        </p:tgtEl>
                                      </p:cBhvr>
                                    </p:animEffect>
                                  </p:childTnLst>
                                </p:cTn>
                              </p:par>
                              <p:par>
                                <p:cTn id="14" presetID="10" presetClass="entr" presetSubtype="0" fill="hold" nodeType="withEffect">
                                  <p:stCondLst>
                                    <p:cond delay="900"/>
                                  </p:stCondLst>
                                  <p:childTnLst>
                                    <p:set>
                                      <p:cBhvr>
                                        <p:cTn id="15" dur="1" fill="hold">
                                          <p:stCondLst>
                                            <p:cond delay="0"/>
                                          </p:stCondLst>
                                        </p:cTn>
                                        <p:tgtEl>
                                          <p:spTgt spid="86"/>
                                        </p:tgtEl>
                                        <p:attrNameLst>
                                          <p:attrName>style.visibility</p:attrName>
                                        </p:attrNameLst>
                                      </p:cBhvr>
                                      <p:to>
                                        <p:strVal val="visible"/>
                                      </p:to>
                                    </p:set>
                                    <p:animEffect transition="in" filter="fade">
                                      <p:cBhvr>
                                        <p:cTn id="16" dur="500"/>
                                        <p:tgtEl>
                                          <p:spTgt spid="86"/>
                                        </p:tgtEl>
                                      </p:cBhvr>
                                    </p:animEffect>
                                  </p:childTnLst>
                                </p:cTn>
                              </p:par>
                              <p:par>
                                <p:cTn id="17" presetID="10" presetClass="entr" presetSubtype="0" fill="hold" nodeType="withEffect">
                                  <p:stCondLst>
                                    <p:cond delay="1200"/>
                                  </p:stCondLst>
                                  <p:childTnLst>
                                    <p:set>
                                      <p:cBhvr>
                                        <p:cTn id="18" dur="1" fill="hold">
                                          <p:stCondLst>
                                            <p:cond delay="0"/>
                                          </p:stCondLst>
                                        </p:cTn>
                                        <p:tgtEl>
                                          <p:spTgt spid="87"/>
                                        </p:tgtEl>
                                        <p:attrNameLst>
                                          <p:attrName>style.visibility</p:attrName>
                                        </p:attrNameLst>
                                      </p:cBhvr>
                                      <p:to>
                                        <p:strVal val="visible"/>
                                      </p:to>
                                    </p:set>
                                    <p:animEffect transition="in" filter="fade">
                                      <p:cBhvr>
                                        <p:cTn id="19" dur="500"/>
                                        <p:tgtEl>
                                          <p:spTgt spid="87"/>
                                        </p:tgtEl>
                                      </p:cBhvr>
                                    </p:animEffect>
                                  </p:childTnLst>
                                </p:cTn>
                              </p:par>
                              <p:par>
                                <p:cTn id="20" presetID="10" presetClass="entr" presetSubtype="0" fill="hold" nodeType="withEffect">
                                  <p:stCondLst>
                                    <p:cond delay="1500"/>
                                  </p:stCondLst>
                                  <p:childTnLst>
                                    <p:set>
                                      <p:cBhvr>
                                        <p:cTn id="21" dur="1" fill="hold">
                                          <p:stCondLst>
                                            <p:cond delay="0"/>
                                          </p:stCondLst>
                                        </p:cTn>
                                        <p:tgtEl>
                                          <p:spTgt spid="88"/>
                                        </p:tgtEl>
                                        <p:attrNameLst>
                                          <p:attrName>style.visibility</p:attrName>
                                        </p:attrNameLst>
                                      </p:cBhvr>
                                      <p:to>
                                        <p:strVal val="visible"/>
                                      </p:to>
                                    </p:set>
                                    <p:animEffect transition="in" filter="fade">
                                      <p:cBhvr>
                                        <p:cTn id="22"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A cap on the roster</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Shelf with a cap" descr="A shelf with a limited number of engine slots, then a bookend, then dotted empty slots beyond it: the roster is capped."/>
          <p:cNvGrpSpPr/>
          <p:nvPr/>
        </p:nvGrpSpPr>
        <p:grpSpPr>
          <a:xfrm>
            <a:off x="868680" y="2286000"/>
            <a:ext cx="10570463" cy="1792224"/>
            <a:chOff x="868680" y="2286000"/>
            <a:chExt cx="10570463" cy="1792224"/>
          </a:xfrm>
        </p:grpSpPr>
        <p:sp>
          <p:nvSpPr>
            <p:cNvPr id="5" name="Rounded Rectangle 4"/>
            <p:cNvSpPr/>
            <p:nvPr/>
          </p:nvSpPr>
          <p:spPr>
            <a:xfrm>
              <a:off x="1051560" y="2468880"/>
              <a:ext cx="960120" cy="1417320"/>
            </a:xfrm>
            <a:prstGeom prst="roundRect">
              <a:avLst>
                <a:gd name="adj" fmla="val 7619"/>
              </a:avLst>
            </a:prstGeom>
            <a:solidFill>
              <a:srgbClr val="2B2F36"/>
            </a:solidFill>
            <a:ln w="19050">
              <a:solidFill>
                <a:srgbClr val="9AA0A6"/>
              </a:solidFill>
            </a:ln>
          </p:spPr>
          <p:txBody>
            <a:bodyPr rtlCol="0" anchor="ctr"/>
            <a:lstStyle/>
            <a:p>
              <a:pPr algn="ctr"/>
              <a:endParaRPr/>
            </a:p>
          </p:txBody>
        </p:sp>
        <p:sp>
          <p:nvSpPr>
            <p:cNvPr id="6" name="Rectangle 5"/>
            <p:cNvSpPr/>
            <p:nvPr/>
          </p:nvSpPr>
          <p:spPr>
            <a:xfrm>
              <a:off x="1200150" y="3232404"/>
              <a:ext cx="640080" cy="45720"/>
            </a:xfrm>
            <a:prstGeom prst="rect">
              <a:avLst/>
            </a:prstGeom>
            <a:solidFill>
              <a:srgbClr val="1B1D21"/>
            </a:solidFill>
            <a:ln w="12700">
              <a:solidFill>
                <a:srgbClr val="9AA0A6"/>
              </a:solidFill>
            </a:ln>
          </p:spPr>
          <p:txBody>
            <a:bodyPr rtlCol="0" anchor="ctr"/>
            <a:lstStyle/>
            <a:p>
              <a:pPr algn="ctr"/>
              <a:endParaRPr/>
            </a:p>
          </p:txBody>
        </p:sp>
        <p:sp>
          <p:nvSpPr>
            <p:cNvPr id="7" name="Oval 6"/>
            <p:cNvSpPr/>
            <p:nvPr/>
          </p:nvSpPr>
          <p:spPr>
            <a:xfrm>
              <a:off x="1259586" y="326898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8" name="Oval 7"/>
            <p:cNvSpPr/>
            <p:nvPr/>
          </p:nvSpPr>
          <p:spPr>
            <a:xfrm>
              <a:off x="1314450" y="3323844"/>
              <a:ext cx="27432" cy="27432"/>
            </a:xfrm>
            <a:prstGeom prst="ellipse">
              <a:avLst/>
            </a:prstGeom>
            <a:solidFill>
              <a:srgbClr val="9AA0A6"/>
            </a:solidFill>
            <a:ln>
              <a:noFill/>
            </a:ln>
          </p:spPr>
          <p:txBody>
            <a:bodyPr rtlCol="0" anchor="ctr"/>
            <a:lstStyle/>
            <a:p>
              <a:pPr algn="ctr"/>
              <a:endParaRPr/>
            </a:p>
          </p:txBody>
        </p:sp>
        <p:sp>
          <p:nvSpPr>
            <p:cNvPr id="9" name="Oval 8"/>
            <p:cNvSpPr/>
            <p:nvPr/>
          </p:nvSpPr>
          <p:spPr>
            <a:xfrm>
              <a:off x="1716786" y="326898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0" name="Oval 9"/>
            <p:cNvSpPr/>
            <p:nvPr/>
          </p:nvSpPr>
          <p:spPr>
            <a:xfrm>
              <a:off x="1771650" y="3323844"/>
              <a:ext cx="27432" cy="27432"/>
            </a:xfrm>
            <a:prstGeom prst="ellipse">
              <a:avLst/>
            </a:prstGeom>
            <a:solidFill>
              <a:srgbClr val="9AA0A6"/>
            </a:solidFill>
            <a:ln>
              <a:noFill/>
            </a:ln>
          </p:spPr>
          <p:txBody>
            <a:bodyPr rtlCol="0" anchor="ctr"/>
            <a:lstStyle/>
            <a:p>
              <a:pPr algn="ctr"/>
              <a:endParaRPr/>
            </a:p>
          </p:txBody>
        </p:sp>
        <p:cxnSp>
          <p:nvCxnSpPr>
            <p:cNvPr id="11" name="Connector 10"/>
            <p:cNvCxnSpPr/>
            <p:nvPr/>
          </p:nvCxnSpPr>
          <p:spPr>
            <a:xfrm>
              <a:off x="1328166" y="3337560"/>
              <a:ext cx="457200" cy="0"/>
            </a:xfrm>
            <a:prstGeom prst="line">
              <a:avLst/>
            </a:prstGeom>
            <a:ln w="19050">
              <a:solidFill>
                <a:srgbClr val="9AA0A6"/>
              </a:solidFill>
            </a:ln>
          </p:spPr>
        </p:cxnSp>
        <p:sp>
          <p:nvSpPr>
            <p:cNvPr id="12" name="Rounded Rectangle 11"/>
            <p:cNvSpPr/>
            <p:nvPr/>
          </p:nvSpPr>
          <p:spPr>
            <a:xfrm>
              <a:off x="1474470" y="3058668"/>
              <a:ext cx="365760" cy="173736"/>
            </a:xfrm>
            <a:prstGeom prst="roundRect">
              <a:avLst>
                <a:gd name="adj" fmla="val 31578"/>
              </a:avLst>
            </a:prstGeom>
            <a:solidFill>
              <a:srgbClr val="F28C28"/>
            </a:solidFill>
            <a:ln>
              <a:noFill/>
            </a:ln>
          </p:spPr>
          <p:txBody>
            <a:bodyPr rtlCol="0" anchor="ctr"/>
            <a:lstStyle/>
            <a:p>
              <a:pPr algn="ctr"/>
              <a:endParaRPr/>
            </a:p>
          </p:txBody>
        </p:sp>
        <p:sp>
          <p:nvSpPr>
            <p:cNvPr id="13" name="Rectangle 12"/>
            <p:cNvSpPr/>
            <p:nvPr/>
          </p:nvSpPr>
          <p:spPr>
            <a:xfrm>
              <a:off x="1757934" y="3058668"/>
              <a:ext cx="82296" cy="173736"/>
            </a:xfrm>
            <a:prstGeom prst="rect">
              <a:avLst/>
            </a:prstGeom>
            <a:solidFill>
              <a:srgbClr val="1B1D21"/>
            </a:solidFill>
            <a:ln w="12700">
              <a:solidFill>
                <a:srgbClr val="9AA0A6"/>
              </a:solidFill>
            </a:ln>
          </p:spPr>
          <p:txBody>
            <a:bodyPr rtlCol="0" anchor="ctr"/>
            <a:lstStyle/>
            <a:p>
              <a:pPr algn="ctr"/>
              <a:endParaRPr/>
            </a:p>
          </p:txBody>
        </p:sp>
        <p:sp>
          <p:nvSpPr>
            <p:cNvPr id="14" name="Rectangle 13"/>
            <p:cNvSpPr/>
            <p:nvPr/>
          </p:nvSpPr>
          <p:spPr>
            <a:xfrm>
              <a:off x="1776222" y="2976372"/>
              <a:ext cx="45720" cy="91440"/>
            </a:xfrm>
            <a:prstGeom prst="rect">
              <a:avLst/>
            </a:prstGeom>
            <a:solidFill>
              <a:srgbClr val="1B1D21"/>
            </a:solidFill>
            <a:ln w="12700">
              <a:solidFill>
                <a:srgbClr val="9AA0A6"/>
              </a:solidFill>
            </a:ln>
          </p:spPr>
          <p:txBody>
            <a:bodyPr rtlCol="0" anchor="ctr"/>
            <a:lstStyle/>
            <a:p>
              <a:pPr algn="ctr"/>
              <a:endParaRPr/>
            </a:p>
          </p:txBody>
        </p:sp>
        <p:sp>
          <p:nvSpPr>
            <p:cNvPr id="15" name="Rectangle 14"/>
            <p:cNvSpPr/>
            <p:nvPr/>
          </p:nvSpPr>
          <p:spPr>
            <a:xfrm>
              <a:off x="1757934" y="2958084"/>
              <a:ext cx="82296" cy="27432"/>
            </a:xfrm>
            <a:prstGeom prst="rect">
              <a:avLst/>
            </a:prstGeom>
            <a:solidFill>
              <a:srgbClr val="1B1D21"/>
            </a:solidFill>
            <a:ln w="12700">
              <a:solidFill>
                <a:srgbClr val="9AA0A6"/>
              </a:solidFill>
            </a:ln>
          </p:spPr>
          <p:txBody>
            <a:bodyPr rtlCol="0" anchor="ctr"/>
            <a:lstStyle/>
            <a:p>
              <a:pPr algn="ctr"/>
              <a:endParaRPr/>
            </a:p>
          </p:txBody>
        </p:sp>
        <p:sp>
          <p:nvSpPr>
            <p:cNvPr id="16" name="Rounded Rectangle 15"/>
            <p:cNvSpPr/>
            <p:nvPr/>
          </p:nvSpPr>
          <p:spPr>
            <a:xfrm>
              <a:off x="1611630" y="3012948"/>
              <a:ext cx="91440" cy="54864"/>
            </a:xfrm>
            <a:prstGeom prst="roundRect">
              <a:avLst>
                <a:gd name="adj" fmla="val 50000"/>
              </a:avLst>
            </a:prstGeom>
            <a:solidFill>
              <a:srgbClr val="F28C28"/>
            </a:solidFill>
            <a:ln>
              <a:noFill/>
            </a:ln>
          </p:spPr>
          <p:txBody>
            <a:bodyPr rtlCol="0" anchor="ctr"/>
            <a:lstStyle/>
            <a:p>
              <a:pPr algn="ctr"/>
              <a:endParaRPr/>
            </a:p>
          </p:txBody>
        </p:sp>
        <p:sp>
          <p:nvSpPr>
            <p:cNvPr id="17" name="Rectangle 16"/>
            <p:cNvSpPr/>
            <p:nvPr/>
          </p:nvSpPr>
          <p:spPr>
            <a:xfrm>
              <a:off x="1200150" y="2994660"/>
              <a:ext cx="274320" cy="246888"/>
            </a:xfrm>
            <a:prstGeom prst="rect">
              <a:avLst/>
            </a:prstGeom>
            <a:solidFill>
              <a:srgbClr val="F28C28"/>
            </a:solidFill>
            <a:ln>
              <a:noFill/>
            </a:ln>
          </p:spPr>
          <p:txBody>
            <a:bodyPr rtlCol="0" anchor="ctr"/>
            <a:lstStyle/>
            <a:p>
              <a:pPr algn="ctr"/>
              <a:endParaRPr/>
            </a:p>
          </p:txBody>
        </p:sp>
        <p:sp>
          <p:nvSpPr>
            <p:cNvPr id="18" name="Rectangle 17"/>
            <p:cNvSpPr/>
            <p:nvPr/>
          </p:nvSpPr>
          <p:spPr>
            <a:xfrm>
              <a:off x="1186434" y="2971800"/>
              <a:ext cx="301751" cy="32004"/>
            </a:xfrm>
            <a:prstGeom prst="rect">
              <a:avLst/>
            </a:prstGeom>
            <a:solidFill>
              <a:srgbClr val="1B1D21"/>
            </a:solidFill>
            <a:ln w="12700">
              <a:solidFill>
                <a:srgbClr val="9AA0A6"/>
              </a:solidFill>
            </a:ln>
          </p:spPr>
          <p:txBody>
            <a:bodyPr rtlCol="0" anchor="ctr"/>
            <a:lstStyle/>
            <a:p>
              <a:pPr algn="ctr"/>
              <a:endParaRPr/>
            </a:p>
          </p:txBody>
        </p:sp>
        <p:sp>
          <p:nvSpPr>
            <p:cNvPr id="19" name="Rectangle 18"/>
            <p:cNvSpPr/>
            <p:nvPr/>
          </p:nvSpPr>
          <p:spPr>
            <a:xfrm>
              <a:off x="1264158" y="3049524"/>
              <a:ext cx="118872" cy="91440"/>
            </a:xfrm>
            <a:prstGeom prst="rect">
              <a:avLst/>
            </a:prstGeom>
            <a:solidFill>
              <a:srgbClr val="1B1D21"/>
            </a:solidFill>
            <a:ln>
              <a:noFill/>
            </a:ln>
          </p:spPr>
          <p:txBody>
            <a:bodyPr rtlCol="0" anchor="ctr"/>
            <a:lstStyle/>
            <a:p>
              <a:pPr algn="ctr"/>
              <a:endParaRPr/>
            </a:p>
          </p:txBody>
        </p:sp>
        <p:sp>
          <p:nvSpPr>
            <p:cNvPr id="20" name="Rounded Rectangle 19"/>
            <p:cNvSpPr/>
            <p:nvPr/>
          </p:nvSpPr>
          <p:spPr>
            <a:xfrm>
              <a:off x="2148839" y="2468880"/>
              <a:ext cx="960120" cy="1417320"/>
            </a:xfrm>
            <a:prstGeom prst="roundRect">
              <a:avLst>
                <a:gd name="adj" fmla="val 7619"/>
              </a:avLst>
            </a:prstGeom>
            <a:solidFill>
              <a:srgbClr val="2B2F36"/>
            </a:solidFill>
            <a:ln w="19050">
              <a:solidFill>
                <a:srgbClr val="9AA0A6"/>
              </a:solidFill>
            </a:ln>
          </p:spPr>
          <p:txBody>
            <a:bodyPr rtlCol="0" anchor="ctr"/>
            <a:lstStyle/>
            <a:p>
              <a:pPr algn="ctr"/>
              <a:endParaRPr/>
            </a:p>
          </p:txBody>
        </p:sp>
        <p:sp>
          <p:nvSpPr>
            <p:cNvPr id="21" name="Rectangle 20"/>
            <p:cNvSpPr/>
            <p:nvPr/>
          </p:nvSpPr>
          <p:spPr>
            <a:xfrm>
              <a:off x="2263139" y="3232404"/>
              <a:ext cx="708659" cy="45720"/>
            </a:xfrm>
            <a:prstGeom prst="rect">
              <a:avLst/>
            </a:prstGeom>
            <a:solidFill>
              <a:srgbClr val="1B1D21"/>
            </a:solidFill>
            <a:ln w="12700">
              <a:solidFill>
                <a:srgbClr val="9AA0A6"/>
              </a:solidFill>
            </a:ln>
          </p:spPr>
          <p:txBody>
            <a:bodyPr rtlCol="0" anchor="ctr"/>
            <a:lstStyle/>
            <a:p>
              <a:pPr algn="ctr"/>
              <a:endParaRPr/>
            </a:p>
          </p:txBody>
        </p:sp>
        <p:sp>
          <p:nvSpPr>
            <p:cNvPr id="22" name="Oval 21"/>
            <p:cNvSpPr/>
            <p:nvPr/>
          </p:nvSpPr>
          <p:spPr>
            <a:xfrm>
              <a:off x="2322575" y="326898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23" name="Oval 22"/>
            <p:cNvSpPr/>
            <p:nvPr/>
          </p:nvSpPr>
          <p:spPr>
            <a:xfrm>
              <a:off x="2377439" y="3323844"/>
              <a:ext cx="27432" cy="27432"/>
            </a:xfrm>
            <a:prstGeom prst="ellipse">
              <a:avLst/>
            </a:prstGeom>
            <a:solidFill>
              <a:srgbClr val="9AA0A6"/>
            </a:solidFill>
            <a:ln>
              <a:noFill/>
            </a:ln>
          </p:spPr>
          <p:txBody>
            <a:bodyPr rtlCol="0" anchor="ctr"/>
            <a:lstStyle/>
            <a:p>
              <a:pPr algn="ctr"/>
              <a:endParaRPr/>
            </a:p>
          </p:txBody>
        </p:sp>
        <p:sp>
          <p:nvSpPr>
            <p:cNvPr id="24" name="Oval 23"/>
            <p:cNvSpPr/>
            <p:nvPr/>
          </p:nvSpPr>
          <p:spPr>
            <a:xfrm>
              <a:off x="2585465" y="326898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25" name="Oval 24"/>
            <p:cNvSpPr/>
            <p:nvPr/>
          </p:nvSpPr>
          <p:spPr>
            <a:xfrm>
              <a:off x="2640329" y="3323844"/>
              <a:ext cx="27432" cy="27432"/>
            </a:xfrm>
            <a:prstGeom prst="ellipse">
              <a:avLst/>
            </a:prstGeom>
            <a:solidFill>
              <a:srgbClr val="9AA0A6"/>
            </a:solidFill>
            <a:ln>
              <a:noFill/>
            </a:ln>
          </p:spPr>
          <p:txBody>
            <a:bodyPr rtlCol="0" anchor="ctr"/>
            <a:lstStyle/>
            <a:p>
              <a:pPr algn="ctr"/>
              <a:endParaRPr/>
            </a:p>
          </p:txBody>
        </p:sp>
        <p:sp>
          <p:nvSpPr>
            <p:cNvPr id="26" name="Oval 25"/>
            <p:cNvSpPr/>
            <p:nvPr/>
          </p:nvSpPr>
          <p:spPr>
            <a:xfrm>
              <a:off x="2848355" y="326898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27" name="Oval 26"/>
            <p:cNvSpPr/>
            <p:nvPr/>
          </p:nvSpPr>
          <p:spPr>
            <a:xfrm>
              <a:off x="2903219" y="3323844"/>
              <a:ext cx="27432" cy="27432"/>
            </a:xfrm>
            <a:prstGeom prst="ellipse">
              <a:avLst/>
            </a:prstGeom>
            <a:solidFill>
              <a:srgbClr val="9AA0A6"/>
            </a:solidFill>
            <a:ln>
              <a:noFill/>
            </a:ln>
          </p:spPr>
          <p:txBody>
            <a:bodyPr rtlCol="0" anchor="ctr"/>
            <a:lstStyle/>
            <a:p>
              <a:pPr algn="ctr"/>
              <a:endParaRPr/>
            </a:p>
          </p:txBody>
        </p:sp>
        <p:cxnSp>
          <p:nvCxnSpPr>
            <p:cNvPr id="28" name="Connector 27"/>
            <p:cNvCxnSpPr/>
            <p:nvPr/>
          </p:nvCxnSpPr>
          <p:spPr>
            <a:xfrm>
              <a:off x="2391156" y="3337560"/>
              <a:ext cx="525779" cy="0"/>
            </a:xfrm>
            <a:prstGeom prst="line">
              <a:avLst/>
            </a:prstGeom>
            <a:ln w="19050">
              <a:solidFill>
                <a:srgbClr val="9AA0A6"/>
              </a:solidFill>
            </a:ln>
          </p:spPr>
        </p:cxnSp>
        <p:sp>
          <p:nvSpPr>
            <p:cNvPr id="29" name="Rounded Rectangle 28"/>
            <p:cNvSpPr/>
            <p:nvPr/>
          </p:nvSpPr>
          <p:spPr>
            <a:xfrm>
              <a:off x="2537459" y="3058668"/>
              <a:ext cx="434340" cy="173736"/>
            </a:xfrm>
            <a:prstGeom prst="roundRect">
              <a:avLst>
                <a:gd name="adj" fmla="val 31578"/>
              </a:avLst>
            </a:prstGeom>
            <a:solidFill>
              <a:srgbClr val="F28C28"/>
            </a:solidFill>
            <a:ln>
              <a:noFill/>
            </a:ln>
          </p:spPr>
          <p:txBody>
            <a:bodyPr rtlCol="0" anchor="ctr"/>
            <a:lstStyle/>
            <a:p>
              <a:pPr algn="ctr"/>
              <a:endParaRPr/>
            </a:p>
          </p:txBody>
        </p:sp>
        <p:sp>
          <p:nvSpPr>
            <p:cNvPr id="30" name="Rounded Rectangle 29"/>
            <p:cNvSpPr/>
            <p:nvPr/>
          </p:nvSpPr>
          <p:spPr>
            <a:xfrm>
              <a:off x="2555747" y="3122676"/>
              <a:ext cx="306323" cy="118872"/>
            </a:xfrm>
            <a:prstGeom prst="roundRect">
              <a:avLst>
                <a:gd name="adj" fmla="val 30769"/>
              </a:avLst>
            </a:prstGeom>
            <a:solidFill>
              <a:srgbClr val="F28C28"/>
            </a:solidFill>
            <a:ln w="15875">
              <a:solidFill>
                <a:srgbClr val="1B1D21"/>
              </a:solidFill>
            </a:ln>
          </p:spPr>
          <p:txBody>
            <a:bodyPr rtlCol="0" anchor="ctr"/>
            <a:lstStyle/>
            <a:p>
              <a:pPr algn="ctr"/>
              <a:endParaRPr/>
            </a:p>
          </p:txBody>
        </p:sp>
        <p:sp>
          <p:nvSpPr>
            <p:cNvPr id="31" name="Rectangle 30"/>
            <p:cNvSpPr/>
            <p:nvPr/>
          </p:nvSpPr>
          <p:spPr>
            <a:xfrm>
              <a:off x="2889503" y="3058668"/>
              <a:ext cx="82296" cy="173736"/>
            </a:xfrm>
            <a:prstGeom prst="rect">
              <a:avLst/>
            </a:prstGeom>
            <a:solidFill>
              <a:srgbClr val="1B1D21"/>
            </a:solidFill>
            <a:ln w="12700">
              <a:solidFill>
                <a:srgbClr val="9AA0A6"/>
              </a:solidFill>
            </a:ln>
          </p:spPr>
          <p:txBody>
            <a:bodyPr rtlCol="0" anchor="ctr"/>
            <a:lstStyle/>
            <a:p>
              <a:pPr algn="ctr"/>
              <a:endParaRPr/>
            </a:p>
          </p:txBody>
        </p:sp>
        <p:sp>
          <p:nvSpPr>
            <p:cNvPr id="32" name="Rectangle 31"/>
            <p:cNvSpPr/>
            <p:nvPr/>
          </p:nvSpPr>
          <p:spPr>
            <a:xfrm>
              <a:off x="2907791" y="2976372"/>
              <a:ext cx="45720" cy="91440"/>
            </a:xfrm>
            <a:prstGeom prst="rect">
              <a:avLst/>
            </a:prstGeom>
            <a:solidFill>
              <a:srgbClr val="1B1D21"/>
            </a:solidFill>
            <a:ln w="12700">
              <a:solidFill>
                <a:srgbClr val="9AA0A6"/>
              </a:solidFill>
            </a:ln>
          </p:spPr>
          <p:txBody>
            <a:bodyPr rtlCol="0" anchor="ctr"/>
            <a:lstStyle/>
            <a:p>
              <a:pPr algn="ctr"/>
              <a:endParaRPr/>
            </a:p>
          </p:txBody>
        </p:sp>
        <p:sp>
          <p:nvSpPr>
            <p:cNvPr id="33" name="Rectangle 32"/>
            <p:cNvSpPr/>
            <p:nvPr/>
          </p:nvSpPr>
          <p:spPr>
            <a:xfrm>
              <a:off x="2889503" y="2958084"/>
              <a:ext cx="82296" cy="27432"/>
            </a:xfrm>
            <a:prstGeom prst="rect">
              <a:avLst/>
            </a:prstGeom>
            <a:solidFill>
              <a:srgbClr val="1B1D21"/>
            </a:solidFill>
            <a:ln w="12700">
              <a:solidFill>
                <a:srgbClr val="9AA0A6"/>
              </a:solidFill>
            </a:ln>
          </p:spPr>
          <p:txBody>
            <a:bodyPr rtlCol="0" anchor="ctr"/>
            <a:lstStyle/>
            <a:p>
              <a:pPr algn="ctr"/>
              <a:endParaRPr/>
            </a:p>
          </p:txBody>
        </p:sp>
        <p:sp>
          <p:nvSpPr>
            <p:cNvPr id="34" name="Rounded Rectangle 33"/>
            <p:cNvSpPr/>
            <p:nvPr/>
          </p:nvSpPr>
          <p:spPr>
            <a:xfrm>
              <a:off x="2674619" y="3012948"/>
              <a:ext cx="91440" cy="54864"/>
            </a:xfrm>
            <a:prstGeom prst="roundRect">
              <a:avLst>
                <a:gd name="adj" fmla="val 50000"/>
              </a:avLst>
            </a:prstGeom>
            <a:solidFill>
              <a:srgbClr val="F28C28"/>
            </a:solidFill>
            <a:ln>
              <a:noFill/>
            </a:ln>
          </p:spPr>
          <p:txBody>
            <a:bodyPr rtlCol="0" anchor="ctr"/>
            <a:lstStyle/>
            <a:p>
              <a:pPr algn="ctr"/>
              <a:endParaRPr/>
            </a:p>
          </p:txBody>
        </p:sp>
        <p:sp>
          <p:nvSpPr>
            <p:cNvPr id="35" name="Rectangle 34"/>
            <p:cNvSpPr/>
            <p:nvPr/>
          </p:nvSpPr>
          <p:spPr>
            <a:xfrm>
              <a:off x="2263139" y="2994660"/>
              <a:ext cx="274320" cy="246888"/>
            </a:xfrm>
            <a:prstGeom prst="rect">
              <a:avLst/>
            </a:prstGeom>
            <a:solidFill>
              <a:srgbClr val="F28C28"/>
            </a:solidFill>
            <a:ln>
              <a:noFill/>
            </a:ln>
          </p:spPr>
          <p:txBody>
            <a:bodyPr rtlCol="0" anchor="ctr"/>
            <a:lstStyle/>
            <a:p>
              <a:pPr algn="ctr"/>
              <a:endParaRPr/>
            </a:p>
          </p:txBody>
        </p:sp>
        <p:sp>
          <p:nvSpPr>
            <p:cNvPr id="36" name="Rectangle 35"/>
            <p:cNvSpPr/>
            <p:nvPr/>
          </p:nvSpPr>
          <p:spPr>
            <a:xfrm>
              <a:off x="2249423" y="2971800"/>
              <a:ext cx="301751" cy="32004"/>
            </a:xfrm>
            <a:prstGeom prst="rect">
              <a:avLst/>
            </a:prstGeom>
            <a:solidFill>
              <a:srgbClr val="1B1D21"/>
            </a:solidFill>
            <a:ln w="12700">
              <a:solidFill>
                <a:srgbClr val="9AA0A6"/>
              </a:solidFill>
            </a:ln>
          </p:spPr>
          <p:txBody>
            <a:bodyPr rtlCol="0" anchor="ctr"/>
            <a:lstStyle/>
            <a:p>
              <a:pPr algn="ctr"/>
              <a:endParaRPr/>
            </a:p>
          </p:txBody>
        </p:sp>
        <p:sp>
          <p:nvSpPr>
            <p:cNvPr id="37" name="Rectangle 36"/>
            <p:cNvSpPr/>
            <p:nvPr/>
          </p:nvSpPr>
          <p:spPr>
            <a:xfrm>
              <a:off x="2327147" y="3049524"/>
              <a:ext cx="118872" cy="91440"/>
            </a:xfrm>
            <a:prstGeom prst="rect">
              <a:avLst/>
            </a:prstGeom>
            <a:solidFill>
              <a:srgbClr val="1B1D21"/>
            </a:solidFill>
            <a:ln>
              <a:noFill/>
            </a:ln>
          </p:spPr>
          <p:txBody>
            <a:bodyPr rtlCol="0" anchor="ctr"/>
            <a:lstStyle/>
            <a:p>
              <a:pPr algn="ctr"/>
              <a:endParaRPr/>
            </a:p>
          </p:txBody>
        </p:sp>
        <p:sp>
          <p:nvSpPr>
            <p:cNvPr id="38" name="Rounded Rectangle 37"/>
            <p:cNvSpPr/>
            <p:nvPr/>
          </p:nvSpPr>
          <p:spPr>
            <a:xfrm>
              <a:off x="3246120" y="2468880"/>
              <a:ext cx="960120" cy="1417320"/>
            </a:xfrm>
            <a:prstGeom prst="roundRect">
              <a:avLst>
                <a:gd name="adj" fmla="val 7619"/>
              </a:avLst>
            </a:prstGeom>
            <a:solidFill>
              <a:srgbClr val="2B2F36"/>
            </a:solidFill>
            <a:ln w="19050">
              <a:solidFill>
                <a:srgbClr val="9AA0A6"/>
              </a:solidFill>
            </a:ln>
          </p:spPr>
          <p:txBody>
            <a:bodyPr rtlCol="0" anchor="ctr"/>
            <a:lstStyle/>
            <a:p>
              <a:pPr algn="ctr"/>
              <a:endParaRPr/>
            </a:p>
          </p:txBody>
        </p:sp>
        <p:sp>
          <p:nvSpPr>
            <p:cNvPr id="39" name="Rounded Rectangle 38"/>
            <p:cNvSpPr/>
            <p:nvPr/>
          </p:nvSpPr>
          <p:spPr>
            <a:xfrm>
              <a:off x="3319272" y="3128953"/>
              <a:ext cx="258113" cy="103245"/>
            </a:xfrm>
            <a:prstGeom prst="roundRect">
              <a:avLst>
                <a:gd name="adj" fmla="val 26569"/>
              </a:avLst>
            </a:prstGeom>
            <a:solidFill>
              <a:srgbClr val="2B2F36"/>
            </a:solidFill>
            <a:ln w="19050">
              <a:solidFill>
                <a:srgbClr val="F28C28"/>
              </a:solidFill>
            </a:ln>
          </p:spPr>
          <p:txBody>
            <a:bodyPr rtlCol="0" anchor="ctr"/>
            <a:lstStyle/>
            <a:p>
              <a:pPr algn="ctr"/>
              <a:endParaRPr/>
            </a:p>
          </p:txBody>
        </p:sp>
        <p:sp>
          <p:nvSpPr>
            <p:cNvPr id="40" name="Freeform 39"/>
            <p:cNvSpPr/>
            <p:nvPr/>
          </p:nvSpPr>
          <p:spPr>
            <a:xfrm>
              <a:off x="3343565" y="3086441"/>
              <a:ext cx="209527" cy="42512"/>
            </a:xfrm>
            <a:custGeom>
              <a:avLst/>
              <a:gdLst/>
              <a:ahLst/>
              <a:cxnLst/>
              <a:rect l="l" t="t" r="r" b="b"/>
              <a:pathLst>
                <a:path w="209527" h="42512">
                  <a:moveTo>
                    <a:pt x="0" y="42512"/>
                  </a:moveTo>
                  <a:lnTo>
                    <a:pt x="36439" y="6073"/>
                  </a:lnTo>
                  <a:lnTo>
                    <a:pt x="173087" y="0"/>
                  </a:lnTo>
                  <a:lnTo>
                    <a:pt x="209527" y="42512"/>
                  </a:lnTo>
                  <a:close/>
                </a:path>
              </a:pathLst>
            </a:custGeom>
            <a:solidFill>
              <a:srgbClr val="1B1D21"/>
            </a:solidFill>
            <a:ln w="12700">
              <a:solidFill>
                <a:srgbClr val="9AA0A6"/>
              </a:solidFill>
            </a:ln>
          </p:spPr>
          <p:txBody>
            <a:bodyPr rtlCol="0" anchor="ctr"/>
            <a:lstStyle/>
            <a:p>
              <a:pPr algn="ctr"/>
              <a:endParaRPr/>
            </a:p>
          </p:txBody>
        </p:sp>
        <p:sp>
          <p:nvSpPr>
            <p:cNvPr id="41" name="Oval 40"/>
            <p:cNvSpPr/>
            <p:nvPr/>
          </p:nvSpPr>
          <p:spPr>
            <a:xfrm>
              <a:off x="3367858" y="3256492"/>
              <a:ext cx="72879" cy="72879"/>
            </a:xfrm>
            <a:prstGeom prst="ellipse">
              <a:avLst/>
            </a:prstGeom>
            <a:solidFill>
              <a:srgbClr val="343A43"/>
            </a:solidFill>
            <a:ln w="12700">
              <a:solidFill>
                <a:srgbClr val="9AA0A6"/>
              </a:solidFill>
            </a:ln>
          </p:spPr>
          <p:txBody>
            <a:bodyPr rtlCol="0" anchor="ctr"/>
            <a:lstStyle/>
            <a:p>
              <a:pPr algn="ctr"/>
              <a:endParaRPr/>
            </a:p>
          </p:txBody>
        </p:sp>
        <p:sp>
          <p:nvSpPr>
            <p:cNvPr id="42" name="Oval 41"/>
            <p:cNvSpPr/>
            <p:nvPr/>
          </p:nvSpPr>
          <p:spPr>
            <a:xfrm>
              <a:off x="3455920" y="3256492"/>
              <a:ext cx="72879" cy="72879"/>
            </a:xfrm>
            <a:prstGeom prst="ellipse">
              <a:avLst/>
            </a:prstGeom>
            <a:solidFill>
              <a:srgbClr val="343A43"/>
            </a:solidFill>
            <a:ln w="12700">
              <a:solidFill>
                <a:srgbClr val="9AA0A6"/>
              </a:solidFill>
            </a:ln>
          </p:spPr>
          <p:txBody>
            <a:bodyPr rtlCol="0" anchor="ctr"/>
            <a:lstStyle/>
            <a:p>
              <a:pPr algn="ctr"/>
              <a:endParaRPr/>
            </a:p>
          </p:txBody>
        </p:sp>
        <p:cxnSp>
          <p:nvCxnSpPr>
            <p:cNvPr id="43" name="Connector 42"/>
            <p:cNvCxnSpPr/>
            <p:nvPr/>
          </p:nvCxnSpPr>
          <p:spPr>
            <a:xfrm>
              <a:off x="3577385" y="3213979"/>
              <a:ext cx="24293" cy="0"/>
            </a:xfrm>
            <a:prstGeom prst="line">
              <a:avLst/>
            </a:prstGeom>
            <a:ln w="25400">
              <a:solidFill>
                <a:srgbClr val="9AA0A6"/>
              </a:solidFill>
            </a:ln>
          </p:spPr>
        </p:cxnSp>
        <p:sp>
          <p:nvSpPr>
            <p:cNvPr id="44" name="Rectangle 43"/>
            <p:cNvSpPr/>
            <p:nvPr/>
          </p:nvSpPr>
          <p:spPr>
            <a:xfrm>
              <a:off x="3601678" y="3213979"/>
              <a:ext cx="516226" cy="30366"/>
            </a:xfrm>
            <a:prstGeom prst="rect">
              <a:avLst/>
            </a:prstGeom>
            <a:solidFill>
              <a:srgbClr val="1B1D21"/>
            </a:solidFill>
            <a:ln w="12700">
              <a:solidFill>
                <a:srgbClr val="9AA0A6"/>
              </a:solidFill>
            </a:ln>
          </p:spPr>
          <p:txBody>
            <a:bodyPr rtlCol="0" anchor="ctr"/>
            <a:lstStyle/>
            <a:p>
              <a:pPr algn="ctr"/>
              <a:endParaRPr/>
            </a:p>
          </p:txBody>
        </p:sp>
        <p:sp>
          <p:nvSpPr>
            <p:cNvPr id="45" name="Oval 44"/>
            <p:cNvSpPr/>
            <p:nvPr/>
          </p:nvSpPr>
          <p:spPr>
            <a:xfrm>
              <a:off x="3641154" y="3238272"/>
              <a:ext cx="91098" cy="91098"/>
            </a:xfrm>
            <a:prstGeom prst="ellipse">
              <a:avLst/>
            </a:prstGeom>
            <a:solidFill>
              <a:srgbClr val="343A43"/>
            </a:solidFill>
            <a:ln w="15875">
              <a:solidFill>
                <a:srgbClr val="9AA0A6"/>
              </a:solidFill>
            </a:ln>
          </p:spPr>
          <p:txBody>
            <a:bodyPr rtlCol="0" anchor="ctr"/>
            <a:lstStyle/>
            <a:p>
              <a:pPr algn="ctr"/>
              <a:endParaRPr/>
            </a:p>
          </p:txBody>
        </p:sp>
        <p:sp>
          <p:nvSpPr>
            <p:cNvPr id="46" name="Oval 45"/>
            <p:cNvSpPr/>
            <p:nvPr/>
          </p:nvSpPr>
          <p:spPr>
            <a:xfrm>
              <a:off x="3677593" y="3274712"/>
              <a:ext cx="18219" cy="18219"/>
            </a:xfrm>
            <a:prstGeom prst="ellipse">
              <a:avLst/>
            </a:prstGeom>
            <a:solidFill>
              <a:srgbClr val="9AA0A6"/>
            </a:solidFill>
            <a:ln>
              <a:noFill/>
            </a:ln>
          </p:spPr>
          <p:txBody>
            <a:bodyPr rtlCol="0" anchor="ctr"/>
            <a:lstStyle/>
            <a:p>
              <a:pPr algn="ctr"/>
              <a:endParaRPr/>
            </a:p>
          </p:txBody>
        </p:sp>
        <p:sp>
          <p:nvSpPr>
            <p:cNvPr id="47" name="Oval 46"/>
            <p:cNvSpPr/>
            <p:nvPr/>
          </p:nvSpPr>
          <p:spPr>
            <a:xfrm>
              <a:off x="3772741" y="3238272"/>
              <a:ext cx="91098" cy="91098"/>
            </a:xfrm>
            <a:prstGeom prst="ellipse">
              <a:avLst/>
            </a:prstGeom>
            <a:solidFill>
              <a:srgbClr val="343A43"/>
            </a:solidFill>
            <a:ln w="15875">
              <a:solidFill>
                <a:srgbClr val="9AA0A6"/>
              </a:solidFill>
            </a:ln>
          </p:spPr>
          <p:txBody>
            <a:bodyPr rtlCol="0" anchor="ctr"/>
            <a:lstStyle/>
            <a:p>
              <a:pPr algn="ctr"/>
              <a:endParaRPr/>
            </a:p>
          </p:txBody>
        </p:sp>
        <p:sp>
          <p:nvSpPr>
            <p:cNvPr id="48" name="Oval 47"/>
            <p:cNvSpPr/>
            <p:nvPr/>
          </p:nvSpPr>
          <p:spPr>
            <a:xfrm>
              <a:off x="3809181" y="3274712"/>
              <a:ext cx="18219" cy="18219"/>
            </a:xfrm>
            <a:prstGeom prst="ellipse">
              <a:avLst/>
            </a:prstGeom>
            <a:solidFill>
              <a:srgbClr val="9AA0A6"/>
            </a:solidFill>
            <a:ln>
              <a:noFill/>
            </a:ln>
          </p:spPr>
          <p:txBody>
            <a:bodyPr rtlCol="0" anchor="ctr"/>
            <a:lstStyle/>
            <a:p>
              <a:pPr algn="ctr"/>
              <a:endParaRPr/>
            </a:p>
          </p:txBody>
        </p:sp>
        <p:sp>
          <p:nvSpPr>
            <p:cNvPr id="49" name="Oval 48"/>
            <p:cNvSpPr/>
            <p:nvPr/>
          </p:nvSpPr>
          <p:spPr>
            <a:xfrm>
              <a:off x="3904328" y="3238272"/>
              <a:ext cx="91098" cy="91098"/>
            </a:xfrm>
            <a:prstGeom prst="ellipse">
              <a:avLst/>
            </a:prstGeom>
            <a:solidFill>
              <a:srgbClr val="343A43"/>
            </a:solidFill>
            <a:ln w="15875">
              <a:solidFill>
                <a:srgbClr val="9AA0A6"/>
              </a:solidFill>
            </a:ln>
          </p:spPr>
          <p:txBody>
            <a:bodyPr rtlCol="0" anchor="ctr"/>
            <a:lstStyle/>
            <a:p>
              <a:pPr algn="ctr"/>
              <a:endParaRPr/>
            </a:p>
          </p:txBody>
        </p:sp>
        <p:sp>
          <p:nvSpPr>
            <p:cNvPr id="50" name="Oval 49"/>
            <p:cNvSpPr/>
            <p:nvPr/>
          </p:nvSpPr>
          <p:spPr>
            <a:xfrm>
              <a:off x="3940768" y="3274712"/>
              <a:ext cx="18219" cy="18219"/>
            </a:xfrm>
            <a:prstGeom prst="ellipse">
              <a:avLst/>
            </a:prstGeom>
            <a:solidFill>
              <a:srgbClr val="9AA0A6"/>
            </a:solidFill>
            <a:ln>
              <a:noFill/>
            </a:ln>
          </p:spPr>
          <p:txBody>
            <a:bodyPr rtlCol="0" anchor="ctr"/>
            <a:lstStyle/>
            <a:p>
              <a:pPr algn="ctr"/>
              <a:endParaRPr/>
            </a:p>
          </p:txBody>
        </p:sp>
        <p:sp>
          <p:nvSpPr>
            <p:cNvPr id="51" name="Oval 50"/>
            <p:cNvSpPr/>
            <p:nvPr/>
          </p:nvSpPr>
          <p:spPr>
            <a:xfrm>
              <a:off x="4035915" y="3238272"/>
              <a:ext cx="91098" cy="91098"/>
            </a:xfrm>
            <a:prstGeom prst="ellipse">
              <a:avLst/>
            </a:prstGeom>
            <a:solidFill>
              <a:srgbClr val="343A43"/>
            </a:solidFill>
            <a:ln w="15875">
              <a:solidFill>
                <a:srgbClr val="9AA0A6"/>
              </a:solidFill>
            </a:ln>
          </p:spPr>
          <p:txBody>
            <a:bodyPr rtlCol="0" anchor="ctr"/>
            <a:lstStyle/>
            <a:p>
              <a:pPr algn="ctr"/>
              <a:endParaRPr/>
            </a:p>
          </p:txBody>
        </p:sp>
        <p:sp>
          <p:nvSpPr>
            <p:cNvPr id="52" name="Oval 51"/>
            <p:cNvSpPr/>
            <p:nvPr/>
          </p:nvSpPr>
          <p:spPr>
            <a:xfrm>
              <a:off x="4072355" y="3274712"/>
              <a:ext cx="18219" cy="18219"/>
            </a:xfrm>
            <a:prstGeom prst="ellipse">
              <a:avLst/>
            </a:prstGeom>
            <a:solidFill>
              <a:srgbClr val="9AA0A6"/>
            </a:solidFill>
            <a:ln>
              <a:noFill/>
            </a:ln>
          </p:spPr>
          <p:txBody>
            <a:bodyPr rtlCol="0" anchor="ctr"/>
            <a:lstStyle/>
            <a:p>
              <a:pPr algn="ctr"/>
              <a:endParaRPr/>
            </a:p>
          </p:txBody>
        </p:sp>
        <p:cxnSp>
          <p:nvCxnSpPr>
            <p:cNvPr id="53" name="Connector 52"/>
            <p:cNvCxnSpPr/>
            <p:nvPr/>
          </p:nvCxnSpPr>
          <p:spPr>
            <a:xfrm>
              <a:off x="3686703" y="3283821"/>
              <a:ext cx="394762" cy="0"/>
            </a:xfrm>
            <a:prstGeom prst="line">
              <a:avLst/>
            </a:prstGeom>
            <a:ln w="19050">
              <a:solidFill>
                <a:srgbClr val="9AA0A6"/>
              </a:solidFill>
            </a:ln>
          </p:spPr>
        </p:cxnSp>
        <p:sp>
          <p:nvSpPr>
            <p:cNvPr id="54" name="Rounded Rectangle 53"/>
            <p:cNvSpPr/>
            <p:nvPr/>
          </p:nvSpPr>
          <p:spPr>
            <a:xfrm>
              <a:off x="3783875" y="3098587"/>
              <a:ext cx="334028" cy="115391"/>
            </a:xfrm>
            <a:prstGeom prst="roundRect">
              <a:avLst>
                <a:gd name="adj" fmla="val 47545"/>
              </a:avLst>
            </a:prstGeom>
            <a:solidFill>
              <a:srgbClr val="F28C28"/>
            </a:solidFill>
            <a:ln>
              <a:noFill/>
            </a:ln>
          </p:spPr>
          <p:txBody>
            <a:bodyPr rtlCol="0" anchor="ctr"/>
            <a:lstStyle/>
            <a:p>
              <a:pPr algn="ctr"/>
              <a:endParaRPr/>
            </a:p>
          </p:txBody>
        </p:sp>
        <p:sp>
          <p:nvSpPr>
            <p:cNvPr id="55" name="Rectangle 54"/>
            <p:cNvSpPr/>
            <p:nvPr/>
          </p:nvSpPr>
          <p:spPr>
            <a:xfrm>
              <a:off x="4063245" y="3098587"/>
              <a:ext cx="54659" cy="115391"/>
            </a:xfrm>
            <a:prstGeom prst="rect">
              <a:avLst/>
            </a:prstGeom>
            <a:solidFill>
              <a:srgbClr val="1B1D21"/>
            </a:solidFill>
            <a:ln w="12700">
              <a:solidFill>
                <a:srgbClr val="9AA0A6"/>
              </a:solidFill>
            </a:ln>
          </p:spPr>
          <p:txBody>
            <a:bodyPr rtlCol="0" anchor="ctr"/>
            <a:lstStyle/>
            <a:p>
              <a:pPr algn="ctr"/>
              <a:endParaRPr/>
            </a:p>
          </p:txBody>
        </p:sp>
        <p:sp>
          <p:nvSpPr>
            <p:cNvPr id="56" name="Rectangle 55"/>
            <p:cNvSpPr/>
            <p:nvPr/>
          </p:nvSpPr>
          <p:spPr>
            <a:xfrm>
              <a:off x="4075392" y="3043928"/>
              <a:ext cx="30366" cy="60732"/>
            </a:xfrm>
            <a:prstGeom prst="rect">
              <a:avLst/>
            </a:prstGeom>
            <a:solidFill>
              <a:srgbClr val="1B1D21"/>
            </a:solidFill>
            <a:ln w="12700">
              <a:solidFill>
                <a:srgbClr val="9AA0A6"/>
              </a:solidFill>
            </a:ln>
          </p:spPr>
          <p:txBody>
            <a:bodyPr rtlCol="0" anchor="ctr"/>
            <a:lstStyle/>
            <a:p>
              <a:pPr algn="ctr"/>
              <a:endParaRPr/>
            </a:p>
          </p:txBody>
        </p:sp>
        <p:sp>
          <p:nvSpPr>
            <p:cNvPr id="57" name="Rectangle 56"/>
            <p:cNvSpPr/>
            <p:nvPr/>
          </p:nvSpPr>
          <p:spPr>
            <a:xfrm>
              <a:off x="4063245" y="3031781"/>
              <a:ext cx="54659" cy="18219"/>
            </a:xfrm>
            <a:prstGeom prst="rect">
              <a:avLst/>
            </a:prstGeom>
            <a:solidFill>
              <a:srgbClr val="1B1D21"/>
            </a:solidFill>
            <a:ln w="12700">
              <a:solidFill>
                <a:srgbClr val="9AA0A6"/>
              </a:solidFill>
            </a:ln>
          </p:spPr>
          <p:txBody>
            <a:bodyPr rtlCol="0" anchor="ctr"/>
            <a:lstStyle/>
            <a:p>
              <a:pPr algn="ctr"/>
              <a:endParaRPr/>
            </a:p>
          </p:txBody>
        </p:sp>
        <p:sp>
          <p:nvSpPr>
            <p:cNvPr id="58" name="Rounded Rectangle 57"/>
            <p:cNvSpPr/>
            <p:nvPr/>
          </p:nvSpPr>
          <p:spPr>
            <a:xfrm>
              <a:off x="3874974" y="3068221"/>
              <a:ext cx="60732" cy="36439"/>
            </a:xfrm>
            <a:prstGeom prst="roundRect">
              <a:avLst>
                <a:gd name="adj" fmla="val 50000"/>
              </a:avLst>
            </a:prstGeom>
            <a:solidFill>
              <a:srgbClr val="F28C28"/>
            </a:solidFill>
            <a:ln>
              <a:noFill/>
            </a:ln>
          </p:spPr>
          <p:txBody>
            <a:bodyPr rtlCol="0" anchor="ctr"/>
            <a:lstStyle/>
            <a:p>
              <a:pPr algn="ctr"/>
              <a:endParaRPr/>
            </a:p>
          </p:txBody>
        </p:sp>
        <p:sp>
          <p:nvSpPr>
            <p:cNvPr id="59" name="Rectangle 58"/>
            <p:cNvSpPr/>
            <p:nvPr/>
          </p:nvSpPr>
          <p:spPr>
            <a:xfrm>
              <a:off x="3601678" y="3056074"/>
              <a:ext cx="182197" cy="163977"/>
            </a:xfrm>
            <a:prstGeom prst="rect">
              <a:avLst/>
            </a:prstGeom>
            <a:solidFill>
              <a:srgbClr val="F28C28"/>
            </a:solidFill>
            <a:ln>
              <a:noFill/>
            </a:ln>
          </p:spPr>
          <p:txBody>
            <a:bodyPr rtlCol="0" anchor="ctr"/>
            <a:lstStyle/>
            <a:p>
              <a:pPr algn="ctr"/>
              <a:endParaRPr/>
            </a:p>
          </p:txBody>
        </p:sp>
        <p:sp>
          <p:nvSpPr>
            <p:cNvPr id="60" name="Rectangle 59"/>
            <p:cNvSpPr/>
            <p:nvPr/>
          </p:nvSpPr>
          <p:spPr>
            <a:xfrm>
              <a:off x="3592568" y="3040891"/>
              <a:ext cx="200417" cy="21256"/>
            </a:xfrm>
            <a:prstGeom prst="rect">
              <a:avLst/>
            </a:prstGeom>
            <a:solidFill>
              <a:srgbClr val="1B1D21"/>
            </a:solidFill>
            <a:ln w="12700">
              <a:solidFill>
                <a:srgbClr val="9AA0A6"/>
              </a:solidFill>
            </a:ln>
          </p:spPr>
          <p:txBody>
            <a:bodyPr rtlCol="0" anchor="ctr"/>
            <a:lstStyle/>
            <a:p>
              <a:pPr algn="ctr"/>
              <a:endParaRPr/>
            </a:p>
          </p:txBody>
        </p:sp>
        <p:sp>
          <p:nvSpPr>
            <p:cNvPr id="61" name="Rectangle 60"/>
            <p:cNvSpPr/>
            <p:nvPr/>
          </p:nvSpPr>
          <p:spPr>
            <a:xfrm>
              <a:off x="3644191" y="3092514"/>
              <a:ext cx="78952" cy="60732"/>
            </a:xfrm>
            <a:prstGeom prst="rect">
              <a:avLst/>
            </a:prstGeom>
            <a:solidFill>
              <a:srgbClr val="1B1D21"/>
            </a:solidFill>
            <a:ln>
              <a:noFill/>
            </a:ln>
          </p:spPr>
          <p:txBody>
            <a:bodyPr rtlCol="0" anchor="ctr"/>
            <a:lstStyle/>
            <a:p>
              <a:pPr algn="ctr"/>
              <a:endParaRPr/>
            </a:p>
          </p:txBody>
        </p:sp>
        <p:sp>
          <p:nvSpPr>
            <p:cNvPr id="62" name="Rounded Rectangle 61"/>
            <p:cNvSpPr/>
            <p:nvPr/>
          </p:nvSpPr>
          <p:spPr>
            <a:xfrm>
              <a:off x="4343400" y="2468880"/>
              <a:ext cx="960120" cy="1417320"/>
            </a:xfrm>
            <a:prstGeom prst="roundRect">
              <a:avLst>
                <a:gd name="adj" fmla="val 7619"/>
              </a:avLst>
            </a:prstGeom>
            <a:solidFill>
              <a:srgbClr val="2B2F36"/>
            </a:solidFill>
            <a:ln w="19050">
              <a:solidFill>
                <a:srgbClr val="9AA0A6"/>
              </a:solidFill>
            </a:ln>
          </p:spPr>
          <p:txBody>
            <a:bodyPr rtlCol="0" anchor="ctr"/>
            <a:lstStyle/>
            <a:p>
              <a:pPr algn="ctr"/>
              <a:endParaRPr/>
            </a:p>
          </p:txBody>
        </p:sp>
        <p:sp>
          <p:nvSpPr>
            <p:cNvPr id="63" name="Rounded Rectangle 62"/>
            <p:cNvSpPr/>
            <p:nvPr/>
          </p:nvSpPr>
          <p:spPr>
            <a:xfrm>
              <a:off x="4416552" y="3121655"/>
              <a:ext cx="209566" cy="118754"/>
            </a:xfrm>
            <a:prstGeom prst="roundRect">
              <a:avLst>
                <a:gd name="adj" fmla="val 23099"/>
              </a:avLst>
            </a:prstGeom>
            <a:solidFill>
              <a:srgbClr val="2B2F36"/>
            </a:solidFill>
            <a:ln w="19050">
              <a:solidFill>
                <a:srgbClr val="F28C28"/>
              </a:solidFill>
            </a:ln>
          </p:spPr>
          <p:txBody>
            <a:bodyPr rtlCol="0" anchor="ctr"/>
            <a:lstStyle/>
            <a:p>
              <a:pPr algn="ctr"/>
              <a:endParaRPr/>
            </a:p>
          </p:txBody>
        </p:sp>
        <p:sp>
          <p:nvSpPr>
            <p:cNvPr id="64" name="Freeform 63"/>
            <p:cNvSpPr/>
            <p:nvPr/>
          </p:nvSpPr>
          <p:spPr>
            <a:xfrm>
              <a:off x="4444494" y="3072756"/>
              <a:ext cx="153682" cy="48899"/>
            </a:xfrm>
            <a:custGeom>
              <a:avLst/>
              <a:gdLst/>
              <a:ahLst/>
              <a:cxnLst/>
              <a:rect l="l" t="t" r="r" b="b"/>
              <a:pathLst>
                <a:path w="153682" h="48899">
                  <a:moveTo>
                    <a:pt x="0" y="48899"/>
                  </a:moveTo>
                  <a:lnTo>
                    <a:pt x="41913" y="6986"/>
                  </a:lnTo>
                  <a:lnTo>
                    <a:pt x="111768" y="0"/>
                  </a:lnTo>
                  <a:lnTo>
                    <a:pt x="153682" y="48899"/>
                  </a:lnTo>
                  <a:close/>
                </a:path>
              </a:pathLst>
            </a:custGeom>
            <a:solidFill>
              <a:srgbClr val="1B1D21"/>
            </a:solidFill>
            <a:ln w="12700">
              <a:solidFill>
                <a:srgbClr val="9AA0A6"/>
              </a:solidFill>
            </a:ln>
          </p:spPr>
          <p:txBody>
            <a:bodyPr rtlCol="0" anchor="ctr"/>
            <a:lstStyle/>
            <a:p>
              <a:pPr algn="ctr"/>
              <a:endParaRPr/>
            </a:p>
          </p:txBody>
        </p:sp>
        <p:sp>
          <p:nvSpPr>
            <p:cNvPr id="65" name="Oval 64"/>
            <p:cNvSpPr/>
            <p:nvPr/>
          </p:nvSpPr>
          <p:spPr>
            <a:xfrm>
              <a:off x="4472436" y="3268352"/>
              <a:ext cx="83826" cy="83826"/>
            </a:xfrm>
            <a:prstGeom prst="ellipse">
              <a:avLst/>
            </a:prstGeom>
            <a:solidFill>
              <a:srgbClr val="343A43"/>
            </a:solidFill>
            <a:ln w="12700">
              <a:solidFill>
                <a:srgbClr val="9AA0A6"/>
              </a:solidFill>
            </a:ln>
          </p:spPr>
          <p:txBody>
            <a:bodyPr rtlCol="0" anchor="ctr"/>
            <a:lstStyle/>
            <a:p>
              <a:pPr algn="ctr"/>
              <a:endParaRPr/>
            </a:p>
          </p:txBody>
        </p:sp>
        <p:sp>
          <p:nvSpPr>
            <p:cNvPr id="66" name="Oval 65"/>
            <p:cNvSpPr/>
            <p:nvPr/>
          </p:nvSpPr>
          <p:spPr>
            <a:xfrm>
              <a:off x="4486407" y="3268352"/>
              <a:ext cx="83826" cy="83826"/>
            </a:xfrm>
            <a:prstGeom prst="ellipse">
              <a:avLst/>
            </a:prstGeom>
            <a:solidFill>
              <a:srgbClr val="343A43"/>
            </a:solidFill>
            <a:ln w="12700">
              <a:solidFill>
                <a:srgbClr val="9AA0A6"/>
              </a:solidFill>
            </a:ln>
          </p:spPr>
          <p:txBody>
            <a:bodyPr rtlCol="0" anchor="ctr"/>
            <a:lstStyle/>
            <a:p>
              <a:pPr algn="ctr"/>
              <a:endParaRPr/>
            </a:p>
          </p:txBody>
        </p:sp>
        <p:cxnSp>
          <p:nvCxnSpPr>
            <p:cNvPr id="67" name="Connector 66"/>
            <p:cNvCxnSpPr/>
            <p:nvPr/>
          </p:nvCxnSpPr>
          <p:spPr>
            <a:xfrm>
              <a:off x="4626118" y="3219453"/>
              <a:ext cx="27942" cy="0"/>
            </a:xfrm>
            <a:prstGeom prst="line">
              <a:avLst/>
            </a:prstGeom>
            <a:ln w="25400">
              <a:solidFill>
                <a:srgbClr val="9AA0A6"/>
              </a:solidFill>
            </a:ln>
          </p:spPr>
        </p:cxnSp>
        <p:sp>
          <p:nvSpPr>
            <p:cNvPr id="68" name="Rectangle 67"/>
            <p:cNvSpPr/>
            <p:nvPr/>
          </p:nvSpPr>
          <p:spPr>
            <a:xfrm>
              <a:off x="4654060" y="3219453"/>
              <a:ext cx="558843" cy="34927"/>
            </a:xfrm>
            <a:prstGeom prst="rect">
              <a:avLst/>
            </a:prstGeom>
            <a:solidFill>
              <a:srgbClr val="1B1D21"/>
            </a:solidFill>
            <a:ln w="12700">
              <a:solidFill>
                <a:srgbClr val="9AA0A6"/>
              </a:solidFill>
            </a:ln>
          </p:spPr>
          <p:txBody>
            <a:bodyPr rtlCol="0" anchor="ctr"/>
            <a:lstStyle/>
            <a:p>
              <a:pPr algn="ctr"/>
              <a:endParaRPr/>
            </a:p>
          </p:txBody>
        </p:sp>
        <p:sp>
          <p:nvSpPr>
            <p:cNvPr id="69" name="Oval 68"/>
            <p:cNvSpPr/>
            <p:nvPr/>
          </p:nvSpPr>
          <p:spPr>
            <a:xfrm>
              <a:off x="4699466" y="3247395"/>
              <a:ext cx="104783" cy="104783"/>
            </a:xfrm>
            <a:prstGeom prst="ellipse">
              <a:avLst/>
            </a:prstGeom>
            <a:solidFill>
              <a:srgbClr val="343A43"/>
            </a:solidFill>
            <a:ln w="15875">
              <a:solidFill>
                <a:srgbClr val="9AA0A6"/>
              </a:solidFill>
            </a:ln>
          </p:spPr>
          <p:txBody>
            <a:bodyPr rtlCol="0" anchor="ctr"/>
            <a:lstStyle/>
            <a:p>
              <a:pPr algn="ctr"/>
              <a:endParaRPr/>
            </a:p>
          </p:txBody>
        </p:sp>
        <p:sp>
          <p:nvSpPr>
            <p:cNvPr id="70" name="Oval 69"/>
            <p:cNvSpPr/>
            <p:nvPr/>
          </p:nvSpPr>
          <p:spPr>
            <a:xfrm>
              <a:off x="4741379" y="3289308"/>
              <a:ext cx="20956" cy="20956"/>
            </a:xfrm>
            <a:prstGeom prst="ellipse">
              <a:avLst/>
            </a:prstGeom>
            <a:solidFill>
              <a:srgbClr val="9AA0A6"/>
            </a:solidFill>
            <a:ln>
              <a:noFill/>
            </a:ln>
          </p:spPr>
          <p:txBody>
            <a:bodyPr rtlCol="0" anchor="ctr"/>
            <a:lstStyle/>
            <a:p>
              <a:pPr algn="ctr"/>
              <a:endParaRPr/>
            </a:p>
          </p:txBody>
        </p:sp>
        <p:sp>
          <p:nvSpPr>
            <p:cNvPr id="71" name="Oval 70"/>
            <p:cNvSpPr/>
            <p:nvPr/>
          </p:nvSpPr>
          <p:spPr>
            <a:xfrm>
              <a:off x="4909032" y="3247395"/>
              <a:ext cx="104783" cy="104783"/>
            </a:xfrm>
            <a:prstGeom prst="ellipse">
              <a:avLst/>
            </a:prstGeom>
            <a:solidFill>
              <a:srgbClr val="343A43"/>
            </a:solidFill>
            <a:ln w="15875">
              <a:solidFill>
                <a:srgbClr val="9AA0A6"/>
              </a:solidFill>
            </a:ln>
          </p:spPr>
          <p:txBody>
            <a:bodyPr rtlCol="0" anchor="ctr"/>
            <a:lstStyle/>
            <a:p>
              <a:pPr algn="ctr"/>
              <a:endParaRPr/>
            </a:p>
          </p:txBody>
        </p:sp>
        <p:sp>
          <p:nvSpPr>
            <p:cNvPr id="72" name="Oval 71"/>
            <p:cNvSpPr/>
            <p:nvPr/>
          </p:nvSpPr>
          <p:spPr>
            <a:xfrm>
              <a:off x="4950946" y="3289308"/>
              <a:ext cx="20956" cy="20956"/>
            </a:xfrm>
            <a:prstGeom prst="ellipse">
              <a:avLst/>
            </a:prstGeom>
            <a:solidFill>
              <a:srgbClr val="9AA0A6"/>
            </a:solidFill>
            <a:ln>
              <a:noFill/>
            </a:ln>
          </p:spPr>
          <p:txBody>
            <a:bodyPr rtlCol="0" anchor="ctr"/>
            <a:lstStyle/>
            <a:p>
              <a:pPr algn="ctr"/>
              <a:endParaRPr/>
            </a:p>
          </p:txBody>
        </p:sp>
        <p:sp>
          <p:nvSpPr>
            <p:cNvPr id="73" name="Oval 72"/>
            <p:cNvSpPr/>
            <p:nvPr/>
          </p:nvSpPr>
          <p:spPr>
            <a:xfrm>
              <a:off x="5118599" y="3247395"/>
              <a:ext cx="104783" cy="104783"/>
            </a:xfrm>
            <a:prstGeom prst="ellipse">
              <a:avLst/>
            </a:prstGeom>
            <a:solidFill>
              <a:srgbClr val="343A43"/>
            </a:solidFill>
            <a:ln w="15875">
              <a:solidFill>
                <a:srgbClr val="9AA0A6"/>
              </a:solidFill>
            </a:ln>
          </p:spPr>
          <p:txBody>
            <a:bodyPr rtlCol="0" anchor="ctr"/>
            <a:lstStyle/>
            <a:p>
              <a:pPr algn="ctr"/>
              <a:endParaRPr/>
            </a:p>
          </p:txBody>
        </p:sp>
        <p:sp>
          <p:nvSpPr>
            <p:cNvPr id="74" name="Oval 73"/>
            <p:cNvSpPr/>
            <p:nvPr/>
          </p:nvSpPr>
          <p:spPr>
            <a:xfrm>
              <a:off x="5160512" y="3289308"/>
              <a:ext cx="20956" cy="20956"/>
            </a:xfrm>
            <a:prstGeom prst="ellipse">
              <a:avLst/>
            </a:prstGeom>
            <a:solidFill>
              <a:srgbClr val="9AA0A6"/>
            </a:solidFill>
            <a:ln>
              <a:noFill/>
            </a:ln>
          </p:spPr>
          <p:txBody>
            <a:bodyPr rtlCol="0" anchor="ctr"/>
            <a:lstStyle/>
            <a:p>
              <a:pPr algn="ctr"/>
              <a:endParaRPr/>
            </a:p>
          </p:txBody>
        </p:sp>
        <p:cxnSp>
          <p:nvCxnSpPr>
            <p:cNvPr id="75" name="Connector 74"/>
            <p:cNvCxnSpPr/>
            <p:nvPr/>
          </p:nvCxnSpPr>
          <p:spPr>
            <a:xfrm>
              <a:off x="4751858" y="3299787"/>
              <a:ext cx="419132" cy="0"/>
            </a:xfrm>
            <a:prstGeom prst="line">
              <a:avLst/>
            </a:prstGeom>
            <a:ln w="19050">
              <a:solidFill>
                <a:srgbClr val="9AA0A6"/>
              </a:solidFill>
            </a:ln>
          </p:spPr>
        </p:cxnSp>
        <p:sp>
          <p:nvSpPr>
            <p:cNvPr id="76" name="Rounded Rectangle 75"/>
            <p:cNvSpPr/>
            <p:nvPr/>
          </p:nvSpPr>
          <p:spPr>
            <a:xfrm>
              <a:off x="4863626" y="3086727"/>
              <a:ext cx="349277" cy="132725"/>
            </a:xfrm>
            <a:prstGeom prst="roundRect">
              <a:avLst>
                <a:gd name="adj" fmla="val 41336"/>
              </a:avLst>
            </a:prstGeom>
            <a:solidFill>
              <a:srgbClr val="F28C28"/>
            </a:solidFill>
            <a:ln>
              <a:noFill/>
            </a:ln>
          </p:spPr>
          <p:txBody>
            <a:bodyPr rtlCol="0" anchor="ctr"/>
            <a:lstStyle/>
            <a:p>
              <a:pPr algn="ctr"/>
              <a:endParaRPr/>
            </a:p>
          </p:txBody>
        </p:sp>
        <p:sp>
          <p:nvSpPr>
            <p:cNvPr id="77" name="Rectangle 76"/>
            <p:cNvSpPr/>
            <p:nvPr/>
          </p:nvSpPr>
          <p:spPr>
            <a:xfrm>
              <a:off x="5150034" y="3086727"/>
              <a:ext cx="62869" cy="132725"/>
            </a:xfrm>
            <a:prstGeom prst="rect">
              <a:avLst/>
            </a:prstGeom>
            <a:solidFill>
              <a:srgbClr val="1B1D21"/>
            </a:solidFill>
            <a:ln w="12700">
              <a:solidFill>
                <a:srgbClr val="9AA0A6"/>
              </a:solidFill>
            </a:ln>
          </p:spPr>
          <p:txBody>
            <a:bodyPr rtlCol="0" anchor="ctr"/>
            <a:lstStyle/>
            <a:p>
              <a:pPr algn="ctr"/>
              <a:endParaRPr/>
            </a:p>
          </p:txBody>
        </p:sp>
        <p:sp>
          <p:nvSpPr>
            <p:cNvPr id="78" name="Rectangle 77"/>
            <p:cNvSpPr/>
            <p:nvPr/>
          </p:nvSpPr>
          <p:spPr>
            <a:xfrm>
              <a:off x="5164005" y="3023858"/>
              <a:ext cx="34927" cy="69855"/>
            </a:xfrm>
            <a:prstGeom prst="rect">
              <a:avLst/>
            </a:prstGeom>
            <a:solidFill>
              <a:srgbClr val="1B1D21"/>
            </a:solidFill>
            <a:ln w="12700">
              <a:solidFill>
                <a:srgbClr val="9AA0A6"/>
              </a:solidFill>
            </a:ln>
          </p:spPr>
          <p:txBody>
            <a:bodyPr rtlCol="0" anchor="ctr"/>
            <a:lstStyle/>
            <a:p>
              <a:pPr algn="ctr"/>
              <a:endParaRPr/>
            </a:p>
          </p:txBody>
        </p:sp>
        <p:sp>
          <p:nvSpPr>
            <p:cNvPr id="79" name="Rectangle 78"/>
            <p:cNvSpPr/>
            <p:nvPr/>
          </p:nvSpPr>
          <p:spPr>
            <a:xfrm>
              <a:off x="5150034" y="3009886"/>
              <a:ext cx="62869" cy="20956"/>
            </a:xfrm>
            <a:prstGeom prst="rect">
              <a:avLst/>
            </a:prstGeom>
            <a:solidFill>
              <a:srgbClr val="1B1D21"/>
            </a:solidFill>
            <a:ln w="12700">
              <a:solidFill>
                <a:srgbClr val="9AA0A6"/>
              </a:solidFill>
            </a:ln>
          </p:spPr>
          <p:txBody>
            <a:bodyPr rtlCol="0" anchor="ctr"/>
            <a:lstStyle/>
            <a:p>
              <a:pPr algn="ctr"/>
              <a:endParaRPr/>
            </a:p>
          </p:txBody>
        </p:sp>
        <p:sp>
          <p:nvSpPr>
            <p:cNvPr id="80" name="Rounded Rectangle 79"/>
            <p:cNvSpPr/>
            <p:nvPr/>
          </p:nvSpPr>
          <p:spPr>
            <a:xfrm>
              <a:off x="4968410" y="3051800"/>
              <a:ext cx="69855" cy="41913"/>
            </a:xfrm>
            <a:prstGeom prst="roundRect">
              <a:avLst>
                <a:gd name="adj" fmla="val 50000"/>
              </a:avLst>
            </a:prstGeom>
            <a:solidFill>
              <a:srgbClr val="F28C28"/>
            </a:solidFill>
            <a:ln>
              <a:noFill/>
            </a:ln>
          </p:spPr>
          <p:txBody>
            <a:bodyPr rtlCol="0" anchor="ctr"/>
            <a:lstStyle/>
            <a:p>
              <a:pPr algn="ctr"/>
              <a:endParaRPr/>
            </a:p>
          </p:txBody>
        </p:sp>
        <p:sp>
          <p:nvSpPr>
            <p:cNvPr id="81" name="Rectangle 80"/>
            <p:cNvSpPr/>
            <p:nvPr/>
          </p:nvSpPr>
          <p:spPr>
            <a:xfrm>
              <a:off x="4654060" y="3037829"/>
              <a:ext cx="209566" cy="188609"/>
            </a:xfrm>
            <a:prstGeom prst="rect">
              <a:avLst/>
            </a:prstGeom>
            <a:solidFill>
              <a:srgbClr val="F28C28"/>
            </a:solidFill>
            <a:ln>
              <a:noFill/>
            </a:ln>
          </p:spPr>
          <p:txBody>
            <a:bodyPr rtlCol="0" anchor="ctr"/>
            <a:lstStyle/>
            <a:p>
              <a:pPr algn="ctr"/>
              <a:endParaRPr/>
            </a:p>
          </p:txBody>
        </p:sp>
        <p:sp>
          <p:nvSpPr>
            <p:cNvPr id="82" name="Rectangle 81"/>
            <p:cNvSpPr/>
            <p:nvPr/>
          </p:nvSpPr>
          <p:spPr>
            <a:xfrm>
              <a:off x="4643582" y="3020365"/>
              <a:ext cx="230522" cy="24449"/>
            </a:xfrm>
            <a:prstGeom prst="rect">
              <a:avLst/>
            </a:prstGeom>
            <a:solidFill>
              <a:srgbClr val="1B1D21"/>
            </a:solidFill>
            <a:ln w="12700">
              <a:solidFill>
                <a:srgbClr val="9AA0A6"/>
              </a:solidFill>
            </a:ln>
          </p:spPr>
          <p:txBody>
            <a:bodyPr rtlCol="0" anchor="ctr"/>
            <a:lstStyle/>
            <a:p>
              <a:pPr algn="ctr"/>
              <a:endParaRPr/>
            </a:p>
          </p:txBody>
        </p:sp>
        <p:sp>
          <p:nvSpPr>
            <p:cNvPr id="83" name="Rectangle 82"/>
            <p:cNvSpPr/>
            <p:nvPr/>
          </p:nvSpPr>
          <p:spPr>
            <a:xfrm>
              <a:off x="4702959" y="3079742"/>
              <a:ext cx="90812" cy="69855"/>
            </a:xfrm>
            <a:prstGeom prst="rect">
              <a:avLst/>
            </a:prstGeom>
            <a:solidFill>
              <a:srgbClr val="1B1D21"/>
            </a:solidFill>
            <a:ln>
              <a:noFill/>
            </a:ln>
          </p:spPr>
          <p:txBody>
            <a:bodyPr rtlCol="0" anchor="ctr"/>
            <a:lstStyle/>
            <a:p>
              <a:pPr algn="ctr"/>
              <a:endParaRPr/>
            </a:p>
          </p:txBody>
        </p:sp>
        <p:sp>
          <p:nvSpPr>
            <p:cNvPr id="84" name="Rounded Rectangle 83"/>
            <p:cNvSpPr/>
            <p:nvPr/>
          </p:nvSpPr>
          <p:spPr>
            <a:xfrm>
              <a:off x="5440680" y="2468880"/>
              <a:ext cx="960120" cy="1417320"/>
            </a:xfrm>
            <a:prstGeom prst="roundRect">
              <a:avLst>
                <a:gd name="adj" fmla="val 7619"/>
              </a:avLst>
            </a:prstGeom>
            <a:solidFill>
              <a:srgbClr val="2B2F36"/>
            </a:solidFill>
            <a:ln w="19050">
              <a:solidFill>
                <a:srgbClr val="9AA0A6"/>
              </a:solidFill>
            </a:ln>
          </p:spPr>
          <p:txBody>
            <a:bodyPr rtlCol="0" anchor="ctr"/>
            <a:lstStyle/>
            <a:p>
              <a:pPr algn="ctr"/>
              <a:endParaRPr/>
            </a:p>
          </p:txBody>
        </p:sp>
        <p:sp>
          <p:nvSpPr>
            <p:cNvPr id="85" name="Rounded Rectangle 84"/>
            <p:cNvSpPr/>
            <p:nvPr/>
          </p:nvSpPr>
          <p:spPr>
            <a:xfrm>
              <a:off x="5513832" y="3133845"/>
              <a:ext cx="259437" cy="92851"/>
            </a:xfrm>
            <a:prstGeom prst="roundRect">
              <a:avLst>
                <a:gd name="adj" fmla="val 29543"/>
              </a:avLst>
            </a:prstGeom>
            <a:solidFill>
              <a:srgbClr val="2B2F36"/>
            </a:solidFill>
            <a:ln w="19050">
              <a:solidFill>
                <a:srgbClr val="F28C28"/>
              </a:solidFill>
            </a:ln>
          </p:spPr>
          <p:txBody>
            <a:bodyPr rtlCol="0" anchor="ctr"/>
            <a:lstStyle/>
            <a:p>
              <a:pPr algn="ctr"/>
              <a:endParaRPr/>
            </a:p>
          </p:txBody>
        </p:sp>
        <p:sp>
          <p:nvSpPr>
            <p:cNvPr id="86" name="Freeform 85"/>
            <p:cNvSpPr/>
            <p:nvPr/>
          </p:nvSpPr>
          <p:spPr>
            <a:xfrm>
              <a:off x="5535679" y="3095612"/>
              <a:ext cx="215743" cy="38233"/>
            </a:xfrm>
            <a:custGeom>
              <a:avLst/>
              <a:gdLst/>
              <a:ahLst/>
              <a:cxnLst/>
              <a:rect l="l" t="t" r="r" b="b"/>
              <a:pathLst>
                <a:path w="215743" h="38233">
                  <a:moveTo>
                    <a:pt x="0" y="38233"/>
                  </a:moveTo>
                  <a:lnTo>
                    <a:pt x="32771" y="5462"/>
                  </a:lnTo>
                  <a:lnTo>
                    <a:pt x="182972" y="0"/>
                  </a:lnTo>
                  <a:lnTo>
                    <a:pt x="215743" y="38233"/>
                  </a:lnTo>
                  <a:close/>
                </a:path>
              </a:pathLst>
            </a:custGeom>
            <a:solidFill>
              <a:srgbClr val="1B1D21"/>
            </a:solidFill>
            <a:ln w="12700">
              <a:solidFill>
                <a:srgbClr val="9AA0A6"/>
              </a:solidFill>
            </a:ln>
          </p:spPr>
          <p:txBody>
            <a:bodyPr rtlCol="0" anchor="ctr"/>
            <a:lstStyle/>
            <a:p>
              <a:pPr algn="ctr"/>
              <a:endParaRPr/>
            </a:p>
          </p:txBody>
        </p:sp>
        <p:sp>
          <p:nvSpPr>
            <p:cNvPr id="87" name="Oval 86"/>
            <p:cNvSpPr/>
            <p:nvPr/>
          </p:nvSpPr>
          <p:spPr>
            <a:xfrm>
              <a:off x="5557526" y="3248544"/>
              <a:ext cx="65542" cy="65542"/>
            </a:xfrm>
            <a:prstGeom prst="ellipse">
              <a:avLst/>
            </a:prstGeom>
            <a:solidFill>
              <a:srgbClr val="343A43"/>
            </a:solidFill>
            <a:ln w="12700">
              <a:solidFill>
                <a:srgbClr val="9AA0A6"/>
              </a:solidFill>
            </a:ln>
          </p:spPr>
          <p:txBody>
            <a:bodyPr rtlCol="0" anchor="ctr"/>
            <a:lstStyle/>
            <a:p>
              <a:pPr algn="ctr"/>
              <a:endParaRPr/>
            </a:p>
          </p:txBody>
        </p:sp>
        <p:sp>
          <p:nvSpPr>
            <p:cNvPr id="88" name="Oval 87"/>
            <p:cNvSpPr/>
            <p:nvPr/>
          </p:nvSpPr>
          <p:spPr>
            <a:xfrm>
              <a:off x="5664032" y="3248544"/>
              <a:ext cx="65542" cy="65542"/>
            </a:xfrm>
            <a:prstGeom prst="ellipse">
              <a:avLst/>
            </a:prstGeom>
            <a:solidFill>
              <a:srgbClr val="343A43"/>
            </a:solidFill>
            <a:ln w="12700">
              <a:solidFill>
                <a:srgbClr val="9AA0A6"/>
              </a:solidFill>
            </a:ln>
          </p:spPr>
          <p:txBody>
            <a:bodyPr rtlCol="0" anchor="ctr"/>
            <a:lstStyle/>
            <a:p>
              <a:pPr algn="ctr"/>
              <a:endParaRPr/>
            </a:p>
          </p:txBody>
        </p:sp>
        <p:cxnSp>
          <p:nvCxnSpPr>
            <p:cNvPr id="89" name="Connector 88"/>
            <p:cNvCxnSpPr/>
            <p:nvPr/>
          </p:nvCxnSpPr>
          <p:spPr>
            <a:xfrm>
              <a:off x="5773269" y="3210311"/>
              <a:ext cx="21848" cy="0"/>
            </a:xfrm>
            <a:prstGeom prst="line">
              <a:avLst/>
            </a:prstGeom>
            <a:ln w="25400">
              <a:solidFill>
                <a:srgbClr val="9AA0A6"/>
              </a:solidFill>
            </a:ln>
          </p:spPr>
        </p:cxnSp>
        <p:sp>
          <p:nvSpPr>
            <p:cNvPr id="90" name="Rectangle 89"/>
            <p:cNvSpPr/>
            <p:nvPr/>
          </p:nvSpPr>
          <p:spPr>
            <a:xfrm>
              <a:off x="5795117" y="3210311"/>
              <a:ext cx="518875" cy="27309"/>
            </a:xfrm>
            <a:prstGeom prst="rect">
              <a:avLst/>
            </a:prstGeom>
            <a:solidFill>
              <a:srgbClr val="1B1D21"/>
            </a:solidFill>
            <a:ln w="12700">
              <a:solidFill>
                <a:srgbClr val="9AA0A6"/>
              </a:solidFill>
            </a:ln>
          </p:spPr>
          <p:txBody>
            <a:bodyPr rtlCol="0" anchor="ctr"/>
            <a:lstStyle/>
            <a:p>
              <a:pPr algn="ctr"/>
              <a:endParaRPr/>
            </a:p>
          </p:txBody>
        </p:sp>
        <p:sp>
          <p:nvSpPr>
            <p:cNvPr id="91" name="Oval 90"/>
            <p:cNvSpPr/>
            <p:nvPr/>
          </p:nvSpPr>
          <p:spPr>
            <a:xfrm>
              <a:off x="5830619" y="3232158"/>
              <a:ext cx="81927" cy="81927"/>
            </a:xfrm>
            <a:prstGeom prst="ellipse">
              <a:avLst/>
            </a:prstGeom>
            <a:solidFill>
              <a:srgbClr val="343A43"/>
            </a:solidFill>
            <a:ln w="15875">
              <a:solidFill>
                <a:srgbClr val="9AA0A6"/>
              </a:solidFill>
            </a:ln>
          </p:spPr>
          <p:txBody>
            <a:bodyPr rtlCol="0" anchor="ctr"/>
            <a:lstStyle/>
            <a:p>
              <a:pPr algn="ctr"/>
              <a:endParaRPr/>
            </a:p>
          </p:txBody>
        </p:sp>
        <p:sp>
          <p:nvSpPr>
            <p:cNvPr id="92" name="Oval 91"/>
            <p:cNvSpPr/>
            <p:nvPr/>
          </p:nvSpPr>
          <p:spPr>
            <a:xfrm>
              <a:off x="5863390" y="3264929"/>
              <a:ext cx="16385" cy="16385"/>
            </a:xfrm>
            <a:prstGeom prst="ellipse">
              <a:avLst/>
            </a:prstGeom>
            <a:solidFill>
              <a:srgbClr val="9AA0A6"/>
            </a:solidFill>
            <a:ln>
              <a:noFill/>
            </a:ln>
          </p:spPr>
          <p:txBody>
            <a:bodyPr rtlCol="0" anchor="ctr"/>
            <a:lstStyle/>
            <a:p>
              <a:pPr algn="ctr"/>
              <a:endParaRPr/>
            </a:p>
          </p:txBody>
        </p:sp>
        <p:sp>
          <p:nvSpPr>
            <p:cNvPr id="93" name="Oval 92"/>
            <p:cNvSpPr/>
            <p:nvPr/>
          </p:nvSpPr>
          <p:spPr>
            <a:xfrm>
              <a:off x="5933029" y="3232158"/>
              <a:ext cx="81927" cy="81927"/>
            </a:xfrm>
            <a:prstGeom prst="ellipse">
              <a:avLst/>
            </a:prstGeom>
            <a:solidFill>
              <a:srgbClr val="343A43"/>
            </a:solidFill>
            <a:ln w="15875">
              <a:solidFill>
                <a:srgbClr val="9AA0A6"/>
              </a:solidFill>
            </a:ln>
          </p:spPr>
          <p:txBody>
            <a:bodyPr rtlCol="0" anchor="ctr"/>
            <a:lstStyle/>
            <a:p>
              <a:pPr algn="ctr"/>
              <a:endParaRPr/>
            </a:p>
          </p:txBody>
        </p:sp>
        <p:sp>
          <p:nvSpPr>
            <p:cNvPr id="94" name="Oval 93"/>
            <p:cNvSpPr/>
            <p:nvPr/>
          </p:nvSpPr>
          <p:spPr>
            <a:xfrm>
              <a:off x="5965800" y="3264929"/>
              <a:ext cx="16385" cy="16385"/>
            </a:xfrm>
            <a:prstGeom prst="ellipse">
              <a:avLst/>
            </a:prstGeom>
            <a:solidFill>
              <a:srgbClr val="9AA0A6"/>
            </a:solidFill>
            <a:ln>
              <a:noFill/>
            </a:ln>
          </p:spPr>
          <p:txBody>
            <a:bodyPr rtlCol="0" anchor="ctr"/>
            <a:lstStyle/>
            <a:p>
              <a:pPr algn="ctr"/>
              <a:endParaRPr/>
            </a:p>
          </p:txBody>
        </p:sp>
        <p:sp>
          <p:nvSpPr>
            <p:cNvPr id="95" name="Oval 94"/>
            <p:cNvSpPr/>
            <p:nvPr/>
          </p:nvSpPr>
          <p:spPr>
            <a:xfrm>
              <a:off x="6035438" y="3232158"/>
              <a:ext cx="81927" cy="81927"/>
            </a:xfrm>
            <a:prstGeom prst="ellipse">
              <a:avLst/>
            </a:prstGeom>
            <a:solidFill>
              <a:srgbClr val="343A43"/>
            </a:solidFill>
            <a:ln w="15875">
              <a:solidFill>
                <a:srgbClr val="9AA0A6"/>
              </a:solidFill>
            </a:ln>
          </p:spPr>
          <p:txBody>
            <a:bodyPr rtlCol="0" anchor="ctr"/>
            <a:lstStyle/>
            <a:p>
              <a:pPr algn="ctr"/>
              <a:endParaRPr/>
            </a:p>
          </p:txBody>
        </p:sp>
        <p:sp>
          <p:nvSpPr>
            <p:cNvPr id="96" name="Oval 95"/>
            <p:cNvSpPr/>
            <p:nvPr/>
          </p:nvSpPr>
          <p:spPr>
            <a:xfrm>
              <a:off x="6068210" y="3264929"/>
              <a:ext cx="16385" cy="16385"/>
            </a:xfrm>
            <a:prstGeom prst="ellipse">
              <a:avLst/>
            </a:prstGeom>
            <a:solidFill>
              <a:srgbClr val="9AA0A6"/>
            </a:solidFill>
            <a:ln>
              <a:noFill/>
            </a:ln>
          </p:spPr>
          <p:txBody>
            <a:bodyPr rtlCol="0" anchor="ctr"/>
            <a:lstStyle/>
            <a:p>
              <a:pPr algn="ctr"/>
              <a:endParaRPr/>
            </a:p>
          </p:txBody>
        </p:sp>
        <p:sp>
          <p:nvSpPr>
            <p:cNvPr id="97" name="Oval 96"/>
            <p:cNvSpPr/>
            <p:nvPr/>
          </p:nvSpPr>
          <p:spPr>
            <a:xfrm>
              <a:off x="6137848" y="3232158"/>
              <a:ext cx="81927" cy="81927"/>
            </a:xfrm>
            <a:prstGeom prst="ellipse">
              <a:avLst/>
            </a:prstGeom>
            <a:solidFill>
              <a:srgbClr val="343A43"/>
            </a:solidFill>
            <a:ln w="15875">
              <a:solidFill>
                <a:srgbClr val="9AA0A6"/>
              </a:solidFill>
            </a:ln>
          </p:spPr>
          <p:txBody>
            <a:bodyPr rtlCol="0" anchor="ctr"/>
            <a:lstStyle/>
            <a:p>
              <a:pPr algn="ctr"/>
              <a:endParaRPr/>
            </a:p>
          </p:txBody>
        </p:sp>
        <p:sp>
          <p:nvSpPr>
            <p:cNvPr id="98" name="Oval 97"/>
            <p:cNvSpPr/>
            <p:nvPr/>
          </p:nvSpPr>
          <p:spPr>
            <a:xfrm>
              <a:off x="6170619" y="3264929"/>
              <a:ext cx="16385" cy="16385"/>
            </a:xfrm>
            <a:prstGeom prst="ellipse">
              <a:avLst/>
            </a:prstGeom>
            <a:solidFill>
              <a:srgbClr val="9AA0A6"/>
            </a:solidFill>
            <a:ln>
              <a:noFill/>
            </a:ln>
          </p:spPr>
          <p:txBody>
            <a:bodyPr rtlCol="0" anchor="ctr"/>
            <a:lstStyle/>
            <a:p>
              <a:pPr algn="ctr"/>
              <a:endParaRPr/>
            </a:p>
          </p:txBody>
        </p:sp>
        <p:sp>
          <p:nvSpPr>
            <p:cNvPr id="99" name="Oval 98"/>
            <p:cNvSpPr/>
            <p:nvPr/>
          </p:nvSpPr>
          <p:spPr>
            <a:xfrm>
              <a:off x="6240258" y="3232158"/>
              <a:ext cx="81927" cy="81927"/>
            </a:xfrm>
            <a:prstGeom prst="ellipse">
              <a:avLst/>
            </a:prstGeom>
            <a:solidFill>
              <a:srgbClr val="343A43"/>
            </a:solidFill>
            <a:ln w="15875">
              <a:solidFill>
                <a:srgbClr val="9AA0A6"/>
              </a:solidFill>
            </a:ln>
          </p:spPr>
          <p:txBody>
            <a:bodyPr rtlCol="0" anchor="ctr"/>
            <a:lstStyle/>
            <a:p>
              <a:pPr algn="ctr"/>
              <a:endParaRPr/>
            </a:p>
          </p:txBody>
        </p:sp>
        <p:sp>
          <p:nvSpPr>
            <p:cNvPr id="100" name="Oval 99"/>
            <p:cNvSpPr/>
            <p:nvPr/>
          </p:nvSpPr>
          <p:spPr>
            <a:xfrm>
              <a:off x="6273029" y="3264929"/>
              <a:ext cx="16385" cy="16385"/>
            </a:xfrm>
            <a:prstGeom prst="ellipse">
              <a:avLst/>
            </a:prstGeom>
            <a:solidFill>
              <a:srgbClr val="9AA0A6"/>
            </a:solidFill>
            <a:ln>
              <a:noFill/>
            </a:ln>
          </p:spPr>
          <p:txBody>
            <a:bodyPr rtlCol="0" anchor="ctr"/>
            <a:lstStyle/>
            <a:p>
              <a:pPr algn="ctr"/>
              <a:endParaRPr/>
            </a:p>
          </p:txBody>
        </p:sp>
        <p:cxnSp>
          <p:nvCxnSpPr>
            <p:cNvPr id="101" name="Connector 100"/>
            <p:cNvCxnSpPr/>
            <p:nvPr/>
          </p:nvCxnSpPr>
          <p:spPr>
            <a:xfrm>
              <a:off x="5871583" y="3273122"/>
              <a:ext cx="409639" cy="0"/>
            </a:xfrm>
            <a:prstGeom prst="line">
              <a:avLst/>
            </a:prstGeom>
            <a:ln w="19050">
              <a:solidFill>
                <a:srgbClr val="9AA0A6"/>
              </a:solidFill>
            </a:ln>
          </p:spPr>
        </p:cxnSp>
        <p:sp>
          <p:nvSpPr>
            <p:cNvPr id="102" name="Rounded Rectangle 101"/>
            <p:cNvSpPr/>
            <p:nvPr/>
          </p:nvSpPr>
          <p:spPr>
            <a:xfrm>
              <a:off x="5958972" y="3106535"/>
              <a:ext cx="355020" cy="103775"/>
            </a:xfrm>
            <a:prstGeom prst="roundRect">
              <a:avLst>
                <a:gd name="adj" fmla="val 50000"/>
              </a:avLst>
            </a:prstGeom>
            <a:solidFill>
              <a:srgbClr val="F28C28"/>
            </a:solidFill>
            <a:ln>
              <a:noFill/>
            </a:ln>
          </p:spPr>
          <p:txBody>
            <a:bodyPr rtlCol="0" anchor="ctr"/>
            <a:lstStyle/>
            <a:p>
              <a:pPr algn="ctr"/>
              <a:endParaRPr/>
            </a:p>
          </p:txBody>
        </p:sp>
        <p:sp>
          <p:nvSpPr>
            <p:cNvPr id="103" name="Rectangle 102"/>
            <p:cNvSpPr/>
            <p:nvPr/>
          </p:nvSpPr>
          <p:spPr>
            <a:xfrm>
              <a:off x="6264836" y="3106535"/>
              <a:ext cx="49156" cy="103775"/>
            </a:xfrm>
            <a:prstGeom prst="rect">
              <a:avLst/>
            </a:prstGeom>
            <a:solidFill>
              <a:srgbClr val="1B1D21"/>
            </a:solidFill>
            <a:ln w="12700">
              <a:solidFill>
                <a:srgbClr val="9AA0A6"/>
              </a:solidFill>
            </a:ln>
          </p:spPr>
          <p:txBody>
            <a:bodyPr rtlCol="0" anchor="ctr"/>
            <a:lstStyle/>
            <a:p>
              <a:pPr algn="ctr"/>
              <a:endParaRPr/>
            </a:p>
          </p:txBody>
        </p:sp>
        <p:sp>
          <p:nvSpPr>
            <p:cNvPr id="104" name="Rectangle 103"/>
            <p:cNvSpPr/>
            <p:nvPr/>
          </p:nvSpPr>
          <p:spPr>
            <a:xfrm>
              <a:off x="6275760" y="3057379"/>
              <a:ext cx="27309" cy="54618"/>
            </a:xfrm>
            <a:prstGeom prst="rect">
              <a:avLst/>
            </a:prstGeom>
            <a:solidFill>
              <a:srgbClr val="1B1D21"/>
            </a:solidFill>
            <a:ln w="12700">
              <a:solidFill>
                <a:srgbClr val="9AA0A6"/>
              </a:solidFill>
            </a:ln>
          </p:spPr>
          <p:txBody>
            <a:bodyPr rtlCol="0" anchor="ctr"/>
            <a:lstStyle/>
            <a:p>
              <a:pPr algn="ctr"/>
              <a:endParaRPr/>
            </a:p>
          </p:txBody>
        </p:sp>
        <p:sp>
          <p:nvSpPr>
            <p:cNvPr id="105" name="Rectangle 104"/>
            <p:cNvSpPr/>
            <p:nvPr/>
          </p:nvSpPr>
          <p:spPr>
            <a:xfrm>
              <a:off x="6264836" y="3046455"/>
              <a:ext cx="49156" cy="16385"/>
            </a:xfrm>
            <a:prstGeom prst="rect">
              <a:avLst/>
            </a:prstGeom>
            <a:solidFill>
              <a:srgbClr val="1B1D21"/>
            </a:solidFill>
            <a:ln w="12700">
              <a:solidFill>
                <a:srgbClr val="9AA0A6"/>
              </a:solidFill>
            </a:ln>
          </p:spPr>
          <p:txBody>
            <a:bodyPr rtlCol="0" anchor="ctr"/>
            <a:lstStyle/>
            <a:p>
              <a:pPr algn="ctr"/>
              <a:endParaRPr/>
            </a:p>
          </p:txBody>
        </p:sp>
        <p:sp>
          <p:nvSpPr>
            <p:cNvPr id="106" name="Rounded Rectangle 105"/>
            <p:cNvSpPr/>
            <p:nvPr/>
          </p:nvSpPr>
          <p:spPr>
            <a:xfrm>
              <a:off x="6040900" y="3079226"/>
              <a:ext cx="54618" cy="32771"/>
            </a:xfrm>
            <a:prstGeom prst="roundRect">
              <a:avLst>
                <a:gd name="adj" fmla="val 50000"/>
              </a:avLst>
            </a:prstGeom>
            <a:solidFill>
              <a:srgbClr val="F28C28"/>
            </a:solidFill>
            <a:ln>
              <a:noFill/>
            </a:ln>
          </p:spPr>
          <p:txBody>
            <a:bodyPr rtlCol="0" anchor="ctr"/>
            <a:lstStyle/>
            <a:p>
              <a:pPr algn="ctr"/>
              <a:endParaRPr/>
            </a:p>
          </p:txBody>
        </p:sp>
        <p:sp>
          <p:nvSpPr>
            <p:cNvPr id="107" name="Rectangle 106"/>
            <p:cNvSpPr/>
            <p:nvPr/>
          </p:nvSpPr>
          <p:spPr>
            <a:xfrm>
              <a:off x="5795117" y="3068302"/>
              <a:ext cx="163855" cy="147470"/>
            </a:xfrm>
            <a:prstGeom prst="rect">
              <a:avLst/>
            </a:prstGeom>
            <a:solidFill>
              <a:srgbClr val="F28C28"/>
            </a:solidFill>
            <a:ln>
              <a:noFill/>
            </a:ln>
          </p:spPr>
          <p:txBody>
            <a:bodyPr rtlCol="0" anchor="ctr"/>
            <a:lstStyle/>
            <a:p>
              <a:pPr algn="ctr"/>
              <a:endParaRPr/>
            </a:p>
          </p:txBody>
        </p:sp>
        <p:sp>
          <p:nvSpPr>
            <p:cNvPr id="108" name="Rectangle 107"/>
            <p:cNvSpPr/>
            <p:nvPr/>
          </p:nvSpPr>
          <p:spPr>
            <a:xfrm>
              <a:off x="5786924" y="3054648"/>
              <a:ext cx="180241" cy="19116"/>
            </a:xfrm>
            <a:prstGeom prst="rect">
              <a:avLst/>
            </a:prstGeom>
            <a:solidFill>
              <a:srgbClr val="1B1D21"/>
            </a:solidFill>
            <a:ln w="12700">
              <a:solidFill>
                <a:srgbClr val="9AA0A6"/>
              </a:solidFill>
            </a:ln>
          </p:spPr>
          <p:txBody>
            <a:bodyPr rtlCol="0" anchor="ctr"/>
            <a:lstStyle/>
            <a:p>
              <a:pPr algn="ctr"/>
              <a:endParaRPr/>
            </a:p>
          </p:txBody>
        </p:sp>
        <p:sp>
          <p:nvSpPr>
            <p:cNvPr id="109" name="Rectangle 108"/>
            <p:cNvSpPr/>
            <p:nvPr/>
          </p:nvSpPr>
          <p:spPr>
            <a:xfrm>
              <a:off x="5833350" y="3101074"/>
              <a:ext cx="71004" cy="54618"/>
            </a:xfrm>
            <a:prstGeom prst="rect">
              <a:avLst/>
            </a:prstGeom>
            <a:solidFill>
              <a:srgbClr val="1B1D21"/>
            </a:solidFill>
            <a:ln>
              <a:noFill/>
            </a:ln>
          </p:spPr>
          <p:txBody>
            <a:bodyPr rtlCol="0" anchor="ctr"/>
            <a:lstStyle/>
            <a:p>
              <a:pPr algn="ctr"/>
              <a:endParaRPr/>
            </a:p>
          </p:txBody>
        </p:sp>
        <p:sp>
          <p:nvSpPr>
            <p:cNvPr id="110" name="Rounded Rectangle 109"/>
            <p:cNvSpPr/>
            <p:nvPr/>
          </p:nvSpPr>
          <p:spPr>
            <a:xfrm>
              <a:off x="6537960" y="2468880"/>
              <a:ext cx="960120" cy="1417320"/>
            </a:xfrm>
            <a:prstGeom prst="roundRect">
              <a:avLst>
                <a:gd name="adj" fmla="val 7619"/>
              </a:avLst>
            </a:prstGeom>
            <a:solidFill>
              <a:srgbClr val="2B2F36"/>
            </a:solidFill>
            <a:ln w="19050">
              <a:solidFill>
                <a:srgbClr val="9AA0A6"/>
              </a:solidFill>
            </a:ln>
          </p:spPr>
          <p:txBody>
            <a:bodyPr rtlCol="0" anchor="ctr"/>
            <a:lstStyle/>
            <a:p>
              <a:pPr algn="ctr"/>
              <a:endParaRPr/>
            </a:p>
          </p:txBody>
        </p:sp>
        <p:sp>
          <p:nvSpPr>
            <p:cNvPr id="111" name="Rectangle 110"/>
            <p:cNvSpPr/>
            <p:nvPr/>
          </p:nvSpPr>
          <p:spPr>
            <a:xfrm>
              <a:off x="6652260" y="3232404"/>
              <a:ext cx="708660" cy="45720"/>
            </a:xfrm>
            <a:prstGeom prst="rect">
              <a:avLst/>
            </a:prstGeom>
            <a:solidFill>
              <a:srgbClr val="1B1D21"/>
            </a:solidFill>
            <a:ln w="12700">
              <a:solidFill>
                <a:srgbClr val="9AA0A6"/>
              </a:solidFill>
            </a:ln>
          </p:spPr>
          <p:txBody>
            <a:bodyPr rtlCol="0" anchor="ctr"/>
            <a:lstStyle/>
            <a:p>
              <a:pPr algn="ctr"/>
              <a:endParaRPr/>
            </a:p>
          </p:txBody>
        </p:sp>
        <p:sp>
          <p:nvSpPr>
            <p:cNvPr id="112" name="Oval 111"/>
            <p:cNvSpPr/>
            <p:nvPr/>
          </p:nvSpPr>
          <p:spPr>
            <a:xfrm>
              <a:off x="6711696" y="326898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13" name="Oval 112"/>
            <p:cNvSpPr/>
            <p:nvPr/>
          </p:nvSpPr>
          <p:spPr>
            <a:xfrm>
              <a:off x="6766560" y="3323844"/>
              <a:ext cx="27432" cy="27432"/>
            </a:xfrm>
            <a:prstGeom prst="ellipse">
              <a:avLst/>
            </a:prstGeom>
            <a:solidFill>
              <a:srgbClr val="9AA0A6"/>
            </a:solidFill>
            <a:ln>
              <a:noFill/>
            </a:ln>
          </p:spPr>
          <p:txBody>
            <a:bodyPr rtlCol="0" anchor="ctr"/>
            <a:lstStyle/>
            <a:p>
              <a:pPr algn="ctr"/>
              <a:endParaRPr/>
            </a:p>
          </p:txBody>
        </p:sp>
        <p:sp>
          <p:nvSpPr>
            <p:cNvPr id="114" name="Oval 113"/>
            <p:cNvSpPr/>
            <p:nvPr/>
          </p:nvSpPr>
          <p:spPr>
            <a:xfrm>
              <a:off x="6974586" y="326898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15" name="Oval 114"/>
            <p:cNvSpPr/>
            <p:nvPr/>
          </p:nvSpPr>
          <p:spPr>
            <a:xfrm>
              <a:off x="7029450" y="3323844"/>
              <a:ext cx="27432" cy="27432"/>
            </a:xfrm>
            <a:prstGeom prst="ellipse">
              <a:avLst/>
            </a:prstGeom>
            <a:solidFill>
              <a:srgbClr val="9AA0A6"/>
            </a:solidFill>
            <a:ln>
              <a:noFill/>
            </a:ln>
          </p:spPr>
          <p:txBody>
            <a:bodyPr rtlCol="0" anchor="ctr"/>
            <a:lstStyle/>
            <a:p>
              <a:pPr algn="ctr"/>
              <a:endParaRPr/>
            </a:p>
          </p:txBody>
        </p:sp>
        <p:sp>
          <p:nvSpPr>
            <p:cNvPr id="116" name="Oval 115"/>
            <p:cNvSpPr/>
            <p:nvPr/>
          </p:nvSpPr>
          <p:spPr>
            <a:xfrm>
              <a:off x="7237476" y="326898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17" name="Oval 116"/>
            <p:cNvSpPr/>
            <p:nvPr/>
          </p:nvSpPr>
          <p:spPr>
            <a:xfrm>
              <a:off x="7292340" y="3323844"/>
              <a:ext cx="27432" cy="27432"/>
            </a:xfrm>
            <a:prstGeom prst="ellipse">
              <a:avLst/>
            </a:prstGeom>
            <a:solidFill>
              <a:srgbClr val="9AA0A6"/>
            </a:solidFill>
            <a:ln>
              <a:noFill/>
            </a:ln>
          </p:spPr>
          <p:txBody>
            <a:bodyPr rtlCol="0" anchor="ctr"/>
            <a:lstStyle/>
            <a:p>
              <a:pPr algn="ctr"/>
              <a:endParaRPr/>
            </a:p>
          </p:txBody>
        </p:sp>
        <p:cxnSp>
          <p:nvCxnSpPr>
            <p:cNvPr id="118" name="Connector 117"/>
            <p:cNvCxnSpPr/>
            <p:nvPr/>
          </p:nvCxnSpPr>
          <p:spPr>
            <a:xfrm>
              <a:off x="6780276" y="3337560"/>
              <a:ext cx="525780" cy="0"/>
            </a:xfrm>
            <a:prstGeom prst="line">
              <a:avLst/>
            </a:prstGeom>
            <a:ln w="19050">
              <a:solidFill>
                <a:srgbClr val="9AA0A6"/>
              </a:solidFill>
            </a:ln>
          </p:spPr>
        </p:cxnSp>
        <p:sp>
          <p:nvSpPr>
            <p:cNvPr id="119" name="Rounded Rectangle 118"/>
            <p:cNvSpPr/>
            <p:nvPr/>
          </p:nvSpPr>
          <p:spPr>
            <a:xfrm>
              <a:off x="6926580" y="3058668"/>
              <a:ext cx="434340" cy="173736"/>
            </a:xfrm>
            <a:prstGeom prst="roundRect">
              <a:avLst>
                <a:gd name="adj" fmla="val 31578"/>
              </a:avLst>
            </a:prstGeom>
            <a:solidFill>
              <a:srgbClr val="F28C28"/>
            </a:solidFill>
            <a:ln>
              <a:noFill/>
            </a:ln>
          </p:spPr>
          <p:txBody>
            <a:bodyPr rtlCol="0" anchor="ctr"/>
            <a:lstStyle/>
            <a:p>
              <a:pPr algn="ctr"/>
              <a:endParaRPr/>
            </a:p>
          </p:txBody>
        </p:sp>
        <p:sp>
          <p:nvSpPr>
            <p:cNvPr id="120" name="Rounded Rectangle 119"/>
            <p:cNvSpPr/>
            <p:nvPr/>
          </p:nvSpPr>
          <p:spPr>
            <a:xfrm>
              <a:off x="6944868" y="3122676"/>
              <a:ext cx="306323" cy="118872"/>
            </a:xfrm>
            <a:prstGeom prst="roundRect">
              <a:avLst>
                <a:gd name="adj" fmla="val 30769"/>
              </a:avLst>
            </a:prstGeom>
            <a:solidFill>
              <a:srgbClr val="F28C28"/>
            </a:solidFill>
            <a:ln w="15875">
              <a:solidFill>
                <a:srgbClr val="1B1D21"/>
              </a:solidFill>
            </a:ln>
          </p:spPr>
          <p:txBody>
            <a:bodyPr rtlCol="0" anchor="ctr"/>
            <a:lstStyle/>
            <a:p>
              <a:pPr algn="ctr"/>
              <a:endParaRPr/>
            </a:p>
          </p:txBody>
        </p:sp>
        <p:sp>
          <p:nvSpPr>
            <p:cNvPr id="121" name="Rectangle 120"/>
            <p:cNvSpPr/>
            <p:nvPr/>
          </p:nvSpPr>
          <p:spPr>
            <a:xfrm>
              <a:off x="7278624" y="3058668"/>
              <a:ext cx="82296" cy="173736"/>
            </a:xfrm>
            <a:prstGeom prst="rect">
              <a:avLst/>
            </a:prstGeom>
            <a:solidFill>
              <a:srgbClr val="1B1D21"/>
            </a:solidFill>
            <a:ln w="12700">
              <a:solidFill>
                <a:srgbClr val="9AA0A6"/>
              </a:solidFill>
            </a:ln>
          </p:spPr>
          <p:txBody>
            <a:bodyPr rtlCol="0" anchor="ctr"/>
            <a:lstStyle/>
            <a:p>
              <a:pPr algn="ctr"/>
              <a:endParaRPr/>
            </a:p>
          </p:txBody>
        </p:sp>
        <p:sp>
          <p:nvSpPr>
            <p:cNvPr id="122" name="Rectangle 121"/>
            <p:cNvSpPr/>
            <p:nvPr/>
          </p:nvSpPr>
          <p:spPr>
            <a:xfrm>
              <a:off x="7296912" y="2976372"/>
              <a:ext cx="45720" cy="91440"/>
            </a:xfrm>
            <a:prstGeom prst="rect">
              <a:avLst/>
            </a:prstGeom>
            <a:solidFill>
              <a:srgbClr val="1B1D21"/>
            </a:solidFill>
            <a:ln w="12700">
              <a:solidFill>
                <a:srgbClr val="9AA0A6"/>
              </a:solidFill>
            </a:ln>
          </p:spPr>
          <p:txBody>
            <a:bodyPr rtlCol="0" anchor="ctr"/>
            <a:lstStyle/>
            <a:p>
              <a:pPr algn="ctr"/>
              <a:endParaRPr/>
            </a:p>
          </p:txBody>
        </p:sp>
        <p:sp>
          <p:nvSpPr>
            <p:cNvPr id="123" name="Rectangle 122"/>
            <p:cNvSpPr/>
            <p:nvPr/>
          </p:nvSpPr>
          <p:spPr>
            <a:xfrm>
              <a:off x="7278624" y="2958084"/>
              <a:ext cx="82296" cy="27432"/>
            </a:xfrm>
            <a:prstGeom prst="rect">
              <a:avLst/>
            </a:prstGeom>
            <a:solidFill>
              <a:srgbClr val="1B1D21"/>
            </a:solidFill>
            <a:ln w="12700">
              <a:solidFill>
                <a:srgbClr val="9AA0A6"/>
              </a:solidFill>
            </a:ln>
          </p:spPr>
          <p:txBody>
            <a:bodyPr rtlCol="0" anchor="ctr"/>
            <a:lstStyle/>
            <a:p>
              <a:pPr algn="ctr"/>
              <a:endParaRPr/>
            </a:p>
          </p:txBody>
        </p:sp>
        <p:sp>
          <p:nvSpPr>
            <p:cNvPr id="124" name="Rounded Rectangle 123"/>
            <p:cNvSpPr/>
            <p:nvPr/>
          </p:nvSpPr>
          <p:spPr>
            <a:xfrm>
              <a:off x="7063740" y="3012948"/>
              <a:ext cx="91440" cy="54864"/>
            </a:xfrm>
            <a:prstGeom prst="roundRect">
              <a:avLst>
                <a:gd name="adj" fmla="val 50000"/>
              </a:avLst>
            </a:prstGeom>
            <a:solidFill>
              <a:srgbClr val="F28C28"/>
            </a:solidFill>
            <a:ln>
              <a:noFill/>
            </a:ln>
          </p:spPr>
          <p:txBody>
            <a:bodyPr rtlCol="0" anchor="ctr"/>
            <a:lstStyle/>
            <a:p>
              <a:pPr algn="ctr"/>
              <a:endParaRPr/>
            </a:p>
          </p:txBody>
        </p:sp>
        <p:sp>
          <p:nvSpPr>
            <p:cNvPr id="125" name="Rectangle 124"/>
            <p:cNvSpPr/>
            <p:nvPr/>
          </p:nvSpPr>
          <p:spPr>
            <a:xfrm>
              <a:off x="6652260" y="2994660"/>
              <a:ext cx="274320" cy="246888"/>
            </a:xfrm>
            <a:prstGeom prst="rect">
              <a:avLst/>
            </a:prstGeom>
            <a:solidFill>
              <a:srgbClr val="F28C28"/>
            </a:solidFill>
            <a:ln>
              <a:noFill/>
            </a:ln>
          </p:spPr>
          <p:txBody>
            <a:bodyPr rtlCol="0" anchor="ctr"/>
            <a:lstStyle/>
            <a:p>
              <a:pPr algn="ctr"/>
              <a:endParaRPr/>
            </a:p>
          </p:txBody>
        </p:sp>
        <p:sp>
          <p:nvSpPr>
            <p:cNvPr id="126" name="Rectangle 125"/>
            <p:cNvSpPr/>
            <p:nvPr/>
          </p:nvSpPr>
          <p:spPr>
            <a:xfrm>
              <a:off x="6638544" y="2971800"/>
              <a:ext cx="301751" cy="32004"/>
            </a:xfrm>
            <a:prstGeom prst="rect">
              <a:avLst/>
            </a:prstGeom>
            <a:solidFill>
              <a:srgbClr val="1B1D21"/>
            </a:solidFill>
            <a:ln w="12700">
              <a:solidFill>
                <a:srgbClr val="9AA0A6"/>
              </a:solidFill>
            </a:ln>
          </p:spPr>
          <p:txBody>
            <a:bodyPr rtlCol="0" anchor="ctr"/>
            <a:lstStyle/>
            <a:p>
              <a:pPr algn="ctr"/>
              <a:endParaRPr/>
            </a:p>
          </p:txBody>
        </p:sp>
        <p:sp>
          <p:nvSpPr>
            <p:cNvPr id="127" name="Rectangle 126"/>
            <p:cNvSpPr/>
            <p:nvPr/>
          </p:nvSpPr>
          <p:spPr>
            <a:xfrm>
              <a:off x="6716268" y="3049524"/>
              <a:ext cx="118872" cy="91440"/>
            </a:xfrm>
            <a:prstGeom prst="rect">
              <a:avLst/>
            </a:prstGeom>
            <a:solidFill>
              <a:srgbClr val="1B1D21"/>
            </a:solidFill>
            <a:ln>
              <a:noFill/>
            </a:ln>
          </p:spPr>
          <p:txBody>
            <a:bodyPr rtlCol="0" anchor="ctr"/>
            <a:lstStyle/>
            <a:p>
              <a:pPr algn="ctr"/>
              <a:endParaRPr/>
            </a:p>
          </p:txBody>
        </p:sp>
        <p:sp>
          <p:nvSpPr>
            <p:cNvPr id="128" name="Rounded Rectangle 127"/>
            <p:cNvSpPr/>
            <p:nvPr/>
          </p:nvSpPr>
          <p:spPr>
            <a:xfrm>
              <a:off x="7680960" y="2286000"/>
              <a:ext cx="146304" cy="1783080"/>
            </a:xfrm>
            <a:prstGeom prst="roundRect">
              <a:avLst>
                <a:gd name="adj" fmla="val 25000"/>
              </a:avLst>
            </a:prstGeom>
            <a:solidFill>
              <a:srgbClr val="9AA0A6"/>
            </a:solidFill>
            <a:ln>
              <a:noFill/>
            </a:ln>
          </p:spPr>
          <p:txBody>
            <a:bodyPr rtlCol="0" anchor="ctr"/>
            <a:lstStyle/>
            <a:p>
              <a:pPr algn="ctr"/>
              <a:endParaRPr/>
            </a:p>
          </p:txBody>
        </p:sp>
        <p:sp>
          <p:nvSpPr>
            <p:cNvPr id="129" name="Rounded Rectangle 128"/>
            <p:cNvSpPr/>
            <p:nvPr/>
          </p:nvSpPr>
          <p:spPr>
            <a:xfrm>
              <a:off x="8101584" y="2468880"/>
              <a:ext cx="960120" cy="1417320"/>
            </a:xfrm>
            <a:prstGeom prst="roundRect">
              <a:avLst>
                <a:gd name="adj" fmla="val 7619"/>
              </a:avLst>
            </a:prstGeom>
            <a:solidFill>
              <a:srgbClr val="2B2F36"/>
            </a:solidFill>
            <a:ln w="19050">
              <a:solidFill>
                <a:srgbClr val="A9B0B8"/>
              </a:solidFill>
              <a:prstDash val="sysDot"/>
            </a:ln>
          </p:spPr>
          <p:txBody>
            <a:bodyPr rtlCol="0" anchor="ctr"/>
            <a:lstStyle/>
            <a:p>
              <a:pPr algn="ctr"/>
              <a:endParaRPr/>
            </a:p>
          </p:txBody>
        </p:sp>
        <p:sp>
          <p:nvSpPr>
            <p:cNvPr id="130" name="Rounded Rectangle 129"/>
            <p:cNvSpPr/>
            <p:nvPr/>
          </p:nvSpPr>
          <p:spPr>
            <a:xfrm>
              <a:off x="9198864" y="2468880"/>
              <a:ext cx="960120" cy="1417320"/>
            </a:xfrm>
            <a:prstGeom prst="roundRect">
              <a:avLst>
                <a:gd name="adj" fmla="val 7619"/>
              </a:avLst>
            </a:prstGeom>
            <a:solidFill>
              <a:srgbClr val="2B2F36"/>
            </a:solidFill>
            <a:ln w="19050">
              <a:solidFill>
                <a:srgbClr val="A9B0B8"/>
              </a:solidFill>
              <a:prstDash val="sysDot"/>
            </a:ln>
          </p:spPr>
          <p:txBody>
            <a:bodyPr rtlCol="0" anchor="ctr"/>
            <a:lstStyle/>
            <a:p>
              <a:pPr algn="ctr"/>
              <a:endParaRPr/>
            </a:p>
          </p:txBody>
        </p:sp>
        <p:sp>
          <p:nvSpPr>
            <p:cNvPr id="131" name="Rounded Rectangle 130"/>
            <p:cNvSpPr/>
            <p:nvPr/>
          </p:nvSpPr>
          <p:spPr>
            <a:xfrm>
              <a:off x="10296144" y="2468880"/>
              <a:ext cx="960120" cy="1417320"/>
            </a:xfrm>
            <a:prstGeom prst="roundRect">
              <a:avLst>
                <a:gd name="adj" fmla="val 7619"/>
              </a:avLst>
            </a:prstGeom>
            <a:solidFill>
              <a:srgbClr val="2B2F36"/>
            </a:solidFill>
            <a:ln w="19050">
              <a:solidFill>
                <a:srgbClr val="A9B0B8"/>
              </a:solidFill>
              <a:prstDash val="sysDot"/>
            </a:ln>
          </p:spPr>
          <p:txBody>
            <a:bodyPr rtlCol="0" anchor="ctr"/>
            <a:lstStyle/>
            <a:p>
              <a:pPr algn="ctr"/>
              <a:endParaRPr/>
            </a:p>
          </p:txBody>
        </p:sp>
        <p:sp>
          <p:nvSpPr>
            <p:cNvPr id="132" name="Rounded Rectangle 131"/>
            <p:cNvSpPr/>
            <p:nvPr/>
          </p:nvSpPr>
          <p:spPr>
            <a:xfrm>
              <a:off x="868680" y="3931920"/>
              <a:ext cx="10570463" cy="146304"/>
            </a:xfrm>
            <a:prstGeom prst="roundRect">
              <a:avLst>
                <a:gd name="adj" fmla="val 25000"/>
              </a:avLst>
            </a:prstGeom>
            <a:solidFill>
              <a:srgbClr val="6B5B4B"/>
            </a:solidFill>
            <a:ln>
              <a:noFill/>
            </a:ln>
          </p:spPr>
          <p:txBody>
            <a:bodyPr rtlCol="0" anchor="ctr"/>
            <a:lstStyle/>
            <a:p>
              <a:pPr algn="ctr"/>
              <a:endParaRPr/>
            </a:p>
          </p:txBody>
        </p:sp>
      </p:grpSp>
      <p:sp>
        <p:nvSpPr>
          <p:cNvPr id="133" name="Inline chip: Proposed"/>
          <p:cNvSpPr/>
          <p:nvPr/>
        </p:nvSpPr>
        <p:spPr>
          <a:xfrm>
            <a:off x="1051560" y="4526280"/>
            <a:ext cx="3907178" cy="310896"/>
          </a:xfrm>
          <a:prstGeom prst="roundRect">
            <a:avLst>
              <a:gd name="adj" fmla="val 29411"/>
            </a:avLst>
          </a:prstGeom>
          <a:solidFill>
            <a:srgbClr val="B084F5"/>
          </a:solidFill>
          <a:ln>
            <a:noFill/>
          </a:ln>
        </p:spPr>
        <p:txBody>
          <a:bodyPr wrap="none" lIns="45720" tIns="0" rIns="45720" bIns="0" rtlCol="0" anchor="ctr">
            <a:noAutofit/>
          </a:bodyPr>
          <a:lstStyle/>
          <a:p>
            <a:pPr algn="ctr"/>
            <a:r>
              <a:rPr lang="en-GB" sz="1400" b="1" i="0">
                <a:solidFill>
                  <a:srgbClr val="101418"/>
                </a:solidFill>
                <a:latin typeface="Arial"/>
              </a:rPr>
              <a:t>PROPOSED · </a:t>
            </a:r>
            <a:r>
              <a:rPr lang="en-GB" sz="1400" b="0" i="0">
                <a:solidFill>
                  <a:srgbClr val="101418"/>
                </a:solidFill>
                <a:latin typeface="Arial"/>
              </a:rPr>
              <a:t>Lots of variety: an aspiration</a:t>
            </a:r>
            <a:endParaRPr lang="en-GB" sz="1400"/>
          </a:p>
        </p:txBody>
      </p:sp>
      <p:sp>
        <p:nvSpPr>
          <p:cNvPr id="134" name="Inline chip: Undecided"/>
          <p:cNvSpPr/>
          <p:nvPr/>
        </p:nvSpPr>
        <p:spPr>
          <a:xfrm>
            <a:off x="8101584" y="4526280"/>
            <a:ext cx="2362332"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Total: undecided (OQ20)</a:t>
            </a:r>
            <a:endParaRPr lang="en-GB" sz="1400"/>
          </a:p>
        </p:txBody>
      </p:sp>
      <p:sp>
        <p:nvSpPr>
          <p:cNvPr id="135"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The number of engines is capped on purpose, so choice stays clear.</a:t>
            </a:r>
            <a:endParaRPr lang="en-GB" sz="2000"/>
          </a:p>
        </p:txBody>
      </p:sp>
      <p:sp>
        <p:nvSpPr>
          <p:cNvPr id="136"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137"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11</a:t>
            </a:r>
            <a:endParaRPr lang="en-GB" sz="1400"/>
          </a:p>
        </p:txBody>
      </p:sp>
    </p:spTree>
    <p:extLst>
      <p:ext uri="{BB962C8B-B14F-4D97-AF65-F5344CB8AC3E}">
        <p14:creationId xmlns:p14="http://schemas.microsoft.com/office/powerpoint/2010/main" val="30953227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33"/>
                                        </p:tgtEl>
                                        <p:attrNameLst>
                                          <p:attrName>style.visibility</p:attrName>
                                        </p:attrNameLst>
                                      </p:cBhvr>
                                      <p:to>
                                        <p:strVal val="visible"/>
                                      </p:to>
                                    </p:set>
                                    <p:animEffect transition="in" filter="fade">
                                      <p:cBhvr>
                                        <p:cTn id="10" dur="500"/>
                                        <p:tgtEl>
                                          <p:spTgt spid="133"/>
                                        </p:tgtEl>
                                      </p:cBhvr>
                                    </p:animEffect>
                                  </p:childTnLst>
                                </p:cTn>
                              </p:par>
                              <p:par>
                                <p:cTn id="11" presetID="10" presetClass="entr" presetSubtype="0" fill="hold" nodeType="withEffect">
                                  <p:stCondLst>
                                    <p:cond delay="600"/>
                                  </p:stCondLst>
                                  <p:childTnLst>
                                    <p:set>
                                      <p:cBhvr>
                                        <p:cTn id="12" dur="1" fill="hold">
                                          <p:stCondLst>
                                            <p:cond delay="0"/>
                                          </p:stCondLst>
                                        </p:cTn>
                                        <p:tgtEl>
                                          <p:spTgt spid="134"/>
                                        </p:tgtEl>
                                        <p:attrNameLst>
                                          <p:attrName>style.visibility</p:attrName>
                                        </p:attrNameLst>
                                      </p:cBhvr>
                                      <p:to>
                                        <p:strVal val="visible"/>
                                      </p:to>
                                    </p:set>
                                    <p:animEffect transition="in" filter="fade">
                                      <p:cBhvr>
                                        <p:cTn id="13" dur="500"/>
                                        <p:tgtEl>
                                          <p:spTgt spid="134"/>
                                        </p:tgtEl>
                                      </p:cBhvr>
                                    </p:animEffect>
                                  </p:childTnLst>
                                </p:cTn>
                              </p:par>
                              <p:par>
                                <p:cTn id="14" presetID="10" presetClass="entr" presetSubtype="0" fill="hold" nodeType="withEffect">
                                  <p:stCondLst>
                                    <p:cond delay="900"/>
                                  </p:stCondLst>
                                  <p:childTnLst>
                                    <p:set>
                                      <p:cBhvr>
                                        <p:cTn id="15" dur="1" fill="hold">
                                          <p:stCondLst>
                                            <p:cond delay="0"/>
                                          </p:stCondLst>
                                        </p:cTn>
                                        <p:tgtEl>
                                          <p:spTgt spid="135"/>
                                        </p:tgtEl>
                                        <p:attrNameLst>
                                          <p:attrName>style.visibility</p:attrName>
                                        </p:attrNameLst>
                                      </p:cBhvr>
                                      <p:to>
                                        <p:strVal val="visible"/>
                                      </p:to>
                                    </p:set>
                                    <p:animEffect transition="in" filter="fade">
                                      <p:cBhvr>
                                        <p:cTn id="16" dur="500"/>
                                        <p:tgtEl>
                                          <p:spTgt spid="135"/>
                                        </p:tgtEl>
                                      </p:cBhvr>
                                    </p:animEffect>
                                  </p:childTnLst>
                                </p:cTn>
                              </p:par>
                              <p:par>
                                <p:cTn id="17" presetID="10" presetClass="entr" presetSubtype="0" fill="hold" nodeType="withEffect">
                                  <p:stCondLst>
                                    <p:cond delay="1200"/>
                                  </p:stCondLst>
                                  <p:childTnLst>
                                    <p:set>
                                      <p:cBhvr>
                                        <p:cTn id="18" dur="1" fill="hold">
                                          <p:stCondLst>
                                            <p:cond delay="0"/>
                                          </p:stCondLst>
                                        </p:cTn>
                                        <p:tgtEl>
                                          <p:spTgt spid="136"/>
                                        </p:tgtEl>
                                        <p:attrNameLst>
                                          <p:attrName>style.visibility</p:attrName>
                                        </p:attrNameLst>
                                      </p:cBhvr>
                                      <p:to>
                                        <p:strVal val="visible"/>
                                      </p:to>
                                    </p:set>
                                    <p:animEffect transition="in" filter="fade">
                                      <p:cBhvr>
                                        <p:cTn id="19" dur="500"/>
                                        <p:tgtEl>
                                          <p:spTgt spid="1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Regions need not match</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sp>
        <p:nvSpPr>
          <p:cNvPr id="4" name="Label: Region A"/>
          <p:cNvSpPr txBox="1"/>
          <p:nvPr/>
        </p:nvSpPr>
        <p:spPr>
          <a:xfrm>
            <a:off x="822960" y="1417320"/>
            <a:ext cx="2743200" cy="365760"/>
          </a:xfrm>
          <a:prstGeom prst="rect">
            <a:avLst/>
          </a:prstGeom>
          <a:noFill/>
        </p:spPr>
        <p:txBody>
          <a:bodyPr wrap="square" lIns="0" tIns="0" rIns="0" bIns="0" anchor="ctr">
            <a:noAutofit/>
          </a:bodyPr>
          <a:lstStyle/>
          <a:p>
            <a:pPr algn="l"/>
            <a:r>
              <a:rPr lang="en-GB" sz="1800" b="1" i="0">
                <a:solidFill>
                  <a:srgbClr val="F2F2F2"/>
                </a:solidFill>
                <a:latin typeface="Arial"/>
              </a:rPr>
              <a:t>Region A</a:t>
            </a:r>
            <a:endParaRPr lang="en-GB" sz="1800"/>
          </a:p>
        </p:txBody>
      </p:sp>
      <p:grpSp>
        <p:nvGrpSpPr>
          <p:cNvPr id="5" name="Region A shelf" descr="Region A: a shelf of engines of different shapes. The two regions have shelves of different lengths."/>
          <p:cNvGrpSpPr/>
          <p:nvPr/>
        </p:nvGrpSpPr>
        <p:grpSpPr>
          <a:xfrm>
            <a:off x="640080" y="1874519"/>
            <a:ext cx="9784080" cy="1380744"/>
            <a:chOff x="640080" y="1874519"/>
            <a:chExt cx="9784080" cy="1380744"/>
          </a:xfrm>
        </p:grpSpPr>
        <p:sp>
          <p:nvSpPr>
            <p:cNvPr id="6" name="Rounded Rectangle 5"/>
            <p:cNvSpPr/>
            <p:nvPr/>
          </p:nvSpPr>
          <p:spPr>
            <a:xfrm>
              <a:off x="822960" y="187451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7" name="Rectangle 6"/>
            <p:cNvSpPr/>
            <p:nvPr/>
          </p:nvSpPr>
          <p:spPr>
            <a:xfrm>
              <a:off x="1188720" y="2523744"/>
              <a:ext cx="708660" cy="45720"/>
            </a:xfrm>
            <a:prstGeom prst="rect">
              <a:avLst/>
            </a:prstGeom>
            <a:solidFill>
              <a:srgbClr val="1B1D21"/>
            </a:solidFill>
            <a:ln w="12700">
              <a:solidFill>
                <a:srgbClr val="9AA0A6"/>
              </a:solidFill>
            </a:ln>
          </p:spPr>
          <p:txBody>
            <a:bodyPr rtlCol="0" anchor="ctr"/>
            <a:lstStyle/>
            <a:p>
              <a:pPr algn="ctr"/>
              <a:endParaRPr/>
            </a:p>
          </p:txBody>
        </p:sp>
        <p:sp>
          <p:nvSpPr>
            <p:cNvPr id="8" name="Oval 7"/>
            <p:cNvSpPr/>
            <p:nvPr/>
          </p:nvSpPr>
          <p:spPr>
            <a:xfrm>
              <a:off x="1248156"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9" name="Oval 8"/>
            <p:cNvSpPr/>
            <p:nvPr/>
          </p:nvSpPr>
          <p:spPr>
            <a:xfrm>
              <a:off x="1303020" y="2615183"/>
              <a:ext cx="27432" cy="27432"/>
            </a:xfrm>
            <a:prstGeom prst="ellipse">
              <a:avLst/>
            </a:prstGeom>
            <a:solidFill>
              <a:srgbClr val="9AA0A6"/>
            </a:solidFill>
            <a:ln>
              <a:noFill/>
            </a:ln>
          </p:spPr>
          <p:txBody>
            <a:bodyPr rtlCol="0" anchor="ctr"/>
            <a:lstStyle/>
            <a:p>
              <a:pPr algn="ctr"/>
              <a:endParaRPr/>
            </a:p>
          </p:txBody>
        </p:sp>
        <p:sp>
          <p:nvSpPr>
            <p:cNvPr id="10" name="Oval 9"/>
            <p:cNvSpPr/>
            <p:nvPr/>
          </p:nvSpPr>
          <p:spPr>
            <a:xfrm>
              <a:off x="1511046"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1" name="Oval 10"/>
            <p:cNvSpPr/>
            <p:nvPr/>
          </p:nvSpPr>
          <p:spPr>
            <a:xfrm>
              <a:off x="1565910" y="2615183"/>
              <a:ext cx="27432" cy="27432"/>
            </a:xfrm>
            <a:prstGeom prst="ellipse">
              <a:avLst/>
            </a:prstGeom>
            <a:solidFill>
              <a:srgbClr val="9AA0A6"/>
            </a:solidFill>
            <a:ln>
              <a:noFill/>
            </a:ln>
          </p:spPr>
          <p:txBody>
            <a:bodyPr rtlCol="0" anchor="ctr"/>
            <a:lstStyle/>
            <a:p>
              <a:pPr algn="ctr"/>
              <a:endParaRPr/>
            </a:p>
          </p:txBody>
        </p:sp>
        <p:sp>
          <p:nvSpPr>
            <p:cNvPr id="12" name="Oval 11"/>
            <p:cNvSpPr/>
            <p:nvPr/>
          </p:nvSpPr>
          <p:spPr>
            <a:xfrm>
              <a:off x="1773936"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3" name="Oval 12"/>
            <p:cNvSpPr/>
            <p:nvPr/>
          </p:nvSpPr>
          <p:spPr>
            <a:xfrm>
              <a:off x="1828800" y="2615183"/>
              <a:ext cx="27432" cy="27432"/>
            </a:xfrm>
            <a:prstGeom prst="ellipse">
              <a:avLst/>
            </a:prstGeom>
            <a:solidFill>
              <a:srgbClr val="9AA0A6"/>
            </a:solidFill>
            <a:ln>
              <a:noFill/>
            </a:ln>
          </p:spPr>
          <p:txBody>
            <a:bodyPr rtlCol="0" anchor="ctr"/>
            <a:lstStyle/>
            <a:p>
              <a:pPr algn="ctr"/>
              <a:endParaRPr/>
            </a:p>
          </p:txBody>
        </p:sp>
        <p:cxnSp>
          <p:nvCxnSpPr>
            <p:cNvPr id="14" name="Connector 13"/>
            <p:cNvCxnSpPr/>
            <p:nvPr/>
          </p:nvCxnSpPr>
          <p:spPr>
            <a:xfrm>
              <a:off x="1316736" y="2628899"/>
              <a:ext cx="525780" cy="0"/>
            </a:xfrm>
            <a:prstGeom prst="line">
              <a:avLst/>
            </a:prstGeom>
            <a:ln w="19050">
              <a:solidFill>
                <a:srgbClr val="9AA0A6"/>
              </a:solidFill>
            </a:ln>
          </p:spPr>
        </p:cxnSp>
        <p:sp>
          <p:nvSpPr>
            <p:cNvPr id="15" name="Rounded Rectangle 14"/>
            <p:cNvSpPr/>
            <p:nvPr/>
          </p:nvSpPr>
          <p:spPr>
            <a:xfrm>
              <a:off x="1463040" y="2350008"/>
              <a:ext cx="434340" cy="173736"/>
            </a:xfrm>
            <a:prstGeom prst="roundRect">
              <a:avLst>
                <a:gd name="adj" fmla="val 31578"/>
              </a:avLst>
            </a:prstGeom>
            <a:solidFill>
              <a:srgbClr val="F28C28"/>
            </a:solidFill>
            <a:ln>
              <a:noFill/>
            </a:ln>
          </p:spPr>
          <p:txBody>
            <a:bodyPr rtlCol="0" anchor="ctr"/>
            <a:lstStyle/>
            <a:p>
              <a:pPr algn="ctr"/>
              <a:endParaRPr/>
            </a:p>
          </p:txBody>
        </p:sp>
        <p:sp>
          <p:nvSpPr>
            <p:cNvPr id="16" name="Rounded Rectangle 15"/>
            <p:cNvSpPr/>
            <p:nvPr/>
          </p:nvSpPr>
          <p:spPr>
            <a:xfrm>
              <a:off x="1481328" y="2414015"/>
              <a:ext cx="306323" cy="118872"/>
            </a:xfrm>
            <a:prstGeom prst="roundRect">
              <a:avLst>
                <a:gd name="adj" fmla="val 30769"/>
              </a:avLst>
            </a:prstGeom>
            <a:solidFill>
              <a:srgbClr val="F28C28"/>
            </a:solidFill>
            <a:ln w="15875">
              <a:solidFill>
                <a:srgbClr val="1B1D21"/>
              </a:solidFill>
            </a:ln>
          </p:spPr>
          <p:txBody>
            <a:bodyPr rtlCol="0" anchor="ctr"/>
            <a:lstStyle/>
            <a:p>
              <a:pPr algn="ctr"/>
              <a:endParaRPr/>
            </a:p>
          </p:txBody>
        </p:sp>
        <p:sp>
          <p:nvSpPr>
            <p:cNvPr id="17" name="Rectangle 16"/>
            <p:cNvSpPr/>
            <p:nvPr/>
          </p:nvSpPr>
          <p:spPr>
            <a:xfrm>
              <a:off x="1815084" y="2350008"/>
              <a:ext cx="82296" cy="173736"/>
            </a:xfrm>
            <a:prstGeom prst="rect">
              <a:avLst/>
            </a:prstGeom>
            <a:solidFill>
              <a:srgbClr val="1B1D21"/>
            </a:solidFill>
            <a:ln w="12700">
              <a:solidFill>
                <a:srgbClr val="9AA0A6"/>
              </a:solidFill>
            </a:ln>
          </p:spPr>
          <p:txBody>
            <a:bodyPr rtlCol="0" anchor="ctr"/>
            <a:lstStyle/>
            <a:p>
              <a:pPr algn="ctr"/>
              <a:endParaRPr/>
            </a:p>
          </p:txBody>
        </p:sp>
        <p:sp>
          <p:nvSpPr>
            <p:cNvPr id="18" name="Rectangle 17"/>
            <p:cNvSpPr/>
            <p:nvPr/>
          </p:nvSpPr>
          <p:spPr>
            <a:xfrm>
              <a:off x="1833372" y="2267711"/>
              <a:ext cx="45720" cy="91440"/>
            </a:xfrm>
            <a:prstGeom prst="rect">
              <a:avLst/>
            </a:prstGeom>
            <a:solidFill>
              <a:srgbClr val="1B1D21"/>
            </a:solidFill>
            <a:ln w="12700">
              <a:solidFill>
                <a:srgbClr val="9AA0A6"/>
              </a:solidFill>
            </a:ln>
          </p:spPr>
          <p:txBody>
            <a:bodyPr rtlCol="0" anchor="ctr"/>
            <a:lstStyle/>
            <a:p>
              <a:pPr algn="ctr"/>
              <a:endParaRPr/>
            </a:p>
          </p:txBody>
        </p:sp>
        <p:sp>
          <p:nvSpPr>
            <p:cNvPr id="19" name="Rectangle 18"/>
            <p:cNvSpPr/>
            <p:nvPr/>
          </p:nvSpPr>
          <p:spPr>
            <a:xfrm>
              <a:off x="1815084" y="2249423"/>
              <a:ext cx="82296" cy="27432"/>
            </a:xfrm>
            <a:prstGeom prst="rect">
              <a:avLst/>
            </a:prstGeom>
            <a:solidFill>
              <a:srgbClr val="1B1D21"/>
            </a:solidFill>
            <a:ln w="12700">
              <a:solidFill>
                <a:srgbClr val="9AA0A6"/>
              </a:solidFill>
            </a:ln>
          </p:spPr>
          <p:txBody>
            <a:bodyPr rtlCol="0" anchor="ctr"/>
            <a:lstStyle/>
            <a:p>
              <a:pPr algn="ctr"/>
              <a:endParaRPr/>
            </a:p>
          </p:txBody>
        </p:sp>
        <p:sp>
          <p:nvSpPr>
            <p:cNvPr id="20" name="Rounded Rectangle 19"/>
            <p:cNvSpPr/>
            <p:nvPr/>
          </p:nvSpPr>
          <p:spPr>
            <a:xfrm>
              <a:off x="1600200" y="2304287"/>
              <a:ext cx="91440" cy="54864"/>
            </a:xfrm>
            <a:prstGeom prst="roundRect">
              <a:avLst>
                <a:gd name="adj" fmla="val 50000"/>
              </a:avLst>
            </a:prstGeom>
            <a:solidFill>
              <a:srgbClr val="F28C28"/>
            </a:solidFill>
            <a:ln>
              <a:noFill/>
            </a:ln>
          </p:spPr>
          <p:txBody>
            <a:bodyPr rtlCol="0" anchor="ctr"/>
            <a:lstStyle/>
            <a:p>
              <a:pPr algn="ctr"/>
              <a:endParaRPr/>
            </a:p>
          </p:txBody>
        </p:sp>
        <p:sp>
          <p:nvSpPr>
            <p:cNvPr id="21" name="Rectangle 20"/>
            <p:cNvSpPr/>
            <p:nvPr/>
          </p:nvSpPr>
          <p:spPr>
            <a:xfrm>
              <a:off x="1188720" y="2285999"/>
              <a:ext cx="274320" cy="246888"/>
            </a:xfrm>
            <a:prstGeom prst="rect">
              <a:avLst/>
            </a:prstGeom>
            <a:solidFill>
              <a:srgbClr val="F28C28"/>
            </a:solidFill>
            <a:ln>
              <a:noFill/>
            </a:ln>
          </p:spPr>
          <p:txBody>
            <a:bodyPr rtlCol="0" anchor="ctr"/>
            <a:lstStyle/>
            <a:p>
              <a:pPr algn="ctr"/>
              <a:endParaRPr/>
            </a:p>
          </p:txBody>
        </p:sp>
        <p:sp>
          <p:nvSpPr>
            <p:cNvPr id="22" name="Rectangle 21"/>
            <p:cNvSpPr/>
            <p:nvPr/>
          </p:nvSpPr>
          <p:spPr>
            <a:xfrm>
              <a:off x="1175004" y="2263139"/>
              <a:ext cx="301751" cy="32004"/>
            </a:xfrm>
            <a:prstGeom prst="rect">
              <a:avLst/>
            </a:prstGeom>
            <a:solidFill>
              <a:srgbClr val="1B1D21"/>
            </a:solidFill>
            <a:ln w="12700">
              <a:solidFill>
                <a:srgbClr val="9AA0A6"/>
              </a:solidFill>
            </a:ln>
          </p:spPr>
          <p:txBody>
            <a:bodyPr rtlCol="0" anchor="ctr"/>
            <a:lstStyle/>
            <a:p>
              <a:pPr algn="ctr"/>
              <a:endParaRPr/>
            </a:p>
          </p:txBody>
        </p:sp>
        <p:sp>
          <p:nvSpPr>
            <p:cNvPr id="23" name="Rectangle 22"/>
            <p:cNvSpPr/>
            <p:nvPr/>
          </p:nvSpPr>
          <p:spPr>
            <a:xfrm>
              <a:off x="1252728" y="2340863"/>
              <a:ext cx="118872" cy="91440"/>
            </a:xfrm>
            <a:prstGeom prst="rect">
              <a:avLst/>
            </a:prstGeom>
            <a:solidFill>
              <a:srgbClr val="1B1D21"/>
            </a:solidFill>
            <a:ln>
              <a:noFill/>
            </a:ln>
          </p:spPr>
          <p:txBody>
            <a:bodyPr rtlCol="0" anchor="ctr"/>
            <a:lstStyle/>
            <a:p>
              <a:pPr algn="ctr"/>
              <a:endParaRPr/>
            </a:p>
          </p:txBody>
        </p:sp>
        <p:sp>
          <p:nvSpPr>
            <p:cNvPr id="24" name="Rounded Rectangle 23"/>
            <p:cNvSpPr/>
            <p:nvPr/>
          </p:nvSpPr>
          <p:spPr>
            <a:xfrm>
              <a:off x="2414016" y="187451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25" name="Rounded Rectangle 24"/>
            <p:cNvSpPr/>
            <p:nvPr/>
          </p:nvSpPr>
          <p:spPr>
            <a:xfrm>
              <a:off x="2532888" y="2395727"/>
              <a:ext cx="388620" cy="155448"/>
            </a:xfrm>
            <a:prstGeom prst="roundRect">
              <a:avLst>
                <a:gd name="adj" fmla="val 17647"/>
              </a:avLst>
            </a:prstGeom>
            <a:solidFill>
              <a:srgbClr val="2B2F36"/>
            </a:solidFill>
            <a:ln w="19050">
              <a:solidFill>
                <a:srgbClr val="F28C28"/>
              </a:solidFill>
            </a:ln>
          </p:spPr>
          <p:txBody>
            <a:bodyPr rtlCol="0" anchor="ctr"/>
            <a:lstStyle/>
            <a:p>
              <a:pPr algn="ctr"/>
              <a:endParaRPr/>
            </a:p>
          </p:txBody>
        </p:sp>
        <p:sp>
          <p:nvSpPr>
            <p:cNvPr id="26" name="Freeform 25"/>
            <p:cNvSpPr/>
            <p:nvPr/>
          </p:nvSpPr>
          <p:spPr>
            <a:xfrm>
              <a:off x="2569464" y="2331720"/>
              <a:ext cx="315468" cy="64007"/>
            </a:xfrm>
            <a:custGeom>
              <a:avLst/>
              <a:gdLst/>
              <a:ahLst/>
              <a:cxnLst/>
              <a:rect l="l" t="t" r="r" b="b"/>
              <a:pathLst>
                <a:path w="315468" h="64007">
                  <a:moveTo>
                    <a:pt x="0" y="64007"/>
                  </a:moveTo>
                  <a:lnTo>
                    <a:pt x="54864" y="9143"/>
                  </a:lnTo>
                  <a:lnTo>
                    <a:pt x="260604" y="0"/>
                  </a:lnTo>
                  <a:lnTo>
                    <a:pt x="315468" y="64007"/>
                  </a:lnTo>
                  <a:close/>
                </a:path>
              </a:pathLst>
            </a:custGeom>
            <a:solidFill>
              <a:srgbClr val="1B1D21"/>
            </a:solidFill>
            <a:ln w="12700">
              <a:solidFill>
                <a:srgbClr val="9AA0A6"/>
              </a:solidFill>
            </a:ln>
          </p:spPr>
          <p:txBody>
            <a:bodyPr rtlCol="0" anchor="ctr"/>
            <a:lstStyle/>
            <a:p>
              <a:pPr algn="ctr"/>
              <a:endParaRPr/>
            </a:p>
          </p:txBody>
        </p:sp>
        <p:sp>
          <p:nvSpPr>
            <p:cNvPr id="27" name="Oval 26"/>
            <p:cNvSpPr/>
            <p:nvPr/>
          </p:nvSpPr>
          <p:spPr>
            <a:xfrm>
              <a:off x="2606040" y="2587751"/>
              <a:ext cx="109728" cy="109728"/>
            </a:xfrm>
            <a:prstGeom prst="ellipse">
              <a:avLst/>
            </a:prstGeom>
            <a:solidFill>
              <a:srgbClr val="343A43"/>
            </a:solidFill>
            <a:ln w="12700">
              <a:solidFill>
                <a:srgbClr val="9AA0A6"/>
              </a:solidFill>
            </a:ln>
          </p:spPr>
          <p:txBody>
            <a:bodyPr rtlCol="0" anchor="ctr"/>
            <a:lstStyle/>
            <a:p>
              <a:pPr algn="ctr"/>
              <a:endParaRPr/>
            </a:p>
          </p:txBody>
        </p:sp>
        <p:sp>
          <p:nvSpPr>
            <p:cNvPr id="28" name="Oval 27"/>
            <p:cNvSpPr/>
            <p:nvPr/>
          </p:nvSpPr>
          <p:spPr>
            <a:xfrm>
              <a:off x="2738628" y="2587751"/>
              <a:ext cx="109728" cy="109728"/>
            </a:xfrm>
            <a:prstGeom prst="ellipse">
              <a:avLst/>
            </a:prstGeom>
            <a:solidFill>
              <a:srgbClr val="343A43"/>
            </a:solidFill>
            <a:ln w="12700">
              <a:solidFill>
                <a:srgbClr val="9AA0A6"/>
              </a:solidFill>
            </a:ln>
          </p:spPr>
          <p:txBody>
            <a:bodyPr rtlCol="0" anchor="ctr"/>
            <a:lstStyle/>
            <a:p>
              <a:pPr algn="ctr"/>
              <a:endParaRPr/>
            </a:p>
          </p:txBody>
        </p:sp>
        <p:cxnSp>
          <p:nvCxnSpPr>
            <p:cNvPr id="29" name="Connector 28"/>
            <p:cNvCxnSpPr/>
            <p:nvPr/>
          </p:nvCxnSpPr>
          <p:spPr>
            <a:xfrm>
              <a:off x="2921508" y="2523744"/>
              <a:ext cx="36576" cy="0"/>
            </a:xfrm>
            <a:prstGeom prst="line">
              <a:avLst/>
            </a:prstGeom>
            <a:ln w="25400">
              <a:solidFill>
                <a:srgbClr val="9AA0A6"/>
              </a:solidFill>
            </a:ln>
          </p:spPr>
        </p:cxnSp>
        <p:sp>
          <p:nvSpPr>
            <p:cNvPr id="30" name="Rectangle 29"/>
            <p:cNvSpPr/>
            <p:nvPr/>
          </p:nvSpPr>
          <p:spPr>
            <a:xfrm>
              <a:off x="2958084" y="2523744"/>
              <a:ext cx="777239" cy="45720"/>
            </a:xfrm>
            <a:prstGeom prst="rect">
              <a:avLst/>
            </a:prstGeom>
            <a:solidFill>
              <a:srgbClr val="1B1D21"/>
            </a:solidFill>
            <a:ln w="12700">
              <a:solidFill>
                <a:srgbClr val="9AA0A6"/>
              </a:solidFill>
            </a:ln>
          </p:spPr>
          <p:txBody>
            <a:bodyPr rtlCol="0" anchor="ctr"/>
            <a:lstStyle/>
            <a:p>
              <a:pPr algn="ctr"/>
              <a:endParaRPr/>
            </a:p>
          </p:txBody>
        </p:sp>
        <p:sp>
          <p:nvSpPr>
            <p:cNvPr id="31" name="Oval 30"/>
            <p:cNvSpPr/>
            <p:nvPr/>
          </p:nvSpPr>
          <p:spPr>
            <a:xfrm>
              <a:off x="3017520"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32" name="Oval 31"/>
            <p:cNvSpPr/>
            <p:nvPr/>
          </p:nvSpPr>
          <p:spPr>
            <a:xfrm>
              <a:off x="3072384" y="2615183"/>
              <a:ext cx="27432" cy="27432"/>
            </a:xfrm>
            <a:prstGeom prst="ellipse">
              <a:avLst/>
            </a:prstGeom>
            <a:solidFill>
              <a:srgbClr val="9AA0A6"/>
            </a:solidFill>
            <a:ln>
              <a:noFill/>
            </a:ln>
          </p:spPr>
          <p:txBody>
            <a:bodyPr rtlCol="0" anchor="ctr"/>
            <a:lstStyle/>
            <a:p>
              <a:pPr algn="ctr"/>
              <a:endParaRPr/>
            </a:p>
          </p:txBody>
        </p:sp>
        <p:sp>
          <p:nvSpPr>
            <p:cNvPr id="33" name="Oval 32"/>
            <p:cNvSpPr/>
            <p:nvPr/>
          </p:nvSpPr>
          <p:spPr>
            <a:xfrm>
              <a:off x="3215640"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34" name="Oval 33"/>
            <p:cNvSpPr/>
            <p:nvPr/>
          </p:nvSpPr>
          <p:spPr>
            <a:xfrm>
              <a:off x="3270504" y="2615183"/>
              <a:ext cx="27432" cy="27432"/>
            </a:xfrm>
            <a:prstGeom prst="ellipse">
              <a:avLst/>
            </a:prstGeom>
            <a:solidFill>
              <a:srgbClr val="9AA0A6"/>
            </a:solidFill>
            <a:ln>
              <a:noFill/>
            </a:ln>
          </p:spPr>
          <p:txBody>
            <a:bodyPr rtlCol="0" anchor="ctr"/>
            <a:lstStyle/>
            <a:p>
              <a:pPr algn="ctr"/>
              <a:endParaRPr/>
            </a:p>
          </p:txBody>
        </p:sp>
        <p:sp>
          <p:nvSpPr>
            <p:cNvPr id="35" name="Oval 34"/>
            <p:cNvSpPr/>
            <p:nvPr/>
          </p:nvSpPr>
          <p:spPr>
            <a:xfrm>
              <a:off x="3413760"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36" name="Oval 35"/>
            <p:cNvSpPr/>
            <p:nvPr/>
          </p:nvSpPr>
          <p:spPr>
            <a:xfrm>
              <a:off x="3468624" y="2615183"/>
              <a:ext cx="27432" cy="27432"/>
            </a:xfrm>
            <a:prstGeom prst="ellipse">
              <a:avLst/>
            </a:prstGeom>
            <a:solidFill>
              <a:srgbClr val="9AA0A6"/>
            </a:solidFill>
            <a:ln>
              <a:noFill/>
            </a:ln>
          </p:spPr>
          <p:txBody>
            <a:bodyPr rtlCol="0" anchor="ctr"/>
            <a:lstStyle/>
            <a:p>
              <a:pPr algn="ctr"/>
              <a:endParaRPr/>
            </a:p>
          </p:txBody>
        </p:sp>
        <p:sp>
          <p:nvSpPr>
            <p:cNvPr id="37" name="Oval 36"/>
            <p:cNvSpPr/>
            <p:nvPr/>
          </p:nvSpPr>
          <p:spPr>
            <a:xfrm>
              <a:off x="3611880"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38" name="Oval 37"/>
            <p:cNvSpPr/>
            <p:nvPr/>
          </p:nvSpPr>
          <p:spPr>
            <a:xfrm>
              <a:off x="3666744" y="2615183"/>
              <a:ext cx="27432" cy="27432"/>
            </a:xfrm>
            <a:prstGeom prst="ellipse">
              <a:avLst/>
            </a:prstGeom>
            <a:solidFill>
              <a:srgbClr val="9AA0A6"/>
            </a:solidFill>
            <a:ln>
              <a:noFill/>
            </a:ln>
          </p:spPr>
          <p:txBody>
            <a:bodyPr rtlCol="0" anchor="ctr"/>
            <a:lstStyle/>
            <a:p>
              <a:pPr algn="ctr"/>
              <a:endParaRPr/>
            </a:p>
          </p:txBody>
        </p:sp>
        <p:cxnSp>
          <p:nvCxnSpPr>
            <p:cNvPr id="39" name="Connector 38"/>
            <p:cNvCxnSpPr/>
            <p:nvPr/>
          </p:nvCxnSpPr>
          <p:spPr>
            <a:xfrm>
              <a:off x="3086100" y="2628899"/>
              <a:ext cx="594360" cy="0"/>
            </a:xfrm>
            <a:prstGeom prst="line">
              <a:avLst/>
            </a:prstGeom>
            <a:ln w="19050">
              <a:solidFill>
                <a:srgbClr val="9AA0A6"/>
              </a:solidFill>
            </a:ln>
          </p:spPr>
        </p:cxnSp>
        <p:sp>
          <p:nvSpPr>
            <p:cNvPr id="40" name="Rounded Rectangle 39"/>
            <p:cNvSpPr/>
            <p:nvPr/>
          </p:nvSpPr>
          <p:spPr>
            <a:xfrm>
              <a:off x="3232404" y="2350008"/>
              <a:ext cx="502920" cy="173736"/>
            </a:xfrm>
            <a:prstGeom prst="roundRect">
              <a:avLst>
                <a:gd name="adj" fmla="val 31578"/>
              </a:avLst>
            </a:prstGeom>
            <a:solidFill>
              <a:srgbClr val="F28C28"/>
            </a:solidFill>
            <a:ln>
              <a:noFill/>
            </a:ln>
          </p:spPr>
          <p:txBody>
            <a:bodyPr rtlCol="0" anchor="ctr"/>
            <a:lstStyle/>
            <a:p>
              <a:pPr algn="ctr"/>
              <a:endParaRPr/>
            </a:p>
          </p:txBody>
        </p:sp>
        <p:sp>
          <p:nvSpPr>
            <p:cNvPr id="41" name="Rectangle 40"/>
            <p:cNvSpPr/>
            <p:nvPr/>
          </p:nvSpPr>
          <p:spPr>
            <a:xfrm>
              <a:off x="3653028" y="2350008"/>
              <a:ext cx="82296" cy="173736"/>
            </a:xfrm>
            <a:prstGeom prst="rect">
              <a:avLst/>
            </a:prstGeom>
            <a:solidFill>
              <a:srgbClr val="1B1D21"/>
            </a:solidFill>
            <a:ln w="12700">
              <a:solidFill>
                <a:srgbClr val="9AA0A6"/>
              </a:solidFill>
            </a:ln>
          </p:spPr>
          <p:txBody>
            <a:bodyPr rtlCol="0" anchor="ctr"/>
            <a:lstStyle/>
            <a:p>
              <a:pPr algn="ctr"/>
              <a:endParaRPr/>
            </a:p>
          </p:txBody>
        </p:sp>
        <p:sp>
          <p:nvSpPr>
            <p:cNvPr id="42" name="Rectangle 41"/>
            <p:cNvSpPr/>
            <p:nvPr/>
          </p:nvSpPr>
          <p:spPr>
            <a:xfrm>
              <a:off x="3671315" y="2267711"/>
              <a:ext cx="45720" cy="91440"/>
            </a:xfrm>
            <a:prstGeom prst="rect">
              <a:avLst/>
            </a:prstGeom>
            <a:solidFill>
              <a:srgbClr val="1B1D21"/>
            </a:solidFill>
            <a:ln w="12700">
              <a:solidFill>
                <a:srgbClr val="9AA0A6"/>
              </a:solidFill>
            </a:ln>
          </p:spPr>
          <p:txBody>
            <a:bodyPr rtlCol="0" anchor="ctr"/>
            <a:lstStyle/>
            <a:p>
              <a:pPr algn="ctr"/>
              <a:endParaRPr/>
            </a:p>
          </p:txBody>
        </p:sp>
        <p:sp>
          <p:nvSpPr>
            <p:cNvPr id="43" name="Rectangle 42"/>
            <p:cNvSpPr/>
            <p:nvPr/>
          </p:nvSpPr>
          <p:spPr>
            <a:xfrm>
              <a:off x="3653028" y="2249423"/>
              <a:ext cx="82296" cy="27432"/>
            </a:xfrm>
            <a:prstGeom prst="rect">
              <a:avLst/>
            </a:prstGeom>
            <a:solidFill>
              <a:srgbClr val="1B1D21"/>
            </a:solidFill>
            <a:ln w="12700">
              <a:solidFill>
                <a:srgbClr val="9AA0A6"/>
              </a:solidFill>
            </a:ln>
          </p:spPr>
          <p:txBody>
            <a:bodyPr rtlCol="0" anchor="ctr"/>
            <a:lstStyle/>
            <a:p>
              <a:pPr algn="ctr"/>
              <a:endParaRPr/>
            </a:p>
          </p:txBody>
        </p:sp>
        <p:sp>
          <p:nvSpPr>
            <p:cNvPr id="44" name="Rounded Rectangle 43"/>
            <p:cNvSpPr/>
            <p:nvPr/>
          </p:nvSpPr>
          <p:spPr>
            <a:xfrm>
              <a:off x="3369564" y="2304287"/>
              <a:ext cx="91440" cy="54864"/>
            </a:xfrm>
            <a:prstGeom prst="roundRect">
              <a:avLst>
                <a:gd name="adj" fmla="val 50000"/>
              </a:avLst>
            </a:prstGeom>
            <a:solidFill>
              <a:srgbClr val="F28C28"/>
            </a:solidFill>
            <a:ln>
              <a:noFill/>
            </a:ln>
          </p:spPr>
          <p:txBody>
            <a:bodyPr rtlCol="0" anchor="ctr"/>
            <a:lstStyle/>
            <a:p>
              <a:pPr algn="ctr"/>
              <a:endParaRPr/>
            </a:p>
          </p:txBody>
        </p:sp>
        <p:sp>
          <p:nvSpPr>
            <p:cNvPr id="45" name="Rectangle 44"/>
            <p:cNvSpPr/>
            <p:nvPr/>
          </p:nvSpPr>
          <p:spPr>
            <a:xfrm>
              <a:off x="2958084" y="2285999"/>
              <a:ext cx="274320" cy="246888"/>
            </a:xfrm>
            <a:prstGeom prst="rect">
              <a:avLst/>
            </a:prstGeom>
            <a:solidFill>
              <a:srgbClr val="F28C28"/>
            </a:solidFill>
            <a:ln>
              <a:noFill/>
            </a:ln>
          </p:spPr>
          <p:txBody>
            <a:bodyPr rtlCol="0" anchor="ctr"/>
            <a:lstStyle/>
            <a:p>
              <a:pPr algn="ctr"/>
              <a:endParaRPr/>
            </a:p>
          </p:txBody>
        </p:sp>
        <p:sp>
          <p:nvSpPr>
            <p:cNvPr id="46" name="Rectangle 45"/>
            <p:cNvSpPr/>
            <p:nvPr/>
          </p:nvSpPr>
          <p:spPr>
            <a:xfrm>
              <a:off x="2944368" y="2263139"/>
              <a:ext cx="301751" cy="32004"/>
            </a:xfrm>
            <a:prstGeom prst="rect">
              <a:avLst/>
            </a:prstGeom>
            <a:solidFill>
              <a:srgbClr val="1B1D21"/>
            </a:solidFill>
            <a:ln w="12700">
              <a:solidFill>
                <a:srgbClr val="9AA0A6"/>
              </a:solidFill>
            </a:ln>
          </p:spPr>
          <p:txBody>
            <a:bodyPr rtlCol="0" anchor="ctr"/>
            <a:lstStyle/>
            <a:p>
              <a:pPr algn="ctr"/>
              <a:endParaRPr/>
            </a:p>
          </p:txBody>
        </p:sp>
        <p:sp>
          <p:nvSpPr>
            <p:cNvPr id="47" name="Rectangle 46"/>
            <p:cNvSpPr/>
            <p:nvPr/>
          </p:nvSpPr>
          <p:spPr>
            <a:xfrm>
              <a:off x="3022092" y="2340863"/>
              <a:ext cx="118872" cy="91440"/>
            </a:xfrm>
            <a:prstGeom prst="rect">
              <a:avLst/>
            </a:prstGeom>
            <a:solidFill>
              <a:srgbClr val="1B1D21"/>
            </a:solidFill>
            <a:ln>
              <a:noFill/>
            </a:ln>
          </p:spPr>
          <p:txBody>
            <a:bodyPr rtlCol="0" anchor="ctr"/>
            <a:lstStyle/>
            <a:p>
              <a:pPr algn="ctr"/>
              <a:endParaRPr/>
            </a:p>
          </p:txBody>
        </p:sp>
        <p:sp>
          <p:nvSpPr>
            <p:cNvPr id="48" name="Rounded Rectangle 47"/>
            <p:cNvSpPr/>
            <p:nvPr/>
          </p:nvSpPr>
          <p:spPr>
            <a:xfrm>
              <a:off x="4005072" y="187451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49" name="Rounded Rectangle 48"/>
            <p:cNvSpPr/>
            <p:nvPr/>
          </p:nvSpPr>
          <p:spPr>
            <a:xfrm>
              <a:off x="4078224" y="2398182"/>
              <a:ext cx="419764" cy="150231"/>
            </a:xfrm>
            <a:prstGeom prst="roundRect">
              <a:avLst>
                <a:gd name="adj" fmla="val 18259"/>
              </a:avLst>
            </a:prstGeom>
            <a:solidFill>
              <a:srgbClr val="2B2F36"/>
            </a:solidFill>
            <a:ln w="19050">
              <a:solidFill>
                <a:srgbClr val="F28C28"/>
              </a:solidFill>
            </a:ln>
          </p:spPr>
          <p:txBody>
            <a:bodyPr rtlCol="0" anchor="ctr"/>
            <a:lstStyle/>
            <a:p>
              <a:pPr algn="ctr"/>
              <a:endParaRPr/>
            </a:p>
          </p:txBody>
        </p:sp>
        <p:sp>
          <p:nvSpPr>
            <p:cNvPr id="50" name="Freeform 49"/>
            <p:cNvSpPr/>
            <p:nvPr/>
          </p:nvSpPr>
          <p:spPr>
            <a:xfrm>
              <a:off x="4113572" y="2336322"/>
              <a:ext cx="349068" cy="61860"/>
            </a:xfrm>
            <a:custGeom>
              <a:avLst/>
              <a:gdLst/>
              <a:ahLst/>
              <a:cxnLst/>
              <a:rect l="l" t="t" r="r" b="b"/>
              <a:pathLst>
                <a:path w="349068" h="61860">
                  <a:moveTo>
                    <a:pt x="0" y="61860"/>
                  </a:moveTo>
                  <a:lnTo>
                    <a:pt x="53023" y="8837"/>
                  </a:lnTo>
                  <a:lnTo>
                    <a:pt x="296045" y="0"/>
                  </a:lnTo>
                  <a:lnTo>
                    <a:pt x="349068" y="61860"/>
                  </a:lnTo>
                  <a:close/>
                </a:path>
              </a:pathLst>
            </a:custGeom>
            <a:solidFill>
              <a:srgbClr val="1B1D21"/>
            </a:solidFill>
            <a:ln w="12700">
              <a:solidFill>
                <a:srgbClr val="9AA0A6"/>
              </a:solidFill>
            </a:ln>
          </p:spPr>
          <p:txBody>
            <a:bodyPr rtlCol="0" anchor="ctr"/>
            <a:lstStyle/>
            <a:p>
              <a:pPr algn="ctr"/>
              <a:endParaRPr/>
            </a:p>
          </p:txBody>
        </p:sp>
        <p:sp>
          <p:nvSpPr>
            <p:cNvPr id="51" name="Oval 50"/>
            <p:cNvSpPr/>
            <p:nvPr/>
          </p:nvSpPr>
          <p:spPr>
            <a:xfrm>
              <a:off x="4148921" y="2583763"/>
              <a:ext cx="106045" cy="106045"/>
            </a:xfrm>
            <a:prstGeom prst="ellipse">
              <a:avLst/>
            </a:prstGeom>
            <a:solidFill>
              <a:srgbClr val="343A43"/>
            </a:solidFill>
            <a:ln w="12700">
              <a:solidFill>
                <a:srgbClr val="9AA0A6"/>
              </a:solidFill>
            </a:ln>
          </p:spPr>
          <p:txBody>
            <a:bodyPr rtlCol="0" anchor="ctr"/>
            <a:lstStyle/>
            <a:p>
              <a:pPr algn="ctr"/>
              <a:endParaRPr/>
            </a:p>
          </p:txBody>
        </p:sp>
        <p:sp>
          <p:nvSpPr>
            <p:cNvPr id="52" name="Oval 51"/>
            <p:cNvSpPr/>
            <p:nvPr/>
          </p:nvSpPr>
          <p:spPr>
            <a:xfrm>
              <a:off x="4321245" y="2583763"/>
              <a:ext cx="106045" cy="106045"/>
            </a:xfrm>
            <a:prstGeom prst="ellipse">
              <a:avLst/>
            </a:prstGeom>
            <a:solidFill>
              <a:srgbClr val="343A43"/>
            </a:solidFill>
            <a:ln w="12700">
              <a:solidFill>
                <a:srgbClr val="9AA0A6"/>
              </a:solidFill>
            </a:ln>
          </p:spPr>
          <p:txBody>
            <a:bodyPr rtlCol="0" anchor="ctr"/>
            <a:lstStyle/>
            <a:p>
              <a:pPr algn="ctr"/>
              <a:endParaRPr/>
            </a:p>
          </p:txBody>
        </p:sp>
        <p:cxnSp>
          <p:nvCxnSpPr>
            <p:cNvPr id="53" name="Connector 52"/>
            <p:cNvCxnSpPr/>
            <p:nvPr/>
          </p:nvCxnSpPr>
          <p:spPr>
            <a:xfrm>
              <a:off x="4497988" y="2521902"/>
              <a:ext cx="35349" cy="0"/>
            </a:xfrm>
            <a:prstGeom prst="line">
              <a:avLst/>
            </a:prstGeom>
            <a:ln w="25400">
              <a:solidFill>
                <a:srgbClr val="9AA0A6"/>
              </a:solidFill>
            </a:ln>
          </p:spPr>
        </p:cxnSp>
        <p:sp>
          <p:nvSpPr>
            <p:cNvPr id="54" name="Rectangle 53"/>
            <p:cNvSpPr/>
            <p:nvPr/>
          </p:nvSpPr>
          <p:spPr>
            <a:xfrm>
              <a:off x="4533337" y="2521902"/>
              <a:ext cx="839529" cy="44185"/>
            </a:xfrm>
            <a:prstGeom prst="rect">
              <a:avLst/>
            </a:prstGeom>
            <a:solidFill>
              <a:srgbClr val="1B1D21"/>
            </a:solidFill>
            <a:ln w="12700">
              <a:solidFill>
                <a:srgbClr val="9AA0A6"/>
              </a:solidFill>
            </a:ln>
          </p:spPr>
          <p:txBody>
            <a:bodyPr rtlCol="0" anchor="ctr"/>
            <a:lstStyle/>
            <a:p>
              <a:pPr algn="ctr"/>
              <a:endParaRPr/>
            </a:p>
          </p:txBody>
        </p:sp>
        <p:sp>
          <p:nvSpPr>
            <p:cNvPr id="55" name="Oval 54"/>
            <p:cNvSpPr/>
            <p:nvPr/>
          </p:nvSpPr>
          <p:spPr>
            <a:xfrm>
              <a:off x="4590778" y="255725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56" name="Oval 55"/>
            <p:cNvSpPr/>
            <p:nvPr/>
          </p:nvSpPr>
          <p:spPr>
            <a:xfrm>
              <a:off x="4643801" y="2610274"/>
              <a:ext cx="26511" cy="26511"/>
            </a:xfrm>
            <a:prstGeom prst="ellipse">
              <a:avLst/>
            </a:prstGeom>
            <a:solidFill>
              <a:srgbClr val="9AA0A6"/>
            </a:solidFill>
            <a:ln>
              <a:noFill/>
            </a:ln>
          </p:spPr>
          <p:txBody>
            <a:bodyPr rtlCol="0" anchor="ctr"/>
            <a:lstStyle/>
            <a:p>
              <a:pPr algn="ctr"/>
              <a:endParaRPr/>
            </a:p>
          </p:txBody>
        </p:sp>
        <p:sp>
          <p:nvSpPr>
            <p:cNvPr id="57" name="Oval 56"/>
            <p:cNvSpPr/>
            <p:nvPr/>
          </p:nvSpPr>
          <p:spPr>
            <a:xfrm>
              <a:off x="4756475" y="255725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58" name="Oval 57"/>
            <p:cNvSpPr/>
            <p:nvPr/>
          </p:nvSpPr>
          <p:spPr>
            <a:xfrm>
              <a:off x="4809498" y="2610274"/>
              <a:ext cx="26511" cy="26511"/>
            </a:xfrm>
            <a:prstGeom prst="ellipse">
              <a:avLst/>
            </a:prstGeom>
            <a:solidFill>
              <a:srgbClr val="9AA0A6"/>
            </a:solidFill>
            <a:ln>
              <a:noFill/>
            </a:ln>
          </p:spPr>
          <p:txBody>
            <a:bodyPr rtlCol="0" anchor="ctr"/>
            <a:lstStyle/>
            <a:p>
              <a:pPr algn="ctr"/>
              <a:endParaRPr/>
            </a:p>
          </p:txBody>
        </p:sp>
        <p:sp>
          <p:nvSpPr>
            <p:cNvPr id="59" name="Oval 58"/>
            <p:cNvSpPr/>
            <p:nvPr/>
          </p:nvSpPr>
          <p:spPr>
            <a:xfrm>
              <a:off x="4922172" y="255725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60" name="Oval 59"/>
            <p:cNvSpPr/>
            <p:nvPr/>
          </p:nvSpPr>
          <p:spPr>
            <a:xfrm>
              <a:off x="4975195" y="2610274"/>
              <a:ext cx="26511" cy="26511"/>
            </a:xfrm>
            <a:prstGeom prst="ellipse">
              <a:avLst/>
            </a:prstGeom>
            <a:solidFill>
              <a:srgbClr val="9AA0A6"/>
            </a:solidFill>
            <a:ln>
              <a:noFill/>
            </a:ln>
          </p:spPr>
          <p:txBody>
            <a:bodyPr rtlCol="0" anchor="ctr"/>
            <a:lstStyle/>
            <a:p>
              <a:pPr algn="ctr"/>
              <a:endParaRPr/>
            </a:p>
          </p:txBody>
        </p:sp>
        <p:sp>
          <p:nvSpPr>
            <p:cNvPr id="61" name="Oval 60"/>
            <p:cNvSpPr/>
            <p:nvPr/>
          </p:nvSpPr>
          <p:spPr>
            <a:xfrm>
              <a:off x="5087868" y="255725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62" name="Oval 61"/>
            <p:cNvSpPr/>
            <p:nvPr/>
          </p:nvSpPr>
          <p:spPr>
            <a:xfrm>
              <a:off x="5140891" y="2610274"/>
              <a:ext cx="26511" cy="26511"/>
            </a:xfrm>
            <a:prstGeom prst="ellipse">
              <a:avLst/>
            </a:prstGeom>
            <a:solidFill>
              <a:srgbClr val="9AA0A6"/>
            </a:solidFill>
            <a:ln>
              <a:noFill/>
            </a:ln>
          </p:spPr>
          <p:txBody>
            <a:bodyPr rtlCol="0" anchor="ctr"/>
            <a:lstStyle/>
            <a:p>
              <a:pPr algn="ctr"/>
              <a:endParaRPr/>
            </a:p>
          </p:txBody>
        </p:sp>
        <p:sp>
          <p:nvSpPr>
            <p:cNvPr id="63" name="Oval 62"/>
            <p:cNvSpPr/>
            <p:nvPr/>
          </p:nvSpPr>
          <p:spPr>
            <a:xfrm>
              <a:off x="5253565" y="255725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64" name="Oval 63"/>
            <p:cNvSpPr/>
            <p:nvPr/>
          </p:nvSpPr>
          <p:spPr>
            <a:xfrm>
              <a:off x="5306588" y="2610274"/>
              <a:ext cx="26511" cy="26511"/>
            </a:xfrm>
            <a:prstGeom prst="ellipse">
              <a:avLst/>
            </a:prstGeom>
            <a:solidFill>
              <a:srgbClr val="9AA0A6"/>
            </a:solidFill>
            <a:ln>
              <a:noFill/>
            </a:ln>
          </p:spPr>
          <p:txBody>
            <a:bodyPr rtlCol="0" anchor="ctr"/>
            <a:lstStyle/>
            <a:p>
              <a:pPr algn="ctr"/>
              <a:endParaRPr/>
            </a:p>
          </p:txBody>
        </p:sp>
        <p:cxnSp>
          <p:nvCxnSpPr>
            <p:cNvPr id="65" name="Connector 64"/>
            <p:cNvCxnSpPr/>
            <p:nvPr/>
          </p:nvCxnSpPr>
          <p:spPr>
            <a:xfrm>
              <a:off x="4657057" y="2623530"/>
              <a:ext cx="662787" cy="0"/>
            </a:xfrm>
            <a:prstGeom prst="line">
              <a:avLst/>
            </a:prstGeom>
            <a:ln w="19050">
              <a:solidFill>
                <a:srgbClr val="9AA0A6"/>
              </a:solidFill>
            </a:ln>
          </p:spPr>
        </p:cxnSp>
        <p:sp>
          <p:nvSpPr>
            <p:cNvPr id="66" name="Rounded Rectangle 65"/>
            <p:cNvSpPr/>
            <p:nvPr/>
          </p:nvSpPr>
          <p:spPr>
            <a:xfrm>
              <a:off x="4798452" y="2353996"/>
              <a:ext cx="574415" cy="167905"/>
            </a:xfrm>
            <a:prstGeom prst="roundRect">
              <a:avLst>
                <a:gd name="adj" fmla="val 32675"/>
              </a:avLst>
            </a:prstGeom>
            <a:solidFill>
              <a:srgbClr val="F28C28"/>
            </a:solidFill>
            <a:ln>
              <a:noFill/>
            </a:ln>
          </p:spPr>
          <p:txBody>
            <a:bodyPr rtlCol="0" anchor="ctr"/>
            <a:lstStyle/>
            <a:p>
              <a:pPr algn="ctr"/>
              <a:endParaRPr/>
            </a:p>
          </p:txBody>
        </p:sp>
        <p:sp>
          <p:nvSpPr>
            <p:cNvPr id="67" name="Rectangle 66"/>
            <p:cNvSpPr/>
            <p:nvPr/>
          </p:nvSpPr>
          <p:spPr>
            <a:xfrm>
              <a:off x="5293332" y="2353996"/>
              <a:ext cx="79534" cy="167905"/>
            </a:xfrm>
            <a:prstGeom prst="rect">
              <a:avLst/>
            </a:prstGeom>
            <a:solidFill>
              <a:srgbClr val="1B1D21"/>
            </a:solidFill>
            <a:ln w="12700">
              <a:solidFill>
                <a:srgbClr val="9AA0A6"/>
              </a:solidFill>
            </a:ln>
          </p:spPr>
          <p:txBody>
            <a:bodyPr rtlCol="0" anchor="ctr"/>
            <a:lstStyle/>
            <a:p>
              <a:pPr algn="ctr"/>
              <a:endParaRPr/>
            </a:p>
          </p:txBody>
        </p:sp>
        <p:sp>
          <p:nvSpPr>
            <p:cNvPr id="68" name="Rectangle 67"/>
            <p:cNvSpPr/>
            <p:nvPr/>
          </p:nvSpPr>
          <p:spPr>
            <a:xfrm>
              <a:off x="5311007" y="2274462"/>
              <a:ext cx="44185" cy="88371"/>
            </a:xfrm>
            <a:prstGeom prst="rect">
              <a:avLst/>
            </a:prstGeom>
            <a:solidFill>
              <a:srgbClr val="1B1D21"/>
            </a:solidFill>
            <a:ln w="12700">
              <a:solidFill>
                <a:srgbClr val="9AA0A6"/>
              </a:solidFill>
            </a:ln>
          </p:spPr>
          <p:txBody>
            <a:bodyPr rtlCol="0" anchor="ctr"/>
            <a:lstStyle/>
            <a:p>
              <a:pPr algn="ctr"/>
              <a:endParaRPr/>
            </a:p>
          </p:txBody>
        </p:sp>
        <p:sp>
          <p:nvSpPr>
            <p:cNvPr id="69" name="Rectangle 68"/>
            <p:cNvSpPr/>
            <p:nvPr/>
          </p:nvSpPr>
          <p:spPr>
            <a:xfrm>
              <a:off x="5293332" y="2256788"/>
              <a:ext cx="79534" cy="26511"/>
            </a:xfrm>
            <a:prstGeom prst="rect">
              <a:avLst/>
            </a:prstGeom>
            <a:solidFill>
              <a:srgbClr val="1B1D21"/>
            </a:solidFill>
            <a:ln w="12700">
              <a:solidFill>
                <a:srgbClr val="9AA0A6"/>
              </a:solidFill>
            </a:ln>
          </p:spPr>
          <p:txBody>
            <a:bodyPr rtlCol="0" anchor="ctr"/>
            <a:lstStyle/>
            <a:p>
              <a:pPr algn="ctr"/>
              <a:endParaRPr/>
            </a:p>
          </p:txBody>
        </p:sp>
        <p:sp>
          <p:nvSpPr>
            <p:cNvPr id="70" name="Rounded Rectangle 69"/>
            <p:cNvSpPr/>
            <p:nvPr/>
          </p:nvSpPr>
          <p:spPr>
            <a:xfrm>
              <a:off x="4931009" y="2309811"/>
              <a:ext cx="88371" cy="53022"/>
            </a:xfrm>
            <a:prstGeom prst="roundRect">
              <a:avLst>
                <a:gd name="adj" fmla="val 50000"/>
              </a:avLst>
            </a:prstGeom>
            <a:solidFill>
              <a:srgbClr val="F28C28"/>
            </a:solidFill>
            <a:ln>
              <a:noFill/>
            </a:ln>
          </p:spPr>
          <p:txBody>
            <a:bodyPr rtlCol="0" anchor="ctr"/>
            <a:lstStyle/>
            <a:p>
              <a:pPr algn="ctr"/>
              <a:endParaRPr/>
            </a:p>
          </p:txBody>
        </p:sp>
        <p:sp>
          <p:nvSpPr>
            <p:cNvPr id="71" name="Rectangle 70"/>
            <p:cNvSpPr/>
            <p:nvPr/>
          </p:nvSpPr>
          <p:spPr>
            <a:xfrm>
              <a:off x="4533337" y="2292136"/>
              <a:ext cx="265114" cy="238603"/>
            </a:xfrm>
            <a:prstGeom prst="rect">
              <a:avLst/>
            </a:prstGeom>
            <a:solidFill>
              <a:srgbClr val="F28C28"/>
            </a:solidFill>
            <a:ln>
              <a:noFill/>
            </a:ln>
          </p:spPr>
          <p:txBody>
            <a:bodyPr rtlCol="0" anchor="ctr"/>
            <a:lstStyle/>
            <a:p>
              <a:pPr algn="ctr"/>
              <a:endParaRPr/>
            </a:p>
          </p:txBody>
        </p:sp>
        <p:sp>
          <p:nvSpPr>
            <p:cNvPr id="72" name="Rectangle 71"/>
            <p:cNvSpPr/>
            <p:nvPr/>
          </p:nvSpPr>
          <p:spPr>
            <a:xfrm>
              <a:off x="4520081" y="2270044"/>
              <a:ext cx="291626" cy="30930"/>
            </a:xfrm>
            <a:prstGeom prst="rect">
              <a:avLst/>
            </a:prstGeom>
            <a:solidFill>
              <a:srgbClr val="1B1D21"/>
            </a:solidFill>
            <a:ln w="12700">
              <a:solidFill>
                <a:srgbClr val="9AA0A6"/>
              </a:solidFill>
            </a:ln>
          </p:spPr>
          <p:txBody>
            <a:bodyPr rtlCol="0" anchor="ctr"/>
            <a:lstStyle/>
            <a:p>
              <a:pPr algn="ctr"/>
              <a:endParaRPr/>
            </a:p>
          </p:txBody>
        </p:sp>
        <p:sp>
          <p:nvSpPr>
            <p:cNvPr id="73" name="Rectangle 72"/>
            <p:cNvSpPr/>
            <p:nvPr/>
          </p:nvSpPr>
          <p:spPr>
            <a:xfrm>
              <a:off x="4595197" y="2345159"/>
              <a:ext cx="114883" cy="88371"/>
            </a:xfrm>
            <a:prstGeom prst="rect">
              <a:avLst/>
            </a:prstGeom>
            <a:solidFill>
              <a:srgbClr val="1B1D21"/>
            </a:solidFill>
            <a:ln>
              <a:noFill/>
            </a:ln>
          </p:spPr>
          <p:txBody>
            <a:bodyPr rtlCol="0" anchor="ctr"/>
            <a:lstStyle/>
            <a:p>
              <a:pPr algn="ctr"/>
              <a:endParaRPr/>
            </a:p>
          </p:txBody>
        </p:sp>
        <p:sp>
          <p:nvSpPr>
            <p:cNvPr id="74" name="Rounded Rectangle 73"/>
            <p:cNvSpPr/>
            <p:nvPr/>
          </p:nvSpPr>
          <p:spPr>
            <a:xfrm>
              <a:off x="5596128" y="187451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75" name="Rectangle 74"/>
            <p:cNvSpPr/>
            <p:nvPr/>
          </p:nvSpPr>
          <p:spPr>
            <a:xfrm>
              <a:off x="5996178" y="2523744"/>
              <a:ext cx="640080" cy="45720"/>
            </a:xfrm>
            <a:prstGeom prst="rect">
              <a:avLst/>
            </a:prstGeom>
            <a:solidFill>
              <a:srgbClr val="1B1D21"/>
            </a:solidFill>
            <a:ln w="12700">
              <a:solidFill>
                <a:srgbClr val="9AA0A6"/>
              </a:solidFill>
            </a:ln>
          </p:spPr>
          <p:txBody>
            <a:bodyPr rtlCol="0" anchor="ctr"/>
            <a:lstStyle/>
            <a:p>
              <a:pPr algn="ctr"/>
              <a:endParaRPr/>
            </a:p>
          </p:txBody>
        </p:sp>
        <p:sp>
          <p:nvSpPr>
            <p:cNvPr id="76" name="Oval 75"/>
            <p:cNvSpPr/>
            <p:nvPr/>
          </p:nvSpPr>
          <p:spPr>
            <a:xfrm>
              <a:off x="6055614"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77" name="Oval 76"/>
            <p:cNvSpPr/>
            <p:nvPr/>
          </p:nvSpPr>
          <p:spPr>
            <a:xfrm>
              <a:off x="6110478" y="2615183"/>
              <a:ext cx="27432" cy="27432"/>
            </a:xfrm>
            <a:prstGeom prst="ellipse">
              <a:avLst/>
            </a:prstGeom>
            <a:solidFill>
              <a:srgbClr val="9AA0A6"/>
            </a:solidFill>
            <a:ln>
              <a:noFill/>
            </a:ln>
          </p:spPr>
          <p:txBody>
            <a:bodyPr rtlCol="0" anchor="ctr"/>
            <a:lstStyle/>
            <a:p>
              <a:pPr algn="ctr"/>
              <a:endParaRPr/>
            </a:p>
          </p:txBody>
        </p:sp>
        <p:sp>
          <p:nvSpPr>
            <p:cNvPr id="78" name="Oval 77"/>
            <p:cNvSpPr/>
            <p:nvPr/>
          </p:nvSpPr>
          <p:spPr>
            <a:xfrm>
              <a:off x="6512814"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79" name="Oval 78"/>
            <p:cNvSpPr/>
            <p:nvPr/>
          </p:nvSpPr>
          <p:spPr>
            <a:xfrm>
              <a:off x="6567678" y="2615183"/>
              <a:ext cx="27432" cy="27432"/>
            </a:xfrm>
            <a:prstGeom prst="ellipse">
              <a:avLst/>
            </a:prstGeom>
            <a:solidFill>
              <a:srgbClr val="9AA0A6"/>
            </a:solidFill>
            <a:ln>
              <a:noFill/>
            </a:ln>
          </p:spPr>
          <p:txBody>
            <a:bodyPr rtlCol="0" anchor="ctr"/>
            <a:lstStyle/>
            <a:p>
              <a:pPr algn="ctr"/>
              <a:endParaRPr/>
            </a:p>
          </p:txBody>
        </p:sp>
        <p:cxnSp>
          <p:nvCxnSpPr>
            <p:cNvPr id="80" name="Connector 79"/>
            <p:cNvCxnSpPr/>
            <p:nvPr/>
          </p:nvCxnSpPr>
          <p:spPr>
            <a:xfrm>
              <a:off x="6124194" y="2628899"/>
              <a:ext cx="457200" cy="0"/>
            </a:xfrm>
            <a:prstGeom prst="line">
              <a:avLst/>
            </a:prstGeom>
            <a:ln w="19050">
              <a:solidFill>
                <a:srgbClr val="9AA0A6"/>
              </a:solidFill>
            </a:ln>
          </p:spPr>
        </p:cxnSp>
        <p:sp>
          <p:nvSpPr>
            <p:cNvPr id="81" name="Rounded Rectangle 80"/>
            <p:cNvSpPr/>
            <p:nvPr/>
          </p:nvSpPr>
          <p:spPr>
            <a:xfrm>
              <a:off x="6270498" y="2350008"/>
              <a:ext cx="365760" cy="173736"/>
            </a:xfrm>
            <a:prstGeom prst="roundRect">
              <a:avLst>
                <a:gd name="adj" fmla="val 31578"/>
              </a:avLst>
            </a:prstGeom>
            <a:solidFill>
              <a:srgbClr val="F28C28"/>
            </a:solidFill>
            <a:ln>
              <a:noFill/>
            </a:ln>
          </p:spPr>
          <p:txBody>
            <a:bodyPr rtlCol="0" anchor="ctr"/>
            <a:lstStyle/>
            <a:p>
              <a:pPr algn="ctr"/>
              <a:endParaRPr/>
            </a:p>
          </p:txBody>
        </p:sp>
        <p:sp>
          <p:nvSpPr>
            <p:cNvPr id="82" name="Rectangle 81"/>
            <p:cNvSpPr/>
            <p:nvPr/>
          </p:nvSpPr>
          <p:spPr>
            <a:xfrm>
              <a:off x="6553962" y="2350008"/>
              <a:ext cx="82296" cy="173736"/>
            </a:xfrm>
            <a:prstGeom prst="rect">
              <a:avLst/>
            </a:prstGeom>
            <a:solidFill>
              <a:srgbClr val="1B1D21"/>
            </a:solidFill>
            <a:ln w="12700">
              <a:solidFill>
                <a:srgbClr val="9AA0A6"/>
              </a:solidFill>
            </a:ln>
          </p:spPr>
          <p:txBody>
            <a:bodyPr rtlCol="0" anchor="ctr"/>
            <a:lstStyle/>
            <a:p>
              <a:pPr algn="ctr"/>
              <a:endParaRPr/>
            </a:p>
          </p:txBody>
        </p:sp>
        <p:sp>
          <p:nvSpPr>
            <p:cNvPr id="83" name="Rectangle 82"/>
            <p:cNvSpPr/>
            <p:nvPr/>
          </p:nvSpPr>
          <p:spPr>
            <a:xfrm>
              <a:off x="6572250" y="2267711"/>
              <a:ext cx="45720" cy="91440"/>
            </a:xfrm>
            <a:prstGeom prst="rect">
              <a:avLst/>
            </a:prstGeom>
            <a:solidFill>
              <a:srgbClr val="1B1D21"/>
            </a:solidFill>
            <a:ln w="12700">
              <a:solidFill>
                <a:srgbClr val="9AA0A6"/>
              </a:solidFill>
            </a:ln>
          </p:spPr>
          <p:txBody>
            <a:bodyPr rtlCol="0" anchor="ctr"/>
            <a:lstStyle/>
            <a:p>
              <a:pPr algn="ctr"/>
              <a:endParaRPr/>
            </a:p>
          </p:txBody>
        </p:sp>
        <p:sp>
          <p:nvSpPr>
            <p:cNvPr id="84" name="Rectangle 83"/>
            <p:cNvSpPr/>
            <p:nvPr/>
          </p:nvSpPr>
          <p:spPr>
            <a:xfrm>
              <a:off x="6553962" y="2249423"/>
              <a:ext cx="82296" cy="27432"/>
            </a:xfrm>
            <a:prstGeom prst="rect">
              <a:avLst/>
            </a:prstGeom>
            <a:solidFill>
              <a:srgbClr val="1B1D21"/>
            </a:solidFill>
            <a:ln w="12700">
              <a:solidFill>
                <a:srgbClr val="9AA0A6"/>
              </a:solidFill>
            </a:ln>
          </p:spPr>
          <p:txBody>
            <a:bodyPr rtlCol="0" anchor="ctr"/>
            <a:lstStyle/>
            <a:p>
              <a:pPr algn="ctr"/>
              <a:endParaRPr/>
            </a:p>
          </p:txBody>
        </p:sp>
        <p:sp>
          <p:nvSpPr>
            <p:cNvPr id="85" name="Rounded Rectangle 84"/>
            <p:cNvSpPr/>
            <p:nvPr/>
          </p:nvSpPr>
          <p:spPr>
            <a:xfrm>
              <a:off x="6407658" y="2304287"/>
              <a:ext cx="91440" cy="54864"/>
            </a:xfrm>
            <a:prstGeom prst="roundRect">
              <a:avLst>
                <a:gd name="adj" fmla="val 50000"/>
              </a:avLst>
            </a:prstGeom>
            <a:solidFill>
              <a:srgbClr val="F28C28"/>
            </a:solidFill>
            <a:ln>
              <a:noFill/>
            </a:ln>
          </p:spPr>
          <p:txBody>
            <a:bodyPr rtlCol="0" anchor="ctr"/>
            <a:lstStyle/>
            <a:p>
              <a:pPr algn="ctr"/>
              <a:endParaRPr/>
            </a:p>
          </p:txBody>
        </p:sp>
        <p:sp>
          <p:nvSpPr>
            <p:cNvPr id="86" name="Rectangle 85"/>
            <p:cNvSpPr/>
            <p:nvPr/>
          </p:nvSpPr>
          <p:spPr>
            <a:xfrm>
              <a:off x="5996178" y="2285999"/>
              <a:ext cx="274320" cy="246888"/>
            </a:xfrm>
            <a:prstGeom prst="rect">
              <a:avLst/>
            </a:prstGeom>
            <a:solidFill>
              <a:srgbClr val="F28C28"/>
            </a:solidFill>
            <a:ln>
              <a:noFill/>
            </a:ln>
          </p:spPr>
          <p:txBody>
            <a:bodyPr rtlCol="0" anchor="ctr"/>
            <a:lstStyle/>
            <a:p>
              <a:pPr algn="ctr"/>
              <a:endParaRPr/>
            </a:p>
          </p:txBody>
        </p:sp>
        <p:sp>
          <p:nvSpPr>
            <p:cNvPr id="87" name="Rectangle 86"/>
            <p:cNvSpPr/>
            <p:nvPr/>
          </p:nvSpPr>
          <p:spPr>
            <a:xfrm>
              <a:off x="5982462" y="2263139"/>
              <a:ext cx="301751" cy="32004"/>
            </a:xfrm>
            <a:prstGeom prst="rect">
              <a:avLst/>
            </a:prstGeom>
            <a:solidFill>
              <a:srgbClr val="1B1D21"/>
            </a:solidFill>
            <a:ln w="12700">
              <a:solidFill>
                <a:srgbClr val="9AA0A6"/>
              </a:solidFill>
            </a:ln>
          </p:spPr>
          <p:txBody>
            <a:bodyPr rtlCol="0" anchor="ctr"/>
            <a:lstStyle/>
            <a:p>
              <a:pPr algn="ctr"/>
              <a:endParaRPr/>
            </a:p>
          </p:txBody>
        </p:sp>
        <p:sp>
          <p:nvSpPr>
            <p:cNvPr id="88" name="Rectangle 87"/>
            <p:cNvSpPr/>
            <p:nvPr/>
          </p:nvSpPr>
          <p:spPr>
            <a:xfrm>
              <a:off x="6060186" y="2340863"/>
              <a:ext cx="118872" cy="91440"/>
            </a:xfrm>
            <a:prstGeom prst="rect">
              <a:avLst/>
            </a:prstGeom>
            <a:solidFill>
              <a:srgbClr val="1B1D21"/>
            </a:solidFill>
            <a:ln>
              <a:noFill/>
            </a:ln>
          </p:spPr>
          <p:txBody>
            <a:bodyPr rtlCol="0" anchor="ctr"/>
            <a:lstStyle/>
            <a:p>
              <a:pPr algn="ctr"/>
              <a:endParaRPr/>
            </a:p>
          </p:txBody>
        </p:sp>
        <p:sp>
          <p:nvSpPr>
            <p:cNvPr id="89" name="Rounded Rectangle 88"/>
            <p:cNvSpPr/>
            <p:nvPr/>
          </p:nvSpPr>
          <p:spPr>
            <a:xfrm>
              <a:off x="7187184" y="187451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90" name="Rounded Rectangle 89"/>
            <p:cNvSpPr/>
            <p:nvPr/>
          </p:nvSpPr>
          <p:spPr>
            <a:xfrm>
              <a:off x="7306056" y="2395727"/>
              <a:ext cx="388620" cy="155448"/>
            </a:xfrm>
            <a:prstGeom prst="roundRect">
              <a:avLst>
                <a:gd name="adj" fmla="val 17647"/>
              </a:avLst>
            </a:prstGeom>
            <a:solidFill>
              <a:srgbClr val="2B2F36"/>
            </a:solidFill>
            <a:ln w="19050">
              <a:solidFill>
                <a:srgbClr val="F28C28"/>
              </a:solidFill>
            </a:ln>
          </p:spPr>
          <p:txBody>
            <a:bodyPr rtlCol="0" anchor="ctr"/>
            <a:lstStyle/>
            <a:p>
              <a:pPr algn="ctr"/>
              <a:endParaRPr/>
            </a:p>
          </p:txBody>
        </p:sp>
        <p:sp>
          <p:nvSpPr>
            <p:cNvPr id="91" name="Freeform 90"/>
            <p:cNvSpPr/>
            <p:nvPr/>
          </p:nvSpPr>
          <p:spPr>
            <a:xfrm>
              <a:off x="7342632" y="2331720"/>
              <a:ext cx="315468" cy="64007"/>
            </a:xfrm>
            <a:custGeom>
              <a:avLst/>
              <a:gdLst/>
              <a:ahLst/>
              <a:cxnLst/>
              <a:rect l="l" t="t" r="r" b="b"/>
              <a:pathLst>
                <a:path w="315468" h="64007">
                  <a:moveTo>
                    <a:pt x="0" y="64007"/>
                  </a:moveTo>
                  <a:lnTo>
                    <a:pt x="54864" y="9143"/>
                  </a:lnTo>
                  <a:lnTo>
                    <a:pt x="260604" y="0"/>
                  </a:lnTo>
                  <a:lnTo>
                    <a:pt x="315468" y="64007"/>
                  </a:lnTo>
                  <a:close/>
                </a:path>
              </a:pathLst>
            </a:custGeom>
            <a:solidFill>
              <a:srgbClr val="1B1D21"/>
            </a:solidFill>
            <a:ln w="12700">
              <a:solidFill>
                <a:srgbClr val="9AA0A6"/>
              </a:solidFill>
            </a:ln>
          </p:spPr>
          <p:txBody>
            <a:bodyPr rtlCol="0" anchor="ctr"/>
            <a:lstStyle/>
            <a:p>
              <a:pPr algn="ctr"/>
              <a:endParaRPr/>
            </a:p>
          </p:txBody>
        </p:sp>
        <p:sp>
          <p:nvSpPr>
            <p:cNvPr id="92" name="Oval 91"/>
            <p:cNvSpPr/>
            <p:nvPr/>
          </p:nvSpPr>
          <p:spPr>
            <a:xfrm>
              <a:off x="7379208" y="2587751"/>
              <a:ext cx="109728" cy="109728"/>
            </a:xfrm>
            <a:prstGeom prst="ellipse">
              <a:avLst/>
            </a:prstGeom>
            <a:solidFill>
              <a:srgbClr val="343A43"/>
            </a:solidFill>
            <a:ln w="12700">
              <a:solidFill>
                <a:srgbClr val="9AA0A6"/>
              </a:solidFill>
            </a:ln>
          </p:spPr>
          <p:txBody>
            <a:bodyPr rtlCol="0" anchor="ctr"/>
            <a:lstStyle/>
            <a:p>
              <a:pPr algn="ctr"/>
              <a:endParaRPr/>
            </a:p>
          </p:txBody>
        </p:sp>
        <p:sp>
          <p:nvSpPr>
            <p:cNvPr id="93" name="Oval 92"/>
            <p:cNvSpPr/>
            <p:nvPr/>
          </p:nvSpPr>
          <p:spPr>
            <a:xfrm>
              <a:off x="7511796" y="2587751"/>
              <a:ext cx="109728" cy="109728"/>
            </a:xfrm>
            <a:prstGeom prst="ellipse">
              <a:avLst/>
            </a:prstGeom>
            <a:solidFill>
              <a:srgbClr val="343A43"/>
            </a:solidFill>
            <a:ln w="12700">
              <a:solidFill>
                <a:srgbClr val="9AA0A6"/>
              </a:solidFill>
            </a:ln>
          </p:spPr>
          <p:txBody>
            <a:bodyPr rtlCol="0" anchor="ctr"/>
            <a:lstStyle/>
            <a:p>
              <a:pPr algn="ctr"/>
              <a:endParaRPr/>
            </a:p>
          </p:txBody>
        </p:sp>
        <p:cxnSp>
          <p:nvCxnSpPr>
            <p:cNvPr id="94" name="Connector 93"/>
            <p:cNvCxnSpPr/>
            <p:nvPr/>
          </p:nvCxnSpPr>
          <p:spPr>
            <a:xfrm>
              <a:off x="7694676" y="2523744"/>
              <a:ext cx="36576" cy="0"/>
            </a:xfrm>
            <a:prstGeom prst="line">
              <a:avLst/>
            </a:prstGeom>
            <a:ln w="25400">
              <a:solidFill>
                <a:srgbClr val="9AA0A6"/>
              </a:solidFill>
            </a:ln>
          </p:spPr>
        </p:cxnSp>
        <p:sp>
          <p:nvSpPr>
            <p:cNvPr id="95" name="Rectangle 94"/>
            <p:cNvSpPr/>
            <p:nvPr/>
          </p:nvSpPr>
          <p:spPr>
            <a:xfrm>
              <a:off x="7731252" y="2523744"/>
              <a:ext cx="777240" cy="45720"/>
            </a:xfrm>
            <a:prstGeom prst="rect">
              <a:avLst/>
            </a:prstGeom>
            <a:solidFill>
              <a:srgbClr val="1B1D21"/>
            </a:solidFill>
            <a:ln w="12700">
              <a:solidFill>
                <a:srgbClr val="9AA0A6"/>
              </a:solidFill>
            </a:ln>
          </p:spPr>
          <p:txBody>
            <a:bodyPr rtlCol="0" anchor="ctr"/>
            <a:lstStyle/>
            <a:p>
              <a:pPr algn="ctr"/>
              <a:endParaRPr/>
            </a:p>
          </p:txBody>
        </p:sp>
        <p:sp>
          <p:nvSpPr>
            <p:cNvPr id="96" name="Oval 95"/>
            <p:cNvSpPr/>
            <p:nvPr/>
          </p:nvSpPr>
          <p:spPr>
            <a:xfrm>
              <a:off x="7790688"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97" name="Oval 96"/>
            <p:cNvSpPr/>
            <p:nvPr/>
          </p:nvSpPr>
          <p:spPr>
            <a:xfrm>
              <a:off x="7845552" y="2615183"/>
              <a:ext cx="27432" cy="27432"/>
            </a:xfrm>
            <a:prstGeom prst="ellipse">
              <a:avLst/>
            </a:prstGeom>
            <a:solidFill>
              <a:srgbClr val="9AA0A6"/>
            </a:solidFill>
            <a:ln>
              <a:noFill/>
            </a:ln>
          </p:spPr>
          <p:txBody>
            <a:bodyPr rtlCol="0" anchor="ctr"/>
            <a:lstStyle/>
            <a:p>
              <a:pPr algn="ctr"/>
              <a:endParaRPr/>
            </a:p>
          </p:txBody>
        </p:sp>
        <p:sp>
          <p:nvSpPr>
            <p:cNvPr id="98" name="Oval 97"/>
            <p:cNvSpPr/>
            <p:nvPr/>
          </p:nvSpPr>
          <p:spPr>
            <a:xfrm>
              <a:off x="7988808"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99" name="Oval 98"/>
            <p:cNvSpPr/>
            <p:nvPr/>
          </p:nvSpPr>
          <p:spPr>
            <a:xfrm>
              <a:off x="8043672" y="2615183"/>
              <a:ext cx="27432" cy="27432"/>
            </a:xfrm>
            <a:prstGeom prst="ellipse">
              <a:avLst/>
            </a:prstGeom>
            <a:solidFill>
              <a:srgbClr val="9AA0A6"/>
            </a:solidFill>
            <a:ln>
              <a:noFill/>
            </a:ln>
          </p:spPr>
          <p:txBody>
            <a:bodyPr rtlCol="0" anchor="ctr"/>
            <a:lstStyle/>
            <a:p>
              <a:pPr algn="ctr"/>
              <a:endParaRPr/>
            </a:p>
          </p:txBody>
        </p:sp>
        <p:sp>
          <p:nvSpPr>
            <p:cNvPr id="100" name="Oval 99"/>
            <p:cNvSpPr/>
            <p:nvPr/>
          </p:nvSpPr>
          <p:spPr>
            <a:xfrm>
              <a:off x="8186928"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01" name="Oval 100"/>
            <p:cNvSpPr/>
            <p:nvPr/>
          </p:nvSpPr>
          <p:spPr>
            <a:xfrm>
              <a:off x="8241792" y="2615183"/>
              <a:ext cx="27432" cy="27432"/>
            </a:xfrm>
            <a:prstGeom prst="ellipse">
              <a:avLst/>
            </a:prstGeom>
            <a:solidFill>
              <a:srgbClr val="9AA0A6"/>
            </a:solidFill>
            <a:ln>
              <a:noFill/>
            </a:ln>
          </p:spPr>
          <p:txBody>
            <a:bodyPr rtlCol="0" anchor="ctr"/>
            <a:lstStyle/>
            <a:p>
              <a:pPr algn="ctr"/>
              <a:endParaRPr/>
            </a:p>
          </p:txBody>
        </p:sp>
        <p:sp>
          <p:nvSpPr>
            <p:cNvPr id="102" name="Oval 101"/>
            <p:cNvSpPr/>
            <p:nvPr/>
          </p:nvSpPr>
          <p:spPr>
            <a:xfrm>
              <a:off x="8385048"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03" name="Oval 102"/>
            <p:cNvSpPr/>
            <p:nvPr/>
          </p:nvSpPr>
          <p:spPr>
            <a:xfrm>
              <a:off x="8439912" y="2615183"/>
              <a:ext cx="27432" cy="27432"/>
            </a:xfrm>
            <a:prstGeom prst="ellipse">
              <a:avLst/>
            </a:prstGeom>
            <a:solidFill>
              <a:srgbClr val="9AA0A6"/>
            </a:solidFill>
            <a:ln>
              <a:noFill/>
            </a:ln>
          </p:spPr>
          <p:txBody>
            <a:bodyPr rtlCol="0" anchor="ctr"/>
            <a:lstStyle/>
            <a:p>
              <a:pPr algn="ctr"/>
              <a:endParaRPr/>
            </a:p>
          </p:txBody>
        </p:sp>
        <p:cxnSp>
          <p:nvCxnSpPr>
            <p:cNvPr id="104" name="Connector 103"/>
            <p:cNvCxnSpPr/>
            <p:nvPr/>
          </p:nvCxnSpPr>
          <p:spPr>
            <a:xfrm>
              <a:off x="7859268" y="2628899"/>
              <a:ext cx="594360" cy="0"/>
            </a:xfrm>
            <a:prstGeom prst="line">
              <a:avLst/>
            </a:prstGeom>
            <a:ln w="19050">
              <a:solidFill>
                <a:srgbClr val="9AA0A6"/>
              </a:solidFill>
            </a:ln>
          </p:spPr>
        </p:cxnSp>
        <p:sp>
          <p:nvSpPr>
            <p:cNvPr id="105" name="Rounded Rectangle 104"/>
            <p:cNvSpPr/>
            <p:nvPr/>
          </p:nvSpPr>
          <p:spPr>
            <a:xfrm>
              <a:off x="8005572" y="2350008"/>
              <a:ext cx="502920" cy="173736"/>
            </a:xfrm>
            <a:prstGeom prst="roundRect">
              <a:avLst>
                <a:gd name="adj" fmla="val 31578"/>
              </a:avLst>
            </a:prstGeom>
            <a:solidFill>
              <a:srgbClr val="F28C28"/>
            </a:solidFill>
            <a:ln>
              <a:noFill/>
            </a:ln>
          </p:spPr>
          <p:txBody>
            <a:bodyPr rtlCol="0" anchor="ctr"/>
            <a:lstStyle/>
            <a:p>
              <a:pPr algn="ctr"/>
              <a:endParaRPr/>
            </a:p>
          </p:txBody>
        </p:sp>
        <p:sp>
          <p:nvSpPr>
            <p:cNvPr id="106" name="Rectangle 105"/>
            <p:cNvSpPr/>
            <p:nvPr/>
          </p:nvSpPr>
          <p:spPr>
            <a:xfrm>
              <a:off x="8426196" y="2350008"/>
              <a:ext cx="82296" cy="173736"/>
            </a:xfrm>
            <a:prstGeom prst="rect">
              <a:avLst/>
            </a:prstGeom>
            <a:solidFill>
              <a:srgbClr val="1B1D21"/>
            </a:solidFill>
            <a:ln w="12700">
              <a:solidFill>
                <a:srgbClr val="9AA0A6"/>
              </a:solidFill>
            </a:ln>
          </p:spPr>
          <p:txBody>
            <a:bodyPr rtlCol="0" anchor="ctr"/>
            <a:lstStyle/>
            <a:p>
              <a:pPr algn="ctr"/>
              <a:endParaRPr/>
            </a:p>
          </p:txBody>
        </p:sp>
        <p:sp>
          <p:nvSpPr>
            <p:cNvPr id="107" name="Rectangle 106"/>
            <p:cNvSpPr/>
            <p:nvPr/>
          </p:nvSpPr>
          <p:spPr>
            <a:xfrm>
              <a:off x="8444484" y="2267711"/>
              <a:ext cx="45720" cy="91440"/>
            </a:xfrm>
            <a:prstGeom prst="rect">
              <a:avLst/>
            </a:prstGeom>
            <a:solidFill>
              <a:srgbClr val="1B1D21"/>
            </a:solidFill>
            <a:ln w="12700">
              <a:solidFill>
                <a:srgbClr val="9AA0A6"/>
              </a:solidFill>
            </a:ln>
          </p:spPr>
          <p:txBody>
            <a:bodyPr rtlCol="0" anchor="ctr"/>
            <a:lstStyle/>
            <a:p>
              <a:pPr algn="ctr"/>
              <a:endParaRPr/>
            </a:p>
          </p:txBody>
        </p:sp>
        <p:sp>
          <p:nvSpPr>
            <p:cNvPr id="108" name="Rectangle 107"/>
            <p:cNvSpPr/>
            <p:nvPr/>
          </p:nvSpPr>
          <p:spPr>
            <a:xfrm>
              <a:off x="8426196" y="2249423"/>
              <a:ext cx="82296" cy="27432"/>
            </a:xfrm>
            <a:prstGeom prst="rect">
              <a:avLst/>
            </a:prstGeom>
            <a:solidFill>
              <a:srgbClr val="1B1D21"/>
            </a:solidFill>
            <a:ln w="12700">
              <a:solidFill>
                <a:srgbClr val="9AA0A6"/>
              </a:solidFill>
            </a:ln>
          </p:spPr>
          <p:txBody>
            <a:bodyPr rtlCol="0" anchor="ctr"/>
            <a:lstStyle/>
            <a:p>
              <a:pPr algn="ctr"/>
              <a:endParaRPr/>
            </a:p>
          </p:txBody>
        </p:sp>
        <p:sp>
          <p:nvSpPr>
            <p:cNvPr id="109" name="Rounded Rectangle 108"/>
            <p:cNvSpPr/>
            <p:nvPr/>
          </p:nvSpPr>
          <p:spPr>
            <a:xfrm>
              <a:off x="8142732" y="2304287"/>
              <a:ext cx="91440" cy="54864"/>
            </a:xfrm>
            <a:prstGeom prst="roundRect">
              <a:avLst>
                <a:gd name="adj" fmla="val 50000"/>
              </a:avLst>
            </a:prstGeom>
            <a:solidFill>
              <a:srgbClr val="F28C28"/>
            </a:solidFill>
            <a:ln>
              <a:noFill/>
            </a:ln>
          </p:spPr>
          <p:txBody>
            <a:bodyPr rtlCol="0" anchor="ctr"/>
            <a:lstStyle/>
            <a:p>
              <a:pPr algn="ctr"/>
              <a:endParaRPr/>
            </a:p>
          </p:txBody>
        </p:sp>
        <p:sp>
          <p:nvSpPr>
            <p:cNvPr id="110" name="Rectangle 109"/>
            <p:cNvSpPr/>
            <p:nvPr/>
          </p:nvSpPr>
          <p:spPr>
            <a:xfrm>
              <a:off x="7731252" y="2285999"/>
              <a:ext cx="274320" cy="246888"/>
            </a:xfrm>
            <a:prstGeom prst="rect">
              <a:avLst/>
            </a:prstGeom>
            <a:solidFill>
              <a:srgbClr val="F28C28"/>
            </a:solidFill>
            <a:ln>
              <a:noFill/>
            </a:ln>
          </p:spPr>
          <p:txBody>
            <a:bodyPr rtlCol="0" anchor="ctr"/>
            <a:lstStyle/>
            <a:p>
              <a:pPr algn="ctr"/>
              <a:endParaRPr/>
            </a:p>
          </p:txBody>
        </p:sp>
        <p:sp>
          <p:nvSpPr>
            <p:cNvPr id="111" name="Rectangle 110"/>
            <p:cNvSpPr/>
            <p:nvPr/>
          </p:nvSpPr>
          <p:spPr>
            <a:xfrm>
              <a:off x="7717536" y="2263139"/>
              <a:ext cx="301751" cy="32004"/>
            </a:xfrm>
            <a:prstGeom prst="rect">
              <a:avLst/>
            </a:prstGeom>
            <a:solidFill>
              <a:srgbClr val="1B1D21"/>
            </a:solidFill>
            <a:ln w="12700">
              <a:solidFill>
                <a:srgbClr val="9AA0A6"/>
              </a:solidFill>
            </a:ln>
          </p:spPr>
          <p:txBody>
            <a:bodyPr rtlCol="0" anchor="ctr"/>
            <a:lstStyle/>
            <a:p>
              <a:pPr algn="ctr"/>
              <a:endParaRPr/>
            </a:p>
          </p:txBody>
        </p:sp>
        <p:sp>
          <p:nvSpPr>
            <p:cNvPr id="112" name="Rectangle 111"/>
            <p:cNvSpPr/>
            <p:nvPr/>
          </p:nvSpPr>
          <p:spPr>
            <a:xfrm>
              <a:off x="7795260" y="2340863"/>
              <a:ext cx="118872" cy="91440"/>
            </a:xfrm>
            <a:prstGeom prst="rect">
              <a:avLst/>
            </a:prstGeom>
            <a:solidFill>
              <a:srgbClr val="1B1D21"/>
            </a:solidFill>
            <a:ln>
              <a:noFill/>
            </a:ln>
          </p:spPr>
          <p:txBody>
            <a:bodyPr rtlCol="0" anchor="ctr"/>
            <a:lstStyle/>
            <a:p>
              <a:pPr algn="ctr"/>
              <a:endParaRPr/>
            </a:p>
          </p:txBody>
        </p:sp>
        <p:sp>
          <p:nvSpPr>
            <p:cNvPr id="113" name="Rounded Rectangle 112"/>
            <p:cNvSpPr/>
            <p:nvPr/>
          </p:nvSpPr>
          <p:spPr>
            <a:xfrm>
              <a:off x="8778240" y="187451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114" name="Rounded Rectangle 113"/>
            <p:cNvSpPr/>
            <p:nvPr/>
          </p:nvSpPr>
          <p:spPr>
            <a:xfrm>
              <a:off x="8977122" y="2395727"/>
              <a:ext cx="274320" cy="155448"/>
            </a:xfrm>
            <a:prstGeom prst="roundRect">
              <a:avLst>
                <a:gd name="adj" fmla="val 17647"/>
              </a:avLst>
            </a:prstGeom>
            <a:solidFill>
              <a:srgbClr val="2B2F36"/>
            </a:solidFill>
            <a:ln w="19050">
              <a:solidFill>
                <a:srgbClr val="F28C28"/>
              </a:solidFill>
            </a:ln>
          </p:spPr>
          <p:txBody>
            <a:bodyPr rtlCol="0" anchor="ctr"/>
            <a:lstStyle/>
            <a:p>
              <a:pPr algn="ctr"/>
              <a:endParaRPr/>
            </a:p>
          </p:txBody>
        </p:sp>
        <p:sp>
          <p:nvSpPr>
            <p:cNvPr id="115" name="Freeform 114"/>
            <p:cNvSpPr/>
            <p:nvPr/>
          </p:nvSpPr>
          <p:spPr>
            <a:xfrm>
              <a:off x="9013698" y="2331720"/>
              <a:ext cx="201168" cy="64007"/>
            </a:xfrm>
            <a:custGeom>
              <a:avLst/>
              <a:gdLst/>
              <a:ahLst/>
              <a:cxnLst/>
              <a:rect l="l" t="t" r="r" b="b"/>
              <a:pathLst>
                <a:path w="201168" h="64007">
                  <a:moveTo>
                    <a:pt x="0" y="64007"/>
                  </a:moveTo>
                  <a:lnTo>
                    <a:pt x="54864" y="9143"/>
                  </a:lnTo>
                  <a:lnTo>
                    <a:pt x="146304" y="0"/>
                  </a:lnTo>
                  <a:lnTo>
                    <a:pt x="201168" y="64007"/>
                  </a:lnTo>
                  <a:close/>
                </a:path>
              </a:pathLst>
            </a:custGeom>
            <a:solidFill>
              <a:srgbClr val="1B1D21"/>
            </a:solidFill>
            <a:ln w="12700">
              <a:solidFill>
                <a:srgbClr val="9AA0A6"/>
              </a:solidFill>
            </a:ln>
          </p:spPr>
          <p:txBody>
            <a:bodyPr rtlCol="0" anchor="ctr"/>
            <a:lstStyle/>
            <a:p>
              <a:pPr algn="ctr"/>
              <a:endParaRPr/>
            </a:p>
          </p:txBody>
        </p:sp>
        <p:sp>
          <p:nvSpPr>
            <p:cNvPr id="116" name="Oval 115"/>
            <p:cNvSpPr/>
            <p:nvPr/>
          </p:nvSpPr>
          <p:spPr>
            <a:xfrm>
              <a:off x="9050274" y="2587751"/>
              <a:ext cx="109728" cy="109728"/>
            </a:xfrm>
            <a:prstGeom prst="ellipse">
              <a:avLst/>
            </a:prstGeom>
            <a:solidFill>
              <a:srgbClr val="343A43"/>
            </a:solidFill>
            <a:ln w="12700">
              <a:solidFill>
                <a:srgbClr val="9AA0A6"/>
              </a:solidFill>
            </a:ln>
          </p:spPr>
          <p:txBody>
            <a:bodyPr rtlCol="0" anchor="ctr"/>
            <a:lstStyle/>
            <a:p>
              <a:pPr algn="ctr"/>
              <a:endParaRPr/>
            </a:p>
          </p:txBody>
        </p:sp>
        <p:sp>
          <p:nvSpPr>
            <p:cNvPr id="117" name="Oval 116"/>
            <p:cNvSpPr/>
            <p:nvPr/>
          </p:nvSpPr>
          <p:spPr>
            <a:xfrm>
              <a:off x="9068562" y="2587751"/>
              <a:ext cx="109728" cy="109728"/>
            </a:xfrm>
            <a:prstGeom prst="ellipse">
              <a:avLst/>
            </a:prstGeom>
            <a:solidFill>
              <a:srgbClr val="343A43"/>
            </a:solidFill>
            <a:ln w="12700">
              <a:solidFill>
                <a:srgbClr val="9AA0A6"/>
              </a:solidFill>
            </a:ln>
          </p:spPr>
          <p:txBody>
            <a:bodyPr rtlCol="0" anchor="ctr"/>
            <a:lstStyle/>
            <a:p>
              <a:pPr algn="ctr"/>
              <a:endParaRPr/>
            </a:p>
          </p:txBody>
        </p:sp>
        <p:cxnSp>
          <p:nvCxnSpPr>
            <p:cNvPr id="118" name="Connector 117"/>
            <p:cNvCxnSpPr/>
            <p:nvPr/>
          </p:nvCxnSpPr>
          <p:spPr>
            <a:xfrm>
              <a:off x="9251442" y="2523744"/>
              <a:ext cx="36576" cy="0"/>
            </a:xfrm>
            <a:prstGeom prst="line">
              <a:avLst/>
            </a:prstGeom>
            <a:ln w="25400">
              <a:solidFill>
                <a:srgbClr val="9AA0A6"/>
              </a:solidFill>
            </a:ln>
          </p:spPr>
        </p:cxnSp>
        <p:sp>
          <p:nvSpPr>
            <p:cNvPr id="119" name="Rectangle 118"/>
            <p:cNvSpPr/>
            <p:nvPr/>
          </p:nvSpPr>
          <p:spPr>
            <a:xfrm>
              <a:off x="9288018" y="2523744"/>
              <a:ext cx="731520" cy="45720"/>
            </a:xfrm>
            <a:prstGeom prst="rect">
              <a:avLst/>
            </a:prstGeom>
            <a:solidFill>
              <a:srgbClr val="1B1D21"/>
            </a:solidFill>
            <a:ln w="12700">
              <a:solidFill>
                <a:srgbClr val="9AA0A6"/>
              </a:solidFill>
            </a:ln>
          </p:spPr>
          <p:txBody>
            <a:bodyPr rtlCol="0" anchor="ctr"/>
            <a:lstStyle/>
            <a:p>
              <a:pPr algn="ctr"/>
              <a:endParaRPr/>
            </a:p>
          </p:txBody>
        </p:sp>
        <p:sp>
          <p:nvSpPr>
            <p:cNvPr id="120" name="Oval 119"/>
            <p:cNvSpPr/>
            <p:nvPr/>
          </p:nvSpPr>
          <p:spPr>
            <a:xfrm>
              <a:off x="9347454"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21" name="Oval 120"/>
            <p:cNvSpPr/>
            <p:nvPr/>
          </p:nvSpPr>
          <p:spPr>
            <a:xfrm>
              <a:off x="9402318" y="2615183"/>
              <a:ext cx="27432" cy="27432"/>
            </a:xfrm>
            <a:prstGeom prst="ellipse">
              <a:avLst/>
            </a:prstGeom>
            <a:solidFill>
              <a:srgbClr val="9AA0A6"/>
            </a:solidFill>
            <a:ln>
              <a:noFill/>
            </a:ln>
          </p:spPr>
          <p:txBody>
            <a:bodyPr rtlCol="0" anchor="ctr"/>
            <a:lstStyle/>
            <a:p>
              <a:pPr algn="ctr"/>
              <a:endParaRPr/>
            </a:p>
          </p:txBody>
        </p:sp>
        <p:sp>
          <p:nvSpPr>
            <p:cNvPr id="122" name="Oval 121"/>
            <p:cNvSpPr/>
            <p:nvPr/>
          </p:nvSpPr>
          <p:spPr>
            <a:xfrm>
              <a:off x="9621774"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23" name="Oval 122"/>
            <p:cNvSpPr/>
            <p:nvPr/>
          </p:nvSpPr>
          <p:spPr>
            <a:xfrm>
              <a:off x="9676638" y="2615183"/>
              <a:ext cx="27432" cy="27432"/>
            </a:xfrm>
            <a:prstGeom prst="ellipse">
              <a:avLst/>
            </a:prstGeom>
            <a:solidFill>
              <a:srgbClr val="9AA0A6"/>
            </a:solidFill>
            <a:ln>
              <a:noFill/>
            </a:ln>
          </p:spPr>
          <p:txBody>
            <a:bodyPr rtlCol="0" anchor="ctr"/>
            <a:lstStyle/>
            <a:p>
              <a:pPr algn="ctr"/>
              <a:endParaRPr/>
            </a:p>
          </p:txBody>
        </p:sp>
        <p:sp>
          <p:nvSpPr>
            <p:cNvPr id="124" name="Oval 123"/>
            <p:cNvSpPr/>
            <p:nvPr/>
          </p:nvSpPr>
          <p:spPr>
            <a:xfrm>
              <a:off x="9896094" y="256032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25" name="Oval 124"/>
            <p:cNvSpPr/>
            <p:nvPr/>
          </p:nvSpPr>
          <p:spPr>
            <a:xfrm>
              <a:off x="9950958" y="2615183"/>
              <a:ext cx="27432" cy="27432"/>
            </a:xfrm>
            <a:prstGeom prst="ellipse">
              <a:avLst/>
            </a:prstGeom>
            <a:solidFill>
              <a:srgbClr val="9AA0A6"/>
            </a:solidFill>
            <a:ln>
              <a:noFill/>
            </a:ln>
          </p:spPr>
          <p:txBody>
            <a:bodyPr rtlCol="0" anchor="ctr"/>
            <a:lstStyle/>
            <a:p>
              <a:pPr algn="ctr"/>
              <a:endParaRPr/>
            </a:p>
          </p:txBody>
        </p:sp>
        <p:cxnSp>
          <p:nvCxnSpPr>
            <p:cNvPr id="126" name="Connector 125"/>
            <p:cNvCxnSpPr/>
            <p:nvPr/>
          </p:nvCxnSpPr>
          <p:spPr>
            <a:xfrm>
              <a:off x="9416034" y="2628899"/>
              <a:ext cx="548640" cy="0"/>
            </a:xfrm>
            <a:prstGeom prst="line">
              <a:avLst/>
            </a:prstGeom>
            <a:ln w="19050">
              <a:solidFill>
                <a:srgbClr val="9AA0A6"/>
              </a:solidFill>
            </a:ln>
          </p:spPr>
        </p:cxnSp>
        <p:sp>
          <p:nvSpPr>
            <p:cNvPr id="127" name="Rounded Rectangle 126"/>
            <p:cNvSpPr/>
            <p:nvPr/>
          </p:nvSpPr>
          <p:spPr>
            <a:xfrm>
              <a:off x="9562338" y="2350008"/>
              <a:ext cx="457200" cy="173736"/>
            </a:xfrm>
            <a:prstGeom prst="roundRect">
              <a:avLst>
                <a:gd name="adj" fmla="val 31578"/>
              </a:avLst>
            </a:prstGeom>
            <a:solidFill>
              <a:srgbClr val="F28C28"/>
            </a:solidFill>
            <a:ln>
              <a:noFill/>
            </a:ln>
          </p:spPr>
          <p:txBody>
            <a:bodyPr rtlCol="0" anchor="ctr"/>
            <a:lstStyle/>
            <a:p>
              <a:pPr algn="ctr"/>
              <a:endParaRPr/>
            </a:p>
          </p:txBody>
        </p:sp>
        <p:sp>
          <p:nvSpPr>
            <p:cNvPr id="128" name="Rectangle 127"/>
            <p:cNvSpPr/>
            <p:nvPr/>
          </p:nvSpPr>
          <p:spPr>
            <a:xfrm>
              <a:off x="9937242" y="2350008"/>
              <a:ext cx="82296" cy="173736"/>
            </a:xfrm>
            <a:prstGeom prst="rect">
              <a:avLst/>
            </a:prstGeom>
            <a:solidFill>
              <a:srgbClr val="1B1D21"/>
            </a:solidFill>
            <a:ln w="12700">
              <a:solidFill>
                <a:srgbClr val="9AA0A6"/>
              </a:solidFill>
            </a:ln>
          </p:spPr>
          <p:txBody>
            <a:bodyPr rtlCol="0" anchor="ctr"/>
            <a:lstStyle/>
            <a:p>
              <a:pPr algn="ctr"/>
              <a:endParaRPr/>
            </a:p>
          </p:txBody>
        </p:sp>
        <p:sp>
          <p:nvSpPr>
            <p:cNvPr id="129" name="Rectangle 128"/>
            <p:cNvSpPr/>
            <p:nvPr/>
          </p:nvSpPr>
          <p:spPr>
            <a:xfrm>
              <a:off x="9955530" y="2267711"/>
              <a:ext cx="45720" cy="91440"/>
            </a:xfrm>
            <a:prstGeom prst="rect">
              <a:avLst/>
            </a:prstGeom>
            <a:solidFill>
              <a:srgbClr val="1B1D21"/>
            </a:solidFill>
            <a:ln w="12700">
              <a:solidFill>
                <a:srgbClr val="9AA0A6"/>
              </a:solidFill>
            </a:ln>
          </p:spPr>
          <p:txBody>
            <a:bodyPr rtlCol="0" anchor="ctr"/>
            <a:lstStyle/>
            <a:p>
              <a:pPr algn="ctr"/>
              <a:endParaRPr/>
            </a:p>
          </p:txBody>
        </p:sp>
        <p:sp>
          <p:nvSpPr>
            <p:cNvPr id="130" name="Rectangle 129"/>
            <p:cNvSpPr/>
            <p:nvPr/>
          </p:nvSpPr>
          <p:spPr>
            <a:xfrm>
              <a:off x="9937242" y="2249423"/>
              <a:ext cx="82296" cy="27432"/>
            </a:xfrm>
            <a:prstGeom prst="rect">
              <a:avLst/>
            </a:prstGeom>
            <a:solidFill>
              <a:srgbClr val="1B1D21"/>
            </a:solidFill>
            <a:ln w="12700">
              <a:solidFill>
                <a:srgbClr val="9AA0A6"/>
              </a:solidFill>
            </a:ln>
          </p:spPr>
          <p:txBody>
            <a:bodyPr rtlCol="0" anchor="ctr"/>
            <a:lstStyle/>
            <a:p>
              <a:pPr algn="ctr"/>
              <a:endParaRPr/>
            </a:p>
          </p:txBody>
        </p:sp>
        <p:sp>
          <p:nvSpPr>
            <p:cNvPr id="131" name="Rounded Rectangle 130"/>
            <p:cNvSpPr/>
            <p:nvPr/>
          </p:nvSpPr>
          <p:spPr>
            <a:xfrm>
              <a:off x="9699498" y="2304287"/>
              <a:ext cx="91440" cy="54864"/>
            </a:xfrm>
            <a:prstGeom prst="roundRect">
              <a:avLst>
                <a:gd name="adj" fmla="val 50000"/>
              </a:avLst>
            </a:prstGeom>
            <a:solidFill>
              <a:srgbClr val="F28C28"/>
            </a:solidFill>
            <a:ln>
              <a:noFill/>
            </a:ln>
          </p:spPr>
          <p:txBody>
            <a:bodyPr rtlCol="0" anchor="ctr"/>
            <a:lstStyle/>
            <a:p>
              <a:pPr algn="ctr"/>
              <a:endParaRPr/>
            </a:p>
          </p:txBody>
        </p:sp>
        <p:sp>
          <p:nvSpPr>
            <p:cNvPr id="132" name="Rectangle 131"/>
            <p:cNvSpPr/>
            <p:nvPr/>
          </p:nvSpPr>
          <p:spPr>
            <a:xfrm>
              <a:off x="9288018" y="2285999"/>
              <a:ext cx="274320" cy="246888"/>
            </a:xfrm>
            <a:prstGeom prst="rect">
              <a:avLst/>
            </a:prstGeom>
            <a:solidFill>
              <a:srgbClr val="F28C28"/>
            </a:solidFill>
            <a:ln>
              <a:noFill/>
            </a:ln>
          </p:spPr>
          <p:txBody>
            <a:bodyPr rtlCol="0" anchor="ctr"/>
            <a:lstStyle/>
            <a:p>
              <a:pPr algn="ctr"/>
              <a:endParaRPr/>
            </a:p>
          </p:txBody>
        </p:sp>
        <p:sp>
          <p:nvSpPr>
            <p:cNvPr id="133" name="Rectangle 132"/>
            <p:cNvSpPr/>
            <p:nvPr/>
          </p:nvSpPr>
          <p:spPr>
            <a:xfrm>
              <a:off x="9274302" y="2263139"/>
              <a:ext cx="301751" cy="32004"/>
            </a:xfrm>
            <a:prstGeom prst="rect">
              <a:avLst/>
            </a:prstGeom>
            <a:solidFill>
              <a:srgbClr val="1B1D21"/>
            </a:solidFill>
            <a:ln w="12700">
              <a:solidFill>
                <a:srgbClr val="9AA0A6"/>
              </a:solidFill>
            </a:ln>
          </p:spPr>
          <p:txBody>
            <a:bodyPr rtlCol="0" anchor="ctr"/>
            <a:lstStyle/>
            <a:p>
              <a:pPr algn="ctr"/>
              <a:endParaRPr/>
            </a:p>
          </p:txBody>
        </p:sp>
        <p:sp>
          <p:nvSpPr>
            <p:cNvPr id="134" name="Rectangle 133"/>
            <p:cNvSpPr/>
            <p:nvPr/>
          </p:nvSpPr>
          <p:spPr>
            <a:xfrm>
              <a:off x="9352026" y="2340863"/>
              <a:ext cx="118872" cy="91440"/>
            </a:xfrm>
            <a:prstGeom prst="rect">
              <a:avLst/>
            </a:prstGeom>
            <a:solidFill>
              <a:srgbClr val="1B1D21"/>
            </a:solidFill>
            <a:ln>
              <a:noFill/>
            </a:ln>
          </p:spPr>
          <p:txBody>
            <a:bodyPr rtlCol="0" anchor="ctr"/>
            <a:lstStyle/>
            <a:p>
              <a:pPr algn="ctr"/>
              <a:endParaRPr/>
            </a:p>
          </p:txBody>
        </p:sp>
        <p:sp>
          <p:nvSpPr>
            <p:cNvPr id="135" name="Rounded Rectangle 134"/>
            <p:cNvSpPr/>
            <p:nvPr/>
          </p:nvSpPr>
          <p:spPr>
            <a:xfrm>
              <a:off x="640080" y="3108959"/>
              <a:ext cx="9784080" cy="146304"/>
            </a:xfrm>
            <a:prstGeom prst="roundRect">
              <a:avLst>
                <a:gd name="adj" fmla="val 25000"/>
              </a:avLst>
            </a:prstGeom>
            <a:solidFill>
              <a:srgbClr val="6B5B4B"/>
            </a:solidFill>
            <a:ln>
              <a:noFill/>
            </a:ln>
          </p:spPr>
          <p:txBody>
            <a:bodyPr rtlCol="0" anchor="ctr"/>
            <a:lstStyle/>
            <a:p>
              <a:pPr algn="ctr"/>
              <a:endParaRPr/>
            </a:p>
          </p:txBody>
        </p:sp>
      </p:grpSp>
      <p:sp>
        <p:nvSpPr>
          <p:cNvPr id="136" name="Label: Region B"/>
          <p:cNvSpPr txBox="1"/>
          <p:nvPr/>
        </p:nvSpPr>
        <p:spPr>
          <a:xfrm>
            <a:off x="822960" y="3520440"/>
            <a:ext cx="2743200" cy="365760"/>
          </a:xfrm>
          <a:prstGeom prst="rect">
            <a:avLst/>
          </a:prstGeom>
          <a:noFill/>
        </p:spPr>
        <p:txBody>
          <a:bodyPr wrap="square" lIns="0" tIns="0" rIns="0" bIns="0" anchor="ctr">
            <a:noAutofit/>
          </a:bodyPr>
          <a:lstStyle/>
          <a:p>
            <a:pPr algn="l"/>
            <a:r>
              <a:rPr lang="en-GB" sz="1800" b="1" i="0">
                <a:solidFill>
                  <a:srgbClr val="F2F2F2"/>
                </a:solidFill>
                <a:latin typeface="Arial"/>
              </a:rPr>
              <a:t>Region B</a:t>
            </a:r>
            <a:endParaRPr lang="en-GB" sz="1800"/>
          </a:p>
        </p:txBody>
      </p:sp>
      <p:grpSp>
        <p:nvGrpSpPr>
          <p:cNvPr id="137" name="Region B shelf" descr="Region B: a shelf of engines of different shapes. The two regions have shelves of different lengths."/>
          <p:cNvGrpSpPr/>
          <p:nvPr/>
        </p:nvGrpSpPr>
        <p:grpSpPr>
          <a:xfrm>
            <a:off x="640080" y="3977639"/>
            <a:ext cx="6601968" cy="1380744"/>
            <a:chOff x="640080" y="3977639"/>
            <a:chExt cx="6601968" cy="1380744"/>
          </a:xfrm>
        </p:grpSpPr>
        <p:sp>
          <p:nvSpPr>
            <p:cNvPr id="138" name="Rounded Rectangle 137"/>
            <p:cNvSpPr/>
            <p:nvPr/>
          </p:nvSpPr>
          <p:spPr>
            <a:xfrm>
              <a:off x="822960" y="397763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139" name="Rounded Rectangle 138"/>
            <p:cNvSpPr/>
            <p:nvPr/>
          </p:nvSpPr>
          <p:spPr>
            <a:xfrm>
              <a:off x="1021842" y="4498848"/>
              <a:ext cx="274320" cy="155448"/>
            </a:xfrm>
            <a:prstGeom prst="roundRect">
              <a:avLst>
                <a:gd name="adj" fmla="val 17647"/>
              </a:avLst>
            </a:prstGeom>
            <a:solidFill>
              <a:srgbClr val="2B2F36"/>
            </a:solidFill>
            <a:ln w="19050">
              <a:solidFill>
                <a:srgbClr val="F28C28"/>
              </a:solidFill>
            </a:ln>
          </p:spPr>
          <p:txBody>
            <a:bodyPr rtlCol="0" anchor="ctr"/>
            <a:lstStyle/>
            <a:p>
              <a:pPr algn="ctr"/>
              <a:endParaRPr/>
            </a:p>
          </p:txBody>
        </p:sp>
        <p:sp>
          <p:nvSpPr>
            <p:cNvPr id="140" name="Freeform 139"/>
            <p:cNvSpPr/>
            <p:nvPr/>
          </p:nvSpPr>
          <p:spPr>
            <a:xfrm>
              <a:off x="1058418" y="4434840"/>
              <a:ext cx="201168" cy="64008"/>
            </a:xfrm>
            <a:custGeom>
              <a:avLst/>
              <a:gdLst/>
              <a:ahLst/>
              <a:cxnLst/>
              <a:rect l="l" t="t" r="r" b="b"/>
              <a:pathLst>
                <a:path w="201168" h="64008">
                  <a:moveTo>
                    <a:pt x="0" y="64008"/>
                  </a:moveTo>
                  <a:lnTo>
                    <a:pt x="54864" y="9144"/>
                  </a:lnTo>
                  <a:lnTo>
                    <a:pt x="146304" y="0"/>
                  </a:lnTo>
                  <a:lnTo>
                    <a:pt x="201168" y="64008"/>
                  </a:lnTo>
                  <a:close/>
                </a:path>
              </a:pathLst>
            </a:custGeom>
            <a:solidFill>
              <a:srgbClr val="1B1D21"/>
            </a:solidFill>
            <a:ln w="12700">
              <a:solidFill>
                <a:srgbClr val="9AA0A6"/>
              </a:solidFill>
            </a:ln>
          </p:spPr>
          <p:txBody>
            <a:bodyPr rtlCol="0" anchor="ctr"/>
            <a:lstStyle/>
            <a:p>
              <a:pPr algn="ctr"/>
              <a:endParaRPr/>
            </a:p>
          </p:txBody>
        </p:sp>
        <p:sp>
          <p:nvSpPr>
            <p:cNvPr id="141" name="Oval 140"/>
            <p:cNvSpPr/>
            <p:nvPr/>
          </p:nvSpPr>
          <p:spPr>
            <a:xfrm>
              <a:off x="1094994" y="4690872"/>
              <a:ext cx="109728" cy="109728"/>
            </a:xfrm>
            <a:prstGeom prst="ellipse">
              <a:avLst/>
            </a:prstGeom>
            <a:solidFill>
              <a:srgbClr val="343A43"/>
            </a:solidFill>
            <a:ln w="12700">
              <a:solidFill>
                <a:srgbClr val="9AA0A6"/>
              </a:solidFill>
            </a:ln>
          </p:spPr>
          <p:txBody>
            <a:bodyPr rtlCol="0" anchor="ctr"/>
            <a:lstStyle/>
            <a:p>
              <a:pPr algn="ctr"/>
              <a:endParaRPr/>
            </a:p>
          </p:txBody>
        </p:sp>
        <p:sp>
          <p:nvSpPr>
            <p:cNvPr id="142" name="Oval 141"/>
            <p:cNvSpPr/>
            <p:nvPr/>
          </p:nvSpPr>
          <p:spPr>
            <a:xfrm>
              <a:off x="1113282" y="4690872"/>
              <a:ext cx="109728" cy="109728"/>
            </a:xfrm>
            <a:prstGeom prst="ellipse">
              <a:avLst/>
            </a:prstGeom>
            <a:solidFill>
              <a:srgbClr val="343A43"/>
            </a:solidFill>
            <a:ln w="12700">
              <a:solidFill>
                <a:srgbClr val="9AA0A6"/>
              </a:solidFill>
            </a:ln>
          </p:spPr>
          <p:txBody>
            <a:bodyPr rtlCol="0" anchor="ctr"/>
            <a:lstStyle/>
            <a:p>
              <a:pPr algn="ctr"/>
              <a:endParaRPr/>
            </a:p>
          </p:txBody>
        </p:sp>
        <p:cxnSp>
          <p:nvCxnSpPr>
            <p:cNvPr id="143" name="Connector 142"/>
            <p:cNvCxnSpPr/>
            <p:nvPr/>
          </p:nvCxnSpPr>
          <p:spPr>
            <a:xfrm>
              <a:off x="1296162" y="4626864"/>
              <a:ext cx="36576" cy="0"/>
            </a:xfrm>
            <a:prstGeom prst="line">
              <a:avLst/>
            </a:prstGeom>
            <a:ln w="25400">
              <a:solidFill>
                <a:srgbClr val="9AA0A6"/>
              </a:solidFill>
            </a:ln>
          </p:spPr>
        </p:cxnSp>
        <p:sp>
          <p:nvSpPr>
            <p:cNvPr id="144" name="Rectangle 143"/>
            <p:cNvSpPr/>
            <p:nvPr/>
          </p:nvSpPr>
          <p:spPr>
            <a:xfrm>
              <a:off x="1332738" y="4626864"/>
              <a:ext cx="731520" cy="45720"/>
            </a:xfrm>
            <a:prstGeom prst="rect">
              <a:avLst/>
            </a:prstGeom>
            <a:solidFill>
              <a:srgbClr val="1B1D21"/>
            </a:solidFill>
            <a:ln w="12700">
              <a:solidFill>
                <a:srgbClr val="9AA0A6"/>
              </a:solidFill>
            </a:ln>
          </p:spPr>
          <p:txBody>
            <a:bodyPr rtlCol="0" anchor="ctr"/>
            <a:lstStyle/>
            <a:p>
              <a:pPr algn="ctr"/>
              <a:endParaRPr/>
            </a:p>
          </p:txBody>
        </p:sp>
        <p:sp>
          <p:nvSpPr>
            <p:cNvPr id="145" name="Oval 144"/>
            <p:cNvSpPr/>
            <p:nvPr/>
          </p:nvSpPr>
          <p:spPr>
            <a:xfrm>
              <a:off x="1392174" y="46634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46" name="Oval 145"/>
            <p:cNvSpPr/>
            <p:nvPr/>
          </p:nvSpPr>
          <p:spPr>
            <a:xfrm>
              <a:off x="1447038" y="4718304"/>
              <a:ext cx="27432" cy="27432"/>
            </a:xfrm>
            <a:prstGeom prst="ellipse">
              <a:avLst/>
            </a:prstGeom>
            <a:solidFill>
              <a:srgbClr val="9AA0A6"/>
            </a:solidFill>
            <a:ln>
              <a:noFill/>
            </a:ln>
          </p:spPr>
          <p:txBody>
            <a:bodyPr rtlCol="0" anchor="ctr"/>
            <a:lstStyle/>
            <a:p>
              <a:pPr algn="ctr"/>
              <a:endParaRPr/>
            </a:p>
          </p:txBody>
        </p:sp>
        <p:sp>
          <p:nvSpPr>
            <p:cNvPr id="147" name="Oval 146"/>
            <p:cNvSpPr/>
            <p:nvPr/>
          </p:nvSpPr>
          <p:spPr>
            <a:xfrm>
              <a:off x="1666494" y="46634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48" name="Oval 147"/>
            <p:cNvSpPr/>
            <p:nvPr/>
          </p:nvSpPr>
          <p:spPr>
            <a:xfrm>
              <a:off x="1721358" y="4718304"/>
              <a:ext cx="27432" cy="27432"/>
            </a:xfrm>
            <a:prstGeom prst="ellipse">
              <a:avLst/>
            </a:prstGeom>
            <a:solidFill>
              <a:srgbClr val="9AA0A6"/>
            </a:solidFill>
            <a:ln>
              <a:noFill/>
            </a:ln>
          </p:spPr>
          <p:txBody>
            <a:bodyPr rtlCol="0" anchor="ctr"/>
            <a:lstStyle/>
            <a:p>
              <a:pPr algn="ctr"/>
              <a:endParaRPr/>
            </a:p>
          </p:txBody>
        </p:sp>
        <p:sp>
          <p:nvSpPr>
            <p:cNvPr id="149" name="Oval 148"/>
            <p:cNvSpPr/>
            <p:nvPr/>
          </p:nvSpPr>
          <p:spPr>
            <a:xfrm>
              <a:off x="1940814" y="46634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50" name="Oval 149"/>
            <p:cNvSpPr/>
            <p:nvPr/>
          </p:nvSpPr>
          <p:spPr>
            <a:xfrm>
              <a:off x="1995678" y="4718304"/>
              <a:ext cx="27432" cy="27432"/>
            </a:xfrm>
            <a:prstGeom prst="ellipse">
              <a:avLst/>
            </a:prstGeom>
            <a:solidFill>
              <a:srgbClr val="9AA0A6"/>
            </a:solidFill>
            <a:ln>
              <a:noFill/>
            </a:ln>
          </p:spPr>
          <p:txBody>
            <a:bodyPr rtlCol="0" anchor="ctr"/>
            <a:lstStyle/>
            <a:p>
              <a:pPr algn="ctr"/>
              <a:endParaRPr/>
            </a:p>
          </p:txBody>
        </p:sp>
        <p:cxnSp>
          <p:nvCxnSpPr>
            <p:cNvPr id="151" name="Connector 150"/>
            <p:cNvCxnSpPr/>
            <p:nvPr/>
          </p:nvCxnSpPr>
          <p:spPr>
            <a:xfrm>
              <a:off x="1460754" y="4732020"/>
              <a:ext cx="548640" cy="0"/>
            </a:xfrm>
            <a:prstGeom prst="line">
              <a:avLst/>
            </a:prstGeom>
            <a:ln w="19050">
              <a:solidFill>
                <a:srgbClr val="9AA0A6"/>
              </a:solidFill>
            </a:ln>
          </p:spPr>
        </p:cxnSp>
        <p:sp>
          <p:nvSpPr>
            <p:cNvPr id="152" name="Rounded Rectangle 151"/>
            <p:cNvSpPr/>
            <p:nvPr/>
          </p:nvSpPr>
          <p:spPr>
            <a:xfrm>
              <a:off x="1607058" y="4453128"/>
              <a:ext cx="457200" cy="173736"/>
            </a:xfrm>
            <a:prstGeom prst="roundRect">
              <a:avLst>
                <a:gd name="adj" fmla="val 31578"/>
              </a:avLst>
            </a:prstGeom>
            <a:solidFill>
              <a:srgbClr val="F28C28"/>
            </a:solidFill>
            <a:ln>
              <a:noFill/>
            </a:ln>
          </p:spPr>
          <p:txBody>
            <a:bodyPr rtlCol="0" anchor="ctr"/>
            <a:lstStyle/>
            <a:p>
              <a:pPr algn="ctr"/>
              <a:endParaRPr/>
            </a:p>
          </p:txBody>
        </p:sp>
        <p:sp>
          <p:nvSpPr>
            <p:cNvPr id="153" name="Rectangle 152"/>
            <p:cNvSpPr/>
            <p:nvPr/>
          </p:nvSpPr>
          <p:spPr>
            <a:xfrm>
              <a:off x="1981962" y="4453128"/>
              <a:ext cx="82296" cy="173736"/>
            </a:xfrm>
            <a:prstGeom prst="rect">
              <a:avLst/>
            </a:prstGeom>
            <a:solidFill>
              <a:srgbClr val="1B1D21"/>
            </a:solidFill>
            <a:ln w="12700">
              <a:solidFill>
                <a:srgbClr val="9AA0A6"/>
              </a:solidFill>
            </a:ln>
          </p:spPr>
          <p:txBody>
            <a:bodyPr rtlCol="0" anchor="ctr"/>
            <a:lstStyle/>
            <a:p>
              <a:pPr algn="ctr"/>
              <a:endParaRPr/>
            </a:p>
          </p:txBody>
        </p:sp>
        <p:sp>
          <p:nvSpPr>
            <p:cNvPr id="154" name="Rectangle 153"/>
            <p:cNvSpPr/>
            <p:nvPr/>
          </p:nvSpPr>
          <p:spPr>
            <a:xfrm>
              <a:off x="2000250" y="4370832"/>
              <a:ext cx="45720" cy="91440"/>
            </a:xfrm>
            <a:prstGeom prst="rect">
              <a:avLst/>
            </a:prstGeom>
            <a:solidFill>
              <a:srgbClr val="1B1D21"/>
            </a:solidFill>
            <a:ln w="12700">
              <a:solidFill>
                <a:srgbClr val="9AA0A6"/>
              </a:solidFill>
            </a:ln>
          </p:spPr>
          <p:txBody>
            <a:bodyPr rtlCol="0" anchor="ctr"/>
            <a:lstStyle/>
            <a:p>
              <a:pPr algn="ctr"/>
              <a:endParaRPr/>
            </a:p>
          </p:txBody>
        </p:sp>
        <p:sp>
          <p:nvSpPr>
            <p:cNvPr id="155" name="Rectangle 154"/>
            <p:cNvSpPr/>
            <p:nvPr/>
          </p:nvSpPr>
          <p:spPr>
            <a:xfrm>
              <a:off x="1981962" y="4352544"/>
              <a:ext cx="82296" cy="27432"/>
            </a:xfrm>
            <a:prstGeom prst="rect">
              <a:avLst/>
            </a:prstGeom>
            <a:solidFill>
              <a:srgbClr val="1B1D21"/>
            </a:solidFill>
            <a:ln w="12700">
              <a:solidFill>
                <a:srgbClr val="9AA0A6"/>
              </a:solidFill>
            </a:ln>
          </p:spPr>
          <p:txBody>
            <a:bodyPr rtlCol="0" anchor="ctr"/>
            <a:lstStyle/>
            <a:p>
              <a:pPr algn="ctr"/>
              <a:endParaRPr/>
            </a:p>
          </p:txBody>
        </p:sp>
        <p:sp>
          <p:nvSpPr>
            <p:cNvPr id="156" name="Rounded Rectangle 155"/>
            <p:cNvSpPr/>
            <p:nvPr/>
          </p:nvSpPr>
          <p:spPr>
            <a:xfrm>
              <a:off x="1744218" y="4407408"/>
              <a:ext cx="91440" cy="54864"/>
            </a:xfrm>
            <a:prstGeom prst="roundRect">
              <a:avLst>
                <a:gd name="adj" fmla="val 50000"/>
              </a:avLst>
            </a:prstGeom>
            <a:solidFill>
              <a:srgbClr val="F28C28"/>
            </a:solidFill>
            <a:ln>
              <a:noFill/>
            </a:ln>
          </p:spPr>
          <p:txBody>
            <a:bodyPr rtlCol="0" anchor="ctr"/>
            <a:lstStyle/>
            <a:p>
              <a:pPr algn="ctr"/>
              <a:endParaRPr/>
            </a:p>
          </p:txBody>
        </p:sp>
        <p:sp>
          <p:nvSpPr>
            <p:cNvPr id="157" name="Rectangle 156"/>
            <p:cNvSpPr/>
            <p:nvPr/>
          </p:nvSpPr>
          <p:spPr>
            <a:xfrm>
              <a:off x="1332738" y="4389120"/>
              <a:ext cx="274320" cy="246888"/>
            </a:xfrm>
            <a:prstGeom prst="rect">
              <a:avLst/>
            </a:prstGeom>
            <a:solidFill>
              <a:srgbClr val="F28C28"/>
            </a:solidFill>
            <a:ln>
              <a:noFill/>
            </a:ln>
          </p:spPr>
          <p:txBody>
            <a:bodyPr rtlCol="0" anchor="ctr"/>
            <a:lstStyle/>
            <a:p>
              <a:pPr algn="ctr"/>
              <a:endParaRPr/>
            </a:p>
          </p:txBody>
        </p:sp>
        <p:sp>
          <p:nvSpPr>
            <p:cNvPr id="158" name="Rectangle 157"/>
            <p:cNvSpPr/>
            <p:nvPr/>
          </p:nvSpPr>
          <p:spPr>
            <a:xfrm>
              <a:off x="1319022" y="4366260"/>
              <a:ext cx="301751" cy="32004"/>
            </a:xfrm>
            <a:prstGeom prst="rect">
              <a:avLst/>
            </a:prstGeom>
            <a:solidFill>
              <a:srgbClr val="1B1D21"/>
            </a:solidFill>
            <a:ln w="12700">
              <a:solidFill>
                <a:srgbClr val="9AA0A6"/>
              </a:solidFill>
            </a:ln>
          </p:spPr>
          <p:txBody>
            <a:bodyPr rtlCol="0" anchor="ctr"/>
            <a:lstStyle/>
            <a:p>
              <a:pPr algn="ctr"/>
              <a:endParaRPr/>
            </a:p>
          </p:txBody>
        </p:sp>
        <p:sp>
          <p:nvSpPr>
            <p:cNvPr id="159" name="Rectangle 158"/>
            <p:cNvSpPr/>
            <p:nvPr/>
          </p:nvSpPr>
          <p:spPr>
            <a:xfrm>
              <a:off x="1396746" y="4443984"/>
              <a:ext cx="118872" cy="91440"/>
            </a:xfrm>
            <a:prstGeom prst="rect">
              <a:avLst/>
            </a:prstGeom>
            <a:solidFill>
              <a:srgbClr val="1B1D21"/>
            </a:solidFill>
            <a:ln>
              <a:noFill/>
            </a:ln>
          </p:spPr>
          <p:txBody>
            <a:bodyPr rtlCol="0" anchor="ctr"/>
            <a:lstStyle/>
            <a:p>
              <a:pPr algn="ctr"/>
              <a:endParaRPr/>
            </a:p>
          </p:txBody>
        </p:sp>
        <p:sp>
          <p:nvSpPr>
            <p:cNvPr id="160" name="Rounded Rectangle 159"/>
            <p:cNvSpPr/>
            <p:nvPr/>
          </p:nvSpPr>
          <p:spPr>
            <a:xfrm>
              <a:off x="2414016" y="397763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161" name="Rounded Rectangle 160"/>
            <p:cNvSpPr/>
            <p:nvPr/>
          </p:nvSpPr>
          <p:spPr>
            <a:xfrm>
              <a:off x="2487168" y="4501302"/>
              <a:ext cx="419764" cy="150231"/>
            </a:xfrm>
            <a:prstGeom prst="roundRect">
              <a:avLst>
                <a:gd name="adj" fmla="val 18259"/>
              </a:avLst>
            </a:prstGeom>
            <a:solidFill>
              <a:srgbClr val="2B2F36"/>
            </a:solidFill>
            <a:ln w="19050">
              <a:solidFill>
                <a:srgbClr val="F28C28"/>
              </a:solidFill>
            </a:ln>
          </p:spPr>
          <p:txBody>
            <a:bodyPr rtlCol="0" anchor="ctr"/>
            <a:lstStyle/>
            <a:p>
              <a:pPr algn="ctr"/>
              <a:endParaRPr/>
            </a:p>
          </p:txBody>
        </p:sp>
        <p:sp>
          <p:nvSpPr>
            <p:cNvPr id="162" name="Freeform 161"/>
            <p:cNvSpPr/>
            <p:nvPr/>
          </p:nvSpPr>
          <p:spPr>
            <a:xfrm>
              <a:off x="2522516" y="4439442"/>
              <a:ext cx="349068" cy="61860"/>
            </a:xfrm>
            <a:custGeom>
              <a:avLst/>
              <a:gdLst/>
              <a:ahLst/>
              <a:cxnLst/>
              <a:rect l="l" t="t" r="r" b="b"/>
              <a:pathLst>
                <a:path w="349068" h="61860">
                  <a:moveTo>
                    <a:pt x="0" y="61860"/>
                  </a:moveTo>
                  <a:lnTo>
                    <a:pt x="53023" y="8837"/>
                  </a:lnTo>
                  <a:lnTo>
                    <a:pt x="296045" y="0"/>
                  </a:lnTo>
                  <a:lnTo>
                    <a:pt x="349068" y="61860"/>
                  </a:lnTo>
                  <a:close/>
                </a:path>
              </a:pathLst>
            </a:custGeom>
            <a:solidFill>
              <a:srgbClr val="1B1D21"/>
            </a:solidFill>
            <a:ln w="12700">
              <a:solidFill>
                <a:srgbClr val="9AA0A6"/>
              </a:solidFill>
            </a:ln>
          </p:spPr>
          <p:txBody>
            <a:bodyPr rtlCol="0" anchor="ctr"/>
            <a:lstStyle/>
            <a:p>
              <a:pPr algn="ctr"/>
              <a:endParaRPr/>
            </a:p>
          </p:txBody>
        </p:sp>
        <p:sp>
          <p:nvSpPr>
            <p:cNvPr id="163" name="Oval 162"/>
            <p:cNvSpPr/>
            <p:nvPr/>
          </p:nvSpPr>
          <p:spPr>
            <a:xfrm>
              <a:off x="2557865" y="4686883"/>
              <a:ext cx="106045" cy="106045"/>
            </a:xfrm>
            <a:prstGeom prst="ellipse">
              <a:avLst/>
            </a:prstGeom>
            <a:solidFill>
              <a:srgbClr val="343A43"/>
            </a:solidFill>
            <a:ln w="12700">
              <a:solidFill>
                <a:srgbClr val="9AA0A6"/>
              </a:solidFill>
            </a:ln>
          </p:spPr>
          <p:txBody>
            <a:bodyPr rtlCol="0" anchor="ctr"/>
            <a:lstStyle/>
            <a:p>
              <a:pPr algn="ctr"/>
              <a:endParaRPr/>
            </a:p>
          </p:txBody>
        </p:sp>
        <p:sp>
          <p:nvSpPr>
            <p:cNvPr id="164" name="Oval 163"/>
            <p:cNvSpPr/>
            <p:nvPr/>
          </p:nvSpPr>
          <p:spPr>
            <a:xfrm>
              <a:off x="2730189" y="4686883"/>
              <a:ext cx="106045" cy="106045"/>
            </a:xfrm>
            <a:prstGeom prst="ellipse">
              <a:avLst/>
            </a:prstGeom>
            <a:solidFill>
              <a:srgbClr val="343A43"/>
            </a:solidFill>
            <a:ln w="12700">
              <a:solidFill>
                <a:srgbClr val="9AA0A6"/>
              </a:solidFill>
            </a:ln>
          </p:spPr>
          <p:txBody>
            <a:bodyPr rtlCol="0" anchor="ctr"/>
            <a:lstStyle/>
            <a:p>
              <a:pPr algn="ctr"/>
              <a:endParaRPr/>
            </a:p>
          </p:txBody>
        </p:sp>
        <p:cxnSp>
          <p:nvCxnSpPr>
            <p:cNvPr id="165" name="Connector 164"/>
            <p:cNvCxnSpPr/>
            <p:nvPr/>
          </p:nvCxnSpPr>
          <p:spPr>
            <a:xfrm>
              <a:off x="2906932" y="4625022"/>
              <a:ext cx="35349" cy="0"/>
            </a:xfrm>
            <a:prstGeom prst="line">
              <a:avLst/>
            </a:prstGeom>
            <a:ln w="25400">
              <a:solidFill>
                <a:srgbClr val="9AA0A6"/>
              </a:solidFill>
            </a:ln>
          </p:spPr>
        </p:cxnSp>
        <p:sp>
          <p:nvSpPr>
            <p:cNvPr id="166" name="Rectangle 165"/>
            <p:cNvSpPr/>
            <p:nvPr/>
          </p:nvSpPr>
          <p:spPr>
            <a:xfrm>
              <a:off x="2942281" y="4625022"/>
              <a:ext cx="839529" cy="44185"/>
            </a:xfrm>
            <a:prstGeom prst="rect">
              <a:avLst/>
            </a:prstGeom>
            <a:solidFill>
              <a:srgbClr val="1B1D21"/>
            </a:solidFill>
            <a:ln w="12700">
              <a:solidFill>
                <a:srgbClr val="9AA0A6"/>
              </a:solidFill>
            </a:ln>
          </p:spPr>
          <p:txBody>
            <a:bodyPr rtlCol="0" anchor="ctr"/>
            <a:lstStyle/>
            <a:p>
              <a:pPr algn="ctr"/>
              <a:endParaRPr/>
            </a:p>
          </p:txBody>
        </p:sp>
        <p:sp>
          <p:nvSpPr>
            <p:cNvPr id="167" name="Oval 166"/>
            <p:cNvSpPr/>
            <p:nvPr/>
          </p:nvSpPr>
          <p:spPr>
            <a:xfrm>
              <a:off x="2999722" y="466037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168" name="Oval 167"/>
            <p:cNvSpPr/>
            <p:nvPr/>
          </p:nvSpPr>
          <p:spPr>
            <a:xfrm>
              <a:off x="3052745" y="4713394"/>
              <a:ext cx="26511" cy="26511"/>
            </a:xfrm>
            <a:prstGeom prst="ellipse">
              <a:avLst/>
            </a:prstGeom>
            <a:solidFill>
              <a:srgbClr val="9AA0A6"/>
            </a:solidFill>
            <a:ln>
              <a:noFill/>
            </a:ln>
          </p:spPr>
          <p:txBody>
            <a:bodyPr rtlCol="0" anchor="ctr"/>
            <a:lstStyle/>
            <a:p>
              <a:pPr algn="ctr"/>
              <a:endParaRPr/>
            </a:p>
          </p:txBody>
        </p:sp>
        <p:sp>
          <p:nvSpPr>
            <p:cNvPr id="169" name="Oval 168"/>
            <p:cNvSpPr/>
            <p:nvPr/>
          </p:nvSpPr>
          <p:spPr>
            <a:xfrm>
              <a:off x="3165419" y="466037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170" name="Oval 169"/>
            <p:cNvSpPr/>
            <p:nvPr/>
          </p:nvSpPr>
          <p:spPr>
            <a:xfrm>
              <a:off x="3218442" y="4713394"/>
              <a:ext cx="26511" cy="26511"/>
            </a:xfrm>
            <a:prstGeom prst="ellipse">
              <a:avLst/>
            </a:prstGeom>
            <a:solidFill>
              <a:srgbClr val="9AA0A6"/>
            </a:solidFill>
            <a:ln>
              <a:noFill/>
            </a:ln>
          </p:spPr>
          <p:txBody>
            <a:bodyPr rtlCol="0" anchor="ctr"/>
            <a:lstStyle/>
            <a:p>
              <a:pPr algn="ctr"/>
              <a:endParaRPr/>
            </a:p>
          </p:txBody>
        </p:sp>
        <p:sp>
          <p:nvSpPr>
            <p:cNvPr id="171" name="Oval 170"/>
            <p:cNvSpPr/>
            <p:nvPr/>
          </p:nvSpPr>
          <p:spPr>
            <a:xfrm>
              <a:off x="3331116" y="466037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172" name="Oval 171"/>
            <p:cNvSpPr/>
            <p:nvPr/>
          </p:nvSpPr>
          <p:spPr>
            <a:xfrm>
              <a:off x="3384139" y="4713394"/>
              <a:ext cx="26511" cy="26511"/>
            </a:xfrm>
            <a:prstGeom prst="ellipse">
              <a:avLst/>
            </a:prstGeom>
            <a:solidFill>
              <a:srgbClr val="9AA0A6"/>
            </a:solidFill>
            <a:ln>
              <a:noFill/>
            </a:ln>
          </p:spPr>
          <p:txBody>
            <a:bodyPr rtlCol="0" anchor="ctr"/>
            <a:lstStyle/>
            <a:p>
              <a:pPr algn="ctr"/>
              <a:endParaRPr/>
            </a:p>
          </p:txBody>
        </p:sp>
        <p:sp>
          <p:nvSpPr>
            <p:cNvPr id="173" name="Oval 172"/>
            <p:cNvSpPr/>
            <p:nvPr/>
          </p:nvSpPr>
          <p:spPr>
            <a:xfrm>
              <a:off x="3496812" y="466037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174" name="Oval 173"/>
            <p:cNvSpPr/>
            <p:nvPr/>
          </p:nvSpPr>
          <p:spPr>
            <a:xfrm>
              <a:off x="3549835" y="4713394"/>
              <a:ext cx="26511" cy="26511"/>
            </a:xfrm>
            <a:prstGeom prst="ellipse">
              <a:avLst/>
            </a:prstGeom>
            <a:solidFill>
              <a:srgbClr val="9AA0A6"/>
            </a:solidFill>
            <a:ln>
              <a:noFill/>
            </a:ln>
          </p:spPr>
          <p:txBody>
            <a:bodyPr rtlCol="0" anchor="ctr"/>
            <a:lstStyle/>
            <a:p>
              <a:pPr algn="ctr"/>
              <a:endParaRPr/>
            </a:p>
          </p:txBody>
        </p:sp>
        <p:sp>
          <p:nvSpPr>
            <p:cNvPr id="175" name="Oval 174"/>
            <p:cNvSpPr/>
            <p:nvPr/>
          </p:nvSpPr>
          <p:spPr>
            <a:xfrm>
              <a:off x="3662509" y="4660371"/>
              <a:ext cx="132557" cy="132557"/>
            </a:xfrm>
            <a:prstGeom prst="ellipse">
              <a:avLst/>
            </a:prstGeom>
            <a:solidFill>
              <a:srgbClr val="343A43"/>
            </a:solidFill>
            <a:ln w="15875">
              <a:solidFill>
                <a:srgbClr val="9AA0A6"/>
              </a:solidFill>
            </a:ln>
          </p:spPr>
          <p:txBody>
            <a:bodyPr rtlCol="0" anchor="ctr"/>
            <a:lstStyle/>
            <a:p>
              <a:pPr algn="ctr"/>
              <a:endParaRPr/>
            </a:p>
          </p:txBody>
        </p:sp>
        <p:sp>
          <p:nvSpPr>
            <p:cNvPr id="176" name="Oval 175"/>
            <p:cNvSpPr/>
            <p:nvPr/>
          </p:nvSpPr>
          <p:spPr>
            <a:xfrm>
              <a:off x="3715532" y="4713394"/>
              <a:ext cx="26511" cy="26511"/>
            </a:xfrm>
            <a:prstGeom prst="ellipse">
              <a:avLst/>
            </a:prstGeom>
            <a:solidFill>
              <a:srgbClr val="9AA0A6"/>
            </a:solidFill>
            <a:ln>
              <a:noFill/>
            </a:ln>
          </p:spPr>
          <p:txBody>
            <a:bodyPr rtlCol="0" anchor="ctr"/>
            <a:lstStyle/>
            <a:p>
              <a:pPr algn="ctr"/>
              <a:endParaRPr/>
            </a:p>
          </p:txBody>
        </p:sp>
        <p:cxnSp>
          <p:nvCxnSpPr>
            <p:cNvPr id="177" name="Connector 176"/>
            <p:cNvCxnSpPr/>
            <p:nvPr/>
          </p:nvCxnSpPr>
          <p:spPr>
            <a:xfrm>
              <a:off x="3066001" y="4726650"/>
              <a:ext cx="662787" cy="0"/>
            </a:xfrm>
            <a:prstGeom prst="line">
              <a:avLst/>
            </a:prstGeom>
            <a:ln w="19050">
              <a:solidFill>
                <a:srgbClr val="9AA0A6"/>
              </a:solidFill>
            </a:ln>
          </p:spPr>
        </p:cxnSp>
        <p:sp>
          <p:nvSpPr>
            <p:cNvPr id="178" name="Rounded Rectangle 177"/>
            <p:cNvSpPr/>
            <p:nvPr/>
          </p:nvSpPr>
          <p:spPr>
            <a:xfrm>
              <a:off x="3207396" y="4457116"/>
              <a:ext cx="574415" cy="167905"/>
            </a:xfrm>
            <a:prstGeom prst="roundRect">
              <a:avLst>
                <a:gd name="adj" fmla="val 32675"/>
              </a:avLst>
            </a:prstGeom>
            <a:solidFill>
              <a:srgbClr val="F28C28"/>
            </a:solidFill>
            <a:ln>
              <a:noFill/>
            </a:ln>
          </p:spPr>
          <p:txBody>
            <a:bodyPr rtlCol="0" anchor="ctr"/>
            <a:lstStyle/>
            <a:p>
              <a:pPr algn="ctr"/>
              <a:endParaRPr/>
            </a:p>
          </p:txBody>
        </p:sp>
        <p:sp>
          <p:nvSpPr>
            <p:cNvPr id="179" name="Rectangle 178"/>
            <p:cNvSpPr/>
            <p:nvPr/>
          </p:nvSpPr>
          <p:spPr>
            <a:xfrm>
              <a:off x="3702276" y="4457116"/>
              <a:ext cx="79534" cy="167905"/>
            </a:xfrm>
            <a:prstGeom prst="rect">
              <a:avLst/>
            </a:prstGeom>
            <a:solidFill>
              <a:srgbClr val="1B1D21"/>
            </a:solidFill>
            <a:ln w="12700">
              <a:solidFill>
                <a:srgbClr val="9AA0A6"/>
              </a:solidFill>
            </a:ln>
          </p:spPr>
          <p:txBody>
            <a:bodyPr rtlCol="0" anchor="ctr"/>
            <a:lstStyle/>
            <a:p>
              <a:pPr algn="ctr"/>
              <a:endParaRPr/>
            </a:p>
          </p:txBody>
        </p:sp>
        <p:sp>
          <p:nvSpPr>
            <p:cNvPr id="180" name="Rectangle 179"/>
            <p:cNvSpPr/>
            <p:nvPr/>
          </p:nvSpPr>
          <p:spPr>
            <a:xfrm>
              <a:off x="3719951" y="4377582"/>
              <a:ext cx="44185" cy="88371"/>
            </a:xfrm>
            <a:prstGeom prst="rect">
              <a:avLst/>
            </a:prstGeom>
            <a:solidFill>
              <a:srgbClr val="1B1D21"/>
            </a:solidFill>
            <a:ln w="12700">
              <a:solidFill>
                <a:srgbClr val="9AA0A6"/>
              </a:solidFill>
            </a:ln>
          </p:spPr>
          <p:txBody>
            <a:bodyPr rtlCol="0" anchor="ctr"/>
            <a:lstStyle/>
            <a:p>
              <a:pPr algn="ctr"/>
              <a:endParaRPr/>
            </a:p>
          </p:txBody>
        </p:sp>
        <p:sp>
          <p:nvSpPr>
            <p:cNvPr id="181" name="Rectangle 180"/>
            <p:cNvSpPr/>
            <p:nvPr/>
          </p:nvSpPr>
          <p:spPr>
            <a:xfrm>
              <a:off x="3702276" y="4359908"/>
              <a:ext cx="79534" cy="26511"/>
            </a:xfrm>
            <a:prstGeom prst="rect">
              <a:avLst/>
            </a:prstGeom>
            <a:solidFill>
              <a:srgbClr val="1B1D21"/>
            </a:solidFill>
            <a:ln w="12700">
              <a:solidFill>
                <a:srgbClr val="9AA0A6"/>
              </a:solidFill>
            </a:ln>
          </p:spPr>
          <p:txBody>
            <a:bodyPr rtlCol="0" anchor="ctr"/>
            <a:lstStyle/>
            <a:p>
              <a:pPr algn="ctr"/>
              <a:endParaRPr/>
            </a:p>
          </p:txBody>
        </p:sp>
        <p:sp>
          <p:nvSpPr>
            <p:cNvPr id="182" name="Rounded Rectangle 181"/>
            <p:cNvSpPr/>
            <p:nvPr/>
          </p:nvSpPr>
          <p:spPr>
            <a:xfrm>
              <a:off x="3339953" y="4412931"/>
              <a:ext cx="88371" cy="53022"/>
            </a:xfrm>
            <a:prstGeom prst="roundRect">
              <a:avLst>
                <a:gd name="adj" fmla="val 50000"/>
              </a:avLst>
            </a:prstGeom>
            <a:solidFill>
              <a:srgbClr val="F28C28"/>
            </a:solidFill>
            <a:ln>
              <a:noFill/>
            </a:ln>
          </p:spPr>
          <p:txBody>
            <a:bodyPr rtlCol="0" anchor="ctr"/>
            <a:lstStyle/>
            <a:p>
              <a:pPr algn="ctr"/>
              <a:endParaRPr/>
            </a:p>
          </p:txBody>
        </p:sp>
        <p:sp>
          <p:nvSpPr>
            <p:cNvPr id="183" name="Rectangle 182"/>
            <p:cNvSpPr/>
            <p:nvPr/>
          </p:nvSpPr>
          <p:spPr>
            <a:xfrm>
              <a:off x="2942281" y="4395256"/>
              <a:ext cx="265114" cy="238603"/>
            </a:xfrm>
            <a:prstGeom prst="rect">
              <a:avLst/>
            </a:prstGeom>
            <a:solidFill>
              <a:srgbClr val="F28C28"/>
            </a:solidFill>
            <a:ln>
              <a:noFill/>
            </a:ln>
          </p:spPr>
          <p:txBody>
            <a:bodyPr rtlCol="0" anchor="ctr"/>
            <a:lstStyle/>
            <a:p>
              <a:pPr algn="ctr"/>
              <a:endParaRPr/>
            </a:p>
          </p:txBody>
        </p:sp>
        <p:sp>
          <p:nvSpPr>
            <p:cNvPr id="184" name="Rectangle 183"/>
            <p:cNvSpPr/>
            <p:nvPr/>
          </p:nvSpPr>
          <p:spPr>
            <a:xfrm>
              <a:off x="2929025" y="4373164"/>
              <a:ext cx="291626" cy="30930"/>
            </a:xfrm>
            <a:prstGeom prst="rect">
              <a:avLst/>
            </a:prstGeom>
            <a:solidFill>
              <a:srgbClr val="1B1D21"/>
            </a:solidFill>
            <a:ln w="12700">
              <a:solidFill>
                <a:srgbClr val="9AA0A6"/>
              </a:solidFill>
            </a:ln>
          </p:spPr>
          <p:txBody>
            <a:bodyPr rtlCol="0" anchor="ctr"/>
            <a:lstStyle/>
            <a:p>
              <a:pPr algn="ctr"/>
              <a:endParaRPr/>
            </a:p>
          </p:txBody>
        </p:sp>
        <p:sp>
          <p:nvSpPr>
            <p:cNvPr id="185" name="Rectangle 184"/>
            <p:cNvSpPr/>
            <p:nvPr/>
          </p:nvSpPr>
          <p:spPr>
            <a:xfrm>
              <a:off x="3004141" y="4448279"/>
              <a:ext cx="114883" cy="88371"/>
            </a:xfrm>
            <a:prstGeom prst="rect">
              <a:avLst/>
            </a:prstGeom>
            <a:solidFill>
              <a:srgbClr val="1B1D21"/>
            </a:solidFill>
            <a:ln>
              <a:noFill/>
            </a:ln>
          </p:spPr>
          <p:txBody>
            <a:bodyPr rtlCol="0" anchor="ctr"/>
            <a:lstStyle/>
            <a:p>
              <a:pPr algn="ctr"/>
              <a:endParaRPr/>
            </a:p>
          </p:txBody>
        </p:sp>
        <p:sp>
          <p:nvSpPr>
            <p:cNvPr id="186" name="Rounded Rectangle 185"/>
            <p:cNvSpPr/>
            <p:nvPr/>
          </p:nvSpPr>
          <p:spPr>
            <a:xfrm>
              <a:off x="4005072" y="397763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187" name="Rectangle 186"/>
            <p:cNvSpPr/>
            <p:nvPr/>
          </p:nvSpPr>
          <p:spPr>
            <a:xfrm>
              <a:off x="4370832" y="4626864"/>
              <a:ext cx="708659" cy="45720"/>
            </a:xfrm>
            <a:prstGeom prst="rect">
              <a:avLst/>
            </a:prstGeom>
            <a:solidFill>
              <a:srgbClr val="1B1D21"/>
            </a:solidFill>
            <a:ln w="12700">
              <a:solidFill>
                <a:srgbClr val="9AA0A6"/>
              </a:solidFill>
            </a:ln>
          </p:spPr>
          <p:txBody>
            <a:bodyPr rtlCol="0" anchor="ctr"/>
            <a:lstStyle/>
            <a:p>
              <a:pPr algn="ctr"/>
              <a:endParaRPr/>
            </a:p>
          </p:txBody>
        </p:sp>
        <p:sp>
          <p:nvSpPr>
            <p:cNvPr id="188" name="Oval 187"/>
            <p:cNvSpPr/>
            <p:nvPr/>
          </p:nvSpPr>
          <p:spPr>
            <a:xfrm>
              <a:off x="4430268" y="46634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89" name="Oval 188"/>
            <p:cNvSpPr/>
            <p:nvPr/>
          </p:nvSpPr>
          <p:spPr>
            <a:xfrm>
              <a:off x="4485132" y="4718304"/>
              <a:ext cx="27432" cy="27432"/>
            </a:xfrm>
            <a:prstGeom prst="ellipse">
              <a:avLst/>
            </a:prstGeom>
            <a:solidFill>
              <a:srgbClr val="9AA0A6"/>
            </a:solidFill>
            <a:ln>
              <a:noFill/>
            </a:ln>
          </p:spPr>
          <p:txBody>
            <a:bodyPr rtlCol="0" anchor="ctr"/>
            <a:lstStyle/>
            <a:p>
              <a:pPr algn="ctr"/>
              <a:endParaRPr/>
            </a:p>
          </p:txBody>
        </p:sp>
        <p:sp>
          <p:nvSpPr>
            <p:cNvPr id="190" name="Oval 189"/>
            <p:cNvSpPr/>
            <p:nvPr/>
          </p:nvSpPr>
          <p:spPr>
            <a:xfrm>
              <a:off x="4693158" y="46634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91" name="Oval 190"/>
            <p:cNvSpPr/>
            <p:nvPr/>
          </p:nvSpPr>
          <p:spPr>
            <a:xfrm>
              <a:off x="4748022" y="4718304"/>
              <a:ext cx="27432" cy="27432"/>
            </a:xfrm>
            <a:prstGeom prst="ellipse">
              <a:avLst/>
            </a:prstGeom>
            <a:solidFill>
              <a:srgbClr val="9AA0A6"/>
            </a:solidFill>
            <a:ln>
              <a:noFill/>
            </a:ln>
          </p:spPr>
          <p:txBody>
            <a:bodyPr rtlCol="0" anchor="ctr"/>
            <a:lstStyle/>
            <a:p>
              <a:pPr algn="ctr"/>
              <a:endParaRPr/>
            </a:p>
          </p:txBody>
        </p:sp>
        <p:sp>
          <p:nvSpPr>
            <p:cNvPr id="192" name="Oval 191"/>
            <p:cNvSpPr/>
            <p:nvPr/>
          </p:nvSpPr>
          <p:spPr>
            <a:xfrm>
              <a:off x="4956048" y="46634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193" name="Oval 192"/>
            <p:cNvSpPr/>
            <p:nvPr/>
          </p:nvSpPr>
          <p:spPr>
            <a:xfrm>
              <a:off x="5010912" y="4718304"/>
              <a:ext cx="27432" cy="27432"/>
            </a:xfrm>
            <a:prstGeom prst="ellipse">
              <a:avLst/>
            </a:prstGeom>
            <a:solidFill>
              <a:srgbClr val="9AA0A6"/>
            </a:solidFill>
            <a:ln>
              <a:noFill/>
            </a:ln>
          </p:spPr>
          <p:txBody>
            <a:bodyPr rtlCol="0" anchor="ctr"/>
            <a:lstStyle/>
            <a:p>
              <a:pPr algn="ctr"/>
              <a:endParaRPr/>
            </a:p>
          </p:txBody>
        </p:sp>
        <p:cxnSp>
          <p:nvCxnSpPr>
            <p:cNvPr id="194" name="Connector 193"/>
            <p:cNvCxnSpPr/>
            <p:nvPr/>
          </p:nvCxnSpPr>
          <p:spPr>
            <a:xfrm>
              <a:off x="4498848" y="4732020"/>
              <a:ext cx="525780" cy="0"/>
            </a:xfrm>
            <a:prstGeom prst="line">
              <a:avLst/>
            </a:prstGeom>
            <a:ln w="19050">
              <a:solidFill>
                <a:srgbClr val="9AA0A6"/>
              </a:solidFill>
            </a:ln>
          </p:spPr>
        </p:cxnSp>
        <p:sp>
          <p:nvSpPr>
            <p:cNvPr id="195" name="Rounded Rectangle 194"/>
            <p:cNvSpPr/>
            <p:nvPr/>
          </p:nvSpPr>
          <p:spPr>
            <a:xfrm>
              <a:off x="4645152" y="4453128"/>
              <a:ext cx="434340" cy="173736"/>
            </a:xfrm>
            <a:prstGeom prst="roundRect">
              <a:avLst>
                <a:gd name="adj" fmla="val 31578"/>
              </a:avLst>
            </a:prstGeom>
            <a:solidFill>
              <a:srgbClr val="F28C28"/>
            </a:solidFill>
            <a:ln>
              <a:noFill/>
            </a:ln>
          </p:spPr>
          <p:txBody>
            <a:bodyPr rtlCol="0" anchor="ctr"/>
            <a:lstStyle/>
            <a:p>
              <a:pPr algn="ctr"/>
              <a:endParaRPr/>
            </a:p>
          </p:txBody>
        </p:sp>
        <p:sp>
          <p:nvSpPr>
            <p:cNvPr id="196" name="Rounded Rectangle 195"/>
            <p:cNvSpPr/>
            <p:nvPr/>
          </p:nvSpPr>
          <p:spPr>
            <a:xfrm>
              <a:off x="4663440" y="4517136"/>
              <a:ext cx="306323" cy="118872"/>
            </a:xfrm>
            <a:prstGeom prst="roundRect">
              <a:avLst>
                <a:gd name="adj" fmla="val 30769"/>
              </a:avLst>
            </a:prstGeom>
            <a:solidFill>
              <a:srgbClr val="F28C28"/>
            </a:solidFill>
            <a:ln w="15875">
              <a:solidFill>
                <a:srgbClr val="1B1D21"/>
              </a:solidFill>
            </a:ln>
          </p:spPr>
          <p:txBody>
            <a:bodyPr rtlCol="0" anchor="ctr"/>
            <a:lstStyle/>
            <a:p>
              <a:pPr algn="ctr"/>
              <a:endParaRPr/>
            </a:p>
          </p:txBody>
        </p:sp>
        <p:sp>
          <p:nvSpPr>
            <p:cNvPr id="197" name="Rectangle 196"/>
            <p:cNvSpPr/>
            <p:nvPr/>
          </p:nvSpPr>
          <p:spPr>
            <a:xfrm>
              <a:off x="4997196" y="4453128"/>
              <a:ext cx="82296" cy="173736"/>
            </a:xfrm>
            <a:prstGeom prst="rect">
              <a:avLst/>
            </a:prstGeom>
            <a:solidFill>
              <a:srgbClr val="1B1D21"/>
            </a:solidFill>
            <a:ln w="12700">
              <a:solidFill>
                <a:srgbClr val="9AA0A6"/>
              </a:solidFill>
            </a:ln>
          </p:spPr>
          <p:txBody>
            <a:bodyPr rtlCol="0" anchor="ctr"/>
            <a:lstStyle/>
            <a:p>
              <a:pPr algn="ctr"/>
              <a:endParaRPr/>
            </a:p>
          </p:txBody>
        </p:sp>
        <p:sp>
          <p:nvSpPr>
            <p:cNvPr id="198" name="Rectangle 197"/>
            <p:cNvSpPr/>
            <p:nvPr/>
          </p:nvSpPr>
          <p:spPr>
            <a:xfrm>
              <a:off x="5015484" y="4370832"/>
              <a:ext cx="45720" cy="91440"/>
            </a:xfrm>
            <a:prstGeom prst="rect">
              <a:avLst/>
            </a:prstGeom>
            <a:solidFill>
              <a:srgbClr val="1B1D21"/>
            </a:solidFill>
            <a:ln w="12700">
              <a:solidFill>
                <a:srgbClr val="9AA0A6"/>
              </a:solidFill>
            </a:ln>
          </p:spPr>
          <p:txBody>
            <a:bodyPr rtlCol="0" anchor="ctr"/>
            <a:lstStyle/>
            <a:p>
              <a:pPr algn="ctr"/>
              <a:endParaRPr/>
            </a:p>
          </p:txBody>
        </p:sp>
        <p:sp>
          <p:nvSpPr>
            <p:cNvPr id="199" name="Rectangle 198"/>
            <p:cNvSpPr/>
            <p:nvPr/>
          </p:nvSpPr>
          <p:spPr>
            <a:xfrm>
              <a:off x="4997196" y="4352544"/>
              <a:ext cx="82296" cy="27432"/>
            </a:xfrm>
            <a:prstGeom prst="rect">
              <a:avLst/>
            </a:prstGeom>
            <a:solidFill>
              <a:srgbClr val="1B1D21"/>
            </a:solidFill>
            <a:ln w="12700">
              <a:solidFill>
                <a:srgbClr val="9AA0A6"/>
              </a:solidFill>
            </a:ln>
          </p:spPr>
          <p:txBody>
            <a:bodyPr rtlCol="0" anchor="ctr"/>
            <a:lstStyle/>
            <a:p>
              <a:pPr algn="ctr"/>
              <a:endParaRPr/>
            </a:p>
          </p:txBody>
        </p:sp>
        <p:sp>
          <p:nvSpPr>
            <p:cNvPr id="200" name="Rounded Rectangle 199"/>
            <p:cNvSpPr/>
            <p:nvPr/>
          </p:nvSpPr>
          <p:spPr>
            <a:xfrm>
              <a:off x="4782312" y="4407408"/>
              <a:ext cx="91440" cy="54864"/>
            </a:xfrm>
            <a:prstGeom prst="roundRect">
              <a:avLst>
                <a:gd name="adj" fmla="val 50000"/>
              </a:avLst>
            </a:prstGeom>
            <a:solidFill>
              <a:srgbClr val="F28C28"/>
            </a:solidFill>
            <a:ln>
              <a:noFill/>
            </a:ln>
          </p:spPr>
          <p:txBody>
            <a:bodyPr rtlCol="0" anchor="ctr"/>
            <a:lstStyle/>
            <a:p>
              <a:pPr algn="ctr"/>
              <a:endParaRPr/>
            </a:p>
          </p:txBody>
        </p:sp>
        <p:sp>
          <p:nvSpPr>
            <p:cNvPr id="201" name="Rectangle 200"/>
            <p:cNvSpPr/>
            <p:nvPr/>
          </p:nvSpPr>
          <p:spPr>
            <a:xfrm>
              <a:off x="4370832" y="4389120"/>
              <a:ext cx="274320" cy="246888"/>
            </a:xfrm>
            <a:prstGeom prst="rect">
              <a:avLst/>
            </a:prstGeom>
            <a:solidFill>
              <a:srgbClr val="F28C28"/>
            </a:solidFill>
            <a:ln>
              <a:noFill/>
            </a:ln>
          </p:spPr>
          <p:txBody>
            <a:bodyPr rtlCol="0" anchor="ctr"/>
            <a:lstStyle/>
            <a:p>
              <a:pPr algn="ctr"/>
              <a:endParaRPr/>
            </a:p>
          </p:txBody>
        </p:sp>
        <p:sp>
          <p:nvSpPr>
            <p:cNvPr id="202" name="Rectangle 201"/>
            <p:cNvSpPr/>
            <p:nvPr/>
          </p:nvSpPr>
          <p:spPr>
            <a:xfrm>
              <a:off x="4357116" y="4366260"/>
              <a:ext cx="301751" cy="32004"/>
            </a:xfrm>
            <a:prstGeom prst="rect">
              <a:avLst/>
            </a:prstGeom>
            <a:solidFill>
              <a:srgbClr val="1B1D21"/>
            </a:solidFill>
            <a:ln w="12700">
              <a:solidFill>
                <a:srgbClr val="9AA0A6"/>
              </a:solidFill>
            </a:ln>
          </p:spPr>
          <p:txBody>
            <a:bodyPr rtlCol="0" anchor="ctr"/>
            <a:lstStyle/>
            <a:p>
              <a:pPr algn="ctr"/>
              <a:endParaRPr/>
            </a:p>
          </p:txBody>
        </p:sp>
        <p:sp>
          <p:nvSpPr>
            <p:cNvPr id="203" name="Rectangle 202"/>
            <p:cNvSpPr/>
            <p:nvPr/>
          </p:nvSpPr>
          <p:spPr>
            <a:xfrm>
              <a:off x="4434840" y="4443984"/>
              <a:ext cx="118872" cy="91440"/>
            </a:xfrm>
            <a:prstGeom prst="rect">
              <a:avLst/>
            </a:prstGeom>
            <a:solidFill>
              <a:srgbClr val="1B1D21"/>
            </a:solidFill>
            <a:ln>
              <a:noFill/>
            </a:ln>
          </p:spPr>
          <p:txBody>
            <a:bodyPr rtlCol="0" anchor="ctr"/>
            <a:lstStyle/>
            <a:p>
              <a:pPr algn="ctr"/>
              <a:endParaRPr/>
            </a:p>
          </p:txBody>
        </p:sp>
        <p:sp>
          <p:nvSpPr>
            <p:cNvPr id="204" name="Rounded Rectangle 203"/>
            <p:cNvSpPr/>
            <p:nvPr/>
          </p:nvSpPr>
          <p:spPr>
            <a:xfrm>
              <a:off x="5596128" y="3977639"/>
              <a:ext cx="1463040" cy="1188720"/>
            </a:xfrm>
            <a:prstGeom prst="roundRect">
              <a:avLst>
                <a:gd name="adj" fmla="val 6153"/>
              </a:avLst>
            </a:prstGeom>
            <a:solidFill>
              <a:srgbClr val="2B2F36"/>
            </a:solidFill>
            <a:ln w="19050">
              <a:solidFill>
                <a:srgbClr val="9AA0A6"/>
              </a:solidFill>
            </a:ln>
          </p:spPr>
          <p:txBody>
            <a:bodyPr rtlCol="0" anchor="ctr"/>
            <a:lstStyle/>
            <a:p>
              <a:pPr algn="ctr"/>
              <a:endParaRPr/>
            </a:p>
          </p:txBody>
        </p:sp>
        <p:sp>
          <p:nvSpPr>
            <p:cNvPr id="205" name="Rectangle 204"/>
            <p:cNvSpPr/>
            <p:nvPr/>
          </p:nvSpPr>
          <p:spPr>
            <a:xfrm>
              <a:off x="5996178" y="4626864"/>
              <a:ext cx="640080" cy="45720"/>
            </a:xfrm>
            <a:prstGeom prst="rect">
              <a:avLst/>
            </a:prstGeom>
            <a:solidFill>
              <a:srgbClr val="1B1D21"/>
            </a:solidFill>
            <a:ln w="12700">
              <a:solidFill>
                <a:srgbClr val="9AA0A6"/>
              </a:solidFill>
            </a:ln>
          </p:spPr>
          <p:txBody>
            <a:bodyPr rtlCol="0" anchor="ctr"/>
            <a:lstStyle/>
            <a:p>
              <a:pPr algn="ctr"/>
              <a:endParaRPr/>
            </a:p>
          </p:txBody>
        </p:sp>
        <p:sp>
          <p:nvSpPr>
            <p:cNvPr id="206" name="Oval 205"/>
            <p:cNvSpPr/>
            <p:nvPr/>
          </p:nvSpPr>
          <p:spPr>
            <a:xfrm>
              <a:off x="6055614" y="46634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207" name="Oval 206"/>
            <p:cNvSpPr/>
            <p:nvPr/>
          </p:nvSpPr>
          <p:spPr>
            <a:xfrm>
              <a:off x="6110478" y="4718304"/>
              <a:ext cx="27432" cy="27432"/>
            </a:xfrm>
            <a:prstGeom prst="ellipse">
              <a:avLst/>
            </a:prstGeom>
            <a:solidFill>
              <a:srgbClr val="9AA0A6"/>
            </a:solidFill>
            <a:ln>
              <a:noFill/>
            </a:ln>
          </p:spPr>
          <p:txBody>
            <a:bodyPr rtlCol="0" anchor="ctr"/>
            <a:lstStyle/>
            <a:p>
              <a:pPr algn="ctr"/>
              <a:endParaRPr/>
            </a:p>
          </p:txBody>
        </p:sp>
        <p:sp>
          <p:nvSpPr>
            <p:cNvPr id="208" name="Oval 207"/>
            <p:cNvSpPr/>
            <p:nvPr/>
          </p:nvSpPr>
          <p:spPr>
            <a:xfrm>
              <a:off x="6512814" y="46634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209" name="Oval 208"/>
            <p:cNvSpPr/>
            <p:nvPr/>
          </p:nvSpPr>
          <p:spPr>
            <a:xfrm>
              <a:off x="6567678" y="4718304"/>
              <a:ext cx="27432" cy="27432"/>
            </a:xfrm>
            <a:prstGeom prst="ellipse">
              <a:avLst/>
            </a:prstGeom>
            <a:solidFill>
              <a:srgbClr val="9AA0A6"/>
            </a:solidFill>
            <a:ln>
              <a:noFill/>
            </a:ln>
          </p:spPr>
          <p:txBody>
            <a:bodyPr rtlCol="0" anchor="ctr"/>
            <a:lstStyle/>
            <a:p>
              <a:pPr algn="ctr"/>
              <a:endParaRPr/>
            </a:p>
          </p:txBody>
        </p:sp>
        <p:cxnSp>
          <p:nvCxnSpPr>
            <p:cNvPr id="210" name="Connector 209"/>
            <p:cNvCxnSpPr/>
            <p:nvPr/>
          </p:nvCxnSpPr>
          <p:spPr>
            <a:xfrm>
              <a:off x="6124194" y="4732020"/>
              <a:ext cx="457200" cy="0"/>
            </a:xfrm>
            <a:prstGeom prst="line">
              <a:avLst/>
            </a:prstGeom>
            <a:ln w="19050">
              <a:solidFill>
                <a:srgbClr val="9AA0A6"/>
              </a:solidFill>
            </a:ln>
          </p:spPr>
        </p:cxnSp>
        <p:sp>
          <p:nvSpPr>
            <p:cNvPr id="211" name="Rounded Rectangle 210"/>
            <p:cNvSpPr/>
            <p:nvPr/>
          </p:nvSpPr>
          <p:spPr>
            <a:xfrm>
              <a:off x="6270498" y="4453128"/>
              <a:ext cx="365760" cy="173736"/>
            </a:xfrm>
            <a:prstGeom prst="roundRect">
              <a:avLst>
                <a:gd name="adj" fmla="val 31578"/>
              </a:avLst>
            </a:prstGeom>
            <a:solidFill>
              <a:srgbClr val="F28C28"/>
            </a:solidFill>
            <a:ln>
              <a:noFill/>
            </a:ln>
          </p:spPr>
          <p:txBody>
            <a:bodyPr rtlCol="0" anchor="ctr"/>
            <a:lstStyle/>
            <a:p>
              <a:pPr algn="ctr"/>
              <a:endParaRPr/>
            </a:p>
          </p:txBody>
        </p:sp>
        <p:sp>
          <p:nvSpPr>
            <p:cNvPr id="212" name="Rectangle 211"/>
            <p:cNvSpPr/>
            <p:nvPr/>
          </p:nvSpPr>
          <p:spPr>
            <a:xfrm>
              <a:off x="6553962" y="4453128"/>
              <a:ext cx="82296" cy="173736"/>
            </a:xfrm>
            <a:prstGeom prst="rect">
              <a:avLst/>
            </a:prstGeom>
            <a:solidFill>
              <a:srgbClr val="1B1D21"/>
            </a:solidFill>
            <a:ln w="12700">
              <a:solidFill>
                <a:srgbClr val="9AA0A6"/>
              </a:solidFill>
            </a:ln>
          </p:spPr>
          <p:txBody>
            <a:bodyPr rtlCol="0" anchor="ctr"/>
            <a:lstStyle/>
            <a:p>
              <a:pPr algn="ctr"/>
              <a:endParaRPr/>
            </a:p>
          </p:txBody>
        </p:sp>
        <p:sp>
          <p:nvSpPr>
            <p:cNvPr id="213" name="Rectangle 212"/>
            <p:cNvSpPr/>
            <p:nvPr/>
          </p:nvSpPr>
          <p:spPr>
            <a:xfrm>
              <a:off x="6572250" y="4370832"/>
              <a:ext cx="45720" cy="91440"/>
            </a:xfrm>
            <a:prstGeom prst="rect">
              <a:avLst/>
            </a:prstGeom>
            <a:solidFill>
              <a:srgbClr val="1B1D21"/>
            </a:solidFill>
            <a:ln w="12700">
              <a:solidFill>
                <a:srgbClr val="9AA0A6"/>
              </a:solidFill>
            </a:ln>
          </p:spPr>
          <p:txBody>
            <a:bodyPr rtlCol="0" anchor="ctr"/>
            <a:lstStyle/>
            <a:p>
              <a:pPr algn="ctr"/>
              <a:endParaRPr/>
            </a:p>
          </p:txBody>
        </p:sp>
        <p:sp>
          <p:nvSpPr>
            <p:cNvPr id="214" name="Rectangle 213"/>
            <p:cNvSpPr/>
            <p:nvPr/>
          </p:nvSpPr>
          <p:spPr>
            <a:xfrm>
              <a:off x="6553962" y="4352544"/>
              <a:ext cx="82296" cy="27432"/>
            </a:xfrm>
            <a:prstGeom prst="rect">
              <a:avLst/>
            </a:prstGeom>
            <a:solidFill>
              <a:srgbClr val="1B1D21"/>
            </a:solidFill>
            <a:ln w="12700">
              <a:solidFill>
                <a:srgbClr val="9AA0A6"/>
              </a:solidFill>
            </a:ln>
          </p:spPr>
          <p:txBody>
            <a:bodyPr rtlCol="0" anchor="ctr"/>
            <a:lstStyle/>
            <a:p>
              <a:pPr algn="ctr"/>
              <a:endParaRPr/>
            </a:p>
          </p:txBody>
        </p:sp>
        <p:sp>
          <p:nvSpPr>
            <p:cNvPr id="215" name="Rounded Rectangle 214"/>
            <p:cNvSpPr/>
            <p:nvPr/>
          </p:nvSpPr>
          <p:spPr>
            <a:xfrm>
              <a:off x="6407658" y="4407408"/>
              <a:ext cx="91440" cy="54864"/>
            </a:xfrm>
            <a:prstGeom prst="roundRect">
              <a:avLst>
                <a:gd name="adj" fmla="val 50000"/>
              </a:avLst>
            </a:prstGeom>
            <a:solidFill>
              <a:srgbClr val="F28C28"/>
            </a:solidFill>
            <a:ln>
              <a:noFill/>
            </a:ln>
          </p:spPr>
          <p:txBody>
            <a:bodyPr rtlCol="0" anchor="ctr"/>
            <a:lstStyle/>
            <a:p>
              <a:pPr algn="ctr"/>
              <a:endParaRPr/>
            </a:p>
          </p:txBody>
        </p:sp>
        <p:sp>
          <p:nvSpPr>
            <p:cNvPr id="216" name="Rectangle 215"/>
            <p:cNvSpPr/>
            <p:nvPr/>
          </p:nvSpPr>
          <p:spPr>
            <a:xfrm>
              <a:off x="5996178" y="4389120"/>
              <a:ext cx="274320" cy="246888"/>
            </a:xfrm>
            <a:prstGeom prst="rect">
              <a:avLst/>
            </a:prstGeom>
            <a:solidFill>
              <a:srgbClr val="F28C28"/>
            </a:solidFill>
            <a:ln>
              <a:noFill/>
            </a:ln>
          </p:spPr>
          <p:txBody>
            <a:bodyPr rtlCol="0" anchor="ctr"/>
            <a:lstStyle/>
            <a:p>
              <a:pPr algn="ctr"/>
              <a:endParaRPr/>
            </a:p>
          </p:txBody>
        </p:sp>
        <p:sp>
          <p:nvSpPr>
            <p:cNvPr id="217" name="Rectangle 216"/>
            <p:cNvSpPr/>
            <p:nvPr/>
          </p:nvSpPr>
          <p:spPr>
            <a:xfrm>
              <a:off x="5982462" y="4366260"/>
              <a:ext cx="301751" cy="32004"/>
            </a:xfrm>
            <a:prstGeom prst="rect">
              <a:avLst/>
            </a:prstGeom>
            <a:solidFill>
              <a:srgbClr val="1B1D21"/>
            </a:solidFill>
            <a:ln w="12700">
              <a:solidFill>
                <a:srgbClr val="9AA0A6"/>
              </a:solidFill>
            </a:ln>
          </p:spPr>
          <p:txBody>
            <a:bodyPr rtlCol="0" anchor="ctr"/>
            <a:lstStyle/>
            <a:p>
              <a:pPr algn="ctr"/>
              <a:endParaRPr/>
            </a:p>
          </p:txBody>
        </p:sp>
        <p:sp>
          <p:nvSpPr>
            <p:cNvPr id="218" name="Rectangle 217"/>
            <p:cNvSpPr/>
            <p:nvPr/>
          </p:nvSpPr>
          <p:spPr>
            <a:xfrm>
              <a:off x="6060186" y="4443984"/>
              <a:ext cx="118872" cy="91440"/>
            </a:xfrm>
            <a:prstGeom prst="rect">
              <a:avLst/>
            </a:prstGeom>
            <a:solidFill>
              <a:srgbClr val="1B1D21"/>
            </a:solidFill>
            <a:ln>
              <a:noFill/>
            </a:ln>
          </p:spPr>
          <p:txBody>
            <a:bodyPr rtlCol="0" anchor="ctr"/>
            <a:lstStyle/>
            <a:p>
              <a:pPr algn="ctr"/>
              <a:endParaRPr/>
            </a:p>
          </p:txBody>
        </p:sp>
        <p:sp>
          <p:nvSpPr>
            <p:cNvPr id="219" name="Rounded Rectangle 218"/>
            <p:cNvSpPr/>
            <p:nvPr/>
          </p:nvSpPr>
          <p:spPr>
            <a:xfrm>
              <a:off x="640080" y="5212079"/>
              <a:ext cx="6601968" cy="146304"/>
            </a:xfrm>
            <a:prstGeom prst="roundRect">
              <a:avLst>
                <a:gd name="adj" fmla="val 25000"/>
              </a:avLst>
            </a:prstGeom>
            <a:solidFill>
              <a:srgbClr val="6B5B4B"/>
            </a:solidFill>
            <a:ln>
              <a:noFill/>
            </a:ln>
          </p:spPr>
          <p:txBody>
            <a:bodyPr rtlCol="0" anchor="ctr"/>
            <a:lstStyle/>
            <a:p>
              <a:pPr algn="ctr"/>
              <a:endParaRPr/>
            </a:p>
          </p:txBody>
        </p:sp>
      </p:grpSp>
      <p:sp>
        <p:nvSpPr>
          <p:cNvPr id="220"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Each region gets the engines that suit its own tradition. Counts need not match.</a:t>
            </a:r>
            <a:endParaRPr lang="en-GB" sz="2000"/>
          </a:p>
        </p:txBody>
      </p:sp>
      <p:sp>
        <p:nvSpPr>
          <p:cNvPr id="221"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222"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12</a:t>
            </a:r>
            <a:endParaRPr lang="en-GB" sz="1400"/>
          </a:p>
        </p:txBody>
      </p:sp>
    </p:spTree>
    <p:extLst>
      <p:ext uri="{BB962C8B-B14F-4D97-AF65-F5344CB8AC3E}">
        <p14:creationId xmlns:p14="http://schemas.microsoft.com/office/powerpoint/2010/main" val="4623900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136"/>
                                        </p:tgtEl>
                                        <p:attrNameLst>
                                          <p:attrName>style.visibility</p:attrName>
                                        </p:attrNameLst>
                                      </p:cBhvr>
                                      <p:to>
                                        <p:strVal val="visible"/>
                                      </p:to>
                                    </p:set>
                                    <p:animEffect transition="in" filter="fade">
                                      <p:cBhvr>
                                        <p:cTn id="13" dur="500"/>
                                        <p:tgtEl>
                                          <p:spTgt spid="136"/>
                                        </p:tgtEl>
                                      </p:cBhvr>
                                    </p:animEffect>
                                  </p:childTnLst>
                                </p:cTn>
                              </p:par>
                              <p:par>
                                <p:cTn id="14" presetID="10" presetClass="entr" presetSubtype="0" fill="hold" nodeType="withEffect">
                                  <p:stCondLst>
                                    <p:cond delay="900"/>
                                  </p:stCondLst>
                                  <p:childTnLst>
                                    <p:set>
                                      <p:cBhvr>
                                        <p:cTn id="15" dur="1" fill="hold">
                                          <p:stCondLst>
                                            <p:cond delay="0"/>
                                          </p:stCondLst>
                                        </p:cTn>
                                        <p:tgtEl>
                                          <p:spTgt spid="137"/>
                                        </p:tgtEl>
                                        <p:attrNameLst>
                                          <p:attrName>style.visibility</p:attrName>
                                        </p:attrNameLst>
                                      </p:cBhvr>
                                      <p:to>
                                        <p:strVal val="visible"/>
                                      </p:to>
                                    </p:set>
                                    <p:animEffect transition="in" filter="fade">
                                      <p:cBhvr>
                                        <p:cTn id="16" dur="500"/>
                                        <p:tgtEl>
                                          <p:spTgt spid="137"/>
                                        </p:tgtEl>
                                      </p:cBhvr>
                                    </p:animEffect>
                                  </p:childTnLst>
                                </p:cTn>
                              </p:par>
                              <p:par>
                                <p:cTn id="17" presetID="10" presetClass="entr" presetSubtype="0" fill="hold" nodeType="withEffect">
                                  <p:stCondLst>
                                    <p:cond delay="1200"/>
                                  </p:stCondLst>
                                  <p:childTnLst>
                                    <p:set>
                                      <p:cBhvr>
                                        <p:cTn id="18" dur="1" fill="hold">
                                          <p:stCondLst>
                                            <p:cond delay="0"/>
                                          </p:stCondLst>
                                        </p:cTn>
                                        <p:tgtEl>
                                          <p:spTgt spid="220"/>
                                        </p:tgtEl>
                                        <p:attrNameLst>
                                          <p:attrName>style.visibility</p:attrName>
                                        </p:attrNameLst>
                                      </p:cBhvr>
                                      <p:to>
                                        <p:strVal val="visible"/>
                                      </p:to>
                                    </p:set>
                                    <p:animEffect transition="in" filter="fade">
                                      <p:cBhvr>
                                        <p:cTn id="19" dur="500"/>
                                        <p:tgtEl>
                                          <p:spTgt spid="220"/>
                                        </p:tgtEl>
                                      </p:cBhvr>
                                    </p:animEffect>
                                  </p:childTnLst>
                                </p:cTn>
                              </p:par>
                              <p:par>
                                <p:cTn id="20" presetID="10" presetClass="entr" presetSubtype="0" fill="hold" nodeType="withEffect">
                                  <p:stCondLst>
                                    <p:cond delay="1500"/>
                                  </p:stCondLst>
                                  <p:childTnLst>
                                    <p:set>
                                      <p:cBhvr>
                                        <p:cTn id="21" dur="1" fill="hold">
                                          <p:stCondLst>
                                            <p:cond delay="0"/>
                                          </p:stCondLst>
                                        </p:cTn>
                                        <p:tgtEl>
                                          <p:spTgt spid="221"/>
                                        </p:tgtEl>
                                        <p:attrNameLst>
                                          <p:attrName>style.visibility</p:attrName>
                                        </p:attrNameLst>
                                      </p:cBhvr>
                                      <p:to>
                                        <p:strVal val="visible"/>
                                      </p:to>
                                    </p:set>
                                    <p:animEffect transition="in" filter="fade">
                                      <p:cBhvr>
                                        <p:cTn id="22" dur="5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Two sides of a card</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Card frame" descr="A mock engine card split into two halves by a vertical line."/>
          <p:cNvGrpSpPr/>
          <p:nvPr/>
        </p:nvGrpSpPr>
        <p:grpSpPr>
          <a:xfrm>
            <a:off x="822960" y="1371600"/>
            <a:ext cx="10543032" cy="4206240"/>
            <a:chOff x="822960" y="1371600"/>
            <a:chExt cx="10543032" cy="4206240"/>
          </a:xfrm>
        </p:grpSpPr>
        <p:sp>
          <p:nvSpPr>
            <p:cNvPr id="5" name="Rounded Rectangle 4"/>
            <p:cNvSpPr/>
            <p:nvPr/>
          </p:nvSpPr>
          <p:spPr>
            <a:xfrm>
              <a:off x="822960" y="1371600"/>
              <a:ext cx="10543032" cy="4206240"/>
            </a:xfrm>
            <a:prstGeom prst="roundRect">
              <a:avLst>
                <a:gd name="adj" fmla="val 2173"/>
              </a:avLst>
            </a:prstGeom>
            <a:solidFill>
              <a:srgbClr val="2B2F36"/>
            </a:solidFill>
            <a:ln w="19050">
              <a:solidFill>
                <a:srgbClr val="9AA0A6"/>
              </a:solidFill>
            </a:ln>
          </p:spPr>
          <p:txBody>
            <a:bodyPr rtlCol="0" anchor="ctr"/>
            <a:lstStyle/>
            <a:p>
              <a:pPr algn="ctr"/>
              <a:endParaRPr/>
            </a:p>
          </p:txBody>
        </p:sp>
        <p:cxnSp>
          <p:nvCxnSpPr>
            <p:cNvPr id="6" name="Connector 5"/>
            <p:cNvCxnSpPr/>
            <p:nvPr/>
          </p:nvCxnSpPr>
          <p:spPr>
            <a:xfrm>
              <a:off x="6094476" y="1554480"/>
              <a:ext cx="0" cy="3840479"/>
            </a:xfrm>
            <a:prstGeom prst="line">
              <a:avLst/>
            </a:prstGeom>
            <a:ln w="25400">
              <a:solidFill>
                <a:srgbClr val="4A515B"/>
              </a:solidFill>
            </a:ln>
          </p:spPr>
        </p:cxnSp>
      </p:grpSp>
      <p:grpSp>
        <p:nvGrpSpPr>
          <p:cNvPr id="7" name="Card side: History and character" descr="The History and character side of the card, with labelled grey placeholder bars. No real facts are shown."/>
          <p:cNvGrpSpPr/>
          <p:nvPr/>
        </p:nvGrpSpPr>
        <p:grpSpPr>
          <a:xfrm>
            <a:off x="1051560" y="1600200"/>
            <a:ext cx="4814316" cy="3630168"/>
            <a:chOff x="1051560" y="1600200"/>
            <a:chExt cx="4814316" cy="3630168"/>
          </a:xfrm>
        </p:grpSpPr>
        <p:sp>
          <p:nvSpPr>
            <p:cNvPr id="8" name="Rounded Rectangle 7"/>
            <p:cNvSpPr/>
            <p:nvPr/>
          </p:nvSpPr>
          <p:spPr>
            <a:xfrm>
              <a:off x="1051560" y="1600200"/>
              <a:ext cx="4814316" cy="548640"/>
            </a:xfrm>
            <a:prstGeom prst="roundRect">
              <a:avLst>
                <a:gd name="adj" fmla="val 13333"/>
              </a:avLst>
            </a:prstGeom>
            <a:solidFill>
              <a:srgbClr val="4A515B"/>
            </a:solidFill>
            <a:ln>
              <a:noFill/>
            </a:ln>
          </p:spPr>
          <p:txBody>
            <a:bodyPr wrap="square" rtlCol="0" anchor="ctr">
              <a:noAutofit/>
            </a:bodyPr>
            <a:lstStyle/>
            <a:p>
              <a:pPr algn="ctr"/>
              <a:r>
                <a:rPr lang="en-GB" sz="2000" b="1" i="0">
                  <a:solidFill>
                    <a:srgbClr val="F2F2F2"/>
                  </a:solidFill>
                  <a:latin typeface="Arial"/>
                </a:rPr>
                <a:t>History and character</a:t>
              </a:r>
              <a:endParaRPr lang="en-GB" sz="2000"/>
            </a:p>
          </p:txBody>
        </p:sp>
        <p:sp>
          <p:nvSpPr>
            <p:cNvPr id="9" name="TextBox 8"/>
            <p:cNvSpPr txBox="1"/>
            <p:nvPr/>
          </p:nvSpPr>
          <p:spPr>
            <a:xfrm>
              <a:off x="1143000" y="2359152"/>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Class</a:t>
              </a:r>
              <a:endParaRPr lang="en-GB" sz="1600"/>
            </a:p>
          </p:txBody>
        </p:sp>
        <p:sp>
          <p:nvSpPr>
            <p:cNvPr id="10" name="Rounded Rectangle 9"/>
            <p:cNvSpPr/>
            <p:nvPr/>
          </p:nvSpPr>
          <p:spPr>
            <a:xfrm>
              <a:off x="2651760" y="2432304"/>
              <a:ext cx="301752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11" name="TextBox 10"/>
            <p:cNvSpPr txBox="1"/>
            <p:nvPr/>
          </p:nvSpPr>
          <p:spPr>
            <a:xfrm>
              <a:off x="1143000" y="2871216"/>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Builder</a:t>
              </a:r>
              <a:endParaRPr lang="en-GB" sz="1600"/>
            </a:p>
          </p:txBody>
        </p:sp>
        <p:sp>
          <p:nvSpPr>
            <p:cNvPr id="12" name="Rounded Rectangle 11"/>
            <p:cNvSpPr/>
            <p:nvPr/>
          </p:nvSpPr>
          <p:spPr>
            <a:xfrm>
              <a:off x="2651760" y="2944368"/>
              <a:ext cx="246888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13" name="TextBox 12"/>
            <p:cNvSpPr txBox="1"/>
            <p:nvPr/>
          </p:nvSpPr>
          <p:spPr>
            <a:xfrm>
              <a:off x="1143000" y="3383280"/>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Operator</a:t>
              </a:r>
              <a:endParaRPr lang="en-GB" sz="1600"/>
            </a:p>
          </p:txBody>
        </p:sp>
        <p:sp>
          <p:nvSpPr>
            <p:cNvPr id="14" name="Rounded Rectangle 13"/>
            <p:cNvSpPr/>
            <p:nvPr/>
          </p:nvSpPr>
          <p:spPr>
            <a:xfrm>
              <a:off x="2651760" y="3456432"/>
              <a:ext cx="274320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15" name="TextBox 14"/>
            <p:cNvSpPr txBox="1"/>
            <p:nvPr/>
          </p:nvSpPr>
          <p:spPr>
            <a:xfrm>
              <a:off x="1143000" y="3895344"/>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Era</a:t>
              </a:r>
              <a:endParaRPr lang="en-GB" sz="1600"/>
            </a:p>
          </p:txBody>
        </p:sp>
        <p:sp>
          <p:nvSpPr>
            <p:cNvPr id="16" name="Rounded Rectangle 15"/>
            <p:cNvSpPr/>
            <p:nvPr/>
          </p:nvSpPr>
          <p:spPr>
            <a:xfrm>
              <a:off x="2651760" y="3968496"/>
              <a:ext cx="201168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17" name="TextBox 16"/>
            <p:cNvSpPr txBox="1"/>
            <p:nvPr/>
          </p:nvSpPr>
          <p:spPr>
            <a:xfrm>
              <a:off x="1143000" y="4407408"/>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Purpose</a:t>
              </a:r>
              <a:endParaRPr lang="en-GB" sz="1600"/>
            </a:p>
          </p:txBody>
        </p:sp>
        <p:sp>
          <p:nvSpPr>
            <p:cNvPr id="18" name="Rounded Rectangle 17"/>
            <p:cNvSpPr/>
            <p:nvPr/>
          </p:nvSpPr>
          <p:spPr>
            <a:xfrm>
              <a:off x="2651760" y="4480559"/>
              <a:ext cx="283464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19" name="TextBox 18"/>
            <p:cNvSpPr txBox="1"/>
            <p:nvPr/>
          </p:nvSpPr>
          <p:spPr>
            <a:xfrm>
              <a:off x="1143000" y="4919472"/>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Reputation</a:t>
              </a:r>
              <a:endParaRPr lang="en-GB" sz="1600"/>
            </a:p>
          </p:txBody>
        </p:sp>
        <p:sp>
          <p:nvSpPr>
            <p:cNvPr id="20" name="Rounded Rectangle 19"/>
            <p:cNvSpPr/>
            <p:nvPr/>
          </p:nvSpPr>
          <p:spPr>
            <a:xfrm>
              <a:off x="2651760" y="4992624"/>
              <a:ext cx="2286000" cy="164592"/>
            </a:xfrm>
            <a:prstGeom prst="roundRect">
              <a:avLst>
                <a:gd name="adj" fmla="val 50000"/>
              </a:avLst>
            </a:prstGeom>
            <a:solidFill>
              <a:srgbClr val="A9B0B8">
                <a:alpha val="45000"/>
              </a:srgbClr>
            </a:solidFill>
            <a:ln>
              <a:noFill/>
            </a:ln>
          </p:spPr>
          <p:txBody>
            <a:bodyPr rtlCol="0" anchor="ctr"/>
            <a:lstStyle/>
            <a:p>
              <a:pPr algn="ctr"/>
              <a:endParaRPr/>
            </a:p>
          </p:txBody>
        </p:sp>
      </p:grpSp>
      <p:grpSp>
        <p:nvGrpSpPr>
          <p:cNvPr id="21" name="Card side: Early Locomotion gameplay" descr="The Early Locomotion gameplay side of the card, with labelled grey placeholder bars. No real facts are shown."/>
          <p:cNvGrpSpPr/>
          <p:nvPr/>
        </p:nvGrpSpPr>
        <p:grpSpPr>
          <a:xfrm>
            <a:off x="6323076" y="1600200"/>
            <a:ext cx="4814316" cy="3602736"/>
            <a:chOff x="6323076" y="1600200"/>
            <a:chExt cx="4814316" cy="3602736"/>
          </a:xfrm>
        </p:grpSpPr>
        <p:sp>
          <p:nvSpPr>
            <p:cNvPr id="22" name="Rounded Rectangle 21"/>
            <p:cNvSpPr/>
            <p:nvPr/>
          </p:nvSpPr>
          <p:spPr>
            <a:xfrm>
              <a:off x="6323076" y="1600200"/>
              <a:ext cx="4814316" cy="548640"/>
            </a:xfrm>
            <a:prstGeom prst="roundRect">
              <a:avLst>
                <a:gd name="adj" fmla="val 13333"/>
              </a:avLst>
            </a:prstGeom>
            <a:solidFill>
              <a:srgbClr val="F28C28"/>
            </a:solidFill>
            <a:ln>
              <a:noFill/>
            </a:ln>
          </p:spPr>
          <p:txBody>
            <a:bodyPr wrap="square" rtlCol="0" anchor="ctr">
              <a:noAutofit/>
            </a:bodyPr>
            <a:lstStyle/>
            <a:p>
              <a:pPr algn="ctr"/>
              <a:r>
                <a:rPr lang="en-GB" sz="2000" b="1" i="0">
                  <a:solidFill>
                    <a:srgbClr val="101418"/>
                  </a:solidFill>
                  <a:latin typeface="Arial"/>
                </a:rPr>
                <a:t>Early Locomotion gameplay</a:t>
              </a:r>
              <a:endParaRPr lang="en-GB" sz="2000"/>
            </a:p>
          </p:txBody>
        </p:sp>
        <p:sp>
          <p:nvSpPr>
            <p:cNvPr id="23" name="TextBox 22"/>
            <p:cNvSpPr txBox="1"/>
            <p:nvPr/>
          </p:nvSpPr>
          <p:spPr>
            <a:xfrm>
              <a:off x="6414516" y="2359152"/>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Duties</a:t>
              </a:r>
              <a:endParaRPr lang="en-GB" sz="1600"/>
            </a:p>
          </p:txBody>
        </p:sp>
        <p:sp>
          <p:nvSpPr>
            <p:cNvPr id="24" name="Rounded Rectangle 23"/>
            <p:cNvSpPr/>
            <p:nvPr/>
          </p:nvSpPr>
          <p:spPr>
            <a:xfrm>
              <a:off x="7923275" y="2432304"/>
              <a:ext cx="301752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25" name="Rounded Rectangle 24"/>
            <p:cNvSpPr/>
            <p:nvPr/>
          </p:nvSpPr>
          <p:spPr>
            <a:xfrm>
              <a:off x="7923275" y="2706624"/>
              <a:ext cx="237744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26" name="TextBox 25"/>
            <p:cNvSpPr txBox="1"/>
            <p:nvPr/>
          </p:nvSpPr>
          <p:spPr>
            <a:xfrm>
              <a:off x="6414516" y="3136392"/>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Strengths</a:t>
              </a:r>
              <a:endParaRPr lang="en-GB" sz="1600"/>
            </a:p>
          </p:txBody>
        </p:sp>
        <p:sp>
          <p:nvSpPr>
            <p:cNvPr id="27" name="Rounded Rectangle 26"/>
            <p:cNvSpPr/>
            <p:nvPr/>
          </p:nvSpPr>
          <p:spPr>
            <a:xfrm>
              <a:off x="7923275" y="3209544"/>
              <a:ext cx="301752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28" name="Rounded Rectangle 27"/>
            <p:cNvSpPr/>
            <p:nvPr/>
          </p:nvSpPr>
          <p:spPr>
            <a:xfrm>
              <a:off x="7923275" y="3483864"/>
              <a:ext cx="237744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29" name="TextBox 28"/>
            <p:cNvSpPr txBox="1"/>
            <p:nvPr/>
          </p:nvSpPr>
          <p:spPr>
            <a:xfrm>
              <a:off x="6414516" y="3913632"/>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Weaknesses</a:t>
              </a:r>
              <a:endParaRPr lang="en-GB" sz="1600"/>
            </a:p>
          </p:txBody>
        </p:sp>
        <p:sp>
          <p:nvSpPr>
            <p:cNvPr id="30" name="Rounded Rectangle 29"/>
            <p:cNvSpPr/>
            <p:nvPr/>
          </p:nvSpPr>
          <p:spPr>
            <a:xfrm>
              <a:off x="7923275" y="3986783"/>
              <a:ext cx="301752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31" name="Rounded Rectangle 30"/>
            <p:cNvSpPr/>
            <p:nvPr/>
          </p:nvSpPr>
          <p:spPr>
            <a:xfrm>
              <a:off x="7923275" y="4261103"/>
              <a:ext cx="237744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32" name="TextBox 31"/>
            <p:cNvSpPr txBox="1"/>
            <p:nvPr/>
          </p:nvSpPr>
          <p:spPr>
            <a:xfrm>
              <a:off x="6414516" y="4690872"/>
              <a:ext cx="1371600" cy="310896"/>
            </a:xfrm>
            <a:prstGeom prst="rect">
              <a:avLst/>
            </a:prstGeom>
            <a:noFill/>
          </p:spPr>
          <p:txBody>
            <a:bodyPr wrap="square" lIns="0" tIns="0" rIns="0" bIns="0" anchor="ctr">
              <a:noAutofit/>
            </a:bodyPr>
            <a:lstStyle/>
            <a:p>
              <a:pPr algn="l"/>
              <a:r>
                <a:rPr lang="en-GB" sz="1600" b="1" i="0">
                  <a:solidFill>
                    <a:srgbClr val="F2F2F2"/>
                  </a:solidFill>
                  <a:latin typeface="Arial"/>
                </a:rPr>
                <a:t>Role</a:t>
              </a:r>
              <a:endParaRPr lang="en-GB" sz="1600"/>
            </a:p>
          </p:txBody>
        </p:sp>
        <p:sp>
          <p:nvSpPr>
            <p:cNvPr id="33" name="Rounded Rectangle 32"/>
            <p:cNvSpPr/>
            <p:nvPr/>
          </p:nvSpPr>
          <p:spPr>
            <a:xfrm>
              <a:off x="7923275" y="4764024"/>
              <a:ext cx="3017520" cy="164592"/>
            </a:xfrm>
            <a:prstGeom prst="roundRect">
              <a:avLst>
                <a:gd name="adj" fmla="val 50000"/>
              </a:avLst>
            </a:prstGeom>
            <a:solidFill>
              <a:srgbClr val="A9B0B8">
                <a:alpha val="45000"/>
              </a:srgbClr>
            </a:solidFill>
            <a:ln>
              <a:noFill/>
            </a:ln>
          </p:spPr>
          <p:txBody>
            <a:bodyPr rtlCol="0" anchor="ctr"/>
            <a:lstStyle/>
            <a:p>
              <a:pPr algn="ctr"/>
              <a:endParaRPr/>
            </a:p>
          </p:txBody>
        </p:sp>
        <p:sp>
          <p:nvSpPr>
            <p:cNvPr id="34" name="Rounded Rectangle 33"/>
            <p:cNvSpPr/>
            <p:nvPr/>
          </p:nvSpPr>
          <p:spPr>
            <a:xfrm>
              <a:off x="7923275" y="5038344"/>
              <a:ext cx="2377440" cy="164592"/>
            </a:xfrm>
            <a:prstGeom prst="roundRect">
              <a:avLst>
                <a:gd name="adj" fmla="val 50000"/>
              </a:avLst>
            </a:prstGeom>
            <a:solidFill>
              <a:srgbClr val="A9B0B8">
                <a:alpha val="45000"/>
              </a:srgbClr>
            </a:solidFill>
            <a:ln>
              <a:noFill/>
            </a:ln>
          </p:spPr>
          <p:txBody>
            <a:bodyPr rtlCol="0" anchor="ctr"/>
            <a:lstStyle/>
            <a:p>
              <a:pPr algn="ctr"/>
              <a:endParaRPr/>
            </a:p>
          </p:txBody>
        </p:sp>
      </p:grpSp>
      <p:sp>
        <p:nvSpPr>
          <p:cNvPr id="35"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Each card tells the real history, then what the engine does in the game.</a:t>
            </a:r>
            <a:endParaRPr lang="en-GB" sz="2000"/>
          </a:p>
        </p:txBody>
      </p:sp>
      <p:sp>
        <p:nvSpPr>
          <p:cNvPr id="36"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37"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13</a:t>
            </a:r>
            <a:endParaRPr lang="en-GB" sz="1400"/>
          </a:p>
        </p:txBody>
      </p:sp>
    </p:spTree>
    <p:extLst>
      <p:ext uri="{BB962C8B-B14F-4D97-AF65-F5344CB8AC3E}">
        <p14:creationId xmlns:p14="http://schemas.microsoft.com/office/powerpoint/2010/main" val="27000663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6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90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par>
                                <p:cTn id="17" presetID="10" presetClass="entr" presetSubtype="0" fill="hold" nodeType="withEffect">
                                  <p:stCondLst>
                                    <p:cond delay="120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Honest history</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Two lines: real purpose and in the game" descr="Two rows. Real purpose shows a passenger coach. In the game shows a fast freight engine with wagons."/>
          <p:cNvGrpSpPr/>
          <p:nvPr/>
        </p:nvGrpSpPr>
        <p:grpSpPr>
          <a:xfrm>
            <a:off x="822960" y="1463040"/>
            <a:ext cx="10515600" cy="2807208"/>
            <a:chOff x="822960" y="1463040"/>
            <a:chExt cx="10515600" cy="2807208"/>
          </a:xfrm>
        </p:grpSpPr>
        <p:sp>
          <p:nvSpPr>
            <p:cNvPr id="5" name="Rounded Rectangle 4"/>
            <p:cNvSpPr/>
            <p:nvPr/>
          </p:nvSpPr>
          <p:spPr>
            <a:xfrm>
              <a:off x="822960" y="1783080"/>
              <a:ext cx="2286000" cy="594360"/>
            </a:xfrm>
            <a:prstGeom prst="roundRect">
              <a:avLst>
                <a:gd name="adj" fmla="val 49230"/>
              </a:avLst>
            </a:prstGeom>
            <a:solidFill>
              <a:srgbClr val="343A43"/>
            </a:solidFill>
            <a:ln w="22225">
              <a:solidFill>
                <a:srgbClr val="9AA0A6"/>
              </a:solidFill>
            </a:ln>
          </p:spPr>
          <p:txBody>
            <a:bodyPr wrap="square" rtlCol="0" anchor="ctr">
              <a:noAutofit/>
            </a:bodyPr>
            <a:lstStyle/>
            <a:p>
              <a:pPr algn="ctr"/>
              <a:r>
                <a:rPr lang="en-GB" sz="2000" b="1" i="0">
                  <a:solidFill>
                    <a:srgbClr val="F2F2F2"/>
                  </a:solidFill>
                  <a:latin typeface="Arial"/>
                </a:rPr>
                <a:t>Real purpose</a:t>
              </a:r>
              <a:endParaRPr lang="en-GB" sz="2000"/>
            </a:p>
          </p:txBody>
        </p:sp>
        <p:sp>
          <p:nvSpPr>
            <p:cNvPr id="6" name="Rounded Rectangle 5"/>
            <p:cNvSpPr/>
            <p:nvPr/>
          </p:nvSpPr>
          <p:spPr>
            <a:xfrm>
              <a:off x="822960" y="3520440"/>
              <a:ext cx="2286000" cy="594360"/>
            </a:xfrm>
            <a:prstGeom prst="roundRect">
              <a:avLst>
                <a:gd name="adj" fmla="val 49230"/>
              </a:avLst>
            </a:prstGeom>
            <a:solidFill>
              <a:srgbClr val="343A43"/>
            </a:solidFill>
            <a:ln w="25400">
              <a:solidFill>
                <a:srgbClr val="F28C28"/>
              </a:solidFill>
            </a:ln>
          </p:spPr>
          <p:txBody>
            <a:bodyPr wrap="square" rtlCol="0" anchor="ctr">
              <a:noAutofit/>
            </a:bodyPr>
            <a:lstStyle/>
            <a:p>
              <a:pPr algn="ctr"/>
              <a:r>
                <a:rPr lang="en-GB" sz="2000" b="1" i="0">
                  <a:solidFill>
                    <a:srgbClr val="F2F2F2"/>
                  </a:solidFill>
                  <a:latin typeface="Arial"/>
                </a:rPr>
                <a:t>In the game</a:t>
              </a:r>
              <a:endParaRPr lang="en-GB" sz="2000"/>
            </a:p>
          </p:txBody>
        </p:sp>
        <p:cxnSp>
          <p:nvCxnSpPr>
            <p:cNvPr id="7" name="Connector 6"/>
            <p:cNvCxnSpPr/>
            <p:nvPr/>
          </p:nvCxnSpPr>
          <p:spPr>
            <a:xfrm>
              <a:off x="1965960" y="2487168"/>
              <a:ext cx="0" cy="923544"/>
            </a:xfrm>
            <a:prstGeom prst="line">
              <a:avLst/>
            </a:prstGeom>
            <a:ln w="28575">
              <a:solidFill>
                <a:srgbClr val="F28C28"/>
              </a:solidFill>
              <a:tailEnd type="triangle" w="med" len="med"/>
            </a:ln>
          </p:spPr>
        </p:cxnSp>
        <p:sp>
          <p:nvSpPr>
            <p:cNvPr id="8" name="Rectangle 7"/>
            <p:cNvSpPr/>
            <p:nvPr/>
          </p:nvSpPr>
          <p:spPr>
            <a:xfrm>
              <a:off x="3657600" y="2377440"/>
              <a:ext cx="7680960" cy="64008"/>
            </a:xfrm>
            <a:prstGeom prst="rect">
              <a:avLst/>
            </a:prstGeom>
            <a:solidFill>
              <a:srgbClr val="9AA0A6"/>
            </a:solidFill>
            <a:ln>
              <a:noFill/>
            </a:ln>
          </p:spPr>
          <p:txBody>
            <a:bodyPr rtlCol="0" anchor="ctr"/>
            <a:lstStyle/>
            <a:p>
              <a:pPr algn="ctr"/>
              <a:endParaRPr/>
            </a:p>
          </p:txBody>
        </p:sp>
        <p:sp>
          <p:nvSpPr>
            <p:cNvPr id="9" name="Rectangle 8"/>
            <p:cNvSpPr/>
            <p:nvPr/>
          </p:nvSpPr>
          <p:spPr>
            <a:xfrm>
              <a:off x="3749039" y="2441448"/>
              <a:ext cx="182880" cy="91440"/>
            </a:xfrm>
            <a:prstGeom prst="rect">
              <a:avLst/>
            </a:prstGeom>
            <a:solidFill>
              <a:srgbClr val="6B5B4B"/>
            </a:solidFill>
            <a:ln>
              <a:noFill/>
            </a:ln>
          </p:spPr>
          <p:txBody>
            <a:bodyPr rtlCol="0" anchor="ctr"/>
            <a:lstStyle/>
            <a:p>
              <a:pPr algn="ctr"/>
              <a:endParaRPr/>
            </a:p>
          </p:txBody>
        </p:sp>
        <p:sp>
          <p:nvSpPr>
            <p:cNvPr id="10" name="Rectangle 9"/>
            <p:cNvSpPr/>
            <p:nvPr/>
          </p:nvSpPr>
          <p:spPr>
            <a:xfrm>
              <a:off x="4206240" y="2441448"/>
              <a:ext cx="182880" cy="91440"/>
            </a:xfrm>
            <a:prstGeom prst="rect">
              <a:avLst/>
            </a:prstGeom>
            <a:solidFill>
              <a:srgbClr val="6B5B4B"/>
            </a:solidFill>
            <a:ln>
              <a:noFill/>
            </a:ln>
          </p:spPr>
          <p:txBody>
            <a:bodyPr rtlCol="0" anchor="ctr"/>
            <a:lstStyle/>
            <a:p>
              <a:pPr algn="ctr"/>
              <a:endParaRPr/>
            </a:p>
          </p:txBody>
        </p:sp>
        <p:sp>
          <p:nvSpPr>
            <p:cNvPr id="11" name="Rectangle 10"/>
            <p:cNvSpPr/>
            <p:nvPr/>
          </p:nvSpPr>
          <p:spPr>
            <a:xfrm>
              <a:off x="4663440" y="2441448"/>
              <a:ext cx="182880" cy="91440"/>
            </a:xfrm>
            <a:prstGeom prst="rect">
              <a:avLst/>
            </a:prstGeom>
            <a:solidFill>
              <a:srgbClr val="6B5B4B"/>
            </a:solidFill>
            <a:ln>
              <a:noFill/>
            </a:ln>
          </p:spPr>
          <p:txBody>
            <a:bodyPr rtlCol="0" anchor="ctr"/>
            <a:lstStyle/>
            <a:p>
              <a:pPr algn="ctr"/>
              <a:endParaRPr/>
            </a:p>
          </p:txBody>
        </p:sp>
        <p:sp>
          <p:nvSpPr>
            <p:cNvPr id="12" name="Rectangle 11"/>
            <p:cNvSpPr/>
            <p:nvPr/>
          </p:nvSpPr>
          <p:spPr>
            <a:xfrm>
              <a:off x="5120640" y="2441448"/>
              <a:ext cx="182880" cy="91440"/>
            </a:xfrm>
            <a:prstGeom prst="rect">
              <a:avLst/>
            </a:prstGeom>
            <a:solidFill>
              <a:srgbClr val="6B5B4B"/>
            </a:solidFill>
            <a:ln>
              <a:noFill/>
            </a:ln>
          </p:spPr>
          <p:txBody>
            <a:bodyPr rtlCol="0" anchor="ctr"/>
            <a:lstStyle/>
            <a:p>
              <a:pPr algn="ctr"/>
              <a:endParaRPr/>
            </a:p>
          </p:txBody>
        </p:sp>
        <p:sp>
          <p:nvSpPr>
            <p:cNvPr id="13" name="Rectangle 12"/>
            <p:cNvSpPr/>
            <p:nvPr/>
          </p:nvSpPr>
          <p:spPr>
            <a:xfrm>
              <a:off x="5577840" y="2441448"/>
              <a:ext cx="182880" cy="91440"/>
            </a:xfrm>
            <a:prstGeom prst="rect">
              <a:avLst/>
            </a:prstGeom>
            <a:solidFill>
              <a:srgbClr val="6B5B4B"/>
            </a:solidFill>
            <a:ln>
              <a:noFill/>
            </a:ln>
          </p:spPr>
          <p:txBody>
            <a:bodyPr rtlCol="0" anchor="ctr"/>
            <a:lstStyle/>
            <a:p>
              <a:pPr algn="ctr"/>
              <a:endParaRPr/>
            </a:p>
          </p:txBody>
        </p:sp>
        <p:sp>
          <p:nvSpPr>
            <p:cNvPr id="14" name="Rectangle 13"/>
            <p:cNvSpPr/>
            <p:nvPr/>
          </p:nvSpPr>
          <p:spPr>
            <a:xfrm>
              <a:off x="6035040" y="2441448"/>
              <a:ext cx="182880" cy="91440"/>
            </a:xfrm>
            <a:prstGeom prst="rect">
              <a:avLst/>
            </a:prstGeom>
            <a:solidFill>
              <a:srgbClr val="6B5B4B"/>
            </a:solidFill>
            <a:ln>
              <a:noFill/>
            </a:ln>
          </p:spPr>
          <p:txBody>
            <a:bodyPr rtlCol="0" anchor="ctr"/>
            <a:lstStyle/>
            <a:p>
              <a:pPr algn="ctr"/>
              <a:endParaRPr/>
            </a:p>
          </p:txBody>
        </p:sp>
        <p:sp>
          <p:nvSpPr>
            <p:cNvPr id="15" name="Rectangle 14"/>
            <p:cNvSpPr/>
            <p:nvPr/>
          </p:nvSpPr>
          <p:spPr>
            <a:xfrm>
              <a:off x="6492240" y="2441448"/>
              <a:ext cx="182880" cy="91440"/>
            </a:xfrm>
            <a:prstGeom prst="rect">
              <a:avLst/>
            </a:prstGeom>
            <a:solidFill>
              <a:srgbClr val="6B5B4B"/>
            </a:solidFill>
            <a:ln>
              <a:noFill/>
            </a:ln>
          </p:spPr>
          <p:txBody>
            <a:bodyPr rtlCol="0" anchor="ctr"/>
            <a:lstStyle/>
            <a:p>
              <a:pPr algn="ctr"/>
              <a:endParaRPr/>
            </a:p>
          </p:txBody>
        </p:sp>
        <p:sp>
          <p:nvSpPr>
            <p:cNvPr id="16" name="Rectangle 15"/>
            <p:cNvSpPr/>
            <p:nvPr/>
          </p:nvSpPr>
          <p:spPr>
            <a:xfrm>
              <a:off x="6949440" y="2441448"/>
              <a:ext cx="182880" cy="91440"/>
            </a:xfrm>
            <a:prstGeom prst="rect">
              <a:avLst/>
            </a:prstGeom>
            <a:solidFill>
              <a:srgbClr val="6B5B4B"/>
            </a:solidFill>
            <a:ln>
              <a:noFill/>
            </a:ln>
          </p:spPr>
          <p:txBody>
            <a:bodyPr rtlCol="0" anchor="ctr"/>
            <a:lstStyle/>
            <a:p>
              <a:pPr algn="ctr"/>
              <a:endParaRPr/>
            </a:p>
          </p:txBody>
        </p:sp>
        <p:sp>
          <p:nvSpPr>
            <p:cNvPr id="17" name="Rectangle 16"/>
            <p:cNvSpPr/>
            <p:nvPr/>
          </p:nvSpPr>
          <p:spPr>
            <a:xfrm>
              <a:off x="7406640" y="2441448"/>
              <a:ext cx="182880" cy="91440"/>
            </a:xfrm>
            <a:prstGeom prst="rect">
              <a:avLst/>
            </a:prstGeom>
            <a:solidFill>
              <a:srgbClr val="6B5B4B"/>
            </a:solidFill>
            <a:ln>
              <a:noFill/>
            </a:ln>
          </p:spPr>
          <p:txBody>
            <a:bodyPr rtlCol="0" anchor="ctr"/>
            <a:lstStyle/>
            <a:p>
              <a:pPr algn="ctr"/>
              <a:endParaRPr/>
            </a:p>
          </p:txBody>
        </p:sp>
        <p:sp>
          <p:nvSpPr>
            <p:cNvPr id="18" name="Rectangle 17"/>
            <p:cNvSpPr/>
            <p:nvPr/>
          </p:nvSpPr>
          <p:spPr>
            <a:xfrm>
              <a:off x="7863840" y="2441448"/>
              <a:ext cx="182880" cy="91440"/>
            </a:xfrm>
            <a:prstGeom prst="rect">
              <a:avLst/>
            </a:prstGeom>
            <a:solidFill>
              <a:srgbClr val="6B5B4B"/>
            </a:solidFill>
            <a:ln>
              <a:noFill/>
            </a:ln>
          </p:spPr>
          <p:txBody>
            <a:bodyPr rtlCol="0" anchor="ctr"/>
            <a:lstStyle/>
            <a:p>
              <a:pPr algn="ctr"/>
              <a:endParaRPr/>
            </a:p>
          </p:txBody>
        </p:sp>
        <p:sp>
          <p:nvSpPr>
            <p:cNvPr id="19" name="Rectangle 18"/>
            <p:cNvSpPr/>
            <p:nvPr/>
          </p:nvSpPr>
          <p:spPr>
            <a:xfrm>
              <a:off x="8321040" y="2441448"/>
              <a:ext cx="182880" cy="91440"/>
            </a:xfrm>
            <a:prstGeom prst="rect">
              <a:avLst/>
            </a:prstGeom>
            <a:solidFill>
              <a:srgbClr val="6B5B4B"/>
            </a:solidFill>
            <a:ln>
              <a:noFill/>
            </a:ln>
          </p:spPr>
          <p:txBody>
            <a:bodyPr rtlCol="0" anchor="ctr"/>
            <a:lstStyle/>
            <a:p>
              <a:pPr algn="ctr"/>
              <a:endParaRPr/>
            </a:p>
          </p:txBody>
        </p:sp>
        <p:sp>
          <p:nvSpPr>
            <p:cNvPr id="20" name="Rectangle 19"/>
            <p:cNvSpPr/>
            <p:nvPr/>
          </p:nvSpPr>
          <p:spPr>
            <a:xfrm>
              <a:off x="8778240" y="2441448"/>
              <a:ext cx="182880" cy="91440"/>
            </a:xfrm>
            <a:prstGeom prst="rect">
              <a:avLst/>
            </a:prstGeom>
            <a:solidFill>
              <a:srgbClr val="6B5B4B"/>
            </a:solidFill>
            <a:ln>
              <a:noFill/>
            </a:ln>
          </p:spPr>
          <p:txBody>
            <a:bodyPr rtlCol="0" anchor="ctr"/>
            <a:lstStyle/>
            <a:p>
              <a:pPr algn="ctr"/>
              <a:endParaRPr/>
            </a:p>
          </p:txBody>
        </p:sp>
        <p:sp>
          <p:nvSpPr>
            <p:cNvPr id="21" name="Rectangle 20"/>
            <p:cNvSpPr/>
            <p:nvPr/>
          </p:nvSpPr>
          <p:spPr>
            <a:xfrm>
              <a:off x="9235440" y="2441448"/>
              <a:ext cx="182880" cy="91440"/>
            </a:xfrm>
            <a:prstGeom prst="rect">
              <a:avLst/>
            </a:prstGeom>
            <a:solidFill>
              <a:srgbClr val="6B5B4B"/>
            </a:solidFill>
            <a:ln>
              <a:noFill/>
            </a:ln>
          </p:spPr>
          <p:txBody>
            <a:bodyPr rtlCol="0" anchor="ctr"/>
            <a:lstStyle/>
            <a:p>
              <a:pPr algn="ctr"/>
              <a:endParaRPr/>
            </a:p>
          </p:txBody>
        </p:sp>
        <p:sp>
          <p:nvSpPr>
            <p:cNvPr id="22" name="Rectangle 21"/>
            <p:cNvSpPr/>
            <p:nvPr/>
          </p:nvSpPr>
          <p:spPr>
            <a:xfrm>
              <a:off x="9692640" y="2441448"/>
              <a:ext cx="182880" cy="91440"/>
            </a:xfrm>
            <a:prstGeom prst="rect">
              <a:avLst/>
            </a:prstGeom>
            <a:solidFill>
              <a:srgbClr val="6B5B4B"/>
            </a:solidFill>
            <a:ln>
              <a:noFill/>
            </a:ln>
          </p:spPr>
          <p:txBody>
            <a:bodyPr rtlCol="0" anchor="ctr"/>
            <a:lstStyle/>
            <a:p>
              <a:pPr algn="ctr"/>
              <a:endParaRPr/>
            </a:p>
          </p:txBody>
        </p:sp>
        <p:sp>
          <p:nvSpPr>
            <p:cNvPr id="23" name="Rectangle 22"/>
            <p:cNvSpPr/>
            <p:nvPr/>
          </p:nvSpPr>
          <p:spPr>
            <a:xfrm>
              <a:off x="10149840" y="2441448"/>
              <a:ext cx="182880" cy="91440"/>
            </a:xfrm>
            <a:prstGeom prst="rect">
              <a:avLst/>
            </a:prstGeom>
            <a:solidFill>
              <a:srgbClr val="6B5B4B"/>
            </a:solidFill>
            <a:ln>
              <a:noFill/>
            </a:ln>
          </p:spPr>
          <p:txBody>
            <a:bodyPr rtlCol="0" anchor="ctr"/>
            <a:lstStyle/>
            <a:p>
              <a:pPr algn="ctr"/>
              <a:endParaRPr/>
            </a:p>
          </p:txBody>
        </p:sp>
        <p:sp>
          <p:nvSpPr>
            <p:cNvPr id="24" name="Rectangle 23"/>
            <p:cNvSpPr/>
            <p:nvPr/>
          </p:nvSpPr>
          <p:spPr>
            <a:xfrm>
              <a:off x="10607040" y="2441448"/>
              <a:ext cx="182880" cy="91440"/>
            </a:xfrm>
            <a:prstGeom prst="rect">
              <a:avLst/>
            </a:prstGeom>
            <a:solidFill>
              <a:srgbClr val="6B5B4B"/>
            </a:solidFill>
            <a:ln>
              <a:noFill/>
            </a:ln>
          </p:spPr>
          <p:txBody>
            <a:bodyPr rtlCol="0" anchor="ctr"/>
            <a:lstStyle/>
            <a:p>
              <a:pPr algn="ctr"/>
              <a:endParaRPr/>
            </a:p>
          </p:txBody>
        </p:sp>
        <p:sp>
          <p:nvSpPr>
            <p:cNvPr id="25" name="Rectangle 24"/>
            <p:cNvSpPr/>
            <p:nvPr/>
          </p:nvSpPr>
          <p:spPr>
            <a:xfrm>
              <a:off x="11064240" y="2441448"/>
              <a:ext cx="182880" cy="91440"/>
            </a:xfrm>
            <a:prstGeom prst="rect">
              <a:avLst/>
            </a:prstGeom>
            <a:solidFill>
              <a:srgbClr val="6B5B4B"/>
            </a:solidFill>
            <a:ln>
              <a:noFill/>
            </a:ln>
          </p:spPr>
          <p:txBody>
            <a:bodyPr rtlCol="0" anchor="ctr"/>
            <a:lstStyle/>
            <a:p>
              <a:pPr algn="ctr"/>
              <a:endParaRPr/>
            </a:p>
          </p:txBody>
        </p:sp>
        <p:sp>
          <p:nvSpPr>
            <p:cNvPr id="26" name="Rounded Rectangle 25"/>
            <p:cNvSpPr/>
            <p:nvPr/>
          </p:nvSpPr>
          <p:spPr>
            <a:xfrm>
              <a:off x="5669280" y="1463040"/>
              <a:ext cx="3108960" cy="822960"/>
            </a:xfrm>
            <a:prstGeom prst="roundRect">
              <a:avLst>
                <a:gd name="adj" fmla="val 11111"/>
              </a:avLst>
            </a:prstGeom>
            <a:solidFill>
              <a:srgbClr val="6C7480"/>
            </a:solidFill>
            <a:ln>
              <a:noFill/>
            </a:ln>
          </p:spPr>
          <p:txBody>
            <a:bodyPr rtlCol="0" anchor="ctr"/>
            <a:lstStyle/>
            <a:p>
              <a:pPr algn="ctr"/>
              <a:endParaRPr/>
            </a:p>
          </p:txBody>
        </p:sp>
        <p:sp>
          <p:nvSpPr>
            <p:cNvPr id="27" name="Rounded Rectangle 26"/>
            <p:cNvSpPr/>
            <p:nvPr/>
          </p:nvSpPr>
          <p:spPr>
            <a:xfrm>
              <a:off x="5943600" y="1600200"/>
              <a:ext cx="420623"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28" name="Rounded Rectangle 27"/>
            <p:cNvSpPr/>
            <p:nvPr/>
          </p:nvSpPr>
          <p:spPr>
            <a:xfrm>
              <a:off x="6473952" y="1600200"/>
              <a:ext cx="420623"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29" name="Rounded Rectangle 28"/>
            <p:cNvSpPr/>
            <p:nvPr/>
          </p:nvSpPr>
          <p:spPr>
            <a:xfrm>
              <a:off x="7004304" y="1600200"/>
              <a:ext cx="420623"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30" name="Rounded Rectangle 29"/>
            <p:cNvSpPr/>
            <p:nvPr/>
          </p:nvSpPr>
          <p:spPr>
            <a:xfrm>
              <a:off x="7534656" y="1600200"/>
              <a:ext cx="420623"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31" name="Rounded Rectangle 30"/>
            <p:cNvSpPr/>
            <p:nvPr/>
          </p:nvSpPr>
          <p:spPr>
            <a:xfrm>
              <a:off x="8065008" y="1600200"/>
              <a:ext cx="420623" cy="274320"/>
            </a:xfrm>
            <a:prstGeom prst="roundRect">
              <a:avLst>
                <a:gd name="adj" fmla="val 10000"/>
              </a:avLst>
            </a:prstGeom>
            <a:solidFill>
              <a:srgbClr val="F2C14E">
                <a:alpha val="85000"/>
              </a:srgbClr>
            </a:solidFill>
            <a:ln>
              <a:noFill/>
            </a:ln>
          </p:spPr>
          <p:txBody>
            <a:bodyPr rtlCol="0" anchor="ctr"/>
            <a:lstStyle/>
            <a:p>
              <a:pPr algn="ctr"/>
              <a:endParaRPr/>
            </a:p>
          </p:txBody>
        </p:sp>
        <p:sp>
          <p:nvSpPr>
            <p:cNvPr id="32" name="Oval 31"/>
            <p:cNvSpPr/>
            <p:nvPr/>
          </p:nvSpPr>
          <p:spPr>
            <a:xfrm>
              <a:off x="6080760" y="226771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33" name="Oval 32"/>
            <p:cNvSpPr/>
            <p:nvPr/>
          </p:nvSpPr>
          <p:spPr>
            <a:xfrm>
              <a:off x="6355080" y="226771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34" name="Oval 33"/>
            <p:cNvSpPr/>
            <p:nvPr/>
          </p:nvSpPr>
          <p:spPr>
            <a:xfrm>
              <a:off x="8183879" y="226771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35" name="Oval 34"/>
            <p:cNvSpPr/>
            <p:nvPr/>
          </p:nvSpPr>
          <p:spPr>
            <a:xfrm>
              <a:off x="8458199" y="226771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36" name="Rectangle 35"/>
            <p:cNvSpPr/>
            <p:nvPr/>
          </p:nvSpPr>
          <p:spPr>
            <a:xfrm>
              <a:off x="3657600" y="4114800"/>
              <a:ext cx="7680960" cy="64008"/>
            </a:xfrm>
            <a:prstGeom prst="rect">
              <a:avLst/>
            </a:prstGeom>
            <a:solidFill>
              <a:srgbClr val="9AA0A6"/>
            </a:solidFill>
            <a:ln>
              <a:noFill/>
            </a:ln>
          </p:spPr>
          <p:txBody>
            <a:bodyPr rtlCol="0" anchor="ctr"/>
            <a:lstStyle/>
            <a:p>
              <a:pPr algn="ctr"/>
              <a:endParaRPr/>
            </a:p>
          </p:txBody>
        </p:sp>
        <p:sp>
          <p:nvSpPr>
            <p:cNvPr id="37" name="Rectangle 36"/>
            <p:cNvSpPr/>
            <p:nvPr/>
          </p:nvSpPr>
          <p:spPr>
            <a:xfrm>
              <a:off x="3749039" y="4178808"/>
              <a:ext cx="182880" cy="91440"/>
            </a:xfrm>
            <a:prstGeom prst="rect">
              <a:avLst/>
            </a:prstGeom>
            <a:solidFill>
              <a:srgbClr val="6B5B4B"/>
            </a:solidFill>
            <a:ln>
              <a:noFill/>
            </a:ln>
          </p:spPr>
          <p:txBody>
            <a:bodyPr rtlCol="0" anchor="ctr"/>
            <a:lstStyle/>
            <a:p>
              <a:pPr algn="ctr"/>
              <a:endParaRPr/>
            </a:p>
          </p:txBody>
        </p:sp>
        <p:sp>
          <p:nvSpPr>
            <p:cNvPr id="38" name="Rectangle 37"/>
            <p:cNvSpPr/>
            <p:nvPr/>
          </p:nvSpPr>
          <p:spPr>
            <a:xfrm>
              <a:off x="4206240" y="4178808"/>
              <a:ext cx="182880" cy="91440"/>
            </a:xfrm>
            <a:prstGeom prst="rect">
              <a:avLst/>
            </a:prstGeom>
            <a:solidFill>
              <a:srgbClr val="6B5B4B"/>
            </a:solidFill>
            <a:ln>
              <a:noFill/>
            </a:ln>
          </p:spPr>
          <p:txBody>
            <a:bodyPr rtlCol="0" anchor="ctr"/>
            <a:lstStyle/>
            <a:p>
              <a:pPr algn="ctr"/>
              <a:endParaRPr/>
            </a:p>
          </p:txBody>
        </p:sp>
        <p:sp>
          <p:nvSpPr>
            <p:cNvPr id="39" name="Rectangle 38"/>
            <p:cNvSpPr/>
            <p:nvPr/>
          </p:nvSpPr>
          <p:spPr>
            <a:xfrm>
              <a:off x="4663440" y="4178808"/>
              <a:ext cx="182880" cy="91440"/>
            </a:xfrm>
            <a:prstGeom prst="rect">
              <a:avLst/>
            </a:prstGeom>
            <a:solidFill>
              <a:srgbClr val="6B5B4B"/>
            </a:solidFill>
            <a:ln>
              <a:noFill/>
            </a:ln>
          </p:spPr>
          <p:txBody>
            <a:bodyPr rtlCol="0" anchor="ctr"/>
            <a:lstStyle/>
            <a:p>
              <a:pPr algn="ctr"/>
              <a:endParaRPr/>
            </a:p>
          </p:txBody>
        </p:sp>
        <p:sp>
          <p:nvSpPr>
            <p:cNvPr id="40" name="Rectangle 39"/>
            <p:cNvSpPr/>
            <p:nvPr/>
          </p:nvSpPr>
          <p:spPr>
            <a:xfrm>
              <a:off x="5120640" y="4178808"/>
              <a:ext cx="182880" cy="91440"/>
            </a:xfrm>
            <a:prstGeom prst="rect">
              <a:avLst/>
            </a:prstGeom>
            <a:solidFill>
              <a:srgbClr val="6B5B4B"/>
            </a:solidFill>
            <a:ln>
              <a:noFill/>
            </a:ln>
          </p:spPr>
          <p:txBody>
            <a:bodyPr rtlCol="0" anchor="ctr"/>
            <a:lstStyle/>
            <a:p>
              <a:pPr algn="ctr"/>
              <a:endParaRPr/>
            </a:p>
          </p:txBody>
        </p:sp>
        <p:sp>
          <p:nvSpPr>
            <p:cNvPr id="41" name="Rectangle 40"/>
            <p:cNvSpPr/>
            <p:nvPr/>
          </p:nvSpPr>
          <p:spPr>
            <a:xfrm>
              <a:off x="5577840" y="4178808"/>
              <a:ext cx="182880" cy="91440"/>
            </a:xfrm>
            <a:prstGeom prst="rect">
              <a:avLst/>
            </a:prstGeom>
            <a:solidFill>
              <a:srgbClr val="6B5B4B"/>
            </a:solidFill>
            <a:ln>
              <a:noFill/>
            </a:ln>
          </p:spPr>
          <p:txBody>
            <a:bodyPr rtlCol="0" anchor="ctr"/>
            <a:lstStyle/>
            <a:p>
              <a:pPr algn="ctr"/>
              <a:endParaRPr/>
            </a:p>
          </p:txBody>
        </p:sp>
        <p:sp>
          <p:nvSpPr>
            <p:cNvPr id="42" name="Rectangle 41"/>
            <p:cNvSpPr/>
            <p:nvPr/>
          </p:nvSpPr>
          <p:spPr>
            <a:xfrm>
              <a:off x="6035040" y="4178808"/>
              <a:ext cx="182880" cy="91440"/>
            </a:xfrm>
            <a:prstGeom prst="rect">
              <a:avLst/>
            </a:prstGeom>
            <a:solidFill>
              <a:srgbClr val="6B5B4B"/>
            </a:solidFill>
            <a:ln>
              <a:noFill/>
            </a:ln>
          </p:spPr>
          <p:txBody>
            <a:bodyPr rtlCol="0" anchor="ctr"/>
            <a:lstStyle/>
            <a:p>
              <a:pPr algn="ctr"/>
              <a:endParaRPr/>
            </a:p>
          </p:txBody>
        </p:sp>
        <p:sp>
          <p:nvSpPr>
            <p:cNvPr id="43" name="Rectangle 42"/>
            <p:cNvSpPr/>
            <p:nvPr/>
          </p:nvSpPr>
          <p:spPr>
            <a:xfrm>
              <a:off x="6492240" y="4178808"/>
              <a:ext cx="182880" cy="91440"/>
            </a:xfrm>
            <a:prstGeom prst="rect">
              <a:avLst/>
            </a:prstGeom>
            <a:solidFill>
              <a:srgbClr val="6B5B4B"/>
            </a:solidFill>
            <a:ln>
              <a:noFill/>
            </a:ln>
          </p:spPr>
          <p:txBody>
            <a:bodyPr rtlCol="0" anchor="ctr"/>
            <a:lstStyle/>
            <a:p>
              <a:pPr algn="ctr"/>
              <a:endParaRPr/>
            </a:p>
          </p:txBody>
        </p:sp>
        <p:sp>
          <p:nvSpPr>
            <p:cNvPr id="44" name="Rectangle 43"/>
            <p:cNvSpPr/>
            <p:nvPr/>
          </p:nvSpPr>
          <p:spPr>
            <a:xfrm>
              <a:off x="6949440" y="4178808"/>
              <a:ext cx="182880" cy="91440"/>
            </a:xfrm>
            <a:prstGeom prst="rect">
              <a:avLst/>
            </a:prstGeom>
            <a:solidFill>
              <a:srgbClr val="6B5B4B"/>
            </a:solidFill>
            <a:ln>
              <a:noFill/>
            </a:ln>
          </p:spPr>
          <p:txBody>
            <a:bodyPr rtlCol="0" anchor="ctr"/>
            <a:lstStyle/>
            <a:p>
              <a:pPr algn="ctr"/>
              <a:endParaRPr/>
            </a:p>
          </p:txBody>
        </p:sp>
        <p:sp>
          <p:nvSpPr>
            <p:cNvPr id="45" name="Rectangle 44"/>
            <p:cNvSpPr/>
            <p:nvPr/>
          </p:nvSpPr>
          <p:spPr>
            <a:xfrm>
              <a:off x="7406640" y="4178808"/>
              <a:ext cx="182880" cy="91440"/>
            </a:xfrm>
            <a:prstGeom prst="rect">
              <a:avLst/>
            </a:prstGeom>
            <a:solidFill>
              <a:srgbClr val="6B5B4B"/>
            </a:solidFill>
            <a:ln>
              <a:noFill/>
            </a:ln>
          </p:spPr>
          <p:txBody>
            <a:bodyPr rtlCol="0" anchor="ctr"/>
            <a:lstStyle/>
            <a:p>
              <a:pPr algn="ctr"/>
              <a:endParaRPr/>
            </a:p>
          </p:txBody>
        </p:sp>
        <p:sp>
          <p:nvSpPr>
            <p:cNvPr id="46" name="Rectangle 45"/>
            <p:cNvSpPr/>
            <p:nvPr/>
          </p:nvSpPr>
          <p:spPr>
            <a:xfrm>
              <a:off x="7863840" y="4178808"/>
              <a:ext cx="182880" cy="91440"/>
            </a:xfrm>
            <a:prstGeom prst="rect">
              <a:avLst/>
            </a:prstGeom>
            <a:solidFill>
              <a:srgbClr val="6B5B4B"/>
            </a:solidFill>
            <a:ln>
              <a:noFill/>
            </a:ln>
          </p:spPr>
          <p:txBody>
            <a:bodyPr rtlCol="0" anchor="ctr"/>
            <a:lstStyle/>
            <a:p>
              <a:pPr algn="ctr"/>
              <a:endParaRPr/>
            </a:p>
          </p:txBody>
        </p:sp>
        <p:sp>
          <p:nvSpPr>
            <p:cNvPr id="47" name="Rectangle 46"/>
            <p:cNvSpPr/>
            <p:nvPr/>
          </p:nvSpPr>
          <p:spPr>
            <a:xfrm>
              <a:off x="8321040" y="4178808"/>
              <a:ext cx="182880" cy="91440"/>
            </a:xfrm>
            <a:prstGeom prst="rect">
              <a:avLst/>
            </a:prstGeom>
            <a:solidFill>
              <a:srgbClr val="6B5B4B"/>
            </a:solidFill>
            <a:ln>
              <a:noFill/>
            </a:ln>
          </p:spPr>
          <p:txBody>
            <a:bodyPr rtlCol="0" anchor="ctr"/>
            <a:lstStyle/>
            <a:p>
              <a:pPr algn="ctr"/>
              <a:endParaRPr/>
            </a:p>
          </p:txBody>
        </p:sp>
        <p:sp>
          <p:nvSpPr>
            <p:cNvPr id="48" name="Rectangle 47"/>
            <p:cNvSpPr/>
            <p:nvPr/>
          </p:nvSpPr>
          <p:spPr>
            <a:xfrm>
              <a:off x="8778240" y="4178808"/>
              <a:ext cx="182880" cy="91440"/>
            </a:xfrm>
            <a:prstGeom prst="rect">
              <a:avLst/>
            </a:prstGeom>
            <a:solidFill>
              <a:srgbClr val="6B5B4B"/>
            </a:solidFill>
            <a:ln>
              <a:noFill/>
            </a:ln>
          </p:spPr>
          <p:txBody>
            <a:bodyPr rtlCol="0" anchor="ctr"/>
            <a:lstStyle/>
            <a:p>
              <a:pPr algn="ctr"/>
              <a:endParaRPr/>
            </a:p>
          </p:txBody>
        </p:sp>
        <p:sp>
          <p:nvSpPr>
            <p:cNvPr id="49" name="Rectangle 48"/>
            <p:cNvSpPr/>
            <p:nvPr/>
          </p:nvSpPr>
          <p:spPr>
            <a:xfrm>
              <a:off x="9235440" y="4178808"/>
              <a:ext cx="182880" cy="91440"/>
            </a:xfrm>
            <a:prstGeom prst="rect">
              <a:avLst/>
            </a:prstGeom>
            <a:solidFill>
              <a:srgbClr val="6B5B4B"/>
            </a:solidFill>
            <a:ln>
              <a:noFill/>
            </a:ln>
          </p:spPr>
          <p:txBody>
            <a:bodyPr rtlCol="0" anchor="ctr"/>
            <a:lstStyle/>
            <a:p>
              <a:pPr algn="ctr"/>
              <a:endParaRPr/>
            </a:p>
          </p:txBody>
        </p:sp>
        <p:sp>
          <p:nvSpPr>
            <p:cNvPr id="50" name="Rectangle 49"/>
            <p:cNvSpPr/>
            <p:nvPr/>
          </p:nvSpPr>
          <p:spPr>
            <a:xfrm>
              <a:off x="9692640" y="4178808"/>
              <a:ext cx="182880" cy="91440"/>
            </a:xfrm>
            <a:prstGeom prst="rect">
              <a:avLst/>
            </a:prstGeom>
            <a:solidFill>
              <a:srgbClr val="6B5B4B"/>
            </a:solidFill>
            <a:ln>
              <a:noFill/>
            </a:ln>
          </p:spPr>
          <p:txBody>
            <a:bodyPr rtlCol="0" anchor="ctr"/>
            <a:lstStyle/>
            <a:p>
              <a:pPr algn="ctr"/>
              <a:endParaRPr/>
            </a:p>
          </p:txBody>
        </p:sp>
        <p:sp>
          <p:nvSpPr>
            <p:cNvPr id="51" name="Rectangle 50"/>
            <p:cNvSpPr/>
            <p:nvPr/>
          </p:nvSpPr>
          <p:spPr>
            <a:xfrm>
              <a:off x="10149840" y="4178808"/>
              <a:ext cx="182880" cy="91440"/>
            </a:xfrm>
            <a:prstGeom prst="rect">
              <a:avLst/>
            </a:prstGeom>
            <a:solidFill>
              <a:srgbClr val="6B5B4B"/>
            </a:solidFill>
            <a:ln>
              <a:noFill/>
            </a:ln>
          </p:spPr>
          <p:txBody>
            <a:bodyPr rtlCol="0" anchor="ctr"/>
            <a:lstStyle/>
            <a:p>
              <a:pPr algn="ctr"/>
              <a:endParaRPr/>
            </a:p>
          </p:txBody>
        </p:sp>
        <p:sp>
          <p:nvSpPr>
            <p:cNvPr id="52" name="Rectangle 51"/>
            <p:cNvSpPr/>
            <p:nvPr/>
          </p:nvSpPr>
          <p:spPr>
            <a:xfrm>
              <a:off x="10607040" y="4178808"/>
              <a:ext cx="182880" cy="91440"/>
            </a:xfrm>
            <a:prstGeom prst="rect">
              <a:avLst/>
            </a:prstGeom>
            <a:solidFill>
              <a:srgbClr val="6B5B4B"/>
            </a:solidFill>
            <a:ln>
              <a:noFill/>
            </a:ln>
          </p:spPr>
          <p:txBody>
            <a:bodyPr rtlCol="0" anchor="ctr"/>
            <a:lstStyle/>
            <a:p>
              <a:pPr algn="ctr"/>
              <a:endParaRPr/>
            </a:p>
          </p:txBody>
        </p:sp>
        <p:sp>
          <p:nvSpPr>
            <p:cNvPr id="53" name="Rectangle 52"/>
            <p:cNvSpPr/>
            <p:nvPr/>
          </p:nvSpPr>
          <p:spPr>
            <a:xfrm>
              <a:off x="11064240" y="4178808"/>
              <a:ext cx="182880" cy="91440"/>
            </a:xfrm>
            <a:prstGeom prst="rect">
              <a:avLst/>
            </a:prstGeom>
            <a:solidFill>
              <a:srgbClr val="6B5B4B"/>
            </a:solidFill>
            <a:ln>
              <a:noFill/>
            </a:ln>
          </p:spPr>
          <p:txBody>
            <a:bodyPr rtlCol="0" anchor="ctr"/>
            <a:lstStyle/>
            <a:p>
              <a:pPr algn="ctr"/>
              <a:endParaRPr/>
            </a:p>
          </p:txBody>
        </p:sp>
        <p:sp>
          <p:nvSpPr>
            <p:cNvPr id="54" name="Rounded Rectangle 53"/>
            <p:cNvSpPr/>
            <p:nvPr/>
          </p:nvSpPr>
          <p:spPr>
            <a:xfrm>
              <a:off x="7498079" y="3541471"/>
              <a:ext cx="781812" cy="295351"/>
            </a:xfrm>
            <a:prstGeom prst="roundRect">
              <a:avLst>
                <a:gd name="adj" fmla="val 9287"/>
              </a:avLst>
            </a:prstGeom>
            <a:solidFill>
              <a:srgbClr val="2B2F36"/>
            </a:solidFill>
            <a:ln w="19050">
              <a:solidFill>
                <a:srgbClr val="F28C28"/>
              </a:solidFill>
            </a:ln>
          </p:spPr>
          <p:txBody>
            <a:bodyPr rtlCol="0" anchor="ctr"/>
            <a:lstStyle/>
            <a:p>
              <a:pPr algn="ctr"/>
              <a:endParaRPr/>
            </a:p>
          </p:txBody>
        </p:sp>
        <p:sp>
          <p:nvSpPr>
            <p:cNvPr id="55" name="Freeform 54"/>
            <p:cNvSpPr/>
            <p:nvPr/>
          </p:nvSpPr>
          <p:spPr>
            <a:xfrm>
              <a:off x="7567574" y="3419856"/>
              <a:ext cx="642823" cy="121615"/>
            </a:xfrm>
            <a:custGeom>
              <a:avLst/>
              <a:gdLst/>
              <a:ahLst/>
              <a:cxnLst/>
              <a:rect l="l" t="t" r="r" b="b"/>
              <a:pathLst>
                <a:path w="642823" h="121615">
                  <a:moveTo>
                    <a:pt x="0" y="121615"/>
                  </a:moveTo>
                  <a:lnTo>
                    <a:pt x="104241" y="17373"/>
                  </a:lnTo>
                  <a:lnTo>
                    <a:pt x="538581" y="0"/>
                  </a:lnTo>
                  <a:lnTo>
                    <a:pt x="642823" y="121615"/>
                  </a:lnTo>
                  <a:close/>
                </a:path>
              </a:pathLst>
            </a:custGeom>
            <a:solidFill>
              <a:srgbClr val="1B1D21"/>
            </a:solidFill>
            <a:ln w="12700">
              <a:solidFill>
                <a:srgbClr val="9AA0A6"/>
              </a:solidFill>
            </a:ln>
          </p:spPr>
          <p:txBody>
            <a:bodyPr rtlCol="0" anchor="ctr"/>
            <a:lstStyle/>
            <a:p>
              <a:pPr algn="ctr"/>
              <a:endParaRPr/>
            </a:p>
          </p:txBody>
        </p:sp>
        <p:sp>
          <p:nvSpPr>
            <p:cNvPr id="56" name="Oval 55"/>
            <p:cNvSpPr/>
            <p:nvPr/>
          </p:nvSpPr>
          <p:spPr>
            <a:xfrm>
              <a:off x="7637068" y="3906316"/>
              <a:ext cx="208483" cy="208483"/>
            </a:xfrm>
            <a:prstGeom prst="ellipse">
              <a:avLst/>
            </a:prstGeom>
            <a:solidFill>
              <a:srgbClr val="343A43"/>
            </a:solidFill>
            <a:ln w="12700">
              <a:solidFill>
                <a:srgbClr val="9AA0A6"/>
              </a:solidFill>
            </a:ln>
          </p:spPr>
          <p:txBody>
            <a:bodyPr rtlCol="0" anchor="ctr"/>
            <a:lstStyle/>
            <a:p>
              <a:pPr algn="ctr"/>
              <a:endParaRPr/>
            </a:p>
          </p:txBody>
        </p:sp>
        <p:sp>
          <p:nvSpPr>
            <p:cNvPr id="57" name="Oval 56"/>
            <p:cNvSpPr/>
            <p:nvPr/>
          </p:nvSpPr>
          <p:spPr>
            <a:xfrm>
              <a:off x="7932419" y="3906316"/>
              <a:ext cx="208483" cy="208483"/>
            </a:xfrm>
            <a:prstGeom prst="ellipse">
              <a:avLst/>
            </a:prstGeom>
            <a:solidFill>
              <a:srgbClr val="343A43"/>
            </a:solidFill>
            <a:ln w="12700">
              <a:solidFill>
                <a:srgbClr val="9AA0A6"/>
              </a:solidFill>
            </a:ln>
          </p:spPr>
          <p:txBody>
            <a:bodyPr rtlCol="0" anchor="ctr"/>
            <a:lstStyle/>
            <a:p>
              <a:pPr algn="ctr"/>
              <a:endParaRPr/>
            </a:p>
          </p:txBody>
        </p:sp>
        <p:cxnSp>
          <p:nvCxnSpPr>
            <p:cNvPr id="58" name="Connector 57"/>
            <p:cNvCxnSpPr/>
            <p:nvPr/>
          </p:nvCxnSpPr>
          <p:spPr>
            <a:xfrm>
              <a:off x="8279892" y="3784701"/>
              <a:ext cx="69494" cy="0"/>
            </a:xfrm>
            <a:prstGeom prst="line">
              <a:avLst/>
            </a:prstGeom>
            <a:ln w="25400">
              <a:solidFill>
                <a:srgbClr val="9AA0A6"/>
              </a:solidFill>
            </a:ln>
          </p:spPr>
        </p:cxnSp>
        <p:sp>
          <p:nvSpPr>
            <p:cNvPr id="59" name="Rectangle 58"/>
            <p:cNvSpPr/>
            <p:nvPr/>
          </p:nvSpPr>
          <p:spPr>
            <a:xfrm>
              <a:off x="8349386" y="3784701"/>
              <a:ext cx="1520189" cy="86868"/>
            </a:xfrm>
            <a:prstGeom prst="rect">
              <a:avLst/>
            </a:prstGeom>
            <a:solidFill>
              <a:srgbClr val="1B1D21"/>
            </a:solidFill>
            <a:ln w="12700">
              <a:solidFill>
                <a:srgbClr val="9AA0A6"/>
              </a:solidFill>
            </a:ln>
          </p:spPr>
          <p:txBody>
            <a:bodyPr rtlCol="0" anchor="ctr"/>
            <a:lstStyle/>
            <a:p>
              <a:pPr algn="ctr"/>
              <a:endParaRPr/>
            </a:p>
          </p:txBody>
        </p:sp>
        <p:sp>
          <p:nvSpPr>
            <p:cNvPr id="60" name="Oval 59"/>
            <p:cNvSpPr/>
            <p:nvPr/>
          </p:nvSpPr>
          <p:spPr>
            <a:xfrm>
              <a:off x="8462314" y="3854196"/>
              <a:ext cx="260603" cy="260603"/>
            </a:xfrm>
            <a:prstGeom prst="ellipse">
              <a:avLst/>
            </a:prstGeom>
            <a:solidFill>
              <a:srgbClr val="343A43"/>
            </a:solidFill>
            <a:ln w="15875">
              <a:solidFill>
                <a:srgbClr val="9AA0A6"/>
              </a:solidFill>
            </a:ln>
          </p:spPr>
          <p:txBody>
            <a:bodyPr rtlCol="0" anchor="ctr"/>
            <a:lstStyle/>
            <a:p>
              <a:pPr algn="ctr"/>
              <a:endParaRPr/>
            </a:p>
          </p:txBody>
        </p:sp>
        <p:sp>
          <p:nvSpPr>
            <p:cNvPr id="61" name="Oval 60"/>
            <p:cNvSpPr/>
            <p:nvPr/>
          </p:nvSpPr>
          <p:spPr>
            <a:xfrm>
              <a:off x="8566556" y="3958437"/>
              <a:ext cx="52120" cy="52120"/>
            </a:xfrm>
            <a:prstGeom prst="ellipse">
              <a:avLst/>
            </a:prstGeom>
            <a:solidFill>
              <a:srgbClr val="9AA0A6"/>
            </a:solidFill>
            <a:ln>
              <a:noFill/>
            </a:ln>
          </p:spPr>
          <p:txBody>
            <a:bodyPr rtlCol="0" anchor="ctr"/>
            <a:lstStyle/>
            <a:p>
              <a:pPr algn="ctr"/>
              <a:endParaRPr/>
            </a:p>
          </p:txBody>
        </p:sp>
        <p:sp>
          <p:nvSpPr>
            <p:cNvPr id="62" name="Oval 61"/>
            <p:cNvSpPr/>
            <p:nvPr/>
          </p:nvSpPr>
          <p:spPr>
            <a:xfrm>
              <a:off x="8853220" y="3854196"/>
              <a:ext cx="260603" cy="260603"/>
            </a:xfrm>
            <a:prstGeom prst="ellipse">
              <a:avLst/>
            </a:prstGeom>
            <a:solidFill>
              <a:srgbClr val="343A43"/>
            </a:solidFill>
            <a:ln w="15875">
              <a:solidFill>
                <a:srgbClr val="9AA0A6"/>
              </a:solidFill>
            </a:ln>
          </p:spPr>
          <p:txBody>
            <a:bodyPr rtlCol="0" anchor="ctr"/>
            <a:lstStyle/>
            <a:p>
              <a:pPr algn="ctr"/>
              <a:endParaRPr/>
            </a:p>
          </p:txBody>
        </p:sp>
        <p:sp>
          <p:nvSpPr>
            <p:cNvPr id="63" name="Oval 62"/>
            <p:cNvSpPr/>
            <p:nvPr/>
          </p:nvSpPr>
          <p:spPr>
            <a:xfrm>
              <a:off x="8957462" y="3958437"/>
              <a:ext cx="52120" cy="52120"/>
            </a:xfrm>
            <a:prstGeom prst="ellipse">
              <a:avLst/>
            </a:prstGeom>
            <a:solidFill>
              <a:srgbClr val="9AA0A6"/>
            </a:solidFill>
            <a:ln>
              <a:noFill/>
            </a:ln>
          </p:spPr>
          <p:txBody>
            <a:bodyPr rtlCol="0" anchor="ctr"/>
            <a:lstStyle/>
            <a:p>
              <a:pPr algn="ctr"/>
              <a:endParaRPr/>
            </a:p>
          </p:txBody>
        </p:sp>
        <p:sp>
          <p:nvSpPr>
            <p:cNvPr id="64" name="Oval 63"/>
            <p:cNvSpPr/>
            <p:nvPr/>
          </p:nvSpPr>
          <p:spPr>
            <a:xfrm>
              <a:off x="9244126" y="3854196"/>
              <a:ext cx="260603" cy="260603"/>
            </a:xfrm>
            <a:prstGeom prst="ellipse">
              <a:avLst/>
            </a:prstGeom>
            <a:solidFill>
              <a:srgbClr val="343A43"/>
            </a:solidFill>
            <a:ln w="15875">
              <a:solidFill>
                <a:srgbClr val="9AA0A6"/>
              </a:solidFill>
            </a:ln>
          </p:spPr>
          <p:txBody>
            <a:bodyPr rtlCol="0" anchor="ctr"/>
            <a:lstStyle/>
            <a:p>
              <a:pPr algn="ctr"/>
              <a:endParaRPr/>
            </a:p>
          </p:txBody>
        </p:sp>
        <p:sp>
          <p:nvSpPr>
            <p:cNvPr id="65" name="Oval 64"/>
            <p:cNvSpPr/>
            <p:nvPr/>
          </p:nvSpPr>
          <p:spPr>
            <a:xfrm>
              <a:off x="9348368" y="3958437"/>
              <a:ext cx="52120" cy="52120"/>
            </a:xfrm>
            <a:prstGeom prst="ellipse">
              <a:avLst/>
            </a:prstGeom>
            <a:solidFill>
              <a:srgbClr val="9AA0A6"/>
            </a:solidFill>
            <a:ln>
              <a:noFill/>
            </a:ln>
          </p:spPr>
          <p:txBody>
            <a:bodyPr rtlCol="0" anchor="ctr"/>
            <a:lstStyle/>
            <a:p>
              <a:pPr algn="ctr"/>
              <a:endParaRPr/>
            </a:p>
          </p:txBody>
        </p:sp>
        <p:sp>
          <p:nvSpPr>
            <p:cNvPr id="66" name="Oval 65"/>
            <p:cNvSpPr/>
            <p:nvPr/>
          </p:nvSpPr>
          <p:spPr>
            <a:xfrm>
              <a:off x="9635032" y="3854196"/>
              <a:ext cx="260603" cy="260603"/>
            </a:xfrm>
            <a:prstGeom prst="ellipse">
              <a:avLst/>
            </a:prstGeom>
            <a:solidFill>
              <a:srgbClr val="343A43"/>
            </a:solidFill>
            <a:ln w="15875">
              <a:solidFill>
                <a:srgbClr val="9AA0A6"/>
              </a:solidFill>
            </a:ln>
          </p:spPr>
          <p:txBody>
            <a:bodyPr rtlCol="0" anchor="ctr"/>
            <a:lstStyle/>
            <a:p>
              <a:pPr algn="ctr"/>
              <a:endParaRPr/>
            </a:p>
          </p:txBody>
        </p:sp>
        <p:sp>
          <p:nvSpPr>
            <p:cNvPr id="67" name="Oval 66"/>
            <p:cNvSpPr/>
            <p:nvPr/>
          </p:nvSpPr>
          <p:spPr>
            <a:xfrm>
              <a:off x="9739274" y="3958437"/>
              <a:ext cx="52120" cy="52120"/>
            </a:xfrm>
            <a:prstGeom prst="ellipse">
              <a:avLst/>
            </a:prstGeom>
            <a:solidFill>
              <a:srgbClr val="9AA0A6"/>
            </a:solidFill>
            <a:ln>
              <a:noFill/>
            </a:ln>
          </p:spPr>
          <p:txBody>
            <a:bodyPr rtlCol="0" anchor="ctr"/>
            <a:lstStyle/>
            <a:p>
              <a:pPr algn="ctr"/>
              <a:endParaRPr/>
            </a:p>
          </p:txBody>
        </p:sp>
        <p:cxnSp>
          <p:nvCxnSpPr>
            <p:cNvPr id="68" name="Connector 67"/>
            <p:cNvCxnSpPr/>
            <p:nvPr/>
          </p:nvCxnSpPr>
          <p:spPr>
            <a:xfrm>
              <a:off x="8592616" y="3984498"/>
              <a:ext cx="1172718" cy="0"/>
            </a:xfrm>
            <a:prstGeom prst="line">
              <a:avLst/>
            </a:prstGeom>
            <a:ln w="19050">
              <a:solidFill>
                <a:srgbClr val="9AA0A6"/>
              </a:solidFill>
            </a:ln>
          </p:spPr>
        </p:cxnSp>
        <p:sp>
          <p:nvSpPr>
            <p:cNvPr id="69" name="Rounded Rectangle 68"/>
            <p:cNvSpPr/>
            <p:nvPr/>
          </p:nvSpPr>
          <p:spPr>
            <a:xfrm>
              <a:off x="8870594" y="3454603"/>
              <a:ext cx="998981" cy="330098"/>
            </a:xfrm>
            <a:prstGeom prst="roundRect">
              <a:avLst>
                <a:gd name="adj" fmla="val 16620"/>
              </a:avLst>
            </a:prstGeom>
            <a:solidFill>
              <a:srgbClr val="F28C28"/>
            </a:solidFill>
            <a:ln>
              <a:noFill/>
            </a:ln>
          </p:spPr>
          <p:txBody>
            <a:bodyPr rtlCol="0" anchor="ctr"/>
            <a:lstStyle/>
            <a:p>
              <a:pPr algn="ctr"/>
              <a:endParaRPr/>
            </a:p>
          </p:txBody>
        </p:sp>
        <p:sp>
          <p:nvSpPr>
            <p:cNvPr id="70" name="Rectangle 69"/>
            <p:cNvSpPr/>
            <p:nvPr/>
          </p:nvSpPr>
          <p:spPr>
            <a:xfrm>
              <a:off x="9713213" y="3454603"/>
              <a:ext cx="156362" cy="330098"/>
            </a:xfrm>
            <a:prstGeom prst="rect">
              <a:avLst/>
            </a:prstGeom>
            <a:solidFill>
              <a:srgbClr val="1B1D21"/>
            </a:solidFill>
            <a:ln w="12700">
              <a:solidFill>
                <a:srgbClr val="9AA0A6"/>
              </a:solidFill>
            </a:ln>
          </p:spPr>
          <p:txBody>
            <a:bodyPr rtlCol="0" anchor="ctr"/>
            <a:lstStyle/>
            <a:p>
              <a:pPr algn="ctr"/>
              <a:endParaRPr/>
            </a:p>
          </p:txBody>
        </p:sp>
        <p:sp>
          <p:nvSpPr>
            <p:cNvPr id="71" name="Rectangle 70"/>
            <p:cNvSpPr/>
            <p:nvPr/>
          </p:nvSpPr>
          <p:spPr>
            <a:xfrm>
              <a:off x="9747961" y="3298240"/>
              <a:ext cx="86868" cy="173736"/>
            </a:xfrm>
            <a:prstGeom prst="rect">
              <a:avLst/>
            </a:prstGeom>
            <a:solidFill>
              <a:srgbClr val="1B1D21"/>
            </a:solidFill>
            <a:ln w="12700">
              <a:solidFill>
                <a:srgbClr val="9AA0A6"/>
              </a:solidFill>
            </a:ln>
          </p:spPr>
          <p:txBody>
            <a:bodyPr rtlCol="0" anchor="ctr"/>
            <a:lstStyle/>
            <a:p>
              <a:pPr algn="ctr"/>
              <a:endParaRPr/>
            </a:p>
          </p:txBody>
        </p:sp>
        <p:sp>
          <p:nvSpPr>
            <p:cNvPr id="72" name="Rectangle 71"/>
            <p:cNvSpPr/>
            <p:nvPr/>
          </p:nvSpPr>
          <p:spPr>
            <a:xfrm>
              <a:off x="9713213" y="3263493"/>
              <a:ext cx="156362" cy="52120"/>
            </a:xfrm>
            <a:prstGeom prst="rect">
              <a:avLst/>
            </a:prstGeom>
            <a:solidFill>
              <a:srgbClr val="1B1D21"/>
            </a:solidFill>
            <a:ln w="12700">
              <a:solidFill>
                <a:srgbClr val="9AA0A6"/>
              </a:solidFill>
            </a:ln>
          </p:spPr>
          <p:txBody>
            <a:bodyPr rtlCol="0" anchor="ctr"/>
            <a:lstStyle/>
            <a:p>
              <a:pPr algn="ctr"/>
              <a:endParaRPr/>
            </a:p>
          </p:txBody>
        </p:sp>
        <p:sp>
          <p:nvSpPr>
            <p:cNvPr id="73" name="Rounded Rectangle 72"/>
            <p:cNvSpPr/>
            <p:nvPr/>
          </p:nvSpPr>
          <p:spPr>
            <a:xfrm>
              <a:off x="9131198" y="3367735"/>
              <a:ext cx="173736" cy="104241"/>
            </a:xfrm>
            <a:prstGeom prst="roundRect">
              <a:avLst>
                <a:gd name="adj" fmla="val 35087"/>
              </a:avLst>
            </a:prstGeom>
            <a:solidFill>
              <a:srgbClr val="F28C28"/>
            </a:solidFill>
            <a:ln>
              <a:noFill/>
            </a:ln>
          </p:spPr>
          <p:txBody>
            <a:bodyPr rtlCol="0" anchor="ctr"/>
            <a:lstStyle/>
            <a:p>
              <a:pPr algn="ctr"/>
              <a:endParaRPr/>
            </a:p>
          </p:txBody>
        </p:sp>
        <p:sp>
          <p:nvSpPr>
            <p:cNvPr id="74" name="Rectangle 73"/>
            <p:cNvSpPr/>
            <p:nvPr/>
          </p:nvSpPr>
          <p:spPr>
            <a:xfrm>
              <a:off x="8349386" y="3332988"/>
              <a:ext cx="521207" cy="469087"/>
            </a:xfrm>
            <a:prstGeom prst="rect">
              <a:avLst/>
            </a:prstGeom>
            <a:solidFill>
              <a:srgbClr val="F28C28"/>
            </a:solidFill>
            <a:ln>
              <a:noFill/>
            </a:ln>
          </p:spPr>
          <p:txBody>
            <a:bodyPr rtlCol="0" anchor="ctr"/>
            <a:lstStyle/>
            <a:p>
              <a:pPr algn="ctr"/>
              <a:endParaRPr/>
            </a:p>
          </p:txBody>
        </p:sp>
        <p:sp>
          <p:nvSpPr>
            <p:cNvPr id="75" name="Rectangle 74"/>
            <p:cNvSpPr/>
            <p:nvPr/>
          </p:nvSpPr>
          <p:spPr>
            <a:xfrm>
              <a:off x="8323325" y="3289553"/>
              <a:ext cx="573328" cy="60807"/>
            </a:xfrm>
            <a:prstGeom prst="rect">
              <a:avLst/>
            </a:prstGeom>
            <a:solidFill>
              <a:srgbClr val="1B1D21"/>
            </a:solidFill>
            <a:ln w="12700">
              <a:solidFill>
                <a:srgbClr val="9AA0A6"/>
              </a:solidFill>
            </a:ln>
          </p:spPr>
          <p:txBody>
            <a:bodyPr rtlCol="0" anchor="ctr"/>
            <a:lstStyle/>
            <a:p>
              <a:pPr algn="ctr"/>
              <a:endParaRPr/>
            </a:p>
          </p:txBody>
        </p:sp>
        <p:sp>
          <p:nvSpPr>
            <p:cNvPr id="76" name="Rectangle 75"/>
            <p:cNvSpPr/>
            <p:nvPr/>
          </p:nvSpPr>
          <p:spPr>
            <a:xfrm>
              <a:off x="8471001" y="3437229"/>
              <a:ext cx="225856" cy="173736"/>
            </a:xfrm>
            <a:prstGeom prst="rect">
              <a:avLst/>
            </a:prstGeom>
            <a:solidFill>
              <a:srgbClr val="1B1D21"/>
            </a:solidFill>
            <a:ln>
              <a:noFill/>
            </a:ln>
          </p:spPr>
          <p:txBody>
            <a:bodyPr rtlCol="0" anchor="ctr"/>
            <a:lstStyle/>
            <a:p>
              <a:pPr algn="ctr"/>
              <a:endParaRPr/>
            </a:p>
          </p:txBody>
        </p:sp>
        <p:sp>
          <p:nvSpPr>
            <p:cNvPr id="77" name="Rounded Rectangle 76"/>
            <p:cNvSpPr/>
            <p:nvPr/>
          </p:nvSpPr>
          <p:spPr>
            <a:xfrm>
              <a:off x="6126480" y="3383279"/>
              <a:ext cx="1280160" cy="640080"/>
            </a:xfrm>
            <a:prstGeom prst="roundRect">
              <a:avLst>
                <a:gd name="adj" fmla="val 5714"/>
              </a:avLst>
            </a:prstGeom>
            <a:solidFill>
              <a:srgbClr val="6C7480"/>
            </a:solidFill>
            <a:ln>
              <a:noFill/>
            </a:ln>
          </p:spPr>
          <p:txBody>
            <a:bodyPr rtlCol="0" anchor="ctr"/>
            <a:lstStyle/>
            <a:p>
              <a:pPr algn="ctr"/>
              <a:endParaRPr/>
            </a:p>
          </p:txBody>
        </p:sp>
        <p:sp>
          <p:nvSpPr>
            <p:cNvPr id="78" name="Rectangle 77"/>
            <p:cNvSpPr/>
            <p:nvPr/>
          </p:nvSpPr>
          <p:spPr>
            <a:xfrm>
              <a:off x="6217920" y="3493008"/>
              <a:ext cx="502919" cy="420623"/>
            </a:xfrm>
            <a:prstGeom prst="rect">
              <a:avLst/>
            </a:prstGeom>
            <a:solidFill>
              <a:srgbClr val="343A43"/>
            </a:solidFill>
            <a:ln w="12700">
              <a:solidFill>
                <a:srgbClr val="9AA0A6"/>
              </a:solidFill>
            </a:ln>
          </p:spPr>
          <p:txBody>
            <a:bodyPr rtlCol="0" anchor="ctr"/>
            <a:lstStyle/>
            <a:p>
              <a:pPr algn="ctr"/>
              <a:endParaRPr/>
            </a:p>
          </p:txBody>
        </p:sp>
        <p:sp>
          <p:nvSpPr>
            <p:cNvPr id="79" name="Rectangle 78"/>
            <p:cNvSpPr/>
            <p:nvPr/>
          </p:nvSpPr>
          <p:spPr>
            <a:xfrm>
              <a:off x="6812279" y="3493008"/>
              <a:ext cx="502919" cy="420623"/>
            </a:xfrm>
            <a:prstGeom prst="rect">
              <a:avLst/>
            </a:prstGeom>
            <a:solidFill>
              <a:srgbClr val="343A43"/>
            </a:solidFill>
            <a:ln w="12700">
              <a:solidFill>
                <a:srgbClr val="9AA0A6"/>
              </a:solidFill>
            </a:ln>
          </p:spPr>
          <p:txBody>
            <a:bodyPr rtlCol="0" anchor="ctr"/>
            <a:lstStyle/>
            <a:p>
              <a:pPr algn="ctr"/>
              <a:endParaRPr/>
            </a:p>
          </p:txBody>
        </p:sp>
        <p:sp>
          <p:nvSpPr>
            <p:cNvPr id="80" name="Oval 79"/>
            <p:cNvSpPr/>
            <p:nvPr/>
          </p:nvSpPr>
          <p:spPr>
            <a:xfrm>
              <a:off x="6263640" y="400507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81" name="Oval 80"/>
            <p:cNvSpPr/>
            <p:nvPr/>
          </p:nvSpPr>
          <p:spPr>
            <a:xfrm>
              <a:off x="7086600" y="400507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82" name="Rounded Rectangle 81"/>
            <p:cNvSpPr/>
            <p:nvPr/>
          </p:nvSpPr>
          <p:spPr>
            <a:xfrm>
              <a:off x="4754880" y="3383279"/>
              <a:ext cx="1280160" cy="640080"/>
            </a:xfrm>
            <a:prstGeom prst="roundRect">
              <a:avLst>
                <a:gd name="adj" fmla="val 5714"/>
              </a:avLst>
            </a:prstGeom>
            <a:solidFill>
              <a:srgbClr val="6C7480"/>
            </a:solidFill>
            <a:ln>
              <a:noFill/>
            </a:ln>
          </p:spPr>
          <p:txBody>
            <a:bodyPr rtlCol="0" anchor="ctr"/>
            <a:lstStyle/>
            <a:p>
              <a:pPr algn="ctr"/>
              <a:endParaRPr/>
            </a:p>
          </p:txBody>
        </p:sp>
        <p:sp>
          <p:nvSpPr>
            <p:cNvPr id="83" name="Rectangle 82"/>
            <p:cNvSpPr/>
            <p:nvPr/>
          </p:nvSpPr>
          <p:spPr>
            <a:xfrm>
              <a:off x="4846320" y="3493008"/>
              <a:ext cx="502919" cy="420623"/>
            </a:xfrm>
            <a:prstGeom prst="rect">
              <a:avLst/>
            </a:prstGeom>
            <a:solidFill>
              <a:srgbClr val="343A43"/>
            </a:solidFill>
            <a:ln w="12700">
              <a:solidFill>
                <a:srgbClr val="9AA0A6"/>
              </a:solidFill>
            </a:ln>
          </p:spPr>
          <p:txBody>
            <a:bodyPr rtlCol="0" anchor="ctr"/>
            <a:lstStyle/>
            <a:p>
              <a:pPr algn="ctr"/>
              <a:endParaRPr/>
            </a:p>
          </p:txBody>
        </p:sp>
        <p:sp>
          <p:nvSpPr>
            <p:cNvPr id="84" name="Rectangle 83"/>
            <p:cNvSpPr/>
            <p:nvPr/>
          </p:nvSpPr>
          <p:spPr>
            <a:xfrm>
              <a:off x="5440679" y="3493008"/>
              <a:ext cx="502919" cy="420623"/>
            </a:xfrm>
            <a:prstGeom prst="rect">
              <a:avLst/>
            </a:prstGeom>
            <a:solidFill>
              <a:srgbClr val="343A43"/>
            </a:solidFill>
            <a:ln w="12700">
              <a:solidFill>
                <a:srgbClr val="9AA0A6"/>
              </a:solidFill>
            </a:ln>
          </p:spPr>
          <p:txBody>
            <a:bodyPr rtlCol="0" anchor="ctr"/>
            <a:lstStyle/>
            <a:p>
              <a:pPr algn="ctr"/>
              <a:endParaRPr/>
            </a:p>
          </p:txBody>
        </p:sp>
        <p:sp>
          <p:nvSpPr>
            <p:cNvPr id="85" name="Oval 84"/>
            <p:cNvSpPr/>
            <p:nvPr/>
          </p:nvSpPr>
          <p:spPr>
            <a:xfrm>
              <a:off x="4892040" y="4005072"/>
              <a:ext cx="182880" cy="182880"/>
            </a:xfrm>
            <a:prstGeom prst="ellipse">
              <a:avLst/>
            </a:prstGeom>
            <a:solidFill>
              <a:srgbClr val="343A43"/>
            </a:solidFill>
            <a:ln w="12700">
              <a:solidFill>
                <a:srgbClr val="9AA0A6"/>
              </a:solidFill>
            </a:ln>
          </p:spPr>
          <p:txBody>
            <a:bodyPr rtlCol="0" anchor="ctr"/>
            <a:lstStyle/>
            <a:p>
              <a:pPr algn="ctr"/>
              <a:endParaRPr/>
            </a:p>
          </p:txBody>
        </p:sp>
        <p:sp>
          <p:nvSpPr>
            <p:cNvPr id="86" name="Oval 85"/>
            <p:cNvSpPr/>
            <p:nvPr/>
          </p:nvSpPr>
          <p:spPr>
            <a:xfrm>
              <a:off x="5715000" y="4005072"/>
              <a:ext cx="182880" cy="182880"/>
            </a:xfrm>
            <a:prstGeom prst="ellipse">
              <a:avLst/>
            </a:prstGeom>
            <a:solidFill>
              <a:srgbClr val="343A43"/>
            </a:solidFill>
            <a:ln w="12700">
              <a:solidFill>
                <a:srgbClr val="9AA0A6"/>
              </a:solidFill>
            </a:ln>
          </p:spPr>
          <p:txBody>
            <a:bodyPr rtlCol="0" anchor="ctr"/>
            <a:lstStyle/>
            <a:p>
              <a:pPr algn="ctr"/>
              <a:endParaRPr/>
            </a:p>
          </p:txBody>
        </p:sp>
        <p:cxnSp>
          <p:nvCxnSpPr>
            <p:cNvPr id="87" name="Connector 86"/>
            <p:cNvCxnSpPr/>
            <p:nvPr/>
          </p:nvCxnSpPr>
          <p:spPr>
            <a:xfrm>
              <a:off x="3840480" y="3520440"/>
              <a:ext cx="731520" cy="0"/>
            </a:xfrm>
            <a:prstGeom prst="line">
              <a:avLst/>
            </a:prstGeom>
            <a:ln w="28575">
              <a:solidFill>
                <a:srgbClr val="F2F2F2"/>
              </a:solidFill>
            </a:ln>
          </p:spPr>
        </p:cxnSp>
        <p:cxnSp>
          <p:nvCxnSpPr>
            <p:cNvPr id="88" name="Connector 87"/>
            <p:cNvCxnSpPr/>
            <p:nvPr/>
          </p:nvCxnSpPr>
          <p:spPr>
            <a:xfrm>
              <a:off x="4023360" y="3794760"/>
              <a:ext cx="640080" cy="0"/>
            </a:xfrm>
            <a:prstGeom prst="line">
              <a:avLst/>
            </a:prstGeom>
            <a:ln w="28575">
              <a:solidFill>
                <a:srgbClr val="F2F2F2"/>
              </a:solidFill>
            </a:ln>
          </p:spPr>
        </p:cxnSp>
      </p:grpSp>
      <p:sp>
        <p:nvSpPr>
          <p:cNvPr id="89" name="Label: example only"/>
          <p:cNvSpPr/>
          <p:nvPr/>
        </p:nvSpPr>
        <p:spPr>
          <a:xfrm>
            <a:off x="822960" y="4892040"/>
            <a:ext cx="10543032" cy="566928"/>
          </a:xfrm>
          <a:prstGeom prst="roundRect">
            <a:avLst>
              <a:gd name="adj" fmla="val 12903"/>
            </a:avLst>
          </a:prstGeom>
          <a:noFill/>
          <a:ln w="25400">
            <a:solidFill>
              <a:srgbClr val="F2C14E"/>
            </a:solidFill>
          </a:ln>
        </p:spPr>
        <p:txBody>
          <a:bodyPr wrap="square" rtlCol="0" anchor="ctr">
            <a:noAutofit/>
          </a:bodyPr>
          <a:lstStyle/>
          <a:p>
            <a:pPr algn="ctr"/>
            <a:r>
              <a:rPr lang="en-GB" sz="1800" b="1" i="0">
                <a:solidFill>
                  <a:srgbClr val="F2F2F2"/>
                </a:solidFill>
                <a:latin typeface="Arial"/>
              </a:rPr>
              <a:t>Example only: built for passengers, used here for fast freight.</a:t>
            </a:r>
            <a:endParaRPr lang="en-GB" sz="1800"/>
          </a:p>
        </p:txBody>
      </p:sp>
      <p:sp>
        <p:nvSpPr>
          <p:cNvPr id="90"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History says what an engine was really built for, even if the game uses it differently.</a:t>
            </a:r>
            <a:endParaRPr lang="en-GB" sz="2000"/>
          </a:p>
        </p:txBody>
      </p:sp>
      <p:sp>
        <p:nvSpPr>
          <p:cNvPr id="91"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92"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14</a:t>
            </a:r>
            <a:endParaRPr lang="en-GB" sz="1400"/>
          </a:p>
        </p:txBody>
      </p:sp>
    </p:spTree>
    <p:extLst>
      <p:ext uri="{BB962C8B-B14F-4D97-AF65-F5344CB8AC3E}">
        <p14:creationId xmlns:p14="http://schemas.microsoft.com/office/powerpoint/2010/main" val="38166404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9"/>
                                        </p:tgtEl>
                                        <p:attrNameLst>
                                          <p:attrName>style.visibility</p:attrName>
                                        </p:attrNameLst>
                                      </p:cBhvr>
                                      <p:to>
                                        <p:strVal val="visible"/>
                                      </p:to>
                                    </p:set>
                                    <p:animEffect transition="in" filter="fade">
                                      <p:cBhvr>
                                        <p:cTn id="10" dur="500"/>
                                        <p:tgtEl>
                                          <p:spTgt spid="89"/>
                                        </p:tgtEl>
                                      </p:cBhvr>
                                    </p:animEffect>
                                  </p:childTnLst>
                                </p:cTn>
                              </p:par>
                              <p:par>
                                <p:cTn id="11" presetID="10" presetClass="entr" presetSubtype="0" fill="hold" nodeType="withEffect">
                                  <p:stCondLst>
                                    <p:cond delay="600"/>
                                  </p:stCondLst>
                                  <p:childTnLst>
                                    <p:set>
                                      <p:cBhvr>
                                        <p:cTn id="12" dur="1" fill="hold">
                                          <p:stCondLst>
                                            <p:cond delay="0"/>
                                          </p:stCondLst>
                                        </p:cTn>
                                        <p:tgtEl>
                                          <p:spTgt spid="90"/>
                                        </p:tgtEl>
                                        <p:attrNameLst>
                                          <p:attrName>style.visibility</p:attrName>
                                        </p:attrNameLst>
                                      </p:cBhvr>
                                      <p:to>
                                        <p:strVal val="visible"/>
                                      </p:to>
                                    </p:set>
                                    <p:animEffect transition="in" filter="fade">
                                      <p:cBhvr>
                                        <p:cTn id="13" dur="500"/>
                                        <p:tgtEl>
                                          <p:spTgt spid="90"/>
                                        </p:tgtEl>
                                      </p:cBhvr>
                                    </p:animEffect>
                                  </p:childTnLst>
                                </p:cTn>
                              </p:par>
                              <p:par>
                                <p:cTn id="14" presetID="10" presetClass="entr" presetSubtype="0" fill="hold" nodeType="withEffect">
                                  <p:stCondLst>
                                    <p:cond delay="900"/>
                                  </p:stCondLst>
                                  <p:childTnLst>
                                    <p:set>
                                      <p:cBhvr>
                                        <p:cTn id="15" dur="1" fill="hold">
                                          <p:stCondLst>
                                            <p:cond delay="0"/>
                                          </p:stCondLst>
                                        </p:cTn>
                                        <p:tgtEl>
                                          <p:spTgt spid="91"/>
                                        </p:tgtEl>
                                        <p:attrNameLst>
                                          <p:attrName>style.visibility</p:attrName>
                                        </p:attrNameLst>
                                      </p:cBhvr>
                                      <p:to>
                                        <p:strVal val="visible"/>
                                      </p:to>
                                    </p:set>
                                    <p:animEffect transition="in" filter="fade">
                                      <p:cBhvr>
                                        <p:cTn id="16"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The golden age</a:t>
            </a:r>
            <a:endParaRPr lang="en-GB" sz="3600"/>
          </a:p>
        </p:txBody>
      </p:sp>
      <p:sp>
        <p:nvSpPr>
          <p:cNvPr id="3" name="Status chip: Proposed"/>
          <p:cNvSpPr/>
          <p:nvPr/>
        </p:nvSpPr>
        <p:spPr>
          <a:xfrm>
            <a:off x="10241280" y="457200"/>
            <a:ext cx="1371600" cy="365760"/>
          </a:xfrm>
          <a:prstGeom prst="roundRect">
            <a:avLst>
              <a:gd name="adj" fmla="val 25000"/>
            </a:avLst>
          </a:prstGeom>
          <a:solidFill>
            <a:srgbClr val="B084F5"/>
          </a:solidFill>
          <a:ln>
            <a:noFill/>
          </a:ln>
        </p:spPr>
        <p:txBody>
          <a:bodyPr wrap="none" lIns="0" tIns="0" rIns="0" bIns="0" rtlCol="0" anchor="ctr">
            <a:noAutofit/>
          </a:bodyPr>
          <a:lstStyle/>
          <a:p>
            <a:pPr algn="ctr"/>
            <a:r>
              <a:rPr lang="en-GB" sz="1400" b="1" i="0">
                <a:solidFill>
                  <a:srgbClr val="101418"/>
                </a:solidFill>
                <a:latin typeface="Arial"/>
              </a:rPr>
              <a:t>PROPOSED</a:t>
            </a:r>
            <a:endParaRPr lang="en-GB" sz="1400"/>
          </a:p>
        </p:txBody>
      </p:sp>
      <p:grpSp>
        <p:nvGrpSpPr>
          <p:cNvPr id="4" name="Golden Era timeline" descr="A timeline with a band labelled Golden Era. A question mark sits at each end because the dates are not set."/>
          <p:cNvGrpSpPr/>
          <p:nvPr/>
        </p:nvGrpSpPr>
        <p:grpSpPr>
          <a:xfrm>
            <a:off x="822960" y="1783080"/>
            <a:ext cx="10515600" cy="822960"/>
            <a:chOff x="822960" y="1783080"/>
            <a:chExt cx="10515600" cy="822960"/>
          </a:xfrm>
        </p:grpSpPr>
        <p:cxnSp>
          <p:nvCxnSpPr>
            <p:cNvPr id="5" name="Connector 4"/>
            <p:cNvCxnSpPr/>
            <p:nvPr/>
          </p:nvCxnSpPr>
          <p:spPr>
            <a:xfrm>
              <a:off x="822960" y="2194560"/>
              <a:ext cx="1051559" cy="0"/>
            </a:xfrm>
            <a:prstGeom prst="line">
              <a:avLst/>
            </a:prstGeom>
            <a:ln w="28575">
              <a:solidFill>
                <a:srgbClr val="9AA0A6"/>
              </a:solidFill>
            </a:ln>
          </p:spPr>
        </p:cxnSp>
        <p:cxnSp>
          <p:nvCxnSpPr>
            <p:cNvPr id="6" name="Connector 5"/>
            <p:cNvCxnSpPr/>
            <p:nvPr/>
          </p:nvCxnSpPr>
          <p:spPr>
            <a:xfrm>
              <a:off x="2514600" y="2194560"/>
              <a:ext cx="777240" cy="0"/>
            </a:xfrm>
            <a:prstGeom prst="line">
              <a:avLst/>
            </a:prstGeom>
            <a:ln w="28575">
              <a:solidFill>
                <a:srgbClr val="9AA0A6"/>
              </a:solidFill>
              <a:prstDash val="dash"/>
            </a:ln>
          </p:spPr>
        </p:cxnSp>
        <p:cxnSp>
          <p:nvCxnSpPr>
            <p:cNvPr id="7" name="Connector 6"/>
            <p:cNvCxnSpPr/>
            <p:nvPr/>
          </p:nvCxnSpPr>
          <p:spPr>
            <a:xfrm>
              <a:off x="8869680" y="2194560"/>
              <a:ext cx="777240" cy="0"/>
            </a:xfrm>
            <a:prstGeom prst="line">
              <a:avLst/>
            </a:prstGeom>
            <a:ln w="28575">
              <a:solidFill>
                <a:srgbClr val="9AA0A6"/>
              </a:solidFill>
              <a:prstDash val="dash"/>
            </a:ln>
          </p:spPr>
        </p:cxnSp>
        <p:cxnSp>
          <p:nvCxnSpPr>
            <p:cNvPr id="8" name="Connector 7"/>
            <p:cNvCxnSpPr/>
            <p:nvPr/>
          </p:nvCxnSpPr>
          <p:spPr>
            <a:xfrm>
              <a:off x="10287000" y="2194560"/>
              <a:ext cx="1051560" cy="0"/>
            </a:xfrm>
            <a:prstGeom prst="line">
              <a:avLst/>
            </a:prstGeom>
            <a:ln w="28575">
              <a:solidFill>
                <a:srgbClr val="9AA0A6"/>
              </a:solidFill>
              <a:tailEnd type="triangle" w="med" len="med"/>
            </a:ln>
          </p:spPr>
        </p:cxnSp>
        <p:sp>
          <p:nvSpPr>
            <p:cNvPr id="9" name="Oval 8"/>
            <p:cNvSpPr/>
            <p:nvPr/>
          </p:nvSpPr>
          <p:spPr>
            <a:xfrm>
              <a:off x="1874519" y="1874519"/>
              <a:ext cx="640080" cy="640080"/>
            </a:xfrm>
            <a:prstGeom prst="ellipse">
              <a:avLst/>
            </a:prstGeom>
            <a:solidFill>
              <a:srgbClr val="1E2126"/>
            </a:solidFill>
            <a:ln w="25400">
              <a:solidFill>
                <a:srgbClr val="A9B0B8"/>
              </a:solidFill>
            </a:ln>
          </p:spPr>
          <p:txBody>
            <a:bodyPr wrap="square" lIns="0" tIns="0" rIns="0" bIns="0" rtlCol="0" anchor="ctr">
              <a:noAutofit/>
            </a:bodyPr>
            <a:lstStyle/>
            <a:p>
              <a:pPr algn="ctr"/>
              <a:r>
                <a:rPr lang="en-GB" sz="2800" b="1" i="0">
                  <a:solidFill>
                    <a:srgbClr val="A9B0B8"/>
                  </a:solidFill>
                  <a:latin typeface="Arial"/>
                </a:rPr>
                <a:t>?</a:t>
              </a:r>
              <a:endParaRPr lang="en-GB" sz="2800"/>
            </a:p>
          </p:txBody>
        </p:sp>
        <p:sp>
          <p:nvSpPr>
            <p:cNvPr id="10" name="Oval 9"/>
            <p:cNvSpPr/>
            <p:nvPr/>
          </p:nvSpPr>
          <p:spPr>
            <a:xfrm>
              <a:off x="9646920" y="1874519"/>
              <a:ext cx="640080" cy="640080"/>
            </a:xfrm>
            <a:prstGeom prst="ellipse">
              <a:avLst/>
            </a:prstGeom>
            <a:solidFill>
              <a:srgbClr val="1E2126"/>
            </a:solidFill>
            <a:ln w="25400">
              <a:solidFill>
                <a:srgbClr val="A9B0B8"/>
              </a:solidFill>
            </a:ln>
          </p:spPr>
          <p:txBody>
            <a:bodyPr wrap="square" lIns="0" tIns="0" rIns="0" bIns="0" rtlCol="0" anchor="ctr">
              <a:noAutofit/>
            </a:bodyPr>
            <a:lstStyle/>
            <a:p>
              <a:pPr algn="ctr"/>
              <a:r>
                <a:rPr lang="en-GB" sz="2800" b="1" i="0">
                  <a:solidFill>
                    <a:srgbClr val="A9B0B8"/>
                  </a:solidFill>
                  <a:latin typeface="Arial"/>
                </a:rPr>
                <a:t>?</a:t>
              </a:r>
              <a:endParaRPr lang="en-GB" sz="2800"/>
            </a:p>
          </p:txBody>
        </p:sp>
        <p:sp>
          <p:nvSpPr>
            <p:cNvPr id="11" name="Rounded Rectangle 10"/>
            <p:cNvSpPr/>
            <p:nvPr/>
          </p:nvSpPr>
          <p:spPr>
            <a:xfrm>
              <a:off x="3291840" y="1783080"/>
              <a:ext cx="5577840" cy="822960"/>
            </a:xfrm>
            <a:prstGeom prst="roundRect">
              <a:avLst>
                <a:gd name="adj" fmla="val 11111"/>
              </a:avLst>
            </a:prstGeom>
            <a:solidFill>
              <a:srgbClr val="F28C28"/>
            </a:solidFill>
            <a:ln>
              <a:noFill/>
            </a:ln>
          </p:spPr>
          <p:txBody>
            <a:bodyPr wrap="square" rtlCol="0" anchor="ctr">
              <a:noAutofit/>
            </a:bodyPr>
            <a:lstStyle/>
            <a:p>
              <a:pPr algn="ctr"/>
              <a:r>
                <a:rPr lang="en-GB" sz="2600" b="1" i="0">
                  <a:solidFill>
                    <a:srgbClr val="101418"/>
                  </a:solidFill>
                  <a:latin typeface="Arial"/>
                </a:rPr>
                <a:t>Golden Era</a:t>
              </a:r>
              <a:endParaRPr lang="en-GB" sz="2600"/>
            </a:p>
          </p:txBody>
        </p:sp>
      </p:grpSp>
      <p:sp>
        <p:nvSpPr>
          <p:cNvPr id="12" name="Inline chip: Undecided"/>
          <p:cNvSpPr/>
          <p:nvPr/>
        </p:nvSpPr>
        <p:spPr>
          <a:xfrm>
            <a:off x="4769967" y="2880360"/>
            <a:ext cx="2435092"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Dates: undecided (OQ21)</a:t>
            </a:r>
            <a:endParaRPr lang="en-GB" sz="1400"/>
          </a:p>
        </p:txBody>
      </p:sp>
      <p:grpSp>
        <p:nvGrpSpPr>
          <p:cNvPr id="13" name="Operator badges" descr="Five text badges for railway operators: Great Western, LNER, LMS, Southern and British Railways."/>
          <p:cNvGrpSpPr/>
          <p:nvPr/>
        </p:nvGrpSpPr>
        <p:grpSpPr>
          <a:xfrm>
            <a:off x="1550743" y="3657600"/>
            <a:ext cx="9090207" cy="548640"/>
            <a:chOff x="1550743" y="3657600"/>
            <a:chExt cx="9090207" cy="548640"/>
          </a:xfrm>
        </p:grpSpPr>
        <p:sp>
          <p:nvSpPr>
            <p:cNvPr id="14" name="Rounded Rectangle 13"/>
            <p:cNvSpPr/>
            <p:nvPr/>
          </p:nvSpPr>
          <p:spPr>
            <a:xfrm>
              <a:off x="1550743" y="3657600"/>
              <a:ext cx="2107120" cy="548640"/>
            </a:xfrm>
            <a:prstGeom prst="roundRect">
              <a:avLst>
                <a:gd name="adj" fmla="val 50000"/>
              </a:avLst>
            </a:prstGeom>
            <a:solidFill>
              <a:srgbClr val="343A43"/>
            </a:solidFill>
            <a:ln w="19050">
              <a:solidFill>
                <a:srgbClr val="9AA0A6"/>
              </a:solidFill>
            </a:ln>
          </p:spPr>
          <p:txBody>
            <a:bodyPr wrap="square" rtlCol="0" anchor="ctr">
              <a:noAutofit/>
            </a:bodyPr>
            <a:lstStyle/>
            <a:p>
              <a:pPr algn="ctr"/>
              <a:r>
                <a:rPr lang="en-GB" sz="1800" b="1" i="0">
                  <a:solidFill>
                    <a:srgbClr val="F2F2F2"/>
                  </a:solidFill>
                  <a:latin typeface="Arial"/>
                </a:rPr>
                <a:t>Great Western</a:t>
              </a:r>
              <a:endParaRPr lang="en-GB" sz="1800"/>
            </a:p>
          </p:txBody>
        </p:sp>
        <p:sp>
          <p:nvSpPr>
            <p:cNvPr id="15" name="Rounded Rectangle 14"/>
            <p:cNvSpPr/>
            <p:nvPr/>
          </p:nvSpPr>
          <p:spPr>
            <a:xfrm>
              <a:off x="3886464" y="3657600"/>
              <a:ext cx="1170949" cy="548640"/>
            </a:xfrm>
            <a:prstGeom prst="roundRect">
              <a:avLst>
                <a:gd name="adj" fmla="val 50000"/>
              </a:avLst>
            </a:prstGeom>
            <a:solidFill>
              <a:srgbClr val="343A43"/>
            </a:solidFill>
            <a:ln w="19050">
              <a:solidFill>
                <a:srgbClr val="9AA0A6"/>
              </a:solidFill>
            </a:ln>
          </p:spPr>
          <p:txBody>
            <a:bodyPr wrap="square" rtlCol="0" anchor="ctr">
              <a:noAutofit/>
            </a:bodyPr>
            <a:lstStyle/>
            <a:p>
              <a:pPr algn="ctr"/>
              <a:r>
                <a:rPr lang="en-GB" sz="1800" b="1" i="0">
                  <a:solidFill>
                    <a:srgbClr val="F2F2F2"/>
                  </a:solidFill>
                  <a:latin typeface="Arial"/>
                </a:rPr>
                <a:t>LNER</a:t>
              </a:r>
              <a:endParaRPr lang="en-GB" sz="1800"/>
            </a:p>
          </p:txBody>
        </p:sp>
        <p:sp>
          <p:nvSpPr>
            <p:cNvPr id="16" name="Rounded Rectangle 15"/>
            <p:cNvSpPr/>
            <p:nvPr/>
          </p:nvSpPr>
          <p:spPr>
            <a:xfrm>
              <a:off x="5286014" y="3657600"/>
              <a:ext cx="1031200" cy="548640"/>
            </a:xfrm>
            <a:prstGeom prst="roundRect">
              <a:avLst>
                <a:gd name="adj" fmla="val 50000"/>
              </a:avLst>
            </a:prstGeom>
            <a:solidFill>
              <a:srgbClr val="343A43"/>
            </a:solidFill>
            <a:ln w="19050">
              <a:solidFill>
                <a:srgbClr val="9AA0A6"/>
              </a:solidFill>
            </a:ln>
          </p:spPr>
          <p:txBody>
            <a:bodyPr wrap="square" rtlCol="0" anchor="ctr">
              <a:noAutofit/>
            </a:bodyPr>
            <a:lstStyle/>
            <a:p>
              <a:pPr algn="ctr"/>
              <a:r>
                <a:rPr lang="en-GB" sz="1800" b="1" i="0">
                  <a:solidFill>
                    <a:srgbClr val="F2F2F2"/>
                  </a:solidFill>
                  <a:latin typeface="Arial"/>
                </a:rPr>
                <a:t>LMS</a:t>
              </a:r>
              <a:endParaRPr lang="en-GB" sz="1800"/>
            </a:p>
          </p:txBody>
        </p:sp>
        <p:sp>
          <p:nvSpPr>
            <p:cNvPr id="17" name="Rounded Rectangle 16"/>
            <p:cNvSpPr/>
            <p:nvPr/>
          </p:nvSpPr>
          <p:spPr>
            <a:xfrm>
              <a:off x="6545814" y="3657600"/>
              <a:ext cx="1551926" cy="548640"/>
            </a:xfrm>
            <a:prstGeom prst="roundRect">
              <a:avLst>
                <a:gd name="adj" fmla="val 50000"/>
              </a:avLst>
            </a:prstGeom>
            <a:solidFill>
              <a:srgbClr val="343A43"/>
            </a:solidFill>
            <a:ln w="19050">
              <a:solidFill>
                <a:srgbClr val="9AA0A6"/>
              </a:solidFill>
            </a:ln>
          </p:spPr>
          <p:txBody>
            <a:bodyPr wrap="square" rtlCol="0" anchor="ctr">
              <a:noAutofit/>
            </a:bodyPr>
            <a:lstStyle/>
            <a:p>
              <a:pPr algn="ctr"/>
              <a:r>
                <a:rPr lang="en-GB" sz="1800" b="1" i="0">
                  <a:solidFill>
                    <a:srgbClr val="F2F2F2"/>
                  </a:solidFill>
                  <a:latin typeface="Arial"/>
                </a:rPr>
                <a:t>Southern</a:t>
              </a:r>
              <a:endParaRPr lang="en-GB" sz="1800"/>
            </a:p>
          </p:txBody>
        </p:sp>
        <p:sp>
          <p:nvSpPr>
            <p:cNvPr id="18" name="Rounded Rectangle 17"/>
            <p:cNvSpPr/>
            <p:nvPr/>
          </p:nvSpPr>
          <p:spPr>
            <a:xfrm>
              <a:off x="8326340" y="3657600"/>
              <a:ext cx="2314610" cy="548640"/>
            </a:xfrm>
            <a:prstGeom prst="roundRect">
              <a:avLst>
                <a:gd name="adj" fmla="val 50000"/>
              </a:avLst>
            </a:prstGeom>
            <a:solidFill>
              <a:srgbClr val="343A43"/>
            </a:solidFill>
            <a:ln w="19050">
              <a:solidFill>
                <a:srgbClr val="9AA0A6"/>
              </a:solidFill>
            </a:ln>
          </p:spPr>
          <p:txBody>
            <a:bodyPr wrap="square" rtlCol="0" anchor="ctr">
              <a:noAutofit/>
            </a:bodyPr>
            <a:lstStyle/>
            <a:p>
              <a:pPr algn="ctr"/>
              <a:r>
                <a:rPr lang="en-GB" sz="1800" b="1" i="0">
                  <a:solidFill>
                    <a:srgbClr val="F2F2F2"/>
                  </a:solidFill>
                  <a:latin typeface="Arial"/>
                </a:rPr>
                <a:t>British Railways</a:t>
              </a:r>
              <a:endParaRPr lang="en-GB" sz="1800"/>
            </a:p>
          </p:txBody>
        </p:sp>
      </p:grpSp>
      <p:sp>
        <p:nvSpPr>
          <p:cNvPr id="19" name="Label: operators"/>
          <p:cNvSpPr txBox="1"/>
          <p:nvPr/>
        </p:nvSpPr>
        <p:spPr>
          <a:xfrm>
            <a:off x="822960" y="4526280"/>
            <a:ext cx="10543032" cy="457200"/>
          </a:xfrm>
          <a:prstGeom prst="rect">
            <a:avLst/>
          </a:prstGeom>
          <a:noFill/>
        </p:spPr>
        <p:txBody>
          <a:bodyPr wrap="square" lIns="0" tIns="0" rIns="0" bIns="0" anchor="ctr">
            <a:noAutofit/>
          </a:bodyPr>
          <a:lstStyle/>
          <a:p>
            <a:pPr algn="ctr"/>
            <a:r>
              <a:rPr lang="en-GB" sz="2000" b="1" i="0">
                <a:solidFill>
                  <a:srgbClr val="F2F2F2"/>
                </a:solidFill>
                <a:latin typeface="Arial"/>
              </a:rPr>
              <a:t>Operators shape history and looks, not menus.</a:t>
            </a:r>
            <a:endParaRPr lang="en-GB" sz="2000"/>
          </a:p>
        </p:txBody>
      </p:sp>
      <p:sp>
        <p:nvSpPr>
          <p:cNvPr id="20"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Fleets would mostly come from steam’s golden age. The exact dates are not set.</a:t>
            </a:r>
            <a:endParaRPr lang="en-GB" sz="2000"/>
          </a:p>
        </p:txBody>
      </p:sp>
      <p:sp>
        <p:nvSpPr>
          <p:cNvPr id="21"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22"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15</a:t>
            </a:r>
            <a:endParaRPr lang="en-GB" sz="1400"/>
          </a:p>
        </p:txBody>
      </p:sp>
    </p:spTree>
    <p:extLst>
      <p:ext uri="{BB962C8B-B14F-4D97-AF65-F5344CB8AC3E}">
        <p14:creationId xmlns:p14="http://schemas.microsoft.com/office/powerpoint/2010/main" val="17135460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nodeType="withEffect">
                                  <p:stCondLst>
                                    <p:cond delay="60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nodeType="withEffect">
                                  <p:stCondLst>
                                    <p:cond delay="9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nodeType="withEffect">
                                  <p:stCondLst>
                                    <p:cond delay="12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15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Unlocks keep pace</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sp>
        <p:nvSpPr>
          <p:cNvPr id="4" name="Label: early"/>
          <p:cNvSpPr txBox="1"/>
          <p:nvPr/>
        </p:nvSpPr>
        <p:spPr>
          <a:xfrm>
            <a:off x="2377440" y="1417320"/>
            <a:ext cx="1828800" cy="320040"/>
          </a:xfrm>
          <a:prstGeom prst="rect">
            <a:avLst/>
          </a:prstGeom>
          <a:noFill/>
        </p:spPr>
        <p:txBody>
          <a:bodyPr wrap="square" lIns="0" tIns="0" rIns="0" bIns="0" anchor="ctr">
            <a:noAutofit/>
          </a:bodyPr>
          <a:lstStyle/>
          <a:p>
            <a:pPr algn="l"/>
            <a:r>
              <a:rPr lang="en-GB" sz="1400" b="1" i="0">
                <a:solidFill>
                  <a:srgbClr val="A9B0B8"/>
                </a:solidFill>
                <a:latin typeface="Arial"/>
              </a:rPr>
              <a:t>Early</a:t>
            </a:r>
            <a:endParaRPr lang="en-GB" sz="1400"/>
          </a:p>
        </p:txBody>
      </p:sp>
      <p:sp>
        <p:nvSpPr>
          <p:cNvPr id="5" name="Label: later"/>
          <p:cNvSpPr txBox="1"/>
          <p:nvPr/>
        </p:nvSpPr>
        <p:spPr>
          <a:xfrm>
            <a:off x="9509760" y="1417320"/>
            <a:ext cx="1828800" cy="320040"/>
          </a:xfrm>
          <a:prstGeom prst="rect">
            <a:avLst/>
          </a:prstGeom>
          <a:noFill/>
        </p:spPr>
        <p:txBody>
          <a:bodyPr wrap="square" lIns="0" tIns="0" rIns="0" bIns="0" anchor="ctr">
            <a:noAutofit/>
          </a:bodyPr>
          <a:lstStyle/>
          <a:p>
            <a:pPr algn="r"/>
            <a:r>
              <a:rPr lang="en-GB" sz="1400" b="1" i="0">
                <a:solidFill>
                  <a:srgbClr val="A9B0B8"/>
                </a:solidFill>
                <a:latin typeface="Arial"/>
              </a:rPr>
              <a:t>Later</a:t>
            </a:r>
            <a:endParaRPr lang="en-GB" sz="1400"/>
          </a:p>
        </p:txBody>
      </p:sp>
      <p:grpSp>
        <p:nvGrpSpPr>
          <p:cNvPr id="6" name="Track names" descr="Two parallel tier tracks, one named Core and one named Pack."/>
          <p:cNvGrpSpPr/>
          <p:nvPr/>
        </p:nvGrpSpPr>
        <p:grpSpPr>
          <a:xfrm>
            <a:off x="822960" y="2286000"/>
            <a:ext cx="1280160" cy="2514600"/>
            <a:chOff x="822960" y="2286000"/>
            <a:chExt cx="1280160" cy="2514600"/>
          </a:xfrm>
        </p:grpSpPr>
        <p:sp>
          <p:nvSpPr>
            <p:cNvPr id="7" name="TextBox 6"/>
            <p:cNvSpPr txBox="1"/>
            <p:nvPr/>
          </p:nvSpPr>
          <p:spPr>
            <a:xfrm>
              <a:off x="822960" y="2286000"/>
              <a:ext cx="1280160" cy="457200"/>
            </a:xfrm>
            <a:prstGeom prst="rect">
              <a:avLst/>
            </a:prstGeom>
            <a:noFill/>
          </p:spPr>
          <p:txBody>
            <a:bodyPr wrap="square" lIns="0" tIns="0" rIns="0" bIns="0" anchor="ctr">
              <a:noAutofit/>
            </a:bodyPr>
            <a:lstStyle/>
            <a:p>
              <a:pPr algn="l"/>
              <a:r>
                <a:rPr lang="en-GB" sz="2200" b="1" i="0">
                  <a:solidFill>
                    <a:srgbClr val="F28C28"/>
                  </a:solidFill>
                  <a:latin typeface="Arial"/>
                </a:rPr>
                <a:t>Core</a:t>
              </a:r>
              <a:endParaRPr lang="en-GB" sz="2200"/>
            </a:p>
          </p:txBody>
        </p:sp>
        <p:sp>
          <p:nvSpPr>
            <p:cNvPr id="8" name="TextBox 7"/>
            <p:cNvSpPr txBox="1"/>
            <p:nvPr/>
          </p:nvSpPr>
          <p:spPr>
            <a:xfrm>
              <a:off x="822960" y="4343400"/>
              <a:ext cx="1280160" cy="457200"/>
            </a:xfrm>
            <a:prstGeom prst="rect">
              <a:avLst/>
            </a:prstGeom>
            <a:noFill/>
          </p:spPr>
          <p:txBody>
            <a:bodyPr wrap="square" lIns="0" tIns="0" rIns="0" bIns="0" anchor="ctr">
              <a:noAutofit/>
            </a:bodyPr>
            <a:lstStyle/>
            <a:p>
              <a:pPr algn="l"/>
              <a:r>
                <a:rPr lang="en-GB" sz="2200" b="1" i="0">
                  <a:solidFill>
                    <a:srgbClr val="F2F2F2"/>
                  </a:solidFill>
                  <a:latin typeface="Arial"/>
                </a:rPr>
                <a:t>Pack</a:t>
              </a:r>
              <a:endParaRPr lang="en-GB" sz="2200"/>
            </a:p>
          </p:txBody>
        </p:sp>
      </p:grpSp>
      <p:grpSp>
        <p:nvGrpSpPr>
          <p:cNvPr id="9" name="Stage guides" descr="Dashed vertical guides line the stages of the two tracks up."/>
          <p:cNvGrpSpPr/>
          <p:nvPr/>
        </p:nvGrpSpPr>
        <p:grpSpPr>
          <a:xfrm>
            <a:off x="2743200" y="2697480"/>
            <a:ext cx="7955280" cy="868680"/>
            <a:chOff x="2743200" y="2697480"/>
            <a:chExt cx="7955280" cy="868680"/>
          </a:xfrm>
        </p:grpSpPr>
        <p:cxnSp>
          <p:nvCxnSpPr>
            <p:cNvPr id="10" name="Connector 9"/>
            <p:cNvCxnSpPr/>
            <p:nvPr/>
          </p:nvCxnSpPr>
          <p:spPr>
            <a:xfrm>
              <a:off x="2743200" y="2697480"/>
              <a:ext cx="0" cy="868680"/>
            </a:xfrm>
            <a:prstGeom prst="line">
              <a:avLst/>
            </a:prstGeom>
            <a:ln w="15875">
              <a:solidFill>
                <a:srgbClr val="A9B0B8"/>
              </a:solidFill>
              <a:prstDash val="dash"/>
            </a:ln>
          </p:spPr>
        </p:cxnSp>
        <p:cxnSp>
          <p:nvCxnSpPr>
            <p:cNvPr id="11" name="Connector 10"/>
            <p:cNvCxnSpPr/>
            <p:nvPr/>
          </p:nvCxnSpPr>
          <p:spPr>
            <a:xfrm>
              <a:off x="4754880" y="2697480"/>
              <a:ext cx="0" cy="868680"/>
            </a:xfrm>
            <a:prstGeom prst="line">
              <a:avLst/>
            </a:prstGeom>
            <a:ln w="15875">
              <a:solidFill>
                <a:srgbClr val="A9B0B8"/>
              </a:solidFill>
              <a:prstDash val="dash"/>
            </a:ln>
          </p:spPr>
        </p:cxnSp>
        <p:cxnSp>
          <p:nvCxnSpPr>
            <p:cNvPr id="12" name="Connector 11"/>
            <p:cNvCxnSpPr/>
            <p:nvPr/>
          </p:nvCxnSpPr>
          <p:spPr>
            <a:xfrm>
              <a:off x="6766560" y="2697480"/>
              <a:ext cx="0" cy="868680"/>
            </a:xfrm>
            <a:prstGeom prst="line">
              <a:avLst/>
            </a:prstGeom>
            <a:ln w="15875">
              <a:solidFill>
                <a:srgbClr val="A9B0B8"/>
              </a:solidFill>
              <a:prstDash val="dash"/>
            </a:ln>
          </p:spPr>
        </p:cxnSp>
        <p:cxnSp>
          <p:nvCxnSpPr>
            <p:cNvPr id="13" name="Connector 12"/>
            <p:cNvCxnSpPr/>
            <p:nvPr/>
          </p:nvCxnSpPr>
          <p:spPr>
            <a:xfrm>
              <a:off x="8778240" y="2697480"/>
              <a:ext cx="0" cy="868680"/>
            </a:xfrm>
            <a:prstGeom prst="line">
              <a:avLst/>
            </a:prstGeom>
            <a:ln w="15875">
              <a:solidFill>
                <a:srgbClr val="A9B0B8"/>
              </a:solidFill>
              <a:prstDash val="dash"/>
            </a:ln>
          </p:spPr>
        </p:cxnSp>
        <p:cxnSp>
          <p:nvCxnSpPr>
            <p:cNvPr id="14" name="Connector 13"/>
            <p:cNvCxnSpPr/>
            <p:nvPr/>
          </p:nvCxnSpPr>
          <p:spPr>
            <a:xfrm>
              <a:off x="10698480" y="2697480"/>
              <a:ext cx="0" cy="868680"/>
            </a:xfrm>
            <a:prstGeom prst="line">
              <a:avLst/>
            </a:prstGeom>
            <a:ln w="15875">
              <a:solidFill>
                <a:srgbClr val="A9B0B8"/>
              </a:solidFill>
              <a:prstDash val="dash"/>
            </a:ln>
          </p:spPr>
        </p:cxnSp>
      </p:grpSp>
      <p:grpSp>
        <p:nvGrpSpPr>
          <p:cNvPr id="15" name="Core track" descr="The Core track: a line with five stage markers, early on the left and later on the right."/>
          <p:cNvGrpSpPr/>
          <p:nvPr/>
        </p:nvGrpSpPr>
        <p:grpSpPr>
          <a:xfrm>
            <a:off x="2194560" y="2359152"/>
            <a:ext cx="9235440" cy="310896"/>
            <a:chOff x="2194560" y="2359152"/>
            <a:chExt cx="9235440" cy="310896"/>
          </a:xfrm>
        </p:grpSpPr>
        <p:cxnSp>
          <p:nvCxnSpPr>
            <p:cNvPr id="16" name="Connector 15"/>
            <p:cNvCxnSpPr/>
            <p:nvPr/>
          </p:nvCxnSpPr>
          <p:spPr>
            <a:xfrm>
              <a:off x="2194560" y="2514600"/>
              <a:ext cx="9235440" cy="0"/>
            </a:xfrm>
            <a:prstGeom prst="line">
              <a:avLst/>
            </a:prstGeom>
            <a:ln w="38100">
              <a:solidFill>
                <a:srgbClr val="9AA0A6"/>
              </a:solidFill>
              <a:tailEnd type="triangle" w="med" len="med"/>
            </a:ln>
          </p:spPr>
        </p:cxnSp>
        <p:sp>
          <p:nvSpPr>
            <p:cNvPr id="17" name="Oval 16"/>
            <p:cNvSpPr/>
            <p:nvPr/>
          </p:nvSpPr>
          <p:spPr>
            <a:xfrm>
              <a:off x="2587752" y="2359152"/>
              <a:ext cx="310896" cy="310896"/>
            </a:xfrm>
            <a:prstGeom prst="ellipse">
              <a:avLst/>
            </a:prstGeom>
            <a:solidFill>
              <a:srgbClr val="F28C28"/>
            </a:solidFill>
            <a:ln w="25400">
              <a:solidFill>
                <a:srgbClr val="1E2126"/>
              </a:solidFill>
            </a:ln>
          </p:spPr>
          <p:txBody>
            <a:bodyPr rtlCol="0" anchor="ctr"/>
            <a:lstStyle/>
            <a:p>
              <a:pPr algn="ctr"/>
              <a:endParaRPr/>
            </a:p>
          </p:txBody>
        </p:sp>
        <p:sp>
          <p:nvSpPr>
            <p:cNvPr id="18" name="Oval 17"/>
            <p:cNvSpPr/>
            <p:nvPr/>
          </p:nvSpPr>
          <p:spPr>
            <a:xfrm>
              <a:off x="4599432" y="2359152"/>
              <a:ext cx="310896" cy="310896"/>
            </a:xfrm>
            <a:prstGeom prst="ellipse">
              <a:avLst/>
            </a:prstGeom>
            <a:solidFill>
              <a:srgbClr val="F28C28"/>
            </a:solidFill>
            <a:ln w="25400">
              <a:solidFill>
                <a:srgbClr val="1E2126"/>
              </a:solidFill>
            </a:ln>
          </p:spPr>
          <p:txBody>
            <a:bodyPr rtlCol="0" anchor="ctr"/>
            <a:lstStyle/>
            <a:p>
              <a:pPr algn="ctr"/>
              <a:endParaRPr/>
            </a:p>
          </p:txBody>
        </p:sp>
        <p:sp>
          <p:nvSpPr>
            <p:cNvPr id="19" name="Oval 18"/>
            <p:cNvSpPr/>
            <p:nvPr/>
          </p:nvSpPr>
          <p:spPr>
            <a:xfrm>
              <a:off x="6611112" y="2359152"/>
              <a:ext cx="310896" cy="310896"/>
            </a:xfrm>
            <a:prstGeom prst="ellipse">
              <a:avLst/>
            </a:prstGeom>
            <a:solidFill>
              <a:srgbClr val="F28C28"/>
            </a:solidFill>
            <a:ln w="25400">
              <a:solidFill>
                <a:srgbClr val="1E2126"/>
              </a:solidFill>
            </a:ln>
          </p:spPr>
          <p:txBody>
            <a:bodyPr rtlCol="0" anchor="ctr"/>
            <a:lstStyle/>
            <a:p>
              <a:pPr algn="ctr"/>
              <a:endParaRPr/>
            </a:p>
          </p:txBody>
        </p:sp>
        <p:sp>
          <p:nvSpPr>
            <p:cNvPr id="20" name="Oval 19"/>
            <p:cNvSpPr/>
            <p:nvPr/>
          </p:nvSpPr>
          <p:spPr>
            <a:xfrm>
              <a:off x="8622792" y="2359152"/>
              <a:ext cx="310896" cy="310896"/>
            </a:xfrm>
            <a:prstGeom prst="ellipse">
              <a:avLst/>
            </a:prstGeom>
            <a:solidFill>
              <a:srgbClr val="F28C28"/>
            </a:solidFill>
            <a:ln w="25400">
              <a:solidFill>
                <a:srgbClr val="1E2126"/>
              </a:solidFill>
            </a:ln>
          </p:spPr>
          <p:txBody>
            <a:bodyPr rtlCol="0" anchor="ctr"/>
            <a:lstStyle/>
            <a:p>
              <a:pPr algn="ctr"/>
              <a:endParaRPr/>
            </a:p>
          </p:txBody>
        </p:sp>
        <p:sp>
          <p:nvSpPr>
            <p:cNvPr id="21" name="Oval 20"/>
            <p:cNvSpPr/>
            <p:nvPr/>
          </p:nvSpPr>
          <p:spPr>
            <a:xfrm>
              <a:off x="10543032" y="2359152"/>
              <a:ext cx="310896" cy="310896"/>
            </a:xfrm>
            <a:prstGeom prst="ellipse">
              <a:avLst/>
            </a:prstGeom>
            <a:solidFill>
              <a:srgbClr val="F28C28"/>
            </a:solidFill>
            <a:ln w="25400">
              <a:solidFill>
                <a:srgbClr val="1E2126"/>
              </a:solidFill>
            </a:ln>
          </p:spPr>
          <p:txBody>
            <a:bodyPr rtlCol="0" anchor="ctr"/>
            <a:lstStyle/>
            <a:p>
              <a:pPr algn="ctr"/>
              <a:endParaRPr/>
            </a:p>
          </p:txBody>
        </p:sp>
      </p:grpSp>
      <p:grpSp>
        <p:nvGrpSpPr>
          <p:cNvPr id="22" name="Pack track" descr="The Pack track: a line with engines standing at the stages. Small engines sit at the early stages and larger ones at the later stages."/>
          <p:cNvGrpSpPr/>
          <p:nvPr/>
        </p:nvGrpSpPr>
        <p:grpSpPr>
          <a:xfrm>
            <a:off x="2194560" y="3962643"/>
            <a:ext cx="9433498" cy="609357"/>
            <a:chOff x="2194560" y="3962643"/>
            <a:chExt cx="9433498" cy="609357"/>
          </a:xfrm>
        </p:grpSpPr>
        <p:cxnSp>
          <p:nvCxnSpPr>
            <p:cNvPr id="23" name="Connector 22"/>
            <p:cNvCxnSpPr/>
            <p:nvPr/>
          </p:nvCxnSpPr>
          <p:spPr>
            <a:xfrm>
              <a:off x="2194560" y="4572000"/>
              <a:ext cx="9235440" cy="0"/>
            </a:xfrm>
            <a:prstGeom prst="line">
              <a:avLst/>
            </a:prstGeom>
            <a:ln w="38100">
              <a:solidFill>
                <a:srgbClr val="9AA0A6"/>
              </a:solidFill>
              <a:tailEnd type="triangle" w="med" len="med"/>
            </a:ln>
          </p:spPr>
        </p:cxnSp>
        <p:sp>
          <p:nvSpPr>
            <p:cNvPr id="24" name="Rectangle 23"/>
            <p:cNvSpPr/>
            <p:nvPr/>
          </p:nvSpPr>
          <p:spPr>
            <a:xfrm>
              <a:off x="2388870" y="4398264"/>
              <a:ext cx="685800" cy="45720"/>
            </a:xfrm>
            <a:prstGeom prst="rect">
              <a:avLst/>
            </a:prstGeom>
            <a:solidFill>
              <a:srgbClr val="1B1D21"/>
            </a:solidFill>
            <a:ln w="12700">
              <a:solidFill>
                <a:srgbClr val="9AA0A6"/>
              </a:solidFill>
            </a:ln>
          </p:spPr>
          <p:txBody>
            <a:bodyPr rtlCol="0" anchor="ctr"/>
            <a:lstStyle/>
            <a:p>
              <a:pPr algn="ctr"/>
              <a:endParaRPr/>
            </a:p>
          </p:txBody>
        </p:sp>
        <p:sp>
          <p:nvSpPr>
            <p:cNvPr id="25" name="Oval 24"/>
            <p:cNvSpPr/>
            <p:nvPr/>
          </p:nvSpPr>
          <p:spPr>
            <a:xfrm>
              <a:off x="2448306" y="44348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26" name="Oval 25"/>
            <p:cNvSpPr/>
            <p:nvPr/>
          </p:nvSpPr>
          <p:spPr>
            <a:xfrm>
              <a:off x="2503170" y="4489704"/>
              <a:ext cx="27432" cy="27432"/>
            </a:xfrm>
            <a:prstGeom prst="ellipse">
              <a:avLst/>
            </a:prstGeom>
            <a:solidFill>
              <a:srgbClr val="9AA0A6"/>
            </a:solidFill>
            <a:ln>
              <a:noFill/>
            </a:ln>
          </p:spPr>
          <p:txBody>
            <a:bodyPr rtlCol="0" anchor="ctr"/>
            <a:lstStyle/>
            <a:p>
              <a:pPr algn="ctr"/>
              <a:endParaRPr/>
            </a:p>
          </p:txBody>
        </p:sp>
        <p:sp>
          <p:nvSpPr>
            <p:cNvPr id="27" name="Oval 26"/>
            <p:cNvSpPr/>
            <p:nvPr/>
          </p:nvSpPr>
          <p:spPr>
            <a:xfrm>
              <a:off x="2699765" y="44348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28" name="Oval 27"/>
            <p:cNvSpPr/>
            <p:nvPr/>
          </p:nvSpPr>
          <p:spPr>
            <a:xfrm>
              <a:off x="2754629" y="4489704"/>
              <a:ext cx="27432" cy="27432"/>
            </a:xfrm>
            <a:prstGeom prst="ellipse">
              <a:avLst/>
            </a:prstGeom>
            <a:solidFill>
              <a:srgbClr val="9AA0A6"/>
            </a:solidFill>
            <a:ln>
              <a:noFill/>
            </a:ln>
          </p:spPr>
          <p:txBody>
            <a:bodyPr rtlCol="0" anchor="ctr"/>
            <a:lstStyle/>
            <a:p>
              <a:pPr algn="ctr"/>
              <a:endParaRPr/>
            </a:p>
          </p:txBody>
        </p:sp>
        <p:sp>
          <p:nvSpPr>
            <p:cNvPr id="29" name="Oval 28"/>
            <p:cNvSpPr/>
            <p:nvPr/>
          </p:nvSpPr>
          <p:spPr>
            <a:xfrm>
              <a:off x="2951225" y="4434840"/>
              <a:ext cx="137160" cy="137160"/>
            </a:xfrm>
            <a:prstGeom prst="ellipse">
              <a:avLst/>
            </a:prstGeom>
            <a:solidFill>
              <a:srgbClr val="343A43"/>
            </a:solidFill>
            <a:ln w="15875">
              <a:solidFill>
                <a:srgbClr val="9AA0A6"/>
              </a:solidFill>
            </a:ln>
          </p:spPr>
          <p:txBody>
            <a:bodyPr rtlCol="0" anchor="ctr"/>
            <a:lstStyle/>
            <a:p>
              <a:pPr algn="ctr"/>
              <a:endParaRPr/>
            </a:p>
          </p:txBody>
        </p:sp>
        <p:sp>
          <p:nvSpPr>
            <p:cNvPr id="30" name="Oval 29"/>
            <p:cNvSpPr/>
            <p:nvPr/>
          </p:nvSpPr>
          <p:spPr>
            <a:xfrm>
              <a:off x="3006089" y="4489704"/>
              <a:ext cx="27432" cy="27432"/>
            </a:xfrm>
            <a:prstGeom prst="ellipse">
              <a:avLst/>
            </a:prstGeom>
            <a:solidFill>
              <a:srgbClr val="9AA0A6"/>
            </a:solidFill>
            <a:ln>
              <a:noFill/>
            </a:ln>
          </p:spPr>
          <p:txBody>
            <a:bodyPr rtlCol="0" anchor="ctr"/>
            <a:lstStyle/>
            <a:p>
              <a:pPr algn="ctr"/>
              <a:endParaRPr/>
            </a:p>
          </p:txBody>
        </p:sp>
        <p:cxnSp>
          <p:nvCxnSpPr>
            <p:cNvPr id="31" name="Connector 30"/>
            <p:cNvCxnSpPr/>
            <p:nvPr/>
          </p:nvCxnSpPr>
          <p:spPr>
            <a:xfrm>
              <a:off x="2516886" y="4503420"/>
              <a:ext cx="502920" cy="0"/>
            </a:xfrm>
            <a:prstGeom prst="line">
              <a:avLst/>
            </a:prstGeom>
            <a:ln w="19050">
              <a:solidFill>
                <a:srgbClr val="9AA0A6"/>
              </a:solidFill>
            </a:ln>
          </p:spPr>
        </p:cxnSp>
        <p:sp>
          <p:nvSpPr>
            <p:cNvPr id="32" name="Rounded Rectangle 31"/>
            <p:cNvSpPr/>
            <p:nvPr/>
          </p:nvSpPr>
          <p:spPr>
            <a:xfrm>
              <a:off x="2663189" y="4224528"/>
              <a:ext cx="411480" cy="173736"/>
            </a:xfrm>
            <a:prstGeom prst="roundRect">
              <a:avLst>
                <a:gd name="adj" fmla="val 31578"/>
              </a:avLst>
            </a:prstGeom>
            <a:solidFill>
              <a:srgbClr val="F28C28">
                <a:alpha val="35000"/>
              </a:srgbClr>
            </a:solidFill>
            <a:ln w="19050">
              <a:solidFill>
                <a:srgbClr val="F28C28"/>
              </a:solidFill>
              <a:prstDash val="dash"/>
            </a:ln>
          </p:spPr>
          <p:txBody>
            <a:bodyPr rtlCol="0" anchor="ctr"/>
            <a:lstStyle/>
            <a:p>
              <a:pPr algn="ctr"/>
              <a:endParaRPr/>
            </a:p>
          </p:txBody>
        </p:sp>
        <p:sp>
          <p:nvSpPr>
            <p:cNvPr id="33" name="Rounded Rectangle 32"/>
            <p:cNvSpPr/>
            <p:nvPr/>
          </p:nvSpPr>
          <p:spPr>
            <a:xfrm>
              <a:off x="2681477" y="4288536"/>
              <a:ext cx="283464" cy="118872"/>
            </a:xfrm>
            <a:prstGeom prst="roundRect">
              <a:avLst>
                <a:gd name="adj" fmla="val 30769"/>
              </a:avLst>
            </a:prstGeom>
            <a:solidFill>
              <a:srgbClr val="F28C28"/>
            </a:solidFill>
            <a:ln w="15875">
              <a:solidFill>
                <a:srgbClr val="1B1D21"/>
              </a:solidFill>
            </a:ln>
          </p:spPr>
          <p:txBody>
            <a:bodyPr rtlCol="0" anchor="ctr"/>
            <a:lstStyle/>
            <a:p>
              <a:pPr algn="ctr"/>
              <a:endParaRPr/>
            </a:p>
          </p:txBody>
        </p:sp>
        <p:sp>
          <p:nvSpPr>
            <p:cNvPr id="34" name="Rectangle 33"/>
            <p:cNvSpPr/>
            <p:nvPr/>
          </p:nvSpPr>
          <p:spPr>
            <a:xfrm>
              <a:off x="2992374" y="4224528"/>
              <a:ext cx="82296" cy="173736"/>
            </a:xfrm>
            <a:prstGeom prst="rect">
              <a:avLst/>
            </a:prstGeom>
            <a:solidFill>
              <a:srgbClr val="1B1D21"/>
            </a:solidFill>
            <a:ln w="12700">
              <a:solidFill>
                <a:srgbClr val="9AA0A6"/>
              </a:solidFill>
            </a:ln>
          </p:spPr>
          <p:txBody>
            <a:bodyPr rtlCol="0" anchor="ctr"/>
            <a:lstStyle/>
            <a:p>
              <a:pPr algn="ctr"/>
              <a:endParaRPr/>
            </a:p>
          </p:txBody>
        </p:sp>
        <p:sp>
          <p:nvSpPr>
            <p:cNvPr id="35" name="Rectangle 34"/>
            <p:cNvSpPr/>
            <p:nvPr/>
          </p:nvSpPr>
          <p:spPr>
            <a:xfrm>
              <a:off x="3010662" y="4142232"/>
              <a:ext cx="45720" cy="91440"/>
            </a:xfrm>
            <a:prstGeom prst="rect">
              <a:avLst/>
            </a:prstGeom>
            <a:solidFill>
              <a:srgbClr val="1B1D21"/>
            </a:solidFill>
            <a:ln w="12700">
              <a:solidFill>
                <a:srgbClr val="9AA0A6"/>
              </a:solidFill>
            </a:ln>
          </p:spPr>
          <p:txBody>
            <a:bodyPr rtlCol="0" anchor="ctr"/>
            <a:lstStyle/>
            <a:p>
              <a:pPr algn="ctr"/>
              <a:endParaRPr/>
            </a:p>
          </p:txBody>
        </p:sp>
        <p:sp>
          <p:nvSpPr>
            <p:cNvPr id="36" name="Rectangle 35"/>
            <p:cNvSpPr/>
            <p:nvPr/>
          </p:nvSpPr>
          <p:spPr>
            <a:xfrm>
              <a:off x="2992374" y="4123944"/>
              <a:ext cx="82296" cy="27432"/>
            </a:xfrm>
            <a:prstGeom prst="rect">
              <a:avLst/>
            </a:prstGeom>
            <a:solidFill>
              <a:srgbClr val="1B1D21"/>
            </a:solidFill>
            <a:ln w="12700">
              <a:solidFill>
                <a:srgbClr val="9AA0A6"/>
              </a:solidFill>
            </a:ln>
          </p:spPr>
          <p:txBody>
            <a:bodyPr rtlCol="0" anchor="ctr"/>
            <a:lstStyle/>
            <a:p>
              <a:pPr algn="ctr"/>
              <a:endParaRPr/>
            </a:p>
          </p:txBody>
        </p:sp>
        <p:sp>
          <p:nvSpPr>
            <p:cNvPr id="37" name="Rounded Rectangle 36"/>
            <p:cNvSpPr/>
            <p:nvPr/>
          </p:nvSpPr>
          <p:spPr>
            <a:xfrm>
              <a:off x="2800349" y="4178808"/>
              <a:ext cx="91440" cy="54864"/>
            </a:xfrm>
            <a:prstGeom prst="roundRect">
              <a:avLst>
                <a:gd name="adj" fmla="val 50000"/>
              </a:avLst>
            </a:prstGeom>
            <a:solidFill>
              <a:srgbClr val="F28C28">
                <a:alpha val="35000"/>
              </a:srgbClr>
            </a:solidFill>
            <a:ln w="12700">
              <a:solidFill>
                <a:srgbClr val="F28C28"/>
              </a:solidFill>
              <a:prstDash val="dash"/>
            </a:ln>
          </p:spPr>
          <p:txBody>
            <a:bodyPr rtlCol="0" anchor="ctr"/>
            <a:lstStyle/>
            <a:p>
              <a:pPr algn="ctr"/>
              <a:endParaRPr/>
            </a:p>
          </p:txBody>
        </p:sp>
        <p:sp>
          <p:nvSpPr>
            <p:cNvPr id="38" name="Rectangle 37"/>
            <p:cNvSpPr/>
            <p:nvPr/>
          </p:nvSpPr>
          <p:spPr>
            <a:xfrm>
              <a:off x="2388870" y="4160520"/>
              <a:ext cx="274320" cy="246888"/>
            </a:xfrm>
            <a:prstGeom prst="rect">
              <a:avLst/>
            </a:prstGeom>
            <a:solidFill>
              <a:srgbClr val="F28C28">
                <a:alpha val="35000"/>
              </a:srgbClr>
            </a:solidFill>
            <a:ln w="19050">
              <a:solidFill>
                <a:srgbClr val="F28C28"/>
              </a:solidFill>
              <a:prstDash val="dash"/>
            </a:ln>
          </p:spPr>
          <p:txBody>
            <a:bodyPr rtlCol="0" anchor="ctr"/>
            <a:lstStyle/>
            <a:p>
              <a:pPr algn="ctr"/>
              <a:endParaRPr/>
            </a:p>
          </p:txBody>
        </p:sp>
        <p:sp>
          <p:nvSpPr>
            <p:cNvPr id="39" name="Rectangle 38"/>
            <p:cNvSpPr/>
            <p:nvPr/>
          </p:nvSpPr>
          <p:spPr>
            <a:xfrm>
              <a:off x="2375153" y="4137660"/>
              <a:ext cx="301751" cy="32004"/>
            </a:xfrm>
            <a:prstGeom prst="rect">
              <a:avLst/>
            </a:prstGeom>
            <a:solidFill>
              <a:srgbClr val="1B1D21"/>
            </a:solidFill>
            <a:ln w="12700">
              <a:solidFill>
                <a:srgbClr val="9AA0A6"/>
              </a:solidFill>
            </a:ln>
          </p:spPr>
          <p:txBody>
            <a:bodyPr rtlCol="0" anchor="ctr"/>
            <a:lstStyle/>
            <a:p>
              <a:pPr algn="ctr"/>
              <a:endParaRPr/>
            </a:p>
          </p:txBody>
        </p:sp>
        <p:sp>
          <p:nvSpPr>
            <p:cNvPr id="40" name="Rectangle 39"/>
            <p:cNvSpPr/>
            <p:nvPr/>
          </p:nvSpPr>
          <p:spPr>
            <a:xfrm>
              <a:off x="2452877" y="4215384"/>
              <a:ext cx="118872" cy="91440"/>
            </a:xfrm>
            <a:prstGeom prst="rect">
              <a:avLst/>
            </a:prstGeom>
            <a:solidFill>
              <a:srgbClr val="1B1D21"/>
            </a:solidFill>
            <a:ln>
              <a:noFill/>
            </a:ln>
          </p:spPr>
          <p:txBody>
            <a:bodyPr rtlCol="0" anchor="ctr"/>
            <a:lstStyle/>
            <a:p>
              <a:pPr algn="ctr"/>
              <a:endParaRPr/>
            </a:p>
          </p:txBody>
        </p:sp>
        <p:sp>
          <p:nvSpPr>
            <p:cNvPr id="41" name="Rounded Rectangle 40"/>
            <p:cNvSpPr/>
            <p:nvPr/>
          </p:nvSpPr>
          <p:spPr>
            <a:xfrm>
              <a:off x="4107119" y="4234037"/>
              <a:ext cx="409651" cy="174101"/>
            </a:xfrm>
            <a:prstGeom prst="roundRect">
              <a:avLst>
                <a:gd name="adj" fmla="val 15756"/>
              </a:avLst>
            </a:prstGeom>
            <a:solidFill>
              <a:srgbClr val="2B2F36"/>
            </a:solidFill>
            <a:ln w="19050">
              <a:solidFill>
                <a:srgbClr val="F28C28"/>
              </a:solidFill>
              <a:prstDash val="dash"/>
            </a:ln>
          </p:spPr>
          <p:txBody>
            <a:bodyPr rtlCol="0" anchor="ctr"/>
            <a:lstStyle/>
            <a:p>
              <a:pPr algn="ctr"/>
              <a:endParaRPr/>
            </a:p>
          </p:txBody>
        </p:sp>
        <p:sp>
          <p:nvSpPr>
            <p:cNvPr id="42" name="Freeform 41"/>
            <p:cNvSpPr/>
            <p:nvPr/>
          </p:nvSpPr>
          <p:spPr>
            <a:xfrm>
              <a:off x="4148084" y="4162348"/>
              <a:ext cx="327721" cy="71689"/>
            </a:xfrm>
            <a:custGeom>
              <a:avLst/>
              <a:gdLst/>
              <a:ahLst/>
              <a:cxnLst/>
              <a:rect l="l" t="t" r="r" b="b"/>
              <a:pathLst>
                <a:path w="327721" h="71689">
                  <a:moveTo>
                    <a:pt x="0" y="71689"/>
                  </a:moveTo>
                  <a:lnTo>
                    <a:pt x="61447" y="10242"/>
                  </a:lnTo>
                  <a:lnTo>
                    <a:pt x="266273" y="0"/>
                  </a:lnTo>
                  <a:lnTo>
                    <a:pt x="327721" y="71689"/>
                  </a:lnTo>
                  <a:close/>
                </a:path>
              </a:pathLst>
            </a:custGeom>
            <a:solidFill>
              <a:srgbClr val="1B1D21"/>
            </a:solidFill>
            <a:ln w="12700">
              <a:solidFill>
                <a:srgbClr val="9AA0A6"/>
              </a:solidFill>
            </a:ln>
          </p:spPr>
          <p:txBody>
            <a:bodyPr rtlCol="0" anchor="ctr"/>
            <a:lstStyle/>
            <a:p>
              <a:pPr algn="ctr"/>
              <a:endParaRPr/>
            </a:p>
          </p:txBody>
        </p:sp>
        <p:sp>
          <p:nvSpPr>
            <p:cNvPr id="43" name="Oval 42"/>
            <p:cNvSpPr/>
            <p:nvPr/>
          </p:nvSpPr>
          <p:spPr>
            <a:xfrm>
              <a:off x="4189049" y="4449104"/>
              <a:ext cx="122895" cy="122895"/>
            </a:xfrm>
            <a:prstGeom prst="ellipse">
              <a:avLst/>
            </a:prstGeom>
            <a:solidFill>
              <a:srgbClr val="343A43"/>
            </a:solidFill>
            <a:ln w="12700">
              <a:solidFill>
                <a:srgbClr val="9AA0A6"/>
              </a:solidFill>
            </a:ln>
          </p:spPr>
          <p:txBody>
            <a:bodyPr rtlCol="0" anchor="ctr"/>
            <a:lstStyle/>
            <a:p>
              <a:pPr algn="ctr"/>
              <a:endParaRPr/>
            </a:p>
          </p:txBody>
        </p:sp>
        <p:sp>
          <p:nvSpPr>
            <p:cNvPr id="44" name="Oval 43"/>
            <p:cNvSpPr/>
            <p:nvPr/>
          </p:nvSpPr>
          <p:spPr>
            <a:xfrm>
              <a:off x="4311944" y="4449104"/>
              <a:ext cx="122895" cy="122895"/>
            </a:xfrm>
            <a:prstGeom prst="ellipse">
              <a:avLst/>
            </a:prstGeom>
            <a:solidFill>
              <a:srgbClr val="343A43"/>
            </a:solidFill>
            <a:ln w="12700">
              <a:solidFill>
                <a:srgbClr val="9AA0A6"/>
              </a:solidFill>
            </a:ln>
          </p:spPr>
          <p:txBody>
            <a:bodyPr rtlCol="0" anchor="ctr"/>
            <a:lstStyle/>
            <a:p>
              <a:pPr algn="ctr"/>
              <a:endParaRPr/>
            </a:p>
          </p:txBody>
        </p:sp>
        <p:cxnSp>
          <p:nvCxnSpPr>
            <p:cNvPr id="45" name="Connector 44"/>
            <p:cNvCxnSpPr/>
            <p:nvPr/>
          </p:nvCxnSpPr>
          <p:spPr>
            <a:xfrm>
              <a:off x="4516770" y="4377415"/>
              <a:ext cx="40965" cy="0"/>
            </a:xfrm>
            <a:prstGeom prst="line">
              <a:avLst/>
            </a:prstGeom>
            <a:ln w="25400">
              <a:solidFill>
                <a:srgbClr val="9AA0A6"/>
              </a:solidFill>
            </a:ln>
          </p:spPr>
        </p:cxnSp>
        <p:sp>
          <p:nvSpPr>
            <p:cNvPr id="46" name="Rectangle 45"/>
            <p:cNvSpPr/>
            <p:nvPr/>
          </p:nvSpPr>
          <p:spPr>
            <a:xfrm>
              <a:off x="4557735" y="4377415"/>
              <a:ext cx="819302" cy="51206"/>
            </a:xfrm>
            <a:prstGeom prst="rect">
              <a:avLst/>
            </a:prstGeom>
            <a:solidFill>
              <a:srgbClr val="1B1D21"/>
            </a:solidFill>
            <a:ln w="12700">
              <a:solidFill>
                <a:srgbClr val="9AA0A6"/>
              </a:solidFill>
            </a:ln>
          </p:spPr>
          <p:txBody>
            <a:bodyPr rtlCol="0" anchor="ctr"/>
            <a:lstStyle/>
            <a:p>
              <a:pPr algn="ctr"/>
              <a:endParaRPr/>
            </a:p>
          </p:txBody>
        </p:sp>
        <p:sp>
          <p:nvSpPr>
            <p:cNvPr id="47" name="Oval 46"/>
            <p:cNvSpPr/>
            <p:nvPr/>
          </p:nvSpPr>
          <p:spPr>
            <a:xfrm>
              <a:off x="4624303" y="4418380"/>
              <a:ext cx="153619" cy="153619"/>
            </a:xfrm>
            <a:prstGeom prst="ellipse">
              <a:avLst/>
            </a:prstGeom>
            <a:solidFill>
              <a:srgbClr val="343A43"/>
            </a:solidFill>
            <a:ln w="15875">
              <a:solidFill>
                <a:srgbClr val="9AA0A6"/>
              </a:solidFill>
            </a:ln>
          </p:spPr>
          <p:txBody>
            <a:bodyPr rtlCol="0" anchor="ctr"/>
            <a:lstStyle/>
            <a:p>
              <a:pPr algn="ctr"/>
              <a:endParaRPr/>
            </a:p>
          </p:txBody>
        </p:sp>
        <p:sp>
          <p:nvSpPr>
            <p:cNvPr id="48" name="Oval 47"/>
            <p:cNvSpPr/>
            <p:nvPr/>
          </p:nvSpPr>
          <p:spPr>
            <a:xfrm>
              <a:off x="4685751" y="4479828"/>
              <a:ext cx="30723" cy="30723"/>
            </a:xfrm>
            <a:prstGeom prst="ellipse">
              <a:avLst/>
            </a:prstGeom>
            <a:solidFill>
              <a:srgbClr val="9AA0A6"/>
            </a:solidFill>
            <a:ln>
              <a:noFill/>
            </a:ln>
          </p:spPr>
          <p:txBody>
            <a:bodyPr rtlCol="0" anchor="ctr"/>
            <a:lstStyle/>
            <a:p>
              <a:pPr algn="ctr"/>
              <a:endParaRPr/>
            </a:p>
          </p:txBody>
        </p:sp>
        <p:sp>
          <p:nvSpPr>
            <p:cNvPr id="49" name="Oval 48"/>
            <p:cNvSpPr/>
            <p:nvPr/>
          </p:nvSpPr>
          <p:spPr>
            <a:xfrm>
              <a:off x="4829129" y="4418380"/>
              <a:ext cx="153619" cy="153619"/>
            </a:xfrm>
            <a:prstGeom prst="ellipse">
              <a:avLst/>
            </a:prstGeom>
            <a:solidFill>
              <a:srgbClr val="343A43"/>
            </a:solidFill>
            <a:ln w="15875">
              <a:solidFill>
                <a:srgbClr val="9AA0A6"/>
              </a:solidFill>
            </a:ln>
          </p:spPr>
          <p:txBody>
            <a:bodyPr rtlCol="0" anchor="ctr"/>
            <a:lstStyle/>
            <a:p>
              <a:pPr algn="ctr"/>
              <a:endParaRPr/>
            </a:p>
          </p:txBody>
        </p:sp>
        <p:sp>
          <p:nvSpPr>
            <p:cNvPr id="50" name="Oval 49"/>
            <p:cNvSpPr/>
            <p:nvPr/>
          </p:nvSpPr>
          <p:spPr>
            <a:xfrm>
              <a:off x="4890576" y="4479828"/>
              <a:ext cx="30723" cy="30723"/>
            </a:xfrm>
            <a:prstGeom prst="ellipse">
              <a:avLst/>
            </a:prstGeom>
            <a:solidFill>
              <a:srgbClr val="9AA0A6"/>
            </a:solidFill>
            <a:ln>
              <a:noFill/>
            </a:ln>
          </p:spPr>
          <p:txBody>
            <a:bodyPr rtlCol="0" anchor="ctr"/>
            <a:lstStyle/>
            <a:p>
              <a:pPr algn="ctr"/>
              <a:endParaRPr/>
            </a:p>
          </p:txBody>
        </p:sp>
        <p:sp>
          <p:nvSpPr>
            <p:cNvPr id="51" name="Oval 50"/>
            <p:cNvSpPr/>
            <p:nvPr/>
          </p:nvSpPr>
          <p:spPr>
            <a:xfrm>
              <a:off x="5033954" y="4418380"/>
              <a:ext cx="153619" cy="153619"/>
            </a:xfrm>
            <a:prstGeom prst="ellipse">
              <a:avLst/>
            </a:prstGeom>
            <a:solidFill>
              <a:srgbClr val="343A43"/>
            </a:solidFill>
            <a:ln w="15875">
              <a:solidFill>
                <a:srgbClr val="9AA0A6"/>
              </a:solidFill>
            </a:ln>
          </p:spPr>
          <p:txBody>
            <a:bodyPr rtlCol="0" anchor="ctr"/>
            <a:lstStyle/>
            <a:p>
              <a:pPr algn="ctr"/>
              <a:endParaRPr/>
            </a:p>
          </p:txBody>
        </p:sp>
        <p:sp>
          <p:nvSpPr>
            <p:cNvPr id="52" name="Oval 51"/>
            <p:cNvSpPr/>
            <p:nvPr/>
          </p:nvSpPr>
          <p:spPr>
            <a:xfrm>
              <a:off x="5095402" y="4479828"/>
              <a:ext cx="30723" cy="30723"/>
            </a:xfrm>
            <a:prstGeom prst="ellipse">
              <a:avLst/>
            </a:prstGeom>
            <a:solidFill>
              <a:srgbClr val="9AA0A6"/>
            </a:solidFill>
            <a:ln>
              <a:noFill/>
            </a:ln>
          </p:spPr>
          <p:txBody>
            <a:bodyPr rtlCol="0" anchor="ctr"/>
            <a:lstStyle/>
            <a:p>
              <a:pPr algn="ctr"/>
              <a:endParaRPr/>
            </a:p>
          </p:txBody>
        </p:sp>
        <p:sp>
          <p:nvSpPr>
            <p:cNvPr id="53" name="Oval 52"/>
            <p:cNvSpPr/>
            <p:nvPr/>
          </p:nvSpPr>
          <p:spPr>
            <a:xfrm>
              <a:off x="5238780" y="4418380"/>
              <a:ext cx="153619" cy="153619"/>
            </a:xfrm>
            <a:prstGeom prst="ellipse">
              <a:avLst/>
            </a:prstGeom>
            <a:solidFill>
              <a:srgbClr val="343A43"/>
            </a:solidFill>
            <a:ln w="15875">
              <a:solidFill>
                <a:srgbClr val="9AA0A6"/>
              </a:solidFill>
            </a:ln>
          </p:spPr>
          <p:txBody>
            <a:bodyPr rtlCol="0" anchor="ctr"/>
            <a:lstStyle/>
            <a:p>
              <a:pPr algn="ctr"/>
              <a:endParaRPr/>
            </a:p>
          </p:txBody>
        </p:sp>
        <p:sp>
          <p:nvSpPr>
            <p:cNvPr id="54" name="Oval 53"/>
            <p:cNvSpPr/>
            <p:nvPr/>
          </p:nvSpPr>
          <p:spPr>
            <a:xfrm>
              <a:off x="5300228" y="4479828"/>
              <a:ext cx="30723" cy="30723"/>
            </a:xfrm>
            <a:prstGeom prst="ellipse">
              <a:avLst/>
            </a:prstGeom>
            <a:solidFill>
              <a:srgbClr val="9AA0A6"/>
            </a:solidFill>
            <a:ln>
              <a:noFill/>
            </a:ln>
          </p:spPr>
          <p:txBody>
            <a:bodyPr rtlCol="0" anchor="ctr"/>
            <a:lstStyle/>
            <a:p>
              <a:pPr algn="ctr"/>
              <a:endParaRPr/>
            </a:p>
          </p:txBody>
        </p:sp>
        <p:cxnSp>
          <p:nvCxnSpPr>
            <p:cNvPr id="55" name="Connector 54"/>
            <p:cNvCxnSpPr/>
            <p:nvPr/>
          </p:nvCxnSpPr>
          <p:spPr>
            <a:xfrm>
              <a:off x="4701113" y="4495190"/>
              <a:ext cx="614477" cy="0"/>
            </a:xfrm>
            <a:prstGeom prst="line">
              <a:avLst/>
            </a:prstGeom>
            <a:ln w="19050">
              <a:solidFill>
                <a:srgbClr val="9AA0A6"/>
              </a:solidFill>
            </a:ln>
          </p:spPr>
        </p:cxnSp>
        <p:sp>
          <p:nvSpPr>
            <p:cNvPr id="56" name="Rounded Rectangle 55"/>
            <p:cNvSpPr/>
            <p:nvPr/>
          </p:nvSpPr>
          <p:spPr>
            <a:xfrm>
              <a:off x="4864973" y="4182831"/>
              <a:ext cx="512064" cy="194584"/>
            </a:xfrm>
            <a:prstGeom prst="roundRect">
              <a:avLst>
                <a:gd name="adj" fmla="val 28195"/>
              </a:avLst>
            </a:prstGeom>
            <a:solidFill>
              <a:srgbClr val="F28C28">
                <a:alpha val="35000"/>
              </a:srgbClr>
            </a:solidFill>
            <a:ln w="19050">
              <a:solidFill>
                <a:srgbClr val="F28C28"/>
              </a:solidFill>
              <a:prstDash val="dash"/>
            </a:ln>
          </p:spPr>
          <p:txBody>
            <a:bodyPr rtlCol="0" anchor="ctr"/>
            <a:lstStyle/>
            <a:p>
              <a:pPr algn="ctr"/>
              <a:endParaRPr/>
            </a:p>
          </p:txBody>
        </p:sp>
        <p:sp>
          <p:nvSpPr>
            <p:cNvPr id="57" name="Rectangle 56"/>
            <p:cNvSpPr/>
            <p:nvPr/>
          </p:nvSpPr>
          <p:spPr>
            <a:xfrm>
              <a:off x="5284866" y="4182831"/>
              <a:ext cx="92171" cy="194584"/>
            </a:xfrm>
            <a:prstGeom prst="rect">
              <a:avLst/>
            </a:prstGeom>
            <a:solidFill>
              <a:srgbClr val="1B1D21"/>
            </a:solidFill>
            <a:ln w="12700">
              <a:solidFill>
                <a:srgbClr val="9AA0A6"/>
              </a:solidFill>
            </a:ln>
          </p:spPr>
          <p:txBody>
            <a:bodyPr rtlCol="0" anchor="ctr"/>
            <a:lstStyle/>
            <a:p>
              <a:pPr algn="ctr"/>
              <a:endParaRPr/>
            </a:p>
          </p:txBody>
        </p:sp>
        <p:sp>
          <p:nvSpPr>
            <p:cNvPr id="58" name="Rectangle 57"/>
            <p:cNvSpPr/>
            <p:nvPr/>
          </p:nvSpPr>
          <p:spPr>
            <a:xfrm>
              <a:off x="5305348" y="4090659"/>
              <a:ext cx="51206" cy="102412"/>
            </a:xfrm>
            <a:prstGeom prst="rect">
              <a:avLst/>
            </a:prstGeom>
            <a:solidFill>
              <a:srgbClr val="1B1D21"/>
            </a:solidFill>
            <a:ln w="12700">
              <a:solidFill>
                <a:srgbClr val="9AA0A6"/>
              </a:solidFill>
            </a:ln>
          </p:spPr>
          <p:txBody>
            <a:bodyPr rtlCol="0" anchor="ctr"/>
            <a:lstStyle/>
            <a:p>
              <a:pPr algn="ctr"/>
              <a:endParaRPr/>
            </a:p>
          </p:txBody>
        </p:sp>
        <p:sp>
          <p:nvSpPr>
            <p:cNvPr id="59" name="Rectangle 58"/>
            <p:cNvSpPr/>
            <p:nvPr/>
          </p:nvSpPr>
          <p:spPr>
            <a:xfrm>
              <a:off x="5284866" y="4070177"/>
              <a:ext cx="92171" cy="30723"/>
            </a:xfrm>
            <a:prstGeom prst="rect">
              <a:avLst/>
            </a:prstGeom>
            <a:solidFill>
              <a:srgbClr val="1B1D21"/>
            </a:solidFill>
            <a:ln w="12700">
              <a:solidFill>
                <a:srgbClr val="9AA0A6"/>
              </a:solidFill>
            </a:ln>
          </p:spPr>
          <p:txBody>
            <a:bodyPr rtlCol="0" anchor="ctr"/>
            <a:lstStyle/>
            <a:p>
              <a:pPr algn="ctr"/>
              <a:endParaRPr/>
            </a:p>
          </p:txBody>
        </p:sp>
        <p:sp>
          <p:nvSpPr>
            <p:cNvPr id="60" name="Rounded Rectangle 59"/>
            <p:cNvSpPr/>
            <p:nvPr/>
          </p:nvSpPr>
          <p:spPr>
            <a:xfrm>
              <a:off x="5018592" y="4131624"/>
              <a:ext cx="102412" cy="61447"/>
            </a:xfrm>
            <a:prstGeom prst="roundRect">
              <a:avLst>
                <a:gd name="adj" fmla="val 50000"/>
              </a:avLst>
            </a:prstGeom>
            <a:solidFill>
              <a:srgbClr val="F28C28">
                <a:alpha val="35000"/>
              </a:srgbClr>
            </a:solidFill>
            <a:ln w="12700">
              <a:solidFill>
                <a:srgbClr val="F28C28"/>
              </a:solidFill>
              <a:prstDash val="dash"/>
            </a:ln>
          </p:spPr>
          <p:txBody>
            <a:bodyPr rtlCol="0" anchor="ctr"/>
            <a:lstStyle/>
            <a:p>
              <a:pPr algn="ctr"/>
              <a:endParaRPr/>
            </a:p>
          </p:txBody>
        </p:sp>
        <p:sp>
          <p:nvSpPr>
            <p:cNvPr id="61" name="Rectangle 60"/>
            <p:cNvSpPr/>
            <p:nvPr/>
          </p:nvSpPr>
          <p:spPr>
            <a:xfrm>
              <a:off x="4557735" y="4111142"/>
              <a:ext cx="307238" cy="276514"/>
            </a:xfrm>
            <a:prstGeom prst="rect">
              <a:avLst/>
            </a:prstGeom>
            <a:solidFill>
              <a:srgbClr val="F28C28">
                <a:alpha val="35000"/>
              </a:srgbClr>
            </a:solidFill>
            <a:ln w="19050">
              <a:solidFill>
                <a:srgbClr val="F28C28"/>
              </a:solidFill>
              <a:prstDash val="dash"/>
            </a:ln>
          </p:spPr>
          <p:txBody>
            <a:bodyPr rtlCol="0" anchor="ctr"/>
            <a:lstStyle/>
            <a:p>
              <a:pPr algn="ctr"/>
              <a:endParaRPr/>
            </a:p>
          </p:txBody>
        </p:sp>
        <p:sp>
          <p:nvSpPr>
            <p:cNvPr id="62" name="Rectangle 61"/>
            <p:cNvSpPr/>
            <p:nvPr/>
          </p:nvSpPr>
          <p:spPr>
            <a:xfrm>
              <a:off x="4542373" y="4085539"/>
              <a:ext cx="337962" cy="35844"/>
            </a:xfrm>
            <a:prstGeom prst="rect">
              <a:avLst/>
            </a:prstGeom>
            <a:solidFill>
              <a:srgbClr val="1B1D21"/>
            </a:solidFill>
            <a:ln w="12700">
              <a:solidFill>
                <a:srgbClr val="9AA0A6"/>
              </a:solidFill>
            </a:ln>
          </p:spPr>
          <p:txBody>
            <a:bodyPr rtlCol="0" anchor="ctr"/>
            <a:lstStyle/>
            <a:p>
              <a:pPr algn="ctr"/>
              <a:endParaRPr/>
            </a:p>
          </p:txBody>
        </p:sp>
        <p:sp>
          <p:nvSpPr>
            <p:cNvPr id="63" name="Rectangle 62"/>
            <p:cNvSpPr/>
            <p:nvPr/>
          </p:nvSpPr>
          <p:spPr>
            <a:xfrm>
              <a:off x="4629424" y="4172590"/>
              <a:ext cx="133136" cy="102412"/>
            </a:xfrm>
            <a:prstGeom prst="rect">
              <a:avLst/>
            </a:prstGeom>
            <a:solidFill>
              <a:srgbClr val="1B1D21"/>
            </a:solidFill>
            <a:ln>
              <a:noFill/>
            </a:ln>
          </p:spPr>
          <p:txBody>
            <a:bodyPr rtlCol="0" anchor="ctr"/>
            <a:lstStyle/>
            <a:p>
              <a:pPr algn="ctr"/>
              <a:endParaRPr/>
            </a:p>
          </p:txBody>
        </p:sp>
        <p:sp>
          <p:nvSpPr>
            <p:cNvPr id="64" name="Rounded Rectangle 63"/>
            <p:cNvSpPr/>
            <p:nvPr/>
          </p:nvSpPr>
          <p:spPr>
            <a:xfrm>
              <a:off x="7990210" y="4197827"/>
              <a:ext cx="510235" cy="192755"/>
            </a:xfrm>
            <a:prstGeom prst="roundRect">
              <a:avLst>
                <a:gd name="adj" fmla="val 14231"/>
              </a:avLst>
            </a:prstGeom>
            <a:solidFill>
              <a:srgbClr val="2B2F36"/>
            </a:solidFill>
            <a:ln w="19050">
              <a:solidFill>
                <a:srgbClr val="F28C28"/>
              </a:solidFill>
              <a:prstDash val="dash"/>
            </a:ln>
          </p:spPr>
          <p:txBody>
            <a:bodyPr rtlCol="0" anchor="ctr"/>
            <a:lstStyle/>
            <a:p>
              <a:pPr algn="ctr"/>
              <a:endParaRPr/>
            </a:p>
          </p:txBody>
        </p:sp>
        <p:sp>
          <p:nvSpPr>
            <p:cNvPr id="65" name="Freeform 64"/>
            <p:cNvSpPr/>
            <p:nvPr/>
          </p:nvSpPr>
          <p:spPr>
            <a:xfrm>
              <a:off x="8035564" y="4118457"/>
              <a:ext cx="419527" cy="79370"/>
            </a:xfrm>
            <a:custGeom>
              <a:avLst/>
              <a:gdLst/>
              <a:ahLst/>
              <a:cxnLst/>
              <a:rect l="l" t="t" r="r" b="b"/>
              <a:pathLst>
                <a:path w="419527" h="79370">
                  <a:moveTo>
                    <a:pt x="0" y="79370"/>
                  </a:moveTo>
                  <a:lnTo>
                    <a:pt x="68031" y="11339"/>
                  </a:lnTo>
                  <a:lnTo>
                    <a:pt x="351495" y="0"/>
                  </a:lnTo>
                  <a:lnTo>
                    <a:pt x="419527" y="79370"/>
                  </a:lnTo>
                  <a:close/>
                </a:path>
              </a:pathLst>
            </a:custGeom>
            <a:solidFill>
              <a:srgbClr val="1B1D21"/>
            </a:solidFill>
            <a:ln w="12700">
              <a:solidFill>
                <a:srgbClr val="9AA0A6"/>
              </a:solidFill>
            </a:ln>
          </p:spPr>
          <p:txBody>
            <a:bodyPr rtlCol="0" anchor="ctr"/>
            <a:lstStyle/>
            <a:p>
              <a:pPr algn="ctr"/>
              <a:endParaRPr/>
            </a:p>
          </p:txBody>
        </p:sp>
        <p:sp>
          <p:nvSpPr>
            <p:cNvPr id="66" name="Oval 65"/>
            <p:cNvSpPr/>
            <p:nvPr/>
          </p:nvSpPr>
          <p:spPr>
            <a:xfrm>
              <a:off x="8080918" y="4435937"/>
              <a:ext cx="136062" cy="136062"/>
            </a:xfrm>
            <a:prstGeom prst="ellipse">
              <a:avLst/>
            </a:prstGeom>
            <a:solidFill>
              <a:srgbClr val="343A43"/>
            </a:solidFill>
            <a:ln w="12700">
              <a:solidFill>
                <a:srgbClr val="9AA0A6"/>
              </a:solidFill>
            </a:ln>
          </p:spPr>
          <p:txBody>
            <a:bodyPr rtlCol="0" anchor="ctr"/>
            <a:lstStyle/>
            <a:p>
              <a:pPr algn="ctr"/>
              <a:endParaRPr/>
            </a:p>
          </p:txBody>
        </p:sp>
        <p:sp>
          <p:nvSpPr>
            <p:cNvPr id="67" name="Oval 66"/>
            <p:cNvSpPr/>
            <p:nvPr/>
          </p:nvSpPr>
          <p:spPr>
            <a:xfrm>
              <a:off x="8273674" y="4435937"/>
              <a:ext cx="136062" cy="136062"/>
            </a:xfrm>
            <a:prstGeom prst="ellipse">
              <a:avLst/>
            </a:prstGeom>
            <a:solidFill>
              <a:srgbClr val="343A43"/>
            </a:solidFill>
            <a:ln w="12700">
              <a:solidFill>
                <a:srgbClr val="9AA0A6"/>
              </a:solidFill>
            </a:ln>
          </p:spPr>
          <p:txBody>
            <a:bodyPr rtlCol="0" anchor="ctr"/>
            <a:lstStyle/>
            <a:p>
              <a:pPr algn="ctr"/>
              <a:endParaRPr/>
            </a:p>
          </p:txBody>
        </p:sp>
        <p:cxnSp>
          <p:nvCxnSpPr>
            <p:cNvPr id="68" name="Connector 67"/>
            <p:cNvCxnSpPr/>
            <p:nvPr/>
          </p:nvCxnSpPr>
          <p:spPr>
            <a:xfrm>
              <a:off x="8500445" y="4356567"/>
              <a:ext cx="45354" cy="0"/>
            </a:xfrm>
            <a:prstGeom prst="line">
              <a:avLst/>
            </a:prstGeom>
            <a:ln w="25400">
              <a:solidFill>
                <a:srgbClr val="9AA0A6"/>
              </a:solidFill>
            </a:ln>
          </p:spPr>
        </p:cxnSp>
        <p:sp>
          <p:nvSpPr>
            <p:cNvPr id="69" name="Rectangle 68"/>
            <p:cNvSpPr/>
            <p:nvPr/>
          </p:nvSpPr>
          <p:spPr>
            <a:xfrm>
              <a:off x="8545799" y="4356567"/>
              <a:ext cx="992123" cy="56692"/>
            </a:xfrm>
            <a:prstGeom prst="rect">
              <a:avLst/>
            </a:prstGeom>
            <a:solidFill>
              <a:srgbClr val="1B1D21"/>
            </a:solidFill>
            <a:ln w="12700">
              <a:solidFill>
                <a:srgbClr val="9AA0A6"/>
              </a:solidFill>
            </a:ln>
          </p:spPr>
          <p:txBody>
            <a:bodyPr rtlCol="0" anchor="ctr"/>
            <a:lstStyle/>
            <a:p>
              <a:pPr algn="ctr"/>
              <a:endParaRPr/>
            </a:p>
          </p:txBody>
        </p:sp>
        <p:sp>
          <p:nvSpPr>
            <p:cNvPr id="70" name="Oval 69"/>
            <p:cNvSpPr/>
            <p:nvPr/>
          </p:nvSpPr>
          <p:spPr>
            <a:xfrm>
              <a:off x="8619500" y="4401921"/>
              <a:ext cx="170078" cy="170078"/>
            </a:xfrm>
            <a:prstGeom prst="ellipse">
              <a:avLst/>
            </a:prstGeom>
            <a:solidFill>
              <a:srgbClr val="343A43"/>
            </a:solidFill>
            <a:ln w="15875">
              <a:solidFill>
                <a:srgbClr val="9AA0A6"/>
              </a:solidFill>
            </a:ln>
          </p:spPr>
          <p:txBody>
            <a:bodyPr rtlCol="0" anchor="ctr"/>
            <a:lstStyle/>
            <a:p>
              <a:pPr algn="ctr"/>
              <a:endParaRPr/>
            </a:p>
          </p:txBody>
        </p:sp>
        <p:sp>
          <p:nvSpPr>
            <p:cNvPr id="71" name="Oval 70"/>
            <p:cNvSpPr/>
            <p:nvPr/>
          </p:nvSpPr>
          <p:spPr>
            <a:xfrm>
              <a:off x="8687531" y="4469952"/>
              <a:ext cx="34015" cy="34015"/>
            </a:xfrm>
            <a:prstGeom prst="ellipse">
              <a:avLst/>
            </a:prstGeom>
            <a:solidFill>
              <a:srgbClr val="9AA0A6"/>
            </a:solidFill>
            <a:ln>
              <a:noFill/>
            </a:ln>
          </p:spPr>
          <p:txBody>
            <a:bodyPr rtlCol="0" anchor="ctr"/>
            <a:lstStyle/>
            <a:p>
              <a:pPr algn="ctr"/>
              <a:endParaRPr/>
            </a:p>
          </p:txBody>
        </p:sp>
        <p:sp>
          <p:nvSpPr>
            <p:cNvPr id="72" name="Oval 71"/>
            <p:cNvSpPr/>
            <p:nvPr/>
          </p:nvSpPr>
          <p:spPr>
            <a:xfrm>
              <a:off x="8874617" y="4401921"/>
              <a:ext cx="170078" cy="170078"/>
            </a:xfrm>
            <a:prstGeom prst="ellipse">
              <a:avLst/>
            </a:prstGeom>
            <a:solidFill>
              <a:srgbClr val="343A43"/>
            </a:solidFill>
            <a:ln w="15875">
              <a:solidFill>
                <a:srgbClr val="9AA0A6"/>
              </a:solidFill>
            </a:ln>
          </p:spPr>
          <p:txBody>
            <a:bodyPr rtlCol="0" anchor="ctr"/>
            <a:lstStyle/>
            <a:p>
              <a:pPr algn="ctr"/>
              <a:endParaRPr/>
            </a:p>
          </p:txBody>
        </p:sp>
        <p:sp>
          <p:nvSpPr>
            <p:cNvPr id="73" name="Oval 72"/>
            <p:cNvSpPr/>
            <p:nvPr/>
          </p:nvSpPr>
          <p:spPr>
            <a:xfrm>
              <a:off x="8942649" y="4469952"/>
              <a:ext cx="34015" cy="34015"/>
            </a:xfrm>
            <a:prstGeom prst="ellipse">
              <a:avLst/>
            </a:prstGeom>
            <a:solidFill>
              <a:srgbClr val="9AA0A6"/>
            </a:solidFill>
            <a:ln>
              <a:noFill/>
            </a:ln>
          </p:spPr>
          <p:txBody>
            <a:bodyPr rtlCol="0" anchor="ctr"/>
            <a:lstStyle/>
            <a:p>
              <a:pPr algn="ctr"/>
              <a:endParaRPr/>
            </a:p>
          </p:txBody>
        </p:sp>
        <p:sp>
          <p:nvSpPr>
            <p:cNvPr id="74" name="Oval 73"/>
            <p:cNvSpPr/>
            <p:nvPr/>
          </p:nvSpPr>
          <p:spPr>
            <a:xfrm>
              <a:off x="9129735" y="4401921"/>
              <a:ext cx="170078" cy="170078"/>
            </a:xfrm>
            <a:prstGeom prst="ellipse">
              <a:avLst/>
            </a:prstGeom>
            <a:solidFill>
              <a:srgbClr val="343A43"/>
            </a:solidFill>
            <a:ln w="15875">
              <a:solidFill>
                <a:srgbClr val="9AA0A6"/>
              </a:solidFill>
            </a:ln>
          </p:spPr>
          <p:txBody>
            <a:bodyPr rtlCol="0" anchor="ctr"/>
            <a:lstStyle/>
            <a:p>
              <a:pPr algn="ctr"/>
              <a:endParaRPr/>
            </a:p>
          </p:txBody>
        </p:sp>
        <p:sp>
          <p:nvSpPr>
            <p:cNvPr id="75" name="Oval 74"/>
            <p:cNvSpPr/>
            <p:nvPr/>
          </p:nvSpPr>
          <p:spPr>
            <a:xfrm>
              <a:off x="9197766" y="4469952"/>
              <a:ext cx="34015" cy="34015"/>
            </a:xfrm>
            <a:prstGeom prst="ellipse">
              <a:avLst/>
            </a:prstGeom>
            <a:solidFill>
              <a:srgbClr val="9AA0A6"/>
            </a:solidFill>
            <a:ln>
              <a:noFill/>
            </a:ln>
          </p:spPr>
          <p:txBody>
            <a:bodyPr rtlCol="0" anchor="ctr"/>
            <a:lstStyle/>
            <a:p>
              <a:pPr algn="ctr"/>
              <a:endParaRPr/>
            </a:p>
          </p:txBody>
        </p:sp>
        <p:sp>
          <p:nvSpPr>
            <p:cNvPr id="76" name="Oval 75"/>
            <p:cNvSpPr/>
            <p:nvPr/>
          </p:nvSpPr>
          <p:spPr>
            <a:xfrm>
              <a:off x="9384852" y="4401921"/>
              <a:ext cx="170078" cy="170078"/>
            </a:xfrm>
            <a:prstGeom prst="ellipse">
              <a:avLst/>
            </a:prstGeom>
            <a:solidFill>
              <a:srgbClr val="343A43"/>
            </a:solidFill>
            <a:ln w="15875">
              <a:solidFill>
                <a:srgbClr val="9AA0A6"/>
              </a:solidFill>
            </a:ln>
          </p:spPr>
          <p:txBody>
            <a:bodyPr rtlCol="0" anchor="ctr"/>
            <a:lstStyle/>
            <a:p>
              <a:pPr algn="ctr"/>
              <a:endParaRPr/>
            </a:p>
          </p:txBody>
        </p:sp>
        <p:sp>
          <p:nvSpPr>
            <p:cNvPr id="77" name="Oval 76"/>
            <p:cNvSpPr/>
            <p:nvPr/>
          </p:nvSpPr>
          <p:spPr>
            <a:xfrm>
              <a:off x="9452884" y="4469952"/>
              <a:ext cx="34015" cy="34015"/>
            </a:xfrm>
            <a:prstGeom prst="ellipse">
              <a:avLst/>
            </a:prstGeom>
            <a:solidFill>
              <a:srgbClr val="9AA0A6"/>
            </a:solidFill>
            <a:ln>
              <a:noFill/>
            </a:ln>
          </p:spPr>
          <p:txBody>
            <a:bodyPr rtlCol="0" anchor="ctr"/>
            <a:lstStyle/>
            <a:p>
              <a:pPr algn="ctr"/>
              <a:endParaRPr/>
            </a:p>
          </p:txBody>
        </p:sp>
        <p:cxnSp>
          <p:nvCxnSpPr>
            <p:cNvPr id="78" name="Connector 77"/>
            <p:cNvCxnSpPr/>
            <p:nvPr/>
          </p:nvCxnSpPr>
          <p:spPr>
            <a:xfrm>
              <a:off x="8704539" y="4486960"/>
              <a:ext cx="765353" cy="0"/>
            </a:xfrm>
            <a:prstGeom prst="line">
              <a:avLst/>
            </a:prstGeom>
            <a:ln w="19050">
              <a:solidFill>
                <a:srgbClr val="9AA0A6"/>
              </a:solidFill>
            </a:ln>
          </p:spPr>
        </p:cxnSp>
        <p:sp>
          <p:nvSpPr>
            <p:cNvPr id="79" name="Rounded Rectangle 78"/>
            <p:cNvSpPr/>
            <p:nvPr/>
          </p:nvSpPr>
          <p:spPr>
            <a:xfrm>
              <a:off x="8885956" y="4141134"/>
              <a:ext cx="651967" cy="215432"/>
            </a:xfrm>
            <a:prstGeom prst="roundRect">
              <a:avLst>
                <a:gd name="adj" fmla="val 25466"/>
              </a:avLst>
            </a:prstGeom>
            <a:solidFill>
              <a:srgbClr val="F28C28">
                <a:alpha val="35000"/>
              </a:srgbClr>
            </a:solidFill>
            <a:ln w="19050">
              <a:solidFill>
                <a:srgbClr val="F28C28"/>
              </a:solidFill>
              <a:prstDash val="dash"/>
            </a:ln>
          </p:spPr>
          <p:txBody>
            <a:bodyPr rtlCol="0" anchor="ctr"/>
            <a:lstStyle/>
            <a:p>
              <a:pPr algn="ctr"/>
              <a:endParaRPr/>
            </a:p>
          </p:txBody>
        </p:sp>
        <p:sp>
          <p:nvSpPr>
            <p:cNvPr id="80" name="Rectangle 79"/>
            <p:cNvSpPr/>
            <p:nvPr/>
          </p:nvSpPr>
          <p:spPr>
            <a:xfrm>
              <a:off x="9435876" y="4141134"/>
              <a:ext cx="102047" cy="215432"/>
            </a:xfrm>
            <a:prstGeom prst="rect">
              <a:avLst/>
            </a:prstGeom>
            <a:solidFill>
              <a:srgbClr val="1B1D21"/>
            </a:solidFill>
            <a:ln w="12700">
              <a:solidFill>
                <a:srgbClr val="9AA0A6"/>
              </a:solidFill>
            </a:ln>
          </p:spPr>
          <p:txBody>
            <a:bodyPr rtlCol="0" anchor="ctr"/>
            <a:lstStyle/>
            <a:p>
              <a:pPr algn="ctr"/>
              <a:endParaRPr/>
            </a:p>
          </p:txBody>
        </p:sp>
        <p:sp>
          <p:nvSpPr>
            <p:cNvPr id="81" name="Rectangle 80"/>
            <p:cNvSpPr/>
            <p:nvPr/>
          </p:nvSpPr>
          <p:spPr>
            <a:xfrm>
              <a:off x="9458553" y="4039087"/>
              <a:ext cx="56692" cy="113385"/>
            </a:xfrm>
            <a:prstGeom prst="rect">
              <a:avLst/>
            </a:prstGeom>
            <a:solidFill>
              <a:srgbClr val="1B1D21"/>
            </a:solidFill>
            <a:ln w="12700">
              <a:solidFill>
                <a:srgbClr val="9AA0A6"/>
              </a:solidFill>
            </a:ln>
          </p:spPr>
          <p:txBody>
            <a:bodyPr rtlCol="0" anchor="ctr"/>
            <a:lstStyle/>
            <a:p>
              <a:pPr algn="ctr"/>
              <a:endParaRPr/>
            </a:p>
          </p:txBody>
        </p:sp>
        <p:sp>
          <p:nvSpPr>
            <p:cNvPr id="82" name="Rectangle 81"/>
            <p:cNvSpPr/>
            <p:nvPr/>
          </p:nvSpPr>
          <p:spPr>
            <a:xfrm>
              <a:off x="9435876" y="4016410"/>
              <a:ext cx="102047" cy="34015"/>
            </a:xfrm>
            <a:prstGeom prst="rect">
              <a:avLst/>
            </a:prstGeom>
            <a:solidFill>
              <a:srgbClr val="1B1D21"/>
            </a:solidFill>
            <a:ln w="12700">
              <a:solidFill>
                <a:srgbClr val="9AA0A6"/>
              </a:solidFill>
            </a:ln>
          </p:spPr>
          <p:txBody>
            <a:bodyPr rtlCol="0" anchor="ctr"/>
            <a:lstStyle/>
            <a:p>
              <a:pPr algn="ctr"/>
              <a:endParaRPr/>
            </a:p>
          </p:txBody>
        </p:sp>
        <p:sp>
          <p:nvSpPr>
            <p:cNvPr id="83" name="Rounded Rectangle 82"/>
            <p:cNvSpPr/>
            <p:nvPr/>
          </p:nvSpPr>
          <p:spPr>
            <a:xfrm>
              <a:off x="9056034" y="4084441"/>
              <a:ext cx="113385" cy="68031"/>
            </a:xfrm>
            <a:prstGeom prst="roundRect">
              <a:avLst>
                <a:gd name="adj" fmla="val 50000"/>
              </a:avLst>
            </a:prstGeom>
            <a:solidFill>
              <a:srgbClr val="F28C28">
                <a:alpha val="35000"/>
              </a:srgbClr>
            </a:solidFill>
            <a:ln w="12700">
              <a:solidFill>
                <a:srgbClr val="F28C28"/>
              </a:solidFill>
              <a:prstDash val="dash"/>
            </a:ln>
          </p:spPr>
          <p:txBody>
            <a:bodyPr rtlCol="0" anchor="ctr"/>
            <a:lstStyle/>
            <a:p>
              <a:pPr algn="ctr"/>
              <a:endParaRPr/>
            </a:p>
          </p:txBody>
        </p:sp>
        <p:sp>
          <p:nvSpPr>
            <p:cNvPr id="84" name="Rectangle 83"/>
            <p:cNvSpPr/>
            <p:nvPr/>
          </p:nvSpPr>
          <p:spPr>
            <a:xfrm>
              <a:off x="8545799" y="4061764"/>
              <a:ext cx="340156" cy="306141"/>
            </a:xfrm>
            <a:prstGeom prst="rect">
              <a:avLst/>
            </a:prstGeom>
            <a:solidFill>
              <a:srgbClr val="F28C28">
                <a:alpha val="35000"/>
              </a:srgbClr>
            </a:solidFill>
            <a:ln w="19050">
              <a:solidFill>
                <a:srgbClr val="F28C28"/>
              </a:solidFill>
              <a:prstDash val="dash"/>
            </a:ln>
          </p:spPr>
          <p:txBody>
            <a:bodyPr rtlCol="0" anchor="ctr"/>
            <a:lstStyle/>
            <a:p>
              <a:pPr algn="ctr"/>
              <a:endParaRPr/>
            </a:p>
          </p:txBody>
        </p:sp>
        <p:sp>
          <p:nvSpPr>
            <p:cNvPr id="85" name="Rectangle 84"/>
            <p:cNvSpPr/>
            <p:nvPr/>
          </p:nvSpPr>
          <p:spPr>
            <a:xfrm>
              <a:off x="8528791" y="4033418"/>
              <a:ext cx="374172" cy="39684"/>
            </a:xfrm>
            <a:prstGeom prst="rect">
              <a:avLst/>
            </a:prstGeom>
            <a:solidFill>
              <a:srgbClr val="1B1D21"/>
            </a:solidFill>
            <a:ln w="12700">
              <a:solidFill>
                <a:srgbClr val="9AA0A6"/>
              </a:solidFill>
            </a:ln>
          </p:spPr>
          <p:txBody>
            <a:bodyPr rtlCol="0" anchor="ctr"/>
            <a:lstStyle/>
            <a:p>
              <a:pPr algn="ctr"/>
              <a:endParaRPr/>
            </a:p>
          </p:txBody>
        </p:sp>
        <p:sp>
          <p:nvSpPr>
            <p:cNvPr id="86" name="Rectangle 85"/>
            <p:cNvSpPr/>
            <p:nvPr/>
          </p:nvSpPr>
          <p:spPr>
            <a:xfrm>
              <a:off x="8625169" y="4129796"/>
              <a:ext cx="147401" cy="113385"/>
            </a:xfrm>
            <a:prstGeom prst="rect">
              <a:avLst/>
            </a:prstGeom>
            <a:solidFill>
              <a:srgbClr val="1B1D21"/>
            </a:solidFill>
            <a:ln>
              <a:noFill/>
            </a:ln>
          </p:spPr>
          <p:txBody>
            <a:bodyPr rtlCol="0" anchor="ctr"/>
            <a:lstStyle/>
            <a:p>
              <a:pPr algn="ctr"/>
              <a:endParaRPr/>
            </a:p>
          </p:txBody>
        </p:sp>
        <p:sp>
          <p:nvSpPr>
            <p:cNvPr id="87" name="Rounded Rectangle 86"/>
            <p:cNvSpPr/>
            <p:nvPr/>
          </p:nvSpPr>
          <p:spPr>
            <a:xfrm>
              <a:off x="9756465" y="4161617"/>
              <a:ext cx="621792" cy="211409"/>
            </a:xfrm>
            <a:prstGeom prst="roundRect">
              <a:avLst>
                <a:gd name="adj" fmla="val 12975"/>
              </a:avLst>
            </a:prstGeom>
            <a:solidFill>
              <a:srgbClr val="2B2F36"/>
            </a:solidFill>
            <a:ln w="19050">
              <a:solidFill>
                <a:srgbClr val="F28C28"/>
              </a:solidFill>
              <a:prstDash val="dash"/>
            </a:ln>
          </p:spPr>
          <p:txBody>
            <a:bodyPr rtlCol="0" anchor="ctr"/>
            <a:lstStyle/>
            <a:p>
              <a:pPr algn="ctr"/>
              <a:endParaRPr/>
            </a:p>
          </p:txBody>
        </p:sp>
        <p:sp>
          <p:nvSpPr>
            <p:cNvPr id="88" name="Freeform 87"/>
            <p:cNvSpPr/>
            <p:nvPr/>
          </p:nvSpPr>
          <p:spPr>
            <a:xfrm>
              <a:off x="9806208" y="4074566"/>
              <a:ext cx="522305" cy="87051"/>
            </a:xfrm>
            <a:custGeom>
              <a:avLst/>
              <a:gdLst/>
              <a:ahLst/>
              <a:cxnLst/>
              <a:rect l="l" t="t" r="r" b="b"/>
              <a:pathLst>
                <a:path w="522305" h="87051">
                  <a:moveTo>
                    <a:pt x="0" y="87051"/>
                  </a:moveTo>
                  <a:lnTo>
                    <a:pt x="74615" y="12436"/>
                  </a:lnTo>
                  <a:lnTo>
                    <a:pt x="447690" y="0"/>
                  </a:lnTo>
                  <a:lnTo>
                    <a:pt x="522305" y="87051"/>
                  </a:lnTo>
                  <a:close/>
                </a:path>
              </a:pathLst>
            </a:custGeom>
            <a:solidFill>
              <a:srgbClr val="1B1D21"/>
            </a:solidFill>
            <a:ln w="12700">
              <a:solidFill>
                <a:srgbClr val="9AA0A6"/>
              </a:solidFill>
            </a:ln>
          </p:spPr>
          <p:txBody>
            <a:bodyPr rtlCol="0" anchor="ctr"/>
            <a:lstStyle/>
            <a:p>
              <a:pPr algn="ctr"/>
              <a:endParaRPr/>
            </a:p>
          </p:txBody>
        </p:sp>
        <p:sp>
          <p:nvSpPr>
            <p:cNvPr id="89" name="Oval 88"/>
            <p:cNvSpPr/>
            <p:nvPr/>
          </p:nvSpPr>
          <p:spPr>
            <a:xfrm>
              <a:off x="9855951" y="4422769"/>
              <a:ext cx="149230" cy="149230"/>
            </a:xfrm>
            <a:prstGeom prst="ellipse">
              <a:avLst/>
            </a:prstGeom>
            <a:solidFill>
              <a:srgbClr val="343A43"/>
            </a:solidFill>
            <a:ln w="12700">
              <a:solidFill>
                <a:srgbClr val="9AA0A6"/>
              </a:solidFill>
            </a:ln>
          </p:spPr>
          <p:txBody>
            <a:bodyPr rtlCol="0" anchor="ctr"/>
            <a:lstStyle/>
            <a:p>
              <a:pPr algn="ctr"/>
              <a:endParaRPr/>
            </a:p>
          </p:txBody>
        </p:sp>
        <p:sp>
          <p:nvSpPr>
            <p:cNvPr id="90" name="Oval 89"/>
            <p:cNvSpPr/>
            <p:nvPr/>
          </p:nvSpPr>
          <p:spPr>
            <a:xfrm>
              <a:off x="10129540" y="4422769"/>
              <a:ext cx="149230" cy="149230"/>
            </a:xfrm>
            <a:prstGeom prst="ellipse">
              <a:avLst/>
            </a:prstGeom>
            <a:solidFill>
              <a:srgbClr val="343A43"/>
            </a:solidFill>
            <a:ln w="12700">
              <a:solidFill>
                <a:srgbClr val="9AA0A6"/>
              </a:solidFill>
            </a:ln>
          </p:spPr>
          <p:txBody>
            <a:bodyPr rtlCol="0" anchor="ctr"/>
            <a:lstStyle/>
            <a:p>
              <a:pPr algn="ctr"/>
              <a:endParaRPr/>
            </a:p>
          </p:txBody>
        </p:sp>
        <p:cxnSp>
          <p:nvCxnSpPr>
            <p:cNvPr id="91" name="Connector 90"/>
            <p:cNvCxnSpPr/>
            <p:nvPr/>
          </p:nvCxnSpPr>
          <p:spPr>
            <a:xfrm>
              <a:off x="10378257" y="4335719"/>
              <a:ext cx="49743" cy="0"/>
            </a:xfrm>
            <a:prstGeom prst="line">
              <a:avLst/>
            </a:prstGeom>
            <a:ln w="25400">
              <a:solidFill>
                <a:srgbClr val="9AA0A6"/>
              </a:solidFill>
            </a:ln>
          </p:spPr>
        </p:cxnSp>
        <p:sp>
          <p:nvSpPr>
            <p:cNvPr id="92" name="Rectangle 91"/>
            <p:cNvSpPr/>
            <p:nvPr/>
          </p:nvSpPr>
          <p:spPr>
            <a:xfrm>
              <a:off x="10428000" y="4335719"/>
              <a:ext cx="1181404" cy="62179"/>
            </a:xfrm>
            <a:prstGeom prst="rect">
              <a:avLst/>
            </a:prstGeom>
            <a:solidFill>
              <a:srgbClr val="1B1D21"/>
            </a:solidFill>
            <a:ln w="12700">
              <a:solidFill>
                <a:srgbClr val="9AA0A6"/>
              </a:solidFill>
            </a:ln>
          </p:spPr>
          <p:txBody>
            <a:bodyPr rtlCol="0" anchor="ctr"/>
            <a:lstStyle/>
            <a:p>
              <a:pPr algn="ctr"/>
              <a:endParaRPr/>
            </a:p>
          </p:txBody>
        </p:sp>
        <p:sp>
          <p:nvSpPr>
            <p:cNvPr id="93" name="Oval 92"/>
            <p:cNvSpPr/>
            <p:nvPr/>
          </p:nvSpPr>
          <p:spPr>
            <a:xfrm>
              <a:off x="10508833" y="4385462"/>
              <a:ext cx="186537" cy="186537"/>
            </a:xfrm>
            <a:prstGeom prst="ellipse">
              <a:avLst/>
            </a:prstGeom>
            <a:solidFill>
              <a:srgbClr val="343A43"/>
            </a:solidFill>
            <a:ln w="15875">
              <a:solidFill>
                <a:srgbClr val="9AA0A6"/>
              </a:solidFill>
            </a:ln>
          </p:spPr>
          <p:txBody>
            <a:bodyPr rtlCol="0" anchor="ctr"/>
            <a:lstStyle/>
            <a:p>
              <a:pPr algn="ctr"/>
              <a:endParaRPr/>
            </a:p>
          </p:txBody>
        </p:sp>
        <p:sp>
          <p:nvSpPr>
            <p:cNvPr id="94" name="Oval 93"/>
            <p:cNvSpPr/>
            <p:nvPr/>
          </p:nvSpPr>
          <p:spPr>
            <a:xfrm>
              <a:off x="10583448" y="4460077"/>
              <a:ext cx="37307" cy="37307"/>
            </a:xfrm>
            <a:prstGeom prst="ellipse">
              <a:avLst/>
            </a:prstGeom>
            <a:solidFill>
              <a:srgbClr val="9AA0A6"/>
            </a:solidFill>
            <a:ln>
              <a:noFill/>
            </a:ln>
          </p:spPr>
          <p:txBody>
            <a:bodyPr rtlCol="0" anchor="ctr"/>
            <a:lstStyle/>
            <a:p>
              <a:pPr algn="ctr"/>
              <a:endParaRPr/>
            </a:p>
          </p:txBody>
        </p:sp>
        <p:sp>
          <p:nvSpPr>
            <p:cNvPr id="95" name="Oval 94"/>
            <p:cNvSpPr/>
            <p:nvPr/>
          </p:nvSpPr>
          <p:spPr>
            <a:xfrm>
              <a:off x="10742005" y="4385462"/>
              <a:ext cx="186537" cy="186537"/>
            </a:xfrm>
            <a:prstGeom prst="ellipse">
              <a:avLst/>
            </a:prstGeom>
            <a:solidFill>
              <a:srgbClr val="343A43"/>
            </a:solidFill>
            <a:ln w="15875">
              <a:solidFill>
                <a:srgbClr val="9AA0A6"/>
              </a:solidFill>
            </a:ln>
          </p:spPr>
          <p:txBody>
            <a:bodyPr rtlCol="0" anchor="ctr"/>
            <a:lstStyle/>
            <a:p>
              <a:pPr algn="ctr"/>
              <a:endParaRPr/>
            </a:p>
          </p:txBody>
        </p:sp>
        <p:sp>
          <p:nvSpPr>
            <p:cNvPr id="96" name="Oval 95"/>
            <p:cNvSpPr/>
            <p:nvPr/>
          </p:nvSpPr>
          <p:spPr>
            <a:xfrm>
              <a:off x="10816620" y="4460077"/>
              <a:ext cx="37307" cy="37307"/>
            </a:xfrm>
            <a:prstGeom prst="ellipse">
              <a:avLst/>
            </a:prstGeom>
            <a:solidFill>
              <a:srgbClr val="9AA0A6"/>
            </a:solidFill>
            <a:ln>
              <a:noFill/>
            </a:ln>
          </p:spPr>
          <p:txBody>
            <a:bodyPr rtlCol="0" anchor="ctr"/>
            <a:lstStyle/>
            <a:p>
              <a:pPr algn="ctr"/>
              <a:endParaRPr/>
            </a:p>
          </p:txBody>
        </p:sp>
        <p:sp>
          <p:nvSpPr>
            <p:cNvPr id="97" name="Oval 96"/>
            <p:cNvSpPr/>
            <p:nvPr/>
          </p:nvSpPr>
          <p:spPr>
            <a:xfrm>
              <a:off x="10975177" y="4385462"/>
              <a:ext cx="186537" cy="186537"/>
            </a:xfrm>
            <a:prstGeom prst="ellipse">
              <a:avLst/>
            </a:prstGeom>
            <a:solidFill>
              <a:srgbClr val="343A43"/>
            </a:solidFill>
            <a:ln w="15875">
              <a:solidFill>
                <a:srgbClr val="9AA0A6"/>
              </a:solidFill>
            </a:ln>
          </p:spPr>
          <p:txBody>
            <a:bodyPr rtlCol="0" anchor="ctr"/>
            <a:lstStyle/>
            <a:p>
              <a:pPr algn="ctr"/>
              <a:endParaRPr/>
            </a:p>
          </p:txBody>
        </p:sp>
        <p:sp>
          <p:nvSpPr>
            <p:cNvPr id="98" name="Oval 97"/>
            <p:cNvSpPr/>
            <p:nvPr/>
          </p:nvSpPr>
          <p:spPr>
            <a:xfrm>
              <a:off x="11049792" y="4460077"/>
              <a:ext cx="37307" cy="37307"/>
            </a:xfrm>
            <a:prstGeom prst="ellipse">
              <a:avLst/>
            </a:prstGeom>
            <a:solidFill>
              <a:srgbClr val="9AA0A6"/>
            </a:solidFill>
            <a:ln>
              <a:noFill/>
            </a:ln>
          </p:spPr>
          <p:txBody>
            <a:bodyPr rtlCol="0" anchor="ctr"/>
            <a:lstStyle/>
            <a:p>
              <a:pPr algn="ctr"/>
              <a:endParaRPr/>
            </a:p>
          </p:txBody>
        </p:sp>
        <p:sp>
          <p:nvSpPr>
            <p:cNvPr id="99" name="Oval 98"/>
            <p:cNvSpPr/>
            <p:nvPr/>
          </p:nvSpPr>
          <p:spPr>
            <a:xfrm>
              <a:off x="11208349" y="4385462"/>
              <a:ext cx="186537" cy="186537"/>
            </a:xfrm>
            <a:prstGeom prst="ellipse">
              <a:avLst/>
            </a:prstGeom>
            <a:solidFill>
              <a:srgbClr val="343A43"/>
            </a:solidFill>
            <a:ln w="15875">
              <a:solidFill>
                <a:srgbClr val="9AA0A6"/>
              </a:solidFill>
            </a:ln>
          </p:spPr>
          <p:txBody>
            <a:bodyPr rtlCol="0" anchor="ctr"/>
            <a:lstStyle/>
            <a:p>
              <a:pPr algn="ctr"/>
              <a:endParaRPr/>
            </a:p>
          </p:txBody>
        </p:sp>
        <p:sp>
          <p:nvSpPr>
            <p:cNvPr id="100" name="Oval 99"/>
            <p:cNvSpPr/>
            <p:nvPr/>
          </p:nvSpPr>
          <p:spPr>
            <a:xfrm>
              <a:off x="11282964" y="4460077"/>
              <a:ext cx="37307" cy="37307"/>
            </a:xfrm>
            <a:prstGeom prst="ellipse">
              <a:avLst/>
            </a:prstGeom>
            <a:solidFill>
              <a:srgbClr val="9AA0A6"/>
            </a:solidFill>
            <a:ln>
              <a:noFill/>
            </a:ln>
          </p:spPr>
          <p:txBody>
            <a:bodyPr rtlCol="0" anchor="ctr"/>
            <a:lstStyle/>
            <a:p>
              <a:pPr algn="ctr"/>
              <a:endParaRPr/>
            </a:p>
          </p:txBody>
        </p:sp>
        <p:sp>
          <p:nvSpPr>
            <p:cNvPr id="101" name="Oval 100"/>
            <p:cNvSpPr/>
            <p:nvPr/>
          </p:nvSpPr>
          <p:spPr>
            <a:xfrm>
              <a:off x="11441521" y="4385462"/>
              <a:ext cx="186537" cy="186537"/>
            </a:xfrm>
            <a:prstGeom prst="ellipse">
              <a:avLst/>
            </a:prstGeom>
            <a:solidFill>
              <a:srgbClr val="343A43"/>
            </a:solidFill>
            <a:ln w="15875">
              <a:solidFill>
                <a:srgbClr val="9AA0A6"/>
              </a:solidFill>
            </a:ln>
          </p:spPr>
          <p:txBody>
            <a:bodyPr rtlCol="0" anchor="ctr"/>
            <a:lstStyle/>
            <a:p>
              <a:pPr algn="ctr"/>
              <a:endParaRPr/>
            </a:p>
          </p:txBody>
        </p:sp>
        <p:sp>
          <p:nvSpPr>
            <p:cNvPr id="102" name="Oval 101"/>
            <p:cNvSpPr/>
            <p:nvPr/>
          </p:nvSpPr>
          <p:spPr>
            <a:xfrm>
              <a:off x="11516136" y="4460077"/>
              <a:ext cx="37307" cy="37307"/>
            </a:xfrm>
            <a:prstGeom prst="ellipse">
              <a:avLst/>
            </a:prstGeom>
            <a:solidFill>
              <a:srgbClr val="9AA0A6"/>
            </a:solidFill>
            <a:ln>
              <a:noFill/>
            </a:ln>
          </p:spPr>
          <p:txBody>
            <a:bodyPr rtlCol="0" anchor="ctr"/>
            <a:lstStyle/>
            <a:p>
              <a:pPr algn="ctr"/>
              <a:endParaRPr/>
            </a:p>
          </p:txBody>
        </p:sp>
        <p:cxnSp>
          <p:nvCxnSpPr>
            <p:cNvPr id="103" name="Connector 102"/>
            <p:cNvCxnSpPr/>
            <p:nvPr/>
          </p:nvCxnSpPr>
          <p:spPr>
            <a:xfrm>
              <a:off x="10602102" y="4478731"/>
              <a:ext cx="932688" cy="0"/>
            </a:xfrm>
            <a:prstGeom prst="line">
              <a:avLst/>
            </a:prstGeom>
            <a:ln w="19050">
              <a:solidFill>
                <a:srgbClr val="9AA0A6"/>
              </a:solidFill>
            </a:ln>
          </p:spPr>
        </p:cxnSp>
        <p:sp>
          <p:nvSpPr>
            <p:cNvPr id="104" name="Rounded Rectangle 103"/>
            <p:cNvSpPr/>
            <p:nvPr/>
          </p:nvSpPr>
          <p:spPr>
            <a:xfrm>
              <a:off x="10801075" y="4099438"/>
              <a:ext cx="808329" cy="236280"/>
            </a:xfrm>
            <a:prstGeom prst="roundRect">
              <a:avLst>
                <a:gd name="adj" fmla="val 23219"/>
              </a:avLst>
            </a:prstGeom>
            <a:solidFill>
              <a:srgbClr val="F28C28">
                <a:alpha val="35000"/>
              </a:srgbClr>
            </a:solidFill>
            <a:ln w="19050">
              <a:solidFill>
                <a:srgbClr val="F28C28"/>
              </a:solidFill>
              <a:prstDash val="dash"/>
            </a:ln>
          </p:spPr>
          <p:txBody>
            <a:bodyPr rtlCol="0" anchor="ctr"/>
            <a:lstStyle/>
            <a:p>
              <a:pPr algn="ctr"/>
              <a:endParaRPr/>
            </a:p>
          </p:txBody>
        </p:sp>
        <p:sp>
          <p:nvSpPr>
            <p:cNvPr id="105" name="Rectangle 104"/>
            <p:cNvSpPr/>
            <p:nvPr/>
          </p:nvSpPr>
          <p:spPr>
            <a:xfrm>
              <a:off x="11497482" y="4099438"/>
              <a:ext cx="111922" cy="236280"/>
            </a:xfrm>
            <a:prstGeom prst="rect">
              <a:avLst/>
            </a:prstGeom>
            <a:solidFill>
              <a:srgbClr val="1B1D21"/>
            </a:solidFill>
            <a:ln w="12700">
              <a:solidFill>
                <a:srgbClr val="9AA0A6"/>
              </a:solidFill>
            </a:ln>
          </p:spPr>
          <p:txBody>
            <a:bodyPr rtlCol="0" anchor="ctr"/>
            <a:lstStyle/>
            <a:p>
              <a:pPr algn="ctr"/>
              <a:endParaRPr/>
            </a:p>
          </p:txBody>
        </p:sp>
        <p:sp>
          <p:nvSpPr>
            <p:cNvPr id="106" name="Rectangle 105"/>
            <p:cNvSpPr/>
            <p:nvPr/>
          </p:nvSpPr>
          <p:spPr>
            <a:xfrm>
              <a:off x="11522354" y="3987515"/>
              <a:ext cx="62179" cy="124358"/>
            </a:xfrm>
            <a:prstGeom prst="rect">
              <a:avLst/>
            </a:prstGeom>
            <a:solidFill>
              <a:srgbClr val="1B1D21"/>
            </a:solidFill>
            <a:ln w="12700">
              <a:solidFill>
                <a:srgbClr val="9AA0A6"/>
              </a:solidFill>
            </a:ln>
          </p:spPr>
          <p:txBody>
            <a:bodyPr rtlCol="0" anchor="ctr"/>
            <a:lstStyle/>
            <a:p>
              <a:pPr algn="ctr"/>
              <a:endParaRPr/>
            </a:p>
          </p:txBody>
        </p:sp>
        <p:sp>
          <p:nvSpPr>
            <p:cNvPr id="107" name="Rectangle 106"/>
            <p:cNvSpPr/>
            <p:nvPr/>
          </p:nvSpPr>
          <p:spPr>
            <a:xfrm>
              <a:off x="11497482" y="3962643"/>
              <a:ext cx="111922" cy="37307"/>
            </a:xfrm>
            <a:prstGeom prst="rect">
              <a:avLst/>
            </a:prstGeom>
            <a:solidFill>
              <a:srgbClr val="1B1D21"/>
            </a:solidFill>
            <a:ln w="12700">
              <a:solidFill>
                <a:srgbClr val="9AA0A6"/>
              </a:solidFill>
            </a:ln>
          </p:spPr>
          <p:txBody>
            <a:bodyPr rtlCol="0" anchor="ctr"/>
            <a:lstStyle/>
            <a:p>
              <a:pPr algn="ctr"/>
              <a:endParaRPr/>
            </a:p>
          </p:txBody>
        </p:sp>
        <p:sp>
          <p:nvSpPr>
            <p:cNvPr id="108" name="Rounded Rectangle 107"/>
            <p:cNvSpPr/>
            <p:nvPr/>
          </p:nvSpPr>
          <p:spPr>
            <a:xfrm>
              <a:off x="10987613" y="4037258"/>
              <a:ext cx="124358" cy="74615"/>
            </a:xfrm>
            <a:prstGeom prst="roundRect">
              <a:avLst>
                <a:gd name="adj" fmla="val 49019"/>
              </a:avLst>
            </a:prstGeom>
            <a:solidFill>
              <a:srgbClr val="F28C28">
                <a:alpha val="35000"/>
              </a:srgbClr>
            </a:solidFill>
            <a:ln w="12700">
              <a:solidFill>
                <a:srgbClr val="F28C28"/>
              </a:solidFill>
              <a:prstDash val="dash"/>
            </a:ln>
          </p:spPr>
          <p:txBody>
            <a:bodyPr rtlCol="0" anchor="ctr"/>
            <a:lstStyle/>
            <a:p>
              <a:pPr algn="ctr"/>
              <a:endParaRPr/>
            </a:p>
          </p:txBody>
        </p:sp>
        <p:sp>
          <p:nvSpPr>
            <p:cNvPr id="109" name="Rectangle 108"/>
            <p:cNvSpPr/>
            <p:nvPr/>
          </p:nvSpPr>
          <p:spPr>
            <a:xfrm>
              <a:off x="10428000" y="4012387"/>
              <a:ext cx="373075" cy="335767"/>
            </a:xfrm>
            <a:prstGeom prst="rect">
              <a:avLst/>
            </a:prstGeom>
            <a:solidFill>
              <a:srgbClr val="F28C28">
                <a:alpha val="35000"/>
              </a:srgbClr>
            </a:solidFill>
            <a:ln w="19050">
              <a:solidFill>
                <a:srgbClr val="F28C28"/>
              </a:solidFill>
              <a:prstDash val="dash"/>
            </a:ln>
          </p:spPr>
          <p:txBody>
            <a:bodyPr rtlCol="0" anchor="ctr"/>
            <a:lstStyle/>
            <a:p>
              <a:pPr algn="ctr"/>
              <a:endParaRPr/>
            </a:p>
          </p:txBody>
        </p:sp>
        <p:sp>
          <p:nvSpPr>
            <p:cNvPr id="110" name="Rectangle 109"/>
            <p:cNvSpPr/>
            <p:nvPr/>
          </p:nvSpPr>
          <p:spPr>
            <a:xfrm>
              <a:off x="10409346" y="3981297"/>
              <a:ext cx="410382" cy="43525"/>
            </a:xfrm>
            <a:prstGeom prst="rect">
              <a:avLst/>
            </a:prstGeom>
            <a:solidFill>
              <a:srgbClr val="1B1D21"/>
            </a:solidFill>
            <a:ln w="12700">
              <a:solidFill>
                <a:srgbClr val="9AA0A6"/>
              </a:solidFill>
            </a:ln>
          </p:spPr>
          <p:txBody>
            <a:bodyPr rtlCol="0" anchor="ctr"/>
            <a:lstStyle/>
            <a:p>
              <a:pPr algn="ctr"/>
              <a:endParaRPr/>
            </a:p>
          </p:txBody>
        </p:sp>
        <p:sp>
          <p:nvSpPr>
            <p:cNvPr id="111" name="Rectangle 110"/>
            <p:cNvSpPr/>
            <p:nvPr/>
          </p:nvSpPr>
          <p:spPr>
            <a:xfrm>
              <a:off x="10515051" y="4087002"/>
              <a:ext cx="161665" cy="124358"/>
            </a:xfrm>
            <a:prstGeom prst="rect">
              <a:avLst/>
            </a:prstGeom>
            <a:solidFill>
              <a:srgbClr val="1B1D21"/>
            </a:solidFill>
            <a:ln>
              <a:noFill/>
            </a:ln>
          </p:spPr>
          <p:txBody>
            <a:bodyPr rtlCol="0" anchor="ctr"/>
            <a:lstStyle/>
            <a:p>
              <a:pPr algn="ctr"/>
              <a:endParaRPr/>
            </a:p>
          </p:txBody>
        </p:sp>
      </p:grpSp>
      <p:sp>
        <p:nvSpPr>
          <p:cNvPr id="112" name="Inline chip: Undecided"/>
          <p:cNvSpPr/>
          <p:nvPr/>
        </p:nvSpPr>
        <p:spPr>
          <a:xfrm>
            <a:off x="2194560" y="5029200"/>
            <a:ext cx="3038056"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Exact stages: undecided (OQ20)</a:t>
            </a:r>
            <a:endParaRPr lang="en-GB" sz="1400"/>
          </a:p>
        </p:txBody>
      </p:sp>
      <p:sp>
        <p:nvSpPr>
          <p:cNvPr id="113"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Owning a pack does not skip the game. Its engines unlock alongside the core ones.</a:t>
            </a:r>
            <a:endParaRPr lang="en-GB" sz="2000"/>
          </a:p>
        </p:txBody>
      </p:sp>
      <p:sp>
        <p:nvSpPr>
          <p:cNvPr id="114"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115"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16</a:t>
            </a:r>
            <a:endParaRPr lang="en-GB" sz="1400"/>
          </a:p>
        </p:txBody>
      </p:sp>
    </p:spTree>
    <p:extLst>
      <p:ext uri="{BB962C8B-B14F-4D97-AF65-F5344CB8AC3E}">
        <p14:creationId xmlns:p14="http://schemas.microsoft.com/office/powerpoint/2010/main" val="12280512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4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6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nodeType="withEffect">
                                  <p:stCondLst>
                                    <p:cond delay="8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10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nodeType="withEffect">
                                  <p:stCondLst>
                                    <p:cond delay="1200"/>
                                  </p:stCondLst>
                                  <p:childTnLst>
                                    <p:set>
                                      <p:cBhvr>
                                        <p:cTn id="24" dur="1" fill="hold">
                                          <p:stCondLst>
                                            <p:cond delay="0"/>
                                          </p:stCondLst>
                                        </p:cTn>
                                        <p:tgtEl>
                                          <p:spTgt spid="112"/>
                                        </p:tgtEl>
                                        <p:attrNameLst>
                                          <p:attrName>style.visibility</p:attrName>
                                        </p:attrNameLst>
                                      </p:cBhvr>
                                      <p:to>
                                        <p:strVal val="visible"/>
                                      </p:to>
                                    </p:set>
                                    <p:animEffect transition="in" filter="fade">
                                      <p:cBhvr>
                                        <p:cTn id="25" dur="500"/>
                                        <p:tgtEl>
                                          <p:spTgt spid="112"/>
                                        </p:tgtEl>
                                      </p:cBhvr>
                                    </p:animEffect>
                                  </p:childTnLst>
                                </p:cTn>
                              </p:par>
                              <p:par>
                                <p:cTn id="26" presetID="10" presetClass="entr" presetSubtype="0" fill="hold" nodeType="withEffect">
                                  <p:stCondLst>
                                    <p:cond delay="1400"/>
                                  </p:stCondLst>
                                  <p:childTnLst>
                                    <p:set>
                                      <p:cBhvr>
                                        <p:cTn id="27" dur="1" fill="hold">
                                          <p:stCondLst>
                                            <p:cond delay="0"/>
                                          </p:stCondLst>
                                        </p:cTn>
                                        <p:tgtEl>
                                          <p:spTgt spid="113"/>
                                        </p:tgtEl>
                                        <p:attrNameLst>
                                          <p:attrName>style.visibility</p:attrName>
                                        </p:attrNameLst>
                                      </p:cBhvr>
                                      <p:to>
                                        <p:strVal val="visible"/>
                                      </p:to>
                                    </p:set>
                                    <p:animEffect transition="in" filter="fade">
                                      <p:cBhvr>
                                        <p:cTn id="28" dur="500"/>
                                        <p:tgtEl>
                                          <p:spTgt spid="113"/>
                                        </p:tgtEl>
                                      </p:cBhvr>
                                    </p:animEffect>
                                  </p:childTnLst>
                                </p:cTn>
                              </p:par>
                              <p:par>
                                <p:cTn id="29" presetID="10" presetClass="entr" presetSubtype="0" fill="hold" nodeType="withEffect">
                                  <p:stCondLst>
                                    <p:cond delay="1600"/>
                                  </p:stCondLst>
                                  <p:childTnLst>
                                    <p:set>
                                      <p:cBhvr>
                                        <p:cTn id="30" dur="1" fill="hold">
                                          <p:stCondLst>
                                            <p:cond delay="0"/>
                                          </p:stCondLst>
                                        </p:cTn>
                                        <p:tgtEl>
                                          <p:spTgt spid="114"/>
                                        </p:tgtEl>
                                        <p:attrNameLst>
                                          <p:attrName>style.visibility</p:attrName>
                                        </p:attrNameLst>
                                      </p:cBhvr>
                                      <p:to>
                                        <p:strVal val="visible"/>
                                      </p:to>
                                    </p:set>
                                    <p:animEffect transition="in" filter="fade">
                                      <p:cBhvr>
                                        <p:cTn id="31"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Where do the unlocks live?</a:t>
            </a:r>
            <a:endParaRPr lang="en-GB" sz="3600"/>
          </a:p>
        </p:txBody>
      </p:sp>
      <p:sp>
        <p:nvSpPr>
          <p:cNvPr id="3" name="Status chip: Proposed"/>
          <p:cNvSpPr/>
          <p:nvPr/>
        </p:nvSpPr>
        <p:spPr>
          <a:xfrm>
            <a:off x="10241280" y="457200"/>
            <a:ext cx="1371600" cy="365760"/>
          </a:xfrm>
          <a:prstGeom prst="roundRect">
            <a:avLst>
              <a:gd name="adj" fmla="val 25000"/>
            </a:avLst>
          </a:prstGeom>
          <a:solidFill>
            <a:srgbClr val="B084F5"/>
          </a:solidFill>
          <a:ln>
            <a:noFill/>
          </a:ln>
        </p:spPr>
        <p:txBody>
          <a:bodyPr wrap="none" lIns="0" tIns="0" rIns="0" bIns="0" rtlCol="0" anchor="ctr">
            <a:noAutofit/>
          </a:bodyPr>
          <a:lstStyle/>
          <a:p>
            <a:pPr algn="ctr"/>
            <a:r>
              <a:rPr lang="en-GB" sz="1400" b="1" i="0">
                <a:solidFill>
                  <a:srgbClr val="101418"/>
                </a:solidFill>
                <a:latin typeface="Arial"/>
              </a:rPr>
              <a:t>PROPOSED</a:t>
            </a:r>
            <a:endParaRPr lang="en-GB" sz="1400"/>
          </a:p>
        </p:txBody>
      </p:sp>
      <p:grpSp>
        <p:nvGrpSpPr>
          <p:cNvPr id="4" name="Option: Inside existing milestones" descr="Option one: Inside existing milestones. Pack unlock tags sit inside the normal Core milestone boxes."/>
          <p:cNvGrpSpPr/>
          <p:nvPr/>
        </p:nvGrpSpPr>
        <p:grpSpPr>
          <a:xfrm>
            <a:off x="822960" y="1417320"/>
            <a:ext cx="5120640" cy="3154680"/>
            <a:chOff x="822960" y="1417320"/>
            <a:chExt cx="5120640" cy="3154680"/>
          </a:xfrm>
        </p:grpSpPr>
        <p:sp>
          <p:nvSpPr>
            <p:cNvPr id="5" name="Rounded Rectangle 4"/>
            <p:cNvSpPr/>
            <p:nvPr/>
          </p:nvSpPr>
          <p:spPr>
            <a:xfrm>
              <a:off x="822960" y="1417320"/>
              <a:ext cx="5120640" cy="3154680"/>
            </a:xfrm>
            <a:prstGeom prst="roundRect">
              <a:avLst>
                <a:gd name="adj" fmla="val 2318"/>
              </a:avLst>
            </a:prstGeom>
            <a:solidFill>
              <a:srgbClr val="2B2F36"/>
            </a:solidFill>
            <a:ln w="19050">
              <a:solidFill>
                <a:srgbClr val="4A515B"/>
              </a:solidFill>
            </a:ln>
          </p:spPr>
          <p:txBody>
            <a:bodyPr rtlCol="0" anchor="ctr"/>
            <a:lstStyle/>
            <a:p>
              <a:pPr algn="ctr"/>
              <a:endParaRPr/>
            </a:p>
          </p:txBody>
        </p:sp>
        <p:sp>
          <p:nvSpPr>
            <p:cNvPr id="6" name="TextBox 5"/>
            <p:cNvSpPr txBox="1"/>
            <p:nvPr/>
          </p:nvSpPr>
          <p:spPr>
            <a:xfrm>
              <a:off x="1097280" y="1554480"/>
              <a:ext cx="4572000" cy="457200"/>
            </a:xfrm>
            <a:prstGeom prst="rect">
              <a:avLst/>
            </a:prstGeom>
            <a:noFill/>
          </p:spPr>
          <p:txBody>
            <a:bodyPr wrap="square" lIns="0" tIns="0" rIns="0" bIns="0" anchor="ctr">
              <a:noAutofit/>
            </a:bodyPr>
            <a:lstStyle/>
            <a:p>
              <a:pPr algn="l"/>
              <a:r>
                <a:rPr lang="en-GB" sz="2000" b="1" i="0">
                  <a:solidFill>
                    <a:srgbClr val="F2F2F2"/>
                  </a:solidFill>
                  <a:latin typeface="Arial"/>
                </a:rPr>
                <a:t>Inside existing milestones</a:t>
              </a:r>
              <a:endParaRPr lang="en-GB" sz="2000"/>
            </a:p>
          </p:txBody>
        </p:sp>
        <p:sp>
          <p:nvSpPr>
            <p:cNvPr id="7" name="Rounded Rectangle 6"/>
            <p:cNvSpPr/>
            <p:nvPr/>
          </p:nvSpPr>
          <p:spPr>
            <a:xfrm>
              <a:off x="1234440" y="2240280"/>
              <a:ext cx="4297680" cy="502920"/>
            </a:xfrm>
            <a:prstGeom prst="roundRect">
              <a:avLst>
                <a:gd name="adj" fmla="val 10909"/>
              </a:avLst>
            </a:prstGeom>
            <a:solidFill>
              <a:srgbClr val="343A43"/>
            </a:solidFill>
            <a:ln w="19050">
              <a:solidFill>
                <a:srgbClr val="9AA0A6"/>
              </a:solidFill>
            </a:ln>
          </p:spPr>
          <p:txBody>
            <a:bodyPr rtlCol="0" anchor="ctr"/>
            <a:lstStyle/>
            <a:p>
              <a:pPr algn="ctr"/>
              <a:endParaRPr/>
            </a:p>
          </p:txBody>
        </p:sp>
        <p:sp>
          <p:nvSpPr>
            <p:cNvPr id="8" name="Rounded Rectangle 7"/>
            <p:cNvSpPr/>
            <p:nvPr/>
          </p:nvSpPr>
          <p:spPr>
            <a:xfrm>
              <a:off x="1371600" y="2446020"/>
              <a:ext cx="1504188" cy="91440"/>
            </a:xfrm>
            <a:prstGeom prst="roundRect">
              <a:avLst>
                <a:gd name="adj" fmla="val 50000"/>
              </a:avLst>
            </a:prstGeom>
            <a:solidFill>
              <a:srgbClr val="A9B0B8"/>
            </a:solidFill>
            <a:ln>
              <a:noFill/>
            </a:ln>
          </p:spPr>
          <p:txBody>
            <a:bodyPr rtlCol="0" anchor="ctr"/>
            <a:lstStyle/>
            <a:p>
              <a:pPr algn="ctr"/>
              <a:endParaRPr/>
            </a:p>
          </p:txBody>
        </p:sp>
        <p:sp>
          <p:nvSpPr>
            <p:cNvPr id="9" name="Rounded Rectangle 8"/>
            <p:cNvSpPr/>
            <p:nvPr/>
          </p:nvSpPr>
          <p:spPr>
            <a:xfrm>
              <a:off x="4553712" y="2331720"/>
              <a:ext cx="868680" cy="320040"/>
            </a:xfrm>
            <a:prstGeom prst="roundRect">
              <a:avLst>
                <a:gd name="adj" fmla="val 14285"/>
              </a:avLst>
            </a:prstGeom>
            <a:solidFill>
              <a:srgbClr val="F28C28">
                <a:alpha val="22000"/>
              </a:srgbClr>
            </a:solidFill>
            <a:ln w="19050">
              <a:solidFill>
                <a:srgbClr val="F28C28"/>
              </a:solidFill>
              <a:prstDash val="dash"/>
            </a:ln>
          </p:spPr>
          <p:txBody>
            <a:bodyPr rtlCol="0" anchor="ctr"/>
            <a:lstStyle/>
            <a:p>
              <a:pPr algn="ctr"/>
              <a:endParaRPr/>
            </a:p>
          </p:txBody>
        </p:sp>
        <p:sp>
          <p:nvSpPr>
            <p:cNvPr id="10" name="Rounded Rectangle 9"/>
            <p:cNvSpPr/>
            <p:nvPr/>
          </p:nvSpPr>
          <p:spPr>
            <a:xfrm>
              <a:off x="1234440" y="2971800"/>
              <a:ext cx="4297680" cy="502920"/>
            </a:xfrm>
            <a:prstGeom prst="roundRect">
              <a:avLst>
                <a:gd name="adj" fmla="val 10909"/>
              </a:avLst>
            </a:prstGeom>
            <a:solidFill>
              <a:srgbClr val="343A43"/>
            </a:solidFill>
            <a:ln w="19050">
              <a:solidFill>
                <a:srgbClr val="9AA0A6"/>
              </a:solidFill>
            </a:ln>
          </p:spPr>
          <p:txBody>
            <a:bodyPr rtlCol="0" anchor="ctr"/>
            <a:lstStyle/>
            <a:p>
              <a:pPr algn="ctr"/>
              <a:endParaRPr/>
            </a:p>
          </p:txBody>
        </p:sp>
        <p:sp>
          <p:nvSpPr>
            <p:cNvPr id="11" name="Rounded Rectangle 10"/>
            <p:cNvSpPr/>
            <p:nvPr/>
          </p:nvSpPr>
          <p:spPr>
            <a:xfrm>
              <a:off x="1371600" y="3177540"/>
              <a:ext cx="1504188" cy="91440"/>
            </a:xfrm>
            <a:prstGeom prst="roundRect">
              <a:avLst>
                <a:gd name="adj" fmla="val 50000"/>
              </a:avLst>
            </a:prstGeom>
            <a:solidFill>
              <a:srgbClr val="A9B0B8"/>
            </a:solidFill>
            <a:ln>
              <a:noFill/>
            </a:ln>
          </p:spPr>
          <p:txBody>
            <a:bodyPr rtlCol="0" anchor="ctr"/>
            <a:lstStyle/>
            <a:p>
              <a:pPr algn="ctr"/>
              <a:endParaRPr/>
            </a:p>
          </p:txBody>
        </p:sp>
        <p:sp>
          <p:nvSpPr>
            <p:cNvPr id="12" name="Rounded Rectangle 11"/>
            <p:cNvSpPr/>
            <p:nvPr/>
          </p:nvSpPr>
          <p:spPr>
            <a:xfrm>
              <a:off x="4553712" y="3063240"/>
              <a:ext cx="868680" cy="320040"/>
            </a:xfrm>
            <a:prstGeom prst="roundRect">
              <a:avLst>
                <a:gd name="adj" fmla="val 14285"/>
              </a:avLst>
            </a:prstGeom>
            <a:solidFill>
              <a:srgbClr val="F28C28">
                <a:alpha val="22000"/>
              </a:srgbClr>
            </a:solidFill>
            <a:ln w="19050">
              <a:solidFill>
                <a:srgbClr val="F28C28"/>
              </a:solidFill>
              <a:prstDash val="dash"/>
            </a:ln>
          </p:spPr>
          <p:txBody>
            <a:bodyPr rtlCol="0" anchor="ctr"/>
            <a:lstStyle/>
            <a:p>
              <a:pPr algn="ctr"/>
              <a:endParaRPr/>
            </a:p>
          </p:txBody>
        </p:sp>
        <p:sp>
          <p:nvSpPr>
            <p:cNvPr id="13" name="Rounded Rectangle 12"/>
            <p:cNvSpPr/>
            <p:nvPr/>
          </p:nvSpPr>
          <p:spPr>
            <a:xfrm>
              <a:off x="1234440" y="3703320"/>
              <a:ext cx="4297680" cy="502920"/>
            </a:xfrm>
            <a:prstGeom prst="roundRect">
              <a:avLst>
                <a:gd name="adj" fmla="val 10909"/>
              </a:avLst>
            </a:prstGeom>
            <a:solidFill>
              <a:srgbClr val="343A43"/>
            </a:solidFill>
            <a:ln w="19050">
              <a:solidFill>
                <a:srgbClr val="9AA0A6"/>
              </a:solidFill>
            </a:ln>
          </p:spPr>
          <p:txBody>
            <a:bodyPr rtlCol="0" anchor="ctr"/>
            <a:lstStyle/>
            <a:p>
              <a:pPr algn="ctr"/>
              <a:endParaRPr/>
            </a:p>
          </p:txBody>
        </p:sp>
        <p:sp>
          <p:nvSpPr>
            <p:cNvPr id="14" name="Rounded Rectangle 13"/>
            <p:cNvSpPr/>
            <p:nvPr/>
          </p:nvSpPr>
          <p:spPr>
            <a:xfrm>
              <a:off x="1371600" y="3909060"/>
              <a:ext cx="1504188" cy="91440"/>
            </a:xfrm>
            <a:prstGeom prst="roundRect">
              <a:avLst>
                <a:gd name="adj" fmla="val 50000"/>
              </a:avLst>
            </a:prstGeom>
            <a:solidFill>
              <a:srgbClr val="A9B0B8"/>
            </a:solidFill>
            <a:ln>
              <a:noFill/>
            </a:ln>
          </p:spPr>
          <p:txBody>
            <a:bodyPr rtlCol="0" anchor="ctr"/>
            <a:lstStyle/>
            <a:p>
              <a:pPr algn="ctr"/>
              <a:endParaRPr/>
            </a:p>
          </p:txBody>
        </p:sp>
        <p:sp>
          <p:nvSpPr>
            <p:cNvPr id="15" name="Rounded Rectangle 14"/>
            <p:cNvSpPr/>
            <p:nvPr/>
          </p:nvSpPr>
          <p:spPr>
            <a:xfrm>
              <a:off x="4553712" y="3794760"/>
              <a:ext cx="868680" cy="320040"/>
            </a:xfrm>
            <a:prstGeom prst="roundRect">
              <a:avLst>
                <a:gd name="adj" fmla="val 14285"/>
              </a:avLst>
            </a:prstGeom>
            <a:solidFill>
              <a:srgbClr val="F28C28">
                <a:alpha val="22000"/>
              </a:srgbClr>
            </a:solidFill>
            <a:ln w="19050">
              <a:solidFill>
                <a:srgbClr val="F28C28"/>
              </a:solidFill>
              <a:prstDash val="dash"/>
            </a:ln>
          </p:spPr>
          <p:txBody>
            <a:bodyPr rtlCol="0" anchor="ctr"/>
            <a:lstStyle/>
            <a:p>
              <a:pPr algn="ctr"/>
              <a:endParaRPr/>
            </a:p>
          </p:txBody>
        </p:sp>
      </p:grpSp>
      <p:grpSp>
        <p:nvGrpSpPr>
          <p:cNvPr id="16" name="Option: Separate labelled milestones" descr="Option two: Separate labelled milestones. Core milestones stay as they are, and a separate dashed column of milestones is labelled Pack."/>
          <p:cNvGrpSpPr/>
          <p:nvPr/>
        </p:nvGrpSpPr>
        <p:grpSpPr>
          <a:xfrm>
            <a:off x="6245352" y="1417320"/>
            <a:ext cx="5120640" cy="3154680"/>
            <a:chOff x="6245352" y="1417320"/>
            <a:chExt cx="5120640" cy="3154680"/>
          </a:xfrm>
        </p:grpSpPr>
        <p:sp>
          <p:nvSpPr>
            <p:cNvPr id="17" name="Rounded Rectangle 16"/>
            <p:cNvSpPr/>
            <p:nvPr/>
          </p:nvSpPr>
          <p:spPr>
            <a:xfrm>
              <a:off x="6245352" y="1417320"/>
              <a:ext cx="5120640" cy="3154680"/>
            </a:xfrm>
            <a:prstGeom prst="roundRect">
              <a:avLst>
                <a:gd name="adj" fmla="val 2318"/>
              </a:avLst>
            </a:prstGeom>
            <a:solidFill>
              <a:srgbClr val="2B2F36"/>
            </a:solidFill>
            <a:ln w="19050">
              <a:solidFill>
                <a:srgbClr val="4A515B"/>
              </a:solidFill>
            </a:ln>
          </p:spPr>
          <p:txBody>
            <a:bodyPr rtlCol="0" anchor="ctr"/>
            <a:lstStyle/>
            <a:p>
              <a:pPr algn="ctr"/>
              <a:endParaRPr/>
            </a:p>
          </p:txBody>
        </p:sp>
        <p:sp>
          <p:nvSpPr>
            <p:cNvPr id="18" name="TextBox 17"/>
            <p:cNvSpPr txBox="1"/>
            <p:nvPr/>
          </p:nvSpPr>
          <p:spPr>
            <a:xfrm>
              <a:off x="6519672" y="1554480"/>
              <a:ext cx="4572000" cy="457200"/>
            </a:xfrm>
            <a:prstGeom prst="rect">
              <a:avLst/>
            </a:prstGeom>
            <a:noFill/>
          </p:spPr>
          <p:txBody>
            <a:bodyPr wrap="square" lIns="0" tIns="0" rIns="0" bIns="0" anchor="ctr">
              <a:noAutofit/>
            </a:bodyPr>
            <a:lstStyle/>
            <a:p>
              <a:pPr algn="l"/>
              <a:r>
                <a:rPr lang="en-GB" sz="2000" b="1" i="0">
                  <a:solidFill>
                    <a:srgbClr val="F2F2F2"/>
                  </a:solidFill>
                  <a:latin typeface="Arial"/>
                </a:rPr>
                <a:t>Separate labelled milestones</a:t>
              </a:r>
              <a:endParaRPr lang="en-GB" sz="2000"/>
            </a:p>
          </p:txBody>
        </p:sp>
        <p:sp>
          <p:nvSpPr>
            <p:cNvPr id="19" name="Rounded Rectangle 18"/>
            <p:cNvSpPr/>
            <p:nvPr/>
          </p:nvSpPr>
          <p:spPr>
            <a:xfrm>
              <a:off x="6565392" y="2240280"/>
              <a:ext cx="2103120" cy="502920"/>
            </a:xfrm>
            <a:prstGeom prst="roundRect">
              <a:avLst>
                <a:gd name="adj" fmla="val 10909"/>
              </a:avLst>
            </a:prstGeom>
            <a:solidFill>
              <a:srgbClr val="343A43"/>
            </a:solidFill>
            <a:ln w="19050">
              <a:solidFill>
                <a:srgbClr val="9AA0A6"/>
              </a:solidFill>
            </a:ln>
          </p:spPr>
          <p:txBody>
            <a:bodyPr rtlCol="0" anchor="ctr"/>
            <a:lstStyle/>
            <a:p>
              <a:pPr algn="ctr"/>
              <a:endParaRPr/>
            </a:p>
          </p:txBody>
        </p:sp>
        <p:sp>
          <p:nvSpPr>
            <p:cNvPr id="20" name="Rounded Rectangle 19"/>
            <p:cNvSpPr/>
            <p:nvPr/>
          </p:nvSpPr>
          <p:spPr>
            <a:xfrm>
              <a:off x="6702552" y="2446020"/>
              <a:ext cx="736092" cy="91440"/>
            </a:xfrm>
            <a:prstGeom prst="roundRect">
              <a:avLst>
                <a:gd name="adj" fmla="val 50000"/>
              </a:avLst>
            </a:prstGeom>
            <a:solidFill>
              <a:srgbClr val="A9B0B8"/>
            </a:solidFill>
            <a:ln>
              <a:noFill/>
            </a:ln>
          </p:spPr>
          <p:txBody>
            <a:bodyPr rtlCol="0" anchor="ctr"/>
            <a:lstStyle/>
            <a:p>
              <a:pPr algn="ctr"/>
              <a:endParaRPr/>
            </a:p>
          </p:txBody>
        </p:sp>
        <p:sp>
          <p:nvSpPr>
            <p:cNvPr id="21" name="Rounded Rectangle 20"/>
            <p:cNvSpPr/>
            <p:nvPr/>
          </p:nvSpPr>
          <p:spPr>
            <a:xfrm>
              <a:off x="6565392" y="2971800"/>
              <a:ext cx="2103120" cy="502920"/>
            </a:xfrm>
            <a:prstGeom prst="roundRect">
              <a:avLst>
                <a:gd name="adj" fmla="val 10909"/>
              </a:avLst>
            </a:prstGeom>
            <a:solidFill>
              <a:srgbClr val="343A43"/>
            </a:solidFill>
            <a:ln w="19050">
              <a:solidFill>
                <a:srgbClr val="9AA0A6"/>
              </a:solidFill>
            </a:ln>
          </p:spPr>
          <p:txBody>
            <a:bodyPr rtlCol="0" anchor="ctr"/>
            <a:lstStyle/>
            <a:p>
              <a:pPr algn="ctr"/>
              <a:endParaRPr/>
            </a:p>
          </p:txBody>
        </p:sp>
        <p:sp>
          <p:nvSpPr>
            <p:cNvPr id="22" name="Rounded Rectangle 21"/>
            <p:cNvSpPr/>
            <p:nvPr/>
          </p:nvSpPr>
          <p:spPr>
            <a:xfrm>
              <a:off x="6702552" y="3177540"/>
              <a:ext cx="736092" cy="91440"/>
            </a:xfrm>
            <a:prstGeom prst="roundRect">
              <a:avLst>
                <a:gd name="adj" fmla="val 50000"/>
              </a:avLst>
            </a:prstGeom>
            <a:solidFill>
              <a:srgbClr val="A9B0B8"/>
            </a:solidFill>
            <a:ln>
              <a:noFill/>
            </a:ln>
          </p:spPr>
          <p:txBody>
            <a:bodyPr rtlCol="0" anchor="ctr"/>
            <a:lstStyle/>
            <a:p>
              <a:pPr algn="ctr"/>
              <a:endParaRPr/>
            </a:p>
          </p:txBody>
        </p:sp>
        <p:sp>
          <p:nvSpPr>
            <p:cNvPr id="23" name="Rounded Rectangle 22"/>
            <p:cNvSpPr/>
            <p:nvPr/>
          </p:nvSpPr>
          <p:spPr>
            <a:xfrm>
              <a:off x="6565392" y="3703320"/>
              <a:ext cx="2103120" cy="502920"/>
            </a:xfrm>
            <a:prstGeom prst="roundRect">
              <a:avLst>
                <a:gd name="adj" fmla="val 10909"/>
              </a:avLst>
            </a:prstGeom>
            <a:solidFill>
              <a:srgbClr val="343A43"/>
            </a:solidFill>
            <a:ln w="19050">
              <a:solidFill>
                <a:srgbClr val="9AA0A6"/>
              </a:solidFill>
            </a:ln>
          </p:spPr>
          <p:txBody>
            <a:bodyPr rtlCol="0" anchor="ctr"/>
            <a:lstStyle/>
            <a:p>
              <a:pPr algn="ctr"/>
              <a:endParaRPr/>
            </a:p>
          </p:txBody>
        </p:sp>
        <p:sp>
          <p:nvSpPr>
            <p:cNvPr id="24" name="Rounded Rectangle 23"/>
            <p:cNvSpPr/>
            <p:nvPr/>
          </p:nvSpPr>
          <p:spPr>
            <a:xfrm>
              <a:off x="6702552" y="3909060"/>
              <a:ext cx="736092" cy="91440"/>
            </a:xfrm>
            <a:prstGeom prst="roundRect">
              <a:avLst>
                <a:gd name="adj" fmla="val 50000"/>
              </a:avLst>
            </a:prstGeom>
            <a:solidFill>
              <a:srgbClr val="A9B0B8"/>
            </a:solidFill>
            <a:ln>
              <a:noFill/>
            </a:ln>
          </p:spPr>
          <p:txBody>
            <a:bodyPr rtlCol="0" anchor="ctr"/>
            <a:lstStyle/>
            <a:p>
              <a:pPr algn="ctr"/>
              <a:endParaRPr/>
            </a:p>
          </p:txBody>
        </p:sp>
        <p:sp>
          <p:nvSpPr>
            <p:cNvPr id="25" name="Rounded Rectangle 24"/>
            <p:cNvSpPr/>
            <p:nvPr/>
          </p:nvSpPr>
          <p:spPr>
            <a:xfrm>
              <a:off x="8942832" y="2148840"/>
              <a:ext cx="2103120" cy="2240280"/>
            </a:xfrm>
            <a:prstGeom prst="roundRect">
              <a:avLst>
                <a:gd name="adj" fmla="val 3478"/>
              </a:avLst>
            </a:prstGeom>
            <a:noFill/>
            <a:ln w="25400">
              <a:solidFill>
                <a:srgbClr val="F28C28"/>
              </a:solidFill>
              <a:prstDash val="dash"/>
            </a:ln>
          </p:spPr>
          <p:txBody>
            <a:bodyPr rtlCol="0" anchor="ctr"/>
            <a:lstStyle/>
            <a:p>
              <a:pPr algn="ctr"/>
              <a:endParaRPr/>
            </a:p>
          </p:txBody>
        </p:sp>
        <p:sp>
          <p:nvSpPr>
            <p:cNvPr id="26" name="TextBox 25"/>
            <p:cNvSpPr txBox="1"/>
            <p:nvPr/>
          </p:nvSpPr>
          <p:spPr>
            <a:xfrm>
              <a:off x="9079992" y="2194560"/>
              <a:ext cx="1828800" cy="310896"/>
            </a:xfrm>
            <a:prstGeom prst="rect">
              <a:avLst/>
            </a:prstGeom>
            <a:noFill/>
          </p:spPr>
          <p:txBody>
            <a:bodyPr wrap="square" lIns="0" tIns="0" rIns="0" bIns="0" anchor="ctr">
              <a:noAutofit/>
            </a:bodyPr>
            <a:lstStyle/>
            <a:p>
              <a:pPr algn="l"/>
              <a:r>
                <a:rPr lang="en-GB" sz="1400" b="1" i="0">
                  <a:solidFill>
                    <a:srgbClr val="F28C28"/>
                  </a:solidFill>
                  <a:latin typeface="Arial"/>
                </a:rPr>
                <a:t>Pack</a:t>
              </a:r>
              <a:endParaRPr lang="en-GB" sz="1400"/>
            </a:p>
          </p:txBody>
        </p:sp>
        <p:sp>
          <p:nvSpPr>
            <p:cNvPr id="27" name="Rounded Rectangle 26"/>
            <p:cNvSpPr/>
            <p:nvPr/>
          </p:nvSpPr>
          <p:spPr>
            <a:xfrm>
              <a:off x="9079992" y="2560320"/>
              <a:ext cx="1828800" cy="457200"/>
            </a:xfrm>
            <a:prstGeom prst="roundRect">
              <a:avLst>
                <a:gd name="adj" fmla="val 10000"/>
              </a:avLst>
            </a:prstGeom>
            <a:solidFill>
              <a:srgbClr val="F28C28">
                <a:alpha val="22000"/>
              </a:srgbClr>
            </a:solidFill>
            <a:ln w="19050">
              <a:solidFill>
                <a:srgbClr val="F28C28"/>
              </a:solidFill>
              <a:prstDash val="dash"/>
            </a:ln>
          </p:spPr>
          <p:txBody>
            <a:bodyPr rtlCol="0" anchor="ctr"/>
            <a:lstStyle/>
            <a:p>
              <a:pPr algn="ctr"/>
              <a:endParaRPr/>
            </a:p>
          </p:txBody>
        </p:sp>
        <p:sp>
          <p:nvSpPr>
            <p:cNvPr id="28" name="Rounded Rectangle 27"/>
            <p:cNvSpPr/>
            <p:nvPr/>
          </p:nvSpPr>
          <p:spPr>
            <a:xfrm>
              <a:off x="9079992" y="3154679"/>
              <a:ext cx="1828800" cy="457200"/>
            </a:xfrm>
            <a:prstGeom prst="roundRect">
              <a:avLst>
                <a:gd name="adj" fmla="val 10000"/>
              </a:avLst>
            </a:prstGeom>
            <a:solidFill>
              <a:srgbClr val="F28C28">
                <a:alpha val="22000"/>
              </a:srgbClr>
            </a:solidFill>
            <a:ln w="19050">
              <a:solidFill>
                <a:srgbClr val="F28C28"/>
              </a:solidFill>
              <a:prstDash val="dash"/>
            </a:ln>
          </p:spPr>
          <p:txBody>
            <a:bodyPr rtlCol="0" anchor="ctr"/>
            <a:lstStyle/>
            <a:p>
              <a:pPr algn="ctr"/>
              <a:endParaRPr/>
            </a:p>
          </p:txBody>
        </p:sp>
        <p:sp>
          <p:nvSpPr>
            <p:cNvPr id="29" name="Rounded Rectangle 28"/>
            <p:cNvSpPr/>
            <p:nvPr/>
          </p:nvSpPr>
          <p:spPr>
            <a:xfrm>
              <a:off x="9079992" y="3749039"/>
              <a:ext cx="1828800" cy="457200"/>
            </a:xfrm>
            <a:prstGeom prst="roundRect">
              <a:avLst>
                <a:gd name="adj" fmla="val 10000"/>
              </a:avLst>
            </a:prstGeom>
            <a:solidFill>
              <a:srgbClr val="F28C28">
                <a:alpha val="22000"/>
              </a:srgbClr>
            </a:solidFill>
            <a:ln w="19050">
              <a:solidFill>
                <a:srgbClr val="F28C28"/>
              </a:solidFill>
              <a:prstDash val="dash"/>
            </a:ln>
          </p:spPr>
          <p:txBody>
            <a:bodyPr rtlCol="0" anchor="ctr"/>
            <a:lstStyle/>
            <a:p>
              <a:pPr algn="ctr"/>
              <a:endParaRPr/>
            </a:p>
          </p:txBody>
        </p:sp>
      </p:grpSp>
      <p:grpSp>
        <p:nvGrpSpPr>
          <p:cNvPr id="30" name="Legend" descr="Key: a solid box is a Core milestone and a dashed box is a Pack unlock."/>
          <p:cNvGrpSpPr/>
          <p:nvPr/>
        </p:nvGrpSpPr>
        <p:grpSpPr>
          <a:xfrm>
            <a:off x="822960" y="4700016"/>
            <a:ext cx="2788920" cy="329184"/>
            <a:chOff x="822960" y="4700016"/>
            <a:chExt cx="2788920" cy="329184"/>
          </a:xfrm>
        </p:grpSpPr>
        <p:sp>
          <p:nvSpPr>
            <p:cNvPr id="31" name="Rounded Rectangle 30"/>
            <p:cNvSpPr/>
            <p:nvPr/>
          </p:nvSpPr>
          <p:spPr>
            <a:xfrm>
              <a:off x="822960" y="4736592"/>
              <a:ext cx="411480" cy="256032"/>
            </a:xfrm>
            <a:prstGeom prst="roundRect">
              <a:avLst>
                <a:gd name="adj" fmla="val 14285"/>
              </a:avLst>
            </a:prstGeom>
            <a:solidFill>
              <a:srgbClr val="343A43"/>
            </a:solidFill>
            <a:ln w="19050">
              <a:solidFill>
                <a:srgbClr val="9AA0A6"/>
              </a:solidFill>
            </a:ln>
          </p:spPr>
          <p:txBody>
            <a:bodyPr rtlCol="0" anchor="ctr"/>
            <a:lstStyle/>
            <a:p>
              <a:pPr algn="ctr"/>
              <a:endParaRPr/>
            </a:p>
          </p:txBody>
        </p:sp>
        <p:sp>
          <p:nvSpPr>
            <p:cNvPr id="32" name="TextBox 31"/>
            <p:cNvSpPr txBox="1"/>
            <p:nvPr/>
          </p:nvSpPr>
          <p:spPr>
            <a:xfrm>
              <a:off x="1325880" y="4700016"/>
              <a:ext cx="822960" cy="329184"/>
            </a:xfrm>
            <a:prstGeom prst="rect">
              <a:avLst/>
            </a:prstGeom>
            <a:noFill/>
          </p:spPr>
          <p:txBody>
            <a:bodyPr wrap="square" lIns="0" tIns="0" rIns="0" bIns="0" anchor="ctr">
              <a:noAutofit/>
            </a:bodyPr>
            <a:lstStyle/>
            <a:p>
              <a:pPr algn="l"/>
              <a:r>
                <a:rPr lang="en-GB" sz="1400" b="1" i="0">
                  <a:solidFill>
                    <a:srgbClr val="F2F2F2"/>
                  </a:solidFill>
                  <a:latin typeface="Arial"/>
                </a:rPr>
                <a:t>Core</a:t>
              </a:r>
              <a:endParaRPr lang="en-GB" sz="1400"/>
            </a:p>
          </p:txBody>
        </p:sp>
        <p:sp>
          <p:nvSpPr>
            <p:cNvPr id="33" name="Rounded Rectangle 32"/>
            <p:cNvSpPr/>
            <p:nvPr/>
          </p:nvSpPr>
          <p:spPr>
            <a:xfrm>
              <a:off x="2286000" y="4736592"/>
              <a:ext cx="411480" cy="256032"/>
            </a:xfrm>
            <a:prstGeom prst="roundRect">
              <a:avLst>
                <a:gd name="adj" fmla="val 14285"/>
              </a:avLst>
            </a:prstGeom>
            <a:solidFill>
              <a:srgbClr val="F28C28">
                <a:alpha val="22000"/>
              </a:srgbClr>
            </a:solidFill>
            <a:ln w="19050">
              <a:solidFill>
                <a:srgbClr val="F28C28"/>
              </a:solidFill>
              <a:prstDash val="dash"/>
            </a:ln>
          </p:spPr>
          <p:txBody>
            <a:bodyPr rtlCol="0" anchor="ctr"/>
            <a:lstStyle/>
            <a:p>
              <a:pPr algn="ctr"/>
              <a:endParaRPr/>
            </a:p>
          </p:txBody>
        </p:sp>
        <p:sp>
          <p:nvSpPr>
            <p:cNvPr id="34" name="TextBox 33"/>
            <p:cNvSpPr txBox="1"/>
            <p:nvPr/>
          </p:nvSpPr>
          <p:spPr>
            <a:xfrm>
              <a:off x="2788920" y="4700016"/>
              <a:ext cx="822960" cy="329184"/>
            </a:xfrm>
            <a:prstGeom prst="rect">
              <a:avLst/>
            </a:prstGeom>
            <a:noFill/>
          </p:spPr>
          <p:txBody>
            <a:bodyPr wrap="square" lIns="0" tIns="0" rIns="0" bIns="0" anchor="ctr">
              <a:noAutofit/>
            </a:bodyPr>
            <a:lstStyle/>
            <a:p>
              <a:pPr algn="l"/>
              <a:r>
                <a:rPr lang="en-GB" sz="1400" b="1" i="0">
                  <a:solidFill>
                    <a:srgbClr val="F2F2F2"/>
                  </a:solidFill>
                  <a:latin typeface="Arial"/>
                </a:rPr>
                <a:t>Pack</a:t>
              </a:r>
              <a:endParaRPr lang="en-GB" sz="1400"/>
            </a:p>
          </p:txBody>
        </p:sp>
      </p:grpSp>
      <p:sp>
        <p:nvSpPr>
          <p:cNvPr id="35" name="Inline chip: Undecided"/>
          <p:cNvSpPr/>
          <p:nvPr/>
        </p:nvSpPr>
        <p:spPr>
          <a:xfrm>
            <a:off x="6245352" y="4709160"/>
            <a:ext cx="4223801"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UNDECIDED · </a:t>
            </a:r>
            <a:r>
              <a:rPr lang="en-GB" sz="1400" b="0" i="0">
                <a:solidFill>
                  <a:srgbClr val="F2F2F2"/>
                </a:solidFill>
                <a:latin typeface="Arial"/>
              </a:rPr>
              <a:t>Needs a technical check (OQ20)</a:t>
            </a:r>
            <a:endParaRPr lang="en-GB" sz="1400"/>
          </a:p>
        </p:txBody>
      </p:sp>
      <p:sp>
        <p:nvSpPr>
          <p:cNvPr id="36" name="Caption"/>
          <p:cNvSpPr/>
          <p:nvPr/>
        </p:nvSpPr>
        <p:spPr>
          <a:xfrm>
            <a:off x="548640" y="5669280"/>
            <a:ext cx="11091672" cy="731520"/>
          </a:xfrm>
          <a:prstGeom prst="roundRect">
            <a:avLst>
              <a:gd name="adj" fmla="val 10000"/>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Pack unlocks would sit inside the normal milestones if possible, or in clearly labelled extras.</a:t>
            </a:r>
            <a:endParaRPr lang="en-GB" sz="2000"/>
          </a:p>
        </p:txBody>
      </p:sp>
      <p:sp>
        <p:nvSpPr>
          <p:cNvPr id="37" name="Caption rule"/>
          <p:cNvSpPr/>
          <p:nvPr/>
        </p:nvSpPr>
        <p:spPr>
          <a:xfrm>
            <a:off x="548640" y="5669280"/>
            <a:ext cx="73152" cy="731520"/>
          </a:xfrm>
          <a:prstGeom prst="rect">
            <a:avLst/>
          </a:prstGeom>
          <a:solidFill>
            <a:srgbClr val="F28C28"/>
          </a:solidFill>
          <a:ln>
            <a:noFill/>
          </a:ln>
        </p:spPr>
        <p:txBody>
          <a:bodyPr rtlCol="0" anchor="ctr"/>
          <a:lstStyle/>
          <a:p>
            <a:pPr algn="ctr"/>
            <a:endParaRPr/>
          </a:p>
        </p:txBody>
      </p:sp>
      <p:sp>
        <p:nvSpPr>
          <p:cNvPr id="38"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17</a:t>
            </a:r>
            <a:endParaRPr lang="en-GB" sz="1400"/>
          </a:p>
        </p:txBody>
      </p:sp>
    </p:spTree>
    <p:extLst>
      <p:ext uri="{BB962C8B-B14F-4D97-AF65-F5344CB8AC3E}">
        <p14:creationId xmlns:p14="http://schemas.microsoft.com/office/powerpoint/2010/main" val="5496853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nodeType="withEffect">
                                  <p:stCondLst>
                                    <p:cond delay="90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par>
                                <p:cTn id="17" presetID="10" presetClass="entr" presetSubtype="0" fill="hold" nodeType="withEffect">
                                  <p:stCondLst>
                                    <p:cond delay="120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par>
                                <p:cTn id="20" presetID="10" presetClass="entr" presetSubtype="0" fill="hold" nodeType="withEffect">
                                  <p:stCondLst>
                                    <p:cond delay="150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Regional buildings</a:t>
            </a:r>
            <a:endParaRPr lang="en-GB" sz="3600"/>
          </a:p>
        </p:txBody>
      </p:sp>
      <p:sp>
        <p:nvSpPr>
          <p:cNvPr id="3" name="Status chip: Proposed"/>
          <p:cNvSpPr/>
          <p:nvPr/>
        </p:nvSpPr>
        <p:spPr>
          <a:xfrm>
            <a:off x="10241280" y="457200"/>
            <a:ext cx="1371600" cy="365760"/>
          </a:xfrm>
          <a:prstGeom prst="roundRect">
            <a:avLst>
              <a:gd name="adj" fmla="val 25000"/>
            </a:avLst>
          </a:prstGeom>
          <a:solidFill>
            <a:srgbClr val="B084F5"/>
          </a:solidFill>
          <a:ln>
            <a:noFill/>
          </a:ln>
        </p:spPr>
        <p:txBody>
          <a:bodyPr wrap="none" lIns="0" tIns="0" rIns="0" bIns="0" rtlCol="0" anchor="ctr">
            <a:noAutofit/>
          </a:bodyPr>
          <a:lstStyle/>
          <a:p>
            <a:pPr algn="ctr"/>
            <a:r>
              <a:rPr lang="en-GB" sz="1400" b="1" i="0">
                <a:solidFill>
                  <a:srgbClr val="101418"/>
                </a:solidFill>
                <a:latin typeface="Arial"/>
              </a:rPr>
              <a:t>PROPOSED</a:t>
            </a:r>
            <a:endParaRPr lang="en-GB" sz="1400"/>
          </a:p>
        </p:txBody>
      </p:sp>
      <p:grpSp>
        <p:nvGrpSpPr>
          <p:cNvPr id="4" name="Station: Basic (Core)" descr="A plain station sketch: a small flat-roofed building with a door, a window and a sign."/>
          <p:cNvGrpSpPr/>
          <p:nvPr/>
        </p:nvGrpSpPr>
        <p:grpSpPr>
          <a:xfrm>
            <a:off x="822960" y="1417320"/>
            <a:ext cx="5120640" cy="3200400"/>
            <a:chOff x="822960" y="1417320"/>
            <a:chExt cx="5120640" cy="3200400"/>
          </a:xfrm>
        </p:grpSpPr>
        <p:sp>
          <p:nvSpPr>
            <p:cNvPr id="5" name="Rounded Rectangle 4"/>
            <p:cNvSpPr/>
            <p:nvPr/>
          </p:nvSpPr>
          <p:spPr>
            <a:xfrm>
              <a:off x="822960" y="1417320"/>
              <a:ext cx="5120640" cy="3200400"/>
            </a:xfrm>
            <a:prstGeom prst="roundRect">
              <a:avLst>
                <a:gd name="adj" fmla="val 2285"/>
              </a:avLst>
            </a:prstGeom>
            <a:solidFill>
              <a:srgbClr val="2B2F36"/>
            </a:solidFill>
            <a:ln w="19050">
              <a:solidFill>
                <a:srgbClr val="4A515B"/>
              </a:solidFill>
            </a:ln>
          </p:spPr>
          <p:txBody>
            <a:bodyPr rtlCol="0" anchor="ctr"/>
            <a:lstStyle/>
            <a:p>
              <a:pPr algn="ctr"/>
              <a:endParaRPr/>
            </a:p>
          </p:txBody>
        </p:sp>
        <p:sp>
          <p:nvSpPr>
            <p:cNvPr id="6" name="TextBox 5"/>
            <p:cNvSpPr txBox="1"/>
            <p:nvPr/>
          </p:nvSpPr>
          <p:spPr>
            <a:xfrm>
              <a:off x="1097280" y="1508760"/>
              <a:ext cx="4572000" cy="457200"/>
            </a:xfrm>
            <a:prstGeom prst="rect">
              <a:avLst/>
            </a:prstGeom>
            <a:noFill/>
          </p:spPr>
          <p:txBody>
            <a:bodyPr wrap="square" lIns="0" tIns="0" rIns="0" bIns="0" anchor="ctr">
              <a:noAutofit/>
            </a:bodyPr>
            <a:lstStyle/>
            <a:p>
              <a:pPr algn="l"/>
              <a:r>
                <a:rPr lang="en-GB" sz="2000" b="1" i="0">
                  <a:solidFill>
                    <a:srgbClr val="F2F2F2"/>
                  </a:solidFill>
                  <a:latin typeface="Arial"/>
                </a:rPr>
                <a:t>Basic (Core)</a:t>
              </a:r>
              <a:endParaRPr lang="en-GB" sz="2000"/>
            </a:p>
          </p:txBody>
        </p:sp>
        <p:sp>
          <p:nvSpPr>
            <p:cNvPr id="7" name="Rounded Rectangle 6"/>
            <p:cNvSpPr/>
            <p:nvPr/>
          </p:nvSpPr>
          <p:spPr>
            <a:xfrm>
              <a:off x="1097280" y="4160520"/>
              <a:ext cx="4572000" cy="164592"/>
            </a:xfrm>
            <a:prstGeom prst="roundRect">
              <a:avLst>
                <a:gd name="adj" fmla="val 16666"/>
              </a:avLst>
            </a:prstGeom>
            <a:solidFill>
              <a:srgbClr val="9AA0A6"/>
            </a:solidFill>
            <a:ln>
              <a:noFill/>
            </a:ln>
          </p:spPr>
          <p:txBody>
            <a:bodyPr rtlCol="0" anchor="ctr"/>
            <a:lstStyle/>
            <a:p>
              <a:pPr algn="ctr"/>
              <a:endParaRPr/>
            </a:p>
          </p:txBody>
        </p:sp>
        <p:sp>
          <p:nvSpPr>
            <p:cNvPr id="8" name="Rectangle 7"/>
            <p:cNvSpPr/>
            <p:nvPr/>
          </p:nvSpPr>
          <p:spPr>
            <a:xfrm>
              <a:off x="2377439" y="3246120"/>
              <a:ext cx="2011680" cy="914400"/>
            </a:xfrm>
            <a:prstGeom prst="rect">
              <a:avLst/>
            </a:prstGeom>
            <a:solidFill>
              <a:srgbClr val="343A43"/>
            </a:solidFill>
            <a:ln w="19050">
              <a:solidFill>
                <a:srgbClr val="9AA0A6"/>
              </a:solidFill>
            </a:ln>
          </p:spPr>
          <p:txBody>
            <a:bodyPr rtlCol="0" anchor="ctr"/>
            <a:lstStyle/>
            <a:p>
              <a:pPr algn="ctr"/>
              <a:endParaRPr/>
            </a:p>
          </p:txBody>
        </p:sp>
        <p:sp>
          <p:nvSpPr>
            <p:cNvPr id="9" name="Rectangle 8"/>
            <p:cNvSpPr/>
            <p:nvPr/>
          </p:nvSpPr>
          <p:spPr>
            <a:xfrm>
              <a:off x="2285999" y="3154679"/>
              <a:ext cx="2194560" cy="91440"/>
            </a:xfrm>
            <a:prstGeom prst="rect">
              <a:avLst/>
            </a:prstGeom>
            <a:solidFill>
              <a:srgbClr val="9AA0A6"/>
            </a:solidFill>
            <a:ln>
              <a:noFill/>
            </a:ln>
          </p:spPr>
          <p:txBody>
            <a:bodyPr rtlCol="0" anchor="ctr"/>
            <a:lstStyle/>
            <a:p>
              <a:pPr algn="ctr"/>
              <a:endParaRPr/>
            </a:p>
          </p:txBody>
        </p:sp>
        <p:sp>
          <p:nvSpPr>
            <p:cNvPr id="10" name="Rectangle 9"/>
            <p:cNvSpPr/>
            <p:nvPr/>
          </p:nvSpPr>
          <p:spPr>
            <a:xfrm>
              <a:off x="2606039" y="3474720"/>
              <a:ext cx="502920" cy="365760"/>
            </a:xfrm>
            <a:prstGeom prst="rect">
              <a:avLst/>
            </a:prstGeom>
            <a:solidFill>
              <a:srgbClr val="1E2126"/>
            </a:solidFill>
            <a:ln w="12700">
              <a:solidFill>
                <a:srgbClr val="9AA0A6"/>
              </a:solidFill>
            </a:ln>
          </p:spPr>
          <p:txBody>
            <a:bodyPr rtlCol="0" anchor="ctr"/>
            <a:lstStyle/>
            <a:p>
              <a:pPr algn="ctr"/>
              <a:endParaRPr/>
            </a:p>
          </p:txBody>
        </p:sp>
        <p:sp>
          <p:nvSpPr>
            <p:cNvPr id="11" name="Rectangle 10"/>
            <p:cNvSpPr/>
            <p:nvPr/>
          </p:nvSpPr>
          <p:spPr>
            <a:xfrm>
              <a:off x="3657599" y="3429000"/>
              <a:ext cx="457200" cy="731520"/>
            </a:xfrm>
            <a:prstGeom prst="rect">
              <a:avLst/>
            </a:prstGeom>
            <a:solidFill>
              <a:srgbClr val="1E2126"/>
            </a:solidFill>
            <a:ln w="12700">
              <a:solidFill>
                <a:srgbClr val="9AA0A6"/>
              </a:solidFill>
            </a:ln>
          </p:spPr>
          <p:txBody>
            <a:bodyPr rtlCol="0" anchor="ctr"/>
            <a:lstStyle/>
            <a:p>
              <a:pPr algn="ctr"/>
              <a:endParaRPr/>
            </a:p>
          </p:txBody>
        </p:sp>
        <p:sp>
          <p:nvSpPr>
            <p:cNvPr id="12" name="Rectangle 11"/>
            <p:cNvSpPr/>
            <p:nvPr/>
          </p:nvSpPr>
          <p:spPr>
            <a:xfrm>
              <a:off x="1508760" y="3520439"/>
              <a:ext cx="64008" cy="640080"/>
            </a:xfrm>
            <a:prstGeom prst="rect">
              <a:avLst/>
            </a:prstGeom>
            <a:solidFill>
              <a:srgbClr val="9AA0A6"/>
            </a:solidFill>
            <a:ln>
              <a:noFill/>
            </a:ln>
          </p:spPr>
          <p:txBody>
            <a:bodyPr rtlCol="0" anchor="ctr"/>
            <a:lstStyle/>
            <a:p>
              <a:pPr algn="ctr"/>
              <a:endParaRPr/>
            </a:p>
          </p:txBody>
        </p:sp>
        <p:sp>
          <p:nvSpPr>
            <p:cNvPr id="13" name="Rectangle 12"/>
            <p:cNvSpPr/>
            <p:nvPr/>
          </p:nvSpPr>
          <p:spPr>
            <a:xfrm>
              <a:off x="1325880" y="3383279"/>
              <a:ext cx="429768" cy="201168"/>
            </a:xfrm>
            <a:prstGeom prst="rect">
              <a:avLst/>
            </a:prstGeom>
            <a:solidFill>
              <a:srgbClr val="343A43"/>
            </a:solidFill>
            <a:ln w="12700">
              <a:solidFill>
                <a:srgbClr val="9AA0A6"/>
              </a:solidFill>
            </a:ln>
          </p:spPr>
          <p:txBody>
            <a:bodyPr rtlCol="0" anchor="ctr"/>
            <a:lstStyle/>
            <a:p>
              <a:pPr algn="ctr"/>
              <a:endParaRPr/>
            </a:p>
          </p:txBody>
        </p:sp>
      </p:grpSp>
      <p:grpSp>
        <p:nvGrpSpPr>
          <p:cNvPr id="14" name="Station: Advanced (pack)" descr="A richer station sketch: a larger building with a pitched roof, chimney, clock, several windows and a canopy."/>
          <p:cNvGrpSpPr/>
          <p:nvPr/>
        </p:nvGrpSpPr>
        <p:grpSpPr>
          <a:xfrm>
            <a:off x="6245352" y="1417320"/>
            <a:ext cx="5120640" cy="3200400"/>
            <a:chOff x="6245352" y="1417320"/>
            <a:chExt cx="5120640" cy="3200400"/>
          </a:xfrm>
        </p:grpSpPr>
        <p:sp>
          <p:nvSpPr>
            <p:cNvPr id="15" name="Rounded Rectangle 14"/>
            <p:cNvSpPr/>
            <p:nvPr/>
          </p:nvSpPr>
          <p:spPr>
            <a:xfrm>
              <a:off x="6245352" y="1417320"/>
              <a:ext cx="5120640" cy="3200400"/>
            </a:xfrm>
            <a:prstGeom prst="roundRect">
              <a:avLst>
                <a:gd name="adj" fmla="val 2285"/>
              </a:avLst>
            </a:prstGeom>
            <a:solidFill>
              <a:srgbClr val="2B2F36"/>
            </a:solidFill>
            <a:ln w="22225">
              <a:solidFill>
                <a:srgbClr val="F28C28"/>
              </a:solidFill>
              <a:prstDash val="dash"/>
            </a:ln>
          </p:spPr>
          <p:txBody>
            <a:bodyPr rtlCol="0" anchor="ctr"/>
            <a:lstStyle/>
            <a:p>
              <a:pPr algn="ctr"/>
              <a:endParaRPr/>
            </a:p>
          </p:txBody>
        </p:sp>
        <p:sp>
          <p:nvSpPr>
            <p:cNvPr id="16" name="TextBox 15"/>
            <p:cNvSpPr txBox="1"/>
            <p:nvPr/>
          </p:nvSpPr>
          <p:spPr>
            <a:xfrm>
              <a:off x="6519672" y="1508760"/>
              <a:ext cx="4572000" cy="457200"/>
            </a:xfrm>
            <a:prstGeom prst="rect">
              <a:avLst/>
            </a:prstGeom>
            <a:noFill/>
          </p:spPr>
          <p:txBody>
            <a:bodyPr wrap="square" lIns="0" tIns="0" rIns="0" bIns="0" anchor="ctr">
              <a:noAutofit/>
            </a:bodyPr>
            <a:lstStyle/>
            <a:p>
              <a:pPr algn="l"/>
              <a:r>
                <a:rPr lang="en-GB" sz="2000" b="1" i="0">
                  <a:solidFill>
                    <a:srgbClr val="F2F2F2"/>
                  </a:solidFill>
                  <a:latin typeface="Arial"/>
                </a:rPr>
                <a:t>Advanced (pack)</a:t>
              </a:r>
              <a:endParaRPr lang="en-GB" sz="2000"/>
            </a:p>
          </p:txBody>
        </p:sp>
        <p:sp>
          <p:nvSpPr>
            <p:cNvPr id="17" name="Rounded Rectangle 16"/>
            <p:cNvSpPr/>
            <p:nvPr/>
          </p:nvSpPr>
          <p:spPr>
            <a:xfrm>
              <a:off x="6519672" y="4160520"/>
              <a:ext cx="4572000" cy="164592"/>
            </a:xfrm>
            <a:prstGeom prst="roundRect">
              <a:avLst>
                <a:gd name="adj" fmla="val 16666"/>
              </a:avLst>
            </a:prstGeom>
            <a:solidFill>
              <a:srgbClr val="9AA0A6"/>
            </a:solidFill>
            <a:ln>
              <a:noFill/>
            </a:ln>
          </p:spPr>
          <p:txBody>
            <a:bodyPr rtlCol="0" anchor="ctr"/>
            <a:lstStyle/>
            <a:p>
              <a:pPr algn="ctr"/>
              <a:endParaRPr/>
            </a:p>
          </p:txBody>
        </p:sp>
        <p:sp>
          <p:nvSpPr>
            <p:cNvPr id="18" name="Rectangle 17"/>
            <p:cNvSpPr/>
            <p:nvPr/>
          </p:nvSpPr>
          <p:spPr>
            <a:xfrm>
              <a:off x="7388352" y="2880360"/>
              <a:ext cx="2743200" cy="1280160"/>
            </a:xfrm>
            <a:prstGeom prst="rect">
              <a:avLst/>
            </a:prstGeom>
            <a:solidFill>
              <a:srgbClr val="343A43"/>
            </a:solidFill>
            <a:ln w="22225">
              <a:solidFill>
                <a:srgbClr val="F28C28"/>
              </a:solidFill>
            </a:ln>
          </p:spPr>
          <p:txBody>
            <a:bodyPr rtlCol="0" anchor="ctr"/>
            <a:lstStyle/>
            <a:p>
              <a:pPr algn="ctr"/>
              <a:endParaRPr/>
            </a:p>
          </p:txBody>
        </p:sp>
        <p:sp>
          <p:nvSpPr>
            <p:cNvPr id="19" name="Freeform 18"/>
            <p:cNvSpPr/>
            <p:nvPr/>
          </p:nvSpPr>
          <p:spPr>
            <a:xfrm>
              <a:off x="7251192" y="2148839"/>
              <a:ext cx="3017520" cy="731521"/>
            </a:xfrm>
            <a:custGeom>
              <a:avLst/>
              <a:gdLst/>
              <a:ahLst/>
              <a:cxnLst/>
              <a:rect l="l" t="t" r="r" b="b"/>
              <a:pathLst>
                <a:path w="3017520" h="731521">
                  <a:moveTo>
                    <a:pt x="0" y="731521"/>
                  </a:moveTo>
                  <a:lnTo>
                    <a:pt x="1508760" y="0"/>
                  </a:lnTo>
                  <a:lnTo>
                    <a:pt x="3017520" y="731521"/>
                  </a:lnTo>
                  <a:close/>
                </a:path>
              </a:pathLst>
            </a:custGeom>
            <a:solidFill>
              <a:srgbClr val="F28C28"/>
            </a:solidFill>
            <a:ln w="19050">
              <a:solidFill>
                <a:srgbClr val="F28C28"/>
              </a:solidFill>
            </a:ln>
          </p:spPr>
          <p:txBody>
            <a:bodyPr rtlCol="0" anchor="ctr"/>
            <a:lstStyle/>
            <a:p>
              <a:pPr algn="ctr"/>
              <a:endParaRPr/>
            </a:p>
          </p:txBody>
        </p:sp>
        <p:sp>
          <p:nvSpPr>
            <p:cNvPr id="20" name="Rectangle 19"/>
            <p:cNvSpPr/>
            <p:nvPr/>
          </p:nvSpPr>
          <p:spPr>
            <a:xfrm>
              <a:off x="9491472" y="2194560"/>
              <a:ext cx="201168" cy="502920"/>
            </a:xfrm>
            <a:prstGeom prst="rect">
              <a:avLst/>
            </a:prstGeom>
            <a:solidFill>
              <a:srgbClr val="1B1D21"/>
            </a:solidFill>
            <a:ln w="12700">
              <a:solidFill>
                <a:srgbClr val="9AA0A6"/>
              </a:solidFill>
            </a:ln>
          </p:spPr>
          <p:txBody>
            <a:bodyPr rtlCol="0" anchor="ctr"/>
            <a:lstStyle/>
            <a:p>
              <a:pPr algn="ctr"/>
              <a:endParaRPr/>
            </a:p>
          </p:txBody>
        </p:sp>
        <p:sp>
          <p:nvSpPr>
            <p:cNvPr id="21" name="Oval 20"/>
            <p:cNvSpPr/>
            <p:nvPr/>
          </p:nvSpPr>
          <p:spPr>
            <a:xfrm>
              <a:off x="8577072" y="2350008"/>
              <a:ext cx="365760" cy="365760"/>
            </a:xfrm>
            <a:prstGeom prst="ellipse">
              <a:avLst/>
            </a:prstGeom>
            <a:solidFill>
              <a:srgbClr val="1E2126"/>
            </a:solidFill>
            <a:ln w="19050">
              <a:solidFill>
                <a:srgbClr val="F2C14E"/>
              </a:solidFill>
            </a:ln>
          </p:spPr>
          <p:txBody>
            <a:bodyPr rtlCol="0" anchor="ctr"/>
            <a:lstStyle/>
            <a:p>
              <a:pPr algn="ctr"/>
              <a:endParaRPr/>
            </a:p>
          </p:txBody>
        </p:sp>
        <p:sp>
          <p:nvSpPr>
            <p:cNvPr id="22" name="Rectangle 21"/>
            <p:cNvSpPr/>
            <p:nvPr/>
          </p:nvSpPr>
          <p:spPr>
            <a:xfrm>
              <a:off x="7571231" y="3108960"/>
              <a:ext cx="548640" cy="502920"/>
            </a:xfrm>
            <a:prstGeom prst="rect">
              <a:avLst/>
            </a:prstGeom>
            <a:solidFill>
              <a:srgbClr val="1E2126"/>
            </a:solidFill>
            <a:ln w="12700">
              <a:solidFill>
                <a:srgbClr val="9AA0A6"/>
              </a:solidFill>
            </a:ln>
          </p:spPr>
          <p:txBody>
            <a:bodyPr rtlCol="0" anchor="ctr"/>
            <a:lstStyle/>
            <a:p>
              <a:pPr algn="ctr"/>
              <a:endParaRPr/>
            </a:p>
          </p:txBody>
        </p:sp>
        <p:sp>
          <p:nvSpPr>
            <p:cNvPr id="23" name="Rectangle 22"/>
            <p:cNvSpPr/>
            <p:nvPr/>
          </p:nvSpPr>
          <p:spPr>
            <a:xfrm>
              <a:off x="8412480" y="3108960"/>
              <a:ext cx="548640" cy="502920"/>
            </a:xfrm>
            <a:prstGeom prst="rect">
              <a:avLst/>
            </a:prstGeom>
            <a:solidFill>
              <a:srgbClr val="1E2126"/>
            </a:solidFill>
            <a:ln w="12700">
              <a:solidFill>
                <a:srgbClr val="9AA0A6"/>
              </a:solidFill>
            </a:ln>
          </p:spPr>
          <p:txBody>
            <a:bodyPr rtlCol="0" anchor="ctr"/>
            <a:lstStyle/>
            <a:p>
              <a:pPr algn="ctr"/>
              <a:endParaRPr/>
            </a:p>
          </p:txBody>
        </p:sp>
        <p:sp>
          <p:nvSpPr>
            <p:cNvPr id="24" name="Rectangle 23"/>
            <p:cNvSpPr/>
            <p:nvPr/>
          </p:nvSpPr>
          <p:spPr>
            <a:xfrm>
              <a:off x="9253728" y="3108960"/>
              <a:ext cx="548640" cy="502920"/>
            </a:xfrm>
            <a:prstGeom prst="rect">
              <a:avLst/>
            </a:prstGeom>
            <a:solidFill>
              <a:srgbClr val="1E2126"/>
            </a:solidFill>
            <a:ln w="12700">
              <a:solidFill>
                <a:srgbClr val="9AA0A6"/>
              </a:solidFill>
            </a:ln>
          </p:spPr>
          <p:txBody>
            <a:bodyPr rtlCol="0" anchor="ctr"/>
            <a:lstStyle/>
            <a:p>
              <a:pPr algn="ctr"/>
              <a:endParaRPr/>
            </a:p>
          </p:txBody>
        </p:sp>
        <p:sp>
          <p:nvSpPr>
            <p:cNvPr id="25" name="Rounded Rectangle 24"/>
            <p:cNvSpPr/>
            <p:nvPr/>
          </p:nvSpPr>
          <p:spPr>
            <a:xfrm>
              <a:off x="8485632" y="3474720"/>
              <a:ext cx="548640" cy="685800"/>
            </a:xfrm>
            <a:prstGeom prst="roundRect">
              <a:avLst>
                <a:gd name="adj" fmla="val 41666"/>
              </a:avLst>
            </a:prstGeom>
            <a:solidFill>
              <a:srgbClr val="1E2126"/>
            </a:solidFill>
            <a:ln w="12700">
              <a:solidFill>
                <a:srgbClr val="9AA0A6"/>
              </a:solidFill>
            </a:ln>
          </p:spPr>
          <p:txBody>
            <a:bodyPr rtlCol="0" anchor="ctr"/>
            <a:lstStyle/>
            <a:p>
              <a:pPr algn="ctr"/>
              <a:endParaRPr/>
            </a:p>
          </p:txBody>
        </p:sp>
        <p:sp>
          <p:nvSpPr>
            <p:cNvPr id="26" name="Rectangle 25"/>
            <p:cNvSpPr/>
            <p:nvPr/>
          </p:nvSpPr>
          <p:spPr>
            <a:xfrm>
              <a:off x="6565392" y="3200400"/>
              <a:ext cx="731520" cy="91440"/>
            </a:xfrm>
            <a:prstGeom prst="rect">
              <a:avLst/>
            </a:prstGeom>
            <a:solidFill>
              <a:srgbClr val="F28C28"/>
            </a:solidFill>
            <a:ln>
              <a:noFill/>
            </a:ln>
          </p:spPr>
          <p:txBody>
            <a:bodyPr rtlCol="0" anchor="ctr"/>
            <a:lstStyle/>
            <a:p>
              <a:pPr algn="ctr"/>
              <a:endParaRPr/>
            </a:p>
          </p:txBody>
        </p:sp>
        <p:sp>
          <p:nvSpPr>
            <p:cNvPr id="27" name="Rectangle 26"/>
            <p:cNvSpPr/>
            <p:nvPr/>
          </p:nvSpPr>
          <p:spPr>
            <a:xfrm>
              <a:off x="6638544" y="3291839"/>
              <a:ext cx="54864" cy="868680"/>
            </a:xfrm>
            <a:prstGeom prst="rect">
              <a:avLst/>
            </a:prstGeom>
            <a:solidFill>
              <a:srgbClr val="9AA0A6"/>
            </a:solidFill>
            <a:ln>
              <a:noFill/>
            </a:ln>
          </p:spPr>
          <p:txBody>
            <a:bodyPr rtlCol="0" anchor="ctr"/>
            <a:lstStyle/>
            <a:p>
              <a:pPr algn="ctr"/>
              <a:endParaRPr/>
            </a:p>
          </p:txBody>
        </p:sp>
        <p:sp>
          <p:nvSpPr>
            <p:cNvPr id="28" name="Rectangle 27"/>
            <p:cNvSpPr/>
            <p:nvPr/>
          </p:nvSpPr>
          <p:spPr>
            <a:xfrm>
              <a:off x="7168896" y="3291839"/>
              <a:ext cx="54864" cy="868680"/>
            </a:xfrm>
            <a:prstGeom prst="rect">
              <a:avLst/>
            </a:prstGeom>
            <a:solidFill>
              <a:srgbClr val="9AA0A6"/>
            </a:solidFill>
            <a:ln>
              <a:noFill/>
            </a:ln>
          </p:spPr>
          <p:txBody>
            <a:bodyPr rtlCol="0" anchor="ctr"/>
            <a:lstStyle/>
            <a:p>
              <a:pPr algn="ctr"/>
              <a:endParaRPr/>
            </a:p>
          </p:txBody>
        </p:sp>
        <p:sp>
          <p:nvSpPr>
            <p:cNvPr id="29" name="Rectangle 28"/>
            <p:cNvSpPr/>
            <p:nvPr/>
          </p:nvSpPr>
          <p:spPr>
            <a:xfrm>
              <a:off x="10222992" y="3200400"/>
              <a:ext cx="822960" cy="91440"/>
            </a:xfrm>
            <a:prstGeom prst="rect">
              <a:avLst/>
            </a:prstGeom>
            <a:solidFill>
              <a:srgbClr val="F28C28"/>
            </a:solidFill>
            <a:ln>
              <a:noFill/>
            </a:ln>
          </p:spPr>
          <p:txBody>
            <a:bodyPr rtlCol="0" anchor="ctr"/>
            <a:lstStyle/>
            <a:p>
              <a:pPr algn="ctr"/>
              <a:endParaRPr/>
            </a:p>
          </p:txBody>
        </p:sp>
        <p:sp>
          <p:nvSpPr>
            <p:cNvPr id="30" name="Rectangle 29"/>
            <p:cNvSpPr/>
            <p:nvPr/>
          </p:nvSpPr>
          <p:spPr>
            <a:xfrm>
              <a:off x="10296144" y="3291839"/>
              <a:ext cx="54864" cy="868680"/>
            </a:xfrm>
            <a:prstGeom prst="rect">
              <a:avLst/>
            </a:prstGeom>
            <a:solidFill>
              <a:srgbClr val="9AA0A6"/>
            </a:solidFill>
            <a:ln>
              <a:noFill/>
            </a:ln>
          </p:spPr>
          <p:txBody>
            <a:bodyPr rtlCol="0" anchor="ctr"/>
            <a:lstStyle/>
            <a:p>
              <a:pPr algn="ctr"/>
              <a:endParaRPr/>
            </a:p>
          </p:txBody>
        </p:sp>
        <p:sp>
          <p:nvSpPr>
            <p:cNvPr id="31" name="Rectangle 30"/>
            <p:cNvSpPr/>
            <p:nvPr/>
          </p:nvSpPr>
          <p:spPr>
            <a:xfrm>
              <a:off x="10917936" y="3291839"/>
              <a:ext cx="54864" cy="868680"/>
            </a:xfrm>
            <a:prstGeom prst="rect">
              <a:avLst/>
            </a:prstGeom>
            <a:solidFill>
              <a:srgbClr val="9AA0A6"/>
            </a:solidFill>
            <a:ln>
              <a:noFill/>
            </a:ln>
          </p:spPr>
          <p:txBody>
            <a:bodyPr rtlCol="0" anchor="ctr"/>
            <a:lstStyle/>
            <a:p>
              <a:pPr algn="ctr"/>
              <a:endParaRPr/>
            </a:p>
          </p:txBody>
        </p:sp>
      </p:grpSp>
      <p:sp>
        <p:nvSpPr>
          <p:cNvPr id="32" name="Note: not owned means not shown"/>
          <p:cNvSpPr/>
          <p:nvPr/>
        </p:nvSpPr>
        <p:spPr>
          <a:xfrm>
            <a:off x="6245352" y="4800600"/>
            <a:ext cx="5120640" cy="457200"/>
          </a:xfrm>
          <a:prstGeom prst="roundRect">
            <a:avLst>
              <a:gd name="adj" fmla="val 16000"/>
            </a:avLst>
          </a:prstGeom>
          <a:noFill/>
          <a:ln w="19050">
            <a:solidFill>
              <a:srgbClr val="A9B0B8"/>
            </a:solidFill>
            <a:prstDash val="dash"/>
          </a:ln>
        </p:spPr>
        <p:txBody>
          <a:bodyPr wrap="square" rtlCol="0" anchor="ctr">
            <a:noAutofit/>
          </a:bodyPr>
          <a:lstStyle/>
          <a:p>
            <a:pPr algn="ctr"/>
            <a:r>
              <a:rPr lang="en-GB" sz="1800" b="1" i="0">
                <a:solidFill>
                  <a:srgbClr val="F2F2F2"/>
                </a:solidFill>
                <a:latin typeface="Arial"/>
              </a:rPr>
              <a:t>Not owned means not shown.</a:t>
            </a:r>
            <a:endParaRPr lang="en-GB" sz="1800"/>
          </a:p>
        </p:txBody>
      </p:sp>
      <p:sp>
        <p:nvSpPr>
          <p:cNvPr id="33" name="Inline chip: Undecided"/>
          <p:cNvSpPr/>
          <p:nvPr/>
        </p:nvSpPr>
        <p:spPr>
          <a:xfrm>
            <a:off x="822960" y="4873752"/>
            <a:ext cx="3581318"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If a pack is missing: undecided (OQ23)</a:t>
            </a:r>
            <a:endParaRPr lang="en-GB" sz="1400"/>
          </a:p>
        </p:txBody>
      </p:sp>
      <p:sp>
        <p:nvSpPr>
          <p:cNvPr id="34"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Core gives basic regional looks. A pack adds the fancier ones.</a:t>
            </a:r>
            <a:endParaRPr lang="en-GB" sz="2000"/>
          </a:p>
        </p:txBody>
      </p:sp>
      <p:sp>
        <p:nvSpPr>
          <p:cNvPr id="35"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36"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18</a:t>
            </a:r>
            <a:endParaRPr lang="en-GB" sz="1400"/>
          </a:p>
        </p:txBody>
      </p:sp>
    </p:spTree>
    <p:extLst>
      <p:ext uri="{BB962C8B-B14F-4D97-AF65-F5344CB8AC3E}">
        <p14:creationId xmlns:p14="http://schemas.microsoft.com/office/powerpoint/2010/main" val="33123299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nodeType="withEffect">
                                  <p:stCondLst>
                                    <p:cond delay="6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500"/>
                                        <p:tgtEl>
                                          <p:spTgt spid="32"/>
                                        </p:tgtEl>
                                      </p:cBhvr>
                                    </p:animEffect>
                                  </p:childTnLst>
                                </p:cTn>
                              </p:par>
                              <p:par>
                                <p:cTn id="14" presetID="10" presetClass="entr" presetSubtype="0" fill="hold" nodeType="withEffect">
                                  <p:stCondLst>
                                    <p:cond delay="90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nodeType="withEffect">
                                  <p:stCondLst>
                                    <p:cond delay="120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par>
                                <p:cTn id="20" presetID="10" presetClass="entr" presetSubtype="0" fill="hold" nodeType="withEffect">
                                  <p:stCondLst>
                                    <p:cond delay="150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Changing region with pack engines</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Row backgrounds" descr="Three horizontal bands, one for each kind of engine."/>
          <p:cNvGrpSpPr/>
          <p:nvPr/>
        </p:nvGrpSpPr>
        <p:grpSpPr>
          <a:xfrm>
            <a:off x="822960" y="1417320"/>
            <a:ext cx="10543032" cy="3511296"/>
            <a:chOff x="822960" y="1417320"/>
            <a:chExt cx="10543032" cy="3511296"/>
          </a:xfrm>
        </p:grpSpPr>
        <p:sp>
          <p:nvSpPr>
            <p:cNvPr id="5" name="Rounded Rectangle 4"/>
            <p:cNvSpPr/>
            <p:nvPr/>
          </p:nvSpPr>
          <p:spPr>
            <a:xfrm>
              <a:off x="822960" y="1417320"/>
              <a:ext cx="10543032" cy="1097280"/>
            </a:xfrm>
            <a:prstGeom prst="roundRect">
              <a:avLst>
                <a:gd name="adj" fmla="val 6666"/>
              </a:avLst>
            </a:prstGeom>
            <a:solidFill>
              <a:srgbClr val="2B2F36"/>
            </a:solidFill>
            <a:ln>
              <a:noFill/>
            </a:ln>
          </p:spPr>
          <p:txBody>
            <a:bodyPr rtlCol="0" anchor="ctr"/>
            <a:lstStyle/>
            <a:p>
              <a:pPr algn="ctr"/>
              <a:endParaRPr/>
            </a:p>
          </p:txBody>
        </p:sp>
        <p:sp>
          <p:nvSpPr>
            <p:cNvPr id="6" name="Rounded Rectangle 5"/>
            <p:cNvSpPr/>
            <p:nvPr/>
          </p:nvSpPr>
          <p:spPr>
            <a:xfrm>
              <a:off x="822960" y="2624328"/>
              <a:ext cx="10543032" cy="1097280"/>
            </a:xfrm>
            <a:prstGeom prst="roundRect">
              <a:avLst>
                <a:gd name="adj" fmla="val 6666"/>
              </a:avLst>
            </a:prstGeom>
            <a:solidFill>
              <a:srgbClr val="2B2F36"/>
            </a:solidFill>
            <a:ln>
              <a:noFill/>
            </a:ln>
          </p:spPr>
          <p:txBody>
            <a:bodyPr rtlCol="0" anchor="ctr"/>
            <a:lstStyle/>
            <a:p>
              <a:pPr algn="ctr"/>
              <a:endParaRPr/>
            </a:p>
          </p:txBody>
        </p:sp>
        <p:sp>
          <p:nvSpPr>
            <p:cNvPr id="7" name="Rounded Rectangle 6"/>
            <p:cNvSpPr/>
            <p:nvPr/>
          </p:nvSpPr>
          <p:spPr>
            <a:xfrm>
              <a:off x="822960" y="3831336"/>
              <a:ext cx="10543032" cy="1097280"/>
            </a:xfrm>
            <a:prstGeom prst="roundRect">
              <a:avLst>
                <a:gd name="adj" fmla="val 6666"/>
              </a:avLst>
            </a:prstGeom>
            <a:solidFill>
              <a:srgbClr val="2B2F36"/>
            </a:solidFill>
            <a:ln>
              <a:noFill/>
            </a:ln>
          </p:spPr>
          <p:txBody>
            <a:bodyPr rtlCol="0" anchor="ctr"/>
            <a:lstStyle/>
            <a:p>
              <a:pPr algn="ctr"/>
              <a:endParaRPr/>
            </a:p>
          </p:txBody>
        </p:sp>
      </p:grpSp>
      <p:sp>
        <p:nvSpPr>
          <p:cNvPr id="8" name="Region switch arrow" descr="A large arrow labelled Switch region, pointing from the engines before the switch to the engines after it."/>
          <p:cNvSpPr/>
          <p:nvPr/>
        </p:nvSpPr>
        <p:spPr>
          <a:xfrm>
            <a:off x="6355080" y="1417320"/>
            <a:ext cx="1463040" cy="3511296"/>
          </a:xfrm>
          <a:prstGeom prst="rightArrow">
            <a:avLst>
              <a:gd name="adj1" fmla="val 78000"/>
              <a:gd name="adj2" fmla="val 22000"/>
            </a:avLst>
          </a:prstGeom>
          <a:solidFill>
            <a:srgbClr val="F28C28"/>
          </a:solidFill>
          <a:ln>
            <a:noFill/>
          </a:ln>
        </p:spPr>
        <p:txBody>
          <a:bodyPr wrap="square" lIns="18288" tIns="0" rIns="18288" bIns="0" rtlCol="0" anchor="ctr">
            <a:noAutofit/>
          </a:bodyPr>
          <a:lstStyle/>
          <a:p>
            <a:pPr algn="ctr"/>
            <a:r>
              <a:rPr lang="en-GB" sz="1600" b="1" i="0">
                <a:solidFill>
                  <a:srgbClr val="101418"/>
                </a:solidFill>
                <a:latin typeface="Arial"/>
              </a:rPr>
              <a:t>Switch</a:t>
            </a:r>
            <a:endParaRPr lang="en-GB" sz="1600"/>
          </a:p>
          <a:p>
            <a:pPr algn="ctr"/>
            <a:r>
              <a:rPr lang="en-GB" sz="1600" b="1" i="0">
                <a:solidFill>
                  <a:srgbClr val="101418"/>
                </a:solidFill>
                <a:latin typeface="Arial"/>
              </a:rPr>
              <a:t>region</a:t>
            </a:r>
            <a:endParaRPr lang="en-GB" sz="1600"/>
          </a:p>
        </p:txBody>
      </p:sp>
      <p:grpSp>
        <p:nvGrpSpPr>
          <p:cNvPr id="9" name="Row: Core engine" descr="A Core engine before the switch is orange; after the switch it has a different look, amber and a different shape."/>
          <p:cNvGrpSpPr/>
          <p:nvPr/>
        </p:nvGrpSpPr>
        <p:grpSpPr>
          <a:xfrm>
            <a:off x="1005840" y="1417320"/>
            <a:ext cx="10241280" cy="1097280"/>
            <a:chOff x="1005840" y="1417320"/>
            <a:chExt cx="10241280" cy="1097280"/>
          </a:xfrm>
        </p:grpSpPr>
        <p:sp>
          <p:nvSpPr>
            <p:cNvPr id="10" name="TextBox 9"/>
            <p:cNvSpPr txBox="1"/>
            <p:nvPr/>
          </p:nvSpPr>
          <p:spPr>
            <a:xfrm>
              <a:off x="1005840" y="1417320"/>
              <a:ext cx="2331720" cy="1097280"/>
            </a:xfrm>
            <a:prstGeom prst="rect">
              <a:avLst/>
            </a:prstGeom>
            <a:noFill/>
          </p:spPr>
          <p:txBody>
            <a:bodyPr wrap="square" lIns="0" tIns="0" rIns="0" bIns="0" anchor="ctr">
              <a:noAutofit/>
            </a:bodyPr>
            <a:lstStyle/>
            <a:p>
              <a:pPr algn="l"/>
              <a:r>
                <a:rPr lang="en-GB" sz="1600" b="1" i="0">
                  <a:solidFill>
                    <a:srgbClr val="F2F2F2"/>
                  </a:solidFill>
                  <a:latin typeface="Arial"/>
                </a:rPr>
                <a:t>Core engine</a:t>
              </a:r>
              <a:endParaRPr lang="en-GB" sz="1600"/>
            </a:p>
          </p:txBody>
        </p:sp>
        <p:sp>
          <p:nvSpPr>
            <p:cNvPr id="11" name="Rounded Rectangle 10"/>
            <p:cNvSpPr/>
            <p:nvPr/>
          </p:nvSpPr>
          <p:spPr>
            <a:xfrm>
              <a:off x="3881810" y="1750893"/>
              <a:ext cx="625449" cy="223845"/>
            </a:xfrm>
            <a:prstGeom prst="roundRect">
              <a:avLst>
                <a:gd name="adj" fmla="val 12254"/>
              </a:avLst>
            </a:prstGeom>
            <a:solidFill>
              <a:srgbClr val="2B2F36"/>
            </a:solidFill>
            <a:ln w="19050">
              <a:solidFill>
                <a:srgbClr val="F28C28"/>
              </a:solidFill>
            </a:ln>
          </p:spPr>
          <p:txBody>
            <a:bodyPr rtlCol="0" anchor="ctr"/>
            <a:lstStyle/>
            <a:p>
              <a:pPr algn="ctr"/>
              <a:endParaRPr/>
            </a:p>
          </p:txBody>
        </p:sp>
        <p:sp>
          <p:nvSpPr>
            <p:cNvPr id="12" name="Freeform 11"/>
            <p:cNvSpPr/>
            <p:nvPr/>
          </p:nvSpPr>
          <p:spPr>
            <a:xfrm>
              <a:off x="3934480" y="1658721"/>
              <a:ext cx="520111" cy="92172"/>
            </a:xfrm>
            <a:custGeom>
              <a:avLst/>
              <a:gdLst/>
              <a:ahLst/>
              <a:cxnLst/>
              <a:rect l="l" t="t" r="r" b="b"/>
              <a:pathLst>
                <a:path w="520111" h="92172">
                  <a:moveTo>
                    <a:pt x="0" y="92172"/>
                  </a:moveTo>
                  <a:lnTo>
                    <a:pt x="79004" y="13167"/>
                  </a:lnTo>
                  <a:lnTo>
                    <a:pt x="441106" y="0"/>
                  </a:lnTo>
                  <a:lnTo>
                    <a:pt x="520111" y="92172"/>
                  </a:lnTo>
                  <a:close/>
                </a:path>
              </a:pathLst>
            </a:custGeom>
            <a:solidFill>
              <a:srgbClr val="1B1D21"/>
            </a:solidFill>
            <a:ln w="12700">
              <a:solidFill>
                <a:srgbClr val="9AA0A6"/>
              </a:solidFill>
            </a:ln>
          </p:spPr>
          <p:txBody>
            <a:bodyPr rtlCol="0" anchor="ctr"/>
            <a:lstStyle/>
            <a:p>
              <a:pPr algn="ctr"/>
              <a:endParaRPr/>
            </a:p>
          </p:txBody>
        </p:sp>
        <p:sp>
          <p:nvSpPr>
            <p:cNvPr id="13" name="Oval 12"/>
            <p:cNvSpPr/>
            <p:nvPr/>
          </p:nvSpPr>
          <p:spPr>
            <a:xfrm>
              <a:off x="3987149" y="2027407"/>
              <a:ext cx="158008" cy="158008"/>
            </a:xfrm>
            <a:prstGeom prst="ellipse">
              <a:avLst/>
            </a:prstGeom>
            <a:solidFill>
              <a:srgbClr val="343A43"/>
            </a:solidFill>
            <a:ln w="12700">
              <a:solidFill>
                <a:srgbClr val="9AA0A6"/>
              </a:solidFill>
            </a:ln>
          </p:spPr>
          <p:txBody>
            <a:bodyPr rtlCol="0" anchor="ctr"/>
            <a:lstStyle/>
            <a:p>
              <a:pPr algn="ctr"/>
              <a:endParaRPr/>
            </a:p>
          </p:txBody>
        </p:sp>
        <p:sp>
          <p:nvSpPr>
            <p:cNvPr id="14" name="Oval 13"/>
            <p:cNvSpPr/>
            <p:nvPr/>
          </p:nvSpPr>
          <p:spPr>
            <a:xfrm>
              <a:off x="4243913" y="2027407"/>
              <a:ext cx="158008" cy="158008"/>
            </a:xfrm>
            <a:prstGeom prst="ellipse">
              <a:avLst/>
            </a:prstGeom>
            <a:solidFill>
              <a:srgbClr val="343A43"/>
            </a:solidFill>
            <a:ln w="12700">
              <a:solidFill>
                <a:srgbClr val="9AA0A6"/>
              </a:solidFill>
            </a:ln>
          </p:spPr>
          <p:txBody>
            <a:bodyPr rtlCol="0" anchor="ctr"/>
            <a:lstStyle/>
            <a:p>
              <a:pPr algn="ctr"/>
              <a:endParaRPr/>
            </a:p>
          </p:txBody>
        </p:sp>
        <p:cxnSp>
          <p:nvCxnSpPr>
            <p:cNvPr id="15" name="Connector 14"/>
            <p:cNvCxnSpPr/>
            <p:nvPr/>
          </p:nvCxnSpPr>
          <p:spPr>
            <a:xfrm>
              <a:off x="4507260" y="1935236"/>
              <a:ext cx="52669" cy="0"/>
            </a:xfrm>
            <a:prstGeom prst="line">
              <a:avLst/>
            </a:prstGeom>
            <a:ln w="25400">
              <a:solidFill>
                <a:srgbClr val="9AA0A6"/>
              </a:solidFill>
            </a:ln>
          </p:spPr>
        </p:cxnSp>
        <p:sp>
          <p:nvSpPr>
            <p:cNvPr id="16" name="Rectangle 15"/>
            <p:cNvSpPr/>
            <p:nvPr/>
          </p:nvSpPr>
          <p:spPr>
            <a:xfrm>
              <a:off x="4559929" y="1935236"/>
              <a:ext cx="1217980" cy="65836"/>
            </a:xfrm>
            <a:prstGeom prst="rect">
              <a:avLst/>
            </a:prstGeom>
            <a:solidFill>
              <a:srgbClr val="1B1D21"/>
            </a:solidFill>
            <a:ln w="12700">
              <a:solidFill>
                <a:srgbClr val="9AA0A6"/>
              </a:solidFill>
            </a:ln>
          </p:spPr>
          <p:txBody>
            <a:bodyPr rtlCol="0" anchor="ctr"/>
            <a:lstStyle/>
            <a:p>
              <a:pPr algn="ctr"/>
              <a:endParaRPr/>
            </a:p>
          </p:txBody>
        </p:sp>
        <p:sp>
          <p:nvSpPr>
            <p:cNvPr id="17" name="Oval 16"/>
            <p:cNvSpPr/>
            <p:nvPr/>
          </p:nvSpPr>
          <p:spPr>
            <a:xfrm>
              <a:off x="4645517" y="1987905"/>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18" name="Oval 17"/>
            <p:cNvSpPr/>
            <p:nvPr/>
          </p:nvSpPr>
          <p:spPr>
            <a:xfrm>
              <a:off x="4724521" y="2066909"/>
              <a:ext cx="39502" cy="39502"/>
            </a:xfrm>
            <a:prstGeom prst="ellipse">
              <a:avLst/>
            </a:prstGeom>
            <a:solidFill>
              <a:srgbClr val="9AA0A6"/>
            </a:solidFill>
            <a:ln>
              <a:noFill/>
            </a:ln>
          </p:spPr>
          <p:txBody>
            <a:bodyPr rtlCol="0" anchor="ctr"/>
            <a:lstStyle/>
            <a:p>
              <a:pPr algn="ctr"/>
              <a:endParaRPr/>
            </a:p>
          </p:txBody>
        </p:sp>
        <p:sp>
          <p:nvSpPr>
            <p:cNvPr id="19" name="Oval 18"/>
            <p:cNvSpPr/>
            <p:nvPr/>
          </p:nvSpPr>
          <p:spPr>
            <a:xfrm>
              <a:off x="4963728" y="1987905"/>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20" name="Oval 19"/>
            <p:cNvSpPr/>
            <p:nvPr/>
          </p:nvSpPr>
          <p:spPr>
            <a:xfrm>
              <a:off x="5042733" y="2066909"/>
              <a:ext cx="39502" cy="39502"/>
            </a:xfrm>
            <a:prstGeom prst="ellipse">
              <a:avLst/>
            </a:prstGeom>
            <a:solidFill>
              <a:srgbClr val="9AA0A6"/>
            </a:solidFill>
            <a:ln>
              <a:noFill/>
            </a:ln>
          </p:spPr>
          <p:txBody>
            <a:bodyPr rtlCol="0" anchor="ctr"/>
            <a:lstStyle/>
            <a:p>
              <a:pPr algn="ctr"/>
              <a:endParaRPr/>
            </a:p>
          </p:txBody>
        </p:sp>
        <p:sp>
          <p:nvSpPr>
            <p:cNvPr id="21" name="Oval 20"/>
            <p:cNvSpPr/>
            <p:nvPr/>
          </p:nvSpPr>
          <p:spPr>
            <a:xfrm>
              <a:off x="5281940" y="1987905"/>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22" name="Oval 21"/>
            <p:cNvSpPr/>
            <p:nvPr/>
          </p:nvSpPr>
          <p:spPr>
            <a:xfrm>
              <a:off x="5360944" y="2066909"/>
              <a:ext cx="39502" cy="39502"/>
            </a:xfrm>
            <a:prstGeom prst="ellipse">
              <a:avLst/>
            </a:prstGeom>
            <a:solidFill>
              <a:srgbClr val="9AA0A6"/>
            </a:solidFill>
            <a:ln>
              <a:noFill/>
            </a:ln>
          </p:spPr>
          <p:txBody>
            <a:bodyPr rtlCol="0" anchor="ctr"/>
            <a:lstStyle/>
            <a:p>
              <a:pPr algn="ctr"/>
              <a:endParaRPr/>
            </a:p>
          </p:txBody>
        </p:sp>
        <p:sp>
          <p:nvSpPr>
            <p:cNvPr id="23" name="Oval 22"/>
            <p:cNvSpPr/>
            <p:nvPr/>
          </p:nvSpPr>
          <p:spPr>
            <a:xfrm>
              <a:off x="5600151" y="1987905"/>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24" name="Oval 23"/>
            <p:cNvSpPr/>
            <p:nvPr/>
          </p:nvSpPr>
          <p:spPr>
            <a:xfrm>
              <a:off x="5679155" y="2066909"/>
              <a:ext cx="39502" cy="39502"/>
            </a:xfrm>
            <a:prstGeom prst="ellipse">
              <a:avLst/>
            </a:prstGeom>
            <a:solidFill>
              <a:srgbClr val="9AA0A6"/>
            </a:solidFill>
            <a:ln>
              <a:noFill/>
            </a:ln>
          </p:spPr>
          <p:txBody>
            <a:bodyPr rtlCol="0" anchor="ctr"/>
            <a:lstStyle/>
            <a:p>
              <a:pPr algn="ctr"/>
              <a:endParaRPr/>
            </a:p>
          </p:txBody>
        </p:sp>
        <p:cxnSp>
          <p:nvCxnSpPr>
            <p:cNvPr id="25" name="Connector 24"/>
            <p:cNvCxnSpPr/>
            <p:nvPr/>
          </p:nvCxnSpPr>
          <p:spPr>
            <a:xfrm>
              <a:off x="4744272" y="2086660"/>
              <a:ext cx="954634" cy="0"/>
            </a:xfrm>
            <a:prstGeom prst="line">
              <a:avLst/>
            </a:prstGeom>
            <a:ln w="19050">
              <a:solidFill>
                <a:srgbClr val="9AA0A6"/>
              </a:solidFill>
            </a:ln>
          </p:spPr>
        </p:cxnSp>
        <p:sp>
          <p:nvSpPr>
            <p:cNvPr id="26" name="Rounded Rectangle 25"/>
            <p:cNvSpPr/>
            <p:nvPr/>
          </p:nvSpPr>
          <p:spPr>
            <a:xfrm>
              <a:off x="4954950" y="1685056"/>
              <a:ext cx="822959" cy="250179"/>
            </a:xfrm>
            <a:prstGeom prst="roundRect">
              <a:avLst>
                <a:gd name="adj" fmla="val 21929"/>
              </a:avLst>
            </a:prstGeom>
            <a:solidFill>
              <a:srgbClr val="F28C28"/>
            </a:solidFill>
            <a:ln>
              <a:noFill/>
            </a:ln>
          </p:spPr>
          <p:txBody>
            <a:bodyPr rtlCol="0" anchor="ctr"/>
            <a:lstStyle/>
            <a:p>
              <a:pPr algn="ctr"/>
              <a:endParaRPr/>
            </a:p>
          </p:txBody>
        </p:sp>
        <p:sp>
          <p:nvSpPr>
            <p:cNvPr id="27" name="Rectangle 26"/>
            <p:cNvSpPr/>
            <p:nvPr/>
          </p:nvSpPr>
          <p:spPr>
            <a:xfrm>
              <a:off x="5659404" y="1685056"/>
              <a:ext cx="118506" cy="250179"/>
            </a:xfrm>
            <a:prstGeom prst="rect">
              <a:avLst/>
            </a:prstGeom>
            <a:solidFill>
              <a:srgbClr val="1B1D21"/>
            </a:solidFill>
            <a:ln w="12700">
              <a:solidFill>
                <a:srgbClr val="9AA0A6"/>
              </a:solidFill>
            </a:ln>
          </p:spPr>
          <p:txBody>
            <a:bodyPr rtlCol="0" anchor="ctr"/>
            <a:lstStyle/>
            <a:p>
              <a:pPr algn="ctr"/>
              <a:endParaRPr/>
            </a:p>
          </p:txBody>
        </p:sp>
        <p:sp>
          <p:nvSpPr>
            <p:cNvPr id="28" name="Rectangle 27"/>
            <p:cNvSpPr/>
            <p:nvPr/>
          </p:nvSpPr>
          <p:spPr>
            <a:xfrm>
              <a:off x="5685739" y="1566550"/>
              <a:ext cx="65836" cy="131673"/>
            </a:xfrm>
            <a:prstGeom prst="rect">
              <a:avLst/>
            </a:prstGeom>
            <a:solidFill>
              <a:srgbClr val="1B1D21"/>
            </a:solidFill>
            <a:ln w="12700">
              <a:solidFill>
                <a:srgbClr val="9AA0A6"/>
              </a:solidFill>
            </a:ln>
          </p:spPr>
          <p:txBody>
            <a:bodyPr rtlCol="0" anchor="ctr"/>
            <a:lstStyle/>
            <a:p>
              <a:pPr algn="ctr"/>
              <a:endParaRPr/>
            </a:p>
          </p:txBody>
        </p:sp>
        <p:sp>
          <p:nvSpPr>
            <p:cNvPr id="29" name="Rectangle 28"/>
            <p:cNvSpPr/>
            <p:nvPr/>
          </p:nvSpPr>
          <p:spPr>
            <a:xfrm>
              <a:off x="5659404" y="1540215"/>
              <a:ext cx="118506" cy="39502"/>
            </a:xfrm>
            <a:prstGeom prst="rect">
              <a:avLst/>
            </a:prstGeom>
            <a:solidFill>
              <a:srgbClr val="1B1D21"/>
            </a:solidFill>
            <a:ln w="12700">
              <a:solidFill>
                <a:srgbClr val="9AA0A6"/>
              </a:solidFill>
            </a:ln>
          </p:spPr>
          <p:txBody>
            <a:bodyPr rtlCol="0" anchor="ctr"/>
            <a:lstStyle/>
            <a:p>
              <a:pPr algn="ctr"/>
              <a:endParaRPr/>
            </a:p>
          </p:txBody>
        </p:sp>
        <p:sp>
          <p:nvSpPr>
            <p:cNvPr id="30" name="Rounded Rectangle 29"/>
            <p:cNvSpPr/>
            <p:nvPr/>
          </p:nvSpPr>
          <p:spPr>
            <a:xfrm>
              <a:off x="5152461" y="1619219"/>
              <a:ext cx="131673" cy="79004"/>
            </a:xfrm>
            <a:prstGeom prst="roundRect">
              <a:avLst>
                <a:gd name="adj" fmla="val 46296"/>
              </a:avLst>
            </a:prstGeom>
            <a:solidFill>
              <a:srgbClr val="F28C28"/>
            </a:solidFill>
            <a:ln>
              <a:noFill/>
            </a:ln>
          </p:spPr>
          <p:txBody>
            <a:bodyPr rtlCol="0" anchor="ctr"/>
            <a:lstStyle/>
            <a:p>
              <a:pPr algn="ctr"/>
              <a:endParaRPr/>
            </a:p>
          </p:txBody>
        </p:sp>
        <p:sp>
          <p:nvSpPr>
            <p:cNvPr id="31" name="Rectangle 30"/>
            <p:cNvSpPr/>
            <p:nvPr/>
          </p:nvSpPr>
          <p:spPr>
            <a:xfrm>
              <a:off x="4559929" y="1592884"/>
              <a:ext cx="395020" cy="355518"/>
            </a:xfrm>
            <a:prstGeom prst="rect">
              <a:avLst/>
            </a:prstGeom>
            <a:solidFill>
              <a:srgbClr val="F28C28"/>
            </a:solidFill>
            <a:ln>
              <a:noFill/>
            </a:ln>
          </p:spPr>
          <p:txBody>
            <a:bodyPr rtlCol="0" anchor="ctr"/>
            <a:lstStyle/>
            <a:p>
              <a:pPr algn="ctr"/>
              <a:endParaRPr/>
            </a:p>
          </p:txBody>
        </p:sp>
        <p:sp>
          <p:nvSpPr>
            <p:cNvPr id="32" name="Rectangle 31"/>
            <p:cNvSpPr/>
            <p:nvPr/>
          </p:nvSpPr>
          <p:spPr>
            <a:xfrm>
              <a:off x="4540178" y="1559966"/>
              <a:ext cx="434522" cy="46085"/>
            </a:xfrm>
            <a:prstGeom prst="rect">
              <a:avLst/>
            </a:prstGeom>
            <a:solidFill>
              <a:srgbClr val="1B1D21"/>
            </a:solidFill>
            <a:ln w="12700">
              <a:solidFill>
                <a:srgbClr val="9AA0A6"/>
              </a:solidFill>
            </a:ln>
          </p:spPr>
          <p:txBody>
            <a:bodyPr rtlCol="0" anchor="ctr"/>
            <a:lstStyle/>
            <a:p>
              <a:pPr algn="ctr"/>
              <a:endParaRPr/>
            </a:p>
          </p:txBody>
        </p:sp>
        <p:sp>
          <p:nvSpPr>
            <p:cNvPr id="33" name="Rectangle 32"/>
            <p:cNvSpPr/>
            <p:nvPr/>
          </p:nvSpPr>
          <p:spPr>
            <a:xfrm>
              <a:off x="4652101" y="1671888"/>
              <a:ext cx="171175" cy="131673"/>
            </a:xfrm>
            <a:prstGeom prst="rect">
              <a:avLst/>
            </a:prstGeom>
            <a:solidFill>
              <a:srgbClr val="1B1D21"/>
            </a:solidFill>
            <a:ln>
              <a:noFill/>
            </a:ln>
          </p:spPr>
          <p:txBody>
            <a:bodyPr rtlCol="0" anchor="ctr"/>
            <a:lstStyle/>
            <a:p>
              <a:pPr algn="ctr"/>
              <a:endParaRPr/>
            </a:p>
          </p:txBody>
        </p:sp>
        <p:sp>
          <p:nvSpPr>
            <p:cNvPr id="34" name="Rectangle 33"/>
            <p:cNvSpPr/>
            <p:nvPr/>
          </p:nvSpPr>
          <p:spPr>
            <a:xfrm>
              <a:off x="8962948" y="1935236"/>
              <a:ext cx="1152143" cy="65836"/>
            </a:xfrm>
            <a:prstGeom prst="rect">
              <a:avLst/>
            </a:prstGeom>
            <a:solidFill>
              <a:srgbClr val="1B1D21"/>
            </a:solidFill>
            <a:ln w="12700">
              <a:solidFill>
                <a:srgbClr val="9AA0A6"/>
              </a:solidFill>
            </a:ln>
          </p:spPr>
          <p:txBody>
            <a:bodyPr rtlCol="0" anchor="ctr"/>
            <a:lstStyle/>
            <a:p>
              <a:pPr algn="ctr"/>
              <a:endParaRPr/>
            </a:p>
          </p:txBody>
        </p:sp>
        <p:sp>
          <p:nvSpPr>
            <p:cNvPr id="35" name="Oval 34"/>
            <p:cNvSpPr/>
            <p:nvPr/>
          </p:nvSpPr>
          <p:spPr>
            <a:xfrm>
              <a:off x="9048536" y="1987905"/>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36" name="Oval 35"/>
            <p:cNvSpPr/>
            <p:nvPr/>
          </p:nvSpPr>
          <p:spPr>
            <a:xfrm>
              <a:off x="9127540" y="2066909"/>
              <a:ext cx="39502" cy="39502"/>
            </a:xfrm>
            <a:prstGeom prst="ellipse">
              <a:avLst/>
            </a:prstGeom>
            <a:solidFill>
              <a:srgbClr val="9AA0A6"/>
            </a:solidFill>
            <a:ln>
              <a:noFill/>
            </a:ln>
          </p:spPr>
          <p:txBody>
            <a:bodyPr rtlCol="0" anchor="ctr"/>
            <a:lstStyle/>
            <a:p>
              <a:pPr algn="ctr"/>
              <a:endParaRPr/>
            </a:p>
          </p:txBody>
        </p:sp>
        <p:sp>
          <p:nvSpPr>
            <p:cNvPr id="37" name="Oval 36"/>
            <p:cNvSpPr/>
            <p:nvPr/>
          </p:nvSpPr>
          <p:spPr>
            <a:xfrm>
              <a:off x="9492935" y="1987905"/>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38" name="Oval 37"/>
            <p:cNvSpPr/>
            <p:nvPr/>
          </p:nvSpPr>
          <p:spPr>
            <a:xfrm>
              <a:off x="9571939" y="2066909"/>
              <a:ext cx="39502" cy="39502"/>
            </a:xfrm>
            <a:prstGeom prst="ellipse">
              <a:avLst/>
            </a:prstGeom>
            <a:solidFill>
              <a:srgbClr val="9AA0A6"/>
            </a:solidFill>
            <a:ln>
              <a:noFill/>
            </a:ln>
          </p:spPr>
          <p:txBody>
            <a:bodyPr rtlCol="0" anchor="ctr"/>
            <a:lstStyle/>
            <a:p>
              <a:pPr algn="ctr"/>
              <a:endParaRPr/>
            </a:p>
          </p:txBody>
        </p:sp>
        <p:sp>
          <p:nvSpPr>
            <p:cNvPr id="39" name="Oval 38"/>
            <p:cNvSpPr/>
            <p:nvPr/>
          </p:nvSpPr>
          <p:spPr>
            <a:xfrm>
              <a:off x="9937333" y="1987905"/>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40" name="Oval 39"/>
            <p:cNvSpPr/>
            <p:nvPr/>
          </p:nvSpPr>
          <p:spPr>
            <a:xfrm>
              <a:off x="10016337" y="2066909"/>
              <a:ext cx="39502" cy="39502"/>
            </a:xfrm>
            <a:prstGeom prst="ellipse">
              <a:avLst/>
            </a:prstGeom>
            <a:solidFill>
              <a:srgbClr val="9AA0A6"/>
            </a:solidFill>
            <a:ln>
              <a:noFill/>
            </a:ln>
          </p:spPr>
          <p:txBody>
            <a:bodyPr rtlCol="0" anchor="ctr"/>
            <a:lstStyle/>
            <a:p>
              <a:pPr algn="ctr"/>
              <a:endParaRPr/>
            </a:p>
          </p:txBody>
        </p:sp>
        <p:cxnSp>
          <p:nvCxnSpPr>
            <p:cNvPr id="41" name="Connector 40"/>
            <p:cNvCxnSpPr/>
            <p:nvPr/>
          </p:nvCxnSpPr>
          <p:spPr>
            <a:xfrm>
              <a:off x="9147291" y="2086660"/>
              <a:ext cx="888797" cy="0"/>
            </a:xfrm>
            <a:prstGeom prst="line">
              <a:avLst/>
            </a:prstGeom>
            <a:ln w="19050">
              <a:solidFill>
                <a:srgbClr val="9AA0A6"/>
              </a:solidFill>
            </a:ln>
          </p:spPr>
        </p:cxnSp>
        <p:sp>
          <p:nvSpPr>
            <p:cNvPr id="42" name="Rounded Rectangle 41"/>
            <p:cNvSpPr/>
            <p:nvPr/>
          </p:nvSpPr>
          <p:spPr>
            <a:xfrm>
              <a:off x="9357969" y="1685056"/>
              <a:ext cx="757123" cy="250179"/>
            </a:xfrm>
            <a:prstGeom prst="roundRect">
              <a:avLst>
                <a:gd name="adj" fmla="val 21929"/>
              </a:avLst>
            </a:prstGeom>
            <a:solidFill>
              <a:srgbClr val="F2C14E"/>
            </a:solidFill>
            <a:ln>
              <a:noFill/>
            </a:ln>
          </p:spPr>
          <p:txBody>
            <a:bodyPr rtlCol="0" anchor="ctr"/>
            <a:lstStyle/>
            <a:p>
              <a:pPr algn="ctr"/>
              <a:endParaRPr/>
            </a:p>
          </p:txBody>
        </p:sp>
        <p:sp>
          <p:nvSpPr>
            <p:cNvPr id="43" name="Rounded Rectangle 42"/>
            <p:cNvSpPr/>
            <p:nvPr/>
          </p:nvSpPr>
          <p:spPr>
            <a:xfrm>
              <a:off x="9384304" y="1777227"/>
              <a:ext cx="572780" cy="171175"/>
            </a:xfrm>
            <a:prstGeom prst="roundRect">
              <a:avLst>
                <a:gd name="adj" fmla="val 21367"/>
              </a:avLst>
            </a:prstGeom>
            <a:solidFill>
              <a:srgbClr val="F2C14E"/>
            </a:solidFill>
            <a:ln w="15875">
              <a:solidFill>
                <a:srgbClr val="1B1D21"/>
              </a:solidFill>
            </a:ln>
          </p:spPr>
          <p:txBody>
            <a:bodyPr rtlCol="0" anchor="ctr"/>
            <a:lstStyle/>
            <a:p>
              <a:pPr algn="ctr"/>
              <a:endParaRPr/>
            </a:p>
          </p:txBody>
        </p:sp>
        <p:sp>
          <p:nvSpPr>
            <p:cNvPr id="44" name="Rectangle 43"/>
            <p:cNvSpPr/>
            <p:nvPr/>
          </p:nvSpPr>
          <p:spPr>
            <a:xfrm>
              <a:off x="9996586" y="1685056"/>
              <a:ext cx="118506" cy="250179"/>
            </a:xfrm>
            <a:prstGeom prst="rect">
              <a:avLst/>
            </a:prstGeom>
            <a:solidFill>
              <a:srgbClr val="1B1D21"/>
            </a:solidFill>
            <a:ln w="12700">
              <a:solidFill>
                <a:srgbClr val="9AA0A6"/>
              </a:solidFill>
            </a:ln>
          </p:spPr>
          <p:txBody>
            <a:bodyPr rtlCol="0" anchor="ctr"/>
            <a:lstStyle/>
            <a:p>
              <a:pPr algn="ctr"/>
              <a:endParaRPr/>
            </a:p>
          </p:txBody>
        </p:sp>
        <p:sp>
          <p:nvSpPr>
            <p:cNvPr id="45" name="Rectangle 44"/>
            <p:cNvSpPr/>
            <p:nvPr/>
          </p:nvSpPr>
          <p:spPr>
            <a:xfrm>
              <a:off x="10022921" y="1566550"/>
              <a:ext cx="65836" cy="131673"/>
            </a:xfrm>
            <a:prstGeom prst="rect">
              <a:avLst/>
            </a:prstGeom>
            <a:solidFill>
              <a:srgbClr val="1B1D21"/>
            </a:solidFill>
            <a:ln w="12700">
              <a:solidFill>
                <a:srgbClr val="9AA0A6"/>
              </a:solidFill>
            </a:ln>
          </p:spPr>
          <p:txBody>
            <a:bodyPr rtlCol="0" anchor="ctr"/>
            <a:lstStyle/>
            <a:p>
              <a:pPr algn="ctr"/>
              <a:endParaRPr/>
            </a:p>
          </p:txBody>
        </p:sp>
        <p:sp>
          <p:nvSpPr>
            <p:cNvPr id="46" name="Rectangle 45"/>
            <p:cNvSpPr/>
            <p:nvPr/>
          </p:nvSpPr>
          <p:spPr>
            <a:xfrm>
              <a:off x="9996586" y="1540215"/>
              <a:ext cx="118506" cy="39502"/>
            </a:xfrm>
            <a:prstGeom prst="rect">
              <a:avLst/>
            </a:prstGeom>
            <a:solidFill>
              <a:srgbClr val="1B1D21"/>
            </a:solidFill>
            <a:ln w="12700">
              <a:solidFill>
                <a:srgbClr val="9AA0A6"/>
              </a:solidFill>
            </a:ln>
          </p:spPr>
          <p:txBody>
            <a:bodyPr rtlCol="0" anchor="ctr"/>
            <a:lstStyle/>
            <a:p>
              <a:pPr algn="ctr"/>
              <a:endParaRPr/>
            </a:p>
          </p:txBody>
        </p:sp>
        <p:sp>
          <p:nvSpPr>
            <p:cNvPr id="47" name="Rounded Rectangle 46"/>
            <p:cNvSpPr/>
            <p:nvPr/>
          </p:nvSpPr>
          <p:spPr>
            <a:xfrm>
              <a:off x="9555480" y="1619219"/>
              <a:ext cx="131673" cy="79004"/>
            </a:xfrm>
            <a:prstGeom prst="roundRect">
              <a:avLst>
                <a:gd name="adj" fmla="val 46296"/>
              </a:avLst>
            </a:prstGeom>
            <a:solidFill>
              <a:srgbClr val="F2C14E"/>
            </a:solidFill>
            <a:ln>
              <a:noFill/>
            </a:ln>
          </p:spPr>
          <p:txBody>
            <a:bodyPr rtlCol="0" anchor="ctr"/>
            <a:lstStyle/>
            <a:p>
              <a:pPr algn="ctr"/>
              <a:endParaRPr/>
            </a:p>
          </p:txBody>
        </p:sp>
        <p:sp>
          <p:nvSpPr>
            <p:cNvPr id="48" name="Rectangle 47"/>
            <p:cNvSpPr/>
            <p:nvPr/>
          </p:nvSpPr>
          <p:spPr>
            <a:xfrm>
              <a:off x="8962948" y="1592884"/>
              <a:ext cx="395020" cy="355518"/>
            </a:xfrm>
            <a:prstGeom prst="rect">
              <a:avLst/>
            </a:prstGeom>
            <a:solidFill>
              <a:srgbClr val="F2C14E"/>
            </a:solidFill>
            <a:ln>
              <a:noFill/>
            </a:ln>
          </p:spPr>
          <p:txBody>
            <a:bodyPr rtlCol="0" anchor="ctr"/>
            <a:lstStyle/>
            <a:p>
              <a:pPr algn="ctr"/>
              <a:endParaRPr/>
            </a:p>
          </p:txBody>
        </p:sp>
        <p:sp>
          <p:nvSpPr>
            <p:cNvPr id="49" name="Rectangle 48"/>
            <p:cNvSpPr/>
            <p:nvPr/>
          </p:nvSpPr>
          <p:spPr>
            <a:xfrm>
              <a:off x="8943197" y="1559966"/>
              <a:ext cx="434522" cy="46085"/>
            </a:xfrm>
            <a:prstGeom prst="rect">
              <a:avLst/>
            </a:prstGeom>
            <a:solidFill>
              <a:srgbClr val="1B1D21"/>
            </a:solidFill>
            <a:ln w="12700">
              <a:solidFill>
                <a:srgbClr val="9AA0A6"/>
              </a:solidFill>
            </a:ln>
          </p:spPr>
          <p:txBody>
            <a:bodyPr rtlCol="0" anchor="ctr"/>
            <a:lstStyle/>
            <a:p>
              <a:pPr algn="ctr"/>
              <a:endParaRPr/>
            </a:p>
          </p:txBody>
        </p:sp>
        <p:sp>
          <p:nvSpPr>
            <p:cNvPr id="50" name="Rectangle 49"/>
            <p:cNvSpPr/>
            <p:nvPr/>
          </p:nvSpPr>
          <p:spPr>
            <a:xfrm>
              <a:off x="9055120" y="1671888"/>
              <a:ext cx="171175" cy="131673"/>
            </a:xfrm>
            <a:prstGeom prst="rect">
              <a:avLst/>
            </a:prstGeom>
            <a:solidFill>
              <a:srgbClr val="1B1D21"/>
            </a:solidFill>
            <a:ln>
              <a:noFill/>
            </a:ln>
          </p:spPr>
          <p:txBody>
            <a:bodyPr rtlCol="0" anchor="ctr"/>
            <a:lstStyle/>
            <a:p>
              <a:pPr algn="ctr"/>
              <a:endParaRPr/>
            </a:p>
          </p:txBody>
        </p:sp>
        <p:sp>
          <p:nvSpPr>
            <p:cNvPr id="51" name="TextBox 50"/>
            <p:cNvSpPr txBox="1"/>
            <p:nvPr/>
          </p:nvSpPr>
          <p:spPr>
            <a:xfrm>
              <a:off x="7863840" y="2203704"/>
              <a:ext cx="3383280" cy="274320"/>
            </a:xfrm>
            <a:prstGeom prst="rect">
              <a:avLst/>
            </a:prstGeom>
            <a:noFill/>
          </p:spPr>
          <p:txBody>
            <a:bodyPr wrap="square" lIns="0" tIns="0" rIns="0" bIns="0" anchor="ctr">
              <a:noAutofit/>
            </a:bodyPr>
            <a:lstStyle/>
            <a:p>
              <a:pPr algn="ctr"/>
              <a:r>
                <a:rPr lang="en-GB" sz="1400" b="1" i="0">
                  <a:solidFill>
                    <a:srgbClr val="F2F2F2"/>
                  </a:solidFill>
                  <a:latin typeface="Arial"/>
                </a:rPr>
                <a:t>Changes look</a:t>
              </a:r>
              <a:endParaRPr lang="en-GB" sz="1400"/>
            </a:p>
          </p:txBody>
        </p:sp>
      </p:grpSp>
      <p:grpSp>
        <p:nvGrpSpPr>
          <p:cNvPr id="52" name="Row: Pack engine, no match" descr="A pack engine with no match in the new region looks exactly the same after the switch."/>
          <p:cNvGrpSpPr/>
          <p:nvPr/>
        </p:nvGrpSpPr>
        <p:grpSpPr>
          <a:xfrm>
            <a:off x="1005840" y="2624328"/>
            <a:ext cx="10241280" cy="1097280"/>
            <a:chOff x="1005840" y="2624328"/>
            <a:chExt cx="10241280" cy="1097280"/>
          </a:xfrm>
        </p:grpSpPr>
        <p:sp>
          <p:nvSpPr>
            <p:cNvPr id="53" name="TextBox 52"/>
            <p:cNvSpPr txBox="1"/>
            <p:nvPr/>
          </p:nvSpPr>
          <p:spPr>
            <a:xfrm>
              <a:off x="1005840" y="2624328"/>
              <a:ext cx="2331720" cy="1097280"/>
            </a:xfrm>
            <a:prstGeom prst="rect">
              <a:avLst/>
            </a:prstGeom>
            <a:noFill/>
          </p:spPr>
          <p:txBody>
            <a:bodyPr wrap="square" lIns="0" tIns="0" rIns="0" bIns="0" anchor="ctr">
              <a:noAutofit/>
            </a:bodyPr>
            <a:lstStyle/>
            <a:p>
              <a:pPr algn="l"/>
              <a:r>
                <a:rPr lang="en-GB" sz="1600" b="1" i="0">
                  <a:solidFill>
                    <a:srgbClr val="F2F2F2"/>
                  </a:solidFill>
                  <a:latin typeface="Arial"/>
                </a:rPr>
                <a:t>Pack engine, no match</a:t>
              </a:r>
              <a:endParaRPr lang="en-GB" sz="1600"/>
            </a:p>
          </p:txBody>
        </p:sp>
        <p:sp>
          <p:nvSpPr>
            <p:cNvPr id="54" name="Rounded Rectangle 53"/>
            <p:cNvSpPr/>
            <p:nvPr/>
          </p:nvSpPr>
          <p:spPr>
            <a:xfrm>
              <a:off x="3881810" y="2957901"/>
              <a:ext cx="625449" cy="223845"/>
            </a:xfrm>
            <a:prstGeom prst="roundRect">
              <a:avLst>
                <a:gd name="adj" fmla="val 12254"/>
              </a:avLst>
            </a:prstGeom>
            <a:solidFill>
              <a:srgbClr val="2B2F36"/>
            </a:solidFill>
            <a:ln w="19050">
              <a:solidFill>
                <a:srgbClr val="F28C28"/>
              </a:solidFill>
              <a:prstDash val="dash"/>
            </a:ln>
          </p:spPr>
          <p:txBody>
            <a:bodyPr rtlCol="0" anchor="ctr"/>
            <a:lstStyle/>
            <a:p>
              <a:pPr algn="ctr"/>
              <a:endParaRPr/>
            </a:p>
          </p:txBody>
        </p:sp>
        <p:sp>
          <p:nvSpPr>
            <p:cNvPr id="55" name="Freeform 54"/>
            <p:cNvSpPr/>
            <p:nvPr/>
          </p:nvSpPr>
          <p:spPr>
            <a:xfrm>
              <a:off x="3934480" y="2865729"/>
              <a:ext cx="520111" cy="92172"/>
            </a:xfrm>
            <a:custGeom>
              <a:avLst/>
              <a:gdLst/>
              <a:ahLst/>
              <a:cxnLst/>
              <a:rect l="l" t="t" r="r" b="b"/>
              <a:pathLst>
                <a:path w="520111" h="92172">
                  <a:moveTo>
                    <a:pt x="0" y="92172"/>
                  </a:moveTo>
                  <a:lnTo>
                    <a:pt x="79004" y="13167"/>
                  </a:lnTo>
                  <a:lnTo>
                    <a:pt x="441106" y="0"/>
                  </a:lnTo>
                  <a:lnTo>
                    <a:pt x="520111" y="92172"/>
                  </a:lnTo>
                  <a:close/>
                </a:path>
              </a:pathLst>
            </a:custGeom>
            <a:solidFill>
              <a:srgbClr val="1B1D21"/>
            </a:solidFill>
            <a:ln w="12700">
              <a:solidFill>
                <a:srgbClr val="9AA0A6"/>
              </a:solidFill>
            </a:ln>
          </p:spPr>
          <p:txBody>
            <a:bodyPr rtlCol="0" anchor="ctr"/>
            <a:lstStyle/>
            <a:p>
              <a:pPr algn="ctr"/>
              <a:endParaRPr/>
            </a:p>
          </p:txBody>
        </p:sp>
        <p:sp>
          <p:nvSpPr>
            <p:cNvPr id="56" name="Oval 55"/>
            <p:cNvSpPr/>
            <p:nvPr/>
          </p:nvSpPr>
          <p:spPr>
            <a:xfrm>
              <a:off x="3987149" y="3234415"/>
              <a:ext cx="158008" cy="158008"/>
            </a:xfrm>
            <a:prstGeom prst="ellipse">
              <a:avLst/>
            </a:prstGeom>
            <a:solidFill>
              <a:srgbClr val="343A43"/>
            </a:solidFill>
            <a:ln w="12700">
              <a:solidFill>
                <a:srgbClr val="9AA0A6"/>
              </a:solidFill>
            </a:ln>
          </p:spPr>
          <p:txBody>
            <a:bodyPr rtlCol="0" anchor="ctr"/>
            <a:lstStyle/>
            <a:p>
              <a:pPr algn="ctr"/>
              <a:endParaRPr/>
            </a:p>
          </p:txBody>
        </p:sp>
        <p:sp>
          <p:nvSpPr>
            <p:cNvPr id="57" name="Oval 56"/>
            <p:cNvSpPr/>
            <p:nvPr/>
          </p:nvSpPr>
          <p:spPr>
            <a:xfrm>
              <a:off x="4243913" y="3234415"/>
              <a:ext cx="158008" cy="158008"/>
            </a:xfrm>
            <a:prstGeom prst="ellipse">
              <a:avLst/>
            </a:prstGeom>
            <a:solidFill>
              <a:srgbClr val="343A43"/>
            </a:solidFill>
            <a:ln w="12700">
              <a:solidFill>
                <a:srgbClr val="9AA0A6"/>
              </a:solidFill>
            </a:ln>
          </p:spPr>
          <p:txBody>
            <a:bodyPr rtlCol="0" anchor="ctr"/>
            <a:lstStyle/>
            <a:p>
              <a:pPr algn="ctr"/>
              <a:endParaRPr/>
            </a:p>
          </p:txBody>
        </p:sp>
        <p:cxnSp>
          <p:nvCxnSpPr>
            <p:cNvPr id="58" name="Connector 57"/>
            <p:cNvCxnSpPr/>
            <p:nvPr/>
          </p:nvCxnSpPr>
          <p:spPr>
            <a:xfrm>
              <a:off x="4507260" y="3142244"/>
              <a:ext cx="52669" cy="0"/>
            </a:xfrm>
            <a:prstGeom prst="line">
              <a:avLst/>
            </a:prstGeom>
            <a:ln w="25400">
              <a:solidFill>
                <a:srgbClr val="9AA0A6"/>
              </a:solidFill>
            </a:ln>
          </p:spPr>
        </p:cxnSp>
        <p:sp>
          <p:nvSpPr>
            <p:cNvPr id="59" name="Rectangle 58"/>
            <p:cNvSpPr/>
            <p:nvPr/>
          </p:nvSpPr>
          <p:spPr>
            <a:xfrm>
              <a:off x="4559929" y="3142244"/>
              <a:ext cx="1217980" cy="65836"/>
            </a:xfrm>
            <a:prstGeom prst="rect">
              <a:avLst/>
            </a:prstGeom>
            <a:solidFill>
              <a:srgbClr val="1B1D21"/>
            </a:solidFill>
            <a:ln w="12700">
              <a:solidFill>
                <a:srgbClr val="9AA0A6"/>
              </a:solidFill>
            </a:ln>
          </p:spPr>
          <p:txBody>
            <a:bodyPr rtlCol="0" anchor="ctr"/>
            <a:lstStyle/>
            <a:p>
              <a:pPr algn="ctr"/>
              <a:endParaRPr/>
            </a:p>
          </p:txBody>
        </p:sp>
        <p:sp>
          <p:nvSpPr>
            <p:cNvPr id="60" name="Oval 59"/>
            <p:cNvSpPr/>
            <p:nvPr/>
          </p:nvSpPr>
          <p:spPr>
            <a:xfrm>
              <a:off x="4645517" y="3194913"/>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61" name="Oval 60"/>
            <p:cNvSpPr/>
            <p:nvPr/>
          </p:nvSpPr>
          <p:spPr>
            <a:xfrm>
              <a:off x="4724521" y="3273917"/>
              <a:ext cx="39502" cy="39502"/>
            </a:xfrm>
            <a:prstGeom prst="ellipse">
              <a:avLst/>
            </a:prstGeom>
            <a:solidFill>
              <a:srgbClr val="9AA0A6"/>
            </a:solidFill>
            <a:ln>
              <a:noFill/>
            </a:ln>
          </p:spPr>
          <p:txBody>
            <a:bodyPr rtlCol="0" anchor="ctr"/>
            <a:lstStyle/>
            <a:p>
              <a:pPr algn="ctr"/>
              <a:endParaRPr/>
            </a:p>
          </p:txBody>
        </p:sp>
        <p:sp>
          <p:nvSpPr>
            <p:cNvPr id="62" name="Oval 61"/>
            <p:cNvSpPr/>
            <p:nvPr/>
          </p:nvSpPr>
          <p:spPr>
            <a:xfrm>
              <a:off x="4963728" y="3194913"/>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63" name="Oval 62"/>
            <p:cNvSpPr/>
            <p:nvPr/>
          </p:nvSpPr>
          <p:spPr>
            <a:xfrm>
              <a:off x="5042733" y="3273917"/>
              <a:ext cx="39502" cy="39502"/>
            </a:xfrm>
            <a:prstGeom prst="ellipse">
              <a:avLst/>
            </a:prstGeom>
            <a:solidFill>
              <a:srgbClr val="9AA0A6"/>
            </a:solidFill>
            <a:ln>
              <a:noFill/>
            </a:ln>
          </p:spPr>
          <p:txBody>
            <a:bodyPr rtlCol="0" anchor="ctr"/>
            <a:lstStyle/>
            <a:p>
              <a:pPr algn="ctr"/>
              <a:endParaRPr/>
            </a:p>
          </p:txBody>
        </p:sp>
        <p:sp>
          <p:nvSpPr>
            <p:cNvPr id="64" name="Oval 63"/>
            <p:cNvSpPr/>
            <p:nvPr/>
          </p:nvSpPr>
          <p:spPr>
            <a:xfrm>
              <a:off x="5281940" y="3194913"/>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65" name="Oval 64"/>
            <p:cNvSpPr/>
            <p:nvPr/>
          </p:nvSpPr>
          <p:spPr>
            <a:xfrm>
              <a:off x="5360944" y="3273917"/>
              <a:ext cx="39502" cy="39502"/>
            </a:xfrm>
            <a:prstGeom prst="ellipse">
              <a:avLst/>
            </a:prstGeom>
            <a:solidFill>
              <a:srgbClr val="9AA0A6"/>
            </a:solidFill>
            <a:ln>
              <a:noFill/>
            </a:ln>
          </p:spPr>
          <p:txBody>
            <a:bodyPr rtlCol="0" anchor="ctr"/>
            <a:lstStyle/>
            <a:p>
              <a:pPr algn="ctr"/>
              <a:endParaRPr/>
            </a:p>
          </p:txBody>
        </p:sp>
        <p:sp>
          <p:nvSpPr>
            <p:cNvPr id="66" name="Oval 65"/>
            <p:cNvSpPr/>
            <p:nvPr/>
          </p:nvSpPr>
          <p:spPr>
            <a:xfrm>
              <a:off x="5600151" y="3194913"/>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67" name="Oval 66"/>
            <p:cNvSpPr/>
            <p:nvPr/>
          </p:nvSpPr>
          <p:spPr>
            <a:xfrm>
              <a:off x="5679155" y="3273917"/>
              <a:ext cx="39502" cy="39502"/>
            </a:xfrm>
            <a:prstGeom prst="ellipse">
              <a:avLst/>
            </a:prstGeom>
            <a:solidFill>
              <a:srgbClr val="9AA0A6"/>
            </a:solidFill>
            <a:ln>
              <a:noFill/>
            </a:ln>
          </p:spPr>
          <p:txBody>
            <a:bodyPr rtlCol="0" anchor="ctr"/>
            <a:lstStyle/>
            <a:p>
              <a:pPr algn="ctr"/>
              <a:endParaRPr/>
            </a:p>
          </p:txBody>
        </p:sp>
        <p:cxnSp>
          <p:nvCxnSpPr>
            <p:cNvPr id="68" name="Connector 67"/>
            <p:cNvCxnSpPr/>
            <p:nvPr/>
          </p:nvCxnSpPr>
          <p:spPr>
            <a:xfrm>
              <a:off x="4744272" y="3293668"/>
              <a:ext cx="954634" cy="0"/>
            </a:xfrm>
            <a:prstGeom prst="line">
              <a:avLst/>
            </a:prstGeom>
            <a:ln w="19050">
              <a:solidFill>
                <a:srgbClr val="9AA0A6"/>
              </a:solidFill>
            </a:ln>
          </p:spPr>
        </p:cxnSp>
        <p:sp>
          <p:nvSpPr>
            <p:cNvPr id="69" name="Rounded Rectangle 68"/>
            <p:cNvSpPr/>
            <p:nvPr/>
          </p:nvSpPr>
          <p:spPr>
            <a:xfrm>
              <a:off x="4954950" y="2892064"/>
              <a:ext cx="822959" cy="250179"/>
            </a:xfrm>
            <a:prstGeom prst="roundRect">
              <a:avLst>
                <a:gd name="adj" fmla="val 21929"/>
              </a:avLst>
            </a:prstGeom>
            <a:solidFill>
              <a:srgbClr val="F28C28">
                <a:alpha val="35000"/>
              </a:srgbClr>
            </a:solidFill>
            <a:ln w="19050">
              <a:solidFill>
                <a:srgbClr val="F28C28"/>
              </a:solidFill>
              <a:prstDash val="dash"/>
            </a:ln>
          </p:spPr>
          <p:txBody>
            <a:bodyPr rtlCol="0" anchor="ctr"/>
            <a:lstStyle/>
            <a:p>
              <a:pPr algn="ctr"/>
              <a:endParaRPr/>
            </a:p>
          </p:txBody>
        </p:sp>
        <p:sp>
          <p:nvSpPr>
            <p:cNvPr id="70" name="Rectangle 69"/>
            <p:cNvSpPr/>
            <p:nvPr/>
          </p:nvSpPr>
          <p:spPr>
            <a:xfrm>
              <a:off x="5659404" y="2892064"/>
              <a:ext cx="118506" cy="250179"/>
            </a:xfrm>
            <a:prstGeom prst="rect">
              <a:avLst/>
            </a:prstGeom>
            <a:solidFill>
              <a:srgbClr val="1B1D21"/>
            </a:solidFill>
            <a:ln w="12700">
              <a:solidFill>
                <a:srgbClr val="9AA0A6"/>
              </a:solidFill>
            </a:ln>
          </p:spPr>
          <p:txBody>
            <a:bodyPr rtlCol="0" anchor="ctr"/>
            <a:lstStyle/>
            <a:p>
              <a:pPr algn="ctr"/>
              <a:endParaRPr/>
            </a:p>
          </p:txBody>
        </p:sp>
        <p:sp>
          <p:nvSpPr>
            <p:cNvPr id="71" name="Rectangle 70"/>
            <p:cNvSpPr/>
            <p:nvPr/>
          </p:nvSpPr>
          <p:spPr>
            <a:xfrm>
              <a:off x="5685739" y="2773558"/>
              <a:ext cx="65836" cy="131673"/>
            </a:xfrm>
            <a:prstGeom prst="rect">
              <a:avLst/>
            </a:prstGeom>
            <a:solidFill>
              <a:srgbClr val="1B1D21"/>
            </a:solidFill>
            <a:ln w="12700">
              <a:solidFill>
                <a:srgbClr val="9AA0A6"/>
              </a:solidFill>
            </a:ln>
          </p:spPr>
          <p:txBody>
            <a:bodyPr rtlCol="0" anchor="ctr"/>
            <a:lstStyle/>
            <a:p>
              <a:pPr algn="ctr"/>
              <a:endParaRPr/>
            </a:p>
          </p:txBody>
        </p:sp>
        <p:sp>
          <p:nvSpPr>
            <p:cNvPr id="72" name="Rectangle 71"/>
            <p:cNvSpPr/>
            <p:nvPr/>
          </p:nvSpPr>
          <p:spPr>
            <a:xfrm>
              <a:off x="5659404" y="2747223"/>
              <a:ext cx="118506" cy="39502"/>
            </a:xfrm>
            <a:prstGeom prst="rect">
              <a:avLst/>
            </a:prstGeom>
            <a:solidFill>
              <a:srgbClr val="1B1D21"/>
            </a:solidFill>
            <a:ln w="12700">
              <a:solidFill>
                <a:srgbClr val="9AA0A6"/>
              </a:solidFill>
            </a:ln>
          </p:spPr>
          <p:txBody>
            <a:bodyPr rtlCol="0" anchor="ctr"/>
            <a:lstStyle/>
            <a:p>
              <a:pPr algn="ctr"/>
              <a:endParaRPr/>
            </a:p>
          </p:txBody>
        </p:sp>
        <p:sp>
          <p:nvSpPr>
            <p:cNvPr id="73" name="Rounded Rectangle 72"/>
            <p:cNvSpPr/>
            <p:nvPr/>
          </p:nvSpPr>
          <p:spPr>
            <a:xfrm>
              <a:off x="5152461" y="2826227"/>
              <a:ext cx="131673" cy="79004"/>
            </a:xfrm>
            <a:prstGeom prst="roundRect">
              <a:avLst>
                <a:gd name="adj" fmla="val 46296"/>
              </a:avLst>
            </a:prstGeom>
            <a:solidFill>
              <a:srgbClr val="F28C28">
                <a:alpha val="35000"/>
              </a:srgbClr>
            </a:solidFill>
            <a:ln w="12700">
              <a:solidFill>
                <a:srgbClr val="F28C28"/>
              </a:solidFill>
              <a:prstDash val="dash"/>
            </a:ln>
          </p:spPr>
          <p:txBody>
            <a:bodyPr rtlCol="0" anchor="ctr"/>
            <a:lstStyle/>
            <a:p>
              <a:pPr algn="ctr"/>
              <a:endParaRPr/>
            </a:p>
          </p:txBody>
        </p:sp>
        <p:sp>
          <p:nvSpPr>
            <p:cNvPr id="74" name="Rectangle 73"/>
            <p:cNvSpPr/>
            <p:nvPr/>
          </p:nvSpPr>
          <p:spPr>
            <a:xfrm>
              <a:off x="4559929" y="2799892"/>
              <a:ext cx="395020" cy="355518"/>
            </a:xfrm>
            <a:prstGeom prst="rect">
              <a:avLst/>
            </a:prstGeom>
            <a:solidFill>
              <a:srgbClr val="F28C28">
                <a:alpha val="35000"/>
              </a:srgbClr>
            </a:solidFill>
            <a:ln w="19050">
              <a:solidFill>
                <a:srgbClr val="F28C28"/>
              </a:solidFill>
              <a:prstDash val="dash"/>
            </a:ln>
          </p:spPr>
          <p:txBody>
            <a:bodyPr rtlCol="0" anchor="ctr"/>
            <a:lstStyle/>
            <a:p>
              <a:pPr algn="ctr"/>
              <a:endParaRPr/>
            </a:p>
          </p:txBody>
        </p:sp>
        <p:sp>
          <p:nvSpPr>
            <p:cNvPr id="75" name="Rectangle 74"/>
            <p:cNvSpPr/>
            <p:nvPr/>
          </p:nvSpPr>
          <p:spPr>
            <a:xfrm>
              <a:off x="4540178" y="2766974"/>
              <a:ext cx="434522" cy="46085"/>
            </a:xfrm>
            <a:prstGeom prst="rect">
              <a:avLst/>
            </a:prstGeom>
            <a:solidFill>
              <a:srgbClr val="1B1D21"/>
            </a:solidFill>
            <a:ln w="12700">
              <a:solidFill>
                <a:srgbClr val="9AA0A6"/>
              </a:solidFill>
            </a:ln>
          </p:spPr>
          <p:txBody>
            <a:bodyPr rtlCol="0" anchor="ctr"/>
            <a:lstStyle/>
            <a:p>
              <a:pPr algn="ctr"/>
              <a:endParaRPr/>
            </a:p>
          </p:txBody>
        </p:sp>
        <p:sp>
          <p:nvSpPr>
            <p:cNvPr id="76" name="Rectangle 75"/>
            <p:cNvSpPr/>
            <p:nvPr/>
          </p:nvSpPr>
          <p:spPr>
            <a:xfrm>
              <a:off x="4652101" y="2878896"/>
              <a:ext cx="171175" cy="131673"/>
            </a:xfrm>
            <a:prstGeom prst="rect">
              <a:avLst/>
            </a:prstGeom>
            <a:solidFill>
              <a:srgbClr val="1B1D21"/>
            </a:solidFill>
            <a:ln>
              <a:noFill/>
            </a:ln>
          </p:spPr>
          <p:txBody>
            <a:bodyPr rtlCol="0" anchor="ctr"/>
            <a:lstStyle/>
            <a:p>
              <a:pPr algn="ctr"/>
              <a:endParaRPr/>
            </a:p>
          </p:txBody>
        </p:sp>
        <p:sp>
          <p:nvSpPr>
            <p:cNvPr id="77" name="Rounded Rectangle 76"/>
            <p:cNvSpPr/>
            <p:nvPr/>
          </p:nvSpPr>
          <p:spPr>
            <a:xfrm>
              <a:off x="8590970" y="2957901"/>
              <a:ext cx="625449" cy="223845"/>
            </a:xfrm>
            <a:prstGeom prst="roundRect">
              <a:avLst>
                <a:gd name="adj" fmla="val 12254"/>
              </a:avLst>
            </a:prstGeom>
            <a:solidFill>
              <a:srgbClr val="2B2F36"/>
            </a:solidFill>
            <a:ln w="19050">
              <a:solidFill>
                <a:srgbClr val="F28C28"/>
              </a:solidFill>
              <a:prstDash val="dash"/>
            </a:ln>
          </p:spPr>
          <p:txBody>
            <a:bodyPr rtlCol="0" anchor="ctr"/>
            <a:lstStyle/>
            <a:p>
              <a:pPr algn="ctr"/>
              <a:endParaRPr/>
            </a:p>
          </p:txBody>
        </p:sp>
        <p:sp>
          <p:nvSpPr>
            <p:cNvPr id="78" name="Freeform 77"/>
            <p:cNvSpPr/>
            <p:nvPr/>
          </p:nvSpPr>
          <p:spPr>
            <a:xfrm>
              <a:off x="8643640" y="2865729"/>
              <a:ext cx="520111" cy="92172"/>
            </a:xfrm>
            <a:custGeom>
              <a:avLst/>
              <a:gdLst/>
              <a:ahLst/>
              <a:cxnLst/>
              <a:rect l="l" t="t" r="r" b="b"/>
              <a:pathLst>
                <a:path w="520111" h="92172">
                  <a:moveTo>
                    <a:pt x="0" y="92172"/>
                  </a:moveTo>
                  <a:lnTo>
                    <a:pt x="79004" y="13167"/>
                  </a:lnTo>
                  <a:lnTo>
                    <a:pt x="441106" y="0"/>
                  </a:lnTo>
                  <a:lnTo>
                    <a:pt x="520111" y="92172"/>
                  </a:lnTo>
                  <a:close/>
                </a:path>
              </a:pathLst>
            </a:custGeom>
            <a:solidFill>
              <a:srgbClr val="1B1D21"/>
            </a:solidFill>
            <a:ln w="12700">
              <a:solidFill>
                <a:srgbClr val="9AA0A6"/>
              </a:solidFill>
            </a:ln>
          </p:spPr>
          <p:txBody>
            <a:bodyPr rtlCol="0" anchor="ctr"/>
            <a:lstStyle/>
            <a:p>
              <a:pPr algn="ctr"/>
              <a:endParaRPr/>
            </a:p>
          </p:txBody>
        </p:sp>
        <p:sp>
          <p:nvSpPr>
            <p:cNvPr id="79" name="Oval 78"/>
            <p:cNvSpPr/>
            <p:nvPr/>
          </p:nvSpPr>
          <p:spPr>
            <a:xfrm>
              <a:off x="8696309" y="3234415"/>
              <a:ext cx="158008" cy="158008"/>
            </a:xfrm>
            <a:prstGeom prst="ellipse">
              <a:avLst/>
            </a:prstGeom>
            <a:solidFill>
              <a:srgbClr val="343A43"/>
            </a:solidFill>
            <a:ln w="12700">
              <a:solidFill>
                <a:srgbClr val="9AA0A6"/>
              </a:solidFill>
            </a:ln>
          </p:spPr>
          <p:txBody>
            <a:bodyPr rtlCol="0" anchor="ctr"/>
            <a:lstStyle/>
            <a:p>
              <a:pPr algn="ctr"/>
              <a:endParaRPr/>
            </a:p>
          </p:txBody>
        </p:sp>
        <p:sp>
          <p:nvSpPr>
            <p:cNvPr id="80" name="Oval 79"/>
            <p:cNvSpPr/>
            <p:nvPr/>
          </p:nvSpPr>
          <p:spPr>
            <a:xfrm>
              <a:off x="8953073" y="3234415"/>
              <a:ext cx="158008" cy="158008"/>
            </a:xfrm>
            <a:prstGeom prst="ellipse">
              <a:avLst/>
            </a:prstGeom>
            <a:solidFill>
              <a:srgbClr val="343A43"/>
            </a:solidFill>
            <a:ln w="12700">
              <a:solidFill>
                <a:srgbClr val="9AA0A6"/>
              </a:solidFill>
            </a:ln>
          </p:spPr>
          <p:txBody>
            <a:bodyPr rtlCol="0" anchor="ctr"/>
            <a:lstStyle/>
            <a:p>
              <a:pPr algn="ctr"/>
              <a:endParaRPr/>
            </a:p>
          </p:txBody>
        </p:sp>
        <p:cxnSp>
          <p:nvCxnSpPr>
            <p:cNvPr id="81" name="Connector 80"/>
            <p:cNvCxnSpPr/>
            <p:nvPr/>
          </p:nvCxnSpPr>
          <p:spPr>
            <a:xfrm>
              <a:off x="9216420" y="3142244"/>
              <a:ext cx="52669" cy="0"/>
            </a:xfrm>
            <a:prstGeom prst="line">
              <a:avLst/>
            </a:prstGeom>
            <a:ln w="25400">
              <a:solidFill>
                <a:srgbClr val="9AA0A6"/>
              </a:solidFill>
            </a:ln>
          </p:spPr>
        </p:cxnSp>
        <p:sp>
          <p:nvSpPr>
            <p:cNvPr id="82" name="Rectangle 81"/>
            <p:cNvSpPr/>
            <p:nvPr/>
          </p:nvSpPr>
          <p:spPr>
            <a:xfrm>
              <a:off x="9269089" y="3142244"/>
              <a:ext cx="1217980" cy="65836"/>
            </a:xfrm>
            <a:prstGeom prst="rect">
              <a:avLst/>
            </a:prstGeom>
            <a:solidFill>
              <a:srgbClr val="1B1D21"/>
            </a:solidFill>
            <a:ln w="12700">
              <a:solidFill>
                <a:srgbClr val="9AA0A6"/>
              </a:solidFill>
            </a:ln>
          </p:spPr>
          <p:txBody>
            <a:bodyPr rtlCol="0" anchor="ctr"/>
            <a:lstStyle/>
            <a:p>
              <a:pPr algn="ctr"/>
              <a:endParaRPr/>
            </a:p>
          </p:txBody>
        </p:sp>
        <p:sp>
          <p:nvSpPr>
            <p:cNvPr id="83" name="Oval 82"/>
            <p:cNvSpPr/>
            <p:nvPr/>
          </p:nvSpPr>
          <p:spPr>
            <a:xfrm>
              <a:off x="9354677" y="3194913"/>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84" name="Oval 83"/>
            <p:cNvSpPr/>
            <p:nvPr/>
          </p:nvSpPr>
          <p:spPr>
            <a:xfrm>
              <a:off x="9433681" y="3273917"/>
              <a:ext cx="39502" cy="39502"/>
            </a:xfrm>
            <a:prstGeom prst="ellipse">
              <a:avLst/>
            </a:prstGeom>
            <a:solidFill>
              <a:srgbClr val="9AA0A6"/>
            </a:solidFill>
            <a:ln>
              <a:noFill/>
            </a:ln>
          </p:spPr>
          <p:txBody>
            <a:bodyPr rtlCol="0" anchor="ctr"/>
            <a:lstStyle/>
            <a:p>
              <a:pPr algn="ctr"/>
              <a:endParaRPr/>
            </a:p>
          </p:txBody>
        </p:sp>
        <p:sp>
          <p:nvSpPr>
            <p:cNvPr id="85" name="Oval 84"/>
            <p:cNvSpPr/>
            <p:nvPr/>
          </p:nvSpPr>
          <p:spPr>
            <a:xfrm>
              <a:off x="9672888" y="3194913"/>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86" name="Oval 85"/>
            <p:cNvSpPr/>
            <p:nvPr/>
          </p:nvSpPr>
          <p:spPr>
            <a:xfrm>
              <a:off x="9751893" y="3273917"/>
              <a:ext cx="39502" cy="39502"/>
            </a:xfrm>
            <a:prstGeom prst="ellipse">
              <a:avLst/>
            </a:prstGeom>
            <a:solidFill>
              <a:srgbClr val="9AA0A6"/>
            </a:solidFill>
            <a:ln>
              <a:noFill/>
            </a:ln>
          </p:spPr>
          <p:txBody>
            <a:bodyPr rtlCol="0" anchor="ctr"/>
            <a:lstStyle/>
            <a:p>
              <a:pPr algn="ctr"/>
              <a:endParaRPr/>
            </a:p>
          </p:txBody>
        </p:sp>
        <p:sp>
          <p:nvSpPr>
            <p:cNvPr id="87" name="Oval 86"/>
            <p:cNvSpPr/>
            <p:nvPr/>
          </p:nvSpPr>
          <p:spPr>
            <a:xfrm>
              <a:off x="9991100" y="3194913"/>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88" name="Oval 87"/>
            <p:cNvSpPr/>
            <p:nvPr/>
          </p:nvSpPr>
          <p:spPr>
            <a:xfrm>
              <a:off x="10070104" y="3273917"/>
              <a:ext cx="39502" cy="39502"/>
            </a:xfrm>
            <a:prstGeom prst="ellipse">
              <a:avLst/>
            </a:prstGeom>
            <a:solidFill>
              <a:srgbClr val="9AA0A6"/>
            </a:solidFill>
            <a:ln>
              <a:noFill/>
            </a:ln>
          </p:spPr>
          <p:txBody>
            <a:bodyPr rtlCol="0" anchor="ctr"/>
            <a:lstStyle/>
            <a:p>
              <a:pPr algn="ctr"/>
              <a:endParaRPr/>
            </a:p>
          </p:txBody>
        </p:sp>
        <p:sp>
          <p:nvSpPr>
            <p:cNvPr id="89" name="Oval 88"/>
            <p:cNvSpPr/>
            <p:nvPr/>
          </p:nvSpPr>
          <p:spPr>
            <a:xfrm>
              <a:off x="10309311" y="3194913"/>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90" name="Oval 89"/>
            <p:cNvSpPr/>
            <p:nvPr/>
          </p:nvSpPr>
          <p:spPr>
            <a:xfrm>
              <a:off x="10388315" y="3273917"/>
              <a:ext cx="39502" cy="39502"/>
            </a:xfrm>
            <a:prstGeom prst="ellipse">
              <a:avLst/>
            </a:prstGeom>
            <a:solidFill>
              <a:srgbClr val="9AA0A6"/>
            </a:solidFill>
            <a:ln>
              <a:noFill/>
            </a:ln>
          </p:spPr>
          <p:txBody>
            <a:bodyPr rtlCol="0" anchor="ctr"/>
            <a:lstStyle/>
            <a:p>
              <a:pPr algn="ctr"/>
              <a:endParaRPr/>
            </a:p>
          </p:txBody>
        </p:sp>
        <p:cxnSp>
          <p:nvCxnSpPr>
            <p:cNvPr id="91" name="Connector 90"/>
            <p:cNvCxnSpPr/>
            <p:nvPr/>
          </p:nvCxnSpPr>
          <p:spPr>
            <a:xfrm>
              <a:off x="9453432" y="3293668"/>
              <a:ext cx="954634" cy="0"/>
            </a:xfrm>
            <a:prstGeom prst="line">
              <a:avLst/>
            </a:prstGeom>
            <a:ln w="19050">
              <a:solidFill>
                <a:srgbClr val="9AA0A6"/>
              </a:solidFill>
            </a:ln>
          </p:spPr>
        </p:cxnSp>
        <p:sp>
          <p:nvSpPr>
            <p:cNvPr id="92" name="Rounded Rectangle 91"/>
            <p:cNvSpPr/>
            <p:nvPr/>
          </p:nvSpPr>
          <p:spPr>
            <a:xfrm>
              <a:off x="9664110" y="2892064"/>
              <a:ext cx="822959" cy="250179"/>
            </a:xfrm>
            <a:prstGeom prst="roundRect">
              <a:avLst>
                <a:gd name="adj" fmla="val 21929"/>
              </a:avLst>
            </a:prstGeom>
            <a:solidFill>
              <a:srgbClr val="F28C28">
                <a:alpha val="35000"/>
              </a:srgbClr>
            </a:solidFill>
            <a:ln w="19050">
              <a:solidFill>
                <a:srgbClr val="F28C28"/>
              </a:solidFill>
              <a:prstDash val="dash"/>
            </a:ln>
          </p:spPr>
          <p:txBody>
            <a:bodyPr rtlCol="0" anchor="ctr"/>
            <a:lstStyle/>
            <a:p>
              <a:pPr algn="ctr"/>
              <a:endParaRPr/>
            </a:p>
          </p:txBody>
        </p:sp>
        <p:sp>
          <p:nvSpPr>
            <p:cNvPr id="93" name="Rectangle 92"/>
            <p:cNvSpPr/>
            <p:nvPr/>
          </p:nvSpPr>
          <p:spPr>
            <a:xfrm>
              <a:off x="10368564" y="2892064"/>
              <a:ext cx="118506" cy="250179"/>
            </a:xfrm>
            <a:prstGeom prst="rect">
              <a:avLst/>
            </a:prstGeom>
            <a:solidFill>
              <a:srgbClr val="1B1D21"/>
            </a:solidFill>
            <a:ln w="12700">
              <a:solidFill>
                <a:srgbClr val="9AA0A6"/>
              </a:solidFill>
            </a:ln>
          </p:spPr>
          <p:txBody>
            <a:bodyPr rtlCol="0" anchor="ctr"/>
            <a:lstStyle/>
            <a:p>
              <a:pPr algn="ctr"/>
              <a:endParaRPr/>
            </a:p>
          </p:txBody>
        </p:sp>
        <p:sp>
          <p:nvSpPr>
            <p:cNvPr id="94" name="Rectangle 93"/>
            <p:cNvSpPr/>
            <p:nvPr/>
          </p:nvSpPr>
          <p:spPr>
            <a:xfrm>
              <a:off x="10394899" y="2773558"/>
              <a:ext cx="65836" cy="131673"/>
            </a:xfrm>
            <a:prstGeom prst="rect">
              <a:avLst/>
            </a:prstGeom>
            <a:solidFill>
              <a:srgbClr val="1B1D21"/>
            </a:solidFill>
            <a:ln w="12700">
              <a:solidFill>
                <a:srgbClr val="9AA0A6"/>
              </a:solidFill>
            </a:ln>
          </p:spPr>
          <p:txBody>
            <a:bodyPr rtlCol="0" anchor="ctr"/>
            <a:lstStyle/>
            <a:p>
              <a:pPr algn="ctr"/>
              <a:endParaRPr/>
            </a:p>
          </p:txBody>
        </p:sp>
        <p:sp>
          <p:nvSpPr>
            <p:cNvPr id="95" name="Rectangle 94"/>
            <p:cNvSpPr/>
            <p:nvPr/>
          </p:nvSpPr>
          <p:spPr>
            <a:xfrm>
              <a:off x="10368564" y="2747223"/>
              <a:ext cx="118506" cy="39502"/>
            </a:xfrm>
            <a:prstGeom prst="rect">
              <a:avLst/>
            </a:prstGeom>
            <a:solidFill>
              <a:srgbClr val="1B1D21"/>
            </a:solidFill>
            <a:ln w="12700">
              <a:solidFill>
                <a:srgbClr val="9AA0A6"/>
              </a:solidFill>
            </a:ln>
          </p:spPr>
          <p:txBody>
            <a:bodyPr rtlCol="0" anchor="ctr"/>
            <a:lstStyle/>
            <a:p>
              <a:pPr algn="ctr"/>
              <a:endParaRPr/>
            </a:p>
          </p:txBody>
        </p:sp>
        <p:sp>
          <p:nvSpPr>
            <p:cNvPr id="96" name="Rounded Rectangle 95"/>
            <p:cNvSpPr/>
            <p:nvPr/>
          </p:nvSpPr>
          <p:spPr>
            <a:xfrm>
              <a:off x="9861621" y="2826227"/>
              <a:ext cx="131673" cy="79004"/>
            </a:xfrm>
            <a:prstGeom prst="roundRect">
              <a:avLst>
                <a:gd name="adj" fmla="val 46296"/>
              </a:avLst>
            </a:prstGeom>
            <a:solidFill>
              <a:srgbClr val="F28C28">
                <a:alpha val="35000"/>
              </a:srgbClr>
            </a:solidFill>
            <a:ln w="12700">
              <a:solidFill>
                <a:srgbClr val="F28C28"/>
              </a:solidFill>
              <a:prstDash val="dash"/>
            </a:ln>
          </p:spPr>
          <p:txBody>
            <a:bodyPr rtlCol="0" anchor="ctr"/>
            <a:lstStyle/>
            <a:p>
              <a:pPr algn="ctr"/>
              <a:endParaRPr/>
            </a:p>
          </p:txBody>
        </p:sp>
        <p:sp>
          <p:nvSpPr>
            <p:cNvPr id="97" name="Rectangle 96"/>
            <p:cNvSpPr/>
            <p:nvPr/>
          </p:nvSpPr>
          <p:spPr>
            <a:xfrm>
              <a:off x="9269089" y="2799892"/>
              <a:ext cx="395020" cy="355518"/>
            </a:xfrm>
            <a:prstGeom prst="rect">
              <a:avLst/>
            </a:prstGeom>
            <a:solidFill>
              <a:srgbClr val="F28C28">
                <a:alpha val="35000"/>
              </a:srgbClr>
            </a:solidFill>
            <a:ln w="19050">
              <a:solidFill>
                <a:srgbClr val="F28C28"/>
              </a:solidFill>
              <a:prstDash val="dash"/>
            </a:ln>
          </p:spPr>
          <p:txBody>
            <a:bodyPr rtlCol="0" anchor="ctr"/>
            <a:lstStyle/>
            <a:p>
              <a:pPr algn="ctr"/>
              <a:endParaRPr/>
            </a:p>
          </p:txBody>
        </p:sp>
        <p:sp>
          <p:nvSpPr>
            <p:cNvPr id="98" name="Rectangle 97"/>
            <p:cNvSpPr/>
            <p:nvPr/>
          </p:nvSpPr>
          <p:spPr>
            <a:xfrm>
              <a:off x="9249338" y="2766974"/>
              <a:ext cx="434522" cy="46085"/>
            </a:xfrm>
            <a:prstGeom prst="rect">
              <a:avLst/>
            </a:prstGeom>
            <a:solidFill>
              <a:srgbClr val="1B1D21"/>
            </a:solidFill>
            <a:ln w="12700">
              <a:solidFill>
                <a:srgbClr val="9AA0A6"/>
              </a:solidFill>
            </a:ln>
          </p:spPr>
          <p:txBody>
            <a:bodyPr rtlCol="0" anchor="ctr"/>
            <a:lstStyle/>
            <a:p>
              <a:pPr algn="ctr"/>
              <a:endParaRPr/>
            </a:p>
          </p:txBody>
        </p:sp>
        <p:sp>
          <p:nvSpPr>
            <p:cNvPr id="99" name="Rectangle 98"/>
            <p:cNvSpPr/>
            <p:nvPr/>
          </p:nvSpPr>
          <p:spPr>
            <a:xfrm>
              <a:off x="9361261" y="2878896"/>
              <a:ext cx="171175" cy="131673"/>
            </a:xfrm>
            <a:prstGeom prst="rect">
              <a:avLst/>
            </a:prstGeom>
            <a:solidFill>
              <a:srgbClr val="1B1D21"/>
            </a:solidFill>
            <a:ln>
              <a:noFill/>
            </a:ln>
          </p:spPr>
          <p:txBody>
            <a:bodyPr rtlCol="0" anchor="ctr"/>
            <a:lstStyle/>
            <a:p>
              <a:pPr algn="ctr"/>
              <a:endParaRPr/>
            </a:p>
          </p:txBody>
        </p:sp>
        <p:sp>
          <p:nvSpPr>
            <p:cNvPr id="100" name="TextBox 99"/>
            <p:cNvSpPr txBox="1"/>
            <p:nvPr/>
          </p:nvSpPr>
          <p:spPr>
            <a:xfrm>
              <a:off x="7863840" y="3410712"/>
              <a:ext cx="3383280" cy="274320"/>
            </a:xfrm>
            <a:prstGeom prst="rect">
              <a:avLst/>
            </a:prstGeom>
            <a:noFill/>
          </p:spPr>
          <p:txBody>
            <a:bodyPr wrap="square" lIns="0" tIns="0" rIns="0" bIns="0" anchor="ctr">
              <a:noAutofit/>
            </a:bodyPr>
            <a:lstStyle/>
            <a:p>
              <a:pPr algn="ctr"/>
              <a:r>
                <a:rPr lang="en-GB" sz="1400" b="1" i="0">
                  <a:solidFill>
                    <a:srgbClr val="F2F2F2"/>
                  </a:solidFill>
                  <a:latin typeface="Arial"/>
                </a:rPr>
                <a:t>Unchanged</a:t>
              </a:r>
              <a:endParaRPr lang="en-GB" sz="1400"/>
            </a:p>
          </p:txBody>
        </p:sp>
      </p:grpSp>
      <p:grpSp>
        <p:nvGrpSpPr>
          <p:cNvPr id="101" name="Row: Pack engine, with match" descr="A second pack engine, which has a match, may change look after the switch: the dashed amber engine with a question mark shows this is not certain."/>
          <p:cNvGrpSpPr/>
          <p:nvPr/>
        </p:nvGrpSpPr>
        <p:grpSpPr>
          <a:xfrm>
            <a:off x="1005840" y="3831336"/>
            <a:ext cx="10241280" cy="1097280"/>
            <a:chOff x="1005840" y="3831336"/>
            <a:chExt cx="10241280" cy="1097280"/>
          </a:xfrm>
        </p:grpSpPr>
        <p:sp>
          <p:nvSpPr>
            <p:cNvPr id="102" name="TextBox 101"/>
            <p:cNvSpPr txBox="1"/>
            <p:nvPr/>
          </p:nvSpPr>
          <p:spPr>
            <a:xfrm>
              <a:off x="1005840" y="3831336"/>
              <a:ext cx="2331720" cy="1097280"/>
            </a:xfrm>
            <a:prstGeom prst="rect">
              <a:avLst/>
            </a:prstGeom>
            <a:noFill/>
          </p:spPr>
          <p:txBody>
            <a:bodyPr wrap="square" lIns="0" tIns="0" rIns="0" bIns="0" anchor="ctr">
              <a:noAutofit/>
            </a:bodyPr>
            <a:lstStyle/>
            <a:p>
              <a:pPr algn="l"/>
              <a:r>
                <a:rPr lang="en-GB" sz="1600" b="1" i="0">
                  <a:solidFill>
                    <a:srgbClr val="F2F2F2"/>
                  </a:solidFill>
                  <a:latin typeface="Arial"/>
                </a:rPr>
                <a:t>Pack engine, with match</a:t>
              </a:r>
              <a:endParaRPr lang="en-GB" sz="1600"/>
            </a:p>
          </p:txBody>
        </p:sp>
        <p:sp>
          <p:nvSpPr>
            <p:cNvPr id="103" name="Rectangle 102"/>
            <p:cNvSpPr/>
            <p:nvPr/>
          </p:nvSpPr>
          <p:spPr>
            <a:xfrm>
              <a:off x="4253788" y="4349252"/>
              <a:ext cx="1152144" cy="65836"/>
            </a:xfrm>
            <a:prstGeom prst="rect">
              <a:avLst/>
            </a:prstGeom>
            <a:solidFill>
              <a:srgbClr val="1B1D21"/>
            </a:solidFill>
            <a:ln w="12700">
              <a:solidFill>
                <a:srgbClr val="9AA0A6"/>
              </a:solidFill>
            </a:ln>
          </p:spPr>
          <p:txBody>
            <a:bodyPr rtlCol="0" anchor="ctr"/>
            <a:lstStyle/>
            <a:p>
              <a:pPr algn="ctr"/>
              <a:endParaRPr/>
            </a:p>
          </p:txBody>
        </p:sp>
        <p:sp>
          <p:nvSpPr>
            <p:cNvPr id="104" name="Oval 103"/>
            <p:cNvSpPr/>
            <p:nvPr/>
          </p:nvSpPr>
          <p:spPr>
            <a:xfrm>
              <a:off x="4339376" y="4401921"/>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105" name="Oval 104"/>
            <p:cNvSpPr/>
            <p:nvPr/>
          </p:nvSpPr>
          <p:spPr>
            <a:xfrm>
              <a:off x="4418380" y="4480925"/>
              <a:ext cx="39502" cy="39502"/>
            </a:xfrm>
            <a:prstGeom prst="ellipse">
              <a:avLst/>
            </a:prstGeom>
            <a:solidFill>
              <a:srgbClr val="9AA0A6"/>
            </a:solidFill>
            <a:ln>
              <a:noFill/>
            </a:ln>
          </p:spPr>
          <p:txBody>
            <a:bodyPr rtlCol="0" anchor="ctr"/>
            <a:lstStyle/>
            <a:p>
              <a:pPr algn="ctr"/>
              <a:endParaRPr/>
            </a:p>
          </p:txBody>
        </p:sp>
        <p:sp>
          <p:nvSpPr>
            <p:cNvPr id="106" name="Oval 105"/>
            <p:cNvSpPr/>
            <p:nvPr/>
          </p:nvSpPr>
          <p:spPr>
            <a:xfrm>
              <a:off x="4783775" y="4401921"/>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107" name="Oval 106"/>
            <p:cNvSpPr/>
            <p:nvPr/>
          </p:nvSpPr>
          <p:spPr>
            <a:xfrm>
              <a:off x="4862779" y="4480925"/>
              <a:ext cx="39502" cy="39502"/>
            </a:xfrm>
            <a:prstGeom prst="ellipse">
              <a:avLst/>
            </a:prstGeom>
            <a:solidFill>
              <a:srgbClr val="9AA0A6"/>
            </a:solidFill>
            <a:ln>
              <a:noFill/>
            </a:ln>
          </p:spPr>
          <p:txBody>
            <a:bodyPr rtlCol="0" anchor="ctr"/>
            <a:lstStyle/>
            <a:p>
              <a:pPr algn="ctr"/>
              <a:endParaRPr/>
            </a:p>
          </p:txBody>
        </p:sp>
        <p:sp>
          <p:nvSpPr>
            <p:cNvPr id="108" name="Oval 107"/>
            <p:cNvSpPr/>
            <p:nvPr/>
          </p:nvSpPr>
          <p:spPr>
            <a:xfrm>
              <a:off x="5228173" y="4401921"/>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109" name="Oval 108"/>
            <p:cNvSpPr/>
            <p:nvPr/>
          </p:nvSpPr>
          <p:spPr>
            <a:xfrm>
              <a:off x="5307177" y="4480925"/>
              <a:ext cx="39502" cy="39502"/>
            </a:xfrm>
            <a:prstGeom prst="ellipse">
              <a:avLst/>
            </a:prstGeom>
            <a:solidFill>
              <a:srgbClr val="9AA0A6"/>
            </a:solidFill>
            <a:ln>
              <a:noFill/>
            </a:ln>
          </p:spPr>
          <p:txBody>
            <a:bodyPr rtlCol="0" anchor="ctr"/>
            <a:lstStyle/>
            <a:p>
              <a:pPr algn="ctr"/>
              <a:endParaRPr/>
            </a:p>
          </p:txBody>
        </p:sp>
        <p:cxnSp>
          <p:nvCxnSpPr>
            <p:cNvPr id="110" name="Connector 109"/>
            <p:cNvCxnSpPr/>
            <p:nvPr/>
          </p:nvCxnSpPr>
          <p:spPr>
            <a:xfrm>
              <a:off x="4438131" y="4500676"/>
              <a:ext cx="888797" cy="0"/>
            </a:xfrm>
            <a:prstGeom prst="line">
              <a:avLst/>
            </a:prstGeom>
            <a:ln w="19050">
              <a:solidFill>
                <a:srgbClr val="9AA0A6"/>
              </a:solidFill>
            </a:ln>
          </p:spPr>
        </p:cxnSp>
        <p:sp>
          <p:nvSpPr>
            <p:cNvPr id="111" name="Rounded Rectangle 110"/>
            <p:cNvSpPr/>
            <p:nvPr/>
          </p:nvSpPr>
          <p:spPr>
            <a:xfrm>
              <a:off x="4648809" y="4099072"/>
              <a:ext cx="757123" cy="250179"/>
            </a:xfrm>
            <a:prstGeom prst="roundRect">
              <a:avLst>
                <a:gd name="adj" fmla="val 21929"/>
              </a:avLst>
            </a:prstGeom>
            <a:solidFill>
              <a:srgbClr val="F28C28">
                <a:alpha val="35000"/>
              </a:srgbClr>
            </a:solidFill>
            <a:ln w="19050">
              <a:solidFill>
                <a:srgbClr val="F28C28"/>
              </a:solidFill>
              <a:prstDash val="dash"/>
            </a:ln>
          </p:spPr>
          <p:txBody>
            <a:bodyPr rtlCol="0" anchor="ctr"/>
            <a:lstStyle/>
            <a:p>
              <a:pPr algn="ctr"/>
              <a:endParaRPr/>
            </a:p>
          </p:txBody>
        </p:sp>
        <p:sp>
          <p:nvSpPr>
            <p:cNvPr id="112" name="Rounded Rectangle 111"/>
            <p:cNvSpPr/>
            <p:nvPr/>
          </p:nvSpPr>
          <p:spPr>
            <a:xfrm>
              <a:off x="4675144" y="4191243"/>
              <a:ext cx="572780" cy="171175"/>
            </a:xfrm>
            <a:prstGeom prst="roundRect">
              <a:avLst>
                <a:gd name="adj" fmla="val 21367"/>
              </a:avLst>
            </a:prstGeom>
            <a:solidFill>
              <a:srgbClr val="F28C28"/>
            </a:solidFill>
            <a:ln w="15875">
              <a:solidFill>
                <a:srgbClr val="1B1D21"/>
              </a:solidFill>
            </a:ln>
          </p:spPr>
          <p:txBody>
            <a:bodyPr rtlCol="0" anchor="ctr"/>
            <a:lstStyle/>
            <a:p>
              <a:pPr algn="ctr"/>
              <a:endParaRPr/>
            </a:p>
          </p:txBody>
        </p:sp>
        <p:sp>
          <p:nvSpPr>
            <p:cNvPr id="113" name="Rectangle 112"/>
            <p:cNvSpPr/>
            <p:nvPr/>
          </p:nvSpPr>
          <p:spPr>
            <a:xfrm>
              <a:off x="5287426" y="4099072"/>
              <a:ext cx="118506" cy="250179"/>
            </a:xfrm>
            <a:prstGeom prst="rect">
              <a:avLst/>
            </a:prstGeom>
            <a:solidFill>
              <a:srgbClr val="1B1D21"/>
            </a:solidFill>
            <a:ln w="12700">
              <a:solidFill>
                <a:srgbClr val="9AA0A6"/>
              </a:solidFill>
            </a:ln>
          </p:spPr>
          <p:txBody>
            <a:bodyPr rtlCol="0" anchor="ctr"/>
            <a:lstStyle/>
            <a:p>
              <a:pPr algn="ctr"/>
              <a:endParaRPr/>
            </a:p>
          </p:txBody>
        </p:sp>
        <p:sp>
          <p:nvSpPr>
            <p:cNvPr id="114" name="Rectangle 113"/>
            <p:cNvSpPr/>
            <p:nvPr/>
          </p:nvSpPr>
          <p:spPr>
            <a:xfrm>
              <a:off x="5313761" y="3980566"/>
              <a:ext cx="65836" cy="131673"/>
            </a:xfrm>
            <a:prstGeom prst="rect">
              <a:avLst/>
            </a:prstGeom>
            <a:solidFill>
              <a:srgbClr val="1B1D21"/>
            </a:solidFill>
            <a:ln w="12700">
              <a:solidFill>
                <a:srgbClr val="9AA0A6"/>
              </a:solidFill>
            </a:ln>
          </p:spPr>
          <p:txBody>
            <a:bodyPr rtlCol="0" anchor="ctr"/>
            <a:lstStyle/>
            <a:p>
              <a:pPr algn="ctr"/>
              <a:endParaRPr/>
            </a:p>
          </p:txBody>
        </p:sp>
        <p:sp>
          <p:nvSpPr>
            <p:cNvPr id="115" name="Rectangle 114"/>
            <p:cNvSpPr/>
            <p:nvPr/>
          </p:nvSpPr>
          <p:spPr>
            <a:xfrm>
              <a:off x="5287426" y="3954231"/>
              <a:ext cx="118506" cy="39502"/>
            </a:xfrm>
            <a:prstGeom prst="rect">
              <a:avLst/>
            </a:prstGeom>
            <a:solidFill>
              <a:srgbClr val="1B1D21"/>
            </a:solidFill>
            <a:ln w="12700">
              <a:solidFill>
                <a:srgbClr val="9AA0A6"/>
              </a:solidFill>
            </a:ln>
          </p:spPr>
          <p:txBody>
            <a:bodyPr rtlCol="0" anchor="ctr"/>
            <a:lstStyle/>
            <a:p>
              <a:pPr algn="ctr"/>
              <a:endParaRPr/>
            </a:p>
          </p:txBody>
        </p:sp>
        <p:sp>
          <p:nvSpPr>
            <p:cNvPr id="116" name="Rounded Rectangle 115"/>
            <p:cNvSpPr/>
            <p:nvPr/>
          </p:nvSpPr>
          <p:spPr>
            <a:xfrm>
              <a:off x="4846320" y="4033235"/>
              <a:ext cx="131673" cy="79004"/>
            </a:xfrm>
            <a:prstGeom prst="roundRect">
              <a:avLst>
                <a:gd name="adj" fmla="val 46296"/>
              </a:avLst>
            </a:prstGeom>
            <a:solidFill>
              <a:srgbClr val="F28C28">
                <a:alpha val="35000"/>
              </a:srgbClr>
            </a:solidFill>
            <a:ln w="12700">
              <a:solidFill>
                <a:srgbClr val="F28C28"/>
              </a:solidFill>
              <a:prstDash val="dash"/>
            </a:ln>
          </p:spPr>
          <p:txBody>
            <a:bodyPr rtlCol="0" anchor="ctr"/>
            <a:lstStyle/>
            <a:p>
              <a:pPr algn="ctr"/>
              <a:endParaRPr/>
            </a:p>
          </p:txBody>
        </p:sp>
        <p:sp>
          <p:nvSpPr>
            <p:cNvPr id="117" name="Rectangle 116"/>
            <p:cNvSpPr/>
            <p:nvPr/>
          </p:nvSpPr>
          <p:spPr>
            <a:xfrm>
              <a:off x="4253788" y="4006900"/>
              <a:ext cx="395020" cy="355518"/>
            </a:xfrm>
            <a:prstGeom prst="rect">
              <a:avLst/>
            </a:prstGeom>
            <a:solidFill>
              <a:srgbClr val="F28C28">
                <a:alpha val="35000"/>
              </a:srgbClr>
            </a:solidFill>
            <a:ln w="19050">
              <a:solidFill>
                <a:srgbClr val="F28C28"/>
              </a:solidFill>
              <a:prstDash val="dash"/>
            </a:ln>
          </p:spPr>
          <p:txBody>
            <a:bodyPr rtlCol="0" anchor="ctr"/>
            <a:lstStyle/>
            <a:p>
              <a:pPr algn="ctr"/>
              <a:endParaRPr/>
            </a:p>
          </p:txBody>
        </p:sp>
        <p:sp>
          <p:nvSpPr>
            <p:cNvPr id="118" name="Rectangle 117"/>
            <p:cNvSpPr/>
            <p:nvPr/>
          </p:nvSpPr>
          <p:spPr>
            <a:xfrm>
              <a:off x="4234037" y="3973982"/>
              <a:ext cx="434522" cy="46085"/>
            </a:xfrm>
            <a:prstGeom prst="rect">
              <a:avLst/>
            </a:prstGeom>
            <a:solidFill>
              <a:srgbClr val="1B1D21"/>
            </a:solidFill>
            <a:ln w="12700">
              <a:solidFill>
                <a:srgbClr val="9AA0A6"/>
              </a:solidFill>
            </a:ln>
          </p:spPr>
          <p:txBody>
            <a:bodyPr rtlCol="0" anchor="ctr"/>
            <a:lstStyle/>
            <a:p>
              <a:pPr algn="ctr"/>
              <a:endParaRPr/>
            </a:p>
          </p:txBody>
        </p:sp>
        <p:sp>
          <p:nvSpPr>
            <p:cNvPr id="119" name="Rectangle 118"/>
            <p:cNvSpPr/>
            <p:nvPr/>
          </p:nvSpPr>
          <p:spPr>
            <a:xfrm>
              <a:off x="4345960" y="4085904"/>
              <a:ext cx="171175" cy="131673"/>
            </a:xfrm>
            <a:prstGeom prst="rect">
              <a:avLst/>
            </a:prstGeom>
            <a:solidFill>
              <a:srgbClr val="1B1D21"/>
            </a:solidFill>
            <a:ln>
              <a:noFill/>
            </a:ln>
          </p:spPr>
          <p:txBody>
            <a:bodyPr rtlCol="0" anchor="ctr"/>
            <a:lstStyle/>
            <a:p>
              <a:pPr algn="ctr"/>
              <a:endParaRPr/>
            </a:p>
          </p:txBody>
        </p:sp>
        <p:sp>
          <p:nvSpPr>
            <p:cNvPr id="120" name="Rectangle 119"/>
            <p:cNvSpPr/>
            <p:nvPr/>
          </p:nvSpPr>
          <p:spPr>
            <a:xfrm>
              <a:off x="8962948" y="4349252"/>
              <a:ext cx="1152143" cy="65836"/>
            </a:xfrm>
            <a:prstGeom prst="rect">
              <a:avLst/>
            </a:prstGeom>
            <a:solidFill>
              <a:srgbClr val="1B1D21"/>
            </a:solidFill>
            <a:ln w="12700">
              <a:solidFill>
                <a:srgbClr val="9AA0A6"/>
              </a:solidFill>
            </a:ln>
          </p:spPr>
          <p:txBody>
            <a:bodyPr rtlCol="0" anchor="ctr"/>
            <a:lstStyle/>
            <a:p>
              <a:pPr algn="ctr"/>
              <a:endParaRPr/>
            </a:p>
          </p:txBody>
        </p:sp>
        <p:sp>
          <p:nvSpPr>
            <p:cNvPr id="121" name="Oval 120"/>
            <p:cNvSpPr/>
            <p:nvPr/>
          </p:nvSpPr>
          <p:spPr>
            <a:xfrm>
              <a:off x="9048536" y="4401921"/>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122" name="Oval 121"/>
            <p:cNvSpPr/>
            <p:nvPr/>
          </p:nvSpPr>
          <p:spPr>
            <a:xfrm>
              <a:off x="9127540" y="4480925"/>
              <a:ext cx="39502" cy="39502"/>
            </a:xfrm>
            <a:prstGeom prst="ellipse">
              <a:avLst/>
            </a:prstGeom>
            <a:solidFill>
              <a:srgbClr val="9AA0A6"/>
            </a:solidFill>
            <a:ln>
              <a:noFill/>
            </a:ln>
          </p:spPr>
          <p:txBody>
            <a:bodyPr rtlCol="0" anchor="ctr"/>
            <a:lstStyle/>
            <a:p>
              <a:pPr algn="ctr"/>
              <a:endParaRPr/>
            </a:p>
          </p:txBody>
        </p:sp>
        <p:sp>
          <p:nvSpPr>
            <p:cNvPr id="123" name="Oval 122"/>
            <p:cNvSpPr/>
            <p:nvPr/>
          </p:nvSpPr>
          <p:spPr>
            <a:xfrm>
              <a:off x="9492935" y="4401921"/>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124" name="Oval 123"/>
            <p:cNvSpPr/>
            <p:nvPr/>
          </p:nvSpPr>
          <p:spPr>
            <a:xfrm>
              <a:off x="9571939" y="4480925"/>
              <a:ext cx="39502" cy="39502"/>
            </a:xfrm>
            <a:prstGeom prst="ellipse">
              <a:avLst/>
            </a:prstGeom>
            <a:solidFill>
              <a:srgbClr val="9AA0A6"/>
            </a:solidFill>
            <a:ln>
              <a:noFill/>
            </a:ln>
          </p:spPr>
          <p:txBody>
            <a:bodyPr rtlCol="0" anchor="ctr"/>
            <a:lstStyle/>
            <a:p>
              <a:pPr algn="ctr"/>
              <a:endParaRPr/>
            </a:p>
          </p:txBody>
        </p:sp>
        <p:sp>
          <p:nvSpPr>
            <p:cNvPr id="125" name="Oval 124"/>
            <p:cNvSpPr/>
            <p:nvPr/>
          </p:nvSpPr>
          <p:spPr>
            <a:xfrm>
              <a:off x="9937333" y="4401921"/>
              <a:ext cx="197510" cy="197510"/>
            </a:xfrm>
            <a:prstGeom prst="ellipse">
              <a:avLst/>
            </a:prstGeom>
            <a:solidFill>
              <a:srgbClr val="343A43"/>
            </a:solidFill>
            <a:ln w="15875">
              <a:solidFill>
                <a:srgbClr val="9AA0A6"/>
              </a:solidFill>
            </a:ln>
          </p:spPr>
          <p:txBody>
            <a:bodyPr rtlCol="0" anchor="ctr"/>
            <a:lstStyle/>
            <a:p>
              <a:pPr algn="ctr"/>
              <a:endParaRPr/>
            </a:p>
          </p:txBody>
        </p:sp>
        <p:sp>
          <p:nvSpPr>
            <p:cNvPr id="126" name="Oval 125"/>
            <p:cNvSpPr/>
            <p:nvPr/>
          </p:nvSpPr>
          <p:spPr>
            <a:xfrm>
              <a:off x="10016337" y="4480925"/>
              <a:ext cx="39502" cy="39502"/>
            </a:xfrm>
            <a:prstGeom prst="ellipse">
              <a:avLst/>
            </a:prstGeom>
            <a:solidFill>
              <a:srgbClr val="9AA0A6"/>
            </a:solidFill>
            <a:ln>
              <a:noFill/>
            </a:ln>
          </p:spPr>
          <p:txBody>
            <a:bodyPr rtlCol="0" anchor="ctr"/>
            <a:lstStyle/>
            <a:p>
              <a:pPr algn="ctr"/>
              <a:endParaRPr/>
            </a:p>
          </p:txBody>
        </p:sp>
        <p:cxnSp>
          <p:nvCxnSpPr>
            <p:cNvPr id="127" name="Connector 126"/>
            <p:cNvCxnSpPr/>
            <p:nvPr/>
          </p:nvCxnSpPr>
          <p:spPr>
            <a:xfrm>
              <a:off x="9147291" y="4500676"/>
              <a:ext cx="888797" cy="0"/>
            </a:xfrm>
            <a:prstGeom prst="line">
              <a:avLst/>
            </a:prstGeom>
            <a:ln w="19050">
              <a:solidFill>
                <a:srgbClr val="9AA0A6"/>
              </a:solidFill>
            </a:ln>
          </p:spPr>
        </p:cxnSp>
        <p:sp>
          <p:nvSpPr>
            <p:cNvPr id="128" name="Rounded Rectangle 127"/>
            <p:cNvSpPr/>
            <p:nvPr/>
          </p:nvSpPr>
          <p:spPr>
            <a:xfrm>
              <a:off x="9357969" y="4099072"/>
              <a:ext cx="757123" cy="250179"/>
            </a:xfrm>
            <a:prstGeom prst="roundRect">
              <a:avLst>
                <a:gd name="adj" fmla="val 21929"/>
              </a:avLst>
            </a:prstGeom>
            <a:solidFill>
              <a:srgbClr val="F2C14E">
                <a:alpha val="35000"/>
              </a:srgbClr>
            </a:solidFill>
            <a:ln w="19050">
              <a:solidFill>
                <a:srgbClr val="F2C14E"/>
              </a:solidFill>
              <a:prstDash val="dash"/>
            </a:ln>
          </p:spPr>
          <p:txBody>
            <a:bodyPr rtlCol="0" anchor="ctr"/>
            <a:lstStyle/>
            <a:p>
              <a:pPr algn="ctr"/>
              <a:endParaRPr/>
            </a:p>
          </p:txBody>
        </p:sp>
        <p:sp>
          <p:nvSpPr>
            <p:cNvPr id="129" name="Rounded Rectangle 128"/>
            <p:cNvSpPr/>
            <p:nvPr/>
          </p:nvSpPr>
          <p:spPr>
            <a:xfrm>
              <a:off x="9384304" y="4191243"/>
              <a:ext cx="572780" cy="171175"/>
            </a:xfrm>
            <a:prstGeom prst="roundRect">
              <a:avLst>
                <a:gd name="adj" fmla="val 21367"/>
              </a:avLst>
            </a:prstGeom>
            <a:solidFill>
              <a:srgbClr val="F2C14E"/>
            </a:solidFill>
            <a:ln w="15875">
              <a:solidFill>
                <a:srgbClr val="1B1D21"/>
              </a:solidFill>
            </a:ln>
          </p:spPr>
          <p:txBody>
            <a:bodyPr rtlCol="0" anchor="ctr"/>
            <a:lstStyle/>
            <a:p>
              <a:pPr algn="ctr"/>
              <a:endParaRPr/>
            </a:p>
          </p:txBody>
        </p:sp>
        <p:sp>
          <p:nvSpPr>
            <p:cNvPr id="130" name="Rectangle 129"/>
            <p:cNvSpPr/>
            <p:nvPr/>
          </p:nvSpPr>
          <p:spPr>
            <a:xfrm>
              <a:off x="9996586" y="4099072"/>
              <a:ext cx="118506" cy="250179"/>
            </a:xfrm>
            <a:prstGeom prst="rect">
              <a:avLst/>
            </a:prstGeom>
            <a:solidFill>
              <a:srgbClr val="1B1D21"/>
            </a:solidFill>
            <a:ln w="12700">
              <a:solidFill>
                <a:srgbClr val="9AA0A6"/>
              </a:solidFill>
            </a:ln>
          </p:spPr>
          <p:txBody>
            <a:bodyPr rtlCol="0" anchor="ctr"/>
            <a:lstStyle/>
            <a:p>
              <a:pPr algn="ctr"/>
              <a:endParaRPr/>
            </a:p>
          </p:txBody>
        </p:sp>
        <p:sp>
          <p:nvSpPr>
            <p:cNvPr id="131" name="Rectangle 130"/>
            <p:cNvSpPr/>
            <p:nvPr/>
          </p:nvSpPr>
          <p:spPr>
            <a:xfrm>
              <a:off x="10022921" y="3980566"/>
              <a:ext cx="65836" cy="131673"/>
            </a:xfrm>
            <a:prstGeom prst="rect">
              <a:avLst/>
            </a:prstGeom>
            <a:solidFill>
              <a:srgbClr val="1B1D21"/>
            </a:solidFill>
            <a:ln w="12700">
              <a:solidFill>
                <a:srgbClr val="9AA0A6"/>
              </a:solidFill>
            </a:ln>
          </p:spPr>
          <p:txBody>
            <a:bodyPr rtlCol="0" anchor="ctr"/>
            <a:lstStyle/>
            <a:p>
              <a:pPr algn="ctr"/>
              <a:endParaRPr/>
            </a:p>
          </p:txBody>
        </p:sp>
        <p:sp>
          <p:nvSpPr>
            <p:cNvPr id="132" name="Rectangle 131"/>
            <p:cNvSpPr/>
            <p:nvPr/>
          </p:nvSpPr>
          <p:spPr>
            <a:xfrm>
              <a:off x="9996586" y="3954231"/>
              <a:ext cx="118506" cy="39502"/>
            </a:xfrm>
            <a:prstGeom prst="rect">
              <a:avLst/>
            </a:prstGeom>
            <a:solidFill>
              <a:srgbClr val="1B1D21"/>
            </a:solidFill>
            <a:ln w="12700">
              <a:solidFill>
                <a:srgbClr val="9AA0A6"/>
              </a:solidFill>
            </a:ln>
          </p:spPr>
          <p:txBody>
            <a:bodyPr rtlCol="0" anchor="ctr"/>
            <a:lstStyle/>
            <a:p>
              <a:pPr algn="ctr"/>
              <a:endParaRPr/>
            </a:p>
          </p:txBody>
        </p:sp>
        <p:sp>
          <p:nvSpPr>
            <p:cNvPr id="133" name="Rounded Rectangle 132"/>
            <p:cNvSpPr/>
            <p:nvPr/>
          </p:nvSpPr>
          <p:spPr>
            <a:xfrm>
              <a:off x="9555480" y="4033235"/>
              <a:ext cx="131673" cy="79004"/>
            </a:xfrm>
            <a:prstGeom prst="roundRect">
              <a:avLst>
                <a:gd name="adj" fmla="val 46296"/>
              </a:avLst>
            </a:prstGeom>
            <a:solidFill>
              <a:srgbClr val="F2C14E">
                <a:alpha val="35000"/>
              </a:srgbClr>
            </a:solidFill>
            <a:ln w="12700">
              <a:solidFill>
                <a:srgbClr val="F2C14E"/>
              </a:solidFill>
              <a:prstDash val="dash"/>
            </a:ln>
          </p:spPr>
          <p:txBody>
            <a:bodyPr rtlCol="0" anchor="ctr"/>
            <a:lstStyle/>
            <a:p>
              <a:pPr algn="ctr"/>
              <a:endParaRPr/>
            </a:p>
          </p:txBody>
        </p:sp>
        <p:sp>
          <p:nvSpPr>
            <p:cNvPr id="134" name="Rectangle 133"/>
            <p:cNvSpPr/>
            <p:nvPr/>
          </p:nvSpPr>
          <p:spPr>
            <a:xfrm>
              <a:off x="8962948" y="4006900"/>
              <a:ext cx="395020" cy="355518"/>
            </a:xfrm>
            <a:prstGeom prst="rect">
              <a:avLst/>
            </a:prstGeom>
            <a:solidFill>
              <a:srgbClr val="F2C14E">
                <a:alpha val="35000"/>
              </a:srgbClr>
            </a:solidFill>
            <a:ln w="19050">
              <a:solidFill>
                <a:srgbClr val="F2C14E"/>
              </a:solidFill>
              <a:prstDash val="dash"/>
            </a:ln>
          </p:spPr>
          <p:txBody>
            <a:bodyPr rtlCol="0" anchor="ctr"/>
            <a:lstStyle/>
            <a:p>
              <a:pPr algn="ctr"/>
              <a:endParaRPr/>
            </a:p>
          </p:txBody>
        </p:sp>
        <p:sp>
          <p:nvSpPr>
            <p:cNvPr id="135" name="Rectangle 134"/>
            <p:cNvSpPr/>
            <p:nvPr/>
          </p:nvSpPr>
          <p:spPr>
            <a:xfrm>
              <a:off x="8943197" y="3973982"/>
              <a:ext cx="434522" cy="46085"/>
            </a:xfrm>
            <a:prstGeom prst="rect">
              <a:avLst/>
            </a:prstGeom>
            <a:solidFill>
              <a:srgbClr val="1B1D21"/>
            </a:solidFill>
            <a:ln w="12700">
              <a:solidFill>
                <a:srgbClr val="9AA0A6"/>
              </a:solidFill>
            </a:ln>
          </p:spPr>
          <p:txBody>
            <a:bodyPr rtlCol="0" anchor="ctr"/>
            <a:lstStyle/>
            <a:p>
              <a:pPr algn="ctr"/>
              <a:endParaRPr/>
            </a:p>
          </p:txBody>
        </p:sp>
        <p:sp>
          <p:nvSpPr>
            <p:cNvPr id="136" name="Rectangle 135"/>
            <p:cNvSpPr/>
            <p:nvPr/>
          </p:nvSpPr>
          <p:spPr>
            <a:xfrm>
              <a:off x="9055120" y="4085904"/>
              <a:ext cx="171175" cy="131673"/>
            </a:xfrm>
            <a:prstGeom prst="rect">
              <a:avLst/>
            </a:prstGeom>
            <a:solidFill>
              <a:srgbClr val="1B1D21"/>
            </a:solidFill>
            <a:ln>
              <a:noFill/>
            </a:ln>
          </p:spPr>
          <p:txBody>
            <a:bodyPr rtlCol="0" anchor="ctr"/>
            <a:lstStyle/>
            <a:p>
              <a:pPr algn="ctr"/>
              <a:endParaRPr/>
            </a:p>
          </p:txBody>
        </p:sp>
        <p:sp>
          <p:nvSpPr>
            <p:cNvPr id="137" name="TextBox 136"/>
            <p:cNvSpPr txBox="1"/>
            <p:nvPr/>
          </p:nvSpPr>
          <p:spPr>
            <a:xfrm>
              <a:off x="7863840" y="4617720"/>
              <a:ext cx="3383280" cy="274320"/>
            </a:xfrm>
            <a:prstGeom prst="rect">
              <a:avLst/>
            </a:prstGeom>
            <a:noFill/>
          </p:spPr>
          <p:txBody>
            <a:bodyPr wrap="square" lIns="0" tIns="0" rIns="0" bIns="0" anchor="ctr">
              <a:noAutofit/>
            </a:bodyPr>
            <a:lstStyle/>
            <a:p>
              <a:pPr algn="ctr"/>
              <a:r>
                <a:rPr lang="en-GB" sz="1400" b="1" i="0">
                  <a:solidFill>
                    <a:srgbClr val="F2C14E"/>
                  </a:solidFill>
                  <a:latin typeface="Arial"/>
                </a:rPr>
                <a:t>May change when a match exists</a:t>
              </a:r>
              <a:endParaRPr lang="en-GB" sz="1400"/>
            </a:p>
          </p:txBody>
        </p:sp>
        <p:sp>
          <p:nvSpPr>
            <p:cNvPr id="138" name="Oval 137"/>
            <p:cNvSpPr/>
            <p:nvPr/>
          </p:nvSpPr>
          <p:spPr>
            <a:xfrm>
              <a:off x="10744200" y="3913632"/>
              <a:ext cx="457200" cy="457200"/>
            </a:xfrm>
            <a:prstGeom prst="ellipse">
              <a:avLst/>
            </a:prstGeom>
            <a:solidFill>
              <a:srgbClr val="1E2126"/>
            </a:solidFill>
            <a:ln w="25400">
              <a:solidFill>
                <a:srgbClr val="F2C14E"/>
              </a:solidFill>
            </a:ln>
          </p:spPr>
          <p:txBody>
            <a:bodyPr wrap="square" lIns="0" tIns="0" rIns="0" bIns="0" rtlCol="0" anchor="ctr">
              <a:noAutofit/>
            </a:bodyPr>
            <a:lstStyle/>
            <a:p>
              <a:pPr algn="ctr"/>
              <a:r>
                <a:rPr lang="en-GB" sz="2000" b="1" i="0">
                  <a:solidFill>
                    <a:srgbClr val="F2C14E"/>
                  </a:solidFill>
                  <a:latin typeface="Arial"/>
                </a:rPr>
                <a:t>?</a:t>
              </a:r>
              <a:endParaRPr lang="en-GB" sz="2000"/>
            </a:p>
          </p:txBody>
        </p:sp>
      </p:grpSp>
      <p:sp>
        <p:nvSpPr>
          <p:cNvPr id="139" name="Inline chip: Undecided"/>
          <p:cNvSpPr/>
          <p:nvPr/>
        </p:nvSpPr>
        <p:spPr>
          <a:xfrm>
            <a:off x="822960" y="5120640"/>
            <a:ext cx="2938891"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Match rules: undecided (OQ23)</a:t>
            </a:r>
            <a:endParaRPr lang="en-GB" sz="1400"/>
          </a:p>
        </p:txBody>
      </p:sp>
      <p:sp>
        <p:nvSpPr>
          <p:cNvPr id="140"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Switch region and a pack engine without a match keeps its original look and number.</a:t>
            </a:r>
            <a:endParaRPr lang="en-GB" sz="2000"/>
          </a:p>
        </p:txBody>
      </p:sp>
      <p:sp>
        <p:nvSpPr>
          <p:cNvPr id="141"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142"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19</a:t>
            </a:r>
            <a:endParaRPr lang="en-GB" sz="1400"/>
          </a:p>
        </p:txBody>
      </p:sp>
    </p:spTree>
    <p:extLst>
      <p:ext uri="{BB962C8B-B14F-4D97-AF65-F5344CB8AC3E}">
        <p14:creationId xmlns:p14="http://schemas.microsoft.com/office/powerpoint/2010/main" val="13912311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25"/>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45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675"/>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500"/>
                                        <p:tgtEl>
                                          <p:spTgt spid="52"/>
                                        </p:tgtEl>
                                      </p:cBhvr>
                                    </p:animEffect>
                                  </p:childTnLst>
                                </p:cTn>
                              </p:par>
                              <p:par>
                                <p:cTn id="17" presetID="10" presetClass="entr" presetSubtype="0" fill="hold" nodeType="withEffect">
                                  <p:stCondLst>
                                    <p:cond delay="900"/>
                                  </p:stCondLst>
                                  <p:childTnLst>
                                    <p:set>
                                      <p:cBhvr>
                                        <p:cTn id="18" dur="1" fill="hold">
                                          <p:stCondLst>
                                            <p:cond delay="0"/>
                                          </p:stCondLst>
                                        </p:cTn>
                                        <p:tgtEl>
                                          <p:spTgt spid="101"/>
                                        </p:tgtEl>
                                        <p:attrNameLst>
                                          <p:attrName>style.visibility</p:attrName>
                                        </p:attrNameLst>
                                      </p:cBhvr>
                                      <p:to>
                                        <p:strVal val="visible"/>
                                      </p:to>
                                    </p:set>
                                    <p:animEffect transition="in" filter="fade">
                                      <p:cBhvr>
                                        <p:cTn id="19" dur="500"/>
                                        <p:tgtEl>
                                          <p:spTgt spid="101"/>
                                        </p:tgtEl>
                                      </p:cBhvr>
                                    </p:animEffect>
                                  </p:childTnLst>
                                </p:cTn>
                              </p:par>
                              <p:par>
                                <p:cTn id="20" presetID="10" presetClass="entr" presetSubtype="0" fill="hold" nodeType="withEffect">
                                  <p:stCondLst>
                                    <p:cond delay="1125"/>
                                  </p:stCondLst>
                                  <p:childTnLst>
                                    <p:set>
                                      <p:cBhvr>
                                        <p:cTn id="21" dur="1" fill="hold">
                                          <p:stCondLst>
                                            <p:cond delay="0"/>
                                          </p:stCondLst>
                                        </p:cTn>
                                        <p:tgtEl>
                                          <p:spTgt spid="139"/>
                                        </p:tgtEl>
                                        <p:attrNameLst>
                                          <p:attrName>style.visibility</p:attrName>
                                        </p:attrNameLst>
                                      </p:cBhvr>
                                      <p:to>
                                        <p:strVal val="visible"/>
                                      </p:to>
                                    </p:set>
                                    <p:animEffect transition="in" filter="fade">
                                      <p:cBhvr>
                                        <p:cTn id="22" dur="500"/>
                                        <p:tgtEl>
                                          <p:spTgt spid="139"/>
                                        </p:tgtEl>
                                      </p:cBhvr>
                                    </p:animEffect>
                                  </p:childTnLst>
                                </p:cTn>
                              </p:par>
                              <p:par>
                                <p:cTn id="23" presetID="10" presetClass="entr" presetSubtype="0" fill="hold" nodeType="withEffect">
                                  <p:stCondLst>
                                    <p:cond delay="1350"/>
                                  </p:stCondLst>
                                  <p:childTnLst>
                                    <p:set>
                                      <p:cBhvr>
                                        <p:cTn id="24" dur="1" fill="hold">
                                          <p:stCondLst>
                                            <p:cond delay="0"/>
                                          </p:stCondLst>
                                        </p:cTn>
                                        <p:tgtEl>
                                          <p:spTgt spid="140"/>
                                        </p:tgtEl>
                                        <p:attrNameLst>
                                          <p:attrName>style.visibility</p:attrName>
                                        </p:attrNameLst>
                                      </p:cBhvr>
                                      <p:to>
                                        <p:strVal val="visible"/>
                                      </p:to>
                                    </p:set>
                                    <p:animEffect transition="in" filter="fade">
                                      <p:cBhvr>
                                        <p:cTn id="25" dur="500"/>
                                        <p:tgtEl>
                                          <p:spTgt spid="140"/>
                                        </p:tgtEl>
                                      </p:cBhvr>
                                    </p:animEffect>
                                  </p:childTnLst>
                                </p:cTn>
                              </p:par>
                              <p:par>
                                <p:cTn id="26" presetID="10" presetClass="entr" presetSubtype="0" fill="hold" nodeType="withEffect">
                                  <p:stCondLst>
                                    <p:cond delay="1575"/>
                                  </p:stCondLst>
                                  <p:childTnLst>
                                    <p:set>
                                      <p:cBhvr>
                                        <p:cTn id="27" dur="1" fill="hold">
                                          <p:stCondLst>
                                            <p:cond delay="0"/>
                                          </p:stCondLst>
                                        </p:cTn>
                                        <p:tgtEl>
                                          <p:spTgt spid="141"/>
                                        </p:tgtEl>
                                        <p:attrNameLst>
                                          <p:attrName>style.visibility</p:attrName>
                                        </p:attrNameLst>
                                      </p:cBhvr>
                                      <p:to>
                                        <p:strVal val="visible"/>
                                      </p:to>
                                    </p:set>
                                    <p:animEffect transition="in" filter="fade">
                                      <p:cBhvr>
                                        <p:cTn id="28"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Friends and packs</a:t>
            </a:r>
            <a:endParaRPr lang="en-GB" sz="3600"/>
          </a:p>
        </p:txBody>
      </p:sp>
      <p:sp>
        <p:nvSpPr>
          <p:cNvPr id="3" name="Status chip: Agreed"/>
          <p:cNvSpPr/>
          <p:nvPr/>
        </p:nvSpPr>
        <p:spPr>
          <a:xfrm>
            <a:off x="10241280" y="457200"/>
            <a:ext cx="1371600" cy="365760"/>
          </a:xfrm>
          <a:prstGeom prst="roundRect">
            <a:avLst>
              <a:gd name="adj" fmla="val 25000"/>
            </a:avLst>
          </a:prstGeom>
          <a:solidFill>
            <a:srgbClr val="3FB950"/>
          </a:solidFill>
          <a:ln>
            <a:noFill/>
          </a:ln>
        </p:spPr>
        <p:txBody>
          <a:bodyPr wrap="none" lIns="0" tIns="0" rIns="0" bIns="0" rtlCol="0" anchor="ctr">
            <a:noAutofit/>
          </a:bodyPr>
          <a:lstStyle/>
          <a:p>
            <a:pPr algn="ctr"/>
            <a:r>
              <a:rPr lang="en-GB" sz="1400" b="1" i="0">
                <a:solidFill>
                  <a:srgbClr val="101418"/>
                </a:solidFill>
                <a:latin typeface="Arial"/>
              </a:rPr>
              <a:t>AGREED</a:t>
            </a:r>
            <a:endParaRPr lang="en-GB" sz="1400"/>
          </a:p>
        </p:txBody>
      </p:sp>
      <p:grpSp>
        <p:nvGrpSpPr>
          <p:cNvPr id="4" name="Player with a pack" descr="A player figure with a dashed pack box beside it: this player owns a pack."/>
          <p:cNvGrpSpPr/>
          <p:nvPr/>
        </p:nvGrpSpPr>
        <p:grpSpPr>
          <a:xfrm>
            <a:off x="1188720" y="1691640"/>
            <a:ext cx="1941271" cy="1325880"/>
            <a:chOff x="1188720" y="1691640"/>
            <a:chExt cx="1941271" cy="1325880"/>
          </a:xfrm>
        </p:grpSpPr>
        <p:sp>
          <p:nvSpPr>
            <p:cNvPr id="5" name="Oval 4"/>
            <p:cNvSpPr/>
            <p:nvPr/>
          </p:nvSpPr>
          <p:spPr>
            <a:xfrm>
              <a:off x="1453896" y="1691640"/>
              <a:ext cx="450799" cy="450799"/>
            </a:xfrm>
            <a:prstGeom prst="ellipse">
              <a:avLst/>
            </a:prstGeom>
            <a:solidFill>
              <a:srgbClr val="F2F2F2"/>
            </a:solidFill>
            <a:ln>
              <a:noFill/>
            </a:ln>
          </p:spPr>
          <p:txBody>
            <a:bodyPr rtlCol="0" anchor="ctr"/>
            <a:lstStyle/>
            <a:p>
              <a:pPr algn="ctr"/>
              <a:endParaRPr/>
            </a:p>
          </p:txBody>
        </p:sp>
        <p:sp>
          <p:nvSpPr>
            <p:cNvPr id="6" name="Rounded Rectangle 5"/>
            <p:cNvSpPr/>
            <p:nvPr/>
          </p:nvSpPr>
          <p:spPr>
            <a:xfrm>
              <a:off x="1188720" y="2221992"/>
              <a:ext cx="981151" cy="795528"/>
            </a:xfrm>
            <a:prstGeom prst="roundRect">
              <a:avLst>
                <a:gd name="adj" fmla="val 30833"/>
              </a:avLst>
            </a:prstGeom>
            <a:solidFill>
              <a:srgbClr val="F2F2F2"/>
            </a:solidFill>
            <a:ln>
              <a:noFill/>
            </a:ln>
          </p:spPr>
          <p:txBody>
            <a:bodyPr rtlCol="0" anchor="ctr"/>
            <a:lstStyle/>
            <a:p>
              <a:pPr algn="ctr"/>
              <a:endParaRPr/>
            </a:p>
          </p:txBody>
        </p:sp>
        <p:sp>
          <p:nvSpPr>
            <p:cNvPr id="7" name="Rounded Rectangle 6"/>
            <p:cNvSpPr/>
            <p:nvPr/>
          </p:nvSpPr>
          <p:spPr>
            <a:xfrm>
              <a:off x="2398471" y="2258568"/>
              <a:ext cx="685800" cy="438912"/>
            </a:xfrm>
            <a:prstGeom prst="roundRect">
              <a:avLst>
                <a:gd name="adj" fmla="val 8333"/>
              </a:avLst>
            </a:prstGeom>
            <a:noFill/>
            <a:ln w="22225">
              <a:solidFill>
                <a:srgbClr val="F28C28"/>
              </a:solidFill>
              <a:prstDash val="dash"/>
            </a:ln>
          </p:spPr>
          <p:txBody>
            <a:bodyPr rtlCol="0" anchor="ctr"/>
            <a:lstStyle/>
            <a:p>
              <a:pPr algn="ctr"/>
              <a:endParaRPr/>
            </a:p>
          </p:txBody>
        </p:sp>
        <p:sp>
          <p:nvSpPr>
            <p:cNvPr id="8" name="Rounded Rectangle 7"/>
            <p:cNvSpPr/>
            <p:nvPr/>
          </p:nvSpPr>
          <p:spPr>
            <a:xfrm>
              <a:off x="2352751" y="2148840"/>
              <a:ext cx="777240" cy="146304"/>
            </a:xfrm>
            <a:prstGeom prst="roundRect">
              <a:avLst>
                <a:gd name="adj" fmla="val 18750"/>
              </a:avLst>
            </a:prstGeom>
            <a:solidFill>
              <a:srgbClr val="F28C28"/>
            </a:solidFill>
            <a:ln>
              <a:noFill/>
            </a:ln>
          </p:spPr>
          <p:txBody>
            <a:bodyPr rtlCol="0" anchor="ctr"/>
            <a:lstStyle/>
            <a:p>
              <a:pPr algn="ctr"/>
              <a:endParaRPr/>
            </a:p>
          </p:txBody>
        </p:sp>
      </p:grpSp>
      <p:sp>
        <p:nvSpPr>
          <p:cNvPr id="9" name="Label: has a pack"/>
          <p:cNvSpPr txBox="1"/>
          <p:nvPr/>
        </p:nvSpPr>
        <p:spPr>
          <a:xfrm>
            <a:off x="822960" y="3108960"/>
            <a:ext cx="2743200" cy="365760"/>
          </a:xfrm>
          <a:prstGeom prst="rect">
            <a:avLst/>
          </a:prstGeom>
          <a:noFill/>
        </p:spPr>
        <p:txBody>
          <a:bodyPr wrap="square" lIns="0" tIns="0" rIns="0" bIns="0" anchor="ctr">
            <a:noAutofit/>
          </a:bodyPr>
          <a:lstStyle/>
          <a:p>
            <a:pPr algn="ctr"/>
            <a:r>
              <a:rPr lang="en-GB" sz="1600" b="1" i="0">
                <a:solidFill>
                  <a:srgbClr val="F2F2F2"/>
                </a:solidFill>
                <a:latin typeface="Arial"/>
              </a:rPr>
              <a:t>Has a pack</a:t>
            </a:r>
            <a:endParaRPr lang="en-GB" sz="1600"/>
          </a:p>
        </p:txBody>
      </p:sp>
      <p:grpSp>
        <p:nvGrpSpPr>
          <p:cNvPr id="10" name="Player without a pack" descr="A player figure with no pack: this player does not own a pack."/>
          <p:cNvGrpSpPr/>
          <p:nvPr/>
        </p:nvGrpSpPr>
        <p:grpSpPr>
          <a:xfrm>
            <a:off x="10332720" y="1691640"/>
            <a:ext cx="981151" cy="1325880"/>
            <a:chOff x="10332720" y="1691640"/>
            <a:chExt cx="981151" cy="1325880"/>
          </a:xfrm>
        </p:grpSpPr>
        <p:sp>
          <p:nvSpPr>
            <p:cNvPr id="11" name="Oval 10"/>
            <p:cNvSpPr/>
            <p:nvPr/>
          </p:nvSpPr>
          <p:spPr>
            <a:xfrm>
              <a:off x="10597896" y="1691640"/>
              <a:ext cx="450799" cy="450799"/>
            </a:xfrm>
            <a:prstGeom prst="ellipse">
              <a:avLst/>
            </a:prstGeom>
            <a:solidFill>
              <a:srgbClr val="A9B0B8"/>
            </a:solidFill>
            <a:ln>
              <a:noFill/>
            </a:ln>
          </p:spPr>
          <p:txBody>
            <a:bodyPr rtlCol="0" anchor="ctr"/>
            <a:lstStyle/>
            <a:p>
              <a:pPr algn="ctr"/>
              <a:endParaRPr/>
            </a:p>
          </p:txBody>
        </p:sp>
        <p:sp>
          <p:nvSpPr>
            <p:cNvPr id="12" name="Rounded Rectangle 11"/>
            <p:cNvSpPr/>
            <p:nvPr/>
          </p:nvSpPr>
          <p:spPr>
            <a:xfrm>
              <a:off x="10332720" y="2221992"/>
              <a:ext cx="981151" cy="795528"/>
            </a:xfrm>
            <a:prstGeom prst="roundRect">
              <a:avLst>
                <a:gd name="adj" fmla="val 30833"/>
              </a:avLst>
            </a:prstGeom>
            <a:solidFill>
              <a:srgbClr val="A9B0B8"/>
            </a:solidFill>
            <a:ln>
              <a:noFill/>
            </a:ln>
          </p:spPr>
          <p:txBody>
            <a:bodyPr rtlCol="0" anchor="ctr"/>
            <a:lstStyle/>
            <a:p>
              <a:pPr algn="ctr"/>
              <a:endParaRPr/>
            </a:p>
          </p:txBody>
        </p:sp>
      </p:grpSp>
      <p:sp>
        <p:nvSpPr>
          <p:cNvPr id="13" name="Label: no pack"/>
          <p:cNvSpPr txBox="1"/>
          <p:nvPr/>
        </p:nvSpPr>
        <p:spPr>
          <a:xfrm>
            <a:off x="9235440" y="3108960"/>
            <a:ext cx="2743200" cy="365760"/>
          </a:xfrm>
          <a:prstGeom prst="rect">
            <a:avLst/>
          </a:prstGeom>
          <a:noFill/>
        </p:spPr>
        <p:txBody>
          <a:bodyPr wrap="square" lIns="0" tIns="0" rIns="0" bIns="0" anchor="ctr">
            <a:noAutofit/>
          </a:bodyPr>
          <a:lstStyle/>
          <a:p>
            <a:pPr algn="ctr"/>
            <a:r>
              <a:rPr lang="en-GB" sz="1600" b="1" i="0">
                <a:solidFill>
                  <a:srgbClr val="F2F2F2"/>
                </a:solidFill>
                <a:latin typeface="Arial"/>
              </a:rPr>
              <a:t>No pack</a:t>
            </a:r>
            <a:endParaRPr lang="en-GB" sz="1600"/>
          </a:p>
        </p:txBody>
      </p:sp>
      <p:grpSp>
        <p:nvGrpSpPr>
          <p:cNvPr id="14" name="One world" descr="A globe labelled One world, the shared game world both players join."/>
          <p:cNvGrpSpPr/>
          <p:nvPr/>
        </p:nvGrpSpPr>
        <p:grpSpPr>
          <a:xfrm>
            <a:off x="5181904" y="1508760"/>
            <a:ext cx="1828800" cy="2267712"/>
            <a:chOff x="5181904" y="1508760"/>
            <a:chExt cx="1828800" cy="2267712"/>
          </a:xfrm>
        </p:grpSpPr>
        <p:sp>
          <p:nvSpPr>
            <p:cNvPr id="15" name="Oval 14"/>
            <p:cNvSpPr/>
            <p:nvPr/>
          </p:nvSpPr>
          <p:spPr>
            <a:xfrm>
              <a:off x="5181904" y="1508760"/>
              <a:ext cx="1828800" cy="1828800"/>
            </a:xfrm>
            <a:prstGeom prst="ellipse">
              <a:avLst/>
            </a:prstGeom>
            <a:solidFill>
              <a:srgbClr val="2B2F36"/>
            </a:solidFill>
            <a:ln w="31750">
              <a:solidFill>
                <a:srgbClr val="4DA3FF"/>
              </a:solidFill>
            </a:ln>
          </p:spPr>
          <p:txBody>
            <a:bodyPr rtlCol="0" anchor="ctr"/>
            <a:lstStyle/>
            <a:p>
              <a:pPr algn="ctr"/>
              <a:endParaRPr/>
            </a:p>
          </p:txBody>
        </p:sp>
        <p:sp>
          <p:nvSpPr>
            <p:cNvPr id="16" name="Oval 15"/>
            <p:cNvSpPr/>
            <p:nvPr/>
          </p:nvSpPr>
          <p:spPr>
            <a:xfrm>
              <a:off x="5693968" y="1508760"/>
              <a:ext cx="804672" cy="1828800"/>
            </a:xfrm>
            <a:prstGeom prst="ellipse">
              <a:avLst/>
            </a:prstGeom>
            <a:noFill/>
            <a:ln w="15875">
              <a:solidFill>
                <a:srgbClr val="4DA3FF"/>
              </a:solidFill>
            </a:ln>
          </p:spPr>
          <p:txBody>
            <a:bodyPr rtlCol="0" anchor="ctr"/>
            <a:lstStyle/>
            <a:p>
              <a:pPr algn="ctr"/>
              <a:endParaRPr/>
            </a:p>
          </p:txBody>
        </p:sp>
        <p:cxnSp>
          <p:nvCxnSpPr>
            <p:cNvPr id="17" name="Connector 16"/>
            <p:cNvCxnSpPr/>
            <p:nvPr/>
          </p:nvCxnSpPr>
          <p:spPr>
            <a:xfrm>
              <a:off x="5181904" y="2423160"/>
              <a:ext cx="1828800" cy="0"/>
            </a:xfrm>
            <a:prstGeom prst="line">
              <a:avLst/>
            </a:prstGeom>
            <a:ln w="15875">
              <a:solidFill>
                <a:srgbClr val="4DA3FF"/>
              </a:solidFill>
            </a:ln>
          </p:spPr>
        </p:cxnSp>
        <p:sp>
          <p:nvSpPr>
            <p:cNvPr id="18" name="TextBox 17"/>
            <p:cNvSpPr txBox="1"/>
            <p:nvPr/>
          </p:nvSpPr>
          <p:spPr>
            <a:xfrm>
              <a:off x="5181904" y="3410712"/>
              <a:ext cx="1828800" cy="365760"/>
            </a:xfrm>
            <a:prstGeom prst="rect">
              <a:avLst/>
            </a:prstGeom>
            <a:noFill/>
          </p:spPr>
          <p:txBody>
            <a:bodyPr wrap="square" lIns="0" tIns="0" rIns="0" bIns="0" anchor="ctr">
              <a:noAutofit/>
            </a:bodyPr>
            <a:lstStyle/>
            <a:p>
              <a:pPr algn="ctr"/>
              <a:r>
                <a:rPr lang="en-GB" sz="1600" b="1" i="0">
                  <a:solidFill>
                    <a:srgbClr val="F2F2F2"/>
                  </a:solidFill>
                  <a:latin typeface="Arial"/>
                </a:rPr>
                <a:t>One world</a:t>
              </a:r>
              <a:endParaRPr lang="en-GB" sz="1600"/>
            </a:p>
          </p:txBody>
        </p:sp>
      </p:grpSp>
      <p:grpSp>
        <p:nvGrpSpPr>
          <p:cNvPr id="19" name="Joining arrows" descr="Dashed arrows from each player to the world. A question mark on the second arrow shows it is not known whether a player without a pack can join."/>
          <p:cNvGrpSpPr/>
          <p:nvPr/>
        </p:nvGrpSpPr>
        <p:grpSpPr>
          <a:xfrm>
            <a:off x="3337560" y="2080260"/>
            <a:ext cx="6629400" cy="685800"/>
            <a:chOff x="3337560" y="2080260"/>
            <a:chExt cx="6629400" cy="685800"/>
          </a:xfrm>
        </p:grpSpPr>
        <p:cxnSp>
          <p:nvCxnSpPr>
            <p:cNvPr id="20" name="Connector 19"/>
            <p:cNvCxnSpPr/>
            <p:nvPr/>
          </p:nvCxnSpPr>
          <p:spPr>
            <a:xfrm>
              <a:off x="3337560" y="2423160"/>
              <a:ext cx="1771192" cy="0"/>
            </a:xfrm>
            <a:prstGeom prst="line">
              <a:avLst/>
            </a:prstGeom>
            <a:ln w="28575">
              <a:solidFill>
                <a:srgbClr val="F28C28"/>
              </a:solidFill>
              <a:prstDash val="dash"/>
              <a:tailEnd type="triangle" w="med" len="med"/>
            </a:ln>
          </p:spPr>
        </p:cxnSp>
        <p:cxnSp>
          <p:nvCxnSpPr>
            <p:cNvPr id="21" name="Connector 20"/>
            <p:cNvCxnSpPr/>
            <p:nvPr/>
          </p:nvCxnSpPr>
          <p:spPr>
            <a:xfrm flipH="1">
              <a:off x="8503920" y="2423160"/>
              <a:ext cx="1463040" cy="0"/>
            </a:xfrm>
            <a:prstGeom prst="line">
              <a:avLst/>
            </a:prstGeom>
            <a:ln w="28575">
              <a:solidFill>
                <a:srgbClr val="F28C28"/>
              </a:solidFill>
              <a:prstDash val="dash"/>
            </a:ln>
          </p:spPr>
        </p:cxnSp>
        <p:cxnSp>
          <p:nvCxnSpPr>
            <p:cNvPr id="22" name="Connector 21"/>
            <p:cNvCxnSpPr/>
            <p:nvPr/>
          </p:nvCxnSpPr>
          <p:spPr>
            <a:xfrm flipH="1">
              <a:off x="7083856" y="2423160"/>
              <a:ext cx="688544" cy="0"/>
            </a:xfrm>
            <a:prstGeom prst="line">
              <a:avLst/>
            </a:prstGeom>
            <a:ln w="28575">
              <a:solidFill>
                <a:srgbClr val="F28C28"/>
              </a:solidFill>
              <a:prstDash val="dash"/>
              <a:tailEnd type="triangle" w="med" len="med"/>
            </a:ln>
          </p:spPr>
        </p:cxnSp>
        <p:sp>
          <p:nvSpPr>
            <p:cNvPr id="23" name="Oval 22"/>
            <p:cNvSpPr/>
            <p:nvPr/>
          </p:nvSpPr>
          <p:spPr>
            <a:xfrm>
              <a:off x="7795260" y="2080260"/>
              <a:ext cx="685800" cy="685800"/>
            </a:xfrm>
            <a:prstGeom prst="ellipse">
              <a:avLst/>
            </a:prstGeom>
            <a:solidFill>
              <a:srgbClr val="1E2126"/>
            </a:solidFill>
            <a:ln w="25400">
              <a:solidFill>
                <a:srgbClr val="F2C14E"/>
              </a:solidFill>
            </a:ln>
          </p:spPr>
          <p:txBody>
            <a:bodyPr wrap="square" lIns="0" tIns="0" rIns="0" bIns="0" rtlCol="0" anchor="ctr">
              <a:noAutofit/>
            </a:bodyPr>
            <a:lstStyle/>
            <a:p>
              <a:pPr algn="ctr"/>
              <a:r>
                <a:rPr lang="en-GB" sz="2800" b="1" i="0">
                  <a:solidFill>
                    <a:srgbClr val="F2C14E"/>
                  </a:solidFill>
                  <a:latin typeface="Arial"/>
                </a:rPr>
                <a:t>?</a:t>
              </a:r>
              <a:endParaRPr lang="en-GB" sz="2800"/>
            </a:p>
          </p:txBody>
        </p:sp>
      </p:grpSp>
      <p:sp>
        <p:nvSpPr>
          <p:cNvPr id="24" name="Note: multiplayer comes after release"/>
          <p:cNvSpPr/>
          <p:nvPr/>
        </p:nvSpPr>
        <p:spPr>
          <a:xfrm>
            <a:off x="3108960" y="4251960"/>
            <a:ext cx="5971032" cy="502920"/>
          </a:xfrm>
          <a:prstGeom prst="roundRect">
            <a:avLst>
              <a:gd name="adj" fmla="val 14545"/>
            </a:avLst>
          </a:prstGeom>
          <a:noFill/>
          <a:ln w="25400">
            <a:solidFill>
              <a:srgbClr val="F2C14E"/>
            </a:solidFill>
          </a:ln>
        </p:spPr>
        <p:txBody>
          <a:bodyPr wrap="square" rtlCol="0" anchor="ctr">
            <a:noAutofit/>
          </a:bodyPr>
          <a:lstStyle/>
          <a:p>
            <a:pPr algn="ctr"/>
            <a:r>
              <a:rPr lang="en-GB" sz="2000" b="1" i="0">
                <a:solidFill>
                  <a:srgbClr val="F2F2F2"/>
                </a:solidFill>
                <a:latin typeface="Arial"/>
              </a:rPr>
              <a:t>Multiplayer comes after release.</a:t>
            </a:r>
            <a:endParaRPr lang="en-GB" sz="2000"/>
          </a:p>
        </p:txBody>
      </p:sp>
      <p:sp>
        <p:nvSpPr>
          <p:cNvPr id="25" name="Inline chip: Undecided"/>
          <p:cNvSpPr/>
          <p:nvPr/>
        </p:nvSpPr>
        <p:spPr>
          <a:xfrm>
            <a:off x="4587087" y="4937760"/>
            <a:ext cx="3225399" cy="310896"/>
          </a:xfrm>
          <a:prstGeom prst="roundRect">
            <a:avLst>
              <a:gd name="adj" fmla="val 29411"/>
            </a:avLst>
          </a:prstGeom>
          <a:noFill/>
          <a:ln w="25400">
            <a:solidFill>
              <a:srgbClr val="A9B0B8"/>
            </a:solidFill>
          </a:ln>
        </p:spPr>
        <p:txBody>
          <a:bodyPr wrap="none" lIns="45720" tIns="0" rIns="45720" bIns="0" rtlCol="0" anchor="ctr">
            <a:noAutofit/>
          </a:bodyPr>
          <a:lstStyle/>
          <a:p>
            <a:pPr algn="ctr"/>
            <a:r>
              <a:rPr lang="en-GB" sz="1400" b="1" i="0">
                <a:solidFill>
                  <a:srgbClr val="F2F2F2"/>
                </a:solidFill>
                <a:latin typeface="Arial"/>
              </a:rPr>
              <a:t>UNDECIDED · </a:t>
            </a:r>
            <a:r>
              <a:rPr lang="en-GB" sz="1400" b="0" i="0">
                <a:solidFill>
                  <a:srgbClr val="F2F2F2"/>
                </a:solidFill>
                <a:latin typeface="Arial"/>
              </a:rPr>
              <a:t>Not checked (OQ27)</a:t>
            </a:r>
            <a:endParaRPr lang="en-GB" sz="1400"/>
          </a:p>
        </p:txBody>
      </p:sp>
      <p:sp>
        <p:nvSpPr>
          <p:cNvPr id="26"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Ideally friends could join without buying a pack. That is only a hope for now.</a:t>
            </a:r>
            <a:endParaRPr lang="en-GB" sz="2000"/>
          </a:p>
        </p:txBody>
      </p:sp>
      <p:sp>
        <p:nvSpPr>
          <p:cNvPr id="27"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28"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20</a:t>
            </a:r>
            <a:endParaRPr lang="en-GB" sz="1400"/>
          </a:p>
        </p:txBody>
      </p:sp>
    </p:spTree>
    <p:extLst>
      <p:ext uri="{BB962C8B-B14F-4D97-AF65-F5344CB8AC3E}">
        <p14:creationId xmlns:p14="http://schemas.microsoft.com/office/powerpoint/2010/main" val="39369900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18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36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54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72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nodeType="withEffect">
                                  <p:stCondLst>
                                    <p:cond delay="90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10" presetClass="entr" presetSubtype="0" fill="hold" nodeType="withEffect">
                                  <p:stCondLst>
                                    <p:cond delay="108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10" presetClass="entr" presetSubtype="0" fill="hold" nodeType="withEffect">
                                  <p:stCondLst>
                                    <p:cond delay="126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nodeType="withEffect">
                                  <p:stCondLst>
                                    <p:cond delay="144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nodeType="withEffect">
                                  <p:stCondLst>
                                    <p:cond delay="162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Money and delivery</a:t>
            </a:r>
            <a:endParaRPr lang="en-GB" sz="3600"/>
          </a:p>
        </p:txBody>
      </p:sp>
      <p:sp>
        <p:nvSpPr>
          <p:cNvPr id="3" name="Status chip: Undecided"/>
          <p:cNvSpPr/>
          <p:nvPr/>
        </p:nvSpPr>
        <p:spPr>
          <a:xfrm>
            <a:off x="10241280" y="457200"/>
            <a:ext cx="1371600" cy="365760"/>
          </a:xfrm>
          <a:prstGeom prst="roundRect">
            <a:avLst>
              <a:gd name="adj" fmla="val 25000"/>
            </a:avLst>
          </a:prstGeom>
          <a:noFill/>
          <a:ln w="25400">
            <a:solidFill>
              <a:srgbClr val="A9B0B8"/>
            </a:solidFill>
          </a:ln>
        </p:spPr>
        <p:txBody>
          <a:bodyPr wrap="none" lIns="0" tIns="0" rIns="0" bIns="0" rtlCol="0" anchor="ctr">
            <a:noAutofit/>
          </a:bodyPr>
          <a:lstStyle/>
          <a:p>
            <a:pPr algn="ctr"/>
            <a:r>
              <a:rPr lang="en-GB" sz="1400" b="1" i="0">
                <a:solidFill>
                  <a:srgbClr val="F2F2F2"/>
                </a:solidFill>
                <a:latin typeface="Arial"/>
              </a:rPr>
              <a:t>UNDECIDED</a:t>
            </a:r>
            <a:endParaRPr lang="en-GB" sz="1400"/>
          </a:p>
        </p:txBody>
      </p:sp>
      <p:grpSp>
        <p:nvGrpSpPr>
          <p:cNvPr id="4" name="Question card: Price?" descr="A question card: Price? This is not decided."/>
          <p:cNvGrpSpPr/>
          <p:nvPr/>
        </p:nvGrpSpPr>
        <p:grpSpPr>
          <a:xfrm>
            <a:off x="548640" y="1645920"/>
            <a:ext cx="3474720" cy="2834640"/>
            <a:chOff x="548640" y="1645920"/>
            <a:chExt cx="3474720" cy="2834640"/>
          </a:xfrm>
        </p:grpSpPr>
        <p:sp>
          <p:nvSpPr>
            <p:cNvPr id="5" name="Rounded Rectangle 4"/>
            <p:cNvSpPr/>
            <p:nvPr/>
          </p:nvSpPr>
          <p:spPr>
            <a:xfrm>
              <a:off x="548640" y="1645920"/>
              <a:ext cx="3474720" cy="2834640"/>
            </a:xfrm>
            <a:prstGeom prst="roundRect">
              <a:avLst>
                <a:gd name="adj" fmla="val 3225"/>
              </a:avLst>
            </a:prstGeom>
            <a:solidFill>
              <a:srgbClr val="2B2F36"/>
            </a:solidFill>
            <a:ln w="25400">
              <a:solidFill>
                <a:srgbClr val="A9B0B8"/>
              </a:solidFill>
            </a:ln>
          </p:spPr>
          <p:txBody>
            <a:bodyPr rtlCol="0" anchor="ctr"/>
            <a:lstStyle/>
            <a:p>
              <a:pPr algn="ctr"/>
              <a:endParaRPr/>
            </a:p>
          </p:txBody>
        </p:sp>
        <p:sp>
          <p:nvSpPr>
            <p:cNvPr id="6" name="Oval 5"/>
            <p:cNvSpPr/>
            <p:nvPr/>
          </p:nvSpPr>
          <p:spPr>
            <a:xfrm>
              <a:off x="1737360" y="1965960"/>
              <a:ext cx="1097280" cy="1097280"/>
            </a:xfrm>
            <a:prstGeom prst="ellipse">
              <a:avLst/>
            </a:prstGeom>
            <a:noFill/>
            <a:ln w="25400">
              <a:solidFill>
                <a:srgbClr val="A9B0B8"/>
              </a:solidFill>
            </a:ln>
          </p:spPr>
          <p:txBody>
            <a:bodyPr wrap="square" lIns="0" tIns="0" rIns="0" bIns="0" rtlCol="0" anchor="ctr">
              <a:noAutofit/>
            </a:bodyPr>
            <a:lstStyle/>
            <a:p>
              <a:pPr algn="ctr"/>
              <a:r>
                <a:rPr lang="en-GB" sz="4800" b="1" i="0">
                  <a:solidFill>
                    <a:srgbClr val="A9B0B8"/>
                  </a:solidFill>
                  <a:latin typeface="Arial"/>
                </a:rPr>
                <a:t>?</a:t>
              </a:r>
              <a:endParaRPr lang="en-GB" sz="4800"/>
            </a:p>
          </p:txBody>
        </p:sp>
        <p:sp>
          <p:nvSpPr>
            <p:cNvPr id="7" name="TextBox 6"/>
            <p:cNvSpPr txBox="1"/>
            <p:nvPr/>
          </p:nvSpPr>
          <p:spPr>
            <a:xfrm>
              <a:off x="731520" y="3383280"/>
              <a:ext cx="3108960" cy="731520"/>
            </a:xfrm>
            <a:prstGeom prst="rect">
              <a:avLst/>
            </a:prstGeom>
            <a:noFill/>
          </p:spPr>
          <p:txBody>
            <a:bodyPr wrap="square" lIns="0" tIns="0" rIns="0" bIns="0" anchor="ctr">
              <a:noAutofit/>
            </a:bodyPr>
            <a:lstStyle/>
            <a:p>
              <a:pPr algn="ctr"/>
              <a:r>
                <a:rPr lang="en-GB" sz="2400" b="1" i="0">
                  <a:solidFill>
                    <a:srgbClr val="F2F2F2"/>
                  </a:solidFill>
                  <a:latin typeface="Arial"/>
                </a:rPr>
                <a:t>Price?</a:t>
              </a:r>
              <a:endParaRPr lang="en-GB" sz="2400"/>
            </a:p>
          </p:txBody>
        </p:sp>
      </p:grpSp>
      <p:grpSp>
        <p:nvGrpSpPr>
          <p:cNvPr id="8" name="Question card: Where is it sold?" descr="A question card: Where is it sold? This is not decided."/>
          <p:cNvGrpSpPr/>
          <p:nvPr/>
        </p:nvGrpSpPr>
        <p:grpSpPr>
          <a:xfrm>
            <a:off x="4357116" y="1645920"/>
            <a:ext cx="3474720" cy="2834640"/>
            <a:chOff x="4357116" y="1645920"/>
            <a:chExt cx="3474720" cy="2834640"/>
          </a:xfrm>
        </p:grpSpPr>
        <p:sp>
          <p:nvSpPr>
            <p:cNvPr id="9" name="Rounded Rectangle 8"/>
            <p:cNvSpPr/>
            <p:nvPr/>
          </p:nvSpPr>
          <p:spPr>
            <a:xfrm>
              <a:off x="4357116" y="1645920"/>
              <a:ext cx="3474720" cy="2834640"/>
            </a:xfrm>
            <a:prstGeom prst="roundRect">
              <a:avLst>
                <a:gd name="adj" fmla="val 3225"/>
              </a:avLst>
            </a:prstGeom>
            <a:solidFill>
              <a:srgbClr val="2B2F36"/>
            </a:solidFill>
            <a:ln w="25400">
              <a:solidFill>
                <a:srgbClr val="A9B0B8"/>
              </a:solidFill>
            </a:ln>
          </p:spPr>
          <p:txBody>
            <a:bodyPr rtlCol="0" anchor="ctr"/>
            <a:lstStyle/>
            <a:p>
              <a:pPr algn="ctr"/>
              <a:endParaRPr/>
            </a:p>
          </p:txBody>
        </p:sp>
        <p:sp>
          <p:nvSpPr>
            <p:cNvPr id="10" name="Oval 9"/>
            <p:cNvSpPr/>
            <p:nvPr/>
          </p:nvSpPr>
          <p:spPr>
            <a:xfrm>
              <a:off x="5545836" y="1965960"/>
              <a:ext cx="1097280" cy="1097280"/>
            </a:xfrm>
            <a:prstGeom prst="ellipse">
              <a:avLst/>
            </a:prstGeom>
            <a:noFill/>
            <a:ln w="25400">
              <a:solidFill>
                <a:srgbClr val="A9B0B8"/>
              </a:solidFill>
            </a:ln>
          </p:spPr>
          <p:txBody>
            <a:bodyPr wrap="square" lIns="0" tIns="0" rIns="0" bIns="0" rtlCol="0" anchor="ctr">
              <a:noAutofit/>
            </a:bodyPr>
            <a:lstStyle/>
            <a:p>
              <a:pPr algn="ctr"/>
              <a:r>
                <a:rPr lang="en-GB" sz="4800" b="1" i="0">
                  <a:solidFill>
                    <a:srgbClr val="A9B0B8"/>
                  </a:solidFill>
                  <a:latin typeface="Arial"/>
                </a:rPr>
                <a:t>?</a:t>
              </a:r>
              <a:endParaRPr lang="en-GB" sz="4800"/>
            </a:p>
          </p:txBody>
        </p:sp>
        <p:sp>
          <p:nvSpPr>
            <p:cNvPr id="11" name="TextBox 10"/>
            <p:cNvSpPr txBox="1"/>
            <p:nvPr/>
          </p:nvSpPr>
          <p:spPr>
            <a:xfrm>
              <a:off x="4539996" y="3383280"/>
              <a:ext cx="3108960" cy="731520"/>
            </a:xfrm>
            <a:prstGeom prst="rect">
              <a:avLst/>
            </a:prstGeom>
            <a:noFill/>
          </p:spPr>
          <p:txBody>
            <a:bodyPr wrap="square" lIns="0" tIns="0" rIns="0" bIns="0" anchor="ctr">
              <a:noAutofit/>
            </a:bodyPr>
            <a:lstStyle/>
            <a:p>
              <a:pPr algn="ctr"/>
              <a:r>
                <a:rPr lang="en-GB" sz="2400" b="1" i="0">
                  <a:solidFill>
                    <a:srgbClr val="F2F2F2"/>
                  </a:solidFill>
                  <a:latin typeface="Arial"/>
                </a:rPr>
                <a:t>Where is it sold?</a:t>
              </a:r>
              <a:endParaRPr lang="en-GB" sz="2400"/>
            </a:p>
          </p:txBody>
        </p:sp>
      </p:grpSp>
      <p:grpSp>
        <p:nvGrpSpPr>
          <p:cNvPr id="12" name="Question card: What rules apply?" descr="A question card: What rules apply? This is not decided."/>
          <p:cNvGrpSpPr/>
          <p:nvPr/>
        </p:nvGrpSpPr>
        <p:grpSpPr>
          <a:xfrm>
            <a:off x="8165592" y="1645920"/>
            <a:ext cx="3474720" cy="2834640"/>
            <a:chOff x="8165592" y="1645920"/>
            <a:chExt cx="3474720" cy="2834640"/>
          </a:xfrm>
        </p:grpSpPr>
        <p:sp>
          <p:nvSpPr>
            <p:cNvPr id="13" name="Rounded Rectangle 12"/>
            <p:cNvSpPr/>
            <p:nvPr/>
          </p:nvSpPr>
          <p:spPr>
            <a:xfrm>
              <a:off x="8165592" y="1645920"/>
              <a:ext cx="3474720" cy="2834640"/>
            </a:xfrm>
            <a:prstGeom prst="roundRect">
              <a:avLst>
                <a:gd name="adj" fmla="val 3225"/>
              </a:avLst>
            </a:prstGeom>
            <a:solidFill>
              <a:srgbClr val="2B2F36"/>
            </a:solidFill>
            <a:ln w="25400">
              <a:solidFill>
                <a:srgbClr val="A9B0B8"/>
              </a:solidFill>
            </a:ln>
          </p:spPr>
          <p:txBody>
            <a:bodyPr rtlCol="0" anchor="ctr"/>
            <a:lstStyle/>
            <a:p>
              <a:pPr algn="ctr"/>
              <a:endParaRPr/>
            </a:p>
          </p:txBody>
        </p:sp>
        <p:sp>
          <p:nvSpPr>
            <p:cNvPr id="14" name="Oval 13"/>
            <p:cNvSpPr/>
            <p:nvPr/>
          </p:nvSpPr>
          <p:spPr>
            <a:xfrm>
              <a:off x="9354312" y="1965960"/>
              <a:ext cx="1097280" cy="1097280"/>
            </a:xfrm>
            <a:prstGeom prst="ellipse">
              <a:avLst/>
            </a:prstGeom>
            <a:noFill/>
            <a:ln w="25400">
              <a:solidFill>
                <a:srgbClr val="A9B0B8"/>
              </a:solidFill>
            </a:ln>
          </p:spPr>
          <p:txBody>
            <a:bodyPr wrap="square" lIns="0" tIns="0" rIns="0" bIns="0" rtlCol="0" anchor="ctr">
              <a:noAutofit/>
            </a:bodyPr>
            <a:lstStyle/>
            <a:p>
              <a:pPr algn="ctr"/>
              <a:r>
                <a:rPr lang="en-GB" sz="4800" b="1" i="0">
                  <a:solidFill>
                    <a:srgbClr val="A9B0B8"/>
                  </a:solidFill>
                  <a:latin typeface="Arial"/>
                </a:rPr>
                <a:t>?</a:t>
              </a:r>
              <a:endParaRPr lang="en-GB" sz="4800"/>
            </a:p>
          </p:txBody>
        </p:sp>
        <p:sp>
          <p:nvSpPr>
            <p:cNvPr id="15" name="TextBox 14"/>
            <p:cNvSpPr txBox="1"/>
            <p:nvPr/>
          </p:nvSpPr>
          <p:spPr>
            <a:xfrm>
              <a:off x="8348471" y="3383280"/>
              <a:ext cx="3108960" cy="731520"/>
            </a:xfrm>
            <a:prstGeom prst="rect">
              <a:avLst/>
            </a:prstGeom>
            <a:noFill/>
          </p:spPr>
          <p:txBody>
            <a:bodyPr wrap="square" lIns="0" tIns="0" rIns="0" bIns="0" anchor="ctr">
              <a:noAutofit/>
            </a:bodyPr>
            <a:lstStyle/>
            <a:p>
              <a:pPr algn="ctr"/>
              <a:r>
                <a:rPr lang="en-GB" sz="2400" b="1" i="0">
                  <a:solidFill>
                    <a:srgbClr val="F2F2F2"/>
                  </a:solidFill>
                  <a:latin typeface="Arial"/>
                </a:rPr>
                <a:t>What rules apply?</a:t>
              </a:r>
              <a:endParaRPr lang="en-GB" sz="2400"/>
            </a:p>
          </p:txBody>
        </p:sp>
      </p:grpSp>
      <p:sp>
        <p:nvSpPr>
          <p:cNvPr id="16" name="Footer: OQ26"/>
          <p:cNvSpPr txBox="1"/>
          <p:nvPr/>
        </p:nvSpPr>
        <p:spPr>
          <a:xfrm>
            <a:off x="548640" y="4846320"/>
            <a:ext cx="2743200" cy="365760"/>
          </a:xfrm>
          <a:prstGeom prst="rect">
            <a:avLst/>
          </a:prstGeom>
          <a:noFill/>
        </p:spPr>
        <p:txBody>
          <a:bodyPr wrap="square" lIns="0" tIns="0" rIns="0" bIns="0" anchor="ctr">
            <a:noAutofit/>
          </a:bodyPr>
          <a:lstStyle/>
          <a:p>
            <a:pPr algn="l"/>
            <a:r>
              <a:rPr lang="en-GB" sz="1600" b="1" i="0">
                <a:solidFill>
                  <a:srgbClr val="A9B0B8"/>
                </a:solidFill>
                <a:latin typeface="Arial"/>
              </a:rPr>
              <a:t>OQ26</a:t>
            </a:r>
            <a:endParaRPr lang="en-GB" sz="1600"/>
          </a:p>
        </p:txBody>
      </p:sp>
      <p:sp>
        <p:nvSpPr>
          <p:cNvPr id="17"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Prices and how packs are delivered are not decided. Nothing is promised.</a:t>
            </a:r>
            <a:endParaRPr lang="en-GB" sz="2000"/>
          </a:p>
        </p:txBody>
      </p:sp>
      <p:sp>
        <p:nvSpPr>
          <p:cNvPr id="18"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19"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21</a:t>
            </a:r>
            <a:endParaRPr lang="en-GB" sz="1400"/>
          </a:p>
        </p:txBody>
      </p:sp>
    </p:spTree>
    <p:extLst>
      <p:ext uri="{BB962C8B-B14F-4D97-AF65-F5344CB8AC3E}">
        <p14:creationId xmlns:p14="http://schemas.microsoft.com/office/powerpoint/2010/main" val="1712624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6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9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120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par>
                                <p:cTn id="20" presetID="10" presetClass="entr" presetSubtype="0" fill="hold" nodeType="withEffect">
                                  <p:stCondLst>
                                    <p:cond delay="150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Where this stands</a:t>
            </a:r>
            <a:endParaRPr lang="en-GB" sz="3600"/>
          </a:p>
        </p:txBody>
      </p:sp>
      <p:sp>
        <p:nvSpPr>
          <p:cNvPr id="3" name="Status chip: Provisional"/>
          <p:cNvSpPr/>
          <p:nvPr/>
        </p:nvSpPr>
        <p:spPr>
          <a:xfrm>
            <a:off x="10241280" y="457200"/>
            <a:ext cx="1371600" cy="365760"/>
          </a:xfrm>
          <a:prstGeom prst="roundRect">
            <a:avLst>
              <a:gd name="adj" fmla="val 25000"/>
            </a:avLst>
          </a:prstGeom>
          <a:solidFill>
            <a:srgbClr val="4DA3FF"/>
          </a:solidFill>
          <a:ln>
            <a:noFill/>
          </a:ln>
        </p:spPr>
        <p:txBody>
          <a:bodyPr wrap="none" lIns="0" tIns="0" rIns="0" bIns="0" rtlCol="0" anchor="ctr">
            <a:noAutofit/>
          </a:bodyPr>
          <a:lstStyle/>
          <a:p>
            <a:pPr algn="ctr"/>
            <a:r>
              <a:rPr lang="en-GB" sz="1400" b="1" i="0">
                <a:solidFill>
                  <a:srgbClr val="101418"/>
                </a:solidFill>
                <a:latin typeface="Arial"/>
              </a:rPr>
              <a:t>PROVISIONAL</a:t>
            </a:r>
            <a:endParaRPr lang="en-GB" sz="1400"/>
          </a:p>
        </p:txBody>
      </p:sp>
      <p:grpSp>
        <p:nvGrpSpPr>
          <p:cNvPr id="4" name="Step: Core game for one player:" descr="Step: Core game for one player: first."/>
          <p:cNvGrpSpPr/>
          <p:nvPr/>
        </p:nvGrpSpPr>
        <p:grpSpPr>
          <a:xfrm>
            <a:off x="548640" y="1920240"/>
            <a:ext cx="2825496" cy="2240280"/>
            <a:chOff x="548640" y="1920240"/>
            <a:chExt cx="2825496" cy="2240280"/>
          </a:xfrm>
        </p:grpSpPr>
        <p:sp>
          <p:nvSpPr>
            <p:cNvPr id="5" name="Rounded Rectangle 4"/>
            <p:cNvSpPr/>
            <p:nvPr/>
          </p:nvSpPr>
          <p:spPr>
            <a:xfrm>
              <a:off x="548640" y="1920240"/>
              <a:ext cx="2423160" cy="2240280"/>
            </a:xfrm>
            <a:prstGeom prst="roundRect">
              <a:avLst>
                <a:gd name="adj" fmla="val 4081"/>
              </a:avLst>
            </a:prstGeom>
            <a:solidFill>
              <a:srgbClr val="2B2F36"/>
            </a:solidFill>
            <a:ln w="38100">
              <a:solidFill>
                <a:srgbClr val="F28C28"/>
              </a:solidFill>
            </a:ln>
          </p:spPr>
          <p:txBody>
            <a:bodyPr wrap="square" lIns="137160" tIns="91440" rIns="137160" bIns="91440" rtlCol="0" anchor="ctr">
              <a:noAutofit/>
            </a:bodyPr>
            <a:lstStyle/>
            <a:p>
              <a:pPr algn="ctr">
                <a:spcAft>
                  <a:spcPts val="600"/>
                </a:spcAft>
              </a:pPr>
              <a:r>
                <a:rPr lang="en-GB" sz="1800" b="1" i="0">
                  <a:solidFill>
                    <a:srgbClr val="F2F2F2"/>
                  </a:solidFill>
                  <a:latin typeface="Arial"/>
                </a:rPr>
                <a:t>Core game for one player:</a:t>
              </a:r>
              <a:endParaRPr lang="en-GB" sz="1800"/>
            </a:p>
            <a:p>
              <a:pPr algn="ctr">
                <a:spcAft>
                  <a:spcPts val="600"/>
                </a:spcAft>
              </a:pPr>
              <a:r>
                <a:rPr lang="en-GB" sz="2600" b="1" i="0">
                  <a:solidFill>
                    <a:srgbClr val="F28C28"/>
                  </a:solidFill>
                  <a:latin typeface="Arial"/>
                </a:rPr>
                <a:t>first</a:t>
              </a:r>
              <a:endParaRPr lang="en-GB" sz="2600"/>
            </a:p>
          </p:txBody>
        </p:sp>
        <p:cxnSp>
          <p:nvCxnSpPr>
            <p:cNvPr id="6" name="Connector 5"/>
            <p:cNvCxnSpPr/>
            <p:nvPr/>
          </p:nvCxnSpPr>
          <p:spPr>
            <a:xfrm>
              <a:off x="3035808" y="3040380"/>
              <a:ext cx="338328" cy="0"/>
            </a:xfrm>
            <a:prstGeom prst="line">
              <a:avLst/>
            </a:prstGeom>
            <a:ln w="28575">
              <a:solidFill>
                <a:srgbClr val="F28C28"/>
              </a:solidFill>
              <a:tailEnd type="triangle" w="med" len="med"/>
            </a:ln>
          </p:spPr>
        </p:cxnSp>
      </p:grpSp>
      <p:grpSp>
        <p:nvGrpSpPr>
          <p:cNvPr id="7" name="Step: Regional packs:" descr="Step: Regional packs: an idea."/>
          <p:cNvGrpSpPr/>
          <p:nvPr/>
        </p:nvGrpSpPr>
        <p:grpSpPr>
          <a:xfrm>
            <a:off x="3438144" y="1920240"/>
            <a:ext cx="2825496" cy="2240280"/>
            <a:chOff x="3438144" y="1920240"/>
            <a:chExt cx="2825496" cy="2240280"/>
          </a:xfrm>
        </p:grpSpPr>
        <p:sp>
          <p:nvSpPr>
            <p:cNvPr id="8" name="Rounded Rectangle 7"/>
            <p:cNvSpPr/>
            <p:nvPr/>
          </p:nvSpPr>
          <p:spPr>
            <a:xfrm>
              <a:off x="3438144" y="1920240"/>
              <a:ext cx="2423160" cy="2240280"/>
            </a:xfrm>
            <a:prstGeom prst="roundRect">
              <a:avLst>
                <a:gd name="adj" fmla="val 4081"/>
              </a:avLst>
            </a:prstGeom>
            <a:solidFill>
              <a:srgbClr val="2B2F36"/>
            </a:solidFill>
            <a:ln w="22225">
              <a:solidFill>
                <a:srgbClr val="A9B0B8"/>
              </a:solidFill>
              <a:prstDash val="dash"/>
            </a:ln>
          </p:spPr>
          <p:txBody>
            <a:bodyPr wrap="square" lIns="137160" tIns="91440" rIns="137160" bIns="91440" rtlCol="0" anchor="ctr">
              <a:noAutofit/>
            </a:bodyPr>
            <a:lstStyle/>
            <a:p>
              <a:pPr algn="ctr">
                <a:spcAft>
                  <a:spcPts val="600"/>
                </a:spcAft>
              </a:pPr>
              <a:r>
                <a:rPr lang="en-GB" sz="1800" b="1" i="0">
                  <a:solidFill>
                    <a:srgbClr val="F2F2F2"/>
                  </a:solidFill>
                  <a:latin typeface="Arial"/>
                </a:rPr>
                <a:t>Regional packs:</a:t>
              </a:r>
              <a:endParaRPr lang="en-GB" sz="1800"/>
            </a:p>
            <a:p>
              <a:pPr algn="ctr">
                <a:spcAft>
                  <a:spcPts val="600"/>
                </a:spcAft>
              </a:pPr>
              <a:r>
                <a:rPr lang="en-GB" sz="2600" b="1" i="0">
                  <a:solidFill>
                    <a:srgbClr val="A9B0B8"/>
                  </a:solidFill>
                  <a:latin typeface="Arial"/>
                </a:rPr>
                <a:t>an idea</a:t>
              </a:r>
              <a:endParaRPr lang="en-GB" sz="2600"/>
            </a:p>
          </p:txBody>
        </p:sp>
        <p:cxnSp>
          <p:nvCxnSpPr>
            <p:cNvPr id="9" name="Connector 8"/>
            <p:cNvCxnSpPr/>
            <p:nvPr/>
          </p:nvCxnSpPr>
          <p:spPr>
            <a:xfrm>
              <a:off x="5925312" y="3040380"/>
              <a:ext cx="338328" cy="0"/>
            </a:xfrm>
            <a:prstGeom prst="line">
              <a:avLst/>
            </a:prstGeom>
            <a:ln w="28575">
              <a:solidFill>
                <a:srgbClr val="F28C28"/>
              </a:solidFill>
              <a:tailEnd type="triangle" w="med" len="med"/>
            </a:ln>
          </p:spPr>
        </p:cxnSp>
      </p:grpSp>
      <p:grpSp>
        <p:nvGrpSpPr>
          <p:cNvPr id="10" name="Step: More engines by update:" descr="Step: More engines by update: an idea."/>
          <p:cNvGrpSpPr/>
          <p:nvPr/>
        </p:nvGrpSpPr>
        <p:grpSpPr>
          <a:xfrm>
            <a:off x="6327648" y="1920240"/>
            <a:ext cx="2825496" cy="2240280"/>
            <a:chOff x="6327648" y="1920240"/>
            <a:chExt cx="2825496" cy="2240280"/>
          </a:xfrm>
        </p:grpSpPr>
        <p:sp>
          <p:nvSpPr>
            <p:cNvPr id="11" name="Rounded Rectangle 10"/>
            <p:cNvSpPr/>
            <p:nvPr/>
          </p:nvSpPr>
          <p:spPr>
            <a:xfrm>
              <a:off x="6327648" y="1920240"/>
              <a:ext cx="2423160" cy="2240280"/>
            </a:xfrm>
            <a:prstGeom prst="roundRect">
              <a:avLst>
                <a:gd name="adj" fmla="val 4081"/>
              </a:avLst>
            </a:prstGeom>
            <a:solidFill>
              <a:srgbClr val="2B2F36"/>
            </a:solidFill>
            <a:ln w="22225">
              <a:solidFill>
                <a:srgbClr val="A9B0B8"/>
              </a:solidFill>
              <a:prstDash val="dash"/>
            </a:ln>
          </p:spPr>
          <p:txBody>
            <a:bodyPr wrap="square" lIns="137160" tIns="91440" rIns="137160" bIns="91440" rtlCol="0" anchor="ctr">
              <a:noAutofit/>
            </a:bodyPr>
            <a:lstStyle/>
            <a:p>
              <a:pPr algn="ctr">
                <a:spcAft>
                  <a:spcPts val="600"/>
                </a:spcAft>
              </a:pPr>
              <a:r>
                <a:rPr lang="en-GB" sz="1800" b="1" i="0">
                  <a:solidFill>
                    <a:srgbClr val="F2F2F2"/>
                  </a:solidFill>
                  <a:latin typeface="Arial"/>
                </a:rPr>
                <a:t>More engines by update:</a:t>
              </a:r>
              <a:endParaRPr lang="en-GB" sz="1800"/>
            </a:p>
            <a:p>
              <a:pPr algn="ctr">
                <a:spcAft>
                  <a:spcPts val="600"/>
                </a:spcAft>
              </a:pPr>
              <a:r>
                <a:rPr lang="en-GB" sz="2600" b="1" i="0">
                  <a:solidFill>
                    <a:srgbClr val="A9B0B8"/>
                  </a:solidFill>
                  <a:latin typeface="Arial"/>
                </a:rPr>
                <a:t>an idea</a:t>
              </a:r>
              <a:endParaRPr lang="en-GB" sz="2600"/>
            </a:p>
          </p:txBody>
        </p:sp>
        <p:cxnSp>
          <p:nvCxnSpPr>
            <p:cNvPr id="12" name="Connector 11"/>
            <p:cNvCxnSpPr/>
            <p:nvPr/>
          </p:nvCxnSpPr>
          <p:spPr>
            <a:xfrm>
              <a:off x="8814816" y="3040380"/>
              <a:ext cx="338328" cy="0"/>
            </a:xfrm>
            <a:prstGeom prst="line">
              <a:avLst/>
            </a:prstGeom>
            <a:ln w="28575">
              <a:solidFill>
                <a:srgbClr val="F28C28"/>
              </a:solidFill>
              <a:tailEnd type="triangle" w="med" len="med"/>
            </a:ln>
          </p:spPr>
        </p:cxnSp>
      </p:grpSp>
      <p:grpSp>
        <p:nvGrpSpPr>
          <p:cNvPr id="13" name="Step: Historical cards:" descr="Step: Historical cards: an idea."/>
          <p:cNvGrpSpPr/>
          <p:nvPr/>
        </p:nvGrpSpPr>
        <p:grpSpPr>
          <a:xfrm>
            <a:off x="9217152" y="1920240"/>
            <a:ext cx="2423160" cy="2240280"/>
            <a:chOff x="9217152" y="1920240"/>
            <a:chExt cx="2423160" cy="2240280"/>
          </a:xfrm>
        </p:grpSpPr>
        <p:sp>
          <p:nvSpPr>
            <p:cNvPr id="14" name="Rounded Rectangle 13"/>
            <p:cNvSpPr/>
            <p:nvPr/>
          </p:nvSpPr>
          <p:spPr>
            <a:xfrm>
              <a:off x="9217152" y="1920240"/>
              <a:ext cx="2423160" cy="2240280"/>
            </a:xfrm>
            <a:prstGeom prst="roundRect">
              <a:avLst>
                <a:gd name="adj" fmla="val 4081"/>
              </a:avLst>
            </a:prstGeom>
            <a:solidFill>
              <a:srgbClr val="2B2F36"/>
            </a:solidFill>
            <a:ln w="22225">
              <a:solidFill>
                <a:srgbClr val="A9B0B8"/>
              </a:solidFill>
              <a:prstDash val="dash"/>
            </a:ln>
          </p:spPr>
          <p:txBody>
            <a:bodyPr wrap="square" lIns="137160" tIns="91440" rIns="137160" bIns="91440" rtlCol="0" anchor="ctr">
              <a:noAutofit/>
            </a:bodyPr>
            <a:lstStyle/>
            <a:p>
              <a:pPr algn="ctr">
                <a:spcAft>
                  <a:spcPts val="600"/>
                </a:spcAft>
              </a:pPr>
              <a:r>
                <a:rPr lang="en-GB" sz="1800" b="1" i="0">
                  <a:solidFill>
                    <a:srgbClr val="F2F2F2"/>
                  </a:solidFill>
                  <a:latin typeface="Arial"/>
                </a:rPr>
                <a:t>Historical cards:</a:t>
              </a:r>
              <a:endParaRPr lang="en-GB" sz="1800"/>
            </a:p>
            <a:p>
              <a:pPr algn="ctr">
                <a:spcAft>
                  <a:spcPts val="600"/>
                </a:spcAft>
              </a:pPr>
              <a:r>
                <a:rPr lang="en-GB" sz="2600" b="1" i="0">
                  <a:solidFill>
                    <a:srgbClr val="A9B0B8"/>
                  </a:solidFill>
                  <a:latin typeface="Arial"/>
                </a:rPr>
                <a:t>an idea</a:t>
              </a:r>
              <a:endParaRPr lang="en-GB" sz="2600"/>
            </a:p>
          </p:txBody>
        </p:sp>
      </p:grpSp>
      <p:sp>
        <p:nvSpPr>
          <p:cNvPr id="15" name="Inline chip: Provisional"/>
          <p:cNvSpPr/>
          <p:nvPr/>
        </p:nvSpPr>
        <p:spPr>
          <a:xfrm>
            <a:off x="548640" y="4572000"/>
            <a:ext cx="3242137" cy="310896"/>
          </a:xfrm>
          <a:prstGeom prst="roundRect">
            <a:avLst>
              <a:gd name="adj" fmla="val 29411"/>
            </a:avLst>
          </a:prstGeom>
          <a:solidFill>
            <a:srgbClr val="4DA3FF"/>
          </a:solidFill>
          <a:ln>
            <a:noFill/>
          </a:ln>
        </p:spPr>
        <p:txBody>
          <a:bodyPr wrap="none" lIns="45720" tIns="0" rIns="45720" bIns="0" rtlCol="0" anchor="ctr">
            <a:noAutofit/>
          </a:bodyPr>
          <a:lstStyle/>
          <a:p>
            <a:pPr algn="ctr"/>
            <a:r>
              <a:rPr lang="en-GB" sz="1400" b="1" i="0">
                <a:solidFill>
                  <a:srgbClr val="101418"/>
                </a:solidFill>
                <a:latin typeface="Arial"/>
              </a:rPr>
              <a:t>PROVISIONAL · </a:t>
            </a:r>
            <a:r>
              <a:rPr lang="en-GB" sz="1400" b="0" i="0">
                <a:solidFill>
                  <a:srgbClr val="101418"/>
                </a:solidFill>
                <a:latin typeface="Arial"/>
              </a:rPr>
              <a:t>Plans can change.</a:t>
            </a:r>
            <a:endParaRPr lang="en-GB" sz="1400"/>
          </a:p>
        </p:txBody>
      </p:sp>
      <p:sp>
        <p:nvSpPr>
          <p:cNvPr id="16"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Packs are an idea for after launch. The core game comes first.</a:t>
            </a:r>
            <a:endParaRPr lang="en-GB" sz="2000"/>
          </a:p>
        </p:txBody>
      </p:sp>
      <p:sp>
        <p:nvSpPr>
          <p:cNvPr id="17"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18"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22</a:t>
            </a:r>
            <a:endParaRPr lang="en-GB" sz="1400"/>
          </a:p>
        </p:txBody>
      </p:sp>
    </p:spTree>
    <p:extLst>
      <p:ext uri="{BB962C8B-B14F-4D97-AF65-F5344CB8AC3E}">
        <p14:creationId xmlns:p14="http://schemas.microsoft.com/office/powerpoint/2010/main" val="32121034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57"/>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514"/>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771"/>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1028"/>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nodeType="withEffect">
                                  <p:stCondLst>
                                    <p:cond delay="1285"/>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par>
                                <p:cTn id="23" presetID="10" presetClass="entr" presetSubtype="0" fill="hold" nodeType="withEffect">
                                  <p:stCondLst>
                                    <p:cond delay="1542"/>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Still undecided</a:t>
            </a:r>
            <a:endParaRPr lang="en-GB" sz="3600"/>
          </a:p>
        </p:txBody>
      </p:sp>
      <p:sp>
        <p:nvSpPr>
          <p:cNvPr id="3" name="Status chip: Undecided"/>
          <p:cNvSpPr/>
          <p:nvPr/>
        </p:nvSpPr>
        <p:spPr>
          <a:xfrm>
            <a:off x="10241280" y="457200"/>
            <a:ext cx="1371600" cy="365760"/>
          </a:xfrm>
          <a:prstGeom prst="roundRect">
            <a:avLst>
              <a:gd name="adj" fmla="val 25000"/>
            </a:avLst>
          </a:prstGeom>
          <a:noFill/>
          <a:ln w="25400">
            <a:solidFill>
              <a:srgbClr val="A9B0B8"/>
            </a:solidFill>
          </a:ln>
        </p:spPr>
        <p:txBody>
          <a:bodyPr wrap="none" lIns="0" tIns="0" rIns="0" bIns="0" rtlCol="0" anchor="ctr">
            <a:noAutofit/>
          </a:bodyPr>
          <a:lstStyle/>
          <a:p>
            <a:pPr algn="ctr"/>
            <a:r>
              <a:rPr lang="en-GB" sz="1400" b="1" i="0">
                <a:solidFill>
                  <a:srgbClr val="F2F2F2"/>
                </a:solidFill>
                <a:latin typeface="Arial"/>
              </a:rPr>
              <a:t>UNDECIDED</a:t>
            </a:r>
            <a:endParaRPr lang="en-GB" sz="1400"/>
          </a:p>
        </p:txBody>
      </p:sp>
      <p:grpSp>
        <p:nvGrpSpPr>
          <p:cNvPr id="4" name="Open question: Pack names and roster (OQ20)" descr="An open question card with an Undecided chip: Pack names and roster (OQ20)"/>
          <p:cNvGrpSpPr/>
          <p:nvPr/>
        </p:nvGrpSpPr>
        <p:grpSpPr>
          <a:xfrm>
            <a:off x="548640" y="1371600"/>
            <a:ext cx="2606040" cy="1828800"/>
            <a:chOff x="548640" y="1371600"/>
            <a:chExt cx="2606040" cy="1828800"/>
          </a:xfrm>
        </p:grpSpPr>
        <p:sp>
          <p:nvSpPr>
            <p:cNvPr id="5" name="Rounded Rectangle 4"/>
            <p:cNvSpPr/>
            <p:nvPr/>
          </p:nvSpPr>
          <p:spPr>
            <a:xfrm>
              <a:off x="548640" y="1371600"/>
              <a:ext cx="2606040" cy="1828800"/>
            </a:xfrm>
            <a:prstGeom prst="roundRect">
              <a:avLst>
                <a:gd name="adj" fmla="val 5000"/>
              </a:avLst>
            </a:prstGeom>
            <a:solidFill>
              <a:srgbClr val="2B2F36"/>
            </a:solidFill>
            <a:ln>
              <a:noFill/>
            </a:ln>
          </p:spPr>
          <p:txBody>
            <a:bodyPr rtlCol="0" anchor="ctr"/>
            <a:lstStyle/>
            <a:p>
              <a:pPr algn="ctr"/>
              <a:endParaRPr/>
            </a:p>
          </p:txBody>
        </p:sp>
        <p:sp>
          <p:nvSpPr>
            <p:cNvPr id="6" name="Oval 5"/>
            <p:cNvSpPr/>
            <p:nvPr/>
          </p:nvSpPr>
          <p:spPr>
            <a:xfrm>
              <a:off x="731520" y="1527048"/>
              <a:ext cx="457200" cy="457200"/>
            </a:xfrm>
            <a:prstGeom prst="ellipse">
              <a:avLst/>
            </a:prstGeom>
            <a:noFill/>
            <a:ln w="25400">
              <a:solidFill>
                <a:srgbClr val="A9B0B8"/>
              </a:solidFill>
            </a:ln>
          </p:spPr>
          <p:txBody>
            <a:bodyPr wrap="square" lIns="0" tIns="0" rIns="0" bIns="0" rtlCol="0" anchor="ctr">
              <a:noAutofit/>
            </a:bodyPr>
            <a:lstStyle/>
            <a:p>
              <a:pPr algn="ctr"/>
              <a:r>
                <a:rPr lang="en-GB" sz="2000" b="1" i="0">
                  <a:solidFill>
                    <a:srgbClr val="A9B0B8"/>
                  </a:solidFill>
                  <a:latin typeface="Arial"/>
                </a:rPr>
                <a:t>?</a:t>
              </a:r>
              <a:endParaRPr lang="en-GB" sz="2000"/>
            </a:p>
          </p:txBody>
        </p:sp>
        <p:sp>
          <p:nvSpPr>
            <p:cNvPr id="7" name="Undecided chip: Pack names and roster (OQ20)"/>
            <p:cNvSpPr/>
            <p:nvPr/>
          </p:nvSpPr>
          <p:spPr>
            <a:xfrm>
              <a:off x="685800" y="2103120"/>
              <a:ext cx="2331720" cy="914400"/>
            </a:xfrm>
            <a:prstGeom prst="roundRect">
              <a:avLst>
                <a:gd name="adj" fmla="val 12000"/>
              </a:avLst>
            </a:prstGeom>
            <a:noFill/>
            <a:ln w="25400">
              <a:solidFill>
                <a:srgbClr val="A9B0B8"/>
              </a:solidFill>
            </a:ln>
          </p:spPr>
          <p:txBody>
            <a:bodyPr wrap="square" tIns="36576" bIns="36576" rtlCol="0" anchor="ctr">
              <a:noAutofit/>
            </a:bodyPr>
            <a:lstStyle/>
            <a:p>
              <a:pPr algn="ctr"/>
              <a:r>
                <a:rPr lang="en-GB" sz="1600" b="1" i="0">
                  <a:solidFill>
                    <a:srgbClr val="F2F2F2"/>
                  </a:solidFill>
                  <a:latin typeface="Arial"/>
                </a:rPr>
                <a:t>Pack names and roster (OQ20)</a:t>
              </a:r>
              <a:endParaRPr lang="en-GB" sz="1600"/>
            </a:p>
          </p:txBody>
        </p:sp>
      </p:grpSp>
      <p:grpSp>
        <p:nvGrpSpPr>
          <p:cNvPr id="8" name="Open question: Total engine cap (OQ20)" descr="An open question card with an Undecided chip: Total engine cap (OQ20)"/>
          <p:cNvGrpSpPr/>
          <p:nvPr/>
        </p:nvGrpSpPr>
        <p:grpSpPr>
          <a:xfrm>
            <a:off x="3376879" y="1371600"/>
            <a:ext cx="2606040" cy="1828800"/>
            <a:chOff x="3376879" y="1371600"/>
            <a:chExt cx="2606040" cy="1828800"/>
          </a:xfrm>
        </p:grpSpPr>
        <p:sp>
          <p:nvSpPr>
            <p:cNvPr id="9" name="Rounded Rectangle 8"/>
            <p:cNvSpPr/>
            <p:nvPr/>
          </p:nvSpPr>
          <p:spPr>
            <a:xfrm>
              <a:off x="3376879" y="1371600"/>
              <a:ext cx="2606040" cy="1828800"/>
            </a:xfrm>
            <a:prstGeom prst="roundRect">
              <a:avLst>
                <a:gd name="adj" fmla="val 5000"/>
              </a:avLst>
            </a:prstGeom>
            <a:solidFill>
              <a:srgbClr val="2B2F36"/>
            </a:solidFill>
            <a:ln>
              <a:noFill/>
            </a:ln>
          </p:spPr>
          <p:txBody>
            <a:bodyPr rtlCol="0" anchor="ctr"/>
            <a:lstStyle/>
            <a:p>
              <a:pPr algn="ctr"/>
              <a:endParaRPr/>
            </a:p>
          </p:txBody>
        </p:sp>
        <p:sp>
          <p:nvSpPr>
            <p:cNvPr id="10" name="Oval 9"/>
            <p:cNvSpPr/>
            <p:nvPr/>
          </p:nvSpPr>
          <p:spPr>
            <a:xfrm>
              <a:off x="3559759" y="1527048"/>
              <a:ext cx="457200" cy="457200"/>
            </a:xfrm>
            <a:prstGeom prst="ellipse">
              <a:avLst/>
            </a:prstGeom>
            <a:noFill/>
            <a:ln w="25400">
              <a:solidFill>
                <a:srgbClr val="A9B0B8"/>
              </a:solidFill>
            </a:ln>
          </p:spPr>
          <p:txBody>
            <a:bodyPr wrap="square" lIns="0" tIns="0" rIns="0" bIns="0" rtlCol="0" anchor="ctr">
              <a:noAutofit/>
            </a:bodyPr>
            <a:lstStyle/>
            <a:p>
              <a:pPr algn="ctr"/>
              <a:r>
                <a:rPr lang="en-GB" sz="2000" b="1" i="0">
                  <a:solidFill>
                    <a:srgbClr val="A9B0B8"/>
                  </a:solidFill>
                  <a:latin typeface="Arial"/>
                </a:rPr>
                <a:t>?</a:t>
              </a:r>
              <a:endParaRPr lang="en-GB" sz="2000"/>
            </a:p>
          </p:txBody>
        </p:sp>
        <p:sp>
          <p:nvSpPr>
            <p:cNvPr id="11" name="Undecided chip: Total engine cap (OQ20)"/>
            <p:cNvSpPr/>
            <p:nvPr/>
          </p:nvSpPr>
          <p:spPr>
            <a:xfrm>
              <a:off x="3514039" y="2103120"/>
              <a:ext cx="2331720" cy="914400"/>
            </a:xfrm>
            <a:prstGeom prst="roundRect">
              <a:avLst>
                <a:gd name="adj" fmla="val 12000"/>
              </a:avLst>
            </a:prstGeom>
            <a:noFill/>
            <a:ln w="25400">
              <a:solidFill>
                <a:srgbClr val="A9B0B8"/>
              </a:solidFill>
            </a:ln>
          </p:spPr>
          <p:txBody>
            <a:bodyPr wrap="square" tIns="36576" bIns="36576" rtlCol="0" anchor="ctr">
              <a:noAutofit/>
            </a:bodyPr>
            <a:lstStyle/>
            <a:p>
              <a:pPr algn="ctr"/>
              <a:r>
                <a:rPr lang="en-GB" sz="1600" b="1" i="0">
                  <a:solidFill>
                    <a:srgbClr val="F2F2F2"/>
                  </a:solidFill>
                  <a:latin typeface="Arial"/>
                </a:rPr>
                <a:t>Total engine cap (OQ20)</a:t>
              </a:r>
              <a:endParaRPr lang="en-GB" sz="1600"/>
            </a:p>
          </p:txBody>
        </p:sp>
      </p:grpSp>
      <p:grpSp>
        <p:nvGrpSpPr>
          <p:cNvPr id="12" name="Open question: Category names (OQ20)" descr="An open question card with an Undecided chip: Category names (OQ20)"/>
          <p:cNvGrpSpPr/>
          <p:nvPr/>
        </p:nvGrpSpPr>
        <p:grpSpPr>
          <a:xfrm>
            <a:off x="6205118" y="1371600"/>
            <a:ext cx="2606040" cy="1828800"/>
            <a:chOff x="6205118" y="1371600"/>
            <a:chExt cx="2606040" cy="1828800"/>
          </a:xfrm>
        </p:grpSpPr>
        <p:sp>
          <p:nvSpPr>
            <p:cNvPr id="13" name="Rounded Rectangle 12"/>
            <p:cNvSpPr/>
            <p:nvPr/>
          </p:nvSpPr>
          <p:spPr>
            <a:xfrm>
              <a:off x="6205118" y="1371600"/>
              <a:ext cx="2606040" cy="1828800"/>
            </a:xfrm>
            <a:prstGeom prst="roundRect">
              <a:avLst>
                <a:gd name="adj" fmla="val 5000"/>
              </a:avLst>
            </a:prstGeom>
            <a:solidFill>
              <a:srgbClr val="2B2F36"/>
            </a:solidFill>
            <a:ln>
              <a:noFill/>
            </a:ln>
          </p:spPr>
          <p:txBody>
            <a:bodyPr rtlCol="0" anchor="ctr"/>
            <a:lstStyle/>
            <a:p>
              <a:pPr algn="ctr"/>
              <a:endParaRPr/>
            </a:p>
          </p:txBody>
        </p:sp>
        <p:sp>
          <p:nvSpPr>
            <p:cNvPr id="14" name="Oval 13"/>
            <p:cNvSpPr/>
            <p:nvPr/>
          </p:nvSpPr>
          <p:spPr>
            <a:xfrm>
              <a:off x="6387998" y="1527048"/>
              <a:ext cx="457200" cy="457200"/>
            </a:xfrm>
            <a:prstGeom prst="ellipse">
              <a:avLst/>
            </a:prstGeom>
            <a:noFill/>
            <a:ln w="25400">
              <a:solidFill>
                <a:srgbClr val="A9B0B8"/>
              </a:solidFill>
            </a:ln>
          </p:spPr>
          <p:txBody>
            <a:bodyPr wrap="square" lIns="0" tIns="0" rIns="0" bIns="0" rtlCol="0" anchor="ctr">
              <a:noAutofit/>
            </a:bodyPr>
            <a:lstStyle/>
            <a:p>
              <a:pPr algn="ctr"/>
              <a:r>
                <a:rPr lang="en-GB" sz="2000" b="1" i="0">
                  <a:solidFill>
                    <a:srgbClr val="A9B0B8"/>
                  </a:solidFill>
                  <a:latin typeface="Arial"/>
                </a:rPr>
                <a:t>?</a:t>
              </a:r>
              <a:endParaRPr lang="en-GB" sz="2000"/>
            </a:p>
          </p:txBody>
        </p:sp>
        <p:sp>
          <p:nvSpPr>
            <p:cNvPr id="15" name="Undecided chip: Category names (OQ20)"/>
            <p:cNvSpPr/>
            <p:nvPr/>
          </p:nvSpPr>
          <p:spPr>
            <a:xfrm>
              <a:off x="6342278" y="2103120"/>
              <a:ext cx="2331720" cy="914400"/>
            </a:xfrm>
            <a:prstGeom prst="roundRect">
              <a:avLst>
                <a:gd name="adj" fmla="val 12000"/>
              </a:avLst>
            </a:prstGeom>
            <a:noFill/>
            <a:ln w="25400">
              <a:solidFill>
                <a:srgbClr val="A9B0B8"/>
              </a:solidFill>
            </a:ln>
          </p:spPr>
          <p:txBody>
            <a:bodyPr wrap="square" tIns="36576" bIns="36576" rtlCol="0" anchor="ctr">
              <a:noAutofit/>
            </a:bodyPr>
            <a:lstStyle/>
            <a:p>
              <a:pPr algn="ctr"/>
              <a:r>
                <a:rPr lang="en-GB" sz="1600" b="1" i="0">
                  <a:solidFill>
                    <a:srgbClr val="F2F2F2"/>
                  </a:solidFill>
                  <a:latin typeface="Arial"/>
                </a:rPr>
                <a:t>Category names (OQ20)</a:t>
              </a:r>
              <a:endParaRPr lang="en-GB" sz="1600"/>
            </a:p>
          </p:txBody>
        </p:sp>
      </p:grpSp>
      <p:grpSp>
        <p:nvGrpSpPr>
          <p:cNvPr id="16" name="Open question: Golden Era dates (OQ21)" descr="An open question card with an Undecided chip: Golden Era dates (OQ21)"/>
          <p:cNvGrpSpPr/>
          <p:nvPr/>
        </p:nvGrpSpPr>
        <p:grpSpPr>
          <a:xfrm>
            <a:off x="9033357" y="1371600"/>
            <a:ext cx="2606040" cy="1828800"/>
            <a:chOff x="9033357" y="1371600"/>
            <a:chExt cx="2606040" cy="1828800"/>
          </a:xfrm>
        </p:grpSpPr>
        <p:sp>
          <p:nvSpPr>
            <p:cNvPr id="17" name="Rounded Rectangle 16"/>
            <p:cNvSpPr/>
            <p:nvPr/>
          </p:nvSpPr>
          <p:spPr>
            <a:xfrm>
              <a:off x="9033357" y="1371600"/>
              <a:ext cx="2606040" cy="1828800"/>
            </a:xfrm>
            <a:prstGeom prst="roundRect">
              <a:avLst>
                <a:gd name="adj" fmla="val 5000"/>
              </a:avLst>
            </a:prstGeom>
            <a:solidFill>
              <a:srgbClr val="2B2F36"/>
            </a:solidFill>
            <a:ln>
              <a:noFill/>
            </a:ln>
          </p:spPr>
          <p:txBody>
            <a:bodyPr rtlCol="0" anchor="ctr"/>
            <a:lstStyle/>
            <a:p>
              <a:pPr algn="ctr"/>
              <a:endParaRPr/>
            </a:p>
          </p:txBody>
        </p:sp>
        <p:sp>
          <p:nvSpPr>
            <p:cNvPr id="18" name="Oval 17"/>
            <p:cNvSpPr/>
            <p:nvPr/>
          </p:nvSpPr>
          <p:spPr>
            <a:xfrm>
              <a:off x="9216237" y="1527048"/>
              <a:ext cx="457200" cy="457200"/>
            </a:xfrm>
            <a:prstGeom prst="ellipse">
              <a:avLst/>
            </a:prstGeom>
            <a:noFill/>
            <a:ln w="25400">
              <a:solidFill>
                <a:srgbClr val="A9B0B8"/>
              </a:solidFill>
            </a:ln>
          </p:spPr>
          <p:txBody>
            <a:bodyPr wrap="square" lIns="0" tIns="0" rIns="0" bIns="0" rtlCol="0" anchor="ctr">
              <a:noAutofit/>
            </a:bodyPr>
            <a:lstStyle/>
            <a:p>
              <a:pPr algn="ctr"/>
              <a:r>
                <a:rPr lang="en-GB" sz="2000" b="1" i="0">
                  <a:solidFill>
                    <a:srgbClr val="A9B0B8"/>
                  </a:solidFill>
                  <a:latin typeface="Arial"/>
                </a:rPr>
                <a:t>?</a:t>
              </a:r>
              <a:endParaRPr lang="en-GB" sz="2000"/>
            </a:p>
          </p:txBody>
        </p:sp>
        <p:sp>
          <p:nvSpPr>
            <p:cNvPr id="19" name="Undecided chip: Golden Era dates (OQ21)"/>
            <p:cNvSpPr/>
            <p:nvPr/>
          </p:nvSpPr>
          <p:spPr>
            <a:xfrm>
              <a:off x="9170517" y="2103120"/>
              <a:ext cx="2331720" cy="914400"/>
            </a:xfrm>
            <a:prstGeom prst="roundRect">
              <a:avLst>
                <a:gd name="adj" fmla="val 12000"/>
              </a:avLst>
            </a:prstGeom>
            <a:noFill/>
            <a:ln w="25400">
              <a:solidFill>
                <a:srgbClr val="A9B0B8"/>
              </a:solidFill>
            </a:ln>
          </p:spPr>
          <p:txBody>
            <a:bodyPr wrap="square" tIns="36576" bIns="36576" rtlCol="0" anchor="ctr">
              <a:noAutofit/>
            </a:bodyPr>
            <a:lstStyle/>
            <a:p>
              <a:pPr algn="ctr"/>
              <a:r>
                <a:rPr lang="en-GB" sz="1600" b="1" i="0">
                  <a:solidFill>
                    <a:srgbClr val="F2F2F2"/>
                  </a:solidFill>
                  <a:latin typeface="Arial"/>
                </a:rPr>
                <a:t>Golden Era dates (OQ21)</a:t>
              </a:r>
              <a:endParaRPr lang="en-GB" sz="1600"/>
            </a:p>
          </p:txBody>
        </p:sp>
      </p:grpSp>
      <p:grpSp>
        <p:nvGrpSpPr>
          <p:cNvPr id="20" name="Open question: Pack unlock stages (OQ20)" descr="An open question card with an Undecided chip: Pack unlock stages (OQ20)"/>
          <p:cNvGrpSpPr/>
          <p:nvPr/>
        </p:nvGrpSpPr>
        <p:grpSpPr>
          <a:xfrm>
            <a:off x="548640" y="3429000"/>
            <a:ext cx="2606040" cy="1828800"/>
            <a:chOff x="548640" y="3429000"/>
            <a:chExt cx="2606040" cy="1828800"/>
          </a:xfrm>
        </p:grpSpPr>
        <p:sp>
          <p:nvSpPr>
            <p:cNvPr id="21" name="Rounded Rectangle 20"/>
            <p:cNvSpPr/>
            <p:nvPr/>
          </p:nvSpPr>
          <p:spPr>
            <a:xfrm>
              <a:off x="548640" y="3429000"/>
              <a:ext cx="2606040" cy="1828800"/>
            </a:xfrm>
            <a:prstGeom prst="roundRect">
              <a:avLst>
                <a:gd name="adj" fmla="val 5000"/>
              </a:avLst>
            </a:prstGeom>
            <a:solidFill>
              <a:srgbClr val="2B2F36"/>
            </a:solidFill>
            <a:ln>
              <a:noFill/>
            </a:ln>
          </p:spPr>
          <p:txBody>
            <a:bodyPr rtlCol="0" anchor="ctr"/>
            <a:lstStyle/>
            <a:p>
              <a:pPr algn="ctr"/>
              <a:endParaRPr/>
            </a:p>
          </p:txBody>
        </p:sp>
        <p:sp>
          <p:nvSpPr>
            <p:cNvPr id="22" name="Oval 21"/>
            <p:cNvSpPr/>
            <p:nvPr/>
          </p:nvSpPr>
          <p:spPr>
            <a:xfrm>
              <a:off x="731520" y="3584448"/>
              <a:ext cx="457200" cy="457200"/>
            </a:xfrm>
            <a:prstGeom prst="ellipse">
              <a:avLst/>
            </a:prstGeom>
            <a:noFill/>
            <a:ln w="25400">
              <a:solidFill>
                <a:srgbClr val="A9B0B8"/>
              </a:solidFill>
            </a:ln>
          </p:spPr>
          <p:txBody>
            <a:bodyPr wrap="square" lIns="0" tIns="0" rIns="0" bIns="0" rtlCol="0" anchor="ctr">
              <a:noAutofit/>
            </a:bodyPr>
            <a:lstStyle/>
            <a:p>
              <a:pPr algn="ctr"/>
              <a:r>
                <a:rPr lang="en-GB" sz="2000" b="1" i="0">
                  <a:solidFill>
                    <a:srgbClr val="A9B0B8"/>
                  </a:solidFill>
                  <a:latin typeface="Arial"/>
                </a:rPr>
                <a:t>?</a:t>
              </a:r>
              <a:endParaRPr lang="en-GB" sz="2000"/>
            </a:p>
          </p:txBody>
        </p:sp>
        <p:sp>
          <p:nvSpPr>
            <p:cNvPr id="23" name="Undecided chip: Pack unlock stages (OQ20)"/>
            <p:cNvSpPr/>
            <p:nvPr/>
          </p:nvSpPr>
          <p:spPr>
            <a:xfrm>
              <a:off x="685800" y="4160520"/>
              <a:ext cx="2331720" cy="914400"/>
            </a:xfrm>
            <a:prstGeom prst="roundRect">
              <a:avLst>
                <a:gd name="adj" fmla="val 12000"/>
              </a:avLst>
            </a:prstGeom>
            <a:noFill/>
            <a:ln w="25400">
              <a:solidFill>
                <a:srgbClr val="A9B0B8"/>
              </a:solidFill>
            </a:ln>
          </p:spPr>
          <p:txBody>
            <a:bodyPr wrap="square" tIns="36576" bIns="36576" rtlCol="0" anchor="ctr">
              <a:noAutofit/>
            </a:bodyPr>
            <a:lstStyle/>
            <a:p>
              <a:pPr algn="ctr"/>
              <a:r>
                <a:rPr lang="en-GB" sz="1600" b="1" i="0">
                  <a:solidFill>
                    <a:srgbClr val="F2F2F2"/>
                  </a:solidFill>
                  <a:latin typeface="Arial"/>
                </a:rPr>
                <a:t>Pack unlock stages (OQ20)</a:t>
              </a:r>
              <a:endParaRPr lang="en-GB" sz="1600"/>
            </a:p>
          </p:txBody>
        </p:sp>
      </p:grpSp>
      <p:grpSp>
        <p:nvGrpSpPr>
          <p:cNvPr id="24" name="Open question: Buildings when a pack is missing (OQ23)" descr="An open question card with an Undecided chip: Buildings when a pack is missing (OQ23)"/>
          <p:cNvGrpSpPr/>
          <p:nvPr/>
        </p:nvGrpSpPr>
        <p:grpSpPr>
          <a:xfrm>
            <a:off x="3376879" y="3429000"/>
            <a:ext cx="2606040" cy="1828800"/>
            <a:chOff x="3376879" y="3429000"/>
            <a:chExt cx="2606040" cy="1828800"/>
          </a:xfrm>
        </p:grpSpPr>
        <p:sp>
          <p:nvSpPr>
            <p:cNvPr id="25" name="Rounded Rectangle 24"/>
            <p:cNvSpPr/>
            <p:nvPr/>
          </p:nvSpPr>
          <p:spPr>
            <a:xfrm>
              <a:off x="3376879" y="3429000"/>
              <a:ext cx="2606040" cy="1828800"/>
            </a:xfrm>
            <a:prstGeom prst="roundRect">
              <a:avLst>
                <a:gd name="adj" fmla="val 5000"/>
              </a:avLst>
            </a:prstGeom>
            <a:solidFill>
              <a:srgbClr val="2B2F36"/>
            </a:solidFill>
            <a:ln>
              <a:noFill/>
            </a:ln>
          </p:spPr>
          <p:txBody>
            <a:bodyPr rtlCol="0" anchor="ctr"/>
            <a:lstStyle/>
            <a:p>
              <a:pPr algn="ctr"/>
              <a:endParaRPr/>
            </a:p>
          </p:txBody>
        </p:sp>
        <p:sp>
          <p:nvSpPr>
            <p:cNvPr id="26" name="Oval 25"/>
            <p:cNvSpPr/>
            <p:nvPr/>
          </p:nvSpPr>
          <p:spPr>
            <a:xfrm>
              <a:off x="3559759" y="3584448"/>
              <a:ext cx="457200" cy="457200"/>
            </a:xfrm>
            <a:prstGeom prst="ellipse">
              <a:avLst/>
            </a:prstGeom>
            <a:noFill/>
            <a:ln w="25400">
              <a:solidFill>
                <a:srgbClr val="A9B0B8"/>
              </a:solidFill>
            </a:ln>
          </p:spPr>
          <p:txBody>
            <a:bodyPr wrap="square" lIns="0" tIns="0" rIns="0" bIns="0" rtlCol="0" anchor="ctr">
              <a:noAutofit/>
            </a:bodyPr>
            <a:lstStyle/>
            <a:p>
              <a:pPr algn="ctr"/>
              <a:r>
                <a:rPr lang="en-GB" sz="2000" b="1" i="0">
                  <a:solidFill>
                    <a:srgbClr val="A9B0B8"/>
                  </a:solidFill>
                  <a:latin typeface="Arial"/>
                </a:rPr>
                <a:t>?</a:t>
              </a:r>
              <a:endParaRPr lang="en-GB" sz="2000"/>
            </a:p>
          </p:txBody>
        </p:sp>
        <p:sp>
          <p:nvSpPr>
            <p:cNvPr id="27" name="Undecided chip: Buildings when a pack is missing (OQ23)"/>
            <p:cNvSpPr/>
            <p:nvPr/>
          </p:nvSpPr>
          <p:spPr>
            <a:xfrm>
              <a:off x="3514039" y="4160520"/>
              <a:ext cx="2331720" cy="914400"/>
            </a:xfrm>
            <a:prstGeom prst="roundRect">
              <a:avLst>
                <a:gd name="adj" fmla="val 12000"/>
              </a:avLst>
            </a:prstGeom>
            <a:noFill/>
            <a:ln w="25400">
              <a:solidFill>
                <a:srgbClr val="A9B0B8"/>
              </a:solidFill>
            </a:ln>
          </p:spPr>
          <p:txBody>
            <a:bodyPr wrap="square" tIns="36576" bIns="36576" rtlCol="0" anchor="ctr">
              <a:noAutofit/>
            </a:bodyPr>
            <a:lstStyle/>
            <a:p>
              <a:pPr algn="ctr"/>
              <a:r>
                <a:rPr lang="en-GB" sz="1600" b="1" i="0">
                  <a:solidFill>
                    <a:srgbClr val="F2F2F2"/>
                  </a:solidFill>
                  <a:latin typeface="Arial"/>
                </a:rPr>
                <a:t>Buildings when a pack is missing (OQ23)</a:t>
              </a:r>
              <a:endParaRPr lang="en-GB" sz="1600"/>
            </a:p>
          </p:txBody>
        </p:sp>
      </p:grpSp>
      <p:grpSp>
        <p:nvGrpSpPr>
          <p:cNvPr id="28" name="Open question: Joining without a pack (OQ27)" descr="An open question card with an Undecided chip: Joining without a pack (OQ27)"/>
          <p:cNvGrpSpPr/>
          <p:nvPr/>
        </p:nvGrpSpPr>
        <p:grpSpPr>
          <a:xfrm>
            <a:off x="6205118" y="3429000"/>
            <a:ext cx="2606040" cy="1828800"/>
            <a:chOff x="6205118" y="3429000"/>
            <a:chExt cx="2606040" cy="1828800"/>
          </a:xfrm>
        </p:grpSpPr>
        <p:sp>
          <p:nvSpPr>
            <p:cNvPr id="29" name="Rounded Rectangle 28"/>
            <p:cNvSpPr/>
            <p:nvPr/>
          </p:nvSpPr>
          <p:spPr>
            <a:xfrm>
              <a:off x="6205118" y="3429000"/>
              <a:ext cx="2606040" cy="1828800"/>
            </a:xfrm>
            <a:prstGeom prst="roundRect">
              <a:avLst>
                <a:gd name="adj" fmla="val 5000"/>
              </a:avLst>
            </a:prstGeom>
            <a:solidFill>
              <a:srgbClr val="2B2F36"/>
            </a:solidFill>
            <a:ln>
              <a:noFill/>
            </a:ln>
          </p:spPr>
          <p:txBody>
            <a:bodyPr rtlCol="0" anchor="ctr"/>
            <a:lstStyle/>
            <a:p>
              <a:pPr algn="ctr"/>
              <a:endParaRPr/>
            </a:p>
          </p:txBody>
        </p:sp>
        <p:sp>
          <p:nvSpPr>
            <p:cNvPr id="30" name="Oval 29"/>
            <p:cNvSpPr/>
            <p:nvPr/>
          </p:nvSpPr>
          <p:spPr>
            <a:xfrm>
              <a:off x="6387998" y="3584448"/>
              <a:ext cx="457200" cy="457200"/>
            </a:xfrm>
            <a:prstGeom prst="ellipse">
              <a:avLst/>
            </a:prstGeom>
            <a:noFill/>
            <a:ln w="25400">
              <a:solidFill>
                <a:srgbClr val="A9B0B8"/>
              </a:solidFill>
            </a:ln>
          </p:spPr>
          <p:txBody>
            <a:bodyPr wrap="square" lIns="0" tIns="0" rIns="0" bIns="0" rtlCol="0" anchor="ctr">
              <a:noAutofit/>
            </a:bodyPr>
            <a:lstStyle/>
            <a:p>
              <a:pPr algn="ctr"/>
              <a:r>
                <a:rPr lang="en-GB" sz="2000" b="1" i="0">
                  <a:solidFill>
                    <a:srgbClr val="A9B0B8"/>
                  </a:solidFill>
                  <a:latin typeface="Arial"/>
                </a:rPr>
                <a:t>?</a:t>
              </a:r>
              <a:endParaRPr lang="en-GB" sz="2000"/>
            </a:p>
          </p:txBody>
        </p:sp>
        <p:sp>
          <p:nvSpPr>
            <p:cNvPr id="31" name="Undecided chip: Joining without a pack (OQ27)"/>
            <p:cNvSpPr/>
            <p:nvPr/>
          </p:nvSpPr>
          <p:spPr>
            <a:xfrm>
              <a:off x="6342278" y="4160520"/>
              <a:ext cx="2331720" cy="914400"/>
            </a:xfrm>
            <a:prstGeom prst="roundRect">
              <a:avLst>
                <a:gd name="adj" fmla="val 12000"/>
              </a:avLst>
            </a:prstGeom>
            <a:noFill/>
            <a:ln w="25400">
              <a:solidFill>
                <a:srgbClr val="A9B0B8"/>
              </a:solidFill>
            </a:ln>
          </p:spPr>
          <p:txBody>
            <a:bodyPr wrap="square" tIns="36576" bIns="36576" rtlCol="0" anchor="ctr">
              <a:noAutofit/>
            </a:bodyPr>
            <a:lstStyle/>
            <a:p>
              <a:pPr algn="ctr"/>
              <a:r>
                <a:rPr lang="en-GB" sz="1600" b="1" i="0">
                  <a:solidFill>
                    <a:srgbClr val="F2F2F2"/>
                  </a:solidFill>
                  <a:latin typeface="Arial"/>
                </a:rPr>
                <a:t>Joining without a pack (OQ27)</a:t>
              </a:r>
              <a:endParaRPr lang="en-GB" sz="1600"/>
            </a:p>
          </p:txBody>
        </p:sp>
      </p:grpSp>
      <p:grpSp>
        <p:nvGrpSpPr>
          <p:cNvPr id="32" name="Open question: Price and delivery (OQ26)" descr="An open question card with an Undecided chip: Price and delivery (OQ26)"/>
          <p:cNvGrpSpPr/>
          <p:nvPr/>
        </p:nvGrpSpPr>
        <p:grpSpPr>
          <a:xfrm>
            <a:off x="9033357" y="3429000"/>
            <a:ext cx="2606040" cy="1828800"/>
            <a:chOff x="9033357" y="3429000"/>
            <a:chExt cx="2606040" cy="1828800"/>
          </a:xfrm>
        </p:grpSpPr>
        <p:sp>
          <p:nvSpPr>
            <p:cNvPr id="33" name="Rounded Rectangle 32"/>
            <p:cNvSpPr/>
            <p:nvPr/>
          </p:nvSpPr>
          <p:spPr>
            <a:xfrm>
              <a:off x="9033357" y="3429000"/>
              <a:ext cx="2606040" cy="1828800"/>
            </a:xfrm>
            <a:prstGeom prst="roundRect">
              <a:avLst>
                <a:gd name="adj" fmla="val 5000"/>
              </a:avLst>
            </a:prstGeom>
            <a:solidFill>
              <a:srgbClr val="2B2F36"/>
            </a:solidFill>
            <a:ln>
              <a:noFill/>
            </a:ln>
          </p:spPr>
          <p:txBody>
            <a:bodyPr rtlCol="0" anchor="ctr"/>
            <a:lstStyle/>
            <a:p>
              <a:pPr algn="ctr"/>
              <a:endParaRPr/>
            </a:p>
          </p:txBody>
        </p:sp>
        <p:sp>
          <p:nvSpPr>
            <p:cNvPr id="34" name="Oval 33"/>
            <p:cNvSpPr/>
            <p:nvPr/>
          </p:nvSpPr>
          <p:spPr>
            <a:xfrm>
              <a:off x="9216237" y="3584448"/>
              <a:ext cx="457200" cy="457200"/>
            </a:xfrm>
            <a:prstGeom prst="ellipse">
              <a:avLst/>
            </a:prstGeom>
            <a:noFill/>
            <a:ln w="25400">
              <a:solidFill>
                <a:srgbClr val="A9B0B8"/>
              </a:solidFill>
            </a:ln>
          </p:spPr>
          <p:txBody>
            <a:bodyPr wrap="square" lIns="0" tIns="0" rIns="0" bIns="0" rtlCol="0" anchor="ctr">
              <a:noAutofit/>
            </a:bodyPr>
            <a:lstStyle/>
            <a:p>
              <a:pPr algn="ctr"/>
              <a:r>
                <a:rPr lang="en-GB" sz="2000" b="1" i="0">
                  <a:solidFill>
                    <a:srgbClr val="A9B0B8"/>
                  </a:solidFill>
                  <a:latin typeface="Arial"/>
                </a:rPr>
                <a:t>?</a:t>
              </a:r>
              <a:endParaRPr lang="en-GB" sz="2000"/>
            </a:p>
          </p:txBody>
        </p:sp>
        <p:sp>
          <p:nvSpPr>
            <p:cNvPr id="35" name="Undecided chip: Price and delivery (OQ26)"/>
            <p:cNvSpPr/>
            <p:nvPr/>
          </p:nvSpPr>
          <p:spPr>
            <a:xfrm>
              <a:off x="9170517" y="4160520"/>
              <a:ext cx="2331720" cy="914400"/>
            </a:xfrm>
            <a:prstGeom prst="roundRect">
              <a:avLst>
                <a:gd name="adj" fmla="val 12000"/>
              </a:avLst>
            </a:prstGeom>
            <a:noFill/>
            <a:ln w="25400">
              <a:solidFill>
                <a:srgbClr val="A9B0B8"/>
              </a:solidFill>
            </a:ln>
          </p:spPr>
          <p:txBody>
            <a:bodyPr wrap="square" tIns="36576" bIns="36576" rtlCol="0" anchor="ctr">
              <a:noAutofit/>
            </a:bodyPr>
            <a:lstStyle/>
            <a:p>
              <a:pPr algn="ctr"/>
              <a:r>
                <a:rPr lang="en-GB" sz="1600" b="1" i="0">
                  <a:solidFill>
                    <a:srgbClr val="F2F2F2"/>
                  </a:solidFill>
                  <a:latin typeface="Arial"/>
                </a:rPr>
                <a:t>Price and delivery (OQ26)</a:t>
              </a:r>
              <a:endParaRPr lang="en-GB" sz="1600"/>
            </a:p>
          </p:txBody>
        </p:sp>
      </p:grpSp>
      <p:sp>
        <p:nvSpPr>
          <p:cNvPr id="36"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These questions are open. Nothing here has been chosen yet.</a:t>
            </a:r>
            <a:endParaRPr lang="en-GB" sz="2000"/>
          </a:p>
        </p:txBody>
      </p:sp>
      <p:sp>
        <p:nvSpPr>
          <p:cNvPr id="37"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38"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23</a:t>
            </a:r>
            <a:endParaRPr lang="en-GB" sz="1400"/>
          </a:p>
        </p:txBody>
      </p:sp>
    </p:spTree>
    <p:extLst>
      <p:ext uri="{BB962C8B-B14F-4D97-AF65-F5344CB8AC3E}">
        <p14:creationId xmlns:p14="http://schemas.microsoft.com/office/powerpoint/2010/main" val="8901212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18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36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54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72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9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nodeType="withEffect">
                                  <p:stCondLst>
                                    <p:cond delay="108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nodeType="withEffect">
                                  <p:stCondLst>
                                    <p:cond delay="126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nodeType="withEffect">
                                  <p:stCondLst>
                                    <p:cond delay="144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10" presetClass="entr" presetSubtype="0" fill="hold" nodeType="withEffect">
                                  <p:stCondLst>
                                    <p:cond delay="162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ctr">
            <a:noAutofit/>
          </a:bodyPr>
          <a:lstStyle/>
          <a:p>
            <a:pPr algn="l"/>
            <a:r>
              <a:rPr lang="en-GB" sz="3600" b="1" i="0">
                <a:solidFill>
                  <a:srgbClr val="F2F2F2"/>
                </a:solidFill>
                <a:latin typeface="Arial"/>
              </a:rPr>
              <a:t>Image credits</a:t>
            </a:r>
            <a:endParaRPr lang="en-GB" sz="3600"/>
          </a:p>
        </p:txBody>
      </p:sp>
      <p:graphicFrame>
        <p:nvGraphicFramePr>
          <p:cNvPr id="3" name="Credits table" descr="Image credits table: slot, slide, author, licence and a Commons link for the one photograph in this deck."/>
          <p:cNvGraphicFramePr>
            <a:graphicFrameLocks noGrp="1"/>
          </p:cNvGraphicFramePr>
          <p:nvPr/>
        </p:nvGraphicFramePr>
        <p:xfrm>
          <a:off x="548640" y="1463040"/>
          <a:ext cx="11091672" cy="822960"/>
        </p:xfrm>
        <a:graphic>
          <a:graphicData uri="http://schemas.openxmlformats.org/drawingml/2006/table">
            <a:tbl>
              <a:tblPr firstRow="1">
                <a:tableStyleId>{2D5ABB26-0587-4C30-8999-92F81FD0307C}</a:tableStyleId>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862072">
                  <a:extLst>
                    <a:ext uri="{9D8B030D-6E8A-4147-A177-3AD203B41FA5}">
                      <a16:colId xmlns:a16="http://schemas.microsoft.com/office/drawing/2014/main" val="20004"/>
                    </a:ext>
                  </a:extLst>
                </a:gridCol>
              </a:tblGrid>
              <a:tr h="411480">
                <a:tc>
                  <a:txBody>
                    <a:bodyPr/>
                    <a:lstStyle/>
                    <a:p>
                      <a:r>
                        <a:rPr lang="en-GB" sz="1100" b="1">
                          <a:solidFill>
                            <a:srgbClr val="F2F2F2"/>
                          </a:solidFill>
                          <a:latin typeface="Arial"/>
                        </a:rPr>
                        <a:t>Slot</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r>
                        <a:rPr lang="en-GB" sz="1100" b="1">
                          <a:solidFill>
                            <a:srgbClr val="F2F2F2"/>
                          </a:solidFill>
                          <a:latin typeface="Arial"/>
                        </a:rPr>
                        <a:t>Slide</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r>
                        <a:rPr lang="en-GB" sz="1100" b="1">
                          <a:solidFill>
                            <a:srgbClr val="F2F2F2"/>
                          </a:solidFill>
                          <a:latin typeface="Arial"/>
                        </a:rPr>
                        <a:t>Author</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r>
                        <a:rPr lang="en-GB" sz="1100" b="1">
                          <a:solidFill>
                            <a:srgbClr val="F2F2F2"/>
                          </a:solidFill>
                          <a:latin typeface="Arial"/>
                        </a:rPr>
                        <a:t>Licence</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tc>
                  <a:txBody>
                    <a:bodyPr/>
                    <a:lstStyle/>
                    <a:p>
                      <a:r>
                        <a:rPr lang="en-GB" sz="1100" b="1">
                          <a:solidFill>
                            <a:srgbClr val="F2F2F2"/>
                          </a:solidFill>
                          <a:latin typeface="Arial"/>
                        </a:rPr>
                        <a:t>Source link</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343A43"/>
                    </a:solidFill>
                  </a:tcPr>
                </a:tc>
                <a:extLst>
                  <a:ext uri="{0D108BD9-81ED-4DB2-BD59-A6C34878D82A}">
                    <a16:rowId xmlns:a16="http://schemas.microsoft.com/office/drawing/2014/main" val="10000"/>
                  </a:ext>
                </a:extLst>
              </a:tr>
              <a:tr h="411480">
                <a:tc>
                  <a:txBody>
                    <a:bodyPr/>
                    <a:lstStyle/>
                    <a:p>
                      <a:r>
                        <a:rPr lang="en-GB" sz="1100" b="0">
                          <a:solidFill>
                            <a:srgbClr val="F2F2F2"/>
                          </a:solidFill>
                          <a:latin typeface="Arial"/>
                        </a:rPr>
                        <a:t>P19</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r>
                        <a:rPr lang="en-GB" sz="1100" b="0">
                          <a:solidFill>
                            <a:srgbClr val="F2F2F2"/>
                          </a:solidFill>
                          <a:latin typeface="Arial"/>
                        </a:rPr>
                        <a:t>1</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r>
                        <a:rPr lang="en-GB" sz="1100" b="0">
                          <a:solidFill>
                            <a:srgbClr val="F2F2F2"/>
                          </a:solidFill>
                          <a:latin typeface="Arial"/>
                        </a:rPr>
                        <a:t>Ben Salter</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r>
                        <a:rPr lang="en-GB" sz="1100" b="0">
                          <a:solidFill>
                            <a:srgbClr val="F2F2F2"/>
                          </a:solidFill>
                          <a:latin typeface="Arial"/>
                        </a:rPr>
                        <a:t>CC BY 2.0</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tc>
                  <a:txBody>
                    <a:bodyPr/>
                    <a:lstStyle/>
                    <a:p>
                      <a:r>
                        <a:rPr lang="en-GB" sz="1100" b="0" u="sng">
                          <a:solidFill>
                            <a:srgbClr val="F28C28"/>
                          </a:solidFill>
                          <a:latin typeface="Arial"/>
                          <a:hlinkClick r:id="rId2"/>
                        </a:rPr>
                        <a:t>Commons</a:t>
                      </a:r>
                    </a:p>
                  </a:txBody>
                  <a:tcPr marL="109728" marR="109728" anchor="ctr">
                    <a:lnL w="12700" cap="flat" cmpd="sng" algn="ctr">
                      <a:solidFill>
                        <a:srgbClr val="4A515B"/>
                      </a:solidFill>
                      <a:prstDash val="solid"/>
                    </a:lnL>
                    <a:lnR w="12700" cap="flat" cmpd="sng" algn="ctr">
                      <a:solidFill>
                        <a:srgbClr val="4A515B"/>
                      </a:solidFill>
                      <a:prstDash val="solid"/>
                    </a:lnR>
                    <a:lnT w="12700" cap="flat" cmpd="sng" algn="ctr">
                      <a:solidFill>
                        <a:srgbClr val="4A515B"/>
                      </a:solidFill>
                      <a:prstDash val="solid"/>
                    </a:lnT>
                    <a:lnB w="12700" cap="flat" cmpd="sng" algn="ctr">
                      <a:solidFill>
                        <a:srgbClr val="4A515B"/>
                      </a:solidFill>
                      <a:prstDash val="solid"/>
                    </a:lnB>
                    <a:solidFill>
                      <a:srgbClr val="2B2F36"/>
                    </a:solidFill>
                  </a:tcPr>
                </a:tc>
                <a:extLst>
                  <a:ext uri="{0D108BD9-81ED-4DB2-BD59-A6C34878D82A}">
                    <a16:rowId xmlns:a16="http://schemas.microsoft.com/office/drawing/2014/main" val="10001"/>
                  </a:ext>
                </a:extLst>
              </a:tr>
            </a:tbl>
          </a:graphicData>
        </a:graphic>
      </p:graphicFrame>
      <p:sp>
        <p:nvSpPr>
          <p:cNvPr id="4" name="Note: licence"/>
          <p:cNvSpPr txBox="1"/>
          <p:nvPr/>
        </p:nvSpPr>
        <p:spPr>
          <a:xfrm>
            <a:off x="548640" y="2468880"/>
            <a:ext cx="11091672" cy="365760"/>
          </a:xfrm>
          <a:prstGeom prst="rect">
            <a:avLst/>
          </a:prstGeom>
          <a:noFill/>
        </p:spPr>
        <p:txBody>
          <a:bodyPr wrap="square" lIns="0" tIns="0" rIns="0" bIns="0" anchor="ctr">
            <a:noAutofit/>
          </a:bodyPr>
          <a:lstStyle/>
          <a:p>
            <a:pPr algn="l"/>
            <a:r>
              <a:rPr lang="en-GB" sz="1400" b="0" i="0">
                <a:solidFill>
                  <a:srgbClr val="F2F2F2"/>
                </a:solidFill>
                <a:latin typeface="Arial"/>
              </a:rPr>
              <a:t>CC BY-SA photos are shown unmodified except for resizing.</a:t>
            </a:r>
            <a:endParaRPr lang="en-GB" sz="1400"/>
          </a:p>
        </p:txBody>
      </p:sp>
      <p:sp>
        <p:nvSpPr>
          <p:cNvPr id="5" name="Note: crop"/>
          <p:cNvSpPr txBox="1"/>
          <p:nvPr/>
        </p:nvSpPr>
        <p:spPr>
          <a:xfrm>
            <a:off x="548640" y="2880360"/>
            <a:ext cx="11091672" cy="365760"/>
          </a:xfrm>
          <a:prstGeom prst="rect">
            <a:avLst/>
          </a:prstGeom>
          <a:noFill/>
        </p:spPr>
        <p:txBody>
          <a:bodyPr wrap="square" lIns="0" tIns="0" rIns="0" bIns="0" anchor="ctr">
            <a:noAutofit/>
          </a:bodyPr>
          <a:lstStyle/>
          <a:p>
            <a:pPr algn="l"/>
            <a:r>
              <a:rPr lang="en-GB" sz="1400" b="0" i="0">
                <a:solidFill>
                  <a:srgbClr val="F2F2F2"/>
                </a:solidFill>
                <a:latin typeface="Arial"/>
              </a:rPr>
              <a:t>The photograph on slide 1 is cropped to fit.</a:t>
            </a:r>
            <a:endParaRPr lang="en-GB" sz="1400"/>
          </a:p>
        </p:txBody>
      </p:sp>
      <p:sp>
        <p:nvSpPr>
          <p:cNvPr id="6" name="Caption"/>
          <p:cNvSpPr/>
          <p:nvPr/>
        </p:nvSpPr>
        <p:spPr>
          <a:xfrm>
            <a:off x="548640" y="5852160"/>
            <a:ext cx="11091672" cy="548640"/>
          </a:xfrm>
          <a:prstGeom prst="roundRect">
            <a:avLst>
              <a:gd name="adj" fmla="val 13333"/>
            </a:avLst>
          </a:prstGeom>
          <a:solidFill>
            <a:srgbClr val="2B2F36"/>
          </a:solidFill>
          <a:ln>
            <a:noFill/>
          </a:ln>
        </p:spPr>
        <p:txBody>
          <a:bodyPr wrap="square" lIns="274320" tIns="36576" rIns="182880" bIns="36576" rtlCol="0" anchor="ctr">
            <a:noAutofit/>
          </a:bodyPr>
          <a:lstStyle/>
          <a:p>
            <a:pPr algn="l"/>
            <a:r>
              <a:rPr lang="en-GB" sz="2000" b="0" i="0">
                <a:solidFill>
                  <a:srgbClr val="F2F2F2"/>
                </a:solidFill>
                <a:latin typeface="Arial"/>
              </a:rPr>
              <a:t>Photographs come from Wikimedia Commons under Creative Commons licences.</a:t>
            </a:r>
            <a:endParaRPr lang="en-GB" sz="2000"/>
          </a:p>
        </p:txBody>
      </p:sp>
      <p:sp>
        <p:nvSpPr>
          <p:cNvPr id="7" name="Caption rule"/>
          <p:cNvSpPr/>
          <p:nvPr/>
        </p:nvSpPr>
        <p:spPr>
          <a:xfrm>
            <a:off x="548640" y="5852160"/>
            <a:ext cx="73152" cy="548640"/>
          </a:xfrm>
          <a:prstGeom prst="rect">
            <a:avLst/>
          </a:prstGeom>
          <a:solidFill>
            <a:srgbClr val="F28C28"/>
          </a:solidFill>
          <a:ln>
            <a:noFill/>
          </a:ln>
        </p:spPr>
        <p:txBody>
          <a:bodyPr rtlCol="0" anchor="ctr"/>
          <a:lstStyle/>
          <a:p>
            <a:pPr algn="ctr"/>
            <a:endParaRPr/>
          </a:p>
        </p:txBody>
      </p:sp>
      <p:sp>
        <p:nvSpPr>
          <p:cNvPr id="8" name="Slide number"/>
          <p:cNvSpPr txBox="1"/>
          <p:nvPr/>
        </p:nvSpPr>
        <p:spPr>
          <a:xfrm>
            <a:off x="10972800" y="6473952"/>
            <a:ext cx="667512" cy="274320"/>
          </a:xfrm>
          <a:prstGeom prst="rect">
            <a:avLst/>
          </a:prstGeom>
          <a:noFill/>
        </p:spPr>
        <p:txBody>
          <a:bodyPr wrap="square" lIns="0" tIns="0" rIns="0" bIns="0" anchor="ctr">
            <a:noAutofit/>
          </a:bodyPr>
          <a:lstStyle/>
          <a:p>
            <a:pPr algn="r"/>
            <a:r>
              <a:rPr lang="en-GB" sz="1400" b="0" i="0">
                <a:solidFill>
                  <a:srgbClr val="A9B0B8"/>
                </a:solidFill>
                <a:latin typeface="Arial"/>
              </a:rPr>
              <a:t>24</a:t>
            </a:r>
            <a:endParaRPr lang="en-GB" sz="1400"/>
          </a:p>
        </p:txBody>
      </p:sp>
    </p:spTree>
    <p:extLst>
      <p:ext uri="{BB962C8B-B14F-4D97-AF65-F5344CB8AC3E}">
        <p14:creationId xmlns:p14="http://schemas.microsoft.com/office/powerpoint/2010/main" val="34065356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9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1097280"/>
            <a:ext cx="6675120" cy="2697480"/>
          </a:xfrm>
        </p:spPr>
        <p:txBody>
          <a:bodyPr wrap="square" lIns="0" tIns="0" rIns="0" bIns="0" anchor="t">
            <a:noAutofit/>
          </a:bodyPr>
          <a:lstStyle/>
          <a:p>
            <a:pPr algn="l">
              <a:spcBef>
                <a:spcPts val="0"/>
              </a:spcBef>
              <a:spcAft>
                <a:spcPts val="0"/>
              </a:spcAft>
            </a:pPr>
            <a:r>
              <a:rPr lang="en-GB" sz="5400" b="1" i="0">
                <a:solidFill>
                  <a:srgbClr val="F2F2F2"/>
                </a:solidFill>
                <a:latin typeface="Arial"/>
              </a:rPr>
              <a:t>After Launch:</a:t>
            </a:r>
            <a:br/>
            <a:r>
              <a:rPr lang="en-GB" sz="5400" b="1" i="0">
                <a:solidFill>
                  <a:srgbClr val="F2F2F2"/>
                </a:solidFill>
                <a:latin typeface="Arial"/>
              </a:rPr>
              <a:t>Late Steam, Driving</a:t>
            </a:r>
            <a:br/>
            <a:r>
              <a:rPr lang="en-GB" sz="5400" b="1" i="0">
                <a:solidFill>
                  <a:srgbClr val="F2F2F2"/>
                </a:solidFill>
                <a:latin typeface="Arial"/>
              </a:rPr>
              <a:t>and Prestige</a:t>
            </a:r>
          </a:p>
        </p:txBody>
      </p:sp>
      <p:pic>
        <p:nvPicPr>
          <p:cNvPr id="3" name="Picture P12_9f_92203.jpg" descr="A large black British steam locomotive seen from the front three-quarter, standing on a heritage railway."/>
          <p:cNvPicPr>
            <a:picLocks noChangeAspect="1"/>
          </p:cNvPicPr>
          <p:nvPr/>
        </p:nvPicPr>
        <p:blipFill>
          <a:blip r:embed="rId2"/>
          <a:srcRect l="43386" r="9524"/>
          <a:stretch>
            <a:fillRect/>
          </a:stretch>
        </p:blipFill>
        <p:spPr>
          <a:xfrm>
            <a:off x="7406640" y="411480"/>
            <a:ext cx="4233672" cy="5806440"/>
          </a:xfrm>
          <a:prstGeom prst="roundRect">
            <a:avLst>
              <a:gd name="adj" fmla="val 1727"/>
            </a:avLst>
          </a:prstGeom>
        </p:spPr>
      </p:pic>
      <p:sp>
        <p:nvSpPr>
          <p:cNvPr id="4" name="Credit line"/>
          <p:cNvSpPr txBox="1"/>
          <p:nvPr/>
        </p:nvSpPr>
        <p:spPr>
          <a:xfrm>
            <a:off x="7406640" y="6291072"/>
            <a:ext cx="4233672" cy="365760"/>
          </a:xfrm>
          <a:prstGeom prst="rect">
            <a:avLst/>
          </a:prstGeom>
          <a:noFill/>
        </p:spPr>
        <p:txBody>
          <a:bodyPr wrap="square" lIns="0" tIns="0" rIns="0" bIns="0" anchor="t">
            <a:noAutofit/>
          </a:bodyPr>
          <a:lstStyle/>
          <a:p>
            <a:pPr algn="l">
              <a:spcBef>
                <a:spcPts val="0"/>
              </a:spcBef>
              <a:spcAft>
                <a:spcPts val="0"/>
              </a:spcAft>
            </a:pPr>
            <a:r>
              <a:rPr lang="en-GB" sz="1000" b="0" i="0">
                <a:solidFill>
                  <a:srgbClr val="A9B0B8"/>
                </a:solidFill>
                <a:latin typeface="Arial"/>
              </a:rPr>
              <a:t>A real steam locomotive, shown for illustration.</a:t>
            </a:r>
            <a:br/>
            <a:r>
              <a:rPr lang="en-GB" sz="1000" b="0" i="0">
                <a:solidFill>
                  <a:srgbClr val="A9B0B8"/>
                </a:solidFill>
                <a:latin typeface="Arial"/>
              </a:rPr>
              <a:t>Photo: Tony Hisgett, CC BY 2.0.</a:t>
            </a:r>
          </a:p>
        </p:txBody>
      </p:sp>
      <p:sp>
        <p:nvSpPr>
          <p:cNvPr id="5" name="Orange rule"/>
          <p:cNvSpPr/>
          <p:nvPr/>
        </p:nvSpPr>
        <p:spPr>
          <a:xfrm>
            <a:off x="548640" y="3931920"/>
            <a:ext cx="1645920" cy="64008"/>
          </a:xfrm>
          <a:prstGeom prst="rect">
            <a:avLst/>
          </a:prstGeom>
          <a:solidFill>
            <a:srgbClr val="F28C28"/>
          </a:solidFill>
          <a:ln>
            <a:noFill/>
          </a:ln>
        </p:spPr>
        <p:txBody>
          <a:bodyPr rtlCol="0" anchor="ctr"/>
          <a:lstStyle/>
          <a:p>
            <a:pPr algn="ctr"/>
            <a:endParaRPr/>
          </a:p>
        </p:txBody>
      </p:sp>
      <p:sp>
        <p:nvSpPr>
          <p:cNvPr id="6" name="Caption"/>
          <p:cNvSpPr txBox="1"/>
          <p:nvPr/>
        </p:nvSpPr>
        <p:spPr>
          <a:xfrm>
            <a:off x="548640" y="4206240"/>
            <a:ext cx="6126480" cy="1005840"/>
          </a:xfrm>
          <a:prstGeom prst="rect">
            <a:avLst/>
          </a:prstGeom>
          <a:noFill/>
        </p:spPr>
        <p:txBody>
          <a:bodyPr wrap="square" lIns="0" tIns="0" rIns="0" bIns="0" anchor="t">
            <a:noAutofit/>
          </a:bodyPr>
          <a:lstStyle/>
          <a:p>
            <a:pPr algn="l">
              <a:spcBef>
                <a:spcPts val="0"/>
              </a:spcBef>
              <a:spcAft>
                <a:spcPts val="0"/>
              </a:spcAft>
            </a:pPr>
            <a:r>
              <a:rPr lang="en-GB" sz="2000" b="0" i="0">
                <a:solidFill>
                  <a:srgbClr val="F2F2F2"/>
                </a:solidFill>
                <a:latin typeface="Arial"/>
              </a:rPr>
              <a:t>Ideas for after the first release, for people who love steam. All of it comes later.</a:t>
            </a:r>
          </a:p>
        </p:txBody>
      </p:sp>
    </p:spTree>
    <p:extLst>
      <p:ext uri="{BB962C8B-B14F-4D97-AF65-F5344CB8AC3E}">
        <p14:creationId xmlns:p14="http://schemas.microsoft.com/office/powerpoint/2010/main" val="13862300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How to read this guide</a:t>
            </a:r>
          </a:p>
        </p:txBody>
      </p:sp>
      <p:grpSp>
        <p:nvGrpSpPr>
          <p:cNvPr id="3" name="Diagram: tag legend" descr="Five tags with their meanings: Agreed, Proposed, Provisional, Undecided and Background."/>
          <p:cNvGrpSpPr/>
          <p:nvPr/>
        </p:nvGrpSpPr>
        <p:grpSpPr>
          <a:xfrm>
            <a:off x="548640" y="1371600"/>
            <a:ext cx="7040880" cy="3986784"/>
            <a:chOff x="548640" y="1371600"/>
            <a:chExt cx="7040880" cy="3986784"/>
          </a:xfrm>
        </p:grpSpPr>
        <p:sp>
          <p:nvSpPr>
            <p:cNvPr id="4" name="Rounded Rectangle 3"/>
            <p:cNvSpPr/>
            <p:nvPr/>
          </p:nvSpPr>
          <p:spPr>
            <a:xfrm>
              <a:off x="548640" y="1371600"/>
              <a:ext cx="7040880" cy="694944"/>
            </a:xfrm>
            <a:prstGeom prst="roundRect">
              <a:avLst>
                <a:gd name="adj" fmla="val 10526"/>
              </a:avLst>
            </a:prstGeom>
            <a:solidFill>
              <a:srgbClr val="2B2F36"/>
            </a:solidFill>
            <a:ln>
              <a:noFill/>
            </a:ln>
          </p:spPr>
          <p:txBody>
            <a:bodyPr rtlCol="0" anchor="ctr"/>
            <a:lstStyle/>
            <a:p>
              <a:pPr algn="ctr"/>
              <a:endParaRPr/>
            </a:p>
          </p:txBody>
        </p:sp>
        <p:sp>
          <p:nvSpPr>
            <p:cNvPr id="5" name="Legend chip"/>
            <p:cNvSpPr/>
            <p:nvPr/>
          </p:nvSpPr>
          <p:spPr>
            <a:xfrm>
              <a:off x="777240" y="1490472"/>
              <a:ext cx="1828800" cy="457200"/>
            </a:xfrm>
            <a:prstGeom prst="roundRect">
              <a:avLst>
                <a:gd name="adj" fmla="val 28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600" b="1" i="0">
                  <a:solidFill>
                    <a:srgbClr val="101418"/>
                  </a:solidFill>
                  <a:latin typeface="Arial"/>
                </a:rPr>
                <a:t>AGREED</a:t>
              </a:r>
            </a:p>
          </p:txBody>
        </p:sp>
        <p:sp>
          <p:nvSpPr>
            <p:cNvPr id="6" name="TextBox 5"/>
            <p:cNvSpPr txBox="1"/>
            <p:nvPr/>
          </p:nvSpPr>
          <p:spPr>
            <a:xfrm>
              <a:off x="2880360" y="1463040"/>
              <a:ext cx="4572000" cy="512064"/>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Decided.</a:t>
              </a:r>
            </a:p>
          </p:txBody>
        </p:sp>
        <p:sp>
          <p:nvSpPr>
            <p:cNvPr id="7" name="Rounded Rectangle 6"/>
            <p:cNvSpPr/>
            <p:nvPr/>
          </p:nvSpPr>
          <p:spPr>
            <a:xfrm>
              <a:off x="548640" y="2194560"/>
              <a:ext cx="7040880" cy="694944"/>
            </a:xfrm>
            <a:prstGeom prst="roundRect">
              <a:avLst>
                <a:gd name="adj" fmla="val 10526"/>
              </a:avLst>
            </a:prstGeom>
            <a:solidFill>
              <a:srgbClr val="2B2F36"/>
            </a:solidFill>
            <a:ln>
              <a:noFill/>
            </a:ln>
          </p:spPr>
          <p:txBody>
            <a:bodyPr rtlCol="0" anchor="ctr"/>
            <a:lstStyle/>
            <a:p>
              <a:pPr algn="ctr"/>
              <a:endParaRPr/>
            </a:p>
          </p:txBody>
        </p:sp>
        <p:sp>
          <p:nvSpPr>
            <p:cNvPr id="8" name="Legend chip"/>
            <p:cNvSpPr/>
            <p:nvPr/>
          </p:nvSpPr>
          <p:spPr>
            <a:xfrm>
              <a:off x="777240" y="2313432"/>
              <a:ext cx="1828800" cy="457200"/>
            </a:xfrm>
            <a:prstGeom prst="roundRect">
              <a:avLst>
                <a:gd name="adj" fmla="val 28000"/>
              </a:avLst>
            </a:prstGeom>
            <a:solidFill>
              <a:srgbClr val="B084F5"/>
            </a:solidFill>
            <a:ln>
              <a:noFill/>
            </a:ln>
          </p:spPr>
          <p:txBody>
            <a:bodyPr wrap="none" lIns="36576" tIns="18288" rIns="36576" bIns="18288" rtlCol="0" anchor="ctr">
              <a:noAutofit/>
            </a:bodyPr>
            <a:lstStyle/>
            <a:p>
              <a:pPr algn="ctr">
                <a:spcBef>
                  <a:spcPts val="0"/>
                </a:spcBef>
                <a:spcAft>
                  <a:spcPts val="0"/>
                </a:spcAft>
              </a:pPr>
              <a:r>
                <a:rPr lang="en-GB" sz="1600" b="1" i="0">
                  <a:solidFill>
                    <a:srgbClr val="101418"/>
                  </a:solidFill>
                  <a:latin typeface="Arial"/>
                </a:rPr>
                <a:t>PROPOSED</a:t>
              </a:r>
            </a:p>
          </p:txBody>
        </p:sp>
        <p:sp>
          <p:nvSpPr>
            <p:cNvPr id="9" name="TextBox 8"/>
            <p:cNvSpPr txBox="1"/>
            <p:nvPr/>
          </p:nvSpPr>
          <p:spPr>
            <a:xfrm>
              <a:off x="2880360" y="2286000"/>
              <a:ext cx="4572000" cy="512064"/>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Suggested, not confirmed.</a:t>
              </a:r>
            </a:p>
          </p:txBody>
        </p:sp>
        <p:sp>
          <p:nvSpPr>
            <p:cNvPr id="10" name="Rounded Rectangle 9"/>
            <p:cNvSpPr/>
            <p:nvPr/>
          </p:nvSpPr>
          <p:spPr>
            <a:xfrm>
              <a:off x="548640" y="3017520"/>
              <a:ext cx="7040880" cy="694944"/>
            </a:xfrm>
            <a:prstGeom prst="roundRect">
              <a:avLst>
                <a:gd name="adj" fmla="val 10526"/>
              </a:avLst>
            </a:prstGeom>
            <a:solidFill>
              <a:srgbClr val="2B2F36"/>
            </a:solidFill>
            <a:ln>
              <a:noFill/>
            </a:ln>
          </p:spPr>
          <p:txBody>
            <a:bodyPr rtlCol="0" anchor="ctr"/>
            <a:lstStyle/>
            <a:p>
              <a:pPr algn="ctr"/>
              <a:endParaRPr/>
            </a:p>
          </p:txBody>
        </p:sp>
        <p:sp>
          <p:nvSpPr>
            <p:cNvPr id="11" name="Legend chip"/>
            <p:cNvSpPr/>
            <p:nvPr/>
          </p:nvSpPr>
          <p:spPr>
            <a:xfrm>
              <a:off x="777240" y="3136392"/>
              <a:ext cx="1828800" cy="457200"/>
            </a:xfrm>
            <a:prstGeom prst="roundRect">
              <a:avLst>
                <a:gd name="adj" fmla="val 28000"/>
              </a:avLst>
            </a:prstGeom>
            <a:solidFill>
              <a:srgbClr val="4DA3FF"/>
            </a:solidFill>
            <a:ln>
              <a:noFill/>
            </a:ln>
          </p:spPr>
          <p:txBody>
            <a:bodyPr wrap="none" lIns="36576" tIns="18288" rIns="36576" bIns="18288" rtlCol="0" anchor="ctr">
              <a:noAutofit/>
            </a:bodyPr>
            <a:lstStyle/>
            <a:p>
              <a:pPr algn="ctr">
                <a:spcBef>
                  <a:spcPts val="0"/>
                </a:spcBef>
                <a:spcAft>
                  <a:spcPts val="0"/>
                </a:spcAft>
              </a:pPr>
              <a:r>
                <a:rPr lang="en-GB" sz="1600" b="1" i="0">
                  <a:solidFill>
                    <a:srgbClr val="101418"/>
                  </a:solidFill>
                  <a:latin typeface="Arial"/>
                </a:rPr>
                <a:t>PROVISIONAL</a:t>
              </a:r>
            </a:p>
          </p:txBody>
        </p:sp>
        <p:sp>
          <p:nvSpPr>
            <p:cNvPr id="12" name="TextBox 11"/>
            <p:cNvSpPr txBox="1"/>
            <p:nvPr/>
          </p:nvSpPr>
          <p:spPr>
            <a:xfrm>
              <a:off x="2880360" y="3108960"/>
              <a:ext cx="4572000" cy="512064"/>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A test number that may change.</a:t>
              </a:r>
            </a:p>
          </p:txBody>
        </p:sp>
        <p:sp>
          <p:nvSpPr>
            <p:cNvPr id="13" name="Rounded Rectangle 12"/>
            <p:cNvSpPr/>
            <p:nvPr/>
          </p:nvSpPr>
          <p:spPr>
            <a:xfrm>
              <a:off x="548640" y="3840480"/>
              <a:ext cx="7040880" cy="694944"/>
            </a:xfrm>
            <a:prstGeom prst="roundRect">
              <a:avLst>
                <a:gd name="adj" fmla="val 10526"/>
              </a:avLst>
            </a:prstGeom>
            <a:solidFill>
              <a:srgbClr val="2B2F36"/>
            </a:solidFill>
            <a:ln>
              <a:noFill/>
            </a:ln>
          </p:spPr>
          <p:txBody>
            <a:bodyPr rtlCol="0" anchor="ctr"/>
            <a:lstStyle/>
            <a:p>
              <a:pPr algn="ctr"/>
              <a:endParaRPr/>
            </a:p>
          </p:txBody>
        </p:sp>
        <p:sp>
          <p:nvSpPr>
            <p:cNvPr id="14" name="Legend chip"/>
            <p:cNvSpPr/>
            <p:nvPr/>
          </p:nvSpPr>
          <p:spPr>
            <a:xfrm>
              <a:off x="777240" y="3959352"/>
              <a:ext cx="1828800" cy="457200"/>
            </a:xfrm>
            <a:prstGeom prst="roundRect">
              <a:avLst>
                <a:gd name="adj" fmla="val 28000"/>
              </a:avLst>
            </a:prstGeom>
            <a:noFill/>
            <a:ln w="25400">
              <a:solidFill>
                <a:srgbClr val="A9B0B8"/>
              </a:solidFill>
            </a:ln>
          </p:spPr>
          <p:txBody>
            <a:bodyPr wrap="none" lIns="36576" tIns="18288" rIns="36576" bIns="18288" rtlCol="0" anchor="ctr">
              <a:noAutofit/>
            </a:bodyPr>
            <a:lstStyle/>
            <a:p>
              <a:pPr algn="ctr">
                <a:spcBef>
                  <a:spcPts val="0"/>
                </a:spcBef>
                <a:spcAft>
                  <a:spcPts val="0"/>
                </a:spcAft>
              </a:pPr>
              <a:r>
                <a:rPr lang="en-GB" sz="1600" b="1" i="0">
                  <a:solidFill>
                    <a:srgbClr val="F2F2F2"/>
                  </a:solidFill>
                  <a:latin typeface="Arial"/>
                </a:rPr>
                <a:t>UNDECIDED</a:t>
              </a:r>
            </a:p>
          </p:txBody>
        </p:sp>
        <p:sp>
          <p:nvSpPr>
            <p:cNvPr id="15" name="TextBox 14"/>
            <p:cNvSpPr txBox="1"/>
            <p:nvPr/>
          </p:nvSpPr>
          <p:spPr>
            <a:xfrm>
              <a:off x="2880360" y="3931920"/>
              <a:ext cx="4572000" cy="512064"/>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Still an open question.</a:t>
              </a:r>
            </a:p>
          </p:txBody>
        </p:sp>
        <p:sp>
          <p:nvSpPr>
            <p:cNvPr id="16" name="Rounded Rectangle 15"/>
            <p:cNvSpPr/>
            <p:nvPr/>
          </p:nvSpPr>
          <p:spPr>
            <a:xfrm>
              <a:off x="548640" y="4663440"/>
              <a:ext cx="7040880" cy="694944"/>
            </a:xfrm>
            <a:prstGeom prst="roundRect">
              <a:avLst>
                <a:gd name="adj" fmla="val 10526"/>
              </a:avLst>
            </a:prstGeom>
            <a:solidFill>
              <a:srgbClr val="2B2F36"/>
            </a:solidFill>
            <a:ln>
              <a:noFill/>
            </a:ln>
          </p:spPr>
          <p:txBody>
            <a:bodyPr rtlCol="0" anchor="ctr"/>
            <a:lstStyle/>
            <a:p>
              <a:pPr algn="ctr"/>
              <a:endParaRPr/>
            </a:p>
          </p:txBody>
        </p:sp>
        <p:sp>
          <p:nvSpPr>
            <p:cNvPr id="17" name="Legend chip"/>
            <p:cNvSpPr/>
            <p:nvPr/>
          </p:nvSpPr>
          <p:spPr>
            <a:xfrm>
              <a:off x="777240" y="4782312"/>
              <a:ext cx="1828800" cy="457200"/>
            </a:xfrm>
            <a:prstGeom prst="roundRect">
              <a:avLst>
                <a:gd name="adj" fmla="val 28000"/>
              </a:avLst>
            </a:prstGeom>
            <a:solidFill>
              <a:srgbClr val="4A515B"/>
            </a:solidFill>
            <a:ln>
              <a:noFill/>
            </a:ln>
          </p:spPr>
          <p:txBody>
            <a:bodyPr wrap="none" lIns="36576" tIns="18288" rIns="36576" bIns="18288" rtlCol="0" anchor="ctr">
              <a:noAutofit/>
            </a:bodyPr>
            <a:lstStyle/>
            <a:p>
              <a:pPr algn="ctr">
                <a:spcBef>
                  <a:spcPts val="0"/>
                </a:spcBef>
                <a:spcAft>
                  <a:spcPts val="0"/>
                </a:spcAft>
              </a:pPr>
              <a:r>
                <a:rPr lang="en-GB" sz="1600" b="1" i="0">
                  <a:solidFill>
                    <a:srgbClr val="F2F2F2"/>
                  </a:solidFill>
                  <a:latin typeface="Arial"/>
                </a:rPr>
                <a:t>BACKGROUND</a:t>
              </a:r>
            </a:p>
          </p:txBody>
        </p:sp>
        <p:sp>
          <p:nvSpPr>
            <p:cNvPr id="18" name="TextBox 17"/>
            <p:cNvSpPr txBox="1"/>
            <p:nvPr/>
          </p:nvSpPr>
          <p:spPr>
            <a:xfrm>
              <a:off x="2880360" y="4754880"/>
              <a:ext cx="4572000" cy="512064"/>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A real-world fact.</a:t>
              </a:r>
            </a:p>
          </p:txBody>
        </p:sp>
      </p:grpSp>
      <p:grpSp>
        <p:nvGrpSpPr>
          <p:cNvPr id="19" name="Sketch: a slide with a tag in its corner" descr="Sketch of a slide with a coloured tag in its top-right corner."/>
          <p:cNvGrpSpPr/>
          <p:nvPr/>
        </p:nvGrpSpPr>
        <p:grpSpPr>
          <a:xfrm>
            <a:off x="8138160" y="1737360"/>
            <a:ext cx="3502152" cy="2148840"/>
            <a:chOff x="8138160" y="1737360"/>
            <a:chExt cx="3502152" cy="2148840"/>
          </a:xfrm>
        </p:grpSpPr>
        <p:sp>
          <p:nvSpPr>
            <p:cNvPr id="20" name="Rounded Rectangle 19"/>
            <p:cNvSpPr/>
            <p:nvPr/>
          </p:nvSpPr>
          <p:spPr>
            <a:xfrm>
              <a:off x="8138160" y="1737360"/>
              <a:ext cx="3502152" cy="2148840"/>
            </a:xfrm>
            <a:prstGeom prst="roundRect">
              <a:avLst>
                <a:gd name="adj" fmla="val 4255"/>
              </a:avLst>
            </a:prstGeom>
            <a:solidFill>
              <a:srgbClr val="2B2F36"/>
            </a:solidFill>
            <a:ln w="25400">
              <a:solidFill>
                <a:srgbClr val="4A515B"/>
              </a:solidFill>
            </a:ln>
          </p:spPr>
          <p:txBody>
            <a:bodyPr rtlCol="0" anchor="ctr"/>
            <a:lstStyle/>
            <a:p>
              <a:pPr algn="ctr"/>
              <a:endParaRPr/>
            </a:p>
          </p:txBody>
        </p:sp>
        <p:sp>
          <p:nvSpPr>
            <p:cNvPr id="21" name="Rounded Rectangle 20"/>
            <p:cNvSpPr/>
            <p:nvPr/>
          </p:nvSpPr>
          <p:spPr>
            <a:xfrm>
              <a:off x="10241280" y="1874520"/>
              <a:ext cx="1234440" cy="274320"/>
            </a:xfrm>
            <a:prstGeom prst="roundRect">
              <a:avLst>
                <a:gd name="adj" fmla="val 33333"/>
              </a:avLst>
            </a:prstGeom>
            <a:solidFill>
              <a:srgbClr val="3FB950"/>
            </a:solidFill>
            <a:ln>
              <a:noFill/>
            </a:ln>
          </p:spPr>
          <p:txBody>
            <a:bodyPr rtlCol="0" anchor="ctr"/>
            <a:lstStyle/>
            <a:p>
              <a:pPr algn="ctr"/>
              <a:endParaRPr/>
            </a:p>
          </p:txBody>
        </p:sp>
        <p:sp>
          <p:nvSpPr>
            <p:cNvPr id="22" name="Rectangle 21"/>
            <p:cNvSpPr/>
            <p:nvPr/>
          </p:nvSpPr>
          <p:spPr>
            <a:xfrm>
              <a:off x="8366760" y="1920240"/>
              <a:ext cx="1463040" cy="164592"/>
            </a:xfrm>
            <a:prstGeom prst="rect">
              <a:avLst/>
            </a:prstGeom>
            <a:solidFill>
              <a:srgbClr val="F2F2F2"/>
            </a:solidFill>
            <a:ln>
              <a:noFill/>
            </a:ln>
          </p:spPr>
          <p:txBody>
            <a:bodyPr rtlCol="0" anchor="ctr"/>
            <a:lstStyle/>
            <a:p>
              <a:pPr algn="ctr"/>
              <a:endParaRPr/>
            </a:p>
          </p:txBody>
        </p:sp>
        <p:sp>
          <p:nvSpPr>
            <p:cNvPr id="23" name="Rectangle 22"/>
            <p:cNvSpPr/>
            <p:nvPr/>
          </p:nvSpPr>
          <p:spPr>
            <a:xfrm>
              <a:off x="8366760" y="2468880"/>
              <a:ext cx="3017520" cy="109728"/>
            </a:xfrm>
            <a:prstGeom prst="rect">
              <a:avLst/>
            </a:prstGeom>
            <a:solidFill>
              <a:srgbClr val="4A515B"/>
            </a:solidFill>
            <a:ln>
              <a:noFill/>
            </a:ln>
          </p:spPr>
          <p:txBody>
            <a:bodyPr rtlCol="0" anchor="ctr"/>
            <a:lstStyle/>
            <a:p>
              <a:pPr algn="ctr"/>
              <a:endParaRPr/>
            </a:p>
          </p:txBody>
        </p:sp>
        <p:sp>
          <p:nvSpPr>
            <p:cNvPr id="24" name="Rectangle 23"/>
            <p:cNvSpPr/>
            <p:nvPr/>
          </p:nvSpPr>
          <p:spPr>
            <a:xfrm>
              <a:off x="8366760" y="2697480"/>
              <a:ext cx="2377440" cy="109728"/>
            </a:xfrm>
            <a:prstGeom prst="rect">
              <a:avLst/>
            </a:prstGeom>
            <a:solidFill>
              <a:srgbClr val="4A515B"/>
            </a:solidFill>
            <a:ln>
              <a:noFill/>
            </a:ln>
          </p:spPr>
          <p:txBody>
            <a:bodyPr rtlCol="0" anchor="ctr"/>
            <a:lstStyle/>
            <a:p>
              <a:pPr algn="ctr"/>
              <a:endParaRPr/>
            </a:p>
          </p:txBody>
        </p:sp>
        <p:sp>
          <p:nvSpPr>
            <p:cNvPr id="25" name="Rectangle 24"/>
            <p:cNvSpPr/>
            <p:nvPr/>
          </p:nvSpPr>
          <p:spPr>
            <a:xfrm>
              <a:off x="8366760" y="2926080"/>
              <a:ext cx="2743200" cy="109728"/>
            </a:xfrm>
            <a:prstGeom prst="rect">
              <a:avLst/>
            </a:prstGeom>
            <a:solidFill>
              <a:srgbClr val="4A515B"/>
            </a:solidFill>
            <a:ln>
              <a:noFill/>
            </a:ln>
          </p:spPr>
          <p:txBody>
            <a:bodyPr rtlCol="0" anchor="ctr"/>
            <a:lstStyle/>
            <a:p>
              <a:pPr algn="ctr"/>
              <a:endParaRPr/>
            </a:p>
          </p:txBody>
        </p:sp>
        <p:sp>
          <p:nvSpPr>
            <p:cNvPr id="26" name="Rectangle 25"/>
            <p:cNvSpPr/>
            <p:nvPr/>
          </p:nvSpPr>
          <p:spPr>
            <a:xfrm>
              <a:off x="8366760" y="3154680"/>
              <a:ext cx="1737360" cy="109728"/>
            </a:xfrm>
            <a:prstGeom prst="rect">
              <a:avLst/>
            </a:prstGeom>
            <a:solidFill>
              <a:srgbClr val="4A515B"/>
            </a:solidFill>
            <a:ln>
              <a:noFill/>
            </a:ln>
          </p:spPr>
          <p:txBody>
            <a:bodyPr rtlCol="0" anchor="ctr"/>
            <a:lstStyle/>
            <a:p>
              <a:pPr algn="ctr"/>
              <a:endParaRPr/>
            </a:p>
          </p:txBody>
        </p:sp>
        <p:sp>
          <p:nvSpPr>
            <p:cNvPr id="27" name="Rounded Rectangle 26"/>
            <p:cNvSpPr/>
            <p:nvPr/>
          </p:nvSpPr>
          <p:spPr>
            <a:xfrm>
              <a:off x="8366760" y="3429000"/>
              <a:ext cx="3017520" cy="274320"/>
            </a:xfrm>
            <a:prstGeom prst="roundRect">
              <a:avLst>
                <a:gd name="adj" fmla="val 20000"/>
              </a:avLst>
            </a:prstGeom>
            <a:solidFill>
              <a:srgbClr val="343A43"/>
            </a:solidFill>
            <a:ln>
              <a:noFill/>
            </a:ln>
          </p:spPr>
          <p:txBody>
            <a:bodyPr rtlCol="0" anchor="ctr"/>
            <a:lstStyle/>
            <a:p>
              <a:pPr algn="ctr"/>
              <a:endParaRPr/>
            </a:p>
          </p:txBody>
        </p:sp>
        <p:sp>
          <p:nvSpPr>
            <p:cNvPr id="28" name="Rectangle 27"/>
            <p:cNvSpPr/>
            <p:nvPr/>
          </p:nvSpPr>
          <p:spPr>
            <a:xfrm>
              <a:off x="8366760" y="3429000"/>
              <a:ext cx="54864" cy="274320"/>
            </a:xfrm>
            <a:prstGeom prst="rect">
              <a:avLst/>
            </a:prstGeom>
            <a:solidFill>
              <a:srgbClr val="F28C28"/>
            </a:solidFill>
            <a:ln>
              <a:noFill/>
            </a:ln>
          </p:spPr>
          <p:txBody>
            <a:bodyPr rtlCol="0" anchor="ctr"/>
            <a:lstStyle/>
            <a:p>
              <a:pPr algn="ctr"/>
              <a:endParaRPr/>
            </a:p>
          </p:txBody>
        </p:sp>
      </p:grpSp>
      <p:sp>
        <p:nvSpPr>
          <p:cNvPr id="29"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Every idea carries a tag in the top-right corner.</a:t>
            </a:r>
          </a:p>
        </p:txBody>
      </p:sp>
      <p:sp>
        <p:nvSpPr>
          <p:cNvPr id="30"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31"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2</a:t>
            </a:r>
          </a:p>
        </p:txBody>
      </p:sp>
    </p:spTree>
    <p:extLst>
      <p:ext uri="{BB962C8B-B14F-4D97-AF65-F5344CB8AC3E}">
        <p14:creationId xmlns:p14="http://schemas.microsoft.com/office/powerpoint/2010/main" val="12102253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60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10" presetClass="entr" presetSubtype="0" fill="hold" nodeType="withEffect">
                                  <p:stCondLst>
                                    <p:cond delay="90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Electric still wins</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steam and electric compared" descr="Paired bars show electric rail ahead of steam on speed, throughput, traffic density and convenience. The bars show shape only."/>
          <p:cNvGrpSpPr/>
          <p:nvPr/>
        </p:nvGrpSpPr>
        <p:grpSpPr>
          <a:xfrm>
            <a:off x="548640" y="1417320"/>
            <a:ext cx="10149840" cy="4123944"/>
            <a:chOff x="548640" y="1417320"/>
            <a:chExt cx="10149840" cy="4123944"/>
          </a:xfrm>
        </p:grpSpPr>
        <p:sp>
          <p:nvSpPr>
            <p:cNvPr id="5" name="TextBox 4"/>
            <p:cNvSpPr txBox="1"/>
            <p:nvPr/>
          </p:nvSpPr>
          <p:spPr>
            <a:xfrm>
              <a:off x="548640" y="1417320"/>
              <a:ext cx="2834640" cy="82296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Speed</a:t>
              </a:r>
            </a:p>
          </p:txBody>
        </p:sp>
        <p:sp>
          <p:nvSpPr>
            <p:cNvPr id="6" name="Rounded Rectangle 5"/>
            <p:cNvSpPr/>
            <p:nvPr/>
          </p:nvSpPr>
          <p:spPr>
            <a:xfrm>
              <a:off x="3566160" y="1472184"/>
              <a:ext cx="7132320" cy="329184"/>
            </a:xfrm>
            <a:prstGeom prst="roundRect">
              <a:avLst>
                <a:gd name="adj" fmla="val 27777"/>
              </a:avLst>
            </a:prstGeom>
            <a:solidFill>
              <a:srgbClr val="2B2F36"/>
            </a:solidFill>
            <a:ln>
              <a:noFill/>
            </a:ln>
          </p:spPr>
          <p:txBody>
            <a:bodyPr rtlCol="0" anchor="ctr"/>
            <a:lstStyle/>
            <a:p>
              <a:pPr algn="ctr"/>
              <a:endParaRPr/>
            </a:p>
          </p:txBody>
        </p:sp>
        <p:sp>
          <p:nvSpPr>
            <p:cNvPr id="7" name="Rounded Rectangle 6"/>
            <p:cNvSpPr/>
            <p:nvPr/>
          </p:nvSpPr>
          <p:spPr>
            <a:xfrm>
              <a:off x="3566160" y="1472184"/>
              <a:ext cx="3209544" cy="329184"/>
            </a:xfrm>
            <a:prstGeom prst="roundRect">
              <a:avLst>
                <a:gd name="adj" fmla="val 27777"/>
              </a:avLst>
            </a:prstGeom>
            <a:solidFill>
              <a:srgbClr val="F28C28"/>
            </a:solidFill>
            <a:ln>
              <a:noFill/>
            </a:ln>
          </p:spPr>
          <p:txBody>
            <a:bodyPr rtlCol="0" anchor="ctr"/>
            <a:lstStyle/>
            <a:p>
              <a:pPr algn="ctr"/>
              <a:endParaRPr/>
            </a:p>
          </p:txBody>
        </p:sp>
        <p:sp>
          <p:nvSpPr>
            <p:cNvPr id="8" name="Rounded Rectangle 7"/>
            <p:cNvSpPr/>
            <p:nvPr/>
          </p:nvSpPr>
          <p:spPr>
            <a:xfrm>
              <a:off x="3566160" y="1874520"/>
              <a:ext cx="7132320" cy="329184"/>
            </a:xfrm>
            <a:prstGeom prst="roundRect">
              <a:avLst>
                <a:gd name="adj" fmla="val 27777"/>
              </a:avLst>
            </a:prstGeom>
            <a:solidFill>
              <a:srgbClr val="2B2F36"/>
            </a:solidFill>
            <a:ln>
              <a:noFill/>
            </a:ln>
          </p:spPr>
          <p:txBody>
            <a:bodyPr rtlCol="0" anchor="ctr"/>
            <a:lstStyle/>
            <a:p>
              <a:pPr algn="ctr"/>
              <a:endParaRPr/>
            </a:p>
          </p:txBody>
        </p:sp>
        <p:sp>
          <p:nvSpPr>
            <p:cNvPr id="9" name="Rounded Rectangle 8"/>
            <p:cNvSpPr/>
            <p:nvPr/>
          </p:nvSpPr>
          <p:spPr>
            <a:xfrm>
              <a:off x="3566160" y="1874520"/>
              <a:ext cx="6419088" cy="329184"/>
            </a:xfrm>
            <a:prstGeom prst="roundRect">
              <a:avLst>
                <a:gd name="adj" fmla="val 27777"/>
              </a:avLst>
            </a:prstGeom>
            <a:solidFill>
              <a:srgbClr val="6CA0DC"/>
            </a:solidFill>
            <a:ln>
              <a:noFill/>
            </a:ln>
          </p:spPr>
          <p:txBody>
            <a:bodyPr rtlCol="0" anchor="ctr"/>
            <a:lstStyle/>
            <a:p>
              <a:pPr algn="ctr"/>
              <a:endParaRPr/>
            </a:p>
          </p:txBody>
        </p:sp>
        <p:sp>
          <p:nvSpPr>
            <p:cNvPr id="10" name="TextBox 9"/>
            <p:cNvSpPr txBox="1"/>
            <p:nvPr/>
          </p:nvSpPr>
          <p:spPr>
            <a:xfrm>
              <a:off x="548640" y="2331720"/>
              <a:ext cx="2834640" cy="82296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Throughput</a:t>
              </a:r>
            </a:p>
          </p:txBody>
        </p:sp>
        <p:sp>
          <p:nvSpPr>
            <p:cNvPr id="11" name="Rounded Rectangle 10"/>
            <p:cNvSpPr/>
            <p:nvPr/>
          </p:nvSpPr>
          <p:spPr>
            <a:xfrm>
              <a:off x="3566160" y="2386584"/>
              <a:ext cx="7132320" cy="329184"/>
            </a:xfrm>
            <a:prstGeom prst="roundRect">
              <a:avLst>
                <a:gd name="adj" fmla="val 27777"/>
              </a:avLst>
            </a:prstGeom>
            <a:solidFill>
              <a:srgbClr val="2B2F36"/>
            </a:solidFill>
            <a:ln>
              <a:noFill/>
            </a:ln>
          </p:spPr>
          <p:txBody>
            <a:bodyPr rtlCol="0" anchor="ctr"/>
            <a:lstStyle/>
            <a:p>
              <a:pPr algn="ctr"/>
              <a:endParaRPr/>
            </a:p>
          </p:txBody>
        </p:sp>
        <p:sp>
          <p:nvSpPr>
            <p:cNvPr id="12" name="Rounded Rectangle 11"/>
            <p:cNvSpPr/>
            <p:nvPr/>
          </p:nvSpPr>
          <p:spPr>
            <a:xfrm>
              <a:off x="3566160" y="2386584"/>
              <a:ext cx="2852928" cy="329184"/>
            </a:xfrm>
            <a:prstGeom prst="roundRect">
              <a:avLst>
                <a:gd name="adj" fmla="val 27777"/>
              </a:avLst>
            </a:prstGeom>
            <a:solidFill>
              <a:srgbClr val="F28C28"/>
            </a:solidFill>
            <a:ln>
              <a:noFill/>
            </a:ln>
          </p:spPr>
          <p:txBody>
            <a:bodyPr rtlCol="0" anchor="ctr"/>
            <a:lstStyle/>
            <a:p>
              <a:pPr algn="ctr"/>
              <a:endParaRPr/>
            </a:p>
          </p:txBody>
        </p:sp>
        <p:sp>
          <p:nvSpPr>
            <p:cNvPr id="13" name="Rounded Rectangle 12"/>
            <p:cNvSpPr/>
            <p:nvPr/>
          </p:nvSpPr>
          <p:spPr>
            <a:xfrm>
              <a:off x="3566160" y="2788920"/>
              <a:ext cx="7132320" cy="329184"/>
            </a:xfrm>
            <a:prstGeom prst="roundRect">
              <a:avLst>
                <a:gd name="adj" fmla="val 27777"/>
              </a:avLst>
            </a:prstGeom>
            <a:solidFill>
              <a:srgbClr val="2B2F36"/>
            </a:solidFill>
            <a:ln>
              <a:noFill/>
            </a:ln>
          </p:spPr>
          <p:txBody>
            <a:bodyPr rtlCol="0" anchor="ctr"/>
            <a:lstStyle/>
            <a:p>
              <a:pPr algn="ctr"/>
              <a:endParaRPr/>
            </a:p>
          </p:txBody>
        </p:sp>
        <p:sp>
          <p:nvSpPr>
            <p:cNvPr id="14" name="Rounded Rectangle 13"/>
            <p:cNvSpPr/>
            <p:nvPr/>
          </p:nvSpPr>
          <p:spPr>
            <a:xfrm>
              <a:off x="3566160" y="2788920"/>
              <a:ext cx="6419088" cy="329184"/>
            </a:xfrm>
            <a:prstGeom prst="roundRect">
              <a:avLst>
                <a:gd name="adj" fmla="val 27777"/>
              </a:avLst>
            </a:prstGeom>
            <a:solidFill>
              <a:srgbClr val="6CA0DC"/>
            </a:solidFill>
            <a:ln>
              <a:noFill/>
            </a:ln>
          </p:spPr>
          <p:txBody>
            <a:bodyPr rtlCol="0" anchor="ctr"/>
            <a:lstStyle/>
            <a:p>
              <a:pPr algn="ctr"/>
              <a:endParaRPr/>
            </a:p>
          </p:txBody>
        </p:sp>
        <p:sp>
          <p:nvSpPr>
            <p:cNvPr id="15" name="TextBox 14"/>
            <p:cNvSpPr txBox="1"/>
            <p:nvPr/>
          </p:nvSpPr>
          <p:spPr>
            <a:xfrm>
              <a:off x="548640" y="3246120"/>
              <a:ext cx="2834640" cy="82296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Traffic density</a:t>
              </a:r>
            </a:p>
          </p:txBody>
        </p:sp>
        <p:sp>
          <p:nvSpPr>
            <p:cNvPr id="16" name="Rounded Rectangle 15"/>
            <p:cNvSpPr/>
            <p:nvPr/>
          </p:nvSpPr>
          <p:spPr>
            <a:xfrm>
              <a:off x="3566160" y="3300984"/>
              <a:ext cx="7132320" cy="329184"/>
            </a:xfrm>
            <a:prstGeom prst="roundRect">
              <a:avLst>
                <a:gd name="adj" fmla="val 27777"/>
              </a:avLst>
            </a:prstGeom>
            <a:solidFill>
              <a:srgbClr val="2B2F36"/>
            </a:solidFill>
            <a:ln>
              <a:noFill/>
            </a:ln>
          </p:spPr>
          <p:txBody>
            <a:bodyPr rtlCol="0" anchor="ctr"/>
            <a:lstStyle/>
            <a:p>
              <a:pPr algn="ctr"/>
              <a:endParaRPr/>
            </a:p>
          </p:txBody>
        </p:sp>
        <p:sp>
          <p:nvSpPr>
            <p:cNvPr id="17" name="Rounded Rectangle 16"/>
            <p:cNvSpPr/>
            <p:nvPr/>
          </p:nvSpPr>
          <p:spPr>
            <a:xfrm>
              <a:off x="3566160" y="3300984"/>
              <a:ext cx="2496312" cy="329184"/>
            </a:xfrm>
            <a:prstGeom prst="roundRect">
              <a:avLst>
                <a:gd name="adj" fmla="val 27777"/>
              </a:avLst>
            </a:prstGeom>
            <a:solidFill>
              <a:srgbClr val="F28C28"/>
            </a:solidFill>
            <a:ln>
              <a:noFill/>
            </a:ln>
          </p:spPr>
          <p:txBody>
            <a:bodyPr rtlCol="0" anchor="ctr"/>
            <a:lstStyle/>
            <a:p>
              <a:pPr algn="ctr"/>
              <a:endParaRPr/>
            </a:p>
          </p:txBody>
        </p:sp>
        <p:sp>
          <p:nvSpPr>
            <p:cNvPr id="18" name="Rounded Rectangle 17"/>
            <p:cNvSpPr/>
            <p:nvPr/>
          </p:nvSpPr>
          <p:spPr>
            <a:xfrm>
              <a:off x="3566160" y="3703320"/>
              <a:ext cx="7132320" cy="329184"/>
            </a:xfrm>
            <a:prstGeom prst="roundRect">
              <a:avLst>
                <a:gd name="adj" fmla="val 27777"/>
              </a:avLst>
            </a:prstGeom>
            <a:solidFill>
              <a:srgbClr val="2B2F36"/>
            </a:solidFill>
            <a:ln>
              <a:noFill/>
            </a:ln>
          </p:spPr>
          <p:txBody>
            <a:bodyPr rtlCol="0" anchor="ctr"/>
            <a:lstStyle/>
            <a:p>
              <a:pPr algn="ctr"/>
              <a:endParaRPr/>
            </a:p>
          </p:txBody>
        </p:sp>
        <p:sp>
          <p:nvSpPr>
            <p:cNvPr id="19" name="Rounded Rectangle 18"/>
            <p:cNvSpPr/>
            <p:nvPr/>
          </p:nvSpPr>
          <p:spPr>
            <a:xfrm>
              <a:off x="3566160" y="3703320"/>
              <a:ext cx="6419088" cy="329184"/>
            </a:xfrm>
            <a:prstGeom prst="roundRect">
              <a:avLst>
                <a:gd name="adj" fmla="val 27777"/>
              </a:avLst>
            </a:prstGeom>
            <a:solidFill>
              <a:srgbClr val="6CA0DC"/>
            </a:solidFill>
            <a:ln>
              <a:noFill/>
            </a:ln>
          </p:spPr>
          <p:txBody>
            <a:bodyPr rtlCol="0" anchor="ctr"/>
            <a:lstStyle/>
            <a:p>
              <a:pPr algn="ctr"/>
              <a:endParaRPr/>
            </a:p>
          </p:txBody>
        </p:sp>
        <p:sp>
          <p:nvSpPr>
            <p:cNvPr id="20" name="TextBox 19"/>
            <p:cNvSpPr txBox="1"/>
            <p:nvPr/>
          </p:nvSpPr>
          <p:spPr>
            <a:xfrm>
              <a:off x="548640" y="4160520"/>
              <a:ext cx="2834640" cy="82296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Convenience</a:t>
              </a:r>
            </a:p>
          </p:txBody>
        </p:sp>
        <p:sp>
          <p:nvSpPr>
            <p:cNvPr id="21" name="Rounded Rectangle 20"/>
            <p:cNvSpPr/>
            <p:nvPr/>
          </p:nvSpPr>
          <p:spPr>
            <a:xfrm>
              <a:off x="3566160" y="4215384"/>
              <a:ext cx="7132320" cy="329184"/>
            </a:xfrm>
            <a:prstGeom prst="roundRect">
              <a:avLst>
                <a:gd name="adj" fmla="val 27777"/>
              </a:avLst>
            </a:prstGeom>
            <a:solidFill>
              <a:srgbClr val="2B2F36"/>
            </a:solidFill>
            <a:ln>
              <a:noFill/>
            </a:ln>
          </p:spPr>
          <p:txBody>
            <a:bodyPr rtlCol="0" anchor="ctr"/>
            <a:lstStyle/>
            <a:p>
              <a:pPr algn="ctr"/>
              <a:endParaRPr/>
            </a:p>
          </p:txBody>
        </p:sp>
        <p:sp>
          <p:nvSpPr>
            <p:cNvPr id="22" name="Rounded Rectangle 21"/>
            <p:cNvSpPr/>
            <p:nvPr/>
          </p:nvSpPr>
          <p:spPr>
            <a:xfrm>
              <a:off x="3566160" y="4215384"/>
              <a:ext cx="3209544" cy="329184"/>
            </a:xfrm>
            <a:prstGeom prst="roundRect">
              <a:avLst>
                <a:gd name="adj" fmla="val 27777"/>
              </a:avLst>
            </a:prstGeom>
            <a:solidFill>
              <a:srgbClr val="F28C28"/>
            </a:solidFill>
            <a:ln>
              <a:noFill/>
            </a:ln>
          </p:spPr>
          <p:txBody>
            <a:bodyPr rtlCol="0" anchor="ctr"/>
            <a:lstStyle/>
            <a:p>
              <a:pPr algn="ctr"/>
              <a:endParaRPr/>
            </a:p>
          </p:txBody>
        </p:sp>
        <p:sp>
          <p:nvSpPr>
            <p:cNvPr id="23" name="Rounded Rectangle 22"/>
            <p:cNvSpPr/>
            <p:nvPr/>
          </p:nvSpPr>
          <p:spPr>
            <a:xfrm>
              <a:off x="3566160" y="4617720"/>
              <a:ext cx="7132320" cy="329184"/>
            </a:xfrm>
            <a:prstGeom prst="roundRect">
              <a:avLst>
                <a:gd name="adj" fmla="val 27777"/>
              </a:avLst>
            </a:prstGeom>
            <a:solidFill>
              <a:srgbClr val="2B2F36"/>
            </a:solidFill>
            <a:ln>
              <a:noFill/>
            </a:ln>
          </p:spPr>
          <p:txBody>
            <a:bodyPr rtlCol="0" anchor="ctr"/>
            <a:lstStyle/>
            <a:p>
              <a:pPr algn="ctr"/>
              <a:endParaRPr/>
            </a:p>
          </p:txBody>
        </p:sp>
        <p:sp>
          <p:nvSpPr>
            <p:cNvPr id="24" name="Rounded Rectangle 23"/>
            <p:cNvSpPr/>
            <p:nvPr/>
          </p:nvSpPr>
          <p:spPr>
            <a:xfrm>
              <a:off x="3566160" y="4617720"/>
              <a:ext cx="6419088" cy="329184"/>
            </a:xfrm>
            <a:prstGeom prst="roundRect">
              <a:avLst>
                <a:gd name="adj" fmla="val 27777"/>
              </a:avLst>
            </a:prstGeom>
            <a:solidFill>
              <a:srgbClr val="6CA0DC"/>
            </a:solidFill>
            <a:ln>
              <a:noFill/>
            </a:ln>
          </p:spPr>
          <p:txBody>
            <a:bodyPr rtlCol="0" anchor="ctr"/>
            <a:lstStyle/>
            <a:p>
              <a:pPr algn="ctr"/>
              <a:endParaRPr/>
            </a:p>
          </p:txBody>
        </p:sp>
        <p:sp>
          <p:nvSpPr>
            <p:cNvPr id="25" name="Rounded Rectangle 24"/>
            <p:cNvSpPr/>
            <p:nvPr/>
          </p:nvSpPr>
          <p:spPr>
            <a:xfrm>
              <a:off x="3566160" y="5230368"/>
              <a:ext cx="274320" cy="237744"/>
            </a:xfrm>
            <a:prstGeom prst="roundRect">
              <a:avLst>
                <a:gd name="adj" fmla="val 23076"/>
              </a:avLst>
            </a:prstGeom>
            <a:solidFill>
              <a:srgbClr val="F28C28"/>
            </a:solidFill>
            <a:ln>
              <a:noFill/>
            </a:ln>
          </p:spPr>
          <p:txBody>
            <a:bodyPr rtlCol="0" anchor="ctr"/>
            <a:lstStyle/>
            <a:p>
              <a:pPr algn="ctr"/>
              <a:endParaRPr/>
            </a:p>
          </p:txBody>
        </p:sp>
        <p:sp>
          <p:nvSpPr>
            <p:cNvPr id="26" name="TextBox 25"/>
            <p:cNvSpPr txBox="1"/>
            <p:nvPr/>
          </p:nvSpPr>
          <p:spPr>
            <a:xfrm>
              <a:off x="3931920" y="5157216"/>
              <a:ext cx="1188720" cy="384048"/>
            </a:xfrm>
            <a:prstGeom prst="rect">
              <a:avLst/>
            </a:prstGeom>
            <a:noFill/>
          </p:spPr>
          <p:txBody>
            <a:bodyPr wrap="square" lIns="0" tIns="0" rIns="0" bIns="0" anchor="ctr">
              <a:noAutofit/>
            </a:bodyPr>
            <a:lstStyle/>
            <a:p>
              <a:pPr algn="l">
                <a:spcBef>
                  <a:spcPts val="0"/>
                </a:spcBef>
                <a:spcAft>
                  <a:spcPts val="0"/>
                </a:spcAft>
              </a:pPr>
              <a:r>
                <a:rPr lang="en-GB" sz="1800" b="0" i="0">
                  <a:solidFill>
                    <a:srgbClr val="F2F2F2"/>
                  </a:solidFill>
                  <a:latin typeface="Arial"/>
                </a:rPr>
                <a:t>Steam</a:t>
              </a:r>
            </a:p>
          </p:txBody>
        </p:sp>
        <p:sp>
          <p:nvSpPr>
            <p:cNvPr id="27" name="Rounded Rectangle 26"/>
            <p:cNvSpPr/>
            <p:nvPr/>
          </p:nvSpPr>
          <p:spPr>
            <a:xfrm>
              <a:off x="5212080" y="5230368"/>
              <a:ext cx="274320" cy="237744"/>
            </a:xfrm>
            <a:prstGeom prst="roundRect">
              <a:avLst>
                <a:gd name="adj" fmla="val 23076"/>
              </a:avLst>
            </a:prstGeom>
            <a:solidFill>
              <a:srgbClr val="6CA0DC"/>
            </a:solidFill>
            <a:ln>
              <a:noFill/>
            </a:ln>
          </p:spPr>
          <p:txBody>
            <a:bodyPr rtlCol="0" anchor="ctr"/>
            <a:lstStyle/>
            <a:p>
              <a:pPr algn="ctr"/>
              <a:endParaRPr/>
            </a:p>
          </p:txBody>
        </p:sp>
        <p:sp>
          <p:nvSpPr>
            <p:cNvPr id="28" name="TextBox 27"/>
            <p:cNvSpPr txBox="1"/>
            <p:nvPr/>
          </p:nvSpPr>
          <p:spPr>
            <a:xfrm>
              <a:off x="5577840" y="5157216"/>
              <a:ext cx="1371600" cy="384048"/>
            </a:xfrm>
            <a:prstGeom prst="rect">
              <a:avLst/>
            </a:prstGeom>
            <a:noFill/>
          </p:spPr>
          <p:txBody>
            <a:bodyPr wrap="square" lIns="0" tIns="0" rIns="0" bIns="0" anchor="ctr">
              <a:noAutofit/>
            </a:bodyPr>
            <a:lstStyle/>
            <a:p>
              <a:pPr algn="l">
                <a:spcBef>
                  <a:spcPts val="0"/>
                </a:spcBef>
                <a:spcAft>
                  <a:spcPts val="0"/>
                </a:spcAft>
              </a:pPr>
              <a:r>
                <a:rPr lang="en-GB" sz="1800" b="0" i="0">
                  <a:solidFill>
                    <a:srgbClr val="F2F2F2"/>
                  </a:solidFill>
                  <a:latin typeface="Arial"/>
                </a:rPr>
                <a:t>Electric</a:t>
              </a:r>
            </a:p>
          </p:txBody>
        </p:sp>
        <p:sp>
          <p:nvSpPr>
            <p:cNvPr id="29" name="TextBox 28"/>
            <p:cNvSpPr txBox="1"/>
            <p:nvPr/>
          </p:nvSpPr>
          <p:spPr>
            <a:xfrm>
              <a:off x="7680960" y="5157216"/>
              <a:ext cx="3017520" cy="384048"/>
            </a:xfrm>
            <a:prstGeom prst="rect">
              <a:avLst/>
            </a:prstGeom>
            <a:noFill/>
          </p:spPr>
          <p:txBody>
            <a:bodyPr wrap="square" lIns="0" tIns="0" rIns="0" bIns="0" anchor="ctr">
              <a:noAutofit/>
            </a:bodyPr>
            <a:lstStyle/>
            <a:p>
              <a:pPr algn="r">
                <a:spcBef>
                  <a:spcPts val="0"/>
                </a:spcBef>
                <a:spcAft>
                  <a:spcPts val="0"/>
                </a:spcAft>
              </a:pPr>
              <a:r>
                <a:rPr lang="en-GB" sz="1400" b="0" i="1">
                  <a:solidFill>
                    <a:srgbClr val="A9B0B8"/>
                  </a:solidFill>
                  <a:latin typeface="Arial"/>
                </a:rPr>
                <a:t>Shape only. Not measured.</a:t>
              </a:r>
            </a:p>
          </p:txBody>
        </p:sp>
      </p:grpSp>
      <p:sp>
        <p:nvSpPr>
          <p:cNvPr id="30"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Even with packs, electric rail stays the better railway. Steam is a choice, not an upgrade.</a:t>
            </a:r>
          </a:p>
        </p:txBody>
      </p:sp>
      <p:sp>
        <p:nvSpPr>
          <p:cNvPr id="31"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32"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3</a:t>
            </a:r>
          </a:p>
        </p:txBody>
      </p:sp>
    </p:spTree>
    <p:extLst>
      <p:ext uri="{BB962C8B-B14F-4D97-AF65-F5344CB8AC3E}">
        <p14:creationId xmlns:p14="http://schemas.microsoft.com/office/powerpoint/2010/main" val="8240285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500"/>
                                        <p:tgtEl>
                                          <p:spTgt spid="30"/>
                                        </p:tgtEl>
                                      </p:cBhvr>
                                    </p:animEffect>
                                  </p:childTnLst>
                                </p:cTn>
                              </p:par>
                              <p:par>
                                <p:cTn id="11" presetID="10" presetClass="entr" presetSubtype="0" fill="hold" nodeType="withEffect">
                                  <p:stCondLst>
                                    <p:cond delay="60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Steam's strength: scale</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late steam terminal beside an electric station" descr="Top-down plan of a large steam terminal with six tracks, platforms and many trains, next to a small compact electric station."/>
          <p:cNvGrpSpPr/>
          <p:nvPr/>
        </p:nvGrpSpPr>
        <p:grpSpPr>
          <a:xfrm>
            <a:off x="548640" y="1325880"/>
            <a:ext cx="11091672" cy="4251960"/>
            <a:chOff x="548640" y="1325880"/>
            <a:chExt cx="11091672" cy="4251960"/>
          </a:xfrm>
        </p:grpSpPr>
        <p:sp>
          <p:nvSpPr>
            <p:cNvPr id="5" name="Rounded Rectangle 4"/>
            <p:cNvSpPr/>
            <p:nvPr/>
          </p:nvSpPr>
          <p:spPr>
            <a:xfrm>
              <a:off x="548640" y="1325880"/>
              <a:ext cx="7863840" cy="4251960"/>
            </a:xfrm>
            <a:prstGeom prst="roundRect">
              <a:avLst>
                <a:gd name="adj" fmla="val 1720"/>
              </a:avLst>
            </a:prstGeom>
            <a:solidFill>
              <a:srgbClr val="2B2F36"/>
            </a:solidFill>
            <a:ln>
              <a:noFill/>
            </a:ln>
          </p:spPr>
          <p:txBody>
            <a:bodyPr rtlCol="0" anchor="ctr"/>
            <a:lstStyle/>
            <a:p>
              <a:pPr algn="ctr"/>
              <a:endParaRPr/>
            </a:p>
          </p:txBody>
        </p:sp>
        <p:sp>
          <p:nvSpPr>
            <p:cNvPr id="6" name="TextBox 5"/>
            <p:cNvSpPr txBox="1"/>
            <p:nvPr/>
          </p:nvSpPr>
          <p:spPr>
            <a:xfrm>
              <a:off x="777240" y="1417320"/>
              <a:ext cx="4572000" cy="365760"/>
            </a:xfrm>
            <a:prstGeom prst="rect">
              <a:avLst/>
            </a:prstGeom>
            <a:noFill/>
          </p:spPr>
          <p:txBody>
            <a:bodyPr wrap="square" lIns="0" tIns="0" rIns="0" bIns="0" anchor="ctr">
              <a:noAutofit/>
            </a:bodyPr>
            <a:lstStyle/>
            <a:p>
              <a:pPr algn="l">
                <a:spcBef>
                  <a:spcPts val="0"/>
                </a:spcBef>
                <a:spcAft>
                  <a:spcPts val="0"/>
                </a:spcAft>
              </a:pPr>
              <a:r>
                <a:rPr lang="en-GB" sz="1800" b="1" i="0">
                  <a:solidFill>
                    <a:srgbClr val="F28C28"/>
                  </a:solidFill>
                  <a:latin typeface="Arial"/>
                </a:rPr>
                <a:t>Late steam terminal</a:t>
              </a:r>
            </a:p>
          </p:txBody>
        </p:sp>
        <p:cxnSp>
          <p:nvCxnSpPr>
            <p:cNvPr id="7" name="Connector 6"/>
            <p:cNvCxnSpPr/>
            <p:nvPr/>
          </p:nvCxnSpPr>
          <p:spPr>
            <a:xfrm>
              <a:off x="731520" y="3589020"/>
              <a:ext cx="1554480" cy="0"/>
            </a:xfrm>
            <a:prstGeom prst="line">
              <a:avLst/>
            </a:prstGeom>
            <a:ln w="114300">
              <a:solidFill>
                <a:srgbClr val="6B5B4B"/>
              </a:solidFill>
              <a:prstDash val="sysDash"/>
            </a:ln>
          </p:spPr>
        </p:cxnSp>
        <p:cxnSp>
          <p:nvCxnSpPr>
            <p:cNvPr id="8" name="Connector 7"/>
            <p:cNvCxnSpPr/>
            <p:nvPr/>
          </p:nvCxnSpPr>
          <p:spPr>
            <a:xfrm>
              <a:off x="731520" y="3547872"/>
              <a:ext cx="1554480" cy="0"/>
            </a:xfrm>
            <a:prstGeom prst="line">
              <a:avLst/>
            </a:prstGeom>
            <a:ln w="25400">
              <a:solidFill>
                <a:srgbClr val="9AA0A6"/>
              </a:solidFill>
            </a:ln>
          </p:spPr>
        </p:cxnSp>
        <p:cxnSp>
          <p:nvCxnSpPr>
            <p:cNvPr id="9" name="Connector 8"/>
            <p:cNvCxnSpPr/>
            <p:nvPr/>
          </p:nvCxnSpPr>
          <p:spPr>
            <a:xfrm>
              <a:off x="731520" y="3630168"/>
              <a:ext cx="1554480" cy="0"/>
            </a:xfrm>
            <a:prstGeom prst="line">
              <a:avLst/>
            </a:prstGeom>
            <a:ln w="25400">
              <a:solidFill>
                <a:srgbClr val="9AA0A6"/>
              </a:solidFill>
            </a:ln>
          </p:spPr>
        </p:cxnSp>
        <p:cxnSp>
          <p:nvCxnSpPr>
            <p:cNvPr id="10" name="Connector 9"/>
            <p:cNvCxnSpPr/>
            <p:nvPr/>
          </p:nvCxnSpPr>
          <p:spPr>
            <a:xfrm flipV="1">
              <a:off x="2286000" y="2331720"/>
              <a:ext cx="822960" cy="1257300"/>
            </a:xfrm>
            <a:prstGeom prst="line">
              <a:avLst/>
            </a:prstGeom>
            <a:ln w="38100">
              <a:solidFill>
                <a:srgbClr val="9AA0A6"/>
              </a:solidFill>
            </a:ln>
          </p:spPr>
        </p:cxnSp>
        <p:cxnSp>
          <p:nvCxnSpPr>
            <p:cNvPr id="11" name="Connector 10"/>
            <p:cNvCxnSpPr/>
            <p:nvPr/>
          </p:nvCxnSpPr>
          <p:spPr>
            <a:xfrm>
              <a:off x="3108960" y="2331720"/>
              <a:ext cx="4434840" cy="0"/>
            </a:xfrm>
            <a:prstGeom prst="line">
              <a:avLst/>
            </a:prstGeom>
            <a:ln w="114300">
              <a:solidFill>
                <a:srgbClr val="6B5B4B"/>
              </a:solidFill>
              <a:prstDash val="sysDash"/>
            </a:ln>
          </p:spPr>
        </p:cxnSp>
        <p:cxnSp>
          <p:nvCxnSpPr>
            <p:cNvPr id="12" name="Connector 11"/>
            <p:cNvCxnSpPr/>
            <p:nvPr/>
          </p:nvCxnSpPr>
          <p:spPr>
            <a:xfrm>
              <a:off x="3108960" y="2290572"/>
              <a:ext cx="4434840" cy="0"/>
            </a:xfrm>
            <a:prstGeom prst="line">
              <a:avLst/>
            </a:prstGeom>
            <a:ln w="25400">
              <a:solidFill>
                <a:srgbClr val="9AA0A6"/>
              </a:solidFill>
            </a:ln>
          </p:spPr>
        </p:cxnSp>
        <p:cxnSp>
          <p:nvCxnSpPr>
            <p:cNvPr id="13" name="Connector 12"/>
            <p:cNvCxnSpPr/>
            <p:nvPr/>
          </p:nvCxnSpPr>
          <p:spPr>
            <a:xfrm>
              <a:off x="3108960" y="2372868"/>
              <a:ext cx="4434840" cy="0"/>
            </a:xfrm>
            <a:prstGeom prst="line">
              <a:avLst/>
            </a:prstGeom>
            <a:ln w="25400">
              <a:solidFill>
                <a:srgbClr val="9AA0A6"/>
              </a:solidFill>
            </a:ln>
          </p:spPr>
        </p:cxnSp>
        <p:sp>
          <p:nvSpPr>
            <p:cNvPr id="14" name="Rectangle 13"/>
            <p:cNvSpPr/>
            <p:nvPr/>
          </p:nvSpPr>
          <p:spPr>
            <a:xfrm>
              <a:off x="7543800" y="2221992"/>
              <a:ext cx="73152" cy="219456"/>
            </a:xfrm>
            <a:prstGeom prst="rect">
              <a:avLst/>
            </a:prstGeom>
            <a:solidFill>
              <a:srgbClr val="E5484D"/>
            </a:solidFill>
            <a:ln>
              <a:noFill/>
            </a:ln>
          </p:spPr>
          <p:txBody>
            <a:bodyPr rtlCol="0" anchor="ctr"/>
            <a:lstStyle/>
            <a:p>
              <a:pPr algn="ctr"/>
              <a:endParaRPr/>
            </a:p>
          </p:txBody>
        </p:sp>
        <p:cxnSp>
          <p:nvCxnSpPr>
            <p:cNvPr id="15" name="Connector 14"/>
            <p:cNvCxnSpPr/>
            <p:nvPr/>
          </p:nvCxnSpPr>
          <p:spPr>
            <a:xfrm flipV="1">
              <a:off x="2286000" y="2834640"/>
              <a:ext cx="822960" cy="754380"/>
            </a:xfrm>
            <a:prstGeom prst="line">
              <a:avLst/>
            </a:prstGeom>
            <a:ln w="38100">
              <a:solidFill>
                <a:srgbClr val="9AA0A6"/>
              </a:solidFill>
            </a:ln>
          </p:spPr>
        </p:cxnSp>
        <p:cxnSp>
          <p:nvCxnSpPr>
            <p:cNvPr id="16" name="Connector 15"/>
            <p:cNvCxnSpPr/>
            <p:nvPr/>
          </p:nvCxnSpPr>
          <p:spPr>
            <a:xfrm>
              <a:off x="3108960" y="2834640"/>
              <a:ext cx="4434840" cy="0"/>
            </a:xfrm>
            <a:prstGeom prst="line">
              <a:avLst/>
            </a:prstGeom>
            <a:ln w="114300">
              <a:solidFill>
                <a:srgbClr val="6B5B4B"/>
              </a:solidFill>
              <a:prstDash val="sysDash"/>
            </a:ln>
          </p:spPr>
        </p:cxnSp>
        <p:cxnSp>
          <p:nvCxnSpPr>
            <p:cNvPr id="17" name="Connector 16"/>
            <p:cNvCxnSpPr/>
            <p:nvPr/>
          </p:nvCxnSpPr>
          <p:spPr>
            <a:xfrm>
              <a:off x="3108960" y="2793492"/>
              <a:ext cx="4434840" cy="0"/>
            </a:xfrm>
            <a:prstGeom prst="line">
              <a:avLst/>
            </a:prstGeom>
            <a:ln w="25400">
              <a:solidFill>
                <a:srgbClr val="9AA0A6"/>
              </a:solidFill>
            </a:ln>
          </p:spPr>
        </p:cxnSp>
        <p:cxnSp>
          <p:nvCxnSpPr>
            <p:cNvPr id="18" name="Connector 17"/>
            <p:cNvCxnSpPr/>
            <p:nvPr/>
          </p:nvCxnSpPr>
          <p:spPr>
            <a:xfrm>
              <a:off x="3108960" y="2875788"/>
              <a:ext cx="4434840" cy="0"/>
            </a:xfrm>
            <a:prstGeom prst="line">
              <a:avLst/>
            </a:prstGeom>
            <a:ln w="25400">
              <a:solidFill>
                <a:srgbClr val="9AA0A6"/>
              </a:solidFill>
            </a:ln>
          </p:spPr>
        </p:cxnSp>
        <p:sp>
          <p:nvSpPr>
            <p:cNvPr id="19" name="Rectangle 18"/>
            <p:cNvSpPr/>
            <p:nvPr/>
          </p:nvSpPr>
          <p:spPr>
            <a:xfrm>
              <a:off x="7543800" y="2724912"/>
              <a:ext cx="73152" cy="219456"/>
            </a:xfrm>
            <a:prstGeom prst="rect">
              <a:avLst/>
            </a:prstGeom>
            <a:solidFill>
              <a:srgbClr val="E5484D"/>
            </a:solidFill>
            <a:ln>
              <a:noFill/>
            </a:ln>
          </p:spPr>
          <p:txBody>
            <a:bodyPr rtlCol="0" anchor="ctr"/>
            <a:lstStyle/>
            <a:p>
              <a:pPr algn="ctr"/>
              <a:endParaRPr/>
            </a:p>
          </p:txBody>
        </p:sp>
        <p:cxnSp>
          <p:nvCxnSpPr>
            <p:cNvPr id="20" name="Connector 19"/>
            <p:cNvCxnSpPr/>
            <p:nvPr/>
          </p:nvCxnSpPr>
          <p:spPr>
            <a:xfrm flipV="1">
              <a:off x="2286000" y="3337560"/>
              <a:ext cx="822960" cy="251460"/>
            </a:xfrm>
            <a:prstGeom prst="line">
              <a:avLst/>
            </a:prstGeom>
            <a:ln w="38100">
              <a:solidFill>
                <a:srgbClr val="9AA0A6"/>
              </a:solidFill>
            </a:ln>
          </p:spPr>
        </p:cxnSp>
        <p:cxnSp>
          <p:nvCxnSpPr>
            <p:cNvPr id="21" name="Connector 20"/>
            <p:cNvCxnSpPr/>
            <p:nvPr/>
          </p:nvCxnSpPr>
          <p:spPr>
            <a:xfrm>
              <a:off x="3108960" y="3337560"/>
              <a:ext cx="4434840" cy="0"/>
            </a:xfrm>
            <a:prstGeom prst="line">
              <a:avLst/>
            </a:prstGeom>
            <a:ln w="114300">
              <a:solidFill>
                <a:srgbClr val="6B5B4B"/>
              </a:solidFill>
              <a:prstDash val="sysDash"/>
            </a:ln>
          </p:spPr>
        </p:cxnSp>
        <p:cxnSp>
          <p:nvCxnSpPr>
            <p:cNvPr id="22" name="Connector 21"/>
            <p:cNvCxnSpPr/>
            <p:nvPr/>
          </p:nvCxnSpPr>
          <p:spPr>
            <a:xfrm>
              <a:off x="3108960" y="3296412"/>
              <a:ext cx="4434840" cy="0"/>
            </a:xfrm>
            <a:prstGeom prst="line">
              <a:avLst/>
            </a:prstGeom>
            <a:ln w="25400">
              <a:solidFill>
                <a:srgbClr val="9AA0A6"/>
              </a:solidFill>
            </a:ln>
          </p:spPr>
        </p:cxnSp>
        <p:cxnSp>
          <p:nvCxnSpPr>
            <p:cNvPr id="23" name="Connector 22"/>
            <p:cNvCxnSpPr/>
            <p:nvPr/>
          </p:nvCxnSpPr>
          <p:spPr>
            <a:xfrm>
              <a:off x="3108960" y="3378708"/>
              <a:ext cx="4434840" cy="0"/>
            </a:xfrm>
            <a:prstGeom prst="line">
              <a:avLst/>
            </a:prstGeom>
            <a:ln w="25400">
              <a:solidFill>
                <a:srgbClr val="9AA0A6"/>
              </a:solidFill>
            </a:ln>
          </p:spPr>
        </p:cxnSp>
        <p:sp>
          <p:nvSpPr>
            <p:cNvPr id="24" name="Rectangle 23"/>
            <p:cNvSpPr/>
            <p:nvPr/>
          </p:nvSpPr>
          <p:spPr>
            <a:xfrm>
              <a:off x="7543800" y="3227832"/>
              <a:ext cx="73152" cy="219456"/>
            </a:xfrm>
            <a:prstGeom prst="rect">
              <a:avLst/>
            </a:prstGeom>
            <a:solidFill>
              <a:srgbClr val="E5484D"/>
            </a:solidFill>
            <a:ln>
              <a:noFill/>
            </a:ln>
          </p:spPr>
          <p:txBody>
            <a:bodyPr rtlCol="0" anchor="ctr"/>
            <a:lstStyle/>
            <a:p>
              <a:pPr algn="ctr"/>
              <a:endParaRPr/>
            </a:p>
          </p:txBody>
        </p:sp>
        <p:cxnSp>
          <p:nvCxnSpPr>
            <p:cNvPr id="25" name="Connector 24"/>
            <p:cNvCxnSpPr/>
            <p:nvPr/>
          </p:nvCxnSpPr>
          <p:spPr>
            <a:xfrm>
              <a:off x="2286000" y="3589020"/>
              <a:ext cx="822960" cy="251460"/>
            </a:xfrm>
            <a:prstGeom prst="line">
              <a:avLst/>
            </a:prstGeom>
            <a:ln w="38100">
              <a:solidFill>
                <a:srgbClr val="9AA0A6"/>
              </a:solidFill>
            </a:ln>
          </p:spPr>
        </p:cxnSp>
        <p:cxnSp>
          <p:nvCxnSpPr>
            <p:cNvPr id="26" name="Connector 25"/>
            <p:cNvCxnSpPr/>
            <p:nvPr/>
          </p:nvCxnSpPr>
          <p:spPr>
            <a:xfrm>
              <a:off x="3108960" y="3840480"/>
              <a:ext cx="4434840" cy="0"/>
            </a:xfrm>
            <a:prstGeom prst="line">
              <a:avLst/>
            </a:prstGeom>
            <a:ln w="114300">
              <a:solidFill>
                <a:srgbClr val="6B5B4B"/>
              </a:solidFill>
              <a:prstDash val="sysDash"/>
            </a:ln>
          </p:spPr>
        </p:cxnSp>
        <p:cxnSp>
          <p:nvCxnSpPr>
            <p:cNvPr id="27" name="Connector 26"/>
            <p:cNvCxnSpPr/>
            <p:nvPr/>
          </p:nvCxnSpPr>
          <p:spPr>
            <a:xfrm>
              <a:off x="3108960" y="3799332"/>
              <a:ext cx="4434840" cy="0"/>
            </a:xfrm>
            <a:prstGeom prst="line">
              <a:avLst/>
            </a:prstGeom>
            <a:ln w="25400">
              <a:solidFill>
                <a:srgbClr val="9AA0A6"/>
              </a:solidFill>
            </a:ln>
          </p:spPr>
        </p:cxnSp>
        <p:cxnSp>
          <p:nvCxnSpPr>
            <p:cNvPr id="28" name="Connector 27"/>
            <p:cNvCxnSpPr/>
            <p:nvPr/>
          </p:nvCxnSpPr>
          <p:spPr>
            <a:xfrm>
              <a:off x="3108960" y="3881628"/>
              <a:ext cx="4434840" cy="0"/>
            </a:xfrm>
            <a:prstGeom prst="line">
              <a:avLst/>
            </a:prstGeom>
            <a:ln w="25400">
              <a:solidFill>
                <a:srgbClr val="9AA0A6"/>
              </a:solidFill>
            </a:ln>
          </p:spPr>
        </p:cxnSp>
        <p:sp>
          <p:nvSpPr>
            <p:cNvPr id="29" name="Rectangle 28"/>
            <p:cNvSpPr/>
            <p:nvPr/>
          </p:nvSpPr>
          <p:spPr>
            <a:xfrm>
              <a:off x="7543800" y="3730752"/>
              <a:ext cx="73152" cy="219456"/>
            </a:xfrm>
            <a:prstGeom prst="rect">
              <a:avLst/>
            </a:prstGeom>
            <a:solidFill>
              <a:srgbClr val="E5484D"/>
            </a:solidFill>
            <a:ln>
              <a:noFill/>
            </a:ln>
          </p:spPr>
          <p:txBody>
            <a:bodyPr rtlCol="0" anchor="ctr"/>
            <a:lstStyle/>
            <a:p>
              <a:pPr algn="ctr"/>
              <a:endParaRPr/>
            </a:p>
          </p:txBody>
        </p:sp>
        <p:cxnSp>
          <p:nvCxnSpPr>
            <p:cNvPr id="30" name="Connector 29"/>
            <p:cNvCxnSpPr/>
            <p:nvPr/>
          </p:nvCxnSpPr>
          <p:spPr>
            <a:xfrm>
              <a:off x="2286000" y="3589020"/>
              <a:ext cx="822960" cy="754380"/>
            </a:xfrm>
            <a:prstGeom prst="line">
              <a:avLst/>
            </a:prstGeom>
            <a:ln w="38100">
              <a:solidFill>
                <a:srgbClr val="9AA0A6"/>
              </a:solidFill>
            </a:ln>
          </p:spPr>
        </p:cxnSp>
        <p:cxnSp>
          <p:nvCxnSpPr>
            <p:cNvPr id="31" name="Connector 30"/>
            <p:cNvCxnSpPr/>
            <p:nvPr/>
          </p:nvCxnSpPr>
          <p:spPr>
            <a:xfrm>
              <a:off x="3108960" y="4343400"/>
              <a:ext cx="4434840" cy="0"/>
            </a:xfrm>
            <a:prstGeom prst="line">
              <a:avLst/>
            </a:prstGeom>
            <a:ln w="114300">
              <a:solidFill>
                <a:srgbClr val="6B5B4B"/>
              </a:solidFill>
              <a:prstDash val="sysDash"/>
            </a:ln>
          </p:spPr>
        </p:cxnSp>
        <p:cxnSp>
          <p:nvCxnSpPr>
            <p:cNvPr id="32" name="Connector 31"/>
            <p:cNvCxnSpPr/>
            <p:nvPr/>
          </p:nvCxnSpPr>
          <p:spPr>
            <a:xfrm>
              <a:off x="3108960" y="4302252"/>
              <a:ext cx="4434840" cy="0"/>
            </a:xfrm>
            <a:prstGeom prst="line">
              <a:avLst/>
            </a:prstGeom>
            <a:ln w="25400">
              <a:solidFill>
                <a:srgbClr val="9AA0A6"/>
              </a:solidFill>
            </a:ln>
          </p:spPr>
        </p:cxnSp>
        <p:cxnSp>
          <p:nvCxnSpPr>
            <p:cNvPr id="33" name="Connector 32"/>
            <p:cNvCxnSpPr/>
            <p:nvPr/>
          </p:nvCxnSpPr>
          <p:spPr>
            <a:xfrm>
              <a:off x="3108960" y="4384548"/>
              <a:ext cx="4434840" cy="0"/>
            </a:xfrm>
            <a:prstGeom prst="line">
              <a:avLst/>
            </a:prstGeom>
            <a:ln w="25400">
              <a:solidFill>
                <a:srgbClr val="9AA0A6"/>
              </a:solidFill>
            </a:ln>
          </p:spPr>
        </p:cxnSp>
        <p:sp>
          <p:nvSpPr>
            <p:cNvPr id="34" name="Rectangle 33"/>
            <p:cNvSpPr/>
            <p:nvPr/>
          </p:nvSpPr>
          <p:spPr>
            <a:xfrm>
              <a:off x="7543800" y="4233672"/>
              <a:ext cx="73152" cy="219456"/>
            </a:xfrm>
            <a:prstGeom prst="rect">
              <a:avLst/>
            </a:prstGeom>
            <a:solidFill>
              <a:srgbClr val="E5484D"/>
            </a:solidFill>
            <a:ln>
              <a:noFill/>
            </a:ln>
          </p:spPr>
          <p:txBody>
            <a:bodyPr rtlCol="0" anchor="ctr"/>
            <a:lstStyle/>
            <a:p>
              <a:pPr algn="ctr"/>
              <a:endParaRPr/>
            </a:p>
          </p:txBody>
        </p:sp>
        <p:cxnSp>
          <p:nvCxnSpPr>
            <p:cNvPr id="35" name="Connector 34"/>
            <p:cNvCxnSpPr/>
            <p:nvPr/>
          </p:nvCxnSpPr>
          <p:spPr>
            <a:xfrm>
              <a:off x="2286000" y="3589020"/>
              <a:ext cx="822960" cy="1257300"/>
            </a:xfrm>
            <a:prstGeom prst="line">
              <a:avLst/>
            </a:prstGeom>
            <a:ln w="38100">
              <a:solidFill>
                <a:srgbClr val="9AA0A6"/>
              </a:solidFill>
            </a:ln>
          </p:spPr>
        </p:cxnSp>
        <p:cxnSp>
          <p:nvCxnSpPr>
            <p:cNvPr id="36" name="Connector 35"/>
            <p:cNvCxnSpPr/>
            <p:nvPr/>
          </p:nvCxnSpPr>
          <p:spPr>
            <a:xfrm>
              <a:off x="3108960" y="4846320"/>
              <a:ext cx="4434840" cy="0"/>
            </a:xfrm>
            <a:prstGeom prst="line">
              <a:avLst/>
            </a:prstGeom>
            <a:ln w="114300">
              <a:solidFill>
                <a:srgbClr val="6B5B4B"/>
              </a:solidFill>
              <a:prstDash val="sysDash"/>
            </a:ln>
          </p:spPr>
        </p:cxnSp>
        <p:cxnSp>
          <p:nvCxnSpPr>
            <p:cNvPr id="37" name="Connector 36"/>
            <p:cNvCxnSpPr/>
            <p:nvPr/>
          </p:nvCxnSpPr>
          <p:spPr>
            <a:xfrm>
              <a:off x="3108960" y="4805172"/>
              <a:ext cx="4434840" cy="0"/>
            </a:xfrm>
            <a:prstGeom prst="line">
              <a:avLst/>
            </a:prstGeom>
            <a:ln w="25400">
              <a:solidFill>
                <a:srgbClr val="9AA0A6"/>
              </a:solidFill>
            </a:ln>
          </p:spPr>
        </p:cxnSp>
        <p:cxnSp>
          <p:nvCxnSpPr>
            <p:cNvPr id="38" name="Connector 37"/>
            <p:cNvCxnSpPr/>
            <p:nvPr/>
          </p:nvCxnSpPr>
          <p:spPr>
            <a:xfrm>
              <a:off x="3108960" y="4887468"/>
              <a:ext cx="4434840" cy="0"/>
            </a:xfrm>
            <a:prstGeom prst="line">
              <a:avLst/>
            </a:prstGeom>
            <a:ln w="25400">
              <a:solidFill>
                <a:srgbClr val="9AA0A6"/>
              </a:solidFill>
            </a:ln>
          </p:spPr>
        </p:cxnSp>
        <p:sp>
          <p:nvSpPr>
            <p:cNvPr id="39" name="Rectangle 38"/>
            <p:cNvSpPr/>
            <p:nvPr/>
          </p:nvSpPr>
          <p:spPr>
            <a:xfrm>
              <a:off x="7543800" y="4736592"/>
              <a:ext cx="73152" cy="219456"/>
            </a:xfrm>
            <a:prstGeom prst="rect">
              <a:avLst/>
            </a:prstGeom>
            <a:solidFill>
              <a:srgbClr val="E5484D"/>
            </a:solidFill>
            <a:ln>
              <a:noFill/>
            </a:ln>
          </p:spPr>
          <p:txBody>
            <a:bodyPr rtlCol="0" anchor="ctr"/>
            <a:lstStyle/>
            <a:p>
              <a:pPr algn="ctr"/>
              <a:endParaRPr/>
            </a:p>
          </p:txBody>
        </p:sp>
        <p:sp>
          <p:nvSpPr>
            <p:cNvPr id="40" name="Rectangle 39"/>
            <p:cNvSpPr/>
            <p:nvPr/>
          </p:nvSpPr>
          <p:spPr>
            <a:xfrm>
              <a:off x="7726680" y="2103120"/>
              <a:ext cx="502920" cy="2971800"/>
            </a:xfrm>
            <a:prstGeom prst="rect">
              <a:avLst/>
            </a:prstGeom>
            <a:solidFill>
              <a:srgbClr val="343A43"/>
            </a:solidFill>
            <a:ln w="19050">
              <a:solidFill>
                <a:srgbClr val="9AA0A6"/>
              </a:solidFill>
            </a:ln>
          </p:spPr>
          <p:txBody>
            <a:bodyPr rtlCol="0" anchor="ctr"/>
            <a:lstStyle/>
            <a:p>
              <a:pPr algn="ctr"/>
              <a:endParaRPr/>
            </a:p>
          </p:txBody>
        </p:sp>
        <p:sp>
          <p:nvSpPr>
            <p:cNvPr id="41" name="Rectangle 40"/>
            <p:cNvSpPr/>
            <p:nvPr/>
          </p:nvSpPr>
          <p:spPr>
            <a:xfrm>
              <a:off x="4023360" y="2482596"/>
              <a:ext cx="3291840" cy="201168"/>
            </a:xfrm>
            <a:prstGeom prst="rect">
              <a:avLst/>
            </a:prstGeom>
            <a:solidFill>
              <a:srgbClr val="343A43"/>
            </a:solidFill>
            <a:ln w="12700">
              <a:solidFill>
                <a:srgbClr val="9AA0A6"/>
              </a:solidFill>
            </a:ln>
          </p:spPr>
          <p:txBody>
            <a:bodyPr rtlCol="0" anchor="ctr"/>
            <a:lstStyle/>
            <a:p>
              <a:pPr algn="ctr"/>
              <a:endParaRPr/>
            </a:p>
          </p:txBody>
        </p:sp>
        <p:sp>
          <p:nvSpPr>
            <p:cNvPr id="42" name="Rectangle 41"/>
            <p:cNvSpPr/>
            <p:nvPr/>
          </p:nvSpPr>
          <p:spPr>
            <a:xfrm>
              <a:off x="4023360" y="3488436"/>
              <a:ext cx="3291840" cy="201168"/>
            </a:xfrm>
            <a:prstGeom prst="rect">
              <a:avLst/>
            </a:prstGeom>
            <a:solidFill>
              <a:srgbClr val="343A43"/>
            </a:solidFill>
            <a:ln w="12700">
              <a:solidFill>
                <a:srgbClr val="9AA0A6"/>
              </a:solidFill>
            </a:ln>
          </p:spPr>
          <p:txBody>
            <a:bodyPr rtlCol="0" anchor="ctr"/>
            <a:lstStyle/>
            <a:p>
              <a:pPr algn="ctr"/>
              <a:endParaRPr/>
            </a:p>
          </p:txBody>
        </p:sp>
        <p:sp>
          <p:nvSpPr>
            <p:cNvPr id="43" name="Rectangle 42"/>
            <p:cNvSpPr/>
            <p:nvPr/>
          </p:nvSpPr>
          <p:spPr>
            <a:xfrm>
              <a:off x="4023360" y="4494276"/>
              <a:ext cx="3291840" cy="201168"/>
            </a:xfrm>
            <a:prstGeom prst="rect">
              <a:avLst/>
            </a:prstGeom>
            <a:solidFill>
              <a:srgbClr val="343A43"/>
            </a:solidFill>
            <a:ln w="12700">
              <a:solidFill>
                <a:srgbClr val="9AA0A6"/>
              </a:solidFill>
            </a:ln>
          </p:spPr>
          <p:txBody>
            <a:bodyPr rtlCol="0" anchor="ctr"/>
            <a:lstStyle/>
            <a:p>
              <a:pPr algn="ctr"/>
              <a:endParaRPr/>
            </a:p>
          </p:txBody>
        </p:sp>
        <p:sp>
          <p:nvSpPr>
            <p:cNvPr id="44" name="Rounded Rectangle 43"/>
            <p:cNvSpPr/>
            <p:nvPr/>
          </p:nvSpPr>
          <p:spPr>
            <a:xfrm>
              <a:off x="4114800" y="221284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45" name="Oval 44"/>
            <p:cNvSpPr/>
            <p:nvPr/>
          </p:nvSpPr>
          <p:spPr>
            <a:xfrm>
              <a:off x="4192524" y="2290572"/>
              <a:ext cx="82296" cy="82296"/>
            </a:xfrm>
            <a:prstGeom prst="ellipse">
              <a:avLst/>
            </a:prstGeom>
            <a:solidFill>
              <a:srgbClr val="1B1D21"/>
            </a:solidFill>
            <a:ln>
              <a:noFill/>
            </a:ln>
          </p:spPr>
          <p:txBody>
            <a:bodyPr rtlCol="0" anchor="ctr"/>
            <a:lstStyle/>
            <a:p>
              <a:pPr algn="ctr"/>
              <a:endParaRPr/>
            </a:p>
          </p:txBody>
        </p:sp>
        <p:sp>
          <p:nvSpPr>
            <p:cNvPr id="46" name="Rectangle 45"/>
            <p:cNvSpPr/>
            <p:nvPr/>
          </p:nvSpPr>
          <p:spPr>
            <a:xfrm>
              <a:off x="4568342" y="2236622"/>
              <a:ext cx="219456" cy="190195"/>
            </a:xfrm>
            <a:prstGeom prst="rect">
              <a:avLst/>
            </a:prstGeom>
            <a:solidFill>
              <a:srgbClr val="1B1D21"/>
            </a:solidFill>
            <a:ln>
              <a:noFill/>
            </a:ln>
          </p:spPr>
          <p:txBody>
            <a:bodyPr rtlCol="0" anchor="ctr"/>
            <a:lstStyle/>
            <a:p>
              <a:pPr algn="ctr"/>
              <a:endParaRPr/>
            </a:p>
          </p:txBody>
        </p:sp>
        <p:sp>
          <p:nvSpPr>
            <p:cNvPr id="47" name="Rectangle 46"/>
            <p:cNvSpPr/>
            <p:nvPr/>
          </p:nvSpPr>
          <p:spPr>
            <a:xfrm>
              <a:off x="4892040" y="2221992"/>
              <a:ext cx="502920" cy="219456"/>
            </a:xfrm>
            <a:prstGeom prst="rect">
              <a:avLst/>
            </a:prstGeom>
            <a:solidFill>
              <a:srgbClr val="6C7480"/>
            </a:solidFill>
            <a:ln w="12700">
              <a:solidFill>
                <a:srgbClr val="1B1D21"/>
              </a:solidFill>
            </a:ln>
          </p:spPr>
          <p:txBody>
            <a:bodyPr rtlCol="0" anchor="ctr"/>
            <a:lstStyle/>
            <a:p>
              <a:pPr algn="ctr"/>
              <a:endParaRPr/>
            </a:p>
          </p:txBody>
        </p:sp>
        <p:sp>
          <p:nvSpPr>
            <p:cNvPr id="48" name="Rectangle 47"/>
            <p:cNvSpPr/>
            <p:nvPr/>
          </p:nvSpPr>
          <p:spPr>
            <a:xfrm>
              <a:off x="5440680" y="2221992"/>
              <a:ext cx="502920" cy="219456"/>
            </a:xfrm>
            <a:prstGeom prst="rect">
              <a:avLst/>
            </a:prstGeom>
            <a:solidFill>
              <a:srgbClr val="6C7480"/>
            </a:solidFill>
            <a:ln w="12700">
              <a:solidFill>
                <a:srgbClr val="1B1D21"/>
              </a:solidFill>
            </a:ln>
          </p:spPr>
          <p:txBody>
            <a:bodyPr rtlCol="0" anchor="ctr"/>
            <a:lstStyle/>
            <a:p>
              <a:pPr algn="ctr"/>
              <a:endParaRPr/>
            </a:p>
          </p:txBody>
        </p:sp>
        <p:sp>
          <p:nvSpPr>
            <p:cNvPr id="49" name="Rectangle 48"/>
            <p:cNvSpPr/>
            <p:nvPr/>
          </p:nvSpPr>
          <p:spPr>
            <a:xfrm>
              <a:off x="5989320" y="2221992"/>
              <a:ext cx="502920" cy="219456"/>
            </a:xfrm>
            <a:prstGeom prst="rect">
              <a:avLst/>
            </a:prstGeom>
            <a:solidFill>
              <a:srgbClr val="6C7480"/>
            </a:solidFill>
            <a:ln w="12700">
              <a:solidFill>
                <a:srgbClr val="1B1D21"/>
              </a:solidFill>
            </a:ln>
          </p:spPr>
          <p:txBody>
            <a:bodyPr rtlCol="0" anchor="ctr"/>
            <a:lstStyle/>
            <a:p>
              <a:pPr algn="ctr"/>
              <a:endParaRPr/>
            </a:p>
          </p:txBody>
        </p:sp>
        <p:sp>
          <p:nvSpPr>
            <p:cNvPr id="50" name="Rounded Rectangle 49"/>
            <p:cNvSpPr/>
            <p:nvPr/>
          </p:nvSpPr>
          <p:spPr>
            <a:xfrm>
              <a:off x="5303520" y="271576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51" name="Oval 50"/>
            <p:cNvSpPr/>
            <p:nvPr/>
          </p:nvSpPr>
          <p:spPr>
            <a:xfrm>
              <a:off x="5381244" y="2793492"/>
              <a:ext cx="82296" cy="82296"/>
            </a:xfrm>
            <a:prstGeom prst="ellipse">
              <a:avLst/>
            </a:prstGeom>
            <a:solidFill>
              <a:srgbClr val="1B1D21"/>
            </a:solidFill>
            <a:ln>
              <a:noFill/>
            </a:ln>
          </p:spPr>
          <p:txBody>
            <a:bodyPr rtlCol="0" anchor="ctr"/>
            <a:lstStyle/>
            <a:p>
              <a:pPr algn="ctr"/>
              <a:endParaRPr/>
            </a:p>
          </p:txBody>
        </p:sp>
        <p:sp>
          <p:nvSpPr>
            <p:cNvPr id="52" name="Rectangle 51"/>
            <p:cNvSpPr/>
            <p:nvPr/>
          </p:nvSpPr>
          <p:spPr>
            <a:xfrm>
              <a:off x="5757062" y="2739542"/>
              <a:ext cx="219456" cy="190195"/>
            </a:xfrm>
            <a:prstGeom prst="rect">
              <a:avLst/>
            </a:prstGeom>
            <a:solidFill>
              <a:srgbClr val="1B1D21"/>
            </a:solidFill>
            <a:ln>
              <a:noFill/>
            </a:ln>
          </p:spPr>
          <p:txBody>
            <a:bodyPr rtlCol="0" anchor="ctr"/>
            <a:lstStyle/>
            <a:p>
              <a:pPr algn="ctr"/>
              <a:endParaRPr/>
            </a:p>
          </p:txBody>
        </p:sp>
        <p:sp>
          <p:nvSpPr>
            <p:cNvPr id="53" name="Rectangle 52"/>
            <p:cNvSpPr/>
            <p:nvPr/>
          </p:nvSpPr>
          <p:spPr>
            <a:xfrm>
              <a:off x="6080760" y="2724912"/>
              <a:ext cx="502920" cy="219456"/>
            </a:xfrm>
            <a:prstGeom prst="rect">
              <a:avLst/>
            </a:prstGeom>
            <a:solidFill>
              <a:srgbClr val="6C7480"/>
            </a:solidFill>
            <a:ln w="12700">
              <a:solidFill>
                <a:srgbClr val="1B1D21"/>
              </a:solidFill>
            </a:ln>
          </p:spPr>
          <p:txBody>
            <a:bodyPr rtlCol="0" anchor="ctr"/>
            <a:lstStyle/>
            <a:p>
              <a:pPr algn="ctr"/>
              <a:endParaRPr/>
            </a:p>
          </p:txBody>
        </p:sp>
        <p:sp>
          <p:nvSpPr>
            <p:cNvPr id="54" name="Rectangle 53"/>
            <p:cNvSpPr/>
            <p:nvPr/>
          </p:nvSpPr>
          <p:spPr>
            <a:xfrm>
              <a:off x="6629400" y="2724912"/>
              <a:ext cx="502920" cy="219456"/>
            </a:xfrm>
            <a:prstGeom prst="rect">
              <a:avLst/>
            </a:prstGeom>
            <a:solidFill>
              <a:srgbClr val="6C7480"/>
            </a:solidFill>
            <a:ln w="12700">
              <a:solidFill>
                <a:srgbClr val="1B1D21"/>
              </a:solidFill>
            </a:ln>
          </p:spPr>
          <p:txBody>
            <a:bodyPr rtlCol="0" anchor="ctr"/>
            <a:lstStyle/>
            <a:p>
              <a:pPr algn="ctr"/>
              <a:endParaRPr/>
            </a:p>
          </p:txBody>
        </p:sp>
        <p:sp>
          <p:nvSpPr>
            <p:cNvPr id="55" name="Rounded Rectangle 54"/>
            <p:cNvSpPr/>
            <p:nvPr/>
          </p:nvSpPr>
          <p:spPr>
            <a:xfrm>
              <a:off x="6126480" y="321868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56" name="Oval 55"/>
            <p:cNvSpPr/>
            <p:nvPr/>
          </p:nvSpPr>
          <p:spPr>
            <a:xfrm>
              <a:off x="6204204" y="3296412"/>
              <a:ext cx="82296" cy="82296"/>
            </a:xfrm>
            <a:prstGeom prst="ellipse">
              <a:avLst/>
            </a:prstGeom>
            <a:solidFill>
              <a:srgbClr val="1B1D21"/>
            </a:solidFill>
            <a:ln>
              <a:noFill/>
            </a:ln>
          </p:spPr>
          <p:txBody>
            <a:bodyPr rtlCol="0" anchor="ctr"/>
            <a:lstStyle/>
            <a:p>
              <a:pPr algn="ctr"/>
              <a:endParaRPr/>
            </a:p>
          </p:txBody>
        </p:sp>
        <p:sp>
          <p:nvSpPr>
            <p:cNvPr id="57" name="Rectangle 56"/>
            <p:cNvSpPr/>
            <p:nvPr/>
          </p:nvSpPr>
          <p:spPr>
            <a:xfrm>
              <a:off x="6580022" y="3242462"/>
              <a:ext cx="219456" cy="190195"/>
            </a:xfrm>
            <a:prstGeom prst="rect">
              <a:avLst/>
            </a:prstGeom>
            <a:solidFill>
              <a:srgbClr val="1B1D21"/>
            </a:solidFill>
            <a:ln>
              <a:noFill/>
            </a:ln>
          </p:spPr>
          <p:txBody>
            <a:bodyPr rtlCol="0" anchor="ctr"/>
            <a:lstStyle/>
            <a:p>
              <a:pPr algn="ctr"/>
              <a:endParaRPr/>
            </a:p>
          </p:txBody>
        </p:sp>
        <p:sp>
          <p:nvSpPr>
            <p:cNvPr id="58" name="Rounded Rectangle 57"/>
            <p:cNvSpPr/>
            <p:nvPr/>
          </p:nvSpPr>
          <p:spPr>
            <a:xfrm>
              <a:off x="3840480" y="372160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59" name="Oval 58"/>
            <p:cNvSpPr/>
            <p:nvPr/>
          </p:nvSpPr>
          <p:spPr>
            <a:xfrm>
              <a:off x="3918204" y="3799332"/>
              <a:ext cx="82296" cy="82296"/>
            </a:xfrm>
            <a:prstGeom prst="ellipse">
              <a:avLst/>
            </a:prstGeom>
            <a:solidFill>
              <a:srgbClr val="1B1D21"/>
            </a:solidFill>
            <a:ln>
              <a:noFill/>
            </a:ln>
          </p:spPr>
          <p:txBody>
            <a:bodyPr rtlCol="0" anchor="ctr"/>
            <a:lstStyle/>
            <a:p>
              <a:pPr algn="ctr"/>
              <a:endParaRPr/>
            </a:p>
          </p:txBody>
        </p:sp>
        <p:sp>
          <p:nvSpPr>
            <p:cNvPr id="60" name="Rectangle 59"/>
            <p:cNvSpPr/>
            <p:nvPr/>
          </p:nvSpPr>
          <p:spPr>
            <a:xfrm>
              <a:off x="4294022" y="3745382"/>
              <a:ext cx="219456" cy="190195"/>
            </a:xfrm>
            <a:prstGeom prst="rect">
              <a:avLst/>
            </a:prstGeom>
            <a:solidFill>
              <a:srgbClr val="1B1D21"/>
            </a:solidFill>
            <a:ln>
              <a:noFill/>
            </a:ln>
          </p:spPr>
          <p:txBody>
            <a:bodyPr rtlCol="0" anchor="ctr"/>
            <a:lstStyle/>
            <a:p>
              <a:pPr algn="ctr"/>
              <a:endParaRPr/>
            </a:p>
          </p:txBody>
        </p:sp>
        <p:sp>
          <p:nvSpPr>
            <p:cNvPr id="61" name="Rectangle 60"/>
            <p:cNvSpPr/>
            <p:nvPr/>
          </p:nvSpPr>
          <p:spPr>
            <a:xfrm>
              <a:off x="4617720" y="3730752"/>
              <a:ext cx="502920" cy="219456"/>
            </a:xfrm>
            <a:prstGeom prst="rect">
              <a:avLst/>
            </a:prstGeom>
            <a:solidFill>
              <a:srgbClr val="6C7480"/>
            </a:solidFill>
            <a:ln w="12700">
              <a:solidFill>
                <a:srgbClr val="1B1D21"/>
              </a:solidFill>
            </a:ln>
          </p:spPr>
          <p:txBody>
            <a:bodyPr rtlCol="0" anchor="ctr"/>
            <a:lstStyle/>
            <a:p>
              <a:pPr algn="ctr"/>
              <a:endParaRPr/>
            </a:p>
          </p:txBody>
        </p:sp>
        <p:sp>
          <p:nvSpPr>
            <p:cNvPr id="62" name="Rectangle 61"/>
            <p:cNvSpPr/>
            <p:nvPr/>
          </p:nvSpPr>
          <p:spPr>
            <a:xfrm>
              <a:off x="5166360" y="3730752"/>
              <a:ext cx="502920" cy="219456"/>
            </a:xfrm>
            <a:prstGeom prst="rect">
              <a:avLst/>
            </a:prstGeom>
            <a:solidFill>
              <a:srgbClr val="6C7480"/>
            </a:solidFill>
            <a:ln w="12700">
              <a:solidFill>
                <a:srgbClr val="1B1D21"/>
              </a:solidFill>
            </a:ln>
          </p:spPr>
          <p:txBody>
            <a:bodyPr rtlCol="0" anchor="ctr"/>
            <a:lstStyle/>
            <a:p>
              <a:pPr algn="ctr"/>
              <a:endParaRPr/>
            </a:p>
          </p:txBody>
        </p:sp>
        <p:sp>
          <p:nvSpPr>
            <p:cNvPr id="63" name="Rectangle 62"/>
            <p:cNvSpPr/>
            <p:nvPr/>
          </p:nvSpPr>
          <p:spPr>
            <a:xfrm>
              <a:off x="5715000" y="3730752"/>
              <a:ext cx="502920" cy="219456"/>
            </a:xfrm>
            <a:prstGeom prst="rect">
              <a:avLst/>
            </a:prstGeom>
            <a:solidFill>
              <a:srgbClr val="6C7480"/>
            </a:solidFill>
            <a:ln w="12700">
              <a:solidFill>
                <a:srgbClr val="1B1D21"/>
              </a:solidFill>
            </a:ln>
          </p:spPr>
          <p:txBody>
            <a:bodyPr rtlCol="0" anchor="ctr"/>
            <a:lstStyle/>
            <a:p>
              <a:pPr algn="ctr"/>
              <a:endParaRPr/>
            </a:p>
          </p:txBody>
        </p:sp>
        <p:sp>
          <p:nvSpPr>
            <p:cNvPr id="64" name="Rectangle 63"/>
            <p:cNvSpPr/>
            <p:nvPr/>
          </p:nvSpPr>
          <p:spPr>
            <a:xfrm>
              <a:off x="6263640" y="3730752"/>
              <a:ext cx="502920" cy="219456"/>
            </a:xfrm>
            <a:prstGeom prst="rect">
              <a:avLst/>
            </a:prstGeom>
            <a:solidFill>
              <a:srgbClr val="6C7480"/>
            </a:solidFill>
            <a:ln w="12700">
              <a:solidFill>
                <a:srgbClr val="1B1D21"/>
              </a:solidFill>
            </a:ln>
          </p:spPr>
          <p:txBody>
            <a:bodyPr rtlCol="0" anchor="ctr"/>
            <a:lstStyle/>
            <a:p>
              <a:pPr algn="ctr"/>
              <a:endParaRPr/>
            </a:p>
          </p:txBody>
        </p:sp>
        <p:sp>
          <p:nvSpPr>
            <p:cNvPr id="65" name="Rounded Rectangle 64"/>
            <p:cNvSpPr/>
            <p:nvPr/>
          </p:nvSpPr>
          <p:spPr>
            <a:xfrm>
              <a:off x="5852160" y="422452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66" name="Oval 65"/>
            <p:cNvSpPr/>
            <p:nvPr/>
          </p:nvSpPr>
          <p:spPr>
            <a:xfrm>
              <a:off x="5929884" y="4302252"/>
              <a:ext cx="82296" cy="82296"/>
            </a:xfrm>
            <a:prstGeom prst="ellipse">
              <a:avLst/>
            </a:prstGeom>
            <a:solidFill>
              <a:srgbClr val="1B1D21"/>
            </a:solidFill>
            <a:ln>
              <a:noFill/>
            </a:ln>
          </p:spPr>
          <p:txBody>
            <a:bodyPr rtlCol="0" anchor="ctr"/>
            <a:lstStyle/>
            <a:p>
              <a:pPr algn="ctr"/>
              <a:endParaRPr/>
            </a:p>
          </p:txBody>
        </p:sp>
        <p:sp>
          <p:nvSpPr>
            <p:cNvPr id="67" name="Rectangle 66"/>
            <p:cNvSpPr/>
            <p:nvPr/>
          </p:nvSpPr>
          <p:spPr>
            <a:xfrm>
              <a:off x="6305702" y="4248302"/>
              <a:ext cx="219456" cy="190195"/>
            </a:xfrm>
            <a:prstGeom prst="rect">
              <a:avLst/>
            </a:prstGeom>
            <a:solidFill>
              <a:srgbClr val="1B1D21"/>
            </a:solidFill>
            <a:ln>
              <a:noFill/>
            </a:ln>
          </p:spPr>
          <p:txBody>
            <a:bodyPr rtlCol="0" anchor="ctr"/>
            <a:lstStyle/>
            <a:p>
              <a:pPr algn="ctr"/>
              <a:endParaRPr/>
            </a:p>
          </p:txBody>
        </p:sp>
        <p:sp>
          <p:nvSpPr>
            <p:cNvPr id="68" name="Rectangle 67"/>
            <p:cNvSpPr/>
            <p:nvPr/>
          </p:nvSpPr>
          <p:spPr>
            <a:xfrm>
              <a:off x="6629400" y="4233672"/>
              <a:ext cx="502920" cy="219456"/>
            </a:xfrm>
            <a:prstGeom prst="rect">
              <a:avLst/>
            </a:prstGeom>
            <a:solidFill>
              <a:srgbClr val="6C7480"/>
            </a:solidFill>
            <a:ln w="12700">
              <a:solidFill>
                <a:srgbClr val="1B1D21"/>
              </a:solidFill>
            </a:ln>
          </p:spPr>
          <p:txBody>
            <a:bodyPr rtlCol="0" anchor="ctr"/>
            <a:lstStyle/>
            <a:p>
              <a:pPr algn="ctr"/>
              <a:endParaRPr/>
            </a:p>
          </p:txBody>
        </p:sp>
        <p:sp>
          <p:nvSpPr>
            <p:cNvPr id="69" name="Rounded Rectangle 68"/>
            <p:cNvSpPr/>
            <p:nvPr/>
          </p:nvSpPr>
          <p:spPr>
            <a:xfrm>
              <a:off x="4480560" y="472744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70" name="Oval 69"/>
            <p:cNvSpPr/>
            <p:nvPr/>
          </p:nvSpPr>
          <p:spPr>
            <a:xfrm>
              <a:off x="4558284" y="4805172"/>
              <a:ext cx="82296" cy="82296"/>
            </a:xfrm>
            <a:prstGeom prst="ellipse">
              <a:avLst/>
            </a:prstGeom>
            <a:solidFill>
              <a:srgbClr val="1B1D21"/>
            </a:solidFill>
            <a:ln>
              <a:noFill/>
            </a:ln>
          </p:spPr>
          <p:txBody>
            <a:bodyPr rtlCol="0" anchor="ctr"/>
            <a:lstStyle/>
            <a:p>
              <a:pPr algn="ctr"/>
              <a:endParaRPr/>
            </a:p>
          </p:txBody>
        </p:sp>
        <p:sp>
          <p:nvSpPr>
            <p:cNvPr id="71" name="Rectangle 70"/>
            <p:cNvSpPr/>
            <p:nvPr/>
          </p:nvSpPr>
          <p:spPr>
            <a:xfrm>
              <a:off x="4934102" y="4751222"/>
              <a:ext cx="219456" cy="190195"/>
            </a:xfrm>
            <a:prstGeom prst="rect">
              <a:avLst/>
            </a:prstGeom>
            <a:solidFill>
              <a:srgbClr val="1B1D21"/>
            </a:solidFill>
            <a:ln>
              <a:noFill/>
            </a:ln>
          </p:spPr>
          <p:txBody>
            <a:bodyPr rtlCol="0" anchor="ctr"/>
            <a:lstStyle/>
            <a:p>
              <a:pPr algn="ctr"/>
              <a:endParaRPr/>
            </a:p>
          </p:txBody>
        </p:sp>
        <p:sp>
          <p:nvSpPr>
            <p:cNvPr id="72" name="Rectangle 71"/>
            <p:cNvSpPr/>
            <p:nvPr/>
          </p:nvSpPr>
          <p:spPr>
            <a:xfrm>
              <a:off x="5257800" y="4736592"/>
              <a:ext cx="502920" cy="219456"/>
            </a:xfrm>
            <a:prstGeom prst="rect">
              <a:avLst/>
            </a:prstGeom>
            <a:solidFill>
              <a:srgbClr val="6C7480"/>
            </a:solidFill>
            <a:ln w="12700">
              <a:solidFill>
                <a:srgbClr val="1B1D21"/>
              </a:solidFill>
            </a:ln>
          </p:spPr>
          <p:txBody>
            <a:bodyPr rtlCol="0" anchor="ctr"/>
            <a:lstStyle/>
            <a:p>
              <a:pPr algn="ctr"/>
              <a:endParaRPr/>
            </a:p>
          </p:txBody>
        </p:sp>
        <p:sp>
          <p:nvSpPr>
            <p:cNvPr id="73" name="Rectangle 72"/>
            <p:cNvSpPr/>
            <p:nvPr/>
          </p:nvSpPr>
          <p:spPr>
            <a:xfrm>
              <a:off x="5806440" y="4736592"/>
              <a:ext cx="502920" cy="219456"/>
            </a:xfrm>
            <a:prstGeom prst="rect">
              <a:avLst/>
            </a:prstGeom>
            <a:solidFill>
              <a:srgbClr val="6C7480"/>
            </a:solidFill>
            <a:ln w="12700">
              <a:solidFill>
                <a:srgbClr val="1B1D21"/>
              </a:solidFill>
            </a:ln>
          </p:spPr>
          <p:txBody>
            <a:bodyPr rtlCol="0" anchor="ctr"/>
            <a:lstStyle/>
            <a:p>
              <a:pPr algn="ctr"/>
              <a:endParaRPr/>
            </a:p>
          </p:txBody>
        </p:sp>
        <p:sp>
          <p:nvSpPr>
            <p:cNvPr id="74" name="Rectangle 73"/>
            <p:cNvSpPr/>
            <p:nvPr/>
          </p:nvSpPr>
          <p:spPr>
            <a:xfrm>
              <a:off x="822960" y="2148840"/>
              <a:ext cx="1371600" cy="685800"/>
            </a:xfrm>
            <a:prstGeom prst="rect">
              <a:avLst/>
            </a:prstGeom>
            <a:solidFill>
              <a:srgbClr val="343A43"/>
            </a:solidFill>
            <a:ln w="19050">
              <a:solidFill>
                <a:srgbClr val="9AA0A6"/>
              </a:solidFill>
            </a:ln>
          </p:spPr>
          <p:txBody>
            <a:bodyPr rtlCol="0" anchor="ctr"/>
            <a:lstStyle/>
            <a:p>
              <a:pPr algn="ctr"/>
              <a:endParaRPr/>
            </a:p>
          </p:txBody>
        </p:sp>
        <p:sp>
          <p:nvSpPr>
            <p:cNvPr id="75" name="Oval 74"/>
            <p:cNvSpPr/>
            <p:nvPr/>
          </p:nvSpPr>
          <p:spPr>
            <a:xfrm>
              <a:off x="960120" y="4160520"/>
              <a:ext cx="1097280" cy="1097280"/>
            </a:xfrm>
            <a:prstGeom prst="ellipse">
              <a:avLst/>
            </a:prstGeom>
            <a:solidFill>
              <a:srgbClr val="343A43"/>
            </a:solidFill>
            <a:ln w="19050">
              <a:solidFill>
                <a:srgbClr val="9AA0A6"/>
              </a:solidFill>
            </a:ln>
          </p:spPr>
          <p:txBody>
            <a:bodyPr rtlCol="0" anchor="ctr"/>
            <a:lstStyle/>
            <a:p>
              <a:pPr algn="ctr"/>
              <a:endParaRPr/>
            </a:p>
          </p:txBody>
        </p:sp>
        <p:cxnSp>
          <p:nvCxnSpPr>
            <p:cNvPr id="76" name="Connector 75"/>
            <p:cNvCxnSpPr/>
            <p:nvPr/>
          </p:nvCxnSpPr>
          <p:spPr>
            <a:xfrm>
              <a:off x="960120" y="4709160"/>
              <a:ext cx="1097280" cy="0"/>
            </a:xfrm>
            <a:prstGeom prst="line">
              <a:avLst/>
            </a:prstGeom>
            <a:ln w="38100">
              <a:solidFill>
                <a:srgbClr val="9AA0A6"/>
              </a:solidFill>
            </a:ln>
          </p:spPr>
        </p:cxnSp>
        <p:sp>
          <p:nvSpPr>
            <p:cNvPr id="77" name="Oval 76"/>
            <p:cNvSpPr/>
            <p:nvPr/>
          </p:nvSpPr>
          <p:spPr>
            <a:xfrm>
              <a:off x="1417320" y="4617720"/>
              <a:ext cx="182880" cy="182880"/>
            </a:xfrm>
            <a:prstGeom prst="ellipse">
              <a:avLst/>
            </a:prstGeom>
            <a:solidFill>
              <a:srgbClr val="9AA0A6"/>
            </a:solidFill>
            <a:ln>
              <a:noFill/>
            </a:ln>
          </p:spPr>
          <p:txBody>
            <a:bodyPr rtlCol="0" anchor="ctr"/>
            <a:lstStyle/>
            <a:p>
              <a:pPr algn="ctr"/>
              <a:endParaRPr/>
            </a:p>
          </p:txBody>
        </p:sp>
        <p:sp>
          <p:nvSpPr>
            <p:cNvPr id="78" name="Rounded Rectangle 77"/>
            <p:cNvSpPr/>
            <p:nvPr/>
          </p:nvSpPr>
          <p:spPr>
            <a:xfrm>
              <a:off x="8686800" y="1325880"/>
              <a:ext cx="2953512" cy="4251960"/>
            </a:xfrm>
            <a:prstGeom prst="roundRect">
              <a:avLst>
                <a:gd name="adj" fmla="val 2476"/>
              </a:avLst>
            </a:prstGeom>
            <a:solidFill>
              <a:srgbClr val="2B2F36"/>
            </a:solidFill>
            <a:ln>
              <a:noFill/>
            </a:ln>
          </p:spPr>
          <p:txBody>
            <a:bodyPr rtlCol="0" anchor="ctr"/>
            <a:lstStyle/>
            <a:p>
              <a:pPr algn="ctr"/>
              <a:endParaRPr/>
            </a:p>
          </p:txBody>
        </p:sp>
        <p:sp>
          <p:nvSpPr>
            <p:cNvPr id="79" name="TextBox 78"/>
            <p:cNvSpPr txBox="1"/>
            <p:nvPr/>
          </p:nvSpPr>
          <p:spPr>
            <a:xfrm>
              <a:off x="8869680" y="1417320"/>
              <a:ext cx="2651760" cy="365760"/>
            </a:xfrm>
            <a:prstGeom prst="rect">
              <a:avLst/>
            </a:prstGeom>
            <a:noFill/>
          </p:spPr>
          <p:txBody>
            <a:bodyPr wrap="square" lIns="0" tIns="0" rIns="0" bIns="0" anchor="ctr">
              <a:noAutofit/>
            </a:bodyPr>
            <a:lstStyle/>
            <a:p>
              <a:pPr algn="l">
                <a:spcBef>
                  <a:spcPts val="0"/>
                </a:spcBef>
                <a:spcAft>
                  <a:spcPts val="0"/>
                </a:spcAft>
              </a:pPr>
              <a:r>
                <a:rPr lang="en-GB" sz="1800" b="1" i="0">
                  <a:solidFill>
                    <a:srgbClr val="6CA0DC"/>
                  </a:solidFill>
                  <a:latin typeface="Arial"/>
                </a:rPr>
                <a:t>Electric station</a:t>
              </a:r>
            </a:p>
          </p:txBody>
        </p:sp>
        <p:sp>
          <p:nvSpPr>
            <p:cNvPr id="80" name="Rounded Rectangle 79"/>
            <p:cNvSpPr/>
            <p:nvPr/>
          </p:nvSpPr>
          <p:spPr>
            <a:xfrm>
              <a:off x="8961120" y="3593592"/>
              <a:ext cx="2377440" cy="91440"/>
            </a:xfrm>
            <a:prstGeom prst="roundRect">
              <a:avLst>
                <a:gd name="adj" fmla="val 50000"/>
              </a:avLst>
            </a:prstGeom>
            <a:solidFill>
              <a:srgbClr val="6CA0DC"/>
            </a:solidFill>
            <a:ln>
              <a:noFill/>
            </a:ln>
          </p:spPr>
          <p:txBody>
            <a:bodyPr rtlCol="0" anchor="ctr"/>
            <a:lstStyle/>
            <a:p>
              <a:pPr algn="ctr"/>
              <a:endParaRPr/>
            </a:p>
          </p:txBody>
        </p:sp>
        <p:sp>
          <p:nvSpPr>
            <p:cNvPr id="81" name="Rectangle 80"/>
            <p:cNvSpPr/>
            <p:nvPr/>
          </p:nvSpPr>
          <p:spPr>
            <a:xfrm>
              <a:off x="9235440" y="3685032"/>
              <a:ext cx="91440" cy="320040"/>
            </a:xfrm>
            <a:prstGeom prst="rect">
              <a:avLst/>
            </a:prstGeom>
            <a:solidFill>
              <a:srgbClr val="9AA0A6"/>
            </a:solidFill>
            <a:ln>
              <a:noFill/>
            </a:ln>
          </p:spPr>
          <p:txBody>
            <a:bodyPr rtlCol="0" anchor="ctr"/>
            <a:lstStyle/>
            <a:p>
              <a:pPr algn="ctr"/>
              <a:endParaRPr/>
            </a:p>
          </p:txBody>
        </p:sp>
        <p:sp>
          <p:nvSpPr>
            <p:cNvPr id="82" name="Rectangle 81"/>
            <p:cNvSpPr/>
            <p:nvPr/>
          </p:nvSpPr>
          <p:spPr>
            <a:xfrm>
              <a:off x="10058400" y="3685032"/>
              <a:ext cx="91440" cy="320040"/>
            </a:xfrm>
            <a:prstGeom prst="rect">
              <a:avLst/>
            </a:prstGeom>
            <a:solidFill>
              <a:srgbClr val="9AA0A6"/>
            </a:solidFill>
            <a:ln>
              <a:noFill/>
            </a:ln>
          </p:spPr>
          <p:txBody>
            <a:bodyPr rtlCol="0" anchor="ctr"/>
            <a:lstStyle/>
            <a:p>
              <a:pPr algn="ctr"/>
              <a:endParaRPr/>
            </a:p>
          </p:txBody>
        </p:sp>
        <p:sp>
          <p:nvSpPr>
            <p:cNvPr id="83" name="Rectangle 82"/>
            <p:cNvSpPr/>
            <p:nvPr/>
          </p:nvSpPr>
          <p:spPr>
            <a:xfrm>
              <a:off x="10972800" y="3685032"/>
              <a:ext cx="91440" cy="320040"/>
            </a:xfrm>
            <a:prstGeom prst="rect">
              <a:avLst/>
            </a:prstGeom>
            <a:solidFill>
              <a:srgbClr val="9AA0A6"/>
            </a:solidFill>
            <a:ln>
              <a:noFill/>
            </a:ln>
          </p:spPr>
          <p:txBody>
            <a:bodyPr rtlCol="0" anchor="ctr"/>
            <a:lstStyle/>
            <a:p>
              <a:pPr algn="ctr"/>
              <a:endParaRPr/>
            </a:p>
          </p:txBody>
        </p:sp>
        <p:sp>
          <p:nvSpPr>
            <p:cNvPr id="84" name="Rounded Rectangle 83"/>
            <p:cNvSpPr/>
            <p:nvPr/>
          </p:nvSpPr>
          <p:spPr>
            <a:xfrm>
              <a:off x="9555480" y="3154680"/>
              <a:ext cx="1051560" cy="347472"/>
            </a:xfrm>
            <a:prstGeom prst="roundRect">
              <a:avLst>
                <a:gd name="adj" fmla="val 26315"/>
              </a:avLst>
            </a:prstGeom>
            <a:solidFill>
              <a:srgbClr val="6CA0DC"/>
            </a:solidFill>
            <a:ln w="12700">
              <a:solidFill>
                <a:srgbClr val="1B1D21"/>
              </a:solidFill>
            </a:ln>
          </p:spPr>
          <p:txBody>
            <a:bodyPr rtlCol="0" anchor="ctr"/>
            <a:lstStyle/>
            <a:p>
              <a:pPr algn="ctr"/>
              <a:endParaRPr/>
            </a:p>
          </p:txBody>
        </p:sp>
        <p:sp>
          <p:nvSpPr>
            <p:cNvPr id="85" name="Rectangle 84"/>
            <p:cNvSpPr/>
            <p:nvPr/>
          </p:nvSpPr>
          <p:spPr>
            <a:xfrm>
              <a:off x="9692640" y="3218688"/>
              <a:ext cx="182880" cy="128016"/>
            </a:xfrm>
            <a:prstGeom prst="rect">
              <a:avLst/>
            </a:prstGeom>
            <a:solidFill>
              <a:srgbClr val="1B1D21"/>
            </a:solidFill>
            <a:ln>
              <a:noFill/>
            </a:ln>
          </p:spPr>
          <p:txBody>
            <a:bodyPr rtlCol="0" anchor="ctr"/>
            <a:lstStyle/>
            <a:p>
              <a:pPr algn="ctr"/>
              <a:endParaRPr/>
            </a:p>
          </p:txBody>
        </p:sp>
        <p:sp>
          <p:nvSpPr>
            <p:cNvPr id="86" name="Rectangle 85"/>
            <p:cNvSpPr/>
            <p:nvPr/>
          </p:nvSpPr>
          <p:spPr>
            <a:xfrm>
              <a:off x="10012680" y="3218688"/>
              <a:ext cx="182880" cy="128016"/>
            </a:xfrm>
            <a:prstGeom prst="rect">
              <a:avLst/>
            </a:prstGeom>
            <a:solidFill>
              <a:srgbClr val="1B1D21"/>
            </a:solidFill>
            <a:ln>
              <a:noFill/>
            </a:ln>
          </p:spPr>
          <p:txBody>
            <a:bodyPr rtlCol="0" anchor="ctr"/>
            <a:lstStyle/>
            <a:p>
              <a:pPr algn="ctr"/>
              <a:endParaRPr/>
            </a:p>
          </p:txBody>
        </p:sp>
        <p:sp>
          <p:nvSpPr>
            <p:cNvPr id="87" name="Rectangle 86"/>
            <p:cNvSpPr/>
            <p:nvPr/>
          </p:nvSpPr>
          <p:spPr>
            <a:xfrm>
              <a:off x="10332720" y="3218688"/>
              <a:ext cx="182880" cy="128016"/>
            </a:xfrm>
            <a:prstGeom prst="rect">
              <a:avLst/>
            </a:prstGeom>
            <a:solidFill>
              <a:srgbClr val="1B1D21"/>
            </a:solidFill>
            <a:ln>
              <a:noFill/>
            </a:ln>
          </p:spPr>
          <p:txBody>
            <a:bodyPr rtlCol="0" anchor="ctr"/>
            <a:lstStyle/>
            <a:p>
              <a:pPr algn="ctr"/>
              <a:endParaRPr/>
            </a:p>
          </p:txBody>
        </p:sp>
        <p:sp>
          <p:nvSpPr>
            <p:cNvPr id="88" name="Rectangle 87"/>
            <p:cNvSpPr/>
            <p:nvPr/>
          </p:nvSpPr>
          <p:spPr>
            <a:xfrm>
              <a:off x="9464040" y="4069080"/>
              <a:ext cx="1371600" cy="201168"/>
            </a:xfrm>
            <a:prstGeom prst="rect">
              <a:avLst/>
            </a:prstGeom>
            <a:solidFill>
              <a:srgbClr val="343A43"/>
            </a:solidFill>
            <a:ln w="12700">
              <a:solidFill>
                <a:srgbClr val="9AA0A6"/>
              </a:solidFill>
            </a:ln>
          </p:spPr>
          <p:txBody>
            <a:bodyPr rtlCol="0" anchor="ctr"/>
            <a:lstStyle/>
            <a:p>
              <a:pPr algn="ctr"/>
              <a:endParaRPr/>
            </a:p>
          </p:txBody>
        </p:sp>
        <p:sp>
          <p:nvSpPr>
            <p:cNvPr id="89" name="Rectangle 88"/>
            <p:cNvSpPr/>
            <p:nvPr/>
          </p:nvSpPr>
          <p:spPr>
            <a:xfrm>
              <a:off x="9646920" y="4370832"/>
              <a:ext cx="1005840" cy="457200"/>
            </a:xfrm>
            <a:prstGeom prst="rect">
              <a:avLst/>
            </a:prstGeom>
            <a:solidFill>
              <a:srgbClr val="343A43"/>
            </a:solidFill>
            <a:ln w="19050">
              <a:solidFill>
                <a:srgbClr val="9AA0A6"/>
              </a:solidFill>
            </a:ln>
          </p:spPr>
          <p:txBody>
            <a:bodyPr rtlCol="0" anchor="ctr"/>
            <a:lstStyle/>
            <a:p>
              <a:pPr algn="ctr"/>
              <a:endParaRPr/>
            </a:p>
          </p:txBody>
        </p:sp>
      </p:grpSp>
      <p:sp>
        <p:nvSpPr>
          <p:cNvPr id="90"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Late steam is about scale: big terminals, many tracks, busy yards.</a:t>
            </a:r>
          </a:p>
        </p:txBody>
      </p:sp>
      <p:sp>
        <p:nvSpPr>
          <p:cNvPr id="91"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92"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4</a:t>
            </a:r>
          </a:p>
        </p:txBody>
      </p:sp>
    </p:spTree>
    <p:extLst>
      <p:ext uri="{BB962C8B-B14F-4D97-AF65-F5344CB8AC3E}">
        <p14:creationId xmlns:p14="http://schemas.microsoft.com/office/powerpoint/2010/main" val="13022838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90"/>
                                        </p:tgtEl>
                                        <p:attrNameLst>
                                          <p:attrName>style.visibility</p:attrName>
                                        </p:attrNameLst>
                                      </p:cBhvr>
                                      <p:to>
                                        <p:strVal val="visible"/>
                                      </p:to>
                                    </p:set>
                                    <p:animEffect transition="in" filter="fade">
                                      <p:cBhvr>
                                        <p:cTn id="10" dur="500"/>
                                        <p:tgtEl>
                                          <p:spTgt spid="90"/>
                                        </p:tgtEl>
                                      </p:cBhvr>
                                    </p:animEffect>
                                  </p:childTnLst>
                                </p:cTn>
                              </p:par>
                              <p:par>
                                <p:cTn id="11" presetID="10" presetClass="entr" presetSubtype="0" fill="hold" nodeType="withEffect">
                                  <p:stCondLst>
                                    <p:cond delay="600"/>
                                  </p:stCondLst>
                                  <p:childTnLst>
                                    <p:set>
                                      <p:cBhvr>
                                        <p:cTn id="12" dur="1" fill="hold">
                                          <p:stCondLst>
                                            <p:cond delay="0"/>
                                          </p:stCondLst>
                                        </p:cTn>
                                        <p:tgtEl>
                                          <p:spTgt spid="91"/>
                                        </p:tgtEl>
                                        <p:attrNameLst>
                                          <p:attrName>style.visibility</p:attrName>
                                        </p:attrNameLst>
                                      </p:cBhvr>
                                      <p:to>
                                        <p:strVal val="visible"/>
                                      </p:to>
                                    </p:set>
                                    <p:animEffect transition="in" filter="fade">
                                      <p:cBhvr>
                                        <p:cTn id="13"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For people who love steam</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core buildings beside locked pack buildings" descr="A split panel: small basic buildings in the core game on the left, and larger advanced buildings behind a padlock on the right, marked as needing a pack."/>
          <p:cNvGrpSpPr/>
          <p:nvPr/>
        </p:nvGrpSpPr>
        <p:grpSpPr>
          <a:xfrm>
            <a:off x="548640" y="1325880"/>
            <a:ext cx="11091672" cy="4251960"/>
            <a:chOff x="548640" y="1325880"/>
            <a:chExt cx="11091672" cy="4251960"/>
          </a:xfrm>
        </p:grpSpPr>
        <p:sp>
          <p:nvSpPr>
            <p:cNvPr id="5" name="Rounded Rectangle 4"/>
            <p:cNvSpPr/>
            <p:nvPr/>
          </p:nvSpPr>
          <p:spPr>
            <a:xfrm>
              <a:off x="548640" y="1325880"/>
              <a:ext cx="5440680" cy="4251960"/>
            </a:xfrm>
            <a:prstGeom prst="roundRect">
              <a:avLst>
                <a:gd name="adj" fmla="val 1720"/>
              </a:avLst>
            </a:prstGeom>
            <a:solidFill>
              <a:srgbClr val="2B2F36"/>
            </a:solidFill>
            <a:ln>
              <a:noFill/>
            </a:ln>
          </p:spPr>
          <p:txBody>
            <a:bodyPr rtlCol="0" anchor="ctr"/>
            <a:lstStyle/>
            <a:p>
              <a:pPr algn="ctr"/>
              <a:endParaRPr/>
            </a:p>
          </p:txBody>
        </p:sp>
        <p:sp>
          <p:nvSpPr>
            <p:cNvPr id="6" name="Rounded Rectangle 5"/>
            <p:cNvSpPr/>
            <p:nvPr/>
          </p:nvSpPr>
          <p:spPr>
            <a:xfrm>
              <a:off x="6199632" y="1325880"/>
              <a:ext cx="5440680" cy="4251960"/>
            </a:xfrm>
            <a:prstGeom prst="roundRect">
              <a:avLst>
                <a:gd name="adj" fmla="val 1720"/>
              </a:avLst>
            </a:prstGeom>
            <a:solidFill>
              <a:srgbClr val="2B2F36"/>
            </a:solidFill>
            <a:ln>
              <a:noFill/>
            </a:ln>
          </p:spPr>
          <p:txBody>
            <a:bodyPr rtlCol="0" anchor="ctr"/>
            <a:lstStyle/>
            <a:p>
              <a:pPr algn="ctr"/>
              <a:endParaRPr/>
            </a:p>
          </p:txBody>
        </p:sp>
        <p:sp>
          <p:nvSpPr>
            <p:cNvPr id="7" name="Rectangle 6"/>
            <p:cNvSpPr/>
            <p:nvPr/>
          </p:nvSpPr>
          <p:spPr>
            <a:xfrm>
              <a:off x="731520" y="4069080"/>
              <a:ext cx="5074920" cy="91440"/>
            </a:xfrm>
            <a:prstGeom prst="rect">
              <a:avLst/>
            </a:prstGeom>
            <a:solidFill>
              <a:srgbClr val="6B5B4B"/>
            </a:solidFill>
            <a:ln>
              <a:noFill/>
            </a:ln>
          </p:spPr>
          <p:txBody>
            <a:bodyPr rtlCol="0" anchor="ctr"/>
            <a:lstStyle/>
            <a:p>
              <a:pPr algn="ctr"/>
              <a:endParaRPr/>
            </a:p>
          </p:txBody>
        </p:sp>
        <p:cxnSp>
          <p:nvCxnSpPr>
            <p:cNvPr id="8" name="Connector 7"/>
            <p:cNvCxnSpPr/>
            <p:nvPr/>
          </p:nvCxnSpPr>
          <p:spPr>
            <a:xfrm>
              <a:off x="731520" y="4526280"/>
              <a:ext cx="5074920" cy="0"/>
            </a:xfrm>
            <a:prstGeom prst="line">
              <a:avLst/>
            </a:prstGeom>
            <a:ln w="114300">
              <a:solidFill>
                <a:srgbClr val="6B5B4B"/>
              </a:solidFill>
              <a:prstDash val="sysDash"/>
            </a:ln>
          </p:spPr>
        </p:cxnSp>
        <p:cxnSp>
          <p:nvCxnSpPr>
            <p:cNvPr id="9" name="Connector 8"/>
            <p:cNvCxnSpPr/>
            <p:nvPr/>
          </p:nvCxnSpPr>
          <p:spPr>
            <a:xfrm>
              <a:off x="731520" y="4485132"/>
              <a:ext cx="5074920" cy="0"/>
            </a:xfrm>
            <a:prstGeom prst="line">
              <a:avLst/>
            </a:prstGeom>
            <a:ln w="25400">
              <a:solidFill>
                <a:srgbClr val="9AA0A6"/>
              </a:solidFill>
            </a:ln>
          </p:spPr>
        </p:cxnSp>
        <p:cxnSp>
          <p:nvCxnSpPr>
            <p:cNvPr id="10" name="Connector 9"/>
            <p:cNvCxnSpPr/>
            <p:nvPr/>
          </p:nvCxnSpPr>
          <p:spPr>
            <a:xfrm>
              <a:off x="731520" y="4567428"/>
              <a:ext cx="5074920" cy="0"/>
            </a:xfrm>
            <a:prstGeom prst="line">
              <a:avLst/>
            </a:prstGeom>
            <a:ln w="25400">
              <a:solidFill>
                <a:srgbClr val="9AA0A6"/>
              </a:solidFill>
            </a:ln>
          </p:spPr>
        </p:cxnSp>
        <p:sp>
          <p:nvSpPr>
            <p:cNvPr id="11" name="Rectangle 10"/>
            <p:cNvSpPr/>
            <p:nvPr/>
          </p:nvSpPr>
          <p:spPr>
            <a:xfrm>
              <a:off x="1097280" y="3657600"/>
              <a:ext cx="2377440" cy="182880"/>
            </a:xfrm>
            <a:prstGeom prst="rect">
              <a:avLst/>
            </a:prstGeom>
            <a:solidFill>
              <a:srgbClr val="343A43"/>
            </a:solidFill>
            <a:ln w="12700">
              <a:solidFill>
                <a:srgbClr val="9AA0A6"/>
              </a:solidFill>
            </a:ln>
          </p:spPr>
          <p:txBody>
            <a:bodyPr rtlCol="0" anchor="ctr"/>
            <a:lstStyle/>
            <a:p>
              <a:pPr algn="ctr"/>
              <a:endParaRPr/>
            </a:p>
          </p:txBody>
        </p:sp>
        <p:sp>
          <p:nvSpPr>
            <p:cNvPr id="12" name="Rectangle 11"/>
            <p:cNvSpPr/>
            <p:nvPr/>
          </p:nvSpPr>
          <p:spPr>
            <a:xfrm>
              <a:off x="1371600" y="2788920"/>
              <a:ext cx="1097280" cy="868680"/>
            </a:xfrm>
            <a:prstGeom prst="rect">
              <a:avLst/>
            </a:prstGeom>
            <a:solidFill>
              <a:srgbClr val="343A43"/>
            </a:solidFill>
            <a:ln w="19050">
              <a:solidFill>
                <a:srgbClr val="9AA0A6"/>
              </a:solidFill>
            </a:ln>
          </p:spPr>
          <p:txBody>
            <a:bodyPr rtlCol="0" anchor="ctr"/>
            <a:lstStyle/>
            <a:p>
              <a:pPr algn="ctr"/>
              <a:endParaRPr/>
            </a:p>
          </p:txBody>
        </p:sp>
        <p:sp>
          <p:nvSpPr>
            <p:cNvPr id="13" name="Isosceles Triangle 12"/>
            <p:cNvSpPr/>
            <p:nvPr/>
          </p:nvSpPr>
          <p:spPr>
            <a:xfrm>
              <a:off x="1280160" y="2423160"/>
              <a:ext cx="1280160" cy="365760"/>
            </a:xfrm>
            <a:prstGeom prst="triangle">
              <a:avLst/>
            </a:prstGeom>
            <a:solidFill>
              <a:srgbClr val="6B5B4B"/>
            </a:solidFill>
            <a:ln>
              <a:noFill/>
            </a:ln>
          </p:spPr>
          <p:txBody>
            <a:bodyPr rtlCol="0" anchor="ctr"/>
            <a:lstStyle/>
            <a:p>
              <a:pPr algn="ctr"/>
              <a:endParaRPr/>
            </a:p>
          </p:txBody>
        </p:sp>
        <p:sp>
          <p:nvSpPr>
            <p:cNvPr id="14" name="Rectangle 13"/>
            <p:cNvSpPr/>
            <p:nvPr/>
          </p:nvSpPr>
          <p:spPr>
            <a:xfrm>
              <a:off x="1645920" y="3108960"/>
              <a:ext cx="320040" cy="274320"/>
            </a:xfrm>
            <a:prstGeom prst="rect">
              <a:avLst/>
            </a:prstGeom>
            <a:solidFill>
              <a:srgbClr val="1B1D21"/>
            </a:solidFill>
            <a:ln>
              <a:noFill/>
            </a:ln>
          </p:spPr>
          <p:txBody>
            <a:bodyPr rtlCol="0" anchor="ctr"/>
            <a:lstStyle/>
            <a:p>
              <a:pPr algn="ctr"/>
              <a:endParaRPr/>
            </a:p>
          </p:txBody>
        </p:sp>
        <p:sp>
          <p:nvSpPr>
            <p:cNvPr id="15" name="Rounded Rectangle 14"/>
            <p:cNvSpPr/>
            <p:nvPr/>
          </p:nvSpPr>
          <p:spPr>
            <a:xfrm>
              <a:off x="3840480" y="2240280"/>
              <a:ext cx="868680" cy="548640"/>
            </a:xfrm>
            <a:prstGeom prst="roundRect">
              <a:avLst>
                <a:gd name="adj" fmla="val 16666"/>
              </a:avLst>
            </a:prstGeom>
            <a:solidFill>
              <a:srgbClr val="4DA3FF"/>
            </a:solidFill>
            <a:ln w="19050">
              <a:solidFill>
                <a:srgbClr val="E8E8E8"/>
              </a:solidFill>
            </a:ln>
          </p:spPr>
          <p:txBody>
            <a:bodyPr rtlCol="0" anchor="ctr"/>
            <a:lstStyle/>
            <a:p>
              <a:pPr algn="ctr"/>
              <a:endParaRPr/>
            </a:p>
          </p:txBody>
        </p:sp>
        <p:sp>
          <p:nvSpPr>
            <p:cNvPr id="16" name="Rectangle 15"/>
            <p:cNvSpPr/>
            <p:nvPr/>
          </p:nvSpPr>
          <p:spPr>
            <a:xfrm>
              <a:off x="3931920" y="2788920"/>
              <a:ext cx="73152" cy="1280160"/>
            </a:xfrm>
            <a:prstGeom prst="rect">
              <a:avLst/>
            </a:prstGeom>
            <a:solidFill>
              <a:srgbClr val="9AA0A6"/>
            </a:solidFill>
            <a:ln>
              <a:noFill/>
            </a:ln>
          </p:spPr>
          <p:txBody>
            <a:bodyPr rtlCol="0" anchor="ctr"/>
            <a:lstStyle/>
            <a:p>
              <a:pPr algn="ctr"/>
              <a:endParaRPr/>
            </a:p>
          </p:txBody>
        </p:sp>
        <p:sp>
          <p:nvSpPr>
            <p:cNvPr id="17" name="Rectangle 16"/>
            <p:cNvSpPr/>
            <p:nvPr/>
          </p:nvSpPr>
          <p:spPr>
            <a:xfrm>
              <a:off x="4526280" y="2788920"/>
              <a:ext cx="73152" cy="1280160"/>
            </a:xfrm>
            <a:prstGeom prst="rect">
              <a:avLst/>
            </a:prstGeom>
            <a:solidFill>
              <a:srgbClr val="9AA0A6"/>
            </a:solidFill>
            <a:ln>
              <a:noFill/>
            </a:ln>
          </p:spPr>
          <p:txBody>
            <a:bodyPr rtlCol="0" anchor="ctr"/>
            <a:lstStyle/>
            <a:p>
              <a:pPr algn="ctr"/>
              <a:endParaRPr/>
            </a:p>
          </p:txBody>
        </p:sp>
        <p:sp>
          <p:nvSpPr>
            <p:cNvPr id="18" name="Rectangle 17"/>
            <p:cNvSpPr/>
            <p:nvPr/>
          </p:nvSpPr>
          <p:spPr>
            <a:xfrm>
              <a:off x="6400800" y="4069080"/>
              <a:ext cx="5074920" cy="91440"/>
            </a:xfrm>
            <a:prstGeom prst="rect">
              <a:avLst/>
            </a:prstGeom>
            <a:solidFill>
              <a:srgbClr val="6B5B4B"/>
            </a:solidFill>
            <a:ln>
              <a:noFill/>
            </a:ln>
          </p:spPr>
          <p:txBody>
            <a:bodyPr rtlCol="0" anchor="ctr"/>
            <a:lstStyle/>
            <a:p>
              <a:pPr algn="ctr"/>
              <a:endParaRPr/>
            </a:p>
          </p:txBody>
        </p:sp>
        <p:cxnSp>
          <p:nvCxnSpPr>
            <p:cNvPr id="19" name="Connector 18"/>
            <p:cNvCxnSpPr/>
            <p:nvPr/>
          </p:nvCxnSpPr>
          <p:spPr>
            <a:xfrm>
              <a:off x="6400800" y="4434840"/>
              <a:ext cx="5074920" cy="0"/>
            </a:xfrm>
            <a:prstGeom prst="line">
              <a:avLst/>
            </a:prstGeom>
            <a:ln w="114300">
              <a:solidFill>
                <a:srgbClr val="6B5B4B"/>
              </a:solidFill>
              <a:prstDash val="sysDash"/>
            </a:ln>
          </p:spPr>
        </p:cxnSp>
        <p:cxnSp>
          <p:nvCxnSpPr>
            <p:cNvPr id="20" name="Connector 19"/>
            <p:cNvCxnSpPr/>
            <p:nvPr/>
          </p:nvCxnSpPr>
          <p:spPr>
            <a:xfrm>
              <a:off x="6400800" y="4393692"/>
              <a:ext cx="5074920" cy="0"/>
            </a:xfrm>
            <a:prstGeom prst="line">
              <a:avLst/>
            </a:prstGeom>
            <a:ln w="25400">
              <a:solidFill>
                <a:srgbClr val="9AA0A6"/>
              </a:solidFill>
            </a:ln>
          </p:spPr>
        </p:cxnSp>
        <p:cxnSp>
          <p:nvCxnSpPr>
            <p:cNvPr id="21" name="Connector 20"/>
            <p:cNvCxnSpPr/>
            <p:nvPr/>
          </p:nvCxnSpPr>
          <p:spPr>
            <a:xfrm>
              <a:off x="6400800" y="4475988"/>
              <a:ext cx="5074920" cy="0"/>
            </a:xfrm>
            <a:prstGeom prst="line">
              <a:avLst/>
            </a:prstGeom>
            <a:ln w="25400">
              <a:solidFill>
                <a:srgbClr val="9AA0A6"/>
              </a:solidFill>
            </a:ln>
          </p:spPr>
        </p:cxnSp>
        <p:cxnSp>
          <p:nvCxnSpPr>
            <p:cNvPr id="22" name="Connector 21"/>
            <p:cNvCxnSpPr/>
            <p:nvPr/>
          </p:nvCxnSpPr>
          <p:spPr>
            <a:xfrm>
              <a:off x="6400800" y="4663440"/>
              <a:ext cx="5074920" cy="0"/>
            </a:xfrm>
            <a:prstGeom prst="line">
              <a:avLst/>
            </a:prstGeom>
            <a:ln w="114300">
              <a:solidFill>
                <a:srgbClr val="6B5B4B"/>
              </a:solidFill>
              <a:prstDash val="sysDash"/>
            </a:ln>
          </p:spPr>
        </p:cxnSp>
        <p:cxnSp>
          <p:nvCxnSpPr>
            <p:cNvPr id="23" name="Connector 22"/>
            <p:cNvCxnSpPr/>
            <p:nvPr/>
          </p:nvCxnSpPr>
          <p:spPr>
            <a:xfrm>
              <a:off x="6400800" y="4622292"/>
              <a:ext cx="5074920" cy="0"/>
            </a:xfrm>
            <a:prstGeom prst="line">
              <a:avLst/>
            </a:prstGeom>
            <a:ln w="25400">
              <a:solidFill>
                <a:srgbClr val="9AA0A6"/>
              </a:solidFill>
            </a:ln>
          </p:spPr>
        </p:cxnSp>
        <p:cxnSp>
          <p:nvCxnSpPr>
            <p:cNvPr id="24" name="Connector 23"/>
            <p:cNvCxnSpPr/>
            <p:nvPr/>
          </p:nvCxnSpPr>
          <p:spPr>
            <a:xfrm>
              <a:off x="6400800" y="4704588"/>
              <a:ext cx="5074920" cy="0"/>
            </a:xfrm>
            <a:prstGeom prst="line">
              <a:avLst/>
            </a:prstGeom>
            <a:ln w="25400">
              <a:solidFill>
                <a:srgbClr val="9AA0A6"/>
              </a:solidFill>
            </a:ln>
          </p:spPr>
        </p:cxnSp>
        <p:sp>
          <p:nvSpPr>
            <p:cNvPr id="25" name="Rectangle 24"/>
            <p:cNvSpPr/>
            <p:nvPr/>
          </p:nvSpPr>
          <p:spPr>
            <a:xfrm>
              <a:off x="6629400" y="3566160"/>
              <a:ext cx="3657600" cy="228600"/>
            </a:xfrm>
            <a:prstGeom prst="rect">
              <a:avLst/>
            </a:prstGeom>
            <a:solidFill>
              <a:srgbClr val="343A43"/>
            </a:solidFill>
            <a:ln w="12700">
              <a:solidFill>
                <a:srgbClr val="9AA0A6"/>
              </a:solidFill>
            </a:ln>
          </p:spPr>
          <p:txBody>
            <a:bodyPr rtlCol="0" anchor="ctr"/>
            <a:lstStyle/>
            <a:p>
              <a:pPr algn="ctr"/>
              <a:endParaRPr/>
            </a:p>
          </p:txBody>
        </p:sp>
        <p:sp>
          <p:nvSpPr>
            <p:cNvPr id="26" name="Rectangle 25"/>
            <p:cNvSpPr/>
            <p:nvPr/>
          </p:nvSpPr>
          <p:spPr>
            <a:xfrm>
              <a:off x="6766560" y="2514600"/>
              <a:ext cx="2468880" cy="1051560"/>
            </a:xfrm>
            <a:prstGeom prst="rect">
              <a:avLst/>
            </a:prstGeom>
            <a:solidFill>
              <a:srgbClr val="343A43"/>
            </a:solidFill>
            <a:ln w="19050">
              <a:solidFill>
                <a:srgbClr val="9AA0A6"/>
              </a:solidFill>
            </a:ln>
          </p:spPr>
          <p:txBody>
            <a:bodyPr rtlCol="0" anchor="ctr"/>
            <a:lstStyle/>
            <a:p>
              <a:pPr algn="ctr"/>
              <a:endParaRPr/>
            </a:p>
          </p:txBody>
        </p:sp>
        <p:sp>
          <p:nvSpPr>
            <p:cNvPr id="27" name="Isosceles Triangle 26"/>
            <p:cNvSpPr/>
            <p:nvPr/>
          </p:nvSpPr>
          <p:spPr>
            <a:xfrm>
              <a:off x="6675120" y="1920240"/>
              <a:ext cx="2651760" cy="594360"/>
            </a:xfrm>
            <a:prstGeom prst="triangle">
              <a:avLst/>
            </a:prstGeom>
            <a:solidFill>
              <a:srgbClr val="6B5B4B"/>
            </a:solidFill>
            <a:ln>
              <a:noFill/>
            </a:ln>
          </p:spPr>
          <p:txBody>
            <a:bodyPr rtlCol="0" anchor="ctr"/>
            <a:lstStyle/>
            <a:p>
              <a:pPr algn="ctr"/>
              <a:endParaRPr/>
            </a:p>
          </p:txBody>
        </p:sp>
        <p:sp>
          <p:nvSpPr>
            <p:cNvPr id="28" name="Rectangle 27"/>
            <p:cNvSpPr/>
            <p:nvPr/>
          </p:nvSpPr>
          <p:spPr>
            <a:xfrm>
              <a:off x="7040880" y="2834640"/>
              <a:ext cx="320040" cy="457200"/>
            </a:xfrm>
            <a:prstGeom prst="rect">
              <a:avLst/>
            </a:prstGeom>
            <a:solidFill>
              <a:srgbClr val="1B1D21"/>
            </a:solidFill>
            <a:ln>
              <a:noFill/>
            </a:ln>
          </p:spPr>
          <p:txBody>
            <a:bodyPr rtlCol="0" anchor="ctr"/>
            <a:lstStyle/>
            <a:p>
              <a:pPr algn="ctr"/>
              <a:endParaRPr/>
            </a:p>
          </p:txBody>
        </p:sp>
        <p:sp>
          <p:nvSpPr>
            <p:cNvPr id="29" name="Rectangle 28"/>
            <p:cNvSpPr/>
            <p:nvPr/>
          </p:nvSpPr>
          <p:spPr>
            <a:xfrm>
              <a:off x="7680960" y="2834640"/>
              <a:ext cx="320040" cy="457200"/>
            </a:xfrm>
            <a:prstGeom prst="rect">
              <a:avLst/>
            </a:prstGeom>
            <a:solidFill>
              <a:srgbClr val="1B1D21"/>
            </a:solidFill>
            <a:ln>
              <a:noFill/>
            </a:ln>
          </p:spPr>
          <p:txBody>
            <a:bodyPr rtlCol="0" anchor="ctr"/>
            <a:lstStyle/>
            <a:p>
              <a:pPr algn="ctr"/>
              <a:endParaRPr/>
            </a:p>
          </p:txBody>
        </p:sp>
        <p:sp>
          <p:nvSpPr>
            <p:cNvPr id="30" name="Rectangle 29"/>
            <p:cNvSpPr/>
            <p:nvPr/>
          </p:nvSpPr>
          <p:spPr>
            <a:xfrm>
              <a:off x="8321040" y="2834640"/>
              <a:ext cx="320040" cy="457200"/>
            </a:xfrm>
            <a:prstGeom prst="rect">
              <a:avLst/>
            </a:prstGeom>
            <a:solidFill>
              <a:srgbClr val="1B1D21"/>
            </a:solidFill>
            <a:ln>
              <a:noFill/>
            </a:ln>
          </p:spPr>
          <p:txBody>
            <a:bodyPr rtlCol="0" anchor="ctr"/>
            <a:lstStyle/>
            <a:p>
              <a:pPr algn="ctr"/>
              <a:endParaRPr/>
            </a:p>
          </p:txBody>
        </p:sp>
        <p:sp>
          <p:nvSpPr>
            <p:cNvPr id="31" name="Rectangle 30"/>
            <p:cNvSpPr/>
            <p:nvPr/>
          </p:nvSpPr>
          <p:spPr>
            <a:xfrm>
              <a:off x="9418320" y="2560320"/>
              <a:ext cx="868680" cy="1005840"/>
            </a:xfrm>
            <a:prstGeom prst="rect">
              <a:avLst/>
            </a:prstGeom>
            <a:solidFill>
              <a:srgbClr val="343A43"/>
            </a:solidFill>
            <a:ln w="19050">
              <a:solidFill>
                <a:srgbClr val="9AA0A6"/>
              </a:solidFill>
            </a:ln>
          </p:spPr>
          <p:txBody>
            <a:bodyPr rtlCol="0" anchor="ctr"/>
            <a:lstStyle/>
            <a:p>
              <a:pPr algn="ctr"/>
              <a:endParaRPr/>
            </a:p>
          </p:txBody>
        </p:sp>
        <p:sp>
          <p:nvSpPr>
            <p:cNvPr id="32" name="Isosceles Triangle 31"/>
            <p:cNvSpPr/>
            <p:nvPr/>
          </p:nvSpPr>
          <p:spPr>
            <a:xfrm>
              <a:off x="9326880" y="2240280"/>
              <a:ext cx="1051560" cy="320040"/>
            </a:xfrm>
            <a:prstGeom prst="triangle">
              <a:avLst/>
            </a:prstGeom>
            <a:solidFill>
              <a:srgbClr val="6B5B4B"/>
            </a:solidFill>
            <a:ln>
              <a:noFill/>
            </a:ln>
          </p:spPr>
          <p:txBody>
            <a:bodyPr rtlCol="0" anchor="ctr"/>
            <a:lstStyle/>
            <a:p>
              <a:pPr algn="ctr"/>
              <a:endParaRPr/>
            </a:p>
          </p:txBody>
        </p:sp>
        <p:sp>
          <p:nvSpPr>
            <p:cNvPr id="33" name="Rounded Rectangle 32"/>
            <p:cNvSpPr/>
            <p:nvPr/>
          </p:nvSpPr>
          <p:spPr>
            <a:xfrm>
              <a:off x="10561320" y="1828800"/>
              <a:ext cx="914400" cy="777240"/>
            </a:xfrm>
            <a:prstGeom prst="roundRect">
              <a:avLst>
                <a:gd name="adj" fmla="val 11764"/>
              </a:avLst>
            </a:prstGeom>
            <a:solidFill>
              <a:srgbClr val="4DA3FF"/>
            </a:solidFill>
            <a:ln w="19050">
              <a:solidFill>
                <a:srgbClr val="E8E8E8"/>
              </a:solidFill>
            </a:ln>
          </p:spPr>
          <p:txBody>
            <a:bodyPr rtlCol="0" anchor="ctr"/>
            <a:lstStyle/>
            <a:p>
              <a:pPr algn="ctr"/>
              <a:endParaRPr/>
            </a:p>
          </p:txBody>
        </p:sp>
        <p:sp>
          <p:nvSpPr>
            <p:cNvPr id="34" name="Rectangle 33"/>
            <p:cNvSpPr/>
            <p:nvPr/>
          </p:nvSpPr>
          <p:spPr>
            <a:xfrm>
              <a:off x="10625328" y="2606040"/>
              <a:ext cx="73152" cy="1463040"/>
            </a:xfrm>
            <a:prstGeom prst="rect">
              <a:avLst/>
            </a:prstGeom>
            <a:solidFill>
              <a:srgbClr val="9AA0A6"/>
            </a:solidFill>
            <a:ln>
              <a:noFill/>
            </a:ln>
          </p:spPr>
          <p:txBody>
            <a:bodyPr rtlCol="0" anchor="ctr"/>
            <a:lstStyle/>
            <a:p>
              <a:pPr algn="ctr"/>
              <a:endParaRPr/>
            </a:p>
          </p:txBody>
        </p:sp>
        <p:sp>
          <p:nvSpPr>
            <p:cNvPr id="35" name="Rectangle 34"/>
            <p:cNvSpPr/>
            <p:nvPr/>
          </p:nvSpPr>
          <p:spPr>
            <a:xfrm>
              <a:off x="11320272" y="2606040"/>
              <a:ext cx="73152" cy="1463040"/>
            </a:xfrm>
            <a:prstGeom prst="rect">
              <a:avLst/>
            </a:prstGeom>
            <a:solidFill>
              <a:srgbClr val="9AA0A6"/>
            </a:solidFill>
            <a:ln>
              <a:noFill/>
            </a:ln>
          </p:spPr>
          <p:txBody>
            <a:bodyPr rtlCol="0" anchor="ctr"/>
            <a:lstStyle/>
            <a:p>
              <a:pPr algn="ctr"/>
              <a:endParaRPr/>
            </a:p>
          </p:txBody>
        </p:sp>
        <p:sp>
          <p:nvSpPr>
            <p:cNvPr id="36" name="Rounded Rectangle 35"/>
            <p:cNvSpPr/>
            <p:nvPr/>
          </p:nvSpPr>
          <p:spPr>
            <a:xfrm>
              <a:off x="6199632" y="1325880"/>
              <a:ext cx="5440680" cy="4251960"/>
            </a:xfrm>
            <a:prstGeom prst="roundRect">
              <a:avLst>
                <a:gd name="adj" fmla="val 1720"/>
              </a:avLst>
            </a:prstGeom>
            <a:solidFill>
              <a:srgbClr val="1E2126">
                <a:alpha val="62000"/>
              </a:srgbClr>
            </a:solidFill>
            <a:ln>
              <a:noFill/>
            </a:ln>
          </p:spPr>
          <p:txBody>
            <a:bodyPr rtlCol="0" anchor="ctr"/>
            <a:lstStyle/>
            <a:p>
              <a:pPr algn="ctr"/>
              <a:endParaRPr/>
            </a:p>
          </p:txBody>
        </p:sp>
        <p:sp>
          <p:nvSpPr>
            <p:cNvPr id="37" name="Rounded Rectangle 36"/>
            <p:cNvSpPr/>
            <p:nvPr/>
          </p:nvSpPr>
          <p:spPr>
            <a:xfrm>
              <a:off x="8626221" y="2502713"/>
              <a:ext cx="578358" cy="841248"/>
            </a:xfrm>
            <a:prstGeom prst="roundRect">
              <a:avLst>
                <a:gd name="adj" fmla="val 50000"/>
              </a:avLst>
            </a:prstGeom>
            <a:noFill/>
            <a:ln w="88900">
              <a:solidFill>
                <a:srgbClr val="9AA0A6"/>
              </a:solidFill>
            </a:ln>
          </p:spPr>
          <p:txBody>
            <a:bodyPr rtlCol="0" anchor="ctr"/>
            <a:lstStyle/>
            <a:p>
              <a:pPr algn="ctr"/>
              <a:endParaRPr/>
            </a:p>
          </p:txBody>
        </p:sp>
        <p:sp>
          <p:nvSpPr>
            <p:cNvPr id="38" name="Rounded Rectangle 37"/>
            <p:cNvSpPr/>
            <p:nvPr/>
          </p:nvSpPr>
          <p:spPr>
            <a:xfrm>
              <a:off x="8389620" y="3070555"/>
              <a:ext cx="1051560" cy="757123"/>
            </a:xfrm>
            <a:prstGeom prst="roundRect">
              <a:avLst>
                <a:gd name="adj" fmla="val 13888"/>
              </a:avLst>
            </a:prstGeom>
            <a:solidFill>
              <a:srgbClr val="F2C14E"/>
            </a:solidFill>
            <a:ln w="25400">
              <a:solidFill>
                <a:srgbClr val="101418"/>
              </a:solidFill>
            </a:ln>
          </p:spPr>
          <p:txBody>
            <a:bodyPr rtlCol="0" anchor="ctr"/>
            <a:lstStyle/>
            <a:p>
              <a:pPr algn="ctr"/>
              <a:endParaRPr/>
            </a:p>
          </p:txBody>
        </p:sp>
        <p:sp>
          <p:nvSpPr>
            <p:cNvPr id="39" name="Oval 38"/>
            <p:cNvSpPr/>
            <p:nvPr/>
          </p:nvSpPr>
          <p:spPr>
            <a:xfrm>
              <a:off x="8831275" y="3280867"/>
              <a:ext cx="168250" cy="168250"/>
            </a:xfrm>
            <a:prstGeom prst="ellipse">
              <a:avLst/>
            </a:prstGeom>
            <a:solidFill>
              <a:srgbClr val="101418"/>
            </a:solidFill>
            <a:ln>
              <a:noFill/>
            </a:ln>
          </p:spPr>
          <p:txBody>
            <a:bodyPr rtlCol="0" anchor="ctr"/>
            <a:lstStyle/>
            <a:p>
              <a:pPr algn="ctr"/>
              <a:endParaRPr/>
            </a:p>
          </p:txBody>
        </p:sp>
        <p:sp>
          <p:nvSpPr>
            <p:cNvPr id="40" name="Rectangle 39"/>
            <p:cNvSpPr/>
            <p:nvPr/>
          </p:nvSpPr>
          <p:spPr>
            <a:xfrm>
              <a:off x="8878595" y="3386023"/>
              <a:ext cx="73609" cy="210312"/>
            </a:xfrm>
            <a:prstGeom prst="rect">
              <a:avLst/>
            </a:prstGeom>
            <a:solidFill>
              <a:srgbClr val="101418"/>
            </a:solidFill>
            <a:ln>
              <a:noFill/>
            </a:ln>
          </p:spPr>
          <p:txBody>
            <a:bodyPr rtlCol="0" anchor="ctr"/>
            <a:lstStyle/>
            <a:p>
              <a:pPr algn="ctr"/>
              <a:endParaRPr/>
            </a:p>
          </p:txBody>
        </p:sp>
        <p:sp>
          <p:nvSpPr>
            <p:cNvPr id="41" name="Rounded Rectangle 40"/>
            <p:cNvSpPr/>
            <p:nvPr/>
          </p:nvSpPr>
          <p:spPr>
            <a:xfrm>
              <a:off x="7726680" y="4892040"/>
              <a:ext cx="2377440" cy="457200"/>
            </a:xfrm>
            <a:prstGeom prst="roundRect">
              <a:avLst>
                <a:gd name="adj" fmla="val 50000"/>
              </a:avLst>
            </a:prstGeom>
            <a:solidFill>
              <a:srgbClr val="2B2F36"/>
            </a:solidFill>
            <a:ln w="25400">
              <a:solidFill>
                <a:srgbClr val="F2C14E"/>
              </a:solidFill>
            </a:ln>
          </p:spPr>
          <p:txBody>
            <a:bodyPr wrap="square" lIns="73152" tIns="27432" rIns="73152" bIns="27432" rtlCol="0" anchor="ctr">
              <a:noAutofit/>
            </a:bodyPr>
            <a:lstStyle/>
            <a:p>
              <a:pPr algn="ctr">
                <a:spcBef>
                  <a:spcPts val="0"/>
                </a:spcBef>
                <a:spcAft>
                  <a:spcPts val="0"/>
                </a:spcAft>
              </a:pPr>
              <a:r>
                <a:rPr lang="en-GB" sz="1800" b="1" i="0">
                  <a:solidFill>
                    <a:srgbClr val="F2F2F2"/>
                  </a:solidFill>
                  <a:latin typeface="Arial"/>
                </a:rPr>
                <a:t>Needs a pack</a:t>
              </a:r>
            </a:p>
          </p:txBody>
        </p:sp>
        <p:sp>
          <p:nvSpPr>
            <p:cNvPr id="42" name="TextBox 41"/>
            <p:cNvSpPr txBox="1"/>
            <p:nvPr/>
          </p:nvSpPr>
          <p:spPr>
            <a:xfrm>
              <a:off x="777240" y="1417320"/>
              <a:ext cx="4937760" cy="41148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Core: basic buildings</a:t>
              </a:r>
            </a:p>
          </p:txBody>
        </p:sp>
        <p:sp>
          <p:nvSpPr>
            <p:cNvPr id="43" name="TextBox 42"/>
            <p:cNvSpPr txBox="1"/>
            <p:nvPr/>
          </p:nvSpPr>
          <p:spPr>
            <a:xfrm>
              <a:off x="6428232" y="1417320"/>
              <a:ext cx="4937760" cy="41148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8C28"/>
                  </a:solidFill>
                  <a:latin typeface="Arial"/>
                </a:rPr>
                <a:t>Pack: advanced buildings</a:t>
              </a:r>
            </a:p>
          </p:txBody>
        </p:sp>
      </p:grpSp>
      <p:sp>
        <p:nvSpPr>
          <p:cNvPr id="44"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Advanced steam buildings come only with packs. They are for people who keep steam on purpose.</a:t>
            </a:r>
          </a:p>
        </p:txBody>
      </p:sp>
      <p:sp>
        <p:nvSpPr>
          <p:cNvPr id="45"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46"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5</a:t>
            </a:r>
          </a:p>
        </p:txBody>
      </p:sp>
    </p:spTree>
    <p:extLst>
      <p:ext uri="{BB962C8B-B14F-4D97-AF65-F5344CB8AC3E}">
        <p14:creationId xmlns:p14="http://schemas.microsoft.com/office/powerpoint/2010/main" val="31673385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par>
                                <p:cTn id="11" presetID="10" presetClass="entr" presetSubtype="0" fill="hold" nodeType="withEffect">
                                  <p:stCondLst>
                                    <p:cond delay="60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Bigger buildings</a:t>
            </a:r>
          </a:p>
        </p:txBody>
      </p:sp>
      <p:sp>
        <p:nvSpPr>
          <p:cNvPr id="3" name="Status chip"/>
          <p:cNvSpPr/>
          <p:nvPr/>
        </p:nvSpPr>
        <p:spPr>
          <a:xfrm>
            <a:off x="10131552" y="457200"/>
            <a:ext cx="1481328" cy="365760"/>
          </a:xfrm>
          <a:prstGeom prst="roundRect">
            <a:avLst>
              <a:gd name="adj" fmla="val 30000"/>
            </a:avLst>
          </a:prstGeom>
          <a:solidFill>
            <a:srgbClr val="B084F5"/>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PROPOSED</a:t>
            </a:r>
          </a:p>
        </p:txBody>
      </p:sp>
      <p:grpSp>
        <p:nvGrpSpPr>
          <p:cNvPr id="4" name="Diagram: a smaller and a bigger terminal" descr="Top-down plans of a smaller terminal with one platform and a bigger terminal with extra platforms and a larger service yard."/>
          <p:cNvGrpSpPr/>
          <p:nvPr/>
        </p:nvGrpSpPr>
        <p:grpSpPr>
          <a:xfrm>
            <a:off x="548640" y="1325880"/>
            <a:ext cx="11091672" cy="3749040"/>
            <a:chOff x="548640" y="1325880"/>
            <a:chExt cx="11091672" cy="3749040"/>
          </a:xfrm>
        </p:grpSpPr>
        <p:sp>
          <p:nvSpPr>
            <p:cNvPr id="5" name="Rounded Rectangle 4"/>
            <p:cNvSpPr/>
            <p:nvPr/>
          </p:nvSpPr>
          <p:spPr>
            <a:xfrm>
              <a:off x="548640" y="1325880"/>
              <a:ext cx="3931920" cy="3749040"/>
            </a:xfrm>
            <a:prstGeom prst="roundRect">
              <a:avLst>
                <a:gd name="adj" fmla="val 1951"/>
              </a:avLst>
            </a:prstGeom>
            <a:solidFill>
              <a:srgbClr val="2B2F36"/>
            </a:solidFill>
            <a:ln>
              <a:noFill/>
            </a:ln>
          </p:spPr>
          <p:txBody>
            <a:bodyPr rtlCol="0" anchor="ctr"/>
            <a:lstStyle/>
            <a:p>
              <a:pPr algn="ctr"/>
              <a:endParaRPr/>
            </a:p>
          </p:txBody>
        </p:sp>
        <p:sp>
          <p:nvSpPr>
            <p:cNvPr id="6" name="Rounded Rectangle 5"/>
            <p:cNvSpPr/>
            <p:nvPr/>
          </p:nvSpPr>
          <p:spPr>
            <a:xfrm>
              <a:off x="4663440" y="1325880"/>
              <a:ext cx="6976872" cy="3749040"/>
            </a:xfrm>
            <a:prstGeom prst="roundRect">
              <a:avLst>
                <a:gd name="adj" fmla="val 1951"/>
              </a:avLst>
            </a:prstGeom>
            <a:solidFill>
              <a:srgbClr val="2B2F36"/>
            </a:solidFill>
            <a:ln>
              <a:noFill/>
            </a:ln>
          </p:spPr>
          <p:txBody>
            <a:bodyPr rtlCol="0" anchor="ctr"/>
            <a:lstStyle/>
            <a:p>
              <a:pPr algn="ctr"/>
              <a:endParaRPr/>
            </a:p>
          </p:txBody>
        </p:sp>
        <p:sp>
          <p:nvSpPr>
            <p:cNvPr id="7" name="TextBox 6"/>
            <p:cNvSpPr txBox="1"/>
            <p:nvPr/>
          </p:nvSpPr>
          <p:spPr>
            <a:xfrm>
              <a:off x="777240" y="1417320"/>
              <a:ext cx="3474720" cy="365760"/>
            </a:xfrm>
            <a:prstGeom prst="rect">
              <a:avLst/>
            </a:prstGeom>
            <a:noFill/>
          </p:spPr>
          <p:txBody>
            <a:bodyPr wrap="square" lIns="0" tIns="0" rIns="0" bIns="0" anchor="ctr">
              <a:noAutofit/>
            </a:bodyPr>
            <a:lstStyle/>
            <a:p>
              <a:pPr algn="l">
                <a:spcBef>
                  <a:spcPts val="0"/>
                </a:spcBef>
                <a:spcAft>
                  <a:spcPts val="0"/>
                </a:spcAft>
              </a:pPr>
              <a:r>
                <a:rPr lang="en-GB" sz="1800" b="1" i="0">
                  <a:solidFill>
                    <a:srgbClr val="F2F2F2"/>
                  </a:solidFill>
                  <a:latin typeface="Arial"/>
                </a:rPr>
                <a:t>Smaller terminal</a:t>
              </a:r>
            </a:p>
          </p:txBody>
        </p:sp>
        <p:sp>
          <p:nvSpPr>
            <p:cNvPr id="8" name="TextBox 7"/>
            <p:cNvSpPr txBox="1"/>
            <p:nvPr/>
          </p:nvSpPr>
          <p:spPr>
            <a:xfrm>
              <a:off x="4892040" y="1417320"/>
              <a:ext cx="4389120" cy="365760"/>
            </a:xfrm>
            <a:prstGeom prst="rect">
              <a:avLst/>
            </a:prstGeom>
            <a:noFill/>
          </p:spPr>
          <p:txBody>
            <a:bodyPr wrap="square" lIns="0" tIns="0" rIns="0" bIns="0" anchor="ctr">
              <a:noAutofit/>
            </a:bodyPr>
            <a:lstStyle/>
            <a:p>
              <a:pPr algn="l">
                <a:spcBef>
                  <a:spcPts val="0"/>
                </a:spcBef>
                <a:spcAft>
                  <a:spcPts val="0"/>
                </a:spcAft>
              </a:pPr>
              <a:r>
                <a:rPr lang="en-GB" sz="1800" b="1" i="0">
                  <a:solidFill>
                    <a:srgbClr val="F28C28"/>
                  </a:solidFill>
                  <a:latin typeface="Arial"/>
                </a:rPr>
                <a:t>Bigger terminal</a:t>
              </a:r>
            </a:p>
          </p:txBody>
        </p:sp>
        <p:cxnSp>
          <p:nvCxnSpPr>
            <p:cNvPr id="9" name="Connector 8"/>
            <p:cNvCxnSpPr/>
            <p:nvPr/>
          </p:nvCxnSpPr>
          <p:spPr>
            <a:xfrm>
              <a:off x="731520" y="2743200"/>
              <a:ext cx="3566160" cy="0"/>
            </a:xfrm>
            <a:prstGeom prst="line">
              <a:avLst/>
            </a:prstGeom>
            <a:ln w="114300">
              <a:solidFill>
                <a:srgbClr val="6B5B4B"/>
              </a:solidFill>
              <a:prstDash val="sysDash"/>
            </a:ln>
          </p:spPr>
        </p:cxnSp>
        <p:cxnSp>
          <p:nvCxnSpPr>
            <p:cNvPr id="10" name="Connector 9"/>
            <p:cNvCxnSpPr/>
            <p:nvPr/>
          </p:nvCxnSpPr>
          <p:spPr>
            <a:xfrm>
              <a:off x="731520" y="2702052"/>
              <a:ext cx="3566160" cy="0"/>
            </a:xfrm>
            <a:prstGeom prst="line">
              <a:avLst/>
            </a:prstGeom>
            <a:ln w="25400">
              <a:solidFill>
                <a:srgbClr val="9AA0A6"/>
              </a:solidFill>
            </a:ln>
          </p:spPr>
        </p:cxnSp>
        <p:cxnSp>
          <p:nvCxnSpPr>
            <p:cNvPr id="11" name="Connector 10"/>
            <p:cNvCxnSpPr/>
            <p:nvPr/>
          </p:nvCxnSpPr>
          <p:spPr>
            <a:xfrm>
              <a:off x="731520" y="2784348"/>
              <a:ext cx="3566160" cy="0"/>
            </a:xfrm>
            <a:prstGeom prst="line">
              <a:avLst/>
            </a:prstGeom>
            <a:ln w="25400">
              <a:solidFill>
                <a:srgbClr val="9AA0A6"/>
              </a:solidFill>
            </a:ln>
          </p:spPr>
        </p:cxnSp>
        <p:cxnSp>
          <p:nvCxnSpPr>
            <p:cNvPr id="12" name="Connector 11"/>
            <p:cNvCxnSpPr/>
            <p:nvPr/>
          </p:nvCxnSpPr>
          <p:spPr>
            <a:xfrm>
              <a:off x="731520" y="3200400"/>
              <a:ext cx="3566160" cy="0"/>
            </a:xfrm>
            <a:prstGeom prst="line">
              <a:avLst/>
            </a:prstGeom>
            <a:ln w="114300">
              <a:solidFill>
                <a:srgbClr val="6B5B4B"/>
              </a:solidFill>
              <a:prstDash val="sysDash"/>
            </a:ln>
          </p:spPr>
        </p:cxnSp>
        <p:cxnSp>
          <p:nvCxnSpPr>
            <p:cNvPr id="13" name="Connector 12"/>
            <p:cNvCxnSpPr/>
            <p:nvPr/>
          </p:nvCxnSpPr>
          <p:spPr>
            <a:xfrm>
              <a:off x="731520" y="3159252"/>
              <a:ext cx="3566160" cy="0"/>
            </a:xfrm>
            <a:prstGeom prst="line">
              <a:avLst/>
            </a:prstGeom>
            <a:ln w="25400">
              <a:solidFill>
                <a:srgbClr val="9AA0A6"/>
              </a:solidFill>
            </a:ln>
          </p:spPr>
        </p:cxnSp>
        <p:cxnSp>
          <p:nvCxnSpPr>
            <p:cNvPr id="14" name="Connector 13"/>
            <p:cNvCxnSpPr/>
            <p:nvPr/>
          </p:nvCxnSpPr>
          <p:spPr>
            <a:xfrm>
              <a:off x="731520" y="3241548"/>
              <a:ext cx="3566160" cy="0"/>
            </a:xfrm>
            <a:prstGeom prst="line">
              <a:avLst/>
            </a:prstGeom>
            <a:ln w="25400">
              <a:solidFill>
                <a:srgbClr val="9AA0A6"/>
              </a:solidFill>
            </a:ln>
          </p:spPr>
        </p:cxnSp>
        <p:sp>
          <p:nvSpPr>
            <p:cNvPr id="15" name="Rectangle 14"/>
            <p:cNvSpPr/>
            <p:nvPr/>
          </p:nvSpPr>
          <p:spPr>
            <a:xfrm>
              <a:off x="1371600" y="2871216"/>
              <a:ext cx="2560320" cy="201168"/>
            </a:xfrm>
            <a:prstGeom prst="rect">
              <a:avLst/>
            </a:prstGeom>
            <a:solidFill>
              <a:srgbClr val="343A43"/>
            </a:solidFill>
            <a:ln w="12700">
              <a:solidFill>
                <a:srgbClr val="9AA0A6"/>
              </a:solidFill>
            </a:ln>
          </p:spPr>
          <p:txBody>
            <a:bodyPr rtlCol="0" anchor="ctr"/>
            <a:lstStyle/>
            <a:p>
              <a:pPr algn="ctr"/>
              <a:endParaRPr/>
            </a:p>
          </p:txBody>
        </p:sp>
        <p:sp>
          <p:nvSpPr>
            <p:cNvPr id="16" name="Rounded Rectangle 15"/>
            <p:cNvSpPr/>
            <p:nvPr/>
          </p:nvSpPr>
          <p:spPr>
            <a:xfrm>
              <a:off x="1463040" y="308152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17" name="Oval 16"/>
            <p:cNvSpPr/>
            <p:nvPr/>
          </p:nvSpPr>
          <p:spPr>
            <a:xfrm>
              <a:off x="1540764" y="3159252"/>
              <a:ext cx="82296" cy="82296"/>
            </a:xfrm>
            <a:prstGeom prst="ellipse">
              <a:avLst/>
            </a:prstGeom>
            <a:solidFill>
              <a:srgbClr val="1B1D21"/>
            </a:solidFill>
            <a:ln>
              <a:noFill/>
            </a:ln>
          </p:spPr>
          <p:txBody>
            <a:bodyPr rtlCol="0" anchor="ctr"/>
            <a:lstStyle/>
            <a:p>
              <a:pPr algn="ctr"/>
              <a:endParaRPr/>
            </a:p>
          </p:txBody>
        </p:sp>
        <p:sp>
          <p:nvSpPr>
            <p:cNvPr id="18" name="Rectangle 17"/>
            <p:cNvSpPr/>
            <p:nvPr/>
          </p:nvSpPr>
          <p:spPr>
            <a:xfrm>
              <a:off x="1916582" y="3105302"/>
              <a:ext cx="219456" cy="190195"/>
            </a:xfrm>
            <a:prstGeom prst="rect">
              <a:avLst/>
            </a:prstGeom>
            <a:solidFill>
              <a:srgbClr val="1B1D21"/>
            </a:solidFill>
            <a:ln>
              <a:noFill/>
            </a:ln>
          </p:spPr>
          <p:txBody>
            <a:bodyPr rtlCol="0" anchor="ctr"/>
            <a:lstStyle/>
            <a:p>
              <a:pPr algn="ctr"/>
              <a:endParaRPr/>
            </a:p>
          </p:txBody>
        </p:sp>
        <p:sp>
          <p:nvSpPr>
            <p:cNvPr id="19" name="Rectangle 18"/>
            <p:cNvSpPr/>
            <p:nvPr/>
          </p:nvSpPr>
          <p:spPr>
            <a:xfrm>
              <a:off x="2240280" y="3090672"/>
              <a:ext cx="502920" cy="219456"/>
            </a:xfrm>
            <a:prstGeom prst="rect">
              <a:avLst/>
            </a:prstGeom>
            <a:solidFill>
              <a:srgbClr val="6C7480"/>
            </a:solidFill>
            <a:ln w="12700">
              <a:solidFill>
                <a:srgbClr val="1B1D21"/>
              </a:solidFill>
            </a:ln>
          </p:spPr>
          <p:txBody>
            <a:bodyPr rtlCol="0" anchor="ctr"/>
            <a:lstStyle/>
            <a:p>
              <a:pPr algn="ctr"/>
              <a:endParaRPr/>
            </a:p>
          </p:txBody>
        </p:sp>
        <p:sp>
          <p:nvSpPr>
            <p:cNvPr id="20" name="Rounded Rectangle 19"/>
            <p:cNvSpPr/>
            <p:nvPr/>
          </p:nvSpPr>
          <p:spPr>
            <a:xfrm>
              <a:off x="731520" y="3840480"/>
              <a:ext cx="3566160" cy="1005840"/>
            </a:xfrm>
            <a:prstGeom prst="roundRect">
              <a:avLst>
                <a:gd name="adj" fmla="val 9090"/>
              </a:avLst>
            </a:prstGeom>
            <a:noFill/>
            <a:ln w="19050">
              <a:solidFill>
                <a:srgbClr val="9AA0A6"/>
              </a:solidFill>
              <a:prstDash val="dash"/>
            </a:ln>
          </p:spPr>
          <p:txBody>
            <a:bodyPr rtlCol="0" anchor="ctr"/>
            <a:lstStyle/>
            <a:p>
              <a:pPr algn="ctr"/>
              <a:endParaRPr/>
            </a:p>
          </p:txBody>
        </p:sp>
        <p:cxnSp>
          <p:nvCxnSpPr>
            <p:cNvPr id="21" name="Connector 20"/>
            <p:cNvCxnSpPr/>
            <p:nvPr/>
          </p:nvCxnSpPr>
          <p:spPr>
            <a:xfrm>
              <a:off x="868680" y="4206240"/>
              <a:ext cx="2423160" cy="0"/>
            </a:xfrm>
            <a:prstGeom prst="line">
              <a:avLst/>
            </a:prstGeom>
            <a:ln w="114300">
              <a:solidFill>
                <a:srgbClr val="6B5B4B"/>
              </a:solidFill>
              <a:prstDash val="sysDash"/>
            </a:ln>
          </p:spPr>
        </p:cxnSp>
        <p:cxnSp>
          <p:nvCxnSpPr>
            <p:cNvPr id="22" name="Connector 21"/>
            <p:cNvCxnSpPr/>
            <p:nvPr/>
          </p:nvCxnSpPr>
          <p:spPr>
            <a:xfrm>
              <a:off x="868680" y="4165092"/>
              <a:ext cx="2423160" cy="0"/>
            </a:xfrm>
            <a:prstGeom prst="line">
              <a:avLst/>
            </a:prstGeom>
            <a:ln w="25400">
              <a:solidFill>
                <a:srgbClr val="9AA0A6"/>
              </a:solidFill>
            </a:ln>
          </p:spPr>
        </p:cxnSp>
        <p:cxnSp>
          <p:nvCxnSpPr>
            <p:cNvPr id="23" name="Connector 22"/>
            <p:cNvCxnSpPr/>
            <p:nvPr/>
          </p:nvCxnSpPr>
          <p:spPr>
            <a:xfrm>
              <a:off x="868680" y="4247388"/>
              <a:ext cx="2423160" cy="0"/>
            </a:xfrm>
            <a:prstGeom prst="line">
              <a:avLst/>
            </a:prstGeom>
            <a:ln w="25400">
              <a:solidFill>
                <a:srgbClr val="9AA0A6"/>
              </a:solidFill>
            </a:ln>
          </p:spPr>
        </p:cxnSp>
        <p:sp>
          <p:nvSpPr>
            <p:cNvPr id="24" name="Oval 23"/>
            <p:cNvSpPr/>
            <p:nvPr/>
          </p:nvSpPr>
          <p:spPr>
            <a:xfrm>
              <a:off x="3520440" y="4114800"/>
              <a:ext cx="457200" cy="457200"/>
            </a:xfrm>
            <a:prstGeom prst="ellipse">
              <a:avLst/>
            </a:prstGeom>
            <a:solidFill>
              <a:srgbClr val="4DA3FF"/>
            </a:solidFill>
            <a:ln w="19050">
              <a:solidFill>
                <a:srgbClr val="E8E8E8"/>
              </a:solidFill>
            </a:ln>
          </p:spPr>
          <p:txBody>
            <a:bodyPr rtlCol="0" anchor="ctr"/>
            <a:lstStyle/>
            <a:p>
              <a:pPr algn="ctr"/>
              <a:endParaRPr/>
            </a:p>
          </p:txBody>
        </p:sp>
        <p:cxnSp>
          <p:nvCxnSpPr>
            <p:cNvPr id="25" name="Connector 24"/>
            <p:cNvCxnSpPr/>
            <p:nvPr/>
          </p:nvCxnSpPr>
          <p:spPr>
            <a:xfrm>
              <a:off x="4892040" y="2148840"/>
              <a:ext cx="4800600" cy="0"/>
            </a:xfrm>
            <a:prstGeom prst="line">
              <a:avLst/>
            </a:prstGeom>
            <a:ln w="114300">
              <a:solidFill>
                <a:srgbClr val="6B5B4B"/>
              </a:solidFill>
              <a:prstDash val="sysDash"/>
            </a:ln>
          </p:spPr>
        </p:cxnSp>
        <p:cxnSp>
          <p:nvCxnSpPr>
            <p:cNvPr id="26" name="Connector 25"/>
            <p:cNvCxnSpPr/>
            <p:nvPr/>
          </p:nvCxnSpPr>
          <p:spPr>
            <a:xfrm>
              <a:off x="4892040" y="2107692"/>
              <a:ext cx="4800600" cy="0"/>
            </a:xfrm>
            <a:prstGeom prst="line">
              <a:avLst/>
            </a:prstGeom>
            <a:ln w="25400">
              <a:solidFill>
                <a:srgbClr val="9AA0A6"/>
              </a:solidFill>
            </a:ln>
          </p:spPr>
        </p:cxnSp>
        <p:cxnSp>
          <p:nvCxnSpPr>
            <p:cNvPr id="27" name="Connector 26"/>
            <p:cNvCxnSpPr/>
            <p:nvPr/>
          </p:nvCxnSpPr>
          <p:spPr>
            <a:xfrm>
              <a:off x="4892040" y="2189988"/>
              <a:ext cx="4800600" cy="0"/>
            </a:xfrm>
            <a:prstGeom prst="line">
              <a:avLst/>
            </a:prstGeom>
            <a:ln w="25400">
              <a:solidFill>
                <a:srgbClr val="9AA0A6"/>
              </a:solidFill>
            </a:ln>
          </p:spPr>
        </p:cxnSp>
        <p:cxnSp>
          <p:nvCxnSpPr>
            <p:cNvPr id="28" name="Connector 27"/>
            <p:cNvCxnSpPr/>
            <p:nvPr/>
          </p:nvCxnSpPr>
          <p:spPr>
            <a:xfrm>
              <a:off x="4892040" y="2606040"/>
              <a:ext cx="4800600" cy="0"/>
            </a:xfrm>
            <a:prstGeom prst="line">
              <a:avLst/>
            </a:prstGeom>
            <a:ln w="114300">
              <a:solidFill>
                <a:srgbClr val="6B5B4B"/>
              </a:solidFill>
              <a:prstDash val="sysDash"/>
            </a:ln>
          </p:spPr>
        </p:cxnSp>
        <p:cxnSp>
          <p:nvCxnSpPr>
            <p:cNvPr id="29" name="Connector 28"/>
            <p:cNvCxnSpPr/>
            <p:nvPr/>
          </p:nvCxnSpPr>
          <p:spPr>
            <a:xfrm>
              <a:off x="4892040" y="2564892"/>
              <a:ext cx="4800600" cy="0"/>
            </a:xfrm>
            <a:prstGeom prst="line">
              <a:avLst/>
            </a:prstGeom>
            <a:ln w="25400">
              <a:solidFill>
                <a:srgbClr val="9AA0A6"/>
              </a:solidFill>
            </a:ln>
          </p:spPr>
        </p:cxnSp>
        <p:cxnSp>
          <p:nvCxnSpPr>
            <p:cNvPr id="30" name="Connector 29"/>
            <p:cNvCxnSpPr/>
            <p:nvPr/>
          </p:nvCxnSpPr>
          <p:spPr>
            <a:xfrm>
              <a:off x="4892040" y="2647188"/>
              <a:ext cx="4800600" cy="0"/>
            </a:xfrm>
            <a:prstGeom prst="line">
              <a:avLst/>
            </a:prstGeom>
            <a:ln w="25400">
              <a:solidFill>
                <a:srgbClr val="9AA0A6"/>
              </a:solidFill>
            </a:ln>
          </p:spPr>
        </p:cxnSp>
        <p:cxnSp>
          <p:nvCxnSpPr>
            <p:cNvPr id="31" name="Connector 30"/>
            <p:cNvCxnSpPr/>
            <p:nvPr/>
          </p:nvCxnSpPr>
          <p:spPr>
            <a:xfrm>
              <a:off x="4892040" y="3063240"/>
              <a:ext cx="4800600" cy="0"/>
            </a:xfrm>
            <a:prstGeom prst="line">
              <a:avLst/>
            </a:prstGeom>
            <a:ln w="114300">
              <a:solidFill>
                <a:srgbClr val="6B5B4B"/>
              </a:solidFill>
              <a:prstDash val="sysDash"/>
            </a:ln>
          </p:spPr>
        </p:cxnSp>
        <p:cxnSp>
          <p:nvCxnSpPr>
            <p:cNvPr id="32" name="Connector 31"/>
            <p:cNvCxnSpPr/>
            <p:nvPr/>
          </p:nvCxnSpPr>
          <p:spPr>
            <a:xfrm>
              <a:off x="4892040" y="3022092"/>
              <a:ext cx="4800600" cy="0"/>
            </a:xfrm>
            <a:prstGeom prst="line">
              <a:avLst/>
            </a:prstGeom>
            <a:ln w="25400">
              <a:solidFill>
                <a:srgbClr val="9AA0A6"/>
              </a:solidFill>
            </a:ln>
          </p:spPr>
        </p:cxnSp>
        <p:cxnSp>
          <p:nvCxnSpPr>
            <p:cNvPr id="33" name="Connector 32"/>
            <p:cNvCxnSpPr/>
            <p:nvPr/>
          </p:nvCxnSpPr>
          <p:spPr>
            <a:xfrm>
              <a:off x="4892040" y="3104388"/>
              <a:ext cx="4800600" cy="0"/>
            </a:xfrm>
            <a:prstGeom prst="line">
              <a:avLst/>
            </a:prstGeom>
            <a:ln w="25400">
              <a:solidFill>
                <a:srgbClr val="9AA0A6"/>
              </a:solidFill>
            </a:ln>
          </p:spPr>
        </p:cxnSp>
        <p:cxnSp>
          <p:nvCxnSpPr>
            <p:cNvPr id="34" name="Connector 33"/>
            <p:cNvCxnSpPr/>
            <p:nvPr/>
          </p:nvCxnSpPr>
          <p:spPr>
            <a:xfrm>
              <a:off x="4892040" y="3520440"/>
              <a:ext cx="4800600" cy="0"/>
            </a:xfrm>
            <a:prstGeom prst="line">
              <a:avLst/>
            </a:prstGeom>
            <a:ln w="114300">
              <a:solidFill>
                <a:srgbClr val="6B5B4B"/>
              </a:solidFill>
              <a:prstDash val="sysDash"/>
            </a:ln>
          </p:spPr>
        </p:cxnSp>
        <p:cxnSp>
          <p:nvCxnSpPr>
            <p:cNvPr id="35" name="Connector 34"/>
            <p:cNvCxnSpPr/>
            <p:nvPr/>
          </p:nvCxnSpPr>
          <p:spPr>
            <a:xfrm>
              <a:off x="4892040" y="3479292"/>
              <a:ext cx="4800600" cy="0"/>
            </a:xfrm>
            <a:prstGeom prst="line">
              <a:avLst/>
            </a:prstGeom>
            <a:ln w="25400">
              <a:solidFill>
                <a:srgbClr val="9AA0A6"/>
              </a:solidFill>
            </a:ln>
          </p:spPr>
        </p:cxnSp>
        <p:cxnSp>
          <p:nvCxnSpPr>
            <p:cNvPr id="36" name="Connector 35"/>
            <p:cNvCxnSpPr/>
            <p:nvPr/>
          </p:nvCxnSpPr>
          <p:spPr>
            <a:xfrm>
              <a:off x="4892040" y="3561588"/>
              <a:ext cx="4800600" cy="0"/>
            </a:xfrm>
            <a:prstGeom prst="line">
              <a:avLst/>
            </a:prstGeom>
            <a:ln w="25400">
              <a:solidFill>
                <a:srgbClr val="9AA0A6"/>
              </a:solidFill>
            </a:ln>
          </p:spPr>
        </p:cxnSp>
        <p:sp>
          <p:nvSpPr>
            <p:cNvPr id="37" name="Rectangle 36"/>
            <p:cNvSpPr/>
            <p:nvPr/>
          </p:nvSpPr>
          <p:spPr>
            <a:xfrm>
              <a:off x="5394960" y="2276856"/>
              <a:ext cx="3840480" cy="201168"/>
            </a:xfrm>
            <a:prstGeom prst="rect">
              <a:avLst/>
            </a:prstGeom>
            <a:solidFill>
              <a:srgbClr val="343A43"/>
            </a:solidFill>
            <a:ln w="12700">
              <a:solidFill>
                <a:srgbClr val="9AA0A6"/>
              </a:solidFill>
            </a:ln>
          </p:spPr>
          <p:txBody>
            <a:bodyPr rtlCol="0" anchor="ctr"/>
            <a:lstStyle/>
            <a:p>
              <a:pPr algn="ctr"/>
              <a:endParaRPr/>
            </a:p>
          </p:txBody>
        </p:sp>
        <p:sp>
          <p:nvSpPr>
            <p:cNvPr id="38" name="Rectangle 37"/>
            <p:cNvSpPr/>
            <p:nvPr/>
          </p:nvSpPr>
          <p:spPr>
            <a:xfrm>
              <a:off x="5394960" y="2734056"/>
              <a:ext cx="3840480" cy="201168"/>
            </a:xfrm>
            <a:prstGeom prst="rect">
              <a:avLst/>
            </a:prstGeom>
            <a:solidFill>
              <a:srgbClr val="343A43"/>
            </a:solidFill>
            <a:ln w="12700">
              <a:solidFill>
                <a:srgbClr val="9AA0A6"/>
              </a:solidFill>
            </a:ln>
          </p:spPr>
          <p:txBody>
            <a:bodyPr rtlCol="0" anchor="ctr"/>
            <a:lstStyle/>
            <a:p>
              <a:pPr algn="ctr"/>
              <a:endParaRPr/>
            </a:p>
          </p:txBody>
        </p:sp>
        <p:sp>
          <p:nvSpPr>
            <p:cNvPr id="39" name="Rectangle 38"/>
            <p:cNvSpPr/>
            <p:nvPr/>
          </p:nvSpPr>
          <p:spPr>
            <a:xfrm>
              <a:off x="5394960" y="3191256"/>
              <a:ext cx="3840480" cy="201168"/>
            </a:xfrm>
            <a:prstGeom prst="rect">
              <a:avLst/>
            </a:prstGeom>
            <a:solidFill>
              <a:srgbClr val="343A43"/>
            </a:solidFill>
            <a:ln w="12700">
              <a:solidFill>
                <a:srgbClr val="9AA0A6"/>
              </a:solidFill>
            </a:ln>
          </p:spPr>
          <p:txBody>
            <a:bodyPr rtlCol="0" anchor="ctr"/>
            <a:lstStyle/>
            <a:p>
              <a:pPr algn="ctr"/>
              <a:endParaRPr/>
            </a:p>
          </p:txBody>
        </p:sp>
        <p:sp>
          <p:nvSpPr>
            <p:cNvPr id="40" name="Rounded Rectangle 39"/>
            <p:cNvSpPr/>
            <p:nvPr/>
          </p:nvSpPr>
          <p:spPr>
            <a:xfrm>
              <a:off x="5486400" y="202996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41" name="Oval 40"/>
            <p:cNvSpPr/>
            <p:nvPr/>
          </p:nvSpPr>
          <p:spPr>
            <a:xfrm>
              <a:off x="5564124" y="2107692"/>
              <a:ext cx="82296" cy="82296"/>
            </a:xfrm>
            <a:prstGeom prst="ellipse">
              <a:avLst/>
            </a:prstGeom>
            <a:solidFill>
              <a:srgbClr val="1B1D21"/>
            </a:solidFill>
            <a:ln>
              <a:noFill/>
            </a:ln>
          </p:spPr>
          <p:txBody>
            <a:bodyPr rtlCol="0" anchor="ctr"/>
            <a:lstStyle/>
            <a:p>
              <a:pPr algn="ctr"/>
              <a:endParaRPr/>
            </a:p>
          </p:txBody>
        </p:sp>
        <p:sp>
          <p:nvSpPr>
            <p:cNvPr id="42" name="Rectangle 41"/>
            <p:cNvSpPr/>
            <p:nvPr/>
          </p:nvSpPr>
          <p:spPr>
            <a:xfrm>
              <a:off x="5939942" y="2053742"/>
              <a:ext cx="219456" cy="190195"/>
            </a:xfrm>
            <a:prstGeom prst="rect">
              <a:avLst/>
            </a:prstGeom>
            <a:solidFill>
              <a:srgbClr val="1B1D21"/>
            </a:solidFill>
            <a:ln>
              <a:noFill/>
            </a:ln>
          </p:spPr>
          <p:txBody>
            <a:bodyPr rtlCol="0" anchor="ctr"/>
            <a:lstStyle/>
            <a:p>
              <a:pPr algn="ctr"/>
              <a:endParaRPr/>
            </a:p>
          </p:txBody>
        </p:sp>
        <p:sp>
          <p:nvSpPr>
            <p:cNvPr id="43" name="Rectangle 42"/>
            <p:cNvSpPr/>
            <p:nvPr/>
          </p:nvSpPr>
          <p:spPr>
            <a:xfrm>
              <a:off x="6263640" y="2039112"/>
              <a:ext cx="502920" cy="219456"/>
            </a:xfrm>
            <a:prstGeom prst="rect">
              <a:avLst/>
            </a:prstGeom>
            <a:solidFill>
              <a:srgbClr val="6C7480"/>
            </a:solidFill>
            <a:ln w="12700">
              <a:solidFill>
                <a:srgbClr val="1B1D21"/>
              </a:solidFill>
            </a:ln>
          </p:spPr>
          <p:txBody>
            <a:bodyPr rtlCol="0" anchor="ctr"/>
            <a:lstStyle/>
            <a:p>
              <a:pPr algn="ctr"/>
              <a:endParaRPr/>
            </a:p>
          </p:txBody>
        </p:sp>
        <p:sp>
          <p:nvSpPr>
            <p:cNvPr id="44" name="Rectangle 43"/>
            <p:cNvSpPr/>
            <p:nvPr/>
          </p:nvSpPr>
          <p:spPr>
            <a:xfrm>
              <a:off x="6812280" y="2039112"/>
              <a:ext cx="502920" cy="219456"/>
            </a:xfrm>
            <a:prstGeom prst="rect">
              <a:avLst/>
            </a:prstGeom>
            <a:solidFill>
              <a:srgbClr val="6C7480"/>
            </a:solidFill>
            <a:ln w="12700">
              <a:solidFill>
                <a:srgbClr val="1B1D21"/>
              </a:solidFill>
            </a:ln>
          </p:spPr>
          <p:txBody>
            <a:bodyPr rtlCol="0" anchor="ctr"/>
            <a:lstStyle/>
            <a:p>
              <a:pPr algn="ctr"/>
              <a:endParaRPr/>
            </a:p>
          </p:txBody>
        </p:sp>
        <p:sp>
          <p:nvSpPr>
            <p:cNvPr id="45" name="Rectangle 44"/>
            <p:cNvSpPr/>
            <p:nvPr/>
          </p:nvSpPr>
          <p:spPr>
            <a:xfrm>
              <a:off x="7360920" y="2039112"/>
              <a:ext cx="502920" cy="219456"/>
            </a:xfrm>
            <a:prstGeom prst="rect">
              <a:avLst/>
            </a:prstGeom>
            <a:solidFill>
              <a:srgbClr val="6C7480"/>
            </a:solidFill>
            <a:ln w="12700">
              <a:solidFill>
                <a:srgbClr val="1B1D21"/>
              </a:solidFill>
            </a:ln>
          </p:spPr>
          <p:txBody>
            <a:bodyPr rtlCol="0" anchor="ctr"/>
            <a:lstStyle/>
            <a:p>
              <a:pPr algn="ctr"/>
              <a:endParaRPr/>
            </a:p>
          </p:txBody>
        </p:sp>
        <p:sp>
          <p:nvSpPr>
            <p:cNvPr id="46" name="Rounded Rectangle 45"/>
            <p:cNvSpPr/>
            <p:nvPr/>
          </p:nvSpPr>
          <p:spPr>
            <a:xfrm>
              <a:off x="6217920" y="294436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47" name="Oval 46"/>
            <p:cNvSpPr/>
            <p:nvPr/>
          </p:nvSpPr>
          <p:spPr>
            <a:xfrm>
              <a:off x="6295644" y="3022092"/>
              <a:ext cx="82296" cy="82296"/>
            </a:xfrm>
            <a:prstGeom prst="ellipse">
              <a:avLst/>
            </a:prstGeom>
            <a:solidFill>
              <a:srgbClr val="1B1D21"/>
            </a:solidFill>
            <a:ln>
              <a:noFill/>
            </a:ln>
          </p:spPr>
          <p:txBody>
            <a:bodyPr rtlCol="0" anchor="ctr"/>
            <a:lstStyle/>
            <a:p>
              <a:pPr algn="ctr"/>
              <a:endParaRPr/>
            </a:p>
          </p:txBody>
        </p:sp>
        <p:sp>
          <p:nvSpPr>
            <p:cNvPr id="48" name="Rectangle 47"/>
            <p:cNvSpPr/>
            <p:nvPr/>
          </p:nvSpPr>
          <p:spPr>
            <a:xfrm>
              <a:off x="6671462" y="2968142"/>
              <a:ext cx="219456" cy="190195"/>
            </a:xfrm>
            <a:prstGeom prst="rect">
              <a:avLst/>
            </a:prstGeom>
            <a:solidFill>
              <a:srgbClr val="1B1D21"/>
            </a:solidFill>
            <a:ln>
              <a:noFill/>
            </a:ln>
          </p:spPr>
          <p:txBody>
            <a:bodyPr rtlCol="0" anchor="ctr"/>
            <a:lstStyle/>
            <a:p>
              <a:pPr algn="ctr"/>
              <a:endParaRPr/>
            </a:p>
          </p:txBody>
        </p:sp>
        <p:sp>
          <p:nvSpPr>
            <p:cNvPr id="49" name="Rectangle 48"/>
            <p:cNvSpPr/>
            <p:nvPr/>
          </p:nvSpPr>
          <p:spPr>
            <a:xfrm>
              <a:off x="6995160" y="2953512"/>
              <a:ext cx="502920" cy="219456"/>
            </a:xfrm>
            <a:prstGeom prst="rect">
              <a:avLst/>
            </a:prstGeom>
            <a:solidFill>
              <a:srgbClr val="6C7480"/>
            </a:solidFill>
            <a:ln w="12700">
              <a:solidFill>
                <a:srgbClr val="1B1D21"/>
              </a:solidFill>
            </a:ln>
          </p:spPr>
          <p:txBody>
            <a:bodyPr rtlCol="0" anchor="ctr"/>
            <a:lstStyle/>
            <a:p>
              <a:pPr algn="ctr"/>
              <a:endParaRPr/>
            </a:p>
          </p:txBody>
        </p:sp>
        <p:sp>
          <p:nvSpPr>
            <p:cNvPr id="50" name="Rectangle 49"/>
            <p:cNvSpPr/>
            <p:nvPr/>
          </p:nvSpPr>
          <p:spPr>
            <a:xfrm>
              <a:off x="7543800" y="2953512"/>
              <a:ext cx="502920" cy="219456"/>
            </a:xfrm>
            <a:prstGeom prst="rect">
              <a:avLst/>
            </a:prstGeom>
            <a:solidFill>
              <a:srgbClr val="6C7480"/>
            </a:solidFill>
            <a:ln w="12700">
              <a:solidFill>
                <a:srgbClr val="1B1D21"/>
              </a:solidFill>
            </a:ln>
          </p:spPr>
          <p:txBody>
            <a:bodyPr rtlCol="0" anchor="ctr"/>
            <a:lstStyle/>
            <a:p>
              <a:pPr algn="ctr"/>
              <a:endParaRPr/>
            </a:p>
          </p:txBody>
        </p:sp>
        <p:sp>
          <p:nvSpPr>
            <p:cNvPr id="51" name="Rounded Rectangle 50"/>
            <p:cNvSpPr/>
            <p:nvPr/>
          </p:nvSpPr>
          <p:spPr>
            <a:xfrm>
              <a:off x="5120640" y="3401568"/>
              <a:ext cx="731520" cy="237744"/>
            </a:xfrm>
            <a:prstGeom prst="roundRect">
              <a:avLst>
                <a:gd name="adj" fmla="val 23076"/>
              </a:avLst>
            </a:prstGeom>
            <a:solidFill>
              <a:srgbClr val="F28C28"/>
            </a:solidFill>
            <a:ln w="12700">
              <a:solidFill>
                <a:srgbClr val="1B1D21"/>
              </a:solidFill>
            </a:ln>
          </p:spPr>
          <p:txBody>
            <a:bodyPr rtlCol="0" anchor="ctr"/>
            <a:lstStyle/>
            <a:p>
              <a:pPr algn="ctr"/>
              <a:endParaRPr/>
            </a:p>
          </p:txBody>
        </p:sp>
        <p:sp>
          <p:nvSpPr>
            <p:cNvPr id="52" name="Oval 51"/>
            <p:cNvSpPr/>
            <p:nvPr/>
          </p:nvSpPr>
          <p:spPr>
            <a:xfrm>
              <a:off x="5198364" y="3479292"/>
              <a:ext cx="82296" cy="82296"/>
            </a:xfrm>
            <a:prstGeom prst="ellipse">
              <a:avLst/>
            </a:prstGeom>
            <a:solidFill>
              <a:srgbClr val="1B1D21"/>
            </a:solidFill>
            <a:ln>
              <a:noFill/>
            </a:ln>
          </p:spPr>
          <p:txBody>
            <a:bodyPr rtlCol="0" anchor="ctr"/>
            <a:lstStyle/>
            <a:p>
              <a:pPr algn="ctr"/>
              <a:endParaRPr/>
            </a:p>
          </p:txBody>
        </p:sp>
        <p:sp>
          <p:nvSpPr>
            <p:cNvPr id="53" name="Rectangle 52"/>
            <p:cNvSpPr/>
            <p:nvPr/>
          </p:nvSpPr>
          <p:spPr>
            <a:xfrm>
              <a:off x="5574182" y="3425342"/>
              <a:ext cx="219456" cy="190195"/>
            </a:xfrm>
            <a:prstGeom prst="rect">
              <a:avLst/>
            </a:prstGeom>
            <a:solidFill>
              <a:srgbClr val="1B1D21"/>
            </a:solidFill>
            <a:ln>
              <a:noFill/>
            </a:ln>
          </p:spPr>
          <p:txBody>
            <a:bodyPr rtlCol="0" anchor="ctr"/>
            <a:lstStyle/>
            <a:p>
              <a:pPr algn="ctr"/>
              <a:endParaRPr/>
            </a:p>
          </p:txBody>
        </p:sp>
        <p:sp>
          <p:nvSpPr>
            <p:cNvPr id="54" name="Rectangle 53"/>
            <p:cNvSpPr/>
            <p:nvPr/>
          </p:nvSpPr>
          <p:spPr>
            <a:xfrm>
              <a:off x="5897880" y="3410712"/>
              <a:ext cx="502920" cy="219456"/>
            </a:xfrm>
            <a:prstGeom prst="rect">
              <a:avLst/>
            </a:prstGeom>
            <a:solidFill>
              <a:srgbClr val="6C7480"/>
            </a:solidFill>
            <a:ln w="12700">
              <a:solidFill>
                <a:srgbClr val="1B1D21"/>
              </a:solidFill>
            </a:ln>
          </p:spPr>
          <p:txBody>
            <a:bodyPr rtlCol="0" anchor="ctr"/>
            <a:lstStyle/>
            <a:p>
              <a:pPr algn="ctr"/>
              <a:endParaRPr/>
            </a:p>
          </p:txBody>
        </p:sp>
        <p:sp>
          <p:nvSpPr>
            <p:cNvPr id="55" name="Rectangle 54"/>
            <p:cNvSpPr/>
            <p:nvPr/>
          </p:nvSpPr>
          <p:spPr>
            <a:xfrm>
              <a:off x="6446520" y="3410712"/>
              <a:ext cx="502920" cy="219456"/>
            </a:xfrm>
            <a:prstGeom prst="rect">
              <a:avLst/>
            </a:prstGeom>
            <a:solidFill>
              <a:srgbClr val="6C7480"/>
            </a:solidFill>
            <a:ln w="12700">
              <a:solidFill>
                <a:srgbClr val="1B1D21"/>
              </a:solidFill>
            </a:ln>
          </p:spPr>
          <p:txBody>
            <a:bodyPr rtlCol="0" anchor="ctr"/>
            <a:lstStyle/>
            <a:p>
              <a:pPr algn="ctr"/>
              <a:endParaRPr/>
            </a:p>
          </p:txBody>
        </p:sp>
        <p:sp>
          <p:nvSpPr>
            <p:cNvPr id="56" name="Rectangle 55"/>
            <p:cNvSpPr/>
            <p:nvPr/>
          </p:nvSpPr>
          <p:spPr>
            <a:xfrm>
              <a:off x="6995160" y="3410712"/>
              <a:ext cx="502920" cy="219456"/>
            </a:xfrm>
            <a:prstGeom prst="rect">
              <a:avLst/>
            </a:prstGeom>
            <a:solidFill>
              <a:srgbClr val="6C7480"/>
            </a:solidFill>
            <a:ln w="12700">
              <a:solidFill>
                <a:srgbClr val="1B1D21"/>
              </a:solidFill>
            </a:ln>
          </p:spPr>
          <p:txBody>
            <a:bodyPr rtlCol="0" anchor="ctr"/>
            <a:lstStyle/>
            <a:p>
              <a:pPr algn="ctr"/>
              <a:endParaRPr/>
            </a:p>
          </p:txBody>
        </p:sp>
        <p:sp>
          <p:nvSpPr>
            <p:cNvPr id="57" name="Rectangle 56"/>
            <p:cNvSpPr/>
            <p:nvPr/>
          </p:nvSpPr>
          <p:spPr>
            <a:xfrm>
              <a:off x="7543800" y="3410712"/>
              <a:ext cx="502920" cy="219456"/>
            </a:xfrm>
            <a:prstGeom prst="rect">
              <a:avLst/>
            </a:prstGeom>
            <a:solidFill>
              <a:srgbClr val="6C7480"/>
            </a:solidFill>
            <a:ln w="12700">
              <a:solidFill>
                <a:srgbClr val="1B1D21"/>
              </a:solidFill>
            </a:ln>
          </p:spPr>
          <p:txBody>
            <a:bodyPr rtlCol="0" anchor="ctr"/>
            <a:lstStyle/>
            <a:p>
              <a:pPr algn="ctr"/>
              <a:endParaRPr/>
            </a:p>
          </p:txBody>
        </p:sp>
        <p:sp>
          <p:nvSpPr>
            <p:cNvPr id="58" name="Rounded Rectangle 57"/>
            <p:cNvSpPr/>
            <p:nvPr/>
          </p:nvSpPr>
          <p:spPr>
            <a:xfrm>
              <a:off x="4846320" y="1965960"/>
              <a:ext cx="4937760" cy="1828800"/>
            </a:xfrm>
            <a:prstGeom prst="roundRect">
              <a:avLst>
                <a:gd name="adj" fmla="val 5000"/>
              </a:avLst>
            </a:prstGeom>
            <a:noFill/>
            <a:ln w="19050">
              <a:solidFill>
                <a:srgbClr val="F28C28"/>
              </a:solidFill>
              <a:prstDash val="dash"/>
            </a:ln>
          </p:spPr>
          <p:txBody>
            <a:bodyPr rtlCol="0" anchor="ctr"/>
            <a:lstStyle/>
            <a:p>
              <a:pPr algn="ctr"/>
              <a:endParaRPr/>
            </a:p>
          </p:txBody>
        </p:sp>
        <p:sp>
          <p:nvSpPr>
            <p:cNvPr id="59" name="TextBox 58"/>
            <p:cNvSpPr txBox="1"/>
            <p:nvPr/>
          </p:nvSpPr>
          <p:spPr>
            <a:xfrm>
              <a:off x="9875520" y="2468880"/>
              <a:ext cx="1645920" cy="640080"/>
            </a:xfrm>
            <a:prstGeom prst="rect">
              <a:avLst/>
            </a:prstGeom>
            <a:noFill/>
          </p:spPr>
          <p:txBody>
            <a:bodyPr wrap="square" lIns="0" tIns="0" rIns="0" bIns="0" anchor="ctr">
              <a:noAutofit/>
            </a:bodyPr>
            <a:lstStyle/>
            <a:p>
              <a:pPr algn="l">
                <a:spcBef>
                  <a:spcPts val="0"/>
                </a:spcBef>
                <a:spcAft>
                  <a:spcPts val="0"/>
                </a:spcAft>
              </a:pPr>
              <a:r>
                <a:rPr lang="en-GB" sz="1400" b="1" i="0">
                  <a:solidFill>
                    <a:srgbClr val="F28C28"/>
                  </a:solidFill>
                  <a:latin typeface="Arial"/>
                </a:rPr>
                <a:t>Extra</a:t>
              </a:r>
              <a:br/>
              <a:r>
                <a:rPr lang="en-GB" sz="1400" b="1" i="0">
                  <a:solidFill>
                    <a:srgbClr val="F28C28"/>
                  </a:solidFill>
                  <a:latin typeface="Arial"/>
                </a:rPr>
                <a:t>platforms</a:t>
              </a:r>
            </a:p>
          </p:txBody>
        </p:sp>
        <p:sp>
          <p:nvSpPr>
            <p:cNvPr id="60" name="Rounded Rectangle 59"/>
            <p:cNvSpPr/>
            <p:nvPr/>
          </p:nvSpPr>
          <p:spPr>
            <a:xfrm>
              <a:off x="4846320" y="3931920"/>
              <a:ext cx="4937760" cy="1005840"/>
            </a:xfrm>
            <a:prstGeom prst="roundRect">
              <a:avLst>
                <a:gd name="adj" fmla="val 9090"/>
              </a:avLst>
            </a:prstGeom>
            <a:noFill/>
            <a:ln w="19050">
              <a:solidFill>
                <a:srgbClr val="9AA0A6"/>
              </a:solidFill>
              <a:prstDash val="dash"/>
            </a:ln>
          </p:spPr>
          <p:txBody>
            <a:bodyPr rtlCol="0" anchor="ctr"/>
            <a:lstStyle/>
            <a:p>
              <a:pPr algn="ctr"/>
              <a:endParaRPr/>
            </a:p>
          </p:txBody>
        </p:sp>
        <p:cxnSp>
          <p:nvCxnSpPr>
            <p:cNvPr id="61" name="Connector 60"/>
            <p:cNvCxnSpPr/>
            <p:nvPr/>
          </p:nvCxnSpPr>
          <p:spPr>
            <a:xfrm>
              <a:off x="4983480" y="4114800"/>
              <a:ext cx="3611880" cy="0"/>
            </a:xfrm>
            <a:prstGeom prst="line">
              <a:avLst/>
            </a:prstGeom>
            <a:ln w="114300">
              <a:solidFill>
                <a:srgbClr val="6B5B4B"/>
              </a:solidFill>
              <a:prstDash val="sysDash"/>
            </a:ln>
          </p:spPr>
        </p:cxnSp>
        <p:cxnSp>
          <p:nvCxnSpPr>
            <p:cNvPr id="62" name="Connector 61"/>
            <p:cNvCxnSpPr/>
            <p:nvPr/>
          </p:nvCxnSpPr>
          <p:spPr>
            <a:xfrm>
              <a:off x="4983480" y="4073652"/>
              <a:ext cx="3611880" cy="0"/>
            </a:xfrm>
            <a:prstGeom prst="line">
              <a:avLst/>
            </a:prstGeom>
            <a:ln w="25400">
              <a:solidFill>
                <a:srgbClr val="9AA0A6"/>
              </a:solidFill>
            </a:ln>
          </p:spPr>
        </p:cxnSp>
        <p:cxnSp>
          <p:nvCxnSpPr>
            <p:cNvPr id="63" name="Connector 62"/>
            <p:cNvCxnSpPr/>
            <p:nvPr/>
          </p:nvCxnSpPr>
          <p:spPr>
            <a:xfrm>
              <a:off x="4983480" y="4155948"/>
              <a:ext cx="3611880" cy="0"/>
            </a:xfrm>
            <a:prstGeom prst="line">
              <a:avLst/>
            </a:prstGeom>
            <a:ln w="25400">
              <a:solidFill>
                <a:srgbClr val="9AA0A6"/>
              </a:solidFill>
            </a:ln>
          </p:spPr>
        </p:cxnSp>
        <p:cxnSp>
          <p:nvCxnSpPr>
            <p:cNvPr id="64" name="Connector 63"/>
            <p:cNvCxnSpPr/>
            <p:nvPr/>
          </p:nvCxnSpPr>
          <p:spPr>
            <a:xfrm>
              <a:off x="4983480" y="4389120"/>
              <a:ext cx="3611880" cy="0"/>
            </a:xfrm>
            <a:prstGeom prst="line">
              <a:avLst/>
            </a:prstGeom>
            <a:ln w="114300">
              <a:solidFill>
                <a:srgbClr val="6B5B4B"/>
              </a:solidFill>
              <a:prstDash val="sysDash"/>
            </a:ln>
          </p:spPr>
        </p:cxnSp>
        <p:cxnSp>
          <p:nvCxnSpPr>
            <p:cNvPr id="65" name="Connector 64"/>
            <p:cNvCxnSpPr/>
            <p:nvPr/>
          </p:nvCxnSpPr>
          <p:spPr>
            <a:xfrm>
              <a:off x="4983480" y="4347972"/>
              <a:ext cx="3611880" cy="0"/>
            </a:xfrm>
            <a:prstGeom prst="line">
              <a:avLst/>
            </a:prstGeom>
            <a:ln w="25400">
              <a:solidFill>
                <a:srgbClr val="9AA0A6"/>
              </a:solidFill>
            </a:ln>
          </p:spPr>
        </p:cxnSp>
        <p:cxnSp>
          <p:nvCxnSpPr>
            <p:cNvPr id="66" name="Connector 65"/>
            <p:cNvCxnSpPr/>
            <p:nvPr/>
          </p:nvCxnSpPr>
          <p:spPr>
            <a:xfrm>
              <a:off x="4983480" y="4430268"/>
              <a:ext cx="3611880" cy="0"/>
            </a:xfrm>
            <a:prstGeom prst="line">
              <a:avLst/>
            </a:prstGeom>
            <a:ln w="25400">
              <a:solidFill>
                <a:srgbClr val="9AA0A6"/>
              </a:solidFill>
            </a:ln>
          </p:spPr>
        </p:cxnSp>
        <p:cxnSp>
          <p:nvCxnSpPr>
            <p:cNvPr id="67" name="Connector 66"/>
            <p:cNvCxnSpPr/>
            <p:nvPr/>
          </p:nvCxnSpPr>
          <p:spPr>
            <a:xfrm>
              <a:off x="4983480" y="4663440"/>
              <a:ext cx="3611880" cy="0"/>
            </a:xfrm>
            <a:prstGeom prst="line">
              <a:avLst/>
            </a:prstGeom>
            <a:ln w="114300">
              <a:solidFill>
                <a:srgbClr val="6B5B4B"/>
              </a:solidFill>
              <a:prstDash val="sysDash"/>
            </a:ln>
          </p:spPr>
        </p:cxnSp>
        <p:cxnSp>
          <p:nvCxnSpPr>
            <p:cNvPr id="68" name="Connector 67"/>
            <p:cNvCxnSpPr/>
            <p:nvPr/>
          </p:nvCxnSpPr>
          <p:spPr>
            <a:xfrm>
              <a:off x="4983480" y="4622292"/>
              <a:ext cx="3611880" cy="0"/>
            </a:xfrm>
            <a:prstGeom prst="line">
              <a:avLst/>
            </a:prstGeom>
            <a:ln w="25400">
              <a:solidFill>
                <a:srgbClr val="9AA0A6"/>
              </a:solidFill>
            </a:ln>
          </p:spPr>
        </p:cxnSp>
        <p:cxnSp>
          <p:nvCxnSpPr>
            <p:cNvPr id="69" name="Connector 68"/>
            <p:cNvCxnSpPr/>
            <p:nvPr/>
          </p:nvCxnSpPr>
          <p:spPr>
            <a:xfrm>
              <a:off x="4983480" y="4704588"/>
              <a:ext cx="3611880" cy="0"/>
            </a:xfrm>
            <a:prstGeom prst="line">
              <a:avLst/>
            </a:prstGeom>
            <a:ln w="25400">
              <a:solidFill>
                <a:srgbClr val="9AA0A6"/>
              </a:solidFill>
            </a:ln>
          </p:spPr>
        </p:cxnSp>
        <p:sp>
          <p:nvSpPr>
            <p:cNvPr id="70" name="Oval 69"/>
            <p:cNvSpPr/>
            <p:nvPr/>
          </p:nvSpPr>
          <p:spPr>
            <a:xfrm>
              <a:off x="8823960" y="4023360"/>
              <a:ext cx="457200" cy="457200"/>
            </a:xfrm>
            <a:prstGeom prst="ellipse">
              <a:avLst/>
            </a:prstGeom>
            <a:solidFill>
              <a:srgbClr val="4DA3FF"/>
            </a:solidFill>
            <a:ln w="19050">
              <a:solidFill>
                <a:srgbClr val="E8E8E8"/>
              </a:solidFill>
            </a:ln>
          </p:spPr>
          <p:txBody>
            <a:bodyPr rtlCol="0" anchor="ctr"/>
            <a:lstStyle/>
            <a:p>
              <a:pPr algn="ctr"/>
              <a:endParaRPr/>
            </a:p>
          </p:txBody>
        </p:sp>
        <p:sp>
          <p:nvSpPr>
            <p:cNvPr id="71" name="Rectangle 70"/>
            <p:cNvSpPr/>
            <p:nvPr/>
          </p:nvSpPr>
          <p:spPr>
            <a:xfrm>
              <a:off x="9144000" y="4526280"/>
              <a:ext cx="457200" cy="274320"/>
            </a:xfrm>
            <a:prstGeom prst="rect">
              <a:avLst/>
            </a:prstGeom>
            <a:solidFill>
              <a:srgbClr val="1B1D21"/>
            </a:solidFill>
            <a:ln w="12700">
              <a:solidFill>
                <a:srgbClr val="9AA0A6"/>
              </a:solidFill>
            </a:ln>
          </p:spPr>
          <p:txBody>
            <a:bodyPr rtlCol="0" anchor="ctr"/>
            <a:lstStyle/>
            <a:p>
              <a:pPr algn="ctr"/>
              <a:endParaRPr/>
            </a:p>
          </p:txBody>
        </p:sp>
        <p:sp>
          <p:nvSpPr>
            <p:cNvPr id="72" name="TextBox 71"/>
            <p:cNvSpPr txBox="1"/>
            <p:nvPr/>
          </p:nvSpPr>
          <p:spPr>
            <a:xfrm>
              <a:off x="9875520" y="4023360"/>
              <a:ext cx="1691640" cy="822960"/>
            </a:xfrm>
            <a:prstGeom prst="rect">
              <a:avLst/>
            </a:prstGeom>
            <a:noFill/>
          </p:spPr>
          <p:txBody>
            <a:bodyPr wrap="square" lIns="0" tIns="0" rIns="0" bIns="0" anchor="ctr">
              <a:noAutofit/>
            </a:bodyPr>
            <a:lstStyle/>
            <a:p>
              <a:pPr algn="l">
                <a:spcBef>
                  <a:spcPts val="0"/>
                </a:spcBef>
                <a:spcAft>
                  <a:spcPts val="0"/>
                </a:spcAft>
              </a:pPr>
              <a:r>
                <a:rPr lang="en-GB" sz="1400" b="1" i="0">
                  <a:solidFill>
                    <a:srgbClr val="F2F2F2"/>
                  </a:solidFill>
                  <a:latin typeface="Arial"/>
                </a:rPr>
                <a:t>Larger service</a:t>
              </a:r>
              <a:br/>
              <a:r>
                <a:rPr lang="en-GB" sz="1400" b="1" i="0">
                  <a:solidFill>
                    <a:srgbClr val="F2F2F2"/>
                  </a:solidFill>
                  <a:latin typeface="Arial"/>
                </a:rPr>
                <a:t>yard</a:t>
              </a:r>
            </a:p>
          </p:txBody>
        </p:sp>
      </p:grpSp>
      <p:sp>
        <p:nvSpPr>
          <p:cNvPr id="73" name="Inline chip"/>
          <p:cNvSpPr/>
          <p:nvPr/>
        </p:nvSpPr>
        <p:spPr>
          <a:xfrm>
            <a:off x="9056437" y="5212080"/>
            <a:ext cx="2583875" cy="329184"/>
          </a:xfrm>
          <a:prstGeom prst="roundRect">
            <a:avLst>
              <a:gd name="adj" fmla="val 50000"/>
            </a:avLst>
          </a:prstGeom>
          <a:noFill/>
          <a:ln w="25400">
            <a:solidFill>
              <a:srgbClr val="A9B0B8"/>
            </a:solidFill>
          </a:ln>
        </p:spPr>
        <p:txBody>
          <a:bodyPr wrap="none" lIns="73152" tIns="18288" rIns="73152" bIns="18288" rtlCol="0" anchor="ctr">
            <a:noAutofit/>
          </a:bodyPr>
          <a:lstStyle/>
          <a:p>
            <a:pPr algn="ctr">
              <a:spcBef>
                <a:spcPts val="0"/>
              </a:spcBef>
              <a:spcAft>
                <a:spcPts val="0"/>
              </a:spcAft>
            </a:pPr>
            <a:r>
              <a:rPr lang="en-GB" sz="1400" b="0" i="0">
                <a:solidFill>
                  <a:srgbClr val="F2F2F2"/>
                </a:solidFill>
                <a:latin typeface="Arial"/>
              </a:rPr>
              <a:t>Exact list: undecided (OQ22)</a:t>
            </a:r>
          </a:p>
        </p:txBody>
      </p:sp>
      <p:sp>
        <p:nvSpPr>
          <p:cNvPr id="74"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Bigger terminals and faster servicing could appear.</a:t>
            </a:r>
          </a:p>
        </p:txBody>
      </p:sp>
      <p:sp>
        <p:nvSpPr>
          <p:cNvPr id="75"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76"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6</a:t>
            </a:r>
          </a:p>
        </p:txBody>
      </p:sp>
    </p:spTree>
    <p:extLst>
      <p:ext uri="{BB962C8B-B14F-4D97-AF65-F5344CB8AC3E}">
        <p14:creationId xmlns:p14="http://schemas.microsoft.com/office/powerpoint/2010/main" val="11602443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par>
                                <p:cTn id="11" presetID="10" presetClass="entr" presetSubtype="0" fill="hold" nodeType="withEffect">
                                  <p:stCondLst>
                                    <p:cond delay="600"/>
                                  </p:stCondLst>
                                  <p:childTnLst>
                                    <p:set>
                                      <p:cBhvr>
                                        <p:cTn id="12" dur="1" fill="hold">
                                          <p:stCondLst>
                                            <p:cond delay="0"/>
                                          </p:stCondLst>
                                        </p:cTn>
                                        <p:tgtEl>
                                          <p:spTgt spid="74"/>
                                        </p:tgtEl>
                                        <p:attrNameLst>
                                          <p:attrName>style.visibility</p:attrName>
                                        </p:attrNameLst>
                                      </p:cBhvr>
                                      <p:to>
                                        <p:strVal val="visible"/>
                                      </p:to>
                                    </p:set>
                                    <p:animEffect transition="in" filter="fade">
                                      <p:cBhvr>
                                        <p:cTn id="13" dur="500"/>
                                        <p:tgtEl>
                                          <p:spTgt spid="74"/>
                                        </p:tgtEl>
                                      </p:cBhvr>
                                    </p:animEffect>
                                  </p:childTnLst>
                                </p:cTn>
                              </p:par>
                              <p:par>
                                <p:cTn id="14" presetID="10" presetClass="entr" presetSubtype="0" fill="hold" nodeType="withEffect">
                                  <p:stCondLst>
                                    <p:cond delay="900"/>
                                  </p:stCondLst>
                                  <p:childTnLst>
                                    <p:set>
                                      <p:cBhvr>
                                        <p:cTn id="15" dur="1" fill="hold">
                                          <p:stCondLst>
                                            <p:cond delay="0"/>
                                          </p:stCondLst>
                                        </p:cTn>
                                        <p:tgtEl>
                                          <p:spTgt spid="75"/>
                                        </p:tgtEl>
                                        <p:attrNameLst>
                                          <p:attrName>style.visibility</p:attrName>
                                        </p:attrNameLst>
                                      </p:cBhvr>
                                      <p:to>
                                        <p:strVal val="visible"/>
                                      </p:to>
                                    </p:set>
                                    <p:animEffect transition="in" filter="fade">
                                      <p:cBhvr>
                                        <p:cTn id="16"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Bigger signalling</a:t>
            </a:r>
          </a:p>
        </p:txBody>
      </p:sp>
      <p:sp>
        <p:nvSpPr>
          <p:cNvPr id="3" name="Status chip"/>
          <p:cNvSpPr/>
          <p:nvPr/>
        </p:nvSpPr>
        <p:spPr>
          <a:xfrm>
            <a:off x="10131552" y="457200"/>
            <a:ext cx="1481328" cy="365760"/>
          </a:xfrm>
          <a:prstGeom prst="roundRect">
            <a:avLst>
              <a:gd name="adj" fmla="val 30000"/>
            </a:avLst>
          </a:prstGeom>
          <a:solidFill>
            <a:srgbClr val="B084F5"/>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PROPOSED</a:t>
            </a:r>
          </a:p>
        </p:txBody>
      </p:sp>
      <p:grpSp>
        <p:nvGrpSpPr>
          <p:cNvPr id="4" name="Diagram: small and large signal box reach" descr="A small signal box with a short reach ring and three signal posts, and a large signal box with a wide reach ring and six signal posts."/>
          <p:cNvGrpSpPr/>
          <p:nvPr/>
        </p:nvGrpSpPr>
        <p:grpSpPr>
          <a:xfrm>
            <a:off x="548640" y="1325880"/>
            <a:ext cx="11091672" cy="4251960"/>
            <a:chOff x="548640" y="1325880"/>
            <a:chExt cx="11091672" cy="4251960"/>
          </a:xfrm>
        </p:grpSpPr>
        <p:sp>
          <p:nvSpPr>
            <p:cNvPr id="5" name="Rounded Rectangle 4"/>
            <p:cNvSpPr/>
            <p:nvPr/>
          </p:nvSpPr>
          <p:spPr>
            <a:xfrm>
              <a:off x="548640" y="1325880"/>
              <a:ext cx="4297680" cy="4251960"/>
            </a:xfrm>
            <a:prstGeom prst="roundRect">
              <a:avLst>
                <a:gd name="adj" fmla="val 1720"/>
              </a:avLst>
            </a:prstGeom>
            <a:solidFill>
              <a:srgbClr val="2B2F36"/>
            </a:solidFill>
            <a:ln>
              <a:noFill/>
            </a:ln>
          </p:spPr>
          <p:txBody>
            <a:bodyPr rtlCol="0" anchor="ctr"/>
            <a:lstStyle/>
            <a:p>
              <a:pPr algn="ctr"/>
              <a:endParaRPr/>
            </a:p>
          </p:txBody>
        </p:sp>
        <p:sp>
          <p:nvSpPr>
            <p:cNvPr id="6" name="Rounded Rectangle 5"/>
            <p:cNvSpPr/>
            <p:nvPr/>
          </p:nvSpPr>
          <p:spPr>
            <a:xfrm>
              <a:off x="5029200" y="1325880"/>
              <a:ext cx="6611112" cy="4251960"/>
            </a:xfrm>
            <a:prstGeom prst="roundRect">
              <a:avLst>
                <a:gd name="adj" fmla="val 1720"/>
              </a:avLst>
            </a:prstGeom>
            <a:solidFill>
              <a:srgbClr val="2B2F36"/>
            </a:solidFill>
            <a:ln>
              <a:noFill/>
            </a:ln>
          </p:spPr>
          <p:txBody>
            <a:bodyPr rtlCol="0" anchor="ctr"/>
            <a:lstStyle/>
            <a:p>
              <a:pPr algn="ctr"/>
              <a:endParaRPr/>
            </a:p>
          </p:txBody>
        </p:sp>
        <p:sp>
          <p:nvSpPr>
            <p:cNvPr id="7" name="TextBox 6"/>
            <p:cNvSpPr txBox="1"/>
            <p:nvPr/>
          </p:nvSpPr>
          <p:spPr>
            <a:xfrm>
              <a:off x="777240" y="1389888"/>
              <a:ext cx="3931920" cy="731520"/>
            </a:xfrm>
            <a:prstGeom prst="rect">
              <a:avLst/>
            </a:prstGeom>
            <a:noFill/>
          </p:spPr>
          <p:txBody>
            <a:bodyPr wrap="square" lIns="0" tIns="0" rIns="0" bIns="0" anchor="t">
              <a:noAutofit/>
            </a:bodyPr>
            <a:lstStyle/>
            <a:p>
              <a:pPr algn="l">
                <a:spcBef>
                  <a:spcPts val="0"/>
                </a:spcBef>
                <a:spcAft>
                  <a:spcPts val="0"/>
                </a:spcAft>
              </a:pPr>
              <a:r>
                <a:rPr lang="en-GB" sz="1800" b="1" i="0">
                  <a:solidFill>
                    <a:srgbClr val="F2F2F2"/>
                  </a:solidFill>
                  <a:latin typeface="Arial"/>
                </a:rPr>
                <a:t>Small signal box</a:t>
              </a:r>
            </a:p>
            <a:p>
              <a:pPr algn="l">
                <a:spcBef>
                  <a:spcPts val="0"/>
                </a:spcBef>
                <a:spcAft>
                  <a:spcPts val="0"/>
                </a:spcAft>
              </a:pPr>
              <a:r>
                <a:rPr lang="en-GB" sz="1400" b="1" i="0">
                  <a:solidFill>
                    <a:srgbClr val="9AA0A6"/>
                  </a:solidFill>
                  <a:latin typeface="Arial"/>
                </a:rPr>
                <a:t>Short reach</a:t>
              </a:r>
            </a:p>
          </p:txBody>
        </p:sp>
        <p:sp>
          <p:nvSpPr>
            <p:cNvPr id="8" name="TextBox 7"/>
            <p:cNvSpPr txBox="1"/>
            <p:nvPr/>
          </p:nvSpPr>
          <p:spPr>
            <a:xfrm>
              <a:off x="5257800" y="1389888"/>
              <a:ext cx="5486400" cy="731520"/>
            </a:xfrm>
            <a:prstGeom prst="rect">
              <a:avLst/>
            </a:prstGeom>
            <a:noFill/>
          </p:spPr>
          <p:txBody>
            <a:bodyPr wrap="square" lIns="0" tIns="0" rIns="0" bIns="0" anchor="t">
              <a:noAutofit/>
            </a:bodyPr>
            <a:lstStyle/>
            <a:p>
              <a:pPr algn="l">
                <a:spcBef>
                  <a:spcPts val="0"/>
                </a:spcBef>
                <a:spcAft>
                  <a:spcPts val="0"/>
                </a:spcAft>
              </a:pPr>
              <a:r>
                <a:rPr lang="en-GB" sz="1800" b="1" i="0">
                  <a:solidFill>
                    <a:srgbClr val="F28C28"/>
                  </a:solidFill>
                  <a:latin typeface="Arial"/>
                </a:rPr>
                <a:t>Large signal box</a:t>
              </a:r>
            </a:p>
            <a:p>
              <a:pPr algn="l">
                <a:spcBef>
                  <a:spcPts val="0"/>
                </a:spcBef>
                <a:spcAft>
                  <a:spcPts val="0"/>
                </a:spcAft>
              </a:pPr>
              <a:r>
                <a:rPr lang="en-GB" sz="1400" b="1" i="0">
                  <a:solidFill>
                    <a:srgbClr val="F28C28"/>
                  </a:solidFill>
                  <a:latin typeface="Arial"/>
                </a:rPr>
                <a:t>Wide reach</a:t>
              </a:r>
            </a:p>
          </p:txBody>
        </p:sp>
        <p:sp>
          <p:nvSpPr>
            <p:cNvPr id="9" name="Oval 8"/>
            <p:cNvSpPr/>
            <p:nvPr/>
          </p:nvSpPr>
          <p:spPr>
            <a:xfrm>
              <a:off x="1508760" y="2560320"/>
              <a:ext cx="2377440" cy="2377440"/>
            </a:xfrm>
            <a:prstGeom prst="ellipse">
              <a:avLst/>
            </a:prstGeom>
            <a:solidFill>
              <a:srgbClr val="9AA0A6">
                <a:alpha val="14000"/>
              </a:srgbClr>
            </a:solidFill>
            <a:ln w="25400">
              <a:solidFill>
                <a:srgbClr val="9AA0A6"/>
              </a:solidFill>
              <a:prstDash val="dash"/>
            </a:ln>
          </p:spPr>
          <p:txBody>
            <a:bodyPr rtlCol="0" anchor="ctr"/>
            <a:lstStyle/>
            <a:p>
              <a:pPr algn="ctr"/>
              <a:endParaRPr/>
            </a:p>
          </p:txBody>
        </p:sp>
        <p:cxnSp>
          <p:nvCxnSpPr>
            <p:cNvPr id="10" name="Connector 9"/>
            <p:cNvCxnSpPr/>
            <p:nvPr/>
          </p:nvCxnSpPr>
          <p:spPr>
            <a:xfrm>
              <a:off x="731520" y="4389120"/>
              <a:ext cx="3931920" cy="0"/>
            </a:xfrm>
            <a:prstGeom prst="line">
              <a:avLst/>
            </a:prstGeom>
            <a:ln w="114300">
              <a:solidFill>
                <a:srgbClr val="6B5B4B"/>
              </a:solidFill>
              <a:prstDash val="sysDash"/>
            </a:ln>
          </p:spPr>
        </p:cxnSp>
        <p:cxnSp>
          <p:nvCxnSpPr>
            <p:cNvPr id="11" name="Connector 10"/>
            <p:cNvCxnSpPr/>
            <p:nvPr/>
          </p:nvCxnSpPr>
          <p:spPr>
            <a:xfrm>
              <a:off x="731520" y="4347972"/>
              <a:ext cx="3931920" cy="0"/>
            </a:xfrm>
            <a:prstGeom prst="line">
              <a:avLst/>
            </a:prstGeom>
            <a:ln w="25400">
              <a:solidFill>
                <a:srgbClr val="9AA0A6"/>
              </a:solidFill>
            </a:ln>
          </p:spPr>
        </p:cxnSp>
        <p:cxnSp>
          <p:nvCxnSpPr>
            <p:cNvPr id="12" name="Connector 11"/>
            <p:cNvCxnSpPr/>
            <p:nvPr/>
          </p:nvCxnSpPr>
          <p:spPr>
            <a:xfrm>
              <a:off x="731520" y="4430268"/>
              <a:ext cx="3931920" cy="0"/>
            </a:xfrm>
            <a:prstGeom prst="line">
              <a:avLst/>
            </a:prstGeom>
            <a:ln w="25400">
              <a:solidFill>
                <a:srgbClr val="9AA0A6"/>
              </a:solidFill>
            </a:ln>
          </p:spPr>
        </p:cxnSp>
        <p:sp>
          <p:nvSpPr>
            <p:cNvPr id="13" name="Rectangle 12"/>
            <p:cNvSpPr/>
            <p:nvPr/>
          </p:nvSpPr>
          <p:spPr>
            <a:xfrm>
              <a:off x="2331720" y="3108960"/>
              <a:ext cx="731520" cy="502920"/>
            </a:xfrm>
            <a:prstGeom prst="rect">
              <a:avLst/>
            </a:prstGeom>
            <a:solidFill>
              <a:srgbClr val="343A43"/>
            </a:solidFill>
            <a:ln w="19050">
              <a:solidFill>
                <a:srgbClr val="E8E8E8"/>
              </a:solidFill>
            </a:ln>
          </p:spPr>
          <p:txBody>
            <a:bodyPr rtlCol="0" anchor="ctr"/>
            <a:lstStyle/>
            <a:p>
              <a:pPr algn="ctr"/>
              <a:endParaRPr/>
            </a:p>
          </p:txBody>
        </p:sp>
        <p:sp>
          <p:nvSpPr>
            <p:cNvPr id="14" name="Isosceles Triangle 13"/>
            <p:cNvSpPr/>
            <p:nvPr/>
          </p:nvSpPr>
          <p:spPr>
            <a:xfrm>
              <a:off x="2240280" y="2834640"/>
              <a:ext cx="914400" cy="274320"/>
            </a:xfrm>
            <a:prstGeom prst="triangle">
              <a:avLst/>
            </a:prstGeom>
            <a:solidFill>
              <a:srgbClr val="6B5B4B"/>
            </a:solidFill>
            <a:ln>
              <a:noFill/>
            </a:ln>
          </p:spPr>
          <p:txBody>
            <a:bodyPr rtlCol="0" anchor="ctr"/>
            <a:lstStyle/>
            <a:p>
              <a:pPr algn="ctr"/>
              <a:endParaRPr/>
            </a:p>
          </p:txBody>
        </p:sp>
        <p:sp>
          <p:nvSpPr>
            <p:cNvPr id="15" name="Rectangle 14"/>
            <p:cNvSpPr/>
            <p:nvPr/>
          </p:nvSpPr>
          <p:spPr>
            <a:xfrm>
              <a:off x="1978762" y="3639312"/>
              <a:ext cx="65837" cy="658368"/>
            </a:xfrm>
            <a:prstGeom prst="rect">
              <a:avLst/>
            </a:prstGeom>
            <a:solidFill>
              <a:srgbClr val="E8E8E8"/>
            </a:solidFill>
            <a:ln>
              <a:noFill/>
            </a:ln>
          </p:spPr>
          <p:txBody>
            <a:bodyPr rtlCol="0" anchor="ctr"/>
            <a:lstStyle/>
            <a:p>
              <a:pPr algn="ctr"/>
              <a:endParaRPr/>
            </a:p>
          </p:txBody>
        </p:sp>
        <p:sp>
          <p:nvSpPr>
            <p:cNvPr id="16" name="Rectangle 15"/>
            <p:cNvSpPr/>
            <p:nvPr/>
          </p:nvSpPr>
          <p:spPr>
            <a:xfrm>
              <a:off x="2044598" y="3655771"/>
              <a:ext cx="384048" cy="76810"/>
            </a:xfrm>
            <a:prstGeom prst="rect">
              <a:avLst/>
            </a:prstGeom>
            <a:solidFill>
              <a:srgbClr val="E5484D"/>
            </a:solidFill>
            <a:ln w="12700">
              <a:solidFill>
                <a:srgbClr val="E8E8E8"/>
              </a:solidFill>
            </a:ln>
          </p:spPr>
          <p:txBody>
            <a:bodyPr rtlCol="0" anchor="ctr"/>
            <a:lstStyle/>
            <a:p>
              <a:pPr algn="ctr"/>
              <a:endParaRPr/>
            </a:p>
          </p:txBody>
        </p:sp>
        <p:sp>
          <p:nvSpPr>
            <p:cNvPr id="17" name="Rectangle 16"/>
            <p:cNvSpPr/>
            <p:nvPr/>
          </p:nvSpPr>
          <p:spPr>
            <a:xfrm>
              <a:off x="2282708" y="3655771"/>
              <a:ext cx="46086" cy="76810"/>
            </a:xfrm>
            <a:prstGeom prst="rect">
              <a:avLst/>
            </a:prstGeom>
            <a:solidFill>
              <a:srgbClr val="E8E8E8"/>
            </a:solidFill>
            <a:ln>
              <a:noFill/>
            </a:ln>
          </p:spPr>
          <p:txBody>
            <a:bodyPr rtlCol="0" anchor="ctr"/>
            <a:lstStyle/>
            <a:p>
              <a:pPr algn="ctr"/>
              <a:endParaRPr/>
            </a:p>
          </p:txBody>
        </p:sp>
        <p:sp>
          <p:nvSpPr>
            <p:cNvPr id="18" name="Rectangle 17"/>
            <p:cNvSpPr/>
            <p:nvPr/>
          </p:nvSpPr>
          <p:spPr>
            <a:xfrm>
              <a:off x="2618842" y="3639312"/>
              <a:ext cx="65837" cy="658368"/>
            </a:xfrm>
            <a:prstGeom prst="rect">
              <a:avLst/>
            </a:prstGeom>
            <a:solidFill>
              <a:srgbClr val="E8E8E8"/>
            </a:solidFill>
            <a:ln>
              <a:noFill/>
            </a:ln>
          </p:spPr>
          <p:txBody>
            <a:bodyPr rtlCol="0" anchor="ctr"/>
            <a:lstStyle/>
            <a:p>
              <a:pPr algn="ctr"/>
              <a:endParaRPr/>
            </a:p>
          </p:txBody>
        </p:sp>
        <p:sp>
          <p:nvSpPr>
            <p:cNvPr id="19" name="Rectangle 18"/>
            <p:cNvSpPr/>
            <p:nvPr/>
          </p:nvSpPr>
          <p:spPr>
            <a:xfrm>
              <a:off x="2684678" y="3655771"/>
              <a:ext cx="384048" cy="76810"/>
            </a:xfrm>
            <a:prstGeom prst="rect">
              <a:avLst/>
            </a:prstGeom>
            <a:solidFill>
              <a:srgbClr val="E5484D"/>
            </a:solidFill>
            <a:ln w="12700">
              <a:solidFill>
                <a:srgbClr val="E8E8E8"/>
              </a:solidFill>
            </a:ln>
          </p:spPr>
          <p:txBody>
            <a:bodyPr rtlCol="0" anchor="ctr"/>
            <a:lstStyle/>
            <a:p>
              <a:pPr algn="ctr"/>
              <a:endParaRPr/>
            </a:p>
          </p:txBody>
        </p:sp>
        <p:sp>
          <p:nvSpPr>
            <p:cNvPr id="20" name="Rectangle 19"/>
            <p:cNvSpPr/>
            <p:nvPr/>
          </p:nvSpPr>
          <p:spPr>
            <a:xfrm>
              <a:off x="2922788" y="3655771"/>
              <a:ext cx="46086" cy="76810"/>
            </a:xfrm>
            <a:prstGeom prst="rect">
              <a:avLst/>
            </a:prstGeom>
            <a:solidFill>
              <a:srgbClr val="E8E8E8"/>
            </a:solidFill>
            <a:ln>
              <a:noFill/>
            </a:ln>
          </p:spPr>
          <p:txBody>
            <a:bodyPr rtlCol="0" anchor="ctr"/>
            <a:lstStyle/>
            <a:p>
              <a:pPr algn="ctr"/>
              <a:endParaRPr/>
            </a:p>
          </p:txBody>
        </p:sp>
        <p:sp>
          <p:nvSpPr>
            <p:cNvPr id="21" name="Rectangle 20"/>
            <p:cNvSpPr/>
            <p:nvPr/>
          </p:nvSpPr>
          <p:spPr>
            <a:xfrm>
              <a:off x="3258922" y="3639312"/>
              <a:ext cx="65837" cy="658368"/>
            </a:xfrm>
            <a:prstGeom prst="rect">
              <a:avLst/>
            </a:prstGeom>
            <a:solidFill>
              <a:srgbClr val="E8E8E8"/>
            </a:solidFill>
            <a:ln>
              <a:noFill/>
            </a:ln>
          </p:spPr>
          <p:txBody>
            <a:bodyPr rtlCol="0" anchor="ctr"/>
            <a:lstStyle/>
            <a:p>
              <a:pPr algn="ctr"/>
              <a:endParaRPr/>
            </a:p>
          </p:txBody>
        </p:sp>
        <p:sp>
          <p:nvSpPr>
            <p:cNvPr id="22" name="Rectangle 21"/>
            <p:cNvSpPr/>
            <p:nvPr/>
          </p:nvSpPr>
          <p:spPr>
            <a:xfrm>
              <a:off x="3324758" y="3655771"/>
              <a:ext cx="384048" cy="76810"/>
            </a:xfrm>
            <a:prstGeom prst="rect">
              <a:avLst/>
            </a:prstGeom>
            <a:solidFill>
              <a:srgbClr val="E5484D"/>
            </a:solidFill>
            <a:ln w="12700">
              <a:solidFill>
                <a:srgbClr val="E8E8E8"/>
              </a:solidFill>
            </a:ln>
          </p:spPr>
          <p:txBody>
            <a:bodyPr rtlCol="0" anchor="ctr"/>
            <a:lstStyle/>
            <a:p>
              <a:pPr algn="ctr"/>
              <a:endParaRPr/>
            </a:p>
          </p:txBody>
        </p:sp>
        <p:sp>
          <p:nvSpPr>
            <p:cNvPr id="23" name="Rectangle 22"/>
            <p:cNvSpPr/>
            <p:nvPr/>
          </p:nvSpPr>
          <p:spPr>
            <a:xfrm>
              <a:off x="3562868" y="3655771"/>
              <a:ext cx="46086" cy="76810"/>
            </a:xfrm>
            <a:prstGeom prst="rect">
              <a:avLst/>
            </a:prstGeom>
            <a:solidFill>
              <a:srgbClr val="E8E8E8"/>
            </a:solidFill>
            <a:ln>
              <a:noFill/>
            </a:ln>
          </p:spPr>
          <p:txBody>
            <a:bodyPr rtlCol="0" anchor="ctr"/>
            <a:lstStyle/>
            <a:p>
              <a:pPr algn="ctr"/>
              <a:endParaRPr/>
            </a:p>
          </p:txBody>
        </p:sp>
        <p:sp>
          <p:nvSpPr>
            <p:cNvPr id="24" name="Oval 23"/>
            <p:cNvSpPr/>
            <p:nvPr/>
          </p:nvSpPr>
          <p:spPr>
            <a:xfrm>
              <a:off x="6675120" y="2194560"/>
              <a:ext cx="3291840" cy="3291840"/>
            </a:xfrm>
            <a:prstGeom prst="ellipse">
              <a:avLst/>
            </a:prstGeom>
            <a:solidFill>
              <a:srgbClr val="F28C28">
                <a:alpha val="14000"/>
              </a:srgbClr>
            </a:solidFill>
            <a:ln w="25400">
              <a:solidFill>
                <a:srgbClr val="F28C28"/>
              </a:solidFill>
              <a:prstDash val="dash"/>
            </a:ln>
          </p:spPr>
          <p:txBody>
            <a:bodyPr rtlCol="0" anchor="ctr"/>
            <a:lstStyle/>
            <a:p>
              <a:pPr algn="ctr"/>
              <a:endParaRPr/>
            </a:p>
          </p:txBody>
        </p:sp>
        <p:cxnSp>
          <p:nvCxnSpPr>
            <p:cNvPr id="25" name="Connector 24"/>
            <p:cNvCxnSpPr/>
            <p:nvPr/>
          </p:nvCxnSpPr>
          <p:spPr>
            <a:xfrm>
              <a:off x="5212080" y="4389120"/>
              <a:ext cx="6217920" cy="0"/>
            </a:xfrm>
            <a:prstGeom prst="line">
              <a:avLst/>
            </a:prstGeom>
            <a:ln w="114300">
              <a:solidFill>
                <a:srgbClr val="6B5B4B"/>
              </a:solidFill>
              <a:prstDash val="sysDash"/>
            </a:ln>
          </p:spPr>
        </p:cxnSp>
        <p:cxnSp>
          <p:nvCxnSpPr>
            <p:cNvPr id="26" name="Connector 25"/>
            <p:cNvCxnSpPr/>
            <p:nvPr/>
          </p:nvCxnSpPr>
          <p:spPr>
            <a:xfrm>
              <a:off x="5212080" y="4347972"/>
              <a:ext cx="6217920" cy="0"/>
            </a:xfrm>
            <a:prstGeom prst="line">
              <a:avLst/>
            </a:prstGeom>
            <a:ln w="25400">
              <a:solidFill>
                <a:srgbClr val="9AA0A6"/>
              </a:solidFill>
            </a:ln>
          </p:spPr>
        </p:cxnSp>
        <p:cxnSp>
          <p:nvCxnSpPr>
            <p:cNvPr id="27" name="Connector 26"/>
            <p:cNvCxnSpPr/>
            <p:nvPr/>
          </p:nvCxnSpPr>
          <p:spPr>
            <a:xfrm>
              <a:off x="5212080" y="4430268"/>
              <a:ext cx="6217920" cy="0"/>
            </a:xfrm>
            <a:prstGeom prst="line">
              <a:avLst/>
            </a:prstGeom>
            <a:ln w="25400">
              <a:solidFill>
                <a:srgbClr val="9AA0A6"/>
              </a:solidFill>
            </a:ln>
          </p:spPr>
        </p:cxnSp>
        <p:sp>
          <p:nvSpPr>
            <p:cNvPr id="28" name="Rectangle 27"/>
            <p:cNvSpPr/>
            <p:nvPr/>
          </p:nvSpPr>
          <p:spPr>
            <a:xfrm>
              <a:off x="7955280" y="3108960"/>
              <a:ext cx="731520" cy="502920"/>
            </a:xfrm>
            <a:prstGeom prst="rect">
              <a:avLst/>
            </a:prstGeom>
            <a:solidFill>
              <a:srgbClr val="343A43"/>
            </a:solidFill>
            <a:ln w="19050">
              <a:solidFill>
                <a:srgbClr val="E8E8E8"/>
              </a:solidFill>
            </a:ln>
          </p:spPr>
          <p:txBody>
            <a:bodyPr rtlCol="0" anchor="ctr"/>
            <a:lstStyle/>
            <a:p>
              <a:pPr algn="ctr"/>
              <a:endParaRPr/>
            </a:p>
          </p:txBody>
        </p:sp>
        <p:sp>
          <p:nvSpPr>
            <p:cNvPr id="29" name="Isosceles Triangle 28"/>
            <p:cNvSpPr/>
            <p:nvPr/>
          </p:nvSpPr>
          <p:spPr>
            <a:xfrm>
              <a:off x="7863840" y="2834640"/>
              <a:ext cx="914400" cy="274320"/>
            </a:xfrm>
            <a:prstGeom prst="triangle">
              <a:avLst/>
            </a:prstGeom>
            <a:solidFill>
              <a:srgbClr val="6B5B4B"/>
            </a:solidFill>
            <a:ln>
              <a:noFill/>
            </a:ln>
          </p:spPr>
          <p:txBody>
            <a:bodyPr rtlCol="0" anchor="ctr"/>
            <a:lstStyle/>
            <a:p>
              <a:pPr algn="ctr"/>
              <a:endParaRPr/>
            </a:p>
          </p:txBody>
        </p:sp>
        <p:sp>
          <p:nvSpPr>
            <p:cNvPr id="30" name="Rectangle 29"/>
            <p:cNvSpPr/>
            <p:nvPr/>
          </p:nvSpPr>
          <p:spPr>
            <a:xfrm>
              <a:off x="6870802" y="3639312"/>
              <a:ext cx="65837" cy="658368"/>
            </a:xfrm>
            <a:prstGeom prst="rect">
              <a:avLst/>
            </a:prstGeom>
            <a:solidFill>
              <a:srgbClr val="E8E8E8"/>
            </a:solidFill>
            <a:ln>
              <a:noFill/>
            </a:ln>
          </p:spPr>
          <p:txBody>
            <a:bodyPr rtlCol="0" anchor="ctr"/>
            <a:lstStyle/>
            <a:p>
              <a:pPr algn="ctr"/>
              <a:endParaRPr/>
            </a:p>
          </p:txBody>
        </p:sp>
        <p:sp>
          <p:nvSpPr>
            <p:cNvPr id="31" name="Rectangle 30"/>
            <p:cNvSpPr/>
            <p:nvPr/>
          </p:nvSpPr>
          <p:spPr>
            <a:xfrm>
              <a:off x="6936638" y="3655771"/>
              <a:ext cx="384048" cy="76810"/>
            </a:xfrm>
            <a:prstGeom prst="rect">
              <a:avLst/>
            </a:prstGeom>
            <a:solidFill>
              <a:srgbClr val="E5484D"/>
            </a:solidFill>
            <a:ln w="12700">
              <a:solidFill>
                <a:srgbClr val="E8E8E8"/>
              </a:solidFill>
            </a:ln>
          </p:spPr>
          <p:txBody>
            <a:bodyPr rtlCol="0" anchor="ctr"/>
            <a:lstStyle/>
            <a:p>
              <a:pPr algn="ctr"/>
              <a:endParaRPr/>
            </a:p>
          </p:txBody>
        </p:sp>
        <p:sp>
          <p:nvSpPr>
            <p:cNvPr id="32" name="Rectangle 31"/>
            <p:cNvSpPr/>
            <p:nvPr/>
          </p:nvSpPr>
          <p:spPr>
            <a:xfrm>
              <a:off x="7174748" y="3655771"/>
              <a:ext cx="46086" cy="76810"/>
            </a:xfrm>
            <a:prstGeom prst="rect">
              <a:avLst/>
            </a:prstGeom>
            <a:solidFill>
              <a:srgbClr val="E8E8E8"/>
            </a:solidFill>
            <a:ln>
              <a:noFill/>
            </a:ln>
          </p:spPr>
          <p:txBody>
            <a:bodyPr rtlCol="0" anchor="ctr"/>
            <a:lstStyle/>
            <a:p>
              <a:pPr algn="ctr"/>
              <a:endParaRPr/>
            </a:p>
          </p:txBody>
        </p:sp>
        <p:sp>
          <p:nvSpPr>
            <p:cNvPr id="33" name="Rectangle 32"/>
            <p:cNvSpPr/>
            <p:nvPr/>
          </p:nvSpPr>
          <p:spPr>
            <a:xfrm>
              <a:off x="7373722" y="3639312"/>
              <a:ext cx="65837" cy="658368"/>
            </a:xfrm>
            <a:prstGeom prst="rect">
              <a:avLst/>
            </a:prstGeom>
            <a:solidFill>
              <a:srgbClr val="E8E8E8"/>
            </a:solidFill>
            <a:ln>
              <a:noFill/>
            </a:ln>
          </p:spPr>
          <p:txBody>
            <a:bodyPr rtlCol="0" anchor="ctr"/>
            <a:lstStyle/>
            <a:p>
              <a:pPr algn="ctr"/>
              <a:endParaRPr/>
            </a:p>
          </p:txBody>
        </p:sp>
        <p:sp>
          <p:nvSpPr>
            <p:cNvPr id="34" name="Rectangle 33"/>
            <p:cNvSpPr/>
            <p:nvPr/>
          </p:nvSpPr>
          <p:spPr>
            <a:xfrm>
              <a:off x="7439558" y="3655771"/>
              <a:ext cx="384048" cy="76810"/>
            </a:xfrm>
            <a:prstGeom prst="rect">
              <a:avLst/>
            </a:prstGeom>
            <a:solidFill>
              <a:srgbClr val="E5484D"/>
            </a:solidFill>
            <a:ln w="12700">
              <a:solidFill>
                <a:srgbClr val="E8E8E8"/>
              </a:solidFill>
            </a:ln>
          </p:spPr>
          <p:txBody>
            <a:bodyPr rtlCol="0" anchor="ctr"/>
            <a:lstStyle/>
            <a:p>
              <a:pPr algn="ctr"/>
              <a:endParaRPr/>
            </a:p>
          </p:txBody>
        </p:sp>
        <p:sp>
          <p:nvSpPr>
            <p:cNvPr id="35" name="Rectangle 34"/>
            <p:cNvSpPr/>
            <p:nvPr/>
          </p:nvSpPr>
          <p:spPr>
            <a:xfrm>
              <a:off x="7677668" y="3655771"/>
              <a:ext cx="46086" cy="76810"/>
            </a:xfrm>
            <a:prstGeom prst="rect">
              <a:avLst/>
            </a:prstGeom>
            <a:solidFill>
              <a:srgbClr val="E8E8E8"/>
            </a:solidFill>
            <a:ln>
              <a:noFill/>
            </a:ln>
          </p:spPr>
          <p:txBody>
            <a:bodyPr rtlCol="0" anchor="ctr"/>
            <a:lstStyle/>
            <a:p>
              <a:pPr algn="ctr"/>
              <a:endParaRPr/>
            </a:p>
          </p:txBody>
        </p:sp>
        <p:sp>
          <p:nvSpPr>
            <p:cNvPr id="36" name="Rectangle 35"/>
            <p:cNvSpPr/>
            <p:nvPr/>
          </p:nvSpPr>
          <p:spPr>
            <a:xfrm>
              <a:off x="7876642" y="3639312"/>
              <a:ext cx="65837" cy="658368"/>
            </a:xfrm>
            <a:prstGeom prst="rect">
              <a:avLst/>
            </a:prstGeom>
            <a:solidFill>
              <a:srgbClr val="E8E8E8"/>
            </a:solidFill>
            <a:ln>
              <a:noFill/>
            </a:ln>
          </p:spPr>
          <p:txBody>
            <a:bodyPr rtlCol="0" anchor="ctr"/>
            <a:lstStyle/>
            <a:p>
              <a:pPr algn="ctr"/>
              <a:endParaRPr/>
            </a:p>
          </p:txBody>
        </p:sp>
        <p:sp>
          <p:nvSpPr>
            <p:cNvPr id="37" name="Rectangle 36"/>
            <p:cNvSpPr/>
            <p:nvPr/>
          </p:nvSpPr>
          <p:spPr>
            <a:xfrm>
              <a:off x="7942478" y="3655771"/>
              <a:ext cx="384048" cy="76810"/>
            </a:xfrm>
            <a:prstGeom prst="rect">
              <a:avLst/>
            </a:prstGeom>
            <a:solidFill>
              <a:srgbClr val="E5484D"/>
            </a:solidFill>
            <a:ln w="12700">
              <a:solidFill>
                <a:srgbClr val="E8E8E8"/>
              </a:solidFill>
            </a:ln>
          </p:spPr>
          <p:txBody>
            <a:bodyPr rtlCol="0" anchor="ctr"/>
            <a:lstStyle/>
            <a:p>
              <a:pPr algn="ctr"/>
              <a:endParaRPr/>
            </a:p>
          </p:txBody>
        </p:sp>
        <p:sp>
          <p:nvSpPr>
            <p:cNvPr id="38" name="Rectangle 37"/>
            <p:cNvSpPr/>
            <p:nvPr/>
          </p:nvSpPr>
          <p:spPr>
            <a:xfrm>
              <a:off x="8180588" y="3655771"/>
              <a:ext cx="46086" cy="76810"/>
            </a:xfrm>
            <a:prstGeom prst="rect">
              <a:avLst/>
            </a:prstGeom>
            <a:solidFill>
              <a:srgbClr val="E8E8E8"/>
            </a:solidFill>
            <a:ln>
              <a:noFill/>
            </a:ln>
          </p:spPr>
          <p:txBody>
            <a:bodyPr rtlCol="0" anchor="ctr"/>
            <a:lstStyle/>
            <a:p>
              <a:pPr algn="ctr"/>
              <a:endParaRPr/>
            </a:p>
          </p:txBody>
        </p:sp>
        <p:sp>
          <p:nvSpPr>
            <p:cNvPr id="39" name="Rectangle 38"/>
            <p:cNvSpPr/>
            <p:nvPr/>
          </p:nvSpPr>
          <p:spPr>
            <a:xfrm>
              <a:off x="8379562" y="3639312"/>
              <a:ext cx="65837" cy="658368"/>
            </a:xfrm>
            <a:prstGeom prst="rect">
              <a:avLst/>
            </a:prstGeom>
            <a:solidFill>
              <a:srgbClr val="E8E8E8"/>
            </a:solidFill>
            <a:ln>
              <a:noFill/>
            </a:ln>
          </p:spPr>
          <p:txBody>
            <a:bodyPr rtlCol="0" anchor="ctr"/>
            <a:lstStyle/>
            <a:p>
              <a:pPr algn="ctr"/>
              <a:endParaRPr/>
            </a:p>
          </p:txBody>
        </p:sp>
        <p:sp>
          <p:nvSpPr>
            <p:cNvPr id="40" name="Rectangle 39"/>
            <p:cNvSpPr/>
            <p:nvPr/>
          </p:nvSpPr>
          <p:spPr>
            <a:xfrm>
              <a:off x="8445398" y="3655771"/>
              <a:ext cx="384048" cy="76810"/>
            </a:xfrm>
            <a:prstGeom prst="rect">
              <a:avLst/>
            </a:prstGeom>
            <a:solidFill>
              <a:srgbClr val="E5484D"/>
            </a:solidFill>
            <a:ln w="12700">
              <a:solidFill>
                <a:srgbClr val="E8E8E8"/>
              </a:solidFill>
            </a:ln>
          </p:spPr>
          <p:txBody>
            <a:bodyPr rtlCol="0" anchor="ctr"/>
            <a:lstStyle/>
            <a:p>
              <a:pPr algn="ctr"/>
              <a:endParaRPr/>
            </a:p>
          </p:txBody>
        </p:sp>
        <p:sp>
          <p:nvSpPr>
            <p:cNvPr id="41" name="Rectangle 40"/>
            <p:cNvSpPr/>
            <p:nvPr/>
          </p:nvSpPr>
          <p:spPr>
            <a:xfrm>
              <a:off x="8683508" y="3655771"/>
              <a:ext cx="46086" cy="76810"/>
            </a:xfrm>
            <a:prstGeom prst="rect">
              <a:avLst/>
            </a:prstGeom>
            <a:solidFill>
              <a:srgbClr val="E8E8E8"/>
            </a:solidFill>
            <a:ln>
              <a:noFill/>
            </a:ln>
          </p:spPr>
          <p:txBody>
            <a:bodyPr rtlCol="0" anchor="ctr"/>
            <a:lstStyle/>
            <a:p>
              <a:pPr algn="ctr"/>
              <a:endParaRPr/>
            </a:p>
          </p:txBody>
        </p:sp>
        <p:sp>
          <p:nvSpPr>
            <p:cNvPr id="42" name="Rectangle 41"/>
            <p:cNvSpPr/>
            <p:nvPr/>
          </p:nvSpPr>
          <p:spPr>
            <a:xfrm>
              <a:off x="8882482" y="3639312"/>
              <a:ext cx="65837" cy="658368"/>
            </a:xfrm>
            <a:prstGeom prst="rect">
              <a:avLst/>
            </a:prstGeom>
            <a:solidFill>
              <a:srgbClr val="E8E8E8"/>
            </a:solidFill>
            <a:ln>
              <a:noFill/>
            </a:ln>
          </p:spPr>
          <p:txBody>
            <a:bodyPr rtlCol="0" anchor="ctr"/>
            <a:lstStyle/>
            <a:p>
              <a:pPr algn="ctr"/>
              <a:endParaRPr/>
            </a:p>
          </p:txBody>
        </p:sp>
        <p:sp>
          <p:nvSpPr>
            <p:cNvPr id="43" name="Rectangle 42"/>
            <p:cNvSpPr/>
            <p:nvPr/>
          </p:nvSpPr>
          <p:spPr>
            <a:xfrm>
              <a:off x="8948318" y="3655771"/>
              <a:ext cx="384048" cy="76810"/>
            </a:xfrm>
            <a:prstGeom prst="rect">
              <a:avLst/>
            </a:prstGeom>
            <a:solidFill>
              <a:srgbClr val="E5484D"/>
            </a:solidFill>
            <a:ln w="12700">
              <a:solidFill>
                <a:srgbClr val="E8E8E8"/>
              </a:solidFill>
            </a:ln>
          </p:spPr>
          <p:txBody>
            <a:bodyPr rtlCol="0" anchor="ctr"/>
            <a:lstStyle/>
            <a:p>
              <a:pPr algn="ctr"/>
              <a:endParaRPr/>
            </a:p>
          </p:txBody>
        </p:sp>
        <p:sp>
          <p:nvSpPr>
            <p:cNvPr id="44" name="Rectangle 43"/>
            <p:cNvSpPr/>
            <p:nvPr/>
          </p:nvSpPr>
          <p:spPr>
            <a:xfrm>
              <a:off x="9186428" y="3655771"/>
              <a:ext cx="46086" cy="76810"/>
            </a:xfrm>
            <a:prstGeom prst="rect">
              <a:avLst/>
            </a:prstGeom>
            <a:solidFill>
              <a:srgbClr val="E8E8E8"/>
            </a:solidFill>
            <a:ln>
              <a:noFill/>
            </a:ln>
          </p:spPr>
          <p:txBody>
            <a:bodyPr rtlCol="0" anchor="ctr"/>
            <a:lstStyle/>
            <a:p>
              <a:pPr algn="ctr"/>
              <a:endParaRPr/>
            </a:p>
          </p:txBody>
        </p:sp>
        <p:sp>
          <p:nvSpPr>
            <p:cNvPr id="45" name="Rectangle 44"/>
            <p:cNvSpPr/>
            <p:nvPr/>
          </p:nvSpPr>
          <p:spPr>
            <a:xfrm>
              <a:off x="9385402" y="3639312"/>
              <a:ext cx="65837" cy="658368"/>
            </a:xfrm>
            <a:prstGeom prst="rect">
              <a:avLst/>
            </a:prstGeom>
            <a:solidFill>
              <a:srgbClr val="E8E8E8"/>
            </a:solidFill>
            <a:ln>
              <a:noFill/>
            </a:ln>
          </p:spPr>
          <p:txBody>
            <a:bodyPr rtlCol="0" anchor="ctr"/>
            <a:lstStyle/>
            <a:p>
              <a:pPr algn="ctr"/>
              <a:endParaRPr/>
            </a:p>
          </p:txBody>
        </p:sp>
        <p:sp>
          <p:nvSpPr>
            <p:cNvPr id="46" name="Rectangle 45"/>
            <p:cNvSpPr/>
            <p:nvPr/>
          </p:nvSpPr>
          <p:spPr>
            <a:xfrm>
              <a:off x="9451238" y="3655771"/>
              <a:ext cx="384048" cy="76810"/>
            </a:xfrm>
            <a:prstGeom prst="rect">
              <a:avLst/>
            </a:prstGeom>
            <a:solidFill>
              <a:srgbClr val="E5484D"/>
            </a:solidFill>
            <a:ln w="12700">
              <a:solidFill>
                <a:srgbClr val="E8E8E8"/>
              </a:solidFill>
            </a:ln>
          </p:spPr>
          <p:txBody>
            <a:bodyPr rtlCol="0" anchor="ctr"/>
            <a:lstStyle/>
            <a:p>
              <a:pPr algn="ctr"/>
              <a:endParaRPr/>
            </a:p>
          </p:txBody>
        </p:sp>
        <p:sp>
          <p:nvSpPr>
            <p:cNvPr id="47" name="Rectangle 46"/>
            <p:cNvSpPr/>
            <p:nvPr/>
          </p:nvSpPr>
          <p:spPr>
            <a:xfrm>
              <a:off x="9689348" y="3655771"/>
              <a:ext cx="46086" cy="76810"/>
            </a:xfrm>
            <a:prstGeom prst="rect">
              <a:avLst/>
            </a:prstGeom>
            <a:solidFill>
              <a:srgbClr val="E8E8E8"/>
            </a:solidFill>
            <a:ln>
              <a:noFill/>
            </a:ln>
          </p:spPr>
          <p:txBody>
            <a:bodyPr rtlCol="0" anchor="ctr"/>
            <a:lstStyle/>
            <a:p>
              <a:pPr algn="ctr"/>
              <a:endParaRPr/>
            </a:p>
          </p:txBody>
        </p:sp>
      </p:grpSp>
      <p:sp>
        <p:nvSpPr>
          <p:cNvPr id="48"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Bigger signal boxes and better interlocking could manage larger networks.</a:t>
            </a:r>
          </a:p>
        </p:txBody>
      </p:sp>
      <p:sp>
        <p:nvSpPr>
          <p:cNvPr id="49"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50"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7</a:t>
            </a:r>
          </a:p>
        </p:txBody>
      </p:sp>
    </p:spTree>
    <p:extLst>
      <p:ext uri="{BB962C8B-B14F-4D97-AF65-F5344CB8AC3E}">
        <p14:creationId xmlns:p14="http://schemas.microsoft.com/office/powerpoint/2010/main" val="18484379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par>
                                <p:cTn id="11" presetID="10" presetClass="entr" presetSubtype="0" fill="hold" nodeType="withEffect">
                                  <p:stCondLst>
                                    <p:cond delay="60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A line that stays</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semaphore post and crossed-out electronic powers" descr="A tall semaphore signal post beside a card reading Electronic-signal powers, crossed out with a red cross."/>
          <p:cNvGrpSpPr/>
          <p:nvPr/>
        </p:nvGrpSpPr>
        <p:grpSpPr>
          <a:xfrm>
            <a:off x="2011680" y="1554480"/>
            <a:ext cx="9144000" cy="3694176"/>
            <a:chOff x="2011680" y="1554480"/>
            <a:chExt cx="9144000" cy="3694176"/>
          </a:xfrm>
        </p:grpSpPr>
        <p:sp>
          <p:nvSpPr>
            <p:cNvPr id="5" name="Rectangle 4"/>
            <p:cNvSpPr/>
            <p:nvPr/>
          </p:nvSpPr>
          <p:spPr>
            <a:xfrm>
              <a:off x="2011680" y="5138928"/>
              <a:ext cx="2377440" cy="109728"/>
            </a:xfrm>
            <a:prstGeom prst="rect">
              <a:avLst/>
            </a:prstGeom>
            <a:solidFill>
              <a:srgbClr val="6B5B4B"/>
            </a:solidFill>
            <a:ln>
              <a:noFill/>
            </a:ln>
          </p:spPr>
          <p:txBody>
            <a:bodyPr rtlCol="0" anchor="ctr"/>
            <a:lstStyle/>
            <a:p>
              <a:pPr algn="ctr"/>
              <a:endParaRPr/>
            </a:p>
          </p:txBody>
        </p:sp>
        <p:sp>
          <p:nvSpPr>
            <p:cNvPr id="6" name="Rectangle 5"/>
            <p:cNvSpPr/>
            <p:nvPr/>
          </p:nvSpPr>
          <p:spPr>
            <a:xfrm>
              <a:off x="3008376" y="1554480"/>
              <a:ext cx="384048" cy="3611880"/>
            </a:xfrm>
            <a:prstGeom prst="rect">
              <a:avLst/>
            </a:prstGeom>
            <a:solidFill>
              <a:srgbClr val="E8E8E8"/>
            </a:solidFill>
            <a:ln>
              <a:noFill/>
            </a:ln>
          </p:spPr>
          <p:txBody>
            <a:bodyPr rtlCol="0" anchor="ctr"/>
            <a:lstStyle/>
            <a:p>
              <a:pPr algn="ctr"/>
              <a:endParaRPr/>
            </a:p>
          </p:txBody>
        </p:sp>
        <p:sp>
          <p:nvSpPr>
            <p:cNvPr id="7" name="Rectangle 6"/>
            <p:cNvSpPr/>
            <p:nvPr/>
          </p:nvSpPr>
          <p:spPr>
            <a:xfrm>
              <a:off x="3392424" y="1650492"/>
              <a:ext cx="2240280" cy="448056"/>
            </a:xfrm>
            <a:prstGeom prst="rect">
              <a:avLst/>
            </a:prstGeom>
            <a:solidFill>
              <a:srgbClr val="E5484D"/>
            </a:solidFill>
            <a:ln w="12700">
              <a:solidFill>
                <a:srgbClr val="E8E8E8"/>
              </a:solidFill>
            </a:ln>
          </p:spPr>
          <p:txBody>
            <a:bodyPr rtlCol="0" anchor="ctr"/>
            <a:lstStyle/>
            <a:p>
              <a:pPr algn="ctr"/>
              <a:endParaRPr/>
            </a:p>
          </p:txBody>
        </p:sp>
        <p:sp>
          <p:nvSpPr>
            <p:cNvPr id="8" name="Rectangle 7"/>
            <p:cNvSpPr/>
            <p:nvPr/>
          </p:nvSpPr>
          <p:spPr>
            <a:xfrm>
              <a:off x="4781398" y="1650492"/>
              <a:ext cx="268834" cy="448056"/>
            </a:xfrm>
            <a:prstGeom prst="rect">
              <a:avLst/>
            </a:prstGeom>
            <a:solidFill>
              <a:srgbClr val="E8E8E8"/>
            </a:solidFill>
            <a:ln>
              <a:noFill/>
            </a:ln>
          </p:spPr>
          <p:txBody>
            <a:bodyPr rtlCol="0" anchor="ctr"/>
            <a:lstStyle/>
            <a:p>
              <a:pPr algn="ctr"/>
              <a:endParaRPr/>
            </a:p>
          </p:txBody>
        </p:sp>
        <p:sp>
          <p:nvSpPr>
            <p:cNvPr id="9" name="Oval 8"/>
            <p:cNvSpPr/>
            <p:nvPr/>
          </p:nvSpPr>
          <p:spPr>
            <a:xfrm>
              <a:off x="2400300" y="1650492"/>
              <a:ext cx="448056" cy="448056"/>
            </a:xfrm>
            <a:prstGeom prst="ellipse">
              <a:avLst/>
            </a:prstGeom>
            <a:solidFill>
              <a:srgbClr val="E5484D"/>
            </a:solidFill>
            <a:ln w="12700">
              <a:solidFill>
                <a:srgbClr val="E8E8E8"/>
              </a:solidFill>
            </a:ln>
          </p:spPr>
          <p:txBody>
            <a:bodyPr rtlCol="0" anchor="ctr"/>
            <a:lstStyle/>
            <a:p>
              <a:pPr algn="ctr"/>
              <a:endParaRPr/>
            </a:p>
          </p:txBody>
        </p:sp>
        <p:sp>
          <p:nvSpPr>
            <p:cNvPr id="10" name="Rounded Rectangle 9"/>
            <p:cNvSpPr/>
            <p:nvPr/>
          </p:nvSpPr>
          <p:spPr>
            <a:xfrm>
              <a:off x="5486400" y="2468880"/>
              <a:ext cx="5669280" cy="1737360"/>
            </a:xfrm>
            <a:prstGeom prst="roundRect">
              <a:avLst>
                <a:gd name="adj" fmla="val 5263"/>
              </a:avLst>
            </a:prstGeom>
            <a:solidFill>
              <a:srgbClr val="343A43"/>
            </a:solidFill>
            <a:ln w="38100">
              <a:solidFill>
                <a:srgbClr val="6CA0DC"/>
              </a:solidFill>
            </a:ln>
          </p:spPr>
          <p:txBody>
            <a:bodyPr rtlCol="0" anchor="ctr"/>
            <a:lstStyle/>
            <a:p>
              <a:pPr algn="ctr"/>
              <a:endParaRPr/>
            </a:p>
          </p:txBody>
        </p:sp>
        <p:sp>
          <p:nvSpPr>
            <p:cNvPr id="11" name="Freeform 10"/>
            <p:cNvSpPr/>
            <p:nvPr/>
          </p:nvSpPr>
          <p:spPr>
            <a:xfrm>
              <a:off x="5852160" y="2743200"/>
              <a:ext cx="1097280" cy="1234440"/>
            </a:xfrm>
            <a:custGeom>
              <a:avLst/>
              <a:gdLst/>
              <a:ahLst/>
              <a:cxnLst/>
              <a:rect l="l" t="t" r="r" b="b"/>
              <a:pathLst>
                <a:path w="1097280" h="1234440">
                  <a:moveTo>
                    <a:pt x="182880" y="0"/>
                  </a:moveTo>
                  <a:lnTo>
                    <a:pt x="868680" y="0"/>
                  </a:lnTo>
                  <a:lnTo>
                    <a:pt x="548640" y="457200"/>
                  </a:lnTo>
                  <a:lnTo>
                    <a:pt x="1097280" y="457200"/>
                  </a:lnTo>
                  <a:lnTo>
                    <a:pt x="320040" y="1234440"/>
                  </a:lnTo>
                  <a:lnTo>
                    <a:pt x="502920" y="685800"/>
                  </a:lnTo>
                  <a:lnTo>
                    <a:pt x="0" y="685800"/>
                  </a:lnTo>
                  <a:close/>
                </a:path>
              </a:pathLst>
            </a:custGeom>
            <a:solidFill>
              <a:srgbClr val="6CA0DC"/>
            </a:solidFill>
            <a:ln>
              <a:noFill/>
            </a:ln>
          </p:spPr>
          <p:txBody>
            <a:bodyPr rtlCol="0" anchor="ctr"/>
            <a:lstStyle/>
            <a:p>
              <a:pPr algn="ctr"/>
              <a:endParaRPr/>
            </a:p>
          </p:txBody>
        </p:sp>
        <p:cxnSp>
          <p:nvCxnSpPr>
            <p:cNvPr id="12" name="Cross"/>
            <p:cNvCxnSpPr/>
            <p:nvPr/>
          </p:nvCxnSpPr>
          <p:spPr>
            <a:xfrm>
              <a:off x="5486400" y="2468880"/>
              <a:ext cx="5669280" cy="1737360"/>
            </a:xfrm>
            <a:prstGeom prst="line">
              <a:avLst/>
            </a:prstGeom>
            <a:ln w="63500">
              <a:solidFill>
                <a:srgbClr val="E5484D">
                  <a:alpha val="75000"/>
                </a:srgbClr>
              </a:solidFill>
            </a:ln>
          </p:spPr>
        </p:cxnSp>
        <p:cxnSp>
          <p:nvCxnSpPr>
            <p:cNvPr id="13" name="Cross"/>
            <p:cNvCxnSpPr/>
            <p:nvPr/>
          </p:nvCxnSpPr>
          <p:spPr>
            <a:xfrm flipH="1">
              <a:off x="5486400" y="2468880"/>
              <a:ext cx="5669280" cy="1737360"/>
            </a:xfrm>
            <a:prstGeom prst="line">
              <a:avLst/>
            </a:prstGeom>
            <a:ln w="63500">
              <a:solidFill>
                <a:srgbClr val="E5484D">
                  <a:alpha val="75000"/>
                </a:srgbClr>
              </a:solidFill>
            </a:ln>
          </p:spPr>
        </p:cxnSp>
        <p:sp>
          <p:nvSpPr>
            <p:cNvPr id="14" name="TextBox 13"/>
            <p:cNvSpPr txBox="1"/>
            <p:nvPr/>
          </p:nvSpPr>
          <p:spPr>
            <a:xfrm>
              <a:off x="7132320" y="2606040"/>
              <a:ext cx="3840480" cy="1463040"/>
            </a:xfrm>
            <a:prstGeom prst="rect">
              <a:avLst/>
            </a:prstGeom>
            <a:noFill/>
          </p:spPr>
          <p:txBody>
            <a:bodyPr wrap="square" lIns="0" tIns="0" rIns="0" bIns="0" anchor="ctr">
              <a:noAutofit/>
            </a:bodyPr>
            <a:lstStyle/>
            <a:p>
              <a:pPr algn="l">
                <a:spcBef>
                  <a:spcPts val="0"/>
                </a:spcBef>
                <a:spcAft>
                  <a:spcPts val="0"/>
                </a:spcAft>
              </a:pPr>
              <a:r>
                <a:rPr lang="en-GB" sz="2400" b="1" i="0">
                  <a:solidFill>
                    <a:srgbClr val="F2F2F2"/>
                  </a:solidFill>
                  <a:latin typeface="Arial"/>
                </a:rPr>
                <a:t>Electronic-signal powers</a:t>
              </a:r>
            </a:p>
          </p:txBody>
        </p:sp>
      </p:grpSp>
      <p:sp>
        <p:nvSpPr>
          <p:cNvPr id="15"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Late steam must not simply copy electric rail's abilities.</a:t>
            </a:r>
          </a:p>
        </p:txBody>
      </p:sp>
      <p:sp>
        <p:nvSpPr>
          <p:cNvPr id="16"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17"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8</a:t>
            </a:r>
          </a:p>
        </p:txBody>
      </p:sp>
    </p:spTree>
    <p:extLst>
      <p:ext uri="{BB962C8B-B14F-4D97-AF65-F5344CB8AC3E}">
        <p14:creationId xmlns:p14="http://schemas.microsoft.com/office/powerpoint/2010/main" val="38214689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nodeType="withEffect">
                                  <p:stCondLst>
                                    <p:cond delay="6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Two ways to drive</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simple and advanced driver cards" descr="Two driver cards. Simple shows one lever because the crew handles the details. Advanced shows three levers because you handle the engine, and is for packs only."/>
          <p:cNvGrpSpPr/>
          <p:nvPr/>
        </p:nvGrpSpPr>
        <p:grpSpPr>
          <a:xfrm>
            <a:off x="548640" y="1325880"/>
            <a:ext cx="11091672" cy="4251960"/>
            <a:chOff x="548640" y="1325880"/>
            <a:chExt cx="11091672" cy="4251960"/>
          </a:xfrm>
        </p:grpSpPr>
        <p:sp>
          <p:nvSpPr>
            <p:cNvPr id="5" name="Rounded Rectangle 4"/>
            <p:cNvSpPr/>
            <p:nvPr/>
          </p:nvSpPr>
          <p:spPr>
            <a:xfrm>
              <a:off x="548640" y="1325880"/>
              <a:ext cx="5440680" cy="4251960"/>
            </a:xfrm>
            <a:prstGeom prst="roundRect">
              <a:avLst>
                <a:gd name="adj" fmla="val 1720"/>
              </a:avLst>
            </a:prstGeom>
            <a:solidFill>
              <a:srgbClr val="2B2F36"/>
            </a:solidFill>
            <a:ln>
              <a:noFill/>
            </a:ln>
          </p:spPr>
          <p:txBody>
            <a:bodyPr rtlCol="0" anchor="ctr"/>
            <a:lstStyle/>
            <a:p>
              <a:pPr algn="ctr"/>
              <a:endParaRPr/>
            </a:p>
          </p:txBody>
        </p:sp>
        <p:sp>
          <p:nvSpPr>
            <p:cNvPr id="6" name="Rounded Rectangle 5"/>
            <p:cNvSpPr/>
            <p:nvPr/>
          </p:nvSpPr>
          <p:spPr>
            <a:xfrm>
              <a:off x="6199632" y="1325880"/>
              <a:ext cx="5440680" cy="4251960"/>
            </a:xfrm>
            <a:prstGeom prst="roundRect">
              <a:avLst>
                <a:gd name="adj" fmla="val 1720"/>
              </a:avLst>
            </a:prstGeom>
            <a:solidFill>
              <a:srgbClr val="2B2F36"/>
            </a:solidFill>
            <a:ln>
              <a:noFill/>
            </a:ln>
          </p:spPr>
          <p:txBody>
            <a:bodyPr rtlCol="0" anchor="ctr"/>
            <a:lstStyle/>
            <a:p>
              <a:pPr algn="ctr"/>
              <a:endParaRPr/>
            </a:p>
          </p:txBody>
        </p:sp>
        <p:sp>
          <p:nvSpPr>
            <p:cNvPr id="7" name="TextBox 6"/>
            <p:cNvSpPr txBox="1"/>
            <p:nvPr/>
          </p:nvSpPr>
          <p:spPr>
            <a:xfrm>
              <a:off x="777240" y="1463040"/>
              <a:ext cx="4983480" cy="822960"/>
            </a:xfrm>
            <a:prstGeom prst="rect">
              <a:avLst/>
            </a:prstGeom>
            <a:noFill/>
          </p:spPr>
          <p:txBody>
            <a:bodyPr wrap="square" lIns="0" tIns="0" rIns="0" bIns="0" anchor="t">
              <a:noAutofit/>
            </a:bodyPr>
            <a:lstStyle/>
            <a:p>
              <a:pPr algn="l">
                <a:spcBef>
                  <a:spcPts val="0"/>
                </a:spcBef>
                <a:spcAft>
                  <a:spcPts val="0"/>
                </a:spcAft>
              </a:pPr>
              <a:r>
                <a:rPr lang="en-GB" sz="2000" b="1" i="0">
                  <a:solidFill>
                    <a:srgbClr val="F28C28"/>
                  </a:solidFill>
                  <a:latin typeface="Arial"/>
                </a:rPr>
                <a:t>Simple:</a:t>
              </a:r>
              <a:r>
                <a:rPr lang="en-GB" sz="2000" b="0" i="0">
                  <a:solidFill>
                    <a:srgbClr val="F2F2F2"/>
                  </a:solidFill>
                  <a:latin typeface="Arial"/>
                </a:rPr>
                <a:t> the crew handles the details</a:t>
              </a:r>
            </a:p>
          </p:txBody>
        </p:sp>
        <p:sp>
          <p:nvSpPr>
            <p:cNvPr id="8" name="TextBox 7"/>
            <p:cNvSpPr txBox="1"/>
            <p:nvPr/>
          </p:nvSpPr>
          <p:spPr>
            <a:xfrm>
              <a:off x="6428232" y="1463040"/>
              <a:ext cx="4983480" cy="822960"/>
            </a:xfrm>
            <a:prstGeom prst="rect">
              <a:avLst/>
            </a:prstGeom>
            <a:noFill/>
          </p:spPr>
          <p:txBody>
            <a:bodyPr wrap="square" lIns="0" tIns="0" rIns="0" bIns="0" anchor="t">
              <a:noAutofit/>
            </a:bodyPr>
            <a:lstStyle/>
            <a:p>
              <a:pPr algn="l">
                <a:spcBef>
                  <a:spcPts val="0"/>
                </a:spcBef>
                <a:spcAft>
                  <a:spcPts val="0"/>
                </a:spcAft>
              </a:pPr>
              <a:r>
                <a:rPr lang="en-GB" sz="2000" b="1" i="0">
                  <a:solidFill>
                    <a:srgbClr val="F28C28"/>
                  </a:solidFill>
                  <a:latin typeface="Arial"/>
                </a:rPr>
                <a:t>Advanced:</a:t>
              </a:r>
              <a:r>
                <a:rPr lang="en-GB" sz="2000" b="0" i="0">
                  <a:solidFill>
                    <a:srgbClr val="F2F2F2"/>
                  </a:solidFill>
                  <a:latin typeface="Arial"/>
                </a:rPr>
                <a:t> you handle the engine</a:t>
              </a:r>
            </a:p>
          </p:txBody>
        </p:sp>
        <p:sp>
          <p:nvSpPr>
            <p:cNvPr id="9" name="Rounded Rectangle 8"/>
            <p:cNvSpPr/>
            <p:nvPr/>
          </p:nvSpPr>
          <p:spPr>
            <a:xfrm>
              <a:off x="3204972" y="2331720"/>
              <a:ext cx="128016" cy="2743200"/>
            </a:xfrm>
            <a:prstGeom prst="roundRect">
              <a:avLst>
                <a:gd name="adj" fmla="val 50000"/>
              </a:avLst>
            </a:prstGeom>
            <a:solidFill>
              <a:srgbClr val="1B1D21"/>
            </a:solidFill>
            <a:ln w="19050">
              <a:solidFill>
                <a:srgbClr val="9AA0A6"/>
              </a:solidFill>
            </a:ln>
          </p:spPr>
          <p:txBody>
            <a:bodyPr rtlCol="0" anchor="ctr"/>
            <a:lstStyle/>
            <a:p>
              <a:pPr algn="ctr"/>
              <a:endParaRPr/>
            </a:p>
          </p:txBody>
        </p:sp>
        <p:cxnSp>
          <p:nvCxnSpPr>
            <p:cNvPr id="10" name="Connector 9"/>
            <p:cNvCxnSpPr/>
            <p:nvPr/>
          </p:nvCxnSpPr>
          <p:spPr>
            <a:xfrm flipV="1">
              <a:off x="3268980" y="2825496"/>
              <a:ext cx="0" cy="1837944"/>
            </a:xfrm>
            <a:prstGeom prst="line">
              <a:avLst/>
            </a:prstGeom>
            <a:ln w="76200">
              <a:solidFill>
                <a:srgbClr val="9AA0A6"/>
              </a:solidFill>
            </a:ln>
          </p:spPr>
        </p:cxnSp>
        <p:sp>
          <p:nvSpPr>
            <p:cNvPr id="11" name="Oval 10"/>
            <p:cNvSpPr/>
            <p:nvPr/>
          </p:nvSpPr>
          <p:spPr>
            <a:xfrm>
              <a:off x="3017520" y="2574036"/>
              <a:ext cx="502920" cy="502920"/>
            </a:xfrm>
            <a:prstGeom prst="ellipse">
              <a:avLst/>
            </a:prstGeom>
            <a:solidFill>
              <a:srgbClr val="F28C28"/>
            </a:solidFill>
            <a:ln w="19050">
              <a:solidFill>
                <a:srgbClr val="101418"/>
              </a:solidFill>
            </a:ln>
          </p:spPr>
          <p:txBody>
            <a:bodyPr rtlCol="0" anchor="ctr"/>
            <a:lstStyle/>
            <a:p>
              <a:pPr algn="ctr"/>
              <a:endParaRPr/>
            </a:p>
          </p:txBody>
        </p:sp>
        <p:sp>
          <p:nvSpPr>
            <p:cNvPr id="12" name="Rounded Rectangle 11"/>
            <p:cNvSpPr/>
            <p:nvPr/>
          </p:nvSpPr>
          <p:spPr>
            <a:xfrm>
              <a:off x="2903220" y="4608576"/>
              <a:ext cx="731520" cy="128016"/>
            </a:xfrm>
            <a:prstGeom prst="roundRect">
              <a:avLst>
                <a:gd name="adj" fmla="val 35714"/>
              </a:avLst>
            </a:prstGeom>
            <a:solidFill>
              <a:srgbClr val="343A43"/>
            </a:solidFill>
            <a:ln w="19050">
              <a:solidFill>
                <a:srgbClr val="9AA0A6"/>
              </a:solidFill>
            </a:ln>
          </p:spPr>
          <p:txBody>
            <a:bodyPr rtlCol="0" anchor="ctr"/>
            <a:lstStyle/>
            <a:p>
              <a:pPr algn="ctr"/>
              <a:endParaRPr/>
            </a:p>
          </p:txBody>
        </p:sp>
        <p:sp>
          <p:nvSpPr>
            <p:cNvPr id="13" name="Rounded Rectangle 12"/>
            <p:cNvSpPr/>
            <p:nvPr/>
          </p:nvSpPr>
          <p:spPr>
            <a:xfrm>
              <a:off x="7616952" y="2423160"/>
              <a:ext cx="128016" cy="2194560"/>
            </a:xfrm>
            <a:prstGeom prst="roundRect">
              <a:avLst>
                <a:gd name="adj" fmla="val 50000"/>
              </a:avLst>
            </a:prstGeom>
            <a:solidFill>
              <a:srgbClr val="1B1D21"/>
            </a:solidFill>
            <a:ln w="19050">
              <a:solidFill>
                <a:srgbClr val="9AA0A6"/>
              </a:solidFill>
            </a:ln>
          </p:spPr>
          <p:txBody>
            <a:bodyPr rtlCol="0" anchor="ctr"/>
            <a:lstStyle/>
            <a:p>
              <a:pPr algn="ctr"/>
              <a:endParaRPr/>
            </a:p>
          </p:txBody>
        </p:sp>
        <p:cxnSp>
          <p:nvCxnSpPr>
            <p:cNvPr id="14" name="Connector 13"/>
            <p:cNvCxnSpPr/>
            <p:nvPr/>
          </p:nvCxnSpPr>
          <p:spPr>
            <a:xfrm flipV="1">
              <a:off x="7680960" y="2818181"/>
              <a:ext cx="0" cy="1470355"/>
            </a:xfrm>
            <a:prstGeom prst="line">
              <a:avLst/>
            </a:prstGeom>
            <a:ln w="76200">
              <a:solidFill>
                <a:srgbClr val="9AA0A6"/>
              </a:solidFill>
            </a:ln>
          </p:spPr>
        </p:cxnSp>
        <p:sp>
          <p:nvSpPr>
            <p:cNvPr id="15" name="Oval 14"/>
            <p:cNvSpPr/>
            <p:nvPr/>
          </p:nvSpPr>
          <p:spPr>
            <a:xfrm>
              <a:off x="7467219" y="2604440"/>
              <a:ext cx="427482" cy="427482"/>
            </a:xfrm>
            <a:prstGeom prst="ellipse">
              <a:avLst/>
            </a:prstGeom>
            <a:solidFill>
              <a:srgbClr val="F28C28"/>
            </a:solidFill>
            <a:ln w="19050">
              <a:solidFill>
                <a:srgbClr val="101418"/>
              </a:solidFill>
            </a:ln>
          </p:spPr>
          <p:txBody>
            <a:bodyPr rtlCol="0" anchor="ctr"/>
            <a:lstStyle/>
            <a:p>
              <a:pPr algn="ctr"/>
              <a:endParaRPr/>
            </a:p>
          </p:txBody>
        </p:sp>
        <p:sp>
          <p:nvSpPr>
            <p:cNvPr id="16" name="Rounded Rectangle 15"/>
            <p:cNvSpPr/>
            <p:nvPr/>
          </p:nvSpPr>
          <p:spPr>
            <a:xfrm>
              <a:off x="7370064" y="4233672"/>
              <a:ext cx="621792" cy="128016"/>
            </a:xfrm>
            <a:prstGeom prst="roundRect">
              <a:avLst>
                <a:gd name="adj" fmla="val 35714"/>
              </a:avLst>
            </a:prstGeom>
            <a:solidFill>
              <a:srgbClr val="343A43"/>
            </a:solidFill>
            <a:ln w="19050">
              <a:solidFill>
                <a:srgbClr val="9AA0A6"/>
              </a:solidFill>
            </a:ln>
          </p:spPr>
          <p:txBody>
            <a:bodyPr rtlCol="0" anchor="ctr"/>
            <a:lstStyle/>
            <a:p>
              <a:pPr algn="ctr"/>
              <a:endParaRPr/>
            </a:p>
          </p:txBody>
        </p:sp>
        <p:sp>
          <p:nvSpPr>
            <p:cNvPr id="17" name="Rounded Rectangle 16"/>
            <p:cNvSpPr/>
            <p:nvPr/>
          </p:nvSpPr>
          <p:spPr>
            <a:xfrm>
              <a:off x="8855964" y="2423160"/>
              <a:ext cx="128016" cy="2194560"/>
            </a:xfrm>
            <a:prstGeom prst="roundRect">
              <a:avLst>
                <a:gd name="adj" fmla="val 50000"/>
              </a:avLst>
            </a:prstGeom>
            <a:solidFill>
              <a:srgbClr val="1B1D21"/>
            </a:solidFill>
            <a:ln w="19050">
              <a:solidFill>
                <a:srgbClr val="9AA0A6"/>
              </a:solidFill>
            </a:ln>
          </p:spPr>
          <p:txBody>
            <a:bodyPr rtlCol="0" anchor="ctr"/>
            <a:lstStyle/>
            <a:p>
              <a:pPr algn="ctr"/>
              <a:endParaRPr/>
            </a:p>
          </p:txBody>
        </p:sp>
        <p:cxnSp>
          <p:nvCxnSpPr>
            <p:cNvPr id="18" name="Connector 17"/>
            <p:cNvCxnSpPr/>
            <p:nvPr/>
          </p:nvCxnSpPr>
          <p:spPr>
            <a:xfrm flipV="1">
              <a:off x="8919972" y="2818181"/>
              <a:ext cx="0" cy="1470355"/>
            </a:xfrm>
            <a:prstGeom prst="line">
              <a:avLst/>
            </a:prstGeom>
            <a:ln w="76200">
              <a:solidFill>
                <a:srgbClr val="9AA0A6"/>
              </a:solidFill>
            </a:ln>
          </p:spPr>
        </p:cxnSp>
        <p:sp>
          <p:nvSpPr>
            <p:cNvPr id="19" name="Oval 18"/>
            <p:cNvSpPr/>
            <p:nvPr/>
          </p:nvSpPr>
          <p:spPr>
            <a:xfrm>
              <a:off x="8706231" y="2604440"/>
              <a:ext cx="427482" cy="427482"/>
            </a:xfrm>
            <a:prstGeom prst="ellipse">
              <a:avLst/>
            </a:prstGeom>
            <a:solidFill>
              <a:srgbClr val="F28C28"/>
            </a:solidFill>
            <a:ln w="19050">
              <a:solidFill>
                <a:srgbClr val="101418"/>
              </a:solidFill>
            </a:ln>
          </p:spPr>
          <p:txBody>
            <a:bodyPr rtlCol="0" anchor="ctr"/>
            <a:lstStyle/>
            <a:p>
              <a:pPr algn="ctr"/>
              <a:endParaRPr/>
            </a:p>
          </p:txBody>
        </p:sp>
        <p:sp>
          <p:nvSpPr>
            <p:cNvPr id="20" name="Rounded Rectangle 19"/>
            <p:cNvSpPr/>
            <p:nvPr/>
          </p:nvSpPr>
          <p:spPr>
            <a:xfrm>
              <a:off x="8609076" y="4233672"/>
              <a:ext cx="621792" cy="128016"/>
            </a:xfrm>
            <a:prstGeom prst="roundRect">
              <a:avLst>
                <a:gd name="adj" fmla="val 35714"/>
              </a:avLst>
            </a:prstGeom>
            <a:solidFill>
              <a:srgbClr val="343A43"/>
            </a:solidFill>
            <a:ln w="19050">
              <a:solidFill>
                <a:srgbClr val="9AA0A6"/>
              </a:solidFill>
            </a:ln>
          </p:spPr>
          <p:txBody>
            <a:bodyPr rtlCol="0" anchor="ctr"/>
            <a:lstStyle/>
            <a:p>
              <a:pPr algn="ctr"/>
              <a:endParaRPr/>
            </a:p>
          </p:txBody>
        </p:sp>
        <p:sp>
          <p:nvSpPr>
            <p:cNvPr id="21" name="Rounded Rectangle 20"/>
            <p:cNvSpPr/>
            <p:nvPr/>
          </p:nvSpPr>
          <p:spPr>
            <a:xfrm>
              <a:off x="10085832" y="2423160"/>
              <a:ext cx="128016" cy="2194560"/>
            </a:xfrm>
            <a:prstGeom prst="roundRect">
              <a:avLst>
                <a:gd name="adj" fmla="val 50000"/>
              </a:avLst>
            </a:prstGeom>
            <a:solidFill>
              <a:srgbClr val="1B1D21"/>
            </a:solidFill>
            <a:ln w="19050">
              <a:solidFill>
                <a:srgbClr val="9AA0A6"/>
              </a:solidFill>
            </a:ln>
          </p:spPr>
          <p:txBody>
            <a:bodyPr rtlCol="0" anchor="ctr"/>
            <a:lstStyle/>
            <a:p>
              <a:pPr algn="ctr"/>
              <a:endParaRPr/>
            </a:p>
          </p:txBody>
        </p:sp>
        <p:cxnSp>
          <p:nvCxnSpPr>
            <p:cNvPr id="22" name="Connector 21"/>
            <p:cNvCxnSpPr/>
            <p:nvPr/>
          </p:nvCxnSpPr>
          <p:spPr>
            <a:xfrm flipV="1">
              <a:off x="10149840" y="2818181"/>
              <a:ext cx="0" cy="1470355"/>
            </a:xfrm>
            <a:prstGeom prst="line">
              <a:avLst/>
            </a:prstGeom>
            <a:ln w="76200">
              <a:solidFill>
                <a:srgbClr val="9AA0A6"/>
              </a:solidFill>
            </a:ln>
          </p:spPr>
        </p:cxnSp>
        <p:sp>
          <p:nvSpPr>
            <p:cNvPr id="23" name="Oval 22"/>
            <p:cNvSpPr/>
            <p:nvPr/>
          </p:nvSpPr>
          <p:spPr>
            <a:xfrm>
              <a:off x="9936099" y="2604440"/>
              <a:ext cx="427482" cy="427482"/>
            </a:xfrm>
            <a:prstGeom prst="ellipse">
              <a:avLst/>
            </a:prstGeom>
            <a:solidFill>
              <a:srgbClr val="F28C28"/>
            </a:solidFill>
            <a:ln w="19050">
              <a:solidFill>
                <a:srgbClr val="101418"/>
              </a:solidFill>
            </a:ln>
          </p:spPr>
          <p:txBody>
            <a:bodyPr rtlCol="0" anchor="ctr"/>
            <a:lstStyle/>
            <a:p>
              <a:pPr algn="ctr"/>
              <a:endParaRPr/>
            </a:p>
          </p:txBody>
        </p:sp>
        <p:sp>
          <p:nvSpPr>
            <p:cNvPr id="24" name="Rounded Rectangle 23"/>
            <p:cNvSpPr/>
            <p:nvPr/>
          </p:nvSpPr>
          <p:spPr>
            <a:xfrm>
              <a:off x="9838944" y="4233672"/>
              <a:ext cx="621792" cy="128016"/>
            </a:xfrm>
            <a:prstGeom prst="roundRect">
              <a:avLst>
                <a:gd name="adj" fmla="val 35714"/>
              </a:avLst>
            </a:prstGeom>
            <a:solidFill>
              <a:srgbClr val="343A43"/>
            </a:solidFill>
            <a:ln w="19050">
              <a:solidFill>
                <a:srgbClr val="9AA0A6"/>
              </a:solidFill>
            </a:ln>
          </p:spPr>
          <p:txBody>
            <a:bodyPr rtlCol="0" anchor="ctr"/>
            <a:lstStyle/>
            <a:p>
              <a:pPr algn="ctr"/>
              <a:endParaRPr/>
            </a:p>
          </p:txBody>
        </p:sp>
        <p:sp>
          <p:nvSpPr>
            <p:cNvPr id="25" name="Rounded Rectangle 24"/>
            <p:cNvSpPr/>
            <p:nvPr/>
          </p:nvSpPr>
          <p:spPr>
            <a:xfrm>
              <a:off x="7726680" y="4919472"/>
              <a:ext cx="2377440" cy="457200"/>
            </a:xfrm>
            <a:prstGeom prst="roundRect">
              <a:avLst>
                <a:gd name="adj" fmla="val 50000"/>
              </a:avLst>
            </a:prstGeom>
            <a:solidFill>
              <a:srgbClr val="F2C14E"/>
            </a:solidFill>
            <a:ln>
              <a:noFill/>
            </a:ln>
          </p:spPr>
          <p:txBody>
            <a:bodyPr wrap="none" lIns="73152" tIns="27432" rIns="73152" bIns="27432" rtlCol="0" anchor="ctr">
              <a:noAutofit/>
            </a:bodyPr>
            <a:lstStyle/>
            <a:p>
              <a:pPr algn="ctr">
                <a:spcBef>
                  <a:spcPts val="0"/>
                </a:spcBef>
                <a:spcAft>
                  <a:spcPts val="0"/>
                </a:spcAft>
              </a:pPr>
              <a:r>
                <a:rPr lang="en-GB" sz="1600" b="1" i="0">
                  <a:solidFill>
                    <a:srgbClr val="101418"/>
                  </a:solidFill>
                  <a:latin typeface="Arial"/>
                </a:rPr>
                <a:t>Advanced: packs only</a:t>
              </a:r>
            </a:p>
          </p:txBody>
        </p:sp>
      </p:grpSp>
      <p:sp>
        <p:nvSpPr>
          <p:cNvPr id="26"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Simple is the default. Advanced driving is optional and comes with packs.</a:t>
            </a:r>
          </a:p>
        </p:txBody>
      </p:sp>
      <p:sp>
        <p:nvSpPr>
          <p:cNvPr id="27"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28"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9</a:t>
            </a:r>
          </a:p>
        </p:txBody>
      </p:sp>
    </p:spTree>
    <p:extLst>
      <p:ext uri="{BB962C8B-B14F-4D97-AF65-F5344CB8AC3E}">
        <p14:creationId xmlns:p14="http://schemas.microsoft.com/office/powerpoint/2010/main" val="31548617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par>
                                <p:cTn id="11" presetID="10" presetClass="entr" presetSubtype="0" fill="hold" nodeType="withEffect">
                                  <p:stCondLst>
                                    <p:cond delay="6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Choosing at first use</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Mock-up: first-use driving style choice" descr="A mock dialog with two buttons, Simple, which is preselected, and Advanced, and a note that the choice can be changed later."/>
          <p:cNvGrpSpPr/>
          <p:nvPr/>
        </p:nvGrpSpPr>
        <p:grpSpPr>
          <a:xfrm>
            <a:off x="2898648" y="1508760"/>
            <a:ext cx="6400800" cy="3200400"/>
            <a:chOff x="2898648" y="1508760"/>
            <a:chExt cx="6400800" cy="3200400"/>
          </a:xfrm>
        </p:grpSpPr>
        <p:sp>
          <p:nvSpPr>
            <p:cNvPr id="5" name="Rounded Rectangle 4"/>
            <p:cNvSpPr/>
            <p:nvPr/>
          </p:nvSpPr>
          <p:spPr>
            <a:xfrm>
              <a:off x="2898648" y="1508760"/>
              <a:ext cx="6400800" cy="3200400"/>
            </a:xfrm>
            <a:prstGeom prst="roundRect">
              <a:avLst>
                <a:gd name="adj" fmla="val 3428"/>
              </a:avLst>
            </a:prstGeom>
            <a:solidFill>
              <a:srgbClr val="2B2F36"/>
            </a:solidFill>
            <a:ln w="25400">
              <a:solidFill>
                <a:srgbClr val="9AA0A6"/>
              </a:solidFill>
            </a:ln>
          </p:spPr>
          <p:txBody>
            <a:bodyPr rtlCol="0" anchor="ctr"/>
            <a:lstStyle/>
            <a:p>
              <a:pPr algn="ctr"/>
              <a:endParaRPr/>
            </a:p>
          </p:txBody>
        </p:sp>
        <p:sp>
          <p:nvSpPr>
            <p:cNvPr id="6" name="Rounded Rectangle 5"/>
            <p:cNvSpPr/>
            <p:nvPr/>
          </p:nvSpPr>
          <p:spPr>
            <a:xfrm>
              <a:off x="2898648" y="1508760"/>
              <a:ext cx="6400800" cy="384048"/>
            </a:xfrm>
            <a:prstGeom prst="roundRect">
              <a:avLst>
                <a:gd name="adj" fmla="val 28571"/>
              </a:avLst>
            </a:prstGeom>
            <a:solidFill>
              <a:srgbClr val="343A43"/>
            </a:solidFill>
            <a:ln>
              <a:noFill/>
            </a:ln>
          </p:spPr>
          <p:txBody>
            <a:bodyPr rtlCol="0" anchor="ctr"/>
            <a:lstStyle/>
            <a:p>
              <a:pPr algn="ctr"/>
              <a:endParaRPr/>
            </a:p>
          </p:txBody>
        </p:sp>
        <p:sp>
          <p:nvSpPr>
            <p:cNvPr id="7" name="Rectangle 6"/>
            <p:cNvSpPr/>
            <p:nvPr/>
          </p:nvSpPr>
          <p:spPr>
            <a:xfrm>
              <a:off x="2916936" y="1737360"/>
              <a:ext cx="6364224" cy="155448"/>
            </a:xfrm>
            <a:prstGeom prst="rect">
              <a:avLst/>
            </a:prstGeom>
            <a:solidFill>
              <a:srgbClr val="343A43"/>
            </a:solidFill>
            <a:ln>
              <a:noFill/>
            </a:ln>
          </p:spPr>
          <p:txBody>
            <a:bodyPr rtlCol="0" anchor="ctr"/>
            <a:lstStyle/>
            <a:p>
              <a:pPr algn="ctr"/>
              <a:endParaRPr/>
            </a:p>
          </p:txBody>
        </p:sp>
        <p:sp>
          <p:nvSpPr>
            <p:cNvPr id="8" name="Oval 7"/>
            <p:cNvSpPr/>
            <p:nvPr/>
          </p:nvSpPr>
          <p:spPr>
            <a:xfrm>
              <a:off x="3104388" y="1632204"/>
              <a:ext cx="137160" cy="137160"/>
            </a:xfrm>
            <a:prstGeom prst="ellipse">
              <a:avLst/>
            </a:prstGeom>
            <a:solidFill>
              <a:srgbClr val="4A515B"/>
            </a:solidFill>
            <a:ln>
              <a:noFill/>
            </a:ln>
          </p:spPr>
          <p:txBody>
            <a:bodyPr rtlCol="0" anchor="ctr"/>
            <a:lstStyle/>
            <a:p>
              <a:pPr algn="ctr"/>
              <a:endParaRPr/>
            </a:p>
          </p:txBody>
        </p:sp>
        <p:sp>
          <p:nvSpPr>
            <p:cNvPr id="9" name="Oval 8"/>
            <p:cNvSpPr/>
            <p:nvPr/>
          </p:nvSpPr>
          <p:spPr>
            <a:xfrm>
              <a:off x="3378708" y="1632204"/>
              <a:ext cx="137160" cy="137160"/>
            </a:xfrm>
            <a:prstGeom prst="ellipse">
              <a:avLst/>
            </a:prstGeom>
            <a:solidFill>
              <a:srgbClr val="4A515B"/>
            </a:solidFill>
            <a:ln>
              <a:noFill/>
            </a:ln>
          </p:spPr>
          <p:txBody>
            <a:bodyPr rtlCol="0" anchor="ctr"/>
            <a:lstStyle/>
            <a:p>
              <a:pPr algn="ctr"/>
              <a:endParaRPr/>
            </a:p>
          </p:txBody>
        </p:sp>
        <p:sp>
          <p:nvSpPr>
            <p:cNvPr id="10" name="Oval 9"/>
            <p:cNvSpPr/>
            <p:nvPr/>
          </p:nvSpPr>
          <p:spPr>
            <a:xfrm>
              <a:off x="3653028" y="1632204"/>
              <a:ext cx="137160" cy="137160"/>
            </a:xfrm>
            <a:prstGeom prst="ellipse">
              <a:avLst/>
            </a:prstGeom>
            <a:solidFill>
              <a:srgbClr val="4A515B"/>
            </a:solidFill>
            <a:ln>
              <a:noFill/>
            </a:ln>
          </p:spPr>
          <p:txBody>
            <a:bodyPr rtlCol="0" anchor="ctr"/>
            <a:lstStyle/>
            <a:p>
              <a:pPr algn="ctr"/>
              <a:endParaRPr/>
            </a:p>
          </p:txBody>
        </p:sp>
        <p:sp>
          <p:nvSpPr>
            <p:cNvPr id="11" name="Rounded Rectangle 10"/>
            <p:cNvSpPr/>
            <p:nvPr/>
          </p:nvSpPr>
          <p:spPr>
            <a:xfrm>
              <a:off x="3355848" y="2286000"/>
              <a:ext cx="2606040" cy="1051560"/>
            </a:xfrm>
            <a:prstGeom prst="roundRect">
              <a:avLst>
                <a:gd name="adj" fmla="val 12173"/>
              </a:avLst>
            </a:prstGeom>
            <a:solidFill>
              <a:srgbClr val="F28C28"/>
            </a:solidFill>
            <a:ln w="38100">
              <a:solidFill>
                <a:srgbClr val="E8E8E8"/>
              </a:solidFill>
            </a:ln>
          </p:spPr>
          <p:txBody>
            <a:bodyPr wrap="square" lIns="73152" tIns="27432" rIns="73152" bIns="27432" rtlCol="0" anchor="ctr">
              <a:noAutofit/>
            </a:bodyPr>
            <a:lstStyle/>
            <a:p>
              <a:pPr algn="ctr">
                <a:spcBef>
                  <a:spcPts val="0"/>
                </a:spcBef>
                <a:spcAft>
                  <a:spcPts val="0"/>
                </a:spcAft>
              </a:pPr>
              <a:r>
                <a:rPr lang="en-GB" sz="2600" b="1" i="0">
                  <a:solidFill>
                    <a:srgbClr val="101418"/>
                  </a:solidFill>
                  <a:latin typeface="Arial"/>
                </a:rPr>
                <a:t>Simple</a:t>
              </a:r>
            </a:p>
          </p:txBody>
        </p:sp>
        <p:sp>
          <p:nvSpPr>
            <p:cNvPr id="12" name="Rounded Rectangle 11"/>
            <p:cNvSpPr/>
            <p:nvPr/>
          </p:nvSpPr>
          <p:spPr>
            <a:xfrm>
              <a:off x="6236208" y="2286000"/>
              <a:ext cx="2606040" cy="1051560"/>
            </a:xfrm>
            <a:prstGeom prst="roundRect">
              <a:avLst>
                <a:gd name="adj" fmla="val 12173"/>
              </a:avLst>
            </a:prstGeom>
            <a:solidFill>
              <a:srgbClr val="343A43"/>
            </a:solidFill>
            <a:ln w="25400">
              <a:solidFill>
                <a:srgbClr val="9AA0A6"/>
              </a:solidFill>
            </a:ln>
          </p:spPr>
          <p:txBody>
            <a:bodyPr wrap="square" lIns="73152" tIns="27432" rIns="73152" bIns="27432" rtlCol="0" anchor="ctr">
              <a:noAutofit/>
            </a:bodyPr>
            <a:lstStyle/>
            <a:p>
              <a:pPr algn="ctr">
                <a:spcBef>
                  <a:spcPts val="0"/>
                </a:spcBef>
                <a:spcAft>
                  <a:spcPts val="0"/>
                </a:spcAft>
              </a:pPr>
              <a:r>
                <a:rPr lang="en-GB" sz="2600" b="1" i="0">
                  <a:solidFill>
                    <a:srgbClr val="F2F2F2"/>
                  </a:solidFill>
                  <a:latin typeface="Arial"/>
                </a:rPr>
                <a:t>Advanced</a:t>
              </a:r>
            </a:p>
          </p:txBody>
        </p:sp>
        <p:sp>
          <p:nvSpPr>
            <p:cNvPr id="13" name="Oval 12"/>
            <p:cNvSpPr/>
            <p:nvPr/>
          </p:nvSpPr>
          <p:spPr>
            <a:xfrm>
              <a:off x="5751576" y="2075688"/>
              <a:ext cx="420624" cy="420624"/>
            </a:xfrm>
            <a:prstGeom prst="ellipse">
              <a:avLst/>
            </a:prstGeom>
            <a:solidFill>
              <a:srgbClr val="3FB950"/>
            </a:solidFill>
            <a:ln>
              <a:noFill/>
            </a:ln>
          </p:spPr>
          <p:txBody>
            <a:bodyPr rtlCol="0" anchor="ctr"/>
            <a:lstStyle/>
            <a:p>
              <a:pPr algn="ctr"/>
              <a:endParaRPr/>
            </a:p>
          </p:txBody>
        </p:sp>
        <p:sp>
          <p:nvSpPr>
            <p:cNvPr id="14" name="Freeform 13"/>
            <p:cNvSpPr/>
            <p:nvPr/>
          </p:nvSpPr>
          <p:spPr>
            <a:xfrm>
              <a:off x="5860938" y="2201875"/>
              <a:ext cx="214518" cy="168250"/>
            </a:xfrm>
            <a:custGeom>
              <a:avLst/>
              <a:gdLst/>
              <a:ahLst/>
              <a:cxnLst/>
              <a:rect l="l" t="t" r="r" b="b"/>
              <a:pathLst>
                <a:path w="214518" h="168250">
                  <a:moveTo>
                    <a:pt x="0" y="84125"/>
                  </a:moveTo>
                  <a:lnTo>
                    <a:pt x="79919" y="168250"/>
                  </a:lnTo>
                  <a:lnTo>
                    <a:pt x="214518" y="0"/>
                  </a:lnTo>
                </a:path>
              </a:pathLst>
            </a:custGeom>
            <a:noFill/>
            <a:ln w="38100">
              <a:solidFill>
                <a:srgbClr val="101418"/>
              </a:solidFill>
            </a:ln>
          </p:spPr>
          <p:txBody>
            <a:bodyPr rtlCol="0" anchor="ctr"/>
            <a:lstStyle/>
            <a:p>
              <a:pPr algn="ctr"/>
              <a:endParaRPr/>
            </a:p>
          </p:txBody>
        </p:sp>
        <p:sp>
          <p:nvSpPr>
            <p:cNvPr id="15" name="TextBox 14"/>
            <p:cNvSpPr txBox="1"/>
            <p:nvPr/>
          </p:nvSpPr>
          <p:spPr>
            <a:xfrm>
              <a:off x="3355848" y="3383280"/>
              <a:ext cx="2606040" cy="329184"/>
            </a:xfrm>
            <a:prstGeom prst="rect">
              <a:avLst/>
            </a:prstGeom>
            <a:noFill/>
          </p:spPr>
          <p:txBody>
            <a:bodyPr wrap="square" lIns="0" tIns="0" rIns="0" bIns="0" anchor="ctr">
              <a:noAutofit/>
            </a:bodyPr>
            <a:lstStyle/>
            <a:p>
              <a:pPr algn="ctr">
                <a:spcBef>
                  <a:spcPts val="0"/>
                </a:spcBef>
                <a:spcAft>
                  <a:spcPts val="0"/>
                </a:spcAft>
              </a:pPr>
              <a:r>
                <a:rPr lang="en-GB" sz="1400" b="1" i="0">
                  <a:solidFill>
                    <a:srgbClr val="F28C28"/>
                  </a:solidFill>
                  <a:latin typeface="Arial"/>
                </a:rPr>
                <a:t>Preselected</a:t>
              </a:r>
            </a:p>
          </p:txBody>
        </p:sp>
        <p:sp>
          <p:nvSpPr>
            <p:cNvPr id="16" name="TextBox 15"/>
            <p:cNvSpPr txBox="1"/>
            <p:nvPr/>
          </p:nvSpPr>
          <p:spPr>
            <a:xfrm>
              <a:off x="3172968" y="3931920"/>
              <a:ext cx="5852160" cy="457200"/>
            </a:xfrm>
            <a:prstGeom prst="rect">
              <a:avLst/>
            </a:prstGeom>
            <a:noFill/>
          </p:spPr>
          <p:txBody>
            <a:bodyPr wrap="square" lIns="0" tIns="0" rIns="0" bIns="0" anchor="ctr">
              <a:noAutofit/>
            </a:bodyPr>
            <a:lstStyle/>
            <a:p>
              <a:pPr algn="ctr">
                <a:spcBef>
                  <a:spcPts val="0"/>
                </a:spcBef>
                <a:spcAft>
                  <a:spcPts val="0"/>
                </a:spcAft>
              </a:pPr>
              <a:r>
                <a:rPr lang="en-GB" sz="2000" b="0" i="0">
                  <a:solidFill>
                    <a:srgbClr val="A9B0B8"/>
                  </a:solidFill>
                  <a:latin typeface="Arial"/>
                </a:rPr>
                <a:t>You can change this later.</a:t>
              </a:r>
            </a:p>
          </p:txBody>
        </p:sp>
      </p:grpSp>
      <p:sp>
        <p:nvSpPr>
          <p:cNvPr id="17" name="Inline chip"/>
          <p:cNvSpPr/>
          <p:nvPr/>
        </p:nvSpPr>
        <p:spPr>
          <a:xfrm>
            <a:off x="4922370" y="4983480"/>
            <a:ext cx="2346956" cy="329184"/>
          </a:xfrm>
          <a:prstGeom prst="roundRect">
            <a:avLst>
              <a:gd name="adj" fmla="val 50000"/>
            </a:avLst>
          </a:prstGeom>
          <a:noFill/>
          <a:ln w="25400">
            <a:solidFill>
              <a:srgbClr val="A9B0B8"/>
            </a:solidFill>
          </a:ln>
        </p:spPr>
        <p:txBody>
          <a:bodyPr wrap="none" lIns="73152" tIns="18288" rIns="73152" bIns="18288" rtlCol="0" anchor="ctr">
            <a:noAutofit/>
          </a:bodyPr>
          <a:lstStyle/>
          <a:p>
            <a:pPr algn="ctr">
              <a:spcBef>
                <a:spcPts val="0"/>
              </a:spcBef>
              <a:spcAft>
                <a:spcPts val="0"/>
              </a:spcAft>
            </a:pPr>
            <a:r>
              <a:rPr lang="en-GB" sz="1400" b="0" i="0">
                <a:solidFill>
                  <a:srgbClr val="F2F2F2"/>
                </a:solidFill>
                <a:latin typeface="Arial"/>
              </a:rPr>
              <a:t>Exact screens: undecided</a:t>
            </a:r>
          </a:p>
        </p:txBody>
      </p:sp>
      <p:sp>
        <p:nvSpPr>
          <p:cNvPr id="18"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The first time, the game asks which style you want. You can switch later.</a:t>
            </a:r>
          </a:p>
        </p:txBody>
      </p:sp>
      <p:sp>
        <p:nvSpPr>
          <p:cNvPr id="19"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20"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10</a:t>
            </a:r>
          </a:p>
        </p:txBody>
      </p:sp>
    </p:spTree>
    <p:extLst>
      <p:ext uri="{BB962C8B-B14F-4D97-AF65-F5344CB8AC3E}">
        <p14:creationId xmlns:p14="http://schemas.microsoft.com/office/powerpoint/2010/main" val="16036097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6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9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Simple: a good crew</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one Go lever and a crew handling fire, steam and valves" descr="One Go lever on the left. On the right a crew of two people handle fire, steam and valves for you."/>
          <p:cNvGrpSpPr/>
          <p:nvPr/>
        </p:nvGrpSpPr>
        <p:grpSpPr>
          <a:xfrm>
            <a:off x="548640" y="1325880"/>
            <a:ext cx="11091672" cy="4206240"/>
            <a:chOff x="548640" y="1325880"/>
            <a:chExt cx="11091672" cy="4206240"/>
          </a:xfrm>
        </p:grpSpPr>
        <p:sp>
          <p:nvSpPr>
            <p:cNvPr id="5" name="Rounded Rectangle 4"/>
            <p:cNvSpPr/>
            <p:nvPr/>
          </p:nvSpPr>
          <p:spPr>
            <a:xfrm>
              <a:off x="548640" y="1325880"/>
              <a:ext cx="3383280" cy="4206240"/>
            </a:xfrm>
            <a:prstGeom prst="roundRect">
              <a:avLst>
                <a:gd name="adj" fmla="val 2162"/>
              </a:avLst>
            </a:prstGeom>
            <a:solidFill>
              <a:srgbClr val="2B2F36"/>
            </a:solidFill>
            <a:ln>
              <a:noFill/>
            </a:ln>
          </p:spPr>
          <p:txBody>
            <a:bodyPr rtlCol="0" anchor="ctr"/>
            <a:lstStyle/>
            <a:p>
              <a:pPr algn="ctr"/>
              <a:endParaRPr/>
            </a:p>
          </p:txBody>
        </p:sp>
        <p:sp>
          <p:nvSpPr>
            <p:cNvPr id="6" name="TextBox 5"/>
            <p:cNvSpPr txBox="1"/>
            <p:nvPr/>
          </p:nvSpPr>
          <p:spPr>
            <a:xfrm>
              <a:off x="548640" y="1417320"/>
              <a:ext cx="3383280" cy="594360"/>
            </a:xfrm>
            <a:prstGeom prst="rect">
              <a:avLst/>
            </a:prstGeom>
            <a:noFill/>
          </p:spPr>
          <p:txBody>
            <a:bodyPr wrap="square" lIns="0" tIns="0" rIns="0" bIns="0" anchor="ctr">
              <a:noAutofit/>
            </a:bodyPr>
            <a:lstStyle/>
            <a:p>
              <a:pPr algn="ctr">
                <a:spcBef>
                  <a:spcPts val="0"/>
                </a:spcBef>
                <a:spcAft>
                  <a:spcPts val="0"/>
                </a:spcAft>
              </a:pPr>
              <a:r>
                <a:rPr lang="en-GB" sz="3000" b="1" i="0">
                  <a:solidFill>
                    <a:srgbClr val="F28C28"/>
                  </a:solidFill>
                  <a:latin typeface="Arial"/>
                </a:rPr>
                <a:t>Go</a:t>
              </a:r>
            </a:p>
          </p:txBody>
        </p:sp>
        <p:sp>
          <p:nvSpPr>
            <p:cNvPr id="7" name="Rounded Rectangle 6"/>
            <p:cNvSpPr/>
            <p:nvPr/>
          </p:nvSpPr>
          <p:spPr>
            <a:xfrm>
              <a:off x="2176272" y="2194560"/>
              <a:ext cx="128016" cy="3017520"/>
            </a:xfrm>
            <a:prstGeom prst="roundRect">
              <a:avLst>
                <a:gd name="adj" fmla="val 50000"/>
              </a:avLst>
            </a:prstGeom>
            <a:solidFill>
              <a:srgbClr val="1B1D21"/>
            </a:solidFill>
            <a:ln w="19050">
              <a:solidFill>
                <a:srgbClr val="9AA0A6"/>
              </a:solidFill>
            </a:ln>
          </p:spPr>
          <p:txBody>
            <a:bodyPr rtlCol="0" anchor="ctr"/>
            <a:lstStyle/>
            <a:p>
              <a:pPr algn="ctr"/>
              <a:endParaRPr/>
            </a:p>
          </p:txBody>
        </p:sp>
        <p:cxnSp>
          <p:nvCxnSpPr>
            <p:cNvPr id="8" name="Connector 7"/>
            <p:cNvCxnSpPr/>
            <p:nvPr/>
          </p:nvCxnSpPr>
          <p:spPr>
            <a:xfrm flipV="1">
              <a:off x="2240280" y="2737714"/>
              <a:ext cx="0" cy="2021738"/>
            </a:xfrm>
            <a:prstGeom prst="line">
              <a:avLst/>
            </a:prstGeom>
            <a:ln w="76200">
              <a:solidFill>
                <a:srgbClr val="9AA0A6"/>
              </a:solidFill>
            </a:ln>
          </p:spPr>
        </p:cxnSp>
        <p:sp>
          <p:nvSpPr>
            <p:cNvPr id="9" name="Oval 8"/>
            <p:cNvSpPr/>
            <p:nvPr/>
          </p:nvSpPr>
          <p:spPr>
            <a:xfrm>
              <a:off x="1938528" y="2435962"/>
              <a:ext cx="603504" cy="603504"/>
            </a:xfrm>
            <a:prstGeom prst="ellipse">
              <a:avLst/>
            </a:prstGeom>
            <a:solidFill>
              <a:srgbClr val="F28C28"/>
            </a:solidFill>
            <a:ln w="19050">
              <a:solidFill>
                <a:srgbClr val="101418"/>
              </a:solidFill>
            </a:ln>
          </p:spPr>
          <p:txBody>
            <a:bodyPr rtlCol="0" anchor="ctr"/>
            <a:lstStyle/>
            <a:p>
              <a:pPr algn="ctr"/>
              <a:endParaRPr/>
            </a:p>
          </p:txBody>
        </p:sp>
        <p:sp>
          <p:nvSpPr>
            <p:cNvPr id="10" name="Rounded Rectangle 9"/>
            <p:cNvSpPr/>
            <p:nvPr/>
          </p:nvSpPr>
          <p:spPr>
            <a:xfrm>
              <a:off x="1801368" y="4704588"/>
              <a:ext cx="877824" cy="128016"/>
            </a:xfrm>
            <a:prstGeom prst="roundRect">
              <a:avLst>
                <a:gd name="adj" fmla="val 35714"/>
              </a:avLst>
            </a:prstGeom>
            <a:solidFill>
              <a:srgbClr val="343A43"/>
            </a:solidFill>
            <a:ln w="19050">
              <a:solidFill>
                <a:srgbClr val="9AA0A6"/>
              </a:solidFill>
            </a:ln>
          </p:spPr>
          <p:txBody>
            <a:bodyPr rtlCol="0" anchor="ctr"/>
            <a:lstStyle/>
            <a:p>
              <a:pPr algn="ctr"/>
              <a:endParaRPr/>
            </a:p>
          </p:txBody>
        </p:sp>
        <p:cxnSp>
          <p:nvCxnSpPr>
            <p:cNvPr id="11" name="Connector 10"/>
            <p:cNvCxnSpPr/>
            <p:nvPr/>
          </p:nvCxnSpPr>
          <p:spPr>
            <a:xfrm>
              <a:off x="4023360" y="3429000"/>
              <a:ext cx="731520" cy="0"/>
            </a:xfrm>
            <a:prstGeom prst="line">
              <a:avLst/>
            </a:prstGeom>
            <a:ln w="50800">
              <a:solidFill>
                <a:srgbClr val="F28C28"/>
              </a:solidFill>
              <a:tailEnd type="triangle" w="med" len="med"/>
            </a:ln>
          </p:spPr>
        </p:cxnSp>
        <p:sp>
          <p:nvSpPr>
            <p:cNvPr id="12" name="Rounded Rectangle 11"/>
            <p:cNvSpPr/>
            <p:nvPr/>
          </p:nvSpPr>
          <p:spPr>
            <a:xfrm>
              <a:off x="4846320" y="1325880"/>
              <a:ext cx="6793992" cy="4206240"/>
            </a:xfrm>
            <a:prstGeom prst="roundRect">
              <a:avLst>
                <a:gd name="adj" fmla="val 1739"/>
              </a:avLst>
            </a:prstGeom>
            <a:solidFill>
              <a:srgbClr val="2B2F36"/>
            </a:solidFill>
            <a:ln>
              <a:noFill/>
            </a:ln>
          </p:spPr>
          <p:txBody>
            <a:bodyPr rtlCol="0" anchor="ctr"/>
            <a:lstStyle/>
            <a:p>
              <a:pPr algn="ctr"/>
              <a:endParaRPr/>
            </a:p>
          </p:txBody>
        </p:sp>
        <p:sp>
          <p:nvSpPr>
            <p:cNvPr id="13" name="Rounded Rectangle 12"/>
            <p:cNvSpPr/>
            <p:nvPr/>
          </p:nvSpPr>
          <p:spPr>
            <a:xfrm>
              <a:off x="5257800" y="2148840"/>
              <a:ext cx="2331720" cy="2468880"/>
            </a:xfrm>
            <a:prstGeom prst="roundRect">
              <a:avLst>
                <a:gd name="adj" fmla="val 4705"/>
              </a:avLst>
            </a:prstGeom>
            <a:solidFill>
              <a:srgbClr val="343A43"/>
            </a:solidFill>
            <a:ln w="19050">
              <a:solidFill>
                <a:srgbClr val="9AA0A6"/>
              </a:solidFill>
              <a:prstDash val="dash"/>
            </a:ln>
          </p:spPr>
          <p:txBody>
            <a:bodyPr rtlCol="0" anchor="ctr"/>
            <a:lstStyle/>
            <a:p>
              <a:pPr algn="ctr"/>
              <a:endParaRPr/>
            </a:p>
          </p:txBody>
        </p:sp>
        <p:sp>
          <p:nvSpPr>
            <p:cNvPr id="14" name="Oval 13"/>
            <p:cNvSpPr/>
            <p:nvPr/>
          </p:nvSpPr>
          <p:spPr>
            <a:xfrm>
              <a:off x="5669280" y="2514600"/>
              <a:ext cx="548640" cy="548640"/>
            </a:xfrm>
            <a:prstGeom prst="ellipse">
              <a:avLst/>
            </a:prstGeom>
            <a:solidFill>
              <a:srgbClr val="9AA0A6"/>
            </a:solidFill>
            <a:ln>
              <a:noFill/>
            </a:ln>
          </p:spPr>
          <p:txBody>
            <a:bodyPr rtlCol="0" anchor="ctr"/>
            <a:lstStyle/>
            <a:p>
              <a:pPr algn="ctr"/>
              <a:endParaRPr/>
            </a:p>
          </p:txBody>
        </p:sp>
        <p:sp>
          <p:nvSpPr>
            <p:cNvPr id="15" name="Rounded Rectangle 14"/>
            <p:cNvSpPr/>
            <p:nvPr/>
          </p:nvSpPr>
          <p:spPr>
            <a:xfrm>
              <a:off x="5532120" y="3131820"/>
              <a:ext cx="822960" cy="754380"/>
            </a:xfrm>
            <a:prstGeom prst="roundRect">
              <a:avLst>
                <a:gd name="adj" fmla="val 36363"/>
              </a:avLst>
            </a:prstGeom>
            <a:solidFill>
              <a:srgbClr val="9AA0A6"/>
            </a:solidFill>
            <a:ln>
              <a:noFill/>
            </a:ln>
          </p:spPr>
          <p:txBody>
            <a:bodyPr rtlCol="0" anchor="ctr"/>
            <a:lstStyle/>
            <a:p>
              <a:pPr algn="ctr"/>
              <a:endParaRPr/>
            </a:p>
          </p:txBody>
        </p:sp>
        <p:sp>
          <p:nvSpPr>
            <p:cNvPr id="16" name="Rectangle 15"/>
            <p:cNvSpPr/>
            <p:nvPr/>
          </p:nvSpPr>
          <p:spPr>
            <a:xfrm>
              <a:off x="5603443" y="2569464"/>
              <a:ext cx="680314" cy="120701"/>
            </a:xfrm>
            <a:prstGeom prst="rect">
              <a:avLst/>
            </a:prstGeom>
            <a:solidFill>
              <a:srgbClr val="F28C28"/>
            </a:solidFill>
            <a:ln>
              <a:noFill/>
            </a:ln>
          </p:spPr>
          <p:txBody>
            <a:bodyPr rtlCol="0" anchor="ctr"/>
            <a:lstStyle/>
            <a:p>
              <a:pPr algn="ctr"/>
              <a:endParaRPr/>
            </a:p>
          </p:txBody>
        </p:sp>
        <p:sp>
          <p:nvSpPr>
            <p:cNvPr id="17" name="Rectangle 16"/>
            <p:cNvSpPr/>
            <p:nvPr/>
          </p:nvSpPr>
          <p:spPr>
            <a:xfrm>
              <a:off x="5724144" y="2487168"/>
              <a:ext cx="438912" cy="98755"/>
            </a:xfrm>
            <a:prstGeom prst="rect">
              <a:avLst/>
            </a:prstGeom>
            <a:solidFill>
              <a:srgbClr val="F28C28"/>
            </a:solidFill>
            <a:ln>
              <a:noFill/>
            </a:ln>
          </p:spPr>
          <p:txBody>
            <a:bodyPr rtlCol="0" anchor="ctr"/>
            <a:lstStyle/>
            <a:p>
              <a:pPr algn="ctr"/>
              <a:endParaRPr/>
            </a:p>
          </p:txBody>
        </p:sp>
        <p:sp>
          <p:nvSpPr>
            <p:cNvPr id="18" name="Oval 17"/>
            <p:cNvSpPr/>
            <p:nvPr/>
          </p:nvSpPr>
          <p:spPr>
            <a:xfrm>
              <a:off x="6675120" y="2514600"/>
              <a:ext cx="548640" cy="548640"/>
            </a:xfrm>
            <a:prstGeom prst="ellipse">
              <a:avLst/>
            </a:prstGeom>
            <a:solidFill>
              <a:srgbClr val="E8E8E8"/>
            </a:solidFill>
            <a:ln>
              <a:noFill/>
            </a:ln>
          </p:spPr>
          <p:txBody>
            <a:bodyPr rtlCol="0" anchor="ctr"/>
            <a:lstStyle/>
            <a:p>
              <a:pPr algn="ctr"/>
              <a:endParaRPr/>
            </a:p>
          </p:txBody>
        </p:sp>
        <p:sp>
          <p:nvSpPr>
            <p:cNvPr id="19" name="Rounded Rectangle 18"/>
            <p:cNvSpPr/>
            <p:nvPr/>
          </p:nvSpPr>
          <p:spPr>
            <a:xfrm>
              <a:off x="6537960" y="3131820"/>
              <a:ext cx="822960" cy="754380"/>
            </a:xfrm>
            <a:prstGeom prst="roundRect">
              <a:avLst>
                <a:gd name="adj" fmla="val 36363"/>
              </a:avLst>
            </a:prstGeom>
            <a:solidFill>
              <a:srgbClr val="E8E8E8"/>
            </a:solidFill>
            <a:ln>
              <a:noFill/>
            </a:ln>
          </p:spPr>
          <p:txBody>
            <a:bodyPr rtlCol="0" anchor="ctr"/>
            <a:lstStyle/>
            <a:p>
              <a:pPr algn="ctr"/>
              <a:endParaRPr/>
            </a:p>
          </p:txBody>
        </p:sp>
        <p:sp>
          <p:nvSpPr>
            <p:cNvPr id="20" name="Rectangle 19"/>
            <p:cNvSpPr/>
            <p:nvPr/>
          </p:nvSpPr>
          <p:spPr>
            <a:xfrm>
              <a:off x="6609283" y="2569464"/>
              <a:ext cx="680314" cy="120701"/>
            </a:xfrm>
            <a:prstGeom prst="rect">
              <a:avLst/>
            </a:prstGeom>
            <a:solidFill>
              <a:srgbClr val="F2C14E"/>
            </a:solidFill>
            <a:ln>
              <a:noFill/>
            </a:ln>
          </p:spPr>
          <p:txBody>
            <a:bodyPr rtlCol="0" anchor="ctr"/>
            <a:lstStyle/>
            <a:p>
              <a:pPr algn="ctr"/>
              <a:endParaRPr/>
            </a:p>
          </p:txBody>
        </p:sp>
        <p:sp>
          <p:nvSpPr>
            <p:cNvPr id="21" name="Rectangle 20"/>
            <p:cNvSpPr/>
            <p:nvPr/>
          </p:nvSpPr>
          <p:spPr>
            <a:xfrm>
              <a:off x="6729984" y="2487168"/>
              <a:ext cx="438912" cy="98755"/>
            </a:xfrm>
            <a:prstGeom prst="rect">
              <a:avLst/>
            </a:prstGeom>
            <a:solidFill>
              <a:srgbClr val="F2C14E"/>
            </a:solidFill>
            <a:ln>
              <a:noFill/>
            </a:ln>
          </p:spPr>
          <p:txBody>
            <a:bodyPr rtlCol="0" anchor="ctr"/>
            <a:lstStyle/>
            <a:p>
              <a:pPr algn="ctr"/>
              <a:endParaRPr/>
            </a:p>
          </p:txBody>
        </p:sp>
        <p:sp>
          <p:nvSpPr>
            <p:cNvPr id="22" name="TextBox 21"/>
            <p:cNvSpPr txBox="1"/>
            <p:nvPr/>
          </p:nvSpPr>
          <p:spPr>
            <a:xfrm>
              <a:off x="5257800" y="4069080"/>
              <a:ext cx="2331720" cy="457200"/>
            </a:xfrm>
            <a:prstGeom prst="rect">
              <a:avLst/>
            </a:prstGeom>
            <a:noFill/>
          </p:spPr>
          <p:txBody>
            <a:bodyPr wrap="square" lIns="0" tIns="0" rIns="0" bIns="0" anchor="ctr">
              <a:noAutofit/>
            </a:bodyPr>
            <a:lstStyle/>
            <a:p>
              <a:pPr algn="ctr">
                <a:spcBef>
                  <a:spcPts val="0"/>
                </a:spcBef>
                <a:spcAft>
                  <a:spcPts val="0"/>
                </a:spcAft>
              </a:pPr>
              <a:r>
                <a:rPr lang="en-GB" sz="1600" b="1" i="0">
                  <a:solidFill>
                    <a:srgbClr val="A9B0B8"/>
                  </a:solidFill>
                  <a:latin typeface="Arial"/>
                </a:rPr>
                <a:t>Crew</a:t>
              </a:r>
            </a:p>
          </p:txBody>
        </p:sp>
        <p:sp>
          <p:nvSpPr>
            <p:cNvPr id="23" name="Rounded Rectangle 22"/>
            <p:cNvSpPr/>
            <p:nvPr/>
          </p:nvSpPr>
          <p:spPr>
            <a:xfrm>
              <a:off x="8778240" y="2240280"/>
              <a:ext cx="2377440" cy="566928"/>
            </a:xfrm>
            <a:prstGeom prst="roundRect">
              <a:avLst>
                <a:gd name="adj" fmla="val 50000"/>
              </a:avLst>
            </a:prstGeom>
            <a:solidFill>
              <a:srgbClr val="343A43"/>
            </a:solidFill>
            <a:ln w="25400">
              <a:solidFill>
                <a:srgbClr val="F28C28"/>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Fire</a:t>
              </a:r>
            </a:p>
          </p:txBody>
        </p:sp>
        <p:cxnSp>
          <p:nvCxnSpPr>
            <p:cNvPr id="24" name="Connector 23"/>
            <p:cNvCxnSpPr/>
            <p:nvPr/>
          </p:nvCxnSpPr>
          <p:spPr>
            <a:xfrm flipV="1">
              <a:off x="7680960" y="2523744"/>
              <a:ext cx="1051560" cy="859536"/>
            </a:xfrm>
            <a:prstGeom prst="line">
              <a:avLst/>
            </a:prstGeom>
            <a:ln w="28575">
              <a:solidFill>
                <a:srgbClr val="F28C28"/>
              </a:solidFill>
              <a:tailEnd type="triangle" w="med" len="med"/>
            </a:ln>
          </p:spPr>
        </p:cxnSp>
        <p:sp>
          <p:nvSpPr>
            <p:cNvPr id="25" name="Rounded Rectangle 24"/>
            <p:cNvSpPr/>
            <p:nvPr/>
          </p:nvSpPr>
          <p:spPr>
            <a:xfrm>
              <a:off x="8778240" y="3063240"/>
              <a:ext cx="2377440" cy="566928"/>
            </a:xfrm>
            <a:prstGeom prst="roundRect">
              <a:avLst>
                <a:gd name="adj" fmla="val 50000"/>
              </a:avLst>
            </a:prstGeom>
            <a:solidFill>
              <a:srgbClr val="343A43"/>
            </a:solidFill>
            <a:ln w="25400">
              <a:solidFill>
                <a:srgbClr val="E8E8E8"/>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Steam</a:t>
              </a:r>
            </a:p>
          </p:txBody>
        </p:sp>
        <p:cxnSp>
          <p:nvCxnSpPr>
            <p:cNvPr id="26" name="Connector 25"/>
            <p:cNvCxnSpPr/>
            <p:nvPr/>
          </p:nvCxnSpPr>
          <p:spPr>
            <a:xfrm flipV="1">
              <a:off x="7680960" y="3346704"/>
              <a:ext cx="1051560" cy="36576"/>
            </a:xfrm>
            <a:prstGeom prst="line">
              <a:avLst/>
            </a:prstGeom>
            <a:ln w="28575">
              <a:solidFill>
                <a:srgbClr val="F28C28"/>
              </a:solidFill>
              <a:tailEnd type="triangle" w="med" len="med"/>
            </a:ln>
          </p:spPr>
        </p:cxnSp>
        <p:sp>
          <p:nvSpPr>
            <p:cNvPr id="27" name="Rounded Rectangle 26"/>
            <p:cNvSpPr/>
            <p:nvPr/>
          </p:nvSpPr>
          <p:spPr>
            <a:xfrm>
              <a:off x="8778240" y="3886200"/>
              <a:ext cx="2377440" cy="566928"/>
            </a:xfrm>
            <a:prstGeom prst="roundRect">
              <a:avLst>
                <a:gd name="adj" fmla="val 50000"/>
              </a:avLst>
            </a:prstGeom>
            <a:solidFill>
              <a:srgbClr val="343A43"/>
            </a:solidFill>
            <a:ln w="25400">
              <a:solidFill>
                <a:srgbClr val="9AA0A6"/>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Valves</a:t>
              </a:r>
            </a:p>
          </p:txBody>
        </p:sp>
        <p:cxnSp>
          <p:nvCxnSpPr>
            <p:cNvPr id="28" name="Connector 27"/>
            <p:cNvCxnSpPr/>
            <p:nvPr/>
          </p:nvCxnSpPr>
          <p:spPr>
            <a:xfrm>
              <a:off x="7680960" y="3383280"/>
              <a:ext cx="1051560" cy="786384"/>
            </a:xfrm>
            <a:prstGeom prst="line">
              <a:avLst/>
            </a:prstGeom>
            <a:ln w="28575">
              <a:solidFill>
                <a:srgbClr val="F28C28"/>
              </a:solidFill>
              <a:tailEnd type="triangle" w="med" len="med"/>
            </a:ln>
          </p:spPr>
        </p:cxnSp>
      </p:grpSp>
      <p:sp>
        <p:nvSpPr>
          <p:cNvPr id="29"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Simple works like a skilled crew. You say go and the crew does the rest.</a:t>
            </a:r>
          </a:p>
        </p:txBody>
      </p:sp>
      <p:sp>
        <p:nvSpPr>
          <p:cNvPr id="30"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31"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11</a:t>
            </a:r>
          </a:p>
        </p:txBody>
      </p:sp>
    </p:spTree>
    <p:extLst>
      <p:ext uri="{BB962C8B-B14F-4D97-AF65-F5344CB8AC3E}">
        <p14:creationId xmlns:p14="http://schemas.microsoft.com/office/powerpoint/2010/main" val="41632106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Advanced: three things to manage</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four driver controls" descr="Four control icons: a fire, a regulator slider, a reverser lever and a brake on a wheel."/>
          <p:cNvGrpSpPr/>
          <p:nvPr/>
        </p:nvGrpSpPr>
        <p:grpSpPr>
          <a:xfrm>
            <a:off x="548640" y="1417320"/>
            <a:ext cx="11090758" cy="4069080"/>
            <a:chOff x="548640" y="1417320"/>
            <a:chExt cx="11090758" cy="4069080"/>
          </a:xfrm>
        </p:grpSpPr>
        <p:sp>
          <p:nvSpPr>
            <p:cNvPr id="5" name="Rounded Rectangle 4"/>
            <p:cNvSpPr/>
            <p:nvPr/>
          </p:nvSpPr>
          <p:spPr>
            <a:xfrm>
              <a:off x="548640" y="1417320"/>
              <a:ext cx="2606040" cy="4069080"/>
            </a:xfrm>
            <a:prstGeom prst="roundRect">
              <a:avLst>
                <a:gd name="adj" fmla="val 2807"/>
              </a:avLst>
            </a:prstGeom>
            <a:solidFill>
              <a:srgbClr val="2B2F36"/>
            </a:solidFill>
            <a:ln>
              <a:noFill/>
            </a:ln>
          </p:spPr>
          <p:txBody>
            <a:bodyPr rtlCol="0" anchor="ctr"/>
            <a:lstStyle/>
            <a:p>
              <a:pPr algn="ctr"/>
              <a:endParaRPr/>
            </a:p>
          </p:txBody>
        </p:sp>
        <p:sp>
          <p:nvSpPr>
            <p:cNvPr id="6" name="Oval 5"/>
            <p:cNvSpPr/>
            <p:nvPr/>
          </p:nvSpPr>
          <p:spPr>
            <a:xfrm>
              <a:off x="704088" y="1572768"/>
              <a:ext cx="457200" cy="457200"/>
            </a:xfrm>
            <a:prstGeom prst="ellipse">
              <a:avLst/>
            </a:prstGeom>
            <a:solidFill>
              <a:srgbClr val="F28C28"/>
            </a:solidFill>
            <a:ln>
              <a:noFill/>
            </a:ln>
          </p:spPr>
          <p:txBody>
            <a:bodyPr rtlCol="0" anchor="ctr"/>
            <a:lstStyle/>
            <a:p>
              <a:pPr algn="ctr"/>
              <a:endParaRPr/>
            </a:p>
          </p:txBody>
        </p:sp>
        <p:sp>
          <p:nvSpPr>
            <p:cNvPr id="7" name="Badge"/>
            <p:cNvSpPr txBox="1"/>
            <p:nvPr/>
          </p:nvSpPr>
          <p:spPr>
            <a:xfrm>
              <a:off x="704088" y="1572768"/>
              <a:ext cx="457200" cy="457200"/>
            </a:xfrm>
            <a:prstGeom prst="rect">
              <a:avLst/>
            </a:prstGeom>
            <a:noFill/>
          </p:spPr>
          <p:txBody>
            <a:bodyPr wrap="square" lIns="0" tIns="0" rIns="0" bIns="0" anchor="ctr">
              <a:noAutofit/>
            </a:bodyPr>
            <a:lstStyle/>
            <a:p>
              <a:pPr algn="ctr">
                <a:spcBef>
                  <a:spcPts val="0"/>
                </a:spcBef>
                <a:spcAft>
                  <a:spcPts val="0"/>
                </a:spcAft>
              </a:pPr>
              <a:r>
                <a:rPr lang="en-GB" sz="1800" b="1" i="0">
                  <a:solidFill>
                    <a:srgbClr val="101418"/>
                  </a:solidFill>
                  <a:latin typeface="Arial"/>
                </a:rPr>
                <a:t>1</a:t>
              </a:r>
            </a:p>
          </p:txBody>
        </p:sp>
        <p:sp>
          <p:nvSpPr>
            <p:cNvPr id="8" name="Oval 7"/>
            <p:cNvSpPr/>
            <p:nvPr/>
          </p:nvSpPr>
          <p:spPr>
            <a:xfrm>
              <a:off x="1052474" y="3886200"/>
              <a:ext cx="451714" cy="347472"/>
            </a:xfrm>
            <a:prstGeom prst="ellipse">
              <a:avLst/>
            </a:prstGeom>
            <a:solidFill>
              <a:srgbClr val="1B1D21"/>
            </a:solidFill>
            <a:ln w="12700">
              <a:solidFill>
                <a:srgbClr val="9AA0A6"/>
              </a:solidFill>
            </a:ln>
          </p:spPr>
          <p:txBody>
            <a:bodyPr rtlCol="0" anchor="ctr"/>
            <a:lstStyle/>
            <a:p>
              <a:pPr algn="ctr"/>
              <a:endParaRPr/>
            </a:p>
          </p:txBody>
        </p:sp>
        <p:sp>
          <p:nvSpPr>
            <p:cNvPr id="9" name="Oval 8"/>
            <p:cNvSpPr/>
            <p:nvPr/>
          </p:nvSpPr>
          <p:spPr>
            <a:xfrm>
              <a:off x="1434694" y="3799332"/>
              <a:ext cx="451714" cy="347472"/>
            </a:xfrm>
            <a:prstGeom prst="ellipse">
              <a:avLst/>
            </a:prstGeom>
            <a:solidFill>
              <a:srgbClr val="1B1D21"/>
            </a:solidFill>
            <a:ln w="12700">
              <a:solidFill>
                <a:srgbClr val="9AA0A6"/>
              </a:solidFill>
            </a:ln>
          </p:spPr>
          <p:txBody>
            <a:bodyPr rtlCol="0" anchor="ctr"/>
            <a:lstStyle/>
            <a:p>
              <a:pPr algn="ctr"/>
              <a:endParaRPr/>
            </a:p>
          </p:txBody>
        </p:sp>
        <p:sp>
          <p:nvSpPr>
            <p:cNvPr id="10" name="Oval 9"/>
            <p:cNvSpPr/>
            <p:nvPr/>
          </p:nvSpPr>
          <p:spPr>
            <a:xfrm>
              <a:off x="1851660" y="3886200"/>
              <a:ext cx="451714" cy="347472"/>
            </a:xfrm>
            <a:prstGeom prst="ellipse">
              <a:avLst/>
            </a:prstGeom>
            <a:solidFill>
              <a:srgbClr val="1B1D21"/>
            </a:solidFill>
            <a:ln w="12700">
              <a:solidFill>
                <a:srgbClr val="9AA0A6"/>
              </a:solidFill>
            </a:ln>
          </p:spPr>
          <p:txBody>
            <a:bodyPr rtlCol="0" anchor="ctr"/>
            <a:lstStyle/>
            <a:p>
              <a:pPr algn="ctr"/>
              <a:endParaRPr/>
            </a:p>
          </p:txBody>
        </p:sp>
        <p:sp>
          <p:nvSpPr>
            <p:cNvPr id="11" name="Oval 10"/>
            <p:cNvSpPr/>
            <p:nvPr/>
          </p:nvSpPr>
          <p:spPr>
            <a:xfrm>
              <a:off x="2199132" y="3851453"/>
              <a:ext cx="451714" cy="347472"/>
            </a:xfrm>
            <a:prstGeom prst="ellipse">
              <a:avLst/>
            </a:prstGeom>
            <a:solidFill>
              <a:srgbClr val="1B1D21"/>
            </a:solidFill>
            <a:ln w="12700">
              <a:solidFill>
                <a:srgbClr val="9AA0A6"/>
              </a:solidFill>
            </a:ln>
          </p:spPr>
          <p:txBody>
            <a:bodyPr rtlCol="0" anchor="ctr"/>
            <a:lstStyle/>
            <a:p>
              <a:pPr algn="ctr"/>
              <a:endParaRPr/>
            </a:p>
          </p:txBody>
        </p:sp>
        <p:sp>
          <p:nvSpPr>
            <p:cNvPr id="12" name="Oval 11"/>
            <p:cNvSpPr/>
            <p:nvPr/>
          </p:nvSpPr>
          <p:spPr>
            <a:xfrm>
              <a:off x="1643177" y="4007815"/>
              <a:ext cx="451714" cy="347472"/>
            </a:xfrm>
            <a:prstGeom prst="ellipse">
              <a:avLst/>
            </a:prstGeom>
            <a:solidFill>
              <a:srgbClr val="1B1D21"/>
            </a:solidFill>
            <a:ln w="12700">
              <a:solidFill>
                <a:srgbClr val="9AA0A6"/>
              </a:solidFill>
            </a:ln>
          </p:spPr>
          <p:txBody>
            <a:bodyPr rtlCol="0" anchor="ctr"/>
            <a:lstStyle/>
            <a:p>
              <a:pPr algn="ctr"/>
              <a:endParaRPr/>
            </a:p>
          </p:txBody>
        </p:sp>
        <p:sp>
          <p:nvSpPr>
            <p:cNvPr id="13" name="Teardrop 12"/>
            <p:cNvSpPr/>
            <p:nvPr/>
          </p:nvSpPr>
          <p:spPr>
            <a:xfrm rot="18900000">
              <a:off x="1323594" y="2480310"/>
              <a:ext cx="1056132" cy="1056132"/>
            </a:xfrm>
            <a:prstGeom prst="teardrop">
              <a:avLst/>
            </a:prstGeom>
            <a:solidFill>
              <a:srgbClr val="F28C28"/>
            </a:solidFill>
            <a:ln>
              <a:noFill/>
            </a:ln>
          </p:spPr>
          <p:txBody>
            <a:bodyPr rtlCol="0" anchor="ctr"/>
            <a:lstStyle/>
            <a:p>
              <a:pPr algn="ctr"/>
              <a:endParaRPr/>
            </a:p>
          </p:txBody>
        </p:sp>
        <p:sp>
          <p:nvSpPr>
            <p:cNvPr id="14" name="Teardrop 13"/>
            <p:cNvSpPr/>
            <p:nvPr/>
          </p:nvSpPr>
          <p:spPr>
            <a:xfrm rot="18900000">
              <a:off x="1549908" y="2857500"/>
              <a:ext cx="603504" cy="603504"/>
            </a:xfrm>
            <a:prstGeom prst="teardrop">
              <a:avLst/>
            </a:prstGeom>
            <a:solidFill>
              <a:srgbClr val="F2C14E"/>
            </a:solidFill>
            <a:ln>
              <a:noFill/>
            </a:ln>
          </p:spPr>
          <p:txBody>
            <a:bodyPr rtlCol="0" anchor="ctr"/>
            <a:lstStyle/>
            <a:p>
              <a:pPr algn="ctr"/>
              <a:endParaRPr/>
            </a:p>
          </p:txBody>
        </p:sp>
        <p:sp>
          <p:nvSpPr>
            <p:cNvPr id="15" name="TextBox 14"/>
            <p:cNvSpPr txBox="1"/>
            <p:nvPr/>
          </p:nvSpPr>
          <p:spPr>
            <a:xfrm>
              <a:off x="548640" y="4663440"/>
              <a:ext cx="2606040" cy="548640"/>
            </a:xfrm>
            <a:prstGeom prst="rect">
              <a:avLst/>
            </a:prstGeom>
            <a:noFill/>
          </p:spPr>
          <p:txBody>
            <a:bodyPr wrap="square" lIns="0" tIns="0" rIns="0" bIns="0" anchor="ctr">
              <a:noAutofit/>
            </a:bodyPr>
            <a:lstStyle/>
            <a:p>
              <a:pPr algn="ctr">
                <a:spcBef>
                  <a:spcPts val="0"/>
                </a:spcBef>
                <a:spcAft>
                  <a:spcPts val="0"/>
                </a:spcAft>
              </a:pPr>
              <a:r>
                <a:rPr lang="en-GB" sz="2200" b="1" i="0">
                  <a:solidFill>
                    <a:srgbClr val="F2F2F2"/>
                  </a:solidFill>
                  <a:latin typeface="Arial"/>
                </a:rPr>
                <a:t>Fire</a:t>
              </a:r>
            </a:p>
          </p:txBody>
        </p:sp>
        <p:sp>
          <p:nvSpPr>
            <p:cNvPr id="16" name="Rounded Rectangle 15"/>
            <p:cNvSpPr/>
            <p:nvPr/>
          </p:nvSpPr>
          <p:spPr>
            <a:xfrm>
              <a:off x="3376879" y="1417320"/>
              <a:ext cx="2606040" cy="4069080"/>
            </a:xfrm>
            <a:prstGeom prst="roundRect">
              <a:avLst>
                <a:gd name="adj" fmla="val 2807"/>
              </a:avLst>
            </a:prstGeom>
            <a:solidFill>
              <a:srgbClr val="2B2F36"/>
            </a:solidFill>
            <a:ln>
              <a:noFill/>
            </a:ln>
          </p:spPr>
          <p:txBody>
            <a:bodyPr rtlCol="0" anchor="ctr"/>
            <a:lstStyle/>
            <a:p>
              <a:pPr algn="ctr"/>
              <a:endParaRPr/>
            </a:p>
          </p:txBody>
        </p:sp>
        <p:sp>
          <p:nvSpPr>
            <p:cNvPr id="17" name="Oval 16"/>
            <p:cNvSpPr/>
            <p:nvPr/>
          </p:nvSpPr>
          <p:spPr>
            <a:xfrm>
              <a:off x="3532327" y="1572768"/>
              <a:ext cx="457200" cy="457200"/>
            </a:xfrm>
            <a:prstGeom prst="ellipse">
              <a:avLst/>
            </a:prstGeom>
            <a:solidFill>
              <a:srgbClr val="F28C28"/>
            </a:solidFill>
            <a:ln>
              <a:noFill/>
            </a:ln>
          </p:spPr>
          <p:txBody>
            <a:bodyPr rtlCol="0" anchor="ctr"/>
            <a:lstStyle/>
            <a:p>
              <a:pPr algn="ctr"/>
              <a:endParaRPr/>
            </a:p>
          </p:txBody>
        </p:sp>
        <p:sp>
          <p:nvSpPr>
            <p:cNvPr id="18" name="Badge"/>
            <p:cNvSpPr txBox="1"/>
            <p:nvPr/>
          </p:nvSpPr>
          <p:spPr>
            <a:xfrm>
              <a:off x="3532327" y="1572768"/>
              <a:ext cx="457200" cy="457200"/>
            </a:xfrm>
            <a:prstGeom prst="rect">
              <a:avLst/>
            </a:prstGeom>
            <a:noFill/>
          </p:spPr>
          <p:txBody>
            <a:bodyPr wrap="square" lIns="0" tIns="0" rIns="0" bIns="0" anchor="ctr">
              <a:noAutofit/>
            </a:bodyPr>
            <a:lstStyle/>
            <a:p>
              <a:pPr algn="ctr">
                <a:spcBef>
                  <a:spcPts val="0"/>
                </a:spcBef>
                <a:spcAft>
                  <a:spcPts val="0"/>
                </a:spcAft>
              </a:pPr>
              <a:r>
                <a:rPr lang="en-GB" sz="1800" b="1" i="0">
                  <a:solidFill>
                    <a:srgbClr val="101418"/>
                  </a:solidFill>
                  <a:latin typeface="Arial"/>
                </a:rPr>
                <a:t>2</a:t>
              </a:r>
            </a:p>
          </p:txBody>
        </p:sp>
        <p:sp>
          <p:nvSpPr>
            <p:cNvPr id="19" name="Rounded Rectangle 18"/>
            <p:cNvSpPr/>
            <p:nvPr/>
          </p:nvSpPr>
          <p:spPr>
            <a:xfrm>
              <a:off x="3765499" y="3429000"/>
              <a:ext cx="1828800" cy="182880"/>
            </a:xfrm>
            <a:prstGeom prst="roundRect">
              <a:avLst>
                <a:gd name="adj" fmla="val 50000"/>
              </a:avLst>
            </a:prstGeom>
            <a:solidFill>
              <a:srgbClr val="1B1D21"/>
            </a:solidFill>
            <a:ln w="19050">
              <a:solidFill>
                <a:srgbClr val="9AA0A6"/>
              </a:solidFill>
            </a:ln>
          </p:spPr>
          <p:txBody>
            <a:bodyPr rtlCol="0" anchor="ctr"/>
            <a:lstStyle/>
            <a:p>
              <a:pPr algn="ctr"/>
              <a:endParaRPr/>
            </a:p>
          </p:txBody>
        </p:sp>
        <p:cxnSp>
          <p:nvCxnSpPr>
            <p:cNvPr id="20" name="Connector 19"/>
            <p:cNvCxnSpPr/>
            <p:nvPr/>
          </p:nvCxnSpPr>
          <p:spPr>
            <a:xfrm>
              <a:off x="3948379" y="3182112"/>
              <a:ext cx="0" cy="182880"/>
            </a:xfrm>
            <a:prstGeom prst="line">
              <a:avLst/>
            </a:prstGeom>
            <a:ln w="19050">
              <a:solidFill>
                <a:srgbClr val="9AA0A6"/>
              </a:solidFill>
            </a:ln>
          </p:spPr>
        </p:cxnSp>
        <p:cxnSp>
          <p:nvCxnSpPr>
            <p:cNvPr id="21" name="Connector 20"/>
            <p:cNvCxnSpPr/>
            <p:nvPr/>
          </p:nvCxnSpPr>
          <p:spPr>
            <a:xfrm>
              <a:off x="4314139" y="3182112"/>
              <a:ext cx="0" cy="182880"/>
            </a:xfrm>
            <a:prstGeom prst="line">
              <a:avLst/>
            </a:prstGeom>
            <a:ln w="19050">
              <a:solidFill>
                <a:srgbClr val="9AA0A6"/>
              </a:solidFill>
            </a:ln>
          </p:spPr>
        </p:cxnSp>
        <p:cxnSp>
          <p:nvCxnSpPr>
            <p:cNvPr id="22" name="Connector 21"/>
            <p:cNvCxnSpPr/>
            <p:nvPr/>
          </p:nvCxnSpPr>
          <p:spPr>
            <a:xfrm>
              <a:off x="4679899" y="3182112"/>
              <a:ext cx="0" cy="182880"/>
            </a:xfrm>
            <a:prstGeom prst="line">
              <a:avLst/>
            </a:prstGeom>
            <a:ln w="19050">
              <a:solidFill>
                <a:srgbClr val="9AA0A6"/>
              </a:solidFill>
            </a:ln>
          </p:spPr>
        </p:cxnSp>
        <p:cxnSp>
          <p:nvCxnSpPr>
            <p:cNvPr id="23" name="Connector 22"/>
            <p:cNvCxnSpPr/>
            <p:nvPr/>
          </p:nvCxnSpPr>
          <p:spPr>
            <a:xfrm>
              <a:off x="5045659" y="3182112"/>
              <a:ext cx="0" cy="182880"/>
            </a:xfrm>
            <a:prstGeom prst="line">
              <a:avLst/>
            </a:prstGeom>
            <a:ln w="19050">
              <a:solidFill>
                <a:srgbClr val="9AA0A6"/>
              </a:solidFill>
            </a:ln>
          </p:spPr>
        </p:cxnSp>
        <p:cxnSp>
          <p:nvCxnSpPr>
            <p:cNvPr id="24" name="Connector 23"/>
            <p:cNvCxnSpPr/>
            <p:nvPr/>
          </p:nvCxnSpPr>
          <p:spPr>
            <a:xfrm>
              <a:off x="5411419" y="3182112"/>
              <a:ext cx="0" cy="182880"/>
            </a:xfrm>
            <a:prstGeom prst="line">
              <a:avLst/>
            </a:prstGeom>
            <a:ln w="19050">
              <a:solidFill>
                <a:srgbClr val="9AA0A6"/>
              </a:solidFill>
            </a:ln>
          </p:spPr>
        </p:cxnSp>
        <p:cxnSp>
          <p:nvCxnSpPr>
            <p:cNvPr id="25" name="Connector 24"/>
            <p:cNvCxnSpPr/>
            <p:nvPr/>
          </p:nvCxnSpPr>
          <p:spPr>
            <a:xfrm flipV="1">
              <a:off x="4497019" y="2743200"/>
              <a:ext cx="0" cy="777240"/>
            </a:xfrm>
            <a:prstGeom prst="line">
              <a:avLst/>
            </a:prstGeom>
            <a:ln w="101600">
              <a:solidFill>
                <a:srgbClr val="9AA0A6"/>
              </a:solidFill>
            </a:ln>
          </p:spPr>
        </p:cxnSp>
        <p:sp>
          <p:nvSpPr>
            <p:cNvPr id="26" name="Oval 25"/>
            <p:cNvSpPr/>
            <p:nvPr/>
          </p:nvSpPr>
          <p:spPr>
            <a:xfrm>
              <a:off x="4268419" y="2468880"/>
              <a:ext cx="457200" cy="457200"/>
            </a:xfrm>
            <a:prstGeom prst="ellipse">
              <a:avLst/>
            </a:prstGeom>
            <a:solidFill>
              <a:srgbClr val="F28C28"/>
            </a:solidFill>
            <a:ln w="19050">
              <a:solidFill>
                <a:srgbClr val="101418"/>
              </a:solidFill>
            </a:ln>
          </p:spPr>
          <p:txBody>
            <a:bodyPr rtlCol="0" anchor="ctr"/>
            <a:lstStyle/>
            <a:p>
              <a:pPr algn="ctr"/>
              <a:endParaRPr/>
            </a:p>
          </p:txBody>
        </p:sp>
        <p:cxnSp>
          <p:nvCxnSpPr>
            <p:cNvPr id="27" name="Connector 26"/>
            <p:cNvCxnSpPr/>
            <p:nvPr/>
          </p:nvCxnSpPr>
          <p:spPr>
            <a:xfrm>
              <a:off x="3948379" y="3931920"/>
              <a:ext cx="1463040" cy="0"/>
            </a:xfrm>
            <a:prstGeom prst="line">
              <a:avLst/>
            </a:prstGeom>
            <a:ln w="38100">
              <a:solidFill>
                <a:srgbClr val="F28C28"/>
              </a:solidFill>
              <a:headEnd type="triangle" w="med" len="med"/>
              <a:tailEnd type="triangle" w="med" len="med"/>
            </a:ln>
          </p:spPr>
        </p:cxnSp>
        <p:sp>
          <p:nvSpPr>
            <p:cNvPr id="28" name="TextBox 27"/>
            <p:cNvSpPr txBox="1"/>
            <p:nvPr/>
          </p:nvSpPr>
          <p:spPr>
            <a:xfrm>
              <a:off x="3376879" y="4663440"/>
              <a:ext cx="2606040" cy="548640"/>
            </a:xfrm>
            <a:prstGeom prst="rect">
              <a:avLst/>
            </a:prstGeom>
            <a:noFill/>
          </p:spPr>
          <p:txBody>
            <a:bodyPr wrap="square" lIns="0" tIns="0" rIns="0" bIns="0" anchor="ctr">
              <a:noAutofit/>
            </a:bodyPr>
            <a:lstStyle/>
            <a:p>
              <a:pPr algn="ctr">
                <a:spcBef>
                  <a:spcPts val="0"/>
                </a:spcBef>
                <a:spcAft>
                  <a:spcPts val="0"/>
                </a:spcAft>
              </a:pPr>
              <a:r>
                <a:rPr lang="en-GB" sz="2200" b="1" i="0">
                  <a:solidFill>
                    <a:srgbClr val="F2F2F2"/>
                  </a:solidFill>
                  <a:latin typeface="Arial"/>
                </a:rPr>
                <a:t>Regulator</a:t>
              </a:r>
            </a:p>
          </p:txBody>
        </p:sp>
        <p:sp>
          <p:nvSpPr>
            <p:cNvPr id="29" name="Rounded Rectangle 28"/>
            <p:cNvSpPr/>
            <p:nvPr/>
          </p:nvSpPr>
          <p:spPr>
            <a:xfrm>
              <a:off x="6205118" y="1417320"/>
              <a:ext cx="2606040" cy="4069080"/>
            </a:xfrm>
            <a:prstGeom prst="roundRect">
              <a:avLst>
                <a:gd name="adj" fmla="val 2807"/>
              </a:avLst>
            </a:prstGeom>
            <a:solidFill>
              <a:srgbClr val="2B2F36"/>
            </a:solidFill>
            <a:ln>
              <a:noFill/>
            </a:ln>
          </p:spPr>
          <p:txBody>
            <a:bodyPr rtlCol="0" anchor="ctr"/>
            <a:lstStyle/>
            <a:p>
              <a:pPr algn="ctr"/>
              <a:endParaRPr/>
            </a:p>
          </p:txBody>
        </p:sp>
        <p:sp>
          <p:nvSpPr>
            <p:cNvPr id="30" name="Oval 29"/>
            <p:cNvSpPr/>
            <p:nvPr/>
          </p:nvSpPr>
          <p:spPr>
            <a:xfrm>
              <a:off x="6360566" y="1572768"/>
              <a:ext cx="457200" cy="457200"/>
            </a:xfrm>
            <a:prstGeom prst="ellipse">
              <a:avLst/>
            </a:prstGeom>
            <a:solidFill>
              <a:srgbClr val="F28C28"/>
            </a:solidFill>
            <a:ln>
              <a:noFill/>
            </a:ln>
          </p:spPr>
          <p:txBody>
            <a:bodyPr rtlCol="0" anchor="ctr"/>
            <a:lstStyle/>
            <a:p>
              <a:pPr algn="ctr"/>
              <a:endParaRPr/>
            </a:p>
          </p:txBody>
        </p:sp>
        <p:sp>
          <p:nvSpPr>
            <p:cNvPr id="31" name="Badge"/>
            <p:cNvSpPr txBox="1"/>
            <p:nvPr/>
          </p:nvSpPr>
          <p:spPr>
            <a:xfrm>
              <a:off x="6360566" y="1572768"/>
              <a:ext cx="457200" cy="457200"/>
            </a:xfrm>
            <a:prstGeom prst="rect">
              <a:avLst/>
            </a:prstGeom>
            <a:noFill/>
          </p:spPr>
          <p:txBody>
            <a:bodyPr wrap="square" lIns="0" tIns="0" rIns="0" bIns="0" anchor="ctr">
              <a:noAutofit/>
            </a:bodyPr>
            <a:lstStyle/>
            <a:p>
              <a:pPr algn="ctr">
                <a:spcBef>
                  <a:spcPts val="0"/>
                </a:spcBef>
                <a:spcAft>
                  <a:spcPts val="0"/>
                </a:spcAft>
              </a:pPr>
              <a:r>
                <a:rPr lang="en-GB" sz="1800" b="1" i="0">
                  <a:solidFill>
                    <a:srgbClr val="101418"/>
                  </a:solidFill>
                  <a:latin typeface="Arial"/>
                </a:rPr>
                <a:t>3</a:t>
              </a:r>
            </a:p>
          </p:txBody>
        </p:sp>
        <p:sp>
          <p:nvSpPr>
            <p:cNvPr id="32" name="Rounded Rectangle 31"/>
            <p:cNvSpPr/>
            <p:nvPr/>
          </p:nvSpPr>
          <p:spPr>
            <a:xfrm>
              <a:off x="7215530" y="2514600"/>
              <a:ext cx="128016" cy="1783080"/>
            </a:xfrm>
            <a:prstGeom prst="roundRect">
              <a:avLst>
                <a:gd name="adj" fmla="val 50000"/>
              </a:avLst>
            </a:prstGeom>
            <a:solidFill>
              <a:srgbClr val="1B1D21"/>
            </a:solidFill>
            <a:ln w="19050">
              <a:solidFill>
                <a:srgbClr val="9AA0A6"/>
              </a:solidFill>
            </a:ln>
          </p:spPr>
          <p:txBody>
            <a:bodyPr rtlCol="0" anchor="ctr"/>
            <a:lstStyle/>
            <a:p>
              <a:pPr algn="ctr"/>
              <a:endParaRPr/>
            </a:p>
          </p:txBody>
        </p:sp>
        <p:cxnSp>
          <p:nvCxnSpPr>
            <p:cNvPr id="33" name="Connector 32"/>
            <p:cNvCxnSpPr/>
            <p:nvPr/>
          </p:nvCxnSpPr>
          <p:spPr>
            <a:xfrm>
              <a:off x="7023506" y="2960370"/>
              <a:ext cx="173736" cy="0"/>
            </a:xfrm>
            <a:prstGeom prst="line">
              <a:avLst/>
            </a:prstGeom>
            <a:ln w="19050">
              <a:solidFill>
                <a:srgbClr val="9AA0A6"/>
              </a:solidFill>
            </a:ln>
          </p:spPr>
        </p:cxnSp>
        <p:cxnSp>
          <p:nvCxnSpPr>
            <p:cNvPr id="34" name="Connector 33"/>
            <p:cNvCxnSpPr/>
            <p:nvPr/>
          </p:nvCxnSpPr>
          <p:spPr>
            <a:xfrm>
              <a:off x="7023506" y="3406140"/>
              <a:ext cx="173736" cy="0"/>
            </a:xfrm>
            <a:prstGeom prst="line">
              <a:avLst/>
            </a:prstGeom>
            <a:ln w="19050">
              <a:solidFill>
                <a:srgbClr val="9AA0A6"/>
              </a:solidFill>
            </a:ln>
          </p:spPr>
        </p:cxnSp>
        <p:cxnSp>
          <p:nvCxnSpPr>
            <p:cNvPr id="35" name="Connector 34"/>
            <p:cNvCxnSpPr/>
            <p:nvPr/>
          </p:nvCxnSpPr>
          <p:spPr>
            <a:xfrm>
              <a:off x="7023506" y="3851910"/>
              <a:ext cx="173736" cy="0"/>
            </a:xfrm>
            <a:prstGeom prst="line">
              <a:avLst/>
            </a:prstGeom>
            <a:ln w="19050">
              <a:solidFill>
                <a:srgbClr val="9AA0A6"/>
              </a:solidFill>
            </a:ln>
          </p:spPr>
        </p:cxnSp>
        <p:cxnSp>
          <p:nvCxnSpPr>
            <p:cNvPr id="36" name="Connector 35"/>
            <p:cNvCxnSpPr/>
            <p:nvPr/>
          </p:nvCxnSpPr>
          <p:spPr>
            <a:xfrm flipV="1">
              <a:off x="7279538" y="2835554"/>
              <a:ext cx="0" cy="1194664"/>
            </a:xfrm>
            <a:prstGeom prst="line">
              <a:avLst/>
            </a:prstGeom>
            <a:ln w="76200">
              <a:solidFill>
                <a:srgbClr val="9AA0A6"/>
              </a:solidFill>
            </a:ln>
          </p:spPr>
        </p:cxnSp>
        <p:sp>
          <p:nvSpPr>
            <p:cNvPr id="37" name="Oval 36"/>
            <p:cNvSpPr/>
            <p:nvPr/>
          </p:nvSpPr>
          <p:spPr>
            <a:xfrm>
              <a:off x="7078370" y="2634386"/>
              <a:ext cx="402336" cy="402336"/>
            </a:xfrm>
            <a:prstGeom prst="ellipse">
              <a:avLst/>
            </a:prstGeom>
            <a:solidFill>
              <a:srgbClr val="F28C28"/>
            </a:solidFill>
            <a:ln w="19050">
              <a:solidFill>
                <a:srgbClr val="101418"/>
              </a:solidFill>
            </a:ln>
          </p:spPr>
          <p:txBody>
            <a:bodyPr rtlCol="0" anchor="ctr"/>
            <a:lstStyle/>
            <a:p>
              <a:pPr algn="ctr"/>
              <a:endParaRPr/>
            </a:p>
          </p:txBody>
        </p:sp>
        <p:sp>
          <p:nvSpPr>
            <p:cNvPr id="38" name="Rounded Rectangle 37"/>
            <p:cNvSpPr/>
            <p:nvPr/>
          </p:nvSpPr>
          <p:spPr>
            <a:xfrm>
              <a:off x="6986930" y="3975354"/>
              <a:ext cx="585216" cy="128016"/>
            </a:xfrm>
            <a:prstGeom prst="roundRect">
              <a:avLst>
                <a:gd name="adj" fmla="val 35714"/>
              </a:avLst>
            </a:prstGeom>
            <a:solidFill>
              <a:srgbClr val="343A43"/>
            </a:solidFill>
            <a:ln w="19050">
              <a:solidFill>
                <a:srgbClr val="9AA0A6"/>
              </a:solidFill>
            </a:ln>
          </p:spPr>
          <p:txBody>
            <a:bodyPr rtlCol="0" anchor="ctr"/>
            <a:lstStyle/>
            <a:p>
              <a:pPr algn="ctr"/>
              <a:endParaRPr/>
            </a:p>
          </p:txBody>
        </p:sp>
        <p:cxnSp>
          <p:nvCxnSpPr>
            <p:cNvPr id="39" name="Connector 38"/>
            <p:cNvCxnSpPr/>
            <p:nvPr/>
          </p:nvCxnSpPr>
          <p:spPr>
            <a:xfrm>
              <a:off x="8148218" y="2651760"/>
              <a:ext cx="0" cy="1463040"/>
            </a:xfrm>
            <a:prstGeom prst="line">
              <a:avLst/>
            </a:prstGeom>
            <a:ln w="38100">
              <a:solidFill>
                <a:srgbClr val="F28C28"/>
              </a:solidFill>
              <a:headEnd type="triangle" w="med" len="med"/>
              <a:tailEnd type="triangle" w="med" len="med"/>
            </a:ln>
          </p:spPr>
        </p:cxnSp>
        <p:sp>
          <p:nvSpPr>
            <p:cNvPr id="40" name="TextBox 39"/>
            <p:cNvSpPr txBox="1"/>
            <p:nvPr/>
          </p:nvSpPr>
          <p:spPr>
            <a:xfrm>
              <a:off x="6205118" y="4663440"/>
              <a:ext cx="2606040" cy="548640"/>
            </a:xfrm>
            <a:prstGeom prst="rect">
              <a:avLst/>
            </a:prstGeom>
            <a:noFill/>
          </p:spPr>
          <p:txBody>
            <a:bodyPr wrap="square" lIns="0" tIns="0" rIns="0" bIns="0" anchor="ctr">
              <a:noAutofit/>
            </a:bodyPr>
            <a:lstStyle/>
            <a:p>
              <a:pPr algn="ctr">
                <a:spcBef>
                  <a:spcPts val="0"/>
                </a:spcBef>
                <a:spcAft>
                  <a:spcPts val="0"/>
                </a:spcAft>
              </a:pPr>
              <a:r>
                <a:rPr lang="en-GB" sz="2200" b="1" i="0">
                  <a:solidFill>
                    <a:srgbClr val="F2F2F2"/>
                  </a:solidFill>
                  <a:latin typeface="Arial"/>
                </a:rPr>
                <a:t>Reverser</a:t>
              </a:r>
            </a:p>
          </p:txBody>
        </p:sp>
        <p:sp>
          <p:nvSpPr>
            <p:cNvPr id="41" name="Rounded Rectangle 40"/>
            <p:cNvSpPr/>
            <p:nvPr/>
          </p:nvSpPr>
          <p:spPr>
            <a:xfrm>
              <a:off x="9033358" y="1417320"/>
              <a:ext cx="2606040" cy="4069080"/>
            </a:xfrm>
            <a:prstGeom prst="roundRect">
              <a:avLst>
                <a:gd name="adj" fmla="val 2807"/>
              </a:avLst>
            </a:prstGeom>
            <a:solidFill>
              <a:srgbClr val="2B2F36"/>
            </a:solidFill>
            <a:ln>
              <a:noFill/>
            </a:ln>
          </p:spPr>
          <p:txBody>
            <a:bodyPr rtlCol="0" anchor="ctr"/>
            <a:lstStyle/>
            <a:p>
              <a:pPr algn="ctr"/>
              <a:endParaRPr/>
            </a:p>
          </p:txBody>
        </p:sp>
        <p:sp>
          <p:nvSpPr>
            <p:cNvPr id="42" name="Oval 41"/>
            <p:cNvSpPr/>
            <p:nvPr/>
          </p:nvSpPr>
          <p:spPr>
            <a:xfrm>
              <a:off x="9188806" y="1572768"/>
              <a:ext cx="457200" cy="457200"/>
            </a:xfrm>
            <a:prstGeom prst="ellipse">
              <a:avLst/>
            </a:prstGeom>
            <a:noFill/>
            <a:ln w="25400">
              <a:solidFill>
                <a:srgbClr val="9AA0A6"/>
              </a:solidFill>
            </a:ln>
          </p:spPr>
          <p:txBody>
            <a:bodyPr rtlCol="0" anchor="ctr"/>
            <a:lstStyle/>
            <a:p>
              <a:pPr algn="ctr"/>
              <a:endParaRPr/>
            </a:p>
          </p:txBody>
        </p:sp>
        <p:sp>
          <p:nvSpPr>
            <p:cNvPr id="43" name="Badge"/>
            <p:cNvSpPr txBox="1"/>
            <p:nvPr/>
          </p:nvSpPr>
          <p:spPr>
            <a:xfrm>
              <a:off x="9188806" y="1572768"/>
              <a:ext cx="457200" cy="457200"/>
            </a:xfrm>
            <a:prstGeom prst="rect">
              <a:avLst/>
            </a:prstGeom>
            <a:noFill/>
          </p:spPr>
          <p:txBody>
            <a:bodyPr wrap="square" lIns="0" tIns="0" rIns="0" bIns="0" anchor="ctr">
              <a:noAutofit/>
            </a:bodyPr>
            <a:lstStyle/>
            <a:p>
              <a:pPr algn="ctr">
                <a:spcBef>
                  <a:spcPts val="0"/>
                </a:spcBef>
                <a:spcAft>
                  <a:spcPts val="0"/>
                </a:spcAft>
              </a:pPr>
              <a:r>
                <a:rPr lang="en-GB" sz="2000" b="1" i="0">
                  <a:solidFill>
                    <a:srgbClr val="9AA0A6"/>
                  </a:solidFill>
                  <a:latin typeface="Arial"/>
                </a:rPr>
                <a:t>+</a:t>
              </a:r>
            </a:p>
          </p:txBody>
        </p:sp>
        <p:sp>
          <p:nvSpPr>
            <p:cNvPr id="44" name="Oval 43"/>
            <p:cNvSpPr/>
            <p:nvPr/>
          </p:nvSpPr>
          <p:spPr>
            <a:xfrm>
              <a:off x="9513418" y="2560320"/>
              <a:ext cx="1463040" cy="1463040"/>
            </a:xfrm>
            <a:prstGeom prst="ellipse">
              <a:avLst/>
            </a:prstGeom>
            <a:solidFill>
              <a:srgbClr val="1B1D21"/>
            </a:solidFill>
            <a:ln w="25400">
              <a:solidFill>
                <a:srgbClr val="9AA0A6"/>
              </a:solidFill>
            </a:ln>
          </p:spPr>
          <p:txBody>
            <a:bodyPr rtlCol="0" anchor="ctr"/>
            <a:lstStyle/>
            <a:p>
              <a:pPr algn="ctr"/>
              <a:endParaRPr/>
            </a:p>
          </p:txBody>
        </p:sp>
        <p:cxnSp>
          <p:nvCxnSpPr>
            <p:cNvPr id="45" name="Connector 44"/>
            <p:cNvCxnSpPr/>
            <p:nvPr/>
          </p:nvCxnSpPr>
          <p:spPr>
            <a:xfrm>
              <a:off x="9623146" y="3291840"/>
              <a:ext cx="1243584" cy="0"/>
            </a:xfrm>
            <a:prstGeom prst="line">
              <a:avLst/>
            </a:prstGeom>
            <a:ln w="15875">
              <a:solidFill>
                <a:srgbClr val="9AA0A6"/>
              </a:solidFill>
            </a:ln>
          </p:spPr>
        </p:cxnSp>
        <p:cxnSp>
          <p:nvCxnSpPr>
            <p:cNvPr id="46" name="Connector 45"/>
            <p:cNvCxnSpPr/>
            <p:nvPr/>
          </p:nvCxnSpPr>
          <p:spPr>
            <a:xfrm>
              <a:off x="10244938" y="2670048"/>
              <a:ext cx="0" cy="1243584"/>
            </a:xfrm>
            <a:prstGeom prst="line">
              <a:avLst/>
            </a:prstGeom>
            <a:ln w="15875">
              <a:solidFill>
                <a:srgbClr val="9AA0A6"/>
              </a:solidFill>
            </a:ln>
          </p:spPr>
        </p:cxnSp>
        <p:sp>
          <p:nvSpPr>
            <p:cNvPr id="47" name="Oval 46"/>
            <p:cNvSpPr/>
            <p:nvPr/>
          </p:nvSpPr>
          <p:spPr>
            <a:xfrm>
              <a:off x="10113264" y="3160166"/>
              <a:ext cx="263347" cy="263347"/>
            </a:xfrm>
            <a:prstGeom prst="ellipse">
              <a:avLst/>
            </a:prstGeom>
            <a:solidFill>
              <a:srgbClr val="9AA0A6"/>
            </a:solidFill>
            <a:ln>
              <a:noFill/>
            </a:ln>
          </p:spPr>
          <p:txBody>
            <a:bodyPr rtlCol="0" anchor="ctr"/>
            <a:lstStyle/>
            <a:p>
              <a:pPr algn="ctr"/>
              <a:endParaRPr/>
            </a:p>
          </p:txBody>
        </p:sp>
        <p:sp>
          <p:nvSpPr>
            <p:cNvPr id="48" name="Rounded Rectangle 47"/>
            <p:cNvSpPr/>
            <p:nvPr/>
          </p:nvSpPr>
          <p:spPr>
            <a:xfrm>
              <a:off x="10994746" y="2971800"/>
              <a:ext cx="274320" cy="640080"/>
            </a:xfrm>
            <a:prstGeom prst="roundRect">
              <a:avLst>
                <a:gd name="adj" fmla="val 20000"/>
              </a:avLst>
            </a:prstGeom>
            <a:solidFill>
              <a:srgbClr val="E5484D"/>
            </a:solidFill>
            <a:ln w="19050">
              <a:solidFill>
                <a:srgbClr val="101418"/>
              </a:solidFill>
            </a:ln>
          </p:spPr>
          <p:txBody>
            <a:bodyPr rtlCol="0" anchor="ctr"/>
            <a:lstStyle/>
            <a:p>
              <a:pPr algn="ctr"/>
              <a:endParaRPr/>
            </a:p>
          </p:txBody>
        </p:sp>
        <p:cxnSp>
          <p:nvCxnSpPr>
            <p:cNvPr id="49" name="Connector 48"/>
            <p:cNvCxnSpPr/>
            <p:nvPr/>
          </p:nvCxnSpPr>
          <p:spPr>
            <a:xfrm flipH="1">
              <a:off x="11323930" y="3291840"/>
              <a:ext cx="201168" cy="0"/>
            </a:xfrm>
            <a:prstGeom prst="line">
              <a:avLst/>
            </a:prstGeom>
            <a:ln w="38100">
              <a:solidFill>
                <a:srgbClr val="E5484D"/>
              </a:solidFill>
              <a:tailEnd type="triangle" w="med" len="med"/>
            </a:ln>
          </p:spPr>
        </p:cxnSp>
        <p:sp>
          <p:nvSpPr>
            <p:cNvPr id="50" name="TextBox 49"/>
            <p:cNvSpPr txBox="1"/>
            <p:nvPr/>
          </p:nvSpPr>
          <p:spPr>
            <a:xfrm>
              <a:off x="9033358" y="4663440"/>
              <a:ext cx="2606040" cy="548640"/>
            </a:xfrm>
            <a:prstGeom prst="rect">
              <a:avLst/>
            </a:prstGeom>
            <a:noFill/>
          </p:spPr>
          <p:txBody>
            <a:bodyPr wrap="square" lIns="0" tIns="0" rIns="0" bIns="0" anchor="ctr">
              <a:noAutofit/>
            </a:bodyPr>
            <a:lstStyle/>
            <a:p>
              <a:pPr algn="ctr">
                <a:spcBef>
                  <a:spcPts val="0"/>
                </a:spcBef>
                <a:spcAft>
                  <a:spcPts val="0"/>
                </a:spcAft>
              </a:pPr>
              <a:r>
                <a:rPr lang="en-GB" sz="2200" b="1" i="0">
                  <a:solidFill>
                    <a:srgbClr val="F2F2F2"/>
                  </a:solidFill>
                  <a:latin typeface="Arial"/>
                </a:rPr>
                <a:t>Brake</a:t>
              </a:r>
            </a:p>
          </p:txBody>
        </p:sp>
      </p:grpSp>
      <p:sp>
        <p:nvSpPr>
          <p:cNvPr id="51"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You manage the fire, the regulator and the reverser. Braking stays too.</a:t>
            </a:r>
          </a:p>
        </p:txBody>
      </p:sp>
      <p:sp>
        <p:nvSpPr>
          <p:cNvPr id="52"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53"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12</a:t>
            </a:r>
          </a:p>
        </p:txBody>
      </p:sp>
    </p:spTree>
    <p:extLst>
      <p:ext uri="{BB962C8B-B14F-4D97-AF65-F5344CB8AC3E}">
        <p14:creationId xmlns:p14="http://schemas.microsoft.com/office/powerpoint/2010/main" val="1191867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nodeType="withEffect">
                                  <p:stCondLst>
                                    <p:cond delay="60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What you do not have to do</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crossed-out list of controls you do not manage" descr="A list of five crossed-out items: injectors, detailed boiler water, blower and damper, dozens of cab valves and procedures, beside a crowded panel of gauges and valves marked with a prohibition sign."/>
          <p:cNvGrpSpPr/>
          <p:nvPr/>
        </p:nvGrpSpPr>
        <p:grpSpPr>
          <a:xfrm>
            <a:off x="548640" y="1417320"/>
            <a:ext cx="11091672" cy="4023360"/>
            <a:chOff x="548640" y="1417320"/>
            <a:chExt cx="11091672" cy="4023360"/>
          </a:xfrm>
        </p:grpSpPr>
        <p:sp>
          <p:nvSpPr>
            <p:cNvPr id="5" name="Rounded Rectangle 4"/>
            <p:cNvSpPr/>
            <p:nvPr/>
          </p:nvSpPr>
          <p:spPr>
            <a:xfrm>
              <a:off x="548640" y="1417320"/>
              <a:ext cx="6400800" cy="694944"/>
            </a:xfrm>
            <a:prstGeom prst="roundRect">
              <a:avLst>
                <a:gd name="adj" fmla="val 10526"/>
              </a:avLst>
            </a:prstGeom>
            <a:solidFill>
              <a:srgbClr val="2B2F36"/>
            </a:solidFill>
            <a:ln>
              <a:noFill/>
            </a:ln>
          </p:spPr>
          <p:txBody>
            <a:bodyPr rtlCol="0" anchor="ctr"/>
            <a:lstStyle/>
            <a:p>
              <a:pPr algn="ctr"/>
              <a:endParaRPr/>
            </a:p>
          </p:txBody>
        </p:sp>
        <p:sp>
          <p:nvSpPr>
            <p:cNvPr id="6" name="Oval 5"/>
            <p:cNvSpPr/>
            <p:nvPr/>
          </p:nvSpPr>
          <p:spPr>
            <a:xfrm>
              <a:off x="795528" y="1554480"/>
              <a:ext cx="420624" cy="420624"/>
            </a:xfrm>
            <a:prstGeom prst="ellipse">
              <a:avLst/>
            </a:prstGeom>
            <a:solidFill>
              <a:srgbClr val="E5484D"/>
            </a:solidFill>
            <a:ln>
              <a:noFill/>
            </a:ln>
          </p:spPr>
          <p:txBody>
            <a:bodyPr rtlCol="0" anchor="ctr"/>
            <a:lstStyle/>
            <a:p>
              <a:pPr algn="ctr"/>
              <a:endParaRPr/>
            </a:p>
          </p:txBody>
        </p:sp>
        <p:cxnSp>
          <p:nvCxnSpPr>
            <p:cNvPr id="7" name="Connector 6"/>
            <p:cNvCxnSpPr/>
            <p:nvPr/>
          </p:nvCxnSpPr>
          <p:spPr>
            <a:xfrm>
              <a:off x="904890" y="1663842"/>
              <a:ext cx="201900" cy="201900"/>
            </a:xfrm>
            <a:prstGeom prst="line">
              <a:avLst/>
            </a:prstGeom>
            <a:ln w="38100">
              <a:solidFill>
                <a:srgbClr val="E8E8E8"/>
              </a:solidFill>
            </a:ln>
          </p:spPr>
        </p:cxnSp>
        <p:cxnSp>
          <p:nvCxnSpPr>
            <p:cNvPr id="8" name="Connector 7"/>
            <p:cNvCxnSpPr/>
            <p:nvPr/>
          </p:nvCxnSpPr>
          <p:spPr>
            <a:xfrm flipV="1">
              <a:off x="904890" y="1663842"/>
              <a:ext cx="201900" cy="201900"/>
            </a:xfrm>
            <a:prstGeom prst="line">
              <a:avLst/>
            </a:prstGeom>
            <a:ln w="38100">
              <a:solidFill>
                <a:srgbClr val="E8E8E8"/>
              </a:solidFill>
            </a:ln>
          </p:spPr>
        </p:cxnSp>
        <p:sp>
          <p:nvSpPr>
            <p:cNvPr id="9" name="TextBox 8"/>
            <p:cNvSpPr txBox="1"/>
            <p:nvPr/>
          </p:nvSpPr>
          <p:spPr>
            <a:xfrm>
              <a:off x="1417320" y="1463040"/>
              <a:ext cx="5394960" cy="603504"/>
            </a:xfrm>
            <a:prstGeom prst="rect">
              <a:avLst/>
            </a:prstGeom>
            <a:noFill/>
          </p:spPr>
          <p:txBody>
            <a:bodyPr wrap="square" lIns="0" tIns="0" rIns="0" bIns="0" anchor="ctr">
              <a:noAutofit/>
            </a:bodyPr>
            <a:lstStyle/>
            <a:p>
              <a:pPr algn="l">
                <a:spcBef>
                  <a:spcPts val="0"/>
                </a:spcBef>
                <a:spcAft>
                  <a:spcPts val="0"/>
                </a:spcAft>
              </a:pPr>
              <a:r>
                <a:rPr lang="en-GB" sz="2200" b="0" i="0" strike="sngStrike">
                  <a:solidFill>
                    <a:srgbClr val="A9B0B8"/>
                  </a:solidFill>
                  <a:latin typeface="Arial"/>
                </a:rPr>
                <a:t>Injectors</a:t>
              </a:r>
            </a:p>
          </p:txBody>
        </p:sp>
        <p:sp>
          <p:nvSpPr>
            <p:cNvPr id="10" name="Rounded Rectangle 9"/>
            <p:cNvSpPr/>
            <p:nvPr/>
          </p:nvSpPr>
          <p:spPr>
            <a:xfrm>
              <a:off x="548640" y="2240280"/>
              <a:ext cx="6400800" cy="694944"/>
            </a:xfrm>
            <a:prstGeom prst="roundRect">
              <a:avLst>
                <a:gd name="adj" fmla="val 10526"/>
              </a:avLst>
            </a:prstGeom>
            <a:solidFill>
              <a:srgbClr val="2B2F36"/>
            </a:solidFill>
            <a:ln>
              <a:noFill/>
            </a:ln>
          </p:spPr>
          <p:txBody>
            <a:bodyPr rtlCol="0" anchor="ctr"/>
            <a:lstStyle/>
            <a:p>
              <a:pPr algn="ctr"/>
              <a:endParaRPr/>
            </a:p>
          </p:txBody>
        </p:sp>
        <p:sp>
          <p:nvSpPr>
            <p:cNvPr id="11" name="Oval 10"/>
            <p:cNvSpPr/>
            <p:nvPr/>
          </p:nvSpPr>
          <p:spPr>
            <a:xfrm>
              <a:off x="795528" y="2377440"/>
              <a:ext cx="420624" cy="420624"/>
            </a:xfrm>
            <a:prstGeom prst="ellipse">
              <a:avLst/>
            </a:prstGeom>
            <a:solidFill>
              <a:srgbClr val="E5484D"/>
            </a:solidFill>
            <a:ln>
              <a:noFill/>
            </a:ln>
          </p:spPr>
          <p:txBody>
            <a:bodyPr rtlCol="0" anchor="ctr"/>
            <a:lstStyle/>
            <a:p>
              <a:pPr algn="ctr"/>
              <a:endParaRPr/>
            </a:p>
          </p:txBody>
        </p:sp>
        <p:cxnSp>
          <p:nvCxnSpPr>
            <p:cNvPr id="12" name="Connector 11"/>
            <p:cNvCxnSpPr/>
            <p:nvPr/>
          </p:nvCxnSpPr>
          <p:spPr>
            <a:xfrm>
              <a:off x="904890" y="2486802"/>
              <a:ext cx="201900" cy="201900"/>
            </a:xfrm>
            <a:prstGeom prst="line">
              <a:avLst/>
            </a:prstGeom>
            <a:ln w="38100">
              <a:solidFill>
                <a:srgbClr val="E8E8E8"/>
              </a:solidFill>
            </a:ln>
          </p:spPr>
        </p:cxnSp>
        <p:cxnSp>
          <p:nvCxnSpPr>
            <p:cNvPr id="13" name="Connector 12"/>
            <p:cNvCxnSpPr/>
            <p:nvPr/>
          </p:nvCxnSpPr>
          <p:spPr>
            <a:xfrm flipV="1">
              <a:off x="904890" y="2486802"/>
              <a:ext cx="201900" cy="201900"/>
            </a:xfrm>
            <a:prstGeom prst="line">
              <a:avLst/>
            </a:prstGeom>
            <a:ln w="38100">
              <a:solidFill>
                <a:srgbClr val="E8E8E8"/>
              </a:solidFill>
            </a:ln>
          </p:spPr>
        </p:cxnSp>
        <p:sp>
          <p:nvSpPr>
            <p:cNvPr id="14" name="TextBox 13"/>
            <p:cNvSpPr txBox="1"/>
            <p:nvPr/>
          </p:nvSpPr>
          <p:spPr>
            <a:xfrm>
              <a:off x="1417320" y="2286000"/>
              <a:ext cx="5394960" cy="603504"/>
            </a:xfrm>
            <a:prstGeom prst="rect">
              <a:avLst/>
            </a:prstGeom>
            <a:noFill/>
          </p:spPr>
          <p:txBody>
            <a:bodyPr wrap="square" lIns="0" tIns="0" rIns="0" bIns="0" anchor="ctr">
              <a:noAutofit/>
            </a:bodyPr>
            <a:lstStyle/>
            <a:p>
              <a:pPr algn="l">
                <a:spcBef>
                  <a:spcPts val="0"/>
                </a:spcBef>
                <a:spcAft>
                  <a:spcPts val="0"/>
                </a:spcAft>
              </a:pPr>
              <a:r>
                <a:rPr lang="en-GB" sz="2200" b="0" i="0" strike="sngStrike">
                  <a:solidFill>
                    <a:srgbClr val="A9B0B8"/>
                  </a:solidFill>
                  <a:latin typeface="Arial"/>
                </a:rPr>
                <a:t>Detailed boiler water</a:t>
              </a:r>
            </a:p>
          </p:txBody>
        </p:sp>
        <p:sp>
          <p:nvSpPr>
            <p:cNvPr id="15" name="Rounded Rectangle 14"/>
            <p:cNvSpPr/>
            <p:nvPr/>
          </p:nvSpPr>
          <p:spPr>
            <a:xfrm>
              <a:off x="548640" y="3063240"/>
              <a:ext cx="6400800" cy="694944"/>
            </a:xfrm>
            <a:prstGeom prst="roundRect">
              <a:avLst>
                <a:gd name="adj" fmla="val 10526"/>
              </a:avLst>
            </a:prstGeom>
            <a:solidFill>
              <a:srgbClr val="2B2F36"/>
            </a:solidFill>
            <a:ln>
              <a:noFill/>
            </a:ln>
          </p:spPr>
          <p:txBody>
            <a:bodyPr rtlCol="0" anchor="ctr"/>
            <a:lstStyle/>
            <a:p>
              <a:pPr algn="ctr"/>
              <a:endParaRPr/>
            </a:p>
          </p:txBody>
        </p:sp>
        <p:sp>
          <p:nvSpPr>
            <p:cNvPr id="16" name="Oval 15"/>
            <p:cNvSpPr/>
            <p:nvPr/>
          </p:nvSpPr>
          <p:spPr>
            <a:xfrm>
              <a:off x="795528" y="3200400"/>
              <a:ext cx="420624" cy="420624"/>
            </a:xfrm>
            <a:prstGeom prst="ellipse">
              <a:avLst/>
            </a:prstGeom>
            <a:solidFill>
              <a:srgbClr val="E5484D"/>
            </a:solidFill>
            <a:ln>
              <a:noFill/>
            </a:ln>
          </p:spPr>
          <p:txBody>
            <a:bodyPr rtlCol="0" anchor="ctr"/>
            <a:lstStyle/>
            <a:p>
              <a:pPr algn="ctr"/>
              <a:endParaRPr/>
            </a:p>
          </p:txBody>
        </p:sp>
        <p:cxnSp>
          <p:nvCxnSpPr>
            <p:cNvPr id="17" name="Connector 16"/>
            <p:cNvCxnSpPr/>
            <p:nvPr/>
          </p:nvCxnSpPr>
          <p:spPr>
            <a:xfrm>
              <a:off x="904890" y="3309762"/>
              <a:ext cx="201900" cy="201900"/>
            </a:xfrm>
            <a:prstGeom prst="line">
              <a:avLst/>
            </a:prstGeom>
            <a:ln w="38100">
              <a:solidFill>
                <a:srgbClr val="E8E8E8"/>
              </a:solidFill>
            </a:ln>
          </p:spPr>
        </p:cxnSp>
        <p:cxnSp>
          <p:nvCxnSpPr>
            <p:cNvPr id="18" name="Connector 17"/>
            <p:cNvCxnSpPr/>
            <p:nvPr/>
          </p:nvCxnSpPr>
          <p:spPr>
            <a:xfrm flipV="1">
              <a:off x="904890" y="3309762"/>
              <a:ext cx="201900" cy="201900"/>
            </a:xfrm>
            <a:prstGeom prst="line">
              <a:avLst/>
            </a:prstGeom>
            <a:ln w="38100">
              <a:solidFill>
                <a:srgbClr val="E8E8E8"/>
              </a:solidFill>
            </a:ln>
          </p:spPr>
        </p:cxnSp>
        <p:sp>
          <p:nvSpPr>
            <p:cNvPr id="19" name="TextBox 18"/>
            <p:cNvSpPr txBox="1"/>
            <p:nvPr/>
          </p:nvSpPr>
          <p:spPr>
            <a:xfrm>
              <a:off x="1417320" y="3108960"/>
              <a:ext cx="5394960" cy="603504"/>
            </a:xfrm>
            <a:prstGeom prst="rect">
              <a:avLst/>
            </a:prstGeom>
            <a:noFill/>
          </p:spPr>
          <p:txBody>
            <a:bodyPr wrap="square" lIns="0" tIns="0" rIns="0" bIns="0" anchor="ctr">
              <a:noAutofit/>
            </a:bodyPr>
            <a:lstStyle/>
            <a:p>
              <a:pPr algn="l">
                <a:spcBef>
                  <a:spcPts val="0"/>
                </a:spcBef>
                <a:spcAft>
                  <a:spcPts val="0"/>
                </a:spcAft>
              </a:pPr>
              <a:r>
                <a:rPr lang="en-GB" sz="2200" b="0" i="0" strike="sngStrike">
                  <a:solidFill>
                    <a:srgbClr val="A9B0B8"/>
                  </a:solidFill>
                  <a:latin typeface="Arial"/>
                </a:rPr>
                <a:t>Blower and damper</a:t>
              </a:r>
            </a:p>
          </p:txBody>
        </p:sp>
        <p:sp>
          <p:nvSpPr>
            <p:cNvPr id="20" name="Rounded Rectangle 19"/>
            <p:cNvSpPr/>
            <p:nvPr/>
          </p:nvSpPr>
          <p:spPr>
            <a:xfrm>
              <a:off x="548640" y="3886200"/>
              <a:ext cx="6400800" cy="694944"/>
            </a:xfrm>
            <a:prstGeom prst="roundRect">
              <a:avLst>
                <a:gd name="adj" fmla="val 10526"/>
              </a:avLst>
            </a:prstGeom>
            <a:solidFill>
              <a:srgbClr val="2B2F36"/>
            </a:solidFill>
            <a:ln>
              <a:noFill/>
            </a:ln>
          </p:spPr>
          <p:txBody>
            <a:bodyPr rtlCol="0" anchor="ctr"/>
            <a:lstStyle/>
            <a:p>
              <a:pPr algn="ctr"/>
              <a:endParaRPr/>
            </a:p>
          </p:txBody>
        </p:sp>
        <p:sp>
          <p:nvSpPr>
            <p:cNvPr id="21" name="Oval 20"/>
            <p:cNvSpPr/>
            <p:nvPr/>
          </p:nvSpPr>
          <p:spPr>
            <a:xfrm>
              <a:off x="795528" y="4023360"/>
              <a:ext cx="420624" cy="420624"/>
            </a:xfrm>
            <a:prstGeom prst="ellipse">
              <a:avLst/>
            </a:prstGeom>
            <a:solidFill>
              <a:srgbClr val="E5484D"/>
            </a:solidFill>
            <a:ln>
              <a:noFill/>
            </a:ln>
          </p:spPr>
          <p:txBody>
            <a:bodyPr rtlCol="0" anchor="ctr"/>
            <a:lstStyle/>
            <a:p>
              <a:pPr algn="ctr"/>
              <a:endParaRPr/>
            </a:p>
          </p:txBody>
        </p:sp>
        <p:cxnSp>
          <p:nvCxnSpPr>
            <p:cNvPr id="22" name="Connector 21"/>
            <p:cNvCxnSpPr/>
            <p:nvPr/>
          </p:nvCxnSpPr>
          <p:spPr>
            <a:xfrm>
              <a:off x="904890" y="4132722"/>
              <a:ext cx="201900" cy="201900"/>
            </a:xfrm>
            <a:prstGeom prst="line">
              <a:avLst/>
            </a:prstGeom>
            <a:ln w="38100">
              <a:solidFill>
                <a:srgbClr val="E8E8E8"/>
              </a:solidFill>
            </a:ln>
          </p:spPr>
        </p:cxnSp>
        <p:cxnSp>
          <p:nvCxnSpPr>
            <p:cNvPr id="23" name="Connector 22"/>
            <p:cNvCxnSpPr/>
            <p:nvPr/>
          </p:nvCxnSpPr>
          <p:spPr>
            <a:xfrm flipV="1">
              <a:off x="904890" y="4132722"/>
              <a:ext cx="201900" cy="201900"/>
            </a:xfrm>
            <a:prstGeom prst="line">
              <a:avLst/>
            </a:prstGeom>
            <a:ln w="38100">
              <a:solidFill>
                <a:srgbClr val="E8E8E8"/>
              </a:solidFill>
            </a:ln>
          </p:spPr>
        </p:cxnSp>
        <p:sp>
          <p:nvSpPr>
            <p:cNvPr id="24" name="TextBox 23"/>
            <p:cNvSpPr txBox="1"/>
            <p:nvPr/>
          </p:nvSpPr>
          <p:spPr>
            <a:xfrm>
              <a:off x="1417320" y="3931920"/>
              <a:ext cx="5394960" cy="603504"/>
            </a:xfrm>
            <a:prstGeom prst="rect">
              <a:avLst/>
            </a:prstGeom>
            <a:noFill/>
          </p:spPr>
          <p:txBody>
            <a:bodyPr wrap="square" lIns="0" tIns="0" rIns="0" bIns="0" anchor="ctr">
              <a:noAutofit/>
            </a:bodyPr>
            <a:lstStyle/>
            <a:p>
              <a:pPr algn="l">
                <a:spcBef>
                  <a:spcPts val="0"/>
                </a:spcBef>
                <a:spcAft>
                  <a:spcPts val="0"/>
                </a:spcAft>
              </a:pPr>
              <a:r>
                <a:rPr lang="en-GB" sz="2200" b="0" i="0" strike="sngStrike">
                  <a:solidFill>
                    <a:srgbClr val="A9B0B8"/>
                  </a:solidFill>
                  <a:latin typeface="Arial"/>
                </a:rPr>
                <a:t>Dozens of cab valves</a:t>
              </a:r>
            </a:p>
          </p:txBody>
        </p:sp>
        <p:sp>
          <p:nvSpPr>
            <p:cNvPr id="25" name="Rounded Rectangle 24"/>
            <p:cNvSpPr/>
            <p:nvPr/>
          </p:nvSpPr>
          <p:spPr>
            <a:xfrm>
              <a:off x="548640" y="4709160"/>
              <a:ext cx="6400800" cy="694944"/>
            </a:xfrm>
            <a:prstGeom prst="roundRect">
              <a:avLst>
                <a:gd name="adj" fmla="val 10526"/>
              </a:avLst>
            </a:prstGeom>
            <a:solidFill>
              <a:srgbClr val="2B2F36"/>
            </a:solidFill>
            <a:ln>
              <a:noFill/>
            </a:ln>
          </p:spPr>
          <p:txBody>
            <a:bodyPr rtlCol="0" anchor="ctr"/>
            <a:lstStyle/>
            <a:p>
              <a:pPr algn="ctr"/>
              <a:endParaRPr/>
            </a:p>
          </p:txBody>
        </p:sp>
        <p:sp>
          <p:nvSpPr>
            <p:cNvPr id="26" name="Oval 25"/>
            <p:cNvSpPr/>
            <p:nvPr/>
          </p:nvSpPr>
          <p:spPr>
            <a:xfrm>
              <a:off x="795528" y="4846320"/>
              <a:ext cx="420624" cy="420624"/>
            </a:xfrm>
            <a:prstGeom prst="ellipse">
              <a:avLst/>
            </a:prstGeom>
            <a:solidFill>
              <a:srgbClr val="E5484D"/>
            </a:solidFill>
            <a:ln>
              <a:noFill/>
            </a:ln>
          </p:spPr>
          <p:txBody>
            <a:bodyPr rtlCol="0" anchor="ctr"/>
            <a:lstStyle/>
            <a:p>
              <a:pPr algn="ctr"/>
              <a:endParaRPr/>
            </a:p>
          </p:txBody>
        </p:sp>
        <p:cxnSp>
          <p:nvCxnSpPr>
            <p:cNvPr id="27" name="Connector 26"/>
            <p:cNvCxnSpPr/>
            <p:nvPr/>
          </p:nvCxnSpPr>
          <p:spPr>
            <a:xfrm>
              <a:off x="904890" y="4955682"/>
              <a:ext cx="201900" cy="201900"/>
            </a:xfrm>
            <a:prstGeom prst="line">
              <a:avLst/>
            </a:prstGeom>
            <a:ln w="38100">
              <a:solidFill>
                <a:srgbClr val="E8E8E8"/>
              </a:solidFill>
            </a:ln>
          </p:spPr>
        </p:cxnSp>
        <p:cxnSp>
          <p:nvCxnSpPr>
            <p:cNvPr id="28" name="Connector 27"/>
            <p:cNvCxnSpPr/>
            <p:nvPr/>
          </p:nvCxnSpPr>
          <p:spPr>
            <a:xfrm flipV="1">
              <a:off x="904890" y="4955682"/>
              <a:ext cx="201900" cy="201900"/>
            </a:xfrm>
            <a:prstGeom prst="line">
              <a:avLst/>
            </a:prstGeom>
            <a:ln w="38100">
              <a:solidFill>
                <a:srgbClr val="E8E8E8"/>
              </a:solidFill>
            </a:ln>
          </p:spPr>
        </p:cxnSp>
        <p:sp>
          <p:nvSpPr>
            <p:cNvPr id="29" name="TextBox 28"/>
            <p:cNvSpPr txBox="1"/>
            <p:nvPr/>
          </p:nvSpPr>
          <p:spPr>
            <a:xfrm>
              <a:off x="1417320" y="4754880"/>
              <a:ext cx="5394960" cy="603504"/>
            </a:xfrm>
            <a:prstGeom prst="rect">
              <a:avLst/>
            </a:prstGeom>
            <a:noFill/>
          </p:spPr>
          <p:txBody>
            <a:bodyPr wrap="square" lIns="0" tIns="0" rIns="0" bIns="0" anchor="ctr">
              <a:noAutofit/>
            </a:bodyPr>
            <a:lstStyle/>
            <a:p>
              <a:pPr algn="l">
                <a:spcBef>
                  <a:spcPts val="0"/>
                </a:spcBef>
                <a:spcAft>
                  <a:spcPts val="0"/>
                </a:spcAft>
              </a:pPr>
              <a:r>
                <a:rPr lang="en-GB" sz="2200" b="0" i="0" strike="sngStrike">
                  <a:solidFill>
                    <a:srgbClr val="A9B0B8"/>
                  </a:solidFill>
                  <a:latin typeface="Arial"/>
                </a:rPr>
                <a:t>Procedures</a:t>
              </a:r>
            </a:p>
          </p:txBody>
        </p:sp>
        <p:sp>
          <p:nvSpPr>
            <p:cNvPr id="30" name="Rounded Rectangle 29"/>
            <p:cNvSpPr/>
            <p:nvPr/>
          </p:nvSpPr>
          <p:spPr>
            <a:xfrm>
              <a:off x="7315200" y="1417320"/>
              <a:ext cx="4325112" cy="4023360"/>
            </a:xfrm>
            <a:prstGeom prst="roundRect">
              <a:avLst>
                <a:gd name="adj" fmla="val 1818"/>
              </a:avLst>
            </a:prstGeom>
            <a:solidFill>
              <a:srgbClr val="2B2F36"/>
            </a:solidFill>
            <a:ln>
              <a:noFill/>
            </a:ln>
          </p:spPr>
          <p:txBody>
            <a:bodyPr rtlCol="0" anchor="ctr"/>
            <a:lstStyle/>
            <a:p>
              <a:pPr algn="ctr"/>
              <a:endParaRPr/>
            </a:p>
          </p:txBody>
        </p:sp>
        <p:sp>
          <p:nvSpPr>
            <p:cNvPr id="31" name="Oval 30"/>
            <p:cNvSpPr/>
            <p:nvPr/>
          </p:nvSpPr>
          <p:spPr>
            <a:xfrm>
              <a:off x="7589520" y="1600200"/>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32" name="Connector 31"/>
            <p:cNvCxnSpPr/>
            <p:nvPr/>
          </p:nvCxnSpPr>
          <p:spPr>
            <a:xfrm flipV="1">
              <a:off x="7818120" y="1719072"/>
              <a:ext cx="128016" cy="109728"/>
            </a:xfrm>
            <a:prstGeom prst="line">
              <a:avLst/>
            </a:prstGeom>
            <a:ln w="25400">
              <a:solidFill>
                <a:srgbClr val="F2C14E"/>
              </a:solidFill>
            </a:ln>
          </p:spPr>
        </p:cxnSp>
        <p:sp>
          <p:nvSpPr>
            <p:cNvPr id="33" name="Oval 32"/>
            <p:cNvSpPr/>
            <p:nvPr/>
          </p:nvSpPr>
          <p:spPr>
            <a:xfrm>
              <a:off x="8412480" y="1600200"/>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34" name="Connector 33"/>
            <p:cNvCxnSpPr/>
            <p:nvPr/>
          </p:nvCxnSpPr>
          <p:spPr>
            <a:xfrm>
              <a:off x="8513064" y="1828800"/>
              <a:ext cx="256032" cy="0"/>
            </a:xfrm>
            <a:prstGeom prst="line">
              <a:avLst/>
            </a:prstGeom>
            <a:ln w="31750">
              <a:solidFill>
                <a:srgbClr val="9AA0A6"/>
              </a:solidFill>
            </a:ln>
          </p:spPr>
        </p:cxnSp>
        <p:cxnSp>
          <p:nvCxnSpPr>
            <p:cNvPr id="35" name="Connector 34"/>
            <p:cNvCxnSpPr/>
            <p:nvPr/>
          </p:nvCxnSpPr>
          <p:spPr>
            <a:xfrm>
              <a:off x="8641080" y="1700784"/>
              <a:ext cx="0" cy="256032"/>
            </a:xfrm>
            <a:prstGeom prst="line">
              <a:avLst/>
            </a:prstGeom>
            <a:ln w="31750">
              <a:solidFill>
                <a:srgbClr val="9AA0A6"/>
              </a:solidFill>
            </a:ln>
          </p:spPr>
        </p:cxnSp>
        <p:sp>
          <p:nvSpPr>
            <p:cNvPr id="36" name="Oval 35"/>
            <p:cNvSpPr/>
            <p:nvPr/>
          </p:nvSpPr>
          <p:spPr>
            <a:xfrm>
              <a:off x="9235440" y="1600200"/>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37" name="Connector 36"/>
            <p:cNvCxnSpPr/>
            <p:nvPr/>
          </p:nvCxnSpPr>
          <p:spPr>
            <a:xfrm flipV="1">
              <a:off x="9464040" y="1719072"/>
              <a:ext cx="128016" cy="109728"/>
            </a:xfrm>
            <a:prstGeom prst="line">
              <a:avLst/>
            </a:prstGeom>
            <a:ln w="25400">
              <a:solidFill>
                <a:srgbClr val="F2C14E"/>
              </a:solidFill>
            </a:ln>
          </p:spPr>
        </p:cxnSp>
        <p:sp>
          <p:nvSpPr>
            <p:cNvPr id="38" name="Oval 37"/>
            <p:cNvSpPr/>
            <p:nvPr/>
          </p:nvSpPr>
          <p:spPr>
            <a:xfrm>
              <a:off x="10058400" y="1600200"/>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39" name="Connector 38"/>
            <p:cNvCxnSpPr/>
            <p:nvPr/>
          </p:nvCxnSpPr>
          <p:spPr>
            <a:xfrm>
              <a:off x="10158984" y="1828800"/>
              <a:ext cx="256032" cy="0"/>
            </a:xfrm>
            <a:prstGeom prst="line">
              <a:avLst/>
            </a:prstGeom>
            <a:ln w="31750">
              <a:solidFill>
                <a:srgbClr val="9AA0A6"/>
              </a:solidFill>
            </a:ln>
          </p:spPr>
        </p:cxnSp>
        <p:cxnSp>
          <p:nvCxnSpPr>
            <p:cNvPr id="40" name="Connector 39"/>
            <p:cNvCxnSpPr/>
            <p:nvPr/>
          </p:nvCxnSpPr>
          <p:spPr>
            <a:xfrm>
              <a:off x="10287000" y="1700784"/>
              <a:ext cx="0" cy="256032"/>
            </a:xfrm>
            <a:prstGeom prst="line">
              <a:avLst/>
            </a:prstGeom>
            <a:ln w="31750">
              <a:solidFill>
                <a:srgbClr val="9AA0A6"/>
              </a:solidFill>
            </a:ln>
          </p:spPr>
        </p:cxnSp>
        <p:sp>
          <p:nvSpPr>
            <p:cNvPr id="41" name="Oval 40"/>
            <p:cNvSpPr/>
            <p:nvPr/>
          </p:nvSpPr>
          <p:spPr>
            <a:xfrm>
              <a:off x="10881360" y="1600200"/>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42" name="Connector 41"/>
            <p:cNvCxnSpPr/>
            <p:nvPr/>
          </p:nvCxnSpPr>
          <p:spPr>
            <a:xfrm flipV="1">
              <a:off x="11109960" y="1719072"/>
              <a:ext cx="128016" cy="109728"/>
            </a:xfrm>
            <a:prstGeom prst="line">
              <a:avLst/>
            </a:prstGeom>
            <a:ln w="25400">
              <a:solidFill>
                <a:srgbClr val="F2C14E"/>
              </a:solidFill>
            </a:ln>
          </p:spPr>
        </p:cxnSp>
        <p:sp>
          <p:nvSpPr>
            <p:cNvPr id="43" name="Oval 42"/>
            <p:cNvSpPr/>
            <p:nvPr/>
          </p:nvSpPr>
          <p:spPr>
            <a:xfrm>
              <a:off x="7589520" y="2313432"/>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44" name="Connector 43"/>
            <p:cNvCxnSpPr/>
            <p:nvPr/>
          </p:nvCxnSpPr>
          <p:spPr>
            <a:xfrm>
              <a:off x="7690104" y="2542032"/>
              <a:ext cx="256032" cy="0"/>
            </a:xfrm>
            <a:prstGeom prst="line">
              <a:avLst/>
            </a:prstGeom>
            <a:ln w="31750">
              <a:solidFill>
                <a:srgbClr val="9AA0A6"/>
              </a:solidFill>
            </a:ln>
          </p:spPr>
        </p:cxnSp>
        <p:cxnSp>
          <p:nvCxnSpPr>
            <p:cNvPr id="45" name="Connector 44"/>
            <p:cNvCxnSpPr/>
            <p:nvPr/>
          </p:nvCxnSpPr>
          <p:spPr>
            <a:xfrm>
              <a:off x="7818120" y="2414016"/>
              <a:ext cx="0" cy="256032"/>
            </a:xfrm>
            <a:prstGeom prst="line">
              <a:avLst/>
            </a:prstGeom>
            <a:ln w="31750">
              <a:solidFill>
                <a:srgbClr val="9AA0A6"/>
              </a:solidFill>
            </a:ln>
          </p:spPr>
        </p:cxnSp>
        <p:sp>
          <p:nvSpPr>
            <p:cNvPr id="46" name="Oval 45"/>
            <p:cNvSpPr/>
            <p:nvPr/>
          </p:nvSpPr>
          <p:spPr>
            <a:xfrm>
              <a:off x="8412480" y="2313432"/>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47" name="Connector 46"/>
            <p:cNvCxnSpPr/>
            <p:nvPr/>
          </p:nvCxnSpPr>
          <p:spPr>
            <a:xfrm flipV="1">
              <a:off x="8641080" y="2432304"/>
              <a:ext cx="128016" cy="109728"/>
            </a:xfrm>
            <a:prstGeom prst="line">
              <a:avLst/>
            </a:prstGeom>
            <a:ln w="25400">
              <a:solidFill>
                <a:srgbClr val="F2C14E"/>
              </a:solidFill>
            </a:ln>
          </p:spPr>
        </p:cxnSp>
        <p:sp>
          <p:nvSpPr>
            <p:cNvPr id="48" name="Oval 47"/>
            <p:cNvSpPr/>
            <p:nvPr/>
          </p:nvSpPr>
          <p:spPr>
            <a:xfrm>
              <a:off x="9235440" y="2313432"/>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49" name="Connector 48"/>
            <p:cNvCxnSpPr/>
            <p:nvPr/>
          </p:nvCxnSpPr>
          <p:spPr>
            <a:xfrm>
              <a:off x="9336024" y="2542032"/>
              <a:ext cx="256032" cy="0"/>
            </a:xfrm>
            <a:prstGeom prst="line">
              <a:avLst/>
            </a:prstGeom>
            <a:ln w="31750">
              <a:solidFill>
                <a:srgbClr val="9AA0A6"/>
              </a:solidFill>
            </a:ln>
          </p:spPr>
        </p:cxnSp>
        <p:cxnSp>
          <p:nvCxnSpPr>
            <p:cNvPr id="50" name="Connector 49"/>
            <p:cNvCxnSpPr/>
            <p:nvPr/>
          </p:nvCxnSpPr>
          <p:spPr>
            <a:xfrm>
              <a:off x="9464040" y="2414016"/>
              <a:ext cx="0" cy="256032"/>
            </a:xfrm>
            <a:prstGeom prst="line">
              <a:avLst/>
            </a:prstGeom>
            <a:ln w="31750">
              <a:solidFill>
                <a:srgbClr val="9AA0A6"/>
              </a:solidFill>
            </a:ln>
          </p:spPr>
        </p:cxnSp>
        <p:sp>
          <p:nvSpPr>
            <p:cNvPr id="51" name="Oval 50"/>
            <p:cNvSpPr/>
            <p:nvPr/>
          </p:nvSpPr>
          <p:spPr>
            <a:xfrm>
              <a:off x="10058400" y="2313432"/>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52" name="Connector 51"/>
            <p:cNvCxnSpPr/>
            <p:nvPr/>
          </p:nvCxnSpPr>
          <p:spPr>
            <a:xfrm flipV="1">
              <a:off x="10287000" y="2432304"/>
              <a:ext cx="128016" cy="109728"/>
            </a:xfrm>
            <a:prstGeom prst="line">
              <a:avLst/>
            </a:prstGeom>
            <a:ln w="25400">
              <a:solidFill>
                <a:srgbClr val="F2C14E"/>
              </a:solidFill>
            </a:ln>
          </p:spPr>
        </p:cxnSp>
        <p:sp>
          <p:nvSpPr>
            <p:cNvPr id="53" name="Oval 52"/>
            <p:cNvSpPr/>
            <p:nvPr/>
          </p:nvSpPr>
          <p:spPr>
            <a:xfrm>
              <a:off x="10881360" y="2313432"/>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54" name="Connector 53"/>
            <p:cNvCxnSpPr/>
            <p:nvPr/>
          </p:nvCxnSpPr>
          <p:spPr>
            <a:xfrm>
              <a:off x="10981944" y="2542032"/>
              <a:ext cx="256032" cy="0"/>
            </a:xfrm>
            <a:prstGeom prst="line">
              <a:avLst/>
            </a:prstGeom>
            <a:ln w="31750">
              <a:solidFill>
                <a:srgbClr val="9AA0A6"/>
              </a:solidFill>
            </a:ln>
          </p:spPr>
        </p:cxnSp>
        <p:cxnSp>
          <p:nvCxnSpPr>
            <p:cNvPr id="55" name="Connector 54"/>
            <p:cNvCxnSpPr/>
            <p:nvPr/>
          </p:nvCxnSpPr>
          <p:spPr>
            <a:xfrm>
              <a:off x="11109960" y="2414016"/>
              <a:ext cx="0" cy="256032"/>
            </a:xfrm>
            <a:prstGeom prst="line">
              <a:avLst/>
            </a:prstGeom>
            <a:ln w="31750">
              <a:solidFill>
                <a:srgbClr val="9AA0A6"/>
              </a:solidFill>
            </a:ln>
          </p:spPr>
        </p:cxnSp>
        <p:sp>
          <p:nvSpPr>
            <p:cNvPr id="56" name="Oval 55"/>
            <p:cNvSpPr/>
            <p:nvPr/>
          </p:nvSpPr>
          <p:spPr>
            <a:xfrm>
              <a:off x="7589520" y="3026664"/>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57" name="Connector 56"/>
            <p:cNvCxnSpPr/>
            <p:nvPr/>
          </p:nvCxnSpPr>
          <p:spPr>
            <a:xfrm flipV="1">
              <a:off x="7818120" y="3145536"/>
              <a:ext cx="128016" cy="109728"/>
            </a:xfrm>
            <a:prstGeom prst="line">
              <a:avLst/>
            </a:prstGeom>
            <a:ln w="25400">
              <a:solidFill>
                <a:srgbClr val="F2C14E"/>
              </a:solidFill>
            </a:ln>
          </p:spPr>
        </p:cxnSp>
        <p:sp>
          <p:nvSpPr>
            <p:cNvPr id="58" name="Oval 57"/>
            <p:cNvSpPr/>
            <p:nvPr/>
          </p:nvSpPr>
          <p:spPr>
            <a:xfrm>
              <a:off x="8412480" y="3026664"/>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59" name="Connector 58"/>
            <p:cNvCxnSpPr/>
            <p:nvPr/>
          </p:nvCxnSpPr>
          <p:spPr>
            <a:xfrm>
              <a:off x="8513064" y="3255264"/>
              <a:ext cx="256032" cy="0"/>
            </a:xfrm>
            <a:prstGeom prst="line">
              <a:avLst/>
            </a:prstGeom>
            <a:ln w="31750">
              <a:solidFill>
                <a:srgbClr val="9AA0A6"/>
              </a:solidFill>
            </a:ln>
          </p:spPr>
        </p:cxnSp>
        <p:cxnSp>
          <p:nvCxnSpPr>
            <p:cNvPr id="60" name="Connector 59"/>
            <p:cNvCxnSpPr/>
            <p:nvPr/>
          </p:nvCxnSpPr>
          <p:spPr>
            <a:xfrm>
              <a:off x="8641080" y="3127248"/>
              <a:ext cx="0" cy="256032"/>
            </a:xfrm>
            <a:prstGeom prst="line">
              <a:avLst/>
            </a:prstGeom>
            <a:ln w="31750">
              <a:solidFill>
                <a:srgbClr val="9AA0A6"/>
              </a:solidFill>
            </a:ln>
          </p:spPr>
        </p:cxnSp>
        <p:sp>
          <p:nvSpPr>
            <p:cNvPr id="61" name="Oval 60"/>
            <p:cNvSpPr/>
            <p:nvPr/>
          </p:nvSpPr>
          <p:spPr>
            <a:xfrm>
              <a:off x="9235440" y="3026664"/>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62" name="Connector 61"/>
            <p:cNvCxnSpPr/>
            <p:nvPr/>
          </p:nvCxnSpPr>
          <p:spPr>
            <a:xfrm flipV="1">
              <a:off x="9464040" y="3145536"/>
              <a:ext cx="128016" cy="109728"/>
            </a:xfrm>
            <a:prstGeom prst="line">
              <a:avLst/>
            </a:prstGeom>
            <a:ln w="25400">
              <a:solidFill>
                <a:srgbClr val="F2C14E"/>
              </a:solidFill>
            </a:ln>
          </p:spPr>
        </p:cxnSp>
        <p:sp>
          <p:nvSpPr>
            <p:cNvPr id="63" name="Oval 62"/>
            <p:cNvSpPr/>
            <p:nvPr/>
          </p:nvSpPr>
          <p:spPr>
            <a:xfrm>
              <a:off x="10058400" y="3026664"/>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64" name="Connector 63"/>
            <p:cNvCxnSpPr/>
            <p:nvPr/>
          </p:nvCxnSpPr>
          <p:spPr>
            <a:xfrm>
              <a:off x="10158984" y="3255264"/>
              <a:ext cx="256032" cy="0"/>
            </a:xfrm>
            <a:prstGeom prst="line">
              <a:avLst/>
            </a:prstGeom>
            <a:ln w="31750">
              <a:solidFill>
                <a:srgbClr val="9AA0A6"/>
              </a:solidFill>
            </a:ln>
          </p:spPr>
        </p:cxnSp>
        <p:cxnSp>
          <p:nvCxnSpPr>
            <p:cNvPr id="65" name="Connector 64"/>
            <p:cNvCxnSpPr/>
            <p:nvPr/>
          </p:nvCxnSpPr>
          <p:spPr>
            <a:xfrm>
              <a:off x="10287000" y="3127248"/>
              <a:ext cx="0" cy="256032"/>
            </a:xfrm>
            <a:prstGeom prst="line">
              <a:avLst/>
            </a:prstGeom>
            <a:ln w="31750">
              <a:solidFill>
                <a:srgbClr val="9AA0A6"/>
              </a:solidFill>
            </a:ln>
          </p:spPr>
        </p:cxnSp>
        <p:sp>
          <p:nvSpPr>
            <p:cNvPr id="66" name="Oval 65"/>
            <p:cNvSpPr/>
            <p:nvPr/>
          </p:nvSpPr>
          <p:spPr>
            <a:xfrm>
              <a:off x="10881360" y="3026664"/>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67" name="Connector 66"/>
            <p:cNvCxnSpPr/>
            <p:nvPr/>
          </p:nvCxnSpPr>
          <p:spPr>
            <a:xfrm flipV="1">
              <a:off x="11109960" y="3145536"/>
              <a:ext cx="128016" cy="109728"/>
            </a:xfrm>
            <a:prstGeom prst="line">
              <a:avLst/>
            </a:prstGeom>
            <a:ln w="25400">
              <a:solidFill>
                <a:srgbClr val="F2C14E"/>
              </a:solidFill>
            </a:ln>
          </p:spPr>
        </p:cxnSp>
        <p:sp>
          <p:nvSpPr>
            <p:cNvPr id="68" name="Oval 67"/>
            <p:cNvSpPr/>
            <p:nvPr/>
          </p:nvSpPr>
          <p:spPr>
            <a:xfrm>
              <a:off x="7589520" y="3739896"/>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69" name="Connector 68"/>
            <p:cNvCxnSpPr/>
            <p:nvPr/>
          </p:nvCxnSpPr>
          <p:spPr>
            <a:xfrm>
              <a:off x="7690104" y="3968496"/>
              <a:ext cx="256032" cy="0"/>
            </a:xfrm>
            <a:prstGeom prst="line">
              <a:avLst/>
            </a:prstGeom>
            <a:ln w="31750">
              <a:solidFill>
                <a:srgbClr val="9AA0A6"/>
              </a:solidFill>
            </a:ln>
          </p:spPr>
        </p:cxnSp>
        <p:cxnSp>
          <p:nvCxnSpPr>
            <p:cNvPr id="70" name="Connector 69"/>
            <p:cNvCxnSpPr/>
            <p:nvPr/>
          </p:nvCxnSpPr>
          <p:spPr>
            <a:xfrm>
              <a:off x="7818120" y="3840480"/>
              <a:ext cx="0" cy="256032"/>
            </a:xfrm>
            <a:prstGeom prst="line">
              <a:avLst/>
            </a:prstGeom>
            <a:ln w="31750">
              <a:solidFill>
                <a:srgbClr val="9AA0A6"/>
              </a:solidFill>
            </a:ln>
          </p:spPr>
        </p:cxnSp>
        <p:sp>
          <p:nvSpPr>
            <p:cNvPr id="71" name="Oval 70"/>
            <p:cNvSpPr/>
            <p:nvPr/>
          </p:nvSpPr>
          <p:spPr>
            <a:xfrm>
              <a:off x="8412480" y="3739896"/>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72" name="Connector 71"/>
            <p:cNvCxnSpPr/>
            <p:nvPr/>
          </p:nvCxnSpPr>
          <p:spPr>
            <a:xfrm flipV="1">
              <a:off x="8641080" y="3858768"/>
              <a:ext cx="128016" cy="109728"/>
            </a:xfrm>
            <a:prstGeom prst="line">
              <a:avLst/>
            </a:prstGeom>
            <a:ln w="25400">
              <a:solidFill>
                <a:srgbClr val="F2C14E"/>
              </a:solidFill>
            </a:ln>
          </p:spPr>
        </p:cxnSp>
        <p:sp>
          <p:nvSpPr>
            <p:cNvPr id="73" name="Oval 72"/>
            <p:cNvSpPr/>
            <p:nvPr/>
          </p:nvSpPr>
          <p:spPr>
            <a:xfrm>
              <a:off x="9235440" y="3739896"/>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74" name="Connector 73"/>
            <p:cNvCxnSpPr/>
            <p:nvPr/>
          </p:nvCxnSpPr>
          <p:spPr>
            <a:xfrm>
              <a:off x="9336024" y="3968496"/>
              <a:ext cx="256032" cy="0"/>
            </a:xfrm>
            <a:prstGeom prst="line">
              <a:avLst/>
            </a:prstGeom>
            <a:ln w="31750">
              <a:solidFill>
                <a:srgbClr val="9AA0A6"/>
              </a:solidFill>
            </a:ln>
          </p:spPr>
        </p:cxnSp>
        <p:cxnSp>
          <p:nvCxnSpPr>
            <p:cNvPr id="75" name="Connector 74"/>
            <p:cNvCxnSpPr/>
            <p:nvPr/>
          </p:nvCxnSpPr>
          <p:spPr>
            <a:xfrm>
              <a:off x="9464040" y="3840480"/>
              <a:ext cx="0" cy="256032"/>
            </a:xfrm>
            <a:prstGeom prst="line">
              <a:avLst/>
            </a:prstGeom>
            <a:ln w="31750">
              <a:solidFill>
                <a:srgbClr val="9AA0A6"/>
              </a:solidFill>
            </a:ln>
          </p:spPr>
        </p:cxnSp>
        <p:sp>
          <p:nvSpPr>
            <p:cNvPr id="76" name="Oval 75"/>
            <p:cNvSpPr/>
            <p:nvPr/>
          </p:nvSpPr>
          <p:spPr>
            <a:xfrm>
              <a:off x="10058400" y="3739896"/>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77" name="Connector 76"/>
            <p:cNvCxnSpPr/>
            <p:nvPr/>
          </p:nvCxnSpPr>
          <p:spPr>
            <a:xfrm flipV="1">
              <a:off x="10287000" y="3858768"/>
              <a:ext cx="128016" cy="109728"/>
            </a:xfrm>
            <a:prstGeom prst="line">
              <a:avLst/>
            </a:prstGeom>
            <a:ln w="25400">
              <a:solidFill>
                <a:srgbClr val="F2C14E"/>
              </a:solidFill>
            </a:ln>
          </p:spPr>
        </p:cxnSp>
        <p:sp>
          <p:nvSpPr>
            <p:cNvPr id="78" name="Oval 77"/>
            <p:cNvSpPr/>
            <p:nvPr/>
          </p:nvSpPr>
          <p:spPr>
            <a:xfrm>
              <a:off x="10881360" y="3739896"/>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79" name="Connector 78"/>
            <p:cNvCxnSpPr/>
            <p:nvPr/>
          </p:nvCxnSpPr>
          <p:spPr>
            <a:xfrm>
              <a:off x="10981944" y="3968496"/>
              <a:ext cx="256032" cy="0"/>
            </a:xfrm>
            <a:prstGeom prst="line">
              <a:avLst/>
            </a:prstGeom>
            <a:ln w="31750">
              <a:solidFill>
                <a:srgbClr val="9AA0A6"/>
              </a:solidFill>
            </a:ln>
          </p:spPr>
        </p:cxnSp>
        <p:cxnSp>
          <p:nvCxnSpPr>
            <p:cNvPr id="80" name="Connector 79"/>
            <p:cNvCxnSpPr/>
            <p:nvPr/>
          </p:nvCxnSpPr>
          <p:spPr>
            <a:xfrm>
              <a:off x="11109960" y="3840480"/>
              <a:ext cx="0" cy="256032"/>
            </a:xfrm>
            <a:prstGeom prst="line">
              <a:avLst/>
            </a:prstGeom>
            <a:ln w="31750">
              <a:solidFill>
                <a:srgbClr val="9AA0A6"/>
              </a:solidFill>
            </a:ln>
          </p:spPr>
        </p:cxnSp>
        <p:sp>
          <p:nvSpPr>
            <p:cNvPr id="81" name="Oval 80"/>
            <p:cNvSpPr/>
            <p:nvPr/>
          </p:nvSpPr>
          <p:spPr>
            <a:xfrm>
              <a:off x="7589520" y="4453128"/>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82" name="Connector 81"/>
            <p:cNvCxnSpPr/>
            <p:nvPr/>
          </p:nvCxnSpPr>
          <p:spPr>
            <a:xfrm flipV="1">
              <a:off x="7818120" y="4572000"/>
              <a:ext cx="128016" cy="109728"/>
            </a:xfrm>
            <a:prstGeom prst="line">
              <a:avLst/>
            </a:prstGeom>
            <a:ln w="25400">
              <a:solidFill>
                <a:srgbClr val="F2C14E"/>
              </a:solidFill>
            </a:ln>
          </p:spPr>
        </p:cxnSp>
        <p:sp>
          <p:nvSpPr>
            <p:cNvPr id="83" name="Oval 82"/>
            <p:cNvSpPr/>
            <p:nvPr/>
          </p:nvSpPr>
          <p:spPr>
            <a:xfrm>
              <a:off x="8412480" y="4453128"/>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84" name="Connector 83"/>
            <p:cNvCxnSpPr/>
            <p:nvPr/>
          </p:nvCxnSpPr>
          <p:spPr>
            <a:xfrm>
              <a:off x="8513064" y="4681728"/>
              <a:ext cx="256032" cy="0"/>
            </a:xfrm>
            <a:prstGeom prst="line">
              <a:avLst/>
            </a:prstGeom>
            <a:ln w="31750">
              <a:solidFill>
                <a:srgbClr val="9AA0A6"/>
              </a:solidFill>
            </a:ln>
          </p:spPr>
        </p:cxnSp>
        <p:cxnSp>
          <p:nvCxnSpPr>
            <p:cNvPr id="85" name="Connector 84"/>
            <p:cNvCxnSpPr/>
            <p:nvPr/>
          </p:nvCxnSpPr>
          <p:spPr>
            <a:xfrm>
              <a:off x="8641080" y="4553712"/>
              <a:ext cx="0" cy="256032"/>
            </a:xfrm>
            <a:prstGeom prst="line">
              <a:avLst/>
            </a:prstGeom>
            <a:ln w="31750">
              <a:solidFill>
                <a:srgbClr val="9AA0A6"/>
              </a:solidFill>
            </a:ln>
          </p:spPr>
        </p:cxnSp>
        <p:sp>
          <p:nvSpPr>
            <p:cNvPr id="86" name="Oval 85"/>
            <p:cNvSpPr/>
            <p:nvPr/>
          </p:nvSpPr>
          <p:spPr>
            <a:xfrm>
              <a:off x="9235440" y="4453128"/>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87" name="Connector 86"/>
            <p:cNvCxnSpPr/>
            <p:nvPr/>
          </p:nvCxnSpPr>
          <p:spPr>
            <a:xfrm flipV="1">
              <a:off x="9464040" y="4572000"/>
              <a:ext cx="128016" cy="109728"/>
            </a:xfrm>
            <a:prstGeom prst="line">
              <a:avLst/>
            </a:prstGeom>
            <a:ln w="25400">
              <a:solidFill>
                <a:srgbClr val="F2C14E"/>
              </a:solidFill>
            </a:ln>
          </p:spPr>
        </p:cxnSp>
        <p:sp>
          <p:nvSpPr>
            <p:cNvPr id="88" name="Oval 87"/>
            <p:cNvSpPr/>
            <p:nvPr/>
          </p:nvSpPr>
          <p:spPr>
            <a:xfrm>
              <a:off x="10058400" y="4453128"/>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89" name="Connector 88"/>
            <p:cNvCxnSpPr/>
            <p:nvPr/>
          </p:nvCxnSpPr>
          <p:spPr>
            <a:xfrm>
              <a:off x="10158984" y="4681728"/>
              <a:ext cx="256032" cy="0"/>
            </a:xfrm>
            <a:prstGeom prst="line">
              <a:avLst/>
            </a:prstGeom>
            <a:ln w="31750">
              <a:solidFill>
                <a:srgbClr val="9AA0A6"/>
              </a:solidFill>
            </a:ln>
          </p:spPr>
        </p:cxnSp>
        <p:cxnSp>
          <p:nvCxnSpPr>
            <p:cNvPr id="90" name="Connector 89"/>
            <p:cNvCxnSpPr/>
            <p:nvPr/>
          </p:nvCxnSpPr>
          <p:spPr>
            <a:xfrm>
              <a:off x="10287000" y="4553712"/>
              <a:ext cx="0" cy="256032"/>
            </a:xfrm>
            <a:prstGeom prst="line">
              <a:avLst/>
            </a:prstGeom>
            <a:ln w="31750">
              <a:solidFill>
                <a:srgbClr val="9AA0A6"/>
              </a:solidFill>
            </a:ln>
          </p:spPr>
        </p:cxnSp>
        <p:sp>
          <p:nvSpPr>
            <p:cNvPr id="91" name="Oval 90"/>
            <p:cNvSpPr/>
            <p:nvPr/>
          </p:nvSpPr>
          <p:spPr>
            <a:xfrm>
              <a:off x="10881360" y="4453128"/>
              <a:ext cx="457200" cy="457200"/>
            </a:xfrm>
            <a:prstGeom prst="ellipse">
              <a:avLst/>
            </a:prstGeom>
            <a:solidFill>
              <a:srgbClr val="1B1D21"/>
            </a:solidFill>
            <a:ln w="19050">
              <a:solidFill>
                <a:srgbClr val="9AA0A6"/>
              </a:solidFill>
            </a:ln>
          </p:spPr>
          <p:txBody>
            <a:bodyPr rtlCol="0" anchor="ctr"/>
            <a:lstStyle/>
            <a:p>
              <a:pPr algn="ctr"/>
              <a:endParaRPr/>
            </a:p>
          </p:txBody>
        </p:sp>
        <p:cxnSp>
          <p:nvCxnSpPr>
            <p:cNvPr id="92" name="Connector 91"/>
            <p:cNvCxnSpPr/>
            <p:nvPr/>
          </p:nvCxnSpPr>
          <p:spPr>
            <a:xfrm flipV="1">
              <a:off x="11109960" y="4572000"/>
              <a:ext cx="128016" cy="109728"/>
            </a:xfrm>
            <a:prstGeom prst="line">
              <a:avLst/>
            </a:prstGeom>
            <a:ln w="25400">
              <a:solidFill>
                <a:srgbClr val="F2C14E"/>
              </a:solidFill>
            </a:ln>
          </p:spPr>
        </p:cxnSp>
        <p:sp>
          <p:nvSpPr>
            <p:cNvPr id="93" name="&quot;No&quot; Symbol 92"/>
            <p:cNvSpPr/>
            <p:nvPr/>
          </p:nvSpPr>
          <p:spPr>
            <a:xfrm>
              <a:off x="7863840" y="1828800"/>
              <a:ext cx="3246120" cy="3246120"/>
            </a:xfrm>
            <a:prstGeom prst="noSmoking">
              <a:avLst/>
            </a:prstGeom>
            <a:solidFill>
              <a:srgbClr val="E5484D">
                <a:alpha val="90000"/>
              </a:srgbClr>
            </a:solidFill>
            <a:ln>
              <a:noFill/>
            </a:ln>
          </p:spPr>
          <p:txBody>
            <a:bodyPr rtlCol="0" anchor="ctr"/>
            <a:lstStyle/>
            <a:p>
              <a:pPr algn="ctr"/>
              <a:endParaRPr/>
            </a:p>
          </p:txBody>
        </p:sp>
      </p:grpSp>
      <p:sp>
        <p:nvSpPr>
          <p:cNvPr id="94"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No injectors and no dozens of valves. It is steam driving, not a full simulator.</a:t>
            </a:r>
          </a:p>
        </p:txBody>
      </p:sp>
      <p:sp>
        <p:nvSpPr>
          <p:cNvPr id="95"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96"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13</a:t>
            </a:r>
          </a:p>
        </p:txBody>
      </p:sp>
    </p:spTree>
    <p:extLst>
      <p:ext uri="{BB962C8B-B14F-4D97-AF65-F5344CB8AC3E}">
        <p14:creationId xmlns:p14="http://schemas.microsoft.com/office/powerpoint/2010/main" val="38170423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94"/>
                                        </p:tgtEl>
                                        <p:attrNameLst>
                                          <p:attrName>style.visibility</p:attrName>
                                        </p:attrNameLst>
                                      </p:cBhvr>
                                      <p:to>
                                        <p:strVal val="visible"/>
                                      </p:to>
                                    </p:set>
                                    <p:animEffect transition="in" filter="fade">
                                      <p:cBhvr>
                                        <p:cTn id="10" dur="500"/>
                                        <p:tgtEl>
                                          <p:spTgt spid="94"/>
                                        </p:tgtEl>
                                      </p:cBhvr>
                                    </p:animEffect>
                                  </p:childTnLst>
                                </p:cTn>
                              </p:par>
                              <p:par>
                                <p:cTn id="11" presetID="10" presetClass="entr" presetSubtype="0" fill="hold" nodeType="withEffect">
                                  <p:stCondLst>
                                    <p:cond delay="600"/>
                                  </p:stCondLst>
                                  <p:childTnLst>
                                    <p:set>
                                      <p:cBhvr>
                                        <p:cTn id="12" dur="1" fill="hold">
                                          <p:stCondLst>
                                            <p:cond delay="0"/>
                                          </p:stCondLst>
                                        </p:cTn>
                                        <p:tgtEl>
                                          <p:spTgt spid="95"/>
                                        </p:tgtEl>
                                        <p:attrNameLst>
                                          <p:attrName>style.visibility</p:attrName>
                                        </p:attrNameLst>
                                      </p:cBhvr>
                                      <p:to>
                                        <p:strVal val="visible"/>
                                      </p:to>
                                    </p:set>
                                    <p:animEffect transition="in" filter="fade">
                                      <p:cBhvr>
                                        <p:cTn id="13"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Mistakes have natural results</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four mistakes and their natural results, and a crossed-out card" descr="Four cause and effect pairs: wrong settings give weaker pull, too much power makes wheels slip, low steam pressure gives less power, a weak fire gives a weaker engine. A crossed-out card reads Explosions and permanent damage."/>
          <p:cNvGrpSpPr/>
          <p:nvPr/>
        </p:nvGrpSpPr>
        <p:grpSpPr>
          <a:xfrm>
            <a:off x="548640" y="1417320"/>
            <a:ext cx="11091672" cy="3392424"/>
            <a:chOff x="548640" y="1417320"/>
            <a:chExt cx="11091672" cy="3392424"/>
          </a:xfrm>
        </p:grpSpPr>
        <p:sp>
          <p:nvSpPr>
            <p:cNvPr id="5" name="Rounded Rectangle 4"/>
            <p:cNvSpPr/>
            <p:nvPr/>
          </p:nvSpPr>
          <p:spPr>
            <a:xfrm>
              <a:off x="548640" y="1417320"/>
              <a:ext cx="3200400" cy="731520"/>
            </a:xfrm>
            <a:prstGeom prst="roundRect">
              <a:avLst>
                <a:gd name="adj" fmla="val 12500"/>
              </a:avLst>
            </a:prstGeom>
            <a:solidFill>
              <a:srgbClr val="2B2F36"/>
            </a:solidFill>
            <a:ln w="19050">
              <a:solidFill>
                <a:srgbClr val="9AA0A6"/>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Wrong settings</a:t>
              </a:r>
            </a:p>
          </p:txBody>
        </p:sp>
        <p:cxnSp>
          <p:nvCxnSpPr>
            <p:cNvPr id="6" name="Connector 5"/>
            <p:cNvCxnSpPr/>
            <p:nvPr/>
          </p:nvCxnSpPr>
          <p:spPr>
            <a:xfrm>
              <a:off x="3840480" y="1783080"/>
              <a:ext cx="685800" cy="0"/>
            </a:xfrm>
            <a:prstGeom prst="line">
              <a:avLst/>
            </a:prstGeom>
            <a:ln w="38100">
              <a:solidFill>
                <a:srgbClr val="F28C28"/>
              </a:solidFill>
              <a:tailEnd type="triangle" w="med" len="med"/>
            </a:ln>
          </p:spPr>
        </p:cxnSp>
        <p:sp>
          <p:nvSpPr>
            <p:cNvPr id="7" name="Rounded Rectangle 6"/>
            <p:cNvSpPr/>
            <p:nvPr/>
          </p:nvSpPr>
          <p:spPr>
            <a:xfrm>
              <a:off x="4617720" y="1417320"/>
              <a:ext cx="3200400" cy="731520"/>
            </a:xfrm>
            <a:prstGeom prst="roundRect">
              <a:avLst>
                <a:gd name="adj" fmla="val 12500"/>
              </a:avLst>
            </a:prstGeom>
            <a:solidFill>
              <a:srgbClr val="343A43"/>
            </a:solidFill>
            <a:ln w="25400">
              <a:solidFill>
                <a:srgbClr val="F28C28"/>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Weaker pull</a:t>
              </a:r>
            </a:p>
          </p:txBody>
        </p:sp>
        <p:sp>
          <p:nvSpPr>
            <p:cNvPr id="8" name="Rounded Rectangle 7"/>
            <p:cNvSpPr/>
            <p:nvPr/>
          </p:nvSpPr>
          <p:spPr>
            <a:xfrm>
              <a:off x="548640" y="2304288"/>
              <a:ext cx="3200400" cy="731520"/>
            </a:xfrm>
            <a:prstGeom prst="roundRect">
              <a:avLst>
                <a:gd name="adj" fmla="val 12500"/>
              </a:avLst>
            </a:prstGeom>
            <a:solidFill>
              <a:srgbClr val="2B2F36"/>
            </a:solidFill>
            <a:ln w="19050">
              <a:solidFill>
                <a:srgbClr val="9AA0A6"/>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Too much power</a:t>
              </a:r>
            </a:p>
          </p:txBody>
        </p:sp>
        <p:cxnSp>
          <p:nvCxnSpPr>
            <p:cNvPr id="9" name="Connector 8"/>
            <p:cNvCxnSpPr/>
            <p:nvPr/>
          </p:nvCxnSpPr>
          <p:spPr>
            <a:xfrm>
              <a:off x="3840480" y="2670048"/>
              <a:ext cx="685800" cy="0"/>
            </a:xfrm>
            <a:prstGeom prst="line">
              <a:avLst/>
            </a:prstGeom>
            <a:ln w="38100">
              <a:solidFill>
                <a:srgbClr val="F28C28"/>
              </a:solidFill>
              <a:tailEnd type="triangle" w="med" len="med"/>
            </a:ln>
          </p:spPr>
        </p:cxnSp>
        <p:sp>
          <p:nvSpPr>
            <p:cNvPr id="10" name="Rounded Rectangle 9"/>
            <p:cNvSpPr/>
            <p:nvPr/>
          </p:nvSpPr>
          <p:spPr>
            <a:xfrm>
              <a:off x="4617720" y="2304288"/>
              <a:ext cx="3200400" cy="731520"/>
            </a:xfrm>
            <a:prstGeom prst="roundRect">
              <a:avLst>
                <a:gd name="adj" fmla="val 12500"/>
              </a:avLst>
            </a:prstGeom>
            <a:solidFill>
              <a:srgbClr val="343A43"/>
            </a:solidFill>
            <a:ln w="25400">
              <a:solidFill>
                <a:srgbClr val="F28C28"/>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Wheels slip</a:t>
              </a:r>
            </a:p>
          </p:txBody>
        </p:sp>
        <p:sp>
          <p:nvSpPr>
            <p:cNvPr id="11" name="Rounded Rectangle 10"/>
            <p:cNvSpPr/>
            <p:nvPr/>
          </p:nvSpPr>
          <p:spPr>
            <a:xfrm>
              <a:off x="548640" y="3191256"/>
              <a:ext cx="3200400" cy="731520"/>
            </a:xfrm>
            <a:prstGeom prst="roundRect">
              <a:avLst>
                <a:gd name="adj" fmla="val 12500"/>
              </a:avLst>
            </a:prstGeom>
            <a:solidFill>
              <a:srgbClr val="2B2F36"/>
            </a:solidFill>
            <a:ln w="19050">
              <a:solidFill>
                <a:srgbClr val="9AA0A6"/>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Low steam pressure</a:t>
              </a:r>
            </a:p>
          </p:txBody>
        </p:sp>
        <p:cxnSp>
          <p:nvCxnSpPr>
            <p:cNvPr id="12" name="Connector 11"/>
            <p:cNvCxnSpPr/>
            <p:nvPr/>
          </p:nvCxnSpPr>
          <p:spPr>
            <a:xfrm>
              <a:off x="3840480" y="3557016"/>
              <a:ext cx="685800" cy="0"/>
            </a:xfrm>
            <a:prstGeom prst="line">
              <a:avLst/>
            </a:prstGeom>
            <a:ln w="38100">
              <a:solidFill>
                <a:srgbClr val="F28C28"/>
              </a:solidFill>
              <a:tailEnd type="triangle" w="med" len="med"/>
            </a:ln>
          </p:spPr>
        </p:cxnSp>
        <p:sp>
          <p:nvSpPr>
            <p:cNvPr id="13" name="Rounded Rectangle 12"/>
            <p:cNvSpPr/>
            <p:nvPr/>
          </p:nvSpPr>
          <p:spPr>
            <a:xfrm>
              <a:off x="4617720" y="3191256"/>
              <a:ext cx="3200400" cy="731520"/>
            </a:xfrm>
            <a:prstGeom prst="roundRect">
              <a:avLst>
                <a:gd name="adj" fmla="val 12500"/>
              </a:avLst>
            </a:prstGeom>
            <a:solidFill>
              <a:srgbClr val="343A43"/>
            </a:solidFill>
            <a:ln w="25400">
              <a:solidFill>
                <a:srgbClr val="F28C28"/>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Less power</a:t>
              </a:r>
            </a:p>
          </p:txBody>
        </p:sp>
        <p:sp>
          <p:nvSpPr>
            <p:cNvPr id="14" name="Rounded Rectangle 13"/>
            <p:cNvSpPr/>
            <p:nvPr/>
          </p:nvSpPr>
          <p:spPr>
            <a:xfrm>
              <a:off x="548640" y="4078224"/>
              <a:ext cx="3200400" cy="731520"/>
            </a:xfrm>
            <a:prstGeom prst="roundRect">
              <a:avLst>
                <a:gd name="adj" fmla="val 12500"/>
              </a:avLst>
            </a:prstGeom>
            <a:solidFill>
              <a:srgbClr val="2B2F36"/>
            </a:solidFill>
            <a:ln w="19050">
              <a:solidFill>
                <a:srgbClr val="9AA0A6"/>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Weak fire</a:t>
              </a:r>
            </a:p>
          </p:txBody>
        </p:sp>
        <p:cxnSp>
          <p:nvCxnSpPr>
            <p:cNvPr id="15" name="Connector 14"/>
            <p:cNvCxnSpPr/>
            <p:nvPr/>
          </p:nvCxnSpPr>
          <p:spPr>
            <a:xfrm>
              <a:off x="3840480" y="4443984"/>
              <a:ext cx="685800" cy="0"/>
            </a:xfrm>
            <a:prstGeom prst="line">
              <a:avLst/>
            </a:prstGeom>
            <a:ln w="38100">
              <a:solidFill>
                <a:srgbClr val="F28C28"/>
              </a:solidFill>
              <a:tailEnd type="triangle" w="med" len="med"/>
            </a:ln>
          </p:spPr>
        </p:cxnSp>
        <p:sp>
          <p:nvSpPr>
            <p:cNvPr id="16" name="Rounded Rectangle 15"/>
            <p:cNvSpPr/>
            <p:nvPr/>
          </p:nvSpPr>
          <p:spPr>
            <a:xfrm>
              <a:off x="4617720" y="4078224"/>
              <a:ext cx="3200400" cy="731520"/>
            </a:xfrm>
            <a:prstGeom prst="roundRect">
              <a:avLst>
                <a:gd name="adj" fmla="val 12500"/>
              </a:avLst>
            </a:prstGeom>
            <a:solidFill>
              <a:srgbClr val="343A43"/>
            </a:solidFill>
            <a:ln w="25400">
              <a:solidFill>
                <a:srgbClr val="F28C28"/>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Weaker engine</a:t>
              </a:r>
            </a:p>
          </p:txBody>
        </p:sp>
        <p:sp>
          <p:nvSpPr>
            <p:cNvPr id="17" name="Rounded Rectangle 16"/>
            <p:cNvSpPr/>
            <p:nvPr/>
          </p:nvSpPr>
          <p:spPr>
            <a:xfrm>
              <a:off x="8321040" y="1417320"/>
              <a:ext cx="3319272" cy="2651760"/>
            </a:xfrm>
            <a:prstGeom prst="roundRect">
              <a:avLst>
                <a:gd name="adj" fmla="val 3448"/>
              </a:avLst>
            </a:prstGeom>
            <a:solidFill>
              <a:srgbClr val="2B2F36"/>
            </a:solidFill>
            <a:ln w="38100">
              <a:solidFill>
                <a:srgbClr val="E5484D"/>
              </a:solidFill>
            </a:ln>
          </p:spPr>
          <p:txBody>
            <a:bodyPr rtlCol="0" anchor="ctr"/>
            <a:lstStyle/>
            <a:p>
              <a:pPr algn="ctr"/>
              <a:endParaRPr/>
            </a:p>
          </p:txBody>
        </p:sp>
        <p:cxnSp>
          <p:nvCxnSpPr>
            <p:cNvPr id="18" name="Cross"/>
            <p:cNvCxnSpPr/>
            <p:nvPr/>
          </p:nvCxnSpPr>
          <p:spPr>
            <a:xfrm>
              <a:off x="8321040" y="1417320"/>
              <a:ext cx="3319272" cy="2651760"/>
            </a:xfrm>
            <a:prstGeom prst="line">
              <a:avLst/>
            </a:prstGeom>
            <a:ln w="63500">
              <a:solidFill>
                <a:srgbClr val="E5484D">
                  <a:alpha val="75000"/>
                </a:srgbClr>
              </a:solidFill>
            </a:ln>
          </p:spPr>
        </p:cxnSp>
        <p:cxnSp>
          <p:nvCxnSpPr>
            <p:cNvPr id="19" name="Cross"/>
            <p:cNvCxnSpPr/>
            <p:nvPr/>
          </p:nvCxnSpPr>
          <p:spPr>
            <a:xfrm flipH="1">
              <a:off x="8321040" y="1417320"/>
              <a:ext cx="3319272" cy="2651760"/>
            </a:xfrm>
            <a:prstGeom prst="line">
              <a:avLst/>
            </a:prstGeom>
            <a:ln w="63500">
              <a:solidFill>
                <a:srgbClr val="E5484D">
                  <a:alpha val="75000"/>
                </a:srgbClr>
              </a:solidFill>
            </a:ln>
          </p:spPr>
        </p:cxnSp>
        <p:sp>
          <p:nvSpPr>
            <p:cNvPr id="20" name="TextBox 19"/>
            <p:cNvSpPr txBox="1"/>
            <p:nvPr/>
          </p:nvSpPr>
          <p:spPr>
            <a:xfrm>
              <a:off x="8503920" y="1965960"/>
              <a:ext cx="2953512" cy="1554480"/>
            </a:xfrm>
            <a:prstGeom prst="rect">
              <a:avLst/>
            </a:prstGeom>
            <a:noFill/>
          </p:spPr>
          <p:txBody>
            <a:bodyPr wrap="square" lIns="0" tIns="0" rIns="0" bIns="0" anchor="ctr">
              <a:noAutofit/>
            </a:bodyPr>
            <a:lstStyle/>
            <a:p>
              <a:pPr algn="ctr">
                <a:spcBef>
                  <a:spcPts val="0"/>
                </a:spcBef>
                <a:spcAft>
                  <a:spcPts val="0"/>
                </a:spcAft>
              </a:pPr>
              <a:r>
                <a:rPr lang="en-GB" sz="2200" b="1" i="0">
                  <a:solidFill>
                    <a:srgbClr val="F2F2F2"/>
                  </a:solidFill>
                  <a:latin typeface="Arial"/>
                </a:rPr>
                <a:t>Explosions and permanent damage</a:t>
              </a:r>
            </a:p>
          </p:txBody>
        </p:sp>
      </p:grpSp>
      <p:sp>
        <p:nvSpPr>
          <p:cNvPr id="21" name="Inline chip"/>
          <p:cNvSpPr/>
          <p:nvPr/>
        </p:nvSpPr>
        <p:spPr>
          <a:xfrm>
            <a:off x="548640" y="5029200"/>
            <a:ext cx="2751965" cy="329184"/>
          </a:xfrm>
          <a:prstGeom prst="roundRect">
            <a:avLst>
              <a:gd name="adj" fmla="val 50000"/>
            </a:avLst>
          </a:prstGeom>
          <a:noFill/>
          <a:ln w="25400">
            <a:solidFill>
              <a:srgbClr val="A9B0B8"/>
            </a:solidFill>
          </a:ln>
        </p:spPr>
        <p:txBody>
          <a:bodyPr wrap="none" lIns="73152" tIns="18288" rIns="73152" bIns="18288" rtlCol="0" anchor="ctr">
            <a:noAutofit/>
          </a:bodyPr>
          <a:lstStyle/>
          <a:p>
            <a:pPr algn="ctr">
              <a:spcBef>
                <a:spcPts val="0"/>
              </a:spcBef>
              <a:spcAft>
                <a:spcPts val="0"/>
              </a:spcAft>
            </a:pPr>
            <a:r>
              <a:rPr lang="en-GB" sz="1400" b="0" i="0">
                <a:solidFill>
                  <a:srgbClr val="F2F2F2"/>
                </a:solidFill>
                <a:latin typeface="Arial"/>
              </a:rPr>
              <a:t>Exact rules: undecided (OQ24)</a:t>
            </a:r>
          </a:p>
        </p:txBody>
      </p:sp>
      <p:sp>
        <p:nvSpPr>
          <p:cNvPr id="22"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Bad driving costs speed and pulling power. It never wrecks your engine.</a:t>
            </a:r>
          </a:p>
        </p:txBody>
      </p:sp>
      <p:sp>
        <p:nvSpPr>
          <p:cNvPr id="23"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24"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14</a:t>
            </a:r>
          </a:p>
        </p:txBody>
      </p:sp>
    </p:spTree>
    <p:extLst>
      <p:ext uri="{BB962C8B-B14F-4D97-AF65-F5344CB8AC3E}">
        <p14:creationId xmlns:p14="http://schemas.microsoft.com/office/powerpoint/2010/main" val="8935864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nodeType="withEffect">
                                  <p:stCondLst>
                                    <p:cond delay="60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9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Skill can pay</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a hill with two speed lines" descr="A hill profile. Two speed lines run across it: Simple is steady and Advanced is slightly higher. A marker shows where to prepare before the climb. Shape only, not measured."/>
          <p:cNvGrpSpPr/>
          <p:nvPr/>
        </p:nvGrpSpPr>
        <p:grpSpPr>
          <a:xfrm>
            <a:off x="548640" y="1325880"/>
            <a:ext cx="11091672" cy="3749040"/>
            <a:chOff x="548640" y="1325880"/>
            <a:chExt cx="11091672" cy="3749040"/>
          </a:xfrm>
        </p:grpSpPr>
        <p:sp>
          <p:nvSpPr>
            <p:cNvPr id="5" name="Rounded Rectangle 4"/>
            <p:cNvSpPr/>
            <p:nvPr/>
          </p:nvSpPr>
          <p:spPr>
            <a:xfrm>
              <a:off x="548640" y="1325880"/>
              <a:ext cx="11091672" cy="3749040"/>
            </a:xfrm>
            <a:prstGeom prst="roundRect">
              <a:avLst>
                <a:gd name="adj" fmla="val 1951"/>
              </a:avLst>
            </a:prstGeom>
            <a:solidFill>
              <a:srgbClr val="2B2F36"/>
            </a:solidFill>
            <a:ln>
              <a:noFill/>
            </a:ln>
          </p:spPr>
          <p:txBody>
            <a:bodyPr rtlCol="0" anchor="ctr"/>
            <a:lstStyle/>
            <a:p>
              <a:pPr algn="ctr"/>
              <a:endParaRPr/>
            </a:p>
          </p:txBody>
        </p:sp>
        <p:sp>
          <p:nvSpPr>
            <p:cNvPr id="6" name="Freeform 5"/>
            <p:cNvSpPr/>
            <p:nvPr/>
          </p:nvSpPr>
          <p:spPr>
            <a:xfrm>
              <a:off x="914400" y="3520440"/>
              <a:ext cx="10332720" cy="1417320"/>
            </a:xfrm>
            <a:custGeom>
              <a:avLst/>
              <a:gdLst/>
              <a:ahLst/>
              <a:cxnLst/>
              <a:rect l="l" t="t" r="r" b="b"/>
              <a:pathLst>
                <a:path w="10332720" h="1417320">
                  <a:moveTo>
                    <a:pt x="0" y="914400"/>
                  </a:moveTo>
                  <a:lnTo>
                    <a:pt x="0" y="914400"/>
                  </a:lnTo>
                  <a:lnTo>
                    <a:pt x="91440" y="914400"/>
                  </a:lnTo>
                  <a:lnTo>
                    <a:pt x="182880" y="914400"/>
                  </a:lnTo>
                  <a:lnTo>
                    <a:pt x="274320" y="914400"/>
                  </a:lnTo>
                  <a:lnTo>
                    <a:pt x="365760" y="914400"/>
                  </a:lnTo>
                  <a:lnTo>
                    <a:pt x="457200" y="914400"/>
                  </a:lnTo>
                  <a:lnTo>
                    <a:pt x="548640" y="914400"/>
                  </a:lnTo>
                  <a:lnTo>
                    <a:pt x="640080" y="914400"/>
                  </a:lnTo>
                  <a:lnTo>
                    <a:pt x="731520" y="914400"/>
                  </a:lnTo>
                  <a:lnTo>
                    <a:pt x="822960" y="914400"/>
                  </a:lnTo>
                  <a:lnTo>
                    <a:pt x="914400" y="914400"/>
                  </a:lnTo>
                  <a:lnTo>
                    <a:pt x="1005840" y="914400"/>
                  </a:lnTo>
                  <a:lnTo>
                    <a:pt x="1097280" y="914400"/>
                  </a:lnTo>
                  <a:lnTo>
                    <a:pt x="1188720" y="914400"/>
                  </a:lnTo>
                  <a:lnTo>
                    <a:pt x="1280160" y="914400"/>
                  </a:lnTo>
                  <a:lnTo>
                    <a:pt x="1371600" y="914400"/>
                  </a:lnTo>
                  <a:lnTo>
                    <a:pt x="1463040" y="914400"/>
                  </a:lnTo>
                  <a:lnTo>
                    <a:pt x="1554480" y="914400"/>
                  </a:lnTo>
                  <a:lnTo>
                    <a:pt x="1645920" y="914400"/>
                  </a:lnTo>
                  <a:lnTo>
                    <a:pt x="1737360" y="914400"/>
                  </a:lnTo>
                  <a:lnTo>
                    <a:pt x="1828800" y="914400"/>
                  </a:lnTo>
                  <a:lnTo>
                    <a:pt x="1920240" y="914400"/>
                  </a:lnTo>
                  <a:lnTo>
                    <a:pt x="2011680" y="914400"/>
                  </a:lnTo>
                  <a:lnTo>
                    <a:pt x="2103120" y="914400"/>
                  </a:lnTo>
                  <a:lnTo>
                    <a:pt x="2194560" y="914400"/>
                  </a:lnTo>
                  <a:lnTo>
                    <a:pt x="2286000" y="914400"/>
                  </a:lnTo>
                  <a:lnTo>
                    <a:pt x="2377440" y="914400"/>
                  </a:lnTo>
                  <a:lnTo>
                    <a:pt x="2468880" y="914400"/>
                  </a:lnTo>
                  <a:lnTo>
                    <a:pt x="2560320" y="914400"/>
                  </a:lnTo>
                  <a:lnTo>
                    <a:pt x="2651760" y="914400"/>
                  </a:lnTo>
                  <a:lnTo>
                    <a:pt x="2743200" y="914400"/>
                  </a:lnTo>
                  <a:lnTo>
                    <a:pt x="2834640" y="914400"/>
                  </a:lnTo>
                  <a:lnTo>
                    <a:pt x="2926080" y="914400"/>
                  </a:lnTo>
                  <a:lnTo>
                    <a:pt x="3017520" y="914400"/>
                  </a:lnTo>
                  <a:lnTo>
                    <a:pt x="3108960" y="914400"/>
                  </a:lnTo>
                  <a:lnTo>
                    <a:pt x="3200400" y="914400"/>
                  </a:lnTo>
                  <a:lnTo>
                    <a:pt x="3291840" y="914400"/>
                  </a:lnTo>
                  <a:lnTo>
                    <a:pt x="3383280" y="914400"/>
                  </a:lnTo>
                  <a:lnTo>
                    <a:pt x="3474720" y="914400"/>
                  </a:lnTo>
                  <a:lnTo>
                    <a:pt x="3566160" y="914400"/>
                  </a:lnTo>
                  <a:lnTo>
                    <a:pt x="3657600" y="914400"/>
                  </a:lnTo>
                  <a:lnTo>
                    <a:pt x="3749040" y="914400"/>
                  </a:lnTo>
                  <a:lnTo>
                    <a:pt x="3840480" y="914400"/>
                  </a:lnTo>
                  <a:lnTo>
                    <a:pt x="3931920" y="914400"/>
                  </a:lnTo>
                  <a:lnTo>
                    <a:pt x="4023360" y="914400"/>
                  </a:lnTo>
                  <a:lnTo>
                    <a:pt x="4114800" y="908771"/>
                  </a:lnTo>
                  <a:lnTo>
                    <a:pt x="4206240" y="892023"/>
                  </a:lnTo>
                  <a:lnTo>
                    <a:pt x="4297680" y="864568"/>
                  </a:lnTo>
                  <a:lnTo>
                    <a:pt x="4389120" y="827083"/>
                  </a:lnTo>
                  <a:lnTo>
                    <a:pt x="4480560" y="780489"/>
                  </a:lnTo>
                  <a:lnTo>
                    <a:pt x="4572000" y="725935"/>
                  </a:lnTo>
                  <a:lnTo>
                    <a:pt x="4663440" y="664764"/>
                  </a:lnTo>
                  <a:lnTo>
                    <a:pt x="4754880" y="598483"/>
                  </a:lnTo>
                  <a:lnTo>
                    <a:pt x="4846320" y="528722"/>
                  </a:lnTo>
                  <a:lnTo>
                    <a:pt x="4937760" y="457200"/>
                  </a:lnTo>
                  <a:lnTo>
                    <a:pt x="5029200" y="385678"/>
                  </a:lnTo>
                  <a:lnTo>
                    <a:pt x="5120640" y="315917"/>
                  </a:lnTo>
                  <a:lnTo>
                    <a:pt x="5212080" y="249636"/>
                  </a:lnTo>
                  <a:lnTo>
                    <a:pt x="5303520" y="188465"/>
                  </a:lnTo>
                  <a:lnTo>
                    <a:pt x="5394960" y="133911"/>
                  </a:lnTo>
                  <a:lnTo>
                    <a:pt x="5486400" y="87317"/>
                  </a:lnTo>
                  <a:lnTo>
                    <a:pt x="5577840" y="49832"/>
                  </a:lnTo>
                  <a:lnTo>
                    <a:pt x="5669280" y="22377"/>
                  </a:lnTo>
                  <a:lnTo>
                    <a:pt x="5760720" y="5629"/>
                  </a:lnTo>
                  <a:lnTo>
                    <a:pt x="5852160" y="0"/>
                  </a:lnTo>
                  <a:lnTo>
                    <a:pt x="5943600" y="5629"/>
                  </a:lnTo>
                  <a:lnTo>
                    <a:pt x="6035040" y="22377"/>
                  </a:lnTo>
                  <a:lnTo>
                    <a:pt x="6126480" y="49832"/>
                  </a:lnTo>
                  <a:lnTo>
                    <a:pt x="6217920" y="87317"/>
                  </a:lnTo>
                  <a:lnTo>
                    <a:pt x="6309360" y="133911"/>
                  </a:lnTo>
                  <a:lnTo>
                    <a:pt x="6400800" y="188465"/>
                  </a:lnTo>
                  <a:lnTo>
                    <a:pt x="6492240" y="249636"/>
                  </a:lnTo>
                  <a:lnTo>
                    <a:pt x="6583680" y="315917"/>
                  </a:lnTo>
                  <a:lnTo>
                    <a:pt x="6675120" y="385678"/>
                  </a:lnTo>
                  <a:lnTo>
                    <a:pt x="6766560" y="457200"/>
                  </a:lnTo>
                  <a:lnTo>
                    <a:pt x="6858000" y="528722"/>
                  </a:lnTo>
                  <a:lnTo>
                    <a:pt x="6949440" y="598483"/>
                  </a:lnTo>
                  <a:lnTo>
                    <a:pt x="7040880" y="664764"/>
                  </a:lnTo>
                  <a:lnTo>
                    <a:pt x="7132320" y="725935"/>
                  </a:lnTo>
                  <a:lnTo>
                    <a:pt x="7223760" y="780489"/>
                  </a:lnTo>
                  <a:lnTo>
                    <a:pt x="7315200" y="827083"/>
                  </a:lnTo>
                  <a:lnTo>
                    <a:pt x="7406640" y="864568"/>
                  </a:lnTo>
                  <a:lnTo>
                    <a:pt x="7498080" y="892023"/>
                  </a:lnTo>
                  <a:lnTo>
                    <a:pt x="7589520" y="908771"/>
                  </a:lnTo>
                  <a:lnTo>
                    <a:pt x="7680960" y="914400"/>
                  </a:lnTo>
                  <a:lnTo>
                    <a:pt x="7772400" y="914400"/>
                  </a:lnTo>
                  <a:lnTo>
                    <a:pt x="7863840" y="914400"/>
                  </a:lnTo>
                  <a:lnTo>
                    <a:pt x="7955280" y="914400"/>
                  </a:lnTo>
                  <a:lnTo>
                    <a:pt x="8046720" y="914400"/>
                  </a:lnTo>
                  <a:lnTo>
                    <a:pt x="8138160" y="914400"/>
                  </a:lnTo>
                  <a:lnTo>
                    <a:pt x="8229600" y="914400"/>
                  </a:lnTo>
                  <a:lnTo>
                    <a:pt x="8321040" y="914400"/>
                  </a:lnTo>
                  <a:lnTo>
                    <a:pt x="8412480" y="914400"/>
                  </a:lnTo>
                  <a:lnTo>
                    <a:pt x="8503920" y="914400"/>
                  </a:lnTo>
                  <a:lnTo>
                    <a:pt x="8595360" y="914400"/>
                  </a:lnTo>
                  <a:lnTo>
                    <a:pt x="8686800" y="914400"/>
                  </a:lnTo>
                  <a:lnTo>
                    <a:pt x="8778240" y="914400"/>
                  </a:lnTo>
                  <a:lnTo>
                    <a:pt x="8869680" y="914400"/>
                  </a:lnTo>
                  <a:lnTo>
                    <a:pt x="8961120" y="914400"/>
                  </a:lnTo>
                  <a:lnTo>
                    <a:pt x="9052560" y="914400"/>
                  </a:lnTo>
                  <a:lnTo>
                    <a:pt x="9144000" y="914400"/>
                  </a:lnTo>
                  <a:lnTo>
                    <a:pt x="9235440" y="914400"/>
                  </a:lnTo>
                  <a:lnTo>
                    <a:pt x="9326880" y="914400"/>
                  </a:lnTo>
                  <a:lnTo>
                    <a:pt x="9418320" y="914400"/>
                  </a:lnTo>
                  <a:lnTo>
                    <a:pt x="9509760" y="914400"/>
                  </a:lnTo>
                  <a:lnTo>
                    <a:pt x="9601200" y="914400"/>
                  </a:lnTo>
                  <a:lnTo>
                    <a:pt x="9692640" y="914400"/>
                  </a:lnTo>
                  <a:lnTo>
                    <a:pt x="9784080" y="914400"/>
                  </a:lnTo>
                  <a:lnTo>
                    <a:pt x="9875520" y="914400"/>
                  </a:lnTo>
                  <a:lnTo>
                    <a:pt x="9966960" y="914400"/>
                  </a:lnTo>
                  <a:lnTo>
                    <a:pt x="10058400" y="914400"/>
                  </a:lnTo>
                  <a:lnTo>
                    <a:pt x="10149840" y="914400"/>
                  </a:lnTo>
                  <a:lnTo>
                    <a:pt x="10241280" y="914400"/>
                  </a:lnTo>
                  <a:lnTo>
                    <a:pt x="10332720" y="914400"/>
                  </a:lnTo>
                  <a:lnTo>
                    <a:pt x="10332720" y="914400"/>
                  </a:lnTo>
                  <a:lnTo>
                    <a:pt x="10332720" y="1417320"/>
                  </a:lnTo>
                  <a:lnTo>
                    <a:pt x="0" y="1417320"/>
                  </a:lnTo>
                  <a:close/>
                </a:path>
              </a:pathLst>
            </a:custGeom>
            <a:solidFill>
              <a:srgbClr val="343A43"/>
            </a:solidFill>
            <a:ln>
              <a:noFill/>
            </a:ln>
          </p:spPr>
          <p:txBody>
            <a:bodyPr rtlCol="0" anchor="ctr"/>
            <a:lstStyle/>
            <a:p>
              <a:pPr algn="ctr"/>
              <a:endParaRPr/>
            </a:p>
          </p:txBody>
        </p:sp>
        <p:sp>
          <p:nvSpPr>
            <p:cNvPr id="7" name="Freeform 6"/>
            <p:cNvSpPr/>
            <p:nvPr/>
          </p:nvSpPr>
          <p:spPr>
            <a:xfrm>
              <a:off x="914400" y="3520440"/>
              <a:ext cx="10332720" cy="914400"/>
            </a:xfrm>
            <a:custGeom>
              <a:avLst/>
              <a:gdLst/>
              <a:ahLst/>
              <a:cxnLst/>
              <a:rect l="l" t="t" r="r" b="b"/>
              <a:pathLst>
                <a:path w="10332720" h="914400">
                  <a:moveTo>
                    <a:pt x="0" y="914400"/>
                  </a:moveTo>
                  <a:lnTo>
                    <a:pt x="91440" y="914400"/>
                  </a:lnTo>
                  <a:lnTo>
                    <a:pt x="182880" y="914400"/>
                  </a:lnTo>
                  <a:lnTo>
                    <a:pt x="274320" y="914400"/>
                  </a:lnTo>
                  <a:lnTo>
                    <a:pt x="365760" y="914400"/>
                  </a:lnTo>
                  <a:lnTo>
                    <a:pt x="457200" y="914400"/>
                  </a:lnTo>
                  <a:lnTo>
                    <a:pt x="548640" y="914400"/>
                  </a:lnTo>
                  <a:lnTo>
                    <a:pt x="640080" y="914400"/>
                  </a:lnTo>
                  <a:lnTo>
                    <a:pt x="731520" y="914400"/>
                  </a:lnTo>
                  <a:lnTo>
                    <a:pt x="822960" y="914400"/>
                  </a:lnTo>
                  <a:lnTo>
                    <a:pt x="914400" y="914400"/>
                  </a:lnTo>
                  <a:lnTo>
                    <a:pt x="1005840" y="914400"/>
                  </a:lnTo>
                  <a:lnTo>
                    <a:pt x="1097280" y="914400"/>
                  </a:lnTo>
                  <a:lnTo>
                    <a:pt x="1188720" y="914400"/>
                  </a:lnTo>
                  <a:lnTo>
                    <a:pt x="1280160" y="914400"/>
                  </a:lnTo>
                  <a:lnTo>
                    <a:pt x="1371600" y="914400"/>
                  </a:lnTo>
                  <a:lnTo>
                    <a:pt x="1463040" y="914400"/>
                  </a:lnTo>
                  <a:lnTo>
                    <a:pt x="1554480" y="914400"/>
                  </a:lnTo>
                  <a:lnTo>
                    <a:pt x="1645920" y="914400"/>
                  </a:lnTo>
                  <a:lnTo>
                    <a:pt x="1737360" y="914400"/>
                  </a:lnTo>
                  <a:lnTo>
                    <a:pt x="1828800" y="914400"/>
                  </a:lnTo>
                  <a:lnTo>
                    <a:pt x="1920240" y="914400"/>
                  </a:lnTo>
                  <a:lnTo>
                    <a:pt x="2011680" y="914400"/>
                  </a:lnTo>
                  <a:lnTo>
                    <a:pt x="2103120" y="914400"/>
                  </a:lnTo>
                  <a:lnTo>
                    <a:pt x="2194560" y="914400"/>
                  </a:lnTo>
                  <a:lnTo>
                    <a:pt x="2286000" y="914400"/>
                  </a:lnTo>
                  <a:lnTo>
                    <a:pt x="2377440" y="914400"/>
                  </a:lnTo>
                  <a:lnTo>
                    <a:pt x="2468880" y="914400"/>
                  </a:lnTo>
                  <a:lnTo>
                    <a:pt x="2560320" y="914400"/>
                  </a:lnTo>
                  <a:lnTo>
                    <a:pt x="2651760" y="914400"/>
                  </a:lnTo>
                  <a:lnTo>
                    <a:pt x="2743200" y="914400"/>
                  </a:lnTo>
                  <a:lnTo>
                    <a:pt x="2834640" y="914400"/>
                  </a:lnTo>
                  <a:lnTo>
                    <a:pt x="2926080" y="914400"/>
                  </a:lnTo>
                  <a:lnTo>
                    <a:pt x="3017520" y="914400"/>
                  </a:lnTo>
                  <a:lnTo>
                    <a:pt x="3108960" y="914400"/>
                  </a:lnTo>
                  <a:lnTo>
                    <a:pt x="3200400" y="914400"/>
                  </a:lnTo>
                  <a:lnTo>
                    <a:pt x="3291840" y="914400"/>
                  </a:lnTo>
                  <a:lnTo>
                    <a:pt x="3383280" y="914400"/>
                  </a:lnTo>
                  <a:lnTo>
                    <a:pt x="3474720" y="914400"/>
                  </a:lnTo>
                  <a:lnTo>
                    <a:pt x="3566160" y="914400"/>
                  </a:lnTo>
                  <a:lnTo>
                    <a:pt x="3657600" y="914400"/>
                  </a:lnTo>
                  <a:lnTo>
                    <a:pt x="3749040" y="914400"/>
                  </a:lnTo>
                  <a:lnTo>
                    <a:pt x="3840480" y="914400"/>
                  </a:lnTo>
                  <a:lnTo>
                    <a:pt x="3931920" y="914400"/>
                  </a:lnTo>
                  <a:lnTo>
                    <a:pt x="4023360" y="914400"/>
                  </a:lnTo>
                  <a:lnTo>
                    <a:pt x="4114800" y="908771"/>
                  </a:lnTo>
                  <a:lnTo>
                    <a:pt x="4206240" y="892023"/>
                  </a:lnTo>
                  <a:lnTo>
                    <a:pt x="4297680" y="864568"/>
                  </a:lnTo>
                  <a:lnTo>
                    <a:pt x="4389120" y="827083"/>
                  </a:lnTo>
                  <a:lnTo>
                    <a:pt x="4480560" y="780489"/>
                  </a:lnTo>
                  <a:lnTo>
                    <a:pt x="4572000" y="725935"/>
                  </a:lnTo>
                  <a:lnTo>
                    <a:pt x="4663440" y="664764"/>
                  </a:lnTo>
                  <a:lnTo>
                    <a:pt x="4754880" y="598483"/>
                  </a:lnTo>
                  <a:lnTo>
                    <a:pt x="4846320" y="528722"/>
                  </a:lnTo>
                  <a:lnTo>
                    <a:pt x="4937760" y="457200"/>
                  </a:lnTo>
                  <a:lnTo>
                    <a:pt x="5029200" y="385678"/>
                  </a:lnTo>
                  <a:lnTo>
                    <a:pt x="5120640" y="315917"/>
                  </a:lnTo>
                  <a:lnTo>
                    <a:pt x="5212080" y="249636"/>
                  </a:lnTo>
                  <a:lnTo>
                    <a:pt x="5303520" y="188465"/>
                  </a:lnTo>
                  <a:lnTo>
                    <a:pt x="5394960" y="133911"/>
                  </a:lnTo>
                  <a:lnTo>
                    <a:pt x="5486400" y="87317"/>
                  </a:lnTo>
                  <a:lnTo>
                    <a:pt x="5577840" y="49832"/>
                  </a:lnTo>
                  <a:lnTo>
                    <a:pt x="5669280" y="22377"/>
                  </a:lnTo>
                  <a:lnTo>
                    <a:pt x="5760720" y="5629"/>
                  </a:lnTo>
                  <a:lnTo>
                    <a:pt x="5852160" y="0"/>
                  </a:lnTo>
                  <a:lnTo>
                    <a:pt x="5943600" y="5629"/>
                  </a:lnTo>
                  <a:lnTo>
                    <a:pt x="6035040" y="22377"/>
                  </a:lnTo>
                  <a:lnTo>
                    <a:pt x="6126480" y="49832"/>
                  </a:lnTo>
                  <a:lnTo>
                    <a:pt x="6217920" y="87317"/>
                  </a:lnTo>
                  <a:lnTo>
                    <a:pt x="6309360" y="133911"/>
                  </a:lnTo>
                  <a:lnTo>
                    <a:pt x="6400800" y="188465"/>
                  </a:lnTo>
                  <a:lnTo>
                    <a:pt x="6492240" y="249636"/>
                  </a:lnTo>
                  <a:lnTo>
                    <a:pt x="6583680" y="315917"/>
                  </a:lnTo>
                  <a:lnTo>
                    <a:pt x="6675120" y="385678"/>
                  </a:lnTo>
                  <a:lnTo>
                    <a:pt x="6766560" y="457200"/>
                  </a:lnTo>
                  <a:lnTo>
                    <a:pt x="6858000" y="528722"/>
                  </a:lnTo>
                  <a:lnTo>
                    <a:pt x="6949440" y="598483"/>
                  </a:lnTo>
                  <a:lnTo>
                    <a:pt x="7040880" y="664764"/>
                  </a:lnTo>
                  <a:lnTo>
                    <a:pt x="7132320" y="725935"/>
                  </a:lnTo>
                  <a:lnTo>
                    <a:pt x="7223760" y="780489"/>
                  </a:lnTo>
                  <a:lnTo>
                    <a:pt x="7315200" y="827083"/>
                  </a:lnTo>
                  <a:lnTo>
                    <a:pt x="7406640" y="864568"/>
                  </a:lnTo>
                  <a:lnTo>
                    <a:pt x="7498080" y="892023"/>
                  </a:lnTo>
                  <a:lnTo>
                    <a:pt x="7589520" y="908771"/>
                  </a:lnTo>
                  <a:lnTo>
                    <a:pt x="7680960" y="914400"/>
                  </a:lnTo>
                  <a:lnTo>
                    <a:pt x="7772400" y="914400"/>
                  </a:lnTo>
                  <a:lnTo>
                    <a:pt x="7863840" y="914400"/>
                  </a:lnTo>
                  <a:lnTo>
                    <a:pt x="7955280" y="914400"/>
                  </a:lnTo>
                  <a:lnTo>
                    <a:pt x="8046720" y="914400"/>
                  </a:lnTo>
                  <a:lnTo>
                    <a:pt x="8138160" y="914400"/>
                  </a:lnTo>
                  <a:lnTo>
                    <a:pt x="8229600" y="914400"/>
                  </a:lnTo>
                  <a:lnTo>
                    <a:pt x="8321040" y="914400"/>
                  </a:lnTo>
                  <a:lnTo>
                    <a:pt x="8412480" y="914400"/>
                  </a:lnTo>
                  <a:lnTo>
                    <a:pt x="8503920" y="914400"/>
                  </a:lnTo>
                  <a:lnTo>
                    <a:pt x="8595360" y="914400"/>
                  </a:lnTo>
                  <a:lnTo>
                    <a:pt x="8686800" y="914400"/>
                  </a:lnTo>
                  <a:lnTo>
                    <a:pt x="8778240" y="914400"/>
                  </a:lnTo>
                  <a:lnTo>
                    <a:pt x="8869680" y="914400"/>
                  </a:lnTo>
                  <a:lnTo>
                    <a:pt x="8961120" y="914400"/>
                  </a:lnTo>
                  <a:lnTo>
                    <a:pt x="9052560" y="914400"/>
                  </a:lnTo>
                  <a:lnTo>
                    <a:pt x="9144000" y="914400"/>
                  </a:lnTo>
                  <a:lnTo>
                    <a:pt x="9235440" y="914400"/>
                  </a:lnTo>
                  <a:lnTo>
                    <a:pt x="9326880" y="914400"/>
                  </a:lnTo>
                  <a:lnTo>
                    <a:pt x="9418320" y="914400"/>
                  </a:lnTo>
                  <a:lnTo>
                    <a:pt x="9509760" y="914400"/>
                  </a:lnTo>
                  <a:lnTo>
                    <a:pt x="9601200" y="914400"/>
                  </a:lnTo>
                  <a:lnTo>
                    <a:pt x="9692640" y="914400"/>
                  </a:lnTo>
                  <a:lnTo>
                    <a:pt x="9784080" y="914400"/>
                  </a:lnTo>
                  <a:lnTo>
                    <a:pt x="9875520" y="914400"/>
                  </a:lnTo>
                  <a:lnTo>
                    <a:pt x="9966960" y="914400"/>
                  </a:lnTo>
                  <a:lnTo>
                    <a:pt x="10058400" y="914400"/>
                  </a:lnTo>
                  <a:lnTo>
                    <a:pt x="10149840" y="914400"/>
                  </a:lnTo>
                  <a:lnTo>
                    <a:pt x="10241280" y="914400"/>
                  </a:lnTo>
                  <a:lnTo>
                    <a:pt x="10332720" y="914400"/>
                  </a:lnTo>
                </a:path>
              </a:pathLst>
            </a:custGeom>
            <a:noFill/>
            <a:ln w="31750">
              <a:solidFill>
                <a:srgbClr val="9AA0A6"/>
              </a:solidFill>
            </a:ln>
          </p:spPr>
          <p:txBody>
            <a:bodyPr rtlCol="0" anchor="ctr"/>
            <a:lstStyle/>
            <a:p>
              <a:pPr algn="ctr"/>
              <a:endParaRPr/>
            </a:p>
          </p:txBody>
        </p:sp>
        <p:sp>
          <p:nvSpPr>
            <p:cNvPr id="8" name="TextBox 7"/>
            <p:cNvSpPr txBox="1"/>
            <p:nvPr/>
          </p:nvSpPr>
          <p:spPr>
            <a:xfrm>
              <a:off x="6035040" y="4480560"/>
              <a:ext cx="1463040" cy="365760"/>
            </a:xfrm>
            <a:prstGeom prst="rect">
              <a:avLst/>
            </a:prstGeom>
            <a:noFill/>
          </p:spPr>
          <p:txBody>
            <a:bodyPr wrap="square" lIns="0" tIns="0" rIns="0" bIns="0" anchor="ctr">
              <a:noAutofit/>
            </a:bodyPr>
            <a:lstStyle/>
            <a:p>
              <a:pPr algn="ctr">
                <a:spcBef>
                  <a:spcPts val="0"/>
                </a:spcBef>
                <a:spcAft>
                  <a:spcPts val="0"/>
                </a:spcAft>
              </a:pPr>
              <a:r>
                <a:rPr lang="en-GB" sz="1400" b="1" i="0">
                  <a:solidFill>
                    <a:srgbClr val="A9B0B8"/>
                  </a:solidFill>
                  <a:latin typeface="Arial"/>
                </a:rPr>
                <a:t>Hill</a:t>
              </a:r>
            </a:p>
          </p:txBody>
        </p:sp>
        <p:sp>
          <p:nvSpPr>
            <p:cNvPr id="9" name="Freeform 8"/>
            <p:cNvSpPr/>
            <p:nvPr/>
          </p:nvSpPr>
          <p:spPr>
            <a:xfrm>
              <a:off x="1005840" y="2788920"/>
              <a:ext cx="9326880" cy="292608"/>
            </a:xfrm>
            <a:custGeom>
              <a:avLst/>
              <a:gdLst/>
              <a:ahLst/>
              <a:cxnLst/>
              <a:rect l="l" t="t" r="r" b="b"/>
              <a:pathLst>
                <a:path w="9326880" h="292608">
                  <a:moveTo>
                    <a:pt x="0" y="0"/>
                  </a:moveTo>
                  <a:lnTo>
                    <a:pt x="91440" y="0"/>
                  </a:lnTo>
                  <a:lnTo>
                    <a:pt x="182880" y="0"/>
                  </a:lnTo>
                  <a:lnTo>
                    <a:pt x="274320" y="0"/>
                  </a:lnTo>
                  <a:lnTo>
                    <a:pt x="365760" y="0"/>
                  </a:lnTo>
                  <a:lnTo>
                    <a:pt x="457200" y="0"/>
                  </a:lnTo>
                  <a:lnTo>
                    <a:pt x="548640" y="0"/>
                  </a:lnTo>
                  <a:lnTo>
                    <a:pt x="640080" y="0"/>
                  </a:lnTo>
                  <a:lnTo>
                    <a:pt x="731520" y="0"/>
                  </a:lnTo>
                  <a:lnTo>
                    <a:pt x="822960" y="0"/>
                  </a:lnTo>
                  <a:lnTo>
                    <a:pt x="914400" y="0"/>
                  </a:lnTo>
                  <a:lnTo>
                    <a:pt x="1005840" y="0"/>
                  </a:lnTo>
                  <a:lnTo>
                    <a:pt x="1097280" y="0"/>
                  </a:lnTo>
                  <a:lnTo>
                    <a:pt x="1188720" y="0"/>
                  </a:lnTo>
                  <a:lnTo>
                    <a:pt x="1280160" y="0"/>
                  </a:lnTo>
                  <a:lnTo>
                    <a:pt x="1371600" y="0"/>
                  </a:lnTo>
                  <a:lnTo>
                    <a:pt x="1463040" y="0"/>
                  </a:lnTo>
                  <a:lnTo>
                    <a:pt x="1554480" y="0"/>
                  </a:lnTo>
                  <a:lnTo>
                    <a:pt x="1645920" y="0"/>
                  </a:lnTo>
                  <a:lnTo>
                    <a:pt x="1737360" y="0"/>
                  </a:lnTo>
                  <a:lnTo>
                    <a:pt x="1828800" y="0"/>
                  </a:lnTo>
                  <a:lnTo>
                    <a:pt x="1920240" y="0"/>
                  </a:lnTo>
                  <a:lnTo>
                    <a:pt x="2011680" y="0"/>
                  </a:lnTo>
                  <a:lnTo>
                    <a:pt x="2103120" y="0"/>
                  </a:lnTo>
                  <a:lnTo>
                    <a:pt x="2194560" y="0"/>
                  </a:lnTo>
                  <a:lnTo>
                    <a:pt x="2286000" y="0"/>
                  </a:lnTo>
                  <a:lnTo>
                    <a:pt x="2377440" y="0"/>
                  </a:lnTo>
                  <a:lnTo>
                    <a:pt x="2468880" y="0"/>
                  </a:lnTo>
                  <a:lnTo>
                    <a:pt x="2560320" y="0"/>
                  </a:lnTo>
                  <a:lnTo>
                    <a:pt x="2651760" y="0"/>
                  </a:lnTo>
                  <a:lnTo>
                    <a:pt x="2743200" y="0"/>
                  </a:lnTo>
                  <a:lnTo>
                    <a:pt x="2834640" y="0"/>
                  </a:lnTo>
                  <a:lnTo>
                    <a:pt x="2926080" y="0"/>
                  </a:lnTo>
                  <a:lnTo>
                    <a:pt x="3017520" y="0"/>
                  </a:lnTo>
                  <a:lnTo>
                    <a:pt x="3108960" y="0"/>
                  </a:lnTo>
                  <a:lnTo>
                    <a:pt x="3200400" y="0"/>
                  </a:lnTo>
                  <a:lnTo>
                    <a:pt x="3291840" y="0"/>
                  </a:lnTo>
                  <a:lnTo>
                    <a:pt x="3383280" y="0"/>
                  </a:lnTo>
                  <a:lnTo>
                    <a:pt x="3474720" y="0"/>
                  </a:lnTo>
                  <a:lnTo>
                    <a:pt x="3566160" y="0"/>
                  </a:lnTo>
                  <a:lnTo>
                    <a:pt x="3657600" y="0"/>
                  </a:lnTo>
                  <a:lnTo>
                    <a:pt x="3749040" y="0"/>
                  </a:lnTo>
                  <a:lnTo>
                    <a:pt x="3840480" y="0"/>
                  </a:lnTo>
                  <a:lnTo>
                    <a:pt x="3931920" y="0"/>
                  </a:lnTo>
                  <a:lnTo>
                    <a:pt x="4023360" y="1801"/>
                  </a:lnTo>
                  <a:lnTo>
                    <a:pt x="4114800" y="7161"/>
                  </a:lnTo>
                  <a:lnTo>
                    <a:pt x="4206240" y="15946"/>
                  </a:lnTo>
                  <a:lnTo>
                    <a:pt x="4297680" y="27942"/>
                  </a:lnTo>
                  <a:lnTo>
                    <a:pt x="4389120" y="42851"/>
                  </a:lnTo>
                  <a:lnTo>
                    <a:pt x="4480560" y="60309"/>
                  </a:lnTo>
                  <a:lnTo>
                    <a:pt x="4572000" y="79883"/>
                  </a:lnTo>
                  <a:lnTo>
                    <a:pt x="4663440" y="101094"/>
                  </a:lnTo>
                  <a:lnTo>
                    <a:pt x="4754880" y="123417"/>
                  </a:lnTo>
                  <a:lnTo>
                    <a:pt x="4846320" y="146304"/>
                  </a:lnTo>
                  <a:lnTo>
                    <a:pt x="4937760" y="169191"/>
                  </a:lnTo>
                  <a:lnTo>
                    <a:pt x="5029200" y="191514"/>
                  </a:lnTo>
                  <a:lnTo>
                    <a:pt x="5120640" y="212725"/>
                  </a:lnTo>
                  <a:lnTo>
                    <a:pt x="5212080" y="232299"/>
                  </a:lnTo>
                  <a:lnTo>
                    <a:pt x="5303520" y="249757"/>
                  </a:lnTo>
                  <a:lnTo>
                    <a:pt x="5394960" y="264666"/>
                  </a:lnTo>
                  <a:lnTo>
                    <a:pt x="5486400" y="276662"/>
                  </a:lnTo>
                  <a:lnTo>
                    <a:pt x="5577840" y="285447"/>
                  </a:lnTo>
                  <a:lnTo>
                    <a:pt x="5669280" y="290807"/>
                  </a:lnTo>
                  <a:lnTo>
                    <a:pt x="5760720" y="292608"/>
                  </a:lnTo>
                  <a:lnTo>
                    <a:pt x="5852160" y="290807"/>
                  </a:lnTo>
                  <a:lnTo>
                    <a:pt x="5943600" y="285447"/>
                  </a:lnTo>
                  <a:lnTo>
                    <a:pt x="6035040" y="276662"/>
                  </a:lnTo>
                  <a:lnTo>
                    <a:pt x="6126480" y="264666"/>
                  </a:lnTo>
                  <a:lnTo>
                    <a:pt x="6217920" y="249757"/>
                  </a:lnTo>
                  <a:lnTo>
                    <a:pt x="6309360" y="232299"/>
                  </a:lnTo>
                  <a:lnTo>
                    <a:pt x="6400800" y="212725"/>
                  </a:lnTo>
                  <a:lnTo>
                    <a:pt x="6492240" y="191514"/>
                  </a:lnTo>
                  <a:lnTo>
                    <a:pt x="6583680" y="169191"/>
                  </a:lnTo>
                  <a:lnTo>
                    <a:pt x="6675120" y="146304"/>
                  </a:lnTo>
                  <a:lnTo>
                    <a:pt x="6766560" y="123417"/>
                  </a:lnTo>
                  <a:lnTo>
                    <a:pt x="6858000" y="101094"/>
                  </a:lnTo>
                  <a:lnTo>
                    <a:pt x="6949440" y="79883"/>
                  </a:lnTo>
                  <a:lnTo>
                    <a:pt x="7040880" y="60309"/>
                  </a:lnTo>
                  <a:lnTo>
                    <a:pt x="7132320" y="42851"/>
                  </a:lnTo>
                  <a:lnTo>
                    <a:pt x="7223760" y="27942"/>
                  </a:lnTo>
                  <a:lnTo>
                    <a:pt x="7315200" y="15946"/>
                  </a:lnTo>
                  <a:lnTo>
                    <a:pt x="7406640" y="7161"/>
                  </a:lnTo>
                  <a:lnTo>
                    <a:pt x="7498080" y="1801"/>
                  </a:lnTo>
                  <a:lnTo>
                    <a:pt x="7589520" y="0"/>
                  </a:lnTo>
                  <a:lnTo>
                    <a:pt x="7680960" y="0"/>
                  </a:lnTo>
                  <a:lnTo>
                    <a:pt x="7772400" y="0"/>
                  </a:lnTo>
                  <a:lnTo>
                    <a:pt x="7863840" y="0"/>
                  </a:lnTo>
                  <a:lnTo>
                    <a:pt x="7955280" y="0"/>
                  </a:lnTo>
                  <a:lnTo>
                    <a:pt x="8046720" y="0"/>
                  </a:lnTo>
                  <a:lnTo>
                    <a:pt x="8138160" y="0"/>
                  </a:lnTo>
                  <a:lnTo>
                    <a:pt x="8229600" y="0"/>
                  </a:lnTo>
                  <a:lnTo>
                    <a:pt x="8321040" y="0"/>
                  </a:lnTo>
                  <a:lnTo>
                    <a:pt x="8412480" y="0"/>
                  </a:lnTo>
                  <a:lnTo>
                    <a:pt x="8503920" y="0"/>
                  </a:lnTo>
                  <a:lnTo>
                    <a:pt x="8595360" y="0"/>
                  </a:lnTo>
                  <a:lnTo>
                    <a:pt x="8686800" y="0"/>
                  </a:lnTo>
                  <a:lnTo>
                    <a:pt x="8778240" y="0"/>
                  </a:lnTo>
                  <a:lnTo>
                    <a:pt x="8869680" y="0"/>
                  </a:lnTo>
                  <a:lnTo>
                    <a:pt x="8961120" y="0"/>
                  </a:lnTo>
                  <a:lnTo>
                    <a:pt x="9052560" y="0"/>
                  </a:lnTo>
                  <a:lnTo>
                    <a:pt x="9144000" y="0"/>
                  </a:lnTo>
                  <a:lnTo>
                    <a:pt x="9235440" y="0"/>
                  </a:lnTo>
                  <a:lnTo>
                    <a:pt x="9326880" y="0"/>
                  </a:lnTo>
                </a:path>
              </a:pathLst>
            </a:custGeom>
            <a:noFill/>
            <a:ln w="50800">
              <a:solidFill>
                <a:srgbClr val="E8E8E8"/>
              </a:solidFill>
            </a:ln>
          </p:spPr>
          <p:txBody>
            <a:bodyPr rtlCol="0" anchor="ctr"/>
            <a:lstStyle/>
            <a:p>
              <a:pPr algn="ctr"/>
              <a:endParaRPr/>
            </a:p>
          </p:txBody>
        </p:sp>
        <p:sp>
          <p:nvSpPr>
            <p:cNvPr id="10" name="Freeform 9"/>
            <p:cNvSpPr/>
            <p:nvPr/>
          </p:nvSpPr>
          <p:spPr>
            <a:xfrm>
              <a:off x="1005840" y="2487168"/>
              <a:ext cx="9326880" cy="201168"/>
            </a:xfrm>
            <a:custGeom>
              <a:avLst/>
              <a:gdLst/>
              <a:ahLst/>
              <a:cxnLst/>
              <a:rect l="l" t="t" r="r" b="b"/>
              <a:pathLst>
                <a:path w="9326880" h="201168">
                  <a:moveTo>
                    <a:pt x="0" y="0"/>
                  </a:moveTo>
                  <a:lnTo>
                    <a:pt x="91440" y="0"/>
                  </a:lnTo>
                  <a:lnTo>
                    <a:pt x="182880" y="0"/>
                  </a:lnTo>
                  <a:lnTo>
                    <a:pt x="274320" y="0"/>
                  </a:lnTo>
                  <a:lnTo>
                    <a:pt x="365760" y="0"/>
                  </a:lnTo>
                  <a:lnTo>
                    <a:pt x="457200" y="0"/>
                  </a:lnTo>
                  <a:lnTo>
                    <a:pt x="548640" y="0"/>
                  </a:lnTo>
                  <a:lnTo>
                    <a:pt x="640080" y="0"/>
                  </a:lnTo>
                  <a:lnTo>
                    <a:pt x="731520" y="0"/>
                  </a:lnTo>
                  <a:lnTo>
                    <a:pt x="822960" y="0"/>
                  </a:lnTo>
                  <a:lnTo>
                    <a:pt x="914400" y="0"/>
                  </a:lnTo>
                  <a:lnTo>
                    <a:pt x="1005840" y="0"/>
                  </a:lnTo>
                  <a:lnTo>
                    <a:pt x="1097280" y="0"/>
                  </a:lnTo>
                  <a:lnTo>
                    <a:pt x="1188720" y="0"/>
                  </a:lnTo>
                  <a:lnTo>
                    <a:pt x="1280160" y="0"/>
                  </a:lnTo>
                  <a:lnTo>
                    <a:pt x="1371600" y="0"/>
                  </a:lnTo>
                  <a:lnTo>
                    <a:pt x="1463040" y="0"/>
                  </a:lnTo>
                  <a:lnTo>
                    <a:pt x="1554480" y="0"/>
                  </a:lnTo>
                  <a:lnTo>
                    <a:pt x="1645920" y="0"/>
                  </a:lnTo>
                  <a:lnTo>
                    <a:pt x="1737360" y="0"/>
                  </a:lnTo>
                  <a:lnTo>
                    <a:pt x="1828800" y="0"/>
                  </a:lnTo>
                  <a:lnTo>
                    <a:pt x="1920240" y="0"/>
                  </a:lnTo>
                  <a:lnTo>
                    <a:pt x="2011680" y="0"/>
                  </a:lnTo>
                  <a:lnTo>
                    <a:pt x="2103120" y="0"/>
                  </a:lnTo>
                  <a:lnTo>
                    <a:pt x="2194560" y="0"/>
                  </a:lnTo>
                  <a:lnTo>
                    <a:pt x="2286000" y="0"/>
                  </a:lnTo>
                  <a:lnTo>
                    <a:pt x="2377440" y="0"/>
                  </a:lnTo>
                  <a:lnTo>
                    <a:pt x="2468880" y="0"/>
                  </a:lnTo>
                  <a:lnTo>
                    <a:pt x="2560320" y="0"/>
                  </a:lnTo>
                  <a:lnTo>
                    <a:pt x="2651760" y="0"/>
                  </a:lnTo>
                  <a:lnTo>
                    <a:pt x="2743200" y="0"/>
                  </a:lnTo>
                  <a:lnTo>
                    <a:pt x="2834640" y="0"/>
                  </a:lnTo>
                  <a:lnTo>
                    <a:pt x="2926080" y="0"/>
                  </a:lnTo>
                  <a:lnTo>
                    <a:pt x="3017520" y="0"/>
                  </a:lnTo>
                  <a:lnTo>
                    <a:pt x="3108960" y="0"/>
                  </a:lnTo>
                  <a:lnTo>
                    <a:pt x="3200400" y="0"/>
                  </a:lnTo>
                  <a:lnTo>
                    <a:pt x="3291840" y="0"/>
                  </a:lnTo>
                  <a:lnTo>
                    <a:pt x="3383280" y="0"/>
                  </a:lnTo>
                  <a:lnTo>
                    <a:pt x="3474720" y="0"/>
                  </a:lnTo>
                  <a:lnTo>
                    <a:pt x="3566160" y="0"/>
                  </a:lnTo>
                  <a:lnTo>
                    <a:pt x="3657600" y="0"/>
                  </a:lnTo>
                  <a:lnTo>
                    <a:pt x="3749040" y="0"/>
                  </a:lnTo>
                  <a:lnTo>
                    <a:pt x="3840480" y="0"/>
                  </a:lnTo>
                  <a:lnTo>
                    <a:pt x="3931920" y="0"/>
                  </a:lnTo>
                  <a:lnTo>
                    <a:pt x="4023360" y="1238"/>
                  </a:lnTo>
                  <a:lnTo>
                    <a:pt x="4114800" y="4923"/>
                  </a:lnTo>
                  <a:lnTo>
                    <a:pt x="4206240" y="10963"/>
                  </a:lnTo>
                  <a:lnTo>
                    <a:pt x="4297680" y="19210"/>
                  </a:lnTo>
                  <a:lnTo>
                    <a:pt x="4389120" y="29460"/>
                  </a:lnTo>
                  <a:lnTo>
                    <a:pt x="4480560" y="41462"/>
                  </a:lnTo>
                  <a:lnTo>
                    <a:pt x="4572000" y="54920"/>
                  </a:lnTo>
                  <a:lnTo>
                    <a:pt x="4663440" y="69502"/>
                  </a:lnTo>
                  <a:lnTo>
                    <a:pt x="4754880" y="84849"/>
                  </a:lnTo>
                  <a:lnTo>
                    <a:pt x="4846320" y="100584"/>
                  </a:lnTo>
                  <a:lnTo>
                    <a:pt x="4937760" y="116319"/>
                  </a:lnTo>
                  <a:lnTo>
                    <a:pt x="5029200" y="131666"/>
                  </a:lnTo>
                  <a:lnTo>
                    <a:pt x="5120640" y="146248"/>
                  </a:lnTo>
                  <a:lnTo>
                    <a:pt x="5212080" y="159706"/>
                  </a:lnTo>
                  <a:lnTo>
                    <a:pt x="5303520" y="171708"/>
                  </a:lnTo>
                  <a:lnTo>
                    <a:pt x="5394960" y="181958"/>
                  </a:lnTo>
                  <a:lnTo>
                    <a:pt x="5486400" y="190205"/>
                  </a:lnTo>
                  <a:lnTo>
                    <a:pt x="5577840" y="196245"/>
                  </a:lnTo>
                  <a:lnTo>
                    <a:pt x="5669280" y="199930"/>
                  </a:lnTo>
                  <a:lnTo>
                    <a:pt x="5760720" y="201168"/>
                  </a:lnTo>
                  <a:lnTo>
                    <a:pt x="5852160" y="199930"/>
                  </a:lnTo>
                  <a:lnTo>
                    <a:pt x="5943600" y="196245"/>
                  </a:lnTo>
                  <a:lnTo>
                    <a:pt x="6035040" y="190205"/>
                  </a:lnTo>
                  <a:lnTo>
                    <a:pt x="6126480" y="181958"/>
                  </a:lnTo>
                  <a:lnTo>
                    <a:pt x="6217920" y="171708"/>
                  </a:lnTo>
                  <a:lnTo>
                    <a:pt x="6309360" y="159706"/>
                  </a:lnTo>
                  <a:lnTo>
                    <a:pt x="6400800" y="146248"/>
                  </a:lnTo>
                  <a:lnTo>
                    <a:pt x="6492240" y="131666"/>
                  </a:lnTo>
                  <a:lnTo>
                    <a:pt x="6583680" y="116319"/>
                  </a:lnTo>
                  <a:lnTo>
                    <a:pt x="6675120" y="100584"/>
                  </a:lnTo>
                  <a:lnTo>
                    <a:pt x="6766560" y="84849"/>
                  </a:lnTo>
                  <a:lnTo>
                    <a:pt x="6858000" y="69502"/>
                  </a:lnTo>
                  <a:lnTo>
                    <a:pt x="6949440" y="54920"/>
                  </a:lnTo>
                  <a:lnTo>
                    <a:pt x="7040880" y="41462"/>
                  </a:lnTo>
                  <a:lnTo>
                    <a:pt x="7132320" y="29460"/>
                  </a:lnTo>
                  <a:lnTo>
                    <a:pt x="7223760" y="19210"/>
                  </a:lnTo>
                  <a:lnTo>
                    <a:pt x="7315200" y="10963"/>
                  </a:lnTo>
                  <a:lnTo>
                    <a:pt x="7406640" y="4923"/>
                  </a:lnTo>
                  <a:lnTo>
                    <a:pt x="7498080" y="1238"/>
                  </a:lnTo>
                  <a:lnTo>
                    <a:pt x="7589520" y="0"/>
                  </a:lnTo>
                  <a:lnTo>
                    <a:pt x="7680960" y="0"/>
                  </a:lnTo>
                  <a:lnTo>
                    <a:pt x="7772400" y="0"/>
                  </a:lnTo>
                  <a:lnTo>
                    <a:pt x="7863840" y="0"/>
                  </a:lnTo>
                  <a:lnTo>
                    <a:pt x="7955280" y="0"/>
                  </a:lnTo>
                  <a:lnTo>
                    <a:pt x="8046720" y="0"/>
                  </a:lnTo>
                  <a:lnTo>
                    <a:pt x="8138160" y="0"/>
                  </a:lnTo>
                  <a:lnTo>
                    <a:pt x="8229600" y="0"/>
                  </a:lnTo>
                  <a:lnTo>
                    <a:pt x="8321040" y="0"/>
                  </a:lnTo>
                  <a:lnTo>
                    <a:pt x="8412480" y="0"/>
                  </a:lnTo>
                  <a:lnTo>
                    <a:pt x="8503920" y="0"/>
                  </a:lnTo>
                  <a:lnTo>
                    <a:pt x="8595360" y="0"/>
                  </a:lnTo>
                  <a:lnTo>
                    <a:pt x="8686800" y="0"/>
                  </a:lnTo>
                  <a:lnTo>
                    <a:pt x="8778240" y="0"/>
                  </a:lnTo>
                  <a:lnTo>
                    <a:pt x="8869680" y="0"/>
                  </a:lnTo>
                  <a:lnTo>
                    <a:pt x="8961120" y="0"/>
                  </a:lnTo>
                  <a:lnTo>
                    <a:pt x="9052560" y="0"/>
                  </a:lnTo>
                  <a:lnTo>
                    <a:pt x="9144000" y="0"/>
                  </a:lnTo>
                  <a:lnTo>
                    <a:pt x="9235440" y="0"/>
                  </a:lnTo>
                  <a:lnTo>
                    <a:pt x="9326880" y="0"/>
                  </a:lnTo>
                </a:path>
              </a:pathLst>
            </a:custGeom>
            <a:noFill/>
            <a:ln w="50800">
              <a:solidFill>
                <a:srgbClr val="F28C28"/>
              </a:solidFill>
            </a:ln>
          </p:spPr>
          <p:txBody>
            <a:bodyPr rtlCol="0" anchor="ctr"/>
            <a:lstStyle/>
            <a:p>
              <a:pPr algn="ctr"/>
              <a:endParaRPr/>
            </a:p>
          </p:txBody>
        </p:sp>
        <p:sp>
          <p:nvSpPr>
            <p:cNvPr id="11" name="TextBox 10"/>
            <p:cNvSpPr txBox="1"/>
            <p:nvPr/>
          </p:nvSpPr>
          <p:spPr>
            <a:xfrm>
              <a:off x="10424160" y="2286000"/>
              <a:ext cx="1188720" cy="365760"/>
            </a:xfrm>
            <a:prstGeom prst="rect">
              <a:avLst/>
            </a:prstGeom>
            <a:noFill/>
          </p:spPr>
          <p:txBody>
            <a:bodyPr wrap="square" lIns="0" tIns="0" rIns="0" bIns="0" anchor="ctr">
              <a:noAutofit/>
            </a:bodyPr>
            <a:lstStyle/>
            <a:p>
              <a:pPr algn="l">
                <a:spcBef>
                  <a:spcPts val="0"/>
                </a:spcBef>
                <a:spcAft>
                  <a:spcPts val="0"/>
                </a:spcAft>
              </a:pPr>
              <a:r>
                <a:rPr lang="en-GB" sz="1400" b="1" i="0">
                  <a:solidFill>
                    <a:srgbClr val="F28C28"/>
                  </a:solidFill>
                  <a:latin typeface="Arial"/>
                </a:rPr>
                <a:t>Advanced</a:t>
              </a:r>
            </a:p>
          </p:txBody>
        </p:sp>
        <p:sp>
          <p:nvSpPr>
            <p:cNvPr id="12" name="TextBox 11"/>
            <p:cNvSpPr txBox="1"/>
            <p:nvPr/>
          </p:nvSpPr>
          <p:spPr>
            <a:xfrm>
              <a:off x="10424160" y="2743200"/>
              <a:ext cx="1188720" cy="365760"/>
            </a:xfrm>
            <a:prstGeom prst="rect">
              <a:avLst/>
            </a:prstGeom>
            <a:noFill/>
          </p:spPr>
          <p:txBody>
            <a:bodyPr wrap="square" lIns="0" tIns="0" rIns="0" bIns="0" anchor="ctr">
              <a:noAutofit/>
            </a:bodyPr>
            <a:lstStyle/>
            <a:p>
              <a:pPr algn="l">
                <a:spcBef>
                  <a:spcPts val="0"/>
                </a:spcBef>
                <a:spcAft>
                  <a:spcPts val="0"/>
                </a:spcAft>
              </a:pPr>
              <a:r>
                <a:rPr lang="en-GB" sz="1400" b="1" i="0">
                  <a:solidFill>
                    <a:srgbClr val="F2F2F2"/>
                  </a:solidFill>
                  <a:latin typeface="Arial"/>
                </a:rPr>
                <a:t>Simple</a:t>
              </a:r>
            </a:p>
          </p:txBody>
        </p:sp>
        <p:cxnSp>
          <p:nvCxnSpPr>
            <p:cNvPr id="13" name="Connector 12"/>
            <p:cNvCxnSpPr/>
            <p:nvPr/>
          </p:nvCxnSpPr>
          <p:spPr>
            <a:xfrm>
              <a:off x="4206240" y="1481328"/>
              <a:ext cx="0" cy="2953512"/>
            </a:xfrm>
            <a:prstGeom prst="line">
              <a:avLst/>
            </a:prstGeom>
            <a:ln w="28575">
              <a:solidFill>
                <a:srgbClr val="F2C14E"/>
              </a:solidFill>
              <a:prstDash val="dash"/>
            </a:ln>
          </p:spPr>
        </p:cxnSp>
        <p:sp>
          <p:nvSpPr>
            <p:cNvPr id="14" name="TextBox 13"/>
            <p:cNvSpPr txBox="1"/>
            <p:nvPr/>
          </p:nvSpPr>
          <p:spPr>
            <a:xfrm>
              <a:off x="4315968" y="1417320"/>
              <a:ext cx="3657600" cy="365760"/>
            </a:xfrm>
            <a:prstGeom prst="rect">
              <a:avLst/>
            </a:prstGeom>
            <a:noFill/>
          </p:spPr>
          <p:txBody>
            <a:bodyPr wrap="square" lIns="0" tIns="0" rIns="0" bIns="0" anchor="ctr">
              <a:noAutofit/>
            </a:bodyPr>
            <a:lstStyle/>
            <a:p>
              <a:pPr algn="l">
                <a:spcBef>
                  <a:spcPts val="0"/>
                </a:spcBef>
                <a:spcAft>
                  <a:spcPts val="0"/>
                </a:spcAft>
              </a:pPr>
              <a:r>
                <a:rPr lang="en-GB" sz="1400" b="1" i="0">
                  <a:solidFill>
                    <a:srgbClr val="F2C14E"/>
                  </a:solidFill>
                  <a:latin typeface="Arial"/>
                </a:rPr>
                <a:t>Prepare before the climb</a:t>
              </a:r>
            </a:p>
          </p:txBody>
        </p:sp>
        <p:cxnSp>
          <p:nvCxnSpPr>
            <p:cNvPr id="15" name="Connector 14"/>
            <p:cNvCxnSpPr/>
            <p:nvPr/>
          </p:nvCxnSpPr>
          <p:spPr>
            <a:xfrm flipV="1">
              <a:off x="868680" y="1874520"/>
              <a:ext cx="0" cy="2560320"/>
            </a:xfrm>
            <a:prstGeom prst="line">
              <a:avLst/>
            </a:prstGeom>
            <a:ln w="28575">
              <a:solidFill>
                <a:srgbClr val="9AA0A6"/>
              </a:solidFill>
              <a:tailEnd type="triangle" w="med" len="med"/>
            </a:ln>
          </p:spPr>
        </p:cxnSp>
        <p:sp>
          <p:nvSpPr>
            <p:cNvPr id="16" name="TextBox 15"/>
            <p:cNvSpPr txBox="1"/>
            <p:nvPr/>
          </p:nvSpPr>
          <p:spPr>
            <a:xfrm>
              <a:off x="960120" y="1417320"/>
              <a:ext cx="1463040" cy="365760"/>
            </a:xfrm>
            <a:prstGeom prst="rect">
              <a:avLst/>
            </a:prstGeom>
            <a:noFill/>
          </p:spPr>
          <p:txBody>
            <a:bodyPr wrap="square" lIns="0" tIns="0" rIns="0" bIns="0" anchor="ctr">
              <a:noAutofit/>
            </a:bodyPr>
            <a:lstStyle/>
            <a:p>
              <a:pPr algn="l">
                <a:spcBef>
                  <a:spcPts val="0"/>
                </a:spcBef>
                <a:spcAft>
                  <a:spcPts val="0"/>
                </a:spcAft>
              </a:pPr>
              <a:r>
                <a:rPr lang="en-GB" sz="1400" b="1" i="0">
                  <a:solidFill>
                    <a:srgbClr val="A9B0B8"/>
                  </a:solidFill>
                  <a:latin typeface="Arial"/>
                </a:rPr>
                <a:t>Speed</a:t>
              </a:r>
            </a:p>
          </p:txBody>
        </p:sp>
      </p:grpSp>
      <p:sp>
        <p:nvSpPr>
          <p:cNvPr id="17" name="TextBox 16"/>
          <p:cNvSpPr txBox="1"/>
          <p:nvPr/>
        </p:nvSpPr>
        <p:spPr>
          <a:xfrm>
            <a:off x="548640" y="5138928"/>
            <a:ext cx="3657600" cy="329184"/>
          </a:xfrm>
          <a:prstGeom prst="rect">
            <a:avLst/>
          </a:prstGeom>
          <a:noFill/>
        </p:spPr>
        <p:txBody>
          <a:bodyPr wrap="square" lIns="0" tIns="0" rIns="0" bIns="0" anchor="ctr">
            <a:noAutofit/>
          </a:bodyPr>
          <a:lstStyle/>
          <a:p>
            <a:pPr algn="l">
              <a:spcBef>
                <a:spcPts val="0"/>
              </a:spcBef>
              <a:spcAft>
                <a:spcPts val="0"/>
              </a:spcAft>
            </a:pPr>
            <a:r>
              <a:rPr lang="en-GB" sz="1400" b="0" i="1">
                <a:solidFill>
                  <a:srgbClr val="A9B0B8"/>
                </a:solidFill>
                <a:latin typeface="Arial"/>
              </a:rPr>
              <a:t>Shape only. Not measured.</a:t>
            </a:r>
          </a:p>
        </p:txBody>
      </p:sp>
      <p:sp>
        <p:nvSpPr>
          <p:cNvPr id="18" name="Inline chip"/>
          <p:cNvSpPr/>
          <p:nvPr/>
        </p:nvSpPr>
        <p:spPr>
          <a:xfrm>
            <a:off x="8423872" y="5138928"/>
            <a:ext cx="3216440" cy="329184"/>
          </a:xfrm>
          <a:prstGeom prst="roundRect">
            <a:avLst>
              <a:gd name="adj" fmla="val 50000"/>
            </a:avLst>
          </a:prstGeom>
          <a:noFill/>
          <a:ln w="25400">
            <a:solidFill>
              <a:srgbClr val="A9B0B8"/>
            </a:solidFill>
          </a:ln>
        </p:spPr>
        <p:txBody>
          <a:bodyPr wrap="none" lIns="73152" tIns="18288" rIns="73152" bIns="18288" rtlCol="0" anchor="ctr">
            <a:noAutofit/>
          </a:bodyPr>
          <a:lstStyle/>
          <a:p>
            <a:pPr algn="ctr">
              <a:spcBef>
                <a:spcPts val="0"/>
              </a:spcBef>
              <a:spcAft>
                <a:spcPts val="0"/>
              </a:spcAft>
            </a:pPr>
            <a:r>
              <a:rPr lang="en-GB" sz="1400" b="0" i="0">
                <a:solidFill>
                  <a:srgbClr val="F2F2F2"/>
                </a:solidFill>
                <a:latin typeface="Arial"/>
              </a:rPr>
              <a:t>How much better: undecided (OQ24)</a:t>
            </a:r>
          </a:p>
        </p:txBody>
      </p:sp>
      <p:sp>
        <p:nvSpPr>
          <p:cNvPr id="19"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Skilled drivers can prepare for hills and squeeze out a little more. Simple stays fine.</a:t>
            </a:r>
          </a:p>
        </p:txBody>
      </p:sp>
      <p:sp>
        <p:nvSpPr>
          <p:cNvPr id="20"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21"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15</a:t>
            </a:r>
          </a:p>
        </p:txBody>
      </p:sp>
    </p:spTree>
    <p:extLst>
      <p:ext uri="{BB962C8B-B14F-4D97-AF65-F5344CB8AC3E}">
        <p14:creationId xmlns:p14="http://schemas.microsoft.com/office/powerpoint/2010/main" val="25757232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6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nodeType="withEffect">
                                  <p:stCondLst>
                                    <p:cond delay="9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nodeType="withEffect">
                                  <p:stCondLst>
                                    <p:cond delay="12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Liveries: history first</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a locomotive silhouette and four example livery swatches" descr="A steam locomotive with four colour swatches labelled Historical, Historical, Corporate and Custom. Examples only."/>
          <p:cNvGrpSpPr/>
          <p:nvPr/>
        </p:nvGrpSpPr>
        <p:grpSpPr>
          <a:xfrm>
            <a:off x="548640" y="1371600"/>
            <a:ext cx="10506456" cy="3977640"/>
            <a:chOff x="548640" y="1371600"/>
            <a:chExt cx="10506456" cy="3977640"/>
          </a:xfrm>
        </p:grpSpPr>
        <p:sp>
          <p:nvSpPr>
            <p:cNvPr id="5" name="Rectangle 4"/>
            <p:cNvSpPr/>
            <p:nvPr/>
          </p:nvSpPr>
          <p:spPr>
            <a:xfrm>
              <a:off x="2534371" y="2932258"/>
              <a:ext cx="4762294" cy="303976"/>
            </a:xfrm>
            <a:prstGeom prst="rect">
              <a:avLst/>
            </a:prstGeom>
            <a:solidFill>
              <a:srgbClr val="3D434C"/>
            </a:solidFill>
            <a:ln w="12700">
              <a:solidFill>
                <a:srgbClr val="9AA0A6"/>
              </a:solidFill>
            </a:ln>
          </p:spPr>
          <p:txBody>
            <a:bodyPr rtlCol="0" anchor="ctr"/>
            <a:lstStyle/>
            <a:p>
              <a:pPr algn="ctr"/>
              <a:endParaRPr/>
            </a:p>
          </p:txBody>
        </p:sp>
        <p:sp>
          <p:nvSpPr>
            <p:cNvPr id="6" name="Rounded Rectangle 5"/>
            <p:cNvSpPr/>
            <p:nvPr/>
          </p:nvSpPr>
          <p:spPr>
            <a:xfrm>
              <a:off x="2939672" y="2020330"/>
              <a:ext cx="2938437" cy="962591"/>
            </a:xfrm>
            <a:prstGeom prst="roundRect">
              <a:avLst>
                <a:gd name="adj" fmla="val 31578"/>
              </a:avLst>
            </a:prstGeom>
            <a:solidFill>
              <a:srgbClr val="2E6B45"/>
            </a:solidFill>
            <a:ln w="12700">
              <a:solidFill>
                <a:srgbClr val="1B1D21"/>
              </a:solidFill>
            </a:ln>
          </p:spPr>
          <p:txBody>
            <a:bodyPr rtlCol="0" anchor="ctr"/>
            <a:lstStyle/>
            <a:p>
              <a:pPr algn="ctr"/>
              <a:endParaRPr/>
            </a:p>
          </p:txBody>
        </p:sp>
        <p:sp>
          <p:nvSpPr>
            <p:cNvPr id="7" name="Rectangle 6"/>
            <p:cNvSpPr/>
            <p:nvPr/>
          </p:nvSpPr>
          <p:spPr>
            <a:xfrm>
              <a:off x="2585034" y="2020330"/>
              <a:ext cx="455964" cy="962591"/>
            </a:xfrm>
            <a:prstGeom prst="rect">
              <a:avLst/>
            </a:prstGeom>
            <a:solidFill>
              <a:srgbClr val="3D434C"/>
            </a:solidFill>
            <a:ln w="12700">
              <a:solidFill>
                <a:srgbClr val="9AA0A6"/>
              </a:solidFill>
            </a:ln>
          </p:spPr>
          <p:txBody>
            <a:bodyPr rtlCol="0" anchor="ctr"/>
            <a:lstStyle/>
            <a:p>
              <a:pPr algn="ctr"/>
              <a:endParaRPr/>
            </a:p>
          </p:txBody>
        </p:sp>
        <p:sp>
          <p:nvSpPr>
            <p:cNvPr id="8" name="Rectangle 7"/>
            <p:cNvSpPr/>
            <p:nvPr/>
          </p:nvSpPr>
          <p:spPr>
            <a:xfrm>
              <a:off x="2686359" y="1615028"/>
              <a:ext cx="303976" cy="405302"/>
            </a:xfrm>
            <a:prstGeom prst="rect">
              <a:avLst/>
            </a:prstGeom>
            <a:solidFill>
              <a:srgbClr val="3D434C"/>
            </a:solidFill>
            <a:ln w="12700">
              <a:solidFill>
                <a:srgbClr val="9AA0A6"/>
              </a:solidFill>
            </a:ln>
          </p:spPr>
          <p:txBody>
            <a:bodyPr rtlCol="0" anchor="ctr"/>
            <a:lstStyle/>
            <a:p>
              <a:pPr algn="ctr"/>
              <a:endParaRPr/>
            </a:p>
          </p:txBody>
        </p:sp>
        <p:sp>
          <p:nvSpPr>
            <p:cNvPr id="9" name="Rectangle 8"/>
            <p:cNvSpPr/>
            <p:nvPr/>
          </p:nvSpPr>
          <p:spPr>
            <a:xfrm>
              <a:off x="2585034" y="1539034"/>
              <a:ext cx="506627" cy="151988"/>
            </a:xfrm>
            <a:prstGeom prst="rect">
              <a:avLst/>
            </a:prstGeom>
            <a:solidFill>
              <a:srgbClr val="3D434C"/>
            </a:solidFill>
            <a:ln w="12700">
              <a:solidFill>
                <a:srgbClr val="9AA0A6"/>
              </a:solidFill>
            </a:ln>
          </p:spPr>
          <p:txBody>
            <a:bodyPr rtlCol="0" anchor="ctr"/>
            <a:lstStyle/>
            <a:p>
              <a:pPr algn="ctr"/>
              <a:endParaRPr/>
            </a:p>
          </p:txBody>
        </p:sp>
        <p:sp>
          <p:nvSpPr>
            <p:cNvPr id="10" name="Rounded Rectangle 9"/>
            <p:cNvSpPr/>
            <p:nvPr/>
          </p:nvSpPr>
          <p:spPr>
            <a:xfrm>
              <a:off x="4256903" y="1767016"/>
              <a:ext cx="557290" cy="303976"/>
            </a:xfrm>
            <a:prstGeom prst="roundRect">
              <a:avLst>
                <a:gd name="adj" fmla="val 50000"/>
              </a:avLst>
            </a:prstGeom>
            <a:solidFill>
              <a:srgbClr val="2E6B45"/>
            </a:solidFill>
            <a:ln w="12700">
              <a:solidFill>
                <a:srgbClr val="1B1D21"/>
              </a:solidFill>
            </a:ln>
          </p:spPr>
          <p:txBody>
            <a:bodyPr rtlCol="0" anchor="ctr"/>
            <a:lstStyle/>
            <a:p>
              <a:pPr algn="ctr"/>
              <a:endParaRPr/>
            </a:p>
          </p:txBody>
        </p:sp>
        <p:sp>
          <p:nvSpPr>
            <p:cNvPr id="11" name="Rectangle 10"/>
            <p:cNvSpPr/>
            <p:nvPr/>
          </p:nvSpPr>
          <p:spPr>
            <a:xfrm>
              <a:off x="3040998" y="2476294"/>
              <a:ext cx="2735786" cy="202651"/>
            </a:xfrm>
            <a:prstGeom prst="rect">
              <a:avLst/>
            </a:prstGeom>
            <a:solidFill>
              <a:srgbClr val="F2C14E"/>
            </a:solidFill>
            <a:ln>
              <a:noFill/>
            </a:ln>
          </p:spPr>
          <p:txBody>
            <a:bodyPr rtlCol="0" anchor="ctr"/>
            <a:lstStyle/>
            <a:p>
              <a:pPr algn="ctr"/>
              <a:endParaRPr/>
            </a:p>
          </p:txBody>
        </p:sp>
        <p:sp>
          <p:nvSpPr>
            <p:cNvPr id="12" name="Rectangle 11"/>
            <p:cNvSpPr/>
            <p:nvPr/>
          </p:nvSpPr>
          <p:spPr>
            <a:xfrm>
              <a:off x="5675458" y="1564365"/>
              <a:ext cx="1570544" cy="1418556"/>
            </a:xfrm>
            <a:prstGeom prst="rect">
              <a:avLst/>
            </a:prstGeom>
            <a:solidFill>
              <a:srgbClr val="2E6B45"/>
            </a:solidFill>
            <a:ln w="12700">
              <a:solidFill>
                <a:srgbClr val="1B1D21"/>
              </a:solidFill>
            </a:ln>
          </p:spPr>
          <p:txBody>
            <a:bodyPr rtlCol="0" anchor="ctr"/>
            <a:lstStyle/>
            <a:p>
              <a:pPr algn="ctr"/>
              <a:endParaRPr/>
            </a:p>
          </p:txBody>
        </p:sp>
        <p:sp>
          <p:nvSpPr>
            <p:cNvPr id="13" name="Rectangle 12"/>
            <p:cNvSpPr/>
            <p:nvPr/>
          </p:nvSpPr>
          <p:spPr>
            <a:xfrm>
              <a:off x="5523470" y="1463040"/>
              <a:ext cx="1874520" cy="151988"/>
            </a:xfrm>
            <a:prstGeom prst="rect">
              <a:avLst/>
            </a:prstGeom>
            <a:solidFill>
              <a:srgbClr val="3D434C"/>
            </a:solidFill>
            <a:ln w="12700">
              <a:solidFill>
                <a:srgbClr val="9AA0A6"/>
              </a:solidFill>
            </a:ln>
          </p:spPr>
          <p:txBody>
            <a:bodyPr rtlCol="0" anchor="ctr"/>
            <a:lstStyle/>
            <a:p>
              <a:pPr algn="ctr"/>
              <a:endParaRPr/>
            </a:p>
          </p:txBody>
        </p:sp>
        <p:sp>
          <p:nvSpPr>
            <p:cNvPr id="14" name="Rectangle 13"/>
            <p:cNvSpPr/>
            <p:nvPr/>
          </p:nvSpPr>
          <p:spPr>
            <a:xfrm>
              <a:off x="6030097" y="1868342"/>
              <a:ext cx="658615" cy="557290"/>
            </a:xfrm>
            <a:prstGeom prst="rect">
              <a:avLst/>
            </a:prstGeom>
            <a:solidFill>
              <a:srgbClr val="1B1D21"/>
            </a:solidFill>
            <a:ln w="12700">
              <a:solidFill>
                <a:srgbClr val="9AA0A6"/>
              </a:solidFill>
            </a:ln>
          </p:spPr>
          <p:txBody>
            <a:bodyPr rtlCol="0" anchor="ctr"/>
            <a:lstStyle/>
            <a:p>
              <a:pPr algn="ctr"/>
              <a:endParaRPr/>
            </a:p>
          </p:txBody>
        </p:sp>
        <p:sp>
          <p:nvSpPr>
            <p:cNvPr id="15" name="Rectangle 14"/>
            <p:cNvSpPr/>
            <p:nvPr/>
          </p:nvSpPr>
          <p:spPr>
            <a:xfrm>
              <a:off x="3040998" y="2932258"/>
              <a:ext cx="709278" cy="303976"/>
            </a:xfrm>
            <a:prstGeom prst="rect">
              <a:avLst/>
            </a:prstGeom>
            <a:solidFill>
              <a:srgbClr val="3D434C"/>
            </a:solidFill>
            <a:ln w="12700">
              <a:solidFill>
                <a:srgbClr val="9AA0A6"/>
              </a:solidFill>
            </a:ln>
          </p:spPr>
          <p:txBody>
            <a:bodyPr rtlCol="0" anchor="ctr"/>
            <a:lstStyle/>
            <a:p>
              <a:pPr algn="ctr"/>
              <a:endParaRPr/>
            </a:p>
          </p:txBody>
        </p:sp>
        <p:sp>
          <p:nvSpPr>
            <p:cNvPr id="16" name="Oval 15"/>
            <p:cNvSpPr/>
            <p:nvPr/>
          </p:nvSpPr>
          <p:spPr>
            <a:xfrm>
              <a:off x="3471631" y="3008252"/>
              <a:ext cx="759941" cy="759941"/>
            </a:xfrm>
            <a:prstGeom prst="ellipse">
              <a:avLst/>
            </a:prstGeom>
            <a:solidFill>
              <a:srgbClr val="1B1D21"/>
            </a:solidFill>
            <a:ln w="25400">
              <a:solidFill>
                <a:srgbClr val="9AA0A6"/>
              </a:solidFill>
            </a:ln>
          </p:spPr>
          <p:txBody>
            <a:bodyPr rtlCol="0" anchor="ctr"/>
            <a:lstStyle/>
            <a:p>
              <a:pPr algn="ctr"/>
              <a:endParaRPr/>
            </a:p>
          </p:txBody>
        </p:sp>
        <p:sp>
          <p:nvSpPr>
            <p:cNvPr id="17" name="Oval 16"/>
            <p:cNvSpPr/>
            <p:nvPr/>
          </p:nvSpPr>
          <p:spPr>
            <a:xfrm>
              <a:off x="3783206" y="3319828"/>
              <a:ext cx="136789" cy="136789"/>
            </a:xfrm>
            <a:prstGeom prst="ellipse">
              <a:avLst/>
            </a:prstGeom>
            <a:solidFill>
              <a:srgbClr val="9AA0A6"/>
            </a:solidFill>
            <a:ln>
              <a:noFill/>
            </a:ln>
          </p:spPr>
          <p:txBody>
            <a:bodyPr rtlCol="0" anchor="ctr"/>
            <a:lstStyle/>
            <a:p>
              <a:pPr algn="ctr"/>
              <a:endParaRPr/>
            </a:p>
          </p:txBody>
        </p:sp>
        <p:sp>
          <p:nvSpPr>
            <p:cNvPr id="18" name="Oval 17"/>
            <p:cNvSpPr/>
            <p:nvPr/>
          </p:nvSpPr>
          <p:spPr>
            <a:xfrm>
              <a:off x="4282234" y="3008252"/>
              <a:ext cx="759941" cy="759941"/>
            </a:xfrm>
            <a:prstGeom prst="ellipse">
              <a:avLst/>
            </a:prstGeom>
            <a:solidFill>
              <a:srgbClr val="1B1D21"/>
            </a:solidFill>
            <a:ln w="25400">
              <a:solidFill>
                <a:srgbClr val="9AA0A6"/>
              </a:solidFill>
            </a:ln>
          </p:spPr>
          <p:txBody>
            <a:bodyPr rtlCol="0" anchor="ctr"/>
            <a:lstStyle/>
            <a:p>
              <a:pPr algn="ctr"/>
              <a:endParaRPr/>
            </a:p>
          </p:txBody>
        </p:sp>
        <p:sp>
          <p:nvSpPr>
            <p:cNvPr id="19" name="Oval 18"/>
            <p:cNvSpPr/>
            <p:nvPr/>
          </p:nvSpPr>
          <p:spPr>
            <a:xfrm>
              <a:off x="4593810" y="3319828"/>
              <a:ext cx="136789" cy="136789"/>
            </a:xfrm>
            <a:prstGeom prst="ellipse">
              <a:avLst/>
            </a:prstGeom>
            <a:solidFill>
              <a:srgbClr val="9AA0A6"/>
            </a:solidFill>
            <a:ln>
              <a:noFill/>
            </a:ln>
          </p:spPr>
          <p:txBody>
            <a:bodyPr rtlCol="0" anchor="ctr"/>
            <a:lstStyle/>
            <a:p>
              <a:pPr algn="ctr"/>
              <a:endParaRPr/>
            </a:p>
          </p:txBody>
        </p:sp>
        <p:sp>
          <p:nvSpPr>
            <p:cNvPr id="20" name="Oval 19"/>
            <p:cNvSpPr/>
            <p:nvPr/>
          </p:nvSpPr>
          <p:spPr>
            <a:xfrm>
              <a:off x="5092837" y="3008252"/>
              <a:ext cx="759941" cy="759941"/>
            </a:xfrm>
            <a:prstGeom prst="ellipse">
              <a:avLst/>
            </a:prstGeom>
            <a:solidFill>
              <a:srgbClr val="1B1D21"/>
            </a:solidFill>
            <a:ln w="25400">
              <a:solidFill>
                <a:srgbClr val="9AA0A6"/>
              </a:solidFill>
            </a:ln>
          </p:spPr>
          <p:txBody>
            <a:bodyPr rtlCol="0" anchor="ctr"/>
            <a:lstStyle/>
            <a:p>
              <a:pPr algn="ctr"/>
              <a:endParaRPr/>
            </a:p>
          </p:txBody>
        </p:sp>
        <p:sp>
          <p:nvSpPr>
            <p:cNvPr id="21" name="Oval 20"/>
            <p:cNvSpPr/>
            <p:nvPr/>
          </p:nvSpPr>
          <p:spPr>
            <a:xfrm>
              <a:off x="5404413" y="3319828"/>
              <a:ext cx="136789" cy="136789"/>
            </a:xfrm>
            <a:prstGeom prst="ellipse">
              <a:avLst/>
            </a:prstGeom>
            <a:solidFill>
              <a:srgbClr val="9AA0A6"/>
            </a:solidFill>
            <a:ln>
              <a:noFill/>
            </a:ln>
          </p:spPr>
          <p:txBody>
            <a:bodyPr rtlCol="0" anchor="ctr"/>
            <a:lstStyle/>
            <a:p>
              <a:pPr algn="ctr"/>
              <a:endParaRPr/>
            </a:p>
          </p:txBody>
        </p:sp>
        <p:cxnSp>
          <p:nvCxnSpPr>
            <p:cNvPr id="22" name="Connector 21"/>
            <p:cNvCxnSpPr/>
            <p:nvPr/>
          </p:nvCxnSpPr>
          <p:spPr>
            <a:xfrm>
              <a:off x="3851601" y="3388223"/>
              <a:ext cx="1621207" cy="0"/>
            </a:xfrm>
            <a:prstGeom prst="line">
              <a:avLst/>
            </a:prstGeom>
            <a:ln w="25400">
              <a:solidFill>
                <a:srgbClr val="9AA0A6"/>
              </a:solidFill>
            </a:ln>
          </p:spPr>
        </p:cxnSp>
        <p:sp>
          <p:nvSpPr>
            <p:cNvPr id="23" name="Oval 22"/>
            <p:cNvSpPr/>
            <p:nvPr/>
          </p:nvSpPr>
          <p:spPr>
            <a:xfrm>
              <a:off x="2813016" y="3312229"/>
              <a:ext cx="455964" cy="455964"/>
            </a:xfrm>
            <a:prstGeom prst="ellipse">
              <a:avLst/>
            </a:prstGeom>
            <a:solidFill>
              <a:srgbClr val="1B1D21"/>
            </a:solidFill>
            <a:ln w="25400">
              <a:solidFill>
                <a:srgbClr val="9AA0A6"/>
              </a:solidFill>
            </a:ln>
          </p:spPr>
          <p:txBody>
            <a:bodyPr rtlCol="0" anchor="ctr"/>
            <a:lstStyle/>
            <a:p>
              <a:pPr algn="ctr"/>
              <a:endParaRPr/>
            </a:p>
          </p:txBody>
        </p:sp>
        <p:sp>
          <p:nvSpPr>
            <p:cNvPr id="24" name="Oval 23"/>
            <p:cNvSpPr/>
            <p:nvPr/>
          </p:nvSpPr>
          <p:spPr>
            <a:xfrm>
              <a:off x="2999961" y="3499174"/>
              <a:ext cx="82074" cy="82074"/>
            </a:xfrm>
            <a:prstGeom prst="ellipse">
              <a:avLst/>
            </a:prstGeom>
            <a:solidFill>
              <a:srgbClr val="9AA0A6"/>
            </a:solidFill>
            <a:ln>
              <a:noFill/>
            </a:ln>
          </p:spPr>
          <p:txBody>
            <a:bodyPr rtlCol="0" anchor="ctr"/>
            <a:lstStyle/>
            <a:p>
              <a:pPr algn="ctr"/>
              <a:endParaRPr/>
            </a:p>
          </p:txBody>
        </p:sp>
        <p:sp>
          <p:nvSpPr>
            <p:cNvPr id="25" name="Rectangle 24"/>
            <p:cNvSpPr/>
            <p:nvPr/>
          </p:nvSpPr>
          <p:spPr>
            <a:xfrm>
              <a:off x="7296665" y="2932258"/>
              <a:ext cx="2482472" cy="303976"/>
            </a:xfrm>
            <a:prstGeom prst="rect">
              <a:avLst/>
            </a:prstGeom>
            <a:solidFill>
              <a:srgbClr val="3D434C"/>
            </a:solidFill>
            <a:ln w="12700">
              <a:solidFill>
                <a:srgbClr val="9AA0A6"/>
              </a:solidFill>
            </a:ln>
          </p:spPr>
          <p:txBody>
            <a:bodyPr rtlCol="0" anchor="ctr"/>
            <a:lstStyle/>
            <a:p>
              <a:pPr algn="ctr"/>
              <a:endParaRPr/>
            </a:p>
          </p:txBody>
        </p:sp>
        <p:sp>
          <p:nvSpPr>
            <p:cNvPr id="26" name="Rounded Rectangle 25"/>
            <p:cNvSpPr/>
            <p:nvPr/>
          </p:nvSpPr>
          <p:spPr>
            <a:xfrm>
              <a:off x="7397990" y="2172318"/>
              <a:ext cx="2330484" cy="810603"/>
            </a:xfrm>
            <a:prstGeom prst="roundRect">
              <a:avLst>
                <a:gd name="adj" fmla="val 12500"/>
              </a:avLst>
            </a:prstGeom>
            <a:solidFill>
              <a:srgbClr val="6C7480"/>
            </a:solidFill>
            <a:ln w="12700">
              <a:solidFill>
                <a:srgbClr val="1B1D21"/>
              </a:solidFill>
            </a:ln>
          </p:spPr>
          <p:txBody>
            <a:bodyPr rtlCol="0" anchor="ctr"/>
            <a:lstStyle/>
            <a:p>
              <a:pPr algn="ctr"/>
              <a:endParaRPr/>
            </a:p>
          </p:txBody>
        </p:sp>
        <p:sp>
          <p:nvSpPr>
            <p:cNvPr id="27" name="Rectangle 26"/>
            <p:cNvSpPr/>
            <p:nvPr/>
          </p:nvSpPr>
          <p:spPr>
            <a:xfrm>
              <a:off x="7499316" y="1868342"/>
              <a:ext cx="2127834" cy="354639"/>
            </a:xfrm>
            <a:prstGeom prst="rect">
              <a:avLst/>
            </a:prstGeom>
            <a:solidFill>
              <a:srgbClr val="1B1D21"/>
            </a:solidFill>
            <a:ln w="12700">
              <a:solidFill>
                <a:srgbClr val="9AA0A6"/>
              </a:solidFill>
            </a:ln>
          </p:spPr>
          <p:txBody>
            <a:bodyPr rtlCol="0" anchor="ctr"/>
            <a:lstStyle/>
            <a:p>
              <a:pPr algn="ctr"/>
              <a:endParaRPr/>
            </a:p>
          </p:txBody>
        </p:sp>
        <p:sp>
          <p:nvSpPr>
            <p:cNvPr id="28" name="Oval 27"/>
            <p:cNvSpPr/>
            <p:nvPr/>
          </p:nvSpPr>
          <p:spPr>
            <a:xfrm>
              <a:off x="7625972" y="3210903"/>
              <a:ext cx="557290" cy="557290"/>
            </a:xfrm>
            <a:prstGeom prst="ellipse">
              <a:avLst/>
            </a:prstGeom>
            <a:solidFill>
              <a:srgbClr val="1B1D21"/>
            </a:solidFill>
            <a:ln w="25400">
              <a:solidFill>
                <a:srgbClr val="9AA0A6"/>
              </a:solidFill>
            </a:ln>
          </p:spPr>
          <p:txBody>
            <a:bodyPr rtlCol="0" anchor="ctr"/>
            <a:lstStyle/>
            <a:p>
              <a:pPr algn="ctr"/>
              <a:endParaRPr/>
            </a:p>
          </p:txBody>
        </p:sp>
        <p:sp>
          <p:nvSpPr>
            <p:cNvPr id="29" name="Oval 28"/>
            <p:cNvSpPr/>
            <p:nvPr/>
          </p:nvSpPr>
          <p:spPr>
            <a:xfrm>
              <a:off x="7854461" y="3439392"/>
              <a:ext cx="100312" cy="100312"/>
            </a:xfrm>
            <a:prstGeom prst="ellipse">
              <a:avLst/>
            </a:prstGeom>
            <a:solidFill>
              <a:srgbClr val="9AA0A6"/>
            </a:solidFill>
            <a:ln>
              <a:noFill/>
            </a:ln>
          </p:spPr>
          <p:txBody>
            <a:bodyPr rtlCol="0" anchor="ctr"/>
            <a:lstStyle/>
            <a:p>
              <a:pPr algn="ctr"/>
              <a:endParaRPr/>
            </a:p>
          </p:txBody>
        </p:sp>
        <p:sp>
          <p:nvSpPr>
            <p:cNvPr id="30" name="Oval 29"/>
            <p:cNvSpPr/>
            <p:nvPr/>
          </p:nvSpPr>
          <p:spPr>
            <a:xfrm>
              <a:off x="8892540" y="3210903"/>
              <a:ext cx="557290" cy="557290"/>
            </a:xfrm>
            <a:prstGeom prst="ellipse">
              <a:avLst/>
            </a:prstGeom>
            <a:solidFill>
              <a:srgbClr val="1B1D21"/>
            </a:solidFill>
            <a:ln w="25400">
              <a:solidFill>
                <a:srgbClr val="9AA0A6"/>
              </a:solidFill>
            </a:ln>
          </p:spPr>
          <p:txBody>
            <a:bodyPr rtlCol="0" anchor="ctr"/>
            <a:lstStyle/>
            <a:p>
              <a:pPr algn="ctr"/>
              <a:endParaRPr/>
            </a:p>
          </p:txBody>
        </p:sp>
        <p:sp>
          <p:nvSpPr>
            <p:cNvPr id="31" name="Oval 30"/>
            <p:cNvSpPr/>
            <p:nvPr/>
          </p:nvSpPr>
          <p:spPr>
            <a:xfrm>
              <a:off x="9121029" y="3439392"/>
              <a:ext cx="100312" cy="100312"/>
            </a:xfrm>
            <a:prstGeom prst="ellipse">
              <a:avLst/>
            </a:prstGeom>
            <a:solidFill>
              <a:srgbClr val="9AA0A6"/>
            </a:solidFill>
            <a:ln>
              <a:noFill/>
            </a:ln>
          </p:spPr>
          <p:txBody>
            <a:bodyPr rtlCol="0" anchor="ctr"/>
            <a:lstStyle/>
            <a:p>
              <a:pPr algn="ctr"/>
              <a:endParaRPr/>
            </a:p>
          </p:txBody>
        </p:sp>
        <p:cxnSp>
          <p:nvCxnSpPr>
            <p:cNvPr id="32" name="Connector 31"/>
            <p:cNvCxnSpPr/>
            <p:nvPr/>
          </p:nvCxnSpPr>
          <p:spPr>
            <a:xfrm>
              <a:off x="2011680" y="3794760"/>
              <a:ext cx="8138160" cy="0"/>
            </a:xfrm>
            <a:prstGeom prst="line">
              <a:avLst/>
            </a:prstGeom>
            <a:ln w="38100">
              <a:solidFill>
                <a:srgbClr val="9AA0A6"/>
              </a:solidFill>
            </a:ln>
          </p:spPr>
        </p:cxnSp>
        <p:sp>
          <p:nvSpPr>
            <p:cNvPr id="33" name="Rounded Rectangle 32"/>
            <p:cNvSpPr/>
            <p:nvPr/>
          </p:nvSpPr>
          <p:spPr>
            <a:xfrm>
              <a:off x="1097280" y="4160520"/>
              <a:ext cx="2194560" cy="731520"/>
            </a:xfrm>
            <a:prstGeom prst="roundRect">
              <a:avLst>
                <a:gd name="adj" fmla="val 12500"/>
              </a:avLst>
            </a:prstGeom>
            <a:solidFill>
              <a:srgbClr val="2E6B45"/>
            </a:solidFill>
            <a:ln w="19050">
              <a:solidFill>
                <a:srgbClr val="9AA0A6"/>
              </a:solidFill>
            </a:ln>
          </p:spPr>
          <p:txBody>
            <a:bodyPr rtlCol="0" anchor="ctr"/>
            <a:lstStyle/>
            <a:p>
              <a:pPr algn="ctr"/>
              <a:endParaRPr/>
            </a:p>
          </p:txBody>
        </p:sp>
        <p:sp>
          <p:nvSpPr>
            <p:cNvPr id="34" name="TextBox 33"/>
            <p:cNvSpPr txBox="1"/>
            <p:nvPr/>
          </p:nvSpPr>
          <p:spPr>
            <a:xfrm>
              <a:off x="1097280" y="4937760"/>
              <a:ext cx="2194560" cy="411480"/>
            </a:xfrm>
            <a:prstGeom prst="rect">
              <a:avLst/>
            </a:prstGeom>
            <a:noFill/>
          </p:spPr>
          <p:txBody>
            <a:bodyPr wrap="square" lIns="0" tIns="0" rIns="0" bIns="0" anchor="ctr">
              <a:noAutofit/>
            </a:bodyPr>
            <a:lstStyle/>
            <a:p>
              <a:pPr algn="ctr">
                <a:spcBef>
                  <a:spcPts val="0"/>
                </a:spcBef>
                <a:spcAft>
                  <a:spcPts val="0"/>
                </a:spcAft>
              </a:pPr>
              <a:r>
                <a:rPr lang="en-GB" sz="1800" b="1" i="0">
                  <a:solidFill>
                    <a:srgbClr val="F2F2F2"/>
                  </a:solidFill>
                  <a:latin typeface="Arial"/>
                </a:rPr>
                <a:t>Historical</a:t>
              </a:r>
            </a:p>
          </p:txBody>
        </p:sp>
        <p:sp>
          <p:nvSpPr>
            <p:cNvPr id="35" name="Rounded Rectangle 34"/>
            <p:cNvSpPr/>
            <p:nvPr/>
          </p:nvSpPr>
          <p:spPr>
            <a:xfrm>
              <a:off x="3685032" y="4160520"/>
              <a:ext cx="2194560" cy="731520"/>
            </a:xfrm>
            <a:prstGeom prst="roundRect">
              <a:avLst>
                <a:gd name="adj" fmla="val 12500"/>
              </a:avLst>
            </a:prstGeom>
            <a:solidFill>
              <a:srgbClr val="8C2F39"/>
            </a:solidFill>
            <a:ln w="19050">
              <a:solidFill>
                <a:srgbClr val="9AA0A6"/>
              </a:solidFill>
            </a:ln>
          </p:spPr>
          <p:txBody>
            <a:bodyPr rtlCol="0" anchor="ctr"/>
            <a:lstStyle/>
            <a:p>
              <a:pPr algn="ctr"/>
              <a:endParaRPr/>
            </a:p>
          </p:txBody>
        </p:sp>
        <p:sp>
          <p:nvSpPr>
            <p:cNvPr id="36" name="TextBox 35"/>
            <p:cNvSpPr txBox="1"/>
            <p:nvPr/>
          </p:nvSpPr>
          <p:spPr>
            <a:xfrm>
              <a:off x="3685032" y="4937760"/>
              <a:ext cx="2194560" cy="411480"/>
            </a:xfrm>
            <a:prstGeom prst="rect">
              <a:avLst/>
            </a:prstGeom>
            <a:noFill/>
          </p:spPr>
          <p:txBody>
            <a:bodyPr wrap="square" lIns="0" tIns="0" rIns="0" bIns="0" anchor="ctr">
              <a:noAutofit/>
            </a:bodyPr>
            <a:lstStyle/>
            <a:p>
              <a:pPr algn="ctr">
                <a:spcBef>
                  <a:spcPts val="0"/>
                </a:spcBef>
                <a:spcAft>
                  <a:spcPts val="0"/>
                </a:spcAft>
              </a:pPr>
              <a:r>
                <a:rPr lang="en-GB" sz="1800" b="1" i="0">
                  <a:solidFill>
                    <a:srgbClr val="F2F2F2"/>
                  </a:solidFill>
                  <a:latin typeface="Arial"/>
                </a:rPr>
                <a:t>Historical</a:t>
              </a:r>
            </a:p>
          </p:txBody>
        </p:sp>
        <p:sp>
          <p:nvSpPr>
            <p:cNvPr id="37" name="Rounded Rectangle 36"/>
            <p:cNvSpPr/>
            <p:nvPr/>
          </p:nvSpPr>
          <p:spPr>
            <a:xfrm>
              <a:off x="6272784" y="4160520"/>
              <a:ext cx="2194560" cy="731520"/>
            </a:xfrm>
            <a:prstGeom prst="roundRect">
              <a:avLst>
                <a:gd name="adj" fmla="val 12500"/>
              </a:avLst>
            </a:prstGeom>
            <a:solidFill>
              <a:srgbClr val="F28C28"/>
            </a:solidFill>
            <a:ln w="19050">
              <a:solidFill>
                <a:srgbClr val="9AA0A6"/>
              </a:solidFill>
            </a:ln>
          </p:spPr>
          <p:txBody>
            <a:bodyPr rtlCol="0" anchor="ctr"/>
            <a:lstStyle/>
            <a:p>
              <a:pPr algn="ctr"/>
              <a:endParaRPr/>
            </a:p>
          </p:txBody>
        </p:sp>
        <p:sp>
          <p:nvSpPr>
            <p:cNvPr id="38" name="TextBox 37"/>
            <p:cNvSpPr txBox="1"/>
            <p:nvPr/>
          </p:nvSpPr>
          <p:spPr>
            <a:xfrm>
              <a:off x="6272784" y="4937760"/>
              <a:ext cx="2194560" cy="411480"/>
            </a:xfrm>
            <a:prstGeom prst="rect">
              <a:avLst/>
            </a:prstGeom>
            <a:noFill/>
          </p:spPr>
          <p:txBody>
            <a:bodyPr wrap="square" lIns="0" tIns="0" rIns="0" bIns="0" anchor="ctr">
              <a:noAutofit/>
            </a:bodyPr>
            <a:lstStyle/>
            <a:p>
              <a:pPr algn="ctr">
                <a:spcBef>
                  <a:spcPts val="0"/>
                </a:spcBef>
                <a:spcAft>
                  <a:spcPts val="0"/>
                </a:spcAft>
              </a:pPr>
              <a:r>
                <a:rPr lang="en-GB" sz="1800" b="1" i="0">
                  <a:solidFill>
                    <a:srgbClr val="F2F2F2"/>
                  </a:solidFill>
                  <a:latin typeface="Arial"/>
                </a:rPr>
                <a:t>Corporate</a:t>
              </a:r>
            </a:p>
          </p:txBody>
        </p:sp>
        <p:sp>
          <p:nvSpPr>
            <p:cNvPr id="39" name="Rounded Rectangle 38"/>
            <p:cNvSpPr/>
            <p:nvPr/>
          </p:nvSpPr>
          <p:spPr>
            <a:xfrm>
              <a:off x="8860536" y="4160520"/>
              <a:ext cx="2194560" cy="731520"/>
            </a:xfrm>
            <a:prstGeom prst="roundRect">
              <a:avLst>
                <a:gd name="adj" fmla="val 12500"/>
              </a:avLst>
            </a:prstGeom>
            <a:solidFill>
              <a:srgbClr val="2FA3A0"/>
            </a:solidFill>
            <a:ln w="19050">
              <a:solidFill>
                <a:srgbClr val="9AA0A6"/>
              </a:solidFill>
            </a:ln>
          </p:spPr>
          <p:txBody>
            <a:bodyPr rtlCol="0" anchor="ctr"/>
            <a:lstStyle/>
            <a:p>
              <a:pPr algn="ctr"/>
              <a:endParaRPr/>
            </a:p>
          </p:txBody>
        </p:sp>
        <p:sp>
          <p:nvSpPr>
            <p:cNvPr id="40" name="TextBox 39"/>
            <p:cNvSpPr txBox="1"/>
            <p:nvPr/>
          </p:nvSpPr>
          <p:spPr>
            <a:xfrm>
              <a:off x="8860536" y="4937760"/>
              <a:ext cx="2194560" cy="411480"/>
            </a:xfrm>
            <a:prstGeom prst="rect">
              <a:avLst/>
            </a:prstGeom>
            <a:noFill/>
          </p:spPr>
          <p:txBody>
            <a:bodyPr wrap="square" lIns="0" tIns="0" rIns="0" bIns="0" anchor="ctr">
              <a:noAutofit/>
            </a:bodyPr>
            <a:lstStyle/>
            <a:p>
              <a:pPr algn="ctr">
                <a:spcBef>
                  <a:spcPts val="0"/>
                </a:spcBef>
                <a:spcAft>
                  <a:spcPts val="0"/>
                </a:spcAft>
              </a:pPr>
              <a:r>
                <a:rPr lang="en-GB" sz="1800" b="1" i="0">
                  <a:solidFill>
                    <a:srgbClr val="F2F2F2"/>
                  </a:solidFill>
                  <a:latin typeface="Arial"/>
                </a:rPr>
                <a:t>Custom</a:t>
              </a:r>
            </a:p>
          </p:txBody>
        </p:sp>
        <p:sp>
          <p:nvSpPr>
            <p:cNvPr id="41" name="TextBox 40"/>
            <p:cNvSpPr txBox="1"/>
            <p:nvPr/>
          </p:nvSpPr>
          <p:spPr>
            <a:xfrm>
              <a:off x="548640" y="1371600"/>
              <a:ext cx="2377440" cy="329184"/>
            </a:xfrm>
            <a:prstGeom prst="rect">
              <a:avLst/>
            </a:prstGeom>
            <a:noFill/>
          </p:spPr>
          <p:txBody>
            <a:bodyPr wrap="square" lIns="0" tIns="0" rIns="0" bIns="0" anchor="ctr">
              <a:noAutofit/>
            </a:bodyPr>
            <a:lstStyle/>
            <a:p>
              <a:pPr algn="l">
                <a:spcBef>
                  <a:spcPts val="0"/>
                </a:spcBef>
                <a:spcAft>
                  <a:spcPts val="0"/>
                </a:spcAft>
              </a:pPr>
              <a:r>
                <a:rPr lang="en-GB" sz="1400" b="0" i="1">
                  <a:solidFill>
                    <a:srgbClr val="A9B0B8"/>
                  </a:solidFill>
                  <a:latin typeface="Arial"/>
                </a:rPr>
                <a:t>Examples only.</a:t>
              </a:r>
            </a:p>
          </p:txBody>
        </p:sp>
      </p:grpSp>
      <p:sp>
        <p:nvSpPr>
          <p:cNvPr id="42"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Engines come in historical liveries. Corporate or custom looks stay possible.</a:t>
            </a:r>
          </a:p>
        </p:txBody>
      </p:sp>
      <p:sp>
        <p:nvSpPr>
          <p:cNvPr id="43"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44"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16</a:t>
            </a:r>
          </a:p>
        </p:txBody>
      </p:sp>
    </p:spTree>
    <p:extLst>
      <p:ext uri="{BB962C8B-B14F-4D97-AF65-F5344CB8AC3E}">
        <p14:creationId xmlns:p14="http://schemas.microsoft.com/office/powerpoint/2010/main" val="19881094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42"/>
                                        </p:tgtEl>
                                        <p:attrNameLst>
                                          <p:attrName>style.visibility</p:attrName>
                                        </p:attrNameLst>
                                      </p:cBhvr>
                                      <p:to>
                                        <p:strVal val="visible"/>
                                      </p:to>
                                    </p:set>
                                    <p:animEffect transition="in" filter="fade">
                                      <p:cBhvr>
                                        <p:cTn id="10" dur="500"/>
                                        <p:tgtEl>
                                          <p:spTgt spid="42"/>
                                        </p:tgtEl>
                                      </p:cBhvr>
                                    </p:animEffect>
                                  </p:childTnLst>
                                </p:cTn>
                              </p:par>
                              <p:par>
                                <p:cTn id="11" presetID="10" presetClass="entr" presetSubtype="0" fill="hold" nodeType="withEffect">
                                  <p:stCondLst>
                                    <p:cond delay="60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Not sold separately</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livery swatches in the pack, with a crossed-out price tag" descr="Four livery swatches inside a box marked as the pack you own. A blank price tag beside it is crossed out with a red cross."/>
          <p:cNvGrpSpPr/>
          <p:nvPr/>
        </p:nvGrpSpPr>
        <p:grpSpPr>
          <a:xfrm>
            <a:off x="548640" y="1508760"/>
            <a:ext cx="11064240" cy="3749040"/>
            <a:chOff x="548640" y="1508760"/>
            <a:chExt cx="11064240" cy="3749040"/>
          </a:xfrm>
        </p:grpSpPr>
        <p:sp>
          <p:nvSpPr>
            <p:cNvPr id="5" name="Rounded Rectangle 4"/>
            <p:cNvSpPr/>
            <p:nvPr/>
          </p:nvSpPr>
          <p:spPr>
            <a:xfrm>
              <a:off x="548640" y="1508760"/>
              <a:ext cx="8961120" cy="3749040"/>
            </a:xfrm>
            <a:prstGeom prst="roundRect">
              <a:avLst>
                <a:gd name="adj" fmla="val 2926"/>
              </a:avLst>
            </a:prstGeom>
            <a:noFill/>
            <a:ln w="31750">
              <a:solidFill>
                <a:srgbClr val="F28C28"/>
              </a:solidFill>
              <a:prstDash val="dash"/>
            </a:ln>
          </p:spPr>
          <p:txBody>
            <a:bodyPr rtlCol="0" anchor="ctr"/>
            <a:lstStyle/>
            <a:p>
              <a:pPr algn="ctr"/>
              <a:endParaRPr/>
            </a:p>
          </p:txBody>
        </p:sp>
        <p:sp>
          <p:nvSpPr>
            <p:cNvPr id="6" name="Rounded Rectangle 5"/>
            <p:cNvSpPr/>
            <p:nvPr/>
          </p:nvSpPr>
          <p:spPr>
            <a:xfrm>
              <a:off x="1005840" y="2011680"/>
              <a:ext cx="1737360" cy="1645920"/>
            </a:xfrm>
            <a:prstGeom prst="roundRect">
              <a:avLst>
                <a:gd name="adj" fmla="val 5555"/>
              </a:avLst>
            </a:prstGeom>
            <a:solidFill>
              <a:srgbClr val="2E6B45"/>
            </a:solidFill>
            <a:ln w="19050">
              <a:solidFill>
                <a:srgbClr val="9AA0A6"/>
              </a:solidFill>
            </a:ln>
          </p:spPr>
          <p:txBody>
            <a:bodyPr rtlCol="0" anchor="ctr"/>
            <a:lstStyle/>
            <a:p>
              <a:pPr algn="ctr"/>
              <a:endParaRPr/>
            </a:p>
          </p:txBody>
        </p:sp>
        <p:sp>
          <p:nvSpPr>
            <p:cNvPr id="7" name="Rounded Rectangle 6"/>
            <p:cNvSpPr/>
            <p:nvPr/>
          </p:nvSpPr>
          <p:spPr>
            <a:xfrm>
              <a:off x="3108960" y="2011680"/>
              <a:ext cx="1737360" cy="1645920"/>
            </a:xfrm>
            <a:prstGeom prst="roundRect">
              <a:avLst>
                <a:gd name="adj" fmla="val 5555"/>
              </a:avLst>
            </a:prstGeom>
            <a:solidFill>
              <a:srgbClr val="8C2F39"/>
            </a:solidFill>
            <a:ln w="19050">
              <a:solidFill>
                <a:srgbClr val="9AA0A6"/>
              </a:solidFill>
            </a:ln>
          </p:spPr>
          <p:txBody>
            <a:bodyPr rtlCol="0" anchor="ctr"/>
            <a:lstStyle/>
            <a:p>
              <a:pPr algn="ctr"/>
              <a:endParaRPr/>
            </a:p>
          </p:txBody>
        </p:sp>
        <p:sp>
          <p:nvSpPr>
            <p:cNvPr id="8" name="Rounded Rectangle 7"/>
            <p:cNvSpPr/>
            <p:nvPr/>
          </p:nvSpPr>
          <p:spPr>
            <a:xfrm>
              <a:off x="5212080" y="2011680"/>
              <a:ext cx="1737360" cy="1645920"/>
            </a:xfrm>
            <a:prstGeom prst="roundRect">
              <a:avLst>
                <a:gd name="adj" fmla="val 5555"/>
              </a:avLst>
            </a:prstGeom>
            <a:solidFill>
              <a:srgbClr val="F28C28"/>
            </a:solidFill>
            <a:ln w="19050">
              <a:solidFill>
                <a:srgbClr val="9AA0A6"/>
              </a:solidFill>
            </a:ln>
          </p:spPr>
          <p:txBody>
            <a:bodyPr rtlCol="0" anchor="ctr"/>
            <a:lstStyle/>
            <a:p>
              <a:pPr algn="ctr"/>
              <a:endParaRPr/>
            </a:p>
          </p:txBody>
        </p:sp>
        <p:sp>
          <p:nvSpPr>
            <p:cNvPr id="9" name="Rounded Rectangle 8"/>
            <p:cNvSpPr/>
            <p:nvPr/>
          </p:nvSpPr>
          <p:spPr>
            <a:xfrm>
              <a:off x="7315200" y="2011680"/>
              <a:ext cx="1737360" cy="1645920"/>
            </a:xfrm>
            <a:prstGeom prst="roundRect">
              <a:avLst>
                <a:gd name="adj" fmla="val 5555"/>
              </a:avLst>
            </a:prstGeom>
            <a:solidFill>
              <a:srgbClr val="2FA3A0"/>
            </a:solidFill>
            <a:ln w="19050">
              <a:solidFill>
                <a:srgbClr val="9AA0A6"/>
              </a:solidFill>
            </a:ln>
          </p:spPr>
          <p:txBody>
            <a:bodyPr rtlCol="0" anchor="ctr"/>
            <a:lstStyle/>
            <a:p>
              <a:pPr algn="ctr"/>
              <a:endParaRPr/>
            </a:p>
          </p:txBody>
        </p:sp>
        <p:sp>
          <p:nvSpPr>
            <p:cNvPr id="10" name="TextBox 9"/>
            <p:cNvSpPr txBox="1"/>
            <p:nvPr/>
          </p:nvSpPr>
          <p:spPr>
            <a:xfrm>
              <a:off x="731520" y="4069080"/>
              <a:ext cx="8595360" cy="548640"/>
            </a:xfrm>
            <a:prstGeom prst="rect">
              <a:avLst/>
            </a:prstGeom>
            <a:noFill/>
          </p:spPr>
          <p:txBody>
            <a:bodyPr wrap="square" lIns="0" tIns="0" rIns="0" bIns="0" anchor="ctr">
              <a:noAutofit/>
            </a:bodyPr>
            <a:lstStyle/>
            <a:p>
              <a:pPr algn="ctr">
                <a:spcBef>
                  <a:spcPts val="0"/>
                </a:spcBef>
                <a:spcAft>
                  <a:spcPts val="0"/>
                </a:spcAft>
              </a:pPr>
              <a:r>
                <a:rPr lang="en-GB" sz="2200" b="1" i="0">
                  <a:solidFill>
                    <a:srgbClr val="F28C28"/>
                  </a:solidFill>
                  <a:latin typeface="Arial"/>
                </a:rPr>
                <a:t>The pack you own</a:t>
              </a:r>
            </a:p>
          </p:txBody>
        </p:sp>
        <p:sp>
          <p:nvSpPr>
            <p:cNvPr id="11" name="Freeform 10"/>
            <p:cNvSpPr/>
            <p:nvPr/>
          </p:nvSpPr>
          <p:spPr>
            <a:xfrm>
              <a:off x="9921240" y="2834640"/>
              <a:ext cx="1554480" cy="868680"/>
            </a:xfrm>
            <a:custGeom>
              <a:avLst/>
              <a:gdLst/>
              <a:ahLst/>
              <a:cxnLst/>
              <a:rect l="l" t="t" r="r" b="b"/>
              <a:pathLst>
                <a:path w="1554480" h="868680">
                  <a:moveTo>
                    <a:pt x="390906" y="0"/>
                  </a:moveTo>
                  <a:lnTo>
                    <a:pt x="1554480" y="0"/>
                  </a:lnTo>
                  <a:lnTo>
                    <a:pt x="1554480" y="868680"/>
                  </a:lnTo>
                  <a:lnTo>
                    <a:pt x="390906" y="868680"/>
                  </a:lnTo>
                  <a:lnTo>
                    <a:pt x="0" y="434340"/>
                  </a:lnTo>
                  <a:close/>
                </a:path>
              </a:pathLst>
            </a:custGeom>
            <a:solidFill>
              <a:srgbClr val="F2C14E"/>
            </a:solidFill>
            <a:ln w="19050">
              <a:solidFill>
                <a:srgbClr val="101418"/>
              </a:solidFill>
            </a:ln>
          </p:spPr>
          <p:txBody>
            <a:bodyPr rtlCol="0" anchor="ctr"/>
            <a:lstStyle/>
            <a:p>
              <a:pPr algn="ctr"/>
              <a:endParaRPr/>
            </a:p>
          </p:txBody>
        </p:sp>
        <p:sp>
          <p:nvSpPr>
            <p:cNvPr id="12" name="Oval 11"/>
            <p:cNvSpPr/>
            <p:nvPr/>
          </p:nvSpPr>
          <p:spPr>
            <a:xfrm>
              <a:off x="10216591" y="3199486"/>
              <a:ext cx="138989" cy="138989"/>
            </a:xfrm>
            <a:prstGeom prst="ellipse">
              <a:avLst/>
            </a:prstGeom>
            <a:solidFill>
              <a:srgbClr val="1E2126"/>
            </a:solidFill>
            <a:ln w="15875">
              <a:solidFill>
                <a:srgbClr val="101418"/>
              </a:solidFill>
            </a:ln>
          </p:spPr>
          <p:txBody>
            <a:bodyPr rtlCol="0" anchor="ctr"/>
            <a:lstStyle/>
            <a:p>
              <a:pPr algn="ctr"/>
              <a:endParaRPr/>
            </a:p>
          </p:txBody>
        </p:sp>
        <p:cxnSp>
          <p:nvCxnSpPr>
            <p:cNvPr id="13" name="Connector 12"/>
            <p:cNvCxnSpPr/>
            <p:nvPr/>
          </p:nvCxnSpPr>
          <p:spPr>
            <a:xfrm>
              <a:off x="10620756" y="3095244"/>
              <a:ext cx="621792" cy="0"/>
            </a:xfrm>
            <a:prstGeom prst="line">
              <a:avLst/>
            </a:prstGeom>
            <a:ln w="25400">
              <a:solidFill>
                <a:srgbClr val="101418"/>
              </a:solidFill>
            </a:ln>
          </p:spPr>
        </p:cxnSp>
        <p:cxnSp>
          <p:nvCxnSpPr>
            <p:cNvPr id="14" name="Connector 13"/>
            <p:cNvCxnSpPr/>
            <p:nvPr/>
          </p:nvCxnSpPr>
          <p:spPr>
            <a:xfrm>
              <a:off x="10620756" y="3442716"/>
              <a:ext cx="466344" cy="0"/>
            </a:xfrm>
            <a:prstGeom prst="line">
              <a:avLst/>
            </a:prstGeom>
            <a:ln w="25400">
              <a:solidFill>
                <a:srgbClr val="101418"/>
              </a:solidFill>
            </a:ln>
          </p:spPr>
        </p:cxnSp>
        <p:cxnSp>
          <p:nvCxnSpPr>
            <p:cNvPr id="15" name="Cross"/>
            <p:cNvCxnSpPr/>
            <p:nvPr/>
          </p:nvCxnSpPr>
          <p:spPr>
            <a:xfrm>
              <a:off x="9784080" y="2560320"/>
              <a:ext cx="1828800" cy="1417320"/>
            </a:xfrm>
            <a:prstGeom prst="line">
              <a:avLst/>
            </a:prstGeom>
            <a:ln w="101600">
              <a:solidFill>
                <a:srgbClr val="E5484D">
                  <a:alpha val="90000"/>
                </a:srgbClr>
              </a:solidFill>
            </a:ln>
          </p:spPr>
        </p:cxnSp>
        <p:cxnSp>
          <p:nvCxnSpPr>
            <p:cNvPr id="16" name="Cross"/>
            <p:cNvCxnSpPr/>
            <p:nvPr/>
          </p:nvCxnSpPr>
          <p:spPr>
            <a:xfrm flipH="1">
              <a:off x="9784080" y="2560320"/>
              <a:ext cx="1828800" cy="1417320"/>
            </a:xfrm>
            <a:prstGeom prst="line">
              <a:avLst/>
            </a:prstGeom>
            <a:ln w="101600">
              <a:solidFill>
                <a:srgbClr val="E5484D">
                  <a:alpha val="90000"/>
                </a:srgbClr>
              </a:solidFill>
            </a:ln>
          </p:spPr>
        </p:cxnSp>
      </p:grpSp>
      <p:sp>
        <p:nvSpPr>
          <p:cNvPr id="17"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Historical liveries come with the pack you own. They are not sold one by one.</a:t>
            </a:r>
          </a:p>
        </p:txBody>
      </p:sp>
      <p:sp>
        <p:nvSpPr>
          <p:cNvPr id="18"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19"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17</a:t>
            </a:r>
          </a:p>
        </p:txBody>
      </p:sp>
    </p:spTree>
    <p:extLst>
      <p:ext uri="{BB962C8B-B14F-4D97-AF65-F5344CB8AC3E}">
        <p14:creationId xmlns:p14="http://schemas.microsoft.com/office/powerpoint/2010/main" val="238116574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6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Picking a livery</a:t>
            </a:r>
          </a:p>
        </p:txBody>
      </p:sp>
      <p:sp>
        <p:nvSpPr>
          <p:cNvPr id="3" name="Status chip"/>
          <p:cNvSpPr/>
          <p:nvPr/>
        </p:nvSpPr>
        <p:spPr>
          <a:xfrm>
            <a:off x="10131552" y="457200"/>
            <a:ext cx="1481328" cy="365760"/>
          </a:xfrm>
          <a:prstGeom prst="roundRect">
            <a:avLst>
              <a:gd name="adj" fmla="val 30000"/>
            </a:avLst>
          </a:prstGeom>
          <a:solidFill>
            <a:srgbClr val="B084F5"/>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PROPOSED</a:t>
            </a:r>
          </a:p>
        </p:txBody>
      </p:sp>
      <p:grpSp>
        <p:nvGrpSpPr>
          <p:cNvPr id="4" name="Mock-up: a livery customiser panel" descr="A mock customiser panel with an engine preview on the left and a grid of twelve colour swatches on the right, one of them selected."/>
          <p:cNvGrpSpPr/>
          <p:nvPr/>
        </p:nvGrpSpPr>
        <p:grpSpPr>
          <a:xfrm>
            <a:off x="1645920" y="1417320"/>
            <a:ext cx="8897112" cy="3429000"/>
            <a:chOff x="1645920" y="1417320"/>
            <a:chExt cx="8897112" cy="3429000"/>
          </a:xfrm>
        </p:grpSpPr>
        <p:sp>
          <p:nvSpPr>
            <p:cNvPr id="5" name="Rounded Rectangle 4"/>
            <p:cNvSpPr/>
            <p:nvPr/>
          </p:nvSpPr>
          <p:spPr>
            <a:xfrm>
              <a:off x="1645920" y="1417320"/>
              <a:ext cx="8897112" cy="3429000"/>
            </a:xfrm>
            <a:prstGeom prst="roundRect">
              <a:avLst>
                <a:gd name="adj" fmla="val 3200"/>
              </a:avLst>
            </a:prstGeom>
            <a:solidFill>
              <a:srgbClr val="2B2F36"/>
            </a:solidFill>
            <a:ln w="25400">
              <a:solidFill>
                <a:srgbClr val="9AA0A6"/>
              </a:solidFill>
            </a:ln>
          </p:spPr>
          <p:txBody>
            <a:bodyPr rtlCol="0" anchor="ctr"/>
            <a:lstStyle/>
            <a:p>
              <a:pPr algn="ctr"/>
              <a:endParaRPr/>
            </a:p>
          </p:txBody>
        </p:sp>
        <p:sp>
          <p:nvSpPr>
            <p:cNvPr id="6" name="Rounded Rectangle 5"/>
            <p:cNvSpPr/>
            <p:nvPr/>
          </p:nvSpPr>
          <p:spPr>
            <a:xfrm>
              <a:off x="1645920" y="1417320"/>
              <a:ext cx="8897112" cy="384048"/>
            </a:xfrm>
            <a:prstGeom prst="roundRect">
              <a:avLst>
                <a:gd name="adj" fmla="val 28571"/>
              </a:avLst>
            </a:prstGeom>
            <a:solidFill>
              <a:srgbClr val="343A43"/>
            </a:solidFill>
            <a:ln>
              <a:noFill/>
            </a:ln>
          </p:spPr>
          <p:txBody>
            <a:bodyPr rtlCol="0" anchor="ctr"/>
            <a:lstStyle/>
            <a:p>
              <a:pPr algn="ctr"/>
              <a:endParaRPr/>
            </a:p>
          </p:txBody>
        </p:sp>
        <p:sp>
          <p:nvSpPr>
            <p:cNvPr id="7" name="Rectangle 6"/>
            <p:cNvSpPr/>
            <p:nvPr/>
          </p:nvSpPr>
          <p:spPr>
            <a:xfrm>
              <a:off x="1664208" y="1645920"/>
              <a:ext cx="8860536" cy="155448"/>
            </a:xfrm>
            <a:prstGeom prst="rect">
              <a:avLst/>
            </a:prstGeom>
            <a:solidFill>
              <a:srgbClr val="343A43"/>
            </a:solidFill>
            <a:ln>
              <a:noFill/>
            </a:ln>
          </p:spPr>
          <p:txBody>
            <a:bodyPr rtlCol="0" anchor="ctr"/>
            <a:lstStyle/>
            <a:p>
              <a:pPr algn="ctr"/>
              <a:endParaRPr/>
            </a:p>
          </p:txBody>
        </p:sp>
        <p:sp>
          <p:nvSpPr>
            <p:cNvPr id="8" name="Oval 7"/>
            <p:cNvSpPr/>
            <p:nvPr/>
          </p:nvSpPr>
          <p:spPr>
            <a:xfrm>
              <a:off x="1851660" y="1540764"/>
              <a:ext cx="137160" cy="137160"/>
            </a:xfrm>
            <a:prstGeom prst="ellipse">
              <a:avLst/>
            </a:prstGeom>
            <a:solidFill>
              <a:srgbClr val="4A515B"/>
            </a:solidFill>
            <a:ln>
              <a:noFill/>
            </a:ln>
          </p:spPr>
          <p:txBody>
            <a:bodyPr rtlCol="0" anchor="ctr"/>
            <a:lstStyle/>
            <a:p>
              <a:pPr algn="ctr"/>
              <a:endParaRPr/>
            </a:p>
          </p:txBody>
        </p:sp>
        <p:sp>
          <p:nvSpPr>
            <p:cNvPr id="9" name="Oval 8"/>
            <p:cNvSpPr/>
            <p:nvPr/>
          </p:nvSpPr>
          <p:spPr>
            <a:xfrm>
              <a:off x="2125980" y="1540764"/>
              <a:ext cx="137160" cy="137160"/>
            </a:xfrm>
            <a:prstGeom prst="ellipse">
              <a:avLst/>
            </a:prstGeom>
            <a:solidFill>
              <a:srgbClr val="4A515B"/>
            </a:solidFill>
            <a:ln>
              <a:noFill/>
            </a:ln>
          </p:spPr>
          <p:txBody>
            <a:bodyPr rtlCol="0" anchor="ctr"/>
            <a:lstStyle/>
            <a:p>
              <a:pPr algn="ctr"/>
              <a:endParaRPr/>
            </a:p>
          </p:txBody>
        </p:sp>
        <p:sp>
          <p:nvSpPr>
            <p:cNvPr id="10" name="Oval 9"/>
            <p:cNvSpPr/>
            <p:nvPr/>
          </p:nvSpPr>
          <p:spPr>
            <a:xfrm>
              <a:off x="2400300" y="1540764"/>
              <a:ext cx="137160" cy="137160"/>
            </a:xfrm>
            <a:prstGeom prst="ellipse">
              <a:avLst/>
            </a:prstGeom>
            <a:solidFill>
              <a:srgbClr val="4A515B"/>
            </a:solidFill>
            <a:ln>
              <a:noFill/>
            </a:ln>
          </p:spPr>
          <p:txBody>
            <a:bodyPr rtlCol="0" anchor="ctr"/>
            <a:lstStyle/>
            <a:p>
              <a:pPr algn="ctr"/>
              <a:endParaRPr/>
            </a:p>
          </p:txBody>
        </p:sp>
        <p:sp>
          <p:nvSpPr>
            <p:cNvPr id="11" name="Rounded Rectangle 10"/>
            <p:cNvSpPr/>
            <p:nvPr/>
          </p:nvSpPr>
          <p:spPr>
            <a:xfrm>
              <a:off x="1874520" y="2011680"/>
              <a:ext cx="4572000" cy="2606040"/>
            </a:xfrm>
            <a:prstGeom prst="roundRect">
              <a:avLst>
                <a:gd name="adj" fmla="val 3508"/>
              </a:avLst>
            </a:prstGeom>
            <a:solidFill>
              <a:srgbClr val="1E2126"/>
            </a:solidFill>
            <a:ln w="19050">
              <a:solidFill>
                <a:srgbClr val="4A515B"/>
              </a:solidFill>
            </a:ln>
          </p:spPr>
          <p:txBody>
            <a:bodyPr rtlCol="0" anchor="ctr"/>
            <a:lstStyle/>
            <a:p>
              <a:pPr algn="ctr"/>
              <a:endParaRPr/>
            </a:p>
          </p:txBody>
        </p:sp>
        <p:sp>
          <p:nvSpPr>
            <p:cNvPr id="12" name="Rectangle 11"/>
            <p:cNvSpPr/>
            <p:nvPr/>
          </p:nvSpPr>
          <p:spPr>
            <a:xfrm>
              <a:off x="2257579" y="3211521"/>
              <a:ext cx="2555377" cy="163109"/>
            </a:xfrm>
            <a:prstGeom prst="rect">
              <a:avLst/>
            </a:prstGeom>
            <a:solidFill>
              <a:srgbClr val="3D434C"/>
            </a:solidFill>
            <a:ln w="12700">
              <a:solidFill>
                <a:srgbClr val="9AA0A6"/>
              </a:solidFill>
            </a:ln>
          </p:spPr>
          <p:txBody>
            <a:bodyPr rtlCol="0" anchor="ctr"/>
            <a:lstStyle/>
            <a:p>
              <a:pPr algn="ctr"/>
              <a:endParaRPr/>
            </a:p>
          </p:txBody>
        </p:sp>
        <p:sp>
          <p:nvSpPr>
            <p:cNvPr id="13" name="Rounded Rectangle 12"/>
            <p:cNvSpPr/>
            <p:nvPr/>
          </p:nvSpPr>
          <p:spPr>
            <a:xfrm>
              <a:off x="2475058" y="2722194"/>
              <a:ext cx="1576722" cy="516512"/>
            </a:xfrm>
            <a:prstGeom prst="roundRect">
              <a:avLst>
                <a:gd name="adj" fmla="val 31578"/>
              </a:avLst>
            </a:prstGeom>
            <a:solidFill>
              <a:srgbClr val="2E6B45"/>
            </a:solidFill>
            <a:ln w="12700">
              <a:solidFill>
                <a:srgbClr val="1B1D21"/>
              </a:solidFill>
            </a:ln>
          </p:spPr>
          <p:txBody>
            <a:bodyPr rtlCol="0" anchor="ctr"/>
            <a:lstStyle/>
            <a:p>
              <a:pPr algn="ctr"/>
              <a:endParaRPr/>
            </a:p>
          </p:txBody>
        </p:sp>
        <p:sp>
          <p:nvSpPr>
            <p:cNvPr id="14" name="Rectangle 13"/>
            <p:cNvSpPr/>
            <p:nvPr/>
          </p:nvSpPr>
          <p:spPr>
            <a:xfrm>
              <a:off x="2284764" y="2722194"/>
              <a:ext cx="244664" cy="516512"/>
            </a:xfrm>
            <a:prstGeom prst="rect">
              <a:avLst/>
            </a:prstGeom>
            <a:solidFill>
              <a:srgbClr val="3D434C"/>
            </a:solidFill>
            <a:ln w="12700">
              <a:solidFill>
                <a:srgbClr val="9AA0A6"/>
              </a:solidFill>
            </a:ln>
          </p:spPr>
          <p:txBody>
            <a:bodyPr rtlCol="0" anchor="ctr"/>
            <a:lstStyle/>
            <a:p>
              <a:pPr algn="ctr"/>
              <a:endParaRPr/>
            </a:p>
          </p:txBody>
        </p:sp>
        <p:sp>
          <p:nvSpPr>
            <p:cNvPr id="15" name="Rectangle 14"/>
            <p:cNvSpPr/>
            <p:nvPr/>
          </p:nvSpPr>
          <p:spPr>
            <a:xfrm>
              <a:off x="2339134" y="2504715"/>
              <a:ext cx="163109" cy="217479"/>
            </a:xfrm>
            <a:prstGeom prst="rect">
              <a:avLst/>
            </a:prstGeom>
            <a:solidFill>
              <a:srgbClr val="3D434C"/>
            </a:solidFill>
            <a:ln w="12700">
              <a:solidFill>
                <a:srgbClr val="9AA0A6"/>
              </a:solidFill>
            </a:ln>
          </p:spPr>
          <p:txBody>
            <a:bodyPr rtlCol="0" anchor="ctr"/>
            <a:lstStyle/>
            <a:p>
              <a:pPr algn="ctr"/>
              <a:endParaRPr/>
            </a:p>
          </p:txBody>
        </p:sp>
        <p:sp>
          <p:nvSpPr>
            <p:cNvPr id="16" name="Rectangle 15"/>
            <p:cNvSpPr/>
            <p:nvPr/>
          </p:nvSpPr>
          <p:spPr>
            <a:xfrm>
              <a:off x="2284764" y="2463937"/>
              <a:ext cx="271849" cy="81555"/>
            </a:xfrm>
            <a:prstGeom prst="rect">
              <a:avLst/>
            </a:prstGeom>
            <a:solidFill>
              <a:srgbClr val="3D434C"/>
            </a:solidFill>
            <a:ln w="12700">
              <a:solidFill>
                <a:srgbClr val="9AA0A6"/>
              </a:solidFill>
            </a:ln>
          </p:spPr>
          <p:txBody>
            <a:bodyPr rtlCol="0" anchor="ctr"/>
            <a:lstStyle/>
            <a:p>
              <a:pPr algn="ctr"/>
              <a:endParaRPr/>
            </a:p>
          </p:txBody>
        </p:sp>
        <p:sp>
          <p:nvSpPr>
            <p:cNvPr id="17" name="Rounded Rectangle 16"/>
            <p:cNvSpPr/>
            <p:nvPr/>
          </p:nvSpPr>
          <p:spPr>
            <a:xfrm>
              <a:off x="3181865" y="2586269"/>
              <a:ext cx="299034" cy="163109"/>
            </a:xfrm>
            <a:prstGeom prst="roundRect">
              <a:avLst>
                <a:gd name="adj" fmla="val 50000"/>
              </a:avLst>
            </a:prstGeom>
            <a:solidFill>
              <a:srgbClr val="2E6B45"/>
            </a:solidFill>
            <a:ln w="12700">
              <a:solidFill>
                <a:srgbClr val="1B1D21"/>
              </a:solidFill>
            </a:ln>
          </p:spPr>
          <p:txBody>
            <a:bodyPr rtlCol="0" anchor="ctr"/>
            <a:lstStyle/>
            <a:p>
              <a:pPr algn="ctr"/>
              <a:endParaRPr/>
            </a:p>
          </p:txBody>
        </p:sp>
        <p:sp>
          <p:nvSpPr>
            <p:cNvPr id="18" name="Rectangle 17"/>
            <p:cNvSpPr/>
            <p:nvPr/>
          </p:nvSpPr>
          <p:spPr>
            <a:xfrm>
              <a:off x="2529428" y="2966857"/>
              <a:ext cx="1467983" cy="108739"/>
            </a:xfrm>
            <a:prstGeom prst="rect">
              <a:avLst/>
            </a:prstGeom>
            <a:solidFill>
              <a:srgbClr val="F2C14E"/>
            </a:solidFill>
            <a:ln>
              <a:noFill/>
            </a:ln>
          </p:spPr>
          <p:txBody>
            <a:bodyPr rtlCol="0" anchor="ctr"/>
            <a:lstStyle/>
            <a:p>
              <a:pPr algn="ctr"/>
              <a:endParaRPr/>
            </a:p>
          </p:txBody>
        </p:sp>
        <p:sp>
          <p:nvSpPr>
            <p:cNvPr id="19" name="Rectangle 18"/>
            <p:cNvSpPr/>
            <p:nvPr/>
          </p:nvSpPr>
          <p:spPr>
            <a:xfrm>
              <a:off x="3943041" y="2477530"/>
              <a:ext cx="842731" cy="761176"/>
            </a:xfrm>
            <a:prstGeom prst="rect">
              <a:avLst/>
            </a:prstGeom>
            <a:solidFill>
              <a:srgbClr val="2E6B45"/>
            </a:solidFill>
            <a:ln w="12700">
              <a:solidFill>
                <a:srgbClr val="1B1D21"/>
              </a:solidFill>
            </a:ln>
          </p:spPr>
          <p:txBody>
            <a:bodyPr rtlCol="0" anchor="ctr"/>
            <a:lstStyle/>
            <a:p>
              <a:pPr algn="ctr"/>
              <a:endParaRPr/>
            </a:p>
          </p:txBody>
        </p:sp>
        <p:sp>
          <p:nvSpPr>
            <p:cNvPr id="20" name="Rectangle 19"/>
            <p:cNvSpPr/>
            <p:nvPr/>
          </p:nvSpPr>
          <p:spPr>
            <a:xfrm>
              <a:off x="3861486" y="2423160"/>
              <a:ext cx="1005840" cy="81555"/>
            </a:xfrm>
            <a:prstGeom prst="rect">
              <a:avLst/>
            </a:prstGeom>
            <a:solidFill>
              <a:srgbClr val="3D434C"/>
            </a:solidFill>
            <a:ln w="12700">
              <a:solidFill>
                <a:srgbClr val="9AA0A6"/>
              </a:solidFill>
            </a:ln>
          </p:spPr>
          <p:txBody>
            <a:bodyPr rtlCol="0" anchor="ctr"/>
            <a:lstStyle/>
            <a:p>
              <a:pPr algn="ctr"/>
              <a:endParaRPr/>
            </a:p>
          </p:txBody>
        </p:sp>
        <p:sp>
          <p:nvSpPr>
            <p:cNvPr id="21" name="Rectangle 20"/>
            <p:cNvSpPr/>
            <p:nvPr/>
          </p:nvSpPr>
          <p:spPr>
            <a:xfrm>
              <a:off x="4133335" y="2640639"/>
              <a:ext cx="353403" cy="299034"/>
            </a:xfrm>
            <a:prstGeom prst="rect">
              <a:avLst/>
            </a:prstGeom>
            <a:solidFill>
              <a:srgbClr val="1B1D21"/>
            </a:solidFill>
            <a:ln w="12700">
              <a:solidFill>
                <a:srgbClr val="9AA0A6"/>
              </a:solidFill>
            </a:ln>
          </p:spPr>
          <p:txBody>
            <a:bodyPr rtlCol="0" anchor="ctr"/>
            <a:lstStyle/>
            <a:p>
              <a:pPr algn="ctr"/>
              <a:endParaRPr/>
            </a:p>
          </p:txBody>
        </p:sp>
        <p:sp>
          <p:nvSpPr>
            <p:cNvPr id="22" name="Rectangle 21"/>
            <p:cNvSpPr/>
            <p:nvPr/>
          </p:nvSpPr>
          <p:spPr>
            <a:xfrm>
              <a:off x="2529428" y="3211521"/>
              <a:ext cx="380588" cy="163109"/>
            </a:xfrm>
            <a:prstGeom prst="rect">
              <a:avLst/>
            </a:prstGeom>
            <a:solidFill>
              <a:srgbClr val="3D434C"/>
            </a:solidFill>
            <a:ln w="12700">
              <a:solidFill>
                <a:srgbClr val="9AA0A6"/>
              </a:solidFill>
            </a:ln>
          </p:spPr>
          <p:txBody>
            <a:bodyPr rtlCol="0" anchor="ctr"/>
            <a:lstStyle/>
            <a:p>
              <a:pPr algn="ctr"/>
              <a:endParaRPr/>
            </a:p>
          </p:txBody>
        </p:sp>
        <p:sp>
          <p:nvSpPr>
            <p:cNvPr id="23" name="Oval 22"/>
            <p:cNvSpPr/>
            <p:nvPr/>
          </p:nvSpPr>
          <p:spPr>
            <a:xfrm>
              <a:off x="2760499" y="3252298"/>
              <a:ext cx="407773" cy="407773"/>
            </a:xfrm>
            <a:prstGeom prst="ellipse">
              <a:avLst/>
            </a:prstGeom>
            <a:solidFill>
              <a:srgbClr val="1B1D21"/>
            </a:solidFill>
            <a:ln w="25400">
              <a:solidFill>
                <a:srgbClr val="9AA0A6"/>
              </a:solidFill>
            </a:ln>
          </p:spPr>
          <p:txBody>
            <a:bodyPr rtlCol="0" anchor="ctr"/>
            <a:lstStyle/>
            <a:p>
              <a:pPr algn="ctr"/>
              <a:endParaRPr/>
            </a:p>
          </p:txBody>
        </p:sp>
        <p:sp>
          <p:nvSpPr>
            <p:cNvPr id="24" name="Oval 23"/>
            <p:cNvSpPr/>
            <p:nvPr/>
          </p:nvSpPr>
          <p:spPr>
            <a:xfrm>
              <a:off x="2927686" y="3419485"/>
              <a:ext cx="73399" cy="73399"/>
            </a:xfrm>
            <a:prstGeom prst="ellipse">
              <a:avLst/>
            </a:prstGeom>
            <a:solidFill>
              <a:srgbClr val="9AA0A6"/>
            </a:solidFill>
            <a:ln>
              <a:noFill/>
            </a:ln>
          </p:spPr>
          <p:txBody>
            <a:bodyPr rtlCol="0" anchor="ctr"/>
            <a:lstStyle/>
            <a:p>
              <a:pPr algn="ctr"/>
              <a:endParaRPr/>
            </a:p>
          </p:txBody>
        </p:sp>
        <p:sp>
          <p:nvSpPr>
            <p:cNvPr id="25" name="Oval 24"/>
            <p:cNvSpPr/>
            <p:nvPr/>
          </p:nvSpPr>
          <p:spPr>
            <a:xfrm>
              <a:off x="3195457" y="3252298"/>
              <a:ext cx="407773" cy="407773"/>
            </a:xfrm>
            <a:prstGeom prst="ellipse">
              <a:avLst/>
            </a:prstGeom>
            <a:solidFill>
              <a:srgbClr val="1B1D21"/>
            </a:solidFill>
            <a:ln w="25400">
              <a:solidFill>
                <a:srgbClr val="9AA0A6"/>
              </a:solidFill>
            </a:ln>
          </p:spPr>
          <p:txBody>
            <a:bodyPr rtlCol="0" anchor="ctr"/>
            <a:lstStyle/>
            <a:p>
              <a:pPr algn="ctr"/>
              <a:endParaRPr/>
            </a:p>
          </p:txBody>
        </p:sp>
        <p:sp>
          <p:nvSpPr>
            <p:cNvPr id="26" name="Oval 25"/>
            <p:cNvSpPr/>
            <p:nvPr/>
          </p:nvSpPr>
          <p:spPr>
            <a:xfrm>
              <a:off x="3362644" y="3419485"/>
              <a:ext cx="73399" cy="73399"/>
            </a:xfrm>
            <a:prstGeom prst="ellipse">
              <a:avLst/>
            </a:prstGeom>
            <a:solidFill>
              <a:srgbClr val="9AA0A6"/>
            </a:solidFill>
            <a:ln>
              <a:noFill/>
            </a:ln>
          </p:spPr>
          <p:txBody>
            <a:bodyPr rtlCol="0" anchor="ctr"/>
            <a:lstStyle/>
            <a:p>
              <a:pPr algn="ctr"/>
              <a:endParaRPr/>
            </a:p>
          </p:txBody>
        </p:sp>
        <p:sp>
          <p:nvSpPr>
            <p:cNvPr id="27" name="Oval 26"/>
            <p:cNvSpPr/>
            <p:nvPr/>
          </p:nvSpPr>
          <p:spPr>
            <a:xfrm>
              <a:off x="3630415" y="3252298"/>
              <a:ext cx="407773" cy="407773"/>
            </a:xfrm>
            <a:prstGeom prst="ellipse">
              <a:avLst/>
            </a:prstGeom>
            <a:solidFill>
              <a:srgbClr val="1B1D21"/>
            </a:solidFill>
            <a:ln w="25400">
              <a:solidFill>
                <a:srgbClr val="9AA0A6"/>
              </a:solidFill>
            </a:ln>
          </p:spPr>
          <p:txBody>
            <a:bodyPr rtlCol="0" anchor="ctr"/>
            <a:lstStyle/>
            <a:p>
              <a:pPr algn="ctr"/>
              <a:endParaRPr/>
            </a:p>
          </p:txBody>
        </p:sp>
        <p:sp>
          <p:nvSpPr>
            <p:cNvPr id="28" name="Oval 27"/>
            <p:cNvSpPr/>
            <p:nvPr/>
          </p:nvSpPr>
          <p:spPr>
            <a:xfrm>
              <a:off x="3797602" y="3419485"/>
              <a:ext cx="73399" cy="73399"/>
            </a:xfrm>
            <a:prstGeom prst="ellipse">
              <a:avLst/>
            </a:prstGeom>
            <a:solidFill>
              <a:srgbClr val="9AA0A6"/>
            </a:solidFill>
            <a:ln>
              <a:noFill/>
            </a:ln>
          </p:spPr>
          <p:txBody>
            <a:bodyPr rtlCol="0" anchor="ctr"/>
            <a:lstStyle/>
            <a:p>
              <a:pPr algn="ctr"/>
              <a:endParaRPr/>
            </a:p>
          </p:txBody>
        </p:sp>
        <p:cxnSp>
          <p:nvCxnSpPr>
            <p:cNvPr id="29" name="Connector 28"/>
            <p:cNvCxnSpPr/>
            <p:nvPr/>
          </p:nvCxnSpPr>
          <p:spPr>
            <a:xfrm>
              <a:off x="2964386" y="3456185"/>
              <a:ext cx="869916" cy="0"/>
            </a:xfrm>
            <a:prstGeom prst="line">
              <a:avLst/>
            </a:prstGeom>
            <a:ln w="25400">
              <a:solidFill>
                <a:srgbClr val="9AA0A6"/>
              </a:solidFill>
            </a:ln>
          </p:spPr>
        </p:cxnSp>
        <p:sp>
          <p:nvSpPr>
            <p:cNvPr id="30" name="Oval 29"/>
            <p:cNvSpPr/>
            <p:nvPr/>
          </p:nvSpPr>
          <p:spPr>
            <a:xfrm>
              <a:off x="2407096" y="3415408"/>
              <a:ext cx="244664" cy="244664"/>
            </a:xfrm>
            <a:prstGeom prst="ellipse">
              <a:avLst/>
            </a:prstGeom>
            <a:solidFill>
              <a:srgbClr val="1B1D21"/>
            </a:solidFill>
            <a:ln w="25400">
              <a:solidFill>
                <a:srgbClr val="9AA0A6"/>
              </a:solidFill>
            </a:ln>
          </p:spPr>
          <p:txBody>
            <a:bodyPr rtlCol="0" anchor="ctr"/>
            <a:lstStyle/>
            <a:p>
              <a:pPr algn="ctr"/>
              <a:endParaRPr/>
            </a:p>
          </p:txBody>
        </p:sp>
        <p:sp>
          <p:nvSpPr>
            <p:cNvPr id="31" name="Oval 30"/>
            <p:cNvSpPr/>
            <p:nvPr/>
          </p:nvSpPr>
          <p:spPr>
            <a:xfrm>
              <a:off x="2507408" y="3515720"/>
              <a:ext cx="44039" cy="44039"/>
            </a:xfrm>
            <a:prstGeom prst="ellipse">
              <a:avLst/>
            </a:prstGeom>
            <a:solidFill>
              <a:srgbClr val="9AA0A6"/>
            </a:solidFill>
            <a:ln>
              <a:noFill/>
            </a:ln>
          </p:spPr>
          <p:txBody>
            <a:bodyPr rtlCol="0" anchor="ctr"/>
            <a:lstStyle/>
            <a:p>
              <a:pPr algn="ctr"/>
              <a:endParaRPr/>
            </a:p>
          </p:txBody>
        </p:sp>
        <p:sp>
          <p:nvSpPr>
            <p:cNvPr id="32" name="Rectangle 31"/>
            <p:cNvSpPr/>
            <p:nvPr/>
          </p:nvSpPr>
          <p:spPr>
            <a:xfrm>
              <a:off x="4812957" y="3211521"/>
              <a:ext cx="1332058" cy="163109"/>
            </a:xfrm>
            <a:prstGeom prst="rect">
              <a:avLst/>
            </a:prstGeom>
            <a:solidFill>
              <a:srgbClr val="3D434C"/>
            </a:solidFill>
            <a:ln w="12700">
              <a:solidFill>
                <a:srgbClr val="9AA0A6"/>
              </a:solidFill>
            </a:ln>
          </p:spPr>
          <p:txBody>
            <a:bodyPr rtlCol="0" anchor="ctr"/>
            <a:lstStyle/>
            <a:p>
              <a:pPr algn="ctr"/>
              <a:endParaRPr/>
            </a:p>
          </p:txBody>
        </p:sp>
        <p:sp>
          <p:nvSpPr>
            <p:cNvPr id="33" name="Rounded Rectangle 32"/>
            <p:cNvSpPr/>
            <p:nvPr/>
          </p:nvSpPr>
          <p:spPr>
            <a:xfrm>
              <a:off x="4867326" y="2803748"/>
              <a:ext cx="1250504" cy="434958"/>
            </a:xfrm>
            <a:prstGeom prst="roundRect">
              <a:avLst>
                <a:gd name="adj" fmla="val 12500"/>
              </a:avLst>
            </a:prstGeom>
            <a:solidFill>
              <a:srgbClr val="6C7480"/>
            </a:solidFill>
            <a:ln w="12700">
              <a:solidFill>
                <a:srgbClr val="1B1D21"/>
              </a:solidFill>
            </a:ln>
          </p:spPr>
          <p:txBody>
            <a:bodyPr rtlCol="0" anchor="ctr"/>
            <a:lstStyle/>
            <a:p>
              <a:pPr algn="ctr"/>
              <a:endParaRPr/>
            </a:p>
          </p:txBody>
        </p:sp>
        <p:sp>
          <p:nvSpPr>
            <p:cNvPr id="34" name="Rectangle 33"/>
            <p:cNvSpPr/>
            <p:nvPr/>
          </p:nvSpPr>
          <p:spPr>
            <a:xfrm>
              <a:off x="4921696" y="2640639"/>
              <a:ext cx="1141764" cy="190294"/>
            </a:xfrm>
            <a:prstGeom prst="rect">
              <a:avLst/>
            </a:prstGeom>
            <a:solidFill>
              <a:srgbClr val="1B1D21"/>
            </a:solidFill>
            <a:ln w="12700">
              <a:solidFill>
                <a:srgbClr val="9AA0A6"/>
              </a:solidFill>
            </a:ln>
          </p:spPr>
          <p:txBody>
            <a:bodyPr rtlCol="0" anchor="ctr"/>
            <a:lstStyle/>
            <a:p>
              <a:pPr algn="ctr"/>
              <a:endParaRPr/>
            </a:p>
          </p:txBody>
        </p:sp>
        <p:sp>
          <p:nvSpPr>
            <p:cNvPr id="35" name="Oval 34"/>
            <p:cNvSpPr/>
            <p:nvPr/>
          </p:nvSpPr>
          <p:spPr>
            <a:xfrm>
              <a:off x="4989658" y="3361038"/>
              <a:ext cx="299034" cy="299034"/>
            </a:xfrm>
            <a:prstGeom prst="ellipse">
              <a:avLst/>
            </a:prstGeom>
            <a:solidFill>
              <a:srgbClr val="1B1D21"/>
            </a:solidFill>
            <a:ln w="25400">
              <a:solidFill>
                <a:srgbClr val="9AA0A6"/>
              </a:solidFill>
            </a:ln>
          </p:spPr>
          <p:txBody>
            <a:bodyPr rtlCol="0" anchor="ctr"/>
            <a:lstStyle/>
            <a:p>
              <a:pPr algn="ctr"/>
              <a:endParaRPr/>
            </a:p>
          </p:txBody>
        </p:sp>
        <p:sp>
          <p:nvSpPr>
            <p:cNvPr id="36" name="Oval 35"/>
            <p:cNvSpPr/>
            <p:nvPr/>
          </p:nvSpPr>
          <p:spPr>
            <a:xfrm>
              <a:off x="5112262" y="3483642"/>
              <a:ext cx="53826" cy="53826"/>
            </a:xfrm>
            <a:prstGeom prst="ellipse">
              <a:avLst/>
            </a:prstGeom>
            <a:solidFill>
              <a:srgbClr val="9AA0A6"/>
            </a:solidFill>
            <a:ln>
              <a:noFill/>
            </a:ln>
          </p:spPr>
          <p:txBody>
            <a:bodyPr rtlCol="0" anchor="ctr"/>
            <a:lstStyle/>
            <a:p>
              <a:pPr algn="ctr"/>
              <a:endParaRPr/>
            </a:p>
          </p:txBody>
        </p:sp>
        <p:sp>
          <p:nvSpPr>
            <p:cNvPr id="37" name="Oval 36"/>
            <p:cNvSpPr/>
            <p:nvPr/>
          </p:nvSpPr>
          <p:spPr>
            <a:xfrm>
              <a:off x="5669280" y="3361038"/>
              <a:ext cx="299034" cy="299034"/>
            </a:xfrm>
            <a:prstGeom prst="ellipse">
              <a:avLst/>
            </a:prstGeom>
            <a:solidFill>
              <a:srgbClr val="1B1D21"/>
            </a:solidFill>
            <a:ln w="25400">
              <a:solidFill>
                <a:srgbClr val="9AA0A6"/>
              </a:solidFill>
            </a:ln>
          </p:spPr>
          <p:txBody>
            <a:bodyPr rtlCol="0" anchor="ctr"/>
            <a:lstStyle/>
            <a:p>
              <a:pPr algn="ctr"/>
              <a:endParaRPr/>
            </a:p>
          </p:txBody>
        </p:sp>
        <p:sp>
          <p:nvSpPr>
            <p:cNvPr id="38" name="Oval 37"/>
            <p:cNvSpPr/>
            <p:nvPr/>
          </p:nvSpPr>
          <p:spPr>
            <a:xfrm>
              <a:off x="5791884" y="3483642"/>
              <a:ext cx="53826" cy="53826"/>
            </a:xfrm>
            <a:prstGeom prst="ellipse">
              <a:avLst/>
            </a:prstGeom>
            <a:solidFill>
              <a:srgbClr val="9AA0A6"/>
            </a:solidFill>
            <a:ln>
              <a:noFill/>
            </a:ln>
          </p:spPr>
          <p:txBody>
            <a:bodyPr rtlCol="0" anchor="ctr"/>
            <a:lstStyle/>
            <a:p>
              <a:pPr algn="ctr"/>
              <a:endParaRPr/>
            </a:p>
          </p:txBody>
        </p:sp>
        <p:cxnSp>
          <p:nvCxnSpPr>
            <p:cNvPr id="39" name="Connector 38"/>
            <p:cNvCxnSpPr/>
            <p:nvPr/>
          </p:nvCxnSpPr>
          <p:spPr>
            <a:xfrm>
              <a:off x="2011680" y="4114800"/>
              <a:ext cx="4297680" cy="0"/>
            </a:xfrm>
            <a:prstGeom prst="line">
              <a:avLst/>
            </a:prstGeom>
            <a:ln w="38100">
              <a:solidFill>
                <a:srgbClr val="9AA0A6"/>
              </a:solidFill>
            </a:ln>
          </p:spPr>
        </p:cxnSp>
        <p:sp>
          <p:nvSpPr>
            <p:cNvPr id="40" name="Rounded Rectangle 39"/>
            <p:cNvSpPr/>
            <p:nvPr/>
          </p:nvSpPr>
          <p:spPr>
            <a:xfrm>
              <a:off x="6903720" y="2057400"/>
              <a:ext cx="731520" cy="731520"/>
            </a:xfrm>
            <a:prstGeom prst="roundRect">
              <a:avLst>
                <a:gd name="adj" fmla="val 12500"/>
              </a:avLst>
            </a:prstGeom>
            <a:solidFill>
              <a:srgbClr val="2E6B45"/>
            </a:solidFill>
            <a:ln w="50800">
              <a:solidFill>
                <a:srgbClr val="E8E8E8"/>
              </a:solidFill>
            </a:ln>
          </p:spPr>
          <p:txBody>
            <a:bodyPr rtlCol="0" anchor="ctr"/>
            <a:lstStyle/>
            <a:p>
              <a:pPr algn="ctr"/>
              <a:endParaRPr/>
            </a:p>
          </p:txBody>
        </p:sp>
        <p:sp>
          <p:nvSpPr>
            <p:cNvPr id="41" name="Rounded Rectangle 40"/>
            <p:cNvSpPr/>
            <p:nvPr/>
          </p:nvSpPr>
          <p:spPr>
            <a:xfrm>
              <a:off x="7790688" y="2057400"/>
              <a:ext cx="731520" cy="731520"/>
            </a:xfrm>
            <a:prstGeom prst="roundRect">
              <a:avLst>
                <a:gd name="adj" fmla="val 12500"/>
              </a:avLst>
            </a:prstGeom>
            <a:solidFill>
              <a:srgbClr val="8C2F39"/>
            </a:solidFill>
            <a:ln w="19050">
              <a:solidFill>
                <a:srgbClr val="4A515B"/>
              </a:solidFill>
            </a:ln>
          </p:spPr>
          <p:txBody>
            <a:bodyPr rtlCol="0" anchor="ctr"/>
            <a:lstStyle/>
            <a:p>
              <a:pPr algn="ctr"/>
              <a:endParaRPr/>
            </a:p>
          </p:txBody>
        </p:sp>
        <p:sp>
          <p:nvSpPr>
            <p:cNvPr id="42" name="Rounded Rectangle 41"/>
            <p:cNvSpPr/>
            <p:nvPr/>
          </p:nvSpPr>
          <p:spPr>
            <a:xfrm>
              <a:off x="8677656" y="2057400"/>
              <a:ext cx="731520" cy="731520"/>
            </a:xfrm>
            <a:prstGeom prst="roundRect">
              <a:avLst>
                <a:gd name="adj" fmla="val 12500"/>
              </a:avLst>
            </a:prstGeom>
            <a:solidFill>
              <a:srgbClr val="F28C28"/>
            </a:solidFill>
            <a:ln w="19050">
              <a:solidFill>
                <a:srgbClr val="4A515B"/>
              </a:solidFill>
            </a:ln>
          </p:spPr>
          <p:txBody>
            <a:bodyPr rtlCol="0" anchor="ctr"/>
            <a:lstStyle/>
            <a:p>
              <a:pPr algn="ctr"/>
              <a:endParaRPr/>
            </a:p>
          </p:txBody>
        </p:sp>
        <p:sp>
          <p:nvSpPr>
            <p:cNvPr id="43" name="Rounded Rectangle 42"/>
            <p:cNvSpPr/>
            <p:nvPr/>
          </p:nvSpPr>
          <p:spPr>
            <a:xfrm>
              <a:off x="9564624" y="2057400"/>
              <a:ext cx="731520" cy="731520"/>
            </a:xfrm>
            <a:prstGeom prst="roundRect">
              <a:avLst>
                <a:gd name="adj" fmla="val 12500"/>
              </a:avLst>
            </a:prstGeom>
            <a:solidFill>
              <a:srgbClr val="2FA3A0"/>
            </a:solidFill>
            <a:ln w="19050">
              <a:solidFill>
                <a:srgbClr val="4A515B"/>
              </a:solidFill>
            </a:ln>
          </p:spPr>
          <p:txBody>
            <a:bodyPr rtlCol="0" anchor="ctr"/>
            <a:lstStyle/>
            <a:p>
              <a:pPr algn="ctr"/>
              <a:endParaRPr/>
            </a:p>
          </p:txBody>
        </p:sp>
        <p:sp>
          <p:nvSpPr>
            <p:cNvPr id="44" name="Rounded Rectangle 43"/>
            <p:cNvSpPr/>
            <p:nvPr/>
          </p:nvSpPr>
          <p:spPr>
            <a:xfrm>
              <a:off x="6903720" y="2944368"/>
              <a:ext cx="731520" cy="731520"/>
            </a:xfrm>
            <a:prstGeom prst="roundRect">
              <a:avLst>
                <a:gd name="adj" fmla="val 12500"/>
              </a:avLst>
            </a:prstGeom>
            <a:solidFill>
              <a:srgbClr val="5A4A7A"/>
            </a:solidFill>
            <a:ln w="19050">
              <a:solidFill>
                <a:srgbClr val="4A515B"/>
              </a:solidFill>
            </a:ln>
          </p:spPr>
          <p:txBody>
            <a:bodyPr rtlCol="0" anchor="ctr"/>
            <a:lstStyle/>
            <a:p>
              <a:pPr algn="ctr"/>
              <a:endParaRPr/>
            </a:p>
          </p:txBody>
        </p:sp>
        <p:sp>
          <p:nvSpPr>
            <p:cNvPr id="45" name="Rounded Rectangle 44"/>
            <p:cNvSpPr/>
            <p:nvPr/>
          </p:nvSpPr>
          <p:spPr>
            <a:xfrm>
              <a:off x="7790688" y="2944368"/>
              <a:ext cx="731520" cy="731520"/>
            </a:xfrm>
            <a:prstGeom prst="roundRect">
              <a:avLst>
                <a:gd name="adj" fmla="val 12500"/>
              </a:avLst>
            </a:prstGeom>
            <a:solidFill>
              <a:srgbClr val="C9A227"/>
            </a:solidFill>
            <a:ln w="19050">
              <a:solidFill>
                <a:srgbClr val="4A515B"/>
              </a:solidFill>
            </a:ln>
          </p:spPr>
          <p:txBody>
            <a:bodyPr rtlCol="0" anchor="ctr"/>
            <a:lstStyle/>
            <a:p>
              <a:pPr algn="ctr"/>
              <a:endParaRPr/>
            </a:p>
          </p:txBody>
        </p:sp>
        <p:sp>
          <p:nvSpPr>
            <p:cNvPr id="46" name="Rounded Rectangle 45"/>
            <p:cNvSpPr/>
            <p:nvPr/>
          </p:nvSpPr>
          <p:spPr>
            <a:xfrm>
              <a:off x="8677656" y="2944368"/>
              <a:ext cx="731520" cy="731520"/>
            </a:xfrm>
            <a:prstGeom prst="roundRect">
              <a:avLst>
                <a:gd name="adj" fmla="val 12500"/>
              </a:avLst>
            </a:prstGeom>
            <a:solidFill>
              <a:srgbClr val="2F4F7F"/>
            </a:solidFill>
            <a:ln w="19050">
              <a:solidFill>
                <a:srgbClr val="4A515B"/>
              </a:solidFill>
            </a:ln>
          </p:spPr>
          <p:txBody>
            <a:bodyPr rtlCol="0" anchor="ctr"/>
            <a:lstStyle/>
            <a:p>
              <a:pPr algn="ctr"/>
              <a:endParaRPr/>
            </a:p>
          </p:txBody>
        </p:sp>
        <p:sp>
          <p:nvSpPr>
            <p:cNvPr id="47" name="Rounded Rectangle 46"/>
            <p:cNvSpPr/>
            <p:nvPr/>
          </p:nvSpPr>
          <p:spPr>
            <a:xfrm>
              <a:off x="9564624" y="2944368"/>
              <a:ext cx="731520" cy="731520"/>
            </a:xfrm>
            <a:prstGeom prst="roundRect">
              <a:avLst>
                <a:gd name="adj" fmla="val 12500"/>
              </a:avLst>
            </a:prstGeom>
            <a:solidFill>
              <a:srgbClr val="7A2E1D"/>
            </a:solidFill>
            <a:ln w="19050">
              <a:solidFill>
                <a:srgbClr val="4A515B"/>
              </a:solidFill>
            </a:ln>
          </p:spPr>
          <p:txBody>
            <a:bodyPr rtlCol="0" anchor="ctr"/>
            <a:lstStyle/>
            <a:p>
              <a:pPr algn="ctr"/>
              <a:endParaRPr/>
            </a:p>
          </p:txBody>
        </p:sp>
        <p:sp>
          <p:nvSpPr>
            <p:cNvPr id="48" name="Rounded Rectangle 47"/>
            <p:cNvSpPr/>
            <p:nvPr/>
          </p:nvSpPr>
          <p:spPr>
            <a:xfrm>
              <a:off x="6903720" y="3831336"/>
              <a:ext cx="731520" cy="731520"/>
            </a:xfrm>
            <a:prstGeom prst="roundRect">
              <a:avLst>
                <a:gd name="adj" fmla="val 12500"/>
              </a:avLst>
            </a:prstGeom>
            <a:solidFill>
              <a:srgbClr val="4A4A4A"/>
            </a:solidFill>
            <a:ln w="19050">
              <a:solidFill>
                <a:srgbClr val="4A515B"/>
              </a:solidFill>
            </a:ln>
          </p:spPr>
          <p:txBody>
            <a:bodyPr rtlCol="0" anchor="ctr"/>
            <a:lstStyle/>
            <a:p>
              <a:pPr algn="ctr"/>
              <a:endParaRPr/>
            </a:p>
          </p:txBody>
        </p:sp>
        <p:sp>
          <p:nvSpPr>
            <p:cNvPr id="49" name="Rounded Rectangle 48"/>
            <p:cNvSpPr/>
            <p:nvPr/>
          </p:nvSpPr>
          <p:spPr>
            <a:xfrm>
              <a:off x="7790688" y="3831336"/>
              <a:ext cx="731520" cy="731520"/>
            </a:xfrm>
            <a:prstGeom prst="roundRect">
              <a:avLst>
                <a:gd name="adj" fmla="val 12500"/>
              </a:avLst>
            </a:prstGeom>
            <a:solidFill>
              <a:srgbClr val="B5B5B5"/>
            </a:solidFill>
            <a:ln w="19050">
              <a:solidFill>
                <a:srgbClr val="4A515B"/>
              </a:solidFill>
            </a:ln>
          </p:spPr>
          <p:txBody>
            <a:bodyPr rtlCol="0" anchor="ctr"/>
            <a:lstStyle/>
            <a:p>
              <a:pPr algn="ctr"/>
              <a:endParaRPr/>
            </a:p>
          </p:txBody>
        </p:sp>
        <p:sp>
          <p:nvSpPr>
            <p:cNvPr id="50" name="Rounded Rectangle 49"/>
            <p:cNvSpPr/>
            <p:nvPr/>
          </p:nvSpPr>
          <p:spPr>
            <a:xfrm>
              <a:off x="8677656" y="3831336"/>
              <a:ext cx="731520" cy="731520"/>
            </a:xfrm>
            <a:prstGeom prst="roundRect">
              <a:avLst>
                <a:gd name="adj" fmla="val 12500"/>
              </a:avLst>
            </a:prstGeom>
            <a:solidFill>
              <a:srgbClr val="1F5F5B"/>
            </a:solidFill>
            <a:ln w="19050">
              <a:solidFill>
                <a:srgbClr val="4A515B"/>
              </a:solidFill>
            </a:ln>
          </p:spPr>
          <p:txBody>
            <a:bodyPr rtlCol="0" anchor="ctr"/>
            <a:lstStyle/>
            <a:p>
              <a:pPr algn="ctr"/>
              <a:endParaRPr/>
            </a:p>
          </p:txBody>
        </p:sp>
        <p:sp>
          <p:nvSpPr>
            <p:cNvPr id="51" name="Rounded Rectangle 50"/>
            <p:cNvSpPr/>
            <p:nvPr/>
          </p:nvSpPr>
          <p:spPr>
            <a:xfrm>
              <a:off x="9564624" y="3831336"/>
              <a:ext cx="731520" cy="731520"/>
            </a:xfrm>
            <a:prstGeom prst="roundRect">
              <a:avLst>
                <a:gd name="adj" fmla="val 12500"/>
              </a:avLst>
            </a:prstGeom>
            <a:solidFill>
              <a:srgbClr val="D9D2B0"/>
            </a:solidFill>
            <a:ln w="19050">
              <a:solidFill>
                <a:srgbClr val="4A515B"/>
              </a:solidFill>
            </a:ln>
          </p:spPr>
          <p:txBody>
            <a:bodyPr rtlCol="0" anchor="ctr"/>
            <a:lstStyle/>
            <a:p>
              <a:pPr algn="ctr"/>
              <a:endParaRPr/>
            </a:p>
          </p:txBody>
        </p:sp>
      </p:grpSp>
      <p:sp>
        <p:nvSpPr>
          <p:cNvPr id="52" name="Inline chip"/>
          <p:cNvSpPr/>
          <p:nvPr/>
        </p:nvSpPr>
        <p:spPr>
          <a:xfrm>
            <a:off x="4783977" y="5029200"/>
            <a:ext cx="2623741" cy="329184"/>
          </a:xfrm>
          <a:prstGeom prst="roundRect">
            <a:avLst>
              <a:gd name="adj" fmla="val 50000"/>
            </a:avLst>
          </a:prstGeom>
          <a:noFill/>
          <a:ln w="25400">
            <a:solidFill>
              <a:srgbClr val="A9B0B8"/>
            </a:solidFill>
          </a:ln>
        </p:spPr>
        <p:txBody>
          <a:bodyPr wrap="none" lIns="73152" tIns="18288" rIns="73152" bIns="18288" rtlCol="0" anchor="ctr">
            <a:noAutofit/>
          </a:bodyPr>
          <a:lstStyle/>
          <a:p>
            <a:pPr algn="ctr">
              <a:spcBef>
                <a:spcPts val="0"/>
              </a:spcBef>
              <a:spcAft>
                <a:spcPts val="0"/>
              </a:spcAft>
            </a:pPr>
            <a:r>
              <a:rPr lang="en-GB" sz="1400" b="0" i="0">
                <a:solidFill>
                  <a:srgbClr val="F2F2F2"/>
                </a:solidFill>
                <a:latin typeface="Arial"/>
              </a:rPr>
              <a:t>Licensing: undecided (OQ25)</a:t>
            </a:r>
          </a:p>
        </p:txBody>
      </p:sp>
      <p:sp>
        <p:nvSpPr>
          <p:cNvPr id="53"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You might pick liveries in the game's own customiser. That is not checked yet.</a:t>
            </a:r>
          </a:p>
        </p:txBody>
      </p:sp>
      <p:sp>
        <p:nvSpPr>
          <p:cNvPr id="54"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55"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18</a:t>
            </a:r>
          </a:p>
        </p:txBody>
      </p:sp>
    </p:spTree>
    <p:extLst>
      <p:ext uri="{BB962C8B-B14F-4D97-AF65-F5344CB8AC3E}">
        <p14:creationId xmlns:p14="http://schemas.microsoft.com/office/powerpoint/2010/main" val="42429013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2"/>
                                        </p:tgtEl>
                                        <p:attrNameLst>
                                          <p:attrName>style.visibility</p:attrName>
                                        </p:attrNameLst>
                                      </p:cBhvr>
                                      <p:to>
                                        <p:strVal val="visible"/>
                                      </p:to>
                                    </p:set>
                                    <p:animEffect transition="in" filter="fade">
                                      <p:cBhvr>
                                        <p:cTn id="10" dur="500"/>
                                        <p:tgtEl>
                                          <p:spTgt spid="52"/>
                                        </p:tgtEl>
                                      </p:cBhvr>
                                    </p:animEffect>
                                  </p:childTnLst>
                                </p:cTn>
                              </p:par>
                              <p:par>
                                <p:cTn id="11" presetID="10" presetClass="entr" presetSubtype="0" fill="hold" nodeType="withEffect">
                                  <p:stCondLst>
                                    <p:cond delay="60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par>
                                <p:cTn id="14" presetID="10" presetClass="entr" presetSubtype="0" fill="hold" nodeType="withEffect">
                                  <p:stCondLst>
                                    <p:cond delay="90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Prestige engines</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a prestige engine on a pedestal with a tag and a card" descr="A steam locomotive on a display pedestal with a tag reading Extremely expensive, and a card reading Not better at hauling. A small golden cup stands for the game trophies."/>
          <p:cNvGrpSpPr/>
          <p:nvPr/>
        </p:nvGrpSpPr>
        <p:grpSpPr>
          <a:xfrm>
            <a:off x="685800" y="1645920"/>
            <a:ext cx="10927080" cy="3474720"/>
            <a:chOff x="685800" y="1645920"/>
            <a:chExt cx="10927080" cy="3474720"/>
          </a:xfrm>
        </p:grpSpPr>
        <p:sp>
          <p:nvSpPr>
            <p:cNvPr id="5" name="Rounded Rectangle 4"/>
            <p:cNvSpPr/>
            <p:nvPr/>
          </p:nvSpPr>
          <p:spPr>
            <a:xfrm>
              <a:off x="822960" y="4754880"/>
              <a:ext cx="5120640" cy="365760"/>
            </a:xfrm>
            <a:prstGeom prst="roundRect">
              <a:avLst>
                <a:gd name="adj" fmla="val 15000"/>
              </a:avLst>
            </a:prstGeom>
            <a:solidFill>
              <a:srgbClr val="4A515B"/>
            </a:solidFill>
            <a:ln>
              <a:noFill/>
            </a:ln>
          </p:spPr>
          <p:txBody>
            <a:bodyPr rtlCol="0" anchor="ctr"/>
            <a:lstStyle/>
            <a:p>
              <a:pPr algn="ctr"/>
              <a:endParaRPr/>
            </a:p>
          </p:txBody>
        </p:sp>
        <p:sp>
          <p:nvSpPr>
            <p:cNvPr id="6" name="Rounded Rectangle 5"/>
            <p:cNvSpPr/>
            <p:nvPr/>
          </p:nvSpPr>
          <p:spPr>
            <a:xfrm>
              <a:off x="1188720" y="4370832"/>
              <a:ext cx="4389120" cy="411480"/>
            </a:xfrm>
            <a:prstGeom prst="roundRect">
              <a:avLst>
                <a:gd name="adj" fmla="val 13333"/>
              </a:avLst>
            </a:prstGeom>
            <a:solidFill>
              <a:srgbClr val="343A43"/>
            </a:solidFill>
            <a:ln w="19050">
              <a:solidFill>
                <a:srgbClr val="9AA0A6"/>
              </a:solidFill>
            </a:ln>
          </p:spPr>
          <p:txBody>
            <a:bodyPr rtlCol="0" anchor="ctr"/>
            <a:lstStyle/>
            <a:p>
              <a:pPr algn="ctr"/>
              <a:endParaRPr/>
            </a:p>
          </p:txBody>
        </p:sp>
        <p:sp>
          <p:nvSpPr>
            <p:cNvPr id="7" name="Rectangle 6"/>
            <p:cNvSpPr/>
            <p:nvPr/>
          </p:nvSpPr>
          <p:spPr>
            <a:xfrm>
              <a:off x="1437091" y="3686638"/>
              <a:ext cx="2613454" cy="166816"/>
            </a:xfrm>
            <a:prstGeom prst="rect">
              <a:avLst/>
            </a:prstGeom>
            <a:solidFill>
              <a:srgbClr val="3D434C"/>
            </a:solidFill>
            <a:ln w="12700">
              <a:solidFill>
                <a:srgbClr val="9AA0A6"/>
              </a:solidFill>
            </a:ln>
          </p:spPr>
          <p:txBody>
            <a:bodyPr rtlCol="0" anchor="ctr"/>
            <a:lstStyle/>
            <a:p>
              <a:pPr algn="ctr"/>
              <a:endParaRPr/>
            </a:p>
          </p:txBody>
        </p:sp>
        <p:sp>
          <p:nvSpPr>
            <p:cNvPr id="8" name="Rounded Rectangle 7"/>
            <p:cNvSpPr/>
            <p:nvPr/>
          </p:nvSpPr>
          <p:spPr>
            <a:xfrm>
              <a:off x="1659512" y="3186190"/>
              <a:ext cx="1612557" cy="528251"/>
            </a:xfrm>
            <a:prstGeom prst="roundRect">
              <a:avLst>
                <a:gd name="adj" fmla="val 31578"/>
              </a:avLst>
            </a:prstGeom>
            <a:solidFill>
              <a:srgbClr val="F2C14E"/>
            </a:solidFill>
            <a:ln w="12700">
              <a:solidFill>
                <a:srgbClr val="1B1D21"/>
              </a:solidFill>
            </a:ln>
          </p:spPr>
          <p:txBody>
            <a:bodyPr rtlCol="0" anchor="ctr"/>
            <a:lstStyle/>
            <a:p>
              <a:pPr algn="ctr"/>
              <a:endParaRPr/>
            </a:p>
          </p:txBody>
        </p:sp>
        <p:sp>
          <p:nvSpPr>
            <p:cNvPr id="9" name="Rectangle 8"/>
            <p:cNvSpPr/>
            <p:nvPr/>
          </p:nvSpPr>
          <p:spPr>
            <a:xfrm>
              <a:off x="1464894" y="3186190"/>
              <a:ext cx="250224" cy="528251"/>
            </a:xfrm>
            <a:prstGeom prst="rect">
              <a:avLst/>
            </a:prstGeom>
            <a:solidFill>
              <a:srgbClr val="3D434C"/>
            </a:solidFill>
            <a:ln w="12700">
              <a:solidFill>
                <a:srgbClr val="9AA0A6"/>
              </a:solidFill>
            </a:ln>
          </p:spPr>
          <p:txBody>
            <a:bodyPr rtlCol="0" anchor="ctr"/>
            <a:lstStyle/>
            <a:p>
              <a:pPr algn="ctr"/>
              <a:endParaRPr/>
            </a:p>
          </p:txBody>
        </p:sp>
        <p:sp>
          <p:nvSpPr>
            <p:cNvPr id="10" name="Rectangle 9"/>
            <p:cNvSpPr/>
            <p:nvPr/>
          </p:nvSpPr>
          <p:spPr>
            <a:xfrm>
              <a:off x="1520499" y="2963768"/>
              <a:ext cx="166816" cy="222422"/>
            </a:xfrm>
            <a:prstGeom prst="rect">
              <a:avLst/>
            </a:prstGeom>
            <a:solidFill>
              <a:srgbClr val="3D434C"/>
            </a:solidFill>
            <a:ln w="12700">
              <a:solidFill>
                <a:srgbClr val="9AA0A6"/>
              </a:solidFill>
            </a:ln>
          </p:spPr>
          <p:txBody>
            <a:bodyPr rtlCol="0" anchor="ctr"/>
            <a:lstStyle/>
            <a:p>
              <a:pPr algn="ctr"/>
              <a:endParaRPr/>
            </a:p>
          </p:txBody>
        </p:sp>
        <p:sp>
          <p:nvSpPr>
            <p:cNvPr id="11" name="Rectangle 10"/>
            <p:cNvSpPr/>
            <p:nvPr/>
          </p:nvSpPr>
          <p:spPr>
            <a:xfrm>
              <a:off x="1464894" y="2922064"/>
              <a:ext cx="278027" cy="83408"/>
            </a:xfrm>
            <a:prstGeom prst="rect">
              <a:avLst/>
            </a:prstGeom>
            <a:solidFill>
              <a:srgbClr val="3D434C"/>
            </a:solidFill>
            <a:ln w="12700">
              <a:solidFill>
                <a:srgbClr val="9AA0A6"/>
              </a:solidFill>
            </a:ln>
          </p:spPr>
          <p:txBody>
            <a:bodyPr rtlCol="0" anchor="ctr"/>
            <a:lstStyle/>
            <a:p>
              <a:pPr algn="ctr"/>
              <a:endParaRPr/>
            </a:p>
          </p:txBody>
        </p:sp>
        <p:sp>
          <p:nvSpPr>
            <p:cNvPr id="12" name="Rounded Rectangle 11"/>
            <p:cNvSpPr/>
            <p:nvPr/>
          </p:nvSpPr>
          <p:spPr>
            <a:xfrm>
              <a:off x="2382383" y="3047176"/>
              <a:ext cx="305830" cy="166816"/>
            </a:xfrm>
            <a:prstGeom prst="roundRect">
              <a:avLst>
                <a:gd name="adj" fmla="val 50000"/>
              </a:avLst>
            </a:prstGeom>
            <a:solidFill>
              <a:srgbClr val="F2C14E"/>
            </a:solidFill>
            <a:ln w="12700">
              <a:solidFill>
                <a:srgbClr val="1B1D21"/>
              </a:solidFill>
            </a:ln>
          </p:spPr>
          <p:txBody>
            <a:bodyPr rtlCol="0" anchor="ctr"/>
            <a:lstStyle/>
            <a:p>
              <a:pPr algn="ctr"/>
              <a:endParaRPr/>
            </a:p>
          </p:txBody>
        </p:sp>
        <p:sp>
          <p:nvSpPr>
            <p:cNvPr id="13" name="Rectangle 12"/>
            <p:cNvSpPr/>
            <p:nvPr/>
          </p:nvSpPr>
          <p:spPr>
            <a:xfrm>
              <a:off x="1715118" y="3436414"/>
              <a:ext cx="1501346" cy="111211"/>
            </a:xfrm>
            <a:prstGeom prst="rect">
              <a:avLst/>
            </a:prstGeom>
            <a:solidFill>
              <a:srgbClr val="F28C28"/>
            </a:solidFill>
            <a:ln>
              <a:noFill/>
            </a:ln>
          </p:spPr>
          <p:txBody>
            <a:bodyPr rtlCol="0" anchor="ctr"/>
            <a:lstStyle/>
            <a:p>
              <a:pPr algn="ctr"/>
              <a:endParaRPr/>
            </a:p>
          </p:txBody>
        </p:sp>
        <p:sp>
          <p:nvSpPr>
            <p:cNvPr id="14" name="Rectangle 13"/>
            <p:cNvSpPr/>
            <p:nvPr/>
          </p:nvSpPr>
          <p:spPr>
            <a:xfrm>
              <a:off x="3160858" y="2935965"/>
              <a:ext cx="861884" cy="778476"/>
            </a:xfrm>
            <a:prstGeom prst="rect">
              <a:avLst/>
            </a:prstGeom>
            <a:solidFill>
              <a:srgbClr val="F2C14E"/>
            </a:solidFill>
            <a:ln w="12700">
              <a:solidFill>
                <a:srgbClr val="1B1D21"/>
              </a:solidFill>
            </a:ln>
          </p:spPr>
          <p:txBody>
            <a:bodyPr rtlCol="0" anchor="ctr"/>
            <a:lstStyle/>
            <a:p>
              <a:pPr algn="ctr"/>
              <a:endParaRPr/>
            </a:p>
          </p:txBody>
        </p:sp>
        <p:sp>
          <p:nvSpPr>
            <p:cNvPr id="15" name="Rectangle 14"/>
            <p:cNvSpPr/>
            <p:nvPr/>
          </p:nvSpPr>
          <p:spPr>
            <a:xfrm>
              <a:off x="3077450" y="2880360"/>
              <a:ext cx="1028700" cy="83408"/>
            </a:xfrm>
            <a:prstGeom prst="rect">
              <a:avLst/>
            </a:prstGeom>
            <a:solidFill>
              <a:srgbClr val="3D434C"/>
            </a:solidFill>
            <a:ln w="12700">
              <a:solidFill>
                <a:srgbClr val="9AA0A6"/>
              </a:solidFill>
            </a:ln>
          </p:spPr>
          <p:txBody>
            <a:bodyPr rtlCol="0" anchor="ctr"/>
            <a:lstStyle/>
            <a:p>
              <a:pPr algn="ctr"/>
              <a:endParaRPr/>
            </a:p>
          </p:txBody>
        </p:sp>
        <p:sp>
          <p:nvSpPr>
            <p:cNvPr id="16" name="Rectangle 15"/>
            <p:cNvSpPr/>
            <p:nvPr/>
          </p:nvSpPr>
          <p:spPr>
            <a:xfrm>
              <a:off x="3355477" y="3102782"/>
              <a:ext cx="361435" cy="305830"/>
            </a:xfrm>
            <a:prstGeom prst="rect">
              <a:avLst/>
            </a:prstGeom>
            <a:solidFill>
              <a:srgbClr val="1B1D21"/>
            </a:solidFill>
            <a:ln w="12700">
              <a:solidFill>
                <a:srgbClr val="9AA0A6"/>
              </a:solidFill>
            </a:ln>
          </p:spPr>
          <p:txBody>
            <a:bodyPr rtlCol="0" anchor="ctr"/>
            <a:lstStyle/>
            <a:p>
              <a:pPr algn="ctr"/>
              <a:endParaRPr/>
            </a:p>
          </p:txBody>
        </p:sp>
        <p:sp>
          <p:nvSpPr>
            <p:cNvPr id="17" name="Rectangle 16"/>
            <p:cNvSpPr/>
            <p:nvPr/>
          </p:nvSpPr>
          <p:spPr>
            <a:xfrm>
              <a:off x="1715118" y="3686638"/>
              <a:ext cx="389238" cy="166816"/>
            </a:xfrm>
            <a:prstGeom prst="rect">
              <a:avLst/>
            </a:prstGeom>
            <a:solidFill>
              <a:srgbClr val="3D434C"/>
            </a:solidFill>
            <a:ln w="12700">
              <a:solidFill>
                <a:srgbClr val="9AA0A6"/>
              </a:solidFill>
            </a:ln>
          </p:spPr>
          <p:txBody>
            <a:bodyPr rtlCol="0" anchor="ctr"/>
            <a:lstStyle/>
            <a:p>
              <a:pPr algn="ctr"/>
              <a:endParaRPr/>
            </a:p>
          </p:txBody>
        </p:sp>
        <p:sp>
          <p:nvSpPr>
            <p:cNvPr id="18" name="Oval 17"/>
            <p:cNvSpPr/>
            <p:nvPr/>
          </p:nvSpPr>
          <p:spPr>
            <a:xfrm>
              <a:off x="1951441" y="3728342"/>
              <a:ext cx="417041" cy="417041"/>
            </a:xfrm>
            <a:prstGeom prst="ellipse">
              <a:avLst/>
            </a:prstGeom>
            <a:solidFill>
              <a:srgbClr val="1B1D21"/>
            </a:solidFill>
            <a:ln w="25400">
              <a:solidFill>
                <a:srgbClr val="9AA0A6"/>
              </a:solidFill>
            </a:ln>
          </p:spPr>
          <p:txBody>
            <a:bodyPr rtlCol="0" anchor="ctr"/>
            <a:lstStyle/>
            <a:p>
              <a:pPr algn="ctr"/>
              <a:endParaRPr/>
            </a:p>
          </p:txBody>
        </p:sp>
        <p:sp>
          <p:nvSpPr>
            <p:cNvPr id="19" name="Oval 18"/>
            <p:cNvSpPr/>
            <p:nvPr/>
          </p:nvSpPr>
          <p:spPr>
            <a:xfrm>
              <a:off x="2122427" y="3899329"/>
              <a:ext cx="75067" cy="75067"/>
            </a:xfrm>
            <a:prstGeom prst="ellipse">
              <a:avLst/>
            </a:prstGeom>
            <a:solidFill>
              <a:srgbClr val="9AA0A6"/>
            </a:solidFill>
            <a:ln>
              <a:noFill/>
            </a:ln>
          </p:spPr>
          <p:txBody>
            <a:bodyPr rtlCol="0" anchor="ctr"/>
            <a:lstStyle/>
            <a:p>
              <a:pPr algn="ctr"/>
              <a:endParaRPr/>
            </a:p>
          </p:txBody>
        </p:sp>
        <p:sp>
          <p:nvSpPr>
            <p:cNvPr id="20" name="Oval 19"/>
            <p:cNvSpPr/>
            <p:nvPr/>
          </p:nvSpPr>
          <p:spPr>
            <a:xfrm>
              <a:off x="2396284" y="3728342"/>
              <a:ext cx="417041" cy="417041"/>
            </a:xfrm>
            <a:prstGeom prst="ellipse">
              <a:avLst/>
            </a:prstGeom>
            <a:solidFill>
              <a:srgbClr val="1B1D21"/>
            </a:solidFill>
            <a:ln w="25400">
              <a:solidFill>
                <a:srgbClr val="9AA0A6"/>
              </a:solidFill>
            </a:ln>
          </p:spPr>
          <p:txBody>
            <a:bodyPr rtlCol="0" anchor="ctr"/>
            <a:lstStyle/>
            <a:p>
              <a:pPr algn="ctr"/>
              <a:endParaRPr/>
            </a:p>
          </p:txBody>
        </p:sp>
        <p:sp>
          <p:nvSpPr>
            <p:cNvPr id="21" name="Oval 20"/>
            <p:cNvSpPr/>
            <p:nvPr/>
          </p:nvSpPr>
          <p:spPr>
            <a:xfrm>
              <a:off x="2567271" y="3899329"/>
              <a:ext cx="75067" cy="75067"/>
            </a:xfrm>
            <a:prstGeom prst="ellipse">
              <a:avLst/>
            </a:prstGeom>
            <a:solidFill>
              <a:srgbClr val="9AA0A6"/>
            </a:solidFill>
            <a:ln>
              <a:noFill/>
            </a:ln>
          </p:spPr>
          <p:txBody>
            <a:bodyPr rtlCol="0" anchor="ctr"/>
            <a:lstStyle/>
            <a:p>
              <a:pPr algn="ctr"/>
              <a:endParaRPr/>
            </a:p>
          </p:txBody>
        </p:sp>
        <p:sp>
          <p:nvSpPr>
            <p:cNvPr id="22" name="Oval 21"/>
            <p:cNvSpPr/>
            <p:nvPr/>
          </p:nvSpPr>
          <p:spPr>
            <a:xfrm>
              <a:off x="2841127" y="3728342"/>
              <a:ext cx="417041" cy="417041"/>
            </a:xfrm>
            <a:prstGeom prst="ellipse">
              <a:avLst/>
            </a:prstGeom>
            <a:solidFill>
              <a:srgbClr val="1B1D21"/>
            </a:solidFill>
            <a:ln w="25400">
              <a:solidFill>
                <a:srgbClr val="9AA0A6"/>
              </a:solidFill>
            </a:ln>
          </p:spPr>
          <p:txBody>
            <a:bodyPr rtlCol="0" anchor="ctr"/>
            <a:lstStyle/>
            <a:p>
              <a:pPr algn="ctr"/>
              <a:endParaRPr/>
            </a:p>
          </p:txBody>
        </p:sp>
        <p:sp>
          <p:nvSpPr>
            <p:cNvPr id="23" name="Oval 22"/>
            <p:cNvSpPr/>
            <p:nvPr/>
          </p:nvSpPr>
          <p:spPr>
            <a:xfrm>
              <a:off x="3012114" y="3899329"/>
              <a:ext cx="75067" cy="75067"/>
            </a:xfrm>
            <a:prstGeom prst="ellipse">
              <a:avLst/>
            </a:prstGeom>
            <a:solidFill>
              <a:srgbClr val="9AA0A6"/>
            </a:solidFill>
            <a:ln>
              <a:noFill/>
            </a:ln>
          </p:spPr>
          <p:txBody>
            <a:bodyPr rtlCol="0" anchor="ctr"/>
            <a:lstStyle/>
            <a:p>
              <a:pPr algn="ctr"/>
              <a:endParaRPr/>
            </a:p>
          </p:txBody>
        </p:sp>
        <p:cxnSp>
          <p:nvCxnSpPr>
            <p:cNvPr id="24" name="Connector 23"/>
            <p:cNvCxnSpPr/>
            <p:nvPr/>
          </p:nvCxnSpPr>
          <p:spPr>
            <a:xfrm>
              <a:off x="2159961" y="3936863"/>
              <a:ext cx="889687" cy="0"/>
            </a:xfrm>
            <a:prstGeom prst="line">
              <a:avLst/>
            </a:prstGeom>
            <a:ln w="25400">
              <a:solidFill>
                <a:srgbClr val="9AA0A6"/>
              </a:solidFill>
            </a:ln>
          </p:spPr>
        </p:cxnSp>
        <p:sp>
          <p:nvSpPr>
            <p:cNvPr id="25" name="Oval 24"/>
            <p:cNvSpPr/>
            <p:nvPr/>
          </p:nvSpPr>
          <p:spPr>
            <a:xfrm>
              <a:off x="1590006" y="3895159"/>
              <a:ext cx="250224" cy="250224"/>
            </a:xfrm>
            <a:prstGeom prst="ellipse">
              <a:avLst/>
            </a:prstGeom>
            <a:solidFill>
              <a:srgbClr val="1B1D21"/>
            </a:solidFill>
            <a:ln w="25400">
              <a:solidFill>
                <a:srgbClr val="9AA0A6"/>
              </a:solidFill>
            </a:ln>
          </p:spPr>
          <p:txBody>
            <a:bodyPr rtlCol="0" anchor="ctr"/>
            <a:lstStyle/>
            <a:p>
              <a:pPr algn="ctr"/>
              <a:endParaRPr/>
            </a:p>
          </p:txBody>
        </p:sp>
        <p:sp>
          <p:nvSpPr>
            <p:cNvPr id="26" name="Oval 25"/>
            <p:cNvSpPr/>
            <p:nvPr/>
          </p:nvSpPr>
          <p:spPr>
            <a:xfrm>
              <a:off x="1692598" y="3997751"/>
              <a:ext cx="45040" cy="45040"/>
            </a:xfrm>
            <a:prstGeom prst="ellipse">
              <a:avLst/>
            </a:prstGeom>
            <a:solidFill>
              <a:srgbClr val="9AA0A6"/>
            </a:solidFill>
            <a:ln>
              <a:noFill/>
            </a:ln>
          </p:spPr>
          <p:txBody>
            <a:bodyPr rtlCol="0" anchor="ctr"/>
            <a:lstStyle/>
            <a:p>
              <a:pPr algn="ctr"/>
              <a:endParaRPr/>
            </a:p>
          </p:txBody>
        </p:sp>
        <p:sp>
          <p:nvSpPr>
            <p:cNvPr id="27" name="Rectangle 26"/>
            <p:cNvSpPr/>
            <p:nvPr/>
          </p:nvSpPr>
          <p:spPr>
            <a:xfrm>
              <a:off x="4050545" y="3686638"/>
              <a:ext cx="1362332" cy="166816"/>
            </a:xfrm>
            <a:prstGeom prst="rect">
              <a:avLst/>
            </a:prstGeom>
            <a:solidFill>
              <a:srgbClr val="3D434C"/>
            </a:solidFill>
            <a:ln w="12700">
              <a:solidFill>
                <a:srgbClr val="9AA0A6"/>
              </a:solidFill>
            </a:ln>
          </p:spPr>
          <p:txBody>
            <a:bodyPr rtlCol="0" anchor="ctr"/>
            <a:lstStyle/>
            <a:p>
              <a:pPr algn="ctr"/>
              <a:endParaRPr/>
            </a:p>
          </p:txBody>
        </p:sp>
        <p:sp>
          <p:nvSpPr>
            <p:cNvPr id="28" name="Rounded Rectangle 27"/>
            <p:cNvSpPr/>
            <p:nvPr/>
          </p:nvSpPr>
          <p:spPr>
            <a:xfrm>
              <a:off x="4106150" y="3269598"/>
              <a:ext cx="1278924" cy="444843"/>
            </a:xfrm>
            <a:prstGeom prst="roundRect">
              <a:avLst>
                <a:gd name="adj" fmla="val 12500"/>
              </a:avLst>
            </a:prstGeom>
            <a:solidFill>
              <a:srgbClr val="6C7480"/>
            </a:solidFill>
            <a:ln w="12700">
              <a:solidFill>
                <a:srgbClr val="1B1D21"/>
              </a:solidFill>
            </a:ln>
          </p:spPr>
          <p:txBody>
            <a:bodyPr rtlCol="0" anchor="ctr"/>
            <a:lstStyle/>
            <a:p>
              <a:pPr algn="ctr"/>
              <a:endParaRPr/>
            </a:p>
          </p:txBody>
        </p:sp>
        <p:sp>
          <p:nvSpPr>
            <p:cNvPr id="29" name="Rectangle 28"/>
            <p:cNvSpPr/>
            <p:nvPr/>
          </p:nvSpPr>
          <p:spPr>
            <a:xfrm>
              <a:off x="4161756" y="3102782"/>
              <a:ext cx="1167714" cy="194619"/>
            </a:xfrm>
            <a:prstGeom prst="rect">
              <a:avLst/>
            </a:prstGeom>
            <a:solidFill>
              <a:srgbClr val="1B1D21"/>
            </a:solidFill>
            <a:ln w="12700">
              <a:solidFill>
                <a:srgbClr val="9AA0A6"/>
              </a:solidFill>
            </a:ln>
          </p:spPr>
          <p:txBody>
            <a:bodyPr rtlCol="0" anchor="ctr"/>
            <a:lstStyle/>
            <a:p>
              <a:pPr algn="ctr"/>
              <a:endParaRPr/>
            </a:p>
          </p:txBody>
        </p:sp>
        <p:sp>
          <p:nvSpPr>
            <p:cNvPr id="30" name="Oval 29"/>
            <p:cNvSpPr/>
            <p:nvPr/>
          </p:nvSpPr>
          <p:spPr>
            <a:xfrm>
              <a:off x="4231262" y="3839553"/>
              <a:ext cx="305830" cy="305830"/>
            </a:xfrm>
            <a:prstGeom prst="ellipse">
              <a:avLst/>
            </a:prstGeom>
            <a:solidFill>
              <a:srgbClr val="1B1D21"/>
            </a:solidFill>
            <a:ln w="25400">
              <a:solidFill>
                <a:srgbClr val="9AA0A6"/>
              </a:solidFill>
            </a:ln>
          </p:spPr>
          <p:txBody>
            <a:bodyPr rtlCol="0" anchor="ctr"/>
            <a:lstStyle/>
            <a:p>
              <a:pPr algn="ctr"/>
              <a:endParaRPr/>
            </a:p>
          </p:txBody>
        </p:sp>
        <p:sp>
          <p:nvSpPr>
            <p:cNvPr id="31" name="Oval 30"/>
            <p:cNvSpPr/>
            <p:nvPr/>
          </p:nvSpPr>
          <p:spPr>
            <a:xfrm>
              <a:off x="4356653" y="3964943"/>
              <a:ext cx="55049" cy="55049"/>
            </a:xfrm>
            <a:prstGeom prst="ellipse">
              <a:avLst/>
            </a:prstGeom>
            <a:solidFill>
              <a:srgbClr val="9AA0A6"/>
            </a:solidFill>
            <a:ln>
              <a:noFill/>
            </a:ln>
          </p:spPr>
          <p:txBody>
            <a:bodyPr rtlCol="0" anchor="ctr"/>
            <a:lstStyle/>
            <a:p>
              <a:pPr algn="ctr"/>
              <a:endParaRPr/>
            </a:p>
          </p:txBody>
        </p:sp>
        <p:sp>
          <p:nvSpPr>
            <p:cNvPr id="32" name="Oval 31"/>
            <p:cNvSpPr/>
            <p:nvPr/>
          </p:nvSpPr>
          <p:spPr>
            <a:xfrm>
              <a:off x="4926330" y="3839553"/>
              <a:ext cx="305830" cy="305830"/>
            </a:xfrm>
            <a:prstGeom prst="ellipse">
              <a:avLst/>
            </a:prstGeom>
            <a:solidFill>
              <a:srgbClr val="1B1D21"/>
            </a:solidFill>
            <a:ln w="25400">
              <a:solidFill>
                <a:srgbClr val="9AA0A6"/>
              </a:solidFill>
            </a:ln>
          </p:spPr>
          <p:txBody>
            <a:bodyPr rtlCol="0" anchor="ctr"/>
            <a:lstStyle/>
            <a:p>
              <a:pPr algn="ctr"/>
              <a:endParaRPr/>
            </a:p>
          </p:txBody>
        </p:sp>
        <p:sp>
          <p:nvSpPr>
            <p:cNvPr id="33" name="Oval 32"/>
            <p:cNvSpPr/>
            <p:nvPr/>
          </p:nvSpPr>
          <p:spPr>
            <a:xfrm>
              <a:off x="5051720" y="3964943"/>
              <a:ext cx="55049" cy="55049"/>
            </a:xfrm>
            <a:prstGeom prst="ellipse">
              <a:avLst/>
            </a:prstGeom>
            <a:solidFill>
              <a:srgbClr val="9AA0A6"/>
            </a:solidFill>
            <a:ln>
              <a:noFill/>
            </a:ln>
          </p:spPr>
          <p:txBody>
            <a:bodyPr rtlCol="0" anchor="ctr"/>
            <a:lstStyle/>
            <a:p>
              <a:pPr algn="ctr"/>
              <a:endParaRPr/>
            </a:p>
          </p:txBody>
        </p:sp>
        <p:cxnSp>
          <p:nvCxnSpPr>
            <p:cNvPr id="34" name="Connector 33"/>
            <p:cNvCxnSpPr/>
            <p:nvPr/>
          </p:nvCxnSpPr>
          <p:spPr>
            <a:xfrm>
              <a:off x="1188720" y="4370832"/>
              <a:ext cx="4389120" cy="0"/>
            </a:xfrm>
            <a:prstGeom prst="line">
              <a:avLst/>
            </a:prstGeom>
            <a:ln w="38100">
              <a:solidFill>
                <a:srgbClr val="9AA0A6"/>
              </a:solidFill>
            </a:ln>
          </p:spPr>
        </p:cxnSp>
        <p:sp>
          <p:nvSpPr>
            <p:cNvPr id="35" name="Freeform 34"/>
            <p:cNvSpPr/>
            <p:nvPr/>
          </p:nvSpPr>
          <p:spPr>
            <a:xfrm>
              <a:off x="685800" y="1645920"/>
              <a:ext cx="3154680" cy="685800"/>
            </a:xfrm>
            <a:custGeom>
              <a:avLst/>
              <a:gdLst/>
              <a:ahLst/>
              <a:cxnLst/>
              <a:rect l="l" t="t" r="r" b="b"/>
              <a:pathLst>
                <a:path w="3154680" h="685800">
                  <a:moveTo>
                    <a:pt x="320040" y="0"/>
                  </a:moveTo>
                  <a:lnTo>
                    <a:pt x="3154680" y="0"/>
                  </a:lnTo>
                  <a:lnTo>
                    <a:pt x="3154680" y="685800"/>
                  </a:lnTo>
                  <a:lnTo>
                    <a:pt x="320040" y="685800"/>
                  </a:lnTo>
                  <a:lnTo>
                    <a:pt x="0" y="342900"/>
                  </a:lnTo>
                  <a:close/>
                </a:path>
              </a:pathLst>
            </a:custGeom>
            <a:solidFill>
              <a:srgbClr val="F2C14E"/>
            </a:solidFill>
            <a:ln w="19050">
              <a:solidFill>
                <a:srgbClr val="101418"/>
              </a:solidFill>
            </a:ln>
          </p:spPr>
          <p:txBody>
            <a:bodyPr rtlCol="0" anchor="ctr"/>
            <a:lstStyle/>
            <a:p>
              <a:pPr algn="ctr"/>
              <a:endParaRPr/>
            </a:p>
          </p:txBody>
        </p:sp>
        <p:sp>
          <p:nvSpPr>
            <p:cNvPr id="36" name="Oval 35"/>
            <p:cNvSpPr/>
            <p:nvPr/>
          </p:nvSpPr>
          <p:spPr>
            <a:xfrm>
              <a:off x="950976" y="1915668"/>
              <a:ext cx="146304" cy="146304"/>
            </a:xfrm>
            <a:prstGeom prst="ellipse">
              <a:avLst/>
            </a:prstGeom>
            <a:solidFill>
              <a:srgbClr val="1E2126"/>
            </a:solidFill>
            <a:ln w="19050">
              <a:solidFill>
                <a:srgbClr val="101418"/>
              </a:solidFill>
            </a:ln>
          </p:spPr>
          <p:txBody>
            <a:bodyPr rtlCol="0" anchor="ctr"/>
            <a:lstStyle/>
            <a:p>
              <a:pPr algn="ctr"/>
              <a:endParaRPr/>
            </a:p>
          </p:txBody>
        </p:sp>
        <p:sp>
          <p:nvSpPr>
            <p:cNvPr id="37" name="TextBox 36"/>
            <p:cNvSpPr txBox="1"/>
            <p:nvPr/>
          </p:nvSpPr>
          <p:spPr>
            <a:xfrm>
              <a:off x="1280160" y="1691640"/>
              <a:ext cx="2514600" cy="594360"/>
            </a:xfrm>
            <a:prstGeom prst="rect">
              <a:avLst/>
            </a:prstGeom>
            <a:noFill/>
          </p:spPr>
          <p:txBody>
            <a:bodyPr wrap="square" lIns="0" tIns="0" rIns="0" bIns="0" anchor="ctr">
              <a:noAutofit/>
            </a:bodyPr>
            <a:lstStyle/>
            <a:p>
              <a:pPr algn="ctr">
                <a:spcBef>
                  <a:spcPts val="0"/>
                </a:spcBef>
                <a:spcAft>
                  <a:spcPts val="0"/>
                </a:spcAft>
              </a:pPr>
              <a:r>
                <a:rPr lang="en-GB" sz="1800" b="1" i="0">
                  <a:solidFill>
                    <a:srgbClr val="101418"/>
                  </a:solidFill>
                  <a:latin typeface="Arial"/>
                </a:rPr>
                <a:t>Extremely expensive</a:t>
              </a:r>
            </a:p>
          </p:txBody>
        </p:sp>
        <p:sp>
          <p:nvSpPr>
            <p:cNvPr id="38" name="Rounded Rectangle 37"/>
            <p:cNvSpPr/>
            <p:nvPr/>
          </p:nvSpPr>
          <p:spPr>
            <a:xfrm>
              <a:off x="6675120" y="1645920"/>
              <a:ext cx="4937760" cy="1143000"/>
            </a:xfrm>
            <a:prstGeom prst="roundRect">
              <a:avLst>
                <a:gd name="adj" fmla="val 8000"/>
              </a:avLst>
            </a:prstGeom>
            <a:solidFill>
              <a:srgbClr val="343A43"/>
            </a:solidFill>
            <a:ln w="31750">
              <a:solidFill>
                <a:srgbClr val="F28C28"/>
              </a:solidFill>
            </a:ln>
          </p:spPr>
          <p:txBody>
            <a:bodyPr wrap="square" lIns="73152" tIns="27432" rIns="73152" bIns="27432" rtlCol="0" anchor="ctr">
              <a:noAutofit/>
            </a:bodyPr>
            <a:lstStyle/>
            <a:p>
              <a:pPr algn="ctr">
                <a:spcBef>
                  <a:spcPts val="0"/>
                </a:spcBef>
                <a:spcAft>
                  <a:spcPts val="0"/>
                </a:spcAft>
              </a:pPr>
              <a:r>
                <a:rPr lang="en-GB" sz="2400" b="1" i="0">
                  <a:solidFill>
                    <a:srgbClr val="F2F2F2"/>
                  </a:solidFill>
                  <a:latin typeface="Arial"/>
                </a:rPr>
                <a:t>Not better at hauling</a:t>
              </a:r>
            </a:p>
          </p:txBody>
        </p:sp>
        <p:sp>
          <p:nvSpPr>
            <p:cNvPr id="40" name="Freeform 39"/>
            <p:cNvSpPr/>
            <p:nvPr/>
          </p:nvSpPr>
          <p:spPr>
            <a:xfrm>
              <a:off x="7066026" y="3749040"/>
              <a:ext cx="864108" cy="617220"/>
            </a:xfrm>
            <a:custGeom>
              <a:avLst/>
              <a:gdLst/>
              <a:ahLst/>
              <a:cxnLst/>
              <a:rect l="l" t="t" r="r" b="b"/>
              <a:pathLst>
                <a:path w="864108" h="617220">
                  <a:moveTo>
                    <a:pt x="0" y="0"/>
                  </a:moveTo>
                  <a:lnTo>
                    <a:pt x="864108" y="0"/>
                  </a:lnTo>
                  <a:lnTo>
                    <a:pt x="725851" y="617220"/>
                  </a:lnTo>
                  <a:lnTo>
                    <a:pt x="138257" y="617220"/>
                  </a:lnTo>
                  <a:close/>
                </a:path>
              </a:pathLst>
            </a:custGeom>
            <a:solidFill>
              <a:srgbClr val="F2C14E"/>
            </a:solidFill>
            <a:ln w="19050">
              <a:solidFill>
                <a:srgbClr val="101418"/>
              </a:solidFill>
            </a:ln>
          </p:spPr>
          <p:txBody>
            <a:bodyPr rtlCol="0" anchor="ctr"/>
            <a:lstStyle/>
            <a:p>
              <a:pPr algn="ctr"/>
              <a:endParaRPr/>
            </a:p>
          </p:txBody>
        </p:sp>
        <p:sp>
          <p:nvSpPr>
            <p:cNvPr id="41" name="Oval 40"/>
            <p:cNvSpPr/>
            <p:nvPr/>
          </p:nvSpPr>
          <p:spPr>
            <a:xfrm>
              <a:off x="6887261" y="3804590"/>
              <a:ext cx="320954" cy="320954"/>
            </a:xfrm>
            <a:prstGeom prst="ellipse">
              <a:avLst/>
            </a:prstGeom>
            <a:noFill/>
            <a:ln w="38100">
              <a:solidFill>
                <a:srgbClr val="F2C14E"/>
              </a:solidFill>
            </a:ln>
          </p:spPr>
          <p:txBody>
            <a:bodyPr rtlCol="0" anchor="ctr"/>
            <a:lstStyle/>
            <a:p>
              <a:pPr algn="ctr"/>
              <a:endParaRPr/>
            </a:p>
          </p:txBody>
        </p:sp>
        <p:sp>
          <p:nvSpPr>
            <p:cNvPr id="42" name="Oval 41"/>
            <p:cNvSpPr/>
            <p:nvPr/>
          </p:nvSpPr>
          <p:spPr>
            <a:xfrm>
              <a:off x="7787945" y="3804590"/>
              <a:ext cx="320954" cy="320954"/>
            </a:xfrm>
            <a:prstGeom prst="ellipse">
              <a:avLst/>
            </a:prstGeom>
            <a:noFill/>
            <a:ln w="38100">
              <a:solidFill>
                <a:srgbClr val="F2C14E"/>
              </a:solidFill>
            </a:ln>
          </p:spPr>
          <p:txBody>
            <a:bodyPr rtlCol="0" anchor="ctr"/>
            <a:lstStyle/>
            <a:p>
              <a:pPr algn="ctr"/>
              <a:endParaRPr/>
            </a:p>
          </p:txBody>
        </p:sp>
        <p:sp>
          <p:nvSpPr>
            <p:cNvPr id="43" name="Rectangle 42"/>
            <p:cNvSpPr/>
            <p:nvPr/>
          </p:nvSpPr>
          <p:spPr>
            <a:xfrm>
              <a:off x="7436358" y="4366260"/>
              <a:ext cx="123444" cy="345643"/>
            </a:xfrm>
            <a:prstGeom prst="rect">
              <a:avLst/>
            </a:prstGeom>
            <a:solidFill>
              <a:srgbClr val="F2C14E"/>
            </a:solidFill>
            <a:ln w="12700">
              <a:solidFill>
                <a:srgbClr val="101418"/>
              </a:solidFill>
            </a:ln>
          </p:spPr>
          <p:txBody>
            <a:bodyPr rtlCol="0" anchor="ctr"/>
            <a:lstStyle/>
            <a:p>
              <a:pPr algn="ctr"/>
              <a:endParaRPr/>
            </a:p>
          </p:txBody>
        </p:sp>
        <p:sp>
          <p:nvSpPr>
            <p:cNvPr id="44" name="Rounded Rectangle 43"/>
            <p:cNvSpPr/>
            <p:nvPr/>
          </p:nvSpPr>
          <p:spPr>
            <a:xfrm>
              <a:off x="7169719" y="4711903"/>
              <a:ext cx="656722" cy="271577"/>
            </a:xfrm>
            <a:prstGeom prst="roundRect">
              <a:avLst>
                <a:gd name="adj" fmla="val 16835"/>
              </a:avLst>
            </a:prstGeom>
            <a:solidFill>
              <a:srgbClr val="F2C14E"/>
            </a:solidFill>
            <a:ln w="19050">
              <a:solidFill>
                <a:srgbClr val="101418"/>
              </a:solidFill>
            </a:ln>
          </p:spPr>
          <p:txBody>
            <a:bodyPr rtlCol="0" anchor="ctr"/>
            <a:lstStyle/>
            <a:p>
              <a:pPr algn="ctr"/>
              <a:endParaRPr/>
            </a:p>
          </p:txBody>
        </p:sp>
      </p:grpSp>
      <p:sp>
        <p:nvSpPr>
          <p:cNvPr id="39" name="Inline chip"/>
          <p:cNvSpPr/>
          <p:nvPr/>
        </p:nvSpPr>
        <p:spPr>
          <a:xfrm>
            <a:off x="6675120" y="3200400"/>
            <a:ext cx="4218579" cy="329184"/>
          </a:xfrm>
          <a:prstGeom prst="roundRect">
            <a:avLst>
              <a:gd name="adj" fmla="val 50000"/>
            </a:avLst>
          </a:prstGeom>
          <a:solidFill>
            <a:srgbClr val="4A515B"/>
          </a:solidFill>
          <a:ln>
            <a:noFill/>
          </a:ln>
        </p:spPr>
        <p:txBody>
          <a:bodyPr wrap="none" lIns="73152" tIns="18288" rIns="73152" bIns="18288" rtlCol="0" anchor="ctr">
            <a:noAutofit/>
          </a:bodyPr>
          <a:lstStyle/>
          <a:p>
            <a:pPr algn="ctr">
              <a:spcBef>
                <a:spcPts val="0"/>
              </a:spcBef>
              <a:spcAft>
                <a:spcPts val="0"/>
              </a:spcAft>
            </a:pPr>
            <a:r>
              <a:rPr lang="en-GB" sz="1400" b="1" i="0">
                <a:solidFill>
                  <a:srgbClr val="F2F2F2"/>
                </a:solidFill>
                <a:latin typeface="Arial"/>
              </a:rPr>
              <a:t>BACKGROUND  </a:t>
            </a:r>
            <a:r>
              <a:rPr lang="en-GB" sz="1400" b="0" i="0">
                <a:solidFill>
                  <a:srgbClr val="F2F2F2"/>
                </a:solidFill>
                <a:latin typeface="Arial"/>
              </a:rPr>
              <a:t>Like the game's golden trophies</a:t>
            </a:r>
          </a:p>
        </p:txBody>
      </p:sp>
      <p:sp>
        <p:nvSpPr>
          <p:cNvPr id="45"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Prestige engines are trophies for display. They are not better at hauling.</a:t>
            </a:r>
          </a:p>
        </p:txBody>
      </p:sp>
      <p:sp>
        <p:nvSpPr>
          <p:cNvPr id="46"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47"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19</a:t>
            </a:r>
          </a:p>
        </p:txBody>
      </p:sp>
    </p:spTree>
    <p:extLst>
      <p:ext uri="{BB962C8B-B14F-4D97-AF65-F5344CB8AC3E}">
        <p14:creationId xmlns:p14="http://schemas.microsoft.com/office/powerpoint/2010/main" val="40260245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nodeType="withEffect">
                                  <p:stCondLst>
                                    <p:cond delay="60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childTnLst>
                                </p:cTn>
                              </p:par>
                              <p:par>
                                <p:cTn id="14" presetID="10" presetClass="entr" presetSubtype="0" fill="hold" nodeType="withEffect">
                                  <p:stCondLst>
                                    <p:cond delay="90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Famous, named engines</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a nameplate card with a fixed name, a fixed number and one per world" descr="A brass nameplate reading Fixed name, a number plate reading Fixed number, and a globe marked one, reading One per world."/>
          <p:cNvGrpSpPr/>
          <p:nvPr/>
        </p:nvGrpSpPr>
        <p:grpSpPr>
          <a:xfrm>
            <a:off x="731520" y="1463040"/>
            <a:ext cx="10515600" cy="3200400"/>
            <a:chOff x="731520" y="1463040"/>
            <a:chExt cx="10515600" cy="3200400"/>
          </a:xfrm>
        </p:grpSpPr>
        <p:sp>
          <p:nvSpPr>
            <p:cNvPr id="5" name="Rounded Rectangle 4"/>
            <p:cNvSpPr/>
            <p:nvPr/>
          </p:nvSpPr>
          <p:spPr>
            <a:xfrm>
              <a:off x="731520" y="1463040"/>
              <a:ext cx="6675120" cy="3200400"/>
            </a:xfrm>
            <a:prstGeom prst="roundRect">
              <a:avLst>
                <a:gd name="adj" fmla="val 3428"/>
              </a:avLst>
            </a:prstGeom>
            <a:solidFill>
              <a:srgbClr val="2B2F36"/>
            </a:solidFill>
            <a:ln>
              <a:noFill/>
            </a:ln>
          </p:spPr>
          <p:txBody>
            <a:bodyPr rtlCol="0" anchor="ctr"/>
            <a:lstStyle/>
            <a:p>
              <a:pPr algn="ctr"/>
              <a:endParaRPr/>
            </a:p>
          </p:txBody>
        </p:sp>
        <p:sp>
          <p:nvSpPr>
            <p:cNvPr id="6" name="Rounded Rectangle 5"/>
            <p:cNvSpPr/>
            <p:nvPr/>
          </p:nvSpPr>
          <p:spPr>
            <a:xfrm>
              <a:off x="1097280" y="1783080"/>
              <a:ext cx="5943600" cy="1417320"/>
            </a:xfrm>
            <a:prstGeom prst="roundRect">
              <a:avLst>
                <a:gd name="adj" fmla="val 32258"/>
              </a:avLst>
            </a:prstGeom>
            <a:solidFill>
              <a:srgbClr val="1B1D21"/>
            </a:solidFill>
            <a:ln w="76200">
              <a:solidFill>
                <a:srgbClr val="C9A227"/>
              </a:solidFill>
            </a:ln>
          </p:spPr>
          <p:txBody>
            <a:bodyPr rtlCol="0" anchor="ctr"/>
            <a:lstStyle/>
            <a:p>
              <a:pPr algn="ctr"/>
              <a:endParaRPr/>
            </a:p>
          </p:txBody>
        </p:sp>
        <p:sp>
          <p:nvSpPr>
            <p:cNvPr id="7" name="Rounded Rectangle 6"/>
            <p:cNvSpPr/>
            <p:nvPr/>
          </p:nvSpPr>
          <p:spPr>
            <a:xfrm>
              <a:off x="1261872" y="1947672"/>
              <a:ext cx="5614416" cy="1088136"/>
            </a:xfrm>
            <a:prstGeom prst="roundRect">
              <a:avLst>
                <a:gd name="adj" fmla="val 33613"/>
              </a:avLst>
            </a:prstGeom>
            <a:noFill/>
            <a:ln w="19050">
              <a:solidFill>
                <a:srgbClr val="C9A227"/>
              </a:solidFill>
            </a:ln>
          </p:spPr>
          <p:txBody>
            <a:bodyPr rtlCol="0" anchor="ctr"/>
            <a:lstStyle/>
            <a:p>
              <a:pPr algn="ctr"/>
              <a:endParaRPr/>
            </a:p>
          </p:txBody>
        </p:sp>
        <p:sp>
          <p:nvSpPr>
            <p:cNvPr id="8" name="TextBox 7"/>
            <p:cNvSpPr txBox="1"/>
            <p:nvPr/>
          </p:nvSpPr>
          <p:spPr>
            <a:xfrm>
              <a:off x="1463040" y="1965960"/>
              <a:ext cx="5212080" cy="1051560"/>
            </a:xfrm>
            <a:prstGeom prst="rect">
              <a:avLst/>
            </a:prstGeom>
            <a:noFill/>
          </p:spPr>
          <p:txBody>
            <a:bodyPr wrap="square" lIns="0" tIns="0" rIns="0" bIns="0" anchor="ctr">
              <a:noAutofit/>
            </a:bodyPr>
            <a:lstStyle/>
            <a:p>
              <a:pPr algn="ctr">
                <a:spcBef>
                  <a:spcPts val="0"/>
                </a:spcBef>
                <a:spcAft>
                  <a:spcPts val="0"/>
                </a:spcAft>
              </a:pPr>
              <a:r>
                <a:rPr lang="en-GB" sz="4000" b="1" i="0">
                  <a:solidFill>
                    <a:srgbClr val="C9A227"/>
                  </a:solidFill>
                  <a:latin typeface="Arial"/>
                </a:rPr>
                <a:t>Fixed name</a:t>
              </a:r>
            </a:p>
          </p:txBody>
        </p:sp>
        <p:sp>
          <p:nvSpPr>
            <p:cNvPr id="9" name="Rounded Rectangle 8"/>
            <p:cNvSpPr/>
            <p:nvPr/>
          </p:nvSpPr>
          <p:spPr>
            <a:xfrm>
              <a:off x="2331720" y="3474720"/>
              <a:ext cx="3474720" cy="914400"/>
            </a:xfrm>
            <a:prstGeom prst="roundRect">
              <a:avLst>
                <a:gd name="adj" fmla="val 10000"/>
              </a:avLst>
            </a:prstGeom>
            <a:solidFill>
              <a:srgbClr val="1B1D21"/>
            </a:solidFill>
            <a:ln w="38100">
              <a:solidFill>
                <a:srgbClr val="E8E8E8"/>
              </a:solidFill>
            </a:ln>
          </p:spPr>
          <p:txBody>
            <a:bodyPr rtlCol="0" anchor="ctr"/>
            <a:lstStyle/>
            <a:p>
              <a:pPr algn="ctr"/>
              <a:endParaRPr/>
            </a:p>
          </p:txBody>
        </p:sp>
        <p:sp>
          <p:nvSpPr>
            <p:cNvPr id="10" name="TextBox 9"/>
            <p:cNvSpPr txBox="1"/>
            <p:nvPr/>
          </p:nvSpPr>
          <p:spPr>
            <a:xfrm>
              <a:off x="2423160" y="3520440"/>
              <a:ext cx="3291840" cy="822960"/>
            </a:xfrm>
            <a:prstGeom prst="rect">
              <a:avLst/>
            </a:prstGeom>
            <a:noFill/>
          </p:spPr>
          <p:txBody>
            <a:bodyPr wrap="square" lIns="0" tIns="0" rIns="0" bIns="0" anchor="ctr">
              <a:noAutofit/>
            </a:bodyPr>
            <a:lstStyle/>
            <a:p>
              <a:pPr algn="ctr">
                <a:spcBef>
                  <a:spcPts val="0"/>
                </a:spcBef>
                <a:spcAft>
                  <a:spcPts val="0"/>
                </a:spcAft>
              </a:pPr>
              <a:r>
                <a:rPr lang="en-GB" sz="2600" b="1" i="0">
                  <a:solidFill>
                    <a:srgbClr val="F2F2F2"/>
                  </a:solidFill>
                  <a:latin typeface="Arial"/>
                </a:rPr>
                <a:t>Fixed number</a:t>
              </a:r>
            </a:p>
          </p:txBody>
        </p:sp>
        <p:sp>
          <p:nvSpPr>
            <p:cNvPr id="11" name="Oval 10"/>
            <p:cNvSpPr/>
            <p:nvPr/>
          </p:nvSpPr>
          <p:spPr>
            <a:xfrm>
              <a:off x="8595360" y="1691640"/>
              <a:ext cx="2011680" cy="2011680"/>
            </a:xfrm>
            <a:prstGeom prst="ellipse">
              <a:avLst/>
            </a:prstGeom>
            <a:solidFill>
              <a:srgbClr val="4DA3FF"/>
            </a:solidFill>
            <a:ln w="25400">
              <a:solidFill>
                <a:srgbClr val="E8E8E8"/>
              </a:solidFill>
            </a:ln>
          </p:spPr>
          <p:txBody>
            <a:bodyPr rtlCol="0" anchor="ctr"/>
            <a:lstStyle/>
            <a:p>
              <a:pPr algn="ctr"/>
              <a:endParaRPr/>
            </a:p>
          </p:txBody>
        </p:sp>
        <p:sp>
          <p:nvSpPr>
            <p:cNvPr id="12" name="Oval 11"/>
            <p:cNvSpPr/>
            <p:nvPr/>
          </p:nvSpPr>
          <p:spPr>
            <a:xfrm>
              <a:off x="9198864" y="1691640"/>
              <a:ext cx="804672" cy="2011680"/>
            </a:xfrm>
            <a:prstGeom prst="ellipse">
              <a:avLst/>
            </a:prstGeom>
            <a:noFill/>
            <a:ln w="19050">
              <a:solidFill>
                <a:srgbClr val="E8E8E8"/>
              </a:solidFill>
            </a:ln>
          </p:spPr>
          <p:txBody>
            <a:bodyPr rtlCol="0" anchor="ctr"/>
            <a:lstStyle/>
            <a:p>
              <a:pPr algn="ctr"/>
              <a:endParaRPr/>
            </a:p>
          </p:txBody>
        </p:sp>
        <p:cxnSp>
          <p:nvCxnSpPr>
            <p:cNvPr id="13" name="Connector 12"/>
            <p:cNvCxnSpPr/>
            <p:nvPr/>
          </p:nvCxnSpPr>
          <p:spPr>
            <a:xfrm>
              <a:off x="8595360" y="2697480"/>
              <a:ext cx="2011680" cy="0"/>
            </a:xfrm>
            <a:prstGeom prst="line">
              <a:avLst/>
            </a:prstGeom>
            <a:ln w="19050">
              <a:solidFill>
                <a:srgbClr val="E8E8E8"/>
              </a:solidFill>
            </a:ln>
          </p:spPr>
        </p:cxnSp>
        <p:cxnSp>
          <p:nvCxnSpPr>
            <p:cNvPr id="14" name="Connector 13"/>
            <p:cNvCxnSpPr/>
            <p:nvPr/>
          </p:nvCxnSpPr>
          <p:spPr>
            <a:xfrm>
              <a:off x="8736178" y="2194560"/>
              <a:ext cx="1730044" cy="0"/>
            </a:xfrm>
            <a:prstGeom prst="line">
              <a:avLst/>
            </a:prstGeom>
            <a:ln w="15875">
              <a:solidFill>
                <a:srgbClr val="E8E8E8"/>
              </a:solidFill>
            </a:ln>
          </p:spPr>
        </p:cxnSp>
        <p:cxnSp>
          <p:nvCxnSpPr>
            <p:cNvPr id="15" name="Connector 14"/>
            <p:cNvCxnSpPr/>
            <p:nvPr/>
          </p:nvCxnSpPr>
          <p:spPr>
            <a:xfrm>
              <a:off x="8736178" y="3200400"/>
              <a:ext cx="1730044" cy="0"/>
            </a:xfrm>
            <a:prstGeom prst="line">
              <a:avLst/>
            </a:prstGeom>
            <a:ln w="15875">
              <a:solidFill>
                <a:srgbClr val="E8E8E8"/>
              </a:solidFill>
            </a:ln>
          </p:spPr>
        </p:cxnSp>
        <p:sp>
          <p:nvSpPr>
            <p:cNvPr id="16" name="Oval 15"/>
            <p:cNvSpPr/>
            <p:nvPr/>
          </p:nvSpPr>
          <p:spPr>
            <a:xfrm>
              <a:off x="10149840" y="1463040"/>
              <a:ext cx="640080" cy="640080"/>
            </a:xfrm>
            <a:prstGeom prst="ellipse">
              <a:avLst/>
            </a:prstGeom>
            <a:solidFill>
              <a:srgbClr val="F28C28"/>
            </a:solidFill>
            <a:ln w="25400">
              <a:solidFill>
                <a:srgbClr val="101418"/>
              </a:solidFill>
            </a:ln>
          </p:spPr>
          <p:txBody>
            <a:bodyPr rtlCol="0" anchor="ctr"/>
            <a:lstStyle/>
            <a:p>
              <a:pPr algn="ctr"/>
              <a:endParaRPr/>
            </a:p>
          </p:txBody>
        </p:sp>
        <p:sp>
          <p:nvSpPr>
            <p:cNvPr id="17" name="Badge"/>
            <p:cNvSpPr txBox="1"/>
            <p:nvPr/>
          </p:nvSpPr>
          <p:spPr>
            <a:xfrm>
              <a:off x="10149840" y="1463040"/>
              <a:ext cx="640080" cy="640080"/>
            </a:xfrm>
            <a:prstGeom prst="rect">
              <a:avLst/>
            </a:prstGeom>
            <a:noFill/>
          </p:spPr>
          <p:txBody>
            <a:bodyPr wrap="square" lIns="0" tIns="0" rIns="0" bIns="0" anchor="ctr">
              <a:noAutofit/>
            </a:bodyPr>
            <a:lstStyle/>
            <a:p>
              <a:pPr algn="ctr">
                <a:spcBef>
                  <a:spcPts val="0"/>
                </a:spcBef>
                <a:spcAft>
                  <a:spcPts val="0"/>
                </a:spcAft>
              </a:pPr>
              <a:r>
                <a:rPr lang="en-GB" sz="2600" b="1" i="0">
                  <a:solidFill>
                    <a:srgbClr val="101418"/>
                  </a:solidFill>
                  <a:latin typeface="Arial"/>
                </a:rPr>
                <a:t>1</a:t>
              </a:r>
            </a:p>
          </p:txBody>
        </p:sp>
        <p:sp>
          <p:nvSpPr>
            <p:cNvPr id="18" name="TextBox 17"/>
            <p:cNvSpPr txBox="1"/>
            <p:nvPr/>
          </p:nvSpPr>
          <p:spPr>
            <a:xfrm>
              <a:off x="7955280" y="3886200"/>
              <a:ext cx="3291840" cy="548640"/>
            </a:xfrm>
            <a:prstGeom prst="rect">
              <a:avLst/>
            </a:prstGeom>
            <a:noFill/>
          </p:spPr>
          <p:txBody>
            <a:bodyPr wrap="square" lIns="0" tIns="0" rIns="0" bIns="0" anchor="ctr">
              <a:noAutofit/>
            </a:bodyPr>
            <a:lstStyle/>
            <a:p>
              <a:pPr algn="ctr">
                <a:spcBef>
                  <a:spcPts val="0"/>
                </a:spcBef>
                <a:spcAft>
                  <a:spcPts val="0"/>
                </a:spcAft>
              </a:pPr>
              <a:r>
                <a:rPr lang="en-GB" sz="2400" b="1" i="0">
                  <a:solidFill>
                    <a:srgbClr val="F2F2F2"/>
                  </a:solidFill>
                  <a:latin typeface="Arial"/>
                </a:rPr>
                <a:t>One per world</a:t>
              </a:r>
            </a:p>
          </p:txBody>
        </p:sp>
      </p:grpSp>
      <p:sp>
        <p:nvSpPr>
          <p:cNvPr id="19" name="Inline chip"/>
          <p:cNvSpPr/>
          <p:nvPr/>
        </p:nvSpPr>
        <p:spPr>
          <a:xfrm>
            <a:off x="4576486" y="4983480"/>
            <a:ext cx="3038723" cy="329184"/>
          </a:xfrm>
          <a:prstGeom prst="roundRect">
            <a:avLst>
              <a:gd name="adj" fmla="val 50000"/>
            </a:avLst>
          </a:prstGeom>
          <a:noFill/>
          <a:ln w="25400">
            <a:solidFill>
              <a:srgbClr val="A9B0B8"/>
            </a:solidFill>
          </a:ln>
        </p:spPr>
        <p:txBody>
          <a:bodyPr wrap="none" lIns="73152" tIns="18288" rIns="73152" bIns="18288" rtlCol="0" anchor="ctr">
            <a:noAutofit/>
          </a:bodyPr>
          <a:lstStyle/>
          <a:p>
            <a:pPr algn="ctr">
              <a:spcBef>
                <a:spcPts val="0"/>
              </a:spcBef>
              <a:spcAft>
                <a:spcPts val="0"/>
              </a:spcAft>
            </a:pPr>
            <a:r>
              <a:rPr lang="en-GB" sz="1400" b="0" i="0">
                <a:solidFill>
                  <a:srgbClr val="F2F2F2"/>
                </a:solidFill>
                <a:latin typeface="Arial"/>
              </a:rPr>
              <a:t>Which engines: undecided (OQ25)</a:t>
            </a:r>
          </a:p>
        </p:txBody>
      </p:sp>
      <p:sp>
        <p:nvSpPr>
          <p:cNvPr id="20"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A prestige engine is one real, famous machine. Its name and number never change.</a:t>
            </a:r>
          </a:p>
        </p:txBody>
      </p:sp>
      <p:sp>
        <p:nvSpPr>
          <p:cNvPr id="21"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22"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20</a:t>
            </a:r>
          </a:p>
        </p:txBody>
      </p:sp>
    </p:spTree>
    <p:extLst>
      <p:ext uri="{BB962C8B-B14F-4D97-AF65-F5344CB8AC3E}">
        <p14:creationId xmlns:p14="http://schemas.microsoft.com/office/powerpoint/2010/main" val="18073801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60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90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Prestige in the core game</a:t>
            </a:r>
          </a:p>
        </p:txBody>
      </p:sp>
      <p:sp>
        <p:nvSpPr>
          <p:cNvPr id="3" name="Status chip"/>
          <p:cNvSpPr/>
          <p:nvPr/>
        </p:nvSpPr>
        <p:spPr>
          <a:xfrm>
            <a:off x="10131552" y="457200"/>
            <a:ext cx="1481328" cy="365760"/>
          </a:xfrm>
          <a:prstGeom prst="roundRect">
            <a:avLst>
              <a:gd name="adj" fmla="val 30000"/>
            </a:avLst>
          </a:prstGeom>
          <a:solidFill>
            <a:srgbClr val="3FB950"/>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a normal engine beside a prestige engine" descr="A normal orange engine beside a special engine of the same class with a white colour band and a fixed plate, labelled Fixed name and number."/>
          <p:cNvGrpSpPr/>
          <p:nvPr/>
        </p:nvGrpSpPr>
        <p:grpSpPr>
          <a:xfrm>
            <a:off x="548640" y="1417320"/>
            <a:ext cx="10881360" cy="3611880"/>
            <a:chOff x="548640" y="1417320"/>
            <a:chExt cx="10881360" cy="3611880"/>
          </a:xfrm>
        </p:grpSpPr>
        <p:sp>
          <p:nvSpPr>
            <p:cNvPr id="5" name="Rectangle 4"/>
            <p:cNvSpPr/>
            <p:nvPr/>
          </p:nvSpPr>
          <p:spPr>
            <a:xfrm>
              <a:off x="998525" y="3604565"/>
              <a:ext cx="4125773" cy="263347"/>
            </a:xfrm>
            <a:prstGeom prst="rect">
              <a:avLst/>
            </a:prstGeom>
            <a:solidFill>
              <a:srgbClr val="3D434C"/>
            </a:solidFill>
            <a:ln w="12700">
              <a:solidFill>
                <a:srgbClr val="9AA0A6"/>
              </a:solidFill>
            </a:ln>
          </p:spPr>
          <p:txBody>
            <a:bodyPr rtlCol="0" anchor="ctr"/>
            <a:lstStyle/>
            <a:p>
              <a:pPr algn="ctr"/>
              <a:endParaRPr/>
            </a:p>
          </p:txBody>
        </p:sp>
        <p:sp>
          <p:nvSpPr>
            <p:cNvPr id="6" name="Rounded Rectangle 5"/>
            <p:cNvSpPr/>
            <p:nvPr/>
          </p:nvSpPr>
          <p:spPr>
            <a:xfrm>
              <a:off x="1349654" y="2814523"/>
              <a:ext cx="2545690" cy="833933"/>
            </a:xfrm>
            <a:prstGeom prst="roundRect">
              <a:avLst>
                <a:gd name="adj" fmla="val 31578"/>
              </a:avLst>
            </a:prstGeom>
            <a:solidFill>
              <a:srgbClr val="F28C28"/>
            </a:solidFill>
            <a:ln w="12700">
              <a:solidFill>
                <a:srgbClr val="1B1D21"/>
              </a:solidFill>
            </a:ln>
          </p:spPr>
          <p:txBody>
            <a:bodyPr rtlCol="0" anchor="ctr"/>
            <a:lstStyle/>
            <a:p>
              <a:pPr algn="ctr"/>
              <a:endParaRPr/>
            </a:p>
          </p:txBody>
        </p:sp>
        <p:sp>
          <p:nvSpPr>
            <p:cNvPr id="7" name="Rectangle 6"/>
            <p:cNvSpPr/>
            <p:nvPr/>
          </p:nvSpPr>
          <p:spPr>
            <a:xfrm>
              <a:off x="1042416" y="2814523"/>
              <a:ext cx="395021" cy="833933"/>
            </a:xfrm>
            <a:prstGeom prst="rect">
              <a:avLst/>
            </a:prstGeom>
            <a:solidFill>
              <a:srgbClr val="3D434C"/>
            </a:solidFill>
            <a:ln w="12700">
              <a:solidFill>
                <a:srgbClr val="9AA0A6"/>
              </a:solidFill>
            </a:ln>
          </p:spPr>
          <p:txBody>
            <a:bodyPr rtlCol="0" anchor="ctr"/>
            <a:lstStyle/>
            <a:p>
              <a:pPr algn="ctr"/>
              <a:endParaRPr/>
            </a:p>
          </p:txBody>
        </p:sp>
        <p:sp>
          <p:nvSpPr>
            <p:cNvPr id="8" name="Rectangle 7"/>
            <p:cNvSpPr/>
            <p:nvPr/>
          </p:nvSpPr>
          <p:spPr>
            <a:xfrm>
              <a:off x="1130198" y="2463394"/>
              <a:ext cx="263347" cy="351130"/>
            </a:xfrm>
            <a:prstGeom prst="rect">
              <a:avLst/>
            </a:prstGeom>
            <a:solidFill>
              <a:srgbClr val="3D434C"/>
            </a:solidFill>
            <a:ln w="12700">
              <a:solidFill>
                <a:srgbClr val="9AA0A6"/>
              </a:solidFill>
            </a:ln>
          </p:spPr>
          <p:txBody>
            <a:bodyPr rtlCol="0" anchor="ctr"/>
            <a:lstStyle/>
            <a:p>
              <a:pPr algn="ctr"/>
              <a:endParaRPr/>
            </a:p>
          </p:txBody>
        </p:sp>
        <p:sp>
          <p:nvSpPr>
            <p:cNvPr id="9" name="Rectangle 8"/>
            <p:cNvSpPr/>
            <p:nvPr/>
          </p:nvSpPr>
          <p:spPr>
            <a:xfrm>
              <a:off x="1042416" y="2397557"/>
              <a:ext cx="438912" cy="131674"/>
            </a:xfrm>
            <a:prstGeom prst="rect">
              <a:avLst/>
            </a:prstGeom>
            <a:solidFill>
              <a:srgbClr val="3D434C"/>
            </a:solidFill>
            <a:ln w="12700">
              <a:solidFill>
                <a:srgbClr val="9AA0A6"/>
              </a:solidFill>
            </a:ln>
          </p:spPr>
          <p:txBody>
            <a:bodyPr rtlCol="0" anchor="ctr"/>
            <a:lstStyle/>
            <a:p>
              <a:pPr algn="ctr"/>
              <a:endParaRPr/>
            </a:p>
          </p:txBody>
        </p:sp>
        <p:sp>
          <p:nvSpPr>
            <p:cNvPr id="10" name="Rounded Rectangle 9"/>
            <p:cNvSpPr/>
            <p:nvPr/>
          </p:nvSpPr>
          <p:spPr>
            <a:xfrm>
              <a:off x="2490826" y="2595067"/>
              <a:ext cx="482803" cy="263347"/>
            </a:xfrm>
            <a:prstGeom prst="roundRect">
              <a:avLst>
                <a:gd name="adj" fmla="val 50000"/>
              </a:avLst>
            </a:prstGeom>
            <a:solidFill>
              <a:srgbClr val="F28C28"/>
            </a:solidFill>
            <a:ln w="12700">
              <a:solidFill>
                <a:srgbClr val="1B1D21"/>
              </a:solidFill>
            </a:ln>
          </p:spPr>
          <p:txBody>
            <a:bodyPr rtlCol="0" anchor="ctr"/>
            <a:lstStyle/>
            <a:p>
              <a:pPr algn="ctr"/>
              <a:endParaRPr/>
            </a:p>
          </p:txBody>
        </p:sp>
        <p:sp>
          <p:nvSpPr>
            <p:cNvPr id="11" name="Rectangle 10"/>
            <p:cNvSpPr/>
            <p:nvPr/>
          </p:nvSpPr>
          <p:spPr>
            <a:xfrm>
              <a:off x="3719779" y="2419502"/>
              <a:ext cx="1360627" cy="1228954"/>
            </a:xfrm>
            <a:prstGeom prst="rect">
              <a:avLst/>
            </a:prstGeom>
            <a:solidFill>
              <a:srgbClr val="F28C28"/>
            </a:solidFill>
            <a:ln w="12700">
              <a:solidFill>
                <a:srgbClr val="1B1D21"/>
              </a:solidFill>
            </a:ln>
          </p:spPr>
          <p:txBody>
            <a:bodyPr rtlCol="0" anchor="ctr"/>
            <a:lstStyle/>
            <a:p>
              <a:pPr algn="ctr"/>
              <a:endParaRPr/>
            </a:p>
          </p:txBody>
        </p:sp>
        <p:sp>
          <p:nvSpPr>
            <p:cNvPr id="12" name="Rectangle 11"/>
            <p:cNvSpPr/>
            <p:nvPr/>
          </p:nvSpPr>
          <p:spPr>
            <a:xfrm>
              <a:off x="3588106" y="2331720"/>
              <a:ext cx="1623974" cy="131674"/>
            </a:xfrm>
            <a:prstGeom prst="rect">
              <a:avLst/>
            </a:prstGeom>
            <a:solidFill>
              <a:srgbClr val="3D434C"/>
            </a:solidFill>
            <a:ln w="12700">
              <a:solidFill>
                <a:srgbClr val="9AA0A6"/>
              </a:solidFill>
            </a:ln>
          </p:spPr>
          <p:txBody>
            <a:bodyPr rtlCol="0" anchor="ctr"/>
            <a:lstStyle/>
            <a:p>
              <a:pPr algn="ctr"/>
              <a:endParaRPr/>
            </a:p>
          </p:txBody>
        </p:sp>
        <p:sp>
          <p:nvSpPr>
            <p:cNvPr id="13" name="Rectangle 12"/>
            <p:cNvSpPr/>
            <p:nvPr/>
          </p:nvSpPr>
          <p:spPr>
            <a:xfrm>
              <a:off x="4027018" y="2682850"/>
              <a:ext cx="570586" cy="482803"/>
            </a:xfrm>
            <a:prstGeom prst="rect">
              <a:avLst/>
            </a:prstGeom>
            <a:solidFill>
              <a:srgbClr val="1B1D21"/>
            </a:solidFill>
            <a:ln w="12700">
              <a:solidFill>
                <a:srgbClr val="9AA0A6"/>
              </a:solidFill>
            </a:ln>
          </p:spPr>
          <p:txBody>
            <a:bodyPr rtlCol="0" anchor="ctr"/>
            <a:lstStyle/>
            <a:p>
              <a:pPr algn="ctr"/>
              <a:endParaRPr/>
            </a:p>
          </p:txBody>
        </p:sp>
        <p:sp>
          <p:nvSpPr>
            <p:cNvPr id="14" name="Rectangle 13"/>
            <p:cNvSpPr/>
            <p:nvPr/>
          </p:nvSpPr>
          <p:spPr>
            <a:xfrm>
              <a:off x="1437437" y="3604565"/>
              <a:ext cx="614477" cy="263347"/>
            </a:xfrm>
            <a:prstGeom prst="rect">
              <a:avLst/>
            </a:prstGeom>
            <a:solidFill>
              <a:srgbClr val="3D434C"/>
            </a:solidFill>
            <a:ln w="12700">
              <a:solidFill>
                <a:srgbClr val="9AA0A6"/>
              </a:solidFill>
            </a:ln>
          </p:spPr>
          <p:txBody>
            <a:bodyPr rtlCol="0" anchor="ctr"/>
            <a:lstStyle/>
            <a:p>
              <a:pPr algn="ctr"/>
              <a:endParaRPr/>
            </a:p>
          </p:txBody>
        </p:sp>
        <p:sp>
          <p:nvSpPr>
            <p:cNvPr id="15" name="Oval 14"/>
            <p:cNvSpPr/>
            <p:nvPr/>
          </p:nvSpPr>
          <p:spPr>
            <a:xfrm>
              <a:off x="1810512" y="3670402"/>
              <a:ext cx="658368" cy="658368"/>
            </a:xfrm>
            <a:prstGeom prst="ellipse">
              <a:avLst/>
            </a:prstGeom>
            <a:solidFill>
              <a:srgbClr val="1B1D21"/>
            </a:solidFill>
            <a:ln w="25400">
              <a:solidFill>
                <a:srgbClr val="9AA0A6"/>
              </a:solidFill>
            </a:ln>
          </p:spPr>
          <p:txBody>
            <a:bodyPr rtlCol="0" anchor="ctr"/>
            <a:lstStyle/>
            <a:p>
              <a:pPr algn="ctr"/>
              <a:endParaRPr/>
            </a:p>
          </p:txBody>
        </p:sp>
        <p:sp>
          <p:nvSpPr>
            <p:cNvPr id="16" name="Oval 15"/>
            <p:cNvSpPr/>
            <p:nvPr/>
          </p:nvSpPr>
          <p:spPr>
            <a:xfrm>
              <a:off x="2080443" y="3940332"/>
              <a:ext cx="118506" cy="118506"/>
            </a:xfrm>
            <a:prstGeom prst="ellipse">
              <a:avLst/>
            </a:prstGeom>
            <a:solidFill>
              <a:srgbClr val="9AA0A6"/>
            </a:solidFill>
            <a:ln>
              <a:noFill/>
            </a:ln>
          </p:spPr>
          <p:txBody>
            <a:bodyPr rtlCol="0" anchor="ctr"/>
            <a:lstStyle/>
            <a:p>
              <a:pPr algn="ctr"/>
              <a:endParaRPr/>
            </a:p>
          </p:txBody>
        </p:sp>
        <p:sp>
          <p:nvSpPr>
            <p:cNvPr id="17" name="Oval 16"/>
            <p:cNvSpPr/>
            <p:nvPr/>
          </p:nvSpPr>
          <p:spPr>
            <a:xfrm>
              <a:off x="2512771" y="3670402"/>
              <a:ext cx="658368" cy="658368"/>
            </a:xfrm>
            <a:prstGeom prst="ellipse">
              <a:avLst/>
            </a:prstGeom>
            <a:solidFill>
              <a:srgbClr val="1B1D21"/>
            </a:solidFill>
            <a:ln w="25400">
              <a:solidFill>
                <a:srgbClr val="9AA0A6"/>
              </a:solidFill>
            </a:ln>
          </p:spPr>
          <p:txBody>
            <a:bodyPr rtlCol="0" anchor="ctr"/>
            <a:lstStyle/>
            <a:p>
              <a:pPr algn="ctr"/>
              <a:endParaRPr/>
            </a:p>
          </p:txBody>
        </p:sp>
        <p:sp>
          <p:nvSpPr>
            <p:cNvPr id="18" name="Oval 17"/>
            <p:cNvSpPr/>
            <p:nvPr/>
          </p:nvSpPr>
          <p:spPr>
            <a:xfrm>
              <a:off x="2782702" y="3940332"/>
              <a:ext cx="118506" cy="118506"/>
            </a:xfrm>
            <a:prstGeom prst="ellipse">
              <a:avLst/>
            </a:prstGeom>
            <a:solidFill>
              <a:srgbClr val="9AA0A6"/>
            </a:solidFill>
            <a:ln>
              <a:noFill/>
            </a:ln>
          </p:spPr>
          <p:txBody>
            <a:bodyPr rtlCol="0" anchor="ctr"/>
            <a:lstStyle/>
            <a:p>
              <a:pPr algn="ctr"/>
              <a:endParaRPr/>
            </a:p>
          </p:txBody>
        </p:sp>
        <p:sp>
          <p:nvSpPr>
            <p:cNvPr id="19" name="Oval 18"/>
            <p:cNvSpPr/>
            <p:nvPr/>
          </p:nvSpPr>
          <p:spPr>
            <a:xfrm>
              <a:off x="3215030" y="3670402"/>
              <a:ext cx="658368" cy="658368"/>
            </a:xfrm>
            <a:prstGeom prst="ellipse">
              <a:avLst/>
            </a:prstGeom>
            <a:solidFill>
              <a:srgbClr val="1B1D21"/>
            </a:solidFill>
            <a:ln w="25400">
              <a:solidFill>
                <a:srgbClr val="9AA0A6"/>
              </a:solidFill>
            </a:ln>
          </p:spPr>
          <p:txBody>
            <a:bodyPr rtlCol="0" anchor="ctr"/>
            <a:lstStyle/>
            <a:p>
              <a:pPr algn="ctr"/>
              <a:endParaRPr/>
            </a:p>
          </p:txBody>
        </p:sp>
        <p:sp>
          <p:nvSpPr>
            <p:cNvPr id="20" name="Oval 19"/>
            <p:cNvSpPr/>
            <p:nvPr/>
          </p:nvSpPr>
          <p:spPr>
            <a:xfrm>
              <a:off x="3484961" y="3940332"/>
              <a:ext cx="118506" cy="118506"/>
            </a:xfrm>
            <a:prstGeom prst="ellipse">
              <a:avLst/>
            </a:prstGeom>
            <a:solidFill>
              <a:srgbClr val="9AA0A6"/>
            </a:solidFill>
            <a:ln>
              <a:noFill/>
            </a:ln>
          </p:spPr>
          <p:txBody>
            <a:bodyPr rtlCol="0" anchor="ctr"/>
            <a:lstStyle/>
            <a:p>
              <a:pPr algn="ctr"/>
              <a:endParaRPr/>
            </a:p>
          </p:txBody>
        </p:sp>
        <p:cxnSp>
          <p:nvCxnSpPr>
            <p:cNvPr id="21" name="Connector 20"/>
            <p:cNvCxnSpPr/>
            <p:nvPr/>
          </p:nvCxnSpPr>
          <p:spPr>
            <a:xfrm>
              <a:off x="2139696" y="3999586"/>
              <a:ext cx="1404518" cy="0"/>
            </a:xfrm>
            <a:prstGeom prst="line">
              <a:avLst/>
            </a:prstGeom>
            <a:ln w="25400">
              <a:solidFill>
                <a:srgbClr val="9AA0A6"/>
              </a:solidFill>
            </a:ln>
          </p:spPr>
        </p:cxnSp>
        <p:sp>
          <p:nvSpPr>
            <p:cNvPr id="22" name="Oval 21"/>
            <p:cNvSpPr/>
            <p:nvPr/>
          </p:nvSpPr>
          <p:spPr>
            <a:xfrm>
              <a:off x="1239926" y="3933749"/>
              <a:ext cx="395021" cy="395021"/>
            </a:xfrm>
            <a:prstGeom prst="ellipse">
              <a:avLst/>
            </a:prstGeom>
            <a:solidFill>
              <a:srgbClr val="1B1D21"/>
            </a:solidFill>
            <a:ln w="25400">
              <a:solidFill>
                <a:srgbClr val="9AA0A6"/>
              </a:solidFill>
            </a:ln>
          </p:spPr>
          <p:txBody>
            <a:bodyPr rtlCol="0" anchor="ctr"/>
            <a:lstStyle/>
            <a:p>
              <a:pPr algn="ctr"/>
              <a:endParaRPr/>
            </a:p>
          </p:txBody>
        </p:sp>
        <p:sp>
          <p:nvSpPr>
            <p:cNvPr id="23" name="Oval 22"/>
            <p:cNvSpPr/>
            <p:nvPr/>
          </p:nvSpPr>
          <p:spPr>
            <a:xfrm>
              <a:off x="1401885" y="4095707"/>
              <a:ext cx="71104" cy="71104"/>
            </a:xfrm>
            <a:prstGeom prst="ellipse">
              <a:avLst/>
            </a:prstGeom>
            <a:solidFill>
              <a:srgbClr val="9AA0A6"/>
            </a:solidFill>
            <a:ln>
              <a:noFill/>
            </a:ln>
          </p:spPr>
          <p:txBody>
            <a:bodyPr rtlCol="0" anchor="ctr"/>
            <a:lstStyle/>
            <a:p>
              <a:pPr algn="ctr"/>
              <a:endParaRPr/>
            </a:p>
          </p:txBody>
        </p:sp>
        <p:sp>
          <p:nvSpPr>
            <p:cNvPr id="24" name="Rectangle 23"/>
            <p:cNvSpPr/>
            <p:nvPr/>
          </p:nvSpPr>
          <p:spPr>
            <a:xfrm>
              <a:off x="6759245" y="3604565"/>
              <a:ext cx="4125773" cy="263347"/>
            </a:xfrm>
            <a:prstGeom prst="rect">
              <a:avLst/>
            </a:prstGeom>
            <a:solidFill>
              <a:srgbClr val="3D434C"/>
            </a:solidFill>
            <a:ln w="12700">
              <a:solidFill>
                <a:srgbClr val="9AA0A6"/>
              </a:solidFill>
            </a:ln>
          </p:spPr>
          <p:txBody>
            <a:bodyPr rtlCol="0" anchor="ctr"/>
            <a:lstStyle/>
            <a:p>
              <a:pPr algn="ctr"/>
              <a:endParaRPr/>
            </a:p>
          </p:txBody>
        </p:sp>
        <p:sp>
          <p:nvSpPr>
            <p:cNvPr id="25" name="Rounded Rectangle 24"/>
            <p:cNvSpPr/>
            <p:nvPr/>
          </p:nvSpPr>
          <p:spPr>
            <a:xfrm>
              <a:off x="7110374" y="2814523"/>
              <a:ext cx="2545690" cy="833933"/>
            </a:xfrm>
            <a:prstGeom prst="roundRect">
              <a:avLst>
                <a:gd name="adj" fmla="val 31578"/>
              </a:avLst>
            </a:prstGeom>
            <a:solidFill>
              <a:srgbClr val="F28C28"/>
            </a:solidFill>
            <a:ln w="12700">
              <a:solidFill>
                <a:srgbClr val="1B1D21"/>
              </a:solidFill>
            </a:ln>
          </p:spPr>
          <p:txBody>
            <a:bodyPr rtlCol="0" anchor="ctr"/>
            <a:lstStyle/>
            <a:p>
              <a:pPr algn="ctr"/>
              <a:endParaRPr/>
            </a:p>
          </p:txBody>
        </p:sp>
        <p:sp>
          <p:nvSpPr>
            <p:cNvPr id="26" name="Rectangle 25"/>
            <p:cNvSpPr/>
            <p:nvPr/>
          </p:nvSpPr>
          <p:spPr>
            <a:xfrm>
              <a:off x="6803136" y="2814523"/>
              <a:ext cx="395021" cy="833933"/>
            </a:xfrm>
            <a:prstGeom prst="rect">
              <a:avLst/>
            </a:prstGeom>
            <a:solidFill>
              <a:srgbClr val="3D434C"/>
            </a:solidFill>
            <a:ln w="12700">
              <a:solidFill>
                <a:srgbClr val="9AA0A6"/>
              </a:solidFill>
            </a:ln>
          </p:spPr>
          <p:txBody>
            <a:bodyPr rtlCol="0" anchor="ctr"/>
            <a:lstStyle/>
            <a:p>
              <a:pPr algn="ctr"/>
              <a:endParaRPr/>
            </a:p>
          </p:txBody>
        </p:sp>
        <p:sp>
          <p:nvSpPr>
            <p:cNvPr id="27" name="Rectangle 26"/>
            <p:cNvSpPr/>
            <p:nvPr/>
          </p:nvSpPr>
          <p:spPr>
            <a:xfrm>
              <a:off x="6890918" y="2463394"/>
              <a:ext cx="263347" cy="351130"/>
            </a:xfrm>
            <a:prstGeom prst="rect">
              <a:avLst/>
            </a:prstGeom>
            <a:solidFill>
              <a:srgbClr val="3D434C"/>
            </a:solidFill>
            <a:ln w="12700">
              <a:solidFill>
                <a:srgbClr val="9AA0A6"/>
              </a:solidFill>
            </a:ln>
          </p:spPr>
          <p:txBody>
            <a:bodyPr rtlCol="0" anchor="ctr"/>
            <a:lstStyle/>
            <a:p>
              <a:pPr algn="ctr"/>
              <a:endParaRPr/>
            </a:p>
          </p:txBody>
        </p:sp>
        <p:sp>
          <p:nvSpPr>
            <p:cNvPr id="28" name="Rectangle 27"/>
            <p:cNvSpPr/>
            <p:nvPr/>
          </p:nvSpPr>
          <p:spPr>
            <a:xfrm>
              <a:off x="6803136" y="2397557"/>
              <a:ext cx="438912" cy="131674"/>
            </a:xfrm>
            <a:prstGeom prst="rect">
              <a:avLst/>
            </a:prstGeom>
            <a:solidFill>
              <a:srgbClr val="3D434C"/>
            </a:solidFill>
            <a:ln w="12700">
              <a:solidFill>
                <a:srgbClr val="9AA0A6"/>
              </a:solidFill>
            </a:ln>
          </p:spPr>
          <p:txBody>
            <a:bodyPr rtlCol="0" anchor="ctr"/>
            <a:lstStyle/>
            <a:p>
              <a:pPr algn="ctr"/>
              <a:endParaRPr/>
            </a:p>
          </p:txBody>
        </p:sp>
        <p:sp>
          <p:nvSpPr>
            <p:cNvPr id="29" name="Rounded Rectangle 28"/>
            <p:cNvSpPr/>
            <p:nvPr/>
          </p:nvSpPr>
          <p:spPr>
            <a:xfrm>
              <a:off x="8251546" y="2595067"/>
              <a:ext cx="482803" cy="263347"/>
            </a:xfrm>
            <a:prstGeom prst="roundRect">
              <a:avLst>
                <a:gd name="adj" fmla="val 50000"/>
              </a:avLst>
            </a:prstGeom>
            <a:solidFill>
              <a:srgbClr val="F28C28"/>
            </a:solidFill>
            <a:ln w="12700">
              <a:solidFill>
                <a:srgbClr val="1B1D21"/>
              </a:solidFill>
            </a:ln>
          </p:spPr>
          <p:txBody>
            <a:bodyPr rtlCol="0" anchor="ctr"/>
            <a:lstStyle/>
            <a:p>
              <a:pPr algn="ctr"/>
              <a:endParaRPr/>
            </a:p>
          </p:txBody>
        </p:sp>
        <p:sp>
          <p:nvSpPr>
            <p:cNvPr id="30" name="Rectangle 29"/>
            <p:cNvSpPr/>
            <p:nvPr/>
          </p:nvSpPr>
          <p:spPr>
            <a:xfrm>
              <a:off x="7198157" y="3209544"/>
              <a:ext cx="2370125" cy="175565"/>
            </a:xfrm>
            <a:prstGeom prst="rect">
              <a:avLst/>
            </a:prstGeom>
            <a:solidFill>
              <a:srgbClr val="E8E8E8"/>
            </a:solidFill>
            <a:ln>
              <a:noFill/>
            </a:ln>
          </p:spPr>
          <p:txBody>
            <a:bodyPr rtlCol="0" anchor="ctr"/>
            <a:lstStyle/>
            <a:p>
              <a:pPr algn="ctr"/>
              <a:endParaRPr/>
            </a:p>
          </p:txBody>
        </p:sp>
        <p:sp>
          <p:nvSpPr>
            <p:cNvPr id="31" name="Rectangle 30"/>
            <p:cNvSpPr/>
            <p:nvPr/>
          </p:nvSpPr>
          <p:spPr>
            <a:xfrm>
              <a:off x="9480499" y="2419502"/>
              <a:ext cx="1360627" cy="1228954"/>
            </a:xfrm>
            <a:prstGeom prst="rect">
              <a:avLst/>
            </a:prstGeom>
            <a:solidFill>
              <a:srgbClr val="F28C28"/>
            </a:solidFill>
            <a:ln w="12700">
              <a:solidFill>
                <a:srgbClr val="1B1D21"/>
              </a:solidFill>
            </a:ln>
          </p:spPr>
          <p:txBody>
            <a:bodyPr rtlCol="0" anchor="ctr"/>
            <a:lstStyle/>
            <a:p>
              <a:pPr algn="ctr"/>
              <a:endParaRPr/>
            </a:p>
          </p:txBody>
        </p:sp>
        <p:sp>
          <p:nvSpPr>
            <p:cNvPr id="32" name="Rectangle 31"/>
            <p:cNvSpPr/>
            <p:nvPr/>
          </p:nvSpPr>
          <p:spPr>
            <a:xfrm>
              <a:off x="9348826" y="2331720"/>
              <a:ext cx="1623974" cy="131674"/>
            </a:xfrm>
            <a:prstGeom prst="rect">
              <a:avLst/>
            </a:prstGeom>
            <a:solidFill>
              <a:srgbClr val="3D434C"/>
            </a:solidFill>
            <a:ln w="12700">
              <a:solidFill>
                <a:srgbClr val="9AA0A6"/>
              </a:solidFill>
            </a:ln>
          </p:spPr>
          <p:txBody>
            <a:bodyPr rtlCol="0" anchor="ctr"/>
            <a:lstStyle/>
            <a:p>
              <a:pPr algn="ctr"/>
              <a:endParaRPr/>
            </a:p>
          </p:txBody>
        </p:sp>
        <p:sp>
          <p:nvSpPr>
            <p:cNvPr id="33" name="Rectangle 32"/>
            <p:cNvSpPr/>
            <p:nvPr/>
          </p:nvSpPr>
          <p:spPr>
            <a:xfrm>
              <a:off x="9787738" y="2682850"/>
              <a:ext cx="570586" cy="482803"/>
            </a:xfrm>
            <a:prstGeom prst="rect">
              <a:avLst/>
            </a:prstGeom>
            <a:solidFill>
              <a:srgbClr val="1B1D21"/>
            </a:solidFill>
            <a:ln w="12700">
              <a:solidFill>
                <a:srgbClr val="9AA0A6"/>
              </a:solidFill>
            </a:ln>
          </p:spPr>
          <p:txBody>
            <a:bodyPr rtlCol="0" anchor="ctr"/>
            <a:lstStyle/>
            <a:p>
              <a:pPr algn="ctr"/>
              <a:endParaRPr/>
            </a:p>
          </p:txBody>
        </p:sp>
        <p:sp>
          <p:nvSpPr>
            <p:cNvPr id="34" name="Rectangle 33"/>
            <p:cNvSpPr/>
            <p:nvPr/>
          </p:nvSpPr>
          <p:spPr>
            <a:xfrm>
              <a:off x="7198157" y="3604565"/>
              <a:ext cx="614477" cy="263347"/>
            </a:xfrm>
            <a:prstGeom prst="rect">
              <a:avLst/>
            </a:prstGeom>
            <a:solidFill>
              <a:srgbClr val="3D434C"/>
            </a:solidFill>
            <a:ln w="12700">
              <a:solidFill>
                <a:srgbClr val="9AA0A6"/>
              </a:solidFill>
            </a:ln>
          </p:spPr>
          <p:txBody>
            <a:bodyPr rtlCol="0" anchor="ctr"/>
            <a:lstStyle/>
            <a:p>
              <a:pPr algn="ctr"/>
              <a:endParaRPr/>
            </a:p>
          </p:txBody>
        </p:sp>
        <p:sp>
          <p:nvSpPr>
            <p:cNvPr id="35" name="Rectangle 34"/>
            <p:cNvSpPr/>
            <p:nvPr/>
          </p:nvSpPr>
          <p:spPr>
            <a:xfrm>
              <a:off x="8602675" y="2946197"/>
              <a:ext cx="658368" cy="307238"/>
            </a:xfrm>
            <a:prstGeom prst="rect">
              <a:avLst/>
            </a:prstGeom>
            <a:solidFill>
              <a:srgbClr val="F2C14E"/>
            </a:solidFill>
            <a:ln w="12700">
              <a:solidFill>
                <a:srgbClr val="1B1D21"/>
              </a:solidFill>
            </a:ln>
          </p:spPr>
          <p:txBody>
            <a:bodyPr rtlCol="0" anchor="ctr"/>
            <a:lstStyle/>
            <a:p>
              <a:pPr algn="ctr"/>
              <a:endParaRPr/>
            </a:p>
          </p:txBody>
        </p:sp>
        <p:sp>
          <p:nvSpPr>
            <p:cNvPr id="36" name="Oval 35"/>
            <p:cNvSpPr/>
            <p:nvPr/>
          </p:nvSpPr>
          <p:spPr>
            <a:xfrm>
              <a:off x="7571232" y="3670402"/>
              <a:ext cx="658368" cy="658368"/>
            </a:xfrm>
            <a:prstGeom prst="ellipse">
              <a:avLst/>
            </a:prstGeom>
            <a:solidFill>
              <a:srgbClr val="1B1D21"/>
            </a:solidFill>
            <a:ln w="25400">
              <a:solidFill>
                <a:srgbClr val="9AA0A6"/>
              </a:solidFill>
            </a:ln>
          </p:spPr>
          <p:txBody>
            <a:bodyPr rtlCol="0" anchor="ctr"/>
            <a:lstStyle/>
            <a:p>
              <a:pPr algn="ctr"/>
              <a:endParaRPr/>
            </a:p>
          </p:txBody>
        </p:sp>
        <p:sp>
          <p:nvSpPr>
            <p:cNvPr id="37" name="Oval 36"/>
            <p:cNvSpPr/>
            <p:nvPr/>
          </p:nvSpPr>
          <p:spPr>
            <a:xfrm>
              <a:off x="7841163" y="3940332"/>
              <a:ext cx="118506" cy="118506"/>
            </a:xfrm>
            <a:prstGeom prst="ellipse">
              <a:avLst/>
            </a:prstGeom>
            <a:solidFill>
              <a:srgbClr val="9AA0A6"/>
            </a:solidFill>
            <a:ln>
              <a:noFill/>
            </a:ln>
          </p:spPr>
          <p:txBody>
            <a:bodyPr rtlCol="0" anchor="ctr"/>
            <a:lstStyle/>
            <a:p>
              <a:pPr algn="ctr"/>
              <a:endParaRPr/>
            </a:p>
          </p:txBody>
        </p:sp>
        <p:sp>
          <p:nvSpPr>
            <p:cNvPr id="38" name="Oval 37"/>
            <p:cNvSpPr/>
            <p:nvPr/>
          </p:nvSpPr>
          <p:spPr>
            <a:xfrm>
              <a:off x="8273491" y="3670402"/>
              <a:ext cx="658368" cy="658368"/>
            </a:xfrm>
            <a:prstGeom prst="ellipse">
              <a:avLst/>
            </a:prstGeom>
            <a:solidFill>
              <a:srgbClr val="1B1D21"/>
            </a:solidFill>
            <a:ln w="25400">
              <a:solidFill>
                <a:srgbClr val="9AA0A6"/>
              </a:solidFill>
            </a:ln>
          </p:spPr>
          <p:txBody>
            <a:bodyPr rtlCol="0" anchor="ctr"/>
            <a:lstStyle/>
            <a:p>
              <a:pPr algn="ctr"/>
              <a:endParaRPr/>
            </a:p>
          </p:txBody>
        </p:sp>
        <p:sp>
          <p:nvSpPr>
            <p:cNvPr id="39" name="Oval 38"/>
            <p:cNvSpPr/>
            <p:nvPr/>
          </p:nvSpPr>
          <p:spPr>
            <a:xfrm>
              <a:off x="8543422" y="3940332"/>
              <a:ext cx="118506" cy="118506"/>
            </a:xfrm>
            <a:prstGeom prst="ellipse">
              <a:avLst/>
            </a:prstGeom>
            <a:solidFill>
              <a:srgbClr val="9AA0A6"/>
            </a:solidFill>
            <a:ln>
              <a:noFill/>
            </a:ln>
          </p:spPr>
          <p:txBody>
            <a:bodyPr rtlCol="0" anchor="ctr"/>
            <a:lstStyle/>
            <a:p>
              <a:pPr algn="ctr"/>
              <a:endParaRPr/>
            </a:p>
          </p:txBody>
        </p:sp>
        <p:sp>
          <p:nvSpPr>
            <p:cNvPr id="40" name="Oval 39"/>
            <p:cNvSpPr/>
            <p:nvPr/>
          </p:nvSpPr>
          <p:spPr>
            <a:xfrm>
              <a:off x="8975750" y="3670402"/>
              <a:ext cx="658368" cy="658368"/>
            </a:xfrm>
            <a:prstGeom prst="ellipse">
              <a:avLst/>
            </a:prstGeom>
            <a:solidFill>
              <a:srgbClr val="1B1D21"/>
            </a:solidFill>
            <a:ln w="25400">
              <a:solidFill>
                <a:srgbClr val="9AA0A6"/>
              </a:solidFill>
            </a:ln>
          </p:spPr>
          <p:txBody>
            <a:bodyPr rtlCol="0" anchor="ctr"/>
            <a:lstStyle/>
            <a:p>
              <a:pPr algn="ctr"/>
              <a:endParaRPr/>
            </a:p>
          </p:txBody>
        </p:sp>
        <p:sp>
          <p:nvSpPr>
            <p:cNvPr id="41" name="Oval 40"/>
            <p:cNvSpPr/>
            <p:nvPr/>
          </p:nvSpPr>
          <p:spPr>
            <a:xfrm>
              <a:off x="9245681" y="3940332"/>
              <a:ext cx="118506" cy="118506"/>
            </a:xfrm>
            <a:prstGeom prst="ellipse">
              <a:avLst/>
            </a:prstGeom>
            <a:solidFill>
              <a:srgbClr val="9AA0A6"/>
            </a:solidFill>
            <a:ln>
              <a:noFill/>
            </a:ln>
          </p:spPr>
          <p:txBody>
            <a:bodyPr rtlCol="0" anchor="ctr"/>
            <a:lstStyle/>
            <a:p>
              <a:pPr algn="ctr"/>
              <a:endParaRPr/>
            </a:p>
          </p:txBody>
        </p:sp>
        <p:cxnSp>
          <p:nvCxnSpPr>
            <p:cNvPr id="42" name="Connector 41"/>
            <p:cNvCxnSpPr/>
            <p:nvPr/>
          </p:nvCxnSpPr>
          <p:spPr>
            <a:xfrm>
              <a:off x="7900416" y="3999586"/>
              <a:ext cx="1404518" cy="0"/>
            </a:xfrm>
            <a:prstGeom prst="line">
              <a:avLst/>
            </a:prstGeom>
            <a:ln w="25400">
              <a:solidFill>
                <a:srgbClr val="9AA0A6"/>
              </a:solidFill>
            </a:ln>
          </p:spPr>
        </p:cxnSp>
        <p:sp>
          <p:nvSpPr>
            <p:cNvPr id="43" name="Oval 42"/>
            <p:cNvSpPr/>
            <p:nvPr/>
          </p:nvSpPr>
          <p:spPr>
            <a:xfrm>
              <a:off x="7000646" y="3933749"/>
              <a:ext cx="395021" cy="395021"/>
            </a:xfrm>
            <a:prstGeom prst="ellipse">
              <a:avLst/>
            </a:prstGeom>
            <a:solidFill>
              <a:srgbClr val="1B1D21"/>
            </a:solidFill>
            <a:ln w="25400">
              <a:solidFill>
                <a:srgbClr val="9AA0A6"/>
              </a:solidFill>
            </a:ln>
          </p:spPr>
          <p:txBody>
            <a:bodyPr rtlCol="0" anchor="ctr"/>
            <a:lstStyle/>
            <a:p>
              <a:pPr algn="ctr"/>
              <a:endParaRPr/>
            </a:p>
          </p:txBody>
        </p:sp>
        <p:sp>
          <p:nvSpPr>
            <p:cNvPr id="44" name="Oval 43"/>
            <p:cNvSpPr/>
            <p:nvPr/>
          </p:nvSpPr>
          <p:spPr>
            <a:xfrm>
              <a:off x="7162605" y="4095707"/>
              <a:ext cx="71104" cy="71104"/>
            </a:xfrm>
            <a:prstGeom prst="ellipse">
              <a:avLst/>
            </a:prstGeom>
            <a:solidFill>
              <a:srgbClr val="9AA0A6"/>
            </a:solidFill>
            <a:ln>
              <a:noFill/>
            </a:ln>
          </p:spPr>
          <p:txBody>
            <a:bodyPr rtlCol="0" anchor="ctr"/>
            <a:lstStyle/>
            <a:p>
              <a:pPr algn="ctr"/>
              <a:endParaRPr/>
            </a:p>
          </p:txBody>
        </p:sp>
        <p:cxnSp>
          <p:nvCxnSpPr>
            <p:cNvPr id="45" name="Connector 44"/>
            <p:cNvCxnSpPr/>
            <p:nvPr/>
          </p:nvCxnSpPr>
          <p:spPr>
            <a:xfrm>
              <a:off x="548640" y="4297680"/>
              <a:ext cx="4846320" cy="0"/>
            </a:xfrm>
            <a:prstGeom prst="line">
              <a:avLst/>
            </a:prstGeom>
            <a:ln w="38100">
              <a:solidFill>
                <a:srgbClr val="9AA0A6"/>
              </a:solidFill>
            </a:ln>
          </p:spPr>
        </p:cxnSp>
        <p:cxnSp>
          <p:nvCxnSpPr>
            <p:cNvPr id="46" name="Connector 45"/>
            <p:cNvCxnSpPr/>
            <p:nvPr/>
          </p:nvCxnSpPr>
          <p:spPr>
            <a:xfrm>
              <a:off x="6309360" y="4297680"/>
              <a:ext cx="5120640" cy="0"/>
            </a:xfrm>
            <a:prstGeom prst="line">
              <a:avLst/>
            </a:prstGeom>
            <a:ln w="38100">
              <a:solidFill>
                <a:srgbClr val="9AA0A6"/>
              </a:solidFill>
            </a:ln>
          </p:spPr>
        </p:cxnSp>
        <p:sp>
          <p:nvSpPr>
            <p:cNvPr id="47" name="TextBox 46"/>
            <p:cNvSpPr txBox="1"/>
            <p:nvPr/>
          </p:nvSpPr>
          <p:spPr>
            <a:xfrm>
              <a:off x="822960" y="4572000"/>
              <a:ext cx="4389120" cy="457200"/>
            </a:xfrm>
            <a:prstGeom prst="rect">
              <a:avLst/>
            </a:prstGeom>
            <a:noFill/>
          </p:spPr>
          <p:txBody>
            <a:bodyPr wrap="square" lIns="0" tIns="0" rIns="0" bIns="0" anchor="ctr">
              <a:noAutofit/>
            </a:bodyPr>
            <a:lstStyle/>
            <a:p>
              <a:pPr algn="ctr">
                <a:spcBef>
                  <a:spcPts val="0"/>
                </a:spcBef>
                <a:spcAft>
                  <a:spcPts val="0"/>
                </a:spcAft>
              </a:pPr>
              <a:r>
                <a:rPr lang="en-GB" sz="2000" b="1" i="0">
                  <a:solidFill>
                    <a:srgbClr val="F2F2F2"/>
                  </a:solidFill>
                  <a:latin typeface="Arial"/>
                </a:rPr>
                <a:t>Normal engine</a:t>
              </a:r>
            </a:p>
          </p:txBody>
        </p:sp>
        <p:sp>
          <p:nvSpPr>
            <p:cNvPr id="48" name="TextBox 47"/>
            <p:cNvSpPr txBox="1"/>
            <p:nvPr/>
          </p:nvSpPr>
          <p:spPr>
            <a:xfrm>
              <a:off x="6583680" y="4572000"/>
              <a:ext cx="4389120" cy="457200"/>
            </a:xfrm>
            <a:prstGeom prst="rect">
              <a:avLst/>
            </a:prstGeom>
            <a:noFill/>
          </p:spPr>
          <p:txBody>
            <a:bodyPr wrap="square" lIns="0" tIns="0" rIns="0" bIns="0" anchor="ctr">
              <a:noAutofit/>
            </a:bodyPr>
            <a:lstStyle/>
            <a:p>
              <a:pPr algn="ctr">
                <a:spcBef>
                  <a:spcPts val="0"/>
                </a:spcBef>
                <a:spcAft>
                  <a:spcPts val="0"/>
                </a:spcAft>
              </a:pPr>
              <a:r>
                <a:rPr lang="en-GB" sz="2000" b="1" i="0">
                  <a:solidFill>
                    <a:srgbClr val="F2C14E"/>
                  </a:solidFill>
                  <a:latin typeface="Arial"/>
                </a:rPr>
                <a:t>Prestige engine</a:t>
              </a:r>
            </a:p>
          </p:txBody>
        </p:sp>
        <p:sp>
          <p:nvSpPr>
            <p:cNvPr id="49" name="TextBox 48"/>
            <p:cNvSpPr txBox="1"/>
            <p:nvPr/>
          </p:nvSpPr>
          <p:spPr>
            <a:xfrm>
              <a:off x="7406640" y="1417320"/>
              <a:ext cx="2651760" cy="411480"/>
            </a:xfrm>
            <a:prstGeom prst="rect">
              <a:avLst/>
            </a:prstGeom>
            <a:noFill/>
          </p:spPr>
          <p:txBody>
            <a:bodyPr wrap="square" lIns="0" tIns="0" rIns="0" bIns="0" anchor="ctr">
              <a:noAutofit/>
            </a:bodyPr>
            <a:lstStyle/>
            <a:p>
              <a:pPr algn="ctr">
                <a:spcBef>
                  <a:spcPts val="0"/>
                </a:spcBef>
                <a:spcAft>
                  <a:spcPts val="0"/>
                </a:spcAft>
              </a:pPr>
              <a:r>
                <a:rPr lang="en-GB" sz="1800" b="1" i="0">
                  <a:solidFill>
                    <a:srgbClr val="F2C14E"/>
                  </a:solidFill>
                  <a:latin typeface="Arial"/>
                </a:rPr>
                <a:t>Fixed name and number</a:t>
              </a:r>
            </a:p>
          </p:txBody>
        </p:sp>
        <p:cxnSp>
          <p:nvCxnSpPr>
            <p:cNvPr id="50" name="Connector 49"/>
            <p:cNvCxnSpPr/>
            <p:nvPr/>
          </p:nvCxnSpPr>
          <p:spPr>
            <a:xfrm>
              <a:off x="8931859" y="1847088"/>
              <a:ext cx="0" cy="1051560"/>
            </a:xfrm>
            <a:prstGeom prst="line">
              <a:avLst/>
            </a:prstGeom>
            <a:ln w="28575">
              <a:solidFill>
                <a:srgbClr val="F2C14E"/>
              </a:solidFill>
              <a:tailEnd type="triangle" w="med" len="med"/>
            </a:ln>
          </p:spPr>
        </p:cxnSp>
      </p:grpSp>
      <p:sp>
        <p:nvSpPr>
          <p:cNvPr id="51"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Even the core game could have a prestige engine: one special member of a core class.</a:t>
            </a:r>
          </a:p>
        </p:txBody>
      </p:sp>
      <p:sp>
        <p:nvSpPr>
          <p:cNvPr id="52"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53"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21</a:t>
            </a:r>
          </a:p>
        </p:txBody>
      </p:sp>
    </p:spTree>
    <p:extLst>
      <p:ext uri="{BB962C8B-B14F-4D97-AF65-F5344CB8AC3E}">
        <p14:creationId xmlns:p14="http://schemas.microsoft.com/office/powerpoint/2010/main" val="21117357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500"/>
                                        <p:tgtEl>
                                          <p:spTgt spid="51"/>
                                        </p:tgtEl>
                                      </p:cBhvr>
                                    </p:animEffect>
                                  </p:childTnLst>
                                </p:cTn>
                              </p:par>
                              <p:par>
                                <p:cTn id="11" presetID="10" presetClass="entr" presetSubtype="0" fill="hold" nodeType="withEffect">
                                  <p:stCondLst>
                                    <p:cond delay="60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Showpiece coaches</a:t>
            </a:r>
          </a:p>
        </p:txBody>
      </p:sp>
      <p:sp>
        <p:nvSpPr>
          <p:cNvPr id="3" name="Status chip"/>
          <p:cNvSpPr/>
          <p:nvPr/>
        </p:nvSpPr>
        <p:spPr>
          <a:xfrm>
            <a:off x="10131552" y="457200"/>
            <a:ext cx="1481328" cy="365760"/>
          </a:xfrm>
          <a:prstGeom prst="roundRect">
            <a:avLst>
              <a:gd name="adj" fmla="val 30000"/>
            </a:avLst>
          </a:prstGeom>
          <a:solidFill>
            <a:srgbClr val="B084F5"/>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PROPOSED</a:t>
            </a:r>
          </a:p>
        </p:txBody>
      </p:sp>
      <p:grpSp>
        <p:nvGrpSpPr>
          <p:cNvPr id="4" name="Diagram: an engine with two display coaches" descr="A steam locomotive with its tender pulling two coaches, with a bracket labelled Display only."/>
          <p:cNvGrpSpPr/>
          <p:nvPr/>
        </p:nvGrpSpPr>
        <p:grpSpPr>
          <a:xfrm>
            <a:off x="457200" y="2331720"/>
            <a:ext cx="11247120" cy="2496312"/>
            <a:chOff x="457200" y="2331720"/>
            <a:chExt cx="11247120" cy="2496312"/>
          </a:xfrm>
        </p:grpSpPr>
        <p:sp>
          <p:nvSpPr>
            <p:cNvPr id="5" name="Rectangle 4"/>
            <p:cNvSpPr/>
            <p:nvPr/>
          </p:nvSpPr>
          <p:spPr>
            <a:xfrm>
              <a:off x="855088" y="3227585"/>
              <a:ext cx="2903838" cy="185351"/>
            </a:xfrm>
            <a:prstGeom prst="rect">
              <a:avLst/>
            </a:prstGeom>
            <a:solidFill>
              <a:srgbClr val="3D434C"/>
            </a:solidFill>
            <a:ln w="12700">
              <a:solidFill>
                <a:srgbClr val="9AA0A6"/>
              </a:solidFill>
            </a:ln>
          </p:spPr>
          <p:txBody>
            <a:bodyPr rtlCol="0" anchor="ctr"/>
            <a:lstStyle/>
            <a:p>
              <a:pPr algn="ctr"/>
              <a:endParaRPr/>
            </a:p>
          </p:txBody>
        </p:sp>
        <p:sp>
          <p:nvSpPr>
            <p:cNvPr id="6" name="Rounded Rectangle 5"/>
            <p:cNvSpPr/>
            <p:nvPr/>
          </p:nvSpPr>
          <p:spPr>
            <a:xfrm>
              <a:off x="1102223" y="2671531"/>
              <a:ext cx="1791730" cy="586946"/>
            </a:xfrm>
            <a:prstGeom prst="roundRect">
              <a:avLst>
                <a:gd name="adj" fmla="val 31578"/>
              </a:avLst>
            </a:prstGeom>
            <a:solidFill>
              <a:srgbClr val="2E6B45"/>
            </a:solidFill>
            <a:ln w="12700">
              <a:solidFill>
                <a:srgbClr val="1B1D21"/>
              </a:solidFill>
            </a:ln>
          </p:spPr>
          <p:txBody>
            <a:bodyPr rtlCol="0" anchor="ctr"/>
            <a:lstStyle/>
            <a:p>
              <a:pPr algn="ctr"/>
              <a:endParaRPr/>
            </a:p>
          </p:txBody>
        </p:sp>
        <p:sp>
          <p:nvSpPr>
            <p:cNvPr id="7" name="Rectangle 6"/>
            <p:cNvSpPr/>
            <p:nvPr/>
          </p:nvSpPr>
          <p:spPr>
            <a:xfrm>
              <a:off x="885979" y="2671531"/>
              <a:ext cx="278027" cy="586946"/>
            </a:xfrm>
            <a:prstGeom prst="rect">
              <a:avLst/>
            </a:prstGeom>
            <a:solidFill>
              <a:srgbClr val="3D434C"/>
            </a:solidFill>
            <a:ln w="12700">
              <a:solidFill>
                <a:srgbClr val="9AA0A6"/>
              </a:solidFill>
            </a:ln>
          </p:spPr>
          <p:txBody>
            <a:bodyPr rtlCol="0" anchor="ctr"/>
            <a:lstStyle/>
            <a:p>
              <a:pPr algn="ctr"/>
              <a:endParaRPr/>
            </a:p>
          </p:txBody>
        </p:sp>
        <p:sp>
          <p:nvSpPr>
            <p:cNvPr id="8" name="Rectangle 7"/>
            <p:cNvSpPr/>
            <p:nvPr/>
          </p:nvSpPr>
          <p:spPr>
            <a:xfrm>
              <a:off x="947763" y="2424396"/>
              <a:ext cx="185351" cy="247135"/>
            </a:xfrm>
            <a:prstGeom prst="rect">
              <a:avLst/>
            </a:prstGeom>
            <a:solidFill>
              <a:srgbClr val="3D434C"/>
            </a:solidFill>
            <a:ln w="12700">
              <a:solidFill>
                <a:srgbClr val="9AA0A6"/>
              </a:solidFill>
            </a:ln>
          </p:spPr>
          <p:txBody>
            <a:bodyPr rtlCol="0" anchor="ctr"/>
            <a:lstStyle/>
            <a:p>
              <a:pPr algn="ctr"/>
              <a:endParaRPr/>
            </a:p>
          </p:txBody>
        </p:sp>
        <p:sp>
          <p:nvSpPr>
            <p:cNvPr id="9" name="Rectangle 8"/>
            <p:cNvSpPr/>
            <p:nvPr/>
          </p:nvSpPr>
          <p:spPr>
            <a:xfrm>
              <a:off x="885979" y="2378058"/>
              <a:ext cx="308919" cy="92676"/>
            </a:xfrm>
            <a:prstGeom prst="rect">
              <a:avLst/>
            </a:prstGeom>
            <a:solidFill>
              <a:srgbClr val="3D434C"/>
            </a:solidFill>
            <a:ln w="12700">
              <a:solidFill>
                <a:srgbClr val="9AA0A6"/>
              </a:solidFill>
            </a:ln>
          </p:spPr>
          <p:txBody>
            <a:bodyPr rtlCol="0" anchor="ctr"/>
            <a:lstStyle/>
            <a:p>
              <a:pPr algn="ctr"/>
              <a:endParaRPr/>
            </a:p>
          </p:txBody>
        </p:sp>
        <p:sp>
          <p:nvSpPr>
            <p:cNvPr id="10" name="Rounded Rectangle 9"/>
            <p:cNvSpPr/>
            <p:nvPr/>
          </p:nvSpPr>
          <p:spPr>
            <a:xfrm>
              <a:off x="1905412" y="2517071"/>
              <a:ext cx="339811" cy="185351"/>
            </a:xfrm>
            <a:prstGeom prst="roundRect">
              <a:avLst>
                <a:gd name="adj" fmla="val 50000"/>
              </a:avLst>
            </a:prstGeom>
            <a:solidFill>
              <a:srgbClr val="2E6B45"/>
            </a:solidFill>
            <a:ln w="12700">
              <a:solidFill>
                <a:srgbClr val="1B1D21"/>
              </a:solidFill>
            </a:ln>
          </p:spPr>
          <p:txBody>
            <a:bodyPr rtlCol="0" anchor="ctr"/>
            <a:lstStyle/>
            <a:p>
              <a:pPr algn="ctr"/>
              <a:endParaRPr/>
            </a:p>
          </p:txBody>
        </p:sp>
        <p:sp>
          <p:nvSpPr>
            <p:cNvPr id="11" name="Rectangle 10"/>
            <p:cNvSpPr/>
            <p:nvPr/>
          </p:nvSpPr>
          <p:spPr>
            <a:xfrm>
              <a:off x="1164006" y="2949558"/>
              <a:ext cx="1668162" cy="123568"/>
            </a:xfrm>
            <a:prstGeom prst="rect">
              <a:avLst/>
            </a:prstGeom>
            <a:solidFill>
              <a:srgbClr val="F2C14E"/>
            </a:solidFill>
            <a:ln>
              <a:noFill/>
            </a:ln>
          </p:spPr>
          <p:txBody>
            <a:bodyPr rtlCol="0" anchor="ctr"/>
            <a:lstStyle/>
            <a:p>
              <a:pPr algn="ctr"/>
              <a:endParaRPr/>
            </a:p>
          </p:txBody>
        </p:sp>
        <p:sp>
          <p:nvSpPr>
            <p:cNvPr id="12" name="Rectangle 11"/>
            <p:cNvSpPr/>
            <p:nvPr/>
          </p:nvSpPr>
          <p:spPr>
            <a:xfrm>
              <a:off x="2770385" y="2393504"/>
              <a:ext cx="957649" cy="864973"/>
            </a:xfrm>
            <a:prstGeom prst="rect">
              <a:avLst/>
            </a:prstGeom>
            <a:solidFill>
              <a:srgbClr val="2E6B45"/>
            </a:solidFill>
            <a:ln w="12700">
              <a:solidFill>
                <a:srgbClr val="1B1D21"/>
              </a:solidFill>
            </a:ln>
          </p:spPr>
          <p:txBody>
            <a:bodyPr rtlCol="0" anchor="ctr"/>
            <a:lstStyle/>
            <a:p>
              <a:pPr algn="ctr"/>
              <a:endParaRPr/>
            </a:p>
          </p:txBody>
        </p:sp>
        <p:sp>
          <p:nvSpPr>
            <p:cNvPr id="13" name="Rectangle 12"/>
            <p:cNvSpPr/>
            <p:nvPr/>
          </p:nvSpPr>
          <p:spPr>
            <a:xfrm>
              <a:off x="2677709" y="2331720"/>
              <a:ext cx="1143000" cy="92676"/>
            </a:xfrm>
            <a:prstGeom prst="rect">
              <a:avLst/>
            </a:prstGeom>
            <a:solidFill>
              <a:srgbClr val="3D434C"/>
            </a:solidFill>
            <a:ln w="12700">
              <a:solidFill>
                <a:srgbClr val="9AA0A6"/>
              </a:solidFill>
            </a:ln>
          </p:spPr>
          <p:txBody>
            <a:bodyPr rtlCol="0" anchor="ctr"/>
            <a:lstStyle/>
            <a:p>
              <a:pPr algn="ctr"/>
              <a:endParaRPr/>
            </a:p>
          </p:txBody>
        </p:sp>
        <p:sp>
          <p:nvSpPr>
            <p:cNvPr id="14" name="Rectangle 13"/>
            <p:cNvSpPr/>
            <p:nvPr/>
          </p:nvSpPr>
          <p:spPr>
            <a:xfrm>
              <a:off x="2986628" y="2578855"/>
              <a:ext cx="401595" cy="339811"/>
            </a:xfrm>
            <a:prstGeom prst="rect">
              <a:avLst/>
            </a:prstGeom>
            <a:solidFill>
              <a:srgbClr val="1B1D21"/>
            </a:solidFill>
            <a:ln w="12700">
              <a:solidFill>
                <a:srgbClr val="9AA0A6"/>
              </a:solidFill>
            </a:ln>
          </p:spPr>
          <p:txBody>
            <a:bodyPr rtlCol="0" anchor="ctr"/>
            <a:lstStyle/>
            <a:p>
              <a:pPr algn="ctr"/>
              <a:endParaRPr/>
            </a:p>
          </p:txBody>
        </p:sp>
        <p:sp>
          <p:nvSpPr>
            <p:cNvPr id="15" name="Rectangle 14"/>
            <p:cNvSpPr/>
            <p:nvPr/>
          </p:nvSpPr>
          <p:spPr>
            <a:xfrm>
              <a:off x="1164006" y="3227585"/>
              <a:ext cx="432486" cy="185351"/>
            </a:xfrm>
            <a:prstGeom prst="rect">
              <a:avLst/>
            </a:prstGeom>
            <a:solidFill>
              <a:srgbClr val="3D434C"/>
            </a:solidFill>
            <a:ln w="12700">
              <a:solidFill>
                <a:srgbClr val="9AA0A6"/>
              </a:solidFill>
            </a:ln>
          </p:spPr>
          <p:txBody>
            <a:bodyPr rtlCol="0" anchor="ctr"/>
            <a:lstStyle/>
            <a:p>
              <a:pPr algn="ctr"/>
              <a:endParaRPr/>
            </a:p>
          </p:txBody>
        </p:sp>
        <p:sp>
          <p:nvSpPr>
            <p:cNvPr id="16" name="Oval 15"/>
            <p:cNvSpPr/>
            <p:nvPr/>
          </p:nvSpPr>
          <p:spPr>
            <a:xfrm>
              <a:off x="1426588" y="3273923"/>
              <a:ext cx="463378" cy="463378"/>
            </a:xfrm>
            <a:prstGeom prst="ellipse">
              <a:avLst/>
            </a:prstGeom>
            <a:solidFill>
              <a:srgbClr val="1B1D21"/>
            </a:solidFill>
            <a:ln w="25400">
              <a:solidFill>
                <a:srgbClr val="9AA0A6"/>
              </a:solidFill>
            </a:ln>
          </p:spPr>
          <p:txBody>
            <a:bodyPr rtlCol="0" anchor="ctr"/>
            <a:lstStyle/>
            <a:p>
              <a:pPr algn="ctr"/>
              <a:endParaRPr/>
            </a:p>
          </p:txBody>
        </p:sp>
        <p:sp>
          <p:nvSpPr>
            <p:cNvPr id="17" name="Oval 16"/>
            <p:cNvSpPr/>
            <p:nvPr/>
          </p:nvSpPr>
          <p:spPr>
            <a:xfrm>
              <a:off x="1616573" y="3463908"/>
              <a:ext cx="83408" cy="83408"/>
            </a:xfrm>
            <a:prstGeom prst="ellipse">
              <a:avLst/>
            </a:prstGeom>
            <a:solidFill>
              <a:srgbClr val="9AA0A6"/>
            </a:solidFill>
            <a:ln>
              <a:noFill/>
            </a:ln>
          </p:spPr>
          <p:txBody>
            <a:bodyPr rtlCol="0" anchor="ctr"/>
            <a:lstStyle/>
            <a:p>
              <a:pPr algn="ctr"/>
              <a:endParaRPr/>
            </a:p>
          </p:txBody>
        </p:sp>
        <p:sp>
          <p:nvSpPr>
            <p:cNvPr id="18" name="Oval 17"/>
            <p:cNvSpPr/>
            <p:nvPr/>
          </p:nvSpPr>
          <p:spPr>
            <a:xfrm>
              <a:off x="1920858" y="3273923"/>
              <a:ext cx="463378" cy="463378"/>
            </a:xfrm>
            <a:prstGeom prst="ellipse">
              <a:avLst/>
            </a:prstGeom>
            <a:solidFill>
              <a:srgbClr val="1B1D21"/>
            </a:solidFill>
            <a:ln w="25400">
              <a:solidFill>
                <a:srgbClr val="9AA0A6"/>
              </a:solidFill>
            </a:ln>
          </p:spPr>
          <p:txBody>
            <a:bodyPr rtlCol="0" anchor="ctr"/>
            <a:lstStyle/>
            <a:p>
              <a:pPr algn="ctr"/>
              <a:endParaRPr/>
            </a:p>
          </p:txBody>
        </p:sp>
        <p:sp>
          <p:nvSpPr>
            <p:cNvPr id="19" name="Oval 18"/>
            <p:cNvSpPr/>
            <p:nvPr/>
          </p:nvSpPr>
          <p:spPr>
            <a:xfrm>
              <a:off x="2110843" y="3463908"/>
              <a:ext cx="83408" cy="83408"/>
            </a:xfrm>
            <a:prstGeom prst="ellipse">
              <a:avLst/>
            </a:prstGeom>
            <a:solidFill>
              <a:srgbClr val="9AA0A6"/>
            </a:solidFill>
            <a:ln>
              <a:noFill/>
            </a:ln>
          </p:spPr>
          <p:txBody>
            <a:bodyPr rtlCol="0" anchor="ctr"/>
            <a:lstStyle/>
            <a:p>
              <a:pPr algn="ctr"/>
              <a:endParaRPr/>
            </a:p>
          </p:txBody>
        </p:sp>
        <p:sp>
          <p:nvSpPr>
            <p:cNvPr id="20" name="Oval 19"/>
            <p:cNvSpPr/>
            <p:nvPr/>
          </p:nvSpPr>
          <p:spPr>
            <a:xfrm>
              <a:off x="2415128" y="3273923"/>
              <a:ext cx="463378" cy="463378"/>
            </a:xfrm>
            <a:prstGeom prst="ellipse">
              <a:avLst/>
            </a:prstGeom>
            <a:solidFill>
              <a:srgbClr val="1B1D21"/>
            </a:solidFill>
            <a:ln w="25400">
              <a:solidFill>
                <a:srgbClr val="9AA0A6"/>
              </a:solidFill>
            </a:ln>
          </p:spPr>
          <p:txBody>
            <a:bodyPr rtlCol="0" anchor="ctr"/>
            <a:lstStyle/>
            <a:p>
              <a:pPr algn="ctr"/>
              <a:endParaRPr/>
            </a:p>
          </p:txBody>
        </p:sp>
        <p:sp>
          <p:nvSpPr>
            <p:cNvPr id="21" name="Oval 20"/>
            <p:cNvSpPr/>
            <p:nvPr/>
          </p:nvSpPr>
          <p:spPr>
            <a:xfrm>
              <a:off x="2605113" y="3463908"/>
              <a:ext cx="83408" cy="83408"/>
            </a:xfrm>
            <a:prstGeom prst="ellipse">
              <a:avLst/>
            </a:prstGeom>
            <a:solidFill>
              <a:srgbClr val="9AA0A6"/>
            </a:solidFill>
            <a:ln>
              <a:noFill/>
            </a:ln>
          </p:spPr>
          <p:txBody>
            <a:bodyPr rtlCol="0" anchor="ctr"/>
            <a:lstStyle/>
            <a:p>
              <a:pPr algn="ctr"/>
              <a:endParaRPr/>
            </a:p>
          </p:txBody>
        </p:sp>
        <p:cxnSp>
          <p:nvCxnSpPr>
            <p:cNvPr id="22" name="Connector 21"/>
            <p:cNvCxnSpPr/>
            <p:nvPr/>
          </p:nvCxnSpPr>
          <p:spPr>
            <a:xfrm>
              <a:off x="1658277" y="3505612"/>
              <a:ext cx="988540" cy="0"/>
            </a:xfrm>
            <a:prstGeom prst="line">
              <a:avLst/>
            </a:prstGeom>
            <a:ln w="25400">
              <a:solidFill>
                <a:srgbClr val="9AA0A6"/>
              </a:solidFill>
            </a:ln>
          </p:spPr>
        </p:cxnSp>
        <p:sp>
          <p:nvSpPr>
            <p:cNvPr id="23" name="Oval 22"/>
            <p:cNvSpPr/>
            <p:nvPr/>
          </p:nvSpPr>
          <p:spPr>
            <a:xfrm>
              <a:off x="1024993" y="3459274"/>
              <a:ext cx="278027" cy="278027"/>
            </a:xfrm>
            <a:prstGeom prst="ellipse">
              <a:avLst/>
            </a:prstGeom>
            <a:solidFill>
              <a:srgbClr val="1B1D21"/>
            </a:solidFill>
            <a:ln w="25400">
              <a:solidFill>
                <a:srgbClr val="9AA0A6"/>
              </a:solidFill>
            </a:ln>
          </p:spPr>
          <p:txBody>
            <a:bodyPr rtlCol="0" anchor="ctr"/>
            <a:lstStyle/>
            <a:p>
              <a:pPr algn="ctr"/>
              <a:endParaRPr/>
            </a:p>
          </p:txBody>
        </p:sp>
        <p:sp>
          <p:nvSpPr>
            <p:cNvPr id="24" name="Oval 23"/>
            <p:cNvSpPr/>
            <p:nvPr/>
          </p:nvSpPr>
          <p:spPr>
            <a:xfrm>
              <a:off x="1138984" y="3573265"/>
              <a:ext cx="50045" cy="50045"/>
            </a:xfrm>
            <a:prstGeom prst="ellipse">
              <a:avLst/>
            </a:prstGeom>
            <a:solidFill>
              <a:srgbClr val="9AA0A6"/>
            </a:solidFill>
            <a:ln>
              <a:noFill/>
            </a:ln>
          </p:spPr>
          <p:txBody>
            <a:bodyPr rtlCol="0" anchor="ctr"/>
            <a:lstStyle/>
            <a:p>
              <a:pPr algn="ctr"/>
              <a:endParaRPr/>
            </a:p>
          </p:txBody>
        </p:sp>
        <p:sp>
          <p:nvSpPr>
            <p:cNvPr id="25" name="Rectangle 24"/>
            <p:cNvSpPr/>
            <p:nvPr/>
          </p:nvSpPr>
          <p:spPr>
            <a:xfrm>
              <a:off x="3758925" y="3227585"/>
              <a:ext cx="1513703" cy="185351"/>
            </a:xfrm>
            <a:prstGeom prst="rect">
              <a:avLst/>
            </a:prstGeom>
            <a:solidFill>
              <a:srgbClr val="3D434C"/>
            </a:solidFill>
            <a:ln w="12700">
              <a:solidFill>
                <a:srgbClr val="9AA0A6"/>
              </a:solidFill>
            </a:ln>
          </p:spPr>
          <p:txBody>
            <a:bodyPr rtlCol="0" anchor="ctr"/>
            <a:lstStyle/>
            <a:p>
              <a:pPr algn="ctr"/>
              <a:endParaRPr/>
            </a:p>
          </p:txBody>
        </p:sp>
        <p:sp>
          <p:nvSpPr>
            <p:cNvPr id="26" name="Rounded Rectangle 25"/>
            <p:cNvSpPr/>
            <p:nvPr/>
          </p:nvSpPr>
          <p:spPr>
            <a:xfrm>
              <a:off x="3820709" y="2764206"/>
              <a:ext cx="1421027" cy="494270"/>
            </a:xfrm>
            <a:prstGeom prst="roundRect">
              <a:avLst>
                <a:gd name="adj" fmla="val 12500"/>
              </a:avLst>
            </a:prstGeom>
            <a:solidFill>
              <a:srgbClr val="6C7480"/>
            </a:solidFill>
            <a:ln w="12700">
              <a:solidFill>
                <a:srgbClr val="1B1D21"/>
              </a:solidFill>
            </a:ln>
          </p:spPr>
          <p:txBody>
            <a:bodyPr rtlCol="0" anchor="ctr"/>
            <a:lstStyle/>
            <a:p>
              <a:pPr algn="ctr"/>
              <a:endParaRPr/>
            </a:p>
          </p:txBody>
        </p:sp>
        <p:sp>
          <p:nvSpPr>
            <p:cNvPr id="27" name="Rectangle 26"/>
            <p:cNvSpPr/>
            <p:nvPr/>
          </p:nvSpPr>
          <p:spPr>
            <a:xfrm>
              <a:off x="3882493" y="2578855"/>
              <a:ext cx="1297459" cy="216243"/>
            </a:xfrm>
            <a:prstGeom prst="rect">
              <a:avLst/>
            </a:prstGeom>
            <a:solidFill>
              <a:srgbClr val="1B1D21"/>
            </a:solidFill>
            <a:ln w="12700">
              <a:solidFill>
                <a:srgbClr val="9AA0A6"/>
              </a:solidFill>
            </a:ln>
          </p:spPr>
          <p:txBody>
            <a:bodyPr rtlCol="0" anchor="ctr"/>
            <a:lstStyle/>
            <a:p>
              <a:pPr algn="ctr"/>
              <a:endParaRPr/>
            </a:p>
          </p:txBody>
        </p:sp>
        <p:sp>
          <p:nvSpPr>
            <p:cNvPr id="28" name="Oval 27"/>
            <p:cNvSpPr/>
            <p:nvPr/>
          </p:nvSpPr>
          <p:spPr>
            <a:xfrm>
              <a:off x="3959723" y="3397490"/>
              <a:ext cx="339811" cy="339811"/>
            </a:xfrm>
            <a:prstGeom prst="ellipse">
              <a:avLst/>
            </a:prstGeom>
            <a:solidFill>
              <a:srgbClr val="1B1D21"/>
            </a:solidFill>
            <a:ln w="25400">
              <a:solidFill>
                <a:srgbClr val="9AA0A6"/>
              </a:solidFill>
            </a:ln>
          </p:spPr>
          <p:txBody>
            <a:bodyPr rtlCol="0" anchor="ctr"/>
            <a:lstStyle/>
            <a:p>
              <a:pPr algn="ctr"/>
              <a:endParaRPr/>
            </a:p>
          </p:txBody>
        </p:sp>
        <p:sp>
          <p:nvSpPr>
            <p:cNvPr id="29" name="Oval 28"/>
            <p:cNvSpPr/>
            <p:nvPr/>
          </p:nvSpPr>
          <p:spPr>
            <a:xfrm>
              <a:off x="4099045" y="3536813"/>
              <a:ext cx="61166" cy="61166"/>
            </a:xfrm>
            <a:prstGeom prst="ellipse">
              <a:avLst/>
            </a:prstGeom>
            <a:solidFill>
              <a:srgbClr val="9AA0A6"/>
            </a:solidFill>
            <a:ln>
              <a:noFill/>
            </a:ln>
          </p:spPr>
          <p:txBody>
            <a:bodyPr rtlCol="0" anchor="ctr"/>
            <a:lstStyle/>
            <a:p>
              <a:pPr algn="ctr"/>
              <a:endParaRPr/>
            </a:p>
          </p:txBody>
        </p:sp>
        <p:sp>
          <p:nvSpPr>
            <p:cNvPr id="30" name="Oval 29"/>
            <p:cNvSpPr/>
            <p:nvPr/>
          </p:nvSpPr>
          <p:spPr>
            <a:xfrm>
              <a:off x="4732020" y="3397490"/>
              <a:ext cx="339811" cy="339811"/>
            </a:xfrm>
            <a:prstGeom prst="ellipse">
              <a:avLst/>
            </a:prstGeom>
            <a:solidFill>
              <a:srgbClr val="1B1D21"/>
            </a:solidFill>
            <a:ln w="25400">
              <a:solidFill>
                <a:srgbClr val="9AA0A6"/>
              </a:solidFill>
            </a:ln>
          </p:spPr>
          <p:txBody>
            <a:bodyPr rtlCol="0" anchor="ctr"/>
            <a:lstStyle/>
            <a:p>
              <a:pPr algn="ctr"/>
              <a:endParaRPr/>
            </a:p>
          </p:txBody>
        </p:sp>
        <p:sp>
          <p:nvSpPr>
            <p:cNvPr id="31" name="Oval 30"/>
            <p:cNvSpPr/>
            <p:nvPr/>
          </p:nvSpPr>
          <p:spPr>
            <a:xfrm>
              <a:off x="4871342" y="3536813"/>
              <a:ext cx="61166" cy="61166"/>
            </a:xfrm>
            <a:prstGeom prst="ellipse">
              <a:avLst/>
            </a:prstGeom>
            <a:solidFill>
              <a:srgbClr val="9AA0A6"/>
            </a:solidFill>
            <a:ln>
              <a:noFill/>
            </a:ln>
          </p:spPr>
          <p:txBody>
            <a:bodyPr rtlCol="0" anchor="ctr"/>
            <a:lstStyle/>
            <a:p>
              <a:pPr algn="ctr"/>
              <a:endParaRPr/>
            </a:p>
          </p:txBody>
        </p:sp>
        <p:sp>
          <p:nvSpPr>
            <p:cNvPr id="32" name="Rounded Rectangle 31"/>
            <p:cNvSpPr/>
            <p:nvPr/>
          </p:nvSpPr>
          <p:spPr>
            <a:xfrm>
              <a:off x="5394960" y="2889504"/>
              <a:ext cx="2834640" cy="663306"/>
            </a:xfrm>
            <a:prstGeom prst="roundRect">
              <a:avLst>
                <a:gd name="adj" fmla="val 11028"/>
              </a:avLst>
            </a:prstGeom>
            <a:solidFill>
              <a:srgbClr val="8C2F39"/>
            </a:solidFill>
            <a:ln w="12700">
              <a:solidFill>
                <a:srgbClr val="1B1D21"/>
              </a:solidFill>
            </a:ln>
          </p:spPr>
          <p:txBody>
            <a:bodyPr rtlCol="0" anchor="ctr"/>
            <a:lstStyle/>
            <a:p>
              <a:pPr algn="ctr"/>
              <a:endParaRPr/>
            </a:p>
          </p:txBody>
        </p:sp>
        <p:sp>
          <p:nvSpPr>
            <p:cNvPr id="33" name="Rounded Rectangle 32"/>
            <p:cNvSpPr/>
            <p:nvPr/>
          </p:nvSpPr>
          <p:spPr>
            <a:xfrm>
              <a:off x="5597920"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34" name="Rounded Rectangle 33"/>
            <p:cNvSpPr/>
            <p:nvPr/>
          </p:nvSpPr>
          <p:spPr>
            <a:xfrm>
              <a:off x="6108155"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35" name="Rounded Rectangle 34"/>
            <p:cNvSpPr/>
            <p:nvPr/>
          </p:nvSpPr>
          <p:spPr>
            <a:xfrm>
              <a:off x="6618391"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36" name="Rounded Rectangle 35"/>
            <p:cNvSpPr/>
            <p:nvPr/>
          </p:nvSpPr>
          <p:spPr>
            <a:xfrm>
              <a:off x="7128626"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37" name="Rounded Rectangle 36"/>
            <p:cNvSpPr/>
            <p:nvPr/>
          </p:nvSpPr>
          <p:spPr>
            <a:xfrm>
              <a:off x="7638861"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38" name="Rectangle 37"/>
            <p:cNvSpPr/>
            <p:nvPr/>
          </p:nvSpPr>
          <p:spPr>
            <a:xfrm>
              <a:off x="5451653" y="3569818"/>
              <a:ext cx="2721254" cy="51024"/>
            </a:xfrm>
            <a:prstGeom prst="rect">
              <a:avLst/>
            </a:prstGeom>
            <a:solidFill>
              <a:srgbClr val="343A43"/>
            </a:solidFill>
            <a:ln w="9525">
              <a:solidFill>
                <a:srgbClr val="9AA0A6"/>
              </a:solidFill>
            </a:ln>
          </p:spPr>
          <p:txBody>
            <a:bodyPr rtlCol="0" anchor="ctr"/>
            <a:lstStyle/>
            <a:p>
              <a:pPr algn="ctr"/>
              <a:endParaRPr/>
            </a:p>
          </p:txBody>
        </p:sp>
        <p:sp>
          <p:nvSpPr>
            <p:cNvPr id="39" name="Oval 38"/>
            <p:cNvSpPr/>
            <p:nvPr/>
          </p:nvSpPr>
          <p:spPr>
            <a:xfrm>
              <a:off x="5746455" y="3569818"/>
              <a:ext cx="204094" cy="204094"/>
            </a:xfrm>
            <a:prstGeom prst="ellipse">
              <a:avLst/>
            </a:prstGeom>
            <a:solidFill>
              <a:srgbClr val="1B1D21"/>
            </a:solidFill>
            <a:ln w="25400">
              <a:solidFill>
                <a:srgbClr val="9AA0A6"/>
              </a:solidFill>
            </a:ln>
          </p:spPr>
          <p:txBody>
            <a:bodyPr rtlCol="0" anchor="ctr"/>
            <a:lstStyle/>
            <a:p>
              <a:pPr algn="ctr"/>
              <a:endParaRPr/>
            </a:p>
          </p:txBody>
        </p:sp>
        <p:sp>
          <p:nvSpPr>
            <p:cNvPr id="40" name="Oval 39"/>
            <p:cNvSpPr/>
            <p:nvPr/>
          </p:nvSpPr>
          <p:spPr>
            <a:xfrm>
              <a:off x="5830134" y="3653496"/>
              <a:ext cx="36737" cy="36737"/>
            </a:xfrm>
            <a:prstGeom prst="ellipse">
              <a:avLst/>
            </a:prstGeom>
            <a:solidFill>
              <a:srgbClr val="9AA0A6"/>
            </a:solidFill>
            <a:ln>
              <a:noFill/>
            </a:ln>
          </p:spPr>
          <p:txBody>
            <a:bodyPr rtlCol="0" anchor="ctr"/>
            <a:lstStyle/>
            <a:p>
              <a:pPr algn="ctr"/>
              <a:endParaRPr/>
            </a:p>
          </p:txBody>
        </p:sp>
        <p:sp>
          <p:nvSpPr>
            <p:cNvPr id="41" name="Oval 40"/>
            <p:cNvSpPr/>
            <p:nvPr/>
          </p:nvSpPr>
          <p:spPr>
            <a:xfrm>
              <a:off x="7674011" y="3569818"/>
              <a:ext cx="204094" cy="204094"/>
            </a:xfrm>
            <a:prstGeom prst="ellipse">
              <a:avLst/>
            </a:prstGeom>
            <a:solidFill>
              <a:srgbClr val="1B1D21"/>
            </a:solidFill>
            <a:ln w="25400">
              <a:solidFill>
                <a:srgbClr val="9AA0A6"/>
              </a:solidFill>
            </a:ln>
          </p:spPr>
          <p:txBody>
            <a:bodyPr rtlCol="0" anchor="ctr"/>
            <a:lstStyle/>
            <a:p>
              <a:pPr algn="ctr"/>
              <a:endParaRPr/>
            </a:p>
          </p:txBody>
        </p:sp>
        <p:sp>
          <p:nvSpPr>
            <p:cNvPr id="42" name="Oval 41"/>
            <p:cNvSpPr/>
            <p:nvPr/>
          </p:nvSpPr>
          <p:spPr>
            <a:xfrm>
              <a:off x="7757689" y="3653496"/>
              <a:ext cx="36737" cy="36737"/>
            </a:xfrm>
            <a:prstGeom prst="ellipse">
              <a:avLst/>
            </a:prstGeom>
            <a:solidFill>
              <a:srgbClr val="9AA0A6"/>
            </a:solidFill>
            <a:ln>
              <a:noFill/>
            </a:ln>
          </p:spPr>
          <p:txBody>
            <a:bodyPr rtlCol="0" anchor="ctr"/>
            <a:lstStyle/>
            <a:p>
              <a:pPr algn="ctr"/>
              <a:endParaRPr/>
            </a:p>
          </p:txBody>
        </p:sp>
        <p:sp>
          <p:nvSpPr>
            <p:cNvPr id="43" name="Rounded Rectangle 42"/>
            <p:cNvSpPr/>
            <p:nvPr/>
          </p:nvSpPr>
          <p:spPr>
            <a:xfrm>
              <a:off x="8321040" y="2889504"/>
              <a:ext cx="2834640" cy="663306"/>
            </a:xfrm>
            <a:prstGeom prst="roundRect">
              <a:avLst>
                <a:gd name="adj" fmla="val 11028"/>
              </a:avLst>
            </a:prstGeom>
            <a:solidFill>
              <a:srgbClr val="8C2F39"/>
            </a:solidFill>
            <a:ln w="12700">
              <a:solidFill>
                <a:srgbClr val="1B1D21"/>
              </a:solidFill>
            </a:ln>
          </p:spPr>
          <p:txBody>
            <a:bodyPr rtlCol="0" anchor="ctr"/>
            <a:lstStyle/>
            <a:p>
              <a:pPr algn="ctr"/>
              <a:endParaRPr/>
            </a:p>
          </p:txBody>
        </p:sp>
        <p:sp>
          <p:nvSpPr>
            <p:cNvPr id="44" name="Rounded Rectangle 43"/>
            <p:cNvSpPr/>
            <p:nvPr/>
          </p:nvSpPr>
          <p:spPr>
            <a:xfrm>
              <a:off x="8524000"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45" name="Rounded Rectangle 44"/>
            <p:cNvSpPr/>
            <p:nvPr/>
          </p:nvSpPr>
          <p:spPr>
            <a:xfrm>
              <a:off x="9034235"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46" name="Rounded Rectangle 45"/>
            <p:cNvSpPr/>
            <p:nvPr/>
          </p:nvSpPr>
          <p:spPr>
            <a:xfrm>
              <a:off x="9544471"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47" name="Rounded Rectangle 46"/>
            <p:cNvSpPr/>
            <p:nvPr/>
          </p:nvSpPr>
          <p:spPr>
            <a:xfrm>
              <a:off x="10054706"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48" name="Rounded Rectangle 47"/>
            <p:cNvSpPr/>
            <p:nvPr/>
          </p:nvSpPr>
          <p:spPr>
            <a:xfrm>
              <a:off x="10564941" y="3017063"/>
              <a:ext cx="367369" cy="238110"/>
            </a:xfrm>
            <a:prstGeom prst="roundRect">
              <a:avLst>
                <a:gd name="adj" fmla="val 11520"/>
              </a:avLst>
            </a:prstGeom>
            <a:solidFill>
              <a:srgbClr val="1B1D21"/>
            </a:solidFill>
            <a:ln w="9525">
              <a:solidFill>
                <a:srgbClr val="9AA0A6"/>
              </a:solidFill>
            </a:ln>
          </p:spPr>
          <p:txBody>
            <a:bodyPr rtlCol="0" anchor="ctr"/>
            <a:lstStyle/>
            <a:p>
              <a:pPr algn="ctr"/>
              <a:endParaRPr/>
            </a:p>
          </p:txBody>
        </p:sp>
        <p:sp>
          <p:nvSpPr>
            <p:cNvPr id="49" name="Rectangle 48"/>
            <p:cNvSpPr/>
            <p:nvPr/>
          </p:nvSpPr>
          <p:spPr>
            <a:xfrm>
              <a:off x="8377733" y="3569818"/>
              <a:ext cx="2721254" cy="51024"/>
            </a:xfrm>
            <a:prstGeom prst="rect">
              <a:avLst/>
            </a:prstGeom>
            <a:solidFill>
              <a:srgbClr val="343A43"/>
            </a:solidFill>
            <a:ln w="9525">
              <a:solidFill>
                <a:srgbClr val="9AA0A6"/>
              </a:solidFill>
            </a:ln>
          </p:spPr>
          <p:txBody>
            <a:bodyPr rtlCol="0" anchor="ctr"/>
            <a:lstStyle/>
            <a:p>
              <a:pPr algn="ctr"/>
              <a:endParaRPr/>
            </a:p>
          </p:txBody>
        </p:sp>
        <p:sp>
          <p:nvSpPr>
            <p:cNvPr id="50" name="Oval 49"/>
            <p:cNvSpPr/>
            <p:nvPr/>
          </p:nvSpPr>
          <p:spPr>
            <a:xfrm>
              <a:off x="8672535" y="3569818"/>
              <a:ext cx="204094" cy="204094"/>
            </a:xfrm>
            <a:prstGeom prst="ellipse">
              <a:avLst/>
            </a:prstGeom>
            <a:solidFill>
              <a:srgbClr val="1B1D21"/>
            </a:solidFill>
            <a:ln w="25400">
              <a:solidFill>
                <a:srgbClr val="9AA0A6"/>
              </a:solidFill>
            </a:ln>
          </p:spPr>
          <p:txBody>
            <a:bodyPr rtlCol="0" anchor="ctr"/>
            <a:lstStyle/>
            <a:p>
              <a:pPr algn="ctr"/>
              <a:endParaRPr/>
            </a:p>
          </p:txBody>
        </p:sp>
        <p:sp>
          <p:nvSpPr>
            <p:cNvPr id="51" name="Oval 50"/>
            <p:cNvSpPr/>
            <p:nvPr/>
          </p:nvSpPr>
          <p:spPr>
            <a:xfrm>
              <a:off x="8756214" y="3653496"/>
              <a:ext cx="36737" cy="36737"/>
            </a:xfrm>
            <a:prstGeom prst="ellipse">
              <a:avLst/>
            </a:prstGeom>
            <a:solidFill>
              <a:srgbClr val="9AA0A6"/>
            </a:solidFill>
            <a:ln>
              <a:noFill/>
            </a:ln>
          </p:spPr>
          <p:txBody>
            <a:bodyPr rtlCol="0" anchor="ctr"/>
            <a:lstStyle/>
            <a:p>
              <a:pPr algn="ctr"/>
              <a:endParaRPr/>
            </a:p>
          </p:txBody>
        </p:sp>
        <p:sp>
          <p:nvSpPr>
            <p:cNvPr id="52" name="Oval 51"/>
            <p:cNvSpPr/>
            <p:nvPr/>
          </p:nvSpPr>
          <p:spPr>
            <a:xfrm>
              <a:off x="10600091" y="3569818"/>
              <a:ext cx="204094" cy="204094"/>
            </a:xfrm>
            <a:prstGeom prst="ellipse">
              <a:avLst/>
            </a:prstGeom>
            <a:solidFill>
              <a:srgbClr val="1B1D21"/>
            </a:solidFill>
            <a:ln w="25400">
              <a:solidFill>
                <a:srgbClr val="9AA0A6"/>
              </a:solidFill>
            </a:ln>
          </p:spPr>
          <p:txBody>
            <a:bodyPr rtlCol="0" anchor="ctr"/>
            <a:lstStyle/>
            <a:p>
              <a:pPr algn="ctr"/>
              <a:endParaRPr/>
            </a:p>
          </p:txBody>
        </p:sp>
        <p:sp>
          <p:nvSpPr>
            <p:cNvPr id="53" name="Oval 52"/>
            <p:cNvSpPr/>
            <p:nvPr/>
          </p:nvSpPr>
          <p:spPr>
            <a:xfrm>
              <a:off x="10683769" y="3653496"/>
              <a:ext cx="36737" cy="36737"/>
            </a:xfrm>
            <a:prstGeom prst="ellipse">
              <a:avLst/>
            </a:prstGeom>
            <a:solidFill>
              <a:srgbClr val="9AA0A6"/>
            </a:solidFill>
            <a:ln>
              <a:noFill/>
            </a:ln>
          </p:spPr>
          <p:txBody>
            <a:bodyPr rtlCol="0" anchor="ctr"/>
            <a:lstStyle/>
            <a:p>
              <a:pPr algn="ctr"/>
              <a:endParaRPr/>
            </a:p>
          </p:txBody>
        </p:sp>
        <p:cxnSp>
          <p:nvCxnSpPr>
            <p:cNvPr id="54" name="Connector 53"/>
            <p:cNvCxnSpPr/>
            <p:nvPr/>
          </p:nvCxnSpPr>
          <p:spPr>
            <a:xfrm>
              <a:off x="457200" y="3749040"/>
              <a:ext cx="11247120" cy="0"/>
            </a:xfrm>
            <a:prstGeom prst="line">
              <a:avLst/>
            </a:prstGeom>
            <a:ln w="38100">
              <a:solidFill>
                <a:srgbClr val="9AA0A6"/>
              </a:solidFill>
            </a:ln>
          </p:spPr>
        </p:cxnSp>
        <p:cxnSp>
          <p:nvCxnSpPr>
            <p:cNvPr id="55" name="Connector 54"/>
            <p:cNvCxnSpPr/>
            <p:nvPr/>
          </p:nvCxnSpPr>
          <p:spPr>
            <a:xfrm>
              <a:off x="822960" y="4160520"/>
              <a:ext cx="10332720" cy="0"/>
            </a:xfrm>
            <a:prstGeom prst="line">
              <a:avLst/>
            </a:prstGeom>
            <a:ln w="28575">
              <a:solidFill>
                <a:srgbClr val="F2C14E"/>
              </a:solidFill>
            </a:ln>
          </p:spPr>
        </p:cxnSp>
        <p:cxnSp>
          <p:nvCxnSpPr>
            <p:cNvPr id="56" name="Connector 55"/>
            <p:cNvCxnSpPr/>
            <p:nvPr/>
          </p:nvCxnSpPr>
          <p:spPr>
            <a:xfrm>
              <a:off x="822960" y="4050792"/>
              <a:ext cx="0" cy="219456"/>
            </a:xfrm>
            <a:prstGeom prst="line">
              <a:avLst/>
            </a:prstGeom>
            <a:ln w="28575">
              <a:solidFill>
                <a:srgbClr val="F2C14E"/>
              </a:solidFill>
            </a:ln>
          </p:spPr>
        </p:cxnSp>
        <p:cxnSp>
          <p:nvCxnSpPr>
            <p:cNvPr id="57" name="Connector 56"/>
            <p:cNvCxnSpPr/>
            <p:nvPr/>
          </p:nvCxnSpPr>
          <p:spPr>
            <a:xfrm>
              <a:off x="11155680" y="4050792"/>
              <a:ext cx="0" cy="219456"/>
            </a:xfrm>
            <a:prstGeom prst="line">
              <a:avLst/>
            </a:prstGeom>
            <a:ln w="28575">
              <a:solidFill>
                <a:srgbClr val="F2C14E"/>
              </a:solidFill>
            </a:ln>
          </p:spPr>
        </p:cxnSp>
        <p:sp>
          <p:nvSpPr>
            <p:cNvPr id="58" name="Rounded Rectangle 57"/>
            <p:cNvSpPr/>
            <p:nvPr/>
          </p:nvSpPr>
          <p:spPr>
            <a:xfrm>
              <a:off x="4910328" y="4370832"/>
              <a:ext cx="2377440" cy="457200"/>
            </a:xfrm>
            <a:prstGeom prst="roundRect">
              <a:avLst>
                <a:gd name="adj" fmla="val 50000"/>
              </a:avLst>
            </a:prstGeom>
            <a:solidFill>
              <a:srgbClr val="2B2F36"/>
            </a:solidFill>
            <a:ln w="25400">
              <a:solidFill>
                <a:srgbClr val="F2C14E"/>
              </a:solidFill>
            </a:ln>
          </p:spPr>
          <p:txBody>
            <a:bodyPr wrap="square" lIns="73152" tIns="27432" rIns="73152" bIns="27432" rtlCol="0" anchor="ctr">
              <a:noAutofit/>
            </a:bodyPr>
            <a:lstStyle/>
            <a:p>
              <a:pPr algn="ctr">
                <a:spcBef>
                  <a:spcPts val="0"/>
                </a:spcBef>
                <a:spcAft>
                  <a:spcPts val="0"/>
                </a:spcAft>
              </a:pPr>
              <a:r>
                <a:rPr lang="en-GB" sz="2000" b="1" i="0">
                  <a:solidFill>
                    <a:srgbClr val="F2F2F2"/>
                  </a:solidFill>
                  <a:latin typeface="Arial"/>
                </a:rPr>
                <a:t>Display only</a:t>
              </a:r>
            </a:p>
          </p:txBody>
        </p:sp>
      </p:grpSp>
      <p:sp>
        <p:nvSpPr>
          <p:cNvPr id="59" name="Inline chip"/>
          <p:cNvSpPr/>
          <p:nvPr/>
        </p:nvSpPr>
        <p:spPr>
          <a:xfrm>
            <a:off x="4556782" y="5029200"/>
            <a:ext cx="3078131" cy="329184"/>
          </a:xfrm>
          <a:prstGeom prst="roundRect">
            <a:avLst>
              <a:gd name="adj" fmla="val 50000"/>
            </a:avLst>
          </a:prstGeom>
          <a:noFill/>
          <a:ln w="25400">
            <a:solidFill>
              <a:srgbClr val="A9B0B8"/>
            </a:solidFill>
          </a:ln>
        </p:spPr>
        <p:txBody>
          <a:bodyPr wrap="none" lIns="73152" tIns="18288" rIns="73152" bIns="18288" rtlCol="0" anchor="ctr">
            <a:noAutofit/>
          </a:bodyPr>
          <a:lstStyle/>
          <a:p>
            <a:pPr algn="ctr">
              <a:spcBef>
                <a:spcPts val="0"/>
              </a:spcBef>
              <a:spcAft>
                <a:spcPts val="0"/>
              </a:spcAft>
            </a:pPr>
            <a:r>
              <a:rPr lang="en-GB" sz="1400" b="0" i="0">
                <a:solidFill>
                  <a:srgbClr val="F2F2F2"/>
                </a:solidFill>
                <a:latin typeface="Arial"/>
              </a:rPr>
              <a:t>Which coaches: undecided (OQ25)</a:t>
            </a:r>
          </a:p>
        </p:txBody>
      </p:sp>
      <p:sp>
        <p:nvSpPr>
          <p:cNvPr id="60"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Historic coaches might join a prestige engine for show. There is still no passenger economy.</a:t>
            </a:r>
          </a:p>
        </p:txBody>
      </p:sp>
      <p:sp>
        <p:nvSpPr>
          <p:cNvPr id="61"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62"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22</a:t>
            </a:r>
          </a:p>
        </p:txBody>
      </p:sp>
    </p:spTree>
    <p:extLst>
      <p:ext uri="{BB962C8B-B14F-4D97-AF65-F5344CB8AC3E}">
        <p14:creationId xmlns:p14="http://schemas.microsoft.com/office/powerpoint/2010/main" val="381582386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59"/>
                                        </p:tgtEl>
                                        <p:attrNameLst>
                                          <p:attrName>style.visibility</p:attrName>
                                        </p:attrNameLst>
                                      </p:cBhvr>
                                      <p:to>
                                        <p:strVal val="visible"/>
                                      </p:to>
                                    </p:set>
                                    <p:animEffect transition="in" filter="fade">
                                      <p:cBhvr>
                                        <p:cTn id="10" dur="500"/>
                                        <p:tgtEl>
                                          <p:spTgt spid="59"/>
                                        </p:tgtEl>
                                      </p:cBhvr>
                                    </p:animEffect>
                                  </p:childTnLst>
                                </p:cTn>
                              </p:par>
                              <p:par>
                                <p:cTn id="11" presetID="10" presetClass="entr" presetSubtype="0" fill="hold" nodeType="withEffect">
                                  <p:stCondLst>
                                    <p:cond delay="600"/>
                                  </p:stCondLst>
                                  <p:childTnLst>
                                    <p:set>
                                      <p:cBhvr>
                                        <p:cTn id="12" dur="1" fill="hold">
                                          <p:stCondLst>
                                            <p:cond delay="0"/>
                                          </p:stCondLst>
                                        </p:cTn>
                                        <p:tgtEl>
                                          <p:spTgt spid="60"/>
                                        </p:tgtEl>
                                        <p:attrNameLst>
                                          <p:attrName>style.visibility</p:attrName>
                                        </p:attrNameLst>
                                      </p:cBhvr>
                                      <p:to>
                                        <p:strVal val="visible"/>
                                      </p:to>
                                    </p:set>
                                    <p:animEffect transition="in" filter="fade">
                                      <p:cBhvr>
                                        <p:cTn id="13" dur="500"/>
                                        <p:tgtEl>
                                          <p:spTgt spid="60"/>
                                        </p:tgtEl>
                                      </p:cBhvr>
                                    </p:animEffect>
                                  </p:childTnLst>
                                </p:cTn>
                              </p:par>
                              <p:par>
                                <p:cTn id="14" presetID="10" presetClass="entr" presetSubtype="0" fill="hold" nodeType="withEffect">
                                  <p:stCondLst>
                                    <p:cond delay="90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Where this stands</a:t>
            </a:r>
          </a:p>
        </p:txBody>
      </p:sp>
      <p:sp>
        <p:nvSpPr>
          <p:cNvPr id="3" name="Status chip"/>
          <p:cNvSpPr/>
          <p:nvPr/>
        </p:nvSpPr>
        <p:spPr>
          <a:xfrm>
            <a:off x="10131552" y="457200"/>
            <a:ext cx="1481328" cy="365760"/>
          </a:xfrm>
          <a:prstGeom prst="roundRect">
            <a:avLst>
              <a:gd name="adj" fmla="val 30000"/>
            </a:avLst>
          </a:prstGeom>
          <a:solidFill>
            <a:srgbClr val="4DA3FF"/>
          </a:solidFill>
          <a:ln>
            <a:noFill/>
          </a:ln>
        </p:spPr>
        <p:txBody>
          <a:bodyPr wrap="none" lIns="36576" tIns="18288" rIns="36576" bIns="18288" rtlCol="0" anchor="ctr">
            <a:noAutofit/>
          </a:bodyPr>
          <a:lstStyle/>
          <a:p>
            <a:pPr algn="ctr">
              <a:spcBef>
                <a:spcPts val="0"/>
              </a:spcBef>
              <a:spcAft>
                <a:spcPts val="0"/>
              </a:spcAft>
            </a:pPr>
            <a:r>
              <a:rPr lang="en-GB" sz="1400" b="1" i="0">
                <a:solidFill>
                  <a:srgbClr val="101418"/>
                </a:solidFill>
                <a:latin typeface="Arial"/>
              </a:rPr>
              <a:t>PROVISIONAL</a:t>
            </a:r>
          </a:p>
        </p:txBody>
      </p:sp>
      <p:grpSp>
        <p:nvGrpSpPr>
          <p:cNvPr id="4" name="Diagram: four post-launch ideas, none started" descr="A row of four steps, each marked as an idea: advanced buildings, advanced driving, liveries and prestige engines."/>
          <p:cNvGrpSpPr/>
          <p:nvPr/>
        </p:nvGrpSpPr>
        <p:grpSpPr>
          <a:xfrm>
            <a:off x="548640" y="1508760"/>
            <a:ext cx="11091672" cy="2926080"/>
            <a:chOff x="548640" y="1508760"/>
            <a:chExt cx="11091672" cy="2926080"/>
          </a:xfrm>
        </p:grpSpPr>
        <p:sp>
          <p:nvSpPr>
            <p:cNvPr id="5" name="Rounded Rectangle 4"/>
            <p:cNvSpPr/>
            <p:nvPr/>
          </p:nvSpPr>
          <p:spPr>
            <a:xfrm>
              <a:off x="548640" y="1508760"/>
              <a:ext cx="2560320" cy="2926080"/>
            </a:xfrm>
            <a:prstGeom prst="roundRect">
              <a:avLst>
                <a:gd name="adj" fmla="val 2857"/>
              </a:avLst>
            </a:prstGeom>
            <a:solidFill>
              <a:srgbClr val="2B2F36"/>
            </a:solidFill>
            <a:ln>
              <a:noFill/>
            </a:ln>
          </p:spPr>
          <p:txBody>
            <a:bodyPr rtlCol="0" anchor="ctr"/>
            <a:lstStyle/>
            <a:p>
              <a:pPr algn="ctr"/>
              <a:endParaRPr/>
            </a:p>
          </p:txBody>
        </p:sp>
        <p:sp>
          <p:nvSpPr>
            <p:cNvPr id="6" name="Oval 5"/>
            <p:cNvSpPr/>
            <p:nvPr/>
          </p:nvSpPr>
          <p:spPr>
            <a:xfrm>
              <a:off x="1303020" y="1805940"/>
              <a:ext cx="1051560" cy="1051560"/>
            </a:xfrm>
            <a:prstGeom prst="ellipse">
              <a:avLst/>
            </a:prstGeom>
            <a:solidFill>
              <a:srgbClr val="2B2F36"/>
            </a:solidFill>
            <a:ln w="31750">
              <a:solidFill>
                <a:srgbClr val="A9B0B8"/>
              </a:solidFill>
              <a:prstDash val="dash"/>
            </a:ln>
          </p:spPr>
          <p:txBody>
            <a:bodyPr rtlCol="0" anchor="ctr"/>
            <a:lstStyle/>
            <a:p>
              <a:pPr algn="ctr"/>
              <a:endParaRPr/>
            </a:p>
          </p:txBody>
        </p:sp>
        <p:sp>
          <p:nvSpPr>
            <p:cNvPr id="7" name="Oval 6"/>
            <p:cNvSpPr/>
            <p:nvPr/>
          </p:nvSpPr>
          <p:spPr>
            <a:xfrm>
              <a:off x="1600200" y="2029968"/>
              <a:ext cx="457200" cy="457200"/>
            </a:xfrm>
            <a:prstGeom prst="ellipse">
              <a:avLst/>
            </a:prstGeom>
            <a:solidFill>
              <a:srgbClr val="F2C14E"/>
            </a:solidFill>
            <a:ln>
              <a:noFill/>
            </a:ln>
          </p:spPr>
          <p:txBody>
            <a:bodyPr rtlCol="0" anchor="ctr"/>
            <a:lstStyle/>
            <a:p>
              <a:pPr algn="ctr"/>
              <a:endParaRPr/>
            </a:p>
          </p:txBody>
        </p:sp>
        <p:sp>
          <p:nvSpPr>
            <p:cNvPr id="8" name="Rounded Rectangle 7"/>
            <p:cNvSpPr/>
            <p:nvPr/>
          </p:nvSpPr>
          <p:spPr>
            <a:xfrm>
              <a:off x="1728216" y="2450592"/>
              <a:ext cx="201168" cy="137160"/>
            </a:xfrm>
            <a:prstGeom prst="roundRect">
              <a:avLst>
                <a:gd name="adj" fmla="val 20000"/>
              </a:avLst>
            </a:prstGeom>
            <a:solidFill>
              <a:srgbClr val="9AA0A6"/>
            </a:solidFill>
            <a:ln>
              <a:noFill/>
            </a:ln>
          </p:spPr>
          <p:txBody>
            <a:bodyPr rtlCol="0" anchor="ctr"/>
            <a:lstStyle/>
            <a:p>
              <a:pPr algn="ctr"/>
              <a:endParaRPr/>
            </a:p>
          </p:txBody>
        </p:sp>
        <p:sp>
          <p:nvSpPr>
            <p:cNvPr id="9" name="Rounded Rectangle 8"/>
            <p:cNvSpPr/>
            <p:nvPr/>
          </p:nvSpPr>
          <p:spPr>
            <a:xfrm>
              <a:off x="1755648" y="2578608"/>
              <a:ext cx="146304" cy="54864"/>
            </a:xfrm>
            <a:prstGeom prst="roundRect">
              <a:avLst>
                <a:gd name="adj" fmla="val 50000"/>
              </a:avLst>
            </a:prstGeom>
            <a:solidFill>
              <a:srgbClr val="9AA0A6"/>
            </a:solidFill>
            <a:ln>
              <a:noFill/>
            </a:ln>
          </p:spPr>
          <p:txBody>
            <a:bodyPr rtlCol="0" anchor="ctr"/>
            <a:lstStyle/>
            <a:p>
              <a:pPr algn="ctr"/>
              <a:endParaRPr/>
            </a:p>
          </p:txBody>
        </p:sp>
        <p:sp>
          <p:nvSpPr>
            <p:cNvPr id="10" name="TextBox 9"/>
            <p:cNvSpPr txBox="1"/>
            <p:nvPr/>
          </p:nvSpPr>
          <p:spPr>
            <a:xfrm>
              <a:off x="658368" y="3200400"/>
              <a:ext cx="2340864" cy="1097280"/>
            </a:xfrm>
            <a:prstGeom prst="rect">
              <a:avLst/>
            </a:prstGeom>
            <a:noFill/>
          </p:spPr>
          <p:txBody>
            <a:bodyPr wrap="square" lIns="0" tIns="0" rIns="0" bIns="0" anchor="t">
              <a:noAutofit/>
            </a:bodyPr>
            <a:lstStyle/>
            <a:p>
              <a:pPr algn="ctr">
                <a:spcBef>
                  <a:spcPts val="0"/>
                </a:spcBef>
                <a:spcAft>
                  <a:spcPts val="0"/>
                </a:spcAft>
              </a:pPr>
              <a:r>
                <a:rPr lang="en-GB" sz="2000" b="1" i="0">
                  <a:solidFill>
                    <a:srgbClr val="F2F2F2"/>
                  </a:solidFill>
                  <a:latin typeface="Arial"/>
                </a:rPr>
                <a:t>Advanced buildings:</a:t>
              </a:r>
            </a:p>
            <a:p>
              <a:pPr algn="ctr">
                <a:spcBef>
                  <a:spcPts val="0"/>
                </a:spcBef>
                <a:spcAft>
                  <a:spcPts val="0"/>
                </a:spcAft>
              </a:pPr>
              <a:r>
                <a:rPr lang="en-GB" sz="2000" b="1" i="0">
                  <a:solidFill>
                    <a:srgbClr val="F2C14E"/>
                  </a:solidFill>
                  <a:latin typeface="Arial"/>
                </a:rPr>
                <a:t>an idea</a:t>
              </a:r>
            </a:p>
          </p:txBody>
        </p:sp>
        <p:sp>
          <p:nvSpPr>
            <p:cNvPr id="11" name="Rounded Rectangle 10"/>
            <p:cNvSpPr/>
            <p:nvPr/>
          </p:nvSpPr>
          <p:spPr>
            <a:xfrm>
              <a:off x="3392424" y="1508760"/>
              <a:ext cx="2560320" cy="2926080"/>
            </a:xfrm>
            <a:prstGeom prst="roundRect">
              <a:avLst>
                <a:gd name="adj" fmla="val 2857"/>
              </a:avLst>
            </a:prstGeom>
            <a:solidFill>
              <a:srgbClr val="2B2F36"/>
            </a:solidFill>
            <a:ln>
              <a:noFill/>
            </a:ln>
          </p:spPr>
          <p:txBody>
            <a:bodyPr rtlCol="0" anchor="ctr"/>
            <a:lstStyle/>
            <a:p>
              <a:pPr algn="ctr"/>
              <a:endParaRPr/>
            </a:p>
          </p:txBody>
        </p:sp>
        <p:sp>
          <p:nvSpPr>
            <p:cNvPr id="12" name="Oval 11"/>
            <p:cNvSpPr/>
            <p:nvPr/>
          </p:nvSpPr>
          <p:spPr>
            <a:xfrm>
              <a:off x="4146804" y="1805940"/>
              <a:ext cx="1051560" cy="1051560"/>
            </a:xfrm>
            <a:prstGeom prst="ellipse">
              <a:avLst/>
            </a:prstGeom>
            <a:solidFill>
              <a:srgbClr val="2B2F36"/>
            </a:solidFill>
            <a:ln w="31750">
              <a:solidFill>
                <a:srgbClr val="A9B0B8"/>
              </a:solidFill>
              <a:prstDash val="dash"/>
            </a:ln>
          </p:spPr>
          <p:txBody>
            <a:bodyPr rtlCol="0" anchor="ctr"/>
            <a:lstStyle/>
            <a:p>
              <a:pPr algn="ctr"/>
              <a:endParaRPr/>
            </a:p>
          </p:txBody>
        </p:sp>
        <p:sp>
          <p:nvSpPr>
            <p:cNvPr id="13" name="Oval 12"/>
            <p:cNvSpPr/>
            <p:nvPr/>
          </p:nvSpPr>
          <p:spPr>
            <a:xfrm>
              <a:off x="4443984" y="2029968"/>
              <a:ext cx="457200" cy="457200"/>
            </a:xfrm>
            <a:prstGeom prst="ellipse">
              <a:avLst/>
            </a:prstGeom>
            <a:solidFill>
              <a:srgbClr val="F2C14E"/>
            </a:solidFill>
            <a:ln>
              <a:noFill/>
            </a:ln>
          </p:spPr>
          <p:txBody>
            <a:bodyPr rtlCol="0" anchor="ctr"/>
            <a:lstStyle/>
            <a:p>
              <a:pPr algn="ctr"/>
              <a:endParaRPr/>
            </a:p>
          </p:txBody>
        </p:sp>
        <p:sp>
          <p:nvSpPr>
            <p:cNvPr id="14" name="Rounded Rectangle 13"/>
            <p:cNvSpPr/>
            <p:nvPr/>
          </p:nvSpPr>
          <p:spPr>
            <a:xfrm>
              <a:off x="4572000" y="2450592"/>
              <a:ext cx="201168" cy="137160"/>
            </a:xfrm>
            <a:prstGeom prst="roundRect">
              <a:avLst>
                <a:gd name="adj" fmla="val 20000"/>
              </a:avLst>
            </a:prstGeom>
            <a:solidFill>
              <a:srgbClr val="9AA0A6"/>
            </a:solidFill>
            <a:ln>
              <a:noFill/>
            </a:ln>
          </p:spPr>
          <p:txBody>
            <a:bodyPr rtlCol="0" anchor="ctr"/>
            <a:lstStyle/>
            <a:p>
              <a:pPr algn="ctr"/>
              <a:endParaRPr/>
            </a:p>
          </p:txBody>
        </p:sp>
        <p:sp>
          <p:nvSpPr>
            <p:cNvPr id="15" name="Rounded Rectangle 14"/>
            <p:cNvSpPr/>
            <p:nvPr/>
          </p:nvSpPr>
          <p:spPr>
            <a:xfrm>
              <a:off x="4599432" y="2578608"/>
              <a:ext cx="146304" cy="54864"/>
            </a:xfrm>
            <a:prstGeom prst="roundRect">
              <a:avLst>
                <a:gd name="adj" fmla="val 50000"/>
              </a:avLst>
            </a:prstGeom>
            <a:solidFill>
              <a:srgbClr val="9AA0A6"/>
            </a:solidFill>
            <a:ln>
              <a:noFill/>
            </a:ln>
          </p:spPr>
          <p:txBody>
            <a:bodyPr rtlCol="0" anchor="ctr"/>
            <a:lstStyle/>
            <a:p>
              <a:pPr algn="ctr"/>
              <a:endParaRPr/>
            </a:p>
          </p:txBody>
        </p:sp>
        <p:sp>
          <p:nvSpPr>
            <p:cNvPr id="16" name="TextBox 15"/>
            <p:cNvSpPr txBox="1"/>
            <p:nvPr/>
          </p:nvSpPr>
          <p:spPr>
            <a:xfrm>
              <a:off x="3502152" y="3200400"/>
              <a:ext cx="2340864" cy="1097280"/>
            </a:xfrm>
            <a:prstGeom prst="rect">
              <a:avLst/>
            </a:prstGeom>
            <a:noFill/>
          </p:spPr>
          <p:txBody>
            <a:bodyPr wrap="square" lIns="0" tIns="0" rIns="0" bIns="0" anchor="t">
              <a:noAutofit/>
            </a:bodyPr>
            <a:lstStyle/>
            <a:p>
              <a:pPr algn="ctr">
                <a:spcBef>
                  <a:spcPts val="0"/>
                </a:spcBef>
                <a:spcAft>
                  <a:spcPts val="0"/>
                </a:spcAft>
              </a:pPr>
              <a:r>
                <a:rPr lang="en-GB" sz="2000" b="1" i="0">
                  <a:solidFill>
                    <a:srgbClr val="F2F2F2"/>
                  </a:solidFill>
                  <a:latin typeface="Arial"/>
                </a:rPr>
                <a:t>Advanced driving:</a:t>
              </a:r>
            </a:p>
            <a:p>
              <a:pPr algn="ctr">
                <a:spcBef>
                  <a:spcPts val="0"/>
                </a:spcBef>
                <a:spcAft>
                  <a:spcPts val="0"/>
                </a:spcAft>
              </a:pPr>
              <a:r>
                <a:rPr lang="en-GB" sz="2000" b="1" i="0">
                  <a:solidFill>
                    <a:srgbClr val="F2C14E"/>
                  </a:solidFill>
                  <a:latin typeface="Arial"/>
                </a:rPr>
                <a:t>an idea</a:t>
              </a:r>
            </a:p>
          </p:txBody>
        </p:sp>
        <p:sp>
          <p:nvSpPr>
            <p:cNvPr id="17" name="Rounded Rectangle 16"/>
            <p:cNvSpPr/>
            <p:nvPr/>
          </p:nvSpPr>
          <p:spPr>
            <a:xfrm>
              <a:off x="6236208" y="1508760"/>
              <a:ext cx="2560320" cy="2926080"/>
            </a:xfrm>
            <a:prstGeom prst="roundRect">
              <a:avLst>
                <a:gd name="adj" fmla="val 2857"/>
              </a:avLst>
            </a:prstGeom>
            <a:solidFill>
              <a:srgbClr val="2B2F36"/>
            </a:solidFill>
            <a:ln>
              <a:noFill/>
            </a:ln>
          </p:spPr>
          <p:txBody>
            <a:bodyPr rtlCol="0" anchor="ctr"/>
            <a:lstStyle/>
            <a:p>
              <a:pPr algn="ctr"/>
              <a:endParaRPr/>
            </a:p>
          </p:txBody>
        </p:sp>
        <p:sp>
          <p:nvSpPr>
            <p:cNvPr id="18" name="Oval 17"/>
            <p:cNvSpPr/>
            <p:nvPr/>
          </p:nvSpPr>
          <p:spPr>
            <a:xfrm>
              <a:off x="6990588" y="1805940"/>
              <a:ext cx="1051560" cy="1051560"/>
            </a:xfrm>
            <a:prstGeom prst="ellipse">
              <a:avLst/>
            </a:prstGeom>
            <a:solidFill>
              <a:srgbClr val="2B2F36"/>
            </a:solidFill>
            <a:ln w="31750">
              <a:solidFill>
                <a:srgbClr val="A9B0B8"/>
              </a:solidFill>
              <a:prstDash val="dash"/>
            </a:ln>
          </p:spPr>
          <p:txBody>
            <a:bodyPr rtlCol="0" anchor="ctr"/>
            <a:lstStyle/>
            <a:p>
              <a:pPr algn="ctr"/>
              <a:endParaRPr/>
            </a:p>
          </p:txBody>
        </p:sp>
        <p:sp>
          <p:nvSpPr>
            <p:cNvPr id="19" name="Oval 18"/>
            <p:cNvSpPr/>
            <p:nvPr/>
          </p:nvSpPr>
          <p:spPr>
            <a:xfrm>
              <a:off x="7287768" y="2029968"/>
              <a:ext cx="457200" cy="457200"/>
            </a:xfrm>
            <a:prstGeom prst="ellipse">
              <a:avLst/>
            </a:prstGeom>
            <a:solidFill>
              <a:srgbClr val="F2C14E"/>
            </a:solidFill>
            <a:ln>
              <a:noFill/>
            </a:ln>
          </p:spPr>
          <p:txBody>
            <a:bodyPr rtlCol="0" anchor="ctr"/>
            <a:lstStyle/>
            <a:p>
              <a:pPr algn="ctr"/>
              <a:endParaRPr/>
            </a:p>
          </p:txBody>
        </p:sp>
        <p:sp>
          <p:nvSpPr>
            <p:cNvPr id="20" name="Rounded Rectangle 19"/>
            <p:cNvSpPr/>
            <p:nvPr/>
          </p:nvSpPr>
          <p:spPr>
            <a:xfrm>
              <a:off x="7415784" y="2450592"/>
              <a:ext cx="201168" cy="137160"/>
            </a:xfrm>
            <a:prstGeom prst="roundRect">
              <a:avLst>
                <a:gd name="adj" fmla="val 20000"/>
              </a:avLst>
            </a:prstGeom>
            <a:solidFill>
              <a:srgbClr val="9AA0A6"/>
            </a:solidFill>
            <a:ln>
              <a:noFill/>
            </a:ln>
          </p:spPr>
          <p:txBody>
            <a:bodyPr rtlCol="0" anchor="ctr"/>
            <a:lstStyle/>
            <a:p>
              <a:pPr algn="ctr"/>
              <a:endParaRPr/>
            </a:p>
          </p:txBody>
        </p:sp>
        <p:sp>
          <p:nvSpPr>
            <p:cNvPr id="21" name="Rounded Rectangle 20"/>
            <p:cNvSpPr/>
            <p:nvPr/>
          </p:nvSpPr>
          <p:spPr>
            <a:xfrm>
              <a:off x="7443216" y="2578608"/>
              <a:ext cx="146304" cy="54864"/>
            </a:xfrm>
            <a:prstGeom prst="roundRect">
              <a:avLst>
                <a:gd name="adj" fmla="val 50000"/>
              </a:avLst>
            </a:prstGeom>
            <a:solidFill>
              <a:srgbClr val="9AA0A6"/>
            </a:solidFill>
            <a:ln>
              <a:noFill/>
            </a:ln>
          </p:spPr>
          <p:txBody>
            <a:bodyPr rtlCol="0" anchor="ctr"/>
            <a:lstStyle/>
            <a:p>
              <a:pPr algn="ctr"/>
              <a:endParaRPr/>
            </a:p>
          </p:txBody>
        </p:sp>
        <p:sp>
          <p:nvSpPr>
            <p:cNvPr id="22" name="TextBox 21"/>
            <p:cNvSpPr txBox="1"/>
            <p:nvPr/>
          </p:nvSpPr>
          <p:spPr>
            <a:xfrm>
              <a:off x="6345936" y="3200400"/>
              <a:ext cx="2340864" cy="1097280"/>
            </a:xfrm>
            <a:prstGeom prst="rect">
              <a:avLst/>
            </a:prstGeom>
            <a:noFill/>
          </p:spPr>
          <p:txBody>
            <a:bodyPr wrap="square" lIns="0" tIns="0" rIns="0" bIns="0" anchor="t">
              <a:noAutofit/>
            </a:bodyPr>
            <a:lstStyle/>
            <a:p>
              <a:pPr algn="ctr">
                <a:spcBef>
                  <a:spcPts val="0"/>
                </a:spcBef>
                <a:spcAft>
                  <a:spcPts val="0"/>
                </a:spcAft>
              </a:pPr>
              <a:r>
                <a:rPr lang="en-GB" sz="2000" b="1" i="0">
                  <a:solidFill>
                    <a:srgbClr val="F2F2F2"/>
                  </a:solidFill>
                  <a:latin typeface="Arial"/>
                </a:rPr>
                <a:t>Liveries:</a:t>
              </a:r>
            </a:p>
            <a:p>
              <a:pPr algn="ctr">
                <a:spcBef>
                  <a:spcPts val="0"/>
                </a:spcBef>
                <a:spcAft>
                  <a:spcPts val="0"/>
                </a:spcAft>
              </a:pPr>
              <a:r>
                <a:rPr lang="en-GB" sz="2000" b="1" i="0">
                  <a:solidFill>
                    <a:srgbClr val="F2C14E"/>
                  </a:solidFill>
                  <a:latin typeface="Arial"/>
                </a:rPr>
                <a:t>an idea</a:t>
              </a:r>
            </a:p>
          </p:txBody>
        </p:sp>
        <p:sp>
          <p:nvSpPr>
            <p:cNvPr id="23" name="Rounded Rectangle 22"/>
            <p:cNvSpPr/>
            <p:nvPr/>
          </p:nvSpPr>
          <p:spPr>
            <a:xfrm>
              <a:off x="9079992" y="1508760"/>
              <a:ext cx="2560320" cy="2926080"/>
            </a:xfrm>
            <a:prstGeom prst="roundRect">
              <a:avLst>
                <a:gd name="adj" fmla="val 2857"/>
              </a:avLst>
            </a:prstGeom>
            <a:solidFill>
              <a:srgbClr val="2B2F36"/>
            </a:solidFill>
            <a:ln>
              <a:noFill/>
            </a:ln>
          </p:spPr>
          <p:txBody>
            <a:bodyPr rtlCol="0" anchor="ctr"/>
            <a:lstStyle/>
            <a:p>
              <a:pPr algn="ctr"/>
              <a:endParaRPr/>
            </a:p>
          </p:txBody>
        </p:sp>
        <p:sp>
          <p:nvSpPr>
            <p:cNvPr id="24" name="Oval 23"/>
            <p:cNvSpPr/>
            <p:nvPr/>
          </p:nvSpPr>
          <p:spPr>
            <a:xfrm>
              <a:off x="9834372" y="1805940"/>
              <a:ext cx="1051560" cy="1051560"/>
            </a:xfrm>
            <a:prstGeom prst="ellipse">
              <a:avLst/>
            </a:prstGeom>
            <a:solidFill>
              <a:srgbClr val="2B2F36"/>
            </a:solidFill>
            <a:ln w="31750">
              <a:solidFill>
                <a:srgbClr val="A9B0B8"/>
              </a:solidFill>
              <a:prstDash val="dash"/>
            </a:ln>
          </p:spPr>
          <p:txBody>
            <a:bodyPr rtlCol="0" anchor="ctr"/>
            <a:lstStyle/>
            <a:p>
              <a:pPr algn="ctr"/>
              <a:endParaRPr/>
            </a:p>
          </p:txBody>
        </p:sp>
        <p:sp>
          <p:nvSpPr>
            <p:cNvPr id="25" name="Oval 24"/>
            <p:cNvSpPr/>
            <p:nvPr/>
          </p:nvSpPr>
          <p:spPr>
            <a:xfrm>
              <a:off x="10131552" y="2029968"/>
              <a:ext cx="457200" cy="457200"/>
            </a:xfrm>
            <a:prstGeom prst="ellipse">
              <a:avLst/>
            </a:prstGeom>
            <a:solidFill>
              <a:srgbClr val="F2C14E"/>
            </a:solidFill>
            <a:ln>
              <a:noFill/>
            </a:ln>
          </p:spPr>
          <p:txBody>
            <a:bodyPr rtlCol="0" anchor="ctr"/>
            <a:lstStyle/>
            <a:p>
              <a:pPr algn="ctr"/>
              <a:endParaRPr/>
            </a:p>
          </p:txBody>
        </p:sp>
        <p:sp>
          <p:nvSpPr>
            <p:cNvPr id="26" name="Rounded Rectangle 25"/>
            <p:cNvSpPr/>
            <p:nvPr/>
          </p:nvSpPr>
          <p:spPr>
            <a:xfrm>
              <a:off x="10259568" y="2450592"/>
              <a:ext cx="201168" cy="137160"/>
            </a:xfrm>
            <a:prstGeom prst="roundRect">
              <a:avLst>
                <a:gd name="adj" fmla="val 20000"/>
              </a:avLst>
            </a:prstGeom>
            <a:solidFill>
              <a:srgbClr val="9AA0A6"/>
            </a:solidFill>
            <a:ln>
              <a:noFill/>
            </a:ln>
          </p:spPr>
          <p:txBody>
            <a:bodyPr rtlCol="0" anchor="ctr"/>
            <a:lstStyle/>
            <a:p>
              <a:pPr algn="ctr"/>
              <a:endParaRPr/>
            </a:p>
          </p:txBody>
        </p:sp>
        <p:sp>
          <p:nvSpPr>
            <p:cNvPr id="27" name="Rounded Rectangle 26"/>
            <p:cNvSpPr/>
            <p:nvPr/>
          </p:nvSpPr>
          <p:spPr>
            <a:xfrm>
              <a:off x="10287000" y="2578608"/>
              <a:ext cx="146304" cy="54864"/>
            </a:xfrm>
            <a:prstGeom prst="roundRect">
              <a:avLst>
                <a:gd name="adj" fmla="val 50000"/>
              </a:avLst>
            </a:prstGeom>
            <a:solidFill>
              <a:srgbClr val="9AA0A6"/>
            </a:solidFill>
            <a:ln>
              <a:noFill/>
            </a:ln>
          </p:spPr>
          <p:txBody>
            <a:bodyPr rtlCol="0" anchor="ctr"/>
            <a:lstStyle/>
            <a:p>
              <a:pPr algn="ctr"/>
              <a:endParaRPr/>
            </a:p>
          </p:txBody>
        </p:sp>
        <p:sp>
          <p:nvSpPr>
            <p:cNvPr id="28" name="TextBox 27"/>
            <p:cNvSpPr txBox="1"/>
            <p:nvPr/>
          </p:nvSpPr>
          <p:spPr>
            <a:xfrm>
              <a:off x="9189720" y="3200400"/>
              <a:ext cx="2340864" cy="1097280"/>
            </a:xfrm>
            <a:prstGeom prst="rect">
              <a:avLst/>
            </a:prstGeom>
            <a:noFill/>
          </p:spPr>
          <p:txBody>
            <a:bodyPr wrap="square" lIns="0" tIns="0" rIns="0" bIns="0" anchor="t">
              <a:noAutofit/>
            </a:bodyPr>
            <a:lstStyle/>
            <a:p>
              <a:pPr algn="ctr">
                <a:spcBef>
                  <a:spcPts val="0"/>
                </a:spcBef>
                <a:spcAft>
                  <a:spcPts val="0"/>
                </a:spcAft>
              </a:pPr>
              <a:r>
                <a:rPr lang="en-GB" sz="2000" b="1" i="0">
                  <a:solidFill>
                    <a:srgbClr val="F2F2F2"/>
                  </a:solidFill>
                  <a:latin typeface="Arial"/>
                </a:rPr>
                <a:t>Prestige engines:</a:t>
              </a:r>
            </a:p>
            <a:p>
              <a:pPr algn="ctr">
                <a:spcBef>
                  <a:spcPts val="0"/>
                </a:spcBef>
                <a:spcAft>
                  <a:spcPts val="0"/>
                </a:spcAft>
              </a:pPr>
              <a:r>
                <a:rPr lang="en-GB" sz="2000" b="1" i="0">
                  <a:solidFill>
                    <a:srgbClr val="F2C14E"/>
                  </a:solidFill>
                  <a:latin typeface="Arial"/>
                </a:rPr>
                <a:t>an idea</a:t>
              </a:r>
            </a:p>
          </p:txBody>
        </p:sp>
        <p:sp>
          <p:nvSpPr>
            <p:cNvPr id="29" name="Chevron 28"/>
            <p:cNvSpPr/>
            <p:nvPr/>
          </p:nvSpPr>
          <p:spPr>
            <a:xfrm>
              <a:off x="3182112" y="2834640"/>
              <a:ext cx="137160" cy="329184"/>
            </a:xfrm>
            <a:prstGeom prst="chevron">
              <a:avLst/>
            </a:prstGeom>
            <a:solidFill>
              <a:srgbClr val="A9B0B8"/>
            </a:solidFill>
            <a:ln>
              <a:noFill/>
            </a:ln>
          </p:spPr>
          <p:txBody>
            <a:bodyPr rtlCol="0" anchor="ctr"/>
            <a:lstStyle/>
            <a:p>
              <a:pPr algn="ctr"/>
              <a:endParaRPr/>
            </a:p>
          </p:txBody>
        </p:sp>
        <p:sp>
          <p:nvSpPr>
            <p:cNvPr id="30" name="Chevron 29"/>
            <p:cNvSpPr/>
            <p:nvPr/>
          </p:nvSpPr>
          <p:spPr>
            <a:xfrm>
              <a:off x="6025896" y="2834640"/>
              <a:ext cx="137160" cy="329184"/>
            </a:xfrm>
            <a:prstGeom prst="chevron">
              <a:avLst/>
            </a:prstGeom>
            <a:solidFill>
              <a:srgbClr val="A9B0B8"/>
            </a:solidFill>
            <a:ln>
              <a:noFill/>
            </a:ln>
          </p:spPr>
          <p:txBody>
            <a:bodyPr rtlCol="0" anchor="ctr"/>
            <a:lstStyle/>
            <a:p>
              <a:pPr algn="ctr"/>
              <a:endParaRPr/>
            </a:p>
          </p:txBody>
        </p:sp>
        <p:sp>
          <p:nvSpPr>
            <p:cNvPr id="31" name="Chevron 30"/>
            <p:cNvSpPr/>
            <p:nvPr/>
          </p:nvSpPr>
          <p:spPr>
            <a:xfrm>
              <a:off x="8869680" y="2834640"/>
              <a:ext cx="137160" cy="329184"/>
            </a:xfrm>
            <a:prstGeom prst="chevron">
              <a:avLst/>
            </a:prstGeom>
            <a:solidFill>
              <a:srgbClr val="A9B0B8"/>
            </a:solidFill>
            <a:ln>
              <a:noFill/>
            </a:ln>
          </p:spPr>
          <p:txBody>
            <a:bodyPr rtlCol="0" anchor="ctr"/>
            <a:lstStyle/>
            <a:p>
              <a:pPr algn="ctr"/>
              <a:endParaRPr/>
            </a:p>
          </p:txBody>
        </p:sp>
      </p:grpSp>
      <p:sp>
        <p:nvSpPr>
          <p:cNvPr id="32" name="Inline chip"/>
          <p:cNvSpPr/>
          <p:nvPr/>
        </p:nvSpPr>
        <p:spPr>
          <a:xfrm>
            <a:off x="4547017" y="4937760"/>
            <a:ext cx="3097661" cy="329184"/>
          </a:xfrm>
          <a:prstGeom prst="roundRect">
            <a:avLst>
              <a:gd name="adj" fmla="val 50000"/>
            </a:avLst>
          </a:prstGeom>
          <a:solidFill>
            <a:srgbClr val="4DA3FF"/>
          </a:solidFill>
          <a:ln>
            <a:noFill/>
          </a:ln>
        </p:spPr>
        <p:txBody>
          <a:bodyPr wrap="none" lIns="73152" tIns="18288" rIns="73152" bIns="18288" rtlCol="0" anchor="ctr">
            <a:noAutofit/>
          </a:bodyPr>
          <a:lstStyle/>
          <a:p>
            <a:pPr algn="ctr">
              <a:spcBef>
                <a:spcPts val="0"/>
              </a:spcBef>
              <a:spcAft>
                <a:spcPts val="0"/>
              </a:spcAft>
            </a:pPr>
            <a:r>
              <a:rPr lang="en-GB" sz="1400" b="1" i="0">
                <a:solidFill>
                  <a:srgbClr val="101418"/>
                </a:solidFill>
                <a:latin typeface="Arial"/>
              </a:rPr>
              <a:t>PROVISIONAL  </a:t>
            </a:r>
            <a:r>
              <a:rPr lang="en-GB" sz="1400" b="0" i="0">
                <a:solidFill>
                  <a:srgbClr val="101418"/>
                </a:solidFill>
                <a:latin typeface="Arial"/>
              </a:rPr>
              <a:t>Plans can change.</a:t>
            </a:r>
          </a:p>
        </p:txBody>
      </p:sp>
      <p:sp>
        <p:nvSpPr>
          <p:cNvPr id="33"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Late steam, advanced driving and prestige are ideas for after launch.</a:t>
            </a:r>
          </a:p>
        </p:txBody>
      </p:sp>
      <p:sp>
        <p:nvSpPr>
          <p:cNvPr id="34"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35"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23</a:t>
            </a:r>
          </a:p>
        </p:txBody>
      </p:sp>
    </p:spTree>
    <p:extLst>
      <p:ext uri="{BB962C8B-B14F-4D97-AF65-F5344CB8AC3E}">
        <p14:creationId xmlns:p14="http://schemas.microsoft.com/office/powerpoint/2010/main" val="172010157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nodeType="withEffect">
                                  <p:stCondLst>
                                    <p:cond delay="60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par>
                                <p:cTn id="14" presetID="10" presetClass="entr" presetSubtype="0" fill="hold" nodeType="withEffect">
                                  <p:stCondLst>
                                    <p:cond delay="9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Still undecided</a:t>
            </a:r>
          </a:p>
        </p:txBody>
      </p:sp>
      <p:sp>
        <p:nvSpPr>
          <p:cNvPr id="3" name="Status chip"/>
          <p:cNvSpPr/>
          <p:nvPr/>
        </p:nvSpPr>
        <p:spPr>
          <a:xfrm>
            <a:off x="10131552" y="457200"/>
            <a:ext cx="1481328" cy="365760"/>
          </a:xfrm>
          <a:prstGeom prst="roundRect">
            <a:avLst>
              <a:gd name="adj" fmla="val 30000"/>
            </a:avLst>
          </a:prstGeom>
          <a:noFill/>
          <a:ln w="25400">
            <a:solidFill>
              <a:srgbClr val="A9B0B8"/>
            </a:solidFill>
          </a:ln>
        </p:spPr>
        <p:txBody>
          <a:bodyPr wrap="none" lIns="36576" tIns="18288" rIns="36576" bIns="18288" rtlCol="0" anchor="ctr">
            <a:noAutofit/>
          </a:bodyPr>
          <a:lstStyle/>
          <a:p>
            <a:pPr algn="ctr">
              <a:spcBef>
                <a:spcPts val="0"/>
              </a:spcBef>
              <a:spcAft>
                <a:spcPts val="0"/>
              </a:spcAft>
            </a:pPr>
            <a:r>
              <a:rPr lang="en-GB" sz="1400" b="1" i="0">
                <a:solidFill>
                  <a:srgbClr val="F2F2F2"/>
                </a:solidFill>
                <a:latin typeface="Arial"/>
              </a:rPr>
              <a:t>UNDECIDED</a:t>
            </a:r>
          </a:p>
        </p:txBody>
      </p:sp>
      <p:grpSp>
        <p:nvGrpSpPr>
          <p:cNvPr id="4" name="Diagram: eight open questions" descr="A grid of eight cards, each marked Undecided, listing the open questions about advanced buildings, balance, driving formulas, the Advanced bonus, liveries, prestige engines, prestige prices and names and licences."/>
          <p:cNvGrpSpPr/>
          <p:nvPr/>
        </p:nvGrpSpPr>
        <p:grpSpPr>
          <a:xfrm>
            <a:off x="548640" y="1417320"/>
            <a:ext cx="11091672" cy="3749040"/>
            <a:chOff x="548640" y="1417320"/>
            <a:chExt cx="11091672" cy="3749040"/>
          </a:xfrm>
        </p:grpSpPr>
        <p:sp>
          <p:nvSpPr>
            <p:cNvPr id="5" name="Rounded Rectangle 4"/>
            <p:cNvSpPr/>
            <p:nvPr/>
          </p:nvSpPr>
          <p:spPr>
            <a:xfrm>
              <a:off x="548640" y="1417320"/>
              <a:ext cx="2651760" cy="1783080"/>
            </a:xfrm>
            <a:prstGeom prst="roundRect">
              <a:avLst>
                <a:gd name="adj" fmla="val 4102"/>
              </a:avLst>
            </a:prstGeom>
            <a:solidFill>
              <a:srgbClr val="2B2F36"/>
            </a:solidFill>
            <a:ln>
              <a:noFill/>
            </a:ln>
          </p:spPr>
          <p:txBody>
            <a:bodyPr rtlCol="0" anchor="ctr"/>
            <a:lstStyle/>
            <a:p>
              <a:pPr algn="ctr"/>
              <a:endParaRPr/>
            </a:p>
          </p:txBody>
        </p:sp>
        <p:sp>
          <p:nvSpPr>
            <p:cNvPr id="6" name="Inline chip"/>
            <p:cNvSpPr/>
            <p:nvPr/>
          </p:nvSpPr>
          <p:spPr>
            <a:xfrm>
              <a:off x="731520" y="1600200"/>
              <a:ext cx="1280160" cy="310896"/>
            </a:xfrm>
            <a:prstGeom prst="roundRect">
              <a:avLst>
                <a:gd name="adj" fmla="val 50000"/>
              </a:avLst>
            </a:prstGeom>
            <a:noFill/>
            <a:ln w="25400">
              <a:solidFill>
                <a:srgbClr val="A9B0B8"/>
              </a:solidFill>
            </a:ln>
          </p:spPr>
          <p:txBody>
            <a:bodyPr wrap="none" lIns="27432" tIns="0" rIns="27432"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7" name="TextBox 6"/>
            <p:cNvSpPr txBox="1"/>
            <p:nvPr/>
          </p:nvSpPr>
          <p:spPr>
            <a:xfrm>
              <a:off x="731520" y="2057400"/>
              <a:ext cx="2286000" cy="1051560"/>
            </a:xfrm>
            <a:prstGeom prst="rect">
              <a:avLst/>
            </a:prstGeom>
            <a:noFill/>
          </p:spPr>
          <p:txBody>
            <a:bodyPr wrap="square" lIns="0" tIns="0" rIns="0" bIns="0" anchor="t">
              <a:noAutofit/>
            </a:bodyPr>
            <a:lstStyle/>
            <a:p>
              <a:pPr algn="l">
                <a:spcBef>
                  <a:spcPts val="0"/>
                </a:spcBef>
                <a:spcAft>
                  <a:spcPts val="0"/>
                </a:spcAft>
              </a:pPr>
              <a:r>
                <a:rPr lang="en-GB" sz="1800" b="1" i="0">
                  <a:solidFill>
                    <a:srgbClr val="F2F2F2"/>
                  </a:solidFill>
                  <a:latin typeface="Arial"/>
                </a:rPr>
                <a:t>Which advanced buildings? </a:t>
              </a:r>
              <a:r>
                <a:rPr lang="en-GB" sz="1800" b="0" i="0">
                  <a:solidFill>
                    <a:srgbClr val="A9B0B8"/>
                  </a:solidFill>
                  <a:latin typeface="Arial"/>
                </a:rPr>
                <a:t>(OQ22)</a:t>
              </a:r>
            </a:p>
          </p:txBody>
        </p:sp>
        <p:sp>
          <p:nvSpPr>
            <p:cNvPr id="8" name="Rounded Rectangle 7"/>
            <p:cNvSpPr/>
            <p:nvPr/>
          </p:nvSpPr>
          <p:spPr>
            <a:xfrm>
              <a:off x="3361944" y="1417320"/>
              <a:ext cx="2651760" cy="1783080"/>
            </a:xfrm>
            <a:prstGeom prst="roundRect">
              <a:avLst>
                <a:gd name="adj" fmla="val 4102"/>
              </a:avLst>
            </a:prstGeom>
            <a:solidFill>
              <a:srgbClr val="2B2F36"/>
            </a:solidFill>
            <a:ln>
              <a:noFill/>
            </a:ln>
          </p:spPr>
          <p:txBody>
            <a:bodyPr rtlCol="0" anchor="ctr"/>
            <a:lstStyle/>
            <a:p>
              <a:pPr algn="ctr"/>
              <a:endParaRPr/>
            </a:p>
          </p:txBody>
        </p:sp>
        <p:sp>
          <p:nvSpPr>
            <p:cNvPr id="9" name="Inline chip"/>
            <p:cNvSpPr/>
            <p:nvPr/>
          </p:nvSpPr>
          <p:spPr>
            <a:xfrm>
              <a:off x="3544824" y="1600200"/>
              <a:ext cx="1280160" cy="310896"/>
            </a:xfrm>
            <a:prstGeom prst="roundRect">
              <a:avLst>
                <a:gd name="adj" fmla="val 50000"/>
              </a:avLst>
            </a:prstGeom>
            <a:noFill/>
            <a:ln w="25400">
              <a:solidFill>
                <a:srgbClr val="A9B0B8"/>
              </a:solidFill>
            </a:ln>
          </p:spPr>
          <p:txBody>
            <a:bodyPr wrap="none" lIns="27432" tIns="0" rIns="27432"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10" name="TextBox 9"/>
            <p:cNvSpPr txBox="1"/>
            <p:nvPr/>
          </p:nvSpPr>
          <p:spPr>
            <a:xfrm>
              <a:off x="3544824" y="2057400"/>
              <a:ext cx="2286000" cy="1051560"/>
            </a:xfrm>
            <a:prstGeom prst="rect">
              <a:avLst/>
            </a:prstGeom>
            <a:noFill/>
          </p:spPr>
          <p:txBody>
            <a:bodyPr wrap="square" lIns="0" tIns="0" rIns="0" bIns="0" anchor="t">
              <a:noAutofit/>
            </a:bodyPr>
            <a:lstStyle/>
            <a:p>
              <a:pPr algn="l">
                <a:spcBef>
                  <a:spcPts val="0"/>
                </a:spcBef>
                <a:spcAft>
                  <a:spcPts val="0"/>
                </a:spcAft>
              </a:pPr>
              <a:r>
                <a:rPr lang="en-GB" sz="1800" b="1" i="0">
                  <a:solidFill>
                    <a:srgbClr val="F2F2F2"/>
                  </a:solidFill>
                  <a:latin typeface="Arial"/>
                </a:rPr>
                <a:t>Balance against electric </a:t>
              </a:r>
              <a:r>
                <a:rPr lang="en-GB" sz="1800" b="0" i="0">
                  <a:solidFill>
                    <a:srgbClr val="A9B0B8"/>
                  </a:solidFill>
                  <a:latin typeface="Arial"/>
                </a:rPr>
                <a:t>(OQ22)</a:t>
              </a:r>
            </a:p>
          </p:txBody>
        </p:sp>
        <p:sp>
          <p:nvSpPr>
            <p:cNvPr id="11" name="Rounded Rectangle 10"/>
            <p:cNvSpPr/>
            <p:nvPr/>
          </p:nvSpPr>
          <p:spPr>
            <a:xfrm>
              <a:off x="6175248" y="1417320"/>
              <a:ext cx="2651760" cy="1783080"/>
            </a:xfrm>
            <a:prstGeom prst="roundRect">
              <a:avLst>
                <a:gd name="adj" fmla="val 4102"/>
              </a:avLst>
            </a:prstGeom>
            <a:solidFill>
              <a:srgbClr val="2B2F36"/>
            </a:solidFill>
            <a:ln>
              <a:noFill/>
            </a:ln>
          </p:spPr>
          <p:txBody>
            <a:bodyPr rtlCol="0" anchor="ctr"/>
            <a:lstStyle/>
            <a:p>
              <a:pPr algn="ctr"/>
              <a:endParaRPr/>
            </a:p>
          </p:txBody>
        </p:sp>
        <p:sp>
          <p:nvSpPr>
            <p:cNvPr id="12" name="Inline chip"/>
            <p:cNvSpPr/>
            <p:nvPr/>
          </p:nvSpPr>
          <p:spPr>
            <a:xfrm>
              <a:off x="6358128" y="1600200"/>
              <a:ext cx="1280160" cy="310896"/>
            </a:xfrm>
            <a:prstGeom prst="roundRect">
              <a:avLst>
                <a:gd name="adj" fmla="val 50000"/>
              </a:avLst>
            </a:prstGeom>
            <a:noFill/>
            <a:ln w="25400">
              <a:solidFill>
                <a:srgbClr val="A9B0B8"/>
              </a:solidFill>
            </a:ln>
          </p:spPr>
          <p:txBody>
            <a:bodyPr wrap="none" lIns="27432" tIns="0" rIns="27432"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13" name="TextBox 12"/>
            <p:cNvSpPr txBox="1"/>
            <p:nvPr/>
          </p:nvSpPr>
          <p:spPr>
            <a:xfrm>
              <a:off x="6358128" y="2057400"/>
              <a:ext cx="2286000" cy="1051560"/>
            </a:xfrm>
            <a:prstGeom prst="rect">
              <a:avLst/>
            </a:prstGeom>
            <a:noFill/>
          </p:spPr>
          <p:txBody>
            <a:bodyPr wrap="square" lIns="0" tIns="0" rIns="0" bIns="0" anchor="t">
              <a:noAutofit/>
            </a:bodyPr>
            <a:lstStyle/>
            <a:p>
              <a:pPr algn="l">
                <a:spcBef>
                  <a:spcPts val="0"/>
                </a:spcBef>
                <a:spcAft>
                  <a:spcPts val="0"/>
                </a:spcAft>
              </a:pPr>
              <a:r>
                <a:rPr lang="en-GB" sz="1800" b="1" i="0">
                  <a:solidFill>
                    <a:srgbClr val="F2F2F2"/>
                  </a:solidFill>
                  <a:latin typeface="Arial"/>
                </a:rPr>
                <a:t>Driving formulas </a:t>
              </a:r>
              <a:r>
                <a:rPr lang="en-GB" sz="1800" b="0" i="0">
                  <a:solidFill>
                    <a:srgbClr val="A9B0B8"/>
                  </a:solidFill>
                  <a:latin typeface="Arial"/>
                </a:rPr>
                <a:t>(OQ24)</a:t>
              </a:r>
            </a:p>
          </p:txBody>
        </p:sp>
        <p:sp>
          <p:nvSpPr>
            <p:cNvPr id="14" name="Rounded Rectangle 13"/>
            <p:cNvSpPr/>
            <p:nvPr/>
          </p:nvSpPr>
          <p:spPr>
            <a:xfrm>
              <a:off x="8988552" y="1417320"/>
              <a:ext cx="2651760" cy="1783080"/>
            </a:xfrm>
            <a:prstGeom prst="roundRect">
              <a:avLst>
                <a:gd name="adj" fmla="val 4102"/>
              </a:avLst>
            </a:prstGeom>
            <a:solidFill>
              <a:srgbClr val="2B2F36"/>
            </a:solidFill>
            <a:ln>
              <a:noFill/>
            </a:ln>
          </p:spPr>
          <p:txBody>
            <a:bodyPr rtlCol="0" anchor="ctr"/>
            <a:lstStyle/>
            <a:p>
              <a:pPr algn="ctr"/>
              <a:endParaRPr/>
            </a:p>
          </p:txBody>
        </p:sp>
        <p:sp>
          <p:nvSpPr>
            <p:cNvPr id="15" name="Inline chip"/>
            <p:cNvSpPr/>
            <p:nvPr/>
          </p:nvSpPr>
          <p:spPr>
            <a:xfrm>
              <a:off x="9171432" y="1600200"/>
              <a:ext cx="1280160" cy="310896"/>
            </a:xfrm>
            <a:prstGeom prst="roundRect">
              <a:avLst>
                <a:gd name="adj" fmla="val 50000"/>
              </a:avLst>
            </a:prstGeom>
            <a:noFill/>
            <a:ln w="25400">
              <a:solidFill>
                <a:srgbClr val="A9B0B8"/>
              </a:solidFill>
            </a:ln>
          </p:spPr>
          <p:txBody>
            <a:bodyPr wrap="none" lIns="27432" tIns="0" rIns="27432"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16" name="TextBox 15"/>
            <p:cNvSpPr txBox="1"/>
            <p:nvPr/>
          </p:nvSpPr>
          <p:spPr>
            <a:xfrm>
              <a:off x="9171432" y="2057400"/>
              <a:ext cx="2286000" cy="1051560"/>
            </a:xfrm>
            <a:prstGeom prst="rect">
              <a:avLst/>
            </a:prstGeom>
            <a:noFill/>
          </p:spPr>
          <p:txBody>
            <a:bodyPr wrap="square" lIns="0" tIns="0" rIns="0" bIns="0" anchor="t">
              <a:noAutofit/>
            </a:bodyPr>
            <a:lstStyle/>
            <a:p>
              <a:pPr algn="l">
                <a:spcBef>
                  <a:spcPts val="0"/>
                </a:spcBef>
                <a:spcAft>
                  <a:spcPts val="0"/>
                </a:spcAft>
              </a:pPr>
              <a:r>
                <a:rPr lang="en-GB" sz="1800" b="1" i="0">
                  <a:solidFill>
                    <a:srgbClr val="F2F2F2"/>
                  </a:solidFill>
                  <a:latin typeface="Arial"/>
                </a:rPr>
                <a:t>Size of the Advanced bonus </a:t>
              </a:r>
              <a:r>
                <a:rPr lang="en-GB" sz="1800" b="0" i="0">
                  <a:solidFill>
                    <a:srgbClr val="A9B0B8"/>
                  </a:solidFill>
                  <a:latin typeface="Arial"/>
                </a:rPr>
                <a:t>(OQ24)</a:t>
              </a:r>
            </a:p>
          </p:txBody>
        </p:sp>
        <p:sp>
          <p:nvSpPr>
            <p:cNvPr id="17" name="Rounded Rectangle 16"/>
            <p:cNvSpPr/>
            <p:nvPr/>
          </p:nvSpPr>
          <p:spPr>
            <a:xfrm>
              <a:off x="548640" y="3383280"/>
              <a:ext cx="2651760" cy="1783080"/>
            </a:xfrm>
            <a:prstGeom prst="roundRect">
              <a:avLst>
                <a:gd name="adj" fmla="val 4102"/>
              </a:avLst>
            </a:prstGeom>
            <a:solidFill>
              <a:srgbClr val="2B2F36"/>
            </a:solidFill>
            <a:ln>
              <a:noFill/>
            </a:ln>
          </p:spPr>
          <p:txBody>
            <a:bodyPr rtlCol="0" anchor="ctr"/>
            <a:lstStyle/>
            <a:p>
              <a:pPr algn="ctr"/>
              <a:endParaRPr/>
            </a:p>
          </p:txBody>
        </p:sp>
        <p:sp>
          <p:nvSpPr>
            <p:cNvPr id="18" name="Inline chip"/>
            <p:cNvSpPr/>
            <p:nvPr/>
          </p:nvSpPr>
          <p:spPr>
            <a:xfrm>
              <a:off x="731520" y="3566160"/>
              <a:ext cx="1280160" cy="310896"/>
            </a:xfrm>
            <a:prstGeom prst="roundRect">
              <a:avLst>
                <a:gd name="adj" fmla="val 50000"/>
              </a:avLst>
            </a:prstGeom>
            <a:noFill/>
            <a:ln w="25400">
              <a:solidFill>
                <a:srgbClr val="A9B0B8"/>
              </a:solidFill>
            </a:ln>
          </p:spPr>
          <p:txBody>
            <a:bodyPr wrap="none" lIns="27432" tIns="0" rIns="27432"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19" name="TextBox 18"/>
            <p:cNvSpPr txBox="1"/>
            <p:nvPr/>
          </p:nvSpPr>
          <p:spPr>
            <a:xfrm>
              <a:off x="731520" y="4023360"/>
              <a:ext cx="2286000" cy="1051560"/>
            </a:xfrm>
            <a:prstGeom prst="rect">
              <a:avLst/>
            </a:prstGeom>
            <a:noFill/>
          </p:spPr>
          <p:txBody>
            <a:bodyPr wrap="square" lIns="0" tIns="0" rIns="0" bIns="0" anchor="t">
              <a:noAutofit/>
            </a:bodyPr>
            <a:lstStyle/>
            <a:p>
              <a:pPr algn="l">
                <a:spcBef>
                  <a:spcPts val="0"/>
                </a:spcBef>
                <a:spcAft>
                  <a:spcPts val="0"/>
                </a:spcAft>
              </a:pPr>
              <a:r>
                <a:rPr lang="en-GB" sz="1800" b="1" i="0">
                  <a:solidFill>
                    <a:srgbClr val="F2F2F2"/>
                  </a:solidFill>
                  <a:latin typeface="Arial"/>
                </a:rPr>
                <a:t>Livery integration </a:t>
              </a:r>
              <a:r>
                <a:rPr lang="en-GB" sz="1800" b="0" i="0">
                  <a:solidFill>
                    <a:srgbClr val="A9B0B8"/>
                  </a:solidFill>
                  <a:latin typeface="Arial"/>
                </a:rPr>
                <a:t>(OQ25)</a:t>
              </a:r>
            </a:p>
          </p:txBody>
        </p:sp>
        <p:sp>
          <p:nvSpPr>
            <p:cNvPr id="20" name="Rounded Rectangle 19"/>
            <p:cNvSpPr/>
            <p:nvPr/>
          </p:nvSpPr>
          <p:spPr>
            <a:xfrm>
              <a:off x="3361944" y="3383280"/>
              <a:ext cx="2651760" cy="1783080"/>
            </a:xfrm>
            <a:prstGeom prst="roundRect">
              <a:avLst>
                <a:gd name="adj" fmla="val 4102"/>
              </a:avLst>
            </a:prstGeom>
            <a:solidFill>
              <a:srgbClr val="2B2F36"/>
            </a:solidFill>
            <a:ln>
              <a:noFill/>
            </a:ln>
          </p:spPr>
          <p:txBody>
            <a:bodyPr rtlCol="0" anchor="ctr"/>
            <a:lstStyle/>
            <a:p>
              <a:pPr algn="ctr"/>
              <a:endParaRPr/>
            </a:p>
          </p:txBody>
        </p:sp>
        <p:sp>
          <p:nvSpPr>
            <p:cNvPr id="21" name="Inline chip"/>
            <p:cNvSpPr/>
            <p:nvPr/>
          </p:nvSpPr>
          <p:spPr>
            <a:xfrm>
              <a:off x="3544824" y="3566160"/>
              <a:ext cx="1280160" cy="310896"/>
            </a:xfrm>
            <a:prstGeom prst="roundRect">
              <a:avLst>
                <a:gd name="adj" fmla="val 50000"/>
              </a:avLst>
            </a:prstGeom>
            <a:noFill/>
            <a:ln w="25400">
              <a:solidFill>
                <a:srgbClr val="A9B0B8"/>
              </a:solidFill>
            </a:ln>
          </p:spPr>
          <p:txBody>
            <a:bodyPr wrap="none" lIns="27432" tIns="0" rIns="27432"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22" name="TextBox 21"/>
            <p:cNvSpPr txBox="1"/>
            <p:nvPr/>
          </p:nvSpPr>
          <p:spPr>
            <a:xfrm>
              <a:off x="3544824" y="4023360"/>
              <a:ext cx="2286000" cy="1051560"/>
            </a:xfrm>
            <a:prstGeom prst="rect">
              <a:avLst/>
            </a:prstGeom>
            <a:noFill/>
          </p:spPr>
          <p:txBody>
            <a:bodyPr wrap="square" lIns="0" tIns="0" rIns="0" bIns="0" anchor="t">
              <a:noAutofit/>
            </a:bodyPr>
            <a:lstStyle/>
            <a:p>
              <a:pPr algn="l">
                <a:spcBef>
                  <a:spcPts val="0"/>
                </a:spcBef>
                <a:spcAft>
                  <a:spcPts val="0"/>
                </a:spcAft>
              </a:pPr>
              <a:r>
                <a:rPr lang="en-GB" sz="1800" b="1" i="0">
                  <a:solidFill>
                    <a:srgbClr val="F2F2F2"/>
                  </a:solidFill>
                  <a:latin typeface="Arial"/>
                </a:rPr>
                <a:t>Which prestige engines? </a:t>
              </a:r>
              <a:r>
                <a:rPr lang="en-GB" sz="1800" b="0" i="0">
                  <a:solidFill>
                    <a:srgbClr val="A9B0B8"/>
                  </a:solidFill>
                  <a:latin typeface="Arial"/>
                </a:rPr>
                <a:t>(OQ25)</a:t>
              </a:r>
            </a:p>
          </p:txBody>
        </p:sp>
        <p:sp>
          <p:nvSpPr>
            <p:cNvPr id="23" name="Rounded Rectangle 22"/>
            <p:cNvSpPr/>
            <p:nvPr/>
          </p:nvSpPr>
          <p:spPr>
            <a:xfrm>
              <a:off x="6175248" y="3383280"/>
              <a:ext cx="2651760" cy="1783080"/>
            </a:xfrm>
            <a:prstGeom prst="roundRect">
              <a:avLst>
                <a:gd name="adj" fmla="val 4102"/>
              </a:avLst>
            </a:prstGeom>
            <a:solidFill>
              <a:srgbClr val="2B2F36"/>
            </a:solidFill>
            <a:ln>
              <a:noFill/>
            </a:ln>
          </p:spPr>
          <p:txBody>
            <a:bodyPr rtlCol="0" anchor="ctr"/>
            <a:lstStyle/>
            <a:p>
              <a:pPr algn="ctr"/>
              <a:endParaRPr/>
            </a:p>
          </p:txBody>
        </p:sp>
        <p:sp>
          <p:nvSpPr>
            <p:cNvPr id="24" name="Inline chip"/>
            <p:cNvSpPr/>
            <p:nvPr/>
          </p:nvSpPr>
          <p:spPr>
            <a:xfrm>
              <a:off x="6358128" y="3566160"/>
              <a:ext cx="1280160" cy="310896"/>
            </a:xfrm>
            <a:prstGeom prst="roundRect">
              <a:avLst>
                <a:gd name="adj" fmla="val 50000"/>
              </a:avLst>
            </a:prstGeom>
            <a:noFill/>
            <a:ln w="25400">
              <a:solidFill>
                <a:srgbClr val="A9B0B8"/>
              </a:solidFill>
            </a:ln>
          </p:spPr>
          <p:txBody>
            <a:bodyPr wrap="none" lIns="27432" tIns="0" rIns="27432"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25" name="TextBox 24"/>
            <p:cNvSpPr txBox="1"/>
            <p:nvPr/>
          </p:nvSpPr>
          <p:spPr>
            <a:xfrm>
              <a:off x="6358128" y="4023360"/>
              <a:ext cx="2286000" cy="1051560"/>
            </a:xfrm>
            <a:prstGeom prst="rect">
              <a:avLst/>
            </a:prstGeom>
            <a:noFill/>
          </p:spPr>
          <p:txBody>
            <a:bodyPr wrap="square" lIns="0" tIns="0" rIns="0" bIns="0" anchor="t">
              <a:noAutofit/>
            </a:bodyPr>
            <a:lstStyle/>
            <a:p>
              <a:pPr algn="l">
                <a:spcBef>
                  <a:spcPts val="0"/>
                </a:spcBef>
                <a:spcAft>
                  <a:spcPts val="0"/>
                </a:spcAft>
              </a:pPr>
              <a:r>
                <a:rPr lang="en-GB" sz="1800" b="1" i="0">
                  <a:solidFill>
                    <a:srgbClr val="F2F2F2"/>
                  </a:solidFill>
                  <a:latin typeface="Arial"/>
                </a:rPr>
                <a:t>Prestige prices </a:t>
              </a:r>
              <a:r>
                <a:rPr lang="en-GB" sz="1800" b="0" i="0">
                  <a:solidFill>
                    <a:srgbClr val="A9B0B8"/>
                  </a:solidFill>
                  <a:latin typeface="Arial"/>
                </a:rPr>
                <a:t>(OQ25)</a:t>
              </a:r>
            </a:p>
          </p:txBody>
        </p:sp>
        <p:sp>
          <p:nvSpPr>
            <p:cNvPr id="26" name="Rounded Rectangle 25"/>
            <p:cNvSpPr/>
            <p:nvPr/>
          </p:nvSpPr>
          <p:spPr>
            <a:xfrm>
              <a:off x="8988552" y="3383280"/>
              <a:ext cx="2651760" cy="1783080"/>
            </a:xfrm>
            <a:prstGeom prst="roundRect">
              <a:avLst>
                <a:gd name="adj" fmla="val 4102"/>
              </a:avLst>
            </a:prstGeom>
            <a:solidFill>
              <a:srgbClr val="2B2F36"/>
            </a:solidFill>
            <a:ln>
              <a:noFill/>
            </a:ln>
          </p:spPr>
          <p:txBody>
            <a:bodyPr rtlCol="0" anchor="ctr"/>
            <a:lstStyle/>
            <a:p>
              <a:pPr algn="ctr"/>
              <a:endParaRPr/>
            </a:p>
          </p:txBody>
        </p:sp>
        <p:sp>
          <p:nvSpPr>
            <p:cNvPr id="27" name="Inline chip"/>
            <p:cNvSpPr/>
            <p:nvPr/>
          </p:nvSpPr>
          <p:spPr>
            <a:xfrm>
              <a:off x="9171432" y="3566160"/>
              <a:ext cx="1280160" cy="310896"/>
            </a:xfrm>
            <a:prstGeom prst="roundRect">
              <a:avLst>
                <a:gd name="adj" fmla="val 50000"/>
              </a:avLst>
            </a:prstGeom>
            <a:noFill/>
            <a:ln w="25400">
              <a:solidFill>
                <a:srgbClr val="A9B0B8"/>
              </a:solidFill>
            </a:ln>
          </p:spPr>
          <p:txBody>
            <a:bodyPr wrap="none" lIns="27432" tIns="0" rIns="27432"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28" name="TextBox 27"/>
            <p:cNvSpPr txBox="1"/>
            <p:nvPr/>
          </p:nvSpPr>
          <p:spPr>
            <a:xfrm>
              <a:off x="9171432" y="4023360"/>
              <a:ext cx="2286000" cy="1051560"/>
            </a:xfrm>
            <a:prstGeom prst="rect">
              <a:avLst/>
            </a:prstGeom>
            <a:noFill/>
          </p:spPr>
          <p:txBody>
            <a:bodyPr wrap="square" lIns="0" tIns="0" rIns="0" bIns="0" anchor="t">
              <a:noAutofit/>
            </a:bodyPr>
            <a:lstStyle/>
            <a:p>
              <a:pPr algn="l">
                <a:spcBef>
                  <a:spcPts val="0"/>
                </a:spcBef>
                <a:spcAft>
                  <a:spcPts val="0"/>
                </a:spcAft>
              </a:pPr>
              <a:r>
                <a:rPr lang="en-GB" sz="1800" b="1" i="0">
                  <a:solidFill>
                    <a:srgbClr val="F2F2F2"/>
                  </a:solidFill>
                  <a:latin typeface="Arial"/>
                </a:rPr>
                <a:t>Names and licences </a:t>
              </a:r>
              <a:r>
                <a:rPr lang="en-GB" sz="1800" b="0" i="0">
                  <a:solidFill>
                    <a:srgbClr val="A9B0B8"/>
                  </a:solidFill>
                  <a:latin typeface="Arial"/>
                </a:rPr>
                <a:t>(OQ25)</a:t>
              </a:r>
            </a:p>
          </p:txBody>
        </p:sp>
      </p:grpSp>
      <p:sp>
        <p:nvSpPr>
          <p:cNvPr id="29"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These questions are open. Nothing here has been chosen yet.</a:t>
            </a:r>
          </a:p>
        </p:txBody>
      </p:sp>
      <p:sp>
        <p:nvSpPr>
          <p:cNvPr id="30"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31"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24</a:t>
            </a:r>
          </a:p>
        </p:txBody>
      </p:sp>
    </p:spTree>
    <p:extLst>
      <p:ext uri="{BB962C8B-B14F-4D97-AF65-F5344CB8AC3E}">
        <p14:creationId xmlns:p14="http://schemas.microsoft.com/office/powerpoint/2010/main" val="40776119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548640" y="411480"/>
            <a:ext cx="9509760" cy="731520"/>
          </a:xfrm>
        </p:spPr>
        <p:txBody>
          <a:bodyPr wrap="square" lIns="0" tIns="0" rIns="0" bIns="0" anchor="t">
            <a:noAutofit/>
          </a:bodyPr>
          <a:lstStyle/>
          <a:p>
            <a:pPr algn="l">
              <a:spcBef>
                <a:spcPts val="0"/>
              </a:spcBef>
              <a:spcAft>
                <a:spcPts val="0"/>
              </a:spcAft>
            </a:pPr>
            <a:r>
              <a:rPr lang="en-GB" sz="3600" b="1" i="0">
                <a:solidFill>
                  <a:srgbClr val="F2F2F2"/>
                </a:solidFill>
                <a:latin typeface="Arial"/>
              </a:rPr>
              <a:t>Image credits</a:t>
            </a:r>
          </a:p>
        </p:txBody>
      </p:sp>
      <p:graphicFrame>
        <p:nvGraphicFramePr>
          <p:cNvPr id="3" name="Table: image credits" descr="Credit table for the one photograph in this deck: slot P12, shown on slide 1, by Tony Hisgett, licence CC BY 2.0, with a link to Wikimedia Commons."/>
          <p:cNvGraphicFramePr>
            <a:graphicFrameLocks noGrp="1"/>
          </p:cNvGraphicFramePr>
          <p:nvPr/>
        </p:nvGraphicFramePr>
        <p:xfrm>
          <a:off x="548640" y="1463040"/>
          <a:ext cx="11091672" cy="1097280"/>
        </p:xfrm>
        <a:graphic>
          <a:graphicData uri="http://schemas.openxmlformats.org/drawingml/2006/table">
            <a:tbl>
              <a:tblPr first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4142232">
                  <a:extLst>
                    <a:ext uri="{9D8B030D-6E8A-4147-A177-3AD203B41FA5}">
                      <a16:colId xmlns:a16="http://schemas.microsoft.com/office/drawing/2014/main" val="20004"/>
                    </a:ext>
                  </a:extLst>
                </a:gridCol>
              </a:tblGrid>
              <a:tr h="548640">
                <a:tc>
                  <a:txBody>
                    <a:bodyPr/>
                    <a:lstStyle/>
                    <a:p>
                      <a:r>
                        <a:rPr lang="en-GB" sz="1100" b="1" i="0">
                          <a:solidFill>
                            <a:srgbClr val="F2F2F2"/>
                          </a:solidFill>
                          <a:latin typeface="Arial"/>
                        </a:rPr>
                        <a:t>Slot</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1" i="0">
                          <a:solidFill>
                            <a:srgbClr val="F2F2F2"/>
                          </a:solidFill>
                          <a:latin typeface="Arial"/>
                        </a:rPr>
                        <a:t>Slide</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1" i="0">
                          <a:solidFill>
                            <a:srgbClr val="F2F2F2"/>
                          </a:solidFill>
                          <a:latin typeface="Arial"/>
                        </a:rPr>
                        <a:t>Author</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1" i="0">
                          <a:solidFill>
                            <a:srgbClr val="F2F2F2"/>
                          </a:solidFill>
                          <a:latin typeface="Arial"/>
                        </a:rPr>
                        <a:t>Licence</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tc>
                  <a:txBody>
                    <a:bodyPr/>
                    <a:lstStyle/>
                    <a:p>
                      <a:r>
                        <a:rPr lang="en-GB" sz="1100" b="1" i="0">
                          <a:solidFill>
                            <a:srgbClr val="F2F2F2"/>
                          </a:solidFill>
                          <a:latin typeface="Arial"/>
                        </a:rPr>
                        <a:t>Source link</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343A43"/>
                    </a:solidFill>
                  </a:tcPr>
                </a:tc>
                <a:extLst>
                  <a:ext uri="{0D108BD9-81ED-4DB2-BD59-A6C34878D82A}">
                    <a16:rowId xmlns:a16="http://schemas.microsoft.com/office/drawing/2014/main" val="10000"/>
                  </a:ext>
                </a:extLst>
              </a:tr>
              <a:tr h="548640">
                <a:tc>
                  <a:txBody>
                    <a:bodyPr/>
                    <a:lstStyle/>
                    <a:p>
                      <a:r>
                        <a:rPr lang="en-GB" sz="1100" b="0" i="0">
                          <a:solidFill>
                            <a:srgbClr val="F2F2F2"/>
                          </a:solidFill>
                          <a:latin typeface="Arial"/>
                        </a:rPr>
                        <a:t>P12</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i="0">
                          <a:solidFill>
                            <a:srgbClr val="F2F2F2"/>
                          </a:solidFill>
                          <a:latin typeface="Arial"/>
                        </a:rPr>
                        <a:t>1</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i="0">
                          <a:solidFill>
                            <a:srgbClr val="F2F2F2"/>
                          </a:solidFill>
                          <a:latin typeface="Arial"/>
                        </a:rPr>
                        <a:t>Tony Hisgett</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i="0">
                          <a:solidFill>
                            <a:srgbClr val="F2F2F2"/>
                          </a:solidFill>
                          <a:latin typeface="Arial"/>
                        </a:rPr>
                        <a:t>CC BY 2.0</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tc>
                  <a:txBody>
                    <a:bodyPr/>
                    <a:lstStyle/>
                    <a:p>
                      <a:r>
                        <a:rPr lang="en-GB" sz="1100" b="0" i="0" u="sng">
                          <a:solidFill>
                            <a:srgbClr val="4DA3FF"/>
                          </a:solidFill>
                          <a:latin typeface="Arial"/>
                          <a:hlinkClick r:id="rId2"/>
                        </a:rPr>
                        <a:t>Commons</a:t>
                      </a:r>
                    </a:p>
                  </a:txBody>
                  <a:tcPr marL="109728" marR="109728" anchor="ctr">
                    <a:lnL w="12700">
                      <a:solidFill>
                        <a:srgbClr val="4A515B"/>
                      </a:solidFill>
                    </a:lnL>
                    <a:lnR w="12700">
                      <a:solidFill>
                        <a:srgbClr val="4A515B"/>
                      </a:solidFill>
                    </a:lnR>
                    <a:lnT w="12700">
                      <a:solidFill>
                        <a:srgbClr val="4A515B"/>
                      </a:solidFill>
                    </a:lnT>
                    <a:lnB w="12700">
                      <a:solidFill>
                        <a:srgbClr val="4A515B"/>
                      </a:solidFill>
                    </a:lnB>
                    <a:solidFill>
                      <a:srgbClr val="2B2F36"/>
                    </a:solidFill>
                  </a:tcPr>
                </a:tc>
                <a:extLst>
                  <a:ext uri="{0D108BD9-81ED-4DB2-BD59-A6C34878D82A}">
                    <a16:rowId xmlns:a16="http://schemas.microsoft.com/office/drawing/2014/main" val="10001"/>
                  </a:ext>
                </a:extLst>
              </a:tr>
            </a:tbl>
          </a:graphicData>
        </a:graphic>
      </p:graphicFrame>
      <p:sp>
        <p:nvSpPr>
          <p:cNvPr id="4" name="Table note"/>
          <p:cNvSpPr txBox="1"/>
          <p:nvPr/>
        </p:nvSpPr>
        <p:spPr>
          <a:xfrm>
            <a:off x="548640" y="2971800"/>
            <a:ext cx="11091672" cy="411480"/>
          </a:xfrm>
          <a:prstGeom prst="rect">
            <a:avLst/>
          </a:prstGeom>
          <a:noFill/>
        </p:spPr>
        <p:txBody>
          <a:bodyPr wrap="square" lIns="0" tIns="0" rIns="0" bIns="0" anchor="ctr">
            <a:noAutofit/>
          </a:bodyPr>
          <a:lstStyle/>
          <a:p>
            <a:pPr algn="l">
              <a:spcBef>
                <a:spcPts val="0"/>
              </a:spcBef>
              <a:spcAft>
                <a:spcPts val="0"/>
              </a:spcAft>
            </a:pPr>
            <a:r>
              <a:rPr lang="en-GB" sz="1400" b="0" i="0">
                <a:solidFill>
                  <a:srgbClr val="A9B0B8"/>
                </a:solidFill>
                <a:latin typeface="Arial"/>
              </a:rPr>
              <a:t>CC BY-SA photos are shown unmodified except for resizing.</a:t>
            </a:r>
          </a:p>
        </p:txBody>
      </p:sp>
      <p:sp>
        <p:nvSpPr>
          <p:cNvPr id="5" name="Table note"/>
          <p:cNvSpPr txBox="1"/>
          <p:nvPr/>
        </p:nvSpPr>
        <p:spPr>
          <a:xfrm>
            <a:off x="548640" y="3429000"/>
            <a:ext cx="11091672" cy="411480"/>
          </a:xfrm>
          <a:prstGeom prst="rect">
            <a:avLst/>
          </a:prstGeom>
          <a:noFill/>
        </p:spPr>
        <p:txBody>
          <a:bodyPr wrap="square" lIns="0" tIns="0" rIns="0" bIns="0" anchor="ctr">
            <a:noAutofit/>
          </a:bodyPr>
          <a:lstStyle/>
          <a:p>
            <a:pPr algn="l">
              <a:spcBef>
                <a:spcPts val="0"/>
              </a:spcBef>
              <a:spcAft>
                <a:spcPts val="0"/>
              </a:spcAft>
            </a:pPr>
            <a:r>
              <a:rPr lang="en-GB" sz="1400" b="0" i="0">
                <a:solidFill>
                  <a:srgbClr val="A9B0B8"/>
                </a:solidFill>
                <a:latin typeface="Arial"/>
              </a:rPr>
              <a:t>The photograph shows a real steam locomotive. It is not a model from the mod.</a:t>
            </a:r>
          </a:p>
        </p:txBody>
      </p:sp>
      <p:sp>
        <p:nvSpPr>
          <p:cNvPr id="6" name="Caption"/>
          <p:cNvSpPr/>
          <p:nvPr/>
        </p:nvSpPr>
        <p:spPr>
          <a:xfrm>
            <a:off x="548640" y="5742432"/>
            <a:ext cx="11091672" cy="694944"/>
          </a:xfrm>
          <a:prstGeom prst="roundRect">
            <a:avLst>
              <a:gd name="adj" fmla="val 10526"/>
            </a:avLst>
          </a:prstGeom>
          <a:solidFill>
            <a:srgbClr val="2B2F36"/>
          </a:solidFill>
          <a:ln>
            <a:noFill/>
          </a:ln>
        </p:spPr>
        <p:txBody>
          <a:bodyPr wrap="square" lIns="274320" tIns="27432" rIns="182880" bIns="27432" rtlCol="0" anchor="ctr">
            <a:noAutofit/>
          </a:bodyPr>
          <a:lstStyle/>
          <a:p>
            <a:pPr algn="l">
              <a:spcBef>
                <a:spcPts val="0"/>
              </a:spcBef>
              <a:spcAft>
                <a:spcPts val="0"/>
              </a:spcAft>
            </a:pPr>
            <a:r>
              <a:rPr lang="en-GB" sz="2000" b="0" i="0">
                <a:solidFill>
                  <a:srgbClr val="F2F2F2"/>
                </a:solidFill>
                <a:latin typeface="Arial"/>
              </a:rPr>
              <a:t>Photographs come from Wikimedia Commons under Creative Commons licences.</a:t>
            </a:r>
          </a:p>
        </p:txBody>
      </p:sp>
      <p:sp>
        <p:nvSpPr>
          <p:cNvPr id="7" name="Caption rule"/>
          <p:cNvSpPr/>
          <p:nvPr/>
        </p:nvSpPr>
        <p:spPr>
          <a:xfrm>
            <a:off x="548640" y="5742432"/>
            <a:ext cx="73152" cy="694944"/>
          </a:xfrm>
          <a:prstGeom prst="roundRect">
            <a:avLst>
              <a:gd name="adj" fmla="val 50000"/>
            </a:avLst>
          </a:prstGeom>
          <a:solidFill>
            <a:srgbClr val="F28C28"/>
          </a:solidFill>
          <a:ln>
            <a:noFill/>
          </a:ln>
        </p:spPr>
        <p:txBody>
          <a:bodyPr rtlCol="0" anchor="ctr"/>
          <a:lstStyle/>
          <a:p>
            <a:pPr algn="ctr"/>
            <a:endParaRPr/>
          </a:p>
        </p:txBody>
      </p:sp>
      <p:sp>
        <p:nvSpPr>
          <p:cNvPr id="8" name="Slide number"/>
          <p:cNvSpPr txBox="1"/>
          <p:nvPr/>
        </p:nvSpPr>
        <p:spPr>
          <a:xfrm>
            <a:off x="11064240" y="6473952"/>
            <a:ext cx="576072"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25</a:t>
            </a:r>
          </a:p>
        </p:txBody>
      </p:sp>
    </p:spTree>
    <p:extLst>
      <p:ext uri="{BB962C8B-B14F-4D97-AF65-F5344CB8AC3E}">
        <p14:creationId xmlns:p14="http://schemas.microsoft.com/office/powerpoint/2010/main" val="2611927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90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1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1234440"/>
            <a:ext cx="5943600" cy="1920240"/>
          </a:xfrm>
        </p:spPr>
        <p:txBody>
          <a:bodyPr wrap="square" lIns="0" tIns="0" rIns="0" bIns="0" anchor="b">
            <a:noAutofit/>
          </a:bodyPr>
          <a:lstStyle/>
          <a:p>
            <a:pPr algn="l">
              <a:lnSpc>
                <a:spcPct val="95000"/>
              </a:lnSpc>
              <a:spcBef>
                <a:spcPts val="0"/>
              </a:spcBef>
              <a:spcAft>
                <a:spcPts val="0"/>
              </a:spcAft>
            </a:pPr>
            <a:r>
              <a:rPr lang="en-GB" sz="5400" b="1" i="0">
                <a:solidFill>
                  <a:srgbClr val="F2F2F2"/>
                </a:solidFill>
                <a:latin typeface="Arial"/>
              </a:rPr>
              <a:t>How the Mod Is Balanced</a:t>
            </a:r>
          </a:p>
        </p:txBody>
      </p:sp>
      <p:sp>
        <p:nvSpPr>
          <p:cNvPr id="3" name="Orange rule"/>
          <p:cNvSpPr/>
          <p:nvPr/>
        </p:nvSpPr>
        <p:spPr>
          <a:xfrm>
            <a:off x="548640" y="3364992"/>
            <a:ext cx="2011680" cy="82296"/>
          </a:xfrm>
          <a:prstGeom prst="rect">
            <a:avLst/>
          </a:prstGeom>
          <a:solidFill>
            <a:srgbClr val="F28C28"/>
          </a:solidFill>
          <a:ln>
            <a:noFill/>
          </a:ln>
        </p:spPr>
        <p:txBody>
          <a:bodyPr rtlCol="0" anchor="ctr"/>
          <a:lstStyle/>
          <a:p>
            <a:pPr algn="ctr"/>
            <a:endParaRPr/>
          </a:p>
        </p:txBody>
      </p:sp>
      <p:sp>
        <p:nvSpPr>
          <p:cNvPr id="4" name="Caption text"/>
          <p:cNvSpPr txBox="1"/>
          <p:nvPr/>
        </p:nvSpPr>
        <p:spPr>
          <a:xfrm>
            <a:off x="548640" y="3639312"/>
            <a:ext cx="5760720" cy="1280160"/>
          </a:xfrm>
          <a:prstGeom prst="rect">
            <a:avLst/>
          </a:prstGeom>
          <a:noFill/>
        </p:spPr>
        <p:txBody>
          <a:bodyPr wrap="square" lIns="0" tIns="0" rIns="0" bIns="0" anchor="t">
            <a:noAutofit/>
          </a:bodyPr>
          <a:lstStyle/>
          <a:p>
            <a:pPr algn="l">
              <a:spcBef>
                <a:spcPts val="0"/>
              </a:spcBef>
              <a:spcAft>
                <a:spcPts val="0"/>
              </a:spcAft>
            </a:pPr>
            <a:r>
              <a:rPr lang="en-GB" sz="2000" b="0" i="0">
                <a:solidFill>
                  <a:srgbClr val="F2F2F2"/>
                </a:solidFill>
                <a:latin typeface="Arial"/>
              </a:rPr>
              <a:t>Why steam is cheap to start, and what keeps it from being too easy.</a:t>
            </a:r>
          </a:p>
        </p:txBody>
      </p:sp>
      <p:pic>
        <p:nvPicPr>
          <p:cNvPr id="5" name="Picture R02" descr="High-detail render of the mod's two-rail track. Visual development only: not Unreal-tested, not production-ready."/>
          <p:cNvPicPr>
            <a:picLocks noChangeAspect="1"/>
          </p:cNvPicPr>
          <p:nvPr/>
        </p:nvPicPr>
        <p:blipFill>
          <a:blip r:embed="rId2"/>
          <a:srcRect l="21729" r="31729"/>
          <a:stretch>
            <a:fillRect/>
          </a:stretch>
        </p:blipFill>
        <p:spPr>
          <a:xfrm>
            <a:off x="6949440" y="502920"/>
            <a:ext cx="4690872" cy="5669280"/>
          </a:xfrm>
          <a:prstGeom prst="roundRect">
            <a:avLst>
              <a:gd name="adj" fmla="val 779"/>
            </a:avLst>
          </a:prstGeom>
        </p:spPr>
      </p:pic>
      <p:sp>
        <p:nvSpPr>
          <p:cNvPr id="6" name="Credit line R02"/>
          <p:cNvSpPr txBox="1"/>
          <p:nvPr/>
        </p:nvSpPr>
        <p:spPr>
          <a:xfrm>
            <a:off x="6949440" y="6236208"/>
            <a:ext cx="4690872" cy="365760"/>
          </a:xfrm>
          <a:prstGeom prst="rect">
            <a:avLst/>
          </a:prstGeom>
          <a:noFill/>
        </p:spPr>
        <p:txBody>
          <a:bodyPr wrap="square" lIns="0" tIns="0" rIns="0" bIns="0" anchor="t">
            <a:noAutofit/>
          </a:bodyPr>
          <a:lstStyle/>
          <a:p>
            <a:pPr algn="l">
              <a:spcBef>
                <a:spcPts val="0"/>
              </a:spcBef>
              <a:spcAft>
                <a:spcPts val="0"/>
              </a:spcAft>
            </a:pPr>
            <a:r>
              <a:rPr lang="en-GB" sz="1000" b="0" i="0">
                <a:solidFill>
                  <a:srgbClr val="A9B0B8"/>
                </a:solidFill>
                <a:latin typeface="Arial"/>
              </a:rPr>
              <a:t>Early Locomotion project render (visual development, not final art).</a:t>
            </a:r>
          </a:p>
        </p:txBody>
      </p:sp>
    </p:spTree>
    <p:extLst>
      <p:ext uri="{BB962C8B-B14F-4D97-AF65-F5344CB8AC3E}">
        <p14:creationId xmlns:p14="http://schemas.microsoft.com/office/powerpoint/2010/main" val="5688041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6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How to read this guide</a:t>
            </a:r>
          </a:p>
        </p:txBody>
      </p:sp>
      <p:grpSp>
        <p:nvGrpSpPr>
          <p:cNvPr id="3" name="Legend row: Agreed" descr="Legend row: the Agreed tag means 'Decided.'"/>
          <p:cNvGrpSpPr/>
          <p:nvPr/>
        </p:nvGrpSpPr>
        <p:grpSpPr>
          <a:xfrm>
            <a:off x="548640" y="1371600"/>
            <a:ext cx="11091672" cy="685800"/>
            <a:chOff x="548640" y="1371600"/>
            <a:chExt cx="11091672" cy="685800"/>
          </a:xfrm>
        </p:grpSpPr>
        <p:sp>
          <p:nvSpPr>
            <p:cNvPr id="4" name="Row panel"/>
            <p:cNvSpPr/>
            <p:nvPr/>
          </p:nvSpPr>
          <p:spPr>
            <a:xfrm>
              <a:off x="548640" y="1371600"/>
              <a:ext cx="11091672" cy="685800"/>
            </a:xfrm>
            <a:prstGeom prst="roundRect">
              <a:avLst>
                <a:gd name="adj" fmla="val 10666"/>
              </a:avLst>
            </a:prstGeom>
            <a:solidFill>
              <a:srgbClr val="2B2F36"/>
            </a:solidFill>
            <a:ln>
              <a:noFill/>
            </a:ln>
          </p:spPr>
          <p:txBody>
            <a:bodyPr rtlCol="0" anchor="ctr"/>
            <a:lstStyle/>
            <a:p>
              <a:pPr algn="ctr"/>
              <a:endParaRPr/>
            </a:p>
          </p:txBody>
        </p:sp>
        <p:sp>
          <p:nvSpPr>
            <p:cNvPr id="5" name="Legend chip: Agreed"/>
            <p:cNvSpPr/>
            <p:nvPr/>
          </p:nvSpPr>
          <p:spPr>
            <a:xfrm>
              <a:off x="868680" y="1531620"/>
              <a:ext cx="1463040" cy="365760"/>
            </a:xfrm>
            <a:prstGeom prst="roundRect">
              <a:avLst>
                <a:gd name="adj" fmla="val 30000"/>
              </a:avLst>
            </a:prstGeom>
            <a:solidFill>
              <a:srgbClr val="3FB950"/>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AGREED</a:t>
              </a:r>
            </a:p>
          </p:txBody>
        </p:sp>
        <p:sp>
          <p:nvSpPr>
            <p:cNvPr id="6" name="Legend meaning"/>
            <p:cNvSpPr txBox="1"/>
            <p:nvPr/>
          </p:nvSpPr>
          <p:spPr>
            <a:xfrm>
              <a:off x="2743200" y="1371600"/>
              <a:ext cx="8595360" cy="68580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Decided.</a:t>
              </a:r>
            </a:p>
          </p:txBody>
        </p:sp>
      </p:grpSp>
      <p:grpSp>
        <p:nvGrpSpPr>
          <p:cNvPr id="7" name="Legend row: Proposed" descr="Legend row: the Proposed tag means 'Suggested, not confirmed.'"/>
          <p:cNvGrpSpPr/>
          <p:nvPr/>
        </p:nvGrpSpPr>
        <p:grpSpPr>
          <a:xfrm>
            <a:off x="548640" y="2194560"/>
            <a:ext cx="11091672" cy="685800"/>
            <a:chOff x="548640" y="2194560"/>
            <a:chExt cx="11091672" cy="685800"/>
          </a:xfrm>
        </p:grpSpPr>
        <p:sp>
          <p:nvSpPr>
            <p:cNvPr id="8" name="Row panel"/>
            <p:cNvSpPr/>
            <p:nvPr/>
          </p:nvSpPr>
          <p:spPr>
            <a:xfrm>
              <a:off x="548640" y="2194560"/>
              <a:ext cx="11091672" cy="685800"/>
            </a:xfrm>
            <a:prstGeom prst="roundRect">
              <a:avLst>
                <a:gd name="adj" fmla="val 10666"/>
              </a:avLst>
            </a:prstGeom>
            <a:solidFill>
              <a:srgbClr val="2B2F36"/>
            </a:solidFill>
            <a:ln>
              <a:noFill/>
            </a:ln>
          </p:spPr>
          <p:txBody>
            <a:bodyPr rtlCol="0" anchor="ctr"/>
            <a:lstStyle/>
            <a:p>
              <a:pPr algn="ctr"/>
              <a:endParaRPr/>
            </a:p>
          </p:txBody>
        </p:sp>
        <p:sp>
          <p:nvSpPr>
            <p:cNvPr id="9" name="Legend chip: Proposed"/>
            <p:cNvSpPr/>
            <p:nvPr/>
          </p:nvSpPr>
          <p:spPr>
            <a:xfrm>
              <a:off x="868680" y="2354580"/>
              <a:ext cx="1463040" cy="365760"/>
            </a:xfrm>
            <a:prstGeom prst="roundRect">
              <a:avLst>
                <a:gd name="adj" fmla="val 30000"/>
              </a:avLst>
            </a:prstGeom>
            <a:solidFill>
              <a:srgbClr val="B084F5"/>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PROPOSED</a:t>
              </a:r>
            </a:p>
          </p:txBody>
        </p:sp>
        <p:sp>
          <p:nvSpPr>
            <p:cNvPr id="10" name="Legend meaning"/>
            <p:cNvSpPr txBox="1"/>
            <p:nvPr/>
          </p:nvSpPr>
          <p:spPr>
            <a:xfrm>
              <a:off x="2743200" y="2194560"/>
              <a:ext cx="8595360" cy="68580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Suggested, not confirmed.</a:t>
              </a:r>
            </a:p>
          </p:txBody>
        </p:sp>
      </p:grpSp>
      <p:grpSp>
        <p:nvGrpSpPr>
          <p:cNvPr id="11" name="Legend row: Provisional" descr="Legend row: the Provisional tag means 'A test number that may change.'"/>
          <p:cNvGrpSpPr/>
          <p:nvPr/>
        </p:nvGrpSpPr>
        <p:grpSpPr>
          <a:xfrm>
            <a:off x="548640" y="3017520"/>
            <a:ext cx="11091672" cy="685800"/>
            <a:chOff x="548640" y="3017520"/>
            <a:chExt cx="11091672" cy="685800"/>
          </a:xfrm>
        </p:grpSpPr>
        <p:sp>
          <p:nvSpPr>
            <p:cNvPr id="12" name="Row panel"/>
            <p:cNvSpPr/>
            <p:nvPr/>
          </p:nvSpPr>
          <p:spPr>
            <a:xfrm>
              <a:off x="548640" y="3017520"/>
              <a:ext cx="11091672" cy="685800"/>
            </a:xfrm>
            <a:prstGeom prst="roundRect">
              <a:avLst>
                <a:gd name="adj" fmla="val 10666"/>
              </a:avLst>
            </a:prstGeom>
            <a:solidFill>
              <a:srgbClr val="2B2F36"/>
            </a:solidFill>
            <a:ln>
              <a:noFill/>
            </a:ln>
          </p:spPr>
          <p:txBody>
            <a:bodyPr rtlCol="0" anchor="ctr"/>
            <a:lstStyle/>
            <a:p>
              <a:pPr algn="ctr"/>
              <a:endParaRPr/>
            </a:p>
          </p:txBody>
        </p:sp>
        <p:sp>
          <p:nvSpPr>
            <p:cNvPr id="13" name="Legend chip: Provisional"/>
            <p:cNvSpPr/>
            <p:nvPr/>
          </p:nvSpPr>
          <p:spPr>
            <a:xfrm>
              <a:off x="868680" y="3177540"/>
              <a:ext cx="1463040" cy="365760"/>
            </a:xfrm>
            <a:prstGeom prst="roundRect">
              <a:avLst>
                <a:gd name="adj" fmla="val 30000"/>
              </a:avLst>
            </a:prstGeom>
            <a:solidFill>
              <a:srgbClr val="4DA3FF"/>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PROVISIONAL</a:t>
              </a:r>
            </a:p>
          </p:txBody>
        </p:sp>
        <p:sp>
          <p:nvSpPr>
            <p:cNvPr id="14" name="Legend meaning"/>
            <p:cNvSpPr txBox="1"/>
            <p:nvPr/>
          </p:nvSpPr>
          <p:spPr>
            <a:xfrm>
              <a:off x="2743200" y="3017520"/>
              <a:ext cx="8595360" cy="68580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A test number that may change.</a:t>
              </a:r>
            </a:p>
          </p:txBody>
        </p:sp>
      </p:grpSp>
      <p:grpSp>
        <p:nvGrpSpPr>
          <p:cNvPr id="15" name="Legend row: Undecided" descr="Legend row: the Undecided tag means 'Still an open question.'"/>
          <p:cNvGrpSpPr/>
          <p:nvPr/>
        </p:nvGrpSpPr>
        <p:grpSpPr>
          <a:xfrm>
            <a:off x="548640" y="3840480"/>
            <a:ext cx="11091672" cy="685800"/>
            <a:chOff x="548640" y="3840480"/>
            <a:chExt cx="11091672" cy="685800"/>
          </a:xfrm>
        </p:grpSpPr>
        <p:sp>
          <p:nvSpPr>
            <p:cNvPr id="16" name="Row panel"/>
            <p:cNvSpPr/>
            <p:nvPr/>
          </p:nvSpPr>
          <p:spPr>
            <a:xfrm>
              <a:off x="548640" y="3840480"/>
              <a:ext cx="11091672" cy="685800"/>
            </a:xfrm>
            <a:prstGeom prst="roundRect">
              <a:avLst>
                <a:gd name="adj" fmla="val 10666"/>
              </a:avLst>
            </a:prstGeom>
            <a:solidFill>
              <a:srgbClr val="2B2F36"/>
            </a:solidFill>
            <a:ln>
              <a:noFill/>
            </a:ln>
          </p:spPr>
          <p:txBody>
            <a:bodyPr rtlCol="0" anchor="ctr"/>
            <a:lstStyle/>
            <a:p>
              <a:pPr algn="ctr"/>
              <a:endParaRPr/>
            </a:p>
          </p:txBody>
        </p:sp>
        <p:sp>
          <p:nvSpPr>
            <p:cNvPr id="17" name="Legend chip: Undecided"/>
            <p:cNvSpPr/>
            <p:nvPr/>
          </p:nvSpPr>
          <p:spPr>
            <a:xfrm>
              <a:off x="868680" y="4000500"/>
              <a:ext cx="1463040" cy="365760"/>
            </a:xfrm>
            <a:prstGeom prst="roundRect">
              <a:avLst>
                <a:gd name="adj" fmla="val 3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18" name="Legend meaning"/>
            <p:cNvSpPr txBox="1"/>
            <p:nvPr/>
          </p:nvSpPr>
          <p:spPr>
            <a:xfrm>
              <a:off x="2743200" y="3840480"/>
              <a:ext cx="8595360" cy="68580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Still an open question.</a:t>
              </a:r>
            </a:p>
          </p:txBody>
        </p:sp>
      </p:grpSp>
      <p:grpSp>
        <p:nvGrpSpPr>
          <p:cNvPr id="19" name="Legend row: Background" descr="Legend row: the Background tag means 'A real-world fact.'"/>
          <p:cNvGrpSpPr/>
          <p:nvPr/>
        </p:nvGrpSpPr>
        <p:grpSpPr>
          <a:xfrm>
            <a:off x="548640" y="4663440"/>
            <a:ext cx="11091672" cy="685800"/>
            <a:chOff x="548640" y="4663440"/>
            <a:chExt cx="11091672" cy="685800"/>
          </a:xfrm>
        </p:grpSpPr>
        <p:sp>
          <p:nvSpPr>
            <p:cNvPr id="20" name="Row panel"/>
            <p:cNvSpPr/>
            <p:nvPr/>
          </p:nvSpPr>
          <p:spPr>
            <a:xfrm>
              <a:off x="548640" y="4663440"/>
              <a:ext cx="11091672" cy="685800"/>
            </a:xfrm>
            <a:prstGeom prst="roundRect">
              <a:avLst>
                <a:gd name="adj" fmla="val 10666"/>
              </a:avLst>
            </a:prstGeom>
            <a:solidFill>
              <a:srgbClr val="2B2F36"/>
            </a:solidFill>
            <a:ln>
              <a:noFill/>
            </a:ln>
          </p:spPr>
          <p:txBody>
            <a:bodyPr rtlCol="0" anchor="ctr"/>
            <a:lstStyle/>
            <a:p>
              <a:pPr algn="ctr"/>
              <a:endParaRPr/>
            </a:p>
          </p:txBody>
        </p:sp>
        <p:sp>
          <p:nvSpPr>
            <p:cNvPr id="21" name="Legend chip: Background"/>
            <p:cNvSpPr/>
            <p:nvPr/>
          </p:nvSpPr>
          <p:spPr>
            <a:xfrm>
              <a:off x="868680" y="4823460"/>
              <a:ext cx="1463040" cy="365760"/>
            </a:xfrm>
            <a:prstGeom prst="roundRect">
              <a:avLst>
                <a:gd name="adj" fmla="val 30000"/>
              </a:avLst>
            </a:prstGeom>
            <a:solidFill>
              <a:srgbClr val="4A515B"/>
            </a:solidFill>
            <a:ln>
              <a:no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BACKGROUND</a:t>
              </a:r>
            </a:p>
          </p:txBody>
        </p:sp>
        <p:sp>
          <p:nvSpPr>
            <p:cNvPr id="22" name="Legend meaning"/>
            <p:cNvSpPr txBox="1"/>
            <p:nvPr/>
          </p:nvSpPr>
          <p:spPr>
            <a:xfrm>
              <a:off x="2743200" y="4663440"/>
              <a:ext cx="8595360" cy="68580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A real-world fact.</a:t>
              </a:r>
            </a:p>
          </p:txBody>
        </p:sp>
      </p:grpSp>
      <p:grpSp>
        <p:nvGrpSpPr>
          <p:cNvPr id="23" name="Caption" descr="Caption: Every idea carries a tag in the top-right corner."/>
          <p:cNvGrpSpPr/>
          <p:nvPr/>
        </p:nvGrpSpPr>
        <p:grpSpPr>
          <a:xfrm>
            <a:off x="548640" y="5669280"/>
            <a:ext cx="11091672" cy="822960"/>
            <a:chOff x="548640" y="5669280"/>
            <a:chExt cx="11091672" cy="822960"/>
          </a:xfrm>
        </p:grpSpPr>
        <p:sp>
          <p:nvSpPr>
            <p:cNvPr id="24"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25"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26"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Every idea carries a tag in the top-right corner.</a:t>
              </a:r>
            </a:p>
          </p:txBody>
        </p:sp>
      </p:grpSp>
      <p:sp>
        <p:nvSpPr>
          <p:cNvPr id="27"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2</a:t>
            </a:r>
          </a:p>
        </p:txBody>
      </p:sp>
    </p:spTree>
    <p:extLst>
      <p:ext uri="{BB962C8B-B14F-4D97-AF65-F5344CB8AC3E}">
        <p14:creationId xmlns:p14="http://schemas.microsoft.com/office/powerpoint/2010/main" val="24482389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30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60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9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120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nodeType="withEffect">
                                  <p:stCondLst>
                                    <p:cond delay="150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Cheap to start</a:t>
            </a:r>
          </a:p>
        </p:txBody>
      </p:sp>
      <p:sp>
        <p:nvSpPr>
          <p:cNvPr id="3" name="Status chip" descr="Status tag: Agreed"/>
          <p:cNvSpPr/>
          <p:nvPr/>
        </p:nvSpPr>
        <p:spPr>
          <a:xfrm>
            <a:off x="10180015" y="457200"/>
            <a:ext cx="1463040" cy="365760"/>
          </a:xfrm>
          <a:prstGeom prst="roundRect">
            <a:avLst>
              <a:gd name="adj" fmla="val 30000"/>
            </a:avLst>
          </a:prstGeom>
          <a:solidFill>
            <a:srgbClr val="3FB950"/>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cost against effort" descr="Two bars: the cost to build is short, the effort to run is long."/>
          <p:cNvGrpSpPr/>
          <p:nvPr/>
        </p:nvGrpSpPr>
        <p:grpSpPr>
          <a:xfrm>
            <a:off x="548640" y="1371600"/>
            <a:ext cx="11091672" cy="3931920"/>
            <a:chOff x="548640" y="1371600"/>
            <a:chExt cx="11091672" cy="3931920"/>
          </a:xfrm>
        </p:grpSpPr>
        <p:sp>
          <p:nvSpPr>
            <p:cNvPr id="5" name="Panel"/>
            <p:cNvSpPr/>
            <p:nvPr/>
          </p:nvSpPr>
          <p:spPr>
            <a:xfrm>
              <a:off x="548640" y="1371600"/>
              <a:ext cx="11091672" cy="3931920"/>
            </a:xfrm>
            <a:prstGeom prst="roundRect">
              <a:avLst>
                <a:gd name="adj" fmla="val 1860"/>
              </a:avLst>
            </a:prstGeom>
            <a:solidFill>
              <a:srgbClr val="2B2F36"/>
            </a:solidFill>
            <a:ln>
              <a:noFill/>
            </a:ln>
          </p:spPr>
          <p:txBody>
            <a:bodyPr rtlCol="0" anchor="ctr"/>
            <a:lstStyle/>
            <a:p>
              <a:pPr algn="ctr"/>
              <a:endParaRPr/>
            </a:p>
          </p:txBody>
        </p:sp>
        <p:sp>
          <p:nvSpPr>
            <p:cNvPr id="6" name="Bar label"/>
            <p:cNvSpPr txBox="1"/>
            <p:nvPr/>
          </p:nvSpPr>
          <p:spPr>
            <a:xfrm>
              <a:off x="914400" y="2011680"/>
              <a:ext cx="2834640" cy="86868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Cost to build</a:t>
              </a:r>
            </a:p>
          </p:txBody>
        </p:sp>
        <p:sp>
          <p:nvSpPr>
            <p:cNvPr id="7" name="Bar track"/>
            <p:cNvSpPr/>
            <p:nvPr/>
          </p:nvSpPr>
          <p:spPr>
            <a:xfrm>
              <a:off x="3931920" y="2011680"/>
              <a:ext cx="7315200" cy="868680"/>
            </a:xfrm>
            <a:prstGeom prst="roundRect">
              <a:avLst>
                <a:gd name="adj" fmla="val 10526"/>
              </a:avLst>
            </a:prstGeom>
            <a:solidFill>
              <a:srgbClr val="343A43"/>
            </a:solidFill>
            <a:ln>
              <a:noFill/>
            </a:ln>
          </p:spPr>
          <p:txBody>
            <a:bodyPr rtlCol="0" anchor="ctr"/>
            <a:lstStyle/>
            <a:p>
              <a:pPr algn="ctr"/>
              <a:endParaRPr/>
            </a:p>
          </p:txBody>
        </p:sp>
        <p:sp>
          <p:nvSpPr>
            <p:cNvPr id="8" name="Bar"/>
            <p:cNvSpPr/>
            <p:nvPr/>
          </p:nvSpPr>
          <p:spPr>
            <a:xfrm>
              <a:off x="3931920" y="2011680"/>
              <a:ext cx="1463040" cy="868680"/>
            </a:xfrm>
            <a:prstGeom prst="roundRect">
              <a:avLst>
                <a:gd name="adj" fmla="val 10526"/>
              </a:avLst>
            </a:prstGeom>
            <a:solidFill>
              <a:srgbClr val="9AA0A6"/>
            </a:solidFill>
            <a:ln>
              <a:noFill/>
            </a:ln>
          </p:spPr>
          <p:txBody>
            <a:bodyPr rtlCol="0" anchor="ctr"/>
            <a:lstStyle/>
            <a:p>
              <a:pPr algn="ctr"/>
              <a:endParaRPr/>
            </a:p>
          </p:txBody>
        </p:sp>
        <p:sp>
          <p:nvSpPr>
            <p:cNvPr id="9" name="Bar label"/>
            <p:cNvSpPr txBox="1"/>
            <p:nvPr/>
          </p:nvSpPr>
          <p:spPr>
            <a:xfrm>
              <a:off x="914400" y="3383280"/>
              <a:ext cx="2834640" cy="86868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Effort to run</a:t>
              </a:r>
            </a:p>
          </p:txBody>
        </p:sp>
        <p:sp>
          <p:nvSpPr>
            <p:cNvPr id="10" name="Bar track"/>
            <p:cNvSpPr/>
            <p:nvPr/>
          </p:nvSpPr>
          <p:spPr>
            <a:xfrm>
              <a:off x="3931920" y="3383280"/>
              <a:ext cx="7315200" cy="868680"/>
            </a:xfrm>
            <a:prstGeom prst="roundRect">
              <a:avLst>
                <a:gd name="adj" fmla="val 10526"/>
              </a:avLst>
            </a:prstGeom>
            <a:solidFill>
              <a:srgbClr val="343A43"/>
            </a:solidFill>
            <a:ln>
              <a:noFill/>
            </a:ln>
          </p:spPr>
          <p:txBody>
            <a:bodyPr rtlCol="0" anchor="ctr"/>
            <a:lstStyle/>
            <a:p>
              <a:pPr algn="ctr"/>
              <a:endParaRPr/>
            </a:p>
          </p:txBody>
        </p:sp>
        <p:sp>
          <p:nvSpPr>
            <p:cNvPr id="11" name="Bar"/>
            <p:cNvSpPr/>
            <p:nvPr/>
          </p:nvSpPr>
          <p:spPr>
            <a:xfrm>
              <a:off x="3931920" y="3383280"/>
              <a:ext cx="6291072" cy="868680"/>
            </a:xfrm>
            <a:prstGeom prst="roundRect">
              <a:avLst>
                <a:gd name="adj" fmla="val 10526"/>
              </a:avLst>
            </a:prstGeom>
            <a:solidFill>
              <a:srgbClr val="F28C28"/>
            </a:solidFill>
            <a:ln>
              <a:noFill/>
            </a:ln>
          </p:spPr>
          <p:txBody>
            <a:bodyPr rtlCol="0" anchor="ctr"/>
            <a:lstStyle/>
            <a:p>
              <a:pPr algn="ctr"/>
              <a:endParaRPr/>
            </a:p>
          </p:txBody>
        </p:sp>
        <p:sp>
          <p:nvSpPr>
            <p:cNvPr id="12" name="Scale note"/>
            <p:cNvSpPr txBox="1"/>
            <p:nvPr/>
          </p:nvSpPr>
          <p:spPr>
            <a:xfrm>
              <a:off x="7589520" y="4754880"/>
              <a:ext cx="3657600" cy="36576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Not to scale</a:t>
              </a:r>
            </a:p>
          </p:txBody>
        </p:sp>
      </p:grpSp>
      <p:grpSp>
        <p:nvGrpSpPr>
          <p:cNvPr id="13" name="Caption" descr="Caption: Early rail is cheap and easy to build. The challenge is running it."/>
          <p:cNvGrpSpPr/>
          <p:nvPr/>
        </p:nvGrpSpPr>
        <p:grpSpPr>
          <a:xfrm>
            <a:off x="548640" y="5669280"/>
            <a:ext cx="11091672" cy="822960"/>
            <a:chOff x="548640" y="5669280"/>
            <a:chExt cx="11091672" cy="822960"/>
          </a:xfrm>
        </p:grpSpPr>
        <p:sp>
          <p:nvSpPr>
            <p:cNvPr id="14"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15"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16"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Early rail is cheap and easy to build. The challenge is running it.</a:t>
              </a:r>
            </a:p>
          </p:txBody>
        </p:sp>
      </p:grpSp>
      <p:sp>
        <p:nvSpPr>
          <p:cNvPr id="17"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3</a:t>
            </a:r>
          </a:p>
        </p:txBody>
      </p:sp>
    </p:spTree>
    <p:extLst>
      <p:ext uri="{BB962C8B-B14F-4D97-AF65-F5344CB8AC3E}">
        <p14:creationId xmlns:p14="http://schemas.microsoft.com/office/powerpoint/2010/main" val="37927054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Cheap track and trains</a:t>
            </a:r>
          </a:p>
        </p:txBody>
      </p:sp>
      <p:sp>
        <p:nvSpPr>
          <p:cNvPr id="3" name="Status chip" descr="Status tag: Agreed"/>
          <p:cNvSpPr/>
          <p:nvPr/>
        </p:nvSpPr>
        <p:spPr>
          <a:xfrm>
            <a:off x="10180015" y="457200"/>
            <a:ext cx="1463040" cy="365760"/>
          </a:xfrm>
          <a:prstGeom prst="roundRect">
            <a:avLst>
              <a:gd name="adj" fmla="val 30000"/>
            </a:avLst>
          </a:prstGeom>
          <a:solidFill>
            <a:srgbClr val="3FB950"/>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how track is made" descr="An iron plate and an iron rod arrow into a piece of two-rail track."/>
          <p:cNvGrpSpPr/>
          <p:nvPr/>
        </p:nvGrpSpPr>
        <p:grpSpPr>
          <a:xfrm>
            <a:off x="548640" y="1371600"/>
            <a:ext cx="5486400" cy="4069080"/>
            <a:chOff x="548640" y="1371600"/>
            <a:chExt cx="5486400" cy="4069080"/>
          </a:xfrm>
        </p:grpSpPr>
        <p:sp>
          <p:nvSpPr>
            <p:cNvPr id="5" name="Panel"/>
            <p:cNvSpPr/>
            <p:nvPr/>
          </p:nvSpPr>
          <p:spPr>
            <a:xfrm>
              <a:off x="548640" y="1371600"/>
              <a:ext cx="5486400" cy="4069080"/>
            </a:xfrm>
            <a:prstGeom prst="roundRect">
              <a:avLst>
                <a:gd name="adj" fmla="val 1797"/>
              </a:avLst>
            </a:prstGeom>
            <a:solidFill>
              <a:srgbClr val="2B2F36"/>
            </a:solidFill>
            <a:ln>
              <a:noFill/>
            </a:ln>
          </p:spPr>
          <p:txBody>
            <a:bodyPr rtlCol="0" anchor="ctr"/>
            <a:lstStyle/>
            <a:p>
              <a:pPr algn="ctr"/>
              <a:endParaRPr/>
            </a:p>
          </p:txBody>
        </p:sp>
        <p:sp>
          <p:nvSpPr>
            <p:cNvPr id="6" name="Iron plate"/>
            <p:cNvSpPr/>
            <p:nvPr/>
          </p:nvSpPr>
          <p:spPr>
            <a:xfrm>
              <a:off x="914400" y="1691640"/>
              <a:ext cx="1554480" cy="1005840"/>
            </a:xfrm>
            <a:prstGeom prst="roundRect">
              <a:avLst>
                <a:gd name="adj" fmla="val 5454"/>
              </a:avLst>
            </a:prstGeom>
            <a:solidFill>
              <a:srgbClr val="9AA0A6"/>
            </a:solidFill>
            <a:ln>
              <a:noFill/>
            </a:ln>
          </p:spPr>
          <p:txBody>
            <a:bodyPr rtlCol="0" anchor="ctr"/>
            <a:lstStyle/>
            <a:p>
              <a:pPr algn="ctr"/>
              <a:endParaRPr/>
            </a:p>
          </p:txBody>
        </p:sp>
        <p:sp>
          <p:nvSpPr>
            <p:cNvPr id="7" name="Plate face"/>
            <p:cNvSpPr/>
            <p:nvPr/>
          </p:nvSpPr>
          <p:spPr>
            <a:xfrm>
              <a:off x="1005840" y="1783080"/>
              <a:ext cx="1371600" cy="822960"/>
            </a:xfrm>
            <a:prstGeom prst="roundRect">
              <a:avLst>
                <a:gd name="adj" fmla="val 4444"/>
              </a:avLst>
            </a:prstGeom>
            <a:solidFill>
              <a:srgbClr val="B8BEC4"/>
            </a:solidFill>
            <a:ln>
              <a:noFill/>
            </a:ln>
          </p:spPr>
          <p:txBody>
            <a:bodyPr rtlCol="0" anchor="ctr"/>
            <a:lstStyle/>
            <a:p>
              <a:pPr algn="ctr"/>
              <a:endParaRPr/>
            </a:p>
          </p:txBody>
        </p:sp>
        <p:sp>
          <p:nvSpPr>
            <p:cNvPr id="8" name="Rivet"/>
            <p:cNvSpPr/>
            <p:nvPr/>
          </p:nvSpPr>
          <p:spPr>
            <a:xfrm>
              <a:off x="1051560" y="1828800"/>
              <a:ext cx="91440" cy="91440"/>
            </a:xfrm>
            <a:prstGeom prst="ellipse">
              <a:avLst/>
            </a:prstGeom>
            <a:solidFill>
              <a:srgbClr val="9AA0A6"/>
            </a:solidFill>
            <a:ln>
              <a:noFill/>
            </a:ln>
          </p:spPr>
          <p:txBody>
            <a:bodyPr rtlCol="0" anchor="ctr"/>
            <a:lstStyle/>
            <a:p>
              <a:pPr algn="ctr"/>
              <a:endParaRPr/>
            </a:p>
          </p:txBody>
        </p:sp>
        <p:sp>
          <p:nvSpPr>
            <p:cNvPr id="9" name="Rivet"/>
            <p:cNvSpPr/>
            <p:nvPr/>
          </p:nvSpPr>
          <p:spPr>
            <a:xfrm>
              <a:off x="2148840" y="1828800"/>
              <a:ext cx="91440" cy="91440"/>
            </a:xfrm>
            <a:prstGeom prst="ellipse">
              <a:avLst/>
            </a:prstGeom>
            <a:solidFill>
              <a:srgbClr val="9AA0A6"/>
            </a:solidFill>
            <a:ln>
              <a:noFill/>
            </a:ln>
          </p:spPr>
          <p:txBody>
            <a:bodyPr rtlCol="0" anchor="ctr"/>
            <a:lstStyle/>
            <a:p>
              <a:pPr algn="ctr"/>
              <a:endParaRPr/>
            </a:p>
          </p:txBody>
        </p:sp>
        <p:sp>
          <p:nvSpPr>
            <p:cNvPr id="10" name="Rivet"/>
            <p:cNvSpPr/>
            <p:nvPr/>
          </p:nvSpPr>
          <p:spPr>
            <a:xfrm>
              <a:off x="1051560" y="2377440"/>
              <a:ext cx="91440" cy="91440"/>
            </a:xfrm>
            <a:prstGeom prst="ellipse">
              <a:avLst/>
            </a:prstGeom>
            <a:solidFill>
              <a:srgbClr val="9AA0A6"/>
            </a:solidFill>
            <a:ln>
              <a:noFill/>
            </a:ln>
          </p:spPr>
          <p:txBody>
            <a:bodyPr rtlCol="0" anchor="ctr"/>
            <a:lstStyle/>
            <a:p>
              <a:pPr algn="ctr"/>
              <a:endParaRPr/>
            </a:p>
          </p:txBody>
        </p:sp>
        <p:sp>
          <p:nvSpPr>
            <p:cNvPr id="11" name="Rivet"/>
            <p:cNvSpPr/>
            <p:nvPr/>
          </p:nvSpPr>
          <p:spPr>
            <a:xfrm>
              <a:off x="2148840" y="2377440"/>
              <a:ext cx="91440" cy="91440"/>
            </a:xfrm>
            <a:prstGeom prst="ellipse">
              <a:avLst/>
            </a:prstGeom>
            <a:solidFill>
              <a:srgbClr val="9AA0A6"/>
            </a:solidFill>
            <a:ln>
              <a:noFill/>
            </a:ln>
          </p:spPr>
          <p:txBody>
            <a:bodyPr rtlCol="0" anchor="ctr"/>
            <a:lstStyle/>
            <a:p>
              <a:pPr algn="ctr"/>
              <a:endParaRPr/>
            </a:p>
          </p:txBody>
        </p:sp>
        <p:sp>
          <p:nvSpPr>
            <p:cNvPr id="12" name="TextBox 11"/>
            <p:cNvSpPr txBox="1"/>
            <p:nvPr/>
          </p:nvSpPr>
          <p:spPr>
            <a:xfrm>
              <a:off x="914400" y="2743200"/>
              <a:ext cx="1554480" cy="36576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Iron plate</a:t>
              </a:r>
            </a:p>
          </p:txBody>
        </p:sp>
        <p:sp>
          <p:nvSpPr>
            <p:cNvPr id="13" name="Iron rod"/>
            <p:cNvSpPr/>
            <p:nvPr/>
          </p:nvSpPr>
          <p:spPr>
            <a:xfrm>
              <a:off x="914400" y="3657600"/>
              <a:ext cx="1554480" cy="146304"/>
            </a:xfrm>
            <a:prstGeom prst="roundRect">
              <a:avLst>
                <a:gd name="adj" fmla="val 50000"/>
              </a:avLst>
            </a:prstGeom>
            <a:solidFill>
              <a:srgbClr val="9AA0A6"/>
            </a:solidFill>
            <a:ln>
              <a:noFill/>
            </a:ln>
          </p:spPr>
          <p:txBody>
            <a:bodyPr rtlCol="0" anchor="ctr"/>
            <a:lstStyle/>
            <a:p>
              <a:pPr algn="ctr"/>
              <a:endParaRPr/>
            </a:p>
          </p:txBody>
        </p:sp>
        <p:sp>
          <p:nvSpPr>
            <p:cNvPr id="14" name="Rod highlight"/>
            <p:cNvSpPr/>
            <p:nvPr/>
          </p:nvSpPr>
          <p:spPr>
            <a:xfrm>
              <a:off x="914400" y="3694176"/>
              <a:ext cx="1554480" cy="36576"/>
            </a:xfrm>
            <a:prstGeom prst="rect">
              <a:avLst/>
            </a:prstGeom>
            <a:solidFill>
              <a:srgbClr val="B8BEC4"/>
            </a:solidFill>
            <a:ln>
              <a:noFill/>
            </a:ln>
          </p:spPr>
          <p:txBody>
            <a:bodyPr rtlCol="0" anchor="ctr"/>
            <a:lstStyle/>
            <a:p>
              <a:pPr algn="ctr"/>
              <a:endParaRPr/>
            </a:p>
          </p:txBody>
        </p:sp>
        <p:sp>
          <p:nvSpPr>
            <p:cNvPr id="15" name="TextBox 14"/>
            <p:cNvSpPr txBox="1"/>
            <p:nvPr/>
          </p:nvSpPr>
          <p:spPr>
            <a:xfrm>
              <a:off x="914400" y="3931920"/>
              <a:ext cx="1554480" cy="36576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Iron rod</a:t>
              </a:r>
            </a:p>
          </p:txBody>
        </p:sp>
        <p:cxnSp>
          <p:nvCxnSpPr>
            <p:cNvPr id="16" name="Arrow plate"/>
            <p:cNvCxnSpPr/>
            <p:nvPr/>
          </p:nvCxnSpPr>
          <p:spPr>
            <a:xfrm>
              <a:off x="2651760" y="2194560"/>
              <a:ext cx="777240" cy="822960"/>
            </a:xfrm>
            <a:prstGeom prst="line">
              <a:avLst/>
            </a:prstGeom>
            <a:ln w="28575">
              <a:solidFill>
                <a:srgbClr val="F28C28"/>
              </a:solidFill>
              <a:tailEnd type="triangle" w="med" len="med"/>
            </a:ln>
          </p:spPr>
        </p:cxnSp>
        <p:cxnSp>
          <p:nvCxnSpPr>
            <p:cNvPr id="17" name="Arrow rod"/>
            <p:cNvCxnSpPr/>
            <p:nvPr/>
          </p:nvCxnSpPr>
          <p:spPr>
            <a:xfrm flipV="1">
              <a:off x="2651760" y="3429000"/>
              <a:ext cx="777240" cy="301752"/>
            </a:xfrm>
            <a:prstGeom prst="line">
              <a:avLst/>
            </a:prstGeom>
            <a:ln w="28575">
              <a:solidFill>
                <a:srgbClr val="F28C28"/>
              </a:solidFill>
              <a:tailEnd type="triangle" w="med" len="med"/>
            </a:ln>
          </p:spPr>
        </p:cxnSp>
        <p:sp>
          <p:nvSpPr>
            <p:cNvPr id="18" name="Sleeper"/>
            <p:cNvSpPr/>
            <p:nvPr/>
          </p:nvSpPr>
          <p:spPr>
            <a:xfrm>
              <a:off x="3611880" y="2825496"/>
              <a:ext cx="64008" cy="548640"/>
            </a:xfrm>
            <a:prstGeom prst="rect">
              <a:avLst/>
            </a:prstGeom>
            <a:solidFill>
              <a:srgbClr val="6B5B4B"/>
            </a:solidFill>
            <a:ln>
              <a:noFill/>
            </a:ln>
          </p:spPr>
          <p:txBody>
            <a:bodyPr rtlCol="0" anchor="ctr"/>
            <a:lstStyle/>
            <a:p>
              <a:pPr algn="ctr"/>
              <a:endParaRPr/>
            </a:p>
          </p:txBody>
        </p:sp>
        <p:sp>
          <p:nvSpPr>
            <p:cNvPr id="19" name="Sleeper"/>
            <p:cNvSpPr/>
            <p:nvPr/>
          </p:nvSpPr>
          <p:spPr>
            <a:xfrm>
              <a:off x="3941064" y="2825496"/>
              <a:ext cx="64008" cy="548640"/>
            </a:xfrm>
            <a:prstGeom prst="rect">
              <a:avLst/>
            </a:prstGeom>
            <a:solidFill>
              <a:srgbClr val="6B5B4B"/>
            </a:solidFill>
            <a:ln>
              <a:noFill/>
            </a:ln>
          </p:spPr>
          <p:txBody>
            <a:bodyPr rtlCol="0" anchor="ctr"/>
            <a:lstStyle/>
            <a:p>
              <a:pPr algn="ctr"/>
              <a:endParaRPr/>
            </a:p>
          </p:txBody>
        </p:sp>
        <p:sp>
          <p:nvSpPr>
            <p:cNvPr id="20" name="Sleeper"/>
            <p:cNvSpPr/>
            <p:nvPr/>
          </p:nvSpPr>
          <p:spPr>
            <a:xfrm>
              <a:off x="4270248" y="2825496"/>
              <a:ext cx="64008" cy="548640"/>
            </a:xfrm>
            <a:prstGeom prst="rect">
              <a:avLst/>
            </a:prstGeom>
            <a:solidFill>
              <a:srgbClr val="6B5B4B"/>
            </a:solidFill>
            <a:ln>
              <a:noFill/>
            </a:ln>
          </p:spPr>
          <p:txBody>
            <a:bodyPr rtlCol="0" anchor="ctr"/>
            <a:lstStyle/>
            <a:p>
              <a:pPr algn="ctr"/>
              <a:endParaRPr/>
            </a:p>
          </p:txBody>
        </p:sp>
        <p:sp>
          <p:nvSpPr>
            <p:cNvPr id="21" name="Sleeper"/>
            <p:cNvSpPr/>
            <p:nvPr/>
          </p:nvSpPr>
          <p:spPr>
            <a:xfrm>
              <a:off x="4599432" y="2825496"/>
              <a:ext cx="64008" cy="548640"/>
            </a:xfrm>
            <a:prstGeom prst="rect">
              <a:avLst/>
            </a:prstGeom>
            <a:solidFill>
              <a:srgbClr val="6B5B4B"/>
            </a:solidFill>
            <a:ln>
              <a:noFill/>
            </a:ln>
          </p:spPr>
          <p:txBody>
            <a:bodyPr rtlCol="0" anchor="ctr"/>
            <a:lstStyle/>
            <a:p>
              <a:pPr algn="ctr"/>
              <a:endParaRPr/>
            </a:p>
          </p:txBody>
        </p:sp>
        <p:sp>
          <p:nvSpPr>
            <p:cNvPr id="22" name="Sleeper"/>
            <p:cNvSpPr/>
            <p:nvPr/>
          </p:nvSpPr>
          <p:spPr>
            <a:xfrm>
              <a:off x="4928616" y="2825496"/>
              <a:ext cx="64008" cy="548640"/>
            </a:xfrm>
            <a:prstGeom prst="rect">
              <a:avLst/>
            </a:prstGeom>
            <a:solidFill>
              <a:srgbClr val="6B5B4B"/>
            </a:solidFill>
            <a:ln>
              <a:noFill/>
            </a:ln>
          </p:spPr>
          <p:txBody>
            <a:bodyPr rtlCol="0" anchor="ctr"/>
            <a:lstStyle/>
            <a:p>
              <a:pPr algn="ctr"/>
              <a:endParaRPr/>
            </a:p>
          </p:txBody>
        </p:sp>
        <p:sp>
          <p:nvSpPr>
            <p:cNvPr id="23" name="Sleeper"/>
            <p:cNvSpPr/>
            <p:nvPr/>
          </p:nvSpPr>
          <p:spPr>
            <a:xfrm>
              <a:off x="5257800" y="2825496"/>
              <a:ext cx="64008" cy="548640"/>
            </a:xfrm>
            <a:prstGeom prst="rect">
              <a:avLst/>
            </a:prstGeom>
            <a:solidFill>
              <a:srgbClr val="6B5B4B"/>
            </a:solidFill>
            <a:ln>
              <a:noFill/>
            </a:ln>
          </p:spPr>
          <p:txBody>
            <a:bodyPr rtlCol="0" anchor="ctr"/>
            <a:lstStyle/>
            <a:p>
              <a:pPr algn="ctr"/>
              <a:endParaRPr/>
            </a:p>
          </p:txBody>
        </p:sp>
        <p:sp>
          <p:nvSpPr>
            <p:cNvPr id="24" name="Sleeper"/>
            <p:cNvSpPr/>
            <p:nvPr/>
          </p:nvSpPr>
          <p:spPr>
            <a:xfrm>
              <a:off x="5586984" y="2825496"/>
              <a:ext cx="64008" cy="548640"/>
            </a:xfrm>
            <a:prstGeom prst="rect">
              <a:avLst/>
            </a:prstGeom>
            <a:solidFill>
              <a:srgbClr val="6B5B4B"/>
            </a:solidFill>
            <a:ln>
              <a:noFill/>
            </a:ln>
          </p:spPr>
          <p:txBody>
            <a:bodyPr rtlCol="0" anchor="ctr"/>
            <a:lstStyle/>
            <a:p>
              <a:pPr algn="ctr"/>
              <a:endParaRPr/>
            </a:p>
          </p:txBody>
        </p:sp>
        <p:sp>
          <p:nvSpPr>
            <p:cNvPr id="25" name="Rail"/>
            <p:cNvSpPr/>
            <p:nvPr/>
          </p:nvSpPr>
          <p:spPr>
            <a:xfrm>
              <a:off x="3566160" y="2880360"/>
              <a:ext cx="2103120" cy="54864"/>
            </a:xfrm>
            <a:prstGeom prst="rect">
              <a:avLst/>
            </a:prstGeom>
            <a:solidFill>
              <a:srgbClr val="9AA0A6"/>
            </a:solidFill>
            <a:ln>
              <a:noFill/>
            </a:ln>
          </p:spPr>
          <p:txBody>
            <a:bodyPr rtlCol="0" anchor="ctr"/>
            <a:lstStyle/>
            <a:p>
              <a:pPr algn="ctr"/>
              <a:endParaRPr/>
            </a:p>
          </p:txBody>
        </p:sp>
        <p:sp>
          <p:nvSpPr>
            <p:cNvPr id="26" name="Rail"/>
            <p:cNvSpPr/>
            <p:nvPr/>
          </p:nvSpPr>
          <p:spPr>
            <a:xfrm>
              <a:off x="3566160" y="3264408"/>
              <a:ext cx="2103120" cy="54864"/>
            </a:xfrm>
            <a:prstGeom prst="rect">
              <a:avLst/>
            </a:prstGeom>
            <a:solidFill>
              <a:srgbClr val="9AA0A6"/>
            </a:solidFill>
            <a:ln>
              <a:noFill/>
            </a:ln>
          </p:spPr>
          <p:txBody>
            <a:bodyPr rtlCol="0" anchor="ctr"/>
            <a:lstStyle/>
            <a:p>
              <a:pPr algn="ctr"/>
              <a:endParaRPr/>
            </a:p>
          </p:txBody>
        </p:sp>
        <p:sp>
          <p:nvSpPr>
            <p:cNvPr id="27" name="TextBox 26"/>
            <p:cNvSpPr txBox="1"/>
            <p:nvPr/>
          </p:nvSpPr>
          <p:spPr>
            <a:xfrm>
              <a:off x="3566160" y="3611880"/>
              <a:ext cx="2103120" cy="36576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Track</a:t>
              </a:r>
            </a:p>
          </p:txBody>
        </p:sp>
        <p:sp>
          <p:nvSpPr>
            <p:cNvPr id="28" name="Inline chip: Exact recipes: undecided (OQ02)"/>
            <p:cNvSpPr/>
            <p:nvPr/>
          </p:nvSpPr>
          <p:spPr>
            <a:xfrm>
              <a:off x="822960" y="4846320"/>
              <a:ext cx="3097276"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Exact recipes: undecided (OQ02)</a:t>
              </a:r>
            </a:p>
          </p:txBody>
        </p:sp>
      </p:grpSp>
      <p:grpSp>
        <p:nvGrpSpPr>
          <p:cNvPr id="29" name="Diagram: steam train and pricier electric train" descr="A steam train with a short coin stack beside an electric train with a tall coin stack: steam trains cost less."/>
          <p:cNvGrpSpPr/>
          <p:nvPr/>
        </p:nvGrpSpPr>
        <p:grpSpPr>
          <a:xfrm>
            <a:off x="6263640" y="1371600"/>
            <a:ext cx="5376672" cy="4069080"/>
            <a:chOff x="6263640" y="1371600"/>
            <a:chExt cx="5376672" cy="4069080"/>
          </a:xfrm>
        </p:grpSpPr>
        <p:sp>
          <p:nvSpPr>
            <p:cNvPr id="30" name="Panel"/>
            <p:cNvSpPr/>
            <p:nvPr/>
          </p:nvSpPr>
          <p:spPr>
            <a:xfrm>
              <a:off x="6263640" y="1371600"/>
              <a:ext cx="5376672" cy="4069080"/>
            </a:xfrm>
            <a:prstGeom prst="roundRect">
              <a:avLst>
                <a:gd name="adj" fmla="val 1797"/>
              </a:avLst>
            </a:prstGeom>
            <a:solidFill>
              <a:srgbClr val="2B2F36"/>
            </a:solidFill>
            <a:ln>
              <a:noFill/>
            </a:ln>
          </p:spPr>
          <p:txBody>
            <a:bodyPr rtlCol="0" anchor="ctr"/>
            <a:lstStyle/>
            <a:p>
              <a:pPr algn="ctr"/>
              <a:endParaRPr/>
            </a:p>
          </p:txBody>
        </p:sp>
        <p:sp>
          <p:nvSpPr>
            <p:cNvPr id="31" name="Footplate"/>
            <p:cNvSpPr/>
            <p:nvPr/>
          </p:nvSpPr>
          <p:spPr>
            <a:xfrm>
              <a:off x="6492240" y="2603754"/>
              <a:ext cx="1783080" cy="68580"/>
            </a:xfrm>
            <a:prstGeom prst="rect">
              <a:avLst/>
            </a:prstGeom>
            <a:solidFill>
              <a:srgbClr val="1B1D21"/>
            </a:solidFill>
            <a:ln>
              <a:noFill/>
            </a:ln>
          </p:spPr>
          <p:txBody>
            <a:bodyPr rtlCol="0" anchor="ctr"/>
            <a:lstStyle/>
            <a:p>
              <a:pPr algn="ctr"/>
              <a:endParaRPr/>
            </a:p>
          </p:txBody>
        </p:sp>
        <p:sp>
          <p:nvSpPr>
            <p:cNvPr id="32" name="Boiler"/>
            <p:cNvSpPr/>
            <p:nvPr/>
          </p:nvSpPr>
          <p:spPr>
            <a:xfrm>
              <a:off x="7109460" y="2226564"/>
              <a:ext cx="1097280" cy="397764"/>
            </a:xfrm>
            <a:prstGeom prst="roundRect">
              <a:avLst>
                <a:gd name="adj" fmla="val 25862"/>
              </a:avLst>
            </a:prstGeom>
            <a:solidFill>
              <a:srgbClr val="F28C28"/>
            </a:solidFill>
            <a:ln>
              <a:noFill/>
            </a:ln>
          </p:spPr>
          <p:txBody>
            <a:bodyPr rtlCol="0" anchor="ctr"/>
            <a:lstStyle/>
            <a:p>
              <a:pPr algn="ctr"/>
              <a:endParaRPr/>
            </a:p>
          </p:txBody>
        </p:sp>
        <p:sp>
          <p:nvSpPr>
            <p:cNvPr id="33" name="Smokebox"/>
            <p:cNvSpPr/>
            <p:nvPr/>
          </p:nvSpPr>
          <p:spPr>
            <a:xfrm>
              <a:off x="8124444" y="2226564"/>
              <a:ext cx="96012" cy="397764"/>
            </a:xfrm>
            <a:prstGeom prst="rect">
              <a:avLst/>
            </a:prstGeom>
            <a:solidFill>
              <a:srgbClr val="1B1D21"/>
            </a:solidFill>
            <a:ln>
              <a:noFill/>
            </a:ln>
          </p:spPr>
          <p:txBody>
            <a:bodyPr rtlCol="0" anchor="ctr"/>
            <a:lstStyle/>
            <a:p>
              <a:pPr algn="ctr"/>
              <a:endParaRPr/>
            </a:p>
          </p:txBody>
        </p:sp>
        <p:sp>
          <p:nvSpPr>
            <p:cNvPr id="34" name="Chimney"/>
            <p:cNvSpPr/>
            <p:nvPr/>
          </p:nvSpPr>
          <p:spPr>
            <a:xfrm>
              <a:off x="8001000" y="2048256"/>
              <a:ext cx="89154" cy="192024"/>
            </a:xfrm>
            <a:prstGeom prst="rect">
              <a:avLst/>
            </a:prstGeom>
            <a:solidFill>
              <a:srgbClr val="1B1D21"/>
            </a:solidFill>
            <a:ln>
              <a:noFill/>
            </a:ln>
          </p:spPr>
          <p:txBody>
            <a:bodyPr rtlCol="0" anchor="ctr"/>
            <a:lstStyle/>
            <a:p>
              <a:pPr algn="ctr"/>
              <a:endParaRPr/>
            </a:p>
          </p:txBody>
        </p:sp>
        <p:sp>
          <p:nvSpPr>
            <p:cNvPr id="35" name="Chimney top"/>
            <p:cNvSpPr/>
            <p:nvPr/>
          </p:nvSpPr>
          <p:spPr>
            <a:xfrm>
              <a:off x="7966710" y="2020824"/>
              <a:ext cx="157734" cy="41148"/>
            </a:xfrm>
            <a:prstGeom prst="rect">
              <a:avLst/>
            </a:prstGeom>
            <a:solidFill>
              <a:srgbClr val="1B1D21"/>
            </a:solidFill>
            <a:ln>
              <a:noFill/>
            </a:ln>
          </p:spPr>
          <p:txBody>
            <a:bodyPr rtlCol="0" anchor="ctr"/>
            <a:lstStyle/>
            <a:p>
              <a:pPr algn="ctr"/>
              <a:endParaRPr/>
            </a:p>
          </p:txBody>
        </p:sp>
        <p:sp>
          <p:nvSpPr>
            <p:cNvPr id="36" name="Dome"/>
            <p:cNvSpPr/>
            <p:nvPr/>
          </p:nvSpPr>
          <p:spPr>
            <a:xfrm>
              <a:off x="7520940" y="2130552"/>
              <a:ext cx="233172" cy="205740"/>
            </a:xfrm>
            <a:prstGeom prst="chord">
              <a:avLst/>
            </a:prstGeom>
            <a:solidFill>
              <a:srgbClr val="C46E14"/>
            </a:solidFill>
            <a:ln>
              <a:noFill/>
            </a:ln>
          </p:spPr>
          <p:txBody>
            <a:bodyPr rtlCol="0" anchor="ctr"/>
            <a:lstStyle/>
            <a:p>
              <a:pPr algn="ctr"/>
              <a:endParaRPr/>
            </a:p>
          </p:txBody>
        </p:sp>
        <p:sp>
          <p:nvSpPr>
            <p:cNvPr id="37" name="Cab"/>
            <p:cNvSpPr/>
            <p:nvPr/>
          </p:nvSpPr>
          <p:spPr>
            <a:xfrm>
              <a:off x="6547104" y="2089404"/>
              <a:ext cx="617220" cy="534924"/>
            </a:xfrm>
            <a:prstGeom prst="rect">
              <a:avLst/>
            </a:prstGeom>
            <a:solidFill>
              <a:srgbClr val="C46E14"/>
            </a:solidFill>
            <a:ln>
              <a:noFill/>
            </a:ln>
          </p:spPr>
          <p:txBody>
            <a:bodyPr rtlCol="0" anchor="ctr"/>
            <a:lstStyle/>
            <a:p>
              <a:pPr algn="ctr"/>
              <a:endParaRPr/>
            </a:p>
          </p:txBody>
        </p:sp>
        <p:sp>
          <p:nvSpPr>
            <p:cNvPr id="38" name="Cab roof"/>
            <p:cNvSpPr/>
            <p:nvPr/>
          </p:nvSpPr>
          <p:spPr>
            <a:xfrm>
              <a:off x="6505956" y="2034540"/>
              <a:ext cx="699516" cy="61722"/>
            </a:xfrm>
            <a:prstGeom prst="rect">
              <a:avLst/>
            </a:prstGeom>
            <a:solidFill>
              <a:srgbClr val="1B1D21"/>
            </a:solidFill>
            <a:ln>
              <a:noFill/>
            </a:ln>
          </p:spPr>
          <p:txBody>
            <a:bodyPr rtlCol="0" anchor="ctr"/>
            <a:lstStyle/>
            <a:p>
              <a:pPr algn="ctr"/>
              <a:endParaRPr/>
            </a:p>
          </p:txBody>
        </p:sp>
        <p:sp>
          <p:nvSpPr>
            <p:cNvPr id="39" name="Cab window"/>
            <p:cNvSpPr/>
            <p:nvPr/>
          </p:nvSpPr>
          <p:spPr>
            <a:xfrm>
              <a:off x="6697980" y="2185416"/>
              <a:ext cx="274320" cy="192024"/>
            </a:xfrm>
            <a:prstGeom prst="rect">
              <a:avLst/>
            </a:prstGeom>
            <a:solidFill>
              <a:srgbClr val="1B1D21"/>
            </a:solidFill>
            <a:ln>
              <a:noFill/>
            </a:ln>
          </p:spPr>
          <p:txBody>
            <a:bodyPr rtlCol="0" anchor="ctr"/>
            <a:lstStyle/>
            <a:p>
              <a:pPr algn="ctr"/>
              <a:endParaRPr/>
            </a:p>
          </p:txBody>
        </p:sp>
        <p:sp>
          <p:nvSpPr>
            <p:cNvPr id="40" name="Wheel"/>
            <p:cNvSpPr/>
            <p:nvPr/>
          </p:nvSpPr>
          <p:spPr>
            <a:xfrm>
              <a:off x="6718554" y="2617470"/>
              <a:ext cx="301752" cy="301752"/>
            </a:xfrm>
            <a:prstGeom prst="ellipse">
              <a:avLst/>
            </a:prstGeom>
            <a:solidFill>
              <a:srgbClr val="1B1D21"/>
            </a:solidFill>
            <a:ln w="19050">
              <a:solidFill>
                <a:srgbClr val="9AA0A6"/>
              </a:solidFill>
            </a:ln>
          </p:spPr>
          <p:txBody>
            <a:bodyPr rtlCol="0" anchor="ctr"/>
            <a:lstStyle/>
            <a:p>
              <a:pPr algn="ctr"/>
              <a:endParaRPr/>
            </a:p>
          </p:txBody>
        </p:sp>
        <p:sp>
          <p:nvSpPr>
            <p:cNvPr id="41" name="Hub"/>
            <p:cNvSpPr/>
            <p:nvPr/>
          </p:nvSpPr>
          <p:spPr>
            <a:xfrm>
              <a:off x="6827185" y="2726101"/>
              <a:ext cx="84491" cy="84491"/>
            </a:xfrm>
            <a:prstGeom prst="ellipse">
              <a:avLst/>
            </a:prstGeom>
            <a:solidFill>
              <a:srgbClr val="9AA0A6"/>
            </a:solidFill>
            <a:ln>
              <a:noFill/>
            </a:ln>
          </p:spPr>
          <p:txBody>
            <a:bodyPr rtlCol="0" anchor="ctr"/>
            <a:lstStyle/>
            <a:p>
              <a:pPr algn="ctr"/>
              <a:endParaRPr/>
            </a:p>
          </p:txBody>
        </p:sp>
        <p:sp>
          <p:nvSpPr>
            <p:cNvPr id="42" name="Wheel"/>
            <p:cNvSpPr/>
            <p:nvPr/>
          </p:nvSpPr>
          <p:spPr>
            <a:xfrm>
              <a:off x="7267194" y="2617470"/>
              <a:ext cx="301752" cy="301752"/>
            </a:xfrm>
            <a:prstGeom prst="ellipse">
              <a:avLst/>
            </a:prstGeom>
            <a:solidFill>
              <a:srgbClr val="1B1D21"/>
            </a:solidFill>
            <a:ln w="19050">
              <a:solidFill>
                <a:srgbClr val="9AA0A6"/>
              </a:solidFill>
            </a:ln>
          </p:spPr>
          <p:txBody>
            <a:bodyPr rtlCol="0" anchor="ctr"/>
            <a:lstStyle/>
            <a:p>
              <a:pPr algn="ctr"/>
              <a:endParaRPr/>
            </a:p>
          </p:txBody>
        </p:sp>
        <p:sp>
          <p:nvSpPr>
            <p:cNvPr id="43" name="Hub"/>
            <p:cNvSpPr/>
            <p:nvPr/>
          </p:nvSpPr>
          <p:spPr>
            <a:xfrm>
              <a:off x="7375825" y="2726101"/>
              <a:ext cx="84491" cy="84491"/>
            </a:xfrm>
            <a:prstGeom prst="ellipse">
              <a:avLst/>
            </a:prstGeom>
            <a:solidFill>
              <a:srgbClr val="9AA0A6"/>
            </a:solidFill>
            <a:ln>
              <a:noFill/>
            </a:ln>
          </p:spPr>
          <p:txBody>
            <a:bodyPr rtlCol="0" anchor="ctr"/>
            <a:lstStyle/>
            <a:p>
              <a:pPr algn="ctr"/>
              <a:endParaRPr/>
            </a:p>
          </p:txBody>
        </p:sp>
        <p:sp>
          <p:nvSpPr>
            <p:cNvPr id="44" name="Wheel"/>
            <p:cNvSpPr/>
            <p:nvPr/>
          </p:nvSpPr>
          <p:spPr>
            <a:xfrm>
              <a:off x="7815834" y="2617470"/>
              <a:ext cx="301752" cy="301752"/>
            </a:xfrm>
            <a:prstGeom prst="ellipse">
              <a:avLst/>
            </a:prstGeom>
            <a:solidFill>
              <a:srgbClr val="1B1D21"/>
            </a:solidFill>
            <a:ln w="19050">
              <a:solidFill>
                <a:srgbClr val="9AA0A6"/>
              </a:solidFill>
            </a:ln>
          </p:spPr>
          <p:txBody>
            <a:bodyPr rtlCol="0" anchor="ctr"/>
            <a:lstStyle/>
            <a:p>
              <a:pPr algn="ctr"/>
              <a:endParaRPr/>
            </a:p>
          </p:txBody>
        </p:sp>
        <p:sp>
          <p:nvSpPr>
            <p:cNvPr id="45" name="Hub"/>
            <p:cNvSpPr/>
            <p:nvPr/>
          </p:nvSpPr>
          <p:spPr>
            <a:xfrm>
              <a:off x="7924465" y="2726101"/>
              <a:ext cx="84491" cy="84491"/>
            </a:xfrm>
            <a:prstGeom prst="ellipse">
              <a:avLst/>
            </a:prstGeom>
            <a:solidFill>
              <a:srgbClr val="9AA0A6"/>
            </a:solidFill>
            <a:ln>
              <a:noFill/>
            </a:ln>
          </p:spPr>
          <p:txBody>
            <a:bodyPr rtlCol="0" anchor="ctr"/>
            <a:lstStyle/>
            <a:p>
              <a:pPr algn="ctr"/>
              <a:endParaRPr/>
            </a:p>
          </p:txBody>
        </p:sp>
        <p:cxnSp>
          <p:nvCxnSpPr>
            <p:cNvPr id="46" name="Coupling rod"/>
            <p:cNvCxnSpPr/>
            <p:nvPr/>
          </p:nvCxnSpPr>
          <p:spPr>
            <a:xfrm>
              <a:off x="6869430" y="2768346"/>
              <a:ext cx="1097280" cy="0"/>
            </a:xfrm>
            <a:prstGeom prst="line">
              <a:avLst/>
            </a:prstGeom>
            <a:ln w="25400">
              <a:solidFill>
                <a:srgbClr val="9AA0A6"/>
              </a:solidFill>
            </a:ln>
          </p:spPr>
        </p:cxnSp>
        <p:sp>
          <p:nvSpPr>
            <p:cNvPr id="47" name="Wagon"/>
            <p:cNvSpPr/>
            <p:nvPr/>
          </p:nvSpPr>
          <p:spPr>
            <a:xfrm>
              <a:off x="8330184" y="2350008"/>
              <a:ext cx="1028700" cy="425196"/>
            </a:xfrm>
            <a:prstGeom prst="rect">
              <a:avLst/>
            </a:prstGeom>
            <a:solidFill>
              <a:srgbClr val="6C7480"/>
            </a:solidFill>
            <a:ln w="12700">
              <a:solidFill>
                <a:srgbClr val="9AA0A6"/>
              </a:solidFill>
            </a:ln>
          </p:spPr>
          <p:txBody>
            <a:bodyPr rtlCol="0" anchor="ctr"/>
            <a:lstStyle/>
            <a:p>
              <a:pPr algn="ctr"/>
              <a:endParaRPr/>
            </a:p>
          </p:txBody>
        </p:sp>
        <p:cxnSp>
          <p:nvCxnSpPr>
            <p:cNvPr id="48" name="Connector 47"/>
            <p:cNvCxnSpPr/>
            <p:nvPr/>
          </p:nvCxnSpPr>
          <p:spPr>
            <a:xfrm>
              <a:off x="8587359" y="2377440"/>
              <a:ext cx="0" cy="370332"/>
            </a:xfrm>
            <a:prstGeom prst="line">
              <a:avLst/>
            </a:prstGeom>
            <a:ln w="12700">
              <a:solidFill>
                <a:srgbClr val="343A43"/>
              </a:solidFill>
            </a:ln>
          </p:spPr>
        </p:cxnSp>
        <p:cxnSp>
          <p:nvCxnSpPr>
            <p:cNvPr id="49" name="Connector 48"/>
            <p:cNvCxnSpPr/>
            <p:nvPr/>
          </p:nvCxnSpPr>
          <p:spPr>
            <a:xfrm>
              <a:off x="8844534" y="2377440"/>
              <a:ext cx="0" cy="370332"/>
            </a:xfrm>
            <a:prstGeom prst="line">
              <a:avLst/>
            </a:prstGeom>
            <a:ln w="12700">
              <a:solidFill>
                <a:srgbClr val="343A43"/>
              </a:solidFill>
            </a:ln>
          </p:spPr>
        </p:cxnSp>
        <p:cxnSp>
          <p:nvCxnSpPr>
            <p:cNvPr id="50" name="Connector 49"/>
            <p:cNvCxnSpPr/>
            <p:nvPr/>
          </p:nvCxnSpPr>
          <p:spPr>
            <a:xfrm>
              <a:off x="9101709" y="2377440"/>
              <a:ext cx="0" cy="370332"/>
            </a:xfrm>
            <a:prstGeom prst="line">
              <a:avLst/>
            </a:prstGeom>
            <a:ln w="12700">
              <a:solidFill>
                <a:srgbClr val="343A43"/>
              </a:solidFill>
            </a:ln>
          </p:spPr>
        </p:cxnSp>
        <p:sp>
          <p:nvSpPr>
            <p:cNvPr id="51" name="Wheel"/>
            <p:cNvSpPr/>
            <p:nvPr/>
          </p:nvSpPr>
          <p:spPr>
            <a:xfrm>
              <a:off x="8439912" y="2734056"/>
              <a:ext cx="192024" cy="192024"/>
            </a:xfrm>
            <a:prstGeom prst="ellipse">
              <a:avLst/>
            </a:prstGeom>
            <a:solidFill>
              <a:srgbClr val="1B1D21"/>
            </a:solidFill>
            <a:ln w="19050">
              <a:solidFill>
                <a:srgbClr val="9AA0A6"/>
              </a:solidFill>
            </a:ln>
          </p:spPr>
          <p:txBody>
            <a:bodyPr rtlCol="0" anchor="ctr"/>
            <a:lstStyle/>
            <a:p>
              <a:pPr algn="ctr"/>
              <a:endParaRPr/>
            </a:p>
          </p:txBody>
        </p:sp>
        <p:sp>
          <p:nvSpPr>
            <p:cNvPr id="52" name="Hub"/>
            <p:cNvSpPr/>
            <p:nvPr/>
          </p:nvSpPr>
          <p:spPr>
            <a:xfrm>
              <a:off x="8509041" y="2803185"/>
              <a:ext cx="53767" cy="53767"/>
            </a:xfrm>
            <a:prstGeom prst="ellipse">
              <a:avLst/>
            </a:prstGeom>
            <a:solidFill>
              <a:srgbClr val="9AA0A6"/>
            </a:solidFill>
            <a:ln>
              <a:noFill/>
            </a:ln>
          </p:spPr>
          <p:txBody>
            <a:bodyPr rtlCol="0" anchor="ctr"/>
            <a:lstStyle/>
            <a:p>
              <a:pPr algn="ctr"/>
              <a:endParaRPr/>
            </a:p>
          </p:txBody>
        </p:sp>
        <p:sp>
          <p:nvSpPr>
            <p:cNvPr id="53" name="Wheel"/>
            <p:cNvSpPr/>
            <p:nvPr/>
          </p:nvSpPr>
          <p:spPr>
            <a:xfrm>
              <a:off x="9057132" y="2734056"/>
              <a:ext cx="192024" cy="192024"/>
            </a:xfrm>
            <a:prstGeom prst="ellipse">
              <a:avLst/>
            </a:prstGeom>
            <a:solidFill>
              <a:srgbClr val="1B1D21"/>
            </a:solidFill>
            <a:ln w="19050">
              <a:solidFill>
                <a:srgbClr val="9AA0A6"/>
              </a:solidFill>
            </a:ln>
          </p:spPr>
          <p:txBody>
            <a:bodyPr rtlCol="0" anchor="ctr"/>
            <a:lstStyle/>
            <a:p>
              <a:pPr algn="ctr"/>
              <a:endParaRPr/>
            </a:p>
          </p:txBody>
        </p:sp>
        <p:sp>
          <p:nvSpPr>
            <p:cNvPr id="54" name="Hub"/>
            <p:cNvSpPr/>
            <p:nvPr/>
          </p:nvSpPr>
          <p:spPr>
            <a:xfrm>
              <a:off x="9126261" y="2803185"/>
              <a:ext cx="53767" cy="53767"/>
            </a:xfrm>
            <a:prstGeom prst="ellipse">
              <a:avLst/>
            </a:prstGeom>
            <a:solidFill>
              <a:srgbClr val="9AA0A6"/>
            </a:solidFill>
            <a:ln>
              <a:noFill/>
            </a:ln>
          </p:spPr>
          <p:txBody>
            <a:bodyPr rtlCol="0" anchor="ctr"/>
            <a:lstStyle/>
            <a:p>
              <a:pPr algn="ctr"/>
              <a:endParaRPr/>
            </a:p>
          </p:txBody>
        </p:sp>
        <p:sp>
          <p:nvSpPr>
            <p:cNvPr id="55" name="Wagon"/>
            <p:cNvSpPr/>
            <p:nvPr/>
          </p:nvSpPr>
          <p:spPr>
            <a:xfrm>
              <a:off x="9413748" y="2350008"/>
              <a:ext cx="1028700" cy="425196"/>
            </a:xfrm>
            <a:prstGeom prst="rect">
              <a:avLst/>
            </a:prstGeom>
            <a:solidFill>
              <a:srgbClr val="6C7480"/>
            </a:solidFill>
            <a:ln w="12700">
              <a:solidFill>
                <a:srgbClr val="9AA0A6"/>
              </a:solidFill>
            </a:ln>
          </p:spPr>
          <p:txBody>
            <a:bodyPr rtlCol="0" anchor="ctr"/>
            <a:lstStyle/>
            <a:p>
              <a:pPr algn="ctr"/>
              <a:endParaRPr/>
            </a:p>
          </p:txBody>
        </p:sp>
        <p:cxnSp>
          <p:nvCxnSpPr>
            <p:cNvPr id="56" name="Connector 55"/>
            <p:cNvCxnSpPr/>
            <p:nvPr/>
          </p:nvCxnSpPr>
          <p:spPr>
            <a:xfrm>
              <a:off x="9670923" y="2377440"/>
              <a:ext cx="0" cy="370332"/>
            </a:xfrm>
            <a:prstGeom prst="line">
              <a:avLst/>
            </a:prstGeom>
            <a:ln w="12700">
              <a:solidFill>
                <a:srgbClr val="343A43"/>
              </a:solidFill>
            </a:ln>
          </p:spPr>
        </p:cxnSp>
        <p:cxnSp>
          <p:nvCxnSpPr>
            <p:cNvPr id="57" name="Connector 56"/>
            <p:cNvCxnSpPr/>
            <p:nvPr/>
          </p:nvCxnSpPr>
          <p:spPr>
            <a:xfrm>
              <a:off x="9928098" y="2377440"/>
              <a:ext cx="0" cy="370332"/>
            </a:xfrm>
            <a:prstGeom prst="line">
              <a:avLst/>
            </a:prstGeom>
            <a:ln w="12700">
              <a:solidFill>
                <a:srgbClr val="343A43"/>
              </a:solidFill>
            </a:ln>
          </p:spPr>
        </p:cxnSp>
        <p:cxnSp>
          <p:nvCxnSpPr>
            <p:cNvPr id="58" name="Connector 57"/>
            <p:cNvCxnSpPr/>
            <p:nvPr/>
          </p:nvCxnSpPr>
          <p:spPr>
            <a:xfrm>
              <a:off x="10185273" y="2377440"/>
              <a:ext cx="0" cy="370332"/>
            </a:xfrm>
            <a:prstGeom prst="line">
              <a:avLst/>
            </a:prstGeom>
            <a:ln w="12700">
              <a:solidFill>
                <a:srgbClr val="343A43"/>
              </a:solidFill>
            </a:ln>
          </p:spPr>
        </p:cxnSp>
        <p:sp>
          <p:nvSpPr>
            <p:cNvPr id="59" name="Wheel"/>
            <p:cNvSpPr/>
            <p:nvPr/>
          </p:nvSpPr>
          <p:spPr>
            <a:xfrm>
              <a:off x="9523476" y="2734056"/>
              <a:ext cx="192024" cy="192024"/>
            </a:xfrm>
            <a:prstGeom prst="ellipse">
              <a:avLst/>
            </a:prstGeom>
            <a:solidFill>
              <a:srgbClr val="1B1D21"/>
            </a:solidFill>
            <a:ln w="19050">
              <a:solidFill>
                <a:srgbClr val="9AA0A6"/>
              </a:solidFill>
            </a:ln>
          </p:spPr>
          <p:txBody>
            <a:bodyPr rtlCol="0" anchor="ctr"/>
            <a:lstStyle/>
            <a:p>
              <a:pPr algn="ctr"/>
              <a:endParaRPr/>
            </a:p>
          </p:txBody>
        </p:sp>
        <p:sp>
          <p:nvSpPr>
            <p:cNvPr id="60" name="Hub"/>
            <p:cNvSpPr/>
            <p:nvPr/>
          </p:nvSpPr>
          <p:spPr>
            <a:xfrm>
              <a:off x="9592605" y="2803185"/>
              <a:ext cx="53767" cy="53767"/>
            </a:xfrm>
            <a:prstGeom prst="ellipse">
              <a:avLst/>
            </a:prstGeom>
            <a:solidFill>
              <a:srgbClr val="9AA0A6"/>
            </a:solidFill>
            <a:ln>
              <a:noFill/>
            </a:ln>
          </p:spPr>
          <p:txBody>
            <a:bodyPr rtlCol="0" anchor="ctr"/>
            <a:lstStyle/>
            <a:p>
              <a:pPr algn="ctr"/>
              <a:endParaRPr/>
            </a:p>
          </p:txBody>
        </p:sp>
        <p:sp>
          <p:nvSpPr>
            <p:cNvPr id="61" name="Wheel"/>
            <p:cNvSpPr/>
            <p:nvPr/>
          </p:nvSpPr>
          <p:spPr>
            <a:xfrm>
              <a:off x="10140696" y="2734056"/>
              <a:ext cx="192024" cy="192024"/>
            </a:xfrm>
            <a:prstGeom prst="ellipse">
              <a:avLst/>
            </a:prstGeom>
            <a:solidFill>
              <a:srgbClr val="1B1D21"/>
            </a:solidFill>
            <a:ln w="19050">
              <a:solidFill>
                <a:srgbClr val="9AA0A6"/>
              </a:solidFill>
            </a:ln>
          </p:spPr>
          <p:txBody>
            <a:bodyPr rtlCol="0" anchor="ctr"/>
            <a:lstStyle/>
            <a:p>
              <a:pPr algn="ctr"/>
              <a:endParaRPr/>
            </a:p>
          </p:txBody>
        </p:sp>
        <p:sp>
          <p:nvSpPr>
            <p:cNvPr id="62" name="Hub"/>
            <p:cNvSpPr/>
            <p:nvPr/>
          </p:nvSpPr>
          <p:spPr>
            <a:xfrm>
              <a:off x="10209825" y="2803185"/>
              <a:ext cx="53767" cy="53767"/>
            </a:xfrm>
            <a:prstGeom prst="ellipse">
              <a:avLst/>
            </a:prstGeom>
            <a:solidFill>
              <a:srgbClr val="9AA0A6"/>
            </a:solidFill>
            <a:ln>
              <a:noFill/>
            </a:ln>
          </p:spPr>
          <p:txBody>
            <a:bodyPr rtlCol="0" anchor="ctr"/>
            <a:lstStyle/>
            <a:p>
              <a:pPr algn="ctr"/>
              <a:endParaRPr/>
            </a:p>
          </p:txBody>
        </p:sp>
        <p:sp>
          <p:nvSpPr>
            <p:cNvPr id="63" name="Ground"/>
            <p:cNvSpPr/>
            <p:nvPr/>
          </p:nvSpPr>
          <p:spPr>
            <a:xfrm>
              <a:off x="6400800" y="2944368"/>
              <a:ext cx="4114800" cy="45720"/>
            </a:xfrm>
            <a:prstGeom prst="rect">
              <a:avLst/>
            </a:prstGeom>
            <a:solidFill>
              <a:srgbClr val="4A515B"/>
            </a:solidFill>
            <a:ln>
              <a:noFill/>
            </a:ln>
          </p:spPr>
          <p:txBody>
            <a:bodyPr rtlCol="0" anchor="ctr"/>
            <a:lstStyle/>
            <a:p>
              <a:pPr algn="ctr"/>
              <a:endParaRPr/>
            </a:p>
          </p:txBody>
        </p:sp>
        <p:sp>
          <p:nvSpPr>
            <p:cNvPr id="64" name="TextBox 63"/>
            <p:cNvSpPr txBox="1"/>
            <p:nvPr/>
          </p:nvSpPr>
          <p:spPr>
            <a:xfrm>
              <a:off x="6492240" y="3063240"/>
              <a:ext cx="2743200" cy="365760"/>
            </a:xfrm>
            <a:prstGeom prst="rect">
              <a:avLst/>
            </a:prstGeom>
            <a:noFill/>
          </p:spPr>
          <p:txBody>
            <a:bodyPr wrap="square" lIns="45720" tIns="27432" rIns="45720" bIns="27432" anchor="ctr">
              <a:noAutofit/>
            </a:bodyPr>
            <a:lstStyle/>
            <a:p>
              <a:pPr algn="l">
                <a:spcBef>
                  <a:spcPts val="0"/>
                </a:spcBef>
                <a:spcAft>
                  <a:spcPts val="0"/>
                </a:spcAft>
              </a:pPr>
              <a:r>
                <a:rPr lang="en-GB" sz="1800" b="1" i="0">
                  <a:solidFill>
                    <a:srgbClr val="F2F2F2"/>
                  </a:solidFill>
                  <a:latin typeface="Arial"/>
                </a:rPr>
                <a:t>Steam train</a:t>
              </a:r>
            </a:p>
          </p:txBody>
        </p:sp>
        <p:sp>
          <p:nvSpPr>
            <p:cNvPr id="65" name="Coin"/>
            <p:cNvSpPr/>
            <p:nvPr/>
          </p:nvSpPr>
          <p:spPr>
            <a:xfrm>
              <a:off x="10607040" y="2770632"/>
              <a:ext cx="777240" cy="155448"/>
            </a:xfrm>
            <a:prstGeom prst="roundRect">
              <a:avLst>
                <a:gd name="adj" fmla="val 50000"/>
              </a:avLst>
            </a:prstGeom>
            <a:solidFill>
              <a:srgbClr val="F2C14E"/>
            </a:solidFill>
            <a:ln w="12700">
              <a:solidFill>
                <a:srgbClr val="101418"/>
              </a:solidFill>
            </a:ln>
          </p:spPr>
          <p:txBody>
            <a:bodyPr rtlCol="0" anchor="ctr"/>
            <a:lstStyle/>
            <a:p>
              <a:pPr algn="ctr"/>
              <a:endParaRPr/>
            </a:p>
          </p:txBody>
        </p:sp>
        <p:sp>
          <p:nvSpPr>
            <p:cNvPr id="66" name="Coin"/>
            <p:cNvSpPr/>
            <p:nvPr/>
          </p:nvSpPr>
          <p:spPr>
            <a:xfrm>
              <a:off x="10607040" y="2615184"/>
              <a:ext cx="777240" cy="155448"/>
            </a:xfrm>
            <a:prstGeom prst="roundRect">
              <a:avLst>
                <a:gd name="adj" fmla="val 50000"/>
              </a:avLst>
            </a:prstGeom>
            <a:solidFill>
              <a:srgbClr val="F2C14E"/>
            </a:solidFill>
            <a:ln w="12700">
              <a:solidFill>
                <a:srgbClr val="101418"/>
              </a:solidFill>
            </a:ln>
          </p:spPr>
          <p:txBody>
            <a:bodyPr rtlCol="0" anchor="ctr"/>
            <a:lstStyle/>
            <a:p>
              <a:pPr algn="ctr"/>
              <a:endParaRPr/>
            </a:p>
          </p:txBody>
        </p:sp>
        <p:cxnSp>
          <p:nvCxnSpPr>
            <p:cNvPr id="67" name="Divider"/>
            <p:cNvCxnSpPr/>
            <p:nvPr/>
          </p:nvCxnSpPr>
          <p:spPr>
            <a:xfrm>
              <a:off x="6400800" y="3657600"/>
              <a:ext cx="5029200" cy="0"/>
            </a:xfrm>
            <a:prstGeom prst="line">
              <a:avLst/>
            </a:prstGeom>
            <a:ln w="19050">
              <a:solidFill>
                <a:srgbClr val="4A515B"/>
              </a:solidFill>
            </a:ln>
          </p:spPr>
        </p:cxnSp>
        <p:sp>
          <p:nvSpPr>
            <p:cNvPr id="68" name="Electric car"/>
            <p:cNvSpPr/>
            <p:nvPr/>
          </p:nvSpPr>
          <p:spPr>
            <a:xfrm>
              <a:off x="6492240" y="3931920"/>
              <a:ext cx="1645920" cy="562356"/>
            </a:xfrm>
            <a:prstGeom prst="roundRect">
              <a:avLst>
                <a:gd name="adj" fmla="val 30487"/>
              </a:avLst>
            </a:prstGeom>
            <a:solidFill>
              <a:srgbClr val="6CA0DC"/>
            </a:solidFill>
            <a:ln>
              <a:noFill/>
            </a:ln>
          </p:spPr>
          <p:txBody>
            <a:bodyPr rtlCol="0" anchor="ctr"/>
            <a:lstStyle/>
            <a:p>
              <a:pPr algn="ctr"/>
              <a:endParaRPr/>
            </a:p>
          </p:txBody>
        </p:sp>
        <p:sp>
          <p:nvSpPr>
            <p:cNvPr id="69" name="Windows"/>
            <p:cNvSpPr/>
            <p:nvPr/>
          </p:nvSpPr>
          <p:spPr>
            <a:xfrm>
              <a:off x="6629400" y="4055364"/>
              <a:ext cx="1303020" cy="178308"/>
            </a:xfrm>
            <a:prstGeom prst="rect">
              <a:avLst/>
            </a:prstGeom>
            <a:solidFill>
              <a:srgbClr val="1B1D21"/>
            </a:solidFill>
            <a:ln>
              <a:noFill/>
            </a:ln>
          </p:spPr>
          <p:txBody>
            <a:bodyPr rtlCol="0" anchor="ctr"/>
            <a:lstStyle/>
            <a:p>
              <a:pPr algn="ctr"/>
              <a:endParaRPr/>
            </a:p>
          </p:txBody>
        </p:sp>
        <p:sp>
          <p:nvSpPr>
            <p:cNvPr id="70" name="Electric car"/>
            <p:cNvSpPr/>
            <p:nvPr/>
          </p:nvSpPr>
          <p:spPr>
            <a:xfrm>
              <a:off x="8193024" y="3931920"/>
              <a:ext cx="1645920" cy="562356"/>
            </a:xfrm>
            <a:prstGeom prst="roundRect">
              <a:avLst>
                <a:gd name="adj" fmla="val 30487"/>
              </a:avLst>
            </a:prstGeom>
            <a:solidFill>
              <a:srgbClr val="6CA0DC"/>
            </a:solidFill>
            <a:ln>
              <a:noFill/>
            </a:ln>
          </p:spPr>
          <p:txBody>
            <a:bodyPr rtlCol="0" anchor="ctr"/>
            <a:lstStyle/>
            <a:p>
              <a:pPr algn="ctr"/>
              <a:endParaRPr/>
            </a:p>
          </p:txBody>
        </p:sp>
        <p:sp>
          <p:nvSpPr>
            <p:cNvPr id="71" name="Windows"/>
            <p:cNvSpPr/>
            <p:nvPr/>
          </p:nvSpPr>
          <p:spPr>
            <a:xfrm>
              <a:off x="8330184" y="4055364"/>
              <a:ext cx="1303020" cy="178308"/>
            </a:xfrm>
            <a:prstGeom prst="rect">
              <a:avLst/>
            </a:prstGeom>
            <a:solidFill>
              <a:srgbClr val="1B1D21"/>
            </a:solidFill>
            <a:ln>
              <a:noFill/>
            </a:ln>
          </p:spPr>
          <p:txBody>
            <a:bodyPr rtlCol="0" anchor="ctr"/>
            <a:lstStyle/>
            <a:p>
              <a:pPr algn="ctr"/>
              <a:endParaRPr/>
            </a:p>
          </p:txBody>
        </p:sp>
        <p:sp>
          <p:nvSpPr>
            <p:cNvPr id="72" name="Monorail beam"/>
            <p:cNvSpPr/>
            <p:nvPr/>
          </p:nvSpPr>
          <p:spPr>
            <a:xfrm>
              <a:off x="6423660" y="4549140"/>
              <a:ext cx="3483864" cy="96012"/>
            </a:xfrm>
            <a:prstGeom prst="rect">
              <a:avLst/>
            </a:prstGeom>
            <a:solidFill>
              <a:srgbClr val="9AA0A6"/>
            </a:solidFill>
            <a:ln>
              <a:noFill/>
            </a:ln>
          </p:spPr>
          <p:txBody>
            <a:bodyPr rtlCol="0" anchor="ctr"/>
            <a:lstStyle/>
            <a:p>
              <a:pPr algn="ctr"/>
              <a:endParaRPr/>
            </a:p>
          </p:txBody>
        </p:sp>
        <p:sp>
          <p:nvSpPr>
            <p:cNvPr id="73" name="Pylon"/>
            <p:cNvSpPr/>
            <p:nvPr/>
          </p:nvSpPr>
          <p:spPr>
            <a:xfrm>
              <a:off x="6858000" y="4645152"/>
              <a:ext cx="82296" cy="150876"/>
            </a:xfrm>
            <a:prstGeom prst="rect">
              <a:avLst/>
            </a:prstGeom>
            <a:solidFill>
              <a:srgbClr val="4A515B"/>
            </a:solidFill>
            <a:ln>
              <a:noFill/>
            </a:ln>
          </p:spPr>
          <p:txBody>
            <a:bodyPr rtlCol="0" anchor="ctr"/>
            <a:lstStyle/>
            <a:p>
              <a:pPr algn="ctr"/>
              <a:endParaRPr/>
            </a:p>
          </p:txBody>
        </p:sp>
        <p:sp>
          <p:nvSpPr>
            <p:cNvPr id="74" name="Pylon"/>
            <p:cNvSpPr/>
            <p:nvPr/>
          </p:nvSpPr>
          <p:spPr>
            <a:xfrm>
              <a:off x="9381744" y="4645152"/>
              <a:ext cx="82296" cy="150876"/>
            </a:xfrm>
            <a:prstGeom prst="rect">
              <a:avLst/>
            </a:prstGeom>
            <a:solidFill>
              <a:srgbClr val="4A515B"/>
            </a:solidFill>
            <a:ln>
              <a:noFill/>
            </a:ln>
          </p:spPr>
          <p:txBody>
            <a:bodyPr rtlCol="0" anchor="ctr"/>
            <a:lstStyle/>
            <a:p>
              <a:pPr algn="ctr"/>
              <a:endParaRPr/>
            </a:p>
          </p:txBody>
        </p:sp>
        <p:sp>
          <p:nvSpPr>
            <p:cNvPr id="75" name="TextBox 74"/>
            <p:cNvSpPr txBox="1"/>
            <p:nvPr/>
          </p:nvSpPr>
          <p:spPr>
            <a:xfrm>
              <a:off x="6492240" y="4937760"/>
              <a:ext cx="2743200" cy="365760"/>
            </a:xfrm>
            <a:prstGeom prst="rect">
              <a:avLst/>
            </a:prstGeom>
            <a:noFill/>
          </p:spPr>
          <p:txBody>
            <a:bodyPr wrap="square" lIns="45720" tIns="27432" rIns="45720" bIns="27432" anchor="ctr">
              <a:noAutofit/>
            </a:bodyPr>
            <a:lstStyle/>
            <a:p>
              <a:pPr algn="l">
                <a:spcBef>
                  <a:spcPts val="0"/>
                </a:spcBef>
                <a:spcAft>
                  <a:spcPts val="0"/>
                </a:spcAft>
              </a:pPr>
              <a:r>
                <a:rPr lang="en-GB" sz="1800" b="1" i="0">
                  <a:solidFill>
                    <a:srgbClr val="F2F2F2"/>
                  </a:solidFill>
                  <a:latin typeface="Arial"/>
                </a:rPr>
                <a:t>Electric train</a:t>
              </a:r>
            </a:p>
          </p:txBody>
        </p:sp>
        <p:sp>
          <p:nvSpPr>
            <p:cNvPr id="76" name="Coin"/>
            <p:cNvSpPr/>
            <p:nvPr/>
          </p:nvSpPr>
          <p:spPr>
            <a:xfrm>
              <a:off x="10607040" y="4553712"/>
              <a:ext cx="777240" cy="155448"/>
            </a:xfrm>
            <a:prstGeom prst="roundRect">
              <a:avLst>
                <a:gd name="adj" fmla="val 50000"/>
              </a:avLst>
            </a:prstGeom>
            <a:solidFill>
              <a:srgbClr val="F2C14E"/>
            </a:solidFill>
            <a:ln w="12700">
              <a:solidFill>
                <a:srgbClr val="101418"/>
              </a:solidFill>
            </a:ln>
          </p:spPr>
          <p:txBody>
            <a:bodyPr rtlCol="0" anchor="ctr"/>
            <a:lstStyle/>
            <a:p>
              <a:pPr algn="ctr"/>
              <a:endParaRPr/>
            </a:p>
          </p:txBody>
        </p:sp>
        <p:sp>
          <p:nvSpPr>
            <p:cNvPr id="77" name="Coin"/>
            <p:cNvSpPr/>
            <p:nvPr/>
          </p:nvSpPr>
          <p:spPr>
            <a:xfrm>
              <a:off x="10607040" y="4398264"/>
              <a:ext cx="777240" cy="155448"/>
            </a:xfrm>
            <a:prstGeom prst="roundRect">
              <a:avLst>
                <a:gd name="adj" fmla="val 50000"/>
              </a:avLst>
            </a:prstGeom>
            <a:solidFill>
              <a:srgbClr val="F2C14E"/>
            </a:solidFill>
            <a:ln w="12700">
              <a:solidFill>
                <a:srgbClr val="101418"/>
              </a:solidFill>
            </a:ln>
          </p:spPr>
          <p:txBody>
            <a:bodyPr rtlCol="0" anchor="ctr"/>
            <a:lstStyle/>
            <a:p>
              <a:pPr algn="ctr"/>
              <a:endParaRPr/>
            </a:p>
          </p:txBody>
        </p:sp>
        <p:sp>
          <p:nvSpPr>
            <p:cNvPr id="78" name="Coin"/>
            <p:cNvSpPr/>
            <p:nvPr/>
          </p:nvSpPr>
          <p:spPr>
            <a:xfrm>
              <a:off x="10607040" y="4242816"/>
              <a:ext cx="777240" cy="155448"/>
            </a:xfrm>
            <a:prstGeom prst="roundRect">
              <a:avLst>
                <a:gd name="adj" fmla="val 50000"/>
              </a:avLst>
            </a:prstGeom>
            <a:solidFill>
              <a:srgbClr val="F2C14E"/>
            </a:solidFill>
            <a:ln w="12700">
              <a:solidFill>
                <a:srgbClr val="101418"/>
              </a:solidFill>
            </a:ln>
          </p:spPr>
          <p:txBody>
            <a:bodyPr rtlCol="0" anchor="ctr"/>
            <a:lstStyle/>
            <a:p>
              <a:pPr algn="ctr"/>
              <a:endParaRPr/>
            </a:p>
          </p:txBody>
        </p:sp>
        <p:sp>
          <p:nvSpPr>
            <p:cNvPr id="79" name="Coin"/>
            <p:cNvSpPr/>
            <p:nvPr/>
          </p:nvSpPr>
          <p:spPr>
            <a:xfrm>
              <a:off x="10607040" y="4087368"/>
              <a:ext cx="777240" cy="155448"/>
            </a:xfrm>
            <a:prstGeom prst="roundRect">
              <a:avLst>
                <a:gd name="adj" fmla="val 50000"/>
              </a:avLst>
            </a:prstGeom>
            <a:solidFill>
              <a:srgbClr val="F2C14E"/>
            </a:solidFill>
            <a:ln w="12700">
              <a:solidFill>
                <a:srgbClr val="101418"/>
              </a:solidFill>
            </a:ln>
          </p:spPr>
          <p:txBody>
            <a:bodyPr rtlCol="0" anchor="ctr"/>
            <a:lstStyle/>
            <a:p>
              <a:pPr algn="ctr"/>
              <a:endParaRPr/>
            </a:p>
          </p:txBody>
        </p:sp>
        <p:sp>
          <p:nvSpPr>
            <p:cNvPr id="80" name="Coin"/>
            <p:cNvSpPr/>
            <p:nvPr/>
          </p:nvSpPr>
          <p:spPr>
            <a:xfrm>
              <a:off x="10607040" y="3931920"/>
              <a:ext cx="777240" cy="155448"/>
            </a:xfrm>
            <a:prstGeom prst="roundRect">
              <a:avLst>
                <a:gd name="adj" fmla="val 50000"/>
              </a:avLst>
            </a:prstGeom>
            <a:solidFill>
              <a:srgbClr val="F2C14E"/>
            </a:solidFill>
            <a:ln w="12700">
              <a:solidFill>
                <a:srgbClr val="101418"/>
              </a:solidFill>
            </a:ln>
          </p:spPr>
          <p:txBody>
            <a:bodyPr rtlCol="0" anchor="ctr"/>
            <a:lstStyle/>
            <a:p>
              <a:pPr algn="ctr"/>
              <a:endParaRPr/>
            </a:p>
          </p:txBody>
        </p:sp>
      </p:grpSp>
      <p:grpSp>
        <p:nvGrpSpPr>
          <p:cNvPr id="81" name="Caption" descr="Caption: Track is made from iron plates and rods. Trains cost less than the game's own."/>
          <p:cNvGrpSpPr/>
          <p:nvPr/>
        </p:nvGrpSpPr>
        <p:grpSpPr>
          <a:xfrm>
            <a:off x="548640" y="5669280"/>
            <a:ext cx="11091672" cy="822960"/>
            <a:chOff x="548640" y="5669280"/>
            <a:chExt cx="11091672" cy="822960"/>
          </a:xfrm>
        </p:grpSpPr>
        <p:sp>
          <p:nvSpPr>
            <p:cNvPr id="82"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83"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84"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Track is made from iron plates and rods. Trains cost less than the game's own.</a:t>
              </a:r>
            </a:p>
          </p:txBody>
        </p:sp>
      </p:grpSp>
      <p:sp>
        <p:nvSpPr>
          <p:cNvPr id="85"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4</a:t>
            </a:r>
          </a:p>
        </p:txBody>
      </p:sp>
    </p:spTree>
    <p:extLst>
      <p:ext uri="{BB962C8B-B14F-4D97-AF65-F5344CB8AC3E}">
        <p14:creationId xmlns:p14="http://schemas.microsoft.com/office/powerpoint/2010/main" val="1726973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600"/>
                                  </p:stCondLst>
                                  <p:childTnLst>
                                    <p:set>
                                      <p:cBhvr>
                                        <p:cTn id="12" dur="1" fill="hold">
                                          <p:stCondLst>
                                            <p:cond delay="0"/>
                                          </p:stCondLst>
                                        </p:cTn>
                                        <p:tgtEl>
                                          <p:spTgt spid="81"/>
                                        </p:tgtEl>
                                        <p:attrNameLst>
                                          <p:attrName>style.visibility</p:attrName>
                                        </p:attrNameLst>
                                      </p:cBhvr>
                                      <p:to>
                                        <p:strVal val="visible"/>
                                      </p:to>
                                    </p:set>
                                    <p:animEffect transition="in" filter="fade">
                                      <p:cBhvr>
                                        <p:cTn id="13"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Long pieces, few clicks</a:t>
            </a:r>
          </a:p>
        </p:txBody>
      </p:sp>
      <p:sp>
        <p:nvSpPr>
          <p:cNvPr id="3" name="Status chip" descr="Status tag: Agreed"/>
          <p:cNvSpPr/>
          <p:nvPr/>
        </p:nvSpPr>
        <p:spPr>
          <a:xfrm>
            <a:off x="10180015" y="457200"/>
            <a:ext cx="1463040" cy="365760"/>
          </a:xfrm>
          <a:prstGeom prst="roundRect">
            <a:avLst>
              <a:gd name="adj" fmla="val 30000"/>
            </a:avLst>
          </a:prstGeom>
          <a:solidFill>
            <a:srgbClr val="3FB950"/>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one long track piece" descr="One long curved piece of track in a single placement."/>
          <p:cNvGrpSpPr/>
          <p:nvPr/>
        </p:nvGrpSpPr>
        <p:grpSpPr>
          <a:xfrm>
            <a:off x="548640" y="1371600"/>
            <a:ext cx="5394960" cy="4069080"/>
            <a:chOff x="548640" y="1371600"/>
            <a:chExt cx="5394960" cy="4069080"/>
          </a:xfrm>
        </p:grpSpPr>
        <p:sp>
          <p:nvSpPr>
            <p:cNvPr id="5" name="Panel"/>
            <p:cNvSpPr/>
            <p:nvPr/>
          </p:nvSpPr>
          <p:spPr>
            <a:xfrm>
              <a:off x="548640" y="1371600"/>
              <a:ext cx="5394960" cy="4069080"/>
            </a:xfrm>
            <a:prstGeom prst="roundRect">
              <a:avLst>
                <a:gd name="adj" fmla="val 1797"/>
              </a:avLst>
            </a:prstGeom>
            <a:solidFill>
              <a:srgbClr val="2B2F36"/>
            </a:solidFill>
            <a:ln>
              <a:noFill/>
            </a:ln>
          </p:spPr>
          <p:txBody>
            <a:bodyPr rtlCol="0" anchor="ctr"/>
            <a:lstStyle/>
            <a:p>
              <a:pPr algn="ctr"/>
              <a:endParaRPr/>
            </a:p>
          </p:txBody>
        </p:sp>
        <p:sp>
          <p:nvSpPr>
            <p:cNvPr id="6" name="Sleeper"/>
            <p:cNvSpPr/>
            <p:nvPr/>
          </p:nvSpPr>
          <p:spPr>
            <a:xfrm rot="17292000">
              <a:off x="1810627" y="4365796"/>
              <a:ext cx="82296" cy="585216"/>
            </a:xfrm>
            <a:prstGeom prst="rect">
              <a:avLst/>
            </a:prstGeom>
            <a:solidFill>
              <a:srgbClr val="6B5B4B"/>
            </a:solidFill>
            <a:ln>
              <a:noFill/>
            </a:ln>
          </p:spPr>
          <p:txBody>
            <a:bodyPr rtlCol="0" anchor="ctr"/>
            <a:lstStyle/>
            <a:p>
              <a:pPr algn="ctr"/>
              <a:endParaRPr/>
            </a:p>
          </p:txBody>
        </p:sp>
        <p:sp>
          <p:nvSpPr>
            <p:cNvPr id="7" name="Sleeper"/>
            <p:cNvSpPr/>
            <p:nvPr/>
          </p:nvSpPr>
          <p:spPr>
            <a:xfrm rot="17556000">
              <a:off x="1920747" y="4069694"/>
              <a:ext cx="82296" cy="585216"/>
            </a:xfrm>
            <a:prstGeom prst="rect">
              <a:avLst/>
            </a:prstGeom>
            <a:solidFill>
              <a:srgbClr val="6B5B4B"/>
            </a:solidFill>
            <a:ln>
              <a:noFill/>
            </a:ln>
          </p:spPr>
          <p:txBody>
            <a:bodyPr rtlCol="0" anchor="ctr"/>
            <a:lstStyle/>
            <a:p>
              <a:pPr algn="ctr"/>
              <a:endParaRPr/>
            </a:p>
          </p:txBody>
        </p:sp>
        <p:sp>
          <p:nvSpPr>
            <p:cNvPr id="8" name="Sleeper"/>
            <p:cNvSpPr/>
            <p:nvPr/>
          </p:nvSpPr>
          <p:spPr>
            <a:xfrm rot="17688000">
              <a:off x="2053258" y="3782912"/>
              <a:ext cx="82296" cy="585216"/>
            </a:xfrm>
            <a:prstGeom prst="rect">
              <a:avLst/>
            </a:prstGeom>
            <a:solidFill>
              <a:srgbClr val="6B5B4B"/>
            </a:solidFill>
            <a:ln>
              <a:noFill/>
            </a:ln>
          </p:spPr>
          <p:txBody>
            <a:bodyPr rtlCol="0" anchor="ctr"/>
            <a:lstStyle/>
            <a:p>
              <a:pPr algn="ctr"/>
              <a:endParaRPr/>
            </a:p>
          </p:txBody>
        </p:sp>
        <p:sp>
          <p:nvSpPr>
            <p:cNvPr id="9" name="Sleeper"/>
            <p:cNvSpPr/>
            <p:nvPr/>
          </p:nvSpPr>
          <p:spPr>
            <a:xfrm rot="17952000">
              <a:off x="2207381" y="3507142"/>
              <a:ext cx="82296" cy="585216"/>
            </a:xfrm>
            <a:prstGeom prst="rect">
              <a:avLst/>
            </a:prstGeom>
            <a:solidFill>
              <a:srgbClr val="6B5B4B"/>
            </a:solidFill>
            <a:ln>
              <a:noFill/>
            </a:ln>
          </p:spPr>
          <p:txBody>
            <a:bodyPr rtlCol="0" anchor="ctr"/>
            <a:lstStyle/>
            <a:p>
              <a:pPr algn="ctr"/>
              <a:endParaRPr/>
            </a:p>
          </p:txBody>
        </p:sp>
        <p:sp>
          <p:nvSpPr>
            <p:cNvPr id="10" name="Sleeper"/>
            <p:cNvSpPr/>
            <p:nvPr/>
          </p:nvSpPr>
          <p:spPr>
            <a:xfrm rot="18216000">
              <a:off x="2382207" y="3244008"/>
              <a:ext cx="82296" cy="585216"/>
            </a:xfrm>
            <a:prstGeom prst="rect">
              <a:avLst/>
            </a:prstGeom>
            <a:solidFill>
              <a:srgbClr val="6B5B4B"/>
            </a:solidFill>
            <a:ln>
              <a:noFill/>
            </a:ln>
          </p:spPr>
          <p:txBody>
            <a:bodyPr rtlCol="0" anchor="ctr"/>
            <a:lstStyle/>
            <a:p>
              <a:pPr algn="ctr"/>
              <a:endParaRPr/>
            </a:p>
          </p:txBody>
        </p:sp>
        <p:sp>
          <p:nvSpPr>
            <p:cNvPr id="11" name="Sleeper"/>
            <p:cNvSpPr/>
            <p:nvPr/>
          </p:nvSpPr>
          <p:spPr>
            <a:xfrm rot="18612000">
              <a:off x="2576704" y="2995063"/>
              <a:ext cx="82296" cy="585216"/>
            </a:xfrm>
            <a:prstGeom prst="rect">
              <a:avLst/>
            </a:prstGeom>
            <a:solidFill>
              <a:srgbClr val="6B5B4B"/>
            </a:solidFill>
            <a:ln>
              <a:noFill/>
            </a:ln>
          </p:spPr>
          <p:txBody>
            <a:bodyPr rtlCol="0" anchor="ctr"/>
            <a:lstStyle/>
            <a:p>
              <a:pPr algn="ctr"/>
              <a:endParaRPr/>
            </a:p>
          </p:txBody>
        </p:sp>
        <p:sp>
          <p:nvSpPr>
            <p:cNvPr id="12" name="Sleeper"/>
            <p:cNvSpPr/>
            <p:nvPr/>
          </p:nvSpPr>
          <p:spPr>
            <a:xfrm rot="18744000">
              <a:off x="2789727" y="2761773"/>
              <a:ext cx="82296" cy="585216"/>
            </a:xfrm>
            <a:prstGeom prst="rect">
              <a:avLst/>
            </a:prstGeom>
            <a:solidFill>
              <a:srgbClr val="6B5B4B"/>
            </a:solidFill>
            <a:ln>
              <a:noFill/>
            </a:ln>
          </p:spPr>
          <p:txBody>
            <a:bodyPr rtlCol="0" anchor="ctr"/>
            <a:lstStyle/>
            <a:p>
              <a:pPr algn="ctr"/>
              <a:endParaRPr/>
            </a:p>
          </p:txBody>
        </p:sp>
        <p:sp>
          <p:nvSpPr>
            <p:cNvPr id="13" name="Sleeper"/>
            <p:cNvSpPr/>
            <p:nvPr/>
          </p:nvSpPr>
          <p:spPr>
            <a:xfrm rot="19008000">
              <a:off x="3020020" y="2545513"/>
              <a:ext cx="82296" cy="585216"/>
            </a:xfrm>
            <a:prstGeom prst="rect">
              <a:avLst/>
            </a:prstGeom>
            <a:solidFill>
              <a:srgbClr val="6B5B4B"/>
            </a:solidFill>
            <a:ln>
              <a:noFill/>
            </a:ln>
          </p:spPr>
          <p:txBody>
            <a:bodyPr rtlCol="0" anchor="ctr"/>
            <a:lstStyle/>
            <a:p>
              <a:pPr algn="ctr"/>
              <a:endParaRPr/>
            </a:p>
          </p:txBody>
        </p:sp>
        <p:sp>
          <p:nvSpPr>
            <p:cNvPr id="14" name="Sleeper"/>
            <p:cNvSpPr/>
            <p:nvPr/>
          </p:nvSpPr>
          <p:spPr>
            <a:xfrm rot="19404000">
              <a:off x="3266226" y="2347559"/>
              <a:ext cx="82296" cy="585216"/>
            </a:xfrm>
            <a:prstGeom prst="rect">
              <a:avLst/>
            </a:prstGeom>
            <a:solidFill>
              <a:srgbClr val="6B5B4B"/>
            </a:solidFill>
            <a:ln>
              <a:noFill/>
            </a:ln>
          </p:spPr>
          <p:txBody>
            <a:bodyPr rtlCol="0" anchor="ctr"/>
            <a:lstStyle/>
            <a:p>
              <a:pPr algn="ctr"/>
              <a:endParaRPr/>
            </a:p>
          </p:txBody>
        </p:sp>
        <p:sp>
          <p:nvSpPr>
            <p:cNvPr id="15" name="Sleeper"/>
            <p:cNvSpPr/>
            <p:nvPr/>
          </p:nvSpPr>
          <p:spPr>
            <a:xfrm rot="19536000">
              <a:off x="3526893" y="2169076"/>
              <a:ext cx="82296" cy="585216"/>
            </a:xfrm>
            <a:prstGeom prst="rect">
              <a:avLst/>
            </a:prstGeom>
            <a:solidFill>
              <a:srgbClr val="6B5B4B"/>
            </a:solidFill>
            <a:ln>
              <a:noFill/>
            </a:ln>
          </p:spPr>
          <p:txBody>
            <a:bodyPr rtlCol="0" anchor="ctr"/>
            <a:lstStyle/>
            <a:p>
              <a:pPr algn="ctr"/>
              <a:endParaRPr/>
            </a:p>
          </p:txBody>
        </p:sp>
        <p:sp>
          <p:nvSpPr>
            <p:cNvPr id="16" name="Sleeper"/>
            <p:cNvSpPr/>
            <p:nvPr/>
          </p:nvSpPr>
          <p:spPr>
            <a:xfrm rot="19800000">
              <a:off x="3800484" y="2011118"/>
              <a:ext cx="82296" cy="585216"/>
            </a:xfrm>
            <a:prstGeom prst="rect">
              <a:avLst/>
            </a:prstGeom>
            <a:solidFill>
              <a:srgbClr val="6B5B4B"/>
            </a:solidFill>
            <a:ln>
              <a:noFill/>
            </a:ln>
          </p:spPr>
          <p:txBody>
            <a:bodyPr rtlCol="0" anchor="ctr"/>
            <a:lstStyle/>
            <a:p>
              <a:pPr algn="ctr"/>
              <a:endParaRPr/>
            </a:p>
          </p:txBody>
        </p:sp>
        <p:sp>
          <p:nvSpPr>
            <p:cNvPr id="17" name="Sleeper"/>
            <p:cNvSpPr/>
            <p:nvPr/>
          </p:nvSpPr>
          <p:spPr>
            <a:xfrm rot="20196000">
              <a:off x="4085388" y="1874615"/>
              <a:ext cx="82296" cy="585216"/>
            </a:xfrm>
            <a:prstGeom prst="rect">
              <a:avLst/>
            </a:prstGeom>
            <a:solidFill>
              <a:srgbClr val="6B5B4B"/>
            </a:solidFill>
            <a:ln>
              <a:noFill/>
            </a:ln>
          </p:spPr>
          <p:txBody>
            <a:bodyPr rtlCol="0" anchor="ctr"/>
            <a:lstStyle/>
            <a:p>
              <a:pPr algn="ctr"/>
              <a:endParaRPr/>
            </a:p>
          </p:txBody>
        </p:sp>
        <p:sp>
          <p:nvSpPr>
            <p:cNvPr id="18" name="Sleeper"/>
            <p:cNvSpPr/>
            <p:nvPr/>
          </p:nvSpPr>
          <p:spPr>
            <a:xfrm rot="20328000">
              <a:off x="4379924" y="1760372"/>
              <a:ext cx="82296" cy="585216"/>
            </a:xfrm>
            <a:prstGeom prst="rect">
              <a:avLst/>
            </a:prstGeom>
            <a:solidFill>
              <a:srgbClr val="6B5B4B"/>
            </a:solidFill>
            <a:ln>
              <a:noFill/>
            </a:ln>
          </p:spPr>
          <p:txBody>
            <a:bodyPr rtlCol="0" anchor="ctr"/>
            <a:lstStyle/>
            <a:p>
              <a:pPr algn="ctr"/>
              <a:endParaRPr/>
            </a:p>
          </p:txBody>
        </p:sp>
        <p:sp>
          <p:nvSpPr>
            <p:cNvPr id="19" name="Sleeper"/>
            <p:cNvSpPr/>
            <p:nvPr/>
          </p:nvSpPr>
          <p:spPr>
            <a:xfrm rot="20592000">
              <a:off x="4682357" y="1669062"/>
              <a:ext cx="82296" cy="585216"/>
            </a:xfrm>
            <a:prstGeom prst="rect">
              <a:avLst/>
            </a:prstGeom>
            <a:solidFill>
              <a:srgbClr val="6B5B4B"/>
            </a:solidFill>
            <a:ln>
              <a:noFill/>
            </a:ln>
          </p:spPr>
          <p:txBody>
            <a:bodyPr rtlCol="0" anchor="ctr"/>
            <a:lstStyle/>
            <a:p>
              <a:pPr algn="ctr"/>
              <a:endParaRPr/>
            </a:p>
          </p:txBody>
        </p:sp>
        <p:sp>
          <p:nvSpPr>
            <p:cNvPr id="20" name="Sleeper"/>
            <p:cNvSpPr/>
            <p:nvPr/>
          </p:nvSpPr>
          <p:spPr>
            <a:xfrm rot="20856000">
              <a:off x="4990904" y="1601224"/>
              <a:ext cx="82296" cy="585216"/>
            </a:xfrm>
            <a:prstGeom prst="rect">
              <a:avLst/>
            </a:prstGeom>
            <a:solidFill>
              <a:srgbClr val="6B5B4B"/>
            </a:solidFill>
            <a:ln>
              <a:noFill/>
            </a:ln>
          </p:spPr>
          <p:txBody>
            <a:bodyPr rtlCol="0" anchor="ctr"/>
            <a:lstStyle/>
            <a:p>
              <a:pPr algn="ctr"/>
              <a:endParaRPr/>
            </a:p>
          </p:txBody>
        </p:sp>
        <p:sp>
          <p:nvSpPr>
            <p:cNvPr id="21" name="Rail"/>
            <p:cNvSpPr/>
            <p:nvPr/>
          </p:nvSpPr>
          <p:spPr>
            <a:xfrm>
              <a:off x="1656744" y="1715353"/>
              <a:ext cx="3506721" cy="3048346"/>
            </a:xfrm>
            <a:custGeom>
              <a:avLst/>
              <a:gdLst/>
              <a:ahLst/>
              <a:cxnLst/>
              <a:rect l="l" t="t" r="r" b="b"/>
              <a:pathLst>
                <a:path w="3506721" h="3048346">
                  <a:moveTo>
                    <a:pt x="0" y="3048346"/>
                  </a:moveTo>
                  <a:lnTo>
                    <a:pt x="47360" y="2894499"/>
                  </a:lnTo>
                  <a:lnTo>
                    <a:pt x="101549" y="2739758"/>
                  </a:lnTo>
                  <a:lnTo>
                    <a:pt x="161639" y="2587211"/>
                  </a:lnTo>
                  <a:lnTo>
                    <a:pt x="227541" y="2437083"/>
                  </a:lnTo>
                  <a:lnTo>
                    <a:pt x="299157" y="2289595"/>
                  </a:lnTo>
                  <a:lnTo>
                    <a:pt x="376382" y="2144965"/>
                  </a:lnTo>
                  <a:lnTo>
                    <a:pt x="459102" y="2003407"/>
                  </a:lnTo>
                  <a:lnTo>
                    <a:pt x="547196" y="1865128"/>
                  </a:lnTo>
                  <a:lnTo>
                    <a:pt x="640532" y="1730333"/>
                  </a:lnTo>
                  <a:lnTo>
                    <a:pt x="738975" y="1599220"/>
                  </a:lnTo>
                  <a:lnTo>
                    <a:pt x="842378" y="1471983"/>
                  </a:lnTo>
                  <a:lnTo>
                    <a:pt x="950589" y="1348809"/>
                  </a:lnTo>
                  <a:lnTo>
                    <a:pt x="1063448" y="1229879"/>
                  </a:lnTo>
                  <a:lnTo>
                    <a:pt x="1180790" y="1115370"/>
                  </a:lnTo>
                  <a:lnTo>
                    <a:pt x="1302441" y="1005450"/>
                  </a:lnTo>
                  <a:lnTo>
                    <a:pt x="1428222" y="900281"/>
                  </a:lnTo>
                  <a:lnTo>
                    <a:pt x="1557948" y="800017"/>
                  </a:lnTo>
                  <a:lnTo>
                    <a:pt x="1691427" y="704808"/>
                  </a:lnTo>
                  <a:lnTo>
                    <a:pt x="1828462" y="614792"/>
                  </a:lnTo>
                  <a:lnTo>
                    <a:pt x="1968852" y="530104"/>
                  </a:lnTo>
                  <a:lnTo>
                    <a:pt x="2112389" y="450867"/>
                  </a:lnTo>
                  <a:lnTo>
                    <a:pt x="2258863" y="377198"/>
                  </a:lnTo>
                  <a:lnTo>
                    <a:pt x="2408056" y="309207"/>
                  </a:lnTo>
                  <a:lnTo>
                    <a:pt x="2559749" y="246993"/>
                  </a:lnTo>
                  <a:lnTo>
                    <a:pt x="2713719" y="190648"/>
                  </a:lnTo>
                  <a:lnTo>
                    <a:pt x="2869739" y="140255"/>
                  </a:lnTo>
                  <a:lnTo>
                    <a:pt x="3027577" y="95889"/>
                  </a:lnTo>
                  <a:lnTo>
                    <a:pt x="3187003" y="57614"/>
                  </a:lnTo>
                  <a:lnTo>
                    <a:pt x="3347780" y="25488"/>
                  </a:lnTo>
                  <a:lnTo>
                    <a:pt x="3506721" y="0"/>
                  </a:lnTo>
                </a:path>
              </a:pathLst>
            </a:custGeom>
            <a:noFill/>
            <a:ln w="31750">
              <a:solidFill>
                <a:srgbClr val="9AA0A6"/>
              </a:solidFill>
            </a:ln>
          </p:spPr>
          <p:txBody>
            <a:bodyPr rtlCol="0" anchor="ctr"/>
            <a:lstStyle/>
            <a:p>
              <a:pPr algn="ctr"/>
              <a:endParaRPr/>
            </a:p>
          </p:txBody>
        </p:sp>
        <p:sp>
          <p:nvSpPr>
            <p:cNvPr id="22" name="Rail"/>
            <p:cNvSpPr/>
            <p:nvPr/>
          </p:nvSpPr>
          <p:spPr>
            <a:xfrm>
              <a:off x="1953896" y="2022336"/>
              <a:ext cx="3258740" cy="2832779"/>
            </a:xfrm>
            <a:custGeom>
              <a:avLst/>
              <a:gdLst/>
              <a:ahLst/>
              <a:cxnLst/>
              <a:rect l="l" t="t" r="r" b="b"/>
              <a:pathLst>
                <a:path w="3258740" h="2832779">
                  <a:moveTo>
                    <a:pt x="0" y="2832779"/>
                  </a:moveTo>
                  <a:lnTo>
                    <a:pt x="45550" y="2684620"/>
                  </a:lnTo>
                  <a:lnTo>
                    <a:pt x="95795" y="2541145"/>
                  </a:lnTo>
                  <a:lnTo>
                    <a:pt x="151510" y="2399704"/>
                  </a:lnTo>
                  <a:lnTo>
                    <a:pt x="212613" y="2260506"/>
                  </a:lnTo>
                  <a:lnTo>
                    <a:pt x="279016" y="2123756"/>
                  </a:lnTo>
                  <a:lnTo>
                    <a:pt x="350618" y="1989656"/>
                  </a:lnTo>
                  <a:lnTo>
                    <a:pt x="427316" y="1858403"/>
                  </a:lnTo>
                  <a:lnTo>
                    <a:pt x="508996" y="1730192"/>
                  </a:lnTo>
                  <a:lnTo>
                    <a:pt x="595537" y="1605211"/>
                  </a:lnTo>
                  <a:lnTo>
                    <a:pt x="686812" y="1483644"/>
                  </a:lnTo>
                  <a:lnTo>
                    <a:pt x="782687" y="1365670"/>
                  </a:lnTo>
                  <a:lnTo>
                    <a:pt x="883019" y="1251463"/>
                  </a:lnTo>
                  <a:lnTo>
                    <a:pt x="987662" y="1141193"/>
                  </a:lnTo>
                  <a:lnTo>
                    <a:pt x="1096461" y="1035021"/>
                  </a:lnTo>
                  <a:lnTo>
                    <a:pt x="1209255" y="933103"/>
                  </a:lnTo>
                  <a:lnTo>
                    <a:pt x="1325879" y="835591"/>
                  </a:lnTo>
                  <a:lnTo>
                    <a:pt x="1446160" y="742627"/>
                  </a:lnTo>
                  <a:lnTo>
                    <a:pt x="1569921" y="654349"/>
                  </a:lnTo>
                  <a:lnTo>
                    <a:pt x="1696979" y="570887"/>
                  </a:lnTo>
                  <a:lnTo>
                    <a:pt x="1827148" y="492365"/>
                  </a:lnTo>
                  <a:lnTo>
                    <a:pt x="1960235" y="418897"/>
                  </a:lnTo>
                  <a:lnTo>
                    <a:pt x="2096044" y="350592"/>
                  </a:lnTo>
                  <a:lnTo>
                    <a:pt x="2234376" y="287550"/>
                  </a:lnTo>
                  <a:lnTo>
                    <a:pt x="2375025" y="229866"/>
                  </a:lnTo>
                  <a:lnTo>
                    <a:pt x="2517785" y="177623"/>
                  </a:lnTo>
                  <a:lnTo>
                    <a:pt x="2662445" y="130899"/>
                  </a:lnTo>
                  <a:lnTo>
                    <a:pt x="2808793" y="89763"/>
                  </a:lnTo>
                  <a:lnTo>
                    <a:pt x="2956611" y="54275"/>
                  </a:lnTo>
                  <a:lnTo>
                    <a:pt x="3105683" y="24487"/>
                  </a:lnTo>
                  <a:lnTo>
                    <a:pt x="3258740" y="0"/>
                  </a:lnTo>
                </a:path>
              </a:pathLst>
            </a:custGeom>
            <a:noFill/>
            <a:ln w="31750">
              <a:solidFill>
                <a:srgbClr val="9AA0A6"/>
              </a:solidFill>
            </a:ln>
          </p:spPr>
          <p:txBody>
            <a:bodyPr rtlCol="0" anchor="ctr"/>
            <a:lstStyle/>
            <a:p>
              <a:pPr algn="ctr"/>
              <a:endParaRPr/>
            </a:p>
          </p:txBody>
        </p:sp>
        <p:sp>
          <p:nvSpPr>
            <p:cNvPr id="23" name="TextBox 22"/>
            <p:cNvSpPr txBox="1"/>
            <p:nvPr/>
          </p:nvSpPr>
          <p:spPr>
            <a:xfrm>
              <a:off x="822960" y="4983480"/>
              <a:ext cx="2926080" cy="365760"/>
            </a:xfrm>
            <a:prstGeom prst="rect">
              <a:avLst/>
            </a:prstGeom>
            <a:noFill/>
          </p:spPr>
          <p:txBody>
            <a:bodyPr wrap="square" lIns="0" tIns="0" rIns="0" bIns="0" anchor="ctr">
              <a:noAutofit/>
            </a:bodyPr>
            <a:lstStyle/>
            <a:p>
              <a:pPr algn="l">
                <a:spcBef>
                  <a:spcPts val="0"/>
                </a:spcBef>
                <a:spcAft>
                  <a:spcPts val="0"/>
                </a:spcAft>
              </a:pPr>
              <a:r>
                <a:rPr lang="en-GB" sz="1800" b="1" i="0">
                  <a:solidFill>
                    <a:srgbClr val="F2F2F2"/>
                  </a:solidFill>
                  <a:latin typeface="Arial"/>
                </a:rPr>
                <a:t>One long piece</a:t>
              </a:r>
            </a:p>
          </p:txBody>
        </p:sp>
      </p:grpSp>
      <p:grpSp>
        <p:nvGrpSpPr>
          <p:cNvPr id="24" name="Diagram: many short pieces crossed out" descr="A pile of many short pieces of track with a red cross over it: not needed."/>
          <p:cNvGrpSpPr/>
          <p:nvPr/>
        </p:nvGrpSpPr>
        <p:grpSpPr>
          <a:xfrm>
            <a:off x="6263640" y="1371600"/>
            <a:ext cx="5376672" cy="4069080"/>
            <a:chOff x="6263640" y="1371600"/>
            <a:chExt cx="5376672" cy="4069080"/>
          </a:xfrm>
        </p:grpSpPr>
        <p:sp>
          <p:nvSpPr>
            <p:cNvPr id="25" name="Panel"/>
            <p:cNvSpPr/>
            <p:nvPr/>
          </p:nvSpPr>
          <p:spPr>
            <a:xfrm>
              <a:off x="6263640" y="1371600"/>
              <a:ext cx="5376672" cy="4069080"/>
            </a:xfrm>
            <a:prstGeom prst="roundRect">
              <a:avLst>
                <a:gd name="adj" fmla="val 1797"/>
              </a:avLst>
            </a:prstGeom>
            <a:solidFill>
              <a:srgbClr val="2B2F36"/>
            </a:solidFill>
            <a:ln>
              <a:noFill/>
            </a:ln>
          </p:spPr>
          <p:txBody>
            <a:bodyPr rtlCol="0" anchor="ctr"/>
            <a:lstStyle/>
            <a:p>
              <a:pPr algn="ctr"/>
              <a:endParaRPr/>
            </a:p>
          </p:txBody>
        </p:sp>
        <p:sp>
          <p:nvSpPr>
            <p:cNvPr id="26" name="Sleeper"/>
            <p:cNvSpPr/>
            <p:nvPr/>
          </p:nvSpPr>
          <p:spPr>
            <a:xfrm>
              <a:off x="7178040" y="1636776"/>
              <a:ext cx="64008" cy="365760"/>
            </a:xfrm>
            <a:prstGeom prst="rect">
              <a:avLst/>
            </a:prstGeom>
            <a:solidFill>
              <a:srgbClr val="6B5B4B"/>
            </a:solidFill>
            <a:ln>
              <a:noFill/>
            </a:ln>
          </p:spPr>
          <p:txBody>
            <a:bodyPr rtlCol="0" anchor="ctr"/>
            <a:lstStyle/>
            <a:p>
              <a:pPr algn="ctr"/>
              <a:endParaRPr/>
            </a:p>
          </p:txBody>
        </p:sp>
        <p:sp>
          <p:nvSpPr>
            <p:cNvPr id="27" name="Sleeper"/>
            <p:cNvSpPr/>
            <p:nvPr/>
          </p:nvSpPr>
          <p:spPr>
            <a:xfrm>
              <a:off x="7452360" y="1636776"/>
              <a:ext cx="64008" cy="365760"/>
            </a:xfrm>
            <a:prstGeom prst="rect">
              <a:avLst/>
            </a:prstGeom>
            <a:solidFill>
              <a:srgbClr val="6B5B4B"/>
            </a:solidFill>
            <a:ln>
              <a:noFill/>
            </a:ln>
          </p:spPr>
          <p:txBody>
            <a:bodyPr rtlCol="0" anchor="ctr"/>
            <a:lstStyle/>
            <a:p>
              <a:pPr algn="ctr"/>
              <a:endParaRPr/>
            </a:p>
          </p:txBody>
        </p:sp>
        <p:sp>
          <p:nvSpPr>
            <p:cNvPr id="28" name="Sleeper"/>
            <p:cNvSpPr/>
            <p:nvPr/>
          </p:nvSpPr>
          <p:spPr>
            <a:xfrm>
              <a:off x="7726680" y="1636776"/>
              <a:ext cx="64008" cy="365760"/>
            </a:xfrm>
            <a:prstGeom prst="rect">
              <a:avLst/>
            </a:prstGeom>
            <a:solidFill>
              <a:srgbClr val="6B5B4B"/>
            </a:solidFill>
            <a:ln>
              <a:noFill/>
            </a:ln>
          </p:spPr>
          <p:txBody>
            <a:bodyPr rtlCol="0" anchor="ctr"/>
            <a:lstStyle/>
            <a:p>
              <a:pPr algn="ctr"/>
              <a:endParaRPr/>
            </a:p>
          </p:txBody>
        </p:sp>
        <p:sp>
          <p:nvSpPr>
            <p:cNvPr id="29" name="Sleeper"/>
            <p:cNvSpPr/>
            <p:nvPr/>
          </p:nvSpPr>
          <p:spPr>
            <a:xfrm>
              <a:off x="8001000" y="1636776"/>
              <a:ext cx="64008" cy="365760"/>
            </a:xfrm>
            <a:prstGeom prst="rect">
              <a:avLst/>
            </a:prstGeom>
            <a:solidFill>
              <a:srgbClr val="6B5B4B"/>
            </a:solidFill>
            <a:ln>
              <a:noFill/>
            </a:ln>
          </p:spPr>
          <p:txBody>
            <a:bodyPr rtlCol="0" anchor="ctr"/>
            <a:lstStyle/>
            <a:p>
              <a:pPr algn="ctr"/>
              <a:endParaRPr/>
            </a:p>
          </p:txBody>
        </p:sp>
        <p:sp>
          <p:nvSpPr>
            <p:cNvPr id="30" name="Sleeper"/>
            <p:cNvSpPr/>
            <p:nvPr/>
          </p:nvSpPr>
          <p:spPr>
            <a:xfrm>
              <a:off x="8275320" y="1636776"/>
              <a:ext cx="64008" cy="365760"/>
            </a:xfrm>
            <a:prstGeom prst="rect">
              <a:avLst/>
            </a:prstGeom>
            <a:solidFill>
              <a:srgbClr val="6B5B4B"/>
            </a:solidFill>
            <a:ln>
              <a:noFill/>
            </a:ln>
          </p:spPr>
          <p:txBody>
            <a:bodyPr rtlCol="0" anchor="ctr"/>
            <a:lstStyle/>
            <a:p>
              <a:pPr algn="ctr"/>
              <a:endParaRPr/>
            </a:p>
          </p:txBody>
        </p:sp>
        <p:sp>
          <p:nvSpPr>
            <p:cNvPr id="31" name="Sleeper"/>
            <p:cNvSpPr/>
            <p:nvPr/>
          </p:nvSpPr>
          <p:spPr>
            <a:xfrm>
              <a:off x="8549640" y="1636776"/>
              <a:ext cx="64008" cy="365760"/>
            </a:xfrm>
            <a:prstGeom prst="rect">
              <a:avLst/>
            </a:prstGeom>
            <a:solidFill>
              <a:srgbClr val="6B5B4B"/>
            </a:solidFill>
            <a:ln>
              <a:noFill/>
            </a:ln>
          </p:spPr>
          <p:txBody>
            <a:bodyPr rtlCol="0" anchor="ctr"/>
            <a:lstStyle/>
            <a:p>
              <a:pPr algn="ctr"/>
              <a:endParaRPr/>
            </a:p>
          </p:txBody>
        </p:sp>
        <p:sp>
          <p:nvSpPr>
            <p:cNvPr id="32" name="Sleeper"/>
            <p:cNvSpPr/>
            <p:nvPr/>
          </p:nvSpPr>
          <p:spPr>
            <a:xfrm>
              <a:off x="8823960" y="1636776"/>
              <a:ext cx="64008" cy="365760"/>
            </a:xfrm>
            <a:prstGeom prst="rect">
              <a:avLst/>
            </a:prstGeom>
            <a:solidFill>
              <a:srgbClr val="6B5B4B"/>
            </a:solidFill>
            <a:ln>
              <a:noFill/>
            </a:ln>
          </p:spPr>
          <p:txBody>
            <a:bodyPr rtlCol="0" anchor="ctr"/>
            <a:lstStyle/>
            <a:p>
              <a:pPr algn="ctr"/>
              <a:endParaRPr/>
            </a:p>
          </p:txBody>
        </p:sp>
        <p:sp>
          <p:nvSpPr>
            <p:cNvPr id="33" name="Sleeper"/>
            <p:cNvSpPr/>
            <p:nvPr/>
          </p:nvSpPr>
          <p:spPr>
            <a:xfrm>
              <a:off x="9098280" y="1636776"/>
              <a:ext cx="64008" cy="365760"/>
            </a:xfrm>
            <a:prstGeom prst="rect">
              <a:avLst/>
            </a:prstGeom>
            <a:solidFill>
              <a:srgbClr val="6B5B4B"/>
            </a:solidFill>
            <a:ln>
              <a:noFill/>
            </a:ln>
          </p:spPr>
          <p:txBody>
            <a:bodyPr rtlCol="0" anchor="ctr"/>
            <a:lstStyle/>
            <a:p>
              <a:pPr algn="ctr"/>
              <a:endParaRPr/>
            </a:p>
          </p:txBody>
        </p:sp>
        <p:sp>
          <p:nvSpPr>
            <p:cNvPr id="34" name="Sleeper"/>
            <p:cNvSpPr/>
            <p:nvPr/>
          </p:nvSpPr>
          <p:spPr>
            <a:xfrm>
              <a:off x="9372600" y="1636776"/>
              <a:ext cx="64008" cy="365760"/>
            </a:xfrm>
            <a:prstGeom prst="rect">
              <a:avLst/>
            </a:prstGeom>
            <a:solidFill>
              <a:srgbClr val="6B5B4B"/>
            </a:solidFill>
            <a:ln>
              <a:noFill/>
            </a:ln>
          </p:spPr>
          <p:txBody>
            <a:bodyPr rtlCol="0" anchor="ctr"/>
            <a:lstStyle/>
            <a:p>
              <a:pPr algn="ctr"/>
              <a:endParaRPr/>
            </a:p>
          </p:txBody>
        </p:sp>
        <p:sp>
          <p:nvSpPr>
            <p:cNvPr id="35" name="Sleeper"/>
            <p:cNvSpPr/>
            <p:nvPr/>
          </p:nvSpPr>
          <p:spPr>
            <a:xfrm>
              <a:off x="9646920" y="1636776"/>
              <a:ext cx="64008" cy="365760"/>
            </a:xfrm>
            <a:prstGeom prst="rect">
              <a:avLst/>
            </a:prstGeom>
            <a:solidFill>
              <a:srgbClr val="6B5B4B"/>
            </a:solidFill>
            <a:ln>
              <a:noFill/>
            </a:ln>
          </p:spPr>
          <p:txBody>
            <a:bodyPr rtlCol="0" anchor="ctr"/>
            <a:lstStyle/>
            <a:p>
              <a:pPr algn="ctr"/>
              <a:endParaRPr/>
            </a:p>
          </p:txBody>
        </p:sp>
        <p:sp>
          <p:nvSpPr>
            <p:cNvPr id="36" name="Rail"/>
            <p:cNvSpPr/>
            <p:nvPr/>
          </p:nvSpPr>
          <p:spPr>
            <a:xfrm>
              <a:off x="7132320" y="1691640"/>
              <a:ext cx="2468880" cy="54864"/>
            </a:xfrm>
            <a:prstGeom prst="rect">
              <a:avLst/>
            </a:prstGeom>
            <a:solidFill>
              <a:srgbClr val="9AA0A6"/>
            </a:solidFill>
            <a:ln>
              <a:noFill/>
            </a:ln>
          </p:spPr>
          <p:txBody>
            <a:bodyPr rtlCol="0" anchor="ctr"/>
            <a:lstStyle/>
            <a:p>
              <a:pPr algn="ctr"/>
              <a:endParaRPr/>
            </a:p>
          </p:txBody>
        </p:sp>
        <p:sp>
          <p:nvSpPr>
            <p:cNvPr id="37" name="Rail"/>
            <p:cNvSpPr/>
            <p:nvPr/>
          </p:nvSpPr>
          <p:spPr>
            <a:xfrm>
              <a:off x="7132320" y="1892808"/>
              <a:ext cx="2468880" cy="54864"/>
            </a:xfrm>
            <a:prstGeom prst="rect">
              <a:avLst/>
            </a:prstGeom>
            <a:solidFill>
              <a:srgbClr val="9AA0A6"/>
            </a:solidFill>
            <a:ln>
              <a:noFill/>
            </a:ln>
          </p:spPr>
          <p:txBody>
            <a:bodyPr rtlCol="0" anchor="ctr"/>
            <a:lstStyle/>
            <a:p>
              <a:pPr algn="ctr"/>
              <a:endParaRPr/>
            </a:p>
          </p:txBody>
        </p:sp>
        <p:sp>
          <p:nvSpPr>
            <p:cNvPr id="38" name="Sleeper"/>
            <p:cNvSpPr/>
            <p:nvPr/>
          </p:nvSpPr>
          <p:spPr>
            <a:xfrm>
              <a:off x="7498080" y="2093976"/>
              <a:ext cx="64008" cy="365760"/>
            </a:xfrm>
            <a:prstGeom prst="rect">
              <a:avLst/>
            </a:prstGeom>
            <a:solidFill>
              <a:srgbClr val="6B5B4B"/>
            </a:solidFill>
            <a:ln>
              <a:noFill/>
            </a:ln>
          </p:spPr>
          <p:txBody>
            <a:bodyPr rtlCol="0" anchor="ctr"/>
            <a:lstStyle/>
            <a:p>
              <a:pPr algn="ctr"/>
              <a:endParaRPr/>
            </a:p>
          </p:txBody>
        </p:sp>
        <p:sp>
          <p:nvSpPr>
            <p:cNvPr id="39" name="Sleeper"/>
            <p:cNvSpPr/>
            <p:nvPr/>
          </p:nvSpPr>
          <p:spPr>
            <a:xfrm>
              <a:off x="7772400" y="2093976"/>
              <a:ext cx="64008" cy="365760"/>
            </a:xfrm>
            <a:prstGeom prst="rect">
              <a:avLst/>
            </a:prstGeom>
            <a:solidFill>
              <a:srgbClr val="6B5B4B"/>
            </a:solidFill>
            <a:ln>
              <a:noFill/>
            </a:ln>
          </p:spPr>
          <p:txBody>
            <a:bodyPr rtlCol="0" anchor="ctr"/>
            <a:lstStyle/>
            <a:p>
              <a:pPr algn="ctr"/>
              <a:endParaRPr/>
            </a:p>
          </p:txBody>
        </p:sp>
        <p:sp>
          <p:nvSpPr>
            <p:cNvPr id="40" name="Sleeper"/>
            <p:cNvSpPr/>
            <p:nvPr/>
          </p:nvSpPr>
          <p:spPr>
            <a:xfrm>
              <a:off x="8046720" y="2093976"/>
              <a:ext cx="64008" cy="365760"/>
            </a:xfrm>
            <a:prstGeom prst="rect">
              <a:avLst/>
            </a:prstGeom>
            <a:solidFill>
              <a:srgbClr val="6B5B4B"/>
            </a:solidFill>
            <a:ln>
              <a:noFill/>
            </a:ln>
          </p:spPr>
          <p:txBody>
            <a:bodyPr rtlCol="0" anchor="ctr"/>
            <a:lstStyle/>
            <a:p>
              <a:pPr algn="ctr"/>
              <a:endParaRPr/>
            </a:p>
          </p:txBody>
        </p:sp>
        <p:sp>
          <p:nvSpPr>
            <p:cNvPr id="41" name="Sleeper"/>
            <p:cNvSpPr/>
            <p:nvPr/>
          </p:nvSpPr>
          <p:spPr>
            <a:xfrm>
              <a:off x="8321040" y="2093976"/>
              <a:ext cx="64008" cy="365760"/>
            </a:xfrm>
            <a:prstGeom prst="rect">
              <a:avLst/>
            </a:prstGeom>
            <a:solidFill>
              <a:srgbClr val="6B5B4B"/>
            </a:solidFill>
            <a:ln>
              <a:noFill/>
            </a:ln>
          </p:spPr>
          <p:txBody>
            <a:bodyPr rtlCol="0" anchor="ctr"/>
            <a:lstStyle/>
            <a:p>
              <a:pPr algn="ctr"/>
              <a:endParaRPr/>
            </a:p>
          </p:txBody>
        </p:sp>
        <p:sp>
          <p:nvSpPr>
            <p:cNvPr id="42" name="Sleeper"/>
            <p:cNvSpPr/>
            <p:nvPr/>
          </p:nvSpPr>
          <p:spPr>
            <a:xfrm>
              <a:off x="8595360" y="2093976"/>
              <a:ext cx="64008" cy="365760"/>
            </a:xfrm>
            <a:prstGeom prst="rect">
              <a:avLst/>
            </a:prstGeom>
            <a:solidFill>
              <a:srgbClr val="6B5B4B"/>
            </a:solidFill>
            <a:ln>
              <a:noFill/>
            </a:ln>
          </p:spPr>
          <p:txBody>
            <a:bodyPr rtlCol="0" anchor="ctr"/>
            <a:lstStyle/>
            <a:p>
              <a:pPr algn="ctr"/>
              <a:endParaRPr/>
            </a:p>
          </p:txBody>
        </p:sp>
        <p:sp>
          <p:nvSpPr>
            <p:cNvPr id="43" name="Sleeper"/>
            <p:cNvSpPr/>
            <p:nvPr/>
          </p:nvSpPr>
          <p:spPr>
            <a:xfrm>
              <a:off x="8869680" y="2093976"/>
              <a:ext cx="64008" cy="365760"/>
            </a:xfrm>
            <a:prstGeom prst="rect">
              <a:avLst/>
            </a:prstGeom>
            <a:solidFill>
              <a:srgbClr val="6B5B4B"/>
            </a:solidFill>
            <a:ln>
              <a:noFill/>
            </a:ln>
          </p:spPr>
          <p:txBody>
            <a:bodyPr rtlCol="0" anchor="ctr"/>
            <a:lstStyle/>
            <a:p>
              <a:pPr algn="ctr"/>
              <a:endParaRPr/>
            </a:p>
          </p:txBody>
        </p:sp>
        <p:sp>
          <p:nvSpPr>
            <p:cNvPr id="44" name="Sleeper"/>
            <p:cNvSpPr/>
            <p:nvPr/>
          </p:nvSpPr>
          <p:spPr>
            <a:xfrm>
              <a:off x="9144000" y="2093976"/>
              <a:ext cx="64008" cy="365760"/>
            </a:xfrm>
            <a:prstGeom prst="rect">
              <a:avLst/>
            </a:prstGeom>
            <a:solidFill>
              <a:srgbClr val="6B5B4B"/>
            </a:solidFill>
            <a:ln>
              <a:noFill/>
            </a:ln>
          </p:spPr>
          <p:txBody>
            <a:bodyPr rtlCol="0" anchor="ctr"/>
            <a:lstStyle/>
            <a:p>
              <a:pPr algn="ctr"/>
              <a:endParaRPr/>
            </a:p>
          </p:txBody>
        </p:sp>
        <p:sp>
          <p:nvSpPr>
            <p:cNvPr id="45" name="Sleeper"/>
            <p:cNvSpPr/>
            <p:nvPr/>
          </p:nvSpPr>
          <p:spPr>
            <a:xfrm>
              <a:off x="9418320" y="2093976"/>
              <a:ext cx="64008" cy="365760"/>
            </a:xfrm>
            <a:prstGeom prst="rect">
              <a:avLst/>
            </a:prstGeom>
            <a:solidFill>
              <a:srgbClr val="6B5B4B"/>
            </a:solidFill>
            <a:ln>
              <a:noFill/>
            </a:ln>
          </p:spPr>
          <p:txBody>
            <a:bodyPr rtlCol="0" anchor="ctr"/>
            <a:lstStyle/>
            <a:p>
              <a:pPr algn="ctr"/>
              <a:endParaRPr/>
            </a:p>
          </p:txBody>
        </p:sp>
        <p:sp>
          <p:nvSpPr>
            <p:cNvPr id="46" name="Sleeper"/>
            <p:cNvSpPr/>
            <p:nvPr/>
          </p:nvSpPr>
          <p:spPr>
            <a:xfrm>
              <a:off x="9692640" y="2093976"/>
              <a:ext cx="64008" cy="365760"/>
            </a:xfrm>
            <a:prstGeom prst="rect">
              <a:avLst/>
            </a:prstGeom>
            <a:solidFill>
              <a:srgbClr val="6B5B4B"/>
            </a:solidFill>
            <a:ln>
              <a:noFill/>
            </a:ln>
          </p:spPr>
          <p:txBody>
            <a:bodyPr rtlCol="0" anchor="ctr"/>
            <a:lstStyle/>
            <a:p>
              <a:pPr algn="ctr"/>
              <a:endParaRPr/>
            </a:p>
          </p:txBody>
        </p:sp>
        <p:sp>
          <p:nvSpPr>
            <p:cNvPr id="47" name="Sleeper"/>
            <p:cNvSpPr/>
            <p:nvPr/>
          </p:nvSpPr>
          <p:spPr>
            <a:xfrm>
              <a:off x="9966960" y="2093976"/>
              <a:ext cx="64008" cy="365760"/>
            </a:xfrm>
            <a:prstGeom prst="rect">
              <a:avLst/>
            </a:prstGeom>
            <a:solidFill>
              <a:srgbClr val="6B5B4B"/>
            </a:solidFill>
            <a:ln>
              <a:noFill/>
            </a:ln>
          </p:spPr>
          <p:txBody>
            <a:bodyPr rtlCol="0" anchor="ctr"/>
            <a:lstStyle/>
            <a:p>
              <a:pPr algn="ctr"/>
              <a:endParaRPr/>
            </a:p>
          </p:txBody>
        </p:sp>
        <p:sp>
          <p:nvSpPr>
            <p:cNvPr id="48" name="Rail"/>
            <p:cNvSpPr/>
            <p:nvPr/>
          </p:nvSpPr>
          <p:spPr>
            <a:xfrm>
              <a:off x="7452360" y="2148840"/>
              <a:ext cx="2468880" cy="54864"/>
            </a:xfrm>
            <a:prstGeom prst="rect">
              <a:avLst/>
            </a:prstGeom>
            <a:solidFill>
              <a:srgbClr val="9AA0A6"/>
            </a:solidFill>
            <a:ln>
              <a:noFill/>
            </a:ln>
          </p:spPr>
          <p:txBody>
            <a:bodyPr rtlCol="0" anchor="ctr"/>
            <a:lstStyle/>
            <a:p>
              <a:pPr algn="ctr"/>
              <a:endParaRPr/>
            </a:p>
          </p:txBody>
        </p:sp>
        <p:sp>
          <p:nvSpPr>
            <p:cNvPr id="49" name="Rail"/>
            <p:cNvSpPr/>
            <p:nvPr/>
          </p:nvSpPr>
          <p:spPr>
            <a:xfrm>
              <a:off x="7452360" y="2350008"/>
              <a:ext cx="2468880" cy="54864"/>
            </a:xfrm>
            <a:prstGeom prst="rect">
              <a:avLst/>
            </a:prstGeom>
            <a:solidFill>
              <a:srgbClr val="9AA0A6"/>
            </a:solidFill>
            <a:ln>
              <a:noFill/>
            </a:ln>
          </p:spPr>
          <p:txBody>
            <a:bodyPr rtlCol="0" anchor="ctr"/>
            <a:lstStyle/>
            <a:p>
              <a:pPr algn="ctr"/>
              <a:endParaRPr/>
            </a:p>
          </p:txBody>
        </p:sp>
        <p:sp>
          <p:nvSpPr>
            <p:cNvPr id="50" name="Sleeper"/>
            <p:cNvSpPr/>
            <p:nvPr/>
          </p:nvSpPr>
          <p:spPr>
            <a:xfrm>
              <a:off x="7178040" y="2551176"/>
              <a:ext cx="64008" cy="365760"/>
            </a:xfrm>
            <a:prstGeom prst="rect">
              <a:avLst/>
            </a:prstGeom>
            <a:solidFill>
              <a:srgbClr val="6B5B4B"/>
            </a:solidFill>
            <a:ln>
              <a:noFill/>
            </a:ln>
          </p:spPr>
          <p:txBody>
            <a:bodyPr rtlCol="0" anchor="ctr"/>
            <a:lstStyle/>
            <a:p>
              <a:pPr algn="ctr"/>
              <a:endParaRPr/>
            </a:p>
          </p:txBody>
        </p:sp>
        <p:sp>
          <p:nvSpPr>
            <p:cNvPr id="51" name="Sleeper"/>
            <p:cNvSpPr/>
            <p:nvPr/>
          </p:nvSpPr>
          <p:spPr>
            <a:xfrm>
              <a:off x="7452360" y="2551176"/>
              <a:ext cx="64008" cy="365760"/>
            </a:xfrm>
            <a:prstGeom prst="rect">
              <a:avLst/>
            </a:prstGeom>
            <a:solidFill>
              <a:srgbClr val="6B5B4B"/>
            </a:solidFill>
            <a:ln>
              <a:noFill/>
            </a:ln>
          </p:spPr>
          <p:txBody>
            <a:bodyPr rtlCol="0" anchor="ctr"/>
            <a:lstStyle/>
            <a:p>
              <a:pPr algn="ctr"/>
              <a:endParaRPr/>
            </a:p>
          </p:txBody>
        </p:sp>
        <p:sp>
          <p:nvSpPr>
            <p:cNvPr id="52" name="Sleeper"/>
            <p:cNvSpPr/>
            <p:nvPr/>
          </p:nvSpPr>
          <p:spPr>
            <a:xfrm>
              <a:off x="7726680" y="2551176"/>
              <a:ext cx="64008" cy="365760"/>
            </a:xfrm>
            <a:prstGeom prst="rect">
              <a:avLst/>
            </a:prstGeom>
            <a:solidFill>
              <a:srgbClr val="6B5B4B"/>
            </a:solidFill>
            <a:ln>
              <a:noFill/>
            </a:ln>
          </p:spPr>
          <p:txBody>
            <a:bodyPr rtlCol="0" anchor="ctr"/>
            <a:lstStyle/>
            <a:p>
              <a:pPr algn="ctr"/>
              <a:endParaRPr/>
            </a:p>
          </p:txBody>
        </p:sp>
        <p:sp>
          <p:nvSpPr>
            <p:cNvPr id="53" name="Sleeper"/>
            <p:cNvSpPr/>
            <p:nvPr/>
          </p:nvSpPr>
          <p:spPr>
            <a:xfrm>
              <a:off x="8001000" y="2551176"/>
              <a:ext cx="64008" cy="365760"/>
            </a:xfrm>
            <a:prstGeom prst="rect">
              <a:avLst/>
            </a:prstGeom>
            <a:solidFill>
              <a:srgbClr val="6B5B4B"/>
            </a:solidFill>
            <a:ln>
              <a:noFill/>
            </a:ln>
          </p:spPr>
          <p:txBody>
            <a:bodyPr rtlCol="0" anchor="ctr"/>
            <a:lstStyle/>
            <a:p>
              <a:pPr algn="ctr"/>
              <a:endParaRPr/>
            </a:p>
          </p:txBody>
        </p:sp>
        <p:sp>
          <p:nvSpPr>
            <p:cNvPr id="54" name="Sleeper"/>
            <p:cNvSpPr/>
            <p:nvPr/>
          </p:nvSpPr>
          <p:spPr>
            <a:xfrm>
              <a:off x="8275320" y="2551176"/>
              <a:ext cx="64008" cy="365760"/>
            </a:xfrm>
            <a:prstGeom prst="rect">
              <a:avLst/>
            </a:prstGeom>
            <a:solidFill>
              <a:srgbClr val="6B5B4B"/>
            </a:solidFill>
            <a:ln>
              <a:noFill/>
            </a:ln>
          </p:spPr>
          <p:txBody>
            <a:bodyPr rtlCol="0" anchor="ctr"/>
            <a:lstStyle/>
            <a:p>
              <a:pPr algn="ctr"/>
              <a:endParaRPr/>
            </a:p>
          </p:txBody>
        </p:sp>
        <p:sp>
          <p:nvSpPr>
            <p:cNvPr id="55" name="Sleeper"/>
            <p:cNvSpPr/>
            <p:nvPr/>
          </p:nvSpPr>
          <p:spPr>
            <a:xfrm>
              <a:off x="8549640" y="2551176"/>
              <a:ext cx="64008" cy="365760"/>
            </a:xfrm>
            <a:prstGeom prst="rect">
              <a:avLst/>
            </a:prstGeom>
            <a:solidFill>
              <a:srgbClr val="6B5B4B"/>
            </a:solidFill>
            <a:ln>
              <a:noFill/>
            </a:ln>
          </p:spPr>
          <p:txBody>
            <a:bodyPr rtlCol="0" anchor="ctr"/>
            <a:lstStyle/>
            <a:p>
              <a:pPr algn="ctr"/>
              <a:endParaRPr/>
            </a:p>
          </p:txBody>
        </p:sp>
        <p:sp>
          <p:nvSpPr>
            <p:cNvPr id="56" name="Sleeper"/>
            <p:cNvSpPr/>
            <p:nvPr/>
          </p:nvSpPr>
          <p:spPr>
            <a:xfrm>
              <a:off x="8823960" y="2551176"/>
              <a:ext cx="64008" cy="365760"/>
            </a:xfrm>
            <a:prstGeom prst="rect">
              <a:avLst/>
            </a:prstGeom>
            <a:solidFill>
              <a:srgbClr val="6B5B4B"/>
            </a:solidFill>
            <a:ln>
              <a:noFill/>
            </a:ln>
          </p:spPr>
          <p:txBody>
            <a:bodyPr rtlCol="0" anchor="ctr"/>
            <a:lstStyle/>
            <a:p>
              <a:pPr algn="ctr"/>
              <a:endParaRPr/>
            </a:p>
          </p:txBody>
        </p:sp>
        <p:sp>
          <p:nvSpPr>
            <p:cNvPr id="57" name="Sleeper"/>
            <p:cNvSpPr/>
            <p:nvPr/>
          </p:nvSpPr>
          <p:spPr>
            <a:xfrm>
              <a:off x="9098280" y="2551176"/>
              <a:ext cx="64008" cy="365760"/>
            </a:xfrm>
            <a:prstGeom prst="rect">
              <a:avLst/>
            </a:prstGeom>
            <a:solidFill>
              <a:srgbClr val="6B5B4B"/>
            </a:solidFill>
            <a:ln>
              <a:noFill/>
            </a:ln>
          </p:spPr>
          <p:txBody>
            <a:bodyPr rtlCol="0" anchor="ctr"/>
            <a:lstStyle/>
            <a:p>
              <a:pPr algn="ctr"/>
              <a:endParaRPr/>
            </a:p>
          </p:txBody>
        </p:sp>
        <p:sp>
          <p:nvSpPr>
            <p:cNvPr id="58" name="Sleeper"/>
            <p:cNvSpPr/>
            <p:nvPr/>
          </p:nvSpPr>
          <p:spPr>
            <a:xfrm>
              <a:off x="9372600" y="2551176"/>
              <a:ext cx="64008" cy="365760"/>
            </a:xfrm>
            <a:prstGeom prst="rect">
              <a:avLst/>
            </a:prstGeom>
            <a:solidFill>
              <a:srgbClr val="6B5B4B"/>
            </a:solidFill>
            <a:ln>
              <a:noFill/>
            </a:ln>
          </p:spPr>
          <p:txBody>
            <a:bodyPr rtlCol="0" anchor="ctr"/>
            <a:lstStyle/>
            <a:p>
              <a:pPr algn="ctr"/>
              <a:endParaRPr/>
            </a:p>
          </p:txBody>
        </p:sp>
        <p:sp>
          <p:nvSpPr>
            <p:cNvPr id="59" name="Sleeper"/>
            <p:cNvSpPr/>
            <p:nvPr/>
          </p:nvSpPr>
          <p:spPr>
            <a:xfrm>
              <a:off x="9646920" y="2551176"/>
              <a:ext cx="64008" cy="365760"/>
            </a:xfrm>
            <a:prstGeom prst="rect">
              <a:avLst/>
            </a:prstGeom>
            <a:solidFill>
              <a:srgbClr val="6B5B4B"/>
            </a:solidFill>
            <a:ln>
              <a:noFill/>
            </a:ln>
          </p:spPr>
          <p:txBody>
            <a:bodyPr rtlCol="0" anchor="ctr"/>
            <a:lstStyle/>
            <a:p>
              <a:pPr algn="ctr"/>
              <a:endParaRPr/>
            </a:p>
          </p:txBody>
        </p:sp>
        <p:sp>
          <p:nvSpPr>
            <p:cNvPr id="60" name="Rail"/>
            <p:cNvSpPr/>
            <p:nvPr/>
          </p:nvSpPr>
          <p:spPr>
            <a:xfrm>
              <a:off x="7132320" y="2606040"/>
              <a:ext cx="2468880" cy="54864"/>
            </a:xfrm>
            <a:prstGeom prst="rect">
              <a:avLst/>
            </a:prstGeom>
            <a:solidFill>
              <a:srgbClr val="9AA0A6"/>
            </a:solidFill>
            <a:ln>
              <a:noFill/>
            </a:ln>
          </p:spPr>
          <p:txBody>
            <a:bodyPr rtlCol="0" anchor="ctr"/>
            <a:lstStyle/>
            <a:p>
              <a:pPr algn="ctr"/>
              <a:endParaRPr/>
            </a:p>
          </p:txBody>
        </p:sp>
        <p:sp>
          <p:nvSpPr>
            <p:cNvPr id="61" name="Rail"/>
            <p:cNvSpPr/>
            <p:nvPr/>
          </p:nvSpPr>
          <p:spPr>
            <a:xfrm>
              <a:off x="7132320" y="2807208"/>
              <a:ext cx="2468880" cy="54864"/>
            </a:xfrm>
            <a:prstGeom prst="rect">
              <a:avLst/>
            </a:prstGeom>
            <a:solidFill>
              <a:srgbClr val="9AA0A6"/>
            </a:solidFill>
            <a:ln>
              <a:noFill/>
            </a:ln>
          </p:spPr>
          <p:txBody>
            <a:bodyPr rtlCol="0" anchor="ctr"/>
            <a:lstStyle/>
            <a:p>
              <a:pPr algn="ctr"/>
              <a:endParaRPr/>
            </a:p>
          </p:txBody>
        </p:sp>
        <p:sp>
          <p:nvSpPr>
            <p:cNvPr id="62" name="Sleeper"/>
            <p:cNvSpPr/>
            <p:nvPr/>
          </p:nvSpPr>
          <p:spPr>
            <a:xfrm>
              <a:off x="7498080" y="3008376"/>
              <a:ext cx="64008" cy="365760"/>
            </a:xfrm>
            <a:prstGeom prst="rect">
              <a:avLst/>
            </a:prstGeom>
            <a:solidFill>
              <a:srgbClr val="6B5B4B"/>
            </a:solidFill>
            <a:ln>
              <a:noFill/>
            </a:ln>
          </p:spPr>
          <p:txBody>
            <a:bodyPr rtlCol="0" anchor="ctr"/>
            <a:lstStyle/>
            <a:p>
              <a:pPr algn="ctr"/>
              <a:endParaRPr/>
            </a:p>
          </p:txBody>
        </p:sp>
        <p:sp>
          <p:nvSpPr>
            <p:cNvPr id="63" name="Sleeper"/>
            <p:cNvSpPr/>
            <p:nvPr/>
          </p:nvSpPr>
          <p:spPr>
            <a:xfrm>
              <a:off x="7772400" y="3008376"/>
              <a:ext cx="64008" cy="365760"/>
            </a:xfrm>
            <a:prstGeom prst="rect">
              <a:avLst/>
            </a:prstGeom>
            <a:solidFill>
              <a:srgbClr val="6B5B4B"/>
            </a:solidFill>
            <a:ln>
              <a:noFill/>
            </a:ln>
          </p:spPr>
          <p:txBody>
            <a:bodyPr rtlCol="0" anchor="ctr"/>
            <a:lstStyle/>
            <a:p>
              <a:pPr algn="ctr"/>
              <a:endParaRPr/>
            </a:p>
          </p:txBody>
        </p:sp>
        <p:sp>
          <p:nvSpPr>
            <p:cNvPr id="64" name="Sleeper"/>
            <p:cNvSpPr/>
            <p:nvPr/>
          </p:nvSpPr>
          <p:spPr>
            <a:xfrm>
              <a:off x="8046720" y="3008376"/>
              <a:ext cx="64008" cy="365760"/>
            </a:xfrm>
            <a:prstGeom prst="rect">
              <a:avLst/>
            </a:prstGeom>
            <a:solidFill>
              <a:srgbClr val="6B5B4B"/>
            </a:solidFill>
            <a:ln>
              <a:noFill/>
            </a:ln>
          </p:spPr>
          <p:txBody>
            <a:bodyPr rtlCol="0" anchor="ctr"/>
            <a:lstStyle/>
            <a:p>
              <a:pPr algn="ctr"/>
              <a:endParaRPr/>
            </a:p>
          </p:txBody>
        </p:sp>
        <p:sp>
          <p:nvSpPr>
            <p:cNvPr id="65" name="Sleeper"/>
            <p:cNvSpPr/>
            <p:nvPr/>
          </p:nvSpPr>
          <p:spPr>
            <a:xfrm>
              <a:off x="8321040" y="3008376"/>
              <a:ext cx="64008" cy="365760"/>
            </a:xfrm>
            <a:prstGeom prst="rect">
              <a:avLst/>
            </a:prstGeom>
            <a:solidFill>
              <a:srgbClr val="6B5B4B"/>
            </a:solidFill>
            <a:ln>
              <a:noFill/>
            </a:ln>
          </p:spPr>
          <p:txBody>
            <a:bodyPr rtlCol="0" anchor="ctr"/>
            <a:lstStyle/>
            <a:p>
              <a:pPr algn="ctr"/>
              <a:endParaRPr/>
            </a:p>
          </p:txBody>
        </p:sp>
        <p:sp>
          <p:nvSpPr>
            <p:cNvPr id="66" name="Sleeper"/>
            <p:cNvSpPr/>
            <p:nvPr/>
          </p:nvSpPr>
          <p:spPr>
            <a:xfrm>
              <a:off x="8595360" y="3008376"/>
              <a:ext cx="64008" cy="365760"/>
            </a:xfrm>
            <a:prstGeom prst="rect">
              <a:avLst/>
            </a:prstGeom>
            <a:solidFill>
              <a:srgbClr val="6B5B4B"/>
            </a:solidFill>
            <a:ln>
              <a:noFill/>
            </a:ln>
          </p:spPr>
          <p:txBody>
            <a:bodyPr rtlCol="0" anchor="ctr"/>
            <a:lstStyle/>
            <a:p>
              <a:pPr algn="ctr"/>
              <a:endParaRPr/>
            </a:p>
          </p:txBody>
        </p:sp>
        <p:sp>
          <p:nvSpPr>
            <p:cNvPr id="67" name="Sleeper"/>
            <p:cNvSpPr/>
            <p:nvPr/>
          </p:nvSpPr>
          <p:spPr>
            <a:xfrm>
              <a:off x="8869680" y="3008376"/>
              <a:ext cx="64008" cy="365760"/>
            </a:xfrm>
            <a:prstGeom prst="rect">
              <a:avLst/>
            </a:prstGeom>
            <a:solidFill>
              <a:srgbClr val="6B5B4B"/>
            </a:solidFill>
            <a:ln>
              <a:noFill/>
            </a:ln>
          </p:spPr>
          <p:txBody>
            <a:bodyPr rtlCol="0" anchor="ctr"/>
            <a:lstStyle/>
            <a:p>
              <a:pPr algn="ctr"/>
              <a:endParaRPr/>
            </a:p>
          </p:txBody>
        </p:sp>
        <p:sp>
          <p:nvSpPr>
            <p:cNvPr id="68" name="Sleeper"/>
            <p:cNvSpPr/>
            <p:nvPr/>
          </p:nvSpPr>
          <p:spPr>
            <a:xfrm>
              <a:off x="9144000" y="3008376"/>
              <a:ext cx="64008" cy="365760"/>
            </a:xfrm>
            <a:prstGeom prst="rect">
              <a:avLst/>
            </a:prstGeom>
            <a:solidFill>
              <a:srgbClr val="6B5B4B"/>
            </a:solidFill>
            <a:ln>
              <a:noFill/>
            </a:ln>
          </p:spPr>
          <p:txBody>
            <a:bodyPr rtlCol="0" anchor="ctr"/>
            <a:lstStyle/>
            <a:p>
              <a:pPr algn="ctr"/>
              <a:endParaRPr/>
            </a:p>
          </p:txBody>
        </p:sp>
        <p:sp>
          <p:nvSpPr>
            <p:cNvPr id="69" name="Sleeper"/>
            <p:cNvSpPr/>
            <p:nvPr/>
          </p:nvSpPr>
          <p:spPr>
            <a:xfrm>
              <a:off x="9418320" y="3008376"/>
              <a:ext cx="64008" cy="365760"/>
            </a:xfrm>
            <a:prstGeom prst="rect">
              <a:avLst/>
            </a:prstGeom>
            <a:solidFill>
              <a:srgbClr val="6B5B4B"/>
            </a:solidFill>
            <a:ln>
              <a:noFill/>
            </a:ln>
          </p:spPr>
          <p:txBody>
            <a:bodyPr rtlCol="0" anchor="ctr"/>
            <a:lstStyle/>
            <a:p>
              <a:pPr algn="ctr"/>
              <a:endParaRPr/>
            </a:p>
          </p:txBody>
        </p:sp>
        <p:sp>
          <p:nvSpPr>
            <p:cNvPr id="70" name="Sleeper"/>
            <p:cNvSpPr/>
            <p:nvPr/>
          </p:nvSpPr>
          <p:spPr>
            <a:xfrm>
              <a:off x="9692640" y="3008376"/>
              <a:ext cx="64008" cy="365760"/>
            </a:xfrm>
            <a:prstGeom prst="rect">
              <a:avLst/>
            </a:prstGeom>
            <a:solidFill>
              <a:srgbClr val="6B5B4B"/>
            </a:solidFill>
            <a:ln>
              <a:noFill/>
            </a:ln>
          </p:spPr>
          <p:txBody>
            <a:bodyPr rtlCol="0" anchor="ctr"/>
            <a:lstStyle/>
            <a:p>
              <a:pPr algn="ctr"/>
              <a:endParaRPr/>
            </a:p>
          </p:txBody>
        </p:sp>
        <p:sp>
          <p:nvSpPr>
            <p:cNvPr id="71" name="Sleeper"/>
            <p:cNvSpPr/>
            <p:nvPr/>
          </p:nvSpPr>
          <p:spPr>
            <a:xfrm>
              <a:off x="9966960" y="3008376"/>
              <a:ext cx="64008" cy="365760"/>
            </a:xfrm>
            <a:prstGeom prst="rect">
              <a:avLst/>
            </a:prstGeom>
            <a:solidFill>
              <a:srgbClr val="6B5B4B"/>
            </a:solidFill>
            <a:ln>
              <a:noFill/>
            </a:ln>
          </p:spPr>
          <p:txBody>
            <a:bodyPr rtlCol="0" anchor="ctr"/>
            <a:lstStyle/>
            <a:p>
              <a:pPr algn="ctr"/>
              <a:endParaRPr/>
            </a:p>
          </p:txBody>
        </p:sp>
        <p:sp>
          <p:nvSpPr>
            <p:cNvPr id="72" name="Rail"/>
            <p:cNvSpPr/>
            <p:nvPr/>
          </p:nvSpPr>
          <p:spPr>
            <a:xfrm>
              <a:off x="7452360" y="3063240"/>
              <a:ext cx="2468880" cy="54864"/>
            </a:xfrm>
            <a:prstGeom prst="rect">
              <a:avLst/>
            </a:prstGeom>
            <a:solidFill>
              <a:srgbClr val="9AA0A6"/>
            </a:solidFill>
            <a:ln>
              <a:noFill/>
            </a:ln>
          </p:spPr>
          <p:txBody>
            <a:bodyPr rtlCol="0" anchor="ctr"/>
            <a:lstStyle/>
            <a:p>
              <a:pPr algn="ctr"/>
              <a:endParaRPr/>
            </a:p>
          </p:txBody>
        </p:sp>
        <p:sp>
          <p:nvSpPr>
            <p:cNvPr id="73" name="Rail"/>
            <p:cNvSpPr/>
            <p:nvPr/>
          </p:nvSpPr>
          <p:spPr>
            <a:xfrm>
              <a:off x="7452360" y="3264408"/>
              <a:ext cx="2468880" cy="54864"/>
            </a:xfrm>
            <a:prstGeom prst="rect">
              <a:avLst/>
            </a:prstGeom>
            <a:solidFill>
              <a:srgbClr val="9AA0A6"/>
            </a:solidFill>
            <a:ln>
              <a:noFill/>
            </a:ln>
          </p:spPr>
          <p:txBody>
            <a:bodyPr rtlCol="0" anchor="ctr"/>
            <a:lstStyle/>
            <a:p>
              <a:pPr algn="ctr"/>
              <a:endParaRPr/>
            </a:p>
          </p:txBody>
        </p:sp>
        <p:sp>
          <p:nvSpPr>
            <p:cNvPr id="74" name="Sleeper"/>
            <p:cNvSpPr/>
            <p:nvPr/>
          </p:nvSpPr>
          <p:spPr>
            <a:xfrm>
              <a:off x="7178040" y="3465576"/>
              <a:ext cx="64008" cy="365760"/>
            </a:xfrm>
            <a:prstGeom prst="rect">
              <a:avLst/>
            </a:prstGeom>
            <a:solidFill>
              <a:srgbClr val="6B5B4B"/>
            </a:solidFill>
            <a:ln>
              <a:noFill/>
            </a:ln>
          </p:spPr>
          <p:txBody>
            <a:bodyPr rtlCol="0" anchor="ctr"/>
            <a:lstStyle/>
            <a:p>
              <a:pPr algn="ctr"/>
              <a:endParaRPr/>
            </a:p>
          </p:txBody>
        </p:sp>
        <p:sp>
          <p:nvSpPr>
            <p:cNvPr id="75" name="Sleeper"/>
            <p:cNvSpPr/>
            <p:nvPr/>
          </p:nvSpPr>
          <p:spPr>
            <a:xfrm>
              <a:off x="7452360" y="3465576"/>
              <a:ext cx="64008" cy="365760"/>
            </a:xfrm>
            <a:prstGeom prst="rect">
              <a:avLst/>
            </a:prstGeom>
            <a:solidFill>
              <a:srgbClr val="6B5B4B"/>
            </a:solidFill>
            <a:ln>
              <a:noFill/>
            </a:ln>
          </p:spPr>
          <p:txBody>
            <a:bodyPr rtlCol="0" anchor="ctr"/>
            <a:lstStyle/>
            <a:p>
              <a:pPr algn="ctr"/>
              <a:endParaRPr/>
            </a:p>
          </p:txBody>
        </p:sp>
        <p:sp>
          <p:nvSpPr>
            <p:cNvPr id="76" name="Sleeper"/>
            <p:cNvSpPr/>
            <p:nvPr/>
          </p:nvSpPr>
          <p:spPr>
            <a:xfrm>
              <a:off x="7726680" y="3465576"/>
              <a:ext cx="64008" cy="365760"/>
            </a:xfrm>
            <a:prstGeom prst="rect">
              <a:avLst/>
            </a:prstGeom>
            <a:solidFill>
              <a:srgbClr val="6B5B4B"/>
            </a:solidFill>
            <a:ln>
              <a:noFill/>
            </a:ln>
          </p:spPr>
          <p:txBody>
            <a:bodyPr rtlCol="0" anchor="ctr"/>
            <a:lstStyle/>
            <a:p>
              <a:pPr algn="ctr"/>
              <a:endParaRPr/>
            </a:p>
          </p:txBody>
        </p:sp>
        <p:sp>
          <p:nvSpPr>
            <p:cNvPr id="77" name="Sleeper"/>
            <p:cNvSpPr/>
            <p:nvPr/>
          </p:nvSpPr>
          <p:spPr>
            <a:xfrm>
              <a:off x="8001000" y="3465576"/>
              <a:ext cx="64008" cy="365760"/>
            </a:xfrm>
            <a:prstGeom prst="rect">
              <a:avLst/>
            </a:prstGeom>
            <a:solidFill>
              <a:srgbClr val="6B5B4B"/>
            </a:solidFill>
            <a:ln>
              <a:noFill/>
            </a:ln>
          </p:spPr>
          <p:txBody>
            <a:bodyPr rtlCol="0" anchor="ctr"/>
            <a:lstStyle/>
            <a:p>
              <a:pPr algn="ctr"/>
              <a:endParaRPr/>
            </a:p>
          </p:txBody>
        </p:sp>
        <p:sp>
          <p:nvSpPr>
            <p:cNvPr id="78" name="Sleeper"/>
            <p:cNvSpPr/>
            <p:nvPr/>
          </p:nvSpPr>
          <p:spPr>
            <a:xfrm>
              <a:off x="8275320" y="3465576"/>
              <a:ext cx="64008" cy="365760"/>
            </a:xfrm>
            <a:prstGeom prst="rect">
              <a:avLst/>
            </a:prstGeom>
            <a:solidFill>
              <a:srgbClr val="6B5B4B"/>
            </a:solidFill>
            <a:ln>
              <a:noFill/>
            </a:ln>
          </p:spPr>
          <p:txBody>
            <a:bodyPr rtlCol="0" anchor="ctr"/>
            <a:lstStyle/>
            <a:p>
              <a:pPr algn="ctr"/>
              <a:endParaRPr/>
            </a:p>
          </p:txBody>
        </p:sp>
        <p:sp>
          <p:nvSpPr>
            <p:cNvPr id="79" name="Sleeper"/>
            <p:cNvSpPr/>
            <p:nvPr/>
          </p:nvSpPr>
          <p:spPr>
            <a:xfrm>
              <a:off x="8549640" y="3465576"/>
              <a:ext cx="64008" cy="365760"/>
            </a:xfrm>
            <a:prstGeom prst="rect">
              <a:avLst/>
            </a:prstGeom>
            <a:solidFill>
              <a:srgbClr val="6B5B4B"/>
            </a:solidFill>
            <a:ln>
              <a:noFill/>
            </a:ln>
          </p:spPr>
          <p:txBody>
            <a:bodyPr rtlCol="0" anchor="ctr"/>
            <a:lstStyle/>
            <a:p>
              <a:pPr algn="ctr"/>
              <a:endParaRPr/>
            </a:p>
          </p:txBody>
        </p:sp>
        <p:sp>
          <p:nvSpPr>
            <p:cNvPr id="80" name="Sleeper"/>
            <p:cNvSpPr/>
            <p:nvPr/>
          </p:nvSpPr>
          <p:spPr>
            <a:xfrm>
              <a:off x="8823960" y="3465576"/>
              <a:ext cx="64008" cy="365760"/>
            </a:xfrm>
            <a:prstGeom prst="rect">
              <a:avLst/>
            </a:prstGeom>
            <a:solidFill>
              <a:srgbClr val="6B5B4B"/>
            </a:solidFill>
            <a:ln>
              <a:noFill/>
            </a:ln>
          </p:spPr>
          <p:txBody>
            <a:bodyPr rtlCol="0" anchor="ctr"/>
            <a:lstStyle/>
            <a:p>
              <a:pPr algn="ctr"/>
              <a:endParaRPr/>
            </a:p>
          </p:txBody>
        </p:sp>
        <p:sp>
          <p:nvSpPr>
            <p:cNvPr id="81" name="Sleeper"/>
            <p:cNvSpPr/>
            <p:nvPr/>
          </p:nvSpPr>
          <p:spPr>
            <a:xfrm>
              <a:off x="9098280" y="3465576"/>
              <a:ext cx="64008" cy="365760"/>
            </a:xfrm>
            <a:prstGeom prst="rect">
              <a:avLst/>
            </a:prstGeom>
            <a:solidFill>
              <a:srgbClr val="6B5B4B"/>
            </a:solidFill>
            <a:ln>
              <a:noFill/>
            </a:ln>
          </p:spPr>
          <p:txBody>
            <a:bodyPr rtlCol="0" anchor="ctr"/>
            <a:lstStyle/>
            <a:p>
              <a:pPr algn="ctr"/>
              <a:endParaRPr/>
            </a:p>
          </p:txBody>
        </p:sp>
        <p:sp>
          <p:nvSpPr>
            <p:cNvPr id="82" name="Sleeper"/>
            <p:cNvSpPr/>
            <p:nvPr/>
          </p:nvSpPr>
          <p:spPr>
            <a:xfrm>
              <a:off x="9372600" y="3465576"/>
              <a:ext cx="64008" cy="365760"/>
            </a:xfrm>
            <a:prstGeom prst="rect">
              <a:avLst/>
            </a:prstGeom>
            <a:solidFill>
              <a:srgbClr val="6B5B4B"/>
            </a:solidFill>
            <a:ln>
              <a:noFill/>
            </a:ln>
          </p:spPr>
          <p:txBody>
            <a:bodyPr rtlCol="0" anchor="ctr"/>
            <a:lstStyle/>
            <a:p>
              <a:pPr algn="ctr"/>
              <a:endParaRPr/>
            </a:p>
          </p:txBody>
        </p:sp>
        <p:sp>
          <p:nvSpPr>
            <p:cNvPr id="83" name="Sleeper"/>
            <p:cNvSpPr/>
            <p:nvPr/>
          </p:nvSpPr>
          <p:spPr>
            <a:xfrm>
              <a:off x="9646920" y="3465576"/>
              <a:ext cx="64008" cy="365760"/>
            </a:xfrm>
            <a:prstGeom prst="rect">
              <a:avLst/>
            </a:prstGeom>
            <a:solidFill>
              <a:srgbClr val="6B5B4B"/>
            </a:solidFill>
            <a:ln>
              <a:noFill/>
            </a:ln>
          </p:spPr>
          <p:txBody>
            <a:bodyPr rtlCol="0" anchor="ctr"/>
            <a:lstStyle/>
            <a:p>
              <a:pPr algn="ctr"/>
              <a:endParaRPr/>
            </a:p>
          </p:txBody>
        </p:sp>
        <p:sp>
          <p:nvSpPr>
            <p:cNvPr id="84" name="Rail"/>
            <p:cNvSpPr/>
            <p:nvPr/>
          </p:nvSpPr>
          <p:spPr>
            <a:xfrm>
              <a:off x="7132320" y="3520440"/>
              <a:ext cx="2468880" cy="54864"/>
            </a:xfrm>
            <a:prstGeom prst="rect">
              <a:avLst/>
            </a:prstGeom>
            <a:solidFill>
              <a:srgbClr val="9AA0A6"/>
            </a:solidFill>
            <a:ln>
              <a:noFill/>
            </a:ln>
          </p:spPr>
          <p:txBody>
            <a:bodyPr rtlCol="0" anchor="ctr"/>
            <a:lstStyle/>
            <a:p>
              <a:pPr algn="ctr"/>
              <a:endParaRPr/>
            </a:p>
          </p:txBody>
        </p:sp>
        <p:sp>
          <p:nvSpPr>
            <p:cNvPr id="85" name="Rail"/>
            <p:cNvSpPr/>
            <p:nvPr/>
          </p:nvSpPr>
          <p:spPr>
            <a:xfrm>
              <a:off x="7132320" y="3721608"/>
              <a:ext cx="2468880" cy="54864"/>
            </a:xfrm>
            <a:prstGeom prst="rect">
              <a:avLst/>
            </a:prstGeom>
            <a:solidFill>
              <a:srgbClr val="9AA0A6"/>
            </a:solidFill>
            <a:ln>
              <a:noFill/>
            </a:ln>
          </p:spPr>
          <p:txBody>
            <a:bodyPr rtlCol="0" anchor="ctr"/>
            <a:lstStyle/>
            <a:p>
              <a:pPr algn="ctr"/>
              <a:endParaRPr/>
            </a:p>
          </p:txBody>
        </p:sp>
        <p:sp>
          <p:nvSpPr>
            <p:cNvPr id="86" name="Sleeper"/>
            <p:cNvSpPr/>
            <p:nvPr/>
          </p:nvSpPr>
          <p:spPr>
            <a:xfrm>
              <a:off x="7498080" y="3922776"/>
              <a:ext cx="64008" cy="365760"/>
            </a:xfrm>
            <a:prstGeom prst="rect">
              <a:avLst/>
            </a:prstGeom>
            <a:solidFill>
              <a:srgbClr val="6B5B4B"/>
            </a:solidFill>
            <a:ln>
              <a:noFill/>
            </a:ln>
          </p:spPr>
          <p:txBody>
            <a:bodyPr rtlCol="0" anchor="ctr"/>
            <a:lstStyle/>
            <a:p>
              <a:pPr algn="ctr"/>
              <a:endParaRPr/>
            </a:p>
          </p:txBody>
        </p:sp>
        <p:sp>
          <p:nvSpPr>
            <p:cNvPr id="87" name="Sleeper"/>
            <p:cNvSpPr/>
            <p:nvPr/>
          </p:nvSpPr>
          <p:spPr>
            <a:xfrm>
              <a:off x="7772400" y="3922776"/>
              <a:ext cx="64008" cy="365760"/>
            </a:xfrm>
            <a:prstGeom prst="rect">
              <a:avLst/>
            </a:prstGeom>
            <a:solidFill>
              <a:srgbClr val="6B5B4B"/>
            </a:solidFill>
            <a:ln>
              <a:noFill/>
            </a:ln>
          </p:spPr>
          <p:txBody>
            <a:bodyPr rtlCol="0" anchor="ctr"/>
            <a:lstStyle/>
            <a:p>
              <a:pPr algn="ctr"/>
              <a:endParaRPr/>
            </a:p>
          </p:txBody>
        </p:sp>
        <p:sp>
          <p:nvSpPr>
            <p:cNvPr id="88" name="Sleeper"/>
            <p:cNvSpPr/>
            <p:nvPr/>
          </p:nvSpPr>
          <p:spPr>
            <a:xfrm>
              <a:off x="8046720" y="3922776"/>
              <a:ext cx="64008" cy="365760"/>
            </a:xfrm>
            <a:prstGeom prst="rect">
              <a:avLst/>
            </a:prstGeom>
            <a:solidFill>
              <a:srgbClr val="6B5B4B"/>
            </a:solidFill>
            <a:ln>
              <a:noFill/>
            </a:ln>
          </p:spPr>
          <p:txBody>
            <a:bodyPr rtlCol="0" anchor="ctr"/>
            <a:lstStyle/>
            <a:p>
              <a:pPr algn="ctr"/>
              <a:endParaRPr/>
            </a:p>
          </p:txBody>
        </p:sp>
        <p:sp>
          <p:nvSpPr>
            <p:cNvPr id="89" name="Sleeper"/>
            <p:cNvSpPr/>
            <p:nvPr/>
          </p:nvSpPr>
          <p:spPr>
            <a:xfrm>
              <a:off x="8321040" y="3922776"/>
              <a:ext cx="64008" cy="365760"/>
            </a:xfrm>
            <a:prstGeom prst="rect">
              <a:avLst/>
            </a:prstGeom>
            <a:solidFill>
              <a:srgbClr val="6B5B4B"/>
            </a:solidFill>
            <a:ln>
              <a:noFill/>
            </a:ln>
          </p:spPr>
          <p:txBody>
            <a:bodyPr rtlCol="0" anchor="ctr"/>
            <a:lstStyle/>
            <a:p>
              <a:pPr algn="ctr"/>
              <a:endParaRPr/>
            </a:p>
          </p:txBody>
        </p:sp>
        <p:sp>
          <p:nvSpPr>
            <p:cNvPr id="90" name="Sleeper"/>
            <p:cNvSpPr/>
            <p:nvPr/>
          </p:nvSpPr>
          <p:spPr>
            <a:xfrm>
              <a:off x="8595360" y="3922776"/>
              <a:ext cx="64008" cy="365760"/>
            </a:xfrm>
            <a:prstGeom prst="rect">
              <a:avLst/>
            </a:prstGeom>
            <a:solidFill>
              <a:srgbClr val="6B5B4B"/>
            </a:solidFill>
            <a:ln>
              <a:noFill/>
            </a:ln>
          </p:spPr>
          <p:txBody>
            <a:bodyPr rtlCol="0" anchor="ctr"/>
            <a:lstStyle/>
            <a:p>
              <a:pPr algn="ctr"/>
              <a:endParaRPr/>
            </a:p>
          </p:txBody>
        </p:sp>
        <p:sp>
          <p:nvSpPr>
            <p:cNvPr id="91" name="Sleeper"/>
            <p:cNvSpPr/>
            <p:nvPr/>
          </p:nvSpPr>
          <p:spPr>
            <a:xfrm>
              <a:off x="8869680" y="3922776"/>
              <a:ext cx="64008" cy="365760"/>
            </a:xfrm>
            <a:prstGeom prst="rect">
              <a:avLst/>
            </a:prstGeom>
            <a:solidFill>
              <a:srgbClr val="6B5B4B"/>
            </a:solidFill>
            <a:ln>
              <a:noFill/>
            </a:ln>
          </p:spPr>
          <p:txBody>
            <a:bodyPr rtlCol="0" anchor="ctr"/>
            <a:lstStyle/>
            <a:p>
              <a:pPr algn="ctr"/>
              <a:endParaRPr/>
            </a:p>
          </p:txBody>
        </p:sp>
        <p:sp>
          <p:nvSpPr>
            <p:cNvPr id="92" name="Sleeper"/>
            <p:cNvSpPr/>
            <p:nvPr/>
          </p:nvSpPr>
          <p:spPr>
            <a:xfrm>
              <a:off x="9144000" y="3922776"/>
              <a:ext cx="64008" cy="365760"/>
            </a:xfrm>
            <a:prstGeom prst="rect">
              <a:avLst/>
            </a:prstGeom>
            <a:solidFill>
              <a:srgbClr val="6B5B4B"/>
            </a:solidFill>
            <a:ln>
              <a:noFill/>
            </a:ln>
          </p:spPr>
          <p:txBody>
            <a:bodyPr rtlCol="0" anchor="ctr"/>
            <a:lstStyle/>
            <a:p>
              <a:pPr algn="ctr"/>
              <a:endParaRPr/>
            </a:p>
          </p:txBody>
        </p:sp>
        <p:sp>
          <p:nvSpPr>
            <p:cNvPr id="93" name="Sleeper"/>
            <p:cNvSpPr/>
            <p:nvPr/>
          </p:nvSpPr>
          <p:spPr>
            <a:xfrm>
              <a:off x="9418320" y="3922776"/>
              <a:ext cx="64008" cy="365760"/>
            </a:xfrm>
            <a:prstGeom prst="rect">
              <a:avLst/>
            </a:prstGeom>
            <a:solidFill>
              <a:srgbClr val="6B5B4B"/>
            </a:solidFill>
            <a:ln>
              <a:noFill/>
            </a:ln>
          </p:spPr>
          <p:txBody>
            <a:bodyPr rtlCol="0" anchor="ctr"/>
            <a:lstStyle/>
            <a:p>
              <a:pPr algn="ctr"/>
              <a:endParaRPr/>
            </a:p>
          </p:txBody>
        </p:sp>
        <p:sp>
          <p:nvSpPr>
            <p:cNvPr id="94" name="Sleeper"/>
            <p:cNvSpPr/>
            <p:nvPr/>
          </p:nvSpPr>
          <p:spPr>
            <a:xfrm>
              <a:off x="9692640" y="3922776"/>
              <a:ext cx="64008" cy="365760"/>
            </a:xfrm>
            <a:prstGeom prst="rect">
              <a:avLst/>
            </a:prstGeom>
            <a:solidFill>
              <a:srgbClr val="6B5B4B"/>
            </a:solidFill>
            <a:ln>
              <a:noFill/>
            </a:ln>
          </p:spPr>
          <p:txBody>
            <a:bodyPr rtlCol="0" anchor="ctr"/>
            <a:lstStyle/>
            <a:p>
              <a:pPr algn="ctr"/>
              <a:endParaRPr/>
            </a:p>
          </p:txBody>
        </p:sp>
        <p:sp>
          <p:nvSpPr>
            <p:cNvPr id="95" name="Sleeper"/>
            <p:cNvSpPr/>
            <p:nvPr/>
          </p:nvSpPr>
          <p:spPr>
            <a:xfrm>
              <a:off x="9966960" y="3922776"/>
              <a:ext cx="64008" cy="365760"/>
            </a:xfrm>
            <a:prstGeom prst="rect">
              <a:avLst/>
            </a:prstGeom>
            <a:solidFill>
              <a:srgbClr val="6B5B4B"/>
            </a:solidFill>
            <a:ln>
              <a:noFill/>
            </a:ln>
          </p:spPr>
          <p:txBody>
            <a:bodyPr rtlCol="0" anchor="ctr"/>
            <a:lstStyle/>
            <a:p>
              <a:pPr algn="ctr"/>
              <a:endParaRPr/>
            </a:p>
          </p:txBody>
        </p:sp>
        <p:sp>
          <p:nvSpPr>
            <p:cNvPr id="96" name="Rail"/>
            <p:cNvSpPr/>
            <p:nvPr/>
          </p:nvSpPr>
          <p:spPr>
            <a:xfrm>
              <a:off x="7452360" y="3977640"/>
              <a:ext cx="2468880" cy="54864"/>
            </a:xfrm>
            <a:prstGeom prst="rect">
              <a:avLst/>
            </a:prstGeom>
            <a:solidFill>
              <a:srgbClr val="9AA0A6"/>
            </a:solidFill>
            <a:ln>
              <a:noFill/>
            </a:ln>
          </p:spPr>
          <p:txBody>
            <a:bodyPr rtlCol="0" anchor="ctr"/>
            <a:lstStyle/>
            <a:p>
              <a:pPr algn="ctr"/>
              <a:endParaRPr/>
            </a:p>
          </p:txBody>
        </p:sp>
        <p:sp>
          <p:nvSpPr>
            <p:cNvPr id="97" name="Rail"/>
            <p:cNvSpPr/>
            <p:nvPr/>
          </p:nvSpPr>
          <p:spPr>
            <a:xfrm>
              <a:off x="7452360" y="4178808"/>
              <a:ext cx="2468880" cy="54864"/>
            </a:xfrm>
            <a:prstGeom prst="rect">
              <a:avLst/>
            </a:prstGeom>
            <a:solidFill>
              <a:srgbClr val="9AA0A6"/>
            </a:solidFill>
            <a:ln>
              <a:noFill/>
            </a:ln>
          </p:spPr>
          <p:txBody>
            <a:bodyPr rtlCol="0" anchor="ctr"/>
            <a:lstStyle/>
            <a:p>
              <a:pPr algn="ctr"/>
              <a:endParaRPr/>
            </a:p>
          </p:txBody>
        </p:sp>
        <p:cxnSp>
          <p:nvCxnSpPr>
            <p:cNvPr id="98" name="Cross"/>
            <p:cNvCxnSpPr/>
            <p:nvPr/>
          </p:nvCxnSpPr>
          <p:spPr>
            <a:xfrm>
              <a:off x="7543800" y="2057400"/>
              <a:ext cx="2377440" cy="2377440"/>
            </a:xfrm>
            <a:prstGeom prst="line">
              <a:avLst/>
            </a:prstGeom>
            <a:ln w="101600">
              <a:solidFill>
                <a:srgbClr val="E5484D"/>
              </a:solidFill>
            </a:ln>
          </p:spPr>
        </p:cxnSp>
        <p:cxnSp>
          <p:nvCxnSpPr>
            <p:cNvPr id="99" name="Cross"/>
            <p:cNvCxnSpPr/>
            <p:nvPr/>
          </p:nvCxnSpPr>
          <p:spPr>
            <a:xfrm flipV="1">
              <a:off x="7543800" y="2057400"/>
              <a:ext cx="2377440" cy="2377440"/>
            </a:xfrm>
            <a:prstGeom prst="line">
              <a:avLst/>
            </a:prstGeom>
            <a:ln w="101600">
              <a:solidFill>
                <a:srgbClr val="E5484D"/>
              </a:solidFill>
            </a:ln>
          </p:spPr>
        </p:cxnSp>
        <p:sp>
          <p:nvSpPr>
            <p:cNvPr id="100" name="TextBox 99"/>
            <p:cNvSpPr txBox="1"/>
            <p:nvPr/>
          </p:nvSpPr>
          <p:spPr>
            <a:xfrm>
              <a:off x="6492240" y="4983480"/>
              <a:ext cx="3108960" cy="365760"/>
            </a:xfrm>
            <a:prstGeom prst="rect">
              <a:avLst/>
            </a:prstGeom>
            <a:noFill/>
          </p:spPr>
          <p:txBody>
            <a:bodyPr wrap="square" lIns="0" tIns="0" rIns="0" bIns="0" anchor="ctr">
              <a:noAutofit/>
            </a:bodyPr>
            <a:lstStyle/>
            <a:p>
              <a:pPr algn="l">
                <a:spcBef>
                  <a:spcPts val="0"/>
                </a:spcBef>
                <a:spcAft>
                  <a:spcPts val="0"/>
                </a:spcAft>
              </a:pPr>
              <a:r>
                <a:rPr lang="en-GB" sz="1800" b="1" i="0">
                  <a:solidFill>
                    <a:srgbClr val="F2F2F2"/>
                  </a:solidFill>
                  <a:latin typeface="Arial"/>
                </a:rPr>
                <a:t>Many short pieces</a:t>
              </a:r>
            </a:p>
          </p:txBody>
        </p:sp>
      </p:grpSp>
      <p:grpSp>
        <p:nvGrpSpPr>
          <p:cNvPr id="101" name="Caption" descr="Caption: Track can be laid in long pieces. The challenge is the trains, not the clicking."/>
          <p:cNvGrpSpPr/>
          <p:nvPr/>
        </p:nvGrpSpPr>
        <p:grpSpPr>
          <a:xfrm>
            <a:off x="548640" y="5669280"/>
            <a:ext cx="11091672" cy="822960"/>
            <a:chOff x="548640" y="5669280"/>
            <a:chExt cx="11091672" cy="822960"/>
          </a:xfrm>
        </p:grpSpPr>
        <p:sp>
          <p:nvSpPr>
            <p:cNvPr id="102"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103"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104"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Track can be laid in long pieces. The challenge is the trains, not the clicking.</a:t>
              </a:r>
            </a:p>
          </p:txBody>
        </p:sp>
      </p:grpSp>
      <p:sp>
        <p:nvSpPr>
          <p:cNvPr id="105"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5</a:t>
            </a:r>
          </a:p>
        </p:txBody>
      </p:sp>
    </p:spTree>
    <p:extLst>
      <p:ext uri="{BB962C8B-B14F-4D97-AF65-F5344CB8AC3E}">
        <p14:creationId xmlns:p14="http://schemas.microsoft.com/office/powerpoint/2010/main" val="21223182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par>
                                <p:cTn id="11" presetID="10" presetClass="entr" presetSubtype="0" fill="hold" nodeType="withEffect">
                                  <p:stCondLst>
                                    <p:cond delay="600"/>
                                  </p:stCondLst>
                                  <p:childTnLst>
                                    <p:set>
                                      <p:cBhvr>
                                        <p:cTn id="12" dur="1" fill="hold">
                                          <p:stCondLst>
                                            <p:cond delay="0"/>
                                          </p:stCondLst>
                                        </p:cTn>
                                        <p:tgtEl>
                                          <p:spTgt spid="101"/>
                                        </p:tgtEl>
                                        <p:attrNameLst>
                                          <p:attrName>style.visibility</p:attrName>
                                        </p:attrNameLst>
                                      </p:cBhvr>
                                      <p:to>
                                        <p:strVal val="visible"/>
                                      </p:to>
                                    </p:set>
                                    <p:animEffect transition="in" filter="fade">
                                      <p:cBhvr>
                                        <p:cTn id="13"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A 150 metre experiment</a:t>
            </a:r>
          </a:p>
        </p:txBody>
      </p:sp>
      <p:sp>
        <p:nvSpPr>
          <p:cNvPr id="3" name="Status chip" descr="Status tag: Proposed"/>
          <p:cNvSpPr/>
          <p:nvPr/>
        </p:nvSpPr>
        <p:spPr>
          <a:xfrm>
            <a:off x="10180015" y="457200"/>
            <a:ext cx="1463040" cy="365760"/>
          </a:xfrm>
          <a:prstGeom prst="roundRect">
            <a:avLst>
              <a:gd name="adj" fmla="val 30000"/>
            </a:avLst>
          </a:prstGeom>
          <a:solidFill>
            <a:srgbClr val="B084F5"/>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PROPOSED</a:t>
            </a:r>
          </a:p>
        </p:txBody>
      </p:sp>
      <p:grpSp>
        <p:nvGrpSpPr>
          <p:cNvPr id="4" name="Diagram: a ruler along a curved track" descr="A ruler marked 150 m laid along a curved piece of track, with a question mark: the limit is only an experiment."/>
          <p:cNvGrpSpPr/>
          <p:nvPr/>
        </p:nvGrpSpPr>
        <p:grpSpPr>
          <a:xfrm>
            <a:off x="548640" y="1371600"/>
            <a:ext cx="11091672" cy="4069080"/>
            <a:chOff x="548640" y="1371600"/>
            <a:chExt cx="11091672" cy="4069080"/>
          </a:xfrm>
        </p:grpSpPr>
        <p:sp>
          <p:nvSpPr>
            <p:cNvPr id="5" name="Panel"/>
            <p:cNvSpPr/>
            <p:nvPr/>
          </p:nvSpPr>
          <p:spPr>
            <a:xfrm>
              <a:off x="548640" y="1371600"/>
              <a:ext cx="11091672" cy="4069080"/>
            </a:xfrm>
            <a:prstGeom prst="roundRect">
              <a:avLst>
                <a:gd name="adj" fmla="val 1797"/>
              </a:avLst>
            </a:prstGeom>
            <a:solidFill>
              <a:srgbClr val="2B2F36"/>
            </a:solidFill>
            <a:ln>
              <a:noFill/>
            </a:ln>
          </p:spPr>
          <p:txBody>
            <a:bodyPr rtlCol="0" anchor="ctr"/>
            <a:lstStyle/>
            <a:p>
              <a:pPr algn="ctr"/>
              <a:endParaRPr/>
            </a:p>
          </p:txBody>
        </p:sp>
        <p:sp>
          <p:nvSpPr>
            <p:cNvPr id="6" name="Sleeper"/>
            <p:cNvSpPr/>
            <p:nvPr/>
          </p:nvSpPr>
          <p:spPr>
            <a:xfrm rot="19616667">
              <a:off x="2540711" y="2902073"/>
              <a:ext cx="82296" cy="585216"/>
            </a:xfrm>
            <a:prstGeom prst="rect">
              <a:avLst/>
            </a:prstGeom>
            <a:solidFill>
              <a:srgbClr val="6B5B4B"/>
            </a:solidFill>
            <a:ln>
              <a:noFill/>
            </a:ln>
          </p:spPr>
          <p:txBody>
            <a:bodyPr rtlCol="0" anchor="ctr"/>
            <a:lstStyle/>
            <a:p>
              <a:pPr algn="ctr"/>
              <a:endParaRPr/>
            </a:p>
          </p:txBody>
        </p:sp>
        <p:sp>
          <p:nvSpPr>
            <p:cNvPr id="7" name="Sleeper"/>
            <p:cNvSpPr/>
            <p:nvPr/>
          </p:nvSpPr>
          <p:spPr>
            <a:xfrm rot="19786667">
              <a:off x="2786279" y="2751698"/>
              <a:ext cx="82296" cy="585216"/>
            </a:xfrm>
            <a:prstGeom prst="rect">
              <a:avLst/>
            </a:prstGeom>
            <a:solidFill>
              <a:srgbClr val="6B5B4B"/>
            </a:solidFill>
            <a:ln>
              <a:noFill/>
            </a:ln>
          </p:spPr>
          <p:txBody>
            <a:bodyPr rtlCol="0" anchor="ctr"/>
            <a:lstStyle/>
            <a:p>
              <a:pPr algn="ctr"/>
              <a:endParaRPr/>
            </a:p>
          </p:txBody>
        </p:sp>
        <p:sp>
          <p:nvSpPr>
            <p:cNvPr id="8" name="Sleeper"/>
            <p:cNvSpPr/>
            <p:nvPr/>
          </p:nvSpPr>
          <p:spPr>
            <a:xfrm rot="19900000">
              <a:off x="3038984" y="2613643"/>
              <a:ext cx="82296" cy="585216"/>
            </a:xfrm>
            <a:prstGeom prst="rect">
              <a:avLst/>
            </a:prstGeom>
            <a:solidFill>
              <a:srgbClr val="6B5B4B"/>
            </a:solidFill>
            <a:ln>
              <a:noFill/>
            </a:ln>
          </p:spPr>
          <p:txBody>
            <a:bodyPr rtlCol="0" anchor="ctr"/>
            <a:lstStyle/>
            <a:p>
              <a:pPr algn="ctr"/>
              <a:endParaRPr/>
            </a:p>
          </p:txBody>
        </p:sp>
        <p:sp>
          <p:nvSpPr>
            <p:cNvPr id="9" name="Sleeper"/>
            <p:cNvSpPr/>
            <p:nvPr/>
          </p:nvSpPr>
          <p:spPr>
            <a:xfrm rot="20013333">
              <a:off x="3297276" y="2486354"/>
              <a:ext cx="82296" cy="585216"/>
            </a:xfrm>
            <a:prstGeom prst="rect">
              <a:avLst/>
            </a:prstGeom>
            <a:solidFill>
              <a:srgbClr val="6B5B4B"/>
            </a:solidFill>
            <a:ln>
              <a:noFill/>
            </a:ln>
          </p:spPr>
          <p:txBody>
            <a:bodyPr rtlCol="0" anchor="ctr"/>
            <a:lstStyle/>
            <a:p>
              <a:pPr algn="ctr"/>
              <a:endParaRPr/>
            </a:p>
          </p:txBody>
        </p:sp>
        <p:sp>
          <p:nvSpPr>
            <p:cNvPr id="10" name="Sleeper"/>
            <p:cNvSpPr/>
            <p:nvPr/>
          </p:nvSpPr>
          <p:spPr>
            <a:xfrm rot="20240000">
              <a:off x="3561329" y="2371507"/>
              <a:ext cx="82296" cy="585216"/>
            </a:xfrm>
            <a:prstGeom prst="rect">
              <a:avLst/>
            </a:prstGeom>
            <a:solidFill>
              <a:srgbClr val="6B5B4B"/>
            </a:solidFill>
            <a:ln>
              <a:noFill/>
            </a:ln>
          </p:spPr>
          <p:txBody>
            <a:bodyPr rtlCol="0" anchor="ctr"/>
            <a:lstStyle/>
            <a:p>
              <a:pPr algn="ctr"/>
              <a:endParaRPr/>
            </a:p>
          </p:txBody>
        </p:sp>
        <p:sp>
          <p:nvSpPr>
            <p:cNvPr id="11" name="Sleeper"/>
            <p:cNvSpPr/>
            <p:nvPr/>
          </p:nvSpPr>
          <p:spPr>
            <a:xfrm rot="20353333">
              <a:off x="3830366" y="2268865"/>
              <a:ext cx="82296" cy="585216"/>
            </a:xfrm>
            <a:prstGeom prst="rect">
              <a:avLst/>
            </a:prstGeom>
            <a:solidFill>
              <a:srgbClr val="6B5B4B"/>
            </a:solidFill>
            <a:ln>
              <a:noFill/>
            </a:ln>
          </p:spPr>
          <p:txBody>
            <a:bodyPr rtlCol="0" anchor="ctr"/>
            <a:lstStyle/>
            <a:p>
              <a:pPr algn="ctr"/>
              <a:endParaRPr/>
            </a:p>
          </p:txBody>
        </p:sp>
        <p:sp>
          <p:nvSpPr>
            <p:cNvPr id="12" name="Sleeper"/>
            <p:cNvSpPr/>
            <p:nvPr/>
          </p:nvSpPr>
          <p:spPr>
            <a:xfrm rot="20580000">
              <a:off x="4103494" y="2177641"/>
              <a:ext cx="82296" cy="585216"/>
            </a:xfrm>
            <a:prstGeom prst="rect">
              <a:avLst/>
            </a:prstGeom>
            <a:solidFill>
              <a:srgbClr val="6B5B4B"/>
            </a:solidFill>
            <a:ln>
              <a:noFill/>
            </a:ln>
          </p:spPr>
          <p:txBody>
            <a:bodyPr rtlCol="0" anchor="ctr"/>
            <a:lstStyle/>
            <a:p>
              <a:pPr algn="ctr"/>
              <a:endParaRPr/>
            </a:p>
          </p:txBody>
        </p:sp>
        <p:sp>
          <p:nvSpPr>
            <p:cNvPr id="13" name="Sleeper"/>
            <p:cNvSpPr/>
            <p:nvPr/>
          </p:nvSpPr>
          <p:spPr>
            <a:xfrm rot="20693333">
              <a:off x="4380939" y="2100538"/>
              <a:ext cx="82296" cy="585216"/>
            </a:xfrm>
            <a:prstGeom prst="rect">
              <a:avLst/>
            </a:prstGeom>
            <a:solidFill>
              <a:srgbClr val="6B5B4B"/>
            </a:solidFill>
            <a:ln>
              <a:noFill/>
            </a:ln>
          </p:spPr>
          <p:txBody>
            <a:bodyPr rtlCol="0" anchor="ctr"/>
            <a:lstStyle/>
            <a:p>
              <a:pPr algn="ctr"/>
              <a:endParaRPr/>
            </a:p>
          </p:txBody>
        </p:sp>
        <p:sp>
          <p:nvSpPr>
            <p:cNvPr id="14" name="Sleeper"/>
            <p:cNvSpPr/>
            <p:nvPr/>
          </p:nvSpPr>
          <p:spPr>
            <a:xfrm rot="20806667">
              <a:off x="4661377" y="2035188"/>
              <a:ext cx="82296" cy="585216"/>
            </a:xfrm>
            <a:prstGeom prst="rect">
              <a:avLst/>
            </a:prstGeom>
            <a:solidFill>
              <a:srgbClr val="6B5B4B"/>
            </a:solidFill>
            <a:ln>
              <a:noFill/>
            </a:ln>
          </p:spPr>
          <p:txBody>
            <a:bodyPr rtlCol="0" anchor="ctr"/>
            <a:lstStyle/>
            <a:p>
              <a:pPr algn="ctr"/>
              <a:endParaRPr/>
            </a:p>
          </p:txBody>
        </p:sp>
        <p:sp>
          <p:nvSpPr>
            <p:cNvPr id="15" name="Sleeper"/>
            <p:cNvSpPr/>
            <p:nvPr/>
          </p:nvSpPr>
          <p:spPr>
            <a:xfrm rot="21033333">
              <a:off x="4944509" y="1982745"/>
              <a:ext cx="82296" cy="585216"/>
            </a:xfrm>
            <a:prstGeom prst="rect">
              <a:avLst/>
            </a:prstGeom>
            <a:solidFill>
              <a:srgbClr val="6B5B4B"/>
            </a:solidFill>
            <a:ln>
              <a:noFill/>
            </a:ln>
          </p:spPr>
          <p:txBody>
            <a:bodyPr rtlCol="0" anchor="ctr"/>
            <a:lstStyle/>
            <a:p>
              <a:pPr algn="ctr"/>
              <a:endParaRPr/>
            </a:p>
          </p:txBody>
        </p:sp>
        <p:sp>
          <p:nvSpPr>
            <p:cNvPr id="16" name="Sleeper"/>
            <p:cNvSpPr/>
            <p:nvPr/>
          </p:nvSpPr>
          <p:spPr>
            <a:xfrm rot="21146667">
              <a:off x="5229822" y="1943837"/>
              <a:ext cx="82296" cy="585216"/>
            </a:xfrm>
            <a:prstGeom prst="rect">
              <a:avLst/>
            </a:prstGeom>
            <a:solidFill>
              <a:srgbClr val="6B5B4B"/>
            </a:solidFill>
            <a:ln>
              <a:noFill/>
            </a:ln>
          </p:spPr>
          <p:txBody>
            <a:bodyPr rtlCol="0" anchor="ctr"/>
            <a:lstStyle/>
            <a:p>
              <a:pPr algn="ctr"/>
              <a:endParaRPr/>
            </a:p>
          </p:txBody>
        </p:sp>
        <p:sp>
          <p:nvSpPr>
            <p:cNvPr id="17" name="Sleeper"/>
            <p:cNvSpPr/>
            <p:nvPr/>
          </p:nvSpPr>
          <p:spPr>
            <a:xfrm rot="21260000">
              <a:off x="5516523" y="1916979"/>
              <a:ext cx="82296" cy="585216"/>
            </a:xfrm>
            <a:prstGeom prst="rect">
              <a:avLst/>
            </a:prstGeom>
            <a:solidFill>
              <a:srgbClr val="6B5B4B"/>
            </a:solidFill>
            <a:ln>
              <a:noFill/>
            </a:ln>
          </p:spPr>
          <p:txBody>
            <a:bodyPr rtlCol="0" anchor="ctr"/>
            <a:lstStyle/>
            <a:p>
              <a:pPr algn="ctr"/>
              <a:endParaRPr/>
            </a:p>
          </p:txBody>
        </p:sp>
        <p:sp>
          <p:nvSpPr>
            <p:cNvPr id="18" name="Sleeper"/>
            <p:cNvSpPr/>
            <p:nvPr/>
          </p:nvSpPr>
          <p:spPr>
            <a:xfrm rot="21486667">
              <a:off x="5804196" y="1904325"/>
              <a:ext cx="82296" cy="585216"/>
            </a:xfrm>
            <a:prstGeom prst="rect">
              <a:avLst/>
            </a:prstGeom>
            <a:solidFill>
              <a:srgbClr val="6B5B4B"/>
            </a:solidFill>
            <a:ln>
              <a:noFill/>
            </a:ln>
          </p:spPr>
          <p:txBody>
            <a:bodyPr rtlCol="0" anchor="ctr"/>
            <a:lstStyle/>
            <a:p>
              <a:pPr algn="ctr"/>
              <a:endParaRPr/>
            </a:p>
          </p:txBody>
        </p:sp>
        <p:sp>
          <p:nvSpPr>
            <p:cNvPr id="19" name="Sleeper"/>
            <p:cNvSpPr/>
            <p:nvPr/>
          </p:nvSpPr>
          <p:spPr>
            <a:xfrm>
              <a:off x="6092148" y="1904325"/>
              <a:ext cx="82296" cy="585216"/>
            </a:xfrm>
            <a:prstGeom prst="rect">
              <a:avLst/>
            </a:prstGeom>
            <a:solidFill>
              <a:srgbClr val="6B5B4B"/>
            </a:solidFill>
            <a:ln>
              <a:noFill/>
            </a:ln>
          </p:spPr>
          <p:txBody>
            <a:bodyPr rtlCol="0" anchor="ctr"/>
            <a:lstStyle/>
            <a:p>
              <a:pPr algn="ctr"/>
              <a:endParaRPr/>
            </a:p>
          </p:txBody>
        </p:sp>
        <p:sp>
          <p:nvSpPr>
            <p:cNvPr id="20" name="Sleeper"/>
            <p:cNvSpPr/>
            <p:nvPr/>
          </p:nvSpPr>
          <p:spPr>
            <a:xfrm rot="226667">
              <a:off x="6379821" y="1916979"/>
              <a:ext cx="82296" cy="585216"/>
            </a:xfrm>
            <a:prstGeom prst="rect">
              <a:avLst/>
            </a:prstGeom>
            <a:solidFill>
              <a:srgbClr val="6B5B4B"/>
            </a:solidFill>
            <a:ln>
              <a:noFill/>
            </a:ln>
          </p:spPr>
          <p:txBody>
            <a:bodyPr rtlCol="0" anchor="ctr"/>
            <a:lstStyle/>
            <a:p>
              <a:pPr algn="ctr"/>
              <a:endParaRPr/>
            </a:p>
          </p:txBody>
        </p:sp>
        <p:sp>
          <p:nvSpPr>
            <p:cNvPr id="21" name="Sleeper"/>
            <p:cNvSpPr/>
            <p:nvPr/>
          </p:nvSpPr>
          <p:spPr>
            <a:xfrm rot="340000">
              <a:off x="6666522" y="1943837"/>
              <a:ext cx="82296" cy="585216"/>
            </a:xfrm>
            <a:prstGeom prst="rect">
              <a:avLst/>
            </a:prstGeom>
            <a:solidFill>
              <a:srgbClr val="6B5B4B"/>
            </a:solidFill>
            <a:ln>
              <a:noFill/>
            </a:ln>
          </p:spPr>
          <p:txBody>
            <a:bodyPr rtlCol="0" anchor="ctr"/>
            <a:lstStyle/>
            <a:p>
              <a:pPr algn="ctr"/>
              <a:endParaRPr/>
            </a:p>
          </p:txBody>
        </p:sp>
        <p:sp>
          <p:nvSpPr>
            <p:cNvPr id="22" name="Sleeper"/>
            <p:cNvSpPr/>
            <p:nvPr/>
          </p:nvSpPr>
          <p:spPr>
            <a:xfrm rot="453333">
              <a:off x="6951835" y="1982745"/>
              <a:ext cx="82296" cy="585216"/>
            </a:xfrm>
            <a:prstGeom prst="rect">
              <a:avLst/>
            </a:prstGeom>
            <a:solidFill>
              <a:srgbClr val="6B5B4B"/>
            </a:solidFill>
            <a:ln>
              <a:noFill/>
            </a:ln>
          </p:spPr>
          <p:txBody>
            <a:bodyPr rtlCol="0" anchor="ctr"/>
            <a:lstStyle/>
            <a:p>
              <a:pPr algn="ctr"/>
              <a:endParaRPr/>
            </a:p>
          </p:txBody>
        </p:sp>
        <p:sp>
          <p:nvSpPr>
            <p:cNvPr id="23" name="Sleeper"/>
            <p:cNvSpPr/>
            <p:nvPr/>
          </p:nvSpPr>
          <p:spPr>
            <a:xfrm rot="680000">
              <a:off x="7234967" y="2035188"/>
              <a:ext cx="82296" cy="585216"/>
            </a:xfrm>
            <a:prstGeom prst="rect">
              <a:avLst/>
            </a:prstGeom>
            <a:solidFill>
              <a:srgbClr val="6B5B4B"/>
            </a:solidFill>
            <a:ln>
              <a:noFill/>
            </a:ln>
          </p:spPr>
          <p:txBody>
            <a:bodyPr rtlCol="0" anchor="ctr"/>
            <a:lstStyle/>
            <a:p>
              <a:pPr algn="ctr"/>
              <a:endParaRPr/>
            </a:p>
          </p:txBody>
        </p:sp>
        <p:sp>
          <p:nvSpPr>
            <p:cNvPr id="24" name="Sleeper"/>
            <p:cNvSpPr/>
            <p:nvPr/>
          </p:nvSpPr>
          <p:spPr>
            <a:xfrm rot="793333">
              <a:off x="7515405" y="2100538"/>
              <a:ext cx="82296" cy="585216"/>
            </a:xfrm>
            <a:prstGeom prst="rect">
              <a:avLst/>
            </a:prstGeom>
            <a:solidFill>
              <a:srgbClr val="6B5B4B"/>
            </a:solidFill>
            <a:ln>
              <a:noFill/>
            </a:ln>
          </p:spPr>
          <p:txBody>
            <a:bodyPr rtlCol="0" anchor="ctr"/>
            <a:lstStyle/>
            <a:p>
              <a:pPr algn="ctr"/>
              <a:endParaRPr/>
            </a:p>
          </p:txBody>
        </p:sp>
        <p:sp>
          <p:nvSpPr>
            <p:cNvPr id="25" name="Sleeper"/>
            <p:cNvSpPr/>
            <p:nvPr/>
          </p:nvSpPr>
          <p:spPr>
            <a:xfrm rot="1020000">
              <a:off x="7792850" y="2177641"/>
              <a:ext cx="82296" cy="585216"/>
            </a:xfrm>
            <a:prstGeom prst="rect">
              <a:avLst/>
            </a:prstGeom>
            <a:solidFill>
              <a:srgbClr val="6B5B4B"/>
            </a:solidFill>
            <a:ln>
              <a:noFill/>
            </a:ln>
          </p:spPr>
          <p:txBody>
            <a:bodyPr rtlCol="0" anchor="ctr"/>
            <a:lstStyle/>
            <a:p>
              <a:pPr algn="ctr"/>
              <a:endParaRPr/>
            </a:p>
          </p:txBody>
        </p:sp>
        <p:sp>
          <p:nvSpPr>
            <p:cNvPr id="26" name="Sleeper"/>
            <p:cNvSpPr/>
            <p:nvPr/>
          </p:nvSpPr>
          <p:spPr>
            <a:xfrm rot="1133333">
              <a:off x="8065978" y="2268865"/>
              <a:ext cx="82296" cy="585216"/>
            </a:xfrm>
            <a:prstGeom prst="rect">
              <a:avLst/>
            </a:prstGeom>
            <a:solidFill>
              <a:srgbClr val="6B5B4B"/>
            </a:solidFill>
            <a:ln>
              <a:noFill/>
            </a:ln>
          </p:spPr>
          <p:txBody>
            <a:bodyPr rtlCol="0" anchor="ctr"/>
            <a:lstStyle/>
            <a:p>
              <a:pPr algn="ctr"/>
              <a:endParaRPr/>
            </a:p>
          </p:txBody>
        </p:sp>
        <p:sp>
          <p:nvSpPr>
            <p:cNvPr id="27" name="Sleeper"/>
            <p:cNvSpPr/>
            <p:nvPr/>
          </p:nvSpPr>
          <p:spPr>
            <a:xfrm rot="1246667">
              <a:off x="8335015" y="2371507"/>
              <a:ext cx="82296" cy="585216"/>
            </a:xfrm>
            <a:prstGeom prst="rect">
              <a:avLst/>
            </a:prstGeom>
            <a:solidFill>
              <a:srgbClr val="6B5B4B"/>
            </a:solidFill>
            <a:ln>
              <a:noFill/>
            </a:ln>
          </p:spPr>
          <p:txBody>
            <a:bodyPr rtlCol="0" anchor="ctr"/>
            <a:lstStyle/>
            <a:p>
              <a:pPr algn="ctr"/>
              <a:endParaRPr/>
            </a:p>
          </p:txBody>
        </p:sp>
        <p:sp>
          <p:nvSpPr>
            <p:cNvPr id="28" name="Sleeper"/>
            <p:cNvSpPr/>
            <p:nvPr/>
          </p:nvSpPr>
          <p:spPr>
            <a:xfrm rot="1473333">
              <a:off x="8599068" y="2486354"/>
              <a:ext cx="82296" cy="585216"/>
            </a:xfrm>
            <a:prstGeom prst="rect">
              <a:avLst/>
            </a:prstGeom>
            <a:solidFill>
              <a:srgbClr val="6B5B4B"/>
            </a:solidFill>
            <a:ln>
              <a:noFill/>
            </a:ln>
          </p:spPr>
          <p:txBody>
            <a:bodyPr rtlCol="0" anchor="ctr"/>
            <a:lstStyle/>
            <a:p>
              <a:pPr algn="ctr"/>
              <a:endParaRPr/>
            </a:p>
          </p:txBody>
        </p:sp>
        <p:sp>
          <p:nvSpPr>
            <p:cNvPr id="29" name="Sleeper"/>
            <p:cNvSpPr/>
            <p:nvPr/>
          </p:nvSpPr>
          <p:spPr>
            <a:xfrm rot="1586667">
              <a:off x="8857360" y="2613643"/>
              <a:ext cx="82296" cy="585216"/>
            </a:xfrm>
            <a:prstGeom prst="rect">
              <a:avLst/>
            </a:prstGeom>
            <a:solidFill>
              <a:srgbClr val="6B5B4B"/>
            </a:solidFill>
            <a:ln>
              <a:noFill/>
            </a:ln>
          </p:spPr>
          <p:txBody>
            <a:bodyPr rtlCol="0" anchor="ctr"/>
            <a:lstStyle/>
            <a:p>
              <a:pPr algn="ctr"/>
              <a:endParaRPr/>
            </a:p>
          </p:txBody>
        </p:sp>
        <p:sp>
          <p:nvSpPr>
            <p:cNvPr id="30" name="Sleeper"/>
            <p:cNvSpPr/>
            <p:nvPr/>
          </p:nvSpPr>
          <p:spPr>
            <a:xfrm rot="1700000">
              <a:off x="9110065" y="2751698"/>
              <a:ext cx="82296" cy="585216"/>
            </a:xfrm>
            <a:prstGeom prst="rect">
              <a:avLst/>
            </a:prstGeom>
            <a:solidFill>
              <a:srgbClr val="6B5B4B"/>
            </a:solidFill>
            <a:ln>
              <a:noFill/>
            </a:ln>
          </p:spPr>
          <p:txBody>
            <a:bodyPr rtlCol="0" anchor="ctr"/>
            <a:lstStyle/>
            <a:p>
              <a:pPr algn="ctr"/>
              <a:endParaRPr/>
            </a:p>
          </p:txBody>
        </p:sp>
        <p:sp>
          <p:nvSpPr>
            <p:cNvPr id="31" name="Sleeper"/>
            <p:cNvSpPr/>
            <p:nvPr/>
          </p:nvSpPr>
          <p:spPr>
            <a:xfrm rot="1926667">
              <a:off x="9355633" y="2902073"/>
              <a:ext cx="82296" cy="585216"/>
            </a:xfrm>
            <a:prstGeom prst="rect">
              <a:avLst/>
            </a:prstGeom>
            <a:solidFill>
              <a:srgbClr val="6B5B4B"/>
            </a:solidFill>
            <a:ln>
              <a:noFill/>
            </a:ln>
          </p:spPr>
          <p:txBody>
            <a:bodyPr rtlCol="0" anchor="ctr"/>
            <a:lstStyle/>
            <a:p>
              <a:pPr algn="ctr"/>
              <a:endParaRPr/>
            </a:p>
          </p:txBody>
        </p:sp>
        <p:sp>
          <p:nvSpPr>
            <p:cNvPr id="32" name="Rail"/>
            <p:cNvSpPr/>
            <p:nvPr/>
          </p:nvSpPr>
          <p:spPr>
            <a:xfrm>
              <a:off x="2376381" y="2039112"/>
              <a:ext cx="7225878" cy="1103824"/>
            </a:xfrm>
            <a:custGeom>
              <a:avLst/>
              <a:gdLst/>
              <a:ahLst/>
              <a:cxnLst/>
              <a:rect l="l" t="t" r="r" b="b"/>
              <a:pathLst>
                <a:path w="7225878" h="1103824">
                  <a:moveTo>
                    <a:pt x="0" y="1103824"/>
                  </a:moveTo>
                  <a:lnTo>
                    <a:pt x="176487" y="988994"/>
                  </a:lnTo>
                  <a:lnTo>
                    <a:pt x="358845" y="878699"/>
                  </a:lnTo>
                  <a:lnTo>
                    <a:pt x="544739" y="774475"/>
                  </a:lnTo>
                  <a:lnTo>
                    <a:pt x="733967" y="676435"/>
                  </a:lnTo>
                  <a:lnTo>
                    <a:pt x="926324" y="584685"/>
                  </a:lnTo>
                  <a:lnTo>
                    <a:pt x="1121601" y="499326"/>
                  </a:lnTo>
                  <a:lnTo>
                    <a:pt x="1319585" y="420450"/>
                  </a:lnTo>
                  <a:lnTo>
                    <a:pt x="1520061" y="348142"/>
                  </a:lnTo>
                  <a:lnTo>
                    <a:pt x="1722812" y="282481"/>
                  </a:lnTo>
                  <a:lnTo>
                    <a:pt x="1927617" y="223540"/>
                  </a:lnTo>
                  <a:lnTo>
                    <a:pt x="2134253" y="171380"/>
                  </a:lnTo>
                  <a:lnTo>
                    <a:pt x="2342497" y="126061"/>
                  </a:lnTo>
                  <a:lnTo>
                    <a:pt x="2552121" y="87629"/>
                  </a:lnTo>
                  <a:lnTo>
                    <a:pt x="2762898" y="56129"/>
                  </a:lnTo>
                  <a:lnTo>
                    <a:pt x="2974598" y="31592"/>
                  </a:lnTo>
                  <a:lnTo>
                    <a:pt x="3186993" y="14047"/>
                  </a:lnTo>
                  <a:lnTo>
                    <a:pt x="3399850" y="3513"/>
                  </a:lnTo>
                  <a:lnTo>
                    <a:pt x="3612939" y="0"/>
                  </a:lnTo>
                  <a:lnTo>
                    <a:pt x="3826028" y="3513"/>
                  </a:lnTo>
                  <a:lnTo>
                    <a:pt x="4038885" y="14047"/>
                  </a:lnTo>
                  <a:lnTo>
                    <a:pt x="4251280" y="31592"/>
                  </a:lnTo>
                  <a:lnTo>
                    <a:pt x="4462980" y="56129"/>
                  </a:lnTo>
                  <a:lnTo>
                    <a:pt x="4673757" y="87629"/>
                  </a:lnTo>
                  <a:lnTo>
                    <a:pt x="4883381" y="126061"/>
                  </a:lnTo>
                  <a:lnTo>
                    <a:pt x="5091625" y="171380"/>
                  </a:lnTo>
                  <a:lnTo>
                    <a:pt x="5298261" y="223540"/>
                  </a:lnTo>
                  <a:lnTo>
                    <a:pt x="5503066" y="282481"/>
                  </a:lnTo>
                  <a:lnTo>
                    <a:pt x="5705817" y="348142"/>
                  </a:lnTo>
                  <a:lnTo>
                    <a:pt x="5906293" y="420450"/>
                  </a:lnTo>
                  <a:lnTo>
                    <a:pt x="6104277" y="499326"/>
                  </a:lnTo>
                  <a:lnTo>
                    <a:pt x="6299554" y="584685"/>
                  </a:lnTo>
                  <a:lnTo>
                    <a:pt x="6491911" y="676435"/>
                  </a:lnTo>
                  <a:lnTo>
                    <a:pt x="6681139" y="774475"/>
                  </a:lnTo>
                  <a:lnTo>
                    <a:pt x="6867033" y="878699"/>
                  </a:lnTo>
                  <a:lnTo>
                    <a:pt x="7049391" y="988994"/>
                  </a:lnTo>
                  <a:lnTo>
                    <a:pt x="7225878" y="1103824"/>
                  </a:lnTo>
                </a:path>
              </a:pathLst>
            </a:custGeom>
            <a:noFill/>
            <a:ln w="31750">
              <a:solidFill>
                <a:srgbClr val="9AA0A6"/>
              </a:solidFill>
            </a:ln>
          </p:spPr>
          <p:txBody>
            <a:bodyPr rtlCol="0" anchor="ctr"/>
            <a:lstStyle/>
            <a:p>
              <a:pPr algn="ctr"/>
              <a:endParaRPr/>
            </a:p>
          </p:txBody>
        </p:sp>
        <p:sp>
          <p:nvSpPr>
            <p:cNvPr id="33" name="Rail"/>
            <p:cNvSpPr/>
            <p:nvPr/>
          </p:nvSpPr>
          <p:spPr>
            <a:xfrm>
              <a:off x="2545960" y="2350008"/>
              <a:ext cx="6886720" cy="1053503"/>
            </a:xfrm>
            <a:custGeom>
              <a:avLst/>
              <a:gdLst/>
              <a:ahLst/>
              <a:cxnLst/>
              <a:rect l="l" t="t" r="r" b="b"/>
              <a:pathLst>
                <a:path w="6886720" h="1053503">
                  <a:moveTo>
                    <a:pt x="0" y="1053503"/>
                  </a:moveTo>
                  <a:lnTo>
                    <a:pt x="172169" y="941433"/>
                  </a:lnTo>
                  <a:lnTo>
                    <a:pt x="345757" y="836442"/>
                  </a:lnTo>
                  <a:lnTo>
                    <a:pt x="522711" y="737230"/>
                  </a:lnTo>
                  <a:lnTo>
                    <a:pt x="702839" y="643905"/>
                  </a:lnTo>
                  <a:lnTo>
                    <a:pt x="885946" y="556568"/>
                  </a:lnTo>
                  <a:lnTo>
                    <a:pt x="1071831" y="475313"/>
                  </a:lnTo>
                  <a:lnTo>
                    <a:pt x="1260294" y="400230"/>
                  </a:lnTo>
                  <a:lnTo>
                    <a:pt x="1451130" y="331400"/>
                  </a:lnTo>
                  <a:lnTo>
                    <a:pt x="1644130" y="268897"/>
                  </a:lnTo>
                  <a:lnTo>
                    <a:pt x="1839086" y="212789"/>
                  </a:lnTo>
                  <a:lnTo>
                    <a:pt x="2035785" y="163139"/>
                  </a:lnTo>
                  <a:lnTo>
                    <a:pt x="2234014" y="119998"/>
                  </a:lnTo>
                  <a:lnTo>
                    <a:pt x="2433557" y="83415"/>
                  </a:lnTo>
                  <a:lnTo>
                    <a:pt x="2634198" y="53429"/>
                  </a:lnTo>
                  <a:lnTo>
                    <a:pt x="2835718" y="30073"/>
                  </a:lnTo>
                  <a:lnTo>
                    <a:pt x="3037898" y="13372"/>
                  </a:lnTo>
                  <a:lnTo>
                    <a:pt x="3240519" y="3344"/>
                  </a:lnTo>
                  <a:lnTo>
                    <a:pt x="3443360" y="0"/>
                  </a:lnTo>
                  <a:lnTo>
                    <a:pt x="3646201" y="3344"/>
                  </a:lnTo>
                  <a:lnTo>
                    <a:pt x="3848822" y="13372"/>
                  </a:lnTo>
                  <a:lnTo>
                    <a:pt x="4051002" y="30073"/>
                  </a:lnTo>
                  <a:lnTo>
                    <a:pt x="4252522" y="53429"/>
                  </a:lnTo>
                  <a:lnTo>
                    <a:pt x="4453163" y="83415"/>
                  </a:lnTo>
                  <a:lnTo>
                    <a:pt x="4652706" y="119998"/>
                  </a:lnTo>
                  <a:lnTo>
                    <a:pt x="4850935" y="163139"/>
                  </a:lnTo>
                  <a:lnTo>
                    <a:pt x="5047634" y="212789"/>
                  </a:lnTo>
                  <a:lnTo>
                    <a:pt x="5242590" y="268897"/>
                  </a:lnTo>
                  <a:lnTo>
                    <a:pt x="5435590" y="331400"/>
                  </a:lnTo>
                  <a:lnTo>
                    <a:pt x="5626426" y="400230"/>
                  </a:lnTo>
                  <a:lnTo>
                    <a:pt x="5814889" y="475313"/>
                  </a:lnTo>
                  <a:lnTo>
                    <a:pt x="6000774" y="556568"/>
                  </a:lnTo>
                  <a:lnTo>
                    <a:pt x="6183881" y="643905"/>
                  </a:lnTo>
                  <a:lnTo>
                    <a:pt x="6364009" y="737230"/>
                  </a:lnTo>
                  <a:lnTo>
                    <a:pt x="6540963" y="836442"/>
                  </a:lnTo>
                  <a:lnTo>
                    <a:pt x="6714551" y="941433"/>
                  </a:lnTo>
                  <a:lnTo>
                    <a:pt x="6886720" y="1053503"/>
                  </a:lnTo>
                </a:path>
              </a:pathLst>
            </a:custGeom>
            <a:noFill/>
            <a:ln w="31750">
              <a:solidFill>
                <a:srgbClr val="9AA0A6"/>
              </a:solidFill>
            </a:ln>
          </p:spPr>
          <p:txBody>
            <a:bodyPr rtlCol="0" anchor="ctr"/>
            <a:lstStyle/>
            <a:p>
              <a:pPr algn="ctr"/>
              <a:endParaRPr/>
            </a:p>
          </p:txBody>
        </p:sp>
        <p:sp>
          <p:nvSpPr>
            <p:cNvPr id="34" name="Ruler"/>
            <p:cNvSpPr/>
            <p:nvPr/>
          </p:nvSpPr>
          <p:spPr>
            <a:xfrm>
              <a:off x="2870231" y="2926080"/>
              <a:ext cx="6238178" cy="1370541"/>
            </a:xfrm>
            <a:custGeom>
              <a:avLst/>
              <a:gdLst/>
              <a:ahLst/>
              <a:cxnLst/>
              <a:rect l="l" t="t" r="r" b="b"/>
              <a:pathLst>
                <a:path w="6238178" h="1370541">
                  <a:moveTo>
                    <a:pt x="0" y="953601"/>
                  </a:moveTo>
                  <a:lnTo>
                    <a:pt x="154116" y="853304"/>
                  </a:lnTo>
                  <a:lnTo>
                    <a:pt x="311455" y="758142"/>
                  </a:lnTo>
                  <a:lnTo>
                    <a:pt x="471844" y="668217"/>
                  </a:lnTo>
                  <a:lnTo>
                    <a:pt x="635110" y="583628"/>
                  </a:lnTo>
                  <a:lnTo>
                    <a:pt x="801076" y="504467"/>
                  </a:lnTo>
                  <a:lnTo>
                    <a:pt x="969561" y="430819"/>
                  </a:lnTo>
                  <a:lnTo>
                    <a:pt x="1140382" y="362764"/>
                  </a:lnTo>
                  <a:lnTo>
                    <a:pt x="1313353" y="300377"/>
                  </a:lnTo>
                  <a:lnTo>
                    <a:pt x="1488286" y="243725"/>
                  </a:lnTo>
                  <a:lnTo>
                    <a:pt x="1664992" y="192870"/>
                  </a:lnTo>
                  <a:lnTo>
                    <a:pt x="1843278" y="147867"/>
                  </a:lnTo>
                  <a:lnTo>
                    <a:pt x="2022951" y="108765"/>
                  </a:lnTo>
                  <a:lnTo>
                    <a:pt x="2203815" y="75607"/>
                  </a:lnTo>
                  <a:lnTo>
                    <a:pt x="2385673" y="48428"/>
                  </a:lnTo>
                  <a:lnTo>
                    <a:pt x="2568328" y="27258"/>
                  </a:lnTo>
                  <a:lnTo>
                    <a:pt x="2751582" y="12120"/>
                  </a:lnTo>
                  <a:lnTo>
                    <a:pt x="2935236" y="3031"/>
                  </a:lnTo>
                  <a:lnTo>
                    <a:pt x="3119089" y="0"/>
                  </a:lnTo>
                  <a:lnTo>
                    <a:pt x="3302942" y="3031"/>
                  </a:lnTo>
                  <a:lnTo>
                    <a:pt x="3486596" y="12120"/>
                  </a:lnTo>
                  <a:lnTo>
                    <a:pt x="3669850" y="27258"/>
                  </a:lnTo>
                  <a:lnTo>
                    <a:pt x="3852505" y="48428"/>
                  </a:lnTo>
                  <a:lnTo>
                    <a:pt x="4034363" y="75607"/>
                  </a:lnTo>
                  <a:lnTo>
                    <a:pt x="4215227" y="108765"/>
                  </a:lnTo>
                  <a:lnTo>
                    <a:pt x="4394900" y="147867"/>
                  </a:lnTo>
                  <a:lnTo>
                    <a:pt x="4573186" y="192870"/>
                  </a:lnTo>
                  <a:lnTo>
                    <a:pt x="4749892" y="243725"/>
                  </a:lnTo>
                  <a:lnTo>
                    <a:pt x="4924825" y="300377"/>
                  </a:lnTo>
                  <a:lnTo>
                    <a:pt x="5097796" y="362764"/>
                  </a:lnTo>
                  <a:lnTo>
                    <a:pt x="5268617" y="430819"/>
                  </a:lnTo>
                  <a:lnTo>
                    <a:pt x="5437102" y="504467"/>
                  </a:lnTo>
                  <a:lnTo>
                    <a:pt x="5603068" y="583628"/>
                  </a:lnTo>
                  <a:lnTo>
                    <a:pt x="5766334" y="668217"/>
                  </a:lnTo>
                  <a:lnTo>
                    <a:pt x="5926723" y="758142"/>
                  </a:lnTo>
                  <a:lnTo>
                    <a:pt x="6084062" y="853304"/>
                  </a:lnTo>
                  <a:lnTo>
                    <a:pt x="6238178" y="953601"/>
                  </a:lnTo>
                  <a:lnTo>
                    <a:pt x="5956948" y="1370541"/>
                  </a:lnTo>
                  <a:lnTo>
                    <a:pt x="5816728" y="1279287"/>
                  </a:lnTo>
                  <a:lnTo>
                    <a:pt x="5673576" y="1192705"/>
                  </a:lnTo>
                  <a:lnTo>
                    <a:pt x="5527648" y="1110888"/>
                  </a:lnTo>
                  <a:lnTo>
                    <a:pt x="5379102" y="1033926"/>
                  </a:lnTo>
                  <a:lnTo>
                    <a:pt x="5228101" y="961902"/>
                  </a:lnTo>
                  <a:lnTo>
                    <a:pt x="5074807" y="894894"/>
                  </a:lnTo>
                  <a:lnTo>
                    <a:pt x="4919388" y="832976"/>
                  </a:lnTo>
                  <a:lnTo>
                    <a:pt x="4762013" y="776214"/>
                  </a:lnTo>
                  <a:lnTo>
                    <a:pt x="4602852" y="724670"/>
                  </a:lnTo>
                  <a:lnTo>
                    <a:pt x="4442079" y="678400"/>
                  </a:lnTo>
                  <a:lnTo>
                    <a:pt x="4279868" y="637455"/>
                  </a:lnTo>
                  <a:lnTo>
                    <a:pt x="4116395" y="601878"/>
                  </a:lnTo>
                  <a:lnTo>
                    <a:pt x="3951839" y="571710"/>
                  </a:lnTo>
                  <a:lnTo>
                    <a:pt x="3786377" y="546981"/>
                  </a:lnTo>
                  <a:lnTo>
                    <a:pt x="3620191" y="527720"/>
                  </a:lnTo>
                  <a:lnTo>
                    <a:pt x="3453460" y="513947"/>
                  </a:lnTo>
                  <a:lnTo>
                    <a:pt x="3286365" y="505678"/>
                  </a:lnTo>
                  <a:lnTo>
                    <a:pt x="3119089" y="502920"/>
                  </a:lnTo>
                  <a:lnTo>
                    <a:pt x="2951813" y="505678"/>
                  </a:lnTo>
                  <a:lnTo>
                    <a:pt x="2784718" y="513947"/>
                  </a:lnTo>
                  <a:lnTo>
                    <a:pt x="2617987" y="527720"/>
                  </a:lnTo>
                  <a:lnTo>
                    <a:pt x="2451801" y="546981"/>
                  </a:lnTo>
                  <a:lnTo>
                    <a:pt x="2286339" y="571710"/>
                  </a:lnTo>
                  <a:lnTo>
                    <a:pt x="2121783" y="601878"/>
                  </a:lnTo>
                  <a:lnTo>
                    <a:pt x="1958310" y="637455"/>
                  </a:lnTo>
                  <a:lnTo>
                    <a:pt x="1796099" y="678400"/>
                  </a:lnTo>
                  <a:lnTo>
                    <a:pt x="1635326" y="724670"/>
                  </a:lnTo>
                  <a:lnTo>
                    <a:pt x="1476165" y="776214"/>
                  </a:lnTo>
                  <a:lnTo>
                    <a:pt x="1318790" y="832976"/>
                  </a:lnTo>
                  <a:lnTo>
                    <a:pt x="1163371" y="894894"/>
                  </a:lnTo>
                  <a:lnTo>
                    <a:pt x="1010077" y="961902"/>
                  </a:lnTo>
                  <a:lnTo>
                    <a:pt x="859076" y="1033926"/>
                  </a:lnTo>
                  <a:lnTo>
                    <a:pt x="710530" y="1110888"/>
                  </a:lnTo>
                  <a:lnTo>
                    <a:pt x="564602" y="1192705"/>
                  </a:lnTo>
                  <a:lnTo>
                    <a:pt x="421450" y="1279287"/>
                  </a:lnTo>
                  <a:lnTo>
                    <a:pt x="281230" y="1370541"/>
                  </a:lnTo>
                  <a:close/>
                </a:path>
              </a:pathLst>
            </a:custGeom>
            <a:solidFill>
              <a:srgbClr val="F2C14E"/>
            </a:solidFill>
            <a:ln w="19050">
              <a:solidFill>
                <a:srgbClr val="101418"/>
              </a:solidFill>
            </a:ln>
          </p:spPr>
          <p:txBody>
            <a:bodyPr rtlCol="0" anchor="ctr"/>
            <a:lstStyle/>
            <a:p>
              <a:pPr algn="ctr"/>
              <a:endParaRPr/>
            </a:p>
          </p:txBody>
        </p:sp>
        <p:cxnSp>
          <p:nvCxnSpPr>
            <p:cNvPr id="35" name="Tick"/>
            <p:cNvCxnSpPr/>
            <p:nvPr/>
          </p:nvCxnSpPr>
          <p:spPr>
            <a:xfrm>
              <a:off x="2870231" y="3879681"/>
              <a:ext cx="173851" cy="257745"/>
            </a:xfrm>
            <a:prstGeom prst="line">
              <a:avLst/>
            </a:prstGeom>
            <a:ln w="19050">
              <a:solidFill>
                <a:srgbClr val="101418"/>
              </a:solidFill>
            </a:ln>
          </p:spPr>
        </p:cxnSp>
        <p:cxnSp>
          <p:nvCxnSpPr>
            <p:cNvPr id="36" name="Tick"/>
            <p:cNvCxnSpPr/>
            <p:nvPr/>
          </p:nvCxnSpPr>
          <p:spPr>
            <a:xfrm>
              <a:off x="3055563" y="3759938"/>
              <a:ext cx="96189" cy="155540"/>
            </a:xfrm>
            <a:prstGeom prst="line">
              <a:avLst/>
            </a:prstGeom>
            <a:ln w="19050">
              <a:solidFill>
                <a:srgbClr val="101418"/>
              </a:solidFill>
            </a:ln>
          </p:spPr>
        </p:cxnSp>
        <p:cxnSp>
          <p:nvCxnSpPr>
            <p:cNvPr id="37" name="Tick"/>
            <p:cNvCxnSpPr/>
            <p:nvPr/>
          </p:nvCxnSpPr>
          <p:spPr>
            <a:xfrm>
              <a:off x="3245485" y="3647618"/>
              <a:ext cx="89962" cy="159223"/>
            </a:xfrm>
            <a:prstGeom prst="line">
              <a:avLst/>
            </a:prstGeom>
            <a:ln w="19050">
              <a:solidFill>
                <a:srgbClr val="101418"/>
              </a:solidFill>
            </a:ln>
          </p:spPr>
        </p:cxnSp>
        <p:cxnSp>
          <p:nvCxnSpPr>
            <p:cNvPr id="38" name="Tick"/>
            <p:cNvCxnSpPr/>
            <p:nvPr/>
          </p:nvCxnSpPr>
          <p:spPr>
            <a:xfrm>
              <a:off x="3439701" y="3542898"/>
              <a:ext cx="83594" cy="162656"/>
            </a:xfrm>
            <a:prstGeom prst="line">
              <a:avLst/>
            </a:prstGeom>
            <a:ln w="19050">
              <a:solidFill>
                <a:srgbClr val="101418"/>
              </a:solidFill>
            </a:ln>
          </p:spPr>
        </p:cxnSp>
        <p:cxnSp>
          <p:nvCxnSpPr>
            <p:cNvPr id="39" name="Tick"/>
            <p:cNvCxnSpPr/>
            <p:nvPr/>
          </p:nvCxnSpPr>
          <p:spPr>
            <a:xfrm>
              <a:off x="3637907" y="3445941"/>
              <a:ext cx="77095" cy="165835"/>
            </a:xfrm>
            <a:prstGeom prst="line">
              <a:avLst/>
            </a:prstGeom>
            <a:ln w="19050">
              <a:solidFill>
                <a:srgbClr val="101418"/>
              </a:solidFill>
            </a:ln>
          </p:spPr>
        </p:cxnSp>
        <p:cxnSp>
          <p:nvCxnSpPr>
            <p:cNvPr id="40" name="Tick"/>
            <p:cNvCxnSpPr/>
            <p:nvPr/>
          </p:nvCxnSpPr>
          <p:spPr>
            <a:xfrm>
              <a:off x="3839792" y="3356899"/>
              <a:ext cx="119810" cy="286883"/>
            </a:xfrm>
            <a:prstGeom prst="line">
              <a:avLst/>
            </a:prstGeom>
            <a:ln w="19050">
              <a:solidFill>
                <a:srgbClr val="101418"/>
              </a:solidFill>
            </a:ln>
          </p:spPr>
        </p:cxnSp>
        <p:cxnSp>
          <p:nvCxnSpPr>
            <p:cNvPr id="41" name="Tick"/>
            <p:cNvCxnSpPr/>
            <p:nvPr/>
          </p:nvCxnSpPr>
          <p:spPr>
            <a:xfrm>
              <a:off x="4045041" y="3275911"/>
              <a:ext cx="63747" cy="171410"/>
            </a:xfrm>
            <a:prstGeom prst="line">
              <a:avLst/>
            </a:prstGeom>
            <a:ln w="19050">
              <a:solidFill>
                <a:srgbClr val="101418"/>
              </a:solidFill>
            </a:ln>
          </p:spPr>
        </p:cxnSp>
        <p:cxnSp>
          <p:nvCxnSpPr>
            <p:cNvPr id="42" name="Tick"/>
            <p:cNvCxnSpPr/>
            <p:nvPr/>
          </p:nvCxnSpPr>
          <p:spPr>
            <a:xfrm>
              <a:off x="4253332" y="3203104"/>
              <a:ext cx="56918" cy="173798"/>
            </a:xfrm>
            <a:prstGeom prst="line">
              <a:avLst/>
            </a:prstGeom>
            <a:ln w="19050">
              <a:solidFill>
                <a:srgbClr val="101418"/>
              </a:solidFill>
            </a:ln>
          </p:spPr>
        </p:cxnSp>
        <p:cxnSp>
          <p:nvCxnSpPr>
            <p:cNvPr id="43" name="Tick"/>
            <p:cNvCxnSpPr/>
            <p:nvPr/>
          </p:nvCxnSpPr>
          <p:spPr>
            <a:xfrm>
              <a:off x="4464340" y="3138593"/>
              <a:ext cx="50000" cy="175912"/>
            </a:xfrm>
            <a:prstGeom prst="line">
              <a:avLst/>
            </a:prstGeom>
            <a:ln w="19050">
              <a:solidFill>
                <a:srgbClr val="101418"/>
              </a:solidFill>
            </a:ln>
          </p:spPr>
        </p:cxnSp>
        <p:cxnSp>
          <p:nvCxnSpPr>
            <p:cNvPr id="44" name="Tick"/>
            <p:cNvCxnSpPr/>
            <p:nvPr/>
          </p:nvCxnSpPr>
          <p:spPr>
            <a:xfrm>
              <a:off x="4677735" y="3082477"/>
              <a:ext cx="43003" cy="177752"/>
            </a:xfrm>
            <a:prstGeom prst="line">
              <a:avLst/>
            </a:prstGeom>
            <a:ln w="19050">
              <a:solidFill>
                <a:srgbClr val="101418"/>
              </a:solidFill>
            </a:ln>
          </p:spPr>
        </p:cxnSp>
        <p:cxnSp>
          <p:nvCxnSpPr>
            <p:cNvPr id="45" name="Tick"/>
            <p:cNvCxnSpPr/>
            <p:nvPr/>
          </p:nvCxnSpPr>
          <p:spPr>
            <a:xfrm>
              <a:off x="4893182" y="3034845"/>
              <a:ext cx="61096" cy="304834"/>
            </a:xfrm>
            <a:prstGeom prst="line">
              <a:avLst/>
            </a:prstGeom>
            <a:ln w="19050">
              <a:solidFill>
                <a:srgbClr val="101418"/>
              </a:solidFill>
            </a:ln>
          </p:spPr>
        </p:cxnSp>
        <p:cxnSp>
          <p:nvCxnSpPr>
            <p:cNvPr id="46" name="Tick"/>
            <p:cNvCxnSpPr/>
            <p:nvPr/>
          </p:nvCxnSpPr>
          <p:spPr>
            <a:xfrm>
              <a:off x="5110344" y="2995771"/>
              <a:ext cx="28819" cy="180596"/>
            </a:xfrm>
            <a:prstGeom prst="line">
              <a:avLst/>
            </a:prstGeom>
            <a:ln w="19050">
              <a:solidFill>
                <a:srgbClr val="101418"/>
              </a:solidFill>
            </a:ln>
          </p:spPr>
        </p:cxnSp>
        <p:cxnSp>
          <p:nvCxnSpPr>
            <p:cNvPr id="47" name="Tick"/>
            <p:cNvCxnSpPr/>
            <p:nvPr/>
          </p:nvCxnSpPr>
          <p:spPr>
            <a:xfrm>
              <a:off x="5328882" y="2965317"/>
              <a:ext cx="21653" cy="181594"/>
            </a:xfrm>
            <a:prstGeom prst="line">
              <a:avLst/>
            </a:prstGeom>
            <a:ln w="19050">
              <a:solidFill>
                <a:srgbClr val="101418"/>
              </a:solidFill>
            </a:ln>
          </p:spPr>
        </p:cxnSp>
        <p:cxnSp>
          <p:nvCxnSpPr>
            <p:cNvPr id="48" name="Tick"/>
            <p:cNvCxnSpPr/>
            <p:nvPr/>
          </p:nvCxnSpPr>
          <p:spPr>
            <a:xfrm>
              <a:off x="5548453" y="2943530"/>
              <a:ext cx="14454" cy="182308"/>
            </a:xfrm>
            <a:prstGeom prst="line">
              <a:avLst/>
            </a:prstGeom>
            <a:ln w="19050">
              <a:solidFill>
                <a:srgbClr val="101418"/>
              </a:solidFill>
            </a:ln>
          </p:spPr>
        </p:cxnSp>
        <p:cxnSp>
          <p:nvCxnSpPr>
            <p:cNvPr id="49" name="Tick"/>
            <p:cNvCxnSpPr/>
            <p:nvPr/>
          </p:nvCxnSpPr>
          <p:spPr>
            <a:xfrm>
              <a:off x="5768714" y="2930444"/>
              <a:ext cx="7233" cy="182737"/>
            </a:xfrm>
            <a:prstGeom prst="line">
              <a:avLst/>
            </a:prstGeom>
            <a:ln w="19050">
              <a:solidFill>
                <a:srgbClr val="101418"/>
              </a:solidFill>
            </a:ln>
          </p:spPr>
        </p:cxnSp>
        <p:cxnSp>
          <p:nvCxnSpPr>
            <p:cNvPr id="50" name="Tick"/>
            <p:cNvCxnSpPr/>
            <p:nvPr/>
          </p:nvCxnSpPr>
          <p:spPr>
            <a:xfrm>
              <a:off x="5989320" y="2926080"/>
              <a:ext cx="0" cy="310896"/>
            </a:xfrm>
            <a:prstGeom prst="line">
              <a:avLst/>
            </a:prstGeom>
            <a:ln w="19050">
              <a:solidFill>
                <a:srgbClr val="101418"/>
              </a:solidFill>
            </a:ln>
          </p:spPr>
        </p:cxnSp>
        <p:cxnSp>
          <p:nvCxnSpPr>
            <p:cNvPr id="51" name="Tick"/>
            <p:cNvCxnSpPr/>
            <p:nvPr/>
          </p:nvCxnSpPr>
          <p:spPr>
            <a:xfrm flipH="1">
              <a:off x="6202693" y="2930444"/>
              <a:ext cx="7233" cy="182737"/>
            </a:xfrm>
            <a:prstGeom prst="line">
              <a:avLst/>
            </a:prstGeom>
            <a:ln w="19050">
              <a:solidFill>
                <a:srgbClr val="101418"/>
              </a:solidFill>
            </a:ln>
          </p:spPr>
        </p:cxnSp>
        <p:cxnSp>
          <p:nvCxnSpPr>
            <p:cNvPr id="52" name="Tick"/>
            <p:cNvCxnSpPr/>
            <p:nvPr/>
          </p:nvCxnSpPr>
          <p:spPr>
            <a:xfrm flipH="1">
              <a:off x="6415733" y="2943530"/>
              <a:ext cx="14454" cy="182308"/>
            </a:xfrm>
            <a:prstGeom prst="line">
              <a:avLst/>
            </a:prstGeom>
            <a:ln w="19050">
              <a:solidFill>
                <a:srgbClr val="101418"/>
              </a:solidFill>
            </a:ln>
          </p:spPr>
        </p:cxnSp>
        <p:cxnSp>
          <p:nvCxnSpPr>
            <p:cNvPr id="53" name="Tick"/>
            <p:cNvCxnSpPr/>
            <p:nvPr/>
          </p:nvCxnSpPr>
          <p:spPr>
            <a:xfrm flipH="1">
              <a:off x="6628105" y="2965317"/>
              <a:ext cx="21653" cy="181594"/>
            </a:xfrm>
            <a:prstGeom prst="line">
              <a:avLst/>
            </a:prstGeom>
            <a:ln w="19050">
              <a:solidFill>
                <a:srgbClr val="101418"/>
              </a:solidFill>
            </a:ln>
          </p:spPr>
        </p:cxnSp>
        <p:cxnSp>
          <p:nvCxnSpPr>
            <p:cNvPr id="54" name="Tick"/>
            <p:cNvCxnSpPr/>
            <p:nvPr/>
          </p:nvCxnSpPr>
          <p:spPr>
            <a:xfrm flipH="1">
              <a:off x="6839477" y="2995771"/>
              <a:ext cx="28819" cy="180596"/>
            </a:xfrm>
            <a:prstGeom prst="line">
              <a:avLst/>
            </a:prstGeom>
            <a:ln w="19050">
              <a:solidFill>
                <a:srgbClr val="101418"/>
              </a:solidFill>
            </a:ln>
          </p:spPr>
        </p:cxnSp>
        <p:cxnSp>
          <p:nvCxnSpPr>
            <p:cNvPr id="55" name="Tick"/>
            <p:cNvCxnSpPr/>
            <p:nvPr/>
          </p:nvCxnSpPr>
          <p:spPr>
            <a:xfrm flipH="1">
              <a:off x="7024362" y="3034845"/>
              <a:ext cx="61096" cy="304834"/>
            </a:xfrm>
            <a:prstGeom prst="line">
              <a:avLst/>
            </a:prstGeom>
            <a:ln w="19050">
              <a:solidFill>
                <a:srgbClr val="101418"/>
              </a:solidFill>
            </a:ln>
          </p:spPr>
        </p:cxnSp>
        <p:cxnSp>
          <p:nvCxnSpPr>
            <p:cNvPr id="56" name="Tick"/>
            <p:cNvCxnSpPr/>
            <p:nvPr/>
          </p:nvCxnSpPr>
          <p:spPr>
            <a:xfrm flipH="1">
              <a:off x="7257902" y="3082477"/>
              <a:ext cx="43003" cy="177752"/>
            </a:xfrm>
            <a:prstGeom prst="line">
              <a:avLst/>
            </a:prstGeom>
            <a:ln w="19050">
              <a:solidFill>
                <a:srgbClr val="101418"/>
              </a:solidFill>
            </a:ln>
          </p:spPr>
        </p:cxnSp>
        <p:cxnSp>
          <p:nvCxnSpPr>
            <p:cNvPr id="57" name="Tick"/>
            <p:cNvCxnSpPr/>
            <p:nvPr/>
          </p:nvCxnSpPr>
          <p:spPr>
            <a:xfrm flipH="1">
              <a:off x="7464300" y="3138593"/>
              <a:ext cx="50000" cy="175912"/>
            </a:xfrm>
            <a:prstGeom prst="line">
              <a:avLst/>
            </a:prstGeom>
            <a:ln w="19050">
              <a:solidFill>
                <a:srgbClr val="101418"/>
              </a:solidFill>
            </a:ln>
          </p:spPr>
        </p:cxnSp>
        <p:cxnSp>
          <p:nvCxnSpPr>
            <p:cNvPr id="58" name="Tick"/>
            <p:cNvCxnSpPr/>
            <p:nvPr/>
          </p:nvCxnSpPr>
          <p:spPr>
            <a:xfrm flipH="1">
              <a:off x="7668390" y="3203104"/>
              <a:ext cx="56918" cy="173798"/>
            </a:xfrm>
            <a:prstGeom prst="line">
              <a:avLst/>
            </a:prstGeom>
            <a:ln w="19050">
              <a:solidFill>
                <a:srgbClr val="101418"/>
              </a:solidFill>
            </a:ln>
          </p:spPr>
        </p:cxnSp>
        <p:cxnSp>
          <p:nvCxnSpPr>
            <p:cNvPr id="59" name="Tick"/>
            <p:cNvCxnSpPr/>
            <p:nvPr/>
          </p:nvCxnSpPr>
          <p:spPr>
            <a:xfrm flipH="1">
              <a:off x="7869852" y="3275911"/>
              <a:ext cx="63747" cy="171410"/>
            </a:xfrm>
            <a:prstGeom prst="line">
              <a:avLst/>
            </a:prstGeom>
            <a:ln w="19050">
              <a:solidFill>
                <a:srgbClr val="101418"/>
              </a:solidFill>
            </a:ln>
          </p:spPr>
        </p:cxnSp>
        <p:cxnSp>
          <p:nvCxnSpPr>
            <p:cNvPr id="60" name="Tick"/>
            <p:cNvCxnSpPr/>
            <p:nvPr/>
          </p:nvCxnSpPr>
          <p:spPr>
            <a:xfrm flipH="1">
              <a:off x="8019038" y="3356899"/>
              <a:ext cx="119810" cy="286883"/>
            </a:xfrm>
            <a:prstGeom prst="line">
              <a:avLst/>
            </a:prstGeom>
            <a:ln w="19050">
              <a:solidFill>
                <a:srgbClr val="101418"/>
              </a:solidFill>
            </a:ln>
          </p:spPr>
        </p:cxnSp>
        <p:cxnSp>
          <p:nvCxnSpPr>
            <p:cNvPr id="61" name="Tick"/>
            <p:cNvCxnSpPr/>
            <p:nvPr/>
          </p:nvCxnSpPr>
          <p:spPr>
            <a:xfrm flipH="1">
              <a:off x="8263638" y="3445941"/>
              <a:ext cx="77095" cy="165835"/>
            </a:xfrm>
            <a:prstGeom prst="line">
              <a:avLst/>
            </a:prstGeom>
            <a:ln w="19050">
              <a:solidFill>
                <a:srgbClr val="101418"/>
              </a:solidFill>
            </a:ln>
          </p:spPr>
        </p:cxnSp>
        <p:cxnSp>
          <p:nvCxnSpPr>
            <p:cNvPr id="62" name="Tick"/>
            <p:cNvCxnSpPr/>
            <p:nvPr/>
          </p:nvCxnSpPr>
          <p:spPr>
            <a:xfrm flipH="1">
              <a:off x="8455345" y="3542898"/>
              <a:ext cx="83594" cy="162656"/>
            </a:xfrm>
            <a:prstGeom prst="line">
              <a:avLst/>
            </a:prstGeom>
            <a:ln w="19050">
              <a:solidFill>
                <a:srgbClr val="101418"/>
              </a:solidFill>
            </a:ln>
          </p:spPr>
        </p:cxnSp>
        <p:cxnSp>
          <p:nvCxnSpPr>
            <p:cNvPr id="63" name="Tick"/>
            <p:cNvCxnSpPr/>
            <p:nvPr/>
          </p:nvCxnSpPr>
          <p:spPr>
            <a:xfrm flipH="1">
              <a:off x="8643193" y="3647618"/>
              <a:ext cx="89962" cy="159223"/>
            </a:xfrm>
            <a:prstGeom prst="line">
              <a:avLst/>
            </a:prstGeom>
            <a:ln w="19050">
              <a:solidFill>
                <a:srgbClr val="101418"/>
              </a:solidFill>
            </a:ln>
          </p:spPr>
        </p:cxnSp>
        <p:cxnSp>
          <p:nvCxnSpPr>
            <p:cNvPr id="64" name="Tick"/>
            <p:cNvCxnSpPr/>
            <p:nvPr/>
          </p:nvCxnSpPr>
          <p:spPr>
            <a:xfrm flipH="1">
              <a:off x="8826888" y="3759938"/>
              <a:ext cx="96189" cy="155540"/>
            </a:xfrm>
            <a:prstGeom prst="line">
              <a:avLst/>
            </a:prstGeom>
            <a:ln w="19050">
              <a:solidFill>
                <a:srgbClr val="101418"/>
              </a:solidFill>
            </a:ln>
          </p:spPr>
        </p:cxnSp>
        <p:cxnSp>
          <p:nvCxnSpPr>
            <p:cNvPr id="65" name="Tick"/>
            <p:cNvCxnSpPr/>
            <p:nvPr/>
          </p:nvCxnSpPr>
          <p:spPr>
            <a:xfrm flipH="1">
              <a:off x="8934558" y="3879681"/>
              <a:ext cx="173851" cy="257745"/>
            </a:xfrm>
            <a:prstGeom prst="line">
              <a:avLst/>
            </a:prstGeom>
            <a:ln w="19050">
              <a:solidFill>
                <a:srgbClr val="101418"/>
              </a:solidFill>
            </a:ln>
          </p:spPr>
        </p:cxnSp>
        <p:sp>
          <p:nvSpPr>
            <p:cNvPr id="66" name="TextBox 65"/>
            <p:cNvSpPr txBox="1"/>
            <p:nvPr/>
          </p:nvSpPr>
          <p:spPr>
            <a:xfrm>
              <a:off x="4892040" y="3611880"/>
              <a:ext cx="2194560" cy="457200"/>
            </a:xfrm>
            <a:prstGeom prst="rect">
              <a:avLst/>
            </a:prstGeom>
            <a:noFill/>
          </p:spPr>
          <p:txBody>
            <a:bodyPr wrap="square" lIns="45720" tIns="27432" rIns="45720" bIns="27432" anchor="ctr">
              <a:noAutofit/>
            </a:bodyPr>
            <a:lstStyle/>
            <a:p>
              <a:pPr algn="ctr">
                <a:spcBef>
                  <a:spcPts val="0"/>
                </a:spcBef>
                <a:spcAft>
                  <a:spcPts val="0"/>
                </a:spcAft>
              </a:pPr>
              <a:r>
                <a:rPr lang="en-GB" sz="2000" b="1" i="0">
                  <a:solidFill>
                    <a:srgbClr val="F2C14E"/>
                  </a:solidFill>
                  <a:latin typeface="Arial"/>
                </a:rPr>
                <a:t>150 m</a:t>
              </a:r>
            </a:p>
          </p:txBody>
        </p:sp>
        <p:sp>
          <p:nvSpPr>
            <p:cNvPr id="67" name="Question mark"/>
            <p:cNvSpPr/>
            <p:nvPr/>
          </p:nvSpPr>
          <p:spPr>
            <a:xfrm>
              <a:off x="10149840" y="2194560"/>
              <a:ext cx="822960" cy="822960"/>
            </a:xfrm>
            <a:prstGeom prst="ellipse">
              <a:avLst/>
            </a:prstGeom>
            <a:noFill/>
            <a:ln w="38100">
              <a:solidFill>
                <a:srgbClr val="F28C28"/>
              </a:solidFill>
            </a:ln>
          </p:spPr>
          <p:txBody>
            <a:bodyPr wrap="none" lIns="0" tIns="0" rIns="0" bIns="0" rtlCol="0" anchor="ctr">
              <a:noAutofit/>
            </a:bodyPr>
            <a:lstStyle/>
            <a:p>
              <a:pPr algn="ctr">
                <a:spcBef>
                  <a:spcPts val="0"/>
                </a:spcBef>
                <a:spcAft>
                  <a:spcPts val="0"/>
                </a:spcAft>
              </a:pPr>
              <a:r>
                <a:rPr lang="en-GB" sz="3200" b="1" i="0">
                  <a:solidFill>
                    <a:srgbClr val="F28C28"/>
                  </a:solidFill>
                  <a:latin typeface="Arial"/>
                </a:rPr>
                <a:t>?</a:t>
              </a:r>
            </a:p>
          </p:txBody>
        </p:sp>
        <p:sp>
          <p:nvSpPr>
            <p:cNvPr id="68" name="TextBox 67"/>
            <p:cNvSpPr txBox="1"/>
            <p:nvPr/>
          </p:nvSpPr>
          <p:spPr>
            <a:xfrm>
              <a:off x="10607040" y="4892040"/>
              <a:ext cx="868680" cy="365760"/>
            </a:xfrm>
            <a:prstGeom prst="rect">
              <a:avLst/>
            </a:prstGeom>
            <a:noFill/>
          </p:spPr>
          <p:txBody>
            <a:bodyPr wrap="square" lIns="45720" tIns="27432" rIns="45720" bIns="27432" anchor="ctr">
              <a:noAutofit/>
            </a:bodyPr>
            <a:lstStyle/>
            <a:p>
              <a:pPr algn="r">
                <a:spcBef>
                  <a:spcPts val="0"/>
                </a:spcBef>
                <a:spcAft>
                  <a:spcPts val="0"/>
                </a:spcAft>
              </a:pPr>
              <a:r>
                <a:rPr lang="en-GB" sz="1400" b="0" i="0">
                  <a:solidFill>
                    <a:srgbClr val="A9B0B8"/>
                  </a:solidFill>
                  <a:latin typeface="Arial"/>
                </a:rPr>
                <a:t>OQ02</a:t>
              </a:r>
            </a:p>
          </p:txBody>
        </p:sp>
      </p:grpSp>
      <p:grpSp>
        <p:nvGrpSpPr>
          <p:cNvPr id="69" name="Caption" descr="Caption: A 150 metre piece limit is only an experiment. It may not work."/>
          <p:cNvGrpSpPr/>
          <p:nvPr/>
        </p:nvGrpSpPr>
        <p:grpSpPr>
          <a:xfrm>
            <a:off x="548640" y="5669280"/>
            <a:ext cx="11091672" cy="822960"/>
            <a:chOff x="548640" y="5669280"/>
            <a:chExt cx="11091672" cy="822960"/>
          </a:xfrm>
        </p:grpSpPr>
        <p:sp>
          <p:nvSpPr>
            <p:cNvPr id="70"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71"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72"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A 150 metre piece limit is only an experiment. It may not work.</a:t>
              </a:r>
            </a:p>
          </p:txBody>
        </p:sp>
      </p:grpSp>
      <p:sp>
        <p:nvSpPr>
          <p:cNvPr id="73"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6</a:t>
            </a:r>
          </a:p>
        </p:txBody>
      </p:sp>
    </p:spTree>
    <p:extLst>
      <p:ext uri="{BB962C8B-B14F-4D97-AF65-F5344CB8AC3E}">
        <p14:creationId xmlns:p14="http://schemas.microsoft.com/office/powerpoint/2010/main" val="31665353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9"/>
                                        </p:tgtEl>
                                        <p:attrNameLst>
                                          <p:attrName>style.visibility</p:attrName>
                                        </p:attrNameLst>
                                      </p:cBhvr>
                                      <p:to>
                                        <p:strVal val="visible"/>
                                      </p:to>
                                    </p:set>
                                    <p:animEffect transition="in" filter="fade">
                                      <p:cBhvr>
                                        <p:cTn id="10"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Every transport has a job</a:t>
            </a:r>
          </a:p>
        </p:txBody>
      </p:sp>
      <p:sp>
        <p:nvSpPr>
          <p:cNvPr id="3" name="Status chip" descr="Status tag: Agreed"/>
          <p:cNvSpPr/>
          <p:nvPr/>
        </p:nvSpPr>
        <p:spPr>
          <a:xfrm>
            <a:off x="10180015" y="457200"/>
            <a:ext cx="1463040" cy="365760"/>
          </a:xfrm>
          <a:prstGeom prst="roundRect">
            <a:avLst>
              <a:gd name="adj" fmla="val 30000"/>
            </a:avLst>
          </a:prstGeom>
          <a:solidFill>
            <a:srgbClr val="3FB950"/>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Lane: Belts" descr="Belts: permanent short and medium links"/>
          <p:cNvGrpSpPr/>
          <p:nvPr/>
        </p:nvGrpSpPr>
        <p:grpSpPr>
          <a:xfrm>
            <a:off x="548640" y="1325880"/>
            <a:ext cx="11091672" cy="960120"/>
            <a:chOff x="548640" y="1325880"/>
            <a:chExt cx="11091672" cy="960120"/>
          </a:xfrm>
        </p:grpSpPr>
        <p:sp>
          <p:nvSpPr>
            <p:cNvPr id="5" name="Lane panel"/>
            <p:cNvSpPr/>
            <p:nvPr/>
          </p:nvSpPr>
          <p:spPr>
            <a:xfrm>
              <a:off x="548640" y="1325880"/>
              <a:ext cx="11091672" cy="960120"/>
            </a:xfrm>
            <a:prstGeom prst="roundRect">
              <a:avLst>
                <a:gd name="adj" fmla="val 7619"/>
              </a:avLst>
            </a:prstGeom>
            <a:solidFill>
              <a:srgbClr val="2B2F36"/>
            </a:solidFill>
            <a:ln>
              <a:noFill/>
            </a:ln>
          </p:spPr>
          <p:txBody>
            <a:bodyPr rtlCol="0" anchor="ctr"/>
            <a:lstStyle/>
            <a:p>
              <a:pPr algn="ctr"/>
              <a:endParaRPr/>
            </a:p>
          </p:txBody>
        </p:sp>
        <p:sp>
          <p:nvSpPr>
            <p:cNvPr id="6" name="Lane accent"/>
            <p:cNvSpPr/>
            <p:nvPr/>
          </p:nvSpPr>
          <p:spPr>
            <a:xfrm>
              <a:off x="548640" y="1417320"/>
              <a:ext cx="91440" cy="777240"/>
            </a:xfrm>
            <a:prstGeom prst="rect">
              <a:avLst/>
            </a:prstGeom>
            <a:solidFill>
              <a:srgbClr val="9AA0A6"/>
            </a:solidFill>
            <a:ln>
              <a:noFill/>
            </a:ln>
          </p:spPr>
          <p:txBody>
            <a:bodyPr rtlCol="0" anchor="ctr"/>
            <a:lstStyle/>
            <a:p>
              <a:pPr algn="ctr"/>
              <a:endParaRPr/>
            </a:p>
          </p:txBody>
        </p:sp>
        <p:sp>
          <p:nvSpPr>
            <p:cNvPr id="7" name="Belt"/>
            <p:cNvSpPr/>
            <p:nvPr/>
          </p:nvSpPr>
          <p:spPr>
            <a:xfrm>
              <a:off x="960120" y="1828800"/>
              <a:ext cx="2286000" cy="274320"/>
            </a:xfrm>
            <a:prstGeom prst="roundRect">
              <a:avLst>
                <a:gd name="adj" fmla="val 50000"/>
              </a:avLst>
            </a:prstGeom>
            <a:solidFill>
              <a:srgbClr val="1B1D21"/>
            </a:solidFill>
            <a:ln w="19050">
              <a:solidFill>
                <a:srgbClr val="9AA0A6"/>
              </a:solidFill>
            </a:ln>
          </p:spPr>
          <p:txBody>
            <a:bodyPr rtlCol="0" anchor="ctr"/>
            <a:lstStyle/>
            <a:p>
              <a:pPr algn="ctr"/>
              <a:endParaRPr/>
            </a:p>
          </p:txBody>
        </p:sp>
        <p:sp>
          <p:nvSpPr>
            <p:cNvPr id="8" name="Chevron"/>
            <p:cNvSpPr/>
            <p:nvPr/>
          </p:nvSpPr>
          <p:spPr>
            <a:xfrm>
              <a:off x="1143000" y="1892808"/>
              <a:ext cx="164592" cy="146304"/>
            </a:xfrm>
            <a:prstGeom prst="chevron">
              <a:avLst/>
            </a:prstGeom>
            <a:solidFill>
              <a:srgbClr val="9AA0A6"/>
            </a:solidFill>
            <a:ln>
              <a:noFill/>
            </a:ln>
          </p:spPr>
          <p:txBody>
            <a:bodyPr rtlCol="0" anchor="ctr"/>
            <a:lstStyle/>
            <a:p>
              <a:pPr algn="ctr"/>
              <a:endParaRPr/>
            </a:p>
          </p:txBody>
        </p:sp>
        <p:sp>
          <p:nvSpPr>
            <p:cNvPr id="9" name="Chevron"/>
            <p:cNvSpPr/>
            <p:nvPr/>
          </p:nvSpPr>
          <p:spPr>
            <a:xfrm>
              <a:off x="1490472" y="1892808"/>
              <a:ext cx="164592" cy="146304"/>
            </a:xfrm>
            <a:prstGeom prst="chevron">
              <a:avLst/>
            </a:prstGeom>
            <a:solidFill>
              <a:srgbClr val="9AA0A6"/>
            </a:solidFill>
            <a:ln>
              <a:noFill/>
            </a:ln>
          </p:spPr>
          <p:txBody>
            <a:bodyPr rtlCol="0" anchor="ctr"/>
            <a:lstStyle/>
            <a:p>
              <a:pPr algn="ctr"/>
              <a:endParaRPr/>
            </a:p>
          </p:txBody>
        </p:sp>
        <p:sp>
          <p:nvSpPr>
            <p:cNvPr id="10" name="Chevron"/>
            <p:cNvSpPr/>
            <p:nvPr/>
          </p:nvSpPr>
          <p:spPr>
            <a:xfrm>
              <a:off x="1837944" y="1892808"/>
              <a:ext cx="164592" cy="146304"/>
            </a:xfrm>
            <a:prstGeom prst="chevron">
              <a:avLst/>
            </a:prstGeom>
            <a:solidFill>
              <a:srgbClr val="9AA0A6"/>
            </a:solidFill>
            <a:ln>
              <a:noFill/>
            </a:ln>
          </p:spPr>
          <p:txBody>
            <a:bodyPr rtlCol="0" anchor="ctr"/>
            <a:lstStyle/>
            <a:p>
              <a:pPr algn="ctr"/>
              <a:endParaRPr/>
            </a:p>
          </p:txBody>
        </p:sp>
        <p:sp>
          <p:nvSpPr>
            <p:cNvPr id="11" name="Chevron"/>
            <p:cNvSpPr/>
            <p:nvPr/>
          </p:nvSpPr>
          <p:spPr>
            <a:xfrm>
              <a:off x="2185416" y="1892808"/>
              <a:ext cx="164592" cy="146304"/>
            </a:xfrm>
            <a:prstGeom prst="chevron">
              <a:avLst/>
            </a:prstGeom>
            <a:solidFill>
              <a:srgbClr val="9AA0A6"/>
            </a:solidFill>
            <a:ln>
              <a:noFill/>
            </a:ln>
          </p:spPr>
          <p:txBody>
            <a:bodyPr rtlCol="0" anchor="ctr"/>
            <a:lstStyle/>
            <a:p>
              <a:pPr algn="ctr"/>
              <a:endParaRPr/>
            </a:p>
          </p:txBody>
        </p:sp>
        <p:sp>
          <p:nvSpPr>
            <p:cNvPr id="12" name="Chevron"/>
            <p:cNvSpPr/>
            <p:nvPr/>
          </p:nvSpPr>
          <p:spPr>
            <a:xfrm>
              <a:off x="2532888" y="1892808"/>
              <a:ext cx="164592" cy="146304"/>
            </a:xfrm>
            <a:prstGeom prst="chevron">
              <a:avLst/>
            </a:prstGeom>
            <a:solidFill>
              <a:srgbClr val="9AA0A6"/>
            </a:solidFill>
            <a:ln>
              <a:noFill/>
            </a:ln>
          </p:spPr>
          <p:txBody>
            <a:bodyPr rtlCol="0" anchor="ctr"/>
            <a:lstStyle/>
            <a:p>
              <a:pPr algn="ctr"/>
              <a:endParaRPr/>
            </a:p>
          </p:txBody>
        </p:sp>
        <p:sp>
          <p:nvSpPr>
            <p:cNvPr id="13" name="Chevron"/>
            <p:cNvSpPr/>
            <p:nvPr/>
          </p:nvSpPr>
          <p:spPr>
            <a:xfrm>
              <a:off x="2880360" y="1892808"/>
              <a:ext cx="164592" cy="146304"/>
            </a:xfrm>
            <a:prstGeom prst="chevron">
              <a:avLst/>
            </a:prstGeom>
            <a:solidFill>
              <a:srgbClr val="9AA0A6"/>
            </a:solidFill>
            <a:ln>
              <a:noFill/>
            </a:ln>
          </p:spPr>
          <p:txBody>
            <a:bodyPr rtlCol="0" anchor="ctr"/>
            <a:lstStyle/>
            <a:p>
              <a:pPr algn="ctr"/>
              <a:endParaRPr/>
            </a:p>
          </p:txBody>
        </p:sp>
        <p:sp>
          <p:nvSpPr>
            <p:cNvPr id="14" name="Crate"/>
            <p:cNvSpPr/>
            <p:nvPr/>
          </p:nvSpPr>
          <p:spPr>
            <a:xfrm>
              <a:off x="1325880" y="1600200"/>
              <a:ext cx="274320" cy="228600"/>
            </a:xfrm>
            <a:prstGeom prst="rect">
              <a:avLst/>
            </a:prstGeom>
            <a:solidFill>
              <a:srgbClr val="F2C14E"/>
            </a:solidFill>
            <a:ln w="12700">
              <a:solidFill>
                <a:srgbClr val="101418"/>
              </a:solidFill>
            </a:ln>
          </p:spPr>
          <p:txBody>
            <a:bodyPr rtlCol="0" anchor="ctr"/>
            <a:lstStyle/>
            <a:p>
              <a:pPr algn="ctr"/>
              <a:endParaRPr/>
            </a:p>
          </p:txBody>
        </p:sp>
        <p:sp>
          <p:nvSpPr>
            <p:cNvPr id="15" name="Crate"/>
            <p:cNvSpPr/>
            <p:nvPr/>
          </p:nvSpPr>
          <p:spPr>
            <a:xfrm>
              <a:off x="2331720" y="1600200"/>
              <a:ext cx="274320" cy="228600"/>
            </a:xfrm>
            <a:prstGeom prst="rect">
              <a:avLst/>
            </a:prstGeom>
            <a:solidFill>
              <a:srgbClr val="F2C14E"/>
            </a:solidFill>
            <a:ln w="12700">
              <a:solidFill>
                <a:srgbClr val="101418"/>
              </a:solidFill>
            </a:ln>
          </p:spPr>
          <p:txBody>
            <a:bodyPr rtlCol="0" anchor="ctr"/>
            <a:lstStyle/>
            <a:p>
              <a:pPr algn="ctr"/>
              <a:endParaRPr/>
            </a:p>
          </p:txBody>
        </p:sp>
        <p:sp>
          <p:nvSpPr>
            <p:cNvPr id="16" name="Lane label"/>
            <p:cNvSpPr txBox="1"/>
            <p:nvPr/>
          </p:nvSpPr>
          <p:spPr>
            <a:xfrm>
              <a:off x="3657600" y="1325880"/>
              <a:ext cx="7772400" cy="96012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Belts:</a:t>
              </a:r>
              <a:r>
                <a:rPr lang="en-GB" sz="2000" b="0" i="0">
                  <a:solidFill>
                    <a:srgbClr val="F2F2F2"/>
                  </a:solidFill>
                  <a:latin typeface="Arial"/>
                </a:rPr>
                <a:t> permanent short and medium links</a:t>
              </a:r>
            </a:p>
          </p:txBody>
        </p:sp>
      </p:grpSp>
      <p:grpSp>
        <p:nvGrpSpPr>
          <p:cNvPr id="17" name="Lane: Tractors" descr="Tractors: flexible, little infrastructure"/>
          <p:cNvGrpSpPr/>
          <p:nvPr/>
        </p:nvGrpSpPr>
        <p:grpSpPr>
          <a:xfrm>
            <a:off x="548640" y="2395728"/>
            <a:ext cx="11091672" cy="960120"/>
            <a:chOff x="548640" y="2395728"/>
            <a:chExt cx="11091672" cy="960120"/>
          </a:xfrm>
        </p:grpSpPr>
        <p:sp>
          <p:nvSpPr>
            <p:cNvPr id="18" name="Lane panel"/>
            <p:cNvSpPr/>
            <p:nvPr/>
          </p:nvSpPr>
          <p:spPr>
            <a:xfrm>
              <a:off x="548640" y="2395728"/>
              <a:ext cx="11091672" cy="960120"/>
            </a:xfrm>
            <a:prstGeom prst="roundRect">
              <a:avLst>
                <a:gd name="adj" fmla="val 7619"/>
              </a:avLst>
            </a:prstGeom>
            <a:solidFill>
              <a:srgbClr val="2B2F36"/>
            </a:solidFill>
            <a:ln>
              <a:noFill/>
            </a:ln>
          </p:spPr>
          <p:txBody>
            <a:bodyPr rtlCol="0" anchor="ctr"/>
            <a:lstStyle/>
            <a:p>
              <a:pPr algn="ctr"/>
              <a:endParaRPr/>
            </a:p>
          </p:txBody>
        </p:sp>
        <p:sp>
          <p:nvSpPr>
            <p:cNvPr id="19" name="Lane accent"/>
            <p:cNvSpPr/>
            <p:nvPr/>
          </p:nvSpPr>
          <p:spPr>
            <a:xfrm>
              <a:off x="548640" y="2487168"/>
              <a:ext cx="91440" cy="777240"/>
            </a:xfrm>
            <a:prstGeom prst="rect">
              <a:avLst/>
            </a:prstGeom>
            <a:solidFill>
              <a:srgbClr val="F2C14E"/>
            </a:solidFill>
            <a:ln>
              <a:noFill/>
            </a:ln>
          </p:spPr>
          <p:txBody>
            <a:bodyPr rtlCol="0" anchor="ctr"/>
            <a:lstStyle/>
            <a:p>
              <a:pPr algn="ctr"/>
              <a:endParaRPr/>
            </a:p>
          </p:txBody>
        </p:sp>
        <p:sp>
          <p:nvSpPr>
            <p:cNvPr id="20" name="Tractor body"/>
            <p:cNvSpPr/>
            <p:nvPr/>
          </p:nvSpPr>
          <p:spPr>
            <a:xfrm>
              <a:off x="1234440" y="2852928"/>
              <a:ext cx="1371600" cy="274320"/>
            </a:xfrm>
            <a:prstGeom prst="roundRect">
              <a:avLst>
                <a:gd name="adj" fmla="val 20000"/>
              </a:avLst>
            </a:prstGeom>
            <a:solidFill>
              <a:srgbClr val="F2C14E"/>
            </a:solidFill>
            <a:ln>
              <a:noFill/>
            </a:ln>
          </p:spPr>
          <p:txBody>
            <a:bodyPr rtlCol="0" anchor="ctr"/>
            <a:lstStyle/>
            <a:p>
              <a:pPr algn="ctr"/>
              <a:endParaRPr/>
            </a:p>
          </p:txBody>
        </p:sp>
        <p:sp>
          <p:nvSpPr>
            <p:cNvPr id="21" name="Cab"/>
            <p:cNvSpPr/>
            <p:nvPr/>
          </p:nvSpPr>
          <p:spPr>
            <a:xfrm>
              <a:off x="1325880" y="2596896"/>
              <a:ext cx="594360" cy="274320"/>
            </a:xfrm>
            <a:prstGeom prst="roundRect">
              <a:avLst>
                <a:gd name="adj" fmla="val 16666"/>
              </a:avLst>
            </a:prstGeom>
            <a:solidFill>
              <a:srgbClr val="F2C14E"/>
            </a:solidFill>
            <a:ln w="12700">
              <a:solidFill>
                <a:srgbClr val="101418"/>
              </a:solidFill>
            </a:ln>
          </p:spPr>
          <p:txBody>
            <a:bodyPr rtlCol="0" anchor="ctr"/>
            <a:lstStyle/>
            <a:p>
              <a:pPr algn="ctr"/>
              <a:endParaRPr/>
            </a:p>
          </p:txBody>
        </p:sp>
        <p:sp>
          <p:nvSpPr>
            <p:cNvPr id="22" name="Exhaust"/>
            <p:cNvSpPr/>
            <p:nvPr/>
          </p:nvSpPr>
          <p:spPr>
            <a:xfrm>
              <a:off x="2377440" y="2670048"/>
              <a:ext cx="64008" cy="228600"/>
            </a:xfrm>
            <a:prstGeom prst="rect">
              <a:avLst/>
            </a:prstGeom>
            <a:solidFill>
              <a:srgbClr val="1B1D21"/>
            </a:solidFill>
            <a:ln>
              <a:noFill/>
            </a:ln>
          </p:spPr>
          <p:txBody>
            <a:bodyPr rtlCol="0" anchor="ctr"/>
            <a:lstStyle/>
            <a:p>
              <a:pPr algn="ctr"/>
              <a:endParaRPr/>
            </a:p>
          </p:txBody>
        </p:sp>
        <p:sp>
          <p:nvSpPr>
            <p:cNvPr id="23" name="Wheel"/>
            <p:cNvSpPr/>
            <p:nvPr/>
          </p:nvSpPr>
          <p:spPr>
            <a:xfrm>
              <a:off x="1307592" y="2862072"/>
              <a:ext cx="438912" cy="438912"/>
            </a:xfrm>
            <a:prstGeom prst="ellipse">
              <a:avLst/>
            </a:prstGeom>
            <a:solidFill>
              <a:srgbClr val="1B1D21"/>
            </a:solidFill>
            <a:ln w="19050">
              <a:solidFill>
                <a:srgbClr val="9AA0A6"/>
              </a:solidFill>
            </a:ln>
          </p:spPr>
          <p:txBody>
            <a:bodyPr rtlCol="0" anchor="ctr"/>
            <a:lstStyle/>
            <a:p>
              <a:pPr algn="ctr"/>
              <a:endParaRPr/>
            </a:p>
          </p:txBody>
        </p:sp>
        <p:sp>
          <p:nvSpPr>
            <p:cNvPr id="24" name="Hub"/>
            <p:cNvSpPr/>
            <p:nvPr/>
          </p:nvSpPr>
          <p:spPr>
            <a:xfrm>
              <a:off x="1465600" y="3020080"/>
              <a:ext cx="122895" cy="122895"/>
            </a:xfrm>
            <a:prstGeom prst="ellipse">
              <a:avLst/>
            </a:prstGeom>
            <a:solidFill>
              <a:srgbClr val="9AA0A6"/>
            </a:solidFill>
            <a:ln>
              <a:noFill/>
            </a:ln>
          </p:spPr>
          <p:txBody>
            <a:bodyPr rtlCol="0" anchor="ctr"/>
            <a:lstStyle/>
            <a:p>
              <a:pPr algn="ctr"/>
              <a:endParaRPr/>
            </a:p>
          </p:txBody>
        </p:sp>
        <p:sp>
          <p:nvSpPr>
            <p:cNvPr id="25" name="Wheel"/>
            <p:cNvSpPr/>
            <p:nvPr/>
          </p:nvSpPr>
          <p:spPr>
            <a:xfrm>
              <a:off x="2231136" y="2999232"/>
              <a:ext cx="292608" cy="292608"/>
            </a:xfrm>
            <a:prstGeom prst="ellipse">
              <a:avLst/>
            </a:prstGeom>
            <a:solidFill>
              <a:srgbClr val="1B1D21"/>
            </a:solidFill>
            <a:ln w="19050">
              <a:solidFill>
                <a:srgbClr val="9AA0A6"/>
              </a:solidFill>
            </a:ln>
          </p:spPr>
          <p:txBody>
            <a:bodyPr rtlCol="0" anchor="ctr"/>
            <a:lstStyle/>
            <a:p>
              <a:pPr algn="ctr"/>
              <a:endParaRPr/>
            </a:p>
          </p:txBody>
        </p:sp>
        <p:sp>
          <p:nvSpPr>
            <p:cNvPr id="26" name="Hub"/>
            <p:cNvSpPr/>
            <p:nvPr/>
          </p:nvSpPr>
          <p:spPr>
            <a:xfrm>
              <a:off x="2336475" y="3104571"/>
              <a:ext cx="81930" cy="81930"/>
            </a:xfrm>
            <a:prstGeom prst="ellipse">
              <a:avLst/>
            </a:prstGeom>
            <a:solidFill>
              <a:srgbClr val="9AA0A6"/>
            </a:solidFill>
            <a:ln>
              <a:noFill/>
            </a:ln>
          </p:spPr>
          <p:txBody>
            <a:bodyPr rtlCol="0" anchor="ctr"/>
            <a:lstStyle/>
            <a:p>
              <a:pPr algn="ctr"/>
              <a:endParaRPr/>
            </a:p>
          </p:txBody>
        </p:sp>
        <p:sp>
          <p:nvSpPr>
            <p:cNvPr id="27" name="Lane label"/>
            <p:cNvSpPr txBox="1"/>
            <p:nvPr/>
          </p:nvSpPr>
          <p:spPr>
            <a:xfrm>
              <a:off x="3657600" y="2395728"/>
              <a:ext cx="7772400" cy="96012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Tractors:</a:t>
              </a:r>
              <a:r>
                <a:rPr lang="en-GB" sz="2000" b="0" i="0">
                  <a:solidFill>
                    <a:srgbClr val="F2F2F2"/>
                  </a:solidFill>
                  <a:latin typeface="Arial"/>
                </a:rPr>
                <a:t> flexible, little infrastructure</a:t>
              </a:r>
            </a:p>
          </p:txBody>
        </p:sp>
      </p:grpSp>
      <p:grpSp>
        <p:nvGrpSpPr>
          <p:cNvPr id="28" name="Lane: Steam" descr="Steam: early long-distance bulk"/>
          <p:cNvGrpSpPr/>
          <p:nvPr/>
        </p:nvGrpSpPr>
        <p:grpSpPr>
          <a:xfrm>
            <a:off x="548640" y="3465576"/>
            <a:ext cx="11091672" cy="960120"/>
            <a:chOff x="548640" y="3465576"/>
            <a:chExt cx="11091672" cy="960120"/>
          </a:xfrm>
        </p:grpSpPr>
        <p:sp>
          <p:nvSpPr>
            <p:cNvPr id="29" name="Lane panel"/>
            <p:cNvSpPr/>
            <p:nvPr/>
          </p:nvSpPr>
          <p:spPr>
            <a:xfrm>
              <a:off x="548640" y="3465576"/>
              <a:ext cx="11091672" cy="960120"/>
            </a:xfrm>
            <a:prstGeom prst="roundRect">
              <a:avLst>
                <a:gd name="adj" fmla="val 7619"/>
              </a:avLst>
            </a:prstGeom>
            <a:solidFill>
              <a:srgbClr val="2B2F36"/>
            </a:solidFill>
            <a:ln>
              <a:noFill/>
            </a:ln>
          </p:spPr>
          <p:txBody>
            <a:bodyPr rtlCol="0" anchor="ctr"/>
            <a:lstStyle/>
            <a:p>
              <a:pPr algn="ctr"/>
              <a:endParaRPr/>
            </a:p>
          </p:txBody>
        </p:sp>
        <p:sp>
          <p:nvSpPr>
            <p:cNvPr id="30" name="Lane accent"/>
            <p:cNvSpPr/>
            <p:nvPr/>
          </p:nvSpPr>
          <p:spPr>
            <a:xfrm>
              <a:off x="548640" y="3557016"/>
              <a:ext cx="91440" cy="777240"/>
            </a:xfrm>
            <a:prstGeom prst="rect">
              <a:avLst/>
            </a:prstGeom>
            <a:solidFill>
              <a:srgbClr val="F28C28"/>
            </a:solidFill>
            <a:ln>
              <a:noFill/>
            </a:ln>
          </p:spPr>
          <p:txBody>
            <a:bodyPr rtlCol="0" anchor="ctr"/>
            <a:lstStyle/>
            <a:p>
              <a:pPr algn="ctr"/>
              <a:endParaRPr/>
            </a:p>
          </p:txBody>
        </p:sp>
        <p:sp>
          <p:nvSpPr>
            <p:cNvPr id="31" name="Footplate"/>
            <p:cNvSpPr/>
            <p:nvPr/>
          </p:nvSpPr>
          <p:spPr>
            <a:xfrm>
              <a:off x="1280160" y="4131259"/>
              <a:ext cx="1426464" cy="54864"/>
            </a:xfrm>
            <a:prstGeom prst="rect">
              <a:avLst/>
            </a:prstGeom>
            <a:solidFill>
              <a:srgbClr val="1B1D21"/>
            </a:solidFill>
            <a:ln>
              <a:noFill/>
            </a:ln>
          </p:spPr>
          <p:txBody>
            <a:bodyPr rtlCol="0" anchor="ctr"/>
            <a:lstStyle/>
            <a:p>
              <a:pPr algn="ctr"/>
              <a:endParaRPr/>
            </a:p>
          </p:txBody>
        </p:sp>
        <p:sp>
          <p:nvSpPr>
            <p:cNvPr id="32" name="Boiler"/>
            <p:cNvSpPr/>
            <p:nvPr/>
          </p:nvSpPr>
          <p:spPr>
            <a:xfrm>
              <a:off x="1773936" y="3829507"/>
              <a:ext cx="877824" cy="318211"/>
            </a:xfrm>
            <a:prstGeom prst="roundRect">
              <a:avLst>
                <a:gd name="adj" fmla="val 25862"/>
              </a:avLst>
            </a:prstGeom>
            <a:solidFill>
              <a:srgbClr val="F28C28"/>
            </a:solidFill>
            <a:ln>
              <a:noFill/>
            </a:ln>
          </p:spPr>
          <p:txBody>
            <a:bodyPr rtlCol="0" anchor="ctr"/>
            <a:lstStyle/>
            <a:p>
              <a:pPr algn="ctr"/>
              <a:endParaRPr/>
            </a:p>
          </p:txBody>
        </p:sp>
        <p:sp>
          <p:nvSpPr>
            <p:cNvPr id="33" name="Smokebox"/>
            <p:cNvSpPr/>
            <p:nvPr/>
          </p:nvSpPr>
          <p:spPr>
            <a:xfrm>
              <a:off x="2585923" y="3829507"/>
              <a:ext cx="76810" cy="318211"/>
            </a:xfrm>
            <a:prstGeom prst="rect">
              <a:avLst/>
            </a:prstGeom>
            <a:solidFill>
              <a:srgbClr val="1B1D21"/>
            </a:solidFill>
            <a:ln>
              <a:noFill/>
            </a:ln>
          </p:spPr>
          <p:txBody>
            <a:bodyPr rtlCol="0" anchor="ctr"/>
            <a:lstStyle/>
            <a:p>
              <a:pPr algn="ctr"/>
              <a:endParaRPr/>
            </a:p>
          </p:txBody>
        </p:sp>
        <p:sp>
          <p:nvSpPr>
            <p:cNvPr id="34" name="Chimney"/>
            <p:cNvSpPr/>
            <p:nvPr/>
          </p:nvSpPr>
          <p:spPr>
            <a:xfrm>
              <a:off x="2487168" y="3686861"/>
              <a:ext cx="71323" cy="153619"/>
            </a:xfrm>
            <a:prstGeom prst="rect">
              <a:avLst/>
            </a:prstGeom>
            <a:solidFill>
              <a:srgbClr val="1B1D21"/>
            </a:solidFill>
            <a:ln>
              <a:noFill/>
            </a:ln>
          </p:spPr>
          <p:txBody>
            <a:bodyPr rtlCol="0" anchor="ctr"/>
            <a:lstStyle/>
            <a:p>
              <a:pPr algn="ctr"/>
              <a:endParaRPr/>
            </a:p>
          </p:txBody>
        </p:sp>
        <p:sp>
          <p:nvSpPr>
            <p:cNvPr id="35" name="Chimney top"/>
            <p:cNvSpPr/>
            <p:nvPr/>
          </p:nvSpPr>
          <p:spPr>
            <a:xfrm>
              <a:off x="2459736" y="3664915"/>
              <a:ext cx="126187" cy="32918"/>
            </a:xfrm>
            <a:prstGeom prst="rect">
              <a:avLst/>
            </a:prstGeom>
            <a:solidFill>
              <a:srgbClr val="1B1D21"/>
            </a:solidFill>
            <a:ln>
              <a:noFill/>
            </a:ln>
          </p:spPr>
          <p:txBody>
            <a:bodyPr rtlCol="0" anchor="ctr"/>
            <a:lstStyle/>
            <a:p>
              <a:pPr algn="ctr"/>
              <a:endParaRPr/>
            </a:p>
          </p:txBody>
        </p:sp>
        <p:sp>
          <p:nvSpPr>
            <p:cNvPr id="36" name="Dome"/>
            <p:cNvSpPr/>
            <p:nvPr/>
          </p:nvSpPr>
          <p:spPr>
            <a:xfrm>
              <a:off x="2103120" y="3752698"/>
              <a:ext cx="186538" cy="164592"/>
            </a:xfrm>
            <a:prstGeom prst="chord">
              <a:avLst/>
            </a:prstGeom>
            <a:solidFill>
              <a:srgbClr val="C46E14"/>
            </a:solidFill>
            <a:ln>
              <a:noFill/>
            </a:ln>
          </p:spPr>
          <p:txBody>
            <a:bodyPr rtlCol="0" anchor="ctr"/>
            <a:lstStyle/>
            <a:p>
              <a:pPr algn="ctr"/>
              <a:endParaRPr/>
            </a:p>
          </p:txBody>
        </p:sp>
        <p:sp>
          <p:nvSpPr>
            <p:cNvPr id="37" name="Cab"/>
            <p:cNvSpPr/>
            <p:nvPr/>
          </p:nvSpPr>
          <p:spPr>
            <a:xfrm>
              <a:off x="1324051" y="3719779"/>
              <a:ext cx="493776" cy="427939"/>
            </a:xfrm>
            <a:prstGeom prst="rect">
              <a:avLst/>
            </a:prstGeom>
            <a:solidFill>
              <a:srgbClr val="C46E14"/>
            </a:solidFill>
            <a:ln>
              <a:noFill/>
            </a:ln>
          </p:spPr>
          <p:txBody>
            <a:bodyPr rtlCol="0" anchor="ctr"/>
            <a:lstStyle/>
            <a:p>
              <a:pPr algn="ctr"/>
              <a:endParaRPr/>
            </a:p>
          </p:txBody>
        </p:sp>
        <p:sp>
          <p:nvSpPr>
            <p:cNvPr id="38" name="Cab roof"/>
            <p:cNvSpPr/>
            <p:nvPr/>
          </p:nvSpPr>
          <p:spPr>
            <a:xfrm>
              <a:off x="1291133" y="3675888"/>
              <a:ext cx="559613" cy="49378"/>
            </a:xfrm>
            <a:prstGeom prst="rect">
              <a:avLst/>
            </a:prstGeom>
            <a:solidFill>
              <a:srgbClr val="1B1D21"/>
            </a:solidFill>
            <a:ln>
              <a:noFill/>
            </a:ln>
          </p:spPr>
          <p:txBody>
            <a:bodyPr rtlCol="0" anchor="ctr"/>
            <a:lstStyle/>
            <a:p>
              <a:pPr algn="ctr"/>
              <a:endParaRPr/>
            </a:p>
          </p:txBody>
        </p:sp>
        <p:sp>
          <p:nvSpPr>
            <p:cNvPr id="39" name="Cab window"/>
            <p:cNvSpPr/>
            <p:nvPr/>
          </p:nvSpPr>
          <p:spPr>
            <a:xfrm>
              <a:off x="1444752" y="3796589"/>
              <a:ext cx="219456" cy="153619"/>
            </a:xfrm>
            <a:prstGeom prst="rect">
              <a:avLst/>
            </a:prstGeom>
            <a:solidFill>
              <a:srgbClr val="1B1D21"/>
            </a:solidFill>
            <a:ln>
              <a:noFill/>
            </a:ln>
          </p:spPr>
          <p:txBody>
            <a:bodyPr rtlCol="0" anchor="ctr"/>
            <a:lstStyle/>
            <a:p>
              <a:pPr algn="ctr"/>
              <a:endParaRPr/>
            </a:p>
          </p:txBody>
        </p:sp>
        <p:sp>
          <p:nvSpPr>
            <p:cNvPr id="40" name="Wheel"/>
            <p:cNvSpPr/>
            <p:nvPr/>
          </p:nvSpPr>
          <p:spPr>
            <a:xfrm>
              <a:off x="1461211" y="4142232"/>
              <a:ext cx="241402" cy="241402"/>
            </a:xfrm>
            <a:prstGeom prst="ellipse">
              <a:avLst/>
            </a:prstGeom>
            <a:solidFill>
              <a:srgbClr val="1B1D21"/>
            </a:solidFill>
            <a:ln w="19050">
              <a:solidFill>
                <a:srgbClr val="9AA0A6"/>
              </a:solidFill>
            </a:ln>
          </p:spPr>
          <p:txBody>
            <a:bodyPr rtlCol="0" anchor="ctr"/>
            <a:lstStyle/>
            <a:p>
              <a:pPr algn="ctr"/>
              <a:endParaRPr/>
            </a:p>
          </p:txBody>
        </p:sp>
        <p:sp>
          <p:nvSpPr>
            <p:cNvPr id="41" name="Hub"/>
            <p:cNvSpPr/>
            <p:nvPr/>
          </p:nvSpPr>
          <p:spPr>
            <a:xfrm>
              <a:off x="1548116" y="4229137"/>
              <a:ext cx="67592" cy="67592"/>
            </a:xfrm>
            <a:prstGeom prst="ellipse">
              <a:avLst/>
            </a:prstGeom>
            <a:solidFill>
              <a:srgbClr val="9AA0A6"/>
            </a:solidFill>
            <a:ln>
              <a:noFill/>
            </a:ln>
          </p:spPr>
          <p:txBody>
            <a:bodyPr rtlCol="0" anchor="ctr"/>
            <a:lstStyle/>
            <a:p>
              <a:pPr algn="ctr"/>
              <a:endParaRPr/>
            </a:p>
          </p:txBody>
        </p:sp>
        <p:sp>
          <p:nvSpPr>
            <p:cNvPr id="42" name="Wheel"/>
            <p:cNvSpPr/>
            <p:nvPr/>
          </p:nvSpPr>
          <p:spPr>
            <a:xfrm>
              <a:off x="1900123" y="4142232"/>
              <a:ext cx="241402" cy="241402"/>
            </a:xfrm>
            <a:prstGeom prst="ellipse">
              <a:avLst/>
            </a:prstGeom>
            <a:solidFill>
              <a:srgbClr val="1B1D21"/>
            </a:solidFill>
            <a:ln w="19050">
              <a:solidFill>
                <a:srgbClr val="9AA0A6"/>
              </a:solidFill>
            </a:ln>
          </p:spPr>
          <p:txBody>
            <a:bodyPr rtlCol="0" anchor="ctr"/>
            <a:lstStyle/>
            <a:p>
              <a:pPr algn="ctr"/>
              <a:endParaRPr/>
            </a:p>
          </p:txBody>
        </p:sp>
        <p:sp>
          <p:nvSpPr>
            <p:cNvPr id="43" name="Hub"/>
            <p:cNvSpPr/>
            <p:nvPr/>
          </p:nvSpPr>
          <p:spPr>
            <a:xfrm>
              <a:off x="1987028" y="4229137"/>
              <a:ext cx="67592" cy="67592"/>
            </a:xfrm>
            <a:prstGeom prst="ellipse">
              <a:avLst/>
            </a:prstGeom>
            <a:solidFill>
              <a:srgbClr val="9AA0A6"/>
            </a:solidFill>
            <a:ln>
              <a:noFill/>
            </a:ln>
          </p:spPr>
          <p:txBody>
            <a:bodyPr rtlCol="0" anchor="ctr"/>
            <a:lstStyle/>
            <a:p>
              <a:pPr algn="ctr"/>
              <a:endParaRPr/>
            </a:p>
          </p:txBody>
        </p:sp>
        <p:sp>
          <p:nvSpPr>
            <p:cNvPr id="44" name="Wheel"/>
            <p:cNvSpPr/>
            <p:nvPr/>
          </p:nvSpPr>
          <p:spPr>
            <a:xfrm>
              <a:off x="2339035" y="4142232"/>
              <a:ext cx="241402" cy="241402"/>
            </a:xfrm>
            <a:prstGeom prst="ellipse">
              <a:avLst/>
            </a:prstGeom>
            <a:solidFill>
              <a:srgbClr val="1B1D21"/>
            </a:solidFill>
            <a:ln w="19050">
              <a:solidFill>
                <a:srgbClr val="9AA0A6"/>
              </a:solidFill>
            </a:ln>
          </p:spPr>
          <p:txBody>
            <a:bodyPr rtlCol="0" anchor="ctr"/>
            <a:lstStyle/>
            <a:p>
              <a:pPr algn="ctr"/>
              <a:endParaRPr/>
            </a:p>
          </p:txBody>
        </p:sp>
        <p:sp>
          <p:nvSpPr>
            <p:cNvPr id="45" name="Hub"/>
            <p:cNvSpPr/>
            <p:nvPr/>
          </p:nvSpPr>
          <p:spPr>
            <a:xfrm>
              <a:off x="2425940" y="4229137"/>
              <a:ext cx="67592" cy="67592"/>
            </a:xfrm>
            <a:prstGeom prst="ellipse">
              <a:avLst/>
            </a:prstGeom>
            <a:solidFill>
              <a:srgbClr val="9AA0A6"/>
            </a:solidFill>
            <a:ln>
              <a:noFill/>
            </a:ln>
          </p:spPr>
          <p:txBody>
            <a:bodyPr rtlCol="0" anchor="ctr"/>
            <a:lstStyle/>
            <a:p>
              <a:pPr algn="ctr"/>
              <a:endParaRPr/>
            </a:p>
          </p:txBody>
        </p:sp>
        <p:cxnSp>
          <p:nvCxnSpPr>
            <p:cNvPr id="46" name="Coupling rod"/>
            <p:cNvCxnSpPr/>
            <p:nvPr/>
          </p:nvCxnSpPr>
          <p:spPr>
            <a:xfrm>
              <a:off x="1581912" y="4262933"/>
              <a:ext cx="877824" cy="0"/>
            </a:xfrm>
            <a:prstGeom prst="line">
              <a:avLst/>
            </a:prstGeom>
            <a:ln w="25400">
              <a:solidFill>
                <a:srgbClr val="9AA0A6"/>
              </a:solidFill>
            </a:ln>
          </p:spPr>
        </p:cxnSp>
        <p:sp>
          <p:nvSpPr>
            <p:cNvPr id="47" name="Lane label"/>
            <p:cNvSpPr txBox="1"/>
            <p:nvPr/>
          </p:nvSpPr>
          <p:spPr>
            <a:xfrm>
              <a:off x="3657600" y="3465576"/>
              <a:ext cx="7772400" cy="96012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Steam:</a:t>
              </a:r>
              <a:r>
                <a:rPr lang="en-GB" sz="2000" b="0" i="0">
                  <a:solidFill>
                    <a:srgbClr val="F2F2F2"/>
                  </a:solidFill>
                  <a:latin typeface="Arial"/>
                </a:rPr>
                <a:t> early long-distance bulk</a:t>
              </a:r>
            </a:p>
          </p:txBody>
        </p:sp>
      </p:grpSp>
      <p:grpSp>
        <p:nvGrpSpPr>
          <p:cNvPr id="48" name="Lane: Electric" descr="Electric: mature speed and throughput"/>
          <p:cNvGrpSpPr/>
          <p:nvPr/>
        </p:nvGrpSpPr>
        <p:grpSpPr>
          <a:xfrm>
            <a:off x="548640" y="4535424"/>
            <a:ext cx="11091672" cy="960120"/>
            <a:chOff x="548640" y="4535424"/>
            <a:chExt cx="11091672" cy="960120"/>
          </a:xfrm>
        </p:grpSpPr>
        <p:sp>
          <p:nvSpPr>
            <p:cNvPr id="49" name="Lane panel"/>
            <p:cNvSpPr/>
            <p:nvPr/>
          </p:nvSpPr>
          <p:spPr>
            <a:xfrm>
              <a:off x="548640" y="4535424"/>
              <a:ext cx="11091672" cy="960120"/>
            </a:xfrm>
            <a:prstGeom prst="roundRect">
              <a:avLst>
                <a:gd name="adj" fmla="val 7619"/>
              </a:avLst>
            </a:prstGeom>
            <a:solidFill>
              <a:srgbClr val="2B2F36"/>
            </a:solidFill>
            <a:ln>
              <a:noFill/>
            </a:ln>
          </p:spPr>
          <p:txBody>
            <a:bodyPr rtlCol="0" anchor="ctr"/>
            <a:lstStyle/>
            <a:p>
              <a:pPr algn="ctr"/>
              <a:endParaRPr/>
            </a:p>
          </p:txBody>
        </p:sp>
        <p:sp>
          <p:nvSpPr>
            <p:cNvPr id="50" name="Lane accent"/>
            <p:cNvSpPr/>
            <p:nvPr/>
          </p:nvSpPr>
          <p:spPr>
            <a:xfrm>
              <a:off x="548640" y="4626864"/>
              <a:ext cx="91440" cy="777240"/>
            </a:xfrm>
            <a:prstGeom prst="rect">
              <a:avLst/>
            </a:prstGeom>
            <a:solidFill>
              <a:srgbClr val="6CA0DC"/>
            </a:solidFill>
            <a:ln>
              <a:noFill/>
            </a:ln>
          </p:spPr>
          <p:txBody>
            <a:bodyPr rtlCol="0" anchor="ctr"/>
            <a:lstStyle/>
            <a:p>
              <a:pPr algn="ctr"/>
              <a:endParaRPr/>
            </a:p>
          </p:txBody>
        </p:sp>
        <p:sp>
          <p:nvSpPr>
            <p:cNvPr id="51" name="Electric car"/>
            <p:cNvSpPr/>
            <p:nvPr/>
          </p:nvSpPr>
          <p:spPr>
            <a:xfrm>
              <a:off x="1234440" y="4672584"/>
              <a:ext cx="1316736" cy="449885"/>
            </a:xfrm>
            <a:prstGeom prst="roundRect">
              <a:avLst>
                <a:gd name="adj" fmla="val 30487"/>
              </a:avLst>
            </a:prstGeom>
            <a:solidFill>
              <a:srgbClr val="6CA0DC"/>
            </a:solidFill>
            <a:ln>
              <a:noFill/>
            </a:ln>
          </p:spPr>
          <p:txBody>
            <a:bodyPr rtlCol="0" anchor="ctr"/>
            <a:lstStyle/>
            <a:p>
              <a:pPr algn="ctr"/>
              <a:endParaRPr/>
            </a:p>
          </p:txBody>
        </p:sp>
        <p:sp>
          <p:nvSpPr>
            <p:cNvPr id="52" name="Windows"/>
            <p:cNvSpPr/>
            <p:nvPr/>
          </p:nvSpPr>
          <p:spPr>
            <a:xfrm>
              <a:off x="1344168" y="4771339"/>
              <a:ext cx="1042416" cy="142646"/>
            </a:xfrm>
            <a:prstGeom prst="rect">
              <a:avLst/>
            </a:prstGeom>
            <a:solidFill>
              <a:srgbClr val="1B1D21"/>
            </a:solidFill>
            <a:ln>
              <a:noFill/>
            </a:ln>
          </p:spPr>
          <p:txBody>
            <a:bodyPr rtlCol="0" anchor="ctr"/>
            <a:lstStyle/>
            <a:p>
              <a:pPr algn="ctr"/>
              <a:endParaRPr/>
            </a:p>
          </p:txBody>
        </p:sp>
        <p:sp>
          <p:nvSpPr>
            <p:cNvPr id="53" name="Monorail beam"/>
            <p:cNvSpPr/>
            <p:nvPr/>
          </p:nvSpPr>
          <p:spPr>
            <a:xfrm>
              <a:off x="1179576" y="5166360"/>
              <a:ext cx="1426464" cy="76810"/>
            </a:xfrm>
            <a:prstGeom prst="rect">
              <a:avLst/>
            </a:prstGeom>
            <a:solidFill>
              <a:srgbClr val="9AA0A6"/>
            </a:solidFill>
            <a:ln>
              <a:noFill/>
            </a:ln>
          </p:spPr>
          <p:txBody>
            <a:bodyPr rtlCol="0" anchor="ctr"/>
            <a:lstStyle/>
            <a:p>
              <a:pPr algn="ctr"/>
              <a:endParaRPr/>
            </a:p>
          </p:txBody>
        </p:sp>
        <p:sp>
          <p:nvSpPr>
            <p:cNvPr id="54" name="Pylon"/>
            <p:cNvSpPr/>
            <p:nvPr/>
          </p:nvSpPr>
          <p:spPr>
            <a:xfrm>
              <a:off x="1600200" y="5243170"/>
              <a:ext cx="65837" cy="120701"/>
            </a:xfrm>
            <a:prstGeom prst="rect">
              <a:avLst/>
            </a:prstGeom>
            <a:solidFill>
              <a:srgbClr val="4A515B"/>
            </a:solidFill>
            <a:ln>
              <a:noFill/>
            </a:ln>
          </p:spPr>
          <p:txBody>
            <a:bodyPr rtlCol="0" anchor="ctr"/>
            <a:lstStyle/>
            <a:p>
              <a:pPr algn="ctr"/>
              <a:endParaRPr/>
            </a:p>
          </p:txBody>
        </p:sp>
        <p:sp>
          <p:nvSpPr>
            <p:cNvPr id="55" name="Pylon"/>
            <p:cNvSpPr/>
            <p:nvPr/>
          </p:nvSpPr>
          <p:spPr>
            <a:xfrm>
              <a:off x="2093976" y="5243170"/>
              <a:ext cx="65837" cy="120701"/>
            </a:xfrm>
            <a:prstGeom prst="rect">
              <a:avLst/>
            </a:prstGeom>
            <a:solidFill>
              <a:srgbClr val="4A515B"/>
            </a:solidFill>
            <a:ln>
              <a:noFill/>
            </a:ln>
          </p:spPr>
          <p:txBody>
            <a:bodyPr rtlCol="0" anchor="ctr"/>
            <a:lstStyle/>
            <a:p>
              <a:pPr algn="ctr"/>
              <a:endParaRPr/>
            </a:p>
          </p:txBody>
        </p:sp>
        <p:sp>
          <p:nvSpPr>
            <p:cNvPr id="56" name="Lane label"/>
            <p:cNvSpPr txBox="1"/>
            <p:nvPr/>
          </p:nvSpPr>
          <p:spPr>
            <a:xfrm>
              <a:off x="3657600" y="4535424"/>
              <a:ext cx="7772400" cy="96012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Electric:</a:t>
              </a:r>
              <a:r>
                <a:rPr lang="en-GB" sz="2000" b="0" i="0">
                  <a:solidFill>
                    <a:srgbClr val="F2F2F2"/>
                  </a:solidFill>
                  <a:latin typeface="Arial"/>
                </a:rPr>
                <a:t> mature speed and throughput</a:t>
              </a:r>
            </a:p>
          </p:txBody>
        </p:sp>
      </p:grpSp>
      <p:grpSp>
        <p:nvGrpSpPr>
          <p:cNvPr id="57" name="Caption" descr="Caption: Belts, tractors, steam and electric rail each have a job. Electric leads when the factory matures."/>
          <p:cNvGrpSpPr/>
          <p:nvPr/>
        </p:nvGrpSpPr>
        <p:grpSpPr>
          <a:xfrm>
            <a:off x="548640" y="5669280"/>
            <a:ext cx="11091672" cy="822960"/>
            <a:chOff x="548640" y="5669280"/>
            <a:chExt cx="11091672" cy="822960"/>
          </a:xfrm>
        </p:grpSpPr>
        <p:sp>
          <p:nvSpPr>
            <p:cNvPr id="58"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59"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60"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Belts, tractors, steam and electric rail each have a job. Electric leads when the factory matures.</a:t>
              </a:r>
            </a:p>
          </p:txBody>
        </p:sp>
      </p:grpSp>
      <p:sp>
        <p:nvSpPr>
          <p:cNvPr id="61"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7</a:t>
            </a:r>
          </a:p>
        </p:txBody>
      </p:sp>
    </p:spTree>
    <p:extLst>
      <p:ext uri="{BB962C8B-B14F-4D97-AF65-F5344CB8AC3E}">
        <p14:creationId xmlns:p14="http://schemas.microsoft.com/office/powerpoint/2010/main" val="34578216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60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90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500"/>
                                        <p:tgtEl>
                                          <p:spTgt spid="48"/>
                                        </p:tgtEl>
                                      </p:cBhvr>
                                    </p:animEffect>
                                  </p:childTnLst>
                                </p:cTn>
                              </p:par>
                              <p:par>
                                <p:cTn id="17" presetID="10" presetClass="entr" presetSubtype="0" fill="hold" nodeType="withEffect">
                                  <p:stCondLst>
                                    <p:cond delay="120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Pick the right engine</a:t>
            </a:r>
          </a:p>
        </p:txBody>
      </p:sp>
      <p:sp>
        <p:nvSpPr>
          <p:cNvPr id="3" name="Status chip" descr="Status tag: Agreed"/>
          <p:cNvSpPr/>
          <p:nvPr/>
        </p:nvSpPr>
        <p:spPr>
          <a:xfrm>
            <a:off x="10180015" y="457200"/>
            <a:ext cx="1463040" cy="365760"/>
          </a:xfrm>
          <a:prstGeom prst="roundRect">
            <a:avLst>
              <a:gd name="adj" fmla="val 30000"/>
            </a:avLst>
          </a:prstGeom>
          <a:solidFill>
            <a:srgbClr val="3FB950"/>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Row: Struggles" descr="A small engine with a very long train: it struggles."/>
          <p:cNvGrpSpPr/>
          <p:nvPr/>
        </p:nvGrpSpPr>
        <p:grpSpPr>
          <a:xfrm>
            <a:off x="548640" y="1325880"/>
            <a:ext cx="11091672" cy="1325880"/>
            <a:chOff x="548640" y="1325880"/>
            <a:chExt cx="11091672" cy="1325880"/>
          </a:xfrm>
        </p:grpSpPr>
        <p:sp>
          <p:nvSpPr>
            <p:cNvPr id="5" name="Row panel"/>
            <p:cNvSpPr/>
            <p:nvPr/>
          </p:nvSpPr>
          <p:spPr>
            <a:xfrm>
              <a:off x="548640" y="1325880"/>
              <a:ext cx="11091672" cy="1325880"/>
            </a:xfrm>
            <a:prstGeom prst="roundRect">
              <a:avLst>
                <a:gd name="adj" fmla="val 5517"/>
              </a:avLst>
            </a:prstGeom>
            <a:solidFill>
              <a:srgbClr val="2B2F36"/>
            </a:solidFill>
            <a:ln>
              <a:noFill/>
            </a:ln>
          </p:spPr>
          <p:txBody>
            <a:bodyPr rtlCol="0" anchor="ctr"/>
            <a:lstStyle/>
            <a:p>
              <a:pPr algn="ctr"/>
              <a:endParaRPr/>
            </a:p>
          </p:txBody>
        </p:sp>
        <p:sp>
          <p:nvSpPr>
            <p:cNvPr id="6" name="Verdict: Struggles"/>
            <p:cNvSpPr/>
            <p:nvPr/>
          </p:nvSpPr>
          <p:spPr>
            <a:xfrm>
              <a:off x="777240" y="1755648"/>
              <a:ext cx="1737360" cy="457200"/>
            </a:xfrm>
            <a:prstGeom prst="roundRect">
              <a:avLst>
                <a:gd name="adj" fmla="val 50000"/>
              </a:avLst>
            </a:prstGeom>
            <a:solidFill>
              <a:srgbClr val="E5484D"/>
            </a:solidFill>
            <a:ln>
              <a:noFill/>
            </a:ln>
          </p:spPr>
          <p:txBody>
            <a:bodyPr wrap="none" lIns="0" tIns="0" rIns="0" bIns="0" rtlCol="0" anchor="ctr">
              <a:noAutofit/>
            </a:bodyPr>
            <a:lstStyle/>
            <a:p>
              <a:pPr algn="ctr">
                <a:spcBef>
                  <a:spcPts val="0"/>
                </a:spcBef>
                <a:spcAft>
                  <a:spcPts val="0"/>
                </a:spcAft>
              </a:pPr>
              <a:r>
                <a:rPr lang="en-GB" sz="1800" b="1" i="0">
                  <a:solidFill>
                    <a:srgbClr val="101418"/>
                  </a:solidFill>
                  <a:latin typeface="Arial"/>
                </a:rPr>
                <a:t>Struggles</a:t>
              </a:r>
            </a:p>
          </p:txBody>
        </p:sp>
        <p:sp>
          <p:nvSpPr>
            <p:cNvPr id="7" name="Rail"/>
            <p:cNvSpPr/>
            <p:nvPr/>
          </p:nvSpPr>
          <p:spPr>
            <a:xfrm>
              <a:off x="2834640" y="2505456"/>
              <a:ext cx="8595360" cy="45720"/>
            </a:xfrm>
            <a:prstGeom prst="rect">
              <a:avLst/>
            </a:prstGeom>
            <a:solidFill>
              <a:srgbClr val="4A515B"/>
            </a:solidFill>
            <a:ln>
              <a:noFill/>
            </a:ln>
          </p:spPr>
          <p:txBody>
            <a:bodyPr rtlCol="0" anchor="ctr"/>
            <a:lstStyle/>
            <a:p>
              <a:pPr algn="ctr"/>
              <a:endParaRPr/>
            </a:p>
          </p:txBody>
        </p:sp>
        <p:sp>
          <p:nvSpPr>
            <p:cNvPr id="8" name="Footplate"/>
            <p:cNvSpPr/>
            <p:nvPr/>
          </p:nvSpPr>
          <p:spPr>
            <a:xfrm>
              <a:off x="2880360" y="2302916"/>
              <a:ext cx="1069848" cy="41148"/>
            </a:xfrm>
            <a:prstGeom prst="rect">
              <a:avLst/>
            </a:prstGeom>
            <a:solidFill>
              <a:srgbClr val="1B1D21"/>
            </a:solidFill>
            <a:ln>
              <a:noFill/>
            </a:ln>
          </p:spPr>
          <p:txBody>
            <a:bodyPr rtlCol="0" anchor="ctr"/>
            <a:lstStyle/>
            <a:p>
              <a:pPr algn="ctr"/>
              <a:endParaRPr/>
            </a:p>
          </p:txBody>
        </p:sp>
        <p:sp>
          <p:nvSpPr>
            <p:cNvPr id="9" name="Boiler"/>
            <p:cNvSpPr/>
            <p:nvPr/>
          </p:nvSpPr>
          <p:spPr>
            <a:xfrm>
              <a:off x="3250692" y="2076602"/>
              <a:ext cx="658368" cy="238658"/>
            </a:xfrm>
            <a:prstGeom prst="roundRect">
              <a:avLst>
                <a:gd name="adj" fmla="val 25862"/>
              </a:avLst>
            </a:prstGeom>
            <a:solidFill>
              <a:srgbClr val="F28C28"/>
            </a:solidFill>
            <a:ln>
              <a:noFill/>
            </a:ln>
          </p:spPr>
          <p:txBody>
            <a:bodyPr rtlCol="0" anchor="ctr"/>
            <a:lstStyle/>
            <a:p>
              <a:pPr algn="ctr"/>
              <a:endParaRPr/>
            </a:p>
          </p:txBody>
        </p:sp>
        <p:sp>
          <p:nvSpPr>
            <p:cNvPr id="10" name="Smokebox"/>
            <p:cNvSpPr/>
            <p:nvPr/>
          </p:nvSpPr>
          <p:spPr>
            <a:xfrm>
              <a:off x="3859682" y="2076602"/>
              <a:ext cx="57607" cy="238658"/>
            </a:xfrm>
            <a:prstGeom prst="rect">
              <a:avLst/>
            </a:prstGeom>
            <a:solidFill>
              <a:srgbClr val="1B1D21"/>
            </a:solidFill>
            <a:ln>
              <a:noFill/>
            </a:ln>
          </p:spPr>
          <p:txBody>
            <a:bodyPr rtlCol="0" anchor="ctr"/>
            <a:lstStyle/>
            <a:p>
              <a:pPr algn="ctr"/>
              <a:endParaRPr/>
            </a:p>
          </p:txBody>
        </p:sp>
        <p:sp>
          <p:nvSpPr>
            <p:cNvPr id="11" name="Chimney"/>
            <p:cNvSpPr/>
            <p:nvPr/>
          </p:nvSpPr>
          <p:spPr>
            <a:xfrm>
              <a:off x="3785616" y="1969618"/>
              <a:ext cx="53492" cy="115214"/>
            </a:xfrm>
            <a:prstGeom prst="rect">
              <a:avLst/>
            </a:prstGeom>
            <a:solidFill>
              <a:srgbClr val="1B1D21"/>
            </a:solidFill>
            <a:ln>
              <a:noFill/>
            </a:ln>
          </p:spPr>
          <p:txBody>
            <a:bodyPr rtlCol="0" anchor="ctr"/>
            <a:lstStyle/>
            <a:p>
              <a:pPr algn="ctr"/>
              <a:endParaRPr/>
            </a:p>
          </p:txBody>
        </p:sp>
        <p:sp>
          <p:nvSpPr>
            <p:cNvPr id="12" name="Chimney top"/>
            <p:cNvSpPr/>
            <p:nvPr/>
          </p:nvSpPr>
          <p:spPr>
            <a:xfrm>
              <a:off x="3765042" y="1953158"/>
              <a:ext cx="94640" cy="24689"/>
            </a:xfrm>
            <a:prstGeom prst="rect">
              <a:avLst/>
            </a:prstGeom>
            <a:solidFill>
              <a:srgbClr val="1B1D21"/>
            </a:solidFill>
            <a:ln>
              <a:noFill/>
            </a:ln>
          </p:spPr>
          <p:txBody>
            <a:bodyPr rtlCol="0" anchor="ctr"/>
            <a:lstStyle/>
            <a:p>
              <a:pPr algn="ctr"/>
              <a:endParaRPr/>
            </a:p>
          </p:txBody>
        </p:sp>
        <p:sp>
          <p:nvSpPr>
            <p:cNvPr id="13" name="Dome"/>
            <p:cNvSpPr/>
            <p:nvPr/>
          </p:nvSpPr>
          <p:spPr>
            <a:xfrm>
              <a:off x="3497580" y="2018995"/>
              <a:ext cx="139903" cy="123444"/>
            </a:xfrm>
            <a:prstGeom prst="chord">
              <a:avLst/>
            </a:prstGeom>
            <a:solidFill>
              <a:srgbClr val="C46E14"/>
            </a:solidFill>
            <a:ln>
              <a:noFill/>
            </a:ln>
          </p:spPr>
          <p:txBody>
            <a:bodyPr rtlCol="0" anchor="ctr"/>
            <a:lstStyle/>
            <a:p>
              <a:pPr algn="ctr"/>
              <a:endParaRPr/>
            </a:p>
          </p:txBody>
        </p:sp>
        <p:sp>
          <p:nvSpPr>
            <p:cNvPr id="14" name="Cab"/>
            <p:cNvSpPr/>
            <p:nvPr/>
          </p:nvSpPr>
          <p:spPr>
            <a:xfrm>
              <a:off x="2913278" y="1994306"/>
              <a:ext cx="370332" cy="320954"/>
            </a:xfrm>
            <a:prstGeom prst="rect">
              <a:avLst/>
            </a:prstGeom>
            <a:solidFill>
              <a:srgbClr val="C46E14"/>
            </a:solidFill>
            <a:ln>
              <a:noFill/>
            </a:ln>
          </p:spPr>
          <p:txBody>
            <a:bodyPr rtlCol="0" anchor="ctr"/>
            <a:lstStyle/>
            <a:p>
              <a:pPr algn="ctr"/>
              <a:endParaRPr/>
            </a:p>
          </p:txBody>
        </p:sp>
        <p:sp>
          <p:nvSpPr>
            <p:cNvPr id="15" name="Cab roof"/>
            <p:cNvSpPr/>
            <p:nvPr/>
          </p:nvSpPr>
          <p:spPr>
            <a:xfrm>
              <a:off x="2888590" y="1961388"/>
              <a:ext cx="419710" cy="37033"/>
            </a:xfrm>
            <a:prstGeom prst="rect">
              <a:avLst/>
            </a:prstGeom>
            <a:solidFill>
              <a:srgbClr val="1B1D21"/>
            </a:solidFill>
            <a:ln>
              <a:noFill/>
            </a:ln>
          </p:spPr>
          <p:txBody>
            <a:bodyPr rtlCol="0" anchor="ctr"/>
            <a:lstStyle/>
            <a:p>
              <a:pPr algn="ctr"/>
              <a:endParaRPr/>
            </a:p>
          </p:txBody>
        </p:sp>
        <p:sp>
          <p:nvSpPr>
            <p:cNvPr id="16" name="Cab window"/>
            <p:cNvSpPr/>
            <p:nvPr/>
          </p:nvSpPr>
          <p:spPr>
            <a:xfrm>
              <a:off x="3003804" y="2051914"/>
              <a:ext cx="164592" cy="115214"/>
            </a:xfrm>
            <a:prstGeom prst="rect">
              <a:avLst/>
            </a:prstGeom>
            <a:solidFill>
              <a:srgbClr val="1B1D21"/>
            </a:solidFill>
            <a:ln>
              <a:noFill/>
            </a:ln>
          </p:spPr>
          <p:txBody>
            <a:bodyPr rtlCol="0" anchor="ctr"/>
            <a:lstStyle/>
            <a:p>
              <a:pPr algn="ctr"/>
              <a:endParaRPr/>
            </a:p>
          </p:txBody>
        </p:sp>
        <p:sp>
          <p:nvSpPr>
            <p:cNvPr id="17" name="Wheel"/>
            <p:cNvSpPr/>
            <p:nvPr/>
          </p:nvSpPr>
          <p:spPr>
            <a:xfrm>
              <a:off x="3016148" y="231114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18" name="Hub"/>
            <p:cNvSpPr/>
            <p:nvPr/>
          </p:nvSpPr>
          <p:spPr>
            <a:xfrm>
              <a:off x="3081327" y="2376324"/>
              <a:ext cx="50694" cy="50694"/>
            </a:xfrm>
            <a:prstGeom prst="ellipse">
              <a:avLst/>
            </a:prstGeom>
            <a:solidFill>
              <a:srgbClr val="9AA0A6"/>
            </a:solidFill>
            <a:ln>
              <a:noFill/>
            </a:ln>
          </p:spPr>
          <p:txBody>
            <a:bodyPr rtlCol="0" anchor="ctr"/>
            <a:lstStyle/>
            <a:p>
              <a:pPr algn="ctr"/>
              <a:endParaRPr/>
            </a:p>
          </p:txBody>
        </p:sp>
        <p:sp>
          <p:nvSpPr>
            <p:cNvPr id="19" name="Wheel"/>
            <p:cNvSpPr/>
            <p:nvPr/>
          </p:nvSpPr>
          <p:spPr>
            <a:xfrm>
              <a:off x="3345332" y="231114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20" name="Hub"/>
            <p:cNvSpPr/>
            <p:nvPr/>
          </p:nvSpPr>
          <p:spPr>
            <a:xfrm>
              <a:off x="3410511" y="2376324"/>
              <a:ext cx="50694" cy="50694"/>
            </a:xfrm>
            <a:prstGeom prst="ellipse">
              <a:avLst/>
            </a:prstGeom>
            <a:solidFill>
              <a:srgbClr val="9AA0A6"/>
            </a:solidFill>
            <a:ln>
              <a:noFill/>
            </a:ln>
          </p:spPr>
          <p:txBody>
            <a:bodyPr rtlCol="0" anchor="ctr"/>
            <a:lstStyle/>
            <a:p>
              <a:pPr algn="ctr"/>
              <a:endParaRPr/>
            </a:p>
          </p:txBody>
        </p:sp>
        <p:sp>
          <p:nvSpPr>
            <p:cNvPr id="21" name="Wheel"/>
            <p:cNvSpPr/>
            <p:nvPr/>
          </p:nvSpPr>
          <p:spPr>
            <a:xfrm>
              <a:off x="3674516" y="231114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22" name="Hub"/>
            <p:cNvSpPr/>
            <p:nvPr/>
          </p:nvSpPr>
          <p:spPr>
            <a:xfrm>
              <a:off x="3739695" y="2376324"/>
              <a:ext cx="50694" cy="50694"/>
            </a:xfrm>
            <a:prstGeom prst="ellipse">
              <a:avLst/>
            </a:prstGeom>
            <a:solidFill>
              <a:srgbClr val="9AA0A6"/>
            </a:solidFill>
            <a:ln>
              <a:noFill/>
            </a:ln>
          </p:spPr>
          <p:txBody>
            <a:bodyPr rtlCol="0" anchor="ctr"/>
            <a:lstStyle/>
            <a:p>
              <a:pPr algn="ctr"/>
              <a:endParaRPr/>
            </a:p>
          </p:txBody>
        </p:sp>
        <p:cxnSp>
          <p:nvCxnSpPr>
            <p:cNvPr id="23" name="Coupling rod"/>
            <p:cNvCxnSpPr/>
            <p:nvPr/>
          </p:nvCxnSpPr>
          <p:spPr>
            <a:xfrm>
              <a:off x="3106674" y="2401672"/>
              <a:ext cx="658368" cy="0"/>
            </a:xfrm>
            <a:prstGeom prst="line">
              <a:avLst/>
            </a:prstGeom>
            <a:ln w="25400">
              <a:solidFill>
                <a:srgbClr val="9AA0A6"/>
              </a:solidFill>
            </a:ln>
          </p:spPr>
        </p:cxnSp>
        <p:sp>
          <p:nvSpPr>
            <p:cNvPr id="24" name="Wagon"/>
            <p:cNvSpPr/>
            <p:nvPr/>
          </p:nvSpPr>
          <p:spPr>
            <a:xfrm>
              <a:off x="3995928"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25" name="Connector 24"/>
            <p:cNvCxnSpPr/>
            <p:nvPr/>
          </p:nvCxnSpPr>
          <p:spPr>
            <a:xfrm>
              <a:off x="4150233" y="2167128"/>
              <a:ext cx="0" cy="222199"/>
            </a:xfrm>
            <a:prstGeom prst="line">
              <a:avLst/>
            </a:prstGeom>
            <a:ln w="12700">
              <a:solidFill>
                <a:srgbClr val="343A43"/>
              </a:solidFill>
            </a:ln>
          </p:spPr>
        </p:cxnSp>
        <p:cxnSp>
          <p:nvCxnSpPr>
            <p:cNvPr id="26" name="Connector 25"/>
            <p:cNvCxnSpPr/>
            <p:nvPr/>
          </p:nvCxnSpPr>
          <p:spPr>
            <a:xfrm>
              <a:off x="4304538" y="2167128"/>
              <a:ext cx="0" cy="222199"/>
            </a:xfrm>
            <a:prstGeom prst="line">
              <a:avLst/>
            </a:prstGeom>
            <a:ln w="12700">
              <a:solidFill>
                <a:srgbClr val="343A43"/>
              </a:solidFill>
            </a:ln>
          </p:spPr>
        </p:cxnSp>
        <p:cxnSp>
          <p:nvCxnSpPr>
            <p:cNvPr id="27" name="Connector 26"/>
            <p:cNvCxnSpPr/>
            <p:nvPr/>
          </p:nvCxnSpPr>
          <p:spPr>
            <a:xfrm>
              <a:off x="4458843" y="2167128"/>
              <a:ext cx="0" cy="222199"/>
            </a:xfrm>
            <a:prstGeom prst="line">
              <a:avLst/>
            </a:prstGeom>
            <a:ln w="12700">
              <a:solidFill>
                <a:srgbClr val="343A43"/>
              </a:solidFill>
            </a:ln>
          </p:spPr>
        </p:cxnSp>
        <p:sp>
          <p:nvSpPr>
            <p:cNvPr id="28" name="Wheel"/>
            <p:cNvSpPr/>
            <p:nvPr/>
          </p:nvSpPr>
          <p:spPr>
            <a:xfrm>
              <a:off x="4061765"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29" name="Hub"/>
            <p:cNvSpPr/>
            <p:nvPr/>
          </p:nvSpPr>
          <p:spPr>
            <a:xfrm>
              <a:off x="4103242" y="2422575"/>
              <a:ext cx="32260" cy="32260"/>
            </a:xfrm>
            <a:prstGeom prst="ellipse">
              <a:avLst/>
            </a:prstGeom>
            <a:solidFill>
              <a:srgbClr val="9AA0A6"/>
            </a:solidFill>
            <a:ln>
              <a:noFill/>
            </a:ln>
          </p:spPr>
          <p:txBody>
            <a:bodyPr rtlCol="0" anchor="ctr"/>
            <a:lstStyle/>
            <a:p>
              <a:pPr algn="ctr"/>
              <a:endParaRPr/>
            </a:p>
          </p:txBody>
        </p:sp>
        <p:sp>
          <p:nvSpPr>
            <p:cNvPr id="30" name="Wheel"/>
            <p:cNvSpPr/>
            <p:nvPr/>
          </p:nvSpPr>
          <p:spPr>
            <a:xfrm>
              <a:off x="4432097"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31" name="Hub"/>
            <p:cNvSpPr/>
            <p:nvPr/>
          </p:nvSpPr>
          <p:spPr>
            <a:xfrm>
              <a:off x="4473574" y="2422575"/>
              <a:ext cx="32260" cy="32260"/>
            </a:xfrm>
            <a:prstGeom prst="ellipse">
              <a:avLst/>
            </a:prstGeom>
            <a:solidFill>
              <a:srgbClr val="9AA0A6"/>
            </a:solidFill>
            <a:ln>
              <a:noFill/>
            </a:ln>
          </p:spPr>
          <p:txBody>
            <a:bodyPr rtlCol="0" anchor="ctr"/>
            <a:lstStyle/>
            <a:p>
              <a:pPr algn="ctr"/>
              <a:endParaRPr/>
            </a:p>
          </p:txBody>
        </p:sp>
        <p:sp>
          <p:nvSpPr>
            <p:cNvPr id="32" name="Wagon"/>
            <p:cNvSpPr/>
            <p:nvPr/>
          </p:nvSpPr>
          <p:spPr>
            <a:xfrm>
              <a:off x="4649724"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33" name="Connector 32"/>
            <p:cNvCxnSpPr/>
            <p:nvPr/>
          </p:nvCxnSpPr>
          <p:spPr>
            <a:xfrm>
              <a:off x="4804029" y="2167128"/>
              <a:ext cx="0" cy="222199"/>
            </a:xfrm>
            <a:prstGeom prst="line">
              <a:avLst/>
            </a:prstGeom>
            <a:ln w="12700">
              <a:solidFill>
                <a:srgbClr val="343A43"/>
              </a:solidFill>
            </a:ln>
          </p:spPr>
        </p:cxnSp>
        <p:cxnSp>
          <p:nvCxnSpPr>
            <p:cNvPr id="34" name="Connector 33"/>
            <p:cNvCxnSpPr/>
            <p:nvPr/>
          </p:nvCxnSpPr>
          <p:spPr>
            <a:xfrm>
              <a:off x="4958334" y="2167128"/>
              <a:ext cx="0" cy="222199"/>
            </a:xfrm>
            <a:prstGeom prst="line">
              <a:avLst/>
            </a:prstGeom>
            <a:ln w="12700">
              <a:solidFill>
                <a:srgbClr val="343A43"/>
              </a:solidFill>
            </a:ln>
          </p:spPr>
        </p:cxnSp>
        <p:cxnSp>
          <p:nvCxnSpPr>
            <p:cNvPr id="35" name="Connector 34"/>
            <p:cNvCxnSpPr/>
            <p:nvPr/>
          </p:nvCxnSpPr>
          <p:spPr>
            <a:xfrm>
              <a:off x="5112639" y="2167128"/>
              <a:ext cx="0" cy="222199"/>
            </a:xfrm>
            <a:prstGeom prst="line">
              <a:avLst/>
            </a:prstGeom>
            <a:ln w="12700">
              <a:solidFill>
                <a:srgbClr val="343A43"/>
              </a:solidFill>
            </a:ln>
          </p:spPr>
        </p:cxnSp>
        <p:sp>
          <p:nvSpPr>
            <p:cNvPr id="36" name="Wheel"/>
            <p:cNvSpPr/>
            <p:nvPr/>
          </p:nvSpPr>
          <p:spPr>
            <a:xfrm>
              <a:off x="4715561"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37" name="Hub"/>
            <p:cNvSpPr/>
            <p:nvPr/>
          </p:nvSpPr>
          <p:spPr>
            <a:xfrm>
              <a:off x="4757038" y="2422575"/>
              <a:ext cx="32260" cy="32260"/>
            </a:xfrm>
            <a:prstGeom prst="ellipse">
              <a:avLst/>
            </a:prstGeom>
            <a:solidFill>
              <a:srgbClr val="9AA0A6"/>
            </a:solidFill>
            <a:ln>
              <a:noFill/>
            </a:ln>
          </p:spPr>
          <p:txBody>
            <a:bodyPr rtlCol="0" anchor="ctr"/>
            <a:lstStyle/>
            <a:p>
              <a:pPr algn="ctr"/>
              <a:endParaRPr/>
            </a:p>
          </p:txBody>
        </p:sp>
        <p:sp>
          <p:nvSpPr>
            <p:cNvPr id="38" name="Wheel"/>
            <p:cNvSpPr/>
            <p:nvPr/>
          </p:nvSpPr>
          <p:spPr>
            <a:xfrm>
              <a:off x="5085893"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39" name="Hub"/>
            <p:cNvSpPr/>
            <p:nvPr/>
          </p:nvSpPr>
          <p:spPr>
            <a:xfrm>
              <a:off x="5127370" y="2422575"/>
              <a:ext cx="32260" cy="32260"/>
            </a:xfrm>
            <a:prstGeom prst="ellipse">
              <a:avLst/>
            </a:prstGeom>
            <a:solidFill>
              <a:srgbClr val="9AA0A6"/>
            </a:solidFill>
            <a:ln>
              <a:noFill/>
            </a:ln>
          </p:spPr>
          <p:txBody>
            <a:bodyPr rtlCol="0" anchor="ctr"/>
            <a:lstStyle/>
            <a:p>
              <a:pPr algn="ctr"/>
              <a:endParaRPr/>
            </a:p>
          </p:txBody>
        </p:sp>
        <p:sp>
          <p:nvSpPr>
            <p:cNvPr id="40" name="Wagon"/>
            <p:cNvSpPr/>
            <p:nvPr/>
          </p:nvSpPr>
          <p:spPr>
            <a:xfrm>
              <a:off x="5303520"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41" name="Connector 40"/>
            <p:cNvCxnSpPr/>
            <p:nvPr/>
          </p:nvCxnSpPr>
          <p:spPr>
            <a:xfrm>
              <a:off x="5457825" y="2167128"/>
              <a:ext cx="0" cy="222199"/>
            </a:xfrm>
            <a:prstGeom prst="line">
              <a:avLst/>
            </a:prstGeom>
            <a:ln w="12700">
              <a:solidFill>
                <a:srgbClr val="343A43"/>
              </a:solidFill>
            </a:ln>
          </p:spPr>
        </p:cxnSp>
        <p:cxnSp>
          <p:nvCxnSpPr>
            <p:cNvPr id="42" name="Connector 41"/>
            <p:cNvCxnSpPr/>
            <p:nvPr/>
          </p:nvCxnSpPr>
          <p:spPr>
            <a:xfrm>
              <a:off x="5612130" y="2167128"/>
              <a:ext cx="0" cy="222199"/>
            </a:xfrm>
            <a:prstGeom prst="line">
              <a:avLst/>
            </a:prstGeom>
            <a:ln w="12700">
              <a:solidFill>
                <a:srgbClr val="343A43"/>
              </a:solidFill>
            </a:ln>
          </p:spPr>
        </p:cxnSp>
        <p:cxnSp>
          <p:nvCxnSpPr>
            <p:cNvPr id="43" name="Connector 42"/>
            <p:cNvCxnSpPr/>
            <p:nvPr/>
          </p:nvCxnSpPr>
          <p:spPr>
            <a:xfrm>
              <a:off x="5766435" y="2167128"/>
              <a:ext cx="0" cy="222199"/>
            </a:xfrm>
            <a:prstGeom prst="line">
              <a:avLst/>
            </a:prstGeom>
            <a:ln w="12700">
              <a:solidFill>
                <a:srgbClr val="343A43"/>
              </a:solidFill>
            </a:ln>
          </p:spPr>
        </p:cxnSp>
        <p:sp>
          <p:nvSpPr>
            <p:cNvPr id="44" name="Wheel"/>
            <p:cNvSpPr/>
            <p:nvPr/>
          </p:nvSpPr>
          <p:spPr>
            <a:xfrm>
              <a:off x="5369357"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45" name="Hub"/>
            <p:cNvSpPr/>
            <p:nvPr/>
          </p:nvSpPr>
          <p:spPr>
            <a:xfrm>
              <a:off x="5410834" y="2422575"/>
              <a:ext cx="32260" cy="32260"/>
            </a:xfrm>
            <a:prstGeom prst="ellipse">
              <a:avLst/>
            </a:prstGeom>
            <a:solidFill>
              <a:srgbClr val="9AA0A6"/>
            </a:solidFill>
            <a:ln>
              <a:noFill/>
            </a:ln>
          </p:spPr>
          <p:txBody>
            <a:bodyPr rtlCol="0" anchor="ctr"/>
            <a:lstStyle/>
            <a:p>
              <a:pPr algn="ctr"/>
              <a:endParaRPr/>
            </a:p>
          </p:txBody>
        </p:sp>
        <p:sp>
          <p:nvSpPr>
            <p:cNvPr id="46" name="Wheel"/>
            <p:cNvSpPr/>
            <p:nvPr/>
          </p:nvSpPr>
          <p:spPr>
            <a:xfrm>
              <a:off x="5739689"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47" name="Hub"/>
            <p:cNvSpPr/>
            <p:nvPr/>
          </p:nvSpPr>
          <p:spPr>
            <a:xfrm>
              <a:off x="5781166" y="2422575"/>
              <a:ext cx="32260" cy="32260"/>
            </a:xfrm>
            <a:prstGeom prst="ellipse">
              <a:avLst/>
            </a:prstGeom>
            <a:solidFill>
              <a:srgbClr val="9AA0A6"/>
            </a:solidFill>
            <a:ln>
              <a:noFill/>
            </a:ln>
          </p:spPr>
          <p:txBody>
            <a:bodyPr rtlCol="0" anchor="ctr"/>
            <a:lstStyle/>
            <a:p>
              <a:pPr algn="ctr"/>
              <a:endParaRPr/>
            </a:p>
          </p:txBody>
        </p:sp>
        <p:sp>
          <p:nvSpPr>
            <p:cNvPr id="48" name="Wagon"/>
            <p:cNvSpPr/>
            <p:nvPr/>
          </p:nvSpPr>
          <p:spPr>
            <a:xfrm>
              <a:off x="5957316"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49" name="Connector 48"/>
            <p:cNvCxnSpPr/>
            <p:nvPr/>
          </p:nvCxnSpPr>
          <p:spPr>
            <a:xfrm>
              <a:off x="6111621" y="2167128"/>
              <a:ext cx="0" cy="222199"/>
            </a:xfrm>
            <a:prstGeom prst="line">
              <a:avLst/>
            </a:prstGeom>
            <a:ln w="12700">
              <a:solidFill>
                <a:srgbClr val="343A43"/>
              </a:solidFill>
            </a:ln>
          </p:spPr>
        </p:cxnSp>
        <p:cxnSp>
          <p:nvCxnSpPr>
            <p:cNvPr id="50" name="Connector 49"/>
            <p:cNvCxnSpPr/>
            <p:nvPr/>
          </p:nvCxnSpPr>
          <p:spPr>
            <a:xfrm>
              <a:off x="6265926" y="2167128"/>
              <a:ext cx="0" cy="222199"/>
            </a:xfrm>
            <a:prstGeom prst="line">
              <a:avLst/>
            </a:prstGeom>
            <a:ln w="12700">
              <a:solidFill>
                <a:srgbClr val="343A43"/>
              </a:solidFill>
            </a:ln>
          </p:spPr>
        </p:cxnSp>
        <p:cxnSp>
          <p:nvCxnSpPr>
            <p:cNvPr id="51" name="Connector 50"/>
            <p:cNvCxnSpPr/>
            <p:nvPr/>
          </p:nvCxnSpPr>
          <p:spPr>
            <a:xfrm>
              <a:off x="6420231" y="2167128"/>
              <a:ext cx="0" cy="222199"/>
            </a:xfrm>
            <a:prstGeom prst="line">
              <a:avLst/>
            </a:prstGeom>
            <a:ln w="12700">
              <a:solidFill>
                <a:srgbClr val="343A43"/>
              </a:solidFill>
            </a:ln>
          </p:spPr>
        </p:cxnSp>
        <p:sp>
          <p:nvSpPr>
            <p:cNvPr id="52" name="Wheel"/>
            <p:cNvSpPr/>
            <p:nvPr/>
          </p:nvSpPr>
          <p:spPr>
            <a:xfrm>
              <a:off x="6023153"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53" name="Hub"/>
            <p:cNvSpPr/>
            <p:nvPr/>
          </p:nvSpPr>
          <p:spPr>
            <a:xfrm>
              <a:off x="6064630" y="2422575"/>
              <a:ext cx="32260" cy="32260"/>
            </a:xfrm>
            <a:prstGeom prst="ellipse">
              <a:avLst/>
            </a:prstGeom>
            <a:solidFill>
              <a:srgbClr val="9AA0A6"/>
            </a:solidFill>
            <a:ln>
              <a:noFill/>
            </a:ln>
          </p:spPr>
          <p:txBody>
            <a:bodyPr rtlCol="0" anchor="ctr"/>
            <a:lstStyle/>
            <a:p>
              <a:pPr algn="ctr"/>
              <a:endParaRPr/>
            </a:p>
          </p:txBody>
        </p:sp>
        <p:sp>
          <p:nvSpPr>
            <p:cNvPr id="54" name="Wheel"/>
            <p:cNvSpPr/>
            <p:nvPr/>
          </p:nvSpPr>
          <p:spPr>
            <a:xfrm>
              <a:off x="6393485"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55" name="Hub"/>
            <p:cNvSpPr/>
            <p:nvPr/>
          </p:nvSpPr>
          <p:spPr>
            <a:xfrm>
              <a:off x="6434962" y="2422575"/>
              <a:ext cx="32260" cy="32260"/>
            </a:xfrm>
            <a:prstGeom prst="ellipse">
              <a:avLst/>
            </a:prstGeom>
            <a:solidFill>
              <a:srgbClr val="9AA0A6"/>
            </a:solidFill>
            <a:ln>
              <a:noFill/>
            </a:ln>
          </p:spPr>
          <p:txBody>
            <a:bodyPr rtlCol="0" anchor="ctr"/>
            <a:lstStyle/>
            <a:p>
              <a:pPr algn="ctr"/>
              <a:endParaRPr/>
            </a:p>
          </p:txBody>
        </p:sp>
        <p:sp>
          <p:nvSpPr>
            <p:cNvPr id="56" name="Wagon"/>
            <p:cNvSpPr/>
            <p:nvPr/>
          </p:nvSpPr>
          <p:spPr>
            <a:xfrm>
              <a:off x="6611112"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57" name="Connector 56"/>
            <p:cNvCxnSpPr/>
            <p:nvPr/>
          </p:nvCxnSpPr>
          <p:spPr>
            <a:xfrm>
              <a:off x="6765417" y="2167128"/>
              <a:ext cx="0" cy="222199"/>
            </a:xfrm>
            <a:prstGeom prst="line">
              <a:avLst/>
            </a:prstGeom>
            <a:ln w="12700">
              <a:solidFill>
                <a:srgbClr val="343A43"/>
              </a:solidFill>
            </a:ln>
          </p:spPr>
        </p:cxnSp>
        <p:cxnSp>
          <p:nvCxnSpPr>
            <p:cNvPr id="58" name="Connector 57"/>
            <p:cNvCxnSpPr/>
            <p:nvPr/>
          </p:nvCxnSpPr>
          <p:spPr>
            <a:xfrm>
              <a:off x="6919722" y="2167128"/>
              <a:ext cx="0" cy="222199"/>
            </a:xfrm>
            <a:prstGeom prst="line">
              <a:avLst/>
            </a:prstGeom>
            <a:ln w="12700">
              <a:solidFill>
                <a:srgbClr val="343A43"/>
              </a:solidFill>
            </a:ln>
          </p:spPr>
        </p:cxnSp>
        <p:cxnSp>
          <p:nvCxnSpPr>
            <p:cNvPr id="59" name="Connector 58"/>
            <p:cNvCxnSpPr/>
            <p:nvPr/>
          </p:nvCxnSpPr>
          <p:spPr>
            <a:xfrm>
              <a:off x="7074027" y="2167128"/>
              <a:ext cx="0" cy="222199"/>
            </a:xfrm>
            <a:prstGeom prst="line">
              <a:avLst/>
            </a:prstGeom>
            <a:ln w="12700">
              <a:solidFill>
                <a:srgbClr val="343A43"/>
              </a:solidFill>
            </a:ln>
          </p:spPr>
        </p:cxnSp>
        <p:sp>
          <p:nvSpPr>
            <p:cNvPr id="60" name="Wheel"/>
            <p:cNvSpPr/>
            <p:nvPr/>
          </p:nvSpPr>
          <p:spPr>
            <a:xfrm>
              <a:off x="6676949"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61" name="Hub"/>
            <p:cNvSpPr/>
            <p:nvPr/>
          </p:nvSpPr>
          <p:spPr>
            <a:xfrm>
              <a:off x="6718426" y="2422575"/>
              <a:ext cx="32260" cy="32260"/>
            </a:xfrm>
            <a:prstGeom prst="ellipse">
              <a:avLst/>
            </a:prstGeom>
            <a:solidFill>
              <a:srgbClr val="9AA0A6"/>
            </a:solidFill>
            <a:ln>
              <a:noFill/>
            </a:ln>
          </p:spPr>
          <p:txBody>
            <a:bodyPr rtlCol="0" anchor="ctr"/>
            <a:lstStyle/>
            <a:p>
              <a:pPr algn="ctr"/>
              <a:endParaRPr/>
            </a:p>
          </p:txBody>
        </p:sp>
        <p:sp>
          <p:nvSpPr>
            <p:cNvPr id="62" name="Wheel"/>
            <p:cNvSpPr/>
            <p:nvPr/>
          </p:nvSpPr>
          <p:spPr>
            <a:xfrm>
              <a:off x="7047281"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63" name="Hub"/>
            <p:cNvSpPr/>
            <p:nvPr/>
          </p:nvSpPr>
          <p:spPr>
            <a:xfrm>
              <a:off x="7088758" y="2422575"/>
              <a:ext cx="32260" cy="32260"/>
            </a:xfrm>
            <a:prstGeom prst="ellipse">
              <a:avLst/>
            </a:prstGeom>
            <a:solidFill>
              <a:srgbClr val="9AA0A6"/>
            </a:solidFill>
            <a:ln>
              <a:noFill/>
            </a:ln>
          </p:spPr>
          <p:txBody>
            <a:bodyPr rtlCol="0" anchor="ctr"/>
            <a:lstStyle/>
            <a:p>
              <a:pPr algn="ctr"/>
              <a:endParaRPr/>
            </a:p>
          </p:txBody>
        </p:sp>
        <p:sp>
          <p:nvSpPr>
            <p:cNvPr id="64" name="Wagon"/>
            <p:cNvSpPr/>
            <p:nvPr/>
          </p:nvSpPr>
          <p:spPr>
            <a:xfrm>
              <a:off x="7264908"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65" name="Connector 64"/>
            <p:cNvCxnSpPr/>
            <p:nvPr/>
          </p:nvCxnSpPr>
          <p:spPr>
            <a:xfrm>
              <a:off x="7419213" y="2167128"/>
              <a:ext cx="0" cy="222199"/>
            </a:xfrm>
            <a:prstGeom prst="line">
              <a:avLst/>
            </a:prstGeom>
            <a:ln w="12700">
              <a:solidFill>
                <a:srgbClr val="343A43"/>
              </a:solidFill>
            </a:ln>
          </p:spPr>
        </p:cxnSp>
        <p:cxnSp>
          <p:nvCxnSpPr>
            <p:cNvPr id="66" name="Connector 65"/>
            <p:cNvCxnSpPr/>
            <p:nvPr/>
          </p:nvCxnSpPr>
          <p:spPr>
            <a:xfrm>
              <a:off x="7573518" y="2167128"/>
              <a:ext cx="0" cy="222199"/>
            </a:xfrm>
            <a:prstGeom prst="line">
              <a:avLst/>
            </a:prstGeom>
            <a:ln w="12700">
              <a:solidFill>
                <a:srgbClr val="343A43"/>
              </a:solidFill>
            </a:ln>
          </p:spPr>
        </p:cxnSp>
        <p:cxnSp>
          <p:nvCxnSpPr>
            <p:cNvPr id="67" name="Connector 66"/>
            <p:cNvCxnSpPr/>
            <p:nvPr/>
          </p:nvCxnSpPr>
          <p:spPr>
            <a:xfrm>
              <a:off x="7727823" y="2167128"/>
              <a:ext cx="0" cy="222199"/>
            </a:xfrm>
            <a:prstGeom prst="line">
              <a:avLst/>
            </a:prstGeom>
            <a:ln w="12700">
              <a:solidFill>
                <a:srgbClr val="343A43"/>
              </a:solidFill>
            </a:ln>
          </p:spPr>
        </p:cxnSp>
        <p:sp>
          <p:nvSpPr>
            <p:cNvPr id="68" name="Wheel"/>
            <p:cNvSpPr/>
            <p:nvPr/>
          </p:nvSpPr>
          <p:spPr>
            <a:xfrm>
              <a:off x="7330745"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69" name="Hub"/>
            <p:cNvSpPr/>
            <p:nvPr/>
          </p:nvSpPr>
          <p:spPr>
            <a:xfrm>
              <a:off x="7372222" y="2422575"/>
              <a:ext cx="32260" cy="32260"/>
            </a:xfrm>
            <a:prstGeom prst="ellipse">
              <a:avLst/>
            </a:prstGeom>
            <a:solidFill>
              <a:srgbClr val="9AA0A6"/>
            </a:solidFill>
            <a:ln>
              <a:noFill/>
            </a:ln>
          </p:spPr>
          <p:txBody>
            <a:bodyPr rtlCol="0" anchor="ctr"/>
            <a:lstStyle/>
            <a:p>
              <a:pPr algn="ctr"/>
              <a:endParaRPr/>
            </a:p>
          </p:txBody>
        </p:sp>
        <p:sp>
          <p:nvSpPr>
            <p:cNvPr id="70" name="Wheel"/>
            <p:cNvSpPr/>
            <p:nvPr/>
          </p:nvSpPr>
          <p:spPr>
            <a:xfrm>
              <a:off x="7701077"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71" name="Hub"/>
            <p:cNvSpPr/>
            <p:nvPr/>
          </p:nvSpPr>
          <p:spPr>
            <a:xfrm>
              <a:off x="7742554" y="2422575"/>
              <a:ext cx="32260" cy="32260"/>
            </a:xfrm>
            <a:prstGeom prst="ellipse">
              <a:avLst/>
            </a:prstGeom>
            <a:solidFill>
              <a:srgbClr val="9AA0A6"/>
            </a:solidFill>
            <a:ln>
              <a:noFill/>
            </a:ln>
          </p:spPr>
          <p:txBody>
            <a:bodyPr rtlCol="0" anchor="ctr"/>
            <a:lstStyle/>
            <a:p>
              <a:pPr algn="ctr"/>
              <a:endParaRPr/>
            </a:p>
          </p:txBody>
        </p:sp>
        <p:sp>
          <p:nvSpPr>
            <p:cNvPr id="72" name="Wagon"/>
            <p:cNvSpPr/>
            <p:nvPr/>
          </p:nvSpPr>
          <p:spPr>
            <a:xfrm>
              <a:off x="7918704"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73" name="Connector 72"/>
            <p:cNvCxnSpPr/>
            <p:nvPr/>
          </p:nvCxnSpPr>
          <p:spPr>
            <a:xfrm>
              <a:off x="8073009" y="2167128"/>
              <a:ext cx="0" cy="222199"/>
            </a:xfrm>
            <a:prstGeom prst="line">
              <a:avLst/>
            </a:prstGeom>
            <a:ln w="12700">
              <a:solidFill>
                <a:srgbClr val="343A43"/>
              </a:solidFill>
            </a:ln>
          </p:spPr>
        </p:cxnSp>
        <p:cxnSp>
          <p:nvCxnSpPr>
            <p:cNvPr id="74" name="Connector 73"/>
            <p:cNvCxnSpPr/>
            <p:nvPr/>
          </p:nvCxnSpPr>
          <p:spPr>
            <a:xfrm>
              <a:off x="8227314" y="2167128"/>
              <a:ext cx="0" cy="222199"/>
            </a:xfrm>
            <a:prstGeom prst="line">
              <a:avLst/>
            </a:prstGeom>
            <a:ln w="12700">
              <a:solidFill>
                <a:srgbClr val="343A43"/>
              </a:solidFill>
            </a:ln>
          </p:spPr>
        </p:cxnSp>
        <p:cxnSp>
          <p:nvCxnSpPr>
            <p:cNvPr id="75" name="Connector 74"/>
            <p:cNvCxnSpPr/>
            <p:nvPr/>
          </p:nvCxnSpPr>
          <p:spPr>
            <a:xfrm>
              <a:off x="8381619" y="2167128"/>
              <a:ext cx="0" cy="222199"/>
            </a:xfrm>
            <a:prstGeom prst="line">
              <a:avLst/>
            </a:prstGeom>
            <a:ln w="12700">
              <a:solidFill>
                <a:srgbClr val="343A43"/>
              </a:solidFill>
            </a:ln>
          </p:spPr>
        </p:cxnSp>
        <p:sp>
          <p:nvSpPr>
            <p:cNvPr id="76" name="Wheel"/>
            <p:cNvSpPr/>
            <p:nvPr/>
          </p:nvSpPr>
          <p:spPr>
            <a:xfrm>
              <a:off x="7984541"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77" name="Hub"/>
            <p:cNvSpPr/>
            <p:nvPr/>
          </p:nvSpPr>
          <p:spPr>
            <a:xfrm>
              <a:off x="8026018" y="2422575"/>
              <a:ext cx="32260" cy="32260"/>
            </a:xfrm>
            <a:prstGeom prst="ellipse">
              <a:avLst/>
            </a:prstGeom>
            <a:solidFill>
              <a:srgbClr val="9AA0A6"/>
            </a:solidFill>
            <a:ln>
              <a:noFill/>
            </a:ln>
          </p:spPr>
          <p:txBody>
            <a:bodyPr rtlCol="0" anchor="ctr"/>
            <a:lstStyle/>
            <a:p>
              <a:pPr algn="ctr"/>
              <a:endParaRPr/>
            </a:p>
          </p:txBody>
        </p:sp>
        <p:sp>
          <p:nvSpPr>
            <p:cNvPr id="78" name="Wheel"/>
            <p:cNvSpPr/>
            <p:nvPr/>
          </p:nvSpPr>
          <p:spPr>
            <a:xfrm>
              <a:off x="8354873"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79" name="Hub"/>
            <p:cNvSpPr/>
            <p:nvPr/>
          </p:nvSpPr>
          <p:spPr>
            <a:xfrm>
              <a:off x="8396350" y="2422575"/>
              <a:ext cx="32260" cy="32260"/>
            </a:xfrm>
            <a:prstGeom prst="ellipse">
              <a:avLst/>
            </a:prstGeom>
            <a:solidFill>
              <a:srgbClr val="9AA0A6"/>
            </a:solidFill>
            <a:ln>
              <a:noFill/>
            </a:ln>
          </p:spPr>
          <p:txBody>
            <a:bodyPr rtlCol="0" anchor="ctr"/>
            <a:lstStyle/>
            <a:p>
              <a:pPr algn="ctr"/>
              <a:endParaRPr/>
            </a:p>
          </p:txBody>
        </p:sp>
        <p:sp>
          <p:nvSpPr>
            <p:cNvPr id="80" name="Wagon"/>
            <p:cNvSpPr/>
            <p:nvPr/>
          </p:nvSpPr>
          <p:spPr>
            <a:xfrm>
              <a:off x="8572500"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81" name="Connector 80"/>
            <p:cNvCxnSpPr/>
            <p:nvPr/>
          </p:nvCxnSpPr>
          <p:spPr>
            <a:xfrm>
              <a:off x="8726805" y="2167128"/>
              <a:ext cx="0" cy="222199"/>
            </a:xfrm>
            <a:prstGeom prst="line">
              <a:avLst/>
            </a:prstGeom>
            <a:ln w="12700">
              <a:solidFill>
                <a:srgbClr val="343A43"/>
              </a:solidFill>
            </a:ln>
          </p:spPr>
        </p:cxnSp>
        <p:cxnSp>
          <p:nvCxnSpPr>
            <p:cNvPr id="82" name="Connector 81"/>
            <p:cNvCxnSpPr/>
            <p:nvPr/>
          </p:nvCxnSpPr>
          <p:spPr>
            <a:xfrm>
              <a:off x="8881110" y="2167128"/>
              <a:ext cx="0" cy="222199"/>
            </a:xfrm>
            <a:prstGeom prst="line">
              <a:avLst/>
            </a:prstGeom>
            <a:ln w="12700">
              <a:solidFill>
                <a:srgbClr val="343A43"/>
              </a:solidFill>
            </a:ln>
          </p:spPr>
        </p:cxnSp>
        <p:cxnSp>
          <p:nvCxnSpPr>
            <p:cNvPr id="83" name="Connector 82"/>
            <p:cNvCxnSpPr/>
            <p:nvPr/>
          </p:nvCxnSpPr>
          <p:spPr>
            <a:xfrm>
              <a:off x="9035415" y="2167128"/>
              <a:ext cx="0" cy="222199"/>
            </a:xfrm>
            <a:prstGeom prst="line">
              <a:avLst/>
            </a:prstGeom>
            <a:ln w="12700">
              <a:solidFill>
                <a:srgbClr val="343A43"/>
              </a:solidFill>
            </a:ln>
          </p:spPr>
        </p:cxnSp>
        <p:sp>
          <p:nvSpPr>
            <p:cNvPr id="84" name="Wheel"/>
            <p:cNvSpPr/>
            <p:nvPr/>
          </p:nvSpPr>
          <p:spPr>
            <a:xfrm>
              <a:off x="8638337"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85" name="Hub"/>
            <p:cNvSpPr/>
            <p:nvPr/>
          </p:nvSpPr>
          <p:spPr>
            <a:xfrm>
              <a:off x="8679814" y="2422575"/>
              <a:ext cx="32260" cy="32260"/>
            </a:xfrm>
            <a:prstGeom prst="ellipse">
              <a:avLst/>
            </a:prstGeom>
            <a:solidFill>
              <a:srgbClr val="9AA0A6"/>
            </a:solidFill>
            <a:ln>
              <a:noFill/>
            </a:ln>
          </p:spPr>
          <p:txBody>
            <a:bodyPr rtlCol="0" anchor="ctr"/>
            <a:lstStyle/>
            <a:p>
              <a:pPr algn="ctr"/>
              <a:endParaRPr/>
            </a:p>
          </p:txBody>
        </p:sp>
        <p:sp>
          <p:nvSpPr>
            <p:cNvPr id="86" name="Wheel"/>
            <p:cNvSpPr/>
            <p:nvPr/>
          </p:nvSpPr>
          <p:spPr>
            <a:xfrm>
              <a:off x="9008669"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87" name="Hub"/>
            <p:cNvSpPr/>
            <p:nvPr/>
          </p:nvSpPr>
          <p:spPr>
            <a:xfrm>
              <a:off x="9050146" y="2422575"/>
              <a:ext cx="32260" cy="32260"/>
            </a:xfrm>
            <a:prstGeom prst="ellipse">
              <a:avLst/>
            </a:prstGeom>
            <a:solidFill>
              <a:srgbClr val="9AA0A6"/>
            </a:solidFill>
            <a:ln>
              <a:noFill/>
            </a:ln>
          </p:spPr>
          <p:txBody>
            <a:bodyPr rtlCol="0" anchor="ctr"/>
            <a:lstStyle/>
            <a:p>
              <a:pPr algn="ctr"/>
              <a:endParaRPr/>
            </a:p>
          </p:txBody>
        </p:sp>
        <p:sp>
          <p:nvSpPr>
            <p:cNvPr id="88" name="Wagon"/>
            <p:cNvSpPr/>
            <p:nvPr/>
          </p:nvSpPr>
          <p:spPr>
            <a:xfrm>
              <a:off x="9226296"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89" name="Connector 88"/>
            <p:cNvCxnSpPr/>
            <p:nvPr/>
          </p:nvCxnSpPr>
          <p:spPr>
            <a:xfrm>
              <a:off x="9380601" y="2167128"/>
              <a:ext cx="0" cy="222199"/>
            </a:xfrm>
            <a:prstGeom prst="line">
              <a:avLst/>
            </a:prstGeom>
            <a:ln w="12700">
              <a:solidFill>
                <a:srgbClr val="343A43"/>
              </a:solidFill>
            </a:ln>
          </p:spPr>
        </p:cxnSp>
        <p:cxnSp>
          <p:nvCxnSpPr>
            <p:cNvPr id="90" name="Connector 89"/>
            <p:cNvCxnSpPr/>
            <p:nvPr/>
          </p:nvCxnSpPr>
          <p:spPr>
            <a:xfrm>
              <a:off x="9534906" y="2167128"/>
              <a:ext cx="0" cy="222199"/>
            </a:xfrm>
            <a:prstGeom prst="line">
              <a:avLst/>
            </a:prstGeom>
            <a:ln w="12700">
              <a:solidFill>
                <a:srgbClr val="343A43"/>
              </a:solidFill>
            </a:ln>
          </p:spPr>
        </p:cxnSp>
        <p:cxnSp>
          <p:nvCxnSpPr>
            <p:cNvPr id="91" name="Connector 90"/>
            <p:cNvCxnSpPr/>
            <p:nvPr/>
          </p:nvCxnSpPr>
          <p:spPr>
            <a:xfrm>
              <a:off x="9689211" y="2167128"/>
              <a:ext cx="0" cy="222199"/>
            </a:xfrm>
            <a:prstGeom prst="line">
              <a:avLst/>
            </a:prstGeom>
            <a:ln w="12700">
              <a:solidFill>
                <a:srgbClr val="343A43"/>
              </a:solidFill>
            </a:ln>
          </p:spPr>
        </p:cxnSp>
        <p:sp>
          <p:nvSpPr>
            <p:cNvPr id="92" name="Wheel"/>
            <p:cNvSpPr/>
            <p:nvPr/>
          </p:nvSpPr>
          <p:spPr>
            <a:xfrm>
              <a:off x="9292133"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93" name="Hub"/>
            <p:cNvSpPr/>
            <p:nvPr/>
          </p:nvSpPr>
          <p:spPr>
            <a:xfrm>
              <a:off x="9333610" y="2422575"/>
              <a:ext cx="32260" cy="32260"/>
            </a:xfrm>
            <a:prstGeom prst="ellipse">
              <a:avLst/>
            </a:prstGeom>
            <a:solidFill>
              <a:srgbClr val="9AA0A6"/>
            </a:solidFill>
            <a:ln>
              <a:noFill/>
            </a:ln>
          </p:spPr>
          <p:txBody>
            <a:bodyPr rtlCol="0" anchor="ctr"/>
            <a:lstStyle/>
            <a:p>
              <a:pPr algn="ctr"/>
              <a:endParaRPr/>
            </a:p>
          </p:txBody>
        </p:sp>
        <p:sp>
          <p:nvSpPr>
            <p:cNvPr id="94" name="Wheel"/>
            <p:cNvSpPr/>
            <p:nvPr/>
          </p:nvSpPr>
          <p:spPr>
            <a:xfrm>
              <a:off x="9662465"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95" name="Hub"/>
            <p:cNvSpPr/>
            <p:nvPr/>
          </p:nvSpPr>
          <p:spPr>
            <a:xfrm>
              <a:off x="9703942" y="2422575"/>
              <a:ext cx="32260" cy="32260"/>
            </a:xfrm>
            <a:prstGeom prst="ellipse">
              <a:avLst/>
            </a:prstGeom>
            <a:solidFill>
              <a:srgbClr val="9AA0A6"/>
            </a:solidFill>
            <a:ln>
              <a:noFill/>
            </a:ln>
          </p:spPr>
          <p:txBody>
            <a:bodyPr rtlCol="0" anchor="ctr"/>
            <a:lstStyle/>
            <a:p>
              <a:pPr algn="ctr"/>
              <a:endParaRPr/>
            </a:p>
          </p:txBody>
        </p:sp>
        <p:sp>
          <p:nvSpPr>
            <p:cNvPr id="96" name="Wagon"/>
            <p:cNvSpPr/>
            <p:nvPr/>
          </p:nvSpPr>
          <p:spPr>
            <a:xfrm>
              <a:off x="9880092"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97" name="Connector 96"/>
            <p:cNvCxnSpPr/>
            <p:nvPr/>
          </p:nvCxnSpPr>
          <p:spPr>
            <a:xfrm>
              <a:off x="10034397" y="2167128"/>
              <a:ext cx="0" cy="222199"/>
            </a:xfrm>
            <a:prstGeom prst="line">
              <a:avLst/>
            </a:prstGeom>
            <a:ln w="12700">
              <a:solidFill>
                <a:srgbClr val="343A43"/>
              </a:solidFill>
            </a:ln>
          </p:spPr>
        </p:cxnSp>
        <p:cxnSp>
          <p:nvCxnSpPr>
            <p:cNvPr id="98" name="Connector 97"/>
            <p:cNvCxnSpPr/>
            <p:nvPr/>
          </p:nvCxnSpPr>
          <p:spPr>
            <a:xfrm>
              <a:off x="10188702" y="2167128"/>
              <a:ext cx="0" cy="222199"/>
            </a:xfrm>
            <a:prstGeom prst="line">
              <a:avLst/>
            </a:prstGeom>
            <a:ln w="12700">
              <a:solidFill>
                <a:srgbClr val="343A43"/>
              </a:solidFill>
            </a:ln>
          </p:spPr>
        </p:cxnSp>
        <p:cxnSp>
          <p:nvCxnSpPr>
            <p:cNvPr id="99" name="Connector 98"/>
            <p:cNvCxnSpPr/>
            <p:nvPr/>
          </p:nvCxnSpPr>
          <p:spPr>
            <a:xfrm>
              <a:off x="10343007" y="2167128"/>
              <a:ext cx="0" cy="222199"/>
            </a:xfrm>
            <a:prstGeom prst="line">
              <a:avLst/>
            </a:prstGeom>
            <a:ln w="12700">
              <a:solidFill>
                <a:srgbClr val="343A43"/>
              </a:solidFill>
            </a:ln>
          </p:spPr>
        </p:cxnSp>
        <p:sp>
          <p:nvSpPr>
            <p:cNvPr id="100" name="Wheel"/>
            <p:cNvSpPr/>
            <p:nvPr/>
          </p:nvSpPr>
          <p:spPr>
            <a:xfrm>
              <a:off x="9945929"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101" name="Hub"/>
            <p:cNvSpPr/>
            <p:nvPr/>
          </p:nvSpPr>
          <p:spPr>
            <a:xfrm>
              <a:off x="9987406" y="2422575"/>
              <a:ext cx="32260" cy="32260"/>
            </a:xfrm>
            <a:prstGeom prst="ellipse">
              <a:avLst/>
            </a:prstGeom>
            <a:solidFill>
              <a:srgbClr val="9AA0A6"/>
            </a:solidFill>
            <a:ln>
              <a:noFill/>
            </a:ln>
          </p:spPr>
          <p:txBody>
            <a:bodyPr rtlCol="0" anchor="ctr"/>
            <a:lstStyle/>
            <a:p>
              <a:pPr algn="ctr"/>
              <a:endParaRPr/>
            </a:p>
          </p:txBody>
        </p:sp>
        <p:sp>
          <p:nvSpPr>
            <p:cNvPr id="102" name="Wheel"/>
            <p:cNvSpPr/>
            <p:nvPr/>
          </p:nvSpPr>
          <p:spPr>
            <a:xfrm>
              <a:off x="10316261"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103" name="Hub"/>
            <p:cNvSpPr/>
            <p:nvPr/>
          </p:nvSpPr>
          <p:spPr>
            <a:xfrm>
              <a:off x="10357738" y="2422575"/>
              <a:ext cx="32260" cy="32260"/>
            </a:xfrm>
            <a:prstGeom prst="ellipse">
              <a:avLst/>
            </a:prstGeom>
            <a:solidFill>
              <a:srgbClr val="9AA0A6"/>
            </a:solidFill>
            <a:ln>
              <a:noFill/>
            </a:ln>
          </p:spPr>
          <p:txBody>
            <a:bodyPr rtlCol="0" anchor="ctr"/>
            <a:lstStyle/>
            <a:p>
              <a:pPr algn="ctr"/>
              <a:endParaRPr/>
            </a:p>
          </p:txBody>
        </p:sp>
        <p:sp>
          <p:nvSpPr>
            <p:cNvPr id="104" name="Wagon"/>
            <p:cNvSpPr/>
            <p:nvPr/>
          </p:nvSpPr>
          <p:spPr>
            <a:xfrm>
              <a:off x="10533888" y="2150669"/>
              <a:ext cx="617220" cy="255118"/>
            </a:xfrm>
            <a:prstGeom prst="rect">
              <a:avLst/>
            </a:prstGeom>
            <a:solidFill>
              <a:srgbClr val="6C7480"/>
            </a:solidFill>
            <a:ln w="12700">
              <a:solidFill>
                <a:srgbClr val="9AA0A6"/>
              </a:solidFill>
            </a:ln>
          </p:spPr>
          <p:txBody>
            <a:bodyPr rtlCol="0" anchor="ctr"/>
            <a:lstStyle/>
            <a:p>
              <a:pPr algn="ctr"/>
              <a:endParaRPr/>
            </a:p>
          </p:txBody>
        </p:sp>
        <p:cxnSp>
          <p:nvCxnSpPr>
            <p:cNvPr id="105" name="Connector 104"/>
            <p:cNvCxnSpPr/>
            <p:nvPr/>
          </p:nvCxnSpPr>
          <p:spPr>
            <a:xfrm>
              <a:off x="10688193" y="2167128"/>
              <a:ext cx="0" cy="222199"/>
            </a:xfrm>
            <a:prstGeom prst="line">
              <a:avLst/>
            </a:prstGeom>
            <a:ln w="12700">
              <a:solidFill>
                <a:srgbClr val="343A43"/>
              </a:solidFill>
            </a:ln>
          </p:spPr>
        </p:cxnSp>
        <p:cxnSp>
          <p:nvCxnSpPr>
            <p:cNvPr id="106" name="Connector 105"/>
            <p:cNvCxnSpPr/>
            <p:nvPr/>
          </p:nvCxnSpPr>
          <p:spPr>
            <a:xfrm>
              <a:off x="10842498" y="2167128"/>
              <a:ext cx="0" cy="222199"/>
            </a:xfrm>
            <a:prstGeom prst="line">
              <a:avLst/>
            </a:prstGeom>
            <a:ln w="12700">
              <a:solidFill>
                <a:srgbClr val="343A43"/>
              </a:solidFill>
            </a:ln>
          </p:spPr>
        </p:cxnSp>
        <p:cxnSp>
          <p:nvCxnSpPr>
            <p:cNvPr id="107" name="Connector 106"/>
            <p:cNvCxnSpPr/>
            <p:nvPr/>
          </p:nvCxnSpPr>
          <p:spPr>
            <a:xfrm>
              <a:off x="10996803" y="2167128"/>
              <a:ext cx="0" cy="222199"/>
            </a:xfrm>
            <a:prstGeom prst="line">
              <a:avLst/>
            </a:prstGeom>
            <a:ln w="12700">
              <a:solidFill>
                <a:srgbClr val="343A43"/>
              </a:solidFill>
            </a:ln>
          </p:spPr>
        </p:cxnSp>
        <p:sp>
          <p:nvSpPr>
            <p:cNvPr id="108" name="Wheel"/>
            <p:cNvSpPr/>
            <p:nvPr/>
          </p:nvSpPr>
          <p:spPr>
            <a:xfrm>
              <a:off x="10599725"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109" name="Hub"/>
            <p:cNvSpPr/>
            <p:nvPr/>
          </p:nvSpPr>
          <p:spPr>
            <a:xfrm>
              <a:off x="10641202" y="2422575"/>
              <a:ext cx="32260" cy="32260"/>
            </a:xfrm>
            <a:prstGeom prst="ellipse">
              <a:avLst/>
            </a:prstGeom>
            <a:solidFill>
              <a:srgbClr val="9AA0A6"/>
            </a:solidFill>
            <a:ln>
              <a:noFill/>
            </a:ln>
          </p:spPr>
          <p:txBody>
            <a:bodyPr rtlCol="0" anchor="ctr"/>
            <a:lstStyle/>
            <a:p>
              <a:pPr algn="ctr"/>
              <a:endParaRPr/>
            </a:p>
          </p:txBody>
        </p:sp>
        <p:sp>
          <p:nvSpPr>
            <p:cNvPr id="110" name="Wheel"/>
            <p:cNvSpPr/>
            <p:nvPr/>
          </p:nvSpPr>
          <p:spPr>
            <a:xfrm>
              <a:off x="10970057" y="2381098"/>
              <a:ext cx="115214" cy="115214"/>
            </a:xfrm>
            <a:prstGeom prst="ellipse">
              <a:avLst/>
            </a:prstGeom>
            <a:solidFill>
              <a:srgbClr val="1B1D21"/>
            </a:solidFill>
            <a:ln w="19050">
              <a:solidFill>
                <a:srgbClr val="9AA0A6"/>
              </a:solidFill>
            </a:ln>
          </p:spPr>
          <p:txBody>
            <a:bodyPr rtlCol="0" anchor="ctr"/>
            <a:lstStyle/>
            <a:p>
              <a:pPr algn="ctr"/>
              <a:endParaRPr/>
            </a:p>
          </p:txBody>
        </p:sp>
        <p:sp>
          <p:nvSpPr>
            <p:cNvPr id="111" name="Hub"/>
            <p:cNvSpPr/>
            <p:nvPr/>
          </p:nvSpPr>
          <p:spPr>
            <a:xfrm>
              <a:off x="11011534" y="2422575"/>
              <a:ext cx="32260" cy="32260"/>
            </a:xfrm>
            <a:prstGeom prst="ellipse">
              <a:avLst/>
            </a:prstGeom>
            <a:solidFill>
              <a:srgbClr val="9AA0A6"/>
            </a:solidFill>
            <a:ln>
              <a:noFill/>
            </a:ln>
          </p:spPr>
          <p:txBody>
            <a:bodyPr rtlCol="0" anchor="ctr"/>
            <a:lstStyle/>
            <a:p>
              <a:pPr algn="ctr"/>
              <a:endParaRPr/>
            </a:p>
          </p:txBody>
        </p:sp>
      </p:grpSp>
      <p:grpSp>
        <p:nvGrpSpPr>
          <p:cNvPr id="112" name="Row: Wasteful" descr="A large engine with a single wagon: wasteful."/>
          <p:cNvGrpSpPr/>
          <p:nvPr/>
        </p:nvGrpSpPr>
        <p:grpSpPr>
          <a:xfrm>
            <a:off x="548640" y="2761488"/>
            <a:ext cx="11091672" cy="1325880"/>
            <a:chOff x="548640" y="2761488"/>
            <a:chExt cx="11091672" cy="1325880"/>
          </a:xfrm>
        </p:grpSpPr>
        <p:sp>
          <p:nvSpPr>
            <p:cNvPr id="113" name="Row panel"/>
            <p:cNvSpPr/>
            <p:nvPr/>
          </p:nvSpPr>
          <p:spPr>
            <a:xfrm>
              <a:off x="548640" y="2761488"/>
              <a:ext cx="11091672" cy="1325880"/>
            </a:xfrm>
            <a:prstGeom prst="roundRect">
              <a:avLst>
                <a:gd name="adj" fmla="val 5517"/>
              </a:avLst>
            </a:prstGeom>
            <a:solidFill>
              <a:srgbClr val="2B2F36"/>
            </a:solidFill>
            <a:ln>
              <a:noFill/>
            </a:ln>
          </p:spPr>
          <p:txBody>
            <a:bodyPr rtlCol="0" anchor="ctr"/>
            <a:lstStyle/>
            <a:p>
              <a:pPr algn="ctr"/>
              <a:endParaRPr/>
            </a:p>
          </p:txBody>
        </p:sp>
        <p:sp>
          <p:nvSpPr>
            <p:cNvPr id="114" name="Verdict: Wasteful"/>
            <p:cNvSpPr/>
            <p:nvPr/>
          </p:nvSpPr>
          <p:spPr>
            <a:xfrm>
              <a:off x="777240" y="3191256"/>
              <a:ext cx="1737360" cy="457200"/>
            </a:xfrm>
            <a:prstGeom prst="roundRect">
              <a:avLst>
                <a:gd name="adj" fmla="val 50000"/>
              </a:avLst>
            </a:prstGeom>
            <a:solidFill>
              <a:srgbClr val="F2C14E"/>
            </a:solidFill>
            <a:ln>
              <a:noFill/>
            </a:ln>
          </p:spPr>
          <p:txBody>
            <a:bodyPr wrap="none" lIns="0" tIns="0" rIns="0" bIns="0" rtlCol="0" anchor="ctr">
              <a:noAutofit/>
            </a:bodyPr>
            <a:lstStyle/>
            <a:p>
              <a:pPr algn="ctr">
                <a:spcBef>
                  <a:spcPts val="0"/>
                </a:spcBef>
                <a:spcAft>
                  <a:spcPts val="0"/>
                </a:spcAft>
              </a:pPr>
              <a:r>
                <a:rPr lang="en-GB" sz="1800" b="1" i="0">
                  <a:solidFill>
                    <a:srgbClr val="101418"/>
                  </a:solidFill>
                  <a:latin typeface="Arial"/>
                </a:rPr>
                <a:t>Wasteful</a:t>
              </a:r>
            </a:p>
          </p:txBody>
        </p:sp>
        <p:sp>
          <p:nvSpPr>
            <p:cNvPr id="115" name="Rail"/>
            <p:cNvSpPr/>
            <p:nvPr/>
          </p:nvSpPr>
          <p:spPr>
            <a:xfrm>
              <a:off x="2834640" y="3941064"/>
              <a:ext cx="8595360" cy="45720"/>
            </a:xfrm>
            <a:prstGeom prst="rect">
              <a:avLst/>
            </a:prstGeom>
            <a:solidFill>
              <a:srgbClr val="4A515B"/>
            </a:solidFill>
            <a:ln>
              <a:noFill/>
            </a:ln>
          </p:spPr>
          <p:txBody>
            <a:bodyPr rtlCol="0" anchor="ctr"/>
            <a:lstStyle/>
            <a:p>
              <a:pPr algn="ctr"/>
              <a:endParaRPr/>
            </a:p>
          </p:txBody>
        </p:sp>
        <p:sp>
          <p:nvSpPr>
            <p:cNvPr id="116" name="Tender"/>
            <p:cNvSpPr/>
            <p:nvPr/>
          </p:nvSpPr>
          <p:spPr>
            <a:xfrm>
              <a:off x="2880360" y="3215030"/>
              <a:ext cx="950976" cy="438912"/>
            </a:xfrm>
            <a:prstGeom prst="rect">
              <a:avLst/>
            </a:prstGeom>
            <a:solidFill>
              <a:srgbClr val="343A43"/>
            </a:solidFill>
            <a:ln w="12700">
              <a:solidFill>
                <a:srgbClr val="9AA0A6"/>
              </a:solidFill>
            </a:ln>
          </p:spPr>
          <p:txBody>
            <a:bodyPr rtlCol="0" anchor="ctr"/>
            <a:lstStyle/>
            <a:p>
              <a:pPr algn="ctr"/>
              <a:endParaRPr/>
            </a:p>
          </p:txBody>
        </p:sp>
        <p:sp>
          <p:nvSpPr>
            <p:cNvPr id="117" name="Coal"/>
            <p:cNvSpPr/>
            <p:nvPr/>
          </p:nvSpPr>
          <p:spPr>
            <a:xfrm>
              <a:off x="2953512" y="3054096"/>
              <a:ext cx="804672" cy="160934"/>
            </a:xfrm>
            <a:custGeom>
              <a:avLst/>
              <a:gdLst/>
              <a:ahLst/>
              <a:cxnLst/>
              <a:rect l="l" t="t" r="r" b="b"/>
              <a:pathLst>
                <a:path w="804672" h="160934">
                  <a:moveTo>
                    <a:pt x="0" y="160934"/>
                  </a:moveTo>
                  <a:lnTo>
                    <a:pt x="146304" y="43891"/>
                  </a:lnTo>
                  <a:lnTo>
                    <a:pt x="365760" y="0"/>
                  </a:lnTo>
                  <a:lnTo>
                    <a:pt x="621792" y="51206"/>
                  </a:lnTo>
                  <a:lnTo>
                    <a:pt x="804672" y="160934"/>
                  </a:lnTo>
                  <a:close/>
                </a:path>
              </a:pathLst>
            </a:custGeom>
            <a:solidFill>
              <a:srgbClr val="1B1D21"/>
            </a:solidFill>
            <a:ln>
              <a:noFill/>
            </a:ln>
          </p:spPr>
          <p:txBody>
            <a:bodyPr rtlCol="0" anchor="ctr"/>
            <a:lstStyle/>
            <a:p>
              <a:pPr algn="ctr"/>
              <a:endParaRPr/>
            </a:p>
          </p:txBody>
        </p:sp>
        <p:sp>
          <p:nvSpPr>
            <p:cNvPr id="118" name="Coupling"/>
            <p:cNvSpPr/>
            <p:nvPr/>
          </p:nvSpPr>
          <p:spPr>
            <a:xfrm>
              <a:off x="3831336" y="3551530"/>
              <a:ext cx="73152" cy="36576"/>
            </a:xfrm>
            <a:prstGeom prst="rect">
              <a:avLst/>
            </a:prstGeom>
            <a:solidFill>
              <a:srgbClr val="9AA0A6"/>
            </a:solidFill>
            <a:ln>
              <a:noFill/>
            </a:ln>
          </p:spPr>
          <p:txBody>
            <a:bodyPr rtlCol="0" anchor="ctr"/>
            <a:lstStyle/>
            <a:p>
              <a:pPr algn="ctr"/>
              <a:endParaRPr/>
            </a:p>
          </p:txBody>
        </p:sp>
        <p:sp>
          <p:nvSpPr>
            <p:cNvPr id="119" name="Wheel"/>
            <p:cNvSpPr/>
            <p:nvPr/>
          </p:nvSpPr>
          <p:spPr>
            <a:xfrm>
              <a:off x="2953512" y="3617366"/>
              <a:ext cx="292608" cy="292608"/>
            </a:xfrm>
            <a:prstGeom prst="ellipse">
              <a:avLst/>
            </a:prstGeom>
            <a:solidFill>
              <a:srgbClr val="1B1D21"/>
            </a:solidFill>
            <a:ln w="19050">
              <a:solidFill>
                <a:srgbClr val="9AA0A6"/>
              </a:solidFill>
            </a:ln>
          </p:spPr>
          <p:txBody>
            <a:bodyPr rtlCol="0" anchor="ctr"/>
            <a:lstStyle/>
            <a:p>
              <a:pPr algn="ctr"/>
              <a:endParaRPr/>
            </a:p>
          </p:txBody>
        </p:sp>
        <p:sp>
          <p:nvSpPr>
            <p:cNvPr id="120" name="Hub"/>
            <p:cNvSpPr/>
            <p:nvPr/>
          </p:nvSpPr>
          <p:spPr>
            <a:xfrm>
              <a:off x="3058851" y="3722705"/>
              <a:ext cx="81930" cy="81930"/>
            </a:xfrm>
            <a:prstGeom prst="ellipse">
              <a:avLst/>
            </a:prstGeom>
            <a:solidFill>
              <a:srgbClr val="9AA0A6"/>
            </a:solidFill>
            <a:ln>
              <a:noFill/>
            </a:ln>
          </p:spPr>
          <p:txBody>
            <a:bodyPr rtlCol="0" anchor="ctr"/>
            <a:lstStyle/>
            <a:p>
              <a:pPr algn="ctr"/>
              <a:endParaRPr/>
            </a:p>
          </p:txBody>
        </p:sp>
        <p:sp>
          <p:nvSpPr>
            <p:cNvPr id="121" name="Wheel"/>
            <p:cNvSpPr/>
            <p:nvPr/>
          </p:nvSpPr>
          <p:spPr>
            <a:xfrm>
              <a:off x="3465576" y="3617366"/>
              <a:ext cx="292608" cy="292608"/>
            </a:xfrm>
            <a:prstGeom prst="ellipse">
              <a:avLst/>
            </a:prstGeom>
            <a:solidFill>
              <a:srgbClr val="1B1D21"/>
            </a:solidFill>
            <a:ln w="19050">
              <a:solidFill>
                <a:srgbClr val="9AA0A6"/>
              </a:solidFill>
            </a:ln>
          </p:spPr>
          <p:txBody>
            <a:bodyPr rtlCol="0" anchor="ctr"/>
            <a:lstStyle/>
            <a:p>
              <a:pPr algn="ctr"/>
              <a:endParaRPr/>
            </a:p>
          </p:txBody>
        </p:sp>
        <p:sp>
          <p:nvSpPr>
            <p:cNvPr id="122" name="Hub"/>
            <p:cNvSpPr/>
            <p:nvPr/>
          </p:nvSpPr>
          <p:spPr>
            <a:xfrm>
              <a:off x="3570915" y="3722705"/>
              <a:ext cx="81930" cy="81930"/>
            </a:xfrm>
            <a:prstGeom prst="ellipse">
              <a:avLst/>
            </a:prstGeom>
            <a:solidFill>
              <a:srgbClr val="9AA0A6"/>
            </a:solidFill>
            <a:ln>
              <a:noFill/>
            </a:ln>
          </p:spPr>
          <p:txBody>
            <a:bodyPr rtlCol="0" anchor="ctr"/>
            <a:lstStyle/>
            <a:p>
              <a:pPr algn="ctr"/>
              <a:endParaRPr/>
            </a:p>
          </p:txBody>
        </p:sp>
        <p:sp>
          <p:nvSpPr>
            <p:cNvPr id="123" name="Footplate"/>
            <p:cNvSpPr/>
            <p:nvPr/>
          </p:nvSpPr>
          <p:spPr>
            <a:xfrm>
              <a:off x="3904488" y="3588106"/>
              <a:ext cx="1901952" cy="73152"/>
            </a:xfrm>
            <a:prstGeom prst="rect">
              <a:avLst/>
            </a:prstGeom>
            <a:solidFill>
              <a:srgbClr val="1B1D21"/>
            </a:solidFill>
            <a:ln>
              <a:noFill/>
            </a:ln>
          </p:spPr>
          <p:txBody>
            <a:bodyPr rtlCol="0" anchor="ctr"/>
            <a:lstStyle/>
            <a:p>
              <a:pPr algn="ctr"/>
              <a:endParaRPr/>
            </a:p>
          </p:txBody>
        </p:sp>
        <p:sp>
          <p:nvSpPr>
            <p:cNvPr id="124" name="Boiler"/>
            <p:cNvSpPr/>
            <p:nvPr/>
          </p:nvSpPr>
          <p:spPr>
            <a:xfrm>
              <a:off x="4562856" y="3185770"/>
              <a:ext cx="1170432" cy="424282"/>
            </a:xfrm>
            <a:prstGeom prst="roundRect">
              <a:avLst>
                <a:gd name="adj" fmla="val 25862"/>
              </a:avLst>
            </a:prstGeom>
            <a:solidFill>
              <a:srgbClr val="F28C28"/>
            </a:solidFill>
            <a:ln>
              <a:noFill/>
            </a:ln>
          </p:spPr>
          <p:txBody>
            <a:bodyPr rtlCol="0" anchor="ctr"/>
            <a:lstStyle/>
            <a:p>
              <a:pPr algn="ctr"/>
              <a:endParaRPr/>
            </a:p>
          </p:txBody>
        </p:sp>
        <p:sp>
          <p:nvSpPr>
            <p:cNvPr id="125" name="Smokebox"/>
            <p:cNvSpPr/>
            <p:nvPr/>
          </p:nvSpPr>
          <p:spPr>
            <a:xfrm>
              <a:off x="5645506" y="3185770"/>
              <a:ext cx="102413" cy="424282"/>
            </a:xfrm>
            <a:prstGeom prst="rect">
              <a:avLst/>
            </a:prstGeom>
            <a:solidFill>
              <a:srgbClr val="1B1D21"/>
            </a:solidFill>
            <a:ln>
              <a:noFill/>
            </a:ln>
          </p:spPr>
          <p:txBody>
            <a:bodyPr rtlCol="0" anchor="ctr"/>
            <a:lstStyle/>
            <a:p>
              <a:pPr algn="ctr"/>
              <a:endParaRPr/>
            </a:p>
          </p:txBody>
        </p:sp>
        <p:sp>
          <p:nvSpPr>
            <p:cNvPr id="126" name="Chimney"/>
            <p:cNvSpPr/>
            <p:nvPr/>
          </p:nvSpPr>
          <p:spPr>
            <a:xfrm>
              <a:off x="5513832" y="2995574"/>
              <a:ext cx="95098" cy="204826"/>
            </a:xfrm>
            <a:prstGeom prst="rect">
              <a:avLst/>
            </a:prstGeom>
            <a:solidFill>
              <a:srgbClr val="1B1D21"/>
            </a:solidFill>
            <a:ln>
              <a:noFill/>
            </a:ln>
          </p:spPr>
          <p:txBody>
            <a:bodyPr rtlCol="0" anchor="ctr"/>
            <a:lstStyle/>
            <a:p>
              <a:pPr algn="ctr"/>
              <a:endParaRPr/>
            </a:p>
          </p:txBody>
        </p:sp>
        <p:sp>
          <p:nvSpPr>
            <p:cNvPr id="127" name="Chimney top"/>
            <p:cNvSpPr/>
            <p:nvPr/>
          </p:nvSpPr>
          <p:spPr>
            <a:xfrm>
              <a:off x="5477256" y="2966314"/>
              <a:ext cx="168250" cy="43891"/>
            </a:xfrm>
            <a:prstGeom prst="rect">
              <a:avLst/>
            </a:prstGeom>
            <a:solidFill>
              <a:srgbClr val="1B1D21"/>
            </a:solidFill>
            <a:ln>
              <a:noFill/>
            </a:ln>
          </p:spPr>
          <p:txBody>
            <a:bodyPr rtlCol="0" anchor="ctr"/>
            <a:lstStyle/>
            <a:p>
              <a:pPr algn="ctr"/>
              <a:endParaRPr/>
            </a:p>
          </p:txBody>
        </p:sp>
        <p:sp>
          <p:nvSpPr>
            <p:cNvPr id="128" name="Dome"/>
            <p:cNvSpPr/>
            <p:nvPr/>
          </p:nvSpPr>
          <p:spPr>
            <a:xfrm>
              <a:off x="5001768" y="3083357"/>
              <a:ext cx="248717" cy="219456"/>
            </a:xfrm>
            <a:prstGeom prst="chord">
              <a:avLst/>
            </a:prstGeom>
            <a:solidFill>
              <a:srgbClr val="C46E14"/>
            </a:solidFill>
            <a:ln>
              <a:noFill/>
            </a:ln>
          </p:spPr>
          <p:txBody>
            <a:bodyPr rtlCol="0" anchor="ctr"/>
            <a:lstStyle/>
            <a:p>
              <a:pPr algn="ctr"/>
              <a:endParaRPr/>
            </a:p>
          </p:txBody>
        </p:sp>
        <p:sp>
          <p:nvSpPr>
            <p:cNvPr id="129" name="Cab"/>
            <p:cNvSpPr/>
            <p:nvPr/>
          </p:nvSpPr>
          <p:spPr>
            <a:xfrm>
              <a:off x="3963010" y="3039466"/>
              <a:ext cx="658368" cy="570586"/>
            </a:xfrm>
            <a:prstGeom prst="rect">
              <a:avLst/>
            </a:prstGeom>
            <a:solidFill>
              <a:srgbClr val="C46E14"/>
            </a:solidFill>
            <a:ln>
              <a:noFill/>
            </a:ln>
          </p:spPr>
          <p:txBody>
            <a:bodyPr rtlCol="0" anchor="ctr"/>
            <a:lstStyle/>
            <a:p>
              <a:pPr algn="ctr"/>
              <a:endParaRPr/>
            </a:p>
          </p:txBody>
        </p:sp>
        <p:sp>
          <p:nvSpPr>
            <p:cNvPr id="130" name="Cab roof"/>
            <p:cNvSpPr/>
            <p:nvPr/>
          </p:nvSpPr>
          <p:spPr>
            <a:xfrm>
              <a:off x="3919118" y="2980944"/>
              <a:ext cx="746150" cy="65837"/>
            </a:xfrm>
            <a:prstGeom prst="rect">
              <a:avLst/>
            </a:prstGeom>
            <a:solidFill>
              <a:srgbClr val="1B1D21"/>
            </a:solidFill>
            <a:ln>
              <a:noFill/>
            </a:ln>
          </p:spPr>
          <p:txBody>
            <a:bodyPr rtlCol="0" anchor="ctr"/>
            <a:lstStyle/>
            <a:p>
              <a:pPr algn="ctr"/>
              <a:endParaRPr/>
            </a:p>
          </p:txBody>
        </p:sp>
        <p:sp>
          <p:nvSpPr>
            <p:cNvPr id="131" name="Cab window"/>
            <p:cNvSpPr/>
            <p:nvPr/>
          </p:nvSpPr>
          <p:spPr>
            <a:xfrm>
              <a:off x="4123944" y="3141878"/>
              <a:ext cx="292608" cy="204826"/>
            </a:xfrm>
            <a:prstGeom prst="rect">
              <a:avLst/>
            </a:prstGeom>
            <a:solidFill>
              <a:srgbClr val="1B1D21"/>
            </a:solidFill>
            <a:ln>
              <a:noFill/>
            </a:ln>
          </p:spPr>
          <p:txBody>
            <a:bodyPr rtlCol="0" anchor="ctr"/>
            <a:lstStyle/>
            <a:p>
              <a:pPr algn="ctr"/>
              <a:endParaRPr/>
            </a:p>
          </p:txBody>
        </p:sp>
        <p:sp>
          <p:nvSpPr>
            <p:cNvPr id="132" name="Wheel"/>
            <p:cNvSpPr/>
            <p:nvPr/>
          </p:nvSpPr>
          <p:spPr>
            <a:xfrm>
              <a:off x="4145890" y="3602736"/>
              <a:ext cx="321869" cy="321869"/>
            </a:xfrm>
            <a:prstGeom prst="ellipse">
              <a:avLst/>
            </a:prstGeom>
            <a:solidFill>
              <a:srgbClr val="1B1D21"/>
            </a:solidFill>
            <a:ln w="19050">
              <a:solidFill>
                <a:srgbClr val="9AA0A6"/>
              </a:solidFill>
            </a:ln>
          </p:spPr>
          <p:txBody>
            <a:bodyPr rtlCol="0" anchor="ctr"/>
            <a:lstStyle/>
            <a:p>
              <a:pPr algn="ctr"/>
              <a:endParaRPr/>
            </a:p>
          </p:txBody>
        </p:sp>
        <p:sp>
          <p:nvSpPr>
            <p:cNvPr id="133" name="Hub"/>
            <p:cNvSpPr/>
            <p:nvPr/>
          </p:nvSpPr>
          <p:spPr>
            <a:xfrm>
              <a:off x="4261762" y="3718609"/>
              <a:ext cx="90123" cy="90123"/>
            </a:xfrm>
            <a:prstGeom prst="ellipse">
              <a:avLst/>
            </a:prstGeom>
            <a:solidFill>
              <a:srgbClr val="9AA0A6"/>
            </a:solidFill>
            <a:ln>
              <a:noFill/>
            </a:ln>
          </p:spPr>
          <p:txBody>
            <a:bodyPr rtlCol="0" anchor="ctr"/>
            <a:lstStyle/>
            <a:p>
              <a:pPr algn="ctr"/>
              <a:endParaRPr/>
            </a:p>
          </p:txBody>
        </p:sp>
        <p:sp>
          <p:nvSpPr>
            <p:cNvPr id="134" name="Wheel"/>
            <p:cNvSpPr/>
            <p:nvPr/>
          </p:nvSpPr>
          <p:spPr>
            <a:xfrm>
              <a:off x="4731106" y="3602736"/>
              <a:ext cx="321869" cy="321869"/>
            </a:xfrm>
            <a:prstGeom prst="ellipse">
              <a:avLst/>
            </a:prstGeom>
            <a:solidFill>
              <a:srgbClr val="1B1D21"/>
            </a:solidFill>
            <a:ln w="19050">
              <a:solidFill>
                <a:srgbClr val="9AA0A6"/>
              </a:solidFill>
            </a:ln>
          </p:spPr>
          <p:txBody>
            <a:bodyPr rtlCol="0" anchor="ctr"/>
            <a:lstStyle/>
            <a:p>
              <a:pPr algn="ctr"/>
              <a:endParaRPr/>
            </a:p>
          </p:txBody>
        </p:sp>
        <p:sp>
          <p:nvSpPr>
            <p:cNvPr id="135" name="Hub"/>
            <p:cNvSpPr/>
            <p:nvPr/>
          </p:nvSpPr>
          <p:spPr>
            <a:xfrm>
              <a:off x="4846978" y="3718609"/>
              <a:ext cx="90123" cy="90123"/>
            </a:xfrm>
            <a:prstGeom prst="ellipse">
              <a:avLst/>
            </a:prstGeom>
            <a:solidFill>
              <a:srgbClr val="9AA0A6"/>
            </a:solidFill>
            <a:ln>
              <a:noFill/>
            </a:ln>
          </p:spPr>
          <p:txBody>
            <a:bodyPr rtlCol="0" anchor="ctr"/>
            <a:lstStyle/>
            <a:p>
              <a:pPr algn="ctr"/>
              <a:endParaRPr/>
            </a:p>
          </p:txBody>
        </p:sp>
        <p:sp>
          <p:nvSpPr>
            <p:cNvPr id="136" name="Wheel"/>
            <p:cNvSpPr/>
            <p:nvPr/>
          </p:nvSpPr>
          <p:spPr>
            <a:xfrm>
              <a:off x="5316322" y="3602736"/>
              <a:ext cx="321869" cy="321869"/>
            </a:xfrm>
            <a:prstGeom prst="ellipse">
              <a:avLst/>
            </a:prstGeom>
            <a:solidFill>
              <a:srgbClr val="1B1D21"/>
            </a:solidFill>
            <a:ln w="19050">
              <a:solidFill>
                <a:srgbClr val="9AA0A6"/>
              </a:solidFill>
            </a:ln>
          </p:spPr>
          <p:txBody>
            <a:bodyPr rtlCol="0" anchor="ctr"/>
            <a:lstStyle/>
            <a:p>
              <a:pPr algn="ctr"/>
              <a:endParaRPr/>
            </a:p>
          </p:txBody>
        </p:sp>
        <p:sp>
          <p:nvSpPr>
            <p:cNvPr id="137" name="Hub"/>
            <p:cNvSpPr/>
            <p:nvPr/>
          </p:nvSpPr>
          <p:spPr>
            <a:xfrm>
              <a:off x="5432194" y="3718609"/>
              <a:ext cx="90123" cy="90123"/>
            </a:xfrm>
            <a:prstGeom prst="ellipse">
              <a:avLst/>
            </a:prstGeom>
            <a:solidFill>
              <a:srgbClr val="9AA0A6"/>
            </a:solidFill>
            <a:ln>
              <a:noFill/>
            </a:ln>
          </p:spPr>
          <p:txBody>
            <a:bodyPr rtlCol="0" anchor="ctr"/>
            <a:lstStyle/>
            <a:p>
              <a:pPr algn="ctr"/>
              <a:endParaRPr/>
            </a:p>
          </p:txBody>
        </p:sp>
        <p:cxnSp>
          <p:nvCxnSpPr>
            <p:cNvPr id="138" name="Coupling rod"/>
            <p:cNvCxnSpPr/>
            <p:nvPr/>
          </p:nvCxnSpPr>
          <p:spPr>
            <a:xfrm>
              <a:off x="4306824" y="3763670"/>
              <a:ext cx="1170432" cy="0"/>
            </a:xfrm>
            <a:prstGeom prst="line">
              <a:avLst/>
            </a:prstGeom>
            <a:ln w="25400">
              <a:solidFill>
                <a:srgbClr val="9AA0A6"/>
              </a:solidFill>
            </a:ln>
          </p:spPr>
        </p:cxnSp>
        <p:sp>
          <p:nvSpPr>
            <p:cNvPr id="139" name="Wagon"/>
            <p:cNvSpPr/>
            <p:nvPr/>
          </p:nvSpPr>
          <p:spPr>
            <a:xfrm>
              <a:off x="5852160" y="3317443"/>
              <a:ext cx="1097280" cy="453542"/>
            </a:xfrm>
            <a:prstGeom prst="rect">
              <a:avLst/>
            </a:prstGeom>
            <a:solidFill>
              <a:srgbClr val="6C7480"/>
            </a:solidFill>
            <a:ln w="12700">
              <a:solidFill>
                <a:srgbClr val="9AA0A6"/>
              </a:solidFill>
            </a:ln>
          </p:spPr>
          <p:txBody>
            <a:bodyPr rtlCol="0" anchor="ctr"/>
            <a:lstStyle/>
            <a:p>
              <a:pPr algn="ctr"/>
              <a:endParaRPr/>
            </a:p>
          </p:txBody>
        </p:sp>
        <p:cxnSp>
          <p:nvCxnSpPr>
            <p:cNvPr id="140" name="Connector 139"/>
            <p:cNvCxnSpPr/>
            <p:nvPr/>
          </p:nvCxnSpPr>
          <p:spPr>
            <a:xfrm>
              <a:off x="6126480" y="3346704"/>
              <a:ext cx="0" cy="395021"/>
            </a:xfrm>
            <a:prstGeom prst="line">
              <a:avLst/>
            </a:prstGeom>
            <a:ln w="12700">
              <a:solidFill>
                <a:srgbClr val="343A43"/>
              </a:solidFill>
            </a:ln>
          </p:spPr>
        </p:cxnSp>
        <p:cxnSp>
          <p:nvCxnSpPr>
            <p:cNvPr id="141" name="Connector 140"/>
            <p:cNvCxnSpPr/>
            <p:nvPr/>
          </p:nvCxnSpPr>
          <p:spPr>
            <a:xfrm>
              <a:off x="6400800" y="3346704"/>
              <a:ext cx="0" cy="395021"/>
            </a:xfrm>
            <a:prstGeom prst="line">
              <a:avLst/>
            </a:prstGeom>
            <a:ln w="12700">
              <a:solidFill>
                <a:srgbClr val="343A43"/>
              </a:solidFill>
            </a:ln>
          </p:spPr>
        </p:cxnSp>
        <p:cxnSp>
          <p:nvCxnSpPr>
            <p:cNvPr id="142" name="Connector 141"/>
            <p:cNvCxnSpPr/>
            <p:nvPr/>
          </p:nvCxnSpPr>
          <p:spPr>
            <a:xfrm>
              <a:off x="6675120" y="3346704"/>
              <a:ext cx="0" cy="395021"/>
            </a:xfrm>
            <a:prstGeom prst="line">
              <a:avLst/>
            </a:prstGeom>
            <a:ln w="12700">
              <a:solidFill>
                <a:srgbClr val="343A43"/>
              </a:solidFill>
            </a:ln>
          </p:spPr>
        </p:cxnSp>
        <p:sp>
          <p:nvSpPr>
            <p:cNvPr id="143" name="Wheel"/>
            <p:cNvSpPr/>
            <p:nvPr/>
          </p:nvSpPr>
          <p:spPr>
            <a:xfrm>
              <a:off x="5969203" y="3727094"/>
              <a:ext cx="204826" cy="204826"/>
            </a:xfrm>
            <a:prstGeom prst="ellipse">
              <a:avLst/>
            </a:prstGeom>
            <a:solidFill>
              <a:srgbClr val="1B1D21"/>
            </a:solidFill>
            <a:ln w="19050">
              <a:solidFill>
                <a:srgbClr val="9AA0A6"/>
              </a:solidFill>
            </a:ln>
          </p:spPr>
          <p:txBody>
            <a:bodyPr rtlCol="0" anchor="ctr"/>
            <a:lstStyle/>
            <a:p>
              <a:pPr algn="ctr"/>
              <a:endParaRPr/>
            </a:p>
          </p:txBody>
        </p:sp>
        <p:sp>
          <p:nvSpPr>
            <p:cNvPr id="144" name="Hub"/>
            <p:cNvSpPr/>
            <p:nvPr/>
          </p:nvSpPr>
          <p:spPr>
            <a:xfrm>
              <a:off x="6042940" y="3800832"/>
              <a:ext cx="57351" cy="57351"/>
            </a:xfrm>
            <a:prstGeom prst="ellipse">
              <a:avLst/>
            </a:prstGeom>
            <a:solidFill>
              <a:srgbClr val="9AA0A6"/>
            </a:solidFill>
            <a:ln>
              <a:noFill/>
            </a:ln>
          </p:spPr>
          <p:txBody>
            <a:bodyPr rtlCol="0" anchor="ctr"/>
            <a:lstStyle/>
            <a:p>
              <a:pPr algn="ctr"/>
              <a:endParaRPr/>
            </a:p>
          </p:txBody>
        </p:sp>
        <p:sp>
          <p:nvSpPr>
            <p:cNvPr id="145" name="Wheel"/>
            <p:cNvSpPr/>
            <p:nvPr/>
          </p:nvSpPr>
          <p:spPr>
            <a:xfrm>
              <a:off x="6627571" y="3727094"/>
              <a:ext cx="204826" cy="204826"/>
            </a:xfrm>
            <a:prstGeom prst="ellipse">
              <a:avLst/>
            </a:prstGeom>
            <a:solidFill>
              <a:srgbClr val="1B1D21"/>
            </a:solidFill>
            <a:ln w="19050">
              <a:solidFill>
                <a:srgbClr val="9AA0A6"/>
              </a:solidFill>
            </a:ln>
          </p:spPr>
          <p:txBody>
            <a:bodyPr rtlCol="0" anchor="ctr"/>
            <a:lstStyle/>
            <a:p>
              <a:pPr algn="ctr"/>
              <a:endParaRPr/>
            </a:p>
          </p:txBody>
        </p:sp>
        <p:sp>
          <p:nvSpPr>
            <p:cNvPr id="146" name="Hub"/>
            <p:cNvSpPr/>
            <p:nvPr/>
          </p:nvSpPr>
          <p:spPr>
            <a:xfrm>
              <a:off x="6701308" y="3800832"/>
              <a:ext cx="57351" cy="57351"/>
            </a:xfrm>
            <a:prstGeom prst="ellipse">
              <a:avLst/>
            </a:prstGeom>
            <a:solidFill>
              <a:srgbClr val="9AA0A6"/>
            </a:solidFill>
            <a:ln>
              <a:noFill/>
            </a:ln>
          </p:spPr>
          <p:txBody>
            <a:bodyPr rtlCol="0" anchor="ctr"/>
            <a:lstStyle/>
            <a:p>
              <a:pPr algn="ctr"/>
              <a:endParaRPr/>
            </a:p>
          </p:txBody>
        </p:sp>
      </p:grpSp>
      <p:grpSp>
        <p:nvGrpSpPr>
          <p:cNvPr id="147" name="Row: Fits" descr="A well-matched engine and train: it fits."/>
          <p:cNvGrpSpPr/>
          <p:nvPr/>
        </p:nvGrpSpPr>
        <p:grpSpPr>
          <a:xfrm>
            <a:off x="548640" y="4197096"/>
            <a:ext cx="11091672" cy="1325880"/>
            <a:chOff x="548640" y="4197096"/>
            <a:chExt cx="11091672" cy="1325880"/>
          </a:xfrm>
        </p:grpSpPr>
        <p:sp>
          <p:nvSpPr>
            <p:cNvPr id="148" name="Row panel"/>
            <p:cNvSpPr/>
            <p:nvPr/>
          </p:nvSpPr>
          <p:spPr>
            <a:xfrm>
              <a:off x="548640" y="4197096"/>
              <a:ext cx="11091672" cy="1325880"/>
            </a:xfrm>
            <a:prstGeom prst="roundRect">
              <a:avLst>
                <a:gd name="adj" fmla="val 5517"/>
              </a:avLst>
            </a:prstGeom>
            <a:solidFill>
              <a:srgbClr val="2B2F36"/>
            </a:solidFill>
            <a:ln>
              <a:noFill/>
            </a:ln>
          </p:spPr>
          <p:txBody>
            <a:bodyPr rtlCol="0" anchor="ctr"/>
            <a:lstStyle/>
            <a:p>
              <a:pPr algn="ctr"/>
              <a:endParaRPr/>
            </a:p>
          </p:txBody>
        </p:sp>
        <p:sp>
          <p:nvSpPr>
            <p:cNvPr id="149" name="Verdict: Fits"/>
            <p:cNvSpPr/>
            <p:nvPr/>
          </p:nvSpPr>
          <p:spPr>
            <a:xfrm>
              <a:off x="777240" y="4626864"/>
              <a:ext cx="1737360" cy="457200"/>
            </a:xfrm>
            <a:prstGeom prst="roundRect">
              <a:avLst>
                <a:gd name="adj" fmla="val 50000"/>
              </a:avLst>
            </a:prstGeom>
            <a:solidFill>
              <a:srgbClr val="3FB950"/>
            </a:solidFill>
            <a:ln>
              <a:noFill/>
            </a:ln>
          </p:spPr>
          <p:txBody>
            <a:bodyPr wrap="none" lIns="0" tIns="0" rIns="0" bIns="0" rtlCol="0" anchor="ctr">
              <a:noAutofit/>
            </a:bodyPr>
            <a:lstStyle/>
            <a:p>
              <a:pPr algn="ctr">
                <a:spcBef>
                  <a:spcPts val="0"/>
                </a:spcBef>
                <a:spcAft>
                  <a:spcPts val="0"/>
                </a:spcAft>
              </a:pPr>
              <a:r>
                <a:rPr lang="en-GB" sz="1800" b="1" i="0">
                  <a:solidFill>
                    <a:srgbClr val="101418"/>
                  </a:solidFill>
                  <a:latin typeface="Arial"/>
                </a:rPr>
                <a:t>Fits</a:t>
              </a:r>
            </a:p>
          </p:txBody>
        </p:sp>
        <p:sp>
          <p:nvSpPr>
            <p:cNvPr id="150" name="Rail"/>
            <p:cNvSpPr/>
            <p:nvPr/>
          </p:nvSpPr>
          <p:spPr>
            <a:xfrm>
              <a:off x="2834640" y="5376672"/>
              <a:ext cx="8595360" cy="45720"/>
            </a:xfrm>
            <a:prstGeom prst="rect">
              <a:avLst/>
            </a:prstGeom>
            <a:solidFill>
              <a:srgbClr val="4A515B"/>
            </a:solidFill>
            <a:ln>
              <a:noFill/>
            </a:ln>
          </p:spPr>
          <p:txBody>
            <a:bodyPr rtlCol="0" anchor="ctr"/>
            <a:lstStyle/>
            <a:p>
              <a:pPr algn="ctr"/>
              <a:endParaRPr/>
            </a:p>
          </p:txBody>
        </p:sp>
        <p:sp>
          <p:nvSpPr>
            <p:cNvPr id="151" name="Tender"/>
            <p:cNvSpPr/>
            <p:nvPr/>
          </p:nvSpPr>
          <p:spPr>
            <a:xfrm>
              <a:off x="2880360" y="4785055"/>
              <a:ext cx="772668" cy="356616"/>
            </a:xfrm>
            <a:prstGeom prst="rect">
              <a:avLst/>
            </a:prstGeom>
            <a:solidFill>
              <a:srgbClr val="343A43"/>
            </a:solidFill>
            <a:ln w="12700">
              <a:solidFill>
                <a:srgbClr val="9AA0A6"/>
              </a:solidFill>
            </a:ln>
          </p:spPr>
          <p:txBody>
            <a:bodyPr rtlCol="0" anchor="ctr"/>
            <a:lstStyle/>
            <a:p>
              <a:pPr algn="ctr"/>
              <a:endParaRPr/>
            </a:p>
          </p:txBody>
        </p:sp>
        <p:sp>
          <p:nvSpPr>
            <p:cNvPr id="152" name="Coal"/>
            <p:cNvSpPr/>
            <p:nvPr/>
          </p:nvSpPr>
          <p:spPr>
            <a:xfrm>
              <a:off x="2939796" y="4654296"/>
              <a:ext cx="653796" cy="130759"/>
            </a:xfrm>
            <a:custGeom>
              <a:avLst/>
              <a:gdLst/>
              <a:ahLst/>
              <a:cxnLst/>
              <a:rect l="l" t="t" r="r" b="b"/>
              <a:pathLst>
                <a:path w="653796" h="130759">
                  <a:moveTo>
                    <a:pt x="0" y="130759"/>
                  </a:moveTo>
                  <a:lnTo>
                    <a:pt x="118872" y="35662"/>
                  </a:lnTo>
                  <a:lnTo>
                    <a:pt x="297180" y="0"/>
                  </a:lnTo>
                  <a:lnTo>
                    <a:pt x="505206" y="41605"/>
                  </a:lnTo>
                  <a:lnTo>
                    <a:pt x="653796" y="130759"/>
                  </a:lnTo>
                  <a:close/>
                </a:path>
              </a:pathLst>
            </a:custGeom>
            <a:solidFill>
              <a:srgbClr val="1B1D21"/>
            </a:solidFill>
            <a:ln>
              <a:noFill/>
            </a:ln>
          </p:spPr>
          <p:txBody>
            <a:bodyPr rtlCol="0" anchor="ctr"/>
            <a:lstStyle/>
            <a:p>
              <a:pPr algn="ctr"/>
              <a:endParaRPr/>
            </a:p>
          </p:txBody>
        </p:sp>
        <p:sp>
          <p:nvSpPr>
            <p:cNvPr id="153" name="Coupling"/>
            <p:cNvSpPr/>
            <p:nvPr/>
          </p:nvSpPr>
          <p:spPr>
            <a:xfrm>
              <a:off x="3653028" y="5058461"/>
              <a:ext cx="59436" cy="29718"/>
            </a:xfrm>
            <a:prstGeom prst="rect">
              <a:avLst/>
            </a:prstGeom>
            <a:solidFill>
              <a:srgbClr val="9AA0A6"/>
            </a:solidFill>
            <a:ln>
              <a:noFill/>
            </a:ln>
          </p:spPr>
          <p:txBody>
            <a:bodyPr rtlCol="0" anchor="ctr"/>
            <a:lstStyle/>
            <a:p>
              <a:pPr algn="ctr"/>
              <a:endParaRPr/>
            </a:p>
          </p:txBody>
        </p:sp>
        <p:sp>
          <p:nvSpPr>
            <p:cNvPr id="154" name="Wheel"/>
            <p:cNvSpPr/>
            <p:nvPr/>
          </p:nvSpPr>
          <p:spPr>
            <a:xfrm>
              <a:off x="2939796" y="5111953"/>
              <a:ext cx="237744" cy="237744"/>
            </a:xfrm>
            <a:prstGeom prst="ellipse">
              <a:avLst/>
            </a:prstGeom>
            <a:solidFill>
              <a:srgbClr val="1B1D21"/>
            </a:solidFill>
            <a:ln w="19050">
              <a:solidFill>
                <a:srgbClr val="9AA0A6"/>
              </a:solidFill>
            </a:ln>
          </p:spPr>
          <p:txBody>
            <a:bodyPr rtlCol="0" anchor="ctr"/>
            <a:lstStyle/>
            <a:p>
              <a:pPr algn="ctr"/>
              <a:endParaRPr/>
            </a:p>
          </p:txBody>
        </p:sp>
        <p:sp>
          <p:nvSpPr>
            <p:cNvPr id="155" name="Hub"/>
            <p:cNvSpPr/>
            <p:nvPr/>
          </p:nvSpPr>
          <p:spPr>
            <a:xfrm>
              <a:off x="3025384" y="5197541"/>
              <a:ext cx="66568" cy="66568"/>
            </a:xfrm>
            <a:prstGeom prst="ellipse">
              <a:avLst/>
            </a:prstGeom>
            <a:solidFill>
              <a:srgbClr val="9AA0A6"/>
            </a:solidFill>
            <a:ln>
              <a:noFill/>
            </a:ln>
          </p:spPr>
          <p:txBody>
            <a:bodyPr rtlCol="0" anchor="ctr"/>
            <a:lstStyle/>
            <a:p>
              <a:pPr algn="ctr"/>
              <a:endParaRPr/>
            </a:p>
          </p:txBody>
        </p:sp>
        <p:sp>
          <p:nvSpPr>
            <p:cNvPr id="156" name="Wheel"/>
            <p:cNvSpPr/>
            <p:nvPr/>
          </p:nvSpPr>
          <p:spPr>
            <a:xfrm>
              <a:off x="3355848" y="5111953"/>
              <a:ext cx="237744" cy="237744"/>
            </a:xfrm>
            <a:prstGeom prst="ellipse">
              <a:avLst/>
            </a:prstGeom>
            <a:solidFill>
              <a:srgbClr val="1B1D21"/>
            </a:solidFill>
            <a:ln w="19050">
              <a:solidFill>
                <a:srgbClr val="9AA0A6"/>
              </a:solidFill>
            </a:ln>
          </p:spPr>
          <p:txBody>
            <a:bodyPr rtlCol="0" anchor="ctr"/>
            <a:lstStyle/>
            <a:p>
              <a:pPr algn="ctr"/>
              <a:endParaRPr/>
            </a:p>
          </p:txBody>
        </p:sp>
        <p:sp>
          <p:nvSpPr>
            <p:cNvPr id="157" name="Hub"/>
            <p:cNvSpPr/>
            <p:nvPr/>
          </p:nvSpPr>
          <p:spPr>
            <a:xfrm>
              <a:off x="3441436" y="5197541"/>
              <a:ext cx="66568" cy="66568"/>
            </a:xfrm>
            <a:prstGeom prst="ellipse">
              <a:avLst/>
            </a:prstGeom>
            <a:solidFill>
              <a:srgbClr val="9AA0A6"/>
            </a:solidFill>
            <a:ln>
              <a:noFill/>
            </a:ln>
          </p:spPr>
          <p:txBody>
            <a:bodyPr rtlCol="0" anchor="ctr"/>
            <a:lstStyle/>
            <a:p>
              <a:pPr algn="ctr"/>
              <a:endParaRPr/>
            </a:p>
          </p:txBody>
        </p:sp>
        <p:sp>
          <p:nvSpPr>
            <p:cNvPr id="158" name="Footplate"/>
            <p:cNvSpPr/>
            <p:nvPr/>
          </p:nvSpPr>
          <p:spPr>
            <a:xfrm>
              <a:off x="3712464" y="5088179"/>
              <a:ext cx="1545336" cy="59436"/>
            </a:xfrm>
            <a:prstGeom prst="rect">
              <a:avLst/>
            </a:prstGeom>
            <a:solidFill>
              <a:srgbClr val="1B1D21"/>
            </a:solidFill>
            <a:ln>
              <a:noFill/>
            </a:ln>
          </p:spPr>
          <p:txBody>
            <a:bodyPr rtlCol="0" anchor="ctr"/>
            <a:lstStyle/>
            <a:p>
              <a:pPr algn="ctr"/>
              <a:endParaRPr/>
            </a:p>
          </p:txBody>
        </p:sp>
        <p:sp>
          <p:nvSpPr>
            <p:cNvPr id="159" name="Boiler"/>
            <p:cNvSpPr/>
            <p:nvPr/>
          </p:nvSpPr>
          <p:spPr>
            <a:xfrm>
              <a:off x="4247388" y="4761281"/>
              <a:ext cx="950976" cy="344729"/>
            </a:xfrm>
            <a:prstGeom prst="roundRect">
              <a:avLst>
                <a:gd name="adj" fmla="val 25862"/>
              </a:avLst>
            </a:prstGeom>
            <a:solidFill>
              <a:srgbClr val="F28C28"/>
            </a:solidFill>
            <a:ln>
              <a:noFill/>
            </a:ln>
          </p:spPr>
          <p:txBody>
            <a:bodyPr rtlCol="0" anchor="ctr"/>
            <a:lstStyle/>
            <a:p>
              <a:pPr algn="ctr"/>
              <a:endParaRPr/>
            </a:p>
          </p:txBody>
        </p:sp>
        <p:sp>
          <p:nvSpPr>
            <p:cNvPr id="160" name="Smokebox"/>
            <p:cNvSpPr/>
            <p:nvPr/>
          </p:nvSpPr>
          <p:spPr>
            <a:xfrm>
              <a:off x="5127041" y="4761281"/>
              <a:ext cx="83210" cy="344729"/>
            </a:xfrm>
            <a:prstGeom prst="rect">
              <a:avLst/>
            </a:prstGeom>
            <a:solidFill>
              <a:srgbClr val="1B1D21"/>
            </a:solidFill>
            <a:ln>
              <a:noFill/>
            </a:ln>
          </p:spPr>
          <p:txBody>
            <a:bodyPr rtlCol="0" anchor="ctr"/>
            <a:lstStyle/>
            <a:p>
              <a:pPr algn="ctr"/>
              <a:endParaRPr/>
            </a:p>
          </p:txBody>
        </p:sp>
        <p:sp>
          <p:nvSpPr>
            <p:cNvPr id="161" name="Chimney"/>
            <p:cNvSpPr/>
            <p:nvPr/>
          </p:nvSpPr>
          <p:spPr>
            <a:xfrm>
              <a:off x="5020056" y="4606747"/>
              <a:ext cx="77267" cy="166421"/>
            </a:xfrm>
            <a:prstGeom prst="rect">
              <a:avLst/>
            </a:prstGeom>
            <a:solidFill>
              <a:srgbClr val="1B1D21"/>
            </a:solidFill>
            <a:ln>
              <a:noFill/>
            </a:ln>
          </p:spPr>
          <p:txBody>
            <a:bodyPr rtlCol="0" anchor="ctr"/>
            <a:lstStyle/>
            <a:p>
              <a:pPr algn="ctr"/>
              <a:endParaRPr/>
            </a:p>
          </p:txBody>
        </p:sp>
        <p:sp>
          <p:nvSpPr>
            <p:cNvPr id="162" name="Chimney top"/>
            <p:cNvSpPr/>
            <p:nvPr/>
          </p:nvSpPr>
          <p:spPr>
            <a:xfrm>
              <a:off x="4990338" y="4582973"/>
              <a:ext cx="136703" cy="35662"/>
            </a:xfrm>
            <a:prstGeom prst="rect">
              <a:avLst/>
            </a:prstGeom>
            <a:solidFill>
              <a:srgbClr val="1B1D21"/>
            </a:solidFill>
            <a:ln>
              <a:noFill/>
            </a:ln>
          </p:spPr>
          <p:txBody>
            <a:bodyPr rtlCol="0" anchor="ctr"/>
            <a:lstStyle/>
            <a:p>
              <a:pPr algn="ctr"/>
              <a:endParaRPr/>
            </a:p>
          </p:txBody>
        </p:sp>
        <p:sp>
          <p:nvSpPr>
            <p:cNvPr id="163" name="Dome"/>
            <p:cNvSpPr/>
            <p:nvPr/>
          </p:nvSpPr>
          <p:spPr>
            <a:xfrm>
              <a:off x="4604004" y="4678070"/>
              <a:ext cx="202082" cy="178308"/>
            </a:xfrm>
            <a:prstGeom prst="chord">
              <a:avLst/>
            </a:prstGeom>
            <a:solidFill>
              <a:srgbClr val="C46E14"/>
            </a:solidFill>
            <a:ln>
              <a:noFill/>
            </a:ln>
          </p:spPr>
          <p:txBody>
            <a:bodyPr rtlCol="0" anchor="ctr"/>
            <a:lstStyle/>
            <a:p>
              <a:pPr algn="ctr"/>
              <a:endParaRPr/>
            </a:p>
          </p:txBody>
        </p:sp>
        <p:sp>
          <p:nvSpPr>
            <p:cNvPr id="164" name="Cab"/>
            <p:cNvSpPr/>
            <p:nvPr/>
          </p:nvSpPr>
          <p:spPr>
            <a:xfrm>
              <a:off x="3760013" y="4642409"/>
              <a:ext cx="534924" cy="463601"/>
            </a:xfrm>
            <a:prstGeom prst="rect">
              <a:avLst/>
            </a:prstGeom>
            <a:solidFill>
              <a:srgbClr val="C46E14"/>
            </a:solidFill>
            <a:ln>
              <a:noFill/>
            </a:ln>
          </p:spPr>
          <p:txBody>
            <a:bodyPr rtlCol="0" anchor="ctr"/>
            <a:lstStyle/>
            <a:p>
              <a:pPr algn="ctr"/>
              <a:endParaRPr/>
            </a:p>
          </p:txBody>
        </p:sp>
        <p:sp>
          <p:nvSpPr>
            <p:cNvPr id="165" name="Cab roof"/>
            <p:cNvSpPr/>
            <p:nvPr/>
          </p:nvSpPr>
          <p:spPr>
            <a:xfrm>
              <a:off x="3724351" y="4594860"/>
              <a:ext cx="606247" cy="53492"/>
            </a:xfrm>
            <a:prstGeom prst="rect">
              <a:avLst/>
            </a:prstGeom>
            <a:solidFill>
              <a:srgbClr val="1B1D21"/>
            </a:solidFill>
            <a:ln>
              <a:noFill/>
            </a:ln>
          </p:spPr>
          <p:txBody>
            <a:bodyPr rtlCol="0" anchor="ctr"/>
            <a:lstStyle/>
            <a:p>
              <a:pPr algn="ctr"/>
              <a:endParaRPr/>
            </a:p>
          </p:txBody>
        </p:sp>
        <p:sp>
          <p:nvSpPr>
            <p:cNvPr id="166" name="Cab window"/>
            <p:cNvSpPr/>
            <p:nvPr/>
          </p:nvSpPr>
          <p:spPr>
            <a:xfrm>
              <a:off x="3890772" y="4725619"/>
              <a:ext cx="237744" cy="166421"/>
            </a:xfrm>
            <a:prstGeom prst="rect">
              <a:avLst/>
            </a:prstGeom>
            <a:solidFill>
              <a:srgbClr val="1B1D21"/>
            </a:solidFill>
            <a:ln>
              <a:noFill/>
            </a:ln>
          </p:spPr>
          <p:txBody>
            <a:bodyPr rtlCol="0" anchor="ctr"/>
            <a:lstStyle/>
            <a:p>
              <a:pPr algn="ctr"/>
              <a:endParaRPr/>
            </a:p>
          </p:txBody>
        </p:sp>
        <p:sp>
          <p:nvSpPr>
            <p:cNvPr id="167" name="Wheel"/>
            <p:cNvSpPr/>
            <p:nvPr/>
          </p:nvSpPr>
          <p:spPr>
            <a:xfrm>
              <a:off x="3908603" y="5100066"/>
              <a:ext cx="261518" cy="261518"/>
            </a:xfrm>
            <a:prstGeom prst="ellipse">
              <a:avLst/>
            </a:prstGeom>
            <a:solidFill>
              <a:srgbClr val="1B1D21"/>
            </a:solidFill>
            <a:ln w="19050">
              <a:solidFill>
                <a:srgbClr val="9AA0A6"/>
              </a:solidFill>
            </a:ln>
          </p:spPr>
          <p:txBody>
            <a:bodyPr rtlCol="0" anchor="ctr"/>
            <a:lstStyle/>
            <a:p>
              <a:pPr algn="ctr"/>
              <a:endParaRPr/>
            </a:p>
          </p:txBody>
        </p:sp>
        <p:sp>
          <p:nvSpPr>
            <p:cNvPr id="168" name="Hub"/>
            <p:cNvSpPr/>
            <p:nvPr/>
          </p:nvSpPr>
          <p:spPr>
            <a:xfrm>
              <a:off x="4002749" y="5194213"/>
              <a:ext cx="73225" cy="73225"/>
            </a:xfrm>
            <a:prstGeom prst="ellipse">
              <a:avLst/>
            </a:prstGeom>
            <a:solidFill>
              <a:srgbClr val="9AA0A6"/>
            </a:solidFill>
            <a:ln>
              <a:noFill/>
            </a:ln>
          </p:spPr>
          <p:txBody>
            <a:bodyPr rtlCol="0" anchor="ctr"/>
            <a:lstStyle/>
            <a:p>
              <a:pPr algn="ctr"/>
              <a:endParaRPr/>
            </a:p>
          </p:txBody>
        </p:sp>
        <p:sp>
          <p:nvSpPr>
            <p:cNvPr id="169" name="Wheel"/>
            <p:cNvSpPr/>
            <p:nvPr/>
          </p:nvSpPr>
          <p:spPr>
            <a:xfrm>
              <a:off x="4384091" y="5100066"/>
              <a:ext cx="261518" cy="261518"/>
            </a:xfrm>
            <a:prstGeom prst="ellipse">
              <a:avLst/>
            </a:prstGeom>
            <a:solidFill>
              <a:srgbClr val="1B1D21"/>
            </a:solidFill>
            <a:ln w="19050">
              <a:solidFill>
                <a:srgbClr val="9AA0A6"/>
              </a:solidFill>
            </a:ln>
          </p:spPr>
          <p:txBody>
            <a:bodyPr rtlCol="0" anchor="ctr"/>
            <a:lstStyle/>
            <a:p>
              <a:pPr algn="ctr"/>
              <a:endParaRPr/>
            </a:p>
          </p:txBody>
        </p:sp>
        <p:sp>
          <p:nvSpPr>
            <p:cNvPr id="170" name="Hub"/>
            <p:cNvSpPr/>
            <p:nvPr/>
          </p:nvSpPr>
          <p:spPr>
            <a:xfrm>
              <a:off x="4478237" y="5194213"/>
              <a:ext cx="73225" cy="73225"/>
            </a:xfrm>
            <a:prstGeom prst="ellipse">
              <a:avLst/>
            </a:prstGeom>
            <a:solidFill>
              <a:srgbClr val="9AA0A6"/>
            </a:solidFill>
            <a:ln>
              <a:noFill/>
            </a:ln>
          </p:spPr>
          <p:txBody>
            <a:bodyPr rtlCol="0" anchor="ctr"/>
            <a:lstStyle/>
            <a:p>
              <a:pPr algn="ctr"/>
              <a:endParaRPr/>
            </a:p>
          </p:txBody>
        </p:sp>
        <p:sp>
          <p:nvSpPr>
            <p:cNvPr id="171" name="Wheel"/>
            <p:cNvSpPr/>
            <p:nvPr/>
          </p:nvSpPr>
          <p:spPr>
            <a:xfrm>
              <a:off x="4859579" y="5100066"/>
              <a:ext cx="261518" cy="261518"/>
            </a:xfrm>
            <a:prstGeom prst="ellipse">
              <a:avLst/>
            </a:prstGeom>
            <a:solidFill>
              <a:srgbClr val="1B1D21"/>
            </a:solidFill>
            <a:ln w="19050">
              <a:solidFill>
                <a:srgbClr val="9AA0A6"/>
              </a:solidFill>
            </a:ln>
          </p:spPr>
          <p:txBody>
            <a:bodyPr rtlCol="0" anchor="ctr"/>
            <a:lstStyle/>
            <a:p>
              <a:pPr algn="ctr"/>
              <a:endParaRPr/>
            </a:p>
          </p:txBody>
        </p:sp>
        <p:sp>
          <p:nvSpPr>
            <p:cNvPr id="172" name="Hub"/>
            <p:cNvSpPr/>
            <p:nvPr/>
          </p:nvSpPr>
          <p:spPr>
            <a:xfrm>
              <a:off x="4953725" y="5194213"/>
              <a:ext cx="73225" cy="73225"/>
            </a:xfrm>
            <a:prstGeom prst="ellipse">
              <a:avLst/>
            </a:prstGeom>
            <a:solidFill>
              <a:srgbClr val="9AA0A6"/>
            </a:solidFill>
            <a:ln>
              <a:noFill/>
            </a:ln>
          </p:spPr>
          <p:txBody>
            <a:bodyPr rtlCol="0" anchor="ctr"/>
            <a:lstStyle/>
            <a:p>
              <a:pPr algn="ctr"/>
              <a:endParaRPr/>
            </a:p>
          </p:txBody>
        </p:sp>
        <p:cxnSp>
          <p:nvCxnSpPr>
            <p:cNvPr id="173" name="Coupling rod"/>
            <p:cNvCxnSpPr/>
            <p:nvPr/>
          </p:nvCxnSpPr>
          <p:spPr>
            <a:xfrm>
              <a:off x="4039362" y="5230825"/>
              <a:ext cx="950976" cy="0"/>
            </a:xfrm>
            <a:prstGeom prst="line">
              <a:avLst/>
            </a:prstGeom>
            <a:ln w="25400">
              <a:solidFill>
                <a:srgbClr val="9AA0A6"/>
              </a:solidFill>
            </a:ln>
          </p:spPr>
        </p:cxnSp>
        <p:sp>
          <p:nvSpPr>
            <p:cNvPr id="174" name="Wagon"/>
            <p:cNvSpPr/>
            <p:nvPr/>
          </p:nvSpPr>
          <p:spPr>
            <a:xfrm>
              <a:off x="5303520" y="4868266"/>
              <a:ext cx="891540" cy="368503"/>
            </a:xfrm>
            <a:prstGeom prst="rect">
              <a:avLst/>
            </a:prstGeom>
            <a:solidFill>
              <a:srgbClr val="6C7480"/>
            </a:solidFill>
            <a:ln w="12700">
              <a:solidFill>
                <a:srgbClr val="9AA0A6"/>
              </a:solidFill>
            </a:ln>
          </p:spPr>
          <p:txBody>
            <a:bodyPr rtlCol="0" anchor="ctr"/>
            <a:lstStyle/>
            <a:p>
              <a:pPr algn="ctr"/>
              <a:endParaRPr/>
            </a:p>
          </p:txBody>
        </p:sp>
        <p:cxnSp>
          <p:nvCxnSpPr>
            <p:cNvPr id="175" name="Connector 174"/>
            <p:cNvCxnSpPr/>
            <p:nvPr/>
          </p:nvCxnSpPr>
          <p:spPr>
            <a:xfrm>
              <a:off x="5526405" y="4892040"/>
              <a:ext cx="0" cy="320954"/>
            </a:xfrm>
            <a:prstGeom prst="line">
              <a:avLst/>
            </a:prstGeom>
            <a:ln w="12700">
              <a:solidFill>
                <a:srgbClr val="343A43"/>
              </a:solidFill>
            </a:ln>
          </p:spPr>
        </p:cxnSp>
        <p:cxnSp>
          <p:nvCxnSpPr>
            <p:cNvPr id="176" name="Connector 175"/>
            <p:cNvCxnSpPr/>
            <p:nvPr/>
          </p:nvCxnSpPr>
          <p:spPr>
            <a:xfrm>
              <a:off x="5749290" y="4892040"/>
              <a:ext cx="0" cy="320954"/>
            </a:xfrm>
            <a:prstGeom prst="line">
              <a:avLst/>
            </a:prstGeom>
            <a:ln w="12700">
              <a:solidFill>
                <a:srgbClr val="343A43"/>
              </a:solidFill>
            </a:ln>
          </p:spPr>
        </p:cxnSp>
        <p:cxnSp>
          <p:nvCxnSpPr>
            <p:cNvPr id="177" name="Connector 176"/>
            <p:cNvCxnSpPr/>
            <p:nvPr/>
          </p:nvCxnSpPr>
          <p:spPr>
            <a:xfrm>
              <a:off x="5972175" y="4892040"/>
              <a:ext cx="0" cy="320954"/>
            </a:xfrm>
            <a:prstGeom prst="line">
              <a:avLst/>
            </a:prstGeom>
            <a:ln w="12700">
              <a:solidFill>
                <a:srgbClr val="343A43"/>
              </a:solidFill>
            </a:ln>
          </p:spPr>
        </p:cxnSp>
        <p:sp>
          <p:nvSpPr>
            <p:cNvPr id="178" name="Wheel"/>
            <p:cNvSpPr/>
            <p:nvPr/>
          </p:nvSpPr>
          <p:spPr>
            <a:xfrm>
              <a:off x="5398618" y="5201107"/>
              <a:ext cx="166421" cy="166421"/>
            </a:xfrm>
            <a:prstGeom prst="ellipse">
              <a:avLst/>
            </a:prstGeom>
            <a:solidFill>
              <a:srgbClr val="1B1D21"/>
            </a:solidFill>
            <a:ln w="19050">
              <a:solidFill>
                <a:srgbClr val="9AA0A6"/>
              </a:solidFill>
            </a:ln>
          </p:spPr>
          <p:txBody>
            <a:bodyPr rtlCol="0" anchor="ctr"/>
            <a:lstStyle/>
            <a:p>
              <a:pPr algn="ctr"/>
              <a:endParaRPr/>
            </a:p>
          </p:txBody>
        </p:sp>
        <p:sp>
          <p:nvSpPr>
            <p:cNvPr id="179" name="Hub"/>
            <p:cNvSpPr/>
            <p:nvPr/>
          </p:nvSpPr>
          <p:spPr>
            <a:xfrm>
              <a:off x="5458529" y="5261019"/>
              <a:ext cx="46598" cy="46598"/>
            </a:xfrm>
            <a:prstGeom prst="ellipse">
              <a:avLst/>
            </a:prstGeom>
            <a:solidFill>
              <a:srgbClr val="9AA0A6"/>
            </a:solidFill>
            <a:ln>
              <a:noFill/>
            </a:ln>
          </p:spPr>
          <p:txBody>
            <a:bodyPr rtlCol="0" anchor="ctr"/>
            <a:lstStyle/>
            <a:p>
              <a:pPr algn="ctr"/>
              <a:endParaRPr/>
            </a:p>
          </p:txBody>
        </p:sp>
        <p:sp>
          <p:nvSpPr>
            <p:cNvPr id="180" name="Wheel"/>
            <p:cNvSpPr/>
            <p:nvPr/>
          </p:nvSpPr>
          <p:spPr>
            <a:xfrm>
              <a:off x="5933542" y="5201107"/>
              <a:ext cx="166421" cy="166421"/>
            </a:xfrm>
            <a:prstGeom prst="ellipse">
              <a:avLst/>
            </a:prstGeom>
            <a:solidFill>
              <a:srgbClr val="1B1D21"/>
            </a:solidFill>
            <a:ln w="19050">
              <a:solidFill>
                <a:srgbClr val="9AA0A6"/>
              </a:solidFill>
            </a:ln>
          </p:spPr>
          <p:txBody>
            <a:bodyPr rtlCol="0" anchor="ctr"/>
            <a:lstStyle/>
            <a:p>
              <a:pPr algn="ctr"/>
              <a:endParaRPr/>
            </a:p>
          </p:txBody>
        </p:sp>
        <p:sp>
          <p:nvSpPr>
            <p:cNvPr id="181" name="Hub"/>
            <p:cNvSpPr/>
            <p:nvPr/>
          </p:nvSpPr>
          <p:spPr>
            <a:xfrm>
              <a:off x="5993453" y="5261019"/>
              <a:ext cx="46598" cy="46598"/>
            </a:xfrm>
            <a:prstGeom prst="ellipse">
              <a:avLst/>
            </a:prstGeom>
            <a:solidFill>
              <a:srgbClr val="9AA0A6"/>
            </a:solidFill>
            <a:ln>
              <a:noFill/>
            </a:ln>
          </p:spPr>
          <p:txBody>
            <a:bodyPr rtlCol="0" anchor="ctr"/>
            <a:lstStyle/>
            <a:p>
              <a:pPr algn="ctr"/>
              <a:endParaRPr/>
            </a:p>
          </p:txBody>
        </p:sp>
        <p:sp>
          <p:nvSpPr>
            <p:cNvPr id="182" name="Wagon"/>
            <p:cNvSpPr/>
            <p:nvPr/>
          </p:nvSpPr>
          <p:spPr>
            <a:xfrm>
              <a:off x="6240780" y="4868266"/>
              <a:ext cx="891540" cy="368503"/>
            </a:xfrm>
            <a:prstGeom prst="rect">
              <a:avLst/>
            </a:prstGeom>
            <a:solidFill>
              <a:srgbClr val="6C7480"/>
            </a:solidFill>
            <a:ln w="12700">
              <a:solidFill>
                <a:srgbClr val="9AA0A6"/>
              </a:solidFill>
            </a:ln>
          </p:spPr>
          <p:txBody>
            <a:bodyPr rtlCol="0" anchor="ctr"/>
            <a:lstStyle/>
            <a:p>
              <a:pPr algn="ctr"/>
              <a:endParaRPr/>
            </a:p>
          </p:txBody>
        </p:sp>
        <p:cxnSp>
          <p:nvCxnSpPr>
            <p:cNvPr id="183" name="Connector 182"/>
            <p:cNvCxnSpPr/>
            <p:nvPr/>
          </p:nvCxnSpPr>
          <p:spPr>
            <a:xfrm>
              <a:off x="6463665" y="4892040"/>
              <a:ext cx="0" cy="320954"/>
            </a:xfrm>
            <a:prstGeom prst="line">
              <a:avLst/>
            </a:prstGeom>
            <a:ln w="12700">
              <a:solidFill>
                <a:srgbClr val="343A43"/>
              </a:solidFill>
            </a:ln>
          </p:spPr>
        </p:cxnSp>
        <p:cxnSp>
          <p:nvCxnSpPr>
            <p:cNvPr id="184" name="Connector 183"/>
            <p:cNvCxnSpPr/>
            <p:nvPr/>
          </p:nvCxnSpPr>
          <p:spPr>
            <a:xfrm>
              <a:off x="6686550" y="4892040"/>
              <a:ext cx="0" cy="320954"/>
            </a:xfrm>
            <a:prstGeom prst="line">
              <a:avLst/>
            </a:prstGeom>
            <a:ln w="12700">
              <a:solidFill>
                <a:srgbClr val="343A43"/>
              </a:solidFill>
            </a:ln>
          </p:spPr>
        </p:cxnSp>
        <p:cxnSp>
          <p:nvCxnSpPr>
            <p:cNvPr id="185" name="Connector 184"/>
            <p:cNvCxnSpPr/>
            <p:nvPr/>
          </p:nvCxnSpPr>
          <p:spPr>
            <a:xfrm>
              <a:off x="6909435" y="4892040"/>
              <a:ext cx="0" cy="320954"/>
            </a:xfrm>
            <a:prstGeom prst="line">
              <a:avLst/>
            </a:prstGeom>
            <a:ln w="12700">
              <a:solidFill>
                <a:srgbClr val="343A43"/>
              </a:solidFill>
            </a:ln>
          </p:spPr>
        </p:cxnSp>
        <p:sp>
          <p:nvSpPr>
            <p:cNvPr id="186" name="Wheel"/>
            <p:cNvSpPr/>
            <p:nvPr/>
          </p:nvSpPr>
          <p:spPr>
            <a:xfrm>
              <a:off x="6335878" y="5201107"/>
              <a:ext cx="166421" cy="166421"/>
            </a:xfrm>
            <a:prstGeom prst="ellipse">
              <a:avLst/>
            </a:prstGeom>
            <a:solidFill>
              <a:srgbClr val="1B1D21"/>
            </a:solidFill>
            <a:ln w="19050">
              <a:solidFill>
                <a:srgbClr val="9AA0A6"/>
              </a:solidFill>
            </a:ln>
          </p:spPr>
          <p:txBody>
            <a:bodyPr rtlCol="0" anchor="ctr"/>
            <a:lstStyle/>
            <a:p>
              <a:pPr algn="ctr"/>
              <a:endParaRPr/>
            </a:p>
          </p:txBody>
        </p:sp>
        <p:sp>
          <p:nvSpPr>
            <p:cNvPr id="187" name="Hub"/>
            <p:cNvSpPr/>
            <p:nvPr/>
          </p:nvSpPr>
          <p:spPr>
            <a:xfrm>
              <a:off x="6395789" y="5261019"/>
              <a:ext cx="46598" cy="46598"/>
            </a:xfrm>
            <a:prstGeom prst="ellipse">
              <a:avLst/>
            </a:prstGeom>
            <a:solidFill>
              <a:srgbClr val="9AA0A6"/>
            </a:solidFill>
            <a:ln>
              <a:noFill/>
            </a:ln>
          </p:spPr>
          <p:txBody>
            <a:bodyPr rtlCol="0" anchor="ctr"/>
            <a:lstStyle/>
            <a:p>
              <a:pPr algn="ctr"/>
              <a:endParaRPr/>
            </a:p>
          </p:txBody>
        </p:sp>
        <p:sp>
          <p:nvSpPr>
            <p:cNvPr id="188" name="Wheel"/>
            <p:cNvSpPr/>
            <p:nvPr/>
          </p:nvSpPr>
          <p:spPr>
            <a:xfrm>
              <a:off x="6870802" y="5201107"/>
              <a:ext cx="166421" cy="166421"/>
            </a:xfrm>
            <a:prstGeom prst="ellipse">
              <a:avLst/>
            </a:prstGeom>
            <a:solidFill>
              <a:srgbClr val="1B1D21"/>
            </a:solidFill>
            <a:ln w="19050">
              <a:solidFill>
                <a:srgbClr val="9AA0A6"/>
              </a:solidFill>
            </a:ln>
          </p:spPr>
          <p:txBody>
            <a:bodyPr rtlCol="0" anchor="ctr"/>
            <a:lstStyle/>
            <a:p>
              <a:pPr algn="ctr"/>
              <a:endParaRPr/>
            </a:p>
          </p:txBody>
        </p:sp>
        <p:sp>
          <p:nvSpPr>
            <p:cNvPr id="189" name="Hub"/>
            <p:cNvSpPr/>
            <p:nvPr/>
          </p:nvSpPr>
          <p:spPr>
            <a:xfrm>
              <a:off x="6930713" y="5261019"/>
              <a:ext cx="46598" cy="46598"/>
            </a:xfrm>
            <a:prstGeom prst="ellipse">
              <a:avLst/>
            </a:prstGeom>
            <a:solidFill>
              <a:srgbClr val="9AA0A6"/>
            </a:solidFill>
            <a:ln>
              <a:noFill/>
            </a:ln>
          </p:spPr>
          <p:txBody>
            <a:bodyPr rtlCol="0" anchor="ctr"/>
            <a:lstStyle/>
            <a:p>
              <a:pPr algn="ctr"/>
              <a:endParaRPr/>
            </a:p>
          </p:txBody>
        </p:sp>
        <p:sp>
          <p:nvSpPr>
            <p:cNvPr id="190" name="Wagon"/>
            <p:cNvSpPr/>
            <p:nvPr/>
          </p:nvSpPr>
          <p:spPr>
            <a:xfrm>
              <a:off x="7178040" y="4868266"/>
              <a:ext cx="891540" cy="368503"/>
            </a:xfrm>
            <a:prstGeom prst="rect">
              <a:avLst/>
            </a:prstGeom>
            <a:solidFill>
              <a:srgbClr val="6C7480"/>
            </a:solidFill>
            <a:ln w="12700">
              <a:solidFill>
                <a:srgbClr val="9AA0A6"/>
              </a:solidFill>
            </a:ln>
          </p:spPr>
          <p:txBody>
            <a:bodyPr rtlCol="0" anchor="ctr"/>
            <a:lstStyle/>
            <a:p>
              <a:pPr algn="ctr"/>
              <a:endParaRPr/>
            </a:p>
          </p:txBody>
        </p:sp>
        <p:cxnSp>
          <p:nvCxnSpPr>
            <p:cNvPr id="191" name="Connector 190"/>
            <p:cNvCxnSpPr/>
            <p:nvPr/>
          </p:nvCxnSpPr>
          <p:spPr>
            <a:xfrm>
              <a:off x="7400925" y="4892040"/>
              <a:ext cx="0" cy="320954"/>
            </a:xfrm>
            <a:prstGeom prst="line">
              <a:avLst/>
            </a:prstGeom>
            <a:ln w="12700">
              <a:solidFill>
                <a:srgbClr val="343A43"/>
              </a:solidFill>
            </a:ln>
          </p:spPr>
        </p:cxnSp>
        <p:cxnSp>
          <p:nvCxnSpPr>
            <p:cNvPr id="192" name="Connector 191"/>
            <p:cNvCxnSpPr/>
            <p:nvPr/>
          </p:nvCxnSpPr>
          <p:spPr>
            <a:xfrm>
              <a:off x="7623810" y="4892040"/>
              <a:ext cx="0" cy="320954"/>
            </a:xfrm>
            <a:prstGeom prst="line">
              <a:avLst/>
            </a:prstGeom>
            <a:ln w="12700">
              <a:solidFill>
                <a:srgbClr val="343A43"/>
              </a:solidFill>
            </a:ln>
          </p:spPr>
        </p:cxnSp>
        <p:cxnSp>
          <p:nvCxnSpPr>
            <p:cNvPr id="193" name="Connector 192"/>
            <p:cNvCxnSpPr/>
            <p:nvPr/>
          </p:nvCxnSpPr>
          <p:spPr>
            <a:xfrm>
              <a:off x="7846695" y="4892040"/>
              <a:ext cx="0" cy="320954"/>
            </a:xfrm>
            <a:prstGeom prst="line">
              <a:avLst/>
            </a:prstGeom>
            <a:ln w="12700">
              <a:solidFill>
                <a:srgbClr val="343A43"/>
              </a:solidFill>
            </a:ln>
          </p:spPr>
        </p:cxnSp>
        <p:sp>
          <p:nvSpPr>
            <p:cNvPr id="194" name="Wheel"/>
            <p:cNvSpPr/>
            <p:nvPr/>
          </p:nvSpPr>
          <p:spPr>
            <a:xfrm>
              <a:off x="7273138" y="5201107"/>
              <a:ext cx="166421" cy="166421"/>
            </a:xfrm>
            <a:prstGeom prst="ellipse">
              <a:avLst/>
            </a:prstGeom>
            <a:solidFill>
              <a:srgbClr val="1B1D21"/>
            </a:solidFill>
            <a:ln w="19050">
              <a:solidFill>
                <a:srgbClr val="9AA0A6"/>
              </a:solidFill>
            </a:ln>
          </p:spPr>
          <p:txBody>
            <a:bodyPr rtlCol="0" anchor="ctr"/>
            <a:lstStyle/>
            <a:p>
              <a:pPr algn="ctr"/>
              <a:endParaRPr/>
            </a:p>
          </p:txBody>
        </p:sp>
        <p:sp>
          <p:nvSpPr>
            <p:cNvPr id="195" name="Hub"/>
            <p:cNvSpPr/>
            <p:nvPr/>
          </p:nvSpPr>
          <p:spPr>
            <a:xfrm>
              <a:off x="7333049" y="5261019"/>
              <a:ext cx="46598" cy="46598"/>
            </a:xfrm>
            <a:prstGeom prst="ellipse">
              <a:avLst/>
            </a:prstGeom>
            <a:solidFill>
              <a:srgbClr val="9AA0A6"/>
            </a:solidFill>
            <a:ln>
              <a:noFill/>
            </a:ln>
          </p:spPr>
          <p:txBody>
            <a:bodyPr rtlCol="0" anchor="ctr"/>
            <a:lstStyle/>
            <a:p>
              <a:pPr algn="ctr"/>
              <a:endParaRPr/>
            </a:p>
          </p:txBody>
        </p:sp>
        <p:sp>
          <p:nvSpPr>
            <p:cNvPr id="196" name="Wheel"/>
            <p:cNvSpPr/>
            <p:nvPr/>
          </p:nvSpPr>
          <p:spPr>
            <a:xfrm>
              <a:off x="7808062" y="5201107"/>
              <a:ext cx="166421" cy="166421"/>
            </a:xfrm>
            <a:prstGeom prst="ellipse">
              <a:avLst/>
            </a:prstGeom>
            <a:solidFill>
              <a:srgbClr val="1B1D21"/>
            </a:solidFill>
            <a:ln w="19050">
              <a:solidFill>
                <a:srgbClr val="9AA0A6"/>
              </a:solidFill>
            </a:ln>
          </p:spPr>
          <p:txBody>
            <a:bodyPr rtlCol="0" anchor="ctr"/>
            <a:lstStyle/>
            <a:p>
              <a:pPr algn="ctr"/>
              <a:endParaRPr/>
            </a:p>
          </p:txBody>
        </p:sp>
        <p:sp>
          <p:nvSpPr>
            <p:cNvPr id="197" name="Hub"/>
            <p:cNvSpPr/>
            <p:nvPr/>
          </p:nvSpPr>
          <p:spPr>
            <a:xfrm>
              <a:off x="7867973" y="5261019"/>
              <a:ext cx="46598" cy="46598"/>
            </a:xfrm>
            <a:prstGeom prst="ellipse">
              <a:avLst/>
            </a:prstGeom>
            <a:solidFill>
              <a:srgbClr val="9AA0A6"/>
            </a:solidFill>
            <a:ln>
              <a:noFill/>
            </a:ln>
          </p:spPr>
          <p:txBody>
            <a:bodyPr rtlCol="0" anchor="ctr"/>
            <a:lstStyle/>
            <a:p>
              <a:pPr algn="ctr"/>
              <a:endParaRPr/>
            </a:p>
          </p:txBody>
        </p:sp>
        <p:sp>
          <p:nvSpPr>
            <p:cNvPr id="198" name="Wagon"/>
            <p:cNvSpPr/>
            <p:nvPr/>
          </p:nvSpPr>
          <p:spPr>
            <a:xfrm>
              <a:off x="8115300" y="4868266"/>
              <a:ext cx="891540" cy="368503"/>
            </a:xfrm>
            <a:prstGeom prst="rect">
              <a:avLst/>
            </a:prstGeom>
            <a:solidFill>
              <a:srgbClr val="6C7480"/>
            </a:solidFill>
            <a:ln w="12700">
              <a:solidFill>
                <a:srgbClr val="9AA0A6"/>
              </a:solidFill>
            </a:ln>
          </p:spPr>
          <p:txBody>
            <a:bodyPr rtlCol="0" anchor="ctr"/>
            <a:lstStyle/>
            <a:p>
              <a:pPr algn="ctr"/>
              <a:endParaRPr/>
            </a:p>
          </p:txBody>
        </p:sp>
        <p:cxnSp>
          <p:nvCxnSpPr>
            <p:cNvPr id="199" name="Connector 198"/>
            <p:cNvCxnSpPr/>
            <p:nvPr/>
          </p:nvCxnSpPr>
          <p:spPr>
            <a:xfrm>
              <a:off x="8338185" y="4892040"/>
              <a:ext cx="0" cy="320954"/>
            </a:xfrm>
            <a:prstGeom prst="line">
              <a:avLst/>
            </a:prstGeom>
            <a:ln w="12700">
              <a:solidFill>
                <a:srgbClr val="343A43"/>
              </a:solidFill>
            </a:ln>
          </p:spPr>
        </p:cxnSp>
        <p:cxnSp>
          <p:nvCxnSpPr>
            <p:cNvPr id="200" name="Connector 199"/>
            <p:cNvCxnSpPr/>
            <p:nvPr/>
          </p:nvCxnSpPr>
          <p:spPr>
            <a:xfrm>
              <a:off x="8561070" y="4892040"/>
              <a:ext cx="0" cy="320954"/>
            </a:xfrm>
            <a:prstGeom prst="line">
              <a:avLst/>
            </a:prstGeom>
            <a:ln w="12700">
              <a:solidFill>
                <a:srgbClr val="343A43"/>
              </a:solidFill>
            </a:ln>
          </p:spPr>
        </p:cxnSp>
        <p:cxnSp>
          <p:nvCxnSpPr>
            <p:cNvPr id="201" name="Connector 200"/>
            <p:cNvCxnSpPr/>
            <p:nvPr/>
          </p:nvCxnSpPr>
          <p:spPr>
            <a:xfrm>
              <a:off x="8783955" y="4892040"/>
              <a:ext cx="0" cy="320954"/>
            </a:xfrm>
            <a:prstGeom prst="line">
              <a:avLst/>
            </a:prstGeom>
            <a:ln w="12700">
              <a:solidFill>
                <a:srgbClr val="343A43"/>
              </a:solidFill>
            </a:ln>
          </p:spPr>
        </p:cxnSp>
        <p:sp>
          <p:nvSpPr>
            <p:cNvPr id="202" name="Wheel"/>
            <p:cNvSpPr/>
            <p:nvPr/>
          </p:nvSpPr>
          <p:spPr>
            <a:xfrm>
              <a:off x="8210398" y="5201107"/>
              <a:ext cx="166421" cy="166421"/>
            </a:xfrm>
            <a:prstGeom prst="ellipse">
              <a:avLst/>
            </a:prstGeom>
            <a:solidFill>
              <a:srgbClr val="1B1D21"/>
            </a:solidFill>
            <a:ln w="19050">
              <a:solidFill>
                <a:srgbClr val="9AA0A6"/>
              </a:solidFill>
            </a:ln>
          </p:spPr>
          <p:txBody>
            <a:bodyPr rtlCol="0" anchor="ctr"/>
            <a:lstStyle/>
            <a:p>
              <a:pPr algn="ctr"/>
              <a:endParaRPr/>
            </a:p>
          </p:txBody>
        </p:sp>
        <p:sp>
          <p:nvSpPr>
            <p:cNvPr id="203" name="Hub"/>
            <p:cNvSpPr/>
            <p:nvPr/>
          </p:nvSpPr>
          <p:spPr>
            <a:xfrm>
              <a:off x="8270309" y="5261019"/>
              <a:ext cx="46598" cy="46598"/>
            </a:xfrm>
            <a:prstGeom prst="ellipse">
              <a:avLst/>
            </a:prstGeom>
            <a:solidFill>
              <a:srgbClr val="9AA0A6"/>
            </a:solidFill>
            <a:ln>
              <a:noFill/>
            </a:ln>
          </p:spPr>
          <p:txBody>
            <a:bodyPr rtlCol="0" anchor="ctr"/>
            <a:lstStyle/>
            <a:p>
              <a:pPr algn="ctr"/>
              <a:endParaRPr/>
            </a:p>
          </p:txBody>
        </p:sp>
        <p:sp>
          <p:nvSpPr>
            <p:cNvPr id="204" name="Wheel"/>
            <p:cNvSpPr/>
            <p:nvPr/>
          </p:nvSpPr>
          <p:spPr>
            <a:xfrm>
              <a:off x="8745322" y="5201107"/>
              <a:ext cx="166421" cy="166421"/>
            </a:xfrm>
            <a:prstGeom prst="ellipse">
              <a:avLst/>
            </a:prstGeom>
            <a:solidFill>
              <a:srgbClr val="1B1D21"/>
            </a:solidFill>
            <a:ln w="19050">
              <a:solidFill>
                <a:srgbClr val="9AA0A6"/>
              </a:solidFill>
            </a:ln>
          </p:spPr>
          <p:txBody>
            <a:bodyPr rtlCol="0" anchor="ctr"/>
            <a:lstStyle/>
            <a:p>
              <a:pPr algn="ctr"/>
              <a:endParaRPr/>
            </a:p>
          </p:txBody>
        </p:sp>
        <p:sp>
          <p:nvSpPr>
            <p:cNvPr id="205" name="Hub"/>
            <p:cNvSpPr/>
            <p:nvPr/>
          </p:nvSpPr>
          <p:spPr>
            <a:xfrm>
              <a:off x="8805233" y="5261019"/>
              <a:ext cx="46598" cy="46598"/>
            </a:xfrm>
            <a:prstGeom prst="ellipse">
              <a:avLst/>
            </a:prstGeom>
            <a:solidFill>
              <a:srgbClr val="9AA0A6"/>
            </a:solidFill>
            <a:ln>
              <a:noFill/>
            </a:ln>
          </p:spPr>
          <p:txBody>
            <a:bodyPr rtlCol="0" anchor="ctr"/>
            <a:lstStyle/>
            <a:p>
              <a:pPr algn="ctr"/>
              <a:endParaRPr/>
            </a:p>
          </p:txBody>
        </p:sp>
      </p:grpSp>
      <p:grpSp>
        <p:nvGrpSpPr>
          <p:cNvPr id="206" name="Caption" descr="Caption: Pick the engine for the load. A big engine on one wagon wastes effort."/>
          <p:cNvGrpSpPr/>
          <p:nvPr/>
        </p:nvGrpSpPr>
        <p:grpSpPr>
          <a:xfrm>
            <a:off x="548640" y="5669280"/>
            <a:ext cx="11091672" cy="822960"/>
            <a:chOff x="548640" y="5669280"/>
            <a:chExt cx="11091672" cy="822960"/>
          </a:xfrm>
        </p:grpSpPr>
        <p:sp>
          <p:nvSpPr>
            <p:cNvPr id="207"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208"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209"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Pick the engine for the load. A big engine on one wagon wastes effort.</a:t>
              </a:r>
            </a:p>
          </p:txBody>
        </p:sp>
      </p:grpSp>
      <p:sp>
        <p:nvSpPr>
          <p:cNvPr id="210"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8</a:t>
            </a:r>
          </a:p>
        </p:txBody>
      </p:sp>
    </p:spTree>
    <p:extLst>
      <p:ext uri="{BB962C8B-B14F-4D97-AF65-F5344CB8AC3E}">
        <p14:creationId xmlns:p14="http://schemas.microsoft.com/office/powerpoint/2010/main" val="38152343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12"/>
                                        </p:tgtEl>
                                        <p:attrNameLst>
                                          <p:attrName>style.visibility</p:attrName>
                                        </p:attrNameLst>
                                      </p:cBhvr>
                                      <p:to>
                                        <p:strVal val="visible"/>
                                      </p:to>
                                    </p:set>
                                    <p:animEffect transition="in" filter="fade">
                                      <p:cBhvr>
                                        <p:cTn id="10" dur="500"/>
                                        <p:tgtEl>
                                          <p:spTgt spid="112"/>
                                        </p:tgtEl>
                                      </p:cBhvr>
                                    </p:animEffect>
                                  </p:childTnLst>
                                </p:cTn>
                              </p:par>
                              <p:par>
                                <p:cTn id="11" presetID="10" presetClass="entr" presetSubtype="0" fill="hold" nodeType="withEffect">
                                  <p:stCondLst>
                                    <p:cond delay="600"/>
                                  </p:stCondLst>
                                  <p:childTnLst>
                                    <p:set>
                                      <p:cBhvr>
                                        <p:cTn id="12" dur="1" fill="hold">
                                          <p:stCondLst>
                                            <p:cond delay="0"/>
                                          </p:stCondLst>
                                        </p:cTn>
                                        <p:tgtEl>
                                          <p:spTgt spid="147"/>
                                        </p:tgtEl>
                                        <p:attrNameLst>
                                          <p:attrName>style.visibility</p:attrName>
                                        </p:attrNameLst>
                                      </p:cBhvr>
                                      <p:to>
                                        <p:strVal val="visible"/>
                                      </p:to>
                                    </p:set>
                                    <p:animEffect transition="in" filter="fade">
                                      <p:cBhvr>
                                        <p:cTn id="13" dur="500"/>
                                        <p:tgtEl>
                                          <p:spTgt spid="147"/>
                                        </p:tgtEl>
                                      </p:cBhvr>
                                    </p:animEffect>
                                  </p:childTnLst>
                                </p:cTn>
                              </p:par>
                              <p:par>
                                <p:cTn id="14" presetID="10" presetClass="entr" presetSubtype="0" fill="hold" nodeType="withEffect">
                                  <p:stCondLst>
                                    <p:cond delay="900"/>
                                  </p:stCondLst>
                                  <p:childTnLst>
                                    <p:set>
                                      <p:cBhvr>
                                        <p:cTn id="15" dur="1" fill="hold">
                                          <p:stCondLst>
                                            <p:cond delay="0"/>
                                          </p:stCondLst>
                                        </p:cTn>
                                        <p:tgtEl>
                                          <p:spTgt spid="206"/>
                                        </p:tgtEl>
                                        <p:attrNameLst>
                                          <p:attrName>style.visibility</p:attrName>
                                        </p:attrNameLst>
                                      </p:cBhvr>
                                      <p:to>
                                        <p:strVal val="visible"/>
                                      </p:to>
                                    </p:set>
                                    <p:animEffect transition="in" filter="fade">
                                      <p:cBhvr>
                                        <p:cTn id="16"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How engines may feel</a:t>
            </a:r>
          </a:p>
        </p:txBody>
      </p:sp>
      <p:sp>
        <p:nvSpPr>
          <p:cNvPr id="3" name="Status chip" descr="Status tag: Proposed"/>
          <p:cNvSpPr/>
          <p:nvPr/>
        </p:nvSpPr>
        <p:spPr>
          <a:xfrm>
            <a:off x="10180015" y="457200"/>
            <a:ext cx="1463040" cy="365760"/>
          </a:xfrm>
          <a:prstGeom prst="roundRect">
            <a:avLst>
              <a:gd name="adj" fmla="val 30000"/>
            </a:avLst>
          </a:prstGeom>
          <a:solidFill>
            <a:srgbClr val="B084F5"/>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PROPOSED</a:t>
            </a:r>
          </a:p>
        </p:txBody>
      </p:sp>
      <p:grpSp>
        <p:nvGrpSpPr>
          <p:cNvPr id="4" name="Card: Small" descr="Small engine: A few wagons, confidently; struggles on hills."/>
          <p:cNvGrpSpPr/>
          <p:nvPr/>
        </p:nvGrpSpPr>
        <p:grpSpPr>
          <a:xfrm>
            <a:off x="548640" y="1371600"/>
            <a:ext cx="3520440" cy="3063240"/>
            <a:chOff x="548640" y="1371600"/>
            <a:chExt cx="3520440" cy="3063240"/>
          </a:xfrm>
        </p:grpSpPr>
        <p:sp>
          <p:nvSpPr>
            <p:cNvPr id="5" name="Card panel"/>
            <p:cNvSpPr/>
            <p:nvPr/>
          </p:nvSpPr>
          <p:spPr>
            <a:xfrm>
              <a:off x="548640" y="1371600"/>
              <a:ext cx="3520440" cy="3063240"/>
            </a:xfrm>
            <a:prstGeom prst="roundRect">
              <a:avLst>
                <a:gd name="adj" fmla="val 2388"/>
              </a:avLst>
            </a:prstGeom>
            <a:solidFill>
              <a:srgbClr val="2B2F36"/>
            </a:solidFill>
            <a:ln>
              <a:noFill/>
            </a:ln>
          </p:spPr>
          <p:txBody>
            <a:bodyPr rtlCol="0" anchor="ctr"/>
            <a:lstStyle/>
            <a:p>
              <a:pPr algn="ctr"/>
              <a:endParaRPr/>
            </a:p>
          </p:txBody>
        </p:sp>
        <p:sp>
          <p:nvSpPr>
            <p:cNvPr id="6" name="Card title"/>
            <p:cNvSpPr txBox="1"/>
            <p:nvPr/>
          </p:nvSpPr>
          <p:spPr>
            <a:xfrm>
              <a:off x="777240" y="1481328"/>
              <a:ext cx="3063240" cy="457200"/>
            </a:xfrm>
            <a:prstGeom prst="rect">
              <a:avLst/>
            </a:prstGeom>
            <a:noFill/>
          </p:spPr>
          <p:txBody>
            <a:bodyPr wrap="square" lIns="0" tIns="0" rIns="0" bIns="0" anchor="ctr">
              <a:noAutofit/>
            </a:bodyPr>
            <a:lstStyle/>
            <a:p>
              <a:pPr algn="l">
                <a:spcBef>
                  <a:spcPts val="0"/>
                </a:spcBef>
                <a:spcAft>
                  <a:spcPts val="0"/>
                </a:spcAft>
              </a:pPr>
              <a:r>
                <a:rPr lang="en-GB" sz="2200" b="1" i="0">
                  <a:solidFill>
                    <a:srgbClr val="F28C28"/>
                  </a:solidFill>
                  <a:latin typeface="Arial"/>
                </a:rPr>
                <a:t>Small</a:t>
              </a:r>
            </a:p>
          </p:txBody>
        </p:sp>
        <p:sp>
          <p:nvSpPr>
            <p:cNvPr id="7" name="Footplate"/>
            <p:cNvSpPr/>
            <p:nvPr/>
          </p:nvSpPr>
          <p:spPr>
            <a:xfrm>
              <a:off x="1476756" y="2853842"/>
              <a:ext cx="1664208" cy="64008"/>
            </a:xfrm>
            <a:prstGeom prst="rect">
              <a:avLst/>
            </a:prstGeom>
            <a:solidFill>
              <a:srgbClr val="1B1D21"/>
            </a:solidFill>
            <a:ln>
              <a:noFill/>
            </a:ln>
          </p:spPr>
          <p:txBody>
            <a:bodyPr rtlCol="0" anchor="ctr"/>
            <a:lstStyle/>
            <a:p>
              <a:pPr algn="ctr"/>
              <a:endParaRPr/>
            </a:p>
          </p:txBody>
        </p:sp>
        <p:sp>
          <p:nvSpPr>
            <p:cNvPr id="8" name="Boiler"/>
            <p:cNvSpPr/>
            <p:nvPr/>
          </p:nvSpPr>
          <p:spPr>
            <a:xfrm>
              <a:off x="2052828" y="2501798"/>
              <a:ext cx="1024128" cy="371246"/>
            </a:xfrm>
            <a:prstGeom prst="roundRect">
              <a:avLst>
                <a:gd name="adj" fmla="val 25862"/>
              </a:avLst>
            </a:prstGeom>
            <a:solidFill>
              <a:srgbClr val="F28C28"/>
            </a:solidFill>
            <a:ln>
              <a:noFill/>
            </a:ln>
          </p:spPr>
          <p:txBody>
            <a:bodyPr rtlCol="0" anchor="ctr"/>
            <a:lstStyle/>
            <a:p>
              <a:pPr algn="ctr"/>
              <a:endParaRPr/>
            </a:p>
          </p:txBody>
        </p:sp>
        <p:sp>
          <p:nvSpPr>
            <p:cNvPr id="9" name="Smokebox"/>
            <p:cNvSpPr/>
            <p:nvPr/>
          </p:nvSpPr>
          <p:spPr>
            <a:xfrm>
              <a:off x="3000146" y="2501798"/>
              <a:ext cx="89611" cy="371246"/>
            </a:xfrm>
            <a:prstGeom prst="rect">
              <a:avLst/>
            </a:prstGeom>
            <a:solidFill>
              <a:srgbClr val="1B1D21"/>
            </a:solidFill>
            <a:ln>
              <a:noFill/>
            </a:ln>
          </p:spPr>
          <p:txBody>
            <a:bodyPr rtlCol="0" anchor="ctr"/>
            <a:lstStyle/>
            <a:p>
              <a:pPr algn="ctr"/>
              <a:endParaRPr/>
            </a:p>
          </p:txBody>
        </p:sp>
        <p:sp>
          <p:nvSpPr>
            <p:cNvPr id="10" name="Chimney"/>
            <p:cNvSpPr/>
            <p:nvPr/>
          </p:nvSpPr>
          <p:spPr>
            <a:xfrm>
              <a:off x="2884932" y="2335378"/>
              <a:ext cx="83210" cy="179222"/>
            </a:xfrm>
            <a:prstGeom prst="rect">
              <a:avLst/>
            </a:prstGeom>
            <a:solidFill>
              <a:srgbClr val="1B1D21"/>
            </a:solidFill>
            <a:ln>
              <a:noFill/>
            </a:ln>
          </p:spPr>
          <p:txBody>
            <a:bodyPr rtlCol="0" anchor="ctr"/>
            <a:lstStyle/>
            <a:p>
              <a:pPr algn="ctr"/>
              <a:endParaRPr/>
            </a:p>
          </p:txBody>
        </p:sp>
        <p:sp>
          <p:nvSpPr>
            <p:cNvPr id="11" name="Chimney top"/>
            <p:cNvSpPr/>
            <p:nvPr/>
          </p:nvSpPr>
          <p:spPr>
            <a:xfrm>
              <a:off x="2852928" y="2309774"/>
              <a:ext cx="147218" cy="38405"/>
            </a:xfrm>
            <a:prstGeom prst="rect">
              <a:avLst/>
            </a:prstGeom>
            <a:solidFill>
              <a:srgbClr val="1B1D21"/>
            </a:solidFill>
            <a:ln>
              <a:noFill/>
            </a:ln>
          </p:spPr>
          <p:txBody>
            <a:bodyPr rtlCol="0" anchor="ctr"/>
            <a:lstStyle/>
            <a:p>
              <a:pPr algn="ctr"/>
              <a:endParaRPr/>
            </a:p>
          </p:txBody>
        </p:sp>
        <p:sp>
          <p:nvSpPr>
            <p:cNvPr id="12" name="Dome"/>
            <p:cNvSpPr/>
            <p:nvPr/>
          </p:nvSpPr>
          <p:spPr>
            <a:xfrm>
              <a:off x="2436876" y="2412187"/>
              <a:ext cx="217627" cy="192024"/>
            </a:xfrm>
            <a:prstGeom prst="chord">
              <a:avLst/>
            </a:prstGeom>
            <a:solidFill>
              <a:srgbClr val="C46E14"/>
            </a:solidFill>
            <a:ln>
              <a:noFill/>
            </a:ln>
          </p:spPr>
          <p:txBody>
            <a:bodyPr rtlCol="0" anchor="ctr"/>
            <a:lstStyle/>
            <a:p>
              <a:pPr algn="ctr"/>
              <a:endParaRPr/>
            </a:p>
          </p:txBody>
        </p:sp>
        <p:sp>
          <p:nvSpPr>
            <p:cNvPr id="13" name="Cab"/>
            <p:cNvSpPr/>
            <p:nvPr/>
          </p:nvSpPr>
          <p:spPr>
            <a:xfrm>
              <a:off x="1527962" y="2373782"/>
              <a:ext cx="576072" cy="499262"/>
            </a:xfrm>
            <a:prstGeom prst="rect">
              <a:avLst/>
            </a:prstGeom>
            <a:solidFill>
              <a:srgbClr val="C46E14"/>
            </a:solidFill>
            <a:ln>
              <a:noFill/>
            </a:ln>
          </p:spPr>
          <p:txBody>
            <a:bodyPr rtlCol="0" anchor="ctr"/>
            <a:lstStyle/>
            <a:p>
              <a:pPr algn="ctr"/>
              <a:endParaRPr/>
            </a:p>
          </p:txBody>
        </p:sp>
        <p:sp>
          <p:nvSpPr>
            <p:cNvPr id="14" name="Cab roof"/>
            <p:cNvSpPr/>
            <p:nvPr/>
          </p:nvSpPr>
          <p:spPr>
            <a:xfrm>
              <a:off x="1489558" y="2322576"/>
              <a:ext cx="652882" cy="57607"/>
            </a:xfrm>
            <a:prstGeom prst="rect">
              <a:avLst/>
            </a:prstGeom>
            <a:solidFill>
              <a:srgbClr val="1B1D21"/>
            </a:solidFill>
            <a:ln>
              <a:noFill/>
            </a:ln>
          </p:spPr>
          <p:txBody>
            <a:bodyPr rtlCol="0" anchor="ctr"/>
            <a:lstStyle/>
            <a:p>
              <a:pPr algn="ctr"/>
              <a:endParaRPr/>
            </a:p>
          </p:txBody>
        </p:sp>
        <p:sp>
          <p:nvSpPr>
            <p:cNvPr id="15" name="Cab window"/>
            <p:cNvSpPr/>
            <p:nvPr/>
          </p:nvSpPr>
          <p:spPr>
            <a:xfrm>
              <a:off x="1668780" y="2463394"/>
              <a:ext cx="256032" cy="179222"/>
            </a:xfrm>
            <a:prstGeom prst="rect">
              <a:avLst/>
            </a:prstGeom>
            <a:solidFill>
              <a:srgbClr val="1B1D21"/>
            </a:solidFill>
            <a:ln>
              <a:noFill/>
            </a:ln>
          </p:spPr>
          <p:txBody>
            <a:bodyPr rtlCol="0" anchor="ctr"/>
            <a:lstStyle/>
            <a:p>
              <a:pPr algn="ctr"/>
              <a:endParaRPr/>
            </a:p>
          </p:txBody>
        </p:sp>
        <p:sp>
          <p:nvSpPr>
            <p:cNvPr id="16" name="Wheel"/>
            <p:cNvSpPr/>
            <p:nvPr/>
          </p:nvSpPr>
          <p:spPr>
            <a:xfrm>
              <a:off x="1687982" y="2866644"/>
              <a:ext cx="281635" cy="281635"/>
            </a:xfrm>
            <a:prstGeom prst="ellipse">
              <a:avLst/>
            </a:prstGeom>
            <a:solidFill>
              <a:srgbClr val="1B1D21"/>
            </a:solidFill>
            <a:ln w="19050">
              <a:solidFill>
                <a:srgbClr val="9AA0A6"/>
              </a:solidFill>
            </a:ln>
          </p:spPr>
          <p:txBody>
            <a:bodyPr rtlCol="0" anchor="ctr"/>
            <a:lstStyle/>
            <a:p>
              <a:pPr algn="ctr"/>
              <a:endParaRPr/>
            </a:p>
          </p:txBody>
        </p:sp>
        <p:sp>
          <p:nvSpPr>
            <p:cNvPr id="17" name="Hub"/>
            <p:cNvSpPr/>
            <p:nvPr/>
          </p:nvSpPr>
          <p:spPr>
            <a:xfrm>
              <a:off x="1789371" y="2968033"/>
              <a:ext cx="78858" cy="78858"/>
            </a:xfrm>
            <a:prstGeom prst="ellipse">
              <a:avLst/>
            </a:prstGeom>
            <a:solidFill>
              <a:srgbClr val="9AA0A6"/>
            </a:solidFill>
            <a:ln>
              <a:noFill/>
            </a:ln>
          </p:spPr>
          <p:txBody>
            <a:bodyPr rtlCol="0" anchor="ctr"/>
            <a:lstStyle/>
            <a:p>
              <a:pPr algn="ctr"/>
              <a:endParaRPr/>
            </a:p>
          </p:txBody>
        </p:sp>
        <p:sp>
          <p:nvSpPr>
            <p:cNvPr id="18" name="Wheel"/>
            <p:cNvSpPr/>
            <p:nvPr/>
          </p:nvSpPr>
          <p:spPr>
            <a:xfrm>
              <a:off x="2200046" y="2866644"/>
              <a:ext cx="281635" cy="281635"/>
            </a:xfrm>
            <a:prstGeom prst="ellipse">
              <a:avLst/>
            </a:prstGeom>
            <a:solidFill>
              <a:srgbClr val="1B1D21"/>
            </a:solidFill>
            <a:ln w="19050">
              <a:solidFill>
                <a:srgbClr val="9AA0A6"/>
              </a:solidFill>
            </a:ln>
          </p:spPr>
          <p:txBody>
            <a:bodyPr rtlCol="0" anchor="ctr"/>
            <a:lstStyle/>
            <a:p>
              <a:pPr algn="ctr"/>
              <a:endParaRPr/>
            </a:p>
          </p:txBody>
        </p:sp>
        <p:sp>
          <p:nvSpPr>
            <p:cNvPr id="19" name="Hub"/>
            <p:cNvSpPr/>
            <p:nvPr/>
          </p:nvSpPr>
          <p:spPr>
            <a:xfrm>
              <a:off x="2301435" y="2968033"/>
              <a:ext cx="78858" cy="78858"/>
            </a:xfrm>
            <a:prstGeom prst="ellipse">
              <a:avLst/>
            </a:prstGeom>
            <a:solidFill>
              <a:srgbClr val="9AA0A6"/>
            </a:solidFill>
            <a:ln>
              <a:noFill/>
            </a:ln>
          </p:spPr>
          <p:txBody>
            <a:bodyPr rtlCol="0" anchor="ctr"/>
            <a:lstStyle/>
            <a:p>
              <a:pPr algn="ctr"/>
              <a:endParaRPr/>
            </a:p>
          </p:txBody>
        </p:sp>
        <p:sp>
          <p:nvSpPr>
            <p:cNvPr id="20" name="Wheel"/>
            <p:cNvSpPr/>
            <p:nvPr/>
          </p:nvSpPr>
          <p:spPr>
            <a:xfrm>
              <a:off x="2712110" y="2866644"/>
              <a:ext cx="281635" cy="281635"/>
            </a:xfrm>
            <a:prstGeom prst="ellipse">
              <a:avLst/>
            </a:prstGeom>
            <a:solidFill>
              <a:srgbClr val="1B1D21"/>
            </a:solidFill>
            <a:ln w="19050">
              <a:solidFill>
                <a:srgbClr val="9AA0A6"/>
              </a:solidFill>
            </a:ln>
          </p:spPr>
          <p:txBody>
            <a:bodyPr rtlCol="0" anchor="ctr"/>
            <a:lstStyle/>
            <a:p>
              <a:pPr algn="ctr"/>
              <a:endParaRPr/>
            </a:p>
          </p:txBody>
        </p:sp>
        <p:sp>
          <p:nvSpPr>
            <p:cNvPr id="21" name="Hub"/>
            <p:cNvSpPr/>
            <p:nvPr/>
          </p:nvSpPr>
          <p:spPr>
            <a:xfrm>
              <a:off x="2813499" y="2968033"/>
              <a:ext cx="78858" cy="78858"/>
            </a:xfrm>
            <a:prstGeom prst="ellipse">
              <a:avLst/>
            </a:prstGeom>
            <a:solidFill>
              <a:srgbClr val="9AA0A6"/>
            </a:solidFill>
            <a:ln>
              <a:noFill/>
            </a:ln>
          </p:spPr>
          <p:txBody>
            <a:bodyPr rtlCol="0" anchor="ctr"/>
            <a:lstStyle/>
            <a:p>
              <a:pPr algn="ctr"/>
              <a:endParaRPr/>
            </a:p>
          </p:txBody>
        </p:sp>
        <p:cxnSp>
          <p:nvCxnSpPr>
            <p:cNvPr id="22" name="Coupling rod"/>
            <p:cNvCxnSpPr/>
            <p:nvPr/>
          </p:nvCxnSpPr>
          <p:spPr>
            <a:xfrm>
              <a:off x="1828800" y="3007462"/>
              <a:ext cx="1024128" cy="0"/>
            </a:xfrm>
            <a:prstGeom prst="line">
              <a:avLst/>
            </a:prstGeom>
            <a:ln w="25400">
              <a:solidFill>
                <a:srgbClr val="9AA0A6"/>
              </a:solidFill>
            </a:ln>
          </p:spPr>
        </p:cxnSp>
        <p:sp>
          <p:nvSpPr>
            <p:cNvPr id="23" name="Rail"/>
            <p:cNvSpPr/>
            <p:nvPr/>
          </p:nvSpPr>
          <p:spPr>
            <a:xfrm>
              <a:off x="777240" y="3172968"/>
              <a:ext cx="3063240" cy="36576"/>
            </a:xfrm>
            <a:prstGeom prst="rect">
              <a:avLst/>
            </a:prstGeom>
            <a:solidFill>
              <a:srgbClr val="4A515B"/>
            </a:solidFill>
            <a:ln>
              <a:noFill/>
            </a:ln>
          </p:spPr>
          <p:txBody>
            <a:bodyPr rtlCol="0" anchor="ctr"/>
            <a:lstStyle/>
            <a:p>
              <a:pPr algn="ctr"/>
              <a:endParaRPr/>
            </a:p>
          </p:txBody>
        </p:sp>
        <p:sp>
          <p:nvSpPr>
            <p:cNvPr id="24" name="Card text"/>
            <p:cNvSpPr txBox="1"/>
            <p:nvPr/>
          </p:nvSpPr>
          <p:spPr>
            <a:xfrm>
              <a:off x="777240" y="3429000"/>
              <a:ext cx="3063240" cy="914400"/>
            </a:xfrm>
            <a:prstGeom prst="rect">
              <a:avLst/>
            </a:prstGeom>
            <a:noFill/>
          </p:spPr>
          <p:txBody>
            <a:bodyPr wrap="square" lIns="0" tIns="0" rIns="0" bIns="0" anchor="t">
              <a:noAutofit/>
            </a:bodyPr>
            <a:lstStyle/>
            <a:p>
              <a:pPr algn="l">
                <a:spcBef>
                  <a:spcPts val="0"/>
                </a:spcBef>
                <a:spcAft>
                  <a:spcPts val="0"/>
                </a:spcAft>
              </a:pPr>
              <a:r>
                <a:rPr lang="en-GB" sz="1800" b="0" i="0">
                  <a:solidFill>
                    <a:srgbClr val="F2F2F2"/>
                  </a:solidFill>
                  <a:latin typeface="Arial"/>
                </a:rPr>
                <a:t>A few wagons, confidently; struggles on hills</a:t>
              </a:r>
            </a:p>
          </p:txBody>
        </p:sp>
      </p:grpSp>
      <p:grpSp>
        <p:nvGrpSpPr>
          <p:cNvPr id="25" name="Card: Medium" descr="Medium engine: Speed and range; burns more."/>
          <p:cNvGrpSpPr/>
          <p:nvPr/>
        </p:nvGrpSpPr>
        <p:grpSpPr>
          <a:xfrm>
            <a:off x="4334256" y="1371600"/>
            <a:ext cx="3520440" cy="3063240"/>
            <a:chOff x="4334256" y="1371600"/>
            <a:chExt cx="3520440" cy="3063240"/>
          </a:xfrm>
        </p:grpSpPr>
        <p:sp>
          <p:nvSpPr>
            <p:cNvPr id="26" name="Card panel"/>
            <p:cNvSpPr/>
            <p:nvPr/>
          </p:nvSpPr>
          <p:spPr>
            <a:xfrm>
              <a:off x="4334256" y="1371600"/>
              <a:ext cx="3520440" cy="3063240"/>
            </a:xfrm>
            <a:prstGeom prst="roundRect">
              <a:avLst>
                <a:gd name="adj" fmla="val 2388"/>
              </a:avLst>
            </a:prstGeom>
            <a:solidFill>
              <a:srgbClr val="2B2F36"/>
            </a:solidFill>
            <a:ln>
              <a:noFill/>
            </a:ln>
          </p:spPr>
          <p:txBody>
            <a:bodyPr rtlCol="0" anchor="ctr"/>
            <a:lstStyle/>
            <a:p>
              <a:pPr algn="ctr"/>
              <a:endParaRPr/>
            </a:p>
          </p:txBody>
        </p:sp>
        <p:sp>
          <p:nvSpPr>
            <p:cNvPr id="27" name="Card title"/>
            <p:cNvSpPr txBox="1"/>
            <p:nvPr/>
          </p:nvSpPr>
          <p:spPr>
            <a:xfrm>
              <a:off x="4562856" y="1481328"/>
              <a:ext cx="3063240" cy="457200"/>
            </a:xfrm>
            <a:prstGeom prst="rect">
              <a:avLst/>
            </a:prstGeom>
            <a:noFill/>
          </p:spPr>
          <p:txBody>
            <a:bodyPr wrap="square" lIns="0" tIns="0" rIns="0" bIns="0" anchor="ctr">
              <a:noAutofit/>
            </a:bodyPr>
            <a:lstStyle/>
            <a:p>
              <a:pPr algn="l">
                <a:spcBef>
                  <a:spcPts val="0"/>
                </a:spcBef>
                <a:spcAft>
                  <a:spcPts val="0"/>
                </a:spcAft>
              </a:pPr>
              <a:r>
                <a:rPr lang="en-GB" sz="2200" b="1" i="0">
                  <a:solidFill>
                    <a:srgbClr val="F28C28"/>
                  </a:solidFill>
                  <a:latin typeface="Arial"/>
                </a:rPr>
                <a:t>Medium</a:t>
              </a:r>
            </a:p>
          </p:txBody>
        </p:sp>
        <p:sp>
          <p:nvSpPr>
            <p:cNvPr id="28" name="Tender"/>
            <p:cNvSpPr/>
            <p:nvPr/>
          </p:nvSpPr>
          <p:spPr>
            <a:xfrm>
              <a:off x="4668012" y="2455713"/>
              <a:ext cx="927202" cy="427939"/>
            </a:xfrm>
            <a:prstGeom prst="rect">
              <a:avLst/>
            </a:prstGeom>
            <a:solidFill>
              <a:srgbClr val="343A43"/>
            </a:solidFill>
            <a:ln w="12700">
              <a:solidFill>
                <a:srgbClr val="9AA0A6"/>
              </a:solidFill>
            </a:ln>
          </p:spPr>
          <p:txBody>
            <a:bodyPr rtlCol="0" anchor="ctr"/>
            <a:lstStyle/>
            <a:p>
              <a:pPr algn="ctr"/>
              <a:endParaRPr/>
            </a:p>
          </p:txBody>
        </p:sp>
        <p:sp>
          <p:nvSpPr>
            <p:cNvPr id="29" name="Coal"/>
            <p:cNvSpPr/>
            <p:nvPr/>
          </p:nvSpPr>
          <p:spPr>
            <a:xfrm>
              <a:off x="4739335" y="2298802"/>
              <a:ext cx="784555" cy="156911"/>
            </a:xfrm>
            <a:custGeom>
              <a:avLst/>
              <a:gdLst/>
              <a:ahLst/>
              <a:cxnLst/>
              <a:rect l="l" t="t" r="r" b="b"/>
              <a:pathLst>
                <a:path w="784555" h="156911">
                  <a:moveTo>
                    <a:pt x="0" y="156911"/>
                  </a:moveTo>
                  <a:lnTo>
                    <a:pt x="142647" y="42794"/>
                  </a:lnTo>
                  <a:lnTo>
                    <a:pt x="356616" y="0"/>
                  </a:lnTo>
                  <a:lnTo>
                    <a:pt x="606247" y="49926"/>
                  </a:lnTo>
                  <a:lnTo>
                    <a:pt x="784555" y="156911"/>
                  </a:lnTo>
                  <a:close/>
                </a:path>
              </a:pathLst>
            </a:custGeom>
            <a:solidFill>
              <a:srgbClr val="1B1D21"/>
            </a:solidFill>
            <a:ln>
              <a:noFill/>
            </a:ln>
          </p:spPr>
          <p:txBody>
            <a:bodyPr rtlCol="0" anchor="ctr"/>
            <a:lstStyle/>
            <a:p>
              <a:pPr algn="ctr"/>
              <a:endParaRPr/>
            </a:p>
          </p:txBody>
        </p:sp>
        <p:sp>
          <p:nvSpPr>
            <p:cNvPr id="30" name="Coupling"/>
            <p:cNvSpPr/>
            <p:nvPr/>
          </p:nvSpPr>
          <p:spPr>
            <a:xfrm>
              <a:off x="5595214" y="2783799"/>
              <a:ext cx="71323" cy="35662"/>
            </a:xfrm>
            <a:prstGeom prst="rect">
              <a:avLst/>
            </a:prstGeom>
            <a:solidFill>
              <a:srgbClr val="9AA0A6"/>
            </a:solidFill>
            <a:ln>
              <a:noFill/>
            </a:ln>
          </p:spPr>
          <p:txBody>
            <a:bodyPr rtlCol="0" anchor="ctr"/>
            <a:lstStyle/>
            <a:p>
              <a:pPr algn="ctr"/>
              <a:endParaRPr/>
            </a:p>
          </p:txBody>
        </p:sp>
        <p:sp>
          <p:nvSpPr>
            <p:cNvPr id="31" name="Wheel"/>
            <p:cNvSpPr/>
            <p:nvPr/>
          </p:nvSpPr>
          <p:spPr>
            <a:xfrm>
              <a:off x="4739335" y="2847990"/>
              <a:ext cx="285293" cy="285293"/>
            </a:xfrm>
            <a:prstGeom prst="ellipse">
              <a:avLst/>
            </a:prstGeom>
            <a:solidFill>
              <a:srgbClr val="1B1D21"/>
            </a:solidFill>
            <a:ln w="19050">
              <a:solidFill>
                <a:srgbClr val="9AA0A6"/>
              </a:solidFill>
            </a:ln>
          </p:spPr>
          <p:txBody>
            <a:bodyPr rtlCol="0" anchor="ctr"/>
            <a:lstStyle/>
            <a:p>
              <a:pPr algn="ctr"/>
              <a:endParaRPr/>
            </a:p>
          </p:txBody>
        </p:sp>
        <p:sp>
          <p:nvSpPr>
            <p:cNvPr id="32" name="Hub"/>
            <p:cNvSpPr/>
            <p:nvPr/>
          </p:nvSpPr>
          <p:spPr>
            <a:xfrm>
              <a:off x="4842041" y="2950696"/>
              <a:ext cx="79882" cy="79882"/>
            </a:xfrm>
            <a:prstGeom prst="ellipse">
              <a:avLst/>
            </a:prstGeom>
            <a:solidFill>
              <a:srgbClr val="9AA0A6"/>
            </a:solidFill>
            <a:ln>
              <a:noFill/>
            </a:ln>
          </p:spPr>
          <p:txBody>
            <a:bodyPr rtlCol="0" anchor="ctr"/>
            <a:lstStyle/>
            <a:p>
              <a:pPr algn="ctr"/>
              <a:endParaRPr/>
            </a:p>
          </p:txBody>
        </p:sp>
        <p:sp>
          <p:nvSpPr>
            <p:cNvPr id="33" name="Wheel"/>
            <p:cNvSpPr/>
            <p:nvPr/>
          </p:nvSpPr>
          <p:spPr>
            <a:xfrm>
              <a:off x="5238598" y="2847990"/>
              <a:ext cx="285293" cy="285293"/>
            </a:xfrm>
            <a:prstGeom prst="ellipse">
              <a:avLst/>
            </a:prstGeom>
            <a:solidFill>
              <a:srgbClr val="1B1D21"/>
            </a:solidFill>
            <a:ln w="19050">
              <a:solidFill>
                <a:srgbClr val="9AA0A6"/>
              </a:solidFill>
            </a:ln>
          </p:spPr>
          <p:txBody>
            <a:bodyPr rtlCol="0" anchor="ctr"/>
            <a:lstStyle/>
            <a:p>
              <a:pPr algn="ctr"/>
              <a:endParaRPr/>
            </a:p>
          </p:txBody>
        </p:sp>
        <p:sp>
          <p:nvSpPr>
            <p:cNvPr id="34" name="Hub"/>
            <p:cNvSpPr/>
            <p:nvPr/>
          </p:nvSpPr>
          <p:spPr>
            <a:xfrm>
              <a:off x="5341303" y="2950696"/>
              <a:ext cx="79882" cy="79882"/>
            </a:xfrm>
            <a:prstGeom prst="ellipse">
              <a:avLst/>
            </a:prstGeom>
            <a:solidFill>
              <a:srgbClr val="9AA0A6"/>
            </a:solidFill>
            <a:ln>
              <a:noFill/>
            </a:ln>
          </p:spPr>
          <p:txBody>
            <a:bodyPr rtlCol="0" anchor="ctr"/>
            <a:lstStyle/>
            <a:p>
              <a:pPr algn="ctr"/>
              <a:endParaRPr/>
            </a:p>
          </p:txBody>
        </p:sp>
        <p:sp>
          <p:nvSpPr>
            <p:cNvPr id="35" name="Footplate"/>
            <p:cNvSpPr/>
            <p:nvPr/>
          </p:nvSpPr>
          <p:spPr>
            <a:xfrm>
              <a:off x="5666537" y="2819461"/>
              <a:ext cx="1854403" cy="71323"/>
            </a:xfrm>
            <a:prstGeom prst="rect">
              <a:avLst/>
            </a:prstGeom>
            <a:solidFill>
              <a:srgbClr val="1B1D21"/>
            </a:solidFill>
            <a:ln>
              <a:noFill/>
            </a:ln>
          </p:spPr>
          <p:txBody>
            <a:bodyPr rtlCol="0" anchor="ctr"/>
            <a:lstStyle/>
            <a:p>
              <a:pPr algn="ctr"/>
              <a:endParaRPr/>
            </a:p>
          </p:txBody>
        </p:sp>
        <p:sp>
          <p:nvSpPr>
            <p:cNvPr id="36" name="Boiler"/>
            <p:cNvSpPr/>
            <p:nvPr/>
          </p:nvSpPr>
          <p:spPr>
            <a:xfrm>
              <a:off x="6308446" y="2427183"/>
              <a:ext cx="1141171" cy="413675"/>
            </a:xfrm>
            <a:prstGeom prst="roundRect">
              <a:avLst>
                <a:gd name="adj" fmla="val 25862"/>
              </a:avLst>
            </a:prstGeom>
            <a:solidFill>
              <a:srgbClr val="F28C28"/>
            </a:solidFill>
            <a:ln>
              <a:noFill/>
            </a:ln>
          </p:spPr>
          <p:txBody>
            <a:bodyPr rtlCol="0" anchor="ctr"/>
            <a:lstStyle/>
            <a:p>
              <a:pPr algn="ctr"/>
              <a:endParaRPr/>
            </a:p>
          </p:txBody>
        </p:sp>
        <p:sp>
          <p:nvSpPr>
            <p:cNvPr id="37" name="Smokebox"/>
            <p:cNvSpPr/>
            <p:nvPr/>
          </p:nvSpPr>
          <p:spPr>
            <a:xfrm>
              <a:off x="7364029" y="2427183"/>
              <a:ext cx="99852" cy="413675"/>
            </a:xfrm>
            <a:prstGeom prst="rect">
              <a:avLst/>
            </a:prstGeom>
            <a:solidFill>
              <a:srgbClr val="1B1D21"/>
            </a:solidFill>
            <a:ln>
              <a:noFill/>
            </a:ln>
          </p:spPr>
          <p:txBody>
            <a:bodyPr rtlCol="0" anchor="ctr"/>
            <a:lstStyle/>
            <a:p>
              <a:pPr algn="ctr"/>
              <a:endParaRPr/>
            </a:p>
          </p:txBody>
        </p:sp>
        <p:sp>
          <p:nvSpPr>
            <p:cNvPr id="38" name="Chimney"/>
            <p:cNvSpPr/>
            <p:nvPr/>
          </p:nvSpPr>
          <p:spPr>
            <a:xfrm>
              <a:off x="7235647" y="2241743"/>
              <a:ext cx="92720" cy="199705"/>
            </a:xfrm>
            <a:prstGeom prst="rect">
              <a:avLst/>
            </a:prstGeom>
            <a:solidFill>
              <a:srgbClr val="1B1D21"/>
            </a:solidFill>
            <a:ln>
              <a:noFill/>
            </a:ln>
          </p:spPr>
          <p:txBody>
            <a:bodyPr rtlCol="0" anchor="ctr"/>
            <a:lstStyle/>
            <a:p>
              <a:pPr algn="ctr"/>
              <a:endParaRPr/>
            </a:p>
          </p:txBody>
        </p:sp>
        <p:sp>
          <p:nvSpPr>
            <p:cNvPr id="39" name="Chimney top"/>
            <p:cNvSpPr/>
            <p:nvPr/>
          </p:nvSpPr>
          <p:spPr>
            <a:xfrm>
              <a:off x="7199986" y="2213214"/>
              <a:ext cx="164043" cy="42794"/>
            </a:xfrm>
            <a:prstGeom prst="rect">
              <a:avLst/>
            </a:prstGeom>
            <a:solidFill>
              <a:srgbClr val="1B1D21"/>
            </a:solidFill>
            <a:ln>
              <a:noFill/>
            </a:ln>
          </p:spPr>
          <p:txBody>
            <a:bodyPr rtlCol="0" anchor="ctr"/>
            <a:lstStyle/>
            <a:p>
              <a:pPr algn="ctr"/>
              <a:endParaRPr/>
            </a:p>
          </p:txBody>
        </p:sp>
        <p:sp>
          <p:nvSpPr>
            <p:cNvPr id="40" name="Dome"/>
            <p:cNvSpPr/>
            <p:nvPr/>
          </p:nvSpPr>
          <p:spPr>
            <a:xfrm>
              <a:off x="6736385" y="2327331"/>
              <a:ext cx="242499" cy="213970"/>
            </a:xfrm>
            <a:prstGeom prst="chord">
              <a:avLst/>
            </a:prstGeom>
            <a:solidFill>
              <a:srgbClr val="C46E14"/>
            </a:solidFill>
            <a:ln>
              <a:noFill/>
            </a:ln>
          </p:spPr>
          <p:txBody>
            <a:bodyPr rtlCol="0" anchor="ctr"/>
            <a:lstStyle/>
            <a:p>
              <a:pPr algn="ctr"/>
              <a:endParaRPr/>
            </a:p>
          </p:txBody>
        </p:sp>
        <p:sp>
          <p:nvSpPr>
            <p:cNvPr id="41" name="Cab"/>
            <p:cNvSpPr/>
            <p:nvPr/>
          </p:nvSpPr>
          <p:spPr>
            <a:xfrm>
              <a:off x="5723595" y="2284537"/>
              <a:ext cx="641909" cy="556321"/>
            </a:xfrm>
            <a:prstGeom prst="rect">
              <a:avLst/>
            </a:prstGeom>
            <a:solidFill>
              <a:srgbClr val="C46E14"/>
            </a:solidFill>
            <a:ln>
              <a:noFill/>
            </a:ln>
          </p:spPr>
          <p:txBody>
            <a:bodyPr rtlCol="0" anchor="ctr"/>
            <a:lstStyle/>
            <a:p>
              <a:pPr algn="ctr"/>
              <a:endParaRPr/>
            </a:p>
          </p:txBody>
        </p:sp>
        <p:sp>
          <p:nvSpPr>
            <p:cNvPr id="42" name="Cab roof"/>
            <p:cNvSpPr/>
            <p:nvPr/>
          </p:nvSpPr>
          <p:spPr>
            <a:xfrm>
              <a:off x="5680801" y="2227478"/>
              <a:ext cx="727497" cy="64191"/>
            </a:xfrm>
            <a:prstGeom prst="rect">
              <a:avLst/>
            </a:prstGeom>
            <a:solidFill>
              <a:srgbClr val="1B1D21"/>
            </a:solidFill>
            <a:ln>
              <a:noFill/>
            </a:ln>
          </p:spPr>
          <p:txBody>
            <a:bodyPr rtlCol="0" anchor="ctr"/>
            <a:lstStyle/>
            <a:p>
              <a:pPr algn="ctr"/>
              <a:endParaRPr/>
            </a:p>
          </p:txBody>
        </p:sp>
        <p:sp>
          <p:nvSpPr>
            <p:cNvPr id="43" name="Cab window"/>
            <p:cNvSpPr/>
            <p:nvPr/>
          </p:nvSpPr>
          <p:spPr>
            <a:xfrm>
              <a:off x="5880506" y="2384389"/>
              <a:ext cx="285293" cy="199705"/>
            </a:xfrm>
            <a:prstGeom prst="rect">
              <a:avLst/>
            </a:prstGeom>
            <a:solidFill>
              <a:srgbClr val="1B1D21"/>
            </a:solidFill>
            <a:ln>
              <a:noFill/>
            </a:ln>
          </p:spPr>
          <p:txBody>
            <a:bodyPr rtlCol="0" anchor="ctr"/>
            <a:lstStyle/>
            <a:p>
              <a:pPr algn="ctr"/>
              <a:endParaRPr/>
            </a:p>
          </p:txBody>
        </p:sp>
        <p:sp>
          <p:nvSpPr>
            <p:cNvPr id="44" name="Wheel"/>
            <p:cNvSpPr/>
            <p:nvPr/>
          </p:nvSpPr>
          <p:spPr>
            <a:xfrm>
              <a:off x="5901903" y="2833726"/>
              <a:ext cx="313822" cy="313822"/>
            </a:xfrm>
            <a:prstGeom prst="ellipse">
              <a:avLst/>
            </a:prstGeom>
            <a:solidFill>
              <a:srgbClr val="1B1D21"/>
            </a:solidFill>
            <a:ln w="19050">
              <a:solidFill>
                <a:srgbClr val="9AA0A6"/>
              </a:solidFill>
            </a:ln>
          </p:spPr>
          <p:txBody>
            <a:bodyPr rtlCol="0" anchor="ctr"/>
            <a:lstStyle/>
            <a:p>
              <a:pPr algn="ctr"/>
              <a:endParaRPr/>
            </a:p>
          </p:txBody>
        </p:sp>
        <p:sp>
          <p:nvSpPr>
            <p:cNvPr id="45" name="Hub"/>
            <p:cNvSpPr/>
            <p:nvPr/>
          </p:nvSpPr>
          <p:spPr>
            <a:xfrm>
              <a:off x="6014879" y="2946702"/>
              <a:ext cx="87870" cy="87870"/>
            </a:xfrm>
            <a:prstGeom prst="ellipse">
              <a:avLst/>
            </a:prstGeom>
            <a:solidFill>
              <a:srgbClr val="9AA0A6"/>
            </a:solidFill>
            <a:ln>
              <a:noFill/>
            </a:ln>
          </p:spPr>
          <p:txBody>
            <a:bodyPr rtlCol="0" anchor="ctr"/>
            <a:lstStyle/>
            <a:p>
              <a:pPr algn="ctr"/>
              <a:endParaRPr/>
            </a:p>
          </p:txBody>
        </p:sp>
        <p:sp>
          <p:nvSpPr>
            <p:cNvPr id="46" name="Wheel"/>
            <p:cNvSpPr/>
            <p:nvPr/>
          </p:nvSpPr>
          <p:spPr>
            <a:xfrm>
              <a:off x="6472489" y="2833726"/>
              <a:ext cx="313822" cy="313822"/>
            </a:xfrm>
            <a:prstGeom prst="ellipse">
              <a:avLst/>
            </a:prstGeom>
            <a:solidFill>
              <a:srgbClr val="1B1D21"/>
            </a:solidFill>
            <a:ln w="19050">
              <a:solidFill>
                <a:srgbClr val="9AA0A6"/>
              </a:solidFill>
            </a:ln>
          </p:spPr>
          <p:txBody>
            <a:bodyPr rtlCol="0" anchor="ctr"/>
            <a:lstStyle/>
            <a:p>
              <a:pPr algn="ctr"/>
              <a:endParaRPr/>
            </a:p>
          </p:txBody>
        </p:sp>
        <p:sp>
          <p:nvSpPr>
            <p:cNvPr id="47" name="Hub"/>
            <p:cNvSpPr/>
            <p:nvPr/>
          </p:nvSpPr>
          <p:spPr>
            <a:xfrm>
              <a:off x="6585465" y="2946702"/>
              <a:ext cx="87870" cy="87870"/>
            </a:xfrm>
            <a:prstGeom prst="ellipse">
              <a:avLst/>
            </a:prstGeom>
            <a:solidFill>
              <a:srgbClr val="9AA0A6"/>
            </a:solidFill>
            <a:ln>
              <a:noFill/>
            </a:ln>
          </p:spPr>
          <p:txBody>
            <a:bodyPr rtlCol="0" anchor="ctr"/>
            <a:lstStyle/>
            <a:p>
              <a:pPr algn="ctr"/>
              <a:endParaRPr/>
            </a:p>
          </p:txBody>
        </p:sp>
        <p:sp>
          <p:nvSpPr>
            <p:cNvPr id="48" name="Wheel"/>
            <p:cNvSpPr/>
            <p:nvPr/>
          </p:nvSpPr>
          <p:spPr>
            <a:xfrm>
              <a:off x="7043075" y="2833726"/>
              <a:ext cx="313822" cy="313822"/>
            </a:xfrm>
            <a:prstGeom prst="ellipse">
              <a:avLst/>
            </a:prstGeom>
            <a:solidFill>
              <a:srgbClr val="1B1D21"/>
            </a:solidFill>
            <a:ln w="19050">
              <a:solidFill>
                <a:srgbClr val="9AA0A6"/>
              </a:solidFill>
            </a:ln>
          </p:spPr>
          <p:txBody>
            <a:bodyPr rtlCol="0" anchor="ctr"/>
            <a:lstStyle/>
            <a:p>
              <a:pPr algn="ctr"/>
              <a:endParaRPr/>
            </a:p>
          </p:txBody>
        </p:sp>
        <p:sp>
          <p:nvSpPr>
            <p:cNvPr id="49" name="Hub"/>
            <p:cNvSpPr/>
            <p:nvPr/>
          </p:nvSpPr>
          <p:spPr>
            <a:xfrm>
              <a:off x="7156051" y="2946702"/>
              <a:ext cx="87870" cy="87870"/>
            </a:xfrm>
            <a:prstGeom prst="ellipse">
              <a:avLst/>
            </a:prstGeom>
            <a:solidFill>
              <a:srgbClr val="9AA0A6"/>
            </a:solidFill>
            <a:ln>
              <a:noFill/>
            </a:ln>
          </p:spPr>
          <p:txBody>
            <a:bodyPr rtlCol="0" anchor="ctr"/>
            <a:lstStyle/>
            <a:p>
              <a:pPr algn="ctr"/>
              <a:endParaRPr/>
            </a:p>
          </p:txBody>
        </p:sp>
        <p:cxnSp>
          <p:nvCxnSpPr>
            <p:cNvPr id="50" name="Coupling rod"/>
            <p:cNvCxnSpPr/>
            <p:nvPr/>
          </p:nvCxnSpPr>
          <p:spPr>
            <a:xfrm>
              <a:off x="6058814" y="2990637"/>
              <a:ext cx="1141172" cy="0"/>
            </a:xfrm>
            <a:prstGeom prst="line">
              <a:avLst/>
            </a:prstGeom>
            <a:ln w="25400">
              <a:solidFill>
                <a:srgbClr val="9AA0A6"/>
              </a:solidFill>
            </a:ln>
          </p:spPr>
        </p:cxnSp>
        <p:sp>
          <p:nvSpPr>
            <p:cNvPr id="51" name="Rail"/>
            <p:cNvSpPr/>
            <p:nvPr/>
          </p:nvSpPr>
          <p:spPr>
            <a:xfrm>
              <a:off x="4562856" y="3172968"/>
              <a:ext cx="3063240" cy="36576"/>
            </a:xfrm>
            <a:prstGeom prst="rect">
              <a:avLst/>
            </a:prstGeom>
            <a:solidFill>
              <a:srgbClr val="4A515B"/>
            </a:solidFill>
            <a:ln>
              <a:noFill/>
            </a:ln>
          </p:spPr>
          <p:txBody>
            <a:bodyPr rtlCol="0" anchor="ctr"/>
            <a:lstStyle/>
            <a:p>
              <a:pPr algn="ctr"/>
              <a:endParaRPr/>
            </a:p>
          </p:txBody>
        </p:sp>
        <p:sp>
          <p:nvSpPr>
            <p:cNvPr id="52" name="Card text"/>
            <p:cNvSpPr txBox="1"/>
            <p:nvPr/>
          </p:nvSpPr>
          <p:spPr>
            <a:xfrm>
              <a:off x="4562856" y="3429000"/>
              <a:ext cx="3063240" cy="914400"/>
            </a:xfrm>
            <a:prstGeom prst="rect">
              <a:avLst/>
            </a:prstGeom>
            <a:noFill/>
          </p:spPr>
          <p:txBody>
            <a:bodyPr wrap="square" lIns="0" tIns="0" rIns="0" bIns="0" anchor="t">
              <a:noAutofit/>
            </a:bodyPr>
            <a:lstStyle/>
            <a:p>
              <a:pPr algn="l">
                <a:spcBef>
                  <a:spcPts val="0"/>
                </a:spcBef>
                <a:spcAft>
                  <a:spcPts val="0"/>
                </a:spcAft>
              </a:pPr>
              <a:r>
                <a:rPr lang="en-GB" sz="1800" b="0" i="0">
                  <a:solidFill>
                    <a:srgbClr val="F2F2F2"/>
                  </a:solidFill>
                  <a:latin typeface="Arial"/>
                </a:rPr>
                <a:t>Speed and range; burns more</a:t>
              </a:r>
            </a:p>
          </p:txBody>
        </p:sp>
      </p:grpSp>
      <p:grpSp>
        <p:nvGrpSpPr>
          <p:cNvPr id="53" name="Card: Large" descr="Large engine: Heavy hauling; slow to speed up; thirsty."/>
          <p:cNvGrpSpPr/>
          <p:nvPr/>
        </p:nvGrpSpPr>
        <p:grpSpPr>
          <a:xfrm>
            <a:off x="8119872" y="1371600"/>
            <a:ext cx="3520440" cy="3063240"/>
            <a:chOff x="8119872" y="1371600"/>
            <a:chExt cx="3520440" cy="3063240"/>
          </a:xfrm>
        </p:grpSpPr>
        <p:sp>
          <p:nvSpPr>
            <p:cNvPr id="54" name="Card panel"/>
            <p:cNvSpPr/>
            <p:nvPr/>
          </p:nvSpPr>
          <p:spPr>
            <a:xfrm>
              <a:off x="8119872" y="1371600"/>
              <a:ext cx="3520440" cy="3063240"/>
            </a:xfrm>
            <a:prstGeom prst="roundRect">
              <a:avLst>
                <a:gd name="adj" fmla="val 2388"/>
              </a:avLst>
            </a:prstGeom>
            <a:solidFill>
              <a:srgbClr val="2B2F36"/>
            </a:solidFill>
            <a:ln>
              <a:noFill/>
            </a:ln>
          </p:spPr>
          <p:txBody>
            <a:bodyPr rtlCol="0" anchor="ctr"/>
            <a:lstStyle/>
            <a:p>
              <a:pPr algn="ctr"/>
              <a:endParaRPr/>
            </a:p>
          </p:txBody>
        </p:sp>
        <p:sp>
          <p:nvSpPr>
            <p:cNvPr id="55" name="Card title"/>
            <p:cNvSpPr txBox="1"/>
            <p:nvPr/>
          </p:nvSpPr>
          <p:spPr>
            <a:xfrm>
              <a:off x="8348472" y="1481328"/>
              <a:ext cx="3063240" cy="457200"/>
            </a:xfrm>
            <a:prstGeom prst="rect">
              <a:avLst/>
            </a:prstGeom>
            <a:noFill/>
          </p:spPr>
          <p:txBody>
            <a:bodyPr wrap="square" lIns="0" tIns="0" rIns="0" bIns="0" anchor="ctr">
              <a:noAutofit/>
            </a:bodyPr>
            <a:lstStyle/>
            <a:p>
              <a:pPr algn="l">
                <a:spcBef>
                  <a:spcPts val="0"/>
                </a:spcBef>
                <a:spcAft>
                  <a:spcPts val="0"/>
                </a:spcAft>
              </a:pPr>
              <a:r>
                <a:rPr lang="en-GB" sz="2200" b="1" i="0">
                  <a:solidFill>
                    <a:srgbClr val="F28C28"/>
                  </a:solidFill>
                  <a:latin typeface="Arial"/>
                </a:rPr>
                <a:t>Large</a:t>
              </a:r>
            </a:p>
          </p:txBody>
        </p:sp>
        <p:sp>
          <p:nvSpPr>
            <p:cNvPr id="56" name="Tender"/>
            <p:cNvSpPr/>
            <p:nvPr/>
          </p:nvSpPr>
          <p:spPr>
            <a:xfrm>
              <a:off x="8325612" y="2392985"/>
              <a:ext cx="1010412" cy="466344"/>
            </a:xfrm>
            <a:prstGeom prst="rect">
              <a:avLst/>
            </a:prstGeom>
            <a:solidFill>
              <a:srgbClr val="343A43"/>
            </a:solidFill>
            <a:ln w="12700">
              <a:solidFill>
                <a:srgbClr val="9AA0A6"/>
              </a:solidFill>
            </a:ln>
          </p:spPr>
          <p:txBody>
            <a:bodyPr rtlCol="0" anchor="ctr"/>
            <a:lstStyle/>
            <a:p>
              <a:pPr algn="ctr"/>
              <a:endParaRPr/>
            </a:p>
          </p:txBody>
        </p:sp>
        <p:sp>
          <p:nvSpPr>
            <p:cNvPr id="57" name="Coal"/>
            <p:cNvSpPr/>
            <p:nvPr/>
          </p:nvSpPr>
          <p:spPr>
            <a:xfrm>
              <a:off x="8403336" y="2221992"/>
              <a:ext cx="854964" cy="170993"/>
            </a:xfrm>
            <a:custGeom>
              <a:avLst/>
              <a:gdLst/>
              <a:ahLst/>
              <a:cxnLst/>
              <a:rect l="l" t="t" r="r" b="b"/>
              <a:pathLst>
                <a:path w="854964" h="170993">
                  <a:moveTo>
                    <a:pt x="0" y="170993"/>
                  </a:moveTo>
                  <a:lnTo>
                    <a:pt x="155448" y="46634"/>
                  </a:lnTo>
                  <a:lnTo>
                    <a:pt x="388620" y="0"/>
                  </a:lnTo>
                  <a:lnTo>
                    <a:pt x="660654" y="54407"/>
                  </a:lnTo>
                  <a:lnTo>
                    <a:pt x="854964" y="170993"/>
                  </a:lnTo>
                  <a:close/>
                </a:path>
              </a:pathLst>
            </a:custGeom>
            <a:solidFill>
              <a:srgbClr val="1B1D21"/>
            </a:solidFill>
            <a:ln>
              <a:noFill/>
            </a:ln>
          </p:spPr>
          <p:txBody>
            <a:bodyPr rtlCol="0" anchor="ctr"/>
            <a:lstStyle/>
            <a:p>
              <a:pPr algn="ctr"/>
              <a:endParaRPr/>
            </a:p>
          </p:txBody>
        </p:sp>
        <p:sp>
          <p:nvSpPr>
            <p:cNvPr id="58" name="Coupling"/>
            <p:cNvSpPr/>
            <p:nvPr/>
          </p:nvSpPr>
          <p:spPr>
            <a:xfrm>
              <a:off x="9336024" y="2750515"/>
              <a:ext cx="77724" cy="38862"/>
            </a:xfrm>
            <a:prstGeom prst="rect">
              <a:avLst/>
            </a:prstGeom>
            <a:solidFill>
              <a:srgbClr val="9AA0A6"/>
            </a:solidFill>
            <a:ln>
              <a:noFill/>
            </a:ln>
          </p:spPr>
          <p:txBody>
            <a:bodyPr rtlCol="0" anchor="ctr"/>
            <a:lstStyle/>
            <a:p>
              <a:pPr algn="ctr"/>
              <a:endParaRPr/>
            </a:p>
          </p:txBody>
        </p:sp>
        <p:sp>
          <p:nvSpPr>
            <p:cNvPr id="59" name="Wheel"/>
            <p:cNvSpPr/>
            <p:nvPr/>
          </p:nvSpPr>
          <p:spPr>
            <a:xfrm>
              <a:off x="8403336" y="2820467"/>
              <a:ext cx="310896" cy="310896"/>
            </a:xfrm>
            <a:prstGeom prst="ellipse">
              <a:avLst/>
            </a:prstGeom>
            <a:solidFill>
              <a:srgbClr val="1B1D21"/>
            </a:solidFill>
            <a:ln w="19050">
              <a:solidFill>
                <a:srgbClr val="9AA0A6"/>
              </a:solidFill>
            </a:ln>
          </p:spPr>
          <p:txBody>
            <a:bodyPr rtlCol="0" anchor="ctr"/>
            <a:lstStyle/>
            <a:p>
              <a:pPr algn="ctr"/>
              <a:endParaRPr/>
            </a:p>
          </p:txBody>
        </p:sp>
        <p:sp>
          <p:nvSpPr>
            <p:cNvPr id="60" name="Hub"/>
            <p:cNvSpPr/>
            <p:nvPr/>
          </p:nvSpPr>
          <p:spPr>
            <a:xfrm>
              <a:off x="8515259" y="2932389"/>
              <a:ext cx="87051" cy="87051"/>
            </a:xfrm>
            <a:prstGeom prst="ellipse">
              <a:avLst/>
            </a:prstGeom>
            <a:solidFill>
              <a:srgbClr val="9AA0A6"/>
            </a:solidFill>
            <a:ln>
              <a:noFill/>
            </a:ln>
          </p:spPr>
          <p:txBody>
            <a:bodyPr rtlCol="0" anchor="ctr"/>
            <a:lstStyle/>
            <a:p>
              <a:pPr algn="ctr"/>
              <a:endParaRPr/>
            </a:p>
          </p:txBody>
        </p:sp>
        <p:sp>
          <p:nvSpPr>
            <p:cNvPr id="61" name="Wheel"/>
            <p:cNvSpPr/>
            <p:nvPr/>
          </p:nvSpPr>
          <p:spPr>
            <a:xfrm>
              <a:off x="8947404" y="2820467"/>
              <a:ext cx="310896" cy="310896"/>
            </a:xfrm>
            <a:prstGeom prst="ellipse">
              <a:avLst/>
            </a:prstGeom>
            <a:solidFill>
              <a:srgbClr val="1B1D21"/>
            </a:solidFill>
            <a:ln w="19050">
              <a:solidFill>
                <a:srgbClr val="9AA0A6"/>
              </a:solidFill>
            </a:ln>
          </p:spPr>
          <p:txBody>
            <a:bodyPr rtlCol="0" anchor="ctr"/>
            <a:lstStyle/>
            <a:p>
              <a:pPr algn="ctr"/>
              <a:endParaRPr/>
            </a:p>
          </p:txBody>
        </p:sp>
        <p:sp>
          <p:nvSpPr>
            <p:cNvPr id="62" name="Hub"/>
            <p:cNvSpPr/>
            <p:nvPr/>
          </p:nvSpPr>
          <p:spPr>
            <a:xfrm>
              <a:off x="9059327" y="2932389"/>
              <a:ext cx="87051" cy="87051"/>
            </a:xfrm>
            <a:prstGeom prst="ellipse">
              <a:avLst/>
            </a:prstGeom>
            <a:solidFill>
              <a:srgbClr val="9AA0A6"/>
            </a:solidFill>
            <a:ln>
              <a:noFill/>
            </a:ln>
          </p:spPr>
          <p:txBody>
            <a:bodyPr rtlCol="0" anchor="ctr"/>
            <a:lstStyle/>
            <a:p>
              <a:pPr algn="ctr"/>
              <a:endParaRPr/>
            </a:p>
          </p:txBody>
        </p:sp>
        <p:sp>
          <p:nvSpPr>
            <p:cNvPr id="63" name="Footplate"/>
            <p:cNvSpPr/>
            <p:nvPr/>
          </p:nvSpPr>
          <p:spPr>
            <a:xfrm>
              <a:off x="9413748" y="2789377"/>
              <a:ext cx="2020824" cy="77724"/>
            </a:xfrm>
            <a:prstGeom prst="rect">
              <a:avLst/>
            </a:prstGeom>
            <a:solidFill>
              <a:srgbClr val="1B1D21"/>
            </a:solidFill>
            <a:ln>
              <a:noFill/>
            </a:ln>
          </p:spPr>
          <p:txBody>
            <a:bodyPr rtlCol="0" anchor="ctr"/>
            <a:lstStyle/>
            <a:p>
              <a:pPr algn="ctr"/>
              <a:endParaRPr/>
            </a:p>
          </p:txBody>
        </p:sp>
        <p:sp>
          <p:nvSpPr>
            <p:cNvPr id="64" name="Boiler"/>
            <p:cNvSpPr/>
            <p:nvPr/>
          </p:nvSpPr>
          <p:spPr>
            <a:xfrm>
              <a:off x="10113264" y="2361895"/>
              <a:ext cx="1243584" cy="450799"/>
            </a:xfrm>
            <a:prstGeom prst="roundRect">
              <a:avLst>
                <a:gd name="adj" fmla="val 25862"/>
              </a:avLst>
            </a:prstGeom>
            <a:solidFill>
              <a:srgbClr val="F28C28"/>
            </a:solidFill>
            <a:ln>
              <a:noFill/>
            </a:ln>
          </p:spPr>
          <p:txBody>
            <a:bodyPr rtlCol="0" anchor="ctr"/>
            <a:lstStyle/>
            <a:p>
              <a:pPr algn="ctr"/>
              <a:endParaRPr/>
            </a:p>
          </p:txBody>
        </p:sp>
        <p:sp>
          <p:nvSpPr>
            <p:cNvPr id="65" name="Smokebox"/>
            <p:cNvSpPr/>
            <p:nvPr/>
          </p:nvSpPr>
          <p:spPr>
            <a:xfrm>
              <a:off x="11263579" y="2361895"/>
              <a:ext cx="108814" cy="450799"/>
            </a:xfrm>
            <a:prstGeom prst="rect">
              <a:avLst/>
            </a:prstGeom>
            <a:solidFill>
              <a:srgbClr val="1B1D21"/>
            </a:solidFill>
            <a:ln>
              <a:noFill/>
            </a:ln>
          </p:spPr>
          <p:txBody>
            <a:bodyPr rtlCol="0" anchor="ctr"/>
            <a:lstStyle/>
            <a:p>
              <a:pPr algn="ctr"/>
              <a:endParaRPr/>
            </a:p>
          </p:txBody>
        </p:sp>
        <p:sp>
          <p:nvSpPr>
            <p:cNvPr id="66" name="Chimney"/>
            <p:cNvSpPr/>
            <p:nvPr/>
          </p:nvSpPr>
          <p:spPr>
            <a:xfrm>
              <a:off x="11123676" y="2159813"/>
              <a:ext cx="101041" cy="217627"/>
            </a:xfrm>
            <a:prstGeom prst="rect">
              <a:avLst/>
            </a:prstGeom>
            <a:solidFill>
              <a:srgbClr val="1B1D21"/>
            </a:solidFill>
            <a:ln>
              <a:noFill/>
            </a:ln>
          </p:spPr>
          <p:txBody>
            <a:bodyPr rtlCol="0" anchor="ctr"/>
            <a:lstStyle/>
            <a:p>
              <a:pPr algn="ctr"/>
              <a:endParaRPr/>
            </a:p>
          </p:txBody>
        </p:sp>
        <p:sp>
          <p:nvSpPr>
            <p:cNvPr id="67" name="Chimney top"/>
            <p:cNvSpPr/>
            <p:nvPr/>
          </p:nvSpPr>
          <p:spPr>
            <a:xfrm>
              <a:off x="11084814" y="2128723"/>
              <a:ext cx="178765" cy="46634"/>
            </a:xfrm>
            <a:prstGeom prst="rect">
              <a:avLst/>
            </a:prstGeom>
            <a:solidFill>
              <a:srgbClr val="1B1D21"/>
            </a:solidFill>
            <a:ln>
              <a:noFill/>
            </a:ln>
          </p:spPr>
          <p:txBody>
            <a:bodyPr rtlCol="0" anchor="ctr"/>
            <a:lstStyle/>
            <a:p>
              <a:pPr algn="ctr"/>
              <a:endParaRPr/>
            </a:p>
          </p:txBody>
        </p:sp>
        <p:sp>
          <p:nvSpPr>
            <p:cNvPr id="68" name="Dome"/>
            <p:cNvSpPr/>
            <p:nvPr/>
          </p:nvSpPr>
          <p:spPr>
            <a:xfrm>
              <a:off x="10579608" y="2253082"/>
              <a:ext cx="264262" cy="233172"/>
            </a:xfrm>
            <a:prstGeom prst="chord">
              <a:avLst/>
            </a:prstGeom>
            <a:solidFill>
              <a:srgbClr val="C46E14"/>
            </a:solidFill>
            <a:ln>
              <a:noFill/>
            </a:ln>
          </p:spPr>
          <p:txBody>
            <a:bodyPr rtlCol="0" anchor="ctr"/>
            <a:lstStyle/>
            <a:p>
              <a:pPr algn="ctr"/>
              <a:endParaRPr/>
            </a:p>
          </p:txBody>
        </p:sp>
        <p:sp>
          <p:nvSpPr>
            <p:cNvPr id="69" name="Cab"/>
            <p:cNvSpPr/>
            <p:nvPr/>
          </p:nvSpPr>
          <p:spPr>
            <a:xfrm>
              <a:off x="9475927" y="2206447"/>
              <a:ext cx="699516" cy="606247"/>
            </a:xfrm>
            <a:prstGeom prst="rect">
              <a:avLst/>
            </a:prstGeom>
            <a:solidFill>
              <a:srgbClr val="C46E14"/>
            </a:solidFill>
            <a:ln>
              <a:noFill/>
            </a:ln>
          </p:spPr>
          <p:txBody>
            <a:bodyPr rtlCol="0" anchor="ctr"/>
            <a:lstStyle/>
            <a:p>
              <a:pPr algn="ctr"/>
              <a:endParaRPr/>
            </a:p>
          </p:txBody>
        </p:sp>
        <p:sp>
          <p:nvSpPr>
            <p:cNvPr id="70" name="Cab roof"/>
            <p:cNvSpPr/>
            <p:nvPr/>
          </p:nvSpPr>
          <p:spPr>
            <a:xfrm>
              <a:off x="9429293" y="2144268"/>
              <a:ext cx="792785" cy="69952"/>
            </a:xfrm>
            <a:prstGeom prst="rect">
              <a:avLst/>
            </a:prstGeom>
            <a:solidFill>
              <a:srgbClr val="1B1D21"/>
            </a:solidFill>
            <a:ln>
              <a:noFill/>
            </a:ln>
          </p:spPr>
          <p:txBody>
            <a:bodyPr rtlCol="0" anchor="ctr"/>
            <a:lstStyle/>
            <a:p>
              <a:pPr algn="ctr"/>
              <a:endParaRPr/>
            </a:p>
          </p:txBody>
        </p:sp>
        <p:sp>
          <p:nvSpPr>
            <p:cNvPr id="71" name="Cab window"/>
            <p:cNvSpPr/>
            <p:nvPr/>
          </p:nvSpPr>
          <p:spPr>
            <a:xfrm>
              <a:off x="9646920" y="2315261"/>
              <a:ext cx="310896" cy="217627"/>
            </a:xfrm>
            <a:prstGeom prst="rect">
              <a:avLst/>
            </a:prstGeom>
            <a:solidFill>
              <a:srgbClr val="1B1D21"/>
            </a:solidFill>
            <a:ln>
              <a:noFill/>
            </a:ln>
          </p:spPr>
          <p:txBody>
            <a:bodyPr rtlCol="0" anchor="ctr"/>
            <a:lstStyle/>
            <a:p>
              <a:pPr algn="ctr"/>
              <a:endParaRPr/>
            </a:p>
          </p:txBody>
        </p:sp>
        <p:sp>
          <p:nvSpPr>
            <p:cNvPr id="72" name="Wheel"/>
            <p:cNvSpPr/>
            <p:nvPr/>
          </p:nvSpPr>
          <p:spPr>
            <a:xfrm>
              <a:off x="9670237" y="2804922"/>
              <a:ext cx="341986" cy="341986"/>
            </a:xfrm>
            <a:prstGeom prst="ellipse">
              <a:avLst/>
            </a:prstGeom>
            <a:solidFill>
              <a:srgbClr val="1B1D21"/>
            </a:solidFill>
            <a:ln w="19050">
              <a:solidFill>
                <a:srgbClr val="9AA0A6"/>
              </a:solidFill>
            </a:ln>
          </p:spPr>
          <p:txBody>
            <a:bodyPr rtlCol="0" anchor="ctr"/>
            <a:lstStyle/>
            <a:p>
              <a:pPr algn="ctr"/>
              <a:endParaRPr/>
            </a:p>
          </p:txBody>
        </p:sp>
        <p:sp>
          <p:nvSpPr>
            <p:cNvPr id="73" name="Hub"/>
            <p:cNvSpPr/>
            <p:nvPr/>
          </p:nvSpPr>
          <p:spPr>
            <a:xfrm>
              <a:off x="9793352" y="2928037"/>
              <a:ext cx="95756" cy="95756"/>
            </a:xfrm>
            <a:prstGeom prst="ellipse">
              <a:avLst/>
            </a:prstGeom>
            <a:solidFill>
              <a:srgbClr val="9AA0A6"/>
            </a:solidFill>
            <a:ln>
              <a:noFill/>
            </a:ln>
          </p:spPr>
          <p:txBody>
            <a:bodyPr rtlCol="0" anchor="ctr"/>
            <a:lstStyle/>
            <a:p>
              <a:pPr algn="ctr"/>
              <a:endParaRPr/>
            </a:p>
          </p:txBody>
        </p:sp>
        <p:sp>
          <p:nvSpPr>
            <p:cNvPr id="74" name="Wheel"/>
            <p:cNvSpPr/>
            <p:nvPr/>
          </p:nvSpPr>
          <p:spPr>
            <a:xfrm>
              <a:off x="10292029" y="2804922"/>
              <a:ext cx="341986" cy="341986"/>
            </a:xfrm>
            <a:prstGeom prst="ellipse">
              <a:avLst/>
            </a:prstGeom>
            <a:solidFill>
              <a:srgbClr val="1B1D21"/>
            </a:solidFill>
            <a:ln w="19050">
              <a:solidFill>
                <a:srgbClr val="9AA0A6"/>
              </a:solidFill>
            </a:ln>
          </p:spPr>
          <p:txBody>
            <a:bodyPr rtlCol="0" anchor="ctr"/>
            <a:lstStyle/>
            <a:p>
              <a:pPr algn="ctr"/>
              <a:endParaRPr/>
            </a:p>
          </p:txBody>
        </p:sp>
        <p:sp>
          <p:nvSpPr>
            <p:cNvPr id="75" name="Hub"/>
            <p:cNvSpPr/>
            <p:nvPr/>
          </p:nvSpPr>
          <p:spPr>
            <a:xfrm>
              <a:off x="10415144" y="2928037"/>
              <a:ext cx="95756" cy="95756"/>
            </a:xfrm>
            <a:prstGeom prst="ellipse">
              <a:avLst/>
            </a:prstGeom>
            <a:solidFill>
              <a:srgbClr val="9AA0A6"/>
            </a:solidFill>
            <a:ln>
              <a:noFill/>
            </a:ln>
          </p:spPr>
          <p:txBody>
            <a:bodyPr rtlCol="0" anchor="ctr"/>
            <a:lstStyle/>
            <a:p>
              <a:pPr algn="ctr"/>
              <a:endParaRPr/>
            </a:p>
          </p:txBody>
        </p:sp>
        <p:sp>
          <p:nvSpPr>
            <p:cNvPr id="76" name="Wheel"/>
            <p:cNvSpPr/>
            <p:nvPr/>
          </p:nvSpPr>
          <p:spPr>
            <a:xfrm>
              <a:off x="10913821" y="2804922"/>
              <a:ext cx="341986" cy="341986"/>
            </a:xfrm>
            <a:prstGeom prst="ellipse">
              <a:avLst/>
            </a:prstGeom>
            <a:solidFill>
              <a:srgbClr val="1B1D21"/>
            </a:solidFill>
            <a:ln w="19050">
              <a:solidFill>
                <a:srgbClr val="9AA0A6"/>
              </a:solidFill>
            </a:ln>
          </p:spPr>
          <p:txBody>
            <a:bodyPr rtlCol="0" anchor="ctr"/>
            <a:lstStyle/>
            <a:p>
              <a:pPr algn="ctr"/>
              <a:endParaRPr/>
            </a:p>
          </p:txBody>
        </p:sp>
        <p:sp>
          <p:nvSpPr>
            <p:cNvPr id="77" name="Hub"/>
            <p:cNvSpPr/>
            <p:nvPr/>
          </p:nvSpPr>
          <p:spPr>
            <a:xfrm>
              <a:off x="11036936" y="2928037"/>
              <a:ext cx="95756" cy="95756"/>
            </a:xfrm>
            <a:prstGeom prst="ellipse">
              <a:avLst/>
            </a:prstGeom>
            <a:solidFill>
              <a:srgbClr val="9AA0A6"/>
            </a:solidFill>
            <a:ln>
              <a:noFill/>
            </a:ln>
          </p:spPr>
          <p:txBody>
            <a:bodyPr rtlCol="0" anchor="ctr"/>
            <a:lstStyle/>
            <a:p>
              <a:pPr algn="ctr"/>
              <a:endParaRPr/>
            </a:p>
          </p:txBody>
        </p:sp>
        <p:cxnSp>
          <p:nvCxnSpPr>
            <p:cNvPr id="78" name="Coupling rod"/>
            <p:cNvCxnSpPr/>
            <p:nvPr/>
          </p:nvCxnSpPr>
          <p:spPr>
            <a:xfrm>
              <a:off x="9841230" y="2975915"/>
              <a:ext cx="1243584" cy="0"/>
            </a:xfrm>
            <a:prstGeom prst="line">
              <a:avLst/>
            </a:prstGeom>
            <a:ln w="25400">
              <a:solidFill>
                <a:srgbClr val="9AA0A6"/>
              </a:solidFill>
            </a:ln>
          </p:spPr>
        </p:cxnSp>
        <p:sp>
          <p:nvSpPr>
            <p:cNvPr id="79" name="Rail"/>
            <p:cNvSpPr/>
            <p:nvPr/>
          </p:nvSpPr>
          <p:spPr>
            <a:xfrm>
              <a:off x="8348472" y="3172968"/>
              <a:ext cx="3063240" cy="36576"/>
            </a:xfrm>
            <a:prstGeom prst="rect">
              <a:avLst/>
            </a:prstGeom>
            <a:solidFill>
              <a:srgbClr val="4A515B"/>
            </a:solidFill>
            <a:ln>
              <a:noFill/>
            </a:ln>
          </p:spPr>
          <p:txBody>
            <a:bodyPr rtlCol="0" anchor="ctr"/>
            <a:lstStyle/>
            <a:p>
              <a:pPr algn="ctr"/>
              <a:endParaRPr/>
            </a:p>
          </p:txBody>
        </p:sp>
        <p:sp>
          <p:nvSpPr>
            <p:cNvPr id="80" name="Card text"/>
            <p:cNvSpPr txBox="1"/>
            <p:nvPr/>
          </p:nvSpPr>
          <p:spPr>
            <a:xfrm>
              <a:off x="8348472" y="3429000"/>
              <a:ext cx="3063240" cy="914400"/>
            </a:xfrm>
            <a:prstGeom prst="rect">
              <a:avLst/>
            </a:prstGeom>
            <a:noFill/>
          </p:spPr>
          <p:txBody>
            <a:bodyPr wrap="square" lIns="0" tIns="0" rIns="0" bIns="0" anchor="t">
              <a:noAutofit/>
            </a:bodyPr>
            <a:lstStyle/>
            <a:p>
              <a:pPr algn="l">
                <a:spcBef>
                  <a:spcPts val="0"/>
                </a:spcBef>
                <a:spcAft>
                  <a:spcPts val="0"/>
                </a:spcAft>
              </a:pPr>
              <a:r>
                <a:rPr lang="en-GB" sz="1800" b="0" i="0">
                  <a:solidFill>
                    <a:srgbClr val="F2F2F2"/>
                  </a:solidFill>
                  <a:latin typeface="Arial"/>
                </a:rPr>
                <a:t>Heavy hauling; slow to speed up; thirsty</a:t>
              </a:r>
            </a:p>
          </p:txBody>
        </p:sp>
      </p:grpSp>
      <p:sp>
        <p:nvSpPr>
          <p:cNvPr id="81" name="TextBox 80"/>
          <p:cNvSpPr txBox="1"/>
          <p:nvPr/>
        </p:nvSpPr>
        <p:spPr>
          <a:xfrm>
            <a:off x="548640" y="4681728"/>
            <a:ext cx="4114800" cy="365760"/>
          </a:xfrm>
          <a:prstGeom prst="rect">
            <a:avLst/>
          </a:prstGeom>
          <a:noFill/>
        </p:spPr>
        <p:txBody>
          <a:bodyPr wrap="square" lIns="0" tIns="0" rIns="0" bIns="0" anchor="ctr">
            <a:noAutofit/>
          </a:bodyPr>
          <a:lstStyle/>
          <a:p>
            <a:pPr algn="l">
              <a:spcBef>
                <a:spcPts val="0"/>
              </a:spcBef>
              <a:spcAft>
                <a:spcPts val="0"/>
              </a:spcAft>
            </a:pPr>
            <a:r>
              <a:rPr lang="en-GB" sz="1400" b="0" i="0">
                <a:solidFill>
                  <a:srgbClr val="A9B0B8"/>
                </a:solidFill>
                <a:latin typeface="Arial"/>
              </a:rPr>
              <a:t>Shape only. Not measured.</a:t>
            </a:r>
          </a:p>
        </p:txBody>
      </p:sp>
      <p:sp>
        <p:nvSpPr>
          <p:cNvPr id="82" name="Inline chip: Exact curves: undecided"/>
          <p:cNvSpPr/>
          <p:nvPr/>
        </p:nvSpPr>
        <p:spPr>
          <a:xfrm>
            <a:off x="9234591" y="4663440"/>
            <a:ext cx="2405721"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Exact curves: undecided</a:t>
            </a:r>
          </a:p>
        </p:txBody>
      </p:sp>
      <p:grpSp>
        <p:nvGrpSpPr>
          <p:cNvPr id="83" name="Caption" descr="Caption: Small is nimble, Medium is quick, Large is strong. These are ideas about their character."/>
          <p:cNvGrpSpPr/>
          <p:nvPr/>
        </p:nvGrpSpPr>
        <p:grpSpPr>
          <a:xfrm>
            <a:off x="548640" y="5669280"/>
            <a:ext cx="11091672" cy="822960"/>
            <a:chOff x="548640" y="5669280"/>
            <a:chExt cx="11091672" cy="822960"/>
          </a:xfrm>
        </p:grpSpPr>
        <p:sp>
          <p:nvSpPr>
            <p:cNvPr id="84"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85"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86"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Small is nimble, Medium is quick, Large is strong. These are ideas about their character.</a:t>
              </a:r>
            </a:p>
          </p:txBody>
        </p:sp>
      </p:grpSp>
      <p:sp>
        <p:nvSpPr>
          <p:cNvPr id="87"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9</a:t>
            </a:r>
          </a:p>
        </p:txBody>
      </p:sp>
    </p:spTree>
    <p:extLst>
      <p:ext uri="{BB962C8B-B14F-4D97-AF65-F5344CB8AC3E}">
        <p14:creationId xmlns:p14="http://schemas.microsoft.com/office/powerpoint/2010/main" val="42928961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60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500"/>
                                        <p:tgtEl>
                                          <p:spTgt spid="53"/>
                                        </p:tgtEl>
                                      </p:cBhvr>
                                    </p:animEffect>
                                  </p:childTnLst>
                                </p:cTn>
                              </p:par>
                              <p:par>
                                <p:cTn id="14" presetID="10" presetClass="entr" presetSubtype="0" fill="hold" nodeType="withEffect">
                                  <p:stCondLst>
                                    <p:cond delay="900"/>
                                  </p:stCondLst>
                                  <p:childTnLst>
                                    <p:set>
                                      <p:cBhvr>
                                        <p:cTn id="15" dur="1" fill="hold">
                                          <p:stCondLst>
                                            <p:cond delay="0"/>
                                          </p:stCondLst>
                                        </p:cTn>
                                        <p:tgtEl>
                                          <p:spTgt spid="81"/>
                                        </p:tgtEl>
                                        <p:attrNameLst>
                                          <p:attrName>style.visibility</p:attrName>
                                        </p:attrNameLst>
                                      </p:cBhvr>
                                      <p:to>
                                        <p:strVal val="visible"/>
                                      </p:to>
                                    </p:set>
                                    <p:animEffect transition="in" filter="fade">
                                      <p:cBhvr>
                                        <p:cTn id="16" dur="500"/>
                                        <p:tgtEl>
                                          <p:spTgt spid="81"/>
                                        </p:tgtEl>
                                      </p:cBhvr>
                                    </p:animEffect>
                                  </p:childTnLst>
                                </p:cTn>
                              </p:par>
                              <p:par>
                                <p:cTn id="17" presetID="10" presetClass="entr" presetSubtype="0" fill="hold" nodeType="withEffect">
                                  <p:stCondLst>
                                    <p:cond delay="1200"/>
                                  </p:stCondLst>
                                  <p:childTnLst>
                                    <p:set>
                                      <p:cBhvr>
                                        <p:cTn id="18" dur="1" fill="hold">
                                          <p:stCondLst>
                                            <p:cond delay="0"/>
                                          </p:stCondLst>
                                        </p:cTn>
                                        <p:tgtEl>
                                          <p:spTgt spid="82"/>
                                        </p:tgtEl>
                                        <p:attrNameLst>
                                          <p:attrName>style.visibility</p:attrName>
                                        </p:attrNameLst>
                                      </p:cBhvr>
                                      <p:to>
                                        <p:strVal val="visible"/>
                                      </p:to>
                                    </p:set>
                                    <p:animEffect transition="in" filter="fade">
                                      <p:cBhvr>
                                        <p:cTn id="19" dur="500"/>
                                        <p:tgtEl>
                                          <p:spTgt spid="82"/>
                                        </p:tgtEl>
                                      </p:cBhvr>
                                    </p:animEffect>
                                  </p:childTnLst>
                                </p:cTn>
                              </p:par>
                              <p:par>
                                <p:cTn id="20" presetID="10" presetClass="entr" presetSubtype="0" fill="hold" nodeType="withEffect">
                                  <p:stCondLst>
                                    <p:cond delay="1500"/>
                                  </p:stCondLst>
                                  <p:childTnLst>
                                    <p:set>
                                      <p:cBhvr>
                                        <p:cTn id="21" dur="1" fill="hold">
                                          <p:stCondLst>
                                            <p:cond delay="0"/>
                                          </p:stCondLst>
                                        </p:cTn>
                                        <p:tgtEl>
                                          <p:spTgt spid="83"/>
                                        </p:tgtEl>
                                        <p:attrNameLst>
                                          <p:attrName>style.visibility</p:attrName>
                                        </p:attrNameLst>
                                      </p:cBhvr>
                                      <p:to>
                                        <p:strVal val="visible"/>
                                      </p:to>
                                    </p:set>
                                    <p:animEffect transition="in" filter="fade">
                                      <p:cBhvr>
                                        <p:cTn id="22"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The speed question</a:t>
            </a:r>
          </a:p>
        </p:txBody>
      </p:sp>
      <p:sp>
        <p:nvSpPr>
          <p:cNvPr id="3" name="Status chip" descr="Status tag: Undecided"/>
          <p:cNvSpPr/>
          <p:nvPr/>
        </p:nvSpPr>
        <p:spPr>
          <a:xfrm>
            <a:off x="10180015" y="457200"/>
            <a:ext cx="1463040" cy="365760"/>
          </a:xfrm>
          <a:prstGeom prst="roundRect">
            <a:avLst>
              <a:gd name="adj" fmla="val 3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grpSp>
        <p:nvGrpSpPr>
          <p:cNvPr id="4" name="Ladder: earlier idea" descr="Earlier idea: three bars rising from Small to Medium to Large, shape only, no numbers."/>
          <p:cNvGrpSpPr/>
          <p:nvPr/>
        </p:nvGrpSpPr>
        <p:grpSpPr>
          <a:xfrm>
            <a:off x="548640" y="1371600"/>
            <a:ext cx="4709160" cy="3749040"/>
            <a:chOff x="548640" y="1371600"/>
            <a:chExt cx="4709160" cy="3749040"/>
          </a:xfrm>
        </p:grpSpPr>
        <p:sp>
          <p:nvSpPr>
            <p:cNvPr id="5" name="Panel"/>
            <p:cNvSpPr/>
            <p:nvPr/>
          </p:nvSpPr>
          <p:spPr>
            <a:xfrm>
              <a:off x="548640" y="1371600"/>
              <a:ext cx="4709160" cy="3749040"/>
            </a:xfrm>
            <a:prstGeom prst="roundRect">
              <a:avLst>
                <a:gd name="adj" fmla="val 1951"/>
              </a:avLst>
            </a:prstGeom>
            <a:solidFill>
              <a:srgbClr val="2B2F36"/>
            </a:solidFill>
            <a:ln>
              <a:noFill/>
            </a:ln>
          </p:spPr>
          <p:txBody>
            <a:bodyPr rtlCol="0" anchor="ctr"/>
            <a:lstStyle/>
            <a:p>
              <a:pPr algn="ctr"/>
              <a:endParaRPr/>
            </a:p>
          </p:txBody>
        </p:sp>
        <p:sp>
          <p:nvSpPr>
            <p:cNvPr id="6" name="Ladder title"/>
            <p:cNvSpPr txBox="1"/>
            <p:nvPr/>
          </p:nvSpPr>
          <p:spPr>
            <a:xfrm>
              <a:off x="822960" y="1463040"/>
              <a:ext cx="4160520" cy="45720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8C28"/>
                  </a:solidFill>
                  <a:latin typeface="Arial"/>
                </a:rPr>
                <a:t>Earlier idea</a:t>
              </a:r>
            </a:p>
          </p:txBody>
        </p:sp>
        <p:cxnSp>
          <p:nvCxnSpPr>
            <p:cNvPr id="7" name="Speed axis"/>
            <p:cNvCxnSpPr/>
            <p:nvPr/>
          </p:nvCxnSpPr>
          <p:spPr>
            <a:xfrm flipV="1">
              <a:off x="960120" y="2148840"/>
              <a:ext cx="0" cy="2377440"/>
            </a:xfrm>
            <a:prstGeom prst="line">
              <a:avLst/>
            </a:prstGeom>
            <a:ln w="25400">
              <a:solidFill>
                <a:srgbClr val="9AA0A6"/>
              </a:solidFill>
              <a:tailEnd type="triangle" w="med" len="med"/>
            </a:ln>
          </p:spPr>
        </p:cxnSp>
        <p:sp>
          <p:nvSpPr>
            <p:cNvPr id="8" name="Axis label"/>
            <p:cNvSpPr txBox="1"/>
            <p:nvPr/>
          </p:nvSpPr>
          <p:spPr>
            <a:xfrm>
              <a:off x="1097280" y="2011680"/>
              <a:ext cx="1097280" cy="274320"/>
            </a:xfrm>
            <a:prstGeom prst="rect">
              <a:avLst/>
            </a:prstGeom>
            <a:noFill/>
          </p:spPr>
          <p:txBody>
            <a:bodyPr wrap="square" lIns="0" tIns="0" rIns="0" bIns="0" anchor="ctr">
              <a:noAutofit/>
            </a:bodyPr>
            <a:lstStyle/>
            <a:p>
              <a:pPr algn="l">
                <a:spcBef>
                  <a:spcPts val="0"/>
                </a:spcBef>
                <a:spcAft>
                  <a:spcPts val="0"/>
                </a:spcAft>
              </a:pPr>
              <a:r>
                <a:rPr lang="en-GB" sz="1400" b="0" i="0">
                  <a:solidFill>
                    <a:srgbClr val="A9B0B8"/>
                  </a:solidFill>
                  <a:latin typeface="Arial"/>
                </a:rPr>
                <a:t>Speed</a:t>
              </a:r>
            </a:p>
          </p:txBody>
        </p:sp>
        <p:sp>
          <p:nvSpPr>
            <p:cNvPr id="9" name="Baseline"/>
            <p:cNvSpPr/>
            <p:nvPr/>
          </p:nvSpPr>
          <p:spPr>
            <a:xfrm>
              <a:off x="960120" y="4526280"/>
              <a:ext cx="3977640" cy="36576"/>
            </a:xfrm>
            <a:prstGeom prst="rect">
              <a:avLst/>
            </a:prstGeom>
            <a:solidFill>
              <a:srgbClr val="4A515B"/>
            </a:solidFill>
            <a:ln>
              <a:noFill/>
            </a:ln>
          </p:spPr>
          <p:txBody>
            <a:bodyPr rtlCol="0" anchor="ctr"/>
            <a:lstStyle/>
            <a:p>
              <a:pPr algn="ctr"/>
              <a:endParaRPr/>
            </a:p>
          </p:txBody>
        </p:sp>
        <p:sp>
          <p:nvSpPr>
            <p:cNvPr id="10" name="Bar Small"/>
            <p:cNvSpPr/>
            <p:nvPr/>
          </p:nvSpPr>
          <p:spPr>
            <a:xfrm>
              <a:off x="1463040" y="3611880"/>
              <a:ext cx="914400" cy="914400"/>
            </a:xfrm>
            <a:prstGeom prst="roundRect">
              <a:avLst>
                <a:gd name="adj" fmla="val 6000"/>
              </a:avLst>
            </a:prstGeom>
            <a:solidFill>
              <a:srgbClr val="9AA0A6"/>
            </a:solidFill>
            <a:ln>
              <a:noFill/>
            </a:ln>
          </p:spPr>
          <p:txBody>
            <a:bodyPr rtlCol="0" anchor="ctr"/>
            <a:lstStyle/>
            <a:p>
              <a:pPr algn="ctr"/>
              <a:endParaRPr/>
            </a:p>
          </p:txBody>
        </p:sp>
        <p:sp>
          <p:nvSpPr>
            <p:cNvPr id="11" name="TextBox 10"/>
            <p:cNvSpPr txBox="1"/>
            <p:nvPr/>
          </p:nvSpPr>
          <p:spPr>
            <a:xfrm>
              <a:off x="1325880" y="4599432"/>
              <a:ext cx="1188720" cy="36576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Small</a:t>
              </a:r>
            </a:p>
          </p:txBody>
        </p:sp>
        <p:sp>
          <p:nvSpPr>
            <p:cNvPr id="12" name="Bar Medium"/>
            <p:cNvSpPr/>
            <p:nvPr/>
          </p:nvSpPr>
          <p:spPr>
            <a:xfrm>
              <a:off x="2651760" y="2926080"/>
              <a:ext cx="914400" cy="1600200"/>
            </a:xfrm>
            <a:prstGeom prst="roundRect">
              <a:avLst>
                <a:gd name="adj" fmla="val 6000"/>
              </a:avLst>
            </a:prstGeom>
            <a:solidFill>
              <a:srgbClr val="9AA0A6"/>
            </a:solidFill>
            <a:ln>
              <a:noFill/>
            </a:ln>
          </p:spPr>
          <p:txBody>
            <a:bodyPr rtlCol="0" anchor="ctr"/>
            <a:lstStyle/>
            <a:p>
              <a:pPr algn="ctr"/>
              <a:endParaRPr/>
            </a:p>
          </p:txBody>
        </p:sp>
        <p:sp>
          <p:nvSpPr>
            <p:cNvPr id="13" name="TextBox 12"/>
            <p:cNvSpPr txBox="1"/>
            <p:nvPr/>
          </p:nvSpPr>
          <p:spPr>
            <a:xfrm>
              <a:off x="2514600" y="4599432"/>
              <a:ext cx="1188720" cy="36576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Medium</a:t>
              </a:r>
            </a:p>
          </p:txBody>
        </p:sp>
        <p:sp>
          <p:nvSpPr>
            <p:cNvPr id="14" name="Bar Large"/>
            <p:cNvSpPr/>
            <p:nvPr/>
          </p:nvSpPr>
          <p:spPr>
            <a:xfrm>
              <a:off x="3840480" y="2240280"/>
              <a:ext cx="914400" cy="2286000"/>
            </a:xfrm>
            <a:prstGeom prst="roundRect">
              <a:avLst>
                <a:gd name="adj" fmla="val 6000"/>
              </a:avLst>
            </a:prstGeom>
            <a:solidFill>
              <a:srgbClr val="F28C28"/>
            </a:solidFill>
            <a:ln>
              <a:noFill/>
            </a:ln>
          </p:spPr>
          <p:txBody>
            <a:bodyPr rtlCol="0" anchor="ctr"/>
            <a:lstStyle/>
            <a:p>
              <a:pPr algn="ctr"/>
              <a:endParaRPr/>
            </a:p>
          </p:txBody>
        </p:sp>
        <p:sp>
          <p:nvSpPr>
            <p:cNvPr id="15" name="TextBox 14"/>
            <p:cNvSpPr txBox="1"/>
            <p:nvPr/>
          </p:nvSpPr>
          <p:spPr>
            <a:xfrm>
              <a:off x="3703320" y="4599432"/>
              <a:ext cx="1188720" cy="36576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Large</a:t>
              </a:r>
            </a:p>
          </p:txBody>
        </p:sp>
      </p:grpSp>
      <p:grpSp>
        <p:nvGrpSpPr>
          <p:cNvPr id="16" name="Ladder: later idea" descr="Later idea: three bars with the Medium bar tallest, shape only, no numbers."/>
          <p:cNvGrpSpPr/>
          <p:nvPr/>
        </p:nvGrpSpPr>
        <p:grpSpPr>
          <a:xfrm>
            <a:off x="6931152" y="1371600"/>
            <a:ext cx="4709160" cy="3749040"/>
            <a:chOff x="6931152" y="1371600"/>
            <a:chExt cx="4709160" cy="3749040"/>
          </a:xfrm>
        </p:grpSpPr>
        <p:sp>
          <p:nvSpPr>
            <p:cNvPr id="17" name="Panel"/>
            <p:cNvSpPr/>
            <p:nvPr/>
          </p:nvSpPr>
          <p:spPr>
            <a:xfrm>
              <a:off x="6931152" y="1371600"/>
              <a:ext cx="4709160" cy="3749040"/>
            </a:xfrm>
            <a:prstGeom prst="roundRect">
              <a:avLst>
                <a:gd name="adj" fmla="val 1951"/>
              </a:avLst>
            </a:prstGeom>
            <a:solidFill>
              <a:srgbClr val="2B2F36"/>
            </a:solidFill>
            <a:ln>
              <a:noFill/>
            </a:ln>
          </p:spPr>
          <p:txBody>
            <a:bodyPr rtlCol="0" anchor="ctr"/>
            <a:lstStyle/>
            <a:p>
              <a:pPr algn="ctr"/>
              <a:endParaRPr/>
            </a:p>
          </p:txBody>
        </p:sp>
        <p:sp>
          <p:nvSpPr>
            <p:cNvPr id="18" name="Ladder title"/>
            <p:cNvSpPr txBox="1"/>
            <p:nvPr/>
          </p:nvSpPr>
          <p:spPr>
            <a:xfrm>
              <a:off x="7205472" y="1463040"/>
              <a:ext cx="4160520" cy="45720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8C28"/>
                  </a:solidFill>
                  <a:latin typeface="Arial"/>
                </a:rPr>
                <a:t>Later idea</a:t>
              </a:r>
            </a:p>
          </p:txBody>
        </p:sp>
        <p:cxnSp>
          <p:nvCxnSpPr>
            <p:cNvPr id="19" name="Speed axis"/>
            <p:cNvCxnSpPr/>
            <p:nvPr/>
          </p:nvCxnSpPr>
          <p:spPr>
            <a:xfrm flipV="1">
              <a:off x="7342632" y="2148840"/>
              <a:ext cx="0" cy="2377440"/>
            </a:xfrm>
            <a:prstGeom prst="line">
              <a:avLst/>
            </a:prstGeom>
            <a:ln w="25400">
              <a:solidFill>
                <a:srgbClr val="9AA0A6"/>
              </a:solidFill>
              <a:tailEnd type="triangle" w="med" len="med"/>
            </a:ln>
          </p:spPr>
        </p:cxnSp>
        <p:sp>
          <p:nvSpPr>
            <p:cNvPr id="20" name="Axis label"/>
            <p:cNvSpPr txBox="1"/>
            <p:nvPr/>
          </p:nvSpPr>
          <p:spPr>
            <a:xfrm>
              <a:off x="7479792" y="2011680"/>
              <a:ext cx="1097280" cy="274320"/>
            </a:xfrm>
            <a:prstGeom prst="rect">
              <a:avLst/>
            </a:prstGeom>
            <a:noFill/>
          </p:spPr>
          <p:txBody>
            <a:bodyPr wrap="square" lIns="0" tIns="0" rIns="0" bIns="0" anchor="ctr">
              <a:noAutofit/>
            </a:bodyPr>
            <a:lstStyle/>
            <a:p>
              <a:pPr algn="l">
                <a:spcBef>
                  <a:spcPts val="0"/>
                </a:spcBef>
                <a:spcAft>
                  <a:spcPts val="0"/>
                </a:spcAft>
              </a:pPr>
              <a:r>
                <a:rPr lang="en-GB" sz="1400" b="0" i="0">
                  <a:solidFill>
                    <a:srgbClr val="A9B0B8"/>
                  </a:solidFill>
                  <a:latin typeface="Arial"/>
                </a:rPr>
                <a:t>Speed</a:t>
              </a:r>
            </a:p>
          </p:txBody>
        </p:sp>
        <p:sp>
          <p:nvSpPr>
            <p:cNvPr id="21" name="Baseline"/>
            <p:cNvSpPr/>
            <p:nvPr/>
          </p:nvSpPr>
          <p:spPr>
            <a:xfrm>
              <a:off x="7342632" y="4526280"/>
              <a:ext cx="3977640" cy="36576"/>
            </a:xfrm>
            <a:prstGeom prst="rect">
              <a:avLst/>
            </a:prstGeom>
            <a:solidFill>
              <a:srgbClr val="4A515B"/>
            </a:solidFill>
            <a:ln>
              <a:noFill/>
            </a:ln>
          </p:spPr>
          <p:txBody>
            <a:bodyPr rtlCol="0" anchor="ctr"/>
            <a:lstStyle/>
            <a:p>
              <a:pPr algn="ctr"/>
              <a:endParaRPr/>
            </a:p>
          </p:txBody>
        </p:sp>
        <p:sp>
          <p:nvSpPr>
            <p:cNvPr id="22" name="Bar Small"/>
            <p:cNvSpPr/>
            <p:nvPr/>
          </p:nvSpPr>
          <p:spPr>
            <a:xfrm>
              <a:off x="7845552" y="3291840"/>
              <a:ext cx="914400" cy="1234440"/>
            </a:xfrm>
            <a:prstGeom prst="roundRect">
              <a:avLst>
                <a:gd name="adj" fmla="val 6000"/>
              </a:avLst>
            </a:prstGeom>
            <a:solidFill>
              <a:srgbClr val="9AA0A6"/>
            </a:solidFill>
            <a:ln>
              <a:noFill/>
            </a:ln>
          </p:spPr>
          <p:txBody>
            <a:bodyPr rtlCol="0" anchor="ctr"/>
            <a:lstStyle/>
            <a:p>
              <a:pPr algn="ctr"/>
              <a:endParaRPr/>
            </a:p>
          </p:txBody>
        </p:sp>
        <p:sp>
          <p:nvSpPr>
            <p:cNvPr id="23" name="TextBox 22"/>
            <p:cNvSpPr txBox="1"/>
            <p:nvPr/>
          </p:nvSpPr>
          <p:spPr>
            <a:xfrm>
              <a:off x="7708392" y="4599432"/>
              <a:ext cx="1188720" cy="36576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Small</a:t>
              </a:r>
            </a:p>
          </p:txBody>
        </p:sp>
        <p:sp>
          <p:nvSpPr>
            <p:cNvPr id="24" name="Bar Medium"/>
            <p:cNvSpPr/>
            <p:nvPr/>
          </p:nvSpPr>
          <p:spPr>
            <a:xfrm>
              <a:off x="9034272" y="2240280"/>
              <a:ext cx="914400" cy="2286000"/>
            </a:xfrm>
            <a:prstGeom prst="roundRect">
              <a:avLst>
                <a:gd name="adj" fmla="val 6000"/>
              </a:avLst>
            </a:prstGeom>
            <a:solidFill>
              <a:srgbClr val="F28C28"/>
            </a:solidFill>
            <a:ln>
              <a:noFill/>
            </a:ln>
          </p:spPr>
          <p:txBody>
            <a:bodyPr rtlCol="0" anchor="ctr"/>
            <a:lstStyle/>
            <a:p>
              <a:pPr algn="ctr"/>
              <a:endParaRPr/>
            </a:p>
          </p:txBody>
        </p:sp>
        <p:sp>
          <p:nvSpPr>
            <p:cNvPr id="25" name="TextBox 24"/>
            <p:cNvSpPr txBox="1"/>
            <p:nvPr/>
          </p:nvSpPr>
          <p:spPr>
            <a:xfrm>
              <a:off x="8897112" y="4599432"/>
              <a:ext cx="1188720" cy="36576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Medium</a:t>
              </a:r>
            </a:p>
          </p:txBody>
        </p:sp>
        <p:sp>
          <p:nvSpPr>
            <p:cNvPr id="26" name="Bar Large"/>
            <p:cNvSpPr/>
            <p:nvPr/>
          </p:nvSpPr>
          <p:spPr>
            <a:xfrm>
              <a:off x="10222992" y="3291840"/>
              <a:ext cx="914400" cy="1234440"/>
            </a:xfrm>
            <a:prstGeom prst="roundRect">
              <a:avLst>
                <a:gd name="adj" fmla="val 6000"/>
              </a:avLst>
            </a:prstGeom>
            <a:solidFill>
              <a:srgbClr val="9AA0A6"/>
            </a:solidFill>
            <a:ln>
              <a:noFill/>
            </a:ln>
          </p:spPr>
          <p:txBody>
            <a:bodyPr rtlCol="0" anchor="ctr"/>
            <a:lstStyle/>
            <a:p>
              <a:pPr algn="ctr"/>
              <a:endParaRPr/>
            </a:p>
          </p:txBody>
        </p:sp>
        <p:sp>
          <p:nvSpPr>
            <p:cNvPr id="27" name="TextBox 26"/>
            <p:cNvSpPr txBox="1"/>
            <p:nvPr/>
          </p:nvSpPr>
          <p:spPr>
            <a:xfrm>
              <a:off x="10085832" y="4599432"/>
              <a:ext cx="1188720" cy="36576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Large</a:t>
              </a:r>
            </a:p>
          </p:txBody>
        </p:sp>
      </p:grpSp>
      <p:grpSp>
        <p:nvGrpSpPr>
          <p:cNvPr id="28" name="Question mark" descr="A question mark between the two ideas: which is right is undecided."/>
          <p:cNvGrpSpPr/>
          <p:nvPr/>
        </p:nvGrpSpPr>
        <p:grpSpPr>
          <a:xfrm>
            <a:off x="5591556" y="2651760"/>
            <a:ext cx="1005840" cy="1005840"/>
            <a:chOff x="5591556" y="2651760"/>
            <a:chExt cx="1005840" cy="1005840"/>
          </a:xfrm>
        </p:grpSpPr>
        <p:sp>
          <p:nvSpPr>
            <p:cNvPr id="29" name="Question circle"/>
            <p:cNvSpPr/>
            <p:nvPr/>
          </p:nvSpPr>
          <p:spPr>
            <a:xfrm>
              <a:off x="5591556" y="2651760"/>
              <a:ext cx="1005840" cy="1005840"/>
            </a:xfrm>
            <a:prstGeom prst="ellipse">
              <a:avLst/>
            </a:prstGeom>
            <a:noFill/>
            <a:ln w="38100">
              <a:solidFill>
                <a:srgbClr val="F28C28"/>
              </a:solidFill>
            </a:ln>
          </p:spPr>
          <p:txBody>
            <a:bodyPr wrap="none" lIns="0" tIns="0" rIns="0" bIns="0" rtlCol="0" anchor="ctr">
              <a:noAutofit/>
            </a:bodyPr>
            <a:lstStyle/>
            <a:p>
              <a:pPr algn="ctr">
                <a:spcBef>
                  <a:spcPts val="0"/>
                </a:spcBef>
                <a:spcAft>
                  <a:spcPts val="0"/>
                </a:spcAft>
              </a:pPr>
              <a:r>
                <a:rPr lang="en-GB" sz="4000" b="1" i="0">
                  <a:solidFill>
                    <a:srgbClr val="F28C28"/>
                  </a:solidFill>
                  <a:latin typeface="Arial"/>
                </a:rPr>
                <a:t>?</a:t>
              </a:r>
            </a:p>
          </p:txBody>
        </p:sp>
      </p:grpSp>
      <p:sp>
        <p:nvSpPr>
          <p:cNvPr id="30" name="TextBox 29"/>
          <p:cNvSpPr txBox="1"/>
          <p:nvPr/>
        </p:nvSpPr>
        <p:spPr>
          <a:xfrm>
            <a:off x="548640" y="5230368"/>
            <a:ext cx="2743200" cy="320040"/>
          </a:xfrm>
          <a:prstGeom prst="rect">
            <a:avLst/>
          </a:prstGeom>
          <a:noFill/>
        </p:spPr>
        <p:txBody>
          <a:bodyPr wrap="square" lIns="0" tIns="0" rIns="0" bIns="0" anchor="ctr">
            <a:noAutofit/>
          </a:bodyPr>
          <a:lstStyle/>
          <a:p>
            <a:pPr algn="l">
              <a:spcBef>
                <a:spcPts val="0"/>
              </a:spcBef>
              <a:spcAft>
                <a:spcPts val="0"/>
              </a:spcAft>
            </a:pPr>
            <a:r>
              <a:rPr lang="en-GB" sz="1400" b="0" i="0">
                <a:solidFill>
                  <a:srgbClr val="A9B0B8"/>
                </a:solidFill>
                <a:latin typeface="Arial"/>
              </a:rPr>
              <a:t>Not to scale</a:t>
            </a:r>
          </a:p>
        </p:txBody>
      </p:sp>
      <p:sp>
        <p:nvSpPr>
          <p:cNvPr id="31" name="TextBox 30"/>
          <p:cNvSpPr txBox="1"/>
          <p:nvPr/>
        </p:nvSpPr>
        <p:spPr>
          <a:xfrm>
            <a:off x="10725912" y="5230368"/>
            <a:ext cx="914400" cy="32004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OQ05</a:t>
            </a:r>
          </a:p>
        </p:txBody>
      </p:sp>
      <p:grpSp>
        <p:nvGrpSpPr>
          <p:cNvPr id="32" name="Caption" descr="Caption: Is Medium the fastest, or Large? That is still undecided."/>
          <p:cNvGrpSpPr/>
          <p:nvPr/>
        </p:nvGrpSpPr>
        <p:grpSpPr>
          <a:xfrm>
            <a:off x="548640" y="5669280"/>
            <a:ext cx="11091672" cy="822960"/>
            <a:chOff x="548640" y="5669280"/>
            <a:chExt cx="11091672" cy="822960"/>
          </a:xfrm>
        </p:grpSpPr>
        <p:sp>
          <p:nvSpPr>
            <p:cNvPr id="33"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34"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35"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Is Medium the fastest, or Large? That is still undecided.</a:t>
              </a:r>
            </a:p>
          </p:txBody>
        </p:sp>
      </p:grpSp>
      <p:sp>
        <p:nvSpPr>
          <p:cNvPr id="36"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10</a:t>
            </a:r>
          </a:p>
        </p:txBody>
      </p:sp>
    </p:spTree>
    <p:extLst>
      <p:ext uri="{BB962C8B-B14F-4D97-AF65-F5344CB8AC3E}">
        <p14:creationId xmlns:p14="http://schemas.microsoft.com/office/powerpoint/2010/main" val="12104381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nodeType="withEffect">
                                  <p:stCondLst>
                                    <p:cond delay="60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nodeType="withEffect">
                                  <p:stCondLst>
                                    <p:cond delay="90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par>
                                <p:cTn id="17" presetID="10" presetClass="entr" presetSubtype="0" fill="hold" nodeType="withEffect">
                                  <p:stCondLst>
                                    <p:cond delay="12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nodeType="withEffect">
                                  <p:stCondLst>
                                    <p:cond delay="150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How big is a wagon?</a:t>
            </a:r>
          </a:p>
        </p:txBody>
      </p:sp>
      <p:sp>
        <p:nvSpPr>
          <p:cNvPr id="3" name="Status chip" descr="Status tag: Provisional"/>
          <p:cNvSpPr/>
          <p:nvPr/>
        </p:nvSpPr>
        <p:spPr>
          <a:xfrm>
            <a:off x="10180015" y="457200"/>
            <a:ext cx="1463040" cy="365760"/>
          </a:xfrm>
          <a:prstGeom prst="roundRect">
            <a:avLst>
              <a:gd name="adj" fmla="val 30000"/>
            </a:avLst>
          </a:prstGeom>
          <a:solidFill>
            <a:srgbClr val="4DA3FF"/>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PROVISIONAL</a:t>
            </a:r>
          </a:p>
        </p:txBody>
      </p:sp>
      <p:grpSp>
        <p:nvGrpSpPr>
          <p:cNvPr id="4" name="Diagram: two wagons and their stack grids" descr="A steam wagon holding a grid of 20 stacks beside a taller-capacity vanilla wagon holding a grid of 32 stacks."/>
          <p:cNvGrpSpPr/>
          <p:nvPr/>
        </p:nvGrpSpPr>
        <p:grpSpPr>
          <a:xfrm>
            <a:off x="548640" y="1371600"/>
            <a:ext cx="11091672" cy="4160520"/>
            <a:chOff x="548640" y="1371600"/>
            <a:chExt cx="11091672" cy="4160520"/>
          </a:xfrm>
        </p:grpSpPr>
        <p:sp>
          <p:nvSpPr>
            <p:cNvPr id="5" name="Panel"/>
            <p:cNvSpPr/>
            <p:nvPr/>
          </p:nvSpPr>
          <p:spPr>
            <a:xfrm>
              <a:off x="548640" y="1371600"/>
              <a:ext cx="11091672" cy="4160520"/>
            </a:xfrm>
            <a:prstGeom prst="roundRect">
              <a:avLst>
                <a:gd name="adj" fmla="val 1758"/>
              </a:avLst>
            </a:prstGeom>
            <a:solidFill>
              <a:srgbClr val="2B2F36"/>
            </a:solidFill>
            <a:ln>
              <a:noFill/>
            </a:ln>
          </p:spPr>
          <p:txBody>
            <a:bodyPr rtlCol="0" anchor="ctr"/>
            <a:lstStyle/>
            <a:p>
              <a:pPr algn="ctr"/>
              <a:endParaRPr/>
            </a:p>
          </p:txBody>
        </p:sp>
        <p:sp>
          <p:nvSpPr>
            <p:cNvPr id="6" name="Steam wagon body"/>
            <p:cNvSpPr/>
            <p:nvPr/>
          </p:nvSpPr>
          <p:spPr>
            <a:xfrm>
              <a:off x="1234440" y="1691640"/>
              <a:ext cx="2487168" cy="2057400"/>
            </a:xfrm>
            <a:prstGeom prst="roundRect">
              <a:avLst>
                <a:gd name="adj" fmla="val 3555"/>
              </a:avLst>
            </a:prstGeom>
            <a:solidFill>
              <a:srgbClr val="343A43"/>
            </a:solidFill>
            <a:ln w="31750">
              <a:solidFill>
                <a:srgbClr val="F28C28"/>
              </a:solidFill>
            </a:ln>
          </p:spPr>
          <p:txBody>
            <a:bodyPr rtlCol="0" anchor="ctr"/>
            <a:lstStyle/>
            <a:p>
              <a:pPr algn="ctr"/>
              <a:endParaRPr/>
            </a:p>
          </p:txBody>
        </p:sp>
        <p:sp>
          <p:nvSpPr>
            <p:cNvPr id="7" name="Stack cell"/>
            <p:cNvSpPr/>
            <p:nvPr/>
          </p:nvSpPr>
          <p:spPr>
            <a:xfrm>
              <a:off x="1435608" y="1892808"/>
              <a:ext cx="365760" cy="365760"/>
            </a:xfrm>
            <a:prstGeom prst="roundRect">
              <a:avLst>
                <a:gd name="adj" fmla="val 12500"/>
              </a:avLst>
            </a:prstGeom>
            <a:solidFill>
              <a:srgbClr val="F28C28"/>
            </a:solidFill>
            <a:ln>
              <a:noFill/>
            </a:ln>
          </p:spPr>
          <p:txBody>
            <a:bodyPr rtlCol="0" anchor="ctr"/>
            <a:lstStyle/>
            <a:p>
              <a:pPr algn="ctr"/>
              <a:endParaRPr/>
            </a:p>
          </p:txBody>
        </p:sp>
        <p:sp>
          <p:nvSpPr>
            <p:cNvPr id="8" name="Stack cell"/>
            <p:cNvSpPr/>
            <p:nvPr/>
          </p:nvSpPr>
          <p:spPr>
            <a:xfrm>
              <a:off x="1865376" y="1892808"/>
              <a:ext cx="365760" cy="365760"/>
            </a:xfrm>
            <a:prstGeom prst="roundRect">
              <a:avLst>
                <a:gd name="adj" fmla="val 12500"/>
              </a:avLst>
            </a:prstGeom>
            <a:solidFill>
              <a:srgbClr val="F28C28"/>
            </a:solidFill>
            <a:ln>
              <a:noFill/>
            </a:ln>
          </p:spPr>
          <p:txBody>
            <a:bodyPr rtlCol="0" anchor="ctr"/>
            <a:lstStyle/>
            <a:p>
              <a:pPr algn="ctr"/>
              <a:endParaRPr/>
            </a:p>
          </p:txBody>
        </p:sp>
        <p:sp>
          <p:nvSpPr>
            <p:cNvPr id="9" name="Stack cell"/>
            <p:cNvSpPr/>
            <p:nvPr/>
          </p:nvSpPr>
          <p:spPr>
            <a:xfrm>
              <a:off x="2295144" y="1892808"/>
              <a:ext cx="365760" cy="365760"/>
            </a:xfrm>
            <a:prstGeom prst="roundRect">
              <a:avLst>
                <a:gd name="adj" fmla="val 12500"/>
              </a:avLst>
            </a:prstGeom>
            <a:solidFill>
              <a:srgbClr val="F28C28"/>
            </a:solidFill>
            <a:ln>
              <a:noFill/>
            </a:ln>
          </p:spPr>
          <p:txBody>
            <a:bodyPr rtlCol="0" anchor="ctr"/>
            <a:lstStyle/>
            <a:p>
              <a:pPr algn="ctr"/>
              <a:endParaRPr/>
            </a:p>
          </p:txBody>
        </p:sp>
        <p:sp>
          <p:nvSpPr>
            <p:cNvPr id="10" name="Stack cell"/>
            <p:cNvSpPr/>
            <p:nvPr/>
          </p:nvSpPr>
          <p:spPr>
            <a:xfrm>
              <a:off x="2724912" y="1892808"/>
              <a:ext cx="365760" cy="365760"/>
            </a:xfrm>
            <a:prstGeom prst="roundRect">
              <a:avLst>
                <a:gd name="adj" fmla="val 12500"/>
              </a:avLst>
            </a:prstGeom>
            <a:solidFill>
              <a:srgbClr val="F28C28"/>
            </a:solidFill>
            <a:ln>
              <a:noFill/>
            </a:ln>
          </p:spPr>
          <p:txBody>
            <a:bodyPr rtlCol="0" anchor="ctr"/>
            <a:lstStyle/>
            <a:p>
              <a:pPr algn="ctr"/>
              <a:endParaRPr/>
            </a:p>
          </p:txBody>
        </p:sp>
        <p:sp>
          <p:nvSpPr>
            <p:cNvPr id="11" name="Stack cell"/>
            <p:cNvSpPr/>
            <p:nvPr/>
          </p:nvSpPr>
          <p:spPr>
            <a:xfrm>
              <a:off x="3154680" y="1892808"/>
              <a:ext cx="365760" cy="365760"/>
            </a:xfrm>
            <a:prstGeom prst="roundRect">
              <a:avLst>
                <a:gd name="adj" fmla="val 12500"/>
              </a:avLst>
            </a:prstGeom>
            <a:solidFill>
              <a:srgbClr val="F28C28"/>
            </a:solidFill>
            <a:ln>
              <a:noFill/>
            </a:ln>
          </p:spPr>
          <p:txBody>
            <a:bodyPr rtlCol="0" anchor="ctr"/>
            <a:lstStyle/>
            <a:p>
              <a:pPr algn="ctr"/>
              <a:endParaRPr/>
            </a:p>
          </p:txBody>
        </p:sp>
        <p:sp>
          <p:nvSpPr>
            <p:cNvPr id="12" name="Stack cell"/>
            <p:cNvSpPr/>
            <p:nvPr/>
          </p:nvSpPr>
          <p:spPr>
            <a:xfrm>
              <a:off x="1435608" y="2322576"/>
              <a:ext cx="365760" cy="365760"/>
            </a:xfrm>
            <a:prstGeom prst="roundRect">
              <a:avLst>
                <a:gd name="adj" fmla="val 12500"/>
              </a:avLst>
            </a:prstGeom>
            <a:solidFill>
              <a:srgbClr val="F28C28"/>
            </a:solidFill>
            <a:ln>
              <a:noFill/>
            </a:ln>
          </p:spPr>
          <p:txBody>
            <a:bodyPr rtlCol="0" anchor="ctr"/>
            <a:lstStyle/>
            <a:p>
              <a:pPr algn="ctr"/>
              <a:endParaRPr/>
            </a:p>
          </p:txBody>
        </p:sp>
        <p:sp>
          <p:nvSpPr>
            <p:cNvPr id="13" name="Stack cell"/>
            <p:cNvSpPr/>
            <p:nvPr/>
          </p:nvSpPr>
          <p:spPr>
            <a:xfrm>
              <a:off x="1865376" y="2322576"/>
              <a:ext cx="365760" cy="365760"/>
            </a:xfrm>
            <a:prstGeom prst="roundRect">
              <a:avLst>
                <a:gd name="adj" fmla="val 12500"/>
              </a:avLst>
            </a:prstGeom>
            <a:solidFill>
              <a:srgbClr val="F28C28"/>
            </a:solidFill>
            <a:ln>
              <a:noFill/>
            </a:ln>
          </p:spPr>
          <p:txBody>
            <a:bodyPr rtlCol="0" anchor="ctr"/>
            <a:lstStyle/>
            <a:p>
              <a:pPr algn="ctr"/>
              <a:endParaRPr/>
            </a:p>
          </p:txBody>
        </p:sp>
        <p:sp>
          <p:nvSpPr>
            <p:cNvPr id="14" name="Stack cell"/>
            <p:cNvSpPr/>
            <p:nvPr/>
          </p:nvSpPr>
          <p:spPr>
            <a:xfrm>
              <a:off x="2295144" y="2322576"/>
              <a:ext cx="365760" cy="365760"/>
            </a:xfrm>
            <a:prstGeom prst="roundRect">
              <a:avLst>
                <a:gd name="adj" fmla="val 12500"/>
              </a:avLst>
            </a:prstGeom>
            <a:solidFill>
              <a:srgbClr val="F28C28"/>
            </a:solidFill>
            <a:ln>
              <a:noFill/>
            </a:ln>
          </p:spPr>
          <p:txBody>
            <a:bodyPr rtlCol="0" anchor="ctr"/>
            <a:lstStyle/>
            <a:p>
              <a:pPr algn="ctr"/>
              <a:endParaRPr/>
            </a:p>
          </p:txBody>
        </p:sp>
        <p:sp>
          <p:nvSpPr>
            <p:cNvPr id="15" name="Stack cell"/>
            <p:cNvSpPr/>
            <p:nvPr/>
          </p:nvSpPr>
          <p:spPr>
            <a:xfrm>
              <a:off x="2724912" y="2322576"/>
              <a:ext cx="365760" cy="365760"/>
            </a:xfrm>
            <a:prstGeom prst="roundRect">
              <a:avLst>
                <a:gd name="adj" fmla="val 12500"/>
              </a:avLst>
            </a:prstGeom>
            <a:solidFill>
              <a:srgbClr val="F28C28"/>
            </a:solidFill>
            <a:ln>
              <a:noFill/>
            </a:ln>
          </p:spPr>
          <p:txBody>
            <a:bodyPr rtlCol="0" anchor="ctr"/>
            <a:lstStyle/>
            <a:p>
              <a:pPr algn="ctr"/>
              <a:endParaRPr/>
            </a:p>
          </p:txBody>
        </p:sp>
        <p:sp>
          <p:nvSpPr>
            <p:cNvPr id="16" name="Stack cell"/>
            <p:cNvSpPr/>
            <p:nvPr/>
          </p:nvSpPr>
          <p:spPr>
            <a:xfrm>
              <a:off x="3154680" y="2322576"/>
              <a:ext cx="365760" cy="365760"/>
            </a:xfrm>
            <a:prstGeom prst="roundRect">
              <a:avLst>
                <a:gd name="adj" fmla="val 12500"/>
              </a:avLst>
            </a:prstGeom>
            <a:solidFill>
              <a:srgbClr val="F28C28"/>
            </a:solidFill>
            <a:ln>
              <a:noFill/>
            </a:ln>
          </p:spPr>
          <p:txBody>
            <a:bodyPr rtlCol="0" anchor="ctr"/>
            <a:lstStyle/>
            <a:p>
              <a:pPr algn="ctr"/>
              <a:endParaRPr/>
            </a:p>
          </p:txBody>
        </p:sp>
        <p:sp>
          <p:nvSpPr>
            <p:cNvPr id="17" name="Stack cell"/>
            <p:cNvSpPr/>
            <p:nvPr/>
          </p:nvSpPr>
          <p:spPr>
            <a:xfrm>
              <a:off x="1435608" y="2752344"/>
              <a:ext cx="365760" cy="365760"/>
            </a:xfrm>
            <a:prstGeom prst="roundRect">
              <a:avLst>
                <a:gd name="adj" fmla="val 12500"/>
              </a:avLst>
            </a:prstGeom>
            <a:solidFill>
              <a:srgbClr val="F28C28"/>
            </a:solidFill>
            <a:ln>
              <a:noFill/>
            </a:ln>
          </p:spPr>
          <p:txBody>
            <a:bodyPr rtlCol="0" anchor="ctr"/>
            <a:lstStyle/>
            <a:p>
              <a:pPr algn="ctr"/>
              <a:endParaRPr/>
            </a:p>
          </p:txBody>
        </p:sp>
        <p:sp>
          <p:nvSpPr>
            <p:cNvPr id="18" name="Stack cell"/>
            <p:cNvSpPr/>
            <p:nvPr/>
          </p:nvSpPr>
          <p:spPr>
            <a:xfrm>
              <a:off x="1865376" y="2752344"/>
              <a:ext cx="365760" cy="365760"/>
            </a:xfrm>
            <a:prstGeom prst="roundRect">
              <a:avLst>
                <a:gd name="adj" fmla="val 12500"/>
              </a:avLst>
            </a:prstGeom>
            <a:solidFill>
              <a:srgbClr val="F28C28"/>
            </a:solidFill>
            <a:ln>
              <a:noFill/>
            </a:ln>
          </p:spPr>
          <p:txBody>
            <a:bodyPr rtlCol="0" anchor="ctr"/>
            <a:lstStyle/>
            <a:p>
              <a:pPr algn="ctr"/>
              <a:endParaRPr/>
            </a:p>
          </p:txBody>
        </p:sp>
        <p:sp>
          <p:nvSpPr>
            <p:cNvPr id="19" name="Stack cell"/>
            <p:cNvSpPr/>
            <p:nvPr/>
          </p:nvSpPr>
          <p:spPr>
            <a:xfrm>
              <a:off x="2295144" y="2752344"/>
              <a:ext cx="365760" cy="365760"/>
            </a:xfrm>
            <a:prstGeom prst="roundRect">
              <a:avLst>
                <a:gd name="adj" fmla="val 12500"/>
              </a:avLst>
            </a:prstGeom>
            <a:solidFill>
              <a:srgbClr val="F28C28"/>
            </a:solidFill>
            <a:ln>
              <a:noFill/>
            </a:ln>
          </p:spPr>
          <p:txBody>
            <a:bodyPr rtlCol="0" anchor="ctr"/>
            <a:lstStyle/>
            <a:p>
              <a:pPr algn="ctr"/>
              <a:endParaRPr/>
            </a:p>
          </p:txBody>
        </p:sp>
        <p:sp>
          <p:nvSpPr>
            <p:cNvPr id="20" name="Stack cell"/>
            <p:cNvSpPr/>
            <p:nvPr/>
          </p:nvSpPr>
          <p:spPr>
            <a:xfrm>
              <a:off x="2724912" y="2752344"/>
              <a:ext cx="365760" cy="365760"/>
            </a:xfrm>
            <a:prstGeom prst="roundRect">
              <a:avLst>
                <a:gd name="adj" fmla="val 12500"/>
              </a:avLst>
            </a:prstGeom>
            <a:solidFill>
              <a:srgbClr val="F28C28"/>
            </a:solidFill>
            <a:ln>
              <a:noFill/>
            </a:ln>
          </p:spPr>
          <p:txBody>
            <a:bodyPr rtlCol="0" anchor="ctr"/>
            <a:lstStyle/>
            <a:p>
              <a:pPr algn="ctr"/>
              <a:endParaRPr/>
            </a:p>
          </p:txBody>
        </p:sp>
        <p:sp>
          <p:nvSpPr>
            <p:cNvPr id="21" name="Stack cell"/>
            <p:cNvSpPr/>
            <p:nvPr/>
          </p:nvSpPr>
          <p:spPr>
            <a:xfrm>
              <a:off x="3154680" y="2752344"/>
              <a:ext cx="365760" cy="365760"/>
            </a:xfrm>
            <a:prstGeom prst="roundRect">
              <a:avLst>
                <a:gd name="adj" fmla="val 12500"/>
              </a:avLst>
            </a:prstGeom>
            <a:solidFill>
              <a:srgbClr val="F28C28"/>
            </a:solidFill>
            <a:ln>
              <a:noFill/>
            </a:ln>
          </p:spPr>
          <p:txBody>
            <a:bodyPr rtlCol="0" anchor="ctr"/>
            <a:lstStyle/>
            <a:p>
              <a:pPr algn="ctr"/>
              <a:endParaRPr/>
            </a:p>
          </p:txBody>
        </p:sp>
        <p:sp>
          <p:nvSpPr>
            <p:cNvPr id="22" name="Stack cell"/>
            <p:cNvSpPr/>
            <p:nvPr/>
          </p:nvSpPr>
          <p:spPr>
            <a:xfrm>
              <a:off x="1435608" y="3182112"/>
              <a:ext cx="365760" cy="365760"/>
            </a:xfrm>
            <a:prstGeom prst="roundRect">
              <a:avLst>
                <a:gd name="adj" fmla="val 12500"/>
              </a:avLst>
            </a:prstGeom>
            <a:solidFill>
              <a:srgbClr val="F28C28"/>
            </a:solidFill>
            <a:ln>
              <a:noFill/>
            </a:ln>
          </p:spPr>
          <p:txBody>
            <a:bodyPr rtlCol="0" anchor="ctr"/>
            <a:lstStyle/>
            <a:p>
              <a:pPr algn="ctr"/>
              <a:endParaRPr/>
            </a:p>
          </p:txBody>
        </p:sp>
        <p:sp>
          <p:nvSpPr>
            <p:cNvPr id="23" name="Stack cell"/>
            <p:cNvSpPr/>
            <p:nvPr/>
          </p:nvSpPr>
          <p:spPr>
            <a:xfrm>
              <a:off x="1865376" y="3182112"/>
              <a:ext cx="365760" cy="365760"/>
            </a:xfrm>
            <a:prstGeom prst="roundRect">
              <a:avLst>
                <a:gd name="adj" fmla="val 12500"/>
              </a:avLst>
            </a:prstGeom>
            <a:solidFill>
              <a:srgbClr val="F28C28"/>
            </a:solidFill>
            <a:ln>
              <a:noFill/>
            </a:ln>
          </p:spPr>
          <p:txBody>
            <a:bodyPr rtlCol="0" anchor="ctr"/>
            <a:lstStyle/>
            <a:p>
              <a:pPr algn="ctr"/>
              <a:endParaRPr/>
            </a:p>
          </p:txBody>
        </p:sp>
        <p:sp>
          <p:nvSpPr>
            <p:cNvPr id="24" name="Stack cell"/>
            <p:cNvSpPr/>
            <p:nvPr/>
          </p:nvSpPr>
          <p:spPr>
            <a:xfrm>
              <a:off x="2295144" y="3182112"/>
              <a:ext cx="365760" cy="365760"/>
            </a:xfrm>
            <a:prstGeom prst="roundRect">
              <a:avLst>
                <a:gd name="adj" fmla="val 12500"/>
              </a:avLst>
            </a:prstGeom>
            <a:solidFill>
              <a:srgbClr val="F28C28"/>
            </a:solidFill>
            <a:ln>
              <a:noFill/>
            </a:ln>
          </p:spPr>
          <p:txBody>
            <a:bodyPr rtlCol="0" anchor="ctr"/>
            <a:lstStyle/>
            <a:p>
              <a:pPr algn="ctr"/>
              <a:endParaRPr/>
            </a:p>
          </p:txBody>
        </p:sp>
        <p:sp>
          <p:nvSpPr>
            <p:cNvPr id="25" name="Stack cell"/>
            <p:cNvSpPr/>
            <p:nvPr/>
          </p:nvSpPr>
          <p:spPr>
            <a:xfrm>
              <a:off x="2724912" y="3182112"/>
              <a:ext cx="365760" cy="365760"/>
            </a:xfrm>
            <a:prstGeom prst="roundRect">
              <a:avLst>
                <a:gd name="adj" fmla="val 12500"/>
              </a:avLst>
            </a:prstGeom>
            <a:solidFill>
              <a:srgbClr val="F28C28"/>
            </a:solidFill>
            <a:ln>
              <a:noFill/>
            </a:ln>
          </p:spPr>
          <p:txBody>
            <a:bodyPr rtlCol="0" anchor="ctr"/>
            <a:lstStyle/>
            <a:p>
              <a:pPr algn="ctr"/>
              <a:endParaRPr/>
            </a:p>
          </p:txBody>
        </p:sp>
        <p:sp>
          <p:nvSpPr>
            <p:cNvPr id="26" name="Stack cell"/>
            <p:cNvSpPr/>
            <p:nvPr/>
          </p:nvSpPr>
          <p:spPr>
            <a:xfrm>
              <a:off x="3154680" y="3182112"/>
              <a:ext cx="365760" cy="365760"/>
            </a:xfrm>
            <a:prstGeom prst="roundRect">
              <a:avLst>
                <a:gd name="adj" fmla="val 12500"/>
              </a:avLst>
            </a:prstGeom>
            <a:solidFill>
              <a:srgbClr val="F28C28"/>
            </a:solidFill>
            <a:ln>
              <a:noFill/>
            </a:ln>
          </p:spPr>
          <p:txBody>
            <a:bodyPr rtlCol="0" anchor="ctr"/>
            <a:lstStyle/>
            <a:p>
              <a:pPr algn="ctr"/>
              <a:endParaRPr/>
            </a:p>
          </p:txBody>
        </p:sp>
        <p:sp>
          <p:nvSpPr>
            <p:cNvPr id="27" name="Wheel"/>
            <p:cNvSpPr/>
            <p:nvPr/>
          </p:nvSpPr>
          <p:spPr>
            <a:xfrm>
              <a:off x="1554480" y="3749040"/>
              <a:ext cx="365760" cy="365760"/>
            </a:xfrm>
            <a:prstGeom prst="ellipse">
              <a:avLst/>
            </a:prstGeom>
            <a:solidFill>
              <a:srgbClr val="1B1D21"/>
            </a:solidFill>
            <a:ln w="19050">
              <a:solidFill>
                <a:srgbClr val="9AA0A6"/>
              </a:solidFill>
            </a:ln>
          </p:spPr>
          <p:txBody>
            <a:bodyPr rtlCol="0" anchor="ctr"/>
            <a:lstStyle/>
            <a:p>
              <a:pPr algn="ctr"/>
              <a:endParaRPr/>
            </a:p>
          </p:txBody>
        </p:sp>
        <p:sp>
          <p:nvSpPr>
            <p:cNvPr id="28" name="Hub"/>
            <p:cNvSpPr/>
            <p:nvPr/>
          </p:nvSpPr>
          <p:spPr>
            <a:xfrm>
              <a:off x="1686154" y="3880714"/>
              <a:ext cx="102413" cy="102413"/>
            </a:xfrm>
            <a:prstGeom prst="ellipse">
              <a:avLst/>
            </a:prstGeom>
            <a:solidFill>
              <a:srgbClr val="9AA0A6"/>
            </a:solidFill>
            <a:ln>
              <a:noFill/>
            </a:ln>
          </p:spPr>
          <p:txBody>
            <a:bodyPr rtlCol="0" anchor="ctr"/>
            <a:lstStyle/>
            <a:p>
              <a:pPr algn="ctr"/>
              <a:endParaRPr/>
            </a:p>
          </p:txBody>
        </p:sp>
        <p:sp>
          <p:nvSpPr>
            <p:cNvPr id="29" name="Wheel"/>
            <p:cNvSpPr/>
            <p:nvPr/>
          </p:nvSpPr>
          <p:spPr>
            <a:xfrm>
              <a:off x="3035808" y="3749040"/>
              <a:ext cx="365760" cy="365760"/>
            </a:xfrm>
            <a:prstGeom prst="ellipse">
              <a:avLst/>
            </a:prstGeom>
            <a:solidFill>
              <a:srgbClr val="1B1D21"/>
            </a:solidFill>
            <a:ln w="19050">
              <a:solidFill>
                <a:srgbClr val="9AA0A6"/>
              </a:solidFill>
            </a:ln>
          </p:spPr>
          <p:txBody>
            <a:bodyPr rtlCol="0" anchor="ctr"/>
            <a:lstStyle/>
            <a:p>
              <a:pPr algn="ctr"/>
              <a:endParaRPr/>
            </a:p>
          </p:txBody>
        </p:sp>
        <p:sp>
          <p:nvSpPr>
            <p:cNvPr id="30" name="Hub"/>
            <p:cNvSpPr/>
            <p:nvPr/>
          </p:nvSpPr>
          <p:spPr>
            <a:xfrm>
              <a:off x="3167482" y="3880714"/>
              <a:ext cx="102413" cy="102413"/>
            </a:xfrm>
            <a:prstGeom prst="ellipse">
              <a:avLst/>
            </a:prstGeom>
            <a:solidFill>
              <a:srgbClr val="9AA0A6"/>
            </a:solidFill>
            <a:ln>
              <a:noFill/>
            </a:ln>
          </p:spPr>
          <p:txBody>
            <a:bodyPr rtlCol="0" anchor="ctr"/>
            <a:lstStyle/>
            <a:p>
              <a:pPr algn="ctr"/>
              <a:endParaRPr/>
            </a:p>
          </p:txBody>
        </p:sp>
        <p:sp>
          <p:nvSpPr>
            <p:cNvPr id="31" name="Vanilla wagon body"/>
            <p:cNvSpPr/>
            <p:nvPr/>
          </p:nvSpPr>
          <p:spPr>
            <a:xfrm>
              <a:off x="4407408" y="1691640"/>
              <a:ext cx="3776472" cy="2057400"/>
            </a:xfrm>
            <a:prstGeom prst="roundRect">
              <a:avLst>
                <a:gd name="adj" fmla="val 3555"/>
              </a:avLst>
            </a:prstGeom>
            <a:solidFill>
              <a:srgbClr val="343A43"/>
            </a:solidFill>
            <a:ln w="31750">
              <a:solidFill>
                <a:srgbClr val="6CA0DC"/>
              </a:solidFill>
            </a:ln>
          </p:spPr>
          <p:txBody>
            <a:bodyPr rtlCol="0" anchor="ctr"/>
            <a:lstStyle/>
            <a:p>
              <a:pPr algn="ctr"/>
              <a:endParaRPr/>
            </a:p>
          </p:txBody>
        </p:sp>
        <p:sp>
          <p:nvSpPr>
            <p:cNvPr id="32" name="Stack cell"/>
            <p:cNvSpPr/>
            <p:nvPr/>
          </p:nvSpPr>
          <p:spPr>
            <a:xfrm>
              <a:off x="4608576" y="1892808"/>
              <a:ext cx="365760" cy="365760"/>
            </a:xfrm>
            <a:prstGeom prst="roundRect">
              <a:avLst>
                <a:gd name="adj" fmla="val 12500"/>
              </a:avLst>
            </a:prstGeom>
            <a:solidFill>
              <a:srgbClr val="6CA0DC"/>
            </a:solidFill>
            <a:ln>
              <a:noFill/>
            </a:ln>
          </p:spPr>
          <p:txBody>
            <a:bodyPr rtlCol="0" anchor="ctr"/>
            <a:lstStyle/>
            <a:p>
              <a:pPr algn="ctr"/>
              <a:endParaRPr/>
            </a:p>
          </p:txBody>
        </p:sp>
        <p:sp>
          <p:nvSpPr>
            <p:cNvPr id="33" name="Stack cell"/>
            <p:cNvSpPr/>
            <p:nvPr/>
          </p:nvSpPr>
          <p:spPr>
            <a:xfrm>
              <a:off x="5038344" y="1892808"/>
              <a:ext cx="365760" cy="365760"/>
            </a:xfrm>
            <a:prstGeom prst="roundRect">
              <a:avLst>
                <a:gd name="adj" fmla="val 12500"/>
              </a:avLst>
            </a:prstGeom>
            <a:solidFill>
              <a:srgbClr val="6CA0DC"/>
            </a:solidFill>
            <a:ln>
              <a:noFill/>
            </a:ln>
          </p:spPr>
          <p:txBody>
            <a:bodyPr rtlCol="0" anchor="ctr"/>
            <a:lstStyle/>
            <a:p>
              <a:pPr algn="ctr"/>
              <a:endParaRPr/>
            </a:p>
          </p:txBody>
        </p:sp>
        <p:sp>
          <p:nvSpPr>
            <p:cNvPr id="34" name="Stack cell"/>
            <p:cNvSpPr/>
            <p:nvPr/>
          </p:nvSpPr>
          <p:spPr>
            <a:xfrm>
              <a:off x="5468112" y="1892808"/>
              <a:ext cx="365760" cy="365760"/>
            </a:xfrm>
            <a:prstGeom prst="roundRect">
              <a:avLst>
                <a:gd name="adj" fmla="val 12500"/>
              </a:avLst>
            </a:prstGeom>
            <a:solidFill>
              <a:srgbClr val="6CA0DC"/>
            </a:solidFill>
            <a:ln>
              <a:noFill/>
            </a:ln>
          </p:spPr>
          <p:txBody>
            <a:bodyPr rtlCol="0" anchor="ctr"/>
            <a:lstStyle/>
            <a:p>
              <a:pPr algn="ctr"/>
              <a:endParaRPr/>
            </a:p>
          </p:txBody>
        </p:sp>
        <p:sp>
          <p:nvSpPr>
            <p:cNvPr id="35" name="Stack cell"/>
            <p:cNvSpPr/>
            <p:nvPr/>
          </p:nvSpPr>
          <p:spPr>
            <a:xfrm>
              <a:off x="5897880" y="1892808"/>
              <a:ext cx="365760" cy="365760"/>
            </a:xfrm>
            <a:prstGeom prst="roundRect">
              <a:avLst>
                <a:gd name="adj" fmla="val 12500"/>
              </a:avLst>
            </a:prstGeom>
            <a:solidFill>
              <a:srgbClr val="6CA0DC"/>
            </a:solidFill>
            <a:ln>
              <a:noFill/>
            </a:ln>
          </p:spPr>
          <p:txBody>
            <a:bodyPr rtlCol="0" anchor="ctr"/>
            <a:lstStyle/>
            <a:p>
              <a:pPr algn="ctr"/>
              <a:endParaRPr/>
            </a:p>
          </p:txBody>
        </p:sp>
        <p:sp>
          <p:nvSpPr>
            <p:cNvPr id="36" name="Stack cell"/>
            <p:cNvSpPr/>
            <p:nvPr/>
          </p:nvSpPr>
          <p:spPr>
            <a:xfrm>
              <a:off x="6327648" y="1892808"/>
              <a:ext cx="365760" cy="365760"/>
            </a:xfrm>
            <a:prstGeom prst="roundRect">
              <a:avLst>
                <a:gd name="adj" fmla="val 12500"/>
              </a:avLst>
            </a:prstGeom>
            <a:solidFill>
              <a:srgbClr val="6CA0DC"/>
            </a:solidFill>
            <a:ln>
              <a:noFill/>
            </a:ln>
          </p:spPr>
          <p:txBody>
            <a:bodyPr rtlCol="0" anchor="ctr"/>
            <a:lstStyle/>
            <a:p>
              <a:pPr algn="ctr"/>
              <a:endParaRPr/>
            </a:p>
          </p:txBody>
        </p:sp>
        <p:sp>
          <p:nvSpPr>
            <p:cNvPr id="37" name="Stack cell"/>
            <p:cNvSpPr/>
            <p:nvPr/>
          </p:nvSpPr>
          <p:spPr>
            <a:xfrm>
              <a:off x="6757416" y="1892808"/>
              <a:ext cx="365760" cy="365760"/>
            </a:xfrm>
            <a:prstGeom prst="roundRect">
              <a:avLst>
                <a:gd name="adj" fmla="val 12500"/>
              </a:avLst>
            </a:prstGeom>
            <a:solidFill>
              <a:srgbClr val="6CA0DC"/>
            </a:solidFill>
            <a:ln>
              <a:noFill/>
            </a:ln>
          </p:spPr>
          <p:txBody>
            <a:bodyPr rtlCol="0" anchor="ctr"/>
            <a:lstStyle/>
            <a:p>
              <a:pPr algn="ctr"/>
              <a:endParaRPr/>
            </a:p>
          </p:txBody>
        </p:sp>
        <p:sp>
          <p:nvSpPr>
            <p:cNvPr id="38" name="Stack cell"/>
            <p:cNvSpPr/>
            <p:nvPr/>
          </p:nvSpPr>
          <p:spPr>
            <a:xfrm>
              <a:off x="7187184" y="1892808"/>
              <a:ext cx="365760" cy="365760"/>
            </a:xfrm>
            <a:prstGeom prst="roundRect">
              <a:avLst>
                <a:gd name="adj" fmla="val 12500"/>
              </a:avLst>
            </a:prstGeom>
            <a:solidFill>
              <a:srgbClr val="6CA0DC"/>
            </a:solidFill>
            <a:ln>
              <a:noFill/>
            </a:ln>
          </p:spPr>
          <p:txBody>
            <a:bodyPr rtlCol="0" anchor="ctr"/>
            <a:lstStyle/>
            <a:p>
              <a:pPr algn="ctr"/>
              <a:endParaRPr/>
            </a:p>
          </p:txBody>
        </p:sp>
        <p:sp>
          <p:nvSpPr>
            <p:cNvPr id="39" name="Stack cell"/>
            <p:cNvSpPr/>
            <p:nvPr/>
          </p:nvSpPr>
          <p:spPr>
            <a:xfrm>
              <a:off x="7616952" y="1892808"/>
              <a:ext cx="365760" cy="365760"/>
            </a:xfrm>
            <a:prstGeom prst="roundRect">
              <a:avLst>
                <a:gd name="adj" fmla="val 12500"/>
              </a:avLst>
            </a:prstGeom>
            <a:solidFill>
              <a:srgbClr val="6CA0DC"/>
            </a:solidFill>
            <a:ln>
              <a:noFill/>
            </a:ln>
          </p:spPr>
          <p:txBody>
            <a:bodyPr rtlCol="0" anchor="ctr"/>
            <a:lstStyle/>
            <a:p>
              <a:pPr algn="ctr"/>
              <a:endParaRPr/>
            </a:p>
          </p:txBody>
        </p:sp>
        <p:sp>
          <p:nvSpPr>
            <p:cNvPr id="40" name="Stack cell"/>
            <p:cNvSpPr/>
            <p:nvPr/>
          </p:nvSpPr>
          <p:spPr>
            <a:xfrm>
              <a:off x="4608576" y="2322576"/>
              <a:ext cx="365760" cy="365760"/>
            </a:xfrm>
            <a:prstGeom prst="roundRect">
              <a:avLst>
                <a:gd name="adj" fmla="val 12500"/>
              </a:avLst>
            </a:prstGeom>
            <a:solidFill>
              <a:srgbClr val="6CA0DC"/>
            </a:solidFill>
            <a:ln>
              <a:noFill/>
            </a:ln>
          </p:spPr>
          <p:txBody>
            <a:bodyPr rtlCol="0" anchor="ctr"/>
            <a:lstStyle/>
            <a:p>
              <a:pPr algn="ctr"/>
              <a:endParaRPr/>
            </a:p>
          </p:txBody>
        </p:sp>
        <p:sp>
          <p:nvSpPr>
            <p:cNvPr id="41" name="Stack cell"/>
            <p:cNvSpPr/>
            <p:nvPr/>
          </p:nvSpPr>
          <p:spPr>
            <a:xfrm>
              <a:off x="5038344" y="2322576"/>
              <a:ext cx="365760" cy="365760"/>
            </a:xfrm>
            <a:prstGeom prst="roundRect">
              <a:avLst>
                <a:gd name="adj" fmla="val 12500"/>
              </a:avLst>
            </a:prstGeom>
            <a:solidFill>
              <a:srgbClr val="6CA0DC"/>
            </a:solidFill>
            <a:ln>
              <a:noFill/>
            </a:ln>
          </p:spPr>
          <p:txBody>
            <a:bodyPr rtlCol="0" anchor="ctr"/>
            <a:lstStyle/>
            <a:p>
              <a:pPr algn="ctr"/>
              <a:endParaRPr/>
            </a:p>
          </p:txBody>
        </p:sp>
        <p:sp>
          <p:nvSpPr>
            <p:cNvPr id="42" name="Stack cell"/>
            <p:cNvSpPr/>
            <p:nvPr/>
          </p:nvSpPr>
          <p:spPr>
            <a:xfrm>
              <a:off x="5468112" y="2322576"/>
              <a:ext cx="365760" cy="365760"/>
            </a:xfrm>
            <a:prstGeom prst="roundRect">
              <a:avLst>
                <a:gd name="adj" fmla="val 12500"/>
              </a:avLst>
            </a:prstGeom>
            <a:solidFill>
              <a:srgbClr val="6CA0DC"/>
            </a:solidFill>
            <a:ln>
              <a:noFill/>
            </a:ln>
          </p:spPr>
          <p:txBody>
            <a:bodyPr rtlCol="0" anchor="ctr"/>
            <a:lstStyle/>
            <a:p>
              <a:pPr algn="ctr"/>
              <a:endParaRPr/>
            </a:p>
          </p:txBody>
        </p:sp>
        <p:sp>
          <p:nvSpPr>
            <p:cNvPr id="43" name="Stack cell"/>
            <p:cNvSpPr/>
            <p:nvPr/>
          </p:nvSpPr>
          <p:spPr>
            <a:xfrm>
              <a:off x="5897880" y="2322576"/>
              <a:ext cx="365760" cy="365760"/>
            </a:xfrm>
            <a:prstGeom prst="roundRect">
              <a:avLst>
                <a:gd name="adj" fmla="val 12500"/>
              </a:avLst>
            </a:prstGeom>
            <a:solidFill>
              <a:srgbClr val="6CA0DC"/>
            </a:solidFill>
            <a:ln>
              <a:noFill/>
            </a:ln>
          </p:spPr>
          <p:txBody>
            <a:bodyPr rtlCol="0" anchor="ctr"/>
            <a:lstStyle/>
            <a:p>
              <a:pPr algn="ctr"/>
              <a:endParaRPr/>
            </a:p>
          </p:txBody>
        </p:sp>
        <p:sp>
          <p:nvSpPr>
            <p:cNvPr id="44" name="Stack cell"/>
            <p:cNvSpPr/>
            <p:nvPr/>
          </p:nvSpPr>
          <p:spPr>
            <a:xfrm>
              <a:off x="6327648" y="2322576"/>
              <a:ext cx="365760" cy="365760"/>
            </a:xfrm>
            <a:prstGeom prst="roundRect">
              <a:avLst>
                <a:gd name="adj" fmla="val 12500"/>
              </a:avLst>
            </a:prstGeom>
            <a:solidFill>
              <a:srgbClr val="6CA0DC"/>
            </a:solidFill>
            <a:ln>
              <a:noFill/>
            </a:ln>
          </p:spPr>
          <p:txBody>
            <a:bodyPr rtlCol="0" anchor="ctr"/>
            <a:lstStyle/>
            <a:p>
              <a:pPr algn="ctr"/>
              <a:endParaRPr/>
            </a:p>
          </p:txBody>
        </p:sp>
        <p:sp>
          <p:nvSpPr>
            <p:cNvPr id="45" name="Stack cell"/>
            <p:cNvSpPr/>
            <p:nvPr/>
          </p:nvSpPr>
          <p:spPr>
            <a:xfrm>
              <a:off x="6757416" y="2322576"/>
              <a:ext cx="365760" cy="365760"/>
            </a:xfrm>
            <a:prstGeom prst="roundRect">
              <a:avLst>
                <a:gd name="adj" fmla="val 12500"/>
              </a:avLst>
            </a:prstGeom>
            <a:solidFill>
              <a:srgbClr val="6CA0DC"/>
            </a:solidFill>
            <a:ln>
              <a:noFill/>
            </a:ln>
          </p:spPr>
          <p:txBody>
            <a:bodyPr rtlCol="0" anchor="ctr"/>
            <a:lstStyle/>
            <a:p>
              <a:pPr algn="ctr"/>
              <a:endParaRPr/>
            </a:p>
          </p:txBody>
        </p:sp>
        <p:sp>
          <p:nvSpPr>
            <p:cNvPr id="46" name="Stack cell"/>
            <p:cNvSpPr/>
            <p:nvPr/>
          </p:nvSpPr>
          <p:spPr>
            <a:xfrm>
              <a:off x="7187184" y="2322576"/>
              <a:ext cx="365760" cy="365760"/>
            </a:xfrm>
            <a:prstGeom prst="roundRect">
              <a:avLst>
                <a:gd name="adj" fmla="val 12500"/>
              </a:avLst>
            </a:prstGeom>
            <a:solidFill>
              <a:srgbClr val="6CA0DC"/>
            </a:solidFill>
            <a:ln>
              <a:noFill/>
            </a:ln>
          </p:spPr>
          <p:txBody>
            <a:bodyPr rtlCol="0" anchor="ctr"/>
            <a:lstStyle/>
            <a:p>
              <a:pPr algn="ctr"/>
              <a:endParaRPr/>
            </a:p>
          </p:txBody>
        </p:sp>
        <p:sp>
          <p:nvSpPr>
            <p:cNvPr id="47" name="Stack cell"/>
            <p:cNvSpPr/>
            <p:nvPr/>
          </p:nvSpPr>
          <p:spPr>
            <a:xfrm>
              <a:off x="7616952" y="2322576"/>
              <a:ext cx="365760" cy="365760"/>
            </a:xfrm>
            <a:prstGeom prst="roundRect">
              <a:avLst>
                <a:gd name="adj" fmla="val 12500"/>
              </a:avLst>
            </a:prstGeom>
            <a:solidFill>
              <a:srgbClr val="6CA0DC"/>
            </a:solidFill>
            <a:ln>
              <a:noFill/>
            </a:ln>
          </p:spPr>
          <p:txBody>
            <a:bodyPr rtlCol="0" anchor="ctr"/>
            <a:lstStyle/>
            <a:p>
              <a:pPr algn="ctr"/>
              <a:endParaRPr/>
            </a:p>
          </p:txBody>
        </p:sp>
        <p:sp>
          <p:nvSpPr>
            <p:cNvPr id="48" name="Stack cell"/>
            <p:cNvSpPr/>
            <p:nvPr/>
          </p:nvSpPr>
          <p:spPr>
            <a:xfrm>
              <a:off x="4608576" y="2752344"/>
              <a:ext cx="365760" cy="365760"/>
            </a:xfrm>
            <a:prstGeom prst="roundRect">
              <a:avLst>
                <a:gd name="adj" fmla="val 12500"/>
              </a:avLst>
            </a:prstGeom>
            <a:solidFill>
              <a:srgbClr val="6CA0DC"/>
            </a:solidFill>
            <a:ln>
              <a:noFill/>
            </a:ln>
          </p:spPr>
          <p:txBody>
            <a:bodyPr rtlCol="0" anchor="ctr"/>
            <a:lstStyle/>
            <a:p>
              <a:pPr algn="ctr"/>
              <a:endParaRPr/>
            </a:p>
          </p:txBody>
        </p:sp>
        <p:sp>
          <p:nvSpPr>
            <p:cNvPr id="49" name="Stack cell"/>
            <p:cNvSpPr/>
            <p:nvPr/>
          </p:nvSpPr>
          <p:spPr>
            <a:xfrm>
              <a:off x="5038344" y="2752344"/>
              <a:ext cx="365760" cy="365760"/>
            </a:xfrm>
            <a:prstGeom prst="roundRect">
              <a:avLst>
                <a:gd name="adj" fmla="val 12500"/>
              </a:avLst>
            </a:prstGeom>
            <a:solidFill>
              <a:srgbClr val="6CA0DC"/>
            </a:solidFill>
            <a:ln>
              <a:noFill/>
            </a:ln>
          </p:spPr>
          <p:txBody>
            <a:bodyPr rtlCol="0" anchor="ctr"/>
            <a:lstStyle/>
            <a:p>
              <a:pPr algn="ctr"/>
              <a:endParaRPr/>
            </a:p>
          </p:txBody>
        </p:sp>
        <p:sp>
          <p:nvSpPr>
            <p:cNvPr id="50" name="Stack cell"/>
            <p:cNvSpPr/>
            <p:nvPr/>
          </p:nvSpPr>
          <p:spPr>
            <a:xfrm>
              <a:off x="5468112" y="2752344"/>
              <a:ext cx="365760" cy="365760"/>
            </a:xfrm>
            <a:prstGeom prst="roundRect">
              <a:avLst>
                <a:gd name="adj" fmla="val 12500"/>
              </a:avLst>
            </a:prstGeom>
            <a:solidFill>
              <a:srgbClr val="6CA0DC"/>
            </a:solidFill>
            <a:ln>
              <a:noFill/>
            </a:ln>
          </p:spPr>
          <p:txBody>
            <a:bodyPr rtlCol="0" anchor="ctr"/>
            <a:lstStyle/>
            <a:p>
              <a:pPr algn="ctr"/>
              <a:endParaRPr/>
            </a:p>
          </p:txBody>
        </p:sp>
        <p:sp>
          <p:nvSpPr>
            <p:cNvPr id="51" name="Stack cell"/>
            <p:cNvSpPr/>
            <p:nvPr/>
          </p:nvSpPr>
          <p:spPr>
            <a:xfrm>
              <a:off x="5897880" y="2752344"/>
              <a:ext cx="365760" cy="365760"/>
            </a:xfrm>
            <a:prstGeom prst="roundRect">
              <a:avLst>
                <a:gd name="adj" fmla="val 12500"/>
              </a:avLst>
            </a:prstGeom>
            <a:solidFill>
              <a:srgbClr val="6CA0DC"/>
            </a:solidFill>
            <a:ln>
              <a:noFill/>
            </a:ln>
          </p:spPr>
          <p:txBody>
            <a:bodyPr rtlCol="0" anchor="ctr"/>
            <a:lstStyle/>
            <a:p>
              <a:pPr algn="ctr"/>
              <a:endParaRPr/>
            </a:p>
          </p:txBody>
        </p:sp>
        <p:sp>
          <p:nvSpPr>
            <p:cNvPr id="52" name="Stack cell"/>
            <p:cNvSpPr/>
            <p:nvPr/>
          </p:nvSpPr>
          <p:spPr>
            <a:xfrm>
              <a:off x="6327648" y="2752344"/>
              <a:ext cx="365760" cy="365760"/>
            </a:xfrm>
            <a:prstGeom prst="roundRect">
              <a:avLst>
                <a:gd name="adj" fmla="val 12500"/>
              </a:avLst>
            </a:prstGeom>
            <a:solidFill>
              <a:srgbClr val="6CA0DC"/>
            </a:solidFill>
            <a:ln>
              <a:noFill/>
            </a:ln>
          </p:spPr>
          <p:txBody>
            <a:bodyPr rtlCol="0" anchor="ctr"/>
            <a:lstStyle/>
            <a:p>
              <a:pPr algn="ctr"/>
              <a:endParaRPr/>
            </a:p>
          </p:txBody>
        </p:sp>
        <p:sp>
          <p:nvSpPr>
            <p:cNvPr id="53" name="Stack cell"/>
            <p:cNvSpPr/>
            <p:nvPr/>
          </p:nvSpPr>
          <p:spPr>
            <a:xfrm>
              <a:off x="6757416" y="2752344"/>
              <a:ext cx="365760" cy="365760"/>
            </a:xfrm>
            <a:prstGeom prst="roundRect">
              <a:avLst>
                <a:gd name="adj" fmla="val 12500"/>
              </a:avLst>
            </a:prstGeom>
            <a:solidFill>
              <a:srgbClr val="6CA0DC"/>
            </a:solidFill>
            <a:ln>
              <a:noFill/>
            </a:ln>
          </p:spPr>
          <p:txBody>
            <a:bodyPr rtlCol="0" anchor="ctr"/>
            <a:lstStyle/>
            <a:p>
              <a:pPr algn="ctr"/>
              <a:endParaRPr/>
            </a:p>
          </p:txBody>
        </p:sp>
        <p:sp>
          <p:nvSpPr>
            <p:cNvPr id="54" name="Stack cell"/>
            <p:cNvSpPr/>
            <p:nvPr/>
          </p:nvSpPr>
          <p:spPr>
            <a:xfrm>
              <a:off x="7187184" y="2752344"/>
              <a:ext cx="365760" cy="365760"/>
            </a:xfrm>
            <a:prstGeom prst="roundRect">
              <a:avLst>
                <a:gd name="adj" fmla="val 12500"/>
              </a:avLst>
            </a:prstGeom>
            <a:solidFill>
              <a:srgbClr val="6CA0DC"/>
            </a:solidFill>
            <a:ln>
              <a:noFill/>
            </a:ln>
          </p:spPr>
          <p:txBody>
            <a:bodyPr rtlCol="0" anchor="ctr"/>
            <a:lstStyle/>
            <a:p>
              <a:pPr algn="ctr"/>
              <a:endParaRPr/>
            </a:p>
          </p:txBody>
        </p:sp>
        <p:sp>
          <p:nvSpPr>
            <p:cNvPr id="55" name="Stack cell"/>
            <p:cNvSpPr/>
            <p:nvPr/>
          </p:nvSpPr>
          <p:spPr>
            <a:xfrm>
              <a:off x="7616952" y="2752344"/>
              <a:ext cx="365760" cy="365760"/>
            </a:xfrm>
            <a:prstGeom prst="roundRect">
              <a:avLst>
                <a:gd name="adj" fmla="val 12500"/>
              </a:avLst>
            </a:prstGeom>
            <a:solidFill>
              <a:srgbClr val="6CA0DC"/>
            </a:solidFill>
            <a:ln>
              <a:noFill/>
            </a:ln>
          </p:spPr>
          <p:txBody>
            <a:bodyPr rtlCol="0" anchor="ctr"/>
            <a:lstStyle/>
            <a:p>
              <a:pPr algn="ctr"/>
              <a:endParaRPr/>
            </a:p>
          </p:txBody>
        </p:sp>
        <p:sp>
          <p:nvSpPr>
            <p:cNvPr id="56" name="Stack cell"/>
            <p:cNvSpPr/>
            <p:nvPr/>
          </p:nvSpPr>
          <p:spPr>
            <a:xfrm>
              <a:off x="4608576" y="3182112"/>
              <a:ext cx="365760" cy="365760"/>
            </a:xfrm>
            <a:prstGeom prst="roundRect">
              <a:avLst>
                <a:gd name="adj" fmla="val 12500"/>
              </a:avLst>
            </a:prstGeom>
            <a:solidFill>
              <a:srgbClr val="6CA0DC"/>
            </a:solidFill>
            <a:ln>
              <a:noFill/>
            </a:ln>
          </p:spPr>
          <p:txBody>
            <a:bodyPr rtlCol="0" anchor="ctr"/>
            <a:lstStyle/>
            <a:p>
              <a:pPr algn="ctr"/>
              <a:endParaRPr/>
            </a:p>
          </p:txBody>
        </p:sp>
        <p:sp>
          <p:nvSpPr>
            <p:cNvPr id="57" name="Stack cell"/>
            <p:cNvSpPr/>
            <p:nvPr/>
          </p:nvSpPr>
          <p:spPr>
            <a:xfrm>
              <a:off x="5038344" y="3182112"/>
              <a:ext cx="365760" cy="365760"/>
            </a:xfrm>
            <a:prstGeom prst="roundRect">
              <a:avLst>
                <a:gd name="adj" fmla="val 12500"/>
              </a:avLst>
            </a:prstGeom>
            <a:solidFill>
              <a:srgbClr val="6CA0DC"/>
            </a:solidFill>
            <a:ln>
              <a:noFill/>
            </a:ln>
          </p:spPr>
          <p:txBody>
            <a:bodyPr rtlCol="0" anchor="ctr"/>
            <a:lstStyle/>
            <a:p>
              <a:pPr algn="ctr"/>
              <a:endParaRPr/>
            </a:p>
          </p:txBody>
        </p:sp>
        <p:sp>
          <p:nvSpPr>
            <p:cNvPr id="58" name="Stack cell"/>
            <p:cNvSpPr/>
            <p:nvPr/>
          </p:nvSpPr>
          <p:spPr>
            <a:xfrm>
              <a:off x="5468112" y="3182112"/>
              <a:ext cx="365760" cy="365760"/>
            </a:xfrm>
            <a:prstGeom prst="roundRect">
              <a:avLst>
                <a:gd name="adj" fmla="val 12500"/>
              </a:avLst>
            </a:prstGeom>
            <a:solidFill>
              <a:srgbClr val="6CA0DC"/>
            </a:solidFill>
            <a:ln>
              <a:noFill/>
            </a:ln>
          </p:spPr>
          <p:txBody>
            <a:bodyPr rtlCol="0" anchor="ctr"/>
            <a:lstStyle/>
            <a:p>
              <a:pPr algn="ctr"/>
              <a:endParaRPr/>
            </a:p>
          </p:txBody>
        </p:sp>
        <p:sp>
          <p:nvSpPr>
            <p:cNvPr id="59" name="Stack cell"/>
            <p:cNvSpPr/>
            <p:nvPr/>
          </p:nvSpPr>
          <p:spPr>
            <a:xfrm>
              <a:off x="5897880" y="3182112"/>
              <a:ext cx="365760" cy="365760"/>
            </a:xfrm>
            <a:prstGeom prst="roundRect">
              <a:avLst>
                <a:gd name="adj" fmla="val 12500"/>
              </a:avLst>
            </a:prstGeom>
            <a:solidFill>
              <a:srgbClr val="6CA0DC"/>
            </a:solidFill>
            <a:ln>
              <a:noFill/>
            </a:ln>
          </p:spPr>
          <p:txBody>
            <a:bodyPr rtlCol="0" anchor="ctr"/>
            <a:lstStyle/>
            <a:p>
              <a:pPr algn="ctr"/>
              <a:endParaRPr/>
            </a:p>
          </p:txBody>
        </p:sp>
        <p:sp>
          <p:nvSpPr>
            <p:cNvPr id="60" name="Stack cell"/>
            <p:cNvSpPr/>
            <p:nvPr/>
          </p:nvSpPr>
          <p:spPr>
            <a:xfrm>
              <a:off x="6327648" y="3182112"/>
              <a:ext cx="365760" cy="365760"/>
            </a:xfrm>
            <a:prstGeom prst="roundRect">
              <a:avLst>
                <a:gd name="adj" fmla="val 12500"/>
              </a:avLst>
            </a:prstGeom>
            <a:solidFill>
              <a:srgbClr val="6CA0DC"/>
            </a:solidFill>
            <a:ln>
              <a:noFill/>
            </a:ln>
          </p:spPr>
          <p:txBody>
            <a:bodyPr rtlCol="0" anchor="ctr"/>
            <a:lstStyle/>
            <a:p>
              <a:pPr algn="ctr"/>
              <a:endParaRPr/>
            </a:p>
          </p:txBody>
        </p:sp>
        <p:sp>
          <p:nvSpPr>
            <p:cNvPr id="61" name="Stack cell"/>
            <p:cNvSpPr/>
            <p:nvPr/>
          </p:nvSpPr>
          <p:spPr>
            <a:xfrm>
              <a:off x="6757416" y="3182112"/>
              <a:ext cx="365760" cy="365760"/>
            </a:xfrm>
            <a:prstGeom prst="roundRect">
              <a:avLst>
                <a:gd name="adj" fmla="val 12500"/>
              </a:avLst>
            </a:prstGeom>
            <a:solidFill>
              <a:srgbClr val="6CA0DC"/>
            </a:solidFill>
            <a:ln>
              <a:noFill/>
            </a:ln>
          </p:spPr>
          <p:txBody>
            <a:bodyPr rtlCol="0" anchor="ctr"/>
            <a:lstStyle/>
            <a:p>
              <a:pPr algn="ctr"/>
              <a:endParaRPr/>
            </a:p>
          </p:txBody>
        </p:sp>
        <p:sp>
          <p:nvSpPr>
            <p:cNvPr id="62" name="Stack cell"/>
            <p:cNvSpPr/>
            <p:nvPr/>
          </p:nvSpPr>
          <p:spPr>
            <a:xfrm>
              <a:off x="7187184" y="3182112"/>
              <a:ext cx="365760" cy="365760"/>
            </a:xfrm>
            <a:prstGeom prst="roundRect">
              <a:avLst>
                <a:gd name="adj" fmla="val 12500"/>
              </a:avLst>
            </a:prstGeom>
            <a:solidFill>
              <a:srgbClr val="6CA0DC"/>
            </a:solidFill>
            <a:ln>
              <a:noFill/>
            </a:ln>
          </p:spPr>
          <p:txBody>
            <a:bodyPr rtlCol="0" anchor="ctr"/>
            <a:lstStyle/>
            <a:p>
              <a:pPr algn="ctr"/>
              <a:endParaRPr/>
            </a:p>
          </p:txBody>
        </p:sp>
        <p:sp>
          <p:nvSpPr>
            <p:cNvPr id="63" name="Stack cell"/>
            <p:cNvSpPr/>
            <p:nvPr/>
          </p:nvSpPr>
          <p:spPr>
            <a:xfrm>
              <a:off x="7616952" y="3182112"/>
              <a:ext cx="365760" cy="365760"/>
            </a:xfrm>
            <a:prstGeom prst="roundRect">
              <a:avLst>
                <a:gd name="adj" fmla="val 12500"/>
              </a:avLst>
            </a:prstGeom>
            <a:solidFill>
              <a:srgbClr val="6CA0DC"/>
            </a:solidFill>
            <a:ln>
              <a:noFill/>
            </a:ln>
          </p:spPr>
          <p:txBody>
            <a:bodyPr rtlCol="0" anchor="ctr"/>
            <a:lstStyle/>
            <a:p>
              <a:pPr algn="ctr"/>
              <a:endParaRPr/>
            </a:p>
          </p:txBody>
        </p:sp>
        <p:sp>
          <p:nvSpPr>
            <p:cNvPr id="64" name="Wheel"/>
            <p:cNvSpPr/>
            <p:nvPr/>
          </p:nvSpPr>
          <p:spPr>
            <a:xfrm>
              <a:off x="4727448" y="3749040"/>
              <a:ext cx="365760" cy="365760"/>
            </a:xfrm>
            <a:prstGeom prst="ellipse">
              <a:avLst/>
            </a:prstGeom>
            <a:solidFill>
              <a:srgbClr val="1B1D21"/>
            </a:solidFill>
            <a:ln w="19050">
              <a:solidFill>
                <a:srgbClr val="9AA0A6"/>
              </a:solidFill>
            </a:ln>
          </p:spPr>
          <p:txBody>
            <a:bodyPr rtlCol="0" anchor="ctr"/>
            <a:lstStyle/>
            <a:p>
              <a:pPr algn="ctr"/>
              <a:endParaRPr/>
            </a:p>
          </p:txBody>
        </p:sp>
        <p:sp>
          <p:nvSpPr>
            <p:cNvPr id="65" name="Hub"/>
            <p:cNvSpPr/>
            <p:nvPr/>
          </p:nvSpPr>
          <p:spPr>
            <a:xfrm>
              <a:off x="4859122" y="3880714"/>
              <a:ext cx="102413" cy="102413"/>
            </a:xfrm>
            <a:prstGeom prst="ellipse">
              <a:avLst/>
            </a:prstGeom>
            <a:solidFill>
              <a:srgbClr val="9AA0A6"/>
            </a:solidFill>
            <a:ln>
              <a:noFill/>
            </a:ln>
          </p:spPr>
          <p:txBody>
            <a:bodyPr rtlCol="0" anchor="ctr"/>
            <a:lstStyle/>
            <a:p>
              <a:pPr algn="ctr"/>
              <a:endParaRPr/>
            </a:p>
          </p:txBody>
        </p:sp>
        <p:sp>
          <p:nvSpPr>
            <p:cNvPr id="66" name="Wheel"/>
            <p:cNvSpPr/>
            <p:nvPr/>
          </p:nvSpPr>
          <p:spPr>
            <a:xfrm>
              <a:off x="7498080" y="3749040"/>
              <a:ext cx="365760" cy="365760"/>
            </a:xfrm>
            <a:prstGeom prst="ellipse">
              <a:avLst/>
            </a:prstGeom>
            <a:solidFill>
              <a:srgbClr val="1B1D21"/>
            </a:solidFill>
            <a:ln w="19050">
              <a:solidFill>
                <a:srgbClr val="9AA0A6"/>
              </a:solidFill>
            </a:ln>
          </p:spPr>
          <p:txBody>
            <a:bodyPr rtlCol="0" anchor="ctr"/>
            <a:lstStyle/>
            <a:p>
              <a:pPr algn="ctr"/>
              <a:endParaRPr/>
            </a:p>
          </p:txBody>
        </p:sp>
        <p:sp>
          <p:nvSpPr>
            <p:cNvPr id="67" name="Hub"/>
            <p:cNvSpPr/>
            <p:nvPr/>
          </p:nvSpPr>
          <p:spPr>
            <a:xfrm>
              <a:off x="7629754" y="3880714"/>
              <a:ext cx="102413" cy="102413"/>
            </a:xfrm>
            <a:prstGeom prst="ellipse">
              <a:avLst/>
            </a:prstGeom>
            <a:solidFill>
              <a:srgbClr val="9AA0A6"/>
            </a:solidFill>
            <a:ln>
              <a:noFill/>
            </a:ln>
          </p:spPr>
          <p:txBody>
            <a:bodyPr rtlCol="0" anchor="ctr"/>
            <a:lstStyle/>
            <a:p>
              <a:pPr algn="ctr"/>
              <a:endParaRPr/>
            </a:p>
          </p:txBody>
        </p:sp>
        <p:sp>
          <p:nvSpPr>
            <p:cNvPr id="68" name="Rail"/>
            <p:cNvSpPr/>
            <p:nvPr/>
          </p:nvSpPr>
          <p:spPr>
            <a:xfrm>
              <a:off x="1097280" y="4114800"/>
              <a:ext cx="7223760" cy="45720"/>
            </a:xfrm>
            <a:prstGeom prst="rect">
              <a:avLst/>
            </a:prstGeom>
            <a:solidFill>
              <a:srgbClr val="4A515B"/>
            </a:solidFill>
            <a:ln>
              <a:noFill/>
            </a:ln>
          </p:spPr>
          <p:txBody>
            <a:bodyPr rtlCol="0" anchor="ctr"/>
            <a:lstStyle/>
            <a:p>
              <a:pPr algn="ctr"/>
              <a:endParaRPr/>
            </a:p>
          </p:txBody>
        </p:sp>
        <p:sp>
          <p:nvSpPr>
            <p:cNvPr id="69" name="TextBox 68"/>
            <p:cNvSpPr txBox="1"/>
            <p:nvPr/>
          </p:nvSpPr>
          <p:spPr>
            <a:xfrm>
              <a:off x="740664" y="4206240"/>
              <a:ext cx="3474720" cy="41148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Steam wagon: about 20 stacks</a:t>
              </a:r>
            </a:p>
          </p:txBody>
        </p:sp>
        <p:sp>
          <p:nvSpPr>
            <p:cNvPr id="70" name="TextBox 69"/>
            <p:cNvSpPr txBox="1"/>
            <p:nvPr/>
          </p:nvSpPr>
          <p:spPr>
            <a:xfrm>
              <a:off x="4558284" y="4206240"/>
              <a:ext cx="3474720" cy="41148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Vanilla wagon: 32 stacks</a:t>
              </a:r>
            </a:p>
          </p:txBody>
        </p:sp>
        <p:sp>
          <p:nvSpPr>
            <p:cNvPr id="71" name="Inline chip: Wagon catalogue: undecided (OQ07)"/>
            <p:cNvSpPr/>
            <p:nvPr/>
          </p:nvSpPr>
          <p:spPr>
            <a:xfrm>
              <a:off x="868680" y="4846320"/>
              <a:ext cx="3415986"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Wagon catalogue: undecided (OQ07)</a:t>
              </a:r>
            </a:p>
          </p:txBody>
        </p:sp>
      </p:grpSp>
      <p:grpSp>
        <p:nvGrpSpPr>
          <p:cNvPr id="72" name="Note: what a stack is" descr="A stack is a pile of one item, drawn as one cell holding a pile."/>
          <p:cNvGrpSpPr/>
          <p:nvPr/>
        </p:nvGrpSpPr>
        <p:grpSpPr>
          <a:xfrm>
            <a:off x="9189720" y="1691640"/>
            <a:ext cx="2194560" cy="2377440"/>
            <a:chOff x="9189720" y="1691640"/>
            <a:chExt cx="2194560" cy="2377440"/>
          </a:xfrm>
        </p:grpSpPr>
        <p:sp>
          <p:nvSpPr>
            <p:cNvPr id="73" name="Note panel"/>
            <p:cNvSpPr/>
            <p:nvPr/>
          </p:nvSpPr>
          <p:spPr>
            <a:xfrm>
              <a:off x="9189720" y="1691640"/>
              <a:ext cx="2194560" cy="2377440"/>
            </a:xfrm>
            <a:prstGeom prst="roundRect">
              <a:avLst>
                <a:gd name="adj" fmla="val 3333"/>
              </a:avLst>
            </a:prstGeom>
            <a:solidFill>
              <a:srgbClr val="343A43"/>
            </a:solidFill>
            <a:ln>
              <a:noFill/>
            </a:ln>
          </p:spPr>
          <p:txBody>
            <a:bodyPr rtlCol="0" anchor="ctr"/>
            <a:lstStyle/>
            <a:p>
              <a:pPr algn="ctr"/>
              <a:endParaRPr/>
            </a:p>
          </p:txBody>
        </p:sp>
        <p:sp>
          <p:nvSpPr>
            <p:cNvPr id="74" name="Example cell"/>
            <p:cNvSpPr/>
            <p:nvPr/>
          </p:nvSpPr>
          <p:spPr>
            <a:xfrm>
              <a:off x="9875520" y="1874520"/>
              <a:ext cx="822960" cy="822960"/>
            </a:xfrm>
            <a:prstGeom prst="roundRect">
              <a:avLst>
                <a:gd name="adj" fmla="val 8888"/>
              </a:avLst>
            </a:prstGeom>
            <a:noFill/>
            <a:ln w="25400">
              <a:solidFill>
                <a:srgbClr val="9AA0A6"/>
              </a:solidFill>
            </a:ln>
          </p:spPr>
          <p:txBody>
            <a:bodyPr rtlCol="0" anchor="ctr"/>
            <a:lstStyle/>
            <a:p>
              <a:pPr algn="ctr"/>
              <a:endParaRPr/>
            </a:p>
          </p:txBody>
        </p:sp>
        <p:sp>
          <p:nvSpPr>
            <p:cNvPr id="75" name="Item"/>
            <p:cNvSpPr/>
            <p:nvPr/>
          </p:nvSpPr>
          <p:spPr>
            <a:xfrm>
              <a:off x="10003536" y="2267712"/>
              <a:ext cx="256032" cy="256032"/>
            </a:xfrm>
            <a:prstGeom prst="ellipse">
              <a:avLst/>
            </a:prstGeom>
            <a:solidFill>
              <a:srgbClr val="F2C14E"/>
            </a:solidFill>
            <a:ln w="12700">
              <a:solidFill>
                <a:srgbClr val="101418"/>
              </a:solidFill>
            </a:ln>
          </p:spPr>
          <p:txBody>
            <a:bodyPr rtlCol="0" anchor="ctr"/>
            <a:lstStyle/>
            <a:p>
              <a:pPr algn="ctr"/>
              <a:endParaRPr/>
            </a:p>
          </p:txBody>
        </p:sp>
        <p:sp>
          <p:nvSpPr>
            <p:cNvPr id="76" name="Item"/>
            <p:cNvSpPr/>
            <p:nvPr/>
          </p:nvSpPr>
          <p:spPr>
            <a:xfrm>
              <a:off x="10314432" y="2267712"/>
              <a:ext cx="256032" cy="256032"/>
            </a:xfrm>
            <a:prstGeom prst="ellipse">
              <a:avLst/>
            </a:prstGeom>
            <a:solidFill>
              <a:srgbClr val="F2C14E"/>
            </a:solidFill>
            <a:ln w="12700">
              <a:solidFill>
                <a:srgbClr val="101418"/>
              </a:solidFill>
            </a:ln>
          </p:spPr>
          <p:txBody>
            <a:bodyPr rtlCol="0" anchor="ctr"/>
            <a:lstStyle/>
            <a:p>
              <a:pPr algn="ctr"/>
              <a:endParaRPr/>
            </a:p>
          </p:txBody>
        </p:sp>
        <p:sp>
          <p:nvSpPr>
            <p:cNvPr id="77" name="Item"/>
            <p:cNvSpPr/>
            <p:nvPr/>
          </p:nvSpPr>
          <p:spPr>
            <a:xfrm>
              <a:off x="10158984" y="2066544"/>
              <a:ext cx="256032" cy="256032"/>
            </a:xfrm>
            <a:prstGeom prst="ellipse">
              <a:avLst/>
            </a:prstGeom>
            <a:solidFill>
              <a:srgbClr val="F2C14E"/>
            </a:solidFill>
            <a:ln w="12700">
              <a:solidFill>
                <a:srgbClr val="101418"/>
              </a:solidFill>
            </a:ln>
          </p:spPr>
          <p:txBody>
            <a:bodyPr rtlCol="0" anchor="ctr"/>
            <a:lstStyle/>
            <a:p>
              <a:pPr algn="ctr"/>
              <a:endParaRPr/>
            </a:p>
          </p:txBody>
        </p:sp>
        <p:sp>
          <p:nvSpPr>
            <p:cNvPr id="78" name="Note text"/>
            <p:cNvSpPr txBox="1"/>
            <p:nvPr/>
          </p:nvSpPr>
          <p:spPr>
            <a:xfrm>
              <a:off x="9326880" y="2834640"/>
              <a:ext cx="1920240" cy="1097280"/>
            </a:xfrm>
            <a:prstGeom prst="rect">
              <a:avLst/>
            </a:prstGeom>
            <a:noFill/>
          </p:spPr>
          <p:txBody>
            <a:bodyPr wrap="square" lIns="0" tIns="0" rIns="0" bIns="0" anchor="t">
              <a:noAutofit/>
            </a:bodyPr>
            <a:lstStyle/>
            <a:p>
              <a:pPr algn="ctr">
                <a:spcBef>
                  <a:spcPts val="0"/>
                </a:spcBef>
                <a:spcAft>
                  <a:spcPts val="0"/>
                </a:spcAft>
              </a:pPr>
              <a:r>
                <a:rPr lang="en-GB" sz="1800" b="0" i="0">
                  <a:solidFill>
                    <a:srgbClr val="F2F2F2"/>
                  </a:solidFill>
                  <a:latin typeface="Arial"/>
                </a:rPr>
                <a:t>A stack is a pile of one item.</a:t>
              </a:r>
            </a:p>
          </p:txBody>
        </p:sp>
      </p:grpSp>
      <p:grpSp>
        <p:nvGrpSpPr>
          <p:cNvPr id="79" name="Caption" descr="Caption: Steam wagons are cheaper and hold less. About 20 stacks against 32 in a vanilla wagon."/>
          <p:cNvGrpSpPr/>
          <p:nvPr/>
        </p:nvGrpSpPr>
        <p:grpSpPr>
          <a:xfrm>
            <a:off x="548640" y="5669280"/>
            <a:ext cx="11091672" cy="822960"/>
            <a:chOff x="548640" y="5669280"/>
            <a:chExt cx="11091672" cy="822960"/>
          </a:xfrm>
        </p:grpSpPr>
        <p:sp>
          <p:nvSpPr>
            <p:cNvPr id="80"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81"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82"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Steam wagons are cheaper and hold less. About 20 stacks against 32 in a vanilla wagon.</a:t>
              </a:r>
            </a:p>
          </p:txBody>
        </p:sp>
      </p:grpSp>
      <p:sp>
        <p:nvSpPr>
          <p:cNvPr id="83"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11</a:t>
            </a:r>
          </a:p>
        </p:txBody>
      </p:sp>
    </p:spTree>
    <p:extLst>
      <p:ext uri="{BB962C8B-B14F-4D97-AF65-F5344CB8AC3E}">
        <p14:creationId xmlns:p14="http://schemas.microsoft.com/office/powerpoint/2010/main" val="16433110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par>
                                <p:cTn id="11" presetID="10" presetClass="entr" presetSubtype="0" fill="hold" nodeType="withEffect">
                                  <p:stCondLst>
                                    <p:cond delay="600"/>
                                  </p:stCondLst>
                                  <p:childTnLst>
                                    <p:set>
                                      <p:cBhvr>
                                        <p:cTn id="12" dur="1" fill="hold">
                                          <p:stCondLst>
                                            <p:cond delay="0"/>
                                          </p:stCondLst>
                                        </p:cTn>
                                        <p:tgtEl>
                                          <p:spTgt spid="79"/>
                                        </p:tgtEl>
                                        <p:attrNameLst>
                                          <p:attrName>style.visibility</p:attrName>
                                        </p:attrNameLst>
                                      </p:cBhvr>
                                      <p:to>
                                        <p:strVal val="visible"/>
                                      </p:to>
                                    </p:set>
                                    <p:animEffect transition="in" filter="fade">
                                      <p:cBhvr>
                                        <p:cTn id="13"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Judge the whole route</a:t>
            </a:r>
          </a:p>
        </p:txBody>
      </p:sp>
      <p:sp>
        <p:nvSpPr>
          <p:cNvPr id="3" name="Status chip" descr="Status tag: Agreed"/>
          <p:cNvSpPr/>
          <p:nvPr/>
        </p:nvSpPr>
        <p:spPr>
          <a:xfrm>
            <a:off x="10180015" y="457200"/>
            <a:ext cx="1463040" cy="365760"/>
          </a:xfrm>
          <a:prstGeom prst="roundRect">
            <a:avLst>
              <a:gd name="adj" fmla="val 30000"/>
            </a:avLst>
          </a:prstGeom>
          <a:solidFill>
            <a:srgbClr val="3FB950"/>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Scorecard item: Cost" descr="Scorecard item: Cost."/>
          <p:cNvGrpSpPr/>
          <p:nvPr/>
        </p:nvGrpSpPr>
        <p:grpSpPr>
          <a:xfrm>
            <a:off x="548640" y="1371600"/>
            <a:ext cx="2651760" cy="1874520"/>
            <a:chOff x="548640" y="1371600"/>
            <a:chExt cx="2651760" cy="1874520"/>
          </a:xfrm>
        </p:grpSpPr>
        <p:sp>
          <p:nvSpPr>
            <p:cNvPr id="5" name="Tile"/>
            <p:cNvSpPr/>
            <p:nvPr/>
          </p:nvSpPr>
          <p:spPr>
            <a:xfrm>
              <a:off x="548640" y="1371600"/>
              <a:ext cx="2651760" cy="1874520"/>
            </a:xfrm>
            <a:prstGeom prst="roundRect">
              <a:avLst>
                <a:gd name="adj" fmla="val 3902"/>
              </a:avLst>
            </a:prstGeom>
            <a:solidFill>
              <a:srgbClr val="2B2F36"/>
            </a:solidFill>
            <a:ln>
              <a:noFill/>
            </a:ln>
          </p:spPr>
          <p:txBody>
            <a:bodyPr rtlCol="0" anchor="ctr"/>
            <a:lstStyle/>
            <a:p>
              <a:pPr algn="ctr"/>
              <a:endParaRPr/>
            </a:p>
          </p:txBody>
        </p:sp>
        <p:sp>
          <p:nvSpPr>
            <p:cNvPr id="6" name="Coin"/>
            <p:cNvSpPr/>
            <p:nvPr/>
          </p:nvSpPr>
          <p:spPr>
            <a:xfrm>
              <a:off x="1508760" y="1719072"/>
              <a:ext cx="731520" cy="731520"/>
            </a:xfrm>
            <a:prstGeom prst="ellipse">
              <a:avLst/>
            </a:prstGeom>
            <a:solidFill>
              <a:srgbClr val="F2C14E"/>
            </a:solidFill>
            <a:ln w="19050">
              <a:solidFill>
                <a:srgbClr val="101418"/>
              </a:solidFill>
            </a:ln>
          </p:spPr>
          <p:txBody>
            <a:bodyPr rtlCol="0" anchor="ctr"/>
            <a:lstStyle/>
            <a:p>
              <a:pPr algn="ctr"/>
              <a:endParaRPr/>
            </a:p>
          </p:txBody>
        </p:sp>
        <p:sp>
          <p:nvSpPr>
            <p:cNvPr id="7" name="Coin ring"/>
            <p:cNvSpPr/>
            <p:nvPr/>
          </p:nvSpPr>
          <p:spPr>
            <a:xfrm>
              <a:off x="1627632" y="1837944"/>
              <a:ext cx="493776" cy="493776"/>
            </a:xfrm>
            <a:prstGeom prst="ellipse">
              <a:avLst/>
            </a:prstGeom>
            <a:noFill/>
            <a:ln w="25400">
              <a:solidFill>
                <a:srgbClr val="101418"/>
              </a:solidFill>
            </a:ln>
          </p:spPr>
          <p:txBody>
            <a:bodyPr rtlCol="0" anchor="ctr"/>
            <a:lstStyle/>
            <a:p>
              <a:pPr algn="ctr"/>
              <a:endParaRPr/>
            </a:p>
          </p:txBody>
        </p:sp>
        <p:sp>
          <p:nvSpPr>
            <p:cNvPr id="8" name="TextBox 7"/>
            <p:cNvSpPr txBox="1"/>
            <p:nvPr/>
          </p:nvSpPr>
          <p:spPr>
            <a:xfrm>
              <a:off x="640080" y="2697480"/>
              <a:ext cx="2468880" cy="45720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Cost</a:t>
              </a:r>
            </a:p>
          </p:txBody>
        </p:sp>
      </p:grpSp>
      <p:grpSp>
        <p:nvGrpSpPr>
          <p:cNvPr id="9" name="Scorecard item: Cargo per trip" descr="Scorecard item: Cargo per trip."/>
          <p:cNvGrpSpPr/>
          <p:nvPr/>
        </p:nvGrpSpPr>
        <p:grpSpPr>
          <a:xfrm>
            <a:off x="3362249" y="1371600"/>
            <a:ext cx="2651760" cy="1874520"/>
            <a:chOff x="3362249" y="1371600"/>
            <a:chExt cx="2651760" cy="1874520"/>
          </a:xfrm>
        </p:grpSpPr>
        <p:sp>
          <p:nvSpPr>
            <p:cNvPr id="10" name="Tile"/>
            <p:cNvSpPr/>
            <p:nvPr/>
          </p:nvSpPr>
          <p:spPr>
            <a:xfrm>
              <a:off x="3362249" y="1371600"/>
              <a:ext cx="2651760" cy="1874520"/>
            </a:xfrm>
            <a:prstGeom prst="roundRect">
              <a:avLst>
                <a:gd name="adj" fmla="val 3902"/>
              </a:avLst>
            </a:prstGeom>
            <a:solidFill>
              <a:srgbClr val="2B2F36"/>
            </a:solidFill>
            <a:ln>
              <a:noFill/>
            </a:ln>
          </p:spPr>
          <p:txBody>
            <a:bodyPr rtlCol="0" anchor="ctr"/>
            <a:lstStyle/>
            <a:p>
              <a:pPr algn="ctr"/>
              <a:endParaRPr/>
            </a:p>
          </p:txBody>
        </p:sp>
        <p:sp>
          <p:nvSpPr>
            <p:cNvPr id="11" name="Crate"/>
            <p:cNvSpPr/>
            <p:nvPr/>
          </p:nvSpPr>
          <p:spPr>
            <a:xfrm>
              <a:off x="4322369" y="1764792"/>
              <a:ext cx="731520" cy="640080"/>
            </a:xfrm>
            <a:prstGeom prst="rect">
              <a:avLst/>
            </a:prstGeom>
            <a:solidFill>
              <a:srgbClr val="F2C14E"/>
            </a:solidFill>
            <a:ln w="19050">
              <a:solidFill>
                <a:srgbClr val="101418"/>
              </a:solidFill>
            </a:ln>
          </p:spPr>
          <p:txBody>
            <a:bodyPr rtlCol="0" anchor="ctr"/>
            <a:lstStyle/>
            <a:p>
              <a:pPr algn="ctr"/>
              <a:endParaRPr/>
            </a:p>
          </p:txBody>
        </p:sp>
        <p:cxnSp>
          <p:nvCxnSpPr>
            <p:cNvPr id="12" name="Connector 11"/>
            <p:cNvCxnSpPr/>
            <p:nvPr/>
          </p:nvCxnSpPr>
          <p:spPr>
            <a:xfrm>
              <a:off x="4322369" y="1764792"/>
              <a:ext cx="731520" cy="640080"/>
            </a:xfrm>
            <a:prstGeom prst="line">
              <a:avLst/>
            </a:prstGeom>
            <a:ln w="25400">
              <a:solidFill>
                <a:srgbClr val="101418"/>
              </a:solidFill>
            </a:ln>
          </p:spPr>
        </p:cxnSp>
        <p:cxnSp>
          <p:nvCxnSpPr>
            <p:cNvPr id="13" name="Connector 12"/>
            <p:cNvCxnSpPr/>
            <p:nvPr/>
          </p:nvCxnSpPr>
          <p:spPr>
            <a:xfrm flipV="1">
              <a:off x="4322369" y="1764792"/>
              <a:ext cx="731520" cy="640080"/>
            </a:xfrm>
            <a:prstGeom prst="line">
              <a:avLst/>
            </a:prstGeom>
            <a:ln w="25400">
              <a:solidFill>
                <a:srgbClr val="101418"/>
              </a:solidFill>
            </a:ln>
          </p:spPr>
        </p:cxnSp>
        <p:sp>
          <p:nvSpPr>
            <p:cNvPr id="14" name="TextBox 13"/>
            <p:cNvSpPr txBox="1"/>
            <p:nvPr/>
          </p:nvSpPr>
          <p:spPr>
            <a:xfrm>
              <a:off x="3453689" y="2697480"/>
              <a:ext cx="2468880" cy="45720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Cargo per trip</a:t>
              </a:r>
            </a:p>
          </p:txBody>
        </p:sp>
      </p:grpSp>
      <p:grpSp>
        <p:nvGrpSpPr>
          <p:cNvPr id="15" name="Scorecard item: Journey time" descr="Scorecard item: Journey time."/>
          <p:cNvGrpSpPr/>
          <p:nvPr/>
        </p:nvGrpSpPr>
        <p:grpSpPr>
          <a:xfrm>
            <a:off x="6175858" y="1371600"/>
            <a:ext cx="2651760" cy="1874520"/>
            <a:chOff x="6175858" y="1371600"/>
            <a:chExt cx="2651760" cy="1874520"/>
          </a:xfrm>
        </p:grpSpPr>
        <p:sp>
          <p:nvSpPr>
            <p:cNvPr id="16" name="Tile"/>
            <p:cNvSpPr/>
            <p:nvPr/>
          </p:nvSpPr>
          <p:spPr>
            <a:xfrm>
              <a:off x="6175858" y="1371600"/>
              <a:ext cx="2651760" cy="1874520"/>
            </a:xfrm>
            <a:prstGeom prst="roundRect">
              <a:avLst>
                <a:gd name="adj" fmla="val 3902"/>
              </a:avLst>
            </a:prstGeom>
            <a:solidFill>
              <a:srgbClr val="2B2F36"/>
            </a:solidFill>
            <a:ln>
              <a:noFill/>
            </a:ln>
          </p:spPr>
          <p:txBody>
            <a:bodyPr rtlCol="0" anchor="ctr"/>
            <a:lstStyle/>
            <a:p>
              <a:pPr algn="ctr"/>
              <a:endParaRPr/>
            </a:p>
          </p:txBody>
        </p:sp>
        <p:sp>
          <p:nvSpPr>
            <p:cNvPr id="17" name="Clock"/>
            <p:cNvSpPr/>
            <p:nvPr/>
          </p:nvSpPr>
          <p:spPr>
            <a:xfrm>
              <a:off x="7135978" y="1719072"/>
              <a:ext cx="731520" cy="731520"/>
            </a:xfrm>
            <a:prstGeom prst="ellipse">
              <a:avLst/>
            </a:prstGeom>
            <a:noFill/>
            <a:ln w="38100">
              <a:solidFill>
                <a:srgbClr val="9AA0A6"/>
              </a:solidFill>
            </a:ln>
          </p:spPr>
          <p:txBody>
            <a:bodyPr rtlCol="0" anchor="ctr"/>
            <a:lstStyle/>
            <a:p>
              <a:pPr algn="ctr"/>
              <a:endParaRPr/>
            </a:p>
          </p:txBody>
        </p:sp>
        <p:cxnSp>
          <p:nvCxnSpPr>
            <p:cNvPr id="18" name="Clock hand"/>
            <p:cNvCxnSpPr/>
            <p:nvPr/>
          </p:nvCxnSpPr>
          <p:spPr>
            <a:xfrm flipV="1">
              <a:off x="7501738" y="1837944"/>
              <a:ext cx="0" cy="246888"/>
            </a:xfrm>
            <a:prstGeom prst="line">
              <a:avLst/>
            </a:prstGeom>
            <a:ln w="38100">
              <a:solidFill>
                <a:srgbClr val="F2F2F2"/>
              </a:solidFill>
            </a:ln>
          </p:spPr>
        </p:cxnSp>
        <p:cxnSp>
          <p:nvCxnSpPr>
            <p:cNvPr id="19" name="Clock hand"/>
            <p:cNvCxnSpPr/>
            <p:nvPr/>
          </p:nvCxnSpPr>
          <p:spPr>
            <a:xfrm>
              <a:off x="7501738" y="2084832"/>
              <a:ext cx="182880" cy="91440"/>
            </a:xfrm>
            <a:prstGeom prst="line">
              <a:avLst/>
            </a:prstGeom>
            <a:ln w="38100">
              <a:solidFill>
                <a:srgbClr val="F2F2F2"/>
              </a:solidFill>
            </a:ln>
          </p:spPr>
        </p:cxnSp>
        <p:sp>
          <p:nvSpPr>
            <p:cNvPr id="20" name="TextBox 19"/>
            <p:cNvSpPr txBox="1"/>
            <p:nvPr/>
          </p:nvSpPr>
          <p:spPr>
            <a:xfrm>
              <a:off x="6267298" y="2697480"/>
              <a:ext cx="2468880" cy="45720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Journey time</a:t>
              </a:r>
            </a:p>
          </p:txBody>
        </p:sp>
      </p:grpSp>
      <p:grpSp>
        <p:nvGrpSpPr>
          <p:cNvPr id="21" name="Scorecard item: Coal and water" descr="Scorecard item: Coal and water."/>
          <p:cNvGrpSpPr/>
          <p:nvPr/>
        </p:nvGrpSpPr>
        <p:grpSpPr>
          <a:xfrm>
            <a:off x="8989466" y="1371600"/>
            <a:ext cx="2651760" cy="1874520"/>
            <a:chOff x="8989466" y="1371600"/>
            <a:chExt cx="2651760" cy="1874520"/>
          </a:xfrm>
        </p:grpSpPr>
        <p:sp>
          <p:nvSpPr>
            <p:cNvPr id="22" name="Tile"/>
            <p:cNvSpPr/>
            <p:nvPr/>
          </p:nvSpPr>
          <p:spPr>
            <a:xfrm>
              <a:off x="8989466" y="1371600"/>
              <a:ext cx="2651760" cy="1874520"/>
            </a:xfrm>
            <a:prstGeom prst="roundRect">
              <a:avLst>
                <a:gd name="adj" fmla="val 3902"/>
              </a:avLst>
            </a:prstGeom>
            <a:solidFill>
              <a:srgbClr val="2B2F36"/>
            </a:solidFill>
            <a:ln>
              <a:noFill/>
            </a:ln>
          </p:spPr>
          <p:txBody>
            <a:bodyPr rtlCol="0" anchor="ctr"/>
            <a:lstStyle/>
            <a:p>
              <a:pPr algn="ctr"/>
              <a:endParaRPr/>
            </a:p>
          </p:txBody>
        </p:sp>
        <p:sp>
          <p:nvSpPr>
            <p:cNvPr id="23" name="Coal heap"/>
            <p:cNvSpPr/>
            <p:nvPr/>
          </p:nvSpPr>
          <p:spPr>
            <a:xfrm>
              <a:off x="9748418" y="1901952"/>
              <a:ext cx="612648" cy="475488"/>
            </a:xfrm>
            <a:custGeom>
              <a:avLst/>
              <a:gdLst/>
              <a:ahLst/>
              <a:cxnLst/>
              <a:rect l="l" t="t" r="r" b="b"/>
              <a:pathLst>
                <a:path w="612648" h="475488">
                  <a:moveTo>
                    <a:pt x="0" y="475488"/>
                  </a:moveTo>
                  <a:lnTo>
                    <a:pt x="109728" y="182880"/>
                  </a:lnTo>
                  <a:lnTo>
                    <a:pt x="292608" y="0"/>
                  </a:lnTo>
                  <a:lnTo>
                    <a:pt x="521208" y="91440"/>
                  </a:lnTo>
                  <a:lnTo>
                    <a:pt x="612648" y="475488"/>
                  </a:lnTo>
                  <a:close/>
                </a:path>
              </a:pathLst>
            </a:custGeom>
            <a:solidFill>
              <a:srgbClr val="1B1D21"/>
            </a:solidFill>
            <a:ln w="19050">
              <a:solidFill>
                <a:srgbClr val="9AA0A6"/>
              </a:solidFill>
            </a:ln>
          </p:spPr>
          <p:txBody>
            <a:bodyPr rtlCol="0" anchor="ctr"/>
            <a:lstStyle/>
            <a:p>
              <a:pPr algn="ctr"/>
              <a:endParaRPr/>
            </a:p>
          </p:txBody>
        </p:sp>
        <p:sp>
          <p:nvSpPr>
            <p:cNvPr id="24" name="Water drop"/>
            <p:cNvSpPr/>
            <p:nvPr/>
          </p:nvSpPr>
          <p:spPr>
            <a:xfrm rot="18900000">
              <a:off x="10452506" y="1828800"/>
              <a:ext cx="457200" cy="457200"/>
            </a:xfrm>
            <a:prstGeom prst="teardrop">
              <a:avLst/>
            </a:prstGeom>
            <a:solidFill>
              <a:srgbClr val="4DA3FF"/>
            </a:solidFill>
            <a:ln>
              <a:noFill/>
            </a:ln>
          </p:spPr>
          <p:txBody>
            <a:bodyPr rtlCol="0" anchor="ctr"/>
            <a:lstStyle/>
            <a:p>
              <a:pPr algn="ctr"/>
              <a:endParaRPr/>
            </a:p>
          </p:txBody>
        </p:sp>
        <p:sp>
          <p:nvSpPr>
            <p:cNvPr id="25" name="TextBox 24"/>
            <p:cNvSpPr txBox="1"/>
            <p:nvPr/>
          </p:nvSpPr>
          <p:spPr>
            <a:xfrm>
              <a:off x="9080906" y="2697480"/>
              <a:ext cx="2468880" cy="45720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Coal and water</a:t>
              </a:r>
            </a:p>
          </p:txBody>
        </p:sp>
      </p:grpSp>
      <p:grpSp>
        <p:nvGrpSpPr>
          <p:cNvPr id="26" name="Scorecard item: Time stopped" descr="Scorecard item: Time stopped."/>
          <p:cNvGrpSpPr/>
          <p:nvPr/>
        </p:nvGrpSpPr>
        <p:grpSpPr>
          <a:xfrm>
            <a:off x="548640" y="3474720"/>
            <a:ext cx="2651760" cy="1874520"/>
            <a:chOff x="548640" y="3474720"/>
            <a:chExt cx="2651760" cy="1874520"/>
          </a:xfrm>
        </p:grpSpPr>
        <p:sp>
          <p:nvSpPr>
            <p:cNvPr id="27" name="Tile"/>
            <p:cNvSpPr/>
            <p:nvPr/>
          </p:nvSpPr>
          <p:spPr>
            <a:xfrm>
              <a:off x="548640" y="3474720"/>
              <a:ext cx="2651760" cy="1874520"/>
            </a:xfrm>
            <a:prstGeom prst="roundRect">
              <a:avLst>
                <a:gd name="adj" fmla="val 3902"/>
              </a:avLst>
            </a:prstGeom>
            <a:solidFill>
              <a:srgbClr val="2B2F36"/>
            </a:solidFill>
            <a:ln>
              <a:noFill/>
            </a:ln>
          </p:spPr>
          <p:txBody>
            <a:bodyPr rtlCol="0" anchor="ctr"/>
            <a:lstStyle/>
            <a:p>
              <a:pPr algn="ctr"/>
              <a:endParaRPr/>
            </a:p>
          </p:txBody>
        </p:sp>
        <p:sp>
          <p:nvSpPr>
            <p:cNvPr id="28" name="Pause ring"/>
            <p:cNvSpPr/>
            <p:nvPr/>
          </p:nvSpPr>
          <p:spPr>
            <a:xfrm>
              <a:off x="1508760" y="3822192"/>
              <a:ext cx="731520" cy="731520"/>
            </a:xfrm>
            <a:prstGeom prst="ellipse">
              <a:avLst/>
            </a:prstGeom>
            <a:noFill/>
            <a:ln w="38100">
              <a:solidFill>
                <a:srgbClr val="F28C28"/>
              </a:solidFill>
            </a:ln>
          </p:spPr>
          <p:txBody>
            <a:bodyPr rtlCol="0" anchor="ctr"/>
            <a:lstStyle/>
            <a:p>
              <a:pPr algn="ctr"/>
              <a:endParaRPr/>
            </a:p>
          </p:txBody>
        </p:sp>
        <p:sp>
          <p:nvSpPr>
            <p:cNvPr id="29" name="Pause bar"/>
            <p:cNvSpPr/>
            <p:nvPr/>
          </p:nvSpPr>
          <p:spPr>
            <a:xfrm>
              <a:off x="1737360" y="4023360"/>
              <a:ext cx="91440" cy="329184"/>
            </a:xfrm>
            <a:prstGeom prst="rect">
              <a:avLst/>
            </a:prstGeom>
            <a:solidFill>
              <a:srgbClr val="F28C28"/>
            </a:solidFill>
            <a:ln>
              <a:noFill/>
            </a:ln>
          </p:spPr>
          <p:txBody>
            <a:bodyPr rtlCol="0" anchor="ctr"/>
            <a:lstStyle/>
            <a:p>
              <a:pPr algn="ctr"/>
              <a:endParaRPr/>
            </a:p>
          </p:txBody>
        </p:sp>
        <p:sp>
          <p:nvSpPr>
            <p:cNvPr id="30" name="Pause bar"/>
            <p:cNvSpPr/>
            <p:nvPr/>
          </p:nvSpPr>
          <p:spPr>
            <a:xfrm>
              <a:off x="1920240" y="4023360"/>
              <a:ext cx="91440" cy="329184"/>
            </a:xfrm>
            <a:prstGeom prst="rect">
              <a:avLst/>
            </a:prstGeom>
            <a:solidFill>
              <a:srgbClr val="F28C28"/>
            </a:solidFill>
            <a:ln>
              <a:noFill/>
            </a:ln>
          </p:spPr>
          <p:txBody>
            <a:bodyPr rtlCol="0" anchor="ctr"/>
            <a:lstStyle/>
            <a:p>
              <a:pPr algn="ctr"/>
              <a:endParaRPr/>
            </a:p>
          </p:txBody>
        </p:sp>
        <p:sp>
          <p:nvSpPr>
            <p:cNvPr id="31" name="TextBox 30"/>
            <p:cNvSpPr txBox="1"/>
            <p:nvPr/>
          </p:nvSpPr>
          <p:spPr>
            <a:xfrm>
              <a:off x="640080" y="4800600"/>
              <a:ext cx="2468880" cy="45720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Time stopped</a:t>
              </a:r>
            </a:p>
          </p:txBody>
        </p:sp>
      </p:grpSp>
      <p:grpSp>
        <p:nvGrpSpPr>
          <p:cNvPr id="32" name="Scorecard item: Track used" descr="Scorecard item: Track used."/>
          <p:cNvGrpSpPr/>
          <p:nvPr/>
        </p:nvGrpSpPr>
        <p:grpSpPr>
          <a:xfrm>
            <a:off x="3362249" y="3474720"/>
            <a:ext cx="2651760" cy="1874520"/>
            <a:chOff x="3362249" y="3474720"/>
            <a:chExt cx="2651760" cy="1874520"/>
          </a:xfrm>
        </p:grpSpPr>
        <p:sp>
          <p:nvSpPr>
            <p:cNvPr id="33" name="Tile"/>
            <p:cNvSpPr/>
            <p:nvPr/>
          </p:nvSpPr>
          <p:spPr>
            <a:xfrm>
              <a:off x="3362249" y="3474720"/>
              <a:ext cx="2651760" cy="1874520"/>
            </a:xfrm>
            <a:prstGeom prst="roundRect">
              <a:avLst>
                <a:gd name="adj" fmla="val 3902"/>
              </a:avLst>
            </a:prstGeom>
            <a:solidFill>
              <a:srgbClr val="2B2F36"/>
            </a:solidFill>
            <a:ln>
              <a:noFill/>
            </a:ln>
          </p:spPr>
          <p:txBody>
            <a:bodyPr rtlCol="0" anchor="ctr"/>
            <a:lstStyle/>
            <a:p>
              <a:pPr algn="ctr"/>
              <a:endParaRPr/>
            </a:p>
          </p:txBody>
        </p:sp>
        <p:sp>
          <p:nvSpPr>
            <p:cNvPr id="34" name="Sleeper"/>
            <p:cNvSpPr/>
            <p:nvPr/>
          </p:nvSpPr>
          <p:spPr>
            <a:xfrm>
              <a:off x="4230929" y="3950208"/>
              <a:ext cx="64008" cy="530352"/>
            </a:xfrm>
            <a:prstGeom prst="rect">
              <a:avLst/>
            </a:prstGeom>
            <a:solidFill>
              <a:srgbClr val="6B5B4B"/>
            </a:solidFill>
            <a:ln>
              <a:noFill/>
            </a:ln>
          </p:spPr>
          <p:txBody>
            <a:bodyPr rtlCol="0" anchor="ctr"/>
            <a:lstStyle/>
            <a:p>
              <a:pPr algn="ctr"/>
              <a:endParaRPr/>
            </a:p>
          </p:txBody>
        </p:sp>
        <p:sp>
          <p:nvSpPr>
            <p:cNvPr id="35" name="Sleeper"/>
            <p:cNvSpPr/>
            <p:nvPr/>
          </p:nvSpPr>
          <p:spPr>
            <a:xfrm>
              <a:off x="4486961" y="3950208"/>
              <a:ext cx="64008" cy="530352"/>
            </a:xfrm>
            <a:prstGeom prst="rect">
              <a:avLst/>
            </a:prstGeom>
            <a:solidFill>
              <a:srgbClr val="6B5B4B"/>
            </a:solidFill>
            <a:ln>
              <a:noFill/>
            </a:ln>
          </p:spPr>
          <p:txBody>
            <a:bodyPr rtlCol="0" anchor="ctr"/>
            <a:lstStyle/>
            <a:p>
              <a:pPr algn="ctr"/>
              <a:endParaRPr/>
            </a:p>
          </p:txBody>
        </p:sp>
        <p:sp>
          <p:nvSpPr>
            <p:cNvPr id="36" name="Sleeper"/>
            <p:cNvSpPr/>
            <p:nvPr/>
          </p:nvSpPr>
          <p:spPr>
            <a:xfrm>
              <a:off x="4742993" y="3950208"/>
              <a:ext cx="64008" cy="530352"/>
            </a:xfrm>
            <a:prstGeom prst="rect">
              <a:avLst/>
            </a:prstGeom>
            <a:solidFill>
              <a:srgbClr val="6B5B4B"/>
            </a:solidFill>
            <a:ln>
              <a:noFill/>
            </a:ln>
          </p:spPr>
          <p:txBody>
            <a:bodyPr rtlCol="0" anchor="ctr"/>
            <a:lstStyle/>
            <a:p>
              <a:pPr algn="ctr"/>
              <a:endParaRPr/>
            </a:p>
          </p:txBody>
        </p:sp>
        <p:sp>
          <p:nvSpPr>
            <p:cNvPr id="37" name="Sleeper"/>
            <p:cNvSpPr/>
            <p:nvPr/>
          </p:nvSpPr>
          <p:spPr>
            <a:xfrm>
              <a:off x="4999025" y="3950208"/>
              <a:ext cx="64008" cy="530352"/>
            </a:xfrm>
            <a:prstGeom prst="rect">
              <a:avLst/>
            </a:prstGeom>
            <a:solidFill>
              <a:srgbClr val="6B5B4B"/>
            </a:solidFill>
            <a:ln>
              <a:noFill/>
            </a:ln>
          </p:spPr>
          <p:txBody>
            <a:bodyPr rtlCol="0" anchor="ctr"/>
            <a:lstStyle/>
            <a:p>
              <a:pPr algn="ctr"/>
              <a:endParaRPr/>
            </a:p>
          </p:txBody>
        </p:sp>
        <p:sp>
          <p:nvSpPr>
            <p:cNvPr id="38" name="Rail"/>
            <p:cNvSpPr/>
            <p:nvPr/>
          </p:nvSpPr>
          <p:spPr>
            <a:xfrm>
              <a:off x="4185209" y="4005072"/>
              <a:ext cx="1005840" cy="54864"/>
            </a:xfrm>
            <a:prstGeom prst="rect">
              <a:avLst/>
            </a:prstGeom>
            <a:solidFill>
              <a:srgbClr val="9AA0A6"/>
            </a:solidFill>
            <a:ln>
              <a:noFill/>
            </a:ln>
          </p:spPr>
          <p:txBody>
            <a:bodyPr rtlCol="0" anchor="ctr"/>
            <a:lstStyle/>
            <a:p>
              <a:pPr algn="ctr"/>
              <a:endParaRPr/>
            </a:p>
          </p:txBody>
        </p:sp>
        <p:sp>
          <p:nvSpPr>
            <p:cNvPr id="39" name="Rail"/>
            <p:cNvSpPr/>
            <p:nvPr/>
          </p:nvSpPr>
          <p:spPr>
            <a:xfrm>
              <a:off x="4185209" y="4370832"/>
              <a:ext cx="1005840" cy="54864"/>
            </a:xfrm>
            <a:prstGeom prst="rect">
              <a:avLst/>
            </a:prstGeom>
            <a:solidFill>
              <a:srgbClr val="9AA0A6"/>
            </a:solidFill>
            <a:ln>
              <a:noFill/>
            </a:ln>
          </p:spPr>
          <p:txBody>
            <a:bodyPr rtlCol="0" anchor="ctr"/>
            <a:lstStyle/>
            <a:p>
              <a:pPr algn="ctr"/>
              <a:endParaRPr/>
            </a:p>
          </p:txBody>
        </p:sp>
        <p:sp>
          <p:nvSpPr>
            <p:cNvPr id="40" name="TextBox 39"/>
            <p:cNvSpPr txBox="1"/>
            <p:nvPr/>
          </p:nvSpPr>
          <p:spPr>
            <a:xfrm>
              <a:off x="3453689" y="4800600"/>
              <a:ext cx="2468880" cy="45720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Track used</a:t>
              </a:r>
            </a:p>
          </p:txBody>
        </p:sp>
      </p:grpSp>
      <p:grpSp>
        <p:nvGrpSpPr>
          <p:cNvPr id="41" name="Scorecard item: Tender weight" descr="Scorecard item: Tender weight."/>
          <p:cNvGrpSpPr/>
          <p:nvPr/>
        </p:nvGrpSpPr>
        <p:grpSpPr>
          <a:xfrm>
            <a:off x="6175858" y="3474720"/>
            <a:ext cx="2651760" cy="1874520"/>
            <a:chOff x="6175858" y="3474720"/>
            <a:chExt cx="2651760" cy="1874520"/>
          </a:xfrm>
        </p:grpSpPr>
        <p:sp>
          <p:nvSpPr>
            <p:cNvPr id="42" name="Tile"/>
            <p:cNvSpPr/>
            <p:nvPr/>
          </p:nvSpPr>
          <p:spPr>
            <a:xfrm>
              <a:off x="6175858" y="3474720"/>
              <a:ext cx="2651760" cy="1874520"/>
            </a:xfrm>
            <a:prstGeom prst="roundRect">
              <a:avLst>
                <a:gd name="adj" fmla="val 3902"/>
              </a:avLst>
            </a:prstGeom>
            <a:solidFill>
              <a:srgbClr val="2B2F36"/>
            </a:solidFill>
            <a:ln>
              <a:noFill/>
            </a:ln>
          </p:spPr>
          <p:txBody>
            <a:bodyPr rtlCol="0" anchor="ctr"/>
            <a:lstStyle/>
            <a:p>
              <a:pPr algn="ctr"/>
              <a:endParaRPr/>
            </a:p>
          </p:txBody>
        </p:sp>
        <p:sp>
          <p:nvSpPr>
            <p:cNvPr id="43" name="Weight"/>
            <p:cNvSpPr/>
            <p:nvPr/>
          </p:nvSpPr>
          <p:spPr>
            <a:xfrm>
              <a:off x="7117690" y="4078224"/>
              <a:ext cx="768096" cy="475488"/>
            </a:xfrm>
            <a:prstGeom prst="trapezoid">
              <a:avLst/>
            </a:prstGeom>
            <a:solidFill>
              <a:srgbClr val="9AA0A6"/>
            </a:solidFill>
            <a:ln>
              <a:noFill/>
            </a:ln>
          </p:spPr>
          <p:txBody>
            <a:bodyPr rtlCol="0" anchor="ctr"/>
            <a:lstStyle/>
            <a:p>
              <a:pPr algn="ctr"/>
              <a:endParaRPr/>
            </a:p>
          </p:txBody>
        </p:sp>
        <p:sp>
          <p:nvSpPr>
            <p:cNvPr id="44" name="Weight ring"/>
            <p:cNvSpPr/>
            <p:nvPr/>
          </p:nvSpPr>
          <p:spPr>
            <a:xfrm>
              <a:off x="7346290" y="3803904"/>
              <a:ext cx="310896" cy="310896"/>
            </a:xfrm>
            <a:prstGeom prst="donut">
              <a:avLst/>
            </a:prstGeom>
            <a:solidFill>
              <a:srgbClr val="9AA0A6"/>
            </a:solidFill>
            <a:ln>
              <a:noFill/>
            </a:ln>
          </p:spPr>
          <p:txBody>
            <a:bodyPr rtlCol="0" anchor="ctr"/>
            <a:lstStyle/>
            <a:p>
              <a:pPr algn="ctr"/>
              <a:endParaRPr/>
            </a:p>
          </p:txBody>
        </p:sp>
        <p:sp>
          <p:nvSpPr>
            <p:cNvPr id="45" name="TextBox 44"/>
            <p:cNvSpPr txBox="1"/>
            <p:nvPr/>
          </p:nvSpPr>
          <p:spPr>
            <a:xfrm>
              <a:off x="6267298" y="4800600"/>
              <a:ext cx="2468880" cy="45720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Tender weight</a:t>
              </a:r>
            </a:p>
          </p:txBody>
        </p:sp>
      </p:grpSp>
      <p:grpSp>
        <p:nvGrpSpPr>
          <p:cNvPr id="46" name="Scorecard item: Station size" descr="Scorecard item: Station size."/>
          <p:cNvGrpSpPr/>
          <p:nvPr/>
        </p:nvGrpSpPr>
        <p:grpSpPr>
          <a:xfrm>
            <a:off x="8989466" y="3474720"/>
            <a:ext cx="2651760" cy="1874520"/>
            <a:chOff x="8989466" y="3474720"/>
            <a:chExt cx="2651760" cy="1874520"/>
          </a:xfrm>
        </p:grpSpPr>
        <p:sp>
          <p:nvSpPr>
            <p:cNvPr id="47" name="Tile"/>
            <p:cNvSpPr/>
            <p:nvPr/>
          </p:nvSpPr>
          <p:spPr>
            <a:xfrm>
              <a:off x="8989466" y="3474720"/>
              <a:ext cx="2651760" cy="1874520"/>
            </a:xfrm>
            <a:prstGeom prst="roundRect">
              <a:avLst>
                <a:gd name="adj" fmla="val 3902"/>
              </a:avLst>
            </a:prstGeom>
            <a:solidFill>
              <a:srgbClr val="2B2F36"/>
            </a:solidFill>
            <a:ln>
              <a:noFill/>
            </a:ln>
          </p:spPr>
          <p:txBody>
            <a:bodyPr rtlCol="0" anchor="ctr"/>
            <a:lstStyle/>
            <a:p>
              <a:pPr algn="ctr"/>
              <a:endParaRPr/>
            </a:p>
          </p:txBody>
        </p:sp>
        <p:sp>
          <p:nvSpPr>
            <p:cNvPr id="48" name="Station"/>
            <p:cNvSpPr/>
            <p:nvPr/>
          </p:nvSpPr>
          <p:spPr>
            <a:xfrm>
              <a:off x="9903866" y="4078224"/>
              <a:ext cx="822960" cy="457200"/>
            </a:xfrm>
            <a:prstGeom prst="rect">
              <a:avLst/>
            </a:prstGeom>
            <a:solidFill>
              <a:srgbClr val="9AA0A6"/>
            </a:solidFill>
            <a:ln>
              <a:noFill/>
            </a:ln>
          </p:spPr>
          <p:txBody>
            <a:bodyPr rtlCol="0" anchor="ctr"/>
            <a:lstStyle/>
            <a:p>
              <a:pPr algn="ctr"/>
              <a:endParaRPr/>
            </a:p>
          </p:txBody>
        </p:sp>
        <p:sp>
          <p:nvSpPr>
            <p:cNvPr id="49" name="Roof"/>
            <p:cNvSpPr/>
            <p:nvPr/>
          </p:nvSpPr>
          <p:spPr>
            <a:xfrm>
              <a:off x="9812426" y="3776472"/>
              <a:ext cx="1005840" cy="329184"/>
            </a:xfrm>
            <a:prstGeom prst="triangle">
              <a:avLst/>
            </a:prstGeom>
            <a:solidFill>
              <a:srgbClr val="F28C28"/>
            </a:solidFill>
            <a:ln>
              <a:noFill/>
            </a:ln>
          </p:spPr>
          <p:txBody>
            <a:bodyPr rtlCol="0" anchor="ctr"/>
            <a:lstStyle/>
            <a:p>
              <a:pPr algn="ctr"/>
              <a:endParaRPr/>
            </a:p>
          </p:txBody>
        </p:sp>
        <p:sp>
          <p:nvSpPr>
            <p:cNvPr id="50" name="Door"/>
            <p:cNvSpPr/>
            <p:nvPr/>
          </p:nvSpPr>
          <p:spPr>
            <a:xfrm>
              <a:off x="10223906" y="4261104"/>
              <a:ext cx="182880" cy="274320"/>
            </a:xfrm>
            <a:prstGeom prst="rect">
              <a:avLst/>
            </a:prstGeom>
            <a:solidFill>
              <a:srgbClr val="1B1D21"/>
            </a:solidFill>
            <a:ln>
              <a:noFill/>
            </a:ln>
          </p:spPr>
          <p:txBody>
            <a:bodyPr rtlCol="0" anchor="ctr"/>
            <a:lstStyle/>
            <a:p>
              <a:pPr algn="ctr"/>
              <a:endParaRPr/>
            </a:p>
          </p:txBody>
        </p:sp>
        <p:sp>
          <p:nvSpPr>
            <p:cNvPr id="51" name="TextBox 50"/>
            <p:cNvSpPr txBox="1"/>
            <p:nvPr/>
          </p:nvSpPr>
          <p:spPr>
            <a:xfrm>
              <a:off x="9080906" y="4800600"/>
              <a:ext cx="2468880" cy="457200"/>
            </a:xfrm>
            <a:prstGeom prst="rect">
              <a:avLst/>
            </a:prstGeom>
            <a:noFill/>
          </p:spPr>
          <p:txBody>
            <a:bodyPr wrap="square" lIns="45720" tIns="27432" rIns="45720" bIns="27432" anchor="ctr">
              <a:noAutofit/>
            </a:bodyPr>
            <a:lstStyle/>
            <a:p>
              <a:pPr algn="ctr">
                <a:spcBef>
                  <a:spcPts val="0"/>
                </a:spcBef>
                <a:spcAft>
                  <a:spcPts val="0"/>
                </a:spcAft>
              </a:pPr>
              <a:r>
                <a:rPr lang="en-GB" sz="1800" b="1" i="0">
                  <a:solidFill>
                    <a:srgbClr val="F2F2F2"/>
                  </a:solidFill>
                  <a:latin typeface="Arial"/>
                </a:rPr>
                <a:t>Station size</a:t>
              </a:r>
            </a:p>
          </p:txBody>
        </p:sp>
      </p:grpSp>
      <p:grpSp>
        <p:nvGrpSpPr>
          <p:cNvPr id="52" name="Caption" descr="Caption: A good route is judged as a whole, not by one number."/>
          <p:cNvGrpSpPr/>
          <p:nvPr/>
        </p:nvGrpSpPr>
        <p:grpSpPr>
          <a:xfrm>
            <a:off x="548640" y="5669280"/>
            <a:ext cx="11091672" cy="822960"/>
            <a:chOff x="548640" y="5669280"/>
            <a:chExt cx="11091672" cy="822960"/>
          </a:xfrm>
        </p:grpSpPr>
        <p:sp>
          <p:nvSpPr>
            <p:cNvPr id="53"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54"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55"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A good route is judged as a whole, not by one number.</a:t>
              </a:r>
            </a:p>
          </p:txBody>
        </p:sp>
      </p:grpSp>
      <p:sp>
        <p:nvSpPr>
          <p:cNvPr id="56"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12</a:t>
            </a:r>
          </a:p>
        </p:txBody>
      </p:sp>
    </p:spTree>
    <p:extLst>
      <p:ext uri="{BB962C8B-B14F-4D97-AF65-F5344CB8AC3E}">
        <p14:creationId xmlns:p14="http://schemas.microsoft.com/office/powerpoint/2010/main" val="102656475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40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nodeType="withEffect">
                                  <p:stCondLst>
                                    <p:cond delay="60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80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100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par>
                                <p:cTn id="23" presetID="10" presetClass="entr" presetSubtype="0" fill="hold" nodeType="withEffect">
                                  <p:stCondLst>
                                    <p:cond delay="120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par>
                                <p:cTn id="26" presetID="10" presetClass="entr" presetSubtype="0" fill="hold" nodeType="withEffect">
                                  <p:stCondLst>
                                    <p:cond delay="1400"/>
                                  </p:stCondLst>
                                  <p:childTnLst>
                                    <p:set>
                                      <p:cBhvr>
                                        <p:cTn id="27" dur="1" fill="hold">
                                          <p:stCondLst>
                                            <p:cond delay="0"/>
                                          </p:stCondLst>
                                        </p:cTn>
                                        <p:tgtEl>
                                          <p:spTgt spid="46"/>
                                        </p:tgtEl>
                                        <p:attrNameLst>
                                          <p:attrName>style.visibility</p:attrName>
                                        </p:attrNameLst>
                                      </p:cBhvr>
                                      <p:to>
                                        <p:strVal val="visible"/>
                                      </p:to>
                                    </p:set>
                                    <p:animEffect transition="in" filter="fade">
                                      <p:cBhvr>
                                        <p:cTn id="28" dur="500"/>
                                        <p:tgtEl>
                                          <p:spTgt spid="46"/>
                                        </p:tgtEl>
                                      </p:cBhvr>
                                    </p:animEffect>
                                  </p:childTnLst>
                                </p:cTn>
                              </p:par>
                              <p:par>
                                <p:cTn id="29" presetID="10" presetClass="entr" presetSubtype="0" fill="hold" nodeType="withEffect">
                                  <p:stCondLst>
                                    <p:cond delay="1600"/>
                                  </p:stCondLst>
                                  <p:childTnLst>
                                    <p:set>
                                      <p:cBhvr>
                                        <p:cTn id="30" dur="1" fill="hold">
                                          <p:stCondLst>
                                            <p:cond delay="0"/>
                                          </p:stCondLst>
                                        </p:cTn>
                                        <p:tgtEl>
                                          <p:spTgt spid="52"/>
                                        </p:tgtEl>
                                        <p:attrNameLst>
                                          <p:attrName>style.visibility</p:attrName>
                                        </p:attrNameLst>
                                      </p:cBhvr>
                                      <p:to>
                                        <p:strVal val="visible"/>
                                      </p:to>
                                    </p:set>
                                    <p:animEffect transition="in" filter="fade">
                                      <p:cBhvr>
                                        <p:cTn id="3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Stops cost time</a:t>
            </a:r>
          </a:p>
        </p:txBody>
      </p:sp>
      <p:sp>
        <p:nvSpPr>
          <p:cNvPr id="3" name="Status chip" descr="Status tag: Agreed"/>
          <p:cNvSpPr/>
          <p:nvPr/>
        </p:nvSpPr>
        <p:spPr>
          <a:xfrm>
            <a:off x="10180015" y="457200"/>
            <a:ext cx="1463040" cy="365760"/>
          </a:xfrm>
          <a:prstGeom prst="roundRect">
            <a:avLst>
              <a:gd name="adj" fmla="val 30000"/>
            </a:avLst>
          </a:prstGeom>
          <a:solidFill>
            <a:srgbClr val="3FB950"/>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AGREED</a:t>
            </a:r>
          </a:p>
        </p:txBody>
      </p:sp>
      <p:grpSp>
        <p:nvGrpSpPr>
          <p:cNvPr id="4" name="Diagram: a short stop and a long stop on a timeline" descr="A timeline with an engine running, a short stop, more running and a long stop. Stops take time and buy reliability."/>
          <p:cNvGrpSpPr/>
          <p:nvPr/>
        </p:nvGrpSpPr>
        <p:grpSpPr>
          <a:xfrm>
            <a:off x="548640" y="1371600"/>
            <a:ext cx="11091672" cy="4114800"/>
            <a:chOff x="548640" y="1371600"/>
            <a:chExt cx="11091672" cy="4114800"/>
          </a:xfrm>
        </p:grpSpPr>
        <p:sp>
          <p:nvSpPr>
            <p:cNvPr id="5" name="Panel"/>
            <p:cNvSpPr/>
            <p:nvPr/>
          </p:nvSpPr>
          <p:spPr>
            <a:xfrm>
              <a:off x="548640" y="1371600"/>
              <a:ext cx="11091672" cy="4114800"/>
            </a:xfrm>
            <a:prstGeom prst="roundRect">
              <a:avLst>
                <a:gd name="adj" fmla="val 1777"/>
              </a:avLst>
            </a:prstGeom>
            <a:solidFill>
              <a:srgbClr val="2B2F36"/>
            </a:solidFill>
            <a:ln>
              <a:noFill/>
            </a:ln>
          </p:spPr>
          <p:txBody>
            <a:bodyPr rtlCol="0" anchor="ctr"/>
            <a:lstStyle/>
            <a:p>
              <a:pPr algn="ctr"/>
              <a:endParaRPr/>
            </a:p>
          </p:txBody>
        </p:sp>
        <p:cxnSp>
          <p:nvCxnSpPr>
            <p:cNvPr id="6" name="Time axis"/>
            <p:cNvCxnSpPr/>
            <p:nvPr/>
          </p:nvCxnSpPr>
          <p:spPr>
            <a:xfrm>
              <a:off x="868680" y="4224528"/>
              <a:ext cx="10378440" cy="0"/>
            </a:xfrm>
            <a:prstGeom prst="line">
              <a:avLst/>
            </a:prstGeom>
            <a:ln w="38100">
              <a:solidFill>
                <a:srgbClr val="9AA0A6"/>
              </a:solidFill>
              <a:tailEnd type="triangle" w="med" len="med"/>
            </a:ln>
          </p:spPr>
        </p:cxnSp>
        <p:sp>
          <p:nvSpPr>
            <p:cNvPr id="7" name="TextBox 6"/>
            <p:cNvSpPr txBox="1"/>
            <p:nvPr/>
          </p:nvSpPr>
          <p:spPr>
            <a:xfrm>
              <a:off x="9875520" y="4315968"/>
              <a:ext cx="1371600" cy="365760"/>
            </a:xfrm>
            <a:prstGeom prst="rect">
              <a:avLst/>
            </a:prstGeom>
            <a:noFill/>
          </p:spPr>
          <p:txBody>
            <a:bodyPr wrap="square" lIns="0" tIns="0" rIns="0" bIns="0" anchor="ctr">
              <a:noAutofit/>
            </a:bodyPr>
            <a:lstStyle/>
            <a:p>
              <a:pPr algn="r">
                <a:spcBef>
                  <a:spcPts val="0"/>
                </a:spcBef>
                <a:spcAft>
                  <a:spcPts val="0"/>
                </a:spcAft>
              </a:pPr>
              <a:r>
                <a:rPr lang="en-GB" sz="1800" b="1" i="0">
                  <a:solidFill>
                    <a:srgbClr val="A9B0B8"/>
                  </a:solidFill>
                  <a:latin typeface="Arial"/>
                </a:rPr>
                <a:t>Time</a:t>
              </a:r>
            </a:p>
          </p:txBody>
        </p:sp>
        <p:sp>
          <p:nvSpPr>
            <p:cNvPr id="8" name="Footplate"/>
            <p:cNvSpPr/>
            <p:nvPr/>
          </p:nvSpPr>
          <p:spPr>
            <a:xfrm>
              <a:off x="868680" y="3994556"/>
              <a:ext cx="1069848" cy="41148"/>
            </a:xfrm>
            <a:prstGeom prst="rect">
              <a:avLst/>
            </a:prstGeom>
            <a:solidFill>
              <a:srgbClr val="1B1D21"/>
            </a:solidFill>
            <a:ln>
              <a:noFill/>
            </a:ln>
          </p:spPr>
          <p:txBody>
            <a:bodyPr rtlCol="0" anchor="ctr"/>
            <a:lstStyle/>
            <a:p>
              <a:pPr algn="ctr"/>
              <a:endParaRPr/>
            </a:p>
          </p:txBody>
        </p:sp>
        <p:sp>
          <p:nvSpPr>
            <p:cNvPr id="9" name="Boiler"/>
            <p:cNvSpPr/>
            <p:nvPr/>
          </p:nvSpPr>
          <p:spPr>
            <a:xfrm>
              <a:off x="1239012" y="3768242"/>
              <a:ext cx="658368" cy="238658"/>
            </a:xfrm>
            <a:prstGeom prst="roundRect">
              <a:avLst>
                <a:gd name="adj" fmla="val 25862"/>
              </a:avLst>
            </a:prstGeom>
            <a:solidFill>
              <a:srgbClr val="F28C28"/>
            </a:solidFill>
            <a:ln>
              <a:noFill/>
            </a:ln>
          </p:spPr>
          <p:txBody>
            <a:bodyPr rtlCol="0" anchor="ctr"/>
            <a:lstStyle/>
            <a:p>
              <a:pPr algn="ctr"/>
              <a:endParaRPr/>
            </a:p>
          </p:txBody>
        </p:sp>
        <p:sp>
          <p:nvSpPr>
            <p:cNvPr id="10" name="Smokebox"/>
            <p:cNvSpPr/>
            <p:nvPr/>
          </p:nvSpPr>
          <p:spPr>
            <a:xfrm>
              <a:off x="1848002" y="3768242"/>
              <a:ext cx="57607" cy="238658"/>
            </a:xfrm>
            <a:prstGeom prst="rect">
              <a:avLst/>
            </a:prstGeom>
            <a:solidFill>
              <a:srgbClr val="1B1D21"/>
            </a:solidFill>
            <a:ln>
              <a:noFill/>
            </a:ln>
          </p:spPr>
          <p:txBody>
            <a:bodyPr rtlCol="0" anchor="ctr"/>
            <a:lstStyle/>
            <a:p>
              <a:pPr algn="ctr"/>
              <a:endParaRPr/>
            </a:p>
          </p:txBody>
        </p:sp>
        <p:sp>
          <p:nvSpPr>
            <p:cNvPr id="11" name="Chimney"/>
            <p:cNvSpPr/>
            <p:nvPr/>
          </p:nvSpPr>
          <p:spPr>
            <a:xfrm>
              <a:off x="1773936" y="3661258"/>
              <a:ext cx="53492" cy="115214"/>
            </a:xfrm>
            <a:prstGeom prst="rect">
              <a:avLst/>
            </a:prstGeom>
            <a:solidFill>
              <a:srgbClr val="1B1D21"/>
            </a:solidFill>
            <a:ln>
              <a:noFill/>
            </a:ln>
          </p:spPr>
          <p:txBody>
            <a:bodyPr rtlCol="0" anchor="ctr"/>
            <a:lstStyle/>
            <a:p>
              <a:pPr algn="ctr"/>
              <a:endParaRPr/>
            </a:p>
          </p:txBody>
        </p:sp>
        <p:sp>
          <p:nvSpPr>
            <p:cNvPr id="12" name="Chimney top"/>
            <p:cNvSpPr/>
            <p:nvPr/>
          </p:nvSpPr>
          <p:spPr>
            <a:xfrm>
              <a:off x="1753362" y="3644798"/>
              <a:ext cx="94640" cy="24689"/>
            </a:xfrm>
            <a:prstGeom prst="rect">
              <a:avLst/>
            </a:prstGeom>
            <a:solidFill>
              <a:srgbClr val="1B1D21"/>
            </a:solidFill>
            <a:ln>
              <a:noFill/>
            </a:ln>
          </p:spPr>
          <p:txBody>
            <a:bodyPr rtlCol="0" anchor="ctr"/>
            <a:lstStyle/>
            <a:p>
              <a:pPr algn="ctr"/>
              <a:endParaRPr/>
            </a:p>
          </p:txBody>
        </p:sp>
        <p:sp>
          <p:nvSpPr>
            <p:cNvPr id="13" name="Dome"/>
            <p:cNvSpPr/>
            <p:nvPr/>
          </p:nvSpPr>
          <p:spPr>
            <a:xfrm>
              <a:off x="1485900" y="3710635"/>
              <a:ext cx="139903" cy="123444"/>
            </a:xfrm>
            <a:prstGeom prst="chord">
              <a:avLst/>
            </a:prstGeom>
            <a:solidFill>
              <a:srgbClr val="C46E14"/>
            </a:solidFill>
            <a:ln>
              <a:noFill/>
            </a:ln>
          </p:spPr>
          <p:txBody>
            <a:bodyPr rtlCol="0" anchor="ctr"/>
            <a:lstStyle/>
            <a:p>
              <a:pPr algn="ctr"/>
              <a:endParaRPr/>
            </a:p>
          </p:txBody>
        </p:sp>
        <p:sp>
          <p:nvSpPr>
            <p:cNvPr id="14" name="Cab"/>
            <p:cNvSpPr/>
            <p:nvPr/>
          </p:nvSpPr>
          <p:spPr>
            <a:xfrm>
              <a:off x="901598" y="3685946"/>
              <a:ext cx="370332" cy="320954"/>
            </a:xfrm>
            <a:prstGeom prst="rect">
              <a:avLst/>
            </a:prstGeom>
            <a:solidFill>
              <a:srgbClr val="C46E14"/>
            </a:solidFill>
            <a:ln>
              <a:noFill/>
            </a:ln>
          </p:spPr>
          <p:txBody>
            <a:bodyPr rtlCol="0" anchor="ctr"/>
            <a:lstStyle/>
            <a:p>
              <a:pPr algn="ctr"/>
              <a:endParaRPr/>
            </a:p>
          </p:txBody>
        </p:sp>
        <p:sp>
          <p:nvSpPr>
            <p:cNvPr id="15" name="Cab roof"/>
            <p:cNvSpPr/>
            <p:nvPr/>
          </p:nvSpPr>
          <p:spPr>
            <a:xfrm>
              <a:off x="876910" y="3653028"/>
              <a:ext cx="419710" cy="37033"/>
            </a:xfrm>
            <a:prstGeom prst="rect">
              <a:avLst/>
            </a:prstGeom>
            <a:solidFill>
              <a:srgbClr val="1B1D21"/>
            </a:solidFill>
            <a:ln>
              <a:noFill/>
            </a:ln>
          </p:spPr>
          <p:txBody>
            <a:bodyPr rtlCol="0" anchor="ctr"/>
            <a:lstStyle/>
            <a:p>
              <a:pPr algn="ctr"/>
              <a:endParaRPr/>
            </a:p>
          </p:txBody>
        </p:sp>
        <p:sp>
          <p:nvSpPr>
            <p:cNvPr id="16" name="Cab window"/>
            <p:cNvSpPr/>
            <p:nvPr/>
          </p:nvSpPr>
          <p:spPr>
            <a:xfrm>
              <a:off x="992124" y="3743554"/>
              <a:ext cx="164592" cy="115214"/>
            </a:xfrm>
            <a:prstGeom prst="rect">
              <a:avLst/>
            </a:prstGeom>
            <a:solidFill>
              <a:srgbClr val="1B1D21"/>
            </a:solidFill>
            <a:ln>
              <a:noFill/>
            </a:ln>
          </p:spPr>
          <p:txBody>
            <a:bodyPr rtlCol="0" anchor="ctr"/>
            <a:lstStyle/>
            <a:p>
              <a:pPr algn="ctr"/>
              <a:endParaRPr/>
            </a:p>
          </p:txBody>
        </p:sp>
        <p:sp>
          <p:nvSpPr>
            <p:cNvPr id="17" name="Wheel"/>
            <p:cNvSpPr/>
            <p:nvPr/>
          </p:nvSpPr>
          <p:spPr>
            <a:xfrm>
              <a:off x="1004468" y="400278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18" name="Hub"/>
            <p:cNvSpPr/>
            <p:nvPr/>
          </p:nvSpPr>
          <p:spPr>
            <a:xfrm>
              <a:off x="1069647" y="4067964"/>
              <a:ext cx="50694" cy="50694"/>
            </a:xfrm>
            <a:prstGeom prst="ellipse">
              <a:avLst/>
            </a:prstGeom>
            <a:solidFill>
              <a:srgbClr val="9AA0A6"/>
            </a:solidFill>
            <a:ln>
              <a:noFill/>
            </a:ln>
          </p:spPr>
          <p:txBody>
            <a:bodyPr rtlCol="0" anchor="ctr"/>
            <a:lstStyle/>
            <a:p>
              <a:pPr algn="ctr"/>
              <a:endParaRPr/>
            </a:p>
          </p:txBody>
        </p:sp>
        <p:sp>
          <p:nvSpPr>
            <p:cNvPr id="19" name="Wheel"/>
            <p:cNvSpPr/>
            <p:nvPr/>
          </p:nvSpPr>
          <p:spPr>
            <a:xfrm>
              <a:off x="1333652" y="400278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20" name="Hub"/>
            <p:cNvSpPr/>
            <p:nvPr/>
          </p:nvSpPr>
          <p:spPr>
            <a:xfrm>
              <a:off x="1398831" y="4067964"/>
              <a:ext cx="50694" cy="50694"/>
            </a:xfrm>
            <a:prstGeom prst="ellipse">
              <a:avLst/>
            </a:prstGeom>
            <a:solidFill>
              <a:srgbClr val="9AA0A6"/>
            </a:solidFill>
            <a:ln>
              <a:noFill/>
            </a:ln>
          </p:spPr>
          <p:txBody>
            <a:bodyPr rtlCol="0" anchor="ctr"/>
            <a:lstStyle/>
            <a:p>
              <a:pPr algn="ctr"/>
              <a:endParaRPr/>
            </a:p>
          </p:txBody>
        </p:sp>
        <p:sp>
          <p:nvSpPr>
            <p:cNvPr id="21" name="Wheel"/>
            <p:cNvSpPr/>
            <p:nvPr/>
          </p:nvSpPr>
          <p:spPr>
            <a:xfrm>
              <a:off x="1662836" y="400278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22" name="Hub"/>
            <p:cNvSpPr/>
            <p:nvPr/>
          </p:nvSpPr>
          <p:spPr>
            <a:xfrm>
              <a:off x="1728015" y="4067964"/>
              <a:ext cx="50694" cy="50694"/>
            </a:xfrm>
            <a:prstGeom prst="ellipse">
              <a:avLst/>
            </a:prstGeom>
            <a:solidFill>
              <a:srgbClr val="9AA0A6"/>
            </a:solidFill>
            <a:ln>
              <a:noFill/>
            </a:ln>
          </p:spPr>
          <p:txBody>
            <a:bodyPr rtlCol="0" anchor="ctr"/>
            <a:lstStyle/>
            <a:p>
              <a:pPr algn="ctr"/>
              <a:endParaRPr/>
            </a:p>
          </p:txBody>
        </p:sp>
        <p:cxnSp>
          <p:nvCxnSpPr>
            <p:cNvPr id="23" name="Coupling rod"/>
            <p:cNvCxnSpPr/>
            <p:nvPr/>
          </p:nvCxnSpPr>
          <p:spPr>
            <a:xfrm>
              <a:off x="1094994" y="4093312"/>
              <a:ext cx="658368" cy="0"/>
            </a:xfrm>
            <a:prstGeom prst="line">
              <a:avLst/>
            </a:prstGeom>
            <a:ln w="25400">
              <a:solidFill>
                <a:srgbClr val="9AA0A6"/>
              </a:solidFill>
            </a:ln>
          </p:spPr>
        </p:cxnSp>
        <p:sp>
          <p:nvSpPr>
            <p:cNvPr id="24" name="Footplate"/>
            <p:cNvSpPr/>
            <p:nvPr/>
          </p:nvSpPr>
          <p:spPr>
            <a:xfrm>
              <a:off x="4160520" y="3994556"/>
              <a:ext cx="1069848" cy="41148"/>
            </a:xfrm>
            <a:prstGeom prst="rect">
              <a:avLst/>
            </a:prstGeom>
            <a:solidFill>
              <a:srgbClr val="1B1D21"/>
            </a:solidFill>
            <a:ln>
              <a:noFill/>
            </a:ln>
          </p:spPr>
          <p:txBody>
            <a:bodyPr rtlCol="0" anchor="ctr"/>
            <a:lstStyle/>
            <a:p>
              <a:pPr algn="ctr"/>
              <a:endParaRPr/>
            </a:p>
          </p:txBody>
        </p:sp>
        <p:sp>
          <p:nvSpPr>
            <p:cNvPr id="25" name="Boiler"/>
            <p:cNvSpPr/>
            <p:nvPr/>
          </p:nvSpPr>
          <p:spPr>
            <a:xfrm>
              <a:off x="4530852" y="3768242"/>
              <a:ext cx="658368" cy="238658"/>
            </a:xfrm>
            <a:prstGeom prst="roundRect">
              <a:avLst>
                <a:gd name="adj" fmla="val 25862"/>
              </a:avLst>
            </a:prstGeom>
            <a:solidFill>
              <a:srgbClr val="F28C28"/>
            </a:solidFill>
            <a:ln>
              <a:noFill/>
            </a:ln>
          </p:spPr>
          <p:txBody>
            <a:bodyPr rtlCol="0" anchor="ctr"/>
            <a:lstStyle/>
            <a:p>
              <a:pPr algn="ctr"/>
              <a:endParaRPr/>
            </a:p>
          </p:txBody>
        </p:sp>
        <p:sp>
          <p:nvSpPr>
            <p:cNvPr id="26" name="Smokebox"/>
            <p:cNvSpPr/>
            <p:nvPr/>
          </p:nvSpPr>
          <p:spPr>
            <a:xfrm>
              <a:off x="5139842" y="3768242"/>
              <a:ext cx="57607" cy="238658"/>
            </a:xfrm>
            <a:prstGeom prst="rect">
              <a:avLst/>
            </a:prstGeom>
            <a:solidFill>
              <a:srgbClr val="1B1D21"/>
            </a:solidFill>
            <a:ln>
              <a:noFill/>
            </a:ln>
          </p:spPr>
          <p:txBody>
            <a:bodyPr rtlCol="0" anchor="ctr"/>
            <a:lstStyle/>
            <a:p>
              <a:pPr algn="ctr"/>
              <a:endParaRPr/>
            </a:p>
          </p:txBody>
        </p:sp>
        <p:sp>
          <p:nvSpPr>
            <p:cNvPr id="27" name="Chimney"/>
            <p:cNvSpPr/>
            <p:nvPr/>
          </p:nvSpPr>
          <p:spPr>
            <a:xfrm>
              <a:off x="5065776" y="3661258"/>
              <a:ext cx="53492" cy="115214"/>
            </a:xfrm>
            <a:prstGeom prst="rect">
              <a:avLst/>
            </a:prstGeom>
            <a:solidFill>
              <a:srgbClr val="1B1D21"/>
            </a:solidFill>
            <a:ln>
              <a:noFill/>
            </a:ln>
          </p:spPr>
          <p:txBody>
            <a:bodyPr rtlCol="0" anchor="ctr"/>
            <a:lstStyle/>
            <a:p>
              <a:pPr algn="ctr"/>
              <a:endParaRPr/>
            </a:p>
          </p:txBody>
        </p:sp>
        <p:sp>
          <p:nvSpPr>
            <p:cNvPr id="28" name="Chimney top"/>
            <p:cNvSpPr/>
            <p:nvPr/>
          </p:nvSpPr>
          <p:spPr>
            <a:xfrm>
              <a:off x="5045202" y="3644798"/>
              <a:ext cx="94640" cy="24689"/>
            </a:xfrm>
            <a:prstGeom prst="rect">
              <a:avLst/>
            </a:prstGeom>
            <a:solidFill>
              <a:srgbClr val="1B1D21"/>
            </a:solidFill>
            <a:ln>
              <a:noFill/>
            </a:ln>
          </p:spPr>
          <p:txBody>
            <a:bodyPr rtlCol="0" anchor="ctr"/>
            <a:lstStyle/>
            <a:p>
              <a:pPr algn="ctr"/>
              <a:endParaRPr/>
            </a:p>
          </p:txBody>
        </p:sp>
        <p:sp>
          <p:nvSpPr>
            <p:cNvPr id="29" name="Dome"/>
            <p:cNvSpPr/>
            <p:nvPr/>
          </p:nvSpPr>
          <p:spPr>
            <a:xfrm>
              <a:off x="4777740" y="3710635"/>
              <a:ext cx="139903" cy="123444"/>
            </a:xfrm>
            <a:prstGeom prst="chord">
              <a:avLst/>
            </a:prstGeom>
            <a:solidFill>
              <a:srgbClr val="C46E14"/>
            </a:solidFill>
            <a:ln>
              <a:noFill/>
            </a:ln>
          </p:spPr>
          <p:txBody>
            <a:bodyPr rtlCol="0" anchor="ctr"/>
            <a:lstStyle/>
            <a:p>
              <a:pPr algn="ctr"/>
              <a:endParaRPr/>
            </a:p>
          </p:txBody>
        </p:sp>
        <p:sp>
          <p:nvSpPr>
            <p:cNvPr id="30" name="Cab"/>
            <p:cNvSpPr/>
            <p:nvPr/>
          </p:nvSpPr>
          <p:spPr>
            <a:xfrm>
              <a:off x="4193438" y="3685946"/>
              <a:ext cx="370332" cy="320954"/>
            </a:xfrm>
            <a:prstGeom prst="rect">
              <a:avLst/>
            </a:prstGeom>
            <a:solidFill>
              <a:srgbClr val="C46E14"/>
            </a:solidFill>
            <a:ln>
              <a:noFill/>
            </a:ln>
          </p:spPr>
          <p:txBody>
            <a:bodyPr rtlCol="0" anchor="ctr"/>
            <a:lstStyle/>
            <a:p>
              <a:pPr algn="ctr"/>
              <a:endParaRPr/>
            </a:p>
          </p:txBody>
        </p:sp>
        <p:sp>
          <p:nvSpPr>
            <p:cNvPr id="31" name="Cab roof"/>
            <p:cNvSpPr/>
            <p:nvPr/>
          </p:nvSpPr>
          <p:spPr>
            <a:xfrm>
              <a:off x="4168750" y="3653028"/>
              <a:ext cx="419710" cy="37033"/>
            </a:xfrm>
            <a:prstGeom prst="rect">
              <a:avLst/>
            </a:prstGeom>
            <a:solidFill>
              <a:srgbClr val="1B1D21"/>
            </a:solidFill>
            <a:ln>
              <a:noFill/>
            </a:ln>
          </p:spPr>
          <p:txBody>
            <a:bodyPr rtlCol="0" anchor="ctr"/>
            <a:lstStyle/>
            <a:p>
              <a:pPr algn="ctr"/>
              <a:endParaRPr/>
            </a:p>
          </p:txBody>
        </p:sp>
        <p:sp>
          <p:nvSpPr>
            <p:cNvPr id="32" name="Cab window"/>
            <p:cNvSpPr/>
            <p:nvPr/>
          </p:nvSpPr>
          <p:spPr>
            <a:xfrm>
              <a:off x="4283964" y="3743554"/>
              <a:ext cx="164592" cy="115214"/>
            </a:xfrm>
            <a:prstGeom prst="rect">
              <a:avLst/>
            </a:prstGeom>
            <a:solidFill>
              <a:srgbClr val="1B1D21"/>
            </a:solidFill>
            <a:ln>
              <a:noFill/>
            </a:ln>
          </p:spPr>
          <p:txBody>
            <a:bodyPr rtlCol="0" anchor="ctr"/>
            <a:lstStyle/>
            <a:p>
              <a:pPr algn="ctr"/>
              <a:endParaRPr/>
            </a:p>
          </p:txBody>
        </p:sp>
        <p:sp>
          <p:nvSpPr>
            <p:cNvPr id="33" name="Wheel"/>
            <p:cNvSpPr/>
            <p:nvPr/>
          </p:nvSpPr>
          <p:spPr>
            <a:xfrm>
              <a:off x="4296308" y="400278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34" name="Hub"/>
            <p:cNvSpPr/>
            <p:nvPr/>
          </p:nvSpPr>
          <p:spPr>
            <a:xfrm>
              <a:off x="4361487" y="4067964"/>
              <a:ext cx="50694" cy="50694"/>
            </a:xfrm>
            <a:prstGeom prst="ellipse">
              <a:avLst/>
            </a:prstGeom>
            <a:solidFill>
              <a:srgbClr val="9AA0A6"/>
            </a:solidFill>
            <a:ln>
              <a:noFill/>
            </a:ln>
          </p:spPr>
          <p:txBody>
            <a:bodyPr rtlCol="0" anchor="ctr"/>
            <a:lstStyle/>
            <a:p>
              <a:pPr algn="ctr"/>
              <a:endParaRPr/>
            </a:p>
          </p:txBody>
        </p:sp>
        <p:sp>
          <p:nvSpPr>
            <p:cNvPr id="35" name="Wheel"/>
            <p:cNvSpPr/>
            <p:nvPr/>
          </p:nvSpPr>
          <p:spPr>
            <a:xfrm>
              <a:off x="4625492" y="400278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36" name="Hub"/>
            <p:cNvSpPr/>
            <p:nvPr/>
          </p:nvSpPr>
          <p:spPr>
            <a:xfrm>
              <a:off x="4690671" y="4067964"/>
              <a:ext cx="50694" cy="50694"/>
            </a:xfrm>
            <a:prstGeom prst="ellipse">
              <a:avLst/>
            </a:prstGeom>
            <a:solidFill>
              <a:srgbClr val="9AA0A6"/>
            </a:solidFill>
            <a:ln>
              <a:noFill/>
            </a:ln>
          </p:spPr>
          <p:txBody>
            <a:bodyPr rtlCol="0" anchor="ctr"/>
            <a:lstStyle/>
            <a:p>
              <a:pPr algn="ctr"/>
              <a:endParaRPr/>
            </a:p>
          </p:txBody>
        </p:sp>
        <p:sp>
          <p:nvSpPr>
            <p:cNvPr id="37" name="Wheel"/>
            <p:cNvSpPr/>
            <p:nvPr/>
          </p:nvSpPr>
          <p:spPr>
            <a:xfrm>
              <a:off x="4954676" y="400278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38" name="Hub"/>
            <p:cNvSpPr/>
            <p:nvPr/>
          </p:nvSpPr>
          <p:spPr>
            <a:xfrm>
              <a:off x="5019855" y="4067964"/>
              <a:ext cx="50694" cy="50694"/>
            </a:xfrm>
            <a:prstGeom prst="ellipse">
              <a:avLst/>
            </a:prstGeom>
            <a:solidFill>
              <a:srgbClr val="9AA0A6"/>
            </a:solidFill>
            <a:ln>
              <a:noFill/>
            </a:ln>
          </p:spPr>
          <p:txBody>
            <a:bodyPr rtlCol="0" anchor="ctr"/>
            <a:lstStyle/>
            <a:p>
              <a:pPr algn="ctr"/>
              <a:endParaRPr/>
            </a:p>
          </p:txBody>
        </p:sp>
        <p:cxnSp>
          <p:nvCxnSpPr>
            <p:cNvPr id="39" name="Coupling rod"/>
            <p:cNvCxnSpPr/>
            <p:nvPr/>
          </p:nvCxnSpPr>
          <p:spPr>
            <a:xfrm>
              <a:off x="4386834" y="4093312"/>
              <a:ext cx="658368" cy="0"/>
            </a:xfrm>
            <a:prstGeom prst="line">
              <a:avLst/>
            </a:prstGeom>
            <a:ln w="25400">
              <a:solidFill>
                <a:srgbClr val="9AA0A6"/>
              </a:solidFill>
            </a:ln>
          </p:spPr>
        </p:cxnSp>
        <p:sp>
          <p:nvSpPr>
            <p:cNvPr id="40" name="Footplate"/>
            <p:cNvSpPr/>
            <p:nvPr/>
          </p:nvSpPr>
          <p:spPr>
            <a:xfrm>
              <a:off x="9144000" y="3994556"/>
              <a:ext cx="1069848" cy="41148"/>
            </a:xfrm>
            <a:prstGeom prst="rect">
              <a:avLst/>
            </a:prstGeom>
            <a:solidFill>
              <a:srgbClr val="1B1D21"/>
            </a:solidFill>
            <a:ln>
              <a:noFill/>
            </a:ln>
          </p:spPr>
          <p:txBody>
            <a:bodyPr rtlCol="0" anchor="ctr"/>
            <a:lstStyle/>
            <a:p>
              <a:pPr algn="ctr"/>
              <a:endParaRPr/>
            </a:p>
          </p:txBody>
        </p:sp>
        <p:sp>
          <p:nvSpPr>
            <p:cNvPr id="41" name="Boiler"/>
            <p:cNvSpPr/>
            <p:nvPr/>
          </p:nvSpPr>
          <p:spPr>
            <a:xfrm>
              <a:off x="9514332" y="3768242"/>
              <a:ext cx="658368" cy="238658"/>
            </a:xfrm>
            <a:prstGeom prst="roundRect">
              <a:avLst>
                <a:gd name="adj" fmla="val 25862"/>
              </a:avLst>
            </a:prstGeom>
            <a:solidFill>
              <a:srgbClr val="F28C28"/>
            </a:solidFill>
            <a:ln>
              <a:noFill/>
            </a:ln>
          </p:spPr>
          <p:txBody>
            <a:bodyPr rtlCol="0" anchor="ctr"/>
            <a:lstStyle/>
            <a:p>
              <a:pPr algn="ctr"/>
              <a:endParaRPr/>
            </a:p>
          </p:txBody>
        </p:sp>
        <p:sp>
          <p:nvSpPr>
            <p:cNvPr id="42" name="Smokebox"/>
            <p:cNvSpPr/>
            <p:nvPr/>
          </p:nvSpPr>
          <p:spPr>
            <a:xfrm>
              <a:off x="10123322" y="3768242"/>
              <a:ext cx="57607" cy="238658"/>
            </a:xfrm>
            <a:prstGeom prst="rect">
              <a:avLst/>
            </a:prstGeom>
            <a:solidFill>
              <a:srgbClr val="1B1D21"/>
            </a:solidFill>
            <a:ln>
              <a:noFill/>
            </a:ln>
          </p:spPr>
          <p:txBody>
            <a:bodyPr rtlCol="0" anchor="ctr"/>
            <a:lstStyle/>
            <a:p>
              <a:pPr algn="ctr"/>
              <a:endParaRPr/>
            </a:p>
          </p:txBody>
        </p:sp>
        <p:sp>
          <p:nvSpPr>
            <p:cNvPr id="43" name="Chimney"/>
            <p:cNvSpPr/>
            <p:nvPr/>
          </p:nvSpPr>
          <p:spPr>
            <a:xfrm>
              <a:off x="10049256" y="3661258"/>
              <a:ext cx="53492" cy="115214"/>
            </a:xfrm>
            <a:prstGeom prst="rect">
              <a:avLst/>
            </a:prstGeom>
            <a:solidFill>
              <a:srgbClr val="1B1D21"/>
            </a:solidFill>
            <a:ln>
              <a:noFill/>
            </a:ln>
          </p:spPr>
          <p:txBody>
            <a:bodyPr rtlCol="0" anchor="ctr"/>
            <a:lstStyle/>
            <a:p>
              <a:pPr algn="ctr"/>
              <a:endParaRPr/>
            </a:p>
          </p:txBody>
        </p:sp>
        <p:sp>
          <p:nvSpPr>
            <p:cNvPr id="44" name="Chimney top"/>
            <p:cNvSpPr/>
            <p:nvPr/>
          </p:nvSpPr>
          <p:spPr>
            <a:xfrm>
              <a:off x="10028682" y="3644798"/>
              <a:ext cx="94640" cy="24689"/>
            </a:xfrm>
            <a:prstGeom prst="rect">
              <a:avLst/>
            </a:prstGeom>
            <a:solidFill>
              <a:srgbClr val="1B1D21"/>
            </a:solidFill>
            <a:ln>
              <a:noFill/>
            </a:ln>
          </p:spPr>
          <p:txBody>
            <a:bodyPr rtlCol="0" anchor="ctr"/>
            <a:lstStyle/>
            <a:p>
              <a:pPr algn="ctr"/>
              <a:endParaRPr/>
            </a:p>
          </p:txBody>
        </p:sp>
        <p:sp>
          <p:nvSpPr>
            <p:cNvPr id="45" name="Dome"/>
            <p:cNvSpPr/>
            <p:nvPr/>
          </p:nvSpPr>
          <p:spPr>
            <a:xfrm>
              <a:off x="9761220" y="3710635"/>
              <a:ext cx="139903" cy="123444"/>
            </a:xfrm>
            <a:prstGeom prst="chord">
              <a:avLst/>
            </a:prstGeom>
            <a:solidFill>
              <a:srgbClr val="C46E14"/>
            </a:solidFill>
            <a:ln>
              <a:noFill/>
            </a:ln>
          </p:spPr>
          <p:txBody>
            <a:bodyPr rtlCol="0" anchor="ctr"/>
            <a:lstStyle/>
            <a:p>
              <a:pPr algn="ctr"/>
              <a:endParaRPr/>
            </a:p>
          </p:txBody>
        </p:sp>
        <p:sp>
          <p:nvSpPr>
            <p:cNvPr id="46" name="Cab"/>
            <p:cNvSpPr/>
            <p:nvPr/>
          </p:nvSpPr>
          <p:spPr>
            <a:xfrm>
              <a:off x="9176918" y="3685946"/>
              <a:ext cx="370332" cy="320954"/>
            </a:xfrm>
            <a:prstGeom prst="rect">
              <a:avLst/>
            </a:prstGeom>
            <a:solidFill>
              <a:srgbClr val="C46E14"/>
            </a:solidFill>
            <a:ln>
              <a:noFill/>
            </a:ln>
          </p:spPr>
          <p:txBody>
            <a:bodyPr rtlCol="0" anchor="ctr"/>
            <a:lstStyle/>
            <a:p>
              <a:pPr algn="ctr"/>
              <a:endParaRPr/>
            </a:p>
          </p:txBody>
        </p:sp>
        <p:sp>
          <p:nvSpPr>
            <p:cNvPr id="47" name="Cab roof"/>
            <p:cNvSpPr/>
            <p:nvPr/>
          </p:nvSpPr>
          <p:spPr>
            <a:xfrm>
              <a:off x="9152230" y="3653028"/>
              <a:ext cx="419710" cy="37033"/>
            </a:xfrm>
            <a:prstGeom prst="rect">
              <a:avLst/>
            </a:prstGeom>
            <a:solidFill>
              <a:srgbClr val="1B1D21"/>
            </a:solidFill>
            <a:ln>
              <a:noFill/>
            </a:ln>
          </p:spPr>
          <p:txBody>
            <a:bodyPr rtlCol="0" anchor="ctr"/>
            <a:lstStyle/>
            <a:p>
              <a:pPr algn="ctr"/>
              <a:endParaRPr/>
            </a:p>
          </p:txBody>
        </p:sp>
        <p:sp>
          <p:nvSpPr>
            <p:cNvPr id="48" name="Cab window"/>
            <p:cNvSpPr/>
            <p:nvPr/>
          </p:nvSpPr>
          <p:spPr>
            <a:xfrm>
              <a:off x="9267444" y="3743554"/>
              <a:ext cx="164592" cy="115214"/>
            </a:xfrm>
            <a:prstGeom prst="rect">
              <a:avLst/>
            </a:prstGeom>
            <a:solidFill>
              <a:srgbClr val="1B1D21"/>
            </a:solidFill>
            <a:ln>
              <a:noFill/>
            </a:ln>
          </p:spPr>
          <p:txBody>
            <a:bodyPr rtlCol="0" anchor="ctr"/>
            <a:lstStyle/>
            <a:p>
              <a:pPr algn="ctr"/>
              <a:endParaRPr/>
            </a:p>
          </p:txBody>
        </p:sp>
        <p:sp>
          <p:nvSpPr>
            <p:cNvPr id="49" name="Wheel"/>
            <p:cNvSpPr/>
            <p:nvPr/>
          </p:nvSpPr>
          <p:spPr>
            <a:xfrm>
              <a:off x="9279788" y="400278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50" name="Hub"/>
            <p:cNvSpPr/>
            <p:nvPr/>
          </p:nvSpPr>
          <p:spPr>
            <a:xfrm>
              <a:off x="9344967" y="4067964"/>
              <a:ext cx="50694" cy="50694"/>
            </a:xfrm>
            <a:prstGeom prst="ellipse">
              <a:avLst/>
            </a:prstGeom>
            <a:solidFill>
              <a:srgbClr val="9AA0A6"/>
            </a:solidFill>
            <a:ln>
              <a:noFill/>
            </a:ln>
          </p:spPr>
          <p:txBody>
            <a:bodyPr rtlCol="0" anchor="ctr"/>
            <a:lstStyle/>
            <a:p>
              <a:pPr algn="ctr"/>
              <a:endParaRPr/>
            </a:p>
          </p:txBody>
        </p:sp>
        <p:sp>
          <p:nvSpPr>
            <p:cNvPr id="51" name="Wheel"/>
            <p:cNvSpPr/>
            <p:nvPr/>
          </p:nvSpPr>
          <p:spPr>
            <a:xfrm>
              <a:off x="9608972" y="400278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52" name="Hub"/>
            <p:cNvSpPr/>
            <p:nvPr/>
          </p:nvSpPr>
          <p:spPr>
            <a:xfrm>
              <a:off x="9674151" y="4067964"/>
              <a:ext cx="50694" cy="50694"/>
            </a:xfrm>
            <a:prstGeom prst="ellipse">
              <a:avLst/>
            </a:prstGeom>
            <a:solidFill>
              <a:srgbClr val="9AA0A6"/>
            </a:solidFill>
            <a:ln>
              <a:noFill/>
            </a:ln>
          </p:spPr>
          <p:txBody>
            <a:bodyPr rtlCol="0" anchor="ctr"/>
            <a:lstStyle/>
            <a:p>
              <a:pPr algn="ctr"/>
              <a:endParaRPr/>
            </a:p>
          </p:txBody>
        </p:sp>
        <p:sp>
          <p:nvSpPr>
            <p:cNvPr id="53" name="Wheel"/>
            <p:cNvSpPr/>
            <p:nvPr/>
          </p:nvSpPr>
          <p:spPr>
            <a:xfrm>
              <a:off x="9938156" y="4002786"/>
              <a:ext cx="181051" cy="181051"/>
            </a:xfrm>
            <a:prstGeom prst="ellipse">
              <a:avLst/>
            </a:prstGeom>
            <a:solidFill>
              <a:srgbClr val="1B1D21"/>
            </a:solidFill>
            <a:ln w="19050">
              <a:solidFill>
                <a:srgbClr val="9AA0A6"/>
              </a:solidFill>
            </a:ln>
          </p:spPr>
          <p:txBody>
            <a:bodyPr rtlCol="0" anchor="ctr"/>
            <a:lstStyle/>
            <a:p>
              <a:pPr algn="ctr"/>
              <a:endParaRPr/>
            </a:p>
          </p:txBody>
        </p:sp>
        <p:sp>
          <p:nvSpPr>
            <p:cNvPr id="54" name="Hub"/>
            <p:cNvSpPr/>
            <p:nvPr/>
          </p:nvSpPr>
          <p:spPr>
            <a:xfrm>
              <a:off x="10003335" y="4067964"/>
              <a:ext cx="50694" cy="50694"/>
            </a:xfrm>
            <a:prstGeom prst="ellipse">
              <a:avLst/>
            </a:prstGeom>
            <a:solidFill>
              <a:srgbClr val="9AA0A6"/>
            </a:solidFill>
            <a:ln>
              <a:noFill/>
            </a:ln>
          </p:spPr>
          <p:txBody>
            <a:bodyPr rtlCol="0" anchor="ctr"/>
            <a:lstStyle/>
            <a:p>
              <a:pPr algn="ctr"/>
              <a:endParaRPr/>
            </a:p>
          </p:txBody>
        </p:sp>
        <p:cxnSp>
          <p:nvCxnSpPr>
            <p:cNvPr id="55" name="Coupling rod"/>
            <p:cNvCxnSpPr/>
            <p:nvPr/>
          </p:nvCxnSpPr>
          <p:spPr>
            <a:xfrm>
              <a:off x="9370314" y="4093312"/>
              <a:ext cx="658368" cy="0"/>
            </a:xfrm>
            <a:prstGeom prst="line">
              <a:avLst/>
            </a:prstGeom>
            <a:ln w="25400">
              <a:solidFill>
                <a:srgbClr val="9AA0A6"/>
              </a:solidFill>
            </a:ln>
          </p:spPr>
        </p:cxnSp>
        <p:sp>
          <p:nvSpPr>
            <p:cNvPr id="56" name="Short stop"/>
            <p:cNvSpPr/>
            <p:nvPr/>
          </p:nvSpPr>
          <p:spPr>
            <a:xfrm>
              <a:off x="2331720" y="3639312"/>
              <a:ext cx="1554480" cy="548640"/>
            </a:xfrm>
            <a:prstGeom prst="roundRect">
              <a:avLst>
                <a:gd name="adj" fmla="val 13333"/>
              </a:avLst>
            </a:prstGeom>
            <a:solidFill>
              <a:srgbClr val="F2C14E"/>
            </a:solidFill>
            <a:ln>
              <a:noFill/>
            </a:ln>
          </p:spPr>
          <p:txBody>
            <a:bodyPr wrap="none" lIns="0" tIns="0" rIns="0" bIns="0" rtlCol="0" anchor="ctr">
              <a:noAutofit/>
            </a:bodyPr>
            <a:lstStyle/>
            <a:p>
              <a:pPr algn="ctr">
                <a:spcBef>
                  <a:spcPts val="0"/>
                </a:spcBef>
                <a:spcAft>
                  <a:spcPts val="0"/>
                </a:spcAft>
              </a:pPr>
              <a:r>
                <a:rPr lang="en-GB" sz="1800" b="1" i="0">
                  <a:solidFill>
                    <a:srgbClr val="101418"/>
                  </a:solidFill>
                  <a:latin typeface="Arial"/>
                </a:rPr>
                <a:t>Short stop</a:t>
              </a:r>
            </a:p>
          </p:txBody>
        </p:sp>
        <p:sp>
          <p:nvSpPr>
            <p:cNvPr id="57" name="Long stop"/>
            <p:cNvSpPr/>
            <p:nvPr/>
          </p:nvSpPr>
          <p:spPr>
            <a:xfrm>
              <a:off x="5623560" y="3639312"/>
              <a:ext cx="3200400" cy="548640"/>
            </a:xfrm>
            <a:prstGeom prst="roundRect">
              <a:avLst>
                <a:gd name="adj" fmla="val 13333"/>
              </a:avLst>
            </a:prstGeom>
            <a:solidFill>
              <a:srgbClr val="F2C14E"/>
            </a:solidFill>
            <a:ln>
              <a:noFill/>
            </a:ln>
          </p:spPr>
          <p:txBody>
            <a:bodyPr wrap="none" lIns="0" tIns="0" rIns="0" bIns="0" rtlCol="0" anchor="ctr">
              <a:noAutofit/>
            </a:bodyPr>
            <a:lstStyle/>
            <a:p>
              <a:pPr algn="ctr">
                <a:spcBef>
                  <a:spcPts val="0"/>
                </a:spcBef>
                <a:spcAft>
                  <a:spcPts val="0"/>
                </a:spcAft>
              </a:pPr>
              <a:r>
                <a:rPr lang="en-GB" sz="1800" b="1" i="0">
                  <a:solidFill>
                    <a:srgbClr val="101418"/>
                  </a:solidFill>
                  <a:latin typeface="Arial"/>
                </a:rPr>
                <a:t>Long stop</a:t>
              </a:r>
            </a:p>
          </p:txBody>
        </p:sp>
        <p:cxnSp>
          <p:nvCxnSpPr>
            <p:cNvPr id="58" name="Reliability arrow"/>
            <p:cNvCxnSpPr/>
            <p:nvPr/>
          </p:nvCxnSpPr>
          <p:spPr>
            <a:xfrm flipV="1">
              <a:off x="3108960" y="2651760"/>
              <a:ext cx="0" cy="914400"/>
            </a:xfrm>
            <a:prstGeom prst="line">
              <a:avLst/>
            </a:prstGeom>
            <a:ln w="38100">
              <a:solidFill>
                <a:srgbClr val="3FB950"/>
              </a:solidFill>
              <a:tailEnd type="triangle" w="med" len="med"/>
            </a:ln>
          </p:spPr>
        </p:cxnSp>
        <p:cxnSp>
          <p:nvCxnSpPr>
            <p:cNvPr id="59" name="Reliability arrow"/>
            <p:cNvCxnSpPr/>
            <p:nvPr/>
          </p:nvCxnSpPr>
          <p:spPr>
            <a:xfrm flipV="1">
              <a:off x="7223760" y="2651760"/>
              <a:ext cx="0" cy="914400"/>
            </a:xfrm>
            <a:prstGeom prst="line">
              <a:avLst/>
            </a:prstGeom>
            <a:ln w="38100">
              <a:solidFill>
                <a:srgbClr val="3FB950"/>
              </a:solidFill>
              <a:tailEnd type="triangle" w="med" len="med"/>
            </a:ln>
          </p:spPr>
        </p:cxnSp>
        <p:cxnSp>
          <p:nvCxnSpPr>
            <p:cNvPr id="60" name="Reliability bar"/>
            <p:cNvCxnSpPr/>
            <p:nvPr/>
          </p:nvCxnSpPr>
          <p:spPr>
            <a:xfrm>
              <a:off x="2743200" y="2606040"/>
              <a:ext cx="4846320" cy="0"/>
            </a:xfrm>
            <a:prstGeom prst="line">
              <a:avLst/>
            </a:prstGeom>
            <a:ln w="38100">
              <a:solidFill>
                <a:srgbClr val="3FB950"/>
              </a:solidFill>
            </a:ln>
          </p:spPr>
        </p:cxnSp>
        <p:sp>
          <p:nvSpPr>
            <p:cNvPr id="61" name="TextBox 60"/>
            <p:cNvSpPr txBox="1"/>
            <p:nvPr/>
          </p:nvSpPr>
          <p:spPr>
            <a:xfrm>
              <a:off x="3840480" y="2148840"/>
              <a:ext cx="3657600" cy="384048"/>
            </a:xfrm>
            <a:prstGeom prst="rect">
              <a:avLst/>
            </a:prstGeom>
            <a:noFill/>
          </p:spPr>
          <p:txBody>
            <a:bodyPr wrap="square" lIns="45720" tIns="27432" rIns="45720" bIns="27432" anchor="ctr">
              <a:noAutofit/>
            </a:bodyPr>
            <a:lstStyle/>
            <a:p>
              <a:pPr algn="ctr">
                <a:spcBef>
                  <a:spcPts val="0"/>
                </a:spcBef>
                <a:spcAft>
                  <a:spcPts val="0"/>
                </a:spcAft>
              </a:pPr>
              <a:r>
                <a:rPr lang="en-GB" sz="2000" b="1" i="0">
                  <a:solidFill>
                    <a:srgbClr val="3FB950"/>
                  </a:solidFill>
                  <a:latin typeface="Arial"/>
                </a:rPr>
                <a:t>Reliability</a:t>
              </a:r>
            </a:p>
          </p:txBody>
        </p:sp>
        <p:sp>
          <p:nvSpPr>
            <p:cNvPr id="62" name="Inline chip: To be tested"/>
            <p:cNvSpPr/>
            <p:nvPr/>
          </p:nvSpPr>
          <p:spPr>
            <a:xfrm>
              <a:off x="2331720" y="4572000"/>
              <a:ext cx="1344855"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To be tested</a:t>
              </a:r>
            </a:p>
          </p:txBody>
        </p:sp>
      </p:grpSp>
      <p:grpSp>
        <p:nvGrpSpPr>
          <p:cNvPr id="63" name="Caption" descr="Caption: Service stops trade time for reliability. Whether top-ups help throughput is still to be tested."/>
          <p:cNvGrpSpPr/>
          <p:nvPr/>
        </p:nvGrpSpPr>
        <p:grpSpPr>
          <a:xfrm>
            <a:off x="548640" y="5669280"/>
            <a:ext cx="11091672" cy="822960"/>
            <a:chOff x="548640" y="5669280"/>
            <a:chExt cx="11091672" cy="822960"/>
          </a:xfrm>
        </p:grpSpPr>
        <p:sp>
          <p:nvSpPr>
            <p:cNvPr id="64"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65"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66"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Service stops trade time for reliability. Whether top-ups help throughput is still to be tested.</a:t>
              </a:r>
            </a:p>
          </p:txBody>
        </p:sp>
      </p:grpSp>
      <p:sp>
        <p:nvSpPr>
          <p:cNvPr id="67"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13</a:t>
            </a:r>
          </a:p>
        </p:txBody>
      </p:sp>
    </p:spTree>
    <p:extLst>
      <p:ext uri="{BB962C8B-B14F-4D97-AF65-F5344CB8AC3E}">
        <p14:creationId xmlns:p14="http://schemas.microsoft.com/office/powerpoint/2010/main" val="23810098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Test targets for range</a:t>
            </a:r>
          </a:p>
        </p:txBody>
      </p:sp>
      <p:sp>
        <p:nvSpPr>
          <p:cNvPr id="3" name="Status chip" descr="Status tag: Provisional"/>
          <p:cNvSpPr/>
          <p:nvPr/>
        </p:nvSpPr>
        <p:spPr>
          <a:xfrm>
            <a:off x="10180015" y="457200"/>
            <a:ext cx="1463040" cy="365760"/>
          </a:xfrm>
          <a:prstGeom prst="roundRect">
            <a:avLst>
              <a:gd name="adj" fmla="val 30000"/>
            </a:avLst>
          </a:prstGeom>
          <a:solidFill>
            <a:srgbClr val="4DA3FF"/>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PROVISIONAL</a:t>
            </a:r>
          </a:p>
        </p:txBody>
      </p:sp>
      <p:grpSp>
        <p:nvGrpSpPr>
          <p:cNvPr id="4" name="Table: route-dependent range targets" descr="Table of test targets for range per tank. Small: water 2 to 3 km, coal 4 to 5 km. Medium: water 4 to 5 km, coal about 7 km. Large: water 6 to 7 km, coal about 10 km."/>
          <p:cNvGrpSpPr/>
          <p:nvPr/>
        </p:nvGrpSpPr>
        <p:grpSpPr>
          <a:xfrm>
            <a:off x="1737360" y="1371600"/>
            <a:ext cx="8869680" cy="4114800"/>
            <a:chOff x="1737360" y="1371600"/>
            <a:chExt cx="8869680" cy="4114800"/>
          </a:xfrm>
        </p:grpSpPr>
        <p:sp>
          <p:nvSpPr>
            <p:cNvPr id="5" name="Table header"/>
            <p:cNvSpPr txBox="1"/>
            <p:nvPr/>
          </p:nvSpPr>
          <p:spPr>
            <a:xfrm>
              <a:off x="1737360" y="1371600"/>
              <a:ext cx="8686800" cy="45720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8C28"/>
                  </a:solidFill>
                  <a:latin typeface="Arial"/>
                </a:rPr>
                <a:t>Route-dependent targets</a:t>
              </a:r>
            </a:p>
          </p:txBody>
        </p:sp>
        <p:sp>
          <p:nvSpPr>
            <p:cNvPr id="6" name="Column heading"/>
            <p:cNvSpPr/>
            <p:nvPr/>
          </p:nvSpPr>
          <p:spPr>
            <a:xfrm>
              <a:off x="4114800" y="1920240"/>
              <a:ext cx="3200400" cy="640080"/>
            </a:xfrm>
            <a:prstGeom prst="roundRect">
              <a:avLst>
                <a:gd name="adj" fmla="val 11428"/>
              </a:avLst>
            </a:prstGeom>
            <a:solidFill>
              <a:srgbClr val="343A43"/>
            </a:solidFill>
            <a:ln>
              <a:noFill/>
            </a:ln>
          </p:spPr>
          <p:txBody>
            <a:bodyPr rtlCol="0" anchor="ctr"/>
            <a:lstStyle/>
            <a:p>
              <a:pPr algn="ctr"/>
              <a:endParaRPr/>
            </a:p>
          </p:txBody>
        </p:sp>
        <p:sp>
          <p:nvSpPr>
            <p:cNvPr id="7" name="Water drop"/>
            <p:cNvSpPr/>
            <p:nvPr/>
          </p:nvSpPr>
          <p:spPr>
            <a:xfrm rot="18900000">
              <a:off x="4389120" y="2075688"/>
              <a:ext cx="310896" cy="310896"/>
            </a:xfrm>
            <a:prstGeom prst="teardrop">
              <a:avLst/>
            </a:prstGeom>
            <a:solidFill>
              <a:srgbClr val="4DA3FF"/>
            </a:solidFill>
            <a:ln>
              <a:noFill/>
            </a:ln>
          </p:spPr>
          <p:txBody>
            <a:bodyPr rtlCol="0" anchor="ctr"/>
            <a:lstStyle/>
            <a:p>
              <a:pPr algn="ctr"/>
              <a:endParaRPr/>
            </a:p>
          </p:txBody>
        </p:sp>
        <p:sp>
          <p:nvSpPr>
            <p:cNvPr id="8" name="Column label"/>
            <p:cNvSpPr txBox="1"/>
            <p:nvPr/>
          </p:nvSpPr>
          <p:spPr>
            <a:xfrm>
              <a:off x="4937760" y="1920240"/>
              <a:ext cx="2286000" cy="64008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Water</a:t>
              </a:r>
            </a:p>
          </p:txBody>
        </p:sp>
        <p:sp>
          <p:nvSpPr>
            <p:cNvPr id="9" name="Column heading"/>
            <p:cNvSpPr/>
            <p:nvPr/>
          </p:nvSpPr>
          <p:spPr>
            <a:xfrm>
              <a:off x="7406640" y="1920240"/>
              <a:ext cx="3200400" cy="640080"/>
            </a:xfrm>
            <a:prstGeom prst="roundRect">
              <a:avLst>
                <a:gd name="adj" fmla="val 11428"/>
              </a:avLst>
            </a:prstGeom>
            <a:solidFill>
              <a:srgbClr val="343A43"/>
            </a:solidFill>
            <a:ln>
              <a:noFill/>
            </a:ln>
          </p:spPr>
          <p:txBody>
            <a:bodyPr rtlCol="0" anchor="ctr"/>
            <a:lstStyle/>
            <a:p>
              <a:pPr algn="ctr"/>
              <a:endParaRPr/>
            </a:p>
          </p:txBody>
        </p:sp>
        <p:sp>
          <p:nvSpPr>
            <p:cNvPr id="10" name="Coal heap"/>
            <p:cNvSpPr/>
            <p:nvPr/>
          </p:nvSpPr>
          <p:spPr>
            <a:xfrm>
              <a:off x="7635240" y="2075688"/>
              <a:ext cx="429768" cy="320040"/>
            </a:xfrm>
            <a:custGeom>
              <a:avLst/>
              <a:gdLst/>
              <a:ahLst/>
              <a:cxnLst/>
              <a:rect l="l" t="t" r="r" b="b"/>
              <a:pathLst>
                <a:path w="429768" h="320040">
                  <a:moveTo>
                    <a:pt x="0" y="320040"/>
                  </a:moveTo>
                  <a:lnTo>
                    <a:pt x="73152" y="118872"/>
                  </a:lnTo>
                  <a:lnTo>
                    <a:pt x="201168" y="0"/>
                  </a:lnTo>
                  <a:lnTo>
                    <a:pt x="338328" y="118872"/>
                  </a:lnTo>
                  <a:lnTo>
                    <a:pt x="429768" y="320040"/>
                  </a:lnTo>
                  <a:close/>
                </a:path>
              </a:pathLst>
            </a:custGeom>
            <a:solidFill>
              <a:srgbClr val="1B1D21"/>
            </a:solidFill>
            <a:ln w="19050">
              <a:solidFill>
                <a:srgbClr val="9AA0A6"/>
              </a:solidFill>
            </a:ln>
          </p:spPr>
          <p:txBody>
            <a:bodyPr rtlCol="0" anchor="ctr"/>
            <a:lstStyle/>
            <a:p>
              <a:pPr algn="ctr"/>
              <a:endParaRPr/>
            </a:p>
          </p:txBody>
        </p:sp>
        <p:sp>
          <p:nvSpPr>
            <p:cNvPr id="11" name="Column label"/>
            <p:cNvSpPr txBox="1"/>
            <p:nvPr/>
          </p:nvSpPr>
          <p:spPr>
            <a:xfrm>
              <a:off x="8229600" y="1920240"/>
              <a:ext cx="2286000" cy="64008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Coal</a:t>
              </a:r>
            </a:p>
          </p:txBody>
        </p:sp>
        <p:sp>
          <p:nvSpPr>
            <p:cNvPr id="12" name="Row heading"/>
            <p:cNvSpPr/>
            <p:nvPr/>
          </p:nvSpPr>
          <p:spPr>
            <a:xfrm>
              <a:off x="1737360" y="2651760"/>
              <a:ext cx="2286000" cy="685800"/>
            </a:xfrm>
            <a:prstGeom prst="roundRect">
              <a:avLst>
                <a:gd name="adj" fmla="val 10666"/>
              </a:avLst>
            </a:prstGeom>
            <a:solidFill>
              <a:srgbClr val="2B2F36"/>
            </a:solidFill>
            <a:ln>
              <a:noFill/>
            </a:ln>
          </p:spPr>
          <p:txBody>
            <a:bodyPr rtlCol="0" anchor="ctr"/>
            <a:lstStyle/>
            <a:p>
              <a:pPr algn="ctr"/>
              <a:endParaRPr/>
            </a:p>
          </p:txBody>
        </p:sp>
        <p:sp>
          <p:nvSpPr>
            <p:cNvPr id="13" name="Row label"/>
            <p:cNvSpPr txBox="1"/>
            <p:nvPr/>
          </p:nvSpPr>
          <p:spPr>
            <a:xfrm>
              <a:off x="1965960" y="2651760"/>
              <a:ext cx="2011680" cy="68580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8C28"/>
                  </a:solidFill>
                  <a:latin typeface="Arial"/>
                </a:rPr>
                <a:t>Small</a:t>
              </a:r>
            </a:p>
          </p:txBody>
        </p:sp>
        <p:sp>
          <p:nvSpPr>
            <p:cNvPr id="14" name="Cell"/>
            <p:cNvSpPr/>
            <p:nvPr/>
          </p:nvSpPr>
          <p:spPr>
            <a:xfrm>
              <a:off x="4114800" y="2651760"/>
              <a:ext cx="3200400" cy="685800"/>
            </a:xfrm>
            <a:prstGeom prst="roundRect">
              <a:avLst>
                <a:gd name="adj" fmla="val 10666"/>
              </a:avLst>
            </a:prstGeom>
            <a:solidFill>
              <a:srgbClr val="2B2F36"/>
            </a:solidFill>
            <a:ln>
              <a:noFill/>
            </a:ln>
          </p:spPr>
          <p:txBody>
            <a:bodyPr rtlCol="0" anchor="ctr"/>
            <a:lstStyle/>
            <a:p>
              <a:pPr algn="ctr"/>
              <a:endParaRPr/>
            </a:p>
          </p:txBody>
        </p:sp>
        <p:sp>
          <p:nvSpPr>
            <p:cNvPr id="15" name="Cell value"/>
            <p:cNvSpPr txBox="1"/>
            <p:nvPr/>
          </p:nvSpPr>
          <p:spPr>
            <a:xfrm>
              <a:off x="4114800" y="2651760"/>
              <a:ext cx="3200400" cy="685800"/>
            </a:xfrm>
            <a:prstGeom prst="rect">
              <a:avLst/>
            </a:prstGeom>
            <a:noFill/>
          </p:spPr>
          <p:txBody>
            <a:bodyPr wrap="square" lIns="0" tIns="0" rIns="0" bIns="0" anchor="ctr">
              <a:noAutofit/>
            </a:bodyPr>
            <a:lstStyle/>
            <a:p>
              <a:pPr algn="ctr">
                <a:spcBef>
                  <a:spcPts val="0"/>
                </a:spcBef>
                <a:spcAft>
                  <a:spcPts val="0"/>
                </a:spcAft>
              </a:pPr>
              <a:r>
                <a:rPr lang="en-GB" sz="2200" b="0" i="0">
                  <a:solidFill>
                    <a:srgbClr val="F2F2F2"/>
                  </a:solidFill>
                  <a:latin typeface="Arial"/>
                </a:rPr>
                <a:t>2–3 km</a:t>
              </a:r>
            </a:p>
          </p:txBody>
        </p:sp>
        <p:sp>
          <p:nvSpPr>
            <p:cNvPr id="16" name="Cell"/>
            <p:cNvSpPr/>
            <p:nvPr/>
          </p:nvSpPr>
          <p:spPr>
            <a:xfrm>
              <a:off x="7406640" y="2651760"/>
              <a:ext cx="3200400" cy="685800"/>
            </a:xfrm>
            <a:prstGeom prst="roundRect">
              <a:avLst>
                <a:gd name="adj" fmla="val 10666"/>
              </a:avLst>
            </a:prstGeom>
            <a:solidFill>
              <a:srgbClr val="2B2F36"/>
            </a:solidFill>
            <a:ln>
              <a:noFill/>
            </a:ln>
          </p:spPr>
          <p:txBody>
            <a:bodyPr rtlCol="0" anchor="ctr"/>
            <a:lstStyle/>
            <a:p>
              <a:pPr algn="ctr"/>
              <a:endParaRPr/>
            </a:p>
          </p:txBody>
        </p:sp>
        <p:sp>
          <p:nvSpPr>
            <p:cNvPr id="17" name="Cell value"/>
            <p:cNvSpPr txBox="1"/>
            <p:nvPr/>
          </p:nvSpPr>
          <p:spPr>
            <a:xfrm>
              <a:off x="7406640" y="2651760"/>
              <a:ext cx="3200400" cy="685800"/>
            </a:xfrm>
            <a:prstGeom prst="rect">
              <a:avLst/>
            </a:prstGeom>
            <a:noFill/>
          </p:spPr>
          <p:txBody>
            <a:bodyPr wrap="square" lIns="0" tIns="0" rIns="0" bIns="0" anchor="ctr">
              <a:noAutofit/>
            </a:bodyPr>
            <a:lstStyle/>
            <a:p>
              <a:pPr algn="ctr">
                <a:spcBef>
                  <a:spcPts val="0"/>
                </a:spcBef>
                <a:spcAft>
                  <a:spcPts val="0"/>
                </a:spcAft>
              </a:pPr>
              <a:r>
                <a:rPr lang="en-GB" sz="2200" b="0" i="0">
                  <a:solidFill>
                    <a:srgbClr val="F2F2F2"/>
                  </a:solidFill>
                  <a:latin typeface="Arial"/>
                </a:rPr>
                <a:t>4–5 km</a:t>
              </a:r>
            </a:p>
          </p:txBody>
        </p:sp>
        <p:sp>
          <p:nvSpPr>
            <p:cNvPr id="18" name="Row heading"/>
            <p:cNvSpPr/>
            <p:nvPr/>
          </p:nvSpPr>
          <p:spPr>
            <a:xfrm>
              <a:off x="1737360" y="3429000"/>
              <a:ext cx="2286000" cy="685800"/>
            </a:xfrm>
            <a:prstGeom prst="roundRect">
              <a:avLst>
                <a:gd name="adj" fmla="val 10666"/>
              </a:avLst>
            </a:prstGeom>
            <a:solidFill>
              <a:srgbClr val="2B2F36"/>
            </a:solidFill>
            <a:ln>
              <a:noFill/>
            </a:ln>
          </p:spPr>
          <p:txBody>
            <a:bodyPr rtlCol="0" anchor="ctr"/>
            <a:lstStyle/>
            <a:p>
              <a:pPr algn="ctr"/>
              <a:endParaRPr/>
            </a:p>
          </p:txBody>
        </p:sp>
        <p:sp>
          <p:nvSpPr>
            <p:cNvPr id="19" name="Row label"/>
            <p:cNvSpPr txBox="1"/>
            <p:nvPr/>
          </p:nvSpPr>
          <p:spPr>
            <a:xfrm>
              <a:off x="1965960" y="3429000"/>
              <a:ext cx="2011680" cy="68580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8C28"/>
                  </a:solidFill>
                  <a:latin typeface="Arial"/>
                </a:rPr>
                <a:t>Medium</a:t>
              </a:r>
            </a:p>
          </p:txBody>
        </p:sp>
        <p:sp>
          <p:nvSpPr>
            <p:cNvPr id="20" name="Cell"/>
            <p:cNvSpPr/>
            <p:nvPr/>
          </p:nvSpPr>
          <p:spPr>
            <a:xfrm>
              <a:off x="4114800" y="3429000"/>
              <a:ext cx="3200400" cy="685800"/>
            </a:xfrm>
            <a:prstGeom prst="roundRect">
              <a:avLst>
                <a:gd name="adj" fmla="val 10666"/>
              </a:avLst>
            </a:prstGeom>
            <a:solidFill>
              <a:srgbClr val="2B2F36"/>
            </a:solidFill>
            <a:ln>
              <a:noFill/>
            </a:ln>
          </p:spPr>
          <p:txBody>
            <a:bodyPr rtlCol="0" anchor="ctr"/>
            <a:lstStyle/>
            <a:p>
              <a:pPr algn="ctr"/>
              <a:endParaRPr/>
            </a:p>
          </p:txBody>
        </p:sp>
        <p:sp>
          <p:nvSpPr>
            <p:cNvPr id="21" name="Cell value"/>
            <p:cNvSpPr txBox="1"/>
            <p:nvPr/>
          </p:nvSpPr>
          <p:spPr>
            <a:xfrm>
              <a:off x="4114800" y="3429000"/>
              <a:ext cx="3200400" cy="685800"/>
            </a:xfrm>
            <a:prstGeom prst="rect">
              <a:avLst/>
            </a:prstGeom>
            <a:noFill/>
          </p:spPr>
          <p:txBody>
            <a:bodyPr wrap="square" lIns="0" tIns="0" rIns="0" bIns="0" anchor="ctr">
              <a:noAutofit/>
            </a:bodyPr>
            <a:lstStyle/>
            <a:p>
              <a:pPr algn="ctr">
                <a:spcBef>
                  <a:spcPts val="0"/>
                </a:spcBef>
                <a:spcAft>
                  <a:spcPts val="0"/>
                </a:spcAft>
              </a:pPr>
              <a:r>
                <a:rPr lang="en-GB" sz="2200" b="0" i="0">
                  <a:solidFill>
                    <a:srgbClr val="F2F2F2"/>
                  </a:solidFill>
                  <a:latin typeface="Arial"/>
                </a:rPr>
                <a:t>4–5 km</a:t>
              </a:r>
            </a:p>
          </p:txBody>
        </p:sp>
        <p:sp>
          <p:nvSpPr>
            <p:cNvPr id="22" name="Cell"/>
            <p:cNvSpPr/>
            <p:nvPr/>
          </p:nvSpPr>
          <p:spPr>
            <a:xfrm>
              <a:off x="7406640" y="3429000"/>
              <a:ext cx="3200400" cy="685800"/>
            </a:xfrm>
            <a:prstGeom prst="roundRect">
              <a:avLst>
                <a:gd name="adj" fmla="val 10666"/>
              </a:avLst>
            </a:prstGeom>
            <a:solidFill>
              <a:srgbClr val="2B2F36"/>
            </a:solidFill>
            <a:ln>
              <a:noFill/>
            </a:ln>
          </p:spPr>
          <p:txBody>
            <a:bodyPr rtlCol="0" anchor="ctr"/>
            <a:lstStyle/>
            <a:p>
              <a:pPr algn="ctr"/>
              <a:endParaRPr/>
            </a:p>
          </p:txBody>
        </p:sp>
        <p:sp>
          <p:nvSpPr>
            <p:cNvPr id="23" name="Cell value"/>
            <p:cNvSpPr txBox="1"/>
            <p:nvPr/>
          </p:nvSpPr>
          <p:spPr>
            <a:xfrm>
              <a:off x="7406640" y="3429000"/>
              <a:ext cx="3200400" cy="685800"/>
            </a:xfrm>
            <a:prstGeom prst="rect">
              <a:avLst/>
            </a:prstGeom>
            <a:noFill/>
          </p:spPr>
          <p:txBody>
            <a:bodyPr wrap="square" lIns="0" tIns="0" rIns="0" bIns="0" anchor="ctr">
              <a:noAutofit/>
            </a:bodyPr>
            <a:lstStyle/>
            <a:p>
              <a:pPr algn="ctr">
                <a:spcBef>
                  <a:spcPts val="0"/>
                </a:spcBef>
                <a:spcAft>
                  <a:spcPts val="0"/>
                </a:spcAft>
              </a:pPr>
              <a:r>
                <a:rPr lang="en-GB" sz="2200" b="0" i="0">
                  <a:solidFill>
                    <a:srgbClr val="F2F2F2"/>
                  </a:solidFill>
                  <a:latin typeface="Arial"/>
                </a:rPr>
                <a:t>about 7 km</a:t>
              </a:r>
            </a:p>
          </p:txBody>
        </p:sp>
        <p:sp>
          <p:nvSpPr>
            <p:cNvPr id="24" name="Row heading"/>
            <p:cNvSpPr/>
            <p:nvPr/>
          </p:nvSpPr>
          <p:spPr>
            <a:xfrm>
              <a:off x="1737360" y="4206240"/>
              <a:ext cx="2286000" cy="685800"/>
            </a:xfrm>
            <a:prstGeom prst="roundRect">
              <a:avLst>
                <a:gd name="adj" fmla="val 10666"/>
              </a:avLst>
            </a:prstGeom>
            <a:solidFill>
              <a:srgbClr val="2B2F36"/>
            </a:solidFill>
            <a:ln>
              <a:noFill/>
            </a:ln>
          </p:spPr>
          <p:txBody>
            <a:bodyPr rtlCol="0" anchor="ctr"/>
            <a:lstStyle/>
            <a:p>
              <a:pPr algn="ctr"/>
              <a:endParaRPr/>
            </a:p>
          </p:txBody>
        </p:sp>
        <p:sp>
          <p:nvSpPr>
            <p:cNvPr id="25" name="Row label"/>
            <p:cNvSpPr txBox="1"/>
            <p:nvPr/>
          </p:nvSpPr>
          <p:spPr>
            <a:xfrm>
              <a:off x="1965960" y="4206240"/>
              <a:ext cx="2011680" cy="68580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8C28"/>
                  </a:solidFill>
                  <a:latin typeface="Arial"/>
                </a:rPr>
                <a:t>Large</a:t>
              </a:r>
            </a:p>
          </p:txBody>
        </p:sp>
        <p:sp>
          <p:nvSpPr>
            <p:cNvPr id="26" name="Cell"/>
            <p:cNvSpPr/>
            <p:nvPr/>
          </p:nvSpPr>
          <p:spPr>
            <a:xfrm>
              <a:off x="4114800" y="4206240"/>
              <a:ext cx="3200400" cy="685800"/>
            </a:xfrm>
            <a:prstGeom prst="roundRect">
              <a:avLst>
                <a:gd name="adj" fmla="val 10666"/>
              </a:avLst>
            </a:prstGeom>
            <a:solidFill>
              <a:srgbClr val="2B2F36"/>
            </a:solidFill>
            <a:ln>
              <a:noFill/>
            </a:ln>
          </p:spPr>
          <p:txBody>
            <a:bodyPr rtlCol="0" anchor="ctr"/>
            <a:lstStyle/>
            <a:p>
              <a:pPr algn="ctr"/>
              <a:endParaRPr/>
            </a:p>
          </p:txBody>
        </p:sp>
        <p:sp>
          <p:nvSpPr>
            <p:cNvPr id="27" name="Cell value"/>
            <p:cNvSpPr txBox="1"/>
            <p:nvPr/>
          </p:nvSpPr>
          <p:spPr>
            <a:xfrm>
              <a:off x="4114800" y="4206240"/>
              <a:ext cx="3200400" cy="685800"/>
            </a:xfrm>
            <a:prstGeom prst="rect">
              <a:avLst/>
            </a:prstGeom>
            <a:noFill/>
          </p:spPr>
          <p:txBody>
            <a:bodyPr wrap="square" lIns="0" tIns="0" rIns="0" bIns="0" anchor="ctr">
              <a:noAutofit/>
            </a:bodyPr>
            <a:lstStyle/>
            <a:p>
              <a:pPr algn="ctr">
                <a:spcBef>
                  <a:spcPts val="0"/>
                </a:spcBef>
                <a:spcAft>
                  <a:spcPts val="0"/>
                </a:spcAft>
              </a:pPr>
              <a:r>
                <a:rPr lang="en-GB" sz="2200" b="0" i="0">
                  <a:solidFill>
                    <a:srgbClr val="F2F2F2"/>
                  </a:solidFill>
                  <a:latin typeface="Arial"/>
                </a:rPr>
                <a:t>6–7 km</a:t>
              </a:r>
            </a:p>
          </p:txBody>
        </p:sp>
        <p:sp>
          <p:nvSpPr>
            <p:cNvPr id="28" name="Cell"/>
            <p:cNvSpPr/>
            <p:nvPr/>
          </p:nvSpPr>
          <p:spPr>
            <a:xfrm>
              <a:off x="7406640" y="4206240"/>
              <a:ext cx="3200400" cy="685800"/>
            </a:xfrm>
            <a:prstGeom prst="roundRect">
              <a:avLst>
                <a:gd name="adj" fmla="val 10666"/>
              </a:avLst>
            </a:prstGeom>
            <a:solidFill>
              <a:srgbClr val="2B2F36"/>
            </a:solidFill>
            <a:ln>
              <a:noFill/>
            </a:ln>
          </p:spPr>
          <p:txBody>
            <a:bodyPr rtlCol="0" anchor="ctr"/>
            <a:lstStyle/>
            <a:p>
              <a:pPr algn="ctr"/>
              <a:endParaRPr/>
            </a:p>
          </p:txBody>
        </p:sp>
        <p:sp>
          <p:nvSpPr>
            <p:cNvPr id="29" name="Cell value"/>
            <p:cNvSpPr txBox="1"/>
            <p:nvPr/>
          </p:nvSpPr>
          <p:spPr>
            <a:xfrm>
              <a:off x="7406640" y="4206240"/>
              <a:ext cx="3200400" cy="685800"/>
            </a:xfrm>
            <a:prstGeom prst="rect">
              <a:avLst/>
            </a:prstGeom>
            <a:noFill/>
          </p:spPr>
          <p:txBody>
            <a:bodyPr wrap="square" lIns="0" tIns="0" rIns="0" bIns="0" anchor="ctr">
              <a:noAutofit/>
            </a:bodyPr>
            <a:lstStyle/>
            <a:p>
              <a:pPr algn="ctr">
                <a:spcBef>
                  <a:spcPts val="0"/>
                </a:spcBef>
                <a:spcAft>
                  <a:spcPts val="0"/>
                </a:spcAft>
              </a:pPr>
              <a:r>
                <a:rPr lang="en-GB" sz="2200" b="0" i="0">
                  <a:solidFill>
                    <a:srgbClr val="F2F2F2"/>
                  </a:solidFill>
                  <a:latin typeface="Arial"/>
                </a:rPr>
                <a:t>about 10 km</a:t>
              </a:r>
            </a:p>
          </p:txBody>
        </p:sp>
        <p:sp>
          <p:nvSpPr>
            <p:cNvPr id="30" name="TextBox 29"/>
            <p:cNvSpPr txBox="1"/>
            <p:nvPr/>
          </p:nvSpPr>
          <p:spPr>
            <a:xfrm>
              <a:off x="1737360" y="5074920"/>
              <a:ext cx="8686800" cy="411480"/>
            </a:xfrm>
            <a:prstGeom prst="rect">
              <a:avLst/>
            </a:prstGeom>
            <a:noFill/>
          </p:spPr>
          <p:txBody>
            <a:bodyPr wrap="square" lIns="0" tIns="0" rIns="0" bIns="0" anchor="ctr">
              <a:noAutofit/>
            </a:bodyPr>
            <a:lstStyle/>
            <a:p>
              <a:pPr algn="l">
                <a:spcBef>
                  <a:spcPts val="0"/>
                </a:spcBef>
                <a:spcAft>
                  <a:spcPts val="0"/>
                </a:spcAft>
              </a:pPr>
              <a:r>
                <a:rPr lang="en-GB" sz="1800" b="0" i="0">
                  <a:solidFill>
                    <a:srgbClr val="A9B0B8"/>
                  </a:solidFill>
                  <a:latin typeface="Arial"/>
                </a:rPr>
                <a:t>Not guaranteed distances or tank sizes.</a:t>
              </a:r>
            </a:p>
          </p:txBody>
        </p:sp>
      </p:grpSp>
      <p:grpSp>
        <p:nvGrpSpPr>
          <p:cNvPr id="31" name="Caption" descr="Caption: Test targets for range per tank. They depend on the route and may change."/>
          <p:cNvGrpSpPr/>
          <p:nvPr/>
        </p:nvGrpSpPr>
        <p:grpSpPr>
          <a:xfrm>
            <a:off x="548640" y="5669280"/>
            <a:ext cx="11091672" cy="822960"/>
            <a:chOff x="548640" y="5669280"/>
            <a:chExt cx="11091672" cy="822960"/>
          </a:xfrm>
        </p:grpSpPr>
        <p:sp>
          <p:nvSpPr>
            <p:cNvPr id="32"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33"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34"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Test targets for range per tank. They depend on the route and may change.</a:t>
              </a:r>
            </a:p>
          </p:txBody>
        </p:sp>
      </p:grpSp>
      <p:sp>
        <p:nvSpPr>
          <p:cNvPr id="35"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14</a:t>
            </a:r>
          </a:p>
        </p:txBody>
      </p:sp>
    </p:spTree>
    <p:extLst>
      <p:ext uri="{BB962C8B-B14F-4D97-AF65-F5344CB8AC3E}">
        <p14:creationId xmlns:p14="http://schemas.microsoft.com/office/powerpoint/2010/main" val="15054080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Behind the scenes</a:t>
            </a:r>
          </a:p>
        </p:txBody>
      </p:sp>
      <p:sp>
        <p:nvSpPr>
          <p:cNvPr id="3" name="Status chip" descr="Status tag: Proposed"/>
          <p:cNvSpPr/>
          <p:nvPr/>
        </p:nvSpPr>
        <p:spPr>
          <a:xfrm>
            <a:off x="10180015" y="457200"/>
            <a:ext cx="1463040" cy="365760"/>
          </a:xfrm>
          <a:prstGeom prst="roundRect">
            <a:avLst>
              <a:gd name="adj" fmla="val 30000"/>
            </a:avLst>
          </a:prstGeom>
          <a:solidFill>
            <a:srgbClr val="B084F5"/>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PROPOSED</a:t>
            </a:r>
          </a:p>
        </p:txBody>
      </p:sp>
      <p:grpSp>
        <p:nvGrpSpPr>
          <p:cNvPr id="4" name="Layer: Shared base" descr="Layer 1 of 3: Shared base: fuel, water, traction, steam, signals"/>
          <p:cNvGrpSpPr/>
          <p:nvPr/>
        </p:nvGrpSpPr>
        <p:grpSpPr>
          <a:xfrm>
            <a:off x="548640" y="1371600"/>
            <a:ext cx="11091672" cy="1261872"/>
            <a:chOff x="548640" y="1371600"/>
            <a:chExt cx="11091672" cy="1261872"/>
          </a:xfrm>
        </p:grpSpPr>
        <p:sp>
          <p:nvSpPr>
            <p:cNvPr id="5" name="Layer slab"/>
            <p:cNvSpPr/>
            <p:nvPr/>
          </p:nvSpPr>
          <p:spPr>
            <a:xfrm>
              <a:off x="548640" y="1371600"/>
              <a:ext cx="11091672" cy="1005840"/>
            </a:xfrm>
            <a:prstGeom prst="roundRect">
              <a:avLst>
                <a:gd name="adj" fmla="val 7272"/>
              </a:avLst>
            </a:prstGeom>
            <a:solidFill>
              <a:srgbClr val="2B2F36"/>
            </a:solidFill>
            <a:ln w="25400">
              <a:solidFill>
                <a:srgbClr val="F28C28"/>
              </a:solidFill>
            </a:ln>
          </p:spPr>
          <p:txBody>
            <a:bodyPr rtlCol="0" anchor="ctr"/>
            <a:lstStyle/>
            <a:p>
              <a:pPr algn="ctr"/>
              <a:endParaRPr/>
            </a:p>
          </p:txBody>
        </p:sp>
        <p:sp>
          <p:nvSpPr>
            <p:cNvPr id="6" name="Gear"/>
            <p:cNvSpPr/>
            <p:nvPr/>
          </p:nvSpPr>
          <p:spPr>
            <a:xfrm>
              <a:off x="914400" y="1554480"/>
              <a:ext cx="640080" cy="640080"/>
            </a:xfrm>
            <a:prstGeom prst="gear6">
              <a:avLst/>
            </a:prstGeom>
            <a:solidFill>
              <a:srgbClr val="F28C28"/>
            </a:solidFill>
            <a:ln>
              <a:noFill/>
            </a:ln>
          </p:spPr>
          <p:txBody>
            <a:bodyPr rtlCol="0" anchor="ctr"/>
            <a:lstStyle/>
            <a:p>
              <a:pPr algn="ctr"/>
              <a:endParaRPr/>
            </a:p>
          </p:txBody>
        </p:sp>
        <p:sp>
          <p:nvSpPr>
            <p:cNvPr id="7" name="Layer label"/>
            <p:cNvSpPr txBox="1"/>
            <p:nvPr/>
          </p:nvSpPr>
          <p:spPr>
            <a:xfrm>
              <a:off x="2331720" y="1371600"/>
              <a:ext cx="9052560" cy="100584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Shared base:</a:t>
              </a:r>
              <a:r>
                <a:rPr lang="en-GB" sz="2000" b="0" i="0">
                  <a:solidFill>
                    <a:srgbClr val="F2F2F2"/>
                  </a:solidFill>
                  <a:latin typeface="Arial"/>
                </a:rPr>
                <a:t> fuel, water, traction, steam, signals</a:t>
              </a:r>
            </a:p>
          </p:txBody>
        </p:sp>
        <p:sp>
          <p:nvSpPr>
            <p:cNvPr id="8" name="Down arrow"/>
            <p:cNvSpPr/>
            <p:nvPr/>
          </p:nvSpPr>
          <p:spPr>
            <a:xfrm>
              <a:off x="5943600" y="2395728"/>
              <a:ext cx="274320" cy="237744"/>
            </a:xfrm>
            <a:prstGeom prst="downArrow">
              <a:avLst/>
            </a:prstGeom>
            <a:solidFill>
              <a:srgbClr val="A9B0B8"/>
            </a:solidFill>
            <a:ln>
              <a:noFill/>
            </a:ln>
          </p:spPr>
          <p:txBody>
            <a:bodyPr rtlCol="0" anchor="ctr"/>
            <a:lstStyle/>
            <a:p>
              <a:pPr algn="ctr"/>
              <a:endParaRPr/>
            </a:p>
          </p:txBody>
        </p:sp>
      </p:grpSp>
      <p:grpSp>
        <p:nvGrpSpPr>
          <p:cNvPr id="9" name="Layer: Data card" descr="Layer 2 of 3: Data card: numbers for this engine"/>
          <p:cNvGrpSpPr/>
          <p:nvPr/>
        </p:nvGrpSpPr>
        <p:grpSpPr>
          <a:xfrm>
            <a:off x="548640" y="2651760"/>
            <a:ext cx="11091672" cy="1261872"/>
            <a:chOff x="548640" y="2651760"/>
            <a:chExt cx="11091672" cy="1261872"/>
          </a:xfrm>
        </p:grpSpPr>
        <p:sp>
          <p:nvSpPr>
            <p:cNvPr id="10" name="Layer slab"/>
            <p:cNvSpPr/>
            <p:nvPr/>
          </p:nvSpPr>
          <p:spPr>
            <a:xfrm>
              <a:off x="548640" y="2651760"/>
              <a:ext cx="11091672" cy="1005840"/>
            </a:xfrm>
            <a:prstGeom prst="roundRect">
              <a:avLst>
                <a:gd name="adj" fmla="val 7272"/>
              </a:avLst>
            </a:prstGeom>
            <a:solidFill>
              <a:srgbClr val="2B2F36"/>
            </a:solidFill>
            <a:ln w="25400">
              <a:solidFill>
                <a:srgbClr val="F2C14E"/>
              </a:solidFill>
            </a:ln>
          </p:spPr>
          <p:txBody>
            <a:bodyPr rtlCol="0" anchor="ctr"/>
            <a:lstStyle/>
            <a:p>
              <a:pPr algn="ctr"/>
              <a:endParaRPr/>
            </a:p>
          </p:txBody>
        </p:sp>
        <p:sp>
          <p:nvSpPr>
            <p:cNvPr id="11" name="Card"/>
            <p:cNvSpPr/>
            <p:nvPr/>
          </p:nvSpPr>
          <p:spPr>
            <a:xfrm>
              <a:off x="914400" y="2880360"/>
              <a:ext cx="777240" cy="548640"/>
            </a:xfrm>
            <a:prstGeom prst="roundRect">
              <a:avLst>
                <a:gd name="adj" fmla="val 10000"/>
              </a:avLst>
            </a:prstGeom>
            <a:noFill/>
            <a:ln w="31750">
              <a:solidFill>
                <a:srgbClr val="F2C14E"/>
              </a:solidFill>
            </a:ln>
          </p:spPr>
          <p:txBody>
            <a:bodyPr rtlCol="0" anchor="ctr"/>
            <a:lstStyle/>
            <a:p>
              <a:pPr algn="ctr"/>
              <a:endParaRPr/>
            </a:p>
          </p:txBody>
        </p:sp>
        <p:cxnSp>
          <p:nvCxnSpPr>
            <p:cNvPr id="12" name="Connector 11"/>
            <p:cNvCxnSpPr/>
            <p:nvPr/>
          </p:nvCxnSpPr>
          <p:spPr>
            <a:xfrm>
              <a:off x="1051560" y="3017520"/>
              <a:ext cx="502920" cy="0"/>
            </a:xfrm>
            <a:prstGeom prst="line">
              <a:avLst/>
            </a:prstGeom>
            <a:ln w="25400">
              <a:solidFill>
                <a:srgbClr val="F2C14E"/>
              </a:solidFill>
            </a:ln>
          </p:spPr>
        </p:cxnSp>
        <p:cxnSp>
          <p:nvCxnSpPr>
            <p:cNvPr id="13" name="Connector 12"/>
            <p:cNvCxnSpPr/>
            <p:nvPr/>
          </p:nvCxnSpPr>
          <p:spPr>
            <a:xfrm>
              <a:off x="1051560" y="3145536"/>
              <a:ext cx="502920" cy="0"/>
            </a:xfrm>
            <a:prstGeom prst="line">
              <a:avLst/>
            </a:prstGeom>
            <a:ln w="25400">
              <a:solidFill>
                <a:srgbClr val="F2C14E"/>
              </a:solidFill>
            </a:ln>
          </p:spPr>
        </p:cxnSp>
        <p:cxnSp>
          <p:nvCxnSpPr>
            <p:cNvPr id="14" name="Connector 13"/>
            <p:cNvCxnSpPr/>
            <p:nvPr/>
          </p:nvCxnSpPr>
          <p:spPr>
            <a:xfrm>
              <a:off x="1051560" y="3273552"/>
              <a:ext cx="502920" cy="0"/>
            </a:xfrm>
            <a:prstGeom prst="line">
              <a:avLst/>
            </a:prstGeom>
            <a:ln w="25400">
              <a:solidFill>
                <a:srgbClr val="F2C14E"/>
              </a:solidFill>
            </a:ln>
          </p:spPr>
        </p:cxnSp>
        <p:sp>
          <p:nvSpPr>
            <p:cNvPr id="15" name="Layer label"/>
            <p:cNvSpPr txBox="1"/>
            <p:nvPr/>
          </p:nvSpPr>
          <p:spPr>
            <a:xfrm>
              <a:off x="2331720" y="2651760"/>
              <a:ext cx="9052560" cy="100584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Data card:</a:t>
              </a:r>
              <a:r>
                <a:rPr lang="en-GB" sz="2000" b="0" i="0">
                  <a:solidFill>
                    <a:srgbClr val="F2F2F2"/>
                  </a:solidFill>
                  <a:latin typeface="Arial"/>
                </a:rPr>
                <a:t> numbers for this engine</a:t>
              </a:r>
            </a:p>
          </p:txBody>
        </p:sp>
        <p:sp>
          <p:nvSpPr>
            <p:cNvPr id="16" name="Down arrow"/>
            <p:cNvSpPr/>
            <p:nvPr/>
          </p:nvSpPr>
          <p:spPr>
            <a:xfrm>
              <a:off x="5943600" y="3675888"/>
              <a:ext cx="274320" cy="237744"/>
            </a:xfrm>
            <a:prstGeom prst="downArrow">
              <a:avLst/>
            </a:prstGeom>
            <a:solidFill>
              <a:srgbClr val="A9B0B8"/>
            </a:solidFill>
            <a:ln>
              <a:noFill/>
            </a:ln>
          </p:spPr>
          <p:txBody>
            <a:bodyPr rtlCol="0" anchor="ctr"/>
            <a:lstStyle/>
            <a:p>
              <a:pPr algn="ctr"/>
              <a:endParaRPr/>
            </a:p>
          </p:txBody>
        </p:sp>
      </p:grpSp>
      <p:grpSp>
        <p:nvGrpSpPr>
          <p:cNvPr id="17" name="Layer: Model" descr="Layer 3 of 3: Model: look, wheels, sound"/>
          <p:cNvGrpSpPr/>
          <p:nvPr/>
        </p:nvGrpSpPr>
        <p:grpSpPr>
          <a:xfrm>
            <a:off x="548640" y="3931920"/>
            <a:ext cx="11091672" cy="1005840"/>
            <a:chOff x="548640" y="3931920"/>
            <a:chExt cx="11091672" cy="1005840"/>
          </a:xfrm>
        </p:grpSpPr>
        <p:sp>
          <p:nvSpPr>
            <p:cNvPr id="18" name="Layer slab"/>
            <p:cNvSpPr/>
            <p:nvPr/>
          </p:nvSpPr>
          <p:spPr>
            <a:xfrm>
              <a:off x="548640" y="3931920"/>
              <a:ext cx="11091672" cy="1005840"/>
            </a:xfrm>
            <a:prstGeom prst="roundRect">
              <a:avLst>
                <a:gd name="adj" fmla="val 7272"/>
              </a:avLst>
            </a:prstGeom>
            <a:solidFill>
              <a:srgbClr val="2B2F36"/>
            </a:solidFill>
            <a:ln w="25400">
              <a:solidFill>
                <a:srgbClr val="9AA0A6"/>
              </a:solidFill>
            </a:ln>
          </p:spPr>
          <p:txBody>
            <a:bodyPr rtlCol="0" anchor="ctr"/>
            <a:lstStyle/>
            <a:p>
              <a:pPr algn="ctr"/>
              <a:endParaRPr/>
            </a:p>
          </p:txBody>
        </p:sp>
        <p:sp>
          <p:nvSpPr>
            <p:cNvPr id="19" name="Footplate"/>
            <p:cNvSpPr/>
            <p:nvPr/>
          </p:nvSpPr>
          <p:spPr>
            <a:xfrm>
              <a:off x="868680" y="4526829"/>
              <a:ext cx="998525" cy="38405"/>
            </a:xfrm>
            <a:prstGeom prst="rect">
              <a:avLst/>
            </a:prstGeom>
            <a:solidFill>
              <a:srgbClr val="1B1D21"/>
            </a:solidFill>
            <a:ln>
              <a:noFill/>
            </a:ln>
          </p:spPr>
          <p:txBody>
            <a:bodyPr rtlCol="0" anchor="ctr"/>
            <a:lstStyle/>
            <a:p>
              <a:pPr algn="ctr"/>
              <a:endParaRPr/>
            </a:p>
          </p:txBody>
        </p:sp>
        <p:sp>
          <p:nvSpPr>
            <p:cNvPr id="20" name="Boiler"/>
            <p:cNvSpPr/>
            <p:nvPr/>
          </p:nvSpPr>
          <p:spPr>
            <a:xfrm>
              <a:off x="1214323" y="4315602"/>
              <a:ext cx="614477" cy="222748"/>
            </a:xfrm>
            <a:prstGeom prst="roundRect">
              <a:avLst>
                <a:gd name="adj" fmla="val 25862"/>
              </a:avLst>
            </a:prstGeom>
            <a:solidFill>
              <a:srgbClr val="F28C28"/>
            </a:solidFill>
            <a:ln>
              <a:noFill/>
            </a:ln>
          </p:spPr>
          <p:txBody>
            <a:bodyPr rtlCol="0" anchor="ctr"/>
            <a:lstStyle/>
            <a:p>
              <a:pPr algn="ctr"/>
              <a:endParaRPr/>
            </a:p>
          </p:txBody>
        </p:sp>
        <p:sp>
          <p:nvSpPr>
            <p:cNvPr id="21" name="Smokebox"/>
            <p:cNvSpPr/>
            <p:nvPr/>
          </p:nvSpPr>
          <p:spPr>
            <a:xfrm>
              <a:off x="1782714" y="4315602"/>
              <a:ext cx="53767" cy="222748"/>
            </a:xfrm>
            <a:prstGeom prst="rect">
              <a:avLst/>
            </a:prstGeom>
            <a:solidFill>
              <a:srgbClr val="1B1D21"/>
            </a:solidFill>
            <a:ln>
              <a:noFill/>
            </a:ln>
          </p:spPr>
          <p:txBody>
            <a:bodyPr rtlCol="0" anchor="ctr"/>
            <a:lstStyle/>
            <a:p>
              <a:pPr algn="ctr"/>
              <a:endParaRPr/>
            </a:p>
          </p:txBody>
        </p:sp>
        <p:sp>
          <p:nvSpPr>
            <p:cNvPr id="22" name="Chimney"/>
            <p:cNvSpPr/>
            <p:nvPr/>
          </p:nvSpPr>
          <p:spPr>
            <a:xfrm>
              <a:off x="1713586" y="4215750"/>
              <a:ext cx="49926" cy="107533"/>
            </a:xfrm>
            <a:prstGeom prst="rect">
              <a:avLst/>
            </a:prstGeom>
            <a:solidFill>
              <a:srgbClr val="1B1D21"/>
            </a:solidFill>
            <a:ln>
              <a:noFill/>
            </a:ln>
          </p:spPr>
          <p:txBody>
            <a:bodyPr rtlCol="0" anchor="ctr"/>
            <a:lstStyle/>
            <a:p>
              <a:pPr algn="ctr"/>
              <a:endParaRPr/>
            </a:p>
          </p:txBody>
        </p:sp>
        <p:sp>
          <p:nvSpPr>
            <p:cNvPr id="23" name="Chimney top"/>
            <p:cNvSpPr/>
            <p:nvPr/>
          </p:nvSpPr>
          <p:spPr>
            <a:xfrm>
              <a:off x="1694383" y="4200388"/>
              <a:ext cx="88331" cy="23043"/>
            </a:xfrm>
            <a:prstGeom prst="rect">
              <a:avLst/>
            </a:prstGeom>
            <a:solidFill>
              <a:srgbClr val="1B1D21"/>
            </a:solidFill>
            <a:ln>
              <a:noFill/>
            </a:ln>
          </p:spPr>
          <p:txBody>
            <a:bodyPr rtlCol="0" anchor="ctr"/>
            <a:lstStyle/>
            <a:p>
              <a:pPr algn="ctr"/>
              <a:endParaRPr/>
            </a:p>
          </p:txBody>
        </p:sp>
        <p:sp>
          <p:nvSpPr>
            <p:cNvPr id="24" name="Dome"/>
            <p:cNvSpPr/>
            <p:nvPr/>
          </p:nvSpPr>
          <p:spPr>
            <a:xfrm>
              <a:off x="1444752" y="4261836"/>
              <a:ext cx="130576" cy="115214"/>
            </a:xfrm>
            <a:prstGeom prst="chord">
              <a:avLst/>
            </a:prstGeom>
            <a:solidFill>
              <a:srgbClr val="C46E14"/>
            </a:solidFill>
            <a:ln>
              <a:noFill/>
            </a:ln>
          </p:spPr>
          <p:txBody>
            <a:bodyPr rtlCol="0" anchor="ctr"/>
            <a:lstStyle/>
            <a:p>
              <a:pPr algn="ctr"/>
              <a:endParaRPr/>
            </a:p>
          </p:txBody>
        </p:sp>
        <p:sp>
          <p:nvSpPr>
            <p:cNvPr id="25" name="Cab"/>
            <p:cNvSpPr/>
            <p:nvPr/>
          </p:nvSpPr>
          <p:spPr>
            <a:xfrm>
              <a:off x="899404" y="4238793"/>
              <a:ext cx="345643" cy="299557"/>
            </a:xfrm>
            <a:prstGeom prst="rect">
              <a:avLst/>
            </a:prstGeom>
            <a:solidFill>
              <a:srgbClr val="C46E14"/>
            </a:solidFill>
            <a:ln>
              <a:noFill/>
            </a:ln>
          </p:spPr>
          <p:txBody>
            <a:bodyPr rtlCol="0" anchor="ctr"/>
            <a:lstStyle/>
            <a:p>
              <a:pPr algn="ctr"/>
              <a:endParaRPr/>
            </a:p>
          </p:txBody>
        </p:sp>
        <p:sp>
          <p:nvSpPr>
            <p:cNvPr id="26" name="Cab roof"/>
            <p:cNvSpPr/>
            <p:nvPr/>
          </p:nvSpPr>
          <p:spPr>
            <a:xfrm>
              <a:off x="876361" y="4208069"/>
              <a:ext cx="391729" cy="34564"/>
            </a:xfrm>
            <a:prstGeom prst="rect">
              <a:avLst/>
            </a:prstGeom>
            <a:solidFill>
              <a:srgbClr val="1B1D21"/>
            </a:solidFill>
            <a:ln>
              <a:noFill/>
            </a:ln>
          </p:spPr>
          <p:txBody>
            <a:bodyPr rtlCol="0" anchor="ctr"/>
            <a:lstStyle/>
            <a:p>
              <a:pPr algn="ctr"/>
              <a:endParaRPr/>
            </a:p>
          </p:txBody>
        </p:sp>
        <p:sp>
          <p:nvSpPr>
            <p:cNvPr id="27" name="Cab window"/>
            <p:cNvSpPr/>
            <p:nvPr/>
          </p:nvSpPr>
          <p:spPr>
            <a:xfrm>
              <a:off x="983894" y="4292559"/>
              <a:ext cx="153619" cy="107533"/>
            </a:xfrm>
            <a:prstGeom prst="rect">
              <a:avLst/>
            </a:prstGeom>
            <a:solidFill>
              <a:srgbClr val="1B1D21"/>
            </a:solidFill>
            <a:ln>
              <a:noFill/>
            </a:ln>
          </p:spPr>
          <p:txBody>
            <a:bodyPr rtlCol="0" anchor="ctr"/>
            <a:lstStyle/>
            <a:p>
              <a:pPr algn="ctr"/>
              <a:endParaRPr/>
            </a:p>
          </p:txBody>
        </p:sp>
        <p:sp>
          <p:nvSpPr>
            <p:cNvPr id="28" name="Wheel"/>
            <p:cNvSpPr/>
            <p:nvPr/>
          </p:nvSpPr>
          <p:spPr>
            <a:xfrm>
              <a:off x="995416" y="4534510"/>
              <a:ext cx="168981" cy="168981"/>
            </a:xfrm>
            <a:prstGeom prst="ellipse">
              <a:avLst/>
            </a:prstGeom>
            <a:solidFill>
              <a:srgbClr val="1B1D21"/>
            </a:solidFill>
            <a:ln w="19050">
              <a:solidFill>
                <a:srgbClr val="9AA0A6"/>
              </a:solidFill>
            </a:ln>
          </p:spPr>
          <p:txBody>
            <a:bodyPr rtlCol="0" anchor="ctr"/>
            <a:lstStyle/>
            <a:p>
              <a:pPr algn="ctr"/>
              <a:endParaRPr/>
            </a:p>
          </p:txBody>
        </p:sp>
        <p:sp>
          <p:nvSpPr>
            <p:cNvPr id="29" name="Hub"/>
            <p:cNvSpPr/>
            <p:nvPr/>
          </p:nvSpPr>
          <p:spPr>
            <a:xfrm>
              <a:off x="1056249" y="4595343"/>
              <a:ext cx="47315" cy="47315"/>
            </a:xfrm>
            <a:prstGeom prst="ellipse">
              <a:avLst/>
            </a:prstGeom>
            <a:solidFill>
              <a:srgbClr val="9AA0A6"/>
            </a:solidFill>
            <a:ln>
              <a:noFill/>
            </a:ln>
          </p:spPr>
          <p:txBody>
            <a:bodyPr rtlCol="0" anchor="ctr"/>
            <a:lstStyle/>
            <a:p>
              <a:pPr algn="ctr"/>
              <a:endParaRPr/>
            </a:p>
          </p:txBody>
        </p:sp>
        <p:sp>
          <p:nvSpPr>
            <p:cNvPr id="30" name="Wheel"/>
            <p:cNvSpPr/>
            <p:nvPr/>
          </p:nvSpPr>
          <p:spPr>
            <a:xfrm>
              <a:off x="1302654" y="4534510"/>
              <a:ext cx="168981" cy="168981"/>
            </a:xfrm>
            <a:prstGeom prst="ellipse">
              <a:avLst/>
            </a:prstGeom>
            <a:solidFill>
              <a:srgbClr val="1B1D21"/>
            </a:solidFill>
            <a:ln w="19050">
              <a:solidFill>
                <a:srgbClr val="9AA0A6"/>
              </a:solidFill>
            </a:ln>
          </p:spPr>
          <p:txBody>
            <a:bodyPr rtlCol="0" anchor="ctr"/>
            <a:lstStyle/>
            <a:p>
              <a:pPr algn="ctr"/>
              <a:endParaRPr/>
            </a:p>
          </p:txBody>
        </p:sp>
        <p:sp>
          <p:nvSpPr>
            <p:cNvPr id="31" name="Hub"/>
            <p:cNvSpPr/>
            <p:nvPr/>
          </p:nvSpPr>
          <p:spPr>
            <a:xfrm>
              <a:off x="1363487" y="4595343"/>
              <a:ext cx="47315" cy="47315"/>
            </a:xfrm>
            <a:prstGeom prst="ellipse">
              <a:avLst/>
            </a:prstGeom>
            <a:solidFill>
              <a:srgbClr val="9AA0A6"/>
            </a:solidFill>
            <a:ln>
              <a:noFill/>
            </a:ln>
          </p:spPr>
          <p:txBody>
            <a:bodyPr rtlCol="0" anchor="ctr"/>
            <a:lstStyle/>
            <a:p>
              <a:pPr algn="ctr"/>
              <a:endParaRPr/>
            </a:p>
          </p:txBody>
        </p:sp>
        <p:sp>
          <p:nvSpPr>
            <p:cNvPr id="32" name="Wheel"/>
            <p:cNvSpPr/>
            <p:nvPr/>
          </p:nvSpPr>
          <p:spPr>
            <a:xfrm>
              <a:off x="1609893" y="4534510"/>
              <a:ext cx="168981" cy="168981"/>
            </a:xfrm>
            <a:prstGeom prst="ellipse">
              <a:avLst/>
            </a:prstGeom>
            <a:solidFill>
              <a:srgbClr val="1B1D21"/>
            </a:solidFill>
            <a:ln w="19050">
              <a:solidFill>
                <a:srgbClr val="9AA0A6"/>
              </a:solidFill>
            </a:ln>
          </p:spPr>
          <p:txBody>
            <a:bodyPr rtlCol="0" anchor="ctr"/>
            <a:lstStyle/>
            <a:p>
              <a:pPr algn="ctr"/>
              <a:endParaRPr/>
            </a:p>
          </p:txBody>
        </p:sp>
        <p:sp>
          <p:nvSpPr>
            <p:cNvPr id="33" name="Hub"/>
            <p:cNvSpPr/>
            <p:nvPr/>
          </p:nvSpPr>
          <p:spPr>
            <a:xfrm>
              <a:off x="1670726" y="4595343"/>
              <a:ext cx="47315" cy="47315"/>
            </a:xfrm>
            <a:prstGeom prst="ellipse">
              <a:avLst/>
            </a:prstGeom>
            <a:solidFill>
              <a:srgbClr val="9AA0A6"/>
            </a:solidFill>
            <a:ln>
              <a:noFill/>
            </a:ln>
          </p:spPr>
          <p:txBody>
            <a:bodyPr rtlCol="0" anchor="ctr"/>
            <a:lstStyle/>
            <a:p>
              <a:pPr algn="ctr"/>
              <a:endParaRPr/>
            </a:p>
          </p:txBody>
        </p:sp>
        <p:cxnSp>
          <p:nvCxnSpPr>
            <p:cNvPr id="34" name="Coupling rod"/>
            <p:cNvCxnSpPr/>
            <p:nvPr/>
          </p:nvCxnSpPr>
          <p:spPr>
            <a:xfrm>
              <a:off x="1079906" y="4619000"/>
              <a:ext cx="614477" cy="0"/>
            </a:xfrm>
            <a:prstGeom prst="line">
              <a:avLst/>
            </a:prstGeom>
            <a:ln w="25400">
              <a:solidFill>
                <a:srgbClr val="9AA0A6"/>
              </a:solidFill>
            </a:ln>
          </p:spPr>
        </p:cxnSp>
        <p:sp>
          <p:nvSpPr>
            <p:cNvPr id="35" name="Layer label"/>
            <p:cNvSpPr txBox="1"/>
            <p:nvPr/>
          </p:nvSpPr>
          <p:spPr>
            <a:xfrm>
              <a:off x="2331720" y="3931920"/>
              <a:ext cx="9052560" cy="1005840"/>
            </a:xfrm>
            <a:prstGeom prst="rect">
              <a:avLst/>
            </a:prstGeom>
            <a:noFill/>
          </p:spPr>
          <p:txBody>
            <a:bodyPr wrap="square" lIns="0" tIns="0" rIns="0" bIns="0" anchor="ctr">
              <a:noAutofit/>
            </a:bodyPr>
            <a:lstStyle/>
            <a:p>
              <a:pPr algn="l">
                <a:spcBef>
                  <a:spcPts val="0"/>
                </a:spcBef>
                <a:spcAft>
                  <a:spcPts val="0"/>
                </a:spcAft>
              </a:pPr>
              <a:r>
                <a:rPr lang="en-GB" sz="2000" b="1" i="0">
                  <a:solidFill>
                    <a:srgbClr val="F2F2F2"/>
                  </a:solidFill>
                  <a:latin typeface="Arial"/>
                </a:rPr>
                <a:t>Model:</a:t>
              </a:r>
              <a:r>
                <a:rPr lang="en-GB" sz="2000" b="0" i="0">
                  <a:solidFill>
                    <a:srgbClr val="F2F2F2"/>
                  </a:solidFill>
                  <a:latin typeface="Arial"/>
                </a:rPr>
                <a:t> look, wheels, sound</a:t>
              </a:r>
            </a:p>
          </p:txBody>
        </p:sp>
      </p:grpSp>
      <p:sp>
        <p:nvSpPr>
          <p:cNvPr id="36" name="Inline chip: How it is built: undecided"/>
          <p:cNvSpPr/>
          <p:nvPr/>
        </p:nvSpPr>
        <p:spPr>
          <a:xfrm>
            <a:off x="9176191" y="5138928"/>
            <a:ext cx="2464121"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How it is built: undecided</a:t>
            </a:r>
          </a:p>
        </p:txBody>
      </p:sp>
      <p:grpSp>
        <p:nvGrpSpPr>
          <p:cNvPr id="37" name="Caption" descr="Caption: One shared base could run every steam engine. Each engine is described by data."/>
          <p:cNvGrpSpPr/>
          <p:nvPr/>
        </p:nvGrpSpPr>
        <p:grpSpPr>
          <a:xfrm>
            <a:off x="548640" y="5669280"/>
            <a:ext cx="11091672" cy="822960"/>
            <a:chOff x="548640" y="5669280"/>
            <a:chExt cx="11091672" cy="822960"/>
          </a:xfrm>
        </p:grpSpPr>
        <p:sp>
          <p:nvSpPr>
            <p:cNvPr id="38"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39"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40"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One shared base could run every steam engine. Each engine is described by data.</a:t>
              </a:r>
            </a:p>
          </p:txBody>
        </p:sp>
      </p:grpSp>
      <p:sp>
        <p:nvSpPr>
          <p:cNvPr id="41"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15</a:t>
            </a:r>
          </a:p>
        </p:txBody>
      </p:sp>
    </p:spTree>
    <p:extLst>
      <p:ext uri="{BB962C8B-B14F-4D97-AF65-F5344CB8AC3E}">
        <p14:creationId xmlns:p14="http://schemas.microsoft.com/office/powerpoint/2010/main" val="23102125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30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60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90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nodeType="withEffect">
                                  <p:stCondLst>
                                    <p:cond delay="120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Where this stands</a:t>
            </a:r>
          </a:p>
        </p:txBody>
      </p:sp>
      <p:sp>
        <p:nvSpPr>
          <p:cNvPr id="3" name="Status chip" descr="Status tag: Provisional"/>
          <p:cNvSpPr/>
          <p:nvPr/>
        </p:nvSpPr>
        <p:spPr>
          <a:xfrm>
            <a:off x="10180015" y="457200"/>
            <a:ext cx="1463040" cy="365760"/>
          </a:xfrm>
          <a:prstGeom prst="roundRect">
            <a:avLst>
              <a:gd name="adj" fmla="val 30000"/>
            </a:avLst>
          </a:prstGeom>
          <a:solidFill>
            <a:srgbClr val="4DA3FF"/>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PROVISIONAL</a:t>
            </a:r>
          </a:p>
        </p:txBody>
      </p:sp>
      <p:grpSp>
        <p:nvGrpSpPr>
          <p:cNvPr id="4" name="Roadmap line" descr="A line joining four steps: the first is under way, the rest are planned."/>
          <p:cNvGrpSpPr/>
          <p:nvPr/>
        </p:nvGrpSpPr>
        <p:grpSpPr>
          <a:xfrm>
            <a:off x="1595628" y="1664208"/>
            <a:ext cx="8997696" cy="512064"/>
            <a:chOff x="1595628" y="1664208"/>
            <a:chExt cx="8997696" cy="512064"/>
          </a:xfrm>
        </p:grpSpPr>
        <p:cxnSp>
          <p:nvCxnSpPr>
            <p:cNvPr id="5" name="Roadmap line"/>
            <p:cNvCxnSpPr/>
            <p:nvPr/>
          </p:nvCxnSpPr>
          <p:spPr>
            <a:xfrm>
              <a:off x="1851660" y="1920240"/>
              <a:ext cx="8485632" cy="0"/>
            </a:xfrm>
            <a:prstGeom prst="line">
              <a:avLst/>
            </a:prstGeom>
            <a:ln w="38100">
              <a:solidFill>
                <a:srgbClr val="4A515B"/>
              </a:solidFill>
            </a:ln>
          </p:spPr>
        </p:cxnSp>
        <p:sp>
          <p:nvSpPr>
            <p:cNvPr id="6" name="Step marker"/>
            <p:cNvSpPr/>
            <p:nvPr/>
          </p:nvSpPr>
          <p:spPr>
            <a:xfrm>
              <a:off x="1595628" y="1664208"/>
              <a:ext cx="512064" cy="512064"/>
            </a:xfrm>
            <a:prstGeom prst="ellipse">
              <a:avLst/>
            </a:prstGeom>
            <a:solidFill>
              <a:srgbClr val="F28C28"/>
            </a:solidFill>
            <a:ln w="38100">
              <a:solidFill>
                <a:srgbClr val="F28C28"/>
              </a:solidFill>
            </a:ln>
          </p:spPr>
          <p:txBody>
            <a:bodyPr rtlCol="0" anchor="ctr"/>
            <a:lstStyle/>
            <a:p>
              <a:pPr algn="ctr"/>
              <a:endParaRPr/>
            </a:p>
          </p:txBody>
        </p:sp>
        <p:sp>
          <p:nvSpPr>
            <p:cNvPr id="7" name="Step marker"/>
            <p:cNvSpPr/>
            <p:nvPr/>
          </p:nvSpPr>
          <p:spPr>
            <a:xfrm>
              <a:off x="4424172" y="1664208"/>
              <a:ext cx="512064" cy="512064"/>
            </a:xfrm>
            <a:prstGeom prst="ellipse">
              <a:avLst/>
            </a:prstGeom>
            <a:solidFill>
              <a:srgbClr val="2B2F36"/>
            </a:solidFill>
            <a:ln w="38100">
              <a:solidFill>
                <a:srgbClr val="9AA0A6"/>
              </a:solidFill>
            </a:ln>
          </p:spPr>
          <p:txBody>
            <a:bodyPr rtlCol="0" anchor="ctr"/>
            <a:lstStyle/>
            <a:p>
              <a:pPr algn="ctr"/>
              <a:endParaRPr/>
            </a:p>
          </p:txBody>
        </p:sp>
        <p:sp>
          <p:nvSpPr>
            <p:cNvPr id="8" name="Step marker"/>
            <p:cNvSpPr/>
            <p:nvPr/>
          </p:nvSpPr>
          <p:spPr>
            <a:xfrm>
              <a:off x="7252716" y="1664208"/>
              <a:ext cx="512064" cy="512064"/>
            </a:xfrm>
            <a:prstGeom prst="ellipse">
              <a:avLst/>
            </a:prstGeom>
            <a:solidFill>
              <a:srgbClr val="2B2F36"/>
            </a:solidFill>
            <a:ln w="38100">
              <a:solidFill>
                <a:srgbClr val="9AA0A6"/>
              </a:solidFill>
            </a:ln>
          </p:spPr>
          <p:txBody>
            <a:bodyPr rtlCol="0" anchor="ctr"/>
            <a:lstStyle/>
            <a:p>
              <a:pPr algn="ctr"/>
              <a:endParaRPr/>
            </a:p>
          </p:txBody>
        </p:sp>
        <p:sp>
          <p:nvSpPr>
            <p:cNvPr id="9" name="Step marker"/>
            <p:cNvSpPr/>
            <p:nvPr/>
          </p:nvSpPr>
          <p:spPr>
            <a:xfrm>
              <a:off x="10081260" y="1664208"/>
              <a:ext cx="512064" cy="512064"/>
            </a:xfrm>
            <a:prstGeom prst="ellipse">
              <a:avLst/>
            </a:prstGeom>
            <a:solidFill>
              <a:srgbClr val="2B2F36"/>
            </a:solidFill>
            <a:ln w="38100">
              <a:solidFill>
                <a:srgbClr val="9AA0A6"/>
              </a:solidFill>
            </a:ln>
          </p:spPr>
          <p:txBody>
            <a:bodyPr rtlCol="0" anchor="ctr"/>
            <a:lstStyle/>
            <a:p>
              <a:pPr algn="ctr"/>
              <a:endParaRPr/>
            </a:p>
          </p:txBody>
        </p:sp>
      </p:grpSp>
      <p:grpSp>
        <p:nvGrpSpPr>
          <p:cNvPr id="10" name="Step: Test engine on the game's rails" descr="Test engine on the game's rails: under way."/>
          <p:cNvGrpSpPr/>
          <p:nvPr/>
        </p:nvGrpSpPr>
        <p:grpSpPr>
          <a:xfrm>
            <a:off x="548640" y="2514600"/>
            <a:ext cx="2606040" cy="2240280"/>
            <a:chOff x="548640" y="2514600"/>
            <a:chExt cx="2606040" cy="2240280"/>
          </a:xfrm>
        </p:grpSpPr>
        <p:sp>
          <p:nvSpPr>
            <p:cNvPr id="11" name="Step card"/>
            <p:cNvSpPr/>
            <p:nvPr/>
          </p:nvSpPr>
          <p:spPr>
            <a:xfrm>
              <a:off x="548640" y="2514600"/>
              <a:ext cx="2606040" cy="2240280"/>
            </a:xfrm>
            <a:prstGeom prst="roundRect">
              <a:avLst>
                <a:gd name="adj" fmla="val 3265"/>
              </a:avLst>
            </a:prstGeom>
            <a:solidFill>
              <a:srgbClr val="2B2F36"/>
            </a:solidFill>
            <a:ln w="25400">
              <a:solidFill>
                <a:srgbClr val="F28C28"/>
              </a:solidFill>
            </a:ln>
          </p:spPr>
          <p:txBody>
            <a:bodyPr rtlCol="0" anchor="ctr"/>
            <a:lstStyle/>
            <a:p>
              <a:pPr algn="ctr"/>
              <a:endParaRPr/>
            </a:p>
          </p:txBody>
        </p:sp>
        <p:sp>
          <p:nvSpPr>
            <p:cNvPr id="12" name="Step label"/>
            <p:cNvSpPr txBox="1"/>
            <p:nvPr/>
          </p:nvSpPr>
          <p:spPr>
            <a:xfrm>
              <a:off x="749808" y="2651760"/>
              <a:ext cx="2203704" cy="118872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Test engine on the game's rails</a:t>
              </a:r>
            </a:p>
          </p:txBody>
        </p:sp>
        <p:sp>
          <p:nvSpPr>
            <p:cNvPr id="13" name="State: Under way"/>
            <p:cNvSpPr/>
            <p:nvPr/>
          </p:nvSpPr>
          <p:spPr>
            <a:xfrm>
              <a:off x="749808" y="4023360"/>
              <a:ext cx="1554480" cy="457200"/>
            </a:xfrm>
            <a:prstGeom prst="roundRect">
              <a:avLst>
                <a:gd name="adj" fmla="val 50000"/>
              </a:avLst>
            </a:prstGeom>
            <a:solidFill>
              <a:srgbClr val="F28C28"/>
            </a:solidFill>
            <a:ln>
              <a:noFill/>
            </a:ln>
          </p:spPr>
          <p:txBody>
            <a:bodyPr wrap="none" lIns="0" tIns="0" rIns="0" bIns="0" rtlCol="0" anchor="ctr">
              <a:noAutofit/>
            </a:bodyPr>
            <a:lstStyle/>
            <a:p>
              <a:pPr algn="ctr">
                <a:spcBef>
                  <a:spcPts val="0"/>
                </a:spcBef>
                <a:spcAft>
                  <a:spcPts val="0"/>
                </a:spcAft>
              </a:pPr>
              <a:r>
                <a:rPr lang="en-GB" sz="1800" b="1" i="0">
                  <a:solidFill>
                    <a:srgbClr val="101418"/>
                  </a:solidFill>
                  <a:latin typeface="Arial"/>
                </a:rPr>
                <a:t>Under way</a:t>
              </a:r>
            </a:p>
          </p:txBody>
        </p:sp>
      </p:grpSp>
      <p:grpSp>
        <p:nvGrpSpPr>
          <p:cNvPr id="14" name="Step: Cost and recipes" descr="Cost and recipes: planned."/>
          <p:cNvGrpSpPr/>
          <p:nvPr/>
        </p:nvGrpSpPr>
        <p:grpSpPr>
          <a:xfrm>
            <a:off x="3377184" y="2514600"/>
            <a:ext cx="2606040" cy="2240280"/>
            <a:chOff x="3377184" y="2514600"/>
            <a:chExt cx="2606040" cy="2240280"/>
          </a:xfrm>
        </p:grpSpPr>
        <p:sp>
          <p:nvSpPr>
            <p:cNvPr id="15" name="Step card"/>
            <p:cNvSpPr/>
            <p:nvPr/>
          </p:nvSpPr>
          <p:spPr>
            <a:xfrm>
              <a:off x="3377184" y="2514600"/>
              <a:ext cx="2606040" cy="2240280"/>
            </a:xfrm>
            <a:prstGeom prst="roundRect">
              <a:avLst>
                <a:gd name="adj" fmla="val 3265"/>
              </a:avLst>
            </a:prstGeom>
            <a:solidFill>
              <a:srgbClr val="2B2F36"/>
            </a:solidFill>
            <a:ln>
              <a:noFill/>
            </a:ln>
          </p:spPr>
          <p:txBody>
            <a:bodyPr rtlCol="0" anchor="ctr"/>
            <a:lstStyle/>
            <a:p>
              <a:pPr algn="ctr"/>
              <a:endParaRPr/>
            </a:p>
          </p:txBody>
        </p:sp>
        <p:sp>
          <p:nvSpPr>
            <p:cNvPr id="16" name="Step label"/>
            <p:cNvSpPr txBox="1"/>
            <p:nvPr/>
          </p:nvSpPr>
          <p:spPr>
            <a:xfrm>
              <a:off x="3578352" y="2651760"/>
              <a:ext cx="2203704" cy="118872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Cost and recipes</a:t>
              </a:r>
            </a:p>
          </p:txBody>
        </p:sp>
        <p:sp>
          <p:nvSpPr>
            <p:cNvPr id="17" name="State: Planned"/>
            <p:cNvSpPr/>
            <p:nvPr/>
          </p:nvSpPr>
          <p:spPr>
            <a:xfrm>
              <a:off x="3578352" y="4023360"/>
              <a:ext cx="1554480" cy="457200"/>
            </a:xfrm>
            <a:prstGeom prst="roundRect">
              <a:avLst>
                <a:gd name="adj" fmla="val 50000"/>
              </a:avLst>
            </a:prstGeom>
            <a:noFill/>
            <a:ln w="25400">
              <a:solidFill>
                <a:srgbClr val="9AA0A6"/>
              </a:solidFill>
            </a:ln>
          </p:spPr>
          <p:txBody>
            <a:bodyPr wrap="none" lIns="0" tIns="0" rIns="0" bIns="0" rtlCol="0" anchor="ctr">
              <a:noAutofit/>
            </a:bodyPr>
            <a:lstStyle/>
            <a:p>
              <a:pPr algn="ctr">
                <a:spcBef>
                  <a:spcPts val="0"/>
                </a:spcBef>
                <a:spcAft>
                  <a:spcPts val="0"/>
                </a:spcAft>
              </a:pPr>
              <a:r>
                <a:rPr lang="en-GB" sz="1800" b="1" i="0">
                  <a:solidFill>
                    <a:srgbClr val="F2F2F2"/>
                  </a:solidFill>
                  <a:latin typeface="Arial"/>
                </a:rPr>
                <a:t>Planned</a:t>
              </a:r>
            </a:p>
          </p:txBody>
        </p:sp>
      </p:grpSp>
      <p:grpSp>
        <p:nvGrpSpPr>
          <p:cNvPr id="18" name="Step: Range tuning" descr="Range tuning: planned."/>
          <p:cNvGrpSpPr/>
          <p:nvPr/>
        </p:nvGrpSpPr>
        <p:grpSpPr>
          <a:xfrm>
            <a:off x="6205728" y="2514600"/>
            <a:ext cx="2606040" cy="2240280"/>
            <a:chOff x="6205728" y="2514600"/>
            <a:chExt cx="2606040" cy="2240280"/>
          </a:xfrm>
        </p:grpSpPr>
        <p:sp>
          <p:nvSpPr>
            <p:cNvPr id="19" name="Step card"/>
            <p:cNvSpPr/>
            <p:nvPr/>
          </p:nvSpPr>
          <p:spPr>
            <a:xfrm>
              <a:off x="6205728" y="2514600"/>
              <a:ext cx="2606040" cy="2240280"/>
            </a:xfrm>
            <a:prstGeom prst="roundRect">
              <a:avLst>
                <a:gd name="adj" fmla="val 3265"/>
              </a:avLst>
            </a:prstGeom>
            <a:solidFill>
              <a:srgbClr val="2B2F36"/>
            </a:solidFill>
            <a:ln>
              <a:noFill/>
            </a:ln>
          </p:spPr>
          <p:txBody>
            <a:bodyPr rtlCol="0" anchor="ctr"/>
            <a:lstStyle/>
            <a:p>
              <a:pPr algn="ctr"/>
              <a:endParaRPr/>
            </a:p>
          </p:txBody>
        </p:sp>
        <p:sp>
          <p:nvSpPr>
            <p:cNvPr id="20" name="Step label"/>
            <p:cNvSpPr txBox="1"/>
            <p:nvPr/>
          </p:nvSpPr>
          <p:spPr>
            <a:xfrm>
              <a:off x="6406896" y="2651760"/>
              <a:ext cx="2203704" cy="118872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Range tuning</a:t>
              </a:r>
            </a:p>
          </p:txBody>
        </p:sp>
        <p:sp>
          <p:nvSpPr>
            <p:cNvPr id="21" name="State: Planned"/>
            <p:cNvSpPr/>
            <p:nvPr/>
          </p:nvSpPr>
          <p:spPr>
            <a:xfrm>
              <a:off x="6406896" y="4023360"/>
              <a:ext cx="1554480" cy="457200"/>
            </a:xfrm>
            <a:prstGeom prst="roundRect">
              <a:avLst>
                <a:gd name="adj" fmla="val 50000"/>
              </a:avLst>
            </a:prstGeom>
            <a:noFill/>
            <a:ln w="25400">
              <a:solidFill>
                <a:srgbClr val="9AA0A6"/>
              </a:solidFill>
            </a:ln>
          </p:spPr>
          <p:txBody>
            <a:bodyPr wrap="none" lIns="0" tIns="0" rIns="0" bIns="0" rtlCol="0" anchor="ctr">
              <a:noAutofit/>
            </a:bodyPr>
            <a:lstStyle/>
            <a:p>
              <a:pPr algn="ctr">
                <a:spcBef>
                  <a:spcPts val="0"/>
                </a:spcBef>
                <a:spcAft>
                  <a:spcPts val="0"/>
                </a:spcAft>
              </a:pPr>
              <a:r>
                <a:rPr lang="en-GB" sz="1800" b="1" i="0">
                  <a:solidFill>
                    <a:srgbClr val="F2F2F2"/>
                  </a:solidFill>
                  <a:latin typeface="Arial"/>
                </a:rPr>
                <a:t>Planned</a:t>
              </a:r>
            </a:p>
          </p:txBody>
        </p:sp>
      </p:grpSp>
      <p:grpSp>
        <p:nvGrpSpPr>
          <p:cNvPr id="22" name="Step: Play-testing" descr="Play-testing: planned."/>
          <p:cNvGrpSpPr/>
          <p:nvPr/>
        </p:nvGrpSpPr>
        <p:grpSpPr>
          <a:xfrm>
            <a:off x="9034272" y="2514600"/>
            <a:ext cx="2606040" cy="2240280"/>
            <a:chOff x="9034272" y="2514600"/>
            <a:chExt cx="2606040" cy="2240280"/>
          </a:xfrm>
        </p:grpSpPr>
        <p:sp>
          <p:nvSpPr>
            <p:cNvPr id="23" name="Step card"/>
            <p:cNvSpPr/>
            <p:nvPr/>
          </p:nvSpPr>
          <p:spPr>
            <a:xfrm>
              <a:off x="9034272" y="2514600"/>
              <a:ext cx="2606040" cy="2240280"/>
            </a:xfrm>
            <a:prstGeom prst="roundRect">
              <a:avLst>
                <a:gd name="adj" fmla="val 3265"/>
              </a:avLst>
            </a:prstGeom>
            <a:solidFill>
              <a:srgbClr val="2B2F36"/>
            </a:solidFill>
            <a:ln>
              <a:noFill/>
            </a:ln>
          </p:spPr>
          <p:txBody>
            <a:bodyPr rtlCol="0" anchor="ctr"/>
            <a:lstStyle/>
            <a:p>
              <a:pPr algn="ctr"/>
              <a:endParaRPr/>
            </a:p>
          </p:txBody>
        </p:sp>
        <p:sp>
          <p:nvSpPr>
            <p:cNvPr id="24" name="Step label"/>
            <p:cNvSpPr txBox="1"/>
            <p:nvPr/>
          </p:nvSpPr>
          <p:spPr>
            <a:xfrm>
              <a:off x="9235440" y="2651760"/>
              <a:ext cx="2203704" cy="118872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Play-testing</a:t>
              </a:r>
            </a:p>
          </p:txBody>
        </p:sp>
        <p:sp>
          <p:nvSpPr>
            <p:cNvPr id="25" name="State: Planned"/>
            <p:cNvSpPr/>
            <p:nvPr/>
          </p:nvSpPr>
          <p:spPr>
            <a:xfrm>
              <a:off x="9235440" y="4023360"/>
              <a:ext cx="1554480" cy="457200"/>
            </a:xfrm>
            <a:prstGeom prst="roundRect">
              <a:avLst>
                <a:gd name="adj" fmla="val 50000"/>
              </a:avLst>
            </a:prstGeom>
            <a:noFill/>
            <a:ln w="25400">
              <a:solidFill>
                <a:srgbClr val="9AA0A6"/>
              </a:solidFill>
            </a:ln>
          </p:spPr>
          <p:txBody>
            <a:bodyPr wrap="none" lIns="0" tIns="0" rIns="0" bIns="0" rtlCol="0" anchor="ctr">
              <a:noAutofit/>
            </a:bodyPr>
            <a:lstStyle/>
            <a:p>
              <a:pPr algn="ctr">
                <a:spcBef>
                  <a:spcPts val="0"/>
                </a:spcBef>
                <a:spcAft>
                  <a:spcPts val="0"/>
                </a:spcAft>
              </a:pPr>
              <a:r>
                <a:rPr lang="en-GB" sz="1800" b="1" i="0">
                  <a:solidFill>
                    <a:srgbClr val="F2F2F2"/>
                  </a:solidFill>
                  <a:latin typeface="Arial"/>
                </a:rPr>
                <a:t>Planned</a:t>
              </a:r>
            </a:p>
          </p:txBody>
        </p:sp>
      </p:grpSp>
      <p:sp>
        <p:nvSpPr>
          <p:cNvPr id="26" name="Inline chip: Plans can change."/>
          <p:cNvSpPr/>
          <p:nvPr/>
        </p:nvSpPr>
        <p:spPr>
          <a:xfrm>
            <a:off x="9778071" y="5029200"/>
            <a:ext cx="1862241" cy="329184"/>
          </a:xfrm>
          <a:prstGeom prst="roundRect">
            <a:avLst>
              <a:gd name="adj" fmla="val 50000"/>
            </a:avLst>
          </a:prstGeom>
          <a:solidFill>
            <a:srgbClr val="4DA3FF"/>
          </a:solidFill>
          <a:ln>
            <a:noFill/>
          </a:ln>
        </p:spPr>
        <p:txBody>
          <a:bodyPr wrap="none" lIns="0" tIns="0" rIns="0" bIns="0" rtlCol="0" anchor="ctr">
            <a:noAutofit/>
          </a:bodyPr>
          <a:lstStyle/>
          <a:p>
            <a:pPr algn="ctr">
              <a:spcBef>
                <a:spcPts val="0"/>
              </a:spcBef>
              <a:spcAft>
                <a:spcPts val="0"/>
              </a:spcAft>
            </a:pPr>
            <a:r>
              <a:rPr lang="en-GB" sz="1400" b="1" i="0">
                <a:solidFill>
                  <a:srgbClr val="101418"/>
                </a:solidFill>
                <a:latin typeface="Arial"/>
              </a:rPr>
              <a:t>Plans can change.</a:t>
            </a:r>
          </a:p>
        </p:txBody>
      </p:sp>
      <p:grpSp>
        <p:nvGrpSpPr>
          <p:cNvPr id="27" name="Caption" descr="Caption: Balance is a plan. It will be tested and tuned by playing."/>
          <p:cNvGrpSpPr/>
          <p:nvPr/>
        </p:nvGrpSpPr>
        <p:grpSpPr>
          <a:xfrm>
            <a:off x="548640" y="5669280"/>
            <a:ext cx="11091672" cy="822960"/>
            <a:chOff x="548640" y="5669280"/>
            <a:chExt cx="11091672" cy="822960"/>
          </a:xfrm>
        </p:grpSpPr>
        <p:sp>
          <p:nvSpPr>
            <p:cNvPr id="28"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29"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30"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Balance is a plan. It will be tested and tuned by playing.</a:t>
              </a:r>
            </a:p>
          </p:txBody>
        </p:sp>
      </p:grpSp>
      <p:sp>
        <p:nvSpPr>
          <p:cNvPr id="31"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16</a:t>
            </a:r>
          </a:p>
        </p:txBody>
      </p:sp>
    </p:spTree>
    <p:extLst>
      <p:ext uri="{BB962C8B-B14F-4D97-AF65-F5344CB8AC3E}">
        <p14:creationId xmlns:p14="http://schemas.microsoft.com/office/powerpoint/2010/main" val="13422530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57"/>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514"/>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771"/>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nodeType="withEffect">
                                  <p:stCondLst>
                                    <p:cond delay="1028"/>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1285"/>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nodeType="withEffect">
                                  <p:stCondLst>
                                    <p:cond delay="1542"/>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Still undecided</a:t>
            </a:r>
          </a:p>
        </p:txBody>
      </p:sp>
      <p:sp>
        <p:nvSpPr>
          <p:cNvPr id="3" name="Status chip" descr="Status tag: Undecided"/>
          <p:cNvSpPr/>
          <p:nvPr/>
        </p:nvSpPr>
        <p:spPr>
          <a:xfrm>
            <a:off x="10180015" y="457200"/>
            <a:ext cx="1463040" cy="365760"/>
          </a:xfrm>
          <a:prstGeom prst="roundRect">
            <a:avLst>
              <a:gd name="adj" fmla="val 3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grpSp>
        <p:nvGrpSpPr>
          <p:cNvPr id="4" name="Open question: Recipes and costs" descr="Undecided: Recipes and costs (OQ02)."/>
          <p:cNvGrpSpPr/>
          <p:nvPr/>
        </p:nvGrpSpPr>
        <p:grpSpPr>
          <a:xfrm>
            <a:off x="548640" y="1371600"/>
            <a:ext cx="2651760" cy="1874520"/>
            <a:chOff x="548640" y="1371600"/>
            <a:chExt cx="2651760" cy="1874520"/>
          </a:xfrm>
        </p:grpSpPr>
        <p:sp>
          <p:nvSpPr>
            <p:cNvPr id="5" name="Card"/>
            <p:cNvSpPr/>
            <p:nvPr/>
          </p:nvSpPr>
          <p:spPr>
            <a:xfrm>
              <a:off x="548640" y="1371600"/>
              <a:ext cx="2651760" cy="1874520"/>
            </a:xfrm>
            <a:prstGeom prst="roundRect">
              <a:avLst>
                <a:gd name="adj" fmla="val 3902"/>
              </a:avLst>
            </a:prstGeom>
            <a:solidFill>
              <a:srgbClr val="2B2F36"/>
            </a:solidFill>
            <a:ln>
              <a:noFill/>
            </a:ln>
          </p:spPr>
          <p:txBody>
            <a:bodyPr rtlCol="0" anchor="ctr"/>
            <a:lstStyle/>
            <a:p>
              <a:pPr algn="ctr"/>
              <a:endParaRPr/>
            </a:p>
          </p:txBody>
        </p:sp>
        <p:sp>
          <p:nvSpPr>
            <p:cNvPr id="6" name="Inline chip: Undecided"/>
            <p:cNvSpPr/>
            <p:nvPr/>
          </p:nvSpPr>
          <p:spPr>
            <a:xfrm>
              <a:off x="731520" y="1554480"/>
              <a:ext cx="1367913"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7" name="Question"/>
            <p:cNvSpPr txBox="1"/>
            <p:nvPr/>
          </p:nvSpPr>
          <p:spPr>
            <a:xfrm>
              <a:off x="731520" y="2084832"/>
              <a:ext cx="2286000" cy="109728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Recipes and costs</a:t>
              </a:r>
              <a:r>
                <a:rPr lang="en-GB" sz="2000" b="0" i="0">
                  <a:solidFill>
                    <a:srgbClr val="A9B0B8"/>
                  </a:solidFill>
                  <a:latin typeface="Arial"/>
                </a:rPr>
                <a:t> (OQ02)</a:t>
              </a:r>
            </a:p>
          </p:txBody>
        </p:sp>
      </p:grpSp>
      <p:grpSp>
        <p:nvGrpSpPr>
          <p:cNvPr id="8" name="Open question: Longest track piece" descr="Undecided: Longest track piece (OQ02)."/>
          <p:cNvGrpSpPr/>
          <p:nvPr/>
        </p:nvGrpSpPr>
        <p:grpSpPr>
          <a:xfrm>
            <a:off x="3362249" y="1371600"/>
            <a:ext cx="2651760" cy="1874520"/>
            <a:chOff x="3362249" y="1371600"/>
            <a:chExt cx="2651760" cy="1874520"/>
          </a:xfrm>
        </p:grpSpPr>
        <p:sp>
          <p:nvSpPr>
            <p:cNvPr id="9" name="Card"/>
            <p:cNvSpPr/>
            <p:nvPr/>
          </p:nvSpPr>
          <p:spPr>
            <a:xfrm>
              <a:off x="3362249" y="1371600"/>
              <a:ext cx="2651760" cy="1874520"/>
            </a:xfrm>
            <a:prstGeom prst="roundRect">
              <a:avLst>
                <a:gd name="adj" fmla="val 3902"/>
              </a:avLst>
            </a:prstGeom>
            <a:solidFill>
              <a:srgbClr val="2B2F36"/>
            </a:solidFill>
            <a:ln>
              <a:noFill/>
            </a:ln>
          </p:spPr>
          <p:txBody>
            <a:bodyPr rtlCol="0" anchor="ctr"/>
            <a:lstStyle/>
            <a:p>
              <a:pPr algn="ctr"/>
              <a:endParaRPr/>
            </a:p>
          </p:txBody>
        </p:sp>
        <p:sp>
          <p:nvSpPr>
            <p:cNvPr id="10" name="Inline chip: Undecided"/>
            <p:cNvSpPr/>
            <p:nvPr/>
          </p:nvSpPr>
          <p:spPr>
            <a:xfrm>
              <a:off x="3545129" y="1554480"/>
              <a:ext cx="1367913"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11" name="Question"/>
            <p:cNvSpPr txBox="1"/>
            <p:nvPr/>
          </p:nvSpPr>
          <p:spPr>
            <a:xfrm>
              <a:off x="3545129" y="2084832"/>
              <a:ext cx="2286000" cy="109728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Longest track piece</a:t>
              </a:r>
              <a:r>
                <a:rPr lang="en-GB" sz="2000" b="0" i="0">
                  <a:solidFill>
                    <a:srgbClr val="A9B0B8"/>
                  </a:solidFill>
                  <a:latin typeface="Arial"/>
                </a:rPr>
                <a:t> (OQ02)</a:t>
              </a:r>
            </a:p>
          </p:txBody>
        </p:sp>
      </p:grpSp>
      <p:grpSp>
        <p:nvGrpSpPr>
          <p:cNvPr id="12" name="Open question: Is Medium the fastest?" descr="Undecided: Is Medium the fastest? (OQ05)."/>
          <p:cNvGrpSpPr/>
          <p:nvPr/>
        </p:nvGrpSpPr>
        <p:grpSpPr>
          <a:xfrm>
            <a:off x="6175858" y="1371600"/>
            <a:ext cx="2651760" cy="1874520"/>
            <a:chOff x="6175858" y="1371600"/>
            <a:chExt cx="2651760" cy="1874520"/>
          </a:xfrm>
        </p:grpSpPr>
        <p:sp>
          <p:nvSpPr>
            <p:cNvPr id="13" name="Card"/>
            <p:cNvSpPr/>
            <p:nvPr/>
          </p:nvSpPr>
          <p:spPr>
            <a:xfrm>
              <a:off x="6175858" y="1371600"/>
              <a:ext cx="2651760" cy="1874520"/>
            </a:xfrm>
            <a:prstGeom prst="roundRect">
              <a:avLst>
                <a:gd name="adj" fmla="val 3902"/>
              </a:avLst>
            </a:prstGeom>
            <a:solidFill>
              <a:srgbClr val="2B2F36"/>
            </a:solidFill>
            <a:ln>
              <a:noFill/>
            </a:ln>
          </p:spPr>
          <p:txBody>
            <a:bodyPr rtlCol="0" anchor="ctr"/>
            <a:lstStyle/>
            <a:p>
              <a:pPr algn="ctr"/>
              <a:endParaRPr/>
            </a:p>
          </p:txBody>
        </p:sp>
        <p:sp>
          <p:nvSpPr>
            <p:cNvPr id="14" name="Inline chip: Undecided"/>
            <p:cNvSpPr/>
            <p:nvPr/>
          </p:nvSpPr>
          <p:spPr>
            <a:xfrm>
              <a:off x="6358738" y="1554480"/>
              <a:ext cx="1367913"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15" name="Question"/>
            <p:cNvSpPr txBox="1"/>
            <p:nvPr/>
          </p:nvSpPr>
          <p:spPr>
            <a:xfrm>
              <a:off x="6358738" y="2084832"/>
              <a:ext cx="2286000" cy="109728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Is Medium the fastest?</a:t>
              </a:r>
              <a:r>
                <a:rPr lang="en-GB" sz="2000" b="0" i="0">
                  <a:solidFill>
                    <a:srgbClr val="A9B0B8"/>
                  </a:solidFill>
                  <a:latin typeface="Arial"/>
                </a:rPr>
                <a:t> (OQ05)</a:t>
              </a:r>
            </a:p>
          </p:txBody>
        </p:sp>
      </p:grpSp>
      <p:grpSp>
        <p:nvGrpSpPr>
          <p:cNvPr id="16" name="Open question: Engine curves" descr="Undecided: Engine curves (OQ05)."/>
          <p:cNvGrpSpPr/>
          <p:nvPr/>
        </p:nvGrpSpPr>
        <p:grpSpPr>
          <a:xfrm>
            <a:off x="8989466" y="1371600"/>
            <a:ext cx="2651760" cy="1874520"/>
            <a:chOff x="8989466" y="1371600"/>
            <a:chExt cx="2651760" cy="1874520"/>
          </a:xfrm>
        </p:grpSpPr>
        <p:sp>
          <p:nvSpPr>
            <p:cNvPr id="17" name="Card"/>
            <p:cNvSpPr/>
            <p:nvPr/>
          </p:nvSpPr>
          <p:spPr>
            <a:xfrm>
              <a:off x="8989466" y="1371600"/>
              <a:ext cx="2651760" cy="1874520"/>
            </a:xfrm>
            <a:prstGeom prst="roundRect">
              <a:avLst>
                <a:gd name="adj" fmla="val 3902"/>
              </a:avLst>
            </a:prstGeom>
            <a:solidFill>
              <a:srgbClr val="2B2F36"/>
            </a:solidFill>
            <a:ln>
              <a:noFill/>
            </a:ln>
          </p:spPr>
          <p:txBody>
            <a:bodyPr rtlCol="0" anchor="ctr"/>
            <a:lstStyle/>
            <a:p>
              <a:pPr algn="ctr"/>
              <a:endParaRPr/>
            </a:p>
          </p:txBody>
        </p:sp>
        <p:sp>
          <p:nvSpPr>
            <p:cNvPr id="18" name="Inline chip: Undecided"/>
            <p:cNvSpPr/>
            <p:nvPr/>
          </p:nvSpPr>
          <p:spPr>
            <a:xfrm>
              <a:off x="9172346" y="1554480"/>
              <a:ext cx="1367913"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19" name="Question"/>
            <p:cNvSpPr txBox="1"/>
            <p:nvPr/>
          </p:nvSpPr>
          <p:spPr>
            <a:xfrm>
              <a:off x="9172346" y="2084832"/>
              <a:ext cx="2286000" cy="109728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Engine curves</a:t>
              </a:r>
              <a:r>
                <a:rPr lang="en-GB" sz="2000" b="0" i="0">
                  <a:solidFill>
                    <a:srgbClr val="A9B0B8"/>
                  </a:solidFill>
                  <a:latin typeface="Arial"/>
                </a:rPr>
                <a:t> (OQ05)</a:t>
              </a:r>
            </a:p>
          </p:txBody>
        </p:sp>
      </p:grpSp>
      <p:grpSp>
        <p:nvGrpSpPr>
          <p:cNvPr id="20" name="Open question: Wagon list" descr="Undecided: Wagon list (OQ07)."/>
          <p:cNvGrpSpPr/>
          <p:nvPr/>
        </p:nvGrpSpPr>
        <p:grpSpPr>
          <a:xfrm>
            <a:off x="548640" y="3474720"/>
            <a:ext cx="2651760" cy="1874520"/>
            <a:chOff x="548640" y="3474720"/>
            <a:chExt cx="2651760" cy="1874520"/>
          </a:xfrm>
        </p:grpSpPr>
        <p:sp>
          <p:nvSpPr>
            <p:cNvPr id="21" name="Card"/>
            <p:cNvSpPr/>
            <p:nvPr/>
          </p:nvSpPr>
          <p:spPr>
            <a:xfrm>
              <a:off x="548640" y="3474720"/>
              <a:ext cx="2651760" cy="1874520"/>
            </a:xfrm>
            <a:prstGeom prst="roundRect">
              <a:avLst>
                <a:gd name="adj" fmla="val 3902"/>
              </a:avLst>
            </a:prstGeom>
            <a:solidFill>
              <a:srgbClr val="2B2F36"/>
            </a:solidFill>
            <a:ln>
              <a:noFill/>
            </a:ln>
          </p:spPr>
          <p:txBody>
            <a:bodyPr rtlCol="0" anchor="ctr"/>
            <a:lstStyle/>
            <a:p>
              <a:pPr algn="ctr"/>
              <a:endParaRPr/>
            </a:p>
          </p:txBody>
        </p:sp>
        <p:sp>
          <p:nvSpPr>
            <p:cNvPr id="22" name="Inline chip: Undecided"/>
            <p:cNvSpPr/>
            <p:nvPr/>
          </p:nvSpPr>
          <p:spPr>
            <a:xfrm>
              <a:off x="731520" y="3657600"/>
              <a:ext cx="1367913"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23" name="Question"/>
            <p:cNvSpPr txBox="1"/>
            <p:nvPr/>
          </p:nvSpPr>
          <p:spPr>
            <a:xfrm>
              <a:off x="731520" y="4187952"/>
              <a:ext cx="2286000" cy="109728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Wagon list</a:t>
              </a:r>
              <a:r>
                <a:rPr lang="en-GB" sz="2000" b="0" i="0">
                  <a:solidFill>
                    <a:srgbClr val="A9B0B8"/>
                  </a:solidFill>
                  <a:latin typeface="Arial"/>
                </a:rPr>
                <a:t> (OQ07)</a:t>
              </a:r>
            </a:p>
          </p:txBody>
        </p:sp>
      </p:grpSp>
      <p:grpSp>
        <p:nvGrpSpPr>
          <p:cNvPr id="24" name="Open question: Which fuels work?" descr="Undecided: Which fuels work? (OQ08)."/>
          <p:cNvGrpSpPr/>
          <p:nvPr/>
        </p:nvGrpSpPr>
        <p:grpSpPr>
          <a:xfrm>
            <a:off x="3362249" y="3474720"/>
            <a:ext cx="2651760" cy="1874520"/>
            <a:chOff x="3362249" y="3474720"/>
            <a:chExt cx="2651760" cy="1874520"/>
          </a:xfrm>
        </p:grpSpPr>
        <p:sp>
          <p:nvSpPr>
            <p:cNvPr id="25" name="Card"/>
            <p:cNvSpPr/>
            <p:nvPr/>
          </p:nvSpPr>
          <p:spPr>
            <a:xfrm>
              <a:off x="3362249" y="3474720"/>
              <a:ext cx="2651760" cy="1874520"/>
            </a:xfrm>
            <a:prstGeom prst="roundRect">
              <a:avLst>
                <a:gd name="adj" fmla="val 3902"/>
              </a:avLst>
            </a:prstGeom>
            <a:solidFill>
              <a:srgbClr val="2B2F36"/>
            </a:solidFill>
            <a:ln>
              <a:noFill/>
            </a:ln>
          </p:spPr>
          <p:txBody>
            <a:bodyPr rtlCol="0" anchor="ctr"/>
            <a:lstStyle/>
            <a:p>
              <a:pPr algn="ctr"/>
              <a:endParaRPr/>
            </a:p>
          </p:txBody>
        </p:sp>
        <p:sp>
          <p:nvSpPr>
            <p:cNvPr id="26" name="Inline chip: Undecided"/>
            <p:cNvSpPr/>
            <p:nvPr/>
          </p:nvSpPr>
          <p:spPr>
            <a:xfrm>
              <a:off x="3545129" y="3657600"/>
              <a:ext cx="1367913"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27" name="Question"/>
            <p:cNvSpPr txBox="1"/>
            <p:nvPr/>
          </p:nvSpPr>
          <p:spPr>
            <a:xfrm>
              <a:off x="3545129" y="4187952"/>
              <a:ext cx="2286000" cy="109728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Which fuels work?</a:t>
              </a:r>
              <a:r>
                <a:rPr lang="en-GB" sz="2000" b="0" i="0">
                  <a:solidFill>
                    <a:srgbClr val="A9B0B8"/>
                  </a:solidFill>
                  <a:latin typeface="Arial"/>
                </a:rPr>
                <a:t> (OQ08)</a:t>
              </a:r>
            </a:p>
          </p:txBody>
        </p:sp>
      </p:grpSp>
      <p:grpSp>
        <p:nvGrpSpPr>
          <p:cNvPr id="28" name="Open question: Station size" descr="Undecided: Station size (OQ09)."/>
          <p:cNvGrpSpPr/>
          <p:nvPr/>
        </p:nvGrpSpPr>
        <p:grpSpPr>
          <a:xfrm>
            <a:off x="6175858" y="3474720"/>
            <a:ext cx="2651760" cy="1874520"/>
            <a:chOff x="6175858" y="3474720"/>
            <a:chExt cx="2651760" cy="1874520"/>
          </a:xfrm>
        </p:grpSpPr>
        <p:sp>
          <p:nvSpPr>
            <p:cNvPr id="29" name="Card"/>
            <p:cNvSpPr/>
            <p:nvPr/>
          </p:nvSpPr>
          <p:spPr>
            <a:xfrm>
              <a:off x="6175858" y="3474720"/>
              <a:ext cx="2651760" cy="1874520"/>
            </a:xfrm>
            <a:prstGeom prst="roundRect">
              <a:avLst>
                <a:gd name="adj" fmla="val 3902"/>
              </a:avLst>
            </a:prstGeom>
            <a:solidFill>
              <a:srgbClr val="2B2F36"/>
            </a:solidFill>
            <a:ln>
              <a:noFill/>
            </a:ln>
          </p:spPr>
          <p:txBody>
            <a:bodyPr rtlCol="0" anchor="ctr"/>
            <a:lstStyle/>
            <a:p>
              <a:pPr algn="ctr"/>
              <a:endParaRPr/>
            </a:p>
          </p:txBody>
        </p:sp>
        <p:sp>
          <p:nvSpPr>
            <p:cNvPr id="30" name="Inline chip: Undecided"/>
            <p:cNvSpPr/>
            <p:nvPr/>
          </p:nvSpPr>
          <p:spPr>
            <a:xfrm>
              <a:off x="6358738" y="3657600"/>
              <a:ext cx="1367913"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31" name="Question"/>
            <p:cNvSpPr txBox="1"/>
            <p:nvPr/>
          </p:nvSpPr>
          <p:spPr>
            <a:xfrm>
              <a:off x="6358738" y="4187952"/>
              <a:ext cx="2286000" cy="109728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Station size</a:t>
              </a:r>
              <a:r>
                <a:rPr lang="en-GB" sz="2000" b="0" i="0">
                  <a:solidFill>
                    <a:srgbClr val="A9B0B8"/>
                  </a:solidFill>
                  <a:latin typeface="Arial"/>
                </a:rPr>
                <a:t> (OQ09)</a:t>
              </a:r>
            </a:p>
          </p:txBody>
        </p:sp>
      </p:grpSp>
      <p:grpSp>
        <p:nvGrpSpPr>
          <p:cNvPr id="32" name="Open question: Service stop rules" descr="Undecided: Service stop rules (OQ11)."/>
          <p:cNvGrpSpPr/>
          <p:nvPr/>
        </p:nvGrpSpPr>
        <p:grpSpPr>
          <a:xfrm>
            <a:off x="8989466" y="3474720"/>
            <a:ext cx="2651760" cy="1874520"/>
            <a:chOff x="8989466" y="3474720"/>
            <a:chExt cx="2651760" cy="1874520"/>
          </a:xfrm>
        </p:grpSpPr>
        <p:sp>
          <p:nvSpPr>
            <p:cNvPr id="33" name="Card"/>
            <p:cNvSpPr/>
            <p:nvPr/>
          </p:nvSpPr>
          <p:spPr>
            <a:xfrm>
              <a:off x="8989466" y="3474720"/>
              <a:ext cx="2651760" cy="1874520"/>
            </a:xfrm>
            <a:prstGeom prst="roundRect">
              <a:avLst>
                <a:gd name="adj" fmla="val 3902"/>
              </a:avLst>
            </a:prstGeom>
            <a:solidFill>
              <a:srgbClr val="2B2F36"/>
            </a:solidFill>
            <a:ln>
              <a:noFill/>
            </a:ln>
          </p:spPr>
          <p:txBody>
            <a:bodyPr rtlCol="0" anchor="ctr"/>
            <a:lstStyle/>
            <a:p>
              <a:pPr algn="ctr"/>
              <a:endParaRPr/>
            </a:p>
          </p:txBody>
        </p:sp>
        <p:sp>
          <p:nvSpPr>
            <p:cNvPr id="34" name="Inline chip: Undecided"/>
            <p:cNvSpPr/>
            <p:nvPr/>
          </p:nvSpPr>
          <p:spPr>
            <a:xfrm>
              <a:off x="9172346" y="3657600"/>
              <a:ext cx="1367913" cy="329184"/>
            </a:xfrm>
            <a:prstGeom prst="roundRect">
              <a:avLst>
                <a:gd name="adj" fmla="val 50000"/>
              </a:avLst>
            </a:prstGeom>
            <a:noFill/>
            <a:ln w="25400">
              <a:solidFill>
                <a:srgbClr val="A9B0B8"/>
              </a:solidFill>
            </a:ln>
          </p:spPr>
          <p:txBody>
            <a:bodyPr wrap="none" lIns="0" tIns="0" rIns="0" bIns="0" rtlCol="0" anchor="ctr">
              <a:noAutofit/>
            </a:bodyPr>
            <a:lstStyle/>
            <a:p>
              <a:pPr algn="ctr">
                <a:spcBef>
                  <a:spcPts val="0"/>
                </a:spcBef>
                <a:spcAft>
                  <a:spcPts val="0"/>
                </a:spcAft>
              </a:pPr>
              <a:r>
                <a:rPr lang="en-GB" sz="1400" b="1" i="0">
                  <a:solidFill>
                    <a:srgbClr val="F2F2F2"/>
                  </a:solidFill>
                  <a:latin typeface="Arial"/>
                </a:rPr>
                <a:t>UNDECIDED</a:t>
              </a:r>
            </a:p>
          </p:txBody>
        </p:sp>
        <p:sp>
          <p:nvSpPr>
            <p:cNvPr id="35" name="Question"/>
            <p:cNvSpPr txBox="1"/>
            <p:nvPr/>
          </p:nvSpPr>
          <p:spPr>
            <a:xfrm>
              <a:off x="9172346" y="4187952"/>
              <a:ext cx="2286000" cy="1097280"/>
            </a:xfrm>
            <a:prstGeom prst="rect">
              <a:avLst/>
            </a:prstGeom>
            <a:noFill/>
          </p:spPr>
          <p:txBody>
            <a:bodyPr wrap="square" lIns="0" tIns="0" rIns="0" bIns="0" anchor="t">
              <a:noAutofit/>
            </a:bodyPr>
            <a:lstStyle/>
            <a:p>
              <a:pPr algn="l">
                <a:spcBef>
                  <a:spcPts val="0"/>
                </a:spcBef>
                <a:spcAft>
                  <a:spcPts val="0"/>
                </a:spcAft>
              </a:pPr>
              <a:r>
                <a:rPr lang="en-GB" sz="2000" b="1" i="0">
                  <a:solidFill>
                    <a:srgbClr val="F2F2F2"/>
                  </a:solidFill>
                  <a:latin typeface="Arial"/>
                </a:rPr>
                <a:t>Service stop rules</a:t>
              </a:r>
              <a:r>
                <a:rPr lang="en-GB" sz="2000" b="0" i="0">
                  <a:solidFill>
                    <a:srgbClr val="A9B0B8"/>
                  </a:solidFill>
                  <a:latin typeface="Arial"/>
                </a:rPr>
                <a:t> (OQ11)</a:t>
              </a:r>
            </a:p>
          </p:txBody>
        </p:sp>
      </p:grpSp>
      <p:grpSp>
        <p:nvGrpSpPr>
          <p:cNvPr id="36" name="Caption" descr="Caption: These questions are open. Nothing here has been chosen yet."/>
          <p:cNvGrpSpPr/>
          <p:nvPr/>
        </p:nvGrpSpPr>
        <p:grpSpPr>
          <a:xfrm>
            <a:off x="548640" y="5669280"/>
            <a:ext cx="11091672" cy="822960"/>
            <a:chOff x="548640" y="5669280"/>
            <a:chExt cx="11091672" cy="822960"/>
          </a:xfrm>
        </p:grpSpPr>
        <p:sp>
          <p:nvSpPr>
            <p:cNvPr id="37"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38"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39"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These questions are open. Nothing here has been chosen yet.</a:t>
              </a:r>
            </a:p>
          </p:txBody>
        </p:sp>
      </p:grpSp>
      <p:sp>
        <p:nvSpPr>
          <p:cNvPr id="40"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17</a:t>
            </a:r>
          </a:p>
        </p:txBody>
      </p:sp>
    </p:spTree>
    <p:extLst>
      <p:ext uri="{BB962C8B-B14F-4D97-AF65-F5344CB8AC3E}">
        <p14:creationId xmlns:p14="http://schemas.microsoft.com/office/powerpoint/2010/main" val="18903035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40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60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nodeType="withEffect">
                                  <p:stCondLst>
                                    <p:cond delay="8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10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10" presetClass="entr" presetSubtype="0" fill="hold" nodeType="withEffect">
                                  <p:stCondLst>
                                    <p:cond delay="120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nodeType="withEffect">
                                  <p:stCondLst>
                                    <p:cond delay="140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500"/>
                                        <p:tgtEl>
                                          <p:spTgt spid="32"/>
                                        </p:tgtEl>
                                      </p:cBhvr>
                                    </p:animEffect>
                                  </p:childTnLst>
                                </p:cTn>
                              </p:par>
                              <p:par>
                                <p:cTn id="29" presetID="10" presetClass="entr" presetSubtype="0" fill="hold" nodeType="withEffect">
                                  <p:stCondLst>
                                    <p:cond delay="160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411480"/>
            <a:ext cx="9418320" cy="731520"/>
          </a:xfrm>
        </p:spPr>
        <p:txBody>
          <a:bodyPr wrap="square" lIns="0" tIns="0" rIns="0" bIns="0" anchor="ctr">
            <a:noAutofit/>
          </a:bodyPr>
          <a:lstStyle/>
          <a:p>
            <a:pPr algn="l">
              <a:spcBef>
                <a:spcPts val="0"/>
              </a:spcBef>
              <a:spcAft>
                <a:spcPts val="0"/>
              </a:spcAft>
            </a:pPr>
            <a:r>
              <a:rPr lang="en-GB" sz="3600" b="1" i="0">
                <a:solidFill>
                  <a:srgbClr val="F2F2F2"/>
                </a:solidFill>
                <a:latin typeface="Arial"/>
              </a:rPr>
              <a:t>Image credits</a:t>
            </a:r>
          </a:p>
        </p:txBody>
      </p:sp>
      <p:graphicFrame>
        <p:nvGraphicFramePr>
          <p:cNvPr id="3" name="Credits table" descr="Credits table: image R02 on slide 1, an Early Locomotion project render."/>
          <p:cNvGraphicFramePr>
            <a:graphicFrameLocks noGrp="1"/>
          </p:cNvGraphicFramePr>
          <p:nvPr/>
        </p:nvGraphicFramePr>
        <p:xfrm>
          <a:off x="548640" y="1371600"/>
          <a:ext cx="11091672" cy="1280160"/>
        </p:xfrm>
        <a:graphic>
          <a:graphicData uri="http://schemas.openxmlformats.org/drawingml/2006/table">
            <a:tbl>
              <a:tblPr>
                <a:tableStyleId>{2D5ABB26-0587-4C30-8999-92F81FD0307C}</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5056632">
                  <a:extLst>
                    <a:ext uri="{9D8B030D-6E8A-4147-A177-3AD203B41FA5}">
                      <a16:colId xmlns:a16="http://schemas.microsoft.com/office/drawing/2014/main" val="20003"/>
                    </a:ext>
                  </a:extLst>
                </a:gridCol>
              </a:tblGrid>
              <a:tr h="640080">
                <a:tc>
                  <a:txBody>
                    <a:bodyPr/>
                    <a:lstStyle/>
                    <a:p>
                      <a:pPr algn="l">
                        <a:spcBef>
                          <a:spcPts val="0"/>
                        </a:spcBef>
                        <a:spcAft>
                          <a:spcPts val="0"/>
                        </a:spcAft>
                      </a:pPr>
                      <a:r>
                        <a:rPr lang="en-GB" sz="1100" b="1" i="0">
                          <a:solidFill>
                            <a:srgbClr val="F2F2F2"/>
                          </a:solidFill>
                          <a:latin typeface="Arial"/>
                        </a:rPr>
                        <a:t>Slot</a:t>
                      </a:r>
                    </a:p>
                  </a:txBody>
                  <a:tcPr marL="109728" marR="109728" anchor="ctr">
                    <a:solidFill>
                      <a:srgbClr val="343A43"/>
                    </a:solidFill>
                  </a:tcPr>
                </a:tc>
                <a:tc>
                  <a:txBody>
                    <a:bodyPr/>
                    <a:lstStyle/>
                    <a:p>
                      <a:pPr algn="l">
                        <a:spcBef>
                          <a:spcPts val="0"/>
                        </a:spcBef>
                        <a:spcAft>
                          <a:spcPts val="0"/>
                        </a:spcAft>
                      </a:pPr>
                      <a:r>
                        <a:rPr lang="en-GB" sz="1100" b="1" i="0">
                          <a:solidFill>
                            <a:srgbClr val="F2F2F2"/>
                          </a:solidFill>
                          <a:latin typeface="Arial"/>
                        </a:rPr>
                        <a:t>Slide</a:t>
                      </a:r>
                    </a:p>
                  </a:txBody>
                  <a:tcPr marL="109728" marR="109728" anchor="ctr">
                    <a:solidFill>
                      <a:srgbClr val="343A43"/>
                    </a:solidFill>
                  </a:tcPr>
                </a:tc>
                <a:tc>
                  <a:txBody>
                    <a:bodyPr/>
                    <a:lstStyle/>
                    <a:p>
                      <a:pPr algn="l">
                        <a:spcBef>
                          <a:spcPts val="0"/>
                        </a:spcBef>
                        <a:spcAft>
                          <a:spcPts val="0"/>
                        </a:spcAft>
                      </a:pPr>
                      <a:r>
                        <a:rPr lang="en-GB" sz="1100" b="1" i="0">
                          <a:solidFill>
                            <a:srgbClr val="F2F2F2"/>
                          </a:solidFill>
                          <a:latin typeface="Arial"/>
                        </a:rPr>
                        <a:t>What it shows</a:t>
                      </a:r>
                    </a:p>
                  </a:txBody>
                  <a:tcPr marL="109728" marR="109728" anchor="ctr">
                    <a:solidFill>
                      <a:srgbClr val="343A43"/>
                    </a:solidFill>
                  </a:tcPr>
                </a:tc>
                <a:tc>
                  <a:txBody>
                    <a:bodyPr/>
                    <a:lstStyle/>
                    <a:p>
                      <a:pPr algn="l">
                        <a:spcBef>
                          <a:spcPts val="0"/>
                        </a:spcBef>
                        <a:spcAft>
                          <a:spcPts val="0"/>
                        </a:spcAft>
                      </a:pPr>
                      <a:r>
                        <a:rPr lang="en-GB" sz="1100" b="1" i="0">
                          <a:solidFill>
                            <a:srgbClr val="F2F2F2"/>
                          </a:solidFill>
                          <a:latin typeface="Arial"/>
                        </a:rPr>
                        <a:t>Credit</a:t>
                      </a:r>
                    </a:p>
                  </a:txBody>
                  <a:tcPr marL="109728" marR="109728" anchor="ctr">
                    <a:solidFill>
                      <a:srgbClr val="343A43"/>
                    </a:solidFill>
                  </a:tcPr>
                </a:tc>
                <a:extLst>
                  <a:ext uri="{0D108BD9-81ED-4DB2-BD59-A6C34878D82A}">
                    <a16:rowId xmlns:a16="http://schemas.microsoft.com/office/drawing/2014/main" val="10000"/>
                  </a:ext>
                </a:extLst>
              </a:tr>
              <a:tr h="640080">
                <a:tc>
                  <a:txBody>
                    <a:bodyPr/>
                    <a:lstStyle/>
                    <a:p>
                      <a:pPr algn="l">
                        <a:spcBef>
                          <a:spcPts val="0"/>
                        </a:spcBef>
                        <a:spcAft>
                          <a:spcPts val="0"/>
                        </a:spcAft>
                      </a:pPr>
                      <a:r>
                        <a:rPr lang="en-GB" sz="1100" b="0" i="0">
                          <a:solidFill>
                            <a:srgbClr val="F2F2F2"/>
                          </a:solidFill>
                          <a:latin typeface="Arial"/>
                        </a:rPr>
                        <a:t>R02</a:t>
                      </a:r>
                    </a:p>
                  </a:txBody>
                  <a:tcPr marL="109728" marR="109728" anchor="ctr">
                    <a:solidFill>
                      <a:srgbClr val="2B2F36"/>
                    </a:solidFill>
                  </a:tcPr>
                </a:tc>
                <a:tc>
                  <a:txBody>
                    <a:bodyPr/>
                    <a:lstStyle/>
                    <a:p>
                      <a:pPr algn="l">
                        <a:spcBef>
                          <a:spcPts val="0"/>
                        </a:spcBef>
                        <a:spcAft>
                          <a:spcPts val="0"/>
                        </a:spcAft>
                      </a:pPr>
                      <a:r>
                        <a:rPr lang="en-GB" sz="1100" b="0" i="0">
                          <a:solidFill>
                            <a:srgbClr val="F2F2F2"/>
                          </a:solidFill>
                          <a:latin typeface="Arial"/>
                        </a:rPr>
                        <a:t>1</a:t>
                      </a:r>
                    </a:p>
                  </a:txBody>
                  <a:tcPr marL="109728" marR="109728" anchor="ctr">
                    <a:solidFill>
                      <a:srgbClr val="2B2F36"/>
                    </a:solidFill>
                  </a:tcPr>
                </a:tc>
                <a:tc>
                  <a:txBody>
                    <a:bodyPr/>
                    <a:lstStyle/>
                    <a:p>
                      <a:pPr algn="l">
                        <a:spcBef>
                          <a:spcPts val="0"/>
                        </a:spcBef>
                        <a:spcAft>
                          <a:spcPts val="0"/>
                        </a:spcAft>
                      </a:pPr>
                      <a:r>
                        <a:rPr lang="en-GB" sz="1100" b="0" i="0">
                          <a:solidFill>
                            <a:srgbClr val="F2F2F2"/>
                          </a:solidFill>
                          <a:latin typeface="Arial"/>
                        </a:rPr>
                        <a:t>Render of the mod's two-rail track.</a:t>
                      </a:r>
                    </a:p>
                  </a:txBody>
                  <a:tcPr marL="109728" marR="109728" anchor="ctr">
                    <a:solidFill>
                      <a:srgbClr val="2B2F36"/>
                    </a:solidFill>
                  </a:tcPr>
                </a:tc>
                <a:tc>
                  <a:txBody>
                    <a:bodyPr/>
                    <a:lstStyle/>
                    <a:p>
                      <a:pPr algn="l">
                        <a:spcBef>
                          <a:spcPts val="0"/>
                        </a:spcBef>
                        <a:spcAft>
                          <a:spcPts val="0"/>
                        </a:spcAft>
                      </a:pPr>
                      <a:r>
                        <a:rPr lang="en-GB" sz="1100" b="0" i="0">
                          <a:solidFill>
                            <a:srgbClr val="F2F2F2"/>
                          </a:solidFill>
                          <a:latin typeface="Arial"/>
                        </a:rPr>
                        <a:t>Early Locomotion project (visual development, not final art).</a:t>
                      </a:r>
                    </a:p>
                  </a:txBody>
                  <a:tcPr marL="109728" marR="109728" anchor="ctr">
                    <a:solidFill>
                      <a:srgbClr val="2B2F36"/>
                    </a:solidFill>
                  </a:tcPr>
                </a:tc>
                <a:extLst>
                  <a:ext uri="{0D108BD9-81ED-4DB2-BD59-A6C34878D82A}">
                    <a16:rowId xmlns:a16="http://schemas.microsoft.com/office/drawing/2014/main" val="10001"/>
                  </a:ext>
                </a:extLst>
              </a:tr>
            </a:tbl>
          </a:graphicData>
        </a:graphic>
      </p:graphicFrame>
      <p:grpSp>
        <p:nvGrpSpPr>
          <p:cNvPr id="4" name="Caption" descr="Caption: This deck uses no photographs."/>
          <p:cNvGrpSpPr/>
          <p:nvPr/>
        </p:nvGrpSpPr>
        <p:grpSpPr>
          <a:xfrm>
            <a:off x="548640" y="5669280"/>
            <a:ext cx="11091672" cy="822960"/>
            <a:chOff x="548640" y="5669280"/>
            <a:chExt cx="11091672" cy="822960"/>
          </a:xfrm>
        </p:grpSpPr>
        <p:sp>
          <p:nvSpPr>
            <p:cNvPr id="5" name="Caption panel"/>
            <p:cNvSpPr/>
            <p:nvPr/>
          </p:nvSpPr>
          <p:spPr>
            <a:xfrm>
              <a:off x="548640" y="5669280"/>
              <a:ext cx="11091672" cy="822960"/>
            </a:xfrm>
            <a:prstGeom prst="roundRect">
              <a:avLst>
                <a:gd name="adj" fmla="val 8888"/>
              </a:avLst>
            </a:prstGeom>
            <a:solidFill>
              <a:srgbClr val="2B2F36"/>
            </a:solidFill>
            <a:ln>
              <a:noFill/>
            </a:ln>
          </p:spPr>
          <p:txBody>
            <a:bodyPr rtlCol="0" anchor="ctr"/>
            <a:lstStyle/>
            <a:p>
              <a:pPr algn="ctr"/>
              <a:endParaRPr/>
            </a:p>
          </p:txBody>
        </p:sp>
        <p:sp>
          <p:nvSpPr>
            <p:cNvPr id="6" name="Caption rule"/>
            <p:cNvSpPr/>
            <p:nvPr/>
          </p:nvSpPr>
          <p:spPr>
            <a:xfrm>
              <a:off x="548640" y="5669280"/>
              <a:ext cx="73152" cy="822960"/>
            </a:xfrm>
            <a:prstGeom prst="rect">
              <a:avLst/>
            </a:prstGeom>
            <a:solidFill>
              <a:srgbClr val="F28C28"/>
            </a:solidFill>
            <a:ln>
              <a:noFill/>
            </a:ln>
          </p:spPr>
          <p:txBody>
            <a:bodyPr rtlCol="0" anchor="ctr"/>
            <a:lstStyle/>
            <a:p>
              <a:pPr algn="ctr"/>
              <a:endParaRPr/>
            </a:p>
          </p:txBody>
        </p:sp>
        <p:sp>
          <p:nvSpPr>
            <p:cNvPr id="7" name="Caption text"/>
            <p:cNvSpPr txBox="1"/>
            <p:nvPr/>
          </p:nvSpPr>
          <p:spPr>
            <a:xfrm>
              <a:off x="850392" y="5669280"/>
              <a:ext cx="10607040" cy="822960"/>
            </a:xfrm>
            <a:prstGeom prst="rect">
              <a:avLst/>
            </a:prstGeom>
            <a:noFill/>
          </p:spPr>
          <p:txBody>
            <a:bodyPr wrap="square" lIns="0" tIns="0" rIns="0" bIns="0" anchor="ctr">
              <a:noAutofit/>
            </a:bodyPr>
            <a:lstStyle/>
            <a:p>
              <a:pPr algn="l">
                <a:spcBef>
                  <a:spcPts val="0"/>
                </a:spcBef>
                <a:spcAft>
                  <a:spcPts val="0"/>
                </a:spcAft>
              </a:pPr>
              <a:r>
                <a:rPr lang="en-GB" sz="2000" b="0" i="0">
                  <a:solidFill>
                    <a:srgbClr val="F2F2F2"/>
                  </a:solidFill>
                  <a:latin typeface="Arial"/>
                </a:rPr>
                <a:t>This deck uses no photographs.</a:t>
              </a:r>
            </a:p>
          </p:txBody>
        </p:sp>
      </p:grpSp>
      <p:sp>
        <p:nvSpPr>
          <p:cNvPr id="8" name="Slide number"/>
          <p:cNvSpPr txBox="1"/>
          <p:nvPr/>
        </p:nvSpPr>
        <p:spPr>
          <a:xfrm>
            <a:off x="10911535" y="6510528"/>
            <a:ext cx="731520" cy="274320"/>
          </a:xfrm>
          <a:prstGeom prst="rect">
            <a:avLst/>
          </a:prstGeom>
          <a:noFill/>
        </p:spPr>
        <p:txBody>
          <a:bodyPr wrap="square" lIns="0" tIns="0" rIns="0" bIns="0" anchor="ctr">
            <a:noAutofit/>
          </a:bodyPr>
          <a:lstStyle/>
          <a:p>
            <a:pPr algn="r">
              <a:spcBef>
                <a:spcPts val="0"/>
              </a:spcBef>
              <a:spcAft>
                <a:spcPts val="0"/>
              </a:spcAft>
            </a:pPr>
            <a:r>
              <a:rPr lang="en-GB" sz="1400" b="0" i="0">
                <a:solidFill>
                  <a:srgbClr val="A9B0B8"/>
                </a:solidFill>
                <a:latin typeface="Arial"/>
              </a:rPr>
              <a:t>18</a:t>
            </a:r>
          </a:p>
        </p:txBody>
      </p:sp>
    </p:spTree>
    <p:extLst>
      <p:ext uri="{BB962C8B-B14F-4D97-AF65-F5344CB8AC3E}">
        <p14:creationId xmlns:p14="http://schemas.microsoft.com/office/powerpoint/2010/main" val="7834102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DB8FF"/>
      </a:hlink>
      <a:folHlink>
        <a:srgbClr val="C9A7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10805</Words>
  <Application>Microsoft Office PowerPoint</Application>
  <PresentationFormat>Widescreen</PresentationFormat>
  <Paragraphs>2826</Paragraphs>
  <Slides>231</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231</vt:i4>
      </vt:variant>
    </vt:vector>
  </HeadingPairs>
  <TitlesOfParts>
    <vt:vector size="233" baseType="lpstr">
      <vt:lpstr>Arial</vt:lpstr>
      <vt:lpstr>Office Theme</vt:lpstr>
      <vt:lpstr>Early Locomotion</vt:lpstr>
      <vt:lpstr>How to read this guide</vt:lpstr>
      <vt:lpstr>The idea in one picture</vt:lpstr>
      <vt:lpstr>What is Satisfactory?</vt:lpstr>
      <vt:lpstr>Where the mod fits</vt:lpstr>
      <vt:lpstr>Track</vt:lpstr>
      <vt:lpstr>How a steam engine works</vt:lpstr>
      <vt:lpstr>Coal, water and steam</vt:lpstr>
      <vt:lpstr>Tender or tank?</vt:lpstr>
      <vt:lpstr>Taking on water</vt:lpstr>
      <vt:lpstr>Taking on coal</vt:lpstr>
      <vt:lpstr>Why trains need signals</vt:lpstr>
      <vt:lpstr>Words you will meet</vt:lpstr>
      <vt:lpstr>Not "trains, but earlier"</vt:lpstr>
      <vt:lpstr>Every limit has an answer</vt:lpstr>
      <vt:lpstr>Why steam stays behind electric</vt:lpstr>
      <vt:lpstr>The mod's track</vt:lpstr>
      <vt:lpstr>Three roles</vt:lpstr>
      <vt:lpstr>Small: the branch-line tank</vt:lpstr>
      <vt:lpstr>Medium: the long-range runner</vt:lpstr>
      <vt:lpstr>Large: the heavy hauler</vt:lpstr>
      <vt:lpstr>Wagons</vt:lpstr>
      <vt:lpstr>How far can an engine go?</vt:lpstr>
      <vt:lpstr>Tenders</vt:lpstr>
      <vt:lpstr>A steam station</vt:lpstr>
      <vt:lpstr>Servicing takes time</vt:lpstr>
      <vt:lpstr>Service points</vt:lpstr>
      <vt:lpstr>Blocks: one train at a time</vt:lpstr>
      <vt:lpstr>Semaphore signals</vt:lpstr>
      <vt:lpstr>The signal box</vt:lpstr>
      <vt:lpstr>How it works together</vt:lpstr>
      <vt:lpstr>Early limits</vt:lpstr>
      <vt:lpstr>No wiring for you</vt:lpstr>
      <vt:lpstr>Later signals and manual control</vt:lpstr>
      <vt:lpstr>Upgrading to the monorail</vt:lpstr>
      <vt:lpstr>After launch</vt:lpstr>
      <vt:lpstr>Regions and running numbers</vt:lpstr>
      <vt:lpstr>Your railway guide</vt:lpstr>
      <vt:lpstr>Where we are</vt:lpstr>
      <vt:lpstr>Still undecided</vt:lpstr>
      <vt:lpstr>Image credits (1 of 2)</vt:lpstr>
      <vt:lpstr>Image credits (2 of 2)</vt:lpstr>
      <vt:lpstr>Signals and Signal Boxes</vt:lpstr>
      <vt:lpstr>How to read this guide</vt:lpstr>
      <vt:lpstr>The problem</vt:lpstr>
      <vt:lpstr>Blocks</vt:lpstr>
      <vt:lpstr>Signals guard the blocks</vt:lpstr>
      <vt:lpstr>A semaphore</vt:lpstr>
      <vt:lpstr>Stop arm and distant arm</vt:lpstr>
      <vt:lpstr>If the wire breaks</vt:lpstr>
      <vt:lpstr>The signal box</vt:lpstr>
      <vt:lpstr>The lever frame</vt:lpstr>
      <vt:lpstr>Rods and wires</vt:lpstr>
      <vt:lpstr>Interlocking</vt:lpstr>
      <vt:lpstr>Boxes talk to each other</vt:lpstr>
      <vt:lpstr>All together on a real railway</vt:lpstr>
      <vt:lpstr>In the mod: blocks and semaphores</vt:lpstr>
      <vt:lpstr>A box at every station</vt:lpstr>
      <vt:lpstr>Every signal needs a box</vt:lpstr>
      <vt:lpstr>Early limits</vt:lpstr>
      <vt:lpstr>No wiring for you</vt:lpstr>
      <vt:lpstr>Rods and wires you can see</vt:lpstr>
      <vt:lpstr>The box screen</vt:lpstr>
      <vt:lpstr>Speed has three limits</vt:lpstr>
      <vt:lpstr>Later signals</vt:lpstr>
      <vt:lpstr>Driving by hand</vt:lpstr>
      <vt:lpstr>Where this stands</vt:lpstr>
      <vt:lpstr>Still undecided</vt:lpstr>
      <vt:lpstr>Image credits</vt:lpstr>
      <vt:lpstr>Coal, Water and Servicing</vt:lpstr>
      <vt:lpstr>How to read this guide</vt:lpstr>
      <vt:lpstr>What an engine needs</vt:lpstr>
      <vt:lpstr>Steam is used once</vt:lpstr>
      <vt:lpstr>Tender or tank?</vt:lpstr>
      <vt:lpstr>Taking on water</vt:lpstr>
      <vt:lpstr>Taking on coal</vt:lpstr>
      <vt:lpstr>How far can an engine go?</vt:lpstr>
      <vt:lpstr>What makes an engine burn more</vt:lpstr>
      <vt:lpstr>Test targets for range</vt:lpstr>
      <vt:lpstr>A better fuel</vt:lpstr>
      <vt:lpstr>A steam station</vt:lpstr>
      <vt:lpstr>Big on purpose</vt:lpstr>
      <vt:lpstr>Servicing takes time</vt:lpstr>
      <vt:lpstr>Finding the hatches</vt:lpstr>
      <vt:lpstr>How long does it take?</vt:lpstr>
      <vt:lpstr>Service points</vt:lpstr>
      <vt:lpstr>Service stops in the timetable</vt:lpstr>
      <vt:lpstr>Tenders</vt:lpstr>
      <vt:lpstr>Who gains from a tender?</vt:lpstr>
      <vt:lpstr>Four ways to go further</vt:lpstr>
      <vt:lpstr>Where this stands</vt:lpstr>
      <vt:lpstr>Still undecided</vt:lpstr>
      <vt:lpstr>Image credits</vt:lpstr>
      <vt:lpstr>The Monorail Transition</vt:lpstr>
      <vt:lpstr>How to read this guide</vt:lpstr>
      <vt:lpstr>Two kinds of railway</vt:lpstr>
      <vt:lpstr>They cannot swap</vt:lpstr>
      <vt:lpstr>Why electric wins in the end</vt:lpstr>
      <vt:lpstr>Upgrade in place</vt:lpstr>
      <vt:lpstr>Your route stays</vt:lpstr>
      <vt:lpstr>A warning first</vt:lpstr>
      <vt:lpstr>Will every shape fit?</vt:lpstr>
      <vt:lpstr>Stations change too</vt:lpstr>
      <vt:lpstr>Names and timetables</vt:lpstr>
      <vt:lpstr>Signals change</vt:lpstr>
      <vt:lpstr>Mixed networks</vt:lpstr>
      <vt:lpstr>Cargo crosses, trains do not</vt:lpstr>
      <vt:lpstr>A Transfer Station?</vt:lpstr>
      <vt:lpstr>What could go wrong?</vt:lpstr>
      <vt:lpstr>Costs, refunds and undo</vt:lpstr>
      <vt:lpstr>The road to electric</vt:lpstr>
      <vt:lpstr>Every transport has a job</vt:lpstr>
      <vt:lpstr>Where this stands</vt:lpstr>
      <vt:lpstr>Still undecided</vt:lpstr>
      <vt:lpstr>Image credits</vt:lpstr>
      <vt:lpstr>Regions, Running Numbers and Fleet Identity</vt:lpstr>
      <vt:lpstr>How to read this guide</vt:lpstr>
      <vt:lpstr>One world, one style</vt:lpstr>
      <vt:lpstr>Why not per player?</vt:lpstr>
      <vt:lpstr>What changes with the region</vt:lpstr>
      <vt:lpstr>Three sizes, many looks</vt:lpstr>
      <vt:lpstr>Different engines, same rules</vt:lpstr>
      <vt:lpstr>Weight and power differ</vt:lpstr>
      <vt:lpstr>A consist follows its lead engine</vt:lpstr>
      <vt:lpstr>Which engine leads?</vt:lpstr>
      <vt:lpstr>When the region changes</vt:lpstr>
      <vt:lpstr>A hidden identity</vt:lpstr>
      <vt:lpstr>A number after placement</vt:lpstr>
      <vt:lpstr>Numbers survive region changes</vt:lpstr>
      <vt:lpstr>Two numbering styles</vt:lpstr>
      <vt:lpstr>Changing the style</vt:lpstr>
      <vt:lpstr>No two the same</vt:lpstr>
      <vt:lpstr>Reuse and overflow</vt:lpstr>
      <vt:lpstr>Renumber by hand</vt:lpstr>
      <vt:lpstr>Numbers in the right place</vt:lpstr>
      <vt:lpstr>Find any engine</vt:lpstr>
      <vt:lpstr>Researched, not copied</vt:lpstr>
      <vt:lpstr>A note on the build card</vt:lpstr>
      <vt:lpstr>Where this stands</vt:lpstr>
      <vt:lpstr>Still undecided</vt:lpstr>
      <vt:lpstr>Image credits</vt:lpstr>
      <vt:lpstr>Your Railway Guide</vt:lpstr>
      <vt:lpstr>How to read this guide</vt:lpstr>
      <vt:lpstr>Meet the guide</vt:lpstr>
      <vt:lpstr>Not the game's ADA</vt:lpstr>
      <vt:lpstr>What she is not</vt:lpstr>
      <vt:lpstr>Lessons, not answers</vt:lpstr>
      <vt:lpstr>The railway library</vt:lpstr>
      <vt:lpstr>The miniature table</vt:lpstr>
      <vt:lpstr>How a lesson plays</vt:lpstr>
      <vt:lpstr>An older FICSIT look</vt:lpstr>
      <vt:lpstr>A surprise on first unlock</vt:lpstr>
      <vt:lpstr>An original jingle</vt:lpstr>
      <vt:lpstr>Can the surprise be done?</vt:lpstr>
      <vt:lpstr>A hint of an older FICSIT</vt:lpstr>
      <vt:lpstr>More lessons later</vt:lpstr>
      <vt:lpstr>How the list could look</vt:lpstr>
      <vt:lpstr>A home for rail</vt:lpstr>
      <vt:lpstr>Four groups?</vt:lpstr>
      <vt:lpstr>Can the game do it?</vt:lpstr>
      <vt:lpstr>Reactions to your trains</vt:lpstr>
      <vt:lpstr>Where this stands</vt:lpstr>
      <vt:lpstr>Still undecided</vt:lpstr>
      <vt:lpstr>Image credits</vt:lpstr>
      <vt:lpstr>After Launch: Packs, Locomotives and History</vt:lpstr>
      <vt:lpstr>How to read this guide</vt:lpstr>
      <vt:lpstr>Core comes first</vt:lpstr>
      <vt:lpstr>One shared engine</vt:lpstr>
      <vt:lpstr>Packs by region</vt:lpstr>
      <vt:lpstr>Growing by updates</vt:lpstr>
      <vt:lpstr>Packs work together</vt:lpstr>
      <vt:lpstr>Beyond Small, Medium, Large</vt:lpstr>
      <vt:lpstr>Jobs, not a ladder</vt:lpstr>
      <vt:lpstr>What “express” means here</vt:lpstr>
      <vt:lpstr>A cap on the roster</vt:lpstr>
      <vt:lpstr>Regions need not match</vt:lpstr>
      <vt:lpstr>Two sides of a card</vt:lpstr>
      <vt:lpstr>Honest history</vt:lpstr>
      <vt:lpstr>The golden age</vt:lpstr>
      <vt:lpstr>Unlocks keep pace</vt:lpstr>
      <vt:lpstr>Where do the unlocks live?</vt:lpstr>
      <vt:lpstr>Regional buildings</vt:lpstr>
      <vt:lpstr>Changing region with pack engines</vt:lpstr>
      <vt:lpstr>Friends and packs</vt:lpstr>
      <vt:lpstr>Money and delivery</vt:lpstr>
      <vt:lpstr>Where this stands</vt:lpstr>
      <vt:lpstr>Still undecided</vt:lpstr>
      <vt:lpstr>Image credits</vt:lpstr>
      <vt:lpstr>After Launch: Late Steam, Driving and Prestige</vt:lpstr>
      <vt:lpstr>How to read this guide</vt:lpstr>
      <vt:lpstr>Electric still wins</vt:lpstr>
      <vt:lpstr>Steam's strength: scale</vt:lpstr>
      <vt:lpstr>For people who love steam</vt:lpstr>
      <vt:lpstr>Bigger buildings</vt:lpstr>
      <vt:lpstr>Bigger signalling</vt:lpstr>
      <vt:lpstr>A line that stays</vt:lpstr>
      <vt:lpstr>Two ways to drive</vt:lpstr>
      <vt:lpstr>Choosing at first use</vt:lpstr>
      <vt:lpstr>Simple: a good crew</vt:lpstr>
      <vt:lpstr>Advanced: three things to manage</vt:lpstr>
      <vt:lpstr>What you do not have to do</vt:lpstr>
      <vt:lpstr>Mistakes have natural results</vt:lpstr>
      <vt:lpstr>Skill can pay</vt:lpstr>
      <vt:lpstr>Liveries: history first</vt:lpstr>
      <vt:lpstr>Not sold separately</vt:lpstr>
      <vt:lpstr>Picking a livery</vt:lpstr>
      <vt:lpstr>Prestige engines</vt:lpstr>
      <vt:lpstr>Famous, named engines</vt:lpstr>
      <vt:lpstr>Prestige in the core game</vt:lpstr>
      <vt:lpstr>Showpiece coaches</vt:lpstr>
      <vt:lpstr>Where this stands</vt:lpstr>
      <vt:lpstr>Still undecided</vt:lpstr>
      <vt:lpstr>Image credits</vt:lpstr>
      <vt:lpstr>How the Mod Is Balanced</vt:lpstr>
      <vt:lpstr>How to read this guide</vt:lpstr>
      <vt:lpstr>Cheap to start</vt:lpstr>
      <vt:lpstr>Cheap track and trains</vt:lpstr>
      <vt:lpstr>Long pieces, few clicks</vt:lpstr>
      <vt:lpstr>A 150 metre experiment</vt:lpstr>
      <vt:lpstr>Every transport has a job</vt:lpstr>
      <vt:lpstr>Pick the right engine</vt:lpstr>
      <vt:lpstr>How engines may feel</vt:lpstr>
      <vt:lpstr>The speed question</vt:lpstr>
      <vt:lpstr>How big is a wagon?</vt:lpstr>
      <vt:lpstr>Judge the whole route</vt:lpstr>
      <vt:lpstr>Stops cost time</vt:lpstr>
      <vt:lpstr>Test targets for range</vt:lpstr>
      <vt:lpstr>Behind the scenes</vt:lpstr>
      <vt:lpstr>Where this stands</vt:lpstr>
      <vt:lpstr>Still undecided</vt:lpstr>
      <vt:lpstr>Image credits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Early Locomotion, Explained</dc:title>
  <dc:subject>A read-alone explainer of the Early Locomotion steam railway mod for Satisfactory</dc:subject>
  <dc:creator>Early Locomotion project</dc:creator>
  <cp:keywords>Satisfactory; Early Locomotion; steam railway; explainer</cp:keywords>
  <dc:description>Plans, not a finished mod. Status tags follow Design/GAME_DESIGN.md.</dc:description>
  <cp:lastModifiedBy>Alex Forrester (Student)</cp:lastModifiedBy>
  <cp:revision>2</cp:revision>
  <dcterms:created xsi:type="dcterms:W3CDTF">2013-01-27T09:14:16Z</dcterms:created>
  <dcterms:modified xsi:type="dcterms:W3CDTF">2026-10-19T09:45:09Z</dcterms:modified>
  <cp:category/>
  <dc:language>en-GB</dc:language>
</cp:coreProperties>
</file>